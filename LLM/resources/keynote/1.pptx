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Ratio</c:v>
                </c:pt>
              </c:strCache>
            </c:strRef>
          </c:tx>
          <c:spPr>
            <a:solidFill>
              <a:srgbClr val="7CFFCB"/>
            </a:solidFill>
            <a:ln w="25400" cap="flat">
              <a:solidFill>
                <a:srgbClr val="7CFFCB"/>
              </a:solidFill>
              <a:prstDash val="solid"/>
              <a:round/>
            </a:ln>
            <a:effectLst/>
          </c:spPr>
          <c:invertIfNegative val="0"/>
          <c:dLbls>
            <c:numFmt formatCode="0.00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FFCB"/>
              </a:solidFill>
              <a:ln w="9525" cap="flat">
                <a:solidFill>
                  <a:srgbClr val="7CFFC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64</c:v>
                  </c:pt>
                  <c:pt idx="1">
                    <c:v>128</c:v>
                  </c:pt>
                  <c:pt idx="2">
                    <c:v>512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1.176</c:v>
                </c:pt>
                <c:pt idx="1">
                  <c:v>1.18</c:v>
                </c:pt>
                <c:pt idx="2">
                  <c:v>1.191</c:v>
                </c:pt>
              </c:numCache>
            </c:numRef>
          </c:val>
          <c:smooth val="0"/>
        </c:ser>
        <c:dLbls>
          <c:numFmt formatCode="0.000&quot;x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2"/>
          <c:min val="1.1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DA3FF"/>
            </a:solidFill>
            <a:effectLst/>
          </c:spPr>
          <c:invertIfNegative val="0"/>
          <c:dLbls>
            <c:numFmt formatCode="0.00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64</c:v>
                  </c:pt>
                  <c:pt idx="1">
                    <c:v>128</c:v>
                  </c:pt>
                  <c:pt idx="2">
                    <c:v>512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1.188</c:v>
                </c:pt>
                <c:pt idx="1">
                  <c:v>1.195</c:v>
                </c:pt>
                <c:pt idx="2">
                  <c:v>1.209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</c:v>
                </c:pt>
              </c:strCache>
            </c:strRef>
          </c:tx>
          <c:spPr>
            <a:solidFill>
              <a:srgbClr val="FF5D6C"/>
            </a:solidFill>
            <a:effectLst/>
          </c:spPr>
          <c:invertIfNegative val="0"/>
          <c:dLbls>
            <c:numFmt formatCode="0.00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64</c:v>
                  </c:pt>
                  <c:pt idx="1">
                    <c:v>128</c:v>
                  </c:pt>
                  <c:pt idx="2">
                    <c:v>512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1.164</c:v>
                </c:pt>
                <c:pt idx="1">
                  <c:v>1.166</c:v>
                </c:pt>
                <c:pt idx="2">
                  <c:v>1.174</c:v>
                </c:pt>
              </c:numCache>
            </c:numRef>
          </c:val>
        </c:ser>
        <c:dLbls>
          <c:numFmt formatCode="0.000&quot;x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2"/>
          <c:min val="1.1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/ Total</c:v>
                </c:pt>
              </c:strCache>
            </c:strRef>
          </c:tx>
          <c:spPr>
            <a:solidFill>
              <a:srgbClr val="7CFFCB"/>
            </a:solidFill>
            <a:effectLst/>
          </c:spPr>
          <c:invertIfNegative val="0"/>
          <c:dLbls>
            <c:numFmt formatCode="0.000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方案1(均值)</c:v>
                  </c:pt>
                  <c:pt idx="1">
                    <c:v>方案2(64)</c:v>
                  </c:pt>
                  <c:pt idx="2">
                    <c:v>方案3(trace)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1.1786</c:v>
                </c:pt>
                <c:pt idx="1">
                  <c:v>1.176</c:v>
                </c:pt>
                <c:pt idx="2">
                  <c:v>1.18</c:v>
                </c:pt>
              </c:numCache>
            </c:numRef>
          </c:val>
        </c:ser>
        <c:dLbls>
          <c:numFmt formatCode="0.0000&quot;x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2"/>
          <c:min val="1.1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本页：封面
[Sources]
- https://huggingface.co/docs/transformers/en/cache_explanation (KV cache 概念背景)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https://huggingface.co/docs/transformers/en/cache_explanation (KV cache 的动机与工作方式)
- https://papers.neurips.cc/paper/7181-attention-is-all-you-need.pdf (Q/K/V 注意力定义背景)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https://huggingface.co/docs/transformers/en/kv_cache (KV cache 的工程实现与 memory 讨论)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本页：评测方案梳理（无外部素材）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本页：截图来自实验日志（用户提供），无外部来源。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本页：图表根据实验日志数值绘制（用户提供）。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本页：数值来自 trace benchmark 输出（用户提供）。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本页：图表由实验数据汇总绘制（用户提供）。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https://github.com/facebook/zstd (压缩算法 trade-off &amp; 字典/long-range 相关能力背景)
- https://facebook.github.io/zstd/ (Zstandard 概览与字典压缩)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本页：对齐口径总结。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728655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50876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KV Cache 无损压缩：阶段性结果汇报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331720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Gear Compression · 三种评测方案对齐 · 结论与下一步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971800"/>
            <a:ext cx="33832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30815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当前总体压缩率（收敛区间）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3282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FF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1.18×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663440" y="2971800"/>
            <a:ext cx="33832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30815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3282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1.3×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229600" y="2971800"/>
            <a:ext cx="29260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30815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数据规模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58200" y="3282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32L·32H·128D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" y="50749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组会汇报 |（请替换：姓名 / 日期）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背景：为什么要压缩 KV Cache？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推理加速依赖 KV cache，但内存随序列长度线性增长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576072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问题定义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5212080" cy="243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 保存历史 token 的 Key/Value，避免重复计算，提升 decode 吞吐。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随着 token 增加：KV cache 追加写入，显存/内存开销线性增长。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端侧/长上下文场景：KV cache 很快成为主要内存瓶颈。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目标：在“无损 &amp; 可验证”的前提下，提高压缩率并控制在线开销。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489204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1887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推理流程与 KV cache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1600200"/>
            <a:ext cx="3977640" cy="1005840"/>
          </a:xfrm>
          <a:prstGeom prst="roundRect">
            <a:avLst/>
          </a:prstGeom>
          <a:solidFill>
            <a:srgbClr val="162446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7556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Prefill（prompt）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20574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一次性写入初始 KV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2697480"/>
            <a:ext cx="914400" cy="548640"/>
          </a:xfrm>
          <a:prstGeom prst="downArrow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3383280"/>
            <a:ext cx="3977640" cy="1234440"/>
          </a:xfrm>
          <a:prstGeom prst="roundRect">
            <a:avLst/>
          </a:prstGeom>
          <a:solidFill>
            <a:srgbClr val="152B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35478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Decode（逐 token）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69480" y="38587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每步追加：K/V ← 当前 token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69480" y="41330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内存：O(seq_len × layers × heads × dim)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4892040"/>
            <a:ext cx="397764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50474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FF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压缩切入点：KV buffer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532180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无损压缩 + 可验证（bit-wise / 数值一致）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 Lossless Compression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目标与评测指标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把“压缩率”与“在线成本”拆开量化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576072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目标（What）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5212080" cy="243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无损（Lossless）：解压后与原 KV 完全一致（支持 verify）。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压缩率目标：TOTAL ≥ 1.3×（阶段目标）。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在线可用：解压/压缩延迟可控，不显著拖慢 decode。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工程可落地：支持分块（block tokens）、支持 K/V 分别策略。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489204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1887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指标（How）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95160" y="1508760"/>
            <a:ext cx="41605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6276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压缩率 Ratio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9202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original_size / compressed_size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2788920"/>
            <a:ext cx="41605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9077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分块策略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78040" y="32004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BLOCK_SIZE（tokens）= 64 / 128 / 512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4069080"/>
            <a:ext cx="41605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41879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在线成本（后续补齐）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44805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压缩/解压吞吐、P50/P99 延迟、峰值内存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 ratio + latency + memory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三种评测方案（对齐口径）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采样/落盘方式不同，但压缩率结论应一致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3454298" cy="50749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25880"/>
            <a:ext cx="3088538" cy="685800"/>
          </a:xfrm>
          <a:prstGeom prst="roundRect">
            <a:avLst/>
          </a:prstGeom>
          <a:solidFill>
            <a:srgbClr val="162446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81328"/>
            <a:ext cx="28142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方案1：分文件（每 64 token）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2814218" cy="230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推理中每 64 token dump 一份 .bin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每个文件独立压缩/统计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优点：易 debug、可看趋势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风险：小文件开销 + 上下文被切断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698" y="1097280"/>
            <a:ext cx="3454298" cy="50749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1578" y="1325880"/>
            <a:ext cx="3088538" cy="685800"/>
          </a:xfrm>
          <a:prstGeom prst="roundRect">
            <a:avLst/>
          </a:prstGeom>
          <a:solidFill>
            <a:srgbClr val="152B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8738" y="1481328"/>
            <a:ext cx="28142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方案2：内存直接压缩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8738" y="2240280"/>
            <a:ext cx="2814218" cy="230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不落盘，直接对内存 buffer 压缩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支持在线分块 BLOCK_SIZE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优点：更贴近真实部署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风险：布局/拷贝方式影响结果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317" y="1097280"/>
            <a:ext cx="3454298" cy="50749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0197" y="1325880"/>
            <a:ext cx="3088538" cy="685800"/>
          </a:xfrm>
          <a:prstGeom prst="roundRect">
            <a:avLst/>
          </a:prstGeom>
          <a:solidFill>
            <a:srgbClr val="2A1B3D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7357" y="1481328"/>
            <a:ext cx="28142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方案3：单大 bin（trace）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7357" y="2240280"/>
            <a:ext cx="2814218" cy="230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全程写一个基准 bin（records）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离线扫参数、重复可复现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优点：对比稳定、可回放验证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风险：离线耗时≠在线耗时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6199632"/>
            <a:ext cx="10911535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6291072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对齐原则：同一份 KV 数据边界（层/头/维度顺序）+ 同一 ratio 定义 + K/V 分别统计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方案1结果：分文件压缩率（每 64 token 一个 bin）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样本数 640 · 平均 1.1786×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658368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输出截图（原始日志）</a:t>
            </a:r>
            <a:endParaRPr lang="en-US" sz="1600" dirty="0"/>
          </a:p>
        </p:txBody>
      </p:sp>
      <p:pic>
        <p:nvPicPr>
          <p:cNvPr id="8" name="Image 0" descr="/mnt/data/2fb49cdb744f4c6d5247a1335985320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498"/>
            <a:ext cx="6126480" cy="36216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005840"/>
            <a:ext cx="411480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1188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解读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26680" y="1508760"/>
            <a:ext cx="3566160" cy="230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压缩率收敛：多数 chunk 落在 1.15–1.19×。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前期少量离群（&gt;2×）：通常来自未满块/padding 或非稳态数据段。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分文件切块会“截断上下文”，理论上略损压缩率；但均值已接近后续方案。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该方案更适合趋势观察/调试，不作为最终口径。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Scheme #1: per-file compression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方案2结果：内存压缩（BLOCK_SIZE 扫描）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更贴近在线部署：不落盘，直接压缩 KV buffer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585216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BLOCK_SIZE vs 总体压缩率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1508760"/>
          <a:ext cx="5303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4709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BLOCK_SIZE 越大，上下文更长 → ratio 小幅提升（~+1.5%）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20840" y="1005840"/>
            <a:ext cx="480060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40880" y="11887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vs V（瓶颈定位）</a:t>
            </a:r>
            <a:endParaRPr lang="en-US" sz="16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7086600" y="1508760"/>
          <a:ext cx="4160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7086600" y="4709160"/>
            <a:ext cx="4160520" cy="20364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一直比 K 更好压（≈1.19–1.21× vs 1.16–1.17×）。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被 K 拉低：提升空间应优先聚焦 K 的可逆预处理。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14400" y="6199632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备注：不同 BLOCK_SIZE 组的采集区间/规模可能不同；后续将固定同一段 trace 做严格 apples-to-apples 对比。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Scheme #2: in-memory compression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方案3结果：单大 bin（Trace Benchmark）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固定基数据，离线扫参数；支持 verify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594360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结果摘要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508760"/>
            <a:ext cx="17830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1848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1965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834640" y="1508760"/>
            <a:ext cx="17830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61848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181965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FF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1.18×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17830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1848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81965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1.3×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60120" y="2514600"/>
            <a:ext cx="5349240" cy="2468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/ Kind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2651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2651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71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prefill / 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29718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186.50 MB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86200" y="2971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157.01 MB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C4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1.19×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1560" y="3355848"/>
            <a:ext cx="5166360" cy="0"/>
          </a:xfrm>
          <a:prstGeom prst="line">
            <a:avLst/>
          </a:prstGeom>
          <a:noFill/>
          <a:ln w="12700">
            <a:solidFill>
              <a:srgbClr val="2231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prefill / 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186.50 MB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86200" y="3566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160.21 MB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3566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C4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1.16×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51560" y="3950208"/>
            <a:ext cx="5166360" cy="0"/>
          </a:xfrm>
          <a:prstGeom prst="line">
            <a:avLst/>
          </a:prstGeom>
          <a:noFill/>
          <a:ln w="12700">
            <a:solidFill>
              <a:srgbClr val="2231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4160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9748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373.00 MB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86200" y="4160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317.22 MB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FF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1.18×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51560" y="4544568"/>
            <a:ext cx="5166360" cy="0"/>
          </a:xfrm>
          <a:prstGeom prst="line">
            <a:avLst/>
          </a:prstGeom>
          <a:noFill/>
          <a:ln w="12700">
            <a:solidFill>
              <a:srgbClr val="2231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5138928"/>
            <a:ext cx="5349240" cy="502920"/>
          </a:xfrm>
          <a:prstGeom prst="roundRect">
            <a:avLst/>
          </a:prstGeom>
          <a:solidFill>
            <a:srgbClr val="2B1C1F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524865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Target not met: 1.18× &lt; 1.3×（下一步聚焦 K 的可逆结构化）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766560" y="1005840"/>
            <a:ext cx="475488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086600" y="1188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实验配置（Trace Info）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86600" y="1508760"/>
            <a:ext cx="4160520" cy="3886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16916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Layers: 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 Heads: 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Dim: 128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Tokens: 64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Dtype: FP32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Dtype: FP16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Simulated: Yes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Yes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86600" y="55321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备注：FP32 计算、按 FP16 存储（模拟）以对齐端侧存储格式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Scheme #3: trace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横向对比：三种方案结果一致（≈1.18×）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结论：测法不是瓶颈；K 的“难压”是主矛盾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603504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总体压缩率对比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60120" y="15087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96012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观察：三种采样/落地方式对“压缩率”影响很小 → 结论可复现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12280" y="1005840"/>
            <a:ext cx="461772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2320" y="118872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关键发现（takeaways）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32320" y="1508760"/>
            <a:ext cx="4069080" cy="230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当前 Gear 在此 KV 数据上：TOTAL ≈ 1.18×，距 1.3× 仍有差距。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明显更易压（≈1.19–1.21×），K 更难压（≈1.16–1.17×）。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增大 BLOCK_SIZE 仅带来小幅提升（~+1.5%）。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因此：要冲击 1.3×，需要“无损可逆预处理/布局优化”，重点攻 K。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32320" y="5623560"/>
            <a:ext cx="4069080" cy="548640"/>
          </a:xfrm>
          <a:prstGeom prst="roundRect">
            <a:avLst/>
          </a:prstGeom>
          <a:solidFill>
            <a:srgbClr val="1A2C3E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57424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建议：以方案3作为“压缩率基准”，方案2补齐“在线性能”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下一步：冲击 1.3× 的路线图（无损）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从“更换压缩器”转向“让数据更可压”的可逆变换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603504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技术方向（优先级）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5486400" cy="26079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① 布局重排（reorder）：按 token/head/dim 调整拼接顺序，提升局部性。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② 可逆差分：相邻 token 做 delta 或 XOR（对 FP16 bitpattern）后再压缩。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③ 分离编码：对 FP16 的 sign/exponent/mantissa 进行 bit-plane 分流（可逆）。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④ K/V 分别策略：K 采用更强预处理/更大块；V 保持轻量以保在线速度。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⑤ 字典/长距离匹配：对长序列（大 bin / 长窗口）探索字典或 long-range。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12280" y="1005840"/>
            <a:ext cx="461772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118872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实验计划（2 周）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0" y="1508760"/>
            <a:ext cx="397764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691640"/>
            <a:ext cx="35661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方案3基准：加入“reorder + XOR”两条支路（K-only / K+V）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固定同一份 trace，扫 BLOCK_SIZE &amp; 参数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方案2在线：补齐压缩/解压 P50/P99 + 吞吐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若 ratio ≥1.25×：尝试 bit-plane 分离或字典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形成可落地的端侧开关策略（按设备/长度自适应）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6080760"/>
            <a:ext cx="3977640" cy="502920"/>
          </a:xfrm>
          <a:prstGeom prst="roundRect">
            <a:avLst/>
          </a:prstGeom>
          <a:solidFill>
            <a:srgbClr val="2B2A17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6190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成功标准：ratio 提升 &amp; 在线额外开销可控（尤其 decode）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附录：实验口径与数据对齐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确保不同方案的结果可比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10972800" cy="5303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15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对齐清单（Checklist）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508760"/>
            <a:ext cx="1033272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737360"/>
            <a:ext cx="9784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数据边界：每条 record 的顺序固定（layer → head → dim → token block），K/V 分开统计。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dtype 口径：FP32 计算，按 FP16 存储模拟；verify 开启，确保无损。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ratio 定义一致：ratio = original / compressed；分别给出 K、V、TOTAL。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分块参数显式记录：BLOCK_SIZE / block tokens；报告中注明“同数据段”与否。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未来补齐：在线压缩/解压耗时（P50/P99），与推理 QPS/latency 一起呈现。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5715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（可选）建议在报告中同时给出：K-only ratio、V-only ratio，以及 K 占比（orig bytes）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6111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Lossless Compression – Progress</dc:title>
  <dc:subject>KV cache lossless compression</dc:subject>
  <dc:creator>KV Cache Compression</dc:creator>
  <cp:lastModifiedBy>KV Cache Compression</cp:lastModifiedBy>
  <cp:revision>1</cp:revision>
  <dcterms:created xsi:type="dcterms:W3CDTF">2026-01-14T08:46:47Z</dcterms:created>
  <dcterms:modified xsi:type="dcterms:W3CDTF">2026-01-14T08:46:47Z</dcterms:modified>
</cp:coreProperties>
</file>