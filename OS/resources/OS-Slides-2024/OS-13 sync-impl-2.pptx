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3"/>
  </p:notesMasterIdLst>
  <p:handoutMasterIdLst>
    <p:handoutMasterId r:id="rId64"/>
  </p:handoutMasterIdLst>
  <p:sldIdLst>
    <p:sldId id="1306" r:id="rId2"/>
    <p:sldId id="1359" r:id="rId3"/>
    <p:sldId id="2447" r:id="rId4"/>
    <p:sldId id="407" r:id="rId5"/>
    <p:sldId id="366" r:id="rId6"/>
    <p:sldId id="417" r:id="rId7"/>
    <p:sldId id="368" r:id="rId8"/>
    <p:sldId id="370" r:id="rId9"/>
    <p:sldId id="2436" r:id="rId10"/>
    <p:sldId id="2437" r:id="rId11"/>
    <p:sldId id="2438" r:id="rId12"/>
    <p:sldId id="2439" r:id="rId13"/>
    <p:sldId id="373" r:id="rId14"/>
    <p:sldId id="376" r:id="rId15"/>
    <p:sldId id="377" r:id="rId16"/>
    <p:sldId id="378" r:id="rId17"/>
    <p:sldId id="379" r:id="rId18"/>
    <p:sldId id="383" r:id="rId19"/>
    <p:sldId id="384" r:id="rId20"/>
    <p:sldId id="385" r:id="rId21"/>
    <p:sldId id="2386" r:id="rId22"/>
    <p:sldId id="2440" r:id="rId23"/>
    <p:sldId id="1417" r:id="rId24"/>
    <p:sldId id="2403" r:id="rId25"/>
    <p:sldId id="2387" r:id="rId26"/>
    <p:sldId id="2388" r:id="rId27"/>
    <p:sldId id="2392" r:id="rId28"/>
    <p:sldId id="2441" r:id="rId29"/>
    <p:sldId id="2406" r:id="rId30"/>
    <p:sldId id="2442" r:id="rId31"/>
    <p:sldId id="2443" r:id="rId32"/>
    <p:sldId id="2444" r:id="rId33"/>
    <p:sldId id="2445" r:id="rId34"/>
    <p:sldId id="2446" r:id="rId35"/>
    <p:sldId id="1378" r:id="rId36"/>
    <p:sldId id="1490" r:id="rId37"/>
    <p:sldId id="1482" r:id="rId38"/>
    <p:sldId id="1379" r:id="rId39"/>
    <p:sldId id="1437" r:id="rId40"/>
    <p:sldId id="1436" r:id="rId41"/>
    <p:sldId id="1410" r:id="rId42"/>
    <p:sldId id="1411" r:id="rId43"/>
    <p:sldId id="1387" r:id="rId44"/>
    <p:sldId id="1456" r:id="rId45"/>
    <p:sldId id="1481" r:id="rId46"/>
    <p:sldId id="2435" r:id="rId47"/>
    <p:sldId id="1483" r:id="rId48"/>
    <p:sldId id="1457" r:id="rId49"/>
    <p:sldId id="1484" r:id="rId50"/>
    <p:sldId id="1485" r:id="rId51"/>
    <p:sldId id="1486" r:id="rId52"/>
    <p:sldId id="2434" r:id="rId53"/>
    <p:sldId id="2400" r:id="rId54"/>
    <p:sldId id="1493" r:id="rId55"/>
    <p:sldId id="2368" r:id="rId56"/>
    <p:sldId id="2401" r:id="rId57"/>
    <p:sldId id="1513" r:id="rId58"/>
    <p:sldId id="2370" r:id="rId59"/>
    <p:sldId id="1514" r:id="rId60"/>
    <p:sldId id="2404" r:id="rId61"/>
    <p:sldId id="1412" r:id="rId62"/>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2F92"/>
    <a:srgbClr val="00FB92"/>
    <a:srgbClr val="941100"/>
    <a:srgbClr val="212121"/>
    <a:srgbClr val="005493"/>
    <a:srgbClr val="9437FF"/>
    <a:srgbClr val="73FEFF"/>
    <a:srgbClr val="ED3C64"/>
    <a:srgbClr val="FF93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78980" autoAdjust="0"/>
  </p:normalViewPr>
  <p:slideViewPr>
    <p:cSldViewPr>
      <p:cViewPr varScale="1">
        <p:scale>
          <a:sx n="114" d="100"/>
          <a:sy n="114" d="100"/>
        </p:scale>
        <p:origin x="2432" y="176"/>
      </p:cViewPr>
      <p:guideLst>
        <p:guide orient="horz" pos="2480"/>
        <p:guide pos="340"/>
        <p:guide pos="2880"/>
      </p:guideLst>
    </p:cSldViewPr>
  </p:slideViewPr>
  <p:outlineViewPr>
    <p:cViewPr>
      <p:scale>
        <a:sx n="33" d="100"/>
        <a:sy n="33" d="100"/>
      </p:scale>
      <p:origin x="0" y="-572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因为每个</a:t>
            </a:r>
            <a:r>
              <a:rPr kumimoji="1" lang="en-US" altLang="zh-CN" dirty="0" err="1"/>
              <a:t>cpu</a:t>
            </a:r>
            <a:r>
              <a:rPr kumimoji="1" lang="zh-CN" altLang="en-US" dirty="0"/>
              <a:t> </a:t>
            </a:r>
            <a:r>
              <a:rPr kumimoji="1" lang="en-US" altLang="zh-CN" dirty="0"/>
              <a:t>table</a:t>
            </a:r>
            <a:r>
              <a:rPr kumimoji="1" lang="zh-CN" altLang="en-US" dirty="0"/>
              <a:t>只会被当前</a:t>
            </a:r>
            <a:r>
              <a:rPr kumimoji="1" lang="en-US" altLang="zh-CN" dirty="0"/>
              <a:t>CPU</a:t>
            </a:r>
            <a:r>
              <a:rPr kumimoji="1" lang="zh-CN" altLang="en-US" dirty="0"/>
              <a:t>访问，所以不会出现并发访问的情况</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a:t>
            </a:fld>
            <a:endParaRPr lang="zh-CN" altLang="en-US"/>
          </a:p>
        </p:txBody>
      </p:sp>
    </p:spTree>
    <p:extLst>
      <p:ext uri="{BB962C8B-B14F-4D97-AF65-F5344CB8AC3E}">
        <p14:creationId xmlns:p14="http://schemas.microsoft.com/office/powerpoint/2010/main" val="2689026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Question-1: where</a:t>
            </a:r>
            <a:r>
              <a:rPr kumimoji="1" lang="en-US" altLang="zh-CN" baseline="0" dirty="0"/>
              <a:t> is the point of context switch?</a:t>
            </a:r>
          </a:p>
          <a:p>
            <a:r>
              <a:rPr kumimoji="1" lang="en-US" altLang="zh-CN" dirty="0"/>
              <a:t>Question-2: why not save the PC of a thread?</a:t>
            </a:r>
            <a:endParaRPr kumimoji="1" lang="zh-CN" altLang="en-US" dirty="0"/>
          </a:p>
        </p:txBody>
      </p:sp>
      <p:sp>
        <p:nvSpPr>
          <p:cNvPr id="4" name="幻灯片编号占位符 3"/>
          <p:cNvSpPr>
            <a:spLocks noGrp="1"/>
          </p:cNvSpPr>
          <p:nvPr>
            <p:ph type="sldNum" sz="quarter" idx="10"/>
          </p:nvPr>
        </p:nvSpPr>
        <p:spPr/>
        <p:txBody>
          <a:bodyPr/>
          <a:lstStyle/>
          <a:p>
            <a:fld id="{CF5B8B3F-0F45-4AAD-B4A8-B1F7D58CB493}" type="slidenum">
              <a:rPr lang="zh-CN" altLang="en-US" smtClean="0"/>
              <a:t>8</a:t>
            </a:fld>
            <a:endParaRPr lang="zh-CN" altLang="en-US"/>
          </a:p>
        </p:txBody>
      </p:sp>
    </p:spTree>
    <p:extLst>
      <p:ext uri="{BB962C8B-B14F-4D97-AF65-F5344CB8AC3E}">
        <p14:creationId xmlns:p14="http://schemas.microsoft.com/office/powerpoint/2010/main" val="1465017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A84A077-83E9-49A7-9F59-234D78BD6949}" type="slidenum">
              <a:rPr lang="zh-CN" altLang="en-US" smtClean="0"/>
              <a:t>16</a:t>
            </a:fld>
            <a:endParaRPr lang="zh-CN" altLang="en-US"/>
          </a:p>
        </p:txBody>
      </p:sp>
    </p:spTree>
    <p:extLst>
      <p:ext uri="{BB962C8B-B14F-4D97-AF65-F5344CB8AC3E}">
        <p14:creationId xmlns:p14="http://schemas.microsoft.com/office/powerpoint/2010/main" val="694584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Answer:</a:t>
            </a:r>
            <a:r>
              <a:rPr lang="en-US" altLang="zh-CN" baseline="0" dirty="0"/>
              <a:t> when create a new thread, the stack of the thread must be initialized to include YIELD(), and push the return address to the middle of YIELD(),  so that when after return, the new thread will first release the lock, just as the previous slide. Then return again to the </a:t>
            </a:r>
            <a:r>
              <a:rPr lang="en-US" altLang="zh-CN" baseline="0" dirty="0" err="1"/>
              <a:t>start_procedure</a:t>
            </a:r>
            <a:r>
              <a:rPr lang="en-US" altLang="zh-CN" baseline="0" dirty="0"/>
              <a:t> (by pushing the address to the stack too). </a:t>
            </a:r>
            <a:endParaRPr lang="zh-CN" altLang="en-US" dirty="0"/>
          </a:p>
        </p:txBody>
      </p:sp>
      <p:sp>
        <p:nvSpPr>
          <p:cNvPr id="4" name="灯片编号占位符 3"/>
          <p:cNvSpPr>
            <a:spLocks noGrp="1"/>
          </p:cNvSpPr>
          <p:nvPr>
            <p:ph type="sldNum" sz="quarter" idx="10"/>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3016511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3">
              <a:buNone/>
            </a:pPr>
            <a:r>
              <a:rPr kumimoji="1" lang="zh-CN" altLang="en-US" dirty="0">
                <a:latin typeface="Courier" pitchFamily="2" charset="0"/>
              </a:rPr>
              <a:t>为了介绍信号量，先介绍生产者消费者问题的另一种实现</a:t>
            </a:r>
            <a:endParaRPr kumimoji="1" lang="en-US" altLang="zh-CN" dirty="0">
              <a:latin typeface="Courier" pitchFamily="2" charset="0"/>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t>22</a:t>
            </a:fld>
            <a:endParaRPr lang="zh-CN" altLang="en-US"/>
          </a:p>
        </p:txBody>
      </p:sp>
    </p:spTree>
    <p:extLst>
      <p:ext uri="{BB962C8B-B14F-4D97-AF65-F5344CB8AC3E}">
        <p14:creationId xmlns:p14="http://schemas.microsoft.com/office/powerpoint/2010/main" val="1963403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本章开头的两个例子</a:t>
            </a:r>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23</a:t>
            </a:fld>
            <a:endParaRPr lang="zh-CN" altLang="en-US"/>
          </a:p>
        </p:txBody>
      </p:sp>
    </p:spTree>
    <p:extLst>
      <p:ext uri="{BB962C8B-B14F-4D97-AF65-F5344CB8AC3E}">
        <p14:creationId xmlns:p14="http://schemas.microsoft.com/office/powerpoint/2010/main" val="3715242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本章开头的两个例子</a:t>
            </a:r>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24</a:t>
            </a:fld>
            <a:endParaRPr lang="zh-CN" altLang="en-US"/>
          </a:p>
        </p:txBody>
      </p:sp>
    </p:spTree>
    <p:extLst>
      <p:ext uri="{BB962C8B-B14F-4D97-AF65-F5344CB8AC3E}">
        <p14:creationId xmlns:p14="http://schemas.microsoft.com/office/powerpoint/2010/main" val="1516089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3472378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26</a:t>
            </a:fld>
            <a:endParaRPr lang="zh-CN" altLang="en-US"/>
          </a:p>
        </p:txBody>
      </p:sp>
    </p:spTree>
    <p:extLst>
      <p:ext uri="{BB962C8B-B14F-4D97-AF65-F5344CB8AC3E}">
        <p14:creationId xmlns:p14="http://schemas.microsoft.com/office/powerpoint/2010/main" val="1343355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27</a:t>
            </a:fld>
            <a:endParaRPr lang="zh-CN" altLang="en-US"/>
          </a:p>
        </p:txBody>
      </p:sp>
    </p:spTree>
    <p:extLst>
      <p:ext uri="{BB962C8B-B14F-4D97-AF65-F5344CB8AC3E}">
        <p14:creationId xmlns:p14="http://schemas.microsoft.com/office/powerpoint/2010/main" val="2964370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28</a:t>
            </a:fld>
            <a:endParaRPr lang="zh-CN" altLang="en-US"/>
          </a:p>
        </p:txBody>
      </p:sp>
    </p:spTree>
    <p:extLst>
      <p:ext uri="{BB962C8B-B14F-4D97-AF65-F5344CB8AC3E}">
        <p14:creationId xmlns:p14="http://schemas.microsoft.com/office/powerpoint/2010/main" val="3353801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extLst>
      <p:ext uri="{BB962C8B-B14F-4D97-AF65-F5344CB8AC3E}">
        <p14:creationId xmlns:p14="http://schemas.microsoft.com/office/powerpoint/2010/main" val="2605971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30</a:t>
            </a:fld>
            <a:endParaRPr lang="zh-CN" altLang="en-US"/>
          </a:p>
        </p:txBody>
      </p:sp>
    </p:spTree>
    <p:extLst>
      <p:ext uri="{BB962C8B-B14F-4D97-AF65-F5344CB8AC3E}">
        <p14:creationId xmlns:p14="http://schemas.microsoft.com/office/powerpoint/2010/main" val="3306322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a:t>一个</a:t>
            </a:r>
            <a:r>
              <a:rPr lang="zh-CN" altLang="en-US"/>
              <a:t>内存控制器 放中间，内存访问都慢</a:t>
            </a:r>
            <a:endParaRPr lang="en-US" altLang="zh-CN"/>
          </a:p>
          <a:p>
            <a:r>
              <a:rPr lang="zh-CN" altLang="en-US"/>
              <a:t>放两个，局部都快</a:t>
            </a:r>
            <a:endParaRPr lang="en-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40</a:t>
            </a:fld>
            <a:endParaRPr lang="zh-CN" altLang="en-US"/>
          </a:p>
        </p:txBody>
      </p:sp>
    </p:spTree>
    <p:extLst>
      <p:ext uri="{BB962C8B-B14F-4D97-AF65-F5344CB8AC3E}">
        <p14:creationId xmlns:p14="http://schemas.microsoft.com/office/powerpoint/2010/main" val="3589900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每个节点最多传</a:t>
            </a:r>
            <a:r>
              <a:rPr kumimoji="1" lang="en-US" altLang="zh-CN" dirty="0"/>
              <a:t>N</a:t>
            </a:r>
            <a:r>
              <a:rPr kumimoji="1" lang="zh-CN" altLang="en-US" dirty="0"/>
              <a:t>次，为了公平</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48</a:t>
            </a:fld>
            <a:endParaRPr lang="zh-CN" altLang="en-US"/>
          </a:p>
        </p:txBody>
      </p:sp>
    </p:spTree>
    <p:extLst>
      <p:ext uri="{BB962C8B-B14F-4D97-AF65-F5344CB8AC3E}">
        <p14:creationId xmlns:p14="http://schemas.microsoft.com/office/powerpoint/2010/main" val="2248450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回到正题</a:t>
            </a:r>
            <a:r>
              <a:rPr lang="zh-CN" altLang="en-US" dirty="0"/>
              <a:t>，</a:t>
            </a:r>
            <a:r>
              <a:rPr lang="en-US" altLang="zh-CN" dirty="0"/>
              <a:t>Cohort</a:t>
            </a:r>
            <a:r>
              <a:rPr lang="zh-CN" altLang="en-US" dirty="0"/>
              <a:t> </a:t>
            </a:r>
            <a:r>
              <a:rPr lang="en-US" altLang="zh-CN" dirty="0"/>
              <a:t>lock</a:t>
            </a:r>
            <a:r>
              <a:rPr lang="zh-CN" altLang="en-US" dirty="0"/>
              <a:t>还是会</a:t>
            </a:r>
            <a:r>
              <a:rPr lang="en-US" altLang="zh-CN" dirty="0"/>
              <a:t>collapse</a:t>
            </a:r>
          </a:p>
          <a:p>
            <a:r>
              <a:rPr lang="zh-CN" altLang="en-US" dirty="0"/>
              <a:t>有没有办法能够维持理想的性能？</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53</a:t>
            </a:fld>
            <a:endParaRPr lang="zh-CN" altLang="en-US"/>
          </a:p>
        </p:txBody>
      </p:sp>
    </p:spTree>
    <p:extLst>
      <p:ext uri="{BB962C8B-B14F-4D97-AF65-F5344CB8AC3E}">
        <p14:creationId xmlns:p14="http://schemas.microsoft.com/office/powerpoint/2010/main" val="1573222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迁移锁</a:t>
            </a:r>
            <a:r>
              <a:rPr lang="en-US" altLang="zh-CN"/>
              <a:t>/</a:t>
            </a:r>
            <a:r>
              <a:rPr lang="zh-CN" altLang="en-US"/>
              <a:t>代理锁，达成这个目标。</a:t>
            </a:r>
            <a:endParaRPr lang="en-CN" altLang="zh-CN"/>
          </a:p>
          <a:p>
            <a:endParaRPr lang="en-CN" altLang="zh-CN"/>
          </a:p>
          <a:p>
            <a:r>
              <a:rPr lang="zh-CN" altLang="en-US"/>
              <a:t>与其让</a:t>
            </a:r>
            <a:r>
              <a:rPr lang="en-US" altLang="zh-CN"/>
              <a:t>cache</a:t>
            </a:r>
            <a:r>
              <a:rPr lang="zh-CN" altLang="en-US"/>
              <a:t> </a:t>
            </a:r>
            <a:r>
              <a:rPr lang="en-US" altLang="zh-CN"/>
              <a:t>line</a:t>
            </a:r>
            <a:r>
              <a:rPr lang="zh-CN" altLang="en-US"/>
              <a:t>在不同的核心之间迁移，</a:t>
            </a:r>
            <a:endParaRPr lang="en-US" altLang="zh-CN"/>
          </a:p>
          <a:p>
            <a:r>
              <a:rPr lang="zh-CN" altLang="en-US"/>
              <a:t>为什么不直接找一个核心，固定死只让这一个核心访问这些共享的缓存行？</a:t>
            </a:r>
            <a:endParaRPr lang="en-US" altLang="zh-CN"/>
          </a:p>
          <a:p>
            <a:endParaRPr lang="en-US" altLang="zh-CN"/>
          </a:p>
          <a:p>
            <a:r>
              <a:rPr lang="zh-CN" altLang="en-US"/>
              <a:t>牵扯到一个代理执行的概念</a:t>
            </a:r>
            <a:endParaRPr lang="en-US" altLang="zh-CN"/>
          </a:p>
          <a:p>
            <a:endParaRPr lang="en-US" altLang="zh-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54</a:t>
            </a:fld>
            <a:endParaRPr lang="zh-CN" altLang="en-US"/>
          </a:p>
        </p:txBody>
      </p:sp>
    </p:spTree>
    <p:extLst>
      <p:ext uri="{BB962C8B-B14F-4D97-AF65-F5344CB8AC3E}">
        <p14:creationId xmlns:p14="http://schemas.microsoft.com/office/powerpoint/2010/main" val="3130088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对于锁服务器</a:t>
            </a:r>
            <a:r>
              <a:rPr lang="zh-CN" altLang="en-US"/>
              <a:t>：</a:t>
            </a:r>
            <a:endParaRPr lang="en-US" altLang="zh-CN"/>
          </a:p>
          <a:p>
            <a:r>
              <a:rPr lang="zh-CN" altLang="en-US"/>
              <a:t>遍历请求队列，一一执行临界区的</a:t>
            </a:r>
            <a:r>
              <a:rPr lang="zh-CN" altLang="en-CN"/>
              <a:t>闭包</a:t>
            </a:r>
            <a:r>
              <a:rPr lang="zh-CN" altLang="en-US"/>
              <a:t>函数，</a:t>
            </a:r>
            <a:endParaRPr lang="en-US" altLang="zh-CN"/>
          </a:p>
          <a:p>
            <a:r>
              <a:rPr lang="zh-CN" altLang="en-US"/>
              <a:t>并在执行完后发送执行结果。</a:t>
            </a:r>
            <a:endParaRPr lang="en-US" altLang="zh-CN"/>
          </a:p>
          <a:p>
            <a:endParaRPr lang="en-US"/>
          </a:p>
          <a:p>
            <a:r>
              <a:rPr lang="zh-CN" altLang="en-US"/>
              <a:t>通过这个方式，可以避免临界区内的全局缓存行在不同的</a:t>
            </a:r>
            <a:r>
              <a:rPr lang="en-US" altLang="zh-CN"/>
              <a:t>NUMA</a:t>
            </a:r>
            <a:r>
              <a:rPr lang="zh-CN" altLang="en-US"/>
              <a:t>节点之间迁移，</a:t>
            </a:r>
            <a:endParaRPr lang="en-US" altLang="zh-CN"/>
          </a:p>
          <a:p>
            <a:r>
              <a:rPr lang="zh-CN" altLang="en-US"/>
              <a:t>转变成本地的访问，从而提升性能。</a:t>
            </a:r>
            <a:endParaRPr lang="en-US" altLang="zh-CN"/>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57</a:t>
            </a:fld>
            <a:endParaRPr lang="zh-CN" altLang="en-US"/>
          </a:p>
        </p:txBody>
      </p:sp>
    </p:spTree>
    <p:extLst>
      <p:ext uri="{BB962C8B-B14F-4D97-AF65-F5344CB8AC3E}">
        <p14:creationId xmlns:p14="http://schemas.microsoft.com/office/powerpoint/2010/main" val="3816564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那么这个全局</a:t>
            </a:r>
          </a:p>
          <a:p>
            <a:endParaRPr lang="en-CN"/>
          </a:p>
          <a:p>
            <a:r>
              <a:rPr lang="en-CN"/>
              <a:t>代理锁也分成了很多类型</a:t>
            </a:r>
            <a:r>
              <a:rPr lang="zh-CN" altLang="en-US"/>
              <a:t>，</a:t>
            </a:r>
            <a:endParaRPr lang="en-CN" altLang="zh-CN"/>
          </a:p>
          <a:p>
            <a:r>
              <a:rPr lang="en-CN"/>
              <a:t>包括选定固定核心作为专门锁服务器的代理锁</a:t>
            </a:r>
          </a:p>
          <a:p>
            <a:endParaRPr lang="en-CN"/>
          </a:p>
          <a:p>
            <a:r>
              <a:rPr lang="en-CN"/>
              <a:t>以及动态地</a:t>
            </a:r>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58</a:t>
            </a:fld>
            <a:endParaRPr lang="zh-CN" altLang="en-US"/>
          </a:p>
        </p:txBody>
      </p:sp>
    </p:spTree>
    <p:extLst>
      <p:ext uri="{BB962C8B-B14F-4D97-AF65-F5344CB8AC3E}">
        <p14:creationId xmlns:p14="http://schemas.microsoft.com/office/powerpoint/2010/main" val="127061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代理锁的性能远远超出了之前说的MCS锁与Cohort锁</a:t>
            </a:r>
            <a:r>
              <a:rPr lang="zh-CN" altLang="en-US"/>
              <a:t>。</a:t>
            </a:r>
            <a:endParaRPr lang="en-US" altLang="zh-CN"/>
          </a:p>
          <a:p>
            <a:endParaRPr lang="en-US"/>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59</a:t>
            </a:fld>
            <a:endParaRPr lang="zh-CN" altLang="en-US"/>
          </a:p>
        </p:txBody>
      </p:sp>
    </p:spTree>
    <p:extLst>
      <p:ext uri="{BB962C8B-B14F-4D97-AF65-F5344CB8AC3E}">
        <p14:creationId xmlns:p14="http://schemas.microsoft.com/office/powerpoint/2010/main" val="345206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代理锁的性能远远超出了之前说的MCS锁与Cohort锁</a:t>
            </a:r>
            <a:r>
              <a:rPr lang="zh-CN" altLang="en-US"/>
              <a:t>。</a:t>
            </a:r>
            <a:endParaRPr lang="en-US" altLang="zh-CN"/>
          </a:p>
          <a:p>
            <a:endParaRPr lang="en-US"/>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60</a:t>
            </a:fld>
            <a:endParaRPr lang="zh-CN" altLang="en-US"/>
          </a:p>
        </p:txBody>
      </p:sp>
    </p:spTree>
    <p:extLst>
      <p:ext uri="{BB962C8B-B14F-4D97-AF65-F5344CB8AC3E}">
        <p14:creationId xmlns:p14="http://schemas.microsoft.com/office/powerpoint/2010/main" val="226647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numa_alloc</a:t>
            </a:r>
            <a:r>
              <a:rPr kumimoji="1" lang="zh-CN" altLang="en-US" dirty="0"/>
              <a:t>，用户会知道</a:t>
            </a:r>
            <a:r>
              <a:rPr kumimoji="1" lang="en-US" altLang="zh-CN" dirty="0"/>
              <a:t>NUMA</a:t>
            </a:r>
            <a:r>
              <a:rPr kumimoji="1" lang="zh-CN" altLang="en-US" dirty="0"/>
              <a:t>结构，也需要绑核控制调度</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61</a:t>
            </a:fld>
            <a:endParaRPr lang="zh-CN" altLang="en-US"/>
          </a:p>
        </p:txBody>
      </p:sp>
    </p:spTree>
    <p:extLst>
      <p:ext uri="{BB962C8B-B14F-4D97-AF65-F5344CB8AC3E}">
        <p14:creationId xmlns:p14="http://schemas.microsoft.com/office/powerpoint/2010/main" val="1850476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2.emf"/><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image" Target="../media/image28.emf"/></Relationships>
</file>

<file path=ppt/slides/_rels/slide5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4.emf"/><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image" Target="../media/image33.emf"/></Relationships>
</file>

<file path=ppt/slides/_rels/slide5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424268"/>
            <a:ext cx="7772400" cy="1856584"/>
          </a:xfrm>
        </p:spPr>
        <p:txBody>
          <a:bodyPr>
            <a:normAutofit/>
          </a:bodyPr>
          <a:lstStyle/>
          <a:p>
            <a:pPr algn="ctr">
              <a:lnSpc>
                <a:spcPct val="110000"/>
              </a:lnSpc>
            </a:pPr>
            <a:r>
              <a:rPr kumimoji="1" lang="zh-CN" altLang="en-US" dirty="0"/>
              <a:t>同步原语：实现</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a:solidFill>
                  <a:schemeClr val="tx1">
                    <a:lumMod val="50000"/>
                    <a:lumOff val="50000"/>
                  </a:schemeClr>
                </a:solidFill>
              </a:rPr>
              <a:t>https</a:t>
            </a:r>
            <a:r>
              <a:rPr kumimoji="1" lang="en-US" altLang="zh-CN" sz="1800" dirty="0">
                <a:solidFill>
                  <a:schemeClr val="tx1">
                    <a:lumMod val="50000"/>
                    <a:lumOff val="50000"/>
                  </a:schemeClr>
                </a:solidFill>
              </a:rPr>
              <a:t>://</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
        <p:nvSpPr>
          <p:cNvPr id="2" name="副标题 2">
            <a:extLst>
              <a:ext uri="{FF2B5EF4-FFF2-40B4-BE49-F238E27FC236}">
                <a16:creationId xmlns:a16="http://schemas.microsoft.com/office/drawing/2014/main" id="{3AE3185A-EBEC-0368-3D4F-AEC97785057E}"/>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1400" dirty="0">
                <a:solidFill>
                  <a:srgbClr val="000000">
                    <a:lumMod val="75000"/>
                    <a:lumOff val="25000"/>
                  </a:srgbClr>
                </a:solidFill>
                <a:latin typeface="Arial" panose="020B0604020202020204"/>
              </a:rPr>
              <a:t>操作系统</a:t>
            </a:r>
          </a:p>
        </p:txBody>
      </p:sp>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37631C19-1DB9-AE41-9EC0-88F4B3A93F6C}"/>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回顾：条件变量的实现</a:t>
            </a:r>
            <a:endParaRPr kumimoji="1" lang="zh-CN" altLang="en-US" b="1" dirty="0"/>
          </a:p>
        </p:txBody>
      </p:sp>
    </p:spTree>
    <p:extLst>
      <p:ext uri="{BB962C8B-B14F-4D97-AF65-F5344CB8AC3E}">
        <p14:creationId xmlns:p14="http://schemas.microsoft.com/office/powerpoint/2010/main" val="820958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带锁参数的</a:t>
            </a:r>
            <a:r>
              <a:rPr lang="en-US" altLang="zh-CN" dirty="0"/>
              <a:t>API: WAIT(</a:t>
            </a:r>
            <a:r>
              <a:rPr lang="en-US" altLang="zh-CN" dirty="0" err="1"/>
              <a:t>bb.full</a:t>
            </a:r>
            <a:r>
              <a:rPr lang="en-US" altLang="zh-CN" dirty="0"/>
              <a:t>, </a:t>
            </a:r>
            <a:r>
              <a:rPr lang="en-US" altLang="zh-CN" dirty="0" err="1"/>
              <a:t>bb.lock</a:t>
            </a:r>
            <a:r>
              <a:rPr lang="en-US" altLang="zh-CN" dirty="0"/>
              <a:t>)</a:t>
            </a:r>
            <a:endParaRPr lang="zh-CN" altLang="en-US" dirty="0"/>
          </a:p>
        </p:txBody>
      </p:sp>
      <p:sp>
        <p:nvSpPr>
          <p:cNvPr id="4" name="矩形 3"/>
          <p:cNvSpPr/>
          <p:nvPr/>
        </p:nvSpPr>
        <p:spPr>
          <a:xfrm>
            <a:off x="251520" y="1417340"/>
            <a:ext cx="4572000" cy="3477875"/>
          </a:xfrm>
          <a:prstGeom prst="rect">
            <a:avLst/>
          </a:prstGeom>
        </p:spPr>
        <p:txBody>
          <a:bodyPr>
            <a:spAutoFit/>
          </a:bodyPr>
          <a:lstStyle/>
          <a:p>
            <a:pPr>
              <a:lnSpc>
                <a:spcPts val="2200"/>
              </a:lnSpc>
            </a:pPr>
            <a:r>
              <a:rPr lang="en-US" altLang="zh-CN" sz="1600" b="1" dirty="0">
                <a:latin typeface="Consolas" panose="020B0609020204030204" pitchFamily="49" charset="0"/>
                <a:cs typeface="Consolas" panose="020B0609020204030204" pitchFamily="49" charset="0"/>
              </a:rPr>
              <a:t> send(bb, </a:t>
            </a:r>
            <a:r>
              <a:rPr lang="en-US" altLang="zh-CN" sz="1600" b="1" dirty="0" err="1">
                <a:latin typeface="Consolas" panose="020B0609020204030204" pitchFamily="49" charset="0"/>
                <a:cs typeface="Consolas" panose="020B0609020204030204" pitchFamily="49" charset="0"/>
              </a:rPr>
              <a:t>msg</a:t>
            </a:r>
            <a:r>
              <a:rPr lang="en-US" altLang="zh-CN" sz="1600" b="1" dirty="0">
                <a:latin typeface="Consolas" panose="020B0609020204030204" pitchFamily="49" charset="0"/>
                <a:cs typeface="Consolas" panose="020B0609020204030204" pitchFamily="49" charset="0"/>
              </a:rPr>
              <a:t>):</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while True:</a:t>
            </a:r>
          </a:p>
          <a:p>
            <a:pPr>
              <a:lnSpc>
                <a:spcPts val="2200"/>
              </a:lnSpc>
            </a:pPr>
            <a:r>
              <a:rPr lang="en-US" altLang="zh-CN" sz="1600" dirty="0">
                <a:latin typeface="Consolas" panose="020B0609020204030204" pitchFamily="49" charset="0"/>
                <a:cs typeface="Consolas" panose="020B0609020204030204" pitchFamily="49" charset="0"/>
              </a:rPr>
              <a:t>      if bb.in - </a:t>
            </a:r>
            <a:r>
              <a:rPr lang="en-US" altLang="zh-CN" sz="1600" dirty="0" err="1">
                <a:latin typeface="Consolas" panose="020B0609020204030204" pitchFamily="49" charset="0"/>
                <a:cs typeface="Consolas" panose="020B0609020204030204" pitchFamily="49" charset="0"/>
              </a:rPr>
              <a:t>bb.out</a:t>
            </a:r>
            <a:r>
              <a:rPr lang="en-US" altLang="zh-CN" sz="1600" dirty="0">
                <a:latin typeface="Consolas" panose="020B0609020204030204" pitchFamily="49" charset="0"/>
                <a:cs typeface="Consolas" panose="020B0609020204030204" pitchFamily="49" charset="0"/>
              </a:rPr>
              <a:t> &lt; N:</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latin typeface="Consolas" panose="020B0609020204030204" pitchFamily="49" charset="0"/>
                <a:cs typeface="Consolas" panose="020B0609020204030204" pitchFamily="49" charset="0"/>
              </a:rPr>
              <a:t>bb.buf</a:t>
            </a:r>
            <a:r>
              <a:rPr lang="en-US" altLang="zh-CN" sz="1600" dirty="0">
                <a:latin typeface="Consolas" panose="020B0609020204030204" pitchFamily="49" charset="0"/>
                <a:cs typeface="Consolas" panose="020B0609020204030204" pitchFamily="49" charset="0"/>
              </a:rPr>
              <a:t>[bb.in mod N] &lt;- </a:t>
            </a:r>
            <a:r>
              <a:rPr lang="en-US" altLang="zh-CN" sz="1600" dirty="0" err="1">
                <a:latin typeface="Consolas" panose="020B0609020204030204" pitchFamily="49" charset="0"/>
                <a:cs typeface="Consolas" panose="020B0609020204030204" pitchFamily="49" charset="0"/>
              </a:rPr>
              <a:t>msg</a:t>
            </a:r>
            <a:endParaRPr lang="en-US" altLang="zh-CN" sz="1600" dirty="0">
              <a:latin typeface="Consolas" panose="020B0609020204030204" pitchFamily="49" charset="0"/>
              <a:cs typeface="Consolas" panose="020B0609020204030204" pitchFamily="49" charset="0"/>
            </a:endParaRPr>
          </a:p>
          <a:p>
            <a:pPr>
              <a:lnSpc>
                <a:spcPts val="2200"/>
              </a:lnSpc>
            </a:pPr>
            <a:r>
              <a:rPr lang="en-US" altLang="zh-CN" sz="1600" dirty="0">
                <a:latin typeface="Consolas" panose="020B0609020204030204" pitchFamily="49" charset="0"/>
                <a:cs typeface="Consolas" panose="020B0609020204030204" pitchFamily="49" charset="0"/>
              </a:rPr>
              <a:t>        bb.in &lt;- bb.in + 1</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unlock(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a:solidFill>
                  <a:srgbClr val="FF0000"/>
                </a:solidFill>
                <a:latin typeface="Consolas" panose="020B0609020204030204" pitchFamily="49" charset="0"/>
                <a:cs typeface="Consolas" panose="020B0609020204030204" pitchFamily="49" charset="0"/>
              </a:rPr>
              <a:t>signal(</a:t>
            </a:r>
            <a:r>
              <a:rPr lang="en-US" altLang="zh-CN" sz="1600" dirty="0" err="1">
                <a:solidFill>
                  <a:srgbClr val="FF0000"/>
                </a:solidFill>
                <a:latin typeface="Consolas" panose="020B0609020204030204" pitchFamily="49" charset="0"/>
                <a:cs typeface="Consolas" panose="020B0609020204030204" pitchFamily="49" charset="0"/>
              </a:rPr>
              <a:t>bb.not_empty</a:t>
            </a:r>
            <a:r>
              <a:rPr lang="en-US" altLang="zh-CN" sz="1600" dirty="0">
                <a:solidFill>
                  <a:srgbClr val="FF0000"/>
                </a:solidFill>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return</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unlock(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dirty="0">
                <a:solidFill>
                  <a:srgbClr val="FF0000"/>
                </a:solidFill>
                <a:latin typeface="Consolas" panose="020B0609020204030204" pitchFamily="49" charset="0"/>
                <a:cs typeface="Consolas" panose="020B0609020204030204" pitchFamily="49" charset="0"/>
              </a:rPr>
              <a:t>      wait(</a:t>
            </a:r>
            <a:r>
              <a:rPr lang="en-US" altLang="zh-CN" sz="1600" dirty="0" err="1">
                <a:solidFill>
                  <a:srgbClr val="FF0000"/>
                </a:solidFill>
                <a:latin typeface="Consolas" panose="020B0609020204030204" pitchFamily="49" charset="0"/>
                <a:cs typeface="Consolas" panose="020B0609020204030204" pitchFamily="49" charset="0"/>
              </a:rPr>
              <a:t>bb.not_full</a:t>
            </a:r>
            <a:r>
              <a:rPr lang="en-US" altLang="zh-CN" sz="1600" dirty="0">
                <a:solidFill>
                  <a:srgbClr val="FF0000"/>
                </a:solidFill>
                <a:latin typeface="Consolas" panose="020B0609020204030204" pitchFamily="49" charset="0"/>
                <a:cs typeface="Consolas" panose="020B0609020204030204" pitchFamily="49" charset="0"/>
              </a:rPr>
              <a:t>)</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endParaRPr lang="zh-CN" altLang="en-US" sz="1600" dirty="0">
              <a:solidFill>
                <a:srgbClr val="0096FF"/>
              </a:solidFill>
              <a:latin typeface="Consolas" panose="020B0609020204030204" pitchFamily="49" charset="0"/>
              <a:cs typeface="Consolas" panose="020B0609020204030204" pitchFamily="49" charset="0"/>
            </a:endParaRPr>
          </a:p>
        </p:txBody>
      </p:sp>
      <p:sp>
        <p:nvSpPr>
          <p:cNvPr id="5" name="矩形 4"/>
          <p:cNvSpPr/>
          <p:nvPr/>
        </p:nvSpPr>
        <p:spPr>
          <a:xfrm>
            <a:off x="4427538" y="1417340"/>
            <a:ext cx="4572000" cy="3760004"/>
          </a:xfrm>
          <a:prstGeom prst="rect">
            <a:avLst/>
          </a:prstGeom>
        </p:spPr>
        <p:txBody>
          <a:bodyPr>
            <a:spAutoFit/>
          </a:bodyPr>
          <a:lstStyle/>
          <a:p>
            <a:pPr>
              <a:lnSpc>
                <a:spcPts val="2200"/>
              </a:lnSpc>
            </a:pPr>
            <a:r>
              <a:rPr lang="en-US" altLang="zh-CN" sz="1600" b="1" dirty="0">
                <a:latin typeface="Consolas" panose="020B0609020204030204" pitchFamily="49" charset="0"/>
                <a:cs typeface="Consolas" panose="020B0609020204030204" pitchFamily="49" charset="0"/>
              </a:rPr>
              <a:t> send(bb, </a:t>
            </a:r>
            <a:r>
              <a:rPr lang="en-US" altLang="zh-CN" sz="1600" b="1" dirty="0" err="1">
                <a:latin typeface="Consolas" panose="020B0609020204030204" pitchFamily="49" charset="0"/>
                <a:cs typeface="Consolas" panose="020B0609020204030204" pitchFamily="49" charset="0"/>
              </a:rPr>
              <a:t>msg</a:t>
            </a:r>
            <a:r>
              <a:rPr lang="en-US" altLang="zh-CN" sz="1600" b="1" dirty="0">
                <a:latin typeface="Consolas" panose="020B0609020204030204" pitchFamily="49" charset="0"/>
                <a:cs typeface="Consolas" panose="020B0609020204030204" pitchFamily="49" charset="0"/>
              </a:rPr>
              <a:t>):</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while True:</a:t>
            </a:r>
          </a:p>
          <a:p>
            <a:pPr>
              <a:lnSpc>
                <a:spcPts val="2200"/>
              </a:lnSpc>
            </a:pPr>
            <a:r>
              <a:rPr lang="en-US" altLang="zh-CN" sz="1600" dirty="0">
                <a:latin typeface="Consolas" panose="020B0609020204030204" pitchFamily="49" charset="0"/>
                <a:cs typeface="Consolas" panose="020B0609020204030204" pitchFamily="49" charset="0"/>
              </a:rPr>
              <a:t>      if bb.in - </a:t>
            </a:r>
            <a:r>
              <a:rPr lang="en-US" altLang="zh-CN" sz="1600" dirty="0" err="1">
                <a:latin typeface="Consolas" panose="020B0609020204030204" pitchFamily="49" charset="0"/>
                <a:cs typeface="Consolas" panose="020B0609020204030204" pitchFamily="49" charset="0"/>
              </a:rPr>
              <a:t>bb.out</a:t>
            </a:r>
            <a:r>
              <a:rPr lang="en-US" altLang="zh-CN" sz="1600" dirty="0">
                <a:latin typeface="Consolas" panose="020B0609020204030204" pitchFamily="49" charset="0"/>
                <a:cs typeface="Consolas" panose="020B0609020204030204" pitchFamily="49" charset="0"/>
              </a:rPr>
              <a:t> &lt; N:</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latin typeface="Consolas" panose="020B0609020204030204" pitchFamily="49" charset="0"/>
                <a:cs typeface="Consolas" panose="020B0609020204030204" pitchFamily="49" charset="0"/>
              </a:rPr>
              <a:t>bb.buf</a:t>
            </a:r>
            <a:r>
              <a:rPr lang="en-US" altLang="zh-CN" sz="1600" dirty="0">
                <a:latin typeface="Consolas" panose="020B0609020204030204" pitchFamily="49" charset="0"/>
                <a:cs typeface="Consolas" panose="020B0609020204030204" pitchFamily="49" charset="0"/>
              </a:rPr>
              <a:t>[bb.in mod N] &lt;- </a:t>
            </a:r>
            <a:r>
              <a:rPr lang="en-US" altLang="zh-CN" sz="1600" dirty="0" err="1">
                <a:latin typeface="Consolas" panose="020B0609020204030204" pitchFamily="49" charset="0"/>
                <a:cs typeface="Consolas" panose="020B0609020204030204" pitchFamily="49" charset="0"/>
              </a:rPr>
              <a:t>msg</a:t>
            </a:r>
            <a:endParaRPr lang="en-US" altLang="zh-CN" sz="1600" dirty="0">
              <a:latin typeface="Consolas" panose="020B0609020204030204" pitchFamily="49" charset="0"/>
              <a:cs typeface="Consolas" panose="020B0609020204030204" pitchFamily="49" charset="0"/>
            </a:endParaRPr>
          </a:p>
          <a:p>
            <a:pPr>
              <a:lnSpc>
                <a:spcPts val="2200"/>
              </a:lnSpc>
            </a:pPr>
            <a:r>
              <a:rPr lang="en-US" altLang="zh-CN" sz="1600" dirty="0">
                <a:latin typeface="Consolas" panose="020B0609020204030204" pitchFamily="49" charset="0"/>
                <a:cs typeface="Consolas" panose="020B0609020204030204" pitchFamily="49" charset="0"/>
              </a:rPr>
              <a:t>        bb.in &lt;- bb.in + 1</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unlock(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a:solidFill>
                  <a:srgbClr val="FF0000"/>
                </a:solidFill>
                <a:latin typeface="Consolas" panose="020B0609020204030204" pitchFamily="49" charset="0"/>
                <a:cs typeface="Consolas" panose="020B0609020204030204" pitchFamily="49" charset="0"/>
              </a:rPr>
              <a:t>signal(</a:t>
            </a:r>
            <a:r>
              <a:rPr lang="en-US" altLang="zh-CN" sz="1600" dirty="0" err="1">
                <a:solidFill>
                  <a:srgbClr val="FF0000"/>
                </a:solidFill>
                <a:latin typeface="Consolas" panose="020B0609020204030204" pitchFamily="49" charset="0"/>
                <a:cs typeface="Consolas" panose="020B0609020204030204" pitchFamily="49" charset="0"/>
              </a:rPr>
              <a:t>bb.not_empty</a:t>
            </a:r>
            <a:r>
              <a:rPr lang="en-US" altLang="zh-CN" sz="1600" dirty="0">
                <a:solidFill>
                  <a:srgbClr val="FF0000"/>
                </a:solidFill>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return</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unlock(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dirty="0">
                <a:solidFill>
                  <a:srgbClr val="FF0000"/>
                </a:solidFill>
                <a:latin typeface="Consolas" panose="020B0609020204030204" pitchFamily="49" charset="0"/>
                <a:cs typeface="Consolas" panose="020B0609020204030204" pitchFamily="49" charset="0"/>
              </a:rPr>
              <a:t>      wait(</a:t>
            </a:r>
            <a:r>
              <a:rPr lang="en-US" altLang="zh-CN" sz="1600" dirty="0" err="1">
                <a:solidFill>
                  <a:srgbClr val="FF0000"/>
                </a:solidFill>
                <a:latin typeface="Consolas" panose="020B0609020204030204" pitchFamily="49" charset="0"/>
                <a:cs typeface="Consolas" panose="020B0609020204030204" pitchFamily="49" charset="0"/>
              </a:rPr>
              <a:t>bb.not_full</a:t>
            </a:r>
            <a:r>
              <a:rPr lang="en-US" altLang="zh-CN" sz="1600" dirty="0">
                <a:solidFill>
                  <a:srgbClr val="FF0000"/>
                </a:solidFill>
                <a:latin typeface="Consolas" panose="020B0609020204030204" pitchFamily="49" charset="0"/>
                <a:cs typeface="Consolas" panose="020B0609020204030204" pitchFamily="49" charset="0"/>
              </a:rPr>
              <a:t>)</a:t>
            </a:r>
          </a:p>
          <a:p>
            <a:pPr>
              <a:lnSpc>
                <a:spcPts val="2200"/>
              </a:lnSpc>
            </a:pPr>
            <a:r>
              <a:rPr lang="en-US" altLang="zh-CN" sz="1600" dirty="0">
                <a:solidFill>
                  <a:srgbClr val="0096FF"/>
                </a:solidFill>
                <a:latin typeface="Consolas" panose="020B0609020204030204" pitchFamily="49" charset="0"/>
                <a:cs typeface="Consolas" panose="020B0609020204030204" pitchFamily="49" charset="0"/>
              </a:rPr>
              <a:t>      lock(</a:t>
            </a:r>
            <a:r>
              <a:rPr lang="en-US" altLang="zh-CN" sz="1600" dirty="0" err="1">
                <a:solidFill>
                  <a:srgbClr val="0096FF"/>
                </a:solidFill>
                <a:latin typeface="Consolas" panose="020B0609020204030204" pitchFamily="49" charset="0"/>
                <a:cs typeface="Consolas" panose="020B0609020204030204" pitchFamily="49" charset="0"/>
              </a:rPr>
              <a:t>bb.lock</a:t>
            </a:r>
            <a:r>
              <a:rPr lang="en-US" altLang="zh-CN" sz="1600" dirty="0">
                <a:solidFill>
                  <a:srgbClr val="0096FF"/>
                </a:solidFill>
                <a:latin typeface="Consolas" panose="020B0609020204030204" pitchFamily="49" charset="0"/>
                <a:cs typeface="Consolas" panose="020B0609020204030204" pitchFamily="49" charset="0"/>
              </a:rPr>
              <a:t>)</a:t>
            </a:r>
          </a:p>
          <a:p>
            <a:pPr>
              <a:lnSpc>
                <a:spcPts val="2200"/>
              </a:lnSpc>
            </a:pPr>
            <a:r>
              <a:rPr lang="en-US" altLang="zh-CN" sz="1600" b="1" dirty="0">
                <a:solidFill>
                  <a:srgbClr val="FF0000"/>
                </a:solidFill>
                <a:latin typeface="Consolas" panose="020B0609020204030204" pitchFamily="49" charset="0"/>
                <a:cs typeface="Consolas" panose="020B0609020204030204" pitchFamily="49" charset="0"/>
              </a:rPr>
              <a:t>      wait(</a:t>
            </a:r>
            <a:r>
              <a:rPr lang="en-US" altLang="zh-CN" sz="1600" b="1" dirty="0" err="1">
                <a:solidFill>
                  <a:srgbClr val="FF0000"/>
                </a:solidFill>
                <a:latin typeface="Consolas" panose="020B0609020204030204" pitchFamily="49" charset="0"/>
                <a:cs typeface="Consolas" panose="020B0609020204030204" pitchFamily="49" charset="0"/>
              </a:rPr>
              <a:t>bb.not_full</a:t>
            </a:r>
            <a:r>
              <a:rPr lang="en-US" altLang="zh-CN" sz="1600" b="1" dirty="0">
                <a:solidFill>
                  <a:srgbClr val="FF0000"/>
                </a:solidFill>
                <a:latin typeface="Consolas" panose="020B0609020204030204" pitchFamily="49" charset="0"/>
                <a:cs typeface="Consolas" panose="020B0609020204030204" pitchFamily="49" charset="0"/>
              </a:rPr>
              <a:t>, </a:t>
            </a:r>
            <a:r>
              <a:rPr lang="en-US" altLang="zh-CN" sz="1600" b="1" dirty="0" err="1">
                <a:solidFill>
                  <a:srgbClr val="FF0000"/>
                </a:solidFill>
                <a:latin typeface="Consolas" panose="020B0609020204030204" pitchFamily="49" charset="0"/>
                <a:cs typeface="Consolas" panose="020B0609020204030204" pitchFamily="49" charset="0"/>
              </a:rPr>
              <a:t>bb.lock</a:t>
            </a:r>
            <a:r>
              <a:rPr lang="en-US" altLang="zh-CN" sz="1600" b="1" dirty="0">
                <a:solidFill>
                  <a:srgbClr val="FF0000"/>
                </a:solidFill>
                <a:latin typeface="Consolas" panose="020B0609020204030204" pitchFamily="49" charset="0"/>
                <a:cs typeface="Consolas" panose="020B0609020204030204" pitchFamily="49" charset="0"/>
              </a:rPr>
              <a:t>)</a:t>
            </a:r>
            <a:endParaRPr lang="zh-CN" altLang="en-US" sz="1600" b="1" dirty="0">
              <a:solidFill>
                <a:srgbClr val="FF0000"/>
              </a:solidFill>
              <a:latin typeface="Consolas" panose="020B0609020204030204" pitchFamily="49" charset="0"/>
              <a:cs typeface="Consolas" panose="020B0609020204030204" pitchFamily="49" charset="0"/>
            </a:endParaRPr>
          </a:p>
        </p:txBody>
      </p:sp>
      <p:cxnSp>
        <p:nvCxnSpPr>
          <p:cNvPr id="7" name="直接连接符 6"/>
          <p:cNvCxnSpPr/>
          <p:nvPr/>
        </p:nvCxnSpPr>
        <p:spPr>
          <a:xfrm>
            <a:off x="5170644" y="4106350"/>
            <a:ext cx="19442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170644" y="4416962"/>
            <a:ext cx="19442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170644" y="4692637"/>
            <a:ext cx="19442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右箭头 9">
            <a:extLst>
              <a:ext uri="{FF2B5EF4-FFF2-40B4-BE49-F238E27FC236}">
                <a16:creationId xmlns:a16="http://schemas.microsoft.com/office/drawing/2014/main" id="{918E73AD-CDFC-B046-972F-16C71A32339D}"/>
              </a:ext>
            </a:extLst>
          </p:cNvPr>
          <p:cNvSpPr/>
          <p:nvPr/>
        </p:nvSpPr>
        <p:spPr>
          <a:xfrm>
            <a:off x="4427984" y="2353444"/>
            <a:ext cx="288032" cy="288032"/>
          </a:xfrm>
          <a:prstGeom prst="right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a:extLst>
              <a:ext uri="{FF2B5EF4-FFF2-40B4-BE49-F238E27FC236}">
                <a16:creationId xmlns:a16="http://schemas.microsoft.com/office/drawing/2014/main" id="{404ADF45-D9B1-4545-B4FA-5CA13B948012}"/>
              </a:ext>
            </a:extLst>
          </p:cNvPr>
          <p:cNvSpPr/>
          <p:nvPr/>
        </p:nvSpPr>
        <p:spPr>
          <a:xfrm>
            <a:off x="4823520" y="4692637"/>
            <a:ext cx="3564904" cy="54112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45227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576" y="409228"/>
            <a:ext cx="4572000" cy="4888518"/>
          </a:xfrm>
          <a:prstGeom prst="rect">
            <a:avLst/>
          </a:prstGeom>
        </p:spPr>
        <p:txBody>
          <a:bodyPr>
            <a:spAutoFit/>
          </a:bodyPr>
          <a:lstStyle/>
          <a:p>
            <a:pPr>
              <a:lnSpc>
                <a:spcPts val="2200"/>
              </a:lnSpc>
            </a:pPr>
            <a:r>
              <a:rPr lang="en-US" altLang="zh-CN" sz="1600" b="1" dirty="0" err="1">
                <a:highlight>
                  <a:srgbClr val="FFFF00"/>
                </a:highlight>
                <a:latin typeface="Consolas" panose="020B0609020204030204" pitchFamily="49" charset="0"/>
                <a:cs typeface="Consolas" panose="020B0609020204030204" pitchFamily="49" charset="0"/>
              </a:rPr>
              <a:t>yield_wait</a:t>
            </a:r>
            <a:r>
              <a:rPr lang="en-US" altLang="zh-CN" sz="1600" b="1" dirty="0">
                <a:latin typeface="Consolas" panose="020B0609020204030204" pitchFamily="49" charset="0"/>
                <a:cs typeface="Consolas" panose="020B0609020204030204" pitchFamily="49" charset="0"/>
              </a:rPr>
              <a:t>(): // called by wait()</a:t>
            </a:r>
            <a:endParaRPr lang="en-US" altLang="zh-CN" sz="1600" dirty="0">
              <a:latin typeface="Consolas" panose="020B0609020204030204" pitchFamily="49" charset="0"/>
              <a:cs typeface="Consolas" panose="020B0609020204030204" pitchFamily="49" charset="0"/>
            </a:endParaRPr>
          </a:p>
          <a:p>
            <a:pPr>
              <a:lnSpc>
                <a:spcPts val="2200"/>
              </a:lnSpc>
            </a:pPr>
            <a:r>
              <a:rPr lang="en-US" altLang="zh-CN" sz="1600" dirty="0">
                <a:latin typeface="Consolas" panose="020B0609020204030204" pitchFamily="49" charset="0"/>
                <a:cs typeface="Consolas" panose="020B0609020204030204" pitchFamily="49" charset="0"/>
              </a:rPr>
              <a:t>  id = </a:t>
            </a:r>
            <a:r>
              <a:rPr lang="en-US" altLang="zh-CN" sz="1600" b="1" dirty="0" err="1">
                <a:solidFill>
                  <a:schemeClr val="accent3"/>
                </a:solidFill>
                <a:latin typeface="Consolas" panose="020B0609020204030204" pitchFamily="49" charset="0"/>
                <a:cs typeface="Consolas" panose="020B0609020204030204" pitchFamily="49" charset="0"/>
              </a:rPr>
              <a:t>cpus</a:t>
            </a:r>
            <a:r>
              <a:rPr lang="en-US" altLang="zh-CN" sz="1600" dirty="0">
                <a:latin typeface="Consolas" panose="020B0609020204030204" pitchFamily="49" charset="0"/>
                <a:cs typeface="Consolas" panose="020B0609020204030204" pitchFamily="49" charset="0"/>
              </a:rPr>
              <a:t>[CPU].thread</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b="1" dirty="0" err="1">
                <a:solidFill>
                  <a:schemeClr val="accent3"/>
                </a:solidFill>
                <a:latin typeface="Consolas" panose="020B0609020204030204" pitchFamily="49" charset="0"/>
                <a:cs typeface="Consolas" panose="020B0609020204030204" pitchFamily="49" charset="0"/>
              </a:rPr>
              <a:t>cpus</a:t>
            </a:r>
            <a:r>
              <a:rPr lang="en-US" altLang="zh-CN" sz="1600" dirty="0">
                <a:latin typeface="Consolas" panose="020B0609020204030204" pitchFamily="49" charset="0"/>
                <a:cs typeface="Consolas" panose="020B0609020204030204" pitchFamily="49" charset="0"/>
              </a:rPr>
              <a:t>[CPU].thread = null</a:t>
            </a:r>
          </a:p>
          <a:p>
            <a:pPr>
              <a:lnSpc>
                <a:spcPts val="2200"/>
              </a:lnSpc>
            </a:pPr>
            <a:r>
              <a:rPr lang="en-US" altLang="zh-CN" sz="1600" dirty="0">
                <a:solidFill>
                  <a:srgbClr val="FF0000"/>
                </a:solidFill>
                <a:latin typeface="Consolas" panose="020B0609020204030204" pitchFamily="49" charset="0"/>
                <a:cs typeface="Consolas" panose="020B0609020204030204" pitchFamily="49" charset="0"/>
              </a:rPr>
              <a:t>  threads</a:t>
            </a:r>
            <a:r>
              <a:rPr lang="en-US" altLang="zh-CN" sz="1600" dirty="0">
                <a:latin typeface="Consolas" panose="020B0609020204030204" pitchFamily="49" charset="0"/>
                <a:cs typeface="Consolas" panose="020B0609020204030204" pitchFamily="49" charset="0"/>
              </a:rPr>
              <a:t>[id].</a:t>
            </a:r>
            <a:r>
              <a:rPr lang="en-US" altLang="zh-CN" sz="1600" dirty="0" err="1">
                <a:latin typeface="Consolas" panose="020B0609020204030204" pitchFamily="49" charset="0"/>
                <a:cs typeface="Consolas" panose="020B0609020204030204" pitchFamily="49" charset="0"/>
              </a:rPr>
              <a:t>sp</a:t>
            </a:r>
            <a:r>
              <a:rPr lang="en-US" altLang="zh-CN" sz="1600" dirty="0">
                <a:latin typeface="Consolas" panose="020B0609020204030204" pitchFamily="49" charset="0"/>
                <a:cs typeface="Consolas" panose="020B0609020204030204" pitchFamily="49" charset="0"/>
              </a:rPr>
              <a:t> = SP</a:t>
            </a:r>
          </a:p>
          <a:p>
            <a:pPr>
              <a:lnSpc>
                <a:spcPts val="2200"/>
              </a:lnSpc>
            </a:pPr>
            <a:r>
              <a:rPr lang="en-US" altLang="zh-CN" sz="1600" dirty="0">
                <a:latin typeface="Consolas" panose="020B0609020204030204" pitchFamily="49" charset="0"/>
                <a:cs typeface="Consolas" panose="020B0609020204030204" pitchFamily="49" charset="0"/>
              </a:rPr>
              <a:t>  SP = </a:t>
            </a:r>
            <a:r>
              <a:rPr lang="en-US" altLang="zh-CN" sz="1600" b="1" dirty="0" err="1">
                <a:solidFill>
                  <a:schemeClr val="accent3"/>
                </a:solidFill>
                <a:latin typeface="Consolas" panose="020B0609020204030204" pitchFamily="49" charset="0"/>
                <a:cs typeface="Consolas" panose="020B0609020204030204" pitchFamily="49" charset="0"/>
              </a:rPr>
              <a:t>cpus</a:t>
            </a:r>
            <a:r>
              <a:rPr lang="en-US" altLang="zh-CN" sz="1600" dirty="0">
                <a:latin typeface="Consolas" panose="020B0609020204030204" pitchFamily="49" charset="0"/>
                <a:cs typeface="Consolas" panose="020B0609020204030204" pitchFamily="49" charset="0"/>
              </a:rPr>
              <a:t>[CPU].stack</a:t>
            </a:r>
          </a:p>
          <a:p>
            <a:pPr>
              <a:lnSpc>
                <a:spcPts val="2200"/>
              </a:lnSpc>
            </a:pPr>
            <a:endParaRPr lang="en-US" altLang="zh-CN" sz="1600" dirty="0">
              <a:latin typeface="Consolas" panose="020B0609020204030204" pitchFamily="49" charset="0"/>
              <a:cs typeface="Consolas" panose="020B0609020204030204" pitchFamily="49" charset="0"/>
            </a:endParaRPr>
          </a:p>
          <a:p>
            <a:pPr>
              <a:lnSpc>
                <a:spcPts val="2200"/>
              </a:lnSpc>
            </a:pPr>
            <a:r>
              <a:rPr lang="en-US" altLang="zh-CN" sz="1600" dirty="0">
                <a:latin typeface="Consolas" panose="020B0609020204030204" pitchFamily="49" charset="0"/>
                <a:cs typeface="Consolas" panose="020B0609020204030204" pitchFamily="49" charset="0"/>
              </a:rPr>
              <a:t>  do:</a:t>
            </a:r>
          </a:p>
          <a:p>
            <a:pPr>
              <a:lnSpc>
                <a:spcPts val="2200"/>
              </a:lnSpc>
            </a:pPr>
            <a:r>
              <a:rPr lang="en-US" altLang="zh-CN" sz="1600" dirty="0">
                <a:latin typeface="Consolas" panose="020B0609020204030204" pitchFamily="49" charset="0"/>
                <a:cs typeface="Consolas" panose="020B0609020204030204" pitchFamily="49" charset="0"/>
              </a:rPr>
              <a:t>    id = (id + 1) mod N</a:t>
            </a:r>
          </a:p>
          <a:p>
            <a:pPr>
              <a:lnSpc>
                <a:spcPts val="2200"/>
              </a:lnSpc>
            </a:pPr>
            <a:r>
              <a:rPr lang="en-US" altLang="zh-CN" sz="1600" dirty="0">
                <a:latin typeface="Consolas" panose="020B0609020204030204" pitchFamily="49" charset="0"/>
                <a:cs typeface="Consolas" panose="020B0609020204030204" pitchFamily="49" charset="0"/>
              </a:rPr>
              <a:t>    unlock(</a:t>
            </a:r>
            <a:r>
              <a:rPr lang="en-US" altLang="zh-CN" sz="1600" b="1" dirty="0" err="1">
                <a:solidFill>
                  <a:srgbClr val="7030A0"/>
                </a:solidFill>
                <a:latin typeface="Consolas" panose="020B0609020204030204" pitchFamily="49" charset="0"/>
                <a:cs typeface="Consolas" panose="020B0609020204030204" pitchFamily="49" charset="0"/>
              </a:rPr>
              <a:t>t_lock</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latin typeface="Consolas" panose="020B0609020204030204" pitchFamily="49" charset="0"/>
                <a:cs typeface="Consolas" panose="020B0609020204030204" pitchFamily="49" charset="0"/>
              </a:rPr>
              <a:t>enable_interrupt</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latin typeface="Consolas" panose="020B0609020204030204" pitchFamily="49" charset="0"/>
                <a:cs typeface="Consolas" panose="020B0609020204030204" pitchFamily="49" charset="0"/>
              </a:rPr>
              <a:t>disable_interrupt</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lock(</a:t>
            </a:r>
            <a:r>
              <a:rPr lang="en-US" altLang="zh-CN" sz="1600" b="1" dirty="0" err="1">
                <a:solidFill>
                  <a:srgbClr val="7030A0"/>
                </a:solidFill>
                <a:latin typeface="Consolas" panose="020B0609020204030204" pitchFamily="49" charset="0"/>
                <a:cs typeface="Consolas" panose="020B0609020204030204" pitchFamily="49" charset="0"/>
              </a:rPr>
              <a:t>t_lock</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while </a:t>
            </a:r>
            <a:r>
              <a:rPr lang="en-US" altLang="zh-CN" sz="1600" dirty="0">
                <a:solidFill>
                  <a:srgbClr val="FF0000"/>
                </a:solidFill>
                <a:latin typeface="Consolas" panose="020B0609020204030204" pitchFamily="49" charset="0"/>
                <a:cs typeface="Consolas" panose="020B0609020204030204" pitchFamily="49" charset="0"/>
              </a:rPr>
              <a:t>threads</a:t>
            </a:r>
            <a:r>
              <a:rPr lang="en-US" altLang="zh-CN" sz="1600" dirty="0">
                <a:latin typeface="Consolas" panose="020B0609020204030204" pitchFamily="49" charset="0"/>
                <a:cs typeface="Consolas" panose="020B0609020204030204" pitchFamily="49" charset="0"/>
              </a:rPr>
              <a:t>[id].state != RUNNABLE</a:t>
            </a:r>
          </a:p>
          <a:p>
            <a:pPr>
              <a:lnSpc>
                <a:spcPts val="2200"/>
              </a:lnSpc>
            </a:pPr>
            <a:endParaRPr lang="en-US" altLang="zh-CN" sz="1600" dirty="0">
              <a:latin typeface="Consolas" panose="020B0609020204030204" pitchFamily="49" charset="0"/>
              <a:cs typeface="Consolas" panose="020B0609020204030204" pitchFamily="49" charset="0"/>
            </a:endParaRPr>
          </a:p>
          <a:p>
            <a:pPr>
              <a:lnSpc>
                <a:spcPts val="2200"/>
              </a:lnSpc>
            </a:pPr>
            <a:r>
              <a:rPr lang="en-US" altLang="zh-CN" sz="1600" dirty="0">
                <a:latin typeface="Consolas" panose="020B0609020204030204" pitchFamily="49" charset="0"/>
                <a:cs typeface="Consolas" panose="020B0609020204030204" pitchFamily="49" charset="0"/>
              </a:rPr>
              <a:t>  SP = </a:t>
            </a:r>
            <a:r>
              <a:rPr lang="en-US" altLang="zh-CN" sz="1600" dirty="0">
                <a:solidFill>
                  <a:srgbClr val="FF0000"/>
                </a:solidFill>
                <a:latin typeface="Consolas" panose="020B0609020204030204" pitchFamily="49" charset="0"/>
                <a:cs typeface="Consolas" panose="020B0609020204030204" pitchFamily="49" charset="0"/>
              </a:rPr>
              <a:t>threads</a:t>
            </a:r>
            <a:r>
              <a:rPr lang="en-US" altLang="zh-CN" sz="1600" dirty="0">
                <a:latin typeface="Consolas" panose="020B0609020204030204" pitchFamily="49" charset="0"/>
                <a:cs typeface="Consolas" panose="020B0609020204030204" pitchFamily="49" charset="0"/>
              </a:rPr>
              <a:t>[id].</a:t>
            </a:r>
            <a:r>
              <a:rPr lang="en-US" altLang="zh-CN" sz="1600" dirty="0" err="1">
                <a:latin typeface="Consolas" panose="020B0609020204030204" pitchFamily="49" charset="0"/>
                <a:cs typeface="Consolas" panose="020B0609020204030204" pitchFamily="49" charset="0"/>
              </a:rPr>
              <a:t>sp</a:t>
            </a:r>
            <a:endParaRPr lang="en-US" altLang="zh-CN" sz="1600" dirty="0">
              <a:latin typeface="Consolas" panose="020B0609020204030204" pitchFamily="49" charset="0"/>
              <a:cs typeface="Consolas" panose="020B0609020204030204" pitchFamily="49" charset="0"/>
            </a:endParaRPr>
          </a:p>
          <a:p>
            <a:pPr>
              <a:lnSpc>
                <a:spcPts val="2200"/>
              </a:lnSpc>
            </a:pPr>
            <a:r>
              <a:rPr lang="en-US" altLang="zh-CN" sz="1600" dirty="0">
                <a:solidFill>
                  <a:srgbClr val="FF0000"/>
                </a:solidFill>
                <a:latin typeface="Consolas" panose="020B0609020204030204" pitchFamily="49" charset="0"/>
                <a:cs typeface="Consolas" panose="020B0609020204030204" pitchFamily="49" charset="0"/>
              </a:rPr>
              <a:t>  threads</a:t>
            </a:r>
            <a:r>
              <a:rPr lang="en-US" altLang="zh-CN" sz="1600" dirty="0">
                <a:latin typeface="Consolas" panose="020B0609020204030204" pitchFamily="49" charset="0"/>
                <a:cs typeface="Consolas" panose="020B0609020204030204" pitchFamily="49" charset="0"/>
              </a:rPr>
              <a:t>[id].state = RUNNING</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b="1" dirty="0" err="1">
                <a:solidFill>
                  <a:schemeClr val="accent3"/>
                </a:solidFill>
                <a:latin typeface="Consolas" panose="020B0609020204030204" pitchFamily="49" charset="0"/>
                <a:cs typeface="Consolas" panose="020B0609020204030204" pitchFamily="49" charset="0"/>
              </a:rPr>
              <a:t>cpus</a:t>
            </a:r>
            <a:r>
              <a:rPr lang="en-US" altLang="zh-CN" sz="1600" dirty="0">
                <a:latin typeface="Consolas" panose="020B0609020204030204" pitchFamily="49" charset="0"/>
                <a:cs typeface="Consolas" panose="020B0609020204030204" pitchFamily="49" charset="0"/>
              </a:rPr>
              <a:t>[CPU].thread = id</a:t>
            </a:r>
          </a:p>
        </p:txBody>
      </p:sp>
      <p:sp>
        <p:nvSpPr>
          <p:cNvPr id="11" name="标题 1"/>
          <p:cNvSpPr>
            <a:spLocks noGrp="1"/>
          </p:cNvSpPr>
          <p:nvPr>
            <p:ph type="title"/>
          </p:nvPr>
        </p:nvSpPr>
        <p:spPr>
          <a:xfrm>
            <a:off x="5309639" y="170332"/>
            <a:ext cx="3359224" cy="952500"/>
          </a:xfrm>
        </p:spPr>
        <p:txBody>
          <a:bodyPr>
            <a:noAutofit/>
          </a:bodyPr>
          <a:lstStyle/>
          <a:p>
            <a:r>
              <a:rPr lang="en-US" altLang="zh-CN" sz="3200" dirty="0"/>
              <a:t>YIELD_WAIT()</a:t>
            </a:r>
            <a:endParaRPr lang="zh-CN" altLang="en-US" sz="3200" dirty="0"/>
          </a:p>
        </p:txBody>
      </p:sp>
      <p:sp>
        <p:nvSpPr>
          <p:cNvPr id="15" name="矩形 14"/>
          <p:cNvSpPr/>
          <p:nvPr/>
        </p:nvSpPr>
        <p:spPr>
          <a:xfrm>
            <a:off x="5309639" y="1537741"/>
            <a:ext cx="3887986" cy="2913618"/>
          </a:xfrm>
          <a:prstGeom prst="rect">
            <a:avLst/>
          </a:prstGeom>
        </p:spPr>
        <p:txBody>
          <a:bodyPr wrap="square">
            <a:spAutoFit/>
          </a:bodyPr>
          <a:lstStyle/>
          <a:p>
            <a:pPr>
              <a:lnSpc>
                <a:spcPts val="2200"/>
              </a:lnSpc>
            </a:pPr>
            <a:r>
              <a:rPr lang="en-US" altLang="zh-CN" sz="1600" b="1" dirty="0">
                <a:latin typeface="Consolas" panose="020B0609020204030204" pitchFamily="49" charset="0"/>
                <a:cs typeface="Consolas" panose="020B0609020204030204" pitchFamily="49" charset="0"/>
              </a:rPr>
              <a:t>wait(cv, lock):</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latin typeface="Consolas" panose="020B0609020204030204" pitchFamily="49" charset="0"/>
                <a:cs typeface="Consolas" panose="020B0609020204030204" pitchFamily="49" charset="0"/>
              </a:rPr>
              <a:t>disable_interrupt</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lock(</a:t>
            </a:r>
            <a:r>
              <a:rPr lang="en-US" altLang="zh-CN" sz="1600" b="1" dirty="0" err="1">
                <a:solidFill>
                  <a:srgbClr val="7030A0"/>
                </a:solidFill>
                <a:latin typeface="Consolas" panose="020B0609020204030204" pitchFamily="49" charset="0"/>
                <a:cs typeface="Consolas" panose="020B0609020204030204" pitchFamily="49" charset="0"/>
              </a:rPr>
              <a:t>t_lock</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unlock(lock)</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a:solidFill>
                  <a:srgbClr val="FF0000"/>
                </a:solidFill>
                <a:latin typeface="Consolas" panose="020B0609020204030204" pitchFamily="49" charset="0"/>
                <a:cs typeface="Consolas" panose="020B0609020204030204" pitchFamily="49" charset="0"/>
              </a:rPr>
              <a:t>threads</a:t>
            </a:r>
            <a:r>
              <a:rPr lang="en-US" altLang="zh-CN" sz="1600" dirty="0">
                <a:latin typeface="Consolas" panose="020B0609020204030204" pitchFamily="49" charset="0"/>
                <a:cs typeface="Consolas" panose="020B0609020204030204" pitchFamily="49" charset="0"/>
              </a:rPr>
              <a:t>[id].cv = cv</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a:solidFill>
                  <a:srgbClr val="FF0000"/>
                </a:solidFill>
                <a:latin typeface="Consolas" panose="020B0609020204030204" pitchFamily="49" charset="0"/>
                <a:cs typeface="Consolas" panose="020B0609020204030204" pitchFamily="49" charset="0"/>
              </a:rPr>
              <a:t>threads</a:t>
            </a:r>
            <a:r>
              <a:rPr lang="en-US" altLang="zh-CN" sz="1600" dirty="0">
                <a:latin typeface="Consolas" panose="020B0609020204030204" pitchFamily="49" charset="0"/>
                <a:cs typeface="Consolas" panose="020B0609020204030204" pitchFamily="49" charset="0"/>
              </a:rPr>
              <a:t>[id].state = WAITING</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highlight>
                  <a:srgbClr val="FFFF00"/>
                </a:highlight>
                <a:latin typeface="Consolas" panose="020B0609020204030204" pitchFamily="49" charset="0"/>
                <a:cs typeface="Consolas" panose="020B0609020204030204" pitchFamily="49" charset="0"/>
              </a:rPr>
              <a:t>yield_wait</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unlock(</a:t>
            </a:r>
            <a:r>
              <a:rPr lang="en-US" altLang="zh-CN" sz="1600" b="1" dirty="0" err="1">
                <a:solidFill>
                  <a:srgbClr val="7030A0"/>
                </a:solidFill>
                <a:latin typeface="Consolas" panose="020B0609020204030204" pitchFamily="49" charset="0"/>
                <a:cs typeface="Consolas" panose="020B0609020204030204" pitchFamily="49" charset="0"/>
              </a:rPr>
              <a:t>t_lock</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a:t>
            </a:r>
            <a:r>
              <a:rPr lang="en-US" altLang="zh-CN" sz="1600" dirty="0" err="1">
                <a:latin typeface="Consolas" panose="020B0609020204030204" pitchFamily="49" charset="0"/>
                <a:cs typeface="Consolas" panose="020B0609020204030204" pitchFamily="49" charset="0"/>
              </a:rPr>
              <a:t>enable_interrupt</a:t>
            </a:r>
            <a:r>
              <a:rPr lang="en-US" altLang="zh-CN" sz="1600" dirty="0">
                <a:latin typeface="Consolas" panose="020B0609020204030204" pitchFamily="49" charset="0"/>
                <a:cs typeface="Consolas" panose="020B0609020204030204" pitchFamily="49" charset="0"/>
              </a:rPr>
              <a:t>()</a:t>
            </a:r>
          </a:p>
          <a:p>
            <a:pPr>
              <a:lnSpc>
                <a:spcPts val="2200"/>
              </a:lnSpc>
            </a:pPr>
            <a:r>
              <a:rPr lang="en-US" altLang="zh-CN" sz="1600" dirty="0">
                <a:latin typeface="Consolas" panose="020B0609020204030204" pitchFamily="49" charset="0"/>
                <a:cs typeface="Consolas" panose="020B0609020204030204" pitchFamily="49" charset="0"/>
              </a:rPr>
              <a:t>    lock(lock)</a:t>
            </a:r>
          </a:p>
        </p:txBody>
      </p:sp>
      <p:sp>
        <p:nvSpPr>
          <p:cNvPr id="2" name="矩形 1"/>
          <p:cNvSpPr/>
          <p:nvPr/>
        </p:nvSpPr>
        <p:spPr>
          <a:xfrm>
            <a:off x="913994" y="985292"/>
            <a:ext cx="2851517" cy="297264"/>
          </a:xfrm>
          <a:prstGeom prst="rect">
            <a:avLst/>
          </a:prstGeom>
          <a:solidFill>
            <a:srgbClr val="FF0000">
              <a:alpha val="1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线连接符 5">
            <a:extLst>
              <a:ext uri="{FF2B5EF4-FFF2-40B4-BE49-F238E27FC236}">
                <a16:creationId xmlns:a16="http://schemas.microsoft.com/office/drawing/2014/main" id="{FF5AEE30-E285-A049-BD63-A250B5913232}"/>
              </a:ext>
            </a:extLst>
          </p:cNvPr>
          <p:cNvCxnSpPr>
            <a:cxnSpLocks/>
          </p:cNvCxnSpPr>
          <p:nvPr/>
        </p:nvCxnSpPr>
        <p:spPr>
          <a:xfrm>
            <a:off x="4932040" y="3433564"/>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F4994FC7-F0C3-1548-B36A-4314BE66B9CC}"/>
              </a:ext>
            </a:extLst>
          </p:cNvPr>
          <p:cNvCxnSpPr>
            <a:cxnSpLocks/>
          </p:cNvCxnSpPr>
          <p:nvPr/>
        </p:nvCxnSpPr>
        <p:spPr>
          <a:xfrm flipV="1">
            <a:off x="4932040" y="636960"/>
            <a:ext cx="0" cy="2808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7C57406F-DCA1-974E-8D25-4B4E67208C5D}"/>
              </a:ext>
            </a:extLst>
          </p:cNvPr>
          <p:cNvCxnSpPr>
            <a:cxnSpLocks/>
          </p:cNvCxnSpPr>
          <p:nvPr/>
        </p:nvCxnSpPr>
        <p:spPr>
          <a:xfrm flipH="1">
            <a:off x="4572000" y="636960"/>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502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回顾：系统调用：</a:t>
            </a:r>
            <a:r>
              <a:rPr lang="en-US" altLang="zh-CN" dirty="0"/>
              <a:t>yield()</a:t>
            </a:r>
            <a:endParaRPr lang="zh-CN" altLang="en-US" dirty="0"/>
          </a:p>
        </p:txBody>
      </p:sp>
      <p:sp>
        <p:nvSpPr>
          <p:cNvPr id="3" name="内容占位符 2"/>
          <p:cNvSpPr>
            <a:spLocks noGrp="1"/>
          </p:cNvSpPr>
          <p:nvPr>
            <p:ph idx="1"/>
          </p:nvPr>
        </p:nvSpPr>
        <p:spPr/>
        <p:txBody>
          <a:bodyPr>
            <a:normAutofit/>
          </a:bodyPr>
          <a:lstStyle/>
          <a:p>
            <a:r>
              <a:rPr lang="zh-CN" altLang="en-US" sz="2000" dirty="0"/>
              <a:t>进程调用</a:t>
            </a:r>
            <a:r>
              <a:rPr lang="en-US" altLang="zh-CN" sz="2000" dirty="0"/>
              <a:t>yield()</a:t>
            </a:r>
            <a:r>
              <a:rPr lang="zh-CN" altLang="en-US" sz="2000" dirty="0"/>
              <a:t>，主动放弃</a:t>
            </a:r>
            <a:r>
              <a:rPr lang="en-US" altLang="zh-CN" sz="2000" dirty="0"/>
              <a:t>CPU</a:t>
            </a:r>
            <a:r>
              <a:rPr lang="zh-CN" altLang="en-US" sz="2000" dirty="0"/>
              <a:t>，进入可运行队列等待，类似</a:t>
            </a:r>
            <a:r>
              <a:rPr lang="en-US" altLang="zh-CN" sz="2000" dirty="0"/>
              <a:t>sleep</a:t>
            </a:r>
          </a:p>
          <a:p>
            <a:r>
              <a:rPr lang="en-US" altLang="zh-CN" sz="2000" dirty="0"/>
              <a:t>yield()</a:t>
            </a:r>
            <a:r>
              <a:rPr lang="zh-CN" altLang="en-US" sz="2000" dirty="0"/>
              <a:t>的具体步骤</a:t>
            </a:r>
            <a:r>
              <a:rPr lang="en-US" altLang="zh-CN" sz="2000" dirty="0"/>
              <a:t>:</a:t>
            </a:r>
          </a:p>
          <a:p>
            <a:pPr marL="800100" lvl="1" indent="-342900">
              <a:buFont typeface="+mj-lt"/>
              <a:buAutoNum type="arabicPeriod"/>
            </a:pPr>
            <a:r>
              <a:rPr lang="zh-CN" altLang="en-US" sz="1800" dirty="0">
                <a:solidFill>
                  <a:srgbClr val="0096FF"/>
                </a:solidFill>
              </a:rPr>
              <a:t>暂停当前运行的线程</a:t>
            </a:r>
            <a:r>
              <a:rPr lang="en-US" altLang="zh-CN" sz="1800" dirty="0"/>
              <a:t>: </a:t>
            </a:r>
            <a:r>
              <a:rPr lang="zh-CN" altLang="en-US" sz="1800" dirty="0"/>
              <a:t>保存上下文</a:t>
            </a:r>
            <a:endParaRPr lang="en-US" altLang="zh-CN" sz="1800" dirty="0"/>
          </a:p>
          <a:p>
            <a:pPr marL="800100" lvl="1" indent="-342900">
              <a:buFont typeface="+mj-lt"/>
              <a:buAutoNum type="arabicPeriod"/>
            </a:pPr>
            <a:r>
              <a:rPr lang="zh-CN" altLang="en-US" sz="1800" dirty="0">
                <a:solidFill>
                  <a:srgbClr val="0096FF"/>
                </a:solidFill>
              </a:rPr>
              <a:t>选择新的可运行线程</a:t>
            </a:r>
            <a:r>
              <a:rPr lang="en-US" altLang="zh-CN" sz="1800" dirty="0"/>
              <a:t>: </a:t>
            </a:r>
            <a:r>
              <a:rPr lang="zh-CN" altLang="en-US" sz="1800" dirty="0"/>
              <a:t>例如通过</a:t>
            </a:r>
            <a:r>
              <a:rPr lang="en-US" altLang="zh-CN" sz="1800" dirty="0"/>
              <a:t>round-robin</a:t>
            </a:r>
            <a:r>
              <a:rPr lang="zh-CN" altLang="en-US" sz="1800" dirty="0"/>
              <a:t>找到下一个</a:t>
            </a:r>
            <a:r>
              <a:rPr lang="en-US" altLang="zh-CN" sz="1800" dirty="0"/>
              <a:t>RUNNABLE</a:t>
            </a:r>
            <a:r>
              <a:rPr lang="zh-CN" altLang="en-US" sz="1800" dirty="0"/>
              <a:t>线程</a:t>
            </a:r>
            <a:endParaRPr lang="en-US" altLang="zh-CN" sz="1800" dirty="0"/>
          </a:p>
          <a:p>
            <a:pPr marL="800100" lvl="1" indent="-342900">
              <a:buFont typeface="+mj-lt"/>
              <a:buAutoNum type="arabicPeriod"/>
            </a:pPr>
            <a:r>
              <a:rPr lang="zh-CN" altLang="en-US" sz="1800" dirty="0">
                <a:solidFill>
                  <a:srgbClr val="0096FF"/>
                </a:solidFill>
              </a:rPr>
              <a:t>恢复上一步所选线程</a:t>
            </a:r>
            <a:r>
              <a:rPr lang="en-US" altLang="zh-CN" sz="1800" dirty="0"/>
              <a:t>: </a:t>
            </a:r>
            <a:r>
              <a:rPr lang="zh-CN" altLang="en-US" sz="1800" dirty="0"/>
              <a:t>重新加载该线程的状态</a:t>
            </a:r>
            <a:endParaRPr lang="en-US" altLang="zh-CN" sz="1800" dirty="0"/>
          </a:p>
          <a:p>
            <a:r>
              <a:rPr lang="zh-CN" altLang="en-US" sz="2000" dirty="0"/>
              <a:t>三个数据结构</a:t>
            </a:r>
            <a:endParaRPr lang="en-US" altLang="zh-CN" sz="2000" dirty="0"/>
          </a:p>
          <a:p>
            <a:pPr lvl="1"/>
            <a:r>
              <a:rPr lang="en-US" altLang="zh-CN" sz="1800" dirty="0">
                <a:highlight>
                  <a:srgbClr val="FFFF00"/>
                </a:highlight>
              </a:rPr>
              <a:t>threads table</a:t>
            </a:r>
            <a:r>
              <a:rPr lang="zh-CN" altLang="en-US" sz="1800" dirty="0"/>
              <a:t>：记录所有线程的表</a:t>
            </a:r>
            <a:endParaRPr lang="en-US" altLang="zh-CN" sz="1800" dirty="0"/>
          </a:p>
          <a:p>
            <a:pPr lvl="1"/>
            <a:r>
              <a:rPr lang="en-US" altLang="zh-CN" sz="1800" dirty="0" err="1">
                <a:highlight>
                  <a:srgbClr val="FFFF00"/>
                </a:highlight>
              </a:rPr>
              <a:t>t_lock</a:t>
            </a:r>
            <a:r>
              <a:rPr lang="zh-CN" altLang="en-US" sz="1800" dirty="0"/>
              <a:t>：即 </a:t>
            </a:r>
            <a:r>
              <a:rPr lang="en-US" altLang="zh-CN" sz="1800" dirty="0"/>
              <a:t>threads</a:t>
            </a:r>
            <a:r>
              <a:rPr lang="zh-CN" altLang="en-US" sz="1800" dirty="0"/>
              <a:t> </a:t>
            </a:r>
            <a:r>
              <a:rPr lang="en-US" altLang="zh-CN" sz="1800" dirty="0"/>
              <a:t>table</a:t>
            </a:r>
            <a:r>
              <a:rPr lang="zh-CN" altLang="en-US" sz="1800" dirty="0"/>
              <a:t> </a:t>
            </a:r>
            <a:r>
              <a:rPr lang="en-US" altLang="zh-CN" sz="1800" dirty="0"/>
              <a:t>lock</a:t>
            </a:r>
            <a:r>
              <a:rPr lang="zh-CN" altLang="en-US" sz="1800" dirty="0"/>
              <a:t>，用于保护 </a:t>
            </a:r>
            <a:r>
              <a:rPr lang="en-US" altLang="zh-CN" sz="1800" dirty="0"/>
              <a:t>threads</a:t>
            </a:r>
            <a:r>
              <a:rPr lang="zh-CN" altLang="en-US" sz="1800" dirty="0"/>
              <a:t> </a:t>
            </a:r>
            <a:r>
              <a:rPr lang="en-US" altLang="zh-CN" sz="1800" dirty="0"/>
              <a:t>table</a:t>
            </a:r>
          </a:p>
          <a:p>
            <a:pPr lvl="1"/>
            <a:r>
              <a:rPr lang="en-US" altLang="zh-CN" sz="1800" dirty="0">
                <a:highlight>
                  <a:srgbClr val="FFFF00"/>
                </a:highlight>
              </a:rPr>
              <a:t>CPUs table</a:t>
            </a:r>
            <a:r>
              <a:rPr lang="zh-CN" altLang="en-US" sz="1800" dirty="0"/>
              <a:t>：记录每个</a:t>
            </a:r>
            <a:r>
              <a:rPr lang="en-US" altLang="zh-CN" sz="1800" dirty="0"/>
              <a:t>CPU</a:t>
            </a:r>
            <a:r>
              <a:rPr lang="zh-CN" altLang="en-US" sz="1800" dirty="0"/>
              <a:t>当前运行线程（注意这个表没有用</a:t>
            </a:r>
            <a:r>
              <a:rPr lang="en-US" altLang="zh-CN" sz="1800" dirty="0"/>
              <a:t>lock</a:t>
            </a:r>
            <a:r>
              <a:rPr lang="zh-CN" altLang="en-US" sz="1800" dirty="0"/>
              <a:t>保护）</a:t>
            </a:r>
            <a:endParaRPr lang="en-US" altLang="zh-CN" sz="1800" dirty="0"/>
          </a:p>
        </p:txBody>
      </p:sp>
    </p:spTree>
    <p:extLst>
      <p:ext uri="{BB962C8B-B14F-4D97-AF65-F5344CB8AC3E}">
        <p14:creationId xmlns:p14="http://schemas.microsoft.com/office/powerpoint/2010/main" val="265361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dirty="0"/>
              <a:t>上下文切换代码详解</a:t>
            </a:r>
          </a:p>
        </p:txBody>
      </p:sp>
      <p:sp>
        <p:nvSpPr>
          <p:cNvPr id="3" name="文本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12309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8</a:t>
            </a:fld>
            <a:endParaRPr lang="zh-CN" altLang="en-US"/>
          </a:p>
        </p:txBody>
      </p:sp>
      <p:pic>
        <p:nvPicPr>
          <p:cNvPr id="5" name="图片 4"/>
          <p:cNvPicPr>
            <a:picLocks noChangeAspect="1"/>
          </p:cNvPicPr>
          <p:nvPr/>
        </p:nvPicPr>
        <p:blipFill>
          <a:blip r:embed="rId3"/>
          <a:stretch>
            <a:fillRect/>
          </a:stretch>
        </p:blipFill>
        <p:spPr>
          <a:xfrm>
            <a:off x="4692013" y="1297327"/>
            <a:ext cx="3428597" cy="2040227"/>
          </a:xfrm>
          <a:prstGeom prst="rect">
            <a:avLst/>
          </a:prstGeom>
          <a:solidFill>
            <a:srgbClr val="000000"/>
          </a:solidFill>
          <a:ln>
            <a:solidFill>
              <a:schemeClr val="tx1"/>
            </a:solidFill>
          </a:ln>
        </p:spPr>
      </p:pic>
      <p:pic>
        <p:nvPicPr>
          <p:cNvPr id="6" name="图片 5"/>
          <p:cNvPicPr>
            <a:picLocks noChangeAspect="1"/>
          </p:cNvPicPr>
          <p:nvPr/>
        </p:nvPicPr>
        <p:blipFill>
          <a:blip r:embed="rId4"/>
          <a:stretch>
            <a:fillRect/>
          </a:stretch>
        </p:blipFill>
        <p:spPr>
          <a:xfrm>
            <a:off x="1091613" y="157201"/>
            <a:ext cx="3420380" cy="1021574"/>
          </a:xfrm>
          <a:prstGeom prst="rect">
            <a:avLst/>
          </a:prstGeom>
          <a:solidFill>
            <a:srgbClr val="000000"/>
          </a:solidFill>
          <a:ln>
            <a:solidFill>
              <a:schemeClr val="tx1"/>
            </a:solidFill>
          </a:ln>
        </p:spPr>
      </p:pic>
      <p:pic>
        <p:nvPicPr>
          <p:cNvPr id="7" name="图片 6"/>
          <p:cNvPicPr>
            <a:picLocks noChangeAspect="1"/>
          </p:cNvPicPr>
          <p:nvPr/>
        </p:nvPicPr>
        <p:blipFill>
          <a:blip r:embed="rId5"/>
          <a:stretch>
            <a:fillRect/>
          </a:stretch>
        </p:blipFill>
        <p:spPr>
          <a:xfrm>
            <a:off x="1091613" y="1297327"/>
            <a:ext cx="3420380" cy="1041970"/>
          </a:xfrm>
          <a:prstGeom prst="rect">
            <a:avLst/>
          </a:prstGeom>
          <a:solidFill>
            <a:srgbClr val="000000"/>
          </a:solidFill>
          <a:ln>
            <a:solidFill>
              <a:schemeClr val="tx1"/>
            </a:solidFill>
          </a:ln>
        </p:spPr>
      </p:pic>
      <p:pic>
        <p:nvPicPr>
          <p:cNvPr id="8" name="图片 7"/>
          <p:cNvPicPr>
            <a:picLocks noChangeAspect="1"/>
          </p:cNvPicPr>
          <p:nvPr/>
        </p:nvPicPr>
        <p:blipFill>
          <a:blip r:embed="rId6"/>
          <a:stretch>
            <a:fillRect/>
          </a:stretch>
        </p:blipFill>
        <p:spPr>
          <a:xfrm>
            <a:off x="1091613" y="2737487"/>
            <a:ext cx="3420380" cy="617040"/>
          </a:xfrm>
          <a:prstGeom prst="rect">
            <a:avLst/>
          </a:prstGeom>
          <a:solidFill>
            <a:srgbClr val="000000"/>
          </a:solidFill>
          <a:ln>
            <a:solidFill>
              <a:schemeClr val="tx1"/>
            </a:solidFill>
          </a:ln>
        </p:spPr>
      </p:pic>
      <p:sp>
        <p:nvSpPr>
          <p:cNvPr id="9" name="矩形 8"/>
          <p:cNvSpPr/>
          <p:nvPr/>
        </p:nvSpPr>
        <p:spPr>
          <a:xfrm>
            <a:off x="2183096" y="380986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0" name="矩形 9"/>
          <p:cNvSpPr/>
          <p:nvPr/>
        </p:nvSpPr>
        <p:spPr>
          <a:xfrm>
            <a:off x="2858263" y="380986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1" name="矩形 10"/>
          <p:cNvSpPr/>
          <p:nvPr/>
        </p:nvSpPr>
        <p:spPr>
          <a:xfrm>
            <a:off x="2978277" y="380986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12" name="矩形 11"/>
          <p:cNvSpPr/>
          <p:nvPr/>
        </p:nvSpPr>
        <p:spPr>
          <a:xfrm>
            <a:off x="3633613" y="380986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13" name="矩形 12"/>
          <p:cNvSpPr/>
          <p:nvPr/>
        </p:nvSpPr>
        <p:spPr>
          <a:xfrm>
            <a:off x="5587556" y="380986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4" name="矩形 13"/>
          <p:cNvSpPr/>
          <p:nvPr/>
        </p:nvSpPr>
        <p:spPr>
          <a:xfrm>
            <a:off x="6254405" y="380986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5" name="矩形 14"/>
          <p:cNvSpPr/>
          <p:nvPr/>
        </p:nvSpPr>
        <p:spPr>
          <a:xfrm>
            <a:off x="6914478" y="380986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6" name="矩形 15"/>
          <p:cNvSpPr/>
          <p:nvPr/>
        </p:nvSpPr>
        <p:spPr>
          <a:xfrm>
            <a:off x="7034492" y="380986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7" name="矩形 16"/>
          <p:cNvSpPr/>
          <p:nvPr/>
        </p:nvSpPr>
        <p:spPr>
          <a:xfrm>
            <a:off x="7694565" y="380986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18" name="矩形 17"/>
          <p:cNvSpPr/>
          <p:nvPr/>
        </p:nvSpPr>
        <p:spPr>
          <a:xfrm>
            <a:off x="4934258" y="380986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dirty="0"/>
          </a:p>
        </p:txBody>
      </p:sp>
      <p:sp>
        <p:nvSpPr>
          <p:cNvPr id="19" name="矩形 18"/>
          <p:cNvSpPr/>
          <p:nvPr/>
        </p:nvSpPr>
        <p:spPr>
          <a:xfrm>
            <a:off x="852258" y="382055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100" dirty="0"/>
              <a:t>App</a:t>
            </a:r>
            <a:endParaRPr kumimoji="1" lang="zh-CN" altLang="en-US" sz="1100" dirty="0"/>
          </a:p>
        </p:txBody>
      </p:sp>
      <p:sp>
        <p:nvSpPr>
          <p:cNvPr id="20" name="矩形 19"/>
          <p:cNvSpPr/>
          <p:nvPr/>
        </p:nvSpPr>
        <p:spPr>
          <a:xfrm>
            <a:off x="1512332" y="380986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21" name="矩形 20"/>
          <p:cNvSpPr/>
          <p:nvPr/>
        </p:nvSpPr>
        <p:spPr>
          <a:xfrm>
            <a:off x="851587" y="4349923"/>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YIELD</a:t>
            </a:r>
            <a:endParaRPr kumimoji="1" lang="zh-CN" altLang="en-US" sz="900" dirty="0"/>
          </a:p>
        </p:txBody>
      </p:sp>
      <p:sp>
        <p:nvSpPr>
          <p:cNvPr id="22" name="矩形 21"/>
          <p:cNvSpPr/>
          <p:nvPr/>
        </p:nvSpPr>
        <p:spPr>
          <a:xfrm>
            <a:off x="1514028" y="4349923"/>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23" name="矩形 22"/>
          <p:cNvSpPr/>
          <p:nvPr/>
        </p:nvSpPr>
        <p:spPr>
          <a:xfrm>
            <a:off x="2180877" y="4349923"/>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24" name="矩形 23"/>
          <p:cNvSpPr/>
          <p:nvPr/>
        </p:nvSpPr>
        <p:spPr>
          <a:xfrm>
            <a:off x="2856045" y="4349923"/>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25" name="矩形 24"/>
          <p:cNvSpPr/>
          <p:nvPr/>
        </p:nvSpPr>
        <p:spPr>
          <a:xfrm>
            <a:off x="1514028" y="4657700"/>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ENTER</a:t>
            </a:r>
            <a:endParaRPr kumimoji="1" lang="zh-CN" altLang="en-US" sz="900" dirty="0"/>
          </a:p>
        </p:txBody>
      </p:sp>
      <p:sp>
        <p:nvSpPr>
          <p:cNvPr id="26" name="矩形 25"/>
          <p:cNvSpPr/>
          <p:nvPr/>
        </p:nvSpPr>
        <p:spPr>
          <a:xfrm>
            <a:off x="2180877" y="4657700"/>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27" name="矩形 26"/>
          <p:cNvSpPr/>
          <p:nvPr/>
        </p:nvSpPr>
        <p:spPr>
          <a:xfrm>
            <a:off x="2180877" y="4957734"/>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b="1" dirty="0"/>
              <a:t>SCHED</a:t>
            </a:r>
            <a:endParaRPr kumimoji="1" lang="zh-CN" altLang="en-US" sz="900" b="1" dirty="0"/>
          </a:p>
        </p:txBody>
      </p:sp>
      <p:sp>
        <p:nvSpPr>
          <p:cNvPr id="28" name="矩形 27"/>
          <p:cNvSpPr/>
          <p:nvPr/>
        </p:nvSpPr>
        <p:spPr>
          <a:xfrm>
            <a:off x="851587" y="3449824"/>
            <a:ext cx="628698" cy="276999"/>
          </a:xfrm>
          <a:prstGeom prst="rect">
            <a:avLst/>
          </a:prstGeom>
        </p:spPr>
        <p:txBody>
          <a:bodyPr wrap="none">
            <a:spAutoFit/>
          </a:bodyPr>
          <a:lstStyle/>
          <a:p>
            <a:r>
              <a:rPr kumimoji="1" lang="en-US" altLang="zh-CN" sz="1200" dirty="0"/>
              <a:t>YIELD</a:t>
            </a:r>
            <a:endParaRPr lang="zh-CN" altLang="en-US" sz="1200" dirty="0"/>
          </a:p>
        </p:txBody>
      </p:sp>
      <p:sp>
        <p:nvSpPr>
          <p:cNvPr id="29" name="矩形 28"/>
          <p:cNvSpPr/>
          <p:nvPr/>
        </p:nvSpPr>
        <p:spPr>
          <a:xfrm>
            <a:off x="1514029" y="3457567"/>
            <a:ext cx="705642" cy="276999"/>
          </a:xfrm>
          <a:prstGeom prst="rect">
            <a:avLst/>
          </a:prstGeom>
        </p:spPr>
        <p:txBody>
          <a:bodyPr wrap="none">
            <a:spAutoFit/>
          </a:bodyPr>
          <a:lstStyle/>
          <a:p>
            <a:r>
              <a:rPr kumimoji="1" lang="en-US" altLang="zh-CN" sz="1200" dirty="0"/>
              <a:t>ENTER</a:t>
            </a:r>
            <a:endParaRPr lang="zh-CN" altLang="en-US" sz="1200" dirty="0"/>
          </a:p>
        </p:txBody>
      </p:sp>
      <p:sp>
        <p:nvSpPr>
          <p:cNvPr id="30" name="矩形 29"/>
          <p:cNvSpPr/>
          <p:nvPr/>
        </p:nvSpPr>
        <p:spPr>
          <a:xfrm>
            <a:off x="2180877" y="3457567"/>
            <a:ext cx="721672" cy="276999"/>
          </a:xfrm>
          <a:prstGeom prst="rect">
            <a:avLst/>
          </a:prstGeom>
        </p:spPr>
        <p:txBody>
          <a:bodyPr wrap="none">
            <a:spAutoFit/>
          </a:bodyPr>
          <a:lstStyle/>
          <a:p>
            <a:r>
              <a:rPr kumimoji="1" lang="en-US" altLang="zh-CN" sz="1200" dirty="0"/>
              <a:t>SCHED</a:t>
            </a:r>
            <a:endParaRPr lang="zh-CN" altLang="en-US" sz="1200" dirty="0"/>
          </a:p>
        </p:txBody>
      </p:sp>
      <p:sp>
        <p:nvSpPr>
          <p:cNvPr id="31" name="矩形 30"/>
          <p:cNvSpPr/>
          <p:nvPr/>
        </p:nvSpPr>
        <p:spPr>
          <a:xfrm>
            <a:off x="2891814" y="3457567"/>
            <a:ext cx="527709" cy="276999"/>
          </a:xfrm>
          <a:prstGeom prst="rect">
            <a:avLst/>
          </a:prstGeom>
        </p:spPr>
        <p:txBody>
          <a:bodyPr wrap="none">
            <a:spAutoFit/>
          </a:bodyPr>
          <a:lstStyle/>
          <a:p>
            <a:r>
              <a:rPr kumimoji="1" lang="en-US" altLang="zh-CN" sz="1200" dirty="0"/>
              <a:t>EXIT</a:t>
            </a:r>
            <a:endParaRPr lang="zh-CN" altLang="en-US" sz="1200" dirty="0"/>
          </a:p>
        </p:txBody>
      </p:sp>
      <p:sp>
        <p:nvSpPr>
          <p:cNvPr id="32" name="矩形 31"/>
          <p:cNvSpPr/>
          <p:nvPr/>
        </p:nvSpPr>
        <p:spPr>
          <a:xfrm>
            <a:off x="2856045" y="4657700"/>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33" name="矩形 32"/>
          <p:cNvSpPr/>
          <p:nvPr/>
        </p:nvSpPr>
        <p:spPr>
          <a:xfrm>
            <a:off x="2856045" y="4957734"/>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34" name="矩形 33"/>
          <p:cNvSpPr/>
          <p:nvPr/>
        </p:nvSpPr>
        <p:spPr>
          <a:xfrm>
            <a:off x="2856045" y="5257767"/>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a:t>
            </a:r>
            <a:endParaRPr kumimoji="1" lang="zh-CN" altLang="en-US" sz="900" dirty="0"/>
          </a:p>
        </p:txBody>
      </p:sp>
      <p:sp>
        <p:nvSpPr>
          <p:cNvPr id="35" name="右箭头 34"/>
          <p:cNvSpPr/>
          <p:nvPr/>
        </p:nvSpPr>
        <p:spPr>
          <a:xfrm>
            <a:off x="1213995" y="4837720"/>
            <a:ext cx="240027" cy="240027"/>
          </a:xfrm>
          <a:prstGeom prst="right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36" name="矩形 35"/>
          <p:cNvSpPr/>
          <p:nvPr/>
        </p:nvSpPr>
        <p:spPr>
          <a:xfrm>
            <a:off x="731573" y="4771631"/>
            <a:ext cx="583814" cy="307777"/>
          </a:xfrm>
          <a:prstGeom prst="rect">
            <a:avLst/>
          </a:prstGeom>
        </p:spPr>
        <p:txBody>
          <a:bodyPr wrap="none">
            <a:spAutoFit/>
          </a:bodyPr>
          <a:lstStyle/>
          <a:p>
            <a:r>
              <a:rPr kumimoji="1" lang="en-US" altLang="zh-CN" sz="1400" b="1" dirty="0">
                <a:solidFill>
                  <a:schemeClr val="accent1"/>
                </a:solidFill>
              </a:rPr>
              <a:t>SP-1</a:t>
            </a:r>
            <a:endParaRPr lang="zh-CN" altLang="en-US" sz="1400" b="1" dirty="0">
              <a:solidFill>
                <a:schemeClr val="accent1"/>
              </a:solidFill>
            </a:endParaRPr>
          </a:p>
        </p:txBody>
      </p:sp>
      <p:sp>
        <p:nvSpPr>
          <p:cNvPr id="37" name="矩形 36"/>
          <p:cNvSpPr/>
          <p:nvPr/>
        </p:nvSpPr>
        <p:spPr>
          <a:xfrm>
            <a:off x="2976058" y="434992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38" name="矩形 37"/>
          <p:cNvSpPr/>
          <p:nvPr/>
        </p:nvSpPr>
        <p:spPr>
          <a:xfrm>
            <a:off x="2976058" y="4657700"/>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ENTER</a:t>
            </a:r>
            <a:endParaRPr kumimoji="1" lang="zh-CN" altLang="en-US" sz="900" dirty="0"/>
          </a:p>
        </p:txBody>
      </p:sp>
      <p:sp>
        <p:nvSpPr>
          <p:cNvPr id="39" name="右箭头 38"/>
          <p:cNvSpPr/>
          <p:nvPr/>
        </p:nvSpPr>
        <p:spPr>
          <a:xfrm rot="10800000">
            <a:off x="3611894" y="4837720"/>
            <a:ext cx="240027" cy="240027"/>
          </a:xfrm>
          <a:prstGeom prst="rightArrow">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40" name="矩形 39"/>
          <p:cNvSpPr/>
          <p:nvPr/>
        </p:nvSpPr>
        <p:spPr>
          <a:xfrm>
            <a:off x="3800343" y="4777713"/>
            <a:ext cx="583814" cy="307777"/>
          </a:xfrm>
          <a:prstGeom prst="rect">
            <a:avLst/>
          </a:prstGeom>
        </p:spPr>
        <p:txBody>
          <a:bodyPr wrap="none">
            <a:spAutoFit/>
          </a:bodyPr>
          <a:lstStyle/>
          <a:p>
            <a:r>
              <a:rPr kumimoji="1" lang="en-US" altLang="zh-CN" sz="1400" b="1" dirty="0">
                <a:solidFill>
                  <a:schemeClr val="accent2"/>
                </a:solidFill>
              </a:rPr>
              <a:t>SP-2</a:t>
            </a:r>
            <a:endParaRPr lang="zh-CN" altLang="en-US" sz="1400" b="1" dirty="0">
              <a:solidFill>
                <a:schemeClr val="accent2"/>
              </a:solidFill>
            </a:endParaRPr>
          </a:p>
        </p:txBody>
      </p:sp>
      <p:sp>
        <p:nvSpPr>
          <p:cNvPr id="41" name="矩形 40"/>
          <p:cNvSpPr/>
          <p:nvPr/>
        </p:nvSpPr>
        <p:spPr>
          <a:xfrm>
            <a:off x="3631395" y="434992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YIELD</a:t>
            </a:r>
            <a:endParaRPr kumimoji="1" lang="zh-CN" altLang="en-US" sz="900" dirty="0"/>
          </a:p>
        </p:txBody>
      </p:sp>
      <p:sp>
        <p:nvSpPr>
          <p:cNvPr id="42" name="矩形 41"/>
          <p:cNvSpPr/>
          <p:nvPr/>
        </p:nvSpPr>
        <p:spPr>
          <a:xfrm>
            <a:off x="3631395" y="3457567"/>
            <a:ext cx="628698" cy="276999"/>
          </a:xfrm>
          <a:prstGeom prst="rect">
            <a:avLst/>
          </a:prstGeom>
        </p:spPr>
        <p:txBody>
          <a:bodyPr wrap="none">
            <a:spAutoFit/>
          </a:bodyPr>
          <a:lstStyle/>
          <a:p>
            <a:r>
              <a:rPr kumimoji="1" lang="en-US" altLang="zh-CN" sz="1200" dirty="0"/>
              <a:t>YIELD</a:t>
            </a:r>
            <a:endParaRPr lang="zh-CN" altLang="en-US" sz="1200" dirty="0"/>
          </a:p>
        </p:txBody>
      </p:sp>
      <p:sp>
        <p:nvSpPr>
          <p:cNvPr id="43" name="矩形 42"/>
          <p:cNvSpPr/>
          <p:nvPr/>
        </p:nvSpPr>
        <p:spPr>
          <a:xfrm>
            <a:off x="5585337" y="434992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44" name="矩形 43"/>
          <p:cNvSpPr/>
          <p:nvPr/>
        </p:nvSpPr>
        <p:spPr>
          <a:xfrm>
            <a:off x="6252187" y="434992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45" name="矩形 44"/>
          <p:cNvSpPr/>
          <p:nvPr/>
        </p:nvSpPr>
        <p:spPr>
          <a:xfrm>
            <a:off x="6912260" y="434992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46" name="矩形 45"/>
          <p:cNvSpPr/>
          <p:nvPr/>
        </p:nvSpPr>
        <p:spPr>
          <a:xfrm>
            <a:off x="5585337" y="4657700"/>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ENTER</a:t>
            </a:r>
            <a:endParaRPr kumimoji="1" lang="zh-CN" altLang="en-US" sz="900" dirty="0"/>
          </a:p>
        </p:txBody>
      </p:sp>
      <p:sp>
        <p:nvSpPr>
          <p:cNvPr id="47" name="矩形 46"/>
          <p:cNvSpPr/>
          <p:nvPr/>
        </p:nvSpPr>
        <p:spPr>
          <a:xfrm>
            <a:off x="6252187" y="4657700"/>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48" name="矩形 47"/>
          <p:cNvSpPr/>
          <p:nvPr/>
        </p:nvSpPr>
        <p:spPr>
          <a:xfrm>
            <a:off x="6252187" y="4957734"/>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b="1" dirty="0"/>
              <a:t>SCHED</a:t>
            </a:r>
            <a:endParaRPr kumimoji="1" lang="zh-CN" altLang="en-US" sz="900" b="1" dirty="0"/>
          </a:p>
        </p:txBody>
      </p:sp>
      <p:sp>
        <p:nvSpPr>
          <p:cNvPr id="49" name="矩形 48"/>
          <p:cNvSpPr/>
          <p:nvPr/>
        </p:nvSpPr>
        <p:spPr>
          <a:xfrm>
            <a:off x="5585338" y="3457567"/>
            <a:ext cx="705642" cy="276999"/>
          </a:xfrm>
          <a:prstGeom prst="rect">
            <a:avLst/>
          </a:prstGeom>
        </p:spPr>
        <p:txBody>
          <a:bodyPr wrap="none">
            <a:spAutoFit/>
          </a:bodyPr>
          <a:lstStyle/>
          <a:p>
            <a:r>
              <a:rPr kumimoji="1" lang="en-US" altLang="zh-CN" sz="1200" dirty="0"/>
              <a:t>ENTER</a:t>
            </a:r>
            <a:endParaRPr lang="zh-CN" altLang="en-US" sz="1200" dirty="0"/>
          </a:p>
        </p:txBody>
      </p:sp>
      <p:sp>
        <p:nvSpPr>
          <p:cNvPr id="50" name="矩形 49"/>
          <p:cNvSpPr/>
          <p:nvPr/>
        </p:nvSpPr>
        <p:spPr>
          <a:xfrm>
            <a:off x="6252187" y="3457567"/>
            <a:ext cx="721672" cy="276999"/>
          </a:xfrm>
          <a:prstGeom prst="rect">
            <a:avLst/>
          </a:prstGeom>
        </p:spPr>
        <p:txBody>
          <a:bodyPr wrap="none">
            <a:spAutoFit/>
          </a:bodyPr>
          <a:lstStyle/>
          <a:p>
            <a:r>
              <a:rPr kumimoji="1" lang="en-US" altLang="zh-CN" sz="1200" dirty="0"/>
              <a:t>SCHED</a:t>
            </a:r>
            <a:endParaRPr lang="zh-CN" altLang="en-US" sz="1200" dirty="0"/>
          </a:p>
        </p:txBody>
      </p:sp>
      <p:sp>
        <p:nvSpPr>
          <p:cNvPr id="51" name="矩形 50"/>
          <p:cNvSpPr/>
          <p:nvPr/>
        </p:nvSpPr>
        <p:spPr>
          <a:xfrm>
            <a:off x="6972267" y="3457567"/>
            <a:ext cx="527709" cy="276999"/>
          </a:xfrm>
          <a:prstGeom prst="rect">
            <a:avLst/>
          </a:prstGeom>
        </p:spPr>
        <p:txBody>
          <a:bodyPr wrap="none">
            <a:spAutoFit/>
          </a:bodyPr>
          <a:lstStyle/>
          <a:p>
            <a:r>
              <a:rPr kumimoji="1" lang="en-US" altLang="zh-CN" sz="1200" dirty="0"/>
              <a:t>EXIT</a:t>
            </a:r>
            <a:endParaRPr lang="zh-CN" altLang="en-US" sz="1200" dirty="0"/>
          </a:p>
        </p:txBody>
      </p:sp>
      <p:sp>
        <p:nvSpPr>
          <p:cNvPr id="52" name="矩形 51"/>
          <p:cNvSpPr/>
          <p:nvPr/>
        </p:nvSpPr>
        <p:spPr>
          <a:xfrm>
            <a:off x="6912260" y="4657700"/>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53" name="矩形 52"/>
          <p:cNvSpPr/>
          <p:nvPr/>
        </p:nvSpPr>
        <p:spPr>
          <a:xfrm>
            <a:off x="6912260" y="4957734"/>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54" name="矩形 53"/>
          <p:cNvSpPr/>
          <p:nvPr/>
        </p:nvSpPr>
        <p:spPr>
          <a:xfrm>
            <a:off x="6912260" y="5257767"/>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a:t>
            </a:r>
            <a:endParaRPr kumimoji="1" lang="zh-CN" altLang="en-US" sz="900" dirty="0"/>
          </a:p>
        </p:txBody>
      </p:sp>
      <p:sp>
        <p:nvSpPr>
          <p:cNvPr id="55" name="矩形 54"/>
          <p:cNvSpPr/>
          <p:nvPr/>
        </p:nvSpPr>
        <p:spPr>
          <a:xfrm>
            <a:off x="7032273" y="4349923"/>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56" name="矩形 55"/>
          <p:cNvSpPr/>
          <p:nvPr/>
        </p:nvSpPr>
        <p:spPr>
          <a:xfrm>
            <a:off x="7032273" y="4657700"/>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ENTER</a:t>
            </a:r>
            <a:endParaRPr kumimoji="1" lang="zh-CN" altLang="en-US" sz="900" dirty="0"/>
          </a:p>
        </p:txBody>
      </p:sp>
      <p:sp>
        <p:nvSpPr>
          <p:cNvPr id="57" name="矩形 56"/>
          <p:cNvSpPr/>
          <p:nvPr/>
        </p:nvSpPr>
        <p:spPr>
          <a:xfrm>
            <a:off x="7692347" y="4349923"/>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YIELD</a:t>
            </a:r>
            <a:endParaRPr kumimoji="1" lang="zh-CN" altLang="en-US" sz="900" dirty="0"/>
          </a:p>
        </p:txBody>
      </p:sp>
      <p:sp>
        <p:nvSpPr>
          <p:cNvPr id="58" name="矩形 57"/>
          <p:cNvSpPr/>
          <p:nvPr/>
        </p:nvSpPr>
        <p:spPr>
          <a:xfrm>
            <a:off x="7692347" y="3449824"/>
            <a:ext cx="628698" cy="276999"/>
          </a:xfrm>
          <a:prstGeom prst="rect">
            <a:avLst/>
          </a:prstGeom>
        </p:spPr>
        <p:txBody>
          <a:bodyPr wrap="none">
            <a:spAutoFit/>
          </a:bodyPr>
          <a:lstStyle/>
          <a:p>
            <a:r>
              <a:rPr kumimoji="1" lang="en-US" altLang="zh-CN" sz="1200" dirty="0"/>
              <a:t>YIELD</a:t>
            </a:r>
            <a:endParaRPr lang="zh-CN" altLang="en-US" sz="1200" dirty="0"/>
          </a:p>
        </p:txBody>
      </p:sp>
      <p:sp>
        <p:nvSpPr>
          <p:cNvPr id="59" name="右箭头 58"/>
          <p:cNvSpPr/>
          <p:nvPr/>
        </p:nvSpPr>
        <p:spPr>
          <a:xfrm rot="10800000">
            <a:off x="7681549" y="4837720"/>
            <a:ext cx="240027" cy="240027"/>
          </a:xfrm>
          <a:prstGeom prst="right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200"/>
          </a:p>
        </p:txBody>
      </p:sp>
      <p:sp>
        <p:nvSpPr>
          <p:cNvPr id="60" name="矩形 59"/>
          <p:cNvSpPr/>
          <p:nvPr/>
        </p:nvSpPr>
        <p:spPr>
          <a:xfrm>
            <a:off x="7869998" y="4777713"/>
            <a:ext cx="583814" cy="307777"/>
          </a:xfrm>
          <a:prstGeom prst="rect">
            <a:avLst/>
          </a:prstGeom>
        </p:spPr>
        <p:txBody>
          <a:bodyPr wrap="none">
            <a:spAutoFit/>
          </a:bodyPr>
          <a:lstStyle/>
          <a:p>
            <a:r>
              <a:rPr kumimoji="1" lang="en-US" altLang="zh-CN" sz="1400" b="1" dirty="0">
                <a:solidFill>
                  <a:schemeClr val="accent1"/>
                </a:solidFill>
              </a:rPr>
              <a:t>SP-1</a:t>
            </a:r>
            <a:endParaRPr kumimoji="1" lang="zh-CN" altLang="en-US" sz="1400" b="1" dirty="0">
              <a:solidFill>
                <a:schemeClr val="accent1"/>
              </a:solidFill>
            </a:endParaRPr>
          </a:p>
        </p:txBody>
      </p:sp>
      <p:sp>
        <p:nvSpPr>
          <p:cNvPr id="61" name="矩形 60"/>
          <p:cNvSpPr/>
          <p:nvPr/>
        </p:nvSpPr>
        <p:spPr>
          <a:xfrm>
            <a:off x="4932040" y="434992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YIELD</a:t>
            </a:r>
            <a:endParaRPr kumimoji="1" lang="zh-CN" altLang="en-US" sz="900" dirty="0"/>
          </a:p>
        </p:txBody>
      </p:sp>
      <p:sp>
        <p:nvSpPr>
          <p:cNvPr id="62" name="矩形 61"/>
          <p:cNvSpPr/>
          <p:nvPr/>
        </p:nvSpPr>
        <p:spPr>
          <a:xfrm>
            <a:off x="4932040" y="3457567"/>
            <a:ext cx="628698" cy="276999"/>
          </a:xfrm>
          <a:prstGeom prst="rect">
            <a:avLst/>
          </a:prstGeom>
        </p:spPr>
        <p:txBody>
          <a:bodyPr wrap="none">
            <a:spAutoFit/>
          </a:bodyPr>
          <a:lstStyle/>
          <a:p>
            <a:r>
              <a:rPr kumimoji="1" lang="en-US" altLang="zh-CN" sz="1200" dirty="0"/>
              <a:t>YIELD</a:t>
            </a:r>
            <a:endParaRPr lang="zh-CN" altLang="en-US" sz="1200" dirty="0"/>
          </a:p>
        </p:txBody>
      </p:sp>
      <p:sp>
        <p:nvSpPr>
          <p:cNvPr id="63" name="右箭头 62"/>
          <p:cNvSpPr/>
          <p:nvPr/>
        </p:nvSpPr>
        <p:spPr>
          <a:xfrm>
            <a:off x="5292080" y="4837720"/>
            <a:ext cx="240027" cy="240027"/>
          </a:xfrm>
          <a:prstGeom prst="rightArrow">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200"/>
          </a:p>
        </p:txBody>
      </p:sp>
      <p:sp>
        <p:nvSpPr>
          <p:cNvPr id="64" name="矩形 63"/>
          <p:cNvSpPr/>
          <p:nvPr/>
        </p:nvSpPr>
        <p:spPr>
          <a:xfrm>
            <a:off x="4752020" y="4771631"/>
            <a:ext cx="583814" cy="307777"/>
          </a:xfrm>
          <a:prstGeom prst="rect">
            <a:avLst/>
          </a:prstGeom>
        </p:spPr>
        <p:txBody>
          <a:bodyPr wrap="none">
            <a:spAutoFit/>
          </a:bodyPr>
          <a:lstStyle/>
          <a:p>
            <a:r>
              <a:rPr kumimoji="1" lang="en-US" altLang="zh-CN" sz="1400" b="1" dirty="0">
                <a:solidFill>
                  <a:schemeClr val="accent2"/>
                </a:solidFill>
              </a:rPr>
              <a:t>SP-2</a:t>
            </a:r>
            <a:endParaRPr kumimoji="1" lang="zh-CN" altLang="en-US" sz="1400" b="1" dirty="0">
              <a:solidFill>
                <a:schemeClr val="accent2"/>
              </a:solidFill>
            </a:endParaRPr>
          </a:p>
        </p:txBody>
      </p:sp>
      <p:sp>
        <p:nvSpPr>
          <p:cNvPr id="65" name="矩形 64"/>
          <p:cNvSpPr/>
          <p:nvPr/>
        </p:nvSpPr>
        <p:spPr>
          <a:xfrm>
            <a:off x="1511660" y="3809863"/>
            <a:ext cx="600067" cy="1140127"/>
          </a:xfrm>
          <a:prstGeom prst="rect">
            <a:avLst/>
          </a:prstGeom>
          <a:noFill/>
          <a:ln w="381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66" name="矩形 65"/>
          <p:cNvSpPr/>
          <p:nvPr/>
        </p:nvSpPr>
        <p:spPr>
          <a:xfrm>
            <a:off x="7032273" y="3809863"/>
            <a:ext cx="600067" cy="1140127"/>
          </a:xfrm>
          <a:prstGeom prst="rect">
            <a:avLst/>
          </a:prstGeom>
          <a:noFill/>
          <a:ln w="381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100"/>
          </a:p>
        </p:txBody>
      </p:sp>
      <p:sp>
        <p:nvSpPr>
          <p:cNvPr id="67" name="矩形 66"/>
          <p:cNvSpPr/>
          <p:nvPr/>
        </p:nvSpPr>
        <p:spPr>
          <a:xfrm>
            <a:off x="4271967" y="3809864"/>
            <a:ext cx="300033"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50" dirty="0"/>
              <a:t>APP</a:t>
            </a:r>
            <a:endParaRPr kumimoji="1" lang="zh-CN" altLang="en-US" sz="1050" dirty="0"/>
          </a:p>
        </p:txBody>
      </p:sp>
      <p:sp>
        <p:nvSpPr>
          <p:cNvPr id="68" name="矩形 67"/>
          <p:cNvSpPr/>
          <p:nvPr/>
        </p:nvSpPr>
        <p:spPr>
          <a:xfrm>
            <a:off x="4604073" y="3809864"/>
            <a:ext cx="300033"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50" dirty="0"/>
              <a:t>APP</a:t>
            </a:r>
            <a:endParaRPr kumimoji="1" lang="zh-CN" altLang="en-US" sz="1050" dirty="0"/>
          </a:p>
        </p:txBody>
      </p:sp>
      <p:sp>
        <p:nvSpPr>
          <p:cNvPr id="69" name="标题 1"/>
          <p:cNvSpPr>
            <a:spLocks noGrp="1"/>
          </p:cNvSpPr>
          <p:nvPr>
            <p:ph type="title"/>
          </p:nvPr>
        </p:nvSpPr>
        <p:spPr>
          <a:xfrm>
            <a:off x="4863413" y="120853"/>
            <a:ext cx="3823387" cy="648415"/>
          </a:xfrm>
        </p:spPr>
        <p:txBody>
          <a:bodyPr>
            <a:noAutofit/>
          </a:bodyPr>
          <a:lstStyle/>
          <a:p>
            <a:pPr algn="r"/>
            <a:r>
              <a:rPr kumimoji="1" lang="en-US" altLang="zh-CN" sz="2400" dirty="0"/>
              <a:t>Context Switch</a:t>
            </a:r>
            <a:r>
              <a:rPr kumimoji="1" lang="zh-CN" altLang="en-US" sz="2400" dirty="0"/>
              <a:t> </a:t>
            </a:r>
            <a:r>
              <a:rPr kumimoji="1" lang="en-US" altLang="zh-CN" sz="2400" dirty="0"/>
              <a:t>(Type-1)</a:t>
            </a:r>
            <a:endParaRPr kumimoji="1" lang="zh-CN" altLang="en-US" sz="2400" dirty="0"/>
          </a:p>
        </p:txBody>
      </p:sp>
      <p:sp>
        <p:nvSpPr>
          <p:cNvPr id="70" name="右箭头 69"/>
          <p:cNvSpPr/>
          <p:nvPr/>
        </p:nvSpPr>
        <p:spPr>
          <a:xfrm>
            <a:off x="1031607" y="554730"/>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1" name="右箭头 70"/>
          <p:cNvSpPr/>
          <p:nvPr/>
        </p:nvSpPr>
        <p:spPr>
          <a:xfrm>
            <a:off x="1031607" y="1657367"/>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2" name="右箭头 71"/>
          <p:cNvSpPr/>
          <p:nvPr/>
        </p:nvSpPr>
        <p:spPr>
          <a:xfrm>
            <a:off x="1031607" y="1897393"/>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3" name="右箭头 72"/>
          <p:cNvSpPr/>
          <p:nvPr/>
        </p:nvSpPr>
        <p:spPr>
          <a:xfrm>
            <a:off x="4632007" y="2857500"/>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4" name="右箭头 73"/>
          <p:cNvSpPr/>
          <p:nvPr/>
        </p:nvSpPr>
        <p:spPr>
          <a:xfrm>
            <a:off x="1031607" y="2906248"/>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5" name="右箭头 74"/>
          <p:cNvSpPr/>
          <p:nvPr/>
        </p:nvSpPr>
        <p:spPr>
          <a:xfrm>
            <a:off x="1031607" y="3108785"/>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6" name="右箭头 75"/>
          <p:cNvSpPr/>
          <p:nvPr/>
        </p:nvSpPr>
        <p:spPr>
          <a:xfrm>
            <a:off x="1031607" y="948545"/>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Tree>
    <p:extLst>
      <p:ext uri="{BB962C8B-B14F-4D97-AF65-F5344CB8AC3E}">
        <p14:creationId xmlns:p14="http://schemas.microsoft.com/office/powerpoint/2010/main" val="387319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0"/>
                                        </p:tgtEl>
                                        <p:attrNameLst>
                                          <p:attrName>style.visibility</p:attrName>
                                        </p:attrNameLst>
                                      </p:cBhvr>
                                      <p:to>
                                        <p:strVal val="visible"/>
                                      </p:to>
                                    </p:set>
                                    <p:animEffect transition="in" filter="fade">
                                      <p:cBhvr>
                                        <p:cTn id="18" dur="500"/>
                                        <p:tgtEl>
                                          <p:spTgt spid="7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70"/>
                                        </p:tgtEl>
                                      </p:cBhvr>
                                    </p:animEffect>
                                    <p:set>
                                      <p:cBhvr>
                                        <p:cTn id="37" dur="1" fill="hold">
                                          <p:stCondLst>
                                            <p:cond delay="499"/>
                                          </p:stCondLst>
                                        </p:cTn>
                                        <p:tgtEl>
                                          <p:spTgt spid="70"/>
                                        </p:tgtEl>
                                        <p:attrNameLst>
                                          <p:attrName>style.visibility</p:attrName>
                                        </p:attrNameLst>
                                      </p:cBhvr>
                                      <p:to>
                                        <p:strVal val="hidden"/>
                                      </p:to>
                                    </p:se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71"/>
                                        </p:tgtEl>
                                        <p:attrNameLst>
                                          <p:attrName>style.visibility</p:attrName>
                                        </p:attrNameLst>
                                      </p:cBhvr>
                                      <p:to>
                                        <p:strVal val="visible"/>
                                      </p:to>
                                    </p:set>
                                    <p:animEffect transition="in" filter="fade">
                                      <p:cBhvr>
                                        <p:cTn id="41" dur="500"/>
                                        <p:tgtEl>
                                          <p:spTgt spid="7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fade">
                                      <p:cBhvr>
                                        <p:cTn id="46" dur="500"/>
                                        <p:tgtEl>
                                          <p:spTgt spid="6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71"/>
                                        </p:tgtEl>
                                      </p:cBhvr>
                                    </p:animEffect>
                                    <p:set>
                                      <p:cBhvr>
                                        <p:cTn id="57" dur="1" fill="hold">
                                          <p:stCondLst>
                                            <p:cond delay="499"/>
                                          </p:stCondLst>
                                        </p:cTn>
                                        <p:tgtEl>
                                          <p:spTgt spid="71"/>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grpId="0" nodeType="after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fade">
                                      <p:cBhvr>
                                        <p:cTn id="61" dur="500"/>
                                        <p:tgtEl>
                                          <p:spTgt spid="7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500"/>
                                        <p:tgtEl>
                                          <p:spTgt spid="3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500"/>
                                        <p:tgtEl>
                                          <p:spTgt spid="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grpId="1" nodeType="clickEffect">
                                  <p:stCondLst>
                                    <p:cond delay="0"/>
                                  </p:stCondLst>
                                  <p:childTnLst>
                                    <p:animEffect transition="out" filter="fade">
                                      <p:cBhvr>
                                        <p:cTn id="82" dur="500"/>
                                        <p:tgtEl>
                                          <p:spTgt spid="72"/>
                                        </p:tgtEl>
                                      </p:cBhvr>
                                    </p:animEffect>
                                    <p:set>
                                      <p:cBhvr>
                                        <p:cTn id="83" dur="1" fill="hold">
                                          <p:stCondLst>
                                            <p:cond delay="499"/>
                                          </p:stCondLst>
                                        </p:cTn>
                                        <p:tgtEl>
                                          <p:spTgt spid="72"/>
                                        </p:tgtEl>
                                        <p:attrNameLst>
                                          <p:attrName>style.visibility</p:attrName>
                                        </p:attrNameLst>
                                      </p:cBhvr>
                                      <p:to>
                                        <p:strVal val="hidden"/>
                                      </p:to>
                                    </p:set>
                                  </p:childTnLst>
                                </p:cTn>
                              </p:par>
                            </p:childTnLst>
                          </p:cTn>
                        </p:par>
                        <p:par>
                          <p:cTn id="84" fill="hold">
                            <p:stCondLst>
                              <p:cond delay="500"/>
                            </p:stCondLst>
                            <p:childTnLst>
                              <p:par>
                                <p:cTn id="85" presetID="10" presetClass="entr" presetSubtype="0" fill="hold" grpId="0" nodeType="afterEffect">
                                  <p:stCondLst>
                                    <p:cond delay="0"/>
                                  </p:stCondLst>
                                  <p:childTnLst>
                                    <p:set>
                                      <p:cBhvr>
                                        <p:cTn id="86" dur="1" fill="hold">
                                          <p:stCondLst>
                                            <p:cond delay="0"/>
                                          </p:stCondLst>
                                        </p:cTn>
                                        <p:tgtEl>
                                          <p:spTgt spid="73"/>
                                        </p:tgtEl>
                                        <p:attrNameLst>
                                          <p:attrName>style.visibility</p:attrName>
                                        </p:attrNameLst>
                                      </p:cBhvr>
                                      <p:to>
                                        <p:strVal val="visible"/>
                                      </p:to>
                                    </p:set>
                                    <p:animEffect transition="in" filter="fade">
                                      <p:cBhvr>
                                        <p:cTn id="87" dur="500"/>
                                        <p:tgtEl>
                                          <p:spTgt spid="7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0"/>
                                        </p:tgtEl>
                                        <p:attrNameLst>
                                          <p:attrName>style.visibility</p:attrName>
                                        </p:attrNameLst>
                                      </p:cBhvr>
                                      <p:to>
                                        <p:strVal val="visible"/>
                                      </p:to>
                                    </p:set>
                                    <p:animEffect transition="in" filter="fade">
                                      <p:cBhvr>
                                        <p:cTn id="95" dur="500"/>
                                        <p:tgtEl>
                                          <p:spTgt spid="1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500"/>
                                        <p:tgtEl>
                                          <p:spTgt spid="2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73"/>
                                        </p:tgtEl>
                                      </p:cBhvr>
                                    </p:animEffect>
                                    <p:set>
                                      <p:cBhvr>
                                        <p:cTn id="112" dur="1" fill="hold">
                                          <p:stCondLst>
                                            <p:cond delay="499"/>
                                          </p:stCondLst>
                                        </p:cTn>
                                        <p:tgtEl>
                                          <p:spTgt spid="73"/>
                                        </p:tgtEl>
                                        <p:attrNameLst>
                                          <p:attrName>style.visibility</p:attrName>
                                        </p:attrNameLst>
                                      </p:cBhvr>
                                      <p:to>
                                        <p:strVal val="hidden"/>
                                      </p:to>
                                    </p:set>
                                  </p:childTnLst>
                                </p:cTn>
                              </p:par>
                            </p:childTnLst>
                          </p:cTn>
                        </p:par>
                        <p:par>
                          <p:cTn id="113" fill="hold">
                            <p:stCondLst>
                              <p:cond delay="500"/>
                            </p:stCondLst>
                            <p:childTnLst>
                              <p:par>
                                <p:cTn id="114" presetID="10" presetClass="entr" presetSubtype="0" fill="hold" grpId="0" nodeType="afterEffect">
                                  <p:stCondLst>
                                    <p:cond delay="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500"/>
                                        <p:tgtEl>
                                          <p:spTgt spid="74"/>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11"/>
                                        </p:tgtEl>
                                        <p:attrNameLst>
                                          <p:attrName>style.visibility</p:attrName>
                                        </p:attrNameLst>
                                      </p:cBhvr>
                                      <p:to>
                                        <p:strVal val="visible"/>
                                      </p:to>
                                    </p:set>
                                    <p:animEffect transition="in" filter="fade">
                                      <p:cBhvr>
                                        <p:cTn id="121" dur="500"/>
                                        <p:tgtEl>
                                          <p:spTgt spid="1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fade">
                                      <p:cBhvr>
                                        <p:cTn id="124" dur="500"/>
                                        <p:tgtEl>
                                          <p:spTgt spid="37"/>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8"/>
                                        </p:tgtEl>
                                        <p:attrNameLst>
                                          <p:attrName>style.visibility</p:attrName>
                                        </p:attrNameLst>
                                      </p:cBhvr>
                                      <p:to>
                                        <p:strVal val="visible"/>
                                      </p:to>
                                    </p:set>
                                    <p:animEffect transition="in" filter="fade">
                                      <p:cBhvr>
                                        <p:cTn id="127" dur="500"/>
                                        <p:tgtEl>
                                          <p:spTgt spid="38"/>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9"/>
                                        </p:tgtEl>
                                        <p:attrNameLst>
                                          <p:attrName>style.visibility</p:attrName>
                                        </p:attrNameLst>
                                      </p:cBhvr>
                                      <p:to>
                                        <p:strVal val="visible"/>
                                      </p:to>
                                    </p:set>
                                    <p:animEffect transition="in" filter="fade">
                                      <p:cBhvr>
                                        <p:cTn id="130" dur="500"/>
                                        <p:tgtEl>
                                          <p:spTgt spid="39"/>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0"/>
                                        </p:tgtEl>
                                        <p:attrNameLst>
                                          <p:attrName>style.visibility</p:attrName>
                                        </p:attrNameLst>
                                      </p:cBhvr>
                                      <p:to>
                                        <p:strVal val="visible"/>
                                      </p:to>
                                    </p:set>
                                    <p:animEffect transition="in" filter="fade">
                                      <p:cBhvr>
                                        <p:cTn id="133" dur="500"/>
                                        <p:tgtEl>
                                          <p:spTgt spid="40"/>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xit" presetSubtype="0" fill="hold" grpId="1" nodeType="clickEffect">
                                  <p:stCondLst>
                                    <p:cond delay="0"/>
                                  </p:stCondLst>
                                  <p:childTnLst>
                                    <p:animEffect transition="out" filter="fade">
                                      <p:cBhvr>
                                        <p:cTn id="137" dur="500"/>
                                        <p:tgtEl>
                                          <p:spTgt spid="74"/>
                                        </p:tgtEl>
                                      </p:cBhvr>
                                    </p:animEffect>
                                    <p:set>
                                      <p:cBhvr>
                                        <p:cTn id="138" dur="1" fill="hold">
                                          <p:stCondLst>
                                            <p:cond delay="499"/>
                                          </p:stCondLst>
                                        </p:cTn>
                                        <p:tgtEl>
                                          <p:spTgt spid="74"/>
                                        </p:tgtEl>
                                        <p:attrNameLst>
                                          <p:attrName>style.visibility</p:attrName>
                                        </p:attrNameLst>
                                      </p:cBhvr>
                                      <p:to>
                                        <p:strVal val="hidden"/>
                                      </p:to>
                                    </p:set>
                                  </p:childTnLst>
                                </p:cTn>
                              </p:par>
                            </p:childTnLst>
                          </p:cTn>
                        </p:par>
                        <p:par>
                          <p:cTn id="139" fill="hold">
                            <p:stCondLst>
                              <p:cond delay="500"/>
                            </p:stCondLst>
                            <p:childTnLst>
                              <p:par>
                                <p:cTn id="140" presetID="10" presetClass="entr" presetSubtype="0" fill="hold" grpId="0" nodeType="afterEffect">
                                  <p:stCondLst>
                                    <p:cond delay="0"/>
                                  </p:stCondLst>
                                  <p:childTnLst>
                                    <p:set>
                                      <p:cBhvr>
                                        <p:cTn id="141" dur="1" fill="hold">
                                          <p:stCondLst>
                                            <p:cond delay="0"/>
                                          </p:stCondLst>
                                        </p:cTn>
                                        <p:tgtEl>
                                          <p:spTgt spid="75"/>
                                        </p:tgtEl>
                                        <p:attrNameLst>
                                          <p:attrName>style.visibility</p:attrName>
                                        </p:attrNameLst>
                                      </p:cBhvr>
                                      <p:to>
                                        <p:strVal val="visible"/>
                                      </p:to>
                                    </p:set>
                                    <p:animEffect transition="in" filter="fade">
                                      <p:cBhvr>
                                        <p:cTn id="142" dur="500"/>
                                        <p:tgtEl>
                                          <p:spTgt spid="75"/>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42"/>
                                        </p:tgtEl>
                                        <p:attrNameLst>
                                          <p:attrName>style.visibility</p:attrName>
                                        </p:attrNameLst>
                                      </p:cBhvr>
                                      <p:to>
                                        <p:strVal val="visible"/>
                                      </p:to>
                                    </p:set>
                                    <p:animEffect transition="in" filter="fade">
                                      <p:cBhvr>
                                        <p:cTn id="147" dur="500"/>
                                        <p:tgtEl>
                                          <p:spTgt spid="4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2"/>
                                        </p:tgtEl>
                                        <p:attrNameLst>
                                          <p:attrName>style.visibility</p:attrName>
                                        </p:attrNameLst>
                                      </p:cBhvr>
                                      <p:to>
                                        <p:strVal val="visible"/>
                                      </p:to>
                                    </p:set>
                                    <p:animEffect transition="in" filter="fade">
                                      <p:cBhvr>
                                        <p:cTn id="150" dur="500"/>
                                        <p:tgtEl>
                                          <p:spTgt spid="1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41"/>
                                        </p:tgtEl>
                                        <p:attrNameLst>
                                          <p:attrName>style.visibility</p:attrName>
                                        </p:attrNameLst>
                                      </p:cBhvr>
                                      <p:to>
                                        <p:strVal val="visible"/>
                                      </p:to>
                                    </p:set>
                                    <p:animEffect transition="in" filter="fade">
                                      <p:cBhvr>
                                        <p:cTn id="153" dur="500"/>
                                        <p:tgtEl>
                                          <p:spTgt spid="41"/>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xit" presetSubtype="0" fill="hold" grpId="1" nodeType="clickEffect">
                                  <p:stCondLst>
                                    <p:cond delay="0"/>
                                  </p:stCondLst>
                                  <p:childTnLst>
                                    <p:animEffect transition="out" filter="fade">
                                      <p:cBhvr>
                                        <p:cTn id="157" dur="500"/>
                                        <p:tgtEl>
                                          <p:spTgt spid="75"/>
                                        </p:tgtEl>
                                      </p:cBhvr>
                                    </p:animEffect>
                                    <p:set>
                                      <p:cBhvr>
                                        <p:cTn id="158" dur="1" fill="hold">
                                          <p:stCondLst>
                                            <p:cond delay="499"/>
                                          </p:stCondLst>
                                        </p:cTn>
                                        <p:tgtEl>
                                          <p:spTgt spid="75"/>
                                        </p:tgtEl>
                                        <p:attrNameLst>
                                          <p:attrName>style.visibility</p:attrName>
                                        </p:attrNameLst>
                                      </p:cBhvr>
                                      <p:to>
                                        <p:strVal val="hidden"/>
                                      </p:to>
                                    </p:set>
                                  </p:childTnLst>
                                </p:cTn>
                              </p:par>
                            </p:childTnLst>
                          </p:cTn>
                        </p:par>
                        <p:par>
                          <p:cTn id="159" fill="hold">
                            <p:stCondLst>
                              <p:cond delay="500"/>
                            </p:stCondLst>
                            <p:childTnLst>
                              <p:par>
                                <p:cTn id="160" presetID="10" presetClass="entr" presetSubtype="0" fill="hold" grpId="0" nodeType="afterEffect">
                                  <p:stCondLst>
                                    <p:cond delay="0"/>
                                  </p:stCondLst>
                                  <p:childTnLst>
                                    <p:set>
                                      <p:cBhvr>
                                        <p:cTn id="161" dur="1" fill="hold">
                                          <p:stCondLst>
                                            <p:cond delay="0"/>
                                          </p:stCondLst>
                                        </p:cTn>
                                        <p:tgtEl>
                                          <p:spTgt spid="76"/>
                                        </p:tgtEl>
                                        <p:attrNameLst>
                                          <p:attrName>style.visibility</p:attrName>
                                        </p:attrNameLst>
                                      </p:cBhvr>
                                      <p:to>
                                        <p:strVal val="visible"/>
                                      </p:to>
                                    </p:set>
                                    <p:animEffect transition="in" filter="fade">
                                      <p:cBhvr>
                                        <p:cTn id="162" dur="500"/>
                                        <p:tgtEl>
                                          <p:spTgt spid="76"/>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67"/>
                                        </p:tgtEl>
                                        <p:attrNameLst>
                                          <p:attrName>style.visibility</p:attrName>
                                        </p:attrNameLst>
                                      </p:cBhvr>
                                      <p:to>
                                        <p:strVal val="visible"/>
                                      </p:to>
                                    </p:set>
                                    <p:animEffect transition="in" filter="fade">
                                      <p:cBhvr>
                                        <p:cTn id="167" dur="500"/>
                                        <p:tgtEl>
                                          <p:spTgt spid="67"/>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xit" presetSubtype="0" fill="hold" grpId="1" nodeType="clickEffect">
                                  <p:stCondLst>
                                    <p:cond delay="0"/>
                                  </p:stCondLst>
                                  <p:childTnLst>
                                    <p:animEffect transition="out" filter="fade">
                                      <p:cBhvr>
                                        <p:cTn id="171" dur="500"/>
                                        <p:tgtEl>
                                          <p:spTgt spid="76"/>
                                        </p:tgtEl>
                                      </p:cBhvr>
                                    </p:animEffect>
                                    <p:set>
                                      <p:cBhvr>
                                        <p:cTn id="172" dur="1" fill="hold">
                                          <p:stCondLst>
                                            <p:cond delay="499"/>
                                          </p:stCondLst>
                                        </p:cTn>
                                        <p:tgtEl>
                                          <p:spTgt spid="76"/>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68"/>
                                        </p:tgtEl>
                                        <p:attrNameLst>
                                          <p:attrName>style.visibility</p:attrName>
                                        </p:attrNameLst>
                                      </p:cBhvr>
                                      <p:to>
                                        <p:strVal val="visible"/>
                                      </p:to>
                                    </p:set>
                                    <p:animEffect transition="in" filter="fade">
                                      <p:cBhvr>
                                        <p:cTn id="177" dur="500"/>
                                        <p:tgtEl>
                                          <p:spTgt spid="68"/>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grpId="0" nodeType="clickEffect">
                                  <p:stCondLst>
                                    <p:cond delay="0"/>
                                  </p:stCondLst>
                                  <p:childTnLst>
                                    <p:set>
                                      <p:cBhvr>
                                        <p:cTn id="181" dur="1" fill="hold">
                                          <p:stCondLst>
                                            <p:cond delay="0"/>
                                          </p:stCondLst>
                                        </p:cTn>
                                        <p:tgtEl>
                                          <p:spTgt spid="62"/>
                                        </p:tgtEl>
                                        <p:attrNameLst>
                                          <p:attrName>style.visibility</p:attrName>
                                        </p:attrNameLst>
                                      </p:cBhvr>
                                      <p:to>
                                        <p:strVal val="visible"/>
                                      </p:to>
                                    </p:set>
                                    <p:animEffect transition="in" filter="fade">
                                      <p:cBhvr>
                                        <p:cTn id="182" dur="500"/>
                                        <p:tgtEl>
                                          <p:spTgt spid="6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18"/>
                                        </p:tgtEl>
                                        <p:attrNameLst>
                                          <p:attrName>style.visibility</p:attrName>
                                        </p:attrNameLst>
                                      </p:cBhvr>
                                      <p:to>
                                        <p:strVal val="visible"/>
                                      </p:to>
                                    </p:set>
                                    <p:animEffect transition="in" filter="fade">
                                      <p:cBhvr>
                                        <p:cTn id="185" dur="500"/>
                                        <p:tgtEl>
                                          <p:spTgt spid="18"/>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1"/>
                                        </p:tgtEl>
                                        <p:attrNameLst>
                                          <p:attrName>style.visibility</p:attrName>
                                        </p:attrNameLst>
                                      </p:cBhvr>
                                      <p:to>
                                        <p:strVal val="visible"/>
                                      </p:to>
                                    </p:set>
                                    <p:animEffect transition="in" filter="fade">
                                      <p:cBhvr>
                                        <p:cTn id="188" dur="500"/>
                                        <p:tgtEl>
                                          <p:spTgt spid="61"/>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2" nodeType="click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500"/>
                                        <p:tgtEl>
                                          <p:spTgt spid="70"/>
                                        </p:tgtEl>
                                      </p:cBhvr>
                                    </p:animEffect>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49"/>
                                        </p:tgtEl>
                                        <p:attrNameLst>
                                          <p:attrName>style.visibility</p:attrName>
                                        </p:attrNameLst>
                                      </p:cBhvr>
                                      <p:to>
                                        <p:strVal val="visible"/>
                                      </p:to>
                                    </p:set>
                                    <p:animEffect transition="in" filter="fade">
                                      <p:cBhvr>
                                        <p:cTn id="198" dur="500"/>
                                        <p:tgtEl>
                                          <p:spTgt spid="4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13"/>
                                        </p:tgtEl>
                                        <p:attrNameLst>
                                          <p:attrName>style.visibility</p:attrName>
                                        </p:attrNameLst>
                                      </p:cBhvr>
                                      <p:to>
                                        <p:strVal val="visible"/>
                                      </p:to>
                                    </p:set>
                                    <p:animEffect transition="in" filter="fade">
                                      <p:cBhvr>
                                        <p:cTn id="201" dur="500"/>
                                        <p:tgtEl>
                                          <p:spTgt spid="1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43"/>
                                        </p:tgtEl>
                                        <p:attrNameLst>
                                          <p:attrName>style.visibility</p:attrName>
                                        </p:attrNameLst>
                                      </p:cBhvr>
                                      <p:to>
                                        <p:strVal val="visible"/>
                                      </p:to>
                                    </p:set>
                                    <p:animEffect transition="in" filter="fade">
                                      <p:cBhvr>
                                        <p:cTn id="204" dur="500"/>
                                        <p:tgtEl>
                                          <p:spTgt spid="43"/>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46"/>
                                        </p:tgtEl>
                                        <p:attrNameLst>
                                          <p:attrName>style.visibility</p:attrName>
                                        </p:attrNameLst>
                                      </p:cBhvr>
                                      <p:to>
                                        <p:strVal val="visible"/>
                                      </p:to>
                                    </p:set>
                                    <p:animEffect transition="in" filter="fade">
                                      <p:cBhvr>
                                        <p:cTn id="207" dur="500"/>
                                        <p:tgtEl>
                                          <p:spTgt spid="46"/>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xit" presetSubtype="0" fill="hold" grpId="3" nodeType="clickEffect">
                                  <p:stCondLst>
                                    <p:cond delay="0"/>
                                  </p:stCondLst>
                                  <p:childTnLst>
                                    <p:animEffect transition="out" filter="fade">
                                      <p:cBhvr>
                                        <p:cTn id="211" dur="500"/>
                                        <p:tgtEl>
                                          <p:spTgt spid="70"/>
                                        </p:tgtEl>
                                      </p:cBhvr>
                                    </p:animEffect>
                                    <p:set>
                                      <p:cBhvr>
                                        <p:cTn id="212" dur="1" fill="hold">
                                          <p:stCondLst>
                                            <p:cond delay="499"/>
                                          </p:stCondLst>
                                        </p:cTn>
                                        <p:tgtEl>
                                          <p:spTgt spid="70"/>
                                        </p:tgtEl>
                                        <p:attrNameLst>
                                          <p:attrName>style.visibility</p:attrName>
                                        </p:attrNameLst>
                                      </p:cBhvr>
                                      <p:to>
                                        <p:strVal val="hidden"/>
                                      </p:to>
                                    </p:set>
                                  </p:childTnLst>
                                </p:cTn>
                              </p:par>
                            </p:childTnLst>
                          </p:cTn>
                        </p:par>
                        <p:par>
                          <p:cTn id="213" fill="hold">
                            <p:stCondLst>
                              <p:cond delay="500"/>
                            </p:stCondLst>
                            <p:childTnLst>
                              <p:par>
                                <p:cTn id="214" presetID="10" presetClass="entr" presetSubtype="0" fill="hold" grpId="2" nodeType="afterEffect">
                                  <p:stCondLst>
                                    <p:cond delay="0"/>
                                  </p:stCondLst>
                                  <p:childTnLst>
                                    <p:set>
                                      <p:cBhvr>
                                        <p:cTn id="215" dur="1" fill="hold">
                                          <p:stCondLst>
                                            <p:cond delay="0"/>
                                          </p:stCondLst>
                                        </p:cTn>
                                        <p:tgtEl>
                                          <p:spTgt spid="71"/>
                                        </p:tgtEl>
                                        <p:attrNameLst>
                                          <p:attrName>style.visibility</p:attrName>
                                        </p:attrNameLst>
                                      </p:cBhvr>
                                      <p:to>
                                        <p:strVal val="visible"/>
                                      </p:to>
                                    </p:set>
                                    <p:animEffect transition="in" filter="fade">
                                      <p:cBhvr>
                                        <p:cTn id="216" dur="500"/>
                                        <p:tgtEl>
                                          <p:spTgt spid="71"/>
                                        </p:tgtEl>
                                      </p:cBhvr>
                                    </p:animEffect>
                                  </p:childTnLst>
                                </p:cTn>
                              </p:par>
                            </p:childTnLst>
                          </p:cTn>
                        </p:par>
                      </p:childTnLst>
                    </p:cTn>
                  </p:par>
                  <p:par>
                    <p:cTn id="217" fill="hold">
                      <p:stCondLst>
                        <p:cond delay="indefinite"/>
                      </p:stCondLst>
                      <p:childTnLst>
                        <p:par>
                          <p:cTn id="218" fill="hold">
                            <p:stCondLst>
                              <p:cond delay="0"/>
                            </p:stCondLst>
                            <p:childTnLst>
                              <p:par>
                                <p:cTn id="219" presetID="10" presetClass="entr" presetSubtype="0" fill="hold" grpId="0" nodeType="clickEffect">
                                  <p:stCondLst>
                                    <p:cond delay="0"/>
                                  </p:stCondLst>
                                  <p:childTnLst>
                                    <p:set>
                                      <p:cBhvr>
                                        <p:cTn id="220" dur="1" fill="hold">
                                          <p:stCondLst>
                                            <p:cond delay="0"/>
                                          </p:stCondLst>
                                        </p:cTn>
                                        <p:tgtEl>
                                          <p:spTgt spid="64"/>
                                        </p:tgtEl>
                                        <p:attrNameLst>
                                          <p:attrName>style.visibility</p:attrName>
                                        </p:attrNameLst>
                                      </p:cBhvr>
                                      <p:to>
                                        <p:strVal val="visible"/>
                                      </p:to>
                                    </p:set>
                                    <p:animEffect transition="in" filter="fade">
                                      <p:cBhvr>
                                        <p:cTn id="221" dur="500"/>
                                        <p:tgtEl>
                                          <p:spTgt spid="64"/>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63"/>
                                        </p:tgtEl>
                                        <p:attrNameLst>
                                          <p:attrName>style.visibility</p:attrName>
                                        </p:attrNameLst>
                                      </p:cBhvr>
                                      <p:to>
                                        <p:strVal val="visible"/>
                                      </p:to>
                                    </p:set>
                                    <p:animEffect transition="in" filter="fade">
                                      <p:cBhvr>
                                        <p:cTn id="224" dur="500"/>
                                        <p:tgtEl>
                                          <p:spTgt spid="63"/>
                                        </p:tgtEl>
                                      </p:cBhvr>
                                    </p:animEffect>
                                  </p:childTnLst>
                                </p:cTn>
                              </p:par>
                            </p:childTnLst>
                          </p:cTn>
                        </p:par>
                      </p:childTnLst>
                    </p:cTn>
                  </p:par>
                  <p:par>
                    <p:cTn id="225" fill="hold">
                      <p:stCondLst>
                        <p:cond delay="indefinite"/>
                      </p:stCondLst>
                      <p:childTnLst>
                        <p:par>
                          <p:cTn id="226" fill="hold">
                            <p:stCondLst>
                              <p:cond delay="0"/>
                            </p:stCondLst>
                            <p:childTnLst>
                              <p:par>
                                <p:cTn id="227" presetID="10" presetClass="exit" presetSubtype="0" fill="hold" grpId="3" nodeType="clickEffect">
                                  <p:stCondLst>
                                    <p:cond delay="0"/>
                                  </p:stCondLst>
                                  <p:childTnLst>
                                    <p:animEffect transition="out" filter="fade">
                                      <p:cBhvr>
                                        <p:cTn id="228" dur="500"/>
                                        <p:tgtEl>
                                          <p:spTgt spid="71"/>
                                        </p:tgtEl>
                                      </p:cBhvr>
                                    </p:animEffect>
                                    <p:set>
                                      <p:cBhvr>
                                        <p:cTn id="229" dur="1" fill="hold">
                                          <p:stCondLst>
                                            <p:cond delay="499"/>
                                          </p:stCondLst>
                                        </p:cTn>
                                        <p:tgtEl>
                                          <p:spTgt spid="71"/>
                                        </p:tgtEl>
                                        <p:attrNameLst>
                                          <p:attrName>style.visibility</p:attrName>
                                        </p:attrNameLst>
                                      </p:cBhvr>
                                      <p:to>
                                        <p:strVal val="hidden"/>
                                      </p:to>
                                    </p:set>
                                  </p:childTnLst>
                                </p:cTn>
                              </p:par>
                            </p:childTnLst>
                          </p:cTn>
                        </p:par>
                        <p:par>
                          <p:cTn id="230" fill="hold">
                            <p:stCondLst>
                              <p:cond delay="500"/>
                            </p:stCondLst>
                            <p:childTnLst>
                              <p:par>
                                <p:cTn id="231" presetID="10" presetClass="entr" presetSubtype="0" fill="hold" grpId="2" nodeType="afterEffect">
                                  <p:stCondLst>
                                    <p:cond delay="0"/>
                                  </p:stCondLst>
                                  <p:childTnLst>
                                    <p:set>
                                      <p:cBhvr>
                                        <p:cTn id="232" dur="1" fill="hold">
                                          <p:stCondLst>
                                            <p:cond delay="0"/>
                                          </p:stCondLst>
                                        </p:cTn>
                                        <p:tgtEl>
                                          <p:spTgt spid="72"/>
                                        </p:tgtEl>
                                        <p:attrNameLst>
                                          <p:attrName>style.visibility</p:attrName>
                                        </p:attrNameLst>
                                      </p:cBhvr>
                                      <p:to>
                                        <p:strVal val="visible"/>
                                      </p:to>
                                    </p:set>
                                    <p:animEffect transition="in" filter="fade">
                                      <p:cBhvr>
                                        <p:cTn id="233" dur="500"/>
                                        <p:tgtEl>
                                          <p:spTgt spid="72"/>
                                        </p:tgtEl>
                                      </p:cBhvr>
                                    </p:animEffect>
                                  </p:childTnLst>
                                </p:cTn>
                              </p:par>
                            </p:childTnLst>
                          </p:cTn>
                        </p:par>
                      </p:childTnLst>
                    </p:cTn>
                  </p:par>
                  <p:par>
                    <p:cTn id="234" fill="hold">
                      <p:stCondLst>
                        <p:cond delay="indefinite"/>
                      </p:stCondLst>
                      <p:childTnLst>
                        <p:par>
                          <p:cTn id="235" fill="hold">
                            <p:stCondLst>
                              <p:cond delay="0"/>
                            </p:stCondLst>
                            <p:childTnLst>
                              <p:par>
                                <p:cTn id="236" presetID="10" presetClass="entr" presetSubtype="0" fill="hold" grpId="0" nodeType="clickEffect">
                                  <p:stCondLst>
                                    <p:cond delay="0"/>
                                  </p:stCondLst>
                                  <p:childTnLst>
                                    <p:set>
                                      <p:cBhvr>
                                        <p:cTn id="237" dur="1" fill="hold">
                                          <p:stCondLst>
                                            <p:cond delay="0"/>
                                          </p:stCondLst>
                                        </p:cTn>
                                        <p:tgtEl>
                                          <p:spTgt spid="50"/>
                                        </p:tgtEl>
                                        <p:attrNameLst>
                                          <p:attrName>style.visibility</p:attrName>
                                        </p:attrNameLst>
                                      </p:cBhvr>
                                      <p:to>
                                        <p:strVal val="visible"/>
                                      </p:to>
                                    </p:set>
                                    <p:animEffect transition="in" filter="fade">
                                      <p:cBhvr>
                                        <p:cTn id="238" dur="500"/>
                                        <p:tgtEl>
                                          <p:spTgt spid="50"/>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14"/>
                                        </p:tgtEl>
                                        <p:attrNameLst>
                                          <p:attrName>style.visibility</p:attrName>
                                        </p:attrNameLst>
                                      </p:cBhvr>
                                      <p:to>
                                        <p:strVal val="visible"/>
                                      </p:to>
                                    </p:set>
                                    <p:animEffect transition="in" filter="fade">
                                      <p:cBhvr>
                                        <p:cTn id="241" dur="500"/>
                                        <p:tgtEl>
                                          <p:spTgt spid="14"/>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44"/>
                                        </p:tgtEl>
                                        <p:attrNameLst>
                                          <p:attrName>style.visibility</p:attrName>
                                        </p:attrNameLst>
                                      </p:cBhvr>
                                      <p:to>
                                        <p:strVal val="visible"/>
                                      </p:to>
                                    </p:set>
                                    <p:animEffect transition="in" filter="fade">
                                      <p:cBhvr>
                                        <p:cTn id="244" dur="500"/>
                                        <p:tgtEl>
                                          <p:spTgt spid="44"/>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47"/>
                                        </p:tgtEl>
                                        <p:attrNameLst>
                                          <p:attrName>style.visibility</p:attrName>
                                        </p:attrNameLst>
                                      </p:cBhvr>
                                      <p:to>
                                        <p:strVal val="visible"/>
                                      </p:to>
                                    </p:set>
                                    <p:animEffect transition="in" filter="fade">
                                      <p:cBhvr>
                                        <p:cTn id="247" dur="500"/>
                                        <p:tgtEl>
                                          <p:spTgt spid="47"/>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48"/>
                                        </p:tgtEl>
                                        <p:attrNameLst>
                                          <p:attrName>style.visibility</p:attrName>
                                        </p:attrNameLst>
                                      </p:cBhvr>
                                      <p:to>
                                        <p:strVal val="visible"/>
                                      </p:to>
                                    </p:set>
                                    <p:animEffect transition="in" filter="fade">
                                      <p:cBhvr>
                                        <p:cTn id="250" dur="500"/>
                                        <p:tgtEl>
                                          <p:spTgt spid="48"/>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xit" presetSubtype="0" fill="hold" grpId="3" nodeType="clickEffect">
                                  <p:stCondLst>
                                    <p:cond delay="0"/>
                                  </p:stCondLst>
                                  <p:childTnLst>
                                    <p:animEffect transition="out" filter="fade">
                                      <p:cBhvr>
                                        <p:cTn id="254" dur="500"/>
                                        <p:tgtEl>
                                          <p:spTgt spid="72"/>
                                        </p:tgtEl>
                                      </p:cBhvr>
                                    </p:animEffect>
                                    <p:set>
                                      <p:cBhvr>
                                        <p:cTn id="255" dur="1" fill="hold">
                                          <p:stCondLst>
                                            <p:cond delay="499"/>
                                          </p:stCondLst>
                                        </p:cTn>
                                        <p:tgtEl>
                                          <p:spTgt spid="72"/>
                                        </p:tgtEl>
                                        <p:attrNameLst>
                                          <p:attrName>style.visibility</p:attrName>
                                        </p:attrNameLst>
                                      </p:cBhvr>
                                      <p:to>
                                        <p:strVal val="hidden"/>
                                      </p:to>
                                    </p:set>
                                  </p:childTnLst>
                                </p:cTn>
                              </p:par>
                            </p:childTnLst>
                          </p:cTn>
                        </p:par>
                        <p:par>
                          <p:cTn id="256" fill="hold">
                            <p:stCondLst>
                              <p:cond delay="500"/>
                            </p:stCondLst>
                            <p:childTnLst>
                              <p:par>
                                <p:cTn id="257" presetID="10" presetClass="entr" presetSubtype="0" fill="hold" grpId="2" nodeType="afterEffect">
                                  <p:stCondLst>
                                    <p:cond delay="0"/>
                                  </p:stCondLst>
                                  <p:childTnLst>
                                    <p:set>
                                      <p:cBhvr>
                                        <p:cTn id="258" dur="1" fill="hold">
                                          <p:stCondLst>
                                            <p:cond delay="0"/>
                                          </p:stCondLst>
                                        </p:cTn>
                                        <p:tgtEl>
                                          <p:spTgt spid="73"/>
                                        </p:tgtEl>
                                        <p:attrNameLst>
                                          <p:attrName>style.visibility</p:attrName>
                                        </p:attrNameLst>
                                      </p:cBhvr>
                                      <p:to>
                                        <p:strVal val="visible"/>
                                      </p:to>
                                    </p:set>
                                    <p:animEffect transition="in" filter="fade">
                                      <p:cBhvr>
                                        <p:cTn id="259" dur="500"/>
                                        <p:tgtEl>
                                          <p:spTgt spid="73"/>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grpId="0" nodeType="clickEffect">
                                  <p:stCondLst>
                                    <p:cond delay="0"/>
                                  </p:stCondLst>
                                  <p:childTnLst>
                                    <p:set>
                                      <p:cBhvr>
                                        <p:cTn id="263" dur="1" fill="hold">
                                          <p:stCondLst>
                                            <p:cond delay="0"/>
                                          </p:stCondLst>
                                        </p:cTn>
                                        <p:tgtEl>
                                          <p:spTgt spid="15"/>
                                        </p:tgtEl>
                                        <p:attrNameLst>
                                          <p:attrName>style.visibility</p:attrName>
                                        </p:attrNameLst>
                                      </p:cBhvr>
                                      <p:to>
                                        <p:strVal val="visible"/>
                                      </p:to>
                                    </p:set>
                                    <p:animEffect transition="in" filter="fade">
                                      <p:cBhvr>
                                        <p:cTn id="264" dur="500"/>
                                        <p:tgtEl>
                                          <p:spTgt spid="15"/>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45"/>
                                        </p:tgtEl>
                                        <p:attrNameLst>
                                          <p:attrName>style.visibility</p:attrName>
                                        </p:attrNameLst>
                                      </p:cBhvr>
                                      <p:to>
                                        <p:strVal val="visible"/>
                                      </p:to>
                                    </p:set>
                                    <p:animEffect transition="in" filter="fade">
                                      <p:cBhvr>
                                        <p:cTn id="267" dur="500"/>
                                        <p:tgtEl>
                                          <p:spTgt spid="45"/>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52"/>
                                        </p:tgtEl>
                                        <p:attrNameLst>
                                          <p:attrName>style.visibility</p:attrName>
                                        </p:attrNameLst>
                                      </p:cBhvr>
                                      <p:to>
                                        <p:strVal val="visible"/>
                                      </p:to>
                                    </p:set>
                                    <p:animEffect transition="in" filter="fade">
                                      <p:cBhvr>
                                        <p:cTn id="270" dur="500"/>
                                        <p:tgtEl>
                                          <p:spTgt spid="52"/>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53"/>
                                        </p:tgtEl>
                                        <p:attrNameLst>
                                          <p:attrName>style.visibility</p:attrName>
                                        </p:attrNameLst>
                                      </p:cBhvr>
                                      <p:to>
                                        <p:strVal val="visible"/>
                                      </p:to>
                                    </p:set>
                                    <p:animEffect transition="in" filter="fade">
                                      <p:cBhvr>
                                        <p:cTn id="273" dur="500"/>
                                        <p:tgtEl>
                                          <p:spTgt spid="53"/>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54"/>
                                        </p:tgtEl>
                                        <p:attrNameLst>
                                          <p:attrName>style.visibility</p:attrName>
                                        </p:attrNameLst>
                                      </p:cBhvr>
                                      <p:to>
                                        <p:strVal val="visible"/>
                                      </p:to>
                                    </p:set>
                                    <p:animEffect transition="in" filter="fade">
                                      <p:cBhvr>
                                        <p:cTn id="276" dur="500"/>
                                        <p:tgtEl>
                                          <p:spTgt spid="54"/>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51"/>
                                        </p:tgtEl>
                                        <p:attrNameLst>
                                          <p:attrName>style.visibility</p:attrName>
                                        </p:attrNameLst>
                                      </p:cBhvr>
                                      <p:to>
                                        <p:strVal val="visible"/>
                                      </p:to>
                                    </p:set>
                                    <p:animEffect transition="in" filter="fade">
                                      <p:cBhvr>
                                        <p:cTn id="279" dur="500"/>
                                        <p:tgtEl>
                                          <p:spTgt spid="51"/>
                                        </p:tgtEl>
                                      </p:cBhvr>
                                    </p:animEffect>
                                  </p:childTnLst>
                                </p:cTn>
                              </p:par>
                            </p:childTnLst>
                          </p:cTn>
                        </p:par>
                      </p:childTnLst>
                    </p:cTn>
                  </p:par>
                  <p:par>
                    <p:cTn id="280" fill="hold">
                      <p:stCondLst>
                        <p:cond delay="indefinite"/>
                      </p:stCondLst>
                      <p:childTnLst>
                        <p:par>
                          <p:cTn id="281" fill="hold">
                            <p:stCondLst>
                              <p:cond delay="0"/>
                            </p:stCondLst>
                            <p:childTnLst>
                              <p:par>
                                <p:cTn id="282" presetID="10" presetClass="exit" presetSubtype="0" fill="hold" grpId="3" nodeType="clickEffect">
                                  <p:stCondLst>
                                    <p:cond delay="0"/>
                                  </p:stCondLst>
                                  <p:childTnLst>
                                    <p:animEffect transition="out" filter="fade">
                                      <p:cBhvr>
                                        <p:cTn id="283" dur="500"/>
                                        <p:tgtEl>
                                          <p:spTgt spid="73"/>
                                        </p:tgtEl>
                                      </p:cBhvr>
                                    </p:animEffect>
                                    <p:set>
                                      <p:cBhvr>
                                        <p:cTn id="284" dur="1" fill="hold">
                                          <p:stCondLst>
                                            <p:cond delay="499"/>
                                          </p:stCondLst>
                                        </p:cTn>
                                        <p:tgtEl>
                                          <p:spTgt spid="73"/>
                                        </p:tgtEl>
                                        <p:attrNameLst>
                                          <p:attrName>style.visibility</p:attrName>
                                        </p:attrNameLst>
                                      </p:cBhvr>
                                      <p:to>
                                        <p:strVal val="hidden"/>
                                      </p:to>
                                    </p:set>
                                  </p:childTnLst>
                                </p:cTn>
                              </p:par>
                            </p:childTnLst>
                          </p:cTn>
                        </p:par>
                        <p:par>
                          <p:cTn id="285" fill="hold">
                            <p:stCondLst>
                              <p:cond delay="500"/>
                            </p:stCondLst>
                            <p:childTnLst>
                              <p:par>
                                <p:cTn id="286" presetID="10" presetClass="entr" presetSubtype="0" fill="hold" grpId="2" nodeType="afterEffect">
                                  <p:stCondLst>
                                    <p:cond delay="0"/>
                                  </p:stCondLst>
                                  <p:childTnLst>
                                    <p:set>
                                      <p:cBhvr>
                                        <p:cTn id="287" dur="1" fill="hold">
                                          <p:stCondLst>
                                            <p:cond delay="0"/>
                                          </p:stCondLst>
                                        </p:cTn>
                                        <p:tgtEl>
                                          <p:spTgt spid="74"/>
                                        </p:tgtEl>
                                        <p:attrNameLst>
                                          <p:attrName>style.visibility</p:attrName>
                                        </p:attrNameLst>
                                      </p:cBhvr>
                                      <p:to>
                                        <p:strVal val="visible"/>
                                      </p:to>
                                    </p:set>
                                    <p:animEffect transition="in" filter="fade">
                                      <p:cBhvr>
                                        <p:cTn id="288" dur="500"/>
                                        <p:tgtEl>
                                          <p:spTgt spid="74"/>
                                        </p:tgtEl>
                                      </p:cBhvr>
                                    </p:animEffect>
                                  </p:childTnLst>
                                </p:cTn>
                              </p:par>
                            </p:childTnLst>
                          </p:cTn>
                        </p:par>
                      </p:childTnLst>
                    </p:cTn>
                  </p:par>
                  <p:par>
                    <p:cTn id="289" fill="hold">
                      <p:stCondLst>
                        <p:cond delay="indefinite"/>
                      </p:stCondLst>
                      <p:childTnLst>
                        <p:par>
                          <p:cTn id="290" fill="hold">
                            <p:stCondLst>
                              <p:cond delay="0"/>
                            </p:stCondLst>
                            <p:childTnLst>
                              <p:par>
                                <p:cTn id="291" presetID="10" presetClass="entr" presetSubtype="0" fill="hold" grpId="0" nodeType="clickEffect">
                                  <p:stCondLst>
                                    <p:cond delay="0"/>
                                  </p:stCondLst>
                                  <p:childTnLst>
                                    <p:set>
                                      <p:cBhvr>
                                        <p:cTn id="292" dur="1" fill="hold">
                                          <p:stCondLst>
                                            <p:cond delay="0"/>
                                          </p:stCondLst>
                                        </p:cTn>
                                        <p:tgtEl>
                                          <p:spTgt spid="55"/>
                                        </p:tgtEl>
                                        <p:attrNameLst>
                                          <p:attrName>style.visibility</p:attrName>
                                        </p:attrNameLst>
                                      </p:cBhvr>
                                      <p:to>
                                        <p:strVal val="visible"/>
                                      </p:to>
                                    </p:set>
                                    <p:animEffect transition="in" filter="fade">
                                      <p:cBhvr>
                                        <p:cTn id="293" dur="500"/>
                                        <p:tgtEl>
                                          <p:spTgt spid="55"/>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56"/>
                                        </p:tgtEl>
                                        <p:attrNameLst>
                                          <p:attrName>style.visibility</p:attrName>
                                        </p:attrNameLst>
                                      </p:cBhvr>
                                      <p:to>
                                        <p:strVal val="visible"/>
                                      </p:to>
                                    </p:set>
                                    <p:animEffect transition="in" filter="fade">
                                      <p:cBhvr>
                                        <p:cTn id="296" dur="500"/>
                                        <p:tgtEl>
                                          <p:spTgt spid="56"/>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66"/>
                                        </p:tgtEl>
                                        <p:attrNameLst>
                                          <p:attrName>style.visibility</p:attrName>
                                        </p:attrNameLst>
                                      </p:cBhvr>
                                      <p:to>
                                        <p:strVal val="visible"/>
                                      </p:to>
                                    </p:set>
                                    <p:animEffect transition="in" filter="fade">
                                      <p:cBhvr>
                                        <p:cTn id="299" dur="500"/>
                                        <p:tgtEl>
                                          <p:spTgt spid="66"/>
                                        </p:tgtEl>
                                      </p:cBhvr>
                                    </p:animEffect>
                                  </p:childTnLst>
                                </p:cTn>
                              </p:par>
                              <p:par>
                                <p:cTn id="300" presetID="10" presetClass="entr" presetSubtype="0" fill="hold" grpId="0" nodeType="withEffect">
                                  <p:stCondLst>
                                    <p:cond delay="0"/>
                                  </p:stCondLst>
                                  <p:childTnLst>
                                    <p:set>
                                      <p:cBhvr>
                                        <p:cTn id="301" dur="1" fill="hold">
                                          <p:stCondLst>
                                            <p:cond delay="0"/>
                                          </p:stCondLst>
                                        </p:cTn>
                                        <p:tgtEl>
                                          <p:spTgt spid="16"/>
                                        </p:tgtEl>
                                        <p:attrNameLst>
                                          <p:attrName>style.visibility</p:attrName>
                                        </p:attrNameLst>
                                      </p:cBhvr>
                                      <p:to>
                                        <p:strVal val="visible"/>
                                      </p:to>
                                    </p:set>
                                    <p:animEffect transition="in" filter="fade">
                                      <p:cBhvr>
                                        <p:cTn id="302" dur="500"/>
                                        <p:tgtEl>
                                          <p:spTgt spid="16"/>
                                        </p:tgtEl>
                                      </p:cBhvr>
                                    </p:animEffect>
                                  </p:childTnLst>
                                </p:cTn>
                              </p:par>
                              <p:par>
                                <p:cTn id="303" presetID="10" presetClass="entr" presetSubtype="0" fill="hold" grpId="0" nodeType="withEffect">
                                  <p:stCondLst>
                                    <p:cond delay="0"/>
                                  </p:stCondLst>
                                  <p:childTnLst>
                                    <p:set>
                                      <p:cBhvr>
                                        <p:cTn id="304" dur="1" fill="hold">
                                          <p:stCondLst>
                                            <p:cond delay="0"/>
                                          </p:stCondLst>
                                        </p:cTn>
                                        <p:tgtEl>
                                          <p:spTgt spid="59"/>
                                        </p:tgtEl>
                                        <p:attrNameLst>
                                          <p:attrName>style.visibility</p:attrName>
                                        </p:attrNameLst>
                                      </p:cBhvr>
                                      <p:to>
                                        <p:strVal val="visible"/>
                                      </p:to>
                                    </p:set>
                                    <p:animEffect transition="in" filter="fade">
                                      <p:cBhvr>
                                        <p:cTn id="305" dur="500"/>
                                        <p:tgtEl>
                                          <p:spTgt spid="59"/>
                                        </p:tgtEl>
                                      </p:cBhvr>
                                    </p:animEffect>
                                  </p:childTnLst>
                                </p:cTn>
                              </p:par>
                              <p:par>
                                <p:cTn id="306" presetID="10" presetClass="entr" presetSubtype="0" fill="hold" grpId="0" nodeType="withEffect">
                                  <p:stCondLst>
                                    <p:cond delay="0"/>
                                  </p:stCondLst>
                                  <p:childTnLst>
                                    <p:set>
                                      <p:cBhvr>
                                        <p:cTn id="307" dur="1" fill="hold">
                                          <p:stCondLst>
                                            <p:cond delay="0"/>
                                          </p:stCondLst>
                                        </p:cTn>
                                        <p:tgtEl>
                                          <p:spTgt spid="60"/>
                                        </p:tgtEl>
                                        <p:attrNameLst>
                                          <p:attrName>style.visibility</p:attrName>
                                        </p:attrNameLst>
                                      </p:cBhvr>
                                      <p:to>
                                        <p:strVal val="visible"/>
                                      </p:to>
                                    </p:set>
                                    <p:animEffect transition="in" filter="fade">
                                      <p:cBhvr>
                                        <p:cTn id="308" dur="500"/>
                                        <p:tgtEl>
                                          <p:spTgt spid="60"/>
                                        </p:tgtEl>
                                      </p:cBhvr>
                                    </p:animEffect>
                                  </p:childTnLst>
                                </p:cTn>
                              </p:par>
                            </p:childTnLst>
                          </p:cTn>
                        </p:par>
                      </p:childTnLst>
                    </p:cTn>
                  </p:par>
                  <p:par>
                    <p:cTn id="309" fill="hold">
                      <p:stCondLst>
                        <p:cond delay="indefinite"/>
                      </p:stCondLst>
                      <p:childTnLst>
                        <p:par>
                          <p:cTn id="310" fill="hold">
                            <p:stCondLst>
                              <p:cond delay="0"/>
                            </p:stCondLst>
                            <p:childTnLst>
                              <p:par>
                                <p:cTn id="311" presetID="10" presetClass="exit" presetSubtype="0" fill="hold" grpId="3" nodeType="clickEffect">
                                  <p:stCondLst>
                                    <p:cond delay="0"/>
                                  </p:stCondLst>
                                  <p:childTnLst>
                                    <p:animEffect transition="out" filter="fade">
                                      <p:cBhvr>
                                        <p:cTn id="312" dur="500"/>
                                        <p:tgtEl>
                                          <p:spTgt spid="74"/>
                                        </p:tgtEl>
                                      </p:cBhvr>
                                    </p:animEffect>
                                    <p:set>
                                      <p:cBhvr>
                                        <p:cTn id="313" dur="1" fill="hold">
                                          <p:stCondLst>
                                            <p:cond delay="499"/>
                                          </p:stCondLst>
                                        </p:cTn>
                                        <p:tgtEl>
                                          <p:spTgt spid="74"/>
                                        </p:tgtEl>
                                        <p:attrNameLst>
                                          <p:attrName>style.visibility</p:attrName>
                                        </p:attrNameLst>
                                      </p:cBhvr>
                                      <p:to>
                                        <p:strVal val="hidden"/>
                                      </p:to>
                                    </p:set>
                                  </p:childTnLst>
                                </p:cTn>
                              </p:par>
                            </p:childTnLst>
                          </p:cTn>
                        </p:par>
                        <p:par>
                          <p:cTn id="314" fill="hold">
                            <p:stCondLst>
                              <p:cond delay="500"/>
                            </p:stCondLst>
                            <p:childTnLst>
                              <p:par>
                                <p:cTn id="315" presetID="10" presetClass="entr" presetSubtype="0" fill="hold" grpId="2" nodeType="afterEffect">
                                  <p:stCondLst>
                                    <p:cond delay="0"/>
                                  </p:stCondLst>
                                  <p:childTnLst>
                                    <p:set>
                                      <p:cBhvr>
                                        <p:cTn id="316" dur="1" fill="hold">
                                          <p:stCondLst>
                                            <p:cond delay="0"/>
                                          </p:stCondLst>
                                        </p:cTn>
                                        <p:tgtEl>
                                          <p:spTgt spid="75"/>
                                        </p:tgtEl>
                                        <p:attrNameLst>
                                          <p:attrName>style.visibility</p:attrName>
                                        </p:attrNameLst>
                                      </p:cBhvr>
                                      <p:to>
                                        <p:strVal val="visible"/>
                                      </p:to>
                                    </p:set>
                                    <p:animEffect transition="in" filter="fade">
                                      <p:cBhvr>
                                        <p:cTn id="317" dur="500"/>
                                        <p:tgtEl>
                                          <p:spTgt spid="75"/>
                                        </p:tgtEl>
                                      </p:cBhvr>
                                    </p:animEffect>
                                  </p:childTnLst>
                                </p:cTn>
                              </p:par>
                            </p:childTnLst>
                          </p:cTn>
                        </p:par>
                      </p:childTnLst>
                    </p:cTn>
                  </p:par>
                  <p:par>
                    <p:cTn id="318" fill="hold">
                      <p:stCondLst>
                        <p:cond delay="indefinite"/>
                      </p:stCondLst>
                      <p:childTnLst>
                        <p:par>
                          <p:cTn id="319" fill="hold">
                            <p:stCondLst>
                              <p:cond delay="0"/>
                            </p:stCondLst>
                            <p:childTnLst>
                              <p:par>
                                <p:cTn id="320" presetID="10" presetClass="entr" presetSubtype="0" fill="hold" grpId="0" nodeType="clickEffect">
                                  <p:stCondLst>
                                    <p:cond delay="0"/>
                                  </p:stCondLst>
                                  <p:childTnLst>
                                    <p:set>
                                      <p:cBhvr>
                                        <p:cTn id="321" dur="1" fill="hold">
                                          <p:stCondLst>
                                            <p:cond delay="0"/>
                                          </p:stCondLst>
                                        </p:cTn>
                                        <p:tgtEl>
                                          <p:spTgt spid="58"/>
                                        </p:tgtEl>
                                        <p:attrNameLst>
                                          <p:attrName>style.visibility</p:attrName>
                                        </p:attrNameLst>
                                      </p:cBhvr>
                                      <p:to>
                                        <p:strVal val="visible"/>
                                      </p:to>
                                    </p:set>
                                    <p:animEffect transition="in" filter="fade">
                                      <p:cBhvr>
                                        <p:cTn id="322" dur="500"/>
                                        <p:tgtEl>
                                          <p:spTgt spid="58"/>
                                        </p:tgtEl>
                                      </p:cBhvr>
                                    </p:animEffect>
                                  </p:childTnLst>
                                </p:cTn>
                              </p:par>
                              <p:par>
                                <p:cTn id="323" presetID="10" presetClass="entr" presetSubtype="0" fill="hold" grpId="0" nodeType="withEffect">
                                  <p:stCondLst>
                                    <p:cond delay="0"/>
                                  </p:stCondLst>
                                  <p:childTnLst>
                                    <p:set>
                                      <p:cBhvr>
                                        <p:cTn id="324" dur="1" fill="hold">
                                          <p:stCondLst>
                                            <p:cond delay="0"/>
                                          </p:stCondLst>
                                        </p:cTn>
                                        <p:tgtEl>
                                          <p:spTgt spid="17"/>
                                        </p:tgtEl>
                                        <p:attrNameLst>
                                          <p:attrName>style.visibility</p:attrName>
                                        </p:attrNameLst>
                                      </p:cBhvr>
                                      <p:to>
                                        <p:strVal val="visible"/>
                                      </p:to>
                                    </p:set>
                                    <p:animEffect transition="in" filter="fade">
                                      <p:cBhvr>
                                        <p:cTn id="325" dur="500"/>
                                        <p:tgtEl>
                                          <p:spTgt spid="17"/>
                                        </p:tgtEl>
                                      </p:cBhvr>
                                    </p:animEffect>
                                  </p:childTnLst>
                                </p:cTn>
                              </p:par>
                              <p:par>
                                <p:cTn id="326" presetID="10" presetClass="entr" presetSubtype="0" fill="hold" grpId="0" nodeType="withEffect">
                                  <p:stCondLst>
                                    <p:cond delay="0"/>
                                  </p:stCondLst>
                                  <p:childTnLst>
                                    <p:set>
                                      <p:cBhvr>
                                        <p:cTn id="327" dur="1" fill="hold">
                                          <p:stCondLst>
                                            <p:cond delay="0"/>
                                          </p:stCondLst>
                                        </p:cTn>
                                        <p:tgtEl>
                                          <p:spTgt spid="57"/>
                                        </p:tgtEl>
                                        <p:attrNameLst>
                                          <p:attrName>style.visibility</p:attrName>
                                        </p:attrNameLst>
                                      </p:cBhvr>
                                      <p:to>
                                        <p:strVal val="visible"/>
                                      </p:to>
                                    </p:set>
                                    <p:animEffect transition="in" filter="fade">
                                      <p:cBhvr>
                                        <p:cTn id="328" dur="500"/>
                                        <p:tgtEl>
                                          <p:spTgt spid="57"/>
                                        </p:tgtEl>
                                      </p:cBhvr>
                                    </p:animEffect>
                                  </p:childTnLst>
                                </p:cTn>
                              </p:par>
                            </p:childTnLst>
                          </p:cTn>
                        </p:par>
                      </p:childTnLst>
                    </p:cTn>
                  </p:par>
                  <p:par>
                    <p:cTn id="329" fill="hold">
                      <p:stCondLst>
                        <p:cond delay="indefinite"/>
                      </p:stCondLst>
                      <p:childTnLst>
                        <p:par>
                          <p:cTn id="330" fill="hold">
                            <p:stCondLst>
                              <p:cond delay="0"/>
                            </p:stCondLst>
                            <p:childTnLst>
                              <p:par>
                                <p:cTn id="331" presetID="10" presetClass="exit" presetSubtype="0" fill="hold" grpId="3" nodeType="clickEffect">
                                  <p:stCondLst>
                                    <p:cond delay="0"/>
                                  </p:stCondLst>
                                  <p:childTnLst>
                                    <p:animEffect transition="out" filter="fade">
                                      <p:cBhvr>
                                        <p:cTn id="332" dur="500"/>
                                        <p:tgtEl>
                                          <p:spTgt spid="75"/>
                                        </p:tgtEl>
                                      </p:cBhvr>
                                    </p:animEffect>
                                    <p:set>
                                      <p:cBhvr>
                                        <p:cTn id="333" dur="1" fill="hold">
                                          <p:stCondLst>
                                            <p:cond delay="499"/>
                                          </p:stCondLst>
                                        </p:cTn>
                                        <p:tgtEl>
                                          <p:spTgt spid="75"/>
                                        </p:tgtEl>
                                        <p:attrNameLst>
                                          <p:attrName>style.visibility</p:attrName>
                                        </p:attrNameLst>
                                      </p:cBhvr>
                                      <p:to>
                                        <p:strVal val="hidden"/>
                                      </p:to>
                                    </p:set>
                                  </p:childTnLst>
                                </p:cTn>
                              </p:par>
                            </p:childTnLst>
                          </p:cTn>
                        </p:par>
                        <p:par>
                          <p:cTn id="334" fill="hold">
                            <p:stCondLst>
                              <p:cond delay="500"/>
                            </p:stCondLst>
                            <p:childTnLst>
                              <p:par>
                                <p:cTn id="335" presetID="10" presetClass="entr" presetSubtype="0" fill="hold" grpId="2" nodeType="afterEffect">
                                  <p:stCondLst>
                                    <p:cond delay="0"/>
                                  </p:stCondLst>
                                  <p:childTnLst>
                                    <p:set>
                                      <p:cBhvr>
                                        <p:cTn id="336" dur="1" fill="hold">
                                          <p:stCondLst>
                                            <p:cond delay="0"/>
                                          </p:stCondLst>
                                        </p:cTn>
                                        <p:tgtEl>
                                          <p:spTgt spid="76"/>
                                        </p:tgtEl>
                                        <p:attrNameLst>
                                          <p:attrName>style.visibility</p:attrName>
                                        </p:attrNameLst>
                                      </p:cBhvr>
                                      <p:to>
                                        <p:strVal val="visible"/>
                                      </p:to>
                                    </p:set>
                                    <p:animEffect transition="in" filter="fade">
                                      <p:cBhvr>
                                        <p:cTn id="33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p:bldP spid="30" grpId="0"/>
      <p:bldP spid="31" grpId="0"/>
      <p:bldP spid="32" grpId="0" animBg="1"/>
      <p:bldP spid="33" grpId="0" animBg="1"/>
      <p:bldP spid="34" grpId="0" animBg="1"/>
      <p:bldP spid="35" grpId="0" animBg="1"/>
      <p:bldP spid="36" grpId="0"/>
      <p:bldP spid="37" grpId="0" animBg="1"/>
      <p:bldP spid="38" grpId="0" animBg="1"/>
      <p:bldP spid="39" grpId="0" animBg="1"/>
      <p:bldP spid="40" grpId="0"/>
      <p:bldP spid="41" grpId="0" animBg="1"/>
      <p:bldP spid="42" grpId="0"/>
      <p:bldP spid="43" grpId="0" animBg="1"/>
      <p:bldP spid="44" grpId="0" animBg="1"/>
      <p:bldP spid="45" grpId="0" animBg="1"/>
      <p:bldP spid="46" grpId="0" animBg="1"/>
      <p:bldP spid="47" grpId="0" animBg="1"/>
      <p:bldP spid="48" grpId="0" animBg="1"/>
      <p:bldP spid="49" grpId="0"/>
      <p:bldP spid="50" grpId="0"/>
      <p:bldP spid="51" grpId="0"/>
      <p:bldP spid="52" grpId="0" animBg="1"/>
      <p:bldP spid="53" grpId="0" animBg="1"/>
      <p:bldP spid="54" grpId="0" animBg="1"/>
      <p:bldP spid="55" grpId="0" animBg="1"/>
      <p:bldP spid="56" grpId="0" animBg="1"/>
      <p:bldP spid="57" grpId="0" animBg="1"/>
      <p:bldP spid="58" grpId="0"/>
      <p:bldP spid="59" grpId="0" animBg="1"/>
      <p:bldP spid="60" grpId="0"/>
      <p:bldP spid="61" grpId="0" animBg="1"/>
      <p:bldP spid="62" grpId="0"/>
      <p:bldP spid="63" grpId="0" animBg="1"/>
      <p:bldP spid="64" grpId="0"/>
      <p:bldP spid="65" grpId="0" animBg="1"/>
      <p:bldP spid="66" grpId="0" animBg="1"/>
      <p:bldP spid="67" grpId="0" animBg="1"/>
      <p:bldP spid="68" grpId="0" animBg="1"/>
      <p:bldP spid="70" grpId="0" animBg="1"/>
      <p:bldP spid="70" grpId="1" animBg="1"/>
      <p:bldP spid="70" grpId="2" animBg="1"/>
      <p:bldP spid="70" grpId="3" animBg="1"/>
      <p:bldP spid="71" grpId="0" animBg="1"/>
      <p:bldP spid="71" grpId="1" animBg="1"/>
      <p:bldP spid="71" grpId="2" animBg="1"/>
      <p:bldP spid="71" grpId="3" animBg="1"/>
      <p:bldP spid="72" grpId="0" animBg="1"/>
      <p:bldP spid="72" grpId="1" animBg="1"/>
      <p:bldP spid="72" grpId="2" animBg="1"/>
      <p:bldP spid="72" grpId="3" animBg="1"/>
      <p:bldP spid="73" grpId="0" animBg="1"/>
      <p:bldP spid="73" grpId="1" animBg="1"/>
      <p:bldP spid="73" grpId="2" animBg="1"/>
      <p:bldP spid="73" grpId="3" animBg="1"/>
      <p:bldP spid="74" grpId="0" animBg="1"/>
      <p:bldP spid="74" grpId="1" animBg="1"/>
      <p:bldP spid="74" grpId="2" animBg="1"/>
      <p:bldP spid="74" grpId="3" animBg="1"/>
      <p:bldP spid="75" grpId="0" animBg="1"/>
      <p:bldP spid="75" grpId="1" animBg="1"/>
      <p:bldP spid="75" grpId="2" animBg="1"/>
      <p:bldP spid="75" grpId="3" animBg="1"/>
      <p:bldP spid="76" grpId="0" animBg="1"/>
      <p:bldP spid="76" grpId="1" animBg="1"/>
      <p:bldP spid="76"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8107FB38-4DA8-4D40-A1B7-468F17DAFC82}" type="slidenum">
              <a:rPr lang="zh-CN" altLang="en-US" smtClean="0"/>
              <a:t>9</a:t>
            </a:fld>
            <a:endParaRPr lang="zh-CN" altLang="en-US"/>
          </a:p>
        </p:txBody>
      </p:sp>
      <p:pic>
        <p:nvPicPr>
          <p:cNvPr id="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1733" y="9915"/>
            <a:ext cx="4943140" cy="56925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26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67" b="1">
                <a:solidFill>
                  <a:schemeClr val="tx1"/>
                </a:solidFill>
                <a:latin typeface="Comic Sans MS" charset="0"/>
                <a:ea typeface="宋体" charset="0"/>
                <a:cs typeface="宋体" charset="0"/>
              </a:defRPr>
            </a:lvl1pPr>
            <a:lvl2pPr marL="619100" indent="-238115" eaLnBrk="0" hangingPunct="0">
              <a:defRPr sz="1667" b="1">
                <a:solidFill>
                  <a:schemeClr val="tx1"/>
                </a:solidFill>
                <a:latin typeface="Comic Sans MS" charset="0"/>
                <a:ea typeface="宋体" charset="0"/>
              </a:defRPr>
            </a:lvl2pPr>
            <a:lvl3pPr marL="952462" indent="-190492" eaLnBrk="0" hangingPunct="0">
              <a:defRPr sz="1667" b="1">
                <a:solidFill>
                  <a:schemeClr val="tx1"/>
                </a:solidFill>
                <a:latin typeface="Comic Sans MS" charset="0"/>
                <a:ea typeface="宋体" charset="0"/>
              </a:defRPr>
            </a:lvl3pPr>
            <a:lvl4pPr marL="1333447" indent="-190492" eaLnBrk="0" hangingPunct="0">
              <a:defRPr sz="1667" b="1">
                <a:solidFill>
                  <a:schemeClr val="tx1"/>
                </a:solidFill>
                <a:latin typeface="Comic Sans MS" charset="0"/>
                <a:ea typeface="宋体" charset="0"/>
              </a:defRPr>
            </a:lvl4pPr>
            <a:lvl5pPr marL="1714431" indent="-190492" eaLnBrk="0" hangingPunct="0">
              <a:defRPr sz="1667" b="1">
                <a:solidFill>
                  <a:schemeClr val="tx1"/>
                </a:solidFill>
                <a:latin typeface="Comic Sans MS" charset="0"/>
                <a:ea typeface="宋体" charset="0"/>
              </a:defRPr>
            </a:lvl5pPr>
            <a:lvl6pPr marL="2095416" indent="-190492" eaLnBrk="0" fontAlgn="base" hangingPunct="0">
              <a:spcBef>
                <a:spcPct val="0"/>
              </a:spcBef>
              <a:spcAft>
                <a:spcPct val="0"/>
              </a:spcAft>
              <a:defRPr sz="1667" b="1">
                <a:solidFill>
                  <a:schemeClr val="tx1"/>
                </a:solidFill>
                <a:latin typeface="Comic Sans MS" charset="0"/>
                <a:ea typeface="宋体" charset="0"/>
              </a:defRPr>
            </a:lvl6pPr>
            <a:lvl7pPr marL="2476401" indent="-190492" eaLnBrk="0" fontAlgn="base" hangingPunct="0">
              <a:spcBef>
                <a:spcPct val="0"/>
              </a:spcBef>
              <a:spcAft>
                <a:spcPct val="0"/>
              </a:spcAft>
              <a:defRPr sz="1667" b="1">
                <a:solidFill>
                  <a:schemeClr val="tx1"/>
                </a:solidFill>
                <a:latin typeface="Comic Sans MS" charset="0"/>
                <a:ea typeface="宋体" charset="0"/>
              </a:defRPr>
            </a:lvl7pPr>
            <a:lvl8pPr marL="2857386" indent="-190492" eaLnBrk="0" fontAlgn="base" hangingPunct="0">
              <a:spcBef>
                <a:spcPct val="0"/>
              </a:spcBef>
              <a:spcAft>
                <a:spcPct val="0"/>
              </a:spcAft>
              <a:defRPr sz="1667" b="1">
                <a:solidFill>
                  <a:schemeClr val="tx1"/>
                </a:solidFill>
                <a:latin typeface="Comic Sans MS" charset="0"/>
                <a:ea typeface="宋体" charset="0"/>
              </a:defRPr>
            </a:lvl8pPr>
            <a:lvl9pPr marL="3238370" indent="-190492" eaLnBrk="0" fontAlgn="base" hangingPunct="0">
              <a:spcBef>
                <a:spcPct val="0"/>
              </a:spcBef>
              <a:spcAft>
                <a:spcPct val="0"/>
              </a:spcAft>
              <a:defRPr sz="1667" b="1">
                <a:solidFill>
                  <a:schemeClr val="tx1"/>
                </a:solidFill>
                <a:latin typeface="Comic Sans MS" charset="0"/>
                <a:ea typeface="宋体" charset="0"/>
              </a:defRPr>
            </a:lvl9pPr>
          </a:lstStyle>
          <a:p>
            <a:fld id="{FDC28806-33EB-CF48-879C-421E143B051C}" type="slidenum">
              <a:rPr lang="zh-CN" altLang="en-US" sz="1167" b="0">
                <a:latin typeface="Calibri" charset="0"/>
                <a:ea typeface="Adobe 楷体 Std R" charset="0"/>
                <a:cs typeface="Adobe 楷体 Std R" charset="0"/>
              </a:rPr>
              <a:pPr/>
              <a:t>10</a:t>
            </a:fld>
            <a:endParaRPr lang="en-US" altLang="zh-CN" sz="1167" b="0">
              <a:latin typeface="Calibri" charset="0"/>
              <a:ea typeface="Adobe 楷体 Std R" charset="0"/>
              <a:cs typeface="Adobe 楷体 Std R" charset="0"/>
            </a:endParaRPr>
          </a:p>
        </p:txBody>
      </p:sp>
      <p:pic>
        <p:nvPicPr>
          <p:cNvPr id="1536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593" y="937287"/>
            <a:ext cx="7366000" cy="3720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9883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67" b="1">
                <a:solidFill>
                  <a:schemeClr val="tx1"/>
                </a:solidFill>
                <a:latin typeface="Comic Sans MS" charset="0"/>
                <a:ea typeface="宋体" charset="0"/>
                <a:cs typeface="宋体" charset="0"/>
              </a:defRPr>
            </a:lvl1pPr>
            <a:lvl2pPr marL="619100" indent="-238115" eaLnBrk="0" hangingPunct="0">
              <a:defRPr sz="1667" b="1">
                <a:solidFill>
                  <a:schemeClr val="tx1"/>
                </a:solidFill>
                <a:latin typeface="Comic Sans MS" charset="0"/>
                <a:ea typeface="宋体" charset="0"/>
              </a:defRPr>
            </a:lvl2pPr>
            <a:lvl3pPr marL="952462" indent="-190492" eaLnBrk="0" hangingPunct="0">
              <a:defRPr sz="1667" b="1">
                <a:solidFill>
                  <a:schemeClr val="tx1"/>
                </a:solidFill>
                <a:latin typeface="Comic Sans MS" charset="0"/>
                <a:ea typeface="宋体" charset="0"/>
              </a:defRPr>
            </a:lvl3pPr>
            <a:lvl4pPr marL="1333447" indent="-190492" eaLnBrk="0" hangingPunct="0">
              <a:defRPr sz="1667" b="1">
                <a:solidFill>
                  <a:schemeClr val="tx1"/>
                </a:solidFill>
                <a:latin typeface="Comic Sans MS" charset="0"/>
                <a:ea typeface="宋体" charset="0"/>
              </a:defRPr>
            </a:lvl4pPr>
            <a:lvl5pPr marL="1714431" indent="-190492" eaLnBrk="0" hangingPunct="0">
              <a:defRPr sz="1667" b="1">
                <a:solidFill>
                  <a:schemeClr val="tx1"/>
                </a:solidFill>
                <a:latin typeface="Comic Sans MS" charset="0"/>
                <a:ea typeface="宋体" charset="0"/>
              </a:defRPr>
            </a:lvl5pPr>
            <a:lvl6pPr marL="2095416" indent="-190492" eaLnBrk="0" fontAlgn="base" hangingPunct="0">
              <a:spcBef>
                <a:spcPct val="0"/>
              </a:spcBef>
              <a:spcAft>
                <a:spcPct val="0"/>
              </a:spcAft>
              <a:defRPr sz="1667" b="1">
                <a:solidFill>
                  <a:schemeClr val="tx1"/>
                </a:solidFill>
                <a:latin typeface="Comic Sans MS" charset="0"/>
                <a:ea typeface="宋体" charset="0"/>
              </a:defRPr>
            </a:lvl6pPr>
            <a:lvl7pPr marL="2476401" indent="-190492" eaLnBrk="0" fontAlgn="base" hangingPunct="0">
              <a:spcBef>
                <a:spcPct val="0"/>
              </a:spcBef>
              <a:spcAft>
                <a:spcPct val="0"/>
              </a:spcAft>
              <a:defRPr sz="1667" b="1">
                <a:solidFill>
                  <a:schemeClr val="tx1"/>
                </a:solidFill>
                <a:latin typeface="Comic Sans MS" charset="0"/>
                <a:ea typeface="宋体" charset="0"/>
              </a:defRPr>
            </a:lvl7pPr>
            <a:lvl8pPr marL="2857386" indent="-190492" eaLnBrk="0" fontAlgn="base" hangingPunct="0">
              <a:spcBef>
                <a:spcPct val="0"/>
              </a:spcBef>
              <a:spcAft>
                <a:spcPct val="0"/>
              </a:spcAft>
              <a:defRPr sz="1667" b="1">
                <a:solidFill>
                  <a:schemeClr val="tx1"/>
                </a:solidFill>
                <a:latin typeface="Comic Sans MS" charset="0"/>
                <a:ea typeface="宋体" charset="0"/>
              </a:defRPr>
            </a:lvl8pPr>
            <a:lvl9pPr marL="3238370" indent="-190492" eaLnBrk="0" fontAlgn="base" hangingPunct="0">
              <a:spcBef>
                <a:spcPct val="0"/>
              </a:spcBef>
              <a:spcAft>
                <a:spcPct val="0"/>
              </a:spcAft>
              <a:defRPr sz="1667" b="1">
                <a:solidFill>
                  <a:schemeClr val="tx1"/>
                </a:solidFill>
                <a:latin typeface="Comic Sans MS" charset="0"/>
                <a:ea typeface="宋体" charset="0"/>
              </a:defRPr>
            </a:lvl9pPr>
          </a:lstStyle>
          <a:p>
            <a:fld id="{50CE8E79-8222-6F4D-BF0D-8F0D1A154391}" type="slidenum">
              <a:rPr lang="zh-CN" altLang="en-US" sz="1167" b="0">
                <a:latin typeface="Calibri" charset="0"/>
                <a:ea typeface="Adobe 楷体 Std R" charset="0"/>
                <a:cs typeface="Adobe 楷体 Std R" charset="0"/>
              </a:rPr>
              <a:pPr/>
              <a:t>11</a:t>
            </a:fld>
            <a:endParaRPr lang="en-US" altLang="zh-CN" sz="1167" b="0">
              <a:latin typeface="Calibri" charset="0"/>
              <a:ea typeface="Adobe 楷体 Std R" charset="0"/>
              <a:cs typeface="Adobe 楷体 Std R" charset="0"/>
            </a:endParaRPr>
          </a:p>
        </p:txBody>
      </p:sp>
      <p:pic>
        <p:nvPicPr>
          <p:cNvPr id="163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913" y="997294"/>
            <a:ext cx="7429500" cy="3720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7975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67" b="1">
                <a:solidFill>
                  <a:schemeClr val="tx1"/>
                </a:solidFill>
                <a:latin typeface="Comic Sans MS" charset="0"/>
                <a:ea typeface="宋体" charset="0"/>
                <a:cs typeface="宋体" charset="0"/>
              </a:defRPr>
            </a:lvl1pPr>
            <a:lvl2pPr marL="619100" indent="-238115" eaLnBrk="0" hangingPunct="0">
              <a:defRPr sz="1667" b="1">
                <a:solidFill>
                  <a:schemeClr val="tx1"/>
                </a:solidFill>
                <a:latin typeface="Comic Sans MS" charset="0"/>
                <a:ea typeface="宋体" charset="0"/>
              </a:defRPr>
            </a:lvl2pPr>
            <a:lvl3pPr marL="952462" indent="-190492" eaLnBrk="0" hangingPunct="0">
              <a:defRPr sz="1667" b="1">
                <a:solidFill>
                  <a:schemeClr val="tx1"/>
                </a:solidFill>
                <a:latin typeface="Comic Sans MS" charset="0"/>
                <a:ea typeface="宋体" charset="0"/>
              </a:defRPr>
            </a:lvl3pPr>
            <a:lvl4pPr marL="1333447" indent="-190492" eaLnBrk="0" hangingPunct="0">
              <a:defRPr sz="1667" b="1">
                <a:solidFill>
                  <a:schemeClr val="tx1"/>
                </a:solidFill>
                <a:latin typeface="Comic Sans MS" charset="0"/>
                <a:ea typeface="宋体" charset="0"/>
              </a:defRPr>
            </a:lvl4pPr>
            <a:lvl5pPr marL="1714431" indent="-190492" eaLnBrk="0" hangingPunct="0">
              <a:defRPr sz="1667" b="1">
                <a:solidFill>
                  <a:schemeClr val="tx1"/>
                </a:solidFill>
                <a:latin typeface="Comic Sans MS" charset="0"/>
                <a:ea typeface="宋体" charset="0"/>
              </a:defRPr>
            </a:lvl5pPr>
            <a:lvl6pPr marL="2095416" indent="-190492" eaLnBrk="0" fontAlgn="base" hangingPunct="0">
              <a:spcBef>
                <a:spcPct val="0"/>
              </a:spcBef>
              <a:spcAft>
                <a:spcPct val="0"/>
              </a:spcAft>
              <a:defRPr sz="1667" b="1">
                <a:solidFill>
                  <a:schemeClr val="tx1"/>
                </a:solidFill>
                <a:latin typeface="Comic Sans MS" charset="0"/>
                <a:ea typeface="宋体" charset="0"/>
              </a:defRPr>
            </a:lvl6pPr>
            <a:lvl7pPr marL="2476401" indent="-190492" eaLnBrk="0" fontAlgn="base" hangingPunct="0">
              <a:spcBef>
                <a:spcPct val="0"/>
              </a:spcBef>
              <a:spcAft>
                <a:spcPct val="0"/>
              </a:spcAft>
              <a:defRPr sz="1667" b="1">
                <a:solidFill>
                  <a:schemeClr val="tx1"/>
                </a:solidFill>
                <a:latin typeface="Comic Sans MS" charset="0"/>
                <a:ea typeface="宋体" charset="0"/>
              </a:defRPr>
            </a:lvl7pPr>
            <a:lvl8pPr marL="2857386" indent="-190492" eaLnBrk="0" fontAlgn="base" hangingPunct="0">
              <a:spcBef>
                <a:spcPct val="0"/>
              </a:spcBef>
              <a:spcAft>
                <a:spcPct val="0"/>
              </a:spcAft>
              <a:defRPr sz="1667" b="1">
                <a:solidFill>
                  <a:schemeClr val="tx1"/>
                </a:solidFill>
                <a:latin typeface="Comic Sans MS" charset="0"/>
                <a:ea typeface="宋体" charset="0"/>
              </a:defRPr>
            </a:lvl8pPr>
            <a:lvl9pPr marL="3238370" indent="-190492" eaLnBrk="0" fontAlgn="base" hangingPunct="0">
              <a:spcBef>
                <a:spcPct val="0"/>
              </a:spcBef>
              <a:spcAft>
                <a:spcPct val="0"/>
              </a:spcAft>
              <a:defRPr sz="1667" b="1">
                <a:solidFill>
                  <a:schemeClr val="tx1"/>
                </a:solidFill>
                <a:latin typeface="Comic Sans MS" charset="0"/>
                <a:ea typeface="宋体" charset="0"/>
              </a:defRPr>
            </a:lvl9pPr>
          </a:lstStyle>
          <a:p>
            <a:fld id="{5E18CD60-22D3-2B4B-BC6E-32FA5BB3DAD5}" type="slidenum">
              <a:rPr lang="zh-CN" altLang="en-US" sz="1167" b="0">
                <a:latin typeface="Calibri" charset="0"/>
                <a:ea typeface="Adobe 楷体 Std R" charset="0"/>
                <a:cs typeface="Adobe 楷体 Std R" charset="0"/>
              </a:rPr>
              <a:pPr/>
              <a:t>12</a:t>
            </a:fld>
            <a:endParaRPr lang="en-US" altLang="zh-CN" sz="1167" b="0">
              <a:latin typeface="Calibri" charset="0"/>
              <a:ea typeface="Adobe 楷体 Std R" charset="0"/>
              <a:cs typeface="Adobe 楷体 Std R" charset="0"/>
            </a:endParaRPr>
          </a:p>
        </p:txBody>
      </p:sp>
      <p:pic>
        <p:nvPicPr>
          <p:cNvPr id="143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77314"/>
            <a:ext cx="7620000" cy="33603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134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13</a:t>
            </a:fld>
            <a:endParaRPr lang="zh-CN" altLang="en-US"/>
          </a:p>
        </p:txBody>
      </p:sp>
      <p:pic>
        <p:nvPicPr>
          <p:cNvPr id="27" name="图片 26"/>
          <p:cNvPicPr>
            <a:picLocks noChangeAspect="1"/>
          </p:cNvPicPr>
          <p:nvPr/>
        </p:nvPicPr>
        <p:blipFill rotWithShape="1">
          <a:blip r:embed="rId2"/>
          <a:srcRect l="9304" r="18850"/>
          <a:stretch/>
        </p:blipFill>
        <p:spPr>
          <a:xfrm>
            <a:off x="4416189" y="1237320"/>
            <a:ext cx="3752883" cy="2350571"/>
          </a:xfrm>
          <a:prstGeom prst="rect">
            <a:avLst/>
          </a:prstGeom>
          <a:ln>
            <a:solidFill>
              <a:srgbClr val="000000"/>
            </a:solidFill>
          </a:ln>
        </p:spPr>
      </p:pic>
      <p:pic>
        <p:nvPicPr>
          <p:cNvPr id="29" name="图片 28"/>
          <p:cNvPicPr>
            <a:picLocks noChangeAspect="1"/>
          </p:cNvPicPr>
          <p:nvPr/>
        </p:nvPicPr>
        <p:blipFill rotWithShape="1">
          <a:blip r:embed="rId3"/>
          <a:srcRect t="56146"/>
          <a:stretch/>
        </p:blipFill>
        <p:spPr>
          <a:xfrm>
            <a:off x="911594" y="2968140"/>
            <a:ext cx="3378948" cy="789460"/>
          </a:xfrm>
          <a:prstGeom prst="rect">
            <a:avLst/>
          </a:prstGeom>
          <a:ln>
            <a:solidFill>
              <a:srgbClr val="000000"/>
            </a:solidFill>
          </a:ln>
        </p:spPr>
      </p:pic>
      <p:sp>
        <p:nvSpPr>
          <p:cNvPr id="30" name="标题 1"/>
          <p:cNvSpPr txBox="1">
            <a:spLocks/>
          </p:cNvSpPr>
          <p:nvPr/>
        </p:nvSpPr>
        <p:spPr>
          <a:xfrm>
            <a:off x="3935929" y="13184"/>
            <a:ext cx="4956551" cy="1260140"/>
          </a:xfrm>
          <a:prstGeom prst="rect">
            <a:avLst/>
          </a:prstGeom>
        </p:spPr>
        <p:txBody>
          <a:bodyPr vert="horz" lIns="76200" tIns="38100" rIns="76200" bIns="38100" rtlCol="0" anchor="ctr">
            <a:normAutofit/>
          </a:bodyPr>
          <a:lstStyle>
            <a:lvl1pPr algn="l" defTabSz="914400" rtl="0" eaLnBrk="1" latinLnBrk="0" hangingPunct="1">
              <a:spcBef>
                <a:spcPct val="0"/>
              </a:spcBef>
              <a:buNone/>
              <a:defRPr sz="4000" b="1" kern="1200">
                <a:solidFill>
                  <a:schemeClr val="tx1"/>
                </a:solidFill>
                <a:latin typeface="+mj-lt"/>
                <a:ea typeface="+mj-ea"/>
                <a:cs typeface="Calibri" pitchFamily="34" charset="0"/>
              </a:defRPr>
            </a:lvl1pPr>
          </a:lstStyle>
          <a:p>
            <a:pPr algn="r"/>
            <a:r>
              <a:rPr kumimoji="1" lang="en-US" altLang="zh-CN" sz="3200" dirty="0">
                <a:solidFill>
                  <a:schemeClr val="accent1"/>
                </a:solidFill>
              </a:rPr>
              <a:t>RUN_PROCESSOR </a:t>
            </a:r>
          </a:p>
          <a:p>
            <a:pPr algn="r"/>
            <a:r>
              <a:rPr kumimoji="1" lang="en-US" altLang="zh-CN" sz="3200" dirty="0">
                <a:solidFill>
                  <a:schemeClr val="accent1"/>
                </a:solidFill>
              </a:rPr>
              <a:t>&amp; Thread</a:t>
            </a:r>
            <a:r>
              <a:rPr kumimoji="1" lang="zh-CN" altLang="en-US" sz="3200" dirty="0">
                <a:solidFill>
                  <a:schemeClr val="accent1"/>
                </a:solidFill>
              </a:rPr>
              <a:t> </a:t>
            </a:r>
            <a:r>
              <a:rPr kumimoji="1" lang="en-US" altLang="zh-CN" sz="3200" dirty="0">
                <a:solidFill>
                  <a:schemeClr val="accent1"/>
                </a:solidFill>
              </a:rPr>
              <a:t>Create</a:t>
            </a:r>
            <a:endParaRPr kumimoji="1" lang="zh-CN" altLang="en-US" sz="3200" dirty="0">
              <a:solidFill>
                <a:schemeClr val="accent1"/>
              </a:solidFill>
            </a:endParaRPr>
          </a:p>
        </p:txBody>
      </p:sp>
      <p:pic>
        <p:nvPicPr>
          <p:cNvPr id="36" name="图片 35"/>
          <p:cNvPicPr>
            <a:picLocks noChangeAspect="1"/>
          </p:cNvPicPr>
          <p:nvPr/>
        </p:nvPicPr>
        <p:blipFill>
          <a:blip r:embed="rId4"/>
          <a:stretch>
            <a:fillRect/>
          </a:stretch>
        </p:blipFill>
        <p:spPr>
          <a:xfrm>
            <a:off x="922853" y="667257"/>
            <a:ext cx="3360374" cy="1290143"/>
          </a:xfrm>
          <a:prstGeom prst="rect">
            <a:avLst/>
          </a:prstGeom>
          <a:ln w="38100" cmpd="sng">
            <a:solidFill>
              <a:srgbClr val="C0504D"/>
            </a:solidFill>
          </a:ln>
        </p:spPr>
      </p:pic>
      <p:sp>
        <p:nvSpPr>
          <p:cNvPr id="37" name="矩形 36"/>
          <p:cNvSpPr/>
          <p:nvPr/>
        </p:nvSpPr>
        <p:spPr>
          <a:xfrm>
            <a:off x="3191847" y="4469937"/>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a:p>
        </p:txBody>
      </p:sp>
      <p:sp>
        <p:nvSpPr>
          <p:cNvPr id="38" name="矩形 37"/>
          <p:cNvSpPr/>
          <p:nvPr/>
        </p:nvSpPr>
        <p:spPr>
          <a:xfrm>
            <a:off x="3189628" y="5017740"/>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SCHED</a:t>
            </a:r>
            <a:endParaRPr kumimoji="1" lang="zh-CN" altLang="en-US" sz="900" dirty="0"/>
          </a:p>
        </p:txBody>
      </p:sp>
      <p:sp>
        <p:nvSpPr>
          <p:cNvPr id="39" name="矩形 38"/>
          <p:cNvSpPr/>
          <p:nvPr/>
        </p:nvSpPr>
        <p:spPr>
          <a:xfrm>
            <a:off x="2411760" y="4469937"/>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RUN_P</a:t>
            </a:r>
            <a:endParaRPr kumimoji="1" lang="zh-CN" altLang="en-US" sz="900" dirty="0"/>
          </a:p>
        </p:txBody>
      </p:sp>
      <p:sp>
        <p:nvSpPr>
          <p:cNvPr id="40" name="矩形 39"/>
          <p:cNvSpPr/>
          <p:nvPr/>
        </p:nvSpPr>
        <p:spPr>
          <a:xfrm>
            <a:off x="3971933" y="4469937"/>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a:p>
        </p:txBody>
      </p:sp>
      <p:sp>
        <p:nvSpPr>
          <p:cNvPr id="42" name="矩形 41"/>
          <p:cNvSpPr/>
          <p:nvPr/>
        </p:nvSpPr>
        <p:spPr>
          <a:xfrm>
            <a:off x="3969715" y="5009997"/>
            <a:ext cx="600067" cy="307777"/>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dirty="0"/>
          </a:p>
        </p:txBody>
      </p:sp>
      <p:sp>
        <p:nvSpPr>
          <p:cNvPr id="44" name="矩形 43"/>
          <p:cNvSpPr/>
          <p:nvPr/>
        </p:nvSpPr>
        <p:spPr>
          <a:xfrm>
            <a:off x="3969715" y="5317774"/>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EXIT_P</a:t>
            </a:r>
            <a:endParaRPr kumimoji="1" lang="zh-CN" altLang="en-US" sz="900" dirty="0"/>
          </a:p>
        </p:txBody>
      </p:sp>
      <p:sp>
        <p:nvSpPr>
          <p:cNvPr id="50" name="矩形 49"/>
          <p:cNvSpPr/>
          <p:nvPr/>
        </p:nvSpPr>
        <p:spPr>
          <a:xfrm>
            <a:off x="3911927" y="3877614"/>
            <a:ext cx="1440160" cy="323165"/>
          </a:xfrm>
          <a:prstGeom prst="rect">
            <a:avLst/>
          </a:prstGeom>
        </p:spPr>
        <p:txBody>
          <a:bodyPr wrap="square">
            <a:spAutoFit/>
          </a:bodyPr>
          <a:lstStyle/>
          <a:p>
            <a:r>
              <a:rPr kumimoji="1" lang="en-US" altLang="zh-CN" sz="1500" dirty="0"/>
              <a:t>Thread Create</a:t>
            </a:r>
            <a:endParaRPr lang="zh-CN" altLang="en-US" sz="1500" dirty="0"/>
          </a:p>
        </p:txBody>
      </p:sp>
      <p:sp>
        <p:nvSpPr>
          <p:cNvPr id="21" name="矩形 20"/>
          <p:cNvSpPr/>
          <p:nvPr/>
        </p:nvSpPr>
        <p:spPr>
          <a:xfrm>
            <a:off x="4509775" y="4169903"/>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EXIT_T</a:t>
            </a:r>
            <a:endParaRPr kumimoji="1" lang="zh-CN" altLang="en-US" sz="900" dirty="0"/>
          </a:p>
        </p:txBody>
      </p:sp>
      <p:sp>
        <p:nvSpPr>
          <p:cNvPr id="41" name="矩形 40"/>
          <p:cNvSpPr/>
          <p:nvPr/>
        </p:nvSpPr>
        <p:spPr>
          <a:xfrm>
            <a:off x="4511993" y="4469937"/>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APP</a:t>
            </a:r>
            <a:endParaRPr kumimoji="1" lang="zh-CN" altLang="en-US" sz="900" dirty="0"/>
          </a:p>
        </p:txBody>
      </p:sp>
      <p:sp>
        <p:nvSpPr>
          <p:cNvPr id="3" name="文本框 2">
            <a:extLst>
              <a:ext uri="{FF2B5EF4-FFF2-40B4-BE49-F238E27FC236}">
                <a16:creationId xmlns:a16="http://schemas.microsoft.com/office/drawing/2014/main" id="{04628E3E-3FED-628F-2475-A6294D40846F}"/>
              </a:ext>
            </a:extLst>
          </p:cNvPr>
          <p:cNvSpPr txBox="1"/>
          <p:nvPr/>
        </p:nvSpPr>
        <p:spPr>
          <a:xfrm>
            <a:off x="1066175" y="4520555"/>
            <a:ext cx="717037" cy="369332"/>
          </a:xfrm>
          <a:prstGeom prst="rect">
            <a:avLst/>
          </a:prstGeom>
          <a:noFill/>
        </p:spPr>
        <p:txBody>
          <a:bodyPr wrap="square">
            <a:spAutoFit/>
          </a:bodyPr>
          <a:lstStyle/>
          <a:p>
            <a:r>
              <a:rPr kumimoji="1" lang="zh-CN" altLang="en-US" sz="1800" b="1" dirty="0">
                <a:solidFill>
                  <a:schemeClr val="accent1"/>
                </a:solidFill>
              </a:rPr>
              <a:t>开机</a:t>
            </a:r>
            <a:endParaRPr lang="zh-CN" altLang="en-US" b="1" dirty="0"/>
          </a:p>
        </p:txBody>
      </p:sp>
      <p:cxnSp>
        <p:nvCxnSpPr>
          <p:cNvPr id="6" name="直线箭头连接符 5">
            <a:extLst>
              <a:ext uri="{FF2B5EF4-FFF2-40B4-BE49-F238E27FC236}">
                <a16:creationId xmlns:a16="http://schemas.microsoft.com/office/drawing/2014/main" id="{23EEA770-06F7-222C-5815-F0C3E457502F}"/>
              </a:ext>
            </a:extLst>
          </p:cNvPr>
          <p:cNvCxnSpPr>
            <a:cxnSpLocks/>
          </p:cNvCxnSpPr>
          <p:nvPr/>
        </p:nvCxnSpPr>
        <p:spPr>
          <a:xfrm>
            <a:off x="1763688" y="4705221"/>
            <a:ext cx="4254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75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14</a:t>
            </a:fld>
            <a:endParaRPr lang="zh-CN" altLang="en-US"/>
          </a:p>
        </p:txBody>
      </p:sp>
      <p:pic>
        <p:nvPicPr>
          <p:cNvPr id="5" name="图片 4"/>
          <p:cNvPicPr>
            <a:picLocks noChangeAspect="1"/>
          </p:cNvPicPr>
          <p:nvPr/>
        </p:nvPicPr>
        <p:blipFill>
          <a:blip r:embed="rId2"/>
          <a:stretch>
            <a:fillRect/>
          </a:stretch>
        </p:blipFill>
        <p:spPr>
          <a:xfrm>
            <a:off x="911594" y="457234"/>
            <a:ext cx="3360373" cy="739518"/>
          </a:xfrm>
          <a:prstGeom prst="rect">
            <a:avLst/>
          </a:prstGeom>
          <a:solidFill>
            <a:schemeClr val="accent2"/>
          </a:solidFill>
          <a:ln w="28575" cmpd="sng">
            <a:solidFill>
              <a:schemeClr val="accent2"/>
            </a:solidFill>
          </a:ln>
        </p:spPr>
      </p:pic>
      <p:sp>
        <p:nvSpPr>
          <p:cNvPr id="6" name="矩形 5"/>
          <p:cNvSpPr/>
          <p:nvPr/>
        </p:nvSpPr>
        <p:spPr>
          <a:xfrm>
            <a:off x="1451653" y="409102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APP</a:t>
            </a:r>
            <a:endParaRPr kumimoji="1" lang="zh-CN" altLang="en-US" sz="900" dirty="0"/>
          </a:p>
        </p:txBody>
      </p:sp>
      <p:sp>
        <p:nvSpPr>
          <p:cNvPr id="7" name="矩形 6"/>
          <p:cNvSpPr/>
          <p:nvPr/>
        </p:nvSpPr>
        <p:spPr>
          <a:xfrm>
            <a:off x="2231740" y="409102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8" name="矩形 7"/>
          <p:cNvSpPr/>
          <p:nvPr/>
        </p:nvSpPr>
        <p:spPr>
          <a:xfrm>
            <a:off x="2231740" y="4631084"/>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EXIT_T</a:t>
            </a:r>
            <a:endParaRPr kumimoji="1" lang="zh-CN" altLang="en-US" sz="900" dirty="0"/>
          </a:p>
        </p:txBody>
      </p:sp>
      <p:sp>
        <p:nvSpPr>
          <p:cNvPr id="9" name="矩形 8"/>
          <p:cNvSpPr/>
          <p:nvPr/>
        </p:nvSpPr>
        <p:spPr>
          <a:xfrm>
            <a:off x="3011827" y="4091024"/>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10" name="矩形 9"/>
          <p:cNvSpPr/>
          <p:nvPr/>
        </p:nvSpPr>
        <p:spPr>
          <a:xfrm>
            <a:off x="3011827" y="4631084"/>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11" name="矩形 10"/>
          <p:cNvSpPr/>
          <p:nvPr/>
        </p:nvSpPr>
        <p:spPr>
          <a:xfrm>
            <a:off x="3011827" y="4931117"/>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700" dirty="0"/>
              <a:t>ENTER_P</a:t>
            </a:r>
            <a:endParaRPr kumimoji="1" lang="zh-CN" altLang="en-US" sz="700" dirty="0"/>
          </a:p>
        </p:txBody>
      </p:sp>
      <p:sp>
        <p:nvSpPr>
          <p:cNvPr id="12" name="矩形 11"/>
          <p:cNvSpPr/>
          <p:nvPr/>
        </p:nvSpPr>
        <p:spPr>
          <a:xfrm>
            <a:off x="3554105" y="4091024"/>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a:p>
        </p:txBody>
      </p:sp>
      <p:sp>
        <p:nvSpPr>
          <p:cNvPr id="13" name="矩形 12"/>
          <p:cNvSpPr/>
          <p:nvPr/>
        </p:nvSpPr>
        <p:spPr>
          <a:xfrm>
            <a:off x="3551887" y="4631084"/>
            <a:ext cx="600067" cy="307777"/>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dirty="0"/>
          </a:p>
        </p:txBody>
      </p:sp>
      <p:sp>
        <p:nvSpPr>
          <p:cNvPr id="14" name="矩形 13"/>
          <p:cNvSpPr/>
          <p:nvPr/>
        </p:nvSpPr>
        <p:spPr>
          <a:xfrm>
            <a:off x="3551887" y="4938861"/>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EXIT_P</a:t>
            </a:r>
            <a:endParaRPr kumimoji="1" lang="zh-CN" altLang="en-US" sz="900" dirty="0"/>
          </a:p>
        </p:txBody>
      </p:sp>
      <p:sp>
        <p:nvSpPr>
          <p:cNvPr id="15" name="矩形 14"/>
          <p:cNvSpPr/>
          <p:nvPr/>
        </p:nvSpPr>
        <p:spPr>
          <a:xfrm>
            <a:off x="4331973" y="4091024"/>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16" name="矩形 15"/>
          <p:cNvSpPr/>
          <p:nvPr/>
        </p:nvSpPr>
        <p:spPr>
          <a:xfrm>
            <a:off x="4329755" y="4638828"/>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SCHED</a:t>
            </a:r>
            <a:endParaRPr kumimoji="1" lang="zh-CN" altLang="en-US" sz="900" dirty="0"/>
          </a:p>
        </p:txBody>
      </p:sp>
      <p:sp>
        <p:nvSpPr>
          <p:cNvPr id="17" name="矩形 16"/>
          <p:cNvSpPr/>
          <p:nvPr/>
        </p:nvSpPr>
        <p:spPr>
          <a:xfrm>
            <a:off x="2123728" y="3558708"/>
            <a:ext cx="828092" cy="553998"/>
          </a:xfrm>
          <a:prstGeom prst="rect">
            <a:avLst/>
          </a:prstGeom>
        </p:spPr>
        <p:txBody>
          <a:bodyPr wrap="square">
            <a:spAutoFit/>
          </a:bodyPr>
          <a:lstStyle/>
          <a:p>
            <a:r>
              <a:rPr kumimoji="1" lang="en-US" altLang="zh-CN" sz="1500" dirty="0"/>
              <a:t>Thread </a:t>
            </a:r>
          </a:p>
          <a:p>
            <a:r>
              <a:rPr kumimoji="1" lang="en-US" altLang="zh-CN" sz="1500" dirty="0"/>
              <a:t>Exit</a:t>
            </a:r>
            <a:endParaRPr lang="zh-CN" altLang="en-US" sz="1500" dirty="0"/>
          </a:p>
        </p:txBody>
      </p:sp>
      <p:sp>
        <p:nvSpPr>
          <p:cNvPr id="24" name="矩形 23"/>
          <p:cNvSpPr/>
          <p:nvPr/>
        </p:nvSpPr>
        <p:spPr>
          <a:xfrm>
            <a:off x="5112060" y="4091024"/>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a:p>
        </p:txBody>
      </p:sp>
      <p:sp>
        <p:nvSpPr>
          <p:cNvPr id="25" name="矩形 24"/>
          <p:cNvSpPr/>
          <p:nvPr/>
        </p:nvSpPr>
        <p:spPr>
          <a:xfrm>
            <a:off x="5109842" y="4631084"/>
            <a:ext cx="600067" cy="307777"/>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b="1" dirty="0"/>
          </a:p>
        </p:txBody>
      </p:sp>
      <p:sp>
        <p:nvSpPr>
          <p:cNvPr id="26" name="矩形 25"/>
          <p:cNvSpPr/>
          <p:nvPr/>
        </p:nvSpPr>
        <p:spPr>
          <a:xfrm>
            <a:off x="5109842" y="4938861"/>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EXIT_P</a:t>
            </a:r>
            <a:endParaRPr kumimoji="1" lang="zh-CN" altLang="en-US" sz="900" dirty="0"/>
          </a:p>
        </p:txBody>
      </p:sp>
      <p:sp>
        <p:nvSpPr>
          <p:cNvPr id="18" name="矩形 17"/>
          <p:cNvSpPr/>
          <p:nvPr/>
        </p:nvSpPr>
        <p:spPr>
          <a:xfrm>
            <a:off x="5652120" y="409102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19" name="矩形 18"/>
          <p:cNvSpPr/>
          <p:nvPr/>
        </p:nvSpPr>
        <p:spPr>
          <a:xfrm>
            <a:off x="5649902" y="4631084"/>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20" name="矩形 19"/>
          <p:cNvSpPr/>
          <p:nvPr/>
        </p:nvSpPr>
        <p:spPr>
          <a:xfrm>
            <a:off x="6432207" y="409102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21" name="矩形 20"/>
          <p:cNvSpPr/>
          <p:nvPr/>
        </p:nvSpPr>
        <p:spPr>
          <a:xfrm>
            <a:off x="5652120" y="4931117"/>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700" dirty="0"/>
              <a:t>ENTER_P</a:t>
            </a:r>
            <a:endParaRPr kumimoji="1" lang="zh-CN" altLang="en-US" sz="700" dirty="0"/>
          </a:p>
        </p:txBody>
      </p:sp>
      <p:sp>
        <p:nvSpPr>
          <p:cNvPr id="22" name="矩形 21"/>
          <p:cNvSpPr/>
          <p:nvPr/>
        </p:nvSpPr>
        <p:spPr>
          <a:xfrm>
            <a:off x="6432207" y="4631084"/>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YIELD</a:t>
            </a:r>
            <a:endParaRPr kumimoji="1" lang="zh-CN" altLang="en-US" sz="900" dirty="0"/>
          </a:p>
        </p:txBody>
      </p:sp>
      <p:sp>
        <p:nvSpPr>
          <p:cNvPr id="23" name="矩形 22"/>
          <p:cNvSpPr/>
          <p:nvPr/>
        </p:nvSpPr>
        <p:spPr>
          <a:xfrm>
            <a:off x="7212293" y="4091024"/>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APP</a:t>
            </a:r>
            <a:endParaRPr kumimoji="1" lang="zh-CN" altLang="en-US" sz="900" dirty="0"/>
          </a:p>
        </p:txBody>
      </p:sp>
      <p:pic>
        <p:nvPicPr>
          <p:cNvPr id="27" name="图片 26"/>
          <p:cNvPicPr>
            <a:picLocks noChangeAspect="1"/>
          </p:cNvPicPr>
          <p:nvPr/>
        </p:nvPicPr>
        <p:blipFill rotWithShape="1">
          <a:blip r:embed="rId3"/>
          <a:srcRect l="9304" r="18850"/>
          <a:stretch/>
        </p:blipFill>
        <p:spPr>
          <a:xfrm>
            <a:off x="4416189" y="1057300"/>
            <a:ext cx="3752883" cy="2400267"/>
          </a:xfrm>
          <a:prstGeom prst="rect">
            <a:avLst/>
          </a:prstGeom>
          <a:ln>
            <a:solidFill>
              <a:srgbClr val="000000"/>
            </a:solidFill>
          </a:ln>
        </p:spPr>
      </p:pic>
      <p:pic>
        <p:nvPicPr>
          <p:cNvPr id="28" name="图片 27"/>
          <p:cNvPicPr>
            <a:picLocks noChangeAspect="1"/>
          </p:cNvPicPr>
          <p:nvPr/>
        </p:nvPicPr>
        <p:blipFill rotWithShape="1">
          <a:blip r:embed="rId4"/>
          <a:srcRect b="49070"/>
          <a:stretch/>
        </p:blipFill>
        <p:spPr>
          <a:xfrm>
            <a:off x="911593" y="1297327"/>
            <a:ext cx="3378948" cy="916846"/>
          </a:xfrm>
          <a:prstGeom prst="rect">
            <a:avLst/>
          </a:prstGeom>
          <a:ln>
            <a:solidFill>
              <a:srgbClr val="000000"/>
            </a:solidFill>
          </a:ln>
        </p:spPr>
      </p:pic>
      <p:pic>
        <p:nvPicPr>
          <p:cNvPr id="29" name="图片 28"/>
          <p:cNvPicPr>
            <a:picLocks noChangeAspect="1"/>
          </p:cNvPicPr>
          <p:nvPr/>
        </p:nvPicPr>
        <p:blipFill rotWithShape="1">
          <a:blip r:embed="rId4"/>
          <a:srcRect t="56146"/>
          <a:stretch/>
        </p:blipFill>
        <p:spPr>
          <a:xfrm>
            <a:off x="911594" y="2658608"/>
            <a:ext cx="3378948" cy="789460"/>
          </a:xfrm>
          <a:prstGeom prst="rect">
            <a:avLst/>
          </a:prstGeom>
          <a:ln>
            <a:solidFill>
              <a:srgbClr val="000000"/>
            </a:solidFill>
          </a:ln>
        </p:spPr>
      </p:pic>
      <p:sp>
        <p:nvSpPr>
          <p:cNvPr id="30" name="标题 1"/>
          <p:cNvSpPr txBox="1">
            <a:spLocks/>
          </p:cNvSpPr>
          <p:nvPr/>
        </p:nvSpPr>
        <p:spPr>
          <a:xfrm>
            <a:off x="5004048" y="192861"/>
            <a:ext cx="3308987" cy="648415"/>
          </a:xfrm>
          <a:prstGeom prst="rect">
            <a:avLst/>
          </a:prstGeom>
        </p:spPr>
        <p:txBody>
          <a:bodyPr vert="horz" lIns="76200" tIns="38100" rIns="76200" bIns="38100" rtlCol="0" anchor="ctr">
            <a:noAutofit/>
          </a:bodyPr>
          <a:lstStyle>
            <a:lvl1pPr algn="l" defTabSz="914400" rtl="0" eaLnBrk="1" latinLnBrk="0" hangingPunct="1">
              <a:spcBef>
                <a:spcPct val="0"/>
              </a:spcBef>
              <a:buNone/>
              <a:defRPr sz="4000" b="1" kern="1200">
                <a:solidFill>
                  <a:schemeClr val="tx1"/>
                </a:solidFill>
                <a:latin typeface="+mj-lt"/>
                <a:ea typeface="+mj-ea"/>
                <a:cs typeface="Calibri" pitchFamily="34" charset="0"/>
              </a:defRPr>
            </a:lvl1pPr>
          </a:lstStyle>
          <a:p>
            <a:pPr algn="r"/>
            <a:r>
              <a:rPr kumimoji="1" lang="en-US" altLang="zh-CN" sz="3200" dirty="0">
                <a:solidFill>
                  <a:schemeClr val="accent1"/>
                </a:solidFill>
              </a:rPr>
              <a:t>Thread Exit</a:t>
            </a:r>
            <a:endParaRPr kumimoji="1" lang="zh-CN" altLang="en-US" sz="3200" dirty="0">
              <a:solidFill>
                <a:schemeClr val="accent1"/>
              </a:solidFill>
            </a:endParaRPr>
          </a:p>
        </p:txBody>
      </p:sp>
      <p:sp>
        <p:nvSpPr>
          <p:cNvPr id="32" name="右箭头 31"/>
          <p:cNvSpPr/>
          <p:nvPr/>
        </p:nvSpPr>
        <p:spPr>
          <a:xfrm>
            <a:off x="2711793" y="5118881"/>
            <a:ext cx="240027" cy="240027"/>
          </a:xfrm>
          <a:prstGeom prst="right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33" name="右箭头 32"/>
          <p:cNvSpPr/>
          <p:nvPr/>
        </p:nvSpPr>
        <p:spPr>
          <a:xfrm rot="16200000">
            <a:off x="4031940" y="5317772"/>
            <a:ext cx="240027" cy="240027"/>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34" name="右箭头 33"/>
          <p:cNvSpPr/>
          <p:nvPr/>
        </p:nvSpPr>
        <p:spPr>
          <a:xfrm rot="10800000">
            <a:off x="6312193" y="5118881"/>
            <a:ext cx="240027" cy="240027"/>
          </a:xfrm>
          <a:prstGeom prst="right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35" name="右箭头 34"/>
          <p:cNvSpPr/>
          <p:nvPr/>
        </p:nvSpPr>
        <p:spPr>
          <a:xfrm rot="16200000">
            <a:off x="4992047" y="5298901"/>
            <a:ext cx="240027" cy="240027"/>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Tree>
    <p:extLst>
      <p:ext uri="{BB962C8B-B14F-4D97-AF65-F5344CB8AC3E}">
        <p14:creationId xmlns:p14="http://schemas.microsoft.com/office/powerpoint/2010/main" val="1131601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The New Scheduler()</a:t>
            </a:r>
            <a:endParaRPr kumimoji="1" lang="zh-CN" altLang="en-US" dirty="0"/>
          </a:p>
        </p:txBody>
      </p:sp>
      <p:sp>
        <p:nvSpPr>
          <p:cNvPr id="4" name="幻灯片编号占位符 3"/>
          <p:cNvSpPr>
            <a:spLocks noGrp="1"/>
          </p:cNvSpPr>
          <p:nvPr>
            <p:ph type="sldNum" sz="quarter" idx="12"/>
          </p:nvPr>
        </p:nvSpPr>
        <p:spPr/>
        <p:txBody>
          <a:bodyPr/>
          <a:lstStyle/>
          <a:p>
            <a:fld id="{8107FB38-4DA8-4D40-A1B7-468F17DAFC82}" type="slidenum">
              <a:rPr lang="zh-CN" altLang="en-US" smtClean="0"/>
              <a:t>15</a:t>
            </a:fld>
            <a:endParaRPr lang="zh-CN" altLang="en-US"/>
          </a:p>
        </p:txBody>
      </p:sp>
      <p:sp>
        <p:nvSpPr>
          <p:cNvPr id="5" name="Content Placeholder 2"/>
          <p:cNvSpPr>
            <a:spLocks noGrp="1"/>
          </p:cNvSpPr>
          <p:nvPr>
            <p:ph idx="1"/>
          </p:nvPr>
        </p:nvSpPr>
        <p:spPr>
          <a:xfrm>
            <a:off x="1000393" y="1177313"/>
            <a:ext cx="7112000" cy="4254500"/>
          </a:xfrm>
        </p:spPr>
        <p:txBody>
          <a:bodyPr>
            <a:normAutofit fontScale="77500" lnSpcReduction="20000"/>
          </a:bodyPr>
          <a:lstStyle/>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16 </a:t>
            </a:r>
            <a:r>
              <a:rPr lang="en-US" altLang="zh-CN" sz="1667" b="1" dirty="0">
                <a:latin typeface="Consolas" panose="020B0609020204030204" pitchFamily="49" charset="0"/>
                <a:ea typeface="MS PGothic" charset="0"/>
                <a:cs typeface="Consolas" panose="020B0609020204030204" pitchFamily="49" charset="0"/>
              </a:rPr>
              <a:t>procedure </a:t>
            </a:r>
            <a:r>
              <a:rPr lang="en-US" altLang="zh-CN" sz="1667" dirty="0">
                <a:latin typeface="Consolas" panose="020B0609020204030204" pitchFamily="49" charset="0"/>
                <a:ea typeface="MS PGothic" charset="0"/>
                <a:cs typeface="Consolas" panose="020B0609020204030204" pitchFamily="49" charset="0"/>
              </a:rPr>
              <a:t>SCHEDULER</a:t>
            </a:r>
            <a:r>
              <a:rPr lang="en-US" altLang="zh-CN" sz="1667" b="1" dirty="0">
                <a:latin typeface="Consolas" panose="020B0609020204030204" pitchFamily="49" charset="0"/>
                <a:ea typeface="MS PGothic" charset="0"/>
                <a:cs typeface="Consolas" panose="020B0609020204030204" pitchFamily="49" charset="0"/>
              </a:rPr>
              <a:t> ()</a:t>
            </a: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17 	    </a:t>
            </a:r>
            <a:r>
              <a:rPr lang="en-US" altLang="zh-CN" sz="1667" b="1" dirty="0">
                <a:latin typeface="Consolas" panose="020B0609020204030204" pitchFamily="49" charset="0"/>
                <a:ea typeface="MS PGothic" charset="0"/>
                <a:cs typeface="Consolas" panose="020B0609020204030204" pitchFamily="49" charset="0"/>
              </a:rPr>
              <a:t>while </a:t>
            </a:r>
            <a:r>
              <a:rPr lang="en-US" altLang="zh-CN" sz="1667" i="1" dirty="0">
                <a:solidFill>
                  <a:srgbClr val="4F81BD"/>
                </a:solidFill>
                <a:latin typeface="Consolas" panose="020B0609020204030204" pitchFamily="49" charset="0"/>
                <a:ea typeface="MS PGothic" charset="0"/>
                <a:cs typeface="Consolas" panose="020B0609020204030204" pitchFamily="49" charset="0"/>
              </a:rPr>
              <a:t>shutdown</a:t>
            </a:r>
            <a:r>
              <a:rPr lang="en-US" altLang="zh-CN" sz="1667" b="1" dirty="0">
                <a:solidFill>
                  <a:srgbClr val="4F81BD"/>
                </a:solidFill>
                <a:latin typeface="Consolas" panose="020B0609020204030204" pitchFamily="49" charset="0"/>
                <a:ea typeface="MS PGothic" charset="0"/>
                <a:cs typeface="Consolas" panose="020B0609020204030204" pitchFamily="49" charset="0"/>
              </a:rPr>
              <a:t> </a:t>
            </a:r>
            <a:r>
              <a:rPr lang="en-US" altLang="zh-CN" sz="1667" b="1" dirty="0">
                <a:latin typeface="Consolas" panose="020B0609020204030204" pitchFamily="49" charset="0"/>
                <a:ea typeface="MS PGothic" charset="0"/>
                <a:cs typeface="Consolas" panose="020B0609020204030204" pitchFamily="49" charset="0"/>
              </a:rPr>
              <a:t>= </a:t>
            </a:r>
            <a:r>
              <a:rPr lang="en-US" altLang="zh-CN" sz="1667" dirty="0">
                <a:latin typeface="Consolas" panose="020B0609020204030204" pitchFamily="49" charset="0"/>
                <a:ea typeface="MS PGothic" charset="0"/>
                <a:cs typeface="Consolas" panose="020B0609020204030204" pitchFamily="49" charset="0"/>
              </a:rPr>
              <a:t>FALSE</a:t>
            </a:r>
            <a:r>
              <a:rPr lang="en-US" altLang="zh-CN" sz="1667" b="1" dirty="0">
                <a:latin typeface="Consolas" panose="020B0609020204030204" pitchFamily="49" charset="0"/>
                <a:ea typeface="MS PGothic" charset="0"/>
                <a:cs typeface="Consolas" panose="020B0609020204030204" pitchFamily="49" charset="0"/>
              </a:rPr>
              <a:t> do</a:t>
            </a:r>
          </a:p>
          <a:p>
            <a:pPr>
              <a:lnSpc>
                <a:spcPct val="160000"/>
              </a:lnSpc>
              <a:spcBef>
                <a:spcPts val="0"/>
              </a:spcBef>
              <a:buFontTx/>
              <a:buNone/>
            </a:pPr>
            <a:r>
              <a:rPr lang="en-US" altLang="zh-CN" sz="1667" dirty="0">
                <a:solidFill>
                  <a:schemeClr val="accent1"/>
                </a:solidFill>
                <a:latin typeface="Consolas" panose="020B0609020204030204" pitchFamily="49" charset="0"/>
                <a:ea typeface="MS PGothic" charset="0"/>
                <a:cs typeface="Consolas" panose="020B0609020204030204" pitchFamily="49" charset="0"/>
              </a:rPr>
              <a:t>18 		ACQUIRE (</a:t>
            </a:r>
            <a:r>
              <a:rPr lang="en-US" altLang="zh-CN" sz="1667" i="1" dirty="0" err="1">
                <a:solidFill>
                  <a:schemeClr val="accent1"/>
                </a:solidFill>
                <a:latin typeface="Consolas" panose="020B0609020204030204" pitchFamily="49" charset="0"/>
                <a:ea typeface="MS PGothic" charset="0"/>
                <a:cs typeface="Consolas" panose="020B0609020204030204" pitchFamily="49" charset="0"/>
              </a:rPr>
              <a:t>threadtable_lock</a:t>
            </a:r>
            <a:r>
              <a:rPr lang="en-US" altLang="zh-CN" sz="1667" dirty="0">
                <a:solidFill>
                  <a:schemeClr val="accent1"/>
                </a:solidFill>
                <a:latin typeface="Consolas" panose="020B0609020204030204" pitchFamily="49" charset="0"/>
                <a:ea typeface="MS PGothic" charset="0"/>
                <a:cs typeface="Consolas" panose="020B0609020204030204" pitchFamily="49" charset="0"/>
              </a:rPr>
              <a:t>)</a:t>
            </a: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19 		</a:t>
            </a:r>
            <a:r>
              <a:rPr lang="en-US" altLang="zh-CN" sz="1667" b="1" dirty="0">
                <a:latin typeface="Consolas" panose="020B0609020204030204" pitchFamily="49" charset="0"/>
                <a:ea typeface="MS PGothic" charset="0"/>
                <a:cs typeface="Consolas" panose="020B0609020204030204" pitchFamily="49" charset="0"/>
              </a:rPr>
              <a:t>for </a:t>
            </a:r>
            <a:r>
              <a:rPr lang="en-US" altLang="zh-CN" sz="1667" i="1" dirty="0" err="1">
                <a:latin typeface="Consolas" panose="020B0609020204030204" pitchFamily="49" charset="0"/>
                <a:ea typeface="MS PGothic" charset="0"/>
                <a:cs typeface="Consolas" panose="020B0609020204030204" pitchFamily="49" charset="0"/>
              </a:rPr>
              <a:t>i</a:t>
            </a:r>
            <a:r>
              <a:rPr lang="en-US" altLang="zh-CN" sz="1667" b="1" dirty="0">
                <a:latin typeface="Consolas" panose="020B0609020204030204" pitchFamily="49" charset="0"/>
                <a:ea typeface="MS PGothic" charset="0"/>
                <a:cs typeface="Consolas" panose="020B0609020204030204" pitchFamily="49" charset="0"/>
              </a:rPr>
              <a:t> from </a:t>
            </a:r>
            <a:r>
              <a:rPr lang="en-US" altLang="zh-CN" sz="1667" dirty="0">
                <a:latin typeface="Consolas" panose="020B0609020204030204" pitchFamily="49" charset="0"/>
                <a:ea typeface="MS PGothic" charset="0"/>
                <a:cs typeface="Consolas" panose="020B0609020204030204" pitchFamily="49" charset="0"/>
              </a:rPr>
              <a:t>0</a:t>
            </a:r>
            <a:r>
              <a:rPr lang="en-US" altLang="zh-CN" sz="1667" b="1" dirty="0">
                <a:latin typeface="Consolas" panose="020B0609020204030204" pitchFamily="49" charset="0"/>
                <a:ea typeface="MS PGothic" charset="0"/>
                <a:cs typeface="Consolas" panose="020B0609020204030204" pitchFamily="49" charset="0"/>
              </a:rPr>
              <a:t> until </a:t>
            </a:r>
            <a:r>
              <a:rPr lang="en-US" altLang="zh-CN" sz="1667" dirty="0">
                <a:latin typeface="Consolas" panose="020B0609020204030204" pitchFamily="49" charset="0"/>
                <a:ea typeface="MS PGothic" charset="0"/>
                <a:cs typeface="Consolas" panose="020B0609020204030204" pitchFamily="49" charset="0"/>
              </a:rPr>
              <a:t>7</a:t>
            </a:r>
            <a:r>
              <a:rPr lang="en-US" altLang="zh-CN" sz="1667" b="1" dirty="0">
                <a:latin typeface="Consolas" panose="020B0609020204030204" pitchFamily="49" charset="0"/>
                <a:ea typeface="MS PGothic" charset="0"/>
                <a:cs typeface="Consolas" panose="020B0609020204030204" pitchFamily="49" charset="0"/>
              </a:rPr>
              <a:t> do</a:t>
            </a: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20 		    </a:t>
            </a:r>
            <a:r>
              <a:rPr lang="en-US" altLang="zh-CN" sz="1667" b="1" dirty="0">
                <a:latin typeface="Consolas" panose="020B0609020204030204" pitchFamily="49" charset="0"/>
                <a:ea typeface="MS PGothic" charset="0"/>
                <a:cs typeface="Consolas" panose="020B0609020204030204" pitchFamily="49" charset="0"/>
              </a:rPr>
              <a:t>if </a:t>
            </a:r>
            <a:r>
              <a:rPr lang="en-US" altLang="zh-CN" sz="1667" dirty="0" err="1">
                <a:latin typeface="Consolas" panose="020B0609020204030204" pitchFamily="49" charset="0"/>
                <a:ea typeface="MS PGothic" charset="0"/>
                <a:cs typeface="Consolas" panose="020B0609020204030204" pitchFamily="49" charset="0"/>
              </a:rPr>
              <a:t>t</a:t>
            </a:r>
            <a:r>
              <a:rPr lang="en-US" altLang="zh-CN" sz="1667" i="1" dirty="0" err="1">
                <a:latin typeface="Consolas" panose="020B0609020204030204" pitchFamily="49" charset="0"/>
                <a:ea typeface="MS PGothic" charset="0"/>
                <a:cs typeface="Consolas" panose="020B0609020204030204" pitchFamily="49" charset="0"/>
              </a:rPr>
              <a:t>hreadtable</a:t>
            </a:r>
            <a:r>
              <a:rPr lang="en-US" altLang="zh-CN" sz="1667" dirty="0">
                <a:latin typeface="Consolas" panose="020B0609020204030204" pitchFamily="49" charset="0"/>
                <a:ea typeface="MS PGothic" charset="0"/>
                <a:cs typeface="Consolas" panose="020B0609020204030204" pitchFamily="49" charset="0"/>
              </a:rPr>
              <a:t>[</a:t>
            </a:r>
            <a:r>
              <a:rPr lang="en-US" altLang="zh-CN" sz="1667" i="1" dirty="0" err="1">
                <a:latin typeface="Consolas" panose="020B0609020204030204" pitchFamily="49" charset="0"/>
                <a:ea typeface="MS PGothic" charset="0"/>
                <a:cs typeface="Consolas" panose="020B0609020204030204" pitchFamily="49" charset="0"/>
              </a:rPr>
              <a:t>i</a:t>
            </a:r>
            <a:r>
              <a:rPr lang="en-US" altLang="zh-CN" sz="1667" dirty="0">
                <a:latin typeface="Consolas" panose="020B0609020204030204" pitchFamily="49" charset="0"/>
                <a:ea typeface="MS PGothic" charset="0"/>
                <a:cs typeface="Consolas" panose="020B0609020204030204" pitchFamily="49" charset="0"/>
              </a:rPr>
              <a:t>].</a:t>
            </a:r>
            <a:r>
              <a:rPr lang="en-US" altLang="zh-CN" sz="1667" i="1" dirty="0">
                <a:latin typeface="Consolas" panose="020B0609020204030204" pitchFamily="49" charset="0"/>
                <a:ea typeface="MS PGothic" charset="0"/>
                <a:cs typeface="Consolas" panose="020B0609020204030204" pitchFamily="49" charset="0"/>
              </a:rPr>
              <a:t>state</a:t>
            </a:r>
            <a:r>
              <a:rPr lang="en-US" altLang="zh-CN" sz="1667" b="1" dirty="0">
                <a:latin typeface="Consolas" panose="020B0609020204030204" pitchFamily="49" charset="0"/>
                <a:ea typeface="MS PGothic" charset="0"/>
                <a:cs typeface="Consolas" panose="020B0609020204030204" pitchFamily="49" charset="0"/>
              </a:rPr>
              <a:t> = </a:t>
            </a:r>
            <a:r>
              <a:rPr lang="en-US" altLang="zh-CN" sz="1667" dirty="0">
                <a:latin typeface="Consolas" panose="020B0609020204030204" pitchFamily="49" charset="0"/>
                <a:ea typeface="MS PGothic" charset="0"/>
                <a:cs typeface="Consolas" panose="020B0609020204030204" pitchFamily="49" charset="0"/>
              </a:rPr>
              <a:t>RUNNABLE </a:t>
            </a:r>
            <a:r>
              <a:rPr lang="en-US" altLang="zh-CN" sz="1667" b="1" dirty="0">
                <a:latin typeface="Consolas" panose="020B0609020204030204" pitchFamily="49" charset="0"/>
                <a:ea typeface="MS PGothic" charset="0"/>
                <a:cs typeface="Consolas" panose="020B0609020204030204" pitchFamily="49" charset="0"/>
              </a:rPr>
              <a:t>then</a:t>
            </a: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21 			</a:t>
            </a:r>
            <a:r>
              <a:rPr lang="en-US" altLang="zh-CN" sz="1667" dirty="0" err="1">
                <a:latin typeface="Consolas" panose="020B0609020204030204" pitchFamily="49" charset="0"/>
                <a:ea typeface="MS PGothic" charset="0"/>
                <a:cs typeface="Consolas" panose="020B0609020204030204" pitchFamily="49" charset="0"/>
              </a:rPr>
              <a:t>t</a:t>
            </a:r>
            <a:r>
              <a:rPr lang="en-US" altLang="zh-CN" sz="1667" i="1" dirty="0" err="1">
                <a:latin typeface="Consolas" panose="020B0609020204030204" pitchFamily="49" charset="0"/>
                <a:ea typeface="MS PGothic" charset="0"/>
                <a:cs typeface="Consolas" panose="020B0609020204030204" pitchFamily="49" charset="0"/>
              </a:rPr>
              <a:t>hreadtable</a:t>
            </a:r>
            <a:r>
              <a:rPr lang="en-US" altLang="zh-CN" sz="1667" dirty="0">
                <a:latin typeface="Consolas" panose="020B0609020204030204" pitchFamily="49" charset="0"/>
                <a:ea typeface="MS PGothic" charset="0"/>
                <a:cs typeface="Consolas" panose="020B0609020204030204" pitchFamily="49" charset="0"/>
              </a:rPr>
              <a:t>[</a:t>
            </a:r>
            <a:r>
              <a:rPr lang="en-US" altLang="zh-CN" sz="1667" i="1" dirty="0" err="1">
                <a:latin typeface="Consolas" panose="020B0609020204030204" pitchFamily="49" charset="0"/>
                <a:ea typeface="MS PGothic" charset="0"/>
                <a:cs typeface="Consolas" panose="020B0609020204030204" pitchFamily="49" charset="0"/>
              </a:rPr>
              <a:t>i</a:t>
            </a:r>
            <a:r>
              <a:rPr lang="en-US" altLang="zh-CN" sz="1667" dirty="0">
                <a:latin typeface="Consolas" panose="020B0609020204030204" pitchFamily="49" charset="0"/>
                <a:ea typeface="MS PGothic" charset="0"/>
                <a:cs typeface="Consolas" panose="020B0609020204030204" pitchFamily="49" charset="0"/>
              </a:rPr>
              <a:t>].</a:t>
            </a:r>
            <a:r>
              <a:rPr lang="en-US" altLang="zh-CN" sz="1667" i="1" dirty="0">
                <a:latin typeface="Consolas" panose="020B0609020204030204" pitchFamily="49" charset="0"/>
                <a:ea typeface="MS PGothic" charset="0"/>
                <a:cs typeface="Consolas" panose="020B0609020204030204" pitchFamily="49" charset="0"/>
              </a:rPr>
              <a:t>state</a:t>
            </a:r>
            <a:r>
              <a:rPr lang="en-US" altLang="zh-CN" sz="1667" b="1" dirty="0">
                <a:latin typeface="Consolas" panose="020B0609020204030204" pitchFamily="49" charset="0"/>
                <a:ea typeface="MS PGothic" charset="0"/>
                <a:cs typeface="Consolas" panose="020B0609020204030204" pitchFamily="49" charset="0"/>
              </a:rPr>
              <a:t> </a:t>
            </a:r>
            <a:r>
              <a:rPr lang="en-US" altLang="zh-CN" sz="1667" dirty="0">
                <a:latin typeface="Consolas" panose="020B0609020204030204" pitchFamily="49" charset="0"/>
                <a:ea typeface="MS PGothic" charset="0"/>
                <a:cs typeface="Consolas" panose="020B0609020204030204" pitchFamily="49" charset="0"/>
              </a:rPr>
              <a:t>← RUNNING</a:t>
            </a: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22 			</a:t>
            </a:r>
            <a:r>
              <a:rPr lang="en-US" altLang="zh-CN" sz="1667" dirty="0" err="1">
                <a:latin typeface="Consolas" panose="020B0609020204030204" pitchFamily="49" charset="0"/>
                <a:ea typeface="MS PGothic" charset="0"/>
                <a:cs typeface="Consolas" panose="020B0609020204030204" pitchFamily="49" charset="0"/>
              </a:rPr>
              <a:t>processor_table</a:t>
            </a:r>
            <a:r>
              <a:rPr lang="en-US" altLang="zh-CN" sz="1667" dirty="0">
                <a:latin typeface="Consolas" panose="020B0609020204030204" pitchFamily="49" charset="0"/>
                <a:ea typeface="MS PGothic" charset="0"/>
                <a:cs typeface="Consolas" panose="020B0609020204030204" pitchFamily="49" charset="0"/>
              </a:rPr>
              <a:t>[CPUID].</a:t>
            </a:r>
            <a:r>
              <a:rPr lang="en-US" altLang="zh-CN" sz="1667" i="1" dirty="0" err="1">
                <a:latin typeface="Consolas" panose="020B0609020204030204" pitchFamily="49" charset="0"/>
                <a:ea typeface="MS PGothic" charset="0"/>
                <a:cs typeface="Consolas" panose="020B0609020204030204" pitchFamily="49" charset="0"/>
              </a:rPr>
              <a:t>thread_id</a:t>
            </a:r>
            <a:r>
              <a:rPr lang="en-US" altLang="zh-CN" sz="1667" dirty="0">
                <a:latin typeface="Consolas" panose="020B0609020204030204" pitchFamily="49" charset="0"/>
                <a:ea typeface="MS PGothic" charset="0"/>
                <a:cs typeface="Consolas" panose="020B0609020204030204" pitchFamily="49" charset="0"/>
              </a:rPr>
              <a:t> ← </a:t>
            </a:r>
            <a:r>
              <a:rPr lang="en-US" altLang="zh-CN" sz="1667" i="1" dirty="0" err="1">
                <a:latin typeface="Consolas" panose="020B0609020204030204" pitchFamily="49" charset="0"/>
                <a:ea typeface="MS PGothic" charset="0"/>
                <a:cs typeface="Consolas" panose="020B0609020204030204" pitchFamily="49" charset="0"/>
              </a:rPr>
              <a:t>i</a:t>
            </a:r>
            <a:endParaRPr lang="en-US" altLang="zh-CN" sz="1667" i="1" dirty="0">
              <a:latin typeface="Consolas" panose="020B0609020204030204" pitchFamily="49" charset="0"/>
              <a:ea typeface="MS PGothic" charset="0"/>
              <a:cs typeface="Consolas" panose="020B0609020204030204" pitchFamily="49" charset="0"/>
            </a:endParaRP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23 			EXIT_PROCESSOR_LAYER (CPUID, </a:t>
            </a:r>
            <a:r>
              <a:rPr lang="en-US" altLang="zh-CN" sz="1667" i="1" dirty="0" err="1">
                <a:latin typeface="Consolas" panose="020B0609020204030204" pitchFamily="49" charset="0"/>
                <a:ea typeface="MS PGothic" charset="0"/>
                <a:cs typeface="Consolas" panose="020B0609020204030204" pitchFamily="49" charset="0"/>
              </a:rPr>
              <a:t>i</a:t>
            </a:r>
            <a:r>
              <a:rPr lang="en-US" altLang="zh-CN" sz="1667" dirty="0">
                <a:latin typeface="Consolas" panose="020B0609020204030204" pitchFamily="49" charset="0"/>
                <a:ea typeface="MS PGothic" charset="0"/>
                <a:cs typeface="Consolas" panose="020B0609020204030204" pitchFamily="49" charset="0"/>
              </a:rPr>
              <a:t>)</a:t>
            </a:r>
          </a:p>
          <a:p>
            <a:pPr>
              <a:lnSpc>
                <a:spcPct val="160000"/>
              </a:lnSpc>
              <a:spcBef>
                <a:spcPts val="0"/>
              </a:spcBef>
              <a:buFontTx/>
              <a:buNone/>
            </a:pPr>
            <a:r>
              <a:rPr lang="en-US" altLang="zh-CN" sz="1667" dirty="0">
                <a:solidFill>
                  <a:srgbClr val="C0504D"/>
                </a:solidFill>
                <a:latin typeface="Consolas" panose="020B0609020204030204" pitchFamily="49" charset="0"/>
                <a:ea typeface="MS PGothic" charset="0"/>
                <a:cs typeface="Consolas" panose="020B0609020204030204" pitchFamily="49" charset="0"/>
              </a:rPr>
              <a:t>24 			</a:t>
            </a:r>
            <a:r>
              <a:rPr lang="en-US" altLang="zh-CN" sz="1667" b="1" dirty="0">
                <a:solidFill>
                  <a:srgbClr val="C0504D"/>
                </a:solidFill>
                <a:latin typeface="Consolas" panose="020B0609020204030204" pitchFamily="49" charset="0"/>
                <a:ea typeface="MS PGothic" charset="0"/>
                <a:cs typeface="Consolas" panose="020B0609020204030204" pitchFamily="49" charset="0"/>
              </a:rPr>
              <a:t>if </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threadtable</a:t>
            </a:r>
            <a:r>
              <a:rPr lang="en-US" altLang="zh-CN" sz="1667" i="1" dirty="0">
                <a:solidFill>
                  <a:srgbClr val="C0504D"/>
                </a:solidFill>
                <a:latin typeface="Consolas" panose="020B0609020204030204" pitchFamily="49" charset="0"/>
                <a:ea typeface="MS PGothic" charset="0"/>
                <a:cs typeface="Consolas" panose="020B0609020204030204" pitchFamily="49" charset="0"/>
              </a:rPr>
              <a: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i</a:t>
            </a:r>
            <a:r>
              <a:rPr lang="en-US" altLang="zh-CN" sz="1667" i="1" dirty="0">
                <a:solidFill>
                  <a:srgbClr val="C0504D"/>
                </a:solidFill>
                <a:latin typeface="Consolas" panose="020B0609020204030204" pitchFamily="49" charset="0"/>
                <a:ea typeface="MS PGothic" charset="0"/>
                <a:cs typeface="Consolas" panose="020B0609020204030204" pitchFamily="49" charset="0"/>
              </a:rPr>
              <a: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kill_or_continue</a:t>
            </a:r>
            <a:r>
              <a:rPr lang="en-US" altLang="zh-CN" sz="1667" i="1" dirty="0">
                <a:solidFill>
                  <a:srgbClr val="C0504D"/>
                </a:solidFill>
                <a:latin typeface="Consolas" panose="020B0609020204030204" pitchFamily="49" charset="0"/>
                <a:ea typeface="MS PGothic" charset="0"/>
                <a:cs typeface="Consolas" panose="020B0609020204030204" pitchFamily="49" charset="0"/>
              </a:rPr>
              <a:t> </a:t>
            </a:r>
            <a:r>
              <a:rPr lang="en-US" altLang="zh-CN" sz="1667" dirty="0">
                <a:solidFill>
                  <a:srgbClr val="C0504D"/>
                </a:solidFill>
                <a:latin typeface="Consolas" panose="020B0609020204030204" pitchFamily="49" charset="0"/>
                <a:ea typeface="MS PGothic" charset="0"/>
                <a:cs typeface="Consolas" panose="020B0609020204030204" pitchFamily="49" charset="0"/>
              </a:rPr>
              <a:t>= KILL </a:t>
            </a:r>
            <a:r>
              <a:rPr lang="en-US" altLang="zh-CN" sz="1667" b="1" dirty="0">
                <a:solidFill>
                  <a:srgbClr val="C0504D"/>
                </a:solidFill>
                <a:latin typeface="Consolas" panose="020B0609020204030204" pitchFamily="49" charset="0"/>
                <a:ea typeface="MS PGothic" charset="0"/>
                <a:cs typeface="Consolas" panose="020B0609020204030204" pitchFamily="49" charset="0"/>
              </a:rPr>
              <a:t>then</a:t>
            </a:r>
          </a:p>
          <a:p>
            <a:pPr>
              <a:lnSpc>
                <a:spcPct val="160000"/>
              </a:lnSpc>
              <a:spcBef>
                <a:spcPts val="0"/>
              </a:spcBef>
              <a:buFontTx/>
              <a:buNone/>
            </a:pPr>
            <a:r>
              <a:rPr lang="en-US" altLang="zh-CN" sz="1667" dirty="0">
                <a:solidFill>
                  <a:srgbClr val="C0504D"/>
                </a:solidFill>
                <a:latin typeface="Consolas" panose="020B0609020204030204" pitchFamily="49" charset="0"/>
                <a:ea typeface="MS PGothic" charset="0"/>
                <a:cs typeface="Consolas" panose="020B0609020204030204" pitchFamily="49" charset="0"/>
              </a:rPr>
              <a:t>25 				 </a:t>
            </a:r>
            <a:r>
              <a:rPr lang="en-US" altLang="zh-CN" sz="1667" dirty="0" err="1">
                <a:solidFill>
                  <a:srgbClr val="C0504D"/>
                </a:solidFill>
                <a:latin typeface="Consolas" panose="020B0609020204030204" pitchFamily="49" charset="0"/>
                <a:ea typeface="MS PGothic" charset="0"/>
                <a:cs typeface="Consolas" panose="020B0609020204030204" pitchFamily="49" charset="0"/>
              </a:rPr>
              <a:t>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hreadtable</a:t>
            </a:r>
            <a:r>
              <a:rPr lang="en-US" altLang="zh-CN" sz="1667" dirty="0">
                <a:solidFill>
                  <a:srgbClr val="C0504D"/>
                </a:solidFill>
                <a:latin typeface="Consolas" panose="020B0609020204030204" pitchFamily="49" charset="0"/>
                <a:ea typeface="MS PGothic" charset="0"/>
                <a:cs typeface="Consolas" panose="020B0609020204030204" pitchFamily="49" charset="0"/>
              </a:rPr>
              <a: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i</a:t>
            </a:r>
            <a:r>
              <a:rPr lang="en-US" altLang="zh-CN" sz="1667" dirty="0">
                <a:solidFill>
                  <a:srgbClr val="C0504D"/>
                </a:solidFill>
                <a:latin typeface="Consolas" panose="020B0609020204030204" pitchFamily="49" charset="0"/>
                <a:ea typeface="MS PGothic" charset="0"/>
                <a:cs typeface="Consolas" panose="020B0609020204030204" pitchFamily="49" charset="0"/>
              </a:rPr>
              <a:t>].</a:t>
            </a:r>
            <a:r>
              <a:rPr lang="en-US" altLang="zh-CN" sz="1667" i="1" dirty="0">
                <a:solidFill>
                  <a:srgbClr val="C0504D"/>
                </a:solidFill>
                <a:latin typeface="Consolas" panose="020B0609020204030204" pitchFamily="49" charset="0"/>
                <a:ea typeface="MS PGothic" charset="0"/>
                <a:cs typeface="Consolas" panose="020B0609020204030204" pitchFamily="49" charset="0"/>
              </a:rPr>
              <a:t>state</a:t>
            </a:r>
            <a:r>
              <a:rPr lang="en-US" altLang="zh-CN" sz="1667" dirty="0">
                <a:solidFill>
                  <a:srgbClr val="C0504D"/>
                </a:solidFill>
                <a:latin typeface="Consolas" panose="020B0609020204030204" pitchFamily="49" charset="0"/>
                <a:ea typeface="MS PGothic" charset="0"/>
                <a:cs typeface="Consolas" panose="020B0609020204030204" pitchFamily="49" charset="0"/>
              </a:rPr>
              <a:t> ← FREE</a:t>
            </a:r>
          </a:p>
          <a:p>
            <a:pPr>
              <a:lnSpc>
                <a:spcPct val="160000"/>
              </a:lnSpc>
              <a:spcBef>
                <a:spcPts val="0"/>
              </a:spcBef>
              <a:buFontTx/>
              <a:buNone/>
            </a:pPr>
            <a:r>
              <a:rPr lang="en-US" altLang="zh-CN" sz="1667" dirty="0">
                <a:solidFill>
                  <a:srgbClr val="C0504D"/>
                </a:solidFill>
                <a:latin typeface="Consolas" panose="020B0609020204030204" pitchFamily="49" charset="0"/>
                <a:ea typeface="MS PGothic" charset="0"/>
                <a:cs typeface="Consolas" panose="020B0609020204030204" pitchFamily="49" charset="0"/>
              </a:rPr>
              <a:t>26 				 DEALLOCATE(</a:t>
            </a:r>
            <a:r>
              <a:rPr lang="en-US" altLang="zh-CN" sz="1667" dirty="0" err="1">
                <a:solidFill>
                  <a:srgbClr val="C0504D"/>
                </a:solidFill>
                <a:latin typeface="Consolas" panose="020B0609020204030204" pitchFamily="49" charset="0"/>
                <a:ea typeface="MS PGothic" charset="0"/>
                <a:cs typeface="Consolas" panose="020B0609020204030204" pitchFamily="49" charset="0"/>
              </a:rPr>
              <a:t>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hreadtable</a:t>
            </a:r>
            <a:r>
              <a:rPr lang="en-US" altLang="zh-CN" sz="1667" dirty="0">
                <a:solidFill>
                  <a:srgbClr val="C0504D"/>
                </a:solidFill>
                <a:latin typeface="Consolas" panose="020B0609020204030204" pitchFamily="49" charset="0"/>
                <a:ea typeface="MS PGothic" charset="0"/>
                <a:cs typeface="Consolas" panose="020B0609020204030204" pitchFamily="49" charset="0"/>
              </a:rPr>
              <a: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i</a:t>
            </a:r>
            <a:r>
              <a:rPr lang="en-US" altLang="zh-CN" sz="1667" dirty="0">
                <a:solidFill>
                  <a:srgbClr val="C0504D"/>
                </a:solidFill>
                <a:latin typeface="Consolas" panose="020B0609020204030204" pitchFamily="49" charset="0"/>
                <a:ea typeface="MS PGothic" charset="0"/>
                <a:cs typeface="Consolas" panose="020B0609020204030204" pitchFamily="49" charset="0"/>
              </a:rPr>
              <a:t>]. </a:t>
            </a:r>
            <a:r>
              <a:rPr lang="en-US" altLang="zh-CN" sz="1667" i="1" dirty="0">
                <a:solidFill>
                  <a:srgbClr val="C0504D"/>
                </a:solidFill>
                <a:latin typeface="Consolas" panose="020B0609020204030204" pitchFamily="49" charset="0"/>
                <a:ea typeface="MS PGothic" charset="0"/>
                <a:cs typeface="Consolas" panose="020B0609020204030204" pitchFamily="49" charset="0"/>
              </a:rPr>
              <a:t>stack</a:t>
            </a:r>
            <a:r>
              <a:rPr lang="en-US" altLang="zh-CN" sz="1667" dirty="0">
                <a:solidFill>
                  <a:srgbClr val="C0504D"/>
                </a:solidFill>
                <a:latin typeface="Consolas" panose="020B0609020204030204" pitchFamily="49" charset="0"/>
                <a:ea typeface="MS PGothic" charset="0"/>
                <a:cs typeface="Consolas" panose="020B0609020204030204" pitchFamily="49" charset="0"/>
              </a:rPr>
              <a:t>)</a:t>
            </a:r>
          </a:p>
          <a:p>
            <a:pPr>
              <a:lnSpc>
                <a:spcPct val="160000"/>
              </a:lnSpc>
              <a:spcBef>
                <a:spcPts val="0"/>
              </a:spcBef>
              <a:buFontTx/>
              <a:buNone/>
            </a:pPr>
            <a:r>
              <a:rPr lang="en-US" altLang="zh-CN" sz="1667" dirty="0">
                <a:solidFill>
                  <a:srgbClr val="C0504D"/>
                </a:solidFill>
                <a:latin typeface="Consolas" panose="020B0609020204030204" pitchFamily="49" charset="0"/>
                <a:ea typeface="MS PGothic" charset="0"/>
                <a:cs typeface="Consolas" panose="020B0609020204030204" pitchFamily="49" charset="0"/>
              </a:rPr>
              <a:t>27 				 </a:t>
            </a:r>
            <a:r>
              <a:rPr lang="en-US" altLang="zh-CN" sz="1667" dirty="0" err="1">
                <a:solidFill>
                  <a:srgbClr val="C0504D"/>
                </a:solidFill>
                <a:latin typeface="Consolas" panose="020B0609020204030204" pitchFamily="49" charset="0"/>
                <a:ea typeface="MS PGothic" charset="0"/>
                <a:cs typeface="Consolas" panose="020B0609020204030204" pitchFamily="49" charset="0"/>
              </a:rPr>
              <a:t>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hreadtable</a:t>
            </a:r>
            <a:r>
              <a:rPr lang="en-US" altLang="zh-CN" sz="1667" dirty="0">
                <a:solidFill>
                  <a:srgbClr val="C0504D"/>
                </a:solidFill>
                <a:latin typeface="Consolas" panose="020B0609020204030204" pitchFamily="49" charset="0"/>
                <a:ea typeface="MS PGothic" charset="0"/>
                <a:cs typeface="Consolas" panose="020B0609020204030204" pitchFamily="49" charset="0"/>
              </a:rPr>
              <a:t>[</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i</a:t>
            </a:r>
            <a:r>
              <a:rPr lang="en-US" altLang="zh-CN" sz="1667" dirty="0">
                <a:solidFill>
                  <a:srgbClr val="C0504D"/>
                </a:solidFill>
                <a:latin typeface="Consolas" panose="020B0609020204030204" pitchFamily="49" charset="0"/>
                <a:ea typeface="MS PGothic" charset="0"/>
                <a:cs typeface="Consolas" panose="020B0609020204030204" pitchFamily="49" charset="0"/>
              </a:rPr>
              <a:t>]. </a:t>
            </a:r>
            <a:r>
              <a:rPr lang="en-US" altLang="zh-CN" sz="1667" i="1" dirty="0" err="1">
                <a:solidFill>
                  <a:srgbClr val="C0504D"/>
                </a:solidFill>
                <a:latin typeface="Consolas" panose="020B0609020204030204" pitchFamily="49" charset="0"/>
                <a:ea typeface="MS PGothic" charset="0"/>
                <a:cs typeface="Consolas" panose="020B0609020204030204" pitchFamily="49" charset="0"/>
              </a:rPr>
              <a:t>kill_or_continue</a:t>
            </a:r>
            <a:r>
              <a:rPr lang="en-US" altLang="zh-CN" sz="1667" dirty="0">
                <a:solidFill>
                  <a:srgbClr val="C0504D"/>
                </a:solidFill>
                <a:latin typeface="Consolas" panose="020B0609020204030204" pitchFamily="49" charset="0"/>
                <a:ea typeface="MS PGothic" charset="0"/>
                <a:cs typeface="Consolas" panose="020B0609020204030204" pitchFamily="49" charset="0"/>
              </a:rPr>
              <a:t> = CONTINUE</a:t>
            </a:r>
          </a:p>
          <a:p>
            <a:pPr>
              <a:lnSpc>
                <a:spcPct val="160000"/>
              </a:lnSpc>
              <a:spcBef>
                <a:spcPts val="0"/>
              </a:spcBef>
              <a:buFontTx/>
              <a:buNone/>
            </a:pPr>
            <a:r>
              <a:rPr lang="en-US" altLang="zh-CN" sz="1667" dirty="0">
                <a:solidFill>
                  <a:srgbClr val="4F81BD"/>
                </a:solidFill>
                <a:latin typeface="Consolas" panose="020B0609020204030204" pitchFamily="49" charset="0"/>
                <a:ea typeface="MS PGothic" charset="0"/>
                <a:cs typeface="Consolas" panose="020B0609020204030204" pitchFamily="49" charset="0"/>
              </a:rPr>
              <a:t>28 		RELEASE (</a:t>
            </a:r>
            <a:r>
              <a:rPr lang="en-US" altLang="zh-CN" sz="1667" i="1" dirty="0" err="1">
                <a:solidFill>
                  <a:srgbClr val="4F81BD"/>
                </a:solidFill>
                <a:latin typeface="Consolas" panose="020B0609020204030204" pitchFamily="49" charset="0"/>
                <a:ea typeface="MS PGothic" charset="0"/>
                <a:cs typeface="Consolas" panose="020B0609020204030204" pitchFamily="49" charset="0"/>
              </a:rPr>
              <a:t>threadtable_lock</a:t>
            </a:r>
            <a:r>
              <a:rPr lang="en-US" altLang="zh-CN" sz="1667" dirty="0">
                <a:solidFill>
                  <a:srgbClr val="4F81BD"/>
                </a:solidFill>
                <a:latin typeface="Consolas" panose="020B0609020204030204" pitchFamily="49" charset="0"/>
                <a:ea typeface="MS PGothic" charset="0"/>
                <a:cs typeface="Consolas" panose="020B0609020204030204" pitchFamily="49" charset="0"/>
              </a:rPr>
              <a:t>)</a:t>
            </a:r>
          </a:p>
          <a:p>
            <a:pPr>
              <a:lnSpc>
                <a:spcPct val="160000"/>
              </a:lnSpc>
              <a:spcBef>
                <a:spcPts val="0"/>
              </a:spcBef>
              <a:buFontTx/>
              <a:buNone/>
            </a:pPr>
            <a:r>
              <a:rPr lang="en-US" altLang="zh-CN" sz="1667" dirty="0">
                <a:latin typeface="Consolas" panose="020B0609020204030204" pitchFamily="49" charset="0"/>
                <a:ea typeface="MS PGothic" charset="0"/>
                <a:cs typeface="Consolas" panose="020B0609020204030204" pitchFamily="49" charset="0"/>
              </a:rPr>
              <a:t>29     </a:t>
            </a:r>
            <a:r>
              <a:rPr lang="en-US" altLang="zh-CN" sz="1667" b="1" dirty="0">
                <a:latin typeface="Consolas" panose="020B0609020204030204" pitchFamily="49" charset="0"/>
                <a:ea typeface="MS PGothic" charset="0"/>
                <a:cs typeface="Consolas" panose="020B0609020204030204" pitchFamily="49" charset="0"/>
              </a:rPr>
              <a:t>return 		</a:t>
            </a:r>
            <a:r>
              <a:rPr lang="en-US" altLang="zh-CN" sz="1667" dirty="0">
                <a:latin typeface="Consolas" panose="020B0609020204030204" pitchFamily="49" charset="0"/>
                <a:ea typeface="MS PGothic" charset="0"/>
                <a:cs typeface="Consolas" panose="020B0609020204030204" pitchFamily="49" charset="0"/>
              </a:rPr>
              <a:t>// Go shut down this processor</a:t>
            </a:r>
          </a:p>
        </p:txBody>
      </p:sp>
    </p:spTree>
    <p:extLst>
      <p:ext uri="{BB962C8B-B14F-4D97-AF65-F5344CB8AC3E}">
        <p14:creationId xmlns:p14="http://schemas.microsoft.com/office/powerpoint/2010/main" val="3014932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16</a:t>
            </a:fld>
            <a:endParaRPr lang="zh-CN" altLang="en-US"/>
          </a:p>
        </p:txBody>
      </p:sp>
      <p:pic>
        <p:nvPicPr>
          <p:cNvPr id="5" name="图片 4"/>
          <p:cNvPicPr>
            <a:picLocks noChangeAspect="1"/>
          </p:cNvPicPr>
          <p:nvPr/>
        </p:nvPicPr>
        <p:blipFill rotWithShape="1">
          <a:blip r:embed="rId3"/>
          <a:srcRect l="9304" r="18850"/>
          <a:stretch/>
        </p:blipFill>
        <p:spPr>
          <a:xfrm>
            <a:off x="4451987" y="997294"/>
            <a:ext cx="3717084" cy="2328148"/>
          </a:xfrm>
          <a:prstGeom prst="rect">
            <a:avLst/>
          </a:prstGeom>
          <a:ln>
            <a:solidFill>
              <a:srgbClr val="000000"/>
            </a:solidFill>
          </a:ln>
        </p:spPr>
      </p:pic>
      <p:sp>
        <p:nvSpPr>
          <p:cNvPr id="6" name="矩形 5"/>
          <p:cNvSpPr/>
          <p:nvPr/>
        </p:nvSpPr>
        <p:spPr>
          <a:xfrm>
            <a:off x="2193787" y="3817607"/>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7" name="矩形 6"/>
          <p:cNvSpPr/>
          <p:nvPr/>
        </p:nvSpPr>
        <p:spPr>
          <a:xfrm>
            <a:off x="2868954" y="3817607"/>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8" name="矩形 7"/>
          <p:cNvSpPr/>
          <p:nvPr/>
        </p:nvSpPr>
        <p:spPr>
          <a:xfrm>
            <a:off x="2988967" y="3817607"/>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9" name="矩形 8"/>
          <p:cNvSpPr/>
          <p:nvPr/>
        </p:nvSpPr>
        <p:spPr>
          <a:xfrm>
            <a:off x="3644304" y="3817607"/>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10" name="矩形 9"/>
          <p:cNvSpPr/>
          <p:nvPr/>
        </p:nvSpPr>
        <p:spPr>
          <a:xfrm>
            <a:off x="7705256" y="3817607"/>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11" name="矩形 10"/>
          <p:cNvSpPr/>
          <p:nvPr/>
        </p:nvSpPr>
        <p:spPr>
          <a:xfrm>
            <a:off x="4944949" y="3817607"/>
            <a:ext cx="600067"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dirty="0"/>
          </a:p>
        </p:txBody>
      </p:sp>
      <p:sp>
        <p:nvSpPr>
          <p:cNvPr id="12" name="矩形 11"/>
          <p:cNvSpPr/>
          <p:nvPr/>
        </p:nvSpPr>
        <p:spPr>
          <a:xfrm>
            <a:off x="862949" y="3828297"/>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App</a:t>
            </a:r>
            <a:endParaRPr kumimoji="1" lang="zh-CN" altLang="en-US" sz="1000" dirty="0"/>
          </a:p>
        </p:txBody>
      </p:sp>
      <p:sp>
        <p:nvSpPr>
          <p:cNvPr id="13" name="矩形 12"/>
          <p:cNvSpPr/>
          <p:nvPr/>
        </p:nvSpPr>
        <p:spPr>
          <a:xfrm>
            <a:off x="1523023" y="3817607"/>
            <a:ext cx="528698"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14" name="矩形 13"/>
          <p:cNvSpPr/>
          <p:nvPr/>
        </p:nvSpPr>
        <p:spPr>
          <a:xfrm>
            <a:off x="862277" y="4357667"/>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YIELD</a:t>
            </a:r>
            <a:endParaRPr kumimoji="1" lang="zh-CN" altLang="en-US" sz="1000" dirty="0"/>
          </a:p>
        </p:txBody>
      </p:sp>
      <p:sp>
        <p:nvSpPr>
          <p:cNvPr id="15" name="矩形 14"/>
          <p:cNvSpPr/>
          <p:nvPr/>
        </p:nvSpPr>
        <p:spPr>
          <a:xfrm>
            <a:off x="1524719" y="4357667"/>
            <a:ext cx="528698"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16" name="矩形 15"/>
          <p:cNvSpPr/>
          <p:nvPr/>
        </p:nvSpPr>
        <p:spPr>
          <a:xfrm>
            <a:off x="2866736" y="4357667"/>
            <a:ext cx="600067" cy="307777"/>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dirty="0"/>
          </a:p>
        </p:txBody>
      </p:sp>
      <p:sp>
        <p:nvSpPr>
          <p:cNvPr id="17" name="矩形 16"/>
          <p:cNvSpPr/>
          <p:nvPr/>
        </p:nvSpPr>
        <p:spPr>
          <a:xfrm>
            <a:off x="1524719" y="4665444"/>
            <a:ext cx="528698"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00" b="1" dirty="0"/>
              <a:t>ENTER</a:t>
            </a:r>
            <a:endParaRPr kumimoji="1" lang="zh-CN" altLang="en-US" sz="600" b="1" dirty="0"/>
          </a:p>
        </p:txBody>
      </p:sp>
      <p:sp>
        <p:nvSpPr>
          <p:cNvPr id="18" name="矩形 17"/>
          <p:cNvSpPr/>
          <p:nvPr/>
        </p:nvSpPr>
        <p:spPr>
          <a:xfrm>
            <a:off x="2191568" y="4365410"/>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SCHED</a:t>
            </a:r>
            <a:endParaRPr kumimoji="1" lang="zh-CN" altLang="en-US" sz="900" dirty="0"/>
          </a:p>
        </p:txBody>
      </p:sp>
      <p:sp>
        <p:nvSpPr>
          <p:cNvPr id="19" name="矩形 18"/>
          <p:cNvSpPr/>
          <p:nvPr/>
        </p:nvSpPr>
        <p:spPr>
          <a:xfrm>
            <a:off x="862278" y="3457567"/>
            <a:ext cx="619080" cy="323165"/>
          </a:xfrm>
          <a:prstGeom prst="rect">
            <a:avLst/>
          </a:prstGeom>
        </p:spPr>
        <p:txBody>
          <a:bodyPr wrap="none">
            <a:spAutoFit/>
          </a:bodyPr>
          <a:lstStyle/>
          <a:p>
            <a:r>
              <a:rPr kumimoji="1" lang="en-US" altLang="zh-CN" sz="1500" dirty="0"/>
              <a:t>YIELD</a:t>
            </a:r>
            <a:endParaRPr lang="zh-CN" altLang="en-US" sz="1500" dirty="0"/>
          </a:p>
        </p:txBody>
      </p:sp>
      <p:sp>
        <p:nvSpPr>
          <p:cNvPr id="20" name="矩形 19"/>
          <p:cNvSpPr/>
          <p:nvPr/>
        </p:nvSpPr>
        <p:spPr>
          <a:xfrm>
            <a:off x="1524720" y="3465311"/>
            <a:ext cx="694421" cy="323165"/>
          </a:xfrm>
          <a:prstGeom prst="rect">
            <a:avLst/>
          </a:prstGeom>
        </p:spPr>
        <p:txBody>
          <a:bodyPr wrap="none">
            <a:spAutoFit/>
          </a:bodyPr>
          <a:lstStyle/>
          <a:p>
            <a:r>
              <a:rPr kumimoji="1" lang="en-US" altLang="zh-CN" sz="1500" dirty="0"/>
              <a:t>ENTER</a:t>
            </a:r>
            <a:endParaRPr lang="zh-CN" altLang="en-US" sz="1500" dirty="0"/>
          </a:p>
        </p:txBody>
      </p:sp>
      <p:sp>
        <p:nvSpPr>
          <p:cNvPr id="21" name="矩形 20"/>
          <p:cNvSpPr/>
          <p:nvPr/>
        </p:nvSpPr>
        <p:spPr>
          <a:xfrm>
            <a:off x="2191568" y="3465311"/>
            <a:ext cx="708848" cy="323165"/>
          </a:xfrm>
          <a:prstGeom prst="rect">
            <a:avLst/>
          </a:prstGeom>
        </p:spPr>
        <p:txBody>
          <a:bodyPr wrap="none">
            <a:spAutoFit/>
          </a:bodyPr>
          <a:lstStyle/>
          <a:p>
            <a:r>
              <a:rPr kumimoji="1" lang="en-US" altLang="zh-CN" sz="1500" dirty="0"/>
              <a:t>SCHED</a:t>
            </a:r>
            <a:endParaRPr lang="zh-CN" altLang="en-US" sz="1500" dirty="0"/>
          </a:p>
        </p:txBody>
      </p:sp>
      <p:sp>
        <p:nvSpPr>
          <p:cNvPr id="22" name="矩形 21"/>
          <p:cNvSpPr/>
          <p:nvPr/>
        </p:nvSpPr>
        <p:spPr>
          <a:xfrm>
            <a:off x="2902504" y="3465311"/>
            <a:ext cx="519694" cy="323165"/>
          </a:xfrm>
          <a:prstGeom prst="rect">
            <a:avLst/>
          </a:prstGeom>
        </p:spPr>
        <p:txBody>
          <a:bodyPr wrap="none">
            <a:spAutoFit/>
          </a:bodyPr>
          <a:lstStyle/>
          <a:p>
            <a:r>
              <a:rPr kumimoji="1" lang="en-US" altLang="zh-CN" sz="1500" dirty="0"/>
              <a:t>EXIT</a:t>
            </a:r>
            <a:endParaRPr lang="zh-CN" altLang="en-US" sz="1500" dirty="0"/>
          </a:p>
        </p:txBody>
      </p:sp>
      <p:sp>
        <p:nvSpPr>
          <p:cNvPr id="23" name="矩形 22"/>
          <p:cNvSpPr/>
          <p:nvPr/>
        </p:nvSpPr>
        <p:spPr>
          <a:xfrm>
            <a:off x="2866736" y="4665444"/>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a:t>
            </a:r>
            <a:endParaRPr kumimoji="1" lang="zh-CN" altLang="en-US" sz="900" dirty="0"/>
          </a:p>
        </p:txBody>
      </p:sp>
      <p:sp>
        <p:nvSpPr>
          <p:cNvPr id="24" name="右箭头 23"/>
          <p:cNvSpPr/>
          <p:nvPr/>
        </p:nvSpPr>
        <p:spPr>
          <a:xfrm>
            <a:off x="1224686" y="4845463"/>
            <a:ext cx="240027" cy="240027"/>
          </a:xfrm>
          <a:prstGeom prst="right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25" name="矩形 24"/>
          <p:cNvSpPr/>
          <p:nvPr/>
        </p:nvSpPr>
        <p:spPr>
          <a:xfrm>
            <a:off x="742264" y="4779374"/>
            <a:ext cx="498855" cy="261610"/>
          </a:xfrm>
          <a:prstGeom prst="rect">
            <a:avLst/>
          </a:prstGeom>
        </p:spPr>
        <p:txBody>
          <a:bodyPr wrap="none">
            <a:spAutoFit/>
          </a:bodyPr>
          <a:lstStyle/>
          <a:p>
            <a:r>
              <a:rPr kumimoji="1" lang="en-US" altLang="zh-CN" sz="1100" b="1" dirty="0">
                <a:solidFill>
                  <a:schemeClr val="accent1"/>
                </a:solidFill>
              </a:rPr>
              <a:t>SP-1</a:t>
            </a:r>
            <a:endParaRPr lang="zh-CN" altLang="en-US" sz="1100" b="1" dirty="0">
              <a:solidFill>
                <a:schemeClr val="accent1"/>
              </a:solidFill>
            </a:endParaRPr>
          </a:p>
        </p:txBody>
      </p:sp>
      <p:sp>
        <p:nvSpPr>
          <p:cNvPr id="26" name="矩形 25"/>
          <p:cNvSpPr/>
          <p:nvPr/>
        </p:nvSpPr>
        <p:spPr>
          <a:xfrm>
            <a:off x="2986749" y="4357667"/>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27" name="矩形 26"/>
          <p:cNvSpPr/>
          <p:nvPr/>
        </p:nvSpPr>
        <p:spPr>
          <a:xfrm>
            <a:off x="2986749" y="4665444"/>
            <a:ext cx="600067"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ENTER</a:t>
            </a:r>
            <a:endParaRPr kumimoji="1" lang="zh-CN" altLang="en-US" sz="900" dirty="0"/>
          </a:p>
        </p:txBody>
      </p:sp>
      <p:sp>
        <p:nvSpPr>
          <p:cNvPr id="28" name="右箭头 27"/>
          <p:cNvSpPr/>
          <p:nvPr/>
        </p:nvSpPr>
        <p:spPr>
          <a:xfrm rot="10800000">
            <a:off x="3622585" y="4845463"/>
            <a:ext cx="240027" cy="240027"/>
          </a:xfrm>
          <a:prstGeom prst="right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29" name="矩形 28"/>
          <p:cNvSpPr/>
          <p:nvPr/>
        </p:nvSpPr>
        <p:spPr>
          <a:xfrm>
            <a:off x="3811034" y="4785457"/>
            <a:ext cx="498855" cy="261610"/>
          </a:xfrm>
          <a:prstGeom prst="rect">
            <a:avLst/>
          </a:prstGeom>
        </p:spPr>
        <p:txBody>
          <a:bodyPr wrap="none">
            <a:spAutoFit/>
          </a:bodyPr>
          <a:lstStyle/>
          <a:p>
            <a:r>
              <a:rPr kumimoji="1" lang="en-US" altLang="zh-CN" sz="1100" b="1" dirty="0">
                <a:solidFill>
                  <a:schemeClr val="accent2"/>
                </a:solidFill>
              </a:rPr>
              <a:t>SP-2</a:t>
            </a:r>
            <a:endParaRPr lang="zh-CN" altLang="en-US" sz="1100" b="1" dirty="0">
              <a:solidFill>
                <a:schemeClr val="accent2"/>
              </a:solidFill>
            </a:endParaRPr>
          </a:p>
        </p:txBody>
      </p:sp>
      <p:sp>
        <p:nvSpPr>
          <p:cNvPr id="30" name="矩形 29"/>
          <p:cNvSpPr/>
          <p:nvPr/>
        </p:nvSpPr>
        <p:spPr>
          <a:xfrm>
            <a:off x="3642086" y="4357667"/>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YIELD</a:t>
            </a:r>
            <a:endParaRPr kumimoji="1" lang="zh-CN" altLang="en-US" sz="900" dirty="0"/>
          </a:p>
        </p:txBody>
      </p:sp>
      <p:sp>
        <p:nvSpPr>
          <p:cNvPr id="31" name="矩形 30"/>
          <p:cNvSpPr/>
          <p:nvPr/>
        </p:nvSpPr>
        <p:spPr>
          <a:xfrm>
            <a:off x="3642086" y="3465311"/>
            <a:ext cx="619080" cy="323165"/>
          </a:xfrm>
          <a:prstGeom prst="rect">
            <a:avLst/>
          </a:prstGeom>
        </p:spPr>
        <p:txBody>
          <a:bodyPr wrap="none">
            <a:spAutoFit/>
          </a:bodyPr>
          <a:lstStyle/>
          <a:p>
            <a:r>
              <a:rPr kumimoji="1" lang="en-US" altLang="zh-CN" sz="1500" dirty="0"/>
              <a:t>YIELD</a:t>
            </a:r>
            <a:endParaRPr lang="zh-CN" altLang="en-US" sz="1500" dirty="0"/>
          </a:p>
        </p:txBody>
      </p:sp>
      <p:sp>
        <p:nvSpPr>
          <p:cNvPr id="32" name="矩形 31"/>
          <p:cNvSpPr/>
          <p:nvPr/>
        </p:nvSpPr>
        <p:spPr>
          <a:xfrm>
            <a:off x="5596029" y="3465311"/>
            <a:ext cx="694421" cy="323165"/>
          </a:xfrm>
          <a:prstGeom prst="rect">
            <a:avLst/>
          </a:prstGeom>
        </p:spPr>
        <p:txBody>
          <a:bodyPr wrap="none">
            <a:spAutoFit/>
          </a:bodyPr>
          <a:lstStyle/>
          <a:p>
            <a:r>
              <a:rPr kumimoji="1" lang="en-US" altLang="zh-CN" sz="1500" dirty="0"/>
              <a:t>ENTER</a:t>
            </a:r>
            <a:endParaRPr lang="zh-CN" altLang="en-US" sz="1500" dirty="0"/>
          </a:p>
        </p:txBody>
      </p:sp>
      <p:sp>
        <p:nvSpPr>
          <p:cNvPr id="33" name="矩形 32"/>
          <p:cNvSpPr/>
          <p:nvPr/>
        </p:nvSpPr>
        <p:spPr>
          <a:xfrm>
            <a:off x="6262877" y="3465311"/>
            <a:ext cx="708848" cy="323165"/>
          </a:xfrm>
          <a:prstGeom prst="rect">
            <a:avLst/>
          </a:prstGeom>
        </p:spPr>
        <p:txBody>
          <a:bodyPr wrap="none">
            <a:spAutoFit/>
          </a:bodyPr>
          <a:lstStyle/>
          <a:p>
            <a:r>
              <a:rPr kumimoji="1" lang="en-US" altLang="zh-CN" sz="1500" dirty="0"/>
              <a:t>SCHED</a:t>
            </a:r>
            <a:endParaRPr lang="zh-CN" altLang="en-US" sz="1500" dirty="0"/>
          </a:p>
        </p:txBody>
      </p:sp>
      <p:sp>
        <p:nvSpPr>
          <p:cNvPr id="34" name="矩形 33"/>
          <p:cNvSpPr/>
          <p:nvPr/>
        </p:nvSpPr>
        <p:spPr>
          <a:xfrm>
            <a:off x="6982958" y="3465311"/>
            <a:ext cx="519694" cy="323165"/>
          </a:xfrm>
          <a:prstGeom prst="rect">
            <a:avLst/>
          </a:prstGeom>
        </p:spPr>
        <p:txBody>
          <a:bodyPr wrap="none">
            <a:spAutoFit/>
          </a:bodyPr>
          <a:lstStyle/>
          <a:p>
            <a:r>
              <a:rPr kumimoji="1" lang="en-US" altLang="zh-CN" sz="1500" dirty="0"/>
              <a:t>EXIT</a:t>
            </a:r>
            <a:endParaRPr lang="zh-CN" altLang="en-US" sz="1500" dirty="0"/>
          </a:p>
        </p:txBody>
      </p:sp>
      <p:sp>
        <p:nvSpPr>
          <p:cNvPr id="35" name="矩形 34"/>
          <p:cNvSpPr/>
          <p:nvPr/>
        </p:nvSpPr>
        <p:spPr>
          <a:xfrm>
            <a:off x="7703037" y="4357667"/>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YIELD</a:t>
            </a:r>
            <a:endParaRPr kumimoji="1" lang="zh-CN" altLang="en-US" sz="1000" dirty="0"/>
          </a:p>
        </p:txBody>
      </p:sp>
      <p:sp>
        <p:nvSpPr>
          <p:cNvPr id="36" name="矩形 35"/>
          <p:cNvSpPr/>
          <p:nvPr/>
        </p:nvSpPr>
        <p:spPr>
          <a:xfrm>
            <a:off x="7703038" y="3457567"/>
            <a:ext cx="619080" cy="323165"/>
          </a:xfrm>
          <a:prstGeom prst="rect">
            <a:avLst/>
          </a:prstGeom>
        </p:spPr>
        <p:txBody>
          <a:bodyPr wrap="none">
            <a:spAutoFit/>
          </a:bodyPr>
          <a:lstStyle/>
          <a:p>
            <a:r>
              <a:rPr kumimoji="1" lang="en-US" altLang="zh-CN" sz="1500" dirty="0"/>
              <a:t>YIELD</a:t>
            </a:r>
            <a:endParaRPr lang="zh-CN" altLang="en-US" sz="1500" dirty="0"/>
          </a:p>
        </p:txBody>
      </p:sp>
      <p:sp>
        <p:nvSpPr>
          <p:cNvPr id="37" name="右箭头 36"/>
          <p:cNvSpPr/>
          <p:nvPr/>
        </p:nvSpPr>
        <p:spPr>
          <a:xfrm rot="10800000">
            <a:off x="7692240" y="4845463"/>
            <a:ext cx="240027" cy="240027"/>
          </a:xfrm>
          <a:prstGeom prst="right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38" name="矩形 37"/>
          <p:cNvSpPr/>
          <p:nvPr/>
        </p:nvSpPr>
        <p:spPr>
          <a:xfrm>
            <a:off x="7880689" y="4785457"/>
            <a:ext cx="498855" cy="261610"/>
          </a:xfrm>
          <a:prstGeom prst="rect">
            <a:avLst/>
          </a:prstGeom>
        </p:spPr>
        <p:txBody>
          <a:bodyPr wrap="none">
            <a:spAutoFit/>
          </a:bodyPr>
          <a:lstStyle/>
          <a:p>
            <a:r>
              <a:rPr kumimoji="1" lang="en-US" altLang="zh-CN" sz="1100" b="1" dirty="0">
                <a:solidFill>
                  <a:schemeClr val="accent1"/>
                </a:solidFill>
              </a:rPr>
              <a:t>SP-1</a:t>
            </a:r>
            <a:endParaRPr kumimoji="1" lang="zh-CN" altLang="en-US" sz="1100" b="1" dirty="0">
              <a:solidFill>
                <a:schemeClr val="accent1"/>
              </a:solidFill>
            </a:endParaRPr>
          </a:p>
        </p:txBody>
      </p:sp>
      <p:sp>
        <p:nvSpPr>
          <p:cNvPr id="39" name="矩形 38"/>
          <p:cNvSpPr/>
          <p:nvPr/>
        </p:nvSpPr>
        <p:spPr>
          <a:xfrm>
            <a:off x="4942731" y="4357667"/>
            <a:ext cx="600067"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YIELD</a:t>
            </a:r>
            <a:endParaRPr kumimoji="1" lang="zh-CN" altLang="en-US" sz="1000" dirty="0"/>
          </a:p>
        </p:txBody>
      </p:sp>
      <p:sp>
        <p:nvSpPr>
          <p:cNvPr id="40" name="矩形 39"/>
          <p:cNvSpPr/>
          <p:nvPr/>
        </p:nvSpPr>
        <p:spPr>
          <a:xfrm>
            <a:off x="4942731" y="3465311"/>
            <a:ext cx="619080" cy="323165"/>
          </a:xfrm>
          <a:prstGeom prst="rect">
            <a:avLst/>
          </a:prstGeom>
        </p:spPr>
        <p:txBody>
          <a:bodyPr wrap="none">
            <a:spAutoFit/>
          </a:bodyPr>
          <a:lstStyle/>
          <a:p>
            <a:r>
              <a:rPr kumimoji="1" lang="en-US" altLang="zh-CN" sz="1500" dirty="0"/>
              <a:t>YIELD</a:t>
            </a:r>
            <a:endParaRPr lang="zh-CN" altLang="en-US" sz="1500" dirty="0"/>
          </a:p>
        </p:txBody>
      </p:sp>
      <p:sp>
        <p:nvSpPr>
          <p:cNvPr id="41" name="右箭头 40"/>
          <p:cNvSpPr/>
          <p:nvPr/>
        </p:nvSpPr>
        <p:spPr>
          <a:xfrm>
            <a:off x="5302771" y="4845463"/>
            <a:ext cx="240027" cy="240027"/>
          </a:xfrm>
          <a:prstGeom prst="right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42" name="矩形 41"/>
          <p:cNvSpPr/>
          <p:nvPr/>
        </p:nvSpPr>
        <p:spPr>
          <a:xfrm>
            <a:off x="4762711" y="4779374"/>
            <a:ext cx="498855" cy="261610"/>
          </a:xfrm>
          <a:prstGeom prst="rect">
            <a:avLst/>
          </a:prstGeom>
        </p:spPr>
        <p:txBody>
          <a:bodyPr wrap="none">
            <a:spAutoFit/>
          </a:bodyPr>
          <a:lstStyle/>
          <a:p>
            <a:r>
              <a:rPr kumimoji="1" lang="en-US" altLang="zh-CN" sz="1100" b="1" dirty="0">
                <a:solidFill>
                  <a:schemeClr val="accent2"/>
                </a:solidFill>
              </a:rPr>
              <a:t>SP-2</a:t>
            </a:r>
            <a:endParaRPr kumimoji="1" lang="zh-CN" altLang="en-US" sz="1100" b="1" dirty="0">
              <a:solidFill>
                <a:schemeClr val="accent2"/>
              </a:solidFill>
            </a:endParaRPr>
          </a:p>
        </p:txBody>
      </p:sp>
      <p:sp>
        <p:nvSpPr>
          <p:cNvPr id="43" name="矩形 42"/>
          <p:cNvSpPr/>
          <p:nvPr/>
        </p:nvSpPr>
        <p:spPr>
          <a:xfrm>
            <a:off x="4282658" y="3817607"/>
            <a:ext cx="300033"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APP</a:t>
            </a:r>
            <a:endParaRPr kumimoji="1" lang="zh-CN" altLang="en-US" sz="900" dirty="0"/>
          </a:p>
        </p:txBody>
      </p:sp>
      <p:sp>
        <p:nvSpPr>
          <p:cNvPr id="44" name="矩形 43"/>
          <p:cNvSpPr/>
          <p:nvPr/>
        </p:nvSpPr>
        <p:spPr>
          <a:xfrm>
            <a:off x="4614764" y="3817607"/>
            <a:ext cx="300033"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APP</a:t>
            </a:r>
            <a:endParaRPr kumimoji="1" lang="zh-CN" altLang="en-US" sz="900" dirty="0"/>
          </a:p>
        </p:txBody>
      </p:sp>
      <p:sp>
        <p:nvSpPr>
          <p:cNvPr id="45" name="矩形 44"/>
          <p:cNvSpPr/>
          <p:nvPr/>
        </p:nvSpPr>
        <p:spPr>
          <a:xfrm>
            <a:off x="6262877" y="3825350"/>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46" name="矩形 45"/>
          <p:cNvSpPr/>
          <p:nvPr/>
        </p:nvSpPr>
        <p:spPr>
          <a:xfrm>
            <a:off x="6938045" y="3825350"/>
            <a:ext cx="600067" cy="53711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900"/>
          </a:p>
        </p:txBody>
      </p:sp>
      <p:sp>
        <p:nvSpPr>
          <p:cNvPr id="47" name="矩形 46"/>
          <p:cNvSpPr/>
          <p:nvPr/>
        </p:nvSpPr>
        <p:spPr>
          <a:xfrm>
            <a:off x="7058058" y="3825350"/>
            <a:ext cx="600067" cy="53711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48" name="矩形 47"/>
          <p:cNvSpPr/>
          <p:nvPr/>
        </p:nvSpPr>
        <p:spPr>
          <a:xfrm>
            <a:off x="5592114" y="3825350"/>
            <a:ext cx="528698" cy="53711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49" name="矩形 48"/>
          <p:cNvSpPr/>
          <p:nvPr/>
        </p:nvSpPr>
        <p:spPr>
          <a:xfrm>
            <a:off x="5593810" y="4365410"/>
            <a:ext cx="528698" cy="307777"/>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50" name="矩形 49"/>
          <p:cNvSpPr/>
          <p:nvPr/>
        </p:nvSpPr>
        <p:spPr>
          <a:xfrm>
            <a:off x="6935827" y="4365410"/>
            <a:ext cx="600067" cy="307777"/>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SCHED</a:t>
            </a:r>
            <a:endParaRPr kumimoji="1" lang="zh-CN" altLang="en-US" sz="900" dirty="0"/>
          </a:p>
        </p:txBody>
      </p:sp>
      <p:sp>
        <p:nvSpPr>
          <p:cNvPr id="51" name="矩形 50"/>
          <p:cNvSpPr/>
          <p:nvPr/>
        </p:nvSpPr>
        <p:spPr>
          <a:xfrm>
            <a:off x="5593810" y="4673187"/>
            <a:ext cx="528698" cy="300033"/>
          </a:xfrm>
          <a:prstGeom prst="rect">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00" dirty="0"/>
              <a:t>ENTER</a:t>
            </a:r>
            <a:endParaRPr kumimoji="1" lang="zh-CN" altLang="en-US" sz="600" dirty="0"/>
          </a:p>
        </p:txBody>
      </p:sp>
      <p:sp>
        <p:nvSpPr>
          <p:cNvPr id="52" name="矩形 51"/>
          <p:cNvSpPr/>
          <p:nvPr/>
        </p:nvSpPr>
        <p:spPr>
          <a:xfrm>
            <a:off x="6260659" y="4373154"/>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SCHED</a:t>
            </a:r>
            <a:endParaRPr kumimoji="1" lang="zh-CN" altLang="en-US" sz="900" dirty="0"/>
          </a:p>
        </p:txBody>
      </p:sp>
      <p:sp>
        <p:nvSpPr>
          <p:cNvPr id="53" name="矩形 52"/>
          <p:cNvSpPr/>
          <p:nvPr/>
        </p:nvSpPr>
        <p:spPr>
          <a:xfrm>
            <a:off x="6935827" y="4673187"/>
            <a:ext cx="600067"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b="1" dirty="0"/>
              <a:t>EXIT</a:t>
            </a:r>
            <a:endParaRPr kumimoji="1" lang="zh-CN" altLang="en-US" sz="900" b="1" dirty="0"/>
          </a:p>
        </p:txBody>
      </p:sp>
      <p:sp>
        <p:nvSpPr>
          <p:cNvPr id="54" name="矩形 53"/>
          <p:cNvSpPr/>
          <p:nvPr/>
        </p:nvSpPr>
        <p:spPr>
          <a:xfrm>
            <a:off x="7055840" y="4365410"/>
            <a:ext cx="600067" cy="307777"/>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55" name="矩形 54"/>
          <p:cNvSpPr/>
          <p:nvPr/>
        </p:nvSpPr>
        <p:spPr>
          <a:xfrm>
            <a:off x="7055840" y="4673187"/>
            <a:ext cx="600067" cy="300033"/>
          </a:xfrm>
          <a:prstGeom prst="rect">
            <a:avLst/>
          </a:prstGeom>
          <a:solidFill>
            <a:schemeClr val="accent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ENTER</a:t>
            </a:r>
            <a:endParaRPr kumimoji="1" lang="zh-CN" altLang="en-US" sz="900" dirty="0"/>
          </a:p>
        </p:txBody>
      </p:sp>
      <p:sp>
        <p:nvSpPr>
          <p:cNvPr id="56" name="矩形 55"/>
          <p:cNvSpPr/>
          <p:nvPr/>
        </p:nvSpPr>
        <p:spPr>
          <a:xfrm>
            <a:off x="5690073" y="3833093"/>
            <a:ext cx="540060" cy="540060"/>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MAIN</a:t>
            </a:r>
            <a:endParaRPr kumimoji="1" lang="zh-CN" altLang="en-US" sz="900" dirty="0"/>
          </a:p>
        </p:txBody>
      </p:sp>
      <p:sp>
        <p:nvSpPr>
          <p:cNvPr id="57" name="矩形 56"/>
          <p:cNvSpPr/>
          <p:nvPr/>
        </p:nvSpPr>
        <p:spPr>
          <a:xfrm>
            <a:off x="5690073" y="4373154"/>
            <a:ext cx="540060"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800" dirty="0"/>
              <a:t>SCHED</a:t>
            </a:r>
            <a:endParaRPr kumimoji="1" lang="zh-CN" altLang="en-US" sz="800" dirty="0"/>
          </a:p>
        </p:txBody>
      </p:sp>
      <p:sp>
        <p:nvSpPr>
          <p:cNvPr id="58" name="矩形 57"/>
          <p:cNvSpPr/>
          <p:nvPr/>
        </p:nvSpPr>
        <p:spPr>
          <a:xfrm>
            <a:off x="1511660" y="5284382"/>
            <a:ext cx="2209066" cy="348878"/>
          </a:xfrm>
          <a:prstGeom prst="rect">
            <a:avLst/>
          </a:prstGeom>
        </p:spPr>
        <p:txBody>
          <a:bodyPr wrap="none">
            <a:spAutoFit/>
          </a:bodyPr>
          <a:lstStyle/>
          <a:p>
            <a:r>
              <a:rPr kumimoji="1" lang="en-US" altLang="zh-CN" sz="1667" b="1" dirty="0"/>
              <a:t>SP of Processor Thread</a:t>
            </a:r>
            <a:endParaRPr lang="zh-CN" altLang="en-US" sz="1667" b="1" dirty="0"/>
          </a:p>
        </p:txBody>
      </p:sp>
      <p:sp>
        <p:nvSpPr>
          <p:cNvPr id="59" name="右箭头 58"/>
          <p:cNvSpPr/>
          <p:nvPr/>
        </p:nvSpPr>
        <p:spPr>
          <a:xfrm rot="16200000">
            <a:off x="2051720" y="5044355"/>
            <a:ext cx="240027" cy="240027"/>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60" name="右箭头 59"/>
          <p:cNvSpPr/>
          <p:nvPr/>
        </p:nvSpPr>
        <p:spPr>
          <a:xfrm rot="16200000">
            <a:off x="2771800" y="5044355"/>
            <a:ext cx="240027" cy="240027"/>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61" name="矩形 60"/>
          <p:cNvSpPr/>
          <p:nvPr/>
        </p:nvSpPr>
        <p:spPr>
          <a:xfrm>
            <a:off x="5568830" y="5284382"/>
            <a:ext cx="2209066" cy="348878"/>
          </a:xfrm>
          <a:prstGeom prst="rect">
            <a:avLst/>
          </a:prstGeom>
        </p:spPr>
        <p:txBody>
          <a:bodyPr wrap="none">
            <a:spAutoFit/>
          </a:bodyPr>
          <a:lstStyle/>
          <a:p>
            <a:r>
              <a:rPr kumimoji="1" lang="en-US" altLang="zh-CN" sz="1667" b="1" dirty="0"/>
              <a:t>SP of Processor Thread</a:t>
            </a:r>
            <a:endParaRPr lang="zh-CN" altLang="en-US" sz="1667" b="1" dirty="0"/>
          </a:p>
        </p:txBody>
      </p:sp>
      <p:sp>
        <p:nvSpPr>
          <p:cNvPr id="62" name="右箭头 61"/>
          <p:cNvSpPr/>
          <p:nvPr/>
        </p:nvSpPr>
        <p:spPr>
          <a:xfrm rot="16200000">
            <a:off x="6108890" y="5044355"/>
            <a:ext cx="240027" cy="240027"/>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63" name="右箭头 62"/>
          <p:cNvSpPr/>
          <p:nvPr/>
        </p:nvSpPr>
        <p:spPr>
          <a:xfrm rot="16200000">
            <a:off x="6828970" y="5044355"/>
            <a:ext cx="240027" cy="240027"/>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50"/>
          </a:p>
        </p:txBody>
      </p:sp>
      <p:sp>
        <p:nvSpPr>
          <p:cNvPr id="64" name="矩形 63"/>
          <p:cNvSpPr/>
          <p:nvPr/>
        </p:nvSpPr>
        <p:spPr>
          <a:xfrm>
            <a:off x="5690073" y="4673187"/>
            <a:ext cx="540060"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b="1" dirty="0"/>
              <a:t>EXIT</a:t>
            </a:r>
            <a:endParaRPr kumimoji="1" lang="zh-CN" altLang="en-US" sz="900" b="1" dirty="0"/>
          </a:p>
        </p:txBody>
      </p:sp>
      <p:sp>
        <p:nvSpPr>
          <p:cNvPr id="65" name="矩形 64"/>
          <p:cNvSpPr/>
          <p:nvPr/>
        </p:nvSpPr>
        <p:spPr>
          <a:xfrm>
            <a:off x="1511660" y="3817607"/>
            <a:ext cx="540060" cy="1140127"/>
          </a:xfrm>
          <a:prstGeom prst="rect">
            <a:avLst/>
          </a:prstGeom>
          <a:noFill/>
          <a:ln w="381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sp>
        <p:nvSpPr>
          <p:cNvPr id="66" name="矩形 65"/>
          <p:cNvSpPr/>
          <p:nvPr/>
        </p:nvSpPr>
        <p:spPr>
          <a:xfrm>
            <a:off x="1620983" y="3825350"/>
            <a:ext cx="540060" cy="540060"/>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MAIN</a:t>
            </a:r>
            <a:endParaRPr kumimoji="1" lang="zh-CN" altLang="en-US" sz="900" dirty="0"/>
          </a:p>
        </p:txBody>
      </p:sp>
      <p:sp>
        <p:nvSpPr>
          <p:cNvPr id="67" name="矩形 66"/>
          <p:cNvSpPr/>
          <p:nvPr/>
        </p:nvSpPr>
        <p:spPr>
          <a:xfrm>
            <a:off x="1620983" y="4365410"/>
            <a:ext cx="540060"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800" dirty="0"/>
              <a:t>SCHED</a:t>
            </a:r>
            <a:endParaRPr kumimoji="1" lang="zh-CN" altLang="en-US" sz="800" dirty="0"/>
          </a:p>
        </p:txBody>
      </p:sp>
      <p:sp>
        <p:nvSpPr>
          <p:cNvPr id="68" name="矩形 67"/>
          <p:cNvSpPr/>
          <p:nvPr/>
        </p:nvSpPr>
        <p:spPr>
          <a:xfrm>
            <a:off x="1620983" y="4665444"/>
            <a:ext cx="540060" cy="300033"/>
          </a:xfrm>
          <a:prstGeom prst="rect">
            <a:avLst/>
          </a:prstGeom>
          <a:solidFill>
            <a:schemeClr val="tx1">
              <a:lumMod val="65000"/>
              <a:lumOff val="3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900" dirty="0"/>
              <a:t>EXIT</a:t>
            </a:r>
            <a:endParaRPr kumimoji="1" lang="zh-CN" altLang="en-US" sz="900" dirty="0"/>
          </a:p>
        </p:txBody>
      </p:sp>
      <p:sp>
        <p:nvSpPr>
          <p:cNvPr id="69" name="矩形 68"/>
          <p:cNvSpPr/>
          <p:nvPr/>
        </p:nvSpPr>
        <p:spPr>
          <a:xfrm>
            <a:off x="7069760" y="3828865"/>
            <a:ext cx="600067" cy="1140127"/>
          </a:xfrm>
          <a:prstGeom prst="rect">
            <a:avLst/>
          </a:prstGeom>
          <a:noFill/>
          <a:ln w="381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a:p>
        </p:txBody>
      </p:sp>
      <p:pic>
        <p:nvPicPr>
          <p:cNvPr id="70" name="图片 69"/>
          <p:cNvPicPr>
            <a:picLocks noChangeAspect="1"/>
          </p:cNvPicPr>
          <p:nvPr/>
        </p:nvPicPr>
        <p:blipFill rotWithShape="1">
          <a:blip r:embed="rId4"/>
          <a:srcRect l="12873"/>
          <a:stretch/>
        </p:blipFill>
        <p:spPr>
          <a:xfrm>
            <a:off x="911593" y="157200"/>
            <a:ext cx="3381655" cy="960107"/>
          </a:xfrm>
          <a:prstGeom prst="rect">
            <a:avLst/>
          </a:prstGeom>
          <a:ln w="38100" cmpd="sng">
            <a:solidFill>
              <a:srgbClr val="C0504D"/>
            </a:solidFill>
          </a:ln>
        </p:spPr>
      </p:pic>
      <p:pic>
        <p:nvPicPr>
          <p:cNvPr id="71" name="图片 70"/>
          <p:cNvPicPr>
            <a:picLocks noChangeAspect="1"/>
          </p:cNvPicPr>
          <p:nvPr/>
        </p:nvPicPr>
        <p:blipFill rotWithShape="1">
          <a:blip r:embed="rId5"/>
          <a:srcRect b="49070"/>
          <a:stretch/>
        </p:blipFill>
        <p:spPr>
          <a:xfrm>
            <a:off x="911593" y="1237320"/>
            <a:ext cx="3378948" cy="916846"/>
          </a:xfrm>
          <a:prstGeom prst="rect">
            <a:avLst/>
          </a:prstGeom>
          <a:ln>
            <a:solidFill>
              <a:srgbClr val="000000"/>
            </a:solidFill>
          </a:ln>
        </p:spPr>
      </p:pic>
      <p:pic>
        <p:nvPicPr>
          <p:cNvPr id="72" name="图片 71"/>
          <p:cNvPicPr>
            <a:picLocks noChangeAspect="1"/>
          </p:cNvPicPr>
          <p:nvPr/>
        </p:nvPicPr>
        <p:blipFill rotWithShape="1">
          <a:blip r:embed="rId5"/>
          <a:srcRect t="56146"/>
          <a:stretch/>
        </p:blipFill>
        <p:spPr>
          <a:xfrm>
            <a:off x="911594" y="2548093"/>
            <a:ext cx="3378948" cy="789460"/>
          </a:xfrm>
          <a:prstGeom prst="rect">
            <a:avLst/>
          </a:prstGeom>
          <a:ln>
            <a:solidFill>
              <a:srgbClr val="000000"/>
            </a:solidFill>
          </a:ln>
        </p:spPr>
      </p:pic>
      <p:sp>
        <p:nvSpPr>
          <p:cNvPr id="73" name="标题 1"/>
          <p:cNvSpPr>
            <a:spLocks noGrp="1"/>
          </p:cNvSpPr>
          <p:nvPr>
            <p:ph type="title"/>
          </p:nvPr>
        </p:nvSpPr>
        <p:spPr>
          <a:xfrm>
            <a:off x="4863413" y="120853"/>
            <a:ext cx="3308987" cy="648415"/>
          </a:xfrm>
        </p:spPr>
        <p:txBody>
          <a:bodyPr>
            <a:noAutofit/>
          </a:bodyPr>
          <a:lstStyle/>
          <a:p>
            <a:pPr algn="r"/>
            <a:r>
              <a:rPr kumimoji="1" lang="en-US" altLang="zh-CN" sz="3200" dirty="0"/>
              <a:t>Context Switch</a:t>
            </a:r>
            <a:endParaRPr kumimoji="1" lang="zh-CN" altLang="en-US" sz="3200" dirty="0"/>
          </a:p>
        </p:txBody>
      </p:sp>
      <p:sp>
        <p:nvSpPr>
          <p:cNvPr id="76" name="右箭头 75"/>
          <p:cNvSpPr/>
          <p:nvPr/>
        </p:nvSpPr>
        <p:spPr>
          <a:xfrm>
            <a:off x="851587" y="554730"/>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7" name="右箭头 76"/>
          <p:cNvSpPr/>
          <p:nvPr/>
        </p:nvSpPr>
        <p:spPr>
          <a:xfrm>
            <a:off x="852127" y="1574843"/>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8" name="右箭头 77"/>
          <p:cNvSpPr/>
          <p:nvPr/>
        </p:nvSpPr>
        <p:spPr>
          <a:xfrm>
            <a:off x="852127" y="1766122"/>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79" name="右箭头 78"/>
          <p:cNvSpPr/>
          <p:nvPr/>
        </p:nvSpPr>
        <p:spPr>
          <a:xfrm>
            <a:off x="852127" y="1957400"/>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80" name="右箭头 79"/>
          <p:cNvSpPr/>
          <p:nvPr/>
        </p:nvSpPr>
        <p:spPr>
          <a:xfrm>
            <a:off x="5112060" y="2257433"/>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81" name="右箭头 80"/>
          <p:cNvSpPr/>
          <p:nvPr/>
        </p:nvSpPr>
        <p:spPr>
          <a:xfrm>
            <a:off x="851587" y="2748745"/>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82" name="右箭头 81"/>
          <p:cNvSpPr/>
          <p:nvPr/>
        </p:nvSpPr>
        <p:spPr>
          <a:xfrm>
            <a:off x="851587" y="2917507"/>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83" name="右箭头 82"/>
          <p:cNvSpPr/>
          <p:nvPr/>
        </p:nvSpPr>
        <p:spPr>
          <a:xfrm>
            <a:off x="851587" y="3097527"/>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84" name="右箭头 83"/>
          <p:cNvSpPr/>
          <p:nvPr/>
        </p:nvSpPr>
        <p:spPr>
          <a:xfrm>
            <a:off x="851587" y="914770"/>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
        <p:nvSpPr>
          <p:cNvPr id="85" name="右箭头 84"/>
          <p:cNvSpPr/>
          <p:nvPr/>
        </p:nvSpPr>
        <p:spPr>
          <a:xfrm>
            <a:off x="5112060" y="2137420"/>
            <a:ext cx="240027"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333"/>
          </a:p>
        </p:txBody>
      </p:sp>
    </p:spTree>
    <p:extLst>
      <p:ext uri="{BB962C8B-B14F-4D97-AF65-F5344CB8AC3E}">
        <p14:creationId xmlns:p14="http://schemas.microsoft.com/office/powerpoint/2010/main" val="365947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76"/>
                                        </p:tgtEl>
                                      </p:cBhvr>
                                    </p:animEffect>
                                    <p:set>
                                      <p:cBhvr>
                                        <p:cTn id="26" dur="1" fill="hold">
                                          <p:stCondLst>
                                            <p:cond delay="499"/>
                                          </p:stCondLst>
                                        </p:cTn>
                                        <p:tgtEl>
                                          <p:spTgt spid="76"/>
                                        </p:tgtEl>
                                        <p:attrNameLst>
                                          <p:attrName>style.visibility</p:attrName>
                                        </p:attrNameLst>
                                      </p:cBhvr>
                                      <p:to>
                                        <p:strVal val="hidden"/>
                                      </p:to>
                                    </p:se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77"/>
                                        </p:tgtEl>
                                        <p:attrNameLst>
                                          <p:attrName>style.visibility</p:attrName>
                                        </p:attrNameLst>
                                      </p:cBhvr>
                                      <p:to>
                                        <p:strVal val="visible"/>
                                      </p:to>
                                    </p:set>
                                    <p:animEffect transition="in" filter="fade">
                                      <p:cBhvr>
                                        <p:cTn id="30" dur="500"/>
                                        <p:tgtEl>
                                          <p:spTgt spid="7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5"/>
                                        </p:tgtEl>
                                        <p:attrNameLst>
                                          <p:attrName>style.visibility</p:attrName>
                                        </p:attrNameLst>
                                      </p:cBhvr>
                                      <p:to>
                                        <p:strVal val="visible"/>
                                      </p:to>
                                    </p:set>
                                    <p:animEffect transition="in" filter="fade">
                                      <p:cBhvr>
                                        <p:cTn id="35" dur="500"/>
                                        <p:tgtEl>
                                          <p:spTgt spid="6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77"/>
                                        </p:tgtEl>
                                      </p:cBhvr>
                                    </p:animEffect>
                                    <p:set>
                                      <p:cBhvr>
                                        <p:cTn id="46" dur="1" fill="hold">
                                          <p:stCondLst>
                                            <p:cond delay="499"/>
                                          </p:stCondLst>
                                        </p:cTn>
                                        <p:tgtEl>
                                          <p:spTgt spid="77"/>
                                        </p:tgtEl>
                                        <p:attrNameLst>
                                          <p:attrName>style.visibility</p:attrName>
                                        </p:attrNameLst>
                                      </p:cBhvr>
                                      <p:to>
                                        <p:strVal val="hidden"/>
                                      </p:to>
                                    </p:se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78"/>
                                        </p:tgtEl>
                                        <p:attrNameLst>
                                          <p:attrName>style.visibility</p:attrName>
                                        </p:attrNameLst>
                                      </p:cBhvr>
                                      <p:to>
                                        <p:strVal val="visible"/>
                                      </p:to>
                                    </p:set>
                                    <p:animEffect transition="in" filter="fade">
                                      <p:cBhvr>
                                        <p:cTn id="50" dur="500"/>
                                        <p:tgtEl>
                                          <p:spTgt spid="7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fade">
                                      <p:cBhvr>
                                        <p:cTn id="55" dur="500"/>
                                        <p:tgtEl>
                                          <p:spTgt spid="6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7"/>
                                        </p:tgtEl>
                                        <p:attrNameLst>
                                          <p:attrName>style.visibility</p:attrName>
                                        </p:attrNameLst>
                                      </p:cBhvr>
                                      <p:to>
                                        <p:strVal val="visible"/>
                                      </p:to>
                                    </p:set>
                                    <p:animEffect transition="in" filter="fade">
                                      <p:cBhvr>
                                        <p:cTn id="58" dur="500"/>
                                        <p:tgtEl>
                                          <p:spTgt spid="6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500"/>
                                        <p:tgtEl>
                                          <p:spTgt spid="6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9"/>
                                        </p:tgtEl>
                                        <p:attrNameLst>
                                          <p:attrName>style.visibility</p:attrName>
                                        </p:attrNameLst>
                                      </p:cBhvr>
                                      <p:to>
                                        <p:strVal val="visible"/>
                                      </p:to>
                                    </p:set>
                                    <p:animEffect transition="in" filter="fade">
                                      <p:cBhvr>
                                        <p:cTn id="64" dur="500"/>
                                        <p:tgtEl>
                                          <p:spTgt spid="5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1" nodeType="clickEffect">
                                  <p:stCondLst>
                                    <p:cond delay="0"/>
                                  </p:stCondLst>
                                  <p:childTnLst>
                                    <p:animEffect transition="out" filter="fade">
                                      <p:cBhvr>
                                        <p:cTn id="71" dur="500"/>
                                        <p:tgtEl>
                                          <p:spTgt spid="78"/>
                                        </p:tgtEl>
                                      </p:cBhvr>
                                    </p:animEffect>
                                    <p:set>
                                      <p:cBhvr>
                                        <p:cTn id="72" dur="1" fill="hold">
                                          <p:stCondLst>
                                            <p:cond delay="499"/>
                                          </p:stCondLst>
                                        </p:cTn>
                                        <p:tgtEl>
                                          <p:spTgt spid="78"/>
                                        </p:tgtEl>
                                        <p:attrNameLst>
                                          <p:attrName>style.visibility</p:attrName>
                                        </p:attrNameLst>
                                      </p:cBhvr>
                                      <p:to>
                                        <p:strVal val="hidden"/>
                                      </p:to>
                                    </p:set>
                                  </p:childTnLst>
                                </p:cTn>
                              </p:par>
                            </p:childTnLst>
                          </p:cTn>
                        </p:par>
                        <p:par>
                          <p:cTn id="73" fill="hold">
                            <p:stCondLst>
                              <p:cond delay="500"/>
                            </p:stCondLst>
                            <p:childTnLst>
                              <p:par>
                                <p:cTn id="74" presetID="10" presetClass="entr" presetSubtype="0" fill="hold" grpId="0" nodeType="afterEffect">
                                  <p:stCondLst>
                                    <p:cond delay="0"/>
                                  </p:stCondLst>
                                  <p:childTnLst>
                                    <p:set>
                                      <p:cBhvr>
                                        <p:cTn id="75" dur="1" fill="hold">
                                          <p:stCondLst>
                                            <p:cond delay="0"/>
                                          </p:stCondLst>
                                        </p:cTn>
                                        <p:tgtEl>
                                          <p:spTgt spid="79"/>
                                        </p:tgtEl>
                                        <p:attrNameLst>
                                          <p:attrName>style.visibility</p:attrName>
                                        </p:attrNameLst>
                                      </p:cBhvr>
                                      <p:to>
                                        <p:strVal val="visible"/>
                                      </p:to>
                                    </p:set>
                                    <p:animEffect transition="in" filter="fade">
                                      <p:cBhvr>
                                        <p:cTn id="76" dur="500"/>
                                        <p:tgtEl>
                                          <p:spTgt spid="7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
                                        </p:tgtEl>
                                        <p:attrNameLst>
                                          <p:attrName>style.visibility</p:attrName>
                                        </p:attrNameLst>
                                      </p:cBhvr>
                                      <p:to>
                                        <p:strVal val="visible"/>
                                      </p:to>
                                    </p:set>
                                    <p:animEffect transition="in" filter="fade">
                                      <p:cBhvr>
                                        <p:cTn id="84" dur="500"/>
                                        <p:tgtEl>
                                          <p:spTgt spid="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1" nodeType="clickEffect">
                                  <p:stCondLst>
                                    <p:cond delay="0"/>
                                  </p:stCondLst>
                                  <p:childTnLst>
                                    <p:animEffect transition="out" filter="fade">
                                      <p:cBhvr>
                                        <p:cTn id="91" dur="500"/>
                                        <p:tgtEl>
                                          <p:spTgt spid="79"/>
                                        </p:tgtEl>
                                      </p:cBhvr>
                                    </p:animEffect>
                                    <p:set>
                                      <p:cBhvr>
                                        <p:cTn id="92" dur="1" fill="hold">
                                          <p:stCondLst>
                                            <p:cond delay="499"/>
                                          </p:stCondLst>
                                        </p:cTn>
                                        <p:tgtEl>
                                          <p:spTgt spid="79"/>
                                        </p:tgtEl>
                                        <p:attrNameLst>
                                          <p:attrName>style.visibility</p:attrName>
                                        </p:attrNameLst>
                                      </p:cBhvr>
                                      <p:to>
                                        <p:strVal val="hidden"/>
                                      </p:to>
                                    </p:set>
                                  </p:childTnLst>
                                </p:cTn>
                              </p:par>
                            </p:childTnLst>
                          </p:cTn>
                        </p:par>
                        <p:par>
                          <p:cTn id="93" fill="hold">
                            <p:stCondLst>
                              <p:cond delay="500"/>
                            </p:stCondLst>
                            <p:childTnLst>
                              <p:par>
                                <p:cTn id="94" presetID="10" presetClass="entr" presetSubtype="0" fill="hold" grpId="0" nodeType="afterEffect">
                                  <p:stCondLst>
                                    <p:cond delay="0"/>
                                  </p:stCondLst>
                                  <p:childTnLst>
                                    <p:set>
                                      <p:cBhvr>
                                        <p:cTn id="95" dur="1" fill="hold">
                                          <p:stCondLst>
                                            <p:cond delay="0"/>
                                          </p:stCondLst>
                                        </p:cTn>
                                        <p:tgtEl>
                                          <p:spTgt spid="80"/>
                                        </p:tgtEl>
                                        <p:attrNameLst>
                                          <p:attrName>style.visibility</p:attrName>
                                        </p:attrNameLst>
                                      </p:cBhvr>
                                      <p:to>
                                        <p:strVal val="visible"/>
                                      </p:to>
                                    </p:set>
                                    <p:animEffect transition="in" filter="fade">
                                      <p:cBhvr>
                                        <p:cTn id="96" dur="500"/>
                                        <p:tgtEl>
                                          <p:spTgt spid="80"/>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xit" presetSubtype="0" fill="hold" grpId="1" nodeType="clickEffect">
                                  <p:stCondLst>
                                    <p:cond delay="0"/>
                                  </p:stCondLst>
                                  <p:childTnLst>
                                    <p:animEffect transition="out" filter="fade">
                                      <p:cBhvr>
                                        <p:cTn id="100" dur="500"/>
                                        <p:tgtEl>
                                          <p:spTgt spid="80"/>
                                        </p:tgtEl>
                                      </p:cBhvr>
                                    </p:animEffect>
                                    <p:set>
                                      <p:cBhvr>
                                        <p:cTn id="101" dur="1" fill="hold">
                                          <p:stCondLst>
                                            <p:cond delay="499"/>
                                          </p:stCondLst>
                                        </p:cTn>
                                        <p:tgtEl>
                                          <p:spTgt spid="80"/>
                                        </p:tgtEl>
                                        <p:attrNameLst>
                                          <p:attrName>style.visibility</p:attrName>
                                        </p:attrNameLst>
                                      </p:cBhvr>
                                      <p:to>
                                        <p:strVal val="hidden"/>
                                      </p:to>
                                    </p:set>
                                  </p:childTnLst>
                                </p:cTn>
                              </p:par>
                            </p:childTnLst>
                          </p:cTn>
                        </p:par>
                        <p:par>
                          <p:cTn id="102" fill="hold">
                            <p:stCondLst>
                              <p:cond delay="500"/>
                            </p:stCondLst>
                            <p:childTnLst>
                              <p:par>
                                <p:cTn id="103" presetID="10" presetClass="entr" presetSubtype="0" fill="hold" grpId="2" nodeType="afterEffect">
                                  <p:stCondLst>
                                    <p:cond delay="0"/>
                                  </p:stCondLst>
                                  <p:childTnLst>
                                    <p:set>
                                      <p:cBhvr>
                                        <p:cTn id="104" dur="1" fill="hold">
                                          <p:stCondLst>
                                            <p:cond delay="0"/>
                                          </p:stCondLst>
                                        </p:cTn>
                                        <p:tgtEl>
                                          <p:spTgt spid="85"/>
                                        </p:tgtEl>
                                        <p:attrNameLst>
                                          <p:attrName>style.visibility</p:attrName>
                                        </p:attrNameLst>
                                      </p:cBhvr>
                                      <p:to>
                                        <p:strVal val="visible"/>
                                      </p:to>
                                    </p:set>
                                    <p:animEffect transition="in" filter="fade">
                                      <p:cBhvr>
                                        <p:cTn id="105" dur="500"/>
                                        <p:tgtEl>
                                          <p:spTgt spid="85"/>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500"/>
                                        <p:tgtEl>
                                          <p:spTgt spid="2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7"/>
                                        </p:tgtEl>
                                        <p:attrNameLst>
                                          <p:attrName>style.visibility</p:attrName>
                                        </p:attrNameLst>
                                      </p:cBhvr>
                                      <p:to>
                                        <p:strVal val="visible"/>
                                      </p:to>
                                    </p:set>
                                    <p:animEffect transition="in" filter="fade">
                                      <p:cBhvr>
                                        <p:cTn id="113" dur="500"/>
                                        <p:tgtEl>
                                          <p:spTgt spid="7"/>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16"/>
                                        </p:tgtEl>
                                        <p:attrNameLst>
                                          <p:attrName>style.visibility</p:attrName>
                                        </p:attrNameLst>
                                      </p:cBhvr>
                                      <p:to>
                                        <p:strVal val="visible"/>
                                      </p:to>
                                    </p:set>
                                    <p:animEffect transition="in" filter="fade">
                                      <p:cBhvr>
                                        <p:cTn id="116" dur="500"/>
                                        <p:tgtEl>
                                          <p:spTgt spid="1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500"/>
                                        <p:tgtEl>
                                          <p:spTgt spid="23"/>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xit" presetSubtype="0" fill="hold" grpId="3" nodeType="clickEffect">
                                  <p:stCondLst>
                                    <p:cond delay="0"/>
                                  </p:stCondLst>
                                  <p:childTnLst>
                                    <p:animEffect transition="out" filter="fade">
                                      <p:cBhvr>
                                        <p:cTn id="123" dur="500"/>
                                        <p:tgtEl>
                                          <p:spTgt spid="85"/>
                                        </p:tgtEl>
                                      </p:cBhvr>
                                    </p:animEffect>
                                    <p:set>
                                      <p:cBhvr>
                                        <p:cTn id="124" dur="1" fill="hold">
                                          <p:stCondLst>
                                            <p:cond delay="499"/>
                                          </p:stCondLst>
                                        </p:cTn>
                                        <p:tgtEl>
                                          <p:spTgt spid="85"/>
                                        </p:tgtEl>
                                        <p:attrNameLst>
                                          <p:attrName>style.visibility</p:attrName>
                                        </p:attrNameLst>
                                      </p:cBhvr>
                                      <p:to>
                                        <p:strVal val="hidden"/>
                                      </p:to>
                                    </p:set>
                                  </p:childTnLst>
                                </p:cTn>
                              </p:par>
                            </p:childTnLst>
                          </p:cTn>
                        </p:par>
                        <p:par>
                          <p:cTn id="125" fill="hold">
                            <p:stCondLst>
                              <p:cond delay="500"/>
                            </p:stCondLst>
                            <p:childTnLst>
                              <p:par>
                                <p:cTn id="126" presetID="10" presetClass="entr" presetSubtype="0" fill="hold" grpId="0" nodeType="afterEffect">
                                  <p:stCondLst>
                                    <p:cond delay="0"/>
                                  </p:stCondLst>
                                  <p:childTnLst>
                                    <p:set>
                                      <p:cBhvr>
                                        <p:cTn id="127" dur="1" fill="hold">
                                          <p:stCondLst>
                                            <p:cond delay="0"/>
                                          </p:stCondLst>
                                        </p:cTn>
                                        <p:tgtEl>
                                          <p:spTgt spid="81"/>
                                        </p:tgtEl>
                                        <p:attrNameLst>
                                          <p:attrName>style.visibility</p:attrName>
                                        </p:attrNameLst>
                                      </p:cBhvr>
                                      <p:to>
                                        <p:strVal val="visible"/>
                                      </p:to>
                                    </p:set>
                                    <p:animEffect transition="in" filter="fade">
                                      <p:cBhvr>
                                        <p:cTn id="128" dur="500"/>
                                        <p:tgtEl>
                                          <p:spTgt spid="81"/>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0"/>
                                        </p:tgtEl>
                                        <p:attrNameLst>
                                          <p:attrName>style.visibility</p:attrName>
                                        </p:attrNameLst>
                                      </p:cBhvr>
                                      <p:to>
                                        <p:strVal val="visible"/>
                                      </p:to>
                                    </p:set>
                                    <p:animEffect transition="in" filter="fade">
                                      <p:cBhvr>
                                        <p:cTn id="133" dur="500"/>
                                        <p:tgtEl>
                                          <p:spTgt spid="60"/>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xit" presetSubtype="0" fill="hold" grpId="1" nodeType="clickEffect">
                                  <p:stCondLst>
                                    <p:cond delay="0"/>
                                  </p:stCondLst>
                                  <p:childTnLst>
                                    <p:animEffect transition="out" filter="fade">
                                      <p:cBhvr>
                                        <p:cTn id="137" dur="500"/>
                                        <p:tgtEl>
                                          <p:spTgt spid="81"/>
                                        </p:tgtEl>
                                      </p:cBhvr>
                                    </p:animEffect>
                                    <p:set>
                                      <p:cBhvr>
                                        <p:cTn id="138" dur="1" fill="hold">
                                          <p:stCondLst>
                                            <p:cond delay="499"/>
                                          </p:stCondLst>
                                        </p:cTn>
                                        <p:tgtEl>
                                          <p:spTgt spid="81"/>
                                        </p:tgtEl>
                                        <p:attrNameLst>
                                          <p:attrName>style.visibility</p:attrName>
                                        </p:attrNameLst>
                                      </p:cBhvr>
                                      <p:to>
                                        <p:strVal val="hidden"/>
                                      </p:to>
                                    </p:set>
                                  </p:childTnLst>
                                </p:cTn>
                              </p:par>
                            </p:childTnLst>
                          </p:cTn>
                        </p:par>
                        <p:par>
                          <p:cTn id="139" fill="hold">
                            <p:stCondLst>
                              <p:cond delay="500"/>
                            </p:stCondLst>
                            <p:childTnLst>
                              <p:par>
                                <p:cTn id="140" presetID="10" presetClass="entr" presetSubtype="0" fill="hold" grpId="0" nodeType="afterEffect">
                                  <p:stCondLst>
                                    <p:cond delay="0"/>
                                  </p:stCondLst>
                                  <p:childTnLst>
                                    <p:set>
                                      <p:cBhvr>
                                        <p:cTn id="141" dur="1" fill="hold">
                                          <p:stCondLst>
                                            <p:cond delay="0"/>
                                          </p:stCondLst>
                                        </p:cTn>
                                        <p:tgtEl>
                                          <p:spTgt spid="82"/>
                                        </p:tgtEl>
                                        <p:attrNameLst>
                                          <p:attrName>style.visibility</p:attrName>
                                        </p:attrNameLst>
                                      </p:cBhvr>
                                      <p:to>
                                        <p:strVal val="visible"/>
                                      </p:to>
                                    </p:set>
                                    <p:animEffect transition="in" filter="fade">
                                      <p:cBhvr>
                                        <p:cTn id="142" dur="500"/>
                                        <p:tgtEl>
                                          <p:spTgt spid="82"/>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8"/>
                                        </p:tgtEl>
                                        <p:attrNameLst>
                                          <p:attrName>style.visibility</p:attrName>
                                        </p:attrNameLst>
                                      </p:cBhvr>
                                      <p:to>
                                        <p:strVal val="visible"/>
                                      </p:to>
                                    </p:set>
                                    <p:animEffect transition="in" filter="fade">
                                      <p:cBhvr>
                                        <p:cTn id="147" dur="500"/>
                                        <p:tgtEl>
                                          <p:spTgt spid="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500"/>
                                        <p:tgtEl>
                                          <p:spTgt spid="26"/>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27"/>
                                        </p:tgtEl>
                                        <p:attrNameLst>
                                          <p:attrName>style.visibility</p:attrName>
                                        </p:attrNameLst>
                                      </p:cBhvr>
                                      <p:to>
                                        <p:strVal val="visible"/>
                                      </p:to>
                                    </p:set>
                                    <p:animEffect transition="in" filter="fade">
                                      <p:cBhvr>
                                        <p:cTn id="153" dur="500"/>
                                        <p:tgtEl>
                                          <p:spTgt spid="27"/>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28"/>
                                        </p:tgtEl>
                                        <p:attrNameLst>
                                          <p:attrName>style.visibility</p:attrName>
                                        </p:attrNameLst>
                                      </p:cBhvr>
                                      <p:to>
                                        <p:strVal val="visible"/>
                                      </p:to>
                                    </p:set>
                                    <p:animEffect transition="in" filter="fade">
                                      <p:cBhvr>
                                        <p:cTn id="156" dur="500"/>
                                        <p:tgtEl>
                                          <p:spTgt spid="28"/>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29"/>
                                        </p:tgtEl>
                                        <p:attrNameLst>
                                          <p:attrName>style.visibility</p:attrName>
                                        </p:attrNameLst>
                                      </p:cBhvr>
                                      <p:to>
                                        <p:strVal val="visible"/>
                                      </p:to>
                                    </p:set>
                                    <p:animEffect transition="in" filter="fade">
                                      <p:cBhvr>
                                        <p:cTn id="159" dur="500"/>
                                        <p:tgtEl>
                                          <p:spTgt spid="29"/>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xit" presetSubtype="0" fill="hold" grpId="1" nodeType="clickEffect">
                                  <p:stCondLst>
                                    <p:cond delay="0"/>
                                  </p:stCondLst>
                                  <p:childTnLst>
                                    <p:animEffect transition="out" filter="fade">
                                      <p:cBhvr>
                                        <p:cTn id="163" dur="500"/>
                                        <p:tgtEl>
                                          <p:spTgt spid="82"/>
                                        </p:tgtEl>
                                      </p:cBhvr>
                                    </p:animEffect>
                                    <p:set>
                                      <p:cBhvr>
                                        <p:cTn id="164" dur="1" fill="hold">
                                          <p:stCondLst>
                                            <p:cond delay="499"/>
                                          </p:stCondLst>
                                        </p:cTn>
                                        <p:tgtEl>
                                          <p:spTgt spid="82"/>
                                        </p:tgtEl>
                                        <p:attrNameLst>
                                          <p:attrName>style.visibility</p:attrName>
                                        </p:attrNameLst>
                                      </p:cBhvr>
                                      <p:to>
                                        <p:strVal val="hidden"/>
                                      </p:to>
                                    </p:set>
                                  </p:childTnLst>
                                </p:cTn>
                              </p:par>
                            </p:childTnLst>
                          </p:cTn>
                        </p:par>
                        <p:par>
                          <p:cTn id="165" fill="hold">
                            <p:stCondLst>
                              <p:cond delay="500"/>
                            </p:stCondLst>
                            <p:childTnLst>
                              <p:par>
                                <p:cTn id="166" presetID="10" presetClass="entr" presetSubtype="0" fill="hold" grpId="0" nodeType="afterEffect">
                                  <p:stCondLst>
                                    <p:cond delay="0"/>
                                  </p:stCondLst>
                                  <p:childTnLst>
                                    <p:set>
                                      <p:cBhvr>
                                        <p:cTn id="167" dur="1" fill="hold">
                                          <p:stCondLst>
                                            <p:cond delay="0"/>
                                          </p:stCondLst>
                                        </p:cTn>
                                        <p:tgtEl>
                                          <p:spTgt spid="83"/>
                                        </p:tgtEl>
                                        <p:attrNameLst>
                                          <p:attrName>style.visibility</p:attrName>
                                        </p:attrNameLst>
                                      </p:cBhvr>
                                      <p:to>
                                        <p:strVal val="visible"/>
                                      </p:to>
                                    </p:set>
                                    <p:animEffect transition="in" filter="fade">
                                      <p:cBhvr>
                                        <p:cTn id="168" dur="500"/>
                                        <p:tgtEl>
                                          <p:spTgt spid="83"/>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31"/>
                                        </p:tgtEl>
                                        <p:attrNameLst>
                                          <p:attrName>style.visibility</p:attrName>
                                        </p:attrNameLst>
                                      </p:cBhvr>
                                      <p:to>
                                        <p:strVal val="visible"/>
                                      </p:to>
                                    </p:set>
                                    <p:animEffect transition="in" filter="fade">
                                      <p:cBhvr>
                                        <p:cTn id="173" dur="500"/>
                                        <p:tgtEl>
                                          <p:spTgt spid="31"/>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9"/>
                                        </p:tgtEl>
                                        <p:attrNameLst>
                                          <p:attrName>style.visibility</p:attrName>
                                        </p:attrNameLst>
                                      </p:cBhvr>
                                      <p:to>
                                        <p:strVal val="visible"/>
                                      </p:to>
                                    </p:set>
                                    <p:animEffect transition="in" filter="fade">
                                      <p:cBhvr>
                                        <p:cTn id="176" dur="500"/>
                                        <p:tgtEl>
                                          <p:spTgt spid="9"/>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30"/>
                                        </p:tgtEl>
                                        <p:attrNameLst>
                                          <p:attrName>style.visibility</p:attrName>
                                        </p:attrNameLst>
                                      </p:cBhvr>
                                      <p:to>
                                        <p:strVal val="visible"/>
                                      </p:to>
                                    </p:set>
                                    <p:animEffect transition="in" filter="fade">
                                      <p:cBhvr>
                                        <p:cTn id="179" dur="500"/>
                                        <p:tgtEl>
                                          <p:spTgt spid="30"/>
                                        </p:tgtEl>
                                      </p:cBhvr>
                                    </p:animEffect>
                                  </p:childTnLst>
                                </p:cTn>
                              </p:par>
                            </p:childTnLst>
                          </p:cTn>
                        </p:par>
                      </p:childTnLst>
                    </p:cTn>
                  </p:par>
                  <p:par>
                    <p:cTn id="180" fill="hold">
                      <p:stCondLst>
                        <p:cond delay="indefinite"/>
                      </p:stCondLst>
                      <p:childTnLst>
                        <p:par>
                          <p:cTn id="181" fill="hold">
                            <p:stCondLst>
                              <p:cond delay="0"/>
                            </p:stCondLst>
                            <p:childTnLst>
                              <p:par>
                                <p:cTn id="182" presetID="10" presetClass="exit" presetSubtype="0" fill="hold" grpId="1" nodeType="clickEffect">
                                  <p:stCondLst>
                                    <p:cond delay="0"/>
                                  </p:stCondLst>
                                  <p:childTnLst>
                                    <p:animEffect transition="out" filter="fade">
                                      <p:cBhvr>
                                        <p:cTn id="183" dur="500"/>
                                        <p:tgtEl>
                                          <p:spTgt spid="83"/>
                                        </p:tgtEl>
                                      </p:cBhvr>
                                    </p:animEffect>
                                    <p:set>
                                      <p:cBhvr>
                                        <p:cTn id="184" dur="1" fill="hold">
                                          <p:stCondLst>
                                            <p:cond delay="499"/>
                                          </p:stCondLst>
                                        </p:cTn>
                                        <p:tgtEl>
                                          <p:spTgt spid="83"/>
                                        </p:tgtEl>
                                        <p:attrNameLst>
                                          <p:attrName>style.visibility</p:attrName>
                                        </p:attrNameLst>
                                      </p:cBhvr>
                                      <p:to>
                                        <p:strVal val="hidden"/>
                                      </p:to>
                                    </p:set>
                                  </p:childTnLst>
                                </p:cTn>
                              </p:par>
                            </p:childTnLst>
                          </p:cTn>
                        </p:par>
                        <p:par>
                          <p:cTn id="185" fill="hold">
                            <p:stCondLst>
                              <p:cond delay="500"/>
                            </p:stCondLst>
                            <p:childTnLst>
                              <p:par>
                                <p:cTn id="186" presetID="10" presetClass="entr" presetSubtype="0" fill="hold" grpId="0" nodeType="afterEffect">
                                  <p:stCondLst>
                                    <p:cond delay="0"/>
                                  </p:stCondLst>
                                  <p:childTnLst>
                                    <p:set>
                                      <p:cBhvr>
                                        <p:cTn id="187" dur="1" fill="hold">
                                          <p:stCondLst>
                                            <p:cond delay="0"/>
                                          </p:stCondLst>
                                        </p:cTn>
                                        <p:tgtEl>
                                          <p:spTgt spid="84"/>
                                        </p:tgtEl>
                                        <p:attrNameLst>
                                          <p:attrName>style.visibility</p:attrName>
                                        </p:attrNameLst>
                                      </p:cBhvr>
                                      <p:to>
                                        <p:strVal val="visible"/>
                                      </p:to>
                                    </p:set>
                                    <p:animEffect transition="in" filter="fade">
                                      <p:cBhvr>
                                        <p:cTn id="188" dur="500"/>
                                        <p:tgtEl>
                                          <p:spTgt spid="84"/>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43"/>
                                        </p:tgtEl>
                                        <p:attrNameLst>
                                          <p:attrName>style.visibility</p:attrName>
                                        </p:attrNameLst>
                                      </p:cBhvr>
                                      <p:to>
                                        <p:strVal val="visible"/>
                                      </p:to>
                                    </p:set>
                                    <p:animEffect transition="in" filter="fade">
                                      <p:cBhvr>
                                        <p:cTn id="193" dur="500"/>
                                        <p:tgtEl>
                                          <p:spTgt spid="43"/>
                                        </p:tgtEl>
                                      </p:cBhvr>
                                    </p:animEffect>
                                  </p:childTnLst>
                                </p:cTn>
                              </p:par>
                            </p:childTnLst>
                          </p:cTn>
                        </p:par>
                      </p:childTnLst>
                    </p:cTn>
                  </p:par>
                  <p:par>
                    <p:cTn id="194" fill="hold">
                      <p:stCondLst>
                        <p:cond delay="indefinite"/>
                      </p:stCondLst>
                      <p:childTnLst>
                        <p:par>
                          <p:cTn id="195" fill="hold">
                            <p:stCondLst>
                              <p:cond delay="0"/>
                            </p:stCondLst>
                            <p:childTnLst>
                              <p:par>
                                <p:cTn id="196" presetID="10" presetClass="exit" presetSubtype="0" fill="hold" grpId="1" nodeType="clickEffect">
                                  <p:stCondLst>
                                    <p:cond delay="0"/>
                                  </p:stCondLst>
                                  <p:childTnLst>
                                    <p:animEffect transition="out" filter="fade">
                                      <p:cBhvr>
                                        <p:cTn id="197" dur="500"/>
                                        <p:tgtEl>
                                          <p:spTgt spid="84"/>
                                        </p:tgtEl>
                                      </p:cBhvr>
                                    </p:animEffect>
                                    <p:set>
                                      <p:cBhvr>
                                        <p:cTn id="198" dur="1" fill="hold">
                                          <p:stCondLst>
                                            <p:cond delay="499"/>
                                          </p:stCondLst>
                                        </p:cTn>
                                        <p:tgtEl>
                                          <p:spTgt spid="84"/>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grpId="0" nodeType="clickEffect">
                                  <p:stCondLst>
                                    <p:cond delay="0"/>
                                  </p:stCondLst>
                                  <p:childTnLst>
                                    <p:set>
                                      <p:cBhvr>
                                        <p:cTn id="202" dur="1" fill="hold">
                                          <p:stCondLst>
                                            <p:cond delay="0"/>
                                          </p:stCondLst>
                                        </p:cTn>
                                        <p:tgtEl>
                                          <p:spTgt spid="44"/>
                                        </p:tgtEl>
                                        <p:attrNameLst>
                                          <p:attrName>style.visibility</p:attrName>
                                        </p:attrNameLst>
                                      </p:cBhvr>
                                      <p:to>
                                        <p:strVal val="visible"/>
                                      </p:to>
                                    </p:set>
                                    <p:animEffect transition="in" filter="fade">
                                      <p:cBhvr>
                                        <p:cTn id="203" dur="500"/>
                                        <p:tgtEl>
                                          <p:spTgt spid="44"/>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grpId="0" nodeType="clickEffect">
                                  <p:stCondLst>
                                    <p:cond delay="0"/>
                                  </p:stCondLst>
                                  <p:childTnLst>
                                    <p:set>
                                      <p:cBhvr>
                                        <p:cTn id="207" dur="1" fill="hold">
                                          <p:stCondLst>
                                            <p:cond delay="0"/>
                                          </p:stCondLst>
                                        </p:cTn>
                                        <p:tgtEl>
                                          <p:spTgt spid="40"/>
                                        </p:tgtEl>
                                        <p:attrNameLst>
                                          <p:attrName>style.visibility</p:attrName>
                                        </p:attrNameLst>
                                      </p:cBhvr>
                                      <p:to>
                                        <p:strVal val="visible"/>
                                      </p:to>
                                    </p:set>
                                    <p:animEffect transition="in" filter="fade">
                                      <p:cBhvr>
                                        <p:cTn id="208" dur="500"/>
                                        <p:tgtEl>
                                          <p:spTgt spid="40"/>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11"/>
                                        </p:tgtEl>
                                        <p:attrNameLst>
                                          <p:attrName>style.visibility</p:attrName>
                                        </p:attrNameLst>
                                      </p:cBhvr>
                                      <p:to>
                                        <p:strVal val="visible"/>
                                      </p:to>
                                    </p:set>
                                    <p:animEffect transition="in" filter="fade">
                                      <p:cBhvr>
                                        <p:cTn id="211" dur="500"/>
                                        <p:tgtEl>
                                          <p:spTgt spid="11"/>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39"/>
                                        </p:tgtEl>
                                        <p:attrNameLst>
                                          <p:attrName>style.visibility</p:attrName>
                                        </p:attrNameLst>
                                      </p:cBhvr>
                                      <p:to>
                                        <p:strVal val="visible"/>
                                      </p:to>
                                    </p:set>
                                    <p:animEffect transition="in" filter="fade">
                                      <p:cBhvr>
                                        <p:cTn id="214" dur="500"/>
                                        <p:tgtEl>
                                          <p:spTgt spid="39"/>
                                        </p:tgtEl>
                                      </p:cBhvr>
                                    </p:animEffect>
                                  </p:childTnLst>
                                </p:cTn>
                              </p:par>
                            </p:childTnLst>
                          </p:cTn>
                        </p:par>
                      </p:childTnLst>
                    </p:cTn>
                  </p:par>
                  <p:par>
                    <p:cTn id="215" fill="hold">
                      <p:stCondLst>
                        <p:cond delay="indefinite"/>
                      </p:stCondLst>
                      <p:childTnLst>
                        <p:par>
                          <p:cTn id="216" fill="hold">
                            <p:stCondLst>
                              <p:cond delay="0"/>
                            </p:stCondLst>
                            <p:childTnLst>
                              <p:par>
                                <p:cTn id="217" presetID="10" presetClass="entr" presetSubtype="0" fill="hold" grpId="2" nodeType="click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500"/>
                                        <p:tgtEl>
                                          <p:spTgt spid="76"/>
                                        </p:tgtEl>
                                      </p:cBhvr>
                                    </p:animEffect>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0"/>
                                  </p:stCondLst>
                                  <p:childTnLst>
                                    <p:set>
                                      <p:cBhvr>
                                        <p:cTn id="223" dur="1" fill="hold">
                                          <p:stCondLst>
                                            <p:cond delay="0"/>
                                          </p:stCondLst>
                                        </p:cTn>
                                        <p:tgtEl>
                                          <p:spTgt spid="32"/>
                                        </p:tgtEl>
                                        <p:attrNameLst>
                                          <p:attrName>style.visibility</p:attrName>
                                        </p:attrNameLst>
                                      </p:cBhvr>
                                      <p:to>
                                        <p:strVal val="visible"/>
                                      </p:to>
                                    </p:set>
                                    <p:animEffect transition="in" filter="fade">
                                      <p:cBhvr>
                                        <p:cTn id="224" dur="500"/>
                                        <p:tgtEl>
                                          <p:spTgt spid="32"/>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49"/>
                                        </p:tgtEl>
                                        <p:attrNameLst>
                                          <p:attrName>style.visibility</p:attrName>
                                        </p:attrNameLst>
                                      </p:cBhvr>
                                      <p:to>
                                        <p:strVal val="visible"/>
                                      </p:to>
                                    </p:set>
                                    <p:animEffect transition="in" filter="fade">
                                      <p:cBhvr>
                                        <p:cTn id="230" dur="500"/>
                                        <p:tgtEl>
                                          <p:spTgt spid="4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51"/>
                                        </p:tgtEl>
                                        <p:attrNameLst>
                                          <p:attrName>style.visibility</p:attrName>
                                        </p:attrNameLst>
                                      </p:cBhvr>
                                      <p:to>
                                        <p:strVal val="visible"/>
                                      </p:to>
                                    </p:set>
                                    <p:animEffect transition="in" filter="fade">
                                      <p:cBhvr>
                                        <p:cTn id="233" dur="500"/>
                                        <p:tgtEl>
                                          <p:spTgt spid="51"/>
                                        </p:tgtEl>
                                      </p:cBhvr>
                                    </p:animEffect>
                                  </p:childTnLst>
                                </p:cTn>
                              </p:par>
                            </p:childTnLst>
                          </p:cTn>
                        </p:par>
                      </p:childTnLst>
                    </p:cTn>
                  </p:par>
                  <p:par>
                    <p:cTn id="234" fill="hold">
                      <p:stCondLst>
                        <p:cond delay="indefinite"/>
                      </p:stCondLst>
                      <p:childTnLst>
                        <p:par>
                          <p:cTn id="235" fill="hold">
                            <p:stCondLst>
                              <p:cond delay="0"/>
                            </p:stCondLst>
                            <p:childTnLst>
                              <p:par>
                                <p:cTn id="236" presetID="10" presetClass="exit" presetSubtype="0" fill="hold" grpId="3" nodeType="clickEffect">
                                  <p:stCondLst>
                                    <p:cond delay="0"/>
                                  </p:stCondLst>
                                  <p:childTnLst>
                                    <p:animEffect transition="out" filter="fade">
                                      <p:cBhvr>
                                        <p:cTn id="237" dur="500"/>
                                        <p:tgtEl>
                                          <p:spTgt spid="76"/>
                                        </p:tgtEl>
                                      </p:cBhvr>
                                    </p:animEffect>
                                    <p:set>
                                      <p:cBhvr>
                                        <p:cTn id="238" dur="1" fill="hold">
                                          <p:stCondLst>
                                            <p:cond delay="499"/>
                                          </p:stCondLst>
                                        </p:cTn>
                                        <p:tgtEl>
                                          <p:spTgt spid="76"/>
                                        </p:tgtEl>
                                        <p:attrNameLst>
                                          <p:attrName>style.visibility</p:attrName>
                                        </p:attrNameLst>
                                      </p:cBhvr>
                                      <p:to>
                                        <p:strVal val="hidden"/>
                                      </p:to>
                                    </p:set>
                                  </p:childTnLst>
                                </p:cTn>
                              </p:par>
                            </p:childTnLst>
                          </p:cTn>
                        </p:par>
                        <p:par>
                          <p:cTn id="239" fill="hold">
                            <p:stCondLst>
                              <p:cond delay="500"/>
                            </p:stCondLst>
                            <p:childTnLst>
                              <p:par>
                                <p:cTn id="240" presetID="10" presetClass="entr" presetSubtype="0" fill="hold" grpId="2" nodeType="afterEffect">
                                  <p:stCondLst>
                                    <p:cond delay="0"/>
                                  </p:stCondLst>
                                  <p:childTnLst>
                                    <p:set>
                                      <p:cBhvr>
                                        <p:cTn id="241" dur="1" fill="hold">
                                          <p:stCondLst>
                                            <p:cond delay="0"/>
                                          </p:stCondLst>
                                        </p:cTn>
                                        <p:tgtEl>
                                          <p:spTgt spid="77"/>
                                        </p:tgtEl>
                                        <p:attrNameLst>
                                          <p:attrName>style.visibility</p:attrName>
                                        </p:attrNameLst>
                                      </p:cBhvr>
                                      <p:to>
                                        <p:strVal val="visible"/>
                                      </p:to>
                                    </p:set>
                                    <p:animEffect transition="in" filter="fade">
                                      <p:cBhvr>
                                        <p:cTn id="242" dur="500"/>
                                        <p:tgtEl>
                                          <p:spTgt spid="77"/>
                                        </p:tgtEl>
                                      </p:cBhvr>
                                    </p:animEffect>
                                  </p:childTnLst>
                                </p:cTn>
                              </p:par>
                            </p:childTnLst>
                          </p:cTn>
                        </p:par>
                      </p:childTnLst>
                    </p:cTn>
                  </p:par>
                  <p:par>
                    <p:cTn id="243" fill="hold">
                      <p:stCondLst>
                        <p:cond delay="indefinite"/>
                      </p:stCondLst>
                      <p:childTnLst>
                        <p:par>
                          <p:cTn id="244" fill="hold">
                            <p:stCondLst>
                              <p:cond delay="0"/>
                            </p:stCondLst>
                            <p:childTnLst>
                              <p:par>
                                <p:cTn id="245" presetID="10" presetClass="entr" presetSubtype="0" fill="hold" grpId="0" nodeType="clickEffect">
                                  <p:stCondLst>
                                    <p:cond delay="0"/>
                                  </p:stCondLst>
                                  <p:childTnLst>
                                    <p:set>
                                      <p:cBhvr>
                                        <p:cTn id="246" dur="1" fill="hold">
                                          <p:stCondLst>
                                            <p:cond delay="0"/>
                                          </p:stCondLst>
                                        </p:cTn>
                                        <p:tgtEl>
                                          <p:spTgt spid="42"/>
                                        </p:tgtEl>
                                        <p:attrNameLst>
                                          <p:attrName>style.visibility</p:attrName>
                                        </p:attrNameLst>
                                      </p:cBhvr>
                                      <p:to>
                                        <p:strVal val="visible"/>
                                      </p:to>
                                    </p:set>
                                    <p:animEffect transition="in" filter="fade">
                                      <p:cBhvr>
                                        <p:cTn id="247" dur="500"/>
                                        <p:tgtEl>
                                          <p:spTgt spid="42"/>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41"/>
                                        </p:tgtEl>
                                        <p:attrNameLst>
                                          <p:attrName>style.visibility</p:attrName>
                                        </p:attrNameLst>
                                      </p:cBhvr>
                                      <p:to>
                                        <p:strVal val="visible"/>
                                      </p:to>
                                    </p:set>
                                    <p:animEffect transition="in" filter="fade">
                                      <p:cBhvr>
                                        <p:cTn id="250" dur="500"/>
                                        <p:tgtEl>
                                          <p:spTgt spid="41"/>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xit" presetSubtype="0" fill="hold" grpId="3" nodeType="clickEffect">
                                  <p:stCondLst>
                                    <p:cond delay="0"/>
                                  </p:stCondLst>
                                  <p:childTnLst>
                                    <p:animEffect transition="out" filter="fade">
                                      <p:cBhvr>
                                        <p:cTn id="254" dur="500"/>
                                        <p:tgtEl>
                                          <p:spTgt spid="77"/>
                                        </p:tgtEl>
                                      </p:cBhvr>
                                    </p:animEffect>
                                    <p:set>
                                      <p:cBhvr>
                                        <p:cTn id="255" dur="1" fill="hold">
                                          <p:stCondLst>
                                            <p:cond delay="499"/>
                                          </p:stCondLst>
                                        </p:cTn>
                                        <p:tgtEl>
                                          <p:spTgt spid="77"/>
                                        </p:tgtEl>
                                        <p:attrNameLst>
                                          <p:attrName>style.visibility</p:attrName>
                                        </p:attrNameLst>
                                      </p:cBhvr>
                                      <p:to>
                                        <p:strVal val="hidden"/>
                                      </p:to>
                                    </p:set>
                                  </p:childTnLst>
                                </p:cTn>
                              </p:par>
                            </p:childTnLst>
                          </p:cTn>
                        </p:par>
                        <p:par>
                          <p:cTn id="256" fill="hold">
                            <p:stCondLst>
                              <p:cond delay="500"/>
                            </p:stCondLst>
                            <p:childTnLst>
                              <p:par>
                                <p:cTn id="257" presetID="10" presetClass="entr" presetSubtype="0" fill="hold" grpId="2" nodeType="afterEffect">
                                  <p:stCondLst>
                                    <p:cond delay="0"/>
                                  </p:stCondLst>
                                  <p:childTnLst>
                                    <p:set>
                                      <p:cBhvr>
                                        <p:cTn id="258" dur="1" fill="hold">
                                          <p:stCondLst>
                                            <p:cond delay="0"/>
                                          </p:stCondLst>
                                        </p:cTn>
                                        <p:tgtEl>
                                          <p:spTgt spid="78"/>
                                        </p:tgtEl>
                                        <p:attrNameLst>
                                          <p:attrName>style.visibility</p:attrName>
                                        </p:attrNameLst>
                                      </p:cBhvr>
                                      <p:to>
                                        <p:strVal val="visible"/>
                                      </p:to>
                                    </p:set>
                                    <p:animEffect transition="in" filter="fade">
                                      <p:cBhvr>
                                        <p:cTn id="259" dur="500"/>
                                        <p:tgtEl>
                                          <p:spTgt spid="78"/>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grpId="1" nodeType="clickEffect">
                                  <p:stCondLst>
                                    <p:cond delay="0"/>
                                  </p:stCondLst>
                                  <p:childTnLst>
                                    <p:set>
                                      <p:cBhvr>
                                        <p:cTn id="263" dur="1" fill="hold">
                                          <p:stCondLst>
                                            <p:cond delay="0"/>
                                          </p:stCondLst>
                                        </p:cTn>
                                        <p:tgtEl>
                                          <p:spTgt spid="32"/>
                                        </p:tgtEl>
                                        <p:attrNameLst>
                                          <p:attrName>style.visibility</p:attrName>
                                        </p:attrNameLst>
                                      </p:cBhvr>
                                      <p:to>
                                        <p:strVal val="visible"/>
                                      </p:to>
                                    </p:set>
                                    <p:animEffect transition="in" filter="fade">
                                      <p:cBhvr>
                                        <p:cTn id="264" dur="500"/>
                                        <p:tgtEl>
                                          <p:spTgt spid="32"/>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57"/>
                                        </p:tgtEl>
                                        <p:attrNameLst>
                                          <p:attrName>style.visibility</p:attrName>
                                        </p:attrNameLst>
                                      </p:cBhvr>
                                      <p:to>
                                        <p:strVal val="visible"/>
                                      </p:to>
                                    </p:set>
                                    <p:animEffect transition="in" filter="fade">
                                      <p:cBhvr>
                                        <p:cTn id="270" dur="500"/>
                                        <p:tgtEl>
                                          <p:spTgt spid="57"/>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64"/>
                                        </p:tgtEl>
                                        <p:attrNameLst>
                                          <p:attrName>style.visibility</p:attrName>
                                        </p:attrNameLst>
                                      </p:cBhvr>
                                      <p:to>
                                        <p:strVal val="visible"/>
                                      </p:to>
                                    </p:set>
                                    <p:animEffect transition="in" filter="fade">
                                      <p:cBhvr>
                                        <p:cTn id="273" dur="500"/>
                                        <p:tgtEl>
                                          <p:spTgt spid="64"/>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62"/>
                                        </p:tgtEl>
                                        <p:attrNameLst>
                                          <p:attrName>style.visibility</p:attrName>
                                        </p:attrNameLst>
                                      </p:cBhvr>
                                      <p:to>
                                        <p:strVal val="visible"/>
                                      </p:to>
                                    </p:set>
                                    <p:animEffect transition="in" filter="fade">
                                      <p:cBhvr>
                                        <p:cTn id="276" dur="500"/>
                                        <p:tgtEl>
                                          <p:spTgt spid="62"/>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61"/>
                                        </p:tgtEl>
                                        <p:attrNameLst>
                                          <p:attrName>style.visibility</p:attrName>
                                        </p:attrNameLst>
                                      </p:cBhvr>
                                      <p:to>
                                        <p:strVal val="visible"/>
                                      </p:to>
                                    </p:set>
                                    <p:animEffect transition="in" filter="fade">
                                      <p:cBhvr>
                                        <p:cTn id="279" dur="500"/>
                                        <p:tgtEl>
                                          <p:spTgt spid="61"/>
                                        </p:tgtEl>
                                      </p:cBhvr>
                                    </p:animEffect>
                                  </p:childTnLst>
                                </p:cTn>
                              </p:par>
                            </p:childTnLst>
                          </p:cTn>
                        </p:par>
                      </p:childTnLst>
                    </p:cTn>
                  </p:par>
                  <p:par>
                    <p:cTn id="280" fill="hold">
                      <p:stCondLst>
                        <p:cond delay="indefinite"/>
                      </p:stCondLst>
                      <p:childTnLst>
                        <p:par>
                          <p:cTn id="281" fill="hold">
                            <p:stCondLst>
                              <p:cond delay="0"/>
                            </p:stCondLst>
                            <p:childTnLst>
                              <p:par>
                                <p:cTn id="282" presetID="10" presetClass="exit" presetSubtype="0" fill="hold" grpId="3" nodeType="clickEffect">
                                  <p:stCondLst>
                                    <p:cond delay="0"/>
                                  </p:stCondLst>
                                  <p:childTnLst>
                                    <p:animEffect transition="out" filter="fade">
                                      <p:cBhvr>
                                        <p:cTn id="283" dur="500"/>
                                        <p:tgtEl>
                                          <p:spTgt spid="78"/>
                                        </p:tgtEl>
                                      </p:cBhvr>
                                    </p:animEffect>
                                    <p:set>
                                      <p:cBhvr>
                                        <p:cTn id="284" dur="1" fill="hold">
                                          <p:stCondLst>
                                            <p:cond delay="499"/>
                                          </p:stCondLst>
                                        </p:cTn>
                                        <p:tgtEl>
                                          <p:spTgt spid="78"/>
                                        </p:tgtEl>
                                        <p:attrNameLst>
                                          <p:attrName>style.visibility</p:attrName>
                                        </p:attrNameLst>
                                      </p:cBhvr>
                                      <p:to>
                                        <p:strVal val="hidden"/>
                                      </p:to>
                                    </p:set>
                                  </p:childTnLst>
                                </p:cTn>
                              </p:par>
                            </p:childTnLst>
                          </p:cTn>
                        </p:par>
                        <p:par>
                          <p:cTn id="285" fill="hold">
                            <p:stCondLst>
                              <p:cond delay="500"/>
                            </p:stCondLst>
                            <p:childTnLst>
                              <p:par>
                                <p:cTn id="286" presetID="10" presetClass="entr" presetSubtype="0" fill="hold" grpId="2" nodeType="afterEffect">
                                  <p:stCondLst>
                                    <p:cond delay="0"/>
                                  </p:stCondLst>
                                  <p:childTnLst>
                                    <p:set>
                                      <p:cBhvr>
                                        <p:cTn id="287" dur="1" fill="hold">
                                          <p:stCondLst>
                                            <p:cond delay="0"/>
                                          </p:stCondLst>
                                        </p:cTn>
                                        <p:tgtEl>
                                          <p:spTgt spid="79"/>
                                        </p:tgtEl>
                                        <p:attrNameLst>
                                          <p:attrName>style.visibility</p:attrName>
                                        </p:attrNameLst>
                                      </p:cBhvr>
                                      <p:to>
                                        <p:strVal val="visible"/>
                                      </p:to>
                                    </p:set>
                                    <p:animEffect transition="in" filter="fade">
                                      <p:cBhvr>
                                        <p:cTn id="288" dur="500"/>
                                        <p:tgtEl>
                                          <p:spTgt spid="79"/>
                                        </p:tgtEl>
                                      </p:cBhvr>
                                    </p:animEffect>
                                  </p:childTnLst>
                                </p:cTn>
                              </p:par>
                            </p:childTnLst>
                          </p:cTn>
                        </p:par>
                      </p:childTnLst>
                    </p:cTn>
                  </p:par>
                  <p:par>
                    <p:cTn id="289" fill="hold">
                      <p:stCondLst>
                        <p:cond delay="indefinite"/>
                      </p:stCondLst>
                      <p:childTnLst>
                        <p:par>
                          <p:cTn id="290" fill="hold">
                            <p:stCondLst>
                              <p:cond delay="0"/>
                            </p:stCondLst>
                            <p:childTnLst>
                              <p:par>
                                <p:cTn id="291" presetID="10" presetClass="entr" presetSubtype="0" fill="hold" grpId="0" nodeType="clickEffect">
                                  <p:stCondLst>
                                    <p:cond delay="0"/>
                                  </p:stCondLst>
                                  <p:childTnLst>
                                    <p:set>
                                      <p:cBhvr>
                                        <p:cTn id="292" dur="1" fill="hold">
                                          <p:stCondLst>
                                            <p:cond delay="0"/>
                                          </p:stCondLst>
                                        </p:cTn>
                                        <p:tgtEl>
                                          <p:spTgt spid="33"/>
                                        </p:tgtEl>
                                        <p:attrNameLst>
                                          <p:attrName>style.visibility</p:attrName>
                                        </p:attrNameLst>
                                      </p:cBhvr>
                                      <p:to>
                                        <p:strVal val="visible"/>
                                      </p:to>
                                    </p:set>
                                    <p:animEffect transition="in" filter="fade">
                                      <p:cBhvr>
                                        <p:cTn id="293" dur="500"/>
                                        <p:tgtEl>
                                          <p:spTgt spid="33"/>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45"/>
                                        </p:tgtEl>
                                        <p:attrNameLst>
                                          <p:attrName>style.visibility</p:attrName>
                                        </p:attrNameLst>
                                      </p:cBhvr>
                                      <p:to>
                                        <p:strVal val="visible"/>
                                      </p:to>
                                    </p:set>
                                    <p:animEffect transition="in" filter="fade">
                                      <p:cBhvr>
                                        <p:cTn id="296" dur="500"/>
                                        <p:tgtEl>
                                          <p:spTgt spid="45"/>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52"/>
                                        </p:tgtEl>
                                        <p:attrNameLst>
                                          <p:attrName>style.visibility</p:attrName>
                                        </p:attrNameLst>
                                      </p:cBhvr>
                                      <p:to>
                                        <p:strVal val="visible"/>
                                      </p:to>
                                    </p:set>
                                    <p:animEffect transition="in" filter="fade">
                                      <p:cBhvr>
                                        <p:cTn id="299" dur="500"/>
                                        <p:tgtEl>
                                          <p:spTgt spid="52"/>
                                        </p:tgtEl>
                                      </p:cBhvr>
                                    </p:animEffect>
                                  </p:childTnLst>
                                </p:cTn>
                              </p:par>
                            </p:childTnLst>
                          </p:cTn>
                        </p:par>
                      </p:childTnLst>
                    </p:cTn>
                  </p:par>
                  <p:par>
                    <p:cTn id="300" fill="hold">
                      <p:stCondLst>
                        <p:cond delay="indefinite"/>
                      </p:stCondLst>
                      <p:childTnLst>
                        <p:par>
                          <p:cTn id="301" fill="hold">
                            <p:stCondLst>
                              <p:cond delay="0"/>
                            </p:stCondLst>
                            <p:childTnLst>
                              <p:par>
                                <p:cTn id="302" presetID="10" presetClass="exit" presetSubtype="0" fill="hold" grpId="3" nodeType="clickEffect">
                                  <p:stCondLst>
                                    <p:cond delay="0"/>
                                  </p:stCondLst>
                                  <p:childTnLst>
                                    <p:animEffect transition="out" filter="fade">
                                      <p:cBhvr>
                                        <p:cTn id="303" dur="500"/>
                                        <p:tgtEl>
                                          <p:spTgt spid="79"/>
                                        </p:tgtEl>
                                      </p:cBhvr>
                                    </p:animEffect>
                                    <p:set>
                                      <p:cBhvr>
                                        <p:cTn id="304" dur="1" fill="hold">
                                          <p:stCondLst>
                                            <p:cond delay="499"/>
                                          </p:stCondLst>
                                        </p:cTn>
                                        <p:tgtEl>
                                          <p:spTgt spid="79"/>
                                        </p:tgtEl>
                                        <p:attrNameLst>
                                          <p:attrName>style.visibility</p:attrName>
                                        </p:attrNameLst>
                                      </p:cBhvr>
                                      <p:to>
                                        <p:strVal val="hidden"/>
                                      </p:to>
                                    </p:set>
                                  </p:childTnLst>
                                </p:cTn>
                              </p:par>
                            </p:childTnLst>
                          </p:cTn>
                        </p:par>
                        <p:par>
                          <p:cTn id="305" fill="hold">
                            <p:stCondLst>
                              <p:cond delay="500"/>
                            </p:stCondLst>
                            <p:childTnLst>
                              <p:par>
                                <p:cTn id="306" presetID="10" presetClass="entr" presetSubtype="0" fill="hold" grpId="2" nodeType="afterEffect">
                                  <p:stCondLst>
                                    <p:cond delay="0"/>
                                  </p:stCondLst>
                                  <p:childTnLst>
                                    <p:set>
                                      <p:cBhvr>
                                        <p:cTn id="307" dur="1" fill="hold">
                                          <p:stCondLst>
                                            <p:cond delay="0"/>
                                          </p:stCondLst>
                                        </p:cTn>
                                        <p:tgtEl>
                                          <p:spTgt spid="80"/>
                                        </p:tgtEl>
                                        <p:attrNameLst>
                                          <p:attrName>style.visibility</p:attrName>
                                        </p:attrNameLst>
                                      </p:cBhvr>
                                      <p:to>
                                        <p:strVal val="visible"/>
                                      </p:to>
                                    </p:set>
                                    <p:animEffect transition="in" filter="fade">
                                      <p:cBhvr>
                                        <p:cTn id="308" dur="500"/>
                                        <p:tgtEl>
                                          <p:spTgt spid="80"/>
                                        </p:tgtEl>
                                      </p:cBhvr>
                                    </p:animEffect>
                                  </p:childTnLst>
                                </p:cTn>
                              </p:par>
                            </p:childTnLst>
                          </p:cTn>
                        </p:par>
                      </p:childTnLst>
                    </p:cTn>
                  </p:par>
                  <p:par>
                    <p:cTn id="309" fill="hold">
                      <p:stCondLst>
                        <p:cond delay="indefinite"/>
                      </p:stCondLst>
                      <p:childTnLst>
                        <p:par>
                          <p:cTn id="310" fill="hold">
                            <p:stCondLst>
                              <p:cond delay="0"/>
                            </p:stCondLst>
                            <p:childTnLst>
                              <p:par>
                                <p:cTn id="311" presetID="10" presetClass="entr" presetSubtype="0" fill="hold" grpId="0" nodeType="clickEffect">
                                  <p:stCondLst>
                                    <p:cond delay="0"/>
                                  </p:stCondLst>
                                  <p:childTnLst>
                                    <p:set>
                                      <p:cBhvr>
                                        <p:cTn id="312" dur="1" fill="hold">
                                          <p:stCondLst>
                                            <p:cond delay="0"/>
                                          </p:stCondLst>
                                        </p:cTn>
                                        <p:tgtEl>
                                          <p:spTgt spid="46"/>
                                        </p:tgtEl>
                                        <p:attrNameLst>
                                          <p:attrName>style.visibility</p:attrName>
                                        </p:attrNameLst>
                                      </p:cBhvr>
                                      <p:to>
                                        <p:strVal val="visible"/>
                                      </p:to>
                                    </p:set>
                                    <p:animEffect transition="in" filter="fade">
                                      <p:cBhvr>
                                        <p:cTn id="313" dur="500"/>
                                        <p:tgtEl>
                                          <p:spTgt spid="46"/>
                                        </p:tgtEl>
                                      </p:cBhvr>
                                    </p:animEffect>
                                  </p:childTnLst>
                                </p:cTn>
                              </p:par>
                              <p:par>
                                <p:cTn id="314" presetID="10" presetClass="entr" presetSubtype="0" fill="hold" grpId="0" nodeType="withEffect">
                                  <p:stCondLst>
                                    <p:cond delay="0"/>
                                  </p:stCondLst>
                                  <p:childTnLst>
                                    <p:set>
                                      <p:cBhvr>
                                        <p:cTn id="315" dur="1" fill="hold">
                                          <p:stCondLst>
                                            <p:cond delay="0"/>
                                          </p:stCondLst>
                                        </p:cTn>
                                        <p:tgtEl>
                                          <p:spTgt spid="50"/>
                                        </p:tgtEl>
                                        <p:attrNameLst>
                                          <p:attrName>style.visibility</p:attrName>
                                        </p:attrNameLst>
                                      </p:cBhvr>
                                      <p:to>
                                        <p:strVal val="visible"/>
                                      </p:to>
                                    </p:set>
                                    <p:animEffect transition="in" filter="fade">
                                      <p:cBhvr>
                                        <p:cTn id="316" dur="500"/>
                                        <p:tgtEl>
                                          <p:spTgt spid="50"/>
                                        </p:tgtEl>
                                      </p:cBhvr>
                                    </p:animEffect>
                                  </p:childTnLst>
                                </p:cTn>
                              </p:par>
                              <p:par>
                                <p:cTn id="317" presetID="10" presetClass="entr" presetSubtype="0" fill="hold" grpId="0" nodeType="withEffect">
                                  <p:stCondLst>
                                    <p:cond delay="0"/>
                                  </p:stCondLst>
                                  <p:childTnLst>
                                    <p:set>
                                      <p:cBhvr>
                                        <p:cTn id="318" dur="1" fill="hold">
                                          <p:stCondLst>
                                            <p:cond delay="0"/>
                                          </p:stCondLst>
                                        </p:cTn>
                                        <p:tgtEl>
                                          <p:spTgt spid="53"/>
                                        </p:tgtEl>
                                        <p:attrNameLst>
                                          <p:attrName>style.visibility</p:attrName>
                                        </p:attrNameLst>
                                      </p:cBhvr>
                                      <p:to>
                                        <p:strVal val="visible"/>
                                      </p:to>
                                    </p:set>
                                    <p:animEffect transition="in" filter="fade">
                                      <p:cBhvr>
                                        <p:cTn id="319" dur="500"/>
                                        <p:tgtEl>
                                          <p:spTgt spid="53"/>
                                        </p:tgtEl>
                                      </p:cBhvr>
                                    </p:animEffect>
                                  </p:childTnLst>
                                </p:cTn>
                              </p:par>
                              <p:par>
                                <p:cTn id="320" presetID="10" presetClass="entr" presetSubtype="0" fill="hold" grpId="0" nodeType="withEffect">
                                  <p:stCondLst>
                                    <p:cond delay="0"/>
                                  </p:stCondLst>
                                  <p:childTnLst>
                                    <p:set>
                                      <p:cBhvr>
                                        <p:cTn id="321" dur="1" fill="hold">
                                          <p:stCondLst>
                                            <p:cond delay="0"/>
                                          </p:stCondLst>
                                        </p:cTn>
                                        <p:tgtEl>
                                          <p:spTgt spid="34"/>
                                        </p:tgtEl>
                                        <p:attrNameLst>
                                          <p:attrName>style.visibility</p:attrName>
                                        </p:attrNameLst>
                                      </p:cBhvr>
                                      <p:to>
                                        <p:strVal val="visible"/>
                                      </p:to>
                                    </p:set>
                                    <p:animEffect transition="in" filter="fade">
                                      <p:cBhvr>
                                        <p:cTn id="322" dur="500"/>
                                        <p:tgtEl>
                                          <p:spTgt spid="34"/>
                                        </p:tgtEl>
                                      </p:cBhvr>
                                    </p:animEffect>
                                  </p:childTnLst>
                                </p:cTn>
                              </p:par>
                            </p:childTnLst>
                          </p:cTn>
                        </p:par>
                      </p:childTnLst>
                    </p:cTn>
                  </p:par>
                  <p:par>
                    <p:cTn id="323" fill="hold">
                      <p:stCondLst>
                        <p:cond delay="indefinite"/>
                      </p:stCondLst>
                      <p:childTnLst>
                        <p:par>
                          <p:cTn id="324" fill="hold">
                            <p:stCondLst>
                              <p:cond delay="0"/>
                            </p:stCondLst>
                            <p:childTnLst>
                              <p:par>
                                <p:cTn id="325" presetID="10" presetClass="exit" presetSubtype="0" fill="hold" grpId="3" nodeType="clickEffect">
                                  <p:stCondLst>
                                    <p:cond delay="0"/>
                                  </p:stCondLst>
                                  <p:childTnLst>
                                    <p:animEffect transition="out" filter="fade">
                                      <p:cBhvr>
                                        <p:cTn id="326" dur="500"/>
                                        <p:tgtEl>
                                          <p:spTgt spid="80"/>
                                        </p:tgtEl>
                                      </p:cBhvr>
                                    </p:animEffect>
                                    <p:set>
                                      <p:cBhvr>
                                        <p:cTn id="327" dur="1" fill="hold">
                                          <p:stCondLst>
                                            <p:cond delay="499"/>
                                          </p:stCondLst>
                                        </p:cTn>
                                        <p:tgtEl>
                                          <p:spTgt spid="80"/>
                                        </p:tgtEl>
                                        <p:attrNameLst>
                                          <p:attrName>style.visibility</p:attrName>
                                        </p:attrNameLst>
                                      </p:cBhvr>
                                      <p:to>
                                        <p:strVal val="hidden"/>
                                      </p:to>
                                    </p:set>
                                  </p:childTnLst>
                                </p:cTn>
                              </p:par>
                            </p:childTnLst>
                          </p:cTn>
                        </p:par>
                        <p:par>
                          <p:cTn id="328" fill="hold">
                            <p:stCondLst>
                              <p:cond delay="500"/>
                            </p:stCondLst>
                            <p:childTnLst>
                              <p:par>
                                <p:cTn id="329" presetID="10" presetClass="entr" presetSubtype="0" fill="hold" grpId="2" nodeType="afterEffect">
                                  <p:stCondLst>
                                    <p:cond delay="0"/>
                                  </p:stCondLst>
                                  <p:childTnLst>
                                    <p:set>
                                      <p:cBhvr>
                                        <p:cTn id="330" dur="1" fill="hold">
                                          <p:stCondLst>
                                            <p:cond delay="0"/>
                                          </p:stCondLst>
                                        </p:cTn>
                                        <p:tgtEl>
                                          <p:spTgt spid="81"/>
                                        </p:tgtEl>
                                        <p:attrNameLst>
                                          <p:attrName>style.visibility</p:attrName>
                                        </p:attrNameLst>
                                      </p:cBhvr>
                                      <p:to>
                                        <p:strVal val="visible"/>
                                      </p:to>
                                    </p:set>
                                    <p:animEffect transition="in" filter="fade">
                                      <p:cBhvr>
                                        <p:cTn id="331" dur="500"/>
                                        <p:tgtEl>
                                          <p:spTgt spid="81"/>
                                        </p:tgtEl>
                                      </p:cBhvr>
                                    </p:animEffect>
                                  </p:childTnLst>
                                </p:cTn>
                              </p:par>
                            </p:childTnLst>
                          </p:cTn>
                        </p:par>
                      </p:childTnLst>
                    </p:cTn>
                  </p:par>
                  <p:par>
                    <p:cTn id="332" fill="hold">
                      <p:stCondLst>
                        <p:cond delay="indefinite"/>
                      </p:stCondLst>
                      <p:childTnLst>
                        <p:par>
                          <p:cTn id="333" fill="hold">
                            <p:stCondLst>
                              <p:cond delay="0"/>
                            </p:stCondLst>
                            <p:childTnLst>
                              <p:par>
                                <p:cTn id="334" presetID="10" presetClass="entr" presetSubtype="0" fill="hold" grpId="0" nodeType="clickEffect">
                                  <p:stCondLst>
                                    <p:cond delay="0"/>
                                  </p:stCondLst>
                                  <p:childTnLst>
                                    <p:set>
                                      <p:cBhvr>
                                        <p:cTn id="335" dur="1" fill="hold">
                                          <p:stCondLst>
                                            <p:cond delay="0"/>
                                          </p:stCondLst>
                                        </p:cTn>
                                        <p:tgtEl>
                                          <p:spTgt spid="63"/>
                                        </p:tgtEl>
                                        <p:attrNameLst>
                                          <p:attrName>style.visibility</p:attrName>
                                        </p:attrNameLst>
                                      </p:cBhvr>
                                      <p:to>
                                        <p:strVal val="visible"/>
                                      </p:to>
                                    </p:set>
                                    <p:animEffect transition="in" filter="fade">
                                      <p:cBhvr>
                                        <p:cTn id="336" dur="500"/>
                                        <p:tgtEl>
                                          <p:spTgt spid="63"/>
                                        </p:tgtEl>
                                      </p:cBhvr>
                                    </p:animEffect>
                                  </p:childTnLst>
                                </p:cTn>
                              </p:par>
                            </p:childTnLst>
                          </p:cTn>
                        </p:par>
                      </p:childTnLst>
                    </p:cTn>
                  </p:par>
                  <p:par>
                    <p:cTn id="337" fill="hold">
                      <p:stCondLst>
                        <p:cond delay="indefinite"/>
                      </p:stCondLst>
                      <p:childTnLst>
                        <p:par>
                          <p:cTn id="338" fill="hold">
                            <p:stCondLst>
                              <p:cond delay="0"/>
                            </p:stCondLst>
                            <p:childTnLst>
                              <p:par>
                                <p:cTn id="339" presetID="10" presetClass="exit" presetSubtype="0" fill="hold" grpId="3" nodeType="clickEffect">
                                  <p:stCondLst>
                                    <p:cond delay="0"/>
                                  </p:stCondLst>
                                  <p:childTnLst>
                                    <p:animEffect transition="out" filter="fade">
                                      <p:cBhvr>
                                        <p:cTn id="340" dur="500"/>
                                        <p:tgtEl>
                                          <p:spTgt spid="81"/>
                                        </p:tgtEl>
                                      </p:cBhvr>
                                    </p:animEffect>
                                    <p:set>
                                      <p:cBhvr>
                                        <p:cTn id="341" dur="1" fill="hold">
                                          <p:stCondLst>
                                            <p:cond delay="499"/>
                                          </p:stCondLst>
                                        </p:cTn>
                                        <p:tgtEl>
                                          <p:spTgt spid="81"/>
                                        </p:tgtEl>
                                        <p:attrNameLst>
                                          <p:attrName>style.visibility</p:attrName>
                                        </p:attrNameLst>
                                      </p:cBhvr>
                                      <p:to>
                                        <p:strVal val="hidden"/>
                                      </p:to>
                                    </p:set>
                                  </p:childTnLst>
                                </p:cTn>
                              </p:par>
                            </p:childTnLst>
                          </p:cTn>
                        </p:par>
                        <p:par>
                          <p:cTn id="342" fill="hold">
                            <p:stCondLst>
                              <p:cond delay="500"/>
                            </p:stCondLst>
                            <p:childTnLst>
                              <p:par>
                                <p:cTn id="343" presetID="10" presetClass="entr" presetSubtype="0" fill="hold" grpId="2" nodeType="afterEffect">
                                  <p:stCondLst>
                                    <p:cond delay="0"/>
                                  </p:stCondLst>
                                  <p:childTnLst>
                                    <p:set>
                                      <p:cBhvr>
                                        <p:cTn id="344" dur="1" fill="hold">
                                          <p:stCondLst>
                                            <p:cond delay="0"/>
                                          </p:stCondLst>
                                        </p:cTn>
                                        <p:tgtEl>
                                          <p:spTgt spid="82"/>
                                        </p:tgtEl>
                                        <p:attrNameLst>
                                          <p:attrName>style.visibility</p:attrName>
                                        </p:attrNameLst>
                                      </p:cBhvr>
                                      <p:to>
                                        <p:strVal val="visible"/>
                                      </p:to>
                                    </p:set>
                                    <p:animEffect transition="in" filter="fade">
                                      <p:cBhvr>
                                        <p:cTn id="345" dur="500"/>
                                        <p:tgtEl>
                                          <p:spTgt spid="82"/>
                                        </p:tgtEl>
                                      </p:cBhvr>
                                    </p:animEffect>
                                  </p:childTnLst>
                                </p:cTn>
                              </p:par>
                            </p:childTnLst>
                          </p:cTn>
                        </p:par>
                      </p:childTnLst>
                    </p:cTn>
                  </p:par>
                  <p:par>
                    <p:cTn id="346" fill="hold">
                      <p:stCondLst>
                        <p:cond delay="indefinite"/>
                      </p:stCondLst>
                      <p:childTnLst>
                        <p:par>
                          <p:cTn id="347" fill="hold">
                            <p:stCondLst>
                              <p:cond delay="0"/>
                            </p:stCondLst>
                            <p:childTnLst>
                              <p:par>
                                <p:cTn id="348" presetID="10" presetClass="entr" presetSubtype="0" fill="hold" grpId="0" nodeType="clickEffect">
                                  <p:stCondLst>
                                    <p:cond delay="0"/>
                                  </p:stCondLst>
                                  <p:childTnLst>
                                    <p:set>
                                      <p:cBhvr>
                                        <p:cTn id="349" dur="1" fill="hold">
                                          <p:stCondLst>
                                            <p:cond delay="0"/>
                                          </p:stCondLst>
                                        </p:cTn>
                                        <p:tgtEl>
                                          <p:spTgt spid="55"/>
                                        </p:tgtEl>
                                        <p:attrNameLst>
                                          <p:attrName>style.visibility</p:attrName>
                                        </p:attrNameLst>
                                      </p:cBhvr>
                                      <p:to>
                                        <p:strVal val="visible"/>
                                      </p:to>
                                    </p:set>
                                    <p:animEffect transition="in" filter="fade">
                                      <p:cBhvr>
                                        <p:cTn id="350" dur="500"/>
                                        <p:tgtEl>
                                          <p:spTgt spid="55"/>
                                        </p:tgtEl>
                                      </p:cBhvr>
                                    </p:animEffect>
                                  </p:childTnLst>
                                </p:cTn>
                              </p:par>
                              <p:par>
                                <p:cTn id="351" presetID="10" presetClass="entr" presetSubtype="0" fill="hold" grpId="0" nodeType="withEffect">
                                  <p:stCondLst>
                                    <p:cond delay="0"/>
                                  </p:stCondLst>
                                  <p:childTnLst>
                                    <p:set>
                                      <p:cBhvr>
                                        <p:cTn id="352" dur="1" fill="hold">
                                          <p:stCondLst>
                                            <p:cond delay="0"/>
                                          </p:stCondLst>
                                        </p:cTn>
                                        <p:tgtEl>
                                          <p:spTgt spid="54"/>
                                        </p:tgtEl>
                                        <p:attrNameLst>
                                          <p:attrName>style.visibility</p:attrName>
                                        </p:attrNameLst>
                                      </p:cBhvr>
                                      <p:to>
                                        <p:strVal val="visible"/>
                                      </p:to>
                                    </p:set>
                                    <p:animEffect transition="in" filter="fade">
                                      <p:cBhvr>
                                        <p:cTn id="353" dur="500"/>
                                        <p:tgtEl>
                                          <p:spTgt spid="54"/>
                                        </p:tgtEl>
                                      </p:cBhvr>
                                    </p:animEffect>
                                  </p:childTnLst>
                                </p:cTn>
                              </p:par>
                              <p:par>
                                <p:cTn id="354" presetID="10" presetClass="entr" presetSubtype="0" fill="hold" grpId="0" nodeType="withEffect">
                                  <p:stCondLst>
                                    <p:cond delay="0"/>
                                  </p:stCondLst>
                                  <p:childTnLst>
                                    <p:set>
                                      <p:cBhvr>
                                        <p:cTn id="355" dur="1" fill="hold">
                                          <p:stCondLst>
                                            <p:cond delay="0"/>
                                          </p:stCondLst>
                                        </p:cTn>
                                        <p:tgtEl>
                                          <p:spTgt spid="69"/>
                                        </p:tgtEl>
                                        <p:attrNameLst>
                                          <p:attrName>style.visibility</p:attrName>
                                        </p:attrNameLst>
                                      </p:cBhvr>
                                      <p:to>
                                        <p:strVal val="visible"/>
                                      </p:to>
                                    </p:set>
                                    <p:animEffect transition="in" filter="fade">
                                      <p:cBhvr>
                                        <p:cTn id="356" dur="500"/>
                                        <p:tgtEl>
                                          <p:spTgt spid="69"/>
                                        </p:tgtEl>
                                      </p:cBhvr>
                                    </p:animEffect>
                                  </p:childTnLst>
                                </p:cTn>
                              </p:par>
                              <p:par>
                                <p:cTn id="357" presetID="10" presetClass="entr" presetSubtype="0" fill="hold" grpId="0" nodeType="withEffect">
                                  <p:stCondLst>
                                    <p:cond delay="0"/>
                                  </p:stCondLst>
                                  <p:childTnLst>
                                    <p:set>
                                      <p:cBhvr>
                                        <p:cTn id="358" dur="1" fill="hold">
                                          <p:stCondLst>
                                            <p:cond delay="0"/>
                                          </p:stCondLst>
                                        </p:cTn>
                                        <p:tgtEl>
                                          <p:spTgt spid="47"/>
                                        </p:tgtEl>
                                        <p:attrNameLst>
                                          <p:attrName>style.visibility</p:attrName>
                                        </p:attrNameLst>
                                      </p:cBhvr>
                                      <p:to>
                                        <p:strVal val="visible"/>
                                      </p:to>
                                    </p:set>
                                    <p:animEffect transition="in" filter="fade">
                                      <p:cBhvr>
                                        <p:cTn id="359" dur="500"/>
                                        <p:tgtEl>
                                          <p:spTgt spid="47"/>
                                        </p:tgtEl>
                                      </p:cBhvr>
                                    </p:animEffect>
                                  </p:childTnLst>
                                </p:cTn>
                              </p:par>
                              <p:par>
                                <p:cTn id="360" presetID="10" presetClass="entr" presetSubtype="0" fill="hold" grpId="0" nodeType="withEffect">
                                  <p:stCondLst>
                                    <p:cond delay="0"/>
                                  </p:stCondLst>
                                  <p:childTnLst>
                                    <p:set>
                                      <p:cBhvr>
                                        <p:cTn id="361" dur="1" fill="hold">
                                          <p:stCondLst>
                                            <p:cond delay="0"/>
                                          </p:stCondLst>
                                        </p:cTn>
                                        <p:tgtEl>
                                          <p:spTgt spid="37"/>
                                        </p:tgtEl>
                                        <p:attrNameLst>
                                          <p:attrName>style.visibility</p:attrName>
                                        </p:attrNameLst>
                                      </p:cBhvr>
                                      <p:to>
                                        <p:strVal val="visible"/>
                                      </p:to>
                                    </p:set>
                                    <p:animEffect transition="in" filter="fade">
                                      <p:cBhvr>
                                        <p:cTn id="362" dur="500"/>
                                        <p:tgtEl>
                                          <p:spTgt spid="37"/>
                                        </p:tgtEl>
                                      </p:cBhvr>
                                    </p:animEffect>
                                  </p:childTnLst>
                                </p:cTn>
                              </p:par>
                              <p:par>
                                <p:cTn id="363" presetID="10" presetClass="entr" presetSubtype="0" fill="hold" grpId="0" nodeType="withEffect">
                                  <p:stCondLst>
                                    <p:cond delay="0"/>
                                  </p:stCondLst>
                                  <p:childTnLst>
                                    <p:set>
                                      <p:cBhvr>
                                        <p:cTn id="364" dur="1" fill="hold">
                                          <p:stCondLst>
                                            <p:cond delay="0"/>
                                          </p:stCondLst>
                                        </p:cTn>
                                        <p:tgtEl>
                                          <p:spTgt spid="38"/>
                                        </p:tgtEl>
                                        <p:attrNameLst>
                                          <p:attrName>style.visibility</p:attrName>
                                        </p:attrNameLst>
                                      </p:cBhvr>
                                      <p:to>
                                        <p:strVal val="visible"/>
                                      </p:to>
                                    </p:set>
                                    <p:animEffect transition="in" filter="fade">
                                      <p:cBhvr>
                                        <p:cTn id="365" dur="500"/>
                                        <p:tgtEl>
                                          <p:spTgt spid="38"/>
                                        </p:tgtEl>
                                      </p:cBhvr>
                                    </p:animEffect>
                                  </p:childTnLst>
                                </p:cTn>
                              </p:par>
                            </p:childTnLst>
                          </p:cTn>
                        </p:par>
                      </p:childTnLst>
                    </p:cTn>
                  </p:par>
                  <p:par>
                    <p:cTn id="366" fill="hold">
                      <p:stCondLst>
                        <p:cond delay="indefinite"/>
                      </p:stCondLst>
                      <p:childTnLst>
                        <p:par>
                          <p:cTn id="367" fill="hold">
                            <p:stCondLst>
                              <p:cond delay="0"/>
                            </p:stCondLst>
                            <p:childTnLst>
                              <p:par>
                                <p:cTn id="368" presetID="10" presetClass="exit" presetSubtype="0" fill="hold" grpId="3" nodeType="clickEffect">
                                  <p:stCondLst>
                                    <p:cond delay="0"/>
                                  </p:stCondLst>
                                  <p:childTnLst>
                                    <p:animEffect transition="out" filter="fade">
                                      <p:cBhvr>
                                        <p:cTn id="369" dur="500"/>
                                        <p:tgtEl>
                                          <p:spTgt spid="82"/>
                                        </p:tgtEl>
                                      </p:cBhvr>
                                    </p:animEffect>
                                    <p:set>
                                      <p:cBhvr>
                                        <p:cTn id="370" dur="1" fill="hold">
                                          <p:stCondLst>
                                            <p:cond delay="499"/>
                                          </p:stCondLst>
                                        </p:cTn>
                                        <p:tgtEl>
                                          <p:spTgt spid="82"/>
                                        </p:tgtEl>
                                        <p:attrNameLst>
                                          <p:attrName>style.visibility</p:attrName>
                                        </p:attrNameLst>
                                      </p:cBhvr>
                                      <p:to>
                                        <p:strVal val="hidden"/>
                                      </p:to>
                                    </p:set>
                                  </p:childTnLst>
                                </p:cTn>
                              </p:par>
                            </p:childTnLst>
                          </p:cTn>
                        </p:par>
                        <p:par>
                          <p:cTn id="371" fill="hold">
                            <p:stCondLst>
                              <p:cond delay="500"/>
                            </p:stCondLst>
                            <p:childTnLst>
                              <p:par>
                                <p:cTn id="372" presetID="10" presetClass="entr" presetSubtype="0" fill="hold" grpId="2" nodeType="afterEffect">
                                  <p:stCondLst>
                                    <p:cond delay="0"/>
                                  </p:stCondLst>
                                  <p:childTnLst>
                                    <p:set>
                                      <p:cBhvr>
                                        <p:cTn id="373" dur="1" fill="hold">
                                          <p:stCondLst>
                                            <p:cond delay="0"/>
                                          </p:stCondLst>
                                        </p:cTn>
                                        <p:tgtEl>
                                          <p:spTgt spid="83"/>
                                        </p:tgtEl>
                                        <p:attrNameLst>
                                          <p:attrName>style.visibility</p:attrName>
                                        </p:attrNameLst>
                                      </p:cBhvr>
                                      <p:to>
                                        <p:strVal val="visible"/>
                                      </p:to>
                                    </p:set>
                                    <p:animEffect transition="in" filter="fade">
                                      <p:cBhvr>
                                        <p:cTn id="374" dur="500"/>
                                        <p:tgtEl>
                                          <p:spTgt spid="83"/>
                                        </p:tgtEl>
                                      </p:cBhvr>
                                    </p:animEffect>
                                  </p:childTnLst>
                                </p:cTn>
                              </p:par>
                            </p:childTnLst>
                          </p:cTn>
                        </p:par>
                      </p:childTnLst>
                    </p:cTn>
                  </p:par>
                  <p:par>
                    <p:cTn id="375" fill="hold">
                      <p:stCondLst>
                        <p:cond delay="indefinite"/>
                      </p:stCondLst>
                      <p:childTnLst>
                        <p:par>
                          <p:cTn id="376" fill="hold">
                            <p:stCondLst>
                              <p:cond delay="0"/>
                            </p:stCondLst>
                            <p:childTnLst>
                              <p:par>
                                <p:cTn id="377" presetID="10" presetClass="entr" presetSubtype="0" fill="hold" grpId="0" nodeType="clickEffect">
                                  <p:stCondLst>
                                    <p:cond delay="0"/>
                                  </p:stCondLst>
                                  <p:childTnLst>
                                    <p:set>
                                      <p:cBhvr>
                                        <p:cTn id="378" dur="1" fill="hold">
                                          <p:stCondLst>
                                            <p:cond delay="0"/>
                                          </p:stCondLst>
                                        </p:cTn>
                                        <p:tgtEl>
                                          <p:spTgt spid="36"/>
                                        </p:tgtEl>
                                        <p:attrNameLst>
                                          <p:attrName>style.visibility</p:attrName>
                                        </p:attrNameLst>
                                      </p:cBhvr>
                                      <p:to>
                                        <p:strVal val="visible"/>
                                      </p:to>
                                    </p:set>
                                    <p:animEffect transition="in" filter="fade">
                                      <p:cBhvr>
                                        <p:cTn id="379" dur="500"/>
                                        <p:tgtEl>
                                          <p:spTgt spid="36"/>
                                        </p:tgtEl>
                                      </p:cBhvr>
                                    </p:animEffect>
                                  </p:childTnLst>
                                </p:cTn>
                              </p:par>
                              <p:par>
                                <p:cTn id="380" presetID="10" presetClass="entr" presetSubtype="0" fill="hold" grpId="0" nodeType="withEffect">
                                  <p:stCondLst>
                                    <p:cond delay="0"/>
                                  </p:stCondLst>
                                  <p:childTnLst>
                                    <p:set>
                                      <p:cBhvr>
                                        <p:cTn id="381" dur="1" fill="hold">
                                          <p:stCondLst>
                                            <p:cond delay="0"/>
                                          </p:stCondLst>
                                        </p:cTn>
                                        <p:tgtEl>
                                          <p:spTgt spid="10"/>
                                        </p:tgtEl>
                                        <p:attrNameLst>
                                          <p:attrName>style.visibility</p:attrName>
                                        </p:attrNameLst>
                                      </p:cBhvr>
                                      <p:to>
                                        <p:strVal val="visible"/>
                                      </p:to>
                                    </p:set>
                                    <p:animEffect transition="in" filter="fade">
                                      <p:cBhvr>
                                        <p:cTn id="382" dur="500"/>
                                        <p:tgtEl>
                                          <p:spTgt spid="10"/>
                                        </p:tgtEl>
                                      </p:cBhvr>
                                    </p:animEffect>
                                  </p:childTnLst>
                                </p:cTn>
                              </p:par>
                              <p:par>
                                <p:cTn id="383" presetID="10" presetClass="entr" presetSubtype="0" fill="hold" grpId="0" nodeType="withEffect">
                                  <p:stCondLst>
                                    <p:cond delay="0"/>
                                  </p:stCondLst>
                                  <p:childTnLst>
                                    <p:set>
                                      <p:cBhvr>
                                        <p:cTn id="384" dur="1" fill="hold">
                                          <p:stCondLst>
                                            <p:cond delay="0"/>
                                          </p:stCondLst>
                                        </p:cTn>
                                        <p:tgtEl>
                                          <p:spTgt spid="35"/>
                                        </p:tgtEl>
                                        <p:attrNameLst>
                                          <p:attrName>style.visibility</p:attrName>
                                        </p:attrNameLst>
                                      </p:cBhvr>
                                      <p:to>
                                        <p:strVal val="visible"/>
                                      </p:to>
                                    </p:set>
                                    <p:animEffect transition="in" filter="fade">
                                      <p:cBhvr>
                                        <p:cTn id="385" dur="500"/>
                                        <p:tgtEl>
                                          <p:spTgt spid="35"/>
                                        </p:tgtEl>
                                      </p:cBhvr>
                                    </p:animEffect>
                                  </p:childTnLst>
                                </p:cTn>
                              </p:par>
                            </p:childTnLst>
                          </p:cTn>
                        </p:par>
                      </p:childTnLst>
                    </p:cTn>
                  </p:par>
                  <p:par>
                    <p:cTn id="386" fill="hold">
                      <p:stCondLst>
                        <p:cond delay="indefinite"/>
                      </p:stCondLst>
                      <p:childTnLst>
                        <p:par>
                          <p:cTn id="387" fill="hold">
                            <p:stCondLst>
                              <p:cond delay="0"/>
                            </p:stCondLst>
                            <p:childTnLst>
                              <p:par>
                                <p:cTn id="388" presetID="10" presetClass="exit" presetSubtype="0" fill="hold" grpId="3" nodeType="clickEffect">
                                  <p:stCondLst>
                                    <p:cond delay="0"/>
                                  </p:stCondLst>
                                  <p:childTnLst>
                                    <p:animEffect transition="out" filter="fade">
                                      <p:cBhvr>
                                        <p:cTn id="389" dur="500"/>
                                        <p:tgtEl>
                                          <p:spTgt spid="83"/>
                                        </p:tgtEl>
                                      </p:cBhvr>
                                    </p:animEffect>
                                    <p:set>
                                      <p:cBhvr>
                                        <p:cTn id="390" dur="1" fill="hold">
                                          <p:stCondLst>
                                            <p:cond delay="499"/>
                                          </p:stCondLst>
                                        </p:cTn>
                                        <p:tgtEl>
                                          <p:spTgt spid="83"/>
                                        </p:tgtEl>
                                        <p:attrNameLst>
                                          <p:attrName>style.visibility</p:attrName>
                                        </p:attrNameLst>
                                      </p:cBhvr>
                                      <p:to>
                                        <p:strVal val="hidden"/>
                                      </p:to>
                                    </p:set>
                                  </p:childTnLst>
                                </p:cTn>
                              </p:par>
                            </p:childTnLst>
                          </p:cTn>
                        </p:par>
                        <p:par>
                          <p:cTn id="391" fill="hold">
                            <p:stCondLst>
                              <p:cond delay="500"/>
                            </p:stCondLst>
                            <p:childTnLst>
                              <p:par>
                                <p:cTn id="392" presetID="10" presetClass="entr" presetSubtype="0" fill="hold" grpId="2" nodeType="afterEffect">
                                  <p:stCondLst>
                                    <p:cond delay="0"/>
                                  </p:stCondLst>
                                  <p:childTnLst>
                                    <p:set>
                                      <p:cBhvr>
                                        <p:cTn id="393" dur="1" fill="hold">
                                          <p:stCondLst>
                                            <p:cond delay="0"/>
                                          </p:stCondLst>
                                        </p:cTn>
                                        <p:tgtEl>
                                          <p:spTgt spid="84"/>
                                        </p:tgtEl>
                                        <p:attrNameLst>
                                          <p:attrName>style.visibility</p:attrName>
                                        </p:attrNameLst>
                                      </p:cBhvr>
                                      <p:to>
                                        <p:strVal val="visible"/>
                                      </p:to>
                                    </p:set>
                                    <p:animEffect transition="in" filter="fade">
                                      <p:cBhvr>
                                        <p:cTn id="394" dur="500"/>
                                        <p:tgtEl>
                                          <p:spTgt spid="84"/>
                                        </p:tgtEl>
                                      </p:cBhvr>
                                    </p:animEffect>
                                  </p:childTnLst>
                                </p:cTn>
                              </p:par>
                            </p:childTnLst>
                          </p:cTn>
                        </p:par>
                        <p:par>
                          <p:cTn id="395" fill="hold">
                            <p:stCondLst>
                              <p:cond delay="1000"/>
                            </p:stCondLst>
                            <p:childTnLst>
                              <p:par>
                                <p:cTn id="396" presetID="10" presetClass="entr" presetSubtype="0" fill="hold" grpId="0" nodeType="afterEffect">
                                  <p:stCondLst>
                                    <p:cond delay="0"/>
                                  </p:stCondLst>
                                  <p:childTnLst>
                                    <p:set>
                                      <p:cBhvr>
                                        <p:cTn id="397" dur="1" fill="hold">
                                          <p:stCondLst>
                                            <p:cond delay="0"/>
                                          </p:stCondLst>
                                        </p:cTn>
                                        <p:tgtEl>
                                          <p:spTgt spid="85"/>
                                        </p:tgtEl>
                                        <p:attrNameLst>
                                          <p:attrName>style.visibility</p:attrName>
                                        </p:attrNameLst>
                                      </p:cBhvr>
                                      <p:to>
                                        <p:strVal val="visible"/>
                                      </p:to>
                                    </p:set>
                                    <p:animEffect transition="in" filter="fade">
                                      <p:cBhvr>
                                        <p:cTn id="398" dur="500"/>
                                        <p:tgtEl>
                                          <p:spTgt spid="85"/>
                                        </p:tgtEl>
                                      </p:cBhvr>
                                    </p:animEffect>
                                  </p:childTnLst>
                                </p:cTn>
                              </p:par>
                            </p:childTnLst>
                          </p:cTn>
                        </p:par>
                      </p:childTnLst>
                    </p:cTn>
                  </p:par>
                  <p:par>
                    <p:cTn id="399" fill="hold">
                      <p:stCondLst>
                        <p:cond delay="indefinite"/>
                      </p:stCondLst>
                      <p:childTnLst>
                        <p:par>
                          <p:cTn id="400" fill="hold">
                            <p:stCondLst>
                              <p:cond delay="0"/>
                            </p:stCondLst>
                            <p:childTnLst>
                              <p:par>
                                <p:cTn id="401" presetID="10" presetClass="exit" presetSubtype="0" fill="hold" grpId="1" nodeType="clickEffect">
                                  <p:stCondLst>
                                    <p:cond delay="0"/>
                                  </p:stCondLst>
                                  <p:childTnLst>
                                    <p:animEffect transition="out" filter="fade">
                                      <p:cBhvr>
                                        <p:cTn id="402" dur="500"/>
                                        <p:tgtEl>
                                          <p:spTgt spid="85"/>
                                        </p:tgtEl>
                                      </p:cBhvr>
                                    </p:animEffect>
                                    <p:set>
                                      <p:cBhvr>
                                        <p:cTn id="403" dur="1" fill="hold">
                                          <p:stCondLst>
                                            <p:cond delay="499"/>
                                          </p:stCondLst>
                                        </p:cTn>
                                        <p:tgtEl>
                                          <p:spTgt spid="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5" grpId="0" animBg="1"/>
      <p:bldP spid="16" grpId="0" animBg="1"/>
      <p:bldP spid="17" grpId="0" animBg="1"/>
      <p:bldP spid="18" grpId="0" animBg="1"/>
      <p:bldP spid="20" grpId="0"/>
      <p:bldP spid="21" grpId="0"/>
      <p:bldP spid="22" grpId="0"/>
      <p:bldP spid="23" grpId="0" animBg="1"/>
      <p:bldP spid="24" grpId="0" animBg="1"/>
      <p:bldP spid="25" grpId="0"/>
      <p:bldP spid="26" grpId="0" animBg="1"/>
      <p:bldP spid="27" grpId="0" animBg="1"/>
      <p:bldP spid="28" grpId="0" animBg="1"/>
      <p:bldP spid="29" grpId="0"/>
      <p:bldP spid="30" grpId="0" animBg="1"/>
      <p:bldP spid="31" grpId="0"/>
      <p:bldP spid="32" grpId="0"/>
      <p:bldP spid="32" grpId="1"/>
      <p:bldP spid="33" grpId="0"/>
      <p:bldP spid="34" grpId="0"/>
      <p:bldP spid="35" grpId="0" animBg="1"/>
      <p:bldP spid="36" grpId="0"/>
      <p:bldP spid="37" grpId="0" animBg="1"/>
      <p:bldP spid="38" grpId="0"/>
      <p:bldP spid="39" grpId="0" animBg="1"/>
      <p:bldP spid="40" grpId="0"/>
      <p:bldP spid="41" grpId="0" animBg="1"/>
      <p:bldP spid="42" grpId="0"/>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p:bldP spid="59" grpId="0" animBg="1"/>
      <p:bldP spid="60" grpId="0" animBg="1"/>
      <p:bldP spid="61" grpId="0"/>
      <p:bldP spid="62" grpId="0" animBg="1"/>
      <p:bldP spid="63" grpId="0" animBg="1"/>
      <p:bldP spid="64" grpId="0" animBg="1"/>
      <p:bldP spid="65" grpId="0" animBg="1"/>
      <p:bldP spid="66" grpId="0" animBg="1"/>
      <p:bldP spid="67" grpId="0" animBg="1"/>
      <p:bldP spid="68" grpId="0" animBg="1"/>
      <p:bldP spid="69" grpId="0" animBg="1"/>
      <p:bldP spid="76" grpId="0" animBg="1"/>
      <p:bldP spid="76" grpId="1" animBg="1"/>
      <p:bldP spid="76" grpId="2" animBg="1"/>
      <p:bldP spid="76" grpId="3" animBg="1"/>
      <p:bldP spid="77" grpId="0" animBg="1"/>
      <p:bldP spid="77" grpId="1" animBg="1"/>
      <p:bldP spid="77" grpId="2" animBg="1"/>
      <p:bldP spid="77" grpId="3" animBg="1"/>
      <p:bldP spid="78" grpId="0" animBg="1"/>
      <p:bldP spid="78" grpId="1" animBg="1"/>
      <p:bldP spid="78" grpId="2" animBg="1"/>
      <p:bldP spid="78" grpId="3" animBg="1"/>
      <p:bldP spid="79" grpId="0" animBg="1"/>
      <p:bldP spid="79" grpId="1" animBg="1"/>
      <p:bldP spid="79" grpId="2" animBg="1"/>
      <p:bldP spid="79" grpId="3" animBg="1"/>
      <p:bldP spid="80" grpId="0" animBg="1"/>
      <p:bldP spid="80" grpId="1" animBg="1"/>
      <p:bldP spid="80" grpId="2" animBg="1"/>
      <p:bldP spid="80" grpId="3" animBg="1"/>
      <p:bldP spid="81" grpId="0" animBg="1"/>
      <p:bldP spid="81" grpId="1" animBg="1"/>
      <p:bldP spid="81" grpId="2" animBg="1"/>
      <p:bldP spid="81" grpId="3" animBg="1"/>
      <p:bldP spid="82" grpId="0" animBg="1"/>
      <p:bldP spid="82" grpId="1" animBg="1"/>
      <p:bldP spid="82" grpId="2" animBg="1"/>
      <p:bldP spid="82" grpId="3" animBg="1"/>
      <p:bldP spid="83" grpId="0" animBg="1"/>
      <p:bldP spid="83" grpId="1" animBg="1"/>
      <p:bldP spid="83" grpId="2" animBg="1"/>
      <p:bldP spid="83" grpId="3" animBg="1"/>
      <p:bldP spid="84" grpId="0" animBg="1"/>
      <p:bldP spid="84" grpId="1" animBg="1"/>
      <p:bldP spid="84" grpId="2" animBg="1"/>
      <p:bldP spid="85" grpId="0" animBg="1"/>
      <p:bldP spid="85" grpId="1" animBg="1"/>
      <p:bldP spid="85" grpId="2" animBg="1"/>
      <p:bldP spid="85" grpId="3"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8107FB38-4DA8-4D40-A1B7-468F17DAFC82}" type="slidenum">
              <a:rPr lang="zh-CN" altLang="en-US" smtClean="0"/>
              <a:t>17</a:t>
            </a:fld>
            <a:endParaRPr lang="zh-CN" altLang="en-US"/>
          </a:p>
        </p:txBody>
      </p:sp>
      <p:pic>
        <p:nvPicPr>
          <p:cNvPr id="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1733" y="9915"/>
            <a:ext cx="4943140" cy="56925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2006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18</a:t>
            </a:fld>
            <a:endParaRPr lang="zh-CN" altLang="en-US"/>
          </a:p>
        </p:txBody>
      </p:sp>
      <p:pic>
        <p:nvPicPr>
          <p:cNvPr id="5" name="图片 4"/>
          <p:cNvPicPr>
            <a:picLocks noChangeAspect="1"/>
          </p:cNvPicPr>
          <p:nvPr/>
        </p:nvPicPr>
        <p:blipFill rotWithShape="1">
          <a:blip r:embed="rId2"/>
          <a:srcRect l="9304" r="18850"/>
          <a:stretch/>
        </p:blipFill>
        <p:spPr>
          <a:xfrm>
            <a:off x="4451987" y="2209539"/>
            <a:ext cx="3717084" cy="2328148"/>
          </a:xfrm>
          <a:prstGeom prst="rect">
            <a:avLst/>
          </a:prstGeom>
          <a:ln>
            <a:solidFill>
              <a:srgbClr val="000000"/>
            </a:solidFill>
          </a:ln>
        </p:spPr>
      </p:pic>
      <p:pic>
        <p:nvPicPr>
          <p:cNvPr id="70" name="图片 69"/>
          <p:cNvPicPr>
            <a:picLocks noChangeAspect="1"/>
          </p:cNvPicPr>
          <p:nvPr/>
        </p:nvPicPr>
        <p:blipFill rotWithShape="1">
          <a:blip r:embed="rId3"/>
          <a:srcRect l="12873"/>
          <a:stretch/>
        </p:blipFill>
        <p:spPr>
          <a:xfrm>
            <a:off x="911593" y="337220"/>
            <a:ext cx="3381655" cy="960107"/>
          </a:xfrm>
          <a:prstGeom prst="rect">
            <a:avLst/>
          </a:prstGeom>
          <a:ln>
            <a:solidFill>
              <a:srgbClr val="000000"/>
            </a:solidFill>
          </a:ln>
        </p:spPr>
      </p:pic>
      <p:pic>
        <p:nvPicPr>
          <p:cNvPr id="71" name="图片 70"/>
          <p:cNvPicPr>
            <a:picLocks noChangeAspect="1"/>
          </p:cNvPicPr>
          <p:nvPr/>
        </p:nvPicPr>
        <p:blipFill rotWithShape="1">
          <a:blip r:embed="rId4"/>
          <a:srcRect b="49070"/>
          <a:stretch/>
        </p:blipFill>
        <p:spPr>
          <a:xfrm>
            <a:off x="911593" y="1417340"/>
            <a:ext cx="3378948" cy="916846"/>
          </a:xfrm>
          <a:prstGeom prst="rect">
            <a:avLst/>
          </a:prstGeom>
          <a:ln>
            <a:solidFill>
              <a:srgbClr val="000000"/>
            </a:solidFill>
          </a:ln>
        </p:spPr>
      </p:pic>
      <p:pic>
        <p:nvPicPr>
          <p:cNvPr id="72" name="图片 71"/>
          <p:cNvPicPr>
            <a:picLocks noChangeAspect="1"/>
          </p:cNvPicPr>
          <p:nvPr/>
        </p:nvPicPr>
        <p:blipFill rotWithShape="1">
          <a:blip r:embed="rId4"/>
          <a:srcRect t="56146"/>
          <a:stretch/>
        </p:blipFill>
        <p:spPr>
          <a:xfrm>
            <a:off x="911594" y="4449237"/>
            <a:ext cx="3378948" cy="789460"/>
          </a:xfrm>
          <a:prstGeom prst="rect">
            <a:avLst/>
          </a:prstGeom>
          <a:ln>
            <a:solidFill>
              <a:srgbClr val="000000"/>
            </a:solidFill>
          </a:ln>
        </p:spPr>
      </p:pic>
      <p:sp>
        <p:nvSpPr>
          <p:cNvPr id="76" name="右箭头 75"/>
          <p:cNvSpPr/>
          <p:nvPr/>
        </p:nvSpPr>
        <p:spPr>
          <a:xfrm>
            <a:off x="755577" y="545845"/>
            <a:ext cx="396044"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1</a:t>
            </a:r>
            <a:endParaRPr kumimoji="1" lang="zh-CN" altLang="en-US" sz="1000" dirty="0"/>
          </a:p>
        </p:txBody>
      </p:sp>
      <p:sp>
        <p:nvSpPr>
          <p:cNvPr id="85" name="右箭头 84"/>
          <p:cNvSpPr/>
          <p:nvPr/>
        </p:nvSpPr>
        <p:spPr>
          <a:xfrm>
            <a:off x="755577" y="735400"/>
            <a:ext cx="396044"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2</a:t>
            </a:r>
            <a:endParaRPr kumimoji="1" lang="zh-CN" altLang="en-US" sz="1000" dirty="0"/>
          </a:p>
        </p:txBody>
      </p:sp>
      <p:sp>
        <p:nvSpPr>
          <p:cNvPr id="86" name="右箭头 85"/>
          <p:cNvSpPr/>
          <p:nvPr/>
        </p:nvSpPr>
        <p:spPr>
          <a:xfrm>
            <a:off x="755577" y="1957400"/>
            <a:ext cx="396044"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3</a:t>
            </a:r>
            <a:endParaRPr kumimoji="1" lang="zh-CN" altLang="en-US" sz="1000" dirty="0"/>
          </a:p>
        </p:txBody>
      </p:sp>
      <p:sp>
        <p:nvSpPr>
          <p:cNvPr id="87" name="右箭头 86"/>
          <p:cNvSpPr/>
          <p:nvPr/>
        </p:nvSpPr>
        <p:spPr>
          <a:xfrm>
            <a:off x="755577" y="2137420"/>
            <a:ext cx="396044"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4</a:t>
            </a:r>
            <a:endParaRPr kumimoji="1" lang="zh-CN" altLang="en-US" sz="1000" dirty="0"/>
          </a:p>
        </p:txBody>
      </p:sp>
      <p:sp>
        <p:nvSpPr>
          <p:cNvPr id="88" name="右箭头 87"/>
          <p:cNvSpPr/>
          <p:nvPr/>
        </p:nvSpPr>
        <p:spPr>
          <a:xfrm>
            <a:off x="5052054" y="3501080"/>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5</a:t>
            </a:r>
            <a:endParaRPr kumimoji="1" lang="zh-CN" altLang="en-US" sz="1000" dirty="0"/>
          </a:p>
        </p:txBody>
      </p:sp>
      <p:sp>
        <p:nvSpPr>
          <p:cNvPr id="89" name="右箭头 88"/>
          <p:cNvSpPr/>
          <p:nvPr/>
        </p:nvSpPr>
        <p:spPr>
          <a:xfrm>
            <a:off x="4572000" y="4161153"/>
            <a:ext cx="300033"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6</a:t>
            </a:r>
            <a:endParaRPr kumimoji="1" lang="zh-CN" altLang="en-US" sz="1000" dirty="0"/>
          </a:p>
        </p:txBody>
      </p:sp>
      <p:sp>
        <p:nvSpPr>
          <p:cNvPr id="90" name="右箭头 89"/>
          <p:cNvSpPr/>
          <p:nvPr/>
        </p:nvSpPr>
        <p:spPr>
          <a:xfrm>
            <a:off x="4572000" y="2540973"/>
            <a:ext cx="300033"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7</a:t>
            </a:r>
            <a:endParaRPr kumimoji="1" lang="zh-CN" altLang="en-US" sz="1000" dirty="0"/>
          </a:p>
        </p:txBody>
      </p:sp>
      <p:sp>
        <p:nvSpPr>
          <p:cNvPr id="91" name="右箭头 90"/>
          <p:cNvSpPr/>
          <p:nvPr/>
        </p:nvSpPr>
        <p:spPr>
          <a:xfrm>
            <a:off x="5052054" y="3349665"/>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8</a:t>
            </a:r>
            <a:endParaRPr kumimoji="1" lang="zh-CN" altLang="en-US" sz="1000" dirty="0"/>
          </a:p>
        </p:txBody>
      </p:sp>
      <p:sp>
        <p:nvSpPr>
          <p:cNvPr id="92" name="右箭头 91"/>
          <p:cNvSpPr/>
          <p:nvPr/>
        </p:nvSpPr>
        <p:spPr>
          <a:xfrm>
            <a:off x="755577" y="4818650"/>
            <a:ext cx="396044"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9</a:t>
            </a:r>
            <a:endParaRPr kumimoji="1" lang="zh-CN" altLang="en-US" sz="1000" dirty="0"/>
          </a:p>
        </p:txBody>
      </p:sp>
      <p:sp>
        <p:nvSpPr>
          <p:cNvPr id="93" name="右箭头 92"/>
          <p:cNvSpPr/>
          <p:nvPr/>
        </p:nvSpPr>
        <p:spPr>
          <a:xfrm>
            <a:off x="755577" y="5017740"/>
            <a:ext cx="396044"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10</a:t>
            </a:r>
            <a:endParaRPr kumimoji="1" lang="zh-CN" altLang="en-US" sz="667" dirty="0"/>
          </a:p>
        </p:txBody>
      </p:sp>
      <p:sp>
        <p:nvSpPr>
          <p:cNvPr id="94" name="右箭头 93"/>
          <p:cNvSpPr/>
          <p:nvPr/>
        </p:nvSpPr>
        <p:spPr>
          <a:xfrm>
            <a:off x="755577" y="915420"/>
            <a:ext cx="396044"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11</a:t>
            </a:r>
            <a:endParaRPr kumimoji="1" lang="zh-CN" altLang="en-US" sz="667" dirty="0"/>
          </a:p>
        </p:txBody>
      </p:sp>
      <p:sp>
        <p:nvSpPr>
          <p:cNvPr id="95" name="右箭头 94"/>
          <p:cNvSpPr/>
          <p:nvPr/>
        </p:nvSpPr>
        <p:spPr>
          <a:xfrm>
            <a:off x="755577" y="1095440"/>
            <a:ext cx="396044"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12</a:t>
            </a:r>
            <a:endParaRPr kumimoji="1" lang="zh-CN" altLang="en-US" sz="667" dirty="0"/>
          </a:p>
        </p:txBody>
      </p:sp>
      <p:cxnSp>
        <p:nvCxnSpPr>
          <p:cNvPr id="96" name="直线连接符 95"/>
          <p:cNvCxnSpPr/>
          <p:nvPr/>
        </p:nvCxnSpPr>
        <p:spPr>
          <a:xfrm>
            <a:off x="911594" y="2166025"/>
            <a:ext cx="3360373" cy="0"/>
          </a:xfrm>
          <a:prstGeom prst="line">
            <a:avLst/>
          </a:prstGeom>
          <a:ln>
            <a:solidFill>
              <a:srgbClr val="000000"/>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7" name="直线连接符 96"/>
          <p:cNvCxnSpPr/>
          <p:nvPr/>
        </p:nvCxnSpPr>
        <p:spPr>
          <a:xfrm>
            <a:off x="911594" y="5058677"/>
            <a:ext cx="3360373" cy="0"/>
          </a:xfrm>
          <a:prstGeom prst="line">
            <a:avLst/>
          </a:prstGeom>
          <a:ln>
            <a:solidFill>
              <a:srgbClr val="000000"/>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2" name="直线连接符 95"/>
          <p:cNvCxnSpPr/>
          <p:nvPr/>
        </p:nvCxnSpPr>
        <p:spPr>
          <a:xfrm>
            <a:off x="4451987" y="3550131"/>
            <a:ext cx="3717084" cy="0"/>
          </a:xfrm>
          <a:prstGeom prst="line">
            <a:avLst/>
          </a:prstGeom>
          <a:ln>
            <a:solidFill>
              <a:srgbClr val="000000"/>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标题 1"/>
          <p:cNvSpPr txBox="1">
            <a:spLocks/>
          </p:cNvSpPr>
          <p:nvPr/>
        </p:nvSpPr>
        <p:spPr>
          <a:xfrm>
            <a:off x="4644009" y="264869"/>
            <a:ext cx="4032448" cy="64841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Myriad Pro Cond"/>
                <a:ea typeface="黑体"/>
                <a:cs typeface="Myriad Pro Cond"/>
              </a:defRPr>
            </a:lvl1pPr>
          </a:lstStyle>
          <a:p>
            <a:pPr algn="r"/>
            <a:r>
              <a:rPr kumimoji="1" lang="en-US" altLang="zh-CN" sz="3200" b="1" i="0" u="none" strike="noStrike" kern="1200" cap="none" spc="0" normalizeH="0" baseline="0" noProof="0" dirty="0" err="1">
                <a:ln>
                  <a:noFill/>
                </a:ln>
                <a:solidFill>
                  <a:srgbClr val="BE384B"/>
                </a:solidFill>
                <a:effectLst/>
                <a:uLnTx/>
                <a:uFillTx/>
                <a:latin typeface="Arial" panose="020B0A04020102020204"/>
                <a:ea typeface="微软雅黑"/>
              </a:rPr>
              <a:t>thread_table_lock</a:t>
            </a:r>
            <a:endParaRPr kumimoji="1" lang="zh-CN" altLang="en-US" sz="3600" dirty="0">
              <a:latin typeface="等线" panose="02010600030101010101" pitchFamily="2" charset="-122"/>
              <a:ea typeface="等线" panose="02010600030101010101" pitchFamily="2" charset="-122"/>
            </a:endParaRPr>
          </a:p>
        </p:txBody>
      </p:sp>
      <p:sp>
        <p:nvSpPr>
          <p:cNvPr id="2" name="右箭头 1">
            <a:extLst>
              <a:ext uri="{FF2B5EF4-FFF2-40B4-BE49-F238E27FC236}">
                <a16:creationId xmlns:a16="http://schemas.microsoft.com/office/drawing/2014/main" id="{33F6852A-4C28-5323-2923-19875C4104ED}"/>
              </a:ext>
            </a:extLst>
          </p:cNvPr>
          <p:cNvSpPr/>
          <p:nvPr/>
        </p:nvSpPr>
        <p:spPr>
          <a:xfrm>
            <a:off x="5724128" y="4943112"/>
            <a:ext cx="300033"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000" dirty="0"/>
          </a:p>
        </p:txBody>
      </p:sp>
      <p:sp>
        <p:nvSpPr>
          <p:cNvPr id="3" name="标题 1">
            <a:extLst>
              <a:ext uri="{FF2B5EF4-FFF2-40B4-BE49-F238E27FC236}">
                <a16:creationId xmlns:a16="http://schemas.microsoft.com/office/drawing/2014/main" id="{4DE92E47-ADC8-7FC7-5951-CF545C22ECF0}"/>
              </a:ext>
            </a:extLst>
          </p:cNvPr>
          <p:cNvSpPr txBox="1">
            <a:spLocks/>
          </p:cNvSpPr>
          <p:nvPr/>
        </p:nvSpPr>
        <p:spPr>
          <a:xfrm>
            <a:off x="5951052" y="4734469"/>
            <a:ext cx="2725404" cy="64841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Myriad Pro Cond"/>
                <a:ea typeface="黑体"/>
                <a:cs typeface="Myriad Pro Cond"/>
              </a:defRPr>
            </a:lvl1pPr>
          </a:lstStyle>
          <a:p>
            <a:pPr algn="r"/>
            <a:r>
              <a:rPr kumimoji="1" lang="en-US" altLang="zh-CN" sz="1800" b="1" i="0" u="none" strike="noStrike" kern="1200" cap="none" spc="0" normalizeH="0" baseline="0" noProof="0" dirty="0" err="1">
                <a:ln>
                  <a:noFill/>
                </a:ln>
                <a:solidFill>
                  <a:srgbClr val="BE384B"/>
                </a:solidFill>
                <a:effectLst/>
                <a:uLnTx/>
                <a:uFillTx/>
                <a:latin typeface="Arial" panose="020B0A04020102020204"/>
                <a:ea typeface="微软雅黑"/>
              </a:rPr>
              <a:t>thread_table_lock</a:t>
            </a:r>
            <a:r>
              <a:rPr kumimoji="1" lang="zh-CN" altLang="en-US" sz="1800" b="1" i="0" u="none" strike="noStrike" kern="1200" cap="none" spc="0" normalizeH="0" baseline="0" noProof="0" dirty="0">
                <a:ln>
                  <a:noFill/>
                </a:ln>
                <a:solidFill>
                  <a:srgbClr val="BE384B"/>
                </a:solidFill>
                <a:effectLst/>
                <a:uLnTx/>
                <a:uFillTx/>
                <a:latin typeface="Arial" panose="020B0A04020102020204"/>
                <a:ea typeface="微软雅黑"/>
              </a:rPr>
              <a:t>相关</a:t>
            </a:r>
            <a:endParaRPr kumimoji="1" lang="zh-CN" altLang="en-US" sz="20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67011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19</a:t>
            </a:fld>
            <a:endParaRPr lang="zh-CN" altLang="en-US"/>
          </a:p>
        </p:txBody>
      </p:sp>
      <p:pic>
        <p:nvPicPr>
          <p:cNvPr id="5" name="图片 4"/>
          <p:cNvPicPr>
            <a:picLocks noChangeAspect="1"/>
          </p:cNvPicPr>
          <p:nvPr/>
        </p:nvPicPr>
        <p:blipFill rotWithShape="1">
          <a:blip r:embed="rId2"/>
          <a:srcRect l="9304" r="18850" b="41967"/>
          <a:stretch/>
        </p:blipFill>
        <p:spPr>
          <a:xfrm>
            <a:off x="3611893" y="2857952"/>
            <a:ext cx="3600400" cy="1351097"/>
          </a:xfrm>
          <a:prstGeom prst="rect">
            <a:avLst/>
          </a:prstGeom>
          <a:ln>
            <a:solidFill>
              <a:srgbClr val="000000"/>
            </a:solidFill>
          </a:ln>
        </p:spPr>
      </p:pic>
      <p:pic>
        <p:nvPicPr>
          <p:cNvPr id="70" name="图片 69"/>
          <p:cNvPicPr>
            <a:picLocks noChangeAspect="1"/>
          </p:cNvPicPr>
          <p:nvPr/>
        </p:nvPicPr>
        <p:blipFill rotWithShape="1">
          <a:blip r:embed="rId3"/>
          <a:srcRect l="12873" b="38725"/>
          <a:stretch/>
        </p:blipFill>
        <p:spPr>
          <a:xfrm>
            <a:off x="1271633" y="68589"/>
            <a:ext cx="3381655" cy="588303"/>
          </a:xfrm>
          <a:prstGeom prst="rect">
            <a:avLst/>
          </a:prstGeom>
          <a:ln w="38100" cmpd="sng">
            <a:solidFill>
              <a:schemeClr val="accent4"/>
            </a:solidFill>
          </a:ln>
        </p:spPr>
      </p:pic>
      <p:pic>
        <p:nvPicPr>
          <p:cNvPr id="71" name="图片 70"/>
          <p:cNvPicPr>
            <a:picLocks noChangeAspect="1"/>
          </p:cNvPicPr>
          <p:nvPr/>
        </p:nvPicPr>
        <p:blipFill rotWithShape="1">
          <a:blip r:embed="rId4"/>
          <a:srcRect b="59594"/>
          <a:stretch/>
        </p:blipFill>
        <p:spPr>
          <a:xfrm>
            <a:off x="1271633" y="807739"/>
            <a:ext cx="3378948" cy="727386"/>
          </a:xfrm>
          <a:prstGeom prst="rect">
            <a:avLst/>
          </a:prstGeom>
          <a:ln>
            <a:solidFill>
              <a:srgbClr val="000000"/>
            </a:solidFill>
          </a:ln>
        </p:spPr>
      </p:pic>
      <p:pic>
        <p:nvPicPr>
          <p:cNvPr id="72" name="图片 71"/>
          <p:cNvPicPr>
            <a:picLocks noChangeAspect="1"/>
          </p:cNvPicPr>
          <p:nvPr/>
        </p:nvPicPr>
        <p:blipFill rotWithShape="1">
          <a:blip r:embed="rId4"/>
          <a:srcRect t="56146" b="11027"/>
          <a:stretch/>
        </p:blipFill>
        <p:spPr>
          <a:xfrm>
            <a:off x="3603903" y="4357235"/>
            <a:ext cx="3608391" cy="590963"/>
          </a:xfrm>
          <a:prstGeom prst="rect">
            <a:avLst/>
          </a:prstGeom>
          <a:ln>
            <a:solidFill>
              <a:srgbClr val="000000"/>
            </a:solidFill>
          </a:ln>
        </p:spPr>
      </p:pic>
      <p:pic>
        <p:nvPicPr>
          <p:cNvPr id="20" name="图片 19"/>
          <p:cNvPicPr>
            <a:picLocks noChangeAspect="1"/>
          </p:cNvPicPr>
          <p:nvPr/>
        </p:nvPicPr>
        <p:blipFill rotWithShape="1">
          <a:blip r:embed="rId3"/>
          <a:srcRect l="12873" t="61671"/>
          <a:stretch/>
        </p:blipFill>
        <p:spPr>
          <a:xfrm>
            <a:off x="1271633" y="5281208"/>
            <a:ext cx="3381655" cy="368000"/>
          </a:xfrm>
          <a:prstGeom prst="rect">
            <a:avLst/>
          </a:prstGeom>
          <a:ln w="38100" cmpd="sng">
            <a:solidFill>
              <a:schemeClr val="accent4"/>
            </a:solidFill>
          </a:ln>
        </p:spPr>
      </p:pic>
      <p:pic>
        <p:nvPicPr>
          <p:cNvPr id="21" name="图片 20"/>
          <p:cNvPicPr>
            <a:picLocks noChangeAspect="1"/>
          </p:cNvPicPr>
          <p:nvPr/>
        </p:nvPicPr>
        <p:blipFill rotWithShape="1">
          <a:blip r:embed="rId2"/>
          <a:srcRect l="9304" t="57443" r="18850"/>
          <a:stretch/>
        </p:blipFill>
        <p:spPr>
          <a:xfrm>
            <a:off x="3611893" y="1856909"/>
            <a:ext cx="3600400" cy="990788"/>
          </a:xfrm>
          <a:prstGeom prst="rect">
            <a:avLst/>
          </a:prstGeom>
          <a:ln>
            <a:solidFill>
              <a:srgbClr val="000000"/>
            </a:solidFill>
          </a:ln>
        </p:spPr>
      </p:pic>
      <p:pic>
        <p:nvPicPr>
          <p:cNvPr id="35" name="图片 34"/>
          <p:cNvPicPr>
            <a:picLocks noChangeAspect="1"/>
          </p:cNvPicPr>
          <p:nvPr/>
        </p:nvPicPr>
        <p:blipFill rotWithShape="1">
          <a:blip r:embed="rId4"/>
          <a:srcRect t="41465" b="49070"/>
          <a:stretch/>
        </p:blipFill>
        <p:spPr>
          <a:xfrm>
            <a:off x="3603903" y="1546888"/>
            <a:ext cx="3608391" cy="181960"/>
          </a:xfrm>
          <a:prstGeom prst="rect">
            <a:avLst/>
          </a:prstGeom>
          <a:ln>
            <a:solidFill>
              <a:srgbClr val="000000"/>
            </a:solidFill>
          </a:ln>
        </p:spPr>
      </p:pic>
      <p:pic>
        <p:nvPicPr>
          <p:cNvPr id="36" name="图片 35"/>
          <p:cNvPicPr>
            <a:picLocks noChangeAspect="1"/>
          </p:cNvPicPr>
          <p:nvPr/>
        </p:nvPicPr>
        <p:blipFill rotWithShape="1">
          <a:blip r:embed="rId4"/>
          <a:srcRect t="89128" b="1"/>
          <a:stretch/>
        </p:blipFill>
        <p:spPr>
          <a:xfrm>
            <a:off x="1271634" y="4957733"/>
            <a:ext cx="3378948" cy="195700"/>
          </a:xfrm>
          <a:prstGeom prst="rect">
            <a:avLst/>
          </a:prstGeom>
          <a:ln>
            <a:solidFill>
              <a:srgbClr val="000000"/>
            </a:solidFill>
          </a:ln>
        </p:spPr>
      </p:pic>
      <p:cxnSp>
        <p:nvCxnSpPr>
          <p:cNvPr id="18" name="肘形连接符 17"/>
          <p:cNvCxnSpPr>
            <a:stCxn id="72" idx="2"/>
            <a:endCxn id="35" idx="0"/>
          </p:cNvCxnSpPr>
          <p:nvPr/>
        </p:nvCxnSpPr>
        <p:spPr>
          <a:xfrm rot="5400000" flipH="1">
            <a:off x="3707443" y="3247544"/>
            <a:ext cx="3401310" cy="10583"/>
          </a:xfrm>
          <a:prstGeom prst="bentConnector5">
            <a:avLst>
              <a:gd name="adj1" fmla="val -5601"/>
              <a:gd name="adj2" fmla="val -20879732"/>
              <a:gd name="adj3" fmla="val 10560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44" name="右箭头 43"/>
          <p:cNvSpPr/>
          <p:nvPr/>
        </p:nvSpPr>
        <p:spPr>
          <a:xfrm>
            <a:off x="1031607" y="277213"/>
            <a:ext cx="300033"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1</a:t>
            </a:r>
            <a:endParaRPr kumimoji="1" lang="zh-CN" altLang="en-US" sz="1000" dirty="0"/>
          </a:p>
        </p:txBody>
      </p:sp>
      <p:sp>
        <p:nvSpPr>
          <p:cNvPr id="45" name="右箭头 44"/>
          <p:cNvSpPr/>
          <p:nvPr/>
        </p:nvSpPr>
        <p:spPr>
          <a:xfrm>
            <a:off x="1031607" y="457233"/>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2</a:t>
            </a:r>
            <a:endParaRPr kumimoji="1" lang="zh-CN" altLang="en-US" sz="1000" dirty="0"/>
          </a:p>
        </p:txBody>
      </p:sp>
      <p:sp>
        <p:nvSpPr>
          <p:cNvPr id="46" name="右箭头 45"/>
          <p:cNvSpPr/>
          <p:nvPr/>
        </p:nvSpPr>
        <p:spPr>
          <a:xfrm>
            <a:off x="1031607" y="1117307"/>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3</a:t>
            </a:r>
            <a:endParaRPr kumimoji="1" lang="zh-CN" altLang="en-US" sz="1000" dirty="0"/>
          </a:p>
        </p:txBody>
      </p:sp>
      <p:sp>
        <p:nvSpPr>
          <p:cNvPr id="47" name="右箭头 46"/>
          <p:cNvSpPr/>
          <p:nvPr/>
        </p:nvSpPr>
        <p:spPr>
          <a:xfrm>
            <a:off x="1031607" y="1297327"/>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4</a:t>
            </a:r>
            <a:endParaRPr kumimoji="1" lang="zh-CN" altLang="en-US" sz="1000" dirty="0"/>
          </a:p>
        </p:txBody>
      </p:sp>
      <p:sp>
        <p:nvSpPr>
          <p:cNvPr id="48" name="右箭头 47"/>
          <p:cNvSpPr/>
          <p:nvPr/>
        </p:nvSpPr>
        <p:spPr>
          <a:xfrm>
            <a:off x="3311861" y="4537687"/>
            <a:ext cx="360039"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9</a:t>
            </a:r>
            <a:endParaRPr kumimoji="1" lang="zh-CN" altLang="en-US" sz="1000" dirty="0"/>
          </a:p>
        </p:txBody>
      </p:sp>
      <p:sp>
        <p:nvSpPr>
          <p:cNvPr id="49" name="右箭头 48"/>
          <p:cNvSpPr/>
          <p:nvPr/>
        </p:nvSpPr>
        <p:spPr>
          <a:xfrm>
            <a:off x="3311861" y="4736777"/>
            <a:ext cx="360040"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10</a:t>
            </a:r>
            <a:endParaRPr kumimoji="1" lang="zh-CN" altLang="en-US" sz="667" dirty="0"/>
          </a:p>
        </p:txBody>
      </p:sp>
      <p:sp>
        <p:nvSpPr>
          <p:cNvPr id="50" name="右箭头 49"/>
          <p:cNvSpPr/>
          <p:nvPr/>
        </p:nvSpPr>
        <p:spPr>
          <a:xfrm>
            <a:off x="971601" y="5257767"/>
            <a:ext cx="360040"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11</a:t>
            </a:r>
            <a:endParaRPr kumimoji="1" lang="zh-CN" altLang="en-US" sz="667" dirty="0"/>
          </a:p>
        </p:txBody>
      </p:sp>
      <p:sp>
        <p:nvSpPr>
          <p:cNvPr id="51" name="右箭头 50"/>
          <p:cNvSpPr/>
          <p:nvPr/>
        </p:nvSpPr>
        <p:spPr>
          <a:xfrm>
            <a:off x="971601" y="5437787"/>
            <a:ext cx="360040"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12</a:t>
            </a:r>
            <a:endParaRPr kumimoji="1" lang="zh-CN" altLang="en-US" sz="667" dirty="0"/>
          </a:p>
        </p:txBody>
      </p:sp>
      <p:sp>
        <p:nvSpPr>
          <p:cNvPr id="52" name="右箭头 51"/>
          <p:cNvSpPr/>
          <p:nvPr/>
        </p:nvSpPr>
        <p:spPr>
          <a:xfrm>
            <a:off x="3311861" y="1818317"/>
            <a:ext cx="360039"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5</a:t>
            </a:r>
            <a:endParaRPr kumimoji="1" lang="zh-CN" altLang="en-US" sz="1000" dirty="0"/>
          </a:p>
        </p:txBody>
      </p:sp>
      <p:sp>
        <p:nvSpPr>
          <p:cNvPr id="53" name="右箭头 52"/>
          <p:cNvSpPr/>
          <p:nvPr/>
        </p:nvSpPr>
        <p:spPr>
          <a:xfrm>
            <a:off x="3311861" y="2478390"/>
            <a:ext cx="360039"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6</a:t>
            </a:r>
            <a:endParaRPr kumimoji="1" lang="zh-CN" altLang="en-US" sz="1000" dirty="0"/>
          </a:p>
        </p:txBody>
      </p:sp>
      <p:sp>
        <p:nvSpPr>
          <p:cNvPr id="54" name="右箭头 53"/>
          <p:cNvSpPr/>
          <p:nvPr/>
        </p:nvSpPr>
        <p:spPr>
          <a:xfrm>
            <a:off x="3311861" y="3186138"/>
            <a:ext cx="360039"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7</a:t>
            </a:r>
            <a:endParaRPr kumimoji="1" lang="zh-CN" altLang="en-US" sz="1000" dirty="0"/>
          </a:p>
        </p:txBody>
      </p:sp>
      <p:sp>
        <p:nvSpPr>
          <p:cNvPr id="55" name="右箭头 54"/>
          <p:cNvSpPr/>
          <p:nvPr/>
        </p:nvSpPr>
        <p:spPr>
          <a:xfrm>
            <a:off x="3311861" y="3994830"/>
            <a:ext cx="360039"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8</a:t>
            </a:r>
            <a:endParaRPr kumimoji="1" lang="zh-CN" altLang="en-US" sz="1000" dirty="0"/>
          </a:p>
        </p:txBody>
      </p:sp>
      <p:sp>
        <p:nvSpPr>
          <p:cNvPr id="25" name="矩形 24"/>
          <p:cNvSpPr/>
          <p:nvPr/>
        </p:nvSpPr>
        <p:spPr>
          <a:xfrm>
            <a:off x="1131967" y="1957400"/>
            <a:ext cx="1523750" cy="553998"/>
          </a:xfrm>
          <a:prstGeom prst="rect">
            <a:avLst/>
          </a:prstGeom>
        </p:spPr>
        <p:txBody>
          <a:bodyPr wrap="none">
            <a:spAutoFit/>
          </a:bodyPr>
          <a:lstStyle/>
          <a:p>
            <a:pPr algn="ctr"/>
            <a:r>
              <a:rPr kumimoji="1" lang="en-US" altLang="zh-CN" sz="1500" dirty="0"/>
              <a:t>Stack changes to </a:t>
            </a:r>
          </a:p>
          <a:p>
            <a:pPr algn="ctr"/>
            <a:r>
              <a:rPr kumimoji="1" lang="en-US" altLang="zh-CN" sz="1500" dirty="0"/>
              <a:t>processor thread</a:t>
            </a:r>
            <a:endParaRPr lang="zh-CN" altLang="en-US" sz="1500" dirty="0"/>
          </a:p>
        </p:txBody>
      </p:sp>
      <p:cxnSp>
        <p:nvCxnSpPr>
          <p:cNvPr id="28" name="直线箭头连接符 27"/>
          <p:cNvCxnSpPr/>
          <p:nvPr/>
        </p:nvCxnSpPr>
        <p:spPr>
          <a:xfrm flipV="1">
            <a:off x="1691680" y="1597360"/>
            <a:ext cx="0" cy="4200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4" name="矩形 63"/>
          <p:cNvSpPr/>
          <p:nvPr/>
        </p:nvSpPr>
        <p:spPr>
          <a:xfrm>
            <a:off x="4894521" y="5317774"/>
            <a:ext cx="1679499" cy="323165"/>
          </a:xfrm>
          <a:prstGeom prst="rect">
            <a:avLst/>
          </a:prstGeom>
        </p:spPr>
        <p:txBody>
          <a:bodyPr wrap="none">
            <a:spAutoFit/>
          </a:bodyPr>
          <a:lstStyle/>
          <a:p>
            <a:pPr algn="ctr"/>
            <a:r>
              <a:rPr kumimoji="1" lang="en-US" altLang="zh-CN" sz="1500" dirty="0"/>
              <a:t>Stack changes back</a:t>
            </a:r>
          </a:p>
        </p:txBody>
      </p:sp>
      <p:cxnSp>
        <p:nvCxnSpPr>
          <p:cNvPr id="65" name="直线箭头连接符 64"/>
          <p:cNvCxnSpPr/>
          <p:nvPr/>
        </p:nvCxnSpPr>
        <p:spPr>
          <a:xfrm flipV="1">
            <a:off x="5172067" y="4957733"/>
            <a:ext cx="0" cy="4200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6" name="标题 1"/>
          <p:cNvSpPr>
            <a:spLocks noGrp="1"/>
          </p:cNvSpPr>
          <p:nvPr>
            <p:ph type="title"/>
          </p:nvPr>
        </p:nvSpPr>
        <p:spPr>
          <a:xfrm>
            <a:off x="4650581" y="264869"/>
            <a:ext cx="4025875" cy="648415"/>
          </a:xfrm>
        </p:spPr>
        <p:txBody>
          <a:bodyPr>
            <a:noAutofit/>
          </a:bodyPr>
          <a:lstStyle/>
          <a:p>
            <a:pPr algn="r"/>
            <a:r>
              <a:rPr kumimoji="1" lang="en-US" altLang="zh-CN" sz="3200" dirty="0" err="1"/>
              <a:t>thread_table_lock</a:t>
            </a:r>
            <a:endParaRPr kumimoji="1" lang="zh-CN" altLang="en-US" sz="3200" dirty="0"/>
          </a:p>
        </p:txBody>
      </p:sp>
    </p:spTree>
    <p:extLst>
      <p:ext uri="{BB962C8B-B14F-4D97-AF65-F5344CB8AC3E}">
        <p14:creationId xmlns:p14="http://schemas.microsoft.com/office/powerpoint/2010/main" val="2654298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8107FB38-4DA8-4D40-A1B7-468F17DAFC82}" type="slidenum">
              <a:rPr lang="zh-CN" altLang="en-US" smtClean="0"/>
              <a:t>20</a:t>
            </a:fld>
            <a:endParaRPr lang="zh-CN" altLang="en-US"/>
          </a:p>
        </p:txBody>
      </p:sp>
      <p:pic>
        <p:nvPicPr>
          <p:cNvPr id="5" name="图片 4"/>
          <p:cNvPicPr>
            <a:picLocks noChangeAspect="1"/>
          </p:cNvPicPr>
          <p:nvPr/>
        </p:nvPicPr>
        <p:blipFill rotWithShape="1">
          <a:blip r:embed="rId3"/>
          <a:srcRect l="9304" r="18850" b="41967"/>
          <a:stretch/>
        </p:blipFill>
        <p:spPr>
          <a:xfrm>
            <a:off x="3611893" y="2857952"/>
            <a:ext cx="3600400" cy="1351097"/>
          </a:xfrm>
          <a:prstGeom prst="rect">
            <a:avLst/>
          </a:prstGeom>
          <a:ln>
            <a:solidFill>
              <a:srgbClr val="000000"/>
            </a:solidFill>
          </a:ln>
        </p:spPr>
      </p:pic>
      <p:pic>
        <p:nvPicPr>
          <p:cNvPr id="70" name="图片 69"/>
          <p:cNvPicPr>
            <a:picLocks noChangeAspect="1"/>
          </p:cNvPicPr>
          <p:nvPr/>
        </p:nvPicPr>
        <p:blipFill rotWithShape="1">
          <a:blip r:embed="rId4"/>
          <a:srcRect l="12873" b="38725"/>
          <a:stretch/>
        </p:blipFill>
        <p:spPr>
          <a:xfrm>
            <a:off x="1271633" y="68589"/>
            <a:ext cx="3381655" cy="588303"/>
          </a:xfrm>
          <a:prstGeom prst="rect">
            <a:avLst/>
          </a:prstGeom>
          <a:ln w="9525" cmpd="sng">
            <a:solidFill>
              <a:schemeClr val="tx1"/>
            </a:solidFill>
          </a:ln>
        </p:spPr>
      </p:pic>
      <p:pic>
        <p:nvPicPr>
          <p:cNvPr id="71" name="图片 70"/>
          <p:cNvPicPr>
            <a:picLocks noChangeAspect="1"/>
          </p:cNvPicPr>
          <p:nvPr/>
        </p:nvPicPr>
        <p:blipFill rotWithShape="1">
          <a:blip r:embed="rId5"/>
          <a:srcRect b="59594"/>
          <a:stretch/>
        </p:blipFill>
        <p:spPr>
          <a:xfrm>
            <a:off x="1271633" y="807739"/>
            <a:ext cx="3378948" cy="727386"/>
          </a:xfrm>
          <a:prstGeom prst="rect">
            <a:avLst/>
          </a:prstGeom>
          <a:ln>
            <a:solidFill>
              <a:srgbClr val="000000"/>
            </a:solidFill>
          </a:ln>
        </p:spPr>
      </p:pic>
      <p:pic>
        <p:nvPicPr>
          <p:cNvPr id="72" name="图片 71"/>
          <p:cNvPicPr>
            <a:picLocks noChangeAspect="1"/>
          </p:cNvPicPr>
          <p:nvPr/>
        </p:nvPicPr>
        <p:blipFill rotWithShape="1">
          <a:blip r:embed="rId5"/>
          <a:srcRect t="56146" b="11027"/>
          <a:stretch/>
        </p:blipFill>
        <p:spPr>
          <a:xfrm>
            <a:off x="3603903" y="4357235"/>
            <a:ext cx="3608391" cy="590963"/>
          </a:xfrm>
          <a:prstGeom prst="rect">
            <a:avLst/>
          </a:prstGeom>
          <a:ln>
            <a:solidFill>
              <a:srgbClr val="000000"/>
            </a:solidFill>
          </a:ln>
        </p:spPr>
      </p:pic>
      <p:pic>
        <p:nvPicPr>
          <p:cNvPr id="21" name="图片 20"/>
          <p:cNvPicPr>
            <a:picLocks noChangeAspect="1"/>
          </p:cNvPicPr>
          <p:nvPr/>
        </p:nvPicPr>
        <p:blipFill rotWithShape="1">
          <a:blip r:embed="rId3"/>
          <a:srcRect l="9304" t="57443" r="18850"/>
          <a:stretch/>
        </p:blipFill>
        <p:spPr>
          <a:xfrm>
            <a:off x="3611893" y="1856909"/>
            <a:ext cx="3600400" cy="990788"/>
          </a:xfrm>
          <a:prstGeom prst="rect">
            <a:avLst/>
          </a:prstGeom>
          <a:ln>
            <a:solidFill>
              <a:srgbClr val="000000"/>
            </a:solidFill>
          </a:ln>
        </p:spPr>
      </p:pic>
      <p:pic>
        <p:nvPicPr>
          <p:cNvPr id="35" name="图片 34"/>
          <p:cNvPicPr>
            <a:picLocks noChangeAspect="1"/>
          </p:cNvPicPr>
          <p:nvPr/>
        </p:nvPicPr>
        <p:blipFill rotWithShape="1">
          <a:blip r:embed="rId5"/>
          <a:srcRect t="41465" b="49070"/>
          <a:stretch/>
        </p:blipFill>
        <p:spPr>
          <a:xfrm>
            <a:off x="3603903" y="1546888"/>
            <a:ext cx="3608391" cy="181960"/>
          </a:xfrm>
          <a:prstGeom prst="rect">
            <a:avLst/>
          </a:prstGeom>
          <a:ln>
            <a:solidFill>
              <a:srgbClr val="000000"/>
            </a:solidFill>
          </a:ln>
        </p:spPr>
      </p:pic>
      <p:pic>
        <p:nvPicPr>
          <p:cNvPr id="36" name="图片 35"/>
          <p:cNvPicPr>
            <a:picLocks noChangeAspect="1"/>
          </p:cNvPicPr>
          <p:nvPr/>
        </p:nvPicPr>
        <p:blipFill rotWithShape="1">
          <a:blip r:embed="rId5"/>
          <a:srcRect t="89128" b="1"/>
          <a:stretch/>
        </p:blipFill>
        <p:spPr>
          <a:xfrm>
            <a:off x="1271634" y="4957733"/>
            <a:ext cx="3378948" cy="195700"/>
          </a:xfrm>
          <a:prstGeom prst="rect">
            <a:avLst/>
          </a:prstGeom>
          <a:ln>
            <a:solidFill>
              <a:srgbClr val="000000"/>
            </a:solidFill>
          </a:ln>
        </p:spPr>
      </p:pic>
      <p:cxnSp>
        <p:nvCxnSpPr>
          <p:cNvPr id="18" name="肘形连接符 17"/>
          <p:cNvCxnSpPr>
            <a:stCxn id="72" idx="2"/>
            <a:endCxn id="35" idx="0"/>
          </p:cNvCxnSpPr>
          <p:nvPr/>
        </p:nvCxnSpPr>
        <p:spPr>
          <a:xfrm rot="5400000" flipH="1">
            <a:off x="3707443" y="3247544"/>
            <a:ext cx="3401310" cy="10583"/>
          </a:xfrm>
          <a:prstGeom prst="bentConnector5">
            <a:avLst>
              <a:gd name="adj1" fmla="val -5601"/>
              <a:gd name="adj2" fmla="val -20879732"/>
              <a:gd name="adj3" fmla="val 10560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44" name="右箭头 43"/>
          <p:cNvSpPr/>
          <p:nvPr/>
        </p:nvSpPr>
        <p:spPr>
          <a:xfrm>
            <a:off x="1031607" y="277213"/>
            <a:ext cx="300033"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1</a:t>
            </a:r>
            <a:endParaRPr kumimoji="1" lang="zh-CN" altLang="en-US" sz="1000" dirty="0"/>
          </a:p>
        </p:txBody>
      </p:sp>
      <p:sp>
        <p:nvSpPr>
          <p:cNvPr id="45" name="右箭头 44"/>
          <p:cNvSpPr/>
          <p:nvPr/>
        </p:nvSpPr>
        <p:spPr>
          <a:xfrm>
            <a:off x="1031607" y="457233"/>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2</a:t>
            </a:r>
            <a:endParaRPr kumimoji="1" lang="zh-CN" altLang="en-US" sz="1000" dirty="0"/>
          </a:p>
        </p:txBody>
      </p:sp>
      <p:sp>
        <p:nvSpPr>
          <p:cNvPr id="46" name="右箭头 45"/>
          <p:cNvSpPr/>
          <p:nvPr/>
        </p:nvSpPr>
        <p:spPr>
          <a:xfrm>
            <a:off x="1031607" y="1117307"/>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3</a:t>
            </a:r>
            <a:endParaRPr kumimoji="1" lang="zh-CN" altLang="en-US" sz="1000" dirty="0"/>
          </a:p>
        </p:txBody>
      </p:sp>
      <p:sp>
        <p:nvSpPr>
          <p:cNvPr id="47" name="右箭头 46"/>
          <p:cNvSpPr/>
          <p:nvPr/>
        </p:nvSpPr>
        <p:spPr>
          <a:xfrm>
            <a:off x="1031607" y="1297327"/>
            <a:ext cx="300033"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4</a:t>
            </a:r>
            <a:endParaRPr kumimoji="1" lang="zh-CN" altLang="en-US" sz="1000" dirty="0"/>
          </a:p>
        </p:txBody>
      </p:sp>
      <p:sp>
        <p:nvSpPr>
          <p:cNvPr id="48" name="右箭头 47"/>
          <p:cNvSpPr/>
          <p:nvPr/>
        </p:nvSpPr>
        <p:spPr>
          <a:xfrm>
            <a:off x="3275856" y="4537687"/>
            <a:ext cx="396045"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9</a:t>
            </a:r>
            <a:endParaRPr kumimoji="1" lang="zh-CN" altLang="en-US" sz="1000" dirty="0"/>
          </a:p>
        </p:txBody>
      </p:sp>
      <p:sp>
        <p:nvSpPr>
          <p:cNvPr id="49" name="右箭头 48"/>
          <p:cNvSpPr/>
          <p:nvPr/>
        </p:nvSpPr>
        <p:spPr>
          <a:xfrm>
            <a:off x="3275856" y="4736777"/>
            <a:ext cx="396045"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10</a:t>
            </a:r>
            <a:endParaRPr kumimoji="1" lang="zh-CN" altLang="en-US" sz="667" dirty="0"/>
          </a:p>
        </p:txBody>
      </p:sp>
      <p:sp>
        <p:nvSpPr>
          <p:cNvPr id="51" name="右箭头 50"/>
          <p:cNvSpPr/>
          <p:nvPr/>
        </p:nvSpPr>
        <p:spPr>
          <a:xfrm>
            <a:off x="971601" y="5325517"/>
            <a:ext cx="360040"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667" dirty="0"/>
              <a:t>11</a:t>
            </a:r>
            <a:endParaRPr kumimoji="1" lang="zh-CN" altLang="en-US" sz="667" dirty="0"/>
          </a:p>
        </p:txBody>
      </p:sp>
      <p:sp>
        <p:nvSpPr>
          <p:cNvPr id="52" name="右箭头 51"/>
          <p:cNvSpPr/>
          <p:nvPr/>
        </p:nvSpPr>
        <p:spPr>
          <a:xfrm>
            <a:off x="3275856" y="1818317"/>
            <a:ext cx="396045"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5</a:t>
            </a:r>
            <a:endParaRPr kumimoji="1" lang="zh-CN" altLang="en-US" sz="1000" dirty="0"/>
          </a:p>
        </p:txBody>
      </p:sp>
      <p:sp>
        <p:nvSpPr>
          <p:cNvPr id="53" name="右箭头 52"/>
          <p:cNvSpPr/>
          <p:nvPr/>
        </p:nvSpPr>
        <p:spPr>
          <a:xfrm>
            <a:off x="3275856" y="2478390"/>
            <a:ext cx="396045"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6</a:t>
            </a:r>
            <a:endParaRPr kumimoji="1" lang="zh-CN" altLang="en-US" sz="1000" dirty="0"/>
          </a:p>
        </p:txBody>
      </p:sp>
      <p:sp>
        <p:nvSpPr>
          <p:cNvPr id="54" name="右箭头 53"/>
          <p:cNvSpPr/>
          <p:nvPr/>
        </p:nvSpPr>
        <p:spPr>
          <a:xfrm>
            <a:off x="3275856" y="3186138"/>
            <a:ext cx="396045" cy="240027"/>
          </a:xfrm>
          <a:prstGeom prst="rightArrow">
            <a:avLst/>
          </a:prstGeom>
          <a:solidFill>
            <a:srgbClr val="C0504D"/>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7</a:t>
            </a:r>
            <a:endParaRPr kumimoji="1" lang="zh-CN" altLang="en-US" sz="1000" dirty="0"/>
          </a:p>
        </p:txBody>
      </p:sp>
      <p:sp>
        <p:nvSpPr>
          <p:cNvPr id="55" name="右箭头 54"/>
          <p:cNvSpPr/>
          <p:nvPr/>
        </p:nvSpPr>
        <p:spPr>
          <a:xfrm>
            <a:off x="3275856" y="3994830"/>
            <a:ext cx="396045" cy="240027"/>
          </a:xfrm>
          <a:prstGeom prst="rightArrow">
            <a:avLst/>
          </a:prstGeom>
          <a:solidFill>
            <a:schemeClr val="tx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sz="1000" dirty="0"/>
              <a:t>8</a:t>
            </a:r>
            <a:endParaRPr kumimoji="1" lang="zh-CN" altLang="en-US" sz="1000" dirty="0"/>
          </a:p>
        </p:txBody>
      </p:sp>
      <p:sp>
        <p:nvSpPr>
          <p:cNvPr id="25" name="矩形 24"/>
          <p:cNvSpPr/>
          <p:nvPr/>
        </p:nvSpPr>
        <p:spPr>
          <a:xfrm>
            <a:off x="1131967" y="1957400"/>
            <a:ext cx="1523750" cy="553998"/>
          </a:xfrm>
          <a:prstGeom prst="rect">
            <a:avLst/>
          </a:prstGeom>
        </p:spPr>
        <p:txBody>
          <a:bodyPr wrap="none">
            <a:spAutoFit/>
          </a:bodyPr>
          <a:lstStyle/>
          <a:p>
            <a:pPr algn="ctr"/>
            <a:r>
              <a:rPr kumimoji="1" lang="en-US" altLang="zh-CN" sz="1500" dirty="0"/>
              <a:t>Stack changes to </a:t>
            </a:r>
          </a:p>
          <a:p>
            <a:pPr algn="ctr"/>
            <a:r>
              <a:rPr kumimoji="1" lang="en-US" altLang="zh-CN" sz="1500" dirty="0"/>
              <a:t>processor thread</a:t>
            </a:r>
            <a:endParaRPr lang="zh-CN" altLang="en-US" sz="1500" dirty="0"/>
          </a:p>
        </p:txBody>
      </p:sp>
      <p:cxnSp>
        <p:nvCxnSpPr>
          <p:cNvPr id="28" name="直线箭头连接符 27"/>
          <p:cNvCxnSpPr/>
          <p:nvPr/>
        </p:nvCxnSpPr>
        <p:spPr>
          <a:xfrm flipV="1">
            <a:off x="1691680" y="1597360"/>
            <a:ext cx="0" cy="4200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4" name="矩形 63"/>
          <p:cNvSpPr/>
          <p:nvPr/>
        </p:nvSpPr>
        <p:spPr>
          <a:xfrm>
            <a:off x="4894521" y="5317774"/>
            <a:ext cx="1679499" cy="323165"/>
          </a:xfrm>
          <a:prstGeom prst="rect">
            <a:avLst/>
          </a:prstGeom>
        </p:spPr>
        <p:txBody>
          <a:bodyPr wrap="none">
            <a:spAutoFit/>
          </a:bodyPr>
          <a:lstStyle/>
          <a:p>
            <a:pPr algn="ctr"/>
            <a:r>
              <a:rPr kumimoji="1" lang="en-US" altLang="zh-CN" sz="1500" dirty="0"/>
              <a:t>Stack changes back</a:t>
            </a:r>
          </a:p>
        </p:txBody>
      </p:sp>
      <p:cxnSp>
        <p:nvCxnSpPr>
          <p:cNvPr id="65" name="直线箭头连接符 64"/>
          <p:cNvCxnSpPr/>
          <p:nvPr/>
        </p:nvCxnSpPr>
        <p:spPr>
          <a:xfrm flipV="1">
            <a:off x="5172067" y="4957733"/>
            <a:ext cx="0" cy="4200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6" name="标题 1"/>
          <p:cNvSpPr>
            <a:spLocks noGrp="1"/>
          </p:cNvSpPr>
          <p:nvPr>
            <p:ph type="title"/>
          </p:nvPr>
        </p:nvSpPr>
        <p:spPr>
          <a:xfrm>
            <a:off x="4283969" y="192861"/>
            <a:ext cx="4402832" cy="648415"/>
          </a:xfrm>
        </p:spPr>
        <p:txBody>
          <a:bodyPr>
            <a:noAutofit/>
          </a:bodyPr>
          <a:lstStyle/>
          <a:p>
            <a:pPr algn="r"/>
            <a:r>
              <a:rPr kumimoji="1" lang="en-US" altLang="zh-CN" sz="2800" dirty="0"/>
              <a:t>First time of a thread</a:t>
            </a:r>
            <a:endParaRPr kumimoji="1" lang="zh-CN" altLang="en-US" sz="2800" dirty="0"/>
          </a:p>
        </p:txBody>
      </p:sp>
      <p:sp>
        <p:nvSpPr>
          <p:cNvPr id="29" name="矩形 28"/>
          <p:cNvSpPr/>
          <p:nvPr/>
        </p:nvSpPr>
        <p:spPr>
          <a:xfrm>
            <a:off x="1271633" y="5257767"/>
            <a:ext cx="1650222" cy="323165"/>
          </a:xfrm>
          <a:prstGeom prst="rect">
            <a:avLst/>
          </a:prstGeom>
          <a:ln>
            <a:solidFill>
              <a:srgbClr val="000000"/>
            </a:solidFill>
          </a:ln>
        </p:spPr>
        <p:txBody>
          <a:bodyPr wrap="square">
            <a:spAutoFit/>
          </a:bodyPr>
          <a:lstStyle/>
          <a:p>
            <a:r>
              <a:rPr kumimoji="1" lang="en-US" altLang="zh-CN" sz="1500" dirty="0" err="1"/>
              <a:t>start_procedure</a:t>
            </a:r>
            <a:r>
              <a:rPr kumimoji="1" lang="en-US" altLang="zh-CN" sz="1500" dirty="0"/>
              <a:t>()</a:t>
            </a:r>
            <a:endParaRPr lang="zh-CN" altLang="en-US" sz="1500" dirty="0"/>
          </a:p>
        </p:txBody>
      </p:sp>
      <p:sp>
        <p:nvSpPr>
          <p:cNvPr id="30" name="矩形 29"/>
          <p:cNvSpPr/>
          <p:nvPr/>
        </p:nvSpPr>
        <p:spPr>
          <a:xfrm>
            <a:off x="358851" y="4485423"/>
            <a:ext cx="1825564" cy="323165"/>
          </a:xfrm>
          <a:prstGeom prst="rect">
            <a:avLst/>
          </a:prstGeom>
        </p:spPr>
        <p:txBody>
          <a:bodyPr wrap="none">
            <a:spAutoFit/>
          </a:bodyPr>
          <a:lstStyle/>
          <a:p>
            <a:pPr algn="ctr"/>
            <a:r>
              <a:rPr kumimoji="1" lang="en-US" altLang="zh-CN" sz="1500" dirty="0">
                <a:solidFill>
                  <a:srgbClr val="FF0000"/>
                </a:solidFill>
              </a:rPr>
              <a:t>Q: still hold the lock?</a:t>
            </a:r>
          </a:p>
        </p:txBody>
      </p:sp>
    </p:spTree>
    <p:extLst>
      <p:ext uri="{BB962C8B-B14F-4D97-AF65-F5344CB8AC3E}">
        <p14:creationId xmlns:p14="http://schemas.microsoft.com/office/powerpoint/2010/main" val="7930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信号量的实现</a:t>
            </a:r>
          </a:p>
        </p:txBody>
      </p:sp>
    </p:spTree>
    <p:extLst>
      <p:ext uri="{BB962C8B-B14F-4D97-AF65-F5344CB8AC3E}">
        <p14:creationId xmlns:p14="http://schemas.microsoft.com/office/powerpoint/2010/main" val="2602062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2D166-3921-FF47-A5F6-66AFDB6CC3F9}"/>
              </a:ext>
            </a:extLst>
          </p:cNvPr>
          <p:cNvSpPr>
            <a:spLocks noGrp="1"/>
          </p:cNvSpPr>
          <p:nvPr>
            <p:ph type="title"/>
          </p:nvPr>
        </p:nvSpPr>
        <p:spPr>
          <a:xfrm>
            <a:off x="457200" y="228866"/>
            <a:ext cx="8508268" cy="900442"/>
          </a:xfrm>
        </p:spPr>
        <p:txBody>
          <a:bodyPr>
            <a:normAutofit/>
          </a:bodyPr>
          <a:lstStyle/>
          <a:p>
            <a:r>
              <a:rPr kumimoji="1" lang="zh-CN" altLang="en-US" dirty="0"/>
              <a:t>回顾：生产者消费者问题的另一种实现</a:t>
            </a:r>
          </a:p>
        </p:txBody>
      </p:sp>
      <p:sp>
        <p:nvSpPr>
          <p:cNvPr id="4" name="灯片编号占位符 3">
            <a:extLst>
              <a:ext uri="{FF2B5EF4-FFF2-40B4-BE49-F238E27FC236}">
                <a16:creationId xmlns:a16="http://schemas.microsoft.com/office/drawing/2014/main" id="{2B2DC931-5026-434C-BF14-31E7B2F89ACD}"/>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a:extLst>
              <a:ext uri="{FF2B5EF4-FFF2-40B4-BE49-F238E27FC236}">
                <a16:creationId xmlns:a16="http://schemas.microsoft.com/office/drawing/2014/main" id="{B49EA992-5F29-A74B-B670-706F70D8D4F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11" name="Rectangle 10">
            <a:extLst>
              <a:ext uri="{FF2B5EF4-FFF2-40B4-BE49-F238E27FC236}">
                <a16:creationId xmlns:a16="http://schemas.microsoft.com/office/drawing/2014/main" id="{572983AD-0F3D-C449-A2A8-28435278C93C}"/>
              </a:ext>
            </a:extLst>
          </p:cNvPr>
          <p:cNvSpPr/>
          <p:nvPr/>
        </p:nvSpPr>
        <p:spPr>
          <a:xfrm>
            <a:off x="516927" y="1561356"/>
            <a:ext cx="7491194" cy="2800767"/>
          </a:xfrm>
          <a:prstGeom prst="rect">
            <a:avLst/>
          </a:prstGeom>
        </p:spPr>
        <p:txBody>
          <a:bodyPr wrap="square">
            <a:spAutoFit/>
          </a:bodyPr>
          <a:lstStyle/>
          <a:p>
            <a:r>
              <a:rPr lang="en-CN" sz="1600" dirty="0">
                <a:latin typeface="Courier" pitchFamily="2" charset="0"/>
              </a:rPr>
              <a:t>while(true) {</a:t>
            </a:r>
          </a:p>
          <a:p>
            <a:r>
              <a:rPr lang="en-CN" sz="1600" dirty="0">
                <a:latin typeface="Courier" pitchFamily="2" charset="0"/>
              </a:rPr>
              <a:t>	new_msg = produce_new();</a:t>
            </a:r>
            <a:endParaRPr lang="en-CN" sz="1600" dirty="0">
              <a:solidFill>
                <a:schemeClr val="accent1"/>
              </a:solidFill>
              <a:latin typeface="Courier" pitchFamily="2" charset="0"/>
            </a:endParaRPr>
          </a:p>
          <a:p>
            <a:r>
              <a:rPr lang="en-CN" sz="1600">
                <a:solidFill>
                  <a:schemeClr val="accent1"/>
                </a:solidFill>
                <a:latin typeface="Courier" pitchFamily="2" charset="0"/>
              </a:rPr>
              <a:t>	lock</a:t>
            </a:r>
            <a:r>
              <a:rPr lang="en-CN" sz="1600" dirty="0">
                <a:solidFill>
                  <a:schemeClr val="accent1"/>
                </a:solidFill>
                <a:latin typeface="Courier" pitchFamily="2" charset="0"/>
              </a:rPr>
              <a:t>(&amp;empty_slot_lock);</a:t>
            </a:r>
          </a:p>
          <a:p>
            <a:r>
              <a:rPr lang="en-CN" sz="1600" dirty="0">
                <a:latin typeface="Courier" pitchFamily="2" charset="0"/>
              </a:rPr>
              <a:t>	while (</a:t>
            </a:r>
            <a:r>
              <a:rPr lang="en-CN" sz="1600" dirty="0">
                <a:solidFill>
                  <a:schemeClr val="accent5"/>
                </a:solidFill>
                <a:latin typeface="Courier" pitchFamily="2" charset="0"/>
              </a:rPr>
              <a:t>empty_slot </a:t>
            </a:r>
            <a:r>
              <a:rPr lang="en-CN" sz="1600" dirty="0">
                <a:latin typeface="Courier" pitchFamily="2" charset="0"/>
              </a:rPr>
              <a:t>== 0) </a:t>
            </a:r>
          </a:p>
          <a:p>
            <a:r>
              <a:rPr lang="en-CN" sz="1600" dirty="0">
                <a:latin typeface="Courier" pitchFamily="2" charset="0"/>
              </a:rPr>
              <a:t>	</a:t>
            </a:r>
            <a:r>
              <a:rPr lang="en-CN" sz="1600">
                <a:latin typeface="Courier" pitchFamily="2" charset="0"/>
              </a:rPr>
              <a:t>	</a:t>
            </a:r>
            <a:r>
              <a:rPr lang="en-CN" sz="1600">
                <a:solidFill>
                  <a:schemeClr val="accent1"/>
                </a:solidFill>
                <a:latin typeface="Courier" pitchFamily="2" charset="0"/>
              </a:rPr>
              <a:t>cond</a:t>
            </a:r>
            <a:r>
              <a:rPr lang="en-CN" sz="1600" dirty="0">
                <a:solidFill>
                  <a:schemeClr val="accent1"/>
                </a:solidFill>
                <a:latin typeface="Courier" pitchFamily="2" charset="0"/>
              </a:rPr>
              <a:t>_wait(&amp;empty_cond, &amp;empty_slot_lock);</a:t>
            </a:r>
          </a:p>
          <a:p>
            <a:r>
              <a:rPr lang="en-CN" sz="1600" dirty="0">
                <a:latin typeface="Courier" pitchFamily="2" charset="0"/>
              </a:rPr>
              <a:t>	</a:t>
            </a:r>
            <a:r>
              <a:rPr lang="en-CN" sz="1600" dirty="0">
                <a:solidFill>
                  <a:schemeClr val="accent5"/>
                </a:solidFill>
                <a:latin typeface="Courier" pitchFamily="2" charset="0"/>
              </a:rPr>
              <a:t>empty</a:t>
            </a:r>
            <a:r>
              <a:rPr lang="en-CN" sz="1600">
                <a:solidFill>
                  <a:schemeClr val="accent5"/>
                </a:solidFill>
                <a:latin typeface="Courier" pitchFamily="2" charset="0"/>
              </a:rPr>
              <a:t>_slot</a:t>
            </a:r>
            <a:r>
              <a:rPr lang="en-CN" sz="1600">
                <a:latin typeface="Courier" pitchFamily="2" charset="0"/>
              </a:rPr>
              <a:t>-</a:t>
            </a:r>
            <a:r>
              <a:rPr lang="en-CN" sz="1600" dirty="0">
                <a:latin typeface="Courier" pitchFamily="2" charset="0"/>
              </a:rPr>
              <a:t>-;</a:t>
            </a:r>
            <a:endParaRPr lang="en-CN" sz="1600" dirty="0">
              <a:solidFill>
                <a:schemeClr val="accent1"/>
              </a:solidFill>
              <a:latin typeface="Courier" pitchFamily="2" charset="0"/>
            </a:endParaRPr>
          </a:p>
          <a:p>
            <a:r>
              <a:rPr lang="en-CN" sz="1600">
                <a:solidFill>
                  <a:schemeClr val="accent1"/>
                </a:solidFill>
                <a:latin typeface="Courier" pitchFamily="2" charset="0"/>
              </a:rPr>
              <a:t>	unlock</a:t>
            </a:r>
            <a:r>
              <a:rPr lang="en-CN" sz="1600" dirty="0">
                <a:solidFill>
                  <a:schemeClr val="accent1"/>
                </a:solidFill>
                <a:latin typeface="Courier" pitchFamily="2" charset="0"/>
              </a:rPr>
              <a:t>(&amp;empty_slot_lock);</a:t>
            </a:r>
          </a:p>
          <a:p>
            <a:endParaRPr lang="en-CN" sz="1600" dirty="0">
              <a:latin typeface="Courier" pitchFamily="2" charset="0"/>
            </a:endParaRPr>
          </a:p>
          <a:p>
            <a:r>
              <a:rPr lang="en-CN" sz="1600" dirty="0">
                <a:latin typeface="Courier" pitchFamily="2" charset="0"/>
              </a:rPr>
              <a:t>	buffer_add(new_msg);</a:t>
            </a:r>
          </a:p>
          <a:p>
            <a:r>
              <a:rPr lang="en-CN" sz="1600" dirty="0">
                <a:latin typeface="Courier" pitchFamily="2" charset="0"/>
              </a:rPr>
              <a:t>	// ...</a:t>
            </a:r>
          </a:p>
          <a:p>
            <a:r>
              <a:rPr lang="en-CN" sz="1600" dirty="0">
                <a:latin typeface="Courier" pitchFamily="2" charset="0"/>
              </a:rPr>
              <a:t>}</a:t>
            </a:r>
          </a:p>
        </p:txBody>
      </p:sp>
      <p:sp>
        <p:nvSpPr>
          <p:cNvPr id="22" name="TextBox 21">
            <a:extLst>
              <a:ext uri="{FF2B5EF4-FFF2-40B4-BE49-F238E27FC236}">
                <a16:creationId xmlns:a16="http://schemas.microsoft.com/office/drawing/2014/main" id="{29ECF80A-8C1D-204A-9EE1-30DC5AD6636C}"/>
              </a:ext>
            </a:extLst>
          </p:cNvPr>
          <p:cNvSpPr txBox="1"/>
          <p:nvPr/>
        </p:nvSpPr>
        <p:spPr>
          <a:xfrm>
            <a:off x="513750" y="1021872"/>
            <a:ext cx="1340543" cy="369332"/>
          </a:xfrm>
          <a:prstGeom prst="rect">
            <a:avLst/>
          </a:prstGeom>
          <a:noFill/>
        </p:spPr>
        <p:txBody>
          <a:bodyPr wrap="square" rtlCol="0">
            <a:spAutoFit/>
          </a:bodyPr>
          <a:lstStyle/>
          <a:p>
            <a:r>
              <a:rPr lang="zh-CN" altLang="en-US" dirty="0"/>
              <a:t>生产者：</a:t>
            </a:r>
            <a:endParaRPr lang="en-CN"/>
          </a:p>
        </p:txBody>
      </p:sp>
      <p:sp>
        <p:nvSpPr>
          <p:cNvPr id="3" name="Rectangle 2">
            <a:extLst>
              <a:ext uri="{FF2B5EF4-FFF2-40B4-BE49-F238E27FC236}">
                <a16:creationId xmlns:a16="http://schemas.microsoft.com/office/drawing/2014/main" id="{26EFF294-4086-F449-828E-7D8D6E2DEEBD}"/>
              </a:ext>
            </a:extLst>
          </p:cNvPr>
          <p:cNvSpPr/>
          <p:nvPr/>
        </p:nvSpPr>
        <p:spPr>
          <a:xfrm>
            <a:off x="2171343" y="1021872"/>
            <a:ext cx="5468164" cy="369332"/>
          </a:xfrm>
          <a:prstGeom prst="rect">
            <a:avLst/>
          </a:prstGeom>
        </p:spPr>
        <p:txBody>
          <a:bodyPr wrap="none">
            <a:spAutoFit/>
          </a:bodyPr>
          <a:lstStyle/>
          <a:p>
            <a:r>
              <a:rPr lang="en-US" dirty="0" err="1"/>
              <a:t>使用</a:t>
            </a:r>
            <a:r>
              <a:rPr lang="zh-CN" altLang="en-US" dirty="0"/>
              <a:t> </a:t>
            </a:r>
            <a:r>
              <a:rPr lang="en-US" b="1" dirty="0" err="1"/>
              <a:t>互斥锁</a:t>
            </a:r>
            <a:r>
              <a:rPr lang="zh-CN" altLang="en-US" dirty="0"/>
              <a:t> 搭配 </a:t>
            </a:r>
            <a:r>
              <a:rPr lang="en-US" b="1" dirty="0"/>
              <a:t>条件变量</a:t>
            </a:r>
            <a:r>
              <a:rPr lang="zh-CN" altLang="en-US" dirty="0"/>
              <a:t> </a:t>
            </a:r>
            <a:r>
              <a:rPr lang="en-US" dirty="0"/>
              <a:t>完成</a:t>
            </a:r>
            <a:r>
              <a:rPr lang="en-US" b="1" dirty="0"/>
              <a:t>资源的等待与消耗</a:t>
            </a:r>
            <a:endParaRPr lang="en-CN" b="1" dirty="0"/>
          </a:p>
        </p:txBody>
      </p:sp>
      <p:sp>
        <p:nvSpPr>
          <p:cNvPr id="15" name="Rectangle 14">
            <a:extLst>
              <a:ext uri="{FF2B5EF4-FFF2-40B4-BE49-F238E27FC236}">
                <a16:creationId xmlns:a16="http://schemas.microsoft.com/office/drawing/2014/main" id="{E5A65265-C0B8-964F-95A0-90C5352B487D}"/>
              </a:ext>
            </a:extLst>
          </p:cNvPr>
          <p:cNvSpPr/>
          <p:nvPr/>
        </p:nvSpPr>
        <p:spPr>
          <a:xfrm>
            <a:off x="513750" y="4460210"/>
            <a:ext cx="8263801" cy="369332"/>
          </a:xfrm>
          <a:prstGeom prst="rect">
            <a:avLst/>
          </a:prstGeom>
        </p:spPr>
        <p:txBody>
          <a:bodyPr wrap="none">
            <a:spAutoFit/>
          </a:bodyPr>
          <a:lstStyle/>
          <a:p>
            <a:r>
              <a:rPr lang="en-US" dirty="0" err="1">
                <a:solidFill>
                  <a:schemeClr val="accent1"/>
                </a:solidFill>
              </a:rPr>
              <a:t>当前实现</a:t>
            </a:r>
            <a:r>
              <a:rPr lang="zh-CN" altLang="en-US" dirty="0">
                <a:solidFill>
                  <a:schemeClr val="accent1"/>
                </a:solidFill>
              </a:rPr>
              <a:t>：</a:t>
            </a:r>
            <a:r>
              <a:rPr lang="en-US" dirty="0" err="1">
                <a:solidFill>
                  <a:schemeClr val="accent1"/>
                </a:solidFill>
              </a:rPr>
              <a:t>需要单独创建互斥锁</a:t>
            </a:r>
            <a:r>
              <a:rPr lang="zh-CN" altLang="en-US" dirty="0">
                <a:solidFill>
                  <a:schemeClr val="accent1"/>
                </a:solidFill>
              </a:rPr>
              <a:t>与条件变量，并手动通过计数器来管理资源数量</a:t>
            </a:r>
            <a:endParaRPr lang="en-CN" dirty="0"/>
          </a:p>
        </p:txBody>
      </p:sp>
      <p:sp>
        <p:nvSpPr>
          <p:cNvPr id="16" name="Rectangle 15">
            <a:extLst>
              <a:ext uri="{FF2B5EF4-FFF2-40B4-BE49-F238E27FC236}">
                <a16:creationId xmlns:a16="http://schemas.microsoft.com/office/drawing/2014/main" id="{903C70E6-8A3E-9C45-8B9D-E25EF5840994}"/>
              </a:ext>
            </a:extLst>
          </p:cNvPr>
          <p:cNvSpPr/>
          <p:nvPr/>
        </p:nvSpPr>
        <p:spPr>
          <a:xfrm>
            <a:off x="1284786" y="4874181"/>
            <a:ext cx="5955476" cy="369332"/>
          </a:xfrm>
          <a:prstGeom prst="rect">
            <a:avLst/>
          </a:prstGeom>
        </p:spPr>
        <p:txBody>
          <a:bodyPr wrap="none">
            <a:spAutoFit/>
          </a:bodyPr>
          <a:lstStyle/>
          <a:p>
            <a:r>
              <a:rPr lang="en-CN" dirty="0"/>
              <a:t>为何不提出新的同步原语</a:t>
            </a:r>
            <a:r>
              <a:rPr lang="zh-CN" altLang="en-US" dirty="0"/>
              <a:t>，便于在多个线程之间</a:t>
            </a:r>
            <a:r>
              <a:rPr lang="zh-CN" altLang="en-US" b="1" dirty="0"/>
              <a:t>管理资源</a:t>
            </a:r>
            <a:endParaRPr lang="en-CN" b="1" dirty="0"/>
          </a:p>
        </p:txBody>
      </p:sp>
      <p:sp>
        <p:nvSpPr>
          <p:cNvPr id="6" name="右箭头 5">
            <a:extLst>
              <a:ext uri="{FF2B5EF4-FFF2-40B4-BE49-F238E27FC236}">
                <a16:creationId xmlns:a16="http://schemas.microsoft.com/office/drawing/2014/main" id="{67ECC5EE-96EF-614C-9B50-9611373AF466}"/>
              </a:ext>
            </a:extLst>
          </p:cNvPr>
          <p:cNvSpPr/>
          <p:nvPr/>
        </p:nvSpPr>
        <p:spPr>
          <a:xfrm>
            <a:off x="1308783" y="2129502"/>
            <a:ext cx="144016" cy="17015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右箭头 11">
            <a:extLst>
              <a:ext uri="{FF2B5EF4-FFF2-40B4-BE49-F238E27FC236}">
                <a16:creationId xmlns:a16="http://schemas.microsoft.com/office/drawing/2014/main" id="{9A5B3F9D-19D3-7A4B-8AD0-FBE06E63083B}"/>
              </a:ext>
            </a:extLst>
          </p:cNvPr>
          <p:cNvSpPr/>
          <p:nvPr/>
        </p:nvSpPr>
        <p:spPr>
          <a:xfrm>
            <a:off x="1311154" y="2616258"/>
            <a:ext cx="144016" cy="17015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右箭头 12">
            <a:extLst>
              <a:ext uri="{FF2B5EF4-FFF2-40B4-BE49-F238E27FC236}">
                <a16:creationId xmlns:a16="http://schemas.microsoft.com/office/drawing/2014/main" id="{DAA0800F-926B-4040-8143-32F4E132773F}"/>
              </a:ext>
            </a:extLst>
          </p:cNvPr>
          <p:cNvSpPr/>
          <p:nvPr/>
        </p:nvSpPr>
        <p:spPr>
          <a:xfrm>
            <a:off x="1308783" y="3103014"/>
            <a:ext cx="144016" cy="17015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31290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a:t>信号量的使用</a:t>
            </a:r>
            <a:endParaRPr lang="en-CN"/>
          </a:p>
        </p:txBody>
      </p:sp>
      <p:sp>
        <p:nvSpPr>
          <p:cNvPr id="5" name="TextBox 4">
            <a:extLst>
              <a:ext uri="{FF2B5EF4-FFF2-40B4-BE49-F238E27FC236}">
                <a16:creationId xmlns:a16="http://schemas.microsoft.com/office/drawing/2014/main" id="{9F2E7298-0860-C04F-9E15-2A17F9EAF929}"/>
              </a:ext>
            </a:extLst>
          </p:cNvPr>
          <p:cNvSpPr txBox="1"/>
          <p:nvPr/>
        </p:nvSpPr>
        <p:spPr>
          <a:xfrm>
            <a:off x="4237997" y="991772"/>
            <a:ext cx="184731" cy="369332"/>
          </a:xfrm>
          <a:prstGeom prst="rect">
            <a:avLst/>
          </a:prstGeom>
          <a:noFill/>
        </p:spPr>
        <p:txBody>
          <a:bodyPr wrap="none" rtlCol="0">
            <a:spAutoFit/>
          </a:bodyPr>
          <a:lstStyle/>
          <a:p>
            <a:endParaRPr lang="en-CN"/>
          </a:p>
        </p:txBody>
      </p:sp>
      <p:sp>
        <p:nvSpPr>
          <p:cNvPr id="3" name="Rectangle 2">
            <a:extLst>
              <a:ext uri="{FF2B5EF4-FFF2-40B4-BE49-F238E27FC236}">
                <a16:creationId xmlns:a16="http://schemas.microsoft.com/office/drawing/2014/main" id="{2B893C58-8B04-134A-BC0C-09FE30F1344C}"/>
              </a:ext>
            </a:extLst>
          </p:cNvPr>
          <p:cNvSpPr/>
          <p:nvPr/>
        </p:nvSpPr>
        <p:spPr>
          <a:xfrm>
            <a:off x="415712" y="3361556"/>
            <a:ext cx="5288240" cy="1754326"/>
          </a:xfrm>
          <a:prstGeom prst="rect">
            <a:avLst/>
          </a:prstGeom>
        </p:spPr>
        <p:txBody>
          <a:bodyPr wrap="square">
            <a:spAutoFit/>
          </a:bodyPr>
          <a:lstStyle/>
          <a:p>
            <a:r>
              <a:rPr lang="en-US">
                <a:latin typeface="Courier" pitchFamily="2" charset="0"/>
              </a:rPr>
              <a:t>void producer(void) {</a:t>
            </a:r>
          </a:p>
          <a:p>
            <a:r>
              <a:rPr lang="en-US">
                <a:latin typeface="Courier" pitchFamily="2" charset="0"/>
              </a:rPr>
              <a:t>	new_msg = produce_new(); 	</a:t>
            </a:r>
            <a:r>
              <a:rPr lang="en-US">
                <a:solidFill>
                  <a:schemeClr val="accent1"/>
                </a:solidFill>
                <a:latin typeface="Courier" pitchFamily="2" charset="0"/>
              </a:rPr>
              <a:t>sem_wait</a:t>
            </a:r>
            <a:r>
              <a:rPr lang="en-US">
                <a:latin typeface="Courier" pitchFamily="2" charset="0"/>
              </a:rPr>
              <a:t>(&amp;empty_slot_sem);</a:t>
            </a:r>
          </a:p>
          <a:p>
            <a:r>
              <a:rPr lang="en-US">
                <a:latin typeface="Courier" pitchFamily="2" charset="0"/>
              </a:rPr>
              <a:t>	buffer_add(new_msg); 	</a:t>
            </a:r>
          </a:p>
          <a:p>
            <a:r>
              <a:rPr lang="en-US">
                <a:latin typeface="Courier" pitchFamily="2" charset="0"/>
              </a:rPr>
              <a:t>       </a:t>
            </a:r>
            <a:r>
              <a:rPr lang="en-CN" dirty="0">
                <a:latin typeface="Courier" pitchFamily="2" charset="0"/>
              </a:rPr>
              <a:t>// ...</a:t>
            </a:r>
          </a:p>
          <a:p>
            <a:r>
              <a:rPr lang="en-US">
                <a:latin typeface="Courier" pitchFamily="2" charset="0"/>
              </a:rPr>
              <a:t>}</a:t>
            </a:r>
            <a:endParaRPr lang="en-CN">
              <a:latin typeface="Courier" pitchFamily="2" charset="0"/>
            </a:endParaRPr>
          </a:p>
        </p:txBody>
      </p:sp>
      <p:sp>
        <p:nvSpPr>
          <p:cNvPr id="11" name="Rectangle 10">
            <a:extLst>
              <a:ext uri="{FF2B5EF4-FFF2-40B4-BE49-F238E27FC236}">
                <a16:creationId xmlns:a16="http://schemas.microsoft.com/office/drawing/2014/main" id="{96F4477A-A1CF-3344-84EB-70166AC121D2}"/>
              </a:ext>
            </a:extLst>
          </p:cNvPr>
          <p:cNvSpPr/>
          <p:nvPr/>
        </p:nvSpPr>
        <p:spPr>
          <a:xfrm>
            <a:off x="5540743" y="3920185"/>
            <a:ext cx="2024913" cy="369332"/>
          </a:xfrm>
          <a:prstGeom prst="rect">
            <a:avLst/>
          </a:prstGeom>
        </p:spPr>
        <p:txBody>
          <a:bodyPr wrap="none">
            <a:spAutoFit/>
          </a:bodyPr>
          <a:lstStyle/>
          <a:p>
            <a:r>
              <a:rPr lang="zh-CN" altLang="en-US">
                <a:solidFill>
                  <a:schemeClr val="accent1"/>
                </a:solidFill>
                <a:latin typeface="Courier" pitchFamily="2" charset="0"/>
              </a:rPr>
              <a:t>消耗</a:t>
            </a:r>
            <a:r>
              <a:rPr lang="en-US" altLang="zh-CN">
                <a:solidFill>
                  <a:schemeClr val="accent1"/>
                </a:solidFill>
                <a:latin typeface="Courier" pitchFamily="2" charset="0"/>
              </a:rPr>
              <a:t>empty_slot</a:t>
            </a:r>
            <a:endParaRPr lang="en-CN">
              <a:solidFill>
                <a:schemeClr val="accent1"/>
              </a:solidFill>
              <a:latin typeface="Courier" pitchFamily="2" charset="0"/>
            </a:endParaRPr>
          </a:p>
        </p:txBody>
      </p:sp>
      <p:sp>
        <p:nvSpPr>
          <p:cNvPr id="6" name="Footer Placeholder 5">
            <a:extLst>
              <a:ext uri="{FF2B5EF4-FFF2-40B4-BE49-F238E27FC236}">
                <a16:creationId xmlns:a16="http://schemas.microsoft.com/office/drawing/2014/main" id="{39419E82-4823-2D4D-B976-E634A3E19C3C}"/>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E1265468-10D2-9544-B3DC-89EEB6EFBED9}"/>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15" name="Rectangle 14">
            <a:extLst>
              <a:ext uri="{FF2B5EF4-FFF2-40B4-BE49-F238E27FC236}">
                <a16:creationId xmlns:a16="http://schemas.microsoft.com/office/drawing/2014/main" id="{DE1C30F9-B691-AB4C-9137-172F45B35DA9}"/>
              </a:ext>
            </a:extLst>
          </p:cNvPr>
          <p:cNvSpPr/>
          <p:nvPr/>
        </p:nvSpPr>
        <p:spPr>
          <a:xfrm>
            <a:off x="3635896" y="123376"/>
            <a:ext cx="7491194" cy="3046988"/>
          </a:xfrm>
          <a:prstGeom prst="rect">
            <a:avLst/>
          </a:prstGeom>
        </p:spPr>
        <p:txBody>
          <a:bodyPr wrap="square">
            <a:spAutoFit/>
          </a:bodyPr>
          <a:lstStyle/>
          <a:p>
            <a:r>
              <a:rPr lang="en-CN" sz="1600" dirty="0">
                <a:latin typeface="Courier" pitchFamily="2" charset="0"/>
              </a:rPr>
              <a:t>while(true) {</a:t>
            </a:r>
          </a:p>
          <a:p>
            <a:r>
              <a:rPr lang="en-CN" sz="1600" dirty="0">
                <a:latin typeface="Courier" pitchFamily="2" charset="0"/>
              </a:rPr>
              <a:t>	new_msg = produce_new();</a:t>
            </a:r>
            <a:endParaRPr lang="en-CN" sz="1600" dirty="0">
              <a:solidFill>
                <a:schemeClr val="accent1"/>
              </a:solidFill>
              <a:latin typeface="Courier" pitchFamily="2" charset="0"/>
            </a:endParaRPr>
          </a:p>
          <a:p>
            <a:r>
              <a:rPr lang="en-CN" sz="1600">
                <a:solidFill>
                  <a:schemeClr val="accent1"/>
                </a:solidFill>
                <a:latin typeface="Courier" pitchFamily="2" charset="0"/>
              </a:rPr>
              <a:t>	</a:t>
            </a:r>
            <a:r>
              <a:rPr lang="en-CN" sz="1600">
                <a:solidFill>
                  <a:srgbClr val="00B050"/>
                </a:solidFill>
                <a:latin typeface="Courier" pitchFamily="2" charset="0"/>
              </a:rPr>
              <a:t>lock</a:t>
            </a:r>
            <a:r>
              <a:rPr lang="en-CN" sz="1600" dirty="0">
                <a:solidFill>
                  <a:srgbClr val="00B050"/>
                </a:solidFill>
                <a:latin typeface="Courier" pitchFamily="2" charset="0"/>
              </a:rPr>
              <a:t>(&amp;empty_slot_lock);</a:t>
            </a:r>
          </a:p>
          <a:p>
            <a:r>
              <a:rPr lang="en-CN" sz="1600" dirty="0">
                <a:solidFill>
                  <a:srgbClr val="00B050"/>
                </a:solidFill>
                <a:latin typeface="Courier" pitchFamily="2" charset="0"/>
              </a:rPr>
              <a:t>	while (empty_slot == 0) </a:t>
            </a:r>
          </a:p>
          <a:p>
            <a:r>
              <a:rPr lang="en-CN" sz="1600" dirty="0">
                <a:solidFill>
                  <a:srgbClr val="00B050"/>
                </a:solidFill>
                <a:latin typeface="Courier" pitchFamily="2" charset="0"/>
              </a:rPr>
              <a:t>	</a:t>
            </a:r>
            <a:r>
              <a:rPr lang="en-CN" sz="1600">
                <a:solidFill>
                  <a:srgbClr val="00B050"/>
                </a:solidFill>
                <a:latin typeface="Courier" pitchFamily="2" charset="0"/>
              </a:rPr>
              <a:t>	cond</a:t>
            </a:r>
            <a:r>
              <a:rPr lang="en-CN" sz="1600" dirty="0">
                <a:solidFill>
                  <a:srgbClr val="00B050"/>
                </a:solidFill>
                <a:latin typeface="Courier" pitchFamily="2" charset="0"/>
              </a:rPr>
              <a:t>_wait(&amp;empty_cond,</a:t>
            </a:r>
          </a:p>
          <a:p>
            <a:r>
              <a:rPr lang="en-CN" sz="1600" dirty="0">
                <a:solidFill>
                  <a:srgbClr val="00B050"/>
                </a:solidFill>
                <a:latin typeface="Courier" pitchFamily="2" charset="0"/>
              </a:rPr>
              <a:t>                     &amp;empty_slot_lock);</a:t>
            </a:r>
          </a:p>
          <a:p>
            <a:r>
              <a:rPr lang="en-CN" sz="1600" dirty="0">
                <a:solidFill>
                  <a:srgbClr val="00B050"/>
                </a:solidFill>
                <a:latin typeface="Courier" pitchFamily="2" charset="0"/>
              </a:rPr>
              <a:t>	empty_slot --;</a:t>
            </a:r>
          </a:p>
          <a:p>
            <a:r>
              <a:rPr lang="en-CN" sz="1600">
                <a:solidFill>
                  <a:srgbClr val="00B050"/>
                </a:solidFill>
                <a:latin typeface="Courier" pitchFamily="2" charset="0"/>
              </a:rPr>
              <a:t>	unlock</a:t>
            </a:r>
            <a:r>
              <a:rPr lang="en-CN" sz="1600" dirty="0">
                <a:solidFill>
                  <a:srgbClr val="00B050"/>
                </a:solidFill>
                <a:latin typeface="Courier" pitchFamily="2" charset="0"/>
              </a:rPr>
              <a:t>(&amp;empty_slot_lock);</a:t>
            </a:r>
          </a:p>
          <a:p>
            <a:endParaRPr lang="en-CN" sz="1600" dirty="0">
              <a:latin typeface="Courier" pitchFamily="2" charset="0"/>
            </a:endParaRPr>
          </a:p>
          <a:p>
            <a:r>
              <a:rPr lang="en-CN" sz="1600" dirty="0">
                <a:latin typeface="Courier" pitchFamily="2" charset="0"/>
              </a:rPr>
              <a:t>	buffer_add(new_msg);</a:t>
            </a:r>
          </a:p>
          <a:p>
            <a:r>
              <a:rPr lang="en-CN" sz="1600" dirty="0">
                <a:latin typeface="Courier" pitchFamily="2" charset="0"/>
              </a:rPr>
              <a:t>	// ...</a:t>
            </a:r>
          </a:p>
          <a:p>
            <a:r>
              <a:rPr lang="en-CN" sz="1600" dirty="0">
                <a:latin typeface="Courier" pitchFamily="2" charset="0"/>
              </a:rPr>
              <a:t>}</a:t>
            </a:r>
          </a:p>
        </p:txBody>
      </p:sp>
      <p:cxnSp>
        <p:nvCxnSpPr>
          <p:cNvPr id="8" name="Straight Arrow Connector 7">
            <a:extLst>
              <a:ext uri="{FF2B5EF4-FFF2-40B4-BE49-F238E27FC236}">
                <a16:creationId xmlns:a16="http://schemas.microsoft.com/office/drawing/2014/main" id="{FFE88CAC-D282-5A4B-B0F0-C4F86E159DAF}"/>
              </a:ext>
            </a:extLst>
          </p:cNvPr>
          <p:cNvCxnSpPr/>
          <p:nvPr/>
        </p:nvCxnSpPr>
        <p:spPr>
          <a:xfrm flipH="1">
            <a:off x="2051720" y="1361104"/>
            <a:ext cx="2483296" cy="264852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5CB8E0D-007E-CB46-A283-1F536405BE6D}"/>
              </a:ext>
            </a:extLst>
          </p:cNvPr>
          <p:cNvSpPr/>
          <p:nvPr/>
        </p:nvSpPr>
        <p:spPr>
          <a:xfrm>
            <a:off x="1400502" y="1891944"/>
            <a:ext cx="2132916" cy="646331"/>
          </a:xfrm>
          <a:prstGeom prst="rect">
            <a:avLst/>
          </a:prstGeom>
        </p:spPr>
        <p:txBody>
          <a:bodyPr wrap="square">
            <a:spAutoFit/>
          </a:bodyPr>
          <a:lstStyle/>
          <a:p>
            <a:r>
              <a:rPr lang="zh-CN" altLang="en-CN">
                <a:latin typeface="Courier" pitchFamily="2" charset="0"/>
              </a:rPr>
              <a:t>使用</a:t>
            </a:r>
            <a:r>
              <a:rPr lang="zh-CN" altLang="en-US">
                <a:latin typeface="Courier" pitchFamily="2" charset="0"/>
              </a:rPr>
              <a:t>信号量可以将其压缩到</a:t>
            </a:r>
            <a:r>
              <a:rPr lang="zh-CN" altLang="en-US" b="1">
                <a:latin typeface="Courier" pitchFamily="2" charset="0"/>
              </a:rPr>
              <a:t>一行代码</a:t>
            </a:r>
            <a:endParaRPr lang="en-CN" b="1"/>
          </a:p>
        </p:txBody>
      </p:sp>
    </p:spTree>
    <p:extLst>
      <p:ext uri="{BB962C8B-B14F-4D97-AF65-F5344CB8AC3E}">
        <p14:creationId xmlns:p14="http://schemas.microsoft.com/office/powerpoint/2010/main" val="39016742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a:t>信号量的使用</a:t>
            </a:r>
            <a:endParaRPr lang="en-CN"/>
          </a:p>
        </p:txBody>
      </p:sp>
      <p:sp>
        <p:nvSpPr>
          <p:cNvPr id="5" name="TextBox 4">
            <a:extLst>
              <a:ext uri="{FF2B5EF4-FFF2-40B4-BE49-F238E27FC236}">
                <a16:creationId xmlns:a16="http://schemas.microsoft.com/office/drawing/2014/main" id="{9F2E7298-0860-C04F-9E15-2A17F9EAF929}"/>
              </a:ext>
            </a:extLst>
          </p:cNvPr>
          <p:cNvSpPr txBox="1"/>
          <p:nvPr/>
        </p:nvSpPr>
        <p:spPr>
          <a:xfrm>
            <a:off x="4237997" y="991772"/>
            <a:ext cx="184731" cy="369332"/>
          </a:xfrm>
          <a:prstGeom prst="rect">
            <a:avLst/>
          </a:prstGeom>
          <a:noFill/>
        </p:spPr>
        <p:txBody>
          <a:bodyPr wrap="none" rtlCol="0">
            <a:spAutoFit/>
          </a:bodyPr>
          <a:lstStyle/>
          <a:p>
            <a:endParaRPr lang="en-CN"/>
          </a:p>
        </p:txBody>
      </p:sp>
      <p:sp>
        <p:nvSpPr>
          <p:cNvPr id="3" name="Rectangle 2">
            <a:extLst>
              <a:ext uri="{FF2B5EF4-FFF2-40B4-BE49-F238E27FC236}">
                <a16:creationId xmlns:a16="http://schemas.microsoft.com/office/drawing/2014/main" id="{2B893C58-8B04-134A-BC0C-09FE30F1344C}"/>
              </a:ext>
            </a:extLst>
          </p:cNvPr>
          <p:cNvSpPr/>
          <p:nvPr/>
        </p:nvSpPr>
        <p:spPr>
          <a:xfrm>
            <a:off x="847654" y="1361104"/>
            <a:ext cx="5288240" cy="1754326"/>
          </a:xfrm>
          <a:prstGeom prst="rect">
            <a:avLst/>
          </a:prstGeom>
        </p:spPr>
        <p:txBody>
          <a:bodyPr wrap="square">
            <a:spAutoFit/>
          </a:bodyPr>
          <a:lstStyle/>
          <a:p>
            <a:r>
              <a:rPr lang="en-US" dirty="0">
                <a:latin typeface="Courier" pitchFamily="2" charset="0"/>
              </a:rPr>
              <a:t>void producer(void) {</a:t>
            </a:r>
          </a:p>
          <a:p>
            <a:r>
              <a:rPr lang="en-US" dirty="0">
                <a:latin typeface="Courier" pitchFamily="2" charset="0"/>
              </a:rPr>
              <a:t>	</a:t>
            </a:r>
            <a:r>
              <a:rPr lang="en-US" dirty="0" err="1">
                <a:latin typeface="Courier" pitchFamily="2" charset="0"/>
              </a:rPr>
              <a:t>new_msg</a:t>
            </a:r>
            <a:r>
              <a:rPr lang="en-US" dirty="0">
                <a:latin typeface="Courier" pitchFamily="2" charset="0"/>
              </a:rPr>
              <a:t> = </a:t>
            </a:r>
            <a:r>
              <a:rPr lang="en-US" dirty="0" err="1">
                <a:latin typeface="Courier" pitchFamily="2" charset="0"/>
              </a:rPr>
              <a:t>produce_new</a:t>
            </a:r>
            <a:r>
              <a:rPr lang="en-US" dirty="0">
                <a:latin typeface="Courier" pitchFamily="2" charset="0"/>
              </a:rPr>
              <a:t>(); 	</a:t>
            </a:r>
            <a:r>
              <a:rPr lang="en-US" dirty="0" err="1">
                <a:solidFill>
                  <a:schemeClr val="accent1"/>
                </a:solidFill>
                <a:latin typeface="Courier" pitchFamily="2" charset="0"/>
              </a:rPr>
              <a:t>sem_wait</a:t>
            </a:r>
            <a:r>
              <a:rPr lang="en-US" dirty="0">
                <a:latin typeface="Courier" pitchFamily="2" charset="0"/>
              </a:rPr>
              <a:t>(&amp;</a:t>
            </a:r>
            <a:r>
              <a:rPr lang="en-US" dirty="0" err="1">
                <a:latin typeface="Courier" pitchFamily="2" charset="0"/>
              </a:rPr>
              <a:t>empty_slot_sem</a:t>
            </a:r>
            <a:r>
              <a:rPr lang="en-US" dirty="0">
                <a:latin typeface="Courier" pitchFamily="2" charset="0"/>
              </a:rPr>
              <a:t>);</a:t>
            </a:r>
          </a:p>
          <a:p>
            <a:r>
              <a:rPr lang="en-US" dirty="0">
                <a:latin typeface="Courier" pitchFamily="2" charset="0"/>
              </a:rPr>
              <a:t>	</a:t>
            </a:r>
            <a:r>
              <a:rPr lang="en-US" dirty="0" err="1">
                <a:latin typeface="Courier" pitchFamily="2" charset="0"/>
              </a:rPr>
              <a:t>buffer_add</a:t>
            </a:r>
            <a:r>
              <a:rPr lang="en-US" dirty="0">
                <a:latin typeface="Courier" pitchFamily="2" charset="0"/>
              </a:rPr>
              <a:t>(</a:t>
            </a:r>
            <a:r>
              <a:rPr lang="en-US" dirty="0" err="1">
                <a:latin typeface="Courier" pitchFamily="2" charset="0"/>
              </a:rPr>
              <a:t>new_msg</a:t>
            </a:r>
            <a:r>
              <a:rPr lang="en-US" dirty="0">
                <a:latin typeface="Courier" pitchFamily="2" charset="0"/>
              </a:rPr>
              <a:t>); 	</a:t>
            </a:r>
            <a:r>
              <a:rPr lang="en-US" dirty="0" err="1">
                <a:solidFill>
                  <a:schemeClr val="accent1"/>
                </a:solidFill>
                <a:latin typeface="Courier" pitchFamily="2" charset="0"/>
              </a:rPr>
              <a:t>sem_signal</a:t>
            </a:r>
            <a:r>
              <a:rPr lang="en-US" dirty="0">
                <a:latin typeface="Courier" pitchFamily="2" charset="0"/>
              </a:rPr>
              <a:t>(&amp;</a:t>
            </a:r>
            <a:r>
              <a:rPr lang="en-US" dirty="0" err="1">
                <a:latin typeface="Courier" pitchFamily="2" charset="0"/>
              </a:rPr>
              <a:t>filled_slot_sem</a:t>
            </a:r>
            <a:r>
              <a:rPr lang="en-US" dirty="0">
                <a:latin typeface="Courier" pitchFamily="2" charset="0"/>
              </a:rPr>
              <a:t>);</a:t>
            </a:r>
          </a:p>
          <a:p>
            <a:r>
              <a:rPr lang="en-US" dirty="0">
                <a:latin typeface="Courier" pitchFamily="2" charset="0"/>
              </a:rPr>
              <a:t>}</a:t>
            </a:r>
            <a:endParaRPr lang="en-CN">
              <a:latin typeface="Courier" pitchFamily="2" charset="0"/>
            </a:endParaRPr>
          </a:p>
        </p:txBody>
      </p:sp>
      <p:sp>
        <p:nvSpPr>
          <p:cNvPr id="10" name="Rectangle 9">
            <a:extLst>
              <a:ext uri="{FF2B5EF4-FFF2-40B4-BE49-F238E27FC236}">
                <a16:creationId xmlns:a16="http://schemas.microsoft.com/office/drawing/2014/main" id="{711CB56D-2A50-EC49-BB9D-46342C582C8D}"/>
              </a:ext>
            </a:extLst>
          </p:cNvPr>
          <p:cNvSpPr/>
          <p:nvPr/>
        </p:nvSpPr>
        <p:spPr>
          <a:xfrm>
            <a:off x="908614" y="3347226"/>
            <a:ext cx="5227280" cy="1754326"/>
          </a:xfrm>
          <a:prstGeom prst="rect">
            <a:avLst/>
          </a:prstGeom>
        </p:spPr>
        <p:txBody>
          <a:bodyPr wrap="square">
            <a:spAutoFit/>
          </a:bodyPr>
          <a:lstStyle/>
          <a:p>
            <a:r>
              <a:rPr lang="en-US" dirty="0">
                <a:latin typeface="Courier" pitchFamily="2" charset="0"/>
              </a:rPr>
              <a:t>void consumer(void) {</a:t>
            </a:r>
          </a:p>
          <a:p>
            <a:r>
              <a:rPr lang="en-US" dirty="0">
                <a:latin typeface="Courier" pitchFamily="2" charset="0"/>
              </a:rPr>
              <a:t>	</a:t>
            </a:r>
            <a:r>
              <a:rPr lang="en-US" dirty="0" err="1">
                <a:solidFill>
                  <a:schemeClr val="accent1"/>
                </a:solidFill>
                <a:latin typeface="Courier" pitchFamily="2" charset="0"/>
              </a:rPr>
              <a:t>sem_wait</a:t>
            </a:r>
            <a:r>
              <a:rPr lang="en-US" dirty="0">
                <a:latin typeface="Courier" pitchFamily="2" charset="0"/>
              </a:rPr>
              <a:t>(&amp;</a:t>
            </a:r>
            <a:r>
              <a:rPr lang="en-US" dirty="0" err="1">
                <a:latin typeface="Courier" pitchFamily="2" charset="0"/>
              </a:rPr>
              <a:t>filled_slot_sem</a:t>
            </a:r>
            <a:r>
              <a:rPr lang="en-US" dirty="0">
                <a:latin typeface="Courier" pitchFamily="2" charset="0"/>
              </a:rPr>
              <a:t>);</a:t>
            </a:r>
          </a:p>
          <a:p>
            <a:r>
              <a:rPr lang="en-US" dirty="0">
                <a:latin typeface="Courier" pitchFamily="2" charset="0"/>
              </a:rPr>
              <a:t>	</a:t>
            </a:r>
            <a:r>
              <a:rPr lang="en-US" dirty="0" err="1">
                <a:latin typeface="Courier" pitchFamily="2" charset="0"/>
              </a:rPr>
              <a:t>cur_msg</a:t>
            </a:r>
            <a:r>
              <a:rPr lang="en-US" dirty="0">
                <a:latin typeface="Courier" pitchFamily="2" charset="0"/>
              </a:rPr>
              <a:t> = </a:t>
            </a:r>
            <a:r>
              <a:rPr lang="en-US" dirty="0" err="1">
                <a:latin typeface="Courier" pitchFamily="2" charset="0"/>
              </a:rPr>
              <a:t>buffer_remove</a:t>
            </a:r>
            <a:r>
              <a:rPr lang="en-US" dirty="0">
                <a:latin typeface="Courier" pitchFamily="2" charset="0"/>
              </a:rPr>
              <a:t>(); 	</a:t>
            </a:r>
            <a:r>
              <a:rPr lang="en-US" dirty="0" err="1">
                <a:solidFill>
                  <a:schemeClr val="accent1"/>
                </a:solidFill>
                <a:latin typeface="Courier" pitchFamily="2" charset="0"/>
              </a:rPr>
              <a:t>sem_signal</a:t>
            </a:r>
            <a:r>
              <a:rPr lang="en-US" dirty="0">
                <a:latin typeface="Courier" pitchFamily="2" charset="0"/>
              </a:rPr>
              <a:t>(&amp;</a:t>
            </a:r>
            <a:r>
              <a:rPr lang="en-US" dirty="0" err="1">
                <a:latin typeface="Courier" pitchFamily="2" charset="0"/>
              </a:rPr>
              <a:t>empty_slot_sem</a:t>
            </a:r>
            <a:r>
              <a:rPr lang="en-US" dirty="0">
                <a:latin typeface="Courier" pitchFamily="2" charset="0"/>
              </a:rPr>
              <a:t>); 	</a:t>
            </a:r>
            <a:r>
              <a:rPr lang="en-US" dirty="0" err="1">
                <a:latin typeface="Courier" pitchFamily="2" charset="0"/>
              </a:rPr>
              <a:t>handle_msg</a:t>
            </a:r>
            <a:r>
              <a:rPr lang="en-US" dirty="0">
                <a:latin typeface="Courier" pitchFamily="2" charset="0"/>
              </a:rPr>
              <a:t>(</a:t>
            </a:r>
            <a:r>
              <a:rPr lang="en-US" dirty="0" err="1">
                <a:latin typeface="Courier" pitchFamily="2" charset="0"/>
              </a:rPr>
              <a:t>cur_msg</a:t>
            </a:r>
            <a:r>
              <a:rPr lang="en-US" dirty="0">
                <a:latin typeface="Courier" pitchFamily="2" charset="0"/>
              </a:rPr>
              <a:t>);</a:t>
            </a:r>
          </a:p>
          <a:p>
            <a:r>
              <a:rPr lang="en-US" dirty="0">
                <a:latin typeface="Courier" pitchFamily="2" charset="0"/>
              </a:rPr>
              <a:t>}</a:t>
            </a:r>
            <a:endParaRPr lang="en-CN">
              <a:latin typeface="Courier" pitchFamily="2" charset="0"/>
            </a:endParaRPr>
          </a:p>
        </p:txBody>
      </p:sp>
      <p:sp>
        <p:nvSpPr>
          <p:cNvPr id="11" name="Rectangle 10">
            <a:extLst>
              <a:ext uri="{FF2B5EF4-FFF2-40B4-BE49-F238E27FC236}">
                <a16:creationId xmlns:a16="http://schemas.microsoft.com/office/drawing/2014/main" id="{96F4477A-A1CF-3344-84EB-70166AC121D2}"/>
              </a:ext>
            </a:extLst>
          </p:cNvPr>
          <p:cNvSpPr/>
          <p:nvPr/>
        </p:nvSpPr>
        <p:spPr>
          <a:xfrm>
            <a:off x="6271433" y="1889761"/>
            <a:ext cx="2024913" cy="369332"/>
          </a:xfrm>
          <a:prstGeom prst="rect">
            <a:avLst/>
          </a:prstGeom>
        </p:spPr>
        <p:txBody>
          <a:bodyPr wrap="none">
            <a:spAutoFit/>
          </a:bodyPr>
          <a:lstStyle/>
          <a:p>
            <a:r>
              <a:rPr lang="zh-CN" altLang="en-US" dirty="0">
                <a:solidFill>
                  <a:schemeClr val="accent1"/>
                </a:solidFill>
                <a:latin typeface="Courier" pitchFamily="2" charset="0"/>
              </a:rPr>
              <a:t>消耗</a:t>
            </a:r>
            <a:r>
              <a:rPr lang="en-US" altLang="zh-CN" dirty="0" err="1">
                <a:solidFill>
                  <a:schemeClr val="accent1"/>
                </a:solidFill>
                <a:latin typeface="Courier" pitchFamily="2" charset="0"/>
              </a:rPr>
              <a:t>empty_slot</a:t>
            </a:r>
            <a:endParaRPr lang="en-CN">
              <a:solidFill>
                <a:schemeClr val="accent1"/>
              </a:solidFill>
              <a:latin typeface="Courier" pitchFamily="2" charset="0"/>
            </a:endParaRPr>
          </a:p>
        </p:txBody>
      </p:sp>
      <p:sp>
        <p:nvSpPr>
          <p:cNvPr id="12" name="Rectangle 11">
            <a:extLst>
              <a:ext uri="{FF2B5EF4-FFF2-40B4-BE49-F238E27FC236}">
                <a16:creationId xmlns:a16="http://schemas.microsoft.com/office/drawing/2014/main" id="{6B9950C3-1122-E94D-8703-4343893FEDB4}"/>
              </a:ext>
            </a:extLst>
          </p:cNvPr>
          <p:cNvSpPr/>
          <p:nvPr/>
        </p:nvSpPr>
        <p:spPr>
          <a:xfrm>
            <a:off x="6273809" y="2482860"/>
            <a:ext cx="2162772" cy="369332"/>
          </a:xfrm>
          <a:prstGeom prst="rect">
            <a:avLst/>
          </a:prstGeom>
        </p:spPr>
        <p:txBody>
          <a:bodyPr wrap="none">
            <a:spAutoFit/>
          </a:bodyPr>
          <a:lstStyle/>
          <a:p>
            <a:r>
              <a:rPr lang="zh-CN" altLang="en-US">
                <a:solidFill>
                  <a:schemeClr val="accent1"/>
                </a:solidFill>
                <a:latin typeface="Courier" pitchFamily="2" charset="0"/>
              </a:rPr>
              <a:t>增加</a:t>
            </a:r>
            <a:r>
              <a:rPr lang="en-US" altLang="zh-CN">
                <a:solidFill>
                  <a:schemeClr val="accent1"/>
                </a:solidFill>
                <a:latin typeface="Courier" pitchFamily="2" charset="0"/>
              </a:rPr>
              <a:t>filled_slot</a:t>
            </a:r>
            <a:endParaRPr lang="en-CN">
              <a:solidFill>
                <a:schemeClr val="accent1"/>
              </a:solidFill>
              <a:latin typeface="Courier" pitchFamily="2" charset="0"/>
            </a:endParaRPr>
          </a:p>
        </p:txBody>
      </p:sp>
      <p:sp>
        <p:nvSpPr>
          <p:cNvPr id="13" name="Rectangle 12">
            <a:extLst>
              <a:ext uri="{FF2B5EF4-FFF2-40B4-BE49-F238E27FC236}">
                <a16:creationId xmlns:a16="http://schemas.microsoft.com/office/drawing/2014/main" id="{BD7D6F5A-9460-1445-BBDD-48CE7C945E4D}"/>
              </a:ext>
            </a:extLst>
          </p:cNvPr>
          <p:cNvSpPr/>
          <p:nvPr/>
        </p:nvSpPr>
        <p:spPr>
          <a:xfrm>
            <a:off x="6287415" y="3535628"/>
            <a:ext cx="2162772" cy="369332"/>
          </a:xfrm>
          <a:prstGeom prst="rect">
            <a:avLst/>
          </a:prstGeom>
        </p:spPr>
        <p:txBody>
          <a:bodyPr wrap="none">
            <a:spAutoFit/>
          </a:bodyPr>
          <a:lstStyle/>
          <a:p>
            <a:r>
              <a:rPr lang="zh-CN" altLang="en-US">
                <a:solidFill>
                  <a:schemeClr val="accent1"/>
                </a:solidFill>
                <a:latin typeface="Courier" pitchFamily="2" charset="0"/>
              </a:rPr>
              <a:t>消耗</a:t>
            </a:r>
            <a:r>
              <a:rPr lang="en-US" altLang="zh-CN">
                <a:solidFill>
                  <a:schemeClr val="accent1"/>
                </a:solidFill>
                <a:latin typeface="Courier" pitchFamily="2" charset="0"/>
              </a:rPr>
              <a:t>filled_slot</a:t>
            </a:r>
            <a:endParaRPr lang="en-CN">
              <a:solidFill>
                <a:schemeClr val="accent1"/>
              </a:solidFill>
              <a:latin typeface="Courier" pitchFamily="2" charset="0"/>
            </a:endParaRPr>
          </a:p>
        </p:txBody>
      </p:sp>
      <p:sp>
        <p:nvSpPr>
          <p:cNvPr id="14" name="Rectangle 13">
            <a:extLst>
              <a:ext uri="{FF2B5EF4-FFF2-40B4-BE49-F238E27FC236}">
                <a16:creationId xmlns:a16="http://schemas.microsoft.com/office/drawing/2014/main" id="{5ACA4F1A-B21D-3D41-B357-1D55D057E5CE}"/>
              </a:ext>
            </a:extLst>
          </p:cNvPr>
          <p:cNvSpPr/>
          <p:nvPr/>
        </p:nvSpPr>
        <p:spPr>
          <a:xfrm>
            <a:off x="6271433" y="4235384"/>
            <a:ext cx="2024913" cy="369332"/>
          </a:xfrm>
          <a:prstGeom prst="rect">
            <a:avLst/>
          </a:prstGeom>
        </p:spPr>
        <p:txBody>
          <a:bodyPr wrap="none">
            <a:spAutoFit/>
          </a:bodyPr>
          <a:lstStyle/>
          <a:p>
            <a:r>
              <a:rPr lang="zh-CN" altLang="en-US">
                <a:solidFill>
                  <a:schemeClr val="accent1"/>
                </a:solidFill>
                <a:latin typeface="Courier" pitchFamily="2" charset="0"/>
              </a:rPr>
              <a:t>增加</a:t>
            </a:r>
            <a:r>
              <a:rPr lang="en-US" altLang="zh-CN">
                <a:solidFill>
                  <a:schemeClr val="accent1"/>
                </a:solidFill>
                <a:latin typeface="Courier" pitchFamily="2" charset="0"/>
              </a:rPr>
              <a:t>empty_slot</a:t>
            </a:r>
            <a:endParaRPr lang="en-CN">
              <a:solidFill>
                <a:schemeClr val="accent1"/>
              </a:solidFill>
              <a:latin typeface="Courier" pitchFamily="2" charset="0"/>
            </a:endParaRPr>
          </a:p>
        </p:txBody>
      </p:sp>
      <p:sp>
        <p:nvSpPr>
          <p:cNvPr id="6" name="Footer Placeholder 5">
            <a:extLst>
              <a:ext uri="{FF2B5EF4-FFF2-40B4-BE49-F238E27FC236}">
                <a16:creationId xmlns:a16="http://schemas.microsoft.com/office/drawing/2014/main" id="{39419E82-4823-2D4D-B976-E634A3E19C3C}"/>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E1265468-10D2-9544-B3DC-89EEB6EFBED9}"/>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15" name="文本框 14">
            <a:extLst>
              <a:ext uri="{FF2B5EF4-FFF2-40B4-BE49-F238E27FC236}">
                <a16:creationId xmlns:a16="http://schemas.microsoft.com/office/drawing/2014/main" id="{334319F6-DC92-F047-A2F4-7C9D7BE314A1}"/>
              </a:ext>
            </a:extLst>
          </p:cNvPr>
          <p:cNvSpPr txBox="1"/>
          <p:nvPr/>
        </p:nvSpPr>
        <p:spPr>
          <a:xfrm>
            <a:off x="4237997" y="308336"/>
            <a:ext cx="4852662" cy="646331"/>
          </a:xfrm>
          <a:prstGeom prst="rect">
            <a:avLst/>
          </a:prstGeom>
          <a:noFill/>
        </p:spPr>
        <p:txBody>
          <a:bodyPr wrap="square">
            <a:spAutoFit/>
          </a:bodyPr>
          <a:lstStyle/>
          <a:p>
            <a:r>
              <a:rPr lang="zh-CN" altLang="en-US" dirty="0">
                <a:latin typeface="Courier" pitchFamily="2" charset="0"/>
              </a:rPr>
              <a:t>为什么信号量没有</a:t>
            </a:r>
            <a:r>
              <a:rPr lang="en-US" altLang="zh-CN" dirty="0">
                <a:latin typeface="Courier" pitchFamily="2" charset="0"/>
              </a:rPr>
              <a:t>lost</a:t>
            </a:r>
            <a:r>
              <a:rPr lang="zh-CN" altLang="en-US" dirty="0">
                <a:latin typeface="Courier" pitchFamily="2" charset="0"/>
              </a:rPr>
              <a:t> </a:t>
            </a:r>
            <a:r>
              <a:rPr lang="en-US" altLang="zh-CN" dirty="0">
                <a:latin typeface="Courier" pitchFamily="2" charset="0"/>
              </a:rPr>
              <a:t>notification</a:t>
            </a:r>
            <a:r>
              <a:rPr lang="zh-CN" altLang="en-US" dirty="0">
                <a:latin typeface="Courier" pitchFamily="2" charset="0"/>
              </a:rPr>
              <a:t>的问题呢？因为</a:t>
            </a:r>
            <a:r>
              <a:rPr lang="en-US" altLang="zh-CN" dirty="0">
                <a:latin typeface="Courier" pitchFamily="2" charset="0"/>
              </a:rPr>
              <a:t>counter</a:t>
            </a:r>
            <a:r>
              <a:rPr lang="zh-CN" altLang="en-US" dirty="0">
                <a:latin typeface="Courier" pitchFamily="2" charset="0"/>
              </a:rPr>
              <a:t>会记录下</a:t>
            </a:r>
            <a:r>
              <a:rPr lang="en-US" altLang="zh-CN" dirty="0">
                <a:latin typeface="Courier" pitchFamily="2" charset="0"/>
              </a:rPr>
              <a:t>notification</a:t>
            </a:r>
            <a:endParaRPr lang="en-CN" altLang="zh-CN">
              <a:latin typeface="Courier" pitchFamily="2" charset="0"/>
            </a:endParaRPr>
          </a:p>
        </p:txBody>
      </p:sp>
    </p:spTree>
    <p:extLst>
      <p:ext uri="{BB962C8B-B14F-4D97-AF65-F5344CB8AC3E}">
        <p14:creationId xmlns:p14="http://schemas.microsoft.com/office/powerpoint/2010/main" val="2208257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回顾：信号量的基本语义</a:t>
            </a:r>
            <a:endParaRPr lang="en-CN" dirty="0"/>
          </a:p>
        </p:txBody>
      </p:sp>
      <p:sp>
        <p:nvSpPr>
          <p:cNvPr id="5" name="TextBox 4">
            <a:extLst>
              <a:ext uri="{FF2B5EF4-FFF2-40B4-BE49-F238E27FC236}">
                <a16:creationId xmlns:a16="http://schemas.microsoft.com/office/drawing/2014/main" id="{9F2E7298-0860-C04F-9E15-2A17F9EAF929}"/>
              </a:ext>
            </a:extLst>
          </p:cNvPr>
          <p:cNvSpPr txBox="1"/>
          <p:nvPr/>
        </p:nvSpPr>
        <p:spPr>
          <a:xfrm>
            <a:off x="3713871" y="991772"/>
            <a:ext cx="184731" cy="369332"/>
          </a:xfrm>
          <a:prstGeom prst="rect">
            <a:avLst/>
          </a:prstGeom>
          <a:noFill/>
        </p:spPr>
        <p:txBody>
          <a:bodyPr wrap="none" rtlCol="0">
            <a:spAutoFit/>
          </a:bodyPr>
          <a:lstStyle/>
          <a:p>
            <a:endParaRPr lang="en-CN"/>
          </a:p>
        </p:txBody>
      </p:sp>
      <p:sp>
        <p:nvSpPr>
          <p:cNvPr id="3" name="Rectangle 2">
            <a:extLst>
              <a:ext uri="{FF2B5EF4-FFF2-40B4-BE49-F238E27FC236}">
                <a16:creationId xmlns:a16="http://schemas.microsoft.com/office/drawing/2014/main" id="{2B893C58-8B04-134A-BC0C-09FE30F1344C}"/>
              </a:ext>
            </a:extLst>
          </p:cNvPr>
          <p:cNvSpPr/>
          <p:nvPr/>
        </p:nvSpPr>
        <p:spPr>
          <a:xfrm>
            <a:off x="2411760" y="1938337"/>
            <a:ext cx="4572000" cy="2585323"/>
          </a:xfrm>
          <a:prstGeom prst="rect">
            <a:avLst/>
          </a:prstGeom>
        </p:spPr>
        <p:txBody>
          <a:bodyPr>
            <a:spAutoFit/>
          </a:bodyPr>
          <a:lstStyle/>
          <a:p>
            <a:r>
              <a:rPr lang="en-CN">
                <a:latin typeface="Courier" pitchFamily="2" charset="0"/>
              </a:rPr>
              <a:t>void wait(int S) {</a:t>
            </a:r>
          </a:p>
          <a:p>
            <a:r>
              <a:rPr lang="en-CN">
                <a:latin typeface="Courier" pitchFamily="2" charset="0"/>
              </a:rPr>
              <a:t>	while(S &lt;= 0)</a:t>
            </a:r>
          </a:p>
          <a:p>
            <a:r>
              <a:rPr lang="en-CN">
                <a:latin typeface="Courier" pitchFamily="2" charset="0"/>
              </a:rPr>
              <a:t>		</a:t>
            </a:r>
            <a:r>
              <a:rPr lang="en-US" altLang="zh-CN" dirty="0">
                <a:latin typeface="Courier" pitchFamily="2" charset="0"/>
              </a:rPr>
              <a:t>/</a:t>
            </a:r>
            <a:r>
              <a:rPr lang="zh-CN" altLang="en-US" dirty="0">
                <a:latin typeface="Courier" pitchFamily="2" charset="0"/>
              </a:rPr>
              <a:t>* </a:t>
            </a:r>
            <a:r>
              <a:rPr lang="en-US" altLang="zh-CN" dirty="0">
                <a:latin typeface="Courier" pitchFamily="2" charset="0"/>
              </a:rPr>
              <a:t>Waiting */</a:t>
            </a:r>
            <a:r>
              <a:rPr lang="en-CN">
                <a:latin typeface="Courier" pitchFamily="2" charset="0"/>
              </a:rPr>
              <a:t>;</a:t>
            </a:r>
          </a:p>
          <a:p>
            <a:r>
              <a:rPr lang="en-CN">
                <a:latin typeface="Courier" pitchFamily="2" charset="0"/>
              </a:rPr>
              <a:t>	S--; </a:t>
            </a:r>
          </a:p>
          <a:p>
            <a:r>
              <a:rPr lang="en-CN">
                <a:latin typeface="Courier" pitchFamily="2" charset="0"/>
              </a:rPr>
              <a:t>} </a:t>
            </a:r>
          </a:p>
          <a:p>
            <a:endParaRPr lang="en-CN">
              <a:latin typeface="Courier" pitchFamily="2" charset="0"/>
            </a:endParaRPr>
          </a:p>
          <a:p>
            <a:r>
              <a:rPr lang="en-CN">
                <a:latin typeface="Courier" pitchFamily="2" charset="0"/>
              </a:rPr>
              <a:t>void signal(int S) {</a:t>
            </a:r>
          </a:p>
          <a:p>
            <a:r>
              <a:rPr lang="en-CN">
                <a:latin typeface="Courier" pitchFamily="2" charset="0"/>
              </a:rPr>
              <a:t>	S++;</a:t>
            </a:r>
          </a:p>
          <a:p>
            <a:r>
              <a:rPr lang="en-CN">
                <a:latin typeface="Courier" pitchFamily="2" charset="0"/>
              </a:rPr>
              <a:t>}</a:t>
            </a:r>
          </a:p>
        </p:txBody>
      </p:sp>
      <p:sp>
        <p:nvSpPr>
          <p:cNvPr id="7" name="Rectangle 6">
            <a:extLst>
              <a:ext uri="{FF2B5EF4-FFF2-40B4-BE49-F238E27FC236}">
                <a16:creationId xmlns:a16="http://schemas.microsoft.com/office/drawing/2014/main" id="{B5D71BC3-CAFF-7044-A7D2-6C4C686203FF}"/>
              </a:ext>
            </a:extLst>
          </p:cNvPr>
          <p:cNvSpPr/>
          <p:nvPr/>
        </p:nvSpPr>
        <p:spPr>
          <a:xfrm>
            <a:off x="755576" y="1569005"/>
            <a:ext cx="1107996" cy="369332"/>
          </a:xfrm>
          <a:prstGeom prst="rect">
            <a:avLst/>
          </a:prstGeom>
        </p:spPr>
        <p:txBody>
          <a:bodyPr wrap="none">
            <a:spAutoFit/>
          </a:bodyPr>
          <a:lstStyle/>
          <a:p>
            <a:r>
              <a:rPr lang="zh-CN" altLang="en-US">
                <a:latin typeface="Courier" pitchFamily="2" charset="0"/>
              </a:rPr>
              <a:t>语义上：</a:t>
            </a:r>
            <a:endParaRPr lang="en-CN"/>
          </a:p>
        </p:txBody>
      </p:sp>
      <p:sp>
        <p:nvSpPr>
          <p:cNvPr id="9" name="Rectangle 8">
            <a:extLst>
              <a:ext uri="{FF2B5EF4-FFF2-40B4-BE49-F238E27FC236}">
                <a16:creationId xmlns:a16="http://schemas.microsoft.com/office/drawing/2014/main" id="{8E00C3ED-9EDD-444F-8BED-ECA269DAAB71}"/>
              </a:ext>
            </a:extLst>
          </p:cNvPr>
          <p:cNvSpPr/>
          <p:nvPr/>
        </p:nvSpPr>
        <p:spPr>
          <a:xfrm>
            <a:off x="1871581" y="1046509"/>
            <a:ext cx="5400837" cy="369332"/>
          </a:xfrm>
          <a:prstGeom prst="rect">
            <a:avLst/>
          </a:prstGeom>
        </p:spPr>
        <p:txBody>
          <a:bodyPr wrap="none">
            <a:spAutoFit/>
          </a:bodyPr>
          <a:lstStyle/>
          <a:p>
            <a:r>
              <a:rPr lang="zh-CN" altLang="en-US" dirty="0">
                <a:latin typeface="Courier" pitchFamily="2" charset="0"/>
              </a:rPr>
              <a:t>通过计数器来协调（阻塞</a:t>
            </a:r>
            <a:r>
              <a:rPr lang="en-US" altLang="zh-CN" dirty="0">
                <a:latin typeface="Courier" pitchFamily="2" charset="0"/>
              </a:rPr>
              <a:t>/</a:t>
            </a:r>
            <a:r>
              <a:rPr lang="zh-CN" altLang="en-US" dirty="0">
                <a:latin typeface="Courier" pitchFamily="2" charset="0"/>
              </a:rPr>
              <a:t>放行）多个线程的执行。</a:t>
            </a:r>
            <a:endParaRPr lang="en-CN" dirty="0"/>
          </a:p>
        </p:txBody>
      </p:sp>
      <p:sp>
        <p:nvSpPr>
          <p:cNvPr id="10" name="Rectangle 9">
            <a:extLst>
              <a:ext uri="{FF2B5EF4-FFF2-40B4-BE49-F238E27FC236}">
                <a16:creationId xmlns:a16="http://schemas.microsoft.com/office/drawing/2014/main" id="{9077C0EB-7998-8B44-B7BC-64EA55318C85}"/>
              </a:ext>
            </a:extLst>
          </p:cNvPr>
          <p:cNvSpPr/>
          <p:nvPr/>
        </p:nvSpPr>
        <p:spPr>
          <a:xfrm>
            <a:off x="5722938" y="1874908"/>
            <a:ext cx="784189" cy="369332"/>
          </a:xfrm>
          <a:prstGeom prst="rect">
            <a:avLst/>
          </a:prstGeom>
        </p:spPr>
        <p:txBody>
          <a:bodyPr wrap="none">
            <a:spAutoFit/>
          </a:bodyPr>
          <a:lstStyle/>
          <a:p>
            <a:r>
              <a:rPr lang="en-CN" altLang="zh-CN">
                <a:latin typeface="Courier" pitchFamily="2" charset="0"/>
              </a:rPr>
              <a:t>P</a:t>
            </a:r>
            <a:r>
              <a:rPr lang="zh-CN" altLang="en-CN">
                <a:latin typeface="Courier" pitchFamily="2" charset="0"/>
              </a:rPr>
              <a:t>操作</a:t>
            </a:r>
            <a:endParaRPr lang="en-CN"/>
          </a:p>
        </p:txBody>
      </p:sp>
      <p:sp>
        <p:nvSpPr>
          <p:cNvPr id="11" name="Rectangle 10">
            <a:extLst>
              <a:ext uri="{FF2B5EF4-FFF2-40B4-BE49-F238E27FC236}">
                <a16:creationId xmlns:a16="http://schemas.microsoft.com/office/drawing/2014/main" id="{ADD39909-240A-BA44-AAA2-4026B00ED8B2}"/>
              </a:ext>
            </a:extLst>
          </p:cNvPr>
          <p:cNvSpPr/>
          <p:nvPr/>
        </p:nvSpPr>
        <p:spPr>
          <a:xfrm>
            <a:off x="5711271" y="3503512"/>
            <a:ext cx="784189" cy="369332"/>
          </a:xfrm>
          <a:prstGeom prst="rect">
            <a:avLst/>
          </a:prstGeom>
        </p:spPr>
        <p:txBody>
          <a:bodyPr wrap="none">
            <a:spAutoFit/>
          </a:bodyPr>
          <a:lstStyle/>
          <a:p>
            <a:r>
              <a:rPr lang="en-CN" altLang="zh-CN">
                <a:latin typeface="Courier" pitchFamily="2" charset="0"/>
              </a:rPr>
              <a:t>V</a:t>
            </a:r>
            <a:r>
              <a:rPr lang="zh-CN" altLang="en-CN">
                <a:latin typeface="Courier" pitchFamily="2" charset="0"/>
              </a:rPr>
              <a:t>操作</a:t>
            </a:r>
            <a:endParaRPr lang="en-CN"/>
          </a:p>
        </p:txBody>
      </p:sp>
      <p:sp>
        <p:nvSpPr>
          <p:cNvPr id="6" name="Footer Placeholder 5">
            <a:extLst>
              <a:ext uri="{FF2B5EF4-FFF2-40B4-BE49-F238E27FC236}">
                <a16:creationId xmlns:a16="http://schemas.microsoft.com/office/drawing/2014/main" id="{47EF0B72-07EC-B449-AEBD-18A16E90E28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FB7D55C2-2C06-3F46-97EA-AC95EA411648}"/>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12" name="Rectangle 11">
            <a:extLst>
              <a:ext uri="{FF2B5EF4-FFF2-40B4-BE49-F238E27FC236}">
                <a16:creationId xmlns:a16="http://schemas.microsoft.com/office/drawing/2014/main" id="{5D1A0444-125C-5348-99DA-FBD7D8984D2A}"/>
              </a:ext>
            </a:extLst>
          </p:cNvPr>
          <p:cNvSpPr/>
          <p:nvPr/>
        </p:nvSpPr>
        <p:spPr>
          <a:xfrm>
            <a:off x="2748423" y="4762784"/>
            <a:ext cx="3647152" cy="369332"/>
          </a:xfrm>
          <a:prstGeom prst="rect">
            <a:avLst/>
          </a:prstGeom>
        </p:spPr>
        <p:txBody>
          <a:bodyPr wrap="none">
            <a:spAutoFit/>
          </a:bodyPr>
          <a:lstStyle/>
          <a:p>
            <a:r>
              <a:rPr lang="zh-CN" altLang="en-CN" dirty="0">
                <a:solidFill>
                  <a:srgbClr val="FF0000"/>
                </a:solidFill>
                <a:latin typeface="Courier" pitchFamily="2" charset="0"/>
              </a:rPr>
              <a:t>这样</a:t>
            </a:r>
            <a:r>
              <a:rPr lang="zh-CN" altLang="en-US" dirty="0">
                <a:solidFill>
                  <a:srgbClr val="FF0000"/>
                </a:solidFill>
                <a:latin typeface="Courier" pitchFamily="2" charset="0"/>
              </a:rPr>
              <a:t>实现是否会有问题？为什么？</a:t>
            </a:r>
            <a:endParaRPr lang="en-CN" dirty="0">
              <a:solidFill>
                <a:srgbClr val="FF0000"/>
              </a:solidFill>
            </a:endParaRPr>
          </a:p>
        </p:txBody>
      </p:sp>
    </p:spTree>
    <p:extLst>
      <p:ext uri="{BB962C8B-B14F-4D97-AF65-F5344CB8AC3E}">
        <p14:creationId xmlns:p14="http://schemas.microsoft.com/office/powerpoint/2010/main" val="840325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回顾：信号量的基本语义</a:t>
            </a:r>
            <a:endParaRPr lang="en-CN" dirty="0"/>
          </a:p>
        </p:txBody>
      </p:sp>
      <p:sp>
        <p:nvSpPr>
          <p:cNvPr id="5" name="TextBox 4">
            <a:extLst>
              <a:ext uri="{FF2B5EF4-FFF2-40B4-BE49-F238E27FC236}">
                <a16:creationId xmlns:a16="http://schemas.microsoft.com/office/drawing/2014/main" id="{9F2E7298-0860-C04F-9E15-2A17F9EAF929}"/>
              </a:ext>
            </a:extLst>
          </p:cNvPr>
          <p:cNvSpPr txBox="1"/>
          <p:nvPr/>
        </p:nvSpPr>
        <p:spPr>
          <a:xfrm>
            <a:off x="3713871" y="991772"/>
            <a:ext cx="184731" cy="369332"/>
          </a:xfrm>
          <a:prstGeom prst="rect">
            <a:avLst/>
          </a:prstGeom>
          <a:noFill/>
        </p:spPr>
        <p:txBody>
          <a:bodyPr wrap="none" rtlCol="0">
            <a:spAutoFit/>
          </a:bodyPr>
          <a:lstStyle/>
          <a:p>
            <a:endParaRPr lang="en-CN"/>
          </a:p>
        </p:txBody>
      </p:sp>
      <p:sp>
        <p:nvSpPr>
          <p:cNvPr id="3" name="Rectangle 2">
            <a:extLst>
              <a:ext uri="{FF2B5EF4-FFF2-40B4-BE49-F238E27FC236}">
                <a16:creationId xmlns:a16="http://schemas.microsoft.com/office/drawing/2014/main" id="{2B893C58-8B04-134A-BC0C-09FE30F1344C}"/>
              </a:ext>
            </a:extLst>
          </p:cNvPr>
          <p:cNvSpPr/>
          <p:nvPr/>
        </p:nvSpPr>
        <p:spPr>
          <a:xfrm>
            <a:off x="2411760" y="1938337"/>
            <a:ext cx="4572000" cy="2585323"/>
          </a:xfrm>
          <a:prstGeom prst="rect">
            <a:avLst/>
          </a:prstGeom>
        </p:spPr>
        <p:txBody>
          <a:bodyPr>
            <a:spAutoFit/>
          </a:bodyPr>
          <a:lstStyle/>
          <a:p>
            <a:r>
              <a:rPr lang="en-CN" dirty="0">
                <a:latin typeface="Courier" pitchFamily="2" charset="0"/>
              </a:rPr>
              <a:t>void wait(int S) {</a:t>
            </a:r>
          </a:p>
          <a:p>
            <a:r>
              <a:rPr lang="en-CN" dirty="0">
                <a:latin typeface="Courier" pitchFamily="2" charset="0"/>
              </a:rPr>
              <a:t>	while(S &lt;= 0)</a:t>
            </a:r>
          </a:p>
          <a:p>
            <a:r>
              <a:rPr lang="en-CN" dirty="0">
                <a:latin typeface="Courier" pitchFamily="2" charset="0"/>
              </a:rPr>
              <a:t>		</a:t>
            </a:r>
            <a:r>
              <a:rPr lang="en-US" altLang="zh-CN" dirty="0">
                <a:latin typeface="Courier" pitchFamily="2" charset="0"/>
              </a:rPr>
              <a:t>/</a:t>
            </a:r>
            <a:r>
              <a:rPr lang="zh-CN" altLang="en-US" dirty="0">
                <a:latin typeface="Courier" pitchFamily="2" charset="0"/>
              </a:rPr>
              <a:t>* </a:t>
            </a:r>
            <a:r>
              <a:rPr lang="en-US" altLang="zh-CN" dirty="0">
                <a:latin typeface="Courier" pitchFamily="2" charset="0"/>
              </a:rPr>
              <a:t>Waiting */</a:t>
            </a:r>
            <a:r>
              <a:rPr lang="en-CN" dirty="0">
                <a:latin typeface="Courier" pitchFamily="2" charset="0"/>
              </a:rPr>
              <a:t>;</a:t>
            </a:r>
          </a:p>
          <a:p>
            <a:r>
              <a:rPr lang="en-CN" dirty="0">
                <a:latin typeface="Courier" pitchFamily="2" charset="0"/>
              </a:rPr>
              <a:t>	</a:t>
            </a:r>
            <a:r>
              <a:rPr lang="en-CN" dirty="0">
                <a:solidFill>
                  <a:srgbClr val="FF0000"/>
                </a:solidFill>
                <a:latin typeface="Courier" pitchFamily="2" charset="0"/>
              </a:rPr>
              <a:t>atomic_add(&amp;S, -1); </a:t>
            </a:r>
          </a:p>
          <a:p>
            <a:r>
              <a:rPr lang="en-CN" dirty="0">
                <a:latin typeface="Courier" pitchFamily="2" charset="0"/>
              </a:rPr>
              <a:t>} </a:t>
            </a:r>
          </a:p>
          <a:p>
            <a:endParaRPr lang="en-CN" dirty="0">
              <a:latin typeface="Courier" pitchFamily="2" charset="0"/>
            </a:endParaRPr>
          </a:p>
          <a:p>
            <a:r>
              <a:rPr lang="en-CN" dirty="0">
                <a:latin typeface="Courier" pitchFamily="2" charset="0"/>
              </a:rPr>
              <a:t>void signal(int S) {</a:t>
            </a:r>
          </a:p>
          <a:p>
            <a:r>
              <a:rPr lang="en-CN" dirty="0">
                <a:latin typeface="Courier" pitchFamily="2" charset="0"/>
              </a:rPr>
              <a:t>	</a:t>
            </a:r>
            <a:r>
              <a:rPr lang="en-CN" dirty="0">
                <a:solidFill>
                  <a:srgbClr val="FF0000"/>
                </a:solidFill>
                <a:latin typeface="Courier" pitchFamily="2" charset="0"/>
              </a:rPr>
              <a:t>atomic_add(&amp;S, 1); </a:t>
            </a:r>
          </a:p>
          <a:p>
            <a:r>
              <a:rPr lang="en-CN" dirty="0">
                <a:latin typeface="Courier" pitchFamily="2" charset="0"/>
              </a:rPr>
              <a:t>}</a:t>
            </a:r>
          </a:p>
        </p:txBody>
      </p:sp>
      <p:sp>
        <p:nvSpPr>
          <p:cNvPr id="7" name="Rectangle 6">
            <a:extLst>
              <a:ext uri="{FF2B5EF4-FFF2-40B4-BE49-F238E27FC236}">
                <a16:creationId xmlns:a16="http://schemas.microsoft.com/office/drawing/2014/main" id="{B5D71BC3-CAFF-7044-A7D2-6C4C686203FF}"/>
              </a:ext>
            </a:extLst>
          </p:cNvPr>
          <p:cNvSpPr/>
          <p:nvPr/>
        </p:nvSpPr>
        <p:spPr>
          <a:xfrm>
            <a:off x="755576" y="1569005"/>
            <a:ext cx="1107996" cy="369332"/>
          </a:xfrm>
          <a:prstGeom prst="rect">
            <a:avLst/>
          </a:prstGeom>
        </p:spPr>
        <p:txBody>
          <a:bodyPr wrap="none">
            <a:spAutoFit/>
          </a:bodyPr>
          <a:lstStyle/>
          <a:p>
            <a:r>
              <a:rPr lang="zh-CN" altLang="en-US">
                <a:latin typeface="Courier" pitchFamily="2" charset="0"/>
              </a:rPr>
              <a:t>语义上：</a:t>
            </a:r>
            <a:endParaRPr lang="en-CN"/>
          </a:p>
        </p:txBody>
      </p:sp>
      <p:sp>
        <p:nvSpPr>
          <p:cNvPr id="9" name="Rectangle 8">
            <a:extLst>
              <a:ext uri="{FF2B5EF4-FFF2-40B4-BE49-F238E27FC236}">
                <a16:creationId xmlns:a16="http://schemas.microsoft.com/office/drawing/2014/main" id="{8E00C3ED-9EDD-444F-8BED-ECA269DAAB71}"/>
              </a:ext>
            </a:extLst>
          </p:cNvPr>
          <p:cNvSpPr/>
          <p:nvPr/>
        </p:nvSpPr>
        <p:spPr>
          <a:xfrm>
            <a:off x="1871581" y="1046509"/>
            <a:ext cx="5400837" cy="369332"/>
          </a:xfrm>
          <a:prstGeom prst="rect">
            <a:avLst/>
          </a:prstGeom>
        </p:spPr>
        <p:txBody>
          <a:bodyPr wrap="none">
            <a:spAutoFit/>
          </a:bodyPr>
          <a:lstStyle/>
          <a:p>
            <a:r>
              <a:rPr lang="zh-CN" altLang="en-US" dirty="0">
                <a:latin typeface="Courier" pitchFamily="2" charset="0"/>
              </a:rPr>
              <a:t>通过计数器来协调（阻塞</a:t>
            </a:r>
            <a:r>
              <a:rPr lang="en-US" altLang="zh-CN" dirty="0">
                <a:latin typeface="Courier" pitchFamily="2" charset="0"/>
              </a:rPr>
              <a:t>/</a:t>
            </a:r>
            <a:r>
              <a:rPr lang="zh-CN" altLang="en-US" dirty="0">
                <a:latin typeface="Courier" pitchFamily="2" charset="0"/>
              </a:rPr>
              <a:t>放行）多个线程的执行。</a:t>
            </a:r>
            <a:endParaRPr lang="en-CN" dirty="0"/>
          </a:p>
        </p:txBody>
      </p:sp>
      <p:sp>
        <p:nvSpPr>
          <p:cNvPr id="10" name="Rectangle 9">
            <a:extLst>
              <a:ext uri="{FF2B5EF4-FFF2-40B4-BE49-F238E27FC236}">
                <a16:creationId xmlns:a16="http://schemas.microsoft.com/office/drawing/2014/main" id="{9077C0EB-7998-8B44-B7BC-64EA55318C85}"/>
              </a:ext>
            </a:extLst>
          </p:cNvPr>
          <p:cNvSpPr/>
          <p:nvPr/>
        </p:nvSpPr>
        <p:spPr>
          <a:xfrm>
            <a:off x="5722938" y="1874908"/>
            <a:ext cx="784189" cy="369332"/>
          </a:xfrm>
          <a:prstGeom prst="rect">
            <a:avLst/>
          </a:prstGeom>
        </p:spPr>
        <p:txBody>
          <a:bodyPr wrap="none">
            <a:spAutoFit/>
          </a:bodyPr>
          <a:lstStyle/>
          <a:p>
            <a:r>
              <a:rPr lang="en-CN" altLang="zh-CN">
                <a:latin typeface="Courier" pitchFamily="2" charset="0"/>
              </a:rPr>
              <a:t>P</a:t>
            </a:r>
            <a:r>
              <a:rPr lang="zh-CN" altLang="en-CN">
                <a:latin typeface="Courier" pitchFamily="2" charset="0"/>
              </a:rPr>
              <a:t>操作</a:t>
            </a:r>
            <a:endParaRPr lang="en-CN"/>
          </a:p>
        </p:txBody>
      </p:sp>
      <p:sp>
        <p:nvSpPr>
          <p:cNvPr id="11" name="Rectangle 10">
            <a:extLst>
              <a:ext uri="{FF2B5EF4-FFF2-40B4-BE49-F238E27FC236}">
                <a16:creationId xmlns:a16="http://schemas.microsoft.com/office/drawing/2014/main" id="{ADD39909-240A-BA44-AAA2-4026B00ED8B2}"/>
              </a:ext>
            </a:extLst>
          </p:cNvPr>
          <p:cNvSpPr/>
          <p:nvPr/>
        </p:nvSpPr>
        <p:spPr>
          <a:xfrm>
            <a:off x="5711271" y="3503512"/>
            <a:ext cx="784189" cy="369332"/>
          </a:xfrm>
          <a:prstGeom prst="rect">
            <a:avLst/>
          </a:prstGeom>
        </p:spPr>
        <p:txBody>
          <a:bodyPr wrap="none">
            <a:spAutoFit/>
          </a:bodyPr>
          <a:lstStyle/>
          <a:p>
            <a:r>
              <a:rPr lang="en-CN" altLang="zh-CN">
                <a:latin typeface="Courier" pitchFamily="2" charset="0"/>
              </a:rPr>
              <a:t>V</a:t>
            </a:r>
            <a:r>
              <a:rPr lang="zh-CN" altLang="en-CN">
                <a:latin typeface="Courier" pitchFamily="2" charset="0"/>
              </a:rPr>
              <a:t>操作</a:t>
            </a:r>
            <a:endParaRPr lang="en-CN"/>
          </a:p>
        </p:txBody>
      </p:sp>
      <p:sp>
        <p:nvSpPr>
          <p:cNvPr id="6" name="Footer Placeholder 5">
            <a:extLst>
              <a:ext uri="{FF2B5EF4-FFF2-40B4-BE49-F238E27FC236}">
                <a16:creationId xmlns:a16="http://schemas.microsoft.com/office/drawing/2014/main" id="{47EF0B72-07EC-B449-AEBD-18A16E90E28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FB7D55C2-2C06-3F46-97EA-AC95EA411648}"/>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12" name="Rectangle 11">
            <a:extLst>
              <a:ext uri="{FF2B5EF4-FFF2-40B4-BE49-F238E27FC236}">
                <a16:creationId xmlns:a16="http://schemas.microsoft.com/office/drawing/2014/main" id="{5D1A0444-125C-5348-99DA-FBD7D8984D2A}"/>
              </a:ext>
            </a:extLst>
          </p:cNvPr>
          <p:cNvSpPr/>
          <p:nvPr/>
        </p:nvSpPr>
        <p:spPr>
          <a:xfrm>
            <a:off x="2748423" y="4762784"/>
            <a:ext cx="3877985" cy="369332"/>
          </a:xfrm>
          <a:prstGeom prst="rect">
            <a:avLst/>
          </a:prstGeom>
        </p:spPr>
        <p:txBody>
          <a:bodyPr wrap="none">
            <a:spAutoFit/>
          </a:bodyPr>
          <a:lstStyle/>
          <a:p>
            <a:r>
              <a:rPr lang="en-CN" dirty="0">
                <a:solidFill>
                  <a:srgbClr val="FF0000"/>
                </a:solidFill>
              </a:rPr>
              <a:t>使用原子操作后呢</a:t>
            </a:r>
            <a:r>
              <a:rPr lang="zh-CN" altLang="en-US" dirty="0">
                <a:solidFill>
                  <a:srgbClr val="FF0000"/>
                </a:solidFill>
              </a:rPr>
              <a:t>？是否还有问题？</a:t>
            </a:r>
            <a:endParaRPr lang="en-CN" dirty="0">
              <a:solidFill>
                <a:srgbClr val="FF0000"/>
              </a:solidFill>
            </a:endParaRPr>
          </a:p>
        </p:txBody>
      </p:sp>
    </p:spTree>
    <p:extLst>
      <p:ext uri="{BB962C8B-B14F-4D97-AF65-F5344CB8AC3E}">
        <p14:creationId xmlns:p14="http://schemas.microsoft.com/office/powerpoint/2010/main" val="489278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信号量的错误实现</a:t>
            </a:r>
            <a:endParaRPr lang="en-CN" b="0" dirty="0"/>
          </a:p>
        </p:txBody>
      </p:sp>
      <p:sp>
        <p:nvSpPr>
          <p:cNvPr id="5" name="TextBox 4">
            <a:extLst>
              <a:ext uri="{FF2B5EF4-FFF2-40B4-BE49-F238E27FC236}">
                <a16:creationId xmlns:a16="http://schemas.microsoft.com/office/drawing/2014/main" id="{9F2E7298-0860-C04F-9E15-2A17F9EAF929}"/>
              </a:ext>
            </a:extLst>
          </p:cNvPr>
          <p:cNvSpPr txBox="1"/>
          <p:nvPr/>
        </p:nvSpPr>
        <p:spPr>
          <a:xfrm>
            <a:off x="3610300" y="2071344"/>
            <a:ext cx="184731" cy="369332"/>
          </a:xfrm>
          <a:prstGeom prst="rect">
            <a:avLst/>
          </a:prstGeom>
          <a:noFill/>
        </p:spPr>
        <p:txBody>
          <a:bodyPr wrap="none" rtlCol="0">
            <a:spAutoFit/>
          </a:bodyPr>
          <a:lstStyle/>
          <a:p>
            <a:endParaRPr lang="en-CN"/>
          </a:p>
        </p:txBody>
      </p:sp>
      <p:sp>
        <p:nvSpPr>
          <p:cNvPr id="3" name="Rectangle 2">
            <a:extLst>
              <a:ext uri="{FF2B5EF4-FFF2-40B4-BE49-F238E27FC236}">
                <a16:creationId xmlns:a16="http://schemas.microsoft.com/office/drawing/2014/main" id="{2B893C58-8B04-134A-BC0C-09FE30F1344C}"/>
              </a:ext>
            </a:extLst>
          </p:cNvPr>
          <p:cNvSpPr/>
          <p:nvPr/>
        </p:nvSpPr>
        <p:spPr>
          <a:xfrm>
            <a:off x="5652120" y="193204"/>
            <a:ext cx="3528392" cy="1384995"/>
          </a:xfrm>
          <a:prstGeom prst="rect">
            <a:avLst/>
          </a:prstGeom>
        </p:spPr>
        <p:txBody>
          <a:bodyPr wrap="square">
            <a:spAutoFit/>
          </a:bodyPr>
          <a:lstStyle/>
          <a:p>
            <a:r>
              <a:rPr lang="en-CN" sz="1200" dirty="0">
                <a:latin typeface="Courier" pitchFamily="2" charset="0"/>
              </a:rPr>
              <a:t>void wait(int S) {</a:t>
            </a:r>
          </a:p>
          <a:p>
            <a:r>
              <a:rPr lang="zh-CN" altLang="en-US" sz="1200" dirty="0">
                <a:latin typeface="Courier" pitchFamily="2" charset="0"/>
              </a:rPr>
              <a:t>    </a:t>
            </a:r>
            <a:r>
              <a:rPr lang="en-CN" sz="1200">
                <a:latin typeface="Courier" pitchFamily="2" charset="0"/>
              </a:rPr>
              <a:t>while</a:t>
            </a:r>
            <a:r>
              <a:rPr lang="en-CN" sz="1200" dirty="0">
                <a:latin typeface="Courier" pitchFamily="2" charset="0"/>
              </a:rPr>
              <a:t>(S &lt;= 0)</a:t>
            </a:r>
            <a:r>
              <a:rPr lang="zh-CN" altLang="en-US" sz="1200" dirty="0">
                <a:latin typeface="Courier" pitchFamily="2" charset="0"/>
              </a:rPr>
              <a:t> </a:t>
            </a:r>
            <a:r>
              <a:rPr lang="en-US" altLang="zh-CN" sz="1200" dirty="0">
                <a:latin typeface="Courier" pitchFamily="2" charset="0"/>
              </a:rPr>
              <a:t>/</a:t>
            </a:r>
            <a:r>
              <a:rPr lang="zh-CN" altLang="en-US" sz="1200" dirty="0">
                <a:latin typeface="Courier" pitchFamily="2" charset="0"/>
              </a:rPr>
              <a:t>* </a:t>
            </a:r>
            <a:r>
              <a:rPr lang="en-US" altLang="zh-CN" sz="1200" dirty="0">
                <a:latin typeface="Courier" pitchFamily="2" charset="0"/>
              </a:rPr>
              <a:t>Waiting */</a:t>
            </a:r>
            <a:r>
              <a:rPr lang="en-CN" sz="1200" dirty="0">
                <a:latin typeface="Courier" pitchFamily="2" charset="0"/>
              </a:rPr>
              <a:t>;</a:t>
            </a:r>
          </a:p>
          <a:p>
            <a:r>
              <a:rPr lang="zh-CN" altLang="en-US" sz="1200" dirty="0">
                <a:solidFill>
                  <a:srgbClr val="FF0000"/>
                </a:solidFill>
                <a:latin typeface="Courier" pitchFamily="2" charset="0"/>
              </a:rPr>
              <a:t>    </a:t>
            </a:r>
            <a:r>
              <a:rPr lang="en-CN" sz="1200">
                <a:solidFill>
                  <a:srgbClr val="FF0000"/>
                </a:solidFill>
                <a:latin typeface="Courier" pitchFamily="2" charset="0"/>
              </a:rPr>
              <a:t>atomic</a:t>
            </a:r>
            <a:r>
              <a:rPr lang="en-CN" sz="1200" dirty="0">
                <a:solidFill>
                  <a:srgbClr val="FF0000"/>
                </a:solidFill>
                <a:latin typeface="Courier" pitchFamily="2" charset="0"/>
              </a:rPr>
              <a:t>_add(&amp;S, -1); </a:t>
            </a:r>
          </a:p>
          <a:p>
            <a:r>
              <a:rPr lang="en-CN" sz="1200" dirty="0">
                <a:latin typeface="Courier" pitchFamily="2" charset="0"/>
              </a:rPr>
              <a:t>}</a:t>
            </a:r>
          </a:p>
          <a:p>
            <a:r>
              <a:rPr lang="en-CN" sz="1200" dirty="0">
                <a:latin typeface="Courier" pitchFamily="2" charset="0"/>
              </a:rPr>
              <a:t>void signal(int S) {</a:t>
            </a:r>
          </a:p>
          <a:p>
            <a:r>
              <a:rPr lang="zh-CN" altLang="en-US" sz="1200" dirty="0">
                <a:solidFill>
                  <a:srgbClr val="FF0000"/>
                </a:solidFill>
                <a:latin typeface="Courier" pitchFamily="2" charset="0"/>
              </a:rPr>
              <a:t>    </a:t>
            </a:r>
            <a:r>
              <a:rPr lang="en-CN" sz="1200">
                <a:solidFill>
                  <a:srgbClr val="FF0000"/>
                </a:solidFill>
                <a:latin typeface="Courier" pitchFamily="2" charset="0"/>
              </a:rPr>
              <a:t>atomic</a:t>
            </a:r>
            <a:r>
              <a:rPr lang="en-CN" sz="1200" dirty="0">
                <a:solidFill>
                  <a:srgbClr val="FF0000"/>
                </a:solidFill>
                <a:latin typeface="Courier" pitchFamily="2" charset="0"/>
              </a:rPr>
              <a:t>_add(&amp;S, 1); </a:t>
            </a:r>
          </a:p>
          <a:p>
            <a:r>
              <a:rPr lang="en-CN" sz="1200" dirty="0">
                <a:latin typeface="Courier" pitchFamily="2" charset="0"/>
              </a:rPr>
              <a:t>}</a:t>
            </a:r>
          </a:p>
        </p:txBody>
      </p:sp>
      <p:sp>
        <p:nvSpPr>
          <p:cNvPr id="4" name="Slide Number Placeholder 3">
            <a:extLst>
              <a:ext uri="{FF2B5EF4-FFF2-40B4-BE49-F238E27FC236}">
                <a16:creationId xmlns:a16="http://schemas.microsoft.com/office/drawing/2014/main" id="{FB7D55C2-2C06-3F46-97EA-AC95EA411648}"/>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13" name="Rectangle 12">
            <a:extLst>
              <a:ext uri="{FF2B5EF4-FFF2-40B4-BE49-F238E27FC236}">
                <a16:creationId xmlns:a16="http://schemas.microsoft.com/office/drawing/2014/main" id="{BF24402B-4E76-A243-B94D-545145196BB2}"/>
              </a:ext>
            </a:extLst>
          </p:cNvPr>
          <p:cNvSpPr/>
          <p:nvPr/>
        </p:nvSpPr>
        <p:spPr>
          <a:xfrm>
            <a:off x="1084053" y="2220371"/>
            <a:ext cx="784189" cy="369332"/>
          </a:xfrm>
          <a:prstGeom prst="rect">
            <a:avLst/>
          </a:prstGeom>
        </p:spPr>
        <p:txBody>
          <a:bodyPr wrap="none">
            <a:spAutoFit/>
          </a:bodyPr>
          <a:lstStyle/>
          <a:p>
            <a:r>
              <a:rPr lang="zh-CN" altLang="en-US" dirty="0">
                <a:latin typeface="Courier" pitchFamily="2" charset="0"/>
              </a:rPr>
              <a:t>线程</a:t>
            </a:r>
            <a:r>
              <a:rPr lang="en-US" altLang="zh-CN" dirty="0">
                <a:latin typeface="Courier" pitchFamily="2" charset="0"/>
              </a:rPr>
              <a:t>0</a:t>
            </a:r>
            <a:endParaRPr lang="en-CN" dirty="0"/>
          </a:p>
        </p:txBody>
      </p:sp>
      <p:sp>
        <p:nvSpPr>
          <p:cNvPr id="14" name="Rectangle 13">
            <a:extLst>
              <a:ext uri="{FF2B5EF4-FFF2-40B4-BE49-F238E27FC236}">
                <a16:creationId xmlns:a16="http://schemas.microsoft.com/office/drawing/2014/main" id="{768FC2E3-056D-204E-89D2-5788C5121489}"/>
              </a:ext>
            </a:extLst>
          </p:cNvPr>
          <p:cNvSpPr/>
          <p:nvPr/>
        </p:nvSpPr>
        <p:spPr>
          <a:xfrm>
            <a:off x="3795031" y="2208880"/>
            <a:ext cx="784189" cy="369332"/>
          </a:xfrm>
          <a:prstGeom prst="rect">
            <a:avLst/>
          </a:prstGeom>
        </p:spPr>
        <p:txBody>
          <a:bodyPr wrap="none">
            <a:spAutoFit/>
          </a:bodyPr>
          <a:lstStyle/>
          <a:p>
            <a:r>
              <a:rPr lang="zh-CN" altLang="en-US" dirty="0">
                <a:latin typeface="Courier" pitchFamily="2" charset="0"/>
              </a:rPr>
              <a:t>线程</a:t>
            </a:r>
            <a:r>
              <a:rPr lang="en-US" altLang="zh-CN" dirty="0">
                <a:latin typeface="Courier" pitchFamily="2" charset="0"/>
              </a:rPr>
              <a:t>1</a:t>
            </a:r>
            <a:endParaRPr lang="en-CN" dirty="0"/>
          </a:p>
        </p:txBody>
      </p:sp>
      <p:sp>
        <p:nvSpPr>
          <p:cNvPr id="15" name="Rectangle 14">
            <a:extLst>
              <a:ext uri="{FF2B5EF4-FFF2-40B4-BE49-F238E27FC236}">
                <a16:creationId xmlns:a16="http://schemas.microsoft.com/office/drawing/2014/main" id="{EA1F32B6-A901-0B43-A0FD-0EBC18368607}"/>
              </a:ext>
            </a:extLst>
          </p:cNvPr>
          <p:cNvSpPr/>
          <p:nvPr/>
        </p:nvSpPr>
        <p:spPr>
          <a:xfrm>
            <a:off x="6732240" y="2220371"/>
            <a:ext cx="784189" cy="369332"/>
          </a:xfrm>
          <a:prstGeom prst="rect">
            <a:avLst/>
          </a:prstGeom>
        </p:spPr>
        <p:txBody>
          <a:bodyPr wrap="none">
            <a:spAutoFit/>
          </a:bodyPr>
          <a:lstStyle/>
          <a:p>
            <a:r>
              <a:rPr lang="zh-CN" altLang="en-US" dirty="0">
                <a:latin typeface="Courier" pitchFamily="2" charset="0"/>
              </a:rPr>
              <a:t>线程</a:t>
            </a:r>
            <a:r>
              <a:rPr lang="en-US" altLang="zh-CN" dirty="0">
                <a:latin typeface="Courier" pitchFamily="2" charset="0"/>
              </a:rPr>
              <a:t>2</a:t>
            </a:r>
            <a:endParaRPr lang="en-CN" dirty="0"/>
          </a:p>
        </p:txBody>
      </p:sp>
      <p:sp>
        <p:nvSpPr>
          <p:cNvPr id="8" name="Rectangle 7">
            <a:extLst>
              <a:ext uri="{FF2B5EF4-FFF2-40B4-BE49-F238E27FC236}">
                <a16:creationId xmlns:a16="http://schemas.microsoft.com/office/drawing/2014/main" id="{622D1B24-8EF8-AE48-A71B-BD831EA29609}"/>
              </a:ext>
            </a:extLst>
          </p:cNvPr>
          <p:cNvSpPr/>
          <p:nvPr/>
        </p:nvSpPr>
        <p:spPr>
          <a:xfrm>
            <a:off x="3336570" y="2992224"/>
            <a:ext cx="1701107" cy="369332"/>
          </a:xfrm>
          <a:prstGeom prst="rect">
            <a:avLst/>
          </a:prstGeom>
        </p:spPr>
        <p:txBody>
          <a:bodyPr wrap="none">
            <a:spAutoFit/>
          </a:bodyPr>
          <a:lstStyle/>
          <a:p>
            <a:r>
              <a:rPr lang="en-CN" dirty="0">
                <a:latin typeface="Courier" pitchFamily="2" charset="0"/>
              </a:rPr>
              <a:t>wait(</a:t>
            </a:r>
            <a:r>
              <a:rPr lang="en-US" dirty="0" err="1">
                <a:latin typeface="Courier" pitchFamily="2" charset="0"/>
              </a:rPr>
              <a:t>sem</a:t>
            </a:r>
            <a:r>
              <a:rPr lang="en-CN" dirty="0">
                <a:latin typeface="Courier" pitchFamily="2" charset="0"/>
              </a:rPr>
              <a:t>); </a:t>
            </a:r>
            <a:endParaRPr lang="en-CN" dirty="0"/>
          </a:p>
        </p:txBody>
      </p:sp>
      <p:sp>
        <p:nvSpPr>
          <p:cNvPr id="16" name="Rectangle 15">
            <a:extLst>
              <a:ext uri="{FF2B5EF4-FFF2-40B4-BE49-F238E27FC236}">
                <a16:creationId xmlns:a16="http://schemas.microsoft.com/office/drawing/2014/main" id="{A16110E7-01E7-664C-B9ED-42934A5A7D32}"/>
              </a:ext>
            </a:extLst>
          </p:cNvPr>
          <p:cNvSpPr/>
          <p:nvPr/>
        </p:nvSpPr>
        <p:spPr>
          <a:xfrm>
            <a:off x="6273780" y="2992224"/>
            <a:ext cx="1701107" cy="369332"/>
          </a:xfrm>
          <a:prstGeom prst="rect">
            <a:avLst/>
          </a:prstGeom>
        </p:spPr>
        <p:txBody>
          <a:bodyPr wrap="none">
            <a:spAutoFit/>
          </a:bodyPr>
          <a:lstStyle/>
          <a:p>
            <a:r>
              <a:rPr lang="en-CN" dirty="0">
                <a:latin typeface="Courier" pitchFamily="2" charset="0"/>
              </a:rPr>
              <a:t>wait(</a:t>
            </a:r>
            <a:r>
              <a:rPr lang="en-US" dirty="0" err="1">
                <a:latin typeface="Courier" pitchFamily="2" charset="0"/>
              </a:rPr>
              <a:t>sem</a:t>
            </a:r>
            <a:r>
              <a:rPr lang="en-CN" dirty="0">
                <a:latin typeface="Courier" pitchFamily="2" charset="0"/>
              </a:rPr>
              <a:t>); </a:t>
            </a:r>
            <a:endParaRPr lang="en-CN" dirty="0"/>
          </a:p>
        </p:txBody>
      </p:sp>
      <p:sp>
        <p:nvSpPr>
          <p:cNvPr id="17" name="Rectangle 16">
            <a:extLst>
              <a:ext uri="{FF2B5EF4-FFF2-40B4-BE49-F238E27FC236}">
                <a16:creationId xmlns:a16="http://schemas.microsoft.com/office/drawing/2014/main" id="{8EDD165C-8603-2940-BE70-00217182E155}"/>
              </a:ext>
            </a:extLst>
          </p:cNvPr>
          <p:cNvSpPr/>
          <p:nvPr/>
        </p:nvSpPr>
        <p:spPr>
          <a:xfrm>
            <a:off x="3219552" y="1514295"/>
            <a:ext cx="1935145" cy="369332"/>
          </a:xfrm>
          <a:prstGeom prst="rect">
            <a:avLst/>
          </a:prstGeom>
        </p:spPr>
        <p:txBody>
          <a:bodyPr wrap="none">
            <a:spAutoFit/>
          </a:bodyPr>
          <a:lstStyle/>
          <a:p>
            <a:r>
              <a:rPr lang="en-US" altLang="zh-CN" dirty="0" err="1">
                <a:latin typeface="Courier" pitchFamily="2" charset="0"/>
              </a:rPr>
              <a:t>sem</a:t>
            </a:r>
            <a:r>
              <a:rPr lang="en-US" altLang="zh-CN" dirty="0">
                <a:latin typeface="Courier" pitchFamily="2" charset="0"/>
              </a:rPr>
              <a:t> </a:t>
            </a:r>
            <a:r>
              <a:rPr lang="zh-CN" altLang="en-US" dirty="0">
                <a:latin typeface="Courier" pitchFamily="2" charset="0"/>
              </a:rPr>
              <a:t>初始值为 </a:t>
            </a:r>
            <a:r>
              <a:rPr lang="en-US" altLang="zh-CN" dirty="0">
                <a:latin typeface="Courier" pitchFamily="2" charset="0"/>
              </a:rPr>
              <a:t>1</a:t>
            </a:r>
            <a:endParaRPr lang="en-CN" dirty="0"/>
          </a:p>
        </p:txBody>
      </p:sp>
      <p:sp>
        <p:nvSpPr>
          <p:cNvPr id="19" name="Rectangle 18">
            <a:extLst>
              <a:ext uri="{FF2B5EF4-FFF2-40B4-BE49-F238E27FC236}">
                <a16:creationId xmlns:a16="http://schemas.microsoft.com/office/drawing/2014/main" id="{699D28DF-D2E4-0B48-86FE-D3C24EF7014E}"/>
              </a:ext>
            </a:extLst>
          </p:cNvPr>
          <p:cNvSpPr/>
          <p:nvPr/>
        </p:nvSpPr>
        <p:spPr>
          <a:xfrm>
            <a:off x="625593" y="3208248"/>
            <a:ext cx="1701107" cy="369332"/>
          </a:xfrm>
          <a:prstGeom prst="rect">
            <a:avLst/>
          </a:prstGeom>
        </p:spPr>
        <p:txBody>
          <a:bodyPr wrap="none">
            <a:spAutoFit/>
          </a:bodyPr>
          <a:lstStyle/>
          <a:p>
            <a:r>
              <a:rPr lang="en-US" altLang="zh-CN" dirty="0">
                <a:latin typeface="Courier" pitchFamily="2" charset="0"/>
              </a:rPr>
              <a:t>signal(</a:t>
            </a:r>
            <a:r>
              <a:rPr lang="en-US" altLang="zh-CN" dirty="0" err="1">
                <a:latin typeface="Courier" pitchFamily="2" charset="0"/>
              </a:rPr>
              <a:t>sem</a:t>
            </a:r>
            <a:r>
              <a:rPr lang="en-US" altLang="zh-CN" dirty="0">
                <a:latin typeface="Courier" pitchFamily="2" charset="0"/>
              </a:rPr>
              <a:t>)</a:t>
            </a:r>
            <a:endParaRPr lang="en-CN" dirty="0"/>
          </a:p>
        </p:txBody>
      </p:sp>
      <p:sp>
        <p:nvSpPr>
          <p:cNvPr id="20" name="Rectangle 19">
            <a:extLst>
              <a:ext uri="{FF2B5EF4-FFF2-40B4-BE49-F238E27FC236}">
                <a16:creationId xmlns:a16="http://schemas.microsoft.com/office/drawing/2014/main" id="{E2B5C2FC-F603-504D-9E0A-DD1E549638A8}"/>
              </a:ext>
            </a:extLst>
          </p:cNvPr>
          <p:cNvSpPr/>
          <p:nvPr/>
        </p:nvSpPr>
        <p:spPr>
          <a:xfrm>
            <a:off x="3288479" y="3505572"/>
            <a:ext cx="1797287" cy="369332"/>
          </a:xfrm>
          <a:prstGeom prst="rect">
            <a:avLst/>
          </a:prstGeom>
        </p:spPr>
        <p:txBody>
          <a:bodyPr wrap="none">
            <a:spAutoFit/>
          </a:bodyPr>
          <a:lstStyle/>
          <a:p>
            <a:r>
              <a:rPr lang="zh-CN" altLang="en-US" dirty="0">
                <a:latin typeface="Courier" pitchFamily="2" charset="0"/>
              </a:rPr>
              <a:t>离开</a:t>
            </a:r>
            <a:r>
              <a:rPr lang="en-US" altLang="zh-CN" dirty="0">
                <a:latin typeface="Courier" pitchFamily="2" charset="0"/>
              </a:rPr>
              <a:t>while</a:t>
            </a:r>
            <a:r>
              <a:rPr lang="zh-CN" altLang="en-US" dirty="0">
                <a:latin typeface="Courier" pitchFamily="2" charset="0"/>
              </a:rPr>
              <a:t>循环</a:t>
            </a:r>
            <a:endParaRPr lang="en-CN" dirty="0"/>
          </a:p>
        </p:txBody>
      </p:sp>
      <p:sp>
        <p:nvSpPr>
          <p:cNvPr id="21" name="Rectangle 20">
            <a:extLst>
              <a:ext uri="{FF2B5EF4-FFF2-40B4-BE49-F238E27FC236}">
                <a16:creationId xmlns:a16="http://schemas.microsoft.com/office/drawing/2014/main" id="{9ED21E83-9723-F644-9405-FC7E01B7A883}"/>
              </a:ext>
            </a:extLst>
          </p:cNvPr>
          <p:cNvSpPr/>
          <p:nvPr/>
        </p:nvSpPr>
        <p:spPr>
          <a:xfrm>
            <a:off x="6225689" y="3529577"/>
            <a:ext cx="1797287" cy="369332"/>
          </a:xfrm>
          <a:prstGeom prst="rect">
            <a:avLst/>
          </a:prstGeom>
        </p:spPr>
        <p:txBody>
          <a:bodyPr wrap="none">
            <a:spAutoFit/>
          </a:bodyPr>
          <a:lstStyle/>
          <a:p>
            <a:r>
              <a:rPr lang="zh-CN" altLang="en-US" dirty="0">
                <a:latin typeface="Courier" pitchFamily="2" charset="0"/>
              </a:rPr>
              <a:t>离开</a:t>
            </a:r>
            <a:r>
              <a:rPr lang="en-US" altLang="zh-CN" dirty="0">
                <a:latin typeface="Courier" pitchFamily="2" charset="0"/>
              </a:rPr>
              <a:t>while</a:t>
            </a:r>
            <a:r>
              <a:rPr lang="zh-CN" altLang="en-US" dirty="0">
                <a:latin typeface="Courier" pitchFamily="2" charset="0"/>
              </a:rPr>
              <a:t>循环</a:t>
            </a:r>
            <a:endParaRPr lang="en-CN" dirty="0"/>
          </a:p>
        </p:txBody>
      </p:sp>
      <p:sp>
        <p:nvSpPr>
          <p:cNvPr id="22" name="Rectangle 21">
            <a:extLst>
              <a:ext uri="{FF2B5EF4-FFF2-40B4-BE49-F238E27FC236}">
                <a16:creationId xmlns:a16="http://schemas.microsoft.com/office/drawing/2014/main" id="{2A218DF1-3B20-BD42-B71F-312D2E1A4963}"/>
              </a:ext>
            </a:extLst>
          </p:cNvPr>
          <p:cNvSpPr/>
          <p:nvPr/>
        </p:nvSpPr>
        <p:spPr>
          <a:xfrm>
            <a:off x="2578348" y="4043762"/>
            <a:ext cx="3217547" cy="369332"/>
          </a:xfrm>
          <a:prstGeom prst="rect">
            <a:avLst/>
          </a:prstGeom>
        </p:spPr>
        <p:txBody>
          <a:bodyPr wrap="none">
            <a:spAutoFit/>
          </a:bodyPr>
          <a:lstStyle/>
          <a:p>
            <a:r>
              <a:rPr lang="en-CN" dirty="0">
                <a:solidFill>
                  <a:srgbClr val="FF0000"/>
                </a:solidFill>
                <a:latin typeface="Courier" pitchFamily="2" charset="0"/>
              </a:rPr>
              <a:t>atomic_add(&amp;sem, -1); </a:t>
            </a:r>
            <a:endParaRPr lang="en-CN" dirty="0"/>
          </a:p>
        </p:txBody>
      </p:sp>
      <p:sp>
        <p:nvSpPr>
          <p:cNvPr id="23" name="Rectangle 22">
            <a:extLst>
              <a:ext uri="{FF2B5EF4-FFF2-40B4-BE49-F238E27FC236}">
                <a16:creationId xmlns:a16="http://schemas.microsoft.com/office/drawing/2014/main" id="{7EB4D8B9-75D2-D940-86B9-4AC50702C88A}"/>
              </a:ext>
            </a:extLst>
          </p:cNvPr>
          <p:cNvSpPr/>
          <p:nvPr/>
        </p:nvSpPr>
        <p:spPr>
          <a:xfrm>
            <a:off x="5515558" y="4043762"/>
            <a:ext cx="3217547" cy="369332"/>
          </a:xfrm>
          <a:prstGeom prst="rect">
            <a:avLst/>
          </a:prstGeom>
        </p:spPr>
        <p:txBody>
          <a:bodyPr wrap="none">
            <a:spAutoFit/>
          </a:bodyPr>
          <a:lstStyle/>
          <a:p>
            <a:r>
              <a:rPr lang="en-CN" dirty="0">
                <a:solidFill>
                  <a:srgbClr val="FF0000"/>
                </a:solidFill>
                <a:latin typeface="Courier" pitchFamily="2" charset="0"/>
              </a:rPr>
              <a:t>atomic_add(&amp;sem, -1); </a:t>
            </a:r>
            <a:endParaRPr lang="en-CN" dirty="0"/>
          </a:p>
        </p:txBody>
      </p:sp>
      <p:sp>
        <p:nvSpPr>
          <p:cNvPr id="24" name="Rectangle 23">
            <a:extLst>
              <a:ext uri="{FF2B5EF4-FFF2-40B4-BE49-F238E27FC236}">
                <a16:creationId xmlns:a16="http://schemas.microsoft.com/office/drawing/2014/main" id="{8C5FB7E3-86B8-E447-AA3E-86678DEDA6CE}"/>
              </a:ext>
            </a:extLst>
          </p:cNvPr>
          <p:cNvSpPr/>
          <p:nvPr/>
        </p:nvSpPr>
        <p:spPr>
          <a:xfrm>
            <a:off x="1374144" y="4837720"/>
            <a:ext cx="1980029" cy="369332"/>
          </a:xfrm>
          <a:prstGeom prst="rect">
            <a:avLst/>
          </a:prstGeom>
        </p:spPr>
        <p:txBody>
          <a:bodyPr wrap="none">
            <a:spAutoFit/>
          </a:bodyPr>
          <a:lstStyle/>
          <a:p>
            <a:r>
              <a:rPr lang="en-US" dirty="0" err="1">
                <a:solidFill>
                  <a:srgbClr val="FF0000"/>
                </a:solidFill>
                <a:latin typeface="Courier" pitchFamily="2" charset="0"/>
              </a:rPr>
              <a:t>结果</a:t>
            </a:r>
            <a:r>
              <a:rPr lang="zh-CN" altLang="en-US" dirty="0">
                <a:solidFill>
                  <a:srgbClr val="FF0000"/>
                </a:solidFill>
                <a:latin typeface="Courier" pitchFamily="2" charset="0"/>
              </a:rPr>
              <a:t>：</a:t>
            </a:r>
            <a:r>
              <a:rPr lang="en-US" dirty="0">
                <a:solidFill>
                  <a:srgbClr val="FF0000"/>
                </a:solidFill>
                <a:latin typeface="Courier" pitchFamily="2" charset="0"/>
              </a:rPr>
              <a:t>s</a:t>
            </a:r>
            <a:r>
              <a:rPr lang="en-CN" dirty="0">
                <a:solidFill>
                  <a:srgbClr val="FF0000"/>
                </a:solidFill>
                <a:latin typeface="Courier" pitchFamily="2" charset="0"/>
              </a:rPr>
              <a:t>em = -1</a:t>
            </a:r>
            <a:endParaRPr lang="en-CN" dirty="0"/>
          </a:p>
        </p:txBody>
      </p:sp>
      <p:sp>
        <p:nvSpPr>
          <p:cNvPr id="25" name="Rectangle 24">
            <a:extLst>
              <a:ext uri="{FF2B5EF4-FFF2-40B4-BE49-F238E27FC236}">
                <a16:creationId xmlns:a16="http://schemas.microsoft.com/office/drawing/2014/main" id="{1BE3BFF8-5C35-7F4F-97BC-84E4E00645CC}"/>
              </a:ext>
            </a:extLst>
          </p:cNvPr>
          <p:cNvSpPr/>
          <p:nvPr/>
        </p:nvSpPr>
        <p:spPr>
          <a:xfrm>
            <a:off x="3310570" y="4864432"/>
            <a:ext cx="4060727" cy="369332"/>
          </a:xfrm>
          <a:prstGeom prst="rect">
            <a:avLst/>
          </a:prstGeom>
        </p:spPr>
        <p:txBody>
          <a:bodyPr wrap="none">
            <a:spAutoFit/>
          </a:bodyPr>
          <a:lstStyle/>
          <a:p>
            <a:r>
              <a:rPr lang="zh-CN" altLang="en-US" dirty="0">
                <a:solidFill>
                  <a:srgbClr val="FF0000"/>
                </a:solidFill>
                <a:latin typeface="Courier" pitchFamily="2" charset="0"/>
              </a:rPr>
              <a:t>线程</a:t>
            </a:r>
            <a:r>
              <a:rPr lang="en-US" altLang="zh-CN" dirty="0">
                <a:solidFill>
                  <a:srgbClr val="FF0000"/>
                </a:solidFill>
                <a:latin typeface="Courier" pitchFamily="2" charset="0"/>
              </a:rPr>
              <a:t>1,</a:t>
            </a:r>
            <a:r>
              <a:rPr lang="zh-CN" altLang="en-US" dirty="0">
                <a:solidFill>
                  <a:srgbClr val="FF0000"/>
                </a:solidFill>
                <a:latin typeface="Courier" pitchFamily="2" charset="0"/>
              </a:rPr>
              <a:t>线程</a:t>
            </a:r>
            <a:r>
              <a:rPr lang="en-US" altLang="zh-CN" dirty="0">
                <a:solidFill>
                  <a:srgbClr val="FF0000"/>
                </a:solidFill>
                <a:latin typeface="Courier" pitchFamily="2" charset="0"/>
              </a:rPr>
              <a:t>2</a:t>
            </a:r>
            <a:r>
              <a:rPr lang="zh-CN" altLang="en-US" dirty="0">
                <a:solidFill>
                  <a:srgbClr val="FF0000"/>
                </a:solidFill>
                <a:latin typeface="Courier" pitchFamily="2" charset="0"/>
              </a:rPr>
              <a:t>同时以为自己拿到了资源</a:t>
            </a:r>
            <a:endParaRPr lang="en-CN" dirty="0">
              <a:solidFill>
                <a:srgbClr val="FF0000"/>
              </a:solidFill>
            </a:endParaRPr>
          </a:p>
        </p:txBody>
      </p:sp>
      <p:sp>
        <p:nvSpPr>
          <p:cNvPr id="26" name="Rectangle 7">
            <a:extLst>
              <a:ext uri="{FF2B5EF4-FFF2-40B4-BE49-F238E27FC236}">
                <a16:creationId xmlns:a16="http://schemas.microsoft.com/office/drawing/2014/main" id="{463FF511-A0FB-D744-9279-899428E6018F}"/>
              </a:ext>
            </a:extLst>
          </p:cNvPr>
          <p:cNvSpPr/>
          <p:nvPr/>
        </p:nvSpPr>
        <p:spPr>
          <a:xfrm>
            <a:off x="724419" y="2713484"/>
            <a:ext cx="1701107" cy="369332"/>
          </a:xfrm>
          <a:prstGeom prst="rect">
            <a:avLst/>
          </a:prstGeom>
        </p:spPr>
        <p:txBody>
          <a:bodyPr wrap="none">
            <a:spAutoFit/>
          </a:bodyPr>
          <a:lstStyle/>
          <a:p>
            <a:r>
              <a:rPr lang="en-CN" dirty="0">
                <a:latin typeface="Courier" pitchFamily="2" charset="0"/>
              </a:rPr>
              <a:t>wait(</a:t>
            </a:r>
            <a:r>
              <a:rPr lang="en-US" dirty="0" err="1">
                <a:latin typeface="Courier" pitchFamily="2" charset="0"/>
              </a:rPr>
              <a:t>sem</a:t>
            </a:r>
            <a:r>
              <a:rPr lang="en-CN" dirty="0">
                <a:latin typeface="Courier" pitchFamily="2" charset="0"/>
              </a:rPr>
              <a:t>); </a:t>
            </a:r>
            <a:endParaRPr lang="en-CN" dirty="0"/>
          </a:p>
        </p:txBody>
      </p:sp>
      <p:cxnSp>
        <p:nvCxnSpPr>
          <p:cNvPr id="7" name="直线连接符 6">
            <a:extLst>
              <a:ext uri="{FF2B5EF4-FFF2-40B4-BE49-F238E27FC236}">
                <a16:creationId xmlns:a16="http://schemas.microsoft.com/office/drawing/2014/main" id="{A89D9420-475B-1E47-E407-38F6935F4540}"/>
              </a:ext>
            </a:extLst>
          </p:cNvPr>
          <p:cNvCxnSpPr/>
          <p:nvPr/>
        </p:nvCxnSpPr>
        <p:spPr>
          <a:xfrm>
            <a:off x="457200" y="1993404"/>
            <a:ext cx="822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082A2231-EB2F-EE2D-717E-9103F7BDB6FC}"/>
              </a:ext>
            </a:extLst>
          </p:cNvPr>
          <p:cNvCxnSpPr>
            <a:cxnSpLocks/>
          </p:cNvCxnSpPr>
          <p:nvPr/>
        </p:nvCxnSpPr>
        <p:spPr>
          <a:xfrm>
            <a:off x="2771800" y="2071344"/>
            <a:ext cx="0" cy="180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线连接符 17">
            <a:extLst>
              <a:ext uri="{FF2B5EF4-FFF2-40B4-BE49-F238E27FC236}">
                <a16:creationId xmlns:a16="http://schemas.microsoft.com/office/drawing/2014/main" id="{D4506D01-9CC7-8F7F-2D6D-EE458CAFB885}"/>
              </a:ext>
            </a:extLst>
          </p:cNvPr>
          <p:cNvCxnSpPr>
            <a:cxnSpLocks/>
          </p:cNvCxnSpPr>
          <p:nvPr/>
        </p:nvCxnSpPr>
        <p:spPr>
          <a:xfrm>
            <a:off x="5652120" y="2095349"/>
            <a:ext cx="0" cy="18035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0181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信号量的实现</a:t>
            </a:r>
            <a:r>
              <a:rPr lang="en-US" altLang="zh-CN" dirty="0"/>
              <a:t>-1</a:t>
            </a:r>
            <a:r>
              <a:rPr lang="zh-CN" altLang="en-US" dirty="0"/>
              <a:t>：忙等</a:t>
            </a:r>
            <a:endParaRPr lang="en-CN" b="0" dirty="0"/>
          </a:p>
        </p:txBody>
      </p:sp>
      <p:sp>
        <p:nvSpPr>
          <p:cNvPr id="6" name="Footer Placeholder 5">
            <a:extLst>
              <a:ext uri="{FF2B5EF4-FFF2-40B4-BE49-F238E27FC236}">
                <a16:creationId xmlns:a16="http://schemas.microsoft.com/office/drawing/2014/main" id="{47EF0B72-07EC-B449-AEBD-18A16E90E28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FB7D55C2-2C06-3F46-97EA-AC95EA411648}"/>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26" name="Rectangle 25">
            <a:extLst>
              <a:ext uri="{FF2B5EF4-FFF2-40B4-BE49-F238E27FC236}">
                <a16:creationId xmlns:a16="http://schemas.microsoft.com/office/drawing/2014/main" id="{2BB2BFD4-7544-3143-AE3A-1D70924D878C}"/>
              </a:ext>
            </a:extLst>
          </p:cNvPr>
          <p:cNvSpPr/>
          <p:nvPr/>
        </p:nvSpPr>
        <p:spPr>
          <a:xfrm>
            <a:off x="267816" y="1058455"/>
            <a:ext cx="6608440" cy="4247317"/>
          </a:xfrm>
          <a:prstGeom prst="rect">
            <a:avLst/>
          </a:prstGeom>
        </p:spPr>
        <p:txBody>
          <a:bodyPr wrap="square">
            <a:spAutoFit/>
          </a:bodyPr>
          <a:lstStyle/>
          <a:p>
            <a:r>
              <a:rPr lang="en-CN">
                <a:latin typeface="Courier" pitchFamily="2" charset="0"/>
              </a:rPr>
              <a:t>void wait(sem_t *S) {</a:t>
            </a:r>
          </a:p>
          <a:p>
            <a:r>
              <a:rPr lang="en-CN">
                <a:latin typeface="Courier" pitchFamily="2" charset="0"/>
              </a:rPr>
              <a:t>	lock(S-&gt;</a:t>
            </a:r>
            <a:r>
              <a:rPr lang="en-US" altLang="zh-CN" dirty="0" err="1">
                <a:latin typeface="Courier" pitchFamily="2" charset="0"/>
              </a:rPr>
              <a:t>sem</a:t>
            </a:r>
            <a:r>
              <a:rPr lang="en-US" altLang="zh-CN" dirty="0">
                <a:latin typeface="Courier" pitchFamily="2" charset="0"/>
              </a:rPr>
              <a:t>_</a:t>
            </a:r>
            <a:r>
              <a:rPr lang="en-CN">
                <a:latin typeface="Courier" pitchFamily="2" charset="0"/>
              </a:rPr>
              <a:t>lock);</a:t>
            </a:r>
          </a:p>
          <a:p>
            <a:r>
              <a:rPr lang="en-CN">
                <a:latin typeface="Courier" pitchFamily="2" charset="0"/>
              </a:rPr>
              <a:t>	while(S-&gt;value </a:t>
            </a:r>
            <a:r>
              <a:rPr lang="en-US" altLang="zh-CN" dirty="0">
                <a:latin typeface="Courier" pitchFamily="2" charset="0"/>
              </a:rPr>
              <a:t>=</a:t>
            </a:r>
            <a:r>
              <a:rPr lang="en-CN">
                <a:latin typeface="Courier" pitchFamily="2" charset="0"/>
              </a:rPr>
              <a:t>= 0) {</a:t>
            </a:r>
          </a:p>
          <a:p>
            <a:r>
              <a:rPr lang="en-CN">
                <a:latin typeface="Courier" pitchFamily="2" charset="0"/>
              </a:rPr>
              <a:t>		unlock(S-&gt;</a:t>
            </a:r>
            <a:r>
              <a:rPr lang="en-US" altLang="zh-CN" dirty="0" err="1">
                <a:latin typeface="Courier" pitchFamily="2" charset="0"/>
              </a:rPr>
              <a:t>sem</a:t>
            </a:r>
            <a:r>
              <a:rPr lang="en-US" altLang="zh-CN" dirty="0">
                <a:latin typeface="Courier" pitchFamily="2" charset="0"/>
              </a:rPr>
              <a:t>_</a:t>
            </a:r>
            <a:r>
              <a:rPr lang="en-CN">
                <a:latin typeface="Courier" pitchFamily="2" charset="0"/>
              </a:rPr>
              <a:t>lock);</a:t>
            </a:r>
          </a:p>
          <a:p>
            <a:r>
              <a:rPr lang="en-CN">
                <a:latin typeface="Courier" pitchFamily="2" charset="0"/>
              </a:rPr>
              <a:t>		lock(S-&gt;</a:t>
            </a:r>
            <a:r>
              <a:rPr lang="en-US" altLang="zh-CN" dirty="0" err="1">
                <a:latin typeface="Courier" pitchFamily="2" charset="0"/>
              </a:rPr>
              <a:t>sem</a:t>
            </a:r>
            <a:r>
              <a:rPr lang="en-US" altLang="zh-CN" dirty="0">
                <a:latin typeface="Courier" pitchFamily="2" charset="0"/>
              </a:rPr>
              <a:t>_</a:t>
            </a:r>
            <a:r>
              <a:rPr lang="en-CN">
                <a:latin typeface="Courier" pitchFamily="2" charset="0"/>
              </a:rPr>
              <a:t>lock); 	</a:t>
            </a:r>
            <a:endParaRPr lang="en-US" dirty="0">
              <a:latin typeface="Courier" pitchFamily="2" charset="0"/>
            </a:endParaRPr>
          </a:p>
          <a:p>
            <a:r>
              <a:rPr lang="en-US" dirty="0">
                <a:latin typeface="Courier" pitchFamily="2" charset="0"/>
              </a:rPr>
              <a:t>	</a:t>
            </a:r>
            <a:r>
              <a:rPr lang="en-CN">
                <a:latin typeface="Courier" pitchFamily="2" charset="0"/>
              </a:rPr>
              <a:t>}</a:t>
            </a:r>
          </a:p>
          <a:p>
            <a:r>
              <a:rPr lang="en-CN">
                <a:latin typeface="Courier" pitchFamily="2" charset="0"/>
              </a:rPr>
              <a:t> 	S-&gt;value --; </a:t>
            </a:r>
          </a:p>
          <a:p>
            <a:r>
              <a:rPr lang="en-CN">
                <a:latin typeface="Courier" pitchFamily="2" charset="0"/>
              </a:rPr>
              <a:t>	unlock(S-&gt;</a:t>
            </a:r>
            <a:r>
              <a:rPr lang="en-US" altLang="zh-CN" dirty="0" err="1">
                <a:latin typeface="Courier" pitchFamily="2" charset="0"/>
              </a:rPr>
              <a:t>sem</a:t>
            </a:r>
            <a:r>
              <a:rPr lang="en-US" altLang="zh-CN" dirty="0">
                <a:latin typeface="Courier" pitchFamily="2" charset="0"/>
              </a:rPr>
              <a:t>_</a:t>
            </a:r>
            <a:r>
              <a:rPr lang="en-CN">
                <a:latin typeface="Courier" pitchFamily="2" charset="0"/>
              </a:rPr>
              <a:t>lock);</a:t>
            </a:r>
          </a:p>
          <a:p>
            <a:r>
              <a:rPr lang="en-CN">
                <a:latin typeface="Courier" pitchFamily="2" charset="0"/>
              </a:rPr>
              <a:t>} </a:t>
            </a:r>
          </a:p>
          <a:p>
            <a:endParaRPr lang="en-CN">
              <a:latin typeface="Courier" pitchFamily="2" charset="0"/>
            </a:endParaRPr>
          </a:p>
          <a:p>
            <a:r>
              <a:rPr lang="en-CN">
                <a:latin typeface="Courier" pitchFamily="2" charset="0"/>
              </a:rPr>
              <a:t>void signal(sem_t *S) {</a:t>
            </a:r>
          </a:p>
          <a:p>
            <a:r>
              <a:rPr lang="en-CN">
                <a:latin typeface="Courier" pitchFamily="2" charset="0"/>
              </a:rPr>
              <a:t>	lock(S-&gt;</a:t>
            </a:r>
            <a:r>
              <a:rPr lang="en-US" altLang="zh-CN" dirty="0" err="1">
                <a:latin typeface="Courier" pitchFamily="2" charset="0"/>
              </a:rPr>
              <a:t>sem</a:t>
            </a:r>
            <a:r>
              <a:rPr lang="en-US" altLang="zh-CN" dirty="0">
                <a:latin typeface="Courier" pitchFamily="2" charset="0"/>
              </a:rPr>
              <a:t>_</a:t>
            </a:r>
            <a:r>
              <a:rPr lang="en-CN">
                <a:latin typeface="Courier" pitchFamily="2" charset="0"/>
              </a:rPr>
              <a:t>lock);</a:t>
            </a:r>
          </a:p>
          <a:p>
            <a:r>
              <a:rPr lang="en-CN">
                <a:latin typeface="Courier" pitchFamily="2" charset="0"/>
              </a:rPr>
              <a:t>	S-&gt;value ++;</a:t>
            </a:r>
          </a:p>
          <a:p>
            <a:r>
              <a:rPr lang="en-CN">
                <a:latin typeface="Courier" pitchFamily="2" charset="0"/>
              </a:rPr>
              <a:t>	unlock(S-&gt;</a:t>
            </a:r>
            <a:r>
              <a:rPr lang="en-US" altLang="zh-CN" dirty="0" err="1">
                <a:latin typeface="Courier" pitchFamily="2" charset="0"/>
              </a:rPr>
              <a:t>sem</a:t>
            </a:r>
            <a:r>
              <a:rPr lang="en-US" altLang="zh-CN" dirty="0">
                <a:latin typeface="Courier" pitchFamily="2" charset="0"/>
              </a:rPr>
              <a:t>_</a:t>
            </a:r>
            <a:r>
              <a:rPr lang="en-CN">
                <a:latin typeface="Courier" pitchFamily="2" charset="0"/>
              </a:rPr>
              <a:t>lock);</a:t>
            </a:r>
          </a:p>
          <a:p>
            <a:r>
              <a:rPr lang="en-CN">
                <a:latin typeface="Courier" pitchFamily="2" charset="0"/>
              </a:rPr>
              <a:t>}</a:t>
            </a:r>
          </a:p>
        </p:txBody>
      </p:sp>
      <p:sp>
        <p:nvSpPr>
          <p:cNvPr id="27" name="Rectangle 26">
            <a:extLst>
              <a:ext uri="{FF2B5EF4-FFF2-40B4-BE49-F238E27FC236}">
                <a16:creationId xmlns:a16="http://schemas.microsoft.com/office/drawing/2014/main" id="{A5416A24-A9F1-6244-AE93-FEAC410C2CBA}"/>
              </a:ext>
            </a:extLst>
          </p:cNvPr>
          <p:cNvSpPr/>
          <p:nvPr/>
        </p:nvSpPr>
        <p:spPr>
          <a:xfrm>
            <a:off x="5264276" y="2053513"/>
            <a:ext cx="3223959" cy="369332"/>
          </a:xfrm>
          <a:prstGeom prst="rect">
            <a:avLst/>
          </a:prstGeom>
        </p:spPr>
        <p:txBody>
          <a:bodyPr wrap="none">
            <a:spAutoFit/>
          </a:bodyPr>
          <a:lstStyle/>
          <a:p>
            <a:r>
              <a:rPr lang="en-US" altLang="zh-CN" dirty="0">
                <a:solidFill>
                  <a:srgbClr val="FF0000"/>
                </a:solidFill>
                <a:latin typeface="Courier" pitchFamily="2" charset="0"/>
              </a:rPr>
              <a:t>Busy</a:t>
            </a:r>
            <a:r>
              <a:rPr lang="zh-CN" altLang="en-US" dirty="0">
                <a:solidFill>
                  <a:srgbClr val="FF0000"/>
                </a:solidFill>
                <a:latin typeface="Courier" pitchFamily="2" charset="0"/>
              </a:rPr>
              <a:t> </a:t>
            </a:r>
            <a:r>
              <a:rPr lang="en-US" altLang="zh-CN" dirty="0">
                <a:solidFill>
                  <a:srgbClr val="FF0000"/>
                </a:solidFill>
                <a:latin typeface="Courier" pitchFamily="2" charset="0"/>
              </a:rPr>
              <a:t>looping</a:t>
            </a:r>
            <a:r>
              <a:rPr lang="zh-CN" altLang="en-US" dirty="0">
                <a:solidFill>
                  <a:srgbClr val="FF0000"/>
                </a:solidFill>
                <a:latin typeface="Courier" pitchFamily="2" charset="0"/>
              </a:rPr>
              <a:t>，无意义等待</a:t>
            </a:r>
            <a:endParaRPr lang="en-CN" dirty="0">
              <a:solidFill>
                <a:srgbClr val="FF0000"/>
              </a:solidFill>
            </a:endParaRPr>
          </a:p>
        </p:txBody>
      </p:sp>
      <p:sp>
        <p:nvSpPr>
          <p:cNvPr id="7" name="Rectangle 26">
            <a:extLst>
              <a:ext uri="{FF2B5EF4-FFF2-40B4-BE49-F238E27FC236}">
                <a16:creationId xmlns:a16="http://schemas.microsoft.com/office/drawing/2014/main" id="{7B1883BB-51BD-894E-BD73-541F2E4C6196}"/>
              </a:ext>
            </a:extLst>
          </p:cNvPr>
          <p:cNvSpPr/>
          <p:nvPr/>
        </p:nvSpPr>
        <p:spPr>
          <a:xfrm>
            <a:off x="4139952" y="2672834"/>
            <a:ext cx="4102405" cy="369332"/>
          </a:xfrm>
          <a:prstGeom prst="rect">
            <a:avLst/>
          </a:prstGeom>
        </p:spPr>
        <p:txBody>
          <a:bodyPr wrap="none">
            <a:spAutoFit/>
          </a:bodyPr>
          <a:lstStyle/>
          <a:p>
            <a:r>
              <a:rPr lang="en-US" dirty="0" err="1">
                <a:solidFill>
                  <a:srgbClr val="FF0000"/>
                </a:solidFill>
                <a:latin typeface="Courier" pitchFamily="2" charset="0"/>
              </a:rPr>
              <a:t>此时已经取得</a:t>
            </a:r>
            <a:r>
              <a:rPr lang="en-US" altLang="zh-CN" dirty="0" err="1">
                <a:solidFill>
                  <a:srgbClr val="FF0000"/>
                </a:solidFill>
                <a:latin typeface="Courier" pitchFamily="2" charset="0"/>
              </a:rPr>
              <a:t>sem_lock</a:t>
            </a:r>
            <a:r>
              <a:rPr lang="zh-CN" altLang="en-US" dirty="0">
                <a:solidFill>
                  <a:srgbClr val="FF0000"/>
                </a:solidFill>
                <a:latin typeface="Courier" pitchFamily="2" charset="0"/>
              </a:rPr>
              <a:t>，防止同时</a:t>
            </a:r>
            <a:r>
              <a:rPr lang="en-US" altLang="zh-CN" dirty="0">
                <a:solidFill>
                  <a:srgbClr val="FF0000"/>
                </a:solidFill>
                <a:latin typeface="Courier" pitchFamily="2" charset="0"/>
              </a:rPr>
              <a:t>-1</a:t>
            </a:r>
            <a:endParaRPr lang="en-CN" dirty="0">
              <a:solidFill>
                <a:srgbClr val="FF0000"/>
              </a:solidFill>
            </a:endParaRPr>
          </a:p>
        </p:txBody>
      </p:sp>
    </p:spTree>
    <p:extLst>
      <p:ext uri="{BB962C8B-B14F-4D97-AF65-F5344CB8AC3E}">
        <p14:creationId xmlns:p14="http://schemas.microsoft.com/office/powerpoint/2010/main" val="4092876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信号量的实现</a:t>
            </a:r>
            <a:r>
              <a:rPr lang="en-US" altLang="zh-CN" dirty="0"/>
              <a:t>-2</a:t>
            </a:r>
            <a:r>
              <a:rPr lang="zh-CN" altLang="en-US" dirty="0"/>
              <a:t>：条件变量</a:t>
            </a:r>
            <a:endParaRPr lang="en-CN" b="0" dirty="0"/>
          </a:p>
        </p:txBody>
      </p:sp>
      <p:sp>
        <p:nvSpPr>
          <p:cNvPr id="6" name="Footer Placeholder 5">
            <a:extLst>
              <a:ext uri="{FF2B5EF4-FFF2-40B4-BE49-F238E27FC236}">
                <a16:creationId xmlns:a16="http://schemas.microsoft.com/office/drawing/2014/main" id="{47EF0B72-07EC-B449-AEBD-18A16E90E28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FB7D55C2-2C06-3F46-97EA-AC95EA411648}"/>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26" name="Rectangle 25">
            <a:extLst>
              <a:ext uri="{FF2B5EF4-FFF2-40B4-BE49-F238E27FC236}">
                <a16:creationId xmlns:a16="http://schemas.microsoft.com/office/drawing/2014/main" id="{2BB2BFD4-7544-3143-AE3A-1D70924D878C}"/>
              </a:ext>
            </a:extLst>
          </p:cNvPr>
          <p:cNvSpPr/>
          <p:nvPr/>
        </p:nvSpPr>
        <p:spPr>
          <a:xfrm>
            <a:off x="267816" y="1058455"/>
            <a:ext cx="7616551" cy="4247317"/>
          </a:xfrm>
          <a:prstGeom prst="rect">
            <a:avLst/>
          </a:prstGeom>
        </p:spPr>
        <p:txBody>
          <a:bodyPr wrap="square">
            <a:spAutoFit/>
          </a:bodyPr>
          <a:lstStyle/>
          <a:p>
            <a:r>
              <a:rPr lang="en-CN">
                <a:latin typeface="Courier" pitchFamily="2" charset="0"/>
              </a:rPr>
              <a:t>void wait(sem_t *S) {</a:t>
            </a:r>
          </a:p>
          <a:p>
            <a:r>
              <a:rPr lang="en-CN">
                <a:latin typeface="Courier" pitchFamily="2" charset="0"/>
              </a:rPr>
              <a:t>	lock(S-&gt;sem_lock );</a:t>
            </a:r>
          </a:p>
          <a:p>
            <a:r>
              <a:rPr lang="en-CN">
                <a:latin typeface="Courier" pitchFamily="2" charset="0"/>
              </a:rPr>
              <a:t>	</a:t>
            </a:r>
            <a:r>
              <a:rPr lang="en-CN">
                <a:solidFill>
                  <a:srgbClr val="FF0000"/>
                </a:solidFill>
                <a:latin typeface="Courier" pitchFamily="2" charset="0"/>
              </a:rPr>
              <a:t>while(S-&gt;value == 0) </a:t>
            </a:r>
            <a:r>
              <a:rPr lang="en-CN">
                <a:latin typeface="Courier" pitchFamily="2" charset="0"/>
              </a:rPr>
              <a:t>{</a:t>
            </a:r>
          </a:p>
          <a:p>
            <a:r>
              <a:rPr lang="en-CN">
                <a:latin typeface="Courier" pitchFamily="2" charset="0"/>
              </a:rPr>
              <a:t>		cond_wait(S-&gt;sem_cond,</a:t>
            </a:r>
            <a:r>
              <a:rPr lang="zh-CN" altLang="en-US" dirty="0">
                <a:latin typeface="Courier" pitchFamily="2" charset="0"/>
              </a:rPr>
              <a:t> </a:t>
            </a:r>
            <a:r>
              <a:rPr lang="en-CN">
                <a:latin typeface="Courier" pitchFamily="2" charset="0"/>
              </a:rPr>
              <a:t>S-&gt;sem_lock);</a:t>
            </a:r>
          </a:p>
          <a:p>
            <a:r>
              <a:rPr lang="en-CN">
                <a:latin typeface="Courier" pitchFamily="2" charset="0"/>
              </a:rPr>
              <a:t>	}</a:t>
            </a:r>
          </a:p>
          <a:p>
            <a:r>
              <a:rPr lang="en-CN">
                <a:latin typeface="Courier" pitchFamily="2" charset="0"/>
              </a:rPr>
              <a:t> 	S-&gt;value --; </a:t>
            </a:r>
          </a:p>
          <a:p>
            <a:r>
              <a:rPr lang="en-CN">
                <a:latin typeface="Courier" pitchFamily="2" charset="0"/>
              </a:rPr>
              <a:t>	unlock(S-&gt;sem_lock);</a:t>
            </a:r>
          </a:p>
          <a:p>
            <a:r>
              <a:rPr lang="en-CN">
                <a:latin typeface="Courier" pitchFamily="2" charset="0"/>
              </a:rPr>
              <a:t>} </a:t>
            </a:r>
          </a:p>
          <a:p>
            <a:endParaRPr lang="en-CN">
              <a:latin typeface="Courier" pitchFamily="2" charset="0"/>
            </a:endParaRPr>
          </a:p>
          <a:p>
            <a:r>
              <a:rPr lang="en-CN">
                <a:latin typeface="Courier" pitchFamily="2" charset="0"/>
              </a:rPr>
              <a:t>void signal(sem_t *S) {</a:t>
            </a:r>
          </a:p>
          <a:p>
            <a:r>
              <a:rPr lang="en-CN">
                <a:latin typeface="Courier" pitchFamily="2" charset="0"/>
              </a:rPr>
              <a:t>	lock(S-&gt;sem_lock);</a:t>
            </a:r>
          </a:p>
          <a:p>
            <a:r>
              <a:rPr lang="en-CN">
                <a:latin typeface="Courier" pitchFamily="2" charset="0"/>
              </a:rPr>
              <a:t>	S-&gt;value ++;</a:t>
            </a:r>
          </a:p>
          <a:p>
            <a:r>
              <a:rPr lang="en-CN">
                <a:latin typeface="Courier" pitchFamily="2" charset="0"/>
              </a:rPr>
              <a:t>	</a:t>
            </a:r>
            <a:r>
              <a:rPr lang="en-CN">
                <a:solidFill>
                  <a:srgbClr val="FF0000"/>
                </a:solidFill>
                <a:latin typeface="Courier" pitchFamily="2" charset="0"/>
              </a:rPr>
              <a:t>cond_signal(s-&gt;sem_cond);</a:t>
            </a:r>
          </a:p>
          <a:p>
            <a:r>
              <a:rPr lang="en-CN">
                <a:latin typeface="Courier" pitchFamily="2" charset="0"/>
              </a:rPr>
              <a:t>	unlock(S-&gt;sem_lock);</a:t>
            </a:r>
          </a:p>
          <a:p>
            <a:r>
              <a:rPr lang="en-CN">
                <a:latin typeface="Courier" pitchFamily="2" charset="0"/>
              </a:rPr>
              <a:t>}</a:t>
            </a:r>
          </a:p>
        </p:txBody>
      </p:sp>
      <p:sp>
        <p:nvSpPr>
          <p:cNvPr id="7" name="Rectangle 6">
            <a:extLst>
              <a:ext uri="{FF2B5EF4-FFF2-40B4-BE49-F238E27FC236}">
                <a16:creationId xmlns:a16="http://schemas.microsoft.com/office/drawing/2014/main" id="{F23E8785-A90D-4741-A742-F62816956728}"/>
              </a:ext>
            </a:extLst>
          </p:cNvPr>
          <p:cNvSpPr/>
          <p:nvPr/>
        </p:nvSpPr>
        <p:spPr>
          <a:xfrm>
            <a:off x="5354725" y="1571217"/>
            <a:ext cx="3185487" cy="369332"/>
          </a:xfrm>
          <a:prstGeom prst="rect">
            <a:avLst/>
          </a:prstGeom>
        </p:spPr>
        <p:txBody>
          <a:bodyPr wrap="none">
            <a:spAutoFit/>
          </a:bodyPr>
          <a:lstStyle/>
          <a:p>
            <a:r>
              <a:rPr lang="zh-CN" altLang="en-CN" dirty="0">
                <a:solidFill>
                  <a:srgbClr val="FF0000"/>
                </a:solidFill>
                <a:latin typeface="Courier" pitchFamily="2" charset="0"/>
              </a:rPr>
              <a:t>使用</a:t>
            </a:r>
            <a:r>
              <a:rPr lang="zh-CN" altLang="en-US" dirty="0">
                <a:solidFill>
                  <a:srgbClr val="FF0000"/>
                </a:solidFill>
                <a:latin typeface="Courier" pitchFamily="2" charset="0"/>
              </a:rPr>
              <a:t>条件变量避免无意义等待</a:t>
            </a:r>
            <a:endParaRPr lang="en-CN" dirty="0">
              <a:solidFill>
                <a:srgbClr val="FF0000"/>
              </a:solidFill>
            </a:endParaRPr>
          </a:p>
        </p:txBody>
      </p:sp>
      <p:sp>
        <p:nvSpPr>
          <p:cNvPr id="8" name="Rectangle 7">
            <a:extLst>
              <a:ext uri="{FF2B5EF4-FFF2-40B4-BE49-F238E27FC236}">
                <a16:creationId xmlns:a16="http://schemas.microsoft.com/office/drawing/2014/main" id="{253CA5B1-82A7-EC4F-92C3-1C6F4EE0A0E6}"/>
              </a:ext>
            </a:extLst>
          </p:cNvPr>
          <p:cNvSpPr/>
          <p:nvPr/>
        </p:nvSpPr>
        <p:spPr>
          <a:xfrm>
            <a:off x="5220072" y="4281027"/>
            <a:ext cx="3781805" cy="369332"/>
          </a:xfrm>
          <a:prstGeom prst="rect">
            <a:avLst/>
          </a:prstGeom>
        </p:spPr>
        <p:txBody>
          <a:bodyPr wrap="none">
            <a:spAutoFit/>
          </a:bodyPr>
          <a:lstStyle/>
          <a:p>
            <a:r>
              <a:rPr lang="en-US" dirty="0" err="1">
                <a:solidFill>
                  <a:srgbClr val="FF0000"/>
                </a:solidFill>
                <a:latin typeface="Courier" pitchFamily="2" charset="0"/>
              </a:rPr>
              <a:t>每次都要signal</a:t>
            </a:r>
            <a:r>
              <a:rPr lang="zh-CN" altLang="en-US" dirty="0">
                <a:solidFill>
                  <a:srgbClr val="FF0000"/>
                </a:solidFill>
                <a:latin typeface="Courier" pitchFamily="2" charset="0"/>
              </a:rPr>
              <a:t>，很可能无人等待</a:t>
            </a:r>
            <a:endParaRPr lang="en-CN" dirty="0">
              <a:solidFill>
                <a:srgbClr val="FF0000"/>
              </a:solidFill>
            </a:endParaRPr>
          </a:p>
        </p:txBody>
      </p:sp>
    </p:spTree>
    <p:extLst>
      <p:ext uri="{BB962C8B-B14F-4D97-AF65-F5344CB8AC3E}">
        <p14:creationId xmlns:p14="http://schemas.microsoft.com/office/powerpoint/2010/main" val="462735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信号量的实现</a:t>
            </a:r>
            <a:r>
              <a:rPr lang="en-US" altLang="zh-CN" dirty="0"/>
              <a:t>-3</a:t>
            </a:r>
            <a:r>
              <a:rPr lang="zh-CN" altLang="en-US" dirty="0"/>
              <a:t>：减少</a:t>
            </a:r>
            <a:r>
              <a:rPr lang="en-US" altLang="zh-CN" dirty="0"/>
              <a:t>signal</a:t>
            </a:r>
            <a:r>
              <a:rPr lang="zh-CN" altLang="en-US" dirty="0"/>
              <a:t>次数</a:t>
            </a:r>
            <a:endParaRPr lang="en-CN" b="0" dirty="0"/>
          </a:p>
        </p:txBody>
      </p:sp>
      <p:sp>
        <p:nvSpPr>
          <p:cNvPr id="6" name="Footer Placeholder 5">
            <a:extLst>
              <a:ext uri="{FF2B5EF4-FFF2-40B4-BE49-F238E27FC236}">
                <a16:creationId xmlns:a16="http://schemas.microsoft.com/office/drawing/2014/main" id="{47EF0B72-07EC-B449-AEBD-18A16E90E28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FB7D55C2-2C06-3F46-97EA-AC95EA411648}"/>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26" name="Rectangle 25">
            <a:extLst>
              <a:ext uri="{FF2B5EF4-FFF2-40B4-BE49-F238E27FC236}">
                <a16:creationId xmlns:a16="http://schemas.microsoft.com/office/drawing/2014/main" id="{2BB2BFD4-7544-3143-AE3A-1D70924D878C}"/>
              </a:ext>
            </a:extLst>
          </p:cNvPr>
          <p:cNvSpPr/>
          <p:nvPr/>
        </p:nvSpPr>
        <p:spPr>
          <a:xfrm>
            <a:off x="251520" y="913686"/>
            <a:ext cx="7688559" cy="4524315"/>
          </a:xfrm>
          <a:prstGeom prst="rect">
            <a:avLst/>
          </a:prstGeom>
        </p:spPr>
        <p:txBody>
          <a:bodyPr wrap="square">
            <a:spAutoFit/>
          </a:bodyPr>
          <a:lstStyle/>
          <a:p>
            <a:r>
              <a:rPr lang="en-CN">
                <a:latin typeface="Courier" pitchFamily="2" charset="0"/>
              </a:rPr>
              <a:t>void wait(sem_t *S) {</a:t>
            </a:r>
          </a:p>
          <a:p>
            <a:r>
              <a:rPr lang="en-CN">
                <a:latin typeface="Courier" pitchFamily="2" charset="0"/>
              </a:rPr>
              <a:t>	lock(S-&gt;sem_lock );</a:t>
            </a:r>
          </a:p>
          <a:p>
            <a:r>
              <a:rPr lang="en-CN">
                <a:latin typeface="Courier" pitchFamily="2" charset="0"/>
              </a:rPr>
              <a:t> 	S-&gt;value --; </a:t>
            </a:r>
          </a:p>
          <a:p>
            <a:r>
              <a:rPr lang="en-CN">
                <a:latin typeface="Courier" pitchFamily="2" charset="0"/>
              </a:rPr>
              <a:t>	</a:t>
            </a:r>
            <a:r>
              <a:rPr lang="en-CN">
                <a:solidFill>
                  <a:srgbClr val="FF0000"/>
                </a:solidFill>
                <a:latin typeface="Courier" pitchFamily="2" charset="0"/>
              </a:rPr>
              <a:t>while(S-&gt;value &lt; 0) </a:t>
            </a:r>
            <a:r>
              <a:rPr lang="en-CN">
                <a:latin typeface="Courier" pitchFamily="2" charset="0"/>
              </a:rPr>
              <a:t>{</a:t>
            </a:r>
          </a:p>
          <a:p>
            <a:r>
              <a:rPr lang="en-CN">
                <a:latin typeface="Courier" pitchFamily="2" charset="0"/>
              </a:rPr>
              <a:t>	</a:t>
            </a:r>
            <a:r>
              <a:rPr lang="zh-CN" altLang="en-US" dirty="0">
                <a:latin typeface="Courier" pitchFamily="2" charset="0"/>
              </a:rPr>
              <a:t>  </a:t>
            </a:r>
            <a:r>
              <a:rPr lang="en-CN">
                <a:latin typeface="Courier" pitchFamily="2" charset="0"/>
              </a:rPr>
              <a:t>cond_wait(S-&gt;sem_cond,</a:t>
            </a:r>
            <a:r>
              <a:rPr lang="zh-CN" altLang="en-US" dirty="0">
                <a:latin typeface="Courier" pitchFamily="2" charset="0"/>
              </a:rPr>
              <a:t> </a:t>
            </a:r>
            <a:r>
              <a:rPr lang="en-CN">
                <a:latin typeface="Courier" pitchFamily="2" charset="0"/>
              </a:rPr>
              <a:t>S-&gt;sem_lock);</a:t>
            </a:r>
          </a:p>
          <a:p>
            <a:r>
              <a:rPr lang="en-CN">
                <a:latin typeface="Courier" pitchFamily="2" charset="0"/>
              </a:rPr>
              <a:t>	}</a:t>
            </a:r>
          </a:p>
          <a:p>
            <a:r>
              <a:rPr lang="en-CN">
                <a:latin typeface="Courier" pitchFamily="2" charset="0"/>
              </a:rPr>
              <a:t> 	unlock(S-&gt;sem_lock);</a:t>
            </a:r>
          </a:p>
          <a:p>
            <a:r>
              <a:rPr lang="en-CN">
                <a:latin typeface="Courier" pitchFamily="2" charset="0"/>
              </a:rPr>
              <a:t>} </a:t>
            </a:r>
          </a:p>
          <a:p>
            <a:endParaRPr lang="en-CN">
              <a:latin typeface="Courier" pitchFamily="2" charset="0"/>
            </a:endParaRPr>
          </a:p>
          <a:p>
            <a:r>
              <a:rPr lang="en-CN">
                <a:latin typeface="Courier" pitchFamily="2" charset="0"/>
              </a:rPr>
              <a:t>void signal(sem_t *S) {</a:t>
            </a:r>
          </a:p>
          <a:p>
            <a:r>
              <a:rPr lang="en-CN">
                <a:latin typeface="Courier" pitchFamily="2" charset="0"/>
              </a:rPr>
              <a:t>	lock(S-&gt;sem_lock);</a:t>
            </a:r>
          </a:p>
          <a:p>
            <a:r>
              <a:rPr lang="en-CN">
                <a:latin typeface="Courier" pitchFamily="2" charset="0"/>
              </a:rPr>
              <a:t>	S-&gt;value ++;</a:t>
            </a:r>
          </a:p>
          <a:p>
            <a:r>
              <a:rPr lang="en-CN">
                <a:latin typeface="Courier" pitchFamily="2" charset="0"/>
              </a:rPr>
              <a:t>	</a:t>
            </a:r>
            <a:r>
              <a:rPr lang="en-CN">
                <a:solidFill>
                  <a:srgbClr val="FF0000"/>
                </a:solidFill>
                <a:latin typeface="Courier" pitchFamily="2" charset="0"/>
              </a:rPr>
              <a:t>if (S-&gt;value &lt; 0)</a:t>
            </a:r>
          </a:p>
          <a:p>
            <a:r>
              <a:rPr lang="en-CN">
                <a:latin typeface="Courier" pitchFamily="2" charset="0"/>
              </a:rPr>
              <a:t>	</a:t>
            </a:r>
            <a:r>
              <a:rPr lang="zh-CN" altLang="en-US" dirty="0">
                <a:latin typeface="Courier" pitchFamily="2" charset="0"/>
              </a:rPr>
              <a:t>  </a:t>
            </a:r>
            <a:r>
              <a:rPr lang="en-CN">
                <a:latin typeface="Courier" pitchFamily="2" charset="0"/>
              </a:rPr>
              <a:t>cond_signal(s-&gt;sem_cond);</a:t>
            </a:r>
          </a:p>
          <a:p>
            <a:r>
              <a:rPr lang="en-CN">
                <a:latin typeface="Courier" pitchFamily="2" charset="0"/>
              </a:rPr>
              <a:t>	unlock(S-&gt;sem_lock);</a:t>
            </a:r>
          </a:p>
          <a:p>
            <a:r>
              <a:rPr lang="en-CN">
                <a:latin typeface="Courier" pitchFamily="2" charset="0"/>
              </a:rPr>
              <a:t>}</a:t>
            </a:r>
          </a:p>
        </p:txBody>
      </p:sp>
      <p:sp>
        <p:nvSpPr>
          <p:cNvPr id="7" name="Rectangle 6">
            <a:extLst>
              <a:ext uri="{FF2B5EF4-FFF2-40B4-BE49-F238E27FC236}">
                <a16:creationId xmlns:a16="http://schemas.microsoft.com/office/drawing/2014/main" id="{3D62972F-69F0-B747-97A0-4D388B6FBFAA}"/>
              </a:ext>
            </a:extLst>
          </p:cNvPr>
          <p:cNvSpPr/>
          <p:nvPr/>
        </p:nvSpPr>
        <p:spPr>
          <a:xfrm>
            <a:off x="6128162" y="1665176"/>
            <a:ext cx="1890143" cy="369332"/>
          </a:xfrm>
          <a:prstGeom prst="rect">
            <a:avLst/>
          </a:prstGeom>
        </p:spPr>
        <p:txBody>
          <a:bodyPr wrap="square">
            <a:spAutoFit/>
          </a:bodyPr>
          <a:lstStyle/>
          <a:p>
            <a:r>
              <a:rPr lang="en-US" dirty="0">
                <a:latin typeface="Courier" pitchFamily="2" charset="0"/>
              </a:rPr>
              <a:t>会有什么问题</a:t>
            </a:r>
            <a:r>
              <a:rPr lang="zh-CN" altLang="en-US" dirty="0">
                <a:latin typeface="Courier" pitchFamily="2" charset="0"/>
              </a:rPr>
              <a:t>？</a:t>
            </a:r>
            <a:endParaRPr lang="en-CN" dirty="0"/>
          </a:p>
        </p:txBody>
      </p:sp>
      <p:sp>
        <p:nvSpPr>
          <p:cNvPr id="8" name="Rectangle 7">
            <a:extLst>
              <a:ext uri="{FF2B5EF4-FFF2-40B4-BE49-F238E27FC236}">
                <a16:creationId xmlns:a16="http://schemas.microsoft.com/office/drawing/2014/main" id="{84CBCBB1-0EA5-504C-B974-3889AB74066A}"/>
              </a:ext>
            </a:extLst>
          </p:cNvPr>
          <p:cNvSpPr/>
          <p:nvPr/>
        </p:nvSpPr>
        <p:spPr>
          <a:xfrm>
            <a:off x="5755580" y="2373928"/>
            <a:ext cx="2376265" cy="369332"/>
          </a:xfrm>
          <a:prstGeom prst="rect">
            <a:avLst/>
          </a:prstGeom>
        </p:spPr>
        <p:txBody>
          <a:bodyPr wrap="square">
            <a:spAutoFit/>
          </a:bodyPr>
          <a:lstStyle/>
          <a:p>
            <a:r>
              <a:rPr lang="en-CN" dirty="0"/>
              <a:t>比如S-&gt;value = -3</a:t>
            </a:r>
          </a:p>
        </p:txBody>
      </p:sp>
      <p:sp>
        <p:nvSpPr>
          <p:cNvPr id="9" name="Rectangle 8">
            <a:extLst>
              <a:ext uri="{FF2B5EF4-FFF2-40B4-BE49-F238E27FC236}">
                <a16:creationId xmlns:a16="http://schemas.microsoft.com/office/drawing/2014/main" id="{30440EF3-C01C-F94A-B656-13345FF09238}"/>
              </a:ext>
            </a:extLst>
          </p:cNvPr>
          <p:cNvSpPr/>
          <p:nvPr/>
        </p:nvSpPr>
        <p:spPr>
          <a:xfrm>
            <a:off x="5755580" y="2721896"/>
            <a:ext cx="2691334" cy="369332"/>
          </a:xfrm>
          <a:prstGeom prst="rect">
            <a:avLst/>
          </a:prstGeom>
        </p:spPr>
        <p:txBody>
          <a:bodyPr wrap="square">
            <a:spAutoFit/>
          </a:bodyPr>
          <a:lstStyle/>
          <a:p>
            <a:r>
              <a:rPr lang="en-CN" dirty="0"/>
              <a:t>signal 后S-&gt;value = -2</a:t>
            </a:r>
          </a:p>
        </p:txBody>
      </p:sp>
      <p:sp>
        <p:nvSpPr>
          <p:cNvPr id="10" name="Rectangle 9">
            <a:extLst>
              <a:ext uri="{FF2B5EF4-FFF2-40B4-BE49-F238E27FC236}">
                <a16:creationId xmlns:a16="http://schemas.microsoft.com/office/drawing/2014/main" id="{5E5D79F5-661E-5441-869E-EC748E175E8C}"/>
              </a:ext>
            </a:extLst>
          </p:cNvPr>
          <p:cNvSpPr/>
          <p:nvPr/>
        </p:nvSpPr>
        <p:spPr>
          <a:xfrm>
            <a:off x="5725708" y="3080003"/>
            <a:ext cx="3418292" cy="369332"/>
          </a:xfrm>
          <a:prstGeom prst="rect">
            <a:avLst/>
          </a:prstGeom>
        </p:spPr>
        <p:txBody>
          <a:bodyPr wrap="square">
            <a:spAutoFit/>
          </a:bodyPr>
          <a:lstStyle/>
          <a:p>
            <a:r>
              <a:rPr lang="en-CN" dirty="0"/>
              <a:t>还是不满足上面while的条件</a:t>
            </a:r>
          </a:p>
        </p:txBody>
      </p:sp>
      <p:sp>
        <p:nvSpPr>
          <p:cNvPr id="14" name="Rectangle 13">
            <a:extLst>
              <a:ext uri="{FF2B5EF4-FFF2-40B4-BE49-F238E27FC236}">
                <a16:creationId xmlns:a16="http://schemas.microsoft.com/office/drawing/2014/main" id="{4BFAC16F-852C-2546-8ADE-2E090DF758AA}"/>
              </a:ext>
            </a:extLst>
          </p:cNvPr>
          <p:cNvSpPr/>
          <p:nvPr/>
        </p:nvSpPr>
        <p:spPr>
          <a:xfrm>
            <a:off x="5364088" y="3926292"/>
            <a:ext cx="3418292" cy="646331"/>
          </a:xfrm>
          <a:prstGeom prst="rect">
            <a:avLst/>
          </a:prstGeom>
        </p:spPr>
        <p:txBody>
          <a:bodyPr wrap="square">
            <a:spAutoFit/>
          </a:bodyPr>
          <a:lstStyle/>
          <a:p>
            <a:r>
              <a:rPr lang="zh-CN" altLang="en-US" dirty="0"/>
              <a:t>思考：</a:t>
            </a:r>
            <a:r>
              <a:rPr lang="en-CN"/>
              <a:t>需要</a:t>
            </a:r>
            <a:r>
              <a:rPr lang="en-CN">
                <a:highlight>
                  <a:srgbClr val="FFFF00"/>
                </a:highlight>
              </a:rPr>
              <a:t>额外的计数器</a:t>
            </a:r>
            <a:r>
              <a:rPr lang="en-CN"/>
              <a:t>用于单独记录有多少可以唤醒的</a:t>
            </a:r>
            <a:endParaRPr lang="en-CN" dirty="0"/>
          </a:p>
        </p:txBody>
      </p:sp>
      <p:sp>
        <p:nvSpPr>
          <p:cNvPr id="16" name="Rectangle 15">
            <a:extLst>
              <a:ext uri="{FF2B5EF4-FFF2-40B4-BE49-F238E27FC236}">
                <a16:creationId xmlns:a16="http://schemas.microsoft.com/office/drawing/2014/main" id="{F2ED1481-08BF-1041-A0CF-FC579197F7C5}"/>
              </a:ext>
            </a:extLst>
          </p:cNvPr>
          <p:cNvSpPr/>
          <p:nvPr/>
        </p:nvSpPr>
        <p:spPr>
          <a:xfrm>
            <a:off x="5364088" y="4646826"/>
            <a:ext cx="4110789" cy="369332"/>
          </a:xfrm>
          <a:prstGeom prst="rect">
            <a:avLst/>
          </a:prstGeom>
        </p:spPr>
        <p:txBody>
          <a:bodyPr wrap="square">
            <a:spAutoFit/>
          </a:bodyPr>
          <a:lstStyle/>
          <a:p>
            <a:r>
              <a:rPr lang="zh-CN" altLang="en-US" dirty="0">
                <a:solidFill>
                  <a:srgbClr val="FF0000"/>
                </a:solidFill>
                <a:latin typeface="Courier" pitchFamily="2" charset="0"/>
              </a:rPr>
              <a:t>改进：</a:t>
            </a:r>
            <a:r>
              <a:rPr lang="en-CN">
                <a:solidFill>
                  <a:srgbClr val="FF0000"/>
                </a:solidFill>
                <a:latin typeface="Courier" pitchFamily="2" charset="0"/>
              </a:rPr>
              <a:t>加入条件判断是否需要</a:t>
            </a:r>
            <a:r>
              <a:rPr lang="en-CN" dirty="0">
                <a:solidFill>
                  <a:srgbClr val="FF0000"/>
                </a:solidFill>
                <a:latin typeface="Courier" pitchFamily="2" charset="0"/>
              </a:rPr>
              <a:t>wake</a:t>
            </a:r>
            <a:endParaRPr lang="en-CN" dirty="0">
              <a:solidFill>
                <a:srgbClr val="FF0000"/>
              </a:solidFill>
            </a:endParaRPr>
          </a:p>
        </p:txBody>
      </p:sp>
      <p:sp>
        <p:nvSpPr>
          <p:cNvPr id="17" name="Rectangle 16">
            <a:extLst>
              <a:ext uri="{FF2B5EF4-FFF2-40B4-BE49-F238E27FC236}">
                <a16:creationId xmlns:a16="http://schemas.microsoft.com/office/drawing/2014/main" id="{C933DEA4-1880-1C45-A338-EC532C820957}"/>
              </a:ext>
            </a:extLst>
          </p:cNvPr>
          <p:cNvSpPr/>
          <p:nvPr/>
        </p:nvSpPr>
        <p:spPr>
          <a:xfrm>
            <a:off x="5455442" y="1221368"/>
            <a:ext cx="3044423" cy="369332"/>
          </a:xfrm>
          <a:prstGeom prst="rect">
            <a:avLst/>
          </a:prstGeom>
        </p:spPr>
        <p:txBody>
          <a:bodyPr wrap="none">
            <a:spAutoFit/>
          </a:bodyPr>
          <a:lstStyle/>
          <a:p>
            <a:r>
              <a:rPr lang="en-CN" dirty="0">
                <a:solidFill>
                  <a:srgbClr val="FF0000"/>
                </a:solidFill>
              </a:rPr>
              <a:t>value减到负数代表有人等待</a:t>
            </a:r>
          </a:p>
        </p:txBody>
      </p:sp>
    </p:spTree>
    <p:extLst>
      <p:ext uri="{BB962C8B-B14F-4D97-AF65-F5344CB8AC3E}">
        <p14:creationId xmlns:p14="http://schemas.microsoft.com/office/powerpoint/2010/main" val="1819531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信号量的实现</a:t>
            </a:r>
            <a:r>
              <a:rPr lang="en-US" altLang="zh-CN" dirty="0"/>
              <a:t>-4</a:t>
            </a:r>
            <a:endParaRPr lang="en-CN"/>
          </a:p>
        </p:txBody>
      </p:sp>
      <p:sp>
        <p:nvSpPr>
          <p:cNvPr id="5" name="TextBox 4">
            <a:extLst>
              <a:ext uri="{FF2B5EF4-FFF2-40B4-BE49-F238E27FC236}">
                <a16:creationId xmlns:a16="http://schemas.microsoft.com/office/drawing/2014/main" id="{9F2E7298-0860-C04F-9E15-2A17F9EAF929}"/>
              </a:ext>
            </a:extLst>
          </p:cNvPr>
          <p:cNvSpPr txBox="1"/>
          <p:nvPr/>
        </p:nvSpPr>
        <p:spPr>
          <a:xfrm>
            <a:off x="3713871" y="991772"/>
            <a:ext cx="184731" cy="369332"/>
          </a:xfrm>
          <a:prstGeom prst="rect">
            <a:avLst/>
          </a:prstGeom>
          <a:noFill/>
        </p:spPr>
        <p:txBody>
          <a:bodyPr wrap="none" rtlCol="0">
            <a:spAutoFit/>
          </a:bodyPr>
          <a:lstStyle/>
          <a:p>
            <a:endParaRPr lang="en-CN"/>
          </a:p>
        </p:txBody>
      </p:sp>
      <p:sp>
        <p:nvSpPr>
          <p:cNvPr id="7" name="Rectangle 6">
            <a:extLst>
              <a:ext uri="{FF2B5EF4-FFF2-40B4-BE49-F238E27FC236}">
                <a16:creationId xmlns:a16="http://schemas.microsoft.com/office/drawing/2014/main" id="{D52653B2-51DE-4342-9B4C-4D542858C80C}"/>
              </a:ext>
            </a:extLst>
          </p:cNvPr>
          <p:cNvSpPr/>
          <p:nvPr/>
        </p:nvSpPr>
        <p:spPr>
          <a:xfrm>
            <a:off x="341784" y="2485549"/>
            <a:ext cx="8460432" cy="3139321"/>
          </a:xfrm>
          <a:prstGeom prst="rect">
            <a:avLst/>
          </a:prstGeom>
        </p:spPr>
        <p:txBody>
          <a:bodyPr wrap="square">
            <a:spAutoFit/>
          </a:bodyPr>
          <a:lstStyle/>
          <a:p>
            <a:r>
              <a:rPr lang="en-CN">
                <a:latin typeface="Courier" pitchFamily="2" charset="0"/>
              </a:rPr>
              <a:t>void wait(sem_t *S) {</a:t>
            </a:r>
          </a:p>
          <a:p>
            <a:r>
              <a:rPr lang="en-CN">
                <a:latin typeface="Courier" pitchFamily="2" charset="0"/>
              </a:rPr>
              <a:t>        </a:t>
            </a:r>
            <a:r>
              <a:rPr lang="en-CN">
                <a:solidFill>
                  <a:srgbClr val="FF9300"/>
                </a:solidFill>
                <a:latin typeface="Courier" pitchFamily="2" charset="0"/>
              </a:rPr>
              <a:t>lock</a:t>
            </a:r>
            <a:r>
              <a:rPr lang="en-CN">
                <a:latin typeface="Courier" pitchFamily="2" charset="0"/>
              </a:rPr>
              <a:t>(S-&gt;sem_lock);</a:t>
            </a:r>
          </a:p>
          <a:p>
            <a:r>
              <a:rPr lang="en-CN">
                <a:latin typeface="Courier" pitchFamily="2" charset="0"/>
              </a:rPr>
              <a:t>        </a:t>
            </a:r>
            <a:r>
              <a:rPr lang="en-CN">
                <a:solidFill>
                  <a:schemeClr val="accent1"/>
                </a:solidFill>
                <a:latin typeface="Courier" pitchFamily="2" charset="0"/>
              </a:rPr>
              <a:t>S-&gt;value --;</a:t>
            </a:r>
          </a:p>
          <a:p>
            <a:r>
              <a:rPr lang="en-CN">
                <a:solidFill>
                  <a:schemeClr val="accent1"/>
                </a:solidFill>
                <a:latin typeface="Courier" pitchFamily="2" charset="0"/>
              </a:rPr>
              <a:t>	</a:t>
            </a:r>
            <a:r>
              <a:rPr lang="zh-CN" altLang="en-US" dirty="0">
                <a:solidFill>
                  <a:schemeClr val="accent1"/>
                </a:solidFill>
                <a:latin typeface="Courier" pitchFamily="2" charset="0"/>
              </a:rPr>
              <a:t> </a:t>
            </a:r>
            <a:r>
              <a:rPr lang="en-CN">
                <a:latin typeface="Courier" pitchFamily="2" charset="0"/>
              </a:rPr>
              <a:t>if</a:t>
            </a:r>
            <a:r>
              <a:rPr lang="zh-CN" altLang="en-US" dirty="0">
                <a:latin typeface="Courier" pitchFamily="2" charset="0"/>
              </a:rPr>
              <a:t> </a:t>
            </a:r>
            <a:r>
              <a:rPr lang="en-CN">
                <a:latin typeface="Courier" pitchFamily="2" charset="0"/>
              </a:rPr>
              <a:t>(S-&gt;value &lt; 0) {</a:t>
            </a:r>
          </a:p>
          <a:p>
            <a:r>
              <a:rPr lang="en-CN">
                <a:latin typeface="Courier" pitchFamily="2" charset="0"/>
              </a:rPr>
              <a:t>                do {</a:t>
            </a:r>
          </a:p>
          <a:p>
            <a:r>
              <a:rPr lang="en-CN">
                <a:latin typeface="Courier" pitchFamily="2" charset="0"/>
              </a:rPr>
              <a:t>                        </a:t>
            </a:r>
            <a:r>
              <a:rPr lang="en-CN">
                <a:solidFill>
                  <a:srgbClr val="FF9300"/>
                </a:solidFill>
                <a:latin typeface="Courier" pitchFamily="2" charset="0"/>
              </a:rPr>
              <a:t>cond_wait</a:t>
            </a:r>
            <a:r>
              <a:rPr lang="en-CN">
                <a:latin typeface="Courier" pitchFamily="2" charset="0"/>
              </a:rPr>
              <a:t>(S-&gt;sem_cond, S-&gt;sem_lock);</a:t>
            </a:r>
          </a:p>
          <a:p>
            <a:r>
              <a:rPr lang="en-CN">
                <a:latin typeface="Courier" pitchFamily="2" charset="0"/>
              </a:rPr>
              <a:t>                } while (S-&gt;wakeup == 0);</a:t>
            </a:r>
          </a:p>
          <a:p>
            <a:r>
              <a:rPr lang="en-CN">
                <a:latin typeface="Courier" pitchFamily="2" charset="0"/>
              </a:rPr>
              <a:t>               </a:t>
            </a:r>
            <a:r>
              <a:rPr lang="en-CN">
                <a:solidFill>
                  <a:schemeClr val="accent1"/>
                </a:solidFill>
                <a:latin typeface="Courier" pitchFamily="2" charset="0"/>
              </a:rPr>
              <a:t> S-&gt;wakeup --;</a:t>
            </a:r>
          </a:p>
          <a:p>
            <a:r>
              <a:rPr lang="en-CN">
                <a:latin typeface="Courier" pitchFamily="2" charset="0"/>
              </a:rPr>
              <a:t>        }</a:t>
            </a:r>
          </a:p>
          <a:p>
            <a:r>
              <a:rPr lang="en-CN">
                <a:latin typeface="Courier" pitchFamily="2" charset="0"/>
              </a:rPr>
              <a:t>        </a:t>
            </a:r>
            <a:r>
              <a:rPr lang="en-CN">
                <a:solidFill>
                  <a:srgbClr val="FF9300"/>
                </a:solidFill>
                <a:latin typeface="Courier" pitchFamily="2" charset="0"/>
              </a:rPr>
              <a:t>unlock</a:t>
            </a:r>
            <a:r>
              <a:rPr lang="en-CN">
                <a:latin typeface="Courier" pitchFamily="2" charset="0"/>
              </a:rPr>
              <a:t>(S-&gt;sem_lock);</a:t>
            </a:r>
          </a:p>
          <a:p>
            <a:r>
              <a:rPr lang="en-CN">
                <a:latin typeface="Courier" pitchFamily="2" charset="0"/>
              </a:rPr>
              <a:t>}</a:t>
            </a:r>
          </a:p>
        </p:txBody>
      </p:sp>
      <p:sp>
        <p:nvSpPr>
          <p:cNvPr id="12" name="Rectangle 11">
            <a:extLst>
              <a:ext uri="{FF2B5EF4-FFF2-40B4-BE49-F238E27FC236}">
                <a16:creationId xmlns:a16="http://schemas.microsoft.com/office/drawing/2014/main" id="{9CA10C11-ED43-724E-AEAB-70D37A4F37B8}"/>
              </a:ext>
            </a:extLst>
          </p:cNvPr>
          <p:cNvSpPr/>
          <p:nvPr/>
        </p:nvSpPr>
        <p:spPr>
          <a:xfrm>
            <a:off x="766580" y="1478237"/>
            <a:ext cx="7548861" cy="884538"/>
          </a:xfrm>
          <a:prstGeom prst="rect">
            <a:avLst/>
          </a:prstGeom>
        </p:spPr>
        <p:txBody>
          <a:bodyPr wrap="none">
            <a:spAutoFit/>
          </a:bodyPr>
          <a:lstStyle/>
          <a:p>
            <a:pPr algn="ctr">
              <a:lnSpc>
                <a:spcPct val="150000"/>
              </a:lnSpc>
            </a:pPr>
            <a:r>
              <a:rPr lang="zh-CN" altLang="en-US" dirty="0">
                <a:latin typeface="Courier" pitchFamily="2" charset="0"/>
              </a:rPr>
              <a:t>新增一个变量 </a:t>
            </a:r>
            <a:r>
              <a:rPr lang="en-US" altLang="zh-CN" dirty="0">
                <a:highlight>
                  <a:srgbClr val="FFFF00"/>
                </a:highlight>
                <a:latin typeface="Courier" pitchFamily="2" charset="0"/>
              </a:rPr>
              <a:t>wakeup</a:t>
            </a:r>
            <a:r>
              <a:rPr lang="zh-CN" altLang="en-US" dirty="0">
                <a:latin typeface="Courier" pitchFamily="2" charset="0"/>
              </a:rPr>
              <a:t>：等待时可以唤醒的数量</a:t>
            </a:r>
            <a:endParaRPr lang="en-US" altLang="zh-CN" dirty="0">
              <a:latin typeface="Courier" pitchFamily="2" charset="0"/>
            </a:endParaRPr>
          </a:p>
          <a:p>
            <a:pPr algn="ctr">
              <a:lnSpc>
                <a:spcPct val="150000"/>
              </a:lnSpc>
            </a:pPr>
            <a:r>
              <a:rPr lang="zh-CN" altLang="en-US" dirty="0">
                <a:latin typeface="Courier" pitchFamily="2" charset="0"/>
              </a:rPr>
              <a:t>某一时刻真实的资源数：</a:t>
            </a:r>
            <a:r>
              <a:rPr lang="en-US" altLang="zh-CN" dirty="0">
                <a:latin typeface="Courier" pitchFamily="2" charset="0"/>
              </a:rPr>
              <a:t>value</a:t>
            </a:r>
            <a:r>
              <a:rPr lang="zh-CN" altLang="en-US" dirty="0">
                <a:latin typeface="Courier" pitchFamily="2" charset="0"/>
              </a:rPr>
              <a:t> </a:t>
            </a:r>
            <a:r>
              <a:rPr lang="en-US" altLang="zh-CN" dirty="0">
                <a:latin typeface="Courier" pitchFamily="2" charset="0"/>
              </a:rPr>
              <a:t>&lt;</a:t>
            </a:r>
            <a:r>
              <a:rPr lang="zh-CN" altLang="en-US" dirty="0">
                <a:latin typeface="Courier" pitchFamily="2" charset="0"/>
              </a:rPr>
              <a:t> </a:t>
            </a:r>
            <a:r>
              <a:rPr lang="en-US" altLang="zh-CN" dirty="0">
                <a:latin typeface="Courier" pitchFamily="2" charset="0"/>
              </a:rPr>
              <a:t>0 ? wakeup : value</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a:t>
            </a:r>
            <a:r>
              <a:rPr lang="en-US" altLang="zh-CN" dirty="0">
                <a:latin typeface="Courier" pitchFamily="2" charset="0"/>
              </a:rPr>
              <a:t>wakeup</a:t>
            </a:r>
            <a:endParaRPr lang="en-CN" altLang="zh-CN">
              <a:latin typeface="Courier" pitchFamily="2" charset="0"/>
            </a:endParaRPr>
          </a:p>
        </p:txBody>
      </p:sp>
      <p:sp>
        <p:nvSpPr>
          <p:cNvPr id="3" name="Rectangle 2">
            <a:extLst>
              <a:ext uri="{FF2B5EF4-FFF2-40B4-BE49-F238E27FC236}">
                <a16:creationId xmlns:a16="http://schemas.microsoft.com/office/drawing/2014/main" id="{0221BD09-9785-6840-B87D-18A24B22677F}"/>
              </a:ext>
            </a:extLst>
          </p:cNvPr>
          <p:cNvSpPr/>
          <p:nvPr/>
        </p:nvSpPr>
        <p:spPr>
          <a:xfrm>
            <a:off x="2411760" y="3649588"/>
            <a:ext cx="6390456" cy="79208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Footer Placeholder 5">
            <a:extLst>
              <a:ext uri="{FF2B5EF4-FFF2-40B4-BE49-F238E27FC236}">
                <a16:creationId xmlns:a16="http://schemas.microsoft.com/office/drawing/2014/main" id="{8524D351-70F5-1546-B80F-37362E9BA7BF}"/>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DE7F97FD-DDCC-7F43-8A23-CCA264000F49}"/>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11" name="Rectangle 10">
            <a:extLst>
              <a:ext uri="{FF2B5EF4-FFF2-40B4-BE49-F238E27FC236}">
                <a16:creationId xmlns:a16="http://schemas.microsoft.com/office/drawing/2014/main" id="{5B356999-2D3A-A04F-B658-2EBCE07CC4EB}"/>
              </a:ext>
            </a:extLst>
          </p:cNvPr>
          <p:cNvSpPr/>
          <p:nvPr/>
        </p:nvSpPr>
        <p:spPr>
          <a:xfrm>
            <a:off x="770992" y="1108905"/>
            <a:ext cx="7602016" cy="369332"/>
          </a:xfrm>
          <a:prstGeom prst="rect">
            <a:avLst/>
          </a:prstGeom>
        </p:spPr>
        <p:txBody>
          <a:bodyPr wrap="square">
            <a:spAutoFit/>
          </a:bodyPr>
          <a:lstStyle/>
          <a:p>
            <a:pPr algn="ctr"/>
            <a:r>
              <a:rPr lang="zh-CN" altLang="en-US" dirty="0">
                <a:latin typeface="Courier" pitchFamily="2" charset="0"/>
              </a:rPr>
              <a:t>介绍一种使用条件变量的实现：</a:t>
            </a:r>
            <a:r>
              <a:rPr lang="zh-CN" altLang="en-US" b="1" dirty="0">
                <a:latin typeface="Courier" pitchFamily="2" charset="0"/>
              </a:rPr>
              <a:t>条件变量 </a:t>
            </a:r>
            <a:r>
              <a:rPr lang="en-US" altLang="zh-CN" dirty="0">
                <a:latin typeface="Courier" pitchFamily="2" charset="0"/>
              </a:rPr>
              <a:t>+</a:t>
            </a:r>
            <a:r>
              <a:rPr lang="zh-CN" altLang="en-US" dirty="0">
                <a:latin typeface="Courier" pitchFamily="2" charset="0"/>
              </a:rPr>
              <a:t> </a:t>
            </a:r>
            <a:r>
              <a:rPr lang="zh-CN" altLang="en-US" b="1" dirty="0">
                <a:latin typeface="Courier" pitchFamily="2" charset="0"/>
              </a:rPr>
              <a:t>互斥锁</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a:t>
            </a:r>
            <a:r>
              <a:rPr lang="zh-CN" altLang="en-US" b="1" dirty="0">
                <a:latin typeface="Courier" pitchFamily="2" charset="0"/>
              </a:rPr>
              <a:t>计数器</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信号量</a:t>
            </a:r>
            <a:endParaRPr lang="en-CN" dirty="0"/>
          </a:p>
        </p:txBody>
      </p:sp>
    </p:spTree>
    <p:extLst>
      <p:ext uri="{BB962C8B-B14F-4D97-AF65-F5344CB8AC3E}">
        <p14:creationId xmlns:p14="http://schemas.microsoft.com/office/powerpoint/2010/main" val="2619191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信号量的实现</a:t>
            </a:r>
            <a:r>
              <a:rPr lang="en-US" altLang="zh-CN" dirty="0"/>
              <a:t>-4</a:t>
            </a:r>
            <a:endParaRPr lang="en-CN" dirty="0"/>
          </a:p>
        </p:txBody>
      </p:sp>
      <p:sp>
        <p:nvSpPr>
          <p:cNvPr id="5" name="TextBox 4">
            <a:extLst>
              <a:ext uri="{FF2B5EF4-FFF2-40B4-BE49-F238E27FC236}">
                <a16:creationId xmlns:a16="http://schemas.microsoft.com/office/drawing/2014/main" id="{9F2E7298-0860-C04F-9E15-2A17F9EAF929}"/>
              </a:ext>
            </a:extLst>
          </p:cNvPr>
          <p:cNvSpPr txBox="1"/>
          <p:nvPr/>
        </p:nvSpPr>
        <p:spPr>
          <a:xfrm>
            <a:off x="3713871" y="991772"/>
            <a:ext cx="184731" cy="369332"/>
          </a:xfrm>
          <a:prstGeom prst="rect">
            <a:avLst/>
          </a:prstGeom>
          <a:noFill/>
        </p:spPr>
        <p:txBody>
          <a:bodyPr wrap="none" rtlCol="0">
            <a:spAutoFit/>
          </a:bodyPr>
          <a:lstStyle/>
          <a:p>
            <a:endParaRPr lang="en-CN"/>
          </a:p>
        </p:txBody>
      </p:sp>
      <p:sp>
        <p:nvSpPr>
          <p:cNvPr id="6" name="Rectangle 5">
            <a:extLst>
              <a:ext uri="{FF2B5EF4-FFF2-40B4-BE49-F238E27FC236}">
                <a16:creationId xmlns:a16="http://schemas.microsoft.com/office/drawing/2014/main" id="{690F32BB-D34D-3D46-99A0-6EA0A0669F3F}"/>
              </a:ext>
            </a:extLst>
          </p:cNvPr>
          <p:cNvSpPr/>
          <p:nvPr/>
        </p:nvSpPr>
        <p:spPr>
          <a:xfrm>
            <a:off x="770992" y="1108905"/>
            <a:ext cx="7602016" cy="369332"/>
          </a:xfrm>
          <a:prstGeom prst="rect">
            <a:avLst/>
          </a:prstGeom>
        </p:spPr>
        <p:txBody>
          <a:bodyPr wrap="square">
            <a:spAutoFit/>
          </a:bodyPr>
          <a:lstStyle/>
          <a:p>
            <a:pPr algn="ctr"/>
            <a:r>
              <a:rPr lang="zh-CN" altLang="en-US" dirty="0">
                <a:latin typeface="Courier" pitchFamily="2" charset="0"/>
              </a:rPr>
              <a:t>介绍一种使用条件变量的实现：</a:t>
            </a:r>
            <a:r>
              <a:rPr lang="zh-CN" altLang="en-US" b="1" dirty="0">
                <a:latin typeface="Courier" pitchFamily="2" charset="0"/>
              </a:rPr>
              <a:t>条件变量 </a:t>
            </a:r>
            <a:r>
              <a:rPr lang="en-US" altLang="zh-CN" dirty="0">
                <a:latin typeface="Courier" pitchFamily="2" charset="0"/>
              </a:rPr>
              <a:t>+</a:t>
            </a:r>
            <a:r>
              <a:rPr lang="zh-CN" altLang="en-US" dirty="0">
                <a:latin typeface="Courier" pitchFamily="2" charset="0"/>
              </a:rPr>
              <a:t> </a:t>
            </a:r>
            <a:r>
              <a:rPr lang="zh-CN" altLang="en-US" b="1" dirty="0">
                <a:latin typeface="Courier" pitchFamily="2" charset="0"/>
              </a:rPr>
              <a:t>互斥锁</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a:t>
            </a:r>
            <a:r>
              <a:rPr lang="zh-CN" altLang="en-US" b="1" dirty="0">
                <a:latin typeface="Courier" pitchFamily="2" charset="0"/>
              </a:rPr>
              <a:t>计数器</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信号量</a:t>
            </a:r>
            <a:endParaRPr lang="en-CN" dirty="0"/>
          </a:p>
        </p:txBody>
      </p:sp>
      <p:sp>
        <p:nvSpPr>
          <p:cNvPr id="11" name="Rectangle 10">
            <a:extLst>
              <a:ext uri="{FF2B5EF4-FFF2-40B4-BE49-F238E27FC236}">
                <a16:creationId xmlns:a16="http://schemas.microsoft.com/office/drawing/2014/main" id="{56AE30F7-20C8-4843-86A9-790264BE84A0}"/>
              </a:ext>
            </a:extLst>
          </p:cNvPr>
          <p:cNvSpPr/>
          <p:nvPr/>
        </p:nvSpPr>
        <p:spPr>
          <a:xfrm>
            <a:off x="689635" y="1478237"/>
            <a:ext cx="7702751" cy="884538"/>
          </a:xfrm>
          <a:prstGeom prst="rect">
            <a:avLst/>
          </a:prstGeom>
        </p:spPr>
        <p:txBody>
          <a:bodyPr wrap="none">
            <a:spAutoFit/>
          </a:bodyPr>
          <a:lstStyle/>
          <a:p>
            <a:pPr lvl="0" algn="ctr">
              <a:lnSpc>
                <a:spcPct val="150000"/>
              </a:lnSpc>
            </a:pPr>
            <a:r>
              <a:rPr lang="zh-CN" altLang="en-US" dirty="0">
                <a:solidFill>
                  <a:srgbClr val="000000"/>
                </a:solidFill>
                <a:latin typeface="Courier" pitchFamily="2" charset="0"/>
              </a:rPr>
              <a:t>新增一个变量 </a:t>
            </a:r>
            <a:r>
              <a:rPr lang="en-US" altLang="zh-CN" dirty="0">
                <a:solidFill>
                  <a:srgbClr val="000000"/>
                </a:solidFill>
                <a:highlight>
                  <a:srgbClr val="FFFF00"/>
                </a:highlight>
                <a:latin typeface="Courier" pitchFamily="2" charset="0"/>
              </a:rPr>
              <a:t>wakeup</a:t>
            </a:r>
            <a:r>
              <a:rPr lang="zh-CN" altLang="en-US" dirty="0">
                <a:solidFill>
                  <a:srgbClr val="000000"/>
                </a:solidFill>
                <a:latin typeface="Courier" pitchFamily="2" charset="0"/>
              </a:rPr>
              <a:t>：等待时可以唤醒的数量</a:t>
            </a:r>
            <a:endParaRPr lang="en-US" altLang="zh-CN" dirty="0">
              <a:solidFill>
                <a:srgbClr val="000000"/>
              </a:solidFill>
              <a:latin typeface="Courier" pitchFamily="2" charset="0"/>
            </a:endParaRPr>
          </a:p>
          <a:p>
            <a:pPr lvl="0" algn="ctr">
              <a:lnSpc>
                <a:spcPct val="150000"/>
              </a:lnSpc>
            </a:pPr>
            <a:r>
              <a:rPr lang="zh-CN" altLang="en-US" dirty="0">
                <a:solidFill>
                  <a:srgbClr val="000000"/>
                </a:solidFill>
                <a:latin typeface="Courier" pitchFamily="2" charset="0"/>
              </a:rPr>
              <a:t>某一时刻真实的资源数：</a:t>
            </a:r>
            <a:r>
              <a:rPr lang="en-US" altLang="zh-CN" dirty="0">
                <a:solidFill>
                  <a:srgbClr val="000000"/>
                </a:solidFill>
                <a:latin typeface="Courier" pitchFamily="2" charset="0"/>
              </a:rPr>
              <a:t>value</a:t>
            </a:r>
            <a:r>
              <a:rPr lang="zh-CN" altLang="en-US" dirty="0">
                <a:solidFill>
                  <a:srgbClr val="000000"/>
                </a:solidFill>
                <a:latin typeface="Courier" pitchFamily="2" charset="0"/>
              </a:rPr>
              <a:t> </a:t>
            </a:r>
            <a:r>
              <a:rPr lang="en-US" altLang="zh-CN" dirty="0">
                <a:solidFill>
                  <a:srgbClr val="000000"/>
                </a:solidFill>
                <a:latin typeface="Courier" pitchFamily="2" charset="0"/>
              </a:rPr>
              <a:t>&lt;</a:t>
            </a:r>
            <a:r>
              <a:rPr lang="zh-CN" altLang="en-US" dirty="0">
                <a:solidFill>
                  <a:srgbClr val="000000"/>
                </a:solidFill>
                <a:latin typeface="Courier" pitchFamily="2" charset="0"/>
              </a:rPr>
              <a:t> </a:t>
            </a:r>
            <a:r>
              <a:rPr lang="en-US" altLang="zh-CN" dirty="0">
                <a:solidFill>
                  <a:srgbClr val="000000"/>
                </a:solidFill>
                <a:latin typeface="Courier" pitchFamily="2" charset="0"/>
              </a:rPr>
              <a:t>0 ? wakeup : value</a:t>
            </a:r>
            <a:r>
              <a:rPr lang="zh-CN" altLang="en-US" dirty="0">
                <a:solidFill>
                  <a:srgbClr val="000000"/>
                </a:solidFill>
                <a:latin typeface="Courier" pitchFamily="2" charset="0"/>
              </a:rPr>
              <a:t> </a:t>
            </a:r>
            <a:r>
              <a:rPr lang="en-US" altLang="zh-CN" dirty="0">
                <a:solidFill>
                  <a:srgbClr val="000000"/>
                </a:solidFill>
                <a:latin typeface="Courier" pitchFamily="2" charset="0"/>
              </a:rPr>
              <a:t>+</a:t>
            </a:r>
            <a:r>
              <a:rPr lang="zh-CN" altLang="en-US" dirty="0">
                <a:solidFill>
                  <a:srgbClr val="000000"/>
                </a:solidFill>
                <a:latin typeface="Courier" pitchFamily="2" charset="0"/>
              </a:rPr>
              <a:t> </a:t>
            </a:r>
            <a:r>
              <a:rPr lang="en-US" altLang="zh-CN" dirty="0">
                <a:solidFill>
                  <a:srgbClr val="000000"/>
                </a:solidFill>
                <a:latin typeface="Courier" pitchFamily="2" charset="0"/>
              </a:rPr>
              <a:t>wakeup</a:t>
            </a:r>
            <a:endParaRPr lang="en-CN" altLang="zh-CN">
              <a:solidFill>
                <a:srgbClr val="000000"/>
              </a:solidFill>
              <a:latin typeface="Courier" pitchFamily="2" charset="0"/>
            </a:endParaRPr>
          </a:p>
        </p:txBody>
      </p:sp>
      <p:sp>
        <p:nvSpPr>
          <p:cNvPr id="12" name="Rectangle 11">
            <a:extLst>
              <a:ext uri="{FF2B5EF4-FFF2-40B4-BE49-F238E27FC236}">
                <a16:creationId xmlns:a16="http://schemas.microsoft.com/office/drawing/2014/main" id="{E25A78B5-3988-3B44-B666-2F272BC71941}"/>
              </a:ext>
            </a:extLst>
          </p:cNvPr>
          <p:cNvSpPr/>
          <p:nvPr/>
        </p:nvSpPr>
        <p:spPr>
          <a:xfrm>
            <a:off x="1085528" y="2711639"/>
            <a:ext cx="6534472" cy="2585323"/>
          </a:xfrm>
          <a:prstGeom prst="rect">
            <a:avLst/>
          </a:prstGeom>
        </p:spPr>
        <p:txBody>
          <a:bodyPr wrap="square">
            <a:spAutoFit/>
          </a:bodyPr>
          <a:lstStyle/>
          <a:p>
            <a:r>
              <a:rPr lang="en-CN">
                <a:latin typeface="Courier" pitchFamily="2" charset="0"/>
              </a:rPr>
              <a:t>void signal(</a:t>
            </a:r>
            <a:r>
              <a:rPr lang="en-CN" altLang="zh-CN">
                <a:latin typeface="Courier" pitchFamily="2" charset="0"/>
              </a:rPr>
              <a:t>sem_t *S</a:t>
            </a:r>
            <a:r>
              <a:rPr lang="en-CN">
                <a:latin typeface="Courier" pitchFamily="2" charset="0"/>
              </a:rPr>
              <a:t>) {</a:t>
            </a:r>
          </a:p>
          <a:p>
            <a:r>
              <a:rPr lang="en-CN">
                <a:latin typeface="Courier" pitchFamily="2" charset="0"/>
              </a:rPr>
              <a:t>        </a:t>
            </a:r>
            <a:r>
              <a:rPr lang="en-CN">
                <a:solidFill>
                  <a:srgbClr val="FF9300"/>
                </a:solidFill>
                <a:latin typeface="Courier" pitchFamily="2" charset="0"/>
              </a:rPr>
              <a:t>lock</a:t>
            </a:r>
            <a:r>
              <a:rPr lang="en-CN">
                <a:latin typeface="Courier" pitchFamily="2" charset="0"/>
              </a:rPr>
              <a:t>(S-&gt;sem_lock);</a:t>
            </a:r>
          </a:p>
          <a:p>
            <a:r>
              <a:rPr lang="en-CN">
                <a:latin typeface="Courier" pitchFamily="2" charset="0"/>
              </a:rPr>
              <a:t>        </a:t>
            </a:r>
            <a:r>
              <a:rPr lang="en-CN">
                <a:solidFill>
                  <a:schemeClr val="accent1"/>
                </a:solidFill>
                <a:latin typeface="Courier" pitchFamily="2" charset="0"/>
              </a:rPr>
              <a:t>S-&gt;value ++;</a:t>
            </a:r>
          </a:p>
          <a:p>
            <a:r>
              <a:rPr lang="en-CN">
                <a:latin typeface="Courier" pitchFamily="2" charset="0"/>
              </a:rPr>
              <a:t>        if (S-&gt;value &lt;= 0) {</a:t>
            </a:r>
          </a:p>
          <a:p>
            <a:r>
              <a:rPr lang="en-CN">
                <a:latin typeface="Courier" pitchFamily="2" charset="0"/>
              </a:rPr>
              <a:t>                </a:t>
            </a:r>
            <a:r>
              <a:rPr lang="en-CN">
                <a:solidFill>
                  <a:schemeClr val="accent3"/>
                </a:solidFill>
                <a:latin typeface="Courier" pitchFamily="2" charset="0"/>
              </a:rPr>
              <a:t>S-&gt;wakeup ++;</a:t>
            </a:r>
          </a:p>
          <a:p>
            <a:r>
              <a:rPr lang="en-CN">
                <a:latin typeface="Courier" pitchFamily="2" charset="0"/>
              </a:rPr>
              <a:t>                </a:t>
            </a:r>
            <a:r>
              <a:rPr lang="en-CN">
                <a:solidFill>
                  <a:srgbClr val="FF9300"/>
                </a:solidFill>
                <a:latin typeface="Courier" pitchFamily="2" charset="0"/>
              </a:rPr>
              <a:t>cond_signal</a:t>
            </a:r>
            <a:r>
              <a:rPr lang="en-CN">
                <a:latin typeface="Courier" pitchFamily="2" charset="0"/>
              </a:rPr>
              <a:t>(S-&gt;sem_cond);                </a:t>
            </a:r>
          </a:p>
          <a:p>
            <a:r>
              <a:rPr lang="en-CN">
                <a:latin typeface="Courier" pitchFamily="2" charset="0"/>
              </a:rPr>
              <a:t>        }</a:t>
            </a:r>
          </a:p>
          <a:p>
            <a:r>
              <a:rPr lang="en-CN">
                <a:latin typeface="Courier" pitchFamily="2" charset="0"/>
              </a:rPr>
              <a:t>        </a:t>
            </a:r>
            <a:r>
              <a:rPr lang="en-CN">
                <a:solidFill>
                  <a:srgbClr val="FF9300"/>
                </a:solidFill>
                <a:latin typeface="Courier" pitchFamily="2" charset="0"/>
              </a:rPr>
              <a:t>unlock</a:t>
            </a:r>
            <a:r>
              <a:rPr lang="en-CN">
                <a:latin typeface="Courier" pitchFamily="2" charset="0"/>
              </a:rPr>
              <a:t>(S-&gt;sem_lock);</a:t>
            </a:r>
          </a:p>
          <a:p>
            <a:r>
              <a:rPr lang="en-CN">
                <a:latin typeface="Courier" pitchFamily="2" charset="0"/>
              </a:rPr>
              <a:t>}</a:t>
            </a:r>
          </a:p>
        </p:txBody>
      </p:sp>
      <p:sp>
        <p:nvSpPr>
          <p:cNvPr id="3" name="Footer Placeholder 2">
            <a:extLst>
              <a:ext uri="{FF2B5EF4-FFF2-40B4-BE49-F238E27FC236}">
                <a16:creationId xmlns:a16="http://schemas.microsoft.com/office/drawing/2014/main" id="{557AF180-E36C-6B4F-806F-CDE689BD9013}"/>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Rectangle 3">
            <a:extLst>
              <a:ext uri="{FF2B5EF4-FFF2-40B4-BE49-F238E27FC236}">
                <a16:creationId xmlns:a16="http://schemas.microsoft.com/office/drawing/2014/main" id="{1838C323-0682-5E49-BBD5-C164BCAC5B82}"/>
              </a:ext>
            </a:extLst>
          </p:cNvPr>
          <p:cNvSpPr/>
          <p:nvPr/>
        </p:nvSpPr>
        <p:spPr>
          <a:xfrm>
            <a:off x="1979712" y="3577580"/>
            <a:ext cx="4968552" cy="11456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0CA2C606-6730-5443-8517-E1867A764024}"/>
              </a:ext>
            </a:extLst>
          </p:cNvPr>
          <p:cNvSpPr/>
          <p:nvPr/>
        </p:nvSpPr>
        <p:spPr>
          <a:xfrm>
            <a:off x="7406188" y="3819634"/>
            <a:ext cx="1107996" cy="369332"/>
          </a:xfrm>
          <a:prstGeom prst="rect">
            <a:avLst/>
          </a:prstGeom>
        </p:spPr>
        <p:txBody>
          <a:bodyPr wrap="none">
            <a:spAutoFit/>
          </a:bodyPr>
          <a:lstStyle/>
          <a:p>
            <a:r>
              <a:rPr lang="zh-CN" altLang="en-US">
                <a:latin typeface="Courier" pitchFamily="2" charset="0"/>
              </a:rPr>
              <a:t>有人等待</a:t>
            </a:r>
            <a:endParaRPr lang="en-CN"/>
          </a:p>
        </p:txBody>
      </p:sp>
      <p:sp>
        <p:nvSpPr>
          <p:cNvPr id="8" name="Slide Number Placeholder 7">
            <a:extLst>
              <a:ext uri="{FF2B5EF4-FFF2-40B4-BE49-F238E27FC236}">
                <a16:creationId xmlns:a16="http://schemas.microsoft.com/office/drawing/2014/main" id="{CED149B9-FF0E-6544-BB43-6E3671EC8AB5}"/>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Tree>
    <p:extLst>
      <p:ext uri="{BB962C8B-B14F-4D97-AF65-F5344CB8AC3E}">
        <p14:creationId xmlns:p14="http://schemas.microsoft.com/office/powerpoint/2010/main" val="3884540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6B2FE-0F6D-AE45-84A2-1AE8FFA30389}"/>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B2093786-97DE-3A42-9239-76525887EF24}"/>
              </a:ext>
            </a:extLst>
          </p:cNvPr>
          <p:cNvSpPr>
            <a:spLocks noGrp="1"/>
          </p:cNvSpPr>
          <p:nvPr>
            <p:ph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2E9D722A-1CA4-064C-98AE-6E8C2A6EB387}"/>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pic>
        <p:nvPicPr>
          <p:cNvPr id="5" name="图片 4">
            <a:extLst>
              <a:ext uri="{FF2B5EF4-FFF2-40B4-BE49-F238E27FC236}">
                <a16:creationId xmlns:a16="http://schemas.microsoft.com/office/drawing/2014/main" id="{4E9AD734-2DA2-5545-8A6B-BD8725366E62}"/>
              </a:ext>
            </a:extLst>
          </p:cNvPr>
          <p:cNvPicPr>
            <a:picLocks noChangeAspect="1"/>
          </p:cNvPicPr>
          <p:nvPr/>
        </p:nvPicPr>
        <p:blipFill>
          <a:blip r:embed="rId2"/>
          <a:stretch>
            <a:fillRect/>
          </a:stretch>
        </p:blipFill>
        <p:spPr>
          <a:xfrm>
            <a:off x="1607027" y="0"/>
            <a:ext cx="5929945" cy="5715000"/>
          </a:xfrm>
          <a:prstGeom prst="rect">
            <a:avLst/>
          </a:prstGeom>
        </p:spPr>
      </p:pic>
    </p:spTree>
    <p:extLst>
      <p:ext uri="{BB962C8B-B14F-4D97-AF65-F5344CB8AC3E}">
        <p14:creationId xmlns:p14="http://schemas.microsoft.com/office/powerpoint/2010/main" val="492059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AF0-7B05-D646-BF00-3FEAD95A6A28}"/>
              </a:ext>
            </a:extLst>
          </p:cNvPr>
          <p:cNvSpPr>
            <a:spLocks noGrp="1"/>
          </p:cNvSpPr>
          <p:nvPr>
            <p:ph type="title"/>
          </p:nvPr>
        </p:nvSpPr>
        <p:spPr/>
        <p:txBody>
          <a:bodyPr/>
          <a:lstStyle/>
          <a:p>
            <a:r>
              <a:rPr lang="zh-CN" altLang="en-US" dirty="0"/>
              <a:t>信号量的实现</a:t>
            </a:r>
            <a:r>
              <a:rPr lang="en-US" altLang="zh-CN" dirty="0"/>
              <a:t>-4</a:t>
            </a:r>
            <a:endParaRPr lang="en-CN"/>
          </a:p>
        </p:txBody>
      </p:sp>
      <p:sp>
        <p:nvSpPr>
          <p:cNvPr id="5" name="TextBox 4">
            <a:extLst>
              <a:ext uri="{FF2B5EF4-FFF2-40B4-BE49-F238E27FC236}">
                <a16:creationId xmlns:a16="http://schemas.microsoft.com/office/drawing/2014/main" id="{9F2E7298-0860-C04F-9E15-2A17F9EAF929}"/>
              </a:ext>
            </a:extLst>
          </p:cNvPr>
          <p:cNvSpPr txBox="1"/>
          <p:nvPr/>
        </p:nvSpPr>
        <p:spPr>
          <a:xfrm>
            <a:off x="3713871" y="991772"/>
            <a:ext cx="184731" cy="369332"/>
          </a:xfrm>
          <a:prstGeom prst="rect">
            <a:avLst/>
          </a:prstGeom>
          <a:noFill/>
        </p:spPr>
        <p:txBody>
          <a:bodyPr wrap="none" rtlCol="0">
            <a:spAutoFit/>
          </a:bodyPr>
          <a:lstStyle/>
          <a:p>
            <a:endParaRPr lang="en-CN"/>
          </a:p>
        </p:txBody>
      </p:sp>
      <p:sp>
        <p:nvSpPr>
          <p:cNvPr id="7" name="Rectangle 6">
            <a:extLst>
              <a:ext uri="{FF2B5EF4-FFF2-40B4-BE49-F238E27FC236}">
                <a16:creationId xmlns:a16="http://schemas.microsoft.com/office/drawing/2014/main" id="{D52653B2-51DE-4342-9B4C-4D542858C80C}"/>
              </a:ext>
            </a:extLst>
          </p:cNvPr>
          <p:cNvSpPr/>
          <p:nvPr/>
        </p:nvSpPr>
        <p:spPr>
          <a:xfrm>
            <a:off x="341784" y="2485549"/>
            <a:ext cx="5166320" cy="1869743"/>
          </a:xfrm>
          <a:prstGeom prst="rect">
            <a:avLst/>
          </a:prstGeom>
        </p:spPr>
        <p:txBody>
          <a:bodyPr wrap="square">
            <a:spAutoFit/>
          </a:bodyPr>
          <a:lstStyle/>
          <a:p>
            <a:r>
              <a:rPr lang="en-CN" sz="1050">
                <a:latin typeface="Courier" pitchFamily="2" charset="0"/>
              </a:rPr>
              <a:t>void wait(sem_t *S) {</a:t>
            </a:r>
          </a:p>
          <a:p>
            <a:r>
              <a:rPr lang="en-CN" sz="1050">
                <a:latin typeface="Courier" pitchFamily="2" charset="0"/>
              </a:rPr>
              <a:t>        </a:t>
            </a:r>
            <a:r>
              <a:rPr lang="en-CN" sz="1050">
                <a:solidFill>
                  <a:srgbClr val="FF9300"/>
                </a:solidFill>
                <a:latin typeface="Courier" pitchFamily="2" charset="0"/>
              </a:rPr>
              <a:t>lock</a:t>
            </a:r>
            <a:r>
              <a:rPr lang="en-CN" sz="1050">
                <a:latin typeface="Courier" pitchFamily="2" charset="0"/>
              </a:rPr>
              <a:t>(S-&gt;sem_lock);</a:t>
            </a:r>
          </a:p>
          <a:p>
            <a:r>
              <a:rPr lang="en-CN" sz="1050">
                <a:latin typeface="Courier" pitchFamily="2" charset="0"/>
              </a:rPr>
              <a:t>        </a:t>
            </a:r>
            <a:r>
              <a:rPr lang="en-CN" sz="1050">
                <a:solidFill>
                  <a:schemeClr val="accent1"/>
                </a:solidFill>
                <a:latin typeface="Courier" pitchFamily="2" charset="0"/>
              </a:rPr>
              <a:t>S-&gt;value --;</a:t>
            </a:r>
          </a:p>
          <a:p>
            <a:r>
              <a:rPr lang="en-CN" sz="1050">
                <a:solidFill>
                  <a:schemeClr val="accent1"/>
                </a:solidFill>
                <a:latin typeface="Courier" pitchFamily="2" charset="0"/>
              </a:rPr>
              <a:t>	</a:t>
            </a:r>
            <a:r>
              <a:rPr lang="zh-CN" altLang="en-US" sz="1050">
                <a:solidFill>
                  <a:schemeClr val="accent1"/>
                </a:solidFill>
                <a:latin typeface="Courier" pitchFamily="2" charset="0"/>
              </a:rPr>
              <a:t> </a:t>
            </a:r>
            <a:r>
              <a:rPr lang="en-CN" sz="1050">
                <a:latin typeface="Courier" pitchFamily="2" charset="0"/>
              </a:rPr>
              <a:t>if</a:t>
            </a:r>
            <a:r>
              <a:rPr lang="zh-CN" altLang="en-US" sz="1050">
                <a:latin typeface="Courier" pitchFamily="2" charset="0"/>
              </a:rPr>
              <a:t> </a:t>
            </a:r>
            <a:r>
              <a:rPr lang="en-CN" sz="1050">
                <a:latin typeface="Courier" pitchFamily="2" charset="0"/>
              </a:rPr>
              <a:t>(S-&gt;value &lt; 0) {</a:t>
            </a:r>
          </a:p>
          <a:p>
            <a:r>
              <a:rPr lang="en-CN" sz="1050">
                <a:latin typeface="Courier" pitchFamily="2" charset="0"/>
              </a:rPr>
              <a:t>                while (S-&gt;wakeup == 0){</a:t>
            </a:r>
          </a:p>
          <a:p>
            <a:r>
              <a:rPr lang="en-CN" sz="1050">
                <a:latin typeface="Courier" pitchFamily="2" charset="0"/>
              </a:rPr>
              <a:t>                        </a:t>
            </a:r>
            <a:r>
              <a:rPr lang="en-CN" sz="1050">
                <a:solidFill>
                  <a:srgbClr val="FF9300"/>
                </a:solidFill>
                <a:latin typeface="Courier" pitchFamily="2" charset="0"/>
              </a:rPr>
              <a:t>cond_wait</a:t>
            </a:r>
            <a:r>
              <a:rPr lang="en-CN" sz="1050">
                <a:latin typeface="Courier" pitchFamily="2" charset="0"/>
              </a:rPr>
              <a:t>(S-&gt;sem_cond, S-&gt;sem_lock);</a:t>
            </a:r>
          </a:p>
          <a:p>
            <a:r>
              <a:rPr lang="en-CN" sz="1050">
                <a:latin typeface="Courier" pitchFamily="2" charset="0"/>
              </a:rPr>
              <a:t>                }</a:t>
            </a:r>
          </a:p>
          <a:p>
            <a:r>
              <a:rPr lang="en-CN" sz="1050">
                <a:solidFill>
                  <a:schemeClr val="accent1"/>
                </a:solidFill>
                <a:latin typeface="Courier" pitchFamily="2" charset="0"/>
              </a:rPr>
              <a:t>		   S-&gt;wakeup --;</a:t>
            </a:r>
          </a:p>
          <a:p>
            <a:r>
              <a:rPr lang="en-CN" sz="1050">
                <a:latin typeface="Courier" pitchFamily="2" charset="0"/>
              </a:rPr>
              <a:t>        }</a:t>
            </a:r>
          </a:p>
          <a:p>
            <a:r>
              <a:rPr lang="en-CN" sz="1050">
                <a:latin typeface="Courier" pitchFamily="2" charset="0"/>
              </a:rPr>
              <a:t>        </a:t>
            </a:r>
            <a:r>
              <a:rPr lang="en-CN" sz="1050">
                <a:solidFill>
                  <a:srgbClr val="FF9300"/>
                </a:solidFill>
                <a:latin typeface="Courier" pitchFamily="2" charset="0"/>
              </a:rPr>
              <a:t>unlock</a:t>
            </a:r>
            <a:r>
              <a:rPr lang="en-CN" sz="1050">
                <a:latin typeface="Courier" pitchFamily="2" charset="0"/>
              </a:rPr>
              <a:t>(S-&gt;sem_lock);</a:t>
            </a:r>
          </a:p>
          <a:p>
            <a:r>
              <a:rPr lang="en-CN" sz="1050">
                <a:latin typeface="Courier" pitchFamily="2" charset="0"/>
              </a:rPr>
              <a:t>}</a:t>
            </a:r>
          </a:p>
        </p:txBody>
      </p:sp>
      <p:sp>
        <p:nvSpPr>
          <p:cNvPr id="12" name="Rectangle 11">
            <a:extLst>
              <a:ext uri="{FF2B5EF4-FFF2-40B4-BE49-F238E27FC236}">
                <a16:creationId xmlns:a16="http://schemas.microsoft.com/office/drawing/2014/main" id="{9CA10C11-ED43-724E-AEAB-70D37A4F37B8}"/>
              </a:ext>
            </a:extLst>
          </p:cNvPr>
          <p:cNvSpPr/>
          <p:nvPr/>
        </p:nvSpPr>
        <p:spPr>
          <a:xfrm>
            <a:off x="457200" y="1478237"/>
            <a:ext cx="8167621" cy="884473"/>
          </a:xfrm>
          <a:prstGeom prst="rect">
            <a:avLst/>
          </a:prstGeom>
        </p:spPr>
        <p:txBody>
          <a:bodyPr wrap="none">
            <a:spAutoFit/>
          </a:bodyPr>
          <a:lstStyle/>
          <a:p>
            <a:pPr algn="ctr">
              <a:lnSpc>
                <a:spcPct val="150000"/>
              </a:lnSpc>
            </a:pPr>
            <a:r>
              <a:rPr lang="en-US" dirty="0">
                <a:latin typeface="Courier" pitchFamily="2" charset="0"/>
              </a:rPr>
              <a:t>v</a:t>
            </a:r>
            <a:r>
              <a:rPr lang="en-CN">
                <a:latin typeface="Courier" pitchFamily="2" charset="0"/>
              </a:rPr>
              <a:t>alue</a:t>
            </a:r>
            <a:r>
              <a:rPr lang="zh-CN" altLang="en-US" dirty="0">
                <a:latin typeface="Courier" pitchFamily="2" charset="0"/>
              </a:rPr>
              <a:t>：</a:t>
            </a:r>
            <a:r>
              <a:rPr lang="zh-CN" altLang="en-CN" dirty="0">
                <a:latin typeface="Courier" pitchFamily="2" charset="0"/>
              </a:rPr>
              <a:t>正数</a:t>
            </a:r>
            <a:r>
              <a:rPr lang="zh-CN" altLang="en-US" dirty="0">
                <a:latin typeface="Courier" pitchFamily="2" charset="0"/>
              </a:rPr>
              <a:t>为信号量，负数为有人等待</a:t>
            </a:r>
            <a:r>
              <a:rPr lang="en-US" altLang="zh-CN" dirty="0">
                <a:latin typeface="Courier" pitchFamily="2" charset="0"/>
              </a:rPr>
              <a:t>	wakeup</a:t>
            </a:r>
            <a:r>
              <a:rPr lang="zh-CN" altLang="en-US" dirty="0">
                <a:latin typeface="Courier" pitchFamily="2" charset="0"/>
              </a:rPr>
              <a:t>：等待时可以唤醒的数量</a:t>
            </a:r>
            <a:endParaRPr lang="en-US" altLang="zh-CN" dirty="0">
              <a:latin typeface="Courier" pitchFamily="2" charset="0"/>
            </a:endParaRPr>
          </a:p>
          <a:p>
            <a:pPr algn="ctr">
              <a:lnSpc>
                <a:spcPct val="150000"/>
              </a:lnSpc>
            </a:pPr>
            <a:r>
              <a:rPr lang="zh-CN" altLang="en-US" dirty="0">
                <a:latin typeface="Courier" pitchFamily="2" charset="0"/>
              </a:rPr>
              <a:t>某一时刻真实的信号量：</a:t>
            </a:r>
            <a:r>
              <a:rPr lang="en-US" altLang="zh-CN" dirty="0">
                <a:latin typeface="Courier" pitchFamily="2" charset="0"/>
              </a:rPr>
              <a:t>value</a:t>
            </a:r>
            <a:r>
              <a:rPr lang="zh-CN" altLang="en-US" dirty="0">
                <a:latin typeface="Courier" pitchFamily="2" charset="0"/>
              </a:rPr>
              <a:t> </a:t>
            </a:r>
            <a:r>
              <a:rPr lang="en-US" altLang="zh-CN" dirty="0">
                <a:latin typeface="Courier" pitchFamily="2" charset="0"/>
              </a:rPr>
              <a:t>&gt;</a:t>
            </a:r>
            <a:r>
              <a:rPr lang="zh-CN" altLang="en-US" dirty="0">
                <a:latin typeface="Courier" pitchFamily="2" charset="0"/>
              </a:rPr>
              <a:t> </a:t>
            </a:r>
            <a:r>
              <a:rPr lang="en-US" altLang="zh-CN" dirty="0">
                <a:latin typeface="Courier" pitchFamily="2" charset="0"/>
              </a:rPr>
              <a:t>0 ? value : wakeup</a:t>
            </a:r>
            <a:endParaRPr lang="en-CN">
              <a:latin typeface="Courier" pitchFamily="2" charset="0"/>
            </a:endParaRPr>
          </a:p>
        </p:txBody>
      </p:sp>
      <p:sp>
        <p:nvSpPr>
          <p:cNvPr id="13" name="Rectangle 12">
            <a:extLst>
              <a:ext uri="{FF2B5EF4-FFF2-40B4-BE49-F238E27FC236}">
                <a16:creationId xmlns:a16="http://schemas.microsoft.com/office/drawing/2014/main" id="{CE0ED014-964F-1C44-82FE-94D4B385EC77}"/>
              </a:ext>
            </a:extLst>
          </p:cNvPr>
          <p:cNvSpPr/>
          <p:nvPr/>
        </p:nvSpPr>
        <p:spPr>
          <a:xfrm>
            <a:off x="4535016" y="2513571"/>
            <a:ext cx="4151784" cy="369332"/>
          </a:xfrm>
          <a:prstGeom prst="rect">
            <a:avLst/>
          </a:prstGeom>
        </p:spPr>
        <p:txBody>
          <a:bodyPr wrap="square">
            <a:spAutoFit/>
          </a:bodyPr>
          <a:lstStyle/>
          <a:p>
            <a:pPr algn="ctr"/>
            <a:r>
              <a:rPr lang="zh-CN" altLang="en-CN" dirty="0">
                <a:solidFill>
                  <a:schemeClr val="accent1"/>
                </a:solidFill>
                <a:latin typeface="Courier" pitchFamily="2" charset="0"/>
              </a:rPr>
              <a:t>思考</a:t>
            </a:r>
            <a:r>
              <a:rPr lang="zh-CN" altLang="en-US" dirty="0">
                <a:solidFill>
                  <a:schemeClr val="accent1"/>
                </a:solidFill>
                <a:latin typeface="Courier" pitchFamily="2" charset="0"/>
              </a:rPr>
              <a:t>：为何要 </a:t>
            </a:r>
            <a:r>
              <a:rPr lang="en-US" altLang="zh-CN" dirty="0">
                <a:solidFill>
                  <a:schemeClr val="accent1"/>
                </a:solidFill>
                <a:latin typeface="Courier" pitchFamily="2" charset="0"/>
              </a:rPr>
              <a:t>do while?</a:t>
            </a:r>
            <a:r>
              <a:rPr lang="zh-CN" altLang="en-US" dirty="0">
                <a:solidFill>
                  <a:schemeClr val="accent1"/>
                </a:solidFill>
                <a:latin typeface="Courier" pitchFamily="2" charset="0"/>
              </a:rPr>
              <a:t> 有限等待</a:t>
            </a:r>
            <a:endParaRPr lang="en-CN">
              <a:solidFill>
                <a:schemeClr val="accent1"/>
              </a:solidFill>
            </a:endParaRPr>
          </a:p>
        </p:txBody>
      </p:sp>
      <p:sp>
        <p:nvSpPr>
          <p:cNvPr id="6" name="Footer Placeholder 5">
            <a:extLst>
              <a:ext uri="{FF2B5EF4-FFF2-40B4-BE49-F238E27FC236}">
                <a16:creationId xmlns:a16="http://schemas.microsoft.com/office/drawing/2014/main" id="{8524D351-70F5-1546-B80F-37362E9BA7BF}"/>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DE7F97FD-DDCC-7F43-8A23-CCA264000F49}"/>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11" name="Rectangle 10">
            <a:extLst>
              <a:ext uri="{FF2B5EF4-FFF2-40B4-BE49-F238E27FC236}">
                <a16:creationId xmlns:a16="http://schemas.microsoft.com/office/drawing/2014/main" id="{5B356999-2D3A-A04F-B658-2EBCE07CC4EB}"/>
              </a:ext>
            </a:extLst>
          </p:cNvPr>
          <p:cNvSpPr/>
          <p:nvPr/>
        </p:nvSpPr>
        <p:spPr>
          <a:xfrm>
            <a:off x="770992" y="1108905"/>
            <a:ext cx="7602016" cy="369332"/>
          </a:xfrm>
          <a:prstGeom prst="rect">
            <a:avLst/>
          </a:prstGeom>
        </p:spPr>
        <p:txBody>
          <a:bodyPr wrap="square">
            <a:spAutoFit/>
          </a:bodyPr>
          <a:lstStyle/>
          <a:p>
            <a:pPr algn="ctr"/>
            <a:r>
              <a:rPr lang="zh-CN" altLang="en-US" dirty="0">
                <a:latin typeface="Courier" pitchFamily="2" charset="0"/>
              </a:rPr>
              <a:t>介绍一种使用条件变量的实现：</a:t>
            </a:r>
            <a:r>
              <a:rPr lang="zh-CN" altLang="en-US" b="1" dirty="0">
                <a:latin typeface="Courier" pitchFamily="2" charset="0"/>
              </a:rPr>
              <a:t>条件变量 </a:t>
            </a:r>
            <a:r>
              <a:rPr lang="en-US" altLang="zh-CN" dirty="0">
                <a:latin typeface="Courier" pitchFamily="2" charset="0"/>
              </a:rPr>
              <a:t>+</a:t>
            </a:r>
            <a:r>
              <a:rPr lang="zh-CN" altLang="en-US" dirty="0">
                <a:latin typeface="Courier" pitchFamily="2" charset="0"/>
              </a:rPr>
              <a:t> </a:t>
            </a:r>
            <a:r>
              <a:rPr lang="zh-CN" altLang="en-US" b="1" dirty="0">
                <a:latin typeface="Courier" pitchFamily="2" charset="0"/>
              </a:rPr>
              <a:t>互斥锁</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a:t>
            </a:r>
            <a:r>
              <a:rPr lang="zh-CN" altLang="en-US" b="1" dirty="0">
                <a:latin typeface="Courier" pitchFamily="2" charset="0"/>
              </a:rPr>
              <a:t>计数器</a:t>
            </a:r>
            <a:r>
              <a:rPr lang="zh-CN" altLang="en-US" dirty="0">
                <a:latin typeface="Courier" pitchFamily="2" charset="0"/>
              </a:rPr>
              <a:t> </a:t>
            </a:r>
            <a:r>
              <a:rPr lang="en-US" altLang="zh-CN" dirty="0">
                <a:latin typeface="Courier" pitchFamily="2" charset="0"/>
              </a:rPr>
              <a:t>=</a:t>
            </a:r>
            <a:r>
              <a:rPr lang="zh-CN" altLang="en-US" dirty="0">
                <a:latin typeface="Courier" pitchFamily="2" charset="0"/>
              </a:rPr>
              <a:t> 信号量</a:t>
            </a:r>
            <a:endParaRPr lang="en-CN" dirty="0"/>
          </a:p>
        </p:txBody>
      </p:sp>
      <p:pic>
        <p:nvPicPr>
          <p:cNvPr id="9" name="Picture 8" descr="Table&#10;&#10;Description automatically generated">
            <a:extLst>
              <a:ext uri="{FF2B5EF4-FFF2-40B4-BE49-F238E27FC236}">
                <a16:creationId xmlns:a16="http://schemas.microsoft.com/office/drawing/2014/main" id="{17D480F0-57FA-E14B-8915-9F84505ED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5390" y="3651768"/>
            <a:ext cx="4556720" cy="1708770"/>
          </a:xfrm>
          <a:prstGeom prst="rect">
            <a:avLst/>
          </a:prstGeom>
        </p:spPr>
      </p:pic>
    </p:spTree>
    <p:extLst>
      <p:ext uri="{BB962C8B-B14F-4D97-AF65-F5344CB8AC3E}">
        <p14:creationId xmlns:p14="http://schemas.microsoft.com/office/powerpoint/2010/main" val="2380004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A777-CB92-704F-BC5A-7D281ECC2F96}"/>
              </a:ext>
            </a:extLst>
          </p:cNvPr>
          <p:cNvSpPr>
            <a:spLocks noGrp="1"/>
          </p:cNvSpPr>
          <p:nvPr>
            <p:ph type="title"/>
          </p:nvPr>
        </p:nvSpPr>
        <p:spPr/>
        <p:txBody>
          <a:bodyPr>
            <a:normAutofit fontScale="90000"/>
          </a:bodyPr>
          <a:lstStyle/>
          <a:p>
            <a:r>
              <a:rPr lang="zh-CN" altLang="en-US" dirty="0"/>
              <a:t>进阶话题：</a:t>
            </a:r>
            <a:r>
              <a:rPr lang="zh-CN" altLang="en-CN" dirty="0"/>
              <a:t>非</a:t>
            </a:r>
            <a:r>
              <a:rPr lang="zh-CN" altLang="en-US" dirty="0"/>
              <a:t>一致内存访问（</a:t>
            </a:r>
            <a:r>
              <a:rPr lang="en-US" altLang="zh-CN" dirty="0"/>
              <a:t>NUMA</a:t>
            </a:r>
            <a:r>
              <a:rPr lang="zh-CN" altLang="en-US" dirty="0"/>
              <a:t>）</a:t>
            </a:r>
            <a:endParaRPr lang="en-CN"/>
          </a:p>
        </p:txBody>
      </p:sp>
      <p:sp>
        <p:nvSpPr>
          <p:cNvPr id="3" name="Footer Placeholder 2">
            <a:extLst>
              <a:ext uri="{FF2B5EF4-FFF2-40B4-BE49-F238E27FC236}">
                <a16:creationId xmlns:a16="http://schemas.microsoft.com/office/drawing/2014/main" id="{DB614D1A-03F6-024F-803A-A27F6E1C6C8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444CD33F-70C0-E640-8329-1AC57B0C5E7C}"/>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Tree>
    <p:extLst>
      <p:ext uri="{BB962C8B-B14F-4D97-AF65-F5344CB8AC3E}">
        <p14:creationId xmlns:p14="http://schemas.microsoft.com/office/powerpoint/2010/main" val="4065649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BAD0C-9E7F-8841-94EB-B6310BF46A64}"/>
              </a:ext>
            </a:extLst>
          </p:cNvPr>
          <p:cNvSpPr>
            <a:spLocks noGrp="1"/>
          </p:cNvSpPr>
          <p:nvPr>
            <p:ph type="title"/>
          </p:nvPr>
        </p:nvSpPr>
        <p:spPr>
          <a:xfrm>
            <a:off x="457200" y="228866"/>
            <a:ext cx="8532094" cy="900442"/>
          </a:xfrm>
        </p:spPr>
        <p:txBody>
          <a:bodyPr/>
          <a:lstStyle/>
          <a:p>
            <a:r>
              <a:rPr lang="zh-CN" altLang="en-US"/>
              <a:t>互斥锁微基准测试</a:t>
            </a:r>
            <a:endParaRPr lang="en-CN"/>
          </a:p>
        </p:txBody>
      </p:sp>
      <p:sp>
        <p:nvSpPr>
          <p:cNvPr id="3" name="Footer Placeholder 2">
            <a:extLst>
              <a:ext uri="{FF2B5EF4-FFF2-40B4-BE49-F238E27FC236}">
                <a16:creationId xmlns:a16="http://schemas.microsoft.com/office/drawing/2014/main" id="{BEE2CE36-1AC9-764E-8C54-E7428FA1903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73302DDF-C10F-5A45-9775-1CA8634CF980}"/>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6" name="Rectangle 5">
            <a:extLst>
              <a:ext uri="{FF2B5EF4-FFF2-40B4-BE49-F238E27FC236}">
                <a16:creationId xmlns:a16="http://schemas.microsoft.com/office/drawing/2014/main" id="{2359AED6-9E66-CF45-A90B-BF373B3EF182}"/>
              </a:ext>
            </a:extLst>
          </p:cNvPr>
          <p:cNvSpPr/>
          <p:nvPr/>
        </p:nvSpPr>
        <p:spPr>
          <a:xfrm>
            <a:off x="642392" y="1140730"/>
            <a:ext cx="8161710" cy="3970318"/>
          </a:xfrm>
          <a:prstGeom prst="rect">
            <a:avLst/>
          </a:prstGeom>
        </p:spPr>
        <p:txBody>
          <a:bodyPr wrap="square">
            <a:spAutoFit/>
          </a:bodyPr>
          <a:lstStyle/>
          <a:p>
            <a:r>
              <a:rPr lang="en-US" altLang="zh-CN" dirty="0">
                <a:latin typeface="Courier" pitchFamily="2" charset="0"/>
              </a:rPr>
              <a:t>struct lock *</a:t>
            </a:r>
            <a:r>
              <a:rPr lang="en-US" altLang="zh-CN" dirty="0" err="1">
                <a:latin typeface="Courier" pitchFamily="2" charset="0"/>
              </a:rPr>
              <a:t>glock</a:t>
            </a:r>
            <a:r>
              <a:rPr lang="en-US" altLang="zh-CN" dirty="0">
                <a:latin typeface="Courier" pitchFamily="2" charset="0"/>
              </a:rPr>
              <a:t>;</a:t>
            </a:r>
          </a:p>
          <a:p>
            <a:r>
              <a:rPr lang="en-US" altLang="zh-CN" dirty="0">
                <a:latin typeface="Courier" pitchFamily="2" charset="0"/>
              </a:rPr>
              <a:t>unsigned long	 </a:t>
            </a:r>
            <a:r>
              <a:rPr lang="en-US" altLang="zh-CN" dirty="0" err="1">
                <a:latin typeface="Courier" pitchFamily="2" charset="0"/>
              </a:rPr>
              <a:t>gcnt</a:t>
            </a:r>
            <a:r>
              <a:rPr lang="en-US" altLang="zh-CN" dirty="0">
                <a:latin typeface="Courier" pitchFamily="2" charset="0"/>
              </a:rPr>
              <a:t> = 0;</a:t>
            </a:r>
          </a:p>
          <a:p>
            <a:r>
              <a:rPr lang="en-US" altLang="zh-CN" dirty="0">
                <a:latin typeface="Courier" pitchFamily="2" charset="0"/>
              </a:rPr>
              <a:t>char </a:t>
            </a:r>
            <a:r>
              <a:rPr lang="en-US" altLang="zh-CN" dirty="0" err="1">
                <a:latin typeface="Courier" pitchFamily="2" charset="0"/>
              </a:rPr>
              <a:t>shared_data</a:t>
            </a:r>
            <a:r>
              <a:rPr lang="en-US" altLang="zh-CN" dirty="0">
                <a:latin typeface="Courier" pitchFamily="2" charset="0"/>
              </a:rPr>
              <a:t>[CACHE_LINE_SIZE </a:t>
            </a:r>
            <a:r>
              <a:rPr lang="en-US" altLang="zh-CN" dirty="0">
                <a:solidFill>
                  <a:schemeClr val="accent1"/>
                </a:solidFill>
                <a:highlight>
                  <a:srgbClr val="FFFF00"/>
                </a:highlight>
                <a:latin typeface="Courier" pitchFamily="2" charset="0"/>
              </a:rPr>
              <a:t>* 10</a:t>
            </a:r>
            <a:r>
              <a:rPr lang="en-US" altLang="zh-CN" dirty="0">
                <a:latin typeface="Courier" pitchFamily="2" charset="0"/>
              </a:rPr>
              <a:t>];</a:t>
            </a:r>
          </a:p>
          <a:p>
            <a:r>
              <a:rPr lang="en-US" altLang="zh-CN" dirty="0">
                <a:solidFill>
                  <a:srgbClr val="00B050"/>
                </a:solidFill>
                <a:latin typeface="Courier" pitchFamily="2" charset="0"/>
              </a:rPr>
              <a:t>void</a:t>
            </a:r>
            <a:r>
              <a:rPr lang="en-US" altLang="zh-CN" dirty="0">
                <a:latin typeface="Courier" pitchFamily="2" charset="0"/>
              </a:rPr>
              <a:t> *</a:t>
            </a:r>
            <a:r>
              <a:rPr lang="en-US" altLang="zh-CN" dirty="0" err="1">
                <a:solidFill>
                  <a:srgbClr val="FF2F92"/>
                </a:solidFill>
                <a:latin typeface="Courier" pitchFamily="2" charset="0"/>
              </a:rPr>
              <a:t>thread_routine</a:t>
            </a:r>
            <a:r>
              <a:rPr lang="en-US" altLang="zh-CN" dirty="0">
                <a:latin typeface="Courier" pitchFamily="2" charset="0"/>
              </a:rPr>
              <a:t>(</a:t>
            </a:r>
            <a:r>
              <a:rPr lang="en-US" altLang="zh-CN" dirty="0">
                <a:solidFill>
                  <a:srgbClr val="00B050"/>
                </a:solidFill>
                <a:latin typeface="Courier" pitchFamily="2" charset="0"/>
              </a:rPr>
              <a:t>void *</a:t>
            </a:r>
            <a:r>
              <a:rPr lang="en-US" altLang="zh-CN" dirty="0" err="1">
                <a:solidFill>
                  <a:srgbClr val="00B050"/>
                </a:solidFill>
                <a:latin typeface="Courier" pitchFamily="2" charset="0"/>
              </a:rPr>
              <a:t>arg</a:t>
            </a:r>
            <a:r>
              <a:rPr lang="en-US" altLang="zh-CN" dirty="0">
                <a:latin typeface="Courier" pitchFamily="2" charset="0"/>
              </a:rPr>
              <a:t>) {</a:t>
            </a:r>
          </a:p>
          <a:p>
            <a:r>
              <a:rPr lang="en-US" dirty="0">
                <a:latin typeface="Courier" pitchFamily="2" charset="0"/>
              </a:rPr>
              <a:t>	while(1) {</a:t>
            </a:r>
          </a:p>
          <a:p>
            <a:r>
              <a:rPr lang="en-US" dirty="0">
                <a:latin typeface="Courier" pitchFamily="2" charset="0"/>
              </a:rPr>
              <a:t>		</a:t>
            </a:r>
            <a:r>
              <a:rPr lang="en-US" dirty="0">
                <a:solidFill>
                  <a:srgbClr val="FF2F92"/>
                </a:solidFill>
                <a:latin typeface="Courier" pitchFamily="2" charset="0"/>
              </a:rPr>
              <a:t>lock</a:t>
            </a:r>
            <a:r>
              <a:rPr lang="en-US" dirty="0">
                <a:latin typeface="Courier" pitchFamily="2" charset="0"/>
              </a:rPr>
              <a:t>(</a:t>
            </a:r>
            <a:r>
              <a:rPr lang="en-US" dirty="0" err="1">
                <a:latin typeface="Courier" pitchFamily="2" charset="0"/>
              </a:rPr>
              <a:t>glock</a:t>
            </a:r>
            <a:r>
              <a:rPr lang="en-US" dirty="0">
                <a:latin typeface="Courier" pitchFamily="2" charset="0"/>
              </a:rPr>
              <a:t>);</a:t>
            </a:r>
          </a:p>
          <a:p>
            <a:r>
              <a:rPr lang="en-US" dirty="0">
                <a:latin typeface="Courier" pitchFamily="2" charset="0"/>
              </a:rPr>
              <a:t>		</a:t>
            </a:r>
            <a:r>
              <a:rPr lang="en-US" dirty="0">
                <a:solidFill>
                  <a:srgbClr val="0070C0"/>
                </a:solidFill>
                <a:latin typeface="Courier" pitchFamily="2" charset="0"/>
              </a:rPr>
              <a:t>/* Critical Section */</a:t>
            </a:r>
          </a:p>
          <a:p>
            <a:r>
              <a:rPr lang="en-US" dirty="0">
                <a:latin typeface="Courier" pitchFamily="2" charset="0"/>
              </a:rPr>
              <a:t>		</a:t>
            </a:r>
            <a:r>
              <a:rPr lang="en-US" dirty="0" err="1">
                <a:latin typeface="Courier" pitchFamily="2" charset="0"/>
              </a:rPr>
              <a:t>gcnt</a:t>
            </a:r>
            <a:r>
              <a:rPr lang="en-US" dirty="0">
                <a:latin typeface="Courier" pitchFamily="2" charset="0"/>
              </a:rPr>
              <a:t> = </a:t>
            </a:r>
            <a:r>
              <a:rPr lang="en-US" dirty="0" err="1">
                <a:latin typeface="Courier" pitchFamily="2" charset="0"/>
              </a:rPr>
              <a:t>gcnt</a:t>
            </a:r>
            <a:r>
              <a:rPr lang="en-US" dirty="0">
                <a:latin typeface="Courier" pitchFamily="2" charset="0"/>
              </a:rPr>
              <a:t> + 1;</a:t>
            </a:r>
          </a:p>
          <a:p>
            <a:r>
              <a:rPr lang="en-US" dirty="0">
                <a:latin typeface="Courier" pitchFamily="2" charset="0"/>
              </a:rPr>
              <a:t>		</a:t>
            </a:r>
            <a:r>
              <a:rPr lang="en-US" dirty="0">
                <a:solidFill>
                  <a:srgbClr val="0070C0"/>
                </a:solidFill>
                <a:latin typeface="Courier" pitchFamily="2" charset="0"/>
              </a:rPr>
              <a:t>/* Read Modify Write </a:t>
            </a:r>
            <a:r>
              <a:rPr lang="en-US" dirty="0">
                <a:solidFill>
                  <a:schemeClr val="accent1"/>
                </a:solidFill>
                <a:latin typeface="Courier" pitchFamily="2" charset="0"/>
              </a:rPr>
              <a:t>10</a:t>
            </a:r>
            <a:r>
              <a:rPr lang="en-US" dirty="0">
                <a:solidFill>
                  <a:srgbClr val="0070C0"/>
                </a:solidFill>
                <a:latin typeface="Courier" pitchFamily="2" charset="0"/>
              </a:rPr>
              <a:t> * shared </a:t>
            </a:r>
            <a:r>
              <a:rPr lang="en-US" dirty="0" err="1">
                <a:solidFill>
                  <a:srgbClr val="0070C0"/>
                </a:solidFill>
                <a:latin typeface="Courier" pitchFamily="2" charset="0"/>
              </a:rPr>
              <a:t>cacheline</a:t>
            </a:r>
            <a:r>
              <a:rPr lang="en-US" dirty="0">
                <a:solidFill>
                  <a:srgbClr val="0070C0"/>
                </a:solidFill>
                <a:latin typeface="Courier" pitchFamily="2" charset="0"/>
              </a:rPr>
              <a:t> */</a:t>
            </a:r>
          </a:p>
          <a:p>
            <a:r>
              <a:rPr lang="en-US" dirty="0">
                <a:latin typeface="Courier" pitchFamily="2" charset="0"/>
              </a:rPr>
              <a:t>		</a:t>
            </a:r>
            <a:r>
              <a:rPr lang="en-US" dirty="0" err="1">
                <a:latin typeface="Courier" pitchFamily="2" charset="0"/>
              </a:rPr>
              <a:t>visit_shared_data</a:t>
            </a:r>
            <a:r>
              <a:rPr lang="en-US" dirty="0">
                <a:latin typeface="Courier" pitchFamily="2" charset="0"/>
              </a:rPr>
              <a:t>(</a:t>
            </a:r>
            <a:r>
              <a:rPr lang="en-US" dirty="0" err="1">
                <a:latin typeface="Courier" pitchFamily="2" charset="0"/>
              </a:rPr>
              <a:t>shared_data</a:t>
            </a:r>
            <a:r>
              <a:rPr lang="en-US" dirty="0">
                <a:latin typeface="Courier" pitchFamily="2" charset="0"/>
              </a:rPr>
              <a:t>, </a:t>
            </a:r>
            <a:r>
              <a:rPr lang="en-US" dirty="0">
                <a:solidFill>
                  <a:schemeClr val="accent1"/>
                </a:solidFill>
                <a:highlight>
                  <a:srgbClr val="FFFF00"/>
                </a:highlight>
                <a:latin typeface="Courier" pitchFamily="2" charset="0"/>
              </a:rPr>
              <a:t>10</a:t>
            </a:r>
            <a:r>
              <a:rPr lang="en-US" dirty="0">
                <a:latin typeface="Courier" pitchFamily="2" charset="0"/>
              </a:rPr>
              <a:t>);</a:t>
            </a:r>
          </a:p>
          <a:p>
            <a:r>
              <a:rPr lang="en-US" dirty="0">
                <a:latin typeface="Courier" pitchFamily="2" charset="0"/>
              </a:rPr>
              <a:t>		</a:t>
            </a:r>
            <a:r>
              <a:rPr lang="en-US" dirty="0">
                <a:solidFill>
                  <a:srgbClr val="FF2F92"/>
                </a:solidFill>
                <a:latin typeface="Courier" pitchFamily="2" charset="0"/>
              </a:rPr>
              <a:t>unlock</a:t>
            </a:r>
            <a:r>
              <a:rPr lang="en-US" dirty="0">
                <a:latin typeface="Courier" pitchFamily="2" charset="0"/>
              </a:rPr>
              <a:t>(</a:t>
            </a:r>
            <a:r>
              <a:rPr lang="en-US" dirty="0" err="1">
                <a:latin typeface="Courier" pitchFamily="2" charset="0"/>
              </a:rPr>
              <a:t>glock</a:t>
            </a:r>
            <a:r>
              <a:rPr lang="en-US" dirty="0">
                <a:latin typeface="Courier" pitchFamily="2" charset="0"/>
              </a:rPr>
              <a:t>);</a:t>
            </a:r>
            <a:endParaRPr lang="en-US" dirty="0">
              <a:solidFill>
                <a:srgbClr val="0070C0"/>
              </a:solidFill>
              <a:latin typeface="Courier" pitchFamily="2" charset="0"/>
            </a:endParaRPr>
          </a:p>
          <a:p>
            <a:r>
              <a:rPr lang="en-US" dirty="0">
                <a:latin typeface="Courier" pitchFamily="2" charset="0"/>
              </a:rPr>
              <a:t>		interval();</a:t>
            </a:r>
          </a:p>
          <a:p>
            <a:r>
              <a:rPr lang="en-US" dirty="0">
                <a:latin typeface="Courier" pitchFamily="2" charset="0"/>
              </a:rPr>
              <a:t>	}</a:t>
            </a:r>
          </a:p>
          <a:p>
            <a:r>
              <a:rPr lang="en-US" dirty="0">
                <a:latin typeface="Courier" pitchFamily="2" charset="0"/>
              </a:rPr>
              <a:t>}</a:t>
            </a:r>
          </a:p>
        </p:txBody>
      </p:sp>
      <p:sp>
        <p:nvSpPr>
          <p:cNvPr id="5" name="TextBox 4">
            <a:extLst>
              <a:ext uri="{FF2B5EF4-FFF2-40B4-BE49-F238E27FC236}">
                <a16:creationId xmlns:a16="http://schemas.microsoft.com/office/drawing/2014/main" id="{472E8F71-D558-D644-B642-A1D87B73B88F}"/>
              </a:ext>
            </a:extLst>
          </p:cNvPr>
          <p:cNvSpPr txBox="1"/>
          <p:nvPr/>
        </p:nvSpPr>
        <p:spPr>
          <a:xfrm>
            <a:off x="6444208" y="1140730"/>
            <a:ext cx="2242592" cy="1289456"/>
          </a:xfrm>
          <a:prstGeom prst="rect">
            <a:avLst/>
          </a:prstGeom>
          <a:noFill/>
        </p:spPr>
        <p:txBody>
          <a:bodyPr wrap="square" rtlCol="0">
            <a:spAutoFit/>
          </a:bodyPr>
          <a:lstStyle/>
          <a:p>
            <a:pPr>
              <a:lnSpc>
                <a:spcPct val="150000"/>
              </a:lnSpc>
            </a:pPr>
            <a:r>
              <a:rPr lang="zh-CN" altLang="en-CN"/>
              <a:t>在临界区</a:t>
            </a:r>
            <a:r>
              <a:rPr lang="zh-CN" altLang="en-US"/>
              <a:t>访问更多缓存行，是否会影响</a:t>
            </a:r>
            <a:r>
              <a:rPr lang="en-US" altLang="zh-CN"/>
              <a:t>mcs</a:t>
            </a:r>
            <a:r>
              <a:rPr lang="zh-CN" altLang="en-US"/>
              <a:t>锁的可扩展性？</a:t>
            </a:r>
            <a:endParaRPr lang="en-CN"/>
          </a:p>
        </p:txBody>
      </p:sp>
    </p:spTree>
    <p:extLst>
      <p:ext uri="{BB962C8B-B14F-4D97-AF65-F5344CB8AC3E}">
        <p14:creationId xmlns:p14="http://schemas.microsoft.com/office/powerpoint/2010/main" val="2444230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DA7F-F9D6-AF45-9B0B-C46B766F99EA}"/>
              </a:ext>
            </a:extLst>
          </p:cNvPr>
          <p:cNvSpPr>
            <a:spLocks noGrp="1"/>
          </p:cNvSpPr>
          <p:nvPr>
            <p:ph type="title"/>
          </p:nvPr>
        </p:nvSpPr>
        <p:spPr/>
        <p:txBody>
          <a:bodyPr/>
          <a:lstStyle/>
          <a:p>
            <a:r>
              <a:rPr lang="en-CN"/>
              <a:t>MCS</a:t>
            </a:r>
            <a:r>
              <a:rPr lang="zh-CN" altLang="en-CN" dirty="0"/>
              <a:t>锁</a:t>
            </a:r>
            <a:r>
              <a:rPr lang="zh-CN" altLang="en-US" dirty="0"/>
              <a:t>在</a:t>
            </a:r>
            <a:r>
              <a:rPr lang="en-US" altLang="zh-CN" dirty="0"/>
              <a:t>NUMA</a:t>
            </a:r>
            <a:r>
              <a:rPr lang="zh-CN" altLang="en-US" dirty="0"/>
              <a:t>上的表现</a:t>
            </a:r>
            <a:endParaRPr lang="en-CN"/>
          </a:p>
        </p:txBody>
      </p:sp>
      <p:sp>
        <p:nvSpPr>
          <p:cNvPr id="4" name="Slide Number Placeholder 3">
            <a:extLst>
              <a:ext uri="{FF2B5EF4-FFF2-40B4-BE49-F238E27FC236}">
                <a16:creationId xmlns:a16="http://schemas.microsoft.com/office/drawing/2014/main" id="{C339C3BC-7A82-1347-8DF1-B5DA25B1B981}"/>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Footer Placeholder 4">
            <a:extLst>
              <a:ext uri="{FF2B5EF4-FFF2-40B4-BE49-F238E27FC236}">
                <a16:creationId xmlns:a16="http://schemas.microsoft.com/office/drawing/2014/main" id="{FB2BBACD-1B8E-D64F-BD99-0DE2E3CB828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7" name="Picture 6">
            <a:extLst>
              <a:ext uri="{FF2B5EF4-FFF2-40B4-BE49-F238E27FC236}">
                <a16:creationId xmlns:a16="http://schemas.microsoft.com/office/drawing/2014/main" id="{58533BCB-73F5-9B40-A4FB-CF0B2ADC2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057300"/>
            <a:ext cx="5917871" cy="3945247"/>
          </a:xfrm>
          <a:prstGeom prst="rect">
            <a:avLst/>
          </a:prstGeom>
        </p:spPr>
      </p:pic>
      <p:sp>
        <p:nvSpPr>
          <p:cNvPr id="10" name="TextBox 9">
            <a:extLst>
              <a:ext uri="{FF2B5EF4-FFF2-40B4-BE49-F238E27FC236}">
                <a16:creationId xmlns:a16="http://schemas.microsoft.com/office/drawing/2014/main" id="{9849B3A3-2B00-A54E-AF7D-0583138BC41F}"/>
              </a:ext>
            </a:extLst>
          </p:cNvPr>
          <p:cNvSpPr txBox="1"/>
          <p:nvPr/>
        </p:nvSpPr>
        <p:spPr>
          <a:xfrm>
            <a:off x="683568" y="4720339"/>
            <a:ext cx="2267272" cy="338554"/>
          </a:xfrm>
          <a:prstGeom prst="rect">
            <a:avLst/>
          </a:prstGeom>
          <a:noFill/>
        </p:spPr>
        <p:txBody>
          <a:bodyPr wrap="square" rtlCol="0">
            <a:spAutoFit/>
          </a:bodyPr>
          <a:lstStyle/>
          <a:p>
            <a:pPr algn="ctr"/>
            <a:r>
              <a:rPr lang="zh-CN" altLang="en-US" sz="1600" b="1" dirty="0"/>
              <a:t>华为</a:t>
            </a:r>
            <a:r>
              <a:rPr lang="zh-CN" altLang="en-CN" sz="1600" b="1" dirty="0"/>
              <a:t>鲲鹏服务器</a:t>
            </a:r>
            <a:endParaRPr lang="en-CN" sz="1600" b="1"/>
          </a:p>
        </p:txBody>
      </p:sp>
      <p:sp>
        <p:nvSpPr>
          <p:cNvPr id="11" name="Rectangle 10">
            <a:extLst>
              <a:ext uri="{FF2B5EF4-FFF2-40B4-BE49-F238E27FC236}">
                <a16:creationId xmlns:a16="http://schemas.microsoft.com/office/drawing/2014/main" id="{1D9DBFD2-88F2-E647-8034-C363F9A08836}"/>
              </a:ext>
            </a:extLst>
          </p:cNvPr>
          <p:cNvSpPr/>
          <p:nvPr/>
        </p:nvSpPr>
        <p:spPr>
          <a:xfrm>
            <a:off x="6134584" y="2565217"/>
            <a:ext cx="2723823" cy="369332"/>
          </a:xfrm>
          <a:prstGeom prst="rect">
            <a:avLst/>
          </a:prstGeom>
        </p:spPr>
        <p:txBody>
          <a:bodyPr wrap="none">
            <a:spAutoFit/>
          </a:bodyPr>
          <a:lstStyle/>
          <a:p>
            <a:r>
              <a:rPr lang="zh-CN" altLang="en-US" dirty="0"/>
              <a:t>与之前测试有两点不同：</a:t>
            </a:r>
            <a:endParaRPr lang="en-CN"/>
          </a:p>
        </p:txBody>
      </p:sp>
      <p:sp>
        <p:nvSpPr>
          <p:cNvPr id="12" name="Rectangle 11">
            <a:extLst>
              <a:ext uri="{FF2B5EF4-FFF2-40B4-BE49-F238E27FC236}">
                <a16:creationId xmlns:a16="http://schemas.microsoft.com/office/drawing/2014/main" id="{7CA0E492-25E7-0A46-A3E6-5A2E333BDA63}"/>
              </a:ext>
            </a:extLst>
          </p:cNvPr>
          <p:cNvSpPr/>
          <p:nvPr/>
        </p:nvSpPr>
        <p:spPr>
          <a:xfrm>
            <a:off x="6313520" y="3033528"/>
            <a:ext cx="2365953" cy="1704954"/>
          </a:xfrm>
          <a:prstGeom prst="rect">
            <a:avLst/>
          </a:prstGeom>
        </p:spPr>
        <p:txBody>
          <a:bodyPr wrap="square">
            <a:spAutoFit/>
          </a:bodyPr>
          <a:lstStyle/>
          <a:p>
            <a:pPr marL="342900" indent="-342900">
              <a:lnSpc>
                <a:spcPct val="150000"/>
              </a:lnSpc>
              <a:buFont typeface="+mj-lt"/>
              <a:buAutoNum type="arabicPeriod"/>
            </a:pPr>
            <a:r>
              <a:rPr lang="zh-CN" altLang="en-US" dirty="0"/>
              <a:t>临界区访问共享缓存行数量 </a:t>
            </a:r>
            <a:r>
              <a:rPr lang="en-US" altLang="zh-CN" dirty="0"/>
              <a:t>1 =&gt;10</a:t>
            </a:r>
          </a:p>
          <a:p>
            <a:pPr marL="342900" indent="-342900">
              <a:lnSpc>
                <a:spcPct val="150000"/>
              </a:lnSpc>
              <a:buFont typeface="+mj-lt"/>
              <a:buAutoNum type="arabicPeriod"/>
            </a:pPr>
            <a:r>
              <a:rPr lang="zh-CN" altLang="en-US" dirty="0"/>
              <a:t>测试核心数扩大到</a:t>
            </a:r>
            <a:r>
              <a:rPr lang="en-US" altLang="zh-CN" dirty="0"/>
              <a:t>64</a:t>
            </a:r>
            <a:r>
              <a:rPr lang="zh-CN" altLang="en-US" dirty="0"/>
              <a:t>个核心</a:t>
            </a:r>
            <a:endParaRPr lang="en-CN"/>
          </a:p>
        </p:txBody>
      </p:sp>
      <p:pic>
        <p:nvPicPr>
          <p:cNvPr id="15" name="Picture 14">
            <a:extLst>
              <a:ext uri="{FF2B5EF4-FFF2-40B4-BE49-F238E27FC236}">
                <a16:creationId xmlns:a16="http://schemas.microsoft.com/office/drawing/2014/main" id="{CBDC1F00-4ECD-5149-9B42-7FD400D4F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9080" y="256356"/>
            <a:ext cx="2700299" cy="1800199"/>
          </a:xfrm>
          <a:prstGeom prst="rect">
            <a:avLst/>
          </a:prstGeom>
        </p:spPr>
      </p:pic>
    </p:spTree>
    <p:extLst>
      <p:ext uri="{BB962C8B-B14F-4D97-AF65-F5344CB8AC3E}">
        <p14:creationId xmlns:p14="http://schemas.microsoft.com/office/powerpoint/2010/main" val="16789947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FE6A-AE15-9D46-998F-0D17AFBC2AA3}"/>
              </a:ext>
            </a:extLst>
          </p:cNvPr>
          <p:cNvSpPr>
            <a:spLocks noGrp="1"/>
          </p:cNvSpPr>
          <p:nvPr>
            <p:ph type="title"/>
          </p:nvPr>
        </p:nvSpPr>
        <p:spPr/>
        <p:txBody>
          <a:bodyPr/>
          <a:lstStyle/>
          <a:p>
            <a:r>
              <a:rPr lang="zh-CN" altLang="en-US"/>
              <a:t>鲲鹏服务器</a:t>
            </a:r>
            <a:endParaRPr lang="en-CN"/>
          </a:p>
        </p:txBody>
      </p:sp>
      <p:sp>
        <p:nvSpPr>
          <p:cNvPr id="3" name="Rectangle 2">
            <a:extLst>
              <a:ext uri="{FF2B5EF4-FFF2-40B4-BE49-F238E27FC236}">
                <a16:creationId xmlns:a16="http://schemas.microsoft.com/office/drawing/2014/main" id="{583E9ECD-4966-AD4E-AF2B-6CD3716C0A42}"/>
              </a:ext>
            </a:extLst>
          </p:cNvPr>
          <p:cNvSpPr/>
          <p:nvPr/>
        </p:nvSpPr>
        <p:spPr>
          <a:xfrm>
            <a:off x="2863840" y="5017740"/>
            <a:ext cx="3416320" cy="369332"/>
          </a:xfrm>
          <a:prstGeom prst="rect">
            <a:avLst/>
          </a:prstGeom>
        </p:spPr>
        <p:txBody>
          <a:bodyPr wrap="none">
            <a:spAutoFit/>
          </a:bodyPr>
          <a:lstStyle/>
          <a:p>
            <a:r>
              <a:rPr lang="zh-CN" altLang="en-US"/>
              <a:t>常见于多处理器（多插槽）机器</a:t>
            </a:r>
            <a:endParaRPr lang="en-CN"/>
          </a:p>
        </p:txBody>
      </p:sp>
      <p:pic>
        <p:nvPicPr>
          <p:cNvPr id="7" name="Picture 6">
            <a:extLst>
              <a:ext uri="{FF2B5EF4-FFF2-40B4-BE49-F238E27FC236}">
                <a16:creationId xmlns:a16="http://schemas.microsoft.com/office/drawing/2014/main" id="{9619D02C-B1CE-3346-B7FD-3E78779E94C1}"/>
              </a:ext>
            </a:extLst>
          </p:cNvPr>
          <p:cNvPicPr>
            <a:picLocks noChangeAspect="1"/>
          </p:cNvPicPr>
          <p:nvPr/>
        </p:nvPicPr>
        <p:blipFill>
          <a:blip r:embed="rId2"/>
          <a:stretch>
            <a:fillRect/>
          </a:stretch>
        </p:blipFill>
        <p:spPr>
          <a:xfrm>
            <a:off x="4139952" y="1057300"/>
            <a:ext cx="3831734" cy="3217540"/>
          </a:xfrm>
          <a:prstGeom prst="rect">
            <a:avLst/>
          </a:prstGeom>
        </p:spPr>
      </p:pic>
      <p:pic>
        <p:nvPicPr>
          <p:cNvPr id="8" name="Picture 7">
            <a:extLst>
              <a:ext uri="{FF2B5EF4-FFF2-40B4-BE49-F238E27FC236}">
                <a16:creationId xmlns:a16="http://schemas.microsoft.com/office/drawing/2014/main" id="{C1A5E042-F33F-D543-AA89-99C655E4D795}"/>
              </a:ext>
            </a:extLst>
          </p:cNvPr>
          <p:cNvPicPr>
            <a:picLocks noChangeAspect="1"/>
          </p:cNvPicPr>
          <p:nvPr/>
        </p:nvPicPr>
        <p:blipFill>
          <a:blip r:embed="rId3"/>
          <a:stretch>
            <a:fillRect/>
          </a:stretch>
        </p:blipFill>
        <p:spPr>
          <a:xfrm>
            <a:off x="6405287" y="2086780"/>
            <a:ext cx="1224136" cy="708710"/>
          </a:xfrm>
          <a:prstGeom prst="rect">
            <a:avLst/>
          </a:prstGeom>
        </p:spPr>
      </p:pic>
      <p:pic>
        <p:nvPicPr>
          <p:cNvPr id="9" name="Picture 8">
            <a:extLst>
              <a:ext uri="{FF2B5EF4-FFF2-40B4-BE49-F238E27FC236}">
                <a16:creationId xmlns:a16="http://schemas.microsoft.com/office/drawing/2014/main" id="{D2FC384D-125B-2749-BDA0-903F172ACF82}"/>
              </a:ext>
            </a:extLst>
          </p:cNvPr>
          <p:cNvPicPr>
            <a:picLocks noChangeAspect="1"/>
          </p:cNvPicPr>
          <p:nvPr/>
        </p:nvPicPr>
        <p:blipFill>
          <a:blip r:embed="rId4"/>
          <a:stretch>
            <a:fillRect/>
          </a:stretch>
        </p:blipFill>
        <p:spPr>
          <a:xfrm>
            <a:off x="6553200" y="3044252"/>
            <a:ext cx="708710" cy="708710"/>
          </a:xfrm>
          <a:prstGeom prst="rect">
            <a:avLst/>
          </a:prstGeom>
        </p:spPr>
      </p:pic>
      <p:sp>
        <p:nvSpPr>
          <p:cNvPr id="10" name="Rectangle 9">
            <a:extLst>
              <a:ext uri="{FF2B5EF4-FFF2-40B4-BE49-F238E27FC236}">
                <a16:creationId xmlns:a16="http://schemas.microsoft.com/office/drawing/2014/main" id="{ECB62522-9844-5747-B624-AEAEDEBB2AFD}"/>
              </a:ext>
            </a:extLst>
          </p:cNvPr>
          <p:cNvSpPr/>
          <p:nvPr/>
        </p:nvSpPr>
        <p:spPr>
          <a:xfrm>
            <a:off x="4437427" y="4323763"/>
            <a:ext cx="3236784" cy="369332"/>
          </a:xfrm>
          <a:prstGeom prst="rect">
            <a:avLst/>
          </a:prstGeom>
        </p:spPr>
        <p:txBody>
          <a:bodyPr wrap="none">
            <a:spAutoFit/>
          </a:bodyPr>
          <a:lstStyle/>
          <a:p>
            <a:r>
              <a:rPr lang="zh-CN" altLang="en-US"/>
              <a:t>华为鲲鹏服务器（</a:t>
            </a:r>
            <a:r>
              <a:rPr lang="en-US" altLang="zh-CN"/>
              <a:t>ARM</a:t>
            </a:r>
            <a:r>
              <a:rPr lang="zh-CN" altLang="en-US"/>
              <a:t>架构）</a:t>
            </a:r>
            <a:endParaRPr lang="en-CN"/>
          </a:p>
        </p:txBody>
      </p:sp>
      <p:sp>
        <p:nvSpPr>
          <p:cNvPr id="11" name="Oval 10">
            <a:extLst>
              <a:ext uri="{FF2B5EF4-FFF2-40B4-BE49-F238E27FC236}">
                <a16:creationId xmlns:a16="http://schemas.microsoft.com/office/drawing/2014/main" id="{052298A7-6787-7E4F-8EF5-A747C1FE6888}"/>
              </a:ext>
            </a:extLst>
          </p:cNvPr>
          <p:cNvSpPr/>
          <p:nvPr/>
        </p:nvSpPr>
        <p:spPr>
          <a:xfrm>
            <a:off x="4671067" y="1561356"/>
            <a:ext cx="1008112" cy="10081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Oval 11">
            <a:extLst>
              <a:ext uri="{FF2B5EF4-FFF2-40B4-BE49-F238E27FC236}">
                <a16:creationId xmlns:a16="http://schemas.microsoft.com/office/drawing/2014/main" id="{A49D00E1-7DEA-5943-ADB8-E163F93470E5}"/>
              </a:ext>
            </a:extLst>
          </p:cNvPr>
          <p:cNvSpPr/>
          <p:nvPr/>
        </p:nvSpPr>
        <p:spPr>
          <a:xfrm>
            <a:off x="4671067" y="3043164"/>
            <a:ext cx="1008112" cy="10081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Arrow Connector 13">
            <a:extLst>
              <a:ext uri="{FF2B5EF4-FFF2-40B4-BE49-F238E27FC236}">
                <a16:creationId xmlns:a16="http://schemas.microsoft.com/office/drawing/2014/main" id="{3F03AAEB-B84C-034C-912A-4A714D4C543B}"/>
              </a:ext>
            </a:extLst>
          </p:cNvPr>
          <p:cNvCxnSpPr>
            <a:stCxn id="11" idx="2"/>
          </p:cNvCxnSpPr>
          <p:nvPr/>
        </p:nvCxnSpPr>
        <p:spPr>
          <a:xfrm flipH="1" flipV="1">
            <a:off x="2863840" y="1453953"/>
            <a:ext cx="1807227" cy="611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FD7A99C-98AB-CC4C-9D5D-1627AB70BE21}"/>
              </a:ext>
            </a:extLst>
          </p:cNvPr>
          <p:cNvCxnSpPr>
            <a:cxnSpLocks/>
            <a:stCxn id="12" idx="2"/>
          </p:cNvCxnSpPr>
          <p:nvPr/>
        </p:nvCxnSpPr>
        <p:spPr>
          <a:xfrm flipH="1" flipV="1">
            <a:off x="2863840" y="1561356"/>
            <a:ext cx="1807227" cy="1985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9A79BF2-0063-EA4A-A795-6DD42B559BE2}"/>
              </a:ext>
            </a:extLst>
          </p:cNvPr>
          <p:cNvSpPr/>
          <p:nvPr/>
        </p:nvSpPr>
        <p:spPr>
          <a:xfrm>
            <a:off x="1260629" y="1269287"/>
            <a:ext cx="1095172" cy="369332"/>
          </a:xfrm>
          <a:prstGeom prst="rect">
            <a:avLst/>
          </a:prstGeom>
        </p:spPr>
        <p:txBody>
          <a:bodyPr wrap="none">
            <a:spAutoFit/>
          </a:bodyPr>
          <a:lstStyle/>
          <a:p>
            <a:r>
              <a:rPr lang="en-US" altLang="zh-CN"/>
              <a:t>2</a:t>
            </a:r>
            <a:r>
              <a:rPr lang="zh-CN" altLang="en-US"/>
              <a:t>*</a:t>
            </a:r>
            <a:r>
              <a:rPr lang="zh-CN" altLang="en-CN"/>
              <a:t>处理器</a:t>
            </a:r>
            <a:endParaRPr lang="en-CN"/>
          </a:p>
        </p:txBody>
      </p:sp>
      <p:sp>
        <p:nvSpPr>
          <p:cNvPr id="5" name="Footer Placeholder 4">
            <a:extLst>
              <a:ext uri="{FF2B5EF4-FFF2-40B4-BE49-F238E27FC236}">
                <a16:creationId xmlns:a16="http://schemas.microsoft.com/office/drawing/2014/main" id="{4C097AE3-501F-0444-AEFF-C7DDAF3B9C0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822DE937-3926-654B-9953-FC7C9C6A47C7}"/>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Tree>
    <p:extLst>
      <p:ext uri="{BB962C8B-B14F-4D97-AF65-F5344CB8AC3E}">
        <p14:creationId xmlns:p14="http://schemas.microsoft.com/office/powerpoint/2010/main" val="4067828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FE6A-AE15-9D46-998F-0D17AFBC2AA3}"/>
              </a:ext>
            </a:extLst>
          </p:cNvPr>
          <p:cNvSpPr>
            <a:spLocks noGrp="1"/>
          </p:cNvSpPr>
          <p:nvPr>
            <p:ph type="title"/>
          </p:nvPr>
        </p:nvSpPr>
        <p:spPr/>
        <p:txBody>
          <a:bodyPr/>
          <a:lstStyle/>
          <a:p>
            <a:r>
              <a:rPr lang="zh-CN" altLang="en-US"/>
              <a:t>鲲鹏服务器</a:t>
            </a:r>
            <a:endParaRPr lang="en-CN"/>
          </a:p>
        </p:txBody>
      </p:sp>
      <p:sp>
        <p:nvSpPr>
          <p:cNvPr id="3" name="Rectangle 2">
            <a:extLst>
              <a:ext uri="{FF2B5EF4-FFF2-40B4-BE49-F238E27FC236}">
                <a16:creationId xmlns:a16="http://schemas.microsoft.com/office/drawing/2014/main" id="{583E9ECD-4966-AD4E-AF2B-6CD3716C0A42}"/>
              </a:ext>
            </a:extLst>
          </p:cNvPr>
          <p:cNvSpPr/>
          <p:nvPr/>
        </p:nvSpPr>
        <p:spPr>
          <a:xfrm>
            <a:off x="2863840" y="5017740"/>
            <a:ext cx="3416320" cy="369332"/>
          </a:xfrm>
          <a:prstGeom prst="rect">
            <a:avLst/>
          </a:prstGeom>
        </p:spPr>
        <p:txBody>
          <a:bodyPr wrap="none">
            <a:spAutoFit/>
          </a:bodyPr>
          <a:lstStyle/>
          <a:p>
            <a:r>
              <a:rPr lang="zh-CN" altLang="en-US"/>
              <a:t>常见于多处理器（多插槽）机器</a:t>
            </a:r>
            <a:endParaRPr lang="en-CN"/>
          </a:p>
        </p:txBody>
      </p:sp>
      <p:pic>
        <p:nvPicPr>
          <p:cNvPr id="7" name="Picture 6">
            <a:extLst>
              <a:ext uri="{FF2B5EF4-FFF2-40B4-BE49-F238E27FC236}">
                <a16:creationId xmlns:a16="http://schemas.microsoft.com/office/drawing/2014/main" id="{9619D02C-B1CE-3346-B7FD-3E78779E94C1}"/>
              </a:ext>
            </a:extLst>
          </p:cNvPr>
          <p:cNvPicPr>
            <a:picLocks noChangeAspect="1"/>
          </p:cNvPicPr>
          <p:nvPr/>
        </p:nvPicPr>
        <p:blipFill>
          <a:blip r:embed="rId2"/>
          <a:stretch>
            <a:fillRect/>
          </a:stretch>
        </p:blipFill>
        <p:spPr>
          <a:xfrm>
            <a:off x="4139952" y="1057300"/>
            <a:ext cx="3831734" cy="3217540"/>
          </a:xfrm>
          <a:prstGeom prst="rect">
            <a:avLst/>
          </a:prstGeom>
        </p:spPr>
      </p:pic>
      <p:pic>
        <p:nvPicPr>
          <p:cNvPr id="8" name="Picture 7">
            <a:extLst>
              <a:ext uri="{FF2B5EF4-FFF2-40B4-BE49-F238E27FC236}">
                <a16:creationId xmlns:a16="http://schemas.microsoft.com/office/drawing/2014/main" id="{C1A5E042-F33F-D543-AA89-99C655E4D795}"/>
              </a:ext>
            </a:extLst>
          </p:cNvPr>
          <p:cNvPicPr>
            <a:picLocks noChangeAspect="1"/>
          </p:cNvPicPr>
          <p:nvPr/>
        </p:nvPicPr>
        <p:blipFill>
          <a:blip r:embed="rId3"/>
          <a:stretch>
            <a:fillRect/>
          </a:stretch>
        </p:blipFill>
        <p:spPr>
          <a:xfrm>
            <a:off x="6405287" y="2086780"/>
            <a:ext cx="1224136" cy="708710"/>
          </a:xfrm>
          <a:prstGeom prst="rect">
            <a:avLst/>
          </a:prstGeom>
        </p:spPr>
      </p:pic>
      <p:pic>
        <p:nvPicPr>
          <p:cNvPr id="9" name="Picture 8">
            <a:extLst>
              <a:ext uri="{FF2B5EF4-FFF2-40B4-BE49-F238E27FC236}">
                <a16:creationId xmlns:a16="http://schemas.microsoft.com/office/drawing/2014/main" id="{D2FC384D-125B-2749-BDA0-903F172ACF82}"/>
              </a:ext>
            </a:extLst>
          </p:cNvPr>
          <p:cNvPicPr>
            <a:picLocks noChangeAspect="1"/>
          </p:cNvPicPr>
          <p:nvPr/>
        </p:nvPicPr>
        <p:blipFill>
          <a:blip r:embed="rId4"/>
          <a:stretch>
            <a:fillRect/>
          </a:stretch>
        </p:blipFill>
        <p:spPr>
          <a:xfrm>
            <a:off x="6553200" y="3044252"/>
            <a:ext cx="708710" cy="708710"/>
          </a:xfrm>
          <a:prstGeom prst="rect">
            <a:avLst/>
          </a:prstGeom>
        </p:spPr>
      </p:pic>
      <p:sp>
        <p:nvSpPr>
          <p:cNvPr id="10" name="Rectangle 9">
            <a:extLst>
              <a:ext uri="{FF2B5EF4-FFF2-40B4-BE49-F238E27FC236}">
                <a16:creationId xmlns:a16="http://schemas.microsoft.com/office/drawing/2014/main" id="{ECB62522-9844-5747-B624-AEAEDEBB2AFD}"/>
              </a:ext>
            </a:extLst>
          </p:cNvPr>
          <p:cNvSpPr/>
          <p:nvPr/>
        </p:nvSpPr>
        <p:spPr>
          <a:xfrm>
            <a:off x="4437427" y="4323763"/>
            <a:ext cx="3236784" cy="369332"/>
          </a:xfrm>
          <a:prstGeom prst="rect">
            <a:avLst/>
          </a:prstGeom>
        </p:spPr>
        <p:txBody>
          <a:bodyPr wrap="none">
            <a:spAutoFit/>
          </a:bodyPr>
          <a:lstStyle/>
          <a:p>
            <a:r>
              <a:rPr lang="zh-CN" altLang="en-US"/>
              <a:t>华为鲲鹏服务器（</a:t>
            </a:r>
            <a:r>
              <a:rPr lang="en-US" altLang="zh-CN"/>
              <a:t>ARM</a:t>
            </a:r>
            <a:r>
              <a:rPr lang="zh-CN" altLang="en-US"/>
              <a:t>架构）</a:t>
            </a:r>
            <a:endParaRPr lang="en-CN"/>
          </a:p>
        </p:txBody>
      </p:sp>
      <p:sp>
        <p:nvSpPr>
          <p:cNvPr id="11" name="Oval 10">
            <a:extLst>
              <a:ext uri="{FF2B5EF4-FFF2-40B4-BE49-F238E27FC236}">
                <a16:creationId xmlns:a16="http://schemas.microsoft.com/office/drawing/2014/main" id="{052298A7-6787-7E4F-8EF5-A747C1FE6888}"/>
              </a:ext>
            </a:extLst>
          </p:cNvPr>
          <p:cNvSpPr/>
          <p:nvPr/>
        </p:nvSpPr>
        <p:spPr>
          <a:xfrm>
            <a:off x="4671067" y="1561356"/>
            <a:ext cx="1008112" cy="10081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Oval 11">
            <a:extLst>
              <a:ext uri="{FF2B5EF4-FFF2-40B4-BE49-F238E27FC236}">
                <a16:creationId xmlns:a16="http://schemas.microsoft.com/office/drawing/2014/main" id="{A49D00E1-7DEA-5943-ADB8-E163F93470E5}"/>
              </a:ext>
            </a:extLst>
          </p:cNvPr>
          <p:cNvSpPr/>
          <p:nvPr/>
        </p:nvSpPr>
        <p:spPr>
          <a:xfrm>
            <a:off x="4671067" y="3043164"/>
            <a:ext cx="1008112" cy="10081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Arrow Connector 13">
            <a:extLst>
              <a:ext uri="{FF2B5EF4-FFF2-40B4-BE49-F238E27FC236}">
                <a16:creationId xmlns:a16="http://schemas.microsoft.com/office/drawing/2014/main" id="{3F03AAEB-B84C-034C-912A-4A714D4C543B}"/>
              </a:ext>
            </a:extLst>
          </p:cNvPr>
          <p:cNvCxnSpPr>
            <a:stCxn id="11" idx="2"/>
          </p:cNvCxnSpPr>
          <p:nvPr/>
        </p:nvCxnSpPr>
        <p:spPr>
          <a:xfrm flipH="1" flipV="1">
            <a:off x="2863840" y="1453953"/>
            <a:ext cx="1807227" cy="611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FD7A99C-98AB-CC4C-9D5D-1627AB70BE21}"/>
              </a:ext>
            </a:extLst>
          </p:cNvPr>
          <p:cNvCxnSpPr>
            <a:cxnSpLocks/>
            <a:stCxn id="12" idx="2"/>
          </p:cNvCxnSpPr>
          <p:nvPr/>
        </p:nvCxnSpPr>
        <p:spPr>
          <a:xfrm flipH="1" flipV="1">
            <a:off x="2863840" y="1561356"/>
            <a:ext cx="1807227" cy="1985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9A79BF2-0063-EA4A-A795-6DD42B559BE2}"/>
              </a:ext>
            </a:extLst>
          </p:cNvPr>
          <p:cNvSpPr/>
          <p:nvPr/>
        </p:nvSpPr>
        <p:spPr>
          <a:xfrm>
            <a:off x="1260629" y="1269287"/>
            <a:ext cx="1095172" cy="369332"/>
          </a:xfrm>
          <a:prstGeom prst="rect">
            <a:avLst/>
          </a:prstGeom>
        </p:spPr>
        <p:txBody>
          <a:bodyPr wrap="none">
            <a:spAutoFit/>
          </a:bodyPr>
          <a:lstStyle/>
          <a:p>
            <a:r>
              <a:rPr lang="en-US" altLang="zh-CN"/>
              <a:t>2</a:t>
            </a:r>
            <a:r>
              <a:rPr lang="zh-CN" altLang="en-US"/>
              <a:t>*</a:t>
            </a:r>
            <a:r>
              <a:rPr lang="zh-CN" altLang="en-CN"/>
              <a:t>处理器</a:t>
            </a:r>
            <a:endParaRPr lang="en-CN"/>
          </a:p>
        </p:txBody>
      </p:sp>
      <p:sp>
        <p:nvSpPr>
          <p:cNvPr id="21" name="Rectangle 20">
            <a:extLst>
              <a:ext uri="{FF2B5EF4-FFF2-40B4-BE49-F238E27FC236}">
                <a16:creationId xmlns:a16="http://schemas.microsoft.com/office/drawing/2014/main" id="{F7D8E2A2-9159-244A-BCB3-66F0BCDB896A}"/>
              </a:ext>
            </a:extLst>
          </p:cNvPr>
          <p:cNvSpPr/>
          <p:nvPr/>
        </p:nvSpPr>
        <p:spPr>
          <a:xfrm>
            <a:off x="4342373" y="1395361"/>
            <a:ext cx="1323203" cy="41435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Rectangle 21">
            <a:extLst>
              <a:ext uri="{FF2B5EF4-FFF2-40B4-BE49-F238E27FC236}">
                <a16:creationId xmlns:a16="http://schemas.microsoft.com/office/drawing/2014/main" id="{838678CE-C243-8A4A-A2A3-AAB7726FB956}"/>
              </a:ext>
            </a:extLst>
          </p:cNvPr>
          <p:cNvSpPr/>
          <p:nvPr/>
        </p:nvSpPr>
        <p:spPr>
          <a:xfrm>
            <a:off x="4328804" y="2302638"/>
            <a:ext cx="1323203" cy="41435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ectangle 22">
            <a:extLst>
              <a:ext uri="{FF2B5EF4-FFF2-40B4-BE49-F238E27FC236}">
                <a16:creationId xmlns:a16="http://schemas.microsoft.com/office/drawing/2014/main" id="{ACA2317B-709A-CD43-B6F9-94863E28A980}"/>
              </a:ext>
            </a:extLst>
          </p:cNvPr>
          <p:cNvSpPr/>
          <p:nvPr/>
        </p:nvSpPr>
        <p:spPr>
          <a:xfrm>
            <a:off x="4364354" y="2875728"/>
            <a:ext cx="1323203" cy="41435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ectangle 23">
            <a:extLst>
              <a:ext uri="{FF2B5EF4-FFF2-40B4-BE49-F238E27FC236}">
                <a16:creationId xmlns:a16="http://schemas.microsoft.com/office/drawing/2014/main" id="{13AAC44C-A90C-9145-8E79-B2B05F593B1D}"/>
              </a:ext>
            </a:extLst>
          </p:cNvPr>
          <p:cNvSpPr/>
          <p:nvPr/>
        </p:nvSpPr>
        <p:spPr>
          <a:xfrm>
            <a:off x="4364354" y="3844101"/>
            <a:ext cx="1323203" cy="41435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6" name="Straight Arrow Connector 5">
            <a:extLst>
              <a:ext uri="{FF2B5EF4-FFF2-40B4-BE49-F238E27FC236}">
                <a16:creationId xmlns:a16="http://schemas.microsoft.com/office/drawing/2014/main" id="{BBA80DD5-8A91-5C42-BDB8-791AF1DF05AD}"/>
              </a:ext>
            </a:extLst>
          </p:cNvPr>
          <p:cNvCxnSpPr>
            <a:cxnSpLocks/>
            <a:stCxn id="21" idx="1"/>
          </p:cNvCxnSpPr>
          <p:nvPr/>
        </p:nvCxnSpPr>
        <p:spPr>
          <a:xfrm flipH="1">
            <a:off x="2555776" y="1602536"/>
            <a:ext cx="1786597" cy="183102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913AE5-22FC-064D-9000-C3FF1ECF91CC}"/>
              </a:ext>
            </a:extLst>
          </p:cNvPr>
          <p:cNvCxnSpPr>
            <a:cxnSpLocks/>
          </p:cNvCxnSpPr>
          <p:nvPr/>
        </p:nvCxnSpPr>
        <p:spPr>
          <a:xfrm flipH="1">
            <a:off x="2699792" y="2569468"/>
            <a:ext cx="1629014" cy="864096"/>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E405B5F-AA6E-4045-BA66-26CC835D09CE}"/>
              </a:ext>
            </a:extLst>
          </p:cNvPr>
          <p:cNvCxnSpPr>
            <a:cxnSpLocks/>
            <a:stCxn id="23" idx="1"/>
          </p:cNvCxnSpPr>
          <p:nvPr/>
        </p:nvCxnSpPr>
        <p:spPr>
          <a:xfrm flipH="1">
            <a:off x="2699792" y="3082903"/>
            <a:ext cx="1664562" cy="46431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60265E0-3687-3842-8270-C4851E63896C}"/>
              </a:ext>
            </a:extLst>
          </p:cNvPr>
          <p:cNvCxnSpPr>
            <a:cxnSpLocks/>
            <a:stCxn id="24" idx="1"/>
          </p:cNvCxnSpPr>
          <p:nvPr/>
        </p:nvCxnSpPr>
        <p:spPr>
          <a:xfrm flipH="1" flipV="1">
            <a:off x="2699792" y="3649588"/>
            <a:ext cx="1664562" cy="40168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CB7CBB9-200E-5A4D-93B3-230DBC23F530}"/>
              </a:ext>
            </a:extLst>
          </p:cNvPr>
          <p:cNvSpPr/>
          <p:nvPr/>
        </p:nvSpPr>
        <p:spPr>
          <a:xfrm>
            <a:off x="1334551" y="3322959"/>
            <a:ext cx="877163" cy="369332"/>
          </a:xfrm>
          <a:prstGeom prst="rect">
            <a:avLst/>
          </a:prstGeom>
        </p:spPr>
        <p:txBody>
          <a:bodyPr wrap="none">
            <a:spAutoFit/>
          </a:bodyPr>
          <a:lstStyle/>
          <a:p>
            <a:r>
              <a:rPr lang="zh-CN" altLang="en-US"/>
              <a:t>内存条</a:t>
            </a:r>
            <a:endParaRPr lang="en-CN"/>
          </a:p>
        </p:txBody>
      </p:sp>
      <p:sp>
        <p:nvSpPr>
          <p:cNvPr id="5" name="Footer Placeholder 4">
            <a:extLst>
              <a:ext uri="{FF2B5EF4-FFF2-40B4-BE49-F238E27FC236}">
                <a16:creationId xmlns:a16="http://schemas.microsoft.com/office/drawing/2014/main" id="{C32C0152-7666-614D-B465-4436A11DBFA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DBC81421-0836-E240-AA9D-EB59184B996E}"/>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Tree>
    <p:extLst>
      <p:ext uri="{BB962C8B-B14F-4D97-AF65-F5344CB8AC3E}">
        <p14:creationId xmlns:p14="http://schemas.microsoft.com/office/powerpoint/2010/main" val="2947806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FE6A-AE15-9D46-998F-0D17AFBC2AA3}"/>
              </a:ext>
            </a:extLst>
          </p:cNvPr>
          <p:cNvSpPr>
            <a:spLocks noGrp="1"/>
          </p:cNvSpPr>
          <p:nvPr>
            <p:ph type="title"/>
          </p:nvPr>
        </p:nvSpPr>
        <p:spPr/>
        <p:txBody>
          <a:bodyPr/>
          <a:lstStyle/>
          <a:p>
            <a:r>
              <a:rPr lang="zh-CN" altLang="en-CN"/>
              <a:t>非一致</a:t>
            </a:r>
            <a:r>
              <a:rPr lang="zh-CN" altLang="en-US"/>
              <a:t>内存访问</a:t>
            </a:r>
            <a:endParaRPr lang="en-CN"/>
          </a:p>
        </p:txBody>
      </p:sp>
      <p:pic>
        <p:nvPicPr>
          <p:cNvPr id="6" name="Picture 5">
            <a:extLst>
              <a:ext uri="{FF2B5EF4-FFF2-40B4-BE49-F238E27FC236}">
                <a16:creationId xmlns:a16="http://schemas.microsoft.com/office/drawing/2014/main" id="{AD36119F-2C27-C94C-A610-12A6D50B1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1420825"/>
            <a:ext cx="7259884" cy="2873350"/>
          </a:xfrm>
          <a:prstGeom prst="rect">
            <a:avLst/>
          </a:prstGeom>
        </p:spPr>
      </p:pic>
      <p:sp>
        <p:nvSpPr>
          <p:cNvPr id="3" name="Rectangle 2">
            <a:extLst>
              <a:ext uri="{FF2B5EF4-FFF2-40B4-BE49-F238E27FC236}">
                <a16:creationId xmlns:a16="http://schemas.microsoft.com/office/drawing/2014/main" id="{583E9ECD-4966-AD4E-AF2B-6CD3716C0A42}"/>
              </a:ext>
            </a:extLst>
          </p:cNvPr>
          <p:cNvSpPr/>
          <p:nvPr/>
        </p:nvSpPr>
        <p:spPr>
          <a:xfrm>
            <a:off x="251520" y="4890308"/>
            <a:ext cx="3416320" cy="369332"/>
          </a:xfrm>
          <a:prstGeom prst="rect">
            <a:avLst/>
          </a:prstGeom>
        </p:spPr>
        <p:txBody>
          <a:bodyPr wrap="none">
            <a:spAutoFit/>
          </a:bodyPr>
          <a:lstStyle/>
          <a:p>
            <a:r>
              <a:rPr lang="zh-CN" altLang="en-US"/>
              <a:t>常见于多处理器（多插槽）机器</a:t>
            </a:r>
            <a:endParaRPr lang="en-CN"/>
          </a:p>
        </p:txBody>
      </p:sp>
      <p:sp>
        <p:nvSpPr>
          <p:cNvPr id="7" name="Rectangle 6">
            <a:extLst>
              <a:ext uri="{FF2B5EF4-FFF2-40B4-BE49-F238E27FC236}">
                <a16:creationId xmlns:a16="http://schemas.microsoft.com/office/drawing/2014/main" id="{DA6D9A01-37CF-9E43-B849-81CBD8E6BA26}"/>
              </a:ext>
            </a:extLst>
          </p:cNvPr>
          <p:cNvSpPr/>
          <p:nvPr/>
        </p:nvSpPr>
        <p:spPr>
          <a:xfrm>
            <a:off x="2013460" y="4435936"/>
            <a:ext cx="5032147" cy="369332"/>
          </a:xfrm>
          <a:prstGeom prst="rect">
            <a:avLst/>
          </a:prstGeom>
        </p:spPr>
        <p:txBody>
          <a:bodyPr wrap="none">
            <a:spAutoFit/>
          </a:bodyPr>
          <a:lstStyle/>
          <a:p>
            <a:r>
              <a:rPr lang="zh-CN" altLang="en-US"/>
              <a:t>避免单内存控制器成为瓶颈，减少内存访问距离</a:t>
            </a:r>
            <a:endParaRPr lang="en-CN"/>
          </a:p>
        </p:txBody>
      </p:sp>
      <p:sp>
        <p:nvSpPr>
          <p:cNvPr id="5" name="Rectangle 4">
            <a:extLst>
              <a:ext uri="{FF2B5EF4-FFF2-40B4-BE49-F238E27FC236}">
                <a16:creationId xmlns:a16="http://schemas.microsoft.com/office/drawing/2014/main" id="{979C2306-6025-FB4A-99B9-5AEE76785839}"/>
              </a:ext>
            </a:extLst>
          </p:cNvPr>
          <p:cNvSpPr/>
          <p:nvPr/>
        </p:nvSpPr>
        <p:spPr>
          <a:xfrm>
            <a:off x="3667840" y="4890308"/>
            <a:ext cx="5357557" cy="369332"/>
          </a:xfrm>
          <a:prstGeom prst="rect">
            <a:avLst/>
          </a:prstGeom>
        </p:spPr>
        <p:txBody>
          <a:bodyPr wrap="none">
            <a:spAutoFit/>
          </a:bodyPr>
          <a:lstStyle/>
          <a:p>
            <a:r>
              <a:rPr lang="zh-CN" altLang="en-US" dirty="0"/>
              <a:t>单处理器众核系统也有可能使用，如</a:t>
            </a:r>
            <a:r>
              <a:rPr lang="en-US" altLang="zh-CN" dirty="0"/>
              <a:t>Intel Xeon Phi</a:t>
            </a:r>
            <a:endParaRPr lang="en-CN"/>
          </a:p>
        </p:txBody>
      </p:sp>
      <p:sp>
        <p:nvSpPr>
          <p:cNvPr id="8" name="Footer Placeholder 7">
            <a:extLst>
              <a:ext uri="{FF2B5EF4-FFF2-40B4-BE49-F238E27FC236}">
                <a16:creationId xmlns:a16="http://schemas.microsoft.com/office/drawing/2014/main" id="{27926D3F-B645-BE41-B87F-128ADFC29C3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8BCE566C-6775-F34A-8E19-1A0BA0EE65B0}"/>
              </a:ext>
            </a:extLst>
          </p:cNvPr>
          <p:cNvSpPr>
            <a:spLocks noGrp="1"/>
          </p:cNvSpPr>
          <p:nvPr>
            <p:ph type="sldNum" sz="quarter" idx="12"/>
          </p:nvPr>
        </p:nvSpPr>
        <p:spPr/>
        <p:txBody>
          <a:bodyPr/>
          <a:lstStyle/>
          <a:p>
            <a:fld id="{ADE361C3-C043-4A6E-BDCE-8DA1E7D90A3B}" type="slidenum">
              <a:rPr lang="zh-CN" altLang="en-US" smtClean="0"/>
              <a:t>40</a:t>
            </a:fld>
            <a:endParaRPr lang="zh-CN" altLang="en-US" dirty="0"/>
          </a:p>
        </p:txBody>
      </p:sp>
    </p:spTree>
    <p:extLst>
      <p:ext uri="{BB962C8B-B14F-4D97-AF65-F5344CB8AC3E}">
        <p14:creationId xmlns:p14="http://schemas.microsoft.com/office/powerpoint/2010/main" val="4004693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A6AD-0241-CB43-AD2D-8E167E75D0C9}"/>
              </a:ext>
            </a:extLst>
          </p:cNvPr>
          <p:cNvSpPr>
            <a:spLocks noGrp="1"/>
          </p:cNvSpPr>
          <p:nvPr>
            <p:ph type="title"/>
          </p:nvPr>
        </p:nvSpPr>
        <p:spPr/>
        <p:txBody>
          <a:bodyPr/>
          <a:lstStyle/>
          <a:p>
            <a:r>
              <a:rPr lang="en-CN"/>
              <a:t>Intel</a:t>
            </a:r>
            <a:r>
              <a:rPr lang="zh-CN" altLang="en-CN"/>
              <a:t>与</a:t>
            </a:r>
            <a:r>
              <a:rPr lang="en-US" altLang="zh-CN"/>
              <a:t>AMD</a:t>
            </a:r>
            <a:r>
              <a:rPr lang="zh-CN" altLang="en-US"/>
              <a:t>的</a:t>
            </a:r>
            <a:r>
              <a:rPr lang="en-US" altLang="zh-CN"/>
              <a:t>NUMA</a:t>
            </a:r>
            <a:r>
              <a:rPr lang="zh-CN" altLang="en-US"/>
              <a:t>系统架构与特性</a:t>
            </a:r>
            <a:endParaRPr lang="en-CN"/>
          </a:p>
        </p:txBody>
      </p:sp>
      <p:pic>
        <p:nvPicPr>
          <p:cNvPr id="8" name="Picture 7">
            <a:extLst>
              <a:ext uri="{FF2B5EF4-FFF2-40B4-BE49-F238E27FC236}">
                <a16:creationId xmlns:a16="http://schemas.microsoft.com/office/drawing/2014/main" id="{BA1BC6B1-34EE-2F44-A7C8-ED435197A3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494491"/>
            <a:ext cx="3384376" cy="2659153"/>
          </a:xfrm>
          <a:prstGeom prst="rect">
            <a:avLst/>
          </a:prstGeom>
        </p:spPr>
      </p:pic>
      <p:pic>
        <p:nvPicPr>
          <p:cNvPr id="10" name="Picture 9" descr="A screenshot of a cell phone&#10;&#10;Description automatically generated">
            <a:extLst>
              <a:ext uri="{FF2B5EF4-FFF2-40B4-BE49-F238E27FC236}">
                <a16:creationId xmlns:a16="http://schemas.microsoft.com/office/drawing/2014/main" id="{49189805-120C-A942-8813-B3E202202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0376" y="1531205"/>
            <a:ext cx="3393291" cy="2483441"/>
          </a:xfrm>
          <a:prstGeom prst="rect">
            <a:avLst/>
          </a:prstGeom>
        </p:spPr>
      </p:pic>
      <p:sp>
        <p:nvSpPr>
          <p:cNvPr id="11" name="TextBox 10">
            <a:extLst>
              <a:ext uri="{FF2B5EF4-FFF2-40B4-BE49-F238E27FC236}">
                <a16:creationId xmlns:a16="http://schemas.microsoft.com/office/drawing/2014/main" id="{ADF505B0-987B-AE40-ABA7-54BCFC312CC0}"/>
              </a:ext>
            </a:extLst>
          </p:cNvPr>
          <p:cNvSpPr txBox="1"/>
          <p:nvPr/>
        </p:nvSpPr>
        <p:spPr>
          <a:xfrm>
            <a:off x="380020" y="4513684"/>
            <a:ext cx="3538736" cy="369332"/>
          </a:xfrm>
          <a:prstGeom prst="rect">
            <a:avLst/>
          </a:prstGeom>
          <a:noFill/>
        </p:spPr>
        <p:txBody>
          <a:bodyPr wrap="square" rtlCol="0">
            <a:spAutoFit/>
          </a:bodyPr>
          <a:lstStyle/>
          <a:p>
            <a:pPr algn="ctr"/>
            <a:r>
              <a:rPr lang="en-CN">
                <a:latin typeface="Courier" pitchFamily="2" charset="0"/>
              </a:rPr>
              <a:t>Intel</a:t>
            </a:r>
            <a:r>
              <a:rPr lang="zh-CN" altLang="en-CN" dirty="0">
                <a:latin typeface="Courier" pitchFamily="2" charset="0"/>
              </a:rPr>
              <a:t>与</a:t>
            </a:r>
            <a:r>
              <a:rPr lang="en-US" altLang="zh-CN" dirty="0">
                <a:latin typeface="Courier" pitchFamily="2" charset="0"/>
              </a:rPr>
              <a:t>AMD</a:t>
            </a:r>
            <a:r>
              <a:rPr lang="zh-CN" altLang="en-US" dirty="0">
                <a:latin typeface="Courier" pitchFamily="2" charset="0"/>
              </a:rPr>
              <a:t>多插槽</a:t>
            </a:r>
            <a:r>
              <a:rPr lang="en-US" altLang="zh-CN" dirty="0">
                <a:latin typeface="Courier" pitchFamily="2" charset="0"/>
              </a:rPr>
              <a:t>NUMA</a:t>
            </a:r>
            <a:r>
              <a:rPr lang="zh-CN" altLang="en-US" dirty="0">
                <a:latin typeface="Courier" pitchFamily="2" charset="0"/>
              </a:rPr>
              <a:t>架构</a:t>
            </a:r>
            <a:endParaRPr lang="en-CN">
              <a:latin typeface="Courier" pitchFamily="2" charset="0"/>
            </a:endParaRPr>
          </a:p>
        </p:txBody>
      </p:sp>
      <p:sp>
        <p:nvSpPr>
          <p:cNvPr id="12" name="TextBox 11">
            <a:extLst>
              <a:ext uri="{FF2B5EF4-FFF2-40B4-BE49-F238E27FC236}">
                <a16:creationId xmlns:a16="http://schemas.microsoft.com/office/drawing/2014/main" id="{4C07A485-D7F3-1242-9034-CAA783357E25}"/>
              </a:ext>
            </a:extLst>
          </p:cNvPr>
          <p:cNvSpPr txBox="1"/>
          <p:nvPr/>
        </p:nvSpPr>
        <p:spPr>
          <a:xfrm>
            <a:off x="4572000" y="4513684"/>
            <a:ext cx="3816424" cy="369332"/>
          </a:xfrm>
          <a:prstGeom prst="rect">
            <a:avLst/>
          </a:prstGeom>
          <a:noFill/>
        </p:spPr>
        <p:txBody>
          <a:bodyPr wrap="square" rtlCol="0">
            <a:spAutoFit/>
          </a:bodyPr>
          <a:lstStyle/>
          <a:p>
            <a:pPr algn="ctr"/>
            <a:r>
              <a:rPr lang="en-CN">
                <a:latin typeface="Courier" pitchFamily="2" charset="0"/>
              </a:rPr>
              <a:t>Intel</a:t>
            </a:r>
            <a:r>
              <a:rPr lang="zh-CN" altLang="en-CN">
                <a:latin typeface="Courier" pitchFamily="2" charset="0"/>
              </a:rPr>
              <a:t>与</a:t>
            </a:r>
            <a:r>
              <a:rPr lang="en-US" altLang="zh-CN">
                <a:latin typeface="Courier" pitchFamily="2" charset="0"/>
              </a:rPr>
              <a:t>AMD</a:t>
            </a:r>
            <a:r>
              <a:rPr lang="zh-CN" altLang="en-US">
                <a:latin typeface="Courier" pitchFamily="2" charset="0"/>
              </a:rPr>
              <a:t> </a:t>
            </a:r>
            <a:r>
              <a:rPr lang="en-US" altLang="zh-CN">
                <a:latin typeface="Courier" pitchFamily="2" charset="0"/>
              </a:rPr>
              <a:t>NUMA</a:t>
            </a:r>
            <a:r>
              <a:rPr lang="zh-CN" altLang="en-US">
                <a:latin typeface="Courier" pitchFamily="2" charset="0"/>
              </a:rPr>
              <a:t>访存时延特性</a:t>
            </a:r>
            <a:endParaRPr lang="en-CN">
              <a:latin typeface="Courier" pitchFamily="2" charset="0"/>
            </a:endParaRPr>
          </a:p>
        </p:txBody>
      </p:sp>
      <p:cxnSp>
        <p:nvCxnSpPr>
          <p:cNvPr id="9" name="Straight Arrow Connector 8">
            <a:extLst>
              <a:ext uri="{FF2B5EF4-FFF2-40B4-BE49-F238E27FC236}">
                <a16:creationId xmlns:a16="http://schemas.microsoft.com/office/drawing/2014/main" id="{FAF0A6CD-1EFD-3044-AC86-33934FA31CC3}"/>
              </a:ext>
            </a:extLst>
          </p:cNvPr>
          <p:cNvCxnSpPr>
            <a:cxnSpLocks/>
          </p:cNvCxnSpPr>
          <p:nvPr/>
        </p:nvCxnSpPr>
        <p:spPr>
          <a:xfrm>
            <a:off x="1486000" y="2788064"/>
            <a:ext cx="50405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6F928BA-55B4-C44F-A567-84DFDA8379BA}"/>
              </a:ext>
            </a:extLst>
          </p:cNvPr>
          <p:cNvSpPr/>
          <p:nvPr/>
        </p:nvSpPr>
        <p:spPr>
          <a:xfrm>
            <a:off x="711429" y="2951148"/>
            <a:ext cx="774571" cy="369332"/>
          </a:xfrm>
          <a:prstGeom prst="rect">
            <a:avLst/>
          </a:prstGeom>
        </p:spPr>
        <p:txBody>
          <a:bodyPr wrap="none">
            <a:spAutoFit/>
          </a:bodyPr>
          <a:lstStyle/>
          <a:p>
            <a:r>
              <a:rPr lang="en-US" altLang="zh-CN">
                <a:solidFill>
                  <a:schemeClr val="accent1"/>
                </a:solidFill>
              </a:rPr>
              <a:t>0-hop</a:t>
            </a:r>
            <a:endParaRPr lang="en-CN">
              <a:solidFill>
                <a:schemeClr val="accent1"/>
              </a:solidFill>
            </a:endParaRPr>
          </a:p>
        </p:txBody>
      </p:sp>
      <p:sp>
        <p:nvSpPr>
          <p:cNvPr id="13" name="Rectangle 12">
            <a:extLst>
              <a:ext uri="{FF2B5EF4-FFF2-40B4-BE49-F238E27FC236}">
                <a16:creationId xmlns:a16="http://schemas.microsoft.com/office/drawing/2014/main" id="{882FD451-D6AD-1140-8846-A294DE2AE776}"/>
              </a:ext>
            </a:extLst>
          </p:cNvPr>
          <p:cNvSpPr/>
          <p:nvPr/>
        </p:nvSpPr>
        <p:spPr>
          <a:xfrm>
            <a:off x="1350742" y="2792126"/>
            <a:ext cx="774571" cy="369332"/>
          </a:xfrm>
          <a:prstGeom prst="rect">
            <a:avLst/>
          </a:prstGeom>
        </p:spPr>
        <p:txBody>
          <a:bodyPr wrap="none">
            <a:spAutoFit/>
          </a:bodyPr>
          <a:lstStyle/>
          <a:p>
            <a:r>
              <a:rPr lang="en-US" altLang="zh-CN">
                <a:solidFill>
                  <a:schemeClr val="accent1"/>
                </a:solidFill>
              </a:rPr>
              <a:t>1-hop</a:t>
            </a:r>
            <a:endParaRPr lang="en-CN">
              <a:solidFill>
                <a:schemeClr val="accent1"/>
              </a:solidFill>
            </a:endParaRPr>
          </a:p>
        </p:txBody>
      </p:sp>
      <p:cxnSp>
        <p:nvCxnSpPr>
          <p:cNvPr id="14" name="Straight Arrow Connector 13">
            <a:extLst>
              <a:ext uri="{FF2B5EF4-FFF2-40B4-BE49-F238E27FC236}">
                <a16:creationId xmlns:a16="http://schemas.microsoft.com/office/drawing/2014/main" id="{4AC8D7F2-7482-6944-9B5C-FF46F93C72E0}"/>
              </a:ext>
            </a:extLst>
          </p:cNvPr>
          <p:cNvCxnSpPr>
            <a:cxnSpLocks/>
          </p:cNvCxnSpPr>
          <p:nvPr/>
        </p:nvCxnSpPr>
        <p:spPr>
          <a:xfrm flipV="1">
            <a:off x="1053952" y="2192932"/>
            <a:ext cx="0" cy="5951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9BEAF7B-D6F2-8E45-819C-C9E93D696810}"/>
              </a:ext>
            </a:extLst>
          </p:cNvPr>
          <p:cNvCxnSpPr>
            <a:cxnSpLocks/>
          </p:cNvCxnSpPr>
          <p:nvPr/>
        </p:nvCxnSpPr>
        <p:spPr>
          <a:xfrm flipV="1">
            <a:off x="1066960" y="1851960"/>
            <a:ext cx="419040" cy="4511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E01D861-AA99-9B41-B489-F4C53B130B32}"/>
              </a:ext>
            </a:extLst>
          </p:cNvPr>
          <p:cNvSpPr/>
          <p:nvPr/>
        </p:nvSpPr>
        <p:spPr>
          <a:xfrm>
            <a:off x="370384" y="1820844"/>
            <a:ext cx="774571" cy="369332"/>
          </a:xfrm>
          <a:prstGeom prst="rect">
            <a:avLst/>
          </a:prstGeom>
        </p:spPr>
        <p:txBody>
          <a:bodyPr wrap="none">
            <a:spAutoFit/>
          </a:bodyPr>
          <a:lstStyle/>
          <a:p>
            <a:r>
              <a:rPr lang="en-US" altLang="zh-CN">
                <a:solidFill>
                  <a:schemeClr val="accent1"/>
                </a:solidFill>
              </a:rPr>
              <a:t>2-hop</a:t>
            </a:r>
            <a:endParaRPr lang="en-CN">
              <a:solidFill>
                <a:schemeClr val="accent1"/>
              </a:solidFill>
            </a:endParaRPr>
          </a:p>
        </p:txBody>
      </p:sp>
      <p:sp>
        <p:nvSpPr>
          <p:cNvPr id="21" name="Rectangle 20">
            <a:extLst>
              <a:ext uri="{FF2B5EF4-FFF2-40B4-BE49-F238E27FC236}">
                <a16:creationId xmlns:a16="http://schemas.microsoft.com/office/drawing/2014/main" id="{499FE1F4-12DF-CF48-B298-DFE576F27701}"/>
              </a:ext>
            </a:extLst>
          </p:cNvPr>
          <p:cNvSpPr/>
          <p:nvPr/>
        </p:nvSpPr>
        <p:spPr>
          <a:xfrm>
            <a:off x="1417984" y="4873724"/>
            <a:ext cx="1107996" cy="369332"/>
          </a:xfrm>
          <a:prstGeom prst="rect">
            <a:avLst/>
          </a:prstGeom>
        </p:spPr>
        <p:txBody>
          <a:bodyPr wrap="none">
            <a:spAutoFit/>
          </a:bodyPr>
          <a:lstStyle/>
          <a:p>
            <a:r>
              <a:rPr lang="zh-CN" altLang="en-US" dirty="0">
                <a:solidFill>
                  <a:schemeClr val="accent1"/>
                </a:solidFill>
                <a:latin typeface="Courier" pitchFamily="2" charset="0"/>
              </a:rPr>
              <a:t>结构复杂</a:t>
            </a:r>
            <a:endParaRPr lang="en-CN">
              <a:solidFill>
                <a:schemeClr val="accent1"/>
              </a:solidFill>
            </a:endParaRPr>
          </a:p>
        </p:txBody>
      </p:sp>
      <p:sp>
        <p:nvSpPr>
          <p:cNvPr id="22" name="Rectangle 21">
            <a:extLst>
              <a:ext uri="{FF2B5EF4-FFF2-40B4-BE49-F238E27FC236}">
                <a16:creationId xmlns:a16="http://schemas.microsoft.com/office/drawing/2014/main" id="{78D6792E-8E92-0C48-9442-52D5A986CCC7}"/>
              </a:ext>
            </a:extLst>
          </p:cNvPr>
          <p:cNvSpPr/>
          <p:nvPr/>
        </p:nvSpPr>
        <p:spPr>
          <a:xfrm>
            <a:off x="5422121" y="4873724"/>
            <a:ext cx="2951449" cy="369332"/>
          </a:xfrm>
          <a:prstGeom prst="rect">
            <a:avLst/>
          </a:prstGeom>
        </p:spPr>
        <p:txBody>
          <a:bodyPr wrap="none">
            <a:spAutoFit/>
          </a:bodyPr>
          <a:lstStyle/>
          <a:p>
            <a:r>
              <a:rPr lang="zh-CN" altLang="en-US" dirty="0">
                <a:solidFill>
                  <a:schemeClr val="accent1"/>
                </a:solidFill>
                <a:latin typeface="Courier" pitchFamily="2" charset="0"/>
              </a:rPr>
              <a:t>跳数</a:t>
            </a:r>
            <a:r>
              <a:rPr lang="en-US" altLang="zh-CN" dirty="0">
                <a:solidFill>
                  <a:schemeClr val="accent1"/>
                </a:solidFill>
                <a:latin typeface="Courier" pitchFamily="2" charset="0"/>
              </a:rPr>
              <a:t>(hop)</a:t>
            </a:r>
            <a:r>
              <a:rPr lang="zh-CN" altLang="en-US" dirty="0">
                <a:solidFill>
                  <a:schemeClr val="accent1"/>
                </a:solidFill>
                <a:latin typeface="Courier" pitchFamily="2" charset="0"/>
              </a:rPr>
              <a:t>越多，延迟越高</a:t>
            </a:r>
            <a:endParaRPr lang="en-CN">
              <a:solidFill>
                <a:schemeClr val="accent1"/>
              </a:solidFill>
            </a:endParaRPr>
          </a:p>
        </p:txBody>
      </p:sp>
      <p:sp>
        <p:nvSpPr>
          <p:cNvPr id="3" name="Footer Placeholder 2">
            <a:extLst>
              <a:ext uri="{FF2B5EF4-FFF2-40B4-BE49-F238E27FC236}">
                <a16:creationId xmlns:a16="http://schemas.microsoft.com/office/drawing/2014/main" id="{13E1D3FF-A663-4C46-ADB5-42A2A0523B9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C8A0457A-300B-6E44-A578-D445B54CA352}"/>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Tree>
    <p:extLst>
      <p:ext uri="{BB962C8B-B14F-4D97-AF65-F5344CB8AC3E}">
        <p14:creationId xmlns:p14="http://schemas.microsoft.com/office/powerpoint/2010/main" val="218570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A6AD-0241-CB43-AD2D-8E167E75D0C9}"/>
              </a:ext>
            </a:extLst>
          </p:cNvPr>
          <p:cNvSpPr>
            <a:spLocks noGrp="1"/>
          </p:cNvSpPr>
          <p:nvPr>
            <p:ph type="title"/>
          </p:nvPr>
        </p:nvSpPr>
        <p:spPr/>
        <p:txBody>
          <a:bodyPr/>
          <a:lstStyle/>
          <a:p>
            <a:r>
              <a:rPr lang="en-CN"/>
              <a:t>Intel</a:t>
            </a:r>
            <a:r>
              <a:rPr lang="zh-CN" altLang="en-CN"/>
              <a:t>与</a:t>
            </a:r>
            <a:r>
              <a:rPr lang="en-US" altLang="zh-CN"/>
              <a:t>AMD</a:t>
            </a:r>
            <a:r>
              <a:rPr lang="zh-CN" altLang="en-US"/>
              <a:t>的</a:t>
            </a:r>
            <a:r>
              <a:rPr lang="en-US" altLang="zh-CN"/>
              <a:t>NUMA</a:t>
            </a:r>
            <a:r>
              <a:rPr lang="zh-CN" altLang="en-US"/>
              <a:t>系统架构与特性</a:t>
            </a:r>
            <a:endParaRPr lang="en-CN"/>
          </a:p>
        </p:txBody>
      </p:sp>
      <p:sp>
        <p:nvSpPr>
          <p:cNvPr id="12" name="TextBox 11">
            <a:extLst>
              <a:ext uri="{FF2B5EF4-FFF2-40B4-BE49-F238E27FC236}">
                <a16:creationId xmlns:a16="http://schemas.microsoft.com/office/drawing/2014/main" id="{4C07A485-D7F3-1242-9034-CAA783357E25}"/>
              </a:ext>
            </a:extLst>
          </p:cNvPr>
          <p:cNvSpPr txBox="1"/>
          <p:nvPr/>
        </p:nvSpPr>
        <p:spPr>
          <a:xfrm>
            <a:off x="2321750" y="4231561"/>
            <a:ext cx="4500500" cy="369332"/>
          </a:xfrm>
          <a:prstGeom prst="rect">
            <a:avLst/>
          </a:prstGeom>
          <a:noFill/>
        </p:spPr>
        <p:txBody>
          <a:bodyPr wrap="square" rtlCol="0">
            <a:spAutoFit/>
          </a:bodyPr>
          <a:lstStyle/>
          <a:p>
            <a:pPr algn="ctr"/>
            <a:r>
              <a:rPr lang="en-CN" b="1">
                <a:latin typeface="Courier" pitchFamily="2" charset="0"/>
              </a:rPr>
              <a:t>Intel</a:t>
            </a:r>
            <a:r>
              <a:rPr lang="zh-CN" altLang="en-CN" b="1" dirty="0">
                <a:latin typeface="Courier" pitchFamily="2" charset="0"/>
              </a:rPr>
              <a:t>与</a:t>
            </a:r>
            <a:r>
              <a:rPr lang="en-US" altLang="zh-CN" b="1" dirty="0">
                <a:latin typeface="Courier" pitchFamily="2" charset="0"/>
              </a:rPr>
              <a:t>AMD</a:t>
            </a:r>
            <a:r>
              <a:rPr lang="zh-CN" altLang="en-US" b="1" dirty="0">
                <a:latin typeface="Courier" pitchFamily="2" charset="0"/>
              </a:rPr>
              <a:t> </a:t>
            </a:r>
            <a:r>
              <a:rPr lang="en-US" altLang="zh-CN" b="1" dirty="0">
                <a:latin typeface="Courier" pitchFamily="2" charset="0"/>
              </a:rPr>
              <a:t>NUMA</a:t>
            </a:r>
            <a:r>
              <a:rPr lang="zh-CN" altLang="en-US" b="1" dirty="0">
                <a:latin typeface="Courier" pitchFamily="2" charset="0"/>
              </a:rPr>
              <a:t>访存带宽特性（</a:t>
            </a:r>
            <a:r>
              <a:rPr lang="en-US" altLang="zh-CN" b="1" dirty="0">
                <a:latin typeface="Courier" pitchFamily="2" charset="0"/>
              </a:rPr>
              <a:t>MB/s)</a:t>
            </a:r>
            <a:endParaRPr lang="en-CN" b="1">
              <a:latin typeface="Courier" pitchFamily="2" charset="0"/>
            </a:endParaRPr>
          </a:p>
        </p:txBody>
      </p:sp>
      <p:pic>
        <p:nvPicPr>
          <p:cNvPr id="5" name="Picture 4" descr="A screenshot of a cell phone&#10;&#10;Description automatically generated">
            <a:extLst>
              <a:ext uri="{FF2B5EF4-FFF2-40B4-BE49-F238E27FC236}">
                <a16:creationId xmlns:a16="http://schemas.microsoft.com/office/drawing/2014/main" id="{B8DD72B3-3BAF-5D49-8F94-5A0C59689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371" y="1261399"/>
            <a:ext cx="6415258" cy="2935945"/>
          </a:xfrm>
          <a:prstGeom prst="rect">
            <a:avLst/>
          </a:prstGeom>
        </p:spPr>
      </p:pic>
      <p:sp>
        <p:nvSpPr>
          <p:cNvPr id="6" name="Rectangle 5">
            <a:extLst>
              <a:ext uri="{FF2B5EF4-FFF2-40B4-BE49-F238E27FC236}">
                <a16:creationId xmlns:a16="http://schemas.microsoft.com/office/drawing/2014/main" id="{0AAF89DB-928E-4C44-A801-27052819A803}"/>
              </a:ext>
            </a:extLst>
          </p:cNvPr>
          <p:cNvSpPr/>
          <p:nvPr/>
        </p:nvSpPr>
        <p:spPr>
          <a:xfrm>
            <a:off x="3288521" y="4764261"/>
            <a:ext cx="2492990" cy="369332"/>
          </a:xfrm>
          <a:prstGeom prst="rect">
            <a:avLst/>
          </a:prstGeom>
        </p:spPr>
        <p:txBody>
          <a:bodyPr wrap="none">
            <a:spAutoFit/>
          </a:bodyPr>
          <a:lstStyle/>
          <a:p>
            <a:r>
              <a:rPr lang="zh-CN" altLang="en-US" dirty="0">
                <a:solidFill>
                  <a:schemeClr val="accent1"/>
                </a:solidFill>
                <a:latin typeface="Courier" pitchFamily="2" charset="0"/>
              </a:rPr>
              <a:t>跳数越多，带宽越受限</a:t>
            </a:r>
            <a:endParaRPr lang="en-CN">
              <a:solidFill>
                <a:schemeClr val="accent1"/>
              </a:solidFill>
            </a:endParaRPr>
          </a:p>
        </p:txBody>
      </p:sp>
      <p:sp>
        <p:nvSpPr>
          <p:cNvPr id="3" name="Footer Placeholder 2">
            <a:extLst>
              <a:ext uri="{FF2B5EF4-FFF2-40B4-BE49-F238E27FC236}">
                <a16:creationId xmlns:a16="http://schemas.microsoft.com/office/drawing/2014/main" id="{D1DEC91D-0BE0-DB43-BACD-A1D847622FC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504B43D5-732D-7745-887D-3216B2CD0E8A}"/>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Tree>
    <p:extLst>
      <p:ext uri="{BB962C8B-B14F-4D97-AF65-F5344CB8AC3E}">
        <p14:creationId xmlns:p14="http://schemas.microsoft.com/office/powerpoint/2010/main" val="2370515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p:txBody>
          <a:bodyPr>
            <a:normAutofit/>
          </a:bodyPr>
          <a:lstStyle/>
          <a:p>
            <a:r>
              <a:rPr lang="en-US" altLang="zh-CN"/>
              <a:t>NUMA</a:t>
            </a:r>
            <a:r>
              <a:rPr lang="zh-CN" altLang="en-US"/>
              <a:t>环境中新的挑战</a:t>
            </a:r>
            <a:endParaRPr lang="en-CN"/>
          </a:p>
        </p:txBody>
      </p:sp>
      <p:pic>
        <p:nvPicPr>
          <p:cNvPr id="5" name="Picture 4">
            <a:extLst>
              <a:ext uri="{FF2B5EF4-FFF2-40B4-BE49-F238E27FC236}">
                <a16:creationId xmlns:a16="http://schemas.microsoft.com/office/drawing/2014/main" id="{FD33A063-56B6-C947-8460-71C4D4966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381046"/>
            <a:ext cx="2908300" cy="3886200"/>
          </a:xfrm>
          <a:prstGeom prst="rect">
            <a:avLst/>
          </a:prstGeom>
        </p:spPr>
      </p:pic>
      <p:pic>
        <p:nvPicPr>
          <p:cNvPr id="18" name="Picture 17">
            <a:extLst>
              <a:ext uri="{FF2B5EF4-FFF2-40B4-BE49-F238E27FC236}">
                <a16:creationId xmlns:a16="http://schemas.microsoft.com/office/drawing/2014/main" id="{027265CF-244E-DC4E-907B-5B41BBB63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6346" y="1237598"/>
            <a:ext cx="5032534" cy="3954135"/>
          </a:xfrm>
          <a:prstGeom prst="rect">
            <a:avLst/>
          </a:prstGeom>
        </p:spPr>
      </p:pic>
      <p:pic>
        <p:nvPicPr>
          <p:cNvPr id="19" name="Picture 18">
            <a:extLst>
              <a:ext uri="{FF2B5EF4-FFF2-40B4-BE49-F238E27FC236}">
                <a16:creationId xmlns:a16="http://schemas.microsoft.com/office/drawing/2014/main" id="{F346EA69-C482-A743-8DBA-A7C0A07C1761}"/>
              </a:ext>
            </a:extLst>
          </p:cNvPr>
          <p:cNvPicPr>
            <a:picLocks noChangeAspect="1"/>
          </p:cNvPicPr>
          <p:nvPr/>
        </p:nvPicPr>
        <p:blipFill>
          <a:blip r:embed="rId4"/>
          <a:stretch>
            <a:fillRect/>
          </a:stretch>
        </p:blipFill>
        <p:spPr>
          <a:xfrm>
            <a:off x="3923928" y="2857500"/>
            <a:ext cx="432048" cy="502381"/>
          </a:xfrm>
          <a:prstGeom prst="rect">
            <a:avLst/>
          </a:prstGeom>
        </p:spPr>
      </p:pic>
      <p:sp>
        <p:nvSpPr>
          <p:cNvPr id="20" name="Rectangle 19">
            <a:extLst>
              <a:ext uri="{FF2B5EF4-FFF2-40B4-BE49-F238E27FC236}">
                <a16:creationId xmlns:a16="http://schemas.microsoft.com/office/drawing/2014/main" id="{50F2AC07-AC26-4C4C-B682-2EDD76720D2D}"/>
              </a:ext>
            </a:extLst>
          </p:cNvPr>
          <p:cNvSpPr/>
          <p:nvPr/>
        </p:nvSpPr>
        <p:spPr>
          <a:xfrm>
            <a:off x="4427984" y="3145532"/>
            <a:ext cx="72008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Data</a:t>
            </a:r>
            <a:endParaRPr lang="en-CN"/>
          </a:p>
        </p:txBody>
      </p:sp>
      <p:sp>
        <p:nvSpPr>
          <p:cNvPr id="3" name="Footer Placeholder 2">
            <a:extLst>
              <a:ext uri="{FF2B5EF4-FFF2-40B4-BE49-F238E27FC236}">
                <a16:creationId xmlns:a16="http://schemas.microsoft.com/office/drawing/2014/main" id="{0840DE05-0028-0840-81AB-9997B6BA052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B7669CE9-5659-3A4A-B3AF-9E6C64DBC9AD}"/>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Tree>
    <p:extLst>
      <p:ext uri="{BB962C8B-B14F-4D97-AF65-F5344CB8AC3E}">
        <p14:creationId xmlns:p14="http://schemas.microsoft.com/office/powerpoint/2010/main" val="17239868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p:txBody>
          <a:bodyPr>
            <a:normAutofit/>
          </a:bodyPr>
          <a:lstStyle/>
          <a:p>
            <a:r>
              <a:rPr lang="en-US" altLang="zh-CN"/>
              <a:t>NUMA</a:t>
            </a:r>
            <a:r>
              <a:rPr lang="zh-CN" altLang="en-US"/>
              <a:t>环境中新的挑战</a:t>
            </a:r>
            <a:endParaRPr lang="en-CN"/>
          </a:p>
        </p:txBody>
      </p:sp>
      <p:pic>
        <p:nvPicPr>
          <p:cNvPr id="5" name="Picture 4">
            <a:extLst>
              <a:ext uri="{FF2B5EF4-FFF2-40B4-BE49-F238E27FC236}">
                <a16:creationId xmlns:a16="http://schemas.microsoft.com/office/drawing/2014/main" id="{FD33A063-56B6-C947-8460-71C4D4966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381046"/>
            <a:ext cx="2908300" cy="3886200"/>
          </a:xfrm>
          <a:prstGeom prst="rect">
            <a:avLst/>
          </a:prstGeom>
        </p:spPr>
      </p:pic>
      <p:pic>
        <p:nvPicPr>
          <p:cNvPr id="18" name="Picture 17">
            <a:extLst>
              <a:ext uri="{FF2B5EF4-FFF2-40B4-BE49-F238E27FC236}">
                <a16:creationId xmlns:a16="http://schemas.microsoft.com/office/drawing/2014/main" id="{027265CF-244E-DC4E-907B-5B41BBB63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6346" y="1237598"/>
            <a:ext cx="5032534" cy="3954135"/>
          </a:xfrm>
          <a:prstGeom prst="rect">
            <a:avLst/>
          </a:prstGeom>
        </p:spPr>
      </p:pic>
      <p:pic>
        <p:nvPicPr>
          <p:cNvPr id="19" name="Picture 18">
            <a:extLst>
              <a:ext uri="{FF2B5EF4-FFF2-40B4-BE49-F238E27FC236}">
                <a16:creationId xmlns:a16="http://schemas.microsoft.com/office/drawing/2014/main" id="{F346EA69-C482-A743-8DBA-A7C0A07C1761}"/>
              </a:ext>
            </a:extLst>
          </p:cNvPr>
          <p:cNvPicPr>
            <a:picLocks noChangeAspect="1"/>
          </p:cNvPicPr>
          <p:nvPr/>
        </p:nvPicPr>
        <p:blipFill>
          <a:blip r:embed="rId4"/>
          <a:stretch>
            <a:fillRect/>
          </a:stretch>
        </p:blipFill>
        <p:spPr>
          <a:xfrm>
            <a:off x="6308414" y="1381046"/>
            <a:ext cx="432048" cy="502381"/>
          </a:xfrm>
          <a:prstGeom prst="rect">
            <a:avLst/>
          </a:prstGeom>
        </p:spPr>
      </p:pic>
      <p:sp>
        <p:nvSpPr>
          <p:cNvPr id="7" name="Rectangle 6">
            <a:extLst>
              <a:ext uri="{FF2B5EF4-FFF2-40B4-BE49-F238E27FC236}">
                <a16:creationId xmlns:a16="http://schemas.microsoft.com/office/drawing/2014/main" id="{A97E370A-F7FC-7B42-85C7-42B8178E77C1}"/>
              </a:ext>
            </a:extLst>
          </p:cNvPr>
          <p:cNvSpPr/>
          <p:nvPr/>
        </p:nvSpPr>
        <p:spPr>
          <a:xfrm>
            <a:off x="6164398" y="1966445"/>
            <a:ext cx="72008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Data</a:t>
            </a:r>
            <a:endParaRPr lang="en-CN"/>
          </a:p>
        </p:txBody>
      </p:sp>
      <p:sp>
        <p:nvSpPr>
          <p:cNvPr id="3" name="Rectangle 2">
            <a:extLst>
              <a:ext uri="{FF2B5EF4-FFF2-40B4-BE49-F238E27FC236}">
                <a16:creationId xmlns:a16="http://schemas.microsoft.com/office/drawing/2014/main" id="{9438EB80-AB9E-9A44-A146-1D6131A74647}"/>
              </a:ext>
            </a:extLst>
          </p:cNvPr>
          <p:cNvSpPr/>
          <p:nvPr/>
        </p:nvSpPr>
        <p:spPr>
          <a:xfrm>
            <a:off x="611563" y="4839588"/>
            <a:ext cx="8208909" cy="458459"/>
          </a:xfrm>
          <a:prstGeom prst="rect">
            <a:avLst/>
          </a:prstGeom>
        </p:spPr>
        <p:txBody>
          <a:bodyPr wrap="square">
            <a:spAutoFit/>
          </a:bodyPr>
          <a:lstStyle/>
          <a:p>
            <a:pPr algn="ctr">
              <a:lnSpc>
                <a:spcPct val="150000"/>
              </a:lnSpc>
            </a:pPr>
            <a:r>
              <a:rPr lang="zh-CN" altLang="en-US"/>
              <a:t>即使在</a:t>
            </a:r>
            <a:r>
              <a:rPr lang="en-US" altLang="zh-CN"/>
              <a:t>cc-NUMA</a:t>
            </a:r>
            <a:r>
              <a:rPr lang="zh-CN" altLang="en-US"/>
              <a:t>中没有出现缓存失效</a:t>
            </a:r>
            <a:r>
              <a:rPr lang="en-US" altLang="zh-CN"/>
              <a:t> </a:t>
            </a:r>
            <a:r>
              <a:rPr lang="zh-CN" altLang="en-US" b="1"/>
              <a:t>跨结点的缓存一致性协议开销巨大</a:t>
            </a:r>
            <a:endParaRPr lang="en-CN" b="1"/>
          </a:p>
        </p:txBody>
      </p:sp>
      <p:sp>
        <p:nvSpPr>
          <p:cNvPr id="9" name="Rectangle 8">
            <a:extLst>
              <a:ext uri="{FF2B5EF4-FFF2-40B4-BE49-F238E27FC236}">
                <a16:creationId xmlns:a16="http://schemas.microsoft.com/office/drawing/2014/main" id="{AFD647AF-2568-F143-BFCE-9DB32D987629}"/>
              </a:ext>
            </a:extLst>
          </p:cNvPr>
          <p:cNvSpPr/>
          <p:nvPr/>
        </p:nvSpPr>
        <p:spPr>
          <a:xfrm>
            <a:off x="850196" y="2497460"/>
            <a:ext cx="2679928" cy="9361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Rectangle 5">
            <a:extLst>
              <a:ext uri="{FF2B5EF4-FFF2-40B4-BE49-F238E27FC236}">
                <a16:creationId xmlns:a16="http://schemas.microsoft.com/office/drawing/2014/main" id="{F910940C-2476-0B41-BB03-CF37B949DA14}"/>
              </a:ext>
            </a:extLst>
          </p:cNvPr>
          <p:cNvSpPr/>
          <p:nvPr/>
        </p:nvSpPr>
        <p:spPr>
          <a:xfrm>
            <a:off x="2423854" y="960097"/>
            <a:ext cx="1930226" cy="923330"/>
          </a:xfrm>
          <a:prstGeom prst="rect">
            <a:avLst/>
          </a:prstGeom>
        </p:spPr>
        <p:txBody>
          <a:bodyPr wrap="square">
            <a:spAutoFit/>
          </a:bodyPr>
          <a:lstStyle/>
          <a:p>
            <a:r>
              <a:rPr lang="zh-CN" altLang="en-CN" dirty="0">
                <a:solidFill>
                  <a:schemeClr val="accent1"/>
                </a:solidFill>
              </a:rPr>
              <a:t>除了</a:t>
            </a:r>
            <a:r>
              <a:rPr lang="zh-CN" altLang="en-US" dirty="0">
                <a:solidFill>
                  <a:schemeClr val="accent1"/>
                </a:solidFill>
              </a:rPr>
              <a:t>锁的元数据，主要是临界区中访问的共享数据</a:t>
            </a:r>
            <a:endParaRPr lang="en-CN">
              <a:solidFill>
                <a:schemeClr val="accent1"/>
              </a:solidFill>
            </a:endParaRPr>
          </a:p>
        </p:txBody>
      </p:sp>
      <p:sp>
        <p:nvSpPr>
          <p:cNvPr id="11" name="Rectangle 10">
            <a:extLst>
              <a:ext uri="{FF2B5EF4-FFF2-40B4-BE49-F238E27FC236}">
                <a16:creationId xmlns:a16="http://schemas.microsoft.com/office/drawing/2014/main" id="{0753DAA1-C948-8046-986A-FB83250132F4}"/>
              </a:ext>
            </a:extLst>
          </p:cNvPr>
          <p:cNvSpPr/>
          <p:nvPr/>
        </p:nvSpPr>
        <p:spPr>
          <a:xfrm>
            <a:off x="5849812" y="508249"/>
            <a:ext cx="3024336" cy="646331"/>
          </a:xfrm>
          <a:prstGeom prst="rect">
            <a:avLst/>
          </a:prstGeom>
        </p:spPr>
        <p:txBody>
          <a:bodyPr wrap="square">
            <a:spAutoFit/>
          </a:bodyPr>
          <a:lstStyle/>
          <a:p>
            <a:r>
              <a:rPr lang="en-CN"/>
              <a:t>Challenge:</a:t>
            </a:r>
            <a:r>
              <a:rPr lang="zh-CN" altLang="en-US" dirty="0"/>
              <a:t> 锁</a:t>
            </a:r>
            <a:r>
              <a:rPr lang="zh-CN" altLang="en-US" b="1" dirty="0"/>
              <a:t>不知道</a:t>
            </a:r>
            <a:r>
              <a:rPr lang="zh-CN" altLang="en-US" dirty="0"/>
              <a:t>临界区中需要访问的内容！</a:t>
            </a:r>
            <a:endParaRPr lang="en-CN"/>
          </a:p>
        </p:txBody>
      </p:sp>
      <p:sp>
        <p:nvSpPr>
          <p:cNvPr id="8" name="Footer Placeholder 7">
            <a:extLst>
              <a:ext uri="{FF2B5EF4-FFF2-40B4-BE49-F238E27FC236}">
                <a16:creationId xmlns:a16="http://schemas.microsoft.com/office/drawing/2014/main" id="{411AC926-847A-2844-9DC2-2BFF97B25F6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B3DCD4F9-8894-0345-A91C-5E62D369FB3E}"/>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Tree>
    <p:extLst>
      <p:ext uri="{BB962C8B-B14F-4D97-AF65-F5344CB8AC3E}">
        <p14:creationId xmlns:p14="http://schemas.microsoft.com/office/powerpoint/2010/main" val="4914925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716D-0A69-2B40-9BE6-36322326F9DD}"/>
              </a:ext>
            </a:extLst>
          </p:cNvPr>
          <p:cNvSpPr>
            <a:spLocks noGrp="1"/>
          </p:cNvSpPr>
          <p:nvPr>
            <p:ph type="title"/>
          </p:nvPr>
        </p:nvSpPr>
        <p:spPr/>
        <p:txBody>
          <a:bodyPr/>
          <a:lstStyle/>
          <a:p>
            <a:r>
              <a:rPr lang="zh-CN" altLang="en-CN"/>
              <a:t>鲲鹏</a:t>
            </a:r>
            <a:r>
              <a:rPr lang="zh-CN" altLang="en-US"/>
              <a:t>服务器的</a:t>
            </a:r>
            <a:r>
              <a:rPr lang="en-US" altLang="zh-CN"/>
              <a:t>NUMA</a:t>
            </a:r>
            <a:r>
              <a:rPr lang="zh-CN" altLang="en-US"/>
              <a:t>结构</a:t>
            </a:r>
            <a:endParaRPr lang="en-CN"/>
          </a:p>
        </p:txBody>
      </p:sp>
      <p:sp>
        <p:nvSpPr>
          <p:cNvPr id="4" name="Slide Number Placeholder 3">
            <a:extLst>
              <a:ext uri="{FF2B5EF4-FFF2-40B4-BE49-F238E27FC236}">
                <a16:creationId xmlns:a16="http://schemas.microsoft.com/office/drawing/2014/main" id="{6B0A8DD1-F5B6-A748-9C34-29454137E474}"/>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Footer Placeholder 4">
            <a:extLst>
              <a:ext uri="{FF2B5EF4-FFF2-40B4-BE49-F238E27FC236}">
                <a16:creationId xmlns:a16="http://schemas.microsoft.com/office/drawing/2014/main" id="{0FA1D2F2-7395-6145-A9D3-2040C50EE8B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Picture 5">
            <a:extLst>
              <a:ext uri="{FF2B5EF4-FFF2-40B4-BE49-F238E27FC236}">
                <a16:creationId xmlns:a16="http://schemas.microsoft.com/office/drawing/2014/main" id="{B92A725B-C795-AB4A-B732-FB505BB65130}"/>
              </a:ext>
            </a:extLst>
          </p:cNvPr>
          <p:cNvPicPr>
            <a:picLocks noChangeAspect="1"/>
          </p:cNvPicPr>
          <p:nvPr/>
        </p:nvPicPr>
        <p:blipFill>
          <a:blip r:embed="rId2"/>
          <a:stretch>
            <a:fillRect/>
          </a:stretch>
        </p:blipFill>
        <p:spPr>
          <a:xfrm>
            <a:off x="4855066" y="1417340"/>
            <a:ext cx="3831734" cy="3217540"/>
          </a:xfrm>
          <a:prstGeom prst="rect">
            <a:avLst/>
          </a:prstGeom>
        </p:spPr>
      </p:pic>
      <p:pic>
        <p:nvPicPr>
          <p:cNvPr id="7" name="Picture 6">
            <a:extLst>
              <a:ext uri="{FF2B5EF4-FFF2-40B4-BE49-F238E27FC236}">
                <a16:creationId xmlns:a16="http://schemas.microsoft.com/office/drawing/2014/main" id="{492208EB-A1CE-F348-AD70-7716D378E16E}"/>
              </a:ext>
            </a:extLst>
          </p:cNvPr>
          <p:cNvPicPr>
            <a:picLocks noChangeAspect="1"/>
          </p:cNvPicPr>
          <p:nvPr/>
        </p:nvPicPr>
        <p:blipFill>
          <a:blip r:embed="rId3"/>
          <a:stretch>
            <a:fillRect/>
          </a:stretch>
        </p:blipFill>
        <p:spPr>
          <a:xfrm>
            <a:off x="7120401" y="2446820"/>
            <a:ext cx="1224136" cy="708710"/>
          </a:xfrm>
          <a:prstGeom prst="rect">
            <a:avLst/>
          </a:prstGeom>
        </p:spPr>
      </p:pic>
      <p:pic>
        <p:nvPicPr>
          <p:cNvPr id="8" name="Picture 7">
            <a:extLst>
              <a:ext uri="{FF2B5EF4-FFF2-40B4-BE49-F238E27FC236}">
                <a16:creationId xmlns:a16="http://schemas.microsoft.com/office/drawing/2014/main" id="{C8232A52-AF61-EA4F-9360-81D09B1D0572}"/>
              </a:ext>
            </a:extLst>
          </p:cNvPr>
          <p:cNvPicPr>
            <a:picLocks noChangeAspect="1"/>
          </p:cNvPicPr>
          <p:nvPr/>
        </p:nvPicPr>
        <p:blipFill>
          <a:blip r:embed="rId4"/>
          <a:stretch>
            <a:fillRect/>
          </a:stretch>
        </p:blipFill>
        <p:spPr>
          <a:xfrm>
            <a:off x="7268314" y="3404292"/>
            <a:ext cx="708710" cy="708710"/>
          </a:xfrm>
          <a:prstGeom prst="rect">
            <a:avLst/>
          </a:prstGeom>
        </p:spPr>
      </p:pic>
      <p:sp>
        <p:nvSpPr>
          <p:cNvPr id="9" name="Rectangle 8">
            <a:extLst>
              <a:ext uri="{FF2B5EF4-FFF2-40B4-BE49-F238E27FC236}">
                <a16:creationId xmlns:a16="http://schemas.microsoft.com/office/drawing/2014/main" id="{C0F80764-3EFC-9843-A58F-173399E21CD6}"/>
              </a:ext>
            </a:extLst>
          </p:cNvPr>
          <p:cNvSpPr/>
          <p:nvPr/>
        </p:nvSpPr>
        <p:spPr>
          <a:xfrm>
            <a:off x="574198" y="1385815"/>
            <a:ext cx="3730761" cy="3539430"/>
          </a:xfrm>
          <a:prstGeom prst="rect">
            <a:avLst/>
          </a:prstGeom>
        </p:spPr>
        <p:txBody>
          <a:bodyPr wrap="square">
            <a:spAutoFit/>
          </a:bodyPr>
          <a:lstStyle/>
          <a:p>
            <a:r>
              <a:rPr lang="en-CN" sz="1400">
                <a:latin typeface="Courier" pitchFamily="2" charset="0"/>
              </a:rPr>
              <a:t>$ numactl --hardware</a:t>
            </a:r>
          </a:p>
          <a:p>
            <a:r>
              <a:rPr lang="en-CN" sz="1400">
                <a:latin typeface="Courier" pitchFamily="2" charset="0"/>
              </a:rPr>
              <a:t>available: </a:t>
            </a:r>
            <a:r>
              <a:rPr lang="en-CN" sz="1400">
                <a:solidFill>
                  <a:schemeClr val="accent1"/>
                </a:solidFill>
                <a:latin typeface="Courier" pitchFamily="2" charset="0"/>
              </a:rPr>
              <a:t>4 nodes</a:t>
            </a:r>
            <a:r>
              <a:rPr lang="en-CN" sz="1400">
                <a:latin typeface="Courier" pitchFamily="2" charset="0"/>
              </a:rPr>
              <a:t> (0-3)</a:t>
            </a:r>
          </a:p>
          <a:p>
            <a:r>
              <a:rPr lang="en-CN" sz="1400">
                <a:solidFill>
                  <a:schemeClr val="accent1"/>
                </a:solidFill>
                <a:latin typeface="Courier" pitchFamily="2" charset="0"/>
              </a:rPr>
              <a:t>node 0 </a:t>
            </a:r>
            <a:r>
              <a:rPr lang="en-CN" sz="1400">
                <a:latin typeface="Courier" pitchFamily="2" charset="0"/>
              </a:rPr>
              <a:t>cpus: 0 1 2 3 4 5 6 7 8 9 10 11 12 13 14 15</a:t>
            </a:r>
          </a:p>
          <a:p>
            <a:r>
              <a:rPr lang="en-CN" sz="1400">
                <a:solidFill>
                  <a:schemeClr val="accent1"/>
                </a:solidFill>
                <a:latin typeface="Courier" pitchFamily="2" charset="0"/>
              </a:rPr>
              <a:t>node 1 </a:t>
            </a:r>
            <a:r>
              <a:rPr lang="en-CN" sz="1400">
                <a:latin typeface="Courier" pitchFamily="2" charset="0"/>
              </a:rPr>
              <a:t>cpus: 16 17 18 19 20 21 22 23 24 25 26 27 28 29 30 31</a:t>
            </a:r>
          </a:p>
          <a:p>
            <a:r>
              <a:rPr lang="en-CN" sz="1400">
                <a:solidFill>
                  <a:schemeClr val="accent1"/>
                </a:solidFill>
                <a:latin typeface="Courier" pitchFamily="2" charset="0"/>
              </a:rPr>
              <a:t>node 2 </a:t>
            </a:r>
            <a:r>
              <a:rPr lang="en-CN" sz="1400">
                <a:latin typeface="Courier" pitchFamily="2" charset="0"/>
              </a:rPr>
              <a:t>cpus: 32 33 34 35 36 37 38 39 40 41 42 43 44 45 46 47</a:t>
            </a:r>
          </a:p>
          <a:p>
            <a:r>
              <a:rPr lang="en-CN" sz="1400">
                <a:solidFill>
                  <a:schemeClr val="accent1"/>
                </a:solidFill>
                <a:latin typeface="Courier" pitchFamily="2" charset="0"/>
              </a:rPr>
              <a:t>node 3 </a:t>
            </a:r>
            <a:r>
              <a:rPr lang="en-CN" sz="1400">
                <a:latin typeface="Courier" pitchFamily="2" charset="0"/>
              </a:rPr>
              <a:t>cpus: 48 49 50 51 52 53 54 55 56 57 58 59 60 61 62 63</a:t>
            </a:r>
          </a:p>
          <a:p>
            <a:r>
              <a:rPr lang="en-CN" sz="1400">
                <a:latin typeface="Courier" pitchFamily="2" charset="0"/>
              </a:rPr>
              <a:t>node distances:</a:t>
            </a:r>
          </a:p>
          <a:p>
            <a:r>
              <a:rPr lang="en-CN" sz="1400">
                <a:latin typeface="Courier" pitchFamily="2" charset="0"/>
              </a:rPr>
              <a:t>node   0   1   2   3</a:t>
            </a:r>
          </a:p>
          <a:p>
            <a:r>
              <a:rPr lang="en-CN" sz="1400">
                <a:latin typeface="Courier" pitchFamily="2" charset="0"/>
              </a:rPr>
              <a:t>  0:  10  15  20  20</a:t>
            </a:r>
          </a:p>
          <a:p>
            <a:r>
              <a:rPr lang="en-CN" sz="1400">
                <a:latin typeface="Courier" pitchFamily="2" charset="0"/>
              </a:rPr>
              <a:t>  1:  15  10  20  20</a:t>
            </a:r>
          </a:p>
          <a:p>
            <a:r>
              <a:rPr lang="en-CN" sz="1400">
                <a:latin typeface="Courier" pitchFamily="2" charset="0"/>
              </a:rPr>
              <a:t>  2:  20  20  10  15</a:t>
            </a:r>
          </a:p>
          <a:p>
            <a:r>
              <a:rPr lang="en-CN" sz="1400">
                <a:latin typeface="Courier" pitchFamily="2" charset="0"/>
              </a:rPr>
              <a:t>  3:  20  20  15  10</a:t>
            </a:r>
          </a:p>
        </p:txBody>
      </p:sp>
    </p:spTree>
    <p:extLst>
      <p:ext uri="{BB962C8B-B14F-4D97-AF65-F5344CB8AC3E}">
        <p14:creationId xmlns:p14="http://schemas.microsoft.com/office/powerpoint/2010/main" val="18596118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A777-CB92-704F-BC5A-7D281ECC2F96}"/>
              </a:ext>
            </a:extLst>
          </p:cNvPr>
          <p:cNvSpPr>
            <a:spLocks noGrp="1"/>
          </p:cNvSpPr>
          <p:nvPr>
            <p:ph type="title"/>
          </p:nvPr>
        </p:nvSpPr>
        <p:spPr/>
        <p:txBody>
          <a:bodyPr/>
          <a:lstStyle/>
          <a:p>
            <a:r>
              <a:rPr lang="en-US" altLang="zh-CN" dirty="0" err="1"/>
              <a:t>Numa</a:t>
            </a:r>
            <a:r>
              <a:rPr lang="en-US" altLang="zh-CN" dirty="0"/>
              <a:t>-aware</a:t>
            </a:r>
            <a:r>
              <a:rPr lang="zh-CN" altLang="en-US" dirty="0"/>
              <a:t>：</a:t>
            </a:r>
            <a:r>
              <a:rPr lang="en-US" altLang="zh-CN" dirty="0"/>
              <a:t>cohort</a:t>
            </a:r>
            <a:r>
              <a:rPr lang="zh-CN" altLang="en-US" dirty="0"/>
              <a:t>锁</a:t>
            </a:r>
            <a:endParaRPr lang="en-CN"/>
          </a:p>
        </p:txBody>
      </p:sp>
      <p:sp>
        <p:nvSpPr>
          <p:cNvPr id="3" name="Footer Placeholder 2">
            <a:extLst>
              <a:ext uri="{FF2B5EF4-FFF2-40B4-BE49-F238E27FC236}">
                <a16:creationId xmlns:a16="http://schemas.microsoft.com/office/drawing/2014/main" id="{DB614D1A-03F6-024F-803A-A27F6E1C6C8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444CD33F-70C0-E640-8329-1AC57B0C5E7C}"/>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Tree>
    <p:extLst>
      <p:ext uri="{BB962C8B-B14F-4D97-AF65-F5344CB8AC3E}">
        <p14:creationId xmlns:p14="http://schemas.microsoft.com/office/powerpoint/2010/main" val="39197957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DA7F-F9D6-AF45-9B0B-C46B766F99EA}"/>
              </a:ext>
            </a:extLst>
          </p:cNvPr>
          <p:cNvSpPr>
            <a:spLocks noGrp="1"/>
          </p:cNvSpPr>
          <p:nvPr>
            <p:ph type="title"/>
          </p:nvPr>
        </p:nvSpPr>
        <p:spPr/>
        <p:txBody>
          <a:bodyPr/>
          <a:lstStyle/>
          <a:p>
            <a:r>
              <a:rPr lang="en-CN"/>
              <a:t>MCS</a:t>
            </a:r>
            <a:r>
              <a:rPr lang="zh-CN" altLang="en-CN" dirty="0"/>
              <a:t>锁</a:t>
            </a:r>
            <a:r>
              <a:rPr lang="zh-CN" altLang="en-US" dirty="0"/>
              <a:t>可扩展性</a:t>
            </a:r>
            <a:endParaRPr lang="en-CN"/>
          </a:p>
        </p:txBody>
      </p:sp>
      <p:sp>
        <p:nvSpPr>
          <p:cNvPr id="4" name="Slide Number Placeholder 3">
            <a:extLst>
              <a:ext uri="{FF2B5EF4-FFF2-40B4-BE49-F238E27FC236}">
                <a16:creationId xmlns:a16="http://schemas.microsoft.com/office/drawing/2014/main" id="{C339C3BC-7A82-1347-8DF1-B5DA25B1B981}"/>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Footer Placeholder 4">
            <a:extLst>
              <a:ext uri="{FF2B5EF4-FFF2-40B4-BE49-F238E27FC236}">
                <a16:creationId xmlns:a16="http://schemas.microsoft.com/office/drawing/2014/main" id="{FB2BBACD-1B8E-D64F-BD99-0DE2E3CB828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7" name="Picture 6">
            <a:extLst>
              <a:ext uri="{FF2B5EF4-FFF2-40B4-BE49-F238E27FC236}">
                <a16:creationId xmlns:a16="http://schemas.microsoft.com/office/drawing/2014/main" id="{58533BCB-73F5-9B40-A4FB-CF0B2ADC2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057300"/>
            <a:ext cx="5917871" cy="3945247"/>
          </a:xfrm>
          <a:prstGeom prst="rect">
            <a:avLst/>
          </a:prstGeom>
        </p:spPr>
      </p:pic>
      <p:cxnSp>
        <p:nvCxnSpPr>
          <p:cNvPr id="6" name="Straight Connector 5">
            <a:extLst>
              <a:ext uri="{FF2B5EF4-FFF2-40B4-BE49-F238E27FC236}">
                <a16:creationId xmlns:a16="http://schemas.microsoft.com/office/drawing/2014/main" id="{AFD06690-5801-2C4B-9F85-15395DBBDB62}"/>
              </a:ext>
            </a:extLst>
          </p:cNvPr>
          <p:cNvCxnSpPr/>
          <p:nvPr/>
        </p:nvCxnSpPr>
        <p:spPr>
          <a:xfrm flipV="1">
            <a:off x="2411760" y="1561356"/>
            <a:ext cx="0" cy="3240360"/>
          </a:xfrm>
          <a:prstGeom prst="line">
            <a:avLst/>
          </a:prstGeom>
          <a:ln w="25400">
            <a:solidFill>
              <a:schemeClr val="accent1">
                <a:shade val="95000"/>
                <a:satMod val="10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8606B70-0328-5D4B-8D44-FBF2B0042776}"/>
              </a:ext>
            </a:extLst>
          </p:cNvPr>
          <p:cNvCxnSpPr/>
          <p:nvPr/>
        </p:nvCxnSpPr>
        <p:spPr>
          <a:xfrm flipV="1">
            <a:off x="3563888" y="1561356"/>
            <a:ext cx="0" cy="3240360"/>
          </a:xfrm>
          <a:prstGeom prst="line">
            <a:avLst/>
          </a:prstGeom>
          <a:ln w="25400">
            <a:solidFill>
              <a:schemeClr val="accent1">
                <a:shade val="95000"/>
                <a:satMod val="10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65F753-D7A6-0B4F-BFA5-D51B02E67426}"/>
              </a:ext>
            </a:extLst>
          </p:cNvPr>
          <p:cNvCxnSpPr/>
          <p:nvPr/>
        </p:nvCxnSpPr>
        <p:spPr>
          <a:xfrm flipV="1">
            <a:off x="4716016" y="1561356"/>
            <a:ext cx="0" cy="3240360"/>
          </a:xfrm>
          <a:prstGeom prst="line">
            <a:avLst/>
          </a:prstGeom>
          <a:ln w="25400">
            <a:solidFill>
              <a:schemeClr val="accent1">
                <a:shade val="95000"/>
                <a:satMod val="105000"/>
                <a:alpha val="99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13FBC9E-87F6-F34D-A4CF-1C99D86EA339}"/>
              </a:ext>
            </a:extLst>
          </p:cNvPr>
          <p:cNvSpPr/>
          <p:nvPr/>
        </p:nvSpPr>
        <p:spPr>
          <a:xfrm>
            <a:off x="6059944" y="679087"/>
            <a:ext cx="2808312" cy="4401205"/>
          </a:xfrm>
          <a:prstGeom prst="rect">
            <a:avLst/>
          </a:prstGeom>
        </p:spPr>
        <p:txBody>
          <a:bodyPr wrap="square">
            <a:spAutoFit/>
          </a:bodyPr>
          <a:lstStyle/>
          <a:p>
            <a:r>
              <a:rPr lang="en-CN" sz="1400">
                <a:latin typeface="Courier" pitchFamily="2" charset="0"/>
              </a:rPr>
              <a:t>$ numactl --hardware</a:t>
            </a:r>
          </a:p>
          <a:p>
            <a:r>
              <a:rPr lang="en-CN" sz="1400">
                <a:latin typeface="Courier" pitchFamily="2" charset="0"/>
              </a:rPr>
              <a:t>available: </a:t>
            </a:r>
            <a:r>
              <a:rPr lang="en-CN" sz="1400">
                <a:solidFill>
                  <a:schemeClr val="accent1"/>
                </a:solidFill>
                <a:latin typeface="Courier" pitchFamily="2" charset="0"/>
              </a:rPr>
              <a:t>4 nodes</a:t>
            </a:r>
            <a:r>
              <a:rPr lang="en-CN" sz="1400">
                <a:latin typeface="Courier" pitchFamily="2" charset="0"/>
              </a:rPr>
              <a:t> (0-3)</a:t>
            </a:r>
          </a:p>
          <a:p>
            <a:r>
              <a:rPr lang="en-CN" sz="1400">
                <a:solidFill>
                  <a:schemeClr val="accent1"/>
                </a:solidFill>
                <a:latin typeface="Courier" pitchFamily="2" charset="0"/>
              </a:rPr>
              <a:t>node 0 </a:t>
            </a:r>
            <a:r>
              <a:rPr lang="en-CN" sz="1400">
                <a:latin typeface="Courier" pitchFamily="2" charset="0"/>
              </a:rPr>
              <a:t>cpus: 0 1 2 3 4 5 6 7 8 9 10 11 12 13 14 15</a:t>
            </a:r>
          </a:p>
          <a:p>
            <a:r>
              <a:rPr lang="en-CN" sz="1400">
                <a:solidFill>
                  <a:schemeClr val="accent1"/>
                </a:solidFill>
                <a:latin typeface="Courier" pitchFamily="2" charset="0"/>
              </a:rPr>
              <a:t>node 1 </a:t>
            </a:r>
            <a:r>
              <a:rPr lang="en-CN" sz="1400">
                <a:latin typeface="Courier" pitchFamily="2" charset="0"/>
              </a:rPr>
              <a:t>cpus: 16 17 18 19 20 21 22 23 24 25 26 27 28 29 30 31</a:t>
            </a:r>
          </a:p>
          <a:p>
            <a:r>
              <a:rPr lang="en-CN" sz="1400">
                <a:solidFill>
                  <a:schemeClr val="accent1"/>
                </a:solidFill>
                <a:latin typeface="Courier" pitchFamily="2" charset="0"/>
              </a:rPr>
              <a:t>node 2 </a:t>
            </a:r>
            <a:r>
              <a:rPr lang="en-CN" sz="1400">
                <a:latin typeface="Courier" pitchFamily="2" charset="0"/>
              </a:rPr>
              <a:t>cpus: 32 33 34 35 36 37 38 39 40 41 42 43 44 45 46 47</a:t>
            </a:r>
          </a:p>
          <a:p>
            <a:r>
              <a:rPr lang="en-CN" sz="1400">
                <a:solidFill>
                  <a:schemeClr val="accent1"/>
                </a:solidFill>
                <a:latin typeface="Courier" pitchFamily="2" charset="0"/>
              </a:rPr>
              <a:t>node 3 </a:t>
            </a:r>
            <a:r>
              <a:rPr lang="en-CN" sz="1400">
                <a:latin typeface="Courier" pitchFamily="2" charset="0"/>
              </a:rPr>
              <a:t>cpus: 48 49 50 51 52 53 54 55 56 57 58 59 60 61 62 63</a:t>
            </a:r>
          </a:p>
          <a:p>
            <a:r>
              <a:rPr lang="en-CN" sz="1400">
                <a:latin typeface="Courier" pitchFamily="2" charset="0"/>
              </a:rPr>
              <a:t>node distances:</a:t>
            </a:r>
          </a:p>
          <a:p>
            <a:r>
              <a:rPr lang="en-CN" sz="1400">
                <a:latin typeface="Courier" pitchFamily="2" charset="0"/>
              </a:rPr>
              <a:t>node   0   1   2   3</a:t>
            </a:r>
          </a:p>
          <a:p>
            <a:r>
              <a:rPr lang="en-CN" sz="1400">
                <a:latin typeface="Courier" pitchFamily="2" charset="0"/>
              </a:rPr>
              <a:t>  0:  10  15  20  20</a:t>
            </a:r>
          </a:p>
          <a:p>
            <a:r>
              <a:rPr lang="en-CN" sz="1400">
                <a:latin typeface="Courier" pitchFamily="2" charset="0"/>
              </a:rPr>
              <a:t>  1:  15  10  20  20</a:t>
            </a:r>
          </a:p>
          <a:p>
            <a:r>
              <a:rPr lang="en-CN" sz="1400">
                <a:latin typeface="Courier" pitchFamily="2" charset="0"/>
              </a:rPr>
              <a:t>  2:  20  20  10  15</a:t>
            </a:r>
          </a:p>
          <a:p>
            <a:r>
              <a:rPr lang="en-CN" sz="1400">
                <a:latin typeface="Courier" pitchFamily="2" charset="0"/>
              </a:rPr>
              <a:t>  3:  20  20  15  10</a:t>
            </a:r>
          </a:p>
        </p:txBody>
      </p:sp>
      <p:sp>
        <p:nvSpPr>
          <p:cNvPr id="9" name="Rectangle 8">
            <a:extLst>
              <a:ext uri="{FF2B5EF4-FFF2-40B4-BE49-F238E27FC236}">
                <a16:creationId xmlns:a16="http://schemas.microsoft.com/office/drawing/2014/main" id="{483563D8-89B1-A741-A21A-9849F73E4020}"/>
              </a:ext>
            </a:extLst>
          </p:cNvPr>
          <p:cNvSpPr/>
          <p:nvPr/>
        </p:nvSpPr>
        <p:spPr>
          <a:xfrm>
            <a:off x="4521127" y="166793"/>
            <a:ext cx="3903633" cy="458459"/>
          </a:xfrm>
          <a:prstGeom prst="rect">
            <a:avLst/>
          </a:prstGeom>
        </p:spPr>
        <p:txBody>
          <a:bodyPr wrap="none">
            <a:spAutoFit/>
          </a:bodyPr>
          <a:lstStyle/>
          <a:p>
            <a:pPr>
              <a:lnSpc>
                <a:spcPct val="150000"/>
              </a:lnSpc>
            </a:pPr>
            <a:r>
              <a:rPr lang="zh-CN" altLang="en-US"/>
              <a:t>临界区访问共享</a:t>
            </a:r>
            <a:r>
              <a:rPr lang="zh-CN" altLang="en-US" b="1"/>
              <a:t>缓存行数量增加到</a:t>
            </a:r>
            <a:r>
              <a:rPr lang="en-US" altLang="zh-CN" b="1"/>
              <a:t>10</a:t>
            </a:r>
          </a:p>
        </p:txBody>
      </p:sp>
    </p:spTree>
    <p:extLst>
      <p:ext uri="{BB962C8B-B14F-4D97-AF65-F5344CB8AC3E}">
        <p14:creationId xmlns:p14="http://schemas.microsoft.com/office/powerpoint/2010/main" val="29147688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p:txBody>
          <a:bodyPr/>
          <a:lstStyle/>
          <a:p>
            <a:r>
              <a:rPr lang="en-US" altLang="zh-CN"/>
              <a:t>NUMA-aware</a:t>
            </a:r>
            <a:r>
              <a:rPr lang="zh-CN" altLang="en-US"/>
              <a:t>设计：以</a:t>
            </a:r>
            <a:r>
              <a:rPr lang="en-US" altLang="zh-CN"/>
              <a:t>cohort</a:t>
            </a:r>
            <a:r>
              <a:rPr lang="zh-CN" altLang="en-US"/>
              <a:t>锁</a:t>
            </a:r>
            <a:r>
              <a:rPr lang="en-US" altLang="zh-CN"/>
              <a:t>*</a:t>
            </a:r>
            <a:r>
              <a:rPr lang="zh-CN" altLang="en-US"/>
              <a:t>为例</a:t>
            </a:r>
            <a:endParaRPr lang="en-CN"/>
          </a:p>
        </p:txBody>
      </p:sp>
      <p:sp>
        <p:nvSpPr>
          <p:cNvPr id="5" name="Rectangle 4">
            <a:extLst>
              <a:ext uri="{FF2B5EF4-FFF2-40B4-BE49-F238E27FC236}">
                <a16:creationId xmlns:a16="http://schemas.microsoft.com/office/drawing/2014/main" id="{2DD6E6D2-EEFF-B344-9A1D-C7A6BE84E6DA}"/>
              </a:ext>
            </a:extLst>
          </p:cNvPr>
          <p:cNvSpPr/>
          <p:nvPr/>
        </p:nvSpPr>
        <p:spPr>
          <a:xfrm>
            <a:off x="2203403" y="1071856"/>
            <a:ext cx="4737194" cy="369332"/>
          </a:xfrm>
          <a:prstGeom prst="rect">
            <a:avLst/>
          </a:prstGeom>
        </p:spPr>
        <p:txBody>
          <a:bodyPr wrap="none">
            <a:spAutoFit/>
          </a:bodyPr>
          <a:lstStyle/>
          <a:p>
            <a:r>
              <a:rPr lang="zh-CN" altLang="en-US"/>
              <a:t>核心思路：在一段时间内将访存</a:t>
            </a:r>
            <a:r>
              <a:rPr lang="zh-CN" altLang="en-US" b="1"/>
              <a:t>限制在本地</a:t>
            </a:r>
            <a:endParaRPr lang="en-CN" b="1"/>
          </a:p>
        </p:txBody>
      </p:sp>
      <p:sp>
        <p:nvSpPr>
          <p:cNvPr id="3" name="Rectangle 2">
            <a:extLst>
              <a:ext uri="{FF2B5EF4-FFF2-40B4-BE49-F238E27FC236}">
                <a16:creationId xmlns:a16="http://schemas.microsoft.com/office/drawing/2014/main" id="{9833A8FB-738D-E94F-93F2-1CD7E615F1C1}"/>
              </a:ext>
            </a:extLst>
          </p:cNvPr>
          <p:cNvSpPr/>
          <p:nvPr/>
        </p:nvSpPr>
        <p:spPr>
          <a:xfrm>
            <a:off x="-10599" y="5058633"/>
            <a:ext cx="7992888" cy="646331"/>
          </a:xfrm>
          <a:prstGeom prst="rect">
            <a:avLst/>
          </a:prstGeom>
        </p:spPr>
        <p:txBody>
          <a:bodyPr wrap="square">
            <a:spAutoFit/>
          </a:bodyPr>
          <a:lstStyle/>
          <a:p>
            <a:r>
              <a:rPr lang="zh-CN" altLang="en-US" sz="1200" b="0" i="1" dirty="0">
                <a:solidFill>
                  <a:srgbClr val="222222"/>
                </a:solidFill>
                <a:effectLst/>
                <a:latin typeface="Arial" panose="020B0604020202020204" pitchFamily="34" charset="0"/>
              </a:rPr>
              <a:t>*</a:t>
            </a:r>
            <a:r>
              <a:rPr lang="en-US" sz="1200" b="0" i="1" dirty="0">
                <a:solidFill>
                  <a:srgbClr val="222222"/>
                </a:solidFill>
                <a:effectLst/>
                <a:latin typeface="Arial" panose="020B0604020202020204" pitchFamily="34" charset="0"/>
              </a:rPr>
              <a:t>Dice, David, Virendra J. </a:t>
            </a:r>
            <a:r>
              <a:rPr lang="en-US" sz="1200" b="0" i="1" dirty="0" err="1">
                <a:solidFill>
                  <a:srgbClr val="222222"/>
                </a:solidFill>
                <a:effectLst/>
                <a:latin typeface="Arial" panose="020B0604020202020204" pitchFamily="34" charset="0"/>
              </a:rPr>
              <a:t>Marathe</a:t>
            </a:r>
            <a:r>
              <a:rPr lang="en-US" sz="1200" b="0" i="1" dirty="0">
                <a:solidFill>
                  <a:srgbClr val="222222"/>
                </a:solidFill>
                <a:effectLst/>
                <a:latin typeface="Arial" panose="020B0604020202020204" pitchFamily="34" charset="0"/>
              </a:rPr>
              <a:t>,</a:t>
            </a:r>
            <a:r>
              <a:rPr lang="zh-CN" altLang="en-US" sz="1200" b="0" i="1" dirty="0">
                <a:solidFill>
                  <a:srgbClr val="222222"/>
                </a:solidFill>
                <a:effectLst/>
                <a:latin typeface="Arial" panose="020B0604020202020204" pitchFamily="34" charset="0"/>
              </a:rPr>
              <a:t> </a:t>
            </a:r>
            <a:r>
              <a:rPr lang="en-US" sz="1200" b="0" i="1" dirty="0">
                <a:solidFill>
                  <a:srgbClr val="222222"/>
                </a:solidFill>
                <a:effectLst/>
                <a:latin typeface="Arial" panose="020B0604020202020204" pitchFamily="34" charset="0"/>
              </a:rPr>
              <a:t>and </a:t>
            </a:r>
            <a:br>
              <a:rPr lang="en-US" sz="1200" b="0" i="1" dirty="0">
                <a:solidFill>
                  <a:srgbClr val="222222"/>
                </a:solidFill>
                <a:effectLst/>
                <a:latin typeface="Arial" panose="020B0604020202020204" pitchFamily="34" charset="0"/>
              </a:rPr>
            </a:br>
            <a:r>
              <a:rPr lang="en-US" sz="1200" b="0" i="1" dirty="0">
                <a:solidFill>
                  <a:srgbClr val="222222"/>
                </a:solidFill>
                <a:effectLst/>
                <a:latin typeface="Arial" panose="020B0604020202020204" pitchFamily="34" charset="0"/>
              </a:rPr>
              <a:t>Nir </a:t>
            </a:r>
            <a:r>
              <a:rPr lang="en-US" sz="1200" b="0" i="1" dirty="0" err="1">
                <a:solidFill>
                  <a:srgbClr val="222222"/>
                </a:solidFill>
                <a:effectLst/>
                <a:latin typeface="Arial" panose="020B0604020202020204" pitchFamily="34" charset="0"/>
              </a:rPr>
              <a:t>Shavit</a:t>
            </a:r>
            <a:r>
              <a:rPr lang="en-US" sz="1200" b="0" i="1" dirty="0">
                <a:solidFill>
                  <a:srgbClr val="222222"/>
                </a:solidFill>
                <a:effectLst/>
                <a:latin typeface="Arial" panose="020B0604020202020204" pitchFamily="34" charset="0"/>
              </a:rPr>
              <a:t>. "Lock </a:t>
            </a:r>
            <a:r>
              <a:rPr lang="en-US" sz="1200" b="0" i="1" dirty="0" err="1">
                <a:solidFill>
                  <a:srgbClr val="222222"/>
                </a:solidFill>
                <a:effectLst/>
                <a:latin typeface="Arial" panose="020B0604020202020204" pitchFamily="34" charset="0"/>
              </a:rPr>
              <a:t>cohorting</a:t>
            </a:r>
            <a:r>
              <a:rPr lang="en-US" sz="1200" b="0" i="1" dirty="0">
                <a:solidFill>
                  <a:srgbClr val="222222"/>
                </a:solidFill>
                <a:effectLst/>
                <a:latin typeface="Arial" panose="020B0604020202020204" pitchFamily="34" charset="0"/>
              </a:rPr>
              <a:t>: a general </a:t>
            </a:r>
            <a:br>
              <a:rPr lang="en-US" sz="1200" b="0" i="1" dirty="0">
                <a:solidFill>
                  <a:srgbClr val="222222"/>
                </a:solidFill>
                <a:effectLst/>
                <a:latin typeface="Arial" panose="020B0604020202020204" pitchFamily="34" charset="0"/>
              </a:rPr>
            </a:br>
            <a:r>
              <a:rPr lang="en-US" sz="1200" b="0" i="1" dirty="0">
                <a:solidFill>
                  <a:srgbClr val="222222"/>
                </a:solidFill>
                <a:effectLst/>
                <a:latin typeface="Arial" panose="020B0604020202020204" pitchFamily="34" charset="0"/>
              </a:rPr>
              <a:t>technique for designing NUMA locks." </a:t>
            </a:r>
            <a:endParaRPr lang="en-CN" sz="1200" i="1"/>
          </a:p>
        </p:txBody>
      </p:sp>
      <p:pic>
        <p:nvPicPr>
          <p:cNvPr id="6" name="Picture 5">
            <a:extLst>
              <a:ext uri="{FF2B5EF4-FFF2-40B4-BE49-F238E27FC236}">
                <a16:creationId xmlns:a16="http://schemas.microsoft.com/office/drawing/2014/main" id="{C5B8F32B-0D25-0248-AF80-E9562F173D4B}"/>
              </a:ext>
            </a:extLst>
          </p:cNvPr>
          <p:cNvPicPr>
            <a:picLocks noChangeAspect="1"/>
          </p:cNvPicPr>
          <p:nvPr/>
        </p:nvPicPr>
        <p:blipFill>
          <a:blip r:embed="rId3"/>
          <a:stretch>
            <a:fillRect/>
          </a:stretch>
        </p:blipFill>
        <p:spPr>
          <a:xfrm>
            <a:off x="7956376" y="1613990"/>
            <a:ext cx="1008112" cy="1039864"/>
          </a:xfrm>
          <a:prstGeom prst="rect">
            <a:avLst/>
          </a:prstGeom>
        </p:spPr>
      </p:pic>
      <p:pic>
        <p:nvPicPr>
          <p:cNvPr id="8" name="Picture 7">
            <a:extLst>
              <a:ext uri="{FF2B5EF4-FFF2-40B4-BE49-F238E27FC236}">
                <a16:creationId xmlns:a16="http://schemas.microsoft.com/office/drawing/2014/main" id="{C4F43CE5-E696-E34D-AC4B-2C681B310447}"/>
              </a:ext>
            </a:extLst>
          </p:cNvPr>
          <p:cNvPicPr>
            <a:picLocks noChangeAspect="1"/>
          </p:cNvPicPr>
          <p:nvPr/>
        </p:nvPicPr>
        <p:blipFill>
          <a:blip r:embed="rId4"/>
          <a:stretch>
            <a:fillRect/>
          </a:stretch>
        </p:blipFill>
        <p:spPr>
          <a:xfrm>
            <a:off x="4829944" y="1674812"/>
            <a:ext cx="2880320" cy="3333201"/>
          </a:xfrm>
          <a:prstGeom prst="rect">
            <a:avLst/>
          </a:prstGeom>
        </p:spPr>
      </p:pic>
      <p:sp>
        <p:nvSpPr>
          <p:cNvPr id="10" name="Rectangle 9">
            <a:extLst>
              <a:ext uri="{FF2B5EF4-FFF2-40B4-BE49-F238E27FC236}">
                <a16:creationId xmlns:a16="http://schemas.microsoft.com/office/drawing/2014/main" id="{06AA4482-832B-3B47-8BD1-A31A705E5392}"/>
              </a:ext>
            </a:extLst>
          </p:cNvPr>
          <p:cNvSpPr/>
          <p:nvPr/>
        </p:nvSpPr>
        <p:spPr>
          <a:xfrm>
            <a:off x="1072324" y="1709982"/>
            <a:ext cx="2262158" cy="873957"/>
          </a:xfrm>
          <a:prstGeom prst="rect">
            <a:avLst/>
          </a:prstGeom>
        </p:spPr>
        <p:txBody>
          <a:bodyPr wrap="none">
            <a:spAutoFit/>
          </a:bodyPr>
          <a:lstStyle/>
          <a:p>
            <a:pPr algn="ctr">
              <a:lnSpc>
                <a:spcPct val="150000"/>
              </a:lnSpc>
            </a:pPr>
            <a:r>
              <a:rPr lang="zh-CN" altLang="en-CN" dirty="0"/>
              <a:t>先获取</a:t>
            </a:r>
            <a:r>
              <a:rPr lang="zh-CN" altLang="en-US" b="1" dirty="0"/>
              <a:t>每节点</a:t>
            </a:r>
            <a:r>
              <a:rPr lang="zh-CN" altLang="en-US" dirty="0"/>
              <a:t>本地锁</a:t>
            </a:r>
            <a:endParaRPr lang="en-US" altLang="zh-CN" dirty="0"/>
          </a:p>
          <a:p>
            <a:pPr algn="ctr">
              <a:lnSpc>
                <a:spcPct val="150000"/>
              </a:lnSpc>
            </a:pPr>
            <a:r>
              <a:rPr lang="zh-CN" altLang="en-US" dirty="0"/>
              <a:t>再获取全局锁</a:t>
            </a:r>
            <a:endParaRPr lang="en-CN"/>
          </a:p>
        </p:txBody>
      </p:sp>
      <p:sp>
        <p:nvSpPr>
          <p:cNvPr id="11" name="Rectangle 10">
            <a:extLst>
              <a:ext uri="{FF2B5EF4-FFF2-40B4-BE49-F238E27FC236}">
                <a16:creationId xmlns:a16="http://schemas.microsoft.com/office/drawing/2014/main" id="{0AB3CBC0-490E-024B-B414-D403B8BF0501}"/>
              </a:ext>
            </a:extLst>
          </p:cNvPr>
          <p:cNvSpPr/>
          <p:nvPr/>
        </p:nvSpPr>
        <p:spPr>
          <a:xfrm>
            <a:off x="619226" y="4080915"/>
            <a:ext cx="3168352" cy="873957"/>
          </a:xfrm>
          <a:prstGeom prst="rect">
            <a:avLst/>
          </a:prstGeom>
        </p:spPr>
        <p:txBody>
          <a:bodyPr wrap="square">
            <a:spAutoFit/>
          </a:bodyPr>
          <a:lstStyle/>
          <a:p>
            <a:pPr algn="ctr">
              <a:lnSpc>
                <a:spcPct val="150000"/>
              </a:lnSpc>
            </a:pPr>
            <a:r>
              <a:rPr lang="zh-CN" altLang="en-US" dirty="0"/>
              <a:t>全局锁在一段时间内</a:t>
            </a:r>
            <a:endParaRPr lang="en-US" altLang="zh-CN" dirty="0"/>
          </a:p>
          <a:p>
            <a:pPr algn="ctr">
              <a:lnSpc>
                <a:spcPct val="150000"/>
              </a:lnSpc>
            </a:pPr>
            <a:r>
              <a:rPr lang="zh-CN" altLang="en-US" b="1" dirty="0"/>
              <a:t>只在一个结点内部</a:t>
            </a:r>
            <a:r>
              <a:rPr lang="zh-CN" altLang="en-US" dirty="0"/>
              <a:t>传递</a:t>
            </a:r>
            <a:endParaRPr lang="en-CN"/>
          </a:p>
        </p:txBody>
      </p:sp>
      <p:sp>
        <p:nvSpPr>
          <p:cNvPr id="12" name="Rectangle 11">
            <a:extLst>
              <a:ext uri="{FF2B5EF4-FFF2-40B4-BE49-F238E27FC236}">
                <a16:creationId xmlns:a16="http://schemas.microsoft.com/office/drawing/2014/main" id="{B55A4BA9-30E5-3A47-94DF-9E4A79DCB7FF}"/>
              </a:ext>
            </a:extLst>
          </p:cNvPr>
          <p:cNvSpPr/>
          <p:nvPr/>
        </p:nvSpPr>
        <p:spPr>
          <a:xfrm>
            <a:off x="-70021" y="2687699"/>
            <a:ext cx="4546847" cy="1289456"/>
          </a:xfrm>
          <a:prstGeom prst="rect">
            <a:avLst/>
          </a:prstGeom>
        </p:spPr>
        <p:txBody>
          <a:bodyPr wrap="square">
            <a:spAutoFit/>
          </a:bodyPr>
          <a:lstStyle/>
          <a:p>
            <a:pPr algn="ctr">
              <a:lnSpc>
                <a:spcPct val="150000"/>
              </a:lnSpc>
            </a:pPr>
            <a:r>
              <a:rPr lang="zh-CN" altLang="en-US" dirty="0"/>
              <a:t>成功获取全局锁</a:t>
            </a:r>
            <a:endParaRPr lang="en-US" altLang="zh-CN" dirty="0"/>
          </a:p>
          <a:p>
            <a:pPr algn="ctr">
              <a:lnSpc>
                <a:spcPct val="150000"/>
              </a:lnSpc>
            </a:pPr>
            <a:r>
              <a:rPr lang="zh-CN" altLang="en-US" dirty="0"/>
              <a:t>释放时将其传递给</a:t>
            </a:r>
            <a:endParaRPr lang="en-US" altLang="zh-CN" dirty="0"/>
          </a:p>
          <a:p>
            <a:pPr algn="ctr">
              <a:lnSpc>
                <a:spcPct val="150000"/>
              </a:lnSpc>
            </a:pPr>
            <a:r>
              <a:rPr lang="zh-CN" altLang="en-US" b="1" dirty="0"/>
              <a:t>本地等待队列的</a:t>
            </a:r>
            <a:r>
              <a:rPr lang="zh-CN" altLang="en-US" dirty="0"/>
              <a:t>下一位</a:t>
            </a:r>
            <a:endParaRPr lang="en-CN"/>
          </a:p>
        </p:txBody>
      </p:sp>
      <p:sp>
        <p:nvSpPr>
          <p:cNvPr id="7" name="Footer Placeholder 6">
            <a:extLst>
              <a:ext uri="{FF2B5EF4-FFF2-40B4-BE49-F238E27FC236}">
                <a16:creationId xmlns:a16="http://schemas.microsoft.com/office/drawing/2014/main" id="{A9CCE6CF-2E36-1040-B858-4BCF4A325FE3}"/>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FE901B83-F67F-DF42-A3FE-ED38FEFEAE6E}"/>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Tree>
    <p:extLst>
      <p:ext uri="{BB962C8B-B14F-4D97-AF65-F5344CB8AC3E}">
        <p14:creationId xmlns:p14="http://schemas.microsoft.com/office/powerpoint/2010/main" val="7955267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p:txBody>
          <a:bodyPr/>
          <a:lstStyle/>
          <a:p>
            <a:r>
              <a:rPr lang="en-US" altLang="zh-CN"/>
              <a:t>NUMA-aware</a:t>
            </a:r>
            <a:r>
              <a:rPr lang="zh-CN" altLang="en-US"/>
              <a:t>设计：以</a:t>
            </a:r>
            <a:r>
              <a:rPr lang="en-US" altLang="zh-CN"/>
              <a:t>cohort</a:t>
            </a:r>
            <a:r>
              <a:rPr lang="zh-CN" altLang="en-US"/>
              <a:t>锁</a:t>
            </a:r>
            <a:r>
              <a:rPr lang="en-US" altLang="zh-CN"/>
              <a:t>*</a:t>
            </a:r>
            <a:r>
              <a:rPr lang="zh-CN" altLang="en-US"/>
              <a:t>为例</a:t>
            </a:r>
            <a:endParaRPr lang="en-CN"/>
          </a:p>
        </p:txBody>
      </p:sp>
      <p:sp>
        <p:nvSpPr>
          <p:cNvPr id="3" name="Footer Placeholder 2">
            <a:extLst>
              <a:ext uri="{FF2B5EF4-FFF2-40B4-BE49-F238E27FC236}">
                <a16:creationId xmlns:a16="http://schemas.microsoft.com/office/drawing/2014/main" id="{66CFA830-B5B7-3E4E-8F4E-A934D1EFB0B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pic>
        <p:nvPicPr>
          <p:cNvPr id="5" name="Picture 4">
            <a:extLst>
              <a:ext uri="{FF2B5EF4-FFF2-40B4-BE49-F238E27FC236}">
                <a16:creationId xmlns:a16="http://schemas.microsoft.com/office/drawing/2014/main" id="{422BE96F-F933-514D-8B8C-7EBFF7C90494}"/>
              </a:ext>
            </a:extLst>
          </p:cNvPr>
          <p:cNvPicPr>
            <a:picLocks noChangeAspect="1"/>
          </p:cNvPicPr>
          <p:nvPr/>
        </p:nvPicPr>
        <p:blipFill>
          <a:blip r:embed="rId2"/>
          <a:stretch>
            <a:fillRect/>
          </a:stretch>
        </p:blipFill>
        <p:spPr>
          <a:xfrm>
            <a:off x="813747" y="1249704"/>
            <a:ext cx="4154574" cy="3954009"/>
          </a:xfrm>
          <a:prstGeom prst="rect">
            <a:avLst/>
          </a:prstGeom>
        </p:spPr>
      </p:pic>
      <p:pic>
        <p:nvPicPr>
          <p:cNvPr id="7" name="Picture 6">
            <a:extLst>
              <a:ext uri="{FF2B5EF4-FFF2-40B4-BE49-F238E27FC236}">
                <a16:creationId xmlns:a16="http://schemas.microsoft.com/office/drawing/2014/main" id="{254837BD-FC01-A042-80CE-693D4A78D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7984" y="1419811"/>
            <a:ext cx="5032534" cy="3954135"/>
          </a:xfrm>
          <a:prstGeom prst="rect">
            <a:avLst/>
          </a:prstGeom>
        </p:spPr>
      </p:pic>
      <p:pic>
        <p:nvPicPr>
          <p:cNvPr id="8" name="Picture 7">
            <a:extLst>
              <a:ext uri="{FF2B5EF4-FFF2-40B4-BE49-F238E27FC236}">
                <a16:creationId xmlns:a16="http://schemas.microsoft.com/office/drawing/2014/main" id="{708A7366-3DE0-5B40-BDAA-B70A847E7E72}"/>
              </a:ext>
            </a:extLst>
          </p:cNvPr>
          <p:cNvPicPr>
            <a:picLocks noChangeAspect="1"/>
          </p:cNvPicPr>
          <p:nvPr/>
        </p:nvPicPr>
        <p:blipFill>
          <a:blip r:embed="rId4"/>
          <a:stretch>
            <a:fillRect/>
          </a:stretch>
        </p:blipFill>
        <p:spPr>
          <a:xfrm>
            <a:off x="4545566" y="3039713"/>
            <a:ext cx="432048" cy="502381"/>
          </a:xfrm>
          <a:prstGeom prst="rect">
            <a:avLst/>
          </a:prstGeom>
        </p:spPr>
      </p:pic>
      <p:sp>
        <p:nvSpPr>
          <p:cNvPr id="10" name="Rectangle 9">
            <a:extLst>
              <a:ext uri="{FF2B5EF4-FFF2-40B4-BE49-F238E27FC236}">
                <a16:creationId xmlns:a16="http://schemas.microsoft.com/office/drawing/2014/main" id="{4870CA7D-D3D5-D048-B3AE-105C57DB0FC2}"/>
              </a:ext>
            </a:extLst>
          </p:cNvPr>
          <p:cNvSpPr/>
          <p:nvPr/>
        </p:nvSpPr>
        <p:spPr>
          <a:xfrm>
            <a:off x="5049622" y="3327745"/>
            <a:ext cx="72008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Data</a:t>
            </a:r>
            <a:endParaRPr lang="en-CN"/>
          </a:p>
        </p:txBody>
      </p:sp>
      <p:pic>
        <p:nvPicPr>
          <p:cNvPr id="9" name="Picture 5">
            <a:extLst>
              <a:ext uri="{FF2B5EF4-FFF2-40B4-BE49-F238E27FC236}">
                <a16:creationId xmlns:a16="http://schemas.microsoft.com/office/drawing/2014/main" id="{07A400DC-A37D-7C42-94A4-F264859C8582}"/>
              </a:ext>
            </a:extLst>
          </p:cNvPr>
          <p:cNvPicPr>
            <a:picLocks noChangeAspect="1"/>
          </p:cNvPicPr>
          <p:nvPr/>
        </p:nvPicPr>
        <p:blipFill>
          <a:blip r:embed="rId5"/>
          <a:stretch>
            <a:fillRect/>
          </a:stretch>
        </p:blipFill>
        <p:spPr>
          <a:xfrm>
            <a:off x="8172400" y="1192524"/>
            <a:ext cx="792088" cy="817036"/>
          </a:xfrm>
          <a:prstGeom prst="rect">
            <a:avLst/>
          </a:prstGeom>
        </p:spPr>
      </p:pic>
    </p:spTree>
    <p:extLst>
      <p:ext uri="{BB962C8B-B14F-4D97-AF65-F5344CB8AC3E}">
        <p14:creationId xmlns:p14="http://schemas.microsoft.com/office/powerpoint/2010/main" val="4996089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p:txBody>
          <a:bodyPr/>
          <a:lstStyle/>
          <a:p>
            <a:r>
              <a:rPr lang="en-US" altLang="zh-CN"/>
              <a:t>NUMA-aware</a:t>
            </a:r>
            <a:r>
              <a:rPr lang="zh-CN" altLang="en-US"/>
              <a:t>设计：以</a:t>
            </a:r>
            <a:r>
              <a:rPr lang="en-US" altLang="zh-CN"/>
              <a:t>cohort</a:t>
            </a:r>
            <a:r>
              <a:rPr lang="zh-CN" altLang="en-US"/>
              <a:t>锁</a:t>
            </a:r>
            <a:r>
              <a:rPr lang="en-US" altLang="zh-CN"/>
              <a:t>*</a:t>
            </a:r>
            <a:r>
              <a:rPr lang="zh-CN" altLang="en-US"/>
              <a:t>为例</a:t>
            </a:r>
            <a:endParaRPr lang="en-CN"/>
          </a:p>
        </p:txBody>
      </p:sp>
      <p:sp>
        <p:nvSpPr>
          <p:cNvPr id="3" name="Footer Placeholder 2">
            <a:extLst>
              <a:ext uri="{FF2B5EF4-FFF2-40B4-BE49-F238E27FC236}">
                <a16:creationId xmlns:a16="http://schemas.microsoft.com/office/drawing/2014/main" id="{66CFA830-B5B7-3E4E-8F4E-A934D1EFB0B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pic>
        <p:nvPicPr>
          <p:cNvPr id="7" name="Picture 6">
            <a:extLst>
              <a:ext uri="{FF2B5EF4-FFF2-40B4-BE49-F238E27FC236}">
                <a16:creationId xmlns:a16="http://schemas.microsoft.com/office/drawing/2014/main" id="{254837BD-FC01-A042-80CE-693D4A78D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84" y="1419811"/>
            <a:ext cx="5032534" cy="3954135"/>
          </a:xfrm>
          <a:prstGeom prst="rect">
            <a:avLst/>
          </a:prstGeom>
        </p:spPr>
      </p:pic>
      <p:pic>
        <p:nvPicPr>
          <p:cNvPr id="8" name="Picture 7">
            <a:extLst>
              <a:ext uri="{FF2B5EF4-FFF2-40B4-BE49-F238E27FC236}">
                <a16:creationId xmlns:a16="http://schemas.microsoft.com/office/drawing/2014/main" id="{708A7366-3DE0-5B40-BDAA-B70A847E7E72}"/>
              </a:ext>
            </a:extLst>
          </p:cNvPr>
          <p:cNvPicPr>
            <a:picLocks noChangeAspect="1"/>
          </p:cNvPicPr>
          <p:nvPr/>
        </p:nvPicPr>
        <p:blipFill>
          <a:blip r:embed="rId3"/>
          <a:stretch>
            <a:fillRect/>
          </a:stretch>
        </p:blipFill>
        <p:spPr>
          <a:xfrm>
            <a:off x="6040385" y="2966349"/>
            <a:ext cx="432048" cy="502381"/>
          </a:xfrm>
          <a:prstGeom prst="rect">
            <a:avLst/>
          </a:prstGeom>
        </p:spPr>
      </p:pic>
      <p:sp>
        <p:nvSpPr>
          <p:cNvPr id="10" name="Rectangle 9">
            <a:extLst>
              <a:ext uri="{FF2B5EF4-FFF2-40B4-BE49-F238E27FC236}">
                <a16:creationId xmlns:a16="http://schemas.microsoft.com/office/drawing/2014/main" id="{4870CA7D-D3D5-D048-B3AE-105C57DB0FC2}"/>
              </a:ext>
            </a:extLst>
          </p:cNvPr>
          <p:cNvSpPr/>
          <p:nvPr/>
        </p:nvSpPr>
        <p:spPr>
          <a:xfrm>
            <a:off x="6224171" y="3401442"/>
            <a:ext cx="72008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Data</a:t>
            </a:r>
            <a:endParaRPr lang="en-CN"/>
          </a:p>
        </p:txBody>
      </p:sp>
      <p:pic>
        <p:nvPicPr>
          <p:cNvPr id="6" name="Picture 5">
            <a:extLst>
              <a:ext uri="{FF2B5EF4-FFF2-40B4-BE49-F238E27FC236}">
                <a16:creationId xmlns:a16="http://schemas.microsoft.com/office/drawing/2014/main" id="{E4703821-6A17-7E4F-8821-FD910A53C3D4}"/>
              </a:ext>
            </a:extLst>
          </p:cNvPr>
          <p:cNvPicPr>
            <a:picLocks noChangeAspect="1"/>
          </p:cNvPicPr>
          <p:nvPr/>
        </p:nvPicPr>
        <p:blipFill>
          <a:blip r:embed="rId4"/>
          <a:stretch>
            <a:fillRect/>
          </a:stretch>
        </p:blipFill>
        <p:spPr>
          <a:xfrm>
            <a:off x="863435" y="1261375"/>
            <a:ext cx="3380763" cy="3912330"/>
          </a:xfrm>
          <a:prstGeom prst="rect">
            <a:avLst/>
          </a:prstGeom>
        </p:spPr>
      </p:pic>
      <p:pic>
        <p:nvPicPr>
          <p:cNvPr id="9" name="Picture 5">
            <a:extLst>
              <a:ext uri="{FF2B5EF4-FFF2-40B4-BE49-F238E27FC236}">
                <a16:creationId xmlns:a16="http://schemas.microsoft.com/office/drawing/2014/main" id="{DFC526CE-BEBD-3948-95DD-7CC2C58877E1}"/>
              </a:ext>
            </a:extLst>
          </p:cNvPr>
          <p:cNvPicPr>
            <a:picLocks noChangeAspect="1"/>
          </p:cNvPicPr>
          <p:nvPr/>
        </p:nvPicPr>
        <p:blipFill>
          <a:blip r:embed="rId5"/>
          <a:stretch>
            <a:fillRect/>
          </a:stretch>
        </p:blipFill>
        <p:spPr>
          <a:xfrm>
            <a:off x="8172400" y="1192524"/>
            <a:ext cx="792088" cy="817036"/>
          </a:xfrm>
          <a:prstGeom prst="rect">
            <a:avLst/>
          </a:prstGeom>
        </p:spPr>
      </p:pic>
    </p:spTree>
    <p:extLst>
      <p:ext uri="{BB962C8B-B14F-4D97-AF65-F5344CB8AC3E}">
        <p14:creationId xmlns:p14="http://schemas.microsoft.com/office/powerpoint/2010/main" val="33446966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p:txBody>
          <a:bodyPr/>
          <a:lstStyle/>
          <a:p>
            <a:r>
              <a:rPr lang="en-US" altLang="zh-CN" dirty="0"/>
              <a:t>NUMA-aware</a:t>
            </a:r>
            <a:r>
              <a:rPr lang="zh-CN" altLang="en-US" dirty="0"/>
              <a:t>设计：以</a:t>
            </a:r>
            <a:r>
              <a:rPr lang="en-US" altLang="zh-CN" dirty="0"/>
              <a:t>cohort</a:t>
            </a:r>
            <a:r>
              <a:rPr lang="zh-CN" altLang="en-US" dirty="0"/>
              <a:t>锁</a:t>
            </a:r>
            <a:r>
              <a:rPr lang="en-US" altLang="zh-CN" dirty="0"/>
              <a:t>*</a:t>
            </a:r>
            <a:r>
              <a:rPr lang="zh-CN" altLang="en-US" dirty="0"/>
              <a:t>为例</a:t>
            </a:r>
            <a:endParaRPr lang="en-CN"/>
          </a:p>
        </p:txBody>
      </p:sp>
      <p:sp>
        <p:nvSpPr>
          <p:cNvPr id="3" name="Footer Placeholder 2">
            <a:extLst>
              <a:ext uri="{FF2B5EF4-FFF2-40B4-BE49-F238E27FC236}">
                <a16:creationId xmlns:a16="http://schemas.microsoft.com/office/drawing/2014/main" id="{66CFA830-B5B7-3E4E-8F4E-A934D1EFB0B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pic>
        <p:nvPicPr>
          <p:cNvPr id="12" name="Picture 11">
            <a:extLst>
              <a:ext uri="{FF2B5EF4-FFF2-40B4-BE49-F238E27FC236}">
                <a16:creationId xmlns:a16="http://schemas.microsoft.com/office/drawing/2014/main" id="{8C10630D-49B0-E248-B54E-045251939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974680"/>
            <a:ext cx="6702151" cy="4468101"/>
          </a:xfrm>
          <a:prstGeom prst="rect">
            <a:avLst/>
          </a:prstGeom>
        </p:spPr>
      </p:pic>
      <p:sp>
        <p:nvSpPr>
          <p:cNvPr id="13" name="Rectangle 12">
            <a:extLst>
              <a:ext uri="{FF2B5EF4-FFF2-40B4-BE49-F238E27FC236}">
                <a16:creationId xmlns:a16="http://schemas.microsoft.com/office/drawing/2014/main" id="{91A6DA5C-C68F-0A47-88A5-BA1F77EBACAF}"/>
              </a:ext>
            </a:extLst>
          </p:cNvPr>
          <p:cNvSpPr/>
          <p:nvPr/>
        </p:nvSpPr>
        <p:spPr>
          <a:xfrm>
            <a:off x="4572000" y="1777380"/>
            <a:ext cx="2592287" cy="646331"/>
          </a:xfrm>
          <a:prstGeom prst="rect">
            <a:avLst/>
          </a:prstGeom>
        </p:spPr>
        <p:txBody>
          <a:bodyPr wrap="square">
            <a:spAutoFit/>
          </a:bodyPr>
          <a:lstStyle/>
          <a:p>
            <a:pPr algn="ctr"/>
            <a:r>
              <a:rPr lang="zh-CN" altLang="en-US"/>
              <a:t>一旦发生远程内存访问开销不容忽略</a:t>
            </a:r>
            <a:endParaRPr lang="en-CN"/>
          </a:p>
        </p:txBody>
      </p:sp>
    </p:spTree>
    <p:extLst>
      <p:ext uri="{BB962C8B-B14F-4D97-AF65-F5344CB8AC3E}">
        <p14:creationId xmlns:p14="http://schemas.microsoft.com/office/powerpoint/2010/main" val="21896415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E93AE0-1D18-EA42-A182-5D871684C6D1}"/>
              </a:ext>
            </a:extLst>
          </p:cNvPr>
          <p:cNvSpPr>
            <a:spLocks noGrp="1"/>
          </p:cNvSpPr>
          <p:nvPr>
            <p:ph type="title"/>
          </p:nvPr>
        </p:nvSpPr>
        <p:spPr/>
        <p:txBody>
          <a:bodyPr/>
          <a:lstStyle/>
          <a:p>
            <a:r>
              <a:rPr kumimoji="1" lang="zh-CN" altLang="en-US" dirty="0"/>
              <a:t>思考题</a:t>
            </a:r>
          </a:p>
        </p:txBody>
      </p:sp>
      <p:sp>
        <p:nvSpPr>
          <p:cNvPr id="3" name="内容占位符 2">
            <a:extLst>
              <a:ext uri="{FF2B5EF4-FFF2-40B4-BE49-F238E27FC236}">
                <a16:creationId xmlns:a16="http://schemas.microsoft.com/office/drawing/2014/main" id="{9D0B3D9F-4BD3-ED4C-8DC6-4C99EE17F35C}"/>
              </a:ext>
            </a:extLst>
          </p:cNvPr>
          <p:cNvSpPr>
            <a:spLocks noGrp="1"/>
          </p:cNvSpPr>
          <p:nvPr>
            <p:ph idx="1"/>
          </p:nvPr>
        </p:nvSpPr>
        <p:spPr/>
        <p:txBody>
          <a:bodyPr/>
          <a:lstStyle/>
          <a:p>
            <a:r>
              <a:rPr lang="en-US" altLang="zh-CN" dirty="0"/>
              <a:t>Cohort</a:t>
            </a:r>
            <a:r>
              <a:rPr lang="zh-CN" altLang="en-US" dirty="0"/>
              <a:t>锁在获取更好的扩展性的同时牺牲了什么？</a:t>
            </a:r>
            <a:endParaRPr kumimoji="1" lang="zh-CN" altLang="en-US" dirty="0"/>
          </a:p>
        </p:txBody>
      </p:sp>
      <p:sp>
        <p:nvSpPr>
          <p:cNvPr id="4" name="灯片编号占位符 3">
            <a:extLst>
              <a:ext uri="{FF2B5EF4-FFF2-40B4-BE49-F238E27FC236}">
                <a16:creationId xmlns:a16="http://schemas.microsoft.com/office/drawing/2014/main" id="{FC003DC6-EFE7-E740-A28A-41125E1909A3}"/>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页脚占位符 4">
            <a:extLst>
              <a:ext uri="{FF2B5EF4-FFF2-40B4-BE49-F238E27FC236}">
                <a16:creationId xmlns:a16="http://schemas.microsoft.com/office/drawing/2014/main" id="{E2365D29-B3A8-F947-B718-5BB9E7C6E03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499631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pic>
        <p:nvPicPr>
          <p:cNvPr id="12" name="Picture 11">
            <a:extLst>
              <a:ext uri="{FF2B5EF4-FFF2-40B4-BE49-F238E27FC236}">
                <a16:creationId xmlns:a16="http://schemas.microsoft.com/office/drawing/2014/main" id="{8C10630D-49B0-E248-B54E-045251939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1201316"/>
            <a:ext cx="5822137" cy="3881425"/>
          </a:xfrm>
          <a:prstGeom prst="rect">
            <a:avLst/>
          </a:prstGeom>
        </p:spPr>
      </p:pic>
      <p:sp>
        <p:nvSpPr>
          <p:cNvPr id="9" name="Title 1">
            <a:extLst>
              <a:ext uri="{FF2B5EF4-FFF2-40B4-BE49-F238E27FC236}">
                <a16:creationId xmlns:a16="http://schemas.microsoft.com/office/drawing/2014/main" id="{835A4566-35BE-B343-B42A-84B88AF44E31}"/>
              </a:ext>
            </a:extLst>
          </p:cNvPr>
          <p:cNvSpPr>
            <a:spLocks noGrp="1"/>
          </p:cNvSpPr>
          <p:nvPr>
            <p:ph type="title"/>
          </p:nvPr>
        </p:nvSpPr>
        <p:spPr>
          <a:xfrm>
            <a:off x="457200" y="228866"/>
            <a:ext cx="8229600" cy="900442"/>
          </a:xfrm>
        </p:spPr>
        <p:txBody>
          <a:bodyPr/>
          <a:lstStyle/>
          <a:p>
            <a:r>
              <a:rPr lang="en-CN"/>
              <a:t>我们能更进一步吗</a:t>
            </a:r>
          </a:p>
        </p:txBody>
      </p:sp>
      <p:sp>
        <p:nvSpPr>
          <p:cNvPr id="10" name="Rectangle 9">
            <a:extLst>
              <a:ext uri="{FF2B5EF4-FFF2-40B4-BE49-F238E27FC236}">
                <a16:creationId xmlns:a16="http://schemas.microsoft.com/office/drawing/2014/main" id="{9E58EE9F-3D7B-D44A-BABB-A568F21AE220}"/>
              </a:ext>
            </a:extLst>
          </p:cNvPr>
          <p:cNvSpPr/>
          <p:nvPr/>
        </p:nvSpPr>
        <p:spPr>
          <a:xfrm>
            <a:off x="6198328" y="2346375"/>
            <a:ext cx="2804872" cy="369332"/>
          </a:xfrm>
          <a:prstGeom prst="rect">
            <a:avLst/>
          </a:prstGeom>
        </p:spPr>
        <p:txBody>
          <a:bodyPr wrap="square">
            <a:spAutoFit/>
          </a:bodyPr>
          <a:lstStyle/>
          <a:p>
            <a:r>
              <a:rPr lang="en-US" dirty="0" err="1"/>
              <a:t>性能下降的主要原因</a:t>
            </a:r>
            <a:r>
              <a:rPr lang="zh-CN" altLang="en-US" dirty="0"/>
              <a:t>：</a:t>
            </a:r>
            <a:endParaRPr lang="en-US" dirty="0"/>
          </a:p>
        </p:txBody>
      </p:sp>
      <p:sp>
        <p:nvSpPr>
          <p:cNvPr id="11" name="Rectangle 10">
            <a:extLst>
              <a:ext uri="{FF2B5EF4-FFF2-40B4-BE49-F238E27FC236}">
                <a16:creationId xmlns:a16="http://schemas.microsoft.com/office/drawing/2014/main" id="{CE08684D-2BED-BA40-B808-59D3C80F9106}"/>
              </a:ext>
            </a:extLst>
          </p:cNvPr>
          <p:cNvSpPr/>
          <p:nvPr/>
        </p:nvSpPr>
        <p:spPr>
          <a:xfrm>
            <a:off x="6194888" y="2778423"/>
            <a:ext cx="2804872" cy="646331"/>
          </a:xfrm>
          <a:prstGeom prst="rect">
            <a:avLst/>
          </a:prstGeom>
        </p:spPr>
        <p:txBody>
          <a:bodyPr wrap="square">
            <a:spAutoFit/>
          </a:bodyPr>
          <a:lstStyle/>
          <a:p>
            <a:r>
              <a:rPr lang="en-US"/>
              <a:t>还是会涉及跨NUMA的内存访问</a:t>
            </a:r>
            <a:endParaRPr lang="en-US" b="1"/>
          </a:p>
        </p:txBody>
      </p:sp>
      <p:cxnSp>
        <p:nvCxnSpPr>
          <p:cNvPr id="5" name="Straight Connector 4">
            <a:extLst>
              <a:ext uri="{FF2B5EF4-FFF2-40B4-BE49-F238E27FC236}">
                <a16:creationId xmlns:a16="http://schemas.microsoft.com/office/drawing/2014/main" id="{BDBC61EF-204C-E64C-B0AC-2650803B4FBB}"/>
              </a:ext>
            </a:extLst>
          </p:cNvPr>
          <p:cNvCxnSpPr>
            <a:cxnSpLocks/>
          </p:cNvCxnSpPr>
          <p:nvPr/>
        </p:nvCxnSpPr>
        <p:spPr>
          <a:xfrm>
            <a:off x="3347864" y="1849388"/>
            <a:ext cx="2520280" cy="0"/>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F8B48B7-ECE1-9641-9CC8-7FB70BE7C6A0}"/>
              </a:ext>
            </a:extLst>
          </p:cNvPr>
          <p:cNvSpPr/>
          <p:nvPr/>
        </p:nvSpPr>
        <p:spPr>
          <a:xfrm>
            <a:off x="6071222" y="1635136"/>
            <a:ext cx="1569660" cy="369332"/>
          </a:xfrm>
          <a:prstGeom prst="rect">
            <a:avLst/>
          </a:prstGeom>
        </p:spPr>
        <p:txBody>
          <a:bodyPr wrap="none">
            <a:spAutoFit/>
          </a:bodyPr>
          <a:lstStyle/>
          <a:p>
            <a:r>
              <a:rPr lang="en-US"/>
              <a:t>理想性能表现</a:t>
            </a:r>
            <a:endParaRPr lang="en-CN"/>
          </a:p>
        </p:txBody>
      </p:sp>
      <p:sp>
        <p:nvSpPr>
          <p:cNvPr id="13" name="Footer Placeholder 2">
            <a:extLst>
              <a:ext uri="{FF2B5EF4-FFF2-40B4-BE49-F238E27FC236}">
                <a16:creationId xmlns:a16="http://schemas.microsoft.com/office/drawing/2014/main" id="{E0140628-5474-534C-8ED2-01A23F7513A2}"/>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4379361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a:xfrm>
            <a:off x="457200" y="228866"/>
            <a:ext cx="8686800" cy="900442"/>
          </a:xfrm>
        </p:spPr>
        <p:txBody>
          <a:bodyPr>
            <a:normAutofit/>
          </a:bodyPr>
          <a:lstStyle/>
          <a:p>
            <a:r>
              <a:rPr lang="en-CN"/>
              <a:t>代理锁</a:t>
            </a:r>
            <a:r>
              <a:rPr lang="zh-CN" altLang="en-US"/>
              <a:t>：通过代理执行避免跨节点访问</a:t>
            </a:r>
            <a:endParaRPr lang="en-CN"/>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pic>
        <p:nvPicPr>
          <p:cNvPr id="7" name="Picture 6">
            <a:extLst>
              <a:ext uri="{FF2B5EF4-FFF2-40B4-BE49-F238E27FC236}">
                <a16:creationId xmlns:a16="http://schemas.microsoft.com/office/drawing/2014/main" id="{2473FE6A-90C1-D744-B8F7-CF780DDA44AC}"/>
              </a:ext>
            </a:extLst>
          </p:cNvPr>
          <p:cNvPicPr>
            <a:picLocks noChangeAspect="1"/>
          </p:cNvPicPr>
          <p:nvPr/>
        </p:nvPicPr>
        <p:blipFill>
          <a:blip r:embed="rId3"/>
          <a:stretch>
            <a:fillRect/>
          </a:stretch>
        </p:blipFill>
        <p:spPr>
          <a:xfrm>
            <a:off x="179512" y="1921396"/>
            <a:ext cx="9144000" cy="3297671"/>
          </a:xfrm>
          <a:prstGeom prst="rect">
            <a:avLst/>
          </a:prstGeom>
        </p:spPr>
      </p:pic>
      <p:sp>
        <p:nvSpPr>
          <p:cNvPr id="9" name="Rectangle 8">
            <a:extLst>
              <a:ext uri="{FF2B5EF4-FFF2-40B4-BE49-F238E27FC236}">
                <a16:creationId xmlns:a16="http://schemas.microsoft.com/office/drawing/2014/main" id="{66352BA9-6BED-594D-B59E-577B7AD3AC4B}"/>
              </a:ext>
            </a:extLst>
          </p:cNvPr>
          <p:cNvSpPr/>
          <p:nvPr/>
        </p:nvSpPr>
        <p:spPr>
          <a:xfrm>
            <a:off x="2051720" y="1057300"/>
            <a:ext cx="4788490" cy="646331"/>
          </a:xfrm>
          <a:prstGeom prst="rect">
            <a:avLst/>
          </a:prstGeom>
        </p:spPr>
        <p:txBody>
          <a:bodyPr wrap="none">
            <a:spAutoFit/>
          </a:bodyPr>
          <a:lstStyle/>
          <a:p>
            <a:r>
              <a:rPr lang="en-US"/>
              <a:t>与其让缓存行在不同的NUMA节点之间移动</a:t>
            </a:r>
            <a:r>
              <a:rPr lang="zh-CN" altLang="en-US"/>
              <a:t>，</a:t>
            </a:r>
            <a:endParaRPr lang="en-US"/>
          </a:p>
          <a:p>
            <a:pPr algn="ctr"/>
            <a:r>
              <a:rPr lang="en-US"/>
              <a:t>为何不一直将其</a:t>
            </a:r>
            <a:r>
              <a:rPr lang="en-US" b="1"/>
              <a:t>限定</a:t>
            </a:r>
            <a:r>
              <a:rPr lang="en-US"/>
              <a:t>在一个</a:t>
            </a:r>
            <a:r>
              <a:rPr lang="en-US" b="1"/>
              <a:t>核心上</a:t>
            </a:r>
            <a:r>
              <a:rPr lang="zh-CN" altLang="en-US"/>
              <a:t>？</a:t>
            </a:r>
            <a:endParaRPr lang="en-CN"/>
          </a:p>
        </p:txBody>
      </p:sp>
      <p:sp>
        <p:nvSpPr>
          <p:cNvPr id="10" name="Footer Placeholder 2">
            <a:extLst>
              <a:ext uri="{FF2B5EF4-FFF2-40B4-BE49-F238E27FC236}">
                <a16:creationId xmlns:a16="http://schemas.microsoft.com/office/drawing/2014/main" id="{B2DD7AAE-8DF8-6E4E-B747-8CC7C42A735B}"/>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3" name="Rectangle 2">
            <a:extLst>
              <a:ext uri="{FF2B5EF4-FFF2-40B4-BE49-F238E27FC236}">
                <a16:creationId xmlns:a16="http://schemas.microsoft.com/office/drawing/2014/main" id="{28DB4A03-6972-B946-90AF-45DB18B6B8C3}"/>
              </a:ext>
            </a:extLst>
          </p:cNvPr>
          <p:cNvSpPr/>
          <p:nvPr/>
        </p:nvSpPr>
        <p:spPr>
          <a:xfrm>
            <a:off x="6840210" y="2857500"/>
            <a:ext cx="2147415" cy="646331"/>
          </a:xfrm>
          <a:prstGeom prst="rect">
            <a:avLst/>
          </a:prstGeom>
        </p:spPr>
        <p:txBody>
          <a:bodyPr wrap="square">
            <a:spAutoFit/>
          </a:bodyPr>
          <a:lstStyle/>
          <a:p>
            <a:pPr algn="ctr"/>
            <a:r>
              <a:rPr lang="en-US"/>
              <a:t>临界区转换为可以远程执行的闭包</a:t>
            </a:r>
            <a:endParaRPr lang="en-CN"/>
          </a:p>
        </p:txBody>
      </p:sp>
      <p:sp>
        <p:nvSpPr>
          <p:cNvPr id="5" name="Rectangle 4">
            <a:extLst>
              <a:ext uri="{FF2B5EF4-FFF2-40B4-BE49-F238E27FC236}">
                <a16:creationId xmlns:a16="http://schemas.microsoft.com/office/drawing/2014/main" id="{1A456B3C-2121-A649-867B-5E8F70E23F00}"/>
              </a:ext>
            </a:extLst>
          </p:cNvPr>
          <p:cNvSpPr/>
          <p:nvPr/>
        </p:nvSpPr>
        <p:spPr>
          <a:xfrm>
            <a:off x="2157773" y="2075619"/>
            <a:ext cx="792088" cy="11152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1272B218-9C22-4A45-9EDF-59DB8E1B8FB7}"/>
              </a:ext>
            </a:extLst>
          </p:cNvPr>
          <p:cNvSpPr/>
          <p:nvPr/>
        </p:nvSpPr>
        <p:spPr>
          <a:xfrm>
            <a:off x="1619672" y="2347399"/>
            <a:ext cx="2147415" cy="369332"/>
          </a:xfrm>
          <a:prstGeom prst="rect">
            <a:avLst/>
          </a:prstGeom>
        </p:spPr>
        <p:txBody>
          <a:bodyPr wrap="square">
            <a:spAutoFit/>
          </a:bodyPr>
          <a:lstStyle/>
          <a:p>
            <a:pPr algn="ctr"/>
            <a:r>
              <a:rPr lang="en-US"/>
              <a:t>临界区请求</a:t>
            </a:r>
            <a:endParaRPr lang="en-CN"/>
          </a:p>
        </p:txBody>
      </p:sp>
    </p:spTree>
    <p:extLst>
      <p:ext uri="{BB962C8B-B14F-4D97-AF65-F5344CB8AC3E}">
        <p14:creationId xmlns:p14="http://schemas.microsoft.com/office/powerpoint/2010/main" val="4231872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pic>
        <p:nvPicPr>
          <p:cNvPr id="7" name="Picture 6">
            <a:extLst>
              <a:ext uri="{FF2B5EF4-FFF2-40B4-BE49-F238E27FC236}">
                <a16:creationId xmlns:a16="http://schemas.microsoft.com/office/drawing/2014/main" id="{2473FE6A-90C1-D744-B8F7-CF780DDA44AC}"/>
              </a:ext>
            </a:extLst>
          </p:cNvPr>
          <p:cNvPicPr>
            <a:picLocks noChangeAspect="1"/>
          </p:cNvPicPr>
          <p:nvPr/>
        </p:nvPicPr>
        <p:blipFill>
          <a:blip r:embed="rId2"/>
          <a:stretch>
            <a:fillRect/>
          </a:stretch>
        </p:blipFill>
        <p:spPr>
          <a:xfrm>
            <a:off x="179512" y="1921396"/>
            <a:ext cx="9144000" cy="3297671"/>
          </a:xfrm>
          <a:prstGeom prst="rect">
            <a:avLst/>
          </a:prstGeom>
        </p:spPr>
      </p:pic>
      <p:sp>
        <p:nvSpPr>
          <p:cNvPr id="3" name="Rectangle 2">
            <a:extLst>
              <a:ext uri="{FF2B5EF4-FFF2-40B4-BE49-F238E27FC236}">
                <a16:creationId xmlns:a16="http://schemas.microsoft.com/office/drawing/2014/main" id="{89B62B60-144F-2B4A-810C-50A117A77F64}"/>
              </a:ext>
            </a:extLst>
          </p:cNvPr>
          <p:cNvSpPr/>
          <p:nvPr/>
        </p:nvSpPr>
        <p:spPr>
          <a:xfrm>
            <a:off x="3491880" y="2929508"/>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981FF562-E723-4F42-B82A-D644A3E0A9F3}"/>
              </a:ext>
            </a:extLst>
          </p:cNvPr>
          <p:cNvSpPr/>
          <p:nvPr/>
        </p:nvSpPr>
        <p:spPr>
          <a:xfrm>
            <a:off x="489331" y="3865612"/>
            <a:ext cx="504056" cy="216024"/>
          </a:xfrm>
          <a:prstGeom prst="rect">
            <a:avLst/>
          </a:prstGeom>
          <a:solidFill>
            <a:srgbClr val="92929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6" name="Straight Arrow Connector 5">
            <a:extLst>
              <a:ext uri="{FF2B5EF4-FFF2-40B4-BE49-F238E27FC236}">
                <a16:creationId xmlns:a16="http://schemas.microsoft.com/office/drawing/2014/main" id="{8C61E1E1-F32C-6C44-B4AE-40368D811C11}"/>
              </a:ext>
            </a:extLst>
          </p:cNvPr>
          <p:cNvCxnSpPr>
            <a:cxnSpLocks/>
            <a:stCxn id="3" idx="2"/>
          </p:cNvCxnSpPr>
          <p:nvPr/>
        </p:nvCxnSpPr>
        <p:spPr>
          <a:xfrm flipH="1">
            <a:off x="1043608" y="3145532"/>
            <a:ext cx="2700300" cy="792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A226F96-DE4A-B84A-8A57-9B7B995F226B}"/>
              </a:ext>
            </a:extLst>
          </p:cNvPr>
          <p:cNvSpPr txBox="1">
            <a:spLocks/>
          </p:cNvSpPr>
          <p:nvPr/>
        </p:nvSpPr>
        <p:spPr>
          <a:xfrm>
            <a:off x="457200" y="228866"/>
            <a:ext cx="86868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r>
              <a:rPr lang="en-CN"/>
              <a:t>代理锁</a:t>
            </a:r>
            <a:r>
              <a:rPr lang="zh-CN" altLang="en-US"/>
              <a:t>：通过代理执行避免跨节点访问</a:t>
            </a:r>
            <a:endParaRPr lang="en-CN"/>
          </a:p>
        </p:txBody>
      </p:sp>
      <p:sp>
        <p:nvSpPr>
          <p:cNvPr id="13" name="Footer Placeholder 2">
            <a:extLst>
              <a:ext uri="{FF2B5EF4-FFF2-40B4-BE49-F238E27FC236}">
                <a16:creationId xmlns:a16="http://schemas.microsoft.com/office/drawing/2014/main" id="{CA2D3171-ABAB-7B4A-888C-A1D71B8036B9}"/>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14" name="Rectangle 13">
            <a:extLst>
              <a:ext uri="{FF2B5EF4-FFF2-40B4-BE49-F238E27FC236}">
                <a16:creationId xmlns:a16="http://schemas.microsoft.com/office/drawing/2014/main" id="{CD1D27D1-2FFF-644F-B548-4DC659915B7F}"/>
              </a:ext>
            </a:extLst>
          </p:cNvPr>
          <p:cNvSpPr/>
          <p:nvPr/>
        </p:nvSpPr>
        <p:spPr>
          <a:xfrm>
            <a:off x="2051720" y="1057300"/>
            <a:ext cx="4788490" cy="646331"/>
          </a:xfrm>
          <a:prstGeom prst="rect">
            <a:avLst/>
          </a:prstGeom>
        </p:spPr>
        <p:txBody>
          <a:bodyPr wrap="none">
            <a:spAutoFit/>
          </a:bodyPr>
          <a:lstStyle/>
          <a:p>
            <a:r>
              <a:rPr lang="en-US"/>
              <a:t>与其让缓存行在不同的NUMA节点之间移动</a:t>
            </a:r>
            <a:r>
              <a:rPr lang="zh-CN" altLang="en-US"/>
              <a:t>，</a:t>
            </a:r>
            <a:endParaRPr lang="en-US"/>
          </a:p>
          <a:p>
            <a:pPr algn="ctr"/>
            <a:r>
              <a:rPr lang="en-US"/>
              <a:t>为何不一直将其</a:t>
            </a:r>
            <a:r>
              <a:rPr lang="en-US" b="1"/>
              <a:t>限定</a:t>
            </a:r>
            <a:r>
              <a:rPr lang="en-US"/>
              <a:t>在一个</a:t>
            </a:r>
            <a:r>
              <a:rPr lang="en-US" b="1"/>
              <a:t>核心上</a:t>
            </a:r>
            <a:r>
              <a:rPr lang="zh-CN" altLang="en-US"/>
              <a:t>？</a:t>
            </a:r>
            <a:endParaRPr lang="en-CN"/>
          </a:p>
        </p:txBody>
      </p:sp>
      <p:sp>
        <p:nvSpPr>
          <p:cNvPr id="10" name="Rectangle 9">
            <a:extLst>
              <a:ext uri="{FF2B5EF4-FFF2-40B4-BE49-F238E27FC236}">
                <a16:creationId xmlns:a16="http://schemas.microsoft.com/office/drawing/2014/main" id="{538217B6-ADC0-4B4C-9EFD-0CE52F6E6E38}"/>
              </a:ext>
            </a:extLst>
          </p:cNvPr>
          <p:cNvSpPr/>
          <p:nvPr/>
        </p:nvSpPr>
        <p:spPr>
          <a:xfrm>
            <a:off x="2157773" y="2075619"/>
            <a:ext cx="792088" cy="11152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Rectangle 14">
            <a:extLst>
              <a:ext uri="{FF2B5EF4-FFF2-40B4-BE49-F238E27FC236}">
                <a16:creationId xmlns:a16="http://schemas.microsoft.com/office/drawing/2014/main" id="{77FCF22D-B306-7E4C-AF30-E8CEFF98E8C4}"/>
              </a:ext>
            </a:extLst>
          </p:cNvPr>
          <p:cNvSpPr/>
          <p:nvPr/>
        </p:nvSpPr>
        <p:spPr>
          <a:xfrm>
            <a:off x="1619672" y="2347399"/>
            <a:ext cx="2147415" cy="369332"/>
          </a:xfrm>
          <a:prstGeom prst="rect">
            <a:avLst/>
          </a:prstGeom>
        </p:spPr>
        <p:txBody>
          <a:bodyPr wrap="square">
            <a:spAutoFit/>
          </a:bodyPr>
          <a:lstStyle/>
          <a:p>
            <a:pPr algn="ctr"/>
            <a:r>
              <a:rPr lang="en-US"/>
              <a:t>临界区请求</a:t>
            </a:r>
            <a:endParaRPr lang="en-CN"/>
          </a:p>
        </p:txBody>
      </p:sp>
    </p:spTree>
    <p:extLst>
      <p:ext uri="{BB962C8B-B14F-4D97-AF65-F5344CB8AC3E}">
        <p14:creationId xmlns:p14="http://schemas.microsoft.com/office/powerpoint/2010/main" val="21652299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pic>
        <p:nvPicPr>
          <p:cNvPr id="7" name="Picture 6">
            <a:extLst>
              <a:ext uri="{FF2B5EF4-FFF2-40B4-BE49-F238E27FC236}">
                <a16:creationId xmlns:a16="http://schemas.microsoft.com/office/drawing/2014/main" id="{2473FE6A-90C1-D744-B8F7-CF780DDA44AC}"/>
              </a:ext>
            </a:extLst>
          </p:cNvPr>
          <p:cNvPicPr>
            <a:picLocks noChangeAspect="1"/>
          </p:cNvPicPr>
          <p:nvPr/>
        </p:nvPicPr>
        <p:blipFill>
          <a:blip r:embed="rId2"/>
          <a:stretch>
            <a:fillRect/>
          </a:stretch>
        </p:blipFill>
        <p:spPr>
          <a:xfrm>
            <a:off x="179512" y="1921396"/>
            <a:ext cx="9144000" cy="3297671"/>
          </a:xfrm>
          <a:prstGeom prst="rect">
            <a:avLst/>
          </a:prstGeom>
        </p:spPr>
      </p:pic>
      <p:sp>
        <p:nvSpPr>
          <p:cNvPr id="3" name="Rectangle 2">
            <a:extLst>
              <a:ext uri="{FF2B5EF4-FFF2-40B4-BE49-F238E27FC236}">
                <a16:creationId xmlns:a16="http://schemas.microsoft.com/office/drawing/2014/main" id="{89B62B60-144F-2B4A-810C-50A117A77F64}"/>
              </a:ext>
            </a:extLst>
          </p:cNvPr>
          <p:cNvSpPr/>
          <p:nvPr/>
        </p:nvSpPr>
        <p:spPr>
          <a:xfrm>
            <a:off x="3491880" y="2929508"/>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981FF562-E723-4F42-B82A-D644A3E0A9F3}"/>
              </a:ext>
            </a:extLst>
          </p:cNvPr>
          <p:cNvSpPr/>
          <p:nvPr/>
        </p:nvSpPr>
        <p:spPr>
          <a:xfrm>
            <a:off x="489331" y="3885268"/>
            <a:ext cx="504056" cy="196367"/>
          </a:xfrm>
          <a:prstGeom prst="rect">
            <a:avLst/>
          </a:prstGeom>
          <a:solidFill>
            <a:srgbClr val="92929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6" name="Straight Arrow Connector 5">
            <a:extLst>
              <a:ext uri="{FF2B5EF4-FFF2-40B4-BE49-F238E27FC236}">
                <a16:creationId xmlns:a16="http://schemas.microsoft.com/office/drawing/2014/main" id="{8C61E1E1-F32C-6C44-B4AE-40368D811C11}"/>
              </a:ext>
            </a:extLst>
          </p:cNvPr>
          <p:cNvCxnSpPr>
            <a:cxnSpLocks/>
            <a:stCxn id="3" idx="2"/>
          </p:cNvCxnSpPr>
          <p:nvPr/>
        </p:nvCxnSpPr>
        <p:spPr>
          <a:xfrm flipH="1">
            <a:off x="1043608" y="3145532"/>
            <a:ext cx="2700300" cy="792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C27C4D2-F6B4-A249-B70A-00AC670DF613}"/>
              </a:ext>
            </a:extLst>
          </p:cNvPr>
          <p:cNvSpPr/>
          <p:nvPr/>
        </p:nvSpPr>
        <p:spPr>
          <a:xfrm>
            <a:off x="4282988" y="2991119"/>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5AD46231-E998-0345-B0C1-842B051023DE}"/>
              </a:ext>
            </a:extLst>
          </p:cNvPr>
          <p:cNvSpPr/>
          <p:nvPr/>
        </p:nvSpPr>
        <p:spPr>
          <a:xfrm>
            <a:off x="1267001" y="3885269"/>
            <a:ext cx="504056" cy="176709"/>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3" name="Straight Arrow Connector 12">
            <a:extLst>
              <a:ext uri="{FF2B5EF4-FFF2-40B4-BE49-F238E27FC236}">
                <a16:creationId xmlns:a16="http://schemas.microsoft.com/office/drawing/2014/main" id="{A41211C0-1756-4947-BB92-F603E53F9726}"/>
              </a:ext>
            </a:extLst>
          </p:cNvPr>
          <p:cNvCxnSpPr>
            <a:cxnSpLocks/>
          </p:cNvCxnSpPr>
          <p:nvPr/>
        </p:nvCxnSpPr>
        <p:spPr>
          <a:xfrm flipH="1">
            <a:off x="1795158" y="3133411"/>
            <a:ext cx="2700300" cy="792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980BF9D-8AB4-2F43-A5DF-E8712CACD3F1}"/>
              </a:ext>
            </a:extLst>
          </p:cNvPr>
          <p:cNvSpPr txBox="1">
            <a:spLocks/>
          </p:cNvSpPr>
          <p:nvPr/>
        </p:nvSpPr>
        <p:spPr>
          <a:xfrm>
            <a:off x="457200" y="228866"/>
            <a:ext cx="86868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r>
              <a:rPr lang="en-CN"/>
              <a:t>代理锁</a:t>
            </a:r>
            <a:r>
              <a:rPr lang="zh-CN" altLang="en-US"/>
              <a:t>：通过代理执行避免跨节点访问</a:t>
            </a:r>
            <a:endParaRPr lang="en-CN"/>
          </a:p>
        </p:txBody>
      </p:sp>
      <p:sp>
        <p:nvSpPr>
          <p:cNvPr id="16" name="Rectangle 15">
            <a:extLst>
              <a:ext uri="{FF2B5EF4-FFF2-40B4-BE49-F238E27FC236}">
                <a16:creationId xmlns:a16="http://schemas.microsoft.com/office/drawing/2014/main" id="{CCF2C8D4-4EA0-6942-A30A-106EE3B49D78}"/>
              </a:ext>
            </a:extLst>
          </p:cNvPr>
          <p:cNvSpPr/>
          <p:nvPr/>
        </p:nvSpPr>
        <p:spPr>
          <a:xfrm>
            <a:off x="2051720" y="1057300"/>
            <a:ext cx="4788490" cy="646331"/>
          </a:xfrm>
          <a:prstGeom prst="rect">
            <a:avLst/>
          </a:prstGeom>
        </p:spPr>
        <p:txBody>
          <a:bodyPr wrap="none">
            <a:spAutoFit/>
          </a:bodyPr>
          <a:lstStyle/>
          <a:p>
            <a:r>
              <a:rPr lang="en-US"/>
              <a:t>与其让缓存行在不同的NUMA节点之间移动</a:t>
            </a:r>
            <a:r>
              <a:rPr lang="zh-CN" altLang="en-US"/>
              <a:t>，</a:t>
            </a:r>
            <a:endParaRPr lang="en-US"/>
          </a:p>
          <a:p>
            <a:pPr algn="ctr"/>
            <a:r>
              <a:rPr lang="en-US"/>
              <a:t>为何不一直将其</a:t>
            </a:r>
            <a:r>
              <a:rPr lang="en-US" b="1"/>
              <a:t>限定</a:t>
            </a:r>
            <a:r>
              <a:rPr lang="en-US"/>
              <a:t>在一个</a:t>
            </a:r>
            <a:r>
              <a:rPr lang="en-US" b="1"/>
              <a:t>核心上</a:t>
            </a:r>
            <a:r>
              <a:rPr lang="zh-CN" altLang="en-US"/>
              <a:t>？</a:t>
            </a:r>
            <a:endParaRPr lang="en-CN"/>
          </a:p>
        </p:txBody>
      </p:sp>
      <p:sp>
        <p:nvSpPr>
          <p:cNvPr id="17" name="Footer Placeholder 2">
            <a:extLst>
              <a:ext uri="{FF2B5EF4-FFF2-40B4-BE49-F238E27FC236}">
                <a16:creationId xmlns:a16="http://schemas.microsoft.com/office/drawing/2014/main" id="{F0C97F5B-FA84-D24D-AEAF-874E754DA8A1}"/>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14" name="Rectangle 13">
            <a:extLst>
              <a:ext uri="{FF2B5EF4-FFF2-40B4-BE49-F238E27FC236}">
                <a16:creationId xmlns:a16="http://schemas.microsoft.com/office/drawing/2014/main" id="{25B98958-3650-C34C-887A-5488F6E6F34A}"/>
              </a:ext>
            </a:extLst>
          </p:cNvPr>
          <p:cNvSpPr/>
          <p:nvPr/>
        </p:nvSpPr>
        <p:spPr>
          <a:xfrm>
            <a:off x="2157773" y="2075619"/>
            <a:ext cx="792088" cy="11152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Rectangle 17">
            <a:extLst>
              <a:ext uri="{FF2B5EF4-FFF2-40B4-BE49-F238E27FC236}">
                <a16:creationId xmlns:a16="http://schemas.microsoft.com/office/drawing/2014/main" id="{64007F88-EEA7-364B-A463-C6DEFC4DFB89}"/>
              </a:ext>
            </a:extLst>
          </p:cNvPr>
          <p:cNvSpPr/>
          <p:nvPr/>
        </p:nvSpPr>
        <p:spPr>
          <a:xfrm>
            <a:off x="1619672" y="2347399"/>
            <a:ext cx="2147415" cy="369332"/>
          </a:xfrm>
          <a:prstGeom prst="rect">
            <a:avLst/>
          </a:prstGeom>
        </p:spPr>
        <p:txBody>
          <a:bodyPr wrap="square">
            <a:spAutoFit/>
          </a:bodyPr>
          <a:lstStyle/>
          <a:p>
            <a:pPr algn="ctr"/>
            <a:r>
              <a:rPr lang="en-US"/>
              <a:t>临界区请求</a:t>
            </a:r>
            <a:endParaRPr lang="en-CN"/>
          </a:p>
        </p:txBody>
      </p:sp>
    </p:spTree>
    <p:extLst>
      <p:ext uri="{BB962C8B-B14F-4D97-AF65-F5344CB8AC3E}">
        <p14:creationId xmlns:p14="http://schemas.microsoft.com/office/powerpoint/2010/main" val="41170702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pic>
        <p:nvPicPr>
          <p:cNvPr id="10" name="Picture 9">
            <a:extLst>
              <a:ext uri="{FF2B5EF4-FFF2-40B4-BE49-F238E27FC236}">
                <a16:creationId xmlns:a16="http://schemas.microsoft.com/office/drawing/2014/main" id="{6B634575-6B4B-EE49-884B-5BA1EE693CE9}"/>
              </a:ext>
            </a:extLst>
          </p:cNvPr>
          <p:cNvPicPr>
            <a:picLocks noChangeAspect="1"/>
          </p:cNvPicPr>
          <p:nvPr/>
        </p:nvPicPr>
        <p:blipFill>
          <a:blip r:embed="rId3"/>
          <a:stretch>
            <a:fillRect/>
          </a:stretch>
        </p:blipFill>
        <p:spPr>
          <a:xfrm>
            <a:off x="827584" y="1777380"/>
            <a:ext cx="7272808" cy="3458644"/>
          </a:xfrm>
          <a:prstGeom prst="rect">
            <a:avLst/>
          </a:prstGeom>
        </p:spPr>
      </p:pic>
      <p:sp>
        <p:nvSpPr>
          <p:cNvPr id="3" name="Rectangle 2">
            <a:extLst>
              <a:ext uri="{FF2B5EF4-FFF2-40B4-BE49-F238E27FC236}">
                <a16:creationId xmlns:a16="http://schemas.microsoft.com/office/drawing/2014/main" id="{0647D4E6-63F1-624C-8CCA-122824E73AB3}"/>
              </a:ext>
            </a:extLst>
          </p:cNvPr>
          <p:cNvSpPr/>
          <p:nvPr/>
        </p:nvSpPr>
        <p:spPr>
          <a:xfrm>
            <a:off x="5755395" y="3217540"/>
            <a:ext cx="1813317" cy="369332"/>
          </a:xfrm>
          <a:prstGeom prst="rect">
            <a:avLst/>
          </a:prstGeom>
        </p:spPr>
        <p:txBody>
          <a:bodyPr wrap="none">
            <a:spAutoFit/>
          </a:bodyPr>
          <a:lstStyle/>
          <a:p>
            <a:r>
              <a:rPr lang="en-CN"/>
              <a:t>锁服务器的逻辑</a:t>
            </a:r>
          </a:p>
        </p:txBody>
      </p:sp>
      <p:sp>
        <p:nvSpPr>
          <p:cNvPr id="13" name="Title 1">
            <a:extLst>
              <a:ext uri="{FF2B5EF4-FFF2-40B4-BE49-F238E27FC236}">
                <a16:creationId xmlns:a16="http://schemas.microsoft.com/office/drawing/2014/main" id="{580C1D3A-E3FA-8C4D-A6C0-DD36959641B7}"/>
              </a:ext>
            </a:extLst>
          </p:cNvPr>
          <p:cNvSpPr txBox="1">
            <a:spLocks/>
          </p:cNvSpPr>
          <p:nvPr/>
        </p:nvSpPr>
        <p:spPr>
          <a:xfrm>
            <a:off x="457200" y="228866"/>
            <a:ext cx="86868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r>
              <a:rPr lang="en-CN"/>
              <a:t>代理锁</a:t>
            </a:r>
            <a:r>
              <a:rPr lang="zh-CN" altLang="en-US"/>
              <a:t>：通过代理执行避免跨节点访问</a:t>
            </a:r>
            <a:endParaRPr lang="en-CN"/>
          </a:p>
        </p:txBody>
      </p:sp>
      <p:sp>
        <p:nvSpPr>
          <p:cNvPr id="14" name="Rectangle 13">
            <a:extLst>
              <a:ext uri="{FF2B5EF4-FFF2-40B4-BE49-F238E27FC236}">
                <a16:creationId xmlns:a16="http://schemas.microsoft.com/office/drawing/2014/main" id="{182218CB-A97E-D841-A646-94236AD11178}"/>
              </a:ext>
            </a:extLst>
          </p:cNvPr>
          <p:cNvSpPr/>
          <p:nvPr/>
        </p:nvSpPr>
        <p:spPr>
          <a:xfrm>
            <a:off x="2051720" y="1057300"/>
            <a:ext cx="4788490" cy="646331"/>
          </a:xfrm>
          <a:prstGeom prst="rect">
            <a:avLst/>
          </a:prstGeom>
        </p:spPr>
        <p:txBody>
          <a:bodyPr wrap="none">
            <a:spAutoFit/>
          </a:bodyPr>
          <a:lstStyle/>
          <a:p>
            <a:r>
              <a:rPr lang="en-US"/>
              <a:t>与其让缓存行在不同的NUMA节点之间移动</a:t>
            </a:r>
            <a:r>
              <a:rPr lang="zh-CN" altLang="en-US"/>
              <a:t>，</a:t>
            </a:r>
            <a:endParaRPr lang="en-US"/>
          </a:p>
          <a:p>
            <a:pPr algn="ctr"/>
            <a:r>
              <a:rPr lang="en-US"/>
              <a:t>为何不一直将其</a:t>
            </a:r>
            <a:r>
              <a:rPr lang="en-US" b="1"/>
              <a:t>限定</a:t>
            </a:r>
            <a:r>
              <a:rPr lang="en-US"/>
              <a:t>在一个</a:t>
            </a:r>
            <a:r>
              <a:rPr lang="en-US" b="1"/>
              <a:t>核心上</a:t>
            </a:r>
            <a:r>
              <a:rPr lang="zh-CN" altLang="en-US"/>
              <a:t>？</a:t>
            </a:r>
            <a:endParaRPr lang="en-CN"/>
          </a:p>
        </p:txBody>
      </p:sp>
      <p:sp>
        <p:nvSpPr>
          <p:cNvPr id="15" name="Footer Placeholder 2">
            <a:extLst>
              <a:ext uri="{FF2B5EF4-FFF2-40B4-BE49-F238E27FC236}">
                <a16:creationId xmlns:a16="http://schemas.microsoft.com/office/drawing/2014/main" id="{7C96E5A1-87C3-DA44-A05A-4B037FE95820}"/>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2" name="Rectangle 1">
            <a:extLst>
              <a:ext uri="{FF2B5EF4-FFF2-40B4-BE49-F238E27FC236}">
                <a16:creationId xmlns:a16="http://schemas.microsoft.com/office/drawing/2014/main" id="{7E2A1399-D215-D448-8D4C-21371CD29631}"/>
              </a:ext>
            </a:extLst>
          </p:cNvPr>
          <p:cNvSpPr/>
          <p:nvPr/>
        </p:nvSpPr>
        <p:spPr>
          <a:xfrm>
            <a:off x="3131329" y="4589693"/>
            <a:ext cx="2629272" cy="646331"/>
          </a:xfrm>
          <a:prstGeom prst="rect">
            <a:avLst/>
          </a:prstGeom>
        </p:spPr>
        <p:txBody>
          <a:bodyPr wrap="square">
            <a:spAutoFit/>
          </a:bodyPr>
          <a:lstStyle/>
          <a:p>
            <a:pPr algn="ctr"/>
            <a:r>
              <a:rPr lang="en-CN"/>
              <a:t>全局变量的缓存行将一直存在服务器的本地</a:t>
            </a:r>
          </a:p>
        </p:txBody>
      </p:sp>
      <p:sp>
        <p:nvSpPr>
          <p:cNvPr id="9" name="Rectangle 8">
            <a:extLst>
              <a:ext uri="{FF2B5EF4-FFF2-40B4-BE49-F238E27FC236}">
                <a16:creationId xmlns:a16="http://schemas.microsoft.com/office/drawing/2014/main" id="{F78973E0-C558-4640-A2B4-0306CB1FAFE3}"/>
              </a:ext>
            </a:extLst>
          </p:cNvPr>
          <p:cNvSpPr/>
          <p:nvPr/>
        </p:nvSpPr>
        <p:spPr>
          <a:xfrm>
            <a:off x="1259632" y="2532065"/>
            <a:ext cx="1008112" cy="9014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20BB015E-3A80-504E-8048-1F1D236CA81A}"/>
              </a:ext>
            </a:extLst>
          </p:cNvPr>
          <p:cNvSpPr/>
          <p:nvPr/>
        </p:nvSpPr>
        <p:spPr>
          <a:xfrm>
            <a:off x="971600" y="2755875"/>
            <a:ext cx="1721780" cy="646331"/>
          </a:xfrm>
          <a:prstGeom prst="rect">
            <a:avLst/>
          </a:prstGeom>
        </p:spPr>
        <p:txBody>
          <a:bodyPr wrap="square">
            <a:spAutoFit/>
          </a:bodyPr>
          <a:lstStyle/>
          <a:p>
            <a:pPr algn="ctr"/>
            <a:r>
              <a:rPr lang="en-US"/>
              <a:t>一个一个执行临界区的请求</a:t>
            </a:r>
            <a:endParaRPr lang="en-CN"/>
          </a:p>
        </p:txBody>
      </p:sp>
    </p:spTree>
    <p:extLst>
      <p:ext uri="{BB962C8B-B14F-4D97-AF65-F5344CB8AC3E}">
        <p14:creationId xmlns:p14="http://schemas.microsoft.com/office/powerpoint/2010/main" val="8166436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a:xfrm>
            <a:off x="457200" y="228866"/>
            <a:ext cx="8686800" cy="900442"/>
          </a:xfrm>
        </p:spPr>
        <p:txBody>
          <a:bodyPr>
            <a:normAutofit/>
          </a:bodyPr>
          <a:lstStyle/>
          <a:p>
            <a:r>
              <a:rPr lang="en-CN" dirty="0"/>
              <a:t>应该由哪个核心成为锁服务器</a:t>
            </a:r>
            <a:r>
              <a:rPr lang="zh-CN" altLang="en-US" dirty="0"/>
              <a:t>？</a:t>
            </a:r>
            <a:endParaRPr lang="en-CN" dirty="0"/>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58</a:t>
            </a:fld>
            <a:endParaRPr lang="zh-CN" altLang="en-US" dirty="0"/>
          </a:p>
        </p:txBody>
      </p:sp>
      <p:pic>
        <p:nvPicPr>
          <p:cNvPr id="10" name="Picture 9">
            <a:extLst>
              <a:ext uri="{FF2B5EF4-FFF2-40B4-BE49-F238E27FC236}">
                <a16:creationId xmlns:a16="http://schemas.microsoft.com/office/drawing/2014/main" id="{6B634575-6B4B-EE49-884B-5BA1EE693CE9}"/>
              </a:ext>
            </a:extLst>
          </p:cNvPr>
          <p:cNvPicPr>
            <a:picLocks noChangeAspect="1"/>
          </p:cNvPicPr>
          <p:nvPr/>
        </p:nvPicPr>
        <p:blipFill rotWithShape="1">
          <a:blip r:embed="rId3"/>
          <a:srcRect t="1" r="37624" b="-1762"/>
          <a:stretch/>
        </p:blipFill>
        <p:spPr>
          <a:xfrm>
            <a:off x="323528" y="1417340"/>
            <a:ext cx="4536504" cy="3519582"/>
          </a:xfrm>
          <a:prstGeom prst="rect">
            <a:avLst/>
          </a:prstGeom>
        </p:spPr>
      </p:pic>
      <p:sp>
        <p:nvSpPr>
          <p:cNvPr id="7" name="Rectangle 6">
            <a:extLst>
              <a:ext uri="{FF2B5EF4-FFF2-40B4-BE49-F238E27FC236}">
                <a16:creationId xmlns:a16="http://schemas.microsoft.com/office/drawing/2014/main" id="{5F2A3EC8-6F59-DD45-B560-7BC136F8FD3F}"/>
              </a:ext>
            </a:extLst>
          </p:cNvPr>
          <p:cNvSpPr/>
          <p:nvPr/>
        </p:nvSpPr>
        <p:spPr>
          <a:xfrm>
            <a:off x="5364088" y="1382771"/>
            <a:ext cx="3240360" cy="369332"/>
          </a:xfrm>
          <a:prstGeom prst="rect">
            <a:avLst/>
          </a:prstGeom>
        </p:spPr>
        <p:txBody>
          <a:bodyPr wrap="square">
            <a:spAutoFit/>
          </a:bodyPr>
          <a:lstStyle/>
          <a:p>
            <a:r>
              <a:rPr lang="zh-CN" altLang="en-US" dirty="0"/>
              <a:t>固定锁服务器：</a:t>
            </a:r>
            <a:endParaRPr lang="en-US" dirty="0"/>
          </a:p>
        </p:txBody>
      </p:sp>
      <p:sp>
        <p:nvSpPr>
          <p:cNvPr id="11" name="Rectangle 10">
            <a:extLst>
              <a:ext uri="{FF2B5EF4-FFF2-40B4-BE49-F238E27FC236}">
                <a16:creationId xmlns:a16="http://schemas.microsoft.com/office/drawing/2014/main" id="{A28FBF61-2430-2546-9C60-48807D2C86F0}"/>
              </a:ext>
            </a:extLst>
          </p:cNvPr>
          <p:cNvSpPr/>
          <p:nvPr/>
        </p:nvSpPr>
        <p:spPr>
          <a:xfrm>
            <a:off x="5446440" y="1844877"/>
            <a:ext cx="3240360" cy="128945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提前准备好一个锁服务器，所有临界区的请求都在这个服务器上执行</a:t>
            </a:r>
            <a:endParaRPr lang="en-US" dirty="0"/>
          </a:p>
        </p:txBody>
      </p:sp>
      <p:sp>
        <p:nvSpPr>
          <p:cNvPr id="12" name="Rectangle 11">
            <a:extLst>
              <a:ext uri="{FF2B5EF4-FFF2-40B4-BE49-F238E27FC236}">
                <a16:creationId xmlns:a16="http://schemas.microsoft.com/office/drawing/2014/main" id="{F4C5DEE6-330C-9843-B5EF-5B7F2CC59BD9}"/>
              </a:ext>
            </a:extLst>
          </p:cNvPr>
          <p:cNvSpPr/>
          <p:nvPr/>
        </p:nvSpPr>
        <p:spPr>
          <a:xfrm>
            <a:off x="5364088" y="3212144"/>
            <a:ext cx="3240360" cy="369332"/>
          </a:xfrm>
          <a:prstGeom prst="rect">
            <a:avLst/>
          </a:prstGeom>
        </p:spPr>
        <p:txBody>
          <a:bodyPr wrap="square">
            <a:spAutoFit/>
          </a:bodyPr>
          <a:lstStyle/>
          <a:p>
            <a:r>
              <a:rPr lang="en-US" dirty="0"/>
              <a:t>非固定锁服务器</a:t>
            </a:r>
            <a:r>
              <a:rPr lang="zh-CN" altLang="en-US" dirty="0"/>
              <a:t>：</a:t>
            </a:r>
            <a:endParaRPr lang="en-US" dirty="0"/>
          </a:p>
        </p:txBody>
      </p:sp>
      <p:sp>
        <p:nvSpPr>
          <p:cNvPr id="13" name="Rectangle 12">
            <a:extLst>
              <a:ext uri="{FF2B5EF4-FFF2-40B4-BE49-F238E27FC236}">
                <a16:creationId xmlns:a16="http://schemas.microsoft.com/office/drawing/2014/main" id="{E0315489-1F25-754A-BAD7-6E8F027CE79B}"/>
              </a:ext>
            </a:extLst>
          </p:cNvPr>
          <p:cNvSpPr/>
          <p:nvPr/>
        </p:nvSpPr>
        <p:spPr>
          <a:xfrm>
            <a:off x="5451955" y="3628083"/>
            <a:ext cx="3240360" cy="128945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当没有锁服务器时，第一个尝试获取锁的竞争者升级成锁服务器</a:t>
            </a:r>
            <a:endParaRPr lang="en-US" dirty="0"/>
          </a:p>
        </p:txBody>
      </p:sp>
      <p:sp>
        <p:nvSpPr>
          <p:cNvPr id="3" name="Rectangle 2">
            <a:extLst>
              <a:ext uri="{FF2B5EF4-FFF2-40B4-BE49-F238E27FC236}">
                <a16:creationId xmlns:a16="http://schemas.microsoft.com/office/drawing/2014/main" id="{80B0EDB2-6F62-1040-80E5-620B8C68FE0D}"/>
              </a:ext>
            </a:extLst>
          </p:cNvPr>
          <p:cNvSpPr/>
          <p:nvPr/>
        </p:nvSpPr>
        <p:spPr>
          <a:xfrm>
            <a:off x="0" y="5060540"/>
            <a:ext cx="8686800" cy="646331"/>
          </a:xfrm>
          <a:prstGeom prst="rect">
            <a:avLst/>
          </a:prstGeom>
        </p:spPr>
        <p:txBody>
          <a:bodyPr wrap="square">
            <a:spAutoFit/>
          </a:bodyPr>
          <a:lstStyle/>
          <a:p>
            <a:pPr marL="228600" indent="-228600">
              <a:buAutoNum type="arabicPeriod"/>
            </a:pPr>
            <a:r>
              <a:rPr lang="en-US" sz="1200" dirty="0" err="1">
                <a:solidFill>
                  <a:srgbClr val="222222"/>
                </a:solidFill>
                <a:latin typeface="Arial" panose="020B0604020202020204" pitchFamily="34" charset="0"/>
              </a:rPr>
              <a:t>Roghanchi</a:t>
            </a:r>
            <a:r>
              <a:rPr lang="en-US" sz="1200" dirty="0">
                <a:solidFill>
                  <a:srgbClr val="222222"/>
                </a:solidFill>
                <a:latin typeface="Arial" panose="020B0604020202020204" pitchFamily="34" charset="0"/>
              </a:rPr>
              <a:t>, </a:t>
            </a:r>
            <a:r>
              <a:rPr lang="en-US" sz="1200" dirty="0" err="1">
                <a:solidFill>
                  <a:srgbClr val="222222"/>
                </a:solidFill>
                <a:latin typeface="Arial" panose="020B0604020202020204" pitchFamily="34" charset="0"/>
              </a:rPr>
              <a:t>Sepideh</a:t>
            </a:r>
            <a:r>
              <a:rPr lang="en-US" sz="1200" dirty="0">
                <a:solidFill>
                  <a:srgbClr val="222222"/>
                </a:solidFill>
                <a:latin typeface="Arial" panose="020B0604020202020204" pitchFamily="34" charset="0"/>
              </a:rPr>
              <a:t>, Jakob Eriksson, and </a:t>
            </a:r>
            <a:r>
              <a:rPr lang="en-US" sz="1200" dirty="0" err="1">
                <a:solidFill>
                  <a:srgbClr val="222222"/>
                </a:solidFill>
                <a:latin typeface="Arial" panose="020B0604020202020204" pitchFamily="34" charset="0"/>
              </a:rPr>
              <a:t>Nilanjana</a:t>
            </a:r>
            <a:r>
              <a:rPr lang="en-US" sz="1200" dirty="0">
                <a:solidFill>
                  <a:srgbClr val="222222"/>
                </a:solidFill>
                <a:latin typeface="Arial" panose="020B0604020202020204" pitchFamily="34" charset="0"/>
              </a:rPr>
              <a:t> </a:t>
            </a:r>
            <a:r>
              <a:rPr lang="en-US" sz="1200" dirty="0" err="1">
                <a:solidFill>
                  <a:srgbClr val="222222"/>
                </a:solidFill>
                <a:latin typeface="Arial" panose="020B0604020202020204" pitchFamily="34" charset="0"/>
              </a:rPr>
              <a:t>Basu</a:t>
            </a:r>
            <a:r>
              <a:rPr lang="en-US" sz="1200" dirty="0">
                <a:solidFill>
                  <a:srgbClr val="222222"/>
                </a:solidFill>
                <a:latin typeface="Arial" panose="020B0604020202020204" pitchFamily="34" charset="0"/>
              </a:rPr>
              <a:t>. ”</a:t>
            </a:r>
            <a:r>
              <a:rPr lang="en-US" sz="1200" dirty="0" err="1">
                <a:solidFill>
                  <a:srgbClr val="222222"/>
                </a:solidFill>
                <a:latin typeface="Arial" panose="020B0604020202020204" pitchFamily="34" charset="0"/>
              </a:rPr>
              <a:t>ffwd</a:t>
            </a:r>
            <a:r>
              <a:rPr lang="en-US" sz="1200" dirty="0">
                <a:solidFill>
                  <a:srgbClr val="222222"/>
                </a:solidFill>
                <a:latin typeface="Arial" panose="020B0604020202020204" pitchFamily="34" charset="0"/>
              </a:rPr>
              <a:t>: Delegation is (much) faster than you think." </a:t>
            </a:r>
            <a:r>
              <a:rPr lang="en-US" sz="1200" i="1" dirty="0">
                <a:solidFill>
                  <a:srgbClr val="222222"/>
                </a:solidFill>
                <a:latin typeface="Arial" panose="020B0604020202020204" pitchFamily="34" charset="0"/>
              </a:rPr>
              <a:t>SOSP</a:t>
            </a:r>
            <a:r>
              <a:rPr lang="en-US" sz="1200" dirty="0">
                <a:solidFill>
                  <a:srgbClr val="222222"/>
                </a:solidFill>
                <a:latin typeface="Arial" panose="020B0604020202020204" pitchFamily="34" charset="0"/>
              </a:rPr>
              <a:t>. 2017.</a:t>
            </a:r>
          </a:p>
          <a:p>
            <a:pPr marL="228600" indent="-228600">
              <a:buFontTx/>
              <a:buAutoNum type="arabicPeriod"/>
            </a:pPr>
            <a:r>
              <a:rPr lang="en-US" sz="1200" dirty="0"/>
              <a:t>Zhang, </a:t>
            </a:r>
            <a:r>
              <a:rPr lang="en-US" sz="1200" dirty="0" err="1"/>
              <a:t>Mingzhe</a:t>
            </a:r>
            <a:r>
              <a:rPr lang="en-US" sz="1200" dirty="0"/>
              <a:t>, </a:t>
            </a:r>
            <a:r>
              <a:rPr lang="en-US" sz="1200" dirty="0" err="1"/>
              <a:t>Haibo</a:t>
            </a:r>
            <a:r>
              <a:rPr lang="en-US" sz="1200" dirty="0"/>
              <a:t> Chen, </a:t>
            </a:r>
            <a:r>
              <a:rPr lang="en-US" altLang="zh-CN" sz="1200" dirty="0" err="1"/>
              <a:t>Luwei</a:t>
            </a:r>
            <a:r>
              <a:rPr lang="en-US" altLang="zh-CN" sz="1200" dirty="0"/>
              <a:t> Cheng, Francis C.M. Lau, and Cho-Li Wang</a:t>
            </a:r>
            <a:r>
              <a:rPr lang="en-US" sz="1200" dirty="0"/>
              <a:t>. "Scalable adaptive </a:t>
            </a:r>
            <a:r>
              <a:rPr lang="en-US" sz="1200" dirty="0" err="1"/>
              <a:t>numa</a:t>
            </a:r>
            <a:r>
              <a:rPr lang="en-US" sz="1200" dirty="0"/>
              <a:t>-aware lock.” TPDS 2016</a:t>
            </a:r>
            <a:endParaRPr lang="en-CN" sz="1200" dirty="0"/>
          </a:p>
        </p:txBody>
      </p:sp>
      <p:sp>
        <p:nvSpPr>
          <p:cNvPr id="5" name="Rectangle 4">
            <a:extLst>
              <a:ext uri="{FF2B5EF4-FFF2-40B4-BE49-F238E27FC236}">
                <a16:creationId xmlns:a16="http://schemas.microsoft.com/office/drawing/2014/main" id="{D3575E66-A5D3-D44A-B20C-898CBB35B432}"/>
              </a:ext>
            </a:extLst>
          </p:cNvPr>
          <p:cNvSpPr/>
          <p:nvPr/>
        </p:nvSpPr>
        <p:spPr>
          <a:xfrm>
            <a:off x="7308304" y="1386674"/>
            <a:ext cx="1060547" cy="369332"/>
          </a:xfrm>
          <a:prstGeom prst="rect">
            <a:avLst/>
          </a:prstGeom>
        </p:spPr>
        <p:txBody>
          <a:bodyPr wrap="none">
            <a:spAutoFit/>
          </a:bodyPr>
          <a:lstStyle/>
          <a:p>
            <a:r>
              <a:rPr lang="en-US" altLang="zh-CN" dirty="0"/>
              <a:t>ffwd</a:t>
            </a:r>
            <a:r>
              <a:rPr lang="en-US" altLang="zh-CN" baseline="30000" dirty="0"/>
              <a:t>1</a:t>
            </a:r>
            <a:r>
              <a:rPr lang="en-US" altLang="zh-CN" dirty="0"/>
              <a:t>, </a:t>
            </a:r>
            <a:r>
              <a:rPr lang="en-US" altLang="zh-CN" dirty="0" err="1"/>
              <a:t>rcl</a:t>
            </a:r>
            <a:endParaRPr lang="en-CN" dirty="0"/>
          </a:p>
        </p:txBody>
      </p:sp>
      <p:sp>
        <p:nvSpPr>
          <p:cNvPr id="14" name="Rectangle 13">
            <a:extLst>
              <a:ext uri="{FF2B5EF4-FFF2-40B4-BE49-F238E27FC236}">
                <a16:creationId xmlns:a16="http://schemas.microsoft.com/office/drawing/2014/main" id="{A8815367-89D3-EE4A-9033-49263FA9BA80}"/>
              </a:ext>
            </a:extLst>
          </p:cNvPr>
          <p:cNvSpPr/>
          <p:nvPr/>
        </p:nvSpPr>
        <p:spPr>
          <a:xfrm>
            <a:off x="7384192" y="3014629"/>
            <a:ext cx="1724312" cy="646331"/>
          </a:xfrm>
          <a:prstGeom prst="rect">
            <a:avLst/>
          </a:prstGeom>
        </p:spPr>
        <p:txBody>
          <a:bodyPr wrap="square">
            <a:spAutoFit/>
          </a:bodyPr>
          <a:lstStyle/>
          <a:p>
            <a:r>
              <a:rPr lang="en-US" altLang="zh-CN" dirty="0"/>
              <a:t>sanl</a:t>
            </a:r>
            <a:r>
              <a:rPr lang="en-US" altLang="zh-CN" baseline="30000" dirty="0"/>
              <a:t>2</a:t>
            </a:r>
            <a:r>
              <a:rPr lang="en-US" altLang="zh-CN" dirty="0"/>
              <a:t>, flat-combining</a:t>
            </a:r>
            <a:endParaRPr lang="en-CN" dirty="0"/>
          </a:p>
        </p:txBody>
      </p:sp>
      <p:sp>
        <p:nvSpPr>
          <p:cNvPr id="15" name="Rectangle 14">
            <a:extLst>
              <a:ext uri="{FF2B5EF4-FFF2-40B4-BE49-F238E27FC236}">
                <a16:creationId xmlns:a16="http://schemas.microsoft.com/office/drawing/2014/main" id="{A084671B-A4D8-6D4C-B3B8-96ADC57C331B}"/>
              </a:ext>
            </a:extLst>
          </p:cNvPr>
          <p:cNvSpPr/>
          <p:nvPr/>
        </p:nvSpPr>
        <p:spPr>
          <a:xfrm>
            <a:off x="750438" y="2207148"/>
            <a:ext cx="1008112" cy="9014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Rectangle 15">
            <a:extLst>
              <a:ext uri="{FF2B5EF4-FFF2-40B4-BE49-F238E27FC236}">
                <a16:creationId xmlns:a16="http://schemas.microsoft.com/office/drawing/2014/main" id="{551D2E4D-6758-6B48-B0A4-7D1FC062F9CE}"/>
              </a:ext>
            </a:extLst>
          </p:cNvPr>
          <p:cNvSpPr/>
          <p:nvPr/>
        </p:nvSpPr>
        <p:spPr>
          <a:xfrm>
            <a:off x="462406" y="2430958"/>
            <a:ext cx="1721780" cy="646331"/>
          </a:xfrm>
          <a:prstGeom prst="rect">
            <a:avLst/>
          </a:prstGeom>
        </p:spPr>
        <p:txBody>
          <a:bodyPr wrap="square">
            <a:spAutoFit/>
          </a:bodyPr>
          <a:lstStyle/>
          <a:p>
            <a:pPr algn="ctr"/>
            <a:r>
              <a:rPr lang="en-US"/>
              <a:t>一个一个执行临界区的请求</a:t>
            </a:r>
            <a:endParaRPr lang="en-CN"/>
          </a:p>
        </p:txBody>
      </p:sp>
    </p:spTree>
    <p:extLst>
      <p:ext uri="{BB962C8B-B14F-4D97-AF65-F5344CB8AC3E}">
        <p14:creationId xmlns:p14="http://schemas.microsoft.com/office/powerpoint/2010/main" val="18287259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a:xfrm>
            <a:off x="457200" y="228866"/>
            <a:ext cx="8686800" cy="900442"/>
          </a:xfrm>
        </p:spPr>
        <p:txBody>
          <a:bodyPr>
            <a:normAutofit/>
          </a:bodyPr>
          <a:lstStyle/>
          <a:p>
            <a:r>
              <a:rPr lang="en-CN"/>
              <a:t>代理锁性能表现</a:t>
            </a:r>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
        <p:nvSpPr>
          <p:cNvPr id="8" name="Footer Placeholder 2">
            <a:extLst>
              <a:ext uri="{FF2B5EF4-FFF2-40B4-BE49-F238E27FC236}">
                <a16:creationId xmlns:a16="http://schemas.microsoft.com/office/drawing/2014/main" id="{70B67B6D-220F-D247-935F-D087B60BA655}"/>
              </a:ext>
            </a:extLst>
          </p:cNvPr>
          <p:cNvSpPr>
            <a:spLocks noGrp="1"/>
          </p:cNvSpPr>
          <p:nvPr>
            <p:ph type="ftr" sz="quarter" idx="3"/>
          </p:nvPr>
        </p:nvSpPr>
        <p:spPr>
          <a:xfrm>
            <a:off x="2553817" y="5305772"/>
            <a:ext cx="3962399" cy="304271"/>
          </a:xfrm>
        </p:spPr>
        <p:txBody>
          <a:bodyPr/>
          <a:lstStyle/>
          <a:p>
            <a:r>
              <a:rPr lang="en-US" altLang="zh-CN" dirty="0"/>
              <a:t>Institute of parallel and distributed system</a:t>
            </a:r>
            <a:r>
              <a:rPr lang="zh-CN" altLang="en-US" dirty="0"/>
              <a:t>（</a:t>
            </a:r>
            <a:r>
              <a:rPr lang="en-US" altLang="zh-CN" dirty="0"/>
              <a:t>IPADS@SJTU</a:t>
            </a:r>
            <a:r>
              <a:rPr lang="zh-CN" altLang="en-US" dirty="0"/>
              <a:t>）  </a:t>
            </a:r>
          </a:p>
        </p:txBody>
      </p:sp>
      <p:pic>
        <p:nvPicPr>
          <p:cNvPr id="5" name="Picture 4">
            <a:extLst>
              <a:ext uri="{FF2B5EF4-FFF2-40B4-BE49-F238E27FC236}">
                <a16:creationId xmlns:a16="http://schemas.microsoft.com/office/drawing/2014/main" id="{F757C798-8997-D74C-B439-054471A40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129308"/>
            <a:ext cx="5904656" cy="3936437"/>
          </a:xfrm>
          <a:prstGeom prst="rect">
            <a:avLst/>
          </a:prstGeom>
        </p:spPr>
      </p:pic>
      <p:sp>
        <p:nvSpPr>
          <p:cNvPr id="6" name="Rectangle 5">
            <a:extLst>
              <a:ext uri="{FF2B5EF4-FFF2-40B4-BE49-F238E27FC236}">
                <a16:creationId xmlns:a16="http://schemas.microsoft.com/office/drawing/2014/main" id="{70A7E611-E39A-6A40-B93E-7169CD787FD6}"/>
              </a:ext>
            </a:extLst>
          </p:cNvPr>
          <p:cNvSpPr/>
          <p:nvPr/>
        </p:nvSpPr>
        <p:spPr>
          <a:xfrm>
            <a:off x="6553200" y="2257335"/>
            <a:ext cx="2304256" cy="923330"/>
          </a:xfrm>
          <a:prstGeom prst="rect">
            <a:avLst/>
          </a:prstGeom>
        </p:spPr>
        <p:txBody>
          <a:bodyPr wrap="square">
            <a:spAutoFit/>
          </a:bodyPr>
          <a:lstStyle/>
          <a:p>
            <a:r>
              <a:rPr lang="en-CN" b="1" dirty="0">
                <a:solidFill>
                  <a:schemeClr val="accent1"/>
                </a:solidFill>
              </a:rPr>
              <a:t>在扩展到其他NUMA节点时</a:t>
            </a:r>
            <a:r>
              <a:rPr lang="zh-CN" altLang="en-US" b="1" dirty="0">
                <a:solidFill>
                  <a:schemeClr val="accent1"/>
                </a:solidFill>
              </a:rPr>
              <a:t>，没有显著的性能的下降</a:t>
            </a:r>
            <a:endParaRPr lang="en-CN" dirty="0"/>
          </a:p>
        </p:txBody>
      </p:sp>
      <p:sp>
        <p:nvSpPr>
          <p:cNvPr id="3" name="Rectangle 2">
            <a:extLst>
              <a:ext uri="{FF2B5EF4-FFF2-40B4-BE49-F238E27FC236}">
                <a16:creationId xmlns:a16="http://schemas.microsoft.com/office/drawing/2014/main" id="{9F4415A6-3094-2648-AFC5-EFC8EBB86AE5}"/>
              </a:ext>
            </a:extLst>
          </p:cNvPr>
          <p:cNvSpPr/>
          <p:nvPr/>
        </p:nvSpPr>
        <p:spPr>
          <a:xfrm>
            <a:off x="6140739" y="1759862"/>
            <a:ext cx="1757854" cy="369332"/>
          </a:xfrm>
          <a:prstGeom prst="rect">
            <a:avLst/>
          </a:prstGeom>
        </p:spPr>
        <p:txBody>
          <a:bodyPr wrap="none">
            <a:spAutoFit/>
          </a:bodyPr>
          <a:lstStyle/>
          <a:p>
            <a:r>
              <a:rPr lang="en-US" altLang="zh-CN" dirty="0" err="1"/>
              <a:t>ffwd</a:t>
            </a:r>
            <a:r>
              <a:rPr lang="zh-CN" altLang="en-US" dirty="0" err="1"/>
              <a:t>的性能表现</a:t>
            </a:r>
            <a:endParaRPr lang="en-CN" dirty="0"/>
          </a:p>
        </p:txBody>
      </p:sp>
      <p:sp>
        <p:nvSpPr>
          <p:cNvPr id="9" name="Rectangle 8">
            <a:extLst>
              <a:ext uri="{FF2B5EF4-FFF2-40B4-BE49-F238E27FC236}">
                <a16:creationId xmlns:a16="http://schemas.microsoft.com/office/drawing/2014/main" id="{E1D3A98B-1196-BA40-89D3-021BF48815DB}"/>
              </a:ext>
            </a:extLst>
          </p:cNvPr>
          <p:cNvSpPr/>
          <p:nvPr/>
        </p:nvSpPr>
        <p:spPr>
          <a:xfrm>
            <a:off x="6140739" y="3309503"/>
            <a:ext cx="2304256" cy="369332"/>
          </a:xfrm>
          <a:prstGeom prst="rect">
            <a:avLst/>
          </a:prstGeom>
        </p:spPr>
        <p:txBody>
          <a:bodyPr wrap="square">
            <a:spAutoFit/>
          </a:bodyPr>
          <a:lstStyle/>
          <a:p>
            <a:r>
              <a:rPr lang="en-CN" dirty="0"/>
              <a:t>是否是最优的解</a:t>
            </a:r>
            <a:r>
              <a:rPr lang="zh-CN" altLang="en-US" dirty="0"/>
              <a:t>？</a:t>
            </a:r>
            <a:endParaRPr lang="en-CN" dirty="0"/>
          </a:p>
        </p:txBody>
      </p:sp>
    </p:spTree>
    <p:extLst>
      <p:ext uri="{BB962C8B-B14F-4D97-AF65-F5344CB8AC3E}">
        <p14:creationId xmlns:p14="http://schemas.microsoft.com/office/powerpoint/2010/main" val="6266387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836E-A2B8-454D-9EFA-1862FBD970BE}"/>
              </a:ext>
            </a:extLst>
          </p:cNvPr>
          <p:cNvSpPr>
            <a:spLocks noGrp="1"/>
          </p:cNvSpPr>
          <p:nvPr>
            <p:ph type="title"/>
          </p:nvPr>
        </p:nvSpPr>
        <p:spPr>
          <a:xfrm>
            <a:off x="457200" y="228866"/>
            <a:ext cx="8686800" cy="900442"/>
          </a:xfrm>
        </p:spPr>
        <p:txBody>
          <a:bodyPr>
            <a:normAutofit/>
          </a:bodyPr>
          <a:lstStyle/>
          <a:p>
            <a:r>
              <a:rPr lang="en-CN"/>
              <a:t>代理锁性能表现</a:t>
            </a:r>
          </a:p>
        </p:txBody>
      </p:sp>
      <p:sp>
        <p:nvSpPr>
          <p:cNvPr id="4" name="Slide Number Placeholder 3">
            <a:extLst>
              <a:ext uri="{FF2B5EF4-FFF2-40B4-BE49-F238E27FC236}">
                <a16:creationId xmlns:a16="http://schemas.microsoft.com/office/drawing/2014/main" id="{523CC299-DB21-6A44-8575-D5D8D131103E}"/>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
        <p:nvSpPr>
          <p:cNvPr id="8" name="Footer Placeholder 2">
            <a:extLst>
              <a:ext uri="{FF2B5EF4-FFF2-40B4-BE49-F238E27FC236}">
                <a16:creationId xmlns:a16="http://schemas.microsoft.com/office/drawing/2014/main" id="{70B67B6D-220F-D247-935F-D087B60BA655}"/>
              </a:ext>
            </a:extLst>
          </p:cNvPr>
          <p:cNvSpPr>
            <a:spLocks noGrp="1"/>
          </p:cNvSpPr>
          <p:nvPr>
            <p:ph type="ftr" sz="quarter" idx="3"/>
          </p:nvPr>
        </p:nvSpPr>
        <p:spPr>
          <a:xfrm>
            <a:off x="2553817" y="5305772"/>
            <a:ext cx="3962399" cy="304271"/>
          </a:xfrm>
        </p:spPr>
        <p:txBody>
          <a:bodyPr/>
          <a:lstStyle/>
          <a:p>
            <a:r>
              <a:rPr lang="en-US" altLang="zh-CN" dirty="0"/>
              <a:t>Institute of parallel and distributed system</a:t>
            </a:r>
            <a:r>
              <a:rPr lang="zh-CN" altLang="en-US" dirty="0"/>
              <a:t>（</a:t>
            </a:r>
            <a:r>
              <a:rPr lang="en-US" altLang="zh-CN" dirty="0"/>
              <a:t>IPADS@SJTU</a:t>
            </a:r>
            <a:r>
              <a:rPr lang="zh-CN" altLang="en-US" dirty="0"/>
              <a:t>）  </a:t>
            </a:r>
          </a:p>
        </p:txBody>
      </p:sp>
      <p:pic>
        <p:nvPicPr>
          <p:cNvPr id="5" name="Picture 4">
            <a:extLst>
              <a:ext uri="{FF2B5EF4-FFF2-40B4-BE49-F238E27FC236}">
                <a16:creationId xmlns:a16="http://schemas.microsoft.com/office/drawing/2014/main" id="{F757C798-8997-D74C-B439-054471A40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129308"/>
            <a:ext cx="5904656" cy="3936437"/>
          </a:xfrm>
          <a:prstGeom prst="rect">
            <a:avLst/>
          </a:prstGeom>
        </p:spPr>
      </p:pic>
      <p:sp>
        <p:nvSpPr>
          <p:cNvPr id="6" name="Rectangle 5">
            <a:extLst>
              <a:ext uri="{FF2B5EF4-FFF2-40B4-BE49-F238E27FC236}">
                <a16:creationId xmlns:a16="http://schemas.microsoft.com/office/drawing/2014/main" id="{70A7E611-E39A-6A40-B93E-7169CD787FD6}"/>
              </a:ext>
            </a:extLst>
          </p:cNvPr>
          <p:cNvSpPr/>
          <p:nvPr/>
        </p:nvSpPr>
        <p:spPr>
          <a:xfrm>
            <a:off x="6553200" y="2257335"/>
            <a:ext cx="2304256" cy="923330"/>
          </a:xfrm>
          <a:prstGeom prst="rect">
            <a:avLst/>
          </a:prstGeom>
        </p:spPr>
        <p:txBody>
          <a:bodyPr wrap="square">
            <a:spAutoFit/>
          </a:bodyPr>
          <a:lstStyle/>
          <a:p>
            <a:r>
              <a:rPr lang="en-CN" b="1" dirty="0">
                <a:solidFill>
                  <a:schemeClr val="accent1"/>
                </a:solidFill>
              </a:rPr>
              <a:t>在扩展到其他NUMA节点时</a:t>
            </a:r>
            <a:r>
              <a:rPr lang="zh-CN" altLang="en-US" b="1" dirty="0">
                <a:solidFill>
                  <a:schemeClr val="accent1"/>
                </a:solidFill>
              </a:rPr>
              <a:t>，没有显著的性能的下坠</a:t>
            </a:r>
            <a:endParaRPr lang="en-CN" dirty="0"/>
          </a:p>
        </p:txBody>
      </p:sp>
      <p:sp>
        <p:nvSpPr>
          <p:cNvPr id="3" name="Rectangle 2">
            <a:extLst>
              <a:ext uri="{FF2B5EF4-FFF2-40B4-BE49-F238E27FC236}">
                <a16:creationId xmlns:a16="http://schemas.microsoft.com/office/drawing/2014/main" id="{9F4415A6-3094-2648-AFC5-EFC8EBB86AE5}"/>
              </a:ext>
            </a:extLst>
          </p:cNvPr>
          <p:cNvSpPr/>
          <p:nvPr/>
        </p:nvSpPr>
        <p:spPr>
          <a:xfrm>
            <a:off x="6140739" y="1759862"/>
            <a:ext cx="1757854" cy="369332"/>
          </a:xfrm>
          <a:prstGeom prst="rect">
            <a:avLst/>
          </a:prstGeom>
        </p:spPr>
        <p:txBody>
          <a:bodyPr wrap="none">
            <a:spAutoFit/>
          </a:bodyPr>
          <a:lstStyle/>
          <a:p>
            <a:r>
              <a:rPr lang="en-US" altLang="zh-CN" dirty="0" err="1"/>
              <a:t>ffwd</a:t>
            </a:r>
            <a:r>
              <a:rPr lang="zh-CN" altLang="en-US" dirty="0" err="1"/>
              <a:t>的性能表现</a:t>
            </a:r>
            <a:endParaRPr lang="en-CN" dirty="0"/>
          </a:p>
        </p:txBody>
      </p:sp>
      <p:sp>
        <p:nvSpPr>
          <p:cNvPr id="9" name="Rectangle 8">
            <a:extLst>
              <a:ext uri="{FF2B5EF4-FFF2-40B4-BE49-F238E27FC236}">
                <a16:creationId xmlns:a16="http://schemas.microsoft.com/office/drawing/2014/main" id="{E1D3A98B-1196-BA40-89D3-021BF48815DB}"/>
              </a:ext>
            </a:extLst>
          </p:cNvPr>
          <p:cNvSpPr/>
          <p:nvPr/>
        </p:nvSpPr>
        <p:spPr>
          <a:xfrm>
            <a:off x="6140739" y="3339341"/>
            <a:ext cx="2304256" cy="369332"/>
          </a:xfrm>
          <a:prstGeom prst="rect">
            <a:avLst/>
          </a:prstGeom>
        </p:spPr>
        <p:txBody>
          <a:bodyPr wrap="square">
            <a:spAutoFit/>
          </a:bodyPr>
          <a:lstStyle/>
          <a:p>
            <a:r>
              <a:rPr lang="en-CN" dirty="0"/>
              <a:t>是否是最优的解</a:t>
            </a:r>
            <a:r>
              <a:rPr lang="zh-CN" altLang="en-US" dirty="0"/>
              <a:t>？</a:t>
            </a:r>
            <a:endParaRPr lang="en-CN" dirty="0"/>
          </a:p>
        </p:txBody>
      </p:sp>
      <p:sp>
        <p:nvSpPr>
          <p:cNvPr id="10" name="Rectangle 9">
            <a:extLst>
              <a:ext uri="{FF2B5EF4-FFF2-40B4-BE49-F238E27FC236}">
                <a16:creationId xmlns:a16="http://schemas.microsoft.com/office/drawing/2014/main" id="{93D5F2A3-0B1C-E74A-9DC3-DDC8FAFA2C2F}"/>
              </a:ext>
            </a:extLst>
          </p:cNvPr>
          <p:cNvSpPr/>
          <p:nvPr/>
        </p:nvSpPr>
        <p:spPr>
          <a:xfrm>
            <a:off x="6351470" y="3784004"/>
            <a:ext cx="2304256" cy="1287468"/>
          </a:xfrm>
          <a:prstGeom prst="rect">
            <a:avLst/>
          </a:prstGeom>
        </p:spPr>
        <p:txBody>
          <a:bodyPr wrap="square">
            <a:spAutoFit/>
          </a:bodyPr>
          <a:lstStyle/>
          <a:p>
            <a:pPr>
              <a:lnSpc>
                <a:spcPct val="150000"/>
              </a:lnSpc>
            </a:pPr>
            <a:r>
              <a:rPr lang="en-US" altLang="zh-CN" dirty="0"/>
              <a:t>-</a:t>
            </a:r>
            <a:r>
              <a:rPr lang="zh-CN" altLang="en-US" dirty="0"/>
              <a:t> 需要很多代码修改</a:t>
            </a:r>
            <a:endParaRPr lang="en-US" altLang="zh-CN" dirty="0"/>
          </a:p>
          <a:p>
            <a:pPr>
              <a:lnSpc>
                <a:spcPct val="150000"/>
              </a:lnSpc>
            </a:pPr>
            <a:r>
              <a:rPr lang="en-US" altLang="zh-CN" dirty="0"/>
              <a:t>-</a:t>
            </a:r>
            <a:r>
              <a:rPr lang="zh-CN" altLang="en-US" dirty="0"/>
              <a:t> 额外逻辑复杂：锁竞争少是性能差</a:t>
            </a:r>
            <a:endParaRPr lang="en-US" altLang="zh-CN" dirty="0"/>
          </a:p>
        </p:txBody>
      </p:sp>
    </p:spTree>
    <p:extLst>
      <p:ext uri="{BB962C8B-B14F-4D97-AF65-F5344CB8AC3E}">
        <p14:creationId xmlns:p14="http://schemas.microsoft.com/office/powerpoint/2010/main" val="25078020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A6AD-0241-CB43-AD2D-8E167E75D0C9}"/>
              </a:ext>
            </a:extLst>
          </p:cNvPr>
          <p:cNvSpPr>
            <a:spLocks noGrp="1"/>
          </p:cNvSpPr>
          <p:nvPr>
            <p:ph type="title"/>
          </p:nvPr>
        </p:nvSpPr>
        <p:spPr/>
        <p:txBody>
          <a:bodyPr/>
          <a:lstStyle/>
          <a:p>
            <a:r>
              <a:rPr lang="zh-CN" altLang="en-CN"/>
              <a:t>系统软件</a:t>
            </a:r>
            <a:r>
              <a:rPr lang="zh-CN" altLang="en-US"/>
              <a:t>开发者视角下的</a:t>
            </a:r>
            <a:r>
              <a:rPr lang="en-US" altLang="zh-CN"/>
              <a:t>NUMA</a:t>
            </a:r>
            <a:r>
              <a:rPr lang="zh-CN" altLang="en-US"/>
              <a:t>架构</a:t>
            </a:r>
            <a:endParaRPr lang="en-CN"/>
          </a:p>
        </p:txBody>
      </p:sp>
      <p:sp>
        <p:nvSpPr>
          <p:cNvPr id="5" name="Rectangle 4">
            <a:extLst>
              <a:ext uri="{FF2B5EF4-FFF2-40B4-BE49-F238E27FC236}">
                <a16:creationId xmlns:a16="http://schemas.microsoft.com/office/drawing/2014/main" id="{29508656-0E0B-9D46-8DC9-B22D42C4AEB2}"/>
              </a:ext>
            </a:extLst>
          </p:cNvPr>
          <p:cNvSpPr/>
          <p:nvPr/>
        </p:nvSpPr>
        <p:spPr>
          <a:xfrm>
            <a:off x="305780" y="1542569"/>
            <a:ext cx="8532440" cy="3076676"/>
          </a:xfrm>
          <a:prstGeom prst="rect">
            <a:avLst/>
          </a:prstGeom>
        </p:spPr>
        <p:txBody>
          <a:bodyPr wrap="square">
            <a:spAutoFit/>
          </a:bodyPr>
          <a:lstStyle/>
          <a:p>
            <a:pPr marL="285750" indent="-285750">
              <a:lnSpc>
                <a:spcPct val="200000"/>
              </a:lnSpc>
              <a:buFont typeface="Arial" panose="020B0604020202020204" pitchFamily="34" charset="0"/>
              <a:buChar char="•"/>
            </a:pPr>
            <a:r>
              <a:rPr lang="en-CN" altLang="zh-CN" sz="2000"/>
              <a:t>NUMA</a:t>
            </a:r>
            <a:r>
              <a:rPr lang="zh-CN" altLang="en-US" sz="2000"/>
              <a:t>会暴露给操作系统，操作系统可以选择暴露给软件</a:t>
            </a:r>
            <a:endParaRPr lang="en-US" altLang="zh-CN" sz="2000"/>
          </a:p>
          <a:p>
            <a:pPr marL="285750" indent="-285750">
              <a:lnSpc>
                <a:spcPct val="200000"/>
              </a:lnSpc>
              <a:buFont typeface="Arial" panose="020B0604020202020204" pitchFamily="34" charset="0"/>
              <a:buChar char="•"/>
            </a:pPr>
            <a:r>
              <a:rPr lang="zh-CN" altLang="en-US" sz="2000"/>
              <a:t>软件可以用接口来分配本地的内存，也可不用直接分配，如（</a:t>
            </a:r>
            <a:r>
              <a:rPr lang="en-US" altLang="zh-CN" sz="2000"/>
              <a:t>libnuma</a:t>
            </a:r>
            <a:r>
              <a:rPr lang="zh-CN" altLang="en-US" sz="2000"/>
              <a:t>）</a:t>
            </a:r>
            <a:endParaRPr lang="en-US" altLang="zh-CN" sz="2000"/>
          </a:p>
          <a:p>
            <a:pPr marL="285750" indent="-285750">
              <a:lnSpc>
                <a:spcPct val="200000"/>
              </a:lnSpc>
              <a:buFont typeface="Arial" panose="020B0604020202020204" pitchFamily="34" charset="0"/>
              <a:buChar char="•"/>
            </a:pPr>
            <a:r>
              <a:rPr lang="zh-CN" altLang="en-US" sz="2000"/>
              <a:t>访问</a:t>
            </a:r>
            <a:r>
              <a:rPr lang="zh-CN" altLang="en-US" sz="2000" b="1"/>
              <a:t>远程内存</a:t>
            </a:r>
            <a:r>
              <a:rPr lang="zh-CN" altLang="en-US" sz="2000"/>
              <a:t>会带来严重</a:t>
            </a:r>
            <a:r>
              <a:rPr lang="zh-CN" altLang="en-US" sz="2000" b="1"/>
              <a:t>时延</a:t>
            </a:r>
            <a:r>
              <a:rPr lang="en-US" altLang="zh-CN" sz="2000" b="1"/>
              <a:t>/</a:t>
            </a:r>
            <a:r>
              <a:rPr lang="zh-CN" altLang="en-US" sz="2000" b="1"/>
              <a:t>带宽</a:t>
            </a:r>
            <a:r>
              <a:rPr lang="zh-CN" altLang="en-US" sz="2000"/>
              <a:t>问题造成性能瓶颈</a:t>
            </a:r>
            <a:endParaRPr lang="en-US" altLang="zh-CN" sz="2000"/>
          </a:p>
          <a:p>
            <a:pPr marL="285750" indent="-285750">
              <a:lnSpc>
                <a:spcPct val="200000"/>
              </a:lnSpc>
              <a:buFont typeface="Arial" panose="020B0604020202020204" pitchFamily="34" charset="0"/>
              <a:buChar char="•"/>
            </a:pPr>
            <a:r>
              <a:rPr lang="zh-CN" altLang="en-US" sz="2000"/>
              <a:t>对于所有进程：调度时避免跨</a:t>
            </a:r>
            <a:r>
              <a:rPr lang="en-US" altLang="zh-CN" sz="2000"/>
              <a:t>NUMA</a:t>
            </a:r>
            <a:r>
              <a:rPr lang="zh-CN" altLang="en-US" sz="2000"/>
              <a:t>结点迁移</a:t>
            </a:r>
            <a:endParaRPr lang="en-US" altLang="zh-CN" sz="2000"/>
          </a:p>
          <a:p>
            <a:pPr marL="285750" indent="-285750">
              <a:lnSpc>
                <a:spcPct val="200000"/>
              </a:lnSpc>
              <a:buFont typeface="Arial" panose="020B0604020202020204" pitchFamily="34" charset="0"/>
              <a:buChar char="•"/>
            </a:pPr>
            <a:r>
              <a:rPr lang="zh-CN" altLang="en-US" sz="2000"/>
              <a:t>对于没有</a:t>
            </a:r>
            <a:r>
              <a:rPr lang="en-US" altLang="zh-CN" sz="2000"/>
              <a:t>NUMA-aware</a:t>
            </a:r>
            <a:r>
              <a:rPr lang="zh-CN" altLang="en-US" sz="2000"/>
              <a:t>的应用：尽可能保证其分配的内存的本地性</a:t>
            </a:r>
            <a:endParaRPr lang="en-US" altLang="zh-CN" sz="2000"/>
          </a:p>
        </p:txBody>
      </p:sp>
      <p:sp>
        <p:nvSpPr>
          <p:cNvPr id="3" name="Footer Placeholder 2">
            <a:extLst>
              <a:ext uri="{FF2B5EF4-FFF2-40B4-BE49-F238E27FC236}">
                <a16:creationId xmlns:a16="http://schemas.microsoft.com/office/drawing/2014/main" id="{3F0120BA-393F-444B-ACD1-DA1A4CB5D90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CD2C8685-2427-F34C-B9A6-4A460BFFA967}"/>
              </a:ext>
            </a:extLst>
          </p:cNvPr>
          <p:cNvSpPr>
            <a:spLocks noGrp="1"/>
          </p:cNvSpPr>
          <p:nvPr>
            <p:ph type="sldNum" sz="quarter" idx="12"/>
          </p:nvPr>
        </p:nvSpPr>
        <p:spPr/>
        <p:txBody>
          <a:bodyPr/>
          <a:lstStyle/>
          <a:p>
            <a:fld id="{ADE361C3-C043-4A6E-BDCE-8DA1E7D90A3B}" type="slidenum">
              <a:rPr lang="zh-CN" altLang="en-US" smtClean="0"/>
              <a:t>61</a:t>
            </a:fld>
            <a:endParaRPr lang="zh-CN" altLang="en-US"/>
          </a:p>
        </p:txBody>
      </p:sp>
    </p:spTree>
    <p:extLst>
      <p:ext uri="{BB962C8B-B14F-4D97-AF65-F5344CB8AC3E}">
        <p14:creationId xmlns:p14="http://schemas.microsoft.com/office/powerpoint/2010/main" val="3225475328"/>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44542</TotalTime>
  <Words>4496</Words>
  <Application>Microsoft Macintosh PowerPoint</Application>
  <PresentationFormat>全屏显示(16:10)</PresentationFormat>
  <Paragraphs>733</Paragraphs>
  <Slides>61</Slides>
  <Notes>23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61</vt:i4>
      </vt:variant>
    </vt:vector>
  </HeadingPairs>
  <TitlesOfParts>
    <vt:vector size="69" baseType="lpstr">
      <vt:lpstr>等线</vt:lpstr>
      <vt:lpstr>等线</vt:lpstr>
      <vt:lpstr>微软雅黑</vt:lpstr>
      <vt:lpstr>Arial</vt:lpstr>
      <vt:lpstr>Calibri</vt:lpstr>
      <vt:lpstr>Consolas</vt:lpstr>
      <vt:lpstr>Courier</vt:lpstr>
      <vt:lpstr>Office 主题​​</vt:lpstr>
      <vt:lpstr>同步原语：实现</vt:lpstr>
      <vt:lpstr>版权声明</vt:lpstr>
      <vt:lpstr>回顾：条件变量的实现</vt:lpstr>
      <vt:lpstr>带锁参数的API: WAIT(bb.full, bb.lock)</vt:lpstr>
      <vt:lpstr>YIELD_WAIT()</vt:lpstr>
      <vt:lpstr>回顾：系统调用：yield()</vt:lpstr>
      <vt:lpstr>上下文切换代码详解</vt:lpstr>
      <vt:lpstr>Context Switch (Type-1)</vt:lpstr>
      <vt:lpstr>PowerPoint 演示文稿</vt:lpstr>
      <vt:lpstr>PowerPoint 演示文稿</vt:lpstr>
      <vt:lpstr>PowerPoint 演示文稿</vt:lpstr>
      <vt:lpstr>PowerPoint 演示文稿</vt:lpstr>
      <vt:lpstr>PowerPoint 演示文稿</vt:lpstr>
      <vt:lpstr>PowerPoint 演示文稿</vt:lpstr>
      <vt:lpstr>The New Scheduler()</vt:lpstr>
      <vt:lpstr>Context Switch</vt:lpstr>
      <vt:lpstr>PowerPoint 演示文稿</vt:lpstr>
      <vt:lpstr>PowerPoint 演示文稿</vt:lpstr>
      <vt:lpstr>thread_table_lock</vt:lpstr>
      <vt:lpstr>First time of a thread</vt:lpstr>
      <vt:lpstr>信号量的实现</vt:lpstr>
      <vt:lpstr>回顾：生产者消费者问题的另一种实现</vt:lpstr>
      <vt:lpstr>信号量的使用</vt:lpstr>
      <vt:lpstr>信号量的使用</vt:lpstr>
      <vt:lpstr>回顾：信号量的基本语义</vt:lpstr>
      <vt:lpstr>回顾：信号量的基本语义</vt:lpstr>
      <vt:lpstr>信号量的错误实现</vt:lpstr>
      <vt:lpstr>信号量的实现-1：忙等</vt:lpstr>
      <vt:lpstr>信号量的实现-2：条件变量</vt:lpstr>
      <vt:lpstr>信号量的实现-3：减少signal次数</vt:lpstr>
      <vt:lpstr>信号量的实现-4</vt:lpstr>
      <vt:lpstr>信号量的实现-4</vt:lpstr>
      <vt:lpstr>PowerPoint 演示文稿</vt:lpstr>
      <vt:lpstr>信号量的实现-4</vt:lpstr>
      <vt:lpstr>进阶话题：非一致内存访问（NUMA）</vt:lpstr>
      <vt:lpstr>互斥锁微基准测试</vt:lpstr>
      <vt:lpstr>MCS锁在NUMA上的表现</vt:lpstr>
      <vt:lpstr>鲲鹏服务器</vt:lpstr>
      <vt:lpstr>鲲鹏服务器</vt:lpstr>
      <vt:lpstr>非一致内存访问</vt:lpstr>
      <vt:lpstr>Intel与AMD的NUMA系统架构与特性</vt:lpstr>
      <vt:lpstr>Intel与AMD的NUMA系统架构与特性</vt:lpstr>
      <vt:lpstr>NUMA环境中新的挑战</vt:lpstr>
      <vt:lpstr>NUMA环境中新的挑战</vt:lpstr>
      <vt:lpstr>鲲鹏服务器的NUMA结构</vt:lpstr>
      <vt:lpstr>Numa-aware：cohort锁</vt:lpstr>
      <vt:lpstr>MCS锁可扩展性</vt:lpstr>
      <vt:lpstr>NUMA-aware设计：以cohort锁*为例</vt:lpstr>
      <vt:lpstr>NUMA-aware设计：以cohort锁*为例</vt:lpstr>
      <vt:lpstr>NUMA-aware设计：以cohort锁*为例</vt:lpstr>
      <vt:lpstr>NUMA-aware设计：以cohort锁*为例</vt:lpstr>
      <vt:lpstr>思考题</vt:lpstr>
      <vt:lpstr>我们能更进一步吗</vt:lpstr>
      <vt:lpstr>代理锁：通过代理执行避免跨节点访问</vt:lpstr>
      <vt:lpstr>PowerPoint 演示文稿</vt:lpstr>
      <vt:lpstr>PowerPoint 演示文稿</vt:lpstr>
      <vt:lpstr>PowerPoint 演示文稿</vt:lpstr>
      <vt:lpstr>应该由哪个核心成为锁服务器？</vt:lpstr>
      <vt:lpstr>代理锁性能表现</vt:lpstr>
      <vt:lpstr>代理锁性能表现</vt:lpstr>
      <vt:lpstr>系统软件开发者视角下的NUMA架构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2554</cp:revision>
  <cp:lastPrinted>2016-06-13T07:55:34Z</cp:lastPrinted>
  <dcterms:created xsi:type="dcterms:W3CDTF">2017-11-24T09:35:45Z</dcterms:created>
  <dcterms:modified xsi:type="dcterms:W3CDTF">2024-06-14T15:21:17Z</dcterms:modified>
</cp:coreProperties>
</file>