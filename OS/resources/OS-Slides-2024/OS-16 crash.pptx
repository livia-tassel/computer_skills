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5"/>
  </p:notesMasterIdLst>
  <p:handoutMasterIdLst>
    <p:handoutMasterId r:id="rId66"/>
  </p:handoutMasterIdLst>
  <p:sldIdLst>
    <p:sldId id="1306" r:id="rId2"/>
    <p:sldId id="1359" r:id="rId3"/>
    <p:sldId id="2579" r:id="rId4"/>
    <p:sldId id="2620" r:id="rId5"/>
    <p:sldId id="2422" r:id="rId6"/>
    <p:sldId id="2569" r:id="rId7"/>
    <p:sldId id="2576" r:id="rId8"/>
    <p:sldId id="2483" r:id="rId9"/>
    <p:sldId id="2622" r:id="rId10"/>
    <p:sldId id="438" r:id="rId11"/>
    <p:sldId id="439" r:id="rId12"/>
    <p:sldId id="445" r:id="rId13"/>
    <p:sldId id="2578" r:id="rId14"/>
    <p:sldId id="2621" r:id="rId15"/>
    <p:sldId id="2557" r:id="rId16"/>
    <p:sldId id="2558" r:id="rId17"/>
    <p:sldId id="2559" r:id="rId18"/>
    <p:sldId id="2560" r:id="rId19"/>
    <p:sldId id="2502" r:id="rId20"/>
    <p:sldId id="2427" r:id="rId21"/>
    <p:sldId id="2438" r:id="rId22"/>
    <p:sldId id="2443" r:id="rId23"/>
    <p:sldId id="2450" r:id="rId24"/>
    <p:sldId id="2490" r:id="rId25"/>
    <p:sldId id="2444" r:id="rId26"/>
    <p:sldId id="2491" r:id="rId27"/>
    <p:sldId id="2448" r:id="rId28"/>
    <p:sldId id="2482" r:id="rId29"/>
    <p:sldId id="2462" r:id="rId30"/>
    <p:sldId id="2520" r:id="rId31"/>
    <p:sldId id="2521" r:id="rId32"/>
    <p:sldId id="2522" r:id="rId33"/>
    <p:sldId id="2523" r:id="rId34"/>
    <p:sldId id="2524" r:id="rId35"/>
    <p:sldId id="2503" r:id="rId36"/>
    <p:sldId id="2492" r:id="rId37"/>
    <p:sldId id="2552" r:id="rId38"/>
    <p:sldId id="2562" r:id="rId39"/>
    <p:sldId id="2618" r:id="rId40"/>
    <p:sldId id="2500" r:id="rId41"/>
    <p:sldId id="2429" r:id="rId42"/>
    <p:sldId id="2430" r:id="rId43"/>
    <p:sldId id="2432" r:id="rId44"/>
    <p:sldId id="2435" r:id="rId45"/>
    <p:sldId id="2436" r:id="rId46"/>
    <p:sldId id="2433" r:id="rId47"/>
    <p:sldId id="2434" r:id="rId48"/>
    <p:sldId id="2551" r:id="rId49"/>
    <p:sldId id="2529" r:id="rId50"/>
    <p:sldId id="2575" r:id="rId51"/>
    <p:sldId id="2440" r:id="rId52"/>
    <p:sldId id="2619" r:id="rId53"/>
    <p:sldId id="996" r:id="rId54"/>
    <p:sldId id="2505" r:id="rId55"/>
    <p:sldId id="2506" r:id="rId56"/>
    <p:sldId id="2580" r:id="rId57"/>
    <p:sldId id="2581" r:id="rId58"/>
    <p:sldId id="2582" r:id="rId59"/>
    <p:sldId id="2583" r:id="rId60"/>
    <p:sldId id="2584" r:id="rId61"/>
    <p:sldId id="2585" r:id="rId62"/>
    <p:sldId id="2586" r:id="rId63"/>
    <p:sldId id="2587" r:id="rId64"/>
  </p:sldIdLst>
  <p:sldSz cx="9144000" cy="5715000" type="screen16x1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25" userDrawn="1">
          <p15:clr>
            <a:srgbClr val="A4A3A4"/>
          </p15:clr>
        </p15:guide>
        <p15:guide id="2" pos="340" userDrawn="1">
          <p15:clr>
            <a:srgbClr val="A4A3A4"/>
          </p15:clr>
        </p15:guide>
        <p15:guide id="3"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941100"/>
    <a:srgbClr val="7F7F7F"/>
    <a:srgbClr val="FF9300"/>
    <a:srgbClr val="00FB92"/>
    <a:srgbClr val="212121"/>
    <a:srgbClr val="005493"/>
    <a:srgbClr val="FF2F92"/>
    <a:srgbClr val="9437FF"/>
    <a:srgbClr val="73FEFF"/>
    <a:srgbClr val="ED3C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981" autoAdjust="0"/>
    <p:restoredTop sz="93129" autoAdjust="0"/>
  </p:normalViewPr>
  <p:slideViewPr>
    <p:cSldViewPr>
      <p:cViewPr varScale="1">
        <p:scale>
          <a:sx n="137" d="100"/>
          <a:sy n="137" d="100"/>
        </p:scale>
        <p:origin x="1472" y="192"/>
      </p:cViewPr>
      <p:guideLst>
        <p:guide orient="horz" pos="3025"/>
        <p:guide pos="340"/>
        <p:guide pos="2880"/>
      </p:guideLst>
    </p:cSldViewPr>
  </p:slideViewPr>
  <p:outlineViewPr>
    <p:cViewPr>
      <p:scale>
        <a:sx n="33" d="100"/>
        <a:sy n="33" d="100"/>
      </p:scale>
      <p:origin x="0" y="-572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96" d="100"/>
          <a:sy n="96" d="100"/>
        </p:scale>
        <p:origin x="3048" y="16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D384E5B-0B7C-A143-A087-04B582FC4BEF}" type="datetimeFigureOut">
              <a:rPr kumimoji="1" lang="zh-CN" altLang="en-US" smtClean="0"/>
              <a:t>2024/6/14</a:t>
            </a:fld>
            <a:endParaRPr kumimoji="1"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78370ED-3FEA-E543-9D41-DF20FAD761C7}" type="slidenum">
              <a:rPr kumimoji="1" lang="zh-CN" altLang="en-US" smtClean="0"/>
              <a:t>‹#›</a:t>
            </a:fld>
            <a:endParaRPr kumimoji="1" lang="zh-CN" altLang="en-US"/>
          </a:p>
        </p:txBody>
      </p:sp>
    </p:spTree>
    <p:extLst>
      <p:ext uri="{BB962C8B-B14F-4D97-AF65-F5344CB8AC3E}">
        <p14:creationId xmlns:p14="http://schemas.microsoft.com/office/powerpoint/2010/main" val="35551917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2D7DB94-E0DE-4F0F-A9B7-54654CD8C8B1}" type="datetimeFigureOut">
              <a:rPr lang="zh-CN" altLang="en-US" smtClean="0"/>
              <a:t>2024/6/14</a:t>
            </a:fld>
            <a:endParaRPr lang="zh-CN" altLang="en-US"/>
          </a:p>
        </p:txBody>
      </p:sp>
      <p:sp>
        <p:nvSpPr>
          <p:cNvPr id="4" name="幻灯片图像占位符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A84A077-83E9-49A7-9F59-234D78BD6949}" type="slidenum">
              <a:rPr lang="zh-CN" altLang="en-US" smtClean="0"/>
              <a:t>‹#›</a:t>
            </a:fld>
            <a:endParaRPr lang="zh-CN" altLang="en-US"/>
          </a:p>
        </p:txBody>
      </p:sp>
    </p:spTree>
    <p:extLst>
      <p:ext uri="{BB962C8B-B14F-4D97-AF65-F5344CB8AC3E}">
        <p14:creationId xmlns:p14="http://schemas.microsoft.com/office/powerpoint/2010/main" val="2430265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685800"/>
            <a:ext cx="5486400" cy="3429000"/>
          </a:xfrm>
        </p:spPr>
      </p:sp>
      <p:sp>
        <p:nvSpPr>
          <p:cNvPr id="3" name="备注占位符 2"/>
          <p:cNvSpPr>
            <a:spLocks noGrp="1"/>
          </p:cNvSpPr>
          <p:nvPr>
            <p:ph type="body" idx="1"/>
          </p:nvPr>
        </p:nvSpPr>
        <p:spPr/>
        <p:txBody>
          <a:bodyPr/>
          <a:lstStyle/>
          <a:p>
            <a:endParaRPr kumimoji="1" lang="en-US" altLang="zh-CN" baseline="0"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solidFill>
                  <a:prstClr val="black"/>
                </a:solidFill>
              </a:rPr>
              <a:pPr/>
              <a:t>1</a:t>
            </a:fld>
            <a:endParaRPr lang="zh-CN" altLang="en-US">
              <a:solidFill>
                <a:prstClr val="black"/>
              </a:solidFill>
            </a:endParaRPr>
          </a:p>
        </p:txBody>
      </p:sp>
    </p:spTree>
    <p:extLst>
      <p:ext uri="{BB962C8B-B14F-4D97-AF65-F5344CB8AC3E}">
        <p14:creationId xmlns:p14="http://schemas.microsoft.com/office/powerpoint/2010/main" val="12990187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5</a:t>
            </a:fld>
            <a:endParaRPr lang="zh-CN" altLang="en-US"/>
          </a:p>
        </p:txBody>
      </p:sp>
    </p:spTree>
    <p:extLst>
      <p:ext uri="{BB962C8B-B14F-4D97-AF65-F5344CB8AC3E}">
        <p14:creationId xmlns:p14="http://schemas.microsoft.com/office/powerpoint/2010/main" val="31981591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6</a:t>
            </a:fld>
            <a:endParaRPr lang="zh-CN" altLang="en-US"/>
          </a:p>
        </p:txBody>
      </p:sp>
    </p:spTree>
    <p:extLst>
      <p:ext uri="{BB962C8B-B14F-4D97-AF65-F5344CB8AC3E}">
        <p14:creationId xmlns:p14="http://schemas.microsoft.com/office/powerpoint/2010/main" val="4225167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rgbClr val="C00000"/>
                </a:solidFill>
              </a:rPr>
              <a:t>（崩溃后重启，有哪些可能出现情况？）</a:t>
            </a:r>
            <a:endParaRPr lang="en-US" altLang="zh-CN" sz="1200" dirty="0">
              <a:solidFill>
                <a:srgbClr val="C00000"/>
              </a:solidFill>
            </a:endParaRPr>
          </a:p>
          <a:p>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7</a:t>
            </a:fld>
            <a:endParaRPr lang="zh-CN" altLang="en-US"/>
          </a:p>
        </p:txBody>
      </p:sp>
    </p:spTree>
    <p:extLst>
      <p:ext uri="{BB962C8B-B14F-4D97-AF65-F5344CB8AC3E}">
        <p14:creationId xmlns:p14="http://schemas.microsoft.com/office/powerpoint/2010/main" val="33203465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8</a:t>
            </a:fld>
            <a:endParaRPr lang="zh-CN" altLang="en-US"/>
          </a:p>
        </p:txBody>
      </p:sp>
    </p:spTree>
    <p:extLst>
      <p:ext uri="{BB962C8B-B14F-4D97-AF65-F5344CB8AC3E}">
        <p14:creationId xmlns:p14="http://schemas.microsoft.com/office/powerpoint/2010/main" val="40186972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21</a:t>
            </a:fld>
            <a:endParaRPr lang="zh-CN" altLang="en-US"/>
          </a:p>
        </p:txBody>
      </p:sp>
    </p:spTree>
    <p:extLst>
      <p:ext uri="{BB962C8B-B14F-4D97-AF65-F5344CB8AC3E}">
        <p14:creationId xmlns:p14="http://schemas.microsoft.com/office/powerpoint/2010/main" val="14033211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22</a:t>
            </a:fld>
            <a:endParaRPr lang="zh-CN" altLang="en-US"/>
          </a:p>
        </p:txBody>
      </p:sp>
    </p:spTree>
    <p:extLst>
      <p:ext uri="{BB962C8B-B14F-4D97-AF65-F5344CB8AC3E}">
        <p14:creationId xmlns:p14="http://schemas.microsoft.com/office/powerpoint/2010/main" val="42106063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23</a:t>
            </a:fld>
            <a:endParaRPr lang="zh-CN" altLang="en-US"/>
          </a:p>
        </p:txBody>
      </p:sp>
    </p:spTree>
    <p:extLst>
      <p:ext uri="{BB962C8B-B14F-4D97-AF65-F5344CB8AC3E}">
        <p14:creationId xmlns:p14="http://schemas.microsoft.com/office/powerpoint/2010/main" val="26274547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24</a:t>
            </a:fld>
            <a:endParaRPr lang="zh-CN" altLang="en-US"/>
          </a:p>
        </p:txBody>
      </p:sp>
    </p:spTree>
    <p:extLst>
      <p:ext uri="{BB962C8B-B14F-4D97-AF65-F5344CB8AC3E}">
        <p14:creationId xmlns:p14="http://schemas.microsoft.com/office/powerpoint/2010/main" val="33421240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25</a:t>
            </a:fld>
            <a:endParaRPr lang="zh-CN" altLang="en-US"/>
          </a:p>
        </p:txBody>
      </p:sp>
    </p:spTree>
    <p:extLst>
      <p:ext uri="{BB962C8B-B14F-4D97-AF65-F5344CB8AC3E}">
        <p14:creationId xmlns:p14="http://schemas.microsoft.com/office/powerpoint/2010/main" val="654693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26</a:t>
            </a:fld>
            <a:endParaRPr lang="zh-CN" altLang="en-US"/>
          </a:p>
        </p:txBody>
      </p:sp>
    </p:spTree>
    <p:extLst>
      <p:ext uri="{BB962C8B-B14F-4D97-AF65-F5344CB8AC3E}">
        <p14:creationId xmlns:p14="http://schemas.microsoft.com/office/powerpoint/2010/main" val="7205527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
            </a:r>
            <a:r>
              <a:rPr lang="en-CN" dirty="0"/>
              <a:t>riteback</a:t>
            </a:r>
            <a:r>
              <a:rPr lang="en-US" altLang="zh-CN" dirty="0"/>
              <a:t>:</a:t>
            </a:r>
            <a:r>
              <a:rPr lang="zh-CN" altLang="en-US" dirty="0"/>
              <a:t> 快，但是一致性差，有可能元数据指向了错误的数据</a:t>
            </a:r>
            <a:endParaRPr lang="en-US" altLang="zh-CN" dirty="0"/>
          </a:p>
          <a:p>
            <a:r>
              <a:rPr lang="en-US" altLang="zh-CN" dirty="0"/>
              <a:t>Journal:</a:t>
            </a:r>
            <a:r>
              <a:rPr lang="zh-CN" altLang="en-US" dirty="0"/>
              <a:t> 最保险，但是所有写入都需要写两遍，对大文件比较差</a:t>
            </a:r>
            <a:endParaRPr lang="en-US" altLang="zh-CN" dirty="0"/>
          </a:p>
          <a:p>
            <a:r>
              <a:rPr lang="en-US" altLang="zh-CN" dirty="0"/>
              <a:t>Ordered:</a:t>
            </a:r>
            <a:r>
              <a:rPr lang="zh-CN" altLang="en-US" dirty="0"/>
              <a:t> 一种平衡的模式。能保证元数据不会</a:t>
            </a:r>
            <a:r>
              <a:rPr lang="zh-CN" altLang="en-CN" dirty="0"/>
              <a:t>指错</a:t>
            </a:r>
            <a:r>
              <a:rPr lang="zh-CN" altLang="en-US" dirty="0"/>
              <a:t>，但是数据部分可能会出现不一致。（比如写了一个</a:t>
            </a:r>
            <a:r>
              <a:rPr lang="en-US" altLang="zh-CN" dirty="0"/>
              <a:t>write</a:t>
            </a:r>
            <a:r>
              <a:rPr lang="zh-CN" altLang="en-US" dirty="0"/>
              <a:t>操作只持久化了一半；一个操作的数据写完了，但是元数据没有修改。</a:t>
            </a:r>
            <a:endParaRPr lang="en-US" altLang="zh-CN" dirty="0"/>
          </a:p>
          <a:p>
            <a:r>
              <a:rPr lang="zh-CN" altLang="en-US" dirty="0"/>
              <a:t>（考虑将密码写入一个文件，却未来得及将文件权限进行相应修改）</a:t>
            </a:r>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36</a:t>
            </a:fld>
            <a:endParaRPr lang="zh-CN" altLang="en-US"/>
          </a:p>
        </p:txBody>
      </p:sp>
    </p:spTree>
    <p:extLst>
      <p:ext uri="{BB962C8B-B14F-4D97-AF65-F5344CB8AC3E}">
        <p14:creationId xmlns:p14="http://schemas.microsoft.com/office/powerpoint/2010/main" val="29451118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
            </a:r>
            <a:r>
              <a:rPr lang="en-CN" dirty="0"/>
              <a:t>riteback</a:t>
            </a:r>
            <a:r>
              <a:rPr lang="en-US" altLang="zh-CN" dirty="0"/>
              <a:t>:</a:t>
            </a:r>
            <a:r>
              <a:rPr lang="zh-CN" altLang="en-US" dirty="0"/>
              <a:t> 快，但是一致性差，有可能元数据指向了错误的数据</a:t>
            </a:r>
            <a:endParaRPr lang="en-US" altLang="zh-CN" dirty="0"/>
          </a:p>
          <a:p>
            <a:r>
              <a:rPr lang="en-US" altLang="zh-CN" dirty="0"/>
              <a:t>Journal:</a:t>
            </a:r>
            <a:r>
              <a:rPr lang="zh-CN" altLang="en-US" dirty="0"/>
              <a:t> 最保险，但是所有写入都需要写两遍，对大文件比较差</a:t>
            </a:r>
            <a:endParaRPr lang="en-US" altLang="zh-CN" dirty="0"/>
          </a:p>
          <a:p>
            <a:r>
              <a:rPr lang="en-US" altLang="zh-CN" dirty="0"/>
              <a:t>Ordered:</a:t>
            </a:r>
            <a:r>
              <a:rPr lang="zh-CN" altLang="en-US" dirty="0"/>
              <a:t> 一种平衡的模式。能保证元数据不会</a:t>
            </a:r>
            <a:r>
              <a:rPr lang="zh-CN" altLang="en-CN" dirty="0"/>
              <a:t>指错</a:t>
            </a:r>
            <a:r>
              <a:rPr lang="zh-CN" altLang="en-US" dirty="0"/>
              <a:t>，但是数据部分可能会出现不一致。（比如写了一个</a:t>
            </a:r>
            <a:r>
              <a:rPr lang="en-US" altLang="zh-CN" dirty="0"/>
              <a:t>write</a:t>
            </a:r>
            <a:r>
              <a:rPr lang="zh-CN" altLang="en-US" dirty="0"/>
              <a:t>操作只持久化了一半；一个操作的数据写完了，但是元数据没有修改。</a:t>
            </a:r>
            <a:endParaRPr lang="en-US" altLang="zh-CN" dirty="0"/>
          </a:p>
          <a:p>
            <a:r>
              <a:rPr lang="zh-CN" altLang="en-US" dirty="0"/>
              <a:t>（考虑将密码写入一个文件，却未来得及将文件权限进行相应修改）</a:t>
            </a:r>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37</a:t>
            </a:fld>
            <a:endParaRPr lang="zh-CN" altLang="en-US"/>
          </a:p>
        </p:txBody>
      </p:sp>
    </p:spTree>
    <p:extLst>
      <p:ext uri="{BB962C8B-B14F-4D97-AF65-F5344CB8AC3E}">
        <p14:creationId xmlns:p14="http://schemas.microsoft.com/office/powerpoint/2010/main" val="10041196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45</a:t>
            </a:fld>
            <a:endParaRPr lang="zh-CN" altLang="en-US"/>
          </a:p>
        </p:txBody>
      </p:sp>
    </p:spTree>
    <p:extLst>
      <p:ext uri="{BB962C8B-B14F-4D97-AF65-F5344CB8AC3E}">
        <p14:creationId xmlns:p14="http://schemas.microsoft.com/office/powerpoint/2010/main" val="4756472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CN" dirty="0"/>
              <a:t>不一定</a:t>
            </a:r>
            <a:r>
              <a:rPr lang="zh-CN" altLang="en-US" dirty="0"/>
              <a:t>，写时复制对于小修改很低效（至少需要</a:t>
            </a:r>
            <a:r>
              <a:rPr lang="en-US" altLang="zh-CN" dirty="0"/>
              <a:t>copy</a:t>
            </a:r>
            <a:r>
              <a:rPr lang="zh-CN" altLang="en-US" dirty="0"/>
              <a:t>一个页）</a:t>
            </a:r>
            <a:endParaRPr lang="en-US" altLang="zh-CN" dirty="0"/>
          </a:p>
          <a:p>
            <a:r>
              <a:rPr lang="en-US" altLang="zh-CN" dirty="0" err="1"/>
              <a:t>CoW</a:t>
            </a:r>
            <a:r>
              <a:rPr lang="zh-CN" altLang="en-US" dirty="0"/>
              <a:t>的小修改；日志要</a:t>
            </a:r>
            <a:r>
              <a:rPr lang="en-US" altLang="zh-CN" dirty="0"/>
              <a:t>redo</a:t>
            </a:r>
            <a:r>
              <a:rPr lang="zh-CN" altLang="en-US" dirty="0"/>
              <a:t>，要写两遍</a:t>
            </a:r>
            <a:endParaRPr lang="en-US" altLang="zh-CN" dirty="0"/>
          </a:p>
          <a:p>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48</a:t>
            </a:fld>
            <a:endParaRPr lang="zh-CN" altLang="en-US"/>
          </a:p>
        </p:txBody>
      </p:sp>
    </p:spTree>
    <p:extLst>
      <p:ext uri="{BB962C8B-B14F-4D97-AF65-F5344CB8AC3E}">
        <p14:creationId xmlns:p14="http://schemas.microsoft.com/office/powerpoint/2010/main" val="11107541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Chunk</a:t>
            </a:r>
            <a:r>
              <a:rPr lang="zh-CN" altLang="en-US" dirty="0"/>
              <a:t>树</a:t>
            </a:r>
            <a:r>
              <a:rPr lang="en-US" altLang="zh-CN" dirty="0"/>
              <a:t>:</a:t>
            </a:r>
            <a:r>
              <a:rPr lang="zh-CN" altLang="en-US" dirty="0"/>
              <a:t> </a:t>
            </a:r>
            <a:r>
              <a:rPr lang="zh-CN" altLang="en-US" sz="1200" b="0" i="0" u="none" strike="noStrike" kern="1200" dirty="0">
                <a:solidFill>
                  <a:schemeClr val="tx1"/>
                </a:solidFill>
                <a:effectLst/>
                <a:latin typeface="+mn-lt"/>
                <a:ea typeface="+mn-ea"/>
                <a:cs typeface="+mn-cs"/>
              </a:rPr>
              <a:t>维护了</a:t>
            </a:r>
            <a:r>
              <a:rPr lang="en-US" sz="1200" b="0" i="0" u="none" strike="noStrike" kern="1200" dirty="0">
                <a:solidFill>
                  <a:schemeClr val="tx1"/>
                </a:solidFill>
                <a:effectLst/>
                <a:latin typeface="+mn-lt"/>
                <a:ea typeface="+mn-ea"/>
                <a:cs typeface="+mn-cs"/>
              </a:rPr>
              <a:t>logical chunk</a:t>
            </a:r>
            <a:r>
              <a:rPr lang="zh-CN" altLang="en-US" sz="1200" b="0" i="0" u="none" strike="noStrike" kern="1200" dirty="0">
                <a:solidFill>
                  <a:schemeClr val="tx1"/>
                </a:solidFill>
                <a:effectLst/>
                <a:latin typeface="+mn-lt"/>
                <a:ea typeface="+mn-ea"/>
                <a:cs typeface="+mn-cs"/>
              </a:rPr>
              <a:t>到</a:t>
            </a:r>
            <a:r>
              <a:rPr lang="en-US" sz="1200" b="0" i="0" u="none" strike="noStrike" kern="1200" dirty="0">
                <a:solidFill>
                  <a:schemeClr val="tx1"/>
                </a:solidFill>
                <a:effectLst/>
                <a:latin typeface="+mn-lt"/>
                <a:ea typeface="+mn-ea"/>
                <a:cs typeface="+mn-cs"/>
              </a:rPr>
              <a:t>physical chunk</a:t>
            </a:r>
            <a:r>
              <a:rPr lang="zh-CN" altLang="en-US" sz="1200" b="0" i="0" u="none" strike="noStrike" kern="1200" dirty="0">
                <a:solidFill>
                  <a:schemeClr val="tx1"/>
                </a:solidFill>
                <a:effectLst/>
                <a:latin typeface="+mn-lt"/>
                <a:ea typeface="+mn-ea"/>
                <a:cs typeface="+mn-cs"/>
              </a:rPr>
              <a:t>的映射</a:t>
            </a:r>
            <a:endParaRPr lang="en-US" altLang="zh-CN" dirty="0"/>
          </a:p>
          <a:p>
            <a:r>
              <a:rPr lang="zh-CN" altLang="en-US" dirty="0"/>
              <a:t>区段树：管理磁盘空间分配（</a:t>
            </a:r>
            <a:r>
              <a:rPr lang="en-US" altLang="zh-CN" dirty="0"/>
              <a:t>extent</a:t>
            </a:r>
            <a:r>
              <a:rPr lang="zh-CN" altLang="en-US" dirty="0"/>
              <a:t>）</a:t>
            </a:r>
            <a:endParaRPr lang="en-US" altLang="zh-CN" dirty="0"/>
          </a:p>
          <a:p>
            <a:r>
              <a:rPr lang="zh-CN" altLang="en-US" dirty="0"/>
              <a:t>设备树：管理多设备</a:t>
            </a:r>
            <a:endParaRPr lang="en-US" altLang="zh-CN" dirty="0"/>
          </a:p>
          <a:p>
            <a:r>
              <a:rPr lang="en-US" altLang="zh-CN" dirty="0"/>
              <a:t>FS</a:t>
            </a:r>
            <a:r>
              <a:rPr lang="zh-CN" altLang="en-US" dirty="0"/>
              <a:t>：文件系统</a:t>
            </a:r>
            <a:endParaRPr lang="en-US" altLang="zh-CN" dirty="0"/>
          </a:p>
          <a:p>
            <a:r>
              <a:rPr lang="zh-CN" altLang="en-US" dirty="0"/>
              <a:t>校验码树：管理校验码</a:t>
            </a:r>
            <a:endParaRPr lang="en-US" altLang="zh-CN" dirty="0"/>
          </a:p>
          <a:p>
            <a:r>
              <a:rPr lang="zh-CN" altLang="en-CN" dirty="0"/>
              <a:t>数据</a:t>
            </a:r>
            <a:r>
              <a:rPr lang="zh-CN" altLang="en-US" dirty="0"/>
              <a:t>移动树：</a:t>
            </a:r>
            <a:r>
              <a:rPr lang="en-US" altLang="zh-CN" dirty="0"/>
              <a:t>data</a:t>
            </a:r>
            <a:r>
              <a:rPr lang="zh-CN" altLang="en-US" dirty="0"/>
              <a:t> </a:t>
            </a:r>
            <a:r>
              <a:rPr lang="en-US" altLang="zh-CN" dirty="0"/>
              <a:t>relocation</a:t>
            </a:r>
            <a:r>
              <a:rPr lang="zh-CN" altLang="en-US" dirty="0"/>
              <a:t> </a:t>
            </a:r>
            <a:r>
              <a:rPr lang="en-US" altLang="zh-CN" dirty="0"/>
              <a:t>tree</a:t>
            </a:r>
            <a:r>
              <a:rPr lang="zh-CN" altLang="en-US" dirty="0"/>
              <a:t>，记录</a:t>
            </a:r>
            <a:r>
              <a:rPr lang="en-US" altLang="zh-CN" dirty="0"/>
              <a:t>extent</a:t>
            </a:r>
            <a:r>
              <a:rPr lang="zh-CN" altLang="en-US" dirty="0"/>
              <a:t>的移动，</a:t>
            </a:r>
            <a:r>
              <a:rPr lang="zh-CN" altLang="en-US" sz="1200" b="0" i="0" u="none" strike="noStrike" kern="1200" dirty="0">
                <a:solidFill>
                  <a:schemeClr val="tx1"/>
                </a:solidFill>
                <a:effectLst/>
                <a:latin typeface="+mn-lt"/>
                <a:ea typeface="+mn-ea"/>
                <a:cs typeface="+mn-cs"/>
              </a:rPr>
              <a:t>支持</a:t>
            </a:r>
            <a:r>
              <a:rPr lang="en-US" sz="1200" b="0" i="0" u="none" strike="noStrike" kern="1200" dirty="0">
                <a:solidFill>
                  <a:schemeClr val="tx1"/>
                </a:solidFill>
                <a:effectLst/>
                <a:latin typeface="+mn-lt"/>
                <a:ea typeface="+mn-ea"/>
                <a:cs typeface="+mn-cs"/>
              </a:rPr>
              <a:t>online</a:t>
            </a:r>
            <a:r>
              <a:rPr lang="zh-CN" altLang="en-US" sz="1200" b="0" i="0" u="none" strike="noStrike" kern="1200" dirty="0">
                <a:solidFill>
                  <a:schemeClr val="tx1"/>
                </a:solidFill>
                <a:effectLst/>
                <a:latin typeface="+mn-lt"/>
                <a:ea typeface="+mn-ea"/>
                <a:cs typeface="+mn-cs"/>
              </a:rPr>
              <a:t>的磁盘碎片整理</a:t>
            </a:r>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49</a:t>
            </a:fld>
            <a:endParaRPr lang="zh-CN" altLang="en-US"/>
          </a:p>
        </p:txBody>
      </p:sp>
    </p:spTree>
    <p:extLst>
      <p:ext uri="{BB962C8B-B14F-4D97-AF65-F5344CB8AC3E}">
        <p14:creationId xmlns:p14="http://schemas.microsoft.com/office/powerpoint/2010/main" val="8113679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a:t>
            </a:r>
            <a:r>
              <a:rPr lang="en-US" baseline="0" dirty="0"/>
              <a:t> main idea of soft updates is </a:t>
            </a:r>
            <a:r>
              <a:rPr lang="en-US" u="sng" baseline="0" dirty="0"/>
              <a:t>to </a:t>
            </a:r>
            <a:r>
              <a:rPr lang="en-US" b="1" u="sng" baseline="0" dirty="0"/>
              <a:t>leverage the page cache </a:t>
            </a:r>
            <a:r>
              <a:rPr lang="en-US" baseline="0" dirty="0"/>
              <a:t>to store latest metadata in DRAM and keep the in-disk metadata consistent.</a:t>
            </a:r>
          </a:p>
          <a:p>
            <a:r>
              <a:rPr lang="en-US" dirty="0"/>
              <a:t>All the updates</a:t>
            </a:r>
            <a:r>
              <a:rPr lang="en-US" baseline="0" dirty="0"/>
              <a:t> are firstly done in DRAM with the dependencies tracked.</a:t>
            </a:r>
          </a:p>
          <a:p>
            <a:r>
              <a:rPr lang="en-US" baseline="0" dirty="0"/>
              <a:t>These updates in DRAM are persisted to disks by background threads, with respect to the dependencies tracked.</a:t>
            </a:r>
          </a:p>
          <a:p>
            <a:r>
              <a:rPr lang="en-US" b="1" u="sng" baseline="0" dirty="0"/>
              <a:t>As a result</a:t>
            </a:r>
            <a:r>
              <a:rPr lang="en-US" baseline="0" dirty="0"/>
              <a:t>, there are no synchronous disk writes and the metadata operations can be done with DRAM performance. And the metadata in disks are always consistent so that can be immediately used after crashes, without lengthy recoveries.</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77384CE-5573-0340-B05C-B15137D0D3A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1277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文件系统首先分配并初始化了</a:t>
            </a:r>
            <a:r>
              <a:rPr kumimoji="1" lang="en-US" altLang="zh-CN" dirty="0"/>
              <a:t>6</a:t>
            </a:r>
            <a:r>
              <a:rPr kumimoji="1" lang="zh-CN" altLang="en-US" dirty="0"/>
              <a:t>号 </a:t>
            </a:r>
            <a:r>
              <a:rPr kumimoji="1" lang="en" altLang="zh-CN" dirty="0" err="1"/>
              <a:t>inode</a:t>
            </a:r>
            <a:r>
              <a:rPr kumimoji="1" lang="zh-CN" altLang="en" dirty="0"/>
              <a:t>，</a:t>
            </a:r>
            <a:r>
              <a:rPr kumimoji="1" lang="zh-CN" altLang="en-US" dirty="0"/>
              <a:t>使其对应文件</a:t>
            </a:r>
            <a:r>
              <a:rPr kumimoji="1" lang="en" altLang="zh-CN" dirty="0"/>
              <a:t>File B</a:t>
            </a:r>
            <a:r>
              <a:rPr kumimoji="1" lang="zh-CN" altLang="en" dirty="0"/>
              <a:t>，</a:t>
            </a:r>
            <a:r>
              <a:rPr kumimoji="1" lang="zh-CN" altLang="en-US" dirty="0"/>
              <a:t>然后 新增了目录项。在这些修改还未写入存储设备之时，文件系统还删除了</a:t>
            </a:r>
            <a:r>
              <a:rPr kumimoji="1" lang="en" altLang="zh-CN" dirty="0"/>
              <a:t>File D</a:t>
            </a:r>
            <a:r>
              <a:rPr kumimoji="1" lang="zh-CN" altLang="en" dirty="0"/>
              <a:t>，</a:t>
            </a:r>
            <a:r>
              <a:rPr kumimoji="1" lang="zh-CN" altLang="en-US" dirty="0"/>
              <a:t>对应的 </a:t>
            </a:r>
            <a:r>
              <a:rPr kumimoji="1" lang="en" altLang="zh-CN" dirty="0" err="1"/>
              <a:t>inode</a:t>
            </a:r>
            <a:r>
              <a:rPr kumimoji="1" lang="en" altLang="zh-CN" dirty="0"/>
              <a:t> </a:t>
            </a:r>
            <a:r>
              <a:rPr kumimoji="1" lang="zh-CN" altLang="en-US" dirty="0"/>
              <a:t>号为</a:t>
            </a:r>
            <a:r>
              <a:rPr kumimoji="1" lang="en-US" altLang="zh-CN" dirty="0"/>
              <a:t>7</a:t>
            </a:r>
            <a:r>
              <a:rPr kumimoji="1" lang="zh-CN" altLang="en-US" dirty="0"/>
              <a:t>。这两个操作的目录项刚好在同一个数据块（块 </a:t>
            </a:r>
            <a:r>
              <a:rPr kumimoji="1" lang="en" altLang="zh-CN" dirty="0"/>
              <a:t>B</a:t>
            </a:r>
            <a:r>
              <a:rPr kumimoji="1" lang="zh-CN" altLang="en" dirty="0"/>
              <a:t>）</a:t>
            </a:r>
            <a:r>
              <a:rPr kumimoji="1" lang="zh-CN" altLang="en-US" dirty="0"/>
              <a:t>中， 而涉及到的两个 </a:t>
            </a:r>
            <a:r>
              <a:rPr kumimoji="1" lang="en" altLang="zh-CN" dirty="0" err="1"/>
              <a:t>inode</a:t>
            </a:r>
            <a:r>
              <a:rPr kumimoji="1" lang="en" altLang="zh-CN" dirty="0"/>
              <a:t> </a:t>
            </a:r>
            <a:r>
              <a:rPr kumimoji="1" lang="zh-CN" altLang="en-US" dirty="0"/>
              <a:t>刚好也在同一个块（块 </a:t>
            </a:r>
            <a:r>
              <a:rPr kumimoji="1" lang="en" altLang="zh-CN" dirty="0"/>
              <a:t>A</a:t>
            </a:r>
            <a:r>
              <a:rPr kumimoji="1" lang="zh-CN" altLang="en" dirty="0"/>
              <a:t>）</a:t>
            </a:r>
            <a:r>
              <a:rPr kumimoji="1" lang="zh-CN" altLang="en-US" dirty="0"/>
              <a:t>中。这时，根据 </a:t>
            </a:r>
            <a:r>
              <a:rPr kumimoji="1" lang="en" altLang="zh-CN" dirty="0"/>
              <a:t>soft updates </a:t>
            </a:r>
            <a:r>
              <a:rPr kumimoji="1" lang="zh-CN" altLang="en-US" dirty="0"/>
              <a:t>的持久化规则，在创建文件时，</a:t>
            </a:r>
            <a:r>
              <a:rPr kumimoji="1" lang="en" altLang="zh-CN" dirty="0" err="1"/>
              <a:t>inode</a:t>
            </a:r>
            <a:r>
              <a:rPr kumimoji="1" lang="en" altLang="zh-CN" dirty="0"/>
              <a:t> </a:t>
            </a:r>
            <a:r>
              <a:rPr kumimoji="1" lang="zh-CN" altLang="en-US" dirty="0"/>
              <a:t>结构的初始化应在新增目录项之前写回， 因此从块 </a:t>
            </a:r>
            <a:r>
              <a:rPr kumimoji="1" lang="en" altLang="zh-CN" dirty="0"/>
              <a:t>A </a:t>
            </a:r>
            <a:r>
              <a:rPr kumimoji="1" lang="zh-CN" altLang="en-US" dirty="0"/>
              <a:t>应在块 </a:t>
            </a:r>
            <a:r>
              <a:rPr kumimoji="1" lang="en" altLang="zh-CN" dirty="0"/>
              <a:t>B </a:t>
            </a:r>
            <a:r>
              <a:rPr kumimoji="1" lang="zh-CN" altLang="en-US" dirty="0"/>
              <a:t>之前被写回到存储设备。同时，在删除文件时，目录项 的删除应在对 </a:t>
            </a:r>
            <a:r>
              <a:rPr kumimoji="1" lang="en" altLang="zh-CN" dirty="0" err="1"/>
              <a:t>inode</a:t>
            </a:r>
            <a:r>
              <a:rPr kumimoji="1" lang="en" altLang="zh-CN" dirty="0"/>
              <a:t> </a:t>
            </a:r>
            <a:r>
              <a:rPr kumimoji="1" lang="zh-CN" altLang="en-US" dirty="0"/>
              <a:t>结构进行清理之前写回，因此块 </a:t>
            </a:r>
            <a:r>
              <a:rPr kumimoji="1" lang="en" altLang="zh-CN" dirty="0"/>
              <a:t>B </a:t>
            </a:r>
            <a:r>
              <a:rPr kumimoji="1" lang="zh-CN" altLang="en-US" dirty="0"/>
              <a:t>应该在块 </a:t>
            </a:r>
            <a:r>
              <a:rPr kumimoji="1" lang="en" altLang="zh-CN" dirty="0"/>
              <a:t>A </a:t>
            </a:r>
            <a:r>
              <a:rPr kumimoji="1" lang="zh-CN" altLang="en-US" dirty="0"/>
              <a:t>之前写回。 一旦产生了这种循环依赖，文件系统无法决定写回顺序。</a:t>
            </a:r>
          </a:p>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60</a:t>
            </a:fld>
            <a:endParaRPr lang="zh-CN" altLang="en-US"/>
          </a:p>
        </p:txBody>
      </p:sp>
    </p:spTree>
    <p:extLst>
      <p:ext uri="{BB962C8B-B14F-4D97-AF65-F5344CB8AC3E}">
        <p14:creationId xmlns:p14="http://schemas.microsoft.com/office/powerpoint/2010/main" val="11906059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给出了使用撤销和重做方法打破循环依赖的示例。对于此前创 建</a:t>
            </a:r>
            <a:r>
              <a:rPr kumimoji="1" lang="en" altLang="zh-CN" dirty="0"/>
              <a:t>File B</a:t>
            </a:r>
            <a:r>
              <a:rPr kumimoji="1" lang="zh-CN" altLang="en-US" dirty="0"/>
              <a:t>和删除</a:t>
            </a:r>
            <a:r>
              <a:rPr kumimoji="1" lang="en" altLang="zh-CN" dirty="0"/>
              <a:t>File D</a:t>
            </a:r>
            <a:r>
              <a:rPr kumimoji="1" lang="zh-CN" altLang="en-US" dirty="0"/>
              <a:t>造成的环形依赖，</a:t>
            </a:r>
            <a:r>
              <a:rPr kumimoji="1" lang="en" altLang="zh-CN" dirty="0"/>
              <a:t>soft updates </a:t>
            </a:r>
            <a:r>
              <a:rPr kumimoji="1" lang="zh-CN" altLang="en-US" dirty="0"/>
              <a:t>首先撤销了删除</a:t>
            </a:r>
            <a:r>
              <a:rPr kumimoji="1" lang="en" altLang="zh-CN" dirty="0"/>
              <a:t>File D</a:t>
            </a:r>
            <a:r>
              <a:rPr kumimoji="1" lang="zh-CN" altLang="en-US" dirty="0"/>
              <a:t>的修改（ </a:t>
            </a:r>
            <a:r>
              <a:rPr kumimoji="1" lang="en-US" altLang="zh-CN" dirty="0"/>
              <a:t>1 </a:t>
            </a:r>
            <a:r>
              <a:rPr kumimoji="1" lang="zh-CN" altLang="en-US" dirty="0"/>
              <a:t>）。在删除完毕后，块 </a:t>
            </a:r>
            <a:r>
              <a:rPr kumimoji="1" lang="en" altLang="zh-CN" dirty="0"/>
              <a:t>A </a:t>
            </a:r>
            <a:r>
              <a:rPr kumimoji="1" lang="zh-CN" altLang="en-US" dirty="0"/>
              <a:t>和块 </a:t>
            </a:r>
            <a:r>
              <a:rPr kumimoji="1" lang="en" altLang="zh-CN" dirty="0"/>
              <a:t>B </a:t>
            </a:r>
            <a:r>
              <a:rPr kumimoji="1" lang="zh-CN" altLang="en-US" dirty="0"/>
              <a:t>之间只剩下一个依赖关系。只需要按照依赖关系，先将块 </a:t>
            </a:r>
            <a:r>
              <a:rPr kumimoji="1" lang="en" altLang="zh-CN" dirty="0"/>
              <a:t>A </a:t>
            </a:r>
            <a:r>
              <a:rPr kumimoji="1" lang="zh-CN" altLang="en-US" dirty="0"/>
              <a:t>进行写回，再将块 </a:t>
            </a:r>
            <a:r>
              <a:rPr kumimoji="1" lang="en" altLang="zh-CN" dirty="0"/>
              <a:t>B </a:t>
            </a:r>
            <a:r>
              <a:rPr kumimoji="1" lang="zh-CN" altLang="en-US" dirty="0"/>
              <a:t>进行写回即可（ </a:t>
            </a:r>
            <a:r>
              <a:rPr kumimoji="1" lang="en-US" altLang="zh-CN" dirty="0"/>
              <a:t>2 </a:t>
            </a:r>
            <a:r>
              <a:rPr kumimoji="1" lang="zh-CN" altLang="en-US" dirty="0"/>
              <a:t>）。在修改 持久化到存储设备之后，</a:t>
            </a:r>
            <a:r>
              <a:rPr kumimoji="1" lang="en" altLang="zh-CN" dirty="0"/>
              <a:t>soft updates </a:t>
            </a:r>
            <a:r>
              <a:rPr kumimoji="1" lang="zh-CN" altLang="en-US" dirty="0"/>
              <a:t>将刚刚撤销的删除操作进行重做（ </a:t>
            </a:r>
            <a:r>
              <a:rPr kumimoji="1" lang="en-US" altLang="zh-CN" dirty="0"/>
              <a:t>3 </a:t>
            </a:r>
            <a:r>
              <a:rPr kumimoji="1" lang="zh-CN" altLang="en-US" dirty="0"/>
              <a:t>）。 重做后块 </a:t>
            </a:r>
            <a:r>
              <a:rPr kumimoji="1" lang="en" altLang="zh-CN" dirty="0"/>
              <a:t>A </a:t>
            </a:r>
            <a:r>
              <a:rPr kumimoji="1" lang="zh-CN" altLang="en-US" dirty="0"/>
              <a:t>和块 </a:t>
            </a:r>
            <a:r>
              <a:rPr kumimoji="1" lang="en" altLang="zh-CN" dirty="0"/>
              <a:t>B </a:t>
            </a:r>
            <a:r>
              <a:rPr kumimoji="1" lang="zh-CN" altLang="en-US" dirty="0"/>
              <a:t>之间依然只有简单的依赖关系，此时继续按照顺序进行写 回即可。在撤销到重做期间，</a:t>
            </a:r>
            <a:r>
              <a:rPr kumimoji="1" lang="en" altLang="zh-CN" dirty="0"/>
              <a:t>soft updates </a:t>
            </a:r>
            <a:r>
              <a:rPr kumimoji="1" lang="zh-CN" altLang="en-US" dirty="0"/>
              <a:t>通过对结构上锁，避免应用程序错 误地看到撤销后的结构状态。</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62</a:t>
            </a:fld>
            <a:endParaRPr lang="zh-CN" altLang="en-US"/>
          </a:p>
        </p:txBody>
      </p:sp>
    </p:spTree>
    <p:extLst>
      <p:ext uri="{BB962C8B-B14F-4D97-AF65-F5344CB8AC3E}">
        <p14:creationId xmlns:p14="http://schemas.microsoft.com/office/powerpoint/2010/main" val="2467411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5358"/>
            <a:ext cx="7772400" cy="1225021"/>
          </a:xfrm>
        </p:spPr>
        <p:txBody>
          <a:bodyPr>
            <a:normAutofit/>
          </a:bodyPr>
          <a:lstStyle>
            <a:lvl1pPr algn="ctr">
              <a:defRPr sz="4400">
                <a:latin typeface="+mj-lt"/>
              </a:defRPr>
            </a:lvl1pPr>
          </a:lstStyle>
          <a:p>
            <a:r>
              <a:rPr lang="zh-CN" altLang="en-US" dirty="0"/>
              <a:t>单击此处编辑母版标题样式</a:t>
            </a:r>
          </a:p>
        </p:txBody>
      </p:sp>
      <p:sp>
        <p:nvSpPr>
          <p:cNvPr id="3" name="副标题 2"/>
          <p:cNvSpPr>
            <a:spLocks noGrp="1"/>
          </p:cNvSpPr>
          <p:nvPr>
            <p:ph type="subTitle" idx="1"/>
          </p:nvPr>
        </p:nvSpPr>
        <p:spPr>
          <a:xfrm>
            <a:off x="1371600" y="3238500"/>
            <a:ext cx="6400800" cy="14605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4" name="日期占位符 3"/>
          <p:cNvSpPr>
            <a:spLocks noGrp="1"/>
          </p:cNvSpPr>
          <p:nvPr>
            <p:ph type="dt" sz="half" idx="10"/>
          </p:nvPr>
        </p:nvSpPr>
        <p:spPr/>
        <p:txBody>
          <a:bodyPr/>
          <a:lstStyle/>
          <a:p>
            <a:endParaRPr lang="zh-CN" altLang="en-US" dirty="0"/>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7" name="页脚占位符 4">
            <a:extLst>
              <a:ext uri="{FF2B5EF4-FFF2-40B4-BE49-F238E27FC236}">
                <a16:creationId xmlns:a16="http://schemas.microsoft.com/office/drawing/2014/main" id="{9FA25068-95BE-F84A-896E-9E89F943483E}"/>
              </a:ext>
            </a:extLst>
          </p:cNvPr>
          <p:cNvSpPr>
            <a:spLocks noGrp="1"/>
          </p:cNvSpPr>
          <p:nvPr>
            <p:ph type="ftr" sz="quarter" idx="3"/>
          </p:nvPr>
        </p:nvSpPr>
        <p:spPr>
          <a:xfrm>
            <a:off x="2553817" y="5305772"/>
            <a:ext cx="3962399" cy="304271"/>
          </a:xfrm>
          <a:prstGeom prst="rect">
            <a:avLst/>
          </a:prstGeom>
        </p:spPr>
        <p:txBody>
          <a:bodyPr anchor="ctr"/>
          <a:lstStyle>
            <a:lvl1pPr algn="ctr">
              <a:defRPr sz="1100"/>
            </a:lvl1p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2146142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6"/>
            <a:ext cx="8229600" cy="900442"/>
          </a:xfrm>
        </p:spPr>
        <p:txBody>
          <a:bodyPr/>
          <a:lstStyle>
            <a:lvl1pPr>
              <a:defRPr b="1">
                <a:solidFill>
                  <a:schemeClr val="accent1"/>
                </a:solidFill>
                <a:latin typeface="+mj-lt"/>
                <a:ea typeface="+mj-ea"/>
                <a:cs typeface="微软雅黑 Light" panose="020B0502040204020203" pitchFamily="34" charset="-122"/>
              </a:defRPr>
            </a:lvl1pPr>
          </a:lstStyle>
          <a:p>
            <a:r>
              <a:rPr lang="zh-CN" altLang="en-US" dirty="0"/>
              <a:t>单击此处编辑母版标题样式</a:t>
            </a:r>
          </a:p>
        </p:txBody>
      </p:sp>
      <p:sp>
        <p:nvSpPr>
          <p:cNvPr id="3" name="内容占位符 2"/>
          <p:cNvSpPr>
            <a:spLocks noGrp="1"/>
          </p:cNvSpPr>
          <p:nvPr>
            <p:ph idx="1"/>
          </p:nvPr>
        </p:nvSpPr>
        <p:spPr/>
        <p:txBody>
          <a:bodyPr>
            <a:normAutofit/>
          </a:bodyPr>
          <a:lstStyle>
            <a:lvl1pPr>
              <a:lnSpc>
                <a:spcPct val="120000"/>
              </a:lnSpc>
              <a:defRPr sz="2400" b="1" i="0">
                <a:latin typeface="+mn-lt"/>
                <a:ea typeface="微软雅黑" panose="020B0503020204020204" pitchFamily="34" charset="-122"/>
                <a:cs typeface="微软雅黑" panose="020B0503020204020204" pitchFamily="34" charset="-122"/>
              </a:defRPr>
            </a:lvl1pPr>
            <a:lvl2pPr>
              <a:lnSpc>
                <a:spcPct val="120000"/>
              </a:lnSpc>
              <a:defRPr sz="2000" b="0" i="0">
                <a:latin typeface="+mn-lt"/>
                <a:ea typeface="微软雅黑" panose="020B0503020204020204" pitchFamily="34" charset="-122"/>
                <a:cs typeface="微软雅黑" panose="020B0503020204020204" pitchFamily="34" charset="-122"/>
              </a:defRPr>
            </a:lvl2pPr>
            <a:lvl3pPr>
              <a:lnSpc>
                <a:spcPct val="120000"/>
              </a:lnSpc>
              <a:defRPr sz="2000" b="0" i="0">
                <a:latin typeface="+mn-lt"/>
                <a:ea typeface="微软雅黑" panose="020B0503020204020204" pitchFamily="34" charset="-122"/>
                <a:cs typeface="微软雅黑" panose="020B0503020204020204" pitchFamily="34" charset="-122"/>
              </a:defRPr>
            </a:lvl3pPr>
            <a:lvl4pPr>
              <a:lnSpc>
                <a:spcPct val="120000"/>
              </a:lnSpc>
              <a:defRPr sz="1800" b="0" i="0">
                <a:latin typeface="+mn-lt"/>
                <a:ea typeface="微软雅黑" panose="020B0503020204020204" pitchFamily="34" charset="-122"/>
                <a:cs typeface="微软雅黑" panose="020B0503020204020204" pitchFamily="34" charset="-122"/>
              </a:defRPr>
            </a:lvl4pPr>
            <a:lvl5pPr>
              <a:lnSpc>
                <a:spcPct val="120000"/>
              </a:lnSpc>
              <a:defRPr sz="1800" b="0" i="0">
                <a:latin typeface="+mn-lt"/>
                <a:ea typeface="微软雅黑" panose="020B0503020204020204" pitchFamily="34" charset="-122"/>
                <a:cs typeface="微软雅黑"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10"/>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7" name="矩形 6"/>
          <p:cNvSpPr/>
          <p:nvPr userDrawn="1"/>
        </p:nvSpPr>
        <p:spPr>
          <a:xfrm>
            <a:off x="-180527" y="439062"/>
            <a:ext cx="164581" cy="4800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三角形 7">
            <a:extLst>
              <a:ext uri="{FF2B5EF4-FFF2-40B4-BE49-F238E27FC236}">
                <a16:creationId xmlns:a16="http://schemas.microsoft.com/office/drawing/2014/main" id="{066DE83E-C489-9340-8A6C-F2C63F8574DC}"/>
              </a:ext>
            </a:extLst>
          </p:cNvPr>
          <p:cNvSpPr/>
          <p:nvPr userDrawn="1"/>
        </p:nvSpPr>
        <p:spPr>
          <a:xfrm rot="5400000">
            <a:off x="-160702" y="599536"/>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
        <p:nvSpPr>
          <p:cNvPr id="9" name="页脚占位符 4">
            <a:extLst>
              <a:ext uri="{FF2B5EF4-FFF2-40B4-BE49-F238E27FC236}">
                <a16:creationId xmlns:a16="http://schemas.microsoft.com/office/drawing/2014/main" id="{6608DAFC-F7CB-BF45-A12C-3E5B3C748823}"/>
              </a:ext>
            </a:extLst>
          </p:cNvPr>
          <p:cNvSpPr>
            <a:spLocks noGrp="1"/>
          </p:cNvSpPr>
          <p:nvPr>
            <p:ph type="ftr" sz="quarter" idx="3"/>
          </p:nvPr>
        </p:nvSpPr>
        <p:spPr>
          <a:xfrm>
            <a:off x="2553817" y="5305772"/>
            <a:ext cx="3962399" cy="304271"/>
          </a:xfrm>
          <a:prstGeom prst="rect">
            <a:avLst/>
          </a:prstGeom>
        </p:spPr>
        <p:txBody>
          <a:bodyPr/>
          <a:lstStyle>
            <a:lvl1pPr algn="ctr">
              <a:defRPr sz="1100"/>
            </a:lvl1p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3949560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2418"/>
            <a:ext cx="7772400" cy="1135062"/>
          </a:xfrm>
        </p:spPr>
        <p:txBody>
          <a:bodyPr anchor="t"/>
          <a:lstStyle>
            <a:lvl1pPr algn="l">
              <a:defRPr sz="4000" b="1" cap="all">
                <a:latin typeface="+mj-lt"/>
              </a:defRPr>
            </a:lvl1pPr>
          </a:lstStyle>
          <a:p>
            <a:r>
              <a:rPr lang="zh-CN" altLang="en-US" dirty="0"/>
              <a:t>单击此处编辑母版标题样式</a:t>
            </a:r>
          </a:p>
        </p:txBody>
      </p:sp>
      <p:sp>
        <p:nvSpPr>
          <p:cNvPr id="3" name="文本占位符 2"/>
          <p:cNvSpPr>
            <a:spLocks noGrp="1"/>
          </p:cNvSpPr>
          <p:nvPr>
            <p:ph type="body" idx="1"/>
          </p:nvPr>
        </p:nvSpPr>
        <p:spPr>
          <a:xfrm>
            <a:off x="722313" y="2422261"/>
            <a:ext cx="7772400" cy="1250156"/>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8" name="三角形 7">
            <a:extLst>
              <a:ext uri="{FF2B5EF4-FFF2-40B4-BE49-F238E27FC236}">
                <a16:creationId xmlns:a16="http://schemas.microsoft.com/office/drawing/2014/main" id="{A8EE614D-B549-154F-943F-0F3919AB5939}"/>
              </a:ext>
            </a:extLst>
          </p:cNvPr>
          <p:cNvSpPr/>
          <p:nvPr userDrawn="1"/>
        </p:nvSpPr>
        <p:spPr>
          <a:xfrm rot="5400000">
            <a:off x="-160703" y="3920373"/>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
        <p:nvSpPr>
          <p:cNvPr id="9" name="页脚占位符 4">
            <a:extLst>
              <a:ext uri="{FF2B5EF4-FFF2-40B4-BE49-F238E27FC236}">
                <a16:creationId xmlns:a16="http://schemas.microsoft.com/office/drawing/2014/main" id="{222B87CB-0BF3-3A40-9555-EFDE398401FB}"/>
              </a:ext>
            </a:extLst>
          </p:cNvPr>
          <p:cNvSpPr>
            <a:spLocks noGrp="1"/>
          </p:cNvSpPr>
          <p:nvPr>
            <p:ph type="ftr" sz="quarter" idx="3"/>
          </p:nvPr>
        </p:nvSpPr>
        <p:spPr>
          <a:xfrm>
            <a:off x="2553817" y="5305772"/>
            <a:ext cx="3962399" cy="304271"/>
          </a:xfrm>
          <a:prstGeom prst="rect">
            <a:avLst/>
          </a:prstGeom>
        </p:spPr>
        <p:txBody>
          <a:bodyPr/>
          <a:lstStyle>
            <a:lvl1pPr algn="ctr">
              <a:defRPr sz="1100">
                <a:solidFill>
                  <a:schemeClr val="tx1">
                    <a:lumMod val="50000"/>
                    <a:lumOff val="50000"/>
                  </a:schemeClr>
                </a:solidFill>
              </a:defRPr>
            </a:lvl1pPr>
          </a:lstStyle>
          <a:p>
            <a:endParaRPr lang="zh-CN" altLang="en-US" dirty="0"/>
          </a:p>
        </p:txBody>
      </p:sp>
    </p:spTree>
    <p:extLst>
      <p:ext uri="{BB962C8B-B14F-4D97-AF65-F5344CB8AC3E}">
        <p14:creationId xmlns:p14="http://schemas.microsoft.com/office/powerpoint/2010/main" val="6146946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内页-有页码">
    <p:spTree>
      <p:nvGrpSpPr>
        <p:cNvPr id="1" name=""/>
        <p:cNvGrpSpPr/>
        <p:nvPr/>
      </p:nvGrpSpPr>
      <p:grpSpPr>
        <a:xfrm>
          <a:off x="0" y="0"/>
          <a:ext cx="0" cy="0"/>
          <a:chOff x="0" y="0"/>
          <a:chExt cx="0" cy="0"/>
        </a:xfrm>
      </p:grpSpPr>
      <p:sp>
        <p:nvSpPr>
          <p:cNvPr id="3" name="内容占位符 2"/>
          <p:cNvSpPr>
            <a:spLocks noGrp="1"/>
          </p:cNvSpPr>
          <p:nvPr>
            <p:ph sz="quarter" idx="10" hasCustomPrompt="1"/>
          </p:nvPr>
        </p:nvSpPr>
        <p:spPr>
          <a:xfrm>
            <a:off x="292199" y="1353072"/>
            <a:ext cx="8573990" cy="4152908"/>
          </a:xfrm>
        </p:spPr>
        <p:txBody>
          <a:bodyPr>
            <a:noAutofit/>
          </a:bodyPr>
          <a:lstStyle>
            <a:lvl1pPr marL="0" indent="0">
              <a:buClr>
                <a:schemeClr val="accent1"/>
              </a:buClr>
              <a:buNone/>
              <a:defRPr sz="2400"/>
            </a:lvl1pPr>
            <a:lvl2pPr>
              <a:buClr>
                <a:schemeClr val="accent1"/>
              </a:buClr>
              <a:defRPr sz="2100"/>
            </a:lvl2pPr>
            <a:lvl3pPr>
              <a:buClr>
                <a:schemeClr val="accent1"/>
              </a:buClr>
              <a:defRPr sz="1800"/>
            </a:lvl3pPr>
            <a:lvl4pPr>
              <a:buClr>
                <a:schemeClr val="accent1"/>
              </a:buClr>
              <a:defRPr sz="1500"/>
            </a:lvl4pPr>
            <a:lvl5pPr>
              <a:buClr>
                <a:schemeClr val="accent1"/>
              </a:buClr>
              <a:defRPr sz="1500"/>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标题 4"/>
          <p:cNvSpPr>
            <a:spLocks noGrp="1"/>
          </p:cNvSpPr>
          <p:nvPr>
            <p:ph type="title" hasCustomPrompt="1"/>
          </p:nvPr>
        </p:nvSpPr>
        <p:spPr>
          <a:xfrm>
            <a:off x="292199" y="681850"/>
            <a:ext cx="8542339" cy="480000"/>
          </a:xfrm>
          <a:prstGeom prst="rect">
            <a:avLst/>
          </a:prstGeom>
        </p:spPr>
        <p:txBody>
          <a:bodyPr>
            <a:noAutofit/>
          </a:bodyPr>
          <a:lstStyle>
            <a:lvl1pPr>
              <a:defRPr sz="2700" b="1" baseline="0">
                <a:solidFill>
                  <a:schemeClr val="accent1"/>
                </a:solidFill>
                <a:latin typeface="Candara" panose="020E0502030303020204" pitchFamily="34" charset="0"/>
              </a:defRPr>
            </a:lvl1pPr>
          </a:lstStyle>
          <a:p>
            <a:r>
              <a:rPr lang="en-US" altLang="zh-CN" dirty="0"/>
              <a:t>Click</a:t>
            </a:r>
            <a:r>
              <a:rPr lang="zh-CN" altLang="en-US" dirty="0"/>
              <a:t> </a:t>
            </a:r>
            <a:r>
              <a:rPr lang="en-US" altLang="zh-CN" dirty="0"/>
              <a:t>here</a:t>
            </a:r>
            <a:endParaRPr lang="zh-CN" altLang="en-US" dirty="0"/>
          </a:p>
        </p:txBody>
      </p:sp>
      <p:sp>
        <p:nvSpPr>
          <p:cNvPr id="10" name="灯片编号占位符 5"/>
          <p:cNvSpPr txBox="1">
            <a:spLocks/>
          </p:cNvSpPr>
          <p:nvPr/>
        </p:nvSpPr>
        <p:spPr>
          <a:xfrm>
            <a:off x="8697601" y="259796"/>
            <a:ext cx="315471" cy="230832"/>
          </a:xfrm>
          <a:prstGeom prst="rect">
            <a:avLst/>
          </a:prstGeom>
          <a:noFill/>
        </p:spPr>
        <p:txBody>
          <a:bodyPr wrap="none" rtlCol="0">
            <a:spAutoFit/>
          </a:bodyPr>
          <a:lstStyle>
            <a:defPPr>
              <a:defRPr lang="zh-CN"/>
            </a:defPPr>
            <a:lvl1pPr>
              <a:defRPr sz="1200" spc="-60" baseline="0">
                <a:solidFill>
                  <a:schemeClr val="bg1"/>
                </a:solidFill>
                <a:latin typeface="微软雅黑" panose="020B0503020204020204" pitchFamily="34" charset="-122"/>
                <a:ea typeface="微软雅黑" panose="020B0503020204020204" pitchFamily="34" charset="-122"/>
              </a:defRPr>
            </a:lvl1pPr>
          </a:lstStyle>
          <a:p>
            <a:pPr lvl="0"/>
            <a:fld id="{E1703B59-C883-4B8B-974E-AFB30A6C43A7}" type="slidenum">
              <a:rPr lang="zh-CN" altLang="en-US" sz="900" smtClean="0"/>
              <a:pPr lvl="0"/>
              <a:t>‹#›</a:t>
            </a:fld>
            <a:endParaRPr lang="zh-CN" altLang="en-US" sz="900" dirty="0"/>
          </a:p>
        </p:txBody>
      </p:sp>
      <p:sp>
        <p:nvSpPr>
          <p:cNvPr id="9" name="文本框 8"/>
          <p:cNvSpPr txBox="1"/>
          <p:nvPr/>
        </p:nvSpPr>
        <p:spPr>
          <a:xfrm>
            <a:off x="8250027" y="259796"/>
            <a:ext cx="485069" cy="230832"/>
          </a:xfrm>
          <a:prstGeom prst="rect">
            <a:avLst/>
          </a:prstGeom>
          <a:noFill/>
        </p:spPr>
        <p:txBody>
          <a:bodyPr wrap="none" rtlCol="0">
            <a:spAutoFit/>
          </a:bodyPr>
          <a:lstStyle/>
          <a:p>
            <a:r>
              <a:rPr lang="en-US" altLang="zh-CN" sz="900" spc="-45" baseline="0" dirty="0">
                <a:solidFill>
                  <a:schemeClr val="bg1"/>
                </a:solidFill>
                <a:latin typeface="微软雅黑" panose="020B0503020204020204" pitchFamily="34" charset="-122"/>
                <a:ea typeface="微软雅黑" panose="020B0503020204020204" pitchFamily="34" charset="-122"/>
              </a:rPr>
              <a:t>Page .</a:t>
            </a:r>
            <a:endParaRPr lang="zh-CN" altLang="en-US" sz="900" spc="-45" baseline="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08848548"/>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28866"/>
            <a:ext cx="8229600" cy="952500"/>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457200" y="1333501"/>
            <a:ext cx="8229600" cy="3771636"/>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457201" y="5296962"/>
            <a:ext cx="2133600" cy="304271"/>
          </a:xfrm>
          <a:prstGeom prst="rect">
            <a:avLst/>
          </a:prstGeom>
        </p:spPr>
        <p:txBody>
          <a:bodyPr vert="horz" lIns="91440" tIns="45720" rIns="91440" bIns="45720" rtlCol="0" anchor="ctr"/>
          <a:lstStyle>
            <a:lvl1pPr algn="l">
              <a:defRPr sz="1200">
                <a:solidFill>
                  <a:schemeClr val="tx1">
                    <a:tint val="75000"/>
                  </a:schemeClr>
                </a:solidFill>
                <a:latin typeface="DengXian" charset="0"/>
                <a:ea typeface="DengXian" charset="0"/>
                <a:cs typeface="DengXian" charset="0"/>
              </a:defRPr>
            </a:lvl1pPr>
          </a:lstStyle>
          <a:p>
            <a:endParaRPr lang="zh-CN" altLang="en-US" dirty="0"/>
          </a:p>
        </p:txBody>
      </p:sp>
      <p:sp>
        <p:nvSpPr>
          <p:cNvPr id="6" name="灯片编号占位符 5"/>
          <p:cNvSpPr>
            <a:spLocks noGrp="1"/>
          </p:cNvSpPr>
          <p:nvPr>
            <p:ph type="sldNum" sz="quarter" idx="4"/>
          </p:nvPr>
        </p:nvSpPr>
        <p:spPr>
          <a:xfrm>
            <a:off x="6553200" y="5296962"/>
            <a:ext cx="2133600" cy="304271"/>
          </a:xfrm>
          <a:prstGeom prst="rect">
            <a:avLst/>
          </a:prstGeom>
        </p:spPr>
        <p:txBody>
          <a:bodyPr vert="horz" lIns="91440" tIns="45720" rIns="91440" bIns="45720" rtlCol="0" anchor="ctr"/>
          <a:lstStyle>
            <a:lvl1pPr algn="r">
              <a:defRPr sz="1200">
                <a:solidFill>
                  <a:schemeClr val="tx1">
                    <a:tint val="75000"/>
                  </a:schemeClr>
                </a:solidFill>
                <a:latin typeface="DengXian" charset="0"/>
                <a:ea typeface="DengXian" charset="0"/>
                <a:cs typeface="DengXian" charset="0"/>
              </a:defRPr>
            </a:lvl1pPr>
          </a:lstStyle>
          <a:p>
            <a:fld id="{ADE361C3-C043-4A6E-BDCE-8DA1E7D90A3B}" type="slidenum">
              <a:rPr lang="zh-CN" altLang="en-US" smtClean="0"/>
              <a:pPr/>
              <a:t>‹#›</a:t>
            </a:fld>
            <a:endParaRPr lang="zh-CN" altLang="en-US"/>
          </a:p>
        </p:txBody>
      </p:sp>
      <p:sp>
        <p:nvSpPr>
          <p:cNvPr id="7" name="页脚占位符 4">
            <a:extLst>
              <a:ext uri="{FF2B5EF4-FFF2-40B4-BE49-F238E27FC236}">
                <a16:creationId xmlns:a16="http://schemas.microsoft.com/office/drawing/2014/main" id="{4DC863AB-1CA3-014A-96B6-C1A16FEA03AC}"/>
              </a:ext>
            </a:extLst>
          </p:cNvPr>
          <p:cNvSpPr>
            <a:spLocks noGrp="1"/>
          </p:cNvSpPr>
          <p:nvPr>
            <p:ph type="ftr" sz="quarter" idx="3"/>
          </p:nvPr>
        </p:nvSpPr>
        <p:spPr>
          <a:xfrm>
            <a:off x="2553817" y="5305772"/>
            <a:ext cx="3962399" cy="304271"/>
          </a:xfrm>
          <a:prstGeom prst="rect">
            <a:avLst/>
          </a:prstGeom>
        </p:spPr>
        <p:txBody>
          <a:bodyPr anchor="ctr"/>
          <a:lstStyle>
            <a:lvl1pPr>
              <a:defRPr sz="1100">
                <a:solidFill>
                  <a:schemeClr val="tx1">
                    <a:lumMod val="50000"/>
                    <a:lumOff val="50000"/>
                  </a:schemeClr>
                </a:solidFill>
                <a:latin typeface="+mn-ea"/>
                <a:ea typeface="+mn-ea"/>
              </a:defRPr>
            </a:lvl1pPr>
          </a:lstStyle>
          <a:p>
            <a:pPr algn="ctr"/>
            <a:endParaRPr lang="zh-CN" altLang="en-US" dirty="0"/>
          </a:p>
        </p:txBody>
      </p:sp>
    </p:spTree>
    <p:extLst>
      <p:ext uri="{BB962C8B-B14F-4D97-AF65-F5344CB8AC3E}">
        <p14:creationId xmlns:p14="http://schemas.microsoft.com/office/powerpoint/2010/main" val="38909056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dt="0"/>
  <p:txStyles>
    <p:titleStyle>
      <a:lvl1pPr algn="l" defTabSz="914400" rtl="0" eaLnBrk="1" latinLnBrk="0" hangingPunct="1">
        <a:spcBef>
          <a:spcPct val="0"/>
        </a:spcBef>
        <a:buNone/>
        <a:defRPr sz="3600" b="1" kern="1200">
          <a:solidFill>
            <a:schemeClr val="accent1"/>
          </a:solidFill>
          <a:latin typeface="+mj-lt"/>
          <a:ea typeface="+mj-ea"/>
          <a:cs typeface="微软雅黑 Light" panose="020B0502040204020203" pitchFamily="34" charset="-122"/>
        </a:defRPr>
      </a:lvl1pPr>
    </p:titleStyle>
    <p:bodyStyle>
      <a:lvl1pPr marL="342900" indent="-342900" algn="l" defTabSz="914400" rtl="0" eaLnBrk="1" latinLnBrk="0" hangingPunct="1">
        <a:lnSpc>
          <a:spcPct val="120000"/>
        </a:lnSpc>
        <a:spcBef>
          <a:spcPts val="1200"/>
        </a:spcBef>
        <a:buFont typeface="Arial" pitchFamily="34" charset="0"/>
        <a:buChar char="•"/>
        <a:defRPr sz="2600" b="0" kern="1200">
          <a:solidFill>
            <a:schemeClr val="tx1">
              <a:lumMod val="75000"/>
              <a:lumOff val="25000"/>
            </a:schemeClr>
          </a:solidFill>
          <a:latin typeface="+mn-lt"/>
          <a:ea typeface="+mn-ea"/>
          <a:cs typeface="DengXian" charset="0"/>
        </a:defRPr>
      </a:lvl1pPr>
      <a:lvl2pPr marL="742950" indent="-285750" algn="l" defTabSz="914400" rtl="0" eaLnBrk="1" latinLnBrk="0" hangingPunct="1">
        <a:lnSpc>
          <a:spcPct val="120000"/>
        </a:lnSpc>
        <a:spcBef>
          <a:spcPct val="20000"/>
        </a:spcBef>
        <a:buFont typeface="Arial" pitchFamily="34" charset="0"/>
        <a:buChar char="–"/>
        <a:defRPr sz="2400" kern="1200">
          <a:solidFill>
            <a:schemeClr val="tx1">
              <a:lumMod val="75000"/>
              <a:lumOff val="25000"/>
            </a:schemeClr>
          </a:solidFill>
          <a:latin typeface="+mn-lt"/>
          <a:ea typeface="+mn-ea"/>
          <a:cs typeface="DengXian" charset="0"/>
        </a:defRPr>
      </a:lvl2pPr>
      <a:lvl3pPr marL="1143000" indent="-228600" algn="l" defTabSz="914400" rtl="0" eaLnBrk="1" latinLnBrk="0" hangingPunct="1">
        <a:lnSpc>
          <a:spcPct val="120000"/>
        </a:lnSpc>
        <a:spcBef>
          <a:spcPct val="20000"/>
        </a:spcBef>
        <a:buFont typeface="Arial" pitchFamily="34" charset="0"/>
        <a:buChar char="•"/>
        <a:defRPr sz="2000" kern="1200">
          <a:solidFill>
            <a:schemeClr val="tx1">
              <a:lumMod val="75000"/>
              <a:lumOff val="25000"/>
            </a:schemeClr>
          </a:solidFill>
          <a:latin typeface="+mn-lt"/>
          <a:ea typeface="+mn-ea"/>
          <a:cs typeface="DengXian" charset="0"/>
        </a:defRPr>
      </a:lvl3pPr>
      <a:lvl4pPr marL="1600200" indent="-228600" algn="l" defTabSz="914400" rtl="0" eaLnBrk="1" latinLnBrk="0" hangingPunct="1">
        <a:lnSpc>
          <a:spcPct val="120000"/>
        </a:lnSpc>
        <a:spcBef>
          <a:spcPct val="20000"/>
        </a:spcBef>
        <a:buFont typeface="Arial" pitchFamily="34" charset="0"/>
        <a:buChar char="–"/>
        <a:defRPr sz="1800" kern="1200">
          <a:solidFill>
            <a:schemeClr val="tx1">
              <a:lumMod val="75000"/>
              <a:lumOff val="25000"/>
            </a:schemeClr>
          </a:solidFill>
          <a:latin typeface="+mn-lt"/>
          <a:ea typeface="+mn-ea"/>
          <a:cs typeface="DengXian" charset="0"/>
        </a:defRPr>
      </a:lvl4pPr>
      <a:lvl5pPr marL="2057400" indent="-228600" algn="l" defTabSz="914400" rtl="0" eaLnBrk="1" latinLnBrk="0" hangingPunct="1">
        <a:lnSpc>
          <a:spcPct val="120000"/>
        </a:lnSpc>
        <a:spcBef>
          <a:spcPct val="20000"/>
        </a:spcBef>
        <a:buFont typeface="Arial" pitchFamily="34" charset="0"/>
        <a:buChar char="»"/>
        <a:defRPr sz="1800" kern="1200">
          <a:solidFill>
            <a:schemeClr val="tx1">
              <a:lumMod val="75000"/>
              <a:lumOff val="25000"/>
            </a:schemeClr>
          </a:solidFill>
          <a:latin typeface="+mn-lt"/>
          <a:ea typeface="+mn-ea"/>
          <a:cs typeface="DengXian"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hyperlink" Target="https://creativecommons.org/licenses/by/4.0/legalcode"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C7C6228-E47F-EA4B-8DD8-28647C76DDD6}"/>
              </a:ext>
            </a:extLst>
          </p:cNvPr>
          <p:cNvSpPr>
            <a:spLocks noGrp="1"/>
          </p:cNvSpPr>
          <p:nvPr>
            <p:ph type="ctrTitle"/>
          </p:nvPr>
        </p:nvSpPr>
        <p:spPr>
          <a:xfrm>
            <a:off x="685800" y="1720996"/>
            <a:ext cx="7772400" cy="1225021"/>
          </a:xfrm>
        </p:spPr>
        <p:txBody>
          <a:bodyPr>
            <a:normAutofit/>
          </a:bodyPr>
          <a:lstStyle/>
          <a:p>
            <a:pPr algn="ctr">
              <a:lnSpc>
                <a:spcPct val="110000"/>
              </a:lnSpc>
            </a:pPr>
            <a:r>
              <a:rPr kumimoji="1" lang="zh-CN" altLang="en-US" sz="4800" dirty="0"/>
              <a:t>文件系统崩溃一致性</a:t>
            </a:r>
          </a:p>
        </p:txBody>
      </p:sp>
      <p:sp>
        <p:nvSpPr>
          <p:cNvPr id="6" name="副标题 5">
            <a:extLst>
              <a:ext uri="{FF2B5EF4-FFF2-40B4-BE49-F238E27FC236}">
                <a16:creationId xmlns:a16="http://schemas.microsoft.com/office/drawing/2014/main" id="{A89EB2B2-D46F-2643-A072-954E7921BC30}"/>
              </a:ext>
            </a:extLst>
          </p:cNvPr>
          <p:cNvSpPr>
            <a:spLocks noGrp="1"/>
          </p:cNvSpPr>
          <p:nvPr>
            <p:ph type="subTitle" idx="1"/>
          </p:nvPr>
        </p:nvSpPr>
        <p:spPr>
          <a:xfrm>
            <a:off x="685800" y="3412362"/>
            <a:ext cx="7772400" cy="1225020"/>
          </a:xfrm>
        </p:spPr>
        <p:txBody>
          <a:bodyPr>
            <a:noAutofit/>
          </a:bodyPr>
          <a:lstStyle/>
          <a:p>
            <a:pPr>
              <a:lnSpc>
                <a:spcPct val="150000"/>
              </a:lnSpc>
              <a:spcBef>
                <a:spcPts val="0"/>
              </a:spcBef>
            </a:pPr>
            <a:r>
              <a:rPr kumimoji="1" lang="en-US" altLang="zh-CN" sz="1800" dirty="0">
                <a:solidFill>
                  <a:schemeClr val="tx1">
                    <a:lumMod val="50000"/>
                    <a:lumOff val="50000"/>
                  </a:schemeClr>
                </a:solidFill>
              </a:rPr>
              <a:t>https://</a:t>
            </a:r>
            <a:r>
              <a:rPr kumimoji="1" lang="en-US" altLang="zh-CN" sz="1800" dirty="0" err="1">
                <a:solidFill>
                  <a:schemeClr val="tx1">
                    <a:lumMod val="50000"/>
                    <a:lumOff val="50000"/>
                  </a:schemeClr>
                </a:solidFill>
              </a:rPr>
              <a:t>ipads.se.sjtu.edu.cn</a:t>
            </a:r>
            <a:endParaRPr kumimoji="1" lang="en" altLang="zh-CN" sz="1800" dirty="0">
              <a:solidFill>
                <a:schemeClr val="tx1">
                  <a:lumMod val="50000"/>
                  <a:lumOff val="50000"/>
                </a:schemeClr>
              </a:solidFill>
            </a:endParaRPr>
          </a:p>
        </p:txBody>
      </p:sp>
      <p:pic>
        <p:nvPicPr>
          <p:cNvPr id="9" name="图片 8">
            <a:extLst>
              <a:ext uri="{FF2B5EF4-FFF2-40B4-BE49-F238E27FC236}">
                <a16:creationId xmlns:a16="http://schemas.microsoft.com/office/drawing/2014/main" id="{23A70DCB-3E4D-4449-82B8-441C200ABD69}"/>
              </a:ext>
            </a:extLst>
          </p:cNvPr>
          <p:cNvPicPr>
            <a:picLocks noChangeAspect="1"/>
          </p:cNvPicPr>
          <p:nvPr/>
        </p:nvPicPr>
        <p:blipFill>
          <a:blip r:embed="rId3">
            <a:duotone>
              <a:schemeClr val="accent1">
                <a:shade val="45000"/>
                <a:satMod val="135000"/>
              </a:schemeClr>
              <a:prstClr val="white"/>
            </a:duotone>
          </a:blip>
          <a:stretch>
            <a:fillRect/>
          </a:stretch>
        </p:blipFill>
        <p:spPr>
          <a:xfrm>
            <a:off x="5652120" y="252561"/>
            <a:ext cx="1362088" cy="492009"/>
          </a:xfrm>
          <a:prstGeom prst="rect">
            <a:avLst/>
          </a:prstGeom>
        </p:spPr>
      </p:pic>
      <p:pic>
        <p:nvPicPr>
          <p:cNvPr id="8" name="Picture 6" descr="http://korean.onlinesjtu.com/%E6%A0%A1%E5%BE%BD%E7%B3%BB%E5%88%97/%E7%BC%A9%E5%B0%8F%E7%89%88/%E8%93%9D%E8%89%B2%E7%B3%BB%20%E5%B0%8F%E5%B0%BA%E5%AF%B8%E6%A0%A1%E5%BE%BD%E5%B1%95%E5%BC%80%E5%BC%8F%20(10mm%E4%BB%A5%E4%B8%8B%E4%BD%BF%E7%94%A8)%20%5b%E8%BD%AC%E6%8D%A2%5d.png">
            <a:extLst>
              <a:ext uri="{FF2B5EF4-FFF2-40B4-BE49-F238E27FC236}">
                <a16:creationId xmlns:a16="http://schemas.microsoft.com/office/drawing/2014/main" id="{9D0C1772-9C9E-534B-9410-16BA28CA6EB4}"/>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64288" y="282539"/>
            <a:ext cx="1642840" cy="432048"/>
          </a:xfrm>
          <a:prstGeom prst="rect">
            <a:avLst/>
          </a:prstGeom>
          <a:noFill/>
          <a:extLst>
            <a:ext uri="{909E8E84-426E-40dd-AFC4-6F175D3DCCD1}">
              <a14:hiddenFill xmlns:a14="http://schemas.microsoft.com/office/drawing/2010/main" xmlns="">
                <a:solidFill>
                  <a:srgbClr val="FFFFFF"/>
                </a:solidFill>
              </a14:hiddenFill>
            </a:ext>
          </a:extLst>
        </p:spPr>
      </p:pic>
      <p:sp>
        <p:nvSpPr>
          <p:cNvPr id="2" name="副标题 2">
            <a:extLst>
              <a:ext uri="{FF2B5EF4-FFF2-40B4-BE49-F238E27FC236}">
                <a16:creationId xmlns:a16="http://schemas.microsoft.com/office/drawing/2014/main" id="{204B21FD-B35F-522A-B90F-0E307667523C}"/>
              </a:ext>
            </a:extLst>
          </p:cNvPr>
          <p:cNvSpPr txBox="1">
            <a:spLocks/>
          </p:cNvSpPr>
          <p:nvPr/>
        </p:nvSpPr>
        <p:spPr>
          <a:xfrm>
            <a:off x="467544" y="252559"/>
            <a:ext cx="3240360" cy="504056"/>
          </a:xfrm>
          <a:prstGeom prst="rect">
            <a:avLst/>
          </a:prstGeom>
        </p:spPr>
        <p:txBody>
          <a:bodyPr vert="horz" lIns="91440" tIns="45720" rIns="91440" bIns="45720" rtlCol="0">
            <a:normAutofit/>
          </a:bodyPr>
          <a:lstStyle>
            <a:lvl1pPr marL="0" indent="0" algn="ctr" defTabSz="914400" rtl="0" eaLnBrk="1" latinLnBrk="0" hangingPunct="1">
              <a:lnSpc>
                <a:spcPct val="120000"/>
              </a:lnSpc>
              <a:spcBef>
                <a:spcPts val="1200"/>
              </a:spcBef>
              <a:buFont typeface="Arial" pitchFamily="34" charset="0"/>
              <a:buNone/>
              <a:defRPr sz="2600" b="0" kern="1200">
                <a:solidFill>
                  <a:schemeClr val="tx1">
                    <a:tint val="75000"/>
                  </a:schemeClr>
                </a:solidFill>
                <a:latin typeface="+mn-ea"/>
                <a:ea typeface="+mn-ea"/>
                <a:cs typeface="DengXian" charset="0"/>
              </a:defRPr>
            </a:lvl1pPr>
            <a:lvl2pPr marL="457200" indent="0" algn="ctr" defTabSz="914400" rtl="0" eaLnBrk="1" latinLnBrk="0" hangingPunct="1">
              <a:lnSpc>
                <a:spcPct val="120000"/>
              </a:lnSpc>
              <a:spcBef>
                <a:spcPct val="20000"/>
              </a:spcBef>
              <a:buFont typeface="Arial" pitchFamily="34" charset="0"/>
              <a:buNone/>
              <a:defRPr sz="2400" kern="1200">
                <a:solidFill>
                  <a:schemeClr val="tx1">
                    <a:tint val="75000"/>
                  </a:schemeClr>
                </a:solidFill>
                <a:latin typeface="+mn-ea"/>
                <a:ea typeface="+mn-ea"/>
                <a:cs typeface="DengXian" charset="0"/>
              </a:defRPr>
            </a:lvl2pPr>
            <a:lvl3pPr marL="914400" indent="0" algn="ctr" defTabSz="914400" rtl="0" eaLnBrk="1" latinLnBrk="0" hangingPunct="1">
              <a:lnSpc>
                <a:spcPct val="120000"/>
              </a:lnSpc>
              <a:spcBef>
                <a:spcPct val="20000"/>
              </a:spcBef>
              <a:buFont typeface="Arial" pitchFamily="34" charset="0"/>
              <a:buNone/>
              <a:defRPr sz="2000" kern="1200">
                <a:solidFill>
                  <a:schemeClr val="tx1">
                    <a:tint val="75000"/>
                  </a:schemeClr>
                </a:solidFill>
                <a:latin typeface="+mn-ea"/>
                <a:ea typeface="+mn-ea"/>
                <a:cs typeface="DengXian" charset="0"/>
              </a:defRPr>
            </a:lvl3pPr>
            <a:lvl4pPr marL="1371600" indent="0" algn="ctr" defTabSz="914400" rtl="0" eaLnBrk="1" latinLnBrk="0" hangingPunct="1">
              <a:lnSpc>
                <a:spcPct val="120000"/>
              </a:lnSpc>
              <a:spcBef>
                <a:spcPct val="20000"/>
              </a:spcBef>
              <a:buFont typeface="Arial" pitchFamily="34" charset="0"/>
              <a:buNone/>
              <a:defRPr sz="1800" kern="1200">
                <a:solidFill>
                  <a:schemeClr val="tx1">
                    <a:tint val="75000"/>
                  </a:schemeClr>
                </a:solidFill>
                <a:latin typeface="+mn-ea"/>
                <a:ea typeface="+mn-ea"/>
                <a:cs typeface="DengXian" charset="0"/>
              </a:defRPr>
            </a:lvl4pPr>
            <a:lvl5pPr marL="1828800" indent="0" algn="ctr" defTabSz="914400" rtl="0" eaLnBrk="1" latinLnBrk="0" hangingPunct="1">
              <a:lnSpc>
                <a:spcPct val="120000"/>
              </a:lnSpc>
              <a:spcBef>
                <a:spcPct val="20000"/>
              </a:spcBef>
              <a:buFont typeface="Arial" pitchFamily="34" charset="0"/>
              <a:buNone/>
              <a:defRPr sz="1800" kern="1200">
                <a:solidFill>
                  <a:schemeClr val="tx1">
                    <a:tint val="75000"/>
                  </a:schemeClr>
                </a:solidFill>
                <a:latin typeface="+mn-ea"/>
                <a:ea typeface="+mn-ea"/>
                <a:cs typeface="DengXian"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defRPr/>
            </a:pPr>
            <a:r>
              <a:rPr lang="zh-CN" altLang="en-US" sz="1400" dirty="0">
                <a:solidFill>
                  <a:srgbClr val="000000">
                    <a:lumMod val="75000"/>
                    <a:lumOff val="25000"/>
                  </a:srgbClr>
                </a:solidFill>
                <a:latin typeface="Arial" panose="020B0604020202020204"/>
              </a:rPr>
              <a:t>操作系统</a:t>
            </a:r>
          </a:p>
        </p:txBody>
      </p:sp>
    </p:spTree>
    <p:extLst>
      <p:ext uri="{BB962C8B-B14F-4D97-AF65-F5344CB8AC3E}">
        <p14:creationId xmlns:p14="http://schemas.microsoft.com/office/powerpoint/2010/main" val="1808067628"/>
      </p:ext>
    </p:extLst>
  </p:cSld>
  <p:clrMapOvr>
    <a:masterClrMapping/>
  </p:clrMapOvr>
  <mc:AlternateContent xmlns:mc="http://schemas.openxmlformats.org/markup-compatibility/2006" xmlns:p14="http://schemas.microsoft.com/office/powerpoint/2010/main">
    <mc:Choice Requires="p14">
      <p:transition spd="slow" p14:dur="2000" advTm="11626"/>
    </mc:Choice>
    <mc:Fallback xmlns="">
      <p:transition spd="slow" advTm="1162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BE39C2-86D1-9B45-B569-48F1570E518D}"/>
              </a:ext>
            </a:extLst>
          </p:cNvPr>
          <p:cNvSpPr>
            <a:spLocks noGrp="1"/>
          </p:cNvSpPr>
          <p:nvPr>
            <p:ph type="title"/>
          </p:nvPr>
        </p:nvSpPr>
        <p:spPr/>
        <p:txBody>
          <a:bodyPr/>
          <a:lstStyle/>
          <a:p>
            <a:r>
              <a:rPr kumimoji="1" lang="zh-CN" altLang="en-US">
                <a:latin typeface="+mn-lt"/>
              </a:rPr>
              <a:t>版权声明</a:t>
            </a:r>
            <a:endParaRPr kumimoji="1" lang="zh-CN" altLang="en-US" dirty="0">
              <a:latin typeface="+mn-lt"/>
            </a:endParaRPr>
          </a:p>
        </p:txBody>
      </p:sp>
      <p:sp>
        <p:nvSpPr>
          <p:cNvPr id="3" name="内容占位符 2">
            <a:extLst>
              <a:ext uri="{FF2B5EF4-FFF2-40B4-BE49-F238E27FC236}">
                <a16:creationId xmlns:a16="http://schemas.microsoft.com/office/drawing/2014/main" id="{695B3383-B219-984C-8D0C-BCF076655903}"/>
              </a:ext>
            </a:extLst>
          </p:cNvPr>
          <p:cNvSpPr>
            <a:spLocks noGrp="1"/>
          </p:cNvSpPr>
          <p:nvPr>
            <p:ph idx="1"/>
          </p:nvPr>
        </p:nvSpPr>
        <p:spPr/>
        <p:txBody>
          <a:bodyPr>
            <a:noAutofit/>
          </a:bodyPr>
          <a:lstStyle/>
          <a:p>
            <a:r>
              <a:rPr lang="zh-CN" altLang="en-US" sz="2000" b="0" dirty="0">
                <a:latin typeface="+mn-lt"/>
              </a:rPr>
              <a:t>本内容版权归</a:t>
            </a:r>
            <a:r>
              <a:rPr lang="zh-CN" altLang="en-US" sz="2000" dirty="0">
                <a:latin typeface="+mn-lt"/>
              </a:rPr>
              <a:t>上海交通大学并行与分布式系统研究所</a:t>
            </a:r>
            <a:r>
              <a:rPr lang="zh-CN" altLang="en-US" sz="2000" b="0" dirty="0">
                <a:latin typeface="+mn-lt"/>
              </a:rPr>
              <a:t>所有</a:t>
            </a:r>
            <a:endParaRPr lang="en-US" altLang="zh-CN" sz="2000" b="0" dirty="0">
              <a:latin typeface="+mn-lt"/>
            </a:endParaRPr>
          </a:p>
          <a:p>
            <a:r>
              <a:rPr lang="zh-CN" altLang="en-US" sz="2000" b="0" dirty="0">
                <a:latin typeface="+mn-lt"/>
              </a:rPr>
              <a:t>使用者可以将全部或部分本内容免费用于非商业用途</a:t>
            </a:r>
            <a:endParaRPr lang="en-US" altLang="zh-CN" sz="2000" b="0" dirty="0">
              <a:latin typeface="+mn-lt"/>
            </a:endParaRPr>
          </a:p>
          <a:p>
            <a:r>
              <a:rPr lang="zh-CN" altLang="en-US" sz="2000" b="0" dirty="0">
                <a:latin typeface="+mn-lt"/>
              </a:rPr>
              <a:t>使用者在使用全部或部分本内容时请注明来源：</a:t>
            </a:r>
            <a:endParaRPr lang="en-US" altLang="zh-CN" sz="2000" b="0" dirty="0">
              <a:latin typeface="+mn-lt"/>
            </a:endParaRPr>
          </a:p>
          <a:p>
            <a:pPr lvl="1"/>
            <a:r>
              <a:rPr lang="zh-CN" altLang="en-US" sz="1600" dirty="0"/>
              <a:t>内容来自：上海交通大学并行与分布式系统研究所</a:t>
            </a:r>
            <a:r>
              <a:rPr lang="en-US" altLang="zh-CN" sz="1600" dirty="0"/>
              <a:t>+</a:t>
            </a:r>
            <a:r>
              <a:rPr lang="zh-CN" altLang="en-US" sz="1600" dirty="0"/>
              <a:t>材料名字</a:t>
            </a:r>
            <a:endParaRPr lang="en-US" altLang="zh-CN" sz="1600" dirty="0"/>
          </a:p>
          <a:p>
            <a:r>
              <a:rPr lang="zh-CN" altLang="en-US" sz="2000" b="0" dirty="0">
                <a:latin typeface="+mn-lt"/>
              </a:rPr>
              <a:t>对于不遵守此声明或者其他违法使用本内容者，将依法保留追究权</a:t>
            </a:r>
            <a:endParaRPr lang="en-US" altLang="zh-CN" sz="2000" b="0" dirty="0">
              <a:latin typeface="+mn-lt"/>
            </a:endParaRPr>
          </a:p>
          <a:p>
            <a:r>
              <a:rPr lang="zh-CN" altLang="en-US" sz="2000" b="0" dirty="0">
                <a:latin typeface="+mn-lt"/>
              </a:rPr>
              <a:t>本内容的发布采用 </a:t>
            </a:r>
            <a:r>
              <a:rPr lang="en-US" altLang="zh-CN" sz="2000" b="0" dirty="0">
                <a:latin typeface="+mn-lt"/>
              </a:rPr>
              <a:t>Creative Commons</a:t>
            </a:r>
            <a:r>
              <a:rPr lang="zh-CN" altLang="en-US" sz="2000" b="0" dirty="0">
                <a:latin typeface="+mn-lt"/>
              </a:rPr>
              <a:t> </a:t>
            </a:r>
            <a:r>
              <a:rPr lang="en-US" altLang="zh-CN" sz="2000" b="0" dirty="0">
                <a:latin typeface="+mn-lt"/>
              </a:rPr>
              <a:t>Attribution</a:t>
            </a:r>
            <a:r>
              <a:rPr lang="zh-CN" altLang="en-US" sz="2000" b="0" dirty="0">
                <a:latin typeface="+mn-lt"/>
              </a:rPr>
              <a:t> </a:t>
            </a:r>
            <a:r>
              <a:rPr lang="en-US" altLang="zh-CN" sz="2000" b="0" dirty="0">
                <a:latin typeface="+mn-lt"/>
              </a:rPr>
              <a:t>4.0</a:t>
            </a:r>
            <a:r>
              <a:rPr lang="zh-CN" altLang="en-US" sz="2000" b="0" dirty="0">
                <a:latin typeface="+mn-lt"/>
              </a:rPr>
              <a:t> </a:t>
            </a:r>
            <a:r>
              <a:rPr lang="en-US" altLang="zh-CN" sz="2000" b="0" dirty="0">
                <a:latin typeface="+mn-lt"/>
              </a:rPr>
              <a:t>License</a:t>
            </a:r>
            <a:endParaRPr lang="en-US" altLang="zh-CN" sz="2400" b="0" dirty="0">
              <a:latin typeface="+mn-lt"/>
            </a:endParaRPr>
          </a:p>
          <a:p>
            <a:pPr lvl="1"/>
            <a:r>
              <a:rPr lang="zh-CN" altLang="en-US" sz="1600" dirty="0">
                <a:latin typeface="+mn-lt"/>
              </a:rPr>
              <a:t>完整文本：</a:t>
            </a:r>
            <a:r>
              <a:rPr lang="en-US" altLang="zh-CN" sz="1600" dirty="0">
                <a:latin typeface="+mn-lt"/>
                <a:hlinkClick r:id="rId2"/>
              </a:rPr>
              <a:t>https://creativecommons.org/licenses/by/4.0/legalcode</a:t>
            </a:r>
            <a:endParaRPr lang="en-US" altLang="zh-CN" sz="1800" b="0" dirty="0">
              <a:latin typeface="+mn-lt"/>
            </a:endParaRPr>
          </a:p>
          <a:p>
            <a:endParaRPr kumimoji="1" lang="zh-CN" altLang="en-US" sz="2000" dirty="0">
              <a:latin typeface="+mn-lt"/>
            </a:endParaRPr>
          </a:p>
        </p:txBody>
      </p:sp>
      <p:sp>
        <p:nvSpPr>
          <p:cNvPr id="4" name="灯片编号占位符 3">
            <a:extLst>
              <a:ext uri="{FF2B5EF4-FFF2-40B4-BE49-F238E27FC236}">
                <a16:creationId xmlns:a16="http://schemas.microsoft.com/office/drawing/2014/main" id="{70D6275D-0E58-1C46-BA79-C46B2D55F355}"/>
              </a:ext>
            </a:extLst>
          </p:cNvPr>
          <p:cNvSpPr>
            <a:spLocks noGrp="1"/>
          </p:cNvSpPr>
          <p:nvPr>
            <p:ph type="sldNum" sz="quarter" idx="12"/>
          </p:nvPr>
        </p:nvSpPr>
        <p:spPr/>
        <p:txBody>
          <a:bodyPr/>
          <a:lstStyle/>
          <a:p>
            <a:fld id="{ADE361C3-C043-4A6E-BDCE-8DA1E7D90A3B}" type="slidenum">
              <a:rPr lang="zh-CN" altLang="en-US" smtClean="0"/>
              <a:t>2</a:t>
            </a:fld>
            <a:endParaRPr lang="zh-CN" altLang="en-US"/>
          </a:p>
        </p:txBody>
      </p:sp>
      <p:sp>
        <p:nvSpPr>
          <p:cNvPr id="5" name="页脚占位符 4">
            <a:extLst>
              <a:ext uri="{FF2B5EF4-FFF2-40B4-BE49-F238E27FC236}">
                <a16:creationId xmlns:a16="http://schemas.microsoft.com/office/drawing/2014/main" id="{03E75993-6B82-2A4E-883D-B9872C501656}"/>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615226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7AF834C2-FC9F-6940-A2F1-0F1494EC3BEF}"/>
              </a:ext>
            </a:extLst>
          </p:cNvPr>
          <p:cNvSpPr>
            <a:spLocks noGrp="1"/>
          </p:cNvSpPr>
          <p:nvPr>
            <p:ph type="body" idx="1"/>
          </p:nvPr>
        </p:nvSpPr>
        <p:spPr/>
        <p:txBody>
          <a:bodyPr/>
          <a:lstStyle/>
          <a:p>
            <a:endParaRPr lang="en-CN" dirty="0"/>
          </a:p>
        </p:txBody>
      </p:sp>
      <p:sp>
        <p:nvSpPr>
          <p:cNvPr id="4" name="Slide Number Placeholder 3">
            <a:extLst>
              <a:ext uri="{FF2B5EF4-FFF2-40B4-BE49-F238E27FC236}">
                <a16:creationId xmlns:a16="http://schemas.microsoft.com/office/drawing/2014/main" id="{50555194-DA3A-1A41-AB30-3F21573C1902}"/>
              </a:ext>
            </a:extLst>
          </p:cNvPr>
          <p:cNvSpPr>
            <a:spLocks noGrp="1"/>
          </p:cNvSpPr>
          <p:nvPr>
            <p:ph type="sldNum" sz="quarter" idx="12"/>
          </p:nvPr>
        </p:nvSpPr>
        <p:spPr/>
        <p:txBody>
          <a:bodyPr/>
          <a:lstStyle/>
          <a:p>
            <a:fld id="{ADE361C3-C043-4A6E-BDCE-8DA1E7D90A3B}" type="slidenum">
              <a:rPr lang="zh-CN" altLang="en-US" smtClean="0"/>
              <a:t>3</a:t>
            </a:fld>
            <a:endParaRPr lang="zh-CN" altLang="en-US"/>
          </a:p>
        </p:txBody>
      </p:sp>
      <p:sp>
        <p:nvSpPr>
          <p:cNvPr id="5" name="Footer Placeholder 4">
            <a:extLst>
              <a:ext uri="{FF2B5EF4-FFF2-40B4-BE49-F238E27FC236}">
                <a16:creationId xmlns:a16="http://schemas.microsoft.com/office/drawing/2014/main" id="{354873B3-411D-7E4E-B146-AE70ADE18F3C}"/>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10" name="标题 5">
            <a:extLst>
              <a:ext uri="{FF2B5EF4-FFF2-40B4-BE49-F238E27FC236}">
                <a16:creationId xmlns:a16="http://schemas.microsoft.com/office/drawing/2014/main" id="{3F702E7A-BF99-B246-856C-68F00A514E98}"/>
              </a:ext>
            </a:extLst>
          </p:cNvPr>
          <p:cNvSpPr>
            <a:spLocks noGrp="1"/>
          </p:cNvSpPr>
          <p:nvPr>
            <p:ph type="title"/>
          </p:nvPr>
        </p:nvSpPr>
        <p:spPr/>
        <p:txBody>
          <a:bodyPr/>
          <a:lstStyle/>
          <a:p>
            <a:r>
              <a:rPr lang="zh-CN" altLang="en-US" dirty="0"/>
              <a:t>文件系统崩溃一致性</a:t>
            </a:r>
            <a:endParaRPr lang="en-CN" altLang="zh-CN" dirty="0"/>
          </a:p>
        </p:txBody>
      </p:sp>
    </p:spTree>
    <p:extLst>
      <p:ext uri="{BB962C8B-B14F-4D97-AF65-F5344CB8AC3E}">
        <p14:creationId xmlns:p14="http://schemas.microsoft.com/office/powerpoint/2010/main" val="34098757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07117-79D7-EC4D-84E9-B19DB85BAD46}"/>
              </a:ext>
            </a:extLst>
          </p:cNvPr>
          <p:cNvSpPr>
            <a:spLocks noGrp="1"/>
          </p:cNvSpPr>
          <p:nvPr>
            <p:ph type="title"/>
          </p:nvPr>
        </p:nvSpPr>
        <p:spPr/>
        <p:txBody>
          <a:bodyPr>
            <a:normAutofit/>
          </a:bodyPr>
          <a:lstStyle/>
          <a:p>
            <a:r>
              <a:rPr lang="zh-CN" altLang="en-US" sz="3200" dirty="0"/>
              <a:t>文件系统的崩溃一致性</a:t>
            </a:r>
            <a:endParaRPr lang="en-CN" sz="3200" dirty="0"/>
          </a:p>
        </p:txBody>
      </p:sp>
      <p:sp>
        <p:nvSpPr>
          <p:cNvPr id="3" name="Content Placeholder 2">
            <a:extLst>
              <a:ext uri="{FF2B5EF4-FFF2-40B4-BE49-F238E27FC236}">
                <a16:creationId xmlns:a16="http://schemas.microsoft.com/office/drawing/2014/main" id="{6B182231-B9BA-6E4F-8880-296FB8045A2C}"/>
              </a:ext>
            </a:extLst>
          </p:cNvPr>
          <p:cNvSpPr>
            <a:spLocks noGrp="1"/>
          </p:cNvSpPr>
          <p:nvPr>
            <p:ph idx="1"/>
          </p:nvPr>
        </p:nvSpPr>
        <p:spPr/>
        <p:txBody>
          <a:bodyPr/>
          <a:lstStyle/>
          <a:p>
            <a:r>
              <a:rPr lang="zh-CN" altLang="en-CN" sz="2000" dirty="0"/>
              <a:t>文件系统中</a:t>
            </a:r>
            <a:r>
              <a:rPr lang="zh-CN" altLang="en-US" sz="2000" dirty="0"/>
              <a:t>保存了多种数据结构</a:t>
            </a:r>
            <a:endParaRPr lang="en-US" altLang="zh-CN" sz="2000" dirty="0"/>
          </a:p>
          <a:p>
            <a:r>
              <a:rPr lang="zh-CN" altLang="en-US" sz="2000" dirty="0"/>
              <a:t>各种数据结构之间存在依赖关系与一致性要求</a:t>
            </a:r>
            <a:endParaRPr lang="en-US" altLang="zh-CN" sz="2000" dirty="0"/>
          </a:p>
          <a:p>
            <a:pPr lvl="1"/>
            <a:r>
              <a:rPr lang="en-US" altLang="zh-CN" sz="1800" dirty="0" err="1"/>
              <a:t>inode</a:t>
            </a:r>
            <a:r>
              <a:rPr lang="zh-CN" altLang="en-US" sz="1800" dirty="0"/>
              <a:t>中保存的文件大小，应该与其索引中保存的数据块个数相匹配</a:t>
            </a:r>
            <a:endParaRPr lang="en-US" altLang="zh-CN" sz="1800" dirty="0"/>
          </a:p>
          <a:p>
            <a:pPr lvl="1"/>
            <a:r>
              <a:rPr lang="en-US" altLang="zh-CN" sz="1800" dirty="0" err="1"/>
              <a:t>inode</a:t>
            </a:r>
            <a:r>
              <a:rPr lang="zh-CN" altLang="en-US" sz="1800" dirty="0"/>
              <a:t>中保存的链接数，应与指向其的目录项个数相同</a:t>
            </a:r>
            <a:endParaRPr lang="en-US" altLang="zh-CN" sz="1800" dirty="0"/>
          </a:p>
          <a:p>
            <a:pPr lvl="1"/>
            <a:r>
              <a:rPr lang="zh-CN" altLang="en-US" sz="1800" dirty="0"/>
              <a:t>超级块中保存的文件系统大小，应该与文件系统所管理的空间大小相同</a:t>
            </a:r>
            <a:endParaRPr lang="en-US" altLang="zh-CN" sz="1800" dirty="0"/>
          </a:p>
          <a:p>
            <a:pPr lvl="1"/>
            <a:r>
              <a:rPr lang="zh-CN" altLang="en-US" sz="1800" dirty="0"/>
              <a:t>所有</a:t>
            </a:r>
            <a:r>
              <a:rPr lang="en-US" altLang="zh-CN" sz="1800" dirty="0" err="1"/>
              <a:t>inode</a:t>
            </a:r>
            <a:r>
              <a:rPr lang="zh-CN" altLang="en-US" sz="1800" dirty="0"/>
              <a:t>分配表中标记为空闲的</a:t>
            </a:r>
            <a:r>
              <a:rPr lang="en-US" altLang="zh-CN" sz="1800" dirty="0" err="1"/>
              <a:t>inode</a:t>
            </a:r>
            <a:r>
              <a:rPr lang="zh-CN" altLang="en-US" sz="1800" dirty="0"/>
              <a:t>均未被使用；标记为已用的</a:t>
            </a:r>
            <a:r>
              <a:rPr lang="en-US" altLang="zh-CN" sz="1800" dirty="0" err="1"/>
              <a:t>inode</a:t>
            </a:r>
            <a:r>
              <a:rPr lang="zh-CN" altLang="en-US" sz="1800" dirty="0"/>
              <a:t>均可以通过文件系统操作访问</a:t>
            </a:r>
            <a:endParaRPr lang="en-US" altLang="zh-CN" sz="1800" dirty="0"/>
          </a:p>
          <a:p>
            <a:pPr lvl="1"/>
            <a:r>
              <a:rPr lang="en-US" altLang="zh-CN" sz="1800" dirty="0"/>
              <a:t>……</a:t>
            </a:r>
          </a:p>
          <a:p>
            <a:r>
              <a:rPr lang="zh-CN" altLang="en-US" sz="2000" dirty="0"/>
              <a:t>突发状况（崩溃）可能会造成这些一致性被打破！</a:t>
            </a:r>
            <a:endParaRPr lang="en-CN" sz="2000" dirty="0"/>
          </a:p>
        </p:txBody>
      </p:sp>
      <p:sp>
        <p:nvSpPr>
          <p:cNvPr id="4" name="Slide Number Placeholder 3">
            <a:extLst>
              <a:ext uri="{FF2B5EF4-FFF2-40B4-BE49-F238E27FC236}">
                <a16:creationId xmlns:a16="http://schemas.microsoft.com/office/drawing/2014/main" id="{7176DC56-0890-3547-A451-5636BFC66C14}"/>
              </a:ext>
            </a:extLst>
          </p:cNvPr>
          <p:cNvSpPr>
            <a:spLocks noGrp="1"/>
          </p:cNvSpPr>
          <p:nvPr>
            <p:ph type="sldNum" sz="quarter" idx="12"/>
          </p:nvPr>
        </p:nvSpPr>
        <p:spPr/>
        <p:txBody>
          <a:bodyPr/>
          <a:lstStyle/>
          <a:p>
            <a:fld id="{ADE361C3-C043-4A6E-BDCE-8DA1E7D90A3B}" type="slidenum">
              <a:rPr lang="zh-CN" altLang="en-US" sz="1100" smtClean="0"/>
              <a:t>4</a:t>
            </a:fld>
            <a:endParaRPr lang="zh-CN" altLang="en-US" sz="1100"/>
          </a:p>
        </p:txBody>
      </p:sp>
      <p:sp>
        <p:nvSpPr>
          <p:cNvPr id="5" name="Footer Placeholder 4">
            <a:extLst>
              <a:ext uri="{FF2B5EF4-FFF2-40B4-BE49-F238E27FC236}">
                <a16:creationId xmlns:a16="http://schemas.microsoft.com/office/drawing/2014/main" id="{DE4AA162-7CEB-5241-ACFD-E886B60CC488}"/>
              </a:ext>
            </a:extLst>
          </p:cNvPr>
          <p:cNvSpPr>
            <a:spLocks noGrp="1"/>
          </p:cNvSpPr>
          <p:nvPr>
            <p:ph type="ftr" sz="quarter" idx="3"/>
          </p:nvPr>
        </p:nvSpPr>
        <p:spPr>
          <a:xfrm>
            <a:off x="2553817" y="5305772"/>
            <a:ext cx="3962399" cy="304271"/>
          </a:xfrm>
          <a:prstGeom prst="rect">
            <a:avLst/>
          </a:prstGeom>
        </p:spPr>
        <p:txBody>
          <a:bodyPr anchor="ctr"/>
          <a:lstStyle>
            <a:defPPr>
              <a:defRPr lang="zh-CN"/>
            </a:defPPr>
            <a:lvl1pPr marL="0" algn="ctr" defTabSz="914400" rtl="0" eaLnBrk="1" latinLnBrk="0" hangingPunct="1">
              <a:defRPr sz="1100" kern="1200">
                <a:solidFill>
                  <a:schemeClr val="tx1">
                    <a:lumMod val="50000"/>
                    <a:lumOff val="50000"/>
                  </a:schemeClr>
                </a:solidFill>
                <a:latin typeface="+mn-ea"/>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a:t>上海交通大学并行与分布式系统研究所（</a:t>
            </a:r>
            <a:r>
              <a:rPr lang="en-US" altLang="zh-CN"/>
              <a:t>IPADS@SJTU</a:t>
            </a:r>
            <a:r>
              <a:rPr lang="zh-CN" altLang="en-US"/>
              <a:t>）</a:t>
            </a:r>
            <a:endParaRPr lang="zh-CN" altLang="en-US" sz="1050" dirty="0"/>
          </a:p>
        </p:txBody>
      </p:sp>
    </p:spTree>
    <p:extLst>
      <p:ext uri="{BB962C8B-B14F-4D97-AF65-F5344CB8AC3E}">
        <p14:creationId xmlns:p14="http://schemas.microsoft.com/office/powerpoint/2010/main" val="21363690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74903-B09F-9A4B-828F-F712498C7617}"/>
              </a:ext>
            </a:extLst>
          </p:cNvPr>
          <p:cNvSpPr>
            <a:spLocks noGrp="1"/>
          </p:cNvSpPr>
          <p:nvPr>
            <p:ph type="title"/>
          </p:nvPr>
        </p:nvSpPr>
        <p:spPr/>
        <p:txBody>
          <a:bodyPr/>
          <a:lstStyle/>
          <a:p>
            <a:r>
              <a:rPr lang="zh-CN" altLang="en-US" dirty="0"/>
              <a:t>回顾：</a:t>
            </a:r>
            <a:r>
              <a:rPr lang="zh-CN" altLang="en-CN" dirty="0"/>
              <a:t>内存</a:t>
            </a:r>
            <a:r>
              <a:rPr lang="zh-CN" altLang="en-US" dirty="0"/>
              <a:t>与存储结构</a:t>
            </a:r>
            <a:endParaRPr lang="en-CN" dirty="0"/>
          </a:p>
        </p:txBody>
      </p:sp>
      <p:sp>
        <p:nvSpPr>
          <p:cNvPr id="4" name="Footer Placeholder 3">
            <a:extLst>
              <a:ext uri="{FF2B5EF4-FFF2-40B4-BE49-F238E27FC236}">
                <a16:creationId xmlns:a16="http://schemas.microsoft.com/office/drawing/2014/main" id="{6E42ECD1-9ECE-D849-BC22-DBE71319585E}"/>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grpSp>
        <p:nvGrpSpPr>
          <p:cNvPr id="5" name="Group 4">
            <a:extLst>
              <a:ext uri="{FF2B5EF4-FFF2-40B4-BE49-F238E27FC236}">
                <a16:creationId xmlns:a16="http://schemas.microsoft.com/office/drawing/2014/main" id="{76131F82-7D59-DD4A-8AE4-3EB28D943546}"/>
              </a:ext>
            </a:extLst>
          </p:cNvPr>
          <p:cNvGrpSpPr/>
          <p:nvPr/>
        </p:nvGrpSpPr>
        <p:grpSpPr>
          <a:xfrm>
            <a:off x="1820924" y="3658983"/>
            <a:ext cx="6208325" cy="1646788"/>
            <a:chOff x="1571562" y="3338912"/>
            <a:chExt cx="7104198" cy="1884424"/>
          </a:xfrm>
        </p:grpSpPr>
        <p:sp>
          <p:nvSpPr>
            <p:cNvPr id="6" name="Rectangle 5">
              <a:extLst>
                <a:ext uri="{FF2B5EF4-FFF2-40B4-BE49-F238E27FC236}">
                  <a16:creationId xmlns:a16="http://schemas.microsoft.com/office/drawing/2014/main" id="{03FA417D-A5E7-E247-A747-7AA3E729C18A}"/>
                </a:ext>
              </a:extLst>
            </p:cNvPr>
            <p:cNvSpPr/>
            <p:nvPr/>
          </p:nvSpPr>
          <p:spPr>
            <a:xfrm>
              <a:off x="3601631" y="4024896"/>
              <a:ext cx="424602" cy="48578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ltLang="zh-CN" sz="600" dirty="0"/>
            </a:p>
          </p:txBody>
        </p:sp>
        <p:sp>
          <p:nvSpPr>
            <p:cNvPr id="7" name="Rectangle 6">
              <a:extLst>
                <a:ext uri="{FF2B5EF4-FFF2-40B4-BE49-F238E27FC236}">
                  <a16:creationId xmlns:a16="http://schemas.microsoft.com/office/drawing/2014/main" id="{2DAAEDC6-FB89-704C-AB91-5FC3E976DBB5}"/>
                </a:ext>
              </a:extLst>
            </p:cNvPr>
            <p:cNvSpPr/>
            <p:nvPr/>
          </p:nvSpPr>
          <p:spPr>
            <a:xfrm>
              <a:off x="4026233" y="4024896"/>
              <a:ext cx="424602" cy="48578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endParaRPr lang="en-US" altLang="zh-CN" sz="600" dirty="0">
                <a:solidFill>
                  <a:srgbClr val="000000"/>
                </a:solidFill>
              </a:endParaRPr>
            </a:p>
          </p:txBody>
        </p:sp>
        <p:sp>
          <p:nvSpPr>
            <p:cNvPr id="8" name="Rectangle 7">
              <a:extLst>
                <a:ext uri="{FF2B5EF4-FFF2-40B4-BE49-F238E27FC236}">
                  <a16:creationId xmlns:a16="http://schemas.microsoft.com/office/drawing/2014/main" id="{DDE896F4-93B6-4A4F-A562-6381047D9052}"/>
                </a:ext>
              </a:extLst>
            </p:cNvPr>
            <p:cNvSpPr/>
            <p:nvPr/>
          </p:nvSpPr>
          <p:spPr>
            <a:xfrm>
              <a:off x="4450835" y="4024896"/>
              <a:ext cx="424602" cy="48578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endParaRPr lang="en-US" altLang="zh-CN" sz="600" dirty="0">
                <a:solidFill>
                  <a:srgbClr val="000000"/>
                </a:solidFill>
              </a:endParaRPr>
            </a:p>
          </p:txBody>
        </p:sp>
        <p:sp>
          <p:nvSpPr>
            <p:cNvPr id="9" name="Rectangle 8">
              <a:extLst>
                <a:ext uri="{FF2B5EF4-FFF2-40B4-BE49-F238E27FC236}">
                  <a16:creationId xmlns:a16="http://schemas.microsoft.com/office/drawing/2014/main" id="{E720D690-6856-3E40-9EC0-0A42588BC1E1}"/>
                </a:ext>
              </a:extLst>
            </p:cNvPr>
            <p:cNvSpPr/>
            <p:nvPr/>
          </p:nvSpPr>
          <p:spPr>
            <a:xfrm>
              <a:off x="2332280" y="4024896"/>
              <a:ext cx="424602" cy="48578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10" name="Rectangle 9">
              <a:extLst>
                <a:ext uri="{FF2B5EF4-FFF2-40B4-BE49-F238E27FC236}">
                  <a16:creationId xmlns:a16="http://schemas.microsoft.com/office/drawing/2014/main" id="{0D9F936B-FECC-3649-84AF-42450451AC23}"/>
                </a:ext>
              </a:extLst>
            </p:cNvPr>
            <p:cNvSpPr/>
            <p:nvPr/>
          </p:nvSpPr>
          <p:spPr>
            <a:xfrm>
              <a:off x="2756882" y="4024896"/>
              <a:ext cx="424602" cy="48578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11" name="Rectangle 10">
              <a:extLst>
                <a:ext uri="{FF2B5EF4-FFF2-40B4-BE49-F238E27FC236}">
                  <a16:creationId xmlns:a16="http://schemas.microsoft.com/office/drawing/2014/main" id="{C4CBD544-333A-074F-AA3D-8D3A1927A060}"/>
                </a:ext>
              </a:extLst>
            </p:cNvPr>
            <p:cNvSpPr/>
            <p:nvPr/>
          </p:nvSpPr>
          <p:spPr>
            <a:xfrm>
              <a:off x="3181484" y="4024896"/>
              <a:ext cx="424602" cy="48578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12" name="Rectangle 11">
              <a:extLst>
                <a:ext uri="{FF2B5EF4-FFF2-40B4-BE49-F238E27FC236}">
                  <a16:creationId xmlns:a16="http://schemas.microsoft.com/office/drawing/2014/main" id="{7C91257A-6B36-684B-9F2A-30ED28216C3A}"/>
                </a:ext>
              </a:extLst>
            </p:cNvPr>
            <p:cNvSpPr/>
            <p:nvPr/>
          </p:nvSpPr>
          <p:spPr>
            <a:xfrm>
              <a:off x="1912133" y="4024896"/>
              <a:ext cx="424602" cy="4857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sz="1200"/>
            </a:p>
          </p:txBody>
        </p:sp>
        <p:sp>
          <p:nvSpPr>
            <p:cNvPr id="13" name="Rectangle 12">
              <a:extLst>
                <a:ext uri="{FF2B5EF4-FFF2-40B4-BE49-F238E27FC236}">
                  <a16:creationId xmlns:a16="http://schemas.microsoft.com/office/drawing/2014/main" id="{5B734A67-BF23-E940-9759-E69237581315}"/>
                </a:ext>
              </a:extLst>
            </p:cNvPr>
            <p:cNvSpPr/>
            <p:nvPr/>
          </p:nvSpPr>
          <p:spPr>
            <a:xfrm>
              <a:off x="6157160" y="4024896"/>
              <a:ext cx="424602" cy="48578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14" name="Rectangle 13">
              <a:extLst>
                <a:ext uri="{FF2B5EF4-FFF2-40B4-BE49-F238E27FC236}">
                  <a16:creationId xmlns:a16="http://schemas.microsoft.com/office/drawing/2014/main" id="{9BBE8CA2-A056-2943-B0B0-745CCC1AD660}"/>
                </a:ext>
              </a:extLst>
            </p:cNvPr>
            <p:cNvSpPr/>
            <p:nvPr/>
          </p:nvSpPr>
          <p:spPr>
            <a:xfrm>
              <a:off x="7401954" y="4024896"/>
              <a:ext cx="424602" cy="48578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15" name="Rectangle 14">
              <a:extLst>
                <a:ext uri="{FF2B5EF4-FFF2-40B4-BE49-F238E27FC236}">
                  <a16:creationId xmlns:a16="http://schemas.microsoft.com/office/drawing/2014/main" id="{BD55FCB7-73F5-C94E-8263-32B919E4FEBC}"/>
                </a:ext>
              </a:extLst>
            </p:cNvPr>
            <p:cNvSpPr/>
            <p:nvPr/>
          </p:nvSpPr>
          <p:spPr>
            <a:xfrm>
              <a:off x="7826556" y="4024896"/>
              <a:ext cx="424602" cy="48578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16" name="Rectangle 15">
              <a:extLst>
                <a:ext uri="{FF2B5EF4-FFF2-40B4-BE49-F238E27FC236}">
                  <a16:creationId xmlns:a16="http://schemas.microsoft.com/office/drawing/2014/main" id="{695948A0-05FB-1146-BE60-F3D7CDD91880}"/>
                </a:ext>
              </a:extLst>
            </p:cNvPr>
            <p:cNvSpPr/>
            <p:nvPr/>
          </p:nvSpPr>
          <p:spPr>
            <a:xfrm>
              <a:off x="8251158" y="4024896"/>
              <a:ext cx="424602" cy="48578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17" name="Rectangle 16">
              <a:extLst>
                <a:ext uri="{FF2B5EF4-FFF2-40B4-BE49-F238E27FC236}">
                  <a16:creationId xmlns:a16="http://schemas.microsoft.com/office/drawing/2014/main" id="{4484B6E2-AFBB-F340-BC46-EC78CFAD850C}"/>
                </a:ext>
              </a:extLst>
            </p:cNvPr>
            <p:cNvSpPr/>
            <p:nvPr/>
          </p:nvSpPr>
          <p:spPr>
            <a:xfrm>
              <a:off x="4879378" y="4024896"/>
              <a:ext cx="424602" cy="48578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18" name="Rectangle 17">
              <a:extLst>
                <a:ext uri="{FF2B5EF4-FFF2-40B4-BE49-F238E27FC236}">
                  <a16:creationId xmlns:a16="http://schemas.microsoft.com/office/drawing/2014/main" id="{A7FD8DC9-2297-DD4C-A7A5-FD1996915DF4}"/>
                </a:ext>
              </a:extLst>
            </p:cNvPr>
            <p:cNvSpPr/>
            <p:nvPr/>
          </p:nvSpPr>
          <p:spPr>
            <a:xfrm>
              <a:off x="5728582" y="4024896"/>
              <a:ext cx="424602" cy="48578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19" name="TextBox 18">
              <a:extLst>
                <a:ext uri="{FF2B5EF4-FFF2-40B4-BE49-F238E27FC236}">
                  <a16:creationId xmlns:a16="http://schemas.microsoft.com/office/drawing/2014/main" id="{3A5B879B-A8BD-F04B-ADB8-5B3BAA53A995}"/>
                </a:ext>
              </a:extLst>
            </p:cNvPr>
            <p:cNvSpPr txBox="1"/>
            <p:nvPr/>
          </p:nvSpPr>
          <p:spPr>
            <a:xfrm>
              <a:off x="6741237" y="4018081"/>
              <a:ext cx="504804" cy="457847"/>
            </a:xfrm>
            <a:prstGeom prst="rect">
              <a:avLst/>
            </a:prstGeom>
            <a:noFill/>
          </p:spPr>
          <p:txBody>
            <a:bodyPr wrap="none" rtlCol="0">
              <a:spAutoFit/>
            </a:bodyPr>
            <a:lstStyle/>
            <a:p>
              <a:r>
                <a:rPr lang="en-US" altLang="zh-CN" sz="2000" b="1" dirty="0"/>
                <a:t>…</a:t>
              </a:r>
              <a:endParaRPr lang="en-CN" sz="2000" b="1" dirty="0"/>
            </a:p>
          </p:txBody>
        </p:sp>
        <p:sp>
          <p:nvSpPr>
            <p:cNvPr id="20" name="Right Brace 19">
              <a:extLst>
                <a:ext uri="{FF2B5EF4-FFF2-40B4-BE49-F238E27FC236}">
                  <a16:creationId xmlns:a16="http://schemas.microsoft.com/office/drawing/2014/main" id="{00D644A9-A1A5-2B47-8078-1D202792BAA8}"/>
                </a:ext>
              </a:extLst>
            </p:cNvPr>
            <p:cNvSpPr/>
            <p:nvPr/>
          </p:nvSpPr>
          <p:spPr>
            <a:xfrm rot="5400000">
              <a:off x="4716599" y="3457517"/>
              <a:ext cx="311115" cy="2538755"/>
            </a:xfrm>
            <a:prstGeom prst="rightBrace">
              <a:avLst>
                <a:gd name="adj1" fmla="val 34720"/>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sz="1200"/>
            </a:p>
          </p:txBody>
        </p:sp>
        <p:sp>
          <p:nvSpPr>
            <p:cNvPr id="21" name="Right Brace 20">
              <a:extLst>
                <a:ext uri="{FF2B5EF4-FFF2-40B4-BE49-F238E27FC236}">
                  <a16:creationId xmlns:a16="http://schemas.microsoft.com/office/drawing/2014/main" id="{D1FF28BF-F60B-BD4C-B9F3-C8B8D7B3AD80}"/>
                </a:ext>
              </a:extLst>
            </p:cNvPr>
            <p:cNvSpPr/>
            <p:nvPr/>
          </p:nvSpPr>
          <p:spPr>
            <a:xfrm rot="5400000">
              <a:off x="7258407" y="3470091"/>
              <a:ext cx="311115" cy="2513612"/>
            </a:xfrm>
            <a:prstGeom prst="rightBrace">
              <a:avLst>
                <a:gd name="adj1" fmla="val 34720"/>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sz="1200"/>
            </a:p>
          </p:txBody>
        </p:sp>
        <p:sp>
          <p:nvSpPr>
            <p:cNvPr id="22" name="TextBox 21">
              <a:extLst>
                <a:ext uri="{FF2B5EF4-FFF2-40B4-BE49-F238E27FC236}">
                  <a16:creationId xmlns:a16="http://schemas.microsoft.com/office/drawing/2014/main" id="{77A9BFB7-F494-D543-990A-B9927C571990}"/>
                </a:ext>
              </a:extLst>
            </p:cNvPr>
            <p:cNvSpPr txBox="1"/>
            <p:nvPr/>
          </p:nvSpPr>
          <p:spPr>
            <a:xfrm>
              <a:off x="4513645" y="4879512"/>
              <a:ext cx="814805" cy="316971"/>
            </a:xfrm>
            <a:prstGeom prst="rect">
              <a:avLst/>
            </a:prstGeom>
            <a:noFill/>
          </p:spPr>
          <p:txBody>
            <a:bodyPr wrap="none" rtlCol="0">
              <a:spAutoFit/>
            </a:bodyPr>
            <a:lstStyle/>
            <a:p>
              <a:r>
                <a:rPr lang="en-US" altLang="zh-CN" sz="1200" dirty="0" err="1"/>
                <a:t>inode</a:t>
              </a:r>
              <a:r>
                <a:rPr lang="zh-CN" altLang="en-US" sz="1200" dirty="0"/>
                <a:t>表</a:t>
              </a:r>
              <a:endParaRPr lang="en-CN" sz="1200" dirty="0"/>
            </a:p>
          </p:txBody>
        </p:sp>
        <p:sp>
          <p:nvSpPr>
            <p:cNvPr id="24" name="TextBox 23">
              <a:extLst>
                <a:ext uri="{FF2B5EF4-FFF2-40B4-BE49-F238E27FC236}">
                  <a16:creationId xmlns:a16="http://schemas.microsoft.com/office/drawing/2014/main" id="{810E7FA6-FBB0-A74A-9381-81071EAA0D80}"/>
                </a:ext>
              </a:extLst>
            </p:cNvPr>
            <p:cNvSpPr txBox="1"/>
            <p:nvPr/>
          </p:nvSpPr>
          <p:spPr>
            <a:xfrm>
              <a:off x="1571562" y="4906365"/>
              <a:ext cx="1166995" cy="316971"/>
            </a:xfrm>
            <a:prstGeom prst="rect">
              <a:avLst/>
            </a:prstGeom>
            <a:noFill/>
          </p:spPr>
          <p:txBody>
            <a:bodyPr wrap="none" rtlCol="0">
              <a:spAutoFit/>
            </a:bodyPr>
            <a:lstStyle/>
            <a:p>
              <a:r>
                <a:rPr lang="en-US" altLang="zh-CN" sz="1200" dirty="0" err="1"/>
                <a:t>inode</a:t>
              </a:r>
              <a:r>
                <a:rPr lang="zh-CN" altLang="en-US" sz="1200" dirty="0"/>
                <a:t>分配表</a:t>
              </a:r>
              <a:endParaRPr lang="en-CN" sz="1200" dirty="0"/>
            </a:p>
          </p:txBody>
        </p:sp>
        <p:sp>
          <p:nvSpPr>
            <p:cNvPr id="25" name="TextBox 24">
              <a:extLst>
                <a:ext uri="{FF2B5EF4-FFF2-40B4-BE49-F238E27FC236}">
                  <a16:creationId xmlns:a16="http://schemas.microsoft.com/office/drawing/2014/main" id="{B72A9424-A12F-B349-916C-EE54A72413D2}"/>
                </a:ext>
              </a:extLst>
            </p:cNvPr>
            <p:cNvSpPr txBox="1"/>
            <p:nvPr/>
          </p:nvSpPr>
          <p:spPr>
            <a:xfrm>
              <a:off x="2812815" y="4902439"/>
              <a:ext cx="915692" cy="316971"/>
            </a:xfrm>
            <a:prstGeom prst="rect">
              <a:avLst/>
            </a:prstGeom>
            <a:noFill/>
          </p:spPr>
          <p:txBody>
            <a:bodyPr wrap="none" rtlCol="0">
              <a:spAutoFit/>
            </a:bodyPr>
            <a:lstStyle/>
            <a:p>
              <a:r>
                <a:rPr lang="zh-CN" altLang="en-US" sz="1200" dirty="0"/>
                <a:t>块分配表</a:t>
              </a:r>
              <a:endParaRPr lang="en-CN" sz="1200" dirty="0"/>
            </a:p>
          </p:txBody>
        </p:sp>
        <p:sp>
          <p:nvSpPr>
            <p:cNvPr id="26" name="Right Brace 25">
              <a:extLst>
                <a:ext uri="{FF2B5EF4-FFF2-40B4-BE49-F238E27FC236}">
                  <a16:creationId xmlns:a16="http://schemas.microsoft.com/office/drawing/2014/main" id="{02ADD920-2F31-A845-B20E-CFA8B31CCD25}"/>
                </a:ext>
              </a:extLst>
            </p:cNvPr>
            <p:cNvSpPr/>
            <p:nvPr/>
          </p:nvSpPr>
          <p:spPr>
            <a:xfrm rot="5400000">
              <a:off x="3023698" y="4314434"/>
              <a:ext cx="311115" cy="844749"/>
            </a:xfrm>
            <a:prstGeom prst="rightBrace">
              <a:avLst>
                <a:gd name="adj1" fmla="val 34720"/>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sz="1200"/>
            </a:p>
          </p:txBody>
        </p:sp>
        <p:sp>
          <p:nvSpPr>
            <p:cNvPr id="27" name="Right Brace 26">
              <a:extLst>
                <a:ext uri="{FF2B5EF4-FFF2-40B4-BE49-F238E27FC236}">
                  <a16:creationId xmlns:a16="http://schemas.microsoft.com/office/drawing/2014/main" id="{42170C4B-A7F9-7644-AFEA-7A74426C2792}"/>
                </a:ext>
              </a:extLst>
            </p:cNvPr>
            <p:cNvSpPr/>
            <p:nvPr/>
          </p:nvSpPr>
          <p:spPr>
            <a:xfrm rot="5400000">
              <a:off x="2385081" y="4521450"/>
              <a:ext cx="311115" cy="424603"/>
            </a:xfrm>
            <a:prstGeom prst="rightBrace">
              <a:avLst>
                <a:gd name="adj1" fmla="val 34720"/>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sz="1200"/>
            </a:p>
          </p:txBody>
        </p:sp>
        <p:sp>
          <p:nvSpPr>
            <p:cNvPr id="28" name="TextBox 27">
              <a:extLst>
                <a:ext uri="{FF2B5EF4-FFF2-40B4-BE49-F238E27FC236}">
                  <a16:creationId xmlns:a16="http://schemas.microsoft.com/office/drawing/2014/main" id="{1D9D78A7-A1B1-994F-918A-6478D76209D1}"/>
                </a:ext>
              </a:extLst>
            </p:cNvPr>
            <p:cNvSpPr txBox="1"/>
            <p:nvPr/>
          </p:nvSpPr>
          <p:spPr>
            <a:xfrm>
              <a:off x="7045171" y="4880710"/>
              <a:ext cx="739598" cy="316971"/>
            </a:xfrm>
            <a:prstGeom prst="rect">
              <a:avLst/>
            </a:prstGeom>
            <a:noFill/>
          </p:spPr>
          <p:txBody>
            <a:bodyPr wrap="none" rtlCol="0">
              <a:spAutoFit/>
            </a:bodyPr>
            <a:lstStyle/>
            <a:p>
              <a:r>
                <a:rPr lang="zh-CN" altLang="en-US" sz="1200" dirty="0"/>
                <a:t>数据区</a:t>
              </a:r>
              <a:endParaRPr lang="en-CN" sz="1200" dirty="0"/>
            </a:p>
          </p:txBody>
        </p:sp>
        <p:sp>
          <p:nvSpPr>
            <p:cNvPr id="29" name="Right Brace 28">
              <a:extLst>
                <a:ext uri="{FF2B5EF4-FFF2-40B4-BE49-F238E27FC236}">
                  <a16:creationId xmlns:a16="http://schemas.microsoft.com/office/drawing/2014/main" id="{96AD9D6A-8D90-3543-877B-EED2E6268611}"/>
                </a:ext>
              </a:extLst>
            </p:cNvPr>
            <p:cNvSpPr/>
            <p:nvPr/>
          </p:nvSpPr>
          <p:spPr>
            <a:xfrm rot="5400000" flipH="1">
              <a:off x="1980015" y="3661361"/>
              <a:ext cx="302764" cy="410675"/>
            </a:xfrm>
            <a:prstGeom prst="rightBrace">
              <a:avLst>
                <a:gd name="adj1" fmla="val 34720"/>
                <a:gd name="adj2" fmla="val 44902"/>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sz="1200"/>
            </a:p>
          </p:txBody>
        </p:sp>
        <p:sp>
          <p:nvSpPr>
            <p:cNvPr id="30" name="TextBox 29">
              <a:extLst>
                <a:ext uri="{FF2B5EF4-FFF2-40B4-BE49-F238E27FC236}">
                  <a16:creationId xmlns:a16="http://schemas.microsoft.com/office/drawing/2014/main" id="{6A090BF7-0548-C745-817C-5469BEC9F78B}"/>
                </a:ext>
              </a:extLst>
            </p:cNvPr>
            <p:cNvSpPr txBox="1"/>
            <p:nvPr/>
          </p:nvSpPr>
          <p:spPr>
            <a:xfrm>
              <a:off x="1745612" y="3338912"/>
              <a:ext cx="739598" cy="316971"/>
            </a:xfrm>
            <a:prstGeom prst="rect">
              <a:avLst/>
            </a:prstGeom>
            <a:noFill/>
          </p:spPr>
          <p:txBody>
            <a:bodyPr wrap="none" rtlCol="0">
              <a:spAutoFit/>
            </a:bodyPr>
            <a:lstStyle/>
            <a:p>
              <a:r>
                <a:rPr lang="zh-CN" altLang="en-US" sz="1200" dirty="0"/>
                <a:t>超级块</a:t>
              </a:r>
              <a:endParaRPr lang="en-CN" sz="1200" dirty="0"/>
            </a:p>
          </p:txBody>
        </p:sp>
      </p:grpSp>
      <p:sp>
        <p:nvSpPr>
          <p:cNvPr id="32" name="TextBox 31">
            <a:extLst>
              <a:ext uri="{FF2B5EF4-FFF2-40B4-BE49-F238E27FC236}">
                <a16:creationId xmlns:a16="http://schemas.microsoft.com/office/drawing/2014/main" id="{4B27FA58-91EC-124B-A804-76599B8E23B2}"/>
              </a:ext>
            </a:extLst>
          </p:cNvPr>
          <p:cNvSpPr txBox="1"/>
          <p:nvPr/>
        </p:nvSpPr>
        <p:spPr>
          <a:xfrm>
            <a:off x="5093765" y="4252505"/>
            <a:ext cx="441146" cy="400110"/>
          </a:xfrm>
          <a:prstGeom prst="rect">
            <a:avLst/>
          </a:prstGeom>
          <a:noFill/>
        </p:spPr>
        <p:txBody>
          <a:bodyPr wrap="none" rtlCol="0">
            <a:spAutoFit/>
          </a:bodyPr>
          <a:lstStyle/>
          <a:p>
            <a:r>
              <a:rPr lang="en-US" altLang="zh-CN" sz="2000" b="1" dirty="0"/>
              <a:t>…</a:t>
            </a:r>
            <a:endParaRPr lang="en-CN" sz="2000" b="1" dirty="0"/>
          </a:p>
        </p:txBody>
      </p:sp>
      <p:sp>
        <p:nvSpPr>
          <p:cNvPr id="34" name="TextBox 33">
            <a:extLst>
              <a:ext uri="{FF2B5EF4-FFF2-40B4-BE49-F238E27FC236}">
                <a16:creationId xmlns:a16="http://schemas.microsoft.com/office/drawing/2014/main" id="{214F7D1F-082B-AF41-BF3F-34CBF65EC5FC}"/>
              </a:ext>
            </a:extLst>
          </p:cNvPr>
          <p:cNvSpPr txBox="1"/>
          <p:nvPr/>
        </p:nvSpPr>
        <p:spPr>
          <a:xfrm>
            <a:off x="795647" y="2636575"/>
            <a:ext cx="646331" cy="369332"/>
          </a:xfrm>
          <a:prstGeom prst="rect">
            <a:avLst/>
          </a:prstGeom>
          <a:noFill/>
        </p:spPr>
        <p:txBody>
          <a:bodyPr wrap="none" rtlCol="0">
            <a:spAutoFit/>
          </a:bodyPr>
          <a:lstStyle/>
          <a:p>
            <a:r>
              <a:rPr lang="zh-CN" altLang="en-CN" dirty="0"/>
              <a:t>内存</a:t>
            </a:r>
            <a:endParaRPr lang="en-CN" dirty="0"/>
          </a:p>
        </p:txBody>
      </p:sp>
      <p:cxnSp>
        <p:nvCxnSpPr>
          <p:cNvPr id="36" name="Straight Connector 35">
            <a:extLst>
              <a:ext uri="{FF2B5EF4-FFF2-40B4-BE49-F238E27FC236}">
                <a16:creationId xmlns:a16="http://schemas.microsoft.com/office/drawing/2014/main" id="{2508C517-EA7D-F74B-83F4-76492BA5D24C}"/>
              </a:ext>
            </a:extLst>
          </p:cNvPr>
          <p:cNvCxnSpPr/>
          <p:nvPr/>
        </p:nvCxnSpPr>
        <p:spPr>
          <a:xfrm>
            <a:off x="557639" y="3658983"/>
            <a:ext cx="814705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0E721E4C-65E8-F945-ACA5-721EAFDE0707}"/>
              </a:ext>
            </a:extLst>
          </p:cNvPr>
          <p:cNvSpPr txBox="1"/>
          <p:nvPr/>
        </p:nvSpPr>
        <p:spPr>
          <a:xfrm>
            <a:off x="1534444" y="2185419"/>
            <a:ext cx="877163" cy="369332"/>
          </a:xfrm>
          <a:prstGeom prst="rect">
            <a:avLst/>
          </a:prstGeom>
          <a:noFill/>
        </p:spPr>
        <p:txBody>
          <a:bodyPr wrap="none" rtlCol="0">
            <a:spAutoFit/>
          </a:bodyPr>
          <a:lstStyle/>
          <a:p>
            <a:r>
              <a:rPr lang="zh-CN" altLang="en-CN" dirty="0"/>
              <a:t>超级块</a:t>
            </a:r>
            <a:endParaRPr lang="en-CN" dirty="0"/>
          </a:p>
        </p:txBody>
      </p:sp>
      <p:sp>
        <p:nvSpPr>
          <p:cNvPr id="38" name="TextBox 37">
            <a:extLst>
              <a:ext uri="{FF2B5EF4-FFF2-40B4-BE49-F238E27FC236}">
                <a16:creationId xmlns:a16="http://schemas.microsoft.com/office/drawing/2014/main" id="{BF7EB638-2BB3-1146-8F79-71FDB93F0091}"/>
              </a:ext>
            </a:extLst>
          </p:cNvPr>
          <p:cNvSpPr txBox="1"/>
          <p:nvPr/>
        </p:nvSpPr>
        <p:spPr>
          <a:xfrm>
            <a:off x="2410936" y="2258350"/>
            <a:ext cx="877163" cy="369332"/>
          </a:xfrm>
          <a:prstGeom prst="rect">
            <a:avLst/>
          </a:prstGeom>
          <a:noFill/>
        </p:spPr>
        <p:txBody>
          <a:bodyPr wrap="none" rtlCol="0">
            <a:spAutoFit/>
          </a:bodyPr>
          <a:lstStyle/>
          <a:p>
            <a:r>
              <a:rPr lang="zh-CN" altLang="en-US" dirty="0"/>
              <a:t>分配器</a:t>
            </a:r>
            <a:endParaRPr lang="en-CN" dirty="0"/>
          </a:p>
        </p:txBody>
      </p:sp>
      <p:sp>
        <p:nvSpPr>
          <p:cNvPr id="39" name="TextBox 38">
            <a:extLst>
              <a:ext uri="{FF2B5EF4-FFF2-40B4-BE49-F238E27FC236}">
                <a16:creationId xmlns:a16="http://schemas.microsoft.com/office/drawing/2014/main" id="{8E8C324C-CD45-374A-9B03-A3004A7ABA72}"/>
              </a:ext>
            </a:extLst>
          </p:cNvPr>
          <p:cNvSpPr txBox="1"/>
          <p:nvPr/>
        </p:nvSpPr>
        <p:spPr>
          <a:xfrm>
            <a:off x="5265079" y="2143427"/>
            <a:ext cx="748923" cy="369332"/>
          </a:xfrm>
          <a:prstGeom prst="rect">
            <a:avLst/>
          </a:prstGeom>
          <a:noFill/>
        </p:spPr>
        <p:txBody>
          <a:bodyPr wrap="none" rtlCol="0">
            <a:spAutoFit/>
          </a:bodyPr>
          <a:lstStyle/>
          <a:p>
            <a:r>
              <a:rPr lang="en-US" altLang="zh-CN" dirty="0" err="1"/>
              <a:t>inode</a:t>
            </a:r>
            <a:endParaRPr lang="en-CN" dirty="0"/>
          </a:p>
        </p:txBody>
      </p:sp>
      <p:sp>
        <p:nvSpPr>
          <p:cNvPr id="40" name="TextBox 39">
            <a:extLst>
              <a:ext uri="{FF2B5EF4-FFF2-40B4-BE49-F238E27FC236}">
                <a16:creationId xmlns:a16="http://schemas.microsoft.com/office/drawing/2014/main" id="{DCF0D350-D76A-7947-8BFA-37FE7AEA7712}"/>
              </a:ext>
            </a:extLst>
          </p:cNvPr>
          <p:cNvSpPr txBox="1"/>
          <p:nvPr/>
        </p:nvSpPr>
        <p:spPr>
          <a:xfrm>
            <a:off x="3805796" y="1364676"/>
            <a:ext cx="886781" cy="369332"/>
          </a:xfrm>
          <a:prstGeom prst="rect">
            <a:avLst/>
          </a:prstGeom>
          <a:noFill/>
        </p:spPr>
        <p:txBody>
          <a:bodyPr wrap="none" rtlCol="0">
            <a:spAutoFit/>
          </a:bodyPr>
          <a:lstStyle/>
          <a:p>
            <a:r>
              <a:rPr lang="zh-CN" altLang="en-US" dirty="0"/>
              <a:t>目录项</a:t>
            </a:r>
            <a:endParaRPr lang="en-CN" dirty="0"/>
          </a:p>
        </p:txBody>
      </p:sp>
      <p:sp>
        <p:nvSpPr>
          <p:cNvPr id="41" name="Rectangle 40">
            <a:extLst>
              <a:ext uri="{FF2B5EF4-FFF2-40B4-BE49-F238E27FC236}">
                <a16:creationId xmlns:a16="http://schemas.microsoft.com/office/drawing/2014/main" id="{BA0776DC-5AE5-9844-B413-3288129952A1}"/>
              </a:ext>
            </a:extLst>
          </p:cNvPr>
          <p:cNvSpPr/>
          <p:nvPr/>
        </p:nvSpPr>
        <p:spPr>
          <a:xfrm>
            <a:off x="1852687" y="2679581"/>
            <a:ext cx="371058" cy="33187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42" name="Rectangle 41">
            <a:extLst>
              <a:ext uri="{FF2B5EF4-FFF2-40B4-BE49-F238E27FC236}">
                <a16:creationId xmlns:a16="http://schemas.microsoft.com/office/drawing/2014/main" id="{7A9E6583-964C-F945-B5AD-11B26A092B9B}"/>
              </a:ext>
            </a:extLst>
          </p:cNvPr>
          <p:cNvSpPr/>
          <p:nvPr/>
        </p:nvSpPr>
        <p:spPr>
          <a:xfrm>
            <a:off x="2687470" y="2764630"/>
            <a:ext cx="483353" cy="55285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43" name="Rectangle 42">
            <a:extLst>
              <a:ext uri="{FF2B5EF4-FFF2-40B4-BE49-F238E27FC236}">
                <a16:creationId xmlns:a16="http://schemas.microsoft.com/office/drawing/2014/main" id="{281E531A-D3C4-6742-AA51-5E576500DA5D}"/>
              </a:ext>
            </a:extLst>
          </p:cNvPr>
          <p:cNvSpPr/>
          <p:nvPr/>
        </p:nvSpPr>
        <p:spPr>
          <a:xfrm>
            <a:off x="4248033" y="3083379"/>
            <a:ext cx="605950" cy="19067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44" name="Rectangle 43">
            <a:extLst>
              <a:ext uri="{FF2B5EF4-FFF2-40B4-BE49-F238E27FC236}">
                <a16:creationId xmlns:a16="http://schemas.microsoft.com/office/drawing/2014/main" id="{B2942EAF-E025-0E46-9DDD-460252D83576}"/>
              </a:ext>
            </a:extLst>
          </p:cNvPr>
          <p:cNvSpPr/>
          <p:nvPr/>
        </p:nvSpPr>
        <p:spPr>
          <a:xfrm>
            <a:off x="5295346" y="2548225"/>
            <a:ext cx="492457" cy="8815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grpSp>
        <p:nvGrpSpPr>
          <p:cNvPr id="51" name="Group 50">
            <a:extLst>
              <a:ext uri="{FF2B5EF4-FFF2-40B4-BE49-F238E27FC236}">
                <a16:creationId xmlns:a16="http://schemas.microsoft.com/office/drawing/2014/main" id="{8B971AFB-87D3-CC43-8E4C-93D60D3DB275}"/>
              </a:ext>
            </a:extLst>
          </p:cNvPr>
          <p:cNvGrpSpPr/>
          <p:nvPr/>
        </p:nvGrpSpPr>
        <p:grpSpPr>
          <a:xfrm>
            <a:off x="6169416" y="2857045"/>
            <a:ext cx="408273" cy="550295"/>
            <a:chOff x="5930406" y="2352287"/>
            <a:chExt cx="585810" cy="789591"/>
          </a:xfrm>
        </p:grpSpPr>
        <p:sp>
          <p:nvSpPr>
            <p:cNvPr id="45" name="Rectangle 44">
              <a:extLst>
                <a:ext uri="{FF2B5EF4-FFF2-40B4-BE49-F238E27FC236}">
                  <a16:creationId xmlns:a16="http://schemas.microsoft.com/office/drawing/2014/main" id="{759644E6-2C5E-6241-8CAD-865CAAF8860E}"/>
                </a:ext>
              </a:extLst>
            </p:cNvPr>
            <p:cNvSpPr/>
            <p:nvPr/>
          </p:nvSpPr>
          <p:spPr>
            <a:xfrm>
              <a:off x="5930406" y="2352287"/>
              <a:ext cx="585810" cy="15971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46" name="Rectangle 45">
              <a:extLst>
                <a:ext uri="{FF2B5EF4-FFF2-40B4-BE49-F238E27FC236}">
                  <a16:creationId xmlns:a16="http://schemas.microsoft.com/office/drawing/2014/main" id="{941964A8-441D-8C41-B224-D88882FD438B}"/>
                </a:ext>
              </a:extLst>
            </p:cNvPr>
            <p:cNvSpPr/>
            <p:nvPr/>
          </p:nvSpPr>
          <p:spPr>
            <a:xfrm>
              <a:off x="5930406" y="2515524"/>
              <a:ext cx="585810" cy="15971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47" name="Rectangle 46">
              <a:extLst>
                <a:ext uri="{FF2B5EF4-FFF2-40B4-BE49-F238E27FC236}">
                  <a16:creationId xmlns:a16="http://schemas.microsoft.com/office/drawing/2014/main" id="{E2BE0D5F-3EEA-924F-82EB-A6AC46FEFEF0}"/>
                </a:ext>
              </a:extLst>
            </p:cNvPr>
            <p:cNvSpPr/>
            <p:nvPr/>
          </p:nvSpPr>
          <p:spPr>
            <a:xfrm>
              <a:off x="5930406" y="2675241"/>
              <a:ext cx="585810" cy="15971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48" name="Rectangle 47">
              <a:extLst>
                <a:ext uri="{FF2B5EF4-FFF2-40B4-BE49-F238E27FC236}">
                  <a16:creationId xmlns:a16="http://schemas.microsoft.com/office/drawing/2014/main" id="{6DD18F05-9B6A-E249-93BD-0FF7C31F8745}"/>
                </a:ext>
              </a:extLst>
            </p:cNvPr>
            <p:cNvSpPr/>
            <p:nvPr/>
          </p:nvSpPr>
          <p:spPr>
            <a:xfrm>
              <a:off x="5930406" y="2818924"/>
              <a:ext cx="585810" cy="15971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49" name="Rectangle 48">
              <a:extLst>
                <a:ext uri="{FF2B5EF4-FFF2-40B4-BE49-F238E27FC236}">
                  <a16:creationId xmlns:a16="http://schemas.microsoft.com/office/drawing/2014/main" id="{E7A36BA6-BCD5-4643-B992-1A66BE6204F3}"/>
                </a:ext>
              </a:extLst>
            </p:cNvPr>
            <p:cNvSpPr/>
            <p:nvPr/>
          </p:nvSpPr>
          <p:spPr>
            <a:xfrm>
              <a:off x="5930406" y="2982161"/>
              <a:ext cx="585810" cy="15971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grpSp>
      <p:grpSp>
        <p:nvGrpSpPr>
          <p:cNvPr id="52" name="Group 51">
            <a:extLst>
              <a:ext uri="{FF2B5EF4-FFF2-40B4-BE49-F238E27FC236}">
                <a16:creationId xmlns:a16="http://schemas.microsoft.com/office/drawing/2014/main" id="{762250EE-A820-0F4A-BD00-4B0C5BE69533}"/>
              </a:ext>
            </a:extLst>
          </p:cNvPr>
          <p:cNvGrpSpPr/>
          <p:nvPr/>
        </p:nvGrpSpPr>
        <p:grpSpPr>
          <a:xfrm>
            <a:off x="6878066" y="3045431"/>
            <a:ext cx="408273" cy="550295"/>
            <a:chOff x="5930406" y="2352287"/>
            <a:chExt cx="585810" cy="789591"/>
          </a:xfrm>
        </p:grpSpPr>
        <p:sp>
          <p:nvSpPr>
            <p:cNvPr id="53" name="Rectangle 52">
              <a:extLst>
                <a:ext uri="{FF2B5EF4-FFF2-40B4-BE49-F238E27FC236}">
                  <a16:creationId xmlns:a16="http://schemas.microsoft.com/office/drawing/2014/main" id="{D3AC2A2B-748A-6848-9B8E-49342CC65A4B}"/>
                </a:ext>
              </a:extLst>
            </p:cNvPr>
            <p:cNvSpPr/>
            <p:nvPr/>
          </p:nvSpPr>
          <p:spPr>
            <a:xfrm>
              <a:off x="5930406" y="2352287"/>
              <a:ext cx="585810" cy="15971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54" name="Rectangle 53">
              <a:extLst>
                <a:ext uri="{FF2B5EF4-FFF2-40B4-BE49-F238E27FC236}">
                  <a16:creationId xmlns:a16="http://schemas.microsoft.com/office/drawing/2014/main" id="{1AFF230A-A44E-7E4D-BCA1-FBA702A9B9CE}"/>
                </a:ext>
              </a:extLst>
            </p:cNvPr>
            <p:cNvSpPr/>
            <p:nvPr/>
          </p:nvSpPr>
          <p:spPr>
            <a:xfrm>
              <a:off x="5930406" y="2515524"/>
              <a:ext cx="585810" cy="15971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55" name="Rectangle 54">
              <a:extLst>
                <a:ext uri="{FF2B5EF4-FFF2-40B4-BE49-F238E27FC236}">
                  <a16:creationId xmlns:a16="http://schemas.microsoft.com/office/drawing/2014/main" id="{C1F7C33B-BA39-F34C-B885-EEFA0AEFEB1E}"/>
                </a:ext>
              </a:extLst>
            </p:cNvPr>
            <p:cNvSpPr/>
            <p:nvPr/>
          </p:nvSpPr>
          <p:spPr>
            <a:xfrm>
              <a:off x="5930406" y="2675241"/>
              <a:ext cx="585810" cy="15971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56" name="Rectangle 55">
              <a:extLst>
                <a:ext uri="{FF2B5EF4-FFF2-40B4-BE49-F238E27FC236}">
                  <a16:creationId xmlns:a16="http://schemas.microsoft.com/office/drawing/2014/main" id="{146251DB-A3CB-3A4A-B908-843E625D5A4D}"/>
                </a:ext>
              </a:extLst>
            </p:cNvPr>
            <p:cNvSpPr/>
            <p:nvPr/>
          </p:nvSpPr>
          <p:spPr>
            <a:xfrm>
              <a:off x="5930406" y="2818924"/>
              <a:ext cx="585810" cy="15971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57" name="Rectangle 56">
              <a:extLst>
                <a:ext uri="{FF2B5EF4-FFF2-40B4-BE49-F238E27FC236}">
                  <a16:creationId xmlns:a16="http://schemas.microsoft.com/office/drawing/2014/main" id="{DD441771-933A-504F-84D8-7530C2A8BAFC}"/>
                </a:ext>
              </a:extLst>
            </p:cNvPr>
            <p:cNvSpPr/>
            <p:nvPr/>
          </p:nvSpPr>
          <p:spPr>
            <a:xfrm>
              <a:off x="5930406" y="2982161"/>
              <a:ext cx="585810" cy="15971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grpSp>
      <p:sp>
        <p:nvSpPr>
          <p:cNvPr id="58" name="Rectangle 57">
            <a:extLst>
              <a:ext uri="{FF2B5EF4-FFF2-40B4-BE49-F238E27FC236}">
                <a16:creationId xmlns:a16="http://schemas.microsoft.com/office/drawing/2014/main" id="{A642D420-9FEE-D243-85D6-09B57E3C789F}"/>
              </a:ext>
            </a:extLst>
          </p:cNvPr>
          <p:cNvSpPr/>
          <p:nvPr/>
        </p:nvSpPr>
        <p:spPr>
          <a:xfrm>
            <a:off x="5300291" y="3158729"/>
            <a:ext cx="492457" cy="111313"/>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grpSp>
        <p:nvGrpSpPr>
          <p:cNvPr id="59" name="Group 58">
            <a:extLst>
              <a:ext uri="{FF2B5EF4-FFF2-40B4-BE49-F238E27FC236}">
                <a16:creationId xmlns:a16="http://schemas.microsoft.com/office/drawing/2014/main" id="{A63D726F-3553-A342-B70D-095AFEB27A93}"/>
              </a:ext>
            </a:extLst>
          </p:cNvPr>
          <p:cNvGrpSpPr/>
          <p:nvPr/>
        </p:nvGrpSpPr>
        <p:grpSpPr>
          <a:xfrm>
            <a:off x="6867570" y="2335804"/>
            <a:ext cx="408273" cy="550295"/>
            <a:chOff x="5930406" y="2352287"/>
            <a:chExt cx="585810" cy="789591"/>
          </a:xfrm>
        </p:grpSpPr>
        <p:sp>
          <p:nvSpPr>
            <p:cNvPr id="60" name="Rectangle 59">
              <a:extLst>
                <a:ext uri="{FF2B5EF4-FFF2-40B4-BE49-F238E27FC236}">
                  <a16:creationId xmlns:a16="http://schemas.microsoft.com/office/drawing/2014/main" id="{C2AD7656-A12B-474C-9C6F-72D38BB271EA}"/>
                </a:ext>
              </a:extLst>
            </p:cNvPr>
            <p:cNvSpPr/>
            <p:nvPr/>
          </p:nvSpPr>
          <p:spPr>
            <a:xfrm>
              <a:off x="5930406" y="2352287"/>
              <a:ext cx="585810" cy="15971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61" name="Rectangle 60">
              <a:extLst>
                <a:ext uri="{FF2B5EF4-FFF2-40B4-BE49-F238E27FC236}">
                  <a16:creationId xmlns:a16="http://schemas.microsoft.com/office/drawing/2014/main" id="{60383222-FAF1-3F4A-B7CB-D63AD6197891}"/>
                </a:ext>
              </a:extLst>
            </p:cNvPr>
            <p:cNvSpPr/>
            <p:nvPr/>
          </p:nvSpPr>
          <p:spPr>
            <a:xfrm>
              <a:off x="5930406" y="2515524"/>
              <a:ext cx="585810" cy="15971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62" name="Rectangle 61">
              <a:extLst>
                <a:ext uri="{FF2B5EF4-FFF2-40B4-BE49-F238E27FC236}">
                  <a16:creationId xmlns:a16="http://schemas.microsoft.com/office/drawing/2014/main" id="{E956416C-0655-0545-8677-E8F7C4E79E43}"/>
                </a:ext>
              </a:extLst>
            </p:cNvPr>
            <p:cNvSpPr/>
            <p:nvPr/>
          </p:nvSpPr>
          <p:spPr>
            <a:xfrm>
              <a:off x="5930406" y="2675241"/>
              <a:ext cx="585810" cy="15971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63" name="Rectangle 62">
              <a:extLst>
                <a:ext uri="{FF2B5EF4-FFF2-40B4-BE49-F238E27FC236}">
                  <a16:creationId xmlns:a16="http://schemas.microsoft.com/office/drawing/2014/main" id="{B0876EC3-4FDA-244F-B42F-E5F11ECB6DAF}"/>
                </a:ext>
              </a:extLst>
            </p:cNvPr>
            <p:cNvSpPr/>
            <p:nvPr/>
          </p:nvSpPr>
          <p:spPr>
            <a:xfrm>
              <a:off x="5930406" y="2818924"/>
              <a:ext cx="585810" cy="15971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64" name="Rectangle 63">
              <a:extLst>
                <a:ext uri="{FF2B5EF4-FFF2-40B4-BE49-F238E27FC236}">
                  <a16:creationId xmlns:a16="http://schemas.microsoft.com/office/drawing/2014/main" id="{2B4C028A-F441-F947-A0C5-CA3612983299}"/>
                </a:ext>
              </a:extLst>
            </p:cNvPr>
            <p:cNvSpPr/>
            <p:nvPr/>
          </p:nvSpPr>
          <p:spPr>
            <a:xfrm>
              <a:off x="5930406" y="2982161"/>
              <a:ext cx="585810" cy="15971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grpSp>
      <p:cxnSp>
        <p:nvCxnSpPr>
          <p:cNvPr id="66" name="Straight Arrow Connector 65">
            <a:extLst>
              <a:ext uri="{FF2B5EF4-FFF2-40B4-BE49-F238E27FC236}">
                <a16:creationId xmlns:a16="http://schemas.microsoft.com/office/drawing/2014/main" id="{948CD127-E2DC-864F-8036-C91D41654F64}"/>
              </a:ext>
            </a:extLst>
          </p:cNvPr>
          <p:cNvCxnSpPr>
            <a:stCxn id="58" idx="3"/>
            <a:endCxn id="45" idx="1"/>
          </p:cNvCxnSpPr>
          <p:nvPr/>
        </p:nvCxnSpPr>
        <p:spPr>
          <a:xfrm flipV="1">
            <a:off x="5792748" y="2912702"/>
            <a:ext cx="376668" cy="3016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CDB9FA54-E710-DB46-B392-43DDA2E419F7}"/>
              </a:ext>
            </a:extLst>
          </p:cNvPr>
          <p:cNvCxnSpPr>
            <a:cxnSpLocks/>
            <a:stCxn id="45" idx="3"/>
            <a:endCxn id="60" idx="1"/>
          </p:cNvCxnSpPr>
          <p:nvPr/>
        </p:nvCxnSpPr>
        <p:spPr>
          <a:xfrm flipV="1">
            <a:off x="6577689" y="2391461"/>
            <a:ext cx="289881" cy="5212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F4132820-73F5-F547-A227-AA748DECF172}"/>
              </a:ext>
            </a:extLst>
          </p:cNvPr>
          <p:cNvCxnSpPr>
            <a:cxnSpLocks/>
            <a:stCxn id="46" idx="3"/>
            <a:endCxn id="53" idx="1"/>
          </p:cNvCxnSpPr>
          <p:nvPr/>
        </p:nvCxnSpPr>
        <p:spPr>
          <a:xfrm>
            <a:off x="6577689" y="3026468"/>
            <a:ext cx="300377" cy="746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4" name="Rectangle 73">
            <a:extLst>
              <a:ext uri="{FF2B5EF4-FFF2-40B4-BE49-F238E27FC236}">
                <a16:creationId xmlns:a16="http://schemas.microsoft.com/office/drawing/2014/main" id="{CE1A650F-8C8D-F045-BCA4-93683ED6EC8F}"/>
              </a:ext>
            </a:extLst>
          </p:cNvPr>
          <p:cNvSpPr/>
          <p:nvPr/>
        </p:nvSpPr>
        <p:spPr>
          <a:xfrm>
            <a:off x="7610780" y="1764384"/>
            <a:ext cx="371058" cy="42452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75" name="Rectangle 74">
            <a:extLst>
              <a:ext uri="{FF2B5EF4-FFF2-40B4-BE49-F238E27FC236}">
                <a16:creationId xmlns:a16="http://schemas.microsoft.com/office/drawing/2014/main" id="{5047FBA5-8C8D-7F4D-B06F-38AF8C81D016}"/>
              </a:ext>
            </a:extLst>
          </p:cNvPr>
          <p:cNvSpPr/>
          <p:nvPr/>
        </p:nvSpPr>
        <p:spPr>
          <a:xfrm>
            <a:off x="7958864" y="2285150"/>
            <a:ext cx="371058" cy="42452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76" name="Rectangle 75">
            <a:extLst>
              <a:ext uri="{FF2B5EF4-FFF2-40B4-BE49-F238E27FC236}">
                <a16:creationId xmlns:a16="http://schemas.microsoft.com/office/drawing/2014/main" id="{26B7C9F7-DE25-2B4A-9CAF-1EC839D58B38}"/>
              </a:ext>
            </a:extLst>
          </p:cNvPr>
          <p:cNvSpPr/>
          <p:nvPr/>
        </p:nvSpPr>
        <p:spPr>
          <a:xfrm>
            <a:off x="8259231" y="2897316"/>
            <a:ext cx="371058" cy="42452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cxnSp>
        <p:nvCxnSpPr>
          <p:cNvPr id="77" name="Straight Arrow Connector 76">
            <a:extLst>
              <a:ext uri="{FF2B5EF4-FFF2-40B4-BE49-F238E27FC236}">
                <a16:creationId xmlns:a16="http://schemas.microsoft.com/office/drawing/2014/main" id="{DAF4DEA7-CF68-D440-9131-2CC4DC3402CD}"/>
              </a:ext>
            </a:extLst>
          </p:cNvPr>
          <p:cNvCxnSpPr>
            <a:cxnSpLocks/>
            <a:stCxn id="60" idx="3"/>
            <a:endCxn id="74" idx="1"/>
          </p:cNvCxnSpPr>
          <p:nvPr/>
        </p:nvCxnSpPr>
        <p:spPr>
          <a:xfrm flipV="1">
            <a:off x="7275843" y="1976645"/>
            <a:ext cx="334937" cy="4148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042BB9FE-3526-644C-A794-547205060042}"/>
              </a:ext>
            </a:extLst>
          </p:cNvPr>
          <p:cNvCxnSpPr>
            <a:cxnSpLocks/>
            <a:stCxn id="61" idx="3"/>
            <a:endCxn id="75" idx="1"/>
          </p:cNvCxnSpPr>
          <p:nvPr/>
        </p:nvCxnSpPr>
        <p:spPr>
          <a:xfrm flipV="1">
            <a:off x="7275843" y="2497411"/>
            <a:ext cx="683021" cy="78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25D59BFB-4499-5449-9589-5922C529E850}"/>
              </a:ext>
            </a:extLst>
          </p:cNvPr>
          <p:cNvCxnSpPr>
            <a:cxnSpLocks/>
            <a:stCxn id="62" idx="3"/>
            <a:endCxn id="76" idx="1"/>
          </p:cNvCxnSpPr>
          <p:nvPr/>
        </p:nvCxnSpPr>
        <p:spPr>
          <a:xfrm>
            <a:off x="7275843" y="2616540"/>
            <a:ext cx="983388" cy="4930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AE7BFD1C-C0CD-CE41-90A2-EA0B08283319}"/>
              </a:ext>
            </a:extLst>
          </p:cNvPr>
          <p:cNvSpPr txBox="1"/>
          <p:nvPr/>
        </p:nvSpPr>
        <p:spPr>
          <a:xfrm>
            <a:off x="7112113" y="1236279"/>
            <a:ext cx="1454244" cy="369332"/>
          </a:xfrm>
          <a:prstGeom prst="rect">
            <a:avLst/>
          </a:prstGeom>
          <a:noFill/>
        </p:spPr>
        <p:txBody>
          <a:bodyPr wrap="none" rtlCol="0">
            <a:spAutoFit/>
          </a:bodyPr>
          <a:lstStyle/>
          <a:p>
            <a:r>
              <a:rPr lang="en-US" dirty="0">
                <a:solidFill>
                  <a:srgbClr val="C00000"/>
                </a:solidFill>
              </a:rPr>
              <a:t>Page Cache</a:t>
            </a:r>
            <a:endParaRPr lang="en-CN" dirty="0">
              <a:solidFill>
                <a:srgbClr val="C00000"/>
              </a:solidFill>
            </a:endParaRPr>
          </a:p>
        </p:txBody>
      </p:sp>
      <p:cxnSp>
        <p:nvCxnSpPr>
          <p:cNvPr id="87" name="Straight Arrow Connector 86">
            <a:extLst>
              <a:ext uri="{FF2B5EF4-FFF2-40B4-BE49-F238E27FC236}">
                <a16:creationId xmlns:a16="http://schemas.microsoft.com/office/drawing/2014/main" id="{093ECBAF-888D-E843-8273-657450D01F05}"/>
              </a:ext>
            </a:extLst>
          </p:cNvPr>
          <p:cNvCxnSpPr>
            <a:cxnSpLocks/>
            <a:stCxn id="42" idx="2"/>
            <a:endCxn id="9" idx="0"/>
          </p:cNvCxnSpPr>
          <p:nvPr/>
        </p:nvCxnSpPr>
        <p:spPr>
          <a:xfrm flipH="1">
            <a:off x="2671241" y="3317486"/>
            <a:ext cx="257906" cy="940975"/>
          </a:xfrm>
          <a:prstGeom prst="straightConnector1">
            <a:avLst/>
          </a:prstGeom>
          <a:ln w="19050">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88B511A3-30B0-CF49-BB0D-B5405E5C6FA3}"/>
              </a:ext>
            </a:extLst>
          </p:cNvPr>
          <p:cNvCxnSpPr>
            <a:cxnSpLocks/>
            <a:stCxn id="44" idx="2"/>
            <a:endCxn id="7" idx="0"/>
          </p:cNvCxnSpPr>
          <p:nvPr/>
        </p:nvCxnSpPr>
        <p:spPr>
          <a:xfrm flipH="1">
            <a:off x="4151579" y="3429756"/>
            <a:ext cx="1389996" cy="828705"/>
          </a:xfrm>
          <a:prstGeom prst="straightConnector1">
            <a:avLst/>
          </a:prstGeom>
          <a:ln w="19050">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37FFE852-5510-3A42-AE59-6C4B9ED28264}"/>
              </a:ext>
            </a:extLst>
          </p:cNvPr>
          <p:cNvCxnSpPr>
            <a:cxnSpLocks/>
            <a:stCxn id="74" idx="2"/>
            <a:endCxn id="14" idx="0"/>
          </p:cNvCxnSpPr>
          <p:nvPr/>
        </p:nvCxnSpPr>
        <p:spPr>
          <a:xfrm flipH="1">
            <a:off x="7101605" y="2188906"/>
            <a:ext cx="694704" cy="2069555"/>
          </a:xfrm>
          <a:prstGeom prst="straightConnector1">
            <a:avLst/>
          </a:prstGeom>
          <a:ln w="19050">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74D5ADE7-5CEE-884E-A8F3-7FFFEF63D567}"/>
              </a:ext>
            </a:extLst>
          </p:cNvPr>
          <p:cNvCxnSpPr>
            <a:cxnSpLocks/>
            <a:stCxn id="75" idx="2"/>
            <a:endCxn id="15" idx="0"/>
          </p:cNvCxnSpPr>
          <p:nvPr/>
        </p:nvCxnSpPr>
        <p:spPr>
          <a:xfrm flipH="1">
            <a:off x="7472663" y="2709672"/>
            <a:ext cx="671730" cy="1548789"/>
          </a:xfrm>
          <a:prstGeom prst="straightConnector1">
            <a:avLst/>
          </a:prstGeom>
          <a:ln w="19050">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4DBCB81C-63F9-A04A-AEB6-3F4CBA2FAC76}"/>
              </a:ext>
            </a:extLst>
          </p:cNvPr>
          <p:cNvCxnSpPr>
            <a:cxnSpLocks/>
            <a:stCxn id="76" idx="2"/>
            <a:endCxn id="16" idx="0"/>
          </p:cNvCxnSpPr>
          <p:nvPr/>
        </p:nvCxnSpPr>
        <p:spPr>
          <a:xfrm flipH="1">
            <a:off x="7843720" y="3321838"/>
            <a:ext cx="601040" cy="936623"/>
          </a:xfrm>
          <a:prstGeom prst="straightConnector1">
            <a:avLst/>
          </a:prstGeom>
          <a:ln w="19050">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8C21176C-5182-A14D-A0EA-0F871BA11D79}"/>
              </a:ext>
            </a:extLst>
          </p:cNvPr>
          <p:cNvCxnSpPr>
            <a:cxnSpLocks/>
            <a:stCxn id="41" idx="2"/>
            <a:endCxn id="12" idx="0"/>
          </p:cNvCxnSpPr>
          <p:nvPr/>
        </p:nvCxnSpPr>
        <p:spPr>
          <a:xfrm>
            <a:off x="2038216" y="3011460"/>
            <a:ext cx="265861" cy="1247001"/>
          </a:xfrm>
          <a:prstGeom prst="straightConnector1">
            <a:avLst/>
          </a:prstGeom>
          <a:ln w="19050">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47F16F56-9BB9-CA43-898E-AAEC532977CD}"/>
              </a:ext>
            </a:extLst>
          </p:cNvPr>
          <p:cNvCxnSpPr>
            <a:cxnSpLocks/>
            <a:stCxn id="43" idx="3"/>
          </p:cNvCxnSpPr>
          <p:nvPr/>
        </p:nvCxnSpPr>
        <p:spPr>
          <a:xfrm flipV="1">
            <a:off x="4853983" y="2679581"/>
            <a:ext cx="446308" cy="4991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4" name="Rectangle 113">
            <a:extLst>
              <a:ext uri="{FF2B5EF4-FFF2-40B4-BE49-F238E27FC236}">
                <a16:creationId xmlns:a16="http://schemas.microsoft.com/office/drawing/2014/main" id="{206E43D5-FE1F-1C4E-B716-A031C7E6CEE3}"/>
              </a:ext>
            </a:extLst>
          </p:cNvPr>
          <p:cNvSpPr/>
          <p:nvPr/>
        </p:nvSpPr>
        <p:spPr>
          <a:xfrm>
            <a:off x="3812472" y="1869882"/>
            <a:ext cx="605950" cy="19067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115" name="Rectangle 114">
            <a:extLst>
              <a:ext uri="{FF2B5EF4-FFF2-40B4-BE49-F238E27FC236}">
                <a16:creationId xmlns:a16="http://schemas.microsoft.com/office/drawing/2014/main" id="{46A9B613-7BDE-B64C-9878-084C66B0A8CA}"/>
              </a:ext>
            </a:extLst>
          </p:cNvPr>
          <p:cNvSpPr/>
          <p:nvPr/>
        </p:nvSpPr>
        <p:spPr>
          <a:xfrm>
            <a:off x="3643236" y="2299179"/>
            <a:ext cx="605950" cy="19067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116" name="Rectangle 115">
            <a:extLst>
              <a:ext uri="{FF2B5EF4-FFF2-40B4-BE49-F238E27FC236}">
                <a16:creationId xmlns:a16="http://schemas.microsoft.com/office/drawing/2014/main" id="{8ECB0CBC-4BBE-D44A-A5B7-525FFEF63483}"/>
              </a:ext>
            </a:extLst>
          </p:cNvPr>
          <p:cNvSpPr/>
          <p:nvPr/>
        </p:nvSpPr>
        <p:spPr>
          <a:xfrm>
            <a:off x="4354614" y="2293310"/>
            <a:ext cx="605950" cy="19067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cxnSp>
        <p:nvCxnSpPr>
          <p:cNvPr id="117" name="Straight Arrow Connector 116">
            <a:extLst>
              <a:ext uri="{FF2B5EF4-FFF2-40B4-BE49-F238E27FC236}">
                <a16:creationId xmlns:a16="http://schemas.microsoft.com/office/drawing/2014/main" id="{E28A98DA-B365-FB43-8E97-A532C368AAA7}"/>
              </a:ext>
            </a:extLst>
          </p:cNvPr>
          <p:cNvCxnSpPr>
            <a:cxnSpLocks/>
            <a:stCxn id="114" idx="2"/>
            <a:endCxn id="115" idx="0"/>
          </p:cNvCxnSpPr>
          <p:nvPr/>
        </p:nvCxnSpPr>
        <p:spPr>
          <a:xfrm flipH="1">
            <a:off x="3946211" y="2060561"/>
            <a:ext cx="169236" cy="2386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3BEBFBC1-D0F9-A842-8BED-12C95184B5C2}"/>
              </a:ext>
            </a:extLst>
          </p:cNvPr>
          <p:cNvCxnSpPr>
            <a:cxnSpLocks/>
            <a:stCxn id="114" idx="2"/>
            <a:endCxn id="116" idx="0"/>
          </p:cNvCxnSpPr>
          <p:nvPr/>
        </p:nvCxnSpPr>
        <p:spPr>
          <a:xfrm>
            <a:off x="4115447" y="2060561"/>
            <a:ext cx="542142" cy="2327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3" name="Straight Arrow Connector 122">
            <a:extLst>
              <a:ext uri="{FF2B5EF4-FFF2-40B4-BE49-F238E27FC236}">
                <a16:creationId xmlns:a16="http://schemas.microsoft.com/office/drawing/2014/main" id="{CCE91487-D725-9F4C-B2A0-9F021DF477FA}"/>
              </a:ext>
            </a:extLst>
          </p:cNvPr>
          <p:cNvCxnSpPr>
            <a:cxnSpLocks/>
            <a:stCxn id="115" idx="2"/>
            <a:endCxn id="43" idx="0"/>
          </p:cNvCxnSpPr>
          <p:nvPr/>
        </p:nvCxnSpPr>
        <p:spPr>
          <a:xfrm>
            <a:off x="3946211" y="2489858"/>
            <a:ext cx="604797" cy="5935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9" name="Rectangle 128">
            <a:extLst>
              <a:ext uri="{FF2B5EF4-FFF2-40B4-BE49-F238E27FC236}">
                <a16:creationId xmlns:a16="http://schemas.microsoft.com/office/drawing/2014/main" id="{38239619-4F89-DE43-881D-18325BE82668}"/>
              </a:ext>
            </a:extLst>
          </p:cNvPr>
          <p:cNvSpPr/>
          <p:nvPr/>
        </p:nvSpPr>
        <p:spPr>
          <a:xfrm>
            <a:off x="5365425" y="1028363"/>
            <a:ext cx="492457" cy="8815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130" name="Rectangle 129">
            <a:extLst>
              <a:ext uri="{FF2B5EF4-FFF2-40B4-BE49-F238E27FC236}">
                <a16:creationId xmlns:a16="http://schemas.microsoft.com/office/drawing/2014/main" id="{2AC5D921-CE8C-5C4D-A8F1-8D10DDA5A907}"/>
              </a:ext>
            </a:extLst>
          </p:cNvPr>
          <p:cNvSpPr/>
          <p:nvPr/>
        </p:nvSpPr>
        <p:spPr>
          <a:xfrm>
            <a:off x="5370370" y="1638867"/>
            <a:ext cx="492457" cy="111313"/>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cxnSp>
        <p:nvCxnSpPr>
          <p:cNvPr id="131" name="Straight Arrow Connector 130">
            <a:extLst>
              <a:ext uri="{FF2B5EF4-FFF2-40B4-BE49-F238E27FC236}">
                <a16:creationId xmlns:a16="http://schemas.microsoft.com/office/drawing/2014/main" id="{A38D656E-53F5-8143-B990-5D1232214977}"/>
              </a:ext>
            </a:extLst>
          </p:cNvPr>
          <p:cNvCxnSpPr>
            <a:cxnSpLocks/>
            <a:stCxn id="114" idx="3"/>
          </p:cNvCxnSpPr>
          <p:nvPr/>
        </p:nvCxnSpPr>
        <p:spPr>
          <a:xfrm flipV="1">
            <a:off x="4418422" y="1114158"/>
            <a:ext cx="951948" cy="8510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4" name="TextBox 133">
            <a:extLst>
              <a:ext uri="{FF2B5EF4-FFF2-40B4-BE49-F238E27FC236}">
                <a16:creationId xmlns:a16="http://schemas.microsoft.com/office/drawing/2014/main" id="{744FEB97-28F0-3F4A-AFCD-87929C6E7EDD}"/>
              </a:ext>
            </a:extLst>
          </p:cNvPr>
          <p:cNvSpPr txBox="1"/>
          <p:nvPr/>
        </p:nvSpPr>
        <p:spPr>
          <a:xfrm>
            <a:off x="5257818" y="625407"/>
            <a:ext cx="748923" cy="369332"/>
          </a:xfrm>
          <a:prstGeom prst="rect">
            <a:avLst/>
          </a:prstGeom>
          <a:noFill/>
        </p:spPr>
        <p:txBody>
          <a:bodyPr wrap="none" rtlCol="0">
            <a:spAutoFit/>
          </a:bodyPr>
          <a:lstStyle/>
          <a:p>
            <a:r>
              <a:rPr lang="en-US" altLang="zh-CN" dirty="0" err="1"/>
              <a:t>inode</a:t>
            </a:r>
            <a:endParaRPr lang="en-CN" dirty="0"/>
          </a:p>
        </p:txBody>
      </p:sp>
      <p:cxnSp>
        <p:nvCxnSpPr>
          <p:cNvPr id="135" name="Straight Arrow Connector 134">
            <a:extLst>
              <a:ext uri="{FF2B5EF4-FFF2-40B4-BE49-F238E27FC236}">
                <a16:creationId xmlns:a16="http://schemas.microsoft.com/office/drawing/2014/main" id="{6C083C0C-8960-3E4D-A5D2-7D3E5614E0E4}"/>
              </a:ext>
            </a:extLst>
          </p:cNvPr>
          <p:cNvCxnSpPr>
            <a:cxnSpLocks/>
            <a:stCxn id="130" idx="3"/>
            <a:endCxn id="138" idx="2"/>
          </p:cNvCxnSpPr>
          <p:nvPr/>
        </p:nvCxnSpPr>
        <p:spPr>
          <a:xfrm flipV="1">
            <a:off x="5862827" y="1313974"/>
            <a:ext cx="488676" cy="3805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8" name="TextBox 137">
            <a:extLst>
              <a:ext uri="{FF2B5EF4-FFF2-40B4-BE49-F238E27FC236}">
                <a16:creationId xmlns:a16="http://schemas.microsoft.com/office/drawing/2014/main" id="{82897B2C-9828-284C-878B-2992F5BEEEF4}"/>
              </a:ext>
            </a:extLst>
          </p:cNvPr>
          <p:cNvSpPr txBox="1"/>
          <p:nvPr/>
        </p:nvSpPr>
        <p:spPr>
          <a:xfrm>
            <a:off x="6143754" y="944642"/>
            <a:ext cx="415498" cy="369332"/>
          </a:xfrm>
          <a:prstGeom prst="rect">
            <a:avLst/>
          </a:prstGeom>
          <a:noFill/>
        </p:spPr>
        <p:txBody>
          <a:bodyPr wrap="none" rtlCol="0">
            <a:spAutoFit/>
          </a:bodyPr>
          <a:lstStyle/>
          <a:p>
            <a:r>
              <a:rPr lang="en-US" altLang="zh-CN" dirty="0"/>
              <a:t>…</a:t>
            </a:r>
            <a:endParaRPr lang="en-CN" dirty="0"/>
          </a:p>
        </p:txBody>
      </p:sp>
      <p:sp>
        <p:nvSpPr>
          <p:cNvPr id="140" name="TextBox 139">
            <a:extLst>
              <a:ext uri="{FF2B5EF4-FFF2-40B4-BE49-F238E27FC236}">
                <a16:creationId xmlns:a16="http://schemas.microsoft.com/office/drawing/2014/main" id="{004FAA54-4923-8F4E-AC89-3DB7480F5CDD}"/>
              </a:ext>
            </a:extLst>
          </p:cNvPr>
          <p:cNvSpPr txBox="1"/>
          <p:nvPr/>
        </p:nvSpPr>
        <p:spPr>
          <a:xfrm>
            <a:off x="3657131" y="887217"/>
            <a:ext cx="928459" cy="369332"/>
          </a:xfrm>
          <a:prstGeom prst="rect">
            <a:avLst/>
          </a:prstGeom>
          <a:noFill/>
        </p:spPr>
        <p:txBody>
          <a:bodyPr wrap="none" rtlCol="0">
            <a:spAutoFit/>
          </a:bodyPr>
          <a:lstStyle/>
          <a:p>
            <a:r>
              <a:rPr lang="en-US" altLang="zh-CN" dirty="0" err="1">
                <a:solidFill>
                  <a:srgbClr val="C00000"/>
                </a:solidFill>
              </a:rPr>
              <a:t>dcache</a:t>
            </a:r>
            <a:endParaRPr lang="en-CN" dirty="0">
              <a:solidFill>
                <a:srgbClr val="C00000"/>
              </a:solidFill>
            </a:endParaRPr>
          </a:p>
        </p:txBody>
      </p:sp>
      <p:sp>
        <p:nvSpPr>
          <p:cNvPr id="141" name="TextBox 140">
            <a:extLst>
              <a:ext uri="{FF2B5EF4-FFF2-40B4-BE49-F238E27FC236}">
                <a16:creationId xmlns:a16="http://schemas.microsoft.com/office/drawing/2014/main" id="{AAF4F0D0-4A0E-BB42-A832-6FF448230381}"/>
              </a:ext>
            </a:extLst>
          </p:cNvPr>
          <p:cNvSpPr txBox="1"/>
          <p:nvPr/>
        </p:nvSpPr>
        <p:spPr>
          <a:xfrm>
            <a:off x="5357776" y="185585"/>
            <a:ext cx="851515" cy="369332"/>
          </a:xfrm>
          <a:prstGeom prst="rect">
            <a:avLst/>
          </a:prstGeom>
          <a:noFill/>
        </p:spPr>
        <p:txBody>
          <a:bodyPr wrap="none" rtlCol="0">
            <a:spAutoFit/>
          </a:bodyPr>
          <a:lstStyle/>
          <a:p>
            <a:r>
              <a:rPr lang="en-US" altLang="zh-CN" dirty="0" err="1">
                <a:solidFill>
                  <a:srgbClr val="C00000"/>
                </a:solidFill>
              </a:rPr>
              <a:t>icache</a:t>
            </a:r>
            <a:endParaRPr lang="en-US" altLang="zh-CN" dirty="0">
              <a:solidFill>
                <a:srgbClr val="C00000"/>
              </a:solidFill>
            </a:endParaRPr>
          </a:p>
        </p:txBody>
      </p:sp>
      <p:sp>
        <p:nvSpPr>
          <p:cNvPr id="3" name="Slide Number Placeholder 2">
            <a:extLst>
              <a:ext uri="{FF2B5EF4-FFF2-40B4-BE49-F238E27FC236}">
                <a16:creationId xmlns:a16="http://schemas.microsoft.com/office/drawing/2014/main" id="{E66AF4CE-69AF-B04E-A7D1-CBB97A82E68E}"/>
              </a:ext>
            </a:extLst>
          </p:cNvPr>
          <p:cNvSpPr>
            <a:spLocks noGrp="1"/>
          </p:cNvSpPr>
          <p:nvPr>
            <p:ph type="sldNum" sz="quarter" idx="12"/>
          </p:nvPr>
        </p:nvSpPr>
        <p:spPr/>
        <p:txBody>
          <a:bodyPr/>
          <a:lstStyle/>
          <a:p>
            <a:fld id="{ADE361C3-C043-4A6E-BDCE-8DA1E7D90A3B}" type="slidenum">
              <a:rPr lang="zh-CN" altLang="en-US" smtClean="0"/>
              <a:t>5</a:t>
            </a:fld>
            <a:endParaRPr lang="zh-CN" altLang="en-US"/>
          </a:p>
        </p:txBody>
      </p:sp>
      <p:sp>
        <p:nvSpPr>
          <p:cNvPr id="31" name="TextBox 30">
            <a:extLst>
              <a:ext uri="{FF2B5EF4-FFF2-40B4-BE49-F238E27FC236}">
                <a16:creationId xmlns:a16="http://schemas.microsoft.com/office/drawing/2014/main" id="{606E8026-1307-0C48-9290-0874726A4C14}"/>
              </a:ext>
            </a:extLst>
          </p:cNvPr>
          <p:cNvSpPr txBox="1"/>
          <p:nvPr/>
        </p:nvSpPr>
        <p:spPr>
          <a:xfrm>
            <a:off x="6332420" y="1980294"/>
            <a:ext cx="684803" cy="369332"/>
          </a:xfrm>
          <a:prstGeom prst="rect">
            <a:avLst/>
          </a:prstGeom>
          <a:noFill/>
        </p:spPr>
        <p:txBody>
          <a:bodyPr wrap="none" rtlCol="0">
            <a:spAutoFit/>
          </a:bodyPr>
          <a:lstStyle/>
          <a:p>
            <a:r>
              <a:rPr lang="en-CN" dirty="0"/>
              <a:t>radix</a:t>
            </a:r>
          </a:p>
        </p:txBody>
      </p:sp>
      <p:sp>
        <p:nvSpPr>
          <p:cNvPr id="33" name="TextBox 32">
            <a:extLst>
              <a:ext uri="{FF2B5EF4-FFF2-40B4-BE49-F238E27FC236}">
                <a16:creationId xmlns:a16="http://schemas.microsoft.com/office/drawing/2014/main" id="{C1F433FB-87E7-C24E-A188-18F367C37073}"/>
              </a:ext>
            </a:extLst>
          </p:cNvPr>
          <p:cNvSpPr txBox="1"/>
          <p:nvPr/>
        </p:nvSpPr>
        <p:spPr>
          <a:xfrm>
            <a:off x="638189" y="4275368"/>
            <a:ext cx="1107996" cy="369332"/>
          </a:xfrm>
          <a:prstGeom prst="rect">
            <a:avLst/>
          </a:prstGeom>
          <a:noFill/>
        </p:spPr>
        <p:txBody>
          <a:bodyPr wrap="none" rtlCol="0">
            <a:spAutoFit/>
          </a:bodyPr>
          <a:lstStyle/>
          <a:p>
            <a:r>
              <a:rPr lang="zh-CN" altLang="en-US" dirty="0"/>
              <a:t>存储设备</a:t>
            </a:r>
            <a:endParaRPr lang="en-CN" dirty="0"/>
          </a:p>
        </p:txBody>
      </p:sp>
    </p:spTree>
    <p:extLst>
      <p:ext uri="{BB962C8B-B14F-4D97-AF65-F5344CB8AC3E}">
        <p14:creationId xmlns:p14="http://schemas.microsoft.com/office/powerpoint/2010/main" val="40396492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2" name="矩形 31">
            <a:extLst>
              <a:ext uri="{FF2B5EF4-FFF2-40B4-BE49-F238E27FC236}">
                <a16:creationId xmlns:a16="http://schemas.microsoft.com/office/drawing/2014/main" id="{4D2324D9-9D04-C14A-BCB5-533FD464FA5B}"/>
              </a:ext>
            </a:extLst>
          </p:cNvPr>
          <p:cNvSpPr/>
          <p:nvPr/>
        </p:nvSpPr>
        <p:spPr>
          <a:xfrm>
            <a:off x="2800049" y="985292"/>
            <a:ext cx="718944" cy="72008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灯片编号占位符 3">
            <a:extLst>
              <a:ext uri="{FF2B5EF4-FFF2-40B4-BE49-F238E27FC236}">
                <a16:creationId xmlns:a16="http://schemas.microsoft.com/office/drawing/2014/main" id="{220E6633-D493-C34C-B5EA-0BC284ED891C}"/>
              </a:ext>
            </a:extLst>
          </p:cNvPr>
          <p:cNvSpPr>
            <a:spLocks noGrp="1"/>
          </p:cNvSpPr>
          <p:nvPr>
            <p:ph type="sldNum" sz="quarter" idx="12"/>
          </p:nvPr>
        </p:nvSpPr>
        <p:spPr/>
        <p:txBody>
          <a:bodyPr/>
          <a:lstStyle/>
          <a:p>
            <a:fld id="{ADE361C3-C043-4A6E-BDCE-8DA1E7D90A3B}" type="slidenum">
              <a:rPr lang="zh-CN" altLang="en-US" smtClean="0"/>
              <a:t>6</a:t>
            </a:fld>
            <a:endParaRPr lang="zh-CN" altLang="en-US"/>
          </a:p>
        </p:txBody>
      </p:sp>
      <p:sp>
        <p:nvSpPr>
          <p:cNvPr id="5" name="矩形 4">
            <a:extLst>
              <a:ext uri="{FF2B5EF4-FFF2-40B4-BE49-F238E27FC236}">
                <a16:creationId xmlns:a16="http://schemas.microsoft.com/office/drawing/2014/main" id="{E0B234AA-231E-9046-9CB3-4CFF809027B5}"/>
              </a:ext>
            </a:extLst>
          </p:cNvPr>
          <p:cNvSpPr/>
          <p:nvPr/>
        </p:nvSpPr>
        <p:spPr>
          <a:xfrm>
            <a:off x="1359889" y="985292"/>
            <a:ext cx="720080" cy="72008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矩形 5">
            <a:extLst>
              <a:ext uri="{FF2B5EF4-FFF2-40B4-BE49-F238E27FC236}">
                <a16:creationId xmlns:a16="http://schemas.microsoft.com/office/drawing/2014/main" id="{63E3348E-5039-F146-923F-37DE1E2E8516}"/>
              </a:ext>
            </a:extLst>
          </p:cNvPr>
          <p:cNvSpPr/>
          <p:nvPr/>
        </p:nvSpPr>
        <p:spPr>
          <a:xfrm>
            <a:off x="2079969" y="985292"/>
            <a:ext cx="720080" cy="72008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矩形 7">
            <a:extLst>
              <a:ext uri="{FF2B5EF4-FFF2-40B4-BE49-F238E27FC236}">
                <a16:creationId xmlns:a16="http://schemas.microsoft.com/office/drawing/2014/main" id="{2D447635-E0DC-6C41-8D50-A80A6BFE01ED}"/>
              </a:ext>
            </a:extLst>
          </p:cNvPr>
          <p:cNvSpPr/>
          <p:nvPr/>
        </p:nvSpPr>
        <p:spPr>
          <a:xfrm>
            <a:off x="4234779" y="985292"/>
            <a:ext cx="720080" cy="72008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100" b="0" i="0" u="none" strike="noStrike" kern="1200" cap="none" spc="0" normalizeH="0" baseline="0" noProof="0" dirty="0">
                <a:ln>
                  <a:noFill/>
                </a:ln>
                <a:solidFill>
                  <a:srgbClr val="000000"/>
                </a:solidFill>
                <a:effectLst/>
                <a:uLnTx/>
                <a:uFillTx/>
                <a:latin typeface="Arial" panose="020B0604020202020204"/>
                <a:ea typeface="微软雅黑"/>
                <a:cs typeface="+mn-cs"/>
              </a:rPr>
              <a:t>root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zh-CN" sz="1100" b="0" i="0" u="none" strike="noStrike" kern="1200" cap="none" spc="0" normalizeH="0" baseline="0" noProof="0" dirty="0">
              <a:ln>
                <a:noFill/>
              </a:ln>
              <a:solidFill>
                <a:srgbClr val="000000"/>
              </a:solidFill>
              <a:effectLst/>
              <a:uLnTx/>
              <a:uFillTx/>
              <a:latin typeface="Arial" panose="020B0604020202020204"/>
              <a:ea typeface="微软雅黑"/>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100" b="0" i="0" u="none" strike="noStrike" kern="1200" cap="none" spc="0" normalizeH="0" baseline="0" noProof="0" dirty="0">
                <a:ln>
                  <a:noFill/>
                </a:ln>
                <a:solidFill>
                  <a:srgbClr val="000000"/>
                </a:solidFill>
                <a:effectLst/>
                <a:uLnTx/>
                <a:uFillTx/>
                <a:latin typeface="Arial" panose="020B0604020202020204"/>
                <a:ea typeface="微软雅黑"/>
                <a:cs typeface="+mn-cs"/>
              </a:rPr>
              <a:t>block[0]</a:t>
            </a:r>
            <a:endParaRPr kumimoji="1" lang="zh-CN" altLang="en-US" sz="1100" b="0" i="0" u="none" strike="noStrike" kern="1200" cap="none" spc="0" normalizeH="0" baseline="0" noProof="0" dirty="0">
              <a:ln>
                <a:noFill/>
              </a:ln>
              <a:solidFill>
                <a:srgbClr val="000000"/>
              </a:solidFill>
              <a:effectLst/>
              <a:uLnTx/>
              <a:uFillTx/>
              <a:latin typeface="Arial" panose="020B0604020202020204"/>
              <a:ea typeface="微软雅黑"/>
              <a:cs typeface="+mn-cs"/>
            </a:endParaRPr>
          </a:p>
        </p:txBody>
      </p:sp>
      <p:sp>
        <p:nvSpPr>
          <p:cNvPr id="9" name="矩形 8">
            <a:extLst>
              <a:ext uri="{FF2B5EF4-FFF2-40B4-BE49-F238E27FC236}">
                <a16:creationId xmlns:a16="http://schemas.microsoft.com/office/drawing/2014/main" id="{6A36B429-8AC8-1C45-9E7E-154A442F479A}"/>
              </a:ext>
            </a:extLst>
          </p:cNvPr>
          <p:cNvSpPr/>
          <p:nvPr/>
        </p:nvSpPr>
        <p:spPr>
          <a:xfrm>
            <a:off x="4953723" y="985292"/>
            <a:ext cx="720080" cy="72008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err="1">
                <a:solidFill>
                  <a:schemeClr val="tx1"/>
                </a:solidFill>
              </a:rPr>
              <a:t>etc</a:t>
            </a:r>
            <a:endParaRPr kumimoji="1" lang="en-US" altLang="zh-CN" sz="1100" dirty="0">
              <a:solidFill>
                <a:schemeClr val="tx1"/>
              </a:solidFill>
            </a:endParaRPr>
          </a:p>
          <a:p>
            <a:pPr algn="ctr"/>
            <a:endParaRPr kumimoji="1" lang="en-US" altLang="zh-CN" sz="1100" dirty="0">
              <a:solidFill>
                <a:schemeClr val="tx1"/>
              </a:solidFill>
            </a:endParaRPr>
          </a:p>
          <a:p>
            <a:pPr algn="ctr"/>
            <a:r>
              <a:rPr kumimoji="1" lang="en-US" altLang="zh-CN" sz="1100" dirty="0">
                <a:solidFill>
                  <a:schemeClr val="tx1"/>
                </a:solidFill>
              </a:rPr>
              <a:t>block[1]</a:t>
            </a:r>
            <a:endParaRPr kumimoji="1" lang="zh-CN" altLang="en-US" sz="1100" dirty="0">
              <a:solidFill>
                <a:schemeClr val="tx1"/>
              </a:solidFill>
            </a:endParaRPr>
          </a:p>
        </p:txBody>
      </p:sp>
      <p:sp>
        <p:nvSpPr>
          <p:cNvPr id="10" name="椭圆 9">
            <a:extLst>
              <a:ext uri="{FF2B5EF4-FFF2-40B4-BE49-F238E27FC236}">
                <a16:creationId xmlns:a16="http://schemas.microsoft.com/office/drawing/2014/main" id="{6A82C892-0E9D-624B-8195-D6D357CE5BFA}"/>
              </a:ext>
            </a:extLst>
          </p:cNvPr>
          <p:cNvSpPr/>
          <p:nvPr/>
        </p:nvSpPr>
        <p:spPr>
          <a:xfrm>
            <a:off x="1647164" y="1056475"/>
            <a:ext cx="144016" cy="144016"/>
          </a:xfrm>
          <a:prstGeom prst="ellipse">
            <a:avLst/>
          </a:prstGeom>
          <a:solidFill>
            <a:schemeClr val="tx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椭圆 10">
            <a:extLst>
              <a:ext uri="{FF2B5EF4-FFF2-40B4-BE49-F238E27FC236}">
                <a16:creationId xmlns:a16="http://schemas.microsoft.com/office/drawing/2014/main" id="{2E0987CC-AF8A-9F43-A4B4-2C669AF75EE0}"/>
              </a:ext>
            </a:extLst>
          </p:cNvPr>
          <p:cNvSpPr/>
          <p:nvPr/>
        </p:nvSpPr>
        <p:spPr>
          <a:xfrm>
            <a:off x="1448232" y="1056475"/>
            <a:ext cx="144016" cy="144016"/>
          </a:xfrm>
          <a:prstGeom prst="ellipse">
            <a:avLst/>
          </a:prstGeom>
          <a:solidFill>
            <a:schemeClr val="tx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椭圆 11">
            <a:extLst>
              <a:ext uri="{FF2B5EF4-FFF2-40B4-BE49-F238E27FC236}">
                <a16:creationId xmlns:a16="http://schemas.microsoft.com/office/drawing/2014/main" id="{2111752C-F299-4B47-B9A5-8F986F6A6777}"/>
              </a:ext>
            </a:extLst>
          </p:cNvPr>
          <p:cNvSpPr/>
          <p:nvPr/>
        </p:nvSpPr>
        <p:spPr>
          <a:xfrm>
            <a:off x="1845339" y="1056475"/>
            <a:ext cx="144016" cy="144016"/>
          </a:xfrm>
          <a:prstGeom prst="ellipse">
            <a:avLst/>
          </a:prstGeom>
          <a:solidFill>
            <a:schemeClr val="tx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椭圆 12">
            <a:extLst>
              <a:ext uri="{FF2B5EF4-FFF2-40B4-BE49-F238E27FC236}">
                <a16:creationId xmlns:a16="http://schemas.microsoft.com/office/drawing/2014/main" id="{77190B7F-B084-844E-BFB5-F1AC6FE79802}"/>
              </a:ext>
            </a:extLst>
          </p:cNvPr>
          <p:cNvSpPr/>
          <p:nvPr/>
        </p:nvSpPr>
        <p:spPr>
          <a:xfrm>
            <a:off x="1647921" y="1272499"/>
            <a:ext cx="144016" cy="144016"/>
          </a:xfrm>
          <a:prstGeom prst="ellipse">
            <a:avLst/>
          </a:prstGeom>
          <a:solidFill>
            <a:schemeClr val="tx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椭圆 13">
            <a:extLst>
              <a:ext uri="{FF2B5EF4-FFF2-40B4-BE49-F238E27FC236}">
                <a16:creationId xmlns:a16="http://schemas.microsoft.com/office/drawing/2014/main" id="{85ADCBD3-3E9C-FB42-9480-9D91D3300B73}"/>
              </a:ext>
            </a:extLst>
          </p:cNvPr>
          <p:cNvSpPr/>
          <p:nvPr/>
        </p:nvSpPr>
        <p:spPr>
          <a:xfrm>
            <a:off x="1448989" y="1272499"/>
            <a:ext cx="144016" cy="144016"/>
          </a:xfrm>
          <a:prstGeom prst="ellipse">
            <a:avLst/>
          </a:prstGeom>
          <a:solidFill>
            <a:schemeClr val="tx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椭圆 14">
            <a:extLst>
              <a:ext uri="{FF2B5EF4-FFF2-40B4-BE49-F238E27FC236}">
                <a16:creationId xmlns:a16="http://schemas.microsoft.com/office/drawing/2014/main" id="{C3066841-D833-4D42-BCC6-35843D3C5536}"/>
              </a:ext>
            </a:extLst>
          </p:cNvPr>
          <p:cNvSpPr/>
          <p:nvPr/>
        </p:nvSpPr>
        <p:spPr>
          <a:xfrm>
            <a:off x="1846096" y="1272499"/>
            <a:ext cx="144016" cy="144016"/>
          </a:xfrm>
          <a:prstGeom prst="ellipse">
            <a:avLst/>
          </a:prstGeom>
          <a:solidFill>
            <a:schemeClr val="accent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椭圆 15">
            <a:extLst>
              <a:ext uri="{FF2B5EF4-FFF2-40B4-BE49-F238E27FC236}">
                <a16:creationId xmlns:a16="http://schemas.microsoft.com/office/drawing/2014/main" id="{811204CE-F6F3-1242-ABB7-AD9243ABFAB5}"/>
              </a:ext>
            </a:extLst>
          </p:cNvPr>
          <p:cNvSpPr/>
          <p:nvPr/>
        </p:nvSpPr>
        <p:spPr>
          <a:xfrm>
            <a:off x="1647164" y="1488523"/>
            <a:ext cx="144016" cy="144016"/>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椭圆 16">
            <a:extLst>
              <a:ext uri="{FF2B5EF4-FFF2-40B4-BE49-F238E27FC236}">
                <a16:creationId xmlns:a16="http://schemas.microsoft.com/office/drawing/2014/main" id="{A26F09AD-E0BB-7140-8386-681006FA252A}"/>
              </a:ext>
            </a:extLst>
          </p:cNvPr>
          <p:cNvSpPr/>
          <p:nvPr/>
        </p:nvSpPr>
        <p:spPr>
          <a:xfrm>
            <a:off x="1448232" y="1488523"/>
            <a:ext cx="144016" cy="144016"/>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椭圆 17">
            <a:extLst>
              <a:ext uri="{FF2B5EF4-FFF2-40B4-BE49-F238E27FC236}">
                <a16:creationId xmlns:a16="http://schemas.microsoft.com/office/drawing/2014/main" id="{B978BCEF-7BAD-134E-B729-BE9CFCFAED7A}"/>
              </a:ext>
            </a:extLst>
          </p:cNvPr>
          <p:cNvSpPr/>
          <p:nvPr/>
        </p:nvSpPr>
        <p:spPr>
          <a:xfrm>
            <a:off x="1845339" y="1488523"/>
            <a:ext cx="144016" cy="144016"/>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椭圆 18">
            <a:extLst>
              <a:ext uri="{FF2B5EF4-FFF2-40B4-BE49-F238E27FC236}">
                <a16:creationId xmlns:a16="http://schemas.microsoft.com/office/drawing/2014/main" id="{A4CC76E9-1C21-2444-BEAD-A59E09995007}"/>
              </a:ext>
            </a:extLst>
          </p:cNvPr>
          <p:cNvSpPr/>
          <p:nvPr/>
        </p:nvSpPr>
        <p:spPr>
          <a:xfrm>
            <a:off x="2368758" y="1061737"/>
            <a:ext cx="144016" cy="144016"/>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椭圆 19">
            <a:extLst>
              <a:ext uri="{FF2B5EF4-FFF2-40B4-BE49-F238E27FC236}">
                <a16:creationId xmlns:a16="http://schemas.microsoft.com/office/drawing/2014/main" id="{B9C75939-6D32-9347-92DE-6F90E96C8F03}"/>
              </a:ext>
            </a:extLst>
          </p:cNvPr>
          <p:cNvSpPr/>
          <p:nvPr/>
        </p:nvSpPr>
        <p:spPr>
          <a:xfrm>
            <a:off x="2169826" y="1061737"/>
            <a:ext cx="144016" cy="144016"/>
          </a:xfrm>
          <a:prstGeom prst="ellipse">
            <a:avLst/>
          </a:prstGeom>
          <a:solidFill>
            <a:schemeClr val="tx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椭圆 20">
            <a:extLst>
              <a:ext uri="{FF2B5EF4-FFF2-40B4-BE49-F238E27FC236}">
                <a16:creationId xmlns:a16="http://schemas.microsoft.com/office/drawing/2014/main" id="{F9545507-3058-5A46-BD66-719A4A915701}"/>
              </a:ext>
            </a:extLst>
          </p:cNvPr>
          <p:cNvSpPr/>
          <p:nvPr/>
        </p:nvSpPr>
        <p:spPr>
          <a:xfrm>
            <a:off x="2566933" y="1061737"/>
            <a:ext cx="144016" cy="144016"/>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椭圆 21">
            <a:extLst>
              <a:ext uri="{FF2B5EF4-FFF2-40B4-BE49-F238E27FC236}">
                <a16:creationId xmlns:a16="http://schemas.microsoft.com/office/drawing/2014/main" id="{1AEAD467-2D18-D248-9EAE-76AB7AFD36D5}"/>
              </a:ext>
            </a:extLst>
          </p:cNvPr>
          <p:cNvSpPr/>
          <p:nvPr/>
        </p:nvSpPr>
        <p:spPr>
          <a:xfrm>
            <a:off x="2369515" y="1277761"/>
            <a:ext cx="144016" cy="144016"/>
          </a:xfrm>
          <a:prstGeom prst="ellipse">
            <a:avLst/>
          </a:prstGeom>
          <a:solidFill>
            <a:schemeClr val="tx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椭圆 22">
            <a:extLst>
              <a:ext uri="{FF2B5EF4-FFF2-40B4-BE49-F238E27FC236}">
                <a16:creationId xmlns:a16="http://schemas.microsoft.com/office/drawing/2014/main" id="{63A0E3A3-ACC3-AD48-B0AC-D3FC39524F22}"/>
              </a:ext>
            </a:extLst>
          </p:cNvPr>
          <p:cNvSpPr/>
          <p:nvPr/>
        </p:nvSpPr>
        <p:spPr>
          <a:xfrm>
            <a:off x="2170583" y="1277761"/>
            <a:ext cx="144016" cy="144016"/>
          </a:xfrm>
          <a:prstGeom prst="ellipse">
            <a:avLst/>
          </a:prstGeom>
          <a:solidFill>
            <a:schemeClr val="tx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椭圆 23">
            <a:extLst>
              <a:ext uri="{FF2B5EF4-FFF2-40B4-BE49-F238E27FC236}">
                <a16:creationId xmlns:a16="http://schemas.microsoft.com/office/drawing/2014/main" id="{4583DF57-BCE2-6646-AC19-B8EDE600B63E}"/>
              </a:ext>
            </a:extLst>
          </p:cNvPr>
          <p:cNvSpPr/>
          <p:nvPr/>
        </p:nvSpPr>
        <p:spPr>
          <a:xfrm>
            <a:off x="2567690" y="1277761"/>
            <a:ext cx="144016" cy="144016"/>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椭圆 24">
            <a:extLst>
              <a:ext uri="{FF2B5EF4-FFF2-40B4-BE49-F238E27FC236}">
                <a16:creationId xmlns:a16="http://schemas.microsoft.com/office/drawing/2014/main" id="{E85EF043-AE95-6542-99D5-D432B049DD73}"/>
              </a:ext>
            </a:extLst>
          </p:cNvPr>
          <p:cNvSpPr/>
          <p:nvPr/>
        </p:nvSpPr>
        <p:spPr>
          <a:xfrm>
            <a:off x="2368758" y="1493785"/>
            <a:ext cx="144016" cy="144016"/>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椭圆 25">
            <a:extLst>
              <a:ext uri="{FF2B5EF4-FFF2-40B4-BE49-F238E27FC236}">
                <a16:creationId xmlns:a16="http://schemas.microsoft.com/office/drawing/2014/main" id="{9D642AFC-12E4-F746-99CD-BDFF5A72342B}"/>
              </a:ext>
            </a:extLst>
          </p:cNvPr>
          <p:cNvSpPr/>
          <p:nvPr/>
        </p:nvSpPr>
        <p:spPr>
          <a:xfrm>
            <a:off x="2169826" y="1493785"/>
            <a:ext cx="144016" cy="144016"/>
          </a:xfrm>
          <a:prstGeom prst="ellipse">
            <a:avLst/>
          </a:prstGeom>
          <a:solidFill>
            <a:schemeClr val="tx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椭圆 26">
            <a:extLst>
              <a:ext uri="{FF2B5EF4-FFF2-40B4-BE49-F238E27FC236}">
                <a16:creationId xmlns:a16="http://schemas.microsoft.com/office/drawing/2014/main" id="{7158321E-899E-344A-BD77-E24C2CAC702F}"/>
              </a:ext>
            </a:extLst>
          </p:cNvPr>
          <p:cNvSpPr/>
          <p:nvPr/>
        </p:nvSpPr>
        <p:spPr>
          <a:xfrm>
            <a:off x="2566933" y="1493785"/>
            <a:ext cx="144016" cy="144016"/>
          </a:xfrm>
          <a:prstGeom prst="ellipse">
            <a:avLst/>
          </a:prstGeom>
          <a:solidFill>
            <a:schemeClr val="tx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矩形 29">
            <a:extLst>
              <a:ext uri="{FF2B5EF4-FFF2-40B4-BE49-F238E27FC236}">
                <a16:creationId xmlns:a16="http://schemas.microsoft.com/office/drawing/2014/main" id="{6EAB322F-B29A-284F-A50D-F621BD091865}"/>
              </a:ext>
            </a:extLst>
          </p:cNvPr>
          <p:cNvSpPr/>
          <p:nvPr/>
        </p:nvSpPr>
        <p:spPr>
          <a:xfrm>
            <a:off x="2800049" y="985292"/>
            <a:ext cx="144773" cy="72008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dirty="0"/>
          </a:p>
        </p:txBody>
      </p:sp>
      <p:sp>
        <p:nvSpPr>
          <p:cNvPr id="31" name="矩形 30">
            <a:extLst>
              <a:ext uri="{FF2B5EF4-FFF2-40B4-BE49-F238E27FC236}">
                <a16:creationId xmlns:a16="http://schemas.microsoft.com/office/drawing/2014/main" id="{E65F398E-BC3B-0241-9261-FBAC76A5EF60}"/>
              </a:ext>
            </a:extLst>
          </p:cNvPr>
          <p:cNvSpPr/>
          <p:nvPr/>
        </p:nvSpPr>
        <p:spPr>
          <a:xfrm>
            <a:off x="2941794" y="985292"/>
            <a:ext cx="144773" cy="72008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矩形 32">
            <a:extLst>
              <a:ext uri="{FF2B5EF4-FFF2-40B4-BE49-F238E27FC236}">
                <a16:creationId xmlns:a16="http://schemas.microsoft.com/office/drawing/2014/main" id="{79E639C3-285C-8243-92DE-0C0EA82E0861}"/>
              </a:ext>
            </a:extLst>
          </p:cNvPr>
          <p:cNvSpPr/>
          <p:nvPr/>
        </p:nvSpPr>
        <p:spPr>
          <a:xfrm>
            <a:off x="3231842" y="985292"/>
            <a:ext cx="144773" cy="72008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矩形 33">
            <a:extLst>
              <a:ext uri="{FF2B5EF4-FFF2-40B4-BE49-F238E27FC236}">
                <a16:creationId xmlns:a16="http://schemas.microsoft.com/office/drawing/2014/main" id="{A79671B8-B9F5-A741-BFAA-26A3BFB7F8B5}"/>
              </a:ext>
            </a:extLst>
          </p:cNvPr>
          <p:cNvSpPr/>
          <p:nvPr/>
        </p:nvSpPr>
        <p:spPr>
          <a:xfrm>
            <a:off x="3374220" y="985292"/>
            <a:ext cx="144773" cy="72008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矩形 34">
            <a:extLst>
              <a:ext uri="{FF2B5EF4-FFF2-40B4-BE49-F238E27FC236}">
                <a16:creationId xmlns:a16="http://schemas.microsoft.com/office/drawing/2014/main" id="{3D9FB51A-5011-384B-9633-43340289FD52}"/>
              </a:ext>
            </a:extLst>
          </p:cNvPr>
          <p:cNvSpPr/>
          <p:nvPr/>
        </p:nvSpPr>
        <p:spPr>
          <a:xfrm>
            <a:off x="3519496" y="985292"/>
            <a:ext cx="718944" cy="72008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矩形 35">
            <a:extLst>
              <a:ext uri="{FF2B5EF4-FFF2-40B4-BE49-F238E27FC236}">
                <a16:creationId xmlns:a16="http://schemas.microsoft.com/office/drawing/2014/main" id="{10484D29-51C4-0946-8B86-0B089D27EB04}"/>
              </a:ext>
            </a:extLst>
          </p:cNvPr>
          <p:cNvSpPr/>
          <p:nvPr/>
        </p:nvSpPr>
        <p:spPr>
          <a:xfrm>
            <a:off x="3519496" y="985292"/>
            <a:ext cx="144773" cy="72008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矩形 36">
            <a:extLst>
              <a:ext uri="{FF2B5EF4-FFF2-40B4-BE49-F238E27FC236}">
                <a16:creationId xmlns:a16="http://schemas.microsoft.com/office/drawing/2014/main" id="{80FB7DD4-DBE3-614D-97CD-EF008ED8F4A3}"/>
              </a:ext>
            </a:extLst>
          </p:cNvPr>
          <p:cNvSpPr/>
          <p:nvPr/>
        </p:nvSpPr>
        <p:spPr>
          <a:xfrm>
            <a:off x="3661241" y="985292"/>
            <a:ext cx="144773" cy="72008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矩形 37">
            <a:extLst>
              <a:ext uri="{FF2B5EF4-FFF2-40B4-BE49-F238E27FC236}">
                <a16:creationId xmlns:a16="http://schemas.microsoft.com/office/drawing/2014/main" id="{DD9EB193-F050-C447-9BA7-761DC848478D}"/>
              </a:ext>
            </a:extLst>
          </p:cNvPr>
          <p:cNvSpPr/>
          <p:nvPr/>
        </p:nvSpPr>
        <p:spPr>
          <a:xfrm>
            <a:off x="3951289" y="985292"/>
            <a:ext cx="144773" cy="720080"/>
          </a:xfrm>
          <a:prstGeom prst="rect">
            <a:avLst/>
          </a:prstGeom>
          <a:solidFill>
            <a:schemeClr val="accent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矩形 38">
            <a:extLst>
              <a:ext uri="{FF2B5EF4-FFF2-40B4-BE49-F238E27FC236}">
                <a16:creationId xmlns:a16="http://schemas.microsoft.com/office/drawing/2014/main" id="{398CDF5E-E2F1-CA43-89BB-0A2B2614701D}"/>
              </a:ext>
            </a:extLst>
          </p:cNvPr>
          <p:cNvSpPr/>
          <p:nvPr/>
        </p:nvSpPr>
        <p:spPr>
          <a:xfrm>
            <a:off x="4093667" y="985292"/>
            <a:ext cx="144773" cy="72008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矩形 39">
            <a:extLst>
              <a:ext uri="{FF2B5EF4-FFF2-40B4-BE49-F238E27FC236}">
                <a16:creationId xmlns:a16="http://schemas.microsoft.com/office/drawing/2014/main" id="{38124AB1-29F6-5843-94C0-7B06FC7A8BBE}"/>
              </a:ext>
            </a:extLst>
          </p:cNvPr>
          <p:cNvSpPr/>
          <p:nvPr/>
        </p:nvSpPr>
        <p:spPr>
          <a:xfrm>
            <a:off x="5669006" y="985292"/>
            <a:ext cx="720080" cy="72008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100" dirty="0">
                <a:solidFill>
                  <a:srgbClr val="000000"/>
                </a:solidFill>
                <a:latin typeface="Arial" panose="020B0604020202020204"/>
                <a:ea typeface="微软雅黑"/>
              </a:rPr>
              <a:t>hosts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zh-CN" sz="1100" b="0" i="0" u="none" strike="noStrike" kern="1200" cap="none" spc="0" normalizeH="0" baseline="0" noProof="0" dirty="0">
              <a:ln>
                <a:noFill/>
              </a:ln>
              <a:solidFill>
                <a:srgbClr val="000000"/>
              </a:solidFill>
              <a:effectLst/>
              <a:uLnTx/>
              <a:uFillTx/>
              <a:latin typeface="Arial" panose="020B0604020202020204"/>
              <a:ea typeface="微软雅黑"/>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100" b="0" i="0" u="none" strike="noStrike" kern="1200" cap="none" spc="0" normalizeH="0" baseline="0" noProof="0" dirty="0">
                <a:ln>
                  <a:noFill/>
                </a:ln>
                <a:solidFill>
                  <a:srgbClr val="000000"/>
                </a:solidFill>
                <a:effectLst/>
                <a:uLnTx/>
                <a:uFillTx/>
                <a:latin typeface="Arial" panose="020B0604020202020204"/>
                <a:ea typeface="微软雅黑"/>
                <a:cs typeface="+mn-cs"/>
              </a:rPr>
              <a:t>block[2]</a:t>
            </a:r>
            <a:endParaRPr kumimoji="1" lang="zh-CN" altLang="en-US" sz="1100" b="0" i="0" u="none" strike="noStrike" kern="1200" cap="none" spc="0" normalizeH="0" baseline="0" noProof="0" dirty="0">
              <a:ln>
                <a:noFill/>
              </a:ln>
              <a:solidFill>
                <a:srgbClr val="000000"/>
              </a:solidFill>
              <a:effectLst/>
              <a:uLnTx/>
              <a:uFillTx/>
              <a:latin typeface="Arial" panose="020B0604020202020204"/>
              <a:ea typeface="微软雅黑"/>
              <a:cs typeface="+mn-cs"/>
            </a:endParaRPr>
          </a:p>
        </p:txBody>
      </p:sp>
      <p:sp>
        <p:nvSpPr>
          <p:cNvPr id="43" name="矩形 42">
            <a:extLst>
              <a:ext uri="{FF2B5EF4-FFF2-40B4-BE49-F238E27FC236}">
                <a16:creationId xmlns:a16="http://schemas.microsoft.com/office/drawing/2014/main" id="{D8B20989-F81C-9547-A0B7-67E28188FA44}"/>
              </a:ext>
            </a:extLst>
          </p:cNvPr>
          <p:cNvSpPr/>
          <p:nvPr/>
        </p:nvSpPr>
        <p:spPr>
          <a:xfrm>
            <a:off x="6387950" y="985292"/>
            <a:ext cx="720080" cy="72008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100" b="0" i="0" u="none" strike="noStrike" kern="1200" cap="none" spc="0" normalizeH="0" baseline="0" noProof="0" dirty="0">
                <a:ln>
                  <a:noFill/>
                </a:ln>
                <a:solidFill>
                  <a:srgbClr val="000000"/>
                </a:solidFill>
                <a:effectLst/>
                <a:uLnTx/>
                <a:uFillTx/>
                <a:latin typeface="Arial" panose="020B0604020202020204"/>
                <a:ea typeface="微软雅黑"/>
                <a:cs typeface="+mn-cs"/>
              </a:rPr>
              <a:t>hosts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zh-CN" sz="1100" b="0" i="0" u="none" strike="noStrike" kern="1200" cap="none" spc="0" normalizeH="0" baseline="0" noProof="0" dirty="0">
              <a:ln>
                <a:noFill/>
              </a:ln>
              <a:solidFill>
                <a:srgbClr val="000000"/>
              </a:solidFill>
              <a:effectLst/>
              <a:uLnTx/>
              <a:uFillTx/>
              <a:latin typeface="Arial" panose="020B0604020202020204"/>
              <a:ea typeface="微软雅黑"/>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100" b="0" i="0" u="none" strike="noStrike" kern="1200" cap="none" spc="0" normalizeH="0" baseline="0" noProof="0" dirty="0">
                <a:ln>
                  <a:noFill/>
                </a:ln>
                <a:solidFill>
                  <a:srgbClr val="000000"/>
                </a:solidFill>
                <a:effectLst/>
                <a:uLnTx/>
                <a:uFillTx/>
                <a:latin typeface="Arial" panose="020B0604020202020204"/>
                <a:ea typeface="微软雅黑"/>
                <a:cs typeface="+mn-cs"/>
              </a:rPr>
              <a:t>block[3]</a:t>
            </a:r>
            <a:endParaRPr kumimoji="1" lang="zh-CN" altLang="en-US" sz="1100" b="0" i="0" u="none" strike="noStrike" kern="1200" cap="none" spc="0" normalizeH="0" baseline="0" noProof="0" dirty="0">
              <a:ln>
                <a:noFill/>
              </a:ln>
              <a:solidFill>
                <a:srgbClr val="000000"/>
              </a:solidFill>
              <a:effectLst/>
              <a:uLnTx/>
              <a:uFillTx/>
              <a:latin typeface="Arial" panose="020B0604020202020204"/>
              <a:ea typeface="微软雅黑"/>
              <a:cs typeface="+mn-cs"/>
            </a:endParaRPr>
          </a:p>
        </p:txBody>
      </p:sp>
      <p:sp>
        <p:nvSpPr>
          <p:cNvPr id="44" name="矩形 43">
            <a:extLst>
              <a:ext uri="{FF2B5EF4-FFF2-40B4-BE49-F238E27FC236}">
                <a16:creationId xmlns:a16="http://schemas.microsoft.com/office/drawing/2014/main" id="{0634DCE8-49C6-1B4B-93C4-36EFA357500B}"/>
              </a:ext>
            </a:extLst>
          </p:cNvPr>
          <p:cNvSpPr/>
          <p:nvPr/>
        </p:nvSpPr>
        <p:spPr>
          <a:xfrm>
            <a:off x="7103233" y="985292"/>
            <a:ext cx="720080" cy="72008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100" b="0" i="0" u="none" strike="noStrike" kern="1200" cap="none" spc="0" normalizeH="0" baseline="0" noProof="0" dirty="0">
                <a:ln>
                  <a:noFill/>
                </a:ln>
                <a:solidFill>
                  <a:srgbClr val="000000"/>
                </a:solidFill>
                <a:effectLst/>
                <a:uLnTx/>
                <a:uFillTx/>
                <a:latin typeface="Arial" panose="020B0604020202020204"/>
                <a:ea typeface="微软雅黑"/>
                <a:cs typeface="+mn-cs"/>
              </a:rPr>
              <a:t>hosts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zh-CN" sz="1100" b="0" i="0" u="none" strike="noStrike" kern="1200" cap="none" spc="0" normalizeH="0" baseline="0" noProof="0" dirty="0">
              <a:ln>
                <a:noFill/>
              </a:ln>
              <a:solidFill>
                <a:srgbClr val="000000"/>
              </a:solidFill>
              <a:effectLst/>
              <a:uLnTx/>
              <a:uFillTx/>
              <a:latin typeface="Arial" panose="020B0604020202020204"/>
              <a:ea typeface="微软雅黑"/>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100" b="0" i="0" u="none" strike="noStrike" kern="1200" cap="none" spc="0" normalizeH="0" baseline="0" noProof="0" dirty="0">
                <a:ln>
                  <a:noFill/>
                </a:ln>
                <a:solidFill>
                  <a:srgbClr val="000000"/>
                </a:solidFill>
                <a:effectLst/>
                <a:uLnTx/>
                <a:uFillTx/>
                <a:latin typeface="Arial" panose="020B0604020202020204"/>
                <a:ea typeface="微软雅黑"/>
                <a:cs typeface="+mn-cs"/>
              </a:rPr>
              <a:t>block[4]</a:t>
            </a:r>
            <a:endParaRPr kumimoji="1" lang="zh-CN" altLang="en-US" sz="1100" b="0" i="0" u="none" strike="noStrike" kern="1200" cap="none" spc="0" normalizeH="0" baseline="0" noProof="0" dirty="0">
              <a:ln>
                <a:noFill/>
              </a:ln>
              <a:solidFill>
                <a:srgbClr val="000000"/>
              </a:solidFill>
              <a:effectLst/>
              <a:uLnTx/>
              <a:uFillTx/>
              <a:latin typeface="Arial" panose="020B0604020202020204"/>
              <a:ea typeface="微软雅黑"/>
              <a:cs typeface="+mn-cs"/>
            </a:endParaRPr>
          </a:p>
        </p:txBody>
      </p:sp>
      <p:sp>
        <p:nvSpPr>
          <p:cNvPr id="45" name="矩形 44">
            <a:extLst>
              <a:ext uri="{FF2B5EF4-FFF2-40B4-BE49-F238E27FC236}">
                <a16:creationId xmlns:a16="http://schemas.microsoft.com/office/drawing/2014/main" id="{13386CE3-E904-F641-BFFC-558B6AE215C1}"/>
              </a:ext>
            </a:extLst>
          </p:cNvPr>
          <p:cNvSpPr/>
          <p:nvPr/>
        </p:nvSpPr>
        <p:spPr>
          <a:xfrm>
            <a:off x="643343" y="985292"/>
            <a:ext cx="720080" cy="72008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7" name="文本框 46">
            <a:extLst>
              <a:ext uri="{FF2B5EF4-FFF2-40B4-BE49-F238E27FC236}">
                <a16:creationId xmlns:a16="http://schemas.microsoft.com/office/drawing/2014/main" id="{19F42E58-F200-A545-94AA-06FBA108580F}"/>
              </a:ext>
            </a:extLst>
          </p:cNvPr>
          <p:cNvSpPr txBox="1"/>
          <p:nvPr/>
        </p:nvSpPr>
        <p:spPr>
          <a:xfrm>
            <a:off x="649476" y="433182"/>
            <a:ext cx="707813" cy="461665"/>
          </a:xfrm>
          <a:prstGeom prst="rect">
            <a:avLst/>
          </a:prstGeom>
          <a:noFill/>
        </p:spPr>
        <p:txBody>
          <a:bodyPr wrap="square">
            <a:spAutoFit/>
          </a:bodyPr>
          <a:lstStyle/>
          <a:p>
            <a:pPr algn="ctr"/>
            <a:r>
              <a:rPr lang="en-US" altLang="zh-CN" sz="1200" dirty="0">
                <a:solidFill>
                  <a:schemeClr val="tx1">
                    <a:lumMod val="75000"/>
                    <a:lumOff val="25000"/>
                  </a:schemeClr>
                </a:solidFill>
              </a:rPr>
              <a:t>Super</a:t>
            </a:r>
          </a:p>
          <a:p>
            <a:pPr algn="ctr"/>
            <a:r>
              <a:rPr lang="en-US" altLang="zh-CN" sz="1200" dirty="0">
                <a:solidFill>
                  <a:schemeClr val="tx1">
                    <a:lumMod val="75000"/>
                    <a:lumOff val="25000"/>
                  </a:schemeClr>
                </a:solidFill>
              </a:rPr>
              <a:t>Block</a:t>
            </a:r>
            <a:endParaRPr lang="zh-CN" altLang="en-US" sz="1200" dirty="0">
              <a:solidFill>
                <a:schemeClr val="tx1">
                  <a:lumMod val="75000"/>
                  <a:lumOff val="25000"/>
                </a:schemeClr>
              </a:solidFill>
            </a:endParaRPr>
          </a:p>
        </p:txBody>
      </p:sp>
      <p:sp>
        <p:nvSpPr>
          <p:cNvPr id="48" name="文本框 47">
            <a:extLst>
              <a:ext uri="{FF2B5EF4-FFF2-40B4-BE49-F238E27FC236}">
                <a16:creationId xmlns:a16="http://schemas.microsoft.com/office/drawing/2014/main" id="{03484795-67FF-A543-9418-DE11E599EED8}"/>
              </a:ext>
            </a:extLst>
          </p:cNvPr>
          <p:cNvSpPr txBox="1"/>
          <p:nvPr/>
        </p:nvSpPr>
        <p:spPr>
          <a:xfrm>
            <a:off x="1359889" y="433181"/>
            <a:ext cx="720080" cy="461665"/>
          </a:xfrm>
          <a:prstGeom prst="rect">
            <a:avLst/>
          </a:prstGeom>
          <a:noFill/>
        </p:spPr>
        <p:txBody>
          <a:bodyPr wrap="square">
            <a:spAutoFit/>
          </a:bodyPr>
          <a:lstStyle/>
          <a:p>
            <a:pPr algn="ctr"/>
            <a:r>
              <a:rPr lang="en-US" altLang="zh-CN" sz="1200" dirty="0">
                <a:solidFill>
                  <a:schemeClr val="tx1">
                    <a:lumMod val="75000"/>
                    <a:lumOff val="25000"/>
                  </a:schemeClr>
                </a:solidFill>
              </a:rPr>
              <a:t>block</a:t>
            </a:r>
            <a:r>
              <a:rPr lang="zh-CN" altLang="en-US" sz="1200" dirty="0">
                <a:solidFill>
                  <a:schemeClr val="tx1">
                    <a:lumMod val="75000"/>
                    <a:lumOff val="25000"/>
                  </a:schemeClr>
                </a:solidFill>
              </a:rPr>
              <a:t> </a:t>
            </a:r>
            <a:endParaRPr lang="en-US" altLang="zh-CN" sz="1200" dirty="0">
              <a:solidFill>
                <a:schemeClr val="tx1">
                  <a:lumMod val="75000"/>
                  <a:lumOff val="25000"/>
                </a:schemeClr>
              </a:solidFill>
            </a:endParaRPr>
          </a:p>
          <a:p>
            <a:pPr algn="ctr"/>
            <a:r>
              <a:rPr lang="en-US" altLang="zh-CN" sz="1200" dirty="0">
                <a:solidFill>
                  <a:schemeClr val="tx1">
                    <a:lumMod val="75000"/>
                    <a:lumOff val="25000"/>
                  </a:schemeClr>
                </a:solidFill>
              </a:rPr>
              <a:t>bitmap</a:t>
            </a:r>
            <a:endParaRPr lang="zh-CN" altLang="en-US" sz="1200" dirty="0">
              <a:solidFill>
                <a:schemeClr val="tx1">
                  <a:lumMod val="75000"/>
                  <a:lumOff val="25000"/>
                </a:schemeClr>
              </a:solidFill>
            </a:endParaRPr>
          </a:p>
        </p:txBody>
      </p:sp>
      <p:sp>
        <p:nvSpPr>
          <p:cNvPr id="49" name="文本框 48">
            <a:extLst>
              <a:ext uri="{FF2B5EF4-FFF2-40B4-BE49-F238E27FC236}">
                <a16:creationId xmlns:a16="http://schemas.microsoft.com/office/drawing/2014/main" id="{95BD2715-4C0A-9343-9703-FD30A53BDBAF}"/>
              </a:ext>
            </a:extLst>
          </p:cNvPr>
          <p:cNvSpPr txBox="1"/>
          <p:nvPr/>
        </p:nvSpPr>
        <p:spPr>
          <a:xfrm>
            <a:off x="2079969" y="429466"/>
            <a:ext cx="720080" cy="461665"/>
          </a:xfrm>
          <a:prstGeom prst="rect">
            <a:avLst/>
          </a:prstGeom>
          <a:noFill/>
        </p:spPr>
        <p:txBody>
          <a:bodyPr wrap="square">
            <a:spAutoFit/>
          </a:bodyPr>
          <a:lstStyle/>
          <a:p>
            <a:pPr algn="ctr"/>
            <a:r>
              <a:rPr lang="en-US" altLang="zh-CN" sz="1200" dirty="0">
                <a:solidFill>
                  <a:schemeClr val="tx1">
                    <a:lumMod val="75000"/>
                    <a:lumOff val="25000"/>
                  </a:schemeClr>
                </a:solidFill>
              </a:rPr>
              <a:t>inode</a:t>
            </a:r>
            <a:r>
              <a:rPr lang="zh-CN" altLang="en-US" sz="1200" dirty="0">
                <a:solidFill>
                  <a:schemeClr val="tx1">
                    <a:lumMod val="75000"/>
                    <a:lumOff val="25000"/>
                  </a:schemeClr>
                </a:solidFill>
              </a:rPr>
              <a:t> </a:t>
            </a:r>
            <a:endParaRPr lang="en-US" altLang="zh-CN" sz="1200" dirty="0">
              <a:solidFill>
                <a:schemeClr val="tx1">
                  <a:lumMod val="75000"/>
                  <a:lumOff val="25000"/>
                </a:schemeClr>
              </a:solidFill>
            </a:endParaRPr>
          </a:p>
          <a:p>
            <a:pPr algn="ctr"/>
            <a:r>
              <a:rPr lang="en-US" altLang="zh-CN" sz="1200" dirty="0">
                <a:solidFill>
                  <a:schemeClr val="tx1">
                    <a:lumMod val="75000"/>
                    <a:lumOff val="25000"/>
                  </a:schemeClr>
                </a:solidFill>
              </a:rPr>
              <a:t>bitmap</a:t>
            </a:r>
            <a:endParaRPr lang="zh-CN" altLang="en-US" sz="1200" dirty="0">
              <a:solidFill>
                <a:schemeClr val="tx1">
                  <a:lumMod val="75000"/>
                  <a:lumOff val="25000"/>
                </a:schemeClr>
              </a:solidFill>
            </a:endParaRPr>
          </a:p>
        </p:txBody>
      </p:sp>
      <p:sp>
        <p:nvSpPr>
          <p:cNvPr id="50" name="文本框 49">
            <a:extLst>
              <a:ext uri="{FF2B5EF4-FFF2-40B4-BE49-F238E27FC236}">
                <a16:creationId xmlns:a16="http://schemas.microsoft.com/office/drawing/2014/main" id="{6C1E3684-968B-CA47-874E-62B07298CB1F}"/>
              </a:ext>
            </a:extLst>
          </p:cNvPr>
          <p:cNvSpPr txBox="1"/>
          <p:nvPr/>
        </p:nvSpPr>
        <p:spPr>
          <a:xfrm>
            <a:off x="2800049" y="433181"/>
            <a:ext cx="1427028" cy="276999"/>
          </a:xfrm>
          <a:prstGeom prst="rect">
            <a:avLst/>
          </a:prstGeom>
          <a:noFill/>
        </p:spPr>
        <p:txBody>
          <a:bodyPr wrap="square">
            <a:spAutoFit/>
          </a:bodyPr>
          <a:lstStyle/>
          <a:p>
            <a:pPr algn="ctr"/>
            <a:r>
              <a:rPr lang="en-US" altLang="zh-CN" sz="1200" dirty="0">
                <a:solidFill>
                  <a:schemeClr val="tx1">
                    <a:lumMod val="75000"/>
                    <a:lumOff val="25000"/>
                  </a:schemeClr>
                </a:solidFill>
              </a:rPr>
              <a:t>inode</a:t>
            </a:r>
            <a:r>
              <a:rPr lang="zh-CN" altLang="en-US" sz="1200" dirty="0">
                <a:solidFill>
                  <a:schemeClr val="tx1">
                    <a:lumMod val="75000"/>
                    <a:lumOff val="25000"/>
                  </a:schemeClr>
                </a:solidFill>
              </a:rPr>
              <a:t>  </a:t>
            </a:r>
            <a:r>
              <a:rPr lang="en-US" altLang="zh-CN" sz="1200" dirty="0">
                <a:solidFill>
                  <a:schemeClr val="tx1">
                    <a:lumMod val="75000"/>
                    <a:lumOff val="25000"/>
                  </a:schemeClr>
                </a:solidFill>
              </a:rPr>
              <a:t>table</a:t>
            </a:r>
          </a:p>
        </p:txBody>
      </p:sp>
      <p:sp>
        <p:nvSpPr>
          <p:cNvPr id="51" name="文本框 50">
            <a:extLst>
              <a:ext uri="{FF2B5EF4-FFF2-40B4-BE49-F238E27FC236}">
                <a16:creationId xmlns:a16="http://schemas.microsoft.com/office/drawing/2014/main" id="{0C62AE20-8B38-5A42-B005-9754B27CEF7A}"/>
              </a:ext>
            </a:extLst>
          </p:cNvPr>
          <p:cNvSpPr txBox="1"/>
          <p:nvPr/>
        </p:nvSpPr>
        <p:spPr>
          <a:xfrm>
            <a:off x="4234779" y="409228"/>
            <a:ext cx="3588534" cy="276999"/>
          </a:xfrm>
          <a:prstGeom prst="rect">
            <a:avLst/>
          </a:prstGeom>
          <a:noFill/>
        </p:spPr>
        <p:txBody>
          <a:bodyPr wrap="square">
            <a:spAutoFit/>
          </a:bodyPr>
          <a:lstStyle/>
          <a:p>
            <a:pPr algn="ctr"/>
            <a:r>
              <a:rPr lang="en-US" altLang="zh-CN" sz="1200" dirty="0">
                <a:solidFill>
                  <a:schemeClr val="tx1">
                    <a:lumMod val="75000"/>
                    <a:lumOff val="25000"/>
                  </a:schemeClr>
                </a:solidFill>
              </a:rPr>
              <a:t>data</a:t>
            </a:r>
            <a:r>
              <a:rPr lang="zh-CN" altLang="en-US" sz="1200" dirty="0">
                <a:solidFill>
                  <a:schemeClr val="tx1">
                    <a:lumMod val="75000"/>
                    <a:lumOff val="25000"/>
                  </a:schemeClr>
                </a:solidFill>
              </a:rPr>
              <a:t> </a:t>
            </a:r>
            <a:r>
              <a:rPr lang="en-US" altLang="zh-CN" sz="1200" dirty="0">
                <a:solidFill>
                  <a:schemeClr val="tx1">
                    <a:lumMod val="75000"/>
                    <a:lumOff val="25000"/>
                  </a:schemeClr>
                </a:solidFill>
              </a:rPr>
              <a:t>blocks</a:t>
            </a:r>
          </a:p>
        </p:txBody>
      </p:sp>
      <p:sp>
        <p:nvSpPr>
          <p:cNvPr id="52" name="右大括号 51">
            <a:extLst>
              <a:ext uri="{FF2B5EF4-FFF2-40B4-BE49-F238E27FC236}">
                <a16:creationId xmlns:a16="http://schemas.microsoft.com/office/drawing/2014/main" id="{C776DBC8-0A63-CF4B-A877-CE57B8B388D9}"/>
              </a:ext>
            </a:extLst>
          </p:cNvPr>
          <p:cNvSpPr/>
          <p:nvPr/>
        </p:nvSpPr>
        <p:spPr>
          <a:xfrm rot="16200000">
            <a:off x="3440041" y="56133"/>
            <a:ext cx="144774" cy="1427029"/>
          </a:xfrm>
          <a:prstGeom prst="rightBrace">
            <a:avLst>
              <a:gd name="adj1" fmla="val 47771"/>
              <a:gd name="adj2" fmla="val 50000"/>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sz="1200">
              <a:solidFill>
                <a:schemeClr val="tx1">
                  <a:lumMod val="75000"/>
                  <a:lumOff val="25000"/>
                </a:schemeClr>
              </a:solidFill>
            </a:endParaRPr>
          </a:p>
        </p:txBody>
      </p:sp>
      <p:sp>
        <p:nvSpPr>
          <p:cNvPr id="53" name="右大括号 52">
            <a:extLst>
              <a:ext uri="{FF2B5EF4-FFF2-40B4-BE49-F238E27FC236}">
                <a16:creationId xmlns:a16="http://schemas.microsoft.com/office/drawing/2014/main" id="{CE4CF959-F11E-5745-9FE9-A3BDDEA1E0FA}"/>
              </a:ext>
            </a:extLst>
          </p:cNvPr>
          <p:cNvSpPr/>
          <p:nvPr/>
        </p:nvSpPr>
        <p:spPr>
          <a:xfrm rot="16200000">
            <a:off x="5956659" y="-1024619"/>
            <a:ext cx="144774" cy="3588534"/>
          </a:xfrm>
          <a:prstGeom prst="rightBrace">
            <a:avLst>
              <a:gd name="adj1" fmla="val 47771"/>
              <a:gd name="adj2" fmla="val 50000"/>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sz="1200">
              <a:solidFill>
                <a:schemeClr val="tx1">
                  <a:lumMod val="75000"/>
                  <a:lumOff val="25000"/>
                </a:schemeClr>
              </a:solidFill>
            </a:endParaRPr>
          </a:p>
        </p:txBody>
      </p:sp>
      <p:sp>
        <p:nvSpPr>
          <p:cNvPr id="54" name="文本框 53">
            <a:extLst>
              <a:ext uri="{FF2B5EF4-FFF2-40B4-BE49-F238E27FC236}">
                <a16:creationId xmlns:a16="http://schemas.microsoft.com/office/drawing/2014/main" id="{E425249E-F360-1C44-8B0F-5D5D34C06FF3}"/>
              </a:ext>
            </a:extLst>
          </p:cNvPr>
          <p:cNvSpPr txBox="1"/>
          <p:nvPr/>
        </p:nvSpPr>
        <p:spPr>
          <a:xfrm>
            <a:off x="2539503" y="1767442"/>
            <a:ext cx="665719" cy="461665"/>
          </a:xfrm>
          <a:prstGeom prst="rect">
            <a:avLst/>
          </a:prstGeom>
          <a:noFill/>
        </p:spPr>
        <p:txBody>
          <a:bodyPr wrap="square">
            <a:spAutoFit/>
          </a:bodyPr>
          <a:lstStyle/>
          <a:p>
            <a:pPr algn="ctr"/>
            <a:r>
              <a:rPr lang="en-US" altLang="zh-CN" sz="1200" dirty="0">
                <a:solidFill>
                  <a:schemeClr val="tx1">
                    <a:lumMod val="75000"/>
                    <a:lumOff val="25000"/>
                  </a:schemeClr>
                </a:solidFill>
              </a:rPr>
              <a:t>root</a:t>
            </a:r>
          </a:p>
          <a:p>
            <a:pPr algn="ctr"/>
            <a:r>
              <a:rPr lang="en-US" altLang="zh-CN" sz="1200" dirty="0">
                <a:solidFill>
                  <a:schemeClr val="tx1">
                    <a:lumMod val="75000"/>
                    <a:lumOff val="25000"/>
                  </a:schemeClr>
                </a:solidFill>
              </a:rPr>
              <a:t>inode</a:t>
            </a:r>
          </a:p>
        </p:txBody>
      </p:sp>
      <p:sp>
        <p:nvSpPr>
          <p:cNvPr id="55" name="文本框 54">
            <a:extLst>
              <a:ext uri="{FF2B5EF4-FFF2-40B4-BE49-F238E27FC236}">
                <a16:creationId xmlns:a16="http://schemas.microsoft.com/office/drawing/2014/main" id="{D5BE4D79-36A5-494C-B705-E7CBBC85760B}"/>
              </a:ext>
            </a:extLst>
          </p:cNvPr>
          <p:cNvSpPr txBox="1"/>
          <p:nvPr/>
        </p:nvSpPr>
        <p:spPr>
          <a:xfrm>
            <a:off x="3144005" y="1777380"/>
            <a:ext cx="605200" cy="461665"/>
          </a:xfrm>
          <a:prstGeom prst="rect">
            <a:avLst/>
          </a:prstGeom>
          <a:noFill/>
        </p:spPr>
        <p:txBody>
          <a:bodyPr wrap="square">
            <a:spAutoFit/>
          </a:bodyPr>
          <a:lstStyle/>
          <a:p>
            <a:pPr algn="ctr"/>
            <a:r>
              <a:rPr lang="en-US" altLang="zh-CN" sz="1200" dirty="0" err="1">
                <a:solidFill>
                  <a:schemeClr val="tx1">
                    <a:lumMod val="75000"/>
                    <a:lumOff val="25000"/>
                  </a:schemeClr>
                </a:solidFill>
              </a:rPr>
              <a:t>etc</a:t>
            </a:r>
            <a:endParaRPr lang="en-US" altLang="zh-CN" sz="1200" dirty="0">
              <a:solidFill>
                <a:schemeClr val="tx1">
                  <a:lumMod val="75000"/>
                  <a:lumOff val="25000"/>
                </a:schemeClr>
              </a:solidFill>
            </a:endParaRPr>
          </a:p>
          <a:p>
            <a:pPr algn="ctr"/>
            <a:r>
              <a:rPr lang="en-US" altLang="zh-CN" sz="1200" dirty="0">
                <a:solidFill>
                  <a:schemeClr val="tx1">
                    <a:lumMod val="75000"/>
                    <a:lumOff val="25000"/>
                  </a:schemeClr>
                </a:solidFill>
              </a:rPr>
              <a:t>inode</a:t>
            </a:r>
          </a:p>
        </p:txBody>
      </p:sp>
      <p:sp>
        <p:nvSpPr>
          <p:cNvPr id="56" name="文本框 55">
            <a:extLst>
              <a:ext uri="{FF2B5EF4-FFF2-40B4-BE49-F238E27FC236}">
                <a16:creationId xmlns:a16="http://schemas.microsoft.com/office/drawing/2014/main" id="{161B2892-8F4C-B843-8F1D-BF4C7694949A}"/>
              </a:ext>
            </a:extLst>
          </p:cNvPr>
          <p:cNvSpPr txBox="1"/>
          <p:nvPr/>
        </p:nvSpPr>
        <p:spPr>
          <a:xfrm>
            <a:off x="3487602" y="1763780"/>
            <a:ext cx="1072147" cy="461665"/>
          </a:xfrm>
          <a:prstGeom prst="rect">
            <a:avLst/>
          </a:prstGeom>
          <a:noFill/>
        </p:spPr>
        <p:txBody>
          <a:bodyPr wrap="square">
            <a:spAutoFit/>
          </a:bodyPr>
          <a:lstStyle/>
          <a:p>
            <a:pPr algn="ctr"/>
            <a:r>
              <a:rPr lang="en-US" altLang="zh-CN" sz="1200" dirty="0">
                <a:solidFill>
                  <a:schemeClr val="tx1">
                    <a:lumMod val="75000"/>
                    <a:lumOff val="25000"/>
                  </a:schemeClr>
                </a:solidFill>
              </a:rPr>
              <a:t>hosts</a:t>
            </a:r>
          </a:p>
          <a:p>
            <a:pPr algn="ctr"/>
            <a:r>
              <a:rPr lang="en-US" altLang="zh-CN" sz="1200" dirty="0">
                <a:solidFill>
                  <a:schemeClr val="tx1">
                    <a:lumMod val="75000"/>
                    <a:lumOff val="25000"/>
                  </a:schemeClr>
                </a:solidFill>
              </a:rPr>
              <a:t>inode</a:t>
            </a:r>
          </a:p>
        </p:txBody>
      </p:sp>
      <p:sp>
        <p:nvSpPr>
          <p:cNvPr id="59" name="文本框 58">
            <a:extLst>
              <a:ext uri="{FF2B5EF4-FFF2-40B4-BE49-F238E27FC236}">
                <a16:creationId xmlns:a16="http://schemas.microsoft.com/office/drawing/2014/main" id="{657088DF-603D-BF4C-B9B2-CAF3CD19E6AA}"/>
              </a:ext>
            </a:extLst>
          </p:cNvPr>
          <p:cNvSpPr txBox="1"/>
          <p:nvPr/>
        </p:nvSpPr>
        <p:spPr>
          <a:xfrm>
            <a:off x="1477612" y="2642916"/>
            <a:ext cx="627135" cy="276999"/>
          </a:xfrm>
          <a:prstGeom prst="rect">
            <a:avLst/>
          </a:prstGeom>
          <a:noFill/>
        </p:spPr>
        <p:txBody>
          <a:bodyPr wrap="square" rtlCol="0">
            <a:spAutoFit/>
          </a:bodyPr>
          <a:lstStyle/>
          <a:p>
            <a:pPr algn="ctr"/>
            <a:r>
              <a:rPr kumimoji="1" lang="en-US" altLang="zh-CN" sz="1200" b="1" dirty="0">
                <a:solidFill>
                  <a:schemeClr val="accent1"/>
                </a:solidFill>
                <a:highlight>
                  <a:srgbClr val="FFFF00"/>
                </a:highlight>
              </a:rPr>
              <a:t>write</a:t>
            </a:r>
            <a:endParaRPr kumimoji="1" lang="zh-CN" altLang="en-US" sz="1200" b="1" dirty="0">
              <a:solidFill>
                <a:schemeClr val="accent1"/>
              </a:solidFill>
              <a:highlight>
                <a:srgbClr val="FFFF00"/>
              </a:highlight>
            </a:endParaRPr>
          </a:p>
        </p:txBody>
      </p:sp>
      <p:sp>
        <p:nvSpPr>
          <p:cNvPr id="60" name="文本框 59">
            <a:extLst>
              <a:ext uri="{FF2B5EF4-FFF2-40B4-BE49-F238E27FC236}">
                <a16:creationId xmlns:a16="http://schemas.microsoft.com/office/drawing/2014/main" id="{61F72BC3-9008-9044-BAC0-2BE79B0E080F}"/>
              </a:ext>
            </a:extLst>
          </p:cNvPr>
          <p:cNvSpPr txBox="1"/>
          <p:nvPr/>
        </p:nvSpPr>
        <p:spPr>
          <a:xfrm>
            <a:off x="7915122" y="2649384"/>
            <a:ext cx="627135" cy="276999"/>
          </a:xfrm>
          <a:prstGeom prst="rect">
            <a:avLst/>
          </a:prstGeom>
          <a:noFill/>
        </p:spPr>
        <p:txBody>
          <a:bodyPr wrap="square" rtlCol="0">
            <a:spAutoFit/>
          </a:bodyPr>
          <a:lstStyle/>
          <a:p>
            <a:pPr algn="ctr"/>
            <a:r>
              <a:rPr kumimoji="1" lang="en-US" altLang="zh-CN" sz="1200" b="1" dirty="0">
                <a:solidFill>
                  <a:schemeClr val="accent1"/>
                </a:solidFill>
                <a:highlight>
                  <a:srgbClr val="FFFF00"/>
                </a:highlight>
              </a:rPr>
              <a:t>write</a:t>
            </a:r>
            <a:endParaRPr kumimoji="1" lang="zh-CN" altLang="en-US" sz="1200" b="1" dirty="0">
              <a:solidFill>
                <a:schemeClr val="accent1"/>
              </a:solidFill>
              <a:highlight>
                <a:srgbClr val="FFFF00"/>
              </a:highlight>
            </a:endParaRPr>
          </a:p>
        </p:txBody>
      </p:sp>
      <p:sp>
        <p:nvSpPr>
          <p:cNvPr id="61" name="文本框 60">
            <a:extLst>
              <a:ext uri="{FF2B5EF4-FFF2-40B4-BE49-F238E27FC236}">
                <a16:creationId xmlns:a16="http://schemas.microsoft.com/office/drawing/2014/main" id="{FB704990-F5D6-A744-A077-EA9A03D6211D}"/>
              </a:ext>
            </a:extLst>
          </p:cNvPr>
          <p:cNvSpPr txBox="1"/>
          <p:nvPr/>
        </p:nvSpPr>
        <p:spPr>
          <a:xfrm>
            <a:off x="3710107" y="2641476"/>
            <a:ext cx="627135" cy="276999"/>
          </a:xfrm>
          <a:prstGeom prst="rect">
            <a:avLst/>
          </a:prstGeom>
          <a:noFill/>
        </p:spPr>
        <p:txBody>
          <a:bodyPr wrap="square" rtlCol="0">
            <a:spAutoFit/>
          </a:bodyPr>
          <a:lstStyle/>
          <a:p>
            <a:pPr algn="ctr"/>
            <a:r>
              <a:rPr kumimoji="1" lang="en-US" altLang="zh-CN" sz="1200" b="1" dirty="0">
                <a:solidFill>
                  <a:schemeClr val="accent1"/>
                </a:solidFill>
                <a:highlight>
                  <a:srgbClr val="FFFF00"/>
                </a:highlight>
              </a:rPr>
              <a:t>write</a:t>
            </a:r>
            <a:endParaRPr kumimoji="1" lang="zh-CN" altLang="en-US" sz="1200" b="1" dirty="0">
              <a:solidFill>
                <a:schemeClr val="accent1"/>
              </a:solidFill>
              <a:highlight>
                <a:srgbClr val="FFFF00"/>
              </a:highlight>
            </a:endParaRPr>
          </a:p>
        </p:txBody>
      </p:sp>
      <p:cxnSp>
        <p:nvCxnSpPr>
          <p:cNvPr id="72" name="直线连接符 71">
            <a:extLst>
              <a:ext uri="{FF2B5EF4-FFF2-40B4-BE49-F238E27FC236}">
                <a16:creationId xmlns:a16="http://schemas.microsoft.com/office/drawing/2014/main" id="{4A3AFC31-B83D-7F44-9CAD-3196211461FD}"/>
              </a:ext>
            </a:extLst>
          </p:cNvPr>
          <p:cNvCxnSpPr>
            <a:cxnSpLocks/>
          </p:cNvCxnSpPr>
          <p:nvPr/>
        </p:nvCxnSpPr>
        <p:spPr>
          <a:xfrm>
            <a:off x="643343" y="2342600"/>
            <a:ext cx="7898914" cy="0"/>
          </a:xfrm>
          <a:prstGeom prst="line">
            <a:avLst/>
          </a:prstGeom>
        </p:spPr>
        <p:style>
          <a:lnRef idx="1">
            <a:schemeClr val="dk1"/>
          </a:lnRef>
          <a:fillRef idx="0">
            <a:schemeClr val="dk1"/>
          </a:fillRef>
          <a:effectRef idx="0">
            <a:schemeClr val="dk1"/>
          </a:effectRef>
          <a:fontRef idx="minor">
            <a:schemeClr val="tx1"/>
          </a:fontRef>
        </p:style>
      </p:cxnSp>
      <p:sp>
        <p:nvSpPr>
          <p:cNvPr id="76" name="文本框 75">
            <a:extLst>
              <a:ext uri="{FF2B5EF4-FFF2-40B4-BE49-F238E27FC236}">
                <a16:creationId xmlns:a16="http://schemas.microsoft.com/office/drawing/2014/main" id="{A170A87F-26FD-E243-8D23-45BD746E3EEC}"/>
              </a:ext>
            </a:extLst>
          </p:cNvPr>
          <p:cNvSpPr txBox="1"/>
          <p:nvPr/>
        </p:nvSpPr>
        <p:spPr>
          <a:xfrm>
            <a:off x="539552" y="2642916"/>
            <a:ext cx="834717" cy="276999"/>
          </a:xfrm>
          <a:prstGeom prst="rect">
            <a:avLst/>
          </a:prstGeom>
          <a:noFill/>
        </p:spPr>
        <p:txBody>
          <a:bodyPr wrap="square" rtlCol="0">
            <a:spAutoFit/>
          </a:bodyPr>
          <a:lstStyle/>
          <a:p>
            <a:pPr algn="ctr"/>
            <a:r>
              <a:rPr kumimoji="1" lang="en-US" altLang="zh-CN" sz="1200" b="1" dirty="0"/>
              <a:t>append()</a:t>
            </a:r>
            <a:endParaRPr kumimoji="1" lang="zh-CN" altLang="en-US" sz="1200" b="1" dirty="0"/>
          </a:p>
        </p:txBody>
      </p:sp>
      <p:sp>
        <p:nvSpPr>
          <p:cNvPr id="82" name="矩形 81">
            <a:extLst>
              <a:ext uri="{FF2B5EF4-FFF2-40B4-BE49-F238E27FC236}">
                <a16:creationId xmlns:a16="http://schemas.microsoft.com/office/drawing/2014/main" id="{52AB00BD-1BBE-2140-9FBF-E6AA35BF266C}"/>
              </a:ext>
            </a:extLst>
          </p:cNvPr>
          <p:cNvSpPr/>
          <p:nvPr/>
        </p:nvSpPr>
        <p:spPr>
          <a:xfrm>
            <a:off x="7822177" y="985292"/>
            <a:ext cx="720080" cy="720080"/>
          </a:xfrm>
          <a:prstGeom prst="rect">
            <a:avLst/>
          </a:prstGeom>
          <a:solidFill>
            <a:schemeClr val="accent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100" b="0" i="0" u="none" strike="noStrike" kern="1200" cap="none" spc="0" normalizeH="0" baseline="0" noProof="0" dirty="0">
                <a:ln>
                  <a:noFill/>
                </a:ln>
                <a:solidFill>
                  <a:schemeClr val="bg1"/>
                </a:solidFill>
                <a:effectLst/>
                <a:uLnTx/>
                <a:uFillTx/>
                <a:latin typeface="Arial" panose="020B0604020202020204"/>
                <a:ea typeface="微软雅黑"/>
                <a:cs typeface="+mn-cs"/>
              </a:rPr>
              <a:t>hosts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zh-CN" sz="1100" b="0" i="0" u="none" strike="noStrike" kern="1200" cap="none" spc="0" normalizeH="0" baseline="0" noProof="0" dirty="0">
              <a:ln>
                <a:noFill/>
              </a:ln>
              <a:solidFill>
                <a:schemeClr val="bg1"/>
              </a:solidFill>
              <a:effectLst/>
              <a:uLnTx/>
              <a:uFillTx/>
              <a:latin typeface="Arial" panose="020B0604020202020204"/>
              <a:ea typeface="微软雅黑"/>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100" b="0" i="0" u="none" strike="noStrike" kern="1200" cap="none" spc="0" normalizeH="0" baseline="0" noProof="0" dirty="0">
                <a:ln>
                  <a:noFill/>
                </a:ln>
                <a:solidFill>
                  <a:schemeClr val="bg1"/>
                </a:solidFill>
                <a:effectLst/>
                <a:uLnTx/>
                <a:uFillTx/>
                <a:latin typeface="Arial" panose="020B0604020202020204"/>
                <a:ea typeface="微软雅黑"/>
                <a:cs typeface="+mn-cs"/>
              </a:rPr>
              <a:t>block[5]</a:t>
            </a:r>
            <a:endParaRPr kumimoji="1" lang="zh-CN" altLang="en-US" sz="1100" b="0" i="0" u="none" strike="noStrike" kern="1200" cap="none" spc="0" normalizeH="0" baseline="0" noProof="0" dirty="0">
              <a:ln>
                <a:noFill/>
              </a:ln>
              <a:solidFill>
                <a:schemeClr val="bg1"/>
              </a:solidFill>
              <a:effectLst/>
              <a:uLnTx/>
              <a:uFillTx/>
              <a:latin typeface="Arial" panose="020B0604020202020204"/>
              <a:ea typeface="微软雅黑"/>
              <a:cs typeface="+mn-cs"/>
            </a:endParaRPr>
          </a:p>
        </p:txBody>
      </p:sp>
      <p:sp>
        <p:nvSpPr>
          <p:cNvPr id="85" name="内容占位符 2">
            <a:extLst>
              <a:ext uri="{FF2B5EF4-FFF2-40B4-BE49-F238E27FC236}">
                <a16:creationId xmlns:a16="http://schemas.microsoft.com/office/drawing/2014/main" id="{AE07C1D7-CFCC-D045-B38A-5B7E245141A7}"/>
              </a:ext>
            </a:extLst>
          </p:cNvPr>
          <p:cNvSpPr>
            <a:spLocks noGrp="1"/>
          </p:cNvSpPr>
          <p:nvPr>
            <p:ph idx="1"/>
          </p:nvPr>
        </p:nvSpPr>
        <p:spPr>
          <a:xfrm>
            <a:off x="2472718" y="3203607"/>
            <a:ext cx="2629977" cy="1800390"/>
          </a:xfrm>
        </p:spPr>
        <p:txBody>
          <a:bodyPr/>
          <a:lstStyle/>
          <a:p>
            <a:pPr marL="0" indent="0">
              <a:buNone/>
            </a:pPr>
            <a:r>
              <a:rPr kumimoji="1" lang="en-US" altLang="zh-CN" sz="1400" dirty="0"/>
              <a:t>inode of</a:t>
            </a:r>
            <a:r>
              <a:rPr kumimoji="1" lang="zh-CN" altLang="en-US" sz="1400" dirty="0"/>
              <a:t> </a:t>
            </a:r>
            <a:r>
              <a:rPr kumimoji="1" lang="en-US" altLang="zh-CN" sz="1400" dirty="0"/>
              <a:t>/</a:t>
            </a:r>
            <a:r>
              <a:rPr kumimoji="1" lang="en-US" altLang="zh-CN" sz="1400" dirty="0" err="1"/>
              <a:t>etc</a:t>
            </a:r>
            <a:r>
              <a:rPr kumimoji="1" lang="en-US" altLang="zh-CN" sz="1400" dirty="0"/>
              <a:t>/hosts</a:t>
            </a:r>
            <a:r>
              <a:rPr kumimoji="1" lang="zh-CN" altLang="en-US" sz="1400" dirty="0"/>
              <a:t> </a:t>
            </a:r>
            <a:r>
              <a:rPr kumimoji="1" lang="en-US" altLang="zh-CN" sz="1400" dirty="0"/>
              <a:t>(</a:t>
            </a:r>
            <a:r>
              <a:rPr kumimoji="1" lang="zh-CN" altLang="en-US" sz="1400" dirty="0"/>
              <a:t>旧</a:t>
            </a:r>
            <a:r>
              <a:rPr kumimoji="1" lang="en-US" altLang="zh-CN" sz="1400" dirty="0"/>
              <a:t>)</a:t>
            </a:r>
          </a:p>
          <a:p>
            <a:pPr indent="-285750">
              <a:spcBef>
                <a:spcPts val="0"/>
              </a:spcBef>
            </a:pPr>
            <a:r>
              <a:rPr kumimoji="1" lang="en-US" altLang="zh-CN" sz="1400" b="0" dirty="0"/>
              <a:t>size : 8000</a:t>
            </a:r>
          </a:p>
          <a:p>
            <a:pPr marL="342900" lvl="1">
              <a:spcBef>
                <a:spcPts val="0"/>
              </a:spcBef>
              <a:buFont typeface="Arial" pitchFamily="34" charset="0"/>
              <a:buChar char="•"/>
            </a:pPr>
            <a:r>
              <a:rPr kumimoji="1" lang="en-US" altLang="zh-CN" sz="1400" dirty="0"/>
              <a:t>pointer : block[3]</a:t>
            </a:r>
          </a:p>
          <a:p>
            <a:pPr marL="342900" lvl="1">
              <a:spcBef>
                <a:spcPts val="0"/>
              </a:spcBef>
              <a:buFont typeface="Arial" pitchFamily="34" charset="0"/>
              <a:buChar char="•"/>
            </a:pPr>
            <a:r>
              <a:rPr kumimoji="1" lang="en-US" altLang="zh-CN" sz="1400" dirty="0"/>
              <a:t>pointer : block[4]</a:t>
            </a:r>
          </a:p>
          <a:p>
            <a:pPr marL="342900" lvl="1">
              <a:spcBef>
                <a:spcPts val="0"/>
              </a:spcBef>
              <a:buFont typeface="Arial" pitchFamily="34" charset="0"/>
              <a:buChar char="•"/>
            </a:pPr>
            <a:r>
              <a:rPr kumimoji="1" lang="en-US" altLang="zh-CN" sz="1400" dirty="0"/>
              <a:t>pointer : null</a:t>
            </a:r>
          </a:p>
        </p:txBody>
      </p:sp>
      <p:sp>
        <p:nvSpPr>
          <p:cNvPr id="86" name="内容占位符 2">
            <a:extLst>
              <a:ext uri="{FF2B5EF4-FFF2-40B4-BE49-F238E27FC236}">
                <a16:creationId xmlns:a16="http://schemas.microsoft.com/office/drawing/2014/main" id="{BA222CA1-9A55-F147-8370-F3248F49509D}"/>
              </a:ext>
            </a:extLst>
          </p:cNvPr>
          <p:cNvSpPr txBox="1">
            <a:spLocks/>
          </p:cNvSpPr>
          <p:nvPr/>
        </p:nvSpPr>
        <p:spPr>
          <a:xfrm>
            <a:off x="5102695" y="3209671"/>
            <a:ext cx="2133601" cy="1800390"/>
          </a:xfrm>
          <a:prstGeom prst="rect">
            <a:avLst/>
          </a:prstGeom>
        </p:spPr>
        <p:txBody>
          <a:bodyPr vert="horz" lIns="91440" tIns="45720" rIns="91440" bIns="45720" rtlCol="0">
            <a:normAutofit/>
          </a:bodyPr>
          <a:lstStyle>
            <a:lvl1pPr marL="0" indent="0" algn="l" defTabSz="914400" rtl="0" eaLnBrk="1" latinLnBrk="0" hangingPunct="1">
              <a:lnSpc>
                <a:spcPct val="120000"/>
              </a:lnSpc>
              <a:spcBef>
                <a:spcPts val="1200"/>
              </a:spcBef>
              <a:buFontTx/>
              <a:buNone/>
              <a:defRPr sz="1800" b="1" i="0" kern="1200">
                <a:solidFill>
                  <a:schemeClr val="tx1">
                    <a:lumMod val="75000"/>
                    <a:lumOff val="25000"/>
                  </a:schemeClr>
                </a:solidFill>
                <a:latin typeface="+mn-lt"/>
                <a:ea typeface="+mn-ea"/>
                <a:cs typeface="PingFang SC" panose="020B0400000000000000" pitchFamily="34" charset="-122"/>
              </a:defRPr>
            </a:lvl1pPr>
            <a:lvl2pPr marL="360000" indent="-28575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mn-ea"/>
                <a:cs typeface="PingFang SC" panose="020B0400000000000000" pitchFamily="34" charset="-122"/>
              </a:defRPr>
            </a:lvl2pPr>
            <a:lvl3pPr marL="11430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mn-ea"/>
                <a:cs typeface="PingFang SC" panose="020B0400000000000000" pitchFamily="34" charset="-122"/>
              </a:defRPr>
            </a:lvl3pPr>
            <a:lvl4pPr marL="16002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mn-ea"/>
                <a:cs typeface="PingFang SC" panose="020B0400000000000000" pitchFamily="34" charset="-122"/>
              </a:defRPr>
            </a:lvl4pPr>
            <a:lvl5pPr marL="20574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mn-ea"/>
                <a:cs typeface="PingFang SC" panose="020B0400000000000000" pitchFamily="34" charset="-122"/>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kumimoji="1" lang="zh-CN" altLang="en-US" sz="1400" dirty="0"/>
              <a:t>新的</a:t>
            </a:r>
            <a:r>
              <a:rPr kumimoji="1" lang="en-US" altLang="zh-CN" sz="1400" dirty="0"/>
              <a:t>inode</a:t>
            </a:r>
          </a:p>
          <a:p>
            <a:pPr marL="342900" lvl="1">
              <a:spcBef>
                <a:spcPts val="0"/>
              </a:spcBef>
              <a:buFont typeface="Arial" pitchFamily="34" charset="0"/>
              <a:buChar char="•"/>
            </a:pPr>
            <a:r>
              <a:rPr kumimoji="1" lang="en-US" altLang="zh-CN" sz="1400" dirty="0">
                <a:ea typeface="微软雅黑" panose="020B0503020204020204" pitchFamily="34" charset="-122"/>
              </a:rPr>
              <a:t>size : </a:t>
            </a:r>
            <a:r>
              <a:rPr kumimoji="1" lang="en-US" altLang="zh-CN" sz="1400" dirty="0">
                <a:solidFill>
                  <a:schemeClr val="accent1"/>
                </a:solidFill>
                <a:ea typeface="微软雅黑" panose="020B0503020204020204" pitchFamily="34" charset="-122"/>
              </a:rPr>
              <a:t>9000</a:t>
            </a:r>
          </a:p>
          <a:p>
            <a:pPr marL="342900" lvl="1">
              <a:spcBef>
                <a:spcPts val="0"/>
              </a:spcBef>
              <a:buFont typeface="Arial" pitchFamily="34" charset="0"/>
              <a:buChar char="•"/>
            </a:pPr>
            <a:r>
              <a:rPr kumimoji="1" lang="en-US" altLang="zh-CN" sz="1400" dirty="0">
                <a:ea typeface="微软雅黑" panose="020B0503020204020204" pitchFamily="34" charset="-122"/>
              </a:rPr>
              <a:t>pointer : block[3]</a:t>
            </a:r>
          </a:p>
          <a:p>
            <a:pPr marL="342900" lvl="1">
              <a:spcBef>
                <a:spcPts val="0"/>
              </a:spcBef>
              <a:buFont typeface="Arial" pitchFamily="34" charset="0"/>
              <a:buChar char="•"/>
            </a:pPr>
            <a:r>
              <a:rPr kumimoji="1" lang="en-US" altLang="zh-CN" sz="1400" dirty="0">
                <a:ea typeface="微软雅黑" panose="020B0503020204020204" pitchFamily="34" charset="-122"/>
              </a:rPr>
              <a:t>pointer :</a:t>
            </a:r>
            <a:r>
              <a:rPr kumimoji="1" lang="zh-CN" altLang="en-US" sz="1400" dirty="0">
                <a:ea typeface="微软雅黑" panose="020B0503020204020204" pitchFamily="34" charset="-122"/>
              </a:rPr>
              <a:t> </a:t>
            </a:r>
            <a:r>
              <a:rPr kumimoji="1" lang="en-US" altLang="zh-CN" sz="1400" dirty="0">
                <a:ea typeface="微软雅黑" panose="020B0503020204020204" pitchFamily="34" charset="-122"/>
              </a:rPr>
              <a:t>block[4]</a:t>
            </a:r>
          </a:p>
          <a:p>
            <a:pPr marL="342900" lvl="1">
              <a:spcBef>
                <a:spcPts val="0"/>
              </a:spcBef>
              <a:buFont typeface="Arial" pitchFamily="34" charset="0"/>
              <a:buChar char="•"/>
            </a:pPr>
            <a:r>
              <a:rPr kumimoji="1" lang="en-US" altLang="zh-CN" sz="1400" dirty="0">
                <a:ea typeface="微软雅黑" panose="020B0503020204020204" pitchFamily="34" charset="-122"/>
              </a:rPr>
              <a:t>pointer : </a:t>
            </a:r>
            <a:r>
              <a:rPr kumimoji="1" lang="en-US" altLang="zh-CN" sz="1400" dirty="0">
                <a:solidFill>
                  <a:schemeClr val="accent1"/>
                </a:solidFill>
                <a:ea typeface="微软雅黑" panose="020B0503020204020204" pitchFamily="34" charset="-122"/>
              </a:rPr>
              <a:t>block[5]</a:t>
            </a:r>
          </a:p>
        </p:txBody>
      </p:sp>
      <p:sp>
        <p:nvSpPr>
          <p:cNvPr id="88" name="右大括号 87">
            <a:extLst>
              <a:ext uri="{FF2B5EF4-FFF2-40B4-BE49-F238E27FC236}">
                <a16:creationId xmlns:a16="http://schemas.microsoft.com/office/drawing/2014/main" id="{ABD61CB0-2114-B744-873C-2401723FE92A}"/>
              </a:ext>
            </a:extLst>
          </p:cNvPr>
          <p:cNvSpPr/>
          <p:nvPr/>
        </p:nvSpPr>
        <p:spPr>
          <a:xfrm rot="16200000">
            <a:off x="4630675" y="979249"/>
            <a:ext cx="144774" cy="4202377"/>
          </a:xfrm>
          <a:prstGeom prst="rightBrace">
            <a:avLst>
              <a:gd name="adj1" fmla="val 47771"/>
              <a:gd name="adj2" fmla="val 3310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sz="1200"/>
          </a:p>
        </p:txBody>
      </p:sp>
      <p:sp>
        <p:nvSpPr>
          <p:cNvPr id="89" name="右大括号 88">
            <a:extLst>
              <a:ext uri="{FF2B5EF4-FFF2-40B4-BE49-F238E27FC236}">
                <a16:creationId xmlns:a16="http://schemas.microsoft.com/office/drawing/2014/main" id="{7896A985-37E7-9840-9CD1-C09BF4B82C6C}"/>
              </a:ext>
            </a:extLst>
          </p:cNvPr>
          <p:cNvSpPr/>
          <p:nvPr/>
        </p:nvSpPr>
        <p:spPr>
          <a:xfrm rot="16200000">
            <a:off x="1498852" y="2543373"/>
            <a:ext cx="144774" cy="1067023"/>
          </a:xfrm>
          <a:prstGeom prst="rightBrace">
            <a:avLst>
              <a:gd name="adj1" fmla="val 47771"/>
              <a:gd name="adj2" fmla="val 73704"/>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sz="1200"/>
          </a:p>
        </p:txBody>
      </p:sp>
      <p:sp>
        <p:nvSpPr>
          <p:cNvPr id="68" name="右箭头 67">
            <a:extLst>
              <a:ext uri="{FF2B5EF4-FFF2-40B4-BE49-F238E27FC236}">
                <a16:creationId xmlns:a16="http://schemas.microsoft.com/office/drawing/2014/main" id="{91D78994-E437-8F4D-8AD8-0A91A68A9999}"/>
              </a:ext>
            </a:extLst>
          </p:cNvPr>
          <p:cNvSpPr/>
          <p:nvPr/>
        </p:nvSpPr>
        <p:spPr>
          <a:xfrm>
            <a:off x="4722653" y="3937305"/>
            <a:ext cx="317640" cy="216024"/>
          </a:xfrm>
          <a:prstGeom prst="rightArrow">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0" name="内容占位符 2">
            <a:extLst>
              <a:ext uri="{FF2B5EF4-FFF2-40B4-BE49-F238E27FC236}">
                <a16:creationId xmlns:a16="http://schemas.microsoft.com/office/drawing/2014/main" id="{EA6329FC-072F-E04B-94A4-37E6E4A26F5D}"/>
              </a:ext>
            </a:extLst>
          </p:cNvPr>
          <p:cNvSpPr txBox="1">
            <a:spLocks/>
          </p:cNvSpPr>
          <p:nvPr/>
        </p:nvSpPr>
        <p:spPr>
          <a:xfrm>
            <a:off x="956910" y="3203607"/>
            <a:ext cx="1349171" cy="676778"/>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1200"/>
              </a:spcBef>
              <a:buFont typeface="Arial" pitchFamily="34" charset="0"/>
              <a:buChar char="•"/>
              <a:defRPr sz="26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itchFamily="34" charset="0"/>
              <a:buChar char="–"/>
              <a:defRPr sz="24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kumimoji="1" lang="en-US" altLang="zh-CN" sz="1400" dirty="0"/>
              <a:t>bitmap[5]</a:t>
            </a:r>
            <a:r>
              <a:rPr kumimoji="1" lang="zh-CN" altLang="en-US" sz="1400" dirty="0"/>
              <a:t> </a:t>
            </a:r>
            <a:r>
              <a:rPr kumimoji="1" lang="en-US" altLang="zh-CN" sz="1400" dirty="0"/>
              <a:t>=</a:t>
            </a:r>
            <a:r>
              <a:rPr kumimoji="1" lang="zh-CN" altLang="en-US" sz="1400" dirty="0"/>
              <a:t> </a:t>
            </a:r>
            <a:r>
              <a:rPr kumimoji="1" lang="en-US" altLang="zh-CN" sz="1400" dirty="0">
                <a:solidFill>
                  <a:schemeClr val="accent1"/>
                </a:solidFill>
              </a:rPr>
              <a:t>1</a:t>
            </a:r>
          </a:p>
        </p:txBody>
      </p:sp>
      <p:sp>
        <p:nvSpPr>
          <p:cNvPr id="92" name="内容占位符 2">
            <a:extLst>
              <a:ext uri="{FF2B5EF4-FFF2-40B4-BE49-F238E27FC236}">
                <a16:creationId xmlns:a16="http://schemas.microsoft.com/office/drawing/2014/main" id="{7231DDF9-9D5B-0849-AB1F-C49A0365A2A9}"/>
              </a:ext>
            </a:extLst>
          </p:cNvPr>
          <p:cNvSpPr txBox="1">
            <a:spLocks/>
          </p:cNvSpPr>
          <p:nvPr/>
        </p:nvSpPr>
        <p:spPr>
          <a:xfrm>
            <a:off x="7537427" y="3209680"/>
            <a:ext cx="1163489" cy="1519703"/>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1200"/>
              </a:spcBef>
              <a:buFont typeface="Arial" pitchFamily="34" charset="0"/>
              <a:buChar char="•"/>
              <a:defRPr sz="26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itchFamily="34" charset="0"/>
              <a:buChar char="–"/>
              <a:defRPr sz="24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kumimoji="1" lang="en-US" altLang="zh-CN" sz="1400" dirty="0"/>
              <a:t>block[5]</a:t>
            </a:r>
            <a:r>
              <a:rPr kumimoji="1" lang="zh-CN" altLang="en-US" sz="1400" dirty="0"/>
              <a:t> </a:t>
            </a:r>
            <a:r>
              <a:rPr kumimoji="1" lang="en-US" altLang="zh-CN" sz="1400" dirty="0"/>
              <a:t>=</a:t>
            </a:r>
            <a:r>
              <a:rPr kumimoji="1" lang="zh-CN" altLang="en-US" sz="1400" dirty="0"/>
              <a:t> </a:t>
            </a:r>
            <a:r>
              <a:rPr kumimoji="1" lang="en-US" altLang="zh-CN" sz="1400" dirty="0" err="1">
                <a:solidFill>
                  <a:schemeClr val="accent1"/>
                </a:solidFill>
              </a:rPr>
              <a:t>xxxxxxxxxxxxxxxxxxxxxxxxxxx</a:t>
            </a:r>
            <a:endParaRPr kumimoji="1" lang="en-US" altLang="zh-CN" sz="1400" dirty="0">
              <a:solidFill>
                <a:schemeClr val="accent1"/>
              </a:solidFill>
            </a:endParaRPr>
          </a:p>
        </p:txBody>
      </p:sp>
      <p:sp>
        <p:nvSpPr>
          <p:cNvPr id="93" name="右大括号 92">
            <a:extLst>
              <a:ext uri="{FF2B5EF4-FFF2-40B4-BE49-F238E27FC236}">
                <a16:creationId xmlns:a16="http://schemas.microsoft.com/office/drawing/2014/main" id="{114B0A3E-FE48-3241-920A-62919FB31043}"/>
              </a:ext>
            </a:extLst>
          </p:cNvPr>
          <p:cNvSpPr/>
          <p:nvPr/>
        </p:nvSpPr>
        <p:spPr>
          <a:xfrm rot="16200000">
            <a:off x="7998552" y="2540392"/>
            <a:ext cx="144774" cy="1067024"/>
          </a:xfrm>
          <a:prstGeom prst="rightBrace">
            <a:avLst>
              <a:gd name="adj1" fmla="val 47771"/>
              <a:gd name="adj2" fmla="val 674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sz="1200"/>
          </a:p>
        </p:txBody>
      </p:sp>
      <p:cxnSp>
        <p:nvCxnSpPr>
          <p:cNvPr id="70" name="直线箭头连接符 69">
            <a:extLst>
              <a:ext uri="{FF2B5EF4-FFF2-40B4-BE49-F238E27FC236}">
                <a16:creationId xmlns:a16="http://schemas.microsoft.com/office/drawing/2014/main" id="{D311279C-19C0-1D44-8968-3DEB5E871B0D}"/>
              </a:ext>
            </a:extLst>
          </p:cNvPr>
          <p:cNvCxnSpPr>
            <a:cxnSpLocks/>
            <a:endCxn id="59" idx="0"/>
          </p:cNvCxnSpPr>
          <p:nvPr/>
        </p:nvCxnSpPr>
        <p:spPr>
          <a:xfrm>
            <a:off x="1791180" y="1773643"/>
            <a:ext cx="0" cy="869273"/>
          </a:xfrm>
          <a:prstGeom prst="straightConnector1">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5" name="直线箭头连接符 94">
            <a:extLst>
              <a:ext uri="{FF2B5EF4-FFF2-40B4-BE49-F238E27FC236}">
                <a16:creationId xmlns:a16="http://schemas.microsoft.com/office/drawing/2014/main" id="{2E221A35-6898-5B4F-845A-1A8FE12A548E}"/>
              </a:ext>
            </a:extLst>
          </p:cNvPr>
          <p:cNvCxnSpPr>
            <a:cxnSpLocks/>
            <a:stCxn id="56" idx="2"/>
            <a:endCxn id="61" idx="0"/>
          </p:cNvCxnSpPr>
          <p:nvPr/>
        </p:nvCxnSpPr>
        <p:spPr>
          <a:xfrm flipH="1">
            <a:off x="4023675" y="2225445"/>
            <a:ext cx="1" cy="416031"/>
          </a:xfrm>
          <a:prstGeom prst="straightConnector1">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9" name="直线箭头连接符 98">
            <a:extLst>
              <a:ext uri="{FF2B5EF4-FFF2-40B4-BE49-F238E27FC236}">
                <a16:creationId xmlns:a16="http://schemas.microsoft.com/office/drawing/2014/main" id="{F0694101-5344-A74D-9484-05CE29F5CA1D}"/>
              </a:ext>
            </a:extLst>
          </p:cNvPr>
          <p:cNvCxnSpPr>
            <a:cxnSpLocks/>
            <a:endCxn id="60" idx="0"/>
          </p:cNvCxnSpPr>
          <p:nvPr/>
        </p:nvCxnSpPr>
        <p:spPr>
          <a:xfrm>
            <a:off x="8228690" y="1773643"/>
            <a:ext cx="0" cy="875741"/>
          </a:xfrm>
          <a:prstGeom prst="straightConnector1">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03" name="文本框 102">
            <a:extLst>
              <a:ext uri="{FF2B5EF4-FFF2-40B4-BE49-F238E27FC236}">
                <a16:creationId xmlns:a16="http://schemas.microsoft.com/office/drawing/2014/main" id="{8EB613C3-6283-6443-8945-D0F475A6A9CD}"/>
              </a:ext>
            </a:extLst>
          </p:cNvPr>
          <p:cNvSpPr txBox="1"/>
          <p:nvPr/>
        </p:nvSpPr>
        <p:spPr>
          <a:xfrm>
            <a:off x="298917" y="4264157"/>
            <a:ext cx="2118322" cy="1184940"/>
          </a:xfrm>
          <a:prstGeom prst="rect">
            <a:avLst/>
          </a:prstGeom>
          <a:solidFill>
            <a:schemeClr val="accent1">
              <a:lumMod val="20000"/>
              <a:lumOff val="80000"/>
            </a:schemeClr>
          </a:solidFill>
          <a:ln>
            <a:solidFill>
              <a:schemeClr val="accent1">
                <a:lumMod val="75000"/>
              </a:schemeClr>
            </a:solidFill>
          </a:ln>
        </p:spPr>
        <p:txBody>
          <a:bodyPr wrap="square">
            <a:spAutoFit/>
          </a:bodyPr>
          <a:lstStyle/>
          <a:p>
            <a:pPr>
              <a:lnSpc>
                <a:spcPct val="130000"/>
              </a:lnSpc>
            </a:pPr>
            <a:r>
              <a:rPr kumimoji="1" lang="en-US" altLang="zh-CN" sz="1400" b="1" dirty="0">
                <a:solidFill>
                  <a:schemeClr val="accent1"/>
                </a:solidFill>
              </a:rPr>
              <a:t>append</a:t>
            </a:r>
            <a:r>
              <a:rPr kumimoji="1" lang="zh-CN" altLang="en-US" sz="1400" b="1" dirty="0">
                <a:solidFill>
                  <a:schemeClr val="accent1"/>
                </a:solidFill>
              </a:rPr>
              <a:t>包含三个磁盘写</a:t>
            </a:r>
            <a:endParaRPr kumimoji="1" lang="en-US" altLang="zh-CN" sz="1400" b="1" dirty="0">
              <a:solidFill>
                <a:schemeClr val="accent1"/>
              </a:solidFill>
            </a:endParaRPr>
          </a:p>
          <a:p>
            <a:pPr marL="342900" indent="-342900">
              <a:lnSpc>
                <a:spcPct val="130000"/>
              </a:lnSpc>
              <a:buAutoNum type="arabicPeriod"/>
            </a:pPr>
            <a:r>
              <a:rPr kumimoji="1" lang="zh-CN" altLang="en-US" sz="1400" b="0" dirty="0"/>
              <a:t>写入新数据</a:t>
            </a:r>
            <a:endParaRPr kumimoji="1" lang="en-US" altLang="zh-CN" sz="1400" b="0" dirty="0"/>
          </a:p>
          <a:p>
            <a:pPr marL="342900" indent="-342900">
              <a:lnSpc>
                <a:spcPct val="130000"/>
              </a:lnSpc>
              <a:buAutoNum type="arabicPeriod"/>
            </a:pPr>
            <a:r>
              <a:rPr kumimoji="1" lang="zh-CN" altLang="en-US" sz="1400" b="0" dirty="0"/>
              <a:t>写入新</a:t>
            </a:r>
            <a:r>
              <a:rPr kumimoji="1" lang="en-US" altLang="zh-CN" sz="1400" b="0" dirty="0"/>
              <a:t>inode</a:t>
            </a:r>
          </a:p>
          <a:p>
            <a:pPr marL="342900" indent="-342900">
              <a:lnSpc>
                <a:spcPct val="130000"/>
              </a:lnSpc>
              <a:buAutoNum type="arabicPeriod"/>
            </a:pPr>
            <a:r>
              <a:rPr kumimoji="1" lang="zh-CN" altLang="en-US" sz="1400" b="0" dirty="0"/>
              <a:t>更新</a:t>
            </a:r>
            <a:r>
              <a:rPr kumimoji="1" lang="en-US" altLang="zh-CN" sz="1400" b="0" dirty="0"/>
              <a:t>block</a:t>
            </a:r>
            <a:r>
              <a:rPr kumimoji="1" lang="zh-CN" altLang="en-US" sz="1400" b="0" dirty="0"/>
              <a:t>位图</a:t>
            </a:r>
            <a:endParaRPr lang="zh-CN" altLang="en-US" sz="1400" dirty="0"/>
          </a:p>
        </p:txBody>
      </p:sp>
      <p:sp>
        <p:nvSpPr>
          <p:cNvPr id="104" name="文本框 103">
            <a:extLst>
              <a:ext uri="{FF2B5EF4-FFF2-40B4-BE49-F238E27FC236}">
                <a16:creationId xmlns:a16="http://schemas.microsoft.com/office/drawing/2014/main" id="{8D66E49F-78BF-F049-87CE-C7DF511DE2D9}"/>
              </a:ext>
            </a:extLst>
          </p:cNvPr>
          <p:cNvSpPr txBox="1"/>
          <p:nvPr/>
        </p:nvSpPr>
        <p:spPr>
          <a:xfrm>
            <a:off x="2539503" y="4731276"/>
            <a:ext cx="6397555" cy="623312"/>
          </a:xfrm>
          <a:prstGeom prst="rect">
            <a:avLst/>
          </a:prstGeom>
          <a:noFill/>
          <a:ln>
            <a:noFill/>
          </a:ln>
        </p:spPr>
        <p:txBody>
          <a:bodyPr wrap="square">
            <a:spAutoFit/>
          </a:bodyPr>
          <a:lstStyle/>
          <a:p>
            <a:pPr>
              <a:lnSpc>
                <a:spcPct val="130000"/>
              </a:lnSpc>
            </a:pPr>
            <a:r>
              <a:rPr kumimoji="1" lang="zh-CN" altLang="en-US" sz="1400" b="1" dirty="0">
                <a:solidFill>
                  <a:schemeClr val="accent1"/>
                </a:solidFill>
              </a:rPr>
              <a:t>若写入过程发生故障，有</a:t>
            </a:r>
            <a:r>
              <a:rPr kumimoji="1" lang="en-US" altLang="zh-CN" sz="1400" b="1" dirty="0">
                <a:solidFill>
                  <a:schemeClr val="accent1"/>
                </a:solidFill>
              </a:rPr>
              <a:t>6</a:t>
            </a:r>
            <a:r>
              <a:rPr kumimoji="1" lang="zh-CN" altLang="en-US" sz="1400" b="1" dirty="0">
                <a:solidFill>
                  <a:schemeClr val="accent1"/>
                </a:solidFill>
              </a:rPr>
              <a:t>种可能：仅</a:t>
            </a:r>
            <a:r>
              <a:rPr kumimoji="1" lang="en-US" altLang="zh-CN" sz="1400" b="1" dirty="0">
                <a:solidFill>
                  <a:schemeClr val="accent1"/>
                </a:solidFill>
              </a:rPr>
              <a:t>1</a:t>
            </a:r>
            <a:r>
              <a:rPr kumimoji="1" lang="zh-CN" altLang="en-US" sz="1400" b="1" dirty="0">
                <a:solidFill>
                  <a:schemeClr val="accent1"/>
                </a:solidFill>
              </a:rPr>
              <a:t>个写成功（</a:t>
            </a:r>
            <a:r>
              <a:rPr kumimoji="1" lang="en-US" altLang="zh-CN" sz="1400" b="1" dirty="0">
                <a:solidFill>
                  <a:schemeClr val="accent1"/>
                </a:solidFill>
              </a:rPr>
              <a:t>3</a:t>
            </a:r>
            <a:r>
              <a:rPr kumimoji="1" lang="zh-CN" altLang="en-US" sz="1400" b="1" dirty="0">
                <a:solidFill>
                  <a:schemeClr val="accent1"/>
                </a:solidFill>
              </a:rPr>
              <a:t>种），仅</a:t>
            </a:r>
            <a:r>
              <a:rPr kumimoji="1" lang="en-US" altLang="zh-CN" sz="1400" b="1" dirty="0">
                <a:solidFill>
                  <a:schemeClr val="accent1"/>
                </a:solidFill>
              </a:rPr>
              <a:t>2</a:t>
            </a:r>
            <a:r>
              <a:rPr kumimoji="1" lang="zh-CN" altLang="en-US" sz="1400" b="1" dirty="0">
                <a:solidFill>
                  <a:schemeClr val="accent1"/>
                </a:solidFill>
              </a:rPr>
              <a:t>个写成功（</a:t>
            </a:r>
            <a:r>
              <a:rPr kumimoji="1" lang="en-US" altLang="zh-CN" sz="1400" b="1" dirty="0">
                <a:solidFill>
                  <a:schemeClr val="accent1"/>
                </a:solidFill>
              </a:rPr>
              <a:t>3</a:t>
            </a:r>
            <a:r>
              <a:rPr kumimoji="1" lang="zh-CN" altLang="en-US" sz="1400" b="1" dirty="0">
                <a:solidFill>
                  <a:schemeClr val="accent1"/>
                </a:solidFill>
              </a:rPr>
              <a:t>种）</a:t>
            </a:r>
            <a:endParaRPr kumimoji="1" lang="en-US" altLang="zh-CN" sz="1400" b="1" dirty="0">
              <a:solidFill>
                <a:schemeClr val="accent1"/>
              </a:solidFill>
            </a:endParaRPr>
          </a:p>
          <a:p>
            <a:pPr>
              <a:lnSpc>
                <a:spcPct val="130000"/>
              </a:lnSpc>
            </a:pPr>
            <a:r>
              <a:rPr kumimoji="1" lang="zh-CN" altLang="en-US" sz="1400" b="1" dirty="0">
                <a:solidFill>
                  <a:schemeClr val="accent1"/>
                </a:solidFill>
              </a:rPr>
              <a:t>可能的错误：数据错误、空间浪费</a:t>
            </a:r>
            <a:endParaRPr kumimoji="1" lang="en-US" altLang="zh-CN" sz="1400" b="1" dirty="0">
              <a:solidFill>
                <a:schemeClr val="accent1"/>
              </a:solidFill>
            </a:endParaRPr>
          </a:p>
        </p:txBody>
      </p:sp>
    </p:spTree>
    <p:extLst>
      <p:ext uri="{BB962C8B-B14F-4D97-AF65-F5344CB8AC3E}">
        <p14:creationId xmlns:p14="http://schemas.microsoft.com/office/powerpoint/2010/main" val="321526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95"/>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88"/>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85">
                                            <p:txEl>
                                              <p:pRg st="0" end="0"/>
                                            </p:txEl>
                                          </p:spTgt>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0"/>
                                          </p:stCondLst>
                                        </p:cTn>
                                        <p:tgtEl>
                                          <p:spTgt spid="85">
                                            <p:txEl>
                                              <p:pRg st="1" end="1"/>
                                            </p:txEl>
                                          </p:spTgt>
                                        </p:tgtEl>
                                        <p:attrNameLst>
                                          <p:attrName>style.visibility</p:attrName>
                                        </p:attrNameLst>
                                      </p:cBhvr>
                                      <p:to>
                                        <p:strVal val="hidden"/>
                                      </p:to>
                                    </p:set>
                                  </p:childTnLst>
                                </p:cTn>
                              </p:par>
                              <p:par>
                                <p:cTn id="15" presetID="1" presetClass="exit" presetSubtype="0" fill="hold" grpId="0" nodeType="withEffect">
                                  <p:stCondLst>
                                    <p:cond delay="0"/>
                                  </p:stCondLst>
                                  <p:childTnLst>
                                    <p:set>
                                      <p:cBhvr>
                                        <p:cTn id="16" dur="1" fill="hold">
                                          <p:stCondLst>
                                            <p:cond delay="0"/>
                                          </p:stCondLst>
                                        </p:cTn>
                                        <p:tgtEl>
                                          <p:spTgt spid="85">
                                            <p:txEl>
                                              <p:pRg st="2" end="2"/>
                                            </p:txEl>
                                          </p:spTgt>
                                        </p:tgtEl>
                                        <p:attrNameLst>
                                          <p:attrName>style.visibility</p:attrName>
                                        </p:attrNameLst>
                                      </p:cBhvr>
                                      <p:to>
                                        <p:strVal val="hidden"/>
                                      </p:to>
                                    </p:set>
                                  </p:childTnLst>
                                </p:cTn>
                              </p:par>
                              <p:par>
                                <p:cTn id="17" presetID="1" presetClass="exit" presetSubtype="0" fill="hold" grpId="0" nodeType="withEffect">
                                  <p:stCondLst>
                                    <p:cond delay="0"/>
                                  </p:stCondLst>
                                  <p:childTnLst>
                                    <p:set>
                                      <p:cBhvr>
                                        <p:cTn id="18" dur="1" fill="hold">
                                          <p:stCondLst>
                                            <p:cond delay="0"/>
                                          </p:stCondLst>
                                        </p:cTn>
                                        <p:tgtEl>
                                          <p:spTgt spid="85">
                                            <p:txEl>
                                              <p:pRg st="3" end="3"/>
                                            </p:txEl>
                                          </p:spTgt>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0"/>
                                          </p:stCondLst>
                                        </p:cTn>
                                        <p:tgtEl>
                                          <p:spTgt spid="85">
                                            <p:txEl>
                                              <p:pRg st="4" end="4"/>
                                            </p:txEl>
                                          </p:spTgt>
                                        </p:tgtEl>
                                        <p:attrNameLst>
                                          <p:attrName>style.visibility</p:attrName>
                                        </p:attrNameLst>
                                      </p:cBhvr>
                                      <p:to>
                                        <p:strVal val="hidden"/>
                                      </p:to>
                                    </p:set>
                                  </p:childTnLst>
                                </p:cTn>
                              </p:par>
                              <p:par>
                                <p:cTn id="21" presetID="1" presetClass="exit" presetSubtype="0" fill="hold" grpId="0" nodeType="withEffect">
                                  <p:stCondLst>
                                    <p:cond delay="0"/>
                                  </p:stCondLst>
                                  <p:childTnLst>
                                    <p:set>
                                      <p:cBhvr>
                                        <p:cTn id="22" dur="1" fill="hold">
                                          <p:stCondLst>
                                            <p:cond delay="0"/>
                                          </p:stCondLst>
                                        </p:cTn>
                                        <p:tgtEl>
                                          <p:spTgt spid="68"/>
                                        </p:tgtEl>
                                        <p:attrNameLst>
                                          <p:attrName>style.visibility</p:attrName>
                                        </p:attrNameLst>
                                      </p:cBhvr>
                                      <p:to>
                                        <p:strVal val="hidden"/>
                                      </p:to>
                                    </p:set>
                                  </p:childTnLst>
                                </p:cTn>
                              </p:par>
                              <p:par>
                                <p:cTn id="23" presetID="1" presetClass="exit" presetSubtype="0" fill="hold" grpId="0" nodeType="withEffect">
                                  <p:stCondLst>
                                    <p:cond delay="0"/>
                                  </p:stCondLst>
                                  <p:childTnLst>
                                    <p:set>
                                      <p:cBhvr>
                                        <p:cTn id="24" dur="1" fill="hold">
                                          <p:stCondLst>
                                            <p:cond delay="0"/>
                                          </p:stCondLst>
                                        </p:cTn>
                                        <p:tgtEl>
                                          <p:spTgt spid="86"/>
                                        </p:tgtEl>
                                        <p:attrNameLst>
                                          <p:attrName>style.visibility</p:attrName>
                                        </p:attrNameLst>
                                      </p:cBhvr>
                                      <p:to>
                                        <p:strVal val="hidden"/>
                                      </p:to>
                                    </p:set>
                                  </p:childTnLst>
                                </p:cTn>
                              </p:par>
                              <p:par>
                                <p:cTn id="25" presetID="1" presetClass="exit" presetSubtype="0" fill="hold" grpId="0" nodeType="withEffect">
                                  <p:stCondLst>
                                    <p:cond delay="0"/>
                                  </p:stCondLst>
                                  <p:childTnLst>
                                    <p:set>
                                      <p:cBhvr>
                                        <p:cTn id="26" dur="1" fill="hold">
                                          <p:stCondLst>
                                            <p:cond delay="0"/>
                                          </p:stCondLst>
                                        </p:cTn>
                                        <p:tgtEl>
                                          <p:spTgt spid="60"/>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99"/>
                                        </p:tgtEl>
                                        <p:attrNameLst>
                                          <p:attrName>style.visibility</p:attrName>
                                        </p:attrNameLst>
                                      </p:cBhvr>
                                      <p:to>
                                        <p:strVal val="hidden"/>
                                      </p:to>
                                    </p:set>
                                  </p:childTnLst>
                                </p:cTn>
                              </p:par>
                              <p:par>
                                <p:cTn id="29" presetID="1" presetClass="exit" presetSubtype="0" fill="hold" grpId="0" nodeType="withEffect">
                                  <p:stCondLst>
                                    <p:cond delay="0"/>
                                  </p:stCondLst>
                                  <p:childTnLst>
                                    <p:set>
                                      <p:cBhvr>
                                        <p:cTn id="30" dur="1" fill="hold">
                                          <p:stCondLst>
                                            <p:cond delay="0"/>
                                          </p:stCondLst>
                                        </p:cTn>
                                        <p:tgtEl>
                                          <p:spTgt spid="93"/>
                                        </p:tgtEl>
                                        <p:attrNameLst>
                                          <p:attrName>style.visibility</p:attrName>
                                        </p:attrNameLst>
                                      </p:cBhvr>
                                      <p:to>
                                        <p:strVal val="hidden"/>
                                      </p:to>
                                    </p:set>
                                  </p:childTnLst>
                                </p:cTn>
                              </p:par>
                              <p:par>
                                <p:cTn id="31" presetID="1" presetClass="exit" presetSubtype="0" fill="hold" grpId="0" nodeType="withEffect">
                                  <p:stCondLst>
                                    <p:cond delay="0"/>
                                  </p:stCondLst>
                                  <p:childTnLst>
                                    <p:set>
                                      <p:cBhvr>
                                        <p:cTn id="32" dur="1" fill="hold">
                                          <p:stCondLst>
                                            <p:cond delay="0"/>
                                          </p:stCondLst>
                                        </p:cTn>
                                        <p:tgtEl>
                                          <p:spTgt spid="92"/>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nodeType="clickEffect">
                                  <p:stCondLst>
                                    <p:cond delay="0"/>
                                  </p:stCondLst>
                                  <p:childTnLst>
                                    <p:set>
                                      <p:cBhvr>
                                        <p:cTn id="36" dur="1" fill="hold">
                                          <p:stCondLst>
                                            <p:cond delay="0"/>
                                          </p:stCondLst>
                                        </p:cTn>
                                        <p:tgtEl>
                                          <p:spTgt spid="70"/>
                                        </p:tgtEl>
                                        <p:attrNameLst>
                                          <p:attrName>style.visibility</p:attrName>
                                        </p:attrNameLst>
                                      </p:cBhvr>
                                      <p:to>
                                        <p:strVal val="hidden"/>
                                      </p:to>
                                    </p:set>
                                  </p:childTnLst>
                                </p:cTn>
                              </p:par>
                              <p:par>
                                <p:cTn id="37" presetID="1" presetClass="exit" presetSubtype="0" fill="hold" grpId="0" nodeType="withEffect">
                                  <p:stCondLst>
                                    <p:cond delay="0"/>
                                  </p:stCondLst>
                                  <p:childTnLst>
                                    <p:set>
                                      <p:cBhvr>
                                        <p:cTn id="38" dur="1" fill="hold">
                                          <p:stCondLst>
                                            <p:cond delay="0"/>
                                          </p:stCondLst>
                                        </p:cTn>
                                        <p:tgtEl>
                                          <p:spTgt spid="59"/>
                                        </p:tgtEl>
                                        <p:attrNameLst>
                                          <p:attrName>style.visibility</p:attrName>
                                        </p:attrNameLst>
                                      </p:cBhvr>
                                      <p:to>
                                        <p:strVal val="hidden"/>
                                      </p:to>
                                    </p:set>
                                  </p:childTnLst>
                                </p:cTn>
                              </p:par>
                              <p:par>
                                <p:cTn id="39" presetID="1" presetClass="exit" presetSubtype="0" fill="hold" grpId="0" nodeType="withEffect">
                                  <p:stCondLst>
                                    <p:cond delay="0"/>
                                  </p:stCondLst>
                                  <p:childTnLst>
                                    <p:set>
                                      <p:cBhvr>
                                        <p:cTn id="40" dur="1" fill="hold">
                                          <p:stCondLst>
                                            <p:cond delay="0"/>
                                          </p:stCondLst>
                                        </p:cTn>
                                        <p:tgtEl>
                                          <p:spTgt spid="89"/>
                                        </p:tgtEl>
                                        <p:attrNameLst>
                                          <p:attrName>style.visibility</p:attrName>
                                        </p:attrNameLst>
                                      </p:cBhvr>
                                      <p:to>
                                        <p:strVal val="hidden"/>
                                      </p:to>
                                    </p:set>
                                  </p:childTnLst>
                                </p:cTn>
                              </p:par>
                              <p:par>
                                <p:cTn id="41" presetID="1" presetClass="exit" presetSubtype="0" fill="hold" grpId="0" nodeType="withEffect">
                                  <p:stCondLst>
                                    <p:cond delay="0"/>
                                  </p:stCondLst>
                                  <p:childTnLst>
                                    <p:set>
                                      <p:cBhvr>
                                        <p:cTn id="42" dur="1" fill="hold">
                                          <p:stCondLst>
                                            <p:cond delay="0"/>
                                          </p:stCondLst>
                                        </p:cTn>
                                        <p:tgtEl>
                                          <p:spTgt spid="90"/>
                                        </p:tgtEl>
                                        <p:attrNameLst>
                                          <p:attrName>style.visibility</p:attrName>
                                        </p:attrNameLst>
                                      </p:cBhvr>
                                      <p:to>
                                        <p:strVal val="hidden"/>
                                      </p:to>
                                    </p:set>
                                  </p:childTnLst>
                                </p:cTn>
                              </p:par>
                              <p:par>
                                <p:cTn id="43" presetID="1" presetClass="entr" presetSubtype="0" fill="hold" nodeType="withEffect">
                                  <p:stCondLst>
                                    <p:cond delay="0"/>
                                  </p:stCondLst>
                                  <p:childTnLst>
                                    <p:set>
                                      <p:cBhvr>
                                        <p:cTn id="44" dur="1" fill="hold">
                                          <p:stCondLst>
                                            <p:cond delay="0"/>
                                          </p:stCondLst>
                                        </p:cTn>
                                        <p:tgtEl>
                                          <p:spTgt spid="95"/>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61"/>
                                        </p:tgtEl>
                                        <p:attrNameLst>
                                          <p:attrName>style.visibility</p:attrName>
                                        </p:attrNameLst>
                                      </p:cBhvr>
                                      <p:to>
                                        <p:strVal val="visible"/>
                                      </p:to>
                                    </p:set>
                                  </p:childTnLst>
                                </p:cTn>
                              </p:par>
                              <p:par>
                                <p:cTn id="47" presetID="1" presetClass="entr" presetSubtype="0" fill="hold" grpId="1" nodeType="withEffect">
                                  <p:stCondLst>
                                    <p:cond delay="0"/>
                                  </p:stCondLst>
                                  <p:childTnLst>
                                    <p:set>
                                      <p:cBhvr>
                                        <p:cTn id="48" dur="1" fill="hold">
                                          <p:stCondLst>
                                            <p:cond delay="0"/>
                                          </p:stCondLst>
                                        </p:cTn>
                                        <p:tgtEl>
                                          <p:spTgt spid="88"/>
                                        </p:tgtEl>
                                        <p:attrNameLst>
                                          <p:attrName>style.visibility</p:attrName>
                                        </p:attrNameLst>
                                      </p:cBhvr>
                                      <p:to>
                                        <p:strVal val="visible"/>
                                      </p:to>
                                    </p:set>
                                  </p:childTnLst>
                                </p:cTn>
                              </p:par>
                              <p:par>
                                <p:cTn id="49" presetID="1" presetClass="entr" presetSubtype="0" fill="hold" grpId="1" nodeType="withEffect">
                                  <p:stCondLst>
                                    <p:cond delay="0"/>
                                  </p:stCondLst>
                                  <p:childTnLst>
                                    <p:set>
                                      <p:cBhvr>
                                        <p:cTn id="50" dur="1" fill="hold">
                                          <p:stCondLst>
                                            <p:cond delay="0"/>
                                          </p:stCondLst>
                                        </p:cTn>
                                        <p:tgtEl>
                                          <p:spTgt spid="8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nodeType="clickEffect">
                                  <p:stCondLst>
                                    <p:cond delay="0"/>
                                  </p:stCondLst>
                                  <p:childTnLst>
                                    <p:set>
                                      <p:cBhvr>
                                        <p:cTn id="54" dur="1" fill="hold">
                                          <p:stCondLst>
                                            <p:cond delay="0"/>
                                          </p:stCondLst>
                                        </p:cTn>
                                        <p:tgtEl>
                                          <p:spTgt spid="95"/>
                                        </p:tgtEl>
                                        <p:attrNameLst>
                                          <p:attrName>style.visibility</p:attrName>
                                        </p:attrNameLst>
                                      </p:cBhvr>
                                      <p:to>
                                        <p:strVal val="hidden"/>
                                      </p:to>
                                    </p:set>
                                  </p:childTnLst>
                                </p:cTn>
                              </p:par>
                              <p:par>
                                <p:cTn id="55" presetID="1" presetClass="exit" presetSubtype="0" fill="hold" grpId="2" nodeType="withEffect">
                                  <p:stCondLst>
                                    <p:cond delay="0"/>
                                  </p:stCondLst>
                                  <p:childTnLst>
                                    <p:set>
                                      <p:cBhvr>
                                        <p:cTn id="56" dur="1" fill="hold">
                                          <p:stCondLst>
                                            <p:cond delay="0"/>
                                          </p:stCondLst>
                                        </p:cTn>
                                        <p:tgtEl>
                                          <p:spTgt spid="61"/>
                                        </p:tgtEl>
                                        <p:attrNameLst>
                                          <p:attrName>style.visibility</p:attrName>
                                        </p:attrNameLst>
                                      </p:cBhvr>
                                      <p:to>
                                        <p:strVal val="hidden"/>
                                      </p:to>
                                    </p:set>
                                  </p:childTnLst>
                                </p:cTn>
                              </p:par>
                              <p:par>
                                <p:cTn id="57" presetID="1" presetClass="exit" presetSubtype="0" fill="hold" grpId="2" nodeType="withEffect">
                                  <p:stCondLst>
                                    <p:cond delay="0"/>
                                  </p:stCondLst>
                                  <p:childTnLst>
                                    <p:set>
                                      <p:cBhvr>
                                        <p:cTn id="58" dur="1" fill="hold">
                                          <p:stCondLst>
                                            <p:cond delay="0"/>
                                          </p:stCondLst>
                                        </p:cTn>
                                        <p:tgtEl>
                                          <p:spTgt spid="88"/>
                                        </p:tgtEl>
                                        <p:attrNameLst>
                                          <p:attrName>style.visibility</p:attrName>
                                        </p:attrNameLst>
                                      </p:cBhvr>
                                      <p:to>
                                        <p:strVal val="hidden"/>
                                      </p:to>
                                    </p:set>
                                  </p:childTnLst>
                                </p:cTn>
                              </p:par>
                              <p:par>
                                <p:cTn id="59" presetID="1" presetClass="exit" presetSubtype="0" fill="hold" grpId="2" nodeType="withEffect">
                                  <p:stCondLst>
                                    <p:cond delay="0"/>
                                  </p:stCondLst>
                                  <p:childTnLst>
                                    <p:set>
                                      <p:cBhvr>
                                        <p:cTn id="60" dur="1" fill="hold">
                                          <p:stCondLst>
                                            <p:cond delay="0"/>
                                          </p:stCondLst>
                                        </p:cTn>
                                        <p:tgtEl>
                                          <p:spTgt spid="86"/>
                                        </p:tgtEl>
                                        <p:attrNameLst>
                                          <p:attrName>style.visibility</p:attrName>
                                        </p:attrNameLst>
                                      </p:cBhvr>
                                      <p:to>
                                        <p:strVal val="hidden"/>
                                      </p:to>
                                    </p:set>
                                  </p:childTnLst>
                                </p:cTn>
                              </p:par>
                              <p:par>
                                <p:cTn id="61" presetID="1" presetClass="entr" presetSubtype="0" fill="hold" nodeType="withEffect">
                                  <p:stCondLst>
                                    <p:cond delay="0"/>
                                  </p:stCondLst>
                                  <p:childTnLst>
                                    <p:set>
                                      <p:cBhvr>
                                        <p:cTn id="62" dur="1" fill="hold">
                                          <p:stCondLst>
                                            <p:cond delay="0"/>
                                          </p:stCondLst>
                                        </p:cTn>
                                        <p:tgtEl>
                                          <p:spTgt spid="99"/>
                                        </p:tgtEl>
                                        <p:attrNameLst>
                                          <p:attrName>style.visibility</p:attrName>
                                        </p:attrNameLst>
                                      </p:cBhvr>
                                      <p:to>
                                        <p:strVal val="visible"/>
                                      </p:to>
                                    </p:set>
                                  </p:childTnLst>
                                </p:cTn>
                              </p:par>
                              <p:par>
                                <p:cTn id="63" presetID="1" presetClass="entr" presetSubtype="0" fill="hold" grpId="1" nodeType="withEffect">
                                  <p:stCondLst>
                                    <p:cond delay="0"/>
                                  </p:stCondLst>
                                  <p:childTnLst>
                                    <p:set>
                                      <p:cBhvr>
                                        <p:cTn id="64" dur="1" fill="hold">
                                          <p:stCondLst>
                                            <p:cond delay="0"/>
                                          </p:stCondLst>
                                        </p:cTn>
                                        <p:tgtEl>
                                          <p:spTgt spid="60"/>
                                        </p:tgtEl>
                                        <p:attrNameLst>
                                          <p:attrName>style.visibility</p:attrName>
                                        </p:attrNameLst>
                                      </p:cBhvr>
                                      <p:to>
                                        <p:strVal val="visible"/>
                                      </p:to>
                                    </p:set>
                                  </p:childTnLst>
                                </p:cTn>
                              </p:par>
                              <p:par>
                                <p:cTn id="65" presetID="1" presetClass="entr" presetSubtype="0" fill="hold" grpId="1" nodeType="withEffect">
                                  <p:stCondLst>
                                    <p:cond delay="0"/>
                                  </p:stCondLst>
                                  <p:childTnLst>
                                    <p:set>
                                      <p:cBhvr>
                                        <p:cTn id="66" dur="1" fill="hold">
                                          <p:stCondLst>
                                            <p:cond delay="0"/>
                                          </p:stCondLst>
                                        </p:cTn>
                                        <p:tgtEl>
                                          <p:spTgt spid="93"/>
                                        </p:tgtEl>
                                        <p:attrNameLst>
                                          <p:attrName>style.visibility</p:attrName>
                                        </p:attrNameLst>
                                      </p:cBhvr>
                                      <p:to>
                                        <p:strVal val="visible"/>
                                      </p:to>
                                    </p:set>
                                  </p:childTnLst>
                                </p:cTn>
                              </p:par>
                              <p:par>
                                <p:cTn id="67" presetID="1" presetClass="entr" presetSubtype="0" fill="hold" grpId="1" nodeType="withEffect">
                                  <p:stCondLst>
                                    <p:cond delay="0"/>
                                  </p:stCondLst>
                                  <p:childTnLst>
                                    <p:set>
                                      <p:cBhvr>
                                        <p:cTn id="68" dur="1" fill="hold">
                                          <p:stCondLst>
                                            <p:cond delay="0"/>
                                          </p:stCondLst>
                                        </p:cTn>
                                        <p:tgtEl>
                                          <p:spTgt spid="92"/>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70"/>
                                        </p:tgtEl>
                                        <p:attrNameLst>
                                          <p:attrName>style.visibility</p:attrName>
                                        </p:attrNameLst>
                                      </p:cBhvr>
                                      <p:to>
                                        <p:strVal val="visible"/>
                                      </p:to>
                                    </p:set>
                                  </p:childTnLst>
                                </p:cTn>
                              </p:par>
                              <p:par>
                                <p:cTn id="73" presetID="1" presetClass="entr" presetSubtype="0" fill="hold" grpId="1" nodeType="withEffect">
                                  <p:stCondLst>
                                    <p:cond delay="0"/>
                                  </p:stCondLst>
                                  <p:childTnLst>
                                    <p:set>
                                      <p:cBhvr>
                                        <p:cTn id="74" dur="1" fill="hold">
                                          <p:stCondLst>
                                            <p:cond delay="0"/>
                                          </p:stCondLst>
                                        </p:cTn>
                                        <p:tgtEl>
                                          <p:spTgt spid="59"/>
                                        </p:tgtEl>
                                        <p:attrNameLst>
                                          <p:attrName>style.visibility</p:attrName>
                                        </p:attrNameLst>
                                      </p:cBhvr>
                                      <p:to>
                                        <p:strVal val="visible"/>
                                      </p:to>
                                    </p:set>
                                  </p:childTnLst>
                                </p:cTn>
                              </p:par>
                              <p:par>
                                <p:cTn id="75" presetID="1" presetClass="entr" presetSubtype="0" fill="hold" grpId="1" nodeType="withEffect">
                                  <p:stCondLst>
                                    <p:cond delay="0"/>
                                  </p:stCondLst>
                                  <p:childTnLst>
                                    <p:set>
                                      <p:cBhvr>
                                        <p:cTn id="76" dur="1" fill="hold">
                                          <p:stCondLst>
                                            <p:cond delay="0"/>
                                          </p:stCondLst>
                                        </p:cTn>
                                        <p:tgtEl>
                                          <p:spTgt spid="89"/>
                                        </p:tgtEl>
                                        <p:attrNameLst>
                                          <p:attrName>style.visibility</p:attrName>
                                        </p:attrNameLst>
                                      </p:cBhvr>
                                      <p:to>
                                        <p:strVal val="visible"/>
                                      </p:to>
                                    </p:set>
                                  </p:childTnLst>
                                </p:cTn>
                              </p:par>
                              <p:par>
                                <p:cTn id="77" presetID="1" presetClass="entr" presetSubtype="0" fill="hold" grpId="1" nodeType="withEffect">
                                  <p:stCondLst>
                                    <p:cond delay="0"/>
                                  </p:stCondLst>
                                  <p:childTnLst>
                                    <p:set>
                                      <p:cBhvr>
                                        <p:cTn id="78" dur="1" fill="hold">
                                          <p:stCondLst>
                                            <p:cond delay="0"/>
                                          </p:stCondLst>
                                        </p:cTn>
                                        <p:tgtEl>
                                          <p:spTgt spid="90"/>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xit" presetSubtype="0" fill="hold" nodeType="clickEffect">
                                  <p:stCondLst>
                                    <p:cond delay="0"/>
                                  </p:stCondLst>
                                  <p:childTnLst>
                                    <p:set>
                                      <p:cBhvr>
                                        <p:cTn id="82" dur="1" fill="hold">
                                          <p:stCondLst>
                                            <p:cond delay="0"/>
                                          </p:stCondLst>
                                        </p:cTn>
                                        <p:tgtEl>
                                          <p:spTgt spid="70"/>
                                        </p:tgtEl>
                                        <p:attrNameLst>
                                          <p:attrName>style.visibility</p:attrName>
                                        </p:attrNameLst>
                                      </p:cBhvr>
                                      <p:to>
                                        <p:strVal val="hidden"/>
                                      </p:to>
                                    </p:set>
                                  </p:childTnLst>
                                </p:cTn>
                              </p:par>
                              <p:par>
                                <p:cTn id="83" presetID="1" presetClass="exit" presetSubtype="0" fill="hold" grpId="2" nodeType="withEffect">
                                  <p:stCondLst>
                                    <p:cond delay="0"/>
                                  </p:stCondLst>
                                  <p:childTnLst>
                                    <p:set>
                                      <p:cBhvr>
                                        <p:cTn id="84" dur="1" fill="hold">
                                          <p:stCondLst>
                                            <p:cond delay="0"/>
                                          </p:stCondLst>
                                        </p:cTn>
                                        <p:tgtEl>
                                          <p:spTgt spid="59"/>
                                        </p:tgtEl>
                                        <p:attrNameLst>
                                          <p:attrName>style.visibility</p:attrName>
                                        </p:attrNameLst>
                                      </p:cBhvr>
                                      <p:to>
                                        <p:strVal val="hidden"/>
                                      </p:to>
                                    </p:set>
                                  </p:childTnLst>
                                </p:cTn>
                              </p:par>
                              <p:par>
                                <p:cTn id="85" presetID="1" presetClass="exit" presetSubtype="0" fill="hold" grpId="2" nodeType="withEffect">
                                  <p:stCondLst>
                                    <p:cond delay="0"/>
                                  </p:stCondLst>
                                  <p:childTnLst>
                                    <p:set>
                                      <p:cBhvr>
                                        <p:cTn id="86" dur="1" fill="hold">
                                          <p:stCondLst>
                                            <p:cond delay="0"/>
                                          </p:stCondLst>
                                        </p:cTn>
                                        <p:tgtEl>
                                          <p:spTgt spid="89"/>
                                        </p:tgtEl>
                                        <p:attrNameLst>
                                          <p:attrName>style.visibility</p:attrName>
                                        </p:attrNameLst>
                                      </p:cBhvr>
                                      <p:to>
                                        <p:strVal val="hidden"/>
                                      </p:to>
                                    </p:set>
                                  </p:childTnLst>
                                </p:cTn>
                              </p:par>
                              <p:par>
                                <p:cTn id="87" presetID="1" presetClass="exit" presetSubtype="0" fill="hold" grpId="2" nodeType="withEffect">
                                  <p:stCondLst>
                                    <p:cond delay="0"/>
                                  </p:stCondLst>
                                  <p:childTnLst>
                                    <p:set>
                                      <p:cBhvr>
                                        <p:cTn id="88" dur="1" fill="hold">
                                          <p:stCondLst>
                                            <p:cond delay="0"/>
                                          </p:stCondLst>
                                        </p:cTn>
                                        <p:tgtEl>
                                          <p:spTgt spid="90"/>
                                        </p:tgtEl>
                                        <p:attrNameLst>
                                          <p:attrName>style.visibility</p:attrName>
                                        </p:attrNameLst>
                                      </p:cBhvr>
                                      <p:to>
                                        <p:strVal val="hidden"/>
                                      </p:to>
                                    </p:set>
                                  </p:childTnLst>
                                </p:cTn>
                              </p:par>
                              <p:par>
                                <p:cTn id="89" presetID="1" presetClass="entr" presetSubtype="0" fill="hold" nodeType="withEffect">
                                  <p:stCondLst>
                                    <p:cond delay="0"/>
                                  </p:stCondLst>
                                  <p:childTnLst>
                                    <p:set>
                                      <p:cBhvr>
                                        <p:cTn id="90" dur="1" fill="hold">
                                          <p:stCondLst>
                                            <p:cond delay="0"/>
                                          </p:stCondLst>
                                        </p:cTn>
                                        <p:tgtEl>
                                          <p:spTgt spid="95"/>
                                        </p:tgtEl>
                                        <p:attrNameLst>
                                          <p:attrName>style.visibility</p:attrName>
                                        </p:attrNameLst>
                                      </p:cBhvr>
                                      <p:to>
                                        <p:strVal val="visible"/>
                                      </p:to>
                                    </p:set>
                                  </p:childTnLst>
                                </p:cTn>
                              </p:par>
                              <p:par>
                                <p:cTn id="91" presetID="1" presetClass="entr" presetSubtype="0" fill="hold" grpId="3" nodeType="withEffect">
                                  <p:stCondLst>
                                    <p:cond delay="0"/>
                                  </p:stCondLst>
                                  <p:childTnLst>
                                    <p:set>
                                      <p:cBhvr>
                                        <p:cTn id="92" dur="1" fill="hold">
                                          <p:stCondLst>
                                            <p:cond delay="0"/>
                                          </p:stCondLst>
                                        </p:cTn>
                                        <p:tgtEl>
                                          <p:spTgt spid="61"/>
                                        </p:tgtEl>
                                        <p:attrNameLst>
                                          <p:attrName>style.visibility</p:attrName>
                                        </p:attrNameLst>
                                      </p:cBhvr>
                                      <p:to>
                                        <p:strVal val="visible"/>
                                      </p:to>
                                    </p:set>
                                  </p:childTnLst>
                                </p:cTn>
                              </p:par>
                              <p:par>
                                <p:cTn id="93" presetID="1" presetClass="entr" presetSubtype="0" fill="hold" grpId="3" nodeType="withEffect">
                                  <p:stCondLst>
                                    <p:cond delay="0"/>
                                  </p:stCondLst>
                                  <p:childTnLst>
                                    <p:set>
                                      <p:cBhvr>
                                        <p:cTn id="94" dur="1" fill="hold">
                                          <p:stCondLst>
                                            <p:cond delay="0"/>
                                          </p:stCondLst>
                                        </p:cTn>
                                        <p:tgtEl>
                                          <p:spTgt spid="88"/>
                                        </p:tgtEl>
                                        <p:attrNameLst>
                                          <p:attrName>style.visibility</p:attrName>
                                        </p:attrNameLst>
                                      </p:cBhvr>
                                      <p:to>
                                        <p:strVal val="visible"/>
                                      </p:to>
                                    </p:set>
                                  </p:childTnLst>
                                </p:cTn>
                              </p:par>
                              <p:par>
                                <p:cTn id="95" presetID="1" presetClass="entr" presetSubtype="0" fill="hold" grpId="3" nodeType="withEffect">
                                  <p:stCondLst>
                                    <p:cond delay="0"/>
                                  </p:stCondLst>
                                  <p:childTnLst>
                                    <p:set>
                                      <p:cBhvr>
                                        <p:cTn id="96" dur="1" fill="hold">
                                          <p:stCondLst>
                                            <p:cond delay="0"/>
                                          </p:stCondLst>
                                        </p:cTn>
                                        <p:tgtEl>
                                          <p:spTgt spid="86"/>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xit" presetSubtype="0" fill="hold" nodeType="clickEffect">
                                  <p:stCondLst>
                                    <p:cond delay="0"/>
                                  </p:stCondLst>
                                  <p:childTnLst>
                                    <p:set>
                                      <p:cBhvr>
                                        <p:cTn id="100" dur="1" fill="hold">
                                          <p:stCondLst>
                                            <p:cond delay="0"/>
                                          </p:stCondLst>
                                        </p:cTn>
                                        <p:tgtEl>
                                          <p:spTgt spid="99"/>
                                        </p:tgtEl>
                                        <p:attrNameLst>
                                          <p:attrName>style.visibility</p:attrName>
                                        </p:attrNameLst>
                                      </p:cBhvr>
                                      <p:to>
                                        <p:strVal val="hidden"/>
                                      </p:to>
                                    </p:set>
                                  </p:childTnLst>
                                </p:cTn>
                              </p:par>
                              <p:par>
                                <p:cTn id="101" presetID="1" presetClass="exit" presetSubtype="0" fill="hold" grpId="2" nodeType="withEffect">
                                  <p:stCondLst>
                                    <p:cond delay="0"/>
                                  </p:stCondLst>
                                  <p:childTnLst>
                                    <p:set>
                                      <p:cBhvr>
                                        <p:cTn id="102" dur="1" fill="hold">
                                          <p:stCondLst>
                                            <p:cond delay="0"/>
                                          </p:stCondLst>
                                        </p:cTn>
                                        <p:tgtEl>
                                          <p:spTgt spid="60"/>
                                        </p:tgtEl>
                                        <p:attrNameLst>
                                          <p:attrName>style.visibility</p:attrName>
                                        </p:attrNameLst>
                                      </p:cBhvr>
                                      <p:to>
                                        <p:strVal val="hidden"/>
                                      </p:to>
                                    </p:set>
                                  </p:childTnLst>
                                </p:cTn>
                              </p:par>
                              <p:par>
                                <p:cTn id="103" presetID="1" presetClass="exit" presetSubtype="0" fill="hold" grpId="2" nodeType="withEffect">
                                  <p:stCondLst>
                                    <p:cond delay="0"/>
                                  </p:stCondLst>
                                  <p:childTnLst>
                                    <p:set>
                                      <p:cBhvr>
                                        <p:cTn id="104" dur="1" fill="hold">
                                          <p:stCondLst>
                                            <p:cond delay="0"/>
                                          </p:stCondLst>
                                        </p:cTn>
                                        <p:tgtEl>
                                          <p:spTgt spid="93"/>
                                        </p:tgtEl>
                                        <p:attrNameLst>
                                          <p:attrName>style.visibility</p:attrName>
                                        </p:attrNameLst>
                                      </p:cBhvr>
                                      <p:to>
                                        <p:strVal val="hidden"/>
                                      </p:to>
                                    </p:set>
                                  </p:childTnLst>
                                </p:cTn>
                              </p:par>
                              <p:par>
                                <p:cTn id="105" presetID="1" presetClass="exit" presetSubtype="0" fill="hold" grpId="2" nodeType="withEffect">
                                  <p:stCondLst>
                                    <p:cond delay="0"/>
                                  </p:stCondLst>
                                  <p:childTnLst>
                                    <p:set>
                                      <p:cBhvr>
                                        <p:cTn id="106" dur="1" fill="hold">
                                          <p:stCondLst>
                                            <p:cond delay="0"/>
                                          </p:stCondLst>
                                        </p:cTn>
                                        <p:tgtEl>
                                          <p:spTgt spid="92"/>
                                        </p:tgtEl>
                                        <p:attrNameLst>
                                          <p:attrName>style.visibility</p:attrName>
                                        </p:attrNameLst>
                                      </p:cBhvr>
                                      <p:to>
                                        <p:strVal val="hidden"/>
                                      </p:to>
                                    </p:set>
                                  </p:childTnLst>
                                </p:cTn>
                              </p:par>
                              <p:par>
                                <p:cTn id="107" presetID="1" presetClass="entr" presetSubtype="0" fill="hold" nodeType="withEffect">
                                  <p:stCondLst>
                                    <p:cond delay="0"/>
                                  </p:stCondLst>
                                  <p:childTnLst>
                                    <p:set>
                                      <p:cBhvr>
                                        <p:cTn id="108" dur="1" fill="hold">
                                          <p:stCondLst>
                                            <p:cond delay="0"/>
                                          </p:stCondLst>
                                        </p:cTn>
                                        <p:tgtEl>
                                          <p:spTgt spid="70"/>
                                        </p:tgtEl>
                                        <p:attrNameLst>
                                          <p:attrName>style.visibility</p:attrName>
                                        </p:attrNameLst>
                                      </p:cBhvr>
                                      <p:to>
                                        <p:strVal val="visible"/>
                                      </p:to>
                                    </p:set>
                                  </p:childTnLst>
                                </p:cTn>
                              </p:par>
                              <p:par>
                                <p:cTn id="109" presetID="1" presetClass="entr" presetSubtype="0" fill="hold" grpId="3" nodeType="withEffect">
                                  <p:stCondLst>
                                    <p:cond delay="0"/>
                                  </p:stCondLst>
                                  <p:childTnLst>
                                    <p:set>
                                      <p:cBhvr>
                                        <p:cTn id="110" dur="1" fill="hold">
                                          <p:stCondLst>
                                            <p:cond delay="0"/>
                                          </p:stCondLst>
                                        </p:cTn>
                                        <p:tgtEl>
                                          <p:spTgt spid="59"/>
                                        </p:tgtEl>
                                        <p:attrNameLst>
                                          <p:attrName>style.visibility</p:attrName>
                                        </p:attrNameLst>
                                      </p:cBhvr>
                                      <p:to>
                                        <p:strVal val="visible"/>
                                      </p:to>
                                    </p:set>
                                  </p:childTnLst>
                                </p:cTn>
                              </p:par>
                              <p:par>
                                <p:cTn id="111" presetID="1" presetClass="entr" presetSubtype="0" fill="hold" grpId="3" nodeType="withEffect">
                                  <p:stCondLst>
                                    <p:cond delay="0"/>
                                  </p:stCondLst>
                                  <p:childTnLst>
                                    <p:set>
                                      <p:cBhvr>
                                        <p:cTn id="112" dur="1" fill="hold">
                                          <p:stCondLst>
                                            <p:cond delay="0"/>
                                          </p:stCondLst>
                                        </p:cTn>
                                        <p:tgtEl>
                                          <p:spTgt spid="89"/>
                                        </p:tgtEl>
                                        <p:attrNameLst>
                                          <p:attrName>style.visibility</p:attrName>
                                        </p:attrNameLst>
                                      </p:cBhvr>
                                      <p:to>
                                        <p:strVal val="visible"/>
                                      </p:to>
                                    </p:set>
                                  </p:childTnLst>
                                </p:cTn>
                              </p:par>
                              <p:par>
                                <p:cTn id="113" presetID="1" presetClass="entr" presetSubtype="0" fill="hold" grpId="3" nodeType="withEffect">
                                  <p:stCondLst>
                                    <p:cond delay="0"/>
                                  </p:stCondLst>
                                  <p:childTnLst>
                                    <p:set>
                                      <p:cBhvr>
                                        <p:cTn id="114" dur="1" fill="hold">
                                          <p:stCondLst>
                                            <p:cond delay="0"/>
                                          </p:stCondLst>
                                        </p:cTn>
                                        <p:tgtEl>
                                          <p:spTgt spid="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P spid="59" grpId="1"/>
      <p:bldP spid="59" grpId="2"/>
      <p:bldP spid="59" grpId="3"/>
      <p:bldP spid="60" grpId="0"/>
      <p:bldP spid="60" grpId="1"/>
      <p:bldP spid="60" grpId="2"/>
      <p:bldP spid="61" grpId="0"/>
      <p:bldP spid="61" grpId="1"/>
      <p:bldP spid="61" grpId="2"/>
      <p:bldP spid="61" grpId="3"/>
      <p:bldP spid="85" grpId="0" build="p"/>
      <p:bldP spid="86" grpId="0"/>
      <p:bldP spid="86" grpId="1"/>
      <p:bldP spid="86" grpId="2"/>
      <p:bldP spid="86" grpId="3"/>
      <p:bldP spid="88" grpId="0" animBg="1"/>
      <p:bldP spid="88" grpId="1" animBg="1"/>
      <p:bldP spid="88" grpId="2" animBg="1"/>
      <p:bldP spid="88" grpId="3" animBg="1"/>
      <p:bldP spid="89" grpId="0" animBg="1"/>
      <p:bldP spid="89" grpId="1" animBg="1"/>
      <p:bldP spid="89" grpId="2" animBg="1"/>
      <p:bldP spid="89" grpId="3" animBg="1"/>
      <p:bldP spid="68" grpId="0" animBg="1"/>
      <p:bldP spid="90" grpId="0"/>
      <p:bldP spid="90" grpId="1"/>
      <p:bldP spid="90" grpId="2"/>
      <p:bldP spid="90" grpId="3"/>
      <p:bldP spid="92" grpId="0"/>
      <p:bldP spid="92" grpId="1"/>
      <p:bldP spid="92" grpId="2"/>
      <p:bldP spid="93" grpId="0" animBg="1"/>
      <p:bldP spid="93" grpId="1" animBg="1"/>
      <p:bldP spid="93" grpId="2"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75B07-9099-3C41-B2E6-5972347ED29C}"/>
              </a:ext>
            </a:extLst>
          </p:cNvPr>
          <p:cNvSpPr>
            <a:spLocks noGrp="1"/>
          </p:cNvSpPr>
          <p:nvPr>
            <p:ph type="title"/>
          </p:nvPr>
        </p:nvSpPr>
        <p:spPr/>
        <p:txBody>
          <a:bodyPr>
            <a:normAutofit/>
          </a:bodyPr>
          <a:lstStyle/>
          <a:p>
            <a:r>
              <a:rPr lang="zh-CN" altLang="en-US" dirty="0"/>
              <a:t>创建文件时崩溃，有几种情况？</a:t>
            </a:r>
            <a:endParaRPr lang="en-CN" dirty="0"/>
          </a:p>
        </p:txBody>
      </p:sp>
      <p:sp>
        <p:nvSpPr>
          <p:cNvPr id="3" name="Content Placeholder 2">
            <a:extLst>
              <a:ext uri="{FF2B5EF4-FFF2-40B4-BE49-F238E27FC236}">
                <a16:creationId xmlns:a16="http://schemas.microsoft.com/office/drawing/2014/main" id="{A83A1F32-C7BA-5240-B922-DE00893F581F}"/>
              </a:ext>
            </a:extLst>
          </p:cNvPr>
          <p:cNvSpPr>
            <a:spLocks noGrp="1"/>
          </p:cNvSpPr>
          <p:nvPr>
            <p:ph idx="1"/>
          </p:nvPr>
        </p:nvSpPr>
        <p:spPr>
          <a:xfrm>
            <a:off x="457199" y="1333501"/>
            <a:ext cx="7931225" cy="3771636"/>
          </a:xfrm>
        </p:spPr>
        <p:txBody>
          <a:bodyPr>
            <a:normAutofit/>
          </a:bodyPr>
          <a:lstStyle/>
          <a:p>
            <a:pPr marL="0" indent="0">
              <a:buNone/>
            </a:pPr>
            <a:r>
              <a:rPr lang="zh-CN" altLang="en-US" sz="2000" b="0" dirty="0"/>
              <a:t>创建</a:t>
            </a:r>
            <a:r>
              <a:rPr lang="en-US" altLang="zh-CN" sz="2000" b="0" dirty="0"/>
              <a:t>"/</a:t>
            </a:r>
            <a:r>
              <a:rPr lang="en-US" altLang="zh-CN" sz="2000" b="0" dirty="0" err="1"/>
              <a:t>chb</a:t>
            </a:r>
            <a:r>
              <a:rPr lang="en-US" altLang="zh-CN" sz="2000" b="0" dirty="0"/>
              <a:t>"</a:t>
            </a:r>
            <a:r>
              <a:rPr lang="zh-CN" altLang="en-US" sz="2000" b="0" dirty="0"/>
              <a:t>的修改包括：</a:t>
            </a:r>
            <a:endParaRPr lang="en-US" altLang="zh-CN" sz="2000" b="0" dirty="0"/>
          </a:p>
          <a:p>
            <a:pPr marL="0" indent="0">
              <a:buNone/>
            </a:pPr>
            <a:r>
              <a:rPr lang="en-US" altLang="zh-CN" sz="2000" b="0" dirty="0"/>
              <a:t>1.</a:t>
            </a:r>
            <a:r>
              <a:rPr lang="zh-CN" altLang="en-US" sz="2000" b="0" dirty="0"/>
              <a:t> 标记</a:t>
            </a:r>
            <a:r>
              <a:rPr lang="en-US" altLang="zh-CN" sz="2000" b="0" dirty="0" err="1"/>
              <a:t>inode</a:t>
            </a:r>
            <a:r>
              <a:rPr lang="zh-CN" altLang="en-US" sz="2000" b="0" dirty="0"/>
              <a:t>为占用</a:t>
            </a:r>
            <a:br>
              <a:rPr lang="en-US" altLang="zh-CN" sz="2000" b="0" dirty="0"/>
            </a:br>
            <a:r>
              <a:rPr lang="en-US" altLang="zh-CN" sz="2000" b="0" dirty="0"/>
              <a:t>2.</a:t>
            </a:r>
            <a:r>
              <a:rPr lang="zh-CN" altLang="en-US" sz="2000" b="0" dirty="0"/>
              <a:t> 初始化</a:t>
            </a:r>
            <a:r>
              <a:rPr lang="en-US" altLang="zh-CN" sz="2000" b="0" dirty="0" err="1"/>
              <a:t>inode</a:t>
            </a:r>
            <a:br>
              <a:rPr lang="en-US" altLang="zh-CN" sz="2000" b="0" dirty="0"/>
            </a:br>
            <a:r>
              <a:rPr lang="en-US" altLang="zh-CN" sz="2000" b="0" dirty="0"/>
              <a:t>3.</a:t>
            </a:r>
            <a:r>
              <a:rPr lang="zh-CN" altLang="en-US" sz="2000" b="0" dirty="0"/>
              <a:t> 将目录项写入目录中</a:t>
            </a:r>
            <a:endParaRPr lang="en-US" altLang="zh-CN" sz="2000" b="0" dirty="0"/>
          </a:p>
          <a:p>
            <a:pPr marL="0" indent="0">
              <a:buNone/>
            </a:pPr>
            <a:endParaRPr lang="en-CN" sz="1800" b="0" dirty="0"/>
          </a:p>
        </p:txBody>
      </p:sp>
      <p:sp>
        <p:nvSpPr>
          <p:cNvPr id="4" name="Footer Placeholder 3">
            <a:extLst>
              <a:ext uri="{FF2B5EF4-FFF2-40B4-BE49-F238E27FC236}">
                <a16:creationId xmlns:a16="http://schemas.microsoft.com/office/drawing/2014/main" id="{7005B691-E3D5-4240-9E7E-E67E7979363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5" name="Slide Number Placeholder 4">
            <a:extLst>
              <a:ext uri="{FF2B5EF4-FFF2-40B4-BE49-F238E27FC236}">
                <a16:creationId xmlns:a16="http://schemas.microsoft.com/office/drawing/2014/main" id="{443E7816-4275-3348-949B-D247B29DBBDE}"/>
              </a:ext>
            </a:extLst>
          </p:cNvPr>
          <p:cNvSpPr>
            <a:spLocks noGrp="1"/>
          </p:cNvSpPr>
          <p:nvPr>
            <p:ph type="sldNum" sz="quarter" idx="12"/>
          </p:nvPr>
        </p:nvSpPr>
        <p:spPr/>
        <p:txBody>
          <a:bodyPr/>
          <a:lstStyle/>
          <a:p>
            <a:fld id="{ADE361C3-C043-4A6E-BDCE-8DA1E7D90A3B}" type="slidenum">
              <a:rPr lang="zh-CN" altLang="en-US" smtClean="0"/>
              <a:t>7</a:t>
            </a:fld>
            <a:endParaRPr lang="zh-CN" altLang="en-US"/>
          </a:p>
        </p:txBody>
      </p:sp>
      <p:sp>
        <p:nvSpPr>
          <p:cNvPr id="14" name="TextBox 13">
            <a:extLst>
              <a:ext uri="{FF2B5EF4-FFF2-40B4-BE49-F238E27FC236}">
                <a16:creationId xmlns:a16="http://schemas.microsoft.com/office/drawing/2014/main" id="{B549F2CC-84C4-9247-B791-39258185476B}"/>
              </a:ext>
            </a:extLst>
          </p:cNvPr>
          <p:cNvSpPr txBox="1"/>
          <p:nvPr/>
        </p:nvSpPr>
        <p:spPr>
          <a:xfrm>
            <a:off x="3392882" y="4886218"/>
            <a:ext cx="4474302" cy="400110"/>
          </a:xfrm>
          <a:prstGeom prst="rect">
            <a:avLst/>
          </a:prstGeom>
          <a:noFill/>
        </p:spPr>
        <p:txBody>
          <a:bodyPr wrap="none" rtlCol="0">
            <a:spAutoFit/>
          </a:bodyPr>
          <a:lstStyle/>
          <a:p>
            <a:r>
              <a:rPr lang="zh-CN" altLang="en-US" sz="2000" dirty="0">
                <a:solidFill>
                  <a:srgbClr val="C00000"/>
                </a:solidFill>
              </a:rPr>
              <a:t>目录项指向了未分配</a:t>
            </a:r>
            <a:r>
              <a:rPr lang="en-US" altLang="zh-CN" sz="2000" dirty="0">
                <a:solidFill>
                  <a:srgbClr val="C00000"/>
                </a:solidFill>
              </a:rPr>
              <a:t>/</a:t>
            </a:r>
            <a:r>
              <a:rPr lang="zh-CN" altLang="en-US" sz="2000" dirty="0">
                <a:solidFill>
                  <a:srgbClr val="C00000"/>
                </a:solidFill>
              </a:rPr>
              <a:t>未初始化的</a:t>
            </a:r>
            <a:r>
              <a:rPr lang="en-US" altLang="zh-CN" sz="2000" dirty="0" err="1">
                <a:solidFill>
                  <a:srgbClr val="C00000"/>
                </a:solidFill>
              </a:rPr>
              <a:t>inode</a:t>
            </a:r>
            <a:endParaRPr lang="en-CN" sz="2000" dirty="0">
              <a:solidFill>
                <a:srgbClr val="C00000"/>
              </a:solidFill>
            </a:endParaRPr>
          </a:p>
        </p:txBody>
      </p:sp>
      <p:grpSp>
        <p:nvGrpSpPr>
          <p:cNvPr id="9" name="Group 8">
            <a:extLst>
              <a:ext uri="{FF2B5EF4-FFF2-40B4-BE49-F238E27FC236}">
                <a16:creationId xmlns:a16="http://schemas.microsoft.com/office/drawing/2014/main" id="{EADF6E34-B65F-2747-8230-B6C1A6677A8C}"/>
              </a:ext>
            </a:extLst>
          </p:cNvPr>
          <p:cNvGrpSpPr/>
          <p:nvPr/>
        </p:nvGrpSpPr>
        <p:grpSpPr>
          <a:xfrm>
            <a:off x="5645983" y="3317428"/>
            <a:ext cx="2526417" cy="1477328"/>
            <a:chOff x="4637553" y="3304281"/>
            <a:chExt cx="2526417" cy="1477328"/>
          </a:xfrm>
        </p:grpSpPr>
        <p:sp>
          <p:nvSpPr>
            <p:cNvPr id="13" name="TextBox 12">
              <a:extLst>
                <a:ext uri="{FF2B5EF4-FFF2-40B4-BE49-F238E27FC236}">
                  <a16:creationId xmlns:a16="http://schemas.microsoft.com/office/drawing/2014/main" id="{8F516E26-FA74-984E-B03D-488AF04D615F}"/>
                </a:ext>
              </a:extLst>
            </p:cNvPr>
            <p:cNvSpPr txBox="1"/>
            <p:nvPr/>
          </p:nvSpPr>
          <p:spPr>
            <a:xfrm>
              <a:off x="4637553" y="3304281"/>
              <a:ext cx="2526417" cy="1477328"/>
            </a:xfrm>
            <a:prstGeom prst="rect">
              <a:avLst/>
            </a:prstGeom>
            <a:solidFill>
              <a:schemeClr val="bg1">
                <a:lumMod val="95000"/>
              </a:schemeClr>
            </a:solidFill>
          </p:spPr>
          <p:txBody>
            <a:bodyPr wrap="square" rtlCol="0">
              <a:spAutoFit/>
            </a:bodyPr>
            <a:lstStyle/>
            <a:p>
              <a:r>
                <a:rPr lang="en-US" altLang="zh-CN" dirty="0"/>
                <a:t>3.</a:t>
              </a:r>
              <a:r>
                <a:rPr lang="zh-CN" altLang="en-US" dirty="0"/>
                <a:t> 将目录项写入目录中</a:t>
              </a:r>
              <a:br>
                <a:rPr lang="en-US" altLang="zh-CN" dirty="0"/>
              </a:br>
              <a:r>
                <a:rPr lang="en-US" altLang="zh-CN" dirty="0"/>
                <a:t>2.</a:t>
              </a:r>
              <a:r>
                <a:rPr lang="zh-CN" altLang="en-US" dirty="0"/>
                <a:t> 初始化</a:t>
              </a:r>
              <a:r>
                <a:rPr lang="en-US" altLang="zh-CN" dirty="0" err="1"/>
                <a:t>inode</a:t>
              </a:r>
              <a:endParaRPr lang="en-US" altLang="zh-CN" dirty="0"/>
            </a:p>
            <a:p>
              <a:endParaRPr lang="en-US" altLang="zh-CN" dirty="0"/>
            </a:p>
            <a:p>
              <a:endParaRPr lang="en-US" altLang="zh-CN" dirty="0"/>
            </a:p>
            <a:p>
              <a:r>
                <a:rPr lang="en-US" altLang="zh-CN" dirty="0"/>
                <a:t>1.</a:t>
              </a:r>
              <a:r>
                <a:rPr lang="zh-CN" altLang="en-US" dirty="0"/>
                <a:t> 标记</a:t>
              </a:r>
              <a:r>
                <a:rPr lang="en-US" altLang="zh-CN" dirty="0" err="1"/>
                <a:t>inode</a:t>
              </a:r>
              <a:r>
                <a:rPr lang="zh-CN" altLang="en-US" dirty="0"/>
                <a:t>为占用</a:t>
              </a:r>
              <a:endParaRPr lang="en-US" altLang="zh-CN" dirty="0"/>
            </a:p>
          </p:txBody>
        </p:sp>
        <p:sp>
          <p:nvSpPr>
            <p:cNvPr id="15" name="Lightning Bolt 14">
              <a:extLst>
                <a:ext uri="{FF2B5EF4-FFF2-40B4-BE49-F238E27FC236}">
                  <a16:creationId xmlns:a16="http://schemas.microsoft.com/office/drawing/2014/main" id="{5B364213-E6A5-E642-9059-013E84ABBE36}"/>
                </a:ext>
              </a:extLst>
            </p:cNvPr>
            <p:cNvSpPr/>
            <p:nvPr/>
          </p:nvSpPr>
          <p:spPr>
            <a:xfrm>
              <a:off x="5010661" y="3878835"/>
              <a:ext cx="358122" cy="604786"/>
            </a:xfrm>
            <a:prstGeom prst="lightningBolt">
              <a:avLst/>
            </a:prstGeom>
            <a:solidFill>
              <a:srgbClr val="FFC000"/>
            </a:solidFill>
            <a:ln>
              <a:solidFill>
                <a:srgbClr val="FF9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grpSp>
      <p:sp>
        <p:nvSpPr>
          <p:cNvPr id="7" name="TextBox 6">
            <a:extLst>
              <a:ext uri="{FF2B5EF4-FFF2-40B4-BE49-F238E27FC236}">
                <a16:creationId xmlns:a16="http://schemas.microsoft.com/office/drawing/2014/main" id="{CA564C35-A011-7941-91D3-733C472D1B10}"/>
              </a:ext>
            </a:extLst>
          </p:cNvPr>
          <p:cNvSpPr txBox="1"/>
          <p:nvPr/>
        </p:nvSpPr>
        <p:spPr>
          <a:xfrm>
            <a:off x="494740" y="3298848"/>
            <a:ext cx="1980029" cy="400110"/>
          </a:xfrm>
          <a:prstGeom prst="rect">
            <a:avLst/>
          </a:prstGeom>
          <a:noFill/>
        </p:spPr>
        <p:txBody>
          <a:bodyPr wrap="none" rtlCol="0">
            <a:spAutoFit/>
          </a:bodyPr>
          <a:lstStyle/>
          <a:p>
            <a:r>
              <a:rPr lang="zh-CN" altLang="en-CN" sz="2000" dirty="0"/>
              <a:t>两种</a:t>
            </a:r>
            <a:r>
              <a:rPr lang="zh-CN" altLang="en-US" sz="2000" dirty="0"/>
              <a:t>常见情况：</a:t>
            </a:r>
            <a:endParaRPr lang="en-CN" sz="2000" dirty="0"/>
          </a:p>
        </p:txBody>
      </p:sp>
      <p:grpSp>
        <p:nvGrpSpPr>
          <p:cNvPr id="11" name="Group 10">
            <a:extLst>
              <a:ext uri="{FF2B5EF4-FFF2-40B4-BE49-F238E27FC236}">
                <a16:creationId xmlns:a16="http://schemas.microsoft.com/office/drawing/2014/main" id="{CE616FF8-6BEC-2D44-95ED-E53AC6983A7E}"/>
              </a:ext>
            </a:extLst>
          </p:cNvPr>
          <p:cNvGrpSpPr/>
          <p:nvPr/>
        </p:nvGrpSpPr>
        <p:grpSpPr>
          <a:xfrm>
            <a:off x="2837450" y="3317428"/>
            <a:ext cx="2526417" cy="1477328"/>
            <a:chOff x="4886818" y="1620390"/>
            <a:chExt cx="2526417" cy="1477328"/>
          </a:xfrm>
        </p:grpSpPr>
        <p:sp>
          <p:nvSpPr>
            <p:cNvPr id="6" name="TextBox 5">
              <a:extLst>
                <a:ext uri="{FF2B5EF4-FFF2-40B4-BE49-F238E27FC236}">
                  <a16:creationId xmlns:a16="http://schemas.microsoft.com/office/drawing/2014/main" id="{75A3BBF1-67C9-7147-A176-553F570F6805}"/>
                </a:ext>
              </a:extLst>
            </p:cNvPr>
            <p:cNvSpPr txBox="1"/>
            <p:nvPr/>
          </p:nvSpPr>
          <p:spPr>
            <a:xfrm>
              <a:off x="4886818" y="1620390"/>
              <a:ext cx="2526417" cy="1477328"/>
            </a:xfrm>
            <a:prstGeom prst="rect">
              <a:avLst/>
            </a:prstGeom>
            <a:solidFill>
              <a:schemeClr val="bg1">
                <a:lumMod val="95000"/>
              </a:schemeClr>
            </a:solidFill>
          </p:spPr>
          <p:txBody>
            <a:bodyPr wrap="square" rtlCol="0">
              <a:spAutoFit/>
            </a:bodyPr>
            <a:lstStyle/>
            <a:p>
              <a:r>
                <a:rPr lang="en-US" altLang="zh-CN" dirty="0"/>
                <a:t>3.</a:t>
              </a:r>
              <a:r>
                <a:rPr lang="zh-CN" altLang="en-US" dirty="0"/>
                <a:t> 将目录项写入目录中</a:t>
              </a:r>
              <a:br>
                <a:rPr lang="en-US" altLang="zh-CN" dirty="0"/>
              </a:br>
              <a:endParaRPr lang="en-US" altLang="zh-CN" dirty="0"/>
            </a:p>
            <a:p>
              <a:endParaRPr lang="en-US" altLang="zh-CN" dirty="0"/>
            </a:p>
            <a:p>
              <a:r>
                <a:rPr lang="en-US" altLang="zh-CN" dirty="0"/>
                <a:t>2.</a:t>
              </a:r>
              <a:r>
                <a:rPr lang="zh-CN" altLang="en-US" dirty="0"/>
                <a:t> 初始化</a:t>
              </a:r>
              <a:r>
                <a:rPr lang="en-US" altLang="zh-CN" dirty="0" err="1"/>
                <a:t>inode</a:t>
              </a:r>
              <a:endParaRPr lang="en-US" altLang="zh-CN" dirty="0"/>
            </a:p>
            <a:p>
              <a:r>
                <a:rPr lang="en-US" altLang="zh-CN" dirty="0"/>
                <a:t>1.</a:t>
              </a:r>
              <a:r>
                <a:rPr lang="zh-CN" altLang="en-US" dirty="0"/>
                <a:t> 标记</a:t>
              </a:r>
              <a:r>
                <a:rPr lang="en-US" altLang="zh-CN" dirty="0" err="1"/>
                <a:t>inode</a:t>
              </a:r>
              <a:r>
                <a:rPr lang="zh-CN" altLang="en-US" dirty="0"/>
                <a:t>为占用</a:t>
              </a:r>
              <a:endParaRPr lang="en-US" altLang="zh-CN" dirty="0"/>
            </a:p>
          </p:txBody>
        </p:sp>
        <p:sp>
          <p:nvSpPr>
            <p:cNvPr id="16" name="Lightning Bolt 15">
              <a:extLst>
                <a:ext uri="{FF2B5EF4-FFF2-40B4-BE49-F238E27FC236}">
                  <a16:creationId xmlns:a16="http://schemas.microsoft.com/office/drawing/2014/main" id="{FA2C9ED5-29F1-C445-B1BB-FC86C43BAB7A}"/>
                </a:ext>
              </a:extLst>
            </p:cNvPr>
            <p:cNvSpPr/>
            <p:nvPr/>
          </p:nvSpPr>
          <p:spPr>
            <a:xfrm>
              <a:off x="5358738" y="1909898"/>
              <a:ext cx="358122" cy="604786"/>
            </a:xfrm>
            <a:prstGeom prst="lightningBolt">
              <a:avLst/>
            </a:prstGeom>
            <a:solidFill>
              <a:srgbClr val="FFC000"/>
            </a:solidFill>
            <a:ln>
              <a:solidFill>
                <a:srgbClr val="FF9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grpSp>
      <p:sp>
        <p:nvSpPr>
          <p:cNvPr id="12" name="TextBox 11">
            <a:extLst>
              <a:ext uri="{FF2B5EF4-FFF2-40B4-BE49-F238E27FC236}">
                <a16:creationId xmlns:a16="http://schemas.microsoft.com/office/drawing/2014/main" id="{12E74ADA-3D9C-C44B-B742-A3942A0DFCB9}"/>
              </a:ext>
            </a:extLst>
          </p:cNvPr>
          <p:cNvSpPr txBox="1"/>
          <p:nvPr/>
        </p:nvSpPr>
        <p:spPr>
          <a:xfrm>
            <a:off x="3851920" y="1679133"/>
            <a:ext cx="5184575" cy="707886"/>
          </a:xfrm>
          <a:prstGeom prst="rect">
            <a:avLst/>
          </a:prstGeom>
          <a:noFill/>
        </p:spPr>
        <p:txBody>
          <a:bodyPr wrap="square" rtlCol="0">
            <a:spAutoFit/>
          </a:bodyPr>
          <a:lstStyle/>
          <a:p>
            <a:r>
              <a:rPr lang="zh-CN" altLang="en-US" sz="2000" dirty="0">
                <a:solidFill>
                  <a:srgbClr val="C00000"/>
                </a:solidFill>
              </a:rPr>
              <a:t>思考一下：</a:t>
            </a:r>
            <a:endParaRPr lang="en-US" altLang="zh-CN" sz="2000" dirty="0">
              <a:solidFill>
                <a:srgbClr val="C00000"/>
              </a:solidFill>
            </a:endParaRPr>
          </a:p>
          <a:p>
            <a:r>
              <a:rPr lang="zh-CN" altLang="en-US" sz="2000" dirty="0">
                <a:solidFill>
                  <a:srgbClr val="C00000"/>
                </a:solidFill>
              </a:rPr>
              <a:t>考虑存在缓存，共存在哪些崩溃情况？</a:t>
            </a:r>
            <a:endParaRPr lang="en-US" altLang="zh-CN" sz="2000" dirty="0">
              <a:solidFill>
                <a:srgbClr val="C00000"/>
              </a:solidFill>
            </a:endParaRPr>
          </a:p>
        </p:txBody>
      </p:sp>
    </p:spTree>
    <p:extLst>
      <p:ext uri="{BB962C8B-B14F-4D97-AF65-F5344CB8AC3E}">
        <p14:creationId xmlns:p14="http://schemas.microsoft.com/office/powerpoint/2010/main" val="2849807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7" grpId="0"/>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75B07-9099-3C41-B2E6-5972347ED29C}"/>
              </a:ext>
            </a:extLst>
          </p:cNvPr>
          <p:cNvSpPr>
            <a:spLocks noGrp="1"/>
          </p:cNvSpPr>
          <p:nvPr>
            <p:ph type="title"/>
          </p:nvPr>
        </p:nvSpPr>
        <p:spPr/>
        <p:txBody>
          <a:bodyPr/>
          <a:lstStyle/>
          <a:p>
            <a:r>
              <a:rPr lang="zh-CN" altLang="en-US" dirty="0"/>
              <a:t>创建文件时崩溃，有几种情况？</a:t>
            </a:r>
            <a:endParaRPr lang="en-CN" dirty="0"/>
          </a:p>
        </p:txBody>
      </p:sp>
      <p:sp>
        <p:nvSpPr>
          <p:cNvPr id="3" name="Content Placeholder 2">
            <a:extLst>
              <a:ext uri="{FF2B5EF4-FFF2-40B4-BE49-F238E27FC236}">
                <a16:creationId xmlns:a16="http://schemas.microsoft.com/office/drawing/2014/main" id="{A83A1F32-C7BA-5240-B922-DE00893F581F}"/>
              </a:ext>
            </a:extLst>
          </p:cNvPr>
          <p:cNvSpPr>
            <a:spLocks noGrp="1"/>
          </p:cNvSpPr>
          <p:nvPr>
            <p:ph idx="1"/>
          </p:nvPr>
        </p:nvSpPr>
        <p:spPr>
          <a:xfrm>
            <a:off x="457199" y="1333501"/>
            <a:ext cx="7931225" cy="3771636"/>
          </a:xfrm>
        </p:spPr>
        <p:txBody>
          <a:bodyPr>
            <a:normAutofit/>
          </a:bodyPr>
          <a:lstStyle/>
          <a:p>
            <a:pPr marL="0" indent="0">
              <a:buNone/>
            </a:pPr>
            <a:r>
              <a:rPr lang="zh-CN" altLang="en-US" sz="2000" b="0" dirty="0">
                <a:solidFill>
                  <a:schemeClr val="tx1"/>
                </a:solidFill>
              </a:rPr>
              <a:t>创建</a:t>
            </a:r>
            <a:r>
              <a:rPr lang="en-US" altLang="zh-CN" sz="2000" b="0" dirty="0">
                <a:solidFill>
                  <a:schemeClr val="tx1"/>
                </a:solidFill>
              </a:rPr>
              <a:t>"/</a:t>
            </a:r>
            <a:r>
              <a:rPr lang="en-US" altLang="zh-CN" sz="2000" b="0" dirty="0" err="1">
                <a:solidFill>
                  <a:schemeClr val="tx1"/>
                </a:solidFill>
              </a:rPr>
              <a:t>chb</a:t>
            </a:r>
            <a:r>
              <a:rPr lang="en-US" altLang="zh-CN" sz="2000" b="0" dirty="0">
                <a:solidFill>
                  <a:schemeClr val="tx1"/>
                </a:solidFill>
              </a:rPr>
              <a:t>"</a:t>
            </a:r>
            <a:r>
              <a:rPr lang="zh-CN" altLang="en-US" sz="2000" b="0" dirty="0">
                <a:solidFill>
                  <a:schemeClr val="tx1"/>
                </a:solidFill>
              </a:rPr>
              <a:t>的修改包括：</a:t>
            </a:r>
            <a:endParaRPr lang="en-US" altLang="zh-CN" sz="2000" b="0" dirty="0">
              <a:solidFill>
                <a:schemeClr val="tx1"/>
              </a:solidFill>
            </a:endParaRPr>
          </a:p>
          <a:p>
            <a:pPr marL="0" indent="0">
              <a:buNone/>
            </a:pPr>
            <a:r>
              <a:rPr lang="en-US" altLang="zh-CN" sz="2000" b="0" dirty="0">
                <a:solidFill>
                  <a:schemeClr val="tx1"/>
                </a:solidFill>
              </a:rPr>
              <a:t>1.</a:t>
            </a:r>
            <a:r>
              <a:rPr lang="zh-CN" altLang="en-US" sz="2000" b="0" dirty="0">
                <a:solidFill>
                  <a:schemeClr val="tx1"/>
                </a:solidFill>
              </a:rPr>
              <a:t> 标记</a:t>
            </a:r>
            <a:r>
              <a:rPr lang="en-US" altLang="zh-CN" sz="2000" b="0" dirty="0" err="1">
                <a:solidFill>
                  <a:schemeClr val="tx1"/>
                </a:solidFill>
              </a:rPr>
              <a:t>inode</a:t>
            </a:r>
            <a:r>
              <a:rPr lang="zh-CN" altLang="en-US" sz="2000" b="0" dirty="0">
                <a:solidFill>
                  <a:schemeClr val="tx1"/>
                </a:solidFill>
              </a:rPr>
              <a:t>为占用</a:t>
            </a:r>
            <a:br>
              <a:rPr lang="en-US" altLang="zh-CN" sz="2000" b="0" dirty="0">
                <a:solidFill>
                  <a:schemeClr val="tx1"/>
                </a:solidFill>
              </a:rPr>
            </a:br>
            <a:r>
              <a:rPr lang="en-US" altLang="zh-CN" sz="2000" b="0" dirty="0">
                <a:solidFill>
                  <a:schemeClr val="tx1"/>
                </a:solidFill>
              </a:rPr>
              <a:t>2.</a:t>
            </a:r>
            <a:r>
              <a:rPr lang="zh-CN" altLang="en-US" sz="2000" b="0" dirty="0">
                <a:solidFill>
                  <a:schemeClr val="tx1"/>
                </a:solidFill>
              </a:rPr>
              <a:t> 初始化</a:t>
            </a:r>
            <a:r>
              <a:rPr lang="en-US" altLang="zh-CN" sz="2000" b="0" dirty="0" err="1">
                <a:solidFill>
                  <a:schemeClr val="tx1"/>
                </a:solidFill>
              </a:rPr>
              <a:t>inode</a:t>
            </a:r>
            <a:br>
              <a:rPr lang="en-US" altLang="zh-CN" sz="2000" b="0" dirty="0">
                <a:solidFill>
                  <a:schemeClr val="tx1"/>
                </a:solidFill>
              </a:rPr>
            </a:br>
            <a:r>
              <a:rPr lang="en-US" altLang="zh-CN" sz="2000" b="0" dirty="0">
                <a:solidFill>
                  <a:schemeClr val="tx1"/>
                </a:solidFill>
              </a:rPr>
              <a:t>3.</a:t>
            </a:r>
            <a:r>
              <a:rPr lang="zh-CN" altLang="en-US" sz="2000" b="0" dirty="0">
                <a:solidFill>
                  <a:schemeClr val="tx1"/>
                </a:solidFill>
              </a:rPr>
              <a:t> 将目录项写入目录中</a:t>
            </a:r>
            <a:endParaRPr lang="en-US" altLang="zh-CN" sz="2000" b="0" dirty="0">
              <a:solidFill>
                <a:schemeClr val="tx1"/>
              </a:solidFill>
            </a:endParaRPr>
          </a:p>
          <a:p>
            <a:pPr marL="0" indent="0">
              <a:buNone/>
            </a:pPr>
            <a:endParaRPr lang="en-CN" sz="1800" b="0" dirty="0">
              <a:solidFill>
                <a:schemeClr val="tx1"/>
              </a:solidFill>
            </a:endParaRPr>
          </a:p>
        </p:txBody>
      </p:sp>
      <p:sp>
        <p:nvSpPr>
          <p:cNvPr id="4" name="Footer Placeholder 3">
            <a:extLst>
              <a:ext uri="{FF2B5EF4-FFF2-40B4-BE49-F238E27FC236}">
                <a16:creationId xmlns:a16="http://schemas.microsoft.com/office/drawing/2014/main" id="{7005B691-E3D5-4240-9E7E-E67E7979363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5" name="Slide Number Placeholder 4">
            <a:extLst>
              <a:ext uri="{FF2B5EF4-FFF2-40B4-BE49-F238E27FC236}">
                <a16:creationId xmlns:a16="http://schemas.microsoft.com/office/drawing/2014/main" id="{443E7816-4275-3348-949B-D247B29DBBDE}"/>
              </a:ext>
            </a:extLst>
          </p:cNvPr>
          <p:cNvSpPr>
            <a:spLocks noGrp="1"/>
          </p:cNvSpPr>
          <p:nvPr>
            <p:ph type="sldNum" sz="quarter" idx="12"/>
          </p:nvPr>
        </p:nvSpPr>
        <p:spPr/>
        <p:txBody>
          <a:bodyPr/>
          <a:lstStyle/>
          <a:p>
            <a:fld id="{ADE361C3-C043-4A6E-BDCE-8DA1E7D90A3B}" type="slidenum">
              <a:rPr lang="zh-CN" altLang="en-US" smtClean="0"/>
              <a:t>8</a:t>
            </a:fld>
            <a:endParaRPr lang="zh-CN" altLang="en-US"/>
          </a:p>
        </p:txBody>
      </p:sp>
      <p:sp>
        <p:nvSpPr>
          <p:cNvPr id="9" name="TextBox 8">
            <a:extLst>
              <a:ext uri="{FF2B5EF4-FFF2-40B4-BE49-F238E27FC236}">
                <a16:creationId xmlns:a16="http://schemas.microsoft.com/office/drawing/2014/main" id="{1649E220-3538-1A41-AB45-F5FA93F70F7F}"/>
              </a:ext>
            </a:extLst>
          </p:cNvPr>
          <p:cNvSpPr txBox="1"/>
          <p:nvPr/>
        </p:nvSpPr>
        <p:spPr>
          <a:xfrm>
            <a:off x="5127010" y="1163639"/>
            <a:ext cx="2492990" cy="400110"/>
          </a:xfrm>
          <a:prstGeom prst="rect">
            <a:avLst/>
          </a:prstGeom>
          <a:noFill/>
        </p:spPr>
        <p:txBody>
          <a:bodyPr wrap="none" rtlCol="0">
            <a:spAutoFit/>
          </a:bodyPr>
          <a:lstStyle/>
          <a:p>
            <a:r>
              <a:rPr lang="zh-CN" altLang="en-CN" sz="2000" dirty="0"/>
              <a:t>崩溃</a:t>
            </a:r>
            <a:r>
              <a:rPr lang="zh-CN" altLang="en-US" sz="2000" dirty="0"/>
              <a:t>随时可能发生！</a:t>
            </a:r>
            <a:endParaRPr lang="en-CN" sz="2000" dirty="0"/>
          </a:p>
        </p:txBody>
      </p:sp>
      <p:sp>
        <p:nvSpPr>
          <p:cNvPr id="10" name="Lightning Bolt 9">
            <a:extLst>
              <a:ext uri="{FF2B5EF4-FFF2-40B4-BE49-F238E27FC236}">
                <a16:creationId xmlns:a16="http://schemas.microsoft.com/office/drawing/2014/main" id="{F99CAABE-7918-CE4E-9A30-7099A3F8131B}"/>
              </a:ext>
            </a:extLst>
          </p:cNvPr>
          <p:cNvSpPr/>
          <p:nvPr/>
        </p:nvSpPr>
        <p:spPr>
          <a:xfrm>
            <a:off x="4607848" y="937457"/>
            <a:ext cx="469032" cy="792088"/>
          </a:xfrm>
          <a:prstGeom prst="lightningBolt">
            <a:avLst/>
          </a:prstGeom>
          <a:solidFill>
            <a:srgbClr val="FFC000"/>
          </a:solidFill>
          <a:ln>
            <a:solidFill>
              <a:srgbClr val="FF9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1" name="TextBox 10">
            <a:extLst>
              <a:ext uri="{FF2B5EF4-FFF2-40B4-BE49-F238E27FC236}">
                <a16:creationId xmlns:a16="http://schemas.microsoft.com/office/drawing/2014/main" id="{DB1F5B54-D306-DC4D-8734-F62955BF7E2F}"/>
              </a:ext>
            </a:extLst>
          </p:cNvPr>
          <p:cNvSpPr txBox="1"/>
          <p:nvPr/>
        </p:nvSpPr>
        <p:spPr>
          <a:xfrm>
            <a:off x="457199" y="4137124"/>
            <a:ext cx="7931225" cy="1034129"/>
          </a:xfrm>
          <a:prstGeom prst="rect">
            <a:avLst/>
          </a:prstGeom>
          <a:noFill/>
        </p:spPr>
        <p:txBody>
          <a:bodyPr wrap="square" rtlCol="0">
            <a:spAutoFit/>
          </a:bodyPr>
          <a:lstStyle/>
          <a:p>
            <a:pPr lvl="0">
              <a:lnSpc>
                <a:spcPct val="120000"/>
              </a:lnSpc>
              <a:spcBef>
                <a:spcPts val="1200"/>
              </a:spcBef>
            </a:pPr>
            <a:r>
              <a:rPr lang="zh-CN" altLang="en-US" dirty="0">
                <a:ea typeface="微软雅黑" panose="020B0503020204020204" pitchFamily="34" charset="-122"/>
              </a:rPr>
              <a:t>注意：此处的创建文件还未考虑</a:t>
            </a:r>
            <a:r>
              <a:rPr lang="zh-CN" altLang="en-US" dirty="0">
                <a:solidFill>
                  <a:srgbClr val="C00000"/>
                </a:solidFill>
                <a:ea typeface="微软雅黑" panose="020B0503020204020204" pitchFamily="34" charset="-122"/>
              </a:rPr>
              <a:t>修改时间戳</a:t>
            </a:r>
            <a:r>
              <a:rPr lang="zh-CN" altLang="en-US" dirty="0">
                <a:ea typeface="微软雅黑" panose="020B0503020204020204" pitchFamily="34" charset="-122"/>
              </a:rPr>
              <a:t>、写入新目录项需要</a:t>
            </a:r>
            <a:r>
              <a:rPr lang="zh-CN" altLang="en-US" dirty="0">
                <a:solidFill>
                  <a:srgbClr val="C00000"/>
                </a:solidFill>
                <a:ea typeface="微软雅黑" panose="020B0503020204020204" pitchFamily="34" charset="-122"/>
              </a:rPr>
              <a:t>分配新的数据块</a:t>
            </a:r>
            <a:r>
              <a:rPr lang="zh-CN" altLang="en-US" dirty="0">
                <a:ea typeface="微软雅黑" panose="020B0503020204020204" pitchFamily="34" charset="-122"/>
              </a:rPr>
              <a:t>、修改</a:t>
            </a:r>
            <a:r>
              <a:rPr lang="zh-CN" altLang="en-US" dirty="0">
                <a:solidFill>
                  <a:srgbClr val="C00000"/>
                </a:solidFill>
                <a:ea typeface="微软雅黑" panose="020B0503020204020204" pitchFamily="34" charset="-122"/>
              </a:rPr>
              <a:t>超级块中的统计信息</a:t>
            </a:r>
            <a:r>
              <a:rPr lang="zh-CN" altLang="en-US" dirty="0">
                <a:ea typeface="微软雅黑" panose="020B0503020204020204" pitchFamily="34" charset="-122"/>
              </a:rPr>
              <a:t>等情况。考虑后情况会更复杂！</a:t>
            </a:r>
            <a:endParaRPr lang="en-CN" dirty="0">
              <a:ea typeface="微软雅黑" panose="020B0503020204020204" pitchFamily="34" charset="-122"/>
            </a:endParaRPr>
          </a:p>
          <a:p>
            <a:endParaRPr lang="en-CN" dirty="0"/>
          </a:p>
        </p:txBody>
      </p:sp>
      <p:sp>
        <p:nvSpPr>
          <p:cNvPr id="6" name="TextBox 5">
            <a:extLst>
              <a:ext uri="{FF2B5EF4-FFF2-40B4-BE49-F238E27FC236}">
                <a16:creationId xmlns:a16="http://schemas.microsoft.com/office/drawing/2014/main" id="{5D2B5CC7-5406-6844-AD35-8781EB672DF3}"/>
              </a:ext>
            </a:extLst>
          </p:cNvPr>
          <p:cNvSpPr txBox="1"/>
          <p:nvPr/>
        </p:nvSpPr>
        <p:spPr>
          <a:xfrm>
            <a:off x="5993966" y="1624607"/>
            <a:ext cx="2505814" cy="2308324"/>
          </a:xfrm>
          <a:prstGeom prst="rect">
            <a:avLst/>
          </a:prstGeom>
          <a:noFill/>
        </p:spPr>
        <p:txBody>
          <a:bodyPr wrap="none" rtlCol="0">
            <a:spAutoFit/>
          </a:bodyPr>
          <a:lstStyle/>
          <a:p>
            <a:r>
              <a:rPr lang="en-US" altLang="zh-CN" dirty="0"/>
              <a:t>{},</a:t>
            </a:r>
            <a:r>
              <a:rPr lang="zh-CN" altLang="en-US" dirty="0"/>
              <a:t> </a:t>
            </a:r>
            <a:r>
              <a:rPr lang="en-US" altLang="zh-CN" dirty="0"/>
              <a:t>//</a:t>
            </a:r>
            <a:r>
              <a:rPr lang="zh-CN" altLang="en-US" dirty="0"/>
              <a:t> 没有操作被持久化</a:t>
            </a:r>
            <a:endParaRPr lang="en-US" altLang="zh-CN" dirty="0"/>
          </a:p>
          <a:p>
            <a:r>
              <a:rPr lang="en-US" altLang="zh-CN" dirty="0"/>
              <a:t>{1}</a:t>
            </a:r>
          </a:p>
          <a:p>
            <a:r>
              <a:rPr lang="en-US" altLang="zh-CN" dirty="0"/>
              <a:t>{2}</a:t>
            </a:r>
          </a:p>
          <a:p>
            <a:r>
              <a:rPr lang="en-US" altLang="zh-CN" dirty="0"/>
              <a:t>{3}</a:t>
            </a:r>
          </a:p>
          <a:p>
            <a:r>
              <a:rPr lang="en-US" altLang="zh-CN" dirty="0"/>
              <a:t>{1, 2}</a:t>
            </a:r>
            <a:r>
              <a:rPr lang="zh-CN" altLang="en-US" dirty="0"/>
              <a:t> （与</a:t>
            </a:r>
            <a:r>
              <a:rPr lang="en-US" altLang="zh-CN" dirty="0"/>
              <a:t>{2,1}</a:t>
            </a:r>
            <a:r>
              <a:rPr lang="zh-CN" altLang="en-US" dirty="0"/>
              <a:t>相同）</a:t>
            </a:r>
            <a:endParaRPr lang="en-US" altLang="zh-CN" dirty="0"/>
          </a:p>
          <a:p>
            <a:r>
              <a:rPr lang="en-US" altLang="zh-CN" dirty="0"/>
              <a:t>{1,</a:t>
            </a:r>
            <a:r>
              <a:rPr lang="zh-CN" altLang="en-US" dirty="0"/>
              <a:t> </a:t>
            </a:r>
            <a:r>
              <a:rPr lang="en-US" altLang="zh-CN" dirty="0"/>
              <a:t>3}</a:t>
            </a:r>
          </a:p>
          <a:p>
            <a:r>
              <a:rPr lang="en-US" altLang="zh-CN" dirty="0"/>
              <a:t>{2,</a:t>
            </a:r>
            <a:r>
              <a:rPr lang="zh-CN" altLang="en-US" dirty="0"/>
              <a:t> </a:t>
            </a:r>
            <a:r>
              <a:rPr lang="en-US" altLang="zh-CN" dirty="0"/>
              <a:t>3}</a:t>
            </a:r>
          </a:p>
          <a:p>
            <a:r>
              <a:rPr lang="en-US" altLang="zh-CN" dirty="0"/>
              <a:t>{1,</a:t>
            </a:r>
            <a:r>
              <a:rPr lang="zh-CN" altLang="en-US" dirty="0"/>
              <a:t> </a:t>
            </a:r>
            <a:r>
              <a:rPr lang="en-US" altLang="zh-CN" dirty="0"/>
              <a:t>2,</a:t>
            </a:r>
            <a:r>
              <a:rPr lang="zh-CN" altLang="en-US" dirty="0"/>
              <a:t> </a:t>
            </a:r>
            <a:r>
              <a:rPr lang="en-US" altLang="zh-CN" dirty="0"/>
              <a:t>3}</a:t>
            </a:r>
            <a:endParaRPr lang="en-CN" dirty="0"/>
          </a:p>
        </p:txBody>
      </p:sp>
      <p:sp>
        <p:nvSpPr>
          <p:cNvPr id="7" name="TextBox 6">
            <a:extLst>
              <a:ext uri="{FF2B5EF4-FFF2-40B4-BE49-F238E27FC236}">
                <a16:creationId xmlns:a16="http://schemas.microsoft.com/office/drawing/2014/main" id="{8183A8DF-DD9F-7B48-80D7-D30108ECA37D}"/>
              </a:ext>
            </a:extLst>
          </p:cNvPr>
          <p:cNvSpPr txBox="1"/>
          <p:nvPr/>
        </p:nvSpPr>
        <p:spPr>
          <a:xfrm>
            <a:off x="4407420" y="1639786"/>
            <a:ext cx="1697901" cy="369332"/>
          </a:xfrm>
          <a:prstGeom prst="rect">
            <a:avLst/>
          </a:prstGeom>
          <a:noFill/>
        </p:spPr>
        <p:txBody>
          <a:bodyPr wrap="none" rtlCol="0">
            <a:spAutoFit/>
          </a:bodyPr>
          <a:lstStyle/>
          <a:p>
            <a:r>
              <a:rPr lang="zh-CN" altLang="en-CN" dirty="0"/>
              <a:t>共有</a:t>
            </a:r>
            <a:r>
              <a:rPr lang="en-US" altLang="zh-CN" dirty="0"/>
              <a:t>8</a:t>
            </a:r>
            <a:r>
              <a:rPr lang="zh-CN" altLang="en-US" dirty="0"/>
              <a:t>种情况：</a:t>
            </a:r>
            <a:endParaRPr lang="en-CN" dirty="0"/>
          </a:p>
        </p:txBody>
      </p:sp>
    </p:spTree>
    <p:extLst>
      <p:ext uri="{BB962C8B-B14F-4D97-AF65-F5344CB8AC3E}">
        <p14:creationId xmlns:p14="http://schemas.microsoft.com/office/powerpoint/2010/main" val="8457814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123005-3A71-BE49-A548-38856BCFADBB}"/>
              </a:ext>
            </a:extLst>
          </p:cNvPr>
          <p:cNvSpPr>
            <a:spLocks noGrp="1"/>
          </p:cNvSpPr>
          <p:nvPr>
            <p:ph type="title"/>
          </p:nvPr>
        </p:nvSpPr>
        <p:spPr/>
        <p:txBody>
          <a:bodyPr>
            <a:normAutofit/>
          </a:bodyPr>
          <a:lstStyle/>
          <a:p>
            <a:r>
              <a:rPr kumimoji="1" lang="zh-CN" altLang="en-US" dirty="0"/>
              <a:t>创建文件时崩溃的六种情况</a:t>
            </a:r>
          </a:p>
        </p:txBody>
      </p:sp>
      <p:sp>
        <p:nvSpPr>
          <p:cNvPr id="4" name="灯片编号占位符 3">
            <a:extLst>
              <a:ext uri="{FF2B5EF4-FFF2-40B4-BE49-F238E27FC236}">
                <a16:creationId xmlns:a16="http://schemas.microsoft.com/office/drawing/2014/main" id="{331307F6-7A03-CF45-A8A8-10E92F0AC91A}"/>
              </a:ext>
            </a:extLst>
          </p:cNvPr>
          <p:cNvSpPr>
            <a:spLocks noGrp="1"/>
          </p:cNvSpPr>
          <p:nvPr>
            <p:ph type="sldNum" sz="quarter" idx="12"/>
          </p:nvPr>
        </p:nvSpPr>
        <p:spPr/>
        <p:txBody>
          <a:bodyPr/>
          <a:lstStyle/>
          <a:p>
            <a:fld id="{ADE361C3-C043-4A6E-BDCE-8DA1E7D90A3B}" type="slidenum">
              <a:rPr lang="zh-CN" altLang="en-US" smtClean="0"/>
              <a:t>9</a:t>
            </a:fld>
            <a:endParaRPr lang="zh-CN" altLang="en-US"/>
          </a:p>
        </p:txBody>
      </p:sp>
      <p:sp>
        <p:nvSpPr>
          <p:cNvPr id="5" name="页脚占位符 4">
            <a:extLst>
              <a:ext uri="{FF2B5EF4-FFF2-40B4-BE49-F238E27FC236}">
                <a16:creationId xmlns:a16="http://schemas.microsoft.com/office/drawing/2014/main" id="{BAA08414-1A88-C841-A93F-D65442DF3370}"/>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6" name="图片 5">
            <a:extLst>
              <a:ext uri="{FF2B5EF4-FFF2-40B4-BE49-F238E27FC236}">
                <a16:creationId xmlns:a16="http://schemas.microsoft.com/office/drawing/2014/main" id="{91298FDE-05BD-A349-9D0A-F4A13ACC2744}"/>
              </a:ext>
            </a:extLst>
          </p:cNvPr>
          <p:cNvPicPr>
            <a:picLocks noChangeAspect="1"/>
          </p:cNvPicPr>
          <p:nvPr/>
        </p:nvPicPr>
        <p:blipFill>
          <a:blip r:embed="rId2"/>
          <a:stretch>
            <a:fillRect/>
          </a:stretch>
        </p:blipFill>
        <p:spPr>
          <a:xfrm>
            <a:off x="870090" y="1492882"/>
            <a:ext cx="7403821" cy="3499066"/>
          </a:xfrm>
          <a:prstGeom prst="rect">
            <a:avLst/>
          </a:prstGeom>
        </p:spPr>
      </p:pic>
      <p:sp>
        <p:nvSpPr>
          <p:cNvPr id="7" name="椭圆 6">
            <a:extLst>
              <a:ext uri="{FF2B5EF4-FFF2-40B4-BE49-F238E27FC236}">
                <a16:creationId xmlns:a16="http://schemas.microsoft.com/office/drawing/2014/main" id="{74749208-48F6-0645-A4E8-941A8B078C52}"/>
              </a:ext>
            </a:extLst>
          </p:cNvPr>
          <p:cNvSpPr/>
          <p:nvPr/>
        </p:nvSpPr>
        <p:spPr>
          <a:xfrm>
            <a:off x="5868144" y="2569468"/>
            <a:ext cx="576064" cy="79208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椭圆 7">
            <a:extLst>
              <a:ext uri="{FF2B5EF4-FFF2-40B4-BE49-F238E27FC236}">
                <a16:creationId xmlns:a16="http://schemas.microsoft.com/office/drawing/2014/main" id="{05FE5061-AF56-9E4C-94D7-54DE3F5BC2B8}"/>
              </a:ext>
            </a:extLst>
          </p:cNvPr>
          <p:cNvSpPr/>
          <p:nvPr/>
        </p:nvSpPr>
        <p:spPr>
          <a:xfrm>
            <a:off x="5868144" y="4352367"/>
            <a:ext cx="576064" cy="37734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椭圆 8">
            <a:extLst>
              <a:ext uri="{FF2B5EF4-FFF2-40B4-BE49-F238E27FC236}">
                <a16:creationId xmlns:a16="http://schemas.microsoft.com/office/drawing/2014/main" id="{79C786FA-4C14-3F40-A413-92CB1FC9C971}"/>
              </a:ext>
            </a:extLst>
          </p:cNvPr>
          <p:cNvSpPr/>
          <p:nvPr/>
        </p:nvSpPr>
        <p:spPr>
          <a:xfrm>
            <a:off x="7236296" y="2984215"/>
            <a:ext cx="576064" cy="37734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287800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崩溃一致性：用户期望</a:t>
            </a:r>
          </a:p>
        </p:txBody>
      </p:sp>
      <p:sp>
        <p:nvSpPr>
          <p:cNvPr id="3" name="内容占位符 2"/>
          <p:cNvSpPr>
            <a:spLocks noGrp="1"/>
          </p:cNvSpPr>
          <p:nvPr>
            <p:ph idx="1"/>
          </p:nvPr>
        </p:nvSpPr>
        <p:spPr/>
        <p:txBody>
          <a:bodyPr>
            <a:normAutofit lnSpcReduction="10000"/>
          </a:bodyPr>
          <a:lstStyle/>
          <a:p>
            <a:pPr marL="0" indent="0">
              <a:buNone/>
            </a:pPr>
            <a:r>
              <a:rPr lang="zh-CN" altLang="en-US" sz="2667" dirty="0"/>
              <a:t>重启并恢复后</a:t>
            </a:r>
            <a:r>
              <a:rPr lang="en-US" altLang="zh-CN" sz="2667" dirty="0"/>
              <a:t>… </a:t>
            </a:r>
          </a:p>
          <a:p>
            <a:pPr marL="380985" lvl="1" indent="0">
              <a:buNone/>
            </a:pPr>
            <a:r>
              <a:rPr lang="en-US" altLang="zh-CN" sz="2333" dirty="0"/>
              <a:t>1. </a:t>
            </a:r>
            <a:r>
              <a:rPr lang="zh-CN" altLang="en-US" sz="2333" dirty="0"/>
              <a:t>维护文件系统数据结构的内部的不变量</a:t>
            </a:r>
            <a:r>
              <a:rPr lang="en-US" altLang="zh-CN" sz="2333" dirty="0"/>
              <a:t> </a:t>
            </a:r>
          </a:p>
          <a:p>
            <a:pPr marL="761970" lvl="2" indent="0">
              <a:buNone/>
            </a:pPr>
            <a:r>
              <a:rPr lang="zh-CN" altLang="en-US" dirty="0"/>
              <a:t>例如</a:t>
            </a:r>
            <a:r>
              <a:rPr lang="en-US" altLang="zh-CN" dirty="0"/>
              <a:t>, </a:t>
            </a:r>
            <a:r>
              <a:rPr lang="zh-CN" altLang="en-US" dirty="0"/>
              <a:t>没有磁盘块既在</a:t>
            </a:r>
            <a:r>
              <a:rPr lang="en-US" altLang="zh-CN" dirty="0"/>
              <a:t>free list</a:t>
            </a:r>
            <a:r>
              <a:rPr lang="zh-CN" altLang="en-US" dirty="0"/>
              <a:t>中也在一个文件中</a:t>
            </a:r>
            <a:endParaRPr lang="en-US" altLang="zh-CN" dirty="0"/>
          </a:p>
          <a:p>
            <a:pPr marL="380985" lvl="1" indent="0">
              <a:buNone/>
            </a:pPr>
            <a:r>
              <a:rPr lang="en-US" altLang="zh-CN" sz="2333" dirty="0"/>
              <a:t>2. </a:t>
            </a:r>
            <a:r>
              <a:rPr lang="zh-CN" altLang="en-US" sz="2333" dirty="0"/>
              <a:t>仅有最近的一些操作没有被保存到磁盘中</a:t>
            </a:r>
            <a:endParaRPr lang="en-US" altLang="zh-CN" sz="2333" dirty="0"/>
          </a:p>
          <a:p>
            <a:pPr marL="761970" lvl="2" indent="0">
              <a:buNone/>
            </a:pPr>
            <a:r>
              <a:rPr lang="zh-CN" altLang="en-US" dirty="0"/>
              <a:t>例如：我昨天写的</a:t>
            </a:r>
            <a:r>
              <a:rPr lang="en-US" altLang="zh-CN" dirty="0"/>
              <a:t>OS Lab</a:t>
            </a:r>
            <a:r>
              <a:rPr lang="zh-CN" altLang="en-US" dirty="0"/>
              <a:t>的文件还存在</a:t>
            </a:r>
            <a:r>
              <a:rPr lang="en-US" altLang="zh-CN" dirty="0"/>
              <a:t> </a:t>
            </a:r>
          </a:p>
          <a:p>
            <a:pPr marL="761970" lvl="2" indent="0">
              <a:buNone/>
            </a:pPr>
            <a:r>
              <a:rPr lang="zh-CN" altLang="en-US" dirty="0"/>
              <a:t>用户只需要关心最近的几次修改还在不在</a:t>
            </a:r>
            <a:r>
              <a:rPr lang="en-US" altLang="zh-CN" dirty="0"/>
              <a:t> </a:t>
            </a:r>
          </a:p>
          <a:p>
            <a:pPr marL="380985" lvl="1" indent="0">
              <a:buNone/>
            </a:pPr>
            <a:r>
              <a:rPr lang="en-US" altLang="zh-CN" sz="2333" dirty="0"/>
              <a:t>3. </a:t>
            </a:r>
            <a:r>
              <a:rPr lang="zh-CN" altLang="en-US" sz="2333" dirty="0"/>
              <a:t>没有顺序的异常</a:t>
            </a:r>
            <a:r>
              <a:rPr lang="en-US" altLang="zh-CN" sz="2333" dirty="0"/>
              <a:t> </a:t>
            </a:r>
          </a:p>
          <a:p>
            <a:pPr marL="380985" lvl="1" indent="0">
              <a:buNone/>
            </a:pPr>
            <a:r>
              <a:rPr lang="en-US" altLang="zh-CN" sz="2333" dirty="0"/>
              <a:t>	$ echo 99 &gt; result ; echo done &gt; status </a:t>
            </a:r>
          </a:p>
        </p:txBody>
      </p:sp>
    </p:spTree>
    <p:extLst>
      <p:ext uri="{BB962C8B-B14F-4D97-AF65-F5344CB8AC3E}">
        <p14:creationId xmlns:p14="http://schemas.microsoft.com/office/powerpoint/2010/main" val="32023765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一些（简化的）假设</a:t>
            </a:r>
          </a:p>
        </p:txBody>
      </p:sp>
      <p:sp>
        <p:nvSpPr>
          <p:cNvPr id="3" name="内容占位符 2"/>
          <p:cNvSpPr>
            <a:spLocks noGrp="1"/>
          </p:cNvSpPr>
          <p:nvPr>
            <p:ph idx="1"/>
          </p:nvPr>
        </p:nvSpPr>
        <p:spPr/>
        <p:txBody>
          <a:bodyPr>
            <a:normAutofit/>
          </a:bodyPr>
          <a:lstStyle/>
          <a:p>
            <a:r>
              <a:rPr lang="zh-CN" altLang="en-US" b="0" dirty="0"/>
              <a:t>磁盘是</a:t>
            </a:r>
            <a:r>
              <a:rPr lang="en-US" altLang="zh-CN" b="0" dirty="0"/>
              <a:t>fail-stop</a:t>
            </a:r>
          </a:p>
          <a:p>
            <a:r>
              <a:rPr lang="zh-CN" altLang="en-US" b="0" dirty="0"/>
              <a:t>磁盘会</a:t>
            </a:r>
            <a:r>
              <a:rPr lang="en-US" altLang="zh-CN" b="0" dirty="0"/>
              <a:t>1:1</a:t>
            </a:r>
            <a:r>
              <a:rPr lang="zh-CN" altLang="en-US" b="0" dirty="0"/>
              <a:t>地执行文件系统下发的命令，不多做也不少做</a:t>
            </a:r>
            <a:endParaRPr lang="en-US" altLang="zh-CN" b="0" dirty="0"/>
          </a:p>
          <a:p>
            <a:r>
              <a:rPr lang="zh-CN" altLang="en-US" b="0" dirty="0"/>
              <a:t>磁盘可能不会执行最近的几次操作</a:t>
            </a:r>
            <a:r>
              <a:rPr lang="en-US" altLang="zh-CN" b="0" dirty="0"/>
              <a:t> </a:t>
            </a:r>
          </a:p>
          <a:p>
            <a:r>
              <a:rPr lang="zh-CN" altLang="en-US" b="0" dirty="0"/>
              <a:t>磁盘不会写飞（</a:t>
            </a:r>
            <a:r>
              <a:rPr lang="en-US" altLang="zh-CN" b="0" dirty="0"/>
              <a:t>wild writes</a:t>
            </a:r>
            <a:r>
              <a:rPr lang="zh-CN" altLang="en-US" b="0" dirty="0"/>
              <a:t>）</a:t>
            </a:r>
            <a:endParaRPr lang="en-US" altLang="zh-CN" b="0" dirty="0"/>
          </a:p>
          <a:p>
            <a:r>
              <a:rPr lang="zh-CN" altLang="en-US" b="0" dirty="0"/>
              <a:t>磁盘能保证单个磁盘块的写入原子性，但不保证顺序</a:t>
            </a:r>
            <a:endParaRPr lang="en-US" altLang="zh-CN" b="0" dirty="0"/>
          </a:p>
        </p:txBody>
      </p:sp>
    </p:spTree>
    <p:extLst>
      <p:ext uri="{BB962C8B-B14F-4D97-AF65-F5344CB8AC3E}">
        <p14:creationId xmlns:p14="http://schemas.microsoft.com/office/powerpoint/2010/main" val="31696010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文件系统操作所要求的三个属性</a:t>
            </a:r>
          </a:p>
        </p:txBody>
      </p:sp>
      <p:sp>
        <p:nvSpPr>
          <p:cNvPr id="3" name="内容占位符 2"/>
          <p:cNvSpPr>
            <a:spLocks noGrp="1"/>
          </p:cNvSpPr>
          <p:nvPr>
            <p:ph idx="1"/>
          </p:nvPr>
        </p:nvSpPr>
        <p:spPr/>
        <p:txBody>
          <a:bodyPr>
            <a:normAutofit fontScale="85000" lnSpcReduction="20000"/>
          </a:bodyPr>
          <a:lstStyle/>
          <a:p>
            <a:pPr marL="0" indent="0">
              <a:buNone/>
            </a:pPr>
            <a:r>
              <a:rPr lang="en-US" altLang="zh-CN" dirty="0" err="1"/>
              <a:t>creat</a:t>
            </a:r>
            <a:r>
              <a:rPr lang="en-US" altLang="zh-CN" dirty="0"/>
              <a:t>(“a”); </a:t>
            </a:r>
            <a:r>
              <a:rPr lang="en-US" altLang="zh-CN" dirty="0" err="1"/>
              <a:t>fd</a:t>
            </a:r>
            <a:r>
              <a:rPr lang="en-US" altLang="zh-CN" dirty="0"/>
              <a:t> = </a:t>
            </a:r>
            <a:r>
              <a:rPr lang="en-US" altLang="zh-CN" dirty="0" err="1"/>
              <a:t>creat</a:t>
            </a:r>
            <a:r>
              <a:rPr lang="en-US" altLang="zh-CN" dirty="0"/>
              <a:t>(“b”); write(</a:t>
            </a:r>
            <a:r>
              <a:rPr lang="en-US" altLang="zh-CN" dirty="0" err="1"/>
              <a:t>fd</a:t>
            </a:r>
            <a:r>
              <a:rPr lang="en-US" altLang="zh-CN" dirty="0"/>
              <a:t>,…); </a:t>
            </a:r>
            <a:r>
              <a:rPr lang="en-US" altLang="zh-CN" dirty="0">
                <a:highlight>
                  <a:srgbClr val="FFFF00"/>
                </a:highlight>
              </a:rPr>
              <a:t>crash</a:t>
            </a:r>
          </a:p>
          <a:p>
            <a:pPr marL="380985" lvl="1" indent="0">
              <a:buNone/>
            </a:pPr>
            <a:endParaRPr lang="en-US" altLang="zh-CN" dirty="0"/>
          </a:p>
          <a:p>
            <a:pPr marL="0" indent="0">
              <a:buNone/>
            </a:pPr>
            <a:r>
              <a:rPr lang="zh-CN" altLang="en-US" dirty="0">
                <a:solidFill>
                  <a:schemeClr val="accent1"/>
                </a:solidFill>
              </a:rPr>
              <a:t>持久化</a:t>
            </a:r>
            <a:r>
              <a:rPr lang="en-US" altLang="zh-CN" dirty="0">
                <a:solidFill>
                  <a:schemeClr val="accent1"/>
                </a:solidFill>
              </a:rPr>
              <a:t>/Durable</a:t>
            </a:r>
            <a:r>
              <a:rPr lang="en-US" altLang="zh-CN" dirty="0"/>
              <a:t>: </a:t>
            </a:r>
            <a:r>
              <a:rPr lang="zh-CN" altLang="en-US" dirty="0"/>
              <a:t>哪些操作可见</a:t>
            </a:r>
            <a:endParaRPr lang="en-US" altLang="zh-CN" dirty="0"/>
          </a:p>
          <a:p>
            <a:pPr marL="380985" lvl="1" indent="0">
              <a:buNone/>
            </a:pPr>
            <a:r>
              <a:rPr lang="en-US" altLang="zh-CN" dirty="0"/>
              <a:t>a</a:t>
            </a:r>
            <a:r>
              <a:rPr lang="zh-CN" altLang="en-US" dirty="0"/>
              <a:t>和</a:t>
            </a:r>
            <a:r>
              <a:rPr lang="en-US" altLang="zh-CN" dirty="0"/>
              <a:t>b</a:t>
            </a:r>
            <a:r>
              <a:rPr lang="zh-CN" altLang="en-US" dirty="0"/>
              <a:t>都可以</a:t>
            </a:r>
            <a:endParaRPr lang="en-US" altLang="zh-CN" dirty="0"/>
          </a:p>
          <a:p>
            <a:pPr marL="380985" lvl="1" indent="0">
              <a:buNone/>
            </a:pPr>
            <a:endParaRPr lang="en-US" altLang="zh-CN" dirty="0"/>
          </a:p>
          <a:p>
            <a:pPr marL="0" indent="0">
              <a:buNone/>
            </a:pPr>
            <a:r>
              <a:rPr lang="zh-CN" altLang="en-US" dirty="0">
                <a:solidFill>
                  <a:schemeClr val="accent1"/>
                </a:solidFill>
              </a:rPr>
              <a:t>原子性</a:t>
            </a:r>
            <a:r>
              <a:rPr lang="en-US" altLang="zh-CN" dirty="0">
                <a:solidFill>
                  <a:schemeClr val="accent1"/>
                </a:solidFill>
              </a:rPr>
              <a:t>/Atomic</a:t>
            </a:r>
            <a:r>
              <a:rPr lang="en-US" altLang="zh-CN" dirty="0"/>
              <a:t>: </a:t>
            </a:r>
            <a:r>
              <a:rPr lang="zh-CN" altLang="en-US" dirty="0"/>
              <a:t>要么所有操作都可见，要么都不可见</a:t>
            </a:r>
            <a:endParaRPr lang="en-US" altLang="zh-CN" dirty="0"/>
          </a:p>
          <a:p>
            <a:pPr marL="380985" lvl="1" indent="0">
              <a:buNone/>
            </a:pPr>
            <a:r>
              <a:rPr lang="zh-CN" altLang="en-US" dirty="0"/>
              <a:t>要么</a:t>
            </a:r>
            <a:r>
              <a:rPr lang="en-US" altLang="zh-CN" dirty="0"/>
              <a:t>a</a:t>
            </a:r>
            <a:r>
              <a:rPr lang="zh-CN" altLang="en-US" dirty="0"/>
              <a:t>和</a:t>
            </a:r>
            <a:r>
              <a:rPr lang="en-US" altLang="zh-CN" dirty="0"/>
              <a:t>b</a:t>
            </a:r>
            <a:r>
              <a:rPr lang="zh-CN" altLang="en-US" dirty="0"/>
              <a:t>都可见，要么都不可见</a:t>
            </a:r>
            <a:endParaRPr lang="en-US" altLang="zh-CN" dirty="0"/>
          </a:p>
          <a:p>
            <a:pPr marL="380985" lvl="1" indent="0">
              <a:buNone/>
            </a:pPr>
            <a:endParaRPr lang="en-US" altLang="zh-CN" dirty="0"/>
          </a:p>
          <a:p>
            <a:pPr marL="0" indent="0">
              <a:buNone/>
            </a:pPr>
            <a:r>
              <a:rPr lang="zh-CN" altLang="en-US" dirty="0">
                <a:solidFill>
                  <a:schemeClr val="accent1"/>
                </a:solidFill>
              </a:rPr>
              <a:t>有序性</a:t>
            </a:r>
            <a:r>
              <a:rPr lang="en-US" altLang="zh-CN" dirty="0">
                <a:solidFill>
                  <a:schemeClr val="accent1"/>
                </a:solidFill>
              </a:rPr>
              <a:t>/Ordered</a:t>
            </a:r>
            <a:r>
              <a:rPr lang="en-US" altLang="zh-CN" dirty="0"/>
              <a:t>:  </a:t>
            </a:r>
            <a:r>
              <a:rPr lang="zh-CN" altLang="en-US" dirty="0"/>
              <a:t>按照前缀序</a:t>
            </a:r>
            <a:r>
              <a:rPr lang="en-US" altLang="zh-CN" dirty="0"/>
              <a:t>(Prefix)</a:t>
            </a:r>
            <a:r>
              <a:rPr lang="zh-CN" altLang="en-US" dirty="0"/>
              <a:t>的方式可见</a:t>
            </a:r>
            <a:endParaRPr lang="en-US" altLang="zh-CN" dirty="0"/>
          </a:p>
          <a:p>
            <a:pPr marL="380985" lvl="1" indent="0">
              <a:buNone/>
            </a:pPr>
            <a:r>
              <a:rPr lang="zh-CN" altLang="en-US" dirty="0"/>
              <a:t>如果</a:t>
            </a:r>
            <a:r>
              <a:rPr lang="en-US" altLang="zh-CN" dirty="0"/>
              <a:t>b</a:t>
            </a:r>
            <a:r>
              <a:rPr lang="zh-CN" altLang="en-US" dirty="0"/>
              <a:t>可见，那么</a:t>
            </a:r>
            <a:r>
              <a:rPr lang="en-US" altLang="zh-CN" dirty="0"/>
              <a:t>a</a:t>
            </a:r>
            <a:r>
              <a:rPr lang="zh-CN" altLang="en-US" dirty="0"/>
              <a:t>也应该可见</a:t>
            </a:r>
            <a:endParaRPr lang="en-US" altLang="zh-CN" dirty="0"/>
          </a:p>
          <a:p>
            <a:endParaRPr lang="en-US" altLang="zh-CN" dirty="0"/>
          </a:p>
          <a:p>
            <a:endParaRPr lang="en-US" altLang="zh-CN"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12</a:t>
            </a:fld>
            <a:endParaRPr lang="zh-CN" altLang="en-US" dirty="0"/>
          </a:p>
        </p:txBody>
      </p:sp>
      <p:sp>
        <p:nvSpPr>
          <p:cNvPr id="5" name="矩形 4">
            <a:extLst>
              <a:ext uri="{FF2B5EF4-FFF2-40B4-BE49-F238E27FC236}">
                <a16:creationId xmlns:a16="http://schemas.microsoft.com/office/drawing/2014/main" id="{70F56F92-9A3B-1147-B977-DA94C332ABCA}"/>
              </a:ext>
            </a:extLst>
          </p:cNvPr>
          <p:cNvSpPr/>
          <p:nvPr/>
        </p:nvSpPr>
        <p:spPr>
          <a:xfrm>
            <a:off x="457200" y="1333501"/>
            <a:ext cx="5626968" cy="443879"/>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1283843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D8B88-D5F4-DA40-B6FD-717DC47245CC}"/>
              </a:ext>
            </a:extLst>
          </p:cNvPr>
          <p:cNvSpPr>
            <a:spLocks noGrp="1"/>
          </p:cNvSpPr>
          <p:nvPr>
            <p:ph type="title"/>
          </p:nvPr>
        </p:nvSpPr>
        <p:spPr/>
        <p:txBody>
          <a:bodyPr/>
          <a:lstStyle/>
          <a:p>
            <a:r>
              <a:rPr lang="zh-CN" altLang="en-US" dirty="0"/>
              <a:t>崩溃一致性保障方法</a:t>
            </a:r>
            <a:endParaRPr lang="en-CN" dirty="0"/>
          </a:p>
        </p:txBody>
      </p:sp>
      <p:sp>
        <p:nvSpPr>
          <p:cNvPr id="3" name="Content Placeholder 2">
            <a:extLst>
              <a:ext uri="{FF2B5EF4-FFF2-40B4-BE49-F238E27FC236}">
                <a16:creationId xmlns:a16="http://schemas.microsoft.com/office/drawing/2014/main" id="{E5A0DF85-DF86-AF46-873B-ACC1075A0B50}"/>
              </a:ext>
            </a:extLst>
          </p:cNvPr>
          <p:cNvSpPr>
            <a:spLocks noGrp="1"/>
          </p:cNvSpPr>
          <p:nvPr>
            <p:ph idx="1"/>
          </p:nvPr>
        </p:nvSpPr>
        <p:spPr/>
        <p:txBody>
          <a:bodyPr>
            <a:normAutofit/>
          </a:bodyPr>
          <a:lstStyle/>
          <a:p>
            <a:r>
              <a:rPr lang="zh-CN" altLang="en-US" dirty="0"/>
              <a:t>同步元数据写</a:t>
            </a:r>
            <a:r>
              <a:rPr lang="en-US" altLang="zh-CN" dirty="0"/>
              <a:t>+</a:t>
            </a:r>
            <a:r>
              <a:rPr lang="en-US" altLang="zh-CN" dirty="0" err="1"/>
              <a:t>fsck</a:t>
            </a:r>
            <a:endParaRPr lang="en-US" altLang="zh-CN" dirty="0"/>
          </a:p>
          <a:p>
            <a:r>
              <a:rPr lang="zh-CN" altLang="en-US" dirty="0"/>
              <a:t>日志</a:t>
            </a:r>
            <a:endParaRPr lang="en-US" altLang="zh-CN" dirty="0"/>
          </a:p>
          <a:p>
            <a:r>
              <a:rPr lang="zh-CN" altLang="en-US" dirty="0"/>
              <a:t>写时复制</a:t>
            </a:r>
            <a:endParaRPr lang="en-US" altLang="zh-CN" dirty="0"/>
          </a:p>
          <a:p>
            <a:r>
              <a:rPr lang="en-US" altLang="zh-CN" dirty="0"/>
              <a:t>Soft</a:t>
            </a:r>
            <a:r>
              <a:rPr lang="zh-CN" altLang="en-US" dirty="0"/>
              <a:t> </a:t>
            </a:r>
            <a:r>
              <a:rPr lang="en-US" altLang="zh-CN" dirty="0"/>
              <a:t>updates</a:t>
            </a:r>
          </a:p>
          <a:p>
            <a:endParaRPr lang="en-CN" dirty="0"/>
          </a:p>
        </p:txBody>
      </p:sp>
      <p:sp>
        <p:nvSpPr>
          <p:cNvPr id="4" name="Slide Number Placeholder 3">
            <a:extLst>
              <a:ext uri="{FF2B5EF4-FFF2-40B4-BE49-F238E27FC236}">
                <a16:creationId xmlns:a16="http://schemas.microsoft.com/office/drawing/2014/main" id="{BC3B825D-F3D7-B64C-8793-2333388AA9A4}"/>
              </a:ext>
            </a:extLst>
          </p:cNvPr>
          <p:cNvSpPr>
            <a:spLocks noGrp="1"/>
          </p:cNvSpPr>
          <p:nvPr>
            <p:ph type="sldNum" sz="quarter" idx="12"/>
          </p:nvPr>
        </p:nvSpPr>
        <p:spPr/>
        <p:txBody>
          <a:bodyPr/>
          <a:lstStyle/>
          <a:p>
            <a:fld id="{ADE361C3-C043-4A6E-BDCE-8DA1E7D90A3B}" type="slidenum">
              <a:rPr lang="zh-CN" altLang="en-US" smtClean="0"/>
              <a:t>13</a:t>
            </a:fld>
            <a:endParaRPr lang="zh-CN" altLang="en-US"/>
          </a:p>
        </p:txBody>
      </p:sp>
      <p:sp>
        <p:nvSpPr>
          <p:cNvPr id="5" name="Footer Placeholder 4">
            <a:extLst>
              <a:ext uri="{FF2B5EF4-FFF2-40B4-BE49-F238E27FC236}">
                <a16:creationId xmlns:a16="http://schemas.microsoft.com/office/drawing/2014/main" id="{87B28832-8757-284D-BE12-68AC9A84D29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7" name="文本框 6">
            <a:extLst>
              <a:ext uri="{FF2B5EF4-FFF2-40B4-BE49-F238E27FC236}">
                <a16:creationId xmlns:a16="http://schemas.microsoft.com/office/drawing/2014/main" id="{670D3325-4218-A44F-829C-D8E30CD095C0}"/>
              </a:ext>
            </a:extLst>
          </p:cNvPr>
          <p:cNvSpPr txBox="1"/>
          <p:nvPr/>
        </p:nvSpPr>
        <p:spPr>
          <a:xfrm>
            <a:off x="3419872" y="2261401"/>
            <a:ext cx="4660710" cy="400110"/>
          </a:xfrm>
          <a:prstGeom prst="rect">
            <a:avLst/>
          </a:prstGeom>
          <a:noFill/>
        </p:spPr>
        <p:txBody>
          <a:bodyPr wrap="square">
            <a:spAutoFit/>
          </a:bodyPr>
          <a:lstStyle/>
          <a:p>
            <a:r>
              <a:rPr lang="zh-CN" altLang="en-US" sz="2000" b="1" dirty="0">
                <a:solidFill>
                  <a:schemeClr val="accent1"/>
                </a:solidFill>
              </a:rPr>
              <a:t>原子更新技术</a:t>
            </a:r>
            <a:endParaRPr lang="en-US" altLang="zh-CN" sz="2000" b="1" dirty="0">
              <a:solidFill>
                <a:schemeClr val="accent1"/>
              </a:solidFill>
            </a:endParaRPr>
          </a:p>
        </p:txBody>
      </p:sp>
      <p:sp>
        <p:nvSpPr>
          <p:cNvPr id="8" name="右大括号 7">
            <a:extLst>
              <a:ext uri="{FF2B5EF4-FFF2-40B4-BE49-F238E27FC236}">
                <a16:creationId xmlns:a16="http://schemas.microsoft.com/office/drawing/2014/main" id="{76FEE3C2-A1DE-D84F-823B-3E041558973E}"/>
              </a:ext>
            </a:extLst>
          </p:cNvPr>
          <p:cNvSpPr/>
          <p:nvPr/>
        </p:nvSpPr>
        <p:spPr>
          <a:xfrm>
            <a:off x="3131840" y="2065412"/>
            <a:ext cx="144016" cy="792088"/>
          </a:xfrm>
          <a:prstGeom prst="rightBrace">
            <a:avLst>
              <a:gd name="adj1" fmla="val 33232"/>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Tree>
    <p:extLst>
      <p:ext uri="{BB962C8B-B14F-4D97-AF65-F5344CB8AC3E}">
        <p14:creationId xmlns:p14="http://schemas.microsoft.com/office/powerpoint/2010/main" val="1836086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183AAA8-BC46-CF45-BB52-4DA5EC64E041}"/>
              </a:ext>
            </a:extLst>
          </p:cNvPr>
          <p:cNvSpPr>
            <a:spLocks noGrp="1"/>
          </p:cNvSpPr>
          <p:nvPr>
            <p:ph type="title"/>
          </p:nvPr>
        </p:nvSpPr>
        <p:spPr/>
        <p:txBody>
          <a:bodyPr/>
          <a:lstStyle/>
          <a:p>
            <a:r>
              <a:rPr lang="en-US" dirty="0" err="1"/>
              <a:t>同步元数据写</a:t>
            </a:r>
            <a:r>
              <a:rPr lang="en-US" altLang="zh-CN" dirty="0" err="1"/>
              <a:t>+fsck</a:t>
            </a:r>
            <a:endParaRPr lang="en-CN" dirty="0"/>
          </a:p>
        </p:txBody>
      </p:sp>
      <p:sp>
        <p:nvSpPr>
          <p:cNvPr id="7" name="Text Placeholder 6">
            <a:extLst>
              <a:ext uri="{FF2B5EF4-FFF2-40B4-BE49-F238E27FC236}">
                <a16:creationId xmlns:a16="http://schemas.microsoft.com/office/drawing/2014/main" id="{CD056C4F-69D3-B04C-B095-B32EFB7107A5}"/>
              </a:ext>
            </a:extLst>
          </p:cNvPr>
          <p:cNvSpPr>
            <a:spLocks noGrp="1"/>
          </p:cNvSpPr>
          <p:nvPr>
            <p:ph type="body" idx="1"/>
          </p:nvPr>
        </p:nvSpPr>
        <p:spPr/>
        <p:txBody>
          <a:bodyPr/>
          <a:lstStyle/>
          <a:p>
            <a:endParaRPr lang="en-CN" dirty="0"/>
          </a:p>
        </p:txBody>
      </p:sp>
      <p:sp>
        <p:nvSpPr>
          <p:cNvPr id="4" name="Slide Number Placeholder 3">
            <a:extLst>
              <a:ext uri="{FF2B5EF4-FFF2-40B4-BE49-F238E27FC236}">
                <a16:creationId xmlns:a16="http://schemas.microsoft.com/office/drawing/2014/main" id="{F797A9C5-A587-684A-9FA4-746A7B00BA1D}"/>
              </a:ext>
            </a:extLst>
          </p:cNvPr>
          <p:cNvSpPr>
            <a:spLocks noGrp="1"/>
          </p:cNvSpPr>
          <p:nvPr>
            <p:ph type="sldNum" sz="quarter" idx="12"/>
          </p:nvPr>
        </p:nvSpPr>
        <p:spPr/>
        <p:txBody>
          <a:bodyPr/>
          <a:lstStyle/>
          <a:p>
            <a:fld id="{ADE361C3-C043-4A6E-BDCE-8DA1E7D90A3B}" type="slidenum">
              <a:rPr lang="zh-CN" altLang="en-US" smtClean="0"/>
              <a:t>14</a:t>
            </a:fld>
            <a:endParaRPr lang="zh-CN" altLang="en-US"/>
          </a:p>
        </p:txBody>
      </p:sp>
      <p:sp>
        <p:nvSpPr>
          <p:cNvPr id="5" name="Footer Placeholder 4">
            <a:extLst>
              <a:ext uri="{FF2B5EF4-FFF2-40B4-BE49-F238E27FC236}">
                <a16:creationId xmlns:a16="http://schemas.microsoft.com/office/drawing/2014/main" id="{5C718E5A-1046-4A46-A983-4CBF79BA7F96}"/>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4513900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6B2BB4-69D0-1740-9BA6-50DAD84DC720}"/>
              </a:ext>
            </a:extLst>
          </p:cNvPr>
          <p:cNvSpPr>
            <a:spLocks noGrp="1"/>
          </p:cNvSpPr>
          <p:nvPr>
            <p:ph type="title"/>
          </p:nvPr>
        </p:nvSpPr>
        <p:spPr/>
        <p:txBody>
          <a:bodyPr/>
          <a:lstStyle/>
          <a:p>
            <a:r>
              <a:rPr kumimoji="1" lang="zh-CN" altLang="en-US" dirty="0"/>
              <a:t>同步元数据写</a:t>
            </a:r>
            <a:r>
              <a:rPr kumimoji="1" lang="en-US" altLang="zh-CN" dirty="0"/>
              <a:t>+</a:t>
            </a:r>
            <a:r>
              <a:rPr kumimoji="1" lang="en-US" altLang="zh-CN" dirty="0" err="1"/>
              <a:t>fsck</a:t>
            </a:r>
            <a:endParaRPr kumimoji="1" lang="zh-CN" altLang="en-US" dirty="0"/>
          </a:p>
        </p:txBody>
      </p:sp>
      <p:sp>
        <p:nvSpPr>
          <p:cNvPr id="3" name="内容占位符 2">
            <a:extLst>
              <a:ext uri="{FF2B5EF4-FFF2-40B4-BE49-F238E27FC236}">
                <a16:creationId xmlns:a16="http://schemas.microsoft.com/office/drawing/2014/main" id="{BE26779A-27E5-D24A-8981-1AD2F6B4015A}"/>
              </a:ext>
            </a:extLst>
          </p:cNvPr>
          <p:cNvSpPr>
            <a:spLocks noGrp="1"/>
          </p:cNvSpPr>
          <p:nvPr>
            <p:ph idx="1"/>
          </p:nvPr>
        </p:nvSpPr>
        <p:spPr/>
        <p:txBody>
          <a:bodyPr>
            <a:noAutofit/>
          </a:bodyPr>
          <a:lstStyle/>
          <a:p>
            <a:pPr marL="0" indent="0">
              <a:buNone/>
            </a:pPr>
            <a:r>
              <a:rPr kumimoji="1" lang="zh-CN" altLang="en-US" sz="1800" dirty="0"/>
              <a:t>同步元数据写</a:t>
            </a:r>
            <a:endParaRPr kumimoji="1" lang="en-US" altLang="zh-CN" sz="1800" dirty="0"/>
          </a:p>
          <a:p>
            <a:r>
              <a:rPr kumimoji="1" lang="zh-CN" altLang="en-US" sz="1800" b="0" dirty="0"/>
              <a:t>每次元数据写入后，运行</a:t>
            </a:r>
            <a:r>
              <a:rPr kumimoji="1" lang="en-US" altLang="zh-CN" sz="1800" b="0" dirty="0"/>
              <a:t>sync()</a:t>
            </a:r>
            <a:r>
              <a:rPr kumimoji="1" lang="zh-CN" altLang="en-US" sz="1800" b="0" dirty="0"/>
              <a:t>保证更新后的元数据入盘</a:t>
            </a:r>
            <a:endParaRPr kumimoji="1" lang="en-US" altLang="zh-CN" sz="1800" b="0" dirty="0"/>
          </a:p>
          <a:p>
            <a:pPr marL="0" indent="0">
              <a:buNone/>
            </a:pPr>
            <a:r>
              <a:rPr kumimoji="1" lang="zh-CN" altLang="en-US" sz="1800" dirty="0"/>
              <a:t>若非正常重启，则运行</a:t>
            </a:r>
            <a:r>
              <a:rPr kumimoji="1" lang="en-US" altLang="zh-CN" sz="1800" dirty="0" err="1"/>
              <a:t>fsck</a:t>
            </a:r>
            <a:r>
              <a:rPr kumimoji="1" lang="zh-CN" altLang="en-US" sz="1800" dirty="0"/>
              <a:t>检查磁盘，具体步骤：</a:t>
            </a:r>
            <a:endParaRPr kumimoji="1" lang="en-US" altLang="zh-CN" sz="1800" dirty="0"/>
          </a:p>
          <a:p>
            <a:r>
              <a:rPr kumimoji="1" lang="en-US" altLang="zh-CN" sz="1800" dirty="0"/>
              <a:t>1.</a:t>
            </a:r>
            <a:r>
              <a:rPr kumimoji="1" lang="zh-CN" altLang="en-US" sz="1800" dirty="0"/>
              <a:t> 检查</a:t>
            </a:r>
            <a:r>
              <a:rPr kumimoji="1" lang="en-US" altLang="zh-CN" sz="1800" dirty="0"/>
              <a:t>superblock</a:t>
            </a:r>
          </a:p>
          <a:p>
            <a:pPr lvl="1"/>
            <a:r>
              <a:rPr kumimoji="1" lang="zh-CN" altLang="en-US" sz="1600" dirty="0"/>
              <a:t>例：保证文件系统大小大于已分配的磁盘块总和</a:t>
            </a:r>
            <a:endParaRPr kumimoji="1" lang="en-US" altLang="zh-CN" sz="1600" dirty="0"/>
          </a:p>
          <a:p>
            <a:pPr lvl="1"/>
            <a:r>
              <a:rPr kumimoji="1" lang="zh-CN" altLang="en-US" sz="1600" dirty="0"/>
              <a:t>如果出错，则尝试使用</a:t>
            </a:r>
            <a:r>
              <a:rPr kumimoji="1" lang="en-US" altLang="zh-CN" sz="1600" dirty="0"/>
              <a:t>superblock</a:t>
            </a:r>
            <a:r>
              <a:rPr kumimoji="1" lang="zh-CN" altLang="en-US" sz="1600" dirty="0"/>
              <a:t>的备份</a:t>
            </a:r>
            <a:endParaRPr kumimoji="1" lang="en-US" altLang="zh-CN" sz="1600" dirty="0"/>
          </a:p>
          <a:p>
            <a:r>
              <a:rPr kumimoji="1" lang="en-US" altLang="zh-CN" sz="1800" dirty="0"/>
              <a:t>2.</a:t>
            </a:r>
            <a:r>
              <a:rPr kumimoji="1" lang="zh-CN" altLang="en-US" sz="1800" dirty="0"/>
              <a:t> 检查空闲的</a:t>
            </a:r>
            <a:r>
              <a:rPr kumimoji="1" lang="en-US" altLang="zh-CN" sz="1800" dirty="0"/>
              <a:t>block</a:t>
            </a:r>
          </a:p>
          <a:p>
            <a:pPr lvl="1"/>
            <a:r>
              <a:rPr kumimoji="1" lang="zh-CN" altLang="en-US" sz="1600" dirty="0"/>
              <a:t>扫描所有</a:t>
            </a:r>
            <a:r>
              <a:rPr kumimoji="1" lang="en-US" altLang="zh-CN" sz="1600" dirty="0" err="1"/>
              <a:t>inode</a:t>
            </a:r>
            <a:r>
              <a:rPr kumimoji="1" lang="zh-CN" altLang="en-US" sz="1600" dirty="0"/>
              <a:t>的所有包含的磁盘块</a:t>
            </a:r>
            <a:endParaRPr kumimoji="1" lang="en-US" altLang="zh-CN" sz="1600" dirty="0"/>
          </a:p>
          <a:p>
            <a:pPr lvl="1"/>
            <a:r>
              <a:rPr kumimoji="1" lang="zh-CN" altLang="en-US" sz="1600" dirty="0"/>
              <a:t>用扫描结果来检验磁盘块的</a:t>
            </a:r>
            <a:r>
              <a:rPr kumimoji="1" lang="en-US" altLang="zh-CN" sz="1600" dirty="0"/>
              <a:t>bitmap</a:t>
            </a:r>
          </a:p>
          <a:p>
            <a:pPr lvl="1"/>
            <a:r>
              <a:rPr kumimoji="1" lang="zh-CN" altLang="en-US" sz="1600" dirty="0"/>
              <a:t>对</a:t>
            </a:r>
            <a:r>
              <a:rPr kumimoji="1" lang="en-US" altLang="zh-CN" sz="1600" dirty="0" err="1"/>
              <a:t>inode</a:t>
            </a:r>
            <a:r>
              <a:rPr kumimoji="1" lang="zh-CN" altLang="en-US" sz="1600" dirty="0"/>
              <a:t> </a:t>
            </a:r>
            <a:r>
              <a:rPr kumimoji="1" lang="en-US" altLang="zh-CN" sz="1600" dirty="0"/>
              <a:t>bitmap</a:t>
            </a:r>
            <a:r>
              <a:rPr kumimoji="1" lang="zh-CN" altLang="en-US" sz="1600" dirty="0"/>
              <a:t>也用类似方法</a:t>
            </a:r>
          </a:p>
        </p:txBody>
      </p:sp>
      <p:sp>
        <p:nvSpPr>
          <p:cNvPr id="4" name="灯片编号占位符 3">
            <a:extLst>
              <a:ext uri="{FF2B5EF4-FFF2-40B4-BE49-F238E27FC236}">
                <a16:creationId xmlns:a16="http://schemas.microsoft.com/office/drawing/2014/main" id="{8E753A25-414C-344A-9D09-E77AFB947988}"/>
              </a:ext>
            </a:extLst>
          </p:cNvPr>
          <p:cNvSpPr>
            <a:spLocks noGrp="1"/>
          </p:cNvSpPr>
          <p:nvPr>
            <p:ph type="sldNum" sz="quarter" idx="12"/>
          </p:nvPr>
        </p:nvSpPr>
        <p:spPr/>
        <p:txBody>
          <a:bodyPr/>
          <a:lstStyle/>
          <a:p>
            <a:fld id="{ADE361C3-C043-4A6E-BDCE-8DA1E7D90A3B}" type="slidenum">
              <a:rPr lang="zh-CN" altLang="en-US" smtClean="0"/>
              <a:t>15</a:t>
            </a:fld>
            <a:endParaRPr lang="zh-CN" altLang="en-US"/>
          </a:p>
        </p:txBody>
      </p:sp>
    </p:spTree>
    <p:extLst>
      <p:ext uri="{BB962C8B-B14F-4D97-AF65-F5344CB8AC3E}">
        <p14:creationId xmlns:p14="http://schemas.microsoft.com/office/powerpoint/2010/main" val="7376881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F3DF7E-C1B1-F44B-AAF4-1733C6D37968}"/>
              </a:ext>
            </a:extLst>
          </p:cNvPr>
          <p:cNvSpPr>
            <a:spLocks noGrp="1"/>
          </p:cNvSpPr>
          <p:nvPr>
            <p:ph type="title"/>
          </p:nvPr>
        </p:nvSpPr>
        <p:spPr/>
        <p:txBody>
          <a:bodyPr/>
          <a:lstStyle/>
          <a:p>
            <a:r>
              <a:rPr kumimoji="1" lang="zh-CN" altLang="en-US" dirty="0"/>
              <a:t>同步元数据写</a:t>
            </a:r>
            <a:r>
              <a:rPr kumimoji="1" lang="en-US" altLang="zh-CN" dirty="0"/>
              <a:t>+</a:t>
            </a:r>
            <a:r>
              <a:rPr kumimoji="1" lang="en-US" altLang="zh-CN" dirty="0" err="1"/>
              <a:t>fsck</a:t>
            </a:r>
            <a:endParaRPr kumimoji="1" lang="zh-CN" altLang="en-US" dirty="0"/>
          </a:p>
        </p:txBody>
      </p:sp>
      <p:sp>
        <p:nvSpPr>
          <p:cNvPr id="3" name="内容占位符 2">
            <a:extLst>
              <a:ext uri="{FF2B5EF4-FFF2-40B4-BE49-F238E27FC236}">
                <a16:creationId xmlns:a16="http://schemas.microsoft.com/office/drawing/2014/main" id="{2866499A-D8B6-CF49-B0AF-8FF31BA5C3A7}"/>
              </a:ext>
            </a:extLst>
          </p:cNvPr>
          <p:cNvSpPr>
            <a:spLocks noGrp="1"/>
          </p:cNvSpPr>
          <p:nvPr>
            <p:ph idx="1"/>
          </p:nvPr>
        </p:nvSpPr>
        <p:spPr/>
        <p:txBody>
          <a:bodyPr>
            <a:noAutofit/>
          </a:bodyPr>
          <a:lstStyle/>
          <a:p>
            <a:r>
              <a:rPr kumimoji="1" lang="en-US" altLang="zh-CN" sz="2000" dirty="0"/>
              <a:t>3.</a:t>
            </a:r>
            <a:r>
              <a:rPr kumimoji="1" lang="zh-CN" altLang="en-US" sz="2000" dirty="0"/>
              <a:t> 检查</a:t>
            </a:r>
            <a:r>
              <a:rPr kumimoji="1" lang="en-US" altLang="zh-CN" sz="2000" dirty="0" err="1"/>
              <a:t>inode</a:t>
            </a:r>
            <a:r>
              <a:rPr kumimoji="1" lang="zh-CN" altLang="en-US" sz="2000" dirty="0"/>
              <a:t>的状态</a:t>
            </a:r>
            <a:endParaRPr kumimoji="1" lang="en-US" altLang="zh-CN" sz="2000" dirty="0"/>
          </a:p>
          <a:p>
            <a:pPr lvl="1"/>
            <a:r>
              <a:rPr kumimoji="1" lang="zh-CN" altLang="en-US" sz="1800" dirty="0"/>
              <a:t>检查类型：如普通文件、目录、符号链接等</a:t>
            </a:r>
            <a:endParaRPr kumimoji="1" lang="en-US" altLang="zh-CN" sz="1800" dirty="0"/>
          </a:p>
          <a:p>
            <a:pPr lvl="1"/>
            <a:r>
              <a:rPr kumimoji="1" lang="zh-CN" altLang="en-US" sz="1800" dirty="0"/>
              <a:t>若类型错误，则清除掉</a:t>
            </a:r>
            <a:r>
              <a:rPr kumimoji="1" lang="en-US" altLang="zh-CN" sz="1800" dirty="0" err="1"/>
              <a:t>inode</a:t>
            </a:r>
            <a:r>
              <a:rPr kumimoji="1" lang="zh-CN" altLang="en-US" sz="1800" dirty="0"/>
              <a:t>以及对应的</a:t>
            </a:r>
            <a:r>
              <a:rPr kumimoji="1" lang="en-US" altLang="zh-CN" sz="1800" dirty="0"/>
              <a:t>bitmap</a:t>
            </a:r>
          </a:p>
          <a:p>
            <a:r>
              <a:rPr kumimoji="1" lang="en-US" altLang="zh-CN" sz="2000" dirty="0"/>
              <a:t>4.</a:t>
            </a:r>
            <a:r>
              <a:rPr kumimoji="1" lang="zh-CN" altLang="en-US" sz="2000" dirty="0"/>
              <a:t> 检查</a:t>
            </a:r>
            <a:r>
              <a:rPr kumimoji="1" lang="en-US" altLang="zh-CN" sz="2000" dirty="0" err="1"/>
              <a:t>inode</a:t>
            </a:r>
            <a:r>
              <a:rPr kumimoji="1" lang="zh-CN" altLang="en-US" sz="2000" dirty="0"/>
              <a:t>链接</a:t>
            </a:r>
            <a:endParaRPr kumimoji="1" lang="en-US" altLang="zh-CN" sz="2000" dirty="0"/>
          </a:p>
          <a:p>
            <a:pPr lvl="1"/>
            <a:r>
              <a:rPr kumimoji="1" lang="zh-CN" altLang="en-US" sz="1800" dirty="0"/>
              <a:t>扫描整个文件系统树，核对文件链接的数量</a:t>
            </a:r>
            <a:endParaRPr kumimoji="1" lang="en-US" altLang="zh-CN" sz="1800" dirty="0"/>
          </a:p>
          <a:p>
            <a:pPr lvl="1"/>
            <a:r>
              <a:rPr kumimoji="1" lang="zh-CN" altLang="en-US" sz="1800" dirty="0"/>
              <a:t>如果某个</a:t>
            </a:r>
            <a:r>
              <a:rPr kumimoji="1" lang="en-US" altLang="zh-CN" sz="1800" dirty="0" err="1"/>
              <a:t>inode</a:t>
            </a:r>
            <a:r>
              <a:rPr kumimoji="1" lang="zh-CN" altLang="en-US" sz="1800" dirty="0"/>
              <a:t>存在但不在任何一个目录，则放到</a:t>
            </a:r>
            <a:r>
              <a:rPr kumimoji="1" lang="en-US" altLang="zh-CN" sz="1800" dirty="0"/>
              <a:t>/</a:t>
            </a:r>
            <a:r>
              <a:rPr kumimoji="1" lang="en-US" altLang="zh-CN" sz="1800" dirty="0" err="1"/>
              <a:t>lost+found</a:t>
            </a:r>
            <a:endParaRPr kumimoji="1" lang="en-US" altLang="zh-CN" sz="1800" dirty="0"/>
          </a:p>
          <a:p>
            <a:r>
              <a:rPr kumimoji="1" lang="en-US" altLang="zh-CN" sz="2000" dirty="0"/>
              <a:t>5.</a:t>
            </a:r>
            <a:r>
              <a:rPr kumimoji="1" lang="zh-CN" altLang="en-US" sz="2000" dirty="0"/>
              <a:t> 检查重复磁盘块</a:t>
            </a:r>
            <a:endParaRPr kumimoji="1" lang="en-US" altLang="zh-CN" sz="2000" dirty="0"/>
          </a:p>
          <a:p>
            <a:pPr lvl="1"/>
            <a:r>
              <a:rPr kumimoji="1" lang="zh-CN" altLang="en-US" sz="1800" dirty="0"/>
              <a:t>如：两个</a:t>
            </a:r>
            <a:r>
              <a:rPr kumimoji="1" lang="en-US" altLang="zh-CN" sz="1800" dirty="0" err="1"/>
              <a:t>inode</a:t>
            </a:r>
            <a:r>
              <a:rPr kumimoji="1" lang="zh-CN" altLang="en-US" sz="1800" dirty="0"/>
              <a:t>指向同一个磁盘块</a:t>
            </a:r>
            <a:endParaRPr kumimoji="1" lang="en-US" altLang="zh-CN" sz="1800" dirty="0"/>
          </a:p>
          <a:p>
            <a:pPr lvl="1"/>
            <a:r>
              <a:rPr kumimoji="1" lang="zh-CN" altLang="en-US" sz="1800" dirty="0"/>
              <a:t>如果一个</a:t>
            </a:r>
            <a:r>
              <a:rPr kumimoji="1" lang="en-US" altLang="zh-CN" sz="1800" dirty="0" err="1"/>
              <a:t>inode</a:t>
            </a:r>
            <a:r>
              <a:rPr kumimoji="1" lang="zh-CN" altLang="en-US" sz="1800" dirty="0"/>
              <a:t>明显有问题则删掉，否则复制磁盘块一边给一个</a:t>
            </a:r>
          </a:p>
        </p:txBody>
      </p:sp>
      <p:sp>
        <p:nvSpPr>
          <p:cNvPr id="4" name="灯片编号占位符 3">
            <a:extLst>
              <a:ext uri="{FF2B5EF4-FFF2-40B4-BE49-F238E27FC236}">
                <a16:creationId xmlns:a16="http://schemas.microsoft.com/office/drawing/2014/main" id="{1DD65324-2842-4943-9712-6D85BA2892B2}"/>
              </a:ext>
            </a:extLst>
          </p:cNvPr>
          <p:cNvSpPr>
            <a:spLocks noGrp="1"/>
          </p:cNvSpPr>
          <p:nvPr>
            <p:ph type="sldNum" sz="quarter" idx="12"/>
          </p:nvPr>
        </p:nvSpPr>
        <p:spPr/>
        <p:txBody>
          <a:bodyPr/>
          <a:lstStyle/>
          <a:p>
            <a:fld id="{ADE361C3-C043-4A6E-BDCE-8DA1E7D90A3B}" type="slidenum">
              <a:rPr lang="zh-CN" altLang="en-US" smtClean="0"/>
              <a:t>16</a:t>
            </a:fld>
            <a:endParaRPr lang="zh-CN" altLang="en-US"/>
          </a:p>
        </p:txBody>
      </p:sp>
    </p:spTree>
    <p:extLst>
      <p:ext uri="{BB962C8B-B14F-4D97-AF65-F5344CB8AC3E}">
        <p14:creationId xmlns:p14="http://schemas.microsoft.com/office/powerpoint/2010/main" val="12365988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F3DF7E-C1B1-F44B-AAF4-1733C6D37968}"/>
              </a:ext>
            </a:extLst>
          </p:cNvPr>
          <p:cNvSpPr>
            <a:spLocks noGrp="1"/>
          </p:cNvSpPr>
          <p:nvPr>
            <p:ph type="title"/>
          </p:nvPr>
        </p:nvSpPr>
        <p:spPr/>
        <p:txBody>
          <a:bodyPr/>
          <a:lstStyle/>
          <a:p>
            <a:r>
              <a:rPr kumimoji="1" lang="zh-CN" altLang="en-US" dirty="0"/>
              <a:t>同步元数据写</a:t>
            </a:r>
            <a:r>
              <a:rPr kumimoji="1" lang="en-US" altLang="zh-CN" dirty="0"/>
              <a:t>+</a:t>
            </a:r>
            <a:r>
              <a:rPr kumimoji="1" lang="en-US" altLang="zh-CN" dirty="0" err="1"/>
              <a:t>fsck</a:t>
            </a:r>
            <a:endParaRPr kumimoji="1" lang="zh-CN" altLang="en-US" dirty="0"/>
          </a:p>
        </p:txBody>
      </p:sp>
      <p:sp>
        <p:nvSpPr>
          <p:cNvPr id="3" name="内容占位符 2">
            <a:extLst>
              <a:ext uri="{FF2B5EF4-FFF2-40B4-BE49-F238E27FC236}">
                <a16:creationId xmlns:a16="http://schemas.microsoft.com/office/drawing/2014/main" id="{2866499A-D8B6-CF49-B0AF-8FF31BA5C3A7}"/>
              </a:ext>
            </a:extLst>
          </p:cNvPr>
          <p:cNvSpPr>
            <a:spLocks noGrp="1"/>
          </p:cNvSpPr>
          <p:nvPr>
            <p:ph idx="1"/>
          </p:nvPr>
        </p:nvSpPr>
        <p:spPr/>
        <p:txBody>
          <a:bodyPr>
            <a:noAutofit/>
          </a:bodyPr>
          <a:lstStyle/>
          <a:p>
            <a:r>
              <a:rPr kumimoji="1" lang="en-US" altLang="zh-CN" sz="2000" dirty="0"/>
              <a:t>6.</a:t>
            </a:r>
            <a:r>
              <a:rPr kumimoji="1" lang="zh-CN" altLang="en-US" sz="2000" dirty="0"/>
              <a:t> 检查坏的磁盘块</a:t>
            </a:r>
            <a:r>
              <a:rPr kumimoji="1" lang="en-US" altLang="zh-CN" sz="2000" dirty="0"/>
              <a:t>ID</a:t>
            </a:r>
          </a:p>
          <a:p>
            <a:pPr lvl="1"/>
            <a:r>
              <a:rPr kumimoji="1" lang="zh-CN" altLang="en-US" sz="1800" dirty="0"/>
              <a:t>如：指向超出磁盘空间的</a:t>
            </a:r>
            <a:r>
              <a:rPr kumimoji="1" lang="en-US" altLang="zh-CN" sz="1800" dirty="0"/>
              <a:t>ID</a:t>
            </a:r>
          </a:p>
          <a:p>
            <a:pPr lvl="1"/>
            <a:r>
              <a:rPr kumimoji="1" lang="zh-CN" altLang="en-US" sz="1800" dirty="0"/>
              <a:t>问：这种情况下，</a:t>
            </a:r>
            <a:r>
              <a:rPr kumimoji="1" lang="en-US" altLang="zh-CN" sz="1800" dirty="0" err="1"/>
              <a:t>fsck</a:t>
            </a:r>
            <a:r>
              <a:rPr kumimoji="1" lang="zh-CN" altLang="en-US" sz="1800" dirty="0"/>
              <a:t>能做什么呢？仅仅是移除这个指针么？</a:t>
            </a:r>
            <a:endParaRPr kumimoji="1" lang="en-US" altLang="zh-CN" sz="1800" dirty="0"/>
          </a:p>
          <a:p>
            <a:r>
              <a:rPr kumimoji="1" lang="en-US" altLang="zh-CN" sz="2000" dirty="0"/>
              <a:t>7.</a:t>
            </a:r>
            <a:r>
              <a:rPr kumimoji="1" lang="zh-CN" altLang="en-US" sz="2000" dirty="0"/>
              <a:t> 检查目录</a:t>
            </a:r>
            <a:endParaRPr kumimoji="1" lang="en-US" altLang="zh-CN" sz="2000" dirty="0"/>
          </a:p>
          <a:p>
            <a:pPr lvl="1"/>
            <a:r>
              <a:rPr kumimoji="1" lang="zh-CN" altLang="en-US" sz="1800" dirty="0"/>
              <a:t>这是</a:t>
            </a:r>
            <a:r>
              <a:rPr kumimoji="1" lang="en-US" altLang="zh-CN" sz="1800" dirty="0" err="1"/>
              <a:t>fsck</a:t>
            </a:r>
            <a:r>
              <a:rPr kumimoji="1" lang="zh-CN" altLang="en-US" sz="1800" dirty="0"/>
              <a:t>对数据有更多语义的唯一的一种文件</a:t>
            </a:r>
            <a:endParaRPr kumimoji="1" lang="en-US" altLang="zh-CN" sz="1800" dirty="0"/>
          </a:p>
          <a:p>
            <a:pPr lvl="1"/>
            <a:r>
              <a:rPr kumimoji="1" lang="zh-CN" altLang="en-US" sz="1800" dirty="0"/>
              <a:t>保证 </a:t>
            </a:r>
            <a:r>
              <a:rPr kumimoji="1" lang="en-US" altLang="zh-CN" sz="1800" dirty="0"/>
              <a:t>.</a:t>
            </a:r>
            <a:r>
              <a:rPr kumimoji="1" lang="zh-CN" altLang="en-US" sz="1800" dirty="0"/>
              <a:t> 和 </a:t>
            </a:r>
            <a:r>
              <a:rPr kumimoji="1" lang="en-US" altLang="zh-CN" sz="1800" dirty="0"/>
              <a:t>..</a:t>
            </a:r>
            <a:r>
              <a:rPr kumimoji="1" lang="zh-CN" altLang="en-US" sz="1800" dirty="0"/>
              <a:t> 是位于头部的目录项</a:t>
            </a:r>
            <a:endParaRPr kumimoji="1" lang="en-US" altLang="zh-CN" sz="1800" dirty="0"/>
          </a:p>
          <a:p>
            <a:pPr lvl="1"/>
            <a:r>
              <a:rPr kumimoji="1" lang="zh-CN" altLang="en-US" sz="1800" dirty="0"/>
              <a:t>保证目录的链接数只能是</a:t>
            </a:r>
            <a:r>
              <a:rPr kumimoji="1" lang="en-US" altLang="zh-CN" sz="1800" dirty="0"/>
              <a:t>1</a:t>
            </a:r>
            <a:r>
              <a:rPr kumimoji="1" lang="zh-CN" altLang="en-US" sz="1800" dirty="0"/>
              <a:t>个</a:t>
            </a:r>
            <a:endParaRPr kumimoji="1" lang="en-US" altLang="zh-CN" sz="1800" dirty="0"/>
          </a:p>
          <a:p>
            <a:pPr lvl="1"/>
            <a:r>
              <a:rPr kumimoji="1" lang="zh-CN" altLang="en-US" sz="1800" dirty="0"/>
              <a:t>保证目录中不会有相同的文件名</a:t>
            </a:r>
          </a:p>
        </p:txBody>
      </p:sp>
      <p:sp>
        <p:nvSpPr>
          <p:cNvPr id="4" name="灯片编号占位符 3">
            <a:extLst>
              <a:ext uri="{FF2B5EF4-FFF2-40B4-BE49-F238E27FC236}">
                <a16:creationId xmlns:a16="http://schemas.microsoft.com/office/drawing/2014/main" id="{1DD65324-2842-4943-9712-6D85BA2892B2}"/>
              </a:ext>
            </a:extLst>
          </p:cNvPr>
          <p:cNvSpPr>
            <a:spLocks noGrp="1"/>
          </p:cNvSpPr>
          <p:nvPr>
            <p:ph type="sldNum" sz="quarter" idx="12"/>
          </p:nvPr>
        </p:nvSpPr>
        <p:spPr/>
        <p:txBody>
          <a:bodyPr/>
          <a:lstStyle/>
          <a:p>
            <a:fld id="{ADE361C3-C043-4A6E-BDCE-8DA1E7D90A3B}" type="slidenum">
              <a:rPr lang="zh-CN" altLang="en-US" smtClean="0"/>
              <a:t>17</a:t>
            </a:fld>
            <a:endParaRPr lang="zh-CN" altLang="en-US"/>
          </a:p>
        </p:txBody>
      </p:sp>
    </p:spTree>
    <p:extLst>
      <p:ext uri="{BB962C8B-B14F-4D97-AF65-F5344CB8AC3E}">
        <p14:creationId xmlns:p14="http://schemas.microsoft.com/office/powerpoint/2010/main" val="28379262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F3DF7E-C1B1-F44B-AAF4-1733C6D37968}"/>
              </a:ext>
            </a:extLst>
          </p:cNvPr>
          <p:cNvSpPr>
            <a:spLocks noGrp="1"/>
          </p:cNvSpPr>
          <p:nvPr>
            <p:ph type="title"/>
          </p:nvPr>
        </p:nvSpPr>
        <p:spPr/>
        <p:txBody>
          <a:bodyPr/>
          <a:lstStyle/>
          <a:p>
            <a:r>
              <a:rPr kumimoji="1" lang="en-US" altLang="zh-CN" dirty="0" err="1"/>
              <a:t>fsck</a:t>
            </a:r>
            <a:r>
              <a:rPr kumimoji="1" lang="zh-CN" altLang="en-US" dirty="0"/>
              <a:t>的问题：太慢</a:t>
            </a:r>
          </a:p>
        </p:txBody>
      </p:sp>
      <p:sp>
        <p:nvSpPr>
          <p:cNvPr id="3" name="内容占位符 2">
            <a:extLst>
              <a:ext uri="{FF2B5EF4-FFF2-40B4-BE49-F238E27FC236}">
                <a16:creationId xmlns:a16="http://schemas.microsoft.com/office/drawing/2014/main" id="{2866499A-D8B6-CF49-B0AF-8FF31BA5C3A7}"/>
              </a:ext>
            </a:extLst>
          </p:cNvPr>
          <p:cNvSpPr>
            <a:spLocks noGrp="1"/>
          </p:cNvSpPr>
          <p:nvPr>
            <p:ph idx="1"/>
          </p:nvPr>
        </p:nvSpPr>
        <p:spPr/>
        <p:txBody>
          <a:bodyPr>
            <a:noAutofit/>
          </a:bodyPr>
          <a:lstStyle/>
          <a:p>
            <a:r>
              <a:rPr kumimoji="1" lang="en-US" altLang="zh-CN" sz="2000" dirty="0" err="1"/>
              <a:t>fsck</a:t>
            </a:r>
            <a:r>
              <a:rPr kumimoji="1" lang="zh-CN" altLang="en-US" sz="2000" dirty="0"/>
              <a:t>需要用多长时间？</a:t>
            </a:r>
            <a:endParaRPr kumimoji="1" lang="en-US" altLang="zh-CN" sz="2000" dirty="0"/>
          </a:p>
          <a:p>
            <a:pPr lvl="1"/>
            <a:r>
              <a:rPr kumimoji="1" lang="zh-CN" altLang="en-US" sz="1800" dirty="0"/>
              <a:t>对于服务器</a:t>
            </a:r>
            <a:r>
              <a:rPr kumimoji="1" lang="en-US" altLang="zh-CN" sz="1800" dirty="0"/>
              <a:t>70GB</a:t>
            </a:r>
            <a:r>
              <a:rPr kumimoji="1" lang="zh-CN" altLang="en-US" sz="1800" dirty="0"/>
              <a:t>磁盘（</a:t>
            </a:r>
            <a:r>
              <a:rPr kumimoji="1" lang="en-US" altLang="zh-CN" sz="1800" dirty="0"/>
              <a:t>2</a:t>
            </a:r>
            <a:r>
              <a:rPr kumimoji="1" lang="zh-CN" altLang="en-US" sz="1800" dirty="0"/>
              <a:t>百万个</a:t>
            </a:r>
            <a:r>
              <a:rPr kumimoji="1" lang="en-US" altLang="zh-CN" sz="1800" dirty="0" err="1"/>
              <a:t>inode</a:t>
            </a:r>
            <a:r>
              <a:rPr kumimoji="1" lang="zh-CN" altLang="en-US" sz="1800" dirty="0"/>
              <a:t>），需要</a:t>
            </a:r>
            <a:r>
              <a:rPr kumimoji="1" lang="en-US" altLang="zh-CN" sz="1800" dirty="0"/>
              <a:t>10</a:t>
            </a:r>
            <a:r>
              <a:rPr kumimoji="1" lang="zh-CN" altLang="en-US" sz="1800" dirty="0"/>
              <a:t>分钟</a:t>
            </a:r>
            <a:endParaRPr kumimoji="1" lang="en-US" altLang="zh-CN" sz="1800" dirty="0"/>
          </a:p>
          <a:p>
            <a:pPr lvl="1"/>
            <a:r>
              <a:rPr kumimoji="1" lang="zh-CN" altLang="en-US" sz="1800" dirty="0"/>
              <a:t>时间与磁盘的大小成比例增长</a:t>
            </a:r>
            <a:endParaRPr kumimoji="1" lang="en-US" altLang="zh-CN" sz="1800" dirty="0"/>
          </a:p>
          <a:p>
            <a:pPr lvl="1"/>
            <a:endParaRPr kumimoji="1" lang="en-US" altLang="zh-CN" sz="1800" dirty="0"/>
          </a:p>
          <a:p>
            <a:r>
              <a:rPr kumimoji="1" lang="zh-CN" altLang="en-US" sz="2000" dirty="0"/>
              <a:t>同步元数据写导致创建文件等操作非常慢</a:t>
            </a:r>
            <a:endParaRPr kumimoji="1" lang="en-US" altLang="zh-CN" sz="2000" dirty="0"/>
          </a:p>
          <a:p>
            <a:pPr lvl="1"/>
            <a:r>
              <a:rPr kumimoji="1" lang="zh-CN" altLang="en-US" sz="1800" dirty="0"/>
              <a:t>例：解压</a:t>
            </a:r>
            <a:r>
              <a:rPr kumimoji="1" lang="en-US" altLang="zh-CN" sz="1800" dirty="0"/>
              <a:t>Linux</a:t>
            </a:r>
            <a:r>
              <a:rPr kumimoji="1" lang="zh-CN" altLang="en-US" sz="1800" dirty="0"/>
              <a:t>内核源代码需要多久？</a:t>
            </a:r>
            <a:endParaRPr kumimoji="1" lang="en-US" altLang="zh-CN" sz="1800" dirty="0"/>
          </a:p>
          <a:p>
            <a:pPr lvl="2"/>
            <a:r>
              <a:rPr kumimoji="1" lang="zh-CN" altLang="en-US" sz="1600" dirty="0"/>
              <a:t>创建一个新文件需要</a:t>
            </a:r>
            <a:r>
              <a:rPr kumimoji="1" lang="en-US" altLang="zh-CN" sz="1600" dirty="0"/>
              <a:t>8</a:t>
            </a:r>
            <a:r>
              <a:rPr kumimoji="1" lang="zh-CN" altLang="en-US" sz="1600" dirty="0"/>
              <a:t>次磁盘写，每次</a:t>
            </a:r>
            <a:r>
              <a:rPr kumimoji="1" lang="en-US" altLang="zh-CN" sz="1600" dirty="0"/>
              <a:t>10ms</a:t>
            </a:r>
            <a:endParaRPr kumimoji="1" lang="en-US" altLang="zh-CN" sz="1800" dirty="0"/>
          </a:p>
          <a:p>
            <a:pPr lvl="2"/>
            <a:r>
              <a:rPr kumimoji="1" lang="en-US" altLang="zh-CN" sz="1600" dirty="0"/>
              <a:t>Linux</a:t>
            </a:r>
            <a:r>
              <a:rPr kumimoji="1" lang="zh-CN" altLang="en-US" sz="1600" dirty="0"/>
              <a:t>内核大概有</a:t>
            </a:r>
            <a:r>
              <a:rPr kumimoji="1" lang="en-US" altLang="zh-CN" sz="1600" dirty="0"/>
              <a:t>6</a:t>
            </a:r>
            <a:r>
              <a:rPr kumimoji="1" lang="zh-CN" altLang="en-US" sz="1600" dirty="0"/>
              <a:t>万个源文件</a:t>
            </a:r>
            <a:endParaRPr kumimoji="1" lang="en-US" altLang="zh-CN" sz="1600" dirty="0"/>
          </a:p>
          <a:p>
            <a:pPr lvl="2"/>
            <a:r>
              <a:rPr kumimoji="1" lang="en-US" altLang="zh-CN" sz="1600" dirty="0"/>
              <a:t>8</a:t>
            </a:r>
            <a:r>
              <a:rPr kumimoji="1" lang="zh-CN" altLang="en-US" sz="1600" dirty="0"/>
              <a:t> </a:t>
            </a:r>
            <a:r>
              <a:rPr kumimoji="1" lang="en-US" altLang="zh-CN" sz="1600" dirty="0"/>
              <a:t>x</a:t>
            </a:r>
            <a:r>
              <a:rPr kumimoji="1" lang="zh-CN" altLang="en-US" sz="1600" dirty="0"/>
              <a:t> </a:t>
            </a:r>
            <a:r>
              <a:rPr kumimoji="1" lang="en-US" altLang="zh-CN" sz="1600" dirty="0"/>
              <a:t>10ms</a:t>
            </a:r>
            <a:r>
              <a:rPr kumimoji="1" lang="zh-CN" altLang="en-US" sz="1600" dirty="0"/>
              <a:t> </a:t>
            </a:r>
            <a:r>
              <a:rPr kumimoji="1" lang="en-US" altLang="zh-CN" sz="1600" dirty="0"/>
              <a:t>x</a:t>
            </a:r>
            <a:r>
              <a:rPr kumimoji="1" lang="zh-CN" altLang="en-US" sz="1600" dirty="0"/>
              <a:t> </a:t>
            </a:r>
            <a:r>
              <a:rPr kumimoji="1" lang="en-US" altLang="zh-CN" sz="1600" dirty="0"/>
              <a:t>60000</a:t>
            </a:r>
            <a:r>
              <a:rPr kumimoji="1" lang="zh-CN" altLang="en-US" sz="1600" dirty="0"/>
              <a:t> </a:t>
            </a:r>
            <a:r>
              <a:rPr kumimoji="1" lang="en-US" altLang="zh-CN" sz="1600" dirty="0"/>
              <a:t>=</a:t>
            </a:r>
            <a:r>
              <a:rPr kumimoji="1" lang="zh-CN" altLang="en-US" sz="1600" dirty="0"/>
              <a:t> </a:t>
            </a:r>
            <a:r>
              <a:rPr kumimoji="1" lang="en-US" altLang="zh-CN" sz="1600" dirty="0"/>
              <a:t>1.3</a:t>
            </a:r>
            <a:r>
              <a:rPr kumimoji="1" lang="zh-CN" altLang="en-US" sz="1600" dirty="0"/>
              <a:t>小时</a:t>
            </a:r>
            <a:endParaRPr kumimoji="1" lang="en-US" altLang="zh-CN" sz="1400" dirty="0"/>
          </a:p>
        </p:txBody>
      </p:sp>
      <p:sp>
        <p:nvSpPr>
          <p:cNvPr id="4" name="灯片编号占位符 3">
            <a:extLst>
              <a:ext uri="{FF2B5EF4-FFF2-40B4-BE49-F238E27FC236}">
                <a16:creationId xmlns:a16="http://schemas.microsoft.com/office/drawing/2014/main" id="{1DD65324-2842-4943-9712-6D85BA2892B2}"/>
              </a:ext>
            </a:extLst>
          </p:cNvPr>
          <p:cNvSpPr>
            <a:spLocks noGrp="1"/>
          </p:cNvSpPr>
          <p:nvPr>
            <p:ph type="sldNum" sz="quarter" idx="12"/>
          </p:nvPr>
        </p:nvSpPr>
        <p:spPr/>
        <p:txBody>
          <a:bodyPr/>
          <a:lstStyle/>
          <a:p>
            <a:fld id="{ADE361C3-C043-4A6E-BDCE-8DA1E7D90A3B}" type="slidenum">
              <a:rPr lang="zh-CN" altLang="en-US" smtClean="0"/>
              <a:t>18</a:t>
            </a:fld>
            <a:endParaRPr lang="zh-CN" altLang="en-US"/>
          </a:p>
        </p:txBody>
      </p:sp>
      <p:pic>
        <p:nvPicPr>
          <p:cNvPr id="5" name="Picture 2" descr="http://i3.cpcache.com/product/132293746/fsck_it_tshirt.jpg?height=350&amp;width=350">
            <a:extLst>
              <a:ext uri="{FF2B5EF4-FFF2-40B4-BE49-F238E27FC236}">
                <a16:creationId xmlns:a16="http://schemas.microsoft.com/office/drawing/2014/main" id="{70C6E8C5-5B2C-5E4D-B0B6-BBE5E6C0D23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052" b="51163"/>
          <a:stretch/>
        </p:blipFill>
        <p:spPr bwMode="auto">
          <a:xfrm>
            <a:off x="6125863" y="3289548"/>
            <a:ext cx="2988273" cy="1368153"/>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8932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183AAA8-BC46-CF45-BB52-4DA5EC64E041}"/>
              </a:ext>
            </a:extLst>
          </p:cNvPr>
          <p:cNvSpPr>
            <a:spLocks noGrp="1"/>
          </p:cNvSpPr>
          <p:nvPr>
            <p:ph type="title"/>
          </p:nvPr>
        </p:nvSpPr>
        <p:spPr/>
        <p:txBody>
          <a:bodyPr/>
          <a:lstStyle/>
          <a:p>
            <a:r>
              <a:rPr lang="zh-CN" altLang="en-CN" dirty="0"/>
              <a:t>日志</a:t>
            </a:r>
            <a:endParaRPr lang="en-CN" dirty="0"/>
          </a:p>
        </p:txBody>
      </p:sp>
      <p:sp>
        <p:nvSpPr>
          <p:cNvPr id="7" name="Text Placeholder 6">
            <a:extLst>
              <a:ext uri="{FF2B5EF4-FFF2-40B4-BE49-F238E27FC236}">
                <a16:creationId xmlns:a16="http://schemas.microsoft.com/office/drawing/2014/main" id="{CD056C4F-69D3-B04C-B095-B32EFB7107A5}"/>
              </a:ext>
            </a:extLst>
          </p:cNvPr>
          <p:cNvSpPr>
            <a:spLocks noGrp="1"/>
          </p:cNvSpPr>
          <p:nvPr>
            <p:ph type="body" idx="1"/>
          </p:nvPr>
        </p:nvSpPr>
        <p:spPr/>
        <p:txBody>
          <a:bodyPr/>
          <a:lstStyle/>
          <a:p>
            <a:r>
              <a:rPr lang="zh-CN" altLang="en-CN" dirty="0"/>
              <a:t>原子更新</a:t>
            </a:r>
            <a:r>
              <a:rPr lang="zh-CN" altLang="en-US" dirty="0"/>
              <a:t>技术：</a:t>
            </a:r>
            <a:r>
              <a:rPr lang="en-US" altLang="zh-CN" dirty="0"/>
              <a:t>Journaling</a:t>
            </a:r>
            <a:endParaRPr lang="en-CN" dirty="0"/>
          </a:p>
        </p:txBody>
      </p:sp>
      <p:sp>
        <p:nvSpPr>
          <p:cNvPr id="4" name="Slide Number Placeholder 3">
            <a:extLst>
              <a:ext uri="{FF2B5EF4-FFF2-40B4-BE49-F238E27FC236}">
                <a16:creationId xmlns:a16="http://schemas.microsoft.com/office/drawing/2014/main" id="{F797A9C5-A587-684A-9FA4-746A7B00BA1D}"/>
              </a:ext>
            </a:extLst>
          </p:cNvPr>
          <p:cNvSpPr>
            <a:spLocks noGrp="1"/>
          </p:cNvSpPr>
          <p:nvPr>
            <p:ph type="sldNum" sz="quarter" idx="12"/>
          </p:nvPr>
        </p:nvSpPr>
        <p:spPr/>
        <p:txBody>
          <a:bodyPr/>
          <a:lstStyle/>
          <a:p>
            <a:fld id="{ADE361C3-C043-4A6E-BDCE-8DA1E7D90A3B}" type="slidenum">
              <a:rPr lang="zh-CN" altLang="en-US" smtClean="0"/>
              <a:t>19</a:t>
            </a:fld>
            <a:endParaRPr lang="zh-CN" altLang="en-US"/>
          </a:p>
        </p:txBody>
      </p:sp>
      <p:sp>
        <p:nvSpPr>
          <p:cNvPr id="5" name="Footer Placeholder 4">
            <a:extLst>
              <a:ext uri="{FF2B5EF4-FFF2-40B4-BE49-F238E27FC236}">
                <a16:creationId xmlns:a16="http://schemas.microsoft.com/office/drawing/2014/main" id="{5C718E5A-1046-4A46-A983-4CBF79BA7F96}"/>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7153720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8BB51-4540-774A-BAF5-8E17C0E54E8A}"/>
              </a:ext>
            </a:extLst>
          </p:cNvPr>
          <p:cNvSpPr>
            <a:spLocks noGrp="1"/>
          </p:cNvSpPr>
          <p:nvPr>
            <p:ph type="title"/>
          </p:nvPr>
        </p:nvSpPr>
        <p:spPr/>
        <p:txBody>
          <a:bodyPr/>
          <a:lstStyle/>
          <a:p>
            <a:r>
              <a:rPr lang="zh-CN" altLang="en-CN" dirty="0"/>
              <a:t>日志</a:t>
            </a:r>
            <a:r>
              <a:rPr lang="zh-CN" altLang="en-US" dirty="0"/>
              <a:t>：基本思路</a:t>
            </a:r>
            <a:endParaRPr lang="en-CN" dirty="0"/>
          </a:p>
        </p:txBody>
      </p:sp>
      <p:sp>
        <p:nvSpPr>
          <p:cNvPr id="3" name="Content Placeholder 2">
            <a:extLst>
              <a:ext uri="{FF2B5EF4-FFF2-40B4-BE49-F238E27FC236}">
                <a16:creationId xmlns:a16="http://schemas.microsoft.com/office/drawing/2014/main" id="{BFA83509-F910-9847-A2B5-AF1A31646832}"/>
              </a:ext>
            </a:extLst>
          </p:cNvPr>
          <p:cNvSpPr>
            <a:spLocks noGrp="1"/>
          </p:cNvSpPr>
          <p:nvPr>
            <p:ph idx="1"/>
          </p:nvPr>
        </p:nvSpPr>
        <p:spPr/>
        <p:txBody>
          <a:bodyPr>
            <a:normAutofit/>
          </a:bodyPr>
          <a:lstStyle/>
          <a:p>
            <a:r>
              <a:rPr lang="zh-CN" altLang="en-CN" b="0" dirty="0"/>
              <a:t>在</a:t>
            </a:r>
            <a:r>
              <a:rPr lang="zh-CN" altLang="en-US" b="0" dirty="0"/>
              <a:t>进行修改之前，先将修改记录到日志中</a:t>
            </a:r>
            <a:endParaRPr lang="en-US" altLang="zh-CN" b="0" dirty="0"/>
          </a:p>
          <a:p>
            <a:r>
              <a:rPr lang="zh-CN" altLang="en-US" b="0" dirty="0"/>
              <a:t>所有要进行的修改都记录完毕后，提交日志</a:t>
            </a:r>
            <a:endParaRPr lang="en-US" altLang="zh-CN" b="0" dirty="0"/>
          </a:p>
          <a:p>
            <a:r>
              <a:rPr lang="zh-CN" altLang="en-CN" b="0" dirty="0"/>
              <a:t>此后</a:t>
            </a:r>
            <a:r>
              <a:rPr lang="zh-CN" altLang="en-US" b="0" dirty="0"/>
              <a:t>再进行修改</a:t>
            </a:r>
            <a:endParaRPr lang="en-US" altLang="zh-CN" b="0" dirty="0"/>
          </a:p>
          <a:p>
            <a:r>
              <a:rPr lang="zh-CN" altLang="en-CN" b="0" dirty="0"/>
              <a:t>修改</a:t>
            </a:r>
            <a:r>
              <a:rPr lang="zh-CN" altLang="en-US" b="0" dirty="0"/>
              <a:t>之后，删除日志</a:t>
            </a:r>
            <a:endParaRPr lang="en-CN" b="0" dirty="0"/>
          </a:p>
        </p:txBody>
      </p:sp>
      <p:sp>
        <p:nvSpPr>
          <p:cNvPr id="4" name="Slide Number Placeholder 3">
            <a:extLst>
              <a:ext uri="{FF2B5EF4-FFF2-40B4-BE49-F238E27FC236}">
                <a16:creationId xmlns:a16="http://schemas.microsoft.com/office/drawing/2014/main" id="{FDCAC039-1425-4D45-9CCC-DFFC77157996}"/>
              </a:ext>
            </a:extLst>
          </p:cNvPr>
          <p:cNvSpPr>
            <a:spLocks noGrp="1"/>
          </p:cNvSpPr>
          <p:nvPr>
            <p:ph type="sldNum" sz="quarter" idx="12"/>
          </p:nvPr>
        </p:nvSpPr>
        <p:spPr/>
        <p:txBody>
          <a:bodyPr/>
          <a:lstStyle/>
          <a:p>
            <a:fld id="{ADE361C3-C043-4A6E-BDCE-8DA1E7D90A3B}" type="slidenum">
              <a:rPr lang="zh-CN" altLang="en-US" smtClean="0"/>
              <a:t>20</a:t>
            </a:fld>
            <a:endParaRPr lang="zh-CN" altLang="en-US"/>
          </a:p>
        </p:txBody>
      </p:sp>
      <p:sp>
        <p:nvSpPr>
          <p:cNvPr id="5" name="Footer Placeholder 4">
            <a:extLst>
              <a:ext uri="{FF2B5EF4-FFF2-40B4-BE49-F238E27FC236}">
                <a16:creationId xmlns:a16="http://schemas.microsoft.com/office/drawing/2014/main" id="{659C9E51-9970-F047-A98C-D8F5031E209C}"/>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292139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75B07-9099-3C41-B2E6-5972347ED29C}"/>
              </a:ext>
            </a:extLst>
          </p:cNvPr>
          <p:cNvSpPr>
            <a:spLocks noGrp="1"/>
          </p:cNvSpPr>
          <p:nvPr>
            <p:ph type="title"/>
          </p:nvPr>
        </p:nvSpPr>
        <p:spPr/>
        <p:txBody>
          <a:bodyPr/>
          <a:lstStyle/>
          <a:p>
            <a:r>
              <a:rPr lang="zh-CN" altLang="en-US" dirty="0"/>
              <a:t>日志</a:t>
            </a:r>
            <a:endParaRPr lang="en-CN" dirty="0"/>
          </a:p>
        </p:txBody>
      </p:sp>
      <p:sp>
        <p:nvSpPr>
          <p:cNvPr id="3" name="Content Placeholder 2">
            <a:extLst>
              <a:ext uri="{FF2B5EF4-FFF2-40B4-BE49-F238E27FC236}">
                <a16:creationId xmlns:a16="http://schemas.microsoft.com/office/drawing/2014/main" id="{A83A1F32-C7BA-5240-B922-DE00893F581F}"/>
              </a:ext>
            </a:extLst>
          </p:cNvPr>
          <p:cNvSpPr>
            <a:spLocks noGrp="1"/>
          </p:cNvSpPr>
          <p:nvPr>
            <p:ph idx="1"/>
          </p:nvPr>
        </p:nvSpPr>
        <p:spPr>
          <a:xfrm>
            <a:off x="457199" y="1333501"/>
            <a:ext cx="4114801" cy="3771636"/>
          </a:xfrm>
        </p:spPr>
        <p:txBody>
          <a:bodyPr>
            <a:normAutofit/>
          </a:bodyPr>
          <a:lstStyle/>
          <a:p>
            <a:pPr marL="0" indent="0">
              <a:buNone/>
            </a:pPr>
            <a:r>
              <a:rPr lang="zh-CN" altLang="en-US" sz="2000" b="0" dirty="0"/>
              <a:t>创建</a:t>
            </a:r>
            <a:r>
              <a:rPr lang="en-US" altLang="zh-CN" sz="2000" b="0" dirty="0"/>
              <a:t>"/</a:t>
            </a:r>
            <a:r>
              <a:rPr lang="zh-CN" altLang="en-US" sz="2000" b="0" dirty="0"/>
              <a:t>新文件</a:t>
            </a:r>
            <a:r>
              <a:rPr lang="en-US" altLang="zh-CN" sz="2000" b="0" dirty="0"/>
              <a:t>"</a:t>
            </a:r>
            <a:r>
              <a:rPr lang="zh-CN" altLang="en-US" sz="2000" b="0" dirty="0"/>
              <a:t>的修改包括：</a:t>
            </a:r>
            <a:endParaRPr lang="en-US" altLang="zh-CN" sz="2000" b="0" dirty="0"/>
          </a:p>
          <a:p>
            <a:pPr marL="0" indent="0">
              <a:buNone/>
            </a:pPr>
            <a:r>
              <a:rPr lang="en-US" altLang="zh-CN" sz="2000" b="0" dirty="0"/>
              <a:t>1.</a:t>
            </a:r>
            <a:r>
              <a:rPr lang="zh-CN" altLang="en-US" sz="2000" b="0" dirty="0"/>
              <a:t> 标记</a:t>
            </a:r>
            <a:r>
              <a:rPr lang="en-US" altLang="zh-CN" sz="2000" b="0" dirty="0" err="1"/>
              <a:t>inode</a:t>
            </a:r>
            <a:r>
              <a:rPr lang="zh-CN" altLang="en-US" sz="2000" b="0" dirty="0"/>
              <a:t>为占用</a:t>
            </a:r>
            <a:br>
              <a:rPr lang="en-US" altLang="zh-CN" sz="2000" b="0" dirty="0"/>
            </a:br>
            <a:r>
              <a:rPr lang="en-US" altLang="zh-CN" sz="2000" b="0" dirty="0"/>
              <a:t>2.</a:t>
            </a:r>
            <a:r>
              <a:rPr lang="zh-CN" altLang="en-US" sz="2000" b="0" dirty="0"/>
              <a:t> 初始化</a:t>
            </a:r>
            <a:r>
              <a:rPr lang="en-US" altLang="zh-CN" sz="2000" b="0" dirty="0" err="1"/>
              <a:t>inode</a:t>
            </a:r>
            <a:br>
              <a:rPr lang="en-US" altLang="zh-CN" sz="2000" b="0" dirty="0"/>
            </a:br>
            <a:r>
              <a:rPr lang="en-US" altLang="zh-CN" sz="2000" b="0" dirty="0"/>
              <a:t>3.</a:t>
            </a:r>
            <a:r>
              <a:rPr lang="zh-CN" altLang="en-US" sz="2000" b="0" dirty="0"/>
              <a:t> 将目录项写入目录中</a:t>
            </a:r>
            <a:endParaRPr lang="en-US" altLang="zh-CN" sz="2000" b="0" dirty="0"/>
          </a:p>
        </p:txBody>
      </p:sp>
      <p:sp>
        <p:nvSpPr>
          <p:cNvPr id="4" name="Footer Placeholder 3">
            <a:extLst>
              <a:ext uri="{FF2B5EF4-FFF2-40B4-BE49-F238E27FC236}">
                <a16:creationId xmlns:a16="http://schemas.microsoft.com/office/drawing/2014/main" id="{7005B691-E3D5-4240-9E7E-E67E7979363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5" name="Slide Number Placeholder 4">
            <a:extLst>
              <a:ext uri="{FF2B5EF4-FFF2-40B4-BE49-F238E27FC236}">
                <a16:creationId xmlns:a16="http://schemas.microsoft.com/office/drawing/2014/main" id="{443E7816-4275-3348-949B-D247B29DBBDE}"/>
              </a:ext>
            </a:extLst>
          </p:cNvPr>
          <p:cNvSpPr>
            <a:spLocks noGrp="1"/>
          </p:cNvSpPr>
          <p:nvPr>
            <p:ph type="sldNum" sz="quarter" idx="12"/>
          </p:nvPr>
        </p:nvSpPr>
        <p:spPr/>
        <p:txBody>
          <a:bodyPr/>
          <a:lstStyle/>
          <a:p>
            <a:fld id="{ADE361C3-C043-4A6E-BDCE-8DA1E7D90A3B}" type="slidenum">
              <a:rPr lang="zh-CN" altLang="en-US" smtClean="0"/>
              <a:t>21</a:t>
            </a:fld>
            <a:endParaRPr lang="zh-CN" altLang="en-US"/>
          </a:p>
        </p:txBody>
      </p:sp>
      <p:sp>
        <p:nvSpPr>
          <p:cNvPr id="25" name="TextBox 24">
            <a:extLst>
              <a:ext uri="{FF2B5EF4-FFF2-40B4-BE49-F238E27FC236}">
                <a16:creationId xmlns:a16="http://schemas.microsoft.com/office/drawing/2014/main" id="{25BA285F-0F60-AC42-A617-678374121CB2}"/>
              </a:ext>
            </a:extLst>
          </p:cNvPr>
          <p:cNvSpPr txBox="1"/>
          <p:nvPr/>
        </p:nvSpPr>
        <p:spPr>
          <a:xfrm>
            <a:off x="5138111" y="1329943"/>
            <a:ext cx="3775393" cy="1166345"/>
          </a:xfrm>
          <a:prstGeom prst="rect">
            <a:avLst/>
          </a:prstGeom>
          <a:noFill/>
        </p:spPr>
        <p:txBody>
          <a:bodyPr wrap="none" rtlCol="0">
            <a:spAutoFit/>
          </a:bodyPr>
          <a:lstStyle/>
          <a:p>
            <a:pPr lvl="0">
              <a:lnSpc>
                <a:spcPct val="120000"/>
              </a:lnSpc>
              <a:spcBef>
                <a:spcPts val="1200"/>
              </a:spcBef>
            </a:pPr>
            <a:r>
              <a:rPr lang="zh-CN" altLang="en-CN" sz="2000" dirty="0">
                <a:solidFill>
                  <a:srgbClr val="000000">
                    <a:lumMod val="75000"/>
                    <a:lumOff val="25000"/>
                  </a:srgbClr>
                </a:solidFill>
                <a:ea typeface="微软雅黑" panose="020B0503020204020204" pitchFamily="34" charset="-122"/>
              </a:rPr>
              <a:t>在</a:t>
            </a:r>
            <a:r>
              <a:rPr lang="zh-CN" altLang="en-US" sz="2000" dirty="0">
                <a:solidFill>
                  <a:srgbClr val="000000">
                    <a:lumMod val="75000"/>
                    <a:lumOff val="25000"/>
                  </a:srgbClr>
                </a:solidFill>
                <a:ea typeface="微软雅黑" panose="020B0503020204020204" pitchFamily="34" charset="-122"/>
              </a:rPr>
              <a:t>内存中进行上述操作的同时，</a:t>
            </a:r>
            <a:br>
              <a:rPr lang="en-US" altLang="zh-CN" sz="2000" dirty="0">
                <a:solidFill>
                  <a:srgbClr val="000000">
                    <a:lumMod val="75000"/>
                    <a:lumOff val="25000"/>
                  </a:srgbClr>
                </a:solidFill>
                <a:ea typeface="微软雅黑" panose="020B0503020204020204" pitchFamily="34" charset="-122"/>
              </a:rPr>
            </a:br>
            <a:r>
              <a:rPr lang="zh-CN" altLang="en-US" sz="2000" dirty="0">
                <a:solidFill>
                  <a:srgbClr val="000000">
                    <a:lumMod val="75000"/>
                    <a:lumOff val="25000"/>
                  </a:srgbClr>
                </a:solidFill>
                <a:ea typeface="微软雅黑" panose="020B0503020204020204" pitchFamily="34" charset="-122"/>
              </a:rPr>
              <a:t>在磁盘上记录日志</a:t>
            </a:r>
            <a:br>
              <a:rPr lang="en-CN" altLang="zh-CN" sz="2000" dirty="0">
                <a:solidFill>
                  <a:srgbClr val="000000">
                    <a:lumMod val="75000"/>
                    <a:lumOff val="25000"/>
                  </a:srgbClr>
                </a:solidFill>
                <a:ea typeface="微软雅黑" panose="020B0503020204020204" pitchFamily="34" charset="-122"/>
              </a:rPr>
            </a:br>
            <a:endParaRPr lang="en-US" altLang="zh-CN" sz="2000" dirty="0">
              <a:solidFill>
                <a:srgbClr val="000000">
                  <a:lumMod val="75000"/>
                  <a:lumOff val="25000"/>
                </a:srgbClr>
              </a:solidFill>
              <a:ea typeface="微软雅黑" panose="020B0503020204020204" pitchFamily="34" charset="-122"/>
            </a:endParaRPr>
          </a:p>
        </p:txBody>
      </p:sp>
      <p:grpSp>
        <p:nvGrpSpPr>
          <p:cNvPr id="7" name="Group 6">
            <a:extLst>
              <a:ext uri="{FF2B5EF4-FFF2-40B4-BE49-F238E27FC236}">
                <a16:creationId xmlns:a16="http://schemas.microsoft.com/office/drawing/2014/main" id="{69B68BDB-70DE-4144-9630-58842A1DCE75}"/>
              </a:ext>
            </a:extLst>
          </p:cNvPr>
          <p:cNvGrpSpPr/>
          <p:nvPr/>
        </p:nvGrpSpPr>
        <p:grpSpPr>
          <a:xfrm>
            <a:off x="1160856" y="4224629"/>
            <a:ext cx="6145489" cy="505079"/>
            <a:chOff x="1160856" y="4224629"/>
            <a:chExt cx="6145489" cy="505079"/>
          </a:xfrm>
        </p:grpSpPr>
        <p:sp>
          <p:nvSpPr>
            <p:cNvPr id="8" name="Rectangle 7">
              <a:extLst>
                <a:ext uri="{FF2B5EF4-FFF2-40B4-BE49-F238E27FC236}">
                  <a16:creationId xmlns:a16="http://schemas.microsoft.com/office/drawing/2014/main" id="{AF17B6EE-9199-B441-BCD8-23607022BC86}"/>
                </a:ext>
              </a:extLst>
            </p:cNvPr>
            <p:cNvSpPr/>
            <p:nvPr/>
          </p:nvSpPr>
          <p:spPr>
            <a:xfrm>
              <a:off x="2741206" y="4225032"/>
              <a:ext cx="792088"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CN" sz="1050" dirty="0"/>
                <a:t>修改</a:t>
              </a:r>
              <a:r>
                <a:rPr lang="zh-CN" altLang="en-US" sz="1050" dirty="0"/>
                <a:t>后的</a:t>
              </a:r>
              <a:r>
                <a:rPr lang="en-US" altLang="zh-CN" sz="1050" dirty="0" err="1"/>
                <a:t>inode</a:t>
              </a:r>
              <a:r>
                <a:rPr lang="zh-CN" altLang="en-US" sz="1050" dirty="0"/>
                <a:t>分配表</a:t>
              </a:r>
              <a:endParaRPr lang="en-CN" sz="1050" dirty="0"/>
            </a:p>
          </p:txBody>
        </p:sp>
        <p:sp>
          <p:nvSpPr>
            <p:cNvPr id="9" name="Rectangle 8">
              <a:extLst>
                <a:ext uri="{FF2B5EF4-FFF2-40B4-BE49-F238E27FC236}">
                  <a16:creationId xmlns:a16="http://schemas.microsoft.com/office/drawing/2014/main" id="{F50834FF-82A3-ED45-9D07-58E1517527B4}"/>
                </a:ext>
              </a:extLst>
            </p:cNvPr>
            <p:cNvSpPr/>
            <p:nvPr/>
          </p:nvSpPr>
          <p:spPr>
            <a:xfrm>
              <a:off x="3745189" y="4224831"/>
              <a:ext cx="792088"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US" sz="1050" dirty="0">
                  <a:solidFill>
                    <a:srgbClr val="000000"/>
                  </a:solidFill>
                </a:rPr>
                <a:t>新</a:t>
              </a:r>
              <a:r>
                <a:rPr lang="en-US" altLang="zh-CN" sz="1050" dirty="0" err="1">
                  <a:solidFill>
                    <a:srgbClr val="000000"/>
                  </a:solidFill>
                </a:rPr>
                <a:t>inode</a:t>
              </a:r>
              <a:r>
                <a:rPr lang="zh-CN" altLang="en-US" sz="1050" dirty="0">
                  <a:solidFill>
                    <a:srgbClr val="000000"/>
                  </a:solidFill>
                </a:rPr>
                <a:t>所在块的数据</a:t>
              </a:r>
              <a:endParaRPr lang="en-CN" sz="1050" dirty="0">
                <a:solidFill>
                  <a:srgbClr val="000000"/>
                </a:solidFill>
              </a:endParaRPr>
            </a:p>
          </p:txBody>
        </p:sp>
        <p:cxnSp>
          <p:nvCxnSpPr>
            <p:cNvPr id="11" name="Straight Connector 10">
              <a:extLst>
                <a:ext uri="{FF2B5EF4-FFF2-40B4-BE49-F238E27FC236}">
                  <a16:creationId xmlns:a16="http://schemas.microsoft.com/office/drawing/2014/main" id="{1239CDEF-BD3C-1F4F-8FC5-3E699BFBD864}"/>
                </a:ext>
              </a:extLst>
            </p:cNvPr>
            <p:cNvCxnSpPr/>
            <p:nvPr/>
          </p:nvCxnSpPr>
          <p:spPr>
            <a:xfrm>
              <a:off x="2553817" y="4225032"/>
              <a:ext cx="475252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EA58414-EB70-F246-A81A-620440E94B07}"/>
                </a:ext>
              </a:extLst>
            </p:cNvPr>
            <p:cNvCxnSpPr/>
            <p:nvPr/>
          </p:nvCxnSpPr>
          <p:spPr>
            <a:xfrm>
              <a:off x="2553817" y="4729708"/>
              <a:ext cx="4752528"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FA592295-AFDB-E443-B217-4A51245211CC}"/>
                </a:ext>
              </a:extLst>
            </p:cNvPr>
            <p:cNvSpPr/>
            <p:nvPr/>
          </p:nvSpPr>
          <p:spPr>
            <a:xfrm>
              <a:off x="2049761" y="4225032"/>
              <a:ext cx="504056"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日志开始</a:t>
              </a:r>
              <a:endParaRPr lang="en-CN" sz="1050" dirty="0"/>
            </a:p>
          </p:txBody>
        </p:sp>
        <p:sp>
          <p:nvSpPr>
            <p:cNvPr id="16" name="Rectangle 15">
              <a:extLst>
                <a:ext uri="{FF2B5EF4-FFF2-40B4-BE49-F238E27FC236}">
                  <a16:creationId xmlns:a16="http://schemas.microsoft.com/office/drawing/2014/main" id="{3868C864-94EB-9E48-998A-F77BFD1ECC6A}"/>
                </a:ext>
              </a:extLst>
            </p:cNvPr>
            <p:cNvSpPr/>
            <p:nvPr/>
          </p:nvSpPr>
          <p:spPr>
            <a:xfrm>
              <a:off x="5542684" y="4224629"/>
              <a:ext cx="504056"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日志提交</a:t>
              </a:r>
              <a:endParaRPr lang="en-CN" sz="1050" dirty="0"/>
            </a:p>
          </p:txBody>
        </p:sp>
        <p:sp>
          <p:nvSpPr>
            <p:cNvPr id="17" name="Rectangle 16">
              <a:extLst>
                <a:ext uri="{FF2B5EF4-FFF2-40B4-BE49-F238E27FC236}">
                  <a16:creationId xmlns:a16="http://schemas.microsoft.com/office/drawing/2014/main" id="{77314EC5-AD6A-D14F-9676-D9DF436B8186}"/>
                </a:ext>
              </a:extLst>
            </p:cNvPr>
            <p:cNvSpPr/>
            <p:nvPr/>
          </p:nvSpPr>
          <p:spPr>
            <a:xfrm>
              <a:off x="4750596" y="4224629"/>
              <a:ext cx="792088"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CN" sz="1050" dirty="0">
                  <a:solidFill>
                    <a:srgbClr val="000000"/>
                  </a:solidFill>
                </a:rPr>
                <a:t>目录项</a:t>
              </a:r>
              <a:r>
                <a:rPr lang="zh-CN" altLang="en-US" sz="1050" dirty="0">
                  <a:solidFill>
                    <a:srgbClr val="000000"/>
                  </a:solidFill>
                </a:rPr>
                <a:t>写入后的块的数据</a:t>
              </a:r>
              <a:endParaRPr lang="en-CN" sz="1050" dirty="0">
                <a:solidFill>
                  <a:srgbClr val="000000"/>
                </a:solidFill>
              </a:endParaRPr>
            </a:p>
          </p:txBody>
        </p:sp>
        <p:sp>
          <p:nvSpPr>
            <p:cNvPr id="19" name="Rectangle 18">
              <a:extLst>
                <a:ext uri="{FF2B5EF4-FFF2-40B4-BE49-F238E27FC236}">
                  <a16:creationId xmlns:a16="http://schemas.microsoft.com/office/drawing/2014/main" id="{64ED7109-4200-7E4B-8230-1EBB402B16C8}"/>
                </a:ext>
              </a:extLst>
            </p:cNvPr>
            <p:cNvSpPr/>
            <p:nvPr/>
          </p:nvSpPr>
          <p:spPr>
            <a:xfrm>
              <a:off x="2553817" y="4225435"/>
              <a:ext cx="207640" cy="5038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sp>
          <p:nvSpPr>
            <p:cNvPr id="20" name="Rectangle 19">
              <a:extLst>
                <a:ext uri="{FF2B5EF4-FFF2-40B4-BE49-F238E27FC236}">
                  <a16:creationId xmlns:a16="http://schemas.microsoft.com/office/drawing/2014/main" id="{E010EBEE-5C18-034C-840A-335AF034DF34}"/>
                </a:ext>
              </a:extLst>
            </p:cNvPr>
            <p:cNvSpPr/>
            <p:nvPr/>
          </p:nvSpPr>
          <p:spPr>
            <a:xfrm>
              <a:off x="3536228" y="4225607"/>
              <a:ext cx="207640" cy="5038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sp>
          <p:nvSpPr>
            <p:cNvPr id="21" name="Rectangle 20">
              <a:extLst>
                <a:ext uri="{FF2B5EF4-FFF2-40B4-BE49-F238E27FC236}">
                  <a16:creationId xmlns:a16="http://schemas.microsoft.com/office/drawing/2014/main" id="{9E4E1FEC-81CC-4F46-9AF8-6062E7A5A45E}"/>
                </a:ext>
              </a:extLst>
            </p:cNvPr>
            <p:cNvSpPr/>
            <p:nvPr/>
          </p:nvSpPr>
          <p:spPr>
            <a:xfrm>
              <a:off x="4541532" y="4225810"/>
              <a:ext cx="207640" cy="5038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sp>
          <p:nvSpPr>
            <p:cNvPr id="6" name="TextBox 5">
              <a:extLst>
                <a:ext uri="{FF2B5EF4-FFF2-40B4-BE49-F238E27FC236}">
                  <a16:creationId xmlns:a16="http://schemas.microsoft.com/office/drawing/2014/main" id="{7EC3571F-5394-E64F-A82C-C58600D91D3A}"/>
                </a:ext>
              </a:extLst>
            </p:cNvPr>
            <p:cNvSpPr txBox="1"/>
            <p:nvPr/>
          </p:nvSpPr>
          <p:spPr>
            <a:xfrm>
              <a:off x="1160856" y="4359973"/>
              <a:ext cx="646331" cy="369332"/>
            </a:xfrm>
            <a:prstGeom prst="rect">
              <a:avLst/>
            </a:prstGeom>
            <a:noFill/>
          </p:spPr>
          <p:txBody>
            <a:bodyPr wrap="none" rtlCol="0">
              <a:spAutoFit/>
            </a:bodyPr>
            <a:lstStyle/>
            <a:p>
              <a:r>
                <a:rPr lang="zh-CN" altLang="en-US" dirty="0"/>
                <a:t>磁盘</a:t>
              </a:r>
              <a:endParaRPr lang="en-CN" dirty="0"/>
            </a:p>
          </p:txBody>
        </p:sp>
      </p:grpSp>
      <p:cxnSp>
        <p:nvCxnSpPr>
          <p:cNvPr id="13" name="肘形连接符 12">
            <a:extLst>
              <a:ext uri="{FF2B5EF4-FFF2-40B4-BE49-F238E27FC236}">
                <a16:creationId xmlns:a16="http://schemas.microsoft.com/office/drawing/2014/main" id="{CD19F1E8-0C10-714C-BA70-0DE7EFE0A9CE}"/>
              </a:ext>
            </a:extLst>
          </p:cNvPr>
          <p:cNvCxnSpPr>
            <a:endCxn id="8" idx="0"/>
          </p:cNvCxnSpPr>
          <p:nvPr/>
        </p:nvCxnSpPr>
        <p:spPr>
          <a:xfrm rot="16200000" flipH="1">
            <a:off x="1859418" y="2947200"/>
            <a:ext cx="2159620" cy="396044"/>
          </a:xfrm>
          <a:prstGeom prst="bentConnector3">
            <a:avLst>
              <a:gd name="adj1" fmla="val 6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肘形连接符 21">
            <a:extLst>
              <a:ext uri="{FF2B5EF4-FFF2-40B4-BE49-F238E27FC236}">
                <a16:creationId xmlns:a16="http://schemas.microsoft.com/office/drawing/2014/main" id="{287AC29B-D197-C645-981D-E8D9C4A0B93A}"/>
              </a:ext>
            </a:extLst>
          </p:cNvPr>
          <p:cNvCxnSpPr>
            <a:cxnSpLocks/>
            <a:endCxn id="9" idx="0"/>
          </p:cNvCxnSpPr>
          <p:nvPr/>
        </p:nvCxnSpPr>
        <p:spPr>
          <a:xfrm>
            <a:off x="2321348" y="2496288"/>
            <a:ext cx="1819885" cy="172854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肘形连接符 25">
            <a:extLst>
              <a:ext uri="{FF2B5EF4-FFF2-40B4-BE49-F238E27FC236}">
                <a16:creationId xmlns:a16="http://schemas.microsoft.com/office/drawing/2014/main" id="{47D906AB-9918-0C4F-8AD4-BD0FB41AD7A7}"/>
              </a:ext>
            </a:extLst>
          </p:cNvPr>
          <p:cNvCxnSpPr>
            <a:cxnSpLocks/>
            <a:endCxn id="17" idx="0"/>
          </p:cNvCxnSpPr>
          <p:nvPr/>
        </p:nvCxnSpPr>
        <p:spPr>
          <a:xfrm>
            <a:off x="3315846" y="2857500"/>
            <a:ext cx="1830794" cy="136712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64544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75B07-9099-3C41-B2E6-5972347ED29C}"/>
              </a:ext>
            </a:extLst>
          </p:cNvPr>
          <p:cNvSpPr>
            <a:spLocks noGrp="1"/>
          </p:cNvSpPr>
          <p:nvPr>
            <p:ph type="title"/>
          </p:nvPr>
        </p:nvSpPr>
        <p:spPr/>
        <p:txBody>
          <a:bodyPr/>
          <a:lstStyle/>
          <a:p>
            <a:r>
              <a:rPr lang="zh-CN" altLang="en-US" dirty="0"/>
              <a:t>日志</a:t>
            </a:r>
            <a:endParaRPr lang="en-CN" dirty="0"/>
          </a:p>
        </p:txBody>
      </p:sp>
      <p:sp>
        <p:nvSpPr>
          <p:cNvPr id="3" name="Content Placeholder 2">
            <a:extLst>
              <a:ext uri="{FF2B5EF4-FFF2-40B4-BE49-F238E27FC236}">
                <a16:creationId xmlns:a16="http://schemas.microsoft.com/office/drawing/2014/main" id="{A83A1F32-C7BA-5240-B922-DE00893F581F}"/>
              </a:ext>
            </a:extLst>
          </p:cNvPr>
          <p:cNvSpPr>
            <a:spLocks noGrp="1"/>
          </p:cNvSpPr>
          <p:nvPr>
            <p:ph idx="1"/>
          </p:nvPr>
        </p:nvSpPr>
        <p:spPr>
          <a:xfrm>
            <a:off x="457199" y="1333501"/>
            <a:ext cx="4114801" cy="3771636"/>
          </a:xfrm>
        </p:spPr>
        <p:txBody>
          <a:bodyPr>
            <a:normAutofit/>
          </a:bodyPr>
          <a:lstStyle/>
          <a:p>
            <a:pPr marL="0" indent="0">
              <a:buNone/>
            </a:pPr>
            <a:r>
              <a:rPr lang="zh-CN" altLang="en-US" sz="2000" b="0" dirty="0"/>
              <a:t>创建</a:t>
            </a:r>
            <a:r>
              <a:rPr lang="en-US" altLang="zh-CN" sz="2000" b="0" dirty="0"/>
              <a:t>"/</a:t>
            </a:r>
            <a:r>
              <a:rPr lang="zh-CN" altLang="en-US" sz="2000" b="0" dirty="0"/>
              <a:t>新文件</a:t>
            </a:r>
            <a:r>
              <a:rPr lang="en-US" altLang="zh-CN" sz="2000" b="0" dirty="0"/>
              <a:t>"</a:t>
            </a:r>
            <a:r>
              <a:rPr lang="zh-CN" altLang="en-US" sz="2000" b="0" dirty="0"/>
              <a:t>的修改包括：</a:t>
            </a:r>
            <a:endParaRPr lang="en-US" altLang="zh-CN" sz="2000" b="0" dirty="0"/>
          </a:p>
          <a:p>
            <a:pPr marL="0" indent="0">
              <a:buNone/>
            </a:pPr>
            <a:r>
              <a:rPr lang="en-US" altLang="zh-CN" sz="2000" b="0" dirty="0"/>
              <a:t>1.</a:t>
            </a:r>
            <a:r>
              <a:rPr lang="zh-CN" altLang="en-US" sz="2000" b="0" dirty="0"/>
              <a:t> 标记</a:t>
            </a:r>
            <a:r>
              <a:rPr lang="en-US" altLang="zh-CN" sz="2000" b="0" dirty="0" err="1"/>
              <a:t>inode</a:t>
            </a:r>
            <a:r>
              <a:rPr lang="zh-CN" altLang="en-US" sz="2000" b="0" dirty="0"/>
              <a:t>为占用</a:t>
            </a:r>
            <a:br>
              <a:rPr lang="en-US" altLang="zh-CN" sz="2000" b="0" dirty="0"/>
            </a:br>
            <a:r>
              <a:rPr lang="en-US" altLang="zh-CN" sz="2000" b="0" dirty="0"/>
              <a:t>2.</a:t>
            </a:r>
            <a:r>
              <a:rPr lang="zh-CN" altLang="en-US" sz="2000" b="0" dirty="0"/>
              <a:t> 初始化</a:t>
            </a:r>
            <a:r>
              <a:rPr lang="en-US" altLang="zh-CN" sz="2000" b="0" dirty="0" err="1"/>
              <a:t>inode</a:t>
            </a:r>
            <a:br>
              <a:rPr lang="en-US" altLang="zh-CN" sz="2000" b="0" dirty="0"/>
            </a:br>
            <a:r>
              <a:rPr lang="en-US" altLang="zh-CN" sz="2000" b="0" dirty="0"/>
              <a:t>3.</a:t>
            </a:r>
            <a:r>
              <a:rPr lang="zh-CN" altLang="en-US" sz="2000" b="0" dirty="0"/>
              <a:t> 将目录项写入目录中</a:t>
            </a:r>
            <a:endParaRPr lang="en-CN" sz="2000" b="0" dirty="0"/>
          </a:p>
        </p:txBody>
      </p:sp>
      <p:sp>
        <p:nvSpPr>
          <p:cNvPr id="4" name="Footer Placeholder 3">
            <a:extLst>
              <a:ext uri="{FF2B5EF4-FFF2-40B4-BE49-F238E27FC236}">
                <a16:creationId xmlns:a16="http://schemas.microsoft.com/office/drawing/2014/main" id="{7005B691-E3D5-4240-9E7E-E67E7979363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5" name="Slide Number Placeholder 4">
            <a:extLst>
              <a:ext uri="{FF2B5EF4-FFF2-40B4-BE49-F238E27FC236}">
                <a16:creationId xmlns:a16="http://schemas.microsoft.com/office/drawing/2014/main" id="{443E7816-4275-3348-949B-D247B29DBBDE}"/>
              </a:ext>
            </a:extLst>
          </p:cNvPr>
          <p:cNvSpPr>
            <a:spLocks noGrp="1"/>
          </p:cNvSpPr>
          <p:nvPr>
            <p:ph type="sldNum" sz="quarter" idx="12"/>
          </p:nvPr>
        </p:nvSpPr>
        <p:spPr/>
        <p:txBody>
          <a:bodyPr/>
          <a:lstStyle/>
          <a:p>
            <a:fld id="{ADE361C3-C043-4A6E-BDCE-8DA1E7D90A3B}" type="slidenum">
              <a:rPr lang="zh-CN" altLang="en-US" smtClean="0"/>
              <a:t>22</a:t>
            </a:fld>
            <a:endParaRPr lang="zh-CN" altLang="en-US"/>
          </a:p>
        </p:txBody>
      </p:sp>
      <p:sp>
        <p:nvSpPr>
          <p:cNvPr id="23" name="TextBox 22">
            <a:extLst>
              <a:ext uri="{FF2B5EF4-FFF2-40B4-BE49-F238E27FC236}">
                <a16:creationId xmlns:a16="http://schemas.microsoft.com/office/drawing/2014/main" id="{C8F2AE23-6532-B544-902B-B7FE586B1947}"/>
              </a:ext>
            </a:extLst>
          </p:cNvPr>
          <p:cNvSpPr txBox="1"/>
          <p:nvPr/>
        </p:nvSpPr>
        <p:spPr>
          <a:xfrm>
            <a:off x="4896269" y="1813648"/>
            <a:ext cx="2492990" cy="400110"/>
          </a:xfrm>
          <a:prstGeom prst="rect">
            <a:avLst/>
          </a:prstGeom>
          <a:noFill/>
        </p:spPr>
        <p:txBody>
          <a:bodyPr wrap="none" rtlCol="0">
            <a:spAutoFit/>
          </a:bodyPr>
          <a:lstStyle/>
          <a:p>
            <a:r>
              <a:rPr lang="zh-CN" altLang="en-CN" sz="2000" dirty="0"/>
              <a:t>崩溃</a:t>
            </a:r>
            <a:r>
              <a:rPr lang="zh-CN" altLang="en-US" sz="2000" dirty="0"/>
              <a:t>随时可能发生！</a:t>
            </a:r>
            <a:endParaRPr lang="en-CN" sz="2000" dirty="0"/>
          </a:p>
        </p:txBody>
      </p:sp>
      <p:sp>
        <p:nvSpPr>
          <p:cNvPr id="24" name="Lightning Bolt 23">
            <a:extLst>
              <a:ext uri="{FF2B5EF4-FFF2-40B4-BE49-F238E27FC236}">
                <a16:creationId xmlns:a16="http://schemas.microsoft.com/office/drawing/2014/main" id="{4BE5BFC7-A893-6748-B395-AD4E03D83F14}"/>
              </a:ext>
            </a:extLst>
          </p:cNvPr>
          <p:cNvSpPr/>
          <p:nvPr/>
        </p:nvSpPr>
        <p:spPr>
          <a:xfrm>
            <a:off x="4553741" y="1476372"/>
            <a:ext cx="469032" cy="792088"/>
          </a:xfrm>
          <a:prstGeom prst="lightningBolt">
            <a:avLst/>
          </a:prstGeom>
          <a:solidFill>
            <a:srgbClr val="FFC000"/>
          </a:solidFill>
          <a:ln>
            <a:solidFill>
              <a:srgbClr val="FF9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6" name="TextBox 5">
            <a:extLst>
              <a:ext uri="{FF2B5EF4-FFF2-40B4-BE49-F238E27FC236}">
                <a16:creationId xmlns:a16="http://schemas.microsoft.com/office/drawing/2014/main" id="{D4F520FF-E949-4045-A8EB-B403455B196E}"/>
              </a:ext>
            </a:extLst>
          </p:cNvPr>
          <p:cNvSpPr txBox="1"/>
          <p:nvPr/>
        </p:nvSpPr>
        <p:spPr>
          <a:xfrm>
            <a:off x="3736093" y="2410135"/>
            <a:ext cx="5292080" cy="1438855"/>
          </a:xfrm>
          <a:prstGeom prst="rect">
            <a:avLst/>
          </a:prstGeom>
          <a:noFill/>
        </p:spPr>
        <p:txBody>
          <a:bodyPr wrap="square" rtlCol="0">
            <a:spAutoFit/>
          </a:bodyPr>
          <a:lstStyle/>
          <a:p>
            <a:pPr>
              <a:lnSpc>
                <a:spcPct val="150000"/>
              </a:lnSpc>
            </a:pPr>
            <a:r>
              <a:rPr lang="zh-CN" altLang="en-CN" sz="1600" dirty="0"/>
              <a:t>在</a:t>
            </a:r>
            <a:r>
              <a:rPr lang="en-US" altLang="zh-CN" sz="1600" dirty="0"/>
              <a:t>"</a:t>
            </a:r>
            <a:r>
              <a:rPr lang="zh-CN" altLang="en-US" sz="1600" dirty="0"/>
              <a:t>日志提交</a:t>
            </a:r>
            <a:r>
              <a:rPr lang="en-US" altLang="zh-CN" sz="1600" dirty="0"/>
              <a:t>"</a:t>
            </a:r>
            <a:r>
              <a:rPr lang="zh-CN" altLang="en-US" sz="1600" dirty="0"/>
              <a:t>写入存储设备之前崩溃</a:t>
            </a:r>
            <a:endParaRPr lang="en-US" altLang="zh-CN" sz="1600" dirty="0"/>
          </a:p>
          <a:p>
            <a:pPr marL="285750" indent="-285750">
              <a:lnSpc>
                <a:spcPct val="150000"/>
              </a:lnSpc>
              <a:buFont typeface="Wingdings" pitchFamily="2" charset="2"/>
              <a:buChar char="Ø"/>
            </a:pPr>
            <a:r>
              <a:rPr lang="zh-CN" altLang="en-CN" sz="1400" dirty="0"/>
              <a:t>恢复</a:t>
            </a:r>
            <a:r>
              <a:rPr lang="zh-CN" altLang="en-US" sz="1400" dirty="0"/>
              <a:t>时发现日志不完整，忽略日志，</a:t>
            </a:r>
            <a:r>
              <a:rPr lang="en-US" altLang="zh-CN" sz="1400" dirty="0"/>
              <a:t>"/</a:t>
            </a:r>
            <a:r>
              <a:rPr lang="zh-CN" altLang="en-US" sz="1400" dirty="0"/>
              <a:t>新文件</a:t>
            </a:r>
            <a:r>
              <a:rPr lang="en-US" altLang="zh-CN" sz="1400" dirty="0"/>
              <a:t>"</a:t>
            </a:r>
            <a:r>
              <a:rPr lang="zh-CN" altLang="en-US" sz="1400" dirty="0"/>
              <a:t>未被创建</a:t>
            </a:r>
            <a:endParaRPr lang="en-US" altLang="zh-CN" sz="1400" dirty="0"/>
          </a:p>
          <a:p>
            <a:pPr>
              <a:lnSpc>
                <a:spcPct val="150000"/>
              </a:lnSpc>
            </a:pPr>
            <a:r>
              <a:rPr lang="zh-CN" altLang="en-US" sz="1600" dirty="0"/>
              <a:t>在</a:t>
            </a:r>
            <a:r>
              <a:rPr lang="en-US" altLang="zh-CN" sz="1600" dirty="0"/>
              <a:t>"</a:t>
            </a:r>
            <a:r>
              <a:rPr lang="zh-CN" altLang="en-US" sz="1600" dirty="0"/>
              <a:t>日志提交</a:t>
            </a:r>
            <a:r>
              <a:rPr lang="en-US" altLang="zh-CN" sz="1600" dirty="0"/>
              <a:t>"</a:t>
            </a:r>
            <a:r>
              <a:rPr lang="zh-CN" altLang="en-US" sz="1600" dirty="0"/>
              <a:t>写入存储设备之后崩溃</a:t>
            </a:r>
            <a:endParaRPr lang="en-US" altLang="zh-CN" sz="1600" dirty="0"/>
          </a:p>
          <a:p>
            <a:pPr marL="285750" indent="-285750">
              <a:lnSpc>
                <a:spcPct val="150000"/>
              </a:lnSpc>
              <a:buFont typeface="Wingdings" pitchFamily="2" charset="2"/>
              <a:buChar char="Ø"/>
            </a:pPr>
            <a:r>
              <a:rPr lang="zh-CN" altLang="en-US" sz="1400" dirty="0"/>
              <a:t>将日志中的内容，拷贝到对应位置，</a:t>
            </a:r>
            <a:r>
              <a:rPr lang="en-US" altLang="zh-CN" sz="1400" dirty="0"/>
              <a:t>"/</a:t>
            </a:r>
            <a:r>
              <a:rPr lang="zh-CN" altLang="en-US" sz="1400" dirty="0"/>
              <a:t>新文件</a:t>
            </a:r>
            <a:r>
              <a:rPr lang="en-US" altLang="zh-CN" sz="1400" dirty="0"/>
              <a:t>"</a:t>
            </a:r>
            <a:r>
              <a:rPr lang="zh-CN" altLang="en-US" sz="1400" dirty="0"/>
              <a:t>被创建成功</a:t>
            </a:r>
            <a:endParaRPr lang="en-US" altLang="zh-CN" sz="1400" dirty="0"/>
          </a:p>
        </p:txBody>
      </p:sp>
      <p:grpSp>
        <p:nvGrpSpPr>
          <p:cNvPr id="25" name="Group 24">
            <a:extLst>
              <a:ext uri="{FF2B5EF4-FFF2-40B4-BE49-F238E27FC236}">
                <a16:creationId xmlns:a16="http://schemas.microsoft.com/office/drawing/2014/main" id="{C0F88BF1-29A6-F948-9744-E46ADCCA7489}"/>
              </a:ext>
            </a:extLst>
          </p:cNvPr>
          <p:cNvGrpSpPr/>
          <p:nvPr/>
        </p:nvGrpSpPr>
        <p:grpSpPr>
          <a:xfrm>
            <a:off x="1160856" y="4224629"/>
            <a:ext cx="6145489" cy="505079"/>
            <a:chOff x="1160856" y="4224629"/>
            <a:chExt cx="6145489" cy="505079"/>
          </a:xfrm>
        </p:grpSpPr>
        <p:sp>
          <p:nvSpPr>
            <p:cNvPr id="26" name="Rectangle 25">
              <a:extLst>
                <a:ext uri="{FF2B5EF4-FFF2-40B4-BE49-F238E27FC236}">
                  <a16:creationId xmlns:a16="http://schemas.microsoft.com/office/drawing/2014/main" id="{8C9AEC78-D863-5549-AD41-D0CCA4329704}"/>
                </a:ext>
              </a:extLst>
            </p:cNvPr>
            <p:cNvSpPr/>
            <p:nvPr/>
          </p:nvSpPr>
          <p:spPr>
            <a:xfrm>
              <a:off x="2741206" y="4225032"/>
              <a:ext cx="792088"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CN" sz="1050" dirty="0"/>
                <a:t>修改</a:t>
              </a:r>
              <a:r>
                <a:rPr lang="zh-CN" altLang="en-US" sz="1050" dirty="0"/>
                <a:t>后的</a:t>
              </a:r>
              <a:r>
                <a:rPr lang="en-US" altLang="zh-CN" sz="1050" dirty="0" err="1"/>
                <a:t>inode</a:t>
              </a:r>
              <a:r>
                <a:rPr lang="zh-CN" altLang="en-US" sz="1050" dirty="0"/>
                <a:t>分配表</a:t>
              </a:r>
              <a:endParaRPr lang="en-CN" sz="1050" dirty="0"/>
            </a:p>
          </p:txBody>
        </p:sp>
        <p:sp>
          <p:nvSpPr>
            <p:cNvPr id="27" name="Rectangle 26">
              <a:extLst>
                <a:ext uri="{FF2B5EF4-FFF2-40B4-BE49-F238E27FC236}">
                  <a16:creationId xmlns:a16="http://schemas.microsoft.com/office/drawing/2014/main" id="{795CB2EB-71E1-1E4D-856C-1F907FBC88A7}"/>
                </a:ext>
              </a:extLst>
            </p:cNvPr>
            <p:cNvSpPr/>
            <p:nvPr/>
          </p:nvSpPr>
          <p:spPr>
            <a:xfrm>
              <a:off x="3745189" y="4224831"/>
              <a:ext cx="792088"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US" sz="1050" dirty="0">
                  <a:solidFill>
                    <a:srgbClr val="000000"/>
                  </a:solidFill>
                </a:rPr>
                <a:t>新</a:t>
              </a:r>
              <a:r>
                <a:rPr lang="en-US" altLang="zh-CN" sz="1050" dirty="0" err="1">
                  <a:solidFill>
                    <a:srgbClr val="000000"/>
                  </a:solidFill>
                </a:rPr>
                <a:t>inode</a:t>
              </a:r>
              <a:r>
                <a:rPr lang="zh-CN" altLang="en-US" sz="1050" dirty="0">
                  <a:solidFill>
                    <a:srgbClr val="000000"/>
                  </a:solidFill>
                </a:rPr>
                <a:t>所在块的数据</a:t>
              </a:r>
              <a:endParaRPr lang="en-CN" sz="1050" dirty="0">
                <a:solidFill>
                  <a:srgbClr val="000000"/>
                </a:solidFill>
              </a:endParaRPr>
            </a:p>
          </p:txBody>
        </p:sp>
        <p:cxnSp>
          <p:nvCxnSpPr>
            <p:cNvPr id="28" name="Straight Connector 27">
              <a:extLst>
                <a:ext uri="{FF2B5EF4-FFF2-40B4-BE49-F238E27FC236}">
                  <a16:creationId xmlns:a16="http://schemas.microsoft.com/office/drawing/2014/main" id="{64733164-B16F-514E-96FB-F485C7D020AD}"/>
                </a:ext>
              </a:extLst>
            </p:cNvPr>
            <p:cNvCxnSpPr/>
            <p:nvPr/>
          </p:nvCxnSpPr>
          <p:spPr>
            <a:xfrm>
              <a:off x="2553817" y="4225032"/>
              <a:ext cx="475252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0D31725-6F12-2743-91A7-F4458A5A7100}"/>
                </a:ext>
              </a:extLst>
            </p:cNvPr>
            <p:cNvCxnSpPr/>
            <p:nvPr/>
          </p:nvCxnSpPr>
          <p:spPr>
            <a:xfrm>
              <a:off x="2553817" y="4729708"/>
              <a:ext cx="4752528" cy="0"/>
            </a:xfrm>
            <a:prstGeom prst="line">
              <a:avLst/>
            </a:prstGeom>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188F6E78-B43D-4B45-93C3-5A0282227E8D}"/>
                </a:ext>
              </a:extLst>
            </p:cNvPr>
            <p:cNvSpPr/>
            <p:nvPr/>
          </p:nvSpPr>
          <p:spPr>
            <a:xfrm>
              <a:off x="2049761" y="4225032"/>
              <a:ext cx="504056"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日志开始</a:t>
              </a:r>
              <a:endParaRPr lang="en-CN" sz="1050" dirty="0"/>
            </a:p>
          </p:txBody>
        </p:sp>
        <p:sp>
          <p:nvSpPr>
            <p:cNvPr id="31" name="Rectangle 30">
              <a:extLst>
                <a:ext uri="{FF2B5EF4-FFF2-40B4-BE49-F238E27FC236}">
                  <a16:creationId xmlns:a16="http://schemas.microsoft.com/office/drawing/2014/main" id="{8B860245-9C78-294B-A979-D2C74F6A9F6C}"/>
                </a:ext>
              </a:extLst>
            </p:cNvPr>
            <p:cNvSpPr/>
            <p:nvPr/>
          </p:nvSpPr>
          <p:spPr>
            <a:xfrm>
              <a:off x="5542684" y="4224629"/>
              <a:ext cx="504056"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日志提交</a:t>
              </a:r>
              <a:endParaRPr lang="en-CN" sz="1050" dirty="0"/>
            </a:p>
          </p:txBody>
        </p:sp>
        <p:sp>
          <p:nvSpPr>
            <p:cNvPr id="32" name="Rectangle 31">
              <a:extLst>
                <a:ext uri="{FF2B5EF4-FFF2-40B4-BE49-F238E27FC236}">
                  <a16:creationId xmlns:a16="http://schemas.microsoft.com/office/drawing/2014/main" id="{9F22E75E-5062-A54F-BA6D-F4DBA7A9A0D7}"/>
                </a:ext>
              </a:extLst>
            </p:cNvPr>
            <p:cNvSpPr/>
            <p:nvPr/>
          </p:nvSpPr>
          <p:spPr>
            <a:xfrm>
              <a:off x="4750596" y="4224629"/>
              <a:ext cx="792088"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CN" sz="1050" dirty="0">
                  <a:solidFill>
                    <a:srgbClr val="000000"/>
                  </a:solidFill>
                </a:rPr>
                <a:t>目录项</a:t>
              </a:r>
              <a:r>
                <a:rPr lang="zh-CN" altLang="en-US" sz="1050" dirty="0">
                  <a:solidFill>
                    <a:srgbClr val="000000"/>
                  </a:solidFill>
                </a:rPr>
                <a:t>写入后的块的数据</a:t>
              </a:r>
              <a:endParaRPr lang="en-CN" sz="1050" dirty="0">
                <a:solidFill>
                  <a:srgbClr val="000000"/>
                </a:solidFill>
              </a:endParaRPr>
            </a:p>
          </p:txBody>
        </p:sp>
        <p:sp>
          <p:nvSpPr>
            <p:cNvPr id="33" name="Rectangle 32">
              <a:extLst>
                <a:ext uri="{FF2B5EF4-FFF2-40B4-BE49-F238E27FC236}">
                  <a16:creationId xmlns:a16="http://schemas.microsoft.com/office/drawing/2014/main" id="{4EFBEDB8-383F-0248-A0D8-D7022B21ADC8}"/>
                </a:ext>
              </a:extLst>
            </p:cNvPr>
            <p:cNvSpPr/>
            <p:nvPr/>
          </p:nvSpPr>
          <p:spPr>
            <a:xfrm>
              <a:off x="2553817" y="4225435"/>
              <a:ext cx="207640" cy="5038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sp>
          <p:nvSpPr>
            <p:cNvPr id="34" name="Rectangle 33">
              <a:extLst>
                <a:ext uri="{FF2B5EF4-FFF2-40B4-BE49-F238E27FC236}">
                  <a16:creationId xmlns:a16="http://schemas.microsoft.com/office/drawing/2014/main" id="{5875A119-AA8E-0C47-AF8D-82010F5D1409}"/>
                </a:ext>
              </a:extLst>
            </p:cNvPr>
            <p:cNvSpPr/>
            <p:nvPr/>
          </p:nvSpPr>
          <p:spPr>
            <a:xfrm>
              <a:off x="3536228" y="4225607"/>
              <a:ext cx="207640" cy="5038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sp>
          <p:nvSpPr>
            <p:cNvPr id="35" name="Rectangle 34">
              <a:extLst>
                <a:ext uri="{FF2B5EF4-FFF2-40B4-BE49-F238E27FC236}">
                  <a16:creationId xmlns:a16="http://schemas.microsoft.com/office/drawing/2014/main" id="{F6B940A0-1CB6-C444-AA76-A9D3024E6B7F}"/>
                </a:ext>
              </a:extLst>
            </p:cNvPr>
            <p:cNvSpPr/>
            <p:nvPr/>
          </p:nvSpPr>
          <p:spPr>
            <a:xfrm>
              <a:off x="4541532" y="4225810"/>
              <a:ext cx="207640" cy="5038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sp>
          <p:nvSpPr>
            <p:cNvPr id="36" name="TextBox 35">
              <a:extLst>
                <a:ext uri="{FF2B5EF4-FFF2-40B4-BE49-F238E27FC236}">
                  <a16:creationId xmlns:a16="http://schemas.microsoft.com/office/drawing/2014/main" id="{9F9D1A96-CEFF-0349-B390-4CB9E673D3D8}"/>
                </a:ext>
              </a:extLst>
            </p:cNvPr>
            <p:cNvSpPr txBox="1"/>
            <p:nvPr/>
          </p:nvSpPr>
          <p:spPr>
            <a:xfrm>
              <a:off x="1160856" y="4359973"/>
              <a:ext cx="646331" cy="369332"/>
            </a:xfrm>
            <a:prstGeom prst="rect">
              <a:avLst/>
            </a:prstGeom>
            <a:noFill/>
          </p:spPr>
          <p:txBody>
            <a:bodyPr wrap="none" rtlCol="0">
              <a:spAutoFit/>
            </a:bodyPr>
            <a:lstStyle/>
            <a:p>
              <a:r>
                <a:rPr lang="zh-CN" altLang="en-US" dirty="0"/>
                <a:t>磁盘</a:t>
              </a:r>
              <a:endParaRPr lang="en-CN" dirty="0"/>
            </a:p>
          </p:txBody>
        </p:sp>
      </p:grpSp>
    </p:spTree>
    <p:extLst>
      <p:ext uri="{BB962C8B-B14F-4D97-AF65-F5344CB8AC3E}">
        <p14:creationId xmlns:p14="http://schemas.microsoft.com/office/powerpoint/2010/main" val="16741980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75B07-9099-3C41-B2E6-5972347ED29C}"/>
              </a:ext>
            </a:extLst>
          </p:cNvPr>
          <p:cNvSpPr>
            <a:spLocks noGrp="1"/>
          </p:cNvSpPr>
          <p:nvPr>
            <p:ph type="title"/>
          </p:nvPr>
        </p:nvSpPr>
        <p:spPr/>
        <p:txBody>
          <a:bodyPr/>
          <a:lstStyle/>
          <a:p>
            <a:r>
              <a:rPr lang="zh-CN" altLang="en-US" dirty="0"/>
              <a:t>问题</a:t>
            </a:r>
            <a:endParaRPr lang="en-CN" dirty="0"/>
          </a:p>
        </p:txBody>
      </p:sp>
      <p:sp>
        <p:nvSpPr>
          <p:cNvPr id="3" name="Content Placeholder 2">
            <a:extLst>
              <a:ext uri="{FF2B5EF4-FFF2-40B4-BE49-F238E27FC236}">
                <a16:creationId xmlns:a16="http://schemas.microsoft.com/office/drawing/2014/main" id="{A83A1F32-C7BA-5240-B922-DE00893F581F}"/>
              </a:ext>
            </a:extLst>
          </p:cNvPr>
          <p:cNvSpPr>
            <a:spLocks noGrp="1"/>
          </p:cNvSpPr>
          <p:nvPr>
            <p:ph idx="1"/>
          </p:nvPr>
        </p:nvSpPr>
        <p:spPr>
          <a:xfrm>
            <a:off x="457199" y="1333501"/>
            <a:ext cx="5589541" cy="3771636"/>
          </a:xfrm>
        </p:spPr>
        <p:txBody>
          <a:bodyPr>
            <a:normAutofit/>
          </a:bodyPr>
          <a:lstStyle/>
          <a:p>
            <a:pPr marL="0" indent="0">
              <a:buNone/>
            </a:pPr>
            <a:r>
              <a:rPr lang="zh-CN" altLang="en-US" sz="2000" b="0" dirty="0"/>
              <a:t>此种方法有什么问题？</a:t>
            </a:r>
            <a:endParaRPr lang="en-US" altLang="zh-CN" sz="2000" b="0" dirty="0"/>
          </a:p>
          <a:p>
            <a:pPr marL="0" indent="0">
              <a:buNone/>
            </a:pPr>
            <a:r>
              <a:rPr lang="zh-CN" altLang="en-US" sz="1800" b="0" dirty="0"/>
              <a:t>问题</a:t>
            </a:r>
            <a:r>
              <a:rPr lang="en-US" altLang="zh-CN" sz="1800" b="0" dirty="0"/>
              <a:t>1.</a:t>
            </a:r>
            <a:r>
              <a:rPr lang="zh-CN" altLang="en-US" sz="1800" b="0" dirty="0"/>
              <a:t> 每个操作都</a:t>
            </a:r>
            <a:r>
              <a:rPr lang="zh-CN" altLang="en-CN" sz="1800" b="0" dirty="0"/>
              <a:t>写</a:t>
            </a:r>
            <a:r>
              <a:rPr lang="zh-CN" altLang="en-US" sz="1800" b="0" dirty="0"/>
              <a:t>磁盘，内存缓存优势被抵消</a:t>
            </a:r>
            <a:br>
              <a:rPr lang="en-US" altLang="zh-CN" sz="1800" b="0" dirty="0"/>
            </a:br>
            <a:r>
              <a:rPr lang="zh-CN" altLang="en-US" sz="1800" b="0" dirty="0"/>
              <a:t>问题</a:t>
            </a:r>
            <a:r>
              <a:rPr lang="en-US" altLang="zh-CN" sz="1800" b="0" dirty="0"/>
              <a:t>2.</a:t>
            </a:r>
            <a:r>
              <a:rPr lang="zh-CN" altLang="en-US" sz="1800" b="0" dirty="0"/>
              <a:t> 每个修改需要拷贝新数据到日志</a:t>
            </a:r>
            <a:br>
              <a:rPr lang="en-US" altLang="zh-CN" sz="1800" b="0" dirty="0"/>
            </a:br>
            <a:r>
              <a:rPr lang="zh-CN" altLang="en-US" sz="1800" b="0" dirty="0"/>
              <a:t>问题</a:t>
            </a:r>
            <a:r>
              <a:rPr lang="en-US" altLang="zh-CN" sz="1800" b="0" dirty="0"/>
              <a:t>3.</a:t>
            </a:r>
            <a:r>
              <a:rPr lang="zh-CN" altLang="en-US" sz="1800" b="0" dirty="0"/>
              <a:t> 相同块的多个修改被记录多次</a:t>
            </a:r>
            <a:endParaRPr lang="en-US" altLang="zh-CN" sz="1800" b="0" dirty="0"/>
          </a:p>
          <a:p>
            <a:pPr marL="0" indent="0">
              <a:buNone/>
            </a:pPr>
            <a:r>
              <a:rPr lang="en-US" altLang="zh-CN" sz="1800" b="0" dirty="0"/>
              <a:t>……</a:t>
            </a:r>
            <a:br>
              <a:rPr lang="en-CN" altLang="zh-CN" sz="1800" b="0" dirty="0"/>
            </a:br>
            <a:endParaRPr lang="en-US" altLang="zh-CN" sz="1800" b="0" dirty="0"/>
          </a:p>
        </p:txBody>
      </p:sp>
      <p:sp>
        <p:nvSpPr>
          <p:cNvPr id="4" name="Footer Placeholder 3">
            <a:extLst>
              <a:ext uri="{FF2B5EF4-FFF2-40B4-BE49-F238E27FC236}">
                <a16:creationId xmlns:a16="http://schemas.microsoft.com/office/drawing/2014/main" id="{7005B691-E3D5-4240-9E7E-E67E7979363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5" name="Slide Number Placeholder 4">
            <a:extLst>
              <a:ext uri="{FF2B5EF4-FFF2-40B4-BE49-F238E27FC236}">
                <a16:creationId xmlns:a16="http://schemas.microsoft.com/office/drawing/2014/main" id="{443E7816-4275-3348-949B-D247B29DBBDE}"/>
              </a:ext>
            </a:extLst>
          </p:cNvPr>
          <p:cNvSpPr>
            <a:spLocks noGrp="1"/>
          </p:cNvSpPr>
          <p:nvPr>
            <p:ph type="sldNum" sz="quarter" idx="12"/>
          </p:nvPr>
        </p:nvSpPr>
        <p:spPr/>
        <p:txBody>
          <a:bodyPr/>
          <a:lstStyle/>
          <a:p>
            <a:fld id="{ADE361C3-C043-4A6E-BDCE-8DA1E7D90A3B}" type="slidenum">
              <a:rPr lang="zh-CN" altLang="en-US" smtClean="0"/>
              <a:t>23</a:t>
            </a:fld>
            <a:endParaRPr lang="zh-CN" altLang="en-US"/>
          </a:p>
        </p:txBody>
      </p:sp>
      <p:grpSp>
        <p:nvGrpSpPr>
          <p:cNvPr id="18" name="Group 17">
            <a:extLst>
              <a:ext uri="{FF2B5EF4-FFF2-40B4-BE49-F238E27FC236}">
                <a16:creationId xmlns:a16="http://schemas.microsoft.com/office/drawing/2014/main" id="{6AE3E450-DC56-CF46-AA78-B4A54E9FECD3}"/>
              </a:ext>
            </a:extLst>
          </p:cNvPr>
          <p:cNvGrpSpPr/>
          <p:nvPr/>
        </p:nvGrpSpPr>
        <p:grpSpPr>
          <a:xfrm>
            <a:off x="1160856" y="4224629"/>
            <a:ext cx="6145489" cy="505079"/>
            <a:chOff x="1160856" y="4224629"/>
            <a:chExt cx="6145489" cy="505079"/>
          </a:xfrm>
        </p:grpSpPr>
        <p:sp>
          <p:nvSpPr>
            <p:cNvPr id="23" name="Rectangle 22">
              <a:extLst>
                <a:ext uri="{FF2B5EF4-FFF2-40B4-BE49-F238E27FC236}">
                  <a16:creationId xmlns:a16="http://schemas.microsoft.com/office/drawing/2014/main" id="{D9CA7A33-AB32-2947-A59F-74C60F49809F}"/>
                </a:ext>
              </a:extLst>
            </p:cNvPr>
            <p:cNvSpPr/>
            <p:nvPr/>
          </p:nvSpPr>
          <p:spPr>
            <a:xfrm>
              <a:off x="2741206" y="4225032"/>
              <a:ext cx="792088"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CN" sz="1050" dirty="0"/>
                <a:t>修改</a:t>
              </a:r>
              <a:r>
                <a:rPr lang="zh-CN" altLang="en-US" sz="1050" dirty="0"/>
                <a:t>后的</a:t>
              </a:r>
              <a:r>
                <a:rPr lang="en-US" altLang="zh-CN" sz="1050" dirty="0" err="1"/>
                <a:t>inode</a:t>
              </a:r>
              <a:r>
                <a:rPr lang="zh-CN" altLang="en-US" sz="1050" dirty="0"/>
                <a:t>分配表</a:t>
              </a:r>
              <a:endParaRPr lang="en-CN" sz="1050" dirty="0"/>
            </a:p>
          </p:txBody>
        </p:sp>
        <p:sp>
          <p:nvSpPr>
            <p:cNvPr id="24" name="Rectangle 23">
              <a:extLst>
                <a:ext uri="{FF2B5EF4-FFF2-40B4-BE49-F238E27FC236}">
                  <a16:creationId xmlns:a16="http://schemas.microsoft.com/office/drawing/2014/main" id="{05258128-3F88-2342-A860-65BA8830C03C}"/>
                </a:ext>
              </a:extLst>
            </p:cNvPr>
            <p:cNvSpPr/>
            <p:nvPr/>
          </p:nvSpPr>
          <p:spPr>
            <a:xfrm>
              <a:off x="3745189" y="4224831"/>
              <a:ext cx="792088"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US" sz="1050" dirty="0">
                  <a:solidFill>
                    <a:srgbClr val="000000"/>
                  </a:solidFill>
                </a:rPr>
                <a:t>新</a:t>
              </a:r>
              <a:r>
                <a:rPr lang="en-US" altLang="zh-CN" sz="1050" dirty="0" err="1">
                  <a:solidFill>
                    <a:srgbClr val="000000"/>
                  </a:solidFill>
                </a:rPr>
                <a:t>inode</a:t>
              </a:r>
              <a:r>
                <a:rPr lang="zh-CN" altLang="en-US" sz="1050" dirty="0">
                  <a:solidFill>
                    <a:srgbClr val="000000"/>
                  </a:solidFill>
                </a:rPr>
                <a:t>所在块的数据</a:t>
              </a:r>
              <a:endParaRPr lang="en-CN" sz="1050" dirty="0">
                <a:solidFill>
                  <a:srgbClr val="000000"/>
                </a:solidFill>
              </a:endParaRPr>
            </a:p>
          </p:txBody>
        </p:sp>
        <p:cxnSp>
          <p:nvCxnSpPr>
            <p:cNvPr id="25" name="Straight Connector 24">
              <a:extLst>
                <a:ext uri="{FF2B5EF4-FFF2-40B4-BE49-F238E27FC236}">
                  <a16:creationId xmlns:a16="http://schemas.microsoft.com/office/drawing/2014/main" id="{4AEBF367-FACF-5F41-9C29-0977D5AEAC8C}"/>
                </a:ext>
              </a:extLst>
            </p:cNvPr>
            <p:cNvCxnSpPr/>
            <p:nvPr/>
          </p:nvCxnSpPr>
          <p:spPr>
            <a:xfrm>
              <a:off x="2553817" y="4225032"/>
              <a:ext cx="475252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1E1BBE1A-9C6C-1C4B-BD1F-889D99CBE4FE}"/>
                </a:ext>
              </a:extLst>
            </p:cNvPr>
            <p:cNvCxnSpPr/>
            <p:nvPr/>
          </p:nvCxnSpPr>
          <p:spPr>
            <a:xfrm>
              <a:off x="2553817" y="4729708"/>
              <a:ext cx="4752528" cy="0"/>
            </a:xfrm>
            <a:prstGeom prst="line">
              <a:avLst/>
            </a:prstGeom>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36B012E5-A246-244E-A9CF-DC1FC301A2FB}"/>
                </a:ext>
              </a:extLst>
            </p:cNvPr>
            <p:cNvSpPr/>
            <p:nvPr/>
          </p:nvSpPr>
          <p:spPr>
            <a:xfrm>
              <a:off x="2049761" y="4225032"/>
              <a:ext cx="504056"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日志开始</a:t>
              </a:r>
              <a:endParaRPr lang="en-CN" sz="1050" dirty="0"/>
            </a:p>
          </p:txBody>
        </p:sp>
        <p:sp>
          <p:nvSpPr>
            <p:cNvPr id="28" name="Rectangle 27">
              <a:extLst>
                <a:ext uri="{FF2B5EF4-FFF2-40B4-BE49-F238E27FC236}">
                  <a16:creationId xmlns:a16="http://schemas.microsoft.com/office/drawing/2014/main" id="{345A4313-5753-9443-B5CA-9C44C8158012}"/>
                </a:ext>
              </a:extLst>
            </p:cNvPr>
            <p:cNvSpPr/>
            <p:nvPr/>
          </p:nvSpPr>
          <p:spPr>
            <a:xfrm>
              <a:off x="5542684" y="4224629"/>
              <a:ext cx="504056"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日志提交</a:t>
              </a:r>
              <a:endParaRPr lang="en-CN" sz="1050" dirty="0"/>
            </a:p>
          </p:txBody>
        </p:sp>
        <p:sp>
          <p:nvSpPr>
            <p:cNvPr id="29" name="Rectangle 28">
              <a:extLst>
                <a:ext uri="{FF2B5EF4-FFF2-40B4-BE49-F238E27FC236}">
                  <a16:creationId xmlns:a16="http://schemas.microsoft.com/office/drawing/2014/main" id="{C43983D3-4EE5-D041-A483-EE1FA44D3FF7}"/>
                </a:ext>
              </a:extLst>
            </p:cNvPr>
            <p:cNvSpPr/>
            <p:nvPr/>
          </p:nvSpPr>
          <p:spPr>
            <a:xfrm>
              <a:off x="4750596" y="4224629"/>
              <a:ext cx="792088"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CN" sz="1050" dirty="0">
                  <a:solidFill>
                    <a:srgbClr val="000000"/>
                  </a:solidFill>
                </a:rPr>
                <a:t>目录项</a:t>
              </a:r>
              <a:r>
                <a:rPr lang="zh-CN" altLang="en-US" sz="1050" dirty="0">
                  <a:solidFill>
                    <a:srgbClr val="000000"/>
                  </a:solidFill>
                </a:rPr>
                <a:t>写入后的块的数据</a:t>
              </a:r>
              <a:endParaRPr lang="en-CN" sz="1050" dirty="0">
                <a:solidFill>
                  <a:srgbClr val="000000"/>
                </a:solidFill>
              </a:endParaRPr>
            </a:p>
          </p:txBody>
        </p:sp>
        <p:sp>
          <p:nvSpPr>
            <p:cNvPr id="30" name="Rectangle 29">
              <a:extLst>
                <a:ext uri="{FF2B5EF4-FFF2-40B4-BE49-F238E27FC236}">
                  <a16:creationId xmlns:a16="http://schemas.microsoft.com/office/drawing/2014/main" id="{E7725350-AEF7-8F40-8001-CC25386C05A3}"/>
                </a:ext>
              </a:extLst>
            </p:cNvPr>
            <p:cNvSpPr/>
            <p:nvPr/>
          </p:nvSpPr>
          <p:spPr>
            <a:xfrm>
              <a:off x="2553817" y="4225435"/>
              <a:ext cx="207640" cy="5038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sp>
          <p:nvSpPr>
            <p:cNvPr id="31" name="Rectangle 30">
              <a:extLst>
                <a:ext uri="{FF2B5EF4-FFF2-40B4-BE49-F238E27FC236}">
                  <a16:creationId xmlns:a16="http://schemas.microsoft.com/office/drawing/2014/main" id="{0F65C8FB-871F-B74A-BF47-946818028824}"/>
                </a:ext>
              </a:extLst>
            </p:cNvPr>
            <p:cNvSpPr/>
            <p:nvPr/>
          </p:nvSpPr>
          <p:spPr>
            <a:xfrm>
              <a:off x="3536228" y="4225607"/>
              <a:ext cx="207640" cy="5038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sp>
          <p:nvSpPr>
            <p:cNvPr id="32" name="Rectangle 31">
              <a:extLst>
                <a:ext uri="{FF2B5EF4-FFF2-40B4-BE49-F238E27FC236}">
                  <a16:creationId xmlns:a16="http://schemas.microsoft.com/office/drawing/2014/main" id="{BF158E7F-0CC9-E24D-AC75-BD2A6353B9E2}"/>
                </a:ext>
              </a:extLst>
            </p:cNvPr>
            <p:cNvSpPr/>
            <p:nvPr/>
          </p:nvSpPr>
          <p:spPr>
            <a:xfrm>
              <a:off x="4541532" y="4225810"/>
              <a:ext cx="207640" cy="5038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sp>
          <p:nvSpPr>
            <p:cNvPr id="33" name="TextBox 32">
              <a:extLst>
                <a:ext uri="{FF2B5EF4-FFF2-40B4-BE49-F238E27FC236}">
                  <a16:creationId xmlns:a16="http://schemas.microsoft.com/office/drawing/2014/main" id="{81D1A9AB-4A12-BD49-8D16-0D89FE0FC56F}"/>
                </a:ext>
              </a:extLst>
            </p:cNvPr>
            <p:cNvSpPr txBox="1"/>
            <p:nvPr/>
          </p:nvSpPr>
          <p:spPr>
            <a:xfrm>
              <a:off x="1160856" y="4359973"/>
              <a:ext cx="646331" cy="369332"/>
            </a:xfrm>
            <a:prstGeom prst="rect">
              <a:avLst/>
            </a:prstGeom>
            <a:noFill/>
          </p:spPr>
          <p:txBody>
            <a:bodyPr wrap="none" rtlCol="0">
              <a:spAutoFit/>
            </a:bodyPr>
            <a:lstStyle/>
            <a:p>
              <a:r>
                <a:rPr lang="zh-CN" altLang="en-US" dirty="0"/>
                <a:t>磁盘</a:t>
              </a:r>
              <a:endParaRPr lang="en-CN" dirty="0"/>
            </a:p>
          </p:txBody>
        </p:sp>
      </p:grpSp>
    </p:spTree>
    <p:extLst>
      <p:ext uri="{BB962C8B-B14F-4D97-AF65-F5344CB8AC3E}">
        <p14:creationId xmlns:p14="http://schemas.microsoft.com/office/powerpoint/2010/main" val="11813072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75B07-9099-3C41-B2E6-5972347ED29C}"/>
              </a:ext>
            </a:extLst>
          </p:cNvPr>
          <p:cNvSpPr>
            <a:spLocks noGrp="1"/>
          </p:cNvSpPr>
          <p:nvPr>
            <p:ph type="title"/>
          </p:nvPr>
        </p:nvSpPr>
        <p:spPr/>
        <p:txBody>
          <a:bodyPr/>
          <a:lstStyle/>
          <a:p>
            <a:r>
              <a:rPr lang="zh-CN" altLang="en-US" dirty="0"/>
              <a:t>利用内存中的页缓存</a:t>
            </a:r>
            <a:endParaRPr lang="en-CN" dirty="0"/>
          </a:p>
        </p:txBody>
      </p:sp>
      <p:sp>
        <p:nvSpPr>
          <p:cNvPr id="3" name="Content Placeholder 2">
            <a:extLst>
              <a:ext uri="{FF2B5EF4-FFF2-40B4-BE49-F238E27FC236}">
                <a16:creationId xmlns:a16="http://schemas.microsoft.com/office/drawing/2014/main" id="{A83A1F32-C7BA-5240-B922-DE00893F581F}"/>
              </a:ext>
            </a:extLst>
          </p:cNvPr>
          <p:cNvSpPr>
            <a:spLocks noGrp="1"/>
          </p:cNvSpPr>
          <p:nvPr>
            <p:ph idx="1"/>
          </p:nvPr>
        </p:nvSpPr>
        <p:spPr>
          <a:xfrm>
            <a:off x="457199" y="1333501"/>
            <a:ext cx="7211145" cy="3771636"/>
          </a:xfrm>
        </p:spPr>
        <p:txBody>
          <a:bodyPr>
            <a:normAutofit/>
          </a:bodyPr>
          <a:lstStyle/>
          <a:p>
            <a:pPr marL="0" indent="0">
              <a:buNone/>
            </a:pPr>
            <a:r>
              <a:rPr lang="zh-CN" altLang="en-CN" sz="1600" b="0" dirty="0"/>
              <a:t>在</a:t>
            </a:r>
            <a:r>
              <a:rPr lang="zh-CN" altLang="en-US" sz="1600" b="0" dirty="0"/>
              <a:t>内存中记录日志，异步写入到磁盘中</a:t>
            </a:r>
            <a:endParaRPr lang="en-US" altLang="zh-CN" sz="1600" b="0" dirty="0"/>
          </a:p>
          <a:p>
            <a:pPr marL="0" indent="0">
              <a:buNone/>
            </a:pPr>
            <a:r>
              <a:rPr lang="zh-CN" altLang="en-US" sz="1600" b="0" dirty="0"/>
              <a:t>仅需保证日志提交发生在磁盘数据修改之前</a:t>
            </a:r>
            <a:endParaRPr lang="en-US" altLang="zh-CN" sz="1600" b="0" dirty="0"/>
          </a:p>
          <a:p>
            <a:pPr marL="0" indent="0">
              <a:buNone/>
            </a:pPr>
            <a:r>
              <a:rPr lang="zh-CN" altLang="en-US" sz="1600" b="0" dirty="0"/>
              <a:t>利用内存中的页缓存</a:t>
            </a:r>
            <a:endParaRPr lang="en-US" altLang="zh-CN" sz="1600" b="0" dirty="0"/>
          </a:p>
        </p:txBody>
      </p:sp>
      <p:sp>
        <p:nvSpPr>
          <p:cNvPr id="4" name="Footer Placeholder 3">
            <a:extLst>
              <a:ext uri="{FF2B5EF4-FFF2-40B4-BE49-F238E27FC236}">
                <a16:creationId xmlns:a16="http://schemas.microsoft.com/office/drawing/2014/main" id="{7005B691-E3D5-4240-9E7E-E67E7979363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5" name="Slide Number Placeholder 4">
            <a:extLst>
              <a:ext uri="{FF2B5EF4-FFF2-40B4-BE49-F238E27FC236}">
                <a16:creationId xmlns:a16="http://schemas.microsoft.com/office/drawing/2014/main" id="{443E7816-4275-3348-949B-D247B29DBBDE}"/>
              </a:ext>
            </a:extLst>
          </p:cNvPr>
          <p:cNvSpPr>
            <a:spLocks noGrp="1"/>
          </p:cNvSpPr>
          <p:nvPr>
            <p:ph type="sldNum" sz="quarter" idx="12"/>
          </p:nvPr>
        </p:nvSpPr>
        <p:spPr/>
        <p:txBody>
          <a:bodyPr/>
          <a:lstStyle/>
          <a:p>
            <a:fld id="{ADE361C3-C043-4A6E-BDCE-8DA1E7D90A3B}" type="slidenum">
              <a:rPr lang="zh-CN" altLang="en-US" smtClean="0"/>
              <a:t>24</a:t>
            </a:fld>
            <a:endParaRPr lang="zh-CN" altLang="en-US"/>
          </a:p>
        </p:txBody>
      </p:sp>
      <p:sp>
        <p:nvSpPr>
          <p:cNvPr id="8" name="Rectangle 7">
            <a:extLst>
              <a:ext uri="{FF2B5EF4-FFF2-40B4-BE49-F238E27FC236}">
                <a16:creationId xmlns:a16="http://schemas.microsoft.com/office/drawing/2014/main" id="{AF17B6EE-9199-B441-BCD8-23607022BC86}"/>
              </a:ext>
            </a:extLst>
          </p:cNvPr>
          <p:cNvSpPr/>
          <p:nvPr/>
        </p:nvSpPr>
        <p:spPr>
          <a:xfrm>
            <a:off x="2741206" y="3432324"/>
            <a:ext cx="325460"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CN" sz="1050" dirty="0"/>
              <a:t>块</a:t>
            </a:r>
            <a:r>
              <a:rPr lang="zh-CN" altLang="en-US" sz="1050" dirty="0"/>
              <a:t>指针</a:t>
            </a:r>
            <a:endParaRPr lang="en-CN" sz="1050" dirty="0"/>
          </a:p>
        </p:txBody>
      </p:sp>
      <p:sp>
        <p:nvSpPr>
          <p:cNvPr id="9" name="Rectangle 8">
            <a:extLst>
              <a:ext uri="{FF2B5EF4-FFF2-40B4-BE49-F238E27FC236}">
                <a16:creationId xmlns:a16="http://schemas.microsoft.com/office/drawing/2014/main" id="{F50834FF-82A3-ED45-9D07-58E1517527B4}"/>
              </a:ext>
            </a:extLst>
          </p:cNvPr>
          <p:cNvSpPr/>
          <p:nvPr/>
        </p:nvSpPr>
        <p:spPr>
          <a:xfrm>
            <a:off x="3268793" y="3432324"/>
            <a:ext cx="325460"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US" sz="1050" dirty="0">
                <a:solidFill>
                  <a:srgbClr val="000000"/>
                </a:solidFill>
              </a:rPr>
              <a:t>块指针</a:t>
            </a:r>
            <a:endParaRPr lang="en-CN" sz="1050" dirty="0">
              <a:solidFill>
                <a:srgbClr val="000000"/>
              </a:solidFill>
            </a:endParaRPr>
          </a:p>
        </p:txBody>
      </p:sp>
      <p:cxnSp>
        <p:nvCxnSpPr>
          <p:cNvPr id="11" name="Straight Connector 10">
            <a:extLst>
              <a:ext uri="{FF2B5EF4-FFF2-40B4-BE49-F238E27FC236}">
                <a16:creationId xmlns:a16="http://schemas.microsoft.com/office/drawing/2014/main" id="{1239CDEF-BD3C-1F4F-8FC5-3E699BFBD864}"/>
              </a:ext>
            </a:extLst>
          </p:cNvPr>
          <p:cNvCxnSpPr/>
          <p:nvPr/>
        </p:nvCxnSpPr>
        <p:spPr>
          <a:xfrm>
            <a:off x="2553817" y="3432324"/>
            <a:ext cx="475252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EA58414-EB70-F246-A81A-620440E94B07}"/>
              </a:ext>
            </a:extLst>
          </p:cNvPr>
          <p:cNvCxnSpPr/>
          <p:nvPr/>
        </p:nvCxnSpPr>
        <p:spPr>
          <a:xfrm>
            <a:off x="2553817" y="3937000"/>
            <a:ext cx="4752528"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FA592295-AFDB-E443-B217-4A51245211CC}"/>
              </a:ext>
            </a:extLst>
          </p:cNvPr>
          <p:cNvSpPr/>
          <p:nvPr/>
        </p:nvSpPr>
        <p:spPr>
          <a:xfrm>
            <a:off x="2049761" y="3432324"/>
            <a:ext cx="504056"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日志开始</a:t>
            </a:r>
            <a:endParaRPr lang="en-CN" sz="1050" dirty="0"/>
          </a:p>
        </p:txBody>
      </p:sp>
      <p:sp>
        <p:nvSpPr>
          <p:cNvPr id="16" name="Rectangle 15">
            <a:extLst>
              <a:ext uri="{FF2B5EF4-FFF2-40B4-BE49-F238E27FC236}">
                <a16:creationId xmlns:a16="http://schemas.microsoft.com/office/drawing/2014/main" id="{3868C864-94EB-9E48-998A-F77BFD1ECC6A}"/>
              </a:ext>
            </a:extLst>
          </p:cNvPr>
          <p:cNvSpPr/>
          <p:nvPr/>
        </p:nvSpPr>
        <p:spPr>
          <a:xfrm>
            <a:off x="4137907" y="3432324"/>
            <a:ext cx="504056"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日志提交</a:t>
            </a:r>
            <a:endParaRPr lang="en-CN" sz="1050" dirty="0"/>
          </a:p>
        </p:txBody>
      </p:sp>
      <p:sp>
        <p:nvSpPr>
          <p:cNvPr id="17" name="Rectangle 16">
            <a:extLst>
              <a:ext uri="{FF2B5EF4-FFF2-40B4-BE49-F238E27FC236}">
                <a16:creationId xmlns:a16="http://schemas.microsoft.com/office/drawing/2014/main" id="{77314EC5-AD6A-D14F-9676-D9DF436B8186}"/>
              </a:ext>
            </a:extLst>
          </p:cNvPr>
          <p:cNvSpPr/>
          <p:nvPr/>
        </p:nvSpPr>
        <p:spPr>
          <a:xfrm>
            <a:off x="3811006" y="3431921"/>
            <a:ext cx="325460"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US" sz="1050" dirty="0">
                <a:solidFill>
                  <a:srgbClr val="000000"/>
                </a:solidFill>
              </a:rPr>
              <a:t>块指针</a:t>
            </a:r>
            <a:endParaRPr lang="en-CN" sz="1050" dirty="0">
              <a:solidFill>
                <a:srgbClr val="000000"/>
              </a:solidFill>
            </a:endParaRPr>
          </a:p>
        </p:txBody>
      </p:sp>
      <p:sp>
        <p:nvSpPr>
          <p:cNvPr id="19" name="Rectangle 18">
            <a:extLst>
              <a:ext uri="{FF2B5EF4-FFF2-40B4-BE49-F238E27FC236}">
                <a16:creationId xmlns:a16="http://schemas.microsoft.com/office/drawing/2014/main" id="{64ED7109-4200-7E4B-8230-1EBB402B16C8}"/>
              </a:ext>
            </a:extLst>
          </p:cNvPr>
          <p:cNvSpPr/>
          <p:nvPr/>
        </p:nvSpPr>
        <p:spPr>
          <a:xfrm>
            <a:off x="2553817" y="3432727"/>
            <a:ext cx="207640" cy="5038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sp>
        <p:nvSpPr>
          <p:cNvPr id="20" name="Rectangle 19">
            <a:extLst>
              <a:ext uri="{FF2B5EF4-FFF2-40B4-BE49-F238E27FC236}">
                <a16:creationId xmlns:a16="http://schemas.microsoft.com/office/drawing/2014/main" id="{E010EBEE-5C18-034C-840A-335AF034DF34}"/>
              </a:ext>
            </a:extLst>
          </p:cNvPr>
          <p:cNvSpPr/>
          <p:nvPr/>
        </p:nvSpPr>
        <p:spPr>
          <a:xfrm>
            <a:off x="3059832" y="3433100"/>
            <a:ext cx="207640" cy="5038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sp>
        <p:nvSpPr>
          <p:cNvPr id="21" name="Rectangle 20">
            <a:extLst>
              <a:ext uri="{FF2B5EF4-FFF2-40B4-BE49-F238E27FC236}">
                <a16:creationId xmlns:a16="http://schemas.microsoft.com/office/drawing/2014/main" id="{9E4E1FEC-81CC-4F46-9AF8-6062E7A5A45E}"/>
              </a:ext>
            </a:extLst>
          </p:cNvPr>
          <p:cNvSpPr/>
          <p:nvPr/>
        </p:nvSpPr>
        <p:spPr>
          <a:xfrm>
            <a:off x="3601942" y="3433102"/>
            <a:ext cx="207640" cy="5038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cxnSp>
        <p:nvCxnSpPr>
          <p:cNvPr id="27" name="Straight Connector 26">
            <a:extLst>
              <a:ext uri="{FF2B5EF4-FFF2-40B4-BE49-F238E27FC236}">
                <a16:creationId xmlns:a16="http://schemas.microsoft.com/office/drawing/2014/main" id="{6D2215FC-8F5F-C844-8F0E-E3040B950BEB}"/>
              </a:ext>
            </a:extLst>
          </p:cNvPr>
          <p:cNvCxnSpPr>
            <a:cxnSpLocks/>
          </p:cNvCxnSpPr>
          <p:nvPr/>
        </p:nvCxnSpPr>
        <p:spPr>
          <a:xfrm>
            <a:off x="2049761" y="4433547"/>
            <a:ext cx="525658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D8A1CD9-2EA8-BB47-9FBE-FB33B8576EDF}"/>
              </a:ext>
            </a:extLst>
          </p:cNvPr>
          <p:cNvCxnSpPr>
            <a:cxnSpLocks/>
          </p:cNvCxnSpPr>
          <p:nvPr/>
        </p:nvCxnSpPr>
        <p:spPr>
          <a:xfrm>
            <a:off x="2049761" y="4938223"/>
            <a:ext cx="5256584"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8B6844A5-A106-5D41-9199-2D89EB9FDBDA}"/>
              </a:ext>
            </a:extLst>
          </p:cNvPr>
          <p:cNvSpPr txBox="1"/>
          <p:nvPr/>
        </p:nvSpPr>
        <p:spPr>
          <a:xfrm>
            <a:off x="881876" y="3499593"/>
            <a:ext cx="646331" cy="369332"/>
          </a:xfrm>
          <a:prstGeom prst="rect">
            <a:avLst/>
          </a:prstGeom>
          <a:noFill/>
        </p:spPr>
        <p:txBody>
          <a:bodyPr wrap="none" rtlCol="0">
            <a:spAutoFit/>
          </a:bodyPr>
          <a:lstStyle/>
          <a:p>
            <a:r>
              <a:rPr lang="zh-CN" altLang="en-CN" dirty="0"/>
              <a:t>内存</a:t>
            </a:r>
            <a:endParaRPr lang="en-CN" dirty="0"/>
          </a:p>
        </p:txBody>
      </p:sp>
      <p:sp>
        <p:nvSpPr>
          <p:cNvPr id="22" name="TextBox 21">
            <a:extLst>
              <a:ext uri="{FF2B5EF4-FFF2-40B4-BE49-F238E27FC236}">
                <a16:creationId xmlns:a16="http://schemas.microsoft.com/office/drawing/2014/main" id="{5F5FF836-E5EC-F14A-8DB4-578936E80879}"/>
              </a:ext>
            </a:extLst>
          </p:cNvPr>
          <p:cNvSpPr txBox="1"/>
          <p:nvPr/>
        </p:nvSpPr>
        <p:spPr>
          <a:xfrm>
            <a:off x="881876" y="4555159"/>
            <a:ext cx="646331" cy="369332"/>
          </a:xfrm>
          <a:prstGeom prst="rect">
            <a:avLst/>
          </a:prstGeom>
          <a:noFill/>
        </p:spPr>
        <p:txBody>
          <a:bodyPr wrap="none" rtlCol="0">
            <a:spAutoFit/>
          </a:bodyPr>
          <a:lstStyle/>
          <a:p>
            <a:r>
              <a:rPr lang="zh-CN" altLang="en-US" dirty="0"/>
              <a:t>磁盘</a:t>
            </a:r>
            <a:endParaRPr lang="en-CN" dirty="0"/>
          </a:p>
        </p:txBody>
      </p:sp>
      <p:sp>
        <p:nvSpPr>
          <p:cNvPr id="23" name="Rectangle 22">
            <a:extLst>
              <a:ext uri="{FF2B5EF4-FFF2-40B4-BE49-F238E27FC236}">
                <a16:creationId xmlns:a16="http://schemas.microsoft.com/office/drawing/2014/main" id="{A627E2CE-E5D8-A247-84DE-AD5493AD45CE}"/>
              </a:ext>
            </a:extLst>
          </p:cNvPr>
          <p:cNvSpPr/>
          <p:nvPr/>
        </p:nvSpPr>
        <p:spPr>
          <a:xfrm>
            <a:off x="5364089" y="1129308"/>
            <a:ext cx="2304256" cy="2043287"/>
          </a:xfrm>
          <a:prstGeom prst="rect">
            <a:avLst/>
          </a:prstGeom>
          <a:noFill/>
          <a:ln>
            <a:prstDash val="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050" dirty="0"/>
          </a:p>
        </p:txBody>
      </p:sp>
      <p:sp>
        <p:nvSpPr>
          <p:cNvPr id="6" name="TextBox 5">
            <a:extLst>
              <a:ext uri="{FF2B5EF4-FFF2-40B4-BE49-F238E27FC236}">
                <a16:creationId xmlns:a16="http://schemas.microsoft.com/office/drawing/2014/main" id="{31E7C60C-31DA-FA4D-A7A9-A3A732CD4737}"/>
              </a:ext>
            </a:extLst>
          </p:cNvPr>
          <p:cNvSpPr txBox="1"/>
          <p:nvPr/>
        </p:nvSpPr>
        <p:spPr>
          <a:xfrm>
            <a:off x="5272843" y="808986"/>
            <a:ext cx="800219" cy="338554"/>
          </a:xfrm>
          <a:prstGeom prst="rect">
            <a:avLst/>
          </a:prstGeom>
          <a:noFill/>
        </p:spPr>
        <p:txBody>
          <a:bodyPr wrap="none" rtlCol="0">
            <a:spAutoFit/>
          </a:bodyPr>
          <a:lstStyle/>
          <a:p>
            <a:r>
              <a:rPr lang="zh-CN" altLang="en-CN" sz="1600" dirty="0"/>
              <a:t>页缓存</a:t>
            </a:r>
            <a:endParaRPr lang="en-CN" sz="1600" dirty="0"/>
          </a:p>
        </p:txBody>
      </p:sp>
      <p:sp>
        <p:nvSpPr>
          <p:cNvPr id="24" name="Rectangle 23">
            <a:extLst>
              <a:ext uri="{FF2B5EF4-FFF2-40B4-BE49-F238E27FC236}">
                <a16:creationId xmlns:a16="http://schemas.microsoft.com/office/drawing/2014/main" id="{CD06C7D9-B514-E446-A552-D08D31258730}"/>
              </a:ext>
            </a:extLst>
          </p:cNvPr>
          <p:cNvSpPr/>
          <p:nvPr/>
        </p:nvSpPr>
        <p:spPr>
          <a:xfrm>
            <a:off x="5508104" y="1355524"/>
            <a:ext cx="792088"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CN" sz="1050" dirty="0"/>
              <a:t>修改</a:t>
            </a:r>
            <a:r>
              <a:rPr lang="zh-CN" altLang="en-US" sz="1050" dirty="0"/>
              <a:t>后的</a:t>
            </a:r>
            <a:r>
              <a:rPr lang="en-US" altLang="zh-CN" sz="1050" dirty="0" err="1"/>
              <a:t>inode</a:t>
            </a:r>
            <a:r>
              <a:rPr lang="zh-CN" altLang="en-US" sz="1050" dirty="0"/>
              <a:t>分配表</a:t>
            </a:r>
            <a:endParaRPr lang="en-CN" sz="1050" dirty="0"/>
          </a:p>
        </p:txBody>
      </p:sp>
      <p:sp>
        <p:nvSpPr>
          <p:cNvPr id="25" name="Rectangle 24">
            <a:extLst>
              <a:ext uri="{FF2B5EF4-FFF2-40B4-BE49-F238E27FC236}">
                <a16:creationId xmlns:a16="http://schemas.microsoft.com/office/drawing/2014/main" id="{F6C73994-04C7-5844-85AB-484AC9D6D216}"/>
              </a:ext>
            </a:extLst>
          </p:cNvPr>
          <p:cNvSpPr/>
          <p:nvPr/>
        </p:nvSpPr>
        <p:spPr>
          <a:xfrm>
            <a:off x="6073062" y="2560075"/>
            <a:ext cx="792088"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US" sz="1050" dirty="0">
                <a:solidFill>
                  <a:srgbClr val="000000"/>
                </a:solidFill>
              </a:rPr>
              <a:t>新</a:t>
            </a:r>
            <a:r>
              <a:rPr lang="en-US" altLang="zh-CN" sz="1050" dirty="0" err="1">
                <a:solidFill>
                  <a:srgbClr val="000000"/>
                </a:solidFill>
              </a:rPr>
              <a:t>inode</a:t>
            </a:r>
            <a:r>
              <a:rPr lang="zh-CN" altLang="en-US" sz="1050" dirty="0">
                <a:solidFill>
                  <a:srgbClr val="000000"/>
                </a:solidFill>
              </a:rPr>
              <a:t>所在块的数据</a:t>
            </a:r>
            <a:endParaRPr lang="en-CN" sz="1050" dirty="0">
              <a:solidFill>
                <a:srgbClr val="000000"/>
              </a:solidFill>
            </a:endParaRPr>
          </a:p>
        </p:txBody>
      </p:sp>
      <p:sp>
        <p:nvSpPr>
          <p:cNvPr id="26" name="Rectangle 25">
            <a:extLst>
              <a:ext uri="{FF2B5EF4-FFF2-40B4-BE49-F238E27FC236}">
                <a16:creationId xmlns:a16="http://schemas.microsoft.com/office/drawing/2014/main" id="{421B53B1-2F4B-5945-AC43-A1F05DD1E2A1}"/>
              </a:ext>
            </a:extLst>
          </p:cNvPr>
          <p:cNvSpPr/>
          <p:nvPr/>
        </p:nvSpPr>
        <p:spPr>
          <a:xfrm>
            <a:off x="6469106" y="1962419"/>
            <a:ext cx="792088"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CN" sz="1050" dirty="0">
                <a:solidFill>
                  <a:srgbClr val="000000"/>
                </a:solidFill>
              </a:rPr>
              <a:t>目录项</a:t>
            </a:r>
            <a:r>
              <a:rPr lang="zh-CN" altLang="en-US" sz="1050" dirty="0">
                <a:solidFill>
                  <a:srgbClr val="000000"/>
                </a:solidFill>
              </a:rPr>
              <a:t>写入后的块的数据</a:t>
            </a:r>
            <a:endParaRPr lang="en-CN" sz="1050" dirty="0">
              <a:solidFill>
                <a:srgbClr val="000000"/>
              </a:solidFill>
            </a:endParaRPr>
          </a:p>
        </p:txBody>
      </p:sp>
      <p:cxnSp>
        <p:nvCxnSpPr>
          <p:cNvPr id="13" name="Curved Connector 12">
            <a:extLst>
              <a:ext uri="{FF2B5EF4-FFF2-40B4-BE49-F238E27FC236}">
                <a16:creationId xmlns:a16="http://schemas.microsoft.com/office/drawing/2014/main" id="{1921B267-CAE2-0349-824A-3AA4D6AC0BB9}"/>
              </a:ext>
            </a:extLst>
          </p:cNvPr>
          <p:cNvCxnSpPr>
            <a:stCxn id="8" idx="0"/>
            <a:endCxn id="24" idx="1"/>
          </p:cNvCxnSpPr>
          <p:nvPr/>
        </p:nvCxnSpPr>
        <p:spPr>
          <a:xfrm rot="5400000" flipH="1" flipV="1">
            <a:off x="3293789" y="1218009"/>
            <a:ext cx="1824462" cy="2604168"/>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Curved Connector 28">
            <a:extLst>
              <a:ext uri="{FF2B5EF4-FFF2-40B4-BE49-F238E27FC236}">
                <a16:creationId xmlns:a16="http://schemas.microsoft.com/office/drawing/2014/main" id="{ED8F6534-3FAA-D94A-BEDF-F205FFEABDA3}"/>
              </a:ext>
            </a:extLst>
          </p:cNvPr>
          <p:cNvCxnSpPr>
            <a:cxnSpLocks/>
            <a:stCxn id="9" idx="0"/>
            <a:endCxn id="26" idx="1"/>
          </p:cNvCxnSpPr>
          <p:nvPr/>
        </p:nvCxnSpPr>
        <p:spPr>
          <a:xfrm rot="5400000" flipH="1" flipV="1">
            <a:off x="4341531" y="1304750"/>
            <a:ext cx="1217567" cy="303758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Curved Connector 30">
            <a:extLst>
              <a:ext uri="{FF2B5EF4-FFF2-40B4-BE49-F238E27FC236}">
                <a16:creationId xmlns:a16="http://schemas.microsoft.com/office/drawing/2014/main" id="{7BAAEA6D-BB50-E14D-83AB-FD935E0301DB}"/>
              </a:ext>
            </a:extLst>
          </p:cNvPr>
          <p:cNvCxnSpPr>
            <a:cxnSpLocks/>
            <a:stCxn id="17" idx="0"/>
            <a:endCxn id="25" idx="1"/>
          </p:cNvCxnSpPr>
          <p:nvPr/>
        </p:nvCxnSpPr>
        <p:spPr>
          <a:xfrm rot="5400000" flipH="1" flipV="1">
            <a:off x="4713645" y="2072504"/>
            <a:ext cx="619508" cy="2099326"/>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CF2926FE-97CB-6842-BB41-98F195D4FF97}"/>
              </a:ext>
            </a:extLst>
          </p:cNvPr>
          <p:cNvSpPr/>
          <p:nvPr/>
        </p:nvSpPr>
        <p:spPr>
          <a:xfrm>
            <a:off x="5330507" y="3431469"/>
            <a:ext cx="325460"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CN" sz="1050" dirty="0"/>
              <a:t>块</a:t>
            </a:r>
            <a:r>
              <a:rPr lang="zh-CN" altLang="en-US" sz="1050" dirty="0"/>
              <a:t>指针</a:t>
            </a:r>
            <a:endParaRPr lang="en-CN" sz="1050" dirty="0"/>
          </a:p>
        </p:txBody>
      </p:sp>
      <p:sp>
        <p:nvSpPr>
          <p:cNvPr id="36" name="Rectangle 35">
            <a:extLst>
              <a:ext uri="{FF2B5EF4-FFF2-40B4-BE49-F238E27FC236}">
                <a16:creationId xmlns:a16="http://schemas.microsoft.com/office/drawing/2014/main" id="{FA2C40D1-F5BB-B047-A715-9307BDBC12BD}"/>
              </a:ext>
            </a:extLst>
          </p:cNvPr>
          <p:cNvSpPr/>
          <p:nvPr/>
        </p:nvSpPr>
        <p:spPr>
          <a:xfrm>
            <a:off x="5858094" y="3431469"/>
            <a:ext cx="325460"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US" sz="1050" dirty="0">
                <a:solidFill>
                  <a:srgbClr val="000000"/>
                </a:solidFill>
              </a:rPr>
              <a:t>块指针</a:t>
            </a:r>
            <a:endParaRPr lang="en-CN" sz="1050" dirty="0">
              <a:solidFill>
                <a:srgbClr val="000000"/>
              </a:solidFill>
            </a:endParaRPr>
          </a:p>
        </p:txBody>
      </p:sp>
      <p:sp>
        <p:nvSpPr>
          <p:cNvPr id="37" name="Rectangle 36">
            <a:extLst>
              <a:ext uri="{FF2B5EF4-FFF2-40B4-BE49-F238E27FC236}">
                <a16:creationId xmlns:a16="http://schemas.microsoft.com/office/drawing/2014/main" id="{D8F2A2AE-163A-9D45-BD63-52E4F4243B93}"/>
              </a:ext>
            </a:extLst>
          </p:cNvPr>
          <p:cNvSpPr/>
          <p:nvPr/>
        </p:nvSpPr>
        <p:spPr>
          <a:xfrm>
            <a:off x="4639062" y="3431469"/>
            <a:ext cx="504056"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日志开始</a:t>
            </a:r>
            <a:endParaRPr lang="en-CN" sz="1050" dirty="0"/>
          </a:p>
        </p:txBody>
      </p:sp>
      <p:sp>
        <p:nvSpPr>
          <p:cNvPr id="38" name="Rectangle 37">
            <a:extLst>
              <a:ext uri="{FF2B5EF4-FFF2-40B4-BE49-F238E27FC236}">
                <a16:creationId xmlns:a16="http://schemas.microsoft.com/office/drawing/2014/main" id="{25537AE6-D589-A347-86AF-FB41733CE606}"/>
              </a:ext>
            </a:extLst>
          </p:cNvPr>
          <p:cNvSpPr/>
          <p:nvPr/>
        </p:nvSpPr>
        <p:spPr>
          <a:xfrm>
            <a:off x="6185484" y="3431067"/>
            <a:ext cx="504056"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日志提交</a:t>
            </a:r>
            <a:endParaRPr lang="en-CN" sz="1050" dirty="0"/>
          </a:p>
        </p:txBody>
      </p:sp>
      <p:sp>
        <p:nvSpPr>
          <p:cNvPr id="40" name="Rectangle 39">
            <a:extLst>
              <a:ext uri="{FF2B5EF4-FFF2-40B4-BE49-F238E27FC236}">
                <a16:creationId xmlns:a16="http://schemas.microsoft.com/office/drawing/2014/main" id="{F19B93AD-B16C-2F4F-B473-D20FE76D2295}"/>
              </a:ext>
            </a:extLst>
          </p:cNvPr>
          <p:cNvSpPr/>
          <p:nvPr/>
        </p:nvSpPr>
        <p:spPr>
          <a:xfrm>
            <a:off x="5143118" y="3431872"/>
            <a:ext cx="207640" cy="5038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sp>
        <p:nvSpPr>
          <p:cNvPr id="41" name="Rectangle 40">
            <a:extLst>
              <a:ext uri="{FF2B5EF4-FFF2-40B4-BE49-F238E27FC236}">
                <a16:creationId xmlns:a16="http://schemas.microsoft.com/office/drawing/2014/main" id="{208D4C7B-4F25-204A-A558-D13DA1CC47A9}"/>
              </a:ext>
            </a:extLst>
          </p:cNvPr>
          <p:cNvSpPr/>
          <p:nvPr/>
        </p:nvSpPr>
        <p:spPr>
          <a:xfrm>
            <a:off x="5649133" y="3432245"/>
            <a:ext cx="207640" cy="5038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sp>
        <p:nvSpPr>
          <p:cNvPr id="33" name="TextBox 32">
            <a:extLst>
              <a:ext uri="{FF2B5EF4-FFF2-40B4-BE49-F238E27FC236}">
                <a16:creationId xmlns:a16="http://schemas.microsoft.com/office/drawing/2014/main" id="{94CAB842-54B6-524A-B551-D29CE3FF9471}"/>
              </a:ext>
            </a:extLst>
          </p:cNvPr>
          <p:cNvSpPr txBox="1"/>
          <p:nvPr/>
        </p:nvSpPr>
        <p:spPr>
          <a:xfrm>
            <a:off x="6748880" y="3449625"/>
            <a:ext cx="646331" cy="369332"/>
          </a:xfrm>
          <a:prstGeom prst="rect">
            <a:avLst/>
          </a:prstGeom>
          <a:noFill/>
        </p:spPr>
        <p:txBody>
          <a:bodyPr wrap="none" rtlCol="0">
            <a:spAutoFit/>
          </a:bodyPr>
          <a:lstStyle/>
          <a:p>
            <a:r>
              <a:rPr lang="en-US" altLang="zh-CN" dirty="0"/>
              <a:t>……</a:t>
            </a:r>
            <a:endParaRPr lang="en-CN" dirty="0"/>
          </a:p>
        </p:txBody>
      </p:sp>
    </p:spTree>
    <p:extLst>
      <p:ext uri="{BB962C8B-B14F-4D97-AF65-F5344CB8AC3E}">
        <p14:creationId xmlns:p14="http://schemas.microsoft.com/office/powerpoint/2010/main" val="20391047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75B07-9099-3C41-B2E6-5972347ED29C}"/>
              </a:ext>
            </a:extLst>
          </p:cNvPr>
          <p:cNvSpPr>
            <a:spLocks noGrp="1"/>
          </p:cNvSpPr>
          <p:nvPr>
            <p:ph type="title"/>
          </p:nvPr>
        </p:nvSpPr>
        <p:spPr/>
        <p:txBody>
          <a:bodyPr/>
          <a:lstStyle/>
          <a:p>
            <a:r>
              <a:rPr lang="zh-CN" altLang="en-US" dirty="0"/>
              <a:t>利用内存中的页缓存</a:t>
            </a:r>
            <a:endParaRPr lang="en-CN" dirty="0"/>
          </a:p>
        </p:txBody>
      </p:sp>
      <p:sp>
        <p:nvSpPr>
          <p:cNvPr id="3" name="Content Placeholder 2">
            <a:extLst>
              <a:ext uri="{FF2B5EF4-FFF2-40B4-BE49-F238E27FC236}">
                <a16:creationId xmlns:a16="http://schemas.microsoft.com/office/drawing/2014/main" id="{A83A1F32-C7BA-5240-B922-DE00893F581F}"/>
              </a:ext>
            </a:extLst>
          </p:cNvPr>
          <p:cNvSpPr>
            <a:spLocks noGrp="1"/>
          </p:cNvSpPr>
          <p:nvPr>
            <p:ph idx="1"/>
          </p:nvPr>
        </p:nvSpPr>
        <p:spPr>
          <a:xfrm>
            <a:off x="457199" y="1333501"/>
            <a:ext cx="7211145" cy="3771636"/>
          </a:xfrm>
        </p:spPr>
        <p:txBody>
          <a:bodyPr>
            <a:normAutofit/>
          </a:bodyPr>
          <a:lstStyle/>
          <a:p>
            <a:pPr marL="0" indent="0">
              <a:buNone/>
            </a:pPr>
            <a:r>
              <a:rPr lang="zh-CN" altLang="en-CN" sz="1600" b="0" dirty="0"/>
              <a:t>在</a:t>
            </a:r>
            <a:r>
              <a:rPr lang="zh-CN" altLang="en-US" sz="1600" b="0" dirty="0"/>
              <a:t>内存中记录日志，异步写入到磁盘中</a:t>
            </a:r>
            <a:endParaRPr lang="en-US" altLang="zh-CN" sz="1600" b="0" dirty="0"/>
          </a:p>
          <a:p>
            <a:pPr marL="0" indent="0">
              <a:buNone/>
            </a:pPr>
            <a:r>
              <a:rPr lang="zh-CN" altLang="en-US" sz="1600" b="0" dirty="0"/>
              <a:t>仅需保证日志提交发生在磁盘数据修改之前</a:t>
            </a:r>
            <a:endParaRPr lang="en-US" altLang="zh-CN" sz="1600" b="0" dirty="0"/>
          </a:p>
          <a:p>
            <a:pPr marL="0" indent="0">
              <a:buNone/>
            </a:pPr>
            <a:r>
              <a:rPr lang="zh-CN" altLang="en-US" sz="1600" b="0" dirty="0"/>
              <a:t>利用内存中的页缓存</a:t>
            </a:r>
            <a:endParaRPr lang="en-US" altLang="zh-CN" sz="1600" b="0" dirty="0"/>
          </a:p>
        </p:txBody>
      </p:sp>
      <p:sp>
        <p:nvSpPr>
          <p:cNvPr id="4" name="Footer Placeholder 3">
            <a:extLst>
              <a:ext uri="{FF2B5EF4-FFF2-40B4-BE49-F238E27FC236}">
                <a16:creationId xmlns:a16="http://schemas.microsoft.com/office/drawing/2014/main" id="{7005B691-E3D5-4240-9E7E-E67E7979363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5" name="Slide Number Placeholder 4">
            <a:extLst>
              <a:ext uri="{FF2B5EF4-FFF2-40B4-BE49-F238E27FC236}">
                <a16:creationId xmlns:a16="http://schemas.microsoft.com/office/drawing/2014/main" id="{443E7816-4275-3348-949B-D247B29DBBDE}"/>
              </a:ext>
            </a:extLst>
          </p:cNvPr>
          <p:cNvSpPr>
            <a:spLocks noGrp="1"/>
          </p:cNvSpPr>
          <p:nvPr>
            <p:ph type="sldNum" sz="quarter" idx="12"/>
          </p:nvPr>
        </p:nvSpPr>
        <p:spPr/>
        <p:txBody>
          <a:bodyPr/>
          <a:lstStyle/>
          <a:p>
            <a:fld id="{ADE361C3-C043-4A6E-BDCE-8DA1E7D90A3B}" type="slidenum">
              <a:rPr lang="zh-CN" altLang="en-US" smtClean="0"/>
              <a:t>25</a:t>
            </a:fld>
            <a:endParaRPr lang="zh-CN" altLang="en-US"/>
          </a:p>
        </p:txBody>
      </p:sp>
      <p:sp>
        <p:nvSpPr>
          <p:cNvPr id="8" name="Rectangle 7">
            <a:extLst>
              <a:ext uri="{FF2B5EF4-FFF2-40B4-BE49-F238E27FC236}">
                <a16:creationId xmlns:a16="http://schemas.microsoft.com/office/drawing/2014/main" id="{AF17B6EE-9199-B441-BCD8-23607022BC86}"/>
              </a:ext>
            </a:extLst>
          </p:cNvPr>
          <p:cNvSpPr/>
          <p:nvPr/>
        </p:nvSpPr>
        <p:spPr>
          <a:xfrm>
            <a:off x="2741206" y="3432324"/>
            <a:ext cx="325460" cy="504676"/>
          </a:xfrm>
          <a:prstGeom prst="rect">
            <a:avLst/>
          </a:prstGeom>
          <a:ln>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CN" sz="1050" dirty="0"/>
              <a:t>块</a:t>
            </a:r>
            <a:r>
              <a:rPr lang="zh-CN" altLang="en-US" sz="1050" dirty="0"/>
              <a:t>指针</a:t>
            </a:r>
            <a:endParaRPr lang="en-CN" sz="1050" dirty="0"/>
          </a:p>
        </p:txBody>
      </p:sp>
      <p:sp>
        <p:nvSpPr>
          <p:cNvPr id="9" name="Rectangle 8">
            <a:extLst>
              <a:ext uri="{FF2B5EF4-FFF2-40B4-BE49-F238E27FC236}">
                <a16:creationId xmlns:a16="http://schemas.microsoft.com/office/drawing/2014/main" id="{F50834FF-82A3-ED45-9D07-58E1517527B4}"/>
              </a:ext>
            </a:extLst>
          </p:cNvPr>
          <p:cNvSpPr/>
          <p:nvPr/>
        </p:nvSpPr>
        <p:spPr>
          <a:xfrm>
            <a:off x="3268793" y="3432324"/>
            <a:ext cx="325460" cy="504676"/>
          </a:xfrm>
          <a:prstGeom prst="rect">
            <a:avLst/>
          </a:prstGeom>
          <a:ln>
            <a:prstDash val="sysDash"/>
          </a:ln>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US" sz="1050" dirty="0">
                <a:solidFill>
                  <a:srgbClr val="000000"/>
                </a:solidFill>
              </a:rPr>
              <a:t>块指针</a:t>
            </a:r>
            <a:endParaRPr lang="en-CN" sz="1050" dirty="0">
              <a:solidFill>
                <a:srgbClr val="000000"/>
              </a:solidFill>
            </a:endParaRPr>
          </a:p>
        </p:txBody>
      </p:sp>
      <p:cxnSp>
        <p:nvCxnSpPr>
          <p:cNvPr id="11" name="Straight Connector 10">
            <a:extLst>
              <a:ext uri="{FF2B5EF4-FFF2-40B4-BE49-F238E27FC236}">
                <a16:creationId xmlns:a16="http://schemas.microsoft.com/office/drawing/2014/main" id="{1239CDEF-BD3C-1F4F-8FC5-3E699BFBD864}"/>
              </a:ext>
            </a:extLst>
          </p:cNvPr>
          <p:cNvCxnSpPr/>
          <p:nvPr/>
        </p:nvCxnSpPr>
        <p:spPr>
          <a:xfrm>
            <a:off x="2553817" y="3432324"/>
            <a:ext cx="475252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EA58414-EB70-F246-A81A-620440E94B07}"/>
              </a:ext>
            </a:extLst>
          </p:cNvPr>
          <p:cNvCxnSpPr/>
          <p:nvPr/>
        </p:nvCxnSpPr>
        <p:spPr>
          <a:xfrm>
            <a:off x="2553817" y="3937000"/>
            <a:ext cx="4752528"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FA592295-AFDB-E443-B217-4A51245211CC}"/>
              </a:ext>
            </a:extLst>
          </p:cNvPr>
          <p:cNvSpPr/>
          <p:nvPr/>
        </p:nvSpPr>
        <p:spPr>
          <a:xfrm>
            <a:off x="2049761" y="3432324"/>
            <a:ext cx="504056" cy="504676"/>
          </a:xfrm>
          <a:prstGeom prst="rect">
            <a:avLst/>
          </a:prstGeom>
          <a:ln>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日志开始</a:t>
            </a:r>
            <a:endParaRPr lang="en-CN" sz="1050" dirty="0"/>
          </a:p>
        </p:txBody>
      </p:sp>
      <p:sp>
        <p:nvSpPr>
          <p:cNvPr id="16" name="Rectangle 15">
            <a:extLst>
              <a:ext uri="{FF2B5EF4-FFF2-40B4-BE49-F238E27FC236}">
                <a16:creationId xmlns:a16="http://schemas.microsoft.com/office/drawing/2014/main" id="{3868C864-94EB-9E48-998A-F77BFD1ECC6A}"/>
              </a:ext>
            </a:extLst>
          </p:cNvPr>
          <p:cNvSpPr/>
          <p:nvPr/>
        </p:nvSpPr>
        <p:spPr>
          <a:xfrm>
            <a:off x="4137907" y="3432324"/>
            <a:ext cx="504056" cy="504676"/>
          </a:xfrm>
          <a:prstGeom prst="rect">
            <a:avLst/>
          </a:prstGeom>
          <a:ln>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日志提交</a:t>
            </a:r>
            <a:endParaRPr lang="en-CN" sz="1050" dirty="0"/>
          </a:p>
        </p:txBody>
      </p:sp>
      <p:sp>
        <p:nvSpPr>
          <p:cNvPr id="17" name="Rectangle 16">
            <a:extLst>
              <a:ext uri="{FF2B5EF4-FFF2-40B4-BE49-F238E27FC236}">
                <a16:creationId xmlns:a16="http://schemas.microsoft.com/office/drawing/2014/main" id="{77314EC5-AD6A-D14F-9676-D9DF436B8186}"/>
              </a:ext>
            </a:extLst>
          </p:cNvPr>
          <p:cNvSpPr/>
          <p:nvPr/>
        </p:nvSpPr>
        <p:spPr>
          <a:xfrm>
            <a:off x="3811006" y="3431921"/>
            <a:ext cx="325460" cy="504676"/>
          </a:xfrm>
          <a:prstGeom prst="rect">
            <a:avLst/>
          </a:prstGeom>
          <a:ln>
            <a:prstDash val="sysDash"/>
          </a:ln>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US" sz="1050" dirty="0">
                <a:solidFill>
                  <a:srgbClr val="000000"/>
                </a:solidFill>
              </a:rPr>
              <a:t>块指针</a:t>
            </a:r>
            <a:endParaRPr lang="en-CN" sz="1050" dirty="0">
              <a:solidFill>
                <a:srgbClr val="000000"/>
              </a:solidFill>
            </a:endParaRPr>
          </a:p>
        </p:txBody>
      </p:sp>
      <p:sp>
        <p:nvSpPr>
          <p:cNvPr id="19" name="Rectangle 18">
            <a:extLst>
              <a:ext uri="{FF2B5EF4-FFF2-40B4-BE49-F238E27FC236}">
                <a16:creationId xmlns:a16="http://schemas.microsoft.com/office/drawing/2014/main" id="{64ED7109-4200-7E4B-8230-1EBB402B16C8}"/>
              </a:ext>
            </a:extLst>
          </p:cNvPr>
          <p:cNvSpPr/>
          <p:nvPr/>
        </p:nvSpPr>
        <p:spPr>
          <a:xfrm>
            <a:off x="2553817" y="3432727"/>
            <a:ext cx="207640" cy="503870"/>
          </a:xfrm>
          <a:prstGeom prst="rect">
            <a:avLst/>
          </a:prstGeom>
          <a:ln>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sp>
        <p:nvSpPr>
          <p:cNvPr id="20" name="Rectangle 19">
            <a:extLst>
              <a:ext uri="{FF2B5EF4-FFF2-40B4-BE49-F238E27FC236}">
                <a16:creationId xmlns:a16="http://schemas.microsoft.com/office/drawing/2014/main" id="{E010EBEE-5C18-034C-840A-335AF034DF34}"/>
              </a:ext>
            </a:extLst>
          </p:cNvPr>
          <p:cNvSpPr/>
          <p:nvPr/>
        </p:nvSpPr>
        <p:spPr>
          <a:xfrm>
            <a:off x="3059832" y="3433100"/>
            <a:ext cx="207640" cy="503870"/>
          </a:xfrm>
          <a:prstGeom prst="rect">
            <a:avLst/>
          </a:prstGeom>
          <a:ln>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sp>
        <p:nvSpPr>
          <p:cNvPr id="21" name="Rectangle 20">
            <a:extLst>
              <a:ext uri="{FF2B5EF4-FFF2-40B4-BE49-F238E27FC236}">
                <a16:creationId xmlns:a16="http://schemas.microsoft.com/office/drawing/2014/main" id="{9E4E1FEC-81CC-4F46-9AF8-6062E7A5A45E}"/>
              </a:ext>
            </a:extLst>
          </p:cNvPr>
          <p:cNvSpPr/>
          <p:nvPr/>
        </p:nvSpPr>
        <p:spPr>
          <a:xfrm>
            <a:off x="3601942" y="3433102"/>
            <a:ext cx="207640" cy="503870"/>
          </a:xfrm>
          <a:prstGeom prst="rect">
            <a:avLst/>
          </a:prstGeom>
          <a:ln>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cxnSp>
        <p:nvCxnSpPr>
          <p:cNvPr id="27" name="Straight Connector 26">
            <a:extLst>
              <a:ext uri="{FF2B5EF4-FFF2-40B4-BE49-F238E27FC236}">
                <a16:creationId xmlns:a16="http://schemas.microsoft.com/office/drawing/2014/main" id="{6D2215FC-8F5F-C844-8F0E-E3040B950BEB}"/>
              </a:ext>
            </a:extLst>
          </p:cNvPr>
          <p:cNvCxnSpPr>
            <a:cxnSpLocks/>
          </p:cNvCxnSpPr>
          <p:nvPr/>
        </p:nvCxnSpPr>
        <p:spPr>
          <a:xfrm>
            <a:off x="2049761" y="4433547"/>
            <a:ext cx="525658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D8A1CD9-2EA8-BB47-9FBE-FB33B8576EDF}"/>
              </a:ext>
            </a:extLst>
          </p:cNvPr>
          <p:cNvCxnSpPr>
            <a:cxnSpLocks/>
          </p:cNvCxnSpPr>
          <p:nvPr/>
        </p:nvCxnSpPr>
        <p:spPr>
          <a:xfrm>
            <a:off x="2049761" y="4938223"/>
            <a:ext cx="5256584"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8B6844A5-A106-5D41-9199-2D89EB9FDBDA}"/>
              </a:ext>
            </a:extLst>
          </p:cNvPr>
          <p:cNvSpPr txBox="1"/>
          <p:nvPr/>
        </p:nvSpPr>
        <p:spPr>
          <a:xfrm>
            <a:off x="881876" y="3499593"/>
            <a:ext cx="646331" cy="369332"/>
          </a:xfrm>
          <a:prstGeom prst="rect">
            <a:avLst/>
          </a:prstGeom>
          <a:noFill/>
        </p:spPr>
        <p:txBody>
          <a:bodyPr wrap="none" rtlCol="0">
            <a:spAutoFit/>
          </a:bodyPr>
          <a:lstStyle/>
          <a:p>
            <a:r>
              <a:rPr lang="zh-CN" altLang="en-CN" dirty="0"/>
              <a:t>内存</a:t>
            </a:r>
            <a:endParaRPr lang="en-CN" dirty="0"/>
          </a:p>
        </p:txBody>
      </p:sp>
      <p:sp>
        <p:nvSpPr>
          <p:cNvPr id="22" name="TextBox 21">
            <a:extLst>
              <a:ext uri="{FF2B5EF4-FFF2-40B4-BE49-F238E27FC236}">
                <a16:creationId xmlns:a16="http://schemas.microsoft.com/office/drawing/2014/main" id="{5F5FF836-E5EC-F14A-8DB4-578936E80879}"/>
              </a:ext>
            </a:extLst>
          </p:cNvPr>
          <p:cNvSpPr txBox="1"/>
          <p:nvPr/>
        </p:nvSpPr>
        <p:spPr>
          <a:xfrm>
            <a:off x="881876" y="4555159"/>
            <a:ext cx="646331" cy="369332"/>
          </a:xfrm>
          <a:prstGeom prst="rect">
            <a:avLst/>
          </a:prstGeom>
          <a:noFill/>
        </p:spPr>
        <p:txBody>
          <a:bodyPr wrap="none" rtlCol="0">
            <a:spAutoFit/>
          </a:bodyPr>
          <a:lstStyle/>
          <a:p>
            <a:r>
              <a:rPr lang="zh-CN" altLang="en-US" dirty="0"/>
              <a:t>磁盘</a:t>
            </a:r>
            <a:endParaRPr lang="en-CN" dirty="0"/>
          </a:p>
        </p:txBody>
      </p:sp>
      <p:sp>
        <p:nvSpPr>
          <p:cNvPr id="23" name="Rectangle 22">
            <a:extLst>
              <a:ext uri="{FF2B5EF4-FFF2-40B4-BE49-F238E27FC236}">
                <a16:creationId xmlns:a16="http://schemas.microsoft.com/office/drawing/2014/main" id="{A627E2CE-E5D8-A247-84DE-AD5493AD45CE}"/>
              </a:ext>
            </a:extLst>
          </p:cNvPr>
          <p:cNvSpPr/>
          <p:nvPr/>
        </p:nvSpPr>
        <p:spPr>
          <a:xfrm>
            <a:off x="5364089" y="1129308"/>
            <a:ext cx="2304256" cy="2043287"/>
          </a:xfrm>
          <a:prstGeom prst="rect">
            <a:avLst/>
          </a:prstGeom>
          <a:noFill/>
          <a:ln>
            <a:prstDash val="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050" dirty="0"/>
          </a:p>
        </p:txBody>
      </p:sp>
      <p:sp>
        <p:nvSpPr>
          <p:cNvPr id="6" name="TextBox 5">
            <a:extLst>
              <a:ext uri="{FF2B5EF4-FFF2-40B4-BE49-F238E27FC236}">
                <a16:creationId xmlns:a16="http://schemas.microsoft.com/office/drawing/2014/main" id="{31E7C60C-31DA-FA4D-A7A9-A3A732CD4737}"/>
              </a:ext>
            </a:extLst>
          </p:cNvPr>
          <p:cNvSpPr txBox="1"/>
          <p:nvPr/>
        </p:nvSpPr>
        <p:spPr>
          <a:xfrm>
            <a:off x="5272843" y="808986"/>
            <a:ext cx="800219" cy="338554"/>
          </a:xfrm>
          <a:prstGeom prst="rect">
            <a:avLst/>
          </a:prstGeom>
          <a:noFill/>
        </p:spPr>
        <p:txBody>
          <a:bodyPr wrap="none" rtlCol="0">
            <a:spAutoFit/>
          </a:bodyPr>
          <a:lstStyle/>
          <a:p>
            <a:r>
              <a:rPr lang="zh-CN" altLang="en-CN" sz="1600" dirty="0"/>
              <a:t>页缓存</a:t>
            </a:r>
            <a:endParaRPr lang="en-CN" sz="1600" dirty="0"/>
          </a:p>
        </p:txBody>
      </p:sp>
      <p:sp>
        <p:nvSpPr>
          <p:cNvPr id="24" name="Rectangle 23">
            <a:extLst>
              <a:ext uri="{FF2B5EF4-FFF2-40B4-BE49-F238E27FC236}">
                <a16:creationId xmlns:a16="http://schemas.microsoft.com/office/drawing/2014/main" id="{CD06C7D9-B514-E446-A552-D08D31258730}"/>
              </a:ext>
            </a:extLst>
          </p:cNvPr>
          <p:cNvSpPr/>
          <p:nvPr/>
        </p:nvSpPr>
        <p:spPr>
          <a:xfrm>
            <a:off x="5508104" y="1355524"/>
            <a:ext cx="792088"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CN" sz="1050" dirty="0"/>
              <a:t>修改</a:t>
            </a:r>
            <a:r>
              <a:rPr lang="zh-CN" altLang="en-US" sz="1050" dirty="0"/>
              <a:t>后的</a:t>
            </a:r>
            <a:r>
              <a:rPr lang="en-US" altLang="zh-CN" sz="1050" dirty="0" err="1"/>
              <a:t>inode</a:t>
            </a:r>
            <a:r>
              <a:rPr lang="zh-CN" altLang="en-US" sz="1050" dirty="0"/>
              <a:t>分配表</a:t>
            </a:r>
            <a:endParaRPr lang="en-CN" sz="1050" dirty="0"/>
          </a:p>
        </p:txBody>
      </p:sp>
      <p:sp>
        <p:nvSpPr>
          <p:cNvPr id="25" name="Rectangle 24">
            <a:extLst>
              <a:ext uri="{FF2B5EF4-FFF2-40B4-BE49-F238E27FC236}">
                <a16:creationId xmlns:a16="http://schemas.microsoft.com/office/drawing/2014/main" id="{F6C73994-04C7-5844-85AB-484AC9D6D216}"/>
              </a:ext>
            </a:extLst>
          </p:cNvPr>
          <p:cNvSpPr/>
          <p:nvPr/>
        </p:nvSpPr>
        <p:spPr>
          <a:xfrm>
            <a:off x="6073062" y="2560075"/>
            <a:ext cx="792088"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US" sz="1050" dirty="0">
                <a:solidFill>
                  <a:srgbClr val="000000"/>
                </a:solidFill>
              </a:rPr>
              <a:t>新</a:t>
            </a:r>
            <a:r>
              <a:rPr lang="en-US" altLang="zh-CN" sz="1050" dirty="0" err="1">
                <a:solidFill>
                  <a:srgbClr val="000000"/>
                </a:solidFill>
              </a:rPr>
              <a:t>inode</a:t>
            </a:r>
            <a:r>
              <a:rPr lang="zh-CN" altLang="en-US" sz="1050" dirty="0">
                <a:solidFill>
                  <a:srgbClr val="000000"/>
                </a:solidFill>
              </a:rPr>
              <a:t>所在块的数据</a:t>
            </a:r>
            <a:endParaRPr lang="en-CN" sz="1050" dirty="0">
              <a:solidFill>
                <a:srgbClr val="000000"/>
              </a:solidFill>
            </a:endParaRPr>
          </a:p>
        </p:txBody>
      </p:sp>
      <p:sp>
        <p:nvSpPr>
          <p:cNvPr id="26" name="Rectangle 25">
            <a:extLst>
              <a:ext uri="{FF2B5EF4-FFF2-40B4-BE49-F238E27FC236}">
                <a16:creationId xmlns:a16="http://schemas.microsoft.com/office/drawing/2014/main" id="{421B53B1-2F4B-5945-AC43-A1F05DD1E2A1}"/>
              </a:ext>
            </a:extLst>
          </p:cNvPr>
          <p:cNvSpPr/>
          <p:nvPr/>
        </p:nvSpPr>
        <p:spPr>
          <a:xfrm>
            <a:off x="6469106" y="1962419"/>
            <a:ext cx="792088"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CN" sz="1050" dirty="0">
                <a:solidFill>
                  <a:srgbClr val="000000"/>
                </a:solidFill>
              </a:rPr>
              <a:t>目录项</a:t>
            </a:r>
            <a:r>
              <a:rPr lang="zh-CN" altLang="en-US" sz="1050" dirty="0">
                <a:solidFill>
                  <a:srgbClr val="000000"/>
                </a:solidFill>
              </a:rPr>
              <a:t>写入后的块的数据</a:t>
            </a:r>
            <a:endParaRPr lang="en-CN" sz="1050" dirty="0">
              <a:solidFill>
                <a:srgbClr val="000000"/>
              </a:solidFill>
            </a:endParaRPr>
          </a:p>
        </p:txBody>
      </p:sp>
      <p:cxnSp>
        <p:nvCxnSpPr>
          <p:cNvPr id="13" name="Curved Connector 12">
            <a:extLst>
              <a:ext uri="{FF2B5EF4-FFF2-40B4-BE49-F238E27FC236}">
                <a16:creationId xmlns:a16="http://schemas.microsoft.com/office/drawing/2014/main" id="{1921B267-CAE2-0349-824A-3AA4D6AC0BB9}"/>
              </a:ext>
            </a:extLst>
          </p:cNvPr>
          <p:cNvCxnSpPr>
            <a:stCxn id="8" idx="0"/>
            <a:endCxn id="24" idx="1"/>
          </p:cNvCxnSpPr>
          <p:nvPr/>
        </p:nvCxnSpPr>
        <p:spPr>
          <a:xfrm rot="5400000" flipH="1" flipV="1">
            <a:off x="3293789" y="1218009"/>
            <a:ext cx="1824462" cy="2604168"/>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Curved Connector 28">
            <a:extLst>
              <a:ext uri="{FF2B5EF4-FFF2-40B4-BE49-F238E27FC236}">
                <a16:creationId xmlns:a16="http://schemas.microsoft.com/office/drawing/2014/main" id="{ED8F6534-3FAA-D94A-BEDF-F205FFEABDA3}"/>
              </a:ext>
            </a:extLst>
          </p:cNvPr>
          <p:cNvCxnSpPr>
            <a:cxnSpLocks/>
            <a:stCxn id="9" idx="0"/>
            <a:endCxn id="26" idx="1"/>
          </p:cNvCxnSpPr>
          <p:nvPr/>
        </p:nvCxnSpPr>
        <p:spPr>
          <a:xfrm rot="5400000" flipH="1" flipV="1">
            <a:off x="4341531" y="1304750"/>
            <a:ext cx="1217567" cy="303758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Curved Connector 30">
            <a:extLst>
              <a:ext uri="{FF2B5EF4-FFF2-40B4-BE49-F238E27FC236}">
                <a16:creationId xmlns:a16="http://schemas.microsoft.com/office/drawing/2014/main" id="{7BAAEA6D-BB50-E14D-83AB-FD935E0301DB}"/>
              </a:ext>
            </a:extLst>
          </p:cNvPr>
          <p:cNvCxnSpPr>
            <a:cxnSpLocks/>
            <a:stCxn id="17" idx="0"/>
            <a:endCxn id="25" idx="1"/>
          </p:cNvCxnSpPr>
          <p:nvPr/>
        </p:nvCxnSpPr>
        <p:spPr>
          <a:xfrm rot="5400000" flipH="1" flipV="1">
            <a:off x="4713645" y="2072504"/>
            <a:ext cx="619508" cy="2099326"/>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CF2926FE-97CB-6842-BB41-98F195D4FF97}"/>
              </a:ext>
            </a:extLst>
          </p:cNvPr>
          <p:cNvSpPr/>
          <p:nvPr/>
        </p:nvSpPr>
        <p:spPr>
          <a:xfrm>
            <a:off x="5330507" y="3431469"/>
            <a:ext cx="325460"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CN" sz="1050" dirty="0"/>
              <a:t>块</a:t>
            </a:r>
            <a:r>
              <a:rPr lang="zh-CN" altLang="en-US" sz="1050" dirty="0"/>
              <a:t>指针</a:t>
            </a:r>
            <a:endParaRPr lang="en-CN" sz="1050" dirty="0"/>
          </a:p>
        </p:txBody>
      </p:sp>
      <p:sp>
        <p:nvSpPr>
          <p:cNvPr id="36" name="Rectangle 35">
            <a:extLst>
              <a:ext uri="{FF2B5EF4-FFF2-40B4-BE49-F238E27FC236}">
                <a16:creationId xmlns:a16="http://schemas.microsoft.com/office/drawing/2014/main" id="{FA2C40D1-F5BB-B047-A715-9307BDBC12BD}"/>
              </a:ext>
            </a:extLst>
          </p:cNvPr>
          <p:cNvSpPr/>
          <p:nvPr/>
        </p:nvSpPr>
        <p:spPr>
          <a:xfrm>
            <a:off x="5858094" y="3431469"/>
            <a:ext cx="325460"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US" sz="1050" dirty="0">
                <a:solidFill>
                  <a:srgbClr val="000000"/>
                </a:solidFill>
              </a:rPr>
              <a:t>块指针</a:t>
            </a:r>
            <a:endParaRPr lang="en-CN" sz="1050" dirty="0">
              <a:solidFill>
                <a:srgbClr val="000000"/>
              </a:solidFill>
            </a:endParaRPr>
          </a:p>
        </p:txBody>
      </p:sp>
      <p:sp>
        <p:nvSpPr>
          <p:cNvPr id="37" name="Rectangle 36">
            <a:extLst>
              <a:ext uri="{FF2B5EF4-FFF2-40B4-BE49-F238E27FC236}">
                <a16:creationId xmlns:a16="http://schemas.microsoft.com/office/drawing/2014/main" id="{D8F2A2AE-163A-9D45-BD63-52E4F4243B93}"/>
              </a:ext>
            </a:extLst>
          </p:cNvPr>
          <p:cNvSpPr/>
          <p:nvPr/>
        </p:nvSpPr>
        <p:spPr>
          <a:xfrm>
            <a:off x="4639062" y="3431469"/>
            <a:ext cx="504056"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日志开始</a:t>
            </a:r>
            <a:endParaRPr lang="en-CN" sz="1050" dirty="0"/>
          </a:p>
        </p:txBody>
      </p:sp>
      <p:sp>
        <p:nvSpPr>
          <p:cNvPr id="38" name="Rectangle 37">
            <a:extLst>
              <a:ext uri="{FF2B5EF4-FFF2-40B4-BE49-F238E27FC236}">
                <a16:creationId xmlns:a16="http://schemas.microsoft.com/office/drawing/2014/main" id="{25537AE6-D589-A347-86AF-FB41733CE606}"/>
              </a:ext>
            </a:extLst>
          </p:cNvPr>
          <p:cNvSpPr/>
          <p:nvPr/>
        </p:nvSpPr>
        <p:spPr>
          <a:xfrm>
            <a:off x="6185484" y="3431067"/>
            <a:ext cx="504056"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日志提交</a:t>
            </a:r>
            <a:endParaRPr lang="en-CN" sz="1050" dirty="0"/>
          </a:p>
        </p:txBody>
      </p:sp>
      <p:sp>
        <p:nvSpPr>
          <p:cNvPr id="40" name="Rectangle 39">
            <a:extLst>
              <a:ext uri="{FF2B5EF4-FFF2-40B4-BE49-F238E27FC236}">
                <a16:creationId xmlns:a16="http://schemas.microsoft.com/office/drawing/2014/main" id="{F19B93AD-B16C-2F4F-B473-D20FE76D2295}"/>
              </a:ext>
            </a:extLst>
          </p:cNvPr>
          <p:cNvSpPr/>
          <p:nvPr/>
        </p:nvSpPr>
        <p:spPr>
          <a:xfrm>
            <a:off x="5143118" y="3431872"/>
            <a:ext cx="207640" cy="5038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sp>
        <p:nvSpPr>
          <p:cNvPr id="41" name="Rectangle 40">
            <a:extLst>
              <a:ext uri="{FF2B5EF4-FFF2-40B4-BE49-F238E27FC236}">
                <a16:creationId xmlns:a16="http://schemas.microsoft.com/office/drawing/2014/main" id="{208D4C7B-4F25-204A-A558-D13DA1CC47A9}"/>
              </a:ext>
            </a:extLst>
          </p:cNvPr>
          <p:cNvSpPr/>
          <p:nvPr/>
        </p:nvSpPr>
        <p:spPr>
          <a:xfrm>
            <a:off x="5649133" y="3432245"/>
            <a:ext cx="207640" cy="5038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sp>
        <p:nvSpPr>
          <p:cNvPr id="33" name="TextBox 32">
            <a:extLst>
              <a:ext uri="{FF2B5EF4-FFF2-40B4-BE49-F238E27FC236}">
                <a16:creationId xmlns:a16="http://schemas.microsoft.com/office/drawing/2014/main" id="{94CAB842-54B6-524A-B551-D29CE3FF9471}"/>
              </a:ext>
            </a:extLst>
          </p:cNvPr>
          <p:cNvSpPr txBox="1"/>
          <p:nvPr/>
        </p:nvSpPr>
        <p:spPr>
          <a:xfrm>
            <a:off x="6748880" y="3449625"/>
            <a:ext cx="646331" cy="369332"/>
          </a:xfrm>
          <a:prstGeom prst="rect">
            <a:avLst/>
          </a:prstGeom>
          <a:noFill/>
        </p:spPr>
        <p:txBody>
          <a:bodyPr wrap="none" rtlCol="0">
            <a:spAutoFit/>
          </a:bodyPr>
          <a:lstStyle/>
          <a:p>
            <a:r>
              <a:rPr lang="en-US" altLang="zh-CN" dirty="0"/>
              <a:t>……</a:t>
            </a:r>
            <a:endParaRPr lang="en-CN" dirty="0"/>
          </a:p>
        </p:txBody>
      </p:sp>
      <p:sp>
        <p:nvSpPr>
          <p:cNvPr id="43" name="Rectangle 42">
            <a:extLst>
              <a:ext uri="{FF2B5EF4-FFF2-40B4-BE49-F238E27FC236}">
                <a16:creationId xmlns:a16="http://schemas.microsoft.com/office/drawing/2014/main" id="{CFA86953-1D1B-754A-83D5-0AAED81C20E6}"/>
              </a:ext>
            </a:extLst>
          </p:cNvPr>
          <p:cNvSpPr/>
          <p:nvPr/>
        </p:nvSpPr>
        <p:spPr>
          <a:xfrm>
            <a:off x="2741206" y="4433547"/>
            <a:ext cx="792088"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CN" sz="1050" dirty="0"/>
              <a:t>修改</a:t>
            </a:r>
            <a:r>
              <a:rPr lang="zh-CN" altLang="en-US" sz="1050" dirty="0"/>
              <a:t>后的</a:t>
            </a:r>
            <a:r>
              <a:rPr lang="en-US" altLang="zh-CN" sz="1050" dirty="0" err="1"/>
              <a:t>inode</a:t>
            </a:r>
            <a:r>
              <a:rPr lang="zh-CN" altLang="en-US" sz="1050" dirty="0"/>
              <a:t>分配表</a:t>
            </a:r>
            <a:endParaRPr lang="en-CN" sz="1050" dirty="0"/>
          </a:p>
        </p:txBody>
      </p:sp>
      <p:sp>
        <p:nvSpPr>
          <p:cNvPr id="44" name="Rectangle 43">
            <a:extLst>
              <a:ext uri="{FF2B5EF4-FFF2-40B4-BE49-F238E27FC236}">
                <a16:creationId xmlns:a16="http://schemas.microsoft.com/office/drawing/2014/main" id="{D871B2DC-C5A1-8149-A6FA-BF0D62EA4F6B}"/>
              </a:ext>
            </a:extLst>
          </p:cNvPr>
          <p:cNvSpPr/>
          <p:nvPr/>
        </p:nvSpPr>
        <p:spPr>
          <a:xfrm>
            <a:off x="3745189" y="4433346"/>
            <a:ext cx="792088"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US" sz="1050" dirty="0">
                <a:solidFill>
                  <a:srgbClr val="000000"/>
                </a:solidFill>
              </a:rPr>
              <a:t>新</a:t>
            </a:r>
            <a:r>
              <a:rPr lang="en-US" altLang="zh-CN" sz="1050" dirty="0" err="1">
                <a:solidFill>
                  <a:srgbClr val="000000"/>
                </a:solidFill>
              </a:rPr>
              <a:t>inode</a:t>
            </a:r>
            <a:r>
              <a:rPr lang="zh-CN" altLang="en-US" sz="1050" dirty="0">
                <a:solidFill>
                  <a:srgbClr val="000000"/>
                </a:solidFill>
              </a:rPr>
              <a:t>所在块的数据</a:t>
            </a:r>
            <a:endParaRPr lang="en-CN" sz="1050" dirty="0">
              <a:solidFill>
                <a:srgbClr val="000000"/>
              </a:solidFill>
            </a:endParaRPr>
          </a:p>
        </p:txBody>
      </p:sp>
      <p:sp>
        <p:nvSpPr>
          <p:cNvPr id="45" name="Rectangle 44">
            <a:extLst>
              <a:ext uri="{FF2B5EF4-FFF2-40B4-BE49-F238E27FC236}">
                <a16:creationId xmlns:a16="http://schemas.microsoft.com/office/drawing/2014/main" id="{35444E5C-6297-6340-AD4D-36E33D9565EC}"/>
              </a:ext>
            </a:extLst>
          </p:cNvPr>
          <p:cNvSpPr/>
          <p:nvPr/>
        </p:nvSpPr>
        <p:spPr>
          <a:xfrm>
            <a:off x="2049761" y="4433547"/>
            <a:ext cx="504056"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日志开始</a:t>
            </a:r>
            <a:endParaRPr lang="en-CN" sz="1050" dirty="0"/>
          </a:p>
        </p:txBody>
      </p:sp>
      <p:sp>
        <p:nvSpPr>
          <p:cNvPr id="46" name="Rectangle 45">
            <a:extLst>
              <a:ext uri="{FF2B5EF4-FFF2-40B4-BE49-F238E27FC236}">
                <a16:creationId xmlns:a16="http://schemas.microsoft.com/office/drawing/2014/main" id="{C81D3D70-4808-0E4E-8165-7CFCEF10E5BE}"/>
              </a:ext>
            </a:extLst>
          </p:cNvPr>
          <p:cNvSpPr/>
          <p:nvPr/>
        </p:nvSpPr>
        <p:spPr>
          <a:xfrm>
            <a:off x="5542684" y="4433144"/>
            <a:ext cx="504056"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日志提交</a:t>
            </a:r>
            <a:endParaRPr lang="en-CN" sz="1050" dirty="0"/>
          </a:p>
        </p:txBody>
      </p:sp>
      <p:sp>
        <p:nvSpPr>
          <p:cNvPr id="47" name="Rectangle 46">
            <a:extLst>
              <a:ext uri="{FF2B5EF4-FFF2-40B4-BE49-F238E27FC236}">
                <a16:creationId xmlns:a16="http://schemas.microsoft.com/office/drawing/2014/main" id="{427CC4DF-3BD8-9744-AD9F-A09AEB453AF2}"/>
              </a:ext>
            </a:extLst>
          </p:cNvPr>
          <p:cNvSpPr/>
          <p:nvPr/>
        </p:nvSpPr>
        <p:spPr>
          <a:xfrm>
            <a:off x="4750596" y="4433144"/>
            <a:ext cx="792088"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CN" sz="1050" dirty="0">
                <a:solidFill>
                  <a:srgbClr val="000000"/>
                </a:solidFill>
              </a:rPr>
              <a:t>目录项</a:t>
            </a:r>
            <a:r>
              <a:rPr lang="zh-CN" altLang="en-US" sz="1050" dirty="0">
                <a:solidFill>
                  <a:srgbClr val="000000"/>
                </a:solidFill>
              </a:rPr>
              <a:t>写入后的块的数据</a:t>
            </a:r>
            <a:endParaRPr lang="en-CN" sz="1050" dirty="0">
              <a:solidFill>
                <a:srgbClr val="000000"/>
              </a:solidFill>
            </a:endParaRPr>
          </a:p>
        </p:txBody>
      </p:sp>
      <p:sp>
        <p:nvSpPr>
          <p:cNvPr id="48" name="Rectangle 47">
            <a:extLst>
              <a:ext uri="{FF2B5EF4-FFF2-40B4-BE49-F238E27FC236}">
                <a16:creationId xmlns:a16="http://schemas.microsoft.com/office/drawing/2014/main" id="{FEB638CB-7ECF-3846-91F1-629E89C4F297}"/>
              </a:ext>
            </a:extLst>
          </p:cNvPr>
          <p:cNvSpPr/>
          <p:nvPr/>
        </p:nvSpPr>
        <p:spPr>
          <a:xfrm>
            <a:off x="2553817" y="4433950"/>
            <a:ext cx="207640" cy="5038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sp>
        <p:nvSpPr>
          <p:cNvPr id="49" name="Rectangle 48">
            <a:extLst>
              <a:ext uri="{FF2B5EF4-FFF2-40B4-BE49-F238E27FC236}">
                <a16:creationId xmlns:a16="http://schemas.microsoft.com/office/drawing/2014/main" id="{5F693B5E-D973-324D-A9A8-27C0E07A119A}"/>
              </a:ext>
            </a:extLst>
          </p:cNvPr>
          <p:cNvSpPr/>
          <p:nvPr/>
        </p:nvSpPr>
        <p:spPr>
          <a:xfrm>
            <a:off x="3536228" y="4434122"/>
            <a:ext cx="207640" cy="5038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sp>
        <p:nvSpPr>
          <p:cNvPr id="50" name="Rectangle 49">
            <a:extLst>
              <a:ext uri="{FF2B5EF4-FFF2-40B4-BE49-F238E27FC236}">
                <a16:creationId xmlns:a16="http://schemas.microsoft.com/office/drawing/2014/main" id="{6FB77459-4D72-D445-8E70-F57F07A14F10}"/>
              </a:ext>
            </a:extLst>
          </p:cNvPr>
          <p:cNvSpPr/>
          <p:nvPr/>
        </p:nvSpPr>
        <p:spPr>
          <a:xfrm>
            <a:off x="4541532" y="4434325"/>
            <a:ext cx="207640" cy="5038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cxnSp>
        <p:nvCxnSpPr>
          <p:cNvPr id="51" name="Straight Arrow Connector 50">
            <a:extLst>
              <a:ext uri="{FF2B5EF4-FFF2-40B4-BE49-F238E27FC236}">
                <a16:creationId xmlns:a16="http://schemas.microsoft.com/office/drawing/2014/main" id="{8A3387D7-1A33-FA4C-8921-678E621E3B57}"/>
              </a:ext>
            </a:extLst>
          </p:cNvPr>
          <p:cNvCxnSpPr>
            <a:cxnSpLocks/>
          </p:cNvCxnSpPr>
          <p:nvPr/>
        </p:nvCxnSpPr>
        <p:spPr>
          <a:xfrm>
            <a:off x="2301789" y="3937000"/>
            <a:ext cx="0" cy="4965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8036A31A-CEE6-804D-BA8C-5E9F4139C0DD}"/>
              </a:ext>
            </a:extLst>
          </p:cNvPr>
          <p:cNvCxnSpPr>
            <a:cxnSpLocks/>
          </p:cNvCxnSpPr>
          <p:nvPr/>
        </p:nvCxnSpPr>
        <p:spPr>
          <a:xfrm>
            <a:off x="2657637" y="3936597"/>
            <a:ext cx="0" cy="4973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E58D5774-B2B8-454D-9F1A-065C66EFEDDC}"/>
              </a:ext>
            </a:extLst>
          </p:cNvPr>
          <p:cNvCxnSpPr>
            <a:cxnSpLocks/>
            <a:stCxn id="8" idx="2"/>
          </p:cNvCxnSpPr>
          <p:nvPr/>
        </p:nvCxnSpPr>
        <p:spPr>
          <a:xfrm>
            <a:off x="2903936" y="3937000"/>
            <a:ext cx="233314" cy="4965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29E77DE9-9DF3-AA4F-A1D2-7F904F55D5D3}"/>
              </a:ext>
            </a:extLst>
          </p:cNvPr>
          <p:cNvCxnSpPr>
            <a:cxnSpLocks/>
            <a:stCxn id="20" idx="2"/>
          </p:cNvCxnSpPr>
          <p:nvPr/>
        </p:nvCxnSpPr>
        <p:spPr>
          <a:xfrm>
            <a:off x="3163652" y="3936970"/>
            <a:ext cx="476396" cy="4971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D53A3EE4-FD60-1545-B09B-2376BFC73584}"/>
              </a:ext>
            </a:extLst>
          </p:cNvPr>
          <p:cNvCxnSpPr>
            <a:cxnSpLocks/>
            <a:stCxn id="16" idx="2"/>
          </p:cNvCxnSpPr>
          <p:nvPr/>
        </p:nvCxnSpPr>
        <p:spPr>
          <a:xfrm>
            <a:off x="4389935" y="3937000"/>
            <a:ext cx="1404777" cy="4961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8CD8244B-A03B-5D4E-947A-97F31278D098}"/>
              </a:ext>
            </a:extLst>
          </p:cNvPr>
          <p:cNvCxnSpPr>
            <a:cxnSpLocks/>
            <a:stCxn id="9" idx="2"/>
          </p:cNvCxnSpPr>
          <p:nvPr/>
        </p:nvCxnSpPr>
        <p:spPr>
          <a:xfrm>
            <a:off x="3431523" y="3937000"/>
            <a:ext cx="709710" cy="4963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FF206D46-B7CE-7B4A-BF08-E09E2041A335}"/>
              </a:ext>
            </a:extLst>
          </p:cNvPr>
          <p:cNvCxnSpPr>
            <a:cxnSpLocks/>
            <a:stCxn id="17" idx="2"/>
          </p:cNvCxnSpPr>
          <p:nvPr/>
        </p:nvCxnSpPr>
        <p:spPr>
          <a:xfrm>
            <a:off x="3973736" y="3936597"/>
            <a:ext cx="1172904" cy="4965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AD26FD28-5FD3-794F-90BD-C866B06399D7}"/>
              </a:ext>
            </a:extLst>
          </p:cNvPr>
          <p:cNvCxnSpPr>
            <a:cxnSpLocks/>
            <a:stCxn id="21" idx="2"/>
          </p:cNvCxnSpPr>
          <p:nvPr/>
        </p:nvCxnSpPr>
        <p:spPr>
          <a:xfrm>
            <a:off x="3705762" y="3936972"/>
            <a:ext cx="939590" cy="4973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2412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75B07-9099-3C41-B2E6-5972347ED29C}"/>
              </a:ext>
            </a:extLst>
          </p:cNvPr>
          <p:cNvSpPr>
            <a:spLocks noGrp="1"/>
          </p:cNvSpPr>
          <p:nvPr>
            <p:ph type="title"/>
          </p:nvPr>
        </p:nvSpPr>
        <p:spPr/>
        <p:txBody>
          <a:bodyPr/>
          <a:lstStyle/>
          <a:p>
            <a:r>
              <a:rPr lang="zh-CN" altLang="en-US" dirty="0"/>
              <a:t>批量处理日志以减少磁盘写</a:t>
            </a:r>
            <a:endParaRPr lang="en-CN" dirty="0"/>
          </a:p>
        </p:txBody>
      </p:sp>
      <p:sp>
        <p:nvSpPr>
          <p:cNvPr id="3" name="Content Placeholder 2">
            <a:extLst>
              <a:ext uri="{FF2B5EF4-FFF2-40B4-BE49-F238E27FC236}">
                <a16:creationId xmlns:a16="http://schemas.microsoft.com/office/drawing/2014/main" id="{A83A1F32-C7BA-5240-B922-DE00893F581F}"/>
              </a:ext>
            </a:extLst>
          </p:cNvPr>
          <p:cNvSpPr>
            <a:spLocks noGrp="1"/>
          </p:cNvSpPr>
          <p:nvPr>
            <p:ph idx="1"/>
          </p:nvPr>
        </p:nvSpPr>
        <p:spPr>
          <a:xfrm>
            <a:off x="457199" y="1333501"/>
            <a:ext cx="7211145" cy="3771636"/>
          </a:xfrm>
        </p:spPr>
        <p:txBody>
          <a:bodyPr>
            <a:normAutofit/>
          </a:bodyPr>
          <a:lstStyle/>
          <a:p>
            <a:pPr marL="0" indent="0">
              <a:buNone/>
            </a:pPr>
            <a:r>
              <a:rPr lang="zh-CN" altLang="en-US" sz="1800" b="0" dirty="0"/>
              <a:t>多个文件操作的日志合并在一起</a:t>
            </a:r>
            <a:endParaRPr lang="en-US" altLang="zh-CN" sz="1800" b="0" dirty="0"/>
          </a:p>
          <a:p>
            <a:pPr marL="0" indent="0">
              <a:buNone/>
            </a:pPr>
            <a:r>
              <a:rPr lang="zh-CN" altLang="en-US" sz="1800" b="0" dirty="0"/>
              <a:t>每个修改过的块只需记录一次</a:t>
            </a:r>
            <a:endParaRPr lang="en-US" altLang="zh-CN" sz="1800" b="0" dirty="0"/>
          </a:p>
        </p:txBody>
      </p:sp>
      <p:sp>
        <p:nvSpPr>
          <p:cNvPr id="4" name="Footer Placeholder 3">
            <a:extLst>
              <a:ext uri="{FF2B5EF4-FFF2-40B4-BE49-F238E27FC236}">
                <a16:creationId xmlns:a16="http://schemas.microsoft.com/office/drawing/2014/main" id="{7005B691-E3D5-4240-9E7E-E67E7979363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5" name="Slide Number Placeholder 4">
            <a:extLst>
              <a:ext uri="{FF2B5EF4-FFF2-40B4-BE49-F238E27FC236}">
                <a16:creationId xmlns:a16="http://schemas.microsoft.com/office/drawing/2014/main" id="{443E7816-4275-3348-949B-D247B29DBBDE}"/>
              </a:ext>
            </a:extLst>
          </p:cNvPr>
          <p:cNvSpPr>
            <a:spLocks noGrp="1"/>
          </p:cNvSpPr>
          <p:nvPr>
            <p:ph type="sldNum" sz="quarter" idx="12"/>
          </p:nvPr>
        </p:nvSpPr>
        <p:spPr/>
        <p:txBody>
          <a:bodyPr/>
          <a:lstStyle/>
          <a:p>
            <a:fld id="{ADE361C3-C043-4A6E-BDCE-8DA1E7D90A3B}" type="slidenum">
              <a:rPr lang="zh-CN" altLang="en-US" smtClean="0"/>
              <a:t>26</a:t>
            </a:fld>
            <a:endParaRPr lang="zh-CN" altLang="en-US"/>
          </a:p>
        </p:txBody>
      </p:sp>
      <p:grpSp>
        <p:nvGrpSpPr>
          <p:cNvPr id="101" name="Group 100">
            <a:extLst>
              <a:ext uri="{FF2B5EF4-FFF2-40B4-BE49-F238E27FC236}">
                <a16:creationId xmlns:a16="http://schemas.microsoft.com/office/drawing/2014/main" id="{6BF133A5-B25A-8B4E-966E-02F71CCF0323}"/>
              </a:ext>
            </a:extLst>
          </p:cNvPr>
          <p:cNvGrpSpPr/>
          <p:nvPr/>
        </p:nvGrpSpPr>
        <p:grpSpPr>
          <a:xfrm>
            <a:off x="1046121" y="1921396"/>
            <a:ext cx="7615915" cy="3031285"/>
            <a:chOff x="542323" y="1878430"/>
            <a:chExt cx="7615915" cy="3031285"/>
          </a:xfrm>
        </p:grpSpPr>
        <p:sp>
          <p:nvSpPr>
            <p:cNvPr id="8" name="Rectangle 7">
              <a:extLst>
                <a:ext uri="{FF2B5EF4-FFF2-40B4-BE49-F238E27FC236}">
                  <a16:creationId xmlns:a16="http://schemas.microsoft.com/office/drawing/2014/main" id="{AF17B6EE-9199-B441-BCD8-23607022BC86}"/>
                </a:ext>
              </a:extLst>
            </p:cNvPr>
            <p:cNvSpPr/>
            <p:nvPr/>
          </p:nvSpPr>
          <p:spPr>
            <a:xfrm>
              <a:off x="2401653" y="4405039"/>
              <a:ext cx="325460"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CN" sz="1050" dirty="0"/>
                <a:t>块</a:t>
              </a:r>
              <a:r>
                <a:rPr lang="zh-CN" altLang="en-US" sz="1050" dirty="0"/>
                <a:t>指针</a:t>
              </a:r>
              <a:endParaRPr lang="en-CN" sz="1050" dirty="0"/>
            </a:p>
          </p:txBody>
        </p:sp>
        <p:sp>
          <p:nvSpPr>
            <p:cNvPr id="9" name="Rectangle 8">
              <a:extLst>
                <a:ext uri="{FF2B5EF4-FFF2-40B4-BE49-F238E27FC236}">
                  <a16:creationId xmlns:a16="http://schemas.microsoft.com/office/drawing/2014/main" id="{F50834FF-82A3-ED45-9D07-58E1517527B4}"/>
                </a:ext>
              </a:extLst>
            </p:cNvPr>
            <p:cNvSpPr/>
            <p:nvPr/>
          </p:nvSpPr>
          <p:spPr>
            <a:xfrm>
              <a:off x="2929240" y="4405039"/>
              <a:ext cx="325460"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US" sz="1050" dirty="0">
                  <a:solidFill>
                    <a:srgbClr val="000000"/>
                  </a:solidFill>
                </a:rPr>
                <a:t>块指针</a:t>
              </a:r>
              <a:endParaRPr lang="en-CN" sz="1050" dirty="0">
                <a:solidFill>
                  <a:srgbClr val="000000"/>
                </a:solidFill>
              </a:endParaRPr>
            </a:p>
          </p:txBody>
        </p:sp>
        <p:cxnSp>
          <p:nvCxnSpPr>
            <p:cNvPr id="11" name="Straight Connector 10">
              <a:extLst>
                <a:ext uri="{FF2B5EF4-FFF2-40B4-BE49-F238E27FC236}">
                  <a16:creationId xmlns:a16="http://schemas.microsoft.com/office/drawing/2014/main" id="{1239CDEF-BD3C-1F4F-8FC5-3E699BFBD864}"/>
                </a:ext>
              </a:extLst>
            </p:cNvPr>
            <p:cNvCxnSpPr/>
            <p:nvPr/>
          </p:nvCxnSpPr>
          <p:spPr>
            <a:xfrm>
              <a:off x="2214264" y="4405039"/>
              <a:ext cx="475252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EA58414-EB70-F246-A81A-620440E94B07}"/>
                </a:ext>
              </a:extLst>
            </p:cNvPr>
            <p:cNvCxnSpPr/>
            <p:nvPr/>
          </p:nvCxnSpPr>
          <p:spPr>
            <a:xfrm>
              <a:off x="2214264" y="4909715"/>
              <a:ext cx="4752528"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FA592295-AFDB-E443-B217-4A51245211CC}"/>
                </a:ext>
              </a:extLst>
            </p:cNvPr>
            <p:cNvSpPr/>
            <p:nvPr/>
          </p:nvSpPr>
          <p:spPr>
            <a:xfrm>
              <a:off x="1710208" y="4405039"/>
              <a:ext cx="504056"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日志开始</a:t>
              </a:r>
              <a:endParaRPr lang="en-CN" sz="1050" dirty="0"/>
            </a:p>
          </p:txBody>
        </p:sp>
        <p:sp>
          <p:nvSpPr>
            <p:cNvPr id="17" name="Rectangle 16">
              <a:extLst>
                <a:ext uri="{FF2B5EF4-FFF2-40B4-BE49-F238E27FC236}">
                  <a16:creationId xmlns:a16="http://schemas.microsoft.com/office/drawing/2014/main" id="{77314EC5-AD6A-D14F-9676-D9DF436B8186}"/>
                </a:ext>
              </a:extLst>
            </p:cNvPr>
            <p:cNvSpPr/>
            <p:nvPr/>
          </p:nvSpPr>
          <p:spPr>
            <a:xfrm>
              <a:off x="3471453" y="4404636"/>
              <a:ext cx="325460"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US" sz="1050" dirty="0">
                  <a:solidFill>
                    <a:srgbClr val="000000"/>
                  </a:solidFill>
                </a:rPr>
                <a:t>块指针</a:t>
              </a:r>
              <a:endParaRPr lang="en-CN" sz="1050" dirty="0">
                <a:solidFill>
                  <a:srgbClr val="000000"/>
                </a:solidFill>
              </a:endParaRPr>
            </a:p>
          </p:txBody>
        </p:sp>
        <p:sp>
          <p:nvSpPr>
            <p:cNvPr id="19" name="Rectangle 18">
              <a:extLst>
                <a:ext uri="{FF2B5EF4-FFF2-40B4-BE49-F238E27FC236}">
                  <a16:creationId xmlns:a16="http://schemas.microsoft.com/office/drawing/2014/main" id="{64ED7109-4200-7E4B-8230-1EBB402B16C8}"/>
                </a:ext>
              </a:extLst>
            </p:cNvPr>
            <p:cNvSpPr/>
            <p:nvPr/>
          </p:nvSpPr>
          <p:spPr>
            <a:xfrm>
              <a:off x="2214264" y="4405442"/>
              <a:ext cx="207640" cy="5038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sp>
          <p:nvSpPr>
            <p:cNvPr id="20" name="Rectangle 19">
              <a:extLst>
                <a:ext uri="{FF2B5EF4-FFF2-40B4-BE49-F238E27FC236}">
                  <a16:creationId xmlns:a16="http://schemas.microsoft.com/office/drawing/2014/main" id="{E010EBEE-5C18-034C-840A-335AF034DF34}"/>
                </a:ext>
              </a:extLst>
            </p:cNvPr>
            <p:cNvSpPr/>
            <p:nvPr/>
          </p:nvSpPr>
          <p:spPr>
            <a:xfrm>
              <a:off x="2720279" y="4405815"/>
              <a:ext cx="207640" cy="5038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sp>
          <p:nvSpPr>
            <p:cNvPr id="21" name="Rectangle 20">
              <a:extLst>
                <a:ext uri="{FF2B5EF4-FFF2-40B4-BE49-F238E27FC236}">
                  <a16:creationId xmlns:a16="http://schemas.microsoft.com/office/drawing/2014/main" id="{9E4E1FEC-81CC-4F46-9AF8-6062E7A5A45E}"/>
                </a:ext>
              </a:extLst>
            </p:cNvPr>
            <p:cNvSpPr/>
            <p:nvPr/>
          </p:nvSpPr>
          <p:spPr>
            <a:xfrm>
              <a:off x="3262389" y="4405817"/>
              <a:ext cx="207640" cy="5038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sp>
          <p:nvSpPr>
            <p:cNvPr id="7" name="TextBox 6">
              <a:extLst>
                <a:ext uri="{FF2B5EF4-FFF2-40B4-BE49-F238E27FC236}">
                  <a16:creationId xmlns:a16="http://schemas.microsoft.com/office/drawing/2014/main" id="{8B6844A5-A106-5D41-9199-2D89EB9FDBDA}"/>
                </a:ext>
              </a:extLst>
            </p:cNvPr>
            <p:cNvSpPr txBox="1"/>
            <p:nvPr/>
          </p:nvSpPr>
          <p:spPr>
            <a:xfrm>
              <a:off x="542323" y="4472308"/>
              <a:ext cx="646331" cy="369332"/>
            </a:xfrm>
            <a:prstGeom prst="rect">
              <a:avLst/>
            </a:prstGeom>
            <a:noFill/>
          </p:spPr>
          <p:txBody>
            <a:bodyPr wrap="none" rtlCol="0">
              <a:spAutoFit/>
            </a:bodyPr>
            <a:lstStyle/>
            <a:p>
              <a:r>
                <a:rPr lang="zh-CN" altLang="en-CN" dirty="0"/>
                <a:t>内存</a:t>
              </a:r>
              <a:endParaRPr lang="en-CN" dirty="0"/>
            </a:p>
          </p:txBody>
        </p:sp>
        <p:sp>
          <p:nvSpPr>
            <p:cNvPr id="23" name="Rectangle 22">
              <a:extLst>
                <a:ext uri="{FF2B5EF4-FFF2-40B4-BE49-F238E27FC236}">
                  <a16:creationId xmlns:a16="http://schemas.microsoft.com/office/drawing/2014/main" id="{A627E2CE-E5D8-A247-84DE-AD5493AD45CE}"/>
                </a:ext>
              </a:extLst>
            </p:cNvPr>
            <p:cNvSpPr/>
            <p:nvPr/>
          </p:nvSpPr>
          <p:spPr>
            <a:xfrm>
              <a:off x="1763689" y="2344964"/>
              <a:ext cx="6357190" cy="1800346"/>
            </a:xfrm>
            <a:prstGeom prst="rect">
              <a:avLst/>
            </a:prstGeom>
            <a:noFill/>
            <a:ln>
              <a:prstDash val="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050" dirty="0"/>
            </a:p>
          </p:txBody>
        </p:sp>
        <p:sp>
          <p:nvSpPr>
            <p:cNvPr id="6" name="TextBox 5">
              <a:extLst>
                <a:ext uri="{FF2B5EF4-FFF2-40B4-BE49-F238E27FC236}">
                  <a16:creationId xmlns:a16="http://schemas.microsoft.com/office/drawing/2014/main" id="{31E7C60C-31DA-FA4D-A7A9-A3A732CD4737}"/>
                </a:ext>
              </a:extLst>
            </p:cNvPr>
            <p:cNvSpPr txBox="1"/>
            <p:nvPr/>
          </p:nvSpPr>
          <p:spPr>
            <a:xfrm>
              <a:off x="1749601" y="3777912"/>
              <a:ext cx="800219" cy="338554"/>
            </a:xfrm>
            <a:prstGeom prst="rect">
              <a:avLst/>
            </a:prstGeom>
            <a:noFill/>
          </p:spPr>
          <p:txBody>
            <a:bodyPr wrap="none" rtlCol="0">
              <a:spAutoFit/>
            </a:bodyPr>
            <a:lstStyle/>
            <a:p>
              <a:r>
                <a:rPr lang="zh-CN" altLang="en-CN" sz="1600" dirty="0"/>
                <a:t>页缓存</a:t>
              </a:r>
              <a:endParaRPr lang="en-CN" sz="1600" dirty="0"/>
            </a:p>
          </p:txBody>
        </p:sp>
        <p:sp>
          <p:nvSpPr>
            <p:cNvPr id="24" name="Rectangle 23">
              <a:extLst>
                <a:ext uri="{FF2B5EF4-FFF2-40B4-BE49-F238E27FC236}">
                  <a16:creationId xmlns:a16="http://schemas.microsoft.com/office/drawing/2014/main" id="{CD06C7D9-B514-E446-A552-D08D31258730}"/>
                </a:ext>
              </a:extLst>
            </p:cNvPr>
            <p:cNvSpPr/>
            <p:nvPr/>
          </p:nvSpPr>
          <p:spPr>
            <a:xfrm>
              <a:off x="2262522" y="2650163"/>
              <a:ext cx="792088"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CN" sz="1050" dirty="0"/>
                <a:t>修改</a:t>
              </a:r>
              <a:r>
                <a:rPr lang="zh-CN" altLang="en-US" sz="1050" dirty="0"/>
                <a:t>后的</a:t>
              </a:r>
              <a:r>
                <a:rPr lang="en-US" altLang="zh-CN" sz="1050" dirty="0" err="1"/>
                <a:t>inode</a:t>
              </a:r>
              <a:r>
                <a:rPr lang="zh-CN" altLang="en-US" sz="1050" dirty="0"/>
                <a:t>分配表</a:t>
              </a:r>
              <a:endParaRPr lang="en-CN" sz="1050" dirty="0"/>
            </a:p>
          </p:txBody>
        </p:sp>
        <p:sp>
          <p:nvSpPr>
            <p:cNvPr id="25" name="Rectangle 24">
              <a:extLst>
                <a:ext uri="{FF2B5EF4-FFF2-40B4-BE49-F238E27FC236}">
                  <a16:creationId xmlns:a16="http://schemas.microsoft.com/office/drawing/2014/main" id="{F6C73994-04C7-5844-85AB-484AC9D6D216}"/>
                </a:ext>
              </a:extLst>
            </p:cNvPr>
            <p:cNvSpPr/>
            <p:nvPr/>
          </p:nvSpPr>
          <p:spPr>
            <a:xfrm>
              <a:off x="4535016" y="2646511"/>
              <a:ext cx="792088"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US" sz="1050" dirty="0">
                  <a:solidFill>
                    <a:srgbClr val="000000"/>
                  </a:solidFill>
                </a:rPr>
                <a:t>新</a:t>
              </a:r>
              <a:r>
                <a:rPr lang="en-US" altLang="zh-CN" sz="1050" dirty="0" err="1">
                  <a:solidFill>
                    <a:srgbClr val="000000"/>
                  </a:solidFill>
                </a:rPr>
                <a:t>inode</a:t>
              </a:r>
              <a:r>
                <a:rPr lang="zh-CN" altLang="en-US" sz="1050" dirty="0">
                  <a:solidFill>
                    <a:srgbClr val="000000"/>
                  </a:solidFill>
                </a:rPr>
                <a:t>所在块的数据</a:t>
              </a:r>
              <a:endParaRPr lang="en-CN" sz="1050" dirty="0">
                <a:solidFill>
                  <a:srgbClr val="000000"/>
                </a:solidFill>
              </a:endParaRPr>
            </a:p>
          </p:txBody>
        </p:sp>
        <p:sp>
          <p:nvSpPr>
            <p:cNvPr id="26" name="Rectangle 25">
              <a:extLst>
                <a:ext uri="{FF2B5EF4-FFF2-40B4-BE49-F238E27FC236}">
                  <a16:creationId xmlns:a16="http://schemas.microsoft.com/office/drawing/2014/main" id="{421B53B1-2F4B-5945-AC43-A1F05DD1E2A1}"/>
                </a:ext>
              </a:extLst>
            </p:cNvPr>
            <p:cNvSpPr/>
            <p:nvPr/>
          </p:nvSpPr>
          <p:spPr>
            <a:xfrm>
              <a:off x="3400869" y="2650163"/>
              <a:ext cx="792088"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CN" sz="1050" dirty="0">
                  <a:solidFill>
                    <a:srgbClr val="000000"/>
                  </a:solidFill>
                </a:rPr>
                <a:t>目录项</a:t>
              </a:r>
              <a:r>
                <a:rPr lang="zh-CN" altLang="en-US" sz="1050" dirty="0">
                  <a:solidFill>
                    <a:srgbClr val="000000"/>
                  </a:solidFill>
                </a:rPr>
                <a:t>写入后的块的数据</a:t>
              </a:r>
              <a:endParaRPr lang="en-CN" sz="1050" dirty="0">
                <a:solidFill>
                  <a:srgbClr val="000000"/>
                </a:solidFill>
              </a:endParaRPr>
            </a:p>
          </p:txBody>
        </p:sp>
        <p:cxnSp>
          <p:nvCxnSpPr>
            <p:cNvPr id="13" name="Curved Connector 12">
              <a:extLst>
                <a:ext uri="{FF2B5EF4-FFF2-40B4-BE49-F238E27FC236}">
                  <a16:creationId xmlns:a16="http://schemas.microsoft.com/office/drawing/2014/main" id="{1921B267-CAE2-0349-824A-3AA4D6AC0BB9}"/>
                </a:ext>
              </a:extLst>
            </p:cNvPr>
            <p:cNvCxnSpPr>
              <a:cxnSpLocks/>
              <a:stCxn id="8" idx="0"/>
              <a:endCxn id="24" idx="2"/>
            </p:cNvCxnSpPr>
            <p:nvPr/>
          </p:nvCxnSpPr>
          <p:spPr>
            <a:xfrm rot="5400000" flipH="1" flipV="1">
              <a:off x="1986374" y="3732848"/>
              <a:ext cx="1250200" cy="94183"/>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Curved Connector 28">
              <a:extLst>
                <a:ext uri="{FF2B5EF4-FFF2-40B4-BE49-F238E27FC236}">
                  <a16:creationId xmlns:a16="http://schemas.microsoft.com/office/drawing/2014/main" id="{ED8F6534-3FAA-D94A-BEDF-F205FFEABDA3}"/>
                </a:ext>
              </a:extLst>
            </p:cNvPr>
            <p:cNvCxnSpPr>
              <a:cxnSpLocks/>
              <a:stCxn id="9" idx="0"/>
              <a:endCxn id="26" idx="2"/>
            </p:cNvCxnSpPr>
            <p:nvPr/>
          </p:nvCxnSpPr>
          <p:spPr>
            <a:xfrm rot="5400000" flipH="1" flipV="1">
              <a:off x="2819341" y="3427468"/>
              <a:ext cx="1250200" cy="704943"/>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Curved Connector 30">
              <a:extLst>
                <a:ext uri="{FF2B5EF4-FFF2-40B4-BE49-F238E27FC236}">
                  <a16:creationId xmlns:a16="http://schemas.microsoft.com/office/drawing/2014/main" id="{7BAAEA6D-BB50-E14D-83AB-FD935E0301DB}"/>
                </a:ext>
              </a:extLst>
            </p:cNvPr>
            <p:cNvCxnSpPr>
              <a:cxnSpLocks/>
              <a:stCxn id="17" idx="0"/>
              <a:endCxn id="25" idx="2"/>
            </p:cNvCxnSpPr>
            <p:nvPr/>
          </p:nvCxnSpPr>
          <p:spPr>
            <a:xfrm rot="5400000" flipH="1" flipV="1">
              <a:off x="3655897" y="3129474"/>
              <a:ext cx="1253449" cy="1296877"/>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CF2926FE-97CB-6842-BB41-98F195D4FF97}"/>
                </a:ext>
              </a:extLst>
            </p:cNvPr>
            <p:cNvSpPr/>
            <p:nvPr/>
          </p:nvSpPr>
          <p:spPr>
            <a:xfrm>
              <a:off x="3987788" y="4404263"/>
              <a:ext cx="325460"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CN" sz="1050" dirty="0"/>
                <a:t>块</a:t>
              </a:r>
              <a:r>
                <a:rPr lang="zh-CN" altLang="en-US" sz="1050" dirty="0"/>
                <a:t>指针</a:t>
              </a:r>
              <a:endParaRPr lang="en-CN" sz="1050" dirty="0"/>
            </a:p>
          </p:txBody>
        </p:sp>
        <p:sp>
          <p:nvSpPr>
            <p:cNvPr id="36" name="Rectangle 35">
              <a:extLst>
                <a:ext uri="{FF2B5EF4-FFF2-40B4-BE49-F238E27FC236}">
                  <a16:creationId xmlns:a16="http://schemas.microsoft.com/office/drawing/2014/main" id="{FA2C40D1-F5BB-B047-A715-9307BDBC12BD}"/>
                </a:ext>
              </a:extLst>
            </p:cNvPr>
            <p:cNvSpPr/>
            <p:nvPr/>
          </p:nvSpPr>
          <p:spPr>
            <a:xfrm>
              <a:off x="4515375" y="4404263"/>
              <a:ext cx="325460"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US" sz="1050" dirty="0">
                  <a:solidFill>
                    <a:srgbClr val="000000"/>
                  </a:solidFill>
                </a:rPr>
                <a:t>块指针</a:t>
              </a:r>
              <a:endParaRPr lang="en-CN" sz="1050" dirty="0">
                <a:solidFill>
                  <a:srgbClr val="000000"/>
                </a:solidFill>
              </a:endParaRPr>
            </a:p>
          </p:txBody>
        </p:sp>
        <p:sp>
          <p:nvSpPr>
            <p:cNvPr id="38" name="Rectangle 37">
              <a:extLst>
                <a:ext uri="{FF2B5EF4-FFF2-40B4-BE49-F238E27FC236}">
                  <a16:creationId xmlns:a16="http://schemas.microsoft.com/office/drawing/2014/main" id="{25537AE6-D589-A347-86AF-FB41733CE606}"/>
                </a:ext>
              </a:extLst>
            </p:cNvPr>
            <p:cNvSpPr/>
            <p:nvPr/>
          </p:nvSpPr>
          <p:spPr>
            <a:xfrm>
              <a:off x="4842765" y="4403861"/>
              <a:ext cx="504056"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日志提交</a:t>
              </a:r>
              <a:endParaRPr lang="en-CN" sz="1050" dirty="0"/>
            </a:p>
          </p:txBody>
        </p:sp>
        <p:sp>
          <p:nvSpPr>
            <p:cNvPr id="40" name="Rectangle 39">
              <a:extLst>
                <a:ext uri="{FF2B5EF4-FFF2-40B4-BE49-F238E27FC236}">
                  <a16:creationId xmlns:a16="http://schemas.microsoft.com/office/drawing/2014/main" id="{F19B93AD-B16C-2F4F-B473-D20FE76D2295}"/>
                </a:ext>
              </a:extLst>
            </p:cNvPr>
            <p:cNvSpPr/>
            <p:nvPr/>
          </p:nvSpPr>
          <p:spPr>
            <a:xfrm>
              <a:off x="3800399" y="4404666"/>
              <a:ext cx="207640" cy="5038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sp>
          <p:nvSpPr>
            <p:cNvPr id="41" name="Rectangle 40">
              <a:extLst>
                <a:ext uri="{FF2B5EF4-FFF2-40B4-BE49-F238E27FC236}">
                  <a16:creationId xmlns:a16="http://schemas.microsoft.com/office/drawing/2014/main" id="{208D4C7B-4F25-204A-A558-D13DA1CC47A9}"/>
                </a:ext>
              </a:extLst>
            </p:cNvPr>
            <p:cNvSpPr/>
            <p:nvPr/>
          </p:nvSpPr>
          <p:spPr>
            <a:xfrm>
              <a:off x="4306414" y="4405039"/>
              <a:ext cx="207640" cy="5038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sp>
          <p:nvSpPr>
            <p:cNvPr id="33" name="TextBox 32">
              <a:extLst>
                <a:ext uri="{FF2B5EF4-FFF2-40B4-BE49-F238E27FC236}">
                  <a16:creationId xmlns:a16="http://schemas.microsoft.com/office/drawing/2014/main" id="{94CAB842-54B6-524A-B551-D29CE3FF9471}"/>
                </a:ext>
              </a:extLst>
            </p:cNvPr>
            <p:cNvSpPr txBox="1"/>
            <p:nvPr/>
          </p:nvSpPr>
          <p:spPr>
            <a:xfrm>
              <a:off x="5543033" y="4420605"/>
              <a:ext cx="646331" cy="369332"/>
            </a:xfrm>
            <a:prstGeom prst="rect">
              <a:avLst/>
            </a:prstGeom>
            <a:noFill/>
          </p:spPr>
          <p:txBody>
            <a:bodyPr wrap="none" rtlCol="0">
              <a:spAutoFit/>
            </a:bodyPr>
            <a:lstStyle/>
            <a:p>
              <a:r>
                <a:rPr lang="en-US" altLang="zh-CN" dirty="0"/>
                <a:t>……</a:t>
              </a:r>
              <a:endParaRPr lang="en-CN" dirty="0"/>
            </a:p>
          </p:txBody>
        </p:sp>
        <p:sp>
          <p:nvSpPr>
            <p:cNvPr id="61" name="Rectangle 60">
              <a:extLst>
                <a:ext uri="{FF2B5EF4-FFF2-40B4-BE49-F238E27FC236}">
                  <a16:creationId xmlns:a16="http://schemas.microsoft.com/office/drawing/2014/main" id="{4D7C0220-555C-B445-B0E3-27D65AC5B24C}"/>
                </a:ext>
              </a:extLst>
            </p:cNvPr>
            <p:cNvSpPr/>
            <p:nvPr/>
          </p:nvSpPr>
          <p:spPr>
            <a:xfrm>
              <a:off x="6764981" y="3098740"/>
              <a:ext cx="792088"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US" sz="1050" dirty="0">
                  <a:solidFill>
                    <a:srgbClr val="000000"/>
                  </a:solidFill>
                </a:rPr>
                <a:t>新</a:t>
              </a:r>
              <a:r>
                <a:rPr lang="en-US" altLang="zh-CN" sz="1050" dirty="0" err="1">
                  <a:solidFill>
                    <a:srgbClr val="000000"/>
                  </a:solidFill>
                </a:rPr>
                <a:t>inode</a:t>
              </a:r>
              <a:r>
                <a:rPr lang="zh-CN" altLang="en-US" sz="1050" dirty="0">
                  <a:solidFill>
                    <a:srgbClr val="000000"/>
                  </a:solidFill>
                </a:rPr>
                <a:t>中的第一个数据块</a:t>
              </a:r>
              <a:endParaRPr lang="en-CN" sz="1050" dirty="0">
                <a:solidFill>
                  <a:srgbClr val="000000"/>
                </a:solidFill>
              </a:endParaRPr>
            </a:p>
          </p:txBody>
        </p:sp>
        <p:sp>
          <p:nvSpPr>
            <p:cNvPr id="42" name="TextBox 41">
              <a:extLst>
                <a:ext uri="{FF2B5EF4-FFF2-40B4-BE49-F238E27FC236}">
                  <a16:creationId xmlns:a16="http://schemas.microsoft.com/office/drawing/2014/main" id="{A046EF0F-113A-D540-8BBB-EBCFF6024949}"/>
                </a:ext>
              </a:extLst>
            </p:cNvPr>
            <p:cNvSpPr txBox="1"/>
            <p:nvPr/>
          </p:nvSpPr>
          <p:spPr>
            <a:xfrm>
              <a:off x="3470029" y="1887834"/>
              <a:ext cx="1107996" cy="369332"/>
            </a:xfrm>
            <a:prstGeom prst="rect">
              <a:avLst/>
            </a:prstGeom>
            <a:noFill/>
          </p:spPr>
          <p:txBody>
            <a:bodyPr wrap="none" rtlCol="0">
              <a:spAutoFit/>
            </a:bodyPr>
            <a:lstStyle/>
            <a:p>
              <a:r>
                <a:rPr lang="zh-CN" altLang="en-CN" dirty="0"/>
                <a:t>创建</a:t>
              </a:r>
              <a:r>
                <a:rPr lang="zh-CN" altLang="en-US" dirty="0"/>
                <a:t>文件</a:t>
              </a:r>
              <a:endParaRPr lang="en-CN" dirty="0"/>
            </a:p>
          </p:txBody>
        </p:sp>
        <p:sp>
          <p:nvSpPr>
            <p:cNvPr id="62" name="TextBox 61">
              <a:extLst>
                <a:ext uri="{FF2B5EF4-FFF2-40B4-BE49-F238E27FC236}">
                  <a16:creationId xmlns:a16="http://schemas.microsoft.com/office/drawing/2014/main" id="{899F0EF8-6C8F-674A-BA74-E3D73DDCCA1E}"/>
                </a:ext>
              </a:extLst>
            </p:cNvPr>
            <p:cNvSpPr txBox="1"/>
            <p:nvPr/>
          </p:nvSpPr>
          <p:spPr>
            <a:xfrm>
              <a:off x="5623305" y="2004129"/>
              <a:ext cx="1569660" cy="369332"/>
            </a:xfrm>
            <a:prstGeom prst="rect">
              <a:avLst/>
            </a:prstGeom>
            <a:noFill/>
          </p:spPr>
          <p:txBody>
            <a:bodyPr wrap="none" rtlCol="0">
              <a:spAutoFit/>
            </a:bodyPr>
            <a:lstStyle/>
            <a:p>
              <a:r>
                <a:rPr lang="zh-CN" altLang="en-US" dirty="0"/>
                <a:t>文件写入数据</a:t>
              </a:r>
              <a:endParaRPr lang="en-CN" dirty="0"/>
            </a:p>
          </p:txBody>
        </p:sp>
        <p:sp>
          <p:nvSpPr>
            <p:cNvPr id="63" name="Rectangle 62">
              <a:extLst>
                <a:ext uri="{FF2B5EF4-FFF2-40B4-BE49-F238E27FC236}">
                  <a16:creationId xmlns:a16="http://schemas.microsoft.com/office/drawing/2014/main" id="{C1011C30-B7A5-5A47-8C7B-60AACE49A985}"/>
                </a:ext>
              </a:extLst>
            </p:cNvPr>
            <p:cNvSpPr/>
            <p:nvPr/>
          </p:nvSpPr>
          <p:spPr>
            <a:xfrm>
              <a:off x="5680618" y="3012882"/>
              <a:ext cx="792088"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US" sz="1050" dirty="0">
                  <a:solidFill>
                    <a:srgbClr val="000000"/>
                  </a:solidFill>
                </a:rPr>
                <a:t>修改后的块分配表页</a:t>
              </a:r>
              <a:endParaRPr lang="en-CN" sz="1050" dirty="0">
                <a:solidFill>
                  <a:srgbClr val="000000"/>
                </a:solidFill>
              </a:endParaRPr>
            </a:p>
          </p:txBody>
        </p:sp>
        <p:cxnSp>
          <p:nvCxnSpPr>
            <p:cNvPr id="64" name="Curved Connector 63">
              <a:extLst>
                <a:ext uri="{FF2B5EF4-FFF2-40B4-BE49-F238E27FC236}">
                  <a16:creationId xmlns:a16="http://schemas.microsoft.com/office/drawing/2014/main" id="{54185654-541A-DC45-9416-B5E6853BA99F}"/>
                </a:ext>
              </a:extLst>
            </p:cNvPr>
            <p:cNvCxnSpPr>
              <a:cxnSpLocks/>
              <a:stCxn id="34" idx="0"/>
              <a:endCxn id="63" idx="2"/>
            </p:cNvCxnSpPr>
            <p:nvPr/>
          </p:nvCxnSpPr>
          <p:spPr>
            <a:xfrm rot="5400000" flipH="1" flipV="1">
              <a:off x="4670238" y="2997839"/>
              <a:ext cx="886705" cy="1926144"/>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Curved Connector 66">
              <a:extLst>
                <a:ext uri="{FF2B5EF4-FFF2-40B4-BE49-F238E27FC236}">
                  <a16:creationId xmlns:a16="http://schemas.microsoft.com/office/drawing/2014/main" id="{D825D6C7-1843-5444-8B69-7A3AFCDDB2D3}"/>
                </a:ext>
              </a:extLst>
            </p:cNvPr>
            <p:cNvCxnSpPr>
              <a:cxnSpLocks/>
              <a:stCxn id="36" idx="0"/>
              <a:endCxn id="61" idx="2"/>
            </p:cNvCxnSpPr>
            <p:nvPr/>
          </p:nvCxnSpPr>
          <p:spPr>
            <a:xfrm rot="5400000" flipH="1" flipV="1">
              <a:off x="5519142" y="2762380"/>
              <a:ext cx="800847" cy="2482920"/>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99" name="Oval 98">
              <a:extLst>
                <a:ext uri="{FF2B5EF4-FFF2-40B4-BE49-F238E27FC236}">
                  <a16:creationId xmlns:a16="http://schemas.microsoft.com/office/drawing/2014/main" id="{1F93DE10-DB54-5042-9FE8-986B6B68D295}"/>
                </a:ext>
              </a:extLst>
            </p:cNvPr>
            <p:cNvSpPr/>
            <p:nvPr/>
          </p:nvSpPr>
          <p:spPr>
            <a:xfrm>
              <a:off x="2011826" y="1878430"/>
              <a:ext cx="3626512" cy="1709422"/>
            </a:xfrm>
            <a:prstGeom prst="ellipse">
              <a:avLst/>
            </a:prstGeom>
            <a:noFill/>
            <a:ln w="12700">
              <a:solidFill>
                <a:srgbClr val="00206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CN"/>
            </a:p>
          </p:txBody>
        </p:sp>
        <p:sp>
          <p:nvSpPr>
            <p:cNvPr id="100" name="Oval 99">
              <a:extLst>
                <a:ext uri="{FF2B5EF4-FFF2-40B4-BE49-F238E27FC236}">
                  <a16:creationId xmlns:a16="http://schemas.microsoft.com/office/drawing/2014/main" id="{DD512CE5-BCF4-2A43-8DCF-F9C6845E06F1}"/>
                </a:ext>
              </a:extLst>
            </p:cNvPr>
            <p:cNvSpPr/>
            <p:nvPr/>
          </p:nvSpPr>
          <p:spPr>
            <a:xfrm>
              <a:off x="4367264" y="1887834"/>
              <a:ext cx="3790974" cy="1958569"/>
            </a:xfrm>
            <a:prstGeom prst="ellipse">
              <a:avLst/>
            </a:prstGeom>
            <a:noFill/>
            <a:ln w="12700">
              <a:solidFill>
                <a:srgbClr val="00206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CN"/>
            </a:p>
          </p:txBody>
        </p:sp>
      </p:grpSp>
    </p:spTree>
    <p:extLst>
      <p:ext uri="{BB962C8B-B14F-4D97-AF65-F5344CB8AC3E}">
        <p14:creationId xmlns:p14="http://schemas.microsoft.com/office/powerpoint/2010/main" val="26712760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501CB-ED67-3F4B-B757-65560700392D}"/>
              </a:ext>
            </a:extLst>
          </p:cNvPr>
          <p:cNvSpPr>
            <a:spLocks noGrp="1"/>
          </p:cNvSpPr>
          <p:nvPr>
            <p:ph type="title"/>
          </p:nvPr>
        </p:nvSpPr>
        <p:spPr/>
        <p:txBody>
          <a:bodyPr/>
          <a:lstStyle/>
          <a:p>
            <a:r>
              <a:rPr lang="zh-CN" altLang="en-CN" dirty="0"/>
              <a:t>日志</a:t>
            </a:r>
            <a:r>
              <a:rPr lang="zh-CN" altLang="en-US" dirty="0"/>
              <a:t>提交的触发条件</a:t>
            </a:r>
            <a:endParaRPr lang="en-CN" dirty="0"/>
          </a:p>
        </p:txBody>
      </p:sp>
      <p:sp>
        <p:nvSpPr>
          <p:cNvPr id="3" name="Content Placeholder 2">
            <a:extLst>
              <a:ext uri="{FF2B5EF4-FFF2-40B4-BE49-F238E27FC236}">
                <a16:creationId xmlns:a16="http://schemas.microsoft.com/office/drawing/2014/main" id="{A1A5DD86-A946-DE4E-8809-E2EC7F415661}"/>
              </a:ext>
            </a:extLst>
          </p:cNvPr>
          <p:cNvSpPr>
            <a:spLocks noGrp="1"/>
          </p:cNvSpPr>
          <p:nvPr>
            <p:ph idx="1"/>
          </p:nvPr>
        </p:nvSpPr>
        <p:spPr/>
        <p:txBody>
          <a:bodyPr/>
          <a:lstStyle/>
          <a:p>
            <a:r>
              <a:rPr lang="zh-CN" altLang="en-US" b="0" dirty="0"/>
              <a:t>定期触发</a:t>
            </a:r>
            <a:endParaRPr lang="en-US" altLang="zh-CN" b="0" dirty="0"/>
          </a:p>
          <a:p>
            <a:pPr lvl="1"/>
            <a:r>
              <a:rPr lang="zh-CN" altLang="en-CN" dirty="0"/>
              <a:t>每</a:t>
            </a:r>
            <a:r>
              <a:rPr lang="zh-CN" altLang="en-US" dirty="0"/>
              <a:t>一段时间（如</a:t>
            </a:r>
            <a:r>
              <a:rPr lang="en-US" altLang="zh-CN" dirty="0"/>
              <a:t>5s</a:t>
            </a:r>
            <a:r>
              <a:rPr lang="zh-CN" altLang="en-US" dirty="0"/>
              <a:t>）触发一次</a:t>
            </a:r>
            <a:endParaRPr lang="en-US" altLang="zh-CN" dirty="0"/>
          </a:p>
          <a:p>
            <a:pPr lvl="1"/>
            <a:r>
              <a:rPr lang="zh-CN" altLang="en-US" dirty="0"/>
              <a:t>日志达到一定量（如</a:t>
            </a:r>
            <a:r>
              <a:rPr lang="en-US" altLang="zh-CN" dirty="0"/>
              <a:t>500MB</a:t>
            </a:r>
            <a:r>
              <a:rPr lang="zh-CN" altLang="en-US" dirty="0"/>
              <a:t>）时触发一次</a:t>
            </a:r>
            <a:endParaRPr lang="en-US" altLang="zh-CN" dirty="0"/>
          </a:p>
          <a:p>
            <a:endParaRPr lang="en-US" altLang="zh-CN" b="0" dirty="0"/>
          </a:p>
          <a:p>
            <a:r>
              <a:rPr lang="zh-CN" altLang="en-US" b="0" dirty="0"/>
              <a:t>用户触发</a:t>
            </a:r>
            <a:endParaRPr lang="en-US" altLang="zh-CN" b="0" dirty="0"/>
          </a:p>
          <a:p>
            <a:pPr lvl="1"/>
            <a:r>
              <a:rPr lang="zh-CN" altLang="en-US" dirty="0"/>
              <a:t>例如：应用调用</a:t>
            </a:r>
            <a:r>
              <a:rPr lang="en-US" altLang="zh-CN" dirty="0" err="1"/>
              <a:t>fsync</a:t>
            </a:r>
            <a:r>
              <a:rPr lang="en-US" altLang="zh-CN" dirty="0"/>
              <a:t>()</a:t>
            </a:r>
            <a:r>
              <a:rPr lang="zh-CN" altLang="en-US" dirty="0"/>
              <a:t>时触发</a:t>
            </a:r>
            <a:endParaRPr lang="en-US" altLang="zh-CN" dirty="0"/>
          </a:p>
          <a:p>
            <a:pPr lvl="1"/>
            <a:endParaRPr lang="en-CN" altLang="zh-CN" dirty="0"/>
          </a:p>
        </p:txBody>
      </p:sp>
      <p:sp>
        <p:nvSpPr>
          <p:cNvPr id="4" name="Slide Number Placeholder 3">
            <a:extLst>
              <a:ext uri="{FF2B5EF4-FFF2-40B4-BE49-F238E27FC236}">
                <a16:creationId xmlns:a16="http://schemas.microsoft.com/office/drawing/2014/main" id="{50BA3D10-42C1-A04A-95C7-E313A53A08CC}"/>
              </a:ext>
            </a:extLst>
          </p:cNvPr>
          <p:cNvSpPr>
            <a:spLocks noGrp="1"/>
          </p:cNvSpPr>
          <p:nvPr>
            <p:ph type="sldNum" sz="quarter" idx="12"/>
          </p:nvPr>
        </p:nvSpPr>
        <p:spPr/>
        <p:txBody>
          <a:bodyPr/>
          <a:lstStyle/>
          <a:p>
            <a:fld id="{ADE361C3-C043-4A6E-BDCE-8DA1E7D90A3B}" type="slidenum">
              <a:rPr lang="zh-CN" altLang="en-US" smtClean="0"/>
              <a:t>27</a:t>
            </a:fld>
            <a:endParaRPr lang="zh-CN" altLang="en-US"/>
          </a:p>
        </p:txBody>
      </p:sp>
      <p:sp>
        <p:nvSpPr>
          <p:cNvPr id="5" name="Footer Placeholder 4">
            <a:extLst>
              <a:ext uri="{FF2B5EF4-FFF2-40B4-BE49-F238E27FC236}">
                <a16:creationId xmlns:a16="http://schemas.microsoft.com/office/drawing/2014/main" id="{71B087F4-E6D6-5742-9081-C22401FD869D}"/>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0800308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7FFF7-8411-FB46-8D00-7209D4048CA3}"/>
              </a:ext>
            </a:extLst>
          </p:cNvPr>
          <p:cNvSpPr>
            <a:spLocks noGrp="1"/>
          </p:cNvSpPr>
          <p:nvPr>
            <p:ph type="title"/>
          </p:nvPr>
        </p:nvSpPr>
        <p:spPr/>
        <p:txBody>
          <a:bodyPr/>
          <a:lstStyle/>
          <a:p>
            <a:r>
              <a:rPr lang="en-US" altLang="zh-CN" dirty="0"/>
              <a:t>Case</a:t>
            </a:r>
            <a:r>
              <a:rPr lang="zh-CN" altLang="en-US" dirty="0"/>
              <a:t>：</a:t>
            </a:r>
            <a:r>
              <a:rPr lang="en-CN"/>
              <a:t>Linux</a:t>
            </a:r>
            <a:r>
              <a:rPr lang="zh-CN" altLang="en-CN" dirty="0"/>
              <a:t>中</a:t>
            </a:r>
            <a:r>
              <a:rPr lang="zh-CN" altLang="en-US" dirty="0"/>
              <a:t>的日志系统</a:t>
            </a:r>
            <a:r>
              <a:rPr lang="en-US" altLang="zh-CN" dirty="0"/>
              <a:t>JBD2</a:t>
            </a:r>
            <a:endParaRPr lang="en-CN" dirty="0"/>
          </a:p>
        </p:txBody>
      </p:sp>
      <p:sp>
        <p:nvSpPr>
          <p:cNvPr id="3" name="Content Placeholder 2">
            <a:extLst>
              <a:ext uri="{FF2B5EF4-FFF2-40B4-BE49-F238E27FC236}">
                <a16:creationId xmlns:a16="http://schemas.microsoft.com/office/drawing/2014/main" id="{187B9F37-4E89-FD4D-9A95-154704D68EDE}"/>
              </a:ext>
            </a:extLst>
          </p:cNvPr>
          <p:cNvSpPr>
            <a:spLocks noGrp="1"/>
          </p:cNvSpPr>
          <p:nvPr>
            <p:ph idx="1"/>
          </p:nvPr>
        </p:nvSpPr>
        <p:spPr/>
        <p:txBody>
          <a:bodyPr>
            <a:normAutofit/>
          </a:bodyPr>
          <a:lstStyle/>
          <a:p>
            <a:r>
              <a:rPr lang="en-CN" sz="2000" b="0" dirty="0"/>
              <a:t>Journal</a:t>
            </a:r>
            <a:r>
              <a:rPr lang="zh-CN" altLang="en-US" sz="2000" b="0" dirty="0"/>
              <a:t> </a:t>
            </a:r>
            <a:r>
              <a:rPr lang="en-US" altLang="zh-CN" sz="2000" b="0" dirty="0"/>
              <a:t>Block</a:t>
            </a:r>
            <a:r>
              <a:rPr lang="zh-CN" altLang="en-US" sz="2000" b="0" dirty="0"/>
              <a:t> </a:t>
            </a:r>
            <a:r>
              <a:rPr lang="en-US" altLang="zh-CN" sz="2000" b="0" dirty="0"/>
              <a:t>Device</a:t>
            </a:r>
            <a:r>
              <a:rPr lang="zh-CN" altLang="en-US" sz="2000" b="0" dirty="0"/>
              <a:t> </a:t>
            </a:r>
            <a:r>
              <a:rPr lang="en-US" altLang="zh-CN" sz="2000" b="0" dirty="0"/>
              <a:t>2</a:t>
            </a:r>
          </a:p>
          <a:p>
            <a:r>
              <a:rPr lang="zh-CN" altLang="en-US" sz="2000" b="0" dirty="0"/>
              <a:t>通用的日志记录模块</a:t>
            </a:r>
            <a:endParaRPr lang="en-US" altLang="zh-CN" sz="2000" b="0" dirty="0"/>
          </a:p>
          <a:p>
            <a:pPr lvl="1"/>
            <a:r>
              <a:rPr lang="zh-CN" altLang="en-US" sz="1800" dirty="0"/>
              <a:t>日志可以以文件形式保存</a:t>
            </a:r>
            <a:endParaRPr lang="en-US" altLang="zh-CN" sz="1800" dirty="0"/>
          </a:p>
          <a:p>
            <a:pPr lvl="1"/>
            <a:r>
              <a:rPr lang="zh-CN" altLang="en-US" sz="1800" dirty="0"/>
              <a:t>日志也可以直接写入存储设备块</a:t>
            </a:r>
            <a:endParaRPr lang="en-US" altLang="zh-CN" sz="1800" dirty="0"/>
          </a:p>
          <a:p>
            <a:r>
              <a:rPr lang="zh-CN" altLang="en-US" sz="2000" b="0" dirty="0"/>
              <a:t>概念</a:t>
            </a:r>
            <a:endParaRPr lang="en-US" altLang="zh-CN" sz="2000" b="0" dirty="0"/>
          </a:p>
          <a:p>
            <a:pPr lvl="1"/>
            <a:r>
              <a:rPr lang="en-US" altLang="zh-CN" sz="1600" b="0" dirty="0"/>
              <a:t>Journal</a:t>
            </a:r>
            <a:r>
              <a:rPr lang="zh-CN" altLang="en-US" sz="1600" b="0" dirty="0"/>
              <a:t>：日志，由文件或设备中某区域组成</a:t>
            </a:r>
            <a:endParaRPr lang="en-US" altLang="zh-CN" sz="1600" b="0" dirty="0"/>
          </a:p>
          <a:p>
            <a:pPr lvl="1"/>
            <a:r>
              <a:rPr lang="en-US" altLang="zh-CN" sz="1600" b="0" dirty="0"/>
              <a:t>Handle</a:t>
            </a:r>
            <a:r>
              <a:rPr lang="zh-CN" altLang="en-US" sz="1600" b="0" dirty="0"/>
              <a:t>：原子操作，由需要原子完成的多个修改组成</a:t>
            </a:r>
            <a:endParaRPr lang="en-US" altLang="zh-CN" sz="1600" b="0" dirty="0"/>
          </a:p>
          <a:p>
            <a:pPr lvl="1"/>
            <a:r>
              <a:rPr lang="en-US" altLang="zh-CN" sz="1600" b="0" dirty="0"/>
              <a:t>Transaction</a:t>
            </a:r>
            <a:r>
              <a:rPr lang="zh-CN" altLang="en-US" sz="1600" b="0" dirty="0"/>
              <a:t>：事务，多个批量在一起的原子操作</a:t>
            </a:r>
            <a:endParaRPr lang="en-CN" sz="1600" b="0" dirty="0"/>
          </a:p>
        </p:txBody>
      </p:sp>
      <p:sp>
        <p:nvSpPr>
          <p:cNvPr id="4" name="Slide Number Placeholder 3">
            <a:extLst>
              <a:ext uri="{FF2B5EF4-FFF2-40B4-BE49-F238E27FC236}">
                <a16:creationId xmlns:a16="http://schemas.microsoft.com/office/drawing/2014/main" id="{88B9E749-A6FC-D842-A5C6-FBB655A05BAF}"/>
              </a:ext>
            </a:extLst>
          </p:cNvPr>
          <p:cNvSpPr>
            <a:spLocks noGrp="1"/>
          </p:cNvSpPr>
          <p:nvPr>
            <p:ph type="sldNum" sz="quarter" idx="12"/>
          </p:nvPr>
        </p:nvSpPr>
        <p:spPr/>
        <p:txBody>
          <a:bodyPr/>
          <a:lstStyle/>
          <a:p>
            <a:fld id="{ADE361C3-C043-4A6E-BDCE-8DA1E7D90A3B}" type="slidenum">
              <a:rPr lang="zh-CN" altLang="en-US" smtClean="0"/>
              <a:t>28</a:t>
            </a:fld>
            <a:endParaRPr lang="zh-CN" altLang="en-US"/>
          </a:p>
        </p:txBody>
      </p:sp>
      <p:sp>
        <p:nvSpPr>
          <p:cNvPr id="5" name="Footer Placeholder 4">
            <a:extLst>
              <a:ext uri="{FF2B5EF4-FFF2-40B4-BE49-F238E27FC236}">
                <a16:creationId xmlns:a16="http://schemas.microsoft.com/office/drawing/2014/main" id="{C7966490-0133-3146-B888-B707CF6C2512}"/>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8962241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BF6E7-3861-0D45-992F-22AB39CEBD60}"/>
              </a:ext>
            </a:extLst>
          </p:cNvPr>
          <p:cNvSpPr>
            <a:spLocks noGrp="1"/>
          </p:cNvSpPr>
          <p:nvPr>
            <p:ph type="title"/>
          </p:nvPr>
        </p:nvSpPr>
        <p:spPr/>
        <p:txBody>
          <a:bodyPr/>
          <a:lstStyle/>
          <a:p>
            <a:r>
              <a:rPr lang="en-US" altLang="zh-CN" dirty="0"/>
              <a:t>JBD2</a:t>
            </a:r>
            <a:r>
              <a:rPr lang="zh-CN" altLang="en-US" dirty="0"/>
              <a:t>事务的状态</a:t>
            </a:r>
            <a:endParaRPr lang="en-CN" dirty="0"/>
          </a:p>
        </p:txBody>
      </p:sp>
      <p:sp>
        <p:nvSpPr>
          <p:cNvPr id="4" name="Slide Number Placeholder 3">
            <a:extLst>
              <a:ext uri="{FF2B5EF4-FFF2-40B4-BE49-F238E27FC236}">
                <a16:creationId xmlns:a16="http://schemas.microsoft.com/office/drawing/2014/main" id="{D570BE7F-CC02-AB4D-BFBA-1D7A334C1E8F}"/>
              </a:ext>
            </a:extLst>
          </p:cNvPr>
          <p:cNvSpPr>
            <a:spLocks noGrp="1"/>
          </p:cNvSpPr>
          <p:nvPr>
            <p:ph type="sldNum" sz="quarter" idx="12"/>
          </p:nvPr>
        </p:nvSpPr>
        <p:spPr/>
        <p:txBody>
          <a:bodyPr/>
          <a:lstStyle/>
          <a:p>
            <a:fld id="{ADE361C3-C043-4A6E-BDCE-8DA1E7D90A3B}" type="slidenum">
              <a:rPr lang="zh-CN" altLang="en-US" smtClean="0"/>
              <a:t>29</a:t>
            </a:fld>
            <a:endParaRPr lang="zh-CN" altLang="en-US"/>
          </a:p>
        </p:txBody>
      </p:sp>
      <p:sp>
        <p:nvSpPr>
          <p:cNvPr id="5" name="Footer Placeholder 4">
            <a:extLst>
              <a:ext uri="{FF2B5EF4-FFF2-40B4-BE49-F238E27FC236}">
                <a16:creationId xmlns:a16="http://schemas.microsoft.com/office/drawing/2014/main" id="{B873B7F5-D2CC-8548-BFE3-F04C4D8662D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Rectangle 5">
            <a:extLst>
              <a:ext uri="{FF2B5EF4-FFF2-40B4-BE49-F238E27FC236}">
                <a16:creationId xmlns:a16="http://schemas.microsoft.com/office/drawing/2014/main" id="{7D77C2E2-115C-5344-9910-050F96530458}"/>
              </a:ext>
            </a:extLst>
          </p:cNvPr>
          <p:cNvSpPr/>
          <p:nvPr/>
        </p:nvSpPr>
        <p:spPr>
          <a:xfrm>
            <a:off x="1115616" y="1375697"/>
            <a:ext cx="1007914" cy="3897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dirty="0"/>
              <a:t>运行</a:t>
            </a:r>
            <a:endParaRPr lang="en-CN" dirty="0"/>
          </a:p>
        </p:txBody>
      </p:sp>
      <p:sp>
        <p:nvSpPr>
          <p:cNvPr id="7" name="Rectangle 6">
            <a:extLst>
              <a:ext uri="{FF2B5EF4-FFF2-40B4-BE49-F238E27FC236}">
                <a16:creationId xmlns:a16="http://schemas.microsoft.com/office/drawing/2014/main" id="{A0DD2AF3-329C-D143-A678-8DE285C1A938}"/>
              </a:ext>
            </a:extLst>
          </p:cNvPr>
          <p:cNvSpPr/>
          <p:nvPr/>
        </p:nvSpPr>
        <p:spPr>
          <a:xfrm>
            <a:off x="1115616" y="2164505"/>
            <a:ext cx="1007914" cy="3897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锁定</a:t>
            </a:r>
            <a:endParaRPr lang="en-CN" dirty="0"/>
          </a:p>
        </p:txBody>
      </p:sp>
      <p:sp>
        <p:nvSpPr>
          <p:cNvPr id="8" name="Rectangle 7">
            <a:extLst>
              <a:ext uri="{FF2B5EF4-FFF2-40B4-BE49-F238E27FC236}">
                <a16:creationId xmlns:a16="http://schemas.microsoft.com/office/drawing/2014/main" id="{03D4F355-6A53-1B48-9113-874CC4C49725}"/>
              </a:ext>
            </a:extLst>
          </p:cNvPr>
          <p:cNvSpPr/>
          <p:nvPr/>
        </p:nvSpPr>
        <p:spPr>
          <a:xfrm>
            <a:off x="1115616" y="2953313"/>
            <a:ext cx="1007914" cy="3897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写入</a:t>
            </a:r>
            <a:endParaRPr lang="en-CN" dirty="0"/>
          </a:p>
        </p:txBody>
      </p:sp>
      <p:sp>
        <p:nvSpPr>
          <p:cNvPr id="9" name="Rectangle 8">
            <a:extLst>
              <a:ext uri="{FF2B5EF4-FFF2-40B4-BE49-F238E27FC236}">
                <a16:creationId xmlns:a16="http://schemas.microsoft.com/office/drawing/2014/main" id="{772428A7-C16E-1445-9F41-EB5DBB0BC997}"/>
              </a:ext>
            </a:extLst>
          </p:cNvPr>
          <p:cNvSpPr/>
          <p:nvPr/>
        </p:nvSpPr>
        <p:spPr>
          <a:xfrm>
            <a:off x="1115616" y="3742121"/>
            <a:ext cx="1007914" cy="3897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dirty="0"/>
              <a:t>提交</a:t>
            </a:r>
            <a:endParaRPr lang="en-CN" dirty="0"/>
          </a:p>
        </p:txBody>
      </p:sp>
      <p:sp>
        <p:nvSpPr>
          <p:cNvPr id="10" name="Rectangle 9">
            <a:extLst>
              <a:ext uri="{FF2B5EF4-FFF2-40B4-BE49-F238E27FC236}">
                <a16:creationId xmlns:a16="http://schemas.microsoft.com/office/drawing/2014/main" id="{1C3FA234-0208-9648-816F-2F4972F6F35F}"/>
              </a:ext>
            </a:extLst>
          </p:cNvPr>
          <p:cNvSpPr/>
          <p:nvPr/>
        </p:nvSpPr>
        <p:spPr>
          <a:xfrm>
            <a:off x="1115616" y="4530929"/>
            <a:ext cx="1007914" cy="3897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完成</a:t>
            </a:r>
            <a:endParaRPr lang="en-CN" dirty="0"/>
          </a:p>
        </p:txBody>
      </p:sp>
      <p:cxnSp>
        <p:nvCxnSpPr>
          <p:cNvPr id="12" name="Straight Arrow Connector 11">
            <a:extLst>
              <a:ext uri="{FF2B5EF4-FFF2-40B4-BE49-F238E27FC236}">
                <a16:creationId xmlns:a16="http://schemas.microsoft.com/office/drawing/2014/main" id="{C1951699-B482-F049-B269-116E5A115DA7}"/>
              </a:ext>
            </a:extLst>
          </p:cNvPr>
          <p:cNvCxnSpPr>
            <a:stCxn id="6" idx="2"/>
            <a:endCxn id="7" idx="0"/>
          </p:cNvCxnSpPr>
          <p:nvPr/>
        </p:nvCxnSpPr>
        <p:spPr>
          <a:xfrm>
            <a:off x="1619573" y="1765454"/>
            <a:ext cx="0" cy="39905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EAEF70AA-5D8E-1F40-B6FF-6EB39D3AF5F5}"/>
              </a:ext>
            </a:extLst>
          </p:cNvPr>
          <p:cNvCxnSpPr>
            <a:cxnSpLocks/>
            <a:stCxn id="8" idx="2"/>
            <a:endCxn id="9" idx="0"/>
          </p:cNvCxnSpPr>
          <p:nvPr/>
        </p:nvCxnSpPr>
        <p:spPr>
          <a:xfrm>
            <a:off x="1619573" y="3343070"/>
            <a:ext cx="0" cy="39905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EDFF56C8-915C-B941-98E4-537AB0762D83}"/>
              </a:ext>
            </a:extLst>
          </p:cNvPr>
          <p:cNvCxnSpPr>
            <a:cxnSpLocks/>
            <a:stCxn id="7" idx="2"/>
            <a:endCxn id="8" idx="0"/>
          </p:cNvCxnSpPr>
          <p:nvPr/>
        </p:nvCxnSpPr>
        <p:spPr>
          <a:xfrm>
            <a:off x="1619573" y="2554262"/>
            <a:ext cx="0" cy="39905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B6ED44C-73CA-F646-9CB8-2DC2E64E7E85}"/>
              </a:ext>
            </a:extLst>
          </p:cNvPr>
          <p:cNvCxnSpPr>
            <a:cxnSpLocks/>
            <a:stCxn id="9" idx="2"/>
            <a:endCxn id="10" idx="0"/>
          </p:cNvCxnSpPr>
          <p:nvPr/>
        </p:nvCxnSpPr>
        <p:spPr>
          <a:xfrm>
            <a:off x="1619573" y="4131878"/>
            <a:ext cx="0" cy="39905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B2BAEE09-640F-4746-9F75-FCCBC969675C}"/>
              </a:ext>
            </a:extLst>
          </p:cNvPr>
          <p:cNvSpPr txBox="1"/>
          <p:nvPr/>
        </p:nvSpPr>
        <p:spPr>
          <a:xfrm>
            <a:off x="2450486" y="1385909"/>
            <a:ext cx="3416320" cy="369332"/>
          </a:xfrm>
          <a:prstGeom prst="rect">
            <a:avLst/>
          </a:prstGeom>
          <a:noFill/>
        </p:spPr>
        <p:txBody>
          <a:bodyPr wrap="none" rtlCol="0">
            <a:spAutoFit/>
          </a:bodyPr>
          <a:lstStyle/>
          <a:p>
            <a:r>
              <a:rPr lang="zh-CN" altLang="en-US" dirty="0"/>
              <a:t>新的</a:t>
            </a:r>
            <a:r>
              <a:rPr lang="zh-CN" altLang="en-CN" dirty="0"/>
              <a:t>原子操作</a:t>
            </a:r>
            <a:r>
              <a:rPr lang="zh-CN" altLang="en-US" dirty="0"/>
              <a:t>可以加入到事务中</a:t>
            </a:r>
            <a:endParaRPr lang="en-US" altLang="zh-CN" dirty="0"/>
          </a:p>
        </p:txBody>
      </p:sp>
      <p:sp>
        <p:nvSpPr>
          <p:cNvPr id="24" name="TextBox 23">
            <a:extLst>
              <a:ext uri="{FF2B5EF4-FFF2-40B4-BE49-F238E27FC236}">
                <a16:creationId xmlns:a16="http://schemas.microsoft.com/office/drawing/2014/main" id="{FD4D80C0-F199-B244-A88C-FBA935253160}"/>
              </a:ext>
            </a:extLst>
          </p:cNvPr>
          <p:cNvSpPr txBox="1"/>
          <p:nvPr/>
        </p:nvSpPr>
        <p:spPr>
          <a:xfrm>
            <a:off x="2450486" y="2174717"/>
            <a:ext cx="6417141" cy="369332"/>
          </a:xfrm>
          <a:prstGeom prst="rect">
            <a:avLst/>
          </a:prstGeom>
          <a:noFill/>
        </p:spPr>
        <p:txBody>
          <a:bodyPr wrap="none" rtlCol="0">
            <a:spAutoFit/>
          </a:bodyPr>
          <a:lstStyle/>
          <a:p>
            <a:r>
              <a:rPr lang="zh-CN" altLang="en-US" dirty="0"/>
              <a:t>事务不再接收新的原子操作；已接收原子操作不一定全部完成</a:t>
            </a:r>
            <a:endParaRPr lang="en-US" altLang="zh-CN" dirty="0"/>
          </a:p>
        </p:txBody>
      </p:sp>
      <p:sp>
        <p:nvSpPr>
          <p:cNvPr id="25" name="TextBox 24">
            <a:extLst>
              <a:ext uri="{FF2B5EF4-FFF2-40B4-BE49-F238E27FC236}">
                <a16:creationId xmlns:a16="http://schemas.microsoft.com/office/drawing/2014/main" id="{2C5B8A5B-9284-8948-B902-7D254120FD71}"/>
              </a:ext>
            </a:extLst>
          </p:cNvPr>
          <p:cNvSpPr txBox="1"/>
          <p:nvPr/>
        </p:nvSpPr>
        <p:spPr>
          <a:xfrm>
            <a:off x="2450486" y="2963525"/>
            <a:ext cx="3877985" cy="369332"/>
          </a:xfrm>
          <a:prstGeom prst="rect">
            <a:avLst/>
          </a:prstGeom>
          <a:noFill/>
        </p:spPr>
        <p:txBody>
          <a:bodyPr wrap="none" rtlCol="0">
            <a:spAutoFit/>
          </a:bodyPr>
          <a:lstStyle/>
          <a:p>
            <a:r>
              <a:rPr lang="zh-CN" altLang="en-US" dirty="0"/>
              <a:t>事务正在被写入存储设备（如磁盘）</a:t>
            </a:r>
            <a:endParaRPr lang="en-CN" dirty="0"/>
          </a:p>
        </p:txBody>
      </p:sp>
      <p:sp>
        <p:nvSpPr>
          <p:cNvPr id="26" name="TextBox 25">
            <a:extLst>
              <a:ext uri="{FF2B5EF4-FFF2-40B4-BE49-F238E27FC236}">
                <a16:creationId xmlns:a16="http://schemas.microsoft.com/office/drawing/2014/main" id="{18EE8ED1-D106-0B4E-87E0-6ABFC16528E6}"/>
              </a:ext>
            </a:extLst>
          </p:cNvPr>
          <p:cNvSpPr txBox="1"/>
          <p:nvPr/>
        </p:nvSpPr>
        <p:spPr>
          <a:xfrm>
            <a:off x="2450486" y="3752333"/>
            <a:ext cx="6058069" cy="369332"/>
          </a:xfrm>
          <a:prstGeom prst="rect">
            <a:avLst/>
          </a:prstGeom>
          <a:noFill/>
        </p:spPr>
        <p:txBody>
          <a:bodyPr wrap="none" rtlCol="0">
            <a:spAutoFit/>
          </a:bodyPr>
          <a:lstStyle/>
          <a:p>
            <a:r>
              <a:rPr lang="zh-CN" altLang="en-US" dirty="0"/>
              <a:t>事务内容已经写入存储设备，正在写入提交块（</a:t>
            </a:r>
            <a:r>
              <a:rPr lang="en-US" altLang="zh-CN" dirty="0"/>
              <a:t>Commit</a:t>
            </a:r>
            <a:r>
              <a:rPr lang="zh-CN" altLang="en-US" dirty="0"/>
              <a:t>）</a:t>
            </a:r>
            <a:endParaRPr lang="en-US" altLang="zh-CN" dirty="0"/>
          </a:p>
        </p:txBody>
      </p:sp>
      <p:sp>
        <p:nvSpPr>
          <p:cNvPr id="27" name="TextBox 26">
            <a:extLst>
              <a:ext uri="{FF2B5EF4-FFF2-40B4-BE49-F238E27FC236}">
                <a16:creationId xmlns:a16="http://schemas.microsoft.com/office/drawing/2014/main" id="{2552E213-D232-2545-BD36-F005C1DDAF2C}"/>
              </a:ext>
            </a:extLst>
          </p:cNvPr>
          <p:cNvSpPr txBox="1"/>
          <p:nvPr/>
        </p:nvSpPr>
        <p:spPr>
          <a:xfrm>
            <a:off x="2450486" y="4541141"/>
            <a:ext cx="1569660" cy="369332"/>
          </a:xfrm>
          <a:prstGeom prst="rect">
            <a:avLst/>
          </a:prstGeom>
          <a:noFill/>
        </p:spPr>
        <p:txBody>
          <a:bodyPr wrap="none" rtlCol="0">
            <a:spAutoFit/>
          </a:bodyPr>
          <a:lstStyle/>
          <a:p>
            <a:r>
              <a:rPr lang="zh-CN" altLang="en-US" dirty="0"/>
              <a:t>事务写入完毕</a:t>
            </a:r>
            <a:endParaRPr lang="en-CN" dirty="0"/>
          </a:p>
        </p:txBody>
      </p:sp>
    </p:spTree>
    <p:extLst>
      <p:ext uri="{BB962C8B-B14F-4D97-AF65-F5344CB8AC3E}">
        <p14:creationId xmlns:p14="http://schemas.microsoft.com/office/powerpoint/2010/main" val="14657879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BDB1E-62D0-5948-96F9-0B385AF4E959}"/>
              </a:ext>
            </a:extLst>
          </p:cNvPr>
          <p:cNvSpPr>
            <a:spLocks noGrp="1"/>
          </p:cNvSpPr>
          <p:nvPr>
            <p:ph type="title"/>
          </p:nvPr>
        </p:nvSpPr>
        <p:spPr/>
        <p:txBody>
          <a:bodyPr/>
          <a:lstStyle/>
          <a:p>
            <a:r>
              <a:rPr lang="en-CN" dirty="0"/>
              <a:t>JBD</a:t>
            </a:r>
            <a:r>
              <a:rPr lang="en-US" altLang="zh-CN" dirty="0"/>
              <a:t>2</a:t>
            </a:r>
            <a:r>
              <a:rPr lang="zh-CN" altLang="en-US" dirty="0"/>
              <a:t>部分接口和使用方法</a:t>
            </a:r>
            <a:endParaRPr lang="en-CN" dirty="0"/>
          </a:p>
        </p:txBody>
      </p:sp>
      <p:sp>
        <p:nvSpPr>
          <p:cNvPr id="4" name="Slide Number Placeholder 3">
            <a:extLst>
              <a:ext uri="{FF2B5EF4-FFF2-40B4-BE49-F238E27FC236}">
                <a16:creationId xmlns:a16="http://schemas.microsoft.com/office/drawing/2014/main" id="{C8862C3D-542B-B04C-9283-74A97569AB75}"/>
              </a:ext>
            </a:extLst>
          </p:cNvPr>
          <p:cNvSpPr>
            <a:spLocks noGrp="1"/>
          </p:cNvSpPr>
          <p:nvPr>
            <p:ph type="sldNum" sz="quarter" idx="12"/>
          </p:nvPr>
        </p:nvSpPr>
        <p:spPr/>
        <p:txBody>
          <a:bodyPr/>
          <a:lstStyle/>
          <a:p>
            <a:fld id="{ADE361C3-C043-4A6E-BDCE-8DA1E7D90A3B}" type="slidenum">
              <a:rPr lang="zh-CN" altLang="en-US" smtClean="0"/>
              <a:t>30</a:t>
            </a:fld>
            <a:endParaRPr lang="zh-CN" altLang="en-US"/>
          </a:p>
        </p:txBody>
      </p:sp>
      <p:sp>
        <p:nvSpPr>
          <p:cNvPr id="5" name="Footer Placeholder 4">
            <a:extLst>
              <a:ext uri="{FF2B5EF4-FFF2-40B4-BE49-F238E27FC236}">
                <a16:creationId xmlns:a16="http://schemas.microsoft.com/office/drawing/2014/main" id="{AE140DC6-8932-E94A-AF5D-8D69694DE66C}"/>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TextBox 5">
            <a:extLst>
              <a:ext uri="{FF2B5EF4-FFF2-40B4-BE49-F238E27FC236}">
                <a16:creationId xmlns:a16="http://schemas.microsoft.com/office/drawing/2014/main" id="{5FC4A2EA-0C87-AF42-A642-9CDF7995C512}"/>
              </a:ext>
            </a:extLst>
          </p:cNvPr>
          <p:cNvSpPr txBox="1"/>
          <p:nvPr/>
        </p:nvSpPr>
        <p:spPr>
          <a:xfrm>
            <a:off x="539300" y="3177485"/>
            <a:ext cx="3744417" cy="769441"/>
          </a:xfrm>
          <a:prstGeom prst="rect">
            <a:avLst/>
          </a:prstGeom>
          <a:solidFill>
            <a:schemeClr val="accent6">
              <a:lumMod val="20000"/>
              <a:lumOff val="80000"/>
            </a:schemeClr>
          </a:solidFill>
          <a:ln>
            <a:solidFill>
              <a:schemeClr val="bg2"/>
            </a:solidFill>
          </a:ln>
        </p:spPr>
        <p:txBody>
          <a:bodyPr wrap="square" rtlCol="0">
            <a:spAutoFit/>
          </a:bodyPr>
          <a:lstStyle/>
          <a:p>
            <a:r>
              <a:rPr lang="en-US" altLang="zh-CN" sz="1100" dirty="0">
                <a:latin typeface="Courier" pitchFamily="2" charset="0"/>
              </a:rPr>
              <a:t>while</a:t>
            </a:r>
            <a:r>
              <a:rPr lang="zh-CN" altLang="en-US" sz="1100" dirty="0">
                <a:latin typeface="Courier" pitchFamily="2" charset="0"/>
              </a:rPr>
              <a:t> </a:t>
            </a:r>
            <a:r>
              <a:rPr lang="en-US" altLang="zh-CN" sz="1100" dirty="0">
                <a:latin typeface="Courier" pitchFamily="2" charset="0"/>
              </a:rPr>
              <a:t>(sleep_5s())</a:t>
            </a:r>
            <a:r>
              <a:rPr lang="zh-CN" altLang="en-US" sz="1100" dirty="0">
                <a:latin typeface="Courier" pitchFamily="2" charset="0"/>
              </a:rPr>
              <a:t> </a:t>
            </a:r>
            <a:r>
              <a:rPr lang="en-US" altLang="zh-CN" sz="1100" dirty="0">
                <a:latin typeface="Courier" pitchFamily="2" charset="0"/>
              </a:rPr>
              <a:t>{</a:t>
            </a:r>
          </a:p>
          <a:p>
            <a:r>
              <a:rPr lang="zh-CN" altLang="en-US" sz="1100" dirty="0">
                <a:latin typeface="Courier" pitchFamily="2" charset="0"/>
              </a:rPr>
              <a:t>  </a:t>
            </a:r>
            <a:r>
              <a:rPr lang="en-US" altLang="zh-CN" sz="1100" dirty="0">
                <a:latin typeface="Courier" pitchFamily="2" charset="0"/>
              </a:rPr>
              <a:t>//</a:t>
            </a:r>
            <a:r>
              <a:rPr lang="zh-CN" altLang="en-US" sz="1100" dirty="0">
                <a:latin typeface="Courier" pitchFamily="2" charset="0"/>
              </a:rPr>
              <a:t> 提交事务和回收日志空间（并开始新的事务）</a:t>
            </a:r>
            <a:endParaRPr lang="en-US" altLang="zh-CN" sz="1100" dirty="0">
              <a:latin typeface="Courier" pitchFamily="2" charset="0"/>
            </a:endParaRPr>
          </a:p>
          <a:p>
            <a:r>
              <a:rPr lang="zh-CN" altLang="en-US" sz="1100" dirty="0">
                <a:latin typeface="Courier" pitchFamily="2" charset="0"/>
              </a:rPr>
              <a:t>  </a:t>
            </a:r>
            <a:r>
              <a:rPr lang="en-US" sz="1100" dirty="0">
                <a:latin typeface="Courier" pitchFamily="2" charset="0"/>
              </a:rPr>
              <a:t>jbd2_journal_commit_transaction(</a:t>
            </a:r>
            <a:r>
              <a:rPr lang="en-US" altLang="zh-CN" sz="1100" dirty="0">
                <a:latin typeface="Courier" pitchFamily="2" charset="0"/>
              </a:rPr>
              <a:t>journal</a:t>
            </a:r>
            <a:r>
              <a:rPr lang="en-US" sz="1100" dirty="0">
                <a:latin typeface="Courier" pitchFamily="2" charset="0"/>
              </a:rPr>
              <a:t>)</a:t>
            </a:r>
          </a:p>
          <a:p>
            <a:r>
              <a:rPr lang="en-US" altLang="zh-CN" sz="1100" dirty="0">
                <a:latin typeface="Courier" pitchFamily="2" charset="0"/>
              </a:rPr>
              <a:t>}</a:t>
            </a:r>
            <a:endParaRPr lang="en-US" sz="1100" dirty="0">
              <a:latin typeface="Courier" pitchFamily="2" charset="0"/>
            </a:endParaRPr>
          </a:p>
        </p:txBody>
      </p:sp>
      <p:sp>
        <p:nvSpPr>
          <p:cNvPr id="13" name="TextBox 12">
            <a:extLst>
              <a:ext uri="{FF2B5EF4-FFF2-40B4-BE49-F238E27FC236}">
                <a16:creationId xmlns:a16="http://schemas.microsoft.com/office/drawing/2014/main" id="{E446FFFF-8CB0-7641-A70C-1F3FF0F8DCFD}"/>
              </a:ext>
            </a:extLst>
          </p:cNvPr>
          <p:cNvSpPr txBox="1"/>
          <p:nvPr/>
        </p:nvSpPr>
        <p:spPr>
          <a:xfrm>
            <a:off x="4596664" y="1174402"/>
            <a:ext cx="4175636" cy="4154984"/>
          </a:xfrm>
          <a:prstGeom prst="rect">
            <a:avLst/>
          </a:prstGeom>
          <a:solidFill>
            <a:schemeClr val="accent6">
              <a:lumMod val="20000"/>
              <a:lumOff val="80000"/>
            </a:schemeClr>
          </a:solidFill>
          <a:ln>
            <a:solidFill>
              <a:schemeClr val="bg2"/>
            </a:solidFill>
          </a:ln>
        </p:spPr>
        <p:txBody>
          <a:bodyPr wrap="square" rtlCol="0">
            <a:spAutoFit/>
          </a:bodyPr>
          <a:lstStyle/>
          <a:p>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不使用日志时的创建文件</a:t>
            </a:r>
            <a:endParaRPr lang="en-CN" altLang="zh-CN" sz="1100" dirty="0">
              <a:latin typeface="Courier" pitchFamily="2" charset="0"/>
            </a:endParaRPr>
          </a:p>
          <a:p>
            <a:endParaRPr lang="en-CN" altLang="zh-CN" sz="1100" dirty="0">
              <a:latin typeface="Courier" pitchFamily="2" charset="0"/>
            </a:endParaRPr>
          </a:p>
          <a:p>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a:t>
            </a:r>
            <a:r>
              <a:rPr lang="en-US" altLang="zh-CN" sz="1100" dirty="0">
                <a:latin typeface="Courier" pitchFamily="2" charset="0"/>
              </a:rPr>
              <a:t>1.</a:t>
            </a:r>
            <a:r>
              <a:rPr lang="zh-CN" altLang="en-US" sz="1100" dirty="0">
                <a:latin typeface="Courier" pitchFamily="2" charset="0"/>
              </a:rPr>
              <a:t> 标记</a:t>
            </a:r>
            <a:r>
              <a:rPr lang="en-US" altLang="zh-CN" sz="1100" dirty="0" err="1">
                <a:latin typeface="Courier" pitchFamily="2" charset="0"/>
              </a:rPr>
              <a:t>inode</a:t>
            </a:r>
            <a:r>
              <a:rPr lang="zh-CN" altLang="en-US" sz="1100" dirty="0">
                <a:latin typeface="Courier" pitchFamily="2" charset="0"/>
              </a:rPr>
              <a:t>为占用</a:t>
            </a:r>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a:t>
            </a:r>
            <a:r>
              <a:rPr lang="en-US" altLang="zh-CN" sz="1100" dirty="0" err="1">
                <a:latin typeface="Courier" pitchFamily="2" charset="0"/>
              </a:rPr>
              <a:t>bh</a:t>
            </a:r>
            <a:r>
              <a:rPr lang="en-US" altLang="zh-CN" sz="1100" dirty="0">
                <a:latin typeface="Courier" pitchFamily="2" charset="0"/>
              </a:rPr>
              <a:t>: </a:t>
            </a:r>
            <a:r>
              <a:rPr lang="en-US" altLang="zh-CN" sz="1100" dirty="0" err="1">
                <a:latin typeface="Courier" pitchFamily="2" charset="0"/>
              </a:rPr>
              <a:t>buffer_head</a:t>
            </a:r>
            <a:r>
              <a:rPr lang="zh-CN" altLang="en-US" sz="1100" dirty="0">
                <a:latin typeface="Courier" pitchFamily="2" charset="0"/>
              </a:rPr>
              <a:t> 对应存储设备中的最小访问单元</a:t>
            </a:r>
            <a:endParaRPr lang="en-US" altLang="zh-CN" sz="1100" dirty="0">
              <a:latin typeface="Courier" pitchFamily="2" charset="0"/>
            </a:endParaRPr>
          </a:p>
          <a:p>
            <a:r>
              <a:rPr lang="en-US" altLang="zh-CN" sz="1100" dirty="0" err="1">
                <a:latin typeface="Courier" pitchFamily="2" charset="0"/>
              </a:rPr>
              <a:t>bitmap_bh</a:t>
            </a:r>
            <a:r>
              <a:rPr lang="en-US" altLang="zh-CN" sz="1100" dirty="0">
                <a:latin typeface="Courier" pitchFamily="2" charset="0"/>
              </a:rPr>
              <a:t> = </a:t>
            </a:r>
            <a:r>
              <a:rPr lang="en-US" altLang="zh-CN" sz="1100" dirty="0" err="1">
                <a:latin typeface="Courier" pitchFamily="2" charset="0"/>
              </a:rPr>
              <a:t>read_inode_bitmap</a:t>
            </a:r>
            <a:r>
              <a:rPr lang="en-US" altLang="zh-CN" sz="1100" dirty="0">
                <a:latin typeface="Courier" pitchFamily="2" charset="0"/>
              </a:rPr>
              <a:t>(sb, group)</a:t>
            </a:r>
          </a:p>
          <a:p>
            <a:endParaRPr lang="en-US" sz="1100" b="1" dirty="0">
              <a:solidFill>
                <a:srgbClr val="C00000"/>
              </a:solidFill>
              <a:latin typeface="Courier" pitchFamily="2" charset="0"/>
            </a:endParaRPr>
          </a:p>
          <a:p>
            <a:r>
              <a:rPr lang="en-US" altLang="zh-CN" sz="1100" dirty="0" err="1">
                <a:latin typeface="Courier" pitchFamily="2" charset="0"/>
              </a:rPr>
              <a:t>set_bit</a:t>
            </a:r>
            <a:r>
              <a:rPr lang="en-US" altLang="zh-CN" sz="1100" dirty="0">
                <a:latin typeface="Courier" pitchFamily="2" charset="0"/>
              </a:rPr>
              <a:t>(</a:t>
            </a:r>
            <a:r>
              <a:rPr lang="en-US" altLang="zh-CN" sz="1100" dirty="0" err="1">
                <a:latin typeface="Courier" pitchFamily="2" charset="0"/>
              </a:rPr>
              <a:t>ino</a:t>
            </a:r>
            <a:r>
              <a:rPr lang="en-US" altLang="zh-CN" sz="1100" dirty="0">
                <a:latin typeface="Courier" pitchFamily="2" charset="0"/>
              </a:rPr>
              <a:t>, </a:t>
            </a:r>
            <a:r>
              <a:rPr lang="en-US" altLang="zh-CN" sz="1100" dirty="0" err="1">
                <a:latin typeface="Courier" pitchFamily="2" charset="0"/>
              </a:rPr>
              <a:t>bitmap_bh</a:t>
            </a:r>
            <a:r>
              <a:rPr lang="en-US" altLang="zh-CN" sz="1100" dirty="0">
                <a:latin typeface="Courier" pitchFamily="2" charset="0"/>
              </a:rPr>
              <a:t>-&gt;</a:t>
            </a:r>
            <a:r>
              <a:rPr lang="en-US" altLang="zh-CN" sz="1100" dirty="0" err="1">
                <a:latin typeface="Courier" pitchFamily="2" charset="0"/>
              </a:rPr>
              <a:t>b_data</a:t>
            </a:r>
            <a:r>
              <a:rPr lang="en-US" altLang="zh-CN" sz="1100" dirty="0">
                <a:latin typeface="Courier" pitchFamily="2" charset="0"/>
              </a:rPr>
              <a:t>)</a:t>
            </a:r>
          </a:p>
          <a:p>
            <a:endParaRPr lang="en-US" sz="1100" dirty="0">
              <a:latin typeface="Courier" pitchFamily="2" charset="0"/>
            </a:endParaRPr>
          </a:p>
          <a:p>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a:t>
            </a:r>
            <a:r>
              <a:rPr lang="en-US" altLang="zh-CN" sz="1100" dirty="0">
                <a:latin typeface="Courier" pitchFamily="2" charset="0"/>
              </a:rPr>
              <a:t>2.</a:t>
            </a:r>
            <a:r>
              <a:rPr lang="zh-CN" altLang="en-US" sz="1100" dirty="0">
                <a:latin typeface="Courier" pitchFamily="2" charset="0"/>
              </a:rPr>
              <a:t> 初始化</a:t>
            </a:r>
            <a:r>
              <a:rPr lang="en-US" altLang="zh-CN" sz="1100" dirty="0" err="1">
                <a:latin typeface="Courier" pitchFamily="2" charset="0"/>
              </a:rPr>
              <a:t>inode</a:t>
            </a:r>
            <a:endParaRPr lang="en-US" altLang="zh-CN" sz="1100" dirty="0">
              <a:latin typeface="Courier" pitchFamily="2" charset="0"/>
            </a:endParaRPr>
          </a:p>
          <a:p>
            <a:r>
              <a:rPr lang="en-US" altLang="zh-CN" sz="1100" dirty="0" err="1">
                <a:latin typeface="Courier" pitchFamily="2" charset="0"/>
              </a:rPr>
              <a:t>inode_bh</a:t>
            </a:r>
            <a:r>
              <a:rPr lang="zh-CN" altLang="en-US" sz="1100" dirty="0">
                <a:latin typeface="Courier" pitchFamily="2" charset="0"/>
              </a:rPr>
              <a:t> </a:t>
            </a:r>
            <a:r>
              <a:rPr lang="en-US" altLang="zh-CN" sz="1100" dirty="0">
                <a:latin typeface="Courier" pitchFamily="2" charset="0"/>
              </a:rPr>
              <a:t>=</a:t>
            </a:r>
            <a:r>
              <a:rPr lang="zh-CN" altLang="en-US" sz="1100" dirty="0">
                <a:latin typeface="Courier" pitchFamily="2" charset="0"/>
              </a:rPr>
              <a:t> </a:t>
            </a:r>
            <a:r>
              <a:rPr lang="en-US" altLang="zh-CN" sz="1100" dirty="0" err="1">
                <a:latin typeface="Courier" pitchFamily="2" charset="0"/>
              </a:rPr>
              <a:t>get_inode_bh</a:t>
            </a:r>
            <a:r>
              <a:rPr lang="en-US" altLang="zh-CN" sz="1100" dirty="0">
                <a:latin typeface="Courier" pitchFamily="2" charset="0"/>
              </a:rPr>
              <a:t>(sb,</a:t>
            </a:r>
            <a:r>
              <a:rPr lang="zh-CN" altLang="en-US" sz="1100" dirty="0">
                <a:latin typeface="Courier" pitchFamily="2" charset="0"/>
              </a:rPr>
              <a:t> </a:t>
            </a:r>
            <a:r>
              <a:rPr lang="en-US" altLang="zh-CN" sz="1100" dirty="0" err="1">
                <a:latin typeface="Courier" pitchFamily="2" charset="0"/>
              </a:rPr>
              <a:t>ino</a:t>
            </a:r>
            <a:r>
              <a:rPr lang="en-US" altLang="zh-CN" sz="1100" dirty="0">
                <a:latin typeface="Courier" pitchFamily="2" charset="0"/>
              </a:rPr>
              <a:t>)</a:t>
            </a:r>
          </a:p>
          <a:p>
            <a:endParaRPr lang="en-US" sz="1100" dirty="0">
              <a:latin typeface="Courier" pitchFamily="2" charset="0"/>
            </a:endParaRPr>
          </a:p>
          <a:p>
            <a:r>
              <a:rPr lang="en-US" altLang="zh-CN" sz="1100" dirty="0" err="1">
                <a:latin typeface="Courier" pitchFamily="2" charset="0"/>
              </a:rPr>
              <a:t>init_inode</a:t>
            </a:r>
            <a:r>
              <a:rPr lang="en-US" altLang="zh-CN" sz="1100" dirty="0">
                <a:latin typeface="Courier" pitchFamily="2" charset="0"/>
              </a:rPr>
              <a:t>(</a:t>
            </a:r>
            <a:r>
              <a:rPr lang="en-US" altLang="zh-CN" sz="1100" dirty="0" err="1">
                <a:latin typeface="Courier" pitchFamily="2" charset="0"/>
              </a:rPr>
              <a:t>inode_bh</a:t>
            </a:r>
            <a:r>
              <a:rPr lang="en-US" altLang="zh-CN" sz="1100" dirty="0">
                <a:latin typeface="Courier" pitchFamily="2" charset="0"/>
              </a:rPr>
              <a:t>)</a:t>
            </a:r>
          </a:p>
          <a:p>
            <a:endParaRPr lang="en-US" sz="1100" dirty="0">
              <a:latin typeface="Courier" pitchFamily="2" charset="0"/>
            </a:endParaRPr>
          </a:p>
          <a:p>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a:t>
            </a:r>
            <a:r>
              <a:rPr lang="en-US" altLang="zh-CN" sz="1100" dirty="0">
                <a:latin typeface="Courier" pitchFamily="2" charset="0"/>
              </a:rPr>
              <a:t>3.</a:t>
            </a:r>
            <a:r>
              <a:rPr lang="zh-CN" altLang="en-US" sz="1100" dirty="0">
                <a:latin typeface="Courier" pitchFamily="2" charset="0"/>
              </a:rPr>
              <a:t> 将目录项写入目录中</a:t>
            </a:r>
            <a:endParaRPr lang="en-US" altLang="zh-CN" sz="1100" dirty="0">
              <a:latin typeface="Courier" pitchFamily="2" charset="0"/>
            </a:endParaRPr>
          </a:p>
          <a:p>
            <a:r>
              <a:rPr lang="en-US" altLang="zh-CN" sz="1100" dirty="0" err="1">
                <a:latin typeface="Courier" pitchFamily="2" charset="0"/>
              </a:rPr>
              <a:t>data_bh</a:t>
            </a:r>
            <a:r>
              <a:rPr lang="zh-CN" altLang="en-US" sz="1100" dirty="0">
                <a:latin typeface="Courier" pitchFamily="2" charset="0"/>
              </a:rPr>
              <a:t> </a:t>
            </a:r>
            <a:r>
              <a:rPr lang="en-US" altLang="zh-CN" sz="1100" dirty="0">
                <a:latin typeface="Courier" pitchFamily="2" charset="0"/>
              </a:rPr>
              <a:t>=</a:t>
            </a:r>
            <a:r>
              <a:rPr lang="zh-CN" altLang="en-US" sz="1100" dirty="0">
                <a:latin typeface="Courier" pitchFamily="2" charset="0"/>
              </a:rPr>
              <a:t> </a:t>
            </a:r>
            <a:r>
              <a:rPr lang="en-US" altLang="zh-CN" sz="1100" dirty="0" err="1">
                <a:latin typeface="Courier" pitchFamily="2" charset="0"/>
              </a:rPr>
              <a:t>get_data_page</a:t>
            </a:r>
            <a:r>
              <a:rPr lang="en-US" altLang="zh-CN" sz="1100" dirty="0">
                <a:latin typeface="Courier" pitchFamily="2" charset="0"/>
              </a:rPr>
              <a:t>(</a:t>
            </a:r>
            <a:r>
              <a:rPr lang="en-US" altLang="zh-CN" sz="1100" dirty="0" err="1">
                <a:latin typeface="Courier" pitchFamily="2" charset="0"/>
              </a:rPr>
              <a:t>dir_inode</a:t>
            </a:r>
            <a:r>
              <a:rPr lang="en-US" altLang="zh-CN" sz="1100" dirty="0">
                <a:latin typeface="Courier" pitchFamily="2" charset="0"/>
              </a:rPr>
              <a:t>)</a:t>
            </a:r>
          </a:p>
          <a:p>
            <a:endParaRPr lang="en-US" sz="1100" dirty="0">
              <a:latin typeface="Courier" pitchFamily="2" charset="0"/>
            </a:endParaRPr>
          </a:p>
          <a:p>
            <a:r>
              <a:rPr lang="en-US" altLang="zh-CN" sz="1100" dirty="0" err="1">
                <a:latin typeface="Courier" pitchFamily="2" charset="0"/>
              </a:rPr>
              <a:t>add_dentry_to_data</a:t>
            </a:r>
            <a:r>
              <a:rPr lang="en-US" altLang="zh-CN" sz="1100" dirty="0">
                <a:latin typeface="Courier" pitchFamily="2" charset="0"/>
              </a:rPr>
              <a:t>(page,</a:t>
            </a:r>
            <a:r>
              <a:rPr lang="zh-CN" altLang="en-US" sz="1100" dirty="0">
                <a:latin typeface="Courier" pitchFamily="2" charset="0"/>
              </a:rPr>
              <a:t> </a:t>
            </a:r>
            <a:r>
              <a:rPr lang="en-US" altLang="zh-CN" sz="1100" dirty="0">
                <a:latin typeface="Courier" pitchFamily="2" charset="0"/>
              </a:rPr>
              <a:t>filename,</a:t>
            </a:r>
            <a:r>
              <a:rPr lang="zh-CN" altLang="en-US" sz="1100" dirty="0">
                <a:latin typeface="Courier" pitchFamily="2" charset="0"/>
              </a:rPr>
              <a:t> </a:t>
            </a:r>
            <a:r>
              <a:rPr lang="en-US" altLang="zh-CN" sz="1100" dirty="0" err="1">
                <a:latin typeface="Courier" pitchFamily="2" charset="0"/>
              </a:rPr>
              <a:t>ino</a:t>
            </a:r>
            <a:r>
              <a:rPr lang="en-US" altLang="zh-CN" sz="1100" dirty="0">
                <a:latin typeface="Courier" pitchFamily="2" charset="0"/>
              </a:rPr>
              <a:t>)</a:t>
            </a:r>
          </a:p>
          <a:p>
            <a:endParaRPr lang="en-US" sz="1100" dirty="0">
              <a:latin typeface="Courier" pitchFamily="2" charset="0"/>
            </a:endParaRPr>
          </a:p>
          <a:p>
            <a:endParaRPr lang="en-US" altLang="zh-CN" sz="1100" dirty="0">
              <a:latin typeface="Courier" pitchFamily="2" charset="0"/>
            </a:endParaRPr>
          </a:p>
          <a:p>
            <a:endParaRPr lang="en-US" sz="1100" dirty="0">
              <a:latin typeface="Courier" pitchFamily="2" charset="0"/>
            </a:endParaRPr>
          </a:p>
        </p:txBody>
      </p:sp>
      <p:sp>
        <p:nvSpPr>
          <p:cNvPr id="14" name="TextBox 13">
            <a:extLst>
              <a:ext uri="{FF2B5EF4-FFF2-40B4-BE49-F238E27FC236}">
                <a16:creationId xmlns:a16="http://schemas.microsoft.com/office/drawing/2014/main" id="{716C1643-BCD6-DA47-BEE6-C8B000920FAA}"/>
              </a:ext>
            </a:extLst>
          </p:cNvPr>
          <p:cNvSpPr txBox="1"/>
          <p:nvPr/>
        </p:nvSpPr>
        <p:spPr>
          <a:xfrm>
            <a:off x="539299" y="1477757"/>
            <a:ext cx="3744417" cy="1277273"/>
          </a:xfrm>
          <a:prstGeom prst="rect">
            <a:avLst/>
          </a:prstGeom>
          <a:solidFill>
            <a:schemeClr val="accent6">
              <a:lumMod val="20000"/>
              <a:lumOff val="80000"/>
            </a:schemeClr>
          </a:solidFill>
          <a:ln>
            <a:solidFill>
              <a:schemeClr val="bg2"/>
            </a:solidFill>
          </a:ln>
        </p:spPr>
        <p:txBody>
          <a:bodyPr wrap="square" rtlCol="0">
            <a:spAutoFit/>
          </a:bodyPr>
          <a:lstStyle/>
          <a:p>
            <a:r>
              <a:rPr lang="en-US" altLang="zh-CN" sz="1100" dirty="0" err="1">
                <a:latin typeface="Courier" pitchFamily="2" charset="0"/>
              </a:rPr>
              <a:t>journal_t</a:t>
            </a:r>
            <a:r>
              <a:rPr lang="zh-CN" altLang="en-US" sz="1100" dirty="0">
                <a:latin typeface="Courier" pitchFamily="2" charset="0"/>
              </a:rPr>
              <a:t> </a:t>
            </a:r>
            <a:r>
              <a:rPr lang="en-US" altLang="zh-CN" sz="1100" dirty="0">
                <a:latin typeface="Courier" pitchFamily="2" charset="0"/>
              </a:rPr>
              <a:t>journal;</a:t>
            </a:r>
          </a:p>
          <a:p>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初始化日志系统（日志存在文件中）</a:t>
            </a:r>
            <a:endParaRPr lang="en-US" altLang="zh-CN" sz="1100" dirty="0">
              <a:latin typeface="Courier" pitchFamily="2" charset="0"/>
            </a:endParaRPr>
          </a:p>
          <a:p>
            <a:r>
              <a:rPr lang="en-US" altLang="zh-CN" sz="1100" dirty="0">
                <a:latin typeface="Courier" pitchFamily="2" charset="0"/>
              </a:rPr>
              <a:t>journal</a:t>
            </a:r>
            <a:r>
              <a:rPr lang="zh-CN" altLang="en-US" sz="1100" dirty="0">
                <a:latin typeface="Courier" pitchFamily="2" charset="0"/>
              </a:rPr>
              <a:t> </a:t>
            </a:r>
            <a:r>
              <a:rPr lang="en-US" altLang="zh-CN" sz="1100" dirty="0">
                <a:latin typeface="Courier" pitchFamily="2" charset="0"/>
              </a:rPr>
              <a:t>=</a:t>
            </a:r>
            <a:r>
              <a:rPr lang="zh-CN" altLang="en-US" sz="1100" dirty="0">
                <a:latin typeface="Courier" pitchFamily="2" charset="0"/>
              </a:rPr>
              <a:t> </a:t>
            </a:r>
            <a:r>
              <a:rPr lang="en-US" sz="1100" dirty="0">
                <a:latin typeface="Courier" pitchFamily="2" charset="0"/>
              </a:rPr>
              <a:t>jbd2_journal_init_inode</a:t>
            </a:r>
            <a:r>
              <a:rPr lang="en-US" altLang="zh-CN" sz="1100" dirty="0">
                <a:latin typeface="Courier" pitchFamily="2" charset="0"/>
              </a:rPr>
              <a:t>(</a:t>
            </a:r>
            <a:r>
              <a:rPr lang="en-US" altLang="zh-CN" sz="1100" dirty="0" err="1">
                <a:latin typeface="Courier" pitchFamily="2" charset="0"/>
              </a:rPr>
              <a:t>inode</a:t>
            </a:r>
            <a:r>
              <a:rPr lang="en-US" altLang="zh-CN" sz="1100" dirty="0">
                <a:latin typeface="Courier" pitchFamily="2" charset="0"/>
              </a:rPr>
              <a:t>)</a:t>
            </a:r>
          </a:p>
          <a:p>
            <a:r>
              <a:rPr lang="en-US" altLang="zh-CN" sz="1100" dirty="0">
                <a:latin typeface="Courier" pitchFamily="2" charset="0"/>
              </a:rPr>
              <a:t>//</a:t>
            </a:r>
            <a:r>
              <a:rPr lang="zh-CN" altLang="en-US" sz="1100" dirty="0">
                <a:latin typeface="Courier" pitchFamily="2" charset="0"/>
              </a:rPr>
              <a:t> 读取并恢复已有日志（如果存在）</a:t>
            </a:r>
            <a:endParaRPr lang="en-US" altLang="zh-CN" sz="1100" dirty="0">
              <a:latin typeface="Courier" pitchFamily="2" charset="0"/>
            </a:endParaRPr>
          </a:p>
          <a:p>
            <a:r>
              <a:rPr lang="en-US" sz="1100" dirty="0">
                <a:latin typeface="Courier" pitchFamily="2" charset="0"/>
              </a:rPr>
              <a:t>jbd2_journal_load(journal)</a:t>
            </a:r>
          </a:p>
          <a:p>
            <a:endParaRPr lang="en-US" sz="1100" dirty="0">
              <a:latin typeface="Courier" pitchFamily="2" charset="0"/>
            </a:endParaRPr>
          </a:p>
        </p:txBody>
      </p:sp>
      <p:sp>
        <p:nvSpPr>
          <p:cNvPr id="15" name="TextBox 14">
            <a:extLst>
              <a:ext uri="{FF2B5EF4-FFF2-40B4-BE49-F238E27FC236}">
                <a16:creationId xmlns:a16="http://schemas.microsoft.com/office/drawing/2014/main" id="{C5C1A360-D9EA-C44E-B195-17B05E27F064}"/>
              </a:ext>
            </a:extLst>
          </p:cNvPr>
          <p:cNvSpPr txBox="1"/>
          <p:nvPr/>
        </p:nvSpPr>
        <p:spPr>
          <a:xfrm>
            <a:off x="539750" y="4318614"/>
            <a:ext cx="3744417" cy="600164"/>
          </a:xfrm>
          <a:prstGeom prst="rect">
            <a:avLst/>
          </a:prstGeom>
          <a:solidFill>
            <a:schemeClr val="accent6">
              <a:lumMod val="20000"/>
              <a:lumOff val="80000"/>
            </a:schemeClr>
          </a:solidFill>
          <a:ln>
            <a:solidFill>
              <a:schemeClr val="bg2"/>
            </a:solidFill>
          </a:ln>
        </p:spPr>
        <p:txBody>
          <a:bodyPr wrap="square" rtlCol="0">
            <a:spAutoFit/>
          </a:bodyPr>
          <a:lstStyle/>
          <a:p>
            <a:r>
              <a:rPr lang="en-US" altLang="zh-CN" sz="1100" dirty="0">
                <a:latin typeface="Courier" pitchFamily="2" charset="0"/>
              </a:rPr>
              <a:t>//</a:t>
            </a:r>
            <a:r>
              <a:rPr lang="zh-CN" altLang="en-US" sz="1100" dirty="0">
                <a:latin typeface="Courier" pitchFamily="2" charset="0"/>
              </a:rPr>
              <a:t> 释放日志系统</a:t>
            </a:r>
            <a:endParaRPr lang="en-US" sz="1100" dirty="0">
              <a:latin typeface="Courier" pitchFamily="2" charset="0"/>
            </a:endParaRPr>
          </a:p>
          <a:p>
            <a:r>
              <a:rPr lang="en-US" sz="1100" dirty="0">
                <a:latin typeface="Courier" pitchFamily="2" charset="0"/>
              </a:rPr>
              <a:t>jbd2_journal_destroy(journal)</a:t>
            </a:r>
            <a:endParaRPr lang="en-US" altLang="zh-CN" sz="1100" dirty="0">
              <a:latin typeface="Courier" pitchFamily="2" charset="0"/>
            </a:endParaRPr>
          </a:p>
          <a:p>
            <a:endParaRPr lang="en-US" sz="1100" dirty="0">
              <a:latin typeface="Courier" pitchFamily="2" charset="0"/>
            </a:endParaRPr>
          </a:p>
        </p:txBody>
      </p:sp>
      <p:sp>
        <p:nvSpPr>
          <p:cNvPr id="10" name="TextBox 9">
            <a:extLst>
              <a:ext uri="{FF2B5EF4-FFF2-40B4-BE49-F238E27FC236}">
                <a16:creationId xmlns:a16="http://schemas.microsoft.com/office/drawing/2014/main" id="{2ECD993D-533C-0641-8B28-2C8D3D54BCCC}"/>
              </a:ext>
            </a:extLst>
          </p:cNvPr>
          <p:cNvSpPr txBox="1"/>
          <p:nvPr/>
        </p:nvSpPr>
        <p:spPr>
          <a:xfrm>
            <a:off x="515915" y="1174402"/>
            <a:ext cx="1620957" cy="307777"/>
          </a:xfrm>
          <a:prstGeom prst="rect">
            <a:avLst/>
          </a:prstGeom>
          <a:noFill/>
        </p:spPr>
        <p:txBody>
          <a:bodyPr wrap="none" rtlCol="0">
            <a:spAutoFit/>
          </a:bodyPr>
          <a:lstStyle/>
          <a:p>
            <a:r>
              <a:rPr lang="zh-CN" altLang="en-CN" sz="1400" dirty="0"/>
              <a:t>文件系统</a:t>
            </a:r>
            <a:r>
              <a:rPr lang="zh-CN" altLang="en-US" sz="1400" dirty="0"/>
              <a:t>挂载时：</a:t>
            </a:r>
            <a:endParaRPr lang="en-CN" sz="1400" dirty="0"/>
          </a:p>
        </p:txBody>
      </p:sp>
      <p:sp>
        <p:nvSpPr>
          <p:cNvPr id="16" name="TextBox 15">
            <a:extLst>
              <a:ext uri="{FF2B5EF4-FFF2-40B4-BE49-F238E27FC236}">
                <a16:creationId xmlns:a16="http://schemas.microsoft.com/office/drawing/2014/main" id="{63B2D966-A96B-5549-8BBD-E5CB41FED46F}"/>
              </a:ext>
            </a:extLst>
          </p:cNvPr>
          <p:cNvSpPr txBox="1"/>
          <p:nvPr/>
        </p:nvSpPr>
        <p:spPr>
          <a:xfrm>
            <a:off x="515915" y="2881042"/>
            <a:ext cx="1082348" cy="307777"/>
          </a:xfrm>
          <a:prstGeom prst="rect">
            <a:avLst/>
          </a:prstGeom>
          <a:noFill/>
        </p:spPr>
        <p:txBody>
          <a:bodyPr wrap="none" rtlCol="0">
            <a:spAutoFit/>
          </a:bodyPr>
          <a:lstStyle/>
          <a:p>
            <a:r>
              <a:rPr lang="zh-CN" altLang="en-US" sz="1400" dirty="0"/>
              <a:t>后台进程：</a:t>
            </a:r>
            <a:endParaRPr lang="en-CN" sz="1400" dirty="0"/>
          </a:p>
        </p:txBody>
      </p:sp>
      <p:sp>
        <p:nvSpPr>
          <p:cNvPr id="20" name="TextBox 19">
            <a:extLst>
              <a:ext uri="{FF2B5EF4-FFF2-40B4-BE49-F238E27FC236}">
                <a16:creationId xmlns:a16="http://schemas.microsoft.com/office/drawing/2014/main" id="{637532AB-4D38-F74B-A671-8F791A82C869}"/>
              </a:ext>
            </a:extLst>
          </p:cNvPr>
          <p:cNvSpPr txBox="1"/>
          <p:nvPr/>
        </p:nvSpPr>
        <p:spPr>
          <a:xfrm>
            <a:off x="4535016" y="902555"/>
            <a:ext cx="1441420" cy="307777"/>
          </a:xfrm>
          <a:prstGeom prst="rect">
            <a:avLst/>
          </a:prstGeom>
          <a:noFill/>
        </p:spPr>
        <p:txBody>
          <a:bodyPr wrap="none" rtlCol="0">
            <a:spAutoFit/>
          </a:bodyPr>
          <a:lstStyle>
            <a:defPPr>
              <a:defRPr lang="zh-CN"/>
            </a:defPPr>
            <a:lvl1pPr>
              <a:defRPr sz="1400"/>
            </a:lvl1pPr>
          </a:lstStyle>
          <a:p>
            <a:r>
              <a:rPr lang="zh-CN" altLang="en-US" dirty="0"/>
              <a:t>系统调用处理：</a:t>
            </a:r>
            <a:endParaRPr lang="en-US" altLang="zh-CN" dirty="0"/>
          </a:p>
        </p:txBody>
      </p:sp>
      <p:sp>
        <p:nvSpPr>
          <p:cNvPr id="18" name="TextBox 17">
            <a:extLst>
              <a:ext uri="{FF2B5EF4-FFF2-40B4-BE49-F238E27FC236}">
                <a16:creationId xmlns:a16="http://schemas.microsoft.com/office/drawing/2014/main" id="{E0664195-38EA-D247-B4E8-1CB4AB2C1DA7}"/>
              </a:ext>
            </a:extLst>
          </p:cNvPr>
          <p:cNvSpPr txBox="1"/>
          <p:nvPr/>
        </p:nvSpPr>
        <p:spPr>
          <a:xfrm>
            <a:off x="515915" y="4061604"/>
            <a:ext cx="1620957" cy="307777"/>
          </a:xfrm>
          <a:prstGeom prst="rect">
            <a:avLst/>
          </a:prstGeom>
          <a:noFill/>
        </p:spPr>
        <p:txBody>
          <a:bodyPr wrap="none" rtlCol="0">
            <a:spAutoFit/>
          </a:bodyPr>
          <a:lstStyle/>
          <a:p>
            <a:r>
              <a:rPr lang="zh-CN" altLang="en-US" sz="1400" dirty="0"/>
              <a:t>文件系统卸载时：</a:t>
            </a:r>
            <a:endParaRPr lang="en-CN" sz="1400" dirty="0"/>
          </a:p>
        </p:txBody>
      </p:sp>
    </p:spTree>
    <p:extLst>
      <p:ext uri="{BB962C8B-B14F-4D97-AF65-F5344CB8AC3E}">
        <p14:creationId xmlns:p14="http://schemas.microsoft.com/office/powerpoint/2010/main" val="11210820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BDB1E-62D0-5948-96F9-0B385AF4E959}"/>
              </a:ext>
            </a:extLst>
          </p:cNvPr>
          <p:cNvSpPr>
            <a:spLocks noGrp="1"/>
          </p:cNvSpPr>
          <p:nvPr>
            <p:ph type="title"/>
          </p:nvPr>
        </p:nvSpPr>
        <p:spPr/>
        <p:txBody>
          <a:bodyPr/>
          <a:lstStyle/>
          <a:p>
            <a:r>
              <a:rPr lang="en-CN" dirty="0"/>
              <a:t>JBD</a:t>
            </a:r>
            <a:r>
              <a:rPr lang="en-US" altLang="zh-CN" dirty="0"/>
              <a:t>2</a:t>
            </a:r>
            <a:r>
              <a:rPr lang="zh-CN" altLang="en-US" dirty="0"/>
              <a:t>部分接口和使用方法</a:t>
            </a:r>
            <a:endParaRPr lang="en-CN" dirty="0"/>
          </a:p>
        </p:txBody>
      </p:sp>
      <p:sp>
        <p:nvSpPr>
          <p:cNvPr id="4" name="Slide Number Placeholder 3">
            <a:extLst>
              <a:ext uri="{FF2B5EF4-FFF2-40B4-BE49-F238E27FC236}">
                <a16:creationId xmlns:a16="http://schemas.microsoft.com/office/drawing/2014/main" id="{C8862C3D-542B-B04C-9283-74A97569AB75}"/>
              </a:ext>
            </a:extLst>
          </p:cNvPr>
          <p:cNvSpPr>
            <a:spLocks noGrp="1"/>
          </p:cNvSpPr>
          <p:nvPr>
            <p:ph type="sldNum" sz="quarter" idx="12"/>
          </p:nvPr>
        </p:nvSpPr>
        <p:spPr/>
        <p:txBody>
          <a:bodyPr/>
          <a:lstStyle/>
          <a:p>
            <a:fld id="{ADE361C3-C043-4A6E-BDCE-8DA1E7D90A3B}" type="slidenum">
              <a:rPr lang="zh-CN" altLang="en-US" smtClean="0"/>
              <a:t>31</a:t>
            </a:fld>
            <a:endParaRPr lang="zh-CN" altLang="en-US"/>
          </a:p>
        </p:txBody>
      </p:sp>
      <p:sp>
        <p:nvSpPr>
          <p:cNvPr id="5" name="Footer Placeholder 4">
            <a:extLst>
              <a:ext uri="{FF2B5EF4-FFF2-40B4-BE49-F238E27FC236}">
                <a16:creationId xmlns:a16="http://schemas.microsoft.com/office/drawing/2014/main" id="{AE140DC6-8932-E94A-AF5D-8D69694DE66C}"/>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TextBox 5">
            <a:extLst>
              <a:ext uri="{FF2B5EF4-FFF2-40B4-BE49-F238E27FC236}">
                <a16:creationId xmlns:a16="http://schemas.microsoft.com/office/drawing/2014/main" id="{5FC4A2EA-0C87-AF42-A642-9CDF7995C512}"/>
              </a:ext>
            </a:extLst>
          </p:cNvPr>
          <p:cNvSpPr txBox="1"/>
          <p:nvPr/>
        </p:nvSpPr>
        <p:spPr>
          <a:xfrm>
            <a:off x="539300" y="3177485"/>
            <a:ext cx="3744417" cy="769441"/>
          </a:xfrm>
          <a:prstGeom prst="rect">
            <a:avLst/>
          </a:prstGeom>
          <a:solidFill>
            <a:schemeClr val="accent6">
              <a:lumMod val="20000"/>
              <a:lumOff val="80000"/>
            </a:schemeClr>
          </a:solidFill>
          <a:ln>
            <a:solidFill>
              <a:schemeClr val="bg2"/>
            </a:solidFill>
          </a:ln>
        </p:spPr>
        <p:txBody>
          <a:bodyPr wrap="square" rtlCol="0">
            <a:spAutoFit/>
          </a:bodyPr>
          <a:lstStyle/>
          <a:p>
            <a:r>
              <a:rPr lang="en-US" altLang="zh-CN" sz="1100" dirty="0">
                <a:latin typeface="Courier" pitchFamily="2" charset="0"/>
              </a:rPr>
              <a:t>while</a:t>
            </a:r>
            <a:r>
              <a:rPr lang="zh-CN" altLang="en-US" sz="1100" dirty="0">
                <a:latin typeface="Courier" pitchFamily="2" charset="0"/>
              </a:rPr>
              <a:t> </a:t>
            </a:r>
            <a:r>
              <a:rPr lang="en-US" altLang="zh-CN" sz="1100" dirty="0">
                <a:latin typeface="Courier" pitchFamily="2" charset="0"/>
              </a:rPr>
              <a:t>(sleep_5s())</a:t>
            </a:r>
            <a:r>
              <a:rPr lang="zh-CN" altLang="en-US" sz="1100" dirty="0">
                <a:latin typeface="Courier" pitchFamily="2" charset="0"/>
              </a:rPr>
              <a:t> </a:t>
            </a:r>
            <a:r>
              <a:rPr lang="en-US" altLang="zh-CN" sz="1100" dirty="0">
                <a:latin typeface="Courier" pitchFamily="2" charset="0"/>
              </a:rPr>
              <a:t>{</a:t>
            </a:r>
          </a:p>
          <a:p>
            <a:r>
              <a:rPr lang="zh-CN" altLang="en-US" sz="1100" dirty="0">
                <a:latin typeface="Courier" pitchFamily="2" charset="0"/>
              </a:rPr>
              <a:t>  </a:t>
            </a:r>
            <a:r>
              <a:rPr lang="en-US" altLang="zh-CN" sz="1100" dirty="0">
                <a:latin typeface="Courier" pitchFamily="2" charset="0"/>
              </a:rPr>
              <a:t>//</a:t>
            </a:r>
            <a:r>
              <a:rPr lang="zh-CN" altLang="en-US" sz="1100" dirty="0">
                <a:latin typeface="Courier" pitchFamily="2" charset="0"/>
              </a:rPr>
              <a:t> 提交事务和回收日志空间（并开始新的事务）</a:t>
            </a:r>
            <a:endParaRPr lang="en-US" altLang="zh-CN" sz="1100" dirty="0">
              <a:latin typeface="Courier" pitchFamily="2" charset="0"/>
            </a:endParaRPr>
          </a:p>
          <a:p>
            <a:r>
              <a:rPr lang="zh-CN" altLang="en-US" sz="1100" dirty="0">
                <a:latin typeface="Courier" pitchFamily="2" charset="0"/>
              </a:rPr>
              <a:t>  </a:t>
            </a:r>
            <a:r>
              <a:rPr lang="en-US" sz="1100" dirty="0">
                <a:latin typeface="Courier" pitchFamily="2" charset="0"/>
              </a:rPr>
              <a:t>jbd2_journal_commit_transaction(</a:t>
            </a:r>
            <a:r>
              <a:rPr lang="en-US" altLang="zh-CN" sz="1100" dirty="0">
                <a:latin typeface="Courier" pitchFamily="2" charset="0"/>
              </a:rPr>
              <a:t>journal</a:t>
            </a:r>
            <a:r>
              <a:rPr lang="en-US" sz="1100" dirty="0">
                <a:latin typeface="Courier" pitchFamily="2" charset="0"/>
              </a:rPr>
              <a:t>)</a:t>
            </a:r>
          </a:p>
          <a:p>
            <a:r>
              <a:rPr lang="en-US" altLang="zh-CN" sz="1100" dirty="0">
                <a:latin typeface="Courier" pitchFamily="2" charset="0"/>
              </a:rPr>
              <a:t>}</a:t>
            </a:r>
            <a:endParaRPr lang="en-US" sz="1100" dirty="0">
              <a:latin typeface="Courier" pitchFamily="2" charset="0"/>
            </a:endParaRPr>
          </a:p>
        </p:txBody>
      </p:sp>
      <p:sp>
        <p:nvSpPr>
          <p:cNvPr id="13" name="TextBox 12">
            <a:extLst>
              <a:ext uri="{FF2B5EF4-FFF2-40B4-BE49-F238E27FC236}">
                <a16:creationId xmlns:a16="http://schemas.microsoft.com/office/drawing/2014/main" id="{E446FFFF-8CB0-7641-A70C-1F3FF0F8DCFD}"/>
              </a:ext>
            </a:extLst>
          </p:cNvPr>
          <p:cNvSpPr txBox="1"/>
          <p:nvPr/>
        </p:nvSpPr>
        <p:spPr>
          <a:xfrm>
            <a:off x="4596664" y="1174402"/>
            <a:ext cx="4175636" cy="4154984"/>
          </a:xfrm>
          <a:prstGeom prst="rect">
            <a:avLst/>
          </a:prstGeom>
          <a:solidFill>
            <a:schemeClr val="accent6">
              <a:lumMod val="20000"/>
              <a:lumOff val="80000"/>
            </a:schemeClr>
          </a:solidFill>
          <a:ln>
            <a:solidFill>
              <a:schemeClr val="bg2"/>
            </a:solidFill>
          </a:ln>
        </p:spPr>
        <p:txBody>
          <a:bodyPr wrap="square" rtlCol="0">
            <a:spAutoFit/>
          </a:bodyPr>
          <a:lstStyle/>
          <a:p>
            <a:r>
              <a:rPr lang="en-US" altLang="zh-CN" sz="1100" dirty="0" err="1">
                <a:latin typeface="Courier" pitchFamily="2" charset="0"/>
              </a:rPr>
              <a:t>handle_t</a:t>
            </a:r>
            <a:r>
              <a:rPr lang="zh-CN" altLang="en-US" sz="1100" dirty="0">
                <a:latin typeface="Courier" pitchFamily="2" charset="0"/>
              </a:rPr>
              <a:t> </a:t>
            </a:r>
            <a:r>
              <a:rPr lang="en-US" altLang="zh-CN" sz="1100" dirty="0">
                <a:latin typeface="Courier" pitchFamily="2" charset="0"/>
              </a:rPr>
              <a:t>handle;</a:t>
            </a:r>
          </a:p>
          <a:p>
            <a:r>
              <a:rPr lang="en-US" altLang="zh-CN" sz="1100" dirty="0">
                <a:latin typeface="Courier" pitchFamily="2" charset="0"/>
              </a:rPr>
              <a:t>//</a:t>
            </a:r>
            <a:r>
              <a:rPr lang="zh-CN" altLang="en-US" sz="1100" dirty="0">
                <a:latin typeface="Courier" pitchFamily="2" charset="0"/>
              </a:rPr>
              <a:t> 原子操作：创建新文件</a:t>
            </a:r>
            <a:endParaRPr lang="en-US" altLang="zh-CN" sz="1100" dirty="0">
              <a:latin typeface="Courier" pitchFamily="2" charset="0"/>
            </a:endParaRPr>
          </a:p>
          <a:p>
            <a:r>
              <a:rPr lang="en-US" altLang="zh-CN" sz="1100" b="1" dirty="0">
                <a:solidFill>
                  <a:srgbClr val="C00000"/>
                </a:solidFill>
                <a:latin typeface="Courier" pitchFamily="2" charset="0"/>
              </a:rPr>
              <a:t>handle</a:t>
            </a:r>
            <a:r>
              <a:rPr lang="zh-CN" altLang="en-US" sz="1100" b="1" dirty="0">
                <a:solidFill>
                  <a:srgbClr val="C00000"/>
                </a:solidFill>
                <a:latin typeface="Courier" pitchFamily="2" charset="0"/>
              </a:rPr>
              <a:t> </a:t>
            </a:r>
            <a:r>
              <a:rPr lang="en-US" altLang="zh-CN" sz="1100" b="1" dirty="0">
                <a:solidFill>
                  <a:srgbClr val="C00000"/>
                </a:solidFill>
                <a:latin typeface="Courier" pitchFamily="2" charset="0"/>
              </a:rPr>
              <a:t>=</a:t>
            </a:r>
            <a:r>
              <a:rPr lang="zh-CN" altLang="en-US" sz="1100" b="1" dirty="0">
                <a:solidFill>
                  <a:srgbClr val="C00000"/>
                </a:solidFill>
                <a:latin typeface="Courier" pitchFamily="2" charset="0"/>
              </a:rPr>
              <a:t> </a:t>
            </a:r>
            <a:r>
              <a:rPr lang="en-US" sz="1100" b="1" dirty="0">
                <a:solidFill>
                  <a:srgbClr val="C00000"/>
                </a:solidFill>
                <a:latin typeface="Courier" pitchFamily="2" charset="0"/>
              </a:rPr>
              <a:t>jbd2_journal_start(journal, </a:t>
            </a:r>
            <a:r>
              <a:rPr lang="en-US" sz="1100" b="1" dirty="0" err="1">
                <a:solidFill>
                  <a:srgbClr val="C00000"/>
                </a:solidFill>
                <a:latin typeface="Courier" pitchFamily="2" charset="0"/>
              </a:rPr>
              <a:t>nblocks</a:t>
            </a:r>
            <a:r>
              <a:rPr lang="en-US" altLang="zh-CN" sz="1100" b="1" dirty="0">
                <a:solidFill>
                  <a:srgbClr val="C00000"/>
                </a:solidFill>
                <a:latin typeface="Courier" pitchFamily="2" charset="0"/>
              </a:rPr>
              <a:t>=8)</a:t>
            </a:r>
            <a:endParaRPr lang="en-CN" altLang="zh-CN" sz="1100" dirty="0">
              <a:latin typeface="Courier" pitchFamily="2" charset="0"/>
            </a:endParaRPr>
          </a:p>
          <a:p>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a:t>
            </a:r>
            <a:r>
              <a:rPr lang="en-US" altLang="zh-CN" sz="1100" dirty="0">
                <a:latin typeface="Courier" pitchFamily="2" charset="0"/>
              </a:rPr>
              <a:t>1.</a:t>
            </a:r>
            <a:r>
              <a:rPr lang="zh-CN" altLang="en-US" sz="1100" dirty="0">
                <a:latin typeface="Courier" pitchFamily="2" charset="0"/>
              </a:rPr>
              <a:t> 标记</a:t>
            </a:r>
            <a:r>
              <a:rPr lang="en-US" altLang="zh-CN" sz="1100" dirty="0" err="1">
                <a:latin typeface="Courier" pitchFamily="2" charset="0"/>
              </a:rPr>
              <a:t>inode</a:t>
            </a:r>
            <a:r>
              <a:rPr lang="zh-CN" altLang="en-US" sz="1100" dirty="0">
                <a:latin typeface="Courier" pitchFamily="2" charset="0"/>
              </a:rPr>
              <a:t>为占用</a:t>
            </a:r>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a:t>
            </a:r>
            <a:r>
              <a:rPr lang="en-US" altLang="zh-CN" sz="1100" dirty="0" err="1">
                <a:latin typeface="Courier" pitchFamily="2" charset="0"/>
              </a:rPr>
              <a:t>bh</a:t>
            </a:r>
            <a:r>
              <a:rPr lang="en-US" altLang="zh-CN" sz="1100" dirty="0">
                <a:latin typeface="Courier" pitchFamily="2" charset="0"/>
              </a:rPr>
              <a:t>: </a:t>
            </a:r>
            <a:r>
              <a:rPr lang="en-US" altLang="zh-CN" sz="1100" dirty="0" err="1">
                <a:latin typeface="Courier" pitchFamily="2" charset="0"/>
              </a:rPr>
              <a:t>buffer_head</a:t>
            </a:r>
            <a:r>
              <a:rPr lang="zh-CN" altLang="en-US" sz="1100" dirty="0">
                <a:latin typeface="Courier" pitchFamily="2" charset="0"/>
              </a:rPr>
              <a:t> 对应存储设备中的最小访问单元</a:t>
            </a:r>
            <a:endParaRPr lang="en-US" altLang="zh-CN" sz="1100" dirty="0">
              <a:latin typeface="Courier" pitchFamily="2" charset="0"/>
            </a:endParaRPr>
          </a:p>
          <a:p>
            <a:r>
              <a:rPr lang="en-US" altLang="zh-CN" sz="1100" dirty="0" err="1">
                <a:latin typeface="Courier" pitchFamily="2" charset="0"/>
              </a:rPr>
              <a:t>bitmap_bh</a:t>
            </a:r>
            <a:r>
              <a:rPr lang="en-US" altLang="zh-CN" sz="1100" dirty="0">
                <a:latin typeface="Courier" pitchFamily="2" charset="0"/>
              </a:rPr>
              <a:t> = </a:t>
            </a:r>
            <a:r>
              <a:rPr lang="en-US" altLang="zh-CN" sz="1100" dirty="0" err="1">
                <a:latin typeface="Courier" pitchFamily="2" charset="0"/>
              </a:rPr>
              <a:t>read_inode_bitmap</a:t>
            </a:r>
            <a:r>
              <a:rPr lang="en-US" altLang="zh-CN" sz="1100" dirty="0">
                <a:latin typeface="Courier" pitchFamily="2" charset="0"/>
              </a:rPr>
              <a:t>(sb, group)</a:t>
            </a:r>
          </a:p>
          <a:p>
            <a:endParaRPr lang="en-US" sz="1100" b="1" dirty="0">
              <a:solidFill>
                <a:srgbClr val="C00000"/>
              </a:solidFill>
              <a:latin typeface="Courier" pitchFamily="2" charset="0"/>
            </a:endParaRPr>
          </a:p>
          <a:p>
            <a:r>
              <a:rPr lang="en-US" altLang="zh-CN" sz="1100" dirty="0" err="1">
                <a:latin typeface="Courier" pitchFamily="2" charset="0"/>
              </a:rPr>
              <a:t>set_bit</a:t>
            </a:r>
            <a:r>
              <a:rPr lang="en-US" altLang="zh-CN" sz="1100" dirty="0">
                <a:latin typeface="Courier" pitchFamily="2" charset="0"/>
              </a:rPr>
              <a:t>(</a:t>
            </a:r>
            <a:r>
              <a:rPr lang="en-US" altLang="zh-CN" sz="1100" dirty="0" err="1">
                <a:latin typeface="Courier" pitchFamily="2" charset="0"/>
              </a:rPr>
              <a:t>ino</a:t>
            </a:r>
            <a:r>
              <a:rPr lang="en-US" altLang="zh-CN" sz="1100" dirty="0">
                <a:latin typeface="Courier" pitchFamily="2" charset="0"/>
              </a:rPr>
              <a:t>, </a:t>
            </a:r>
            <a:r>
              <a:rPr lang="en-US" altLang="zh-CN" sz="1100" dirty="0" err="1">
                <a:latin typeface="Courier" pitchFamily="2" charset="0"/>
              </a:rPr>
              <a:t>bitmap_bh</a:t>
            </a:r>
            <a:r>
              <a:rPr lang="en-US" altLang="zh-CN" sz="1100" dirty="0">
                <a:latin typeface="Courier" pitchFamily="2" charset="0"/>
              </a:rPr>
              <a:t>-&gt;</a:t>
            </a:r>
            <a:r>
              <a:rPr lang="en-US" altLang="zh-CN" sz="1100" dirty="0" err="1">
                <a:latin typeface="Courier" pitchFamily="2" charset="0"/>
              </a:rPr>
              <a:t>b_data</a:t>
            </a:r>
            <a:r>
              <a:rPr lang="en-US" altLang="zh-CN" sz="1100" dirty="0">
                <a:latin typeface="Courier" pitchFamily="2" charset="0"/>
              </a:rPr>
              <a:t>)</a:t>
            </a:r>
          </a:p>
          <a:p>
            <a:endParaRPr lang="en-US" sz="1100" dirty="0">
              <a:latin typeface="Courier" pitchFamily="2" charset="0"/>
            </a:endParaRPr>
          </a:p>
          <a:p>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a:t>
            </a:r>
            <a:r>
              <a:rPr lang="en-US" altLang="zh-CN" sz="1100" dirty="0">
                <a:latin typeface="Courier" pitchFamily="2" charset="0"/>
              </a:rPr>
              <a:t>2.</a:t>
            </a:r>
            <a:r>
              <a:rPr lang="zh-CN" altLang="en-US" sz="1100" dirty="0">
                <a:latin typeface="Courier" pitchFamily="2" charset="0"/>
              </a:rPr>
              <a:t> 初始化</a:t>
            </a:r>
            <a:r>
              <a:rPr lang="en-US" altLang="zh-CN" sz="1100" dirty="0" err="1">
                <a:latin typeface="Courier" pitchFamily="2" charset="0"/>
              </a:rPr>
              <a:t>inode</a:t>
            </a:r>
            <a:endParaRPr lang="en-US" altLang="zh-CN" sz="1100" dirty="0">
              <a:latin typeface="Courier" pitchFamily="2" charset="0"/>
            </a:endParaRPr>
          </a:p>
          <a:p>
            <a:r>
              <a:rPr lang="en-US" altLang="zh-CN" sz="1100" dirty="0" err="1">
                <a:latin typeface="Courier" pitchFamily="2" charset="0"/>
              </a:rPr>
              <a:t>inode_bh</a:t>
            </a:r>
            <a:r>
              <a:rPr lang="zh-CN" altLang="en-US" sz="1100" dirty="0">
                <a:latin typeface="Courier" pitchFamily="2" charset="0"/>
              </a:rPr>
              <a:t> </a:t>
            </a:r>
            <a:r>
              <a:rPr lang="en-US" altLang="zh-CN" sz="1100" dirty="0">
                <a:latin typeface="Courier" pitchFamily="2" charset="0"/>
              </a:rPr>
              <a:t>=</a:t>
            </a:r>
            <a:r>
              <a:rPr lang="zh-CN" altLang="en-US" sz="1100" dirty="0">
                <a:latin typeface="Courier" pitchFamily="2" charset="0"/>
              </a:rPr>
              <a:t> </a:t>
            </a:r>
            <a:r>
              <a:rPr lang="en-US" altLang="zh-CN" sz="1100" dirty="0" err="1">
                <a:latin typeface="Courier" pitchFamily="2" charset="0"/>
              </a:rPr>
              <a:t>get_inode_bh</a:t>
            </a:r>
            <a:r>
              <a:rPr lang="en-US" altLang="zh-CN" sz="1100" dirty="0">
                <a:latin typeface="Courier" pitchFamily="2" charset="0"/>
              </a:rPr>
              <a:t>(sb,</a:t>
            </a:r>
            <a:r>
              <a:rPr lang="zh-CN" altLang="en-US" sz="1100" dirty="0">
                <a:latin typeface="Courier" pitchFamily="2" charset="0"/>
              </a:rPr>
              <a:t> </a:t>
            </a:r>
            <a:r>
              <a:rPr lang="en-US" altLang="zh-CN" sz="1100" dirty="0" err="1">
                <a:latin typeface="Courier" pitchFamily="2" charset="0"/>
              </a:rPr>
              <a:t>ino</a:t>
            </a:r>
            <a:r>
              <a:rPr lang="en-US" altLang="zh-CN" sz="1100" dirty="0">
                <a:latin typeface="Courier" pitchFamily="2" charset="0"/>
              </a:rPr>
              <a:t>)</a:t>
            </a:r>
          </a:p>
          <a:p>
            <a:endParaRPr lang="en-US" sz="1100" dirty="0">
              <a:latin typeface="Courier" pitchFamily="2" charset="0"/>
            </a:endParaRPr>
          </a:p>
          <a:p>
            <a:r>
              <a:rPr lang="en-US" altLang="zh-CN" sz="1100" dirty="0" err="1">
                <a:latin typeface="Courier" pitchFamily="2" charset="0"/>
              </a:rPr>
              <a:t>init_inode</a:t>
            </a:r>
            <a:r>
              <a:rPr lang="en-US" altLang="zh-CN" sz="1100" dirty="0">
                <a:latin typeface="Courier" pitchFamily="2" charset="0"/>
              </a:rPr>
              <a:t>(</a:t>
            </a:r>
            <a:r>
              <a:rPr lang="en-US" altLang="zh-CN" sz="1100" dirty="0" err="1">
                <a:latin typeface="Courier" pitchFamily="2" charset="0"/>
              </a:rPr>
              <a:t>inode_bh</a:t>
            </a:r>
            <a:r>
              <a:rPr lang="en-US" altLang="zh-CN" sz="1100" dirty="0">
                <a:latin typeface="Courier" pitchFamily="2" charset="0"/>
              </a:rPr>
              <a:t>)</a:t>
            </a:r>
          </a:p>
          <a:p>
            <a:endParaRPr lang="en-US" sz="1100" dirty="0">
              <a:latin typeface="Courier" pitchFamily="2" charset="0"/>
            </a:endParaRPr>
          </a:p>
          <a:p>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a:t>
            </a:r>
            <a:r>
              <a:rPr lang="en-US" altLang="zh-CN" sz="1100" dirty="0">
                <a:latin typeface="Courier" pitchFamily="2" charset="0"/>
              </a:rPr>
              <a:t>3.</a:t>
            </a:r>
            <a:r>
              <a:rPr lang="zh-CN" altLang="en-US" sz="1100" dirty="0">
                <a:latin typeface="Courier" pitchFamily="2" charset="0"/>
              </a:rPr>
              <a:t> 将目录项写入目录中</a:t>
            </a:r>
            <a:endParaRPr lang="en-US" altLang="zh-CN" sz="1100" dirty="0">
              <a:latin typeface="Courier" pitchFamily="2" charset="0"/>
            </a:endParaRPr>
          </a:p>
          <a:p>
            <a:r>
              <a:rPr lang="en-US" altLang="zh-CN" sz="1100" dirty="0" err="1">
                <a:latin typeface="Courier" pitchFamily="2" charset="0"/>
              </a:rPr>
              <a:t>data_bh</a:t>
            </a:r>
            <a:r>
              <a:rPr lang="zh-CN" altLang="en-US" sz="1100" dirty="0">
                <a:latin typeface="Courier" pitchFamily="2" charset="0"/>
              </a:rPr>
              <a:t> </a:t>
            </a:r>
            <a:r>
              <a:rPr lang="en-US" altLang="zh-CN" sz="1100" dirty="0">
                <a:latin typeface="Courier" pitchFamily="2" charset="0"/>
              </a:rPr>
              <a:t>=</a:t>
            </a:r>
            <a:r>
              <a:rPr lang="zh-CN" altLang="en-US" sz="1100" dirty="0">
                <a:latin typeface="Courier" pitchFamily="2" charset="0"/>
              </a:rPr>
              <a:t> </a:t>
            </a:r>
            <a:r>
              <a:rPr lang="en-US" altLang="zh-CN" sz="1100" dirty="0" err="1">
                <a:latin typeface="Courier" pitchFamily="2" charset="0"/>
              </a:rPr>
              <a:t>get_data_page</a:t>
            </a:r>
            <a:r>
              <a:rPr lang="en-US" altLang="zh-CN" sz="1100" dirty="0">
                <a:latin typeface="Courier" pitchFamily="2" charset="0"/>
              </a:rPr>
              <a:t>(</a:t>
            </a:r>
            <a:r>
              <a:rPr lang="en-US" altLang="zh-CN" sz="1100" dirty="0" err="1">
                <a:latin typeface="Courier" pitchFamily="2" charset="0"/>
              </a:rPr>
              <a:t>dir_inode</a:t>
            </a:r>
            <a:r>
              <a:rPr lang="en-US" altLang="zh-CN" sz="1100" dirty="0">
                <a:latin typeface="Courier" pitchFamily="2" charset="0"/>
              </a:rPr>
              <a:t>)</a:t>
            </a:r>
          </a:p>
          <a:p>
            <a:endParaRPr lang="en-US" sz="1100" dirty="0">
              <a:latin typeface="Courier" pitchFamily="2" charset="0"/>
            </a:endParaRPr>
          </a:p>
          <a:p>
            <a:r>
              <a:rPr lang="en-US" altLang="zh-CN" sz="1100" dirty="0" err="1">
                <a:latin typeface="Courier" pitchFamily="2" charset="0"/>
              </a:rPr>
              <a:t>add_dentry_to_data</a:t>
            </a:r>
            <a:r>
              <a:rPr lang="en-US" altLang="zh-CN" sz="1100" dirty="0">
                <a:latin typeface="Courier" pitchFamily="2" charset="0"/>
              </a:rPr>
              <a:t>(page,</a:t>
            </a:r>
            <a:r>
              <a:rPr lang="zh-CN" altLang="en-US" sz="1100" dirty="0">
                <a:latin typeface="Courier" pitchFamily="2" charset="0"/>
              </a:rPr>
              <a:t> </a:t>
            </a:r>
            <a:r>
              <a:rPr lang="en-US" altLang="zh-CN" sz="1100" dirty="0">
                <a:latin typeface="Courier" pitchFamily="2" charset="0"/>
              </a:rPr>
              <a:t>filename,</a:t>
            </a:r>
            <a:r>
              <a:rPr lang="zh-CN" altLang="en-US" sz="1100" dirty="0">
                <a:latin typeface="Courier" pitchFamily="2" charset="0"/>
              </a:rPr>
              <a:t> </a:t>
            </a:r>
            <a:r>
              <a:rPr lang="en-US" altLang="zh-CN" sz="1100" dirty="0" err="1">
                <a:latin typeface="Courier" pitchFamily="2" charset="0"/>
              </a:rPr>
              <a:t>ino</a:t>
            </a:r>
            <a:r>
              <a:rPr lang="en-US" altLang="zh-CN" sz="1100" dirty="0">
                <a:latin typeface="Courier" pitchFamily="2" charset="0"/>
              </a:rPr>
              <a:t>)</a:t>
            </a:r>
          </a:p>
          <a:p>
            <a:endParaRPr lang="en-US" sz="1100" dirty="0">
              <a:latin typeface="Courier" pitchFamily="2" charset="0"/>
            </a:endParaRPr>
          </a:p>
          <a:p>
            <a:endParaRPr lang="en-US" altLang="zh-CN" sz="1100" dirty="0">
              <a:latin typeface="Courier" pitchFamily="2" charset="0"/>
            </a:endParaRPr>
          </a:p>
          <a:p>
            <a:endParaRPr lang="en-US" sz="1100" dirty="0">
              <a:latin typeface="Courier" pitchFamily="2" charset="0"/>
            </a:endParaRPr>
          </a:p>
        </p:txBody>
      </p:sp>
      <p:sp>
        <p:nvSpPr>
          <p:cNvPr id="14" name="TextBox 13">
            <a:extLst>
              <a:ext uri="{FF2B5EF4-FFF2-40B4-BE49-F238E27FC236}">
                <a16:creationId xmlns:a16="http://schemas.microsoft.com/office/drawing/2014/main" id="{716C1643-BCD6-DA47-BEE6-C8B000920FAA}"/>
              </a:ext>
            </a:extLst>
          </p:cNvPr>
          <p:cNvSpPr txBox="1"/>
          <p:nvPr/>
        </p:nvSpPr>
        <p:spPr>
          <a:xfrm>
            <a:off x="539299" y="1477757"/>
            <a:ext cx="3744417" cy="1277273"/>
          </a:xfrm>
          <a:prstGeom prst="rect">
            <a:avLst/>
          </a:prstGeom>
          <a:solidFill>
            <a:schemeClr val="accent6">
              <a:lumMod val="20000"/>
              <a:lumOff val="80000"/>
            </a:schemeClr>
          </a:solidFill>
          <a:ln>
            <a:solidFill>
              <a:schemeClr val="bg2"/>
            </a:solidFill>
          </a:ln>
        </p:spPr>
        <p:txBody>
          <a:bodyPr wrap="square" rtlCol="0">
            <a:spAutoFit/>
          </a:bodyPr>
          <a:lstStyle/>
          <a:p>
            <a:r>
              <a:rPr lang="en-US" altLang="zh-CN" sz="1100" dirty="0" err="1">
                <a:latin typeface="Courier" pitchFamily="2" charset="0"/>
              </a:rPr>
              <a:t>journal_t</a:t>
            </a:r>
            <a:r>
              <a:rPr lang="zh-CN" altLang="en-US" sz="1100" dirty="0">
                <a:latin typeface="Courier" pitchFamily="2" charset="0"/>
              </a:rPr>
              <a:t> </a:t>
            </a:r>
            <a:r>
              <a:rPr lang="en-US" altLang="zh-CN" sz="1100" dirty="0">
                <a:latin typeface="Courier" pitchFamily="2" charset="0"/>
              </a:rPr>
              <a:t>journal;</a:t>
            </a:r>
          </a:p>
          <a:p>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初始化日志系统（日志存在文件中）</a:t>
            </a:r>
            <a:endParaRPr lang="en-US" altLang="zh-CN" sz="1100" dirty="0">
              <a:latin typeface="Courier" pitchFamily="2" charset="0"/>
            </a:endParaRPr>
          </a:p>
          <a:p>
            <a:r>
              <a:rPr lang="en-US" altLang="zh-CN" sz="1100" dirty="0">
                <a:latin typeface="Courier" pitchFamily="2" charset="0"/>
              </a:rPr>
              <a:t>journal</a:t>
            </a:r>
            <a:r>
              <a:rPr lang="zh-CN" altLang="en-US" sz="1100" dirty="0">
                <a:latin typeface="Courier" pitchFamily="2" charset="0"/>
              </a:rPr>
              <a:t> </a:t>
            </a:r>
            <a:r>
              <a:rPr lang="en-US" altLang="zh-CN" sz="1100" dirty="0">
                <a:latin typeface="Courier" pitchFamily="2" charset="0"/>
              </a:rPr>
              <a:t>=</a:t>
            </a:r>
            <a:r>
              <a:rPr lang="zh-CN" altLang="en-US" sz="1100" dirty="0">
                <a:latin typeface="Courier" pitchFamily="2" charset="0"/>
              </a:rPr>
              <a:t> </a:t>
            </a:r>
            <a:r>
              <a:rPr lang="en-US" sz="1100" dirty="0">
                <a:latin typeface="Courier" pitchFamily="2" charset="0"/>
              </a:rPr>
              <a:t>jbd2_journal_init_inode</a:t>
            </a:r>
            <a:r>
              <a:rPr lang="en-US" altLang="zh-CN" sz="1100" dirty="0">
                <a:latin typeface="Courier" pitchFamily="2" charset="0"/>
              </a:rPr>
              <a:t>(</a:t>
            </a:r>
            <a:r>
              <a:rPr lang="en-US" altLang="zh-CN" sz="1100" dirty="0" err="1">
                <a:latin typeface="Courier" pitchFamily="2" charset="0"/>
              </a:rPr>
              <a:t>inode</a:t>
            </a:r>
            <a:r>
              <a:rPr lang="en-US" altLang="zh-CN" sz="1100" dirty="0">
                <a:latin typeface="Courier" pitchFamily="2" charset="0"/>
              </a:rPr>
              <a:t>)</a:t>
            </a:r>
          </a:p>
          <a:p>
            <a:r>
              <a:rPr lang="en-US" altLang="zh-CN" sz="1100" dirty="0">
                <a:latin typeface="Courier" pitchFamily="2" charset="0"/>
              </a:rPr>
              <a:t>//</a:t>
            </a:r>
            <a:r>
              <a:rPr lang="zh-CN" altLang="en-US" sz="1100" dirty="0">
                <a:latin typeface="Courier" pitchFamily="2" charset="0"/>
              </a:rPr>
              <a:t> 读取并恢复已有日志（如果存在）</a:t>
            </a:r>
            <a:endParaRPr lang="en-US" altLang="zh-CN" sz="1100" dirty="0">
              <a:latin typeface="Courier" pitchFamily="2" charset="0"/>
            </a:endParaRPr>
          </a:p>
          <a:p>
            <a:r>
              <a:rPr lang="en-US" sz="1100" dirty="0">
                <a:latin typeface="Courier" pitchFamily="2" charset="0"/>
              </a:rPr>
              <a:t>jbd2_journal_load(journal)</a:t>
            </a:r>
          </a:p>
          <a:p>
            <a:endParaRPr lang="en-US" sz="1100" dirty="0">
              <a:latin typeface="Courier" pitchFamily="2" charset="0"/>
            </a:endParaRPr>
          </a:p>
        </p:txBody>
      </p:sp>
      <p:sp>
        <p:nvSpPr>
          <p:cNvPr id="15" name="TextBox 14">
            <a:extLst>
              <a:ext uri="{FF2B5EF4-FFF2-40B4-BE49-F238E27FC236}">
                <a16:creationId xmlns:a16="http://schemas.microsoft.com/office/drawing/2014/main" id="{C5C1A360-D9EA-C44E-B195-17B05E27F064}"/>
              </a:ext>
            </a:extLst>
          </p:cNvPr>
          <p:cNvSpPr txBox="1"/>
          <p:nvPr/>
        </p:nvSpPr>
        <p:spPr>
          <a:xfrm>
            <a:off x="539750" y="4318614"/>
            <a:ext cx="3744417" cy="600164"/>
          </a:xfrm>
          <a:prstGeom prst="rect">
            <a:avLst/>
          </a:prstGeom>
          <a:solidFill>
            <a:schemeClr val="accent6">
              <a:lumMod val="20000"/>
              <a:lumOff val="80000"/>
            </a:schemeClr>
          </a:solidFill>
          <a:ln>
            <a:solidFill>
              <a:schemeClr val="bg2"/>
            </a:solidFill>
          </a:ln>
        </p:spPr>
        <p:txBody>
          <a:bodyPr wrap="square" rtlCol="0">
            <a:spAutoFit/>
          </a:bodyPr>
          <a:lstStyle/>
          <a:p>
            <a:r>
              <a:rPr lang="en-US" altLang="zh-CN" sz="1100" dirty="0">
                <a:latin typeface="Courier" pitchFamily="2" charset="0"/>
              </a:rPr>
              <a:t>//</a:t>
            </a:r>
            <a:r>
              <a:rPr lang="zh-CN" altLang="en-US" sz="1100" dirty="0">
                <a:latin typeface="Courier" pitchFamily="2" charset="0"/>
              </a:rPr>
              <a:t> 释放日志系统</a:t>
            </a:r>
            <a:endParaRPr lang="en-US" sz="1100" dirty="0">
              <a:latin typeface="Courier" pitchFamily="2" charset="0"/>
            </a:endParaRPr>
          </a:p>
          <a:p>
            <a:r>
              <a:rPr lang="en-US" sz="1100" dirty="0">
                <a:latin typeface="Courier" pitchFamily="2" charset="0"/>
              </a:rPr>
              <a:t>jbd2_journal_destroy(journal)</a:t>
            </a:r>
            <a:endParaRPr lang="en-US" altLang="zh-CN" sz="1100" dirty="0">
              <a:latin typeface="Courier" pitchFamily="2" charset="0"/>
            </a:endParaRPr>
          </a:p>
          <a:p>
            <a:endParaRPr lang="en-US" sz="1100" dirty="0">
              <a:latin typeface="Courier" pitchFamily="2" charset="0"/>
            </a:endParaRPr>
          </a:p>
        </p:txBody>
      </p:sp>
      <p:sp>
        <p:nvSpPr>
          <p:cNvPr id="10" name="TextBox 9">
            <a:extLst>
              <a:ext uri="{FF2B5EF4-FFF2-40B4-BE49-F238E27FC236}">
                <a16:creationId xmlns:a16="http://schemas.microsoft.com/office/drawing/2014/main" id="{2ECD993D-533C-0641-8B28-2C8D3D54BCCC}"/>
              </a:ext>
            </a:extLst>
          </p:cNvPr>
          <p:cNvSpPr txBox="1"/>
          <p:nvPr/>
        </p:nvSpPr>
        <p:spPr>
          <a:xfrm>
            <a:off x="515915" y="1174402"/>
            <a:ext cx="1620957" cy="307777"/>
          </a:xfrm>
          <a:prstGeom prst="rect">
            <a:avLst/>
          </a:prstGeom>
          <a:noFill/>
        </p:spPr>
        <p:txBody>
          <a:bodyPr wrap="none" rtlCol="0">
            <a:spAutoFit/>
          </a:bodyPr>
          <a:lstStyle/>
          <a:p>
            <a:r>
              <a:rPr lang="zh-CN" altLang="en-CN" sz="1400" dirty="0"/>
              <a:t>文件系统</a:t>
            </a:r>
            <a:r>
              <a:rPr lang="zh-CN" altLang="en-US" sz="1400" dirty="0"/>
              <a:t>挂载时：</a:t>
            </a:r>
            <a:endParaRPr lang="en-CN" sz="1400" dirty="0"/>
          </a:p>
        </p:txBody>
      </p:sp>
      <p:sp>
        <p:nvSpPr>
          <p:cNvPr id="16" name="TextBox 15">
            <a:extLst>
              <a:ext uri="{FF2B5EF4-FFF2-40B4-BE49-F238E27FC236}">
                <a16:creationId xmlns:a16="http://schemas.microsoft.com/office/drawing/2014/main" id="{63B2D966-A96B-5549-8BBD-E5CB41FED46F}"/>
              </a:ext>
            </a:extLst>
          </p:cNvPr>
          <p:cNvSpPr txBox="1"/>
          <p:nvPr/>
        </p:nvSpPr>
        <p:spPr>
          <a:xfrm>
            <a:off x="515915" y="2881042"/>
            <a:ext cx="1082348" cy="307777"/>
          </a:xfrm>
          <a:prstGeom prst="rect">
            <a:avLst/>
          </a:prstGeom>
          <a:noFill/>
        </p:spPr>
        <p:txBody>
          <a:bodyPr wrap="none" rtlCol="0">
            <a:spAutoFit/>
          </a:bodyPr>
          <a:lstStyle/>
          <a:p>
            <a:r>
              <a:rPr lang="zh-CN" altLang="en-US" sz="1400" dirty="0"/>
              <a:t>后台进程：</a:t>
            </a:r>
            <a:endParaRPr lang="en-CN" sz="1400" dirty="0"/>
          </a:p>
        </p:txBody>
      </p:sp>
      <p:sp>
        <p:nvSpPr>
          <p:cNvPr id="20" name="TextBox 19">
            <a:extLst>
              <a:ext uri="{FF2B5EF4-FFF2-40B4-BE49-F238E27FC236}">
                <a16:creationId xmlns:a16="http://schemas.microsoft.com/office/drawing/2014/main" id="{637532AB-4D38-F74B-A671-8F791A82C869}"/>
              </a:ext>
            </a:extLst>
          </p:cNvPr>
          <p:cNvSpPr txBox="1"/>
          <p:nvPr/>
        </p:nvSpPr>
        <p:spPr>
          <a:xfrm>
            <a:off x="4535016" y="902555"/>
            <a:ext cx="1441420" cy="307777"/>
          </a:xfrm>
          <a:prstGeom prst="rect">
            <a:avLst/>
          </a:prstGeom>
          <a:noFill/>
        </p:spPr>
        <p:txBody>
          <a:bodyPr wrap="none" rtlCol="0">
            <a:spAutoFit/>
          </a:bodyPr>
          <a:lstStyle>
            <a:defPPr>
              <a:defRPr lang="zh-CN"/>
            </a:defPPr>
            <a:lvl1pPr>
              <a:defRPr sz="1400"/>
            </a:lvl1pPr>
          </a:lstStyle>
          <a:p>
            <a:r>
              <a:rPr lang="zh-CN" altLang="en-US" dirty="0"/>
              <a:t>系统调用处理：</a:t>
            </a:r>
            <a:endParaRPr lang="en-US" altLang="zh-CN" dirty="0"/>
          </a:p>
        </p:txBody>
      </p:sp>
      <p:sp>
        <p:nvSpPr>
          <p:cNvPr id="18" name="TextBox 17">
            <a:extLst>
              <a:ext uri="{FF2B5EF4-FFF2-40B4-BE49-F238E27FC236}">
                <a16:creationId xmlns:a16="http://schemas.microsoft.com/office/drawing/2014/main" id="{C3EA13C6-1F57-144E-8992-D59124A2EA6A}"/>
              </a:ext>
            </a:extLst>
          </p:cNvPr>
          <p:cNvSpPr txBox="1"/>
          <p:nvPr/>
        </p:nvSpPr>
        <p:spPr>
          <a:xfrm>
            <a:off x="6804248" y="559916"/>
            <a:ext cx="2031325" cy="369332"/>
          </a:xfrm>
          <a:prstGeom prst="rect">
            <a:avLst/>
          </a:prstGeom>
          <a:noFill/>
        </p:spPr>
        <p:txBody>
          <a:bodyPr wrap="none" rtlCol="0">
            <a:spAutoFit/>
          </a:bodyPr>
          <a:lstStyle/>
          <a:p>
            <a:r>
              <a:rPr lang="zh-CN" altLang="en-US" dirty="0">
                <a:solidFill>
                  <a:srgbClr val="C00000"/>
                </a:solidFill>
                <a:latin typeface="Courier" pitchFamily="2" charset="0"/>
              </a:rPr>
              <a:t>开始新的原子操作</a:t>
            </a:r>
            <a:endParaRPr lang="en-US" altLang="zh-CN" dirty="0">
              <a:solidFill>
                <a:srgbClr val="C00000"/>
              </a:solidFill>
              <a:latin typeface="Courier" pitchFamily="2" charset="0"/>
            </a:endParaRPr>
          </a:p>
        </p:txBody>
      </p:sp>
      <p:cxnSp>
        <p:nvCxnSpPr>
          <p:cNvPr id="19" name="Straight Arrow Connector 18">
            <a:extLst>
              <a:ext uri="{FF2B5EF4-FFF2-40B4-BE49-F238E27FC236}">
                <a16:creationId xmlns:a16="http://schemas.microsoft.com/office/drawing/2014/main" id="{C19C0111-8AE2-8A49-AB4C-9CB637EFB902}"/>
              </a:ext>
            </a:extLst>
          </p:cNvPr>
          <p:cNvCxnSpPr>
            <a:cxnSpLocks/>
            <a:stCxn id="18" idx="2"/>
          </p:cNvCxnSpPr>
          <p:nvPr/>
        </p:nvCxnSpPr>
        <p:spPr>
          <a:xfrm flipH="1">
            <a:off x="6660232" y="929248"/>
            <a:ext cx="1159679" cy="63210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522E4F1E-B35B-6140-953C-97E3FE44DB02}"/>
              </a:ext>
            </a:extLst>
          </p:cNvPr>
          <p:cNvSpPr txBox="1"/>
          <p:nvPr/>
        </p:nvSpPr>
        <p:spPr>
          <a:xfrm>
            <a:off x="515915" y="4061604"/>
            <a:ext cx="1620957" cy="307777"/>
          </a:xfrm>
          <a:prstGeom prst="rect">
            <a:avLst/>
          </a:prstGeom>
          <a:noFill/>
        </p:spPr>
        <p:txBody>
          <a:bodyPr wrap="none" rtlCol="0">
            <a:spAutoFit/>
          </a:bodyPr>
          <a:lstStyle/>
          <a:p>
            <a:r>
              <a:rPr lang="zh-CN" altLang="en-US" sz="1400" dirty="0"/>
              <a:t>文件系统卸载时：</a:t>
            </a:r>
            <a:endParaRPr lang="en-CN" sz="1400" dirty="0"/>
          </a:p>
        </p:txBody>
      </p:sp>
    </p:spTree>
    <p:extLst>
      <p:ext uri="{BB962C8B-B14F-4D97-AF65-F5344CB8AC3E}">
        <p14:creationId xmlns:p14="http://schemas.microsoft.com/office/powerpoint/2010/main" val="22124915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BDB1E-62D0-5948-96F9-0B385AF4E959}"/>
              </a:ext>
            </a:extLst>
          </p:cNvPr>
          <p:cNvSpPr>
            <a:spLocks noGrp="1"/>
          </p:cNvSpPr>
          <p:nvPr>
            <p:ph type="title"/>
          </p:nvPr>
        </p:nvSpPr>
        <p:spPr/>
        <p:txBody>
          <a:bodyPr/>
          <a:lstStyle/>
          <a:p>
            <a:r>
              <a:rPr lang="en-CN" dirty="0"/>
              <a:t>JBD</a:t>
            </a:r>
            <a:r>
              <a:rPr lang="en-US" altLang="zh-CN" dirty="0"/>
              <a:t>2</a:t>
            </a:r>
            <a:r>
              <a:rPr lang="zh-CN" altLang="en-US" dirty="0"/>
              <a:t>部分接口和使用方法</a:t>
            </a:r>
            <a:endParaRPr lang="en-CN" dirty="0"/>
          </a:p>
        </p:txBody>
      </p:sp>
      <p:sp>
        <p:nvSpPr>
          <p:cNvPr id="4" name="Slide Number Placeholder 3">
            <a:extLst>
              <a:ext uri="{FF2B5EF4-FFF2-40B4-BE49-F238E27FC236}">
                <a16:creationId xmlns:a16="http://schemas.microsoft.com/office/drawing/2014/main" id="{C8862C3D-542B-B04C-9283-74A97569AB75}"/>
              </a:ext>
            </a:extLst>
          </p:cNvPr>
          <p:cNvSpPr>
            <a:spLocks noGrp="1"/>
          </p:cNvSpPr>
          <p:nvPr>
            <p:ph type="sldNum" sz="quarter" idx="12"/>
          </p:nvPr>
        </p:nvSpPr>
        <p:spPr/>
        <p:txBody>
          <a:bodyPr/>
          <a:lstStyle/>
          <a:p>
            <a:fld id="{ADE361C3-C043-4A6E-BDCE-8DA1E7D90A3B}" type="slidenum">
              <a:rPr lang="zh-CN" altLang="en-US" smtClean="0"/>
              <a:t>32</a:t>
            </a:fld>
            <a:endParaRPr lang="zh-CN" altLang="en-US"/>
          </a:p>
        </p:txBody>
      </p:sp>
      <p:sp>
        <p:nvSpPr>
          <p:cNvPr id="5" name="Footer Placeholder 4">
            <a:extLst>
              <a:ext uri="{FF2B5EF4-FFF2-40B4-BE49-F238E27FC236}">
                <a16:creationId xmlns:a16="http://schemas.microsoft.com/office/drawing/2014/main" id="{AE140DC6-8932-E94A-AF5D-8D69694DE66C}"/>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TextBox 5">
            <a:extLst>
              <a:ext uri="{FF2B5EF4-FFF2-40B4-BE49-F238E27FC236}">
                <a16:creationId xmlns:a16="http://schemas.microsoft.com/office/drawing/2014/main" id="{5FC4A2EA-0C87-AF42-A642-9CDF7995C512}"/>
              </a:ext>
            </a:extLst>
          </p:cNvPr>
          <p:cNvSpPr txBox="1"/>
          <p:nvPr/>
        </p:nvSpPr>
        <p:spPr>
          <a:xfrm>
            <a:off x="539300" y="3177485"/>
            <a:ext cx="3744417" cy="769441"/>
          </a:xfrm>
          <a:prstGeom prst="rect">
            <a:avLst/>
          </a:prstGeom>
          <a:solidFill>
            <a:schemeClr val="accent6">
              <a:lumMod val="20000"/>
              <a:lumOff val="80000"/>
            </a:schemeClr>
          </a:solidFill>
          <a:ln>
            <a:solidFill>
              <a:schemeClr val="bg2"/>
            </a:solidFill>
          </a:ln>
        </p:spPr>
        <p:txBody>
          <a:bodyPr wrap="square" rtlCol="0">
            <a:spAutoFit/>
          </a:bodyPr>
          <a:lstStyle/>
          <a:p>
            <a:r>
              <a:rPr lang="en-US" altLang="zh-CN" sz="1100" dirty="0">
                <a:latin typeface="Courier" pitchFamily="2" charset="0"/>
              </a:rPr>
              <a:t>while</a:t>
            </a:r>
            <a:r>
              <a:rPr lang="zh-CN" altLang="en-US" sz="1100" dirty="0">
                <a:latin typeface="Courier" pitchFamily="2" charset="0"/>
              </a:rPr>
              <a:t> </a:t>
            </a:r>
            <a:r>
              <a:rPr lang="en-US" altLang="zh-CN" sz="1100" dirty="0">
                <a:latin typeface="Courier" pitchFamily="2" charset="0"/>
              </a:rPr>
              <a:t>(sleep_5s())</a:t>
            </a:r>
            <a:r>
              <a:rPr lang="zh-CN" altLang="en-US" sz="1100" dirty="0">
                <a:latin typeface="Courier" pitchFamily="2" charset="0"/>
              </a:rPr>
              <a:t> </a:t>
            </a:r>
            <a:r>
              <a:rPr lang="en-US" altLang="zh-CN" sz="1100" dirty="0">
                <a:latin typeface="Courier" pitchFamily="2" charset="0"/>
              </a:rPr>
              <a:t>{</a:t>
            </a:r>
          </a:p>
          <a:p>
            <a:r>
              <a:rPr lang="zh-CN" altLang="en-US" sz="1100" dirty="0">
                <a:latin typeface="Courier" pitchFamily="2" charset="0"/>
              </a:rPr>
              <a:t>  </a:t>
            </a:r>
            <a:r>
              <a:rPr lang="en-US" altLang="zh-CN" sz="1100" dirty="0">
                <a:latin typeface="Courier" pitchFamily="2" charset="0"/>
              </a:rPr>
              <a:t>//</a:t>
            </a:r>
            <a:r>
              <a:rPr lang="zh-CN" altLang="en-US" sz="1100" dirty="0">
                <a:latin typeface="Courier" pitchFamily="2" charset="0"/>
              </a:rPr>
              <a:t> 提交事务和回收日志空间（并开始新的事务）</a:t>
            </a:r>
            <a:endParaRPr lang="en-US" altLang="zh-CN" sz="1100" dirty="0">
              <a:latin typeface="Courier" pitchFamily="2" charset="0"/>
            </a:endParaRPr>
          </a:p>
          <a:p>
            <a:r>
              <a:rPr lang="zh-CN" altLang="en-US" sz="1100" dirty="0">
                <a:latin typeface="Courier" pitchFamily="2" charset="0"/>
              </a:rPr>
              <a:t>  </a:t>
            </a:r>
            <a:r>
              <a:rPr lang="en-US" sz="1100" dirty="0">
                <a:latin typeface="Courier" pitchFamily="2" charset="0"/>
              </a:rPr>
              <a:t>jbd2_journal_commit_transaction(</a:t>
            </a:r>
            <a:r>
              <a:rPr lang="en-US" altLang="zh-CN" sz="1100" dirty="0">
                <a:latin typeface="Courier" pitchFamily="2" charset="0"/>
              </a:rPr>
              <a:t>journal</a:t>
            </a:r>
            <a:r>
              <a:rPr lang="en-US" sz="1100" dirty="0">
                <a:latin typeface="Courier" pitchFamily="2" charset="0"/>
              </a:rPr>
              <a:t>)</a:t>
            </a:r>
          </a:p>
          <a:p>
            <a:r>
              <a:rPr lang="en-US" altLang="zh-CN" sz="1100" dirty="0">
                <a:latin typeface="Courier" pitchFamily="2" charset="0"/>
              </a:rPr>
              <a:t>}</a:t>
            </a:r>
            <a:endParaRPr lang="en-US" sz="1100" dirty="0">
              <a:latin typeface="Courier" pitchFamily="2" charset="0"/>
            </a:endParaRPr>
          </a:p>
        </p:txBody>
      </p:sp>
      <p:sp>
        <p:nvSpPr>
          <p:cNvPr id="13" name="TextBox 12">
            <a:extLst>
              <a:ext uri="{FF2B5EF4-FFF2-40B4-BE49-F238E27FC236}">
                <a16:creationId xmlns:a16="http://schemas.microsoft.com/office/drawing/2014/main" id="{E446FFFF-8CB0-7641-A70C-1F3FF0F8DCFD}"/>
              </a:ext>
            </a:extLst>
          </p:cNvPr>
          <p:cNvSpPr txBox="1"/>
          <p:nvPr/>
        </p:nvSpPr>
        <p:spPr>
          <a:xfrm>
            <a:off x="4596664" y="1174402"/>
            <a:ext cx="4175636" cy="4154984"/>
          </a:xfrm>
          <a:prstGeom prst="rect">
            <a:avLst/>
          </a:prstGeom>
          <a:solidFill>
            <a:schemeClr val="accent6">
              <a:lumMod val="20000"/>
              <a:lumOff val="80000"/>
            </a:schemeClr>
          </a:solidFill>
          <a:ln>
            <a:solidFill>
              <a:schemeClr val="bg2"/>
            </a:solidFill>
          </a:ln>
        </p:spPr>
        <p:txBody>
          <a:bodyPr wrap="square" rtlCol="0">
            <a:spAutoFit/>
          </a:bodyPr>
          <a:lstStyle/>
          <a:p>
            <a:r>
              <a:rPr lang="en-US" altLang="zh-CN" sz="1100" dirty="0" err="1">
                <a:latin typeface="Courier" pitchFamily="2" charset="0"/>
              </a:rPr>
              <a:t>handle_t</a:t>
            </a:r>
            <a:r>
              <a:rPr lang="zh-CN" altLang="en-US" sz="1100" dirty="0">
                <a:latin typeface="Courier" pitchFamily="2" charset="0"/>
              </a:rPr>
              <a:t> </a:t>
            </a:r>
            <a:r>
              <a:rPr lang="en-US" altLang="zh-CN" sz="1100" dirty="0">
                <a:latin typeface="Courier" pitchFamily="2" charset="0"/>
              </a:rPr>
              <a:t>handle;</a:t>
            </a:r>
          </a:p>
          <a:p>
            <a:r>
              <a:rPr lang="en-US" altLang="zh-CN" sz="1100" dirty="0">
                <a:latin typeface="Courier" pitchFamily="2" charset="0"/>
              </a:rPr>
              <a:t>//</a:t>
            </a:r>
            <a:r>
              <a:rPr lang="zh-CN" altLang="en-US" sz="1100" dirty="0">
                <a:latin typeface="Courier" pitchFamily="2" charset="0"/>
              </a:rPr>
              <a:t> 原子操作：创建新文件</a:t>
            </a:r>
            <a:endParaRPr lang="en-US" altLang="zh-CN" sz="1100" dirty="0">
              <a:latin typeface="Courier" pitchFamily="2" charset="0"/>
            </a:endParaRPr>
          </a:p>
          <a:p>
            <a:r>
              <a:rPr lang="en-US" altLang="zh-CN" sz="1100" b="1" dirty="0">
                <a:solidFill>
                  <a:srgbClr val="C00000"/>
                </a:solidFill>
                <a:latin typeface="Courier" pitchFamily="2" charset="0"/>
              </a:rPr>
              <a:t>handle</a:t>
            </a:r>
            <a:r>
              <a:rPr lang="zh-CN" altLang="en-US" sz="1100" b="1" dirty="0">
                <a:solidFill>
                  <a:srgbClr val="C00000"/>
                </a:solidFill>
                <a:latin typeface="Courier" pitchFamily="2" charset="0"/>
              </a:rPr>
              <a:t> </a:t>
            </a:r>
            <a:r>
              <a:rPr lang="en-US" altLang="zh-CN" sz="1100" b="1" dirty="0">
                <a:solidFill>
                  <a:srgbClr val="C00000"/>
                </a:solidFill>
                <a:latin typeface="Courier" pitchFamily="2" charset="0"/>
              </a:rPr>
              <a:t>=</a:t>
            </a:r>
            <a:r>
              <a:rPr lang="zh-CN" altLang="en-US" sz="1100" b="1" dirty="0">
                <a:solidFill>
                  <a:srgbClr val="C00000"/>
                </a:solidFill>
                <a:latin typeface="Courier" pitchFamily="2" charset="0"/>
              </a:rPr>
              <a:t> </a:t>
            </a:r>
            <a:r>
              <a:rPr lang="en-US" sz="1100" b="1" dirty="0">
                <a:solidFill>
                  <a:srgbClr val="C00000"/>
                </a:solidFill>
                <a:latin typeface="Courier" pitchFamily="2" charset="0"/>
              </a:rPr>
              <a:t>jbd2_journal_start(journal, </a:t>
            </a:r>
            <a:r>
              <a:rPr lang="en-US" sz="1100" b="1" dirty="0" err="1">
                <a:solidFill>
                  <a:srgbClr val="C00000"/>
                </a:solidFill>
                <a:latin typeface="Courier" pitchFamily="2" charset="0"/>
              </a:rPr>
              <a:t>nblocks</a:t>
            </a:r>
            <a:r>
              <a:rPr lang="en-US" altLang="zh-CN" sz="1100" b="1" dirty="0">
                <a:solidFill>
                  <a:srgbClr val="C00000"/>
                </a:solidFill>
                <a:latin typeface="Courier" pitchFamily="2" charset="0"/>
              </a:rPr>
              <a:t>=8)</a:t>
            </a:r>
            <a:endParaRPr lang="en-CN" altLang="zh-CN" sz="1100" dirty="0">
              <a:latin typeface="Courier" pitchFamily="2" charset="0"/>
            </a:endParaRPr>
          </a:p>
          <a:p>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a:t>
            </a:r>
            <a:r>
              <a:rPr lang="en-US" altLang="zh-CN" sz="1100" dirty="0">
                <a:latin typeface="Courier" pitchFamily="2" charset="0"/>
              </a:rPr>
              <a:t>1.</a:t>
            </a:r>
            <a:r>
              <a:rPr lang="zh-CN" altLang="en-US" sz="1100" dirty="0">
                <a:latin typeface="Courier" pitchFamily="2" charset="0"/>
              </a:rPr>
              <a:t> 标记</a:t>
            </a:r>
            <a:r>
              <a:rPr lang="en-US" altLang="zh-CN" sz="1100" dirty="0" err="1">
                <a:latin typeface="Courier" pitchFamily="2" charset="0"/>
              </a:rPr>
              <a:t>inode</a:t>
            </a:r>
            <a:r>
              <a:rPr lang="zh-CN" altLang="en-US" sz="1100" dirty="0">
                <a:latin typeface="Courier" pitchFamily="2" charset="0"/>
              </a:rPr>
              <a:t>为占用</a:t>
            </a:r>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a:t>
            </a:r>
            <a:r>
              <a:rPr lang="en-US" altLang="zh-CN" sz="1100" dirty="0" err="1">
                <a:latin typeface="Courier" pitchFamily="2" charset="0"/>
              </a:rPr>
              <a:t>bh</a:t>
            </a:r>
            <a:r>
              <a:rPr lang="en-US" altLang="zh-CN" sz="1100" dirty="0">
                <a:latin typeface="Courier" pitchFamily="2" charset="0"/>
              </a:rPr>
              <a:t>: </a:t>
            </a:r>
            <a:r>
              <a:rPr lang="en-US" altLang="zh-CN" sz="1100" dirty="0" err="1">
                <a:latin typeface="Courier" pitchFamily="2" charset="0"/>
              </a:rPr>
              <a:t>buffer_head</a:t>
            </a:r>
            <a:r>
              <a:rPr lang="zh-CN" altLang="en-US" sz="1100" dirty="0">
                <a:latin typeface="Courier" pitchFamily="2" charset="0"/>
              </a:rPr>
              <a:t> 对应存储设备中的最小访问单元</a:t>
            </a:r>
            <a:endParaRPr lang="en-US" altLang="zh-CN" sz="1100" dirty="0">
              <a:latin typeface="Courier" pitchFamily="2" charset="0"/>
            </a:endParaRPr>
          </a:p>
          <a:p>
            <a:r>
              <a:rPr lang="en-US" altLang="zh-CN" sz="1100" dirty="0" err="1">
                <a:latin typeface="Courier" pitchFamily="2" charset="0"/>
              </a:rPr>
              <a:t>bitmap_bh</a:t>
            </a:r>
            <a:r>
              <a:rPr lang="en-US" altLang="zh-CN" sz="1100" dirty="0">
                <a:latin typeface="Courier" pitchFamily="2" charset="0"/>
              </a:rPr>
              <a:t> = </a:t>
            </a:r>
            <a:r>
              <a:rPr lang="en-US" altLang="zh-CN" sz="1100" dirty="0" err="1">
                <a:latin typeface="Courier" pitchFamily="2" charset="0"/>
              </a:rPr>
              <a:t>read_inode_bitmap</a:t>
            </a:r>
            <a:r>
              <a:rPr lang="en-US" altLang="zh-CN" sz="1100" dirty="0">
                <a:latin typeface="Courier" pitchFamily="2" charset="0"/>
              </a:rPr>
              <a:t>(sb, group)</a:t>
            </a:r>
          </a:p>
          <a:p>
            <a:r>
              <a:rPr lang="en-US" sz="1100" b="1" dirty="0">
                <a:solidFill>
                  <a:srgbClr val="C00000"/>
                </a:solidFill>
                <a:latin typeface="Courier" pitchFamily="2" charset="0"/>
              </a:rPr>
              <a:t>jbd2_journal_get_write_access(</a:t>
            </a:r>
            <a:r>
              <a:rPr lang="en-US" altLang="zh-CN" sz="1100" b="1" dirty="0">
                <a:solidFill>
                  <a:srgbClr val="C00000"/>
                </a:solidFill>
                <a:latin typeface="Courier" pitchFamily="2" charset="0"/>
              </a:rPr>
              <a:t>handle,</a:t>
            </a:r>
            <a:r>
              <a:rPr lang="zh-CN" altLang="en-US" sz="1100" b="1" dirty="0">
                <a:solidFill>
                  <a:srgbClr val="C00000"/>
                </a:solidFill>
                <a:latin typeface="Courier" pitchFamily="2" charset="0"/>
              </a:rPr>
              <a:t> </a:t>
            </a:r>
            <a:r>
              <a:rPr lang="en-US" altLang="zh-CN" sz="1100" b="1" dirty="0" err="1">
                <a:solidFill>
                  <a:srgbClr val="C00000"/>
                </a:solidFill>
                <a:latin typeface="Courier" pitchFamily="2" charset="0"/>
              </a:rPr>
              <a:t>bitmap_bh</a:t>
            </a:r>
            <a:r>
              <a:rPr lang="en-US" altLang="zh-CN" sz="1100" b="1" dirty="0">
                <a:solidFill>
                  <a:srgbClr val="C00000"/>
                </a:solidFill>
                <a:latin typeface="Courier" pitchFamily="2" charset="0"/>
              </a:rPr>
              <a:t>)</a:t>
            </a:r>
            <a:endParaRPr lang="en-US" sz="1100" b="1" dirty="0">
              <a:solidFill>
                <a:srgbClr val="C00000"/>
              </a:solidFill>
              <a:latin typeface="Courier" pitchFamily="2" charset="0"/>
            </a:endParaRPr>
          </a:p>
          <a:p>
            <a:r>
              <a:rPr lang="en-US" altLang="zh-CN" sz="1100" dirty="0" err="1">
                <a:latin typeface="Courier" pitchFamily="2" charset="0"/>
              </a:rPr>
              <a:t>set_bit</a:t>
            </a:r>
            <a:r>
              <a:rPr lang="en-US" altLang="zh-CN" sz="1100" dirty="0">
                <a:latin typeface="Courier" pitchFamily="2" charset="0"/>
              </a:rPr>
              <a:t>(</a:t>
            </a:r>
            <a:r>
              <a:rPr lang="en-US" altLang="zh-CN" sz="1100" dirty="0" err="1">
                <a:latin typeface="Courier" pitchFamily="2" charset="0"/>
              </a:rPr>
              <a:t>ino</a:t>
            </a:r>
            <a:r>
              <a:rPr lang="en-US" altLang="zh-CN" sz="1100" dirty="0">
                <a:latin typeface="Courier" pitchFamily="2" charset="0"/>
              </a:rPr>
              <a:t>, </a:t>
            </a:r>
            <a:r>
              <a:rPr lang="en-US" altLang="zh-CN" sz="1100" dirty="0" err="1">
                <a:latin typeface="Courier" pitchFamily="2" charset="0"/>
              </a:rPr>
              <a:t>bitmap_bh</a:t>
            </a:r>
            <a:r>
              <a:rPr lang="en-US" altLang="zh-CN" sz="1100" dirty="0">
                <a:latin typeface="Courier" pitchFamily="2" charset="0"/>
              </a:rPr>
              <a:t>-&gt;</a:t>
            </a:r>
            <a:r>
              <a:rPr lang="en-US" altLang="zh-CN" sz="1100" dirty="0" err="1">
                <a:latin typeface="Courier" pitchFamily="2" charset="0"/>
              </a:rPr>
              <a:t>b_data</a:t>
            </a:r>
            <a:r>
              <a:rPr lang="en-US" altLang="zh-CN" sz="1100" dirty="0">
                <a:latin typeface="Courier" pitchFamily="2" charset="0"/>
              </a:rPr>
              <a:t>)</a:t>
            </a:r>
          </a:p>
          <a:p>
            <a:endParaRPr lang="en-US" sz="1100" dirty="0">
              <a:latin typeface="Courier" pitchFamily="2" charset="0"/>
            </a:endParaRPr>
          </a:p>
          <a:p>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a:t>
            </a:r>
            <a:r>
              <a:rPr lang="en-US" altLang="zh-CN" sz="1100" dirty="0">
                <a:latin typeface="Courier" pitchFamily="2" charset="0"/>
              </a:rPr>
              <a:t>2.</a:t>
            </a:r>
            <a:r>
              <a:rPr lang="zh-CN" altLang="en-US" sz="1100" dirty="0">
                <a:latin typeface="Courier" pitchFamily="2" charset="0"/>
              </a:rPr>
              <a:t> 初始化</a:t>
            </a:r>
            <a:r>
              <a:rPr lang="en-US" altLang="zh-CN" sz="1100" dirty="0" err="1">
                <a:latin typeface="Courier" pitchFamily="2" charset="0"/>
              </a:rPr>
              <a:t>inode</a:t>
            </a:r>
            <a:endParaRPr lang="en-US" altLang="zh-CN" sz="1100" dirty="0">
              <a:latin typeface="Courier" pitchFamily="2" charset="0"/>
            </a:endParaRPr>
          </a:p>
          <a:p>
            <a:r>
              <a:rPr lang="en-US" altLang="zh-CN" sz="1100" dirty="0" err="1">
                <a:latin typeface="Courier" pitchFamily="2" charset="0"/>
              </a:rPr>
              <a:t>inode_bh</a:t>
            </a:r>
            <a:r>
              <a:rPr lang="zh-CN" altLang="en-US" sz="1100" dirty="0">
                <a:latin typeface="Courier" pitchFamily="2" charset="0"/>
              </a:rPr>
              <a:t> </a:t>
            </a:r>
            <a:r>
              <a:rPr lang="en-US" altLang="zh-CN" sz="1100" dirty="0">
                <a:latin typeface="Courier" pitchFamily="2" charset="0"/>
              </a:rPr>
              <a:t>=</a:t>
            </a:r>
            <a:r>
              <a:rPr lang="zh-CN" altLang="en-US" sz="1100" dirty="0">
                <a:latin typeface="Courier" pitchFamily="2" charset="0"/>
              </a:rPr>
              <a:t> </a:t>
            </a:r>
            <a:r>
              <a:rPr lang="en-US" altLang="zh-CN" sz="1100" dirty="0" err="1">
                <a:latin typeface="Courier" pitchFamily="2" charset="0"/>
              </a:rPr>
              <a:t>get_inode_bh</a:t>
            </a:r>
            <a:r>
              <a:rPr lang="en-US" altLang="zh-CN" sz="1100" dirty="0">
                <a:latin typeface="Courier" pitchFamily="2" charset="0"/>
              </a:rPr>
              <a:t>(sb,</a:t>
            </a:r>
            <a:r>
              <a:rPr lang="zh-CN" altLang="en-US" sz="1100" dirty="0">
                <a:latin typeface="Courier" pitchFamily="2" charset="0"/>
              </a:rPr>
              <a:t> </a:t>
            </a:r>
            <a:r>
              <a:rPr lang="en-US" altLang="zh-CN" sz="1100" dirty="0" err="1">
                <a:latin typeface="Courier" pitchFamily="2" charset="0"/>
              </a:rPr>
              <a:t>ino</a:t>
            </a:r>
            <a:r>
              <a:rPr lang="en-US" altLang="zh-CN" sz="1100" dirty="0">
                <a:latin typeface="Courier" pitchFamily="2" charset="0"/>
              </a:rPr>
              <a:t>)</a:t>
            </a:r>
          </a:p>
          <a:p>
            <a:endParaRPr lang="en-US" sz="1100" dirty="0">
              <a:latin typeface="Courier" pitchFamily="2" charset="0"/>
            </a:endParaRPr>
          </a:p>
          <a:p>
            <a:r>
              <a:rPr lang="en-US" altLang="zh-CN" sz="1100" dirty="0" err="1">
                <a:latin typeface="Courier" pitchFamily="2" charset="0"/>
              </a:rPr>
              <a:t>init_inode</a:t>
            </a:r>
            <a:r>
              <a:rPr lang="en-US" altLang="zh-CN" sz="1100" dirty="0">
                <a:latin typeface="Courier" pitchFamily="2" charset="0"/>
              </a:rPr>
              <a:t>(</a:t>
            </a:r>
            <a:r>
              <a:rPr lang="en-US" altLang="zh-CN" sz="1100" dirty="0" err="1">
                <a:latin typeface="Courier" pitchFamily="2" charset="0"/>
              </a:rPr>
              <a:t>inode_bh</a:t>
            </a:r>
            <a:r>
              <a:rPr lang="en-US" altLang="zh-CN" sz="1100" dirty="0">
                <a:latin typeface="Courier" pitchFamily="2" charset="0"/>
              </a:rPr>
              <a:t>)</a:t>
            </a:r>
          </a:p>
          <a:p>
            <a:endParaRPr lang="en-US" sz="1100" dirty="0">
              <a:latin typeface="Courier" pitchFamily="2" charset="0"/>
            </a:endParaRPr>
          </a:p>
          <a:p>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a:t>
            </a:r>
            <a:r>
              <a:rPr lang="en-US" altLang="zh-CN" sz="1100" dirty="0">
                <a:latin typeface="Courier" pitchFamily="2" charset="0"/>
              </a:rPr>
              <a:t>3.</a:t>
            </a:r>
            <a:r>
              <a:rPr lang="zh-CN" altLang="en-US" sz="1100" dirty="0">
                <a:latin typeface="Courier" pitchFamily="2" charset="0"/>
              </a:rPr>
              <a:t> 将目录项写入目录中</a:t>
            </a:r>
            <a:endParaRPr lang="en-US" altLang="zh-CN" sz="1100" dirty="0">
              <a:latin typeface="Courier" pitchFamily="2" charset="0"/>
            </a:endParaRPr>
          </a:p>
          <a:p>
            <a:r>
              <a:rPr lang="en-US" altLang="zh-CN" sz="1100" dirty="0" err="1">
                <a:latin typeface="Courier" pitchFamily="2" charset="0"/>
              </a:rPr>
              <a:t>data_bh</a:t>
            </a:r>
            <a:r>
              <a:rPr lang="zh-CN" altLang="en-US" sz="1100" dirty="0">
                <a:latin typeface="Courier" pitchFamily="2" charset="0"/>
              </a:rPr>
              <a:t> </a:t>
            </a:r>
            <a:r>
              <a:rPr lang="en-US" altLang="zh-CN" sz="1100" dirty="0">
                <a:latin typeface="Courier" pitchFamily="2" charset="0"/>
              </a:rPr>
              <a:t>=</a:t>
            </a:r>
            <a:r>
              <a:rPr lang="zh-CN" altLang="en-US" sz="1100" dirty="0">
                <a:latin typeface="Courier" pitchFamily="2" charset="0"/>
              </a:rPr>
              <a:t> </a:t>
            </a:r>
            <a:r>
              <a:rPr lang="en-US" altLang="zh-CN" sz="1100" dirty="0" err="1">
                <a:latin typeface="Courier" pitchFamily="2" charset="0"/>
              </a:rPr>
              <a:t>get_data_page</a:t>
            </a:r>
            <a:r>
              <a:rPr lang="en-US" altLang="zh-CN" sz="1100" dirty="0">
                <a:latin typeface="Courier" pitchFamily="2" charset="0"/>
              </a:rPr>
              <a:t>(</a:t>
            </a:r>
            <a:r>
              <a:rPr lang="en-US" altLang="zh-CN" sz="1100" dirty="0" err="1">
                <a:latin typeface="Courier" pitchFamily="2" charset="0"/>
              </a:rPr>
              <a:t>dir_inode</a:t>
            </a:r>
            <a:r>
              <a:rPr lang="en-US" altLang="zh-CN" sz="1100" dirty="0">
                <a:latin typeface="Courier" pitchFamily="2" charset="0"/>
              </a:rPr>
              <a:t>)</a:t>
            </a:r>
          </a:p>
          <a:p>
            <a:endParaRPr lang="en-US" sz="1100" dirty="0">
              <a:latin typeface="Courier" pitchFamily="2" charset="0"/>
            </a:endParaRPr>
          </a:p>
          <a:p>
            <a:r>
              <a:rPr lang="en-US" altLang="zh-CN" sz="1100" dirty="0" err="1">
                <a:latin typeface="Courier" pitchFamily="2" charset="0"/>
              </a:rPr>
              <a:t>add_dentry_to_data</a:t>
            </a:r>
            <a:r>
              <a:rPr lang="en-US" altLang="zh-CN" sz="1100" dirty="0">
                <a:latin typeface="Courier" pitchFamily="2" charset="0"/>
              </a:rPr>
              <a:t>(page,</a:t>
            </a:r>
            <a:r>
              <a:rPr lang="zh-CN" altLang="en-US" sz="1100" dirty="0">
                <a:latin typeface="Courier" pitchFamily="2" charset="0"/>
              </a:rPr>
              <a:t> </a:t>
            </a:r>
            <a:r>
              <a:rPr lang="en-US" altLang="zh-CN" sz="1100" dirty="0">
                <a:latin typeface="Courier" pitchFamily="2" charset="0"/>
              </a:rPr>
              <a:t>filename,</a:t>
            </a:r>
            <a:r>
              <a:rPr lang="zh-CN" altLang="en-US" sz="1100" dirty="0">
                <a:latin typeface="Courier" pitchFamily="2" charset="0"/>
              </a:rPr>
              <a:t> </a:t>
            </a:r>
            <a:r>
              <a:rPr lang="en-US" altLang="zh-CN" sz="1100" dirty="0" err="1">
                <a:latin typeface="Courier" pitchFamily="2" charset="0"/>
              </a:rPr>
              <a:t>ino</a:t>
            </a:r>
            <a:r>
              <a:rPr lang="en-US" altLang="zh-CN" sz="1100" dirty="0">
                <a:latin typeface="Courier" pitchFamily="2" charset="0"/>
              </a:rPr>
              <a:t>)</a:t>
            </a:r>
          </a:p>
          <a:p>
            <a:endParaRPr lang="en-US" sz="1100" dirty="0">
              <a:latin typeface="Courier" pitchFamily="2" charset="0"/>
            </a:endParaRPr>
          </a:p>
          <a:p>
            <a:endParaRPr lang="en-US" altLang="zh-CN" sz="1100" dirty="0">
              <a:latin typeface="Courier" pitchFamily="2" charset="0"/>
            </a:endParaRPr>
          </a:p>
          <a:p>
            <a:endParaRPr lang="en-US" sz="1100" dirty="0">
              <a:latin typeface="Courier" pitchFamily="2" charset="0"/>
            </a:endParaRPr>
          </a:p>
        </p:txBody>
      </p:sp>
      <p:sp>
        <p:nvSpPr>
          <p:cNvPr id="14" name="TextBox 13">
            <a:extLst>
              <a:ext uri="{FF2B5EF4-FFF2-40B4-BE49-F238E27FC236}">
                <a16:creationId xmlns:a16="http://schemas.microsoft.com/office/drawing/2014/main" id="{716C1643-BCD6-DA47-BEE6-C8B000920FAA}"/>
              </a:ext>
            </a:extLst>
          </p:cNvPr>
          <p:cNvSpPr txBox="1"/>
          <p:nvPr/>
        </p:nvSpPr>
        <p:spPr>
          <a:xfrm>
            <a:off x="539299" y="1477757"/>
            <a:ext cx="3744417" cy="1277273"/>
          </a:xfrm>
          <a:prstGeom prst="rect">
            <a:avLst/>
          </a:prstGeom>
          <a:solidFill>
            <a:schemeClr val="accent6">
              <a:lumMod val="20000"/>
              <a:lumOff val="80000"/>
            </a:schemeClr>
          </a:solidFill>
          <a:ln>
            <a:solidFill>
              <a:schemeClr val="bg2"/>
            </a:solidFill>
          </a:ln>
        </p:spPr>
        <p:txBody>
          <a:bodyPr wrap="square" rtlCol="0">
            <a:spAutoFit/>
          </a:bodyPr>
          <a:lstStyle/>
          <a:p>
            <a:r>
              <a:rPr lang="en-US" altLang="zh-CN" sz="1100" dirty="0" err="1">
                <a:latin typeface="Courier" pitchFamily="2" charset="0"/>
              </a:rPr>
              <a:t>journal_t</a:t>
            </a:r>
            <a:r>
              <a:rPr lang="zh-CN" altLang="en-US" sz="1100" dirty="0">
                <a:latin typeface="Courier" pitchFamily="2" charset="0"/>
              </a:rPr>
              <a:t> </a:t>
            </a:r>
            <a:r>
              <a:rPr lang="en-US" altLang="zh-CN" sz="1100" dirty="0">
                <a:latin typeface="Courier" pitchFamily="2" charset="0"/>
              </a:rPr>
              <a:t>journal;</a:t>
            </a:r>
          </a:p>
          <a:p>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初始化日志系统（日志存在文件中）</a:t>
            </a:r>
            <a:endParaRPr lang="en-US" altLang="zh-CN" sz="1100" dirty="0">
              <a:latin typeface="Courier" pitchFamily="2" charset="0"/>
            </a:endParaRPr>
          </a:p>
          <a:p>
            <a:r>
              <a:rPr lang="en-US" altLang="zh-CN" sz="1100" dirty="0">
                <a:latin typeface="Courier" pitchFamily="2" charset="0"/>
              </a:rPr>
              <a:t>journal</a:t>
            </a:r>
            <a:r>
              <a:rPr lang="zh-CN" altLang="en-US" sz="1100" dirty="0">
                <a:latin typeface="Courier" pitchFamily="2" charset="0"/>
              </a:rPr>
              <a:t> </a:t>
            </a:r>
            <a:r>
              <a:rPr lang="en-US" altLang="zh-CN" sz="1100" dirty="0">
                <a:latin typeface="Courier" pitchFamily="2" charset="0"/>
              </a:rPr>
              <a:t>=</a:t>
            </a:r>
            <a:r>
              <a:rPr lang="zh-CN" altLang="en-US" sz="1100" dirty="0">
                <a:latin typeface="Courier" pitchFamily="2" charset="0"/>
              </a:rPr>
              <a:t> </a:t>
            </a:r>
            <a:r>
              <a:rPr lang="en-US" sz="1100" dirty="0">
                <a:latin typeface="Courier" pitchFamily="2" charset="0"/>
              </a:rPr>
              <a:t>jbd2_journal_init_inode</a:t>
            </a:r>
            <a:r>
              <a:rPr lang="en-US" altLang="zh-CN" sz="1100" dirty="0">
                <a:latin typeface="Courier" pitchFamily="2" charset="0"/>
              </a:rPr>
              <a:t>(</a:t>
            </a:r>
            <a:r>
              <a:rPr lang="en-US" altLang="zh-CN" sz="1100" dirty="0" err="1">
                <a:latin typeface="Courier" pitchFamily="2" charset="0"/>
              </a:rPr>
              <a:t>inode</a:t>
            </a:r>
            <a:r>
              <a:rPr lang="en-US" altLang="zh-CN" sz="1100" dirty="0">
                <a:latin typeface="Courier" pitchFamily="2" charset="0"/>
              </a:rPr>
              <a:t>)</a:t>
            </a:r>
          </a:p>
          <a:p>
            <a:r>
              <a:rPr lang="en-US" altLang="zh-CN" sz="1100" dirty="0">
                <a:latin typeface="Courier" pitchFamily="2" charset="0"/>
              </a:rPr>
              <a:t>//</a:t>
            </a:r>
            <a:r>
              <a:rPr lang="zh-CN" altLang="en-US" sz="1100" dirty="0">
                <a:latin typeface="Courier" pitchFamily="2" charset="0"/>
              </a:rPr>
              <a:t> 读取并恢复已有日志（如果存在）</a:t>
            </a:r>
            <a:endParaRPr lang="en-US" altLang="zh-CN" sz="1100" dirty="0">
              <a:latin typeface="Courier" pitchFamily="2" charset="0"/>
            </a:endParaRPr>
          </a:p>
          <a:p>
            <a:r>
              <a:rPr lang="en-US" sz="1100" dirty="0">
                <a:latin typeface="Courier" pitchFamily="2" charset="0"/>
              </a:rPr>
              <a:t>jbd2_journal_load(journal)</a:t>
            </a:r>
          </a:p>
          <a:p>
            <a:endParaRPr lang="en-US" sz="1100" dirty="0">
              <a:latin typeface="Courier" pitchFamily="2" charset="0"/>
            </a:endParaRPr>
          </a:p>
        </p:txBody>
      </p:sp>
      <p:sp>
        <p:nvSpPr>
          <p:cNvPr id="15" name="TextBox 14">
            <a:extLst>
              <a:ext uri="{FF2B5EF4-FFF2-40B4-BE49-F238E27FC236}">
                <a16:creationId xmlns:a16="http://schemas.microsoft.com/office/drawing/2014/main" id="{C5C1A360-D9EA-C44E-B195-17B05E27F064}"/>
              </a:ext>
            </a:extLst>
          </p:cNvPr>
          <p:cNvSpPr txBox="1"/>
          <p:nvPr/>
        </p:nvSpPr>
        <p:spPr>
          <a:xfrm>
            <a:off x="539750" y="4318614"/>
            <a:ext cx="3744417" cy="600164"/>
          </a:xfrm>
          <a:prstGeom prst="rect">
            <a:avLst/>
          </a:prstGeom>
          <a:solidFill>
            <a:schemeClr val="accent6">
              <a:lumMod val="20000"/>
              <a:lumOff val="80000"/>
            </a:schemeClr>
          </a:solidFill>
          <a:ln>
            <a:solidFill>
              <a:schemeClr val="bg2"/>
            </a:solidFill>
          </a:ln>
        </p:spPr>
        <p:txBody>
          <a:bodyPr wrap="square" rtlCol="0">
            <a:spAutoFit/>
          </a:bodyPr>
          <a:lstStyle/>
          <a:p>
            <a:r>
              <a:rPr lang="en-US" altLang="zh-CN" sz="1100" dirty="0">
                <a:latin typeface="Courier" pitchFamily="2" charset="0"/>
              </a:rPr>
              <a:t>//</a:t>
            </a:r>
            <a:r>
              <a:rPr lang="zh-CN" altLang="en-US" sz="1100" dirty="0">
                <a:latin typeface="Courier" pitchFamily="2" charset="0"/>
              </a:rPr>
              <a:t> 释放日志系统</a:t>
            </a:r>
            <a:endParaRPr lang="en-US" sz="1100" dirty="0">
              <a:latin typeface="Courier" pitchFamily="2" charset="0"/>
            </a:endParaRPr>
          </a:p>
          <a:p>
            <a:r>
              <a:rPr lang="en-US" sz="1100" dirty="0">
                <a:latin typeface="Courier" pitchFamily="2" charset="0"/>
              </a:rPr>
              <a:t>jbd2_journal_destroy(journal)</a:t>
            </a:r>
            <a:endParaRPr lang="en-US" altLang="zh-CN" sz="1100" dirty="0">
              <a:latin typeface="Courier" pitchFamily="2" charset="0"/>
            </a:endParaRPr>
          </a:p>
          <a:p>
            <a:endParaRPr lang="en-US" sz="1100" dirty="0">
              <a:latin typeface="Courier" pitchFamily="2" charset="0"/>
            </a:endParaRPr>
          </a:p>
        </p:txBody>
      </p:sp>
      <p:sp>
        <p:nvSpPr>
          <p:cNvPr id="10" name="TextBox 9">
            <a:extLst>
              <a:ext uri="{FF2B5EF4-FFF2-40B4-BE49-F238E27FC236}">
                <a16:creationId xmlns:a16="http://schemas.microsoft.com/office/drawing/2014/main" id="{2ECD993D-533C-0641-8B28-2C8D3D54BCCC}"/>
              </a:ext>
            </a:extLst>
          </p:cNvPr>
          <p:cNvSpPr txBox="1"/>
          <p:nvPr/>
        </p:nvSpPr>
        <p:spPr>
          <a:xfrm>
            <a:off x="515915" y="1174402"/>
            <a:ext cx="1620957" cy="307777"/>
          </a:xfrm>
          <a:prstGeom prst="rect">
            <a:avLst/>
          </a:prstGeom>
          <a:noFill/>
        </p:spPr>
        <p:txBody>
          <a:bodyPr wrap="none" rtlCol="0">
            <a:spAutoFit/>
          </a:bodyPr>
          <a:lstStyle/>
          <a:p>
            <a:r>
              <a:rPr lang="zh-CN" altLang="en-CN" sz="1400" dirty="0"/>
              <a:t>文件系统</a:t>
            </a:r>
            <a:r>
              <a:rPr lang="zh-CN" altLang="en-US" sz="1400" dirty="0"/>
              <a:t>挂载时：</a:t>
            </a:r>
            <a:endParaRPr lang="en-CN" sz="1400" dirty="0"/>
          </a:p>
        </p:txBody>
      </p:sp>
      <p:sp>
        <p:nvSpPr>
          <p:cNvPr id="16" name="TextBox 15">
            <a:extLst>
              <a:ext uri="{FF2B5EF4-FFF2-40B4-BE49-F238E27FC236}">
                <a16:creationId xmlns:a16="http://schemas.microsoft.com/office/drawing/2014/main" id="{63B2D966-A96B-5549-8BBD-E5CB41FED46F}"/>
              </a:ext>
            </a:extLst>
          </p:cNvPr>
          <p:cNvSpPr txBox="1"/>
          <p:nvPr/>
        </p:nvSpPr>
        <p:spPr>
          <a:xfrm>
            <a:off x="515915" y="2881042"/>
            <a:ext cx="1082348" cy="307777"/>
          </a:xfrm>
          <a:prstGeom prst="rect">
            <a:avLst/>
          </a:prstGeom>
          <a:noFill/>
        </p:spPr>
        <p:txBody>
          <a:bodyPr wrap="none" rtlCol="0">
            <a:spAutoFit/>
          </a:bodyPr>
          <a:lstStyle/>
          <a:p>
            <a:r>
              <a:rPr lang="zh-CN" altLang="en-US" sz="1400" dirty="0"/>
              <a:t>后台进程：</a:t>
            </a:r>
            <a:endParaRPr lang="en-CN" sz="1400" dirty="0"/>
          </a:p>
        </p:txBody>
      </p:sp>
      <p:sp>
        <p:nvSpPr>
          <p:cNvPr id="20" name="TextBox 19">
            <a:extLst>
              <a:ext uri="{FF2B5EF4-FFF2-40B4-BE49-F238E27FC236}">
                <a16:creationId xmlns:a16="http://schemas.microsoft.com/office/drawing/2014/main" id="{637532AB-4D38-F74B-A671-8F791A82C869}"/>
              </a:ext>
            </a:extLst>
          </p:cNvPr>
          <p:cNvSpPr txBox="1"/>
          <p:nvPr/>
        </p:nvSpPr>
        <p:spPr>
          <a:xfrm>
            <a:off x="4535016" y="902555"/>
            <a:ext cx="1441420" cy="307777"/>
          </a:xfrm>
          <a:prstGeom prst="rect">
            <a:avLst/>
          </a:prstGeom>
          <a:noFill/>
        </p:spPr>
        <p:txBody>
          <a:bodyPr wrap="none" rtlCol="0">
            <a:spAutoFit/>
          </a:bodyPr>
          <a:lstStyle>
            <a:defPPr>
              <a:defRPr lang="zh-CN"/>
            </a:defPPr>
            <a:lvl1pPr>
              <a:defRPr sz="1400"/>
            </a:lvl1pPr>
          </a:lstStyle>
          <a:p>
            <a:r>
              <a:rPr lang="zh-CN" altLang="en-US" dirty="0"/>
              <a:t>系统调用处理：</a:t>
            </a:r>
            <a:endParaRPr lang="en-US" altLang="zh-CN" dirty="0"/>
          </a:p>
        </p:txBody>
      </p:sp>
      <p:sp>
        <p:nvSpPr>
          <p:cNvPr id="21" name="TextBox 20">
            <a:extLst>
              <a:ext uri="{FF2B5EF4-FFF2-40B4-BE49-F238E27FC236}">
                <a16:creationId xmlns:a16="http://schemas.microsoft.com/office/drawing/2014/main" id="{3F3E25A1-7EB5-0B4D-9A17-83B8CE42EA77}"/>
              </a:ext>
            </a:extLst>
          </p:cNvPr>
          <p:cNvSpPr txBox="1"/>
          <p:nvPr/>
        </p:nvSpPr>
        <p:spPr>
          <a:xfrm>
            <a:off x="5823860" y="671683"/>
            <a:ext cx="3320140" cy="369332"/>
          </a:xfrm>
          <a:prstGeom prst="rect">
            <a:avLst/>
          </a:prstGeom>
          <a:noFill/>
        </p:spPr>
        <p:txBody>
          <a:bodyPr wrap="none" rtlCol="0">
            <a:spAutoFit/>
          </a:bodyPr>
          <a:lstStyle/>
          <a:p>
            <a:r>
              <a:rPr lang="zh-CN" altLang="en-US" dirty="0">
                <a:solidFill>
                  <a:srgbClr val="C00000"/>
                </a:solidFill>
                <a:latin typeface="Courier" pitchFamily="2" charset="0"/>
              </a:rPr>
              <a:t>通知</a:t>
            </a:r>
            <a:r>
              <a:rPr lang="en-US" altLang="zh-CN" dirty="0">
                <a:solidFill>
                  <a:srgbClr val="C00000"/>
                </a:solidFill>
                <a:latin typeface="Courier" pitchFamily="2" charset="0"/>
              </a:rPr>
              <a:t>jbd2</a:t>
            </a:r>
            <a:r>
              <a:rPr lang="zh-CN" altLang="en-US" dirty="0">
                <a:solidFill>
                  <a:srgbClr val="C00000"/>
                </a:solidFill>
                <a:latin typeface="Courier" pitchFamily="2" charset="0"/>
              </a:rPr>
              <a:t>即将修改</a:t>
            </a:r>
            <a:r>
              <a:rPr lang="en-US" altLang="zh-CN" dirty="0" err="1">
                <a:solidFill>
                  <a:srgbClr val="C00000"/>
                </a:solidFill>
                <a:latin typeface="Courier" pitchFamily="2" charset="0"/>
              </a:rPr>
              <a:t>bh</a:t>
            </a:r>
            <a:r>
              <a:rPr lang="zh-CN" altLang="en-US" dirty="0">
                <a:solidFill>
                  <a:srgbClr val="C00000"/>
                </a:solidFill>
                <a:latin typeface="Courier" pitchFamily="2" charset="0"/>
              </a:rPr>
              <a:t>中的数据</a:t>
            </a:r>
          </a:p>
        </p:txBody>
      </p:sp>
      <p:cxnSp>
        <p:nvCxnSpPr>
          <p:cNvPr id="22" name="Straight Arrow Connector 21">
            <a:extLst>
              <a:ext uri="{FF2B5EF4-FFF2-40B4-BE49-F238E27FC236}">
                <a16:creationId xmlns:a16="http://schemas.microsoft.com/office/drawing/2014/main" id="{E48CC3BA-834A-4B48-9708-D0E593478029}"/>
              </a:ext>
            </a:extLst>
          </p:cNvPr>
          <p:cNvCxnSpPr>
            <a:cxnSpLocks/>
            <a:stCxn id="21" idx="2"/>
          </p:cNvCxnSpPr>
          <p:nvPr/>
        </p:nvCxnSpPr>
        <p:spPr>
          <a:xfrm flipH="1">
            <a:off x="6516216" y="1041015"/>
            <a:ext cx="967714" cy="138443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936F3DCB-7C0C-2A40-B924-442F474339F0}"/>
              </a:ext>
            </a:extLst>
          </p:cNvPr>
          <p:cNvSpPr txBox="1"/>
          <p:nvPr/>
        </p:nvSpPr>
        <p:spPr>
          <a:xfrm>
            <a:off x="515915" y="4061604"/>
            <a:ext cx="1620957" cy="307777"/>
          </a:xfrm>
          <a:prstGeom prst="rect">
            <a:avLst/>
          </a:prstGeom>
          <a:noFill/>
        </p:spPr>
        <p:txBody>
          <a:bodyPr wrap="none" rtlCol="0">
            <a:spAutoFit/>
          </a:bodyPr>
          <a:lstStyle/>
          <a:p>
            <a:r>
              <a:rPr lang="zh-CN" altLang="en-US" sz="1400" dirty="0"/>
              <a:t>文件系统卸载时：</a:t>
            </a:r>
            <a:endParaRPr lang="en-CN" sz="1400" dirty="0"/>
          </a:p>
        </p:txBody>
      </p:sp>
    </p:spTree>
    <p:extLst>
      <p:ext uri="{BB962C8B-B14F-4D97-AF65-F5344CB8AC3E}">
        <p14:creationId xmlns:p14="http://schemas.microsoft.com/office/powerpoint/2010/main" val="36948700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BDB1E-62D0-5948-96F9-0B385AF4E959}"/>
              </a:ext>
            </a:extLst>
          </p:cNvPr>
          <p:cNvSpPr>
            <a:spLocks noGrp="1"/>
          </p:cNvSpPr>
          <p:nvPr>
            <p:ph type="title"/>
          </p:nvPr>
        </p:nvSpPr>
        <p:spPr/>
        <p:txBody>
          <a:bodyPr/>
          <a:lstStyle/>
          <a:p>
            <a:r>
              <a:rPr lang="en-CN" dirty="0"/>
              <a:t>JBD</a:t>
            </a:r>
            <a:r>
              <a:rPr lang="en-US" altLang="zh-CN" dirty="0"/>
              <a:t>2</a:t>
            </a:r>
            <a:r>
              <a:rPr lang="zh-CN" altLang="en-US" dirty="0"/>
              <a:t>部分接口和使用方法</a:t>
            </a:r>
            <a:endParaRPr lang="en-CN" dirty="0"/>
          </a:p>
        </p:txBody>
      </p:sp>
      <p:sp>
        <p:nvSpPr>
          <p:cNvPr id="4" name="Slide Number Placeholder 3">
            <a:extLst>
              <a:ext uri="{FF2B5EF4-FFF2-40B4-BE49-F238E27FC236}">
                <a16:creationId xmlns:a16="http://schemas.microsoft.com/office/drawing/2014/main" id="{C8862C3D-542B-B04C-9283-74A97569AB75}"/>
              </a:ext>
            </a:extLst>
          </p:cNvPr>
          <p:cNvSpPr>
            <a:spLocks noGrp="1"/>
          </p:cNvSpPr>
          <p:nvPr>
            <p:ph type="sldNum" sz="quarter" idx="12"/>
          </p:nvPr>
        </p:nvSpPr>
        <p:spPr/>
        <p:txBody>
          <a:bodyPr/>
          <a:lstStyle/>
          <a:p>
            <a:fld id="{ADE361C3-C043-4A6E-BDCE-8DA1E7D90A3B}" type="slidenum">
              <a:rPr lang="zh-CN" altLang="en-US" smtClean="0"/>
              <a:t>33</a:t>
            </a:fld>
            <a:endParaRPr lang="zh-CN" altLang="en-US"/>
          </a:p>
        </p:txBody>
      </p:sp>
      <p:sp>
        <p:nvSpPr>
          <p:cNvPr id="5" name="Footer Placeholder 4">
            <a:extLst>
              <a:ext uri="{FF2B5EF4-FFF2-40B4-BE49-F238E27FC236}">
                <a16:creationId xmlns:a16="http://schemas.microsoft.com/office/drawing/2014/main" id="{AE140DC6-8932-E94A-AF5D-8D69694DE66C}"/>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TextBox 5">
            <a:extLst>
              <a:ext uri="{FF2B5EF4-FFF2-40B4-BE49-F238E27FC236}">
                <a16:creationId xmlns:a16="http://schemas.microsoft.com/office/drawing/2014/main" id="{5FC4A2EA-0C87-AF42-A642-9CDF7995C512}"/>
              </a:ext>
            </a:extLst>
          </p:cNvPr>
          <p:cNvSpPr txBox="1"/>
          <p:nvPr/>
        </p:nvSpPr>
        <p:spPr>
          <a:xfrm>
            <a:off x="539300" y="3177485"/>
            <a:ext cx="3744417" cy="769441"/>
          </a:xfrm>
          <a:prstGeom prst="rect">
            <a:avLst/>
          </a:prstGeom>
          <a:solidFill>
            <a:schemeClr val="accent6">
              <a:lumMod val="20000"/>
              <a:lumOff val="80000"/>
            </a:schemeClr>
          </a:solidFill>
          <a:ln>
            <a:solidFill>
              <a:schemeClr val="bg2"/>
            </a:solidFill>
          </a:ln>
        </p:spPr>
        <p:txBody>
          <a:bodyPr wrap="square" rtlCol="0">
            <a:spAutoFit/>
          </a:bodyPr>
          <a:lstStyle/>
          <a:p>
            <a:r>
              <a:rPr lang="en-US" altLang="zh-CN" sz="1100" dirty="0">
                <a:latin typeface="Courier" pitchFamily="2" charset="0"/>
              </a:rPr>
              <a:t>while</a:t>
            </a:r>
            <a:r>
              <a:rPr lang="zh-CN" altLang="en-US" sz="1100" dirty="0">
                <a:latin typeface="Courier" pitchFamily="2" charset="0"/>
              </a:rPr>
              <a:t> </a:t>
            </a:r>
            <a:r>
              <a:rPr lang="en-US" altLang="zh-CN" sz="1100" dirty="0">
                <a:latin typeface="Courier" pitchFamily="2" charset="0"/>
              </a:rPr>
              <a:t>(sleep_5s())</a:t>
            </a:r>
            <a:r>
              <a:rPr lang="zh-CN" altLang="en-US" sz="1100" dirty="0">
                <a:latin typeface="Courier" pitchFamily="2" charset="0"/>
              </a:rPr>
              <a:t> </a:t>
            </a:r>
            <a:r>
              <a:rPr lang="en-US" altLang="zh-CN" sz="1100" dirty="0">
                <a:latin typeface="Courier" pitchFamily="2" charset="0"/>
              </a:rPr>
              <a:t>{</a:t>
            </a:r>
          </a:p>
          <a:p>
            <a:r>
              <a:rPr lang="zh-CN" altLang="en-US" sz="1100" dirty="0">
                <a:latin typeface="Courier" pitchFamily="2" charset="0"/>
              </a:rPr>
              <a:t>  </a:t>
            </a:r>
            <a:r>
              <a:rPr lang="en-US" altLang="zh-CN" sz="1100" dirty="0">
                <a:latin typeface="Courier" pitchFamily="2" charset="0"/>
              </a:rPr>
              <a:t>//</a:t>
            </a:r>
            <a:r>
              <a:rPr lang="zh-CN" altLang="en-US" sz="1100" dirty="0">
                <a:latin typeface="Courier" pitchFamily="2" charset="0"/>
              </a:rPr>
              <a:t> 提交事务和回收日志空间（并开始新的事务）</a:t>
            </a:r>
            <a:endParaRPr lang="en-US" altLang="zh-CN" sz="1100" dirty="0">
              <a:latin typeface="Courier" pitchFamily="2" charset="0"/>
            </a:endParaRPr>
          </a:p>
          <a:p>
            <a:r>
              <a:rPr lang="zh-CN" altLang="en-US" sz="1100" dirty="0">
                <a:latin typeface="Courier" pitchFamily="2" charset="0"/>
              </a:rPr>
              <a:t>  </a:t>
            </a:r>
            <a:r>
              <a:rPr lang="en-US" sz="1100" dirty="0">
                <a:latin typeface="Courier" pitchFamily="2" charset="0"/>
              </a:rPr>
              <a:t>jbd2_journal_commit_transaction(</a:t>
            </a:r>
            <a:r>
              <a:rPr lang="en-US" altLang="zh-CN" sz="1100" dirty="0">
                <a:latin typeface="Courier" pitchFamily="2" charset="0"/>
              </a:rPr>
              <a:t>journal</a:t>
            </a:r>
            <a:r>
              <a:rPr lang="en-US" sz="1100" dirty="0">
                <a:latin typeface="Courier" pitchFamily="2" charset="0"/>
              </a:rPr>
              <a:t>)</a:t>
            </a:r>
          </a:p>
          <a:p>
            <a:r>
              <a:rPr lang="en-US" altLang="zh-CN" sz="1100" dirty="0">
                <a:latin typeface="Courier" pitchFamily="2" charset="0"/>
              </a:rPr>
              <a:t>}</a:t>
            </a:r>
            <a:endParaRPr lang="en-US" sz="1100" dirty="0">
              <a:latin typeface="Courier" pitchFamily="2" charset="0"/>
            </a:endParaRPr>
          </a:p>
        </p:txBody>
      </p:sp>
      <p:sp>
        <p:nvSpPr>
          <p:cNvPr id="13" name="TextBox 12">
            <a:extLst>
              <a:ext uri="{FF2B5EF4-FFF2-40B4-BE49-F238E27FC236}">
                <a16:creationId xmlns:a16="http://schemas.microsoft.com/office/drawing/2014/main" id="{E446FFFF-8CB0-7641-A70C-1F3FF0F8DCFD}"/>
              </a:ext>
            </a:extLst>
          </p:cNvPr>
          <p:cNvSpPr txBox="1"/>
          <p:nvPr/>
        </p:nvSpPr>
        <p:spPr>
          <a:xfrm>
            <a:off x="4596664" y="1174402"/>
            <a:ext cx="4175636" cy="4154984"/>
          </a:xfrm>
          <a:prstGeom prst="rect">
            <a:avLst/>
          </a:prstGeom>
          <a:solidFill>
            <a:schemeClr val="accent6">
              <a:lumMod val="20000"/>
              <a:lumOff val="80000"/>
            </a:schemeClr>
          </a:solidFill>
          <a:ln>
            <a:solidFill>
              <a:schemeClr val="bg2"/>
            </a:solidFill>
          </a:ln>
        </p:spPr>
        <p:txBody>
          <a:bodyPr wrap="square" rtlCol="0">
            <a:spAutoFit/>
          </a:bodyPr>
          <a:lstStyle/>
          <a:p>
            <a:r>
              <a:rPr lang="en-US" altLang="zh-CN" sz="1100" dirty="0" err="1">
                <a:latin typeface="Courier" pitchFamily="2" charset="0"/>
              </a:rPr>
              <a:t>handle_t</a:t>
            </a:r>
            <a:r>
              <a:rPr lang="zh-CN" altLang="en-US" sz="1100" dirty="0">
                <a:latin typeface="Courier" pitchFamily="2" charset="0"/>
              </a:rPr>
              <a:t> </a:t>
            </a:r>
            <a:r>
              <a:rPr lang="en-US" altLang="zh-CN" sz="1100" dirty="0">
                <a:latin typeface="Courier" pitchFamily="2" charset="0"/>
              </a:rPr>
              <a:t>handle;</a:t>
            </a:r>
          </a:p>
          <a:p>
            <a:r>
              <a:rPr lang="en-US" altLang="zh-CN" sz="1100" dirty="0">
                <a:latin typeface="Courier" pitchFamily="2" charset="0"/>
              </a:rPr>
              <a:t>//</a:t>
            </a:r>
            <a:r>
              <a:rPr lang="zh-CN" altLang="en-US" sz="1100" dirty="0">
                <a:latin typeface="Courier" pitchFamily="2" charset="0"/>
              </a:rPr>
              <a:t> 原子操作：创建新文件</a:t>
            </a:r>
            <a:endParaRPr lang="en-US" altLang="zh-CN" sz="1100" dirty="0">
              <a:latin typeface="Courier" pitchFamily="2" charset="0"/>
            </a:endParaRPr>
          </a:p>
          <a:p>
            <a:r>
              <a:rPr lang="en-US" altLang="zh-CN" sz="1100" b="1" dirty="0">
                <a:solidFill>
                  <a:srgbClr val="C00000"/>
                </a:solidFill>
                <a:latin typeface="Courier" pitchFamily="2" charset="0"/>
              </a:rPr>
              <a:t>handle</a:t>
            </a:r>
            <a:r>
              <a:rPr lang="zh-CN" altLang="en-US" sz="1100" b="1" dirty="0">
                <a:solidFill>
                  <a:srgbClr val="C00000"/>
                </a:solidFill>
                <a:latin typeface="Courier" pitchFamily="2" charset="0"/>
              </a:rPr>
              <a:t> </a:t>
            </a:r>
            <a:r>
              <a:rPr lang="en-US" altLang="zh-CN" sz="1100" b="1" dirty="0">
                <a:solidFill>
                  <a:srgbClr val="C00000"/>
                </a:solidFill>
                <a:latin typeface="Courier" pitchFamily="2" charset="0"/>
              </a:rPr>
              <a:t>=</a:t>
            </a:r>
            <a:r>
              <a:rPr lang="zh-CN" altLang="en-US" sz="1100" b="1" dirty="0">
                <a:solidFill>
                  <a:srgbClr val="C00000"/>
                </a:solidFill>
                <a:latin typeface="Courier" pitchFamily="2" charset="0"/>
              </a:rPr>
              <a:t> </a:t>
            </a:r>
            <a:r>
              <a:rPr lang="en-US" sz="1100" b="1" dirty="0">
                <a:solidFill>
                  <a:srgbClr val="C00000"/>
                </a:solidFill>
                <a:latin typeface="Courier" pitchFamily="2" charset="0"/>
              </a:rPr>
              <a:t>jbd2_journal_start(journal, </a:t>
            </a:r>
            <a:r>
              <a:rPr lang="en-US" sz="1100" b="1" dirty="0" err="1">
                <a:solidFill>
                  <a:srgbClr val="C00000"/>
                </a:solidFill>
                <a:latin typeface="Courier" pitchFamily="2" charset="0"/>
              </a:rPr>
              <a:t>nblocks</a:t>
            </a:r>
            <a:r>
              <a:rPr lang="en-US" altLang="zh-CN" sz="1100" b="1" dirty="0">
                <a:solidFill>
                  <a:srgbClr val="C00000"/>
                </a:solidFill>
                <a:latin typeface="Courier" pitchFamily="2" charset="0"/>
              </a:rPr>
              <a:t>=8)</a:t>
            </a:r>
            <a:endParaRPr lang="en-CN" altLang="zh-CN" sz="1100" dirty="0">
              <a:latin typeface="Courier" pitchFamily="2" charset="0"/>
            </a:endParaRPr>
          </a:p>
          <a:p>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a:t>
            </a:r>
            <a:r>
              <a:rPr lang="en-US" altLang="zh-CN" sz="1100" dirty="0">
                <a:latin typeface="Courier" pitchFamily="2" charset="0"/>
              </a:rPr>
              <a:t>1.</a:t>
            </a:r>
            <a:r>
              <a:rPr lang="zh-CN" altLang="en-US" sz="1100" dirty="0">
                <a:latin typeface="Courier" pitchFamily="2" charset="0"/>
              </a:rPr>
              <a:t> 标记</a:t>
            </a:r>
            <a:r>
              <a:rPr lang="en-US" altLang="zh-CN" sz="1100" dirty="0" err="1">
                <a:latin typeface="Courier" pitchFamily="2" charset="0"/>
              </a:rPr>
              <a:t>inode</a:t>
            </a:r>
            <a:r>
              <a:rPr lang="zh-CN" altLang="en-US" sz="1100" dirty="0">
                <a:latin typeface="Courier" pitchFamily="2" charset="0"/>
              </a:rPr>
              <a:t>为占用</a:t>
            </a:r>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a:t>
            </a:r>
            <a:r>
              <a:rPr lang="en-US" altLang="zh-CN" sz="1100" dirty="0" err="1">
                <a:latin typeface="Courier" pitchFamily="2" charset="0"/>
              </a:rPr>
              <a:t>bh</a:t>
            </a:r>
            <a:r>
              <a:rPr lang="en-US" altLang="zh-CN" sz="1100" dirty="0">
                <a:latin typeface="Courier" pitchFamily="2" charset="0"/>
              </a:rPr>
              <a:t>: </a:t>
            </a:r>
            <a:r>
              <a:rPr lang="en-US" altLang="zh-CN" sz="1100" dirty="0" err="1">
                <a:latin typeface="Courier" pitchFamily="2" charset="0"/>
              </a:rPr>
              <a:t>buffer_head</a:t>
            </a:r>
            <a:r>
              <a:rPr lang="zh-CN" altLang="en-US" sz="1100" dirty="0">
                <a:latin typeface="Courier" pitchFamily="2" charset="0"/>
              </a:rPr>
              <a:t> 对应存储设备中的最小访问单元</a:t>
            </a:r>
            <a:endParaRPr lang="en-US" altLang="zh-CN" sz="1100" dirty="0">
              <a:latin typeface="Courier" pitchFamily="2" charset="0"/>
            </a:endParaRPr>
          </a:p>
          <a:p>
            <a:r>
              <a:rPr lang="en-US" altLang="zh-CN" sz="1100" dirty="0" err="1">
                <a:latin typeface="Courier" pitchFamily="2" charset="0"/>
              </a:rPr>
              <a:t>bitmap_bh</a:t>
            </a:r>
            <a:r>
              <a:rPr lang="en-US" altLang="zh-CN" sz="1100" dirty="0">
                <a:latin typeface="Courier" pitchFamily="2" charset="0"/>
              </a:rPr>
              <a:t> = </a:t>
            </a:r>
            <a:r>
              <a:rPr lang="en-US" altLang="zh-CN" sz="1100" dirty="0" err="1">
                <a:latin typeface="Courier" pitchFamily="2" charset="0"/>
              </a:rPr>
              <a:t>read_inode_bitmap</a:t>
            </a:r>
            <a:r>
              <a:rPr lang="en-US" altLang="zh-CN" sz="1100" dirty="0">
                <a:latin typeface="Courier" pitchFamily="2" charset="0"/>
              </a:rPr>
              <a:t>(sb, group)</a:t>
            </a:r>
          </a:p>
          <a:p>
            <a:r>
              <a:rPr lang="en-US" sz="1100" b="1" dirty="0">
                <a:solidFill>
                  <a:srgbClr val="C00000"/>
                </a:solidFill>
                <a:latin typeface="Courier" pitchFamily="2" charset="0"/>
              </a:rPr>
              <a:t>jbd2_journal_get_write_access(</a:t>
            </a:r>
            <a:r>
              <a:rPr lang="en-US" altLang="zh-CN" sz="1100" b="1" dirty="0">
                <a:solidFill>
                  <a:srgbClr val="C00000"/>
                </a:solidFill>
                <a:latin typeface="Courier" pitchFamily="2" charset="0"/>
              </a:rPr>
              <a:t>handle,</a:t>
            </a:r>
            <a:r>
              <a:rPr lang="zh-CN" altLang="en-US" sz="1100" b="1" dirty="0">
                <a:solidFill>
                  <a:srgbClr val="C00000"/>
                </a:solidFill>
                <a:latin typeface="Courier" pitchFamily="2" charset="0"/>
              </a:rPr>
              <a:t> </a:t>
            </a:r>
            <a:r>
              <a:rPr lang="en-US" altLang="zh-CN" sz="1100" b="1" dirty="0" err="1">
                <a:solidFill>
                  <a:srgbClr val="C00000"/>
                </a:solidFill>
                <a:latin typeface="Courier" pitchFamily="2" charset="0"/>
              </a:rPr>
              <a:t>bitmap_bh</a:t>
            </a:r>
            <a:r>
              <a:rPr lang="en-US" altLang="zh-CN" sz="1100" b="1" dirty="0">
                <a:solidFill>
                  <a:srgbClr val="C00000"/>
                </a:solidFill>
                <a:latin typeface="Courier" pitchFamily="2" charset="0"/>
              </a:rPr>
              <a:t>)</a:t>
            </a:r>
            <a:endParaRPr lang="en-US" sz="1100" b="1" dirty="0">
              <a:solidFill>
                <a:srgbClr val="C00000"/>
              </a:solidFill>
              <a:latin typeface="Courier" pitchFamily="2" charset="0"/>
            </a:endParaRPr>
          </a:p>
          <a:p>
            <a:r>
              <a:rPr lang="en-US" altLang="zh-CN" sz="1100" dirty="0" err="1">
                <a:latin typeface="Courier" pitchFamily="2" charset="0"/>
              </a:rPr>
              <a:t>set_bit</a:t>
            </a:r>
            <a:r>
              <a:rPr lang="en-US" altLang="zh-CN" sz="1100" dirty="0">
                <a:latin typeface="Courier" pitchFamily="2" charset="0"/>
              </a:rPr>
              <a:t>(</a:t>
            </a:r>
            <a:r>
              <a:rPr lang="en-US" altLang="zh-CN" sz="1100" dirty="0" err="1">
                <a:latin typeface="Courier" pitchFamily="2" charset="0"/>
              </a:rPr>
              <a:t>ino</a:t>
            </a:r>
            <a:r>
              <a:rPr lang="en-US" altLang="zh-CN" sz="1100" dirty="0">
                <a:latin typeface="Courier" pitchFamily="2" charset="0"/>
              </a:rPr>
              <a:t>, </a:t>
            </a:r>
            <a:r>
              <a:rPr lang="en-US" altLang="zh-CN" sz="1100" dirty="0" err="1">
                <a:latin typeface="Courier" pitchFamily="2" charset="0"/>
              </a:rPr>
              <a:t>bitmap_bh</a:t>
            </a:r>
            <a:r>
              <a:rPr lang="en-US" altLang="zh-CN" sz="1100" dirty="0">
                <a:latin typeface="Courier" pitchFamily="2" charset="0"/>
              </a:rPr>
              <a:t>-&gt;</a:t>
            </a:r>
            <a:r>
              <a:rPr lang="en-US" altLang="zh-CN" sz="1100" dirty="0" err="1">
                <a:latin typeface="Courier" pitchFamily="2" charset="0"/>
              </a:rPr>
              <a:t>b_data</a:t>
            </a:r>
            <a:r>
              <a:rPr lang="en-US" altLang="zh-CN" sz="1100" dirty="0">
                <a:latin typeface="Courier" pitchFamily="2" charset="0"/>
              </a:rPr>
              <a:t>)</a:t>
            </a:r>
          </a:p>
          <a:p>
            <a:r>
              <a:rPr lang="en-US" sz="1100" b="1" dirty="0">
                <a:solidFill>
                  <a:srgbClr val="C00000"/>
                </a:solidFill>
                <a:latin typeface="Courier" pitchFamily="2" charset="0"/>
              </a:rPr>
              <a:t>jbd2_journal_dirty_metadata(</a:t>
            </a:r>
            <a:r>
              <a:rPr lang="en-US" altLang="zh-CN" sz="1100" b="1" dirty="0">
                <a:solidFill>
                  <a:srgbClr val="C00000"/>
                </a:solidFill>
                <a:latin typeface="Courier" pitchFamily="2" charset="0"/>
              </a:rPr>
              <a:t>handle,</a:t>
            </a:r>
            <a:r>
              <a:rPr lang="zh-CN" altLang="en-US" sz="1100" b="1" dirty="0">
                <a:solidFill>
                  <a:srgbClr val="C00000"/>
                </a:solidFill>
                <a:latin typeface="Courier" pitchFamily="2" charset="0"/>
              </a:rPr>
              <a:t> </a:t>
            </a:r>
            <a:r>
              <a:rPr lang="en-US" altLang="zh-CN" sz="1100" b="1" dirty="0" err="1">
                <a:solidFill>
                  <a:srgbClr val="C00000"/>
                </a:solidFill>
                <a:latin typeface="Courier" pitchFamily="2" charset="0"/>
              </a:rPr>
              <a:t>bitmap_bh</a:t>
            </a:r>
            <a:r>
              <a:rPr lang="en-US" sz="1100" b="1" dirty="0">
                <a:solidFill>
                  <a:srgbClr val="C00000"/>
                </a:solidFill>
                <a:latin typeface="Courier" pitchFamily="2" charset="0"/>
              </a:rPr>
              <a:t>)</a:t>
            </a:r>
          </a:p>
          <a:p>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a:t>
            </a:r>
            <a:r>
              <a:rPr lang="en-US" altLang="zh-CN" sz="1100" dirty="0">
                <a:latin typeface="Courier" pitchFamily="2" charset="0"/>
              </a:rPr>
              <a:t>2.</a:t>
            </a:r>
            <a:r>
              <a:rPr lang="zh-CN" altLang="en-US" sz="1100" dirty="0">
                <a:latin typeface="Courier" pitchFamily="2" charset="0"/>
              </a:rPr>
              <a:t> 初始化</a:t>
            </a:r>
            <a:r>
              <a:rPr lang="en-US" altLang="zh-CN" sz="1100" dirty="0" err="1">
                <a:latin typeface="Courier" pitchFamily="2" charset="0"/>
              </a:rPr>
              <a:t>inode</a:t>
            </a:r>
            <a:endParaRPr lang="en-US" altLang="zh-CN" sz="1100" dirty="0">
              <a:latin typeface="Courier" pitchFamily="2" charset="0"/>
            </a:endParaRPr>
          </a:p>
          <a:p>
            <a:r>
              <a:rPr lang="en-US" altLang="zh-CN" sz="1100" dirty="0" err="1">
                <a:latin typeface="Courier" pitchFamily="2" charset="0"/>
              </a:rPr>
              <a:t>inode_bh</a:t>
            </a:r>
            <a:r>
              <a:rPr lang="zh-CN" altLang="en-US" sz="1100" dirty="0">
                <a:latin typeface="Courier" pitchFamily="2" charset="0"/>
              </a:rPr>
              <a:t> </a:t>
            </a:r>
            <a:r>
              <a:rPr lang="en-US" altLang="zh-CN" sz="1100" dirty="0">
                <a:latin typeface="Courier" pitchFamily="2" charset="0"/>
              </a:rPr>
              <a:t>=</a:t>
            </a:r>
            <a:r>
              <a:rPr lang="zh-CN" altLang="en-US" sz="1100" dirty="0">
                <a:latin typeface="Courier" pitchFamily="2" charset="0"/>
              </a:rPr>
              <a:t> </a:t>
            </a:r>
            <a:r>
              <a:rPr lang="en-US" altLang="zh-CN" sz="1100" dirty="0" err="1">
                <a:latin typeface="Courier" pitchFamily="2" charset="0"/>
              </a:rPr>
              <a:t>get_inode_bh</a:t>
            </a:r>
            <a:r>
              <a:rPr lang="en-US" altLang="zh-CN" sz="1100" dirty="0">
                <a:latin typeface="Courier" pitchFamily="2" charset="0"/>
              </a:rPr>
              <a:t>(sb,</a:t>
            </a:r>
            <a:r>
              <a:rPr lang="zh-CN" altLang="en-US" sz="1100" dirty="0">
                <a:latin typeface="Courier" pitchFamily="2" charset="0"/>
              </a:rPr>
              <a:t> </a:t>
            </a:r>
            <a:r>
              <a:rPr lang="en-US" altLang="zh-CN" sz="1100" dirty="0" err="1">
                <a:latin typeface="Courier" pitchFamily="2" charset="0"/>
              </a:rPr>
              <a:t>ino</a:t>
            </a:r>
            <a:r>
              <a:rPr lang="en-US" altLang="zh-CN" sz="1100" dirty="0">
                <a:latin typeface="Courier" pitchFamily="2" charset="0"/>
              </a:rPr>
              <a:t>)</a:t>
            </a:r>
          </a:p>
          <a:p>
            <a:endParaRPr lang="en-US" sz="1100" dirty="0">
              <a:latin typeface="Courier" pitchFamily="2" charset="0"/>
            </a:endParaRPr>
          </a:p>
          <a:p>
            <a:r>
              <a:rPr lang="en-US" altLang="zh-CN" sz="1100" dirty="0" err="1">
                <a:latin typeface="Courier" pitchFamily="2" charset="0"/>
              </a:rPr>
              <a:t>init_inode</a:t>
            </a:r>
            <a:r>
              <a:rPr lang="en-US" altLang="zh-CN" sz="1100" dirty="0">
                <a:latin typeface="Courier" pitchFamily="2" charset="0"/>
              </a:rPr>
              <a:t>(</a:t>
            </a:r>
            <a:r>
              <a:rPr lang="en-US" altLang="zh-CN" sz="1100" dirty="0" err="1">
                <a:latin typeface="Courier" pitchFamily="2" charset="0"/>
              </a:rPr>
              <a:t>inode_bh</a:t>
            </a:r>
            <a:r>
              <a:rPr lang="en-US" altLang="zh-CN" sz="1100" dirty="0">
                <a:latin typeface="Courier" pitchFamily="2" charset="0"/>
              </a:rPr>
              <a:t>)</a:t>
            </a:r>
          </a:p>
          <a:p>
            <a:endParaRPr lang="en-US" sz="1100" dirty="0">
              <a:latin typeface="Courier" pitchFamily="2" charset="0"/>
            </a:endParaRPr>
          </a:p>
          <a:p>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a:t>
            </a:r>
            <a:r>
              <a:rPr lang="en-US" altLang="zh-CN" sz="1100" dirty="0">
                <a:latin typeface="Courier" pitchFamily="2" charset="0"/>
              </a:rPr>
              <a:t>3.</a:t>
            </a:r>
            <a:r>
              <a:rPr lang="zh-CN" altLang="en-US" sz="1100" dirty="0">
                <a:latin typeface="Courier" pitchFamily="2" charset="0"/>
              </a:rPr>
              <a:t> 将目录项写入目录中</a:t>
            </a:r>
            <a:endParaRPr lang="en-US" altLang="zh-CN" sz="1100" dirty="0">
              <a:latin typeface="Courier" pitchFamily="2" charset="0"/>
            </a:endParaRPr>
          </a:p>
          <a:p>
            <a:r>
              <a:rPr lang="en-US" altLang="zh-CN" sz="1100" dirty="0" err="1">
                <a:latin typeface="Courier" pitchFamily="2" charset="0"/>
              </a:rPr>
              <a:t>data_bh</a:t>
            </a:r>
            <a:r>
              <a:rPr lang="zh-CN" altLang="en-US" sz="1100" dirty="0">
                <a:latin typeface="Courier" pitchFamily="2" charset="0"/>
              </a:rPr>
              <a:t> </a:t>
            </a:r>
            <a:r>
              <a:rPr lang="en-US" altLang="zh-CN" sz="1100" dirty="0">
                <a:latin typeface="Courier" pitchFamily="2" charset="0"/>
              </a:rPr>
              <a:t>=</a:t>
            </a:r>
            <a:r>
              <a:rPr lang="zh-CN" altLang="en-US" sz="1100" dirty="0">
                <a:latin typeface="Courier" pitchFamily="2" charset="0"/>
              </a:rPr>
              <a:t> </a:t>
            </a:r>
            <a:r>
              <a:rPr lang="en-US" altLang="zh-CN" sz="1100" dirty="0" err="1">
                <a:latin typeface="Courier" pitchFamily="2" charset="0"/>
              </a:rPr>
              <a:t>get_data_page</a:t>
            </a:r>
            <a:r>
              <a:rPr lang="en-US" altLang="zh-CN" sz="1100" dirty="0">
                <a:latin typeface="Courier" pitchFamily="2" charset="0"/>
              </a:rPr>
              <a:t>(</a:t>
            </a:r>
            <a:r>
              <a:rPr lang="en-US" altLang="zh-CN" sz="1100" dirty="0" err="1">
                <a:latin typeface="Courier" pitchFamily="2" charset="0"/>
              </a:rPr>
              <a:t>dir_inode</a:t>
            </a:r>
            <a:r>
              <a:rPr lang="en-US" altLang="zh-CN" sz="1100" dirty="0">
                <a:latin typeface="Courier" pitchFamily="2" charset="0"/>
              </a:rPr>
              <a:t>)</a:t>
            </a:r>
          </a:p>
          <a:p>
            <a:endParaRPr lang="en-US" sz="1100" dirty="0">
              <a:latin typeface="Courier" pitchFamily="2" charset="0"/>
            </a:endParaRPr>
          </a:p>
          <a:p>
            <a:r>
              <a:rPr lang="en-US" altLang="zh-CN" sz="1100" dirty="0" err="1">
                <a:latin typeface="Courier" pitchFamily="2" charset="0"/>
              </a:rPr>
              <a:t>add_dentry_to_data</a:t>
            </a:r>
            <a:r>
              <a:rPr lang="en-US" altLang="zh-CN" sz="1100" dirty="0">
                <a:latin typeface="Courier" pitchFamily="2" charset="0"/>
              </a:rPr>
              <a:t>(page,</a:t>
            </a:r>
            <a:r>
              <a:rPr lang="zh-CN" altLang="en-US" sz="1100" dirty="0">
                <a:latin typeface="Courier" pitchFamily="2" charset="0"/>
              </a:rPr>
              <a:t> </a:t>
            </a:r>
            <a:r>
              <a:rPr lang="en-US" altLang="zh-CN" sz="1100" dirty="0">
                <a:latin typeface="Courier" pitchFamily="2" charset="0"/>
              </a:rPr>
              <a:t>filename,</a:t>
            </a:r>
            <a:r>
              <a:rPr lang="zh-CN" altLang="en-US" sz="1100" dirty="0">
                <a:latin typeface="Courier" pitchFamily="2" charset="0"/>
              </a:rPr>
              <a:t> </a:t>
            </a:r>
            <a:r>
              <a:rPr lang="en-US" altLang="zh-CN" sz="1100" dirty="0" err="1">
                <a:latin typeface="Courier" pitchFamily="2" charset="0"/>
              </a:rPr>
              <a:t>ino</a:t>
            </a:r>
            <a:r>
              <a:rPr lang="en-US" altLang="zh-CN" sz="1100" dirty="0">
                <a:latin typeface="Courier" pitchFamily="2" charset="0"/>
              </a:rPr>
              <a:t>)</a:t>
            </a:r>
          </a:p>
          <a:p>
            <a:endParaRPr lang="en-US" sz="1100" dirty="0">
              <a:latin typeface="Courier" pitchFamily="2" charset="0"/>
            </a:endParaRPr>
          </a:p>
          <a:p>
            <a:endParaRPr lang="en-US" altLang="zh-CN" sz="1100" dirty="0">
              <a:latin typeface="Courier" pitchFamily="2" charset="0"/>
            </a:endParaRPr>
          </a:p>
          <a:p>
            <a:endParaRPr lang="en-US" sz="1100" dirty="0">
              <a:latin typeface="Courier" pitchFamily="2" charset="0"/>
            </a:endParaRPr>
          </a:p>
        </p:txBody>
      </p:sp>
      <p:sp>
        <p:nvSpPr>
          <p:cNvPr id="14" name="TextBox 13">
            <a:extLst>
              <a:ext uri="{FF2B5EF4-FFF2-40B4-BE49-F238E27FC236}">
                <a16:creationId xmlns:a16="http://schemas.microsoft.com/office/drawing/2014/main" id="{716C1643-BCD6-DA47-BEE6-C8B000920FAA}"/>
              </a:ext>
            </a:extLst>
          </p:cNvPr>
          <p:cNvSpPr txBox="1"/>
          <p:nvPr/>
        </p:nvSpPr>
        <p:spPr>
          <a:xfrm>
            <a:off x="539299" y="1477757"/>
            <a:ext cx="3744417" cy="1277273"/>
          </a:xfrm>
          <a:prstGeom prst="rect">
            <a:avLst/>
          </a:prstGeom>
          <a:solidFill>
            <a:schemeClr val="accent6">
              <a:lumMod val="20000"/>
              <a:lumOff val="80000"/>
            </a:schemeClr>
          </a:solidFill>
          <a:ln>
            <a:solidFill>
              <a:schemeClr val="bg2"/>
            </a:solidFill>
          </a:ln>
        </p:spPr>
        <p:txBody>
          <a:bodyPr wrap="square" rtlCol="0">
            <a:spAutoFit/>
          </a:bodyPr>
          <a:lstStyle/>
          <a:p>
            <a:r>
              <a:rPr lang="en-US" altLang="zh-CN" sz="1100" dirty="0" err="1">
                <a:latin typeface="Courier" pitchFamily="2" charset="0"/>
              </a:rPr>
              <a:t>journal_t</a:t>
            </a:r>
            <a:r>
              <a:rPr lang="zh-CN" altLang="en-US" sz="1100" dirty="0">
                <a:latin typeface="Courier" pitchFamily="2" charset="0"/>
              </a:rPr>
              <a:t> </a:t>
            </a:r>
            <a:r>
              <a:rPr lang="en-US" altLang="zh-CN" sz="1100" dirty="0">
                <a:latin typeface="Courier" pitchFamily="2" charset="0"/>
              </a:rPr>
              <a:t>journal;</a:t>
            </a:r>
          </a:p>
          <a:p>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初始化日志系统（日志存在文件中）</a:t>
            </a:r>
            <a:endParaRPr lang="en-US" altLang="zh-CN" sz="1100" dirty="0">
              <a:latin typeface="Courier" pitchFamily="2" charset="0"/>
            </a:endParaRPr>
          </a:p>
          <a:p>
            <a:r>
              <a:rPr lang="en-US" altLang="zh-CN" sz="1100" dirty="0">
                <a:latin typeface="Courier" pitchFamily="2" charset="0"/>
              </a:rPr>
              <a:t>journal</a:t>
            </a:r>
            <a:r>
              <a:rPr lang="zh-CN" altLang="en-US" sz="1100" dirty="0">
                <a:latin typeface="Courier" pitchFamily="2" charset="0"/>
              </a:rPr>
              <a:t> </a:t>
            </a:r>
            <a:r>
              <a:rPr lang="en-US" altLang="zh-CN" sz="1100" dirty="0">
                <a:latin typeface="Courier" pitchFamily="2" charset="0"/>
              </a:rPr>
              <a:t>=</a:t>
            </a:r>
            <a:r>
              <a:rPr lang="zh-CN" altLang="en-US" sz="1100" dirty="0">
                <a:latin typeface="Courier" pitchFamily="2" charset="0"/>
              </a:rPr>
              <a:t> </a:t>
            </a:r>
            <a:r>
              <a:rPr lang="en-US" sz="1100" dirty="0">
                <a:latin typeface="Courier" pitchFamily="2" charset="0"/>
              </a:rPr>
              <a:t>jbd2_journal_init_inode</a:t>
            </a:r>
            <a:r>
              <a:rPr lang="en-US" altLang="zh-CN" sz="1100" dirty="0">
                <a:latin typeface="Courier" pitchFamily="2" charset="0"/>
              </a:rPr>
              <a:t>(</a:t>
            </a:r>
            <a:r>
              <a:rPr lang="en-US" altLang="zh-CN" sz="1100" dirty="0" err="1">
                <a:latin typeface="Courier" pitchFamily="2" charset="0"/>
              </a:rPr>
              <a:t>inode</a:t>
            </a:r>
            <a:r>
              <a:rPr lang="en-US" altLang="zh-CN" sz="1100" dirty="0">
                <a:latin typeface="Courier" pitchFamily="2" charset="0"/>
              </a:rPr>
              <a:t>)</a:t>
            </a:r>
          </a:p>
          <a:p>
            <a:r>
              <a:rPr lang="en-US" altLang="zh-CN" sz="1100" dirty="0">
                <a:latin typeface="Courier" pitchFamily="2" charset="0"/>
              </a:rPr>
              <a:t>//</a:t>
            </a:r>
            <a:r>
              <a:rPr lang="zh-CN" altLang="en-US" sz="1100" dirty="0">
                <a:latin typeface="Courier" pitchFamily="2" charset="0"/>
              </a:rPr>
              <a:t> 读取并恢复已有日志（如果存在）</a:t>
            </a:r>
            <a:endParaRPr lang="en-US" altLang="zh-CN" sz="1100" dirty="0">
              <a:latin typeface="Courier" pitchFamily="2" charset="0"/>
            </a:endParaRPr>
          </a:p>
          <a:p>
            <a:r>
              <a:rPr lang="en-US" sz="1100" dirty="0">
                <a:latin typeface="Courier" pitchFamily="2" charset="0"/>
              </a:rPr>
              <a:t>jbd2_journal_load(journal)</a:t>
            </a:r>
          </a:p>
          <a:p>
            <a:endParaRPr lang="en-US" sz="1100" dirty="0">
              <a:latin typeface="Courier" pitchFamily="2" charset="0"/>
            </a:endParaRPr>
          </a:p>
        </p:txBody>
      </p:sp>
      <p:sp>
        <p:nvSpPr>
          <p:cNvPr id="15" name="TextBox 14">
            <a:extLst>
              <a:ext uri="{FF2B5EF4-FFF2-40B4-BE49-F238E27FC236}">
                <a16:creationId xmlns:a16="http://schemas.microsoft.com/office/drawing/2014/main" id="{C5C1A360-D9EA-C44E-B195-17B05E27F064}"/>
              </a:ext>
            </a:extLst>
          </p:cNvPr>
          <p:cNvSpPr txBox="1"/>
          <p:nvPr/>
        </p:nvSpPr>
        <p:spPr>
          <a:xfrm>
            <a:off x="539750" y="4318614"/>
            <a:ext cx="3744417" cy="600164"/>
          </a:xfrm>
          <a:prstGeom prst="rect">
            <a:avLst/>
          </a:prstGeom>
          <a:solidFill>
            <a:schemeClr val="accent6">
              <a:lumMod val="20000"/>
              <a:lumOff val="80000"/>
            </a:schemeClr>
          </a:solidFill>
          <a:ln>
            <a:solidFill>
              <a:schemeClr val="bg2"/>
            </a:solidFill>
          </a:ln>
        </p:spPr>
        <p:txBody>
          <a:bodyPr wrap="square" rtlCol="0">
            <a:spAutoFit/>
          </a:bodyPr>
          <a:lstStyle/>
          <a:p>
            <a:r>
              <a:rPr lang="en-US" altLang="zh-CN" sz="1100" dirty="0">
                <a:latin typeface="Courier" pitchFamily="2" charset="0"/>
              </a:rPr>
              <a:t>//</a:t>
            </a:r>
            <a:r>
              <a:rPr lang="zh-CN" altLang="en-US" sz="1100" dirty="0">
                <a:latin typeface="Courier" pitchFamily="2" charset="0"/>
              </a:rPr>
              <a:t> 释放日志系统</a:t>
            </a:r>
            <a:endParaRPr lang="en-US" sz="1100" dirty="0">
              <a:latin typeface="Courier" pitchFamily="2" charset="0"/>
            </a:endParaRPr>
          </a:p>
          <a:p>
            <a:r>
              <a:rPr lang="en-US" sz="1100" dirty="0">
                <a:latin typeface="Courier" pitchFamily="2" charset="0"/>
              </a:rPr>
              <a:t>jbd2_journal_destroy(journal)</a:t>
            </a:r>
            <a:endParaRPr lang="en-US" altLang="zh-CN" sz="1100" dirty="0">
              <a:latin typeface="Courier" pitchFamily="2" charset="0"/>
            </a:endParaRPr>
          </a:p>
          <a:p>
            <a:endParaRPr lang="en-US" sz="1100" dirty="0">
              <a:latin typeface="Courier" pitchFamily="2" charset="0"/>
            </a:endParaRPr>
          </a:p>
        </p:txBody>
      </p:sp>
      <p:sp>
        <p:nvSpPr>
          <p:cNvPr id="10" name="TextBox 9">
            <a:extLst>
              <a:ext uri="{FF2B5EF4-FFF2-40B4-BE49-F238E27FC236}">
                <a16:creationId xmlns:a16="http://schemas.microsoft.com/office/drawing/2014/main" id="{2ECD993D-533C-0641-8B28-2C8D3D54BCCC}"/>
              </a:ext>
            </a:extLst>
          </p:cNvPr>
          <p:cNvSpPr txBox="1"/>
          <p:nvPr/>
        </p:nvSpPr>
        <p:spPr>
          <a:xfrm>
            <a:off x="515915" y="1174402"/>
            <a:ext cx="1620957" cy="307777"/>
          </a:xfrm>
          <a:prstGeom prst="rect">
            <a:avLst/>
          </a:prstGeom>
          <a:noFill/>
        </p:spPr>
        <p:txBody>
          <a:bodyPr wrap="none" rtlCol="0">
            <a:spAutoFit/>
          </a:bodyPr>
          <a:lstStyle/>
          <a:p>
            <a:r>
              <a:rPr lang="zh-CN" altLang="en-CN" sz="1400" dirty="0"/>
              <a:t>文件系统</a:t>
            </a:r>
            <a:r>
              <a:rPr lang="zh-CN" altLang="en-US" sz="1400" dirty="0"/>
              <a:t>挂载时：</a:t>
            </a:r>
            <a:endParaRPr lang="en-CN" sz="1400" dirty="0"/>
          </a:p>
        </p:txBody>
      </p:sp>
      <p:sp>
        <p:nvSpPr>
          <p:cNvPr id="16" name="TextBox 15">
            <a:extLst>
              <a:ext uri="{FF2B5EF4-FFF2-40B4-BE49-F238E27FC236}">
                <a16:creationId xmlns:a16="http://schemas.microsoft.com/office/drawing/2014/main" id="{63B2D966-A96B-5549-8BBD-E5CB41FED46F}"/>
              </a:ext>
            </a:extLst>
          </p:cNvPr>
          <p:cNvSpPr txBox="1"/>
          <p:nvPr/>
        </p:nvSpPr>
        <p:spPr>
          <a:xfrm>
            <a:off x="515915" y="2881042"/>
            <a:ext cx="1082348" cy="307777"/>
          </a:xfrm>
          <a:prstGeom prst="rect">
            <a:avLst/>
          </a:prstGeom>
          <a:noFill/>
        </p:spPr>
        <p:txBody>
          <a:bodyPr wrap="none" rtlCol="0">
            <a:spAutoFit/>
          </a:bodyPr>
          <a:lstStyle/>
          <a:p>
            <a:r>
              <a:rPr lang="zh-CN" altLang="en-US" sz="1400" dirty="0"/>
              <a:t>后台进程：</a:t>
            </a:r>
            <a:endParaRPr lang="en-CN" sz="1400" dirty="0"/>
          </a:p>
        </p:txBody>
      </p:sp>
      <p:sp>
        <p:nvSpPr>
          <p:cNvPr id="20" name="TextBox 19">
            <a:extLst>
              <a:ext uri="{FF2B5EF4-FFF2-40B4-BE49-F238E27FC236}">
                <a16:creationId xmlns:a16="http://schemas.microsoft.com/office/drawing/2014/main" id="{637532AB-4D38-F74B-A671-8F791A82C869}"/>
              </a:ext>
            </a:extLst>
          </p:cNvPr>
          <p:cNvSpPr txBox="1"/>
          <p:nvPr/>
        </p:nvSpPr>
        <p:spPr>
          <a:xfrm>
            <a:off x="4535016" y="902555"/>
            <a:ext cx="1441420" cy="307777"/>
          </a:xfrm>
          <a:prstGeom prst="rect">
            <a:avLst/>
          </a:prstGeom>
          <a:noFill/>
        </p:spPr>
        <p:txBody>
          <a:bodyPr wrap="none" rtlCol="0">
            <a:spAutoFit/>
          </a:bodyPr>
          <a:lstStyle>
            <a:defPPr>
              <a:defRPr lang="zh-CN"/>
            </a:defPPr>
            <a:lvl1pPr>
              <a:defRPr sz="1400"/>
            </a:lvl1pPr>
          </a:lstStyle>
          <a:p>
            <a:r>
              <a:rPr lang="zh-CN" altLang="en-US" dirty="0"/>
              <a:t>系统调用处理：</a:t>
            </a:r>
            <a:endParaRPr lang="en-US" altLang="zh-CN" dirty="0"/>
          </a:p>
        </p:txBody>
      </p:sp>
      <p:sp>
        <p:nvSpPr>
          <p:cNvPr id="18" name="TextBox 17">
            <a:extLst>
              <a:ext uri="{FF2B5EF4-FFF2-40B4-BE49-F238E27FC236}">
                <a16:creationId xmlns:a16="http://schemas.microsoft.com/office/drawing/2014/main" id="{09896F25-1D72-8843-B934-BDA33186182D}"/>
              </a:ext>
            </a:extLst>
          </p:cNvPr>
          <p:cNvSpPr txBox="1"/>
          <p:nvPr/>
        </p:nvSpPr>
        <p:spPr>
          <a:xfrm>
            <a:off x="6059158" y="651947"/>
            <a:ext cx="2627642" cy="369332"/>
          </a:xfrm>
          <a:prstGeom prst="rect">
            <a:avLst/>
          </a:prstGeom>
          <a:noFill/>
        </p:spPr>
        <p:txBody>
          <a:bodyPr wrap="none" rtlCol="0">
            <a:spAutoFit/>
          </a:bodyPr>
          <a:lstStyle/>
          <a:p>
            <a:r>
              <a:rPr lang="zh-CN" altLang="en-US" dirty="0">
                <a:solidFill>
                  <a:srgbClr val="C00000"/>
                </a:solidFill>
                <a:latin typeface="Courier" pitchFamily="2" charset="0"/>
              </a:rPr>
              <a:t>通知</a:t>
            </a:r>
            <a:r>
              <a:rPr lang="en-US" altLang="zh-CN" dirty="0">
                <a:solidFill>
                  <a:srgbClr val="C00000"/>
                </a:solidFill>
                <a:latin typeface="Courier" pitchFamily="2" charset="0"/>
              </a:rPr>
              <a:t>jbd2</a:t>
            </a:r>
            <a:r>
              <a:rPr lang="zh-CN" altLang="en-US" dirty="0">
                <a:solidFill>
                  <a:srgbClr val="C00000"/>
                </a:solidFill>
                <a:latin typeface="Courier" pitchFamily="2" charset="0"/>
              </a:rPr>
              <a:t>，修改</a:t>
            </a:r>
            <a:r>
              <a:rPr lang="en-US" altLang="zh-CN" dirty="0" err="1">
                <a:solidFill>
                  <a:srgbClr val="C00000"/>
                </a:solidFill>
                <a:latin typeface="Courier" pitchFamily="2" charset="0"/>
              </a:rPr>
              <a:t>bh</a:t>
            </a:r>
            <a:r>
              <a:rPr lang="zh-CN" altLang="en-US" dirty="0">
                <a:solidFill>
                  <a:srgbClr val="C00000"/>
                </a:solidFill>
                <a:latin typeface="Courier" pitchFamily="2" charset="0"/>
              </a:rPr>
              <a:t>完毕</a:t>
            </a:r>
          </a:p>
        </p:txBody>
      </p:sp>
      <p:cxnSp>
        <p:nvCxnSpPr>
          <p:cNvPr id="19" name="Straight Arrow Connector 18">
            <a:extLst>
              <a:ext uri="{FF2B5EF4-FFF2-40B4-BE49-F238E27FC236}">
                <a16:creationId xmlns:a16="http://schemas.microsoft.com/office/drawing/2014/main" id="{98906E1D-E6DB-BB49-952F-6A90578146CB}"/>
              </a:ext>
            </a:extLst>
          </p:cNvPr>
          <p:cNvCxnSpPr>
            <a:cxnSpLocks/>
            <a:stCxn id="18" idx="2"/>
          </p:cNvCxnSpPr>
          <p:nvPr/>
        </p:nvCxnSpPr>
        <p:spPr>
          <a:xfrm flipH="1">
            <a:off x="6300192" y="1021279"/>
            <a:ext cx="1072787" cy="173375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38C912DF-9C88-BC41-8F2B-D720CDA66B5A}"/>
              </a:ext>
            </a:extLst>
          </p:cNvPr>
          <p:cNvSpPr txBox="1"/>
          <p:nvPr/>
        </p:nvSpPr>
        <p:spPr>
          <a:xfrm>
            <a:off x="515915" y="4061604"/>
            <a:ext cx="1620957" cy="307777"/>
          </a:xfrm>
          <a:prstGeom prst="rect">
            <a:avLst/>
          </a:prstGeom>
          <a:noFill/>
        </p:spPr>
        <p:txBody>
          <a:bodyPr wrap="none" rtlCol="0">
            <a:spAutoFit/>
          </a:bodyPr>
          <a:lstStyle/>
          <a:p>
            <a:r>
              <a:rPr lang="zh-CN" altLang="en-US" sz="1400" dirty="0"/>
              <a:t>文件系统卸载时：</a:t>
            </a:r>
            <a:endParaRPr lang="en-CN" sz="1400" dirty="0"/>
          </a:p>
        </p:txBody>
      </p:sp>
    </p:spTree>
    <p:extLst>
      <p:ext uri="{BB962C8B-B14F-4D97-AF65-F5344CB8AC3E}">
        <p14:creationId xmlns:p14="http://schemas.microsoft.com/office/powerpoint/2010/main" val="2602534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BDB1E-62D0-5948-96F9-0B385AF4E959}"/>
              </a:ext>
            </a:extLst>
          </p:cNvPr>
          <p:cNvSpPr>
            <a:spLocks noGrp="1"/>
          </p:cNvSpPr>
          <p:nvPr>
            <p:ph type="title"/>
          </p:nvPr>
        </p:nvSpPr>
        <p:spPr/>
        <p:txBody>
          <a:bodyPr/>
          <a:lstStyle/>
          <a:p>
            <a:r>
              <a:rPr lang="en-CN" dirty="0"/>
              <a:t>JBD</a:t>
            </a:r>
            <a:r>
              <a:rPr lang="en-US" altLang="zh-CN" dirty="0"/>
              <a:t>2</a:t>
            </a:r>
            <a:r>
              <a:rPr lang="zh-CN" altLang="en-US" dirty="0"/>
              <a:t>部分接口和使用方法</a:t>
            </a:r>
            <a:endParaRPr lang="en-CN" dirty="0"/>
          </a:p>
        </p:txBody>
      </p:sp>
      <p:sp>
        <p:nvSpPr>
          <p:cNvPr id="4" name="Slide Number Placeholder 3">
            <a:extLst>
              <a:ext uri="{FF2B5EF4-FFF2-40B4-BE49-F238E27FC236}">
                <a16:creationId xmlns:a16="http://schemas.microsoft.com/office/drawing/2014/main" id="{C8862C3D-542B-B04C-9283-74A97569AB75}"/>
              </a:ext>
            </a:extLst>
          </p:cNvPr>
          <p:cNvSpPr>
            <a:spLocks noGrp="1"/>
          </p:cNvSpPr>
          <p:nvPr>
            <p:ph type="sldNum" sz="quarter" idx="12"/>
          </p:nvPr>
        </p:nvSpPr>
        <p:spPr/>
        <p:txBody>
          <a:bodyPr/>
          <a:lstStyle/>
          <a:p>
            <a:fld id="{ADE361C3-C043-4A6E-BDCE-8DA1E7D90A3B}" type="slidenum">
              <a:rPr lang="zh-CN" altLang="en-US" smtClean="0"/>
              <a:t>34</a:t>
            </a:fld>
            <a:endParaRPr lang="zh-CN" altLang="en-US"/>
          </a:p>
        </p:txBody>
      </p:sp>
      <p:sp>
        <p:nvSpPr>
          <p:cNvPr id="5" name="Footer Placeholder 4">
            <a:extLst>
              <a:ext uri="{FF2B5EF4-FFF2-40B4-BE49-F238E27FC236}">
                <a16:creationId xmlns:a16="http://schemas.microsoft.com/office/drawing/2014/main" id="{AE140DC6-8932-E94A-AF5D-8D69694DE66C}"/>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TextBox 5">
            <a:extLst>
              <a:ext uri="{FF2B5EF4-FFF2-40B4-BE49-F238E27FC236}">
                <a16:creationId xmlns:a16="http://schemas.microsoft.com/office/drawing/2014/main" id="{5FC4A2EA-0C87-AF42-A642-9CDF7995C512}"/>
              </a:ext>
            </a:extLst>
          </p:cNvPr>
          <p:cNvSpPr txBox="1"/>
          <p:nvPr/>
        </p:nvSpPr>
        <p:spPr>
          <a:xfrm>
            <a:off x="539300" y="3177485"/>
            <a:ext cx="3744417" cy="769441"/>
          </a:xfrm>
          <a:prstGeom prst="rect">
            <a:avLst/>
          </a:prstGeom>
          <a:solidFill>
            <a:schemeClr val="accent6">
              <a:lumMod val="20000"/>
              <a:lumOff val="80000"/>
            </a:schemeClr>
          </a:solidFill>
          <a:ln>
            <a:solidFill>
              <a:schemeClr val="bg2"/>
            </a:solidFill>
          </a:ln>
        </p:spPr>
        <p:txBody>
          <a:bodyPr wrap="square" rtlCol="0">
            <a:spAutoFit/>
          </a:bodyPr>
          <a:lstStyle/>
          <a:p>
            <a:r>
              <a:rPr lang="en-US" altLang="zh-CN" sz="1100" dirty="0">
                <a:latin typeface="Courier" pitchFamily="2" charset="0"/>
              </a:rPr>
              <a:t>while</a:t>
            </a:r>
            <a:r>
              <a:rPr lang="zh-CN" altLang="en-US" sz="1100" dirty="0">
                <a:latin typeface="Courier" pitchFamily="2" charset="0"/>
              </a:rPr>
              <a:t> </a:t>
            </a:r>
            <a:r>
              <a:rPr lang="en-US" altLang="zh-CN" sz="1100" dirty="0">
                <a:latin typeface="Courier" pitchFamily="2" charset="0"/>
              </a:rPr>
              <a:t>(sleep_5s())</a:t>
            </a:r>
            <a:r>
              <a:rPr lang="zh-CN" altLang="en-US" sz="1100" dirty="0">
                <a:latin typeface="Courier" pitchFamily="2" charset="0"/>
              </a:rPr>
              <a:t> </a:t>
            </a:r>
            <a:r>
              <a:rPr lang="en-US" altLang="zh-CN" sz="1100" dirty="0">
                <a:latin typeface="Courier" pitchFamily="2" charset="0"/>
              </a:rPr>
              <a:t>{</a:t>
            </a:r>
          </a:p>
          <a:p>
            <a:r>
              <a:rPr lang="zh-CN" altLang="en-US" sz="1100" dirty="0">
                <a:latin typeface="Courier" pitchFamily="2" charset="0"/>
              </a:rPr>
              <a:t>  </a:t>
            </a:r>
            <a:r>
              <a:rPr lang="en-US" altLang="zh-CN" sz="1100" dirty="0">
                <a:latin typeface="Courier" pitchFamily="2" charset="0"/>
              </a:rPr>
              <a:t>//</a:t>
            </a:r>
            <a:r>
              <a:rPr lang="zh-CN" altLang="en-US" sz="1100" dirty="0">
                <a:latin typeface="Courier" pitchFamily="2" charset="0"/>
              </a:rPr>
              <a:t> 提交事务和回收日志空间（并开始新的事务）</a:t>
            </a:r>
            <a:endParaRPr lang="en-US" altLang="zh-CN" sz="1100" dirty="0">
              <a:latin typeface="Courier" pitchFamily="2" charset="0"/>
            </a:endParaRPr>
          </a:p>
          <a:p>
            <a:r>
              <a:rPr lang="zh-CN" altLang="en-US" sz="1100" dirty="0">
                <a:latin typeface="Courier" pitchFamily="2" charset="0"/>
              </a:rPr>
              <a:t>  </a:t>
            </a:r>
            <a:r>
              <a:rPr lang="en-US" sz="1100" dirty="0">
                <a:latin typeface="Courier" pitchFamily="2" charset="0"/>
              </a:rPr>
              <a:t>jbd2_journal_commit_transaction(</a:t>
            </a:r>
            <a:r>
              <a:rPr lang="en-US" altLang="zh-CN" sz="1100" dirty="0">
                <a:latin typeface="Courier" pitchFamily="2" charset="0"/>
              </a:rPr>
              <a:t>journal</a:t>
            </a:r>
            <a:r>
              <a:rPr lang="en-US" sz="1100" dirty="0">
                <a:latin typeface="Courier" pitchFamily="2" charset="0"/>
              </a:rPr>
              <a:t>)</a:t>
            </a:r>
          </a:p>
          <a:p>
            <a:r>
              <a:rPr lang="en-US" altLang="zh-CN" sz="1100" dirty="0">
                <a:latin typeface="Courier" pitchFamily="2" charset="0"/>
              </a:rPr>
              <a:t>}</a:t>
            </a:r>
            <a:endParaRPr lang="en-US" sz="1100" dirty="0">
              <a:latin typeface="Courier" pitchFamily="2" charset="0"/>
            </a:endParaRPr>
          </a:p>
        </p:txBody>
      </p:sp>
      <p:sp>
        <p:nvSpPr>
          <p:cNvPr id="13" name="TextBox 12">
            <a:extLst>
              <a:ext uri="{FF2B5EF4-FFF2-40B4-BE49-F238E27FC236}">
                <a16:creationId xmlns:a16="http://schemas.microsoft.com/office/drawing/2014/main" id="{E446FFFF-8CB0-7641-A70C-1F3FF0F8DCFD}"/>
              </a:ext>
            </a:extLst>
          </p:cNvPr>
          <p:cNvSpPr txBox="1"/>
          <p:nvPr/>
        </p:nvSpPr>
        <p:spPr>
          <a:xfrm>
            <a:off x="4596664" y="1174402"/>
            <a:ext cx="4175636" cy="4154984"/>
          </a:xfrm>
          <a:prstGeom prst="rect">
            <a:avLst/>
          </a:prstGeom>
          <a:solidFill>
            <a:schemeClr val="accent6">
              <a:lumMod val="20000"/>
              <a:lumOff val="80000"/>
            </a:schemeClr>
          </a:solidFill>
          <a:ln>
            <a:solidFill>
              <a:schemeClr val="bg2"/>
            </a:solidFill>
          </a:ln>
        </p:spPr>
        <p:txBody>
          <a:bodyPr wrap="square" rtlCol="0">
            <a:spAutoFit/>
          </a:bodyPr>
          <a:lstStyle/>
          <a:p>
            <a:r>
              <a:rPr lang="en-US" altLang="zh-CN" sz="1100" dirty="0" err="1">
                <a:latin typeface="Courier" pitchFamily="2" charset="0"/>
              </a:rPr>
              <a:t>handle_t</a:t>
            </a:r>
            <a:r>
              <a:rPr lang="zh-CN" altLang="en-US" sz="1100" dirty="0">
                <a:latin typeface="Courier" pitchFamily="2" charset="0"/>
              </a:rPr>
              <a:t> </a:t>
            </a:r>
            <a:r>
              <a:rPr lang="en-US" altLang="zh-CN" sz="1100" dirty="0">
                <a:latin typeface="Courier" pitchFamily="2" charset="0"/>
              </a:rPr>
              <a:t>handle;</a:t>
            </a:r>
          </a:p>
          <a:p>
            <a:r>
              <a:rPr lang="en-US" altLang="zh-CN" sz="1100" dirty="0">
                <a:latin typeface="Courier" pitchFamily="2" charset="0"/>
              </a:rPr>
              <a:t>//</a:t>
            </a:r>
            <a:r>
              <a:rPr lang="zh-CN" altLang="en-US" sz="1100" dirty="0">
                <a:latin typeface="Courier" pitchFamily="2" charset="0"/>
              </a:rPr>
              <a:t> 原子操作：创建新文件</a:t>
            </a:r>
            <a:endParaRPr lang="en-US" altLang="zh-CN" sz="1100" dirty="0">
              <a:latin typeface="Courier" pitchFamily="2" charset="0"/>
            </a:endParaRPr>
          </a:p>
          <a:p>
            <a:r>
              <a:rPr lang="en-US" altLang="zh-CN" sz="1100" b="1" dirty="0">
                <a:solidFill>
                  <a:srgbClr val="C00000"/>
                </a:solidFill>
                <a:latin typeface="Courier" pitchFamily="2" charset="0"/>
              </a:rPr>
              <a:t>handle</a:t>
            </a:r>
            <a:r>
              <a:rPr lang="zh-CN" altLang="en-US" sz="1100" b="1" dirty="0">
                <a:solidFill>
                  <a:srgbClr val="C00000"/>
                </a:solidFill>
                <a:latin typeface="Courier" pitchFamily="2" charset="0"/>
              </a:rPr>
              <a:t> </a:t>
            </a:r>
            <a:r>
              <a:rPr lang="en-US" altLang="zh-CN" sz="1100" b="1" dirty="0">
                <a:solidFill>
                  <a:srgbClr val="C00000"/>
                </a:solidFill>
                <a:latin typeface="Courier" pitchFamily="2" charset="0"/>
              </a:rPr>
              <a:t>=</a:t>
            </a:r>
            <a:r>
              <a:rPr lang="zh-CN" altLang="en-US" sz="1100" b="1" dirty="0">
                <a:solidFill>
                  <a:srgbClr val="C00000"/>
                </a:solidFill>
                <a:latin typeface="Courier" pitchFamily="2" charset="0"/>
              </a:rPr>
              <a:t> </a:t>
            </a:r>
            <a:r>
              <a:rPr lang="en-US" sz="1100" b="1" dirty="0">
                <a:solidFill>
                  <a:srgbClr val="C00000"/>
                </a:solidFill>
                <a:latin typeface="Courier" pitchFamily="2" charset="0"/>
              </a:rPr>
              <a:t>jbd2_journal_start(journal, </a:t>
            </a:r>
            <a:r>
              <a:rPr lang="en-US" sz="1100" b="1" dirty="0" err="1">
                <a:solidFill>
                  <a:srgbClr val="C00000"/>
                </a:solidFill>
                <a:latin typeface="Courier" pitchFamily="2" charset="0"/>
              </a:rPr>
              <a:t>nblocks</a:t>
            </a:r>
            <a:r>
              <a:rPr lang="en-US" altLang="zh-CN" sz="1100" b="1" dirty="0">
                <a:solidFill>
                  <a:srgbClr val="C00000"/>
                </a:solidFill>
                <a:latin typeface="Courier" pitchFamily="2" charset="0"/>
              </a:rPr>
              <a:t>=8)</a:t>
            </a:r>
            <a:endParaRPr lang="en-CN" altLang="zh-CN" sz="1100" dirty="0">
              <a:latin typeface="Courier" pitchFamily="2" charset="0"/>
            </a:endParaRPr>
          </a:p>
          <a:p>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a:t>
            </a:r>
            <a:r>
              <a:rPr lang="en-US" altLang="zh-CN" sz="1100" dirty="0">
                <a:latin typeface="Courier" pitchFamily="2" charset="0"/>
              </a:rPr>
              <a:t>1.</a:t>
            </a:r>
            <a:r>
              <a:rPr lang="zh-CN" altLang="en-US" sz="1100" dirty="0">
                <a:latin typeface="Courier" pitchFamily="2" charset="0"/>
              </a:rPr>
              <a:t> 标记</a:t>
            </a:r>
            <a:r>
              <a:rPr lang="en-US" altLang="zh-CN" sz="1100" dirty="0" err="1">
                <a:latin typeface="Courier" pitchFamily="2" charset="0"/>
              </a:rPr>
              <a:t>inode</a:t>
            </a:r>
            <a:r>
              <a:rPr lang="zh-CN" altLang="en-US" sz="1100" dirty="0">
                <a:latin typeface="Courier" pitchFamily="2" charset="0"/>
              </a:rPr>
              <a:t>为占用</a:t>
            </a:r>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a:t>
            </a:r>
            <a:r>
              <a:rPr lang="en-US" altLang="zh-CN" sz="1100" dirty="0" err="1">
                <a:latin typeface="Courier" pitchFamily="2" charset="0"/>
              </a:rPr>
              <a:t>bh</a:t>
            </a:r>
            <a:r>
              <a:rPr lang="en-US" altLang="zh-CN" sz="1100" dirty="0">
                <a:latin typeface="Courier" pitchFamily="2" charset="0"/>
              </a:rPr>
              <a:t>: </a:t>
            </a:r>
            <a:r>
              <a:rPr lang="en-US" altLang="zh-CN" sz="1100" dirty="0" err="1">
                <a:latin typeface="Courier" pitchFamily="2" charset="0"/>
              </a:rPr>
              <a:t>buffer_head</a:t>
            </a:r>
            <a:r>
              <a:rPr lang="zh-CN" altLang="en-US" sz="1100" dirty="0">
                <a:latin typeface="Courier" pitchFamily="2" charset="0"/>
              </a:rPr>
              <a:t> 对应存储设备中的最小访问单元</a:t>
            </a:r>
            <a:endParaRPr lang="en-US" altLang="zh-CN" sz="1100" dirty="0">
              <a:latin typeface="Courier" pitchFamily="2" charset="0"/>
            </a:endParaRPr>
          </a:p>
          <a:p>
            <a:r>
              <a:rPr lang="en-US" altLang="zh-CN" sz="1100" dirty="0" err="1">
                <a:latin typeface="Courier" pitchFamily="2" charset="0"/>
              </a:rPr>
              <a:t>bitmap_bh</a:t>
            </a:r>
            <a:r>
              <a:rPr lang="en-US" altLang="zh-CN" sz="1100" dirty="0">
                <a:latin typeface="Courier" pitchFamily="2" charset="0"/>
              </a:rPr>
              <a:t> = </a:t>
            </a:r>
            <a:r>
              <a:rPr lang="en-US" altLang="zh-CN" sz="1100" dirty="0" err="1">
                <a:latin typeface="Courier" pitchFamily="2" charset="0"/>
              </a:rPr>
              <a:t>read_inode_bitmap</a:t>
            </a:r>
            <a:r>
              <a:rPr lang="en-US" altLang="zh-CN" sz="1100" dirty="0">
                <a:latin typeface="Courier" pitchFamily="2" charset="0"/>
              </a:rPr>
              <a:t>(sb, group)</a:t>
            </a:r>
          </a:p>
          <a:p>
            <a:r>
              <a:rPr lang="en-US" sz="1100" b="1" dirty="0">
                <a:solidFill>
                  <a:srgbClr val="C00000"/>
                </a:solidFill>
                <a:latin typeface="Courier" pitchFamily="2" charset="0"/>
              </a:rPr>
              <a:t>jbd2_journal_get_write_access(</a:t>
            </a:r>
            <a:r>
              <a:rPr lang="en-US" altLang="zh-CN" sz="1100" b="1" dirty="0">
                <a:solidFill>
                  <a:srgbClr val="C00000"/>
                </a:solidFill>
                <a:latin typeface="Courier" pitchFamily="2" charset="0"/>
              </a:rPr>
              <a:t>handle,</a:t>
            </a:r>
            <a:r>
              <a:rPr lang="zh-CN" altLang="en-US" sz="1100" b="1" dirty="0">
                <a:solidFill>
                  <a:srgbClr val="C00000"/>
                </a:solidFill>
                <a:latin typeface="Courier" pitchFamily="2" charset="0"/>
              </a:rPr>
              <a:t> </a:t>
            </a:r>
            <a:r>
              <a:rPr lang="en-US" altLang="zh-CN" sz="1100" b="1" dirty="0" err="1">
                <a:solidFill>
                  <a:srgbClr val="C00000"/>
                </a:solidFill>
                <a:latin typeface="Courier" pitchFamily="2" charset="0"/>
              </a:rPr>
              <a:t>bitmap_bh</a:t>
            </a:r>
            <a:r>
              <a:rPr lang="en-US" altLang="zh-CN" sz="1100" b="1" dirty="0">
                <a:solidFill>
                  <a:srgbClr val="C00000"/>
                </a:solidFill>
                <a:latin typeface="Courier" pitchFamily="2" charset="0"/>
              </a:rPr>
              <a:t>)</a:t>
            </a:r>
            <a:endParaRPr lang="en-US" sz="1100" b="1" dirty="0">
              <a:solidFill>
                <a:srgbClr val="C00000"/>
              </a:solidFill>
              <a:latin typeface="Courier" pitchFamily="2" charset="0"/>
            </a:endParaRPr>
          </a:p>
          <a:p>
            <a:r>
              <a:rPr lang="en-US" altLang="zh-CN" sz="1100" dirty="0" err="1">
                <a:latin typeface="Courier" pitchFamily="2" charset="0"/>
              </a:rPr>
              <a:t>set_bit</a:t>
            </a:r>
            <a:r>
              <a:rPr lang="en-US" altLang="zh-CN" sz="1100" dirty="0">
                <a:latin typeface="Courier" pitchFamily="2" charset="0"/>
              </a:rPr>
              <a:t>(</a:t>
            </a:r>
            <a:r>
              <a:rPr lang="en-US" altLang="zh-CN" sz="1100" dirty="0" err="1">
                <a:latin typeface="Courier" pitchFamily="2" charset="0"/>
              </a:rPr>
              <a:t>ino</a:t>
            </a:r>
            <a:r>
              <a:rPr lang="en-US" altLang="zh-CN" sz="1100" dirty="0">
                <a:latin typeface="Courier" pitchFamily="2" charset="0"/>
              </a:rPr>
              <a:t>, </a:t>
            </a:r>
            <a:r>
              <a:rPr lang="en-US" altLang="zh-CN" sz="1100" dirty="0" err="1">
                <a:latin typeface="Courier" pitchFamily="2" charset="0"/>
              </a:rPr>
              <a:t>bitmap_bh</a:t>
            </a:r>
            <a:r>
              <a:rPr lang="en-US" altLang="zh-CN" sz="1100" dirty="0">
                <a:latin typeface="Courier" pitchFamily="2" charset="0"/>
              </a:rPr>
              <a:t>-&gt;</a:t>
            </a:r>
            <a:r>
              <a:rPr lang="en-US" altLang="zh-CN" sz="1100" dirty="0" err="1">
                <a:latin typeface="Courier" pitchFamily="2" charset="0"/>
              </a:rPr>
              <a:t>b_data</a:t>
            </a:r>
            <a:r>
              <a:rPr lang="en-US" altLang="zh-CN" sz="1100" dirty="0">
                <a:latin typeface="Courier" pitchFamily="2" charset="0"/>
              </a:rPr>
              <a:t>)</a:t>
            </a:r>
          </a:p>
          <a:p>
            <a:r>
              <a:rPr lang="en-US" sz="1100" b="1" dirty="0">
                <a:solidFill>
                  <a:srgbClr val="C00000"/>
                </a:solidFill>
                <a:latin typeface="Courier" pitchFamily="2" charset="0"/>
              </a:rPr>
              <a:t>jbd2_journal_dirty_metadata(</a:t>
            </a:r>
            <a:r>
              <a:rPr lang="en-US" altLang="zh-CN" sz="1100" b="1" dirty="0">
                <a:solidFill>
                  <a:srgbClr val="C00000"/>
                </a:solidFill>
                <a:latin typeface="Courier" pitchFamily="2" charset="0"/>
              </a:rPr>
              <a:t>handle,</a:t>
            </a:r>
            <a:r>
              <a:rPr lang="zh-CN" altLang="en-US" sz="1100" b="1" dirty="0">
                <a:solidFill>
                  <a:srgbClr val="C00000"/>
                </a:solidFill>
                <a:latin typeface="Courier" pitchFamily="2" charset="0"/>
              </a:rPr>
              <a:t> </a:t>
            </a:r>
            <a:r>
              <a:rPr lang="en-US" altLang="zh-CN" sz="1100" b="1" dirty="0" err="1">
                <a:solidFill>
                  <a:srgbClr val="C00000"/>
                </a:solidFill>
                <a:latin typeface="Courier" pitchFamily="2" charset="0"/>
              </a:rPr>
              <a:t>bitmap_bh</a:t>
            </a:r>
            <a:r>
              <a:rPr lang="en-US" sz="1100" b="1" dirty="0">
                <a:solidFill>
                  <a:srgbClr val="C00000"/>
                </a:solidFill>
                <a:latin typeface="Courier" pitchFamily="2" charset="0"/>
              </a:rPr>
              <a:t>)</a:t>
            </a:r>
          </a:p>
          <a:p>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a:t>
            </a:r>
            <a:r>
              <a:rPr lang="en-US" altLang="zh-CN" sz="1100" dirty="0">
                <a:latin typeface="Courier" pitchFamily="2" charset="0"/>
              </a:rPr>
              <a:t>2.</a:t>
            </a:r>
            <a:r>
              <a:rPr lang="zh-CN" altLang="en-US" sz="1100" dirty="0">
                <a:latin typeface="Courier" pitchFamily="2" charset="0"/>
              </a:rPr>
              <a:t> 初始化</a:t>
            </a:r>
            <a:r>
              <a:rPr lang="en-US" altLang="zh-CN" sz="1100" dirty="0" err="1">
                <a:latin typeface="Courier" pitchFamily="2" charset="0"/>
              </a:rPr>
              <a:t>inode</a:t>
            </a:r>
            <a:endParaRPr lang="en-US" altLang="zh-CN" sz="1100" dirty="0">
              <a:latin typeface="Courier" pitchFamily="2" charset="0"/>
            </a:endParaRPr>
          </a:p>
          <a:p>
            <a:r>
              <a:rPr lang="en-US" altLang="zh-CN" sz="1100" dirty="0" err="1">
                <a:latin typeface="Courier" pitchFamily="2" charset="0"/>
              </a:rPr>
              <a:t>inode_bh</a:t>
            </a:r>
            <a:r>
              <a:rPr lang="zh-CN" altLang="en-US" sz="1100" dirty="0">
                <a:latin typeface="Courier" pitchFamily="2" charset="0"/>
              </a:rPr>
              <a:t> </a:t>
            </a:r>
            <a:r>
              <a:rPr lang="en-US" altLang="zh-CN" sz="1100" dirty="0">
                <a:latin typeface="Courier" pitchFamily="2" charset="0"/>
              </a:rPr>
              <a:t>=</a:t>
            </a:r>
            <a:r>
              <a:rPr lang="zh-CN" altLang="en-US" sz="1100" dirty="0">
                <a:latin typeface="Courier" pitchFamily="2" charset="0"/>
              </a:rPr>
              <a:t> </a:t>
            </a:r>
            <a:r>
              <a:rPr lang="en-US" altLang="zh-CN" sz="1100" dirty="0" err="1">
                <a:latin typeface="Courier" pitchFamily="2" charset="0"/>
              </a:rPr>
              <a:t>get_inode_bh</a:t>
            </a:r>
            <a:r>
              <a:rPr lang="en-US" altLang="zh-CN" sz="1100" dirty="0">
                <a:latin typeface="Courier" pitchFamily="2" charset="0"/>
              </a:rPr>
              <a:t>(sb,</a:t>
            </a:r>
            <a:r>
              <a:rPr lang="zh-CN" altLang="en-US" sz="1100" dirty="0">
                <a:latin typeface="Courier" pitchFamily="2" charset="0"/>
              </a:rPr>
              <a:t> </a:t>
            </a:r>
            <a:r>
              <a:rPr lang="en-US" altLang="zh-CN" sz="1100" dirty="0" err="1">
                <a:latin typeface="Courier" pitchFamily="2" charset="0"/>
              </a:rPr>
              <a:t>ino</a:t>
            </a:r>
            <a:r>
              <a:rPr lang="en-US" altLang="zh-CN" sz="1100" dirty="0">
                <a:latin typeface="Courier" pitchFamily="2" charset="0"/>
              </a:rPr>
              <a:t>)</a:t>
            </a:r>
          </a:p>
          <a:p>
            <a:r>
              <a:rPr lang="en-US" sz="1100" b="1" dirty="0">
                <a:solidFill>
                  <a:srgbClr val="C00000"/>
                </a:solidFill>
                <a:latin typeface="Courier" pitchFamily="2" charset="0"/>
              </a:rPr>
              <a:t>jbd2_journal_get_write_access(</a:t>
            </a:r>
            <a:r>
              <a:rPr lang="en-US" altLang="zh-CN" sz="1100" b="1" dirty="0">
                <a:solidFill>
                  <a:srgbClr val="C00000"/>
                </a:solidFill>
                <a:latin typeface="Courier" pitchFamily="2" charset="0"/>
              </a:rPr>
              <a:t>handle,</a:t>
            </a:r>
            <a:r>
              <a:rPr lang="zh-CN" altLang="en-US" sz="1100" b="1" dirty="0">
                <a:solidFill>
                  <a:srgbClr val="C00000"/>
                </a:solidFill>
                <a:latin typeface="Courier" pitchFamily="2" charset="0"/>
              </a:rPr>
              <a:t> </a:t>
            </a:r>
            <a:r>
              <a:rPr lang="en-US" altLang="zh-CN" sz="1100" b="1" dirty="0" err="1">
                <a:solidFill>
                  <a:srgbClr val="C00000"/>
                </a:solidFill>
                <a:latin typeface="Courier" pitchFamily="2" charset="0"/>
              </a:rPr>
              <a:t>inode_bh</a:t>
            </a:r>
            <a:r>
              <a:rPr lang="en-US" altLang="zh-CN" sz="1100" b="1" dirty="0">
                <a:solidFill>
                  <a:srgbClr val="C00000"/>
                </a:solidFill>
                <a:latin typeface="Courier" pitchFamily="2" charset="0"/>
              </a:rPr>
              <a:t>)</a:t>
            </a:r>
          </a:p>
          <a:p>
            <a:r>
              <a:rPr lang="en-US" altLang="zh-CN" sz="1100" dirty="0" err="1">
                <a:latin typeface="Courier" pitchFamily="2" charset="0"/>
              </a:rPr>
              <a:t>init_inode</a:t>
            </a:r>
            <a:r>
              <a:rPr lang="en-US" altLang="zh-CN" sz="1100" dirty="0">
                <a:latin typeface="Courier" pitchFamily="2" charset="0"/>
              </a:rPr>
              <a:t>(</a:t>
            </a:r>
            <a:r>
              <a:rPr lang="en-US" altLang="zh-CN" sz="1100" dirty="0" err="1">
                <a:latin typeface="Courier" pitchFamily="2" charset="0"/>
              </a:rPr>
              <a:t>inode_bh</a:t>
            </a:r>
            <a:r>
              <a:rPr lang="en-US" altLang="zh-CN" sz="1100" dirty="0">
                <a:latin typeface="Courier" pitchFamily="2" charset="0"/>
              </a:rPr>
              <a:t>)</a:t>
            </a:r>
          </a:p>
          <a:p>
            <a:r>
              <a:rPr lang="en-US" sz="1100" b="1" dirty="0">
                <a:solidFill>
                  <a:srgbClr val="C00000"/>
                </a:solidFill>
                <a:latin typeface="Courier" pitchFamily="2" charset="0"/>
              </a:rPr>
              <a:t>jbd2_journal_dirty_metadata(</a:t>
            </a:r>
            <a:r>
              <a:rPr lang="en-US" altLang="zh-CN" sz="1100" b="1" dirty="0">
                <a:solidFill>
                  <a:srgbClr val="C00000"/>
                </a:solidFill>
                <a:latin typeface="Courier" pitchFamily="2" charset="0"/>
              </a:rPr>
              <a:t>handle,</a:t>
            </a:r>
            <a:r>
              <a:rPr lang="zh-CN" altLang="en-US" sz="1100" b="1" dirty="0">
                <a:solidFill>
                  <a:srgbClr val="C00000"/>
                </a:solidFill>
                <a:latin typeface="Courier" pitchFamily="2" charset="0"/>
              </a:rPr>
              <a:t> </a:t>
            </a:r>
            <a:r>
              <a:rPr lang="en-US" altLang="zh-CN" sz="1100" b="1" dirty="0" err="1">
                <a:solidFill>
                  <a:srgbClr val="C00000"/>
                </a:solidFill>
                <a:latin typeface="Courier" pitchFamily="2" charset="0"/>
              </a:rPr>
              <a:t>inode_bh</a:t>
            </a:r>
            <a:r>
              <a:rPr lang="en-US" sz="1100" b="1" dirty="0">
                <a:solidFill>
                  <a:srgbClr val="C00000"/>
                </a:solidFill>
                <a:latin typeface="Courier" pitchFamily="2" charset="0"/>
              </a:rPr>
              <a:t>)</a:t>
            </a:r>
          </a:p>
          <a:p>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a:t>
            </a:r>
            <a:r>
              <a:rPr lang="en-US" altLang="zh-CN" sz="1100" dirty="0">
                <a:latin typeface="Courier" pitchFamily="2" charset="0"/>
              </a:rPr>
              <a:t>3.</a:t>
            </a:r>
            <a:r>
              <a:rPr lang="zh-CN" altLang="en-US" sz="1100" dirty="0">
                <a:latin typeface="Courier" pitchFamily="2" charset="0"/>
              </a:rPr>
              <a:t> 将目录项写入目录中</a:t>
            </a:r>
            <a:endParaRPr lang="en-US" altLang="zh-CN" sz="1100" dirty="0">
              <a:latin typeface="Courier" pitchFamily="2" charset="0"/>
            </a:endParaRPr>
          </a:p>
          <a:p>
            <a:r>
              <a:rPr lang="en-US" altLang="zh-CN" sz="1100" dirty="0" err="1">
                <a:latin typeface="Courier" pitchFamily="2" charset="0"/>
              </a:rPr>
              <a:t>data_bh</a:t>
            </a:r>
            <a:r>
              <a:rPr lang="zh-CN" altLang="en-US" sz="1100" dirty="0">
                <a:latin typeface="Courier" pitchFamily="2" charset="0"/>
              </a:rPr>
              <a:t> </a:t>
            </a:r>
            <a:r>
              <a:rPr lang="en-US" altLang="zh-CN" sz="1100" dirty="0">
                <a:latin typeface="Courier" pitchFamily="2" charset="0"/>
              </a:rPr>
              <a:t>=</a:t>
            </a:r>
            <a:r>
              <a:rPr lang="zh-CN" altLang="en-US" sz="1100" dirty="0">
                <a:latin typeface="Courier" pitchFamily="2" charset="0"/>
              </a:rPr>
              <a:t> </a:t>
            </a:r>
            <a:r>
              <a:rPr lang="en-US" altLang="zh-CN" sz="1100" dirty="0" err="1">
                <a:latin typeface="Courier" pitchFamily="2" charset="0"/>
              </a:rPr>
              <a:t>get_data_page</a:t>
            </a:r>
            <a:r>
              <a:rPr lang="en-US" altLang="zh-CN" sz="1100" dirty="0">
                <a:latin typeface="Courier" pitchFamily="2" charset="0"/>
              </a:rPr>
              <a:t>(</a:t>
            </a:r>
            <a:r>
              <a:rPr lang="en-US" altLang="zh-CN" sz="1100" dirty="0" err="1">
                <a:latin typeface="Courier" pitchFamily="2" charset="0"/>
              </a:rPr>
              <a:t>dir_inode</a:t>
            </a:r>
            <a:r>
              <a:rPr lang="en-US" altLang="zh-CN" sz="1100" dirty="0">
                <a:latin typeface="Courier" pitchFamily="2" charset="0"/>
              </a:rPr>
              <a:t>)</a:t>
            </a:r>
          </a:p>
          <a:p>
            <a:r>
              <a:rPr lang="en-US" sz="1100" b="1" dirty="0">
                <a:solidFill>
                  <a:srgbClr val="C00000"/>
                </a:solidFill>
                <a:latin typeface="Courier" pitchFamily="2" charset="0"/>
              </a:rPr>
              <a:t>jbd2_journal_ge</a:t>
            </a:r>
            <a:r>
              <a:rPr lang="en-US" altLang="zh-CN" sz="1100" b="1" dirty="0">
                <a:solidFill>
                  <a:srgbClr val="C00000"/>
                </a:solidFill>
                <a:latin typeface="Courier" pitchFamily="2" charset="0"/>
              </a:rPr>
              <a:t>t</a:t>
            </a:r>
            <a:r>
              <a:rPr lang="en-US" sz="1100" b="1" dirty="0">
                <a:solidFill>
                  <a:srgbClr val="C00000"/>
                </a:solidFill>
                <a:latin typeface="Courier" pitchFamily="2" charset="0"/>
              </a:rPr>
              <a:t>_write_access(</a:t>
            </a:r>
            <a:r>
              <a:rPr lang="en-US" altLang="zh-CN" sz="1100" b="1" dirty="0">
                <a:solidFill>
                  <a:srgbClr val="C00000"/>
                </a:solidFill>
                <a:latin typeface="Courier" pitchFamily="2" charset="0"/>
              </a:rPr>
              <a:t>handle,</a:t>
            </a:r>
            <a:r>
              <a:rPr lang="zh-CN" altLang="en-US" sz="1100" b="1" dirty="0">
                <a:solidFill>
                  <a:srgbClr val="C00000"/>
                </a:solidFill>
                <a:latin typeface="Courier" pitchFamily="2" charset="0"/>
              </a:rPr>
              <a:t> </a:t>
            </a:r>
            <a:r>
              <a:rPr lang="en-US" altLang="zh-CN" sz="1100" b="1" dirty="0" err="1">
                <a:solidFill>
                  <a:srgbClr val="C00000"/>
                </a:solidFill>
                <a:latin typeface="Courier" pitchFamily="2" charset="0"/>
              </a:rPr>
              <a:t>data_bh</a:t>
            </a:r>
            <a:r>
              <a:rPr lang="en-US" altLang="zh-CN" sz="1100" b="1" dirty="0">
                <a:solidFill>
                  <a:srgbClr val="C00000"/>
                </a:solidFill>
                <a:latin typeface="Courier" pitchFamily="2" charset="0"/>
              </a:rPr>
              <a:t>)</a:t>
            </a:r>
          </a:p>
          <a:p>
            <a:r>
              <a:rPr lang="en-US" altLang="zh-CN" sz="1100" dirty="0" err="1">
                <a:latin typeface="Courier" pitchFamily="2" charset="0"/>
              </a:rPr>
              <a:t>add_dentry_to_data</a:t>
            </a:r>
            <a:r>
              <a:rPr lang="en-US" altLang="zh-CN" sz="1100" dirty="0">
                <a:latin typeface="Courier" pitchFamily="2" charset="0"/>
              </a:rPr>
              <a:t>(page,</a:t>
            </a:r>
            <a:r>
              <a:rPr lang="zh-CN" altLang="en-US" sz="1100" dirty="0">
                <a:latin typeface="Courier" pitchFamily="2" charset="0"/>
              </a:rPr>
              <a:t> </a:t>
            </a:r>
            <a:r>
              <a:rPr lang="en-US" altLang="zh-CN" sz="1100" dirty="0">
                <a:latin typeface="Courier" pitchFamily="2" charset="0"/>
              </a:rPr>
              <a:t>filename,</a:t>
            </a:r>
            <a:r>
              <a:rPr lang="zh-CN" altLang="en-US" sz="1100" dirty="0">
                <a:latin typeface="Courier" pitchFamily="2" charset="0"/>
              </a:rPr>
              <a:t> </a:t>
            </a:r>
            <a:r>
              <a:rPr lang="en-US" altLang="zh-CN" sz="1100" dirty="0" err="1">
                <a:latin typeface="Courier" pitchFamily="2" charset="0"/>
              </a:rPr>
              <a:t>ino</a:t>
            </a:r>
            <a:r>
              <a:rPr lang="en-US" altLang="zh-CN" sz="1100" dirty="0">
                <a:latin typeface="Courier" pitchFamily="2" charset="0"/>
              </a:rPr>
              <a:t>)</a:t>
            </a:r>
          </a:p>
          <a:p>
            <a:r>
              <a:rPr lang="en-US" sz="1100" b="1" dirty="0">
                <a:solidFill>
                  <a:srgbClr val="C00000"/>
                </a:solidFill>
                <a:latin typeface="Courier" pitchFamily="2" charset="0"/>
              </a:rPr>
              <a:t>jbd2_journal_dirty_metadata(</a:t>
            </a:r>
            <a:r>
              <a:rPr lang="en-US" altLang="zh-CN" sz="1100" b="1" dirty="0">
                <a:solidFill>
                  <a:srgbClr val="C00000"/>
                </a:solidFill>
                <a:latin typeface="Courier" pitchFamily="2" charset="0"/>
              </a:rPr>
              <a:t>handle,</a:t>
            </a:r>
            <a:r>
              <a:rPr lang="zh-CN" altLang="en-US" sz="1100" b="1" dirty="0">
                <a:solidFill>
                  <a:srgbClr val="C00000"/>
                </a:solidFill>
                <a:latin typeface="Courier" pitchFamily="2" charset="0"/>
              </a:rPr>
              <a:t> </a:t>
            </a:r>
            <a:r>
              <a:rPr lang="en-US" altLang="zh-CN" sz="1100" b="1" dirty="0" err="1">
                <a:solidFill>
                  <a:srgbClr val="C00000"/>
                </a:solidFill>
                <a:latin typeface="Courier" pitchFamily="2" charset="0"/>
              </a:rPr>
              <a:t>data_bh</a:t>
            </a:r>
            <a:r>
              <a:rPr lang="en-US" sz="1100" b="1" dirty="0">
                <a:solidFill>
                  <a:srgbClr val="C00000"/>
                </a:solidFill>
                <a:latin typeface="Courier" pitchFamily="2" charset="0"/>
              </a:rPr>
              <a:t>)</a:t>
            </a:r>
            <a:endParaRPr lang="en-US" altLang="zh-CN" sz="1100" b="1" dirty="0">
              <a:solidFill>
                <a:srgbClr val="C00000"/>
              </a:solidFill>
              <a:latin typeface="Courier" pitchFamily="2" charset="0"/>
            </a:endParaRPr>
          </a:p>
          <a:p>
            <a:endParaRPr lang="en-US" altLang="zh-CN" sz="1100" dirty="0">
              <a:latin typeface="Courier" pitchFamily="2" charset="0"/>
            </a:endParaRPr>
          </a:p>
          <a:p>
            <a:r>
              <a:rPr lang="en-US" sz="1100" b="1" dirty="0">
                <a:solidFill>
                  <a:srgbClr val="C00000"/>
                </a:solidFill>
                <a:latin typeface="Courier" pitchFamily="2" charset="0"/>
              </a:rPr>
              <a:t>jbd2_journal_stop(handle)</a:t>
            </a:r>
            <a:r>
              <a:rPr lang="zh-CN" altLang="en-US" sz="1100" b="1" dirty="0">
                <a:solidFill>
                  <a:srgbClr val="C00000"/>
                </a:solidFill>
                <a:latin typeface="Courier" pitchFamily="2" charset="0"/>
              </a:rPr>
              <a:t>  </a:t>
            </a:r>
            <a:r>
              <a:rPr lang="en-US" altLang="zh-CN" sz="1100" b="1" dirty="0">
                <a:solidFill>
                  <a:srgbClr val="C00000"/>
                </a:solidFill>
                <a:latin typeface="Courier" pitchFamily="2" charset="0"/>
              </a:rPr>
              <a:t>//</a:t>
            </a:r>
            <a:r>
              <a:rPr lang="zh-CN" altLang="en-US" sz="1100" b="1" dirty="0">
                <a:solidFill>
                  <a:srgbClr val="C00000"/>
                </a:solidFill>
                <a:latin typeface="Courier" pitchFamily="2" charset="0"/>
              </a:rPr>
              <a:t> 结束</a:t>
            </a:r>
            <a:r>
              <a:rPr lang="zh-CN" altLang="en-CN" sz="1100" b="1" dirty="0">
                <a:solidFill>
                  <a:srgbClr val="C00000"/>
                </a:solidFill>
                <a:latin typeface="Courier" pitchFamily="2" charset="0"/>
              </a:rPr>
              <a:t>原子</a:t>
            </a:r>
            <a:r>
              <a:rPr lang="zh-CN" altLang="en-US" sz="1100" b="1" dirty="0">
                <a:solidFill>
                  <a:srgbClr val="C00000"/>
                </a:solidFill>
                <a:latin typeface="Courier" pitchFamily="2" charset="0"/>
              </a:rPr>
              <a:t>操作</a:t>
            </a:r>
            <a:endParaRPr lang="en-US" altLang="zh-CN" sz="1100" b="1" dirty="0">
              <a:solidFill>
                <a:srgbClr val="C00000"/>
              </a:solidFill>
              <a:latin typeface="Courier" pitchFamily="2" charset="0"/>
            </a:endParaRPr>
          </a:p>
        </p:txBody>
      </p:sp>
      <p:sp>
        <p:nvSpPr>
          <p:cNvPr id="14" name="TextBox 13">
            <a:extLst>
              <a:ext uri="{FF2B5EF4-FFF2-40B4-BE49-F238E27FC236}">
                <a16:creationId xmlns:a16="http://schemas.microsoft.com/office/drawing/2014/main" id="{716C1643-BCD6-DA47-BEE6-C8B000920FAA}"/>
              </a:ext>
            </a:extLst>
          </p:cNvPr>
          <p:cNvSpPr txBox="1"/>
          <p:nvPr/>
        </p:nvSpPr>
        <p:spPr>
          <a:xfrm>
            <a:off x="539299" y="1477757"/>
            <a:ext cx="3744417" cy="1277273"/>
          </a:xfrm>
          <a:prstGeom prst="rect">
            <a:avLst/>
          </a:prstGeom>
          <a:solidFill>
            <a:schemeClr val="accent6">
              <a:lumMod val="20000"/>
              <a:lumOff val="80000"/>
            </a:schemeClr>
          </a:solidFill>
          <a:ln>
            <a:solidFill>
              <a:schemeClr val="bg2"/>
            </a:solidFill>
          </a:ln>
        </p:spPr>
        <p:txBody>
          <a:bodyPr wrap="square" rtlCol="0">
            <a:spAutoFit/>
          </a:bodyPr>
          <a:lstStyle/>
          <a:p>
            <a:r>
              <a:rPr lang="en-US" altLang="zh-CN" sz="1100" dirty="0" err="1">
                <a:latin typeface="Courier" pitchFamily="2" charset="0"/>
              </a:rPr>
              <a:t>journal_t</a:t>
            </a:r>
            <a:r>
              <a:rPr lang="zh-CN" altLang="en-US" sz="1100" dirty="0">
                <a:latin typeface="Courier" pitchFamily="2" charset="0"/>
              </a:rPr>
              <a:t> </a:t>
            </a:r>
            <a:r>
              <a:rPr lang="en-US" altLang="zh-CN" sz="1100" dirty="0">
                <a:latin typeface="Courier" pitchFamily="2" charset="0"/>
              </a:rPr>
              <a:t>journal;</a:t>
            </a:r>
          </a:p>
          <a:p>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初始化日志系统（日志存在文件中）</a:t>
            </a:r>
            <a:endParaRPr lang="en-US" altLang="zh-CN" sz="1100" dirty="0">
              <a:latin typeface="Courier" pitchFamily="2" charset="0"/>
            </a:endParaRPr>
          </a:p>
          <a:p>
            <a:r>
              <a:rPr lang="en-US" altLang="zh-CN" sz="1100" dirty="0">
                <a:latin typeface="Courier" pitchFamily="2" charset="0"/>
              </a:rPr>
              <a:t>journal</a:t>
            </a:r>
            <a:r>
              <a:rPr lang="zh-CN" altLang="en-US" sz="1100" dirty="0">
                <a:latin typeface="Courier" pitchFamily="2" charset="0"/>
              </a:rPr>
              <a:t> </a:t>
            </a:r>
            <a:r>
              <a:rPr lang="en-US" altLang="zh-CN" sz="1100" dirty="0">
                <a:latin typeface="Courier" pitchFamily="2" charset="0"/>
              </a:rPr>
              <a:t>=</a:t>
            </a:r>
            <a:r>
              <a:rPr lang="zh-CN" altLang="en-US" sz="1100" dirty="0">
                <a:latin typeface="Courier" pitchFamily="2" charset="0"/>
              </a:rPr>
              <a:t> </a:t>
            </a:r>
            <a:r>
              <a:rPr lang="en-US" sz="1100" dirty="0">
                <a:latin typeface="Courier" pitchFamily="2" charset="0"/>
              </a:rPr>
              <a:t>jbd2_journal_init_inode</a:t>
            </a:r>
            <a:r>
              <a:rPr lang="en-US" altLang="zh-CN" sz="1100" dirty="0">
                <a:latin typeface="Courier" pitchFamily="2" charset="0"/>
              </a:rPr>
              <a:t>(</a:t>
            </a:r>
            <a:r>
              <a:rPr lang="en-US" altLang="zh-CN" sz="1100" dirty="0" err="1">
                <a:latin typeface="Courier" pitchFamily="2" charset="0"/>
              </a:rPr>
              <a:t>inode</a:t>
            </a:r>
            <a:r>
              <a:rPr lang="en-US" altLang="zh-CN" sz="1100" dirty="0">
                <a:latin typeface="Courier" pitchFamily="2" charset="0"/>
              </a:rPr>
              <a:t>)</a:t>
            </a:r>
          </a:p>
          <a:p>
            <a:r>
              <a:rPr lang="en-US" altLang="zh-CN" sz="1100" dirty="0">
                <a:latin typeface="Courier" pitchFamily="2" charset="0"/>
              </a:rPr>
              <a:t>//</a:t>
            </a:r>
            <a:r>
              <a:rPr lang="zh-CN" altLang="en-US" sz="1100" dirty="0">
                <a:latin typeface="Courier" pitchFamily="2" charset="0"/>
              </a:rPr>
              <a:t> 读取并恢复已有日志（如果存在）</a:t>
            </a:r>
            <a:endParaRPr lang="en-US" altLang="zh-CN" sz="1100" dirty="0">
              <a:latin typeface="Courier" pitchFamily="2" charset="0"/>
            </a:endParaRPr>
          </a:p>
          <a:p>
            <a:r>
              <a:rPr lang="en-US" sz="1100" dirty="0">
                <a:latin typeface="Courier" pitchFamily="2" charset="0"/>
              </a:rPr>
              <a:t>jbd2_journal_load(journal)</a:t>
            </a:r>
          </a:p>
          <a:p>
            <a:endParaRPr lang="en-US" sz="1100" dirty="0">
              <a:latin typeface="Courier" pitchFamily="2" charset="0"/>
            </a:endParaRPr>
          </a:p>
        </p:txBody>
      </p:sp>
      <p:sp>
        <p:nvSpPr>
          <p:cNvPr id="15" name="TextBox 14">
            <a:extLst>
              <a:ext uri="{FF2B5EF4-FFF2-40B4-BE49-F238E27FC236}">
                <a16:creationId xmlns:a16="http://schemas.microsoft.com/office/drawing/2014/main" id="{C5C1A360-D9EA-C44E-B195-17B05E27F064}"/>
              </a:ext>
            </a:extLst>
          </p:cNvPr>
          <p:cNvSpPr txBox="1"/>
          <p:nvPr/>
        </p:nvSpPr>
        <p:spPr>
          <a:xfrm>
            <a:off x="539750" y="4318614"/>
            <a:ext cx="3744417" cy="600164"/>
          </a:xfrm>
          <a:prstGeom prst="rect">
            <a:avLst/>
          </a:prstGeom>
          <a:solidFill>
            <a:schemeClr val="accent6">
              <a:lumMod val="20000"/>
              <a:lumOff val="80000"/>
            </a:schemeClr>
          </a:solidFill>
          <a:ln>
            <a:solidFill>
              <a:schemeClr val="bg2"/>
            </a:solidFill>
          </a:ln>
        </p:spPr>
        <p:txBody>
          <a:bodyPr wrap="square" rtlCol="0">
            <a:spAutoFit/>
          </a:bodyPr>
          <a:lstStyle/>
          <a:p>
            <a:r>
              <a:rPr lang="en-US" altLang="zh-CN" sz="1100" dirty="0">
                <a:latin typeface="Courier" pitchFamily="2" charset="0"/>
              </a:rPr>
              <a:t>//</a:t>
            </a:r>
            <a:r>
              <a:rPr lang="zh-CN" altLang="en-US" sz="1100" dirty="0">
                <a:latin typeface="Courier" pitchFamily="2" charset="0"/>
              </a:rPr>
              <a:t> 释放日志系统</a:t>
            </a:r>
            <a:endParaRPr lang="en-US" sz="1100" dirty="0">
              <a:latin typeface="Courier" pitchFamily="2" charset="0"/>
            </a:endParaRPr>
          </a:p>
          <a:p>
            <a:r>
              <a:rPr lang="en-US" sz="1100" dirty="0">
                <a:latin typeface="Courier" pitchFamily="2" charset="0"/>
              </a:rPr>
              <a:t>jbd2_journal_destroy(journal)</a:t>
            </a:r>
            <a:endParaRPr lang="en-US" altLang="zh-CN" sz="1100" dirty="0">
              <a:latin typeface="Courier" pitchFamily="2" charset="0"/>
            </a:endParaRPr>
          </a:p>
          <a:p>
            <a:endParaRPr lang="en-US" sz="1100" dirty="0">
              <a:latin typeface="Courier" pitchFamily="2" charset="0"/>
            </a:endParaRPr>
          </a:p>
        </p:txBody>
      </p:sp>
      <p:sp>
        <p:nvSpPr>
          <p:cNvPr id="10" name="TextBox 9">
            <a:extLst>
              <a:ext uri="{FF2B5EF4-FFF2-40B4-BE49-F238E27FC236}">
                <a16:creationId xmlns:a16="http://schemas.microsoft.com/office/drawing/2014/main" id="{2ECD993D-533C-0641-8B28-2C8D3D54BCCC}"/>
              </a:ext>
            </a:extLst>
          </p:cNvPr>
          <p:cNvSpPr txBox="1"/>
          <p:nvPr/>
        </p:nvSpPr>
        <p:spPr>
          <a:xfrm>
            <a:off x="515915" y="1174402"/>
            <a:ext cx="1620957" cy="307777"/>
          </a:xfrm>
          <a:prstGeom prst="rect">
            <a:avLst/>
          </a:prstGeom>
          <a:noFill/>
        </p:spPr>
        <p:txBody>
          <a:bodyPr wrap="none" rtlCol="0">
            <a:spAutoFit/>
          </a:bodyPr>
          <a:lstStyle/>
          <a:p>
            <a:r>
              <a:rPr lang="zh-CN" altLang="en-CN" sz="1400" dirty="0"/>
              <a:t>文件系统</a:t>
            </a:r>
            <a:r>
              <a:rPr lang="zh-CN" altLang="en-US" sz="1400" dirty="0"/>
              <a:t>挂载时：</a:t>
            </a:r>
            <a:endParaRPr lang="en-CN" sz="1400" dirty="0"/>
          </a:p>
        </p:txBody>
      </p:sp>
      <p:sp>
        <p:nvSpPr>
          <p:cNvPr id="16" name="TextBox 15">
            <a:extLst>
              <a:ext uri="{FF2B5EF4-FFF2-40B4-BE49-F238E27FC236}">
                <a16:creationId xmlns:a16="http://schemas.microsoft.com/office/drawing/2014/main" id="{63B2D966-A96B-5549-8BBD-E5CB41FED46F}"/>
              </a:ext>
            </a:extLst>
          </p:cNvPr>
          <p:cNvSpPr txBox="1"/>
          <p:nvPr/>
        </p:nvSpPr>
        <p:spPr>
          <a:xfrm>
            <a:off x="515915" y="2881042"/>
            <a:ext cx="1082348" cy="307777"/>
          </a:xfrm>
          <a:prstGeom prst="rect">
            <a:avLst/>
          </a:prstGeom>
          <a:noFill/>
        </p:spPr>
        <p:txBody>
          <a:bodyPr wrap="none" rtlCol="0">
            <a:spAutoFit/>
          </a:bodyPr>
          <a:lstStyle/>
          <a:p>
            <a:r>
              <a:rPr lang="zh-CN" altLang="en-US" sz="1400" dirty="0"/>
              <a:t>后台进程：</a:t>
            </a:r>
            <a:endParaRPr lang="en-CN" sz="1400" dirty="0"/>
          </a:p>
        </p:txBody>
      </p:sp>
      <p:sp>
        <p:nvSpPr>
          <p:cNvPr id="17" name="TextBox 16">
            <a:extLst>
              <a:ext uri="{FF2B5EF4-FFF2-40B4-BE49-F238E27FC236}">
                <a16:creationId xmlns:a16="http://schemas.microsoft.com/office/drawing/2014/main" id="{A2D42631-BE51-B548-9CDD-4BEA588DDBEA}"/>
              </a:ext>
            </a:extLst>
          </p:cNvPr>
          <p:cNvSpPr txBox="1"/>
          <p:nvPr/>
        </p:nvSpPr>
        <p:spPr>
          <a:xfrm>
            <a:off x="515915" y="4061604"/>
            <a:ext cx="1620957" cy="307777"/>
          </a:xfrm>
          <a:prstGeom prst="rect">
            <a:avLst/>
          </a:prstGeom>
          <a:noFill/>
        </p:spPr>
        <p:txBody>
          <a:bodyPr wrap="none" rtlCol="0">
            <a:spAutoFit/>
          </a:bodyPr>
          <a:lstStyle/>
          <a:p>
            <a:r>
              <a:rPr lang="zh-CN" altLang="en-US" sz="1400" dirty="0"/>
              <a:t>文件系统卸载时：</a:t>
            </a:r>
            <a:endParaRPr lang="en-CN" sz="1400" dirty="0"/>
          </a:p>
        </p:txBody>
      </p:sp>
      <p:sp>
        <p:nvSpPr>
          <p:cNvPr id="20" name="TextBox 19">
            <a:extLst>
              <a:ext uri="{FF2B5EF4-FFF2-40B4-BE49-F238E27FC236}">
                <a16:creationId xmlns:a16="http://schemas.microsoft.com/office/drawing/2014/main" id="{637532AB-4D38-F74B-A671-8F791A82C869}"/>
              </a:ext>
            </a:extLst>
          </p:cNvPr>
          <p:cNvSpPr txBox="1"/>
          <p:nvPr/>
        </p:nvSpPr>
        <p:spPr>
          <a:xfrm>
            <a:off x="4535016" y="902555"/>
            <a:ext cx="1441420" cy="307777"/>
          </a:xfrm>
          <a:prstGeom prst="rect">
            <a:avLst/>
          </a:prstGeom>
          <a:noFill/>
        </p:spPr>
        <p:txBody>
          <a:bodyPr wrap="none" rtlCol="0">
            <a:spAutoFit/>
          </a:bodyPr>
          <a:lstStyle>
            <a:defPPr>
              <a:defRPr lang="zh-CN"/>
            </a:defPPr>
            <a:lvl1pPr>
              <a:defRPr sz="1400"/>
            </a:lvl1pPr>
          </a:lstStyle>
          <a:p>
            <a:r>
              <a:rPr lang="zh-CN" altLang="en-US" dirty="0"/>
              <a:t>系统调用处理：</a:t>
            </a:r>
            <a:endParaRPr lang="en-US" altLang="zh-CN" dirty="0"/>
          </a:p>
        </p:txBody>
      </p:sp>
    </p:spTree>
    <p:extLst>
      <p:ext uri="{BB962C8B-B14F-4D97-AF65-F5344CB8AC3E}">
        <p14:creationId xmlns:p14="http://schemas.microsoft.com/office/powerpoint/2010/main" val="36656099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77F7417A-92EC-FE49-AECF-23D91EAE2BB5}"/>
              </a:ext>
            </a:extLst>
          </p:cNvPr>
          <p:cNvSpPr txBox="1"/>
          <p:nvPr/>
        </p:nvSpPr>
        <p:spPr>
          <a:xfrm>
            <a:off x="539750" y="2429102"/>
            <a:ext cx="3312170" cy="3000821"/>
          </a:xfrm>
          <a:prstGeom prst="rect">
            <a:avLst/>
          </a:prstGeom>
          <a:solidFill>
            <a:schemeClr val="accent6">
              <a:lumMod val="20000"/>
              <a:lumOff val="80000"/>
            </a:schemeClr>
          </a:solidFill>
          <a:ln>
            <a:solidFill>
              <a:schemeClr val="bg2"/>
            </a:solidFill>
          </a:ln>
        </p:spPr>
        <p:txBody>
          <a:bodyPr wrap="square" rtlCol="0">
            <a:spAutoFit/>
          </a:bodyPr>
          <a:lstStyle/>
          <a:p>
            <a:r>
              <a:rPr lang="en-US" altLang="zh-CN" sz="900" dirty="0">
                <a:latin typeface="Courier" pitchFamily="2" charset="0"/>
              </a:rPr>
              <a:t>typedef struct </a:t>
            </a:r>
            <a:r>
              <a:rPr lang="en-US" altLang="zh-CN" sz="900" dirty="0" err="1">
                <a:latin typeface="Courier" pitchFamily="2" charset="0"/>
              </a:rPr>
              <a:t>journal_header_s</a:t>
            </a:r>
            <a:endParaRPr lang="en-US" altLang="zh-CN" sz="900" dirty="0">
              <a:latin typeface="Courier" pitchFamily="2" charset="0"/>
            </a:endParaRPr>
          </a:p>
          <a:p>
            <a:r>
              <a:rPr lang="en-US" altLang="zh-CN" sz="900" dirty="0">
                <a:latin typeface="Courier" pitchFamily="2" charset="0"/>
              </a:rPr>
              <a:t>{</a:t>
            </a:r>
          </a:p>
          <a:p>
            <a:r>
              <a:rPr lang="zh-CN" altLang="en-US" sz="900" dirty="0">
                <a:latin typeface="Courier" pitchFamily="2" charset="0"/>
              </a:rPr>
              <a:t>  </a:t>
            </a:r>
            <a:r>
              <a:rPr lang="en-US" altLang="zh-CN" sz="900" dirty="0">
                <a:latin typeface="Courier" pitchFamily="2" charset="0"/>
              </a:rPr>
              <a:t>__be32</a:t>
            </a:r>
            <a:r>
              <a:rPr lang="zh-CN" altLang="en-US" sz="900" dirty="0">
                <a:latin typeface="Courier" pitchFamily="2" charset="0"/>
              </a:rPr>
              <a:t>  </a:t>
            </a:r>
            <a:r>
              <a:rPr lang="en-US" altLang="zh-CN" sz="900" dirty="0" err="1">
                <a:latin typeface="Courier" pitchFamily="2" charset="0"/>
              </a:rPr>
              <a:t>h_magic</a:t>
            </a:r>
            <a:r>
              <a:rPr lang="en-US" altLang="zh-CN" sz="900" dirty="0">
                <a:latin typeface="Courier" pitchFamily="2" charset="0"/>
              </a:rPr>
              <a:t>;</a:t>
            </a:r>
            <a:r>
              <a:rPr lang="zh-CN" altLang="en-US" sz="900" dirty="0">
                <a:latin typeface="Courier" pitchFamily="2" charset="0"/>
              </a:rPr>
              <a:t>     </a:t>
            </a:r>
            <a:r>
              <a:rPr lang="en-US" altLang="zh-CN" sz="900" dirty="0">
                <a:latin typeface="Courier" pitchFamily="2" charset="0"/>
              </a:rPr>
              <a:t>/</a:t>
            </a:r>
            <a:r>
              <a:rPr lang="zh-CN" altLang="en-US" sz="900" dirty="0">
                <a:latin typeface="Courier" pitchFamily="2" charset="0"/>
              </a:rPr>
              <a:t>* 魔法数字 *</a:t>
            </a:r>
            <a:r>
              <a:rPr lang="en-US" altLang="zh-CN" sz="900" dirty="0">
                <a:latin typeface="Courier" pitchFamily="2" charset="0"/>
              </a:rPr>
              <a:t>/</a:t>
            </a:r>
          </a:p>
          <a:p>
            <a:r>
              <a:rPr lang="zh-CN" altLang="en-US" sz="900" dirty="0">
                <a:latin typeface="Courier" pitchFamily="2" charset="0"/>
              </a:rPr>
              <a:t>  </a:t>
            </a:r>
            <a:r>
              <a:rPr lang="en-US" altLang="zh-CN" sz="900" dirty="0">
                <a:latin typeface="Courier" pitchFamily="2" charset="0"/>
              </a:rPr>
              <a:t>__be32</a:t>
            </a:r>
            <a:r>
              <a:rPr lang="zh-CN" altLang="en-US" sz="900" dirty="0">
                <a:latin typeface="Courier" pitchFamily="2" charset="0"/>
              </a:rPr>
              <a:t>  </a:t>
            </a:r>
            <a:r>
              <a:rPr lang="en-US" altLang="zh-CN" sz="900" dirty="0" err="1">
                <a:latin typeface="Courier" pitchFamily="2" charset="0"/>
              </a:rPr>
              <a:t>h_blocktype</a:t>
            </a:r>
            <a:r>
              <a:rPr lang="en-US" altLang="zh-CN" sz="900" dirty="0">
                <a:latin typeface="Courier" pitchFamily="2" charset="0"/>
              </a:rPr>
              <a:t>;</a:t>
            </a:r>
            <a:r>
              <a:rPr lang="zh-CN" altLang="en-US" sz="900" dirty="0">
                <a:latin typeface="Courier" pitchFamily="2" charset="0"/>
              </a:rPr>
              <a:t> </a:t>
            </a:r>
            <a:r>
              <a:rPr lang="en-US" altLang="zh-CN" sz="900" dirty="0">
                <a:latin typeface="Courier" pitchFamily="2" charset="0"/>
              </a:rPr>
              <a:t>/</a:t>
            </a:r>
            <a:r>
              <a:rPr lang="zh-CN" altLang="en-US" sz="900" dirty="0">
                <a:latin typeface="Courier" pitchFamily="2" charset="0"/>
              </a:rPr>
              <a:t>* 块的类型 *</a:t>
            </a:r>
            <a:r>
              <a:rPr lang="en-US" altLang="zh-CN" sz="900" dirty="0">
                <a:latin typeface="Courier" pitchFamily="2" charset="0"/>
              </a:rPr>
              <a:t>/</a:t>
            </a:r>
          </a:p>
          <a:p>
            <a:r>
              <a:rPr lang="zh-CN" altLang="en-US" sz="900" dirty="0">
                <a:latin typeface="Courier" pitchFamily="2" charset="0"/>
              </a:rPr>
              <a:t>  </a:t>
            </a:r>
            <a:r>
              <a:rPr lang="en-US" altLang="zh-CN" sz="900" dirty="0">
                <a:latin typeface="Courier" pitchFamily="2" charset="0"/>
              </a:rPr>
              <a:t>__be32</a:t>
            </a:r>
            <a:r>
              <a:rPr lang="zh-CN" altLang="en-US" sz="900" dirty="0">
                <a:latin typeface="Courier" pitchFamily="2" charset="0"/>
              </a:rPr>
              <a:t>  </a:t>
            </a:r>
            <a:r>
              <a:rPr lang="en-US" altLang="zh-CN" sz="900" dirty="0" err="1">
                <a:latin typeface="Courier" pitchFamily="2" charset="0"/>
              </a:rPr>
              <a:t>h_sequence</a:t>
            </a:r>
            <a:r>
              <a:rPr lang="en-US" altLang="zh-CN" sz="900" dirty="0">
                <a:latin typeface="Courier" pitchFamily="2" charset="0"/>
              </a:rPr>
              <a:t>;</a:t>
            </a:r>
            <a:r>
              <a:rPr lang="zh-CN" altLang="en-US" sz="900" dirty="0">
                <a:latin typeface="Courier" pitchFamily="2" charset="0"/>
              </a:rPr>
              <a:t>  </a:t>
            </a:r>
            <a:r>
              <a:rPr lang="en-US" altLang="zh-CN" sz="900" dirty="0">
                <a:latin typeface="Courier" pitchFamily="2" charset="0"/>
              </a:rPr>
              <a:t>/</a:t>
            </a:r>
            <a:r>
              <a:rPr lang="zh-CN" altLang="en-US" sz="900" dirty="0">
                <a:latin typeface="Courier" pitchFamily="2" charset="0"/>
              </a:rPr>
              <a:t>* 块序号 *</a:t>
            </a:r>
            <a:r>
              <a:rPr lang="en-US" altLang="zh-CN" sz="900" dirty="0">
                <a:latin typeface="Courier" pitchFamily="2" charset="0"/>
              </a:rPr>
              <a:t>/</a:t>
            </a:r>
          </a:p>
          <a:p>
            <a:r>
              <a:rPr lang="en-US" altLang="zh-CN" sz="900" dirty="0">
                <a:latin typeface="Courier" pitchFamily="2" charset="0"/>
              </a:rPr>
              <a:t>} </a:t>
            </a:r>
            <a:r>
              <a:rPr lang="en-US" altLang="zh-CN" sz="900" dirty="0" err="1">
                <a:latin typeface="Courier" pitchFamily="2" charset="0"/>
              </a:rPr>
              <a:t>journal_header_t</a:t>
            </a:r>
            <a:r>
              <a:rPr lang="en-US" altLang="zh-CN" sz="900" dirty="0">
                <a:latin typeface="Courier" pitchFamily="2" charset="0"/>
              </a:rPr>
              <a:t>;</a:t>
            </a:r>
          </a:p>
          <a:p>
            <a:endParaRPr lang="en-US" altLang="zh-CN" sz="900" dirty="0">
              <a:latin typeface="Courier" pitchFamily="2" charset="0"/>
            </a:endParaRPr>
          </a:p>
          <a:p>
            <a:r>
              <a:rPr lang="en-US" altLang="zh-CN" sz="900" dirty="0">
                <a:latin typeface="Courier" pitchFamily="2" charset="0"/>
              </a:rPr>
              <a:t>typedef struct </a:t>
            </a:r>
            <a:r>
              <a:rPr lang="en-US" altLang="zh-CN" sz="900" dirty="0" err="1">
                <a:latin typeface="Courier" pitchFamily="2" charset="0"/>
              </a:rPr>
              <a:t>journal_superblock_s</a:t>
            </a:r>
            <a:endParaRPr lang="en-US" altLang="zh-CN" sz="900" dirty="0">
              <a:latin typeface="Courier" pitchFamily="2" charset="0"/>
            </a:endParaRPr>
          </a:p>
          <a:p>
            <a:r>
              <a:rPr lang="en-US" altLang="zh-CN" sz="900" dirty="0">
                <a:latin typeface="Courier" pitchFamily="2" charset="0"/>
              </a:rPr>
              <a:t>{</a:t>
            </a:r>
          </a:p>
          <a:p>
            <a:r>
              <a:rPr lang="zh-CN" altLang="en-US" sz="900" dirty="0">
                <a:latin typeface="Courier" pitchFamily="2" charset="0"/>
              </a:rPr>
              <a:t>  </a:t>
            </a:r>
            <a:r>
              <a:rPr lang="en-US" altLang="zh-CN" sz="900" dirty="0" err="1">
                <a:latin typeface="Courier" pitchFamily="2" charset="0"/>
              </a:rPr>
              <a:t>journal_header_t</a:t>
            </a:r>
            <a:r>
              <a:rPr lang="en-US" altLang="zh-CN" sz="900" dirty="0">
                <a:latin typeface="Courier" pitchFamily="2" charset="0"/>
              </a:rPr>
              <a:t> </a:t>
            </a:r>
            <a:r>
              <a:rPr lang="en-US" altLang="zh-CN" sz="900" dirty="0" err="1">
                <a:latin typeface="Courier" pitchFamily="2" charset="0"/>
              </a:rPr>
              <a:t>s_header</a:t>
            </a:r>
            <a:r>
              <a:rPr lang="en-US" altLang="zh-CN" sz="900" dirty="0">
                <a:latin typeface="Courier" pitchFamily="2" charset="0"/>
              </a:rPr>
              <a:t>;</a:t>
            </a:r>
          </a:p>
          <a:p>
            <a:r>
              <a:rPr lang="zh-CN" altLang="en-US" sz="900" dirty="0">
                <a:latin typeface="Courier" pitchFamily="2" charset="0"/>
              </a:rPr>
              <a:t>  </a:t>
            </a:r>
            <a:r>
              <a:rPr lang="en-US" altLang="zh-CN" sz="900" dirty="0">
                <a:latin typeface="Courier" pitchFamily="2" charset="0"/>
              </a:rPr>
              <a:t>__be32</a:t>
            </a:r>
            <a:r>
              <a:rPr lang="zh-CN" altLang="en-US" sz="900" dirty="0">
                <a:latin typeface="Courier" pitchFamily="2" charset="0"/>
              </a:rPr>
              <a:t>  </a:t>
            </a:r>
            <a:r>
              <a:rPr lang="en-US" altLang="zh-CN" sz="900" dirty="0" err="1">
                <a:latin typeface="Courier" pitchFamily="2" charset="0"/>
              </a:rPr>
              <a:t>s_blocksize</a:t>
            </a:r>
            <a:r>
              <a:rPr lang="en-US" altLang="zh-CN" sz="900" dirty="0">
                <a:latin typeface="Courier" pitchFamily="2" charset="0"/>
              </a:rPr>
              <a:t>;</a:t>
            </a:r>
            <a:r>
              <a:rPr lang="zh-CN" altLang="en-US" sz="900" dirty="0">
                <a:latin typeface="Courier" pitchFamily="2" charset="0"/>
              </a:rPr>
              <a:t> </a:t>
            </a:r>
            <a:r>
              <a:rPr lang="en-US" altLang="zh-CN" sz="900" dirty="0">
                <a:latin typeface="Courier" pitchFamily="2" charset="0"/>
              </a:rPr>
              <a:t>/* </a:t>
            </a:r>
            <a:r>
              <a:rPr lang="zh-CN" altLang="en-US" sz="900" dirty="0">
                <a:latin typeface="Courier" pitchFamily="2" charset="0"/>
              </a:rPr>
              <a:t>块大小 </a:t>
            </a:r>
            <a:r>
              <a:rPr lang="en-US" altLang="zh-CN" sz="900" dirty="0">
                <a:latin typeface="Courier" pitchFamily="2" charset="0"/>
              </a:rPr>
              <a:t>*/</a:t>
            </a:r>
          </a:p>
          <a:p>
            <a:r>
              <a:rPr lang="zh-CN" altLang="en-US" sz="900" dirty="0">
                <a:latin typeface="Courier" pitchFamily="2" charset="0"/>
              </a:rPr>
              <a:t>  </a:t>
            </a:r>
            <a:r>
              <a:rPr lang="en-US" altLang="zh-CN" sz="900" dirty="0">
                <a:latin typeface="Courier" pitchFamily="2" charset="0"/>
              </a:rPr>
              <a:t>__be32</a:t>
            </a:r>
            <a:r>
              <a:rPr lang="zh-CN" altLang="en-US" sz="900" dirty="0">
                <a:latin typeface="Courier" pitchFamily="2" charset="0"/>
              </a:rPr>
              <a:t>  </a:t>
            </a:r>
            <a:r>
              <a:rPr lang="en-US" altLang="zh-CN" sz="900" dirty="0" err="1">
                <a:latin typeface="Courier" pitchFamily="2" charset="0"/>
              </a:rPr>
              <a:t>s_maxlen</a:t>
            </a:r>
            <a:r>
              <a:rPr lang="en-US" altLang="zh-CN" sz="900" dirty="0">
                <a:latin typeface="Courier" pitchFamily="2" charset="0"/>
              </a:rPr>
              <a:t>;</a:t>
            </a:r>
            <a:r>
              <a:rPr lang="zh-CN" altLang="en-US" sz="900" dirty="0">
                <a:latin typeface="Courier" pitchFamily="2" charset="0"/>
              </a:rPr>
              <a:t>    </a:t>
            </a:r>
            <a:r>
              <a:rPr lang="en-US" altLang="zh-CN" sz="900" dirty="0">
                <a:latin typeface="Courier" pitchFamily="2" charset="0"/>
              </a:rPr>
              <a:t>/* </a:t>
            </a:r>
            <a:r>
              <a:rPr lang="zh-CN" altLang="en-US" sz="900" dirty="0">
                <a:latin typeface="Courier" pitchFamily="2" charset="0"/>
              </a:rPr>
              <a:t>日志文件的块总数 </a:t>
            </a:r>
            <a:r>
              <a:rPr lang="en-US" altLang="zh-CN" sz="900" dirty="0">
                <a:latin typeface="Courier" pitchFamily="2" charset="0"/>
              </a:rPr>
              <a:t>*/</a:t>
            </a:r>
          </a:p>
          <a:p>
            <a:r>
              <a:rPr lang="zh-CN" altLang="en-US" sz="900" dirty="0">
                <a:latin typeface="Courier" pitchFamily="2" charset="0"/>
              </a:rPr>
              <a:t>  </a:t>
            </a:r>
            <a:r>
              <a:rPr lang="en-US" altLang="zh-CN" sz="900" dirty="0">
                <a:latin typeface="Courier" pitchFamily="2" charset="0"/>
              </a:rPr>
              <a:t>__be32</a:t>
            </a:r>
            <a:r>
              <a:rPr lang="zh-CN" altLang="en-US" sz="900" dirty="0">
                <a:latin typeface="Courier" pitchFamily="2" charset="0"/>
              </a:rPr>
              <a:t>  </a:t>
            </a:r>
            <a:r>
              <a:rPr lang="en-US" altLang="zh-CN" sz="900" dirty="0" err="1">
                <a:latin typeface="Courier" pitchFamily="2" charset="0"/>
              </a:rPr>
              <a:t>s_first</a:t>
            </a:r>
            <a:r>
              <a:rPr lang="en-US" altLang="zh-CN" sz="900" dirty="0">
                <a:latin typeface="Courier" pitchFamily="2" charset="0"/>
              </a:rPr>
              <a:t>;</a:t>
            </a:r>
            <a:r>
              <a:rPr lang="zh-CN" altLang="en-US" sz="900" dirty="0">
                <a:latin typeface="Courier" pitchFamily="2" charset="0"/>
              </a:rPr>
              <a:t>     </a:t>
            </a:r>
            <a:r>
              <a:rPr lang="en-US" altLang="zh-CN" sz="900" dirty="0">
                <a:latin typeface="Courier" pitchFamily="2" charset="0"/>
              </a:rPr>
              <a:t>/* </a:t>
            </a:r>
            <a:r>
              <a:rPr lang="zh-CN" altLang="en-US" sz="900" dirty="0">
                <a:latin typeface="Courier" pitchFamily="2" charset="0"/>
              </a:rPr>
              <a:t>日志信息的第一个块号</a:t>
            </a:r>
            <a:r>
              <a:rPr lang="en-US" altLang="zh-CN" sz="900" dirty="0">
                <a:latin typeface="Courier" pitchFamily="2" charset="0"/>
              </a:rPr>
              <a:t> */</a:t>
            </a:r>
          </a:p>
          <a:p>
            <a:r>
              <a:rPr lang="zh-CN" altLang="en-US" sz="900" dirty="0">
                <a:latin typeface="Courier" pitchFamily="2" charset="0"/>
              </a:rPr>
              <a:t>  </a:t>
            </a:r>
            <a:r>
              <a:rPr lang="en-US" altLang="zh-CN" sz="900" dirty="0">
                <a:latin typeface="Courier" pitchFamily="2" charset="0"/>
              </a:rPr>
              <a:t>...</a:t>
            </a:r>
          </a:p>
          <a:p>
            <a:r>
              <a:rPr lang="zh-CN" altLang="en-US" sz="900" dirty="0">
                <a:latin typeface="Courier" pitchFamily="2" charset="0"/>
              </a:rPr>
              <a:t>  </a:t>
            </a:r>
            <a:r>
              <a:rPr lang="en-US" altLang="zh-CN" sz="900" dirty="0">
                <a:latin typeface="Courier" pitchFamily="2" charset="0"/>
              </a:rPr>
              <a:t>__be32</a:t>
            </a:r>
            <a:r>
              <a:rPr lang="zh-CN" altLang="en-US" sz="900" dirty="0">
                <a:latin typeface="Courier" pitchFamily="2" charset="0"/>
              </a:rPr>
              <a:t>  </a:t>
            </a:r>
            <a:r>
              <a:rPr lang="en-US" altLang="zh-CN" sz="900" dirty="0" err="1">
                <a:latin typeface="Courier" pitchFamily="2" charset="0"/>
              </a:rPr>
              <a:t>s_sequence</a:t>
            </a:r>
            <a:r>
              <a:rPr lang="en-US" altLang="zh-CN" sz="900" dirty="0">
                <a:latin typeface="Courier" pitchFamily="2" charset="0"/>
              </a:rPr>
              <a:t>;</a:t>
            </a:r>
            <a:r>
              <a:rPr lang="zh-CN" altLang="en-US" sz="900" dirty="0">
                <a:latin typeface="Courier" pitchFamily="2" charset="0"/>
              </a:rPr>
              <a:t>  </a:t>
            </a:r>
            <a:r>
              <a:rPr lang="en-US" altLang="zh-CN" sz="900" dirty="0">
                <a:latin typeface="Courier" pitchFamily="2" charset="0"/>
              </a:rPr>
              <a:t>/* first commit ID expected in log */</a:t>
            </a:r>
          </a:p>
          <a:p>
            <a:r>
              <a:rPr lang="zh-CN" altLang="en-US" sz="900" dirty="0">
                <a:latin typeface="Courier" pitchFamily="2" charset="0"/>
              </a:rPr>
              <a:t>  </a:t>
            </a:r>
            <a:r>
              <a:rPr lang="en-US" altLang="zh-CN" sz="900" dirty="0">
                <a:latin typeface="Courier" pitchFamily="2" charset="0"/>
              </a:rPr>
              <a:t>__be32</a:t>
            </a:r>
            <a:r>
              <a:rPr lang="zh-CN" altLang="en-US" sz="900" dirty="0">
                <a:latin typeface="Courier" pitchFamily="2" charset="0"/>
              </a:rPr>
              <a:t>  </a:t>
            </a:r>
            <a:r>
              <a:rPr lang="en-US" altLang="zh-CN" sz="900" dirty="0" err="1">
                <a:latin typeface="Courier" pitchFamily="2" charset="0"/>
              </a:rPr>
              <a:t>s_start</a:t>
            </a:r>
            <a:r>
              <a:rPr lang="en-US" altLang="zh-CN" sz="900" dirty="0">
                <a:latin typeface="Courier" pitchFamily="2" charset="0"/>
              </a:rPr>
              <a:t>;</a:t>
            </a:r>
            <a:r>
              <a:rPr lang="zh-CN" altLang="en-US" sz="900" dirty="0">
                <a:latin typeface="Courier" pitchFamily="2" charset="0"/>
              </a:rPr>
              <a:t>     </a:t>
            </a:r>
            <a:r>
              <a:rPr lang="en-US" altLang="zh-CN" sz="900" dirty="0">
                <a:latin typeface="Courier" pitchFamily="2" charset="0"/>
              </a:rPr>
              <a:t>/* </a:t>
            </a:r>
            <a:r>
              <a:rPr lang="zh-CN" altLang="en-US" sz="900" dirty="0">
                <a:latin typeface="Courier" pitchFamily="2" charset="0"/>
              </a:rPr>
              <a:t>日志的开始块号</a:t>
            </a:r>
            <a:r>
              <a:rPr lang="en-US" altLang="zh-CN" sz="900" dirty="0">
                <a:latin typeface="Courier" pitchFamily="2" charset="0"/>
              </a:rPr>
              <a:t> */</a:t>
            </a:r>
          </a:p>
          <a:p>
            <a:r>
              <a:rPr lang="zh-CN" altLang="en-US" sz="900" dirty="0">
                <a:latin typeface="Courier" pitchFamily="2" charset="0"/>
              </a:rPr>
              <a:t> </a:t>
            </a:r>
            <a:r>
              <a:rPr lang="en-US" altLang="zh-CN" sz="900" dirty="0">
                <a:latin typeface="Courier" pitchFamily="2" charset="0"/>
              </a:rPr>
              <a:t>...</a:t>
            </a:r>
          </a:p>
          <a:p>
            <a:r>
              <a:rPr lang="zh-CN" altLang="en-US" sz="900" dirty="0">
                <a:latin typeface="Courier" pitchFamily="2" charset="0"/>
              </a:rPr>
              <a:t>  </a:t>
            </a:r>
            <a:r>
              <a:rPr lang="en-US" altLang="zh-CN" sz="900" dirty="0">
                <a:latin typeface="Courier" pitchFamily="2" charset="0"/>
              </a:rPr>
              <a:t>__be32</a:t>
            </a:r>
            <a:r>
              <a:rPr lang="zh-CN" altLang="en-US" sz="900" dirty="0">
                <a:latin typeface="Courier" pitchFamily="2" charset="0"/>
              </a:rPr>
              <a:t>  </a:t>
            </a:r>
            <a:r>
              <a:rPr lang="en-US" altLang="zh-CN" sz="900" dirty="0" err="1">
                <a:latin typeface="Courier" pitchFamily="2" charset="0"/>
              </a:rPr>
              <a:t>s_checksum</a:t>
            </a:r>
            <a:r>
              <a:rPr lang="en-US" altLang="zh-CN" sz="900" dirty="0">
                <a:latin typeface="Courier" pitchFamily="2" charset="0"/>
              </a:rPr>
              <a:t>;</a:t>
            </a:r>
            <a:r>
              <a:rPr lang="zh-CN" altLang="en-US" sz="900" dirty="0">
                <a:latin typeface="Courier" pitchFamily="2" charset="0"/>
              </a:rPr>
              <a:t>  </a:t>
            </a:r>
            <a:r>
              <a:rPr lang="en-US" altLang="zh-CN" sz="900" dirty="0">
                <a:latin typeface="Courier" pitchFamily="2" charset="0"/>
              </a:rPr>
              <a:t>/* </a:t>
            </a:r>
            <a:r>
              <a:rPr lang="zh-CN" altLang="en-US" sz="900" dirty="0">
                <a:latin typeface="Courier" pitchFamily="2" charset="0"/>
              </a:rPr>
              <a:t>校验码</a:t>
            </a:r>
            <a:r>
              <a:rPr lang="en-US" altLang="zh-CN" sz="900" dirty="0">
                <a:latin typeface="Courier" pitchFamily="2" charset="0"/>
              </a:rPr>
              <a:t> */</a:t>
            </a:r>
          </a:p>
          <a:p>
            <a:r>
              <a:rPr lang="zh-CN" altLang="en-US" sz="900" dirty="0">
                <a:latin typeface="Courier" pitchFamily="2" charset="0"/>
              </a:rPr>
              <a:t> </a:t>
            </a:r>
            <a:r>
              <a:rPr lang="en-US" altLang="zh-CN" sz="900" dirty="0">
                <a:latin typeface="Courier" pitchFamily="2" charset="0"/>
              </a:rPr>
              <a:t>...</a:t>
            </a:r>
          </a:p>
          <a:p>
            <a:r>
              <a:rPr lang="en-US" altLang="zh-CN" sz="900" dirty="0">
                <a:latin typeface="Courier" pitchFamily="2" charset="0"/>
              </a:rPr>
              <a:t>} </a:t>
            </a:r>
            <a:r>
              <a:rPr lang="en-US" altLang="zh-CN" sz="900" dirty="0" err="1">
                <a:latin typeface="Courier" pitchFamily="2" charset="0"/>
              </a:rPr>
              <a:t>journal_superblock_t</a:t>
            </a:r>
            <a:r>
              <a:rPr lang="en-US" altLang="zh-CN" sz="900" dirty="0">
                <a:latin typeface="Courier" pitchFamily="2" charset="0"/>
              </a:rPr>
              <a:t>;</a:t>
            </a:r>
          </a:p>
        </p:txBody>
      </p:sp>
      <p:sp>
        <p:nvSpPr>
          <p:cNvPr id="2" name="Title 1">
            <a:extLst>
              <a:ext uri="{FF2B5EF4-FFF2-40B4-BE49-F238E27FC236}">
                <a16:creationId xmlns:a16="http://schemas.microsoft.com/office/drawing/2014/main" id="{328C2E02-7D08-3840-8829-774F01F34DE7}"/>
              </a:ext>
            </a:extLst>
          </p:cNvPr>
          <p:cNvSpPr>
            <a:spLocks noGrp="1"/>
          </p:cNvSpPr>
          <p:nvPr>
            <p:ph type="title"/>
          </p:nvPr>
        </p:nvSpPr>
        <p:spPr/>
        <p:txBody>
          <a:bodyPr/>
          <a:lstStyle/>
          <a:p>
            <a:r>
              <a:rPr lang="en-US" altLang="zh-CN" dirty="0"/>
              <a:t>JBD2</a:t>
            </a:r>
            <a:r>
              <a:rPr lang="zh-CN" altLang="en-CN" dirty="0"/>
              <a:t>日志</a:t>
            </a:r>
            <a:r>
              <a:rPr lang="zh-CN" altLang="en-US" dirty="0"/>
              <a:t>的磁盘结构</a:t>
            </a:r>
            <a:endParaRPr lang="en-CN" dirty="0"/>
          </a:p>
        </p:txBody>
      </p:sp>
      <p:sp>
        <p:nvSpPr>
          <p:cNvPr id="4" name="Slide Number Placeholder 3">
            <a:extLst>
              <a:ext uri="{FF2B5EF4-FFF2-40B4-BE49-F238E27FC236}">
                <a16:creationId xmlns:a16="http://schemas.microsoft.com/office/drawing/2014/main" id="{C34BCBB2-9ABD-244C-B991-24A5818351C8}"/>
              </a:ext>
            </a:extLst>
          </p:cNvPr>
          <p:cNvSpPr>
            <a:spLocks noGrp="1"/>
          </p:cNvSpPr>
          <p:nvPr>
            <p:ph type="sldNum" sz="quarter" idx="12"/>
          </p:nvPr>
        </p:nvSpPr>
        <p:spPr/>
        <p:txBody>
          <a:bodyPr/>
          <a:lstStyle/>
          <a:p>
            <a:fld id="{ADE361C3-C043-4A6E-BDCE-8DA1E7D90A3B}" type="slidenum">
              <a:rPr lang="zh-CN" altLang="en-US" smtClean="0"/>
              <a:t>35</a:t>
            </a:fld>
            <a:endParaRPr lang="zh-CN" altLang="en-US"/>
          </a:p>
        </p:txBody>
      </p:sp>
      <p:sp>
        <p:nvSpPr>
          <p:cNvPr id="5" name="Footer Placeholder 4">
            <a:extLst>
              <a:ext uri="{FF2B5EF4-FFF2-40B4-BE49-F238E27FC236}">
                <a16:creationId xmlns:a16="http://schemas.microsoft.com/office/drawing/2014/main" id="{7A110C36-F9E8-6C43-AC88-0AF705988AE1}"/>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Rectangle 5">
            <a:extLst>
              <a:ext uri="{FF2B5EF4-FFF2-40B4-BE49-F238E27FC236}">
                <a16:creationId xmlns:a16="http://schemas.microsoft.com/office/drawing/2014/main" id="{087C0540-DC35-8441-8A4D-0B0A663D5883}"/>
              </a:ext>
            </a:extLst>
          </p:cNvPr>
          <p:cNvSpPr/>
          <p:nvPr/>
        </p:nvSpPr>
        <p:spPr>
          <a:xfrm>
            <a:off x="1996075" y="1489348"/>
            <a:ext cx="988919" cy="51022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日志</a:t>
            </a:r>
            <a:br>
              <a:rPr lang="en-US" altLang="zh-CN" sz="1400" dirty="0"/>
            </a:br>
            <a:r>
              <a:rPr lang="zh-CN" altLang="en-US" sz="1400" dirty="0"/>
              <a:t>超级块</a:t>
            </a:r>
            <a:endParaRPr lang="en-CN" sz="1400" dirty="0"/>
          </a:p>
        </p:txBody>
      </p:sp>
      <p:sp>
        <p:nvSpPr>
          <p:cNvPr id="7" name="Rectangle 6">
            <a:extLst>
              <a:ext uri="{FF2B5EF4-FFF2-40B4-BE49-F238E27FC236}">
                <a16:creationId xmlns:a16="http://schemas.microsoft.com/office/drawing/2014/main" id="{12F6A948-8B30-5F40-B207-BA61D56D631B}"/>
              </a:ext>
            </a:extLst>
          </p:cNvPr>
          <p:cNvSpPr/>
          <p:nvPr/>
        </p:nvSpPr>
        <p:spPr>
          <a:xfrm>
            <a:off x="2980147" y="1489348"/>
            <a:ext cx="988919" cy="51022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描述块</a:t>
            </a:r>
            <a:endParaRPr lang="en-CN" sz="1400" dirty="0"/>
          </a:p>
        </p:txBody>
      </p:sp>
      <p:sp>
        <p:nvSpPr>
          <p:cNvPr id="8" name="Rectangle 7">
            <a:extLst>
              <a:ext uri="{FF2B5EF4-FFF2-40B4-BE49-F238E27FC236}">
                <a16:creationId xmlns:a16="http://schemas.microsoft.com/office/drawing/2014/main" id="{1B7B605E-F531-074D-A4D8-54A0BC3B693F}"/>
              </a:ext>
            </a:extLst>
          </p:cNvPr>
          <p:cNvSpPr/>
          <p:nvPr/>
        </p:nvSpPr>
        <p:spPr>
          <a:xfrm>
            <a:off x="3960547" y="1489348"/>
            <a:ext cx="988919" cy="51022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日志块</a:t>
            </a:r>
            <a:endParaRPr lang="en-CN" sz="1400" dirty="0"/>
          </a:p>
        </p:txBody>
      </p:sp>
      <p:sp>
        <p:nvSpPr>
          <p:cNvPr id="9" name="Rectangle 8">
            <a:extLst>
              <a:ext uri="{FF2B5EF4-FFF2-40B4-BE49-F238E27FC236}">
                <a16:creationId xmlns:a16="http://schemas.microsoft.com/office/drawing/2014/main" id="{B1C91C57-686C-DB46-9994-A68EDF8DFCE3}"/>
              </a:ext>
            </a:extLst>
          </p:cNvPr>
          <p:cNvSpPr/>
          <p:nvPr/>
        </p:nvSpPr>
        <p:spPr>
          <a:xfrm>
            <a:off x="4950861" y="1489348"/>
            <a:ext cx="988919" cy="51022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日志块</a:t>
            </a:r>
            <a:endParaRPr lang="en-CN" sz="1400" dirty="0"/>
          </a:p>
        </p:txBody>
      </p:sp>
      <p:sp>
        <p:nvSpPr>
          <p:cNvPr id="12" name="Rectangle 11">
            <a:extLst>
              <a:ext uri="{FF2B5EF4-FFF2-40B4-BE49-F238E27FC236}">
                <a16:creationId xmlns:a16="http://schemas.microsoft.com/office/drawing/2014/main" id="{BB357F90-17C0-354C-98A7-7F3D001C98F2}"/>
              </a:ext>
            </a:extLst>
          </p:cNvPr>
          <p:cNvSpPr/>
          <p:nvPr/>
        </p:nvSpPr>
        <p:spPr>
          <a:xfrm>
            <a:off x="6696927" y="1490775"/>
            <a:ext cx="988919" cy="51022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400" dirty="0"/>
              <a:t>提交</a:t>
            </a:r>
            <a:r>
              <a:rPr lang="zh-CN" altLang="en-US" sz="1400" dirty="0"/>
              <a:t>块</a:t>
            </a:r>
            <a:endParaRPr lang="en-CN" sz="1400" dirty="0"/>
          </a:p>
        </p:txBody>
      </p:sp>
      <p:sp>
        <p:nvSpPr>
          <p:cNvPr id="13" name="TextBox 12">
            <a:extLst>
              <a:ext uri="{FF2B5EF4-FFF2-40B4-BE49-F238E27FC236}">
                <a16:creationId xmlns:a16="http://schemas.microsoft.com/office/drawing/2014/main" id="{5B2C21F6-9451-3A4A-9E9D-9C92F422224E}"/>
              </a:ext>
            </a:extLst>
          </p:cNvPr>
          <p:cNvSpPr txBox="1"/>
          <p:nvPr/>
        </p:nvSpPr>
        <p:spPr>
          <a:xfrm>
            <a:off x="3995936" y="3149296"/>
            <a:ext cx="3195451" cy="1061829"/>
          </a:xfrm>
          <a:prstGeom prst="rect">
            <a:avLst/>
          </a:prstGeom>
          <a:solidFill>
            <a:schemeClr val="accent6">
              <a:lumMod val="20000"/>
              <a:lumOff val="80000"/>
            </a:schemeClr>
          </a:solidFill>
          <a:ln>
            <a:solidFill>
              <a:schemeClr val="bg2"/>
            </a:solidFill>
          </a:ln>
        </p:spPr>
        <p:txBody>
          <a:bodyPr wrap="square" rtlCol="0">
            <a:spAutoFit/>
          </a:bodyPr>
          <a:lstStyle/>
          <a:p>
            <a:r>
              <a:rPr lang="en-US" altLang="zh-CN" sz="900" dirty="0">
                <a:latin typeface="Courier" pitchFamily="2" charset="0"/>
              </a:rPr>
              <a:t>typedef struct </a:t>
            </a:r>
            <a:r>
              <a:rPr lang="en-US" altLang="zh-CN" sz="900" dirty="0" err="1">
                <a:latin typeface="Courier" pitchFamily="2" charset="0"/>
              </a:rPr>
              <a:t>journal_block_tag_s</a:t>
            </a:r>
            <a:endParaRPr lang="en-US" altLang="zh-CN" sz="900" dirty="0">
              <a:latin typeface="Courier" pitchFamily="2" charset="0"/>
            </a:endParaRPr>
          </a:p>
          <a:p>
            <a:r>
              <a:rPr lang="en-US" altLang="zh-CN" sz="900" dirty="0">
                <a:latin typeface="Courier" pitchFamily="2" charset="0"/>
              </a:rPr>
              <a:t>{</a:t>
            </a:r>
          </a:p>
          <a:p>
            <a:r>
              <a:rPr lang="zh-CN" altLang="en-US" sz="900" b="1" dirty="0">
                <a:solidFill>
                  <a:srgbClr val="C00000"/>
                </a:solidFill>
                <a:latin typeface="Courier" pitchFamily="2" charset="0"/>
              </a:rPr>
              <a:t>  </a:t>
            </a:r>
            <a:r>
              <a:rPr lang="en-US" altLang="zh-CN" sz="900" b="1" dirty="0">
                <a:solidFill>
                  <a:srgbClr val="C00000"/>
                </a:solidFill>
                <a:latin typeface="Courier" pitchFamily="2" charset="0"/>
              </a:rPr>
              <a:t>__be32</a:t>
            </a:r>
            <a:r>
              <a:rPr lang="zh-CN" altLang="en-US" sz="900" b="1" dirty="0">
                <a:solidFill>
                  <a:srgbClr val="C00000"/>
                </a:solidFill>
                <a:latin typeface="Courier" pitchFamily="2" charset="0"/>
              </a:rPr>
              <a:t>  </a:t>
            </a:r>
            <a:r>
              <a:rPr lang="en-US" altLang="zh-CN" sz="900" b="1" dirty="0" err="1">
                <a:solidFill>
                  <a:srgbClr val="C00000"/>
                </a:solidFill>
                <a:latin typeface="Courier" pitchFamily="2" charset="0"/>
              </a:rPr>
              <a:t>t_blocknr</a:t>
            </a:r>
            <a:r>
              <a:rPr lang="en-US" altLang="zh-CN" sz="900" b="1" dirty="0">
                <a:solidFill>
                  <a:srgbClr val="C00000"/>
                </a:solidFill>
                <a:latin typeface="Courier" pitchFamily="2" charset="0"/>
              </a:rPr>
              <a:t>;</a:t>
            </a:r>
            <a:r>
              <a:rPr lang="zh-CN" altLang="en-US" sz="900" b="1" dirty="0">
                <a:solidFill>
                  <a:srgbClr val="C00000"/>
                </a:solidFill>
                <a:latin typeface="Courier" pitchFamily="2" charset="0"/>
              </a:rPr>
              <a:t>  </a:t>
            </a:r>
            <a:r>
              <a:rPr lang="en-US" altLang="zh-CN" sz="900" b="1" dirty="0">
                <a:solidFill>
                  <a:srgbClr val="C00000"/>
                </a:solidFill>
                <a:latin typeface="Courier" pitchFamily="2" charset="0"/>
              </a:rPr>
              <a:t>/* </a:t>
            </a:r>
            <a:r>
              <a:rPr lang="zh-CN" altLang="en-US" sz="900" b="1" dirty="0">
                <a:solidFill>
                  <a:srgbClr val="C00000"/>
                </a:solidFill>
                <a:latin typeface="Courier" pitchFamily="2" charset="0"/>
              </a:rPr>
              <a:t>磁盘上的块号</a:t>
            </a:r>
            <a:r>
              <a:rPr lang="en-US" altLang="zh-CN" sz="900" b="1" dirty="0">
                <a:solidFill>
                  <a:srgbClr val="C00000"/>
                </a:solidFill>
                <a:latin typeface="Courier" pitchFamily="2" charset="0"/>
              </a:rPr>
              <a:t> */</a:t>
            </a:r>
          </a:p>
          <a:p>
            <a:r>
              <a:rPr lang="zh-CN" altLang="en-US" sz="900" dirty="0">
                <a:latin typeface="Courier" pitchFamily="2" charset="0"/>
              </a:rPr>
              <a:t>  </a:t>
            </a:r>
            <a:r>
              <a:rPr lang="en-US" altLang="zh-CN" sz="900" dirty="0">
                <a:latin typeface="Courier" pitchFamily="2" charset="0"/>
              </a:rPr>
              <a:t>__be16</a:t>
            </a:r>
            <a:r>
              <a:rPr lang="zh-CN" altLang="en-US" sz="900" dirty="0">
                <a:latin typeface="Courier" pitchFamily="2" charset="0"/>
              </a:rPr>
              <a:t>  </a:t>
            </a:r>
            <a:r>
              <a:rPr lang="en-US" altLang="zh-CN" sz="900" dirty="0" err="1">
                <a:latin typeface="Courier" pitchFamily="2" charset="0"/>
              </a:rPr>
              <a:t>t_checksum</a:t>
            </a:r>
            <a:r>
              <a:rPr lang="en-US" altLang="zh-CN" sz="900" dirty="0">
                <a:latin typeface="Courier" pitchFamily="2" charset="0"/>
              </a:rPr>
              <a:t>;</a:t>
            </a:r>
            <a:r>
              <a:rPr lang="zh-CN" altLang="en-US" sz="900" dirty="0">
                <a:latin typeface="Courier" pitchFamily="2" charset="0"/>
              </a:rPr>
              <a:t> </a:t>
            </a:r>
            <a:r>
              <a:rPr lang="en-US" altLang="zh-CN" sz="900" dirty="0">
                <a:latin typeface="Courier" pitchFamily="2" charset="0"/>
              </a:rPr>
              <a:t>/* </a:t>
            </a:r>
            <a:r>
              <a:rPr lang="zh-CN" altLang="en-US" sz="900" dirty="0">
                <a:latin typeface="Courier" pitchFamily="2" charset="0"/>
              </a:rPr>
              <a:t>校验码</a:t>
            </a:r>
            <a:r>
              <a:rPr lang="en-US" altLang="zh-CN" sz="900" dirty="0">
                <a:latin typeface="Courier" pitchFamily="2" charset="0"/>
              </a:rPr>
              <a:t>*/</a:t>
            </a:r>
          </a:p>
          <a:p>
            <a:r>
              <a:rPr lang="zh-CN" altLang="en-US" sz="900" dirty="0">
                <a:latin typeface="Courier" pitchFamily="2" charset="0"/>
              </a:rPr>
              <a:t>  </a:t>
            </a:r>
            <a:r>
              <a:rPr lang="en-US" altLang="zh-CN" sz="900" dirty="0">
                <a:latin typeface="Courier" pitchFamily="2" charset="0"/>
              </a:rPr>
              <a:t>__be16</a:t>
            </a:r>
            <a:r>
              <a:rPr lang="zh-CN" altLang="en-US" sz="900" dirty="0">
                <a:latin typeface="Courier" pitchFamily="2" charset="0"/>
              </a:rPr>
              <a:t>  </a:t>
            </a:r>
            <a:r>
              <a:rPr lang="en-US" altLang="zh-CN" sz="900" dirty="0" err="1">
                <a:latin typeface="Courier" pitchFamily="2" charset="0"/>
              </a:rPr>
              <a:t>t_flags</a:t>
            </a:r>
            <a:r>
              <a:rPr lang="en-US" altLang="zh-CN" sz="900" dirty="0">
                <a:latin typeface="Courier" pitchFamily="2" charset="0"/>
              </a:rPr>
              <a:t>;</a:t>
            </a:r>
            <a:r>
              <a:rPr lang="zh-CN" altLang="en-US" sz="900" dirty="0">
                <a:latin typeface="Courier" pitchFamily="2" charset="0"/>
              </a:rPr>
              <a:t>    </a:t>
            </a:r>
            <a:r>
              <a:rPr lang="en-US" altLang="zh-CN" sz="900" dirty="0">
                <a:latin typeface="Courier" pitchFamily="2" charset="0"/>
              </a:rPr>
              <a:t>/* </a:t>
            </a:r>
            <a:r>
              <a:rPr lang="zh-CN" altLang="en-US" sz="900" dirty="0">
                <a:latin typeface="Courier" pitchFamily="2" charset="0"/>
              </a:rPr>
              <a:t>一些标志位 </a:t>
            </a:r>
            <a:r>
              <a:rPr lang="en-US" altLang="zh-CN" sz="900" dirty="0">
                <a:latin typeface="Courier" pitchFamily="2" charset="0"/>
              </a:rPr>
              <a:t>*/</a:t>
            </a:r>
          </a:p>
          <a:p>
            <a:r>
              <a:rPr lang="zh-CN" altLang="en-US" sz="900" dirty="0">
                <a:latin typeface="Courier" pitchFamily="2" charset="0"/>
              </a:rPr>
              <a:t>  </a:t>
            </a:r>
            <a:r>
              <a:rPr lang="en-US" altLang="zh-CN" sz="900" dirty="0">
                <a:latin typeface="Courier" pitchFamily="2" charset="0"/>
              </a:rPr>
              <a:t>__be32</a:t>
            </a:r>
            <a:r>
              <a:rPr lang="zh-CN" altLang="en-US" sz="900" dirty="0">
                <a:latin typeface="Courier" pitchFamily="2" charset="0"/>
              </a:rPr>
              <a:t>  </a:t>
            </a:r>
            <a:r>
              <a:rPr lang="en-US" altLang="zh-CN" sz="900" dirty="0" err="1">
                <a:latin typeface="Courier" pitchFamily="2" charset="0"/>
              </a:rPr>
              <a:t>t_blocknr_high</a:t>
            </a:r>
            <a:r>
              <a:rPr lang="en-US" altLang="zh-CN" sz="900" dirty="0">
                <a:latin typeface="Courier" pitchFamily="2" charset="0"/>
              </a:rPr>
              <a:t>; /* </a:t>
            </a:r>
            <a:r>
              <a:rPr lang="zh-CN" altLang="en-US" sz="900" dirty="0">
                <a:latin typeface="Courier" pitchFamily="2" charset="0"/>
              </a:rPr>
              <a:t>高</a:t>
            </a:r>
            <a:r>
              <a:rPr lang="en-US" altLang="zh-CN" sz="900" dirty="0">
                <a:latin typeface="Courier" pitchFamily="2" charset="0"/>
              </a:rPr>
              <a:t>32</a:t>
            </a:r>
            <a:r>
              <a:rPr lang="zh-CN" altLang="en-US" sz="900" dirty="0">
                <a:latin typeface="Courier" pitchFamily="2" charset="0"/>
              </a:rPr>
              <a:t>位</a:t>
            </a:r>
            <a:r>
              <a:rPr lang="en-US" altLang="zh-CN" sz="900" dirty="0">
                <a:latin typeface="Courier" pitchFamily="2" charset="0"/>
              </a:rPr>
              <a:t> */</a:t>
            </a:r>
          </a:p>
          <a:p>
            <a:r>
              <a:rPr lang="en-US" altLang="zh-CN" sz="900" dirty="0">
                <a:latin typeface="Courier" pitchFamily="2" charset="0"/>
              </a:rPr>
              <a:t>} </a:t>
            </a:r>
            <a:r>
              <a:rPr lang="en-US" altLang="zh-CN" sz="900" dirty="0" err="1">
                <a:latin typeface="Courier" pitchFamily="2" charset="0"/>
              </a:rPr>
              <a:t>journal_block_tag_t</a:t>
            </a:r>
            <a:r>
              <a:rPr lang="en-US" altLang="zh-CN" sz="900" dirty="0">
                <a:latin typeface="Courier" pitchFamily="2" charset="0"/>
              </a:rPr>
              <a:t>;</a:t>
            </a:r>
          </a:p>
        </p:txBody>
      </p:sp>
      <p:sp>
        <p:nvSpPr>
          <p:cNvPr id="14" name="TextBox 13">
            <a:extLst>
              <a:ext uri="{FF2B5EF4-FFF2-40B4-BE49-F238E27FC236}">
                <a16:creationId xmlns:a16="http://schemas.microsoft.com/office/drawing/2014/main" id="{15F147B2-62FC-3546-8186-9AAD635CA5D7}"/>
              </a:ext>
            </a:extLst>
          </p:cNvPr>
          <p:cNvSpPr txBox="1"/>
          <p:nvPr/>
        </p:nvSpPr>
        <p:spPr>
          <a:xfrm>
            <a:off x="5995188" y="1516839"/>
            <a:ext cx="646331" cy="369332"/>
          </a:xfrm>
          <a:prstGeom prst="rect">
            <a:avLst/>
          </a:prstGeom>
          <a:noFill/>
        </p:spPr>
        <p:txBody>
          <a:bodyPr wrap="none" rtlCol="0">
            <a:spAutoFit/>
          </a:bodyPr>
          <a:lstStyle/>
          <a:p>
            <a:r>
              <a:rPr lang="en-US" altLang="zh-CN" dirty="0"/>
              <a:t>……</a:t>
            </a:r>
            <a:endParaRPr lang="en-CN" dirty="0"/>
          </a:p>
        </p:txBody>
      </p:sp>
      <p:cxnSp>
        <p:nvCxnSpPr>
          <p:cNvPr id="16" name="Straight Arrow Connector 15">
            <a:extLst>
              <a:ext uri="{FF2B5EF4-FFF2-40B4-BE49-F238E27FC236}">
                <a16:creationId xmlns:a16="http://schemas.microsoft.com/office/drawing/2014/main" id="{ECA15E81-88A7-454C-8EDB-C8901E3B98E0}"/>
              </a:ext>
            </a:extLst>
          </p:cNvPr>
          <p:cNvCxnSpPr>
            <a:cxnSpLocks/>
            <a:stCxn id="6" idx="2"/>
            <a:endCxn id="10" idx="0"/>
          </p:cNvCxnSpPr>
          <p:nvPr/>
        </p:nvCxnSpPr>
        <p:spPr>
          <a:xfrm flipH="1">
            <a:off x="2195835" y="1999577"/>
            <a:ext cx="294700" cy="4295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3E94163B-FF25-3E46-BF3B-C0B3478016F5}"/>
              </a:ext>
            </a:extLst>
          </p:cNvPr>
          <p:cNvCxnSpPr>
            <a:cxnSpLocks/>
            <a:stCxn id="7" idx="2"/>
            <a:endCxn id="13" idx="0"/>
          </p:cNvCxnSpPr>
          <p:nvPr/>
        </p:nvCxnSpPr>
        <p:spPr>
          <a:xfrm>
            <a:off x="3474607" y="1999577"/>
            <a:ext cx="2119055" cy="11497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C45C5F08-9844-AC45-AF52-2E5FB8C7E35D}"/>
              </a:ext>
            </a:extLst>
          </p:cNvPr>
          <p:cNvSpPr txBox="1"/>
          <p:nvPr/>
        </p:nvSpPr>
        <p:spPr>
          <a:xfrm>
            <a:off x="4681001" y="2410529"/>
            <a:ext cx="3374642" cy="307777"/>
          </a:xfrm>
          <a:prstGeom prst="rect">
            <a:avLst/>
          </a:prstGeom>
          <a:noFill/>
        </p:spPr>
        <p:txBody>
          <a:bodyPr wrap="none" rtlCol="0">
            <a:spAutoFit/>
          </a:bodyPr>
          <a:lstStyle/>
          <a:p>
            <a:r>
              <a:rPr lang="en-US" altLang="zh-CN" sz="1400" dirty="0"/>
              <a:t>tag</a:t>
            </a:r>
            <a:r>
              <a:rPr lang="zh-CN" altLang="en-US" sz="1400" dirty="0"/>
              <a:t>数组，每个</a:t>
            </a:r>
            <a:r>
              <a:rPr lang="en-US" altLang="zh-CN" sz="1400" dirty="0"/>
              <a:t>tag</a:t>
            </a:r>
            <a:r>
              <a:rPr lang="zh-CN" altLang="en-US" sz="1400" dirty="0"/>
              <a:t>对应后面日志块的信息</a:t>
            </a:r>
            <a:endParaRPr lang="en-CN" sz="1400" dirty="0"/>
          </a:p>
        </p:txBody>
      </p:sp>
      <p:sp>
        <p:nvSpPr>
          <p:cNvPr id="21" name="Right Brace 20">
            <a:extLst>
              <a:ext uri="{FF2B5EF4-FFF2-40B4-BE49-F238E27FC236}">
                <a16:creationId xmlns:a16="http://schemas.microsoft.com/office/drawing/2014/main" id="{D7704F61-666B-9B4E-97D3-4376553A549B}"/>
              </a:ext>
            </a:extLst>
          </p:cNvPr>
          <p:cNvSpPr/>
          <p:nvPr/>
        </p:nvSpPr>
        <p:spPr>
          <a:xfrm rot="16200000">
            <a:off x="5197056" y="-1013572"/>
            <a:ext cx="271882" cy="4705700"/>
          </a:xfrm>
          <a:prstGeom prst="rightBrace">
            <a:avLst>
              <a:gd name="adj1" fmla="val 34720"/>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sz="1200"/>
          </a:p>
        </p:txBody>
      </p:sp>
      <p:sp>
        <p:nvSpPr>
          <p:cNvPr id="22" name="TextBox 21">
            <a:extLst>
              <a:ext uri="{FF2B5EF4-FFF2-40B4-BE49-F238E27FC236}">
                <a16:creationId xmlns:a16="http://schemas.microsoft.com/office/drawing/2014/main" id="{CE54D3FF-FDA1-3D44-8BA9-D272483FB754}"/>
              </a:ext>
            </a:extLst>
          </p:cNvPr>
          <p:cNvSpPr txBox="1"/>
          <p:nvPr/>
        </p:nvSpPr>
        <p:spPr>
          <a:xfrm>
            <a:off x="8040469" y="1516839"/>
            <a:ext cx="646331" cy="369332"/>
          </a:xfrm>
          <a:prstGeom prst="rect">
            <a:avLst/>
          </a:prstGeom>
          <a:noFill/>
        </p:spPr>
        <p:txBody>
          <a:bodyPr wrap="none" rtlCol="0">
            <a:spAutoFit/>
          </a:bodyPr>
          <a:lstStyle/>
          <a:p>
            <a:r>
              <a:rPr lang="en-US" altLang="zh-CN" dirty="0"/>
              <a:t>……</a:t>
            </a:r>
            <a:endParaRPr lang="en-CN" dirty="0"/>
          </a:p>
        </p:txBody>
      </p:sp>
      <p:sp>
        <p:nvSpPr>
          <p:cNvPr id="23" name="TextBox 22">
            <a:extLst>
              <a:ext uri="{FF2B5EF4-FFF2-40B4-BE49-F238E27FC236}">
                <a16:creationId xmlns:a16="http://schemas.microsoft.com/office/drawing/2014/main" id="{1D6A0097-6757-3F47-8D2F-FAC7F6097097}"/>
              </a:ext>
            </a:extLst>
          </p:cNvPr>
          <p:cNvSpPr txBox="1"/>
          <p:nvPr/>
        </p:nvSpPr>
        <p:spPr>
          <a:xfrm>
            <a:off x="4898313" y="861408"/>
            <a:ext cx="902811" cy="307777"/>
          </a:xfrm>
          <a:prstGeom prst="rect">
            <a:avLst/>
          </a:prstGeom>
          <a:noFill/>
        </p:spPr>
        <p:txBody>
          <a:bodyPr wrap="none" rtlCol="0">
            <a:spAutoFit/>
          </a:bodyPr>
          <a:lstStyle/>
          <a:p>
            <a:r>
              <a:rPr lang="zh-CN" altLang="en-CN" sz="1400" dirty="0"/>
              <a:t>一个</a:t>
            </a:r>
            <a:r>
              <a:rPr lang="zh-CN" altLang="en-US" sz="1400" dirty="0"/>
              <a:t>事务</a:t>
            </a:r>
            <a:endParaRPr lang="en-CN" sz="1400" dirty="0"/>
          </a:p>
        </p:txBody>
      </p:sp>
      <p:sp>
        <p:nvSpPr>
          <p:cNvPr id="24" name="TextBox 23">
            <a:extLst>
              <a:ext uri="{FF2B5EF4-FFF2-40B4-BE49-F238E27FC236}">
                <a16:creationId xmlns:a16="http://schemas.microsoft.com/office/drawing/2014/main" id="{2CBE31A7-64FF-1941-B3F9-AAA22CEAE201}"/>
              </a:ext>
            </a:extLst>
          </p:cNvPr>
          <p:cNvSpPr txBox="1"/>
          <p:nvPr/>
        </p:nvSpPr>
        <p:spPr>
          <a:xfrm>
            <a:off x="7912228" y="1213482"/>
            <a:ext cx="902811" cy="307777"/>
          </a:xfrm>
          <a:prstGeom prst="rect">
            <a:avLst/>
          </a:prstGeom>
          <a:noFill/>
        </p:spPr>
        <p:txBody>
          <a:bodyPr wrap="none" rtlCol="0">
            <a:spAutoFit/>
          </a:bodyPr>
          <a:lstStyle/>
          <a:p>
            <a:r>
              <a:rPr lang="zh-CN" altLang="en-US" sz="1400" dirty="0"/>
              <a:t>其他事务</a:t>
            </a:r>
            <a:endParaRPr lang="en-CN" sz="1400" dirty="0"/>
          </a:p>
        </p:txBody>
      </p:sp>
      <p:sp>
        <p:nvSpPr>
          <p:cNvPr id="3" name="TextBox 2">
            <a:extLst>
              <a:ext uri="{FF2B5EF4-FFF2-40B4-BE49-F238E27FC236}">
                <a16:creationId xmlns:a16="http://schemas.microsoft.com/office/drawing/2014/main" id="{70F27230-B167-8545-A0D8-B9DFFDA1E6D6}"/>
              </a:ext>
            </a:extLst>
          </p:cNvPr>
          <p:cNvSpPr txBox="1"/>
          <p:nvPr/>
        </p:nvSpPr>
        <p:spPr>
          <a:xfrm>
            <a:off x="5199326" y="4472129"/>
            <a:ext cx="3600433" cy="523220"/>
          </a:xfrm>
          <a:prstGeom prst="rect">
            <a:avLst/>
          </a:prstGeom>
          <a:noFill/>
        </p:spPr>
        <p:txBody>
          <a:bodyPr wrap="square" rtlCol="0">
            <a:spAutoFit/>
          </a:bodyPr>
          <a:lstStyle/>
          <a:p>
            <a:r>
              <a:rPr lang="zh-CN" altLang="en-CN" sz="1400" dirty="0"/>
              <a:t>恢复</a:t>
            </a:r>
            <a:r>
              <a:rPr lang="zh-CN" altLang="en-US" sz="1400" dirty="0"/>
              <a:t>时，根据描述块中记录的</a:t>
            </a:r>
            <a:r>
              <a:rPr lang="en-US" altLang="zh-CN" sz="1400" dirty="0"/>
              <a:t>tag</a:t>
            </a:r>
            <a:r>
              <a:rPr lang="zh-CN" altLang="en-US" sz="1400" dirty="0"/>
              <a:t>信息，将后面日志块中的数据写入到对应的磁盘块中</a:t>
            </a:r>
            <a:endParaRPr lang="en-CN" sz="1400" dirty="0"/>
          </a:p>
        </p:txBody>
      </p:sp>
    </p:spTree>
    <p:extLst>
      <p:ext uri="{BB962C8B-B14F-4D97-AF65-F5344CB8AC3E}">
        <p14:creationId xmlns:p14="http://schemas.microsoft.com/office/powerpoint/2010/main" val="38030592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1AE1A-ECA7-4240-9418-E65A408D66A4}"/>
              </a:ext>
            </a:extLst>
          </p:cNvPr>
          <p:cNvSpPr>
            <a:spLocks noGrp="1"/>
          </p:cNvSpPr>
          <p:nvPr>
            <p:ph type="title"/>
          </p:nvPr>
        </p:nvSpPr>
        <p:spPr/>
        <p:txBody>
          <a:bodyPr/>
          <a:lstStyle/>
          <a:p>
            <a:r>
              <a:rPr lang="en-CN"/>
              <a:t>Ext4</a:t>
            </a:r>
            <a:r>
              <a:rPr lang="zh-CN" altLang="en-US" dirty="0"/>
              <a:t>的三种日志模式</a:t>
            </a:r>
            <a:endParaRPr lang="en-CN" dirty="0"/>
          </a:p>
        </p:txBody>
      </p:sp>
      <p:sp>
        <p:nvSpPr>
          <p:cNvPr id="4" name="Slide Number Placeholder 3">
            <a:extLst>
              <a:ext uri="{FF2B5EF4-FFF2-40B4-BE49-F238E27FC236}">
                <a16:creationId xmlns:a16="http://schemas.microsoft.com/office/drawing/2014/main" id="{F1B9628A-DB46-BF41-BA74-154AFCDC1114}"/>
              </a:ext>
            </a:extLst>
          </p:cNvPr>
          <p:cNvSpPr>
            <a:spLocks noGrp="1"/>
          </p:cNvSpPr>
          <p:nvPr>
            <p:ph type="sldNum" sz="quarter" idx="12"/>
          </p:nvPr>
        </p:nvSpPr>
        <p:spPr/>
        <p:txBody>
          <a:bodyPr/>
          <a:lstStyle/>
          <a:p>
            <a:fld id="{ADE361C3-C043-4A6E-BDCE-8DA1E7D90A3B}" type="slidenum">
              <a:rPr lang="zh-CN" altLang="en-US" smtClean="0"/>
              <a:t>36</a:t>
            </a:fld>
            <a:endParaRPr lang="zh-CN" altLang="en-US"/>
          </a:p>
        </p:txBody>
      </p:sp>
      <p:sp>
        <p:nvSpPr>
          <p:cNvPr id="5" name="Footer Placeholder 4">
            <a:extLst>
              <a:ext uri="{FF2B5EF4-FFF2-40B4-BE49-F238E27FC236}">
                <a16:creationId xmlns:a16="http://schemas.microsoft.com/office/drawing/2014/main" id="{409F728C-9F83-1343-87D2-E7BA8C0F316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grpSp>
        <p:nvGrpSpPr>
          <p:cNvPr id="37" name="Group 36">
            <a:extLst>
              <a:ext uri="{FF2B5EF4-FFF2-40B4-BE49-F238E27FC236}">
                <a16:creationId xmlns:a16="http://schemas.microsoft.com/office/drawing/2014/main" id="{A27E2ABF-6847-4547-B7C8-CB5FFF8B804F}"/>
              </a:ext>
            </a:extLst>
          </p:cNvPr>
          <p:cNvGrpSpPr/>
          <p:nvPr/>
        </p:nvGrpSpPr>
        <p:grpSpPr>
          <a:xfrm>
            <a:off x="683568" y="3018279"/>
            <a:ext cx="5832648" cy="461766"/>
            <a:chOff x="899592" y="3189432"/>
            <a:chExt cx="5832648" cy="461766"/>
          </a:xfrm>
        </p:grpSpPr>
        <p:cxnSp>
          <p:nvCxnSpPr>
            <p:cNvPr id="16" name="Straight Arrow Connector 15">
              <a:extLst>
                <a:ext uri="{FF2B5EF4-FFF2-40B4-BE49-F238E27FC236}">
                  <a16:creationId xmlns:a16="http://schemas.microsoft.com/office/drawing/2014/main" id="{D5DEC172-8D40-0648-8C86-FEF325C7505C}"/>
                </a:ext>
              </a:extLst>
            </p:cNvPr>
            <p:cNvCxnSpPr>
              <a:cxnSpLocks/>
            </p:cNvCxnSpPr>
            <p:nvPr/>
          </p:nvCxnSpPr>
          <p:spPr>
            <a:xfrm>
              <a:off x="899592" y="3433564"/>
              <a:ext cx="5832648"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7" name="Rectangle 6">
              <a:extLst>
                <a:ext uri="{FF2B5EF4-FFF2-40B4-BE49-F238E27FC236}">
                  <a16:creationId xmlns:a16="http://schemas.microsoft.com/office/drawing/2014/main" id="{9B2CD721-D63C-2444-95C1-FFC8EF080CCE}"/>
                </a:ext>
              </a:extLst>
            </p:cNvPr>
            <p:cNvSpPr/>
            <p:nvPr/>
          </p:nvSpPr>
          <p:spPr>
            <a:xfrm>
              <a:off x="1280785" y="3189433"/>
              <a:ext cx="1021824" cy="461765"/>
            </a:xfrm>
            <a:prstGeom prst="rect">
              <a:avLst/>
            </a:prstGeom>
          </p:spPr>
          <p:style>
            <a:lnRef idx="2">
              <a:schemeClr val="dk1"/>
            </a:lnRef>
            <a:fillRef idx="1">
              <a:schemeClr val="lt1"/>
            </a:fillRef>
            <a:effectRef idx="0">
              <a:schemeClr val="dk1"/>
            </a:effectRef>
            <a:fontRef idx="minor">
              <a:schemeClr val="dk1"/>
            </a:fontRef>
          </p:style>
          <p:txBody>
            <a:bodyPr wrap="none" rtlCol="0" anchor="ctr"/>
            <a:lstStyle/>
            <a:p>
              <a:pPr algn="ctr"/>
              <a:r>
                <a:rPr lang="en-US" altLang="zh-CN" sz="1600" dirty="0"/>
                <a:t>Data</a:t>
              </a:r>
              <a:endParaRPr lang="en-CN" sz="1600" dirty="0"/>
            </a:p>
          </p:txBody>
        </p:sp>
        <p:sp>
          <p:nvSpPr>
            <p:cNvPr id="8" name="Rectangle 7">
              <a:extLst>
                <a:ext uri="{FF2B5EF4-FFF2-40B4-BE49-F238E27FC236}">
                  <a16:creationId xmlns:a16="http://schemas.microsoft.com/office/drawing/2014/main" id="{BD5F2C6E-9D82-2146-B475-64F56AE3DA4B}"/>
                </a:ext>
              </a:extLst>
            </p:cNvPr>
            <p:cNvSpPr/>
            <p:nvPr/>
          </p:nvSpPr>
          <p:spPr>
            <a:xfrm>
              <a:off x="2560058" y="3189432"/>
              <a:ext cx="1021824" cy="4617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CN" sz="1600" dirty="0"/>
                <a:t>J</a:t>
              </a:r>
              <a:r>
                <a:rPr lang="en-US" altLang="zh-CN" sz="1600" baseline="-25000" dirty="0"/>
                <a:t>metadata</a:t>
              </a:r>
              <a:endParaRPr lang="en-CN" sz="1600" baseline="-25000" dirty="0"/>
            </a:p>
          </p:txBody>
        </p:sp>
        <p:sp>
          <p:nvSpPr>
            <p:cNvPr id="9" name="Rectangle 8">
              <a:extLst>
                <a:ext uri="{FF2B5EF4-FFF2-40B4-BE49-F238E27FC236}">
                  <a16:creationId xmlns:a16="http://schemas.microsoft.com/office/drawing/2014/main" id="{D202FF60-6D46-2C47-836B-0DC037C5515D}"/>
                </a:ext>
              </a:extLst>
            </p:cNvPr>
            <p:cNvSpPr/>
            <p:nvPr/>
          </p:nvSpPr>
          <p:spPr>
            <a:xfrm>
              <a:off x="3863212" y="3189432"/>
              <a:ext cx="1021824" cy="4617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CN" sz="1600" dirty="0"/>
                <a:t>J</a:t>
              </a:r>
              <a:r>
                <a:rPr lang="en-US" altLang="zh-CN" sz="1600" baseline="-25000" dirty="0"/>
                <a:t>commit</a:t>
              </a:r>
              <a:endParaRPr lang="en-CN" sz="1600" baseline="-25000" dirty="0"/>
            </a:p>
          </p:txBody>
        </p:sp>
        <p:sp>
          <p:nvSpPr>
            <p:cNvPr id="10" name="Rectangle 9">
              <a:extLst>
                <a:ext uri="{FF2B5EF4-FFF2-40B4-BE49-F238E27FC236}">
                  <a16:creationId xmlns:a16="http://schemas.microsoft.com/office/drawing/2014/main" id="{3CB0A68A-EB74-CC47-B7CD-FCCE4E2521F0}"/>
                </a:ext>
              </a:extLst>
            </p:cNvPr>
            <p:cNvSpPr/>
            <p:nvPr/>
          </p:nvSpPr>
          <p:spPr>
            <a:xfrm>
              <a:off x="5167587" y="3189432"/>
              <a:ext cx="1021824" cy="461765"/>
            </a:xfrm>
            <a:prstGeom prst="rect">
              <a:avLst/>
            </a:prstGeom>
          </p:spPr>
          <p:style>
            <a:lnRef idx="2">
              <a:schemeClr val="dk1"/>
            </a:lnRef>
            <a:fillRef idx="1">
              <a:schemeClr val="lt1"/>
            </a:fillRef>
            <a:effectRef idx="0">
              <a:schemeClr val="dk1"/>
            </a:effectRef>
            <a:fontRef idx="minor">
              <a:schemeClr val="dk1"/>
            </a:fontRef>
          </p:style>
          <p:txBody>
            <a:bodyPr wrap="none" rtlCol="0" anchor="ctr"/>
            <a:lstStyle/>
            <a:p>
              <a:pPr algn="ctr"/>
              <a:r>
                <a:rPr lang="en-US" altLang="zh-CN" sz="1600" dirty="0"/>
                <a:t>Metadata</a:t>
              </a:r>
              <a:endParaRPr lang="en-CN" sz="1600" baseline="-25000" dirty="0"/>
            </a:p>
          </p:txBody>
        </p:sp>
      </p:grpSp>
      <p:grpSp>
        <p:nvGrpSpPr>
          <p:cNvPr id="38" name="Group 37">
            <a:extLst>
              <a:ext uri="{FF2B5EF4-FFF2-40B4-BE49-F238E27FC236}">
                <a16:creationId xmlns:a16="http://schemas.microsoft.com/office/drawing/2014/main" id="{EF6FEA65-369C-064B-8178-A88B4FF3F201}"/>
              </a:ext>
            </a:extLst>
          </p:cNvPr>
          <p:cNvGrpSpPr/>
          <p:nvPr/>
        </p:nvGrpSpPr>
        <p:grpSpPr>
          <a:xfrm>
            <a:off x="683568" y="1759303"/>
            <a:ext cx="8064896" cy="471077"/>
            <a:chOff x="899592" y="1930456"/>
            <a:chExt cx="8064896" cy="471077"/>
          </a:xfrm>
        </p:grpSpPr>
        <p:cxnSp>
          <p:nvCxnSpPr>
            <p:cNvPr id="20" name="Straight Arrow Connector 19">
              <a:extLst>
                <a:ext uri="{FF2B5EF4-FFF2-40B4-BE49-F238E27FC236}">
                  <a16:creationId xmlns:a16="http://schemas.microsoft.com/office/drawing/2014/main" id="{18211928-567A-D64D-9FA0-3CC0358B4721}"/>
                </a:ext>
              </a:extLst>
            </p:cNvPr>
            <p:cNvCxnSpPr>
              <a:cxnSpLocks/>
            </p:cNvCxnSpPr>
            <p:nvPr/>
          </p:nvCxnSpPr>
          <p:spPr>
            <a:xfrm>
              <a:off x="899592" y="2172339"/>
              <a:ext cx="8064896"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2" name="Rectangle 11">
              <a:extLst>
                <a:ext uri="{FF2B5EF4-FFF2-40B4-BE49-F238E27FC236}">
                  <a16:creationId xmlns:a16="http://schemas.microsoft.com/office/drawing/2014/main" id="{B3313BE0-658B-7540-8033-B57B3CC5BB91}"/>
                </a:ext>
              </a:extLst>
            </p:cNvPr>
            <p:cNvSpPr/>
            <p:nvPr/>
          </p:nvSpPr>
          <p:spPr>
            <a:xfrm>
              <a:off x="1260445" y="1930456"/>
              <a:ext cx="1021824" cy="461765"/>
            </a:xfrm>
            <a:prstGeom prst="rect">
              <a:avLst/>
            </a:prstGeom>
            <a:ln>
              <a:prstDash val="dash"/>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600" dirty="0">
                  <a:solidFill>
                    <a:schemeClr val="dk1"/>
                  </a:solidFill>
                </a:rPr>
                <a:t>Data</a:t>
              </a:r>
              <a:endParaRPr lang="en-CN" sz="1600" dirty="0">
                <a:solidFill>
                  <a:schemeClr val="dk1"/>
                </a:solidFill>
              </a:endParaRPr>
            </a:p>
          </p:txBody>
        </p:sp>
        <p:sp>
          <p:nvSpPr>
            <p:cNvPr id="13" name="Rectangle 12">
              <a:extLst>
                <a:ext uri="{FF2B5EF4-FFF2-40B4-BE49-F238E27FC236}">
                  <a16:creationId xmlns:a16="http://schemas.microsoft.com/office/drawing/2014/main" id="{215D67BA-3088-6648-BD93-11EB0CAC1DD7}"/>
                </a:ext>
              </a:extLst>
            </p:cNvPr>
            <p:cNvSpPr/>
            <p:nvPr/>
          </p:nvSpPr>
          <p:spPr>
            <a:xfrm>
              <a:off x="2560058" y="1939768"/>
              <a:ext cx="1021824" cy="4617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CN" sz="1600" dirty="0"/>
                <a:t>J</a:t>
              </a:r>
              <a:r>
                <a:rPr lang="en-US" altLang="zh-CN" sz="1600" baseline="-25000" dirty="0"/>
                <a:t>metadata</a:t>
              </a:r>
              <a:endParaRPr lang="en-CN" sz="1600" baseline="-25000" dirty="0"/>
            </a:p>
          </p:txBody>
        </p:sp>
        <p:sp>
          <p:nvSpPr>
            <p:cNvPr id="14" name="Rectangle 13">
              <a:extLst>
                <a:ext uri="{FF2B5EF4-FFF2-40B4-BE49-F238E27FC236}">
                  <a16:creationId xmlns:a16="http://schemas.microsoft.com/office/drawing/2014/main" id="{2E6BDD53-51D3-A442-BC44-253BD778C71B}"/>
                </a:ext>
              </a:extLst>
            </p:cNvPr>
            <p:cNvSpPr/>
            <p:nvPr/>
          </p:nvSpPr>
          <p:spPr>
            <a:xfrm>
              <a:off x="3856971" y="1939767"/>
              <a:ext cx="1021824" cy="4617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CN" sz="1600" dirty="0"/>
                <a:t>J</a:t>
              </a:r>
              <a:r>
                <a:rPr lang="en-US" altLang="zh-CN" sz="1600" baseline="-25000" dirty="0"/>
                <a:t>commit</a:t>
              </a:r>
              <a:endParaRPr lang="en-CN" sz="1600" baseline="-25000" dirty="0"/>
            </a:p>
          </p:txBody>
        </p:sp>
        <p:sp>
          <p:nvSpPr>
            <p:cNvPr id="15" name="Rectangle 14">
              <a:extLst>
                <a:ext uri="{FF2B5EF4-FFF2-40B4-BE49-F238E27FC236}">
                  <a16:creationId xmlns:a16="http://schemas.microsoft.com/office/drawing/2014/main" id="{713CEE3A-93EC-FC4E-A566-24F3B81AD7EE}"/>
                </a:ext>
              </a:extLst>
            </p:cNvPr>
            <p:cNvSpPr/>
            <p:nvPr/>
          </p:nvSpPr>
          <p:spPr>
            <a:xfrm>
              <a:off x="6450797" y="1936233"/>
              <a:ext cx="1021824" cy="461765"/>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600" dirty="0"/>
                <a:t>Metadata</a:t>
              </a:r>
              <a:endParaRPr lang="en-CN" sz="1600" dirty="0"/>
            </a:p>
          </p:txBody>
        </p:sp>
        <p:sp>
          <p:nvSpPr>
            <p:cNvPr id="18" name="Rectangle 17">
              <a:extLst>
                <a:ext uri="{FF2B5EF4-FFF2-40B4-BE49-F238E27FC236}">
                  <a16:creationId xmlns:a16="http://schemas.microsoft.com/office/drawing/2014/main" id="{141CA90D-C400-1A44-A5CD-04FFD4F79A14}"/>
                </a:ext>
              </a:extLst>
            </p:cNvPr>
            <p:cNvSpPr/>
            <p:nvPr/>
          </p:nvSpPr>
          <p:spPr>
            <a:xfrm>
              <a:off x="5153884" y="1939766"/>
              <a:ext cx="1021824" cy="461765"/>
            </a:xfrm>
            <a:prstGeom prst="rect">
              <a:avLst/>
            </a:prstGeom>
            <a:ln>
              <a:prstDash val="dash"/>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600" dirty="0">
                  <a:solidFill>
                    <a:schemeClr val="dk1"/>
                  </a:solidFill>
                </a:rPr>
                <a:t>Data</a:t>
              </a:r>
              <a:endParaRPr lang="en-CN" sz="1600" dirty="0">
                <a:solidFill>
                  <a:schemeClr val="dk1"/>
                </a:solidFill>
              </a:endParaRPr>
            </a:p>
          </p:txBody>
        </p:sp>
        <p:sp>
          <p:nvSpPr>
            <p:cNvPr id="19" name="Rectangle 18">
              <a:extLst>
                <a:ext uri="{FF2B5EF4-FFF2-40B4-BE49-F238E27FC236}">
                  <a16:creationId xmlns:a16="http://schemas.microsoft.com/office/drawing/2014/main" id="{C32AC8E5-D376-314C-B990-5BC8ADB2F6D6}"/>
                </a:ext>
              </a:extLst>
            </p:cNvPr>
            <p:cNvSpPr/>
            <p:nvPr/>
          </p:nvSpPr>
          <p:spPr>
            <a:xfrm>
              <a:off x="7747710" y="1932993"/>
              <a:ext cx="1021824" cy="461765"/>
            </a:xfrm>
            <a:prstGeom prst="rect">
              <a:avLst/>
            </a:prstGeom>
            <a:ln>
              <a:prstDash val="dash"/>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600" dirty="0">
                  <a:solidFill>
                    <a:schemeClr val="dk1"/>
                  </a:solidFill>
                </a:rPr>
                <a:t>Data</a:t>
              </a:r>
              <a:endParaRPr lang="en-CN" sz="1600" dirty="0">
                <a:solidFill>
                  <a:schemeClr val="dk1"/>
                </a:solidFill>
              </a:endParaRPr>
            </a:p>
          </p:txBody>
        </p:sp>
      </p:grpSp>
      <p:grpSp>
        <p:nvGrpSpPr>
          <p:cNvPr id="36" name="Group 35">
            <a:extLst>
              <a:ext uri="{FF2B5EF4-FFF2-40B4-BE49-F238E27FC236}">
                <a16:creationId xmlns:a16="http://schemas.microsoft.com/office/drawing/2014/main" id="{9F20BACE-A23C-BC4F-95BF-04C4F6481571}"/>
              </a:ext>
            </a:extLst>
          </p:cNvPr>
          <p:cNvGrpSpPr/>
          <p:nvPr/>
        </p:nvGrpSpPr>
        <p:grpSpPr>
          <a:xfrm>
            <a:off x="683568" y="4258631"/>
            <a:ext cx="7200800" cy="471077"/>
            <a:chOff x="899592" y="4429784"/>
            <a:chExt cx="7200800" cy="471077"/>
          </a:xfrm>
        </p:grpSpPr>
        <p:cxnSp>
          <p:nvCxnSpPr>
            <p:cNvPr id="22" name="Straight Arrow Connector 21">
              <a:extLst>
                <a:ext uri="{FF2B5EF4-FFF2-40B4-BE49-F238E27FC236}">
                  <a16:creationId xmlns:a16="http://schemas.microsoft.com/office/drawing/2014/main" id="{AFEB0DE4-1603-DF48-B4DC-5D59E8E1260C}"/>
                </a:ext>
              </a:extLst>
            </p:cNvPr>
            <p:cNvCxnSpPr>
              <a:cxnSpLocks/>
            </p:cNvCxnSpPr>
            <p:nvPr/>
          </p:nvCxnSpPr>
          <p:spPr>
            <a:xfrm>
              <a:off x="899592" y="4671667"/>
              <a:ext cx="720080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3" name="Rectangle 22">
              <a:extLst>
                <a:ext uri="{FF2B5EF4-FFF2-40B4-BE49-F238E27FC236}">
                  <a16:creationId xmlns:a16="http://schemas.microsoft.com/office/drawing/2014/main" id="{84624A15-A515-BC4B-A894-DB2C79D112C2}"/>
                </a:ext>
              </a:extLst>
            </p:cNvPr>
            <p:cNvSpPr/>
            <p:nvPr/>
          </p:nvSpPr>
          <p:spPr>
            <a:xfrm>
              <a:off x="1260445" y="4429784"/>
              <a:ext cx="1021824" cy="4617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600" dirty="0" err="1">
                  <a:solidFill>
                    <a:schemeClr val="lt1"/>
                  </a:solidFill>
                </a:rPr>
                <a:t>J</a:t>
              </a:r>
              <a:r>
                <a:rPr lang="en-US" altLang="zh-CN" sz="1600" baseline="-25000" dirty="0" err="1">
                  <a:solidFill>
                    <a:schemeClr val="lt1"/>
                  </a:solidFill>
                </a:rPr>
                <a:t>data</a:t>
              </a:r>
              <a:endParaRPr lang="en-CN" sz="1600" baseline="-25000" dirty="0">
                <a:solidFill>
                  <a:schemeClr val="lt1"/>
                </a:solidFill>
              </a:endParaRPr>
            </a:p>
          </p:txBody>
        </p:sp>
        <p:sp>
          <p:nvSpPr>
            <p:cNvPr id="24" name="Rectangle 23">
              <a:extLst>
                <a:ext uri="{FF2B5EF4-FFF2-40B4-BE49-F238E27FC236}">
                  <a16:creationId xmlns:a16="http://schemas.microsoft.com/office/drawing/2014/main" id="{BB805EA7-91D3-1D4D-8710-9E25622F791E}"/>
                </a:ext>
              </a:extLst>
            </p:cNvPr>
            <p:cNvSpPr/>
            <p:nvPr/>
          </p:nvSpPr>
          <p:spPr>
            <a:xfrm>
              <a:off x="2560058" y="4439096"/>
              <a:ext cx="1021824" cy="4617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CN" sz="1600" dirty="0"/>
                <a:t>J</a:t>
              </a:r>
              <a:r>
                <a:rPr lang="en-US" altLang="zh-CN" sz="1600" baseline="-25000" dirty="0"/>
                <a:t>metadata</a:t>
              </a:r>
              <a:endParaRPr lang="en-CN" sz="1600" baseline="-25000" dirty="0"/>
            </a:p>
          </p:txBody>
        </p:sp>
        <p:sp>
          <p:nvSpPr>
            <p:cNvPr id="25" name="Rectangle 24">
              <a:extLst>
                <a:ext uri="{FF2B5EF4-FFF2-40B4-BE49-F238E27FC236}">
                  <a16:creationId xmlns:a16="http://schemas.microsoft.com/office/drawing/2014/main" id="{A4DAFF4A-92DF-904A-B789-71DF58365289}"/>
                </a:ext>
              </a:extLst>
            </p:cNvPr>
            <p:cNvSpPr/>
            <p:nvPr/>
          </p:nvSpPr>
          <p:spPr>
            <a:xfrm>
              <a:off x="3856971" y="4439095"/>
              <a:ext cx="1021824" cy="4617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CN" sz="1600" dirty="0"/>
                <a:t>J</a:t>
              </a:r>
              <a:r>
                <a:rPr lang="en-US" altLang="zh-CN" sz="1600" baseline="-25000" dirty="0"/>
                <a:t>commit</a:t>
              </a:r>
              <a:endParaRPr lang="en-CN" sz="1600" baseline="-25000" dirty="0"/>
            </a:p>
          </p:txBody>
        </p:sp>
        <p:sp>
          <p:nvSpPr>
            <p:cNvPr id="26" name="Rectangle 25">
              <a:extLst>
                <a:ext uri="{FF2B5EF4-FFF2-40B4-BE49-F238E27FC236}">
                  <a16:creationId xmlns:a16="http://schemas.microsoft.com/office/drawing/2014/main" id="{61DBCA01-77BF-F64C-BD01-C7F83BB55B39}"/>
                </a:ext>
              </a:extLst>
            </p:cNvPr>
            <p:cNvSpPr/>
            <p:nvPr/>
          </p:nvSpPr>
          <p:spPr>
            <a:xfrm>
              <a:off x="6450797" y="4435561"/>
              <a:ext cx="1021824" cy="461765"/>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600" dirty="0"/>
                <a:t>Metadata</a:t>
              </a:r>
              <a:endParaRPr lang="en-CN" sz="1600" dirty="0"/>
            </a:p>
          </p:txBody>
        </p:sp>
        <p:sp>
          <p:nvSpPr>
            <p:cNvPr id="27" name="Rectangle 26">
              <a:extLst>
                <a:ext uri="{FF2B5EF4-FFF2-40B4-BE49-F238E27FC236}">
                  <a16:creationId xmlns:a16="http://schemas.microsoft.com/office/drawing/2014/main" id="{1F5EC54F-A154-7F4F-92C5-F2F77DD1F05C}"/>
                </a:ext>
              </a:extLst>
            </p:cNvPr>
            <p:cNvSpPr/>
            <p:nvPr/>
          </p:nvSpPr>
          <p:spPr>
            <a:xfrm>
              <a:off x="5153884" y="4439094"/>
              <a:ext cx="1021824" cy="461765"/>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600" dirty="0"/>
                <a:t>Data</a:t>
              </a:r>
              <a:endParaRPr lang="en-CN" sz="1600" dirty="0"/>
            </a:p>
          </p:txBody>
        </p:sp>
      </p:grpSp>
      <p:sp>
        <p:nvSpPr>
          <p:cNvPr id="31" name="TextBox 30">
            <a:extLst>
              <a:ext uri="{FF2B5EF4-FFF2-40B4-BE49-F238E27FC236}">
                <a16:creationId xmlns:a16="http://schemas.microsoft.com/office/drawing/2014/main" id="{AB8CA5C4-6522-D549-A49D-674B52A1C091}"/>
              </a:ext>
            </a:extLst>
          </p:cNvPr>
          <p:cNvSpPr txBox="1"/>
          <p:nvPr/>
        </p:nvSpPr>
        <p:spPr>
          <a:xfrm>
            <a:off x="539552" y="3759284"/>
            <a:ext cx="6211957" cy="369332"/>
          </a:xfrm>
          <a:prstGeom prst="rect">
            <a:avLst/>
          </a:prstGeom>
          <a:noFill/>
        </p:spPr>
        <p:txBody>
          <a:bodyPr wrap="none" rtlCol="0">
            <a:spAutoFit/>
          </a:bodyPr>
          <a:lstStyle/>
          <a:p>
            <a:r>
              <a:rPr lang="en-CN" b="1">
                <a:solidFill>
                  <a:schemeClr val="accent1"/>
                </a:solidFill>
              </a:rPr>
              <a:t>Journal</a:t>
            </a:r>
            <a:r>
              <a:rPr lang="zh-CN" altLang="en-US" b="1" dirty="0">
                <a:solidFill>
                  <a:schemeClr val="accent1"/>
                </a:solidFill>
              </a:rPr>
              <a:t> </a:t>
            </a:r>
            <a:r>
              <a:rPr lang="en-US" altLang="zh-CN" b="1" dirty="0">
                <a:solidFill>
                  <a:schemeClr val="accent1"/>
                </a:solidFill>
              </a:rPr>
              <a:t>Mode</a:t>
            </a:r>
            <a:r>
              <a:rPr lang="zh-CN" altLang="en-US" b="1" dirty="0">
                <a:solidFill>
                  <a:schemeClr val="accent1"/>
                </a:solidFill>
              </a:rPr>
              <a:t> </a:t>
            </a:r>
            <a:r>
              <a:rPr lang="en-US" altLang="zh-CN" b="1" dirty="0">
                <a:solidFill>
                  <a:schemeClr val="accent1"/>
                </a:solidFill>
              </a:rPr>
              <a:t>(Full</a:t>
            </a:r>
            <a:r>
              <a:rPr lang="zh-CN" altLang="en-US" b="1" dirty="0">
                <a:solidFill>
                  <a:schemeClr val="accent1"/>
                </a:solidFill>
              </a:rPr>
              <a:t> </a:t>
            </a:r>
            <a:r>
              <a:rPr lang="en-US" altLang="zh-CN" b="1" dirty="0">
                <a:solidFill>
                  <a:schemeClr val="accent1"/>
                </a:solidFill>
              </a:rPr>
              <a:t>Mode)</a:t>
            </a:r>
            <a:r>
              <a:rPr lang="zh-CN" altLang="en-US" dirty="0"/>
              <a:t>：元数据和数据均使用日志记录</a:t>
            </a:r>
            <a:endParaRPr lang="en-US" altLang="zh-CN" dirty="0"/>
          </a:p>
        </p:txBody>
      </p:sp>
      <p:sp>
        <p:nvSpPr>
          <p:cNvPr id="32" name="TextBox 31">
            <a:extLst>
              <a:ext uri="{FF2B5EF4-FFF2-40B4-BE49-F238E27FC236}">
                <a16:creationId xmlns:a16="http://schemas.microsoft.com/office/drawing/2014/main" id="{6754DF04-E47B-684A-B979-AE4A3FA89292}"/>
              </a:ext>
            </a:extLst>
          </p:cNvPr>
          <p:cNvSpPr txBox="1"/>
          <p:nvPr/>
        </p:nvSpPr>
        <p:spPr>
          <a:xfrm>
            <a:off x="539552" y="2468728"/>
            <a:ext cx="7192995" cy="369332"/>
          </a:xfrm>
          <a:prstGeom prst="rect">
            <a:avLst/>
          </a:prstGeom>
          <a:noFill/>
        </p:spPr>
        <p:txBody>
          <a:bodyPr wrap="none" rtlCol="0">
            <a:spAutoFit/>
          </a:bodyPr>
          <a:lstStyle/>
          <a:p>
            <a:r>
              <a:rPr lang="en-US" altLang="zh-CN" b="1" dirty="0">
                <a:solidFill>
                  <a:schemeClr val="accent1"/>
                </a:solidFill>
              </a:rPr>
              <a:t>Or</a:t>
            </a:r>
            <a:r>
              <a:rPr lang="en-CN" b="1">
                <a:solidFill>
                  <a:schemeClr val="accent1"/>
                </a:solidFill>
              </a:rPr>
              <a:t>dered</a:t>
            </a:r>
            <a:r>
              <a:rPr lang="zh-CN" altLang="en-US" b="1" dirty="0">
                <a:solidFill>
                  <a:schemeClr val="accent1"/>
                </a:solidFill>
              </a:rPr>
              <a:t> </a:t>
            </a:r>
            <a:r>
              <a:rPr lang="en-US" altLang="zh-CN" b="1" dirty="0">
                <a:solidFill>
                  <a:schemeClr val="accent1"/>
                </a:solidFill>
              </a:rPr>
              <a:t>Mode</a:t>
            </a:r>
            <a:r>
              <a:rPr lang="zh-CN" altLang="en-US" dirty="0"/>
              <a:t>：日志只记录元数据</a:t>
            </a:r>
            <a:r>
              <a:rPr lang="en-US" altLang="zh-CN" dirty="0"/>
              <a:t>+</a:t>
            </a:r>
            <a:r>
              <a:rPr lang="zh-CN" altLang="en-US" dirty="0"/>
              <a:t>数据块在元数据日志前写入磁盘</a:t>
            </a:r>
            <a:endParaRPr lang="en-US" altLang="zh-CN" dirty="0"/>
          </a:p>
        </p:txBody>
      </p:sp>
      <p:sp>
        <p:nvSpPr>
          <p:cNvPr id="33" name="TextBox 32">
            <a:extLst>
              <a:ext uri="{FF2B5EF4-FFF2-40B4-BE49-F238E27FC236}">
                <a16:creationId xmlns:a16="http://schemas.microsoft.com/office/drawing/2014/main" id="{156360C7-7B6A-F541-8DFA-3EF23856774F}"/>
              </a:ext>
            </a:extLst>
          </p:cNvPr>
          <p:cNvSpPr txBox="1"/>
          <p:nvPr/>
        </p:nvSpPr>
        <p:spPr>
          <a:xfrm>
            <a:off x="539552" y="1237905"/>
            <a:ext cx="4027706" cy="369332"/>
          </a:xfrm>
          <a:prstGeom prst="rect">
            <a:avLst/>
          </a:prstGeom>
          <a:noFill/>
        </p:spPr>
        <p:txBody>
          <a:bodyPr wrap="none" rtlCol="0">
            <a:spAutoFit/>
          </a:bodyPr>
          <a:lstStyle/>
          <a:p>
            <a:r>
              <a:rPr lang="en-CN" b="1">
                <a:solidFill>
                  <a:schemeClr val="accent1"/>
                </a:solidFill>
              </a:rPr>
              <a:t>Writeback</a:t>
            </a:r>
            <a:r>
              <a:rPr lang="zh-CN" altLang="en-US" b="1" dirty="0">
                <a:solidFill>
                  <a:schemeClr val="accent1"/>
                </a:solidFill>
              </a:rPr>
              <a:t> </a:t>
            </a:r>
            <a:r>
              <a:rPr lang="en-US" altLang="zh-CN" b="1" dirty="0">
                <a:solidFill>
                  <a:schemeClr val="accent1"/>
                </a:solidFill>
              </a:rPr>
              <a:t>Mode</a:t>
            </a:r>
            <a:r>
              <a:rPr lang="zh-CN" altLang="en-US" dirty="0"/>
              <a:t>：日志只记录元数据</a:t>
            </a:r>
            <a:endParaRPr lang="en-US" altLang="zh-CN" dirty="0"/>
          </a:p>
        </p:txBody>
      </p:sp>
      <p:sp>
        <p:nvSpPr>
          <p:cNvPr id="34" name="TextBox 33">
            <a:extLst>
              <a:ext uri="{FF2B5EF4-FFF2-40B4-BE49-F238E27FC236}">
                <a16:creationId xmlns:a16="http://schemas.microsoft.com/office/drawing/2014/main" id="{F36C12B5-A4A2-5E43-84D8-3A9562F4051F}"/>
              </a:ext>
            </a:extLst>
          </p:cNvPr>
          <p:cNvSpPr txBox="1"/>
          <p:nvPr/>
        </p:nvSpPr>
        <p:spPr>
          <a:xfrm>
            <a:off x="2267744" y="4873724"/>
            <a:ext cx="4963346" cy="400110"/>
          </a:xfrm>
          <a:prstGeom prst="rect">
            <a:avLst/>
          </a:prstGeom>
          <a:noFill/>
        </p:spPr>
        <p:txBody>
          <a:bodyPr wrap="square" rtlCol="0">
            <a:spAutoFit/>
          </a:bodyPr>
          <a:lstStyle/>
          <a:p>
            <a:r>
              <a:rPr lang="zh-CN" altLang="en-US" sz="2000" dirty="0">
                <a:solidFill>
                  <a:srgbClr val="C00000"/>
                </a:solidFill>
              </a:rPr>
              <a:t>思考一下：三种模式各自有何问题和优势？</a:t>
            </a:r>
            <a:endParaRPr lang="en-US" altLang="zh-CN" sz="2000" dirty="0">
              <a:solidFill>
                <a:srgbClr val="C00000"/>
              </a:solidFill>
            </a:endParaRPr>
          </a:p>
        </p:txBody>
      </p:sp>
    </p:spTree>
    <p:extLst>
      <p:ext uri="{BB962C8B-B14F-4D97-AF65-F5344CB8AC3E}">
        <p14:creationId xmlns:p14="http://schemas.microsoft.com/office/powerpoint/2010/main" val="15861850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1AE1A-ECA7-4240-9418-E65A408D66A4}"/>
              </a:ext>
            </a:extLst>
          </p:cNvPr>
          <p:cNvSpPr>
            <a:spLocks noGrp="1"/>
          </p:cNvSpPr>
          <p:nvPr>
            <p:ph type="title"/>
          </p:nvPr>
        </p:nvSpPr>
        <p:spPr/>
        <p:txBody>
          <a:bodyPr/>
          <a:lstStyle/>
          <a:p>
            <a:r>
              <a:rPr lang="en-CN" altLang="zh-CN"/>
              <a:t>Ext4</a:t>
            </a:r>
            <a:r>
              <a:rPr lang="zh-CN" altLang="en-US" dirty="0"/>
              <a:t>的三种日志模式</a:t>
            </a:r>
            <a:endParaRPr lang="en-CN" dirty="0"/>
          </a:p>
        </p:txBody>
      </p:sp>
      <p:sp>
        <p:nvSpPr>
          <p:cNvPr id="4" name="Slide Number Placeholder 3">
            <a:extLst>
              <a:ext uri="{FF2B5EF4-FFF2-40B4-BE49-F238E27FC236}">
                <a16:creationId xmlns:a16="http://schemas.microsoft.com/office/drawing/2014/main" id="{F1B9628A-DB46-BF41-BA74-154AFCDC1114}"/>
              </a:ext>
            </a:extLst>
          </p:cNvPr>
          <p:cNvSpPr>
            <a:spLocks noGrp="1"/>
          </p:cNvSpPr>
          <p:nvPr>
            <p:ph type="sldNum" sz="quarter" idx="12"/>
          </p:nvPr>
        </p:nvSpPr>
        <p:spPr/>
        <p:txBody>
          <a:bodyPr/>
          <a:lstStyle/>
          <a:p>
            <a:fld id="{ADE361C3-C043-4A6E-BDCE-8DA1E7D90A3B}" type="slidenum">
              <a:rPr lang="zh-CN" altLang="en-US" smtClean="0"/>
              <a:t>37</a:t>
            </a:fld>
            <a:endParaRPr lang="zh-CN" altLang="en-US"/>
          </a:p>
        </p:txBody>
      </p:sp>
      <p:sp>
        <p:nvSpPr>
          <p:cNvPr id="5" name="Footer Placeholder 4">
            <a:extLst>
              <a:ext uri="{FF2B5EF4-FFF2-40B4-BE49-F238E27FC236}">
                <a16:creationId xmlns:a16="http://schemas.microsoft.com/office/drawing/2014/main" id="{409F728C-9F83-1343-87D2-E7BA8C0F316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grpSp>
        <p:nvGrpSpPr>
          <p:cNvPr id="37" name="Group 36">
            <a:extLst>
              <a:ext uri="{FF2B5EF4-FFF2-40B4-BE49-F238E27FC236}">
                <a16:creationId xmlns:a16="http://schemas.microsoft.com/office/drawing/2014/main" id="{A27E2ABF-6847-4547-B7C8-CB5FFF8B804F}"/>
              </a:ext>
            </a:extLst>
          </p:cNvPr>
          <p:cNvGrpSpPr/>
          <p:nvPr/>
        </p:nvGrpSpPr>
        <p:grpSpPr>
          <a:xfrm>
            <a:off x="683568" y="3018279"/>
            <a:ext cx="5832648" cy="461766"/>
            <a:chOff x="899592" y="3189432"/>
            <a:chExt cx="5832648" cy="461766"/>
          </a:xfrm>
        </p:grpSpPr>
        <p:cxnSp>
          <p:nvCxnSpPr>
            <p:cNvPr id="16" name="Straight Arrow Connector 15">
              <a:extLst>
                <a:ext uri="{FF2B5EF4-FFF2-40B4-BE49-F238E27FC236}">
                  <a16:creationId xmlns:a16="http://schemas.microsoft.com/office/drawing/2014/main" id="{D5DEC172-8D40-0648-8C86-FEF325C7505C}"/>
                </a:ext>
              </a:extLst>
            </p:cNvPr>
            <p:cNvCxnSpPr>
              <a:cxnSpLocks/>
            </p:cNvCxnSpPr>
            <p:nvPr/>
          </p:nvCxnSpPr>
          <p:spPr>
            <a:xfrm>
              <a:off x="899592" y="3433564"/>
              <a:ext cx="5832648"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7" name="Rectangle 6">
              <a:extLst>
                <a:ext uri="{FF2B5EF4-FFF2-40B4-BE49-F238E27FC236}">
                  <a16:creationId xmlns:a16="http://schemas.microsoft.com/office/drawing/2014/main" id="{9B2CD721-D63C-2444-95C1-FFC8EF080CCE}"/>
                </a:ext>
              </a:extLst>
            </p:cNvPr>
            <p:cNvSpPr/>
            <p:nvPr/>
          </p:nvSpPr>
          <p:spPr>
            <a:xfrm>
              <a:off x="1280785" y="3189433"/>
              <a:ext cx="1021824" cy="461765"/>
            </a:xfrm>
            <a:prstGeom prst="rect">
              <a:avLst/>
            </a:prstGeom>
          </p:spPr>
          <p:style>
            <a:lnRef idx="2">
              <a:schemeClr val="dk1"/>
            </a:lnRef>
            <a:fillRef idx="1">
              <a:schemeClr val="lt1"/>
            </a:fillRef>
            <a:effectRef idx="0">
              <a:schemeClr val="dk1"/>
            </a:effectRef>
            <a:fontRef idx="minor">
              <a:schemeClr val="dk1"/>
            </a:fontRef>
          </p:style>
          <p:txBody>
            <a:bodyPr wrap="none" rtlCol="0" anchor="ctr"/>
            <a:lstStyle/>
            <a:p>
              <a:pPr algn="ctr"/>
              <a:r>
                <a:rPr lang="en-US" altLang="zh-CN" sz="1600" dirty="0"/>
                <a:t>Data</a:t>
              </a:r>
              <a:endParaRPr lang="en-CN" sz="1600" dirty="0"/>
            </a:p>
          </p:txBody>
        </p:sp>
        <p:sp>
          <p:nvSpPr>
            <p:cNvPr id="8" name="Rectangle 7">
              <a:extLst>
                <a:ext uri="{FF2B5EF4-FFF2-40B4-BE49-F238E27FC236}">
                  <a16:creationId xmlns:a16="http://schemas.microsoft.com/office/drawing/2014/main" id="{BD5F2C6E-9D82-2146-B475-64F56AE3DA4B}"/>
                </a:ext>
              </a:extLst>
            </p:cNvPr>
            <p:cNvSpPr/>
            <p:nvPr/>
          </p:nvSpPr>
          <p:spPr>
            <a:xfrm>
              <a:off x="2560058" y="3189432"/>
              <a:ext cx="1021824" cy="4617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CN" sz="1600" dirty="0"/>
                <a:t>J</a:t>
              </a:r>
              <a:r>
                <a:rPr lang="en-US" altLang="zh-CN" sz="1600" baseline="-25000" dirty="0"/>
                <a:t>metadata</a:t>
              </a:r>
              <a:endParaRPr lang="en-CN" sz="1600" baseline="-25000" dirty="0"/>
            </a:p>
          </p:txBody>
        </p:sp>
        <p:sp>
          <p:nvSpPr>
            <p:cNvPr id="9" name="Rectangle 8">
              <a:extLst>
                <a:ext uri="{FF2B5EF4-FFF2-40B4-BE49-F238E27FC236}">
                  <a16:creationId xmlns:a16="http://schemas.microsoft.com/office/drawing/2014/main" id="{D202FF60-6D46-2C47-836B-0DC037C5515D}"/>
                </a:ext>
              </a:extLst>
            </p:cNvPr>
            <p:cNvSpPr/>
            <p:nvPr/>
          </p:nvSpPr>
          <p:spPr>
            <a:xfrm>
              <a:off x="3863212" y="3189432"/>
              <a:ext cx="1021824" cy="4617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CN" sz="1600" dirty="0"/>
                <a:t>J</a:t>
              </a:r>
              <a:r>
                <a:rPr lang="en-US" altLang="zh-CN" sz="1600" baseline="-25000" dirty="0"/>
                <a:t>commit</a:t>
              </a:r>
              <a:endParaRPr lang="en-CN" sz="1600" baseline="-25000" dirty="0"/>
            </a:p>
          </p:txBody>
        </p:sp>
        <p:sp>
          <p:nvSpPr>
            <p:cNvPr id="10" name="Rectangle 9">
              <a:extLst>
                <a:ext uri="{FF2B5EF4-FFF2-40B4-BE49-F238E27FC236}">
                  <a16:creationId xmlns:a16="http://schemas.microsoft.com/office/drawing/2014/main" id="{3CB0A68A-EB74-CC47-B7CD-FCCE4E2521F0}"/>
                </a:ext>
              </a:extLst>
            </p:cNvPr>
            <p:cNvSpPr/>
            <p:nvPr/>
          </p:nvSpPr>
          <p:spPr>
            <a:xfrm>
              <a:off x="5167587" y="3189432"/>
              <a:ext cx="1021824" cy="461765"/>
            </a:xfrm>
            <a:prstGeom prst="rect">
              <a:avLst/>
            </a:prstGeom>
          </p:spPr>
          <p:style>
            <a:lnRef idx="2">
              <a:schemeClr val="dk1"/>
            </a:lnRef>
            <a:fillRef idx="1">
              <a:schemeClr val="lt1"/>
            </a:fillRef>
            <a:effectRef idx="0">
              <a:schemeClr val="dk1"/>
            </a:effectRef>
            <a:fontRef idx="minor">
              <a:schemeClr val="dk1"/>
            </a:fontRef>
          </p:style>
          <p:txBody>
            <a:bodyPr wrap="none" rtlCol="0" anchor="ctr"/>
            <a:lstStyle/>
            <a:p>
              <a:pPr algn="ctr"/>
              <a:r>
                <a:rPr lang="en-US" altLang="zh-CN" sz="1600" dirty="0"/>
                <a:t>Metadata</a:t>
              </a:r>
              <a:endParaRPr lang="en-CN" sz="1600" baseline="-25000" dirty="0"/>
            </a:p>
          </p:txBody>
        </p:sp>
      </p:grpSp>
      <p:grpSp>
        <p:nvGrpSpPr>
          <p:cNvPr id="38" name="Group 37">
            <a:extLst>
              <a:ext uri="{FF2B5EF4-FFF2-40B4-BE49-F238E27FC236}">
                <a16:creationId xmlns:a16="http://schemas.microsoft.com/office/drawing/2014/main" id="{EF6FEA65-369C-064B-8178-A88B4FF3F201}"/>
              </a:ext>
            </a:extLst>
          </p:cNvPr>
          <p:cNvGrpSpPr/>
          <p:nvPr/>
        </p:nvGrpSpPr>
        <p:grpSpPr>
          <a:xfrm>
            <a:off x="683568" y="1759303"/>
            <a:ext cx="8064896" cy="471077"/>
            <a:chOff x="899592" y="1930456"/>
            <a:chExt cx="8064896" cy="471077"/>
          </a:xfrm>
        </p:grpSpPr>
        <p:cxnSp>
          <p:nvCxnSpPr>
            <p:cNvPr id="20" name="Straight Arrow Connector 19">
              <a:extLst>
                <a:ext uri="{FF2B5EF4-FFF2-40B4-BE49-F238E27FC236}">
                  <a16:creationId xmlns:a16="http://schemas.microsoft.com/office/drawing/2014/main" id="{18211928-567A-D64D-9FA0-3CC0358B4721}"/>
                </a:ext>
              </a:extLst>
            </p:cNvPr>
            <p:cNvCxnSpPr>
              <a:cxnSpLocks/>
            </p:cNvCxnSpPr>
            <p:nvPr/>
          </p:nvCxnSpPr>
          <p:spPr>
            <a:xfrm>
              <a:off x="899592" y="2172339"/>
              <a:ext cx="8064896"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2" name="Rectangle 11">
              <a:extLst>
                <a:ext uri="{FF2B5EF4-FFF2-40B4-BE49-F238E27FC236}">
                  <a16:creationId xmlns:a16="http://schemas.microsoft.com/office/drawing/2014/main" id="{B3313BE0-658B-7540-8033-B57B3CC5BB91}"/>
                </a:ext>
              </a:extLst>
            </p:cNvPr>
            <p:cNvSpPr/>
            <p:nvPr/>
          </p:nvSpPr>
          <p:spPr>
            <a:xfrm>
              <a:off x="1260445" y="1930456"/>
              <a:ext cx="1021824" cy="461765"/>
            </a:xfrm>
            <a:prstGeom prst="rect">
              <a:avLst/>
            </a:prstGeom>
            <a:ln>
              <a:prstDash val="dash"/>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600" dirty="0">
                  <a:solidFill>
                    <a:schemeClr val="dk1"/>
                  </a:solidFill>
                </a:rPr>
                <a:t>Data</a:t>
              </a:r>
              <a:endParaRPr lang="en-CN" sz="1600" dirty="0">
                <a:solidFill>
                  <a:schemeClr val="dk1"/>
                </a:solidFill>
              </a:endParaRPr>
            </a:p>
          </p:txBody>
        </p:sp>
        <p:sp>
          <p:nvSpPr>
            <p:cNvPr id="13" name="Rectangle 12">
              <a:extLst>
                <a:ext uri="{FF2B5EF4-FFF2-40B4-BE49-F238E27FC236}">
                  <a16:creationId xmlns:a16="http://schemas.microsoft.com/office/drawing/2014/main" id="{215D67BA-3088-6648-BD93-11EB0CAC1DD7}"/>
                </a:ext>
              </a:extLst>
            </p:cNvPr>
            <p:cNvSpPr/>
            <p:nvPr/>
          </p:nvSpPr>
          <p:spPr>
            <a:xfrm>
              <a:off x="2560058" y="1939768"/>
              <a:ext cx="1021824" cy="4617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CN" sz="1600" dirty="0"/>
                <a:t>J</a:t>
              </a:r>
              <a:r>
                <a:rPr lang="en-US" altLang="zh-CN" sz="1600" baseline="-25000" dirty="0"/>
                <a:t>metadata</a:t>
              </a:r>
              <a:endParaRPr lang="en-CN" sz="1600" baseline="-25000" dirty="0"/>
            </a:p>
          </p:txBody>
        </p:sp>
        <p:sp>
          <p:nvSpPr>
            <p:cNvPr id="14" name="Rectangle 13">
              <a:extLst>
                <a:ext uri="{FF2B5EF4-FFF2-40B4-BE49-F238E27FC236}">
                  <a16:creationId xmlns:a16="http://schemas.microsoft.com/office/drawing/2014/main" id="{2E6BDD53-51D3-A442-BC44-253BD778C71B}"/>
                </a:ext>
              </a:extLst>
            </p:cNvPr>
            <p:cNvSpPr/>
            <p:nvPr/>
          </p:nvSpPr>
          <p:spPr>
            <a:xfrm>
              <a:off x="3856971" y="1939767"/>
              <a:ext cx="1021824" cy="4617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CN" sz="1600" dirty="0"/>
                <a:t>J</a:t>
              </a:r>
              <a:r>
                <a:rPr lang="en-US" altLang="zh-CN" sz="1600" baseline="-25000" dirty="0"/>
                <a:t>commit</a:t>
              </a:r>
              <a:endParaRPr lang="en-CN" sz="1600" baseline="-25000" dirty="0"/>
            </a:p>
          </p:txBody>
        </p:sp>
        <p:sp>
          <p:nvSpPr>
            <p:cNvPr id="15" name="Rectangle 14">
              <a:extLst>
                <a:ext uri="{FF2B5EF4-FFF2-40B4-BE49-F238E27FC236}">
                  <a16:creationId xmlns:a16="http://schemas.microsoft.com/office/drawing/2014/main" id="{713CEE3A-93EC-FC4E-A566-24F3B81AD7EE}"/>
                </a:ext>
              </a:extLst>
            </p:cNvPr>
            <p:cNvSpPr/>
            <p:nvPr/>
          </p:nvSpPr>
          <p:spPr>
            <a:xfrm>
              <a:off x="6450797" y="1936233"/>
              <a:ext cx="1021824" cy="461765"/>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600" dirty="0"/>
                <a:t>Metadata</a:t>
              </a:r>
              <a:endParaRPr lang="en-CN" sz="1600" dirty="0"/>
            </a:p>
          </p:txBody>
        </p:sp>
        <p:sp>
          <p:nvSpPr>
            <p:cNvPr id="18" name="Rectangle 17">
              <a:extLst>
                <a:ext uri="{FF2B5EF4-FFF2-40B4-BE49-F238E27FC236}">
                  <a16:creationId xmlns:a16="http://schemas.microsoft.com/office/drawing/2014/main" id="{141CA90D-C400-1A44-A5CD-04FFD4F79A14}"/>
                </a:ext>
              </a:extLst>
            </p:cNvPr>
            <p:cNvSpPr/>
            <p:nvPr/>
          </p:nvSpPr>
          <p:spPr>
            <a:xfrm>
              <a:off x="5153884" y="1939766"/>
              <a:ext cx="1021824" cy="461765"/>
            </a:xfrm>
            <a:prstGeom prst="rect">
              <a:avLst/>
            </a:prstGeom>
            <a:ln>
              <a:prstDash val="dash"/>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600" dirty="0">
                  <a:solidFill>
                    <a:schemeClr val="dk1"/>
                  </a:solidFill>
                </a:rPr>
                <a:t>Data</a:t>
              </a:r>
              <a:endParaRPr lang="en-CN" sz="1600" dirty="0">
                <a:solidFill>
                  <a:schemeClr val="dk1"/>
                </a:solidFill>
              </a:endParaRPr>
            </a:p>
          </p:txBody>
        </p:sp>
        <p:sp>
          <p:nvSpPr>
            <p:cNvPr id="19" name="Rectangle 18">
              <a:extLst>
                <a:ext uri="{FF2B5EF4-FFF2-40B4-BE49-F238E27FC236}">
                  <a16:creationId xmlns:a16="http://schemas.microsoft.com/office/drawing/2014/main" id="{C32AC8E5-D376-314C-B990-5BC8ADB2F6D6}"/>
                </a:ext>
              </a:extLst>
            </p:cNvPr>
            <p:cNvSpPr/>
            <p:nvPr/>
          </p:nvSpPr>
          <p:spPr>
            <a:xfrm>
              <a:off x="7747710" y="1932993"/>
              <a:ext cx="1021824" cy="461765"/>
            </a:xfrm>
            <a:prstGeom prst="rect">
              <a:avLst/>
            </a:prstGeom>
            <a:ln>
              <a:prstDash val="dash"/>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600" dirty="0">
                  <a:solidFill>
                    <a:schemeClr val="dk1"/>
                  </a:solidFill>
                </a:rPr>
                <a:t>Data</a:t>
              </a:r>
              <a:endParaRPr lang="en-CN" sz="1600" dirty="0">
                <a:solidFill>
                  <a:schemeClr val="dk1"/>
                </a:solidFill>
              </a:endParaRPr>
            </a:p>
          </p:txBody>
        </p:sp>
      </p:grpSp>
      <p:grpSp>
        <p:nvGrpSpPr>
          <p:cNvPr id="36" name="Group 35">
            <a:extLst>
              <a:ext uri="{FF2B5EF4-FFF2-40B4-BE49-F238E27FC236}">
                <a16:creationId xmlns:a16="http://schemas.microsoft.com/office/drawing/2014/main" id="{9F20BACE-A23C-BC4F-95BF-04C4F6481571}"/>
              </a:ext>
            </a:extLst>
          </p:cNvPr>
          <p:cNvGrpSpPr/>
          <p:nvPr/>
        </p:nvGrpSpPr>
        <p:grpSpPr>
          <a:xfrm>
            <a:off x="683568" y="4258631"/>
            <a:ext cx="7200800" cy="471077"/>
            <a:chOff x="899592" y="4429784"/>
            <a:chExt cx="7200800" cy="471077"/>
          </a:xfrm>
        </p:grpSpPr>
        <p:cxnSp>
          <p:nvCxnSpPr>
            <p:cNvPr id="22" name="Straight Arrow Connector 21">
              <a:extLst>
                <a:ext uri="{FF2B5EF4-FFF2-40B4-BE49-F238E27FC236}">
                  <a16:creationId xmlns:a16="http://schemas.microsoft.com/office/drawing/2014/main" id="{AFEB0DE4-1603-DF48-B4DC-5D59E8E1260C}"/>
                </a:ext>
              </a:extLst>
            </p:cNvPr>
            <p:cNvCxnSpPr>
              <a:cxnSpLocks/>
            </p:cNvCxnSpPr>
            <p:nvPr/>
          </p:nvCxnSpPr>
          <p:spPr>
            <a:xfrm>
              <a:off x="899592" y="4671667"/>
              <a:ext cx="720080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3" name="Rectangle 22">
              <a:extLst>
                <a:ext uri="{FF2B5EF4-FFF2-40B4-BE49-F238E27FC236}">
                  <a16:creationId xmlns:a16="http://schemas.microsoft.com/office/drawing/2014/main" id="{84624A15-A515-BC4B-A894-DB2C79D112C2}"/>
                </a:ext>
              </a:extLst>
            </p:cNvPr>
            <p:cNvSpPr/>
            <p:nvPr/>
          </p:nvSpPr>
          <p:spPr>
            <a:xfrm>
              <a:off x="1260445" y="4429784"/>
              <a:ext cx="1021824" cy="4617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600" dirty="0" err="1">
                  <a:solidFill>
                    <a:schemeClr val="lt1"/>
                  </a:solidFill>
                </a:rPr>
                <a:t>J</a:t>
              </a:r>
              <a:r>
                <a:rPr lang="en-US" altLang="zh-CN" sz="1600" baseline="-25000" dirty="0" err="1">
                  <a:solidFill>
                    <a:schemeClr val="lt1"/>
                  </a:solidFill>
                </a:rPr>
                <a:t>data</a:t>
              </a:r>
              <a:endParaRPr lang="en-CN" sz="1600" baseline="-25000" dirty="0">
                <a:solidFill>
                  <a:schemeClr val="lt1"/>
                </a:solidFill>
              </a:endParaRPr>
            </a:p>
          </p:txBody>
        </p:sp>
        <p:sp>
          <p:nvSpPr>
            <p:cNvPr id="24" name="Rectangle 23">
              <a:extLst>
                <a:ext uri="{FF2B5EF4-FFF2-40B4-BE49-F238E27FC236}">
                  <a16:creationId xmlns:a16="http://schemas.microsoft.com/office/drawing/2014/main" id="{BB805EA7-91D3-1D4D-8710-9E25622F791E}"/>
                </a:ext>
              </a:extLst>
            </p:cNvPr>
            <p:cNvSpPr/>
            <p:nvPr/>
          </p:nvSpPr>
          <p:spPr>
            <a:xfrm>
              <a:off x="2560058" y="4439096"/>
              <a:ext cx="1021824" cy="4617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CN" sz="1600" dirty="0"/>
                <a:t>J</a:t>
              </a:r>
              <a:r>
                <a:rPr lang="en-US" altLang="zh-CN" sz="1600" baseline="-25000" dirty="0"/>
                <a:t>metadata</a:t>
              </a:r>
              <a:endParaRPr lang="en-CN" sz="1600" baseline="-25000" dirty="0"/>
            </a:p>
          </p:txBody>
        </p:sp>
        <p:sp>
          <p:nvSpPr>
            <p:cNvPr id="25" name="Rectangle 24">
              <a:extLst>
                <a:ext uri="{FF2B5EF4-FFF2-40B4-BE49-F238E27FC236}">
                  <a16:creationId xmlns:a16="http://schemas.microsoft.com/office/drawing/2014/main" id="{A4DAFF4A-92DF-904A-B789-71DF58365289}"/>
                </a:ext>
              </a:extLst>
            </p:cNvPr>
            <p:cNvSpPr/>
            <p:nvPr/>
          </p:nvSpPr>
          <p:spPr>
            <a:xfrm>
              <a:off x="3856971" y="4439095"/>
              <a:ext cx="1021824" cy="4617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CN" sz="1600" dirty="0"/>
                <a:t>J</a:t>
              </a:r>
              <a:r>
                <a:rPr lang="en-US" altLang="zh-CN" sz="1600" baseline="-25000" dirty="0"/>
                <a:t>commit</a:t>
              </a:r>
              <a:endParaRPr lang="en-CN" sz="1600" baseline="-25000" dirty="0"/>
            </a:p>
          </p:txBody>
        </p:sp>
        <p:sp>
          <p:nvSpPr>
            <p:cNvPr id="26" name="Rectangle 25">
              <a:extLst>
                <a:ext uri="{FF2B5EF4-FFF2-40B4-BE49-F238E27FC236}">
                  <a16:creationId xmlns:a16="http://schemas.microsoft.com/office/drawing/2014/main" id="{61DBCA01-77BF-F64C-BD01-C7F83BB55B39}"/>
                </a:ext>
              </a:extLst>
            </p:cNvPr>
            <p:cNvSpPr/>
            <p:nvPr/>
          </p:nvSpPr>
          <p:spPr>
            <a:xfrm>
              <a:off x="6450797" y="4435561"/>
              <a:ext cx="1021824" cy="461765"/>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600" dirty="0"/>
                <a:t>Metadata</a:t>
              </a:r>
              <a:endParaRPr lang="en-CN" sz="1600" dirty="0"/>
            </a:p>
          </p:txBody>
        </p:sp>
        <p:sp>
          <p:nvSpPr>
            <p:cNvPr id="27" name="Rectangle 26">
              <a:extLst>
                <a:ext uri="{FF2B5EF4-FFF2-40B4-BE49-F238E27FC236}">
                  <a16:creationId xmlns:a16="http://schemas.microsoft.com/office/drawing/2014/main" id="{1F5EC54F-A154-7F4F-92C5-F2F77DD1F05C}"/>
                </a:ext>
              </a:extLst>
            </p:cNvPr>
            <p:cNvSpPr/>
            <p:nvPr/>
          </p:nvSpPr>
          <p:spPr>
            <a:xfrm>
              <a:off x="5153884" y="4439094"/>
              <a:ext cx="1021824" cy="461765"/>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600" dirty="0"/>
                <a:t>Data</a:t>
              </a:r>
              <a:endParaRPr lang="en-CN" sz="1600" dirty="0"/>
            </a:p>
          </p:txBody>
        </p:sp>
      </p:grpSp>
      <p:sp>
        <p:nvSpPr>
          <p:cNvPr id="31" name="TextBox 30">
            <a:extLst>
              <a:ext uri="{FF2B5EF4-FFF2-40B4-BE49-F238E27FC236}">
                <a16:creationId xmlns:a16="http://schemas.microsoft.com/office/drawing/2014/main" id="{AB8CA5C4-6522-D549-A49D-674B52A1C091}"/>
              </a:ext>
            </a:extLst>
          </p:cNvPr>
          <p:cNvSpPr txBox="1"/>
          <p:nvPr/>
        </p:nvSpPr>
        <p:spPr>
          <a:xfrm>
            <a:off x="539552" y="3759284"/>
            <a:ext cx="4916731" cy="369332"/>
          </a:xfrm>
          <a:prstGeom prst="rect">
            <a:avLst/>
          </a:prstGeom>
          <a:noFill/>
        </p:spPr>
        <p:txBody>
          <a:bodyPr wrap="none" rtlCol="0">
            <a:spAutoFit/>
          </a:bodyPr>
          <a:lstStyle/>
          <a:p>
            <a:r>
              <a:rPr lang="en-CN" b="1">
                <a:solidFill>
                  <a:schemeClr val="accent1"/>
                </a:solidFill>
              </a:rPr>
              <a:t>Journal</a:t>
            </a:r>
            <a:r>
              <a:rPr lang="zh-CN" altLang="en-US" b="1" dirty="0">
                <a:solidFill>
                  <a:schemeClr val="accent1"/>
                </a:solidFill>
              </a:rPr>
              <a:t> </a:t>
            </a:r>
            <a:r>
              <a:rPr lang="en-US" altLang="zh-CN" b="1" dirty="0">
                <a:solidFill>
                  <a:schemeClr val="accent1"/>
                </a:solidFill>
              </a:rPr>
              <a:t>Mode</a:t>
            </a:r>
            <a:r>
              <a:rPr lang="zh-CN" altLang="en-US" dirty="0"/>
              <a:t>：元数据和数据均使用日志记录</a:t>
            </a:r>
            <a:endParaRPr lang="en-US" altLang="zh-CN" dirty="0"/>
          </a:p>
        </p:txBody>
      </p:sp>
      <p:sp>
        <p:nvSpPr>
          <p:cNvPr id="32" name="TextBox 31">
            <a:extLst>
              <a:ext uri="{FF2B5EF4-FFF2-40B4-BE49-F238E27FC236}">
                <a16:creationId xmlns:a16="http://schemas.microsoft.com/office/drawing/2014/main" id="{6754DF04-E47B-684A-B979-AE4A3FA89292}"/>
              </a:ext>
            </a:extLst>
          </p:cNvPr>
          <p:cNvSpPr txBox="1"/>
          <p:nvPr/>
        </p:nvSpPr>
        <p:spPr>
          <a:xfrm>
            <a:off x="539552" y="2468728"/>
            <a:ext cx="7192995" cy="369332"/>
          </a:xfrm>
          <a:prstGeom prst="rect">
            <a:avLst/>
          </a:prstGeom>
          <a:noFill/>
        </p:spPr>
        <p:txBody>
          <a:bodyPr wrap="none" rtlCol="0">
            <a:spAutoFit/>
          </a:bodyPr>
          <a:lstStyle/>
          <a:p>
            <a:r>
              <a:rPr lang="en-US" altLang="zh-CN" b="1" dirty="0">
                <a:solidFill>
                  <a:schemeClr val="accent1"/>
                </a:solidFill>
              </a:rPr>
              <a:t>Or</a:t>
            </a:r>
            <a:r>
              <a:rPr lang="en-CN" b="1">
                <a:solidFill>
                  <a:schemeClr val="accent1"/>
                </a:solidFill>
              </a:rPr>
              <a:t>dered</a:t>
            </a:r>
            <a:r>
              <a:rPr lang="zh-CN" altLang="en-US" b="1" dirty="0">
                <a:solidFill>
                  <a:schemeClr val="accent1"/>
                </a:solidFill>
              </a:rPr>
              <a:t> </a:t>
            </a:r>
            <a:r>
              <a:rPr lang="en-US" altLang="zh-CN" b="1" dirty="0">
                <a:solidFill>
                  <a:schemeClr val="accent1"/>
                </a:solidFill>
              </a:rPr>
              <a:t>Mode</a:t>
            </a:r>
            <a:r>
              <a:rPr lang="zh-CN" altLang="en-US" dirty="0"/>
              <a:t>：日志只记录元数据</a:t>
            </a:r>
            <a:r>
              <a:rPr lang="en-US" altLang="zh-CN" dirty="0"/>
              <a:t>+</a:t>
            </a:r>
            <a:r>
              <a:rPr lang="zh-CN" altLang="en-US" dirty="0"/>
              <a:t>数据块在元数据日志前写入磁盘</a:t>
            </a:r>
            <a:endParaRPr lang="en-US" altLang="zh-CN" dirty="0"/>
          </a:p>
        </p:txBody>
      </p:sp>
      <p:sp>
        <p:nvSpPr>
          <p:cNvPr id="33" name="TextBox 32">
            <a:extLst>
              <a:ext uri="{FF2B5EF4-FFF2-40B4-BE49-F238E27FC236}">
                <a16:creationId xmlns:a16="http://schemas.microsoft.com/office/drawing/2014/main" id="{156360C7-7B6A-F541-8DFA-3EF23856774F}"/>
              </a:ext>
            </a:extLst>
          </p:cNvPr>
          <p:cNvSpPr txBox="1"/>
          <p:nvPr/>
        </p:nvSpPr>
        <p:spPr>
          <a:xfrm>
            <a:off x="539552" y="1237905"/>
            <a:ext cx="4027706" cy="369332"/>
          </a:xfrm>
          <a:prstGeom prst="rect">
            <a:avLst/>
          </a:prstGeom>
          <a:noFill/>
        </p:spPr>
        <p:txBody>
          <a:bodyPr wrap="none" rtlCol="0">
            <a:spAutoFit/>
          </a:bodyPr>
          <a:lstStyle/>
          <a:p>
            <a:r>
              <a:rPr lang="en-CN" b="1">
                <a:solidFill>
                  <a:schemeClr val="accent1"/>
                </a:solidFill>
              </a:rPr>
              <a:t>Writeback</a:t>
            </a:r>
            <a:r>
              <a:rPr lang="zh-CN" altLang="en-US" b="1" dirty="0">
                <a:solidFill>
                  <a:schemeClr val="accent1"/>
                </a:solidFill>
              </a:rPr>
              <a:t> </a:t>
            </a:r>
            <a:r>
              <a:rPr lang="en-US" altLang="zh-CN" b="1" dirty="0">
                <a:solidFill>
                  <a:schemeClr val="accent1"/>
                </a:solidFill>
              </a:rPr>
              <a:t>Mode</a:t>
            </a:r>
            <a:r>
              <a:rPr lang="zh-CN" altLang="en-US" dirty="0"/>
              <a:t>：日志只记录元数据</a:t>
            </a:r>
            <a:endParaRPr lang="en-US" altLang="zh-CN" dirty="0"/>
          </a:p>
        </p:txBody>
      </p:sp>
      <p:sp>
        <p:nvSpPr>
          <p:cNvPr id="34" name="TextBox 33">
            <a:extLst>
              <a:ext uri="{FF2B5EF4-FFF2-40B4-BE49-F238E27FC236}">
                <a16:creationId xmlns:a16="http://schemas.microsoft.com/office/drawing/2014/main" id="{F36C12B5-A4A2-5E43-84D8-3A9562F4051F}"/>
              </a:ext>
            </a:extLst>
          </p:cNvPr>
          <p:cNvSpPr txBox="1"/>
          <p:nvPr/>
        </p:nvSpPr>
        <p:spPr>
          <a:xfrm>
            <a:off x="2267744" y="4873724"/>
            <a:ext cx="4963346" cy="400110"/>
          </a:xfrm>
          <a:prstGeom prst="rect">
            <a:avLst/>
          </a:prstGeom>
          <a:noFill/>
        </p:spPr>
        <p:txBody>
          <a:bodyPr wrap="square" rtlCol="0">
            <a:spAutoFit/>
          </a:bodyPr>
          <a:lstStyle/>
          <a:p>
            <a:r>
              <a:rPr lang="zh-CN" altLang="en-US" sz="2000" dirty="0">
                <a:solidFill>
                  <a:srgbClr val="C00000"/>
                </a:solidFill>
              </a:rPr>
              <a:t>思考一下：三种模式各自有何问题和优势？</a:t>
            </a:r>
            <a:endParaRPr lang="en-US" altLang="zh-CN" sz="2000" dirty="0">
              <a:solidFill>
                <a:srgbClr val="C00000"/>
              </a:solidFill>
            </a:endParaRPr>
          </a:p>
        </p:txBody>
      </p:sp>
      <p:sp>
        <p:nvSpPr>
          <p:cNvPr id="30" name="TextBox 38">
            <a:extLst>
              <a:ext uri="{FF2B5EF4-FFF2-40B4-BE49-F238E27FC236}">
                <a16:creationId xmlns:a16="http://schemas.microsoft.com/office/drawing/2014/main" id="{0EE960F3-B398-6E48-9422-8E7B89FEEEA2}"/>
              </a:ext>
            </a:extLst>
          </p:cNvPr>
          <p:cNvSpPr txBox="1"/>
          <p:nvPr/>
        </p:nvSpPr>
        <p:spPr>
          <a:xfrm>
            <a:off x="5476160" y="3734502"/>
            <a:ext cx="3416320" cy="369332"/>
          </a:xfrm>
          <a:prstGeom prst="rect">
            <a:avLst/>
          </a:prstGeom>
          <a:ln>
            <a:no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zh-CN" altLang="en-US" dirty="0">
                <a:highlight>
                  <a:srgbClr val="FFFF00"/>
                </a:highlight>
              </a:rPr>
              <a:t>一致性最好，但数据写入两次！</a:t>
            </a:r>
            <a:endParaRPr lang="en-CN" dirty="0">
              <a:highlight>
                <a:srgbClr val="FFFF00"/>
              </a:highlight>
            </a:endParaRPr>
          </a:p>
        </p:txBody>
      </p:sp>
      <p:sp>
        <p:nvSpPr>
          <p:cNvPr id="35" name="TextBox 39">
            <a:extLst>
              <a:ext uri="{FF2B5EF4-FFF2-40B4-BE49-F238E27FC236}">
                <a16:creationId xmlns:a16="http://schemas.microsoft.com/office/drawing/2014/main" id="{EA7EF5E3-B8C6-D244-8D33-CF7F045121D3}"/>
              </a:ext>
            </a:extLst>
          </p:cNvPr>
          <p:cNvSpPr txBox="1"/>
          <p:nvPr/>
        </p:nvSpPr>
        <p:spPr>
          <a:xfrm>
            <a:off x="7784484" y="2465812"/>
            <a:ext cx="1107996" cy="369332"/>
          </a:xfrm>
          <a:prstGeom prst="rect">
            <a:avLst/>
          </a:prstGeom>
          <a:ln>
            <a:no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zh-CN" altLang="en-CN" dirty="0">
                <a:highlight>
                  <a:srgbClr val="FFFF00"/>
                </a:highlight>
              </a:rPr>
              <a:t>默认</a:t>
            </a:r>
            <a:r>
              <a:rPr lang="zh-CN" altLang="en-US" dirty="0">
                <a:highlight>
                  <a:srgbClr val="FFFF00"/>
                </a:highlight>
              </a:rPr>
              <a:t>模式</a:t>
            </a:r>
            <a:endParaRPr lang="en-CN" dirty="0">
              <a:highlight>
                <a:srgbClr val="FFFF00"/>
              </a:highlight>
            </a:endParaRPr>
          </a:p>
        </p:txBody>
      </p:sp>
      <p:sp>
        <p:nvSpPr>
          <p:cNvPr id="39" name="TextBox 40">
            <a:extLst>
              <a:ext uri="{FF2B5EF4-FFF2-40B4-BE49-F238E27FC236}">
                <a16:creationId xmlns:a16="http://schemas.microsoft.com/office/drawing/2014/main" id="{53A6FACA-AAB7-5447-ACCD-CD74510B45D2}"/>
              </a:ext>
            </a:extLst>
          </p:cNvPr>
          <p:cNvSpPr txBox="1"/>
          <p:nvPr/>
        </p:nvSpPr>
        <p:spPr>
          <a:xfrm>
            <a:off x="6168657" y="1201316"/>
            <a:ext cx="2723823" cy="369332"/>
          </a:xfrm>
          <a:prstGeom prst="rect">
            <a:avLst/>
          </a:prstGeom>
          <a:ln>
            <a:no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zh-CN" altLang="en-US" dirty="0">
                <a:highlight>
                  <a:srgbClr val="FFFF00"/>
                </a:highlight>
              </a:rPr>
              <a:t>最快，但是一致性最差！</a:t>
            </a:r>
            <a:endParaRPr lang="en-CN" dirty="0">
              <a:highlight>
                <a:srgbClr val="FFFF00"/>
              </a:highlight>
            </a:endParaRPr>
          </a:p>
        </p:txBody>
      </p:sp>
    </p:spTree>
    <p:extLst>
      <p:ext uri="{BB962C8B-B14F-4D97-AF65-F5344CB8AC3E}">
        <p14:creationId xmlns:p14="http://schemas.microsoft.com/office/powerpoint/2010/main" val="19109857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29C99B-3566-0F4E-BBD9-CFC5489C323E}"/>
              </a:ext>
            </a:extLst>
          </p:cNvPr>
          <p:cNvSpPr>
            <a:spLocks noGrp="1"/>
          </p:cNvSpPr>
          <p:nvPr>
            <p:ph type="title"/>
          </p:nvPr>
        </p:nvSpPr>
        <p:spPr/>
        <p:txBody>
          <a:bodyPr>
            <a:normAutofit/>
          </a:bodyPr>
          <a:lstStyle/>
          <a:p>
            <a:r>
              <a:rPr kumimoji="1" lang="en-US" altLang="zh-CN" dirty="0"/>
              <a:t>Ordered</a:t>
            </a:r>
            <a:r>
              <a:rPr kumimoji="1" lang="zh-CN" altLang="en-US" dirty="0"/>
              <a:t> </a:t>
            </a:r>
            <a:r>
              <a:rPr kumimoji="1" lang="en-US" altLang="zh-CN" dirty="0"/>
              <a:t>Mode</a:t>
            </a:r>
            <a:r>
              <a:rPr kumimoji="1" lang="zh-CN" altLang="en-US" dirty="0"/>
              <a:t>：两次</a:t>
            </a:r>
            <a:r>
              <a:rPr kumimoji="1" lang="en-US" altLang="zh-CN" dirty="0"/>
              <a:t>Flush</a:t>
            </a:r>
            <a:r>
              <a:rPr kumimoji="1" lang="zh-CN" altLang="en-US" dirty="0"/>
              <a:t>保证顺序</a:t>
            </a:r>
          </a:p>
        </p:txBody>
      </p:sp>
      <p:sp>
        <p:nvSpPr>
          <p:cNvPr id="4" name="灯片编号占位符 3">
            <a:extLst>
              <a:ext uri="{FF2B5EF4-FFF2-40B4-BE49-F238E27FC236}">
                <a16:creationId xmlns:a16="http://schemas.microsoft.com/office/drawing/2014/main" id="{AA60EE32-7129-A048-86C6-DD4C7F06572D}"/>
              </a:ext>
            </a:extLst>
          </p:cNvPr>
          <p:cNvSpPr>
            <a:spLocks noGrp="1"/>
          </p:cNvSpPr>
          <p:nvPr>
            <p:ph type="sldNum" sz="quarter" idx="12"/>
          </p:nvPr>
        </p:nvSpPr>
        <p:spPr/>
        <p:txBody>
          <a:bodyPr/>
          <a:lstStyle/>
          <a:p>
            <a:fld id="{ADE361C3-C043-4A6E-BDCE-8DA1E7D90A3B}" type="slidenum">
              <a:rPr lang="zh-CN" altLang="en-US" smtClean="0"/>
              <a:t>38</a:t>
            </a:fld>
            <a:endParaRPr lang="zh-CN" altLang="en-US"/>
          </a:p>
        </p:txBody>
      </p:sp>
      <p:sp>
        <p:nvSpPr>
          <p:cNvPr id="7" name="文本框 6">
            <a:extLst>
              <a:ext uri="{FF2B5EF4-FFF2-40B4-BE49-F238E27FC236}">
                <a16:creationId xmlns:a16="http://schemas.microsoft.com/office/drawing/2014/main" id="{798FF710-C1A9-C44D-A3E3-1105DF38863F}"/>
              </a:ext>
            </a:extLst>
          </p:cNvPr>
          <p:cNvSpPr txBox="1"/>
          <p:nvPr/>
        </p:nvSpPr>
        <p:spPr>
          <a:xfrm>
            <a:off x="251520" y="2601406"/>
            <a:ext cx="1584176" cy="400110"/>
          </a:xfrm>
          <a:prstGeom prst="rect">
            <a:avLst/>
          </a:prstGeom>
          <a:noFill/>
        </p:spPr>
        <p:txBody>
          <a:bodyPr wrap="square" rtlCol="0">
            <a:spAutoFit/>
          </a:bodyPr>
          <a:lstStyle/>
          <a:p>
            <a:r>
              <a:rPr kumimoji="1" lang="zh-CN" altLang="en-US" sz="2000" b="1" dirty="0">
                <a:solidFill>
                  <a:srgbClr val="7030A0"/>
                </a:solidFill>
              </a:rPr>
              <a:t>文件系统</a:t>
            </a:r>
          </a:p>
        </p:txBody>
      </p:sp>
      <p:cxnSp>
        <p:nvCxnSpPr>
          <p:cNvPr id="8" name="直线连接符 7">
            <a:extLst>
              <a:ext uri="{FF2B5EF4-FFF2-40B4-BE49-F238E27FC236}">
                <a16:creationId xmlns:a16="http://schemas.microsoft.com/office/drawing/2014/main" id="{3D9F2E57-3389-7747-81F7-8C5B2CB17124}"/>
              </a:ext>
            </a:extLst>
          </p:cNvPr>
          <p:cNvCxnSpPr/>
          <p:nvPr/>
        </p:nvCxnSpPr>
        <p:spPr>
          <a:xfrm>
            <a:off x="611560" y="3330544"/>
            <a:ext cx="7776864" cy="0"/>
          </a:xfrm>
          <a:prstGeom prst="line">
            <a:avLst/>
          </a:prstGeom>
          <a:ln w="28575">
            <a:solidFill>
              <a:srgbClr val="7030A0"/>
            </a:solidFill>
            <a:prstDash val="solid"/>
          </a:ln>
        </p:spPr>
        <p:style>
          <a:lnRef idx="1">
            <a:schemeClr val="accent1"/>
          </a:lnRef>
          <a:fillRef idx="0">
            <a:schemeClr val="accent1"/>
          </a:fillRef>
          <a:effectRef idx="0">
            <a:schemeClr val="accent1"/>
          </a:effectRef>
          <a:fontRef idx="minor">
            <a:schemeClr val="tx1"/>
          </a:fontRef>
        </p:style>
      </p:cxnSp>
      <p:cxnSp>
        <p:nvCxnSpPr>
          <p:cNvPr id="9" name="直线连接符 8">
            <a:extLst>
              <a:ext uri="{FF2B5EF4-FFF2-40B4-BE49-F238E27FC236}">
                <a16:creationId xmlns:a16="http://schemas.microsoft.com/office/drawing/2014/main" id="{3118BAFB-4D25-AD49-B09B-E1B92EF8620E}"/>
              </a:ext>
            </a:extLst>
          </p:cNvPr>
          <p:cNvCxnSpPr>
            <a:cxnSpLocks/>
            <a:stCxn id="10" idx="3"/>
          </p:cNvCxnSpPr>
          <p:nvPr/>
        </p:nvCxnSpPr>
        <p:spPr>
          <a:xfrm>
            <a:off x="971600" y="4163862"/>
            <a:ext cx="7377913" cy="30778"/>
          </a:xfrm>
          <a:prstGeom prst="line">
            <a:avLst/>
          </a:prstGeom>
          <a:ln w="28575">
            <a:solidFill>
              <a:srgbClr val="7030A0"/>
            </a:solidFill>
            <a:prstDash val="dash"/>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0E34529B-F1EF-274B-B169-62139A4D2EAE}"/>
              </a:ext>
            </a:extLst>
          </p:cNvPr>
          <p:cNvSpPr txBox="1"/>
          <p:nvPr/>
        </p:nvSpPr>
        <p:spPr>
          <a:xfrm>
            <a:off x="251520" y="3963807"/>
            <a:ext cx="720080" cy="400110"/>
          </a:xfrm>
          <a:prstGeom prst="rect">
            <a:avLst/>
          </a:prstGeom>
          <a:noFill/>
        </p:spPr>
        <p:txBody>
          <a:bodyPr wrap="square" rtlCol="0">
            <a:spAutoFit/>
          </a:bodyPr>
          <a:lstStyle/>
          <a:p>
            <a:r>
              <a:rPr kumimoji="1" lang="zh-CN" altLang="en-US" sz="2000" b="1" dirty="0">
                <a:solidFill>
                  <a:srgbClr val="7030A0"/>
                </a:solidFill>
              </a:rPr>
              <a:t>磁盘</a:t>
            </a:r>
          </a:p>
        </p:txBody>
      </p:sp>
      <p:sp>
        <p:nvSpPr>
          <p:cNvPr id="13" name="文本框 12">
            <a:extLst>
              <a:ext uri="{FF2B5EF4-FFF2-40B4-BE49-F238E27FC236}">
                <a16:creationId xmlns:a16="http://schemas.microsoft.com/office/drawing/2014/main" id="{685923BA-5C10-9B4B-B2E1-C8FCB028FA71}"/>
              </a:ext>
            </a:extLst>
          </p:cNvPr>
          <p:cNvSpPr txBox="1"/>
          <p:nvPr/>
        </p:nvSpPr>
        <p:spPr>
          <a:xfrm>
            <a:off x="755576" y="4654941"/>
            <a:ext cx="1008112" cy="369332"/>
          </a:xfrm>
          <a:prstGeom prst="rect">
            <a:avLst/>
          </a:prstGeom>
          <a:noFill/>
        </p:spPr>
        <p:txBody>
          <a:bodyPr wrap="square" rtlCol="0">
            <a:spAutoFit/>
          </a:bodyPr>
          <a:lstStyle/>
          <a:p>
            <a:r>
              <a:rPr kumimoji="1" lang="zh-CN" altLang="en-US" dirty="0">
                <a:solidFill>
                  <a:srgbClr val="7030A0"/>
                </a:solidFill>
              </a:rPr>
              <a:t>盘片</a:t>
            </a:r>
          </a:p>
        </p:txBody>
      </p:sp>
      <p:sp>
        <p:nvSpPr>
          <p:cNvPr id="14" name="文本框 13">
            <a:extLst>
              <a:ext uri="{FF2B5EF4-FFF2-40B4-BE49-F238E27FC236}">
                <a16:creationId xmlns:a16="http://schemas.microsoft.com/office/drawing/2014/main" id="{5BC30AAA-4138-0F40-BFCC-3E4C25B4D237}"/>
              </a:ext>
            </a:extLst>
          </p:cNvPr>
          <p:cNvSpPr txBox="1"/>
          <p:nvPr/>
        </p:nvSpPr>
        <p:spPr>
          <a:xfrm>
            <a:off x="766324" y="3577926"/>
            <a:ext cx="1008112" cy="369332"/>
          </a:xfrm>
          <a:prstGeom prst="rect">
            <a:avLst/>
          </a:prstGeom>
          <a:noFill/>
        </p:spPr>
        <p:txBody>
          <a:bodyPr wrap="square" rtlCol="0">
            <a:spAutoFit/>
          </a:bodyPr>
          <a:lstStyle/>
          <a:p>
            <a:r>
              <a:rPr kumimoji="1" lang="zh-CN" altLang="en-US" dirty="0">
                <a:solidFill>
                  <a:srgbClr val="7030A0"/>
                </a:solidFill>
              </a:rPr>
              <a:t>缓存</a:t>
            </a:r>
          </a:p>
        </p:txBody>
      </p:sp>
      <p:sp>
        <p:nvSpPr>
          <p:cNvPr id="16" name="矩形 15">
            <a:extLst>
              <a:ext uri="{FF2B5EF4-FFF2-40B4-BE49-F238E27FC236}">
                <a16:creationId xmlns:a16="http://schemas.microsoft.com/office/drawing/2014/main" id="{83F7DF72-FA21-2A47-8E8F-85031D0CE200}"/>
              </a:ext>
            </a:extLst>
          </p:cNvPr>
          <p:cNvSpPr/>
          <p:nvPr/>
        </p:nvSpPr>
        <p:spPr>
          <a:xfrm>
            <a:off x="2228833" y="4574462"/>
            <a:ext cx="144016" cy="53029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矩形 16">
            <a:extLst>
              <a:ext uri="{FF2B5EF4-FFF2-40B4-BE49-F238E27FC236}">
                <a16:creationId xmlns:a16="http://schemas.microsoft.com/office/drawing/2014/main" id="{6ED11511-192E-0941-9F91-5BF5393C3247}"/>
              </a:ext>
            </a:extLst>
          </p:cNvPr>
          <p:cNvSpPr/>
          <p:nvPr/>
        </p:nvSpPr>
        <p:spPr>
          <a:xfrm>
            <a:off x="2372849" y="4574462"/>
            <a:ext cx="144016" cy="53029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矩形 17">
            <a:extLst>
              <a:ext uri="{FF2B5EF4-FFF2-40B4-BE49-F238E27FC236}">
                <a16:creationId xmlns:a16="http://schemas.microsoft.com/office/drawing/2014/main" id="{BA9A1939-AED9-504B-AFD4-32D86E7F6BE7}"/>
              </a:ext>
            </a:extLst>
          </p:cNvPr>
          <p:cNvSpPr/>
          <p:nvPr/>
        </p:nvSpPr>
        <p:spPr>
          <a:xfrm>
            <a:off x="2516865" y="4574462"/>
            <a:ext cx="144016" cy="53029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矩形 18">
            <a:extLst>
              <a:ext uri="{FF2B5EF4-FFF2-40B4-BE49-F238E27FC236}">
                <a16:creationId xmlns:a16="http://schemas.microsoft.com/office/drawing/2014/main" id="{58885656-F0B3-9A4D-BD3F-CDA2B7B55B94}"/>
              </a:ext>
            </a:extLst>
          </p:cNvPr>
          <p:cNvSpPr/>
          <p:nvPr/>
        </p:nvSpPr>
        <p:spPr>
          <a:xfrm>
            <a:off x="2660881" y="4574462"/>
            <a:ext cx="144016" cy="53029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矩形 19">
            <a:extLst>
              <a:ext uri="{FF2B5EF4-FFF2-40B4-BE49-F238E27FC236}">
                <a16:creationId xmlns:a16="http://schemas.microsoft.com/office/drawing/2014/main" id="{FF2B24D3-3DD7-0B4A-8226-2134F4F79BCD}"/>
              </a:ext>
            </a:extLst>
          </p:cNvPr>
          <p:cNvSpPr/>
          <p:nvPr/>
        </p:nvSpPr>
        <p:spPr>
          <a:xfrm>
            <a:off x="2804547" y="4574462"/>
            <a:ext cx="144016" cy="53029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矩形 20">
            <a:extLst>
              <a:ext uri="{FF2B5EF4-FFF2-40B4-BE49-F238E27FC236}">
                <a16:creationId xmlns:a16="http://schemas.microsoft.com/office/drawing/2014/main" id="{3721F8D2-6AEC-FF48-ACE0-A6EDE66CD4B7}"/>
              </a:ext>
            </a:extLst>
          </p:cNvPr>
          <p:cNvSpPr/>
          <p:nvPr/>
        </p:nvSpPr>
        <p:spPr>
          <a:xfrm>
            <a:off x="2948563" y="4574462"/>
            <a:ext cx="144016" cy="53029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矩形 21">
            <a:extLst>
              <a:ext uri="{FF2B5EF4-FFF2-40B4-BE49-F238E27FC236}">
                <a16:creationId xmlns:a16="http://schemas.microsoft.com/office/drawing/2014/main" id="{CFE92D30-30FD-7F4A-BCA1-16ECCAFEB732}"/>
              </a:ext>
            </a:extLst>
          </p:cNvPr>
          <p:cNvSpPr/>
          <p:nvPr/>
        </p:nvSpPr>
        <p:spPr>
          <a:xfrm>
            <a:off x="3092579" y="4574462"/>
            <a:ext cx="144016" cy="53029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矩形 22">
            <a:extLst>
              <a:ext uri="{FF2B5EF4-FFF2-40B4-BE49-F238E27FC236}">
                <a16:creationId xmlns:a16="http://schemas.microsoft.com/office/drawing/2014/main" id="{8BD3ECF9-E4B9-0A48-A136-6F27DB793245}"/>
              </a:ext>
            </a:extLst>
          </p:cNvPr>
          <p:cNvSpPr/>
          <p:nvPr/>
        </p:nvSpPr>
        <p:spPr>
          <a:xfrm>
            <a:off x="3236595" y="4574462"/>
            <a:ext cx="144016" cy="53029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矩形 23">
            <a:extLst>
              <a:ext uri="{FF2B5EF4-FFF2-40B4-BE49-F238E27FC236}">
                <a16:creationId xmlns:a16="http://schemas.microsoft.com/office/drawing/2014/main" id="{E3358544-A02B-5347-B2EA-003A0672AEE1}"/>
              </a:ext>
            </a:extLst>
          </p:cNvPr>
          <p:cNvSpPr/>
          <p:nvPr/>
        </p:nvSpPr>
        <p:spPr>
          <a:xfrm>
            <a:off x="3380611" y="4574462"/>
            <a:ext cx="576414" cy="53029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矩形 24">
            <a:extLst>
              <a:ext uri="{FF2B5EF4-FFF2-40B4-BE49-F238E27FC236}">
                <a16:creationId xmlns:a16="http://schemas.microsoft.com/office/drawing/2014/main" id="{90F20FB5-E948-8042-8940-581628509FE3}"/>
              </a:ext>
            </a:extLst>
          </p:cNvPr>
          <p:cNvSpPr/>
          <p:nvPr/>
        </p:nvSpPr>
        <p:spPr>
          <a:xfrm>
            <a:off x="3956325" y="4574462"/>
            <a:ext cx="576414" cy="53029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矩形 25">
            <a:extLst>
              <a:ext uri="{FF2B5EF4-FFF2-40B4-BE49-F238E27FC236}">
                <a16:creationId xmlns:a16="http://schemas.microsoft.com/office/drawing/2014/main" id="{22246798-494A-624C-9332-9C8A08CF75E2}"/>
              </a:ext>
            </a:extLst>
          </p:cNvPr>
          <p:cNvSpPr/>
          <p:nvPr/>
        </p:nvSpPr>
        <p:spPr>
          <a:xfrm>
            <a:off x="4532739" y="4574462"/>
            <a:ext cx="576414" cy="53029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矩形 26">
            <a:extLst>
              <a:ext uri="{FF2B5EF4-FFF2-40B4-BE49-F238E27FC236}">
                <a16:creationId xmlns:a16="http://schemas.microsoft.com/office/drawing/2014/main" id="{5A43D59B-3E68-A844-954B-4D6BF42470D6}"/>
              </a:ext>
            </a:extLst>
          </p:cNvPr>
          <p:cNvSpPr/>
          <p:nvPr/>
        </p:nvSpPr>
        <p:spPr>
          <a:xfrm>
            <a:off x="5108453" y="4574462"/>
            <a:ext cx="576414" cy="53029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8" name="矩形 27">
            <a:extLst>
              <a:ext uri="{FF2B5EF4-FFF2-40B4-BE49-F238E27FC236}">
                <a16:creationId xmlns:a16="http://schemas.microsoft.com/office/drawing/2014/main" id="{085FC8F4-484D-5E4B-A5FC-D413B2BE2260}"/>
              </a:ext>
            </a:extLst>
          </p:cNvPr>
          <p:cNvSpPr/>
          <p:nvPr/>
        </p:nvSpPr>
        <p:spPr>
          <a:xfrm>
            <a:off x="5684867" y="4574462"/>
            <a:ext cx="576414" cy="53029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矩形 30">
            <a:extLst>
              <a:ext uri="{FF2B5EF4-FFF2-40B4-BE49-F238E27FC236}">
                <a16:creationId xmlns:a16="http://schemas.microsoft.com/office/drawing/2014/main" id="{FD32E297-756D-E942-B05A-0C0F92061B38}"/>
              </a:ext>
            </a:extLst>
          </p:cNvPr>
          <p:cNvSpPr/>
          <p:nvPr/>
        </p:nvSpPr>
        <p:spPr>
          <a:xfrm>
            <a:off x="6260581" y="4574462"/>
            <a:ext cx="2088932" cy="53029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圆角矩形 32">
            <a:extLst>
              <a:ext uri="{FF2B5EF4-FFF2-40B4-BE49-F238E27FC236}">
                <a16:creationId xmlns:a16="http://schemas.microsoft.com/office/drawing/2014/main" id="{DD37A705-8A72-174B-B2A9-CE31D3A332B2}"/>
              </a:ext>
            </a:extLst>
          </p:cNvPr>
          <p:cNvSpPr/>
          <p:nvPr/>
        </p:nvSpPr>
        <p:spPr>
          <a:xfrm>
            <a:off x="5004048" y="2635207"/>
            <a:ext cx="1080121" cy="348519"/>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b="1" dirty="0"/>
              <a:t>数据</a:t>
            </a:r>
          </a:p>
        </p:txBody>
      </p:sp>
      <p:grpSp>
        <p:nvGrpSpPr>
          <p:cNvPr id="43" name="组合 42">
            <a:extLst>
              <a:ext uri="{FF2B5EF4-FFF2-40B4-BE49-F238E27FC236}">
                <a16:creationId xmlns:a16="http://schemas.microsoft.com/office/drawing/2014/main" id="{43BAA676-080B-2C4D-9CBC-3C78CDD066BD}"/>
              </a:ext>
            </a:extLst>
          </p:cNvPr>
          <p:cNvGrpSpPr/>
          <p:nvPr/>
        </p:nvGrpSpPr>
        <p:grpSpPr>
          <a:xfrm>
            <a:off x="6062873" y="2634644"/>
            <a:ext cx="762669" cy="366872"/>
            <a:chOff x="6062873" y="2639775"/>
            <a:chExt cx="762669" cy="303200"/>
          </a:xfrm>
        </p:grpSpPr>
        <p:sp>
          <p:nvSpPr>
            <p:cNvPr id="34" name="圆角矩形 33">
              <a:extLst>
                <a:ext uri="{FF2B5EF4-FFF2-40B4-BE49-F238E27FC236}">
                  <a16:creationId xmlns:a16="http://schemas.microsoft.com/office/drawing/2014/main" id="{894EAE0B-5972-F24E-8635-7E18D5A65B94}"/>
                </a:ext>
              </a:extLst>
            </p:cNvPr>
            <p:cNvSpPr/>
            <p:nvPr/>
          </p:nvSpPr>
          <p:spPr>
            <a:xfrm>
              <a:off x="6156176" y="2639775"/>
              <a:ext cx="576064" cy="288032"/>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b="1" dirty="0"/>
            </a:p>
          </p:txBody>
        </p:sp>
        <p:sp>
          <p:nvSpPr>
            <p:cNvPr id="36" name="文本框 35">
              <a:extLst>
                <a:ext uri="{FF2B5EF4-FFF2-40B4-BE49-F238E27FC236}">
                  <a16:creationId xmlns:a16="http://schemas.microsoft.com/office/drawing/2014/main" id="{F8F81669-DB17-7442-873C-0AE34F95C51C}"/>
                </a:ext>
              </a:extLst>
            </p:cNvPr>
            <p:cNvSpPr txBox="1"/>
            <p:nvPr/>
          </p:nvSpPr>
          <p:spPr>
            <a:xfrm>
              <a:off x="6062873" y="2665976"/>
              <a:ext cx="762669" cy="276999"/>
            </a:xfrm>
            <a:prstGeom prst="rect">
              <a:avLst/>
            </a:prstGeom>
            <a:noFill/>
          </p:spPr>
          <p:txBody>
            <a:bodyPr wrap="square">
              <a:spAutoFit/>
            </a:bodyPr>
            <a:lstStyle/>
            <a:p>
              <a:pPr algn="ctr"/>
              <a:r>
                <a:rPr kumimoji="1" lang="zh-CN" altLang="en-US" sz="1200" b="1" dirty="0">
                  <a:solidFill>
                    <a:schemeClr val="bg1"/>
                  </a:solidFill>
                </a:rPr>
                <a:t>元数据</a:t>
              </a:r>
            </a:p>
          </p:txBody>
        </p:sp>
      </p:grpSp>
      <p:sp>
        <p:nvSpPr>
          <p:cNvPr id="37" name="圆角矩形 36">
            <a:extLst>
              <a:ext uri="{FF2B5EF4-FFF2-40B4-BE49-F238E27FC236}">
                <a16:creationId xmlns:a16="http://schemas.microsoft.com/office/drawing/2014/main" id="{A5B43AC8-4361-4D45-9947-4A793B205CE4}"/>
              </a:ext>
            </a:extLst>
          </p:cNvPr>
          <p:cNvSpPr/>
          <p:nvPr/>
        </p:nvSpPr>
        <p:spPr>
          <a:xfrm>
            <a:off x="4067944" y="3581094"/>
            <a:ext cx="1049039" cy="348519"/>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b="1" dirty="0"/>
              <a:t>数据</a:t>
            </a:r>
          </a:p>
        </p:txBody>
      </p:sp>
      <p:sp>
        <p:nvSpPr>
          <p:cNvPr id="38" name="圆角矩形 37">
            <a:extLst>
              <a:ext uri="{FF2B5EF4-FFF2-40B4-BE49-F238E27FC236}">
                <a16:creationId xmlns:a16="http://schemas.microsoft.com/office/drawing/2014/main" id="{A89EC726-B688-BF40-8F25-56976CF5D9E6}"/>
              </a:ext>
            </a:extLst>
          </p:cNvPr>
          <p:cNvSpPr/>
          <p:nvPr/>
        </p:nvSpPr>
        <p:spPr>
          <a:xfrm>
            <a:off x="5201756" y="3581094"/>
            <a:ext cx="576064" cy="348519"/>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b="1" dirty="0"/>
          </a:p>
        </p:txBody>
      </p:sp>
      <p:sp>
        <p:nvSpPr>
          <p:cNvPr id="39" name="文本框 38">
            <a:extLst>
              <a:ext uri="{FF2B5EF4-FFF2-40B4-BE49-F238E27FC236}">
                <a16:creationId xmlns:a16="http://schemas.microsoft.com/office/drawing/2014/main" id="{B282C962-17A7-0F49-908B-8505A520E5C1}"/>
              </a:ext>
            </a:extLst>
          </p:cNvPr>
          <p:cNvSpPr txBox="1"/>
          <p:nvPr/>
        </p:nvSpPr>
        <p:spPr>
          <a:xfrm>
            <a:off x="5108453" y="3587769"/>
            <a:ext cx="762669" cy="335169"/>
          </a:xfrm>
          <a:prstGeom prst="rect">
            <a:avLst/>
          </a:prstGeom>
          <a:noFill/>
        </p:spPr>
        <p:txBody>
          <a:bodyPr wrap="square">
            <a:spAutoFit/>
          </a:bodyPr>
          <a:lstStyle/>
          <a:p>
            <a:pPr algn="ctr"/>
            <a:r>
              <a:rPr kumimoji="1" lang="en-US" altLang="zh-CN" sz="1200" b="1" dirty="0">
                <a:solidFill>
                  <a:schemeClr val="bg1"/>
                </a:solidFill>
              </a:rPr>
              <a:t>J</a:t>
            </a:r>
            <a:r>
              <a:rPr kumimoji="1" lang="zh-CN" altLang="en-US" sz="1400" b="1" baseline="-25000" dirty="0">
                <a:solidFill>
                  <a:schemeClr val="bg1"/>
                </a:solidFill>
              </a:rPr>
              <a:t>元数据</a:t>
            </a:r>
            <a:endParaRPr kumimoji="1" lang="zh-CN" altLang="en-US" sz="1200" b="1" baseline="-25000" dirty="0">
              <a:solidFill>
                <a:schemeClr val="bg1"/>
              </a:solidFill>
            </a:endParaRPr>
          </a:p>
        </p:txBody>
      </p:sp>
      <p:sp>
        <p:nvSpPr>
          <p:cNvPr id="42" name="圆角矩形 41">
            <a:extLst>
              <a:ext uri="{FF2B5EF4-FFF2-40B4-BE49-F238E27FC236}">
                <a16:creationId xmlns:a16="http://schemas.microsoft.com/office/drawing/2014/main" id="{05C4357D-0545-7C4D-8CF3-4C10DA9798DB}"/>
              </a:ext>
            </a:extLst>
          </p:cNvPr>
          <p:cNvSpPr/>
          <p:nvPr/>
        </p:nvSpPr>
        <p:spPr>
          <a:xfrm>
            <a:off x="4571651" y="4665348"/>
            <a:ext cx="1084892" cy="348519"/>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b="1" dirty="0"/>
              <a:t>数据</a:t>
            </a:r>
          </a:p>
        </p:txBody>
      </p:sp>
      <p:grpSp>
        <p:nvGrpSpPr>
          <p:cNvPr id="44" name="组合 43">
            <a:extLst>
              <a:ext uri="{FF2B5EF4-FFF2-40B4-BE49-F238E27FC236}">
                <a16:creationId xmlns:a16="http://schemas.microsoft.com/office/drawing/2014/main" id="{24329A18-B5FD-C24D-9A8F-11FF603AE577}"/>
              </a:ext>
            </a:extLst>
          </p:cNvPr>
          <p:cNvGrpSpPr/>
          <p:nvPr/>
        </p:nvGrpSpPr>
        <p:grpSpPr>
          <a:xfrm>
            <a:off x="6300192" y="4665671"/>
            <a:ext cx="762669" cy="358904"/>
            <a:chOff x="6062873" y="2639775"/>
            <a:chExt cx="762669" cy="296615"/>
          </a:xfrm>
        </p:grpSpPr>
        <p:sp>
          <p:nvSpPr>
            <p:cNvPr id="45" name="圆角矩形 44">
              <a:extLst>
                <a:ext uri="{FF2B5EF4-FFF2-40B4-BE49-F238E27FC236}">
                  <a16:creationId xmlns:a16="http://schemas.microsoft.com/office/drawing/2014/main" id="{F5AE8F42-3A4C-D149-91CB-C166D88BEA2C}"/>
                </a:ext>
              </a:extLst>
            </p:cNvPr>
            <p:cNvSpPr/>
            <p:nvPr/>
          </p:nvSpPr>
          <p:spPr>
            <a:xfrm>
              <a:off x="6156176" y="2639775"/>
              <a:ext cx="576064" cy="288032"/>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b="1" dirty="0"/>
            </a:p>
          </p:txBody>
        </p:sp>
        <p:sp>
          <p:nvSpPr>
            <p:cNvPr id="46" name="文本框 45">
              <a:extLst>
                <a:ext uri="{FF2B5EF4-FFF2-40B4-BE49-F238E27FC236}">
                  <a16:creationId xmlns:a16="http://schemas.microsoft.com/office/drawing/2014/main" id="{AFF22F8F-C0E6-BC46-95A8-BB94F7730ADC}"/>
                </a:ext>
              </a:extLst>
            </p:cNvPr>
            <p:cNvSpPr txBox="1"/>
            <p:nvPr/>
          </p:nvSpPr>
          <p:spPr>
            <a:xfrm>
              <a:off x="6062873" y="2659391"/>
              <a:ext cx="762669" cy="276999"/>
            </a:xfrm>
            <a:prstGeom prst="rect">
              <a:avLst/>
            </a:prstGeom>
            <a:noFill/>
          </p:spPr>
          <p:txBody>
            <a:bodyPr wrap="square">
              <a:spAutoFit/>
            </a:bodyPr>
            <a:lstStyle/>
            <a:p>
              <a:pPr algn="ctr"/>
              <a:r>
                <a:rPr kumimoji="1" lang="en-US" altLang="zh-CN" sz="1200" b="1" dirty="0">
                  <a:solidFill>
                    <a:schemeClr val="bg1"/>
                  </a:solidFill>
                </a:rPr>
                <a:t>J</a:t>
              </a:r>
              <a:r>
                <a:rPr kumimoji="1" lang="zh-CN" altLang="en-US" sz="1400" b="1" baseline="-25000" dirty="0">
                  <a:solidFill>
                    <a:schemeClr val="bg1"/>
                  </a:solidFill>
                </a:rPr>
                <a:t>元数据</a:t>
              </a:r>
            </a:p>
          </p:txBody>
        </p:sp>
      </p:grpSp>
      <p:grpSp>
        <p:nvGrpSpPr>
          <p:cNvPr id="49" name="组合 48">
            <a:extLst>
              <a:ext uri="{FF2B5EF4-FFF2-40B4-BE49-F238E27FC236}">
                <a16:creationId xmlns:a16="http://schemas.microsoft.com/office/drawing/2014/main" id="{95DB24B6-162C-5340-8B9C-8F71590FE712}"/>
              </a:ext>
            </a:extLst>
          </p:cNvPr>
          <p:cNvGrpSpPr/>
          <p:nvPr/>
        </p:nvGrpSpPr>
        <p:grpSpPr>
          <a:xfrm>
            <a:off x="6375310" y="3599819"/>
            <a:ext cx="762669" cy="349644"/>
            <a:chOff x="6062873" y="2639775"/>
            <a:chExt cx="762669" cy="288962"/>
          </a:xfrm>
        </p:grpSpPr>
        <p:sp>
          <p:nvSpPr>
            <p:cNvPr id="50" name="圆角矩形 49">
              <a:extLst>
                <a:ext uri="{FF2B5EF4-FFF2-40B4-BE49-F238E27FC236}">
                  <a16:creationId xmlns:a16="http://schemas.microsoft.com/office/drawing/2014/main" id="{06066DBE-D2CC-CD43-9176-7A388612B1BC}"/>
                </a:ext>
              </a:extLst>
            </p:cNvPr>
            <p:cNvSpPr/>
            <p:nvPr/>
          </p:nvSpPr>
          <p:spPr>
            <a:xfrm>
              <a:off x="6156176" y="2639775"/>
              <a:ext cx="576064" cy="288032"/>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b="1" dirty="0"/>
            </a:p>
          </p:txBody>
        </p:sp>
        <p:sp>
          <p:nvSpPr>
            <p:cNvPr id="51" name="文本框 50">
              <a:extLst>
                <a:ext uri="{FF2B5EF4-FFF2-40B4-BE49-F238E27FC236}">
                  <a16:creationId xmlns:a16="http://schemas.microsoft.com/office/drawing/2014/main" id="{5595263D-4371-F342-B9A6-DEBE7677DE6F}"/>
                </a:ext>
              </a:extLst>
            </p:cNvPr>
            <p:cNvSpPr txBox="1"/>
            <p:nvPr/>
          </p:nvSpPr>
          <p:spPr>
            <a:xfrm>
              <a:off x="6062873" y="2651738"/>
              <a:ext cx="762669" cy="276999"/>
            </a:xfrm>
            <a:prstGeom prst="rect">
              <a:avLst/>
            </a:prstGeom>
            <a:noFill/>
          </p:spPr>
          <p:txBody>
            <a:bodyPr wrap="square">
              <a:spAutoFit/>
            </a:bodyPr>
            <a:lstStyle/>
            <a:p>
              <a:pPr algn="ctr"/>
              <a:r>
                <a:rPr kumimoji="1" lang="en-US" altLang="zh-CN" sz="1200" b="1" dirty="0" err="1">
                  <a:solidFill>
                    <a:schemeClr val="bg1"/>
                  </a:solidFill>
                </a:rPr>
                <a:t>J</a:t>
              </a:r>
              <a:r>
                <a:rPr kumimoji="1" lang="en-US" altLang="zh-CN" sz="1400" b="1" baseline="-25000" dirty="0" err="1">
                  <a:solidFill>
                    <a:schemeClr val="bg1"/>
                  </a:solidFill>
                </a:rPr>
                <a:t>Cmt</a:t>
              </a:r>
              <a:endParaRPr kumimoji="1" lang="zh-CN" altLang="en-US" sz="1400" b="1" baseline="-25000" dirty="0">
                <a:solidFill>
                  <a:schemeClr val="bg1"/>
                </a:solidFill>
              </a:endParaRPr>
            </a:p>
          </p:txBody>
        </p:sp>
      </p:grpSp>
      <p:grpSp>
        <p:nvGrpSpPr>
          <p:cNvPr id="52" name="组合 51">
            <a:extLst>
              <a:ext uri="{FF2B5EF4-FFF2-40B4-BE49-F238E27FC236}">
                <a16:creationId xmlns:a16="http://schemas.microsoft.com/office/drawing/2014/main" id="{2944380B-5AD7-134A-847B-C53ADDCBAED1}"/>
              </a:ext>
            </a:extLst>
          </p:cNvPr>
          <p:cNvGrpSpPr/>
          <p:nvPr/>
        </p:nvGrpSpPr>
        <p:grpSpPr>
          <a:xfrm>
            <a:off x="6943517" y="4658741"/>
            <a:ext cx="762669" cy="365830"/>
            <a:chOff x="6062873" y="2639775"/>
            <a:chExt cx="762669" cy="302339"/>
          </a:xfrm>
        </p:grpSpPr>
        <p:sp>
          <p:nvSpPr>
            <p:cNvPr id="53" name="圆角矩形 52">
              <a:extLst>
                <a:ext uri="{FF2B5EF4-FFF2-40B4-BE49-F238E27FC236}">
                  <a16:creationId xmlns:a16="http://schemas.microsoft.com/office/drawing/2014/main" id="{DA797E53-6F48-DB4F-8A95-40B0A10CFB7F}"/>
                </a:ext>
              </a:extLst>
            </p:cNvPr>
            <p:cNvSpPr/>
            <p:nvPr/>
          </p:nvSpPr>
          <p:spPr>
            <a:xfrm>
              <a:off x="6156176" y="2639775"/>
              <a:ext cx="576064" cy="288032"/>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b="1" dirty="0"/>
            </a:p>
          </p:txBody>
        </p:sp>
        <p:sp>
          <p:nvSpPr>
            <p:cNvPr id="54" name="文本框 53">
              <a:extLst>
                <a:ext uri="{FF2B5EF4-FFF2-40B4-BE49-F238E27FC236}">
                  <a16:creationId xmlns:a16="http://schemas.microsoft.com/office/drawing/2014/main" id="{EE7AB302-5666-1246-9A06-8CBB5912E869}"/>
                </a:ext>
              </a:extLst>
            </p:cNvPr>
            <p:cNvSpPr txBox="1"/>
            <p:nvPr/>
          </p:nvSpPr>
          <p:spPr>
            <a:xfrm>
              <a:off x="6062873" y="2665115"/>
              <a:ext cx="762669" cy="276999"/>
            </a:xfrm>
            <a:prstGeom prst="rect">
              <a:avLst/>
            </a:prstGeom>
            <a:noFill/>
          </p:spPr>
          <p:txBody>
            <a:bodyPr wrap="square">
              <a:spAutoFit/>
            </a:bodyPr>
            <a:lstStyle/>
            <a:p>
              <a:pPr algn="ctr"/>
              <a:r>
                <a:rPr kumimoji="1" lang="en-US" altLang="zh-CN" sz="1200" b="1" dirty="0" err="1">
                  <a:solidFill>
                    <a:schemeClr val="bg1"/>
                  </a:solidFill>
                </a:rPr>
                <a:t>J</a:t>
              </a:r>
              <a:r>
                <a:rPr kumimoji="1" lang="en-US" altLang="zh-CN" sz="1400" b="1" baseline="-25000" dirty="0" err="1">
                  <a:solidFill>
                    <a:schemeClr val="bg1"/>
                  </a:solidFill>
                </a:rPr>
                <a:t>Cmt</a:t>
              </a:r>
              <a:endParaRPr kumimoji="1" lang="zh-CN" altLang="en-US" sz="1400" b="1" baseline="-25000" dirty="0">
                <a:solidFill>
                  <a:schemeClr val="bg1"/>
                </a:solidFill>
              </a:endParaRPr>
            </a:p>
          </p:txBody>
        </p:sp>
      </p:grpSp>
      <p:grpSp>
        <p:nvGrpSpPr>
          <p:cNvPr id="61" name="组合 60">
            <a:extLst>
              <a:ext uri="{FF2B5EF4-FFF2-40B4-BE49-F238E27FC236}">
                <a16:creationId xmlns:a16="http://schemas.microsoft.com/office/drawing/2014/main" id="{9F732BFE-66E8-8C4A-9730-CF646BD6C3A5}"/>
              </a:ext>
            </a:extLst>
          </p:cNvPr>
          <p:cNvGrpSpPr/>
          <p:nvPr/>
        </p:nvGrpSpPr>
        <p:grpSpPr>
          <a:xfrm>
            <a:off x="7704126" y="3580531"/>
            <a:ext cx="762669" cy="349644"/>
            <a:chOff x="6062873" y="2639775"/>
            <a:chExt cx="762669" cy="288962"/>
          </a:xfrm>
        </p:grpSpPr>
        <p:sp>
          <p:nvSpPr>
            <p:cNvPr id="62" name="圆角矩形 61">
              <a:extLst>
                <a:ext uri="{FF2B5EF4-FFF2-40B4-BE49-F238E27FC236}">
                  <a16:creationId xmlns:a16="http://schemas.microsoft.com/office/drawing/2014/main" id="{FCA1F94D-C1CE-A742-9F90-E00CC94EA5A4}"/>
                </a:ext>
              </a:extLst>
            </p:cNvPr>
            <p:cNvSpPr/>
            <p:nvPr/>
          </p:nvSpPr>
          <p:spPr>
            <a:xfrm>
              <a:off x="6156176" y="2639775"/>
              <a:ext cx="576064" cy="288032"/>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b="1" dirty="0"/>
            </a:p>
          </p:txBody>
        </p:sp>
        <p:sp>
          <p:nvSpPr>
            <p:cNvPr id="63" name="文本框 62">
              <a:extLst>
                <a:ext uri="{FF2B5EF4-FFF2-40B4-BE49-F238E27FC236}">
                  <a16:creationId xmlns:a16="http://schemas.microsoft.com/office/drawing/2014/main" id="{765AA15F-48EC-B04C-929C-E69346341CCF}"/>
                </a:ext>
              </a:extLst>
            </p:cNvPr>
            <p:cNvSpPr txBox="1"/>
            <p:nvPr/>
          </p:nvSpPr>
          <p:spPr>
            <a:xfrm>
              <a:off x="6062873" y="2651738"/>
              <a:ext cx="762669" cy="276999"/>
            </a:xfrm>
            <a:prstGeom prst="rect">
              <a:avLst/>
            </a:prstGeom>
            <a:noFill/>
          </p:spPr>
          <p:txBody>
            <a:bodyPr wrap="square">
              <a:spAutoFit/>
            </a:bodyPr>
            <a:lstStyle/>
            <a:p>
              <a:pPr algn="ctr"/>
              <a:r>
                <a:rPr kumimoji="1" lang="zh-CN" altLang="en-US" sz="1200" b="1" dirty="0">
                  <a:solidFill>
                    <a:schemeClr val="bg1"/>
                  </a:solidFill>
                </a:rPr>
                <a:t>元数据</a:t>
              </a:r>
            </a:p>
          </p:txBody>
        </p:sp>
      </p:grpSp>
      <p:grpSp>
        <p:nvGrpSpPr>
          <p:cNvPr id="65" name="组合 64">
            <a:extLst>
              <a:ext uri="{FF2B5EF4-FFF2-40B4-BE49-F238E27FC236}">
                <a16:creationId xmlns:a16="http://schemas.microsoft.com/office/drawing/2014/main" id="{6EA0EF93-11A9-AF48-9754-8BAD563F6D04}"/>
              </a:ext>
            </a:extLst>
          </p:cNvPr>
          <p:cNvGrpSpPr/>
          <p:nvPr/>
        </p:nvGrpSpPr>
        <p:grpSpPr>
          <a:xfrm>
            <a:off x="3166200" y="4682164"/>
            <a:ext cx="762669" cy="349644"/>
            <a:chOff x="6062873" y="2639775"/>
            <a:chExt cx="762669" cy="288962"/>
          </a:xfrm>
        </p:grpSpPr>
        <p:sp>
          <p:nvSpPr>
            <p:cNvPr id="66" name="圆角矩形 65">
              <a:extLst>
                <a:ext uri="{FF2B5EF4-FFF2-40B4-BE49-F238E27FC236}">
                  <a16:creationId xmlns:a16="http://schemas.microsoft.com/office/drawing/2014/main" id="{1EFC1954-80DB-C84B-B81B-E9EA5568CC30}"/>
                </a:ext>
              </a:extLst>
            </p:cNvPr>
            <p:cNvSpPr/>
            <p:nvPr/>
          </p:nvSpPr>
          <p:spPr>
            <a:xfrm>
              <a:off x="6156176" y="2639775"/>
              <a:ext cx="576064" cy="288032"/>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b="1" dirty="0"/>
            </a:p>
          </p:txBody>
        </p:sp>
        <p:sp>
          <p:nvSpPr>
            <p:cNvPr id="67" name="文本框 66">
              <a:extLst>
                <a:ext uri="{FF2B5EF4-FFF2-40B4-BE49-F238E27FC236}">
                  <a16:creationId xmlns:a16="http://schemas.microsoft.com/office/drawing/2014/main" id="{2B5938D0-5A48-1F40-BEA2-3CBBCC27A8E9}"/>
                </a:ext>
              </a:extLst>
            </p:cNvPr>
            <p:cNvSpPr txBox="1"/>
            <p:nvPr/>
          </p:nvSpPr>
          <p:spPr>
            <a:xfrm>
              <a:off x="6062873" y="2651738"/>
              <a:ext cx="762669" cy="276999"/>
            </a:xfrm>
            <a:prstGeom prst="rect">
              <a:avLst/>
            </a:prstGeom>
            <a:noFill/>
          </p:spPr>
          <p:txBody>
            <a:bodyPr wrap="square">
              <a:spAutoFit/>
            </a:bodyPr>
            <a:lstStyle/>
            <a:p>
              <a:pPr algn="ctr"/>
              <a:r>
                <a:rPr kumimoji="1" lang="zh-CN" altLang="en-US" sz="1200" b="1" dirty="0">
                  <a:solidFill>
                    <a:schemeClr val="bg1"/>
                  </a:solidFill>
                </a:rPr>
                <a:t>元数据</a:t>
              </a:r>
            </a:p>
          </p:txBody>
        </p:sp>
      </p:grpSp>
      <p:grpSp>
        <p:nvGrpSpPr>
          <p:cNvPr id="70" name="组合 69">
            <a:extLst>
              <a:ext uri="{FF2B5EF4-FFF2-40B4-BE49-F238E27FC236}">
                <a16:creationId xmlns:a16="http://schemas.microsoft.com/office/drawing/2014/main" id="{CA44F621-1297-3746-9E3C-7E920D43E5A7}"/>
              </a:ext>
            </a:extLst>
          </p:cNvPr>
          <p:cNvGrpSpPr/>
          <p:nvPr/>
        </p:nvGrpSpPr>
        <p:grpSpPr>
          <a:xfrm>
            <a:off x="5709638" y="3540818"/>
            <a:ext cx="762669" cy="429070"/>
            <a:chOff x="5709638" y="3530600"/>
            <a:chExt cx="762669" cy="429070"/>
          </a:xfrm>
        </p:grpSpPr>
        <p:sp>
          <p:nvSpPr>
            <p:cNvPr id="68" name="椭圆 67">
              <a:extLst>
                <a:ext uri="{FF2B5EF4-FFF2-40B4-BE49-F238E27FC236}">
                  <a16:creationId xmlns:a16="http://schemas.microsoft.com/office/drawing/2014/main" id="{50C68EC8-DD46-0844-B7D2-9E43EA96EA55}"/>
                </a:ext>
              </a:extLst>
            </p:cNvPr>
            <p:cNvSpPr/>
            <p:nvPr/>
          </p:nvSpPr>
          <p:spPr>
            <a:xfrm>
              <a:off x="5871122" y="3530600"/>
              <a:ext cx="429070" cy="429070"/>
            </a:xfrm>
            <a:prstGeom prst="ellipse">
              <a:avLst/>
            </a:prstGeom>
            <a:solidFill>
              <a:srgbClr val="9437FF"/>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9" name="文本框 68">
              <a:extLst>
                <a:ext uri="{FF2B5EF4-FFF2-40B4-BE49-F238E27FC236}">
                  <a16:creationId xmlns:a16="http://schemas.microsoft.com/office/drawing/2014/main" id="{CD7FD1BE-7297-D941-8F09-D7629630787D}"/>
                </a:ext>
              </a:extLst>
            </p:cNvPr>
            <p:cNvSpPr txBox="1"/>
            <p:nvPr/>
          </p:nvSpPr>
          <p:spPr>
            <a:xfrm>
              <a:off x="5709638" y="3630125"/>
              <a:ext cx="762669" cy="261610"/>
            </a:xfrm>
            <a:prstGeom prst="rect">
              <a:avLst/>
            </a:prstGeom>
            <a:noFill/>
          </p:spPr>
          <p:txBody>
            <a:bodyPr wrap="square">
              <a:spAutoFit/>
            </a:bodyPr>
            <a:lstStyle/>
            <a:p>
              <a:pPr algn="ctr"/>
              <a:r>
                <a:rPr kumimoji="1" lang="en-US" altLang="zh-CN" sz="1050" b="1" dirty="0">
                  <a:solidFill>
                    <a:schemeClr val="bg1"/>
                  </a:solidFill>
                </a:rPr>
                <a:t>Flush</a:t>
              </a:r>
              <a:endParaRPr kumimoji="1" lang="zh-CN" altLang="en-US" sz="1050" b="1" dirty="0">
                <a:solidFill>
                  <a:schemeClr val="bg1"/>
                </a:solidFill>
              </a:endParaRPr>
            </a:p>
          </p:txBody>
        </p:sp>
      </p:grpSp>
      <p:grpSp>
        <p:nvGrpSpPr>
          <p:cNvPr id="71" name="组合 70">
            <a:extLst>
              <a:ext uri="{FF2B5EF4-FFF2-40B4-BE49-F238E27FC236}">
                <a16:creationId xmlns:a16="http://schemas.microsoft.com/office/drawing/2014/main" id="{7658119D-B86A-5A46-A7B4-A7F929ECE70D}"/>
              </a:ext>
            </a:extLst>
          </p:cNvPr>
          <p:cNvGrpSpPr/>
          <p:nvPr/>
        </p:nvGrpSpPr>
        <p:grpSpPr>
          <a:xfrm>
            <a:off x="7069797" y="3540818"/>
            <a:ext cx="762669" cy="429070"/>
            <a:chOff x="5709638" y="3530600"/>
            <a:chExt cx="762669" cy="429070"/>
          </a:xfrm>
        </p:grpSpPr>
        <p:sp>
          <p:nvSpPr>
            <p:cNvPr id="72" name="椭圆 71">
              <a:extLst>
                <a:ext uri="{FF2B5EF4-FFF2-40B4-BE49-F238E27FC236}">
                  <a16:creationId xmlns:a16="http://schemas.microsoft.com/office/drawing/2014/main" id="{0971041E-DBF5-EB40-8C9C-4A494AAFD8CF}"/>
                </a:ext>
              </a:extLst>
            </p:cNvPr>
            <p:cNvSpPr/>
            <p:nvPr/>
          </p:nvSpPr>
          <p:spPr>
            <a:xfrm>
              <a:off x="5871122" y="3530600"/>
              <a:ext cx="429070" cy="429070"/>
            </a:xfrm>
            <a:prstGeom prst="ellipse">
              <a:avLst/>
            </a:prstGeom>
            <a:solidFill>
              <a:srgbClr val="9437FF"/>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3" name="文本框 72">
              <a:extLst>
                <a:ext uri="{FF2B5EF4-FFF2-40B4-BE49-F238E27FC236}">
                  <a16:creationId xmlns:a16="http://schemas.microsoft.com/office/drawing/2014/main" id="{A83CA717-3A1B-6742-A6AD-3558177FDA32}"/>
                </a:ext>
              </a:extLst>
            </p:cNvPr>
            <p:cNvSpPr txBox="1"/>
            <p:nvPr/>
          </p:nvSpPr>
          <p:spPr>
            <a:xfrm>
              <a:off x="5709638" y="3630125"/>
              <a:ext cx="762669" cy="261610"/>
            </a:xfrm>
            <a:prstGeom prst="rect">
              <a:avLst/>
            </a:prstGeom>
            <a:noFill/>
          </p:spPr>
          <p:txBody>
            <a:bodyPr wrap="square">
              <a:spAutoFit/>
            </a:bodyPr>
            <a:lstStyle/>
            <a:p>
              <a:pPr algn="ctr"/>
              <a:r>
                <a:rPr kumimoji="1" lang="en-US" altLang="zh-CN" sz="1050" b="1" dirty="0">
                  <a:solidFill>
                    <a:schemeClr val="bg1"/>
                  </a:solidFill>
                </a:rPr>
                <a:t>Flush</a:t>
              </a:r>
              <a:endParaRPr kumimoji="1" lang="zh-CN" altLang="en-US" sz="1050" b="1" dirty="0">
                <a:solidFill>
                  <a:schemeClr val="bg1"/>
                </a:solidFill>
              </a:endParaRPr>
            </a:p>
          </p:txBody>
        </p:sp>
      </p:grpSp>
      <p:sp>
        <p:nvSpPr>
          <p:cNvPr id="76" name="圆角矩形 75">
            <a:extLst>
              <a:ext uri="{FF2B5EF4-FFF2-40B4-BE49-F238E27FC236}">
                <a16:creationId xmlns:a16="http://schemas.microsoft.com/office/drawing/2014/main" id="{B09CCF53-74A3-B048-BD40-E710D44B6DD0}"/>
              </a:ext>
            </a:extLst>
          </p:cNvPr>
          <p:cNvSpPr/>
          <p:nvPr/>
        </p:nvSpPr>
        <p:spPr>
          <a:xfrm>
            <a:off x="6825543" y="2634646"/>
            <a:ext cx="576064" cy="348519"/>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b="1" dirty="0"/>
          </a:p>
        </p:txBody>
      </p:sp>
      <p:sp>
        <p:nvSpPr>
          <p:cNvPr id="77" name="文本框 76">
            <a:extLst>
              <a:ext uri="{FF2B5EF4-FFF2-40B4-BE49-F238E27FC236}">
                <a16:creationId xmlns:a16="http://schemas.microsoft.com/office/drawing/2014/main" id="{5B2D55F5-DE46-6949-BDB2-767CA08294E0}"/>
              </a:ext>
            </a:extLst>
          </p:cNvPr>
          <p:cNvSpPr txBox="1"/>
          <p:nvPr/>
        </p:nvSpPr>
        <p:spPr>
          <a:xfrm>
            <a:off x="6732240" y="2641321"/>
            <a:ext cx="762669" cy="335169"/>
          </a:xfrm>
          <a:prstGeom prst="rect">
            <a:avLst/>
          </a:prstGeom>
          <a:noFill/>
        </p:spPr>
        <p:txBody>
          <a:bodyPr wrap="square">
            <a:spAutoFit/>
          </a:bodyPr>
          <a:lstStyle/>
          <a:p>
            <a:pPr algn="ctr"/>
            <a:r>
              <a:rPr kumimoji="1" lang="en-US" altLang="zh-CN" sz="1200" b="1" dirty="0">
                <a:solidFill>
                  <a:schemeClr val="bg1"/>
                </a:solidFill>
              </a:rPr>
              <a:t>J</a:t>
            </a:r>
            <a:r>
              <a:rPr kumimoji="1" lang="zh-CN" altLang="en-US" sz="1400" b="1" baseline="-25000" dirty="0">
                <a:solidFill>
                  <a:schemeClr val="bg1"/>
                </a:solidFill>
              </a:rPr>
              <a:t>元数据</a:t>
            </a:r>
            <a:endParaRPr kumimoji="1" lang="zh-CN" altLang="en-US" sz="1200" b="1" baseline="-25000" dirty="0">
              <a:solidFill>
                <a:schemeClr val="bg1"/>
              </a:solidFill>
            </a:endParaRPr>
          </a:p>
        </p:txBody>
      </p:sp>
      <p:grpSp>
        <p:nvGrpSpPr>
          <p:cNvPr id="78" name="组合 77">
            <a:extLst>
              <a:ext uri="{FF2B5EF4-FFF2-40B4-BE49-F238E27FC236}">
                <a16:creationId xmlns:a16="http://schemas.microsoft.com/office/drawing/2014/main" id="{7C0AB8A3-F6CC-9647-9AC7-8E8D9A413787}"/>
              </a:ext>
            </a:extLst>
          </p:cNvPr>
          <p:cNvGrpSpPr/>
          <p:nvPr/>
        </p:nvGrpSpPr>
        <p:grpSpPr>
          <a:xfrm>
            <a:off x="7401606" y="2633279"/>
            <a:ext cx="762669" cy="365830"/>
            <a:chOff x="6062873" y="2639775"/>
            <a:chExt cx="762669" cy="302339"/>
          </a:xfrm>
        </p:grpSpPr>
        <p:sp>
          <p:nvSpPr>
            <p:cNvPr id="79" name="圆角矩形 78">
              <a:extLst>
                <a:ext uri="{FF2B5EF4-FFF2-40B4-BE49-F238E27FC236}">
                  <a16:creationId xmlns:a16="http://schemas.microsoft.com/office/drawing/2014/main" id="{410ADF22-E867-8343-B226-9826DA119E3F}"/>
                </a:ext>
              </a:extLst>
            </p:cNvPr>
            <p:cNvSpPr/>
            <p:nvPr/>
          </p:nvSpPr>
          <p:spPr>
            <a:xfrm>
              <a:off x="6156176" y="2639775"/>
              <a:ext cx="576064" cy="288032"/>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b="1" dirty="0"/>
            </a:p>
          </p:txBody>
        </p:sp>
        <p:sp>
          <p:nvSpPr>
            <p:cNvPr id="80" name="文本框 79">
              <a:extLst>
                <a:ext uri="{FF2B5EF4-FFF2-40B4-BE49-F238E27FC236}">
                  <a16:creationId xmlns:a16="http://schemas.microsoft.com/office/drawing/2014/main" id="{F8CC18A0-7857-CB47-B73D-EE77F15E4106}"/>
                </a:ext>
              </a:extLst>
            </p:cNvPr>
            <p:cNvSpPr txBox="1"/>
            <p:nvPr/>
          </p:nvSpPr>
          <p:spPr>
            <a:xfrm>
              <a:off x="6062873" y="2665115"/>
              <a:ext cx="762669" cy="276999"/>
            </a:xfrm>
            <a:prstGeom prst="rect">
              <a:avLst/>
            </a:prstGeom>
            <a:noFill/>
          </p:spPr>
          <p:txBody>
            <a:bodyPr wrap="square">
              <a:spAutoFit/>
            </a:bodyPr>
            <a:lstStyle/>
            <a:p>
              <a:pPr algn="ctr"/>
              <a:r>
                <a:rPr kumimoji="1" lang="en-US" altLang="zh-CN" sz="1200" b="1" dirty="0" err="1">
                  <a:solidFill>
                    <a:schemeClr val="bg1"/>
                  </a:solidFill>
                </a:rPr>
                <a:t>J</a:t>
              </a:r>
              <a:r>
                <a:rPr kumimoji="1" lang="en-US" altLang="zh-CN" sz="1400" b="1" baseline="-25000" dirty="0" err="1">
                  <a:solidFill>
                    <a:schemeClr val="bg1"/>
                  </a:solidFill>
                </a:rPr>
                <a:t>Cmt</a:t>
              </a:r>
              <a:endParaRPr kumimoji="1" lang="zh-CN" altLang="en-US" sz="1400" b="1" baseline="-25000" dirty="0">
                <a:solidFill>
                  <a:schemeClr val="bg1"/>
                </a:solidFill>
              </a:endParaRPr>
            </a:p>
          </p:txBody>
        </p:sp>
      </p:grpSp>
      <p:cxnSp>
        <p:nvCxnSpPr>
          <p:cNvPr id="81" name="直线连接符 80">
            <a:extLst>
              <a:ext uri="{FF2B5EF4-FFF2-40B4-BE49-F238E27FC236}">
                <a16:creationId xmlns:a16="http://schemas.microsoft.com/office/drawing/2014/main" id="{75934526-6D83-8C46-9208-8CA4C98027CD}"/>
              </a:ext>
            </a:extLst>
          </p:cNvPr>
          <p:cNvCxnSpPr/>
          <p:nvPr/>
        </p:nvCxnSpPr>
        <p:spPr>
          <a:xfrm>
            <a:off x="763960" y="2281436"/>
            <a:ext cx="7776864" cy="0"/>
          </a:xfrm>
          <a:prstGeom prst="line">
            <a:avLst/>
          </a:prstGeom>
          <a:ln w="28575">
            <a:solidFill>
              <a:srgbClr val="7030A0"/>
            </a:solidFill>
            <a:prstDash val="dash"/>
          </a:ln>
        </p:spPr>
        <p:style>
          <a:lnRef idx="1">
            <a:schemeClr val="accent1"/>
          </a:lnRef>
          <a:fillRef idx="0">
            <a:schemeClr val="accent1"/>
          </a:fillRef>
          <a:effectRef idx="0">
            <a:schemeClr val="accent1"/>
          </a:effectRef>
          <a:fontRef idx="minor">
            <a:schemeClr val="tx1"/>
          </a:fontRef>
        </p:style>
      </p:cxnSp>
      <p:sp>
        <p:nvSpPr>
          <p:cNvPr id="82" name="文本框 81">
            <a:extLst>
              <a:ext uri="{FF2B5EF4-FFF2-40B4-BE49-F238E27FC236}">
                <a16:creationId xmlns:a16="http://schemas.microsoft.com/office/drawing/2014/main" id="{08592A58-7785-C344-8C57-091AF23E8038}"/>
              </a:ext>
            </a:extLst>
          </p:cNvPr>
          <p:cNvSpPr txBox="1"/>
          <p:nvPr/>
        </p:nvSpPr>
        <p:spPr>
          <a:xfrm>
            <a:off x="256637" y="1624313"/>
            <a:ext cx="1584176" cy="400110"/>
          </a:xfrm>
          <a:prstGeom prst="rect">
            <a:avLst/>
          </a:prstGeom>
          <a:noFill/>
        </p:spPr>
        <p:txBody>
          <a:bodyPr wrap="square" rtlCol="0">
            <a:spAutoFit/>
          </a:bodyPr>
          <a:lstStyle/>
          <a:p>
            <a:r>
              <a:rPr kumimoji="1" lang="zh-CN" altLang="en-US" sz="2000" b="1" dirty="0">
                <a:solidFill>
                  <a:srgbClr val="7030A0"/>
                </a:solidFill>
              </a:rPr>
              <a:t>应用程序</a:t>
            </a:r>
          </a:p>
        </p:txBody>
      </p:sp>
      <p:sp>
        <p:nvSpPr>
          <p:cNvPr id="83" name="圆角矩形 82">
            <a:extLst>
              <a:ext uri="{FF2B5EF4-FFF2-40B4-BE49-F238E27FC236}">
                <a16:creationId xmlns:a16="http://schemas.microsoft.com/office/drawing/2014/main" id="{3041273C-55C6-9440-BCF4-AB89F0550563}"/>
              </a:ext>
            </a:extLst>
          </p:cNvPr>
          <p:cNvSpPr/>
          <p:nvPr/>
        </p:nvSpPr>
        <p:spPr>
          <a:xfrm>
            <a:off x="6969559" y="1619873"/>
            <a:ext cx="1080121" cy="348519"/>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b="1" dirty="0"/>
              <a:t>数据</a:t>
            </a:r>
          </a:p>
        </p:txBody>
      </p:sp>
    </p:spTree>
    <p:extLst>
      <p:ext uri="{BB962C8B-B14F-4D97-AF65-F5344CB8AC3E}">
        <p14:creationId xmlns:p14="http://schemas.microsoft.com/office/powerpoint/2010/main" val="3174859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fade">
                                      <p:cBhvr>
                                        <p:cTn id="12" dur="500"/>
                                        <p:tgtEl>
                                          <p:spTgt spid="4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6"/>
                                        </p:tgtEl>
                                        <p:attrNameLst>
                                          <p:attrName>style.visibility</p:attrName>
                                        </p:attrNameLst>
                                      </p:cBhvr>
                                      <p:to>
                                        <p:strVal val="visible"/>
                                      </p:to>
                                    </p:set>
                                    <p:animEffect transition="in" filter="fade">
                                      <p:cBhvr>
                                        <p:cTn id="17" dur="500"/>
                                        <p:tgtEl>
                                          <p:spTgt spid="7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7"/>
                                        </p:tgtEl>
                                        <p:attrNameLst>
                                          <p:attrName>style.visibility</p:attrName>
                                        </p:attrNameLst>
                                      </p:cBhvr>
                                      <p:to>
                                        <p:strVal val="visible"/>
                                      </p:to>
                                    </p:set>
                                    <p:animEffect transition="in" filter="fade">
                                      <p:cBhvr>
                                        <p:cTn id="20" dur="500"/>
                                        <p:tgtEl>
                                          <p:spTgt spid="7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78"/>
                                        </p:tgtEl>
                                        <p:attrNameLst>
                                          <p:attrName>style.visibility</p:attrName>
                                        </p:attrNameLst>
                                      </p:cBhvr>
                                      <p:to>
                                        <p:strVal val="visible"/>
                                      </p:to>
                                    </p:set>
                                    <p:animEffect transition="in" filter="fade">
                                      <p:cBhvr>
                                        <p:cTn id="25" dur="500"/>
                                        <p:tgtEl>
                                          <p:spTgt spid="7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7"/>
                                        </p:tgtEl>
                                        <p:attrNameLst>
                                          <p:attrName>style.visibility</p:attrName>
                                        </p:attrNameLst>
                                      </p:cBhvr>
                                      <p:to>
                                        <p:strVal val="visible"/>
                                      </p:to>
                                    </p:set>
                                    <p:animEffect transition="in" filter="fade">
                                      <p:cBhvr>
                                        <p:cTn id="30" dur="500"/>
                                        <p:tgtEl>
                                          <p:spTgt spid="3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fade">
                                      <p:cBhvr>
                                        <p:cTn id="35" dur="500"/>
                                        <p:tgtEl>
                                          <p:spTgt spid="39"/>
                                        </p:tgtEl>
                                      </p:cBhvr>
                                    </p:animEffect>
                                  </p:childTnLst>
                                </p:cTn>
                              </p:par>
                              <p:par>
                                <p:cTn id="36" presetID="1" presetClass="entr" presetSubtype="0" fill="hold" grpId="1" nodeType="withEffect">
                                  <p:stCondLst>
                                    <p:cond delay="0"/>
                                  </p:stCondLst>
                                  <p:childTnLst>
                                    <p:set>
                                      <p:cBhvr>
                                        <p:cTn id="37" dur="1" fill="hold">
                                          <p:stCondLst>
                                            <p:cond delay="0"/>
                                          </p:stCondLst>
                                        </p:cTn>
                                        <p:tgtEl>
                                          <p:spTgt spid="38"/>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0"/>
                                        </p:tgtEl>
                                        <p:attrNameLst>
                                          <p:attrName>style.visibility</p:attrName>
                                        </p:attrNameLst>
                                      </p:cBhvr>
                                      <p:to>
                                        <p:strVal val="visible"/>
                                      </p:to>
                                    </p:set>
                                    <p:animEffect transition="in" filter="fade">
                                      <p:cBhvr>
                                        <p:cTn id="42" dur="500"/>
                                        <p:tgtEl>
                                          <p:spTgt spid="7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xit" presetSubtype="0" fill="hold" grpId="1" nodeType="clickEffect">
                                  <p:stCondLst>
                                    <p:cond delay="0"/>
                                  </p:stCondLst>
                                  <p:childTnLst>
                                    <p:animEffect transition="out" filter="fade">
                                      <p:cBhvr>
                                        <p:cTn id="46" dur="500"/>
                                        <p:tgtEl>
                                          <p:spTgt spid="37"/>
                                        </p:tgtEl>
                                      </p:cBhvr>
                                    </p:animEffect>
                                    <p:set>
                                      <p:cBhvr>
                                        <p:cTn id="47" dur="1" fill="hold">
                                          <p:stCondLst>
                                            <p:cond delay="499"/>
                                          </p:stCondLst>
                                        </p:cTn>
                                        <p:tgtEl>
                                          <p:spTgt spid="37"/>
                                        </p:tgtEl>
                                        <p:attrNameLst>
                                          <p:attrName>style.visibility</p:attrName>
                                        </p:attrNameLst>
                                      </p:cBhvr>
                                      <p:to>
                                        <p:strVal val="hidden"/>
                                      </p:to>
                                    </p:set>
                                  </p:childTnLst>
                                </p:cTn>
                              </p:par>
                              <p:par>
                                <p:cTn id="48" presetID="10" presetClass="exit" presetSubtype="0" fill="hold" grpId="0" nodeType="withEffect">
                                  <p:stCondLst>
                                    <p:cond delay="0"/>
                                  </p:stCondLst>
                                  <p:childTnLst>
                                    <p:animEffect transition="out" filter="fade">
                                      <p:cBhvr>
                                        <p:cTn id="49" dur="500"/>
                                        <p:tgtEl>
                                          <p:spTgt spid="38"/>
                                        </p:tgtEl>
                                      </p:cBhvr>
                                    </p:animEffect>
                                    <p:set>
                                      <p:cBhvr>
                                        <p:cTn id="50" dur="1" fill="hold">
                                          <p:stCondLst>
                                            <p:cond delay="499"/>
                                          </p:stCondLst>
                                        </p:cTn>
                                        <p:tgtEl>
                                          <p:spTgt spid="38"/>
                                        </p:tgtEl>
                                        <p:attrNameLst>
                                          <p:attrName>style.visibility</p:attrName>
                                        </p:attrNameLst>
                                      </p:cBhvr>
                                      <p:to>
                                        <p:strVal val="hidden"/>
                                      </p:to>
                                    </p:set>
                                  </p:childTnLst>
                                </p:cTn>
                              </p:par>
                              <p:par>
                                <p:cTn id="51" presetID="10" presetClass="exit" presetSubtype="0" fill="hold" grpId="1" nodeType="withEffect">
                                  <p:stCondLst>
                                    <p:cond delay="0"/>
                                  </p:stCondLst>
                                  <p:childTnLst>
                                    <p:animEffect transition="out" filter="fade">
                                      <p:cBhvr>
                                        <p:cTn id="52" dur="500"/>
                                        <p:tgtEl>
                                          <p:spTgt spid="39"/>
                                        </p:tgtEl>
                                      </p:cBhvr>
                                    </p:animEffect>
                                    <p:set>
                                      <p:cBhvr>
                                        <p:cTn id="53" dur="1" fill="hold">
                                          <p:stCondLst>
                                            <p:cond delay="499"/>
                                          </p:stCondLst>
                                        </p:cTn>
                                        <p:tgtEl>
                                          <p:spTgt spid="39"/>
                                        </p:tgtEl>
                                        <p:attrNameLst>
                                          <p:attrName>style.visibility</p:attrName>
                                        </p:attrNameLst>
                                      </p:cBhvr>
                                      <p:to>
                                        <p:strVal val="hidden"/>
                                      </p:to>
                                    </p:set>
                                  </p:childTnLst>
                                </p:cTn>
                              </p:par>
                            </p:childTnLst>
                          </p:cTn>
                        </p:par>
                        <p:par>
                          <p:cTn id="54" fill="hold">
                            <p:stCondLst>
                              <p:cond delay="500"/>
                            </p:stCondLst>
                            <p:childTnLst>
                              <p:par>
                                <p:cTn id="55" presetID="1" presetClass="entr" presetSubtype="0" fill="hold" grpId="0" nodeType="afterEffect">
                                  <p:stCondLst>
                                    <p:cond delay="0"/>
                                  </p:stCondLst>
                                  <p:childTnLst>
                                    <p:set>
                                      <p:cBhvr>
                                        <p:cTn id="56" dur="1" fill="hold">
                                          <p:stCondLst>
                                            <p:cond delay="0"/>
                                          </p:stCondLst>
                                        </p:cTn>
                                        <p:tgtEl>
                                          <p:spTgt spid="42"/>
                                        </p:tgtEl>
                                        <p:attrNameLst>
                                          <p:attrName>style.visibility</p:attrName>
                                        </p:attrNameLst>
                                      </p:cBhvr>
                                      <p:to>
                                        <p:strVal val="visible"/>
                                      </p:to>
                                    </p:set>
                                  </p:childTnLst>
                                </p:cTn>
                              </p:par>
                            </p:childTnLst>
                          </p:cTn>
                        </p:par>
                        <p:par>
                          <p:cTn id="57" fill="hold">
                            <p:stCondLst>
                              <p:cond delay="500"/>
                            </p:stCondLst>
                            <p:childTnLst>
                              <p:par>
                                <p:cTn id="58" presetID="1" presetClass="entr" presetSubtype="0" fill="hold" nodeType="afterEffect">
                                  <p:stCondLst>
                                    <p:cond delay="0"/>
                                  </p:stCondLst>
                                  <p:childTnLst>
                                    <p:set>
                                      <p:cBhvr>
                                        <p:cTn id="59" dur="1" fill="hold">
                                          <p:stCondLst>
                                            <p:cond delay="0"/>
                                          </p:stCondLst>
                                        </p:cTn>
                                        <p:tgtEl>
                                          <p:spTgt spid="44"/>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49"/>
                                        </p:tgtEl>
                                        <p:attrNameLst>
                                          <p:attrName>style.visibility</p:attrName>
                                        </p:attrNameLst>
                                      </p:cBhvr>
                                      <p:to>
                                        <p:strVal val="visible"/>
                                      </p:to>
                                    </p:set>
                                    <p:animEffect transition="in" filter="fade">
                                      <p:cBhvr>
                                        <p:cTn id="64" dur="500"/>
                                        <p:tgtEl>
                                          <p:spTgt spid="49"/>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71"/>
                                        </p:tgtEl>
                                        <p:attrNameLst>
                                          <p:attrName>style.visibility</p:attrName>
                                        </p:attrNameLst>
                                      </p:cBhvr>
                                      <p:to>
                                        <p:strVal val="visible"/>
                                      </p:to>
                                    </p:set>
                                    <p:animEffect transition="in" filter="fade">
                                      <p:cBhvr>
                                        <p:cTn id="69" dur="500"/>
                                        <p:tgtEl>
                                          <p:spTgt spid="71"/>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xit" presetSubtype="0" fill="hold" nodeType="clickEffect">
                                  <p:stCondLst>
                                    <p:cond delay="0"/>
                                  </p:stCondLst>
                                  <p:childTnLst>
                                    <p:animEffect transition="out" filter="fade">
                                      <p:cBhvr>
                                        <p:cTn id="73" dur="500"/>
                                        <p:tgtEl>
                                          <p:spTgt spid="49"/>
                                        </p:tgtEl>
                                      </p:cBhvr>
                                    </p:animEffect>
                                    <p:set>
                                      <p:cBhvr>
                                        <p:cTn id="74" dur="1" fill="hold">
                                          <p:stCondLst>
                                            <p:cond delay="499"/>
                                          </p:stCondLst>
                                        </p:cTn>
                                        <p:tgtEl>
                                          <p:spTgt spid="49"/>
                                        </p:tgtEl>
                                        <p:attrNameLst>
                                          <p:attrName>style.visibility</p:attrName>
                                        </p:attrNameLst>
                                      </p:cBhvr>
                                      <p:to>
                                        <p:strVal val="hidden"/>
                                      </p:to>
                                    </p:set>
                                  </p:childTnLst>
                                </p:cTn>
                              </p:par>
                              <p:par>
                                <p:cTn id="75" presetID="10" presetClass="entr" presetSubtype="0" fill="hold" nodeType="withEffect">
                                  <p:stCondLst>
                                    <p:cond delay="0"/>
                                  </p:stCondLst>
                                  <p:childTnLst>
                                    <p:set>
                                      <p:cBhvr>
                                        <p:cTn id="76" dur="1" fill="hold">
                                          <p:stCondLst>
                                            <p:cond delay="0"/>
                                          </p:stCondLst>
                                        </p:cTn>
                                        <p:tgtEl>
                                          <p:spTgt spid="52"/>
                                        </p:tgtEl>
                                        <p:attrNameLst>
                                          <p:attrName>style.visibility</p:attrName>
                                        </p:attrNameLst>
                                      </p:cBhvr>
                                      <p:to>
                                        <p:strVal val="visible"/>
                                      </p:to>
                                    </p:set>
                                    <p:animEffect transition="in" filter="fade">
                                      <p:cBhvr>
                                        <p:cTn id="77" dur="500"/>
                                        <p:tgtEl>
                                          <p:spTgt spid="52"/>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61"/>
                                        </p:tgtEl>
                                        <p:attrNameLst>
                                          <p:attrName>style.visibility</p:attrName>
                                        </p:attrNameLst>
                                      </p:cBhvr>
                                      <p:to>
                                        <p:strVal val="visible"/>
                                      </p:to>
                                    </p:set>
                                    <p:animEffect transition="in" filter="fade">
                                      <p:cBhvr>
                                        <p:cTn id="82" dur="500"/>
                                        <p:tgtEl>
                                          <p:spTgt spid="61"/>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xit" presetSubtype="0" fill="hold" nodeType="clickEffect">
                                  <p:stCondLst>
                                    <p:cond delay="0"/>
                                  </p:stCondLst>
                                  <p:childTnLst>
                                    <p:animEffect transition="out" filter="fade">
                                      <p:cBhvr>
                                        <p:cTn id="86" dur="500"/>
                                        <p:tgtEl>
                                          <p:spTgt spid="61"/>
                                        </p:tgtEl>
                                      </p:cBhvr>
                                    </p:animEffect>
                                    <p:set>
                                      <p:cBhvr>
                                        <p:cTn id="87" dur="1" fill="hold">
                                          <p:stCondLst>
                                            <p:cond delay="499"/>
                                          </p:stCondLst>
                                        </p:cTn>
                                        <p:tgtEl>
                                          <p:spTgt spid="61"/>
                                        </p:tgtEl>
                                        <p:attrNameLst>
                                          <p:attrName>style.visibility</p:attrName>
                                        </p:attrNameLst>
                                      </p:cBhvr>
                                      <p:to>
                                        <p:strVal val="hidden"/>
                                      </p:to>
                                    </p:set>
                                  </p:childTnLst>
                                </p:cTn>
                              </p:par>
                            </p:childTnLst>
                          </p:cTn>
                        </p:par>
                        <p:par>
                          <p:cTn id="88" fill="hold">
                            <p:stCondLst>
                              <p:cond delay="500"/>
                            </p:stCondLst>
                            <p:childTnLst>
                              <p:par>
                                <p:cTn id="89" presetID="10" presetClass="entr" presetSubtype="0" fill="hold" nodeType="afterEffect">
                                  <p:stCondLst>
                                    <p:cond delay="0"/>
                                  </p:stCondLst>
                                  <p:childTnLst>
                                    <p:set>
                                      <p:cBhvr>
                                        <p:cTn id="90" dur="1" fill="hold">
                                          <p:stCondLst>
                                            <p:cond delay="0"/>
                                          </p:stCondLst>
                                        </p:cTn>
                                        <p:tgtEl>
                                          <p:spTgt spid="65"/>
                                        </p:tgtEl>
                                        <p:attrNameLst>
                                          <p:attrName>style.visibility</p:attrName>
                                        </p:attrNameLst>
                                      </p:cBhvr>
                                      <p:to>
                                        <p:strVal val="visible"/>
                                      </p:to>
                                    </p:set>
                                    <p:animEffect transition="in" filter="fade">
                                      <p:cBhvr>
                                        <p:cTn id="91"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7" grpId="0" animBg="1"/>
      <p:bldP spid="37" grpId="1" animBg="1"/>
      <p:bldP spid="38" grpId="0" animBg="1"/>
      <p:bldP spid="38" grpId="1" animBg="1"/>
      <p:bldP spid="39" grpId="0"/>
      <p:bldP spid="39" grpId="1"/>
      <p:bldP spid="42" grpId="0" animBg="1"/>
      <p:bldP spid="76" grpId="0" animBg="1"/>
      <p:bldP spid="7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411EF9-0EAC-1E43-B421-E48C6146823B}"/>
              </a:ext>
            </a:extLst>
          </p:cNvPr>
          <p:cNvSpPr>
            <a:spLocks noGrp="1"/>
          </p:cNvSpPr>
          <p:nvPr>
            <p:ph type="title"/>
          </p:nvPr>
        </p:nvSpPr>
        <p:spPr/>
        <p:txBody>
          <a:bodyPr/>
          <a:lstStyle/>
          <a:p>
            <a:r>
              <a:rPr kumimoji="1" lang="en-US" altLang="zh-CN" dirty="0"/>
              <a:t>Ordered</a:t>
            </a:r>
            <a:r>
              <a:rPr kumimoji="1" lang="zh-CN" altLang="en-US" dirty="0"/>
              <a:t> </a:t>
            </a:r>
            <a:r>
              <a:rPr kumimoji="1" lang="en-US" altLang="zh-CN" dirty="0"/>
              <a:t>Mode</a:t>
            </a:r>
            <a:endParaRPr kumimoji="1" lang="zh-CN" altLang="en-US" dirty="0"/>
          </a:p>
        </p:txBody>
      </p:sp>
      <p:sp>
        <p:nvSpPr>
          <p:cNvPr id="3" name="内容占位符 2">
            <a:extLst>
              <a:ext uri="{FF2B5EF4-FFF2-40B4-BE49-F238E27FC236}">
                <a16:creationId xmlns:a16="http://schemas.microsoft.com/office/drawing/2014/main" id="{DC835125-86BE-0A4E-A8E4-D0EF902EBDAA}"/>
              </a:ext>
            </a:extLst>
          </p:cNvPr>
          <p:cNvSpPr>
            <a:spLocks noGrp="1"/>
          </p:cNvSpPr>
          <p:nvPr>
            <p:ph idx="1"/>
          </p:nvPr>
        </p:nvSpPr>
        <p:spPr/>
        <p:txBody>
          <a:bodyPr/>
          <a:lstStyle/>
          <a:p>
            <a:r>
              <a:rPr kumimoji="1" lang="zh-CN" altLang="en-US" dirty="0"/>
              <a:t>权衡一致性和性能</a:t>
            </a:r>
            <a:endParaRPr kumimoji="1" lang="en-US" altLang="zh-CN" dirty="0"/>
          </a:p>
          <a:p>
            <a:pPr lvl="1"/>
            <a:r>
              <a:rPr kumimoji="1" lang="zh-CN" altLang="en-US" dirty="0"/>
              <a:t>数据的数量大，只需要写入一次</a:t>
            </a:r>
            <a:endParaRPr kumimoji="1" lang="en-US" altLang="zh-CN" dirty="0"/>
          </a:p>
          <a:p>
            <a:pPr lvl="1"/>
            <a:r>
              <a:rPr kumimoji="1" lang="zh-CN" altLang="en-US" dirty="0"/>
              <a:t>元数据的数量少，写入两次相对可接受</a:t>
            </a:r>
            <a:endParaRPr kumimoji="1" lang="en-US" altLang="zh-CN" dirty="0"/>
          </a:p>
          <a:p>
            <a:r>
              <a:rPr kumimoji="1" lang="zh-CN" altLang="en-US" dirty="0"/>
              <a:t>可能出现的问题</a:t>
            </a:r>
            <a:endParaRPr kumimoji="1" lang="en-US" altLang="zh-CN" dirty="0"/>
          </a:p>
          <a:p>
            <a:pPr lvl="1"/>
            <a:r>
              <a:rPr kumimoji="1" lang="zh-CN" altLang="en-US" dirty="0"/>
              <a:t>数据只有一份，若出现问题无法回退（</a:t>
            </a:r>
            <a:r>
              <a:rPr kumimoji="1" lang="en-US" altLang="zh-CN" dirty="0"/>
              <a:t>all-or-nothing</a:t>
            </a:r>
            <a:r>
              <a:rPr kumimoji="1" lang="zh-CN" altLang="en-US" dirty="0"/>
              <a:t>）</a:t>
            </a:r>
            <a:endParaRPr kumimoji="1" lang="en-US" altLang="zh-CN" dirty="0"/>
          </a:p>
          <a:p>
            <a:pPr lvl="1"/>
            <a:r>
              <a:rPr kumimoji="1" lang="zh-CN" altLang="en-US" dirty="0"/>
              <a:t>部分情况下，一致性还是可以保证的（如新增数据时）</a:t>
            </a:r>
            <a:endParaRPr kumimoji="1" lang="en-US" altLang="zh-CN" dirty="0"/>
          </a:p>
          <a:p>
            <a:pPr lvl="1"/>
            <a:r>
              <a:rPr kumimoji="1" lang="zh-CN" altLang="en-US" dirty="0"/>
              <a:t>部分情况下，数据会丢失，但元数据依然可以保证一致性</a:t>
            </a:r>
            <a:endParaRPr kumimoji="1" lang="en-US" altLang="zh-CN" dirty="0"/>
          </a:p>
        </p:txBody>
      </p:sp>
      <p:sp>
        <p:nvSpPr>
          <p:cNvPr id="4" name="灯片编号占位符 3">
            <a:extLst>
              <a:ext uri="{FF2B5EF4-FFF2-40B4-BE49-F238E27FC236}">
                <a16:creationId xmlns:a16="http://schemas.microsoft.com/office/drawing/2014/main" id="{DB0D0B66-2D33-594D-93F2-C6BF26DBD2B0}"/>
              </a:ext>
            </a:extLst>
          </p:cNvPr>
          <p:cNvSpPr>
            <a:spLocks noGrp="1"/>
          </p:cNvSpPr>
          <p:nvPr>
            <p:ph type="sldNum" sz="quarter" idx="12"/>
          </p:nvPr>
        </p:nvSpPr>
        <p:spPr/>
        <p:txBody>
          <a:bodyPr/>
          <a:lstStyle/>
          <a:p>
            <a:fld id="{ADE361C3-C043-4A6E-BDCE-8DA1E7D90A3B}" type="slidenum">
              <a:rPr lang="zh-CN" altLang="en-US" smtClean="0"/>
              <a:t>39</a:t>
            </a:fld>
            <a:endParaRPr lang="zh-CN" altLang="en-US"/>
          </a:p>
        </p:txBody>
      </p:sp>
      <p:sp>
        <p:nvSpPr>
          <p:cNvPr id="5" name="页脚占位符 4">
            <a:extLst>
              <a:ext uri="{FF2B5EF4-FFF2-40B4-BE49-F238E27FC236}">
                <a16:creationId xmlns:a16="http://schemas.microsoft.com/office/drawing/2014/main" id="{B774D2DB-9AA7-164C-9811-7F19C0C6A962}"/>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0135044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4903B02-6CCD-3E4C-A639-ED21C46DFFB4}"/>
              </a:ext>
            </a:extLst>
          </p:cNvPr>
          <p:cNvSpPr>
            <a:spLocks noGrp="1"/>
          </p:cNvSpPr>
          <p:nvPr>
            <p:ph type="title"/>
          </p:nvPr>
        </p:nvSpPr>
        <p:spPr/>
        <p:txBody>
          <a:bodyPr/>
          <a:lstStyle/>
          <a:p>
            <a:r>
              <a:rPr lang="zh-CN" altLang="en-US" dirty="0"/>
              <a:t>写时复制</a:t>
            </a:r>
            <a:endParaRPr lang="en-CN" dirty="0"/>
          </a:p>
        </p:txBody>
      </p:sp>
      <p:sp>
        <p:nvSpPr>
          <p:cNvPr id="7" name="Text Placeholder 6">
            <a:extLst>
              <a:ext uri="{FF2B5EF4-FFF2-40B4-BE49-F238E27FC236}">
                <a16:creationId xmlns:a16="http://schemas.microsoft.com/office/drawing/2014/main" id="{89A731E1-E425-464E-A31C-FF1F3A37BD9C}"/>
              </a:ext>
            </a:extLst>
          </p:cNvPr>
          <p:cNvSpPr>
            <a:spLocks noGrp="1"/>
          </p:cNvSpPr>
          <p:nvPr>
            <p:ph type="body" idx="1"/>
          </p:nvPr>
        </p:nvSpPr>
        <p:spPr/>
        <p:txBody>
          <a:bodyPr/>
          <a:lstStyle/>
          <a:p>
            <a:r>
              <a:rPr lang="zh-CN" altLang="en-US" dirty="0"/>
              <a:t>原子更新技术：</a:t>
            </a:r>
            <a:r>
              <a:rPr lang="en-US" altLang="zh-CN" dirty="0"/>
              <a:t>Copy-on-Write</a:t>
            </a:r>
            <a:endParaRPr lang="en-CN" dirty="0"/>
          </a:p>
        </p:txBody>
      </p:sp>
      <p:sp>
        <p:nvSpPr>
          <p:cNvPr id="4" name="Slide Number Placeholder 3">
            <a:extLst>
              <a:ext uri="{FF2B5EF4-FFF2-40B4-BE49-F238E27FC236}">
                <a16:creationId xmlns:a16="http://schemas.microsoft.com/office/drawing/2014/main" id="{29A1D26C-AC99-CB47-8E04-4263D6DE49CF}"/>
              </a:ext>
            </a:extLst>
          </p:cNvPr>
          <p:cNvSpPr>
            <a:spLocks noGrp="1"/>
          </p:cNvSpPr>
          <p:nvPr>
            <p:ph type="sldNum" sz="quarter" idx="12"/>
          </p:nvPr>
        </p:nvSpPr>
        <p:spPr/>
        <p:txBody>
          <a:bodyPr/>
          <a:lstStyle/>
          <a:p>
            <a:fld id="{ADE361C3-C043-4A6E-BDCE-8DA1E7D90A3B}" type="slidenum">
              <a:rPr lang="zh-CN" altLang="en-US" smtClean="0"/>
              <a:t>40</a:t>
            </a:fld>
            <a:endParaRPr lang="zh-CN" altLang="en-US"/>
          </a:p>
        </p:txBody>
      </p:sp>
      <p:sp>
        <p:nvSpPr>
          <p:cNvPr id="5" name="Footer Placeholder 4">
            <a:extLst>
              <a:ext uri="{FF2B5EF4-FFF2-40B4-BE49-F238E27FC236}">
                <a16:creationId xmlns:a16="http://schemas.microsoft.com/office/drawing/2014/main" id="{F46A734B-CDA0-5144-B3F7-87F5910CE08A}"/>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8804471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BDB96-09E1-A84B-8C99-7D80BD616E24}"/>
              </a:ext>
            </a:extLst>
          </p:cNvPr>
          <p:cNvSpPr>
            <a:spLocks noGrp="1"/>
          </p:cNvSpPr>
          <p:nvPr>
            <p:ph type="title"/>
          </p:nvPr>
        </p:nvSpPr>
        <p:spPr/>
        <p:txBody>
          <a:bodyPr/>
          <a:lstStyle/>
          <a:p>
            <a:r>
              <a:rPr lang="zh-CN" altLang="en-CN" dirty="0"/>
              <a:t>写时复制</a:t>
            </a:r>
            <a:r>
              <a:rPr lang="zh-CN" altLang="en-US" dirty="0"/>
              <a:t>（</a:t>
            </a:r>
            <a:r>
              <a:rPr lang="en-US" altLang="zh-CN" dirty="0"/>
              <a:t>Copy-on-Write</a:t>
            </a:r>
            <a:r>
              <a:rPr lang="zh-CN" altLang="en-US" dirty="0"/>
              <a:t>）</a:t>
            </a:r>
            <a:endParaRPr lang="en-CN" dirty="0"/>
          </a:p>
        </p:txBody>
      </p:sp>
      <p:sp>
        <p:nvSpPr>
          <p:cNvPr id="3" name="Content Placeholder 2">
            <a:extLst>
              <a:ext uri="{FF2B5EF4-FFF2-40B4-BE49-F238E27FC236}">
                <a16:creationId xmlns:a16="http://schemas.microsoft.com/office/drawing/2014/main" id="{9000C73B-B248-0A4C-90E5-5158788277C4}"/>
              </a:ext>
            </a:extLst>
          </p:cNvPr>
          <p:cNvSpPr>
            <a:spLocks noGrp="1"/>
          </p:cNvSpPr>
          <p:nvPr>
            <p:ph idx="1"/>
          </p:nvPr>
        </p:nvSpPr>
        <p:spPr/>
        <p:txBody>
          <a:bodyPr/>
          <a:lstStyle/>
          <a:p>
            <a:r>
              <a:rPr lang="zh-CN" altLang="en-US" sz="2000" b="0" dirty="0"/>
              <a:t>在修改多个数据时，不直接修改数据，而是将数据复制一份，在复制上进行修改，并通过递归的方法将修改变成原子操作</a:t>
            </a:r>
            <a:endParaRPr lang="en-US" altLang="zh-CN" sz="2000" b="0" dirty="0"/>
          </a:p>
          <a:p>
            <a:r>
              <a:rPr lang="zh-CN" altLang="en-US" sz="2000" b="0" dirty="0"/>
              <a:t>常用于树状结构</a:t>
            </a:r>
            <a:endParaRPr lang="en-US" altLang="zh-CN" sz="2000" b="0" dirty="0"/>
          </a:p>
          <a:p>
            <a:endParaRPr lang="en-CN" dirty="0"/>
          </a:p>
        </p:txBody>
      </p:sp>
      <p:sp>
        <p:nvSpPr>
          <p:cNvPr id="4" name="Slide Number Placeholder 3">
            <a:extLst>
              <a:ext uri="{FF2B5EF4-FFF2-40B4-BE49-F238E27FC236}">
                <a16:creationId xmlns:a16="http://schemas.microsoft.com/office/drawing/2014/main" id="{7D954BB9-3B5C-014E-9198-7AFC9734C416}"/>
              </a:ext>
            </a:extLst>
          </p:cNvPr>
          <p:cNvSpPr>
            <a:spLocks noGrp="1"/>
          </p:cNvSpPr>
          <p:nvPr>
            <p:ph type="sldNum" sz="quarter" idx="12"/>
          </p:nvPr>
        </p:nvSpPr>
        <p:spPr/>
        <p:txBody>
          <a:bodyPr/>
          <a:lstStyle/>
          <a:p>
            <a:fld id="{ADE361C3-C043-4A6E-BDCE-8DA1E7D90A3B}" type="slidenum">
              <a:rPr lang="zh-CN" altLang="en-US" smtClean="0"/>
              <a:t>41</a:t>
            </a:fld>
            <a:endParaRPr lang="zh-CN" altLang="en-US"/>
          </a:p>
        </p:txBody>
      </p:sp>
      <p:sp>
        <p:nvSpPr>
          <p:cNvPr id="5" name="Footer Placeholder 4">
            <a:extLst>
              <a:ext uri="{FF2B5EF4-FFF2-40B4-BE49-F238E27FC236}">
                <a16:creationId xmlns:a16="http://schemas.microsoft.com/office/drawing/2014/main" id="{FC9EC982-13FD-F740-B1F1-2BB961FE0C74}"/>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Rectangle 5">
            <a:extLst>
              <a:ext uri="{FF2B5EF4-FFF2-40B4-BE49-F238E27FC236}">
                <a16:creationId xmlns:a16="http://schemas.microsoft.com/office/drawing/2014/main" id="{11983416-A93A-BD4C-836C-DC0C82044113}"/>
              </a:ext>
            </a:extLst>
          </p:cNvPr>
          <p:cNvSpPr/>
          <p:nvPr/>
        </p:nvSpPr>
        <p:spPr>
          <a:xfrm>
            <a:off x="1675895" y="3060967"/>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CN" dirty="0"/>
              <a:t>A</a:t>
            </a:r>
          </a:p>
        </p:txBody>
      </p:sp>
      <p:sp>
        <p:nvSpPr>
          <p:cNvPr id="7" name="Rectangle 6">
            <a:extLst>
              <a:ext uri="{FF2B5EF4-FFF2-40B4-BE49-F238E27FC236}">
                <a16:creationId xmlns:a16="http://schemas.microsoft.com/office/drawing/2014/main" id="{19D8E826-425C-F048-B19B-867BC4F60670}"/>
              </a:ext>
            </a:extLst>
          </p:cNvPr>
          <p:cNvSpPr/>
          <p:nvPr/>
        </p:nvSpPr>
        <p:spPr>
          <a:xfrm>
            <a:off x="1112709" y="3732612"/>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B</a:t>
            </a:r>
            <a:endParaRPr lang="en-CN" dirty="0"/>
          </a:p>
        </p:txBody>
      </p:sp>
      <p:sp>
        <p:nvSpPr>
          <p:cNvPr id="8" name="Rectangle 7">
            <a:extLst>
              <a:ext uri="{FF2B5EF4-FFF2-40B4-BE49-F238E27FC236}">
                <a16:creationId xmlns:a16="http://schemas.microsoft.com/office/drawing/2014/main" id="{A1703A12-2468-9B4B-9055-883A8B495B4E}"/>
              </a:ext>
            </a:extLst>
          </p:cNvPr>
          <p:cNvSpPr/>
          <p:nvPr/>
        </p:nvSpPr>
        <p:spPr>
          <a:xfrm>
            <a:off x="2337916" y="3732612"/>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C</a:t>
            </a:r>
            <a:endParaRPr lang="en-CN" dirty="0"/>
          </a:p>
        </p:txBody>
      </p:sp>
      <p:sp>
        <p:nvSpPr>
          <p:cNvPr id="9" name="Rectangle 8">
            <a:extLst>
              <a:ext uri="{FF2B5EF4-FFF2-40B4-BE49-F238E27FC236}">
                <a16:creationId xmlns:a16="http://schemas.microsoft.com/office/drawing/2014/main" id="{B5361CEF-2BE6-9644-9DB2-9F70B5DAA663}"/>
              </a:ext>
            </a:extLst>
          </p:cNvPr>
          <p:cNvSpPr/>
          <p:nvPr/>
        </p:nvSpPr>
        <p:spPr>
          <a:xfrm>
            <a:off x="548985" y="4446151"/>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CN" dirty="0"/>
              <a:t>D</a:t>
            </a:r>
          </a:p>
        </p:txBody>
      </p:sp>
      <p:sp>
        <p:nvSpPr>
          <p:cNvPr id="10" name="Rectangle 9">
            <a:extLst>
              <a:ext uri="{FF2B5EF4-FFF2-40B4-BE49-F238E27FC236}">
                <a16:creationId xmlns:a16="http://schemas.microsoft.com/office/drawing/2014/main" id="{DD3B22C0-405B-8D4D-8A55-47FFCE2421A2}"/>
              </a:ext>
            </a:extLst>
          </p:cNvPr>
          <p:cNvSpPr/>
          <p:nvPr/>
        </p:nvSpPr>
        <p:spPr>
          <a:xfrm>
            <a:off x="1390627" y="4446152"/>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E</a:t>
            </a:r>
            <a:endParaRPr lang="en-CN" dirty="0"/>
          </a:p>
        </p:txBody>
      </p:sp>
      <p:sp>
        <p:nvSpPr>
          <p:cNvPr id="11" name="Rectangle 10">
            <a:extLst>
              <a:ext uri="{FF2B5EF4-FFF2-40B4-BE49-F238E27FC236}">
                <a16:creationId xmlns:a16="http://schemas.microsoft.com/office/drawing/2014/main" id="{EB551A6D-B589-E442-93D7-4261BE58B102}"/>
              </a:ext>
            </a:extLst>
          </p:cNvPr>
          <p:cNvSpPr/>
          <p:nvPr/>
        </p:nvSpPr>
        <p:spPr>
          <a:xfrm>
            <a:off x="2179418" y="4447009"/>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F</a:t>
            </a:r>
            <a:endParaRPr lang="en-CN" dirty="0"/>
          </a:p>
        </p:txBody>
      </p:sp>
      <p:sp>
        <p:nvSpPr>
          <p:cNvPr id="12" name="Rectangle 11">
            <a:extLst>
              <a:ext uri="{FF2B5EF4-FFF2-40B4-BE49-F238E27FC236}">
                <a16:creationId xmlns:a16="http://schemas.microsoft.com/office/drawing/2014/main" id="{D1D452C7-BD7F-704D-88A8-B36BD4672843}"/>
              </a:ext>
            </a:extLst>
          </p:cNvPr>
          <p:cNvSpPr/>
          <p:nvPr/>
        </p:nvSpPr>
        <p:spPr>
          <a:xfrm>
            <a:off x="2932985" y="4446151"/>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G</a:t>
            </a:r>
            <a:endParaRPr lang="en-CN" dirty="0"/>
          </a:p>
        </p:txBody>
      </p:sp>
      <p:cxnSp>
        <p:nvCxnSpPr>
          <p:cNvPr id="14" name="Straight Arrow Connector 13">
            <a:extLst>
              <a:ext uri="{FF2B5EF4-FFF2-40B4-BE49-F238E27FC236}">
                <a16:creationId xmlns:a16="http://schemas.microsoft.com/office/drawing/2014/main" id="{6FFED590-CEBD-A746-8B24-5BF3FA5CAFE7}"/>
              </a:ext>
            </a:extLst>
          </p:cNvPr>
          <p:cNvCxnSpPr>
            <a:stCxn id="6" idx="2"/>
            <a:endCxn id="7" idx="0"/>
          </p:cNvCxnSpPr>
          <p:nvPr/>
        </p:nvCxnSpPr>
        <p:spPr>
          <a:xfrm flipH="1">
            <a:off x="1394572" y="3426991"/>
            <a:ext cx="563186" cy="30562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CC65CABB-1417-6F44-8C61-F9B9AF9F5D8A}"/>
              </a:ext>
            </a:extLst>
          </p:cNvPr>
          <p:cNvCxnSpPr>
            <a:cxnSpLocks/>
            <a:stCxn id="6" idx="2"/>
            <a:endCxn id="8" idx="0"/>
          </p:cNvCxnSpPr>
          <p:nvPr/>
        </p:nvCxnSpPr>
        <p:spPr>
          <a:xfrm>
            <a:off x="1957758" y="3426991"/>
            <a:ext cx="662020" cy="30562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3A53E997-BBB2-F245-9A40-BD64777FC7D2}"/>
              </a:ext>
            </a:extLst>
          </p:cNvPr>
          <p:cNvCxnSpPr>
            <a:cxnSpLocks/>
            <a:stCxn id="7" idx="2"/>
            <a:endCxn id="9" idx="0"/>
          </p:cNvCxnSpPr>
          <p:nvPr/>
        </p:nvCxnSpPr>
        <p:spPr>
          <a:xfrm flipH="1">
            <a:off x="830848" y="4098636"/>
            <a:ext cx="563724" cy="34751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B0AEFDA-8F55-2341-A444-759A8B97D804}"/>
              </a:ext>
            </a:extLst>
          </p:cNvPr>
          <p:cNvCxnSpPr>
            <a:cxnSpLocks/>
            <a:stCxn id="7" idx="2"/>
            <a:endCxn id="10" idx="0"/>
          </p:cNvCxnSpPr>
          <p:nvPr/>
        </p:nvCxnSpPr>
        <p:spPr>
          <a:xfrm>
            <a:off x="1394572" y="4098636"/>
            <a:ext cx="277917" cy="34751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75CD328A-6C90-8A42-AFE2-C09AA52ED37E}"/>
              </a:ext>
            </a:extLst>
          </p:cNvPr>
          <p:cNvCxnSpPr>
            <a:cxnSpLocks/>
            <a:stCxn id="8" idx="2"/>
            <a:endCxn id="11" idx="0"/>
          </p:cNvCxnSpPr>
          <p:nvPr/>
        </p:nvCxnSpPr>
        <p:spPr>
          <a:xfrm flipH="1">
            <a:off x="2461281" y="4098636"/>
            <a:ext cx="158498" cy="34837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BE6C4452-BCB8-5C41-9022-3F51709E35EC}"/>
              </a:ext>
            </a:extLst>
          </p:cNvPr>
          <p:cNvCxnSpPr>
            <a:cxnSpLocks/>
            <a:stCxn id="8" idx="2"/>
            <a:endCxn id="12" idx="0"/>
          </p:cNvCxnSpPr>
          <p:nvPr/>
        </p:nvCxnSpPr>
        <p:spPr>
          <a:xfrm>
            <a:off x="2619778" y="4098636"/>
            <a:ext cx="595069" cy="34751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E30B8829-FC7C-6A43-B7E9-19B789AB61B1}"/>
              </a:ext>
            </a:extLst>
          </p:cNvPr>
          <p:cNvSpPr/>
          <p:nvPr/>
        </p:nvSpPr>
        <p:spPr>
          <a:xfrm>
            <a:off x="5709521" y="3060966"/>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CN" dirty="0"/>
              <a:t>A</a:t>
            </a:r>
          </a:p>
        </p:txBody>
      </p:sp>
      <p:sp>
        <p:nvSpPr>
          <p:cNvPr id="32" name="Rectangle 31">
            <a:extLst>
              <a:ext uri="{FF2B5EF4-FFF2-40B4-BE49-F238E27FC236}">
                <a16:creationId xmlns:a16="http://schemas.microsoft.com/office/drawing/2014/main" id="{8645D632-890A-CF4C-B47C-CC49F11E36D5}"/>
              </a:ext>
            </a:extLst>
          </p:cNvPr>
          <p:cNvSpPr/>
          <p:nvPr/>
        </p:nvSpPr>
        <p:spPr>
          <a:xfrm>
            <a:off x="4699992" y="3732610"/>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B</a:t>
            </a:r>
            <a:endParaRPr lang="en-CN" dirty="0"/>
          </a:p>
        </p:txBody>
      </p:sp>
      <p:sp>
        <p:nvSpPr>
          <p:cNvPr id="33" name="Rectangle 32">
            <a:extLst>
              <a:ext uri="{FF2B5EF4-FFF2-40B4-BE49-F238E27FC236}">
                <a16:creationId xmlns:a16="http://schemas.microsoft.com/office/drawing/2014/main" id="{9BCEE15E-6011-5C4C-BE38-D4659A38D439}"/>
              </a:ext>
            </a:extLst>
          </p:cNvPr>
          <p:cNvSpPr/>
          <p:nvPr/>
        </p:nvSpPr>
        <p:spPr>
          <a:xfrm>
            <a:off x="6791066" y="3732611"/>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C</a:t>
            </a:r>
            <a:endParaRPr lang="en-CN" dirty="0"/>
          </a:p>
        </p:txBody>
      </p:sp>
      <p:sp>
        <p:nvSpPr>
          <p:cNvPr id="34" name="Rectangle 33">
            <a:extLst>
              <a:ext uri="{FF2B5EF4-FFF2-40B4-BE49-F238E27FC236}">
                <a16:creationId xmlns:a16="http://schemas.microsoft.com/office/drawing/2014/main" id="{F0CA3471-84A2-0F43-B558-7C6D2182927A}"/>
              </a:ext>
            </a:extLst>
          </p:cNvPr>
          <p:cNvSpPr/>
          <p:nvPr/>
        </p:nvSpPr>
        <p:spPr>
          <a:xfrm>
            <a:off x="4136268" y="4446149"/>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CN" dirty="0"/>
              <a:t>D</a:t>
            </a:r>
          </a:p>
        </p:txBody>
      </p:sp>
      <p:sp>
        <p:nvSpPr>
          <p:cNvPr id="35" name="Rectangle 34">
            <a:extLst>
              <a:ext uri="{FF2B5EF4-FFF2-40B4-BE49-F238E27FC236}">
                <a16:creationId xmlns:a16="http://schemas.microsoft.com/office/drawing/2014/main" id="{4FC81A47-A184-BD4B-BF43-51708EFCEAB6}"/>
              </a:ext>
            </a:extLst>
          </p:cNvPr>
          <p:cNvSpPr/>
          <p:nvPr/>
        </p:nvSpPr>
        <p:spPr>
          <a:xfrm>
            <a:off x="4897350" y="4463772"/>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E</a:t>
            </a:r>
            <a:endParaRPr lang="en-CN" dirty="0"/>
          </a:p>
        </p:txBody>
      </p:sp>
      <p:sp>
        <p:nvSpPr>
          <p:cNvPr id="36" name="Rectangle 35">
            <a:extLst>
              <a:ext uri="{FF2B5EF4-FFF2-40B4-BE49-F238E27FC236}">
                <a16:creationId xmlns:a16="http://schemas.microsoft.com/office/drawing/2014/main" id="{9760C5B9-72DB-AE47-BE6E-2F6B1FE10BD5}"/>
              </a:ext>
            </a:extLst>
          </p:cNvPr>
          <p:cNvSpPr/>
          <p:nvPr/>
        </p:nvSpPr>
        <p:spPr>
          <a:xfrm>
            <a:off x="6632568" y="4447008"/>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F</a:t>
            </a:r>
            <a:endParaRPr lang="en-CN" dirty="0"/>
          </a:p>
        </p:txBody>
      </p:sp>
      <p:sp>
        <p:nvSpPr>
          <p:cNvPr id="37" name="Rectangle 36">
            <a:extLst>
              <a:ext uri="{FF2B5EF4-FFF2-40B4-BE49-F238E27FC236}">
                <a16:creationId xmlns:a16="http://schemas.microsoft.com/office/drawing/2014/main" id="{541BA529-D6F9-504F-97C8-C662298E92DC}"/>
              </a:ext>
            </a:extLst>
          </p:cNvPr>
          <p:cNvSpPr/>
          <p:nvPr/>
        </p:nvSpPr>
        <p:spPr>
          <a:xfrm>
            <a:off x="7386135" y="4446150"/>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G</a:t>
            </a:r>
            <a:endParaRPr lang="en-CN" dirty="0"/>
          </a:p>
        </p:txBody>
      </p:sp>
      <p:cxnSp>
        <p:nvCxnSpPr>
          <p:cNvPr id="38" name="Straight Arrow Connector 37">
            <a:extLst>
              <a:ext uri="{FF2B5EF4-FFF2-40B4-BE49-F238E27FC236}">
                <a16:creationId xmlns:a16="http://schemas.microsoft.com/office/drawing/2014/main" id="{704E2907-8F5E-F647-8D47-D3CC0B0D5371}"/>
              </a:ext>
            </a:extLst>
          </p:cNvPr>
          <p:cNvCxnSpPr>
            <a:stCxn id="31" idx="2"/>
            <a:endCxn id="32" idx="0"/>
          </p:cNvCxnSpPr>
          <p:nvPr/>
        </p:nvCxnSpPr>
        <p:spPr>
          <a:xfrm flipH="1">
            <a:off x="4981854" y="3426990"/>
            <a:ext cx="1009529" cy="3056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1FC967E2-6E2C-2A42-8F8D-D749D855D2A6}"/>
              </a:ext>
            </a:extLst>
          </p:cNvPr>
          <p:cNvCxnSpPr>
            <a:cxnSpLocks/>
            <a:stCxn id="31" idx="2"/>
            <a:endCxn id="33" idx="0"/>
          </p:cNvCxnSpPr>
          <p:nvPr/>
        </p:nvCxnSpPr>
        <p:spPr>
          <a:xfrm>
            <a:off x="5991383" y="3426990"/>
            <a:ext cx="1081545" cy="30562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E7BE51F2-7415-A042-A886-F65DC01C1E84}"/>
              </a:ext>
            </a:extLst>
          </p:cNvPr>
          <p:cNvCxnSpPr>
            <a:cxnSpLocks/>
            <a:stCxn id="32" idx="2"/>
            <a:endCxn id="34" idx="0"/>
          </p:cNvCxnSpPr>
          <p:nvPr/>
        </p:nvCxnSpPr>
        <p:spPr>
          <a:xfrm flipH="1">
            <a:off x="4418131" y="4098634"/>
            <a:ext cx="563724" cy="34751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33A8535E-FB55-9840-A929-114BC797B87F}"/>
              </a:ext>
            </a:extLst>
          </p:cNvPr>
          <p:cNvCxnSpPr>
            <a:cxnSpLocks/>
            <a:stCxn id="32" idx="2"/>
            <a:endCxn id="35" idx="0"/>
          </p:cNvCxnSpPr>
          <p:nvPr/>
        </p:nvCxnSpPr>
        <p:spPr>
          <a:xfrm>
            <a:off x="4981854" y="4098634"/>
            <a:ext cx="197358" cy="36513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269AD8FB-809D-3546-A384-0D577886A3A9}"/>
              </a:ext>
            </a:extLst>
          </p:cNvPr>
          <p:cNvCxnSpPr>
            <a:cxnSpLocks/>
            <a:stCxn id="33" idx="2"/>
            <a:endCxn id="36" idx="0"/>
          </p:cNvCxnSpPr>
          <p:nvPr/>
        </p:nvCxnSpPr>
        <p:spPr>
          <a:xfrm flipH="1">
            <a:off x="6914431" y="4098635"/>
            <a:ext cx="158498" cy="34837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73F9777F-0854-2942-A11E-3265880A6C13}"/>
              </a:ext>
            </a:extLst>
          </p:cNvPr>
          <p:cNvCxnSpPr>
            <a:cxnSpLocks/>
            <a:stCxn id="33" idx="2"/>
            <a:endCxn id="37" idx="0"/>
          </p:cNvCxnSpPr>
          <p:nvPr/>
        </p:nvCxnSpPr>
        <p:spPr>
          <a:xfrm>
            <a:off x="7072928" y="4098635"/>
            <a:ext cx="595069" cy="34751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F151C1AE-E4DC-7446-B1DE-EB0528255396}"/>
              </a:ext>
            </a:extLst>
          </p:cNvPr>
          <p:cNvSpPr/>
          <p:nvPr/>
        </p:nvSpPr>
        <p:spPr>
          <a:xfrm>
            <a:off x="5558318" y="4463772"/>
            <a:ext cx="563724" cy="366024"/>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E’</a:t>
            </a:r>
            <a:endParaRPr lang="en-CN" dirty="0"/>
          </a:p>
        </p:txBody>
      </p:sp>
      <p:sp>
        <p:nvSpPr>
          <p:cNvPr id="52" name="Rectangle 51">
            <a:extLst>
              <a:ext uri="{FF2B5EF4-FFF2-40B4-BE49-F238E27FC236}">
                <a16:creationId xmlns:a16="http://schemas.microsoft.com/office/drawing/2014/main" id="{9542AF1F-4E8F-B440-905B-F1360719D7E9}"/>
              </a:ext>
            </a:extLst>
          </p:cNvPr>
          <p:cNvSpPr/>
          <p:nvPr/>
        </p:nvSpPr>
        <p:spPr>
          <a:xfrm>
            <a:off x="8132729" y="4446149"/>
            <a:ext cx="563724" cy="366024"/>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G’</a:t>
            </a:r>
            <a:endParaRPr lang="en-CN" dirty="0"/>
          </a:p>
        </p:txBody>
      </p:sp>
      <p:sp>
        <p:nvSpPr>
          <p:cNvPr id="53" name="Rectangle 52">
            <a:extLst>
              <a:ext uri="{FF2B5EF4-FFF2-40B4-BE49-F238E27FC236}">
                <a16:creationId xmlns:a16="http://schemas.microsoft.com/office/drawing/2014/main" id="{F0C8708F-493F-C84D-9BD7-C16C22744F55}"/>
              </a:ext>
            </a:extLst>
          </p:cNvPr>
          <p:cNvSpPr/>
          <p:nvPr/>
        </p:nvSpPr>
        <p:spPr>
          <a:xfrm>
            <a:off x="5408112" y="3731724"/>
            <a:ext cx="563724" cy="366024"/>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B’</a:t>
            </a:r>
            <a:endParaRPr lang="en-CN" dirty="0"/>
          </a:p>
        </p:txBody>
      </p:sp>
      <p:sp>
        <p:nvSpPr>
          <p:cNvPr id="54" name="Rectangle 53">
            <a:extLst>
              <a:ext uri="{FF2B5EF4-FFF2-40B4-BE49-F238E27FC236}">
                <a16:creationId xmlns:a16="http://schemas.microsoft.com/office/drawing/2014/main" id="{6C74F6B1-A322-6445-989E-3026964B2516}"/>
              </a:ext>
            </a:extLst>
          </p:cNvPr>
          <p:cNvSpPr/>
          <p:nvPr/>
        </p:nvSpPr>
        <p:spPr>
          <a:xfrm>
            <a:off x="7704013" y="3735377"/>
            <a:ext cx="563724" cy="366024"/>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C’</a:t>
            </a:r>
            <a:endParaRPr lang="en-CN" dirty="0"/>
          </a:p>
        </p:txBody>
      </p:sp>
      <p:sp>
        <p:nvSpPr>
          <p:cNvPr id="55" name="Rectangle 54">
            <a:extLst>
              <a:ext uri="{FF2B5EF4-FFF2-40B4-BE49-F238E27FC236}">
                <a16:creationId xmlns:a16="http://schemas.microsoft.com/office/drawing/2014/main" id="{6E9B1F3B-775A-DD4C-A984-3857AED3DD1F}"/>
              </a:ext>
            </a:extLst>
          </p:cNvPr>
          <p:cNvSpPr/>
          <p:nvPr/>
        </p:nvSpPr>
        <p:spPr>
          <a:xfrm>
            <a:off x="6711818" y="3036307"/>
            <a:ext cx="563724" cy="366024"/>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A’</a:t>
            </a:r>
            <a:endParaRPr lang="en-CN" dirty="0"/>
          </a:p>
        </p:txBody>
      </p:sp>
      <p:cxnSp>
        <p:nvCxnSpPr>
          <p:cNvPr id="56" name="Straight Arrow Connector 55">
            <a:extLst>
              <a:ext uri="{FF2B5EF4-FFF2-40B4-BE49-F238E27FC236}">
                <a16:creationId xmlns:a16="http://schemas.microsoft.com/office/drawing/2014/main" id="{5C156D9D-D534-484C-BA98-0FBA087721D8}"/>
              </a:ext>
            </a:extLst>
          </p:cNvPr>
          <p:cNvCxnSpPr>
            <a:cxnSpLocks/>
            <a:endCxn id="6" idx="0"/>
          </p:cNvCxnSpPr>
          <p:nvPr/>
        </p:nvCxnSpPr>
        <p:spPr>
          <a:xfrm flipH="1">
            <a:off x="1957757" y="2857500"/>
            <a:ext cx="419030" cy="20346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EBEAF299-8B79-1C40-AADD-A8636D2AC7CD}"/>
              </a:ext>
            </a:extLst>
          </p:cNvPr>
          <p:cNvCxnSpPr>
            <a:cxnSpLocks/>
            <a:endCxn id="31" idx="0"/>
          </p:cNvCxnSpPr>
          <p:nvPr/>
        </p:nvCxnSpPr>
        <p:spPr>
          <a:xfrm flipH="1">
            <a:off x="5991383" y="2712593"/>
            <a:ext cx="540772" cy="34837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44B19B04-7368-7C44-A710-33BE3DA5B7FA}"/>
              </a:ext>
            </a:extLst>
          </p:cNvPr>
          <p:cNvCxnSpPr>
            <a:cxnSpLocks/>
            <a:stCxn id="53" idx="2"/>
            <a:endCxn id="49" idx="0"/>
          </p:cNvCxnSpPr>
          <p:nvPr/>
        </p:nvCxnSpPr>
        <p:spPr>
          <a:xfrm>
            <a:off x="5689974" y="4097748"/>
            <a:ext cx="150206" cy="366024"/>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16FC89A6-6C41-4648-98C8-344CF22DE46D}"/>
              </a:ext>
            </a:extLst>
          </p:cNvPr>
          <p:cNvCxnSpPr>
            <a:cxnSpLocks/>
            <a:stCxn id="55" idx="2"/>
            <a:endCxn id="54" idx="0"/>
          </p:cNvCxnSpPr>
          <p:nvPr/>
        </p:nvCxnSpPr>
        <p:spPr>
          <a:xfrm>
            <a:off x="6993680" y="3402331"/>
            <a:ext cx="992195" cy="333046"/>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D485ECF0-F677-254D-8CAD-543376F4A441}"/>
              </a:ext>
            </a:extLst>
          </p:cNvPr>
          <p:cNvCxnSpPr>
            <a:cxnSpLocks/>
            <a:stCxn id="55" idx="2"/>
            <a:endCxn id="53" idx="0"/>
          </p:cNvCxnSpPr>
          <p:nvPr/>
        </p:nvCxnSpPr>
        <p:spPr>
          <a:xfrm flipH="1">
            <a:off x="5689974" y="3402331"/>
            <a:ext cx="1303706" cy="329393"/>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9FB2AEFB-63B6-0C45-9957-8932510CD2E2}"/>
              </a:ext>
            </a:extLst>
          </p:cNvPr>
          <p:cNvCxnSpPr>
            <a:cxnSpLocks/>
            <a:stCxn id="54" idx="2"/>
            <a:endCxn id="52" idx="0"/>
          </p:cNvCxnSpPr>
          <p:nvPr/>
        </p:nvCxnSpPr>
        <p:spPr>
          <a:xfrm>
            <a:off x="7985875" y="4101401"/>
            <a:ext cx="428716" cy="344748"/>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81E2446A-E3A6-E148-BBFA-B0CCD15D4D0B}"/>
              </a:ext>
            </a:extLst>
          </p:cNvPr>
          <p:cNvCxnSpPr>
            <a:cxnSpLocks/>
            <a:stCxn id="54" idx="2"/>
            <a:endCxn id="36" idx="0"/>
          </p:cNvCxnSpPr>
          <p:nvPr/>
        </p:nvCxnSpPr>
        <p:spPr>
          <a:xfrm flipH="1">
            <a:off x="6914430" y="4101401"/>
            <a:ext cx="1071445" cy="345607"/>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1EAD60B9-CFDC-1240-B98C-30F18CD1130B}"/>
              </a:ext>
            </a:extLst>
          </p:cNvPr>
          <p:cNvCxnSpPr>
            <a:cxnSpLocks/>
            <a:stCxn id="53" idx="2"/>
            <a:endCxn id="34" idx="0"/>
          </p:cNvCxnSpPr>
          <p:nvPr/>
        </p:nvCxnSpPr>
        <p:spPr>
          <a:xfrm flipH="1">
            <a:off x="4418130" y="4097748"/>
            <a:ext cx="1271844" cy="348401"/>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A068DD6F-FE14-C14C-951E-416695FEEB14}"/>
              </a:ext>
            </a:extLst>
          </p:cNvPr>
          <p:cNvCxnSpPr>
            <a:cxnSpLocks/>
            <a:endCxn id="55" idx="0"/>
          </p:cNvCxnSpPr>
          <p:nvPr/>
        </p:nvCxnSpPr>
        <p:spPr>
          <a:xfrm>
            <a:off x="6711818" y="2695829"/>
            <a:ext cx="281862" cy="340478"/>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74090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054E4-E7A4-904C-B002-86D528827D55}"/>
              </a:ext>
            </a:extLst>
          </p:cNvPr>
          <p:cNvSpPr>
            <a:spLocks noGrp="1"/>
          </p:cNvSpPr>
          <p:nvPr>
            <p:ph type="title"/>
          </p:nvPr>
        </p:nvSpPr>
        <p:spPr/>
        <p:txBody>
          <a:bodyPr/>
          <a:lstStyle/>
          <a:p>
            <a:r>
              <a:rPr lang="zh-CN" altLang="en-US" dirty="0"/>
              <a:t>文件中的写时复制</a:t>
            </a:r>
            <a:endParaRPr lang="en-CN" dirty="0"/>
          </a:p>
        </p:txBody>
      </p:sp>
      <p:sp>
        <p:nvSpPr>
          <p:cNvPr id="4" name="Slide Number Placeholder 3">
            <a:extLst>
              <a:ext uri="{FF2B5EF4-FFF2-40B4-BE49-F238E27FC236}">
                <a16:creationId xmlns:a16="http://schemas.microsoft.com/office/drawing/2014/main" id="{071EE6C2-0229-4149-9783-351571E23A23}"/>
              </a:ext>
            </a:extLst>
          </p:cNvPr>
          <p:cNvSpPr>
            <a:spLocks noGrp="1"/>
          </p:cNvSpPr>
          <p:nvPr>
            <p:ph type="sldNum" sz="quarter" idx="12"/>
          </p:nvPr>
        </p:nvSpPr>
        <p:spPr/>
        <p:txBody>
          <a:bodyPr/>
          <a:lstStyle/>
          <a:p>
            <a:fld id="{ADE361C3-C043-4A6E-BDCE-8DA1E7D90A3B}" type="slidenum">
              <a:rPr lang="zh-CN" altLang="en-US" smtClean="0"/>
              <a:t>42</a:t>
            </a:fld>
            <a:endParaRPr lang="zh-CN" altLang="en-US"/>
          </a:p>
        </p:txBody>
      </p:sp>
      <p:sp>
        <p:nvSpPr>
          <p:cNvPr id="5" name="Footer Placeholder 4">
            <a:extLst>
              <a:ext uri="{FF2B5EF4-FFF2-40B4-BE49-F238E27FC236}">
                <a16:creationId xmlns:a16="http://schemas.microsoft.com/office/drawing/2014/main" id="{FCF97BEF-A225-3244-9CFA-67E6C470D5DF}"/>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31" name="Content Placeholder 2">
            <a:extLst>
              <a:ext uri="{FF2B5EF4-FFF2-40B4-BE49-F238E27FC236}">
                <a16:creationId xmlns:a16="http://schemas.microsoft.com/office/drawing/2014/main" id="{A1023471-3D10-6541-A554-04865CC9FF50}"/>
              </a:ext>
            </a:extLst>
          </p:cNvPr>
          <p:cNvSpPr>
            <a:spLocks noGrp="1"/>
          </p:cNvSpPr>
          <p:nvPr>
            <p:ph idx="1"/>
          </p:nvPr>
        </p:nvSpPr>
        <p:spPr>
          <a:xfrm>
            <a:off x="457200" y="1333501"/>
            <a:ext cx="8229600" cy="3771636"/>
          </a:xfrm>
        </p:spPr>
        <p:txBody>
          <a:bodyPr/>
          <a:lstStyle/>
          <a:p>
            <a:r>
              <a:rPr lang="zh-CN" altLang="en-US" sz="2000" b="0" dirty="0"/>
              <a:t>文件数据散落在多个数据块内</a:t>
            </a:r>
            <a:endParaRPr lang="en-US" altLang="zh-CN" sz="2000" b="0" dirty="0"/>
          </a:p>
          <a:p>
            <a:r>
              <a:rPr lang="zh-CN" altLang="en-US" sz="2000" b="0" dirty="0"/>
              <a:t>使用日志：数据需要写两遍</a:t>
            </a:r>
            <a:endParaRPr lang="en-US" altLang="zh-CN" sz="2000" b="0" dirty="0"/>
          </a:p>
          <a:p>
            <a:r>
              <a:rPr lang="zh-CN" altLang="en-US" sz="2000" b="0" dirty="0"/>
              <a:t>写时复制保证多个数据块原子更新</a:t>
            </a:r>
            <a:endParaRPr lang="en-US" altLang="zh-CN" sz="2000" b="0" dirty="0"/>
          </a:p>
          <a:p>
            <a:endParaRPr lang="en-CN" dirty="0"/>
          </a:p>
        </p:txBody>
      </p:sp>
      <p:sp>
        <p:nvSpPr>
          <p:cNvPr id="49" name="Rectangle 48">
            <a:extLst>
              <a:ext uri="{FF2B5EF4-FFF2-40B4-BE49-F238E27FC236}">
                <a16:creationId xmlns:a16="http://schemas.microsoft.com/office/drawing/2014/main" id="{7DBD406C-5515-DF4C-AE36-A060B17B23EC}"/>
              </a:ext>
            </a:extLst>
          </p:cNvPr>
          <p:cNvSpPr/>
          <p:nvPr/>
        </p:nvSpPr>
        <p:spPr>
          <a:xfrm>
            <a:off x="4979195" y="494285"/>
            <a:ext cx="648120" cy="7020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常用</a:t>
            </a:r>
            <a:r>
              <a:rPr lang="zh-CN" altLang="en-US" sz="1100" dirty="0"/>
              <a:t>元数据</a:t>
            </a:r>
            <a:endParaRPr lang="en-CN" sz="1100" dirty="0"/>
          </a:p>
        </p:txBody>
      </p:sp>
      <p:sp>
        <p:nvSpPr>
          <p:cNvPr id="50" name="Rectangle 49">
            <a:extLst>
              <a:ext uri="{FF2B5EF4-FFF2-40B4-BE49-F238E27FC236}">
                <a16:creationId xmlns:a16="http://schemas.microsoft.com/office/drawing/2014/main" id="{053D3242-A1E8-1E43-9A8E-5C3350B64FC7}"/>
              </a:ext>
            </a:extLst>
          </p:cNvPr>
          <p:cNvSpPr/>
          <p:nvPr/>
        </p:nvSpPr>
        <p:spPr>
          <a:xfrm>
            <a:off x="4979195" y="1196305"/>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第</a:t>
            </a:r>
            <a:r>
              <a:rPr lang="en-US" altLang="zh-CN" sz="1100" dirty="0"/>
              <a:t>7</a:t>
            </a:r>
            <a:r>
              <a:rPr lang="zh-CN" altLang="en-US" sz="1100" dirty="0"/>
              <a:t>块</a:t>
            </a:r>
            <a:endParaRPr lang="en-CN" sz="1100" dirty="0"/>
          </a:p>
        </p:txBody>
      </p:sp>
      <p:sp>
        <p:nvSpPr>
          <p:cNvPr id="51" name="Rectangle 50">
            <a:extLst>
              <a:ext uri="{FF2B5EF4-FFF2-40B4-BE49-F238E27FC236}">
                <a16:creationId xmlns:a16="http://schemas.microsoft.com/office/drawing/2014/main" id="{92AB0E50-E466-5D4A-999F-E054EAA66804}"/>
              </a:ext>
            </a:extLst>
          </p:cNvPr>
          <p:cNvSpPr/>
          <p:nvPr/>
        </p:nvSpPr>
        <p:spPr>
          <a:xfrm>
            <a:off x="4979195" y="1373876"/>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8</a:t>
            </a:r>
            <a:r>
              <a:rPr lang="zh-CN" altLang="en-US" sz="1100" dirty="0"/>
              <a:t>块</a:t>
            </a:r>
            <a:endParaRPr lang="en-CN" sz="1100" dirty="0"/>
          </a:p>
        </p:txBody>
      </p:sp>
      <p:sp>
        <p:nvSpPr>
          <p:cNvPr id="52" name="Rectangle 51">
            <a:extLst>
              <a:ext uri="{FF2B5EF4-FFF2-40B4-BE49-F238E27FC236}">
                <a16:creationId xmlns:a16="http://schemas.microsoft.com/office/drawing/2014/main" id="{4C286649-2637-DE46-A164-6B98C7E3504A}"/>
              </a:ext>
            </a:extLst>
          </p:cNvPr>
          <p:cNvSpPr/>
          <p:nvPr/>
        </p:nvSpPr>
        <p:spPr>
          <a:xfrm>
            <a:off x="4979195" y="1551447"/>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12</a:t>
            </a:r>
            <a:r>
              <a:rPr lang="zh-CN" altLang="en-US" sz="1100" dirty="0"/>
              <a:t>块</a:t>
            </a:r>
            <a:endParaRPr lang="en-CN" sz="1100" dirty="0"/>
          </a:p>
        </p:txBody>
      </p:sp>
      <p:sp>
        <p:nvSpPr>
          <p:cNvPr id="53" name="Rectangle 52">
            <a:extLst>
              <a:ext uri="{FF2B5EF4-FFF2-40B4-BE49-F238E27FC236}">
                <a16:creationId xmlns:a16="http://schemas.microsoft.com/office/drawing/2014/main" id="{45C7FB21-F923-CE40-BEF9-A0E06FFCF149}"/>
              </a:ext>
            </a:extLst>
          </p:cNvPr>
          <p:cNvSpPr/>
          <p:nvPr/>
        </p:nvSpPr>
        <p:spPr>
          <a:xfrm>
            <a:off x="4979195" y="1730215"/>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13</a:t>
            </a:r>
            <a:r>
              <a:rPr lang="zh-CN" altLang="en-US" sz="1100" dirty="0"/>
              <a:t>块</a:t>
            </a:r>
            <a:endParaRPr lang="en-CN" sz="1100" dirty="0"/>
          </a:p>
        </p:txBody>
      </p:sp>
      <p:sp>
        <p:nvSpPr>
          <p:cNvPr id="54" name="Rectangle 53">
            <a:extLst>
              <a:ext uri="{FF2B5EF4-FFF2-40B4-BE49-F238E27FC236}">
                <a16:creationId xmlns:a16="http://schemas.microsoft.com/office/drawing/2014/main" id="{BEE56985-EDD9-B449-8F61-B394991BDE45}"/>
              </a:ext>
            </a:extLst>
          </p:cNvPr>
          <p:cNvSpPr/>
          <p:nvPr/>
        </p:nvSpPr>
        <p:spPr>
          <a:xfrm>
            <a:off x="6229140" y="680362"/>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55" name="Rectangle 54">
            <a:extLst>
              <a:ext uri="{FF2B5EF4-FFF2-40B4-BE49-F238E27FC236}">
                <a16:creationId xmlns:a16="http://schemas.microsoft.com/office/drawing/2014/main" id="{A7162398-3A1A-644C-8540-857BB8BB6537}"/>
              </a:ext>
            </a:extLst>
          </p:cNvPr>
          <p:cNvSpPr/>
          <p:nvPr/>
        </p:nvSpPr>
        <p:spPr>
          <a:xfrm>
            <a:off x="6229140" y="1363481"/>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56" name="Rectangle 55">
            <a:extLst>
              <a:ext uri="{FF2B5EF4-FFF2-40B4-BE49-F238E27FC236}">
                <a16:creationId xmlns:a16="http://schemas.microsoft.com/office/drawing/2014/main" id="{1506D126-B7BA-5C45-A2AF-B8D23F7E85B8}"/>
              </a:ext>
            </a:extLst>
          </p:cNvPr>
          <p:cNvSpPr/>
          <p:nvPr/>
        </p:nvSpPr>
        <p:spPr>
          <a:xfrm>
            <a:off x="6229140" y="2012372"/>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cxnSp>
        <p:nvCxnSpPr>
          <p:cNvPr id="57" name="Curved Connector 56">
            <a:extLst>
              <a:ext uri="{FF2B5EF4-FFF2-40B4-BE49-F238E27FC236}">
                <a16:creationId xmlns:a16="http://schemas.microsoft.com/office/drawing/2014/main" id="{89CA7881-B974-1A49-A94C-A77D65857CB9}"/>
              </a:ext>
            </a:extLst>
          </p:cNvPr>
          <p:cNvCxnSpPr>
            <a:stCxn id="50" idx="3"/>
            <a:endCxn id="54" idx="1"/>
          </p:cNvCxnSpPr>
          <p:nvPr/>
        </p:nvCxnSpPr>
        <p:spPr>
          <a:xfrm flipV="1">
            <a:off x="5627315" y="931302"/>
            <a:ext cx="601826" cy="353789"/>
          </a:xfrm>
          <a:prstGeom prst="curved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Curved Connector 57">
            <a:extLst>
              <a:ext uri="{FF2B5EF4-FFF2-40B4-BE49-F238E27FC236}">
                <a16:creationId xmlns:a16="http://schemas.microsoft.com/office/drawing/2014/main" id="{41B63C10-8A9F-E245-A30F-08E5EC770541}"/>
              </a:ext>
            </a:extLst>
          </p:cNvPr>
          <p:cNvCxnSpPr>
            <a:cxnSpLocks/>
            <a:stCxn id="51" idx="3"/>
            <a:endCxn id="55" idx="1"/>
          </p:cNvCxnSpPr>
          <p:nvPr/>
        </p:nvCxnSpPr>
        <p:spPr>
          <a:xfrm>
            <a:off x="5627315" y="1462662"/>
            <a:ext cx="601826" cy="151760"/>
          </a:xfrm>
          <a:prstGeom prst="curved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Curved Connector 58">
            <a:extLst>
              <a:ext uri="{FF2B5EF4-FFF2-40B4-BE49-F238E27FC236}">
                <a16:creationId xmlns:a16="http://schemas.microsoft.com/office/drawing/2014/main" id="{36BC4B0F-93CC-C74B-83BA-0D0A1223157C}"/>
              </a:ext>
            </a:extLst>
          </p:cNvPr>
          <p:cNvCxnSpPr>
            <a:cxnSpLocks/>
            <a:stCxn id="52" idx="3"/>
            <a:endCxn id="56" idx="1"/>
          </p:cNvCxnSpPr>
          <p:nvPr/>
        </p:nvCxnSpPr>
        <p:spPr>
          <a:xfrm>
            <a:off x="5627315" y="1640233"/>
            <a:ext cx="601826" cy="623080"/>
          </a:xfrm>
          <a:prstGeom prst="curved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Curved Connector 59">
            <a:extLst>
              <a:ext uri="{FF2B5EF4-FFF2-40B4-BE49-F238E27FC236}">
                <a16:creationId xmlns:a16="http://schemas.microsoft.com/office/drawing/2014/main" id="{A5D63395-BAAE-0C44-B4C6-DAF194E436D3}"/>
              </a:ext>
            </a:extLst>
          </p:cNvPr>
          <p:cNvCxnSpPr>
            <a:cxnSpLocks/>
            <a:stCxn id="53" idx="3"/>
            <a:endCxn id="65" idx="1"/>
          </p:cNvCxnSpPr>
          <p:nvPr/>
        </p:nvCxnSpPr>
        <p:spPr>
          <a:xfrm>
            <a:off x="5627315" y="1819001"/>
            <a:ext cx="601825" cy="937376"/>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BA1CF0BF-2FF6-5A4A-B97A-3D61E58617D8}"/>
              </a:ext>
            </a:extLst>
          </p:cNvPr>
          <p:cNvSpPr/>
          <p:nvPr/>
        </p:nvSpPr>
        <p:spPr>
          <a:xfrm>
            <a:off x="7426242" y="2272586"/>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62" name="Rectangle 61">
            <a:extLst>
              <a:ext uri="{FF2B5EF4-FFF2-40B4-BE49-F238E27FC236}">
                <a16:creationId xmlns:a16="http://schemas.microsoft.com/office/drawing/2014/main" id="{5550C60D-A3B0-F64C-ABE7-18E5EA91318B}"/>
              </a:ext>
            </a:extLst>
          </p:cNvPr>
          <p:cNvSpPr/>
          <p:nvPr/>
        </p:nvSpPr>
        <p:spPr>
          <a:xfrm>
            <a:off x="7426242" y="2881504"/>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63" name="Rectangle 62">
            <a:extLst>
              <a:ext uri="{FF2B5EF4-FFF2-40B4-BE49-F238E27FC236}">
                <a16:creationId xmlns:a16="http://schemas.microsoft.com/office/drawing/2014/main" id="{305F850C-ADB7-C242-817D-36903F075992}"/>
              </a:ext>
            </a:extLst>
          </p:cNvPr>
          <p:cNvSpPr/>
          <p:nvPr/>
        </p:nvSpPr>
        <p:spPr>
          <a:xfrm>
            <a:off x="7426242" y="3494336"/>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64" name="TextBox 63">
            <a:extLst>
              <a:ext uri="{FF2B5EF4-FFF2-40B4-BE49-F238E27FC236}">
                <a16:creationId xmlns:a16="http://schemas.microsoft.com/office/drawing/2014/main" id="{1BD19F84-07B0-9941-BAA6-B07E13BB4B66}"/>
              </a:ext>
            </a:extLst>
          </p:cNvPr>
          <p:cNvSpPr txBox="1"/>
          <p:nvPr/>
        </p:nvSpPr>
        <p:spPr>
          <a:xfrm>
            <a:off x="6076146" y="3280507"/>
            <a:ext cx="954107" cy="276999"/>
          </a:xfrm>
          <a:prstGeom prst="rect">
            <a:avLst/>
          </a:prstGeom>
          <a:noFill/>
        </p:spPr>
        <p:txBody>
          <a:bodyPr wrap="none" rtlCol="0">
            <a:spAutoFit/>
          </a:bodyPr>
          <a:lstStyle/>
          <a:p>
            <a:r>
              <a:rPr lang="zh-CN" altLang="en-US" sz="1200" dirty="0"/>
              <a:t>间接索引块</a:t>
            </a:r>
            <a:endParaRPr lang="en-CN" sz="1200" dirty="0"/>
          </a:p>
        </p:txBody>
      </p:sp>
      <p:sp>
        <p:nvSpPr>
          <p:cNvPr id="65" name="Rectangle 64">
            <a:extLst>
              <a:ext uri="{FF2B5EF4-FFF2-40B4-BE49-F238E27FC236}">
                <a16:creationId xmlns:a16="http://schemas.microsoft.com/office/drawing/2014/main" id="{F50EAFF9-37CA-F342-A365-019F20DCE589}"/>
              </a:ext>
            </a:extLst>
          </p:cNvPr>
          <p:cNvSpPr/>
          <p:nvPr/>
        </p:nvSpPr>
        <p:spPr>
          <a:xfrm>
            <a:off x="6229140" y="2667591"/>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第</a:t>
            </a:r>
            <a:r>
              <a:rPr lang="en-US" altLang="zh-CN" sz="1100" dirty="0"/>
              <a:t>9</a:t>
            </a:r>
            <a:r>
              <a:rPr lang="zh-CN" altLang="en-US" sz="1100" dirty="0"/>
              <a:t>块</a:t>
            </a:r>
            <a:endParaRPr lang="en-CN" sz="1100" dirty="0"/>
          </a:p>
        </p:txBody>
      </p:sp>
      <p:sp>
        <p:nvSpPr>
          <p:cNvPr id="66" name="Rectangle 65">
            <a:extLst>
              <a:ext uri="{FF2B5EF4-FFF2-40B4-BE49-F238E27FC236}">
                <a16:creationId xmlns:a16="http://schemas.microsoft.com/office/drawing/2014/main" id="{1DBC0457-02A3-DA44-814E-27324AA3A626}"/>
              </a:ext>
            </a:extLst>
          </p:cNvPr>
          <p:cNvSpPr/>
          <p:nvPr/>
        </p:nvSpPr>
        <p:spPr>
          <a:xfrm>
            <a:off x="6229140" y="2845162"/>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28</a:t>
            </a:r>
            <a:r>
              <a:rPr lang="zh-CN" altLang="en-US" sz="1100" dirty="0"/>
              <a:t>块</a:t>
            </a:r>
            <a:endParaRPr lang="en-CN" sz="1100" dirty="0"/>
          </a:p>
        </p:txBody>
      </p:sp>
      <p:sp>
        <p:nvSpPr>
          <p:cNvPr id="67" name="Rectangle 66">
            <a:extLst>
              <a:ext uri="{FF2B5EF4-FFF2-40B4-BE49-F238E27FC236}">
                <a16:creationId xmlns:a16="http://schemas.microsoft.com/office/drawing/2014/main" id="{59B3556E-18B6-604E-9B8F-874D711273C1}"/>
              </a:ext>
            </a:extLst>
          </p:cNvPr>
          <p:cNvSpPr/>
          <p:nvPr/>
        </p:nvSpPr>
        <p:spPr>
          <a:xfrm>
            <a:off x="6229140" y="3024450"/>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32</a:t>
            </a:r>
            <a:r>
              <a:rPr lang="zh-CN" altLang="en-US" sz="1100" dirty="0"/>
              <a:t>块</a:t>
            </a:r>
            <a:endParaRPr lang="en-CN" sz="1100" dirty="0"/>
          </a:p>
        </p:txBody>
      </p:sp>
      <p:cxnSp>
        <p:nvCxnSpPr>
          <p:cNvPr id="68" name="Curved Connector 67">
            <a:extLst>
              <a:ext uri="{FF2B5EF4-FFF2-40B4-BE49-F238E27FC236}">
                <a16:creationId xmlns:a16="http://schemas.microsoft.com/office/drawing/2014/main" id="{75F24703-7927-504A-A1E2-AD2770AD73B1}"/>
              </a:ext>
            </a:extLst>
          </p:cNvPr>
          <p:cNvCxnSpPr>
            <a:cxnSpLocks/>
            <a:stCxn id="65" idx="3"/>
            <a:endCxn id="61" idx="1"/>
          </p:cNvCxnSpPr>
          <p:nvPr/>
        </p:nvCxnSpPr>
        <p:spPr>
          <a:xfrm flipV="1">
            <a:off x="6877260" y="2523526"/>
            <a:ext cx="548982" cy="232850"/>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Curved Connector 68">
            <a:extLst>
              <a:ext uri="{FF2B5EF4-FFF2-40B4-BE49-F238E27FC236}">
                <a16:creationId xmlns:a16="http://schemas.microsoft.com/office/drawing/2014/main" id="{42B87203-D0E4-8C4A-8C68-376F7DD703E8}"/>
              </a:ext>
            </a:extLst>
          </p:cNvPr>
          <p:cNvCxnSpPr>
            <a:cxnSpLocks/>
            <a:stCxn id="66" idx="3"/>
            <a:endCxn id="62" idx="1"/>
          </p:cNvCxnSpPr>
          <p:nvPr/>
        </p:nvCxnSpPr>
        <p:spPr>
          <a:xfrm>
            <a:off x="6877260" y="2933947"/>
            <a:ext cx="548982" cy="198497"/>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Curved Connector 69">
            <a:extLst>
              <a:ext uri="{FF2B5EF4-FFF2-40B4-BE49-F238E27FC236}">
                <a16:creationId xmlns:a16="http://schemas.microsoft.com/office/drawing/2014/main" id="{ECB0356F-2D95-334F-AFA4-93231B3D05E9}"/>
              </a:ext>
            </a:extLst>
          </p:cNvPr>
          <p:cNvCxnSpPr>
            <a:cxnSpLocks/>
            <a:stCxn id="67" idx="3"/>
            <a:endCxn id="63" idx="1"/>
          </p:cNvCxnSpPr>
          <p:nvPr/>
        </p:nvCxnSpPr>
        <p:spPr>
          <a:xfrm>
            <a:off x="6877260" y="3113236"/>
            <a:ext cx="548982" cy="632041"/>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1" name="Rectangle 70">
            <a:extLst>
              <a:ext uri="{FF2B5EF4-FFF2-40B4-BE49-F238E27FC236}">
                <a16:creationId xmlns:a16="http://schemas.microsoft.com/office/drawing/2014/main" id="{B803E805-CC4D-674D-AFD4-C1B75CB20AE3}"/>
              </a:ext>
            </a:extLst>
          </p:cNvPr>
          <p:cNvSpPr/>
          <p:nvPr/>
        </p:nvSpPr>
        <p:spPr>
          <a:xfrm>
            <a:off x="6229140" y="2263312"/>
            <a:ext cx="648120" cy="250941"/>
          </a:xfrm>
          <a:prstGeom prst="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72" name="Rectangle 71">
            <a:extLst>
              <a:ext uri="{FF2B5EF4-FFF2-40B4-BE49-F238E27FC236}">
                <a16:creationId xmlns:a16="http://schemas.microsoft.com/office/drawing/2014/main" id="{1E667475-61A5-F74B-89AF-4ACE1643CB84}"/>
              </a:ext>
            </a:extLst>
          </p:cNvPr>
          <p:cNvSpPr/>
          <p:nvPr/>
        </p:nvSpPr>
        <p:spPr>
          <a:xfrm>
            <a:off x="7426242" y="2272927"/>
            <a:ext cx="648120" cy="512957"/>
          </a:xfrm>
          <a:prstGeom prst="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73" name="Rectangle 72">
            <a:extLst>
              <a:ext uri="{FF2B5EF4-FFF2-40B4-BE49-F238E27FC236}">
                <a16:creationId xmlns:a16="http://schemas.microsoft.com/office/drawing/2014/main" id="{B9AED1A5-078B-0547-ACE0-2D647A89FE7D}"/>
              </a:ext>
            </a:extLst>
          </p:cNvPr>
          <p:cNvSpPr/>
          <p:nvPr/>
        </p:nvSpPr>
        <p:spPr>
          <a:xfrm>
            <a:off x="7426242" y="2877507"/>
            <a:ext cx="648120" cy="250941"/>
          </a:xfrm>
          <a:prstGeom prst="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74" name="TextBox 73">
            <a:extLst>
              <a:ext uri="{FF2B5EF4-FFF2-40B4-BE49-F238E27FC236}">
                <a16:creationId xmlns:a16="http://schemas.microsoft.com/office/drawing/2014/main" id="{82F1D155-C95B-C347-BBF3-3255D9E49D77}"/>
              </a:ext>
            </a:extLst>
          </p:cNvPr>
          <p:cNvSpPr txBox="1"/>
          <p:nvPr/>
        </p:nvSpPr>
        <p:spPr>
          <a:xfrm>
            <a:off x="7479085" y="1246648"/>
            <a:ext cx="1569660" cy="369332"/>
          </a:xfrm>
          <a:prstGeom prst="rect">
            <a:avLst/>
          </a:prstGeom>
          <a:noFill/>
        </p:spPr>
        <p:txBody>
          <a:bodyPr wrap="none" rtlCol="0">
            <a:spAutoFit/>
          </a:bodyPr>
          <a:lstStyle/>
          <a:p>
            <a:r>
              <a:rPr lang="zh-CN" altLang="en-CN" dirty="0"/>
              <a:t>需</a:t>
            </a:r>
            <a:r>
              <a:rPr lang="zh-CN" altLang="en-US" dirty="0"/>
              <a:t>修</a:t>
            </a:r>
            <a:r>
              <a:rPr lang="zh-CN" altLang="en-CN" dirty="0"/>
              <a:t>改</a:t>
            </a:r>
            <a:r>
              <a:rPr lang="zh-CN" altLang="en-US" dirty="0"/>
              <a:t>的区域</a:t>
            </a:r>
            <a:endParaRPr lang="en-CN" dirty="0"/>
          </a:p>
        </p:txBody>
      </p:sp>
      <p:cxnSp>
        <p:nvCxnSpPr>
          <p:cNvPr id="75" name="Straight Arrow Connector 74">
            <a:extLst>
              <a:ext uri="{FF2B5EF4-FFF2-40B4-BE49-F238E27FC236}">
                <a16:creationId xmlns:a16="http://schemas.microsoft.com/office/drawing/2014/main" id="{2AF162B4-9E04-5445-BFF6-314815E827C4}"/>
              </a:ext>
            </a:extLst>
          </p:cNvPr>
          <p:cNvCxnSpPr>
            <a:stCxn id="74" idx="2"/>
            <a:endCxn id="71" idx="3"/>
          </p:cNvCxnSpPr>
          <p:nvPr/>
        </p:nvCxnSpPr>
        <p:spPr>
          <a:xfrm flipH="1">
            <a:off x="6877260" y="1615980"/>
            <a:ext cx="1386655" cy="7728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4DFF1A72-4FAF-A54D-8349-D71A976FC526}"/>
              </a:ext>
            </a:extLst>
          </p:cNvPr>
          <p:cNvCxnSpPr>
            <a:cxnSpLocks/>
            <a:stCxn id="74" idx="2"/>
            <a:endCxn id="72" idx="0"/>
          </p:cNvCxnSpPr>
          <p:nvPr/>
        </p:nvCxnSpPr>
        <p:spPr>
          <a:xfrm flipH="1">
            <a:off x="7750302" y="1615980"/>
            <a:ext cx="513613" cy="6569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3C840C38-9242-5A41-B6F5-E13EECCB69DA}"/>
              </a:ext>
            </a:extLst>
          </p:cNvPr>
          <p:cNvCxnSpPr>
            <a:cxnSpLocks/>
            <a:stCxn id="74" idx="2"/>
            <a:endCxn id="73" idx="3"/>
          </p:cNvCxnSpPr>
          <p:nvPr/>
        </p:nvCxnSpPr>
        <p:spPr>
          <a:xfrm flipH="1">
            <a:off x="8074362" y="1615980"/>
            <a:ext cx="189553" cy="13869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4423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054E4-E7A4-904C-B002-86D528827D55}"/>
              </a:ext>
            </a:extLst>
          </p:cNvPr>
          <p:cNvSpPr>
            <a:spLocks noGrp="1"/>
          </p:cNvSpPr>
          <p:nvPr>
            <p:ph type="title"/>
          </p:nvPr>
        </p:nvSpPr>
        <p:spPr/>
        <p:txBody>
          <a:bodyPr/>
          <a:lstStyle/>
          <a:p>
            <a:r>
              <a:rPr lang="zh-CN" altLang="en-US" dirty="0"/>
              <a:t>文件中的写时复制</a:t>
            </a:r>
            <a:endParaRPr lang="en-CN" dirty="0"/>
          </a:p>
        </p:txBody>
      </p:sp>
      <p:sp>
        <p:nvSpPr>
          <p:cNvPr id="4" name="Slide Number Placeholder 3">
            <a:extLst>
              <a:ext uri="{FF2B5EF4-FFF2-40B4-BE49-F238E27FC236}">
                <a16:creationId xmlns:a16="http://schemas.microsoft.com/office/drawing/2014/main" id="{071EE6C2-0229-4149-9783-351571E23A23}"/>
              </a:ext>
            </a:extLst>
          </p:cNvPr>
          <p:cNvSpPr>
            <a:spLocks noGrp="1"/>
          </p:cNvSpPr>
          <p:nvPr>
            <p:ph type="sldNum" sz="quarter" idx="12"/>
          </p:nvPr>
        </p:nvSpPr>
        <p:spPr/>
        <p:txBody>
          <a:bodyPr/>
          <a:lstStyle/>
          <a:p>
            <a:fld id="{ADE361C3-C043-4A6E-BDCE-8DA1E7D90A3B}" type="slidenum">
              <a:rPr lang="zh-CN" altLang="en-US" smtClean="0"/>
              <a:t>43</a:t>
            </a:fld>
            <a:endParaRPr lang="zh-CN" altLang="en-US"/>
          </a:p>
        </p:txBody>
      </p:sp>
      <p:sp>
        <p:nvSpPr>
          <p:cNvPr id="5" name="Footer Placeholder 4">
            <a:extLst>
              <a:ext uri="{FF2B5EF4-FFF2-40B4-BE49-F238E27FC236}">
                <a16:creationId xmlns:a16="http://schemas.microsoft.com/office/drawing/2014/main" id="{FCF97BEF-A225-3244-9CFA-67E6C470D5DF}"/>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Rectangle 5">
            <a:extLst>
              <a:ext uri="{FF2B5EF4-FFF2-40B4-BE49-F238E27FC236}">
                <a16:creationId xmlns:a16="http://schemas.microsoft.com/office/drawing/2014/main" id="{9EE2CBF6-E6BC-6141-B00F-8DED24049A09}"/>
              </a:ext>
            </a:extLst>
          </p:cNvPr>
          <p:cNvSpPr/>
          <p:nvPr/>
        </p:nvSpPr>
        <p:spPr>
          <a:xfrm>
            <a:off x="4979195" y="494285"/>
            <a:ext cx="648120" cy="7020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常用</a:t>
            </a:r>
            <a:r>
              <a:rPr lang="zh-CN" altLang="en-US" sz="1100" dirty="0"/>
              <a:t>元数据</a:t>
            </a:r>
            <a:endParaRPr lang="en-CN" sz="1100" dirty="0"/>
          </a:p>
        </p:txBody>
      </p:sp>
      <p:sp>
        <p:nvSpPr>
          <p:cNvPr id="7" name="Rectangle 6">
            <a:extLst>
              <a:ext uri="{FF2B5EF4-FFF2-40B4-BE49-F238E27FC236}">
                <a16:creationId xmlns:a16="http://schemas.microsoft.com/office/drawing/2014/main" id="{5C3C2BBB-4392-F541-9FDA-AC9EE4F39AD2}"/>
              </a:ext>
            </a:extLst>
          </p:cNvPr>
          <p:cNvSpPr/>
          <p:nvPr/>
        </p:nvSpPr>
        <p:spPr>
          <a:xfrm>
            <a:off x="4979195" y="1196305"/>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第</a:t>
            </a:r>
            <a:r>
              <a:rPr lang="en-US" altLang="zh-CN" sz="1100" dirty="0"/>
              <a:t>7</a:t>
            </a:r>
            <a:r>
              <a:rPr lang="zh-CN" altLang="en-US" sz="1100" dirty="0"/>
              <a:t>块</a:t>
            </a:r>
            <a:endParaRPr lang="en-CN" sz="1100" dirty="0"/>
          </a:p>
        </p:txBody>
      </p:sp>
      <p:sp>
        <p:nvSpPr>
          <p:cNvPr id="8" name="Rectangle 7">
            <a:extLst>
              <a:ext uri="{FF2B5EF4-FFF2-40B4-BE49-F238E27FC236}">
                <a16:creationId xmlns:a16="http://schemas.microsoft.com/office/drawing/2014/main" id="{3CD74C78-A76E-7243-AFDE-C942653C0D3E}"/>
              </a:ext>
            </a:extLst>
          </p:cNvPr>
          <p:cNvSpPr/>
          <p:nvPr/>
        </p:nvSpPr>
        <p:spPr>
          <a:xfrm>
            <a:off x="4979195" y="1373876"/>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8</a:t>
            </a:r>
            <a:r>
              <a:rPr lang="zh-CN" altLang="en-US" sz="1100" dirty="0"/>
              <a:t>块</a:t>
            </a:r>
            <a:endParaRPr lang="en-CN" sz="1100" dirty="0"/>
          </a:p>
        </p:txBody>
      </p:sp>
      <p:sp>
        <p:nvSpPr>
          <p:cNvPr id="9" name="Rectangle 8">
            <a:extLst>
              <a:ext uri="{FF2B5EF4-FFF2-40B4-BE49-F238E27FC236}">
                <a16:creationId xmlns:a16="http://schemas.microsoft.com/office/drawing/2014/main" id="{81782BBF-E469-DE43-92D3-FACAF99B4DBF}"/>
              </a:ext>
            </a:extLst>
          </p:cNvPr>
          <p:cNvSpPr/>
          <p:nvPr/>
        </p:nvSpPr>
        <p:spPr>
          <a:xfrm>
            <a:off x="4979195" y="1551447"/>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12</a:t>
            </a:r>
            <a:r>
              <a:rPr lang="zh-CN" altLang="en-US" sz="1100" dirty="0"/>
              <a:t>块</a:t>
            </a:r>
            <a:endParaRPr lang="en-CN" sz="1100" dirty="0"/>
          </a:p>
        </p:txBody>
      </p:sp>
      <p:sp>
        <p:nvSpPr>
          <p:cNvPr id="10" name="Rectangle 9">
            <a:extLst>
              <a:ext uri="{FF2B5EF4-FFF2-40B4-BE49-F238E27FC236}">
                <a16:creationId xmlns:a16="http://schemas.microsoft.com/office/drawing/2014/main" id="{1FF9E79E-2937-2C42-86EE-7D279F7DE257}"/>
              </a:ext>
            </a:extLst>
          </p:cNvPr>
          <p:cNvSpPr/>
          <p:nvPr/>
        </p:nvSpPr>
        <p:spPr>
          <a:xfrm>
            <a:off x="4979195" y="1730215"/>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13</a:t>
            </a:r>
            <a:r>
              <a:rPr lang="zh-CN" altLang="en-US" sz="1100" dirty="0"/>
              <a:t>块</a:t>
            </a:r>
            <a:endParaRPr lang="en-CN" sz="1100" dirty="0"/>
          </a:p>
        </p:txBody>
      </p:sp>
      <p:sp>
        <p:nvSpPr>
          <p:cNvPr id="11" name="Rectangle 10">
            <a:extLst>
              <a:ext uri="{FF2B5EF4-FFF2-40B4-BE49-F238E27FC236}">
                <a16:creationId xmlns:a16="http://schemas.microsoft.com/office/drawing/2014/main" id="{DCAF1580-EEC6-9F40-9840-0A0E2DFFA55C}"/>
              </a:ext>
            </a:extLst>
          </p:cNvPr>
          <p:cNvSpPr/>
          <p:nvPr/>
        </p:nvSpPr>
        <p:spPr>
          <a:xfrm>
            <a:off x="6229140" y="680362"/>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12" name="Rectangle 11">
            <a:extLst>
              <a:ext uri="{FF2B5EF4-FFF2-40B4-BE49-F238E27FC236}">
                <a16:creationId xmlns:a16="http://schemas.microsoft.com/office/drawing/2014/main" id="{FBD79DF4-3E3D-2743-B6AF-1C2FEA3A8C4B}"/>
              </a:ext>
            </a:extLst>
          </p:cNvPr>
          <p:cNvSpPr/>
          <p:nvPr/>
        </p:nvSpPr>
        <p:spPr>
          <a:xfrm>
            <a:off x="6229140" y="1363481"/>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13" name="Rectangle 12">
            <a:extLst>
              <a:ext uri="{FF2B5EF4-FFF2-40B4-BE49-F238E27FC236}">
                <a16:creationId xmlns:a16="http://schemas.microsoft.com/office/drawing/2014/main" id="{C44D5F94-6ABD-484D-9E93-86D3D14D22B3}"/>
              </a:ext>
            </a:extLst>
          </p:cNvPr>
          <p:cNvSpPr/>
          <p:nvPr/>
        </p:nvSpPr>
        <p:spPr>
          <a:xfrm>
            <a:off x="6229140" y="2012372"/>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cxnSp>
        <p:nvCxnSpPr>
          <p:cNvPr id="14" name="Curved Connector 13">
            <a:extLst>
              <a:ext uri="{FF2B5EF4-FFF2-40B4-BE49-F238E27FC236}">
                <a16:creationId xmlns:a16="http://schemas.microsoft.com/office/drawing/2014/main" id="{A00023A1-220D-864B-852B-91BDEA43416D}"/>
              </a:ext>
            </a:extLst>
          </p:cNvPr>
          <p:cNvCxnSpPr>
            <a:stCxn id="7" idx="3"/>
            <a:endCxn id="11" idx="1"/>
          </p:cNvCxnSpPr>
          <p:nvPr/>
        </p:nvCxnSpPr>
        <p:spPr>
          <a:xfrm flipV="1">
            <a:off x="5627315" y="931302"/>
            <a:ext cx="601826" cy="353789"/>
          </a:xfrm>
          <a:prstGeom prst="curved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urved Connector 14">
            <a:extLst>
              <a:ext uri="{FF2B5EF4-FFF2-40B4-BE49-F238E27FC236}">
                <a16:creationId xmlns:a16="http://schemas.microsoft.com/office/drawing/2014/main" id="{6696525D-557F-AA40-8EF2-8E68BD5775FF}"/>
              </a:ext>
            </a:extLst>
          </p:cNvPr>
          <p:cNvCxnSpPr>
            <a:cxnSpLocks/>
            <a:stCxn id="8" idx="3"/>
            <a:endCxn id="12" idx="1"/>
          </p:cNvCxnSpPr>
          <p:nvPr/>
        </p:nvCxnSpPr>
        <p:spPr>
          <a:xfrm>
            <a:off x="5627315" y="1462662"/>
            <a:ext cx="601826" cy="151760"/>
          </a:xfrm>
          <a:prstGeom prst="curved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urved Connector 15">
            <a:extLst>
              <a:ext uri="{FF2B5EF4-FFF2-40B4-BE49-F238E27FC236}">
                <a16:creationId xmlns:a16="http://schemas.microsoft.com/office/drawing/2014/main" id="{3D7B721C-A3E0-F148-82CC-884BD27CE524}"/>
              </a:ext>
            </a:extLst>
          </p:cNvPr>
          <p:cNvCxnSpPr>
            <a:cxnSpLocks/>
            <a:stCxn id="9" idx="3"/>
            <a:endCxn id="13" idx="1"/>
          </p:cNvCxnSpPr>
          <p:nvPr/>
        </p:nvCxnSpPr>
        <p:spPr>
          <a:xfrm>
            <a:off x="5627315" y="1640233"/>
            <a:ext cx="601826" cy="623080"/>
          </a:xfrm>
          <a:prstGeom prst="curved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urved Connector 16">
            <a:extLst>
              <a:ext uri="{FF2B5EF4-FFF2-40B4-BE49-F238E27FC236}">
                <a16:creationId xmlns:a16="http://schemas.microsoft.com/office/drawing/2014/main" id="{ACE84BB3-29F5-254E-8F36-1B6564EFABD7}"/>
              </a:ext>
            </a:extLst>
          </p:cNvPr>
          <p:cNvCxnSpPr>
            <a:cxnSpLocks/>
            <a:stCxn id="10" idx="3"/>
            <a:endCxn id="23" idx="1"/>
          </p:cNvCxnSpPr>
          <p:nvPr/>
        </p:nvCxnSpPr>
        <p:spPr>
          <a:xfrm>
            <a:off x="5627315" y="1819001"/>
            <a:ext cx="601825" cy="937376"/>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974E9424-785D-6B48-B94A-33E3F9CA2610}"/>
              </a:ext>
            </a:extLst>
          </p:cNvPr>
          <p:cNvSpPr/>
          <p:nvPr/>
        </p:nvSpPr>
        <p:spPr>
          <a:xfrm>
            <a:off x="7426242" y="2272586"/>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19" name="Rectangle 18">
            <a:extLst>
              <a:ext uri="{FF2B5EF4-FFF2-40B4-BE49-F238E27FC236}">
                <a16:creationId xmlns:a16="http://schemas.microsoft.com/office/drawing/2014/main" id="{39AE8486-011C-CC41-BD3E-D09EFC197589}"/>
              </a:ext>
            </a:extLst>
          </p:cNvPr>
          <p:cNvSpPr/>
          <p:nvPr/>
        </p:nvSpPr>
        <p:spPr>
          <a:xfrm>
            <a:off x="7426242" y="2881504"/>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20" name="Rectangle 19">
            <a:extLst>
              <a:ext uri="{FF2B5EF4-FFF2-40B4-BE49-F238E27FC236}">
                <a16:creationId xmlns:a16="http://schemas.microsoft.com/office/drawing/2014/main" id="{331750E5-B429-0146-B481-5A095F896EB7}"/>
              </a:ext>
            </a:extLst>
          </p:cNvPr>
          <p:cNvSpPr/>
          <p:nvPr/>
        </p:nvSpPr>
        <p:spPr>
          <a:xfrm>
            <a:off x="7426242" y="3494336"/>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22" name="TextBox 21">
            <a:extLst>
              <a:ext uri="{FF2B5EF4-FFF2-40B4-BE49-F238E27FC236}">
                <a16:creationId xmlns:a16="http://schemas.microsoft.com/office/drawing/2014/main" id="{BC3AC2BE-8313-BE41-8D6B-3E76EF6EA2D6}"/>
              </a:ext>
            </a:extLst>
          </p:cNvPr>
          <p:cNvSpPr txBox="1"/>
          <p:nvPr/>
        </p:nvSpPr>
        <p:spPr>
          <a:xfrm>
            <a:off x="6076146" y="3280507"/>
            <a:ext cx="954107" cy="276999"/>
          </a:xfrm>
          <a:prstGeom prst="rect">
            <a:avLst/>
          </a:prstGeom>
          <a:noFill/>
        </p:spPr>
        <p:txBody>
          <a:bodyPr wrap="none" rtlCol="0">
            <a:spAutoFit/>
          </a:bodyPr>
          <a:lstStyle/>
          <a:p>
            <a:r>
              <a:rPr lang="zh-CN" altLang="en-US" sz="1200" dirty="0"/>
              <a:t>间接索引块</a:t>
            </a:r>
            <a:endParaRPr lang="en-CN" sz="1200" dirty="0"/>
          </a:p>
        </p:txBody>
      </p:sp>
      <p:sp>
        <p:nvSpPr>
          <p:cNvPr id="23" name="Rectangle 22">
            <a:extLst>
              <a:ext uri="{FF2B5EF4-FFF2-40B4-BE49-F238E27FC236}">
                <a16:creationId xmlns:a16="http://schemas.microsoft.com/office/drawing/2014/main" id="{7B57721B-087A-644D-B5EF-719038503526}"/>
              </a:ext>
            </a:extLst>
          </p:cNvPr>
          <p:cNvSpPr/>
          <p:nvPr/>
        </p:nvSpPr>
        <p:spPr>
          <a:xfrm>
            <a:off x="6229140" y="2667591"/>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第</a:t>
            </a:r>
            <a:r>
              <a:rPr lang="en-US" altLang="zh-CN" sz="1100" dirty="0"/>
              <a:t>9</a:t>
            </a:r>
            <a:r>
              <a:rPr lang="zh-CN" altLang="en-US" sz="1100" dirty="0"/>
              <a:t>块</a:t>
            </a:r>
            <a:endParaRPr lang="en-CN" sz="1100" dirty="0"/>
          </a:p>
        </p:txBody>
      </p:sp>
      <p:sp>
        <p:nvSpPr>
          <p:cNvPr id="24" name="Rectangle 23">
            <a:extLst>
              <a:ext uri="{FF2B5EF4-FFF2-40B4-BE49-F238E27FC236}">
                <a16:creationId xmlns:a16="http://schemas.microsoft.com/office/drawing/2014/main" id="{9671EC83-2C19-8143-9D45-1FB99E4A8C25}"/>
              </a:ext>
            </a:extLst>
          </p:cNvPr>
          <p:cNvSpPr/>
          <p:nvPr/>
        </p:nvSpPr>
        <p:spPr>
          <a:xfrm>
            <a:off x="6229140" y="2845162"/>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28</a:t>
            </a:r>
            <a:r>
              <a:rPr lang="zh-CN" altLang="en-US" sz="1100" dirty="0"/>
              <a:t>块</a:t>
            </a:r>
            <a:endParaRPr lang="en-CN" sz="1100" dirty="0"/>
          </a:p>
        </p:txBody>
      </p:sp>
      <p:sp>
        <p:nvSpPr>
          <p:cNvPr id="26" name="Rectangle 25">
            <a:extLst>
              <a:ext uri="{FF2B5EF4-FFF2-40B4-BE49-F238E27FC236}">
                <a16:creationId xmlns:a16="http://schemas.microsoft.com/office/drawing/2014/main" id="{8409BDD2-D641-8D4A-9535-2852481BF1CF}"/>
              </a:ext>
            </a:extLst>
          </p:cNvPr>
          <p:cNvSpPr/>
          <p:nvPr/>
        </p:nvSpPr>
        <p:spPr>
          <a:xfrm>
            <a:off x="6229140" y="3024450"/>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32</a:t>
            </a:r>
            <a:r>
              <a:rPr lang="zh-CN" altLang="en-US" sz="1100" dirty="0"/>
              <a:t>块</a:t>
            </a:r>
            <a:endParaRPr lang="en-CN" sz="1100" dirty="0"/>
          </a:p>
        </p:txBody>
      </p:sp>
      <p:cxnSp>
        <p:nvCxnSpPr>
          <p:cNvPr id="27" name="Curved Connector 26">
            <a:extLst>
              <a:ext uri="{FF2B5EF4-FFF2-40B4-BE49-F238E27FC236}">
                <a16:creationId xmlns:a16="http://schemas.microsoft.com/office/drawing/2014/main" id="{1211CB64-5E1B-AB4D-80FC-988FAF6C4EEB}"/>
              </a:ext>
            </a:extLst>
          </p:cNvPr>
          <p:cNvCxnSpPr>
            <a:cxnSpLocks/>
            <a:stCxn id="23" idx="3"/>
            <a:endCxn id="18" idx="1"/>
          </p:cNvCxnSpPr>
          <p:nvPr/>
        </p:nvCxnSpPr>
        <p:spPr>
          <a:xfrm flipV="1">
            <a:off x="6877260" y="2523526"/>
            <a:ext cx="548982" cy="232850"/>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urved Connector 27">
            <a:extLst>
              <a:ext uri="{FF2B5EF4-FFF2-40B4-BE49-F238E27FC236}">
                <a16:creationId xmlns:a16="http://schemas.microsoft.com/office/drawing/2014/main" id="{41530331-C3D2-BE41-85FD-746B3E4B3263}"/>
              </a:ext>
            </a:extLst>
          </p:cNvPr>
          <p:cNvCxnSpPr>
            <a:cxnSpLocks/>
            <a:stCxn id="24" idx="3"/>
            <a:endCxn id="19" idx="1"/>
          </p:cNvCxnSpPr>
          <p:nvPr/>
        </p:nvCxnSpPr>
        <p:spPr>
          <a:xfrm>
            <a:off x="6877260" y="2933947"/>
            <a:ext cx="548982" cy="198497"/>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urved Connector 28">
            <a:extLst>
              <a:ext uri="{FF2B5EF4-FFF2-40B4-BE49-F238E27FC236}">
                <a16:creationId xmlns:a16="http://schemas.microsoft.com/office/drawing/2014/main" id="{E790281B-FE23-F340-9E7E-AD3053EB76EA}"/>
              </a:ext>
            </a:extLst>
          </p:cNvPr>
          <p:cNvCxnSpPr>
            <a:cxnSpLocks/>
            <a:stCxn id="26" idx="3"/>
            <a:endCxn id="20" idx="1"/>
          </p:cNvCxnSpPr>
          <p:nvPr/>
        </p:nvCxnSpPr>
        <p:spPr>
          <a:xfrm>
            <a:off x="6877260" y="3113236"/>
            <a:ext cx="548982" cy="632041"/>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Content Placeholder 2">
            <a:extLst>
              <a:ext uri="{FF2B5EF4-FFF2-40B4-BE49-F238E27FC236}">
                <a16:creationId xmlns:a16="http://schemas.microsoft.com/office/drawing/2014/main" id="{A1023471-3D10-6541-A554-04865CC9FF50}"/>
              </a:ext>
            </a:extLst>
          </p:cNvPr>
          <p:cNvSpPr>
            <a:spLocks noGrp="1"/>
          </p:cNvSpPr>
          <p:nvPr>
            <p:ph idx="1"/>
          </p:nvPr>
        </p:nvSpPr>
        <p:spPr>
          <a:xfrm>
            <a:off x="457200" y="1333501"/>
            <a:ext cx="8229600" cy="3771636"/>
          </a:xfrm>
        </p:spPr>
        <p:txBody>
          <a:bodyPr/>
          <a:lstStyle/>
          <a:p>
            <a:r>
              <a:rPr lang="zh-CN" altLang="en-US" sz="2000" b="0" dirty="0"/>
              <a:t>文件数据散落在多个数据块内</a:t>
            </a:r>
            <a:endParaRPr lang="en-US" altLang="zh-CN" sz="2000" b="0" dirty="0"/>
          </a:p>
          <a:p>
            <a:r>
              <a:rPr lang="zh-CN" altLang="en-US" sz="2000" b="0" dirty="0"/>
              <a:t>使用日志：数据需要写两遍</a:t>
            </a:r>
            <a:endParaRPr lang="en-US" altLang="zh-CN" sz="2000" b="0" dirty="0"/>
          </a:p>
          <a:p>
            <a:r>
              <a:rPr lang="zh-CN" altLang="en-US" sz="2000" b="0" dirty="0"/>
              <a:t>写时复制保证多个数据块原子更新</a:t>
            </a:r>
            <a:endParaRPr lang="en-US" altLang="zh-CN" sz="2000" b="0" dirty="0"/>
          </a:p>
          <a:p>
            <a:pPr lvl="1"/>
            <a:r>
              <a:rPr lang="zh-CN" altLang="en-US" sz="1600" dirty="0"/>
              <a:t>将要修改的数据块进行复制（分配新的块）</a:t>
            </a:r>
            <a:endParaRPr lang="en-US" altLang="zh-CN" sz="1600" b="0" dirty="0"/>
          </a:p>
          <a:p>
            <a:endParaRPr lang="en-CN" dirty="0"/>
          </a:p>
        </p:txBody>
      </p:sp>
      <p:sp>
        <p:nvSpPr>
          <p:cNvPr id="34" name="Rectangle 33">
            <a:extLst>
              <a:ext uri="{FF2B5EF4-FFF2-40B4-BE49-F238E27FC236}">
                <a16:creationId xmlns:a16="http://schemas.microsoft.com/office/drawing/2014/main" id="{282CD7BB-7B31-B942-A7AC-049F12913B94}"/>
              </a:ext>
            </a:extLst>
          </p:cNvPr>
          <p:cNvSpPr/>
          <p:nvPr/>
        </p:nvSpPr>
        <p:spPr>
          <a:xfrm>
            <a:off x="6229140" y="2263312"/>
            <a:ext cx="648120" cy="250941"/>
          </a:xfrm>
          <a:prstGeom prst="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5" name="Rectangle 34">
            <a:extLst>
              <a:ext uri="{FF2B5EF4-FFF2-40B4-BE49-F238E27FC236}">
                <a16:creationId xmlns:a16="http://schemas.microsoft.com/office/drawing/2014/main" id="{9C42BC9F-E995-D54F-BA5A-8F7F10232DEF}"/>
              </a:ext>
            </a:extLst>
          </p:cNvPr>
          <p:cNvSpPr/>
          <p:nvPr/>
        </p:nvSpPr>
        <p:spPr>
          <a:xfrm>
            <a:off x="7426242" y="2272927"/>
            <a:ext cx="648120" cy="512957"/>
          </a:xfrm>
          <a:prstGeom prst="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6" name="Rectangle 35">
            <a:extLst>
              <a:ext uri="{FF2B5EF4-FFF2-40B4-BE49-F238E27FC236}">
                <a16:creationId xmlns:a16="http://schemas.microsoft.com/office/drawing/2014/main" id="{CB69E52B-5169-B541-96BD-47D917282E26}"/>
              </a:ext>
            </a:extLst>
          </p:cNvPr>
          <p:cNvSpPr/>
          <p:nvPr/>
        </p:nvSpPr>
        <p:spPr>
          <a:xfrm>
            <a:off x="7426242" y="2877507"/>
            <a:ext cx="648120" cy="250941"/>
          </a:xfrm>
          <a:prstGeom prst="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51" name="Rectangle 50">
            <a:extLst>
              <a:ext uri="{FF2B5EF4-FFF2-40B4-BE49-F238E27FC236}">
                <a16:creationId xmlns:a16="http://schemas.microsoft.com/office/drawing/2014/main" id="{2A3407F0-CC20-7F40-A758-F5C099FF25D8}"/>
              </a:ext>
            </a:extLst>
          </p:cNvPr>
          <p:cNvSpPr/>
          <p:nvPr/>
        </p:nvSpPr>
        <p:spPr>
          <a:xfrm>
            <a:off x="7426242" y="4853257"/>
            <a:ext cx="648120" cy="501881"/>
          </a:xfrm>
          <a:prstGeom prst="rect">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旧</a:t>
            </a:r>
            <a:r>
              <a:rPr lang="zh-CN" altLang="en-CN" sz="1100" dirty="0"/>
              <a:t>数据</a:t>
            </a:r>
            <a:endParaRPr lang="en-CN" sz="1100" dirty="0"/>
          </a:p>
        </p:txBody>
      </p:sp>
      <p:sp>
        <p:nvSpPr>
          <p:cNvPr id="52" name="Rectangle 51">
            <a:extLst>
              <a:ext uri="{FF2B5EF4-FFF2-40B4-BE49-F238E27FC236}">
                <a16:creationId xmlns:a16="http://schemas.microsoft.com/office/drawing/2014/main" id="{EC8949C4-81FD-524C-932A-192B95E5B412}"/>
              </a:ext>
            </a:extLst>
          </p:cNvPr>
          <p:cNvSpPr/>
          <p:nvPr/>
        </p:nvSpPr>
        <p:spPr>
          <a:xfrm>
            <a:off x="7426242" y="4211873"/>
            <a:ext cx="648120" cy="512957"/>
          </a:xfrm>
          <a:prstGeom prst="rect">
            <a:avLst/>
          </a:prstGeom>
          <a:solidFill>
            <a:schemeClr val="accent1">
              <a:alpha val="32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solidFill>
                  <a:schemeClr val="tx1"/>
                </a:solidFill>
              </a:rPr>
              <a:t>旧</a:t>
            </a:r>
            <a:r>
              <a:rPr lang="zh-CN" altLang="en-CN" sz="1100" dirty="0">
                <a:solidFill>
                  <a:schemeClr val="tx1"/>
                </a:solidFill>
              </a:rPr>
              <a:t>数据</a:t>
            </a:r>
            <a:endParaRPr lang="en-CN" sz="1100" dirty="0">
              <a:solidFill>
                <a:schemeClr val="tx1"/>
              </a:solidFill>
            </a:endParaRPr>
          </a:p>
        </p:txBody>
      </p:sp>
      <p:sp>
        <p:nvSpPr>
          <p:cNvPr id="53" name="Rectangle 52">
            <a:extLst>
              <a:ext uri="{FF2B5EF4-FFF2-40B4-BE49-F238E27FC236}">
                <a16:creationId xmlns:a16="http://schemas.microsoft.com/office/drawing/2014/main" id="{730D9857-E395-C342-8BEB-163F5C114441}"/>
              </a:ext>
            </a:extLst>
          </p:cNvPr>
          <p:cNvSpPr/>
          <p:nvPr/>
        </p:nvSpPr>
        <p:spPr>
          <a:xfrm>
            <a:off x="7426242" y="4849260"/>
            <a:ext cx="648120" cy="250941"/>
          </a:xfrm>
          <a:prstGeom prst="rect">
            <a:avLst/>
          </a:prstGeom>
          <a:solidFill>
            <a:schemeClr val="accent1">
              <a:alpha val="32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sz="1100" dirty="0">
              <a:solidFill>
                <a:srgbClr val="C00000"/>
              </a:solidFill>
            </a:endParaRPr>
          </a:p>
        </p:txBody>
      </p:sp>
      <p:sp>
        <p:nvSpPr>
          <p:cNvPr id="54" name="Rectangle 53">
            <a:extLst>
              <a:ext uri="{FF2B5EF4-FFF2-40B4-BE49-F238E27FC236}">
                <a16:creationId xmlns:a16="http://schemas.microsoft.com/office/drawing/2014/main" id="{C76D7ADA-9981-ED46-95D1-D4EC57848164}"/>
              </a:ext>
            </a:extLst>
          </p:cNvPr>
          <p:cNvSpPr/>
          <p:nvPr/>
        </p:nvSpPr>
        <p:spPr>
          <a:xfrm>
            <a:off x="7105412" y="1707547"/>
            <a:ext cx="648120" cy="501881"/>
          </a:xfrm>
          <a:prstGeom prst="rect">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旧数据</a:t>
            </a:r>
            <a:endParaRPr lang="en-CN" sz="1100" dirty="0"/>
          </a:p>
        </p:txBody>
      </p:sp>
      <p:sp>
        <p:nvSpPr>
          <p:cNvPr id="44" name="Rectangle 43">
            <a:extLst>
              <a:ext uri="{FF2B5EF4-FFF2-40B4-BE49-F238E27FC236}">
                <a16:creationId xmlns:a16="http://schemas.microsoft.com/office/drawing/2014/main" id="{5D8A2867-5E2D-2B4B-897B-754638081306}"/>
              </a:ext>
            </a:extLst>
          </p:cNvPr>
          <p:cNvSpPr/>
          <p:nvPr/>
        </p:nvSpPr>
        <p:spPr>
          <a:xfrm>
            <a:off x="7105411" y="1958487"/>
            <a:ext cx="648120" cy="250941"/>
          </a:xfrm>
          <a:prstGeom prst="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50" name="Curved Connector 49">
            <a:extLst>
              <a:ext uri="{FF2B5EF4-FFF2-40B4-BE49-F238E27FC236}">
                <a16:creationId xmlns:a16="http://schemas.microsoft.com/office/drawing/2014/main" id="{F9475C22-0F15-6047-8455-90819FFE29F0}"/>
              </a:ext>
            </a:extLst>
          </p:cNvPr>
          <p:cNvCxnSpPr>
            <a:cxnSpLocks/>
            <a:stCxn id="35" idx="3"/>
            <a:endCxn id="52" idx="3"/>
          </p:cNvCxnSpPr>
          <p:nvPr/>
        </p:nvCxnSpPr>
        <p:spPr>
          <a:xfrm>
            <a:off x="8074362" y="2529406"/>
            <a:ext cx="12700" cy="1938946"/>
          </a:xfrm>
          <a:prstGeom prst="curvedConnector3">
            <a:avLst>
              <a:gd name="adj1" fmla="val 1800000"/>
            </a:avLst>
          </a:prstGeom>
          <a:ln w="19050">
            <a:solidFill>
              <a:srgbClr val="C0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7" name="Curved Connector 56">
            <a:extLst>
              <a:ext uri="{FF2B5EF4-FFF2-40B4-BE49-F238E27FC236}">
                <a16:creationId xmlns:a16="http://schemas.microsoft.com/office/drawing/2014/main" id="{D67101E5-6104-EE4A-880E-FAA8A8779718}"/>
              </a:ext>
            </a:extLst>
          </p:cNvPr>
          <p:cNvCxnSpPr>
            <a:cxnSpLocks/>
            <a:stCxn id="19" idx="3"/>
            <a:endCxn id="51" idx="3"/>
          </p:cNvCxnSpPr>
          <p:nvPr/>
        </p:nvCxnSpPr>
        <p:spPr>
          <a:xfrm>
            <a:off x="8074362" y="3132445"/>
            <a:ext cx="12700" cy="1971753"/>
          </a:xfrm>
          <a:prstGeom prst="curvedConnector3">
            <a:avLst>
              <a:gd name="adj1" fmla="val 1800000"/>
            </a:avLst>
          </a:prstGeom>
          <a:ln w="19050">
            <a:solidFill>
              <a:srgbClr val="C0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8" name="Curved Connector 57">
            <a:extLst>
              <a:ext uri="{FF2B5EF4-FFF2-40B4-BE49-F238E27FC236}">
                <a16:creationId xmlns:a16="http://schemas.microsoft.com/office/drawing/2014/main" id="{CAC8C4A8-722E-E34F-8480-1DD27773B20E}"/>
              </a:ext>
            </a:extLst>
          </p:cNvPr>
          <p:cNvCxnSpPr>
            <a:cxnSpLocks/>
            <a:stCxn id="13" idx="3"/>
            <a:endCxn id="54" idx="1"/>
          </p:cNvCxnSpPr>
          <p:nvPr/>
        </p:nvCxnSpPr>
        <p:spPr>
          <a:xfrm flipV="1">
            <a:off x="6877260" y="1958488"/>
            <a:ext cx="228152" cy="304825"/>
          </a:xfrm>
          <a:prstGeom prst="curvedConnector3">
            <a:avLst>
              <a:gd name="adj1" fmla="val 50000"/>
            </a:avLst>
          </a:prstGeom>
          <a:ln w="19050">
            <a:solidFill>
              <a:srgbClr val="C00000"/>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7022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054E4-E7A4-904C-B002-86D528827D55}"/>
              </a:ext>
            </a:extLst>
          </p:cNvPr>
          <p:cNvSpPr>
            <a:spLocks noGrp="1"/>
          </p:cNvSpPr>
          <p:nvPr>
            <p:ph type="title"/>
          </p:nvPr>
        </p:nvSpPr>
        <p:spPr/>
        <p:txBody>
          <a:bodyPr/>
          <a:lstStyle/>
          <a:p>
            <a:r>
              <a:rPr lang="zh-CN" altLang="en-US" dirty="0"/>
              <a:t>文件中的写时复制</a:t>
            </a:r>
            <a:endParaRPr lang="en-CN" dirty="0"/>
          </a:p>
        </p:txBody>
      </p:sp>
      <p:sp>
        <p:nvSpPr>
          <p:cNvPr id="4" name="Slide Number Placeholder 3">
            <a:extLst>
              <a:ext uri="{FF2B5EF4-FFF2-40B4-BE49-F238E27FC236}">
                <a16:creationId xmlns:a16="http://schemas.microsoft.com/office/drawing/2014/main" id="{071EE6C2-0229-4149-9783-351571E23A23}"/>
              </a:ext>
            </a:extLst>
          </p:cNvPr>
          <p:cNvSpPr>
            <a:spLocks noGrp="1"/>
          </p:cNvSpPr>
          <p:nvPr>
            <p:ph type="sldNum" sz="quarter" idx="12"/>
          </p:nvPr>
        </p:nvSpPr>
        <p:spPr/>
        <p:txBody>
          <a:bodyPr/>
          <a:lstStyle/>
          <a:p>
            <a:fld id="{ADE361C3-C043-4A6E-BDCE-8DA1E7D90A3B}" type="slidenum">
              <a:rPr lang="zh-CN" altLang="en-US" smtClean="0"/>
              <a:t>44</a:t>
            </a:fld>
            <a:endParaRPr lang="zh-CN" altLang="en-US"/>
          </a:p>
        </p:txBody>
      </p:sp>
      <p:sp>
        <p:nvSpPr>
          <p:cNvPr id="5" name="Footer Placeholder 4">
            <a:extLst>
              <a:ext uri="{FF2B5EF4-FFF2-40B4-BE49-F238E27FC236}">
                <a16:creationId xmlns:a16="http://schemas.microsoft.com/office/drawing/2014/main" id="{FCF97BEF-A225-3244-9CFA-67E6C470D5DF}"/>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Rectangle 5">
            <a:extLst>
              <a:ext uri="{FF2B5EF4-FFF2-40B4-BE49-F238E27FC236}">
                <a16:creationId xmlns:a16="http://schemas.microsoft.com/office/drawing/2014/main" id="{9EE2CBF6-E6BC-6141-B00F-8DED24049A09}"/>
              </a:ext>
            </a:extLst>
          </p:cNvPr>
          <p:cNvSpPr/>
          <p:nvPr/>
        </p:nvSpPr>
        <p:spPr>
          <a:xfrm>
            <a:off x="4979195" y="494285"/>
            <a:ext cx="648120" cy="7020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常用</a:t>
            </a:r>
            <a:r>
              <a:rPr lang="zh-CN" altLang="en-US" sz="1100" dirty="0"/>
              <a:t>元数据</a:t>
            </a:r>
            <a:endParaRPr lang="en-CN" sz="1100" dirty="0"/>
          </a:p>
        </p:txBody>
      </p:sp>
      <p:sp>
        <p:nvSpPr>
          <p:cNvPr id="7" name="Rectangle 6">
            <a:extLst>
              <a:ext uri="{FF2B5EF4-FFF2-40B4-BE49-F238E27FC236}">
                <a16:creationId xmlns:a16="http://schemas.microsoft.com/office/drawing/2014/main" id="{5C3C2BBB-4392-F541-9FDA-AC9EE4F39AD2}"/>
              </a:ext>
            </a:extLst>
          </p:cNvPr>
          <p:cNvSpPr/>
          <p:nvPr/>
        </p:nvSpPr>
        <p:spPr>
          <a:xfrm>
            <a:off x="4979195" y="1196305"/>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第</a:t>
            </a:r>
            <a:r>
              <a:rPr lang="en-US" altLang="zh-CN" sz="1100" dirty="0"/>
              <a:t>7</a:t>
            </a:r>
            <a:r>
              <a:rPr lang="zh-CN" altLang="en-US" sz="1100" dirty="0"/>
              <a:t>块</a:t>
            </a:r>
            <a:endParaRPr lang="en-CN" sz="1100" dirty="0"/>
          </a:p>
        </p:txBody>
      </p:sp>
      <p:sp>
        <p:nvSpPr>
          <p:cNvPr id="8" name="Rectangle 7">
            <a:extLst>
              <a:ext uri="{FF2B5EF4-FFF2-40B4-BE49-F238E27FC236}">
                <a16:creationId xmlns:a16="http://schemas.microsoft.com/office/drawing/2014/main" id="{3CD74C78-A76E-7243-AFDE-C942653C0D3E}"/>
              </a:ext>
            </a:extLst>
          </p:cNvPr>
          <p:cNvSpPr/>
          <p:nvPr/>
        </p:nvSpPr>
        <p:spPr>
          <a:xfrm>
            <a:off x="4979195" y="1373876"/>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8</a:t>
            </a:r>
            <a:r>
              <a:rPr lang="zh-CN" altLang="en-US" sz="1100" dirty="0"/>
              <a:t>块</a:t>
            </a:r>
            <a:endParaRPr lang="en-CN" sz="1100" dirty="0"/>
          </a:p>
        </p:txBody>
      </p:sp>
      <p:sp>
        <p:nvSpPr>
          <p:cNvPr id="9" name="Rectangle 8">
            <a:extLst>
              <a:ext uri="{FF2B5EF4-FFF2-40B4-BE49-F238E27FC236}">
                <a16:creationId xmlns:a16="http://schemas.microsoft.com/office/drawing/2014/main" id="{81782BBF-E469-DE43-92D3-FACAF99B4DBF}"/>
              </a:ext>
            </a:extLst>
          </p:cNvPr>
          <p:cNvSpPr/>
          <p:nvPr/>
        </p:nvSpPr>
        <p:spPr>
          <a:xfrm>
            <a:off x="4979195" y="1551447"/>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12</a:t>
            </a:r>
            <a:r>
              <a:rPr lang="zh-CN" altLang="en-US" sz="1100" dirty="0"/>
              <a:t>块</a:t>
            </a:r>
            <a:endParaRPr lang="en-CN" sz="1100" dirty="0"/>
          </a:p>
        </p:txBody>
      </p:sp>
      <p:sp>
        <p:nvSpPr>
          <p:cNvPr id="10" name="Rectangle 9">
            <a:extLst>
              <a:ext uri="{FF2B5EF4-FFF2-40B4-BE49-F238E27FC236}">
                <a16:creationId xmlns:a16="http://schemas.microsoft.com/office/drawing/2014/main" id="{1FF9E79E-2937-2C42-86EE-7D279F7DE257}"/>
              </a:ext>
            </a:extLst>
          </p:cNvPr>
          <p:cNvSpPr/>
          <p:nvPr/>
        </p:nvSpPr>
        <p:spPr>
          <a:xfrm>
            <a:off x="4979195" y="1730215"/>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13</a:t>
            </a:r>
            <a:r>
              <a:rPr lang="zh-CN" altLang="en-US" sz="1100" dirty="0"/>
              <a:t>块</a:t>
            </a:r>
            <a:endParaRPr lang="en-CN" sz="1100" dirty="0"/>
          </a:p>
        </p:txBody>
      </p:sp>
      <p:sp>
        <p:nvSpPr>
          <p:cNvPr id="11" name="Rectangle 10">
            <a:extLst>
              <a:ext uri="{FF2B5EF4-FFF2-40B4-BE49-F238E27FC236}">
                <a16:creationId xmlns:a16="http://schemas.microsoft.com/office/drawing/2014/main" id="{DCAF1580-EEC6-9F40-9840-0A0E2DFFA55C}"/>
              </a:ext>
            </a:extLst>
          </p:cNvPr>
          <p:cNvSpPr/>
          <p:nvPr/>
        </p:nvSpPr>
        <p:spPr>
          <a:xfrm>
            <a:off x="6229140" y="680362"/>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12" name="Rectangle 11">
            <a:extLst>
              <a:ext uri="{FF2B5EF4-FFF2-40B4-BE49-F238E27FC236}">
                <a16:creationId xmlns:a16="http://schemas.microsoft.com/office/drawing/2014/main" id="{FBD79DF4-3E3D-2743-B6AF-1C2FEA3A8C4B}"/>
              </a:ext>
            </a:extLst>
          </p:cNvPr>
          <p:cNvSpPr/>
          <p:nvPr/>
        </p:nvSpPr>
        <p:spPr>
          <a:xfrm>
            <a:off x="6229140" y="1363481"/>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13" name="Rectangle 12">
            <a:extLst>
              <a:ext uri="{FF2B5EF4-FFF2-40B4-BE49-F238E27FC236}">
                <a16:creationId xmlns:a16="http://schemas.microsoft.com/office/drawing/2014/main" id="{C44D5F94-6ABD-484D-9E93-86D3D14D22B3}"/>
              </a:ext>
            </a:extLst>
          </p:cNvPr>
          <p:cNvSpPr/>
          <p:nvPr/>
        </p:nvSpPr>
        <p:spPr>
          <a:xfrm>
            <a:off x="6229140" y="2012372"/>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cxnSp>
        <p:nvCxnSpPr>
          <p:cNvPr id="14" name="Curved Connector 13">
            <a:extLst>
              <a:ext uri="{FF2B5EF4-FFF2-40B4-BE49-F238E27FC236}">
                <a16:creationId xmlns:a16="http://schemas.microsoft.com/office/drawing/2014/main" id="{A00023A1-220D-864B-852B-91BDEA43416D}"/>
              </a:ext>
            </a:extLst>
          </p:cNvPr>
          <p:cNvCxnSpPr>
            <a:stCxn id="7" idx="3"/>
            <a:endCxn id="11" idx="1"/>
          </p:cNvCxnSpPr>
          <p:nvPr/>
        </p:nvCxnSpPr>
        <p:spPr>
          <a:xfrm flipV="1">
            <a:off x="5627315" y="931302"/>
            <a:ext cx="601826" cy="353789"/>
          </a:xfrm>
          <a:prstGeom prst="curved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urved Connector 14">
            <a:extLst>
              <a:ext uri="{FF2B5EF4-FFF2-40B4-BE49-F238E27FC236}">
                <a16:creationId xmlns:a16="http://schemas.microsoft.com/office/drawing/2014/main" id="{6696525D-557F-AA40-8EF2-8E68BD5775FF}"/>
              </a:ext>
            </a:extLst>
          </p:cNvPr>
          <p:cNvCxnSpPr>
            <a:cxnSpLocks/>
            <a:stCxn id="8" idx="3"/>
            <a:endCxn id="12" idx="1"/>
          </p:cNvCxnSpPr>
          <p:nvPr/>
        </p:nvCxnSpPr>
        <p:spPr>
          <a:xfrm>
            <a:off x="5627315" y="1462662"/>
            <a:ext cx="601826" cy="151760"/>
          </a:xfrm>
          <a:prstGeom prst="curved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urved Connector 15">
            <a:extLst>
              <a:ext uri="{FF2B5EF4-FFF2-40B4-BE49-F238E27FC236}">
                <a16:creationId xmlns:a16="http://schemas.microsoft.com/office/drawing/2014/main" id="{3D7B721C-A3E0-F148-82CC-884BD27CE524}"/>
              </a:ext>
            </a:extLst>
          </p:cNvPr>
          <p:cNvCxnSpPr>
            <a:cxnSpLocks/>
            <a:stCxn id="9" idx="3"/>
            <a:endCxn id="13" idx="1"/>
          </p:cNvCxnSpPr>
          <p:nvPr/>
        </p:nvCxnSpPr>
        <p:spPr>
          <a:xfrm>
            <a:off x="5627315" y="1640233"/>
            <a:ext cx="601826" cy="623080"/>
          </a:xfrm>
          <a:prstGeom prst="curved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urved Connector 16">
            <a:extLst>
              <a:ext uri="{FF2B5EF4-FFF2-40B4-BE49-F238E27FC236}">
                <a16:creationId xmlns:a16="http://schemas.microsoft.com/office/drawing/2014/main" id="{ACE84BB3-29F5-254E-8F36-1B6564EFABD7}"/>
              </a:ext>
            </a:extLst>
          </p:cNvPr>
          <p:cNvCxnSpPr>
            <a:cxnSpLocks/>
            <a:stCxn id="10" idx="3"/>
            <a:endCxn id="23" idx="1"/>
          </p:cNvCxnSpPr>
          <p:nvPr/>
        </p:nvCxnSpPr>
        <p:spPr>
          <a:xfrm>
            <a:off x="5627315" y="1819001"/>
            <a:ext cx="601825" cy="937376"/>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974E9424-785D-6B48-B94A-33E3F9CA2610}"/>
              </a:ext>
            </a:extLst>
          </p:cNvPr>
          <p:cNvSpPr/>
          <p:nvPr/>
        </p:nvSpPr>
        <p:spPr>
          <a:xfrm>
            <a:off x="7426242" y="2272586"/>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19" name="Rectangle 18">
            <a:extLst>
              <a:ext uri="{FF2B5EF4-FFF2-40B4-BE49-F238E27FC236}">
                <a16:creationId xmlns:a16="http://schemas.microsoft.com/office/drawing/2014/main" id="{39AE8486-011C-CC41-BD3E-D09EFC197589}"/>
              </a:ext>
            </a:extLst>
          </p:cNvPr>
          <p:cNvSpPr/>
          <p:nvPr/>
        </p:nvSpPr>
        <p:spPr>
          <a:xfrm>
            <a:off x="7426242" y="2881504"/>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20" name="Rectangle 19">
            <a:extLst>
              <a:ext uri="{FF2B5EF4-FFF2-40B4-BE49-F238E27FC236}">
                <a16:creationId xmlns:a16="http://schemas.microsoft.com/office/drawing/2014/main" id="{331750E5-B429-0146-B481-5A095F896EB7}"/>
              </a:ext>
            </a:extLst>
          </p:cNvPr>
          <p:cNvSpPr/>
          <p:nvPr/>
        </p:nvSpPr>
        <p:spPr>
          <a:xfrm>
            <a:off x="7426242" y="3494336"/>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22" name="TextBox 21">
            <a:extLst>
              <a:ext uri="{FF2B5EF4-FFF2-40B4-BE49-F238E27FC236}">
                <a16:creationId xmlns:a16="http://schemas.microsoft.com/office/drawing/2014/main" id="{BC3AC2BE-8313-BE41-8D6B-3E76EF6EA2D6}"/>
              </a:ext>
            </a:extLst>
          </p:cNvPr>
          <p:cNvSpPr txBox="1"/>
          <p:nvPr/>
        </p:nvSpPr>
        <p:spPr>
          <a:xfrm>
            <a:off x="6076146" y="3280507"/>
            <a:ext cx="954107" cy="276999"/>
          </a:xfrm>
          <a:prstGeom prst="rect">
            <a:avLst/>
          </a:prstGeom>
          <a:noFill/>
        </p:spPr>
        <p:txBody>
          <a:bodyPr wrap="none" rtlCol="0">
            <a:spAutoFit/>
          </a:bodyPr>
          <a:lstStyle/>
          <a:p>
            <a:r>
              <a:rPr lang="zh-CN" altLang="en-US" sz="1200" dirty="0"/>
              <a:t>间接索引块</a:t>
            </a:r>
            <a:endParaRPr lang="en-CN" sz="1200" dirty="0"/>
          </a:p>
        </p:txBody>
      </p:sp>
      <p:sp>
        <p:nvSpPr>
          <p:cNvPr id="23" name="Rectangle 22">
            <a:extLst>
              <a:ext uri="{FF2B5EF4-FFF2-40B4-BE49-F238E27FC236}">
                <a16:creationId xmlns:a16="http://schemas.microsoft.com/office/drawing/2014/main" id="{7B57721B-087A-644D-B5EF-719038503526}"/>
              </a:ext>
            </a:extLst>
          </p:cNvPr>
          <p:cNvSpPr/>
          <p:nvPr/>
        </p:nvSpPr>
        <p:spPr>
          <a:xfrm>
            <a:off x="6229140" y="2667591"/>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第</a:t>
            </a:r>
            <a:r>
              <a:rPr lang="en-US" altLang="zh-CN" sz="1100" dirty="0"/>
              <a:t>9</a:t>
            </a:r>
            <a:r>
              <a:rPr lang="zh-CN" altLang="en-US" sz="1100" dirty="0"/>
              <a:t>块</a:t>
            </a:r>
            <a:endParaRPr lang="en-CN" sz="1100" dirty="0"/>
          </a:p>
        </p:txBody>
      </p:sp>
      <p:sp>
        <p:nvSpPr>
          <p:cNvPr id="24" name="Rectangle 23">
            <a:extLst>
              <a:ext uri="{FF2B5EF4-FFF2-40B4-BE49-F238E27FC236}">
                <a16:creationId xmlns:a16="http://schemas.microsoft.com/office/drawing/2014/main" id="{9671EC83-2C19-8143-9D45-1FB99E4A8C25}"/>
              </a:ext>
            </a:extLst>
          </p:cNvPr>
          <p:cNvSpPr/>
          <p:nvPr/>
        </p:nvSpPr>
        <p:spPr>
          <a:xfrm>
            <a:off x="6229140" y="2845162"/>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28</a:t>
            </a:r>
            <a:r>
              <a:rPr lang="zh-CN" altLang="en-US" sz="1100" dirty="0"/>
              <a:t>块</a:t>
            </a:r>
            <a:endParaRPr lang="en-CN" sz="1100" dirty="0"/>
          </a:p>
        </p:txBody>
      </p:sp>
      <p:sp>
        <p:nvSpPr>
          <p:cNvPr id="26" name="Rectangle 25">
            <a:extLst>
              <a:ext uri="{FF2B5EF4-FFF2-40B4-BE49-F238E27FC236}">
                <a16:creationId xmlns:a16="http://schemas.microsoft.com/office/drawing/2014/main" id="{8409BDD2-D641-8D4A-9535-2852481BF1CF}"/>
              </a:ext>
            </a:extLst>
          </p:cNvPr>
          <p:cNvSpPr/>
          <p:nvPr/>
        </p:nvSpPr>
        <p:spPr>
          <a:xfrm>
            <a:off x="6229140" y="3024450"/>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32</a:t>
            </a:r>
            <a:r>
              <a:rPr lang="zh-CN" altLang="en-US" sz="1100" dirty="0"/>
              <a:t>块</a:t>
            </a:r>
            <a:endParaRPr lang="en-CN" sz="1100" dirty="0"/>
          </a:p>
        </p:txBody>
      </p:sp>
      <p:cxnSp>
        <p:nvCxnSpPr>
          <p:cNvPr id="27" name="Curved Connector 26">
            <a:extLst>
              <a:ext uri="{FF2B5EF4-FFF2-40B4-BE49-F238E27FC236}">
                <a16:creationId xmlns:a16="http://schemas.microsoft.com/office/drawing/2014/main" id="{1211CB64-5E1B-AB4D-80FC-988FAF6C4EEB}"/>
              </a:ext>
            </a:extLst>
          </p:cNvPr>
          <p:cNvCxnSpPr>
            <a:cxnSpLocks/>
            <a:stCxn id="23" idx="3"/>
            <a:endCxn id="18" idx="1"/>
          </p:cNvCxnSpPr>
          <p:nvPr/>
        </p:nvCxnSpPr>
        <p:spPr>
          <a:xfrm flipV="1">
            <a:off x="6877260" y="2523526"/>
            <a:ext cx="548982" cy="232850"/>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urved Connector 27">
            <a:extLst>
              <a:ext uri="{FF2B5EF4-FFF2-40B4-BE49-F238E27FC236}">
                <a16:creationId xmlns:a16="http://schemas.microsoft.com/office/drawing/2014/main" id="{41530331-C3D2-BE41-85FD-746B3E4B3263}"/>
              </a:ext>
            </a:extLst>
          </p:cNvPr>
          <p:cNvCxnSpPr>
            <a:cxnSpLocks/>
            <a:stCxn id="24" idx="3"/>
            <a:endCxn id="19" idx="1"/>
          </p:cNvCxnSpPr>
          <p:nvPr/>
        </p:nvCxnSpPr>
        <p:spPr>
          <a:xfrm>
            <a:off x="6877260" y="2933947"/>
            <a:ext cx="548982" cy="198497"/>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urved Connector 28">
            <a:extLst>
              <a:ext uri="{FF2B5EF4-FFF2-40B4-BE49-F238E27FC236}">
                <a16:creationId xmlns:a16="http://schemas.microsoft.com/office/drawing/2014/main" id="{E790281B-FE23-F340-9E7E-AD3053EB76EA}"/>
              </a:ext>
            </a:extLst>
          </p:cNvPr>
          <p:cNvCxnSpPr>
            <a:cxnSpLocks/>
            <a:stCxn id="26" idx="3"/>
            <a:endCxn id="20" idx="1"/>
          </p:cNvCxnSpPr>
          <p:nvPr/>
        </p:nvCxnSpPr>
        <p:spPr>
          <a:xfrm>
            <a:off x="6877260" y="3113236"/>
            <a:ext cx="548982" cy="632041"/>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Content Placeholder 2">
            <a:extLst>
              <a:ext uri="{FF2B5EF4-FFF2-40B4-BE49-F238E27FC236}">
                <a16:creationId xmlns:a16="http://schemas.microsoft.com/office/drawing/2014/main" id="{A1023471-3D10-6541-A554-04865CC9FF50}"/>
              </a:ext>
            </a:extLst>
          </p:cNvPr>
          <p:cNvSpPr>
            <a:spLocks noGrp="1"/>
          </p:cNvSpPr>
          <p:nvPr>
            <p:ph idx="1"/>
          </p:nvPr>
        </p:nvSpPr>
        <p:spPr>
          <a:xfrm>
            <a:off x="457200" y="1333501"/>
            <a:ext cx="8229600" cy="3771636"/>
          </a:xfrm>
        </p:spPr>
        <p:txBody>
          <a:bodyPr/>
          <a:lstStyle/>
          <a:p>
            <a:r>
              <a:rPr lang="zh-CN" altLang="en-US" sz="2000" b="0" dirty="0"/>
              <a:t>文件数据散落在多个数据块内</a:t>
            </a:r>
            <a:endParaRPr lang="en-US" altLang="zh-CN" sz="2000" b="0" dirty="0"/>
          </a:p>
          <a:p>
            <a:r>
              <a:rPr lang="zh-CN" altLang="en-US" sz="2000" b="0" dirty="0"/>
              <a:t>使用日志：数据需要写两遍</a:t>
            </a:r>
            <a:endParaRPr lang="en-US" altLang="zh-CN" sz="2000" b="0" dirty="0"/>
          </a:p>
          <a:p>
            <a:r>
              <a:rPr lang="zh-CN" altLang="en-US" sz="2000" b="0" dirty="0"/>
              <a:t>写时复制保证多个数据块原子更新</a:t>
            </a:r>
            <a:endParaRPr lang="en-US" altLang="zh-CN" sz="2000" b="0" dirty="0"/>
          </a:p>
          <a:p>
            <a:pPr lvl="1"/>
            <a:r>
              <a:rPr lang="zh-CN" altLang="en-US" sz="1600" dirty="0"/>
              <a:t>将要修改的数据块进行复制（分配新的块）</a:t>
            </a:r>
            <a:endParaRPr lang="en-US" altLang="zh-CN" sz="1600" b="0" dirty="0"/>
          </a:p>
          <a:p>
            <a:pPr lvl="1"/>
            <a:r>
              <a:rPr lang="zh-CN" altLang="en-US" sz="1600" b="0" dirty="0"/>
              <a:t>在新的数据块上修改数据</a:t>
            </a:r>
            <a:endParaRPr lang="en-US" altLang="zh-CN" sz="1600" b="0" dirty="0"/>
          </a:p>
          <a:p>
            <a:endParaRPr lang="en-CN" dirty="0"/>
          </a:p>
        </p:txBody>
      </p:sp>
      <p:sp>
        <p:nvSpPr>
          <p:cNvPr id="34" name="Rectangle 33">
            <a:extLst>
              <a:ext uri="{FF2B5EF4-FFF2-40B4-BE49-F238E27FC236}">
                <a16:creationId xmlns:a16="http://schemas.microsoft.com/office/drawing/2014/main" id="{282CD7BB-7B31-B942-A7AC-049F12913B94}"/>
              </a:ext>
            </a:extLst>
          </p:cNvPr>
          <p:cNvSpPr/>
          <p:nvPr/>
        </p:nvSpPr>
        <p:spPr>
          <a:xfrm>
            <a:off x="6229140" y="2263312"/>
            <a:ext cx="648120" cy="250941"/>
          </a:xfrm>
          <a:prstGeom prst="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5" name="Rectangle 34">
            <a:extLst>
              <a:ext uri="{FF2B5EF4-FFF2-40B4-BE49-F238E27FC236}">
                <a16:creationId xmlns:a16="http://schemas.microsoft.com/office/drawing/2014/main" id="{9C42BC9F-E995-D54F-BA5A-8F7F10232DEF}"/>
              </a:ext>
            </a:extLst>
          </p:cNvPr>
          <p:cNvSpPr/>
          <p:nvPr/>
        </p:nvSpPr>
        <p:spPr>
          <a:xfrm>
            <a:off x="7426242" y="2272927"/>
            <a:ext cx="648120" cy="512957"/>
          </a:xfrm>
          <a:prstGeom prst="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6" name="Rectangle 35">
            <a:extLst>
              <a:ext uri="{FF2B5EF4-FFF2-40B4-BE49-F238E27FC236}">
                <a16:creationId xmlns:a16="http://schemas.microsoft.com/office/drawing/2014/main" id="{CB69E52B-5169-B541-96BD-47D917282E26}"/>
              </a:ext>
            </a:extLst>
          </p:cNvPr>
          <p:cNvSpPr/>
          <p:nvPr/>
        </p:nvSpPr>
        <p:spPr>
          <a:xfrm>
            <a:off x="7426242" y="2877507"/>
            <a:ext cx="648120" cy="250941"/>
          </a:xfrm>
          <a:prstGeom prst="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51" name="Rectangle 50">
            <a:extLst>
              <a:ext uri="{FF2B5EF4-FFF2-40B4-BE49-F238E27FC236}">
                <a16:creationId xmlns:a16="http://schemas.microsoft.com/office/drawing/2014/main" id="{2A3407F0-CC20-7F40-A758-F5C099FF25D8}"/>
              </a:ext>
            </a:extLst>
          </p:cNvPr>
          <p:cNvSpPr/>
          <p:nvPr/>
        </p:nvSpPr>
        <p:spPr>
          <a:xfrm>
            <a:off x="7426242" y="4853257"/>
            <a:ext cx="648120" cy="501881"/>
          </a:xfrm>
          <a:prstGeom prst="rect">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ltLang="zh-CN" sz="1100" dirty="0"/>
          </a:p>
          <a:p>
            <a:pPr algn="ctr"/>
            <a:r>
              <a:rPr lang="zh-CN" altLang="en-US" sz="1100" dirty="0"/>
              <a:t>旧</a:t>
            </a:r>
            <a:r>
              <a:rPr lang="zh-CN" altLang="en-CN" sz="1100" dirty="0"/>
              <a:t>数据</a:t>
            </a:r>
            <a:endParaRPr lang="en-CN" sz="1100" dirty="0"/>
          </a:p>
        </p:txBody>
      </p:sp>
      <p:sp>
        <p:nvSpPr>
          <p:cNvPr id="52" name="Rectangle 51">
            <a:extLst>
              <a:ext uri="{FF2B5EF4-FFF2-40B4-BE49-F238E27FC236}">
                <a16:creationId xmlns:a16="http://schemas.microsoft.com/office/drawing/2014/main" id="{EC8949C4-81FD-524C-932A-192B95E5B412}"/>
              </a:ext>
            </a:extLst>
          </p:cNvPr>
          <p:cNvSpPr/>
          <p:nvPr/>
        </p:nvSpPr>
        <p:spPr>
          <a:xfrm>
            <a:off x="7426242" y="4211873"/>
            <a:ext cx="648120" cy="512957"/>
          </a:xfrm>
          <a:prstGeom prst="rect">
            <a:avLst/>
          </a:prstGeom>
          <a:solidFill>
            <a:schemeClr val="accent1">
              <a:alpha val="32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100" dirty="0">
                <a:solidFill>
                  <a:srgbClr val="C00000"/>
                </a:solidFill>
              </a:rPr>
              <a:t>新数据</a:t>
            </a:r>
            <a:endParaRPr lang="en-CN" sz="1100" dirty="0">
              <a:solidFill>
                <a:srgbClr val="C00000"/>
              </a:solidFill>
            </a:endParaRPr>
          </a:p>
        </p:txBody>
      </p:sp>
      <p:sp>
        <p:nvSpPr>
          <p:cNvPr id="53" name="Rectangle 52">
            <a:extLst>
              <a:ext uri="{FF2B5EF4-FFF2-40B4-BE49-F238E27FC236}">
                <a16:creationId xmlns:a16="http://schemas.microsoft.com/office/drawing/2014/main" id="{730D9857-E395-C342-8BEB-163F5C114441}"/>
              </a:ext>
            </a:extLst>
          </p:cNvPr>
          <p:cNvSpPr/>
          <p:nvPr/>
        </p:nvSpPr>
        <p:spPr>
          <a:xfrm>
            <a:off x="7426242" y="4849260"/>
            <a:ext cx="648120" cy="250941"/>
          </a:xfrm>
          <a:prstGeom prst="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100" dirty="0">
                <a:solidFill>
                  <a:srgbClr val="C00000"/>
                </a:solidFill>
              </a:rPr>
              <a:t>新数据</a:t>
            </a:r>
            <a:endParaRPr lang="en-CN" sz="1100" dirty="0">
              <a:solidFill>
                <a:srgbClr val="C00000"/>
              </a:solidFill>
            </a:endParaRPr>
          </a:p>
        </p:txBody>
      </p:sp>
      <p:sp>
        <p:nvSpPr>
          <p:cNvPr id="54" name="Rectangle 53">
            <a:extLst>
              <a:ext uri="{FF2B5EF4-FFF2-40B4-BE49-F238E27FC236}">
                <a16:creationId xmlns:a16="http://schemas.microsoft.com/office/drawing/2014/main" id="{C76D7ADA-9981-ED46-95D1-D4EC57848164}"/>
              </a:ext>
            </a:extLst>
          </p:cNvPr>
          <p:cNvSpPr/>
          <p:nvPr/>
        </p:nvSpPr>
        <p:spPr>
          <a:xfrm>
            <a:off x="7105412" y="1707547"/>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旧数据</a:t>
            </a:r>
            <a:br>
              <a:rPr lang="en-US" altLang="zh-CN" sz="1100" dirty="0"/>
            </a:br>
            <a:r>
              <a:rPr lang="zh-CN" altLang="en-US" sz="1100" dirty="0"/>
              <a:t> </a:t>
            </a:r>
            <a:endParaRPr lang="en-CN" sz="1100" dirty="0"/>
          </a:p>
        </p:txBody>
      </p:sp>
      <p:sp>
        <p:nvSpPr>
          <p:cNvPr id="55" name="Rectangle 54">
            <a:extLst>
              <a:ext uri="{FF2B5EF4-FFF2-40B4-BE49-F238E27FC236}">
                <a16:creationId xmlns:a16="http://schemas.microsoft.com/office/drawing/2014/main" id="{E7C72BC8-806D-5245-8507-56DE1C84E700}"/>
              </a:ext>
            </a:extLst>
          </p:cNvPr>
          <p:cNvSpPr/>
          <p:nvPr/>
        </p:nvSpPr>
        <p:spPr>
          <a:xfrm>
            <a:off x="7105412" y="1958487"/>
            <a:ext cx="648120" cy="250941"/>
          </a:xfrm>
          <a:prstGeom prst="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100" dirty="0">
                <a:solidFill>
                  <a:srgbClr val="C00000"/>
                </a:solidFill>
              </a:rPr>
              <a:t>新数据</a:t>
            </a:r>
            <a:endParaRPr lang="en-CN" sz="1100" dirty="0">
              <a:solidFill>
                <a:srgbClr val="C00000"/>
              </a:solidFill>
            </a:endParaRPr>
          </a:p>
        </p:txBody>
      </p:sp>
    </p:spTree>
    <p:extLst>
      <p:ext uri="{BB962C8B-B14F-4D97-AF65-F5344CB8AC3E}">
        <p14:creationId xmlns:p14="http://schemas.microsoft.com/office/powerpoint/2010/main" val="8791145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054E4-E7A4-904C-B002-86D528827D55}"/>
              </a:ext>
            </a:extLst>
          </p:cNvPr>
          <p:cNvSpPr>
            <a:spLocks noGrp="1"/>
          </p:cNvSpPr>
          <p:nvPr>
            <p:ph type="title"/>
          </p:nvPr>
        </p:nvSpPr>
        <p:spPr/>
        <p:txBody>
          <a:bodyPr/>
          <a:lstStyle/>
          <a:p>
            <a:r>
              <a:rPr lang="zh-CN" altLang="en-US" dirty="0"/>
              <a:t>文件中的写时复制</a:t>
            </a:r>
            <a:endParaRPr lang="en-CN" dirty="0"/>
          </a:p>
        </p:txBody>
      </p:sp>
      <p:sp>
        <p:nvSpPr>
          <p:cNvPr id="4" name="Slide Number Placeholder 3">
            <a:extLst>
              <a:ext uri="{FF2B5EF4-FFF2-40B4-BE49-F238E27FC236}">
                <a16:creationId xmlns:a16="http://schemas.microsoft.com/office/drawing/2014/main" id="{071EE6C2-0229-4149-9783-351571E23A23}"/>
              </a:ext>
            </a:extLst>
          </p:cNvPr>
          <p:cNvSpPr>
            <a:spLocks noGrp="1"/>
          </p:cNvSpPr>
          <p:nvPr>
            <p:ph type="sldNum" sz="quarter" idx="12"/>
          </p:nvPr>
        </p:nvSpPr>
        <p:spPr/>
        <p:txBody>
          <a:bodyPr/>
          <a:lstStyle/>
          <a:p>
            <a:fld id="{ADE361C3-C043-4A6E-BDCE-8DA1E7D90A3B}" type="slidenum">
              <a:rPr lang="zh-CN" altLang="en-US" smtClean="0"/>
              <a:t>45</a:t>
            </a:fld>
            <a:endParaRPr lang="zh-CN" altLang="en-US"/>
          </a:p>
        </p:txBody>
      </p:sp>
      <p:sp>
        <p:nvSpPr>
          <p:cNvPr id="5" name="Footer Placeholder 4">
            <a:extLst>
              <a:ext uri="{FF2B5EF4-FFF2-40B4-BE49-F238E27FC236}">
                <a16:creationId xmlns:a16="http://schemas.microsoft.com/office/drawing/2014/main" id="{FCF97BEF-A225-3244-9CFA-67E6C470D5DF}"/>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Rectangle 5">
            <a:extLst>
              <a:ext uri="{FF2B5EF4-FFF2-40B4-BE49-F238E27FC236}">
                <a16:creationId xmlns:a16="http://schemas.microsoft.com/office/drawing/2014/main" id="{9EE2CBF6-E6BC-6141-B00F-8DED24049A09}"/>
              </a:ext>
            </a:extLst>
          </p:cNvPr>
          <p:cNvSpPr/>
          <p:nvPr/>
        </p:nvSpPr>
        <p:spPr>
          <a:xfrm>
            <a:off x="4979195" y="494285"/>
            <a:ext cx="648120" cy="7020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常用</a:t>
            </a:r>
            <a:r>
              <a:rPr lang="zh-CN" altLang="en-US" sz="1100" dirty="0"/>
              <a:t>元数据</a:t>
            </a:r>
            <a:endParaRPr lang="en-CN" sz="1100" dirty="0"/>
          </a:p>
        </p:txBody>
      </p:sp>
      <p:sp>
        <p:nvSpPr>
          <p:cNvPr id="7" name="Rectangle 6">
            <a:extLst>
              <a:ext uri="{FF2B5EF4-FFF2-40B4-BE49-F238E27FC236}">
                <a16:creationId xmlns:a16="http://schemas.microsoft.com/office/drawing/2014/main" id="{5C3C2BBB-4392-F541-9FDA-AC9EE4F39AD2}"/>
              </a:ext>
            </a:extLst>
          </p:cNvPr>
          <p:cNvSpPr/>
          <p:nvPr/>
        </p:nvSpPr>
        <p:spPr>
          <a:xfrm>
            <a:off x="4979195" y="1196305"/>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第</a:t>
            </a:r>
            <a:r>
              <a:rPr lang="en-US" altLang="zh-CN" sz="1100" dirty="0"/>
              <a:t>7</a:t>
            </a:r>
            <a:r>
              <a:rPr lang="zh-CN" altLang="en-US" sz="1100" dirty="0"/>
              <a:t>块</a:t>
            </a:r>
            <a:endParaRPr lang="en-CN" sz="1100" dirty="0"/>
          </a:p>
        </p:txBody>
      </p:sp>
      <p:sp>
        <p:nvSpPr>
          <p:cNvPr id="8" name="Rectangle 7">
            <a:extLst>
              <a:ext uri="{FF2B5EF4-FFF2-40B4-BE49-F238E27FC236}">
                <a16:creationId xmlns:a16="http://schemas.microsoft.com/office/drawing/2014/main" id="{3CD74C78-A76E-7243-AFDE-C942653C0D3E}"/>
              </a:ext>
            </a:extLst>
          </p:cNvPr>
          <p:cNvSpPr/>
          <p:nvPr/>
        </p:nvSpPr>
        <p:spPr>
          <a:xfrm>
            <a:off x="4979195" y="1373876"/>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8</a:t>
            </a:r>
            <a:r>
              <a:rPr lang="zh-CN" altLang="en-US" sz="1100" dirty="0"/>
              <a:t>块</a:t>
            </a:r>
            <a:endParaRPr lang="en-CN" sz="1100" dirty="0"/>
          </a:p>
        </p:txBody>
      </p:sp>
      <p:sp>
        <p:nvSpPr>
          <p:cNvPr id="9" name="Rectangle 8">
            <a:extLst>
              <a:ext uri="{FF2B5EF4-FFF2-40B4-BE49-F238E27FC236}">
                <a16:creationId xmlns:a16="http://schemas.microsoft.com/office/drawing/2014/main" id="{81782BBF-E469-DE43-92D3-FACAF99B4DBF}"/>
              </a:ext>
            </a:extLst>
          </p:cNvPr>
          <p:cNvSpPr/>
          <p:nvPr/>
        </p:nvSpPr>
        <p:spPr>
          <a:xfrm>
            <a:off x="4979195" y="1551447"/>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12</a:t>
            </a:r>
            <a:r>
              <a:rPr lang="zh-CN" altLang="en-US" sz="1100" dirty="0"/>
              <a:t>块</a:t>
            </a:r>
            <a:endParaRPr lang="en-CN" sz="1100" dirty="0"/>
          </a:p>
        </p:txBody>
      </p:sp>
      <p:sp>
        <p:nvSpPr>
          <p:cNvPr id="10" name="Rectangle 9">
            <a:extLst>
              <a:ext uri="{FF2B5EF4-FFF2-40B4-BE49-F238E27FC236}">
                <a16:creationId xmlns:a16="http://schemas.microsoft.com/office/drawing/2014/main" id="{1FF9E79E-2937-2C42-86EE-7D279F7DE257}"/>
              </a:ext>
            </a:extLst>
          </p:cNvPr>
          <p:cNvSpPr/>
          <p:nvPr/>
        </p:nvSpPr>
        <p:spPr>
          <a:xfrm>
            <a:off x="4979195" y="1730215"/>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13</a:t>
            </a:r>
            <a:r>
              <a:rPr lang="zh-CN" altLang="en-US" sz="1100" dirty="0"/>
              <a:t>块</a:t>
            </a:r>
            <a:endParaRPr lang="en-CN" sz="1100" dirty="0"/>
          </a:p>
        </p:txBody>
      </p:sp>
      <p:sp>
        <p:nvSpPr>
          <p:cNvPr id="11" name="Rectangle 10">
            <a:extLst>
              <a:ext uri="{FF2B5EF4-FFF2-40B4-BE49-F238E27FC236}">
                <a16:creationId xmlns:a16="http://schemas.microsoft.com/office/drawing/2014/main" id="{DCAF1580-EEC6-9F40-9840-0A0E2DFFA55C}"/>
              </a:ext>
            </a:extLst>
          </p:cNvPr>
          <p:cNvSpPr/>
          <p:nvPr/>
        </p:nvSpPr>
        <p:spPr>
          <a:xfrm>
            <a:off x="6229140" y="680362"/>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12" name="Rectangle 11">
            <a:extLst>
              <a:ext uri="{FF2B5EF4-FFF2-40B4-BE49-F238E27FC236}">
                <a16:creationId xmlns:a16="http://schemas.microsoft.com/office/drawing/2014/main" id="{FBD79DF4-3E3D-2743-B6AF-1C2FEA3A8C4B}"/>
              </a:ext>
            </a:extLst>
          </p:cNvPr>
          <p:cNvSpPr/>
          <p:nvPr/>
        </p:nvSpPr>
        <p:spPr>
          <a:xfrm>
            <a:off x="6229140" y="1363481"/>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13" name="Rectangle 12">
            <a:extLst>
              <a:ext uri="{FF2B5EF4-FFF2-40B4-BE49-F238E27FC236}">
                <a16:creationId xmlns:a16="http://schemas.microsoft.com/office/drawing/2014/main" id="{C44D5F94-6ABD-484D-9E93-86D3D14D22B3}"/>
              </a:ext>
            </a:extLst>
          </p:cNvPr>
          <p:cNvSpPr/>
          <p:nvPr/>
        </p:nvSpPr>
        <p:spPr>
          <a:xfrm>
            <a:off x="6229140" y="2012372"/>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cxnSp>
        <p:nvCxnSpPr>
          <p:cNvPr id="14" name="Curved Connector 13">
            <a:extLst>
              <a:ext uri="{FF2B5EF4-FFF2-40B4-BE49-F238E27FC236}">
                <a16:creationId xmlns:a16="http://schemas.microsoft.com/office/drawing/2014/main" id="{A00023A1-220D-864B-852B-91BDEA43416D}"/>
              </a:ext>
            </a:extLst>
          </p:cNvPr>
          <p:cNvCxnSpPr>
            <a:stCxn id="7" idx="3"/>
            <a:endCxn id="11" idx="1"/>
          </p:cNvCxnSpPr>
          <p:nvPr/>
        </p:nvCxnSpPr>
        <p:spPr>
          <a:xfrm flipV="1">
            <a:off x="5627315" y="931302"/>
            <a:ext cx="601826" cy="353789"/>
          </a:xfrm>
          <a:prstGeom prst="curved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urved Connector 14">
            <a:extLst>
              <a:ext uri="{FF2B5EF4-FFF2-40B4-BE49-F238E27FC236}">
                <a16:creationId xmlns:a16="http://schemas.microsoft.com/office/drawing/2014/main" id="{6696525D-557F-AA40-8EF2-8E68BD5775FF}"/>
              </a:ext>
            </a:extLst>
          </p:cNvPr>
          <p:cNvCxnSpPr>
            <a:cxnSpLocks/>
            <a:stCxn id="8" idx="3"/>
            <a:endCxn id="12" idx="1"/>
          </p:cNvCxnSpPr>
          <p:nvPr/>
        </p:nvCxnSpPr>
        <p:spPr>
          <a:xfrm>
            <a:off x="5627315" y="1462662"/>
            <a:ext cx="601826" cy="151760"/>
          </a:xfrm>
          <a:prstGeom prst="curved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urved Connector 15">
            <a:extLst>
              <a:ext uri="{FF2B5EF4-FFF2-40B4-BE49-F238E27FC236}">
                <a16:creationId xmlns:a16="http://schemas.microsoft.com/office/drawing/2014/main" id="{3D7B721C-A3E0-F148-82CC-884BD27CE524}"/>
              </a:ext>
            </a:extLst>
          </p:cNvPr>
          <p:cNvCxnSpPr>
            <a:cxnSpLocks/>
            <a:stCxn id="9" idx="3"/>
            <a:endCxn id="13" idx="1"/>
          </p:cNvCxnSpPr>
          <p:nvPr/>
        </p:nvCxnSpPr>
        <p:spPr>
          <a:xfrm>
            <a:off x="5627315" y="1640233"/>
            <a:ext cx="601826" cy="623080"/>
          </a:xfrm>
          <a:prstGeom prst="curved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urved Connector 16">
            <a:extLst>
              <a:ext uri="{FF2B5EF4-FFF2-40B4-BE49-F238E27FC236}">
                <a16:creationId xmlns:a16="http://schemas.microsoft.com/office/drawing/2014/main" id="{ACE84BB3-29F5-254E-8F36-1B6564EFABD7}"/>
              </a:ext>
            </a:extLst>
          </p:cNvPr>
          <p:cNvCxnSpPr>
            <a:cxnSpLocks/>
            <a:stCxn id="10" idx="3"/>
            <a:endCxn id="23" idx="1"/>
          </p:cNvCxnSpPr>
          <p:nvPr/>
        </p:nvCxnSpPr>
        <p:spPr>
          <a:xfrm>
            <a:off x="5627315" y="1819001"/>
            <a:ext cx="601825" cy="937376"/>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974E9424-785D-6B48-B94A-33E3F9CA2610}"/>
              </a:ext>
            </a:extLst>
          </p:cNvPr>
          <p:cNvSpPr/>
          <p:nvPr/>
        </p:nvSpPr>
        <p:spPr>
          <a:xfrm>
            <a:off x="7426242" y="2272586"/>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19" name="Rectangle 18">
            <a:extLst>
              <a:ext uri="{FF2B5EF4-FFF2-40B4-BE49-F238E27FC236}">
                <a16:creationId xmlns:a16="http://schemas.microsoft.com/office/drawing/2014/main" id="{39AE8486-011C-CC41-BD3E-D09EFC197589}"/>
              </a:ext>
            </a:extLst>
          </p:cNvPr>
          <p:cNvSpPr/>
          <p:nvPr/>
        </p:nvSpPr>
        <p:spPr>
          <a:xfrm>
            <a:off x="7426242" y="2881504"/>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20" name="Rectangle 19">
            <a:extLst>
              <a:ext uri="{FF2B5EF4-FFF2-40B4-BE49-F238E27FC236}">
                <a16:creationId xmlns:a16="http://schemas.microsoft.com/office/drawing/2014/main" id="{331750E5-B429-0146-B481-5A095F896EB7}"/>
              </a:ext>
            </a:extLst>
          </p:cNvPr>
          <p:cNvSpPr/>
          <p:nvPr/>
        </p:nvSpPr>
        <p:spPr>
          <a:xfrm>
            <a:off x="7426242" y="3494336"/>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22" name="TextBox 21">
            <a:extLst>
              <a:ext uri="{FF2B5EF4-FFF2-40B4-BE49-F238E27FC236}">
                <a16:creationId xmlns:a16="http://schemas.microsoft.com/office/drawing/2014/main" id="{BC3AC2BE-8313-BE41-8D6B-3E76EF6EA2D6}"/>
              </a:ext>
            </a:extLst>
          </p:cNvPr>
          <p:cNvSpPr txBox="1"/>
          <p:nvPr/>
        </p:nvSpPr>
        <p:spPr>
          <a:xfrm>
            <a:off x="6076146" y="3280507"/>
            <a:ext cx="954107" cy="276999"/>
          </a:xfrm>
          <a:prstGeom prst="rect">
            <a:avLst/>
          </a:prstGeom>
          <a:noFill/>
        </p:spPr>
        <p:txBody>
          <a:bodyPr wrap="none" rtlCol="0">
            <a:spAutoFit/>
          </a:bodyPr>
          <a:lstStyle/>
          <a:p>
            <a:r>
              <a:rPr lang="zh-CN" altLang="en-US" sz="1200" dirty="0"/>
              <a:t>间接索引块</a:t>
            </a:r>
            <a:endParaRPr lang="en-CN" sz="1200" dirty="0"/>
          </a:p>
        </p:txBody>
      </p:sp>
      <p:sp>
        <p:nvSpPr>
          <p:cNvPr id="23" name="Rectangle 22">
            <a:extLst>
              <a:ext uri="{FF2B5EF4-FFF2-40B4-BE49-F238E27FC236}">
                <a16:creationId xmlns:a16="http://schemas.microsoft.com/office/drawing/2014/main" id="{7B57721B-087A-644D-B5EF-719038503526}"/>
              </a:ext>
            </a:extLst>
          </p:cNvPr>
          <p:cNvSpPr/>
          <p:nvPr/>
        </p:nvSpPr>
        <p:spPr>
          <a:xfrm>
            <a:off x="6229140" y="2667591"/>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第</a:t>
            </a:r>
            <a:r>
              <a:rPr lang="en-US" altLang="zh-CN" sz="1100" dirty="0"/>
              <a:t>9</a:t>
            </a:r>
            <a:r>
              <a:rPr lang="zh-CN" altLang="en-US" sz="1100" dirty="0"/>
              <a:t>块</a:t>
            </a:r>
            <a:endParaRPr lang="en-CN" sz="1100" dirty="0"/>
          </a:p>
        </p:txBody>
      </p:sp>
      <p:sp>
        <p:nvSpPr>
          <p:cNvPr id="24" name="Rectangle 23">
            <a:extLst>
              <a:ext uri="{FF2B5EF4-FFF2-40B4-BE49-F238E27FC236}">
                <a16:creationId xmlns:a16="http://schemas.microsoft.com/office/drawing/2014/main" id="{9671EC83-2C19-8143-9D45-1FB99E4A8C25}"/>
              </a:ext>
            </a:extLst>
          </p:cNvPr>
          <p:cNvSpPr/>
          <p:nvPr/>
        </p:nvSpPr>
        <p:spPr>
          <a:xfrm>
            <a:off x="6229140" y="2845162"/>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28</a:t>
            </a:r>
            <a:r>
              <a:rPr lang="zh-CN" altLang="en-US" sz="1100" dirty="0"/>
              <a:t>块</a:t>
            </a:r>
            <a:endParaRPr lang="en-CN" sz="1100" dirty="0"/>
          </a:p>
        </p:txBody>
      </p:sp>
      <p:sp>
        <p:nvSpPr>
          <p:cNvPr id="26" name="Rectangle 25">
            <a:extLst>
              <a:ext uri="{FF2B5EF4-FFF2-40B4-BE49-F238E27FC236}">
                <a16:creationId xmlns:a16="http://schemas.microsoft.com/office/drawing/2014/main" id="{8409BDD2-D641-8D4A-9535-2852481BF1CF}"/>
              </a:ext>
            </a:extLst>
          </p:cNvPr>
          <p:cNvSpPr/>
          <p:nvPr/>
        </p:nvSpPr>
        <p:spPr>
          <a:xfrm>
            <a:off x="6229140" y="3024450"/>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32</a:t>
            </a:r>
            <a:r>
              <a:rPr lang="zh-CN" altLang="en-US" sz="1100" dirty="0"/>
              <a:t>块</a:t>
            </a:r>
            <a:endParaRPr lang="en-CN" sz="1100" dirty="0"/>
          </a:p>
        </p:txBody>
      </p:sp>
      <p:cxnSp>
        <p:nvCxnSpPr>
          <p:cNvPr id="27" name="Curved Connector 26">
            <a:extLst>
              <a:ext uri="{FF2B5EF4-FFF2-40B4-BE49-F238E27FC236}">
                <a16:creationId xmlns:a16="http://schemas.microsoft.com/office/drawing/2014/main" id="{1211CB64-5E1B-AB4D-80FC-988FAF6C4EEB}"/>
              </a:ext>
            </a:extLst>
          </p:cNvPr>
          <p:cNvCxnSpPr>
            <a:cxnSpLocks/>
            <a:stCxn id="23" idx="3"/>
            <a:endCxn id="18" idx="1"/>
          </p:cNvCxnSpPr>
          <p:nvPr/>
        </p:nvCxnSpPr>
        <p:spPr>
          <a:xfrm flipV="1">
            <a:off x="6877260" y="2523526"/>
            <a:ext cx="548982" cy="232850"/>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urved Connector 27">
            <a:extLst>
              <a:ext uri="{FF2B5EF4-FFF2-40B4-BE49-F238E27FC236}">
                <a16:creationId xmlns:a16="http://schemas.microsoft.com/office/drawing/2014/main" id="{41530331-C3D2-BE41-85FD-746B3E4B3263}"/>
              </a:ext>
            </a:extLst>
          </p:cNvPr>
          <p:cNvCxnSpPr>
            <a:cxnSpLocks/>
            <a:stCxn id="24" idx="3"/>
            <a:endCxn id="19" idx="1"/>
          </p:cNvCxnSpPr>
          <p:nvPr/>
        </p:nvCxnSpPr>
        <p:spPr>
          <a:xfrm>
            <a:off x="6877260" y="2933947"/>
            <a:ext cx="548982" cy="198497"/>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urved Connector 28">
            <a:extLst>
              <a:ext uri="{FF2B5EF4-FFF2-40B4-BE49-F238E27FC236}">
                <a16:creationId xmlns:a16="http://schemas.microsoft.com/office/drawing/2014/main" id="{E790281B-FE23-F340-9E7E-AD3053EB76EA}"/>
              </a:ext>
            </a:extLst>
          </p:cNvPr>
          <p:cNvCxnSpPr>
            <a:cxnSpLocks/>
            <a:stCxn id="26" idx="3"/>
            <a:endCxn id="20" idx="1"/>
          </p:cNvCxnSpPr>
          <p:nvPr/>
        </p:nvCxnSpPr>
        <p:spPr>
          <a:xfrm>
            <a:off x="6877260" y="3113236"/>
            <a:ext cx="548982" cy="632041"/>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Content Placeholder 2">
            <a:extLst>
              <a:ext uri="{FF2B5EF4-FFF2-40B4-BE49-F238E27FC236}">
                <a16:creationId xmlns:a16="http://schemas.microsoft.com/office/drawing/2014/main" id="{A1023471-3D10-6541-A554-04865CC9FF50}"/>
              </a:ext>
            </a:extLst>
          </p:cNvPr>
          <p:cNvSpPr>
            <a:spLocks noGrp="1"/>
          </p:cNvSpPr>
          <p:nvPr>
            <p:ph idx="1"/>
          </p:nvPr>
        </p:nvSpPr>
        <p:spPr>
          <a:xfrm>
            <a:off x="457200" y="1333501"/>
            <a:ext cx="8229600" cy="3771636"/>
          </a:xfrm>
        </p:spPr>
        <p:txBody>
          <a:bodyPr/>
          <a:lstStyle/>
          <a:p>
            <a:r>
              <a:rPr lang="zh-CN" altLang="en-US" sz="2000" b="0" dirty="0"/>
              <a:t>文件数据散落在多个数据块内</a:t>
            </a:r>
            <a:endParaRPr lang="en-US" altLang="zh-CN" sz="2000" b="0" dirty="0"/>
          </a:p>
          <a:p>
            <a:r>
              <a:rPr lang="zh-CN" altLang="en-US" sz="2000" b="0" dirty="0"/>
              <a:t>使用日志：数据需要写两遍</a:t>
            </a:r>
            <a:endParaRPr lang="en-US" altLang="zh-CN" sz="2000" b="0" dirty="0"/>
          </a:p>
          <a:p>
            <a:r>
              <a:rPr lang="zh-CN" altLang="en-US" sz="2000" b="0" dirty="0"/>
              <a:t>写时复制保证多个数据块原子更新</a:t>
            </a:r>
            <a:endParaRPr lang="en-US" altLang="zh-CN" sz="2000" b="0" dirty="0"/>
          </a:p>
          <a:p>
            <a:pPr lvl="1"/>
            <a:r>
              <a:rPr lang="zh-CN" altLang="en-US" sz="1600" dirty="0"/>
              <a:t>将要修改的数据块进行复制（分配新的块）</a:t>
            </a:r>
            <a:endParaRPr lang="en-US" altLang="zh-CN" sz="1600" b="0" dirty="0"/>
          </a:p>
          <a:p>
            <a:pPr lvl="1"/>
            <a:r>
              <a:rPr lang="zh-CN" altLang="en-US" sz="1600" b="0" dirty="0"/>
              <a:t>在新的数据块上修改数据</a:t>
            </a:r>
            <a:endParaRPr lang="en-US" altLang="zh-CN" sz="1600" b="0" dirty="0"/>
          </a:p>
          <a:p>
            <a:pPr lvl="1"/>
            <a:r>
              <a:rPr lang="zh-CN" altLang="en-US" sz="1600" dirty="0"/>
              <a:t>向上递归复制和修改，直到所有修改能原子完成</a:t>
            </a:r>
            <a:endParaRPr lang="en-US" altLang="zh-CN" sz="1600" b="0" dirty="0"/>
          </a:p>
          <a:p>
            <a:endParaRPr lang="en-CN" dirty="0"/>
          </a:p>
        </p:txBody>
      </p:sp>
      <p:sp>
        <p:nvSpPr>
          <p:cNvPr id="34" name="Rectangle 33">
            <a:extLst>
              <a:ext uri="{FF2B5EF4-FFF2-40B4-BE49-F238E27FC236}">
                <a16:creationId xmlns:a16="http://schemas.microsoft.com/office/drawing/2014/main" id="{282CD7BB-7B31-B942-A7AC-049F12913B94}"/>
              </a:ext>
            </a:extLst>
          </p:cNvPr>
          <p:cNvSpPr/>
          <p:nvPr/>
        </p:nvSpPr>
        <p:spPr>
          <a:xfrm>
            <a:off x="6229140" y="2263312"/>
            <a:ext cx="648120" cy="250941"/>
          </a:xfrm>
          <a:prstGeom prst="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5" name="Rectangle 34">
            <a:extLst>
              <a:ext uri="{FF2B5EF4-FFF2-40B4-BE49-F238E27FC236}">
                <a16:creationId xmlns:a16="http://schemas.microsoft.com/office/drawing/2014/main" id="{9C42BC9F-E995-D54F-BA5A-8F7F10232DEF}"/>
              </a:ext>
            </a:extLst>
          </p:cNvPr>
          <p:cNvSpPr/>
          <p:nvPr/>
        </p:nvSpPr>
        <p:spPr>
          <a:xfrm>
            <a:off x="7426242" y="2272927"/>
            <a:ext cx="648120" cy="512957"/>
          </a:xfrm>
          <a:prstGeom prst="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6" name="Rectangle 35">
            <a:extLst>
              <a:ext uri="{FF2B5EF4-FFF2-40B4-BE49-F238E27FC236}">
                <a16:creationId xmlns:a16="http://schemas.microsoft.com/office/drawing/2014/main" id="{CB69E52B-5169-B541-96BD-47D917282E26}"/>
              </a:ext>
            </a:extLst>
          </p:cNvPr>
          <p:cNvSpPr/>
          <p:nvPr/>
        </p:nvSpPr>
        <p:spPr>
          <a:xfrm>
            <a:off x="7426242" y="2877507"/>
            <a:ext cx="648120" cy="250941"/>
          </a:xfrm>
          <a:prstGeom prst="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45" name="Rectangle 44">
            <a:extLst>
              <a:ext uri="{FF2B5EF4-FFF2-40B4-BE49-F238E27FC236}">
                <a16:creationId xmlns:a16="http://schemas.microsoft.com/office/drawing/2014/main" id="{484C37ED-0B4A-1C44-A3E0-8A5CC07A1452}"/>
              </a:ext>
            </a:extLst>
          </p:cNvPr>
          <p:cNvSpPr/>
          <p:nvPr/>
        </p:nvSpPr>
        <p:spPr>
          <a:xfrm>
            <a:off x="6229140" y="3724777"/>
            <a:ext cx="648120" cy="177571"/>
          </a:xfrm>
          <a:prstGeom prst="rect">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第</a:t>
            </a:r>
            <a:r>
              <a:rPr lang="en-US" altLang="zh-CN" sz="1100" dirty="0"/>
              <a:t>34</a:t>
            </a:r>
            <a:r>
              <a:rPr lang="zh-CN" altLang="en-US" sz="1100" dirty="0"/>
              <a:t>块</a:t>
            </a:r>
            <a:endParaRPr lang="en-CN" sz="1100" dirty="0"/>
          </a:p>
        </p:txBody>
      </p:sp>
      <p:sp>
        <p:nvSpPr>
          <p:cNvPr id="46" name="Rectangle 45">
            <a:extLst>
              <a:ext uri="{FF2B5EF4-FFF2-40B4-BE49-F238E27FC236}">
                <a16:creationId xmlns:a16="http://schemas.microsoft.com/office/drawing/2014/main" id="{0EBF7FBF-856F-F443-97A8-CB0ABC7B4D5E}"/>
              </a:ext>
            </a:extLst>
          </p:cNvPr>
          <p:cNvSpPr/>
          <p:nvPr/>
        </p:nvSpPr>
        <p:spPr>
          <a:xfrm>
            <a:off x="6229140" y="3902348"/>
            <a:ext cx="648120" cy="177571"/>
          </a:xfrm>
          <a:prstGeom prst="rect">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35</a:t>
            </a:r>
            <a:r>
              <a:rPr lang="zh-CN" altLang="en-US" sz="1100" dirty="0"/>
              <a:t>块</a:t>
            </a:r>
            <a:endParaRPr lang="en-CN" sz="1100" dirty="0"/>
          </a:p>
        </p:txBody>
      </p:sp>
      <p:sp>
        <p:nvSpPr>
          <p:cNvPr id="47" name="Rectangle 46">
            <a:extLst>
              <a:ext uri="{FF2B5EF4-FFF2-40B4-BE49-F238E27FC236}">
                <a16:creationId xmlns:a16="http://schemas.microsoft.com/office/drawing/2014/main" id="{5F786334-524A-B741-A049-92DE88AAF388}"/>
              </a:ext>
            </a:extLst>
          </p:cNvPr>
          <p:cNvSpPr/>
          <p:nvPr/>
        </p:nvSpPr>
        <p:spPr>
          <a:xfrm>
            <a:off x="6229140" y="4081636"/>
            <a:ext cx="648120" cy="177571"/>
          </a:xfrm>
          <a:prstGeom prst="rect">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32</a:t>
            </a:r>
            <a:r>
              <a:rPr lang="zh-CN" altLang="en-US" sz="1100" dirty="0"/>
              <a:t>块</a:t>
            </a:r>
            <a:endParaRPr lang="en-CN" sz="1100" dirty="0"/>
          </a:p>
        </p:txBody>
      </p:sp>
      <p:cxnSp>
        <p:nvCxnSpPr>
          <p:cNvPr id="48" name="Curved Connector 47">
            <a:extLst>
              <a:ext uri="{FF2B5EF4-FFF2-40B4-BE49-F238E27FC236}">
                <a16:creationId xmlns:a16="http://schemas.microsoft.com/office/drawing/2014/main" id="{42F959E5-7ADA-C449-A347-634AAB13F200}"/>
              </a:ext>
            </a:extLst>
          </p:cNvPr>
          <p:cNvCxnSpPr>
            <a:cxnSpLocks/>
            <a:stCxn id="47" idx="3"/>
            <a:endCxn id="20" idx="1"/>
          </p:cNvCxnSpPr>
          <p:nvPr/>
        </p:nvCxnSpPr>
        <p:spPr>
          <a:xfrm flipV="1">
            <a:off x="6877260" y="3745277"/>
            <a:ext cx="548982" cy="425145"/>
          </a:xfrm>
          <a:prstGeom prst="curvedConnector3">
            <a:avLst>
              <a:gd name="adj1" fmla="val 50000"/>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9" name="Curved Connector 48">
            <a:extLst>
              <a:ext uri="{FF2B5EF4-FFF2-40B4-BE49-F238E27FC236}">
                <a16:creationId xmlns:a16="http://schemas.microsoft.com/office/drawing/2014/main" id="{2E23D2FB-5182-AC48-9477-49A9926CB5A6}"/>
              </a:ext>
            </a:extLst>
          </p:cNvPr>
          <p:cNvCxnSpPr>
            <a:cxnSpLocks/>
            <a:stCxn id="46" idx="3"/>
            <a:endCxn id="51" idx="1"/>
          </p:cNvCxnSpPr>
          <p:nvPr/>
        </p:nvCxnSpPr>
        <p:spPr>
          <a:xfrm>
            <a:off x="6877260" y="3991134"/>
            <a:ext cx="548982" cy="1113064"/>
          </a:xfrm>
          <a:prstGeom prst="curvedConnector3">
            <a:avLst>
              <a:gd name="adj1" fmla="val 50000"/>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2A3407F0-CC20-7F40-A758-F5C099FF25D8}"/>
              </a:ext>
            </a:extLst>
          </p:cNvPr>
          <p:cNvSpPr/>
          <p:nvPr/>
        </p:nvSpPr>
        <p:spPr>
          <a:xfrm>
            <a:off x="7426242" y="4853257"/>
            <a:ext cx="648120" cy="501881"/>
          </a:xfrm>
          <a:prstGeom prst="rect">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ltLang="zh-CN" sz="1100" dirty="0"/>
          </a:p>
          <a:p>
            <a:pPr algn="ctr"/>
            <a:r>
              <a:rPr lang="zh-CN" altLang="en-US" sz="1100" dirty="0"/>
              <a:t>旧</a:t>
            </a:r>
            <a:r>
              <a:rPr lang="zh-CN" altLang="en-CN" sz="1100" dirty="0"/>
              <a:t>数据</a:t>
            </a:r>
            <a:endParaRPr lang="en-CN" sz="1100" dirty="0"/>
          </a:p>
        </p:txBody>
      </p:sp>
      <p:sp>
        <p:nvSpPr>
          <p:cNvPr id="52" name="Rectangle 51">
            <a:extLst>
              <a:ext uri="{FF2B5EF4-FFF2-40B4-BE49-F238E27FC236}">
                <a16:creationId xmlns:a16="http://schemas.microsoft.com/office/drawing/2014/main" id="{EC8949C4-81FD-524C-932A-192B95E5B412}"/>
              </a:ext>
            </a:extLst>
          </p:cNvPr>
          <p:cNvSpPr/>
          <p:nvPr/>
        </p:nvSpPr>
        <p:spPr>
          <a:xfrm>
            <a:off x="7426242" y="4211873"/>
            <a:ext cx="648120" cy="512957"/>
          </a:xfrm>
          <a:prstGeom prst="rect">
            <a:avLst/>
          </a:prstGeom>
          <a:solidFill>
            <a:schemeClr val="accent1">
              <a:alpha val="32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100" dirty="0">
                <a:solidFill>
                  <a:srgbClr val="C00000"/>
                </a:solidFill>
              </a:rPr>
              <a:t>新数据</a:t>
            </a:r>
            <a:endParaRPr lang="en-CN" sz="1100" dirty="0">
              <a:solidFill>
                <a:srgbClr val="C00000"/>
              </a:solidFill>
            </a:endParaRPr>
          </a:p>
        </p:txBody>
      </p:sp>
      <p:sp>
        <p:nvSpPr>
          <p:cNvPr id="53" name="Rectangle 52">
            <a:extLst>
              <a:ext uri="{FF2B5EF4-FFF2-40B4-BE49-F238E27FC236}">
                <a16:creationId xmlns:a16="http://schemas.microsoft.com/office/drawing/2014/main" id="{730D9857-E395-C342-8BEB-163F5C114441}"/>
              </a:ext>
            </a:extLst>
          </p:cNvPr>
          <p:cNvSpPr/>
          <p:nvPr/>
        </p:nvSpPr>
        <p:spPr>
          <a:xfrm>
            <a:off x="7426242" y="4849260"/>
            <a:ext cx="648120" cy="250941"/>
          </a:xfrm>
          <a:prstGeom prst="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100" dirty="0">
                <a:solidFill>
                  <a:srgbClr val="C00000"/>
                </a:solidFill>
              </a:rPr>
              <a:t>新数据</a:t>
            </a:r>
            <a:endParaRPr lang="en-CN" sz="1100" dirty="0">
              <a:solidFill>
                <a:srgbClr val="C00000"/>
              </a:solidFill>
            </a:endParaRPr>
          </a:p>
        </p:txBody>
      </p:sp>
      <p:sp>
        <p:nvSpPr>
          <p:cNvPr id="54" name="Rectangle 53">
            <a:extLst>
              <a:ext uri="{FF2B5EF4-FFF2-40B4-BE49-F238E27FC236}">
                <a16:creationId xmlns:a16="http://schemas.microsoft.com/office/drawing/2014/main" id="{C76D7ADA-9981-ED46-95D1-D4EC57848164}"/>
              </a:ext>
            </a:extLst>
          </p:cNvPr>
          <p:cNvSpPr/>
          <p:nvPr/>
        </p:nvSpPr>
        <p:spPr>
          <a:xfrm>
            <a:off x="7105412" y="1707547"/>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旧数据</a:t>
            </a:r>
            <a:br>
              <a:rPr lang="en-US" altLang="zh-CN" sz="1100" dirty="0"/>
            </a:br>
            <a:r>
              <a:rPr lang="zh-CN" altLang="en-US" sz="1100" dirty="0"/>
              <a:t> </a:t>
            </a:r>
            <a:endParaRPr lang="en-CN" sz="1100" dirty="0"/>
          </a:p>
        </p:txBody>
      </p:sp>
      <p:sp>
        <p:nvSpPr>
          <p:cNvPr id="55" name="Rectangle 54">
            <a:extLst>
              <a:ext uri="{FF2B5EF4-FFF2-40B4-BE49-F238E27FC236}">
                <a16:creationId xmlns:a16="http://schemas.microsoft.com/office/drawing/2014/main" id="{E7C72BC8-806D-5245-8507-56DE1C84E700}"/>
              </a:ext>
            </a:extLst>
          </p:cNvPr>
          <p:cNvSpPr/>
          <p:nvPr/>
        </p:nvSpPr>
        <p:spPr>
          <a:xfrm>
            <a:off x="7105412" y="1958487"/>
            <a:ext cx="648120" cy="250941"/>
          </a:xfrm>
          <a:prstGeom prst="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100" dirty="0">
                <a:solidFill>
                  <a:srgbClr val="C00000"/>
                </a:solidFill>
              </a:rPr>
              <a:t>新数据</a:t>
            </a:r>
            <a:endParaRPr lang="en-CN" sz="1100" dirty="0">
              <a:solidFill>
                <a:srgbClr val="C00000"/>
              </a:solidFill>
            </a:endParaRPr>
          </a:p>
        </p:txBody>
      </p:sp>
      <p:cxnSp>
        <p:nvCxnSpPr>
          <p:cNvPr id="56" name="Curved Connector 55">
            <a:extLst>
              <a:ext uri="{FF2B5EF4-FFF2-40B4-BE49-F238E27FC236}">
                <a16:creationId xmlns:a16="http://schemas.microsoft.com/office/drawing/2014/main" id="{D1F570E6-6575-4640-9B23-E8829A27D8F8}"/>
              </a:ext>
            </a:extLst>
          </p:cNvPr>
          <p:cNvCxnSpPr>
            <a:cxnSpLocks/>
            <a:stCxn id="45" idx="3"/>
            <a:endCxn id="52" idx="1"/>
          </p:cNvCxnSpPr>
          <p:nvPr/>
        </p:nvCxnSpPr>
        <p:spPr>
          <a:xfrm>
            <a:off x="6877260" y="3813563"/>
            <a:ext cx="548982" cy="654789"/>
          </a:xfrm>
          <a:prstGeom prst="curvedConnector3">
            <a:avLst>
              <a:gd name="adj1" fmla="val 50000"/>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77141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Content Placeholder 2">
            <a:extLst>
              <a:ext uri="{FF2B5EF4-FFF2-40B4-BE49-F238E27FC236}">
                <a16:creationId xmlns:a16="http://schemas.microsoft.com/office/drawing/2014/main" id="{A1023471-3D10-6541-A554-04865CC9FF50}"/>
              </a:ext>
            </a:extLst>
          </p:cNvPr>
          <p:cNvSpPr>
            <a:spLocks noGrp="1"/>
          </p:cNvSpPr>
          <p:nvPr>
            <p:ph idx="1"/>
          </p:nvPr>
        </p:nvSpPr>
        <p:spPr>
          <a:xfrm>
            <a:off x="457200" y="1333501"/>
            <a:ext cx="8229600" cy="3771636"/>
          </a:xfrm>
        </p:spPr>
        <p:txBody>
          <a:bodyPr/>
          <a:lstStyle/>
          <a:p>
            <a:r>
              <a:rPr lang="zh-CN" altLang="en-US" sz="2000" b="0" dirty="0"/>
              <a:t>文件数据散落在多个数据块内</a:t>
            </a:r>
            <a:endParaRPr lang="en-US" altLang="zh-CN" sz="2000" b="0" dirty="0"/>
          </a:p>
          <a:p>
            <a:r>
              <a:rPr lang="zh-CN" altLang="en-US" sz="2000" b="0" dirty="0"/>
              <a:t>使用日志：数据需要写两遍</a:t>
            </a:r>
            <a:endParaRPr lang="en-US" altLang="zh-CN" sz="2000" b="0" dirty="0"/>
          </a:p>
          <a:p>
            <a:r>
              <a:rPr lang="zh-CN" altLang="en-US" sz="2000" b="0" dirty="0"/>
              <a:t>写时复制保证多个数据块原子更新</a:t>
            </a:r>
            <a:endParaRPr lang="en-US" altLang="zh-CN" sz="2000" b="0" dirty="0"/>
          </a:p>
          <a:p>
            <a:pPr lvl="1"/>
            <a:r>
              <a:rPr lang="zh-CN" altLang="en-US" sz="1600" dirty="0"/>
              <a:t>将要修改的数据块进行复制（分配新的块）</a:t>
            </a:r>
            <a:endParaRPr lang="en-US" altLang="zh-CN" sz="1600" b="0" dirty="0"/>
          </a:p>
          <a:p>
            <a:pPr lvl="1"/>
            <a:r>
              <a:rPr lang="zh-CN" altLang="en-US" sz="1600" b="0" dirty="0"/>
              <a:t>在新的数据块上修改数据</a:t>
            </a:r>
            <a:endParaRPr lang="en-US" altLang="zh-CN" sz="1600" b="0" dirty="0"/>
          </a:p>
          <a:p>
            <a:pPr lvl="1"/>
            <a:r>
              <a:rPr lang="zh-CN" altLang="en-US" sz="1600" dirty="0"/>
              <a:t>向上递归复制和修改，直到所有修改能原子完成</a:t>
            </a:r>
            <a:endParaRPr lang="en-US" altLang="zh-CN" sz="1600" dirty="0"/>
          </a:p>
          <a:p>
            <a:pPr lvl="1"/>
            <a:r>
              <a:rPr lang="zh-CN" altLang="en-US" sz="1600" b="0" dirty="0"/>
              <a:t>进行原子修改</a:t>
            </a:r>
            <a:endParaRPr lang="en-US" altLang="zh-CN" sz="1600" b="0" dirty="0"/>
          </a:p>
          <a:p>
            <a:endParaRPr lang="en-CN" dirty="0"/>
          </a:p>
        </p:txBody>
      </p:sp>
      <p:sp>
        <p:nvSpPr>
          <p:cNvPr id="2" name="Title 1">
            <a:extLst>
              <a:ext uri="{FF2B5EF4-FFF2-40B4-BE49-F238E27FC236}">
                <a16:creationId xmlns:a16="http://schemas.microsoft.com/office/drawing/2014/main" id="{9B4054E4-E7A4-904C-B002-86D528827D55}"/>
              </a:ext>
            </a:extLst>
          </p:cNvPr>
          <p:cNvSpPr>
            <a:spLocks noGrp="1"/>
          </p:cNvSpPr>
          <p:nvPr>
            <p:ph type="title"/>
          </p:nvPr>
        </p:nvSpPr>
        <p:spPr/>
        <p:txBody>
          <a:bodyPr/>
          <a:lstStyle/>
          <a:p>
            <a:r>
              <a:rPr lang="zh-CN" altLang="en-US" dirty="0"/>
              <a:t>文件中的写时复制</a:t>
            </a:r>
            <a:endParaRPr lang="en-CN" dirty="0"/>
          </a:p>
        </p:txBody>
      </p:sp>
      <p:sp>
        <p:nvSpPr>
          <p:cNvPr id="4" name="Slide Number Placeholder 3">
            <a:extLst>
              <a:ext uri="{FF2B5EF4-FFF2-40B4-BE49-F238E27FC236}">
                <a16:creationId xmlns:a16="http://schemas.microsoft.com/office/drawing/2014/main" id="{071EE6C2-0229-4149-9783-351571E23A23}"/>
              </a:ext>
            </a:extLst>
          </p:cNvPr>
          <p:cNvSpPr>
            <a:spLocks noGrp="1"/>
          </p:cNvSpPr>
          <p:nvPr>
            <p:ph type="sldNum" sz="quarter" idx="12"/>
          </p:nvPr>
        </p:nvSpPr>
        <p:spPr/>
        <p:txBody>
          <a:bodyPr/>
          <a:lstStyle/>
          <a:p>
            <a:fld id="{ADE361C3-C043-4A6E-BDCE-8DA1E7D90A3B}" type="slidenum">
              <a:rPr lang="zh-CN" altLang="en-US" smtClean="0"/>
              <a:t>46</a:t>
            </a:fld>
            <a:endParaRPr lang="zh-CN" altLang="en-US"/>
          </a:p>
        </p:txBody>
      </p:sp>
      <p:sp>
        <p:nvSpPr>
          <p:cNvPr id="5" name="Footer Placeholder 4">
            <a:extLst>
              <a:ext uri="{FF2B5EF4-FFF2-40B4-BE49-F238E27FC236}">
                <a16:creationId xmlns:a16="http://schemas.microsoft.com/office/drawing/2014/main" id="{FCF97BEF-A225-3244-9CFA-67E6C470D5DF}"/>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Rectangle 5">
            <a:extLst>
              <a:ext uri="{FF2B5EF4-FFF2-40B4-BE49-F238E27FC236}">
                <a16:creationId xmlns:a16="http://schemas.microsoft.com/office/drawing/2014/main" id="{9EE2CBF6-E6BC-6141-B00F-8DED24049A09}"/>
              </a:ext>
            </a:extLst>
          </p:cNvPr>
          <p:cNvSpPr/>
          <p:nvPr/>
        </p:nvSpPr>
        <p:spPr>
          <a:xfrm>
            <a:off x="4979195" y="494285"/>
            <a:ext cx="648120" cy="7020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常用</a:t>
            </a:r>
            <a:r>
              <a:rPr lang="zh-CN" altLang="en-US" sz="1100" dirty="0"/>
              <a:t>元数据</a:t>
            </a:r>
            <a:endParaRPr lang="en-CN" sz="1100" dirty="0"/>
          </a:p>
        </p:txBody>
      </p:sp>
      <p:sp>
        <p:nvSpPr>
          <p:cNvPr id="7" name="Rectangle 6">
            <a:extLst>
              <a:ext uri="{FF2B5EF4-FFF2-40B4-BE49-F238E27FC236}">
                <a16:creationId xmlns:a16="http://schemas.microsoft.com/office/drawing/2014/main" id="{5C3C2BBB-4392-F541-9FDA-AC9EE4F39AD2}"/>
              </a:ext>
            </a:extLst>
          </p:cNvPr>
          <p:cNvSpPr/>
          <p:nvPr/>
        </p:nvSpPr>
        <p:spPr>
          <a:xfrm>
            <a:off x="4979195" y="1196305"/>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第</a:t>
            </a:r>
            <a:r>
              <a:rPr lang="en-US" altLang="zh-CN" sz="1100" dirty="0"/>
              <a:t>7</a:t>
            </a:r>
            <a:r>
              <a:rPr lang="zh-CN" altLang="en-US" sz="1100" dirty="0"/>
              <a:t>块</a:t>
            </a:r>
            <a:endParaRPr lang="en-CN" sz="1100" dirty="0"/>
          </a:p>
        </p:txBody>
      </p:sp>
      <p:sp>
        <p:nvSpPr>
          <p:cNvPr id="8" name="Rectangle 7">
            <a:extLst>
              <a:ext uri="{FF2B5EF4-FFF2-40B4-BE49-F238E27FC236}">
                <a16:creationId xmlns:a16="http://schemas.microsoft.com/office/drawing/2014/main" id="{3CD74C78-A76E-7243-AFDE-C942653C0D3E}"/>
              </a:ext>
            </a:extLst>
          </p:cNvPr>
          <p:cNvSpPr/>
          <p:nvPr/>
        </p:nvSpPr>
        <p:spPr>
          <a:xfrm>
            <a:off x="4979195" y="1373876"/>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8</a:t>
            </a:r>
            <a:r>
              <a:rPr lang="zh-CN" altLang="en-US" sz="1100" dirty="0"/>
              <a:t>块</a:t>
            </a:r>
            <a:endParaRPr lang="en-CN" sz="1100" dirty="0"/>
          </a:p>
        </p:txBody>
      </p:sp>
      <p:sp>
        <p:nvSpPr>
          <p:cNvPr id="9" name="Rectangle 8">
            <a:extLst>
              <a:ext uri="{FF2B5EF4-FFF2-40B4-BE49-F238E27FC236}">
                <a16:creationId xmlns:a16="http://schemas.microsoft.com/office/drawing/2014/main" id="{81782BBF-E469-DE43-92D3-FACAF99B4DBF}"/>
              </a:ext>
            </a:extLst>
          </p:cNvPr>
          <p:cNvSpPr/>
          <p:nvPr/>
        </p:nvSpPr>
        <p:spPr>
          <a:xfrm>
            <a:off x="4979195" y="1551447"/>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solidFill>
                  <a:srgbClr val="C00000"/>
                </a:solidFill>
              </a:rPr>
              <a:t>第</a:t>
            </a:r>
            <a:r>
              <a:rPr lang="en-US" altLang="zh-CN" sz="1100" dirty="0">
                <a:solidFill>
                  <a:srgbClr val="C00000"/>
                </a:solidFill>
              </a:rPr>
              <a:t>33</a:t>
            </a:r>
            <a:r>
              <a:rPr lang="zh-CN" altLang="en-US" sz="1100" dirty="0">
                <a:solidFill>
                  <a:srgbClr val="C00000"/>
                </a:solidFill>
              </a:rPr>
              <a:t>块</a:t>
            </a:r>
            <a:endParaRPr lang="en-CN" sz="1100" dirty="0">
              <a:solidFill>
                <a:srgbClr val="C00000"/>
              </a:solidFill>
            </a:endParaRPr>
          </a:p>
        </p:txBody>
      </p:sp>
      <p:sp>
        <p:nvSpPr>
          <p:cNvPr id="10" name="Rectangle 9">
            <a:extLst>
              <a:ext uri="{FF2B5EF4-FFF2-40B4-BE49-F238E27FC236}">
                <a16:creationId xmlns:a16="http://schemas.microsoft.com/office/drawing/2014/main" id="{1FF9E79E-2937-2C42-86EE-7D279F7DE257}"/>
              </a:ext>
            </a:extLst>
          </p:cNvPr>
          <p:cNvSpPr/>
          <p:nvPr/>
        </p:nvSpPr>
        <p:spPr>
          <a:xfrm>
            <a:off x="4979195" y="1730215"/>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solidFill>
                  <a:srgbClr val="C00000"/>
                </a:solidFill>
              </a:rPr>
              <a:t>第</a:t>
            </a:r>
            <a:r>
              <a:rPr lang="en-US" altLang="zh-CN" sz="1100" dirty="0">
                <a:solidFill>
                  <a:srgbClr val="C00000"/>
                </a:solidFill>
              </a:rPr>
              <a:t>37</a:t>
            </a:r>
            <a:r>
              <a:rPr lang="zh-CN" altLang="en-US" sz="1100" dirty="0">
                <a:solidFill>
                  <a:srgbClr val="C00000"/>
                </a:solidFill>
              </a:rPr>
              <a:t>块</a:t>
            </a:r>
            <a:endParaRPr lang="en-CN" sz="1100" dirty="0">
              <a:solidFill>
                <a:srgbClr val="C00000"/>
              </a:solidFill>
            </a:endParaRPr>
          </a:p>
        </p:txBody>
      </p:sp>
      <p:sp>
        <p:nvSpPr>
          <p:cNvPr id="11" name="Rectangle 10">
            <a:extLst>
              <a:ext uri="{FF2B5EF4-FFF2-40B4-BE49-F238E27FC236}">
                <a16:creationId xmlns:a16="http://schemas.microsoft.com/office/drawing/2014/main" id="{DCAF1580-EEC6-9F40-9840-0A0E2DFFA55C}"/>
              </a:ext>
            </a:extLst>
          </p:cNvPr>
          <p:cNvSpPr/>
          <p:nvPr/>
        </p:nvSpPr>
        <p:spPr>
          <a:xfrm>
            <a:off x="6229140" y="680362"/>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12" name="Rectangle 11">
            <a:extLst>
              <a:ext uri="{FF2B5EF4-FFF2-40B4-BE49-F238E27FC236}">
                <a16:creationId xmlns:a16="http://schemas.microsoft.com/office/drawing/2014/main" id="{FBD79DF4-3E3D-2743-B6AF-1C2FEA3A8C4B}"/>
              </a:ext>
            </a:extLst>
          </p:cNvPr>
          <p:cNvSpPr/>
          <p:nvPr/>
        </p:nvSpPr>
        <p:spPr>
          <a:xfrm>
            <a:off x="6229140" y="1363481"/>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13" name="Rectangle 12">
            <a:extLst>
              <a:ext uri="{FF2B5EF4-FFF2-40B4-BE49-F238E27FC236}">
                <a16:creationId xmlns:a16="http://schemas.microsoft.com/office/drawing/2014/main" id="{C44D5F94-6ABD-484D-9E93-86D3D14D22B3}"/>
              </a:ext>
            </a:extLst>
          </p:cNvPr>
          <p:cNvSpPr/>
          <p:nvPr/>
        </p:nvSpPr>
        <p:spPr>
          <a:xfrm>
            <a:off x="6229140" y="2012372"/>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cxnSp>
        <p:nvCxnSpPr>
          <p:cNvPr id="14" name="Curved Connector 13">
            <a:extLst>
              <a:ext uri="{FF2B5EF4-FFF2-40B4-BE49-F238E27FC236}">
                <a16:creationId xmlns:a16="http://schemas.microsoft.com/office/drawing/2014/main" id="{A00023A1-220D-864B-852B-91BDEA43416D}"/>
              </a:ext>
            </a:extLst>
          </p:cNvPr>
          <p:cNvCxnSpPr>
            <a:stCxn id="7" idx="3"/>
            <a:endCxn id="11" idx="1"/>
          </p:cNvCxnSpPr>
          <p:nvPr/>
        </p:nvCxnSpPr>
        <p:spPr>
          <a:xfrm flipV="1">
            <a:off x="5627315" y="931302"/>
            <a:ext cx="601826" cy="353789"/>
          </a:xfrm>
          <a:prstGeom prst="curved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urved Connector 14">
            <a:extLst>
              <a:ext uri="{FF2B5EF4-FFF2-40B4-BE49-F238E27FC236}">
                <a16:creationId xmlns:a16="http://schemas.microsoft.com/office/drawing/2014/main" id="{6696525D-557F-AA40-8EF2-8E68BD5775FF}"/>
              </a:ext>
            </a:extLst>
          </p:cNvPr>
          <p:cNvCxnSpPr>
            <a:cxnSpLocks/>
            <a:stCxn id="8" idx="3"/>
            <a:endCxn id="12" idx="1"/>
          </p:cNvCxnSpPr>
          <p:nvPr/>
        </p:nvCxnSpPr>
        <p:spPr>
          <a:xfrm>
            <a:off x="5627315" y="1462662"/>
            <a:ext cx="601826" cy="151760"/>
          </a:xfrm>
          <a:prstGeom prst="curved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974E9424-785D-6B48-B94A-33E3F9CA2610}"/>
              </a:ext>
            </a:extLst>
          </p:cNvPr>
          <p:cNvSpPr/>
          <p:nvPr/>
        </p:nvSpPr>
        <p:spPr>
          <a:xfrm>
            <a:off x="7426242" y="2272586"/>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19" name="Rectangle 18">
            <a:extLst>
              <a:ext uri="{FF2B5EF4-FFF2-40B4-BE49-F238E27FC236}">
                <a16:creationId xmlns:a16="http://schemas.microsoft.com/office/drawing/2014/main" id="{39AE8486-011C-CC41-BD3E-D09EFC197589}"/>
              </a:ext>
            </a:extLst>
          </p:cNvPr>
          <p:cNvSpPr/>
          <p:nvPr/>
        </p:nvSpPr>
        <p:spPr>
          <a:xfrm>
            <a:off x="7426242" y="2881504"/>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20" name="Rectangle 19">
            <a:extLst>
              <a:ext uri="{FF2B5EF4-FFF2-40B4-BE49-F238E27FC236}">
                <a16:creationId xmlns:a16="http://schemas.microsoft.com/office/drawing/2014/main" id="{331750E5-B429-0146-B481-5A095F896EB7}"/>
              </a:ext>
            </a:extLst>
          </p:cNvPr>
          <p:cNvSpPr/>
          <p:nvPr/>
        </p:nvSpPr>
        <p:spPr>
          <a:xfrm>
            <a:off x="7426242" y="3494336"/>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22" name="TextBox 21">
            <a:extLst>
              <a:ext uri="{FF2B5EF4-FFF2-40B4-BE49-F238E27FC236}">
                <a16:creationId xmlns:a16="http://schemas.microsoft.com/office/drawing/2014/main" id="{BC3AC2BE-8313-BE41-8D6B-3E76EF6EA2D6}"/>
              </a:ext>
            </a:extLst>
          </p:cNvPr>
          <p:cNvSpPr txBox="1"/>
          <p:nvPr/>
        </p:nvSpPr>
        <p:spPr>
          <a:xfrm>
            <a:off x="6076146" y="3280507"/>
            <a:ext cx="954107" cy="276999"/>
          </a:xfrm>
          <a:prstGeom prst="rect">
            <a:avLst/>
          </a:prstGeom>
          <a:noFill/>
        </p:spPr>
        <p:txBody>
          <a:bodyPr wrap="none" rtlCol="0">
            <a:spAutoFit/>
          </a:bodyPr>
          <a:lstStyle/>
          <a:p>
            <a:r>
              <a:rPr lang="zh-CN" altLang="en-US" sz="1200" dirty="0"/>
              <a:t>间接索引块</a:t>
            </a:r>
            <a:endParaRPr lang="en-CN" sz="1200" dirty="0"/>
          </a:p>
        </p:txBody>
      </p:sp>
      <p:sp>
        <p:nvSpPr>
          <p:cNvPr id="23" name="Rectangle 22">
            <a:extLst>
              <a:ext uri="{FF2B5EF4-FFF2-40B4-BE49-F238E27FC236}">
                <a16:creationId xmlns:a16="http://schemas.microsoft.com/office/drawing/2014/main" id="{7B57721B-087A-644D-B5EF-719038503526}"/>
              </a:ext>
            </a:extLst>
          </p:cNvPr>
          <p:cNvSpPr/>
          <p:nvPr/>
        </p:nvSpPr>
        <p:spPr>
          <a:xfrm>
            <a:off x="6229140" y="2667591"/>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第</a:t>
            </a:r>
            <a:r>
              <a:rPr lang="en-US" altLang="zh-CN" sz="1100" dirty="0"/>
              <a:t>9</a:t>
            </a:r>
            <a:r>
              <a:rPr lang="zh-CN" altLang="en-US" sz="1100" dirty="0"/>
              <a:t>块</a:t>
            </a:r>
            <a:endParaRPr lang="en-CN" sz="1100" dirty="0"/>
          </a:p>
        </p:txBody>
      </p:sp>
      <p:sp>
        <p:nvSpPr>
          <p:cNvPr id="24" name="Rectangle 23">
            <a:extLst>
              <a:ext uri="{FF2B5EF4-FFF2-40B4-BE49-F238E27FC236}">
                <a16:creationId xmlns:a16="http://schemas.microsoft.com/office/drawing/2014/main" id="{9671EC83-2C19-8143-9D45-1FB99E4A8C25}"/>
              </a:ext>
            </a:extLst>
          </p:cNvPr>
          <p:cNvSpPr/>
          <p:nvPr/>
        </p:nvSpPr>
        <p:spPr>
          <a:xfrm>
            <a:off x="6229140" y="2845162"/>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28</a:t>
            </a:r>
            <a:r>
              <a:rPr lang="zh-CN" altLang="en-US" sz="1100" dirty="0"/>
              <a:t>块</a:t>
            </a:r>
            <a:endParaRPr lang="en-CN" sz="1100" dirty="0"/>
          </a:p>
        </p:txBody>
      </p:sp>
      <p:sp>
        <p:nvSpPr>
          <p:cNvPr id="26" name="Rectangle 25">
            <a:extLst>
              <a:ext uri="{FF2B5EF4-FFF2-40B4-BE49-F238E27FC236}">
                <a16:creationId xmlns:a16="http://schemas.microsoft.com/office/drawing/2014/main" id="{8409BDD2-D641-8D4A-9535-2852481BF1CF}"/>
              </a:ext>
            </a:extLst>
          </p:cNvPr>
          <p:cNvSpPr/>
          <p:nvPr/>
        </p:nvSpPr>
        <p:spPr>
          <a:xfrm>
            <a:off x="6229140" y="3024450"/>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32</a:t>
            </a:r>
            <a:r>
              <a:rPr lang="zh-CN" altLang="en-US" sz="1100" dirty="0"/>
              <a:t>块</a:t>
            </a:r>
            <a:endParaRPr lang="en-CN" sz="1100" dirty="0"/>
          </a:p>
        </p:txBody>
      </p:sp>
      <p:cxnSp>
        <p:nvCxnSpPr>
          <p:cNvPr id="27" name="Curved Connector 26">
            <a:extLst>
              <a:ext uri="{FF2B5EF4-FFF2-40B4-BE49-F238E27FC236}">
                <a16:creationId xmlns:a16="http://schemas.microsoft.com/office/drawing/2014/main" id="{1211CB64-5E1B-AB4D-80FC-988FAF6C4EEB}"/>
              </a:ext>
            </a:extLst>
          </p:cNvPr>
          <p:cNvCxnSpPr>
            <a:cxnSpLocks/>
            <a:stCxn id="23" idx="3"/>
            <a:endCxn id="18" idx="1"/>
          </p:cNvCxnSpPr>
          <p:nvPr/>
        </p:nvCxnSpPr>
        <p:spPr>
          <a:xfrm flipV="1">
            <a:off x="6877260" y="2523526"/>
            <a:ext cx="548982" cy="232850"/>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urved Connector 27">
            <a:extLst>
              <a:ext uri="{FF2B5EF4-FFF2-40B4-BE49-F238E27FC236}">
                <a16:creationId xmlns:a16="http://schemas.microsoft.com/office/drawing/2014/main" id="{41530331-C3D2-BE41-85FD-746B3E4B3263}"/>
              </a:ext>
            </a:extLst>
          </p:cNvPr>
          <p:cNvCxnSpPr>
            <a:cxnSpLocks/>
            <a:stCxn id="24" idx="3"/>
            <a:endCxn id="19" idx="1"/>
          </p:cNvCxnSpPr>
          <p:nvPr/>
        </p:nvCxnSpPr>
        <p:spPr>
          <a:xfrm>
            <a:off x="6877260" y="2933947"/>
            <a:ext cx="548982" cy="198497"/>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urved Connector 28">
            <a:extLst>
              <a:ext uri="{FF2B5EF4-FFF2-40B4-BE49-F238E27FC236}">
                <a16:creationId xmlns:a16="http://schemas.microsoft.com/office/drawing/2014/main" id="{E790281B-FE23-F340-9E7E-AD3053EB76EA}"/>
              </a:ext>
            </a:extLst>
          </p:cNvPr>
          <p:cNvCxnSpPr>
            <a:cxnSpLocks/>
            <a:stCxn id="26" idx="3"/>
            <a:endCxn id="20" idx="1"/>
          </p:cNvCxnSpPr>
          <p:nvPr/>
        </p:nvCxnSpPr>
        <p:spPr>
          <a:xfrm>
            <a:off x="6877260" y="3113236"/>
            <a:ext cx="548982" cy="632041"/>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282CD7BB-7B31-B942-A7AC-049F12913B94}"/>
              </a:ext>
            </a:extLst>
          </p:cNvPr>
          <p:cNvSpPr/>
          <p:nvPr/>
        </p:nvSpPr>
        <p:spPr>
          <a:xfrm>
            <a:off x="6229140" y="2263312"/>
            <a:ext cx="648120" cy="250941"/>
          </a:xfrm>
          <a:prstGeom prst="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5" name="Rectangle 34">
            <a:extLst>
              <a:ext uri="{FF2B5EF4-FFF2-40B4-BE49-F238E27FC236}">
                <a16:creationId xmlns:a16="http://schemas.microsoft.com/office/drawing/2014/main" id="{9C42BC9F-E995-D54F-BA5A-8F7F10232DEF}"/>
              </a:ext>
            </a:extLst>
          </p:cNvPr>
          <p:cNvSpPr/>
          <p:nvPr/>
        </p:nvSpPr>
        <p:spPr>
          <a:xfrm>
            <a:off x="7426242" y="2272927"/>
            <a:ext cx="648120" cy="512957"/>
          </a:xfrm>
          <a:prstGeom prst="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6" name="Rectangle 35">
            <a:extLst>
              <a:ext uri="{FF2B5EF4-FFF2-40B4-BE49-F238E27FC236}">
                <a16:creationId xmlns:a16="http://schemas.microsoft.com/office/drawing/2014/main" id="{CB69E52B-5169-B541-96BD-47D917282E26}"/>
              </a:ext>
            </a:extLst>
          </p:cNvPr>
          <p:cNvSpPr/>
          <p:nvPr/>
        </p:nvSpPr>
        <p:spPr>
          <a:xfrm>
            <a:off x="7426242" y="2877507"/>
            <a:ext cx="648120" cy="250941"/>
          </a:xfrm>
          <a:prstGeom prst="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45" name="Rectangle 44">
            <a:extLst>
              <a:ext uri="{FF2B5EF4-FFF2-40B4-BE49-F238E27FC236}">
                <a16:creationId xmlns:a16="http://schemas.microsoft.com/office/drawing/2014/main" id="{484C37ED-0B4A-1C44-A3E0-8A5CC07A1452}"/>
              </a:ext>
            </a:extLst>
          </p:cNvPr>
          <p:cNvSpPr/>
          <p:nvPr/>
        </p:nvSpPr>
        <p:spPr>
          <a:xfrm>
            <a:off x="6229140" y="3724777"/>
            <a:ext cx="648120" cy="177571"/>
          </a:xfrm>
          <a:prstGeom prst="rect">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第</a:t>
            </a:r>
            <a:r>
              <a:rPr lang="en-US" altLang="zh-CN" sz="1100" dirty="0"/>
              <a:t>34</a:t>
            </a:r>
            <a:r>
              <a:rPr lang="zh-CN" altLang="en-US" sz="1100" dirty="0"/>
              <a:t>块</a:t>
            </a:r>
            <a:endParaRPr lang="en-CN" sz="1100" dirty="0"/>
          </a:p>
        </p:txBody>
      </p:sp>
      <p:sp>
        <p:nvSpPr>
          <p:cNvPr id="46" name="Rectangle 45">
            <a:extLst>
              <a:ext uri="{FF2B5EF4-FFF2-40B4-BE49-F238E27FC236}">
                <a16:creationId xmlns:a16="http://schemas.microsoft.com/office/drawing/2014/main" id="{0EBF7FBF-856F-F443-97A8-CB0ABC7B4D5E}"/>
              </a:ext>
            </a:extLst>
          </p:cNvPr>
          <p:cNvSpPr/>
          <p:nvPr/>
        </p:nvSpPr>
        <p:spPr>
          <a:xfrm>
            <a:off x="6229140" y="3902348"/>
            <a:ext cx="648120" cy="177571"/>
          </a:xfrm>
          <a:prstGeom prst="rect">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35</a:t>
            </a:r>
            <a:r>
              <a:rPr lang="zh-CN" altLang="en-US" sz="1100" dirty="0"/>
              <a:t>块</a:t>
            </a:r>
            <a:endParaRPr lang="en-CN" sz="1100" dirty="0"/>
          </a:p>
        </p:txBody>
      </p:sp>
      <p:sp>
        <p:nvSpPr>
          <p:cNvPr id="47" name="Rectangle 46">
            <a:extLst>
              <a:ext uri="{FF2B5EF4-FFF2-40B4-BE49-F238E27FC236}">
                <a16:creationId xmlns:a16="http://schemas.microsoft.com/office/drawing/2014/main" id="{5F786334-524A-B741-A049-92DE88AAF388}"/>
              </a:ext>
            </a:extLst>
          </p:cNvPr>
          <p:cNvSpPr/>
          <p:nvPr/>
        </p:nvSpPr>
        <p:spPr>
          <a:xfrm>
            <a:off x="6229140" y="4081636"/>
            <a:ext cx="648120" cy="177571"/>
          </a:xfrm>
          <a:prstGeom prst="rect">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32</a:t>
            </a:r>
            <a:r>
              <a:rPr lang="zh-CN" altLang="en-US" sz="1100" dirty="0"/>
              <a:t>块</a:t>
            </a:r>
            <a:endParaRPr lang="en-CN" sz="1100" dirty="0"/>
          </a:p>
        </p:txBody>
      </p:sp>
      <p:cxnSp>
        <p:nvCxnSpPr>
          <p:cNvPr id="48" name="Curved Connector 47">
            <a:extLst>
              <a:ext uri="{FF2B5EF4-FFF2-40B4-BE49-F238E27FC236}">
                <a16:creationId xmlns:a16="http://schemas.microsoft.com/office/drawing/2014/main" id="{42F959E5-7ADA-C449-A347-634AAB13F200}"/>
              </a:ext>
            </a:extLst>
          </p:cNvPr>
          <p:cNvCxnSpPr>
            <a:cxnSpLocks/>
            <a:stCxn id="47" idx="3"/>
            <a:endCxn id="20" idx="1"/>
          </p:cNvCxnSpPr>
          <p:nvPr/>
        </p:nvCxnSpPr>
        <p:spPr>
          <a:xfrm flipV="1">
            <a:off x="6877260" y="3745277"/>
            <a:ext cx="548982" cy="425145"/>
          </a:xfrm>
          <a:prstGeom prst="curvedConnector3">
            <a:avLst>
              <a:gd name="adj1" fmla="val 50000"/>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9" name="Curved Connector 48">
            <a:extLst>
              <a:ext uri="{FF2B5EF4-FFF2-40B4-BE49-F238E27FC236}">
                <a16:creationId xmlns:a16="http://schemas.microsoft.com/office/drawing/2014/main" id="{2E23D2FB-5182-AC48-9477-49A9926CB5A6}"/>
              </a:ext>
            </a:extLst>
          </p:cNvPr>
          <p:cNvCxnSpPr>
            <a:cxnSpLocks/>
            <a:stCxn id="46" idx="3"/>
            <a:endCxn id="51" idx="1"/>
          </p:cNvCxnSpPr>
          <p:nvPr/>
        </p:nvCxnSpPr>
        <p:spPr>
          <a:xfrm>
            <a:off x="6877260" y="3991134"/>
            <a:ext cx="548982" cy="1113064"/>
          </a:xfrm>
          <a:prstGeom prst="curvedConnector3">
            <a:avLst>
              <a:gd name="adj1" fmla="val 50000"/>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2A3407F0-CC20-7F40-A758-F5C099FF25D8}"/>
              </a:ext>
            </a:extLst>
          </p:cNvPr>
          <p:cNvSpPr/>
          <p:nvPr/>
        </p:nvSpPr>
        <p:spPr>
          <a:xfrm>
            <a:off x="7426242" y="4853257"/>
            <a:ext cx="648120" cy="501881"/>
          </a:xfrm>
          <a:prstGeom prst="rect">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ltLang="zh-CN" sz="1100" dirty="0"/>
          </a:p>
          <a:p>
            <a:pPr algn="ctr"/>
            <a:r>
              <a:rPr lang="zh-CN" altLang="en-US" sz="1100" dirty="0"/>
              <a:t>旧</a:t>
            </a:r>
            <a:r>
              <a:rPr lang="zh-CN" altLang="en-CN" sz="1100" dirty="0"/>
              <a:t>数据</a:t>
            </a:r>
            <a:endParaRPr lang="en-CN" sz="1100" dirty="0"/>
          </a:p>
        </p:txBody>
      </p:sp>
      <p:sp>
        <p:nvSpPr>
          <p:cNvPr id="52" name="Rectangle 51">
            <a:extLst>
              <a:ext uri="{FF2B5EF4-FFF2-40B4-BE49-F238E27FC236}">
                <a16:creationId xmlns:a16="http://schemas.microsoft.com/office/drawing/2014/main" id="{EC8949C4-81FD-524C-932A-192B95E5B412}"/>
              </a:ext>
            </a:extLst>
          </p:cNvPr>
          <p:cNvSpPr/>
          <p:nvPr/>
        </p:nvSpPr>
        <p:spPr>
          <a:xfrm>
            <a:off x="7426242" y="4211873"/>
            <a:ext cx="648120" cy="512957"/>
          </a:xfrm>
          <a:prstGeom prst="rect">
            <a:avLst/>
          </a:prstGeom>
          <a:solidFill>
            <a:schemeClr val="accent1">
              <a:alpha val="32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100" dirty="0">
                <a:solidFill>
                  <a:srgbClr val="C00000"/>
                </a:solidFill>
              </a:rPr>
              <a:t>新数据</a:t>
            </a:r>
            <a:endParaRPr lang="en-CN" sz="1100" dirty="0">
              <a:solidFill>
                <a:srgbClr val="C00000"/>
              </a:solidFill>
            </a:endParaRPr>
          </a:p>
        </p:txBody>
      </p:sp>
      <p:sp>
        <p:nvSpPr>
          <p:cNvPr id="53" name="Rectangle 52">
            <a:extLst>
              <a:ext uri="{FF2B5EF4-FFF2-40B4-BE49-F238E27FC236}">
                <a16:creationId xmlns:a16="http://schemas.microsoft.com/office/drawing/2014/main" id="{730D9857-E395-C342-8BEB-163F5C114441}"/>
              </a:ext>
            </a:extLst>
          </p:cNvPr>
          <p:cNvSpPr/>
          <p:nvPr/>
        </p:nvSpPr>
        <p:spPr>
          <a:xfrm>
            <a:off x="7426242" y="4849260"/>
            <a:ext cx="648120" cy="250941"/>
          </a:xfrm>
          <a:prstGeom prst="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100" dirty="0">
                <a:solidFill>
                  <a:srgbClr val="C00000"/>
                </a:solidFill>
              </a:rPr>
              <a:t>新数据</a:t>
            </a:r>
            <a:endParaRPr lang="en-CN" sz="1100" dirty="0">
              <a:solidFill>
                <a:srgbClr val="C00000"/>
              </a:solidFill>
            </a:endParaRPr>
          </a:p>
        </p:txBody>
      </p:sp>
      <p:sp>
        <p:nvSpPr>
          <p:cNvPr id="54" name="Rectangle 53">
            <a:extLst>
              <a:ext uri="{FF2B5EF4-FFF2-40B4-BE49-F238E27FC236}">
                <a16:creationId xmlns:a16="http://schemas.microsoft.com/office/drawing/2014/main" id="{C76D7ADA-9981-ED46-95D1-D4EC57848164}"/>
              </a:ext>
            </a:extLst>
          </p:cNvPr>
          <p:cNvSpPr/>
          <p:nvPr/>
        </p:nvSpPr>
        <p:spPr>
          <a:xfrm>
            <a:off x="7105412" y="1707547"/>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旧数据</a:t>
            </a:r>
            <a:br>
              <a:rPr lang="en-US" altLang="zh-CN" sz="1100" dirty="0"/>
            </a:br>
            <a:r>
              <a:rPr lang="zh-CN" altLang="en-US" sz="1100" dirty="0"/>
              <a:t> </a:t>
            </a:r>
            <a:endParaRPr lang="en-CN" sz="1100" dirty="0"/>
          </a:p>
        </p:txBody>
      </p:sp>
      <p:sp>
        <p:nvSpPr>
          <p:cNvPr id="55" name="Rectangle 54">
            <a:extLst>
              <a:ext uri="{FF2B5EF4-FFF2-40B4-BE49-F238E27FC236}">
                <a16:creationId xmlns:a16="http://schemas.microsoft.com/office/drawing/2014/main" id="{E7C72BC8-806D-5245-8507-56DE1C84E700}"/>
              </a:ext>
            </a:extLst>
          </p:cNvPr>
          <p:cNvSpPr/>
          <p:nvPr/>
        </p:nvSpPr>
        <p:spPr>
          <a:xfrm>
            <a:off x="7105412" y="1958487"/>
            <a:ext cx="648120" cy="250941"/>
          </a:xfrm>
          <a:prstGeom prst="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100" dirty="0">
                <a:solidFill>
                  <a:srgbClr val="C00000"/>
                </a:solidFill>
              </a:rPr>
              <a:t>新数据</a:t>
            </a:r>
            <a:endParaRPr lang="en-CN" sz="1100" dirty="0">
              <a:solidFill>
                <a:srgbClr val="C00000"/>
              </a:solidFill>
            </a:endParaRPr>
          </a:p>
        </p:txBody>
      </p:sp>
      <p:cxnSp>
        <p:nvCxnSpPr>
          <p:cNvPr id="56" name="Curved Connector 55">
            <a:extLst>
              <a:ext uri="{FF2B5EF4-FFF2-40B4-BE49-F238E27FC236}">
                <a16:creationId xmlns:a16="http://schemas.microsoft.com/office/drawing/2014/main" id="{D1F570E6-6575-4640-9B23-E8829A27D8F8}"/>
              </a:ext>
            </a:extLst>
          </p:cNvPr>
          <p:cNvCxnSpPr>
            <a:cxnSpLocks/>
            <a:stCxn id="45" idx="3"/>
            <a:endCxn id="52" idx="1"/>
          </p:cNvCxnSpPr>
          <p:nvPr/>
        </p:nvCxnSpPr>
        <p:spPr>
          <a:xfrm>
            <a:off x="6877260" y="3813563"/>
            <a:ext cx="548982" cy="654789"/>
          </a:xfrm>
          <a:prstGeom prst="curvedConnector3">
            <a:avLst>
              <a:gd name="adj1" fmla="val 50000"/>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9" name="Curved Connector 58">
            <a:extLst>
              <a:ext uri="{FF2B5EF4-FFF2-40B4-BE49-F238E27FC236}">
                <a16:creationId xmlns:a16="http://schemas.microsoft.com/office/drawing/2014/main" id="{06EB2E4B-488B-544C-A72D-6985076DA8C0}"/>
              </a:ext>
            </a:extLst>
          </p:cNvPr>
          <p:cNvCxnSpPr>
            <a:cxnSpLocks/>
            <a:stCxn id="10" idx="3"/>
            <a:endCxn id="45" idx="1"/>
          </p:cNvCxnSpPr>
          <p:nvPr/>
        </p:nvCxnSpPr>
        <p:spPr>
          <a:xfrm>
            <a:off x="5627315" y="1819001"/>
            <a:ext cx="601825" cy="1994562"/>
          </a:xfrm>
          <a:prstGeom prst="curvedConnector3">
            <a:avLst>
              <a:gd name="adj1" fmla="val 50000"/>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2" name="Curved Connector 61">
            <a:extLst>
              <a:ext uri="{FF2B5EF4-FFF2-40B4-BE49-F238E27FC236}">
                <a16:creationId xmlns:a16="http://schemas.microsoft.com/office/drawing/2014/main" id="{0164AEC2-23DE-704A-8FF7-9797C9A448CA}"/>
              </a:ext>
            </a:extLst>
          </p:cNvPr>
          <p:cNvCxnSpPr>
            <a:cxnSpLocks/>
            <a:stCxn id="9" idx="3"/>
            <a:endCxn id="54" idx="1"/>
          </p:cNvCxnSpPr>
          <p:nvPr/>
        </p:nvCxnSpPr>
        <p:spPr>
          <a:xfrm>
            <a:off x="5627315" y="1640233"/>
            <a:ext cx="1478097" cy="318255"/>
          </a:xfrm>
          <a:prstGeom prst="curvedConnector3">
            <a:avLst>
              <a:gd name="adj1" fmla="val 21177"/>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76129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Content Placeholder 2">
            <a:extLst>
              <a:ext uri="{FF2B5EF4-FFF2-40B4-BE49-F238E27FC236}">
                <a16:creationId xmlns:a16="http://schemas.microsoft.com/office/drawing/2014/main" id="{A1023471-3D10-6541-A554-04865CC9FF50}"/>
              </a:ext>
            </a:extLst>
          </p:cNvPr>
          <p:cNvSpPr>
            <a:spLocks noGrp="1"/>
          </p:cNvSpPr>
          <p:nvPr>
            <p:ph idx="1"/>
          </p:nvPr>
        </p:nvSpPr>
        <p:spPr>
          <a:xfrm>
            <a:off x="457200" y="1333501"/>
            <a:ext cx="8229600" cy="3771636"/>
          </a:xfrm>
        </p:spPr>
        <p:txBody>
          <a:bodyPr/>
          <a:lstStyle/>
          <a:p>
            <a:r>
              <a:rPr lang="zh-CN" altLang="en-US" sz="2000" b="0" dirty="0"/>
              <a:t>文件数据散落在多个数据块内</a:t>
            </a:r>
            <a:endParaRPr lang="en-US" altLang="zh-CN" sz="2000" b="0" dirty="0"/>
          </a:p>
          <a:p>
            <a:r>
              <a:rPr lang="zh-CN" altLang="en-US" sz="2000" b="0" dirty="0"/>
              <a:t>使用日志：数据需要写两遍</a:t>
            </a:r>
            <a:endParaRPr lang="en-US" altLang="zh-CN" sz="2000" b="0" dirty="0"/>
          </a:p>
          <a:p>
            <a:r>
              <a:rPr lang="zh-CN" altLang="en-US" sz="2000" b="0" dirty="0"/>
              <a:t>写时复制保证多个数据块原子更新</a:t>
            </a:r>
            <a:endParaRPr lang="en-US" altLang="zh-CN" sz="2000" b="0" dirty="0"/>
          </a:p>
          <a:p>
            <a:pPr lvl="1"/>
            <a:r>
              <a:rPr lang="zh-CN" altLang="en-US" sz="1600" dirty="0"/>
              <a:t>将要修改的数据块进行复制（分配新的块）</a:t>
            </a:r>
            <a:endParaRPr lang="en-US" altLang="zh-CN" sz="1600" b="0" dirty="0"/>
          </a:p>
          <a:p>
            <a:pPr lvl="1"/>
            <a:r>
              <a:rPr lang="zh-CN" altLang="en-US" sz="1600" b="0" dirty="0"/>
              <a:t>在新的数据块上修改数据</a:t>
            </a:r>
            <a:endParaRPr lang="en-US" altLang="zh-CN" sz="1600" b="0" dirty="0"/>
          </a:p>
          <a:p>
            <a:pPr lvl="1"/>
            <a:r>
              <a:rPr lang="zh-CN" altLang="en-US" sz="1600" dirty="0"/>
              <a:t>向上递归复制和修改，直到所有修改能原子完成</a:t>
            </a:r>
            <a:endParaRPr lang="en-US" altLang="zh-CN" sz="1600" dirty="0"/>
          </a:p>
          <a:p>
            <a:pPr lvl="1"/>
            <a:r>
              <a:rPr lang="zh-CN" altLang="en-US" sz="1600" b="0" dirty="0"/>
              <a:t>进行原子修改</a:t>
            </a:r>
            <a:endParaRPr lang="en-US" altLang="zh-CN" sz="1600" b="0" dirty="0"/>
          </a:p>
          <a:p>
            <a:pPr lvl="1"/>
            <a:r>
              <a:rPr lang="zh-CN" altLang="en-US" sz="1600" dirty="0"/>
              <a:t>回收资源</a:t>
            </a:r>
            <a:endParaRPr lang="en-US" altLang="zh-CN" sz="1600" b="0" dirty="0"/>
          </a:p>
          <a:p>
            <a:endParaRPr lang="en-CN" dirty="0"/>
          </a:p>
        </p:txBody>
      </p:sp>
      <p:sp>
        <p:nvSpPr>
          <p:cNvPr id="2" name="Title 1">
            <a:extLst>
              <a:ext uri="{FF2B5EF4-FFF2-40B4-BE49-F238E27FC236}">
                <a16:creationId xmlns:a16="http://schemas.microsoft.com/office/drawing/2014/main" id="{9B4054E4-E7A4-904C-B002-86D528827D55}"/>
              </a:ext>
            </a:extLst>
          </p:cNvPr>
          <p:cNvSpPr>
            <a:spLocks noGrp="1"/>
          </p:cNvSpPr>
          <p:nvPr>
            <p:ph type="title"/>
          </p:nvPr>
        </p:nvSpPr>
        <p:spPr/>
        <p:txBody>
          <a:bodyPr/>
          <a:lstStyle/>
          <a:p>
            <a:r>
              <a:rPr lang="zh-CN" altLang="en-US" dirty="0"/>
              <a:t>文件中的写时复制</a:t>
            </a:r>
            <a:endParaRPr lang="en-CN" dirty="0"/>
          </a:p>
        </p:txBody>
      </p:sp>
      <p:sp>
        <p:nvSpPr>
          <p:cNvPr id="4" name="Slide Number Placeholder 3">
            <a:extLst>
              <a:ext uri="{FF2B5EF4-FFF2-40B4-BE49-F238E27FC236}">
                <a16:creationId xmlns:a16="http://schemas.microsoft.com/office/drawing/2014/main" id="{071EE6C2-0229-4149-9783-351571E23A23}"/>
              </a:ext>
            </a:extLst>
          </p:cNvPr>
          <p:cNvSpPr>
            <a:spLocks noGrp="1"/>
          </p:cNvSpPr>
          <p:nvPr>
            <p:ph type="sldNum" sz="quarter" idx="12"/>
          </p:nvPr>
        </p:nvSpPr>
        <p:spPr/>
        <p:txBody>
          <a:bodyPr/>
          <a:lstStyle/>
          <a:p>
            <a:fld id="{ADE361C3-C043-4A6E-BDCE-8DA1E7D90A3B}" type="slidenum">
              <a:rPr lang="zh-CN" altLang="en-US" smtClean="0"/>
              <a:t>47</a:t>
            </a:fld>
            <a:endParaRPr lang="zh-CN" altLang="en-US"/>
          </a:p>
        </p:txBody>
      </p:sp>
      <p:sp>
        <p:nvSpPr>
          <p:cNvPr id="5" name="Footer Placeholder 4">
            <a:extLst>
              <a:ext uri="{FF2B5EF4-FFF2-40B4-BE49-F238E27FC236}">
                <a16:creationId xmlns:a16="http://schemas.microsoft.com/office/drawing/2014/main" id="{FCF97BEF-A225-3244-9CFA-67E6C470D5DF}"/>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Rectangle 5">
            <a:extLst>
              <a:ext uri="{FF2B5EF4-FFF2-40B4-BE49-F238E27FC236}">
                <a16:creationId xmlns:a16="http://schemas.microsoft.com/office/drawing/2014/main" id="{9EE2CBF6-E6BC-6141-B00F-8DED24049A09}"/>
              </a:ext>
            </a:extLst>
          </p:cNvPr>
          <p:cNvSpPr/>
          <p:nvPr/>
        </p:nvSpPr>
        <p:spPr>
          <a:xfrm>
            <a:off x="4979195" y="494285"/>
            <a:ext cx="648120" cy="7020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常用</a:t>
            </a:r>
            <a:r>
              <a:rPr lang="zh-CN" altLang="en-US" sz="1100" dirty="0"/>
              <a:t>元数据</a:t>
            </a:r>
            <a:endParaRPr lang="en-CN" sz="1100" dirty="0"/>
          </a:p>
        </p:txBody>
      </p:sp>
      <p:sp>
        <p:nvSpPr>
          <p:cNvPr id="7" name="Rectangle 6">
            <a:extLst>
              <a:ext uri="{FF2B5EF4-FFF2-40B4-BE49-F238E27FC236}">
                <a16:creationId xmlns:a16="http://schemas.microsoft.com/office/drawing/2014/main" id="{5C3C2BBB-4392-F541-9FDA-AC9EE4F39AD2}"/>
              </a:ext>
            </a:extLst>
          </p:cNvPr>
          <p:cNvSpPr/>
          <p:nvPr/>
        </p:nvSpPr>
        <p:spPr>
          <a:xfrm>
            <a:off x="4979195" y="1196305"/>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第</a:t>
            </a:r>
            <a:r>
              <a:rPr lang="en-US" altLang="zh-CN" sz="1100" dirty="0"/>
              <a:t>7</a:t>
            </a:r>
            <a:r>
              <a:rPr lang="zh-CN" altLang="en-US" sz="1100" dirty="0"/>
              <a:t>块</a:t>
            </a:r>
            <a:endParaRPr lang="en-CN" sz="1100" dirty="0"/>
          </a:p>
        </p:txBody>
      </p:sp>
      <p:sp>
        <p:nvSpPr>
          <p:cNvPr id="8" name="Rectangle 7">
            <a:extLst>
              <a:ext uri="{FF2B5EF4-FFF2-40B4-BE49-F238E27FC236}">
                <a16:creationId xmlns:a16="http://schemas.microsoft.com/office/drawing/2014/main" id="{3CD74C78-A76E-7243-AFDE-C942653C0D3E}"/>
              </a:ext>
            </a:extLst>
          </p:cNvPr>
          <p:cNvSpPr/>
          <p:nvPr/>
        </p:nvSpPr>
        <p:spPr>
          <a:xfrm>
            <a:off x="4979195" y="1373876"/>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8</a:t>
            </a:r>
            <a:r>
              <a:rPr lang="zh-CN" altLang="en-US" sz="1100" dirty="0"/>
              <a:t>块</a:t>
            </a:r>
            <a:endParaRPr lang="en-CN" sz="1100" dirty="0"/>
          </a:p>
        </p:txBody>
      </p:sp>
      <p:sp>
        <p:nvSpPr>
          <p:cNvPr id="9" name="Rectangle 8">
            <a:extLst>
              <a:ext uri="{FF2B5EF4-FFF2-40B4-BE49-F238E27FC236}">
                <a16:creationId xmlns:a16="http://schemas.microsoft.com/office/drawing/2014/main" id="{81782BBF-E469-DE43-92D3-FACAF99B4DBF}"/>
              </a:ext>
            </a:extLst>
          </p:cNvPr>
          <p:cNvSpPr/>
          <p:nvPr/>
        </p:nvSpPr>
        <p:spPr>
          <a:xfrm>
            <a:off x="4979195" y="1551447"/>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solidFill>
                  <a:srgbClr val="C00000"/>
                </a:solidFill>
              </a:rPr>
              <a:t>第</a:t>
            </a:r>
            <a:r>
              <a:rPr lang="en-US" altLang="zh-CN" sz="1100" dirty="0">
                <a:solidFill>
                  <a:srgbClr val="C00000"/>
                </a:solidFill>
              </a:rPr>
              <a:t>33</a:t>
            </a:r>
            <a:r>
              <a:rPr lang="zh-CN" altLang="en-US" sz="1100" dirty="0">
                <a:solidFill>
                  <a:srgbClr val="C00000"/>
                </a:solidFill>
              </a:rPr>
              <a:t>块</a:t>
            </a:r>
            <a:endParaRPr lang="en-CN" sz="1100" dirty="0">
              <a:solidFill>
                <a:srgbClr val="C00000"/>
              </a:solidFill>
            </a:endParaRPr>
          </a:p>
        </p:txBody>
      </p:sp>
      <p:sp>
        <p:nvSpPr>
          <p:cNvPr id="10" name="Rectangle 9">
            <a:extLst>
              <a:ext uri="{FF2B5EF4-FFF2-40B4-BE49-F238E27FC236}">
                <a16:creationId xmlns:a16="http://schemas.microsoft.com/office/drawing/2014/main" id="{1FF9E79E-2937-2C42-86EE-7D279F7DE257}"/>
              </a:ext>
            </a:extLst>
          </p:cNvPr>
          <p:cNvSpPr/>
          <p:nvPr/>
        </p:nvSpPr>
        <p:spPr>
          <a:xfrm>
            <a:off x="4979195" y="1730215"/>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solidFill>
                  <a:srgbClr val="C00000"/>
                </a:solidFill>
              </a:rPr>
              <a:t>第</a:t>
            </a:r>
            <a:r>
              <a:rPr lang="en-US" altLang="zh-CN" sz="1100" dirty="0">
                <a:solidFill>
                  <a:srgbClr val="C00000"/>
                </a:solidFill>
              </a:rPr>
              <a:t>37</a:t>
            </a:r>
            <a:r>
              <a:rPr lang="zh-CN" altLang="en-US" sz="1100" dirty="0">
                <a:solidFill>
                  <a:srgbClr val="C00000"/>
                </a:solidFill>
              </a:rPr>
              <a:t>块</a:t>
            </a:r>
            <a:endParaRPr lang="en-CN" sz="1100" dirty="0">
              <a:solidFill>
                <a:srgbClr val="C00000"/>
              </a:solidFill>
            </a:endParaRPr>
          </a:p>
        </p:txBody>
      </p:sp>
      <p:sp>
        <p:nvSpPr>
          <p:cNvPr id="11" name="Rectangle 10">
            <a:extLst>
              <a:ext uri="{FF2B5EF4-FFF2-40B4-BE49-F238E27FC236}">
                <a16:creationId xmlns:a16="http://schemas.microsoft.com/office/drawing/2014/main" id="{DCAF1580-EEC6-9F40-9840-0A0E2DFFA55C}"/>
              </a:ext>
            </a:extLst>
          </p:cNvPr>
          <p:cNvSpPr/>
          <p:nvPr/>
        </p:nvSpPr>
        <p:spPr>
          <a:xfrm>
            <a:off x="6229140" y="680362"/>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12" name="Rectangle 11">
            <a:extLst>
              <a:ext uri="{FF2B5EF4-FFF2-40B4-BE49-F238E27FC236}">
                <a16:creationId xmlns:a16="http://schemas.microsoft.com/office/drawing/2014/main" id="{FBD79DF4-3E3D-2743-B6AF-1C2FEA3A8C4B}"/>
              </a:ext>
            </a:extLst>
          </p:cNvPr>
          <p:cNvSpPr/>
          <p:nvPr/>
        </p:nvSpPr>
        <p:spPr>
          <a:xfrm>
            <a:off x="6229140" y="1363481"/>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cxnSp>
        <p:nvCxnSpPr>
          <p:cNvPr id="14" name="Curved Connector 13">
            <a:extLst>
              <a:ext uri="{FF2B5EF4-FFF2-40B4-BE49-F238E27FC236}">
                <a16:creationId xmlns:a16="http://schemas.microsoft.com/office/drawing/2014/main" id="{A00023A1-220D-864B-852B-91BDEA43416D}"/>
              </a:ext>
            </a:extLst>
          </p:cNvPr>
          <p:cNvCxnSpPr>
            <a:stCxn id="7" idx="3"/>
            <a:endCxn id="11" idx="1"/>
          </p:cNvCxnSpPr>
          <p:nvPr/>
        </p:nvCxnSpPr>
        <p:spPr>
          <a:xfrm flipV="1">
            <a:off x="5627315" y="931302"/>
            <a:ext cx="601826" cy="353789"/>
          </a:xfrm>
          <a:prstGeom prst="curved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urved Connector 14">
            <a:extLst>
              <a:ext uri="{FF2B5EF4-FFF2-40B4-BE49-F238E27FC236}">
                <a16:creationId xmlns:a16="http://schemas.microsoft.com/office/drawing/2014/main" id="{6696525D-557F-AA40-8EF2-8E68BD5775FF}"/>
              </a:ext>
            </a:extLst>
          </p:cNvPr>
          <p:cNvCxnSpPr>
            <a:cxnSpLocks/>
            <a:stCxn id="8" idx="3"/>
            <a:endCxn id="12" idx="1"/>
          </p:cNvCxnSpPr>
          <p:nvPr/>
        </p:nvCxnSpPr>
        <p:spPr>
          <a:xfrm>
            <a:off x="5627315" y="1462662"/>
            <a:ext cx="601826" cy="151760"/>
          </a:xfrm>
          <a:prstGeom prst="curved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BC3AC2BE-8313-BE41-8D6B-3E76EF6EA2D6}"/>
              </a:ext>
            </a:extLst>
          </p:cNvPr>
          <p:cNvSpPr txBox="1"/>
          <p:nvPr/>
        </p:nvSpPr>
        <p:spPr>
          <a:xfrm>
            <a:off x="6076146" y="3280507"/>
            <a:ext cx="954107" cy="276999"/>
          </a:xfrm>
          <a:prstGeom prst="rect">
            <a:avLst/>
          </a:prstGeom>
          <a:noFill/>
        </p:spPr>
        <p:txBody>
          <a:bodyPr wrap="none" rtlCol="0">
            <a:spAutoFit/>
          </a:bodyPr>
          <a:lstStyle/>
          <a:p>
            <a:r>
              <a:rPr lang="zh-CN" altLang="en-US" sz="1200" dirty="0"/>
              <a:t>间接索引块</a:t>
            </a:r>
            <a:endParaRPr lang="en-CN" sz="1200" dirty="0"/>
          </a:p>
        </p:txBody>
      </p:sp>
      <p:sp>
        <p:nvSpPr>
          <p:cNvPr id="45" name="Rectangle 44">
            <a:extLst>
              <a:ext uri="{FF2B5EF4-FFF2-40B4-BE49-F238E27FC236}">
                <a16:creationId xmlns:a16="http://schemas.microsoft.com/office/drawing/2014/main" id="{484C37ED-0B4A-1C44-A3E0-8A5CC07A1452}"/>
              </a:ext>
            </a:extLst>
          </p:cNvPr>
          <p:cNvSpPr/>
          <p:nvPr/>
        </p:nvSpPr>
        <p:spPr>
          <a:xfrm>
            <a:off x="6229140" y="3724777"/>
            <a:ext cx="648120" cy="177571"/>
          </a:xfrm>
          <a:prstGeom prst="rect">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第</a:t>
            </a:r>
            <a:r>
              <a:rPr lang="en-US" altLang="zh-CN" sz="1100" dirty="0"/>
              <a:t>34</a:t>
            </a:r>
            <a:r>
              <a:rPr lang="zh-CN" altLang="en-US" sz="1100" dirty="0"/>
              <a:t>块</a:t>
            </a:r>
            <a:endParaRPr lang="en-CN" sz="1100" dirty="0"/>
          </a:p>
        </p:txBody>
      </p:sp>
      <p:sp>
        <p:nvSpPr>
          <p:cNvPr id="46" name="Rectangle 45">
            <a:extLst>
              <a:ext uri="{FF2B5EF4-FFF2-40B4-BE49-F238E27FC236}">
                <a16:creationId xmlns:a16="http://schemas.microsoft.com/office/drawing/2014/main" id="{0EBF7FBF-856F-F443-97A8-CB0ABC7B4D5E}"/>
              </a:ext>
            </a:extLst>
          </p:cNvPr>
          <p:cNvSpPr/>
          <p:nvPr/>
        </p:nvSpPr>
        <p:spPr>
          <a:xfrm>
            <a:off x="6229140" y="3902348"/>
            <a:ext cx="648120" cy="177571"/>
          </a:xfrm>
          <a:prstGeom prst="rect">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35</a:t>
            </a:r>
            <a:r>
              <a:rPr lang="zh-CN" altLang="en-US" sz="1100" dirty="0"/>
              <a:t>块</a:t>
            </a:r>
            <a:endParaRPr lang="en-CN" sz="1100" dirty="0"/>
          </a:p>
        </p:txBody>
      </p:sp>
      <p:sp>
        <p:nvSpPr>
          <p:cNvPr id="47" name="Rectangle 46">
            <a:extLst>
              <a:ext uri="{FF2B5EF4-FFF2-40B4-BE49-F238E27FC236}">
                <a16:creationId xmlns:a16="http://schemas.microsoft.com/office/drawing/2014/main" id="{5F786334-524A-B741-A049-92DE88AAF388}"/>
              </a:ext>
            </a:extLst>
          </p:cNvPr>
          <p:cNvSpPr/>
          <p:nvPr/>
        </p:nvSpPr>
        <p:spPr>
          <a:xfrm>
            <a:off x="6229140" y="4081636"/>
            <a:ext cx="648120" cy="177571"/>
          </a:xfrm>
          <a:prstGeom prst="rect">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32</a:t>
            </a:r>
            <a:r>
              <a:rPr lang="zh-CN" altLang="en-US" sz="1100" dirty="0"/>
              <a:t>块</a:t>
            </a:r>
            <a:endParaRPr lang="en-CN" sz="1100" dirty="0"/>
          </a:p>
        </p:txBody>
      </p:sp>
      <p:cxnSp>
        <p:nvCxnSpPr>
          <p:cNvPr id="48" name="Curved Connector 47">
            <a:extLst>
              <a:ext uri="{FF2B5EF4-FFF2-40B4-BE49-F238E27FC236}">
                <a16:creationId xmlns:a16="http://schemas.microsoft.com/office/drawing/2014/main" id="{42F959E5-7ADA-C449-A347-634AAB13F200}"/>
              </a:ext>
            </a:extLst>
          </p:cNvPr>
          <p:cNvCxnSpPr>
            <a:cxnSpLocks/>
            <a:stCxn id="47" idx="3"/>
          </p:cNvCxnSpPr>
          <p:nvPr/>
        </p:nvCxnSpPr>
        <p:spPr>
          <a:xfrm flipV="1">
            <a:off x="6877260" y="3745277"/>
            <a:ext cx="548982" cy="425145"/>
          </a:xfrm>
          <a:prstGeom prst="curvedConnector3">
            <a:avLst>
              <a:gd name="adj1" fmla="val 50000"/>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9" name="Curved Connector 48">
            <a:extLst>
              <a:ext uri="{FF2B5EF4-FFF2-40B4-BE49-F238E27FC236}">
                <a16:creationId xmlns:a16="http://schemas.microsoft.com/office/drawing/2014/main" id="{2E23D2FB-5182-AC48-9477-49A9926CB5A6}"/>
              </a:ext>
            </a:extLst>
          </p:cNvPr>
          <p:cNvCxnSpPr>
            <a:cxnSpLocks/>
            <a:stCxn id="46" idx="3"/>
            <a:endCxn id="51" idx="1"/>
          </p:cNvCxnSpPr>
          <p:nvPr/>
        </p:nvCxnSpPr>
        <p:spPr>
          <a:xfrm>
            <a:off x="6877260" y="3991134"/>
            <a:ext cx="548982" cy="1113064"/>
          </a:xfrm>
          <a:prstGeom prst="curvedConnector3">
            <a:avLst>
              <a:gd name="adj1" fmla="val 50000"/>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2A3407F0-CC20-7F40-A758-F5C099FF25D8}"/>
              </a:ext>
            </a:extLst>
          </p:cNvPr>
          <p:cNvSpPr/>
          <p:nvPr/>
        </p:nvSpPr>
        <p:spPr>
          <a:xfrm>
            <a:off x="7426242" y="4853257"/>
            <a:ext cx="648120" cy="501881"/>
          </a:xfrm>
          <a:prstGeom prst="rect">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ltLang="zh-CN" sz="1100" dirty="0"/>
          </a:p>
          <a:p>
            <a:pPr algn="ctr"/>
            <a:r>
              <a:rPr lang="zh-CN" altLang="en-US" sz="1100" dirty="0"/>
              <a:t>旧</a:t>
            </a:r>
            <a:r>
              <a:rPr lang="zh-CN" altLang="en-CN" sz="1100" dirty="0"/>
              <a:t>数据</a:t>
            </a:r>
            <a:endParaRPr lang="en-CN" sz="1100" dirty="0"/>
          </a:p>
        </p:txBody>
      </p:sp>
      <p:sp>
        <p:nvSpPr>
          <p:cNvPr id="52" name="Rectangle 51">
            <a:extLst>
              <a:ext uri="{FF2B5EF4-FFF2-40B4-BE49-F238E27FC236}">
                <a16:creationId xmlns:a16="http://schemas.microsoft.com/office/drawing/2014/main" id="{EC8949C4-81FD-524C-932A-192B95E5B412}"/>
              </a:ext>
            </a:extLst>
          </p:cNvPr>
          <p:cNvSpPr/>
          <p:nvPr/>
        </p:nvSpPr>
        <p:spPr>
          <a:xfrm>
            <a:off x="7426242" y="4211873"/>
            <a:ext cx="648120" cy="512957"/>
          </a:xfrm>
          <a:prstGeom prst="rect">
            <a:avLst/>
          </a:prstGeom>
          <a:solidFill>
            <a:schemeClr val="accent1">
              <a:alpha val="32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100" dirty="0">
                <a:solidFill>
                  <a:srgbClr val="C00000"/>
                </a:solidFill>
              </a:rPr>
              <a:t>新数据</a:t>
            </a:r>
            <a:endParaRPr lang="en-CN" sz="1100" dirty="0">
              <a:solidFill>
                <a:srgbClr val="C00000"/>
              </a:solidFill>
            </a:endParaRPr>
          </a:p>
        </p:txBody>
      </p:sp>
      <p:sp>
        <p:nvSpPr>
          <p:cNvPr id="53" name="Rectangle 52">
            <a:extLst>
              <a:ext uri="{FF2B5EF4-FFF2-40B4-BE49-F238E27FC236}">
                <a16:creationId xmlns:a16="http://schemas.microsoft.com/office/drawing/2014/main" id="{730D9857-E395-C342-8BEB-163F5C114441}"/>
              </a:ext>
            </a:extLst>
          </p:cNvPr>
          <p:cNvSpPr/>
          <p:nvPr/>
        </p:nvSpPr>
        <p:spPr>
          <a:xfrm>
            <a:off x="7426242" y="4849260"/>
            <a:ext cx="648120" cy="250941"/>
          </a:xfrm>
          <a:prstGeom prst="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100" dirty="0">
                <a:solidFill>
                  <a:srgbClr val="C00000"/>
                </a:solidFill>
              </a:rPr>
              <a:t>新数据</a:t>
            </a:r>
            <a:endParaRPr lang="en-CN" sz="1100" dirty="0">
              <a:solidFill>
                <a:srgbClr val="C00000"/>
              </a:solidFill>
            </a:endParaRPr>
          </a:p>
        </p:txBody>
      </p:sp>
      <p:sp>
        <p:nvSpPr>
          <p:cNvPr id="54" name="Rectangle 53">
            <a:extLst>
              <a:ext uri="{FF2B5EF4-FFF2-40B4-BE49-F238E27FC236}">
                <a16:creationId xmlns:a16="http://schemas.microsoft.com/office/drawing/2014/main" id="{C76D7ADA-9981-ED46-95D1-D4EC57848164}"/>
              </a:ext>
            </a:extLst>
          </p:cNvPr>
          <p:cNvSpPr/>
          <p:nvPr/>
        </p:nvSpPr>
        <p:spPr>
          <a:xfrm>
            <a:off x="7105412" y="1707547"/>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旧数据</a:t>
            </a:r>
            <a:br>
              <a:rPr lang="en-US" altLang="zh-CN" sz="1100" dirty="0"/>
            </a:br>
            <a:r>
              <a:rPr lang="zh-CN" altLang="en-US" sz="1100" dirty="0"/>
              <a:t> </a:t>
            </a:r>
            <a:endParaRPr lang="en-CN" sz="1100" dirty="0"/>
          </a:p>
        </p:txBody>
      </p:sp>
      <p:sp>
        <p:nvSpPr>
          <p:cNvPr id="55" name="Rectangle 54">
            <a:extLst>
              <a:ext uri="{FF2B5EF4-FFF2-40B4-BE49-F238E27FC236}">
                <a16:creationId xmlns:a16="http://schemas.microsoft.com/office/drawing/2014/main" id="{E7C72BC8-806D-5245-8507-56DE1C84E700}"/>
              </a:ext>
            </a:extLst>
          </p:cNvPr>
          <p:cNvSpPr/>
          <p:nvPr/>
        </p:nvSpPr>
        <p:spPr>
          <a:xfrm>
            <a:off x="7105412" y="1958487"/>
            <a:ext cx="648120" cy="250941"/>
          </a:xfrm>
          <a:prstGeom prst="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100" dirty="0">
                <a:solidFill>
                  <a:srgbClr val="C00000"/>
                </a:solidFill>
              </a:rPr>
              <a:t>新数据</a:t>
            </a:r>
            <a:endParaRPr lang="en-CN" sz="1100" dirty="0">
              <a:solidFill>
                <a:srgbClr val="C00000"/>
              </a:solidFill>
            </a:endParaRPr>
          </a:p>
        </p:txBody>
      </p:sp>
      <p:cxnSp>
        <p:nvCxnSpPr>
          <p:cNvPr id="56" name="Curved Connector 55">
            <a:extLst>
              <a:ext uri="{FF2B5EF4-FFF2-40B4-BE49-F238E27FC236}">
                <a16:creationId xmlns:a16="http://schemas.microsoft.com/office/drawing/2014/main" id="{D1F570E6-6575-4640-9B23-E8829A27D8F8}"/>
              </a:ext>
            </a:extLst>
          </p:cNvPr>
          <p:cNvCxnSpPr>
            <a:cxnSpLocks/>
            <a:stCxn id="45" idx="3"/>
            <a:endCxn id="52" idx="1"/>
          </p:cNvCxnSpPr>
          <p:nvPr/>
        </p:nvCxnSpPr>
        <p:spPr>
          <a:xfrm>
            <a:off x="6877260" y="3813563"/>
            <a:ext cx="548982" cy="654789"/>
          </a:xfrm>
          <a:prstGeom prst="curvedConnector3">
            <a:avLst>
              <a:gd name="adj1" fmla="val 50000"/>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9" name="Curved Connector 58">
            <a:extLst>
              <a:ext uri="{FF2B5EF4-FFF2-40B4-BE49-F238E27FC236}">
                <a16:creationId xmlns:a16="http://schemas.microsoft.com/office/drawing/2014/main" id="{06EB2E4B-488B-544C-A72D-6985076DA8C0}"/>
              </a:ext>
            </a:extLst>
          </p:cNvPr>
          <p:cNvCxnSpPr>
            <a:cxnSpLocks/>
            <a:stCxn id="10" idx="3"/>
            <a:endCxn id="45" idx="1"/>
          </p:cNvCxnSpPr>
          <p:nvPr/>
        </p:nvCxnSpPr>
        <p:spPr>
          <a:xfrm>
            <a:off x="5627315" y="1819001"/>
            <a:ext cx="601825" cy="1994562"/>
          </a:xfrm>
          <a:prstGeom prst="curvedConnector3">
            <a:avLst>
              <a:gd name="adj1" fmla="val 50000"/>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2" name="Curved Connector 61">
            <a:extLst>
              <a:ext uri="{FF2B5EF4-FFF2-40B4-BE49-F238E27FC236}">
                <a16:creationId xmlns:a16="http://schemas.microsoft.com/office/drawing/2014/main" id="{0164AEC2-23DE-704A-8FF7-9797C9A448CA}"/>
              </a:ext>
            </a:extLst>
          </p:cNvPr>
          <p:cNvCxnSpPr>
            <a:cxnSpLocks/>
            <a:stCxn id="9" idx="3"/>
            <a:endCxn id="54" idx="1"/>
          </p:cNvCxnSpPr>
          <p:nvPr/>
        </p:nvCxnSpPr>
        <p:spPr>
          <a:xfrm>
            <a:off x="5627315" y="1640233"/>
            <a:ext cx="1478097" cy="318255"/>
          </a:xfrm>
          <a:prstGeom prst="curvedConnector3">
            <a:avLst>
              <a:gd name="adj1" fmla="val 21177"/>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F9313D75-96F2-2C4C-93C2-3CF48D71CA18}"/>
              </a:ext>
            </a:extLst>
          </p:cNvPr>
          <p:cNvSpPr/>
          <p:nvPr/>
        </p:nvSpPr>
        <p:spPr>
          <a:xfrm>
            <a:off x="7426242" y="3494336"/>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Tree>
    <p:extLst>
      <p:ext uri="{BB962C8B-B14F-4D97-AF65-F5344CB8AC3E}">
        <p14:creationId xmlns:p14="http://schemas.microsoft.com/office/powerpoint/2010/main" val="1440750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F4CE4-2211-974C-853B-3D1A91E94262}"/>
              </a:ext>
            </a:extLst>
          </p:cNvPr>
          <p:cNvSpPr>
            <a:spLocks noGrp="1"/>
          </p:cNvSpPr>
          <p:nvPr>
            <p:ph type="title"/>
          </p:nvPr>
        </p:nvSpPr>
        <p:spPr/>
        <p:txBody>
          <a:bodyPr/>
          <a:lstStyle/>
          <a:p>
            <a:r>
              <a:rPr lang="zh-CN" altLang="en-CN" dirty="0"/>
              <a:t>思考时间</a:t>
            </a:r>
            <a:endParaRPr lang="en-CN" dirty="0"/>
          </a:p>
        </p:txBody>
      </p:sp>
      <p:sp>
        <p:nvSpPr>
          <p:cNvPr id="3" name="Content Placeholder 2">
            <a:extLst>
              <a:ext uri="{FF2B5EF4-FFF2-40B4-BE49-F238E27FC236}">
                <a16:creationId xmlns:a16="http://schemas.microsoft.com/office/drawing/2014/main" id="{6505C944-7BD7-5A4F-86E5-50BBFECE2827}"/>
              </a:ext>
            </a:extLst>
          </p:cNvPr>
          <p:cNvSpPr>
            <a:spLocks noGrp="1"/>
          </p:cNvSpPr>
          <p:nvPr>
            <p:ph idx="1"/>
          </p:nvPr>
        </p:nvSpPr>
        <p:spPr/>
        <p:txBody>
          <a:bodyPr/>
          <a:lstStyle/>
          <a:p>
            <a:r>
              <a:rPr lang="zh-CN" altLang="en-US" b="0" dirty="0"/>
              <a:t>对于文件的修改，写时复制一定比日志更高效吗？</a:t>
            </a:r>
            <a:endParaRPr lang="en-US" altLang="zh-CN" b="0" dirty="0"/>
          </a:p>
          <a:p>
            <a:r>
              <a:rPr lang="zh-CN" altLang="en-US" b="0" dirty="0"/>
              <a:t>写时复制和日志各自的优缺点有哪些？</a:t>
            </a:r>
            <a:endParaRPr lang="en-US" altLang="zh-CN" b="0" dirty="0"/>
          </a:p>
          <a:p>
            <a:r>
              <a:rPr lang="zh-CN" altLang="en-US" b="0" dirty="0"/>
              <a:t>能否只用写时复制来实现一个文件系统？</a:t>
            </a:r>
            <a:endParaRPr lang="en-CN" b="0" dirty="0"/>
          </a:p>
        </p:txBody>
      </p:sp>
      <p:sp>
        <p:nvSpPr>
          <p:cNvPr id="4" name="Slide Number Placeholder 3">
            <a:extLst>
              <a:ext uri="{FF2B5EF4-FFF2-40B4-BE49-F238E27FC236}">
                <a16:creationId xmlns:a16="http://schemas.microsoft.com/office/drawing/2014/main" id="{F3999295-927D-5C4E-8B99-981D70DEE16A}"/>
              </a:ext>
            </a:extLst>
          </p:cNvPr>
          <p:cNvSpPr>
            <a:spLocks noGrp="1"/>
          </p:cNvSpPr>
          <p:nvPr>
            <p:ph type="sldNum" sz="quarter" idx="12"/>
          </p:nvPr>
        </p:nvSpPr>
        <p:spPr/>
        <p:txBody>
          <a:bodyPr/>
          <a:lstStyle/>
          <a:p>
            <a:fld id="{ADE361C3-C043-4A6E-BDCE-8DA1E7D90A3B}" type="slidenum">
              <a:rPr lang="zh-CN" altLang="en-US" smtClean="0"/>
              <a:t>48</a:t>
            </a:fld>
            <a:endParaRPr lang="zh-CN" altLang="en-US"/>
          </a:p>
        </p:txBody>
      </p:sp>
      <p:sp>
        <p:nvSpPr>
          <p:cNvPr id="5" name="Footer Placeholder 4">
            <a:extLst>
              <a:ext uri="{FF2B5EF4-FFF2-40B4-BE49-F238E27FC236}">
                <a16:creationId xmlns:a16="http://schemas.microsoft.com/office/drawing/2014/main" id="{D7DE1C4B-2BB2-C54A-817D-EF49AE5C4FD2}"/>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26407450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67AF0-9DA5-4C4E-A30F-1C031BCC8A5D}"/>
              </a:ext>
            </a:extLst>
          </p:cNvPr>
          <p:cNvSpPr>
            <a:spLocks noGrp="1"/>
          </p:cNvSpPr>
          <p:nvPr>
            <p:ph type="title"/>
          </p:nvPr>
        </p:nvSpPr>
        <p:spPr/>
        <p:txBody>
          <a:bodyPr>
            <a:normAutofit/>
          </a:bodyPr>
          <a:lstStyle/>
          <a:p>
            <a:r>
              <a:rPr lang="en-US" altLang="zh-CN" dirty="0"/>
              <a:t>"</a:t>
            </a:r>
            <a:r>
              <a:rPr lang="zh-CN" altLang="en-CN" dirty="0"/>
              <a:t>写</a:t>
            </a:r>
            <a:r>
              <a:rPr lang="zh-CN" altLang="en-US" dirty="0"/>
              <a:t>时复制</a:t>
            </a:r>
            <a:r>
              <a:rPr lang="en-US" altLang="zh-CN" dirty="0"/>
              <a:t>"</a:t>
            </a:r>
            <a:r>
              <a:rPr lang="zh-CN" altLang="en-US" dirty="0"/>
              <a:t>文件系统</a:t>
            </a:r>
            <a:endParaRPr lang="en-CN" dirty="0"/>
          </a:p>
        </p:txBody>
      </p:sp>
      <p:sp>
        <p:nvSpPr>
          <p:cNvPr id="3" name="Content Placeholder 2">
            <a:extLst>
              <a:ext uri="{FF2B5EF4-FFF2-40B4-BE49-F238E27FC236}">
                <a16:creationId xmlns:a16="http://schemas.microsoft.com/office/drawing/2014/main" id="{4E0D77A0-A1E5-7D45-B2C5-C419BEB872DB}"/>
              </a:ext>
            </a:extLst>
          </p:cNvPr>
          <p:cNvSpPr>
            <a:spLocks noGrp="1"/>
          </p:cNvSpPr>
          <p:nvPr>
            <p:ph idx="1"/>
          </p:nvPr>
        </p:nvSpPr>
        <p:spPr/>
        <p:txBody>
          <a:bodyPr/>
          <a:lstStyle/>
          <a:p>
            <a:r>
              <a:rPr lang="zh-CN" altLang="en-CN" b="0" dirty="0"/>
              <a:t>写</a:t>
            </a:r>
            <a:r>
              <a:rPr lang="zh-CN" altLang="en-US" b="0" dirty="0"/>
              <a:t>时复制也可用于整个文件系统</a:t>
            </a:r>
            <a:endParaRPr lang="en-US" altLang="zh-CN" b="0" dirty="0"/>
          </a:p>
          <a:p>
            <a:r>
              <a:rPr lang="en-US" altLang="zh-CN" b="0" dirty="0" err="1"/>
              <a:t>Btrfs</a:t>
            </a:r>
            <a:r>
              <a:rPr lang="zh-CN" altLang="en-US" b="0" dirty="0"/>
              <a:t> </a:t>
            </a:r>
            <a:r>
              <a:rPr lang="en-US" altLang="zh-CN" b="0" dirty="0"/>
              <a:t>(B-tree</a:t>
            </a:r>
            <a:r>
              <a:rPr lang="zh-CN" altLang="en-US" b="0" dirty="0"/>
              <a:t> </a:t>
            </a:r>
            <a:r>
              <a:rPr lang="en-US" altLang="zh-CN" b="0" dirty="0"/>
              <a:t>FS)</a:t>
            </a:r>
            <a:endParaRPr lang="en-CN" b="0" dirty="0"/>
          </a:p>
        </p:txBody>
      </p:sp>
      <p:sp>
        <p:nvSpPr>
          <p:cNvPr id="4" name="Slide Number Placeholder 3">
            <a:extLst>
              <a:ext uri="{FF2B5EF4-FFF2-40B4-BE49-F238E27FC236}">
                <a16:creationId xmlns:a16="http://schemas.microsoft.com/office/drawing/2014/main" id="{892EDF27-C93E-124A-AA3D-571F5A3102CB}"/>
              </a:ext>
            </a:extLst>
          </p:cNvPr>
          <p:cNvSpPr>
            <a:spLocks noGrp="1"/>
          </p:cNvSpPr>
          <p:nvPr>
            <p:ph type="sldNum" sz="quarter" idx="12"/>
          </p:nvPr>
        </p:nvSpPr>
        <p:spPr/>
        <p:txBody>
          <a:bodyPr/>
          <a:lstStyle/>
          <a:p>
            <a:fld id="{ADE361C3-C043-4A6E-BDCE-8DA1E7D90A3B}" type="slidenum">
              <a:rPr lang="zh-CN" altLang="en-US" smtClean="0"/>
              <a:t>49</a:t>
            </a:fld>
            <a:endParaRPr lang="zh-CN" altLang="en-US"/>
          </a:p>
        </p:txBody>
      </p:sp>
      <p:sp>
        <p:nvSpPr>
          <p:cNvPr id="5" name="Footer Placeholder 4">
            <a:extLst>
              <a:ext uri="{FF2B5EF4-FFF2-40B4-BE49-F238E27FC236}">
                <a16:creationId xmlns:a16="http://schemas.microsoft.com/office/drawing/2014/main" id="{F3AD70DD-81CA-DF4F-BACC-C37438A4925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grpSp>
        <p:nvGrpSpPr>
          <p:cNvPr id="58" name="Group 57">
            <a:extLst>
              <a:ext uri="{FF2B5EF4-FFF2-40B4-BE49-F238E27FC236}">
                <a16:creationId xmlns:a16="http://schemas.microsoft.com/office/drawing/2014/main" id="{0B2A2746-B934-2C40-842B-862B3534B3BD}"/>
              </a:ext>
            </a:extLst>
          </p:cNvPr>
          <p:cNvGrpSpPr/>
          <p:nvPr/>
        </p:nvGrpSpPr>
        <p:grpSpPr>
          <a:xfrm>
            <a:off x="971600" y="1622643"/>
            <a:ext cx="7564071" cy="3482494"/>
            <a:chOff x="608330" y="1022486"/>
            <a:chExt cx="8447266" cy="3889116"/>
          </a:xfrm>
        </p:grpSpPr>
        <p:sp>
          <p:nvSpPr>
            <p:cNvPr id="6" name="Rounded Rectangle 5">
              <a:extLst>
                <a:ext uri="{FF2B5EF4-FFF2-40B4-BE49-F238E27FC236}">
                  <a16:creationId xmlns:a16="http://schemas.microsoft.com/office/drawing/2014/main" id="{60AB696D-DD19-CA46-9927-EAA5F57392BB}"/>
                </a:ext>
              </a:extLst>
            </p:cNvPr>
            <p:cNvSpPr/>
            <p:nvPr/>
          </p:nvSpPr>
          <p:spPr>
            <a:xfrm>
              <a:off x="5832140" y="1022486"/>
              <a:ext cx="1475184" cy="57606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400" dirty="0"/>
                <a:t>超级块</a:t>
              </a:r>
              <a:endParaRPr lang="en-CN" sz="1400" dirty="0"/>
            </a:p>
          </p:txBody>
        </p:sp>
        <p:sp>
          <p:nvSpPr>
            <p:cNvPr id="7" name="Rounded Rectangle 6">
              <a:extLst>
                <a:ext uri="{FF2B5EF4-FFF2-40B4-BE49-F238E27FC236}">
                  <a16:creationId xmlns:a16="http://schemas.microsoft.com/office/drawing/2014/main" id="{0B79AAD5-DE1A-A446-B4CB-4369930F3F90}"/>
                </a:ext>
              </a:extLst>
            </p:cNvPr>
            <p:cNvSpPr/>
            <p:nvPr/>
          </p:nvSpPr>
          <p:spPr>
            <a:xfrm>
              <a:off x="3491880" y="2389448"/>
              <a:ext cx="2160240" cy="57606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400" dirty="0"/>
                <a:t>根</a:t>
              </a:r>
              <a:r>
                <a:rPr lang="zh-CN" altLang="en-US" sz="1400" dirty="0"/>
                <a:t>树</a:t>
              </a:r>
              <a:endParaRPr lang="en-CN" sz="1400" dirty="0"/>
            </a:p>
          </p:txBody>
        </p:sp>
        <p:sp>
          <p:nvSpPr>
            <p:cNvPr id="9" name="Triangle 8">
              <a:extLst>
                <a:ext uri="{FF2B5EF4-FFF2-40B4-BE49-F238E27FC236}">
                  <a16:creationId xmlns:a16="http://schemas.microsoft.com/office/drawing/2014/main" id="{5176629F-6E04-EA4E-B814-F2EF3323EF52}"/>
                </a:ext>
              </a:extLst>
            </p:cNvPr>
            <p:cNvSpPr/>
            <p:nvPr/>
          </p:nvSpPr>
          <p:spPr>
            <a:xfrm>
              <a:off x="7580412" y="2574886"/>
              <a:ext cx="1475184" cy="93610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400" dirty="0"/>
                <a:t>C</a:t>
              </a:r>
              <a:r>
                <a:rPr lang="en-CN" sz="1400" dirty="0"/>
                <a:t>hunk</a:t>
              </a:r>
              <a:r>
                <a:rPr lang="zh-CN" altLang="en-CN" sz="1400" dirty="0"/>
                <a:t>树</a:t>
              </a:r>
              <a:endParaRPr lang="en-CN" sz="1400" dirty="0"/>
            </a:p>
          </p:txBody>
        </p:sp>
        <p:sp>
          <p:nvSpPr>
            <p:cNvPr id="11" name="Triangle 10">
              <a:extLst>
                <a:ext uri="{FF2B5EF4-FFF2-40B4-BE49-F238E27FC236}">
                  <a16:creationId xmlns:a16="http://schemas.microsoft.com/office/drawing/2014/main" id="{1A05303E-30B4-264B-B8DE-00D0FFD6F4FB}"/>
                </a:ext>
              </a:extLst>
            </p:cNvPr>
            <p:cNvSpPr/>
            <p:nvPr/>
          </p:nvSpPr>
          <p:spPr>
            <a:xfrm>
              <a:off x="608330" y="3975498"/>
              <a:ext cx="1475184" cy="93610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altLang="en-US" sz="1400" dirty="0"/>
                <a:t>区段</a:t>
              </a:r>
              <a:r>
                <a:rPr lang="zh-CN" altLang="en-CN" sz="1400" dirty="0"/>
                <a:t>树</a:t>
              </a:r>
              <a:endParaRPr lang="en-CN" sz="1400" dirty="0"/>
            </a:p>
          </p:txBody>
        </p:sp>
        <p:sp>
          <p:nvSpPr>
            <p:cNvPr id="12" name="Triangle 11">
              <a:extLst>
                <a:ext uri="{FF2B5EF4-FFF2-40B4-BE49-F238E27FC236}">
                  <a16:creationId xmlns:a16="http://schemas.microsoft.com/office/drawing/2014/main" id="{B6FABBAC-D373-C24E-8ED3-3C9DB69261AC}"/>
                </a:ext>
              </a:extLst>
            </p:cNvPr>
            <p:cNvSpPr/>
            <p:nvPr/>
          </p:nvSpPr>
          <p:spPr>
            <a:xfrm>
              <a:off x="2262721" y="3975498"/>
              <a:ext cx="1475184" cy="93610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altLang="en-US" sz="1400" dirty="0"/>
                <a:t>设备</a:t>
              </a:r>
              <a:r>
                <a:rPr lang="zh-CN" altLang="en-CN" sz="1400" dirty="0"/>
                <a:t>树</a:t>
              </a:r>
              <a:endParaRPr lang="en-CN" sz="1400" dirty="0"/>
            </a:p>
          </p:txBody>
        </p:sp>
        <p:sp>
          <p:nvSpPr>
            <p:cNvPr id="13" name="Triangle 12">
              <a:extLst>
                <a:ext uri="{FF2B5EF4-FFF2-40B4-BE49-F238E27FC236}">
                  <a16:creationId xmlns:a16="http://schemas.microsoft.com/office/drawing/2014/main" id="{8935B417-D956-1A46-8A04-2C4C5A0D250A}"/>
                </a:ext>
              </a:extLst>
            </p:cNvPr>
            <p:cNvSpPr/>
            <p:nvPr/>
          </p:nvSpPr>
          <p:spPr>
            <a:xfrm>
              <a:off x="3930911" y="3975498"/>
              <a:ext cx="1475184" cy="93610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1400" dirty="0"/>
                <a:t>FS</a:t>
              </a:r>
              <a:r>
                <a:rPr lang="zh-CN" altLang="en-CN" sz="1400" dirty="0"/>
                <a:t>树</a:t>
              </a:r>
              <a:endParaRPr lang="en-CN" sz="1400" dirty="0"/>
            </a:p>
          </p:txBody>
        </p:sp>
        <p:sp>
          <p:nvSpPr>
            <p:cNvPr id="14" name="Triangle 13">
              <a:extLst>
                <a:ext uri="{FF2B5EF4-FFF2-40B4-BE49-F238E27FC236}">
                  <a16:creationId xmlns:a16="http://schemas.microsoft.com/office/drawing/2014/main" id="{033110CB-5C5E-ED44-9ABD-C015CFF41E50}"/>
                </a:ext>
              </a:extLst>
            </p:cNvPr>
            <p:cNvSpPr/>
            <p:nvPr/>
          </p:nvSpPr>
          <p:spPr>
            <a:xfrm>
              <a:off x="5502598" y="3975498"/>
              <a:ext cx="1475184" cy="93610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altLang="en-US" sz="1400" dirty="0"/>
                <a:t>校验码</a:t>
              </a:r>
              <a:r>
                <a:rPr lang="zh-CN" altLang="en-CN" sz="1400" dirty="0"/>
                <a:t>树</a:t>
              </a:r>
              <a:endParaRPr lang="en-CN" sz="1400" dirty="0"/>
            </a:p>
          </p:txBody>
        </p:sp>
        <p:sp>
          <p:nvSpPr>
            <p:cNvPr id="15" name="Triangle 14">
              <a:extLst>
                <a:ext uri="{FF2B5EF4-FFF2-40B4-BE49-F238E27FC236}">
                  <a16:creationId xmlns:a16="http://schemas.microsoft.com/office/drawing/2014/main" id="{D1CEF10C-A130-5149-AFE2-2279D140E999}"/>
                </a:ext>
              </a:extLst>
            </p:cNvPr>
            <p:cNvSpPr/>
            <p:nvPr/>
          </p:nvSpPr>
          <p:spPr>
            <a:xfrm>
              <a:off x="7063768" y="3975498"/>
              <a:ext cx="1475184" cy="93610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altLang="en-CN" sz="1400" dirty="0"/>
                <a:t>数据</a:t>
              </a:r>
              <a:r>
                <a:rPr lang="zh-CN" altLang="en-US" sz="1400" dirty="0"/>
                <a:t>移动树</a:t>
              </a:r>
              <a:endParaRPr lang="en-CN" sz="1400" dirty="0"/>
            </a:p>
          </p:txBody>
        </p:sp>
      </p:grpSp>
      <p:cxnSp>
        <p:nvCxnSpPr>
          <p:cNvPr id="17" name="Straight Arrow Connector 16">
            <a:extLst>
              <a:ext uri="{FF2B5EF4-FFF2-40B4-BE49-F238E27FC236}">
                <a16:creationId xmlns:a16="http://schemas.microsoft.com/office/drawing/2014/main" id="{FD8439DF-290C-A943-A30D-3ABE9D3FB249}"/>
              </a:ext>
            </a:extLst>
          </p:cNvPr>
          <p:cNvCxnSpPr>
            <a:stCxn id="6" idx="2"/>
            <a:endCxn id="7" idx="0"/>
          </p:cNvCxnSpPr>
          <p:nvPr/>
        </p:nvCxnSpPr>
        <p:spPr>
          <a:xfrm flipH="1">
            <a:off x="4520852" y="2138477"/>
            <a:ext cx="1788862" cy="708207"/>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E4380897-DF23-AC4F-836C-DDFA1B3E5629}"/>
              </a:ext>
            </a:extLst>
          </p:cNvPr>
          <p:cNvCxnSpPr>
            <a:cxnSpLocks/>
            <a:stCxn id="6" idx="2"/>
            <a:endCxn id="9" idx="0"/>
          </p:cNvCxnSpPr>
          <p:nvPr/>
        </p:nvCxnSpPr>
        <p:spPr>
          <a:xfrm>
            <a:off x="6309714" y="2138477"/>
            <a:ext cx="1565483" cy="874257"/>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C4A2DA30-7256-4447-8CC4-A5DCDE3D9DDA}"/>
              </a:ext>
            </a:extLst>
          </p:cNvPr>
          <p:cNvCxnSpPr>
            <a:cxnSpLocks/>
            <a:stCxn id="7" idx="2"/>
            <a:endCxn id="15" idx="0"/>
          </p:cNvCxnSpPr>
          <p:nvPr/>
        </p:nvCxnSpPr>
        <p:spPr>
          <a:xfrm>
            <a:off x="4520852" y="3362518"/>
            <a:ext cx="2891718" cy="904388"/>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AAC4E27-7BE0-084E-B817-A024C625C696}"/>
              </a:ext>
            </a:extLst>
          </p:cNvPr>
          <p:cNvCxnSpPr>
            <a:cxnSpLocks/>
            <a:stCxn id="7" idx="2"/>
            <a:endCxn id="14" idx="0"/>
          </p:cNvCxnSpPr>
          <p:nvPr/>
        </p:nvCxnSpPr>
        <p:spPr>
          <a:xfrm>
            <a:off x="4520852" y="3362518"/>
            <a:ext cx="1493775" cy="904388"/>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AA451E30-8F5A-4840-80CA-6ED8DD5E1231}"/>
              </a:ext>
            </a:extLst>
          </p:cNvPr>
          <p:cNvCxnSpPr>
            <a:cxnSpLocks/>
            <a:stCxn id="7" idx="2"/>
            <a:endCxn id="13" idx="0"/>
          </p:cNvCxnSpPr>
          <p:nvPr/>
        </p:nvCxnSpPr>
        <p:spPr>
          <a:xfrm>
            <a:off x="4520852" y="3362518"/>
            <a:ext cx="86414" cy="904388"/>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38384BF4-F127-FA4B-963F-AAEEB979EF03}"/>
              </a:ext>
            </a:extLst>
          </p:cNvPr>
          <p:cNvCxnSpPr>
            <a:cxnSpLocks/>
            <a:stCxn id="7" idx="2"/>
            <a:endCxn id="12" idx="0"/>
          </p:cNvCxnSpPr>
          <p:nvPr/>
        </p:nvCxnSpPr>
        <p:spPr>
          <a:xfrm flipH="1">
            <a:off x="3113492" y="3362518"/>
            <a:ext cx="1407360" cy="904388"/>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15E05676-4A36-A34C-B50B-A65B2B323DE4}"/>
              </a:ext>
            </a:extLst>
          </p:cNvPr>
          <p:cNvCxnSpPr>
            <a:cxnSpLocks/>
            <a:stCxn id="7" idx="2"/>
            <a:endCxn id="11" idx="0"/>
          </p:cNvCxnSpPr>
          <p:nvPr/>
        </p:nvCxnSpPr>
        <p:spPr>
          <a:xfrm flipH="1">
            <a:off x="1632074" y="3362518"/>
            <a:ext cx="2888778" cy="904388"/>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736877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3AF090E-1E95-584A-82BD-B87F87DFC615}"/>
              </a:ext>
            </a:extLst>
          </p:cNvPr>
          <p:cNvSpPr>
            <a:spLocks noGrp="1"/>
          </p:cNvSpPr>
          <p:nvPr>
            <p:ph type="title"/>
          </p:nvPr>
        </p:nvSpPr>
        <p:spPr/>
        <p:txBody>
          <a:bodyPr/>
          <a:lstStyle/>
          <a:p>
            <a:r>
              <a:rPr lang="en-US" altLang="zh-CN" dirty="0"/>
              <a:t>Soft</a:t>
            </a:r>
            <a:r>
              <a:rPr lang="zh-CN" altLang="en-US" dirty="0"/>
              <a:t> </a:t>
            </a:r>
            <a:r>
              <a:rPr lang="en-US" altLang="zh-CN" dirty="0"/>
              <a:t>updates</a:t>
            </a:r>
            <a:endParaRPr lang="en-CN" dirty="0"/>
          </a:p>
        </p:txBody>
      </p:sp>
      <p:sp>
        <p:nvSpPr>
          <p:cNvPr id="7" name="Text Placeholder 6">
            <a:extLst>
              <a:ext uri="{FF2B5EF4-FFF2-40B4-BE49-F238E27FC236}">
                <a16:creationId xmlns:a16="http://schemas.microsoft.com/office/drawing/2014/main" id="{EBED6BA0-1B03-6449-AA99-CA8352954B1A}"/>
              </a:ext>
            </a:extLst>
          </p:cNvPr>
          <p:cNvSpPr>
            <a:spLocks noGrp="1"/>
          </p:cNvSpPr>
          <p:nvPr>
            <p:ph type="body" idx="1"/>
          </p:nvPr>
        </p:nvSpPr>
        <p:spPr/>
        <p:txBody>
          <a:bodyPr/>
          <a:lstStyle/>
          <a:p>
            <a:endParaRPr lang="en-CN"/>
          </a:p>
        </p:txBody>
      </p:sp>
      <p:sp>
        <p:nvSpPr>
          <p:cNvPr id="4" name="Slide Number Placeholder 3">
            <a:extLst>
              <a:ext uri="{FF2B5EF4-FFF2-40B4-BE49-F238E27FC236}">
                <a16:creationId xmlns:a16="http://schemas.microsoft.com/office/drawing/2014/main" id="{12681AB2-00A9-514B-A025-EB03B6EBA28F}"/>
              </a:ext>
            </a:extLst>
          </p:cNvPr>
          <p:cNvSpPr>
            <a:spLocks noGrp="1"/>
          </p:cNvSpPr>
          <p:nvPr>
            <p:ph type="sldNum" sz="quarter" idx="12"/>
          </p:nvPr>
        </p:nvSpPr>
        <p:spPr/>
        <p:txBody>
          <a:bodyPr/>
          <a:lstStyle/>
          <a:p>
            <a:fld id="{ADE361C3-C043-4A6E-BDCE-8DA1E7D90A3B}" type="slidenum">
              <a:rPr lang="zh-CN" altLang="en-US" smtClean="0"/>
              <a:t>50</a:t>
            </a:fld>
            <a:endParaRPr lang="zh-CN" altLang="en-US"/>
          </a:p>
        </p:txBody>
      </p:sp>
      <p:sp>
        <p:nvSpPr>
          <p:cNvPr id="5" name="Footer Placeholder 4">
            <a:extLst>
              <a:ext uri="{FF2B5EF4-FFF2-40B4-BE49-F238E27FC236}">
                <a16:creationId xmlns:a16="http://schemas.microsoft.com/office/drawing/2014/main" id="{35AB93F5-52A8-8441-87E4-28BE76E8A5D3}"/>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1353749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DDC32-D951-904C-9656-C9FE4C4B7B45}"/>
              </a:ext>
            </a:extLst>
          </p:cNvPr>
          <p:cNvSpPr>
            <a:spLocks noGrp="1"/>
          </p:cNvSpPr>
          <p:nvPr>
            <p:ph type="title"/>
          </p:nvPr>
        </p:nvSpPr>
        <p:spPr/>
        <p:txBody>
          <a:bodyPr/>
          <a:lstStyle/>
          <a:p>
            <a:r>
              <a:rPr lang="en-CN"/>
              <a:t>Soft</a:t>
            </a:r>
            <a:r>
              <a:rPr lang="zh-CN" altLang="en-US" dirty="0"/>
              <a:t> </a:t>
            </a:r>
            <a:r>
              <a:rPr lang="en-US" altLang="zh-CN" dirty="0"/>
              <a:t>Updates</a:t>
            </a:r>
            <a:endParaRPr lang="en-CN" dirty="0"/>
          </a:p>
        </p:txBody>
      </p:sp>
      <p:sp>
        <p:nvSpPr>
          <p:cNvPr id="3" name="Content Placeholder 2">
            <a:extLst>
              <a:ext uri="{FF2B5EF4-FFF2-40B4-BE49-F238E27FC236}">
                <a16:creationId xmlns:a16="http://schemas.microsoft.com/office/drawing/2014/main" id="{C678C414-7F68-3144-B3EA-DF88FD3FA3A0}"/>
              </a:ext>
            </a:extLst>
          </p:cNvPr>
          <p:cNvSpPr>
            <a:spLocks noGrp="1"/>
          </p:cNvSpPr>
          <p:nvPr>
            <p:ph idx="1"/>
          </p:nvPr>
        </p:nvSpPr>
        <p:spPr>
          <a:xfrm>
            <a:off x="457200" y="1129308"/>
            <a:ext cx="8229600" cy="3975829"/>
          </a:xfrm>
        </p:spPr>
        <p:txBody>
          <a:bodyPr>
            <a:normAutofit/>
          </a:bodyPr>
          <a:lstStyle/>
          <a:p>
            <a:r>
              <a:rPr lang="zh-CN" altLang="en-US" sz="2000" b="0" dirty="0"/>
              <a:t>一些不一致情况是</a:t>
            </a:r>
            <a:r>
              <a:rPr lang="zh-CN" altLang="en-US" sz="2000" b="0" dirty="0">
                <a:solidFill>
                  <a:schemeClr val="accent1"/>
                </a:solidFill>
              </a:rPr>
              <a:t>良性</a:t>
            </a:r>
            <a:r>
              <a:rPr lang="zh-CN" altLang="en-US" sz="2000" b="0" dirty="0"/>
              <a:t>的</a:t>
            </a:r>
            <a:endParaRPr lang="en-US" altLang="zh-CN" sz="2000" b="0" dirty="0"/>
          </a:p>
          <a:p>
            <a:pPr lvl="1"/>
            <a:r>
              <a:rPr lang="zh-CN" altLang="en-US" sz="1800" dirty="0"/>
              <a:t>某</a:t>
            </a:r>
            <a:r>
              <a:rPr lang="en-US" altLang="zh-CN" sz="1800" dirty="0" err="1"/>
              <a:t>inode</a:t>
            </a:r>
            <a:r>
              <a:rPr lang="zh-CN" altLang="en-US" sz="1800" dirty="0"/>
              <a:t>被标记为占用，却从文件系统中无法遍历到该</a:t>
            </a:r>
            <a:r>
              <a:rPr lang="en-US" altLang="zh-CN" sz="1800" dirty="0" err="1"/>
              <a:t>inode</a:t>
            </a:r>
            <a:endParaRPr lang="en-US" altLang="zh-CN" sz="1800" dirty="0"/>
          </a:p>
          <a:p>
            <a:pPr lvl="2"/>
            <a:r>
              <a:rPr lang="zh-CN" altLang="en-US" sz="1800" dirty="0"/>
              <a:t>如创建文件：</a:t>
            </a:r>
            <a:endParaRPr lang="en-US" altLang="zh-CN" sz="1800" dirty="0"/>
          </a:p>
          <a:p>
            <a:pPr marL="1314450" lvl="3" indent="0">
              <a:buNone/>
            </a:pPr>
            <a:r>
              <a:rPr lang="en-US" altLang="zh-CN" sz="1600" dirty="0"/>
              <a:t>1.</a:t>
            </a:r>
            <a:r>
              <a:rPr lang="zh-CN" altLang="en-US" sz="1600" dirty="0"/>
              <a:t> 标记</a:t>
            </a:r>
            <a:r>
              <a:rPr lang="en-US" altLang="zh-CN" sz="1600" dirty="0" err="1"/>
              <a:t>inode</a:t>
            </a:r>
            <a:r>
              <a:rPr lang="zh-CN" altLang="en-US" sz="1600" dirty="0"/>
              <a:t>为占用</a:t>
            </a:r>
            <a:br>
              <a:rPr lang="en-US" altLang="zh-CN" sz="1600" dirty="0"/>
            </a:br>
            <a:r>
              <a:rPr lang="en-US" altLang="zh-CN" sz="1600" dirty="0"/>
              <a:t>2.</a:t>
            </a:r>
            <a:r>
              <a:rPr lang="zh-CN" altLang="en-US" sz="1600" dirty="0"/>
              <a:t> 初始化</a:t>
            </a:r>
            <a:r>
              <a:rPr lang="en-US" altLang="zh-CN" sz="1600" dirty="0" err="1"/>
              <a:t>inode</a:t>
            </a:r>
            <a:br>
              <a:rPr lang="en-US" altLang="zh-CN" sz="1600" dirty="0"/>
            </a:br>
            <a:r>
              <a:rPr lang="en-US" altLang="zh-CN" sz="1600" dirty="0"/>
              <a:t>3.</a:t>
            </a:r>
            <a:r>
              <a:rPr lang="zh-CN" altLang="en-US" sz="1600" dirty="0"/>
              <a:t> 将目录项写入目录中</a:t>
            </a:r>
            <a:endParaRPr lang="en-US" altLang="zh-CN" sz="1600" b="0" dirty="0"/>
          </a:p>
          <a:p>
            <a:pPr lvl="1"/>
            <a:r>
              <a:rPr lang="zh-CN" altLang="en-US" sz="1800" b="0" dirty="0"/>
              <a:t>合理安排修改写入磁盘的</a:t>
            </a:r>
            <a:r>
              <a:rPr lang="zh-CN" altLang="en-US" sz="1800" b="0" dirty="0">
                <a:solidFill>
                  <a:schemeClr val="accent1"/>
                </a:solidFill>
              </a:rPr>
              <a:t>次序（</a:t>
            </a:r>
            <a:r>
              <a:rPr lang="en-US" altLang="zh-CN" sz="1800" b="0" dirty="0">
                <a:solidFill>
                  <a:schemeClr val="accent1"/>
                </a:solidFill>
              </a:rPr>
              <a:t>order</a:t>
            </a:r>
            <a:r>
              <a:rPr lang="zh-CN" altLang="en-US" sz="1800" b="0" dirty="0">
                <a:solidFill>
                  <a:schemeClr val="accent1"/>
                </a:solidFill>
              </a:rPr>
              <a:t>）</a:t>
            </a:r>
            <a:r>
              <a:rPr lang="zh-CN" altLang="en-US" sz="1800" b="0" dirty="0"/>
              <a:t>，可</a:t>
            </a:r>
            <a:r>
              <a:rPr lang="zh-CN" altLang="en-US" sz="1800" b="0" dirty="0">
                <a:solidFill>
                  <a:schemeClr val="accent1"/>
                </a:solidFill>
              </a:rPr>
              <a:t>避免恶性不一致</a:t>
            </a:r>
            <a:r>
              <a:rPr lang="zh-CN" altLang="en-US" sz="1800" b="0" dirty="0"/>
              <a:t>情况的发生</a:t>
            </a:r>
            <a:endParaRPr lang="en-US" altLang="zh-CN" sz="1800" b="0" dirty="0"/>
          </a:p>
          <a:p>
            <a:r>
              <a:rPr lang="zh-CN" altLang="en-US" sz="2000" b="0" dirty="0"/>
              <a:t>相对其它方法的优势</a:t>
            </a:r>
            <a:endParaRPr lang="en-US" altLang="zh-CN" sz="2000" b="0" dirty="0"/>
          </a:p>
          <a:p>
            <a:pPr lvl="1"/>
            <a:r>
              <a:rPr lang="zh-CN" altLang="en-US" sz="1800" b="0" dirty="0"/>
              <a:t>无需恢复便可挂载使用</a:t>
            </a:r>
            <a:endParaRPr lang="en-US" altLang="zh-CN" sz="1800" b="0" dirty="0"/>
          </a:p>
          <a:p>
            <a:pPr lvl="1"/>
            <a:r>
              <a:rPr lang="zh-CN" altLang="en-US" sz="1800" b="0" dirty="0"/>
              <a:t>无需在磁盘上记录额外信息</a:t>
            </a:r>
            <a:endParaRPr lang="en-US" altLang="zh-CN" sz="1800" b="0" dirty="0"/>
          </a:p>
        </p:txBody>
      </p:sp>
      <p:sp>
        <p:nvSpPr>
          <p:cNvPr id="4" name="Slide Number Placeholder 3">
            <a:extLst>
              <a:ext uri="{FF2B5EF4-FFF2-40B4-BE49-F238E27FC236}">
                <a16:creationId xmlns:a16="http://schemas.microsoft.com/office/drawing/2014/main" id="{2283FC2E-96EC-D741-96D2-54CAC8B87FEA}"/>
              </a:ext>
            </a:extLst>
          </p:cNvPr>
          <p:cNvSpPr>
            <a:spLocks noGrp="1"/>
          </p:cNvSpPr>
          <p:nvPr>
            <p:ph type="sldNum" sz="quarter" idx="12"/>
          </p:nvPr>
        </p:nvSpPr>
        <p:spPr/>
        <p:txBody>
          <a:bodyPr/>
          <a:lstStyle/>
          <a:p>
            <a:fld id="{ADE361C3-C043-4A6E-BDCE-8DA1E7D90A3B}" type="slidenum">
              <a:rPr lang="zh-CN" altLang="en-US" smtClean="0"/>
              <a:t>51</a:t>
            </a:fld>
            <a:endParaRPr lang="zh-CN" altLang="en-US"/>
          </a:p>
        </p:txBody>
      </p:sp>
      <p:sp>
        <p:nvSpPr>
          <p:cNvPr id="5" name="Footer Placeholder 4">
            <a:extLst>
              <a:ext uri="{FF2B5EF4-FFF2-40B4-BE49-F238E27FC236}">
                <a16:creationId xmlns:a16="http://schemas.microsoft.com/office/drawing/2014/main" id="{E8C2BA8D-631E-D34D-B191-2C28C8B58BAA}"/>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Lightning Bolt 23">
            <a:extLst>
              <a:ext uri="{FF2B5EF4-FFF2-40B4-BE49-F238E27FC236}">
                <a16:creationId xmlns:a16="http://schemas.microsoft.com/office/drawing/2014/main" id="{776C7D23-9300-1D46-8652-7303FD0499D8}"/>
              </a:ext>
            </a:extLst>
          </p:cNvPr>
          <p:cNvSpPr/>
          <p:nvPr/>
        </p:nvSpPr>
        <p:spPr>
          <a:xfrm>
            <a:off x="3821537" y="2779004"/>
            <a:ext cx="174399" cy="294520"/>
          </a:xfrm>
          <a:prstGeom prst="lightningBolt">
            <a:avLst/>
          </a:prstGeom>
          <a:solidFill>
            <a:srgbClr val="FFC000"/>
          </a:solidFill>
          <a:ln>
            <a:solidFill>
              <a:srgbClr val="FF9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Tree>
    <p:extLst>
      <p:ext uri="{BB962C8B-B14F-4D97-AF65-F5344CB8AC3E}">
        <p14:creationId xmlns:p14="http://schemas.microsoft.com/office/powerpoint/2010/main" val="26993795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123005-3A71-BE49-A548-38856BCFADBB}"/>
              </a:ext>
            </a:extLst>
          </p:cNvPr>
          <p:cNvSpPr>
            <a:spLocks noGrp="1"/>
          </p:cNvSpPr>
          <p:nvPr>
            <p:ph type="title"/>
          </p:nvPr>
        </p:nvSpPr>
        <p:spPr/>
        <p:txBody>
          <a:bodyPr>
            <a:normAutofit/>
          </a:bodyPr>
          <a:lstStyle/>
          <a:p>
            <a:r>
              <a:rPr kumimoji="1" lang="zh-CN" altLang="en-US" dirty="0"/>
              <a:t>回顾：创建文件时崩溃的六种情况</a:t>
            </a:r>
          </a:p>
        </p:txBody>
      </p:sp>
      <p:sp>
        <p:nvSpPr>
          <p:cNvPr id="4" name="灯片编号占位符 3">
            <a:extLst>
              <a:ext uri="{FF2B5EF4-FFF2-40B4-BE49-F238E27FC236}">
                <a16:creationId xmlns:a16="http://schemas.microsoft.com/office/drawing/2014/main" id="{331307F6-7A03-CF45-A8A8-10E92F0AC91A}"/>
              </a:ext>
            </a:extLst>
          </p:cNvPr>
          <p:cNvSpPr>
            <a:spLocks noGrp="1"/>
          </p:cNvSpPr>
          <p:nvPr>
            <p:ph type="sldNum" sz="quarter" idx="12"/>
          </p:nvPr>
        </p:nvSpPr>
        <p:spPr/>
        <p:txBody>
          <a:bodyPr/>
          <a:lstStyle/>
          <a:p>
            <a:fld id="{ADE361C3-C043-4A6E-BDCE-8DA1E7D90A3B}" type="slidenum">
              <a:rPr lang="zh-CN" altLang="en-US" smtClean="0"/>
              <a:t>52</a:t>
            </a:fld>
            <a:endParaRPr lang="zh-CN" altLang="en-US"/>
          </a:p>
        </p:txBody>
      </p:sp>
      <p:sp>
        <p:nvSpPr>
          <p:cNvPr id="5" name="页脚占位符 4">
            <a:extLst>
              <a:ext uri="{FF2B5EF4-FFF2-40B4-BE49-F238E27FC236}">
                <a16:creationId xmlns:a16="http://schemas.microsoft.com/office/drawing/2014/main" id="{BAA08414-1A88-C841-A93F-D65442DF3370}"/>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6" name="图片 5">
            <a:extLst>
              <a:ext uri="{FF2B5EF4-FFF2-40B4-BE49-F238E27FC236}">
                <a16:creationId xmlns:a16="http://schemas.microsoft.com/office/drawing/2014/main" id="{91298FDE-05BD-A349-9D0A-F4A13ACC2744}"/>
              </a:ext>
            </a:extLst>
          </p:cNvPr>
          <p:cNvPicPr>
            <a:picLocks noChangeAspect="1"/>
          </p:cNvPicPr>
          <p:nvPr/>
        </p:nvPicPr>
        <p:blipFill>
          <a:blip r:embed="rId2"/>
          <a:stretch>
            <a:fillRect/>
          </a:stretch>
        </p:blipFill>
        <p:spPr>
          <a:xfrm>
            <a:off x="870090" y="1492882"/>
            <a:ext cx="7403821" cy="3499066"/>
          </a:xfrm>
          <a:prstGeom prst="rect">
            <a:avLst/>
          </a:prstGeom>
        </p:spPr>
      </p:pic>
      <p:sp>
        <p:nvSpPr>
          <p:cNvPr id="7" name="椭圆 6">
            <a:extLst>
              <a:ext uri="{FF2B5EF4-FFF2-40B4-BE49-F238E27FC236}">
                <a16:creationId xmlns:a16="http://schemas.microsoft.com/office/drawing/2014/main" id="{74749208-48F6-0645-A4E8-941A8B078C52}"/>
              </a:ext>
            </a:extLst>
          </p:cNvPr>
          <p:cNvSpPr/>
          <p:nvPr/>
        </p:nvSpPr>
        <p:spPr>
          <a:xfrm>
            <a:off x="5868144" y="2569468"/>
            <a:ext cx="576064" cy="79208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椭圆 7">
            <a:extLst>
              <a:ext uri="{FF2B5EF4-FFF2-40B4-BE49-F238E27FC236}">
                <a16:creationId xmlns:a16="http://schemas.microsoft.com/office/drawing/2014/main" id="{05FE5061-AF56-9E4C-94D7-54DE3F5BC2B8}"/>
              </a:ext>
            </a:extLst>
          </p:cNvPr>
          <p:cNvSpPr/>
          <p:nvPr/>
        </p:nvSpPr>
        <p:spPr>
          <a:xfrm>
            <a:off x="5868144" y="4352367"/>
            <a:ext cx="576064" cy="37734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椭圆 8">
            <a:extLst>
              <a:ext uri="{FF2B5EF4-FFF2-40B4-BE49-F238E27FC236}">
                <a16:creationId xmlns:a16="http://schemas.microsoft.com/office/drawing/2014/main" id="{79C786FA-4C14-3F40-A413-92CB1FC9C971}"/>
              </a:ext>
            </a:extLst>
          </p:cNvPr>
          <p:cNvSpPr/>
          <p:nvPr/>
        </p:nvSpPr>
        <p:spPr>
          <a:xfrm>
            <a:off x="7236296" y="2984215"/>
            <a:ext cx="576064" cy="37734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2680005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p:cNvSpPr/>
          <p:nvPr/>
        </p:nvSpPr>
        <p:spPr>
          <a:xfrm>
            <a:off x="5978648" y="2725448"/>
            <a:ext cx="2777490" cy="1554879"/>
          </a:xfrm>
          <a:prstGeom prst="roundRect">
            <a:avLst>
              <a:gd name="adj" fmla="val 8791"/>
            </a:avLst>
          </a:prstGeom>
          <a:ln w="38100">
            <a:solidFill>
              <a:schemeClr val="tx1"/>
            </a:solidFill>
          </a:ln>
        </p:spPr>
        <p:style>
          <a:lnRef idx="2">
            <a:schemeClr val="accent2"/>
          </a:lnRef>
          <a:fillRef idx="1">
            <a:schemeClr val="lt1"/>
          </a:fillRef>
          <a:effectRef idx="0">
            <a:schemeClr val="accent2"/>
          </a:effectRef>
          <a:fontRef idx="minor">
            <a:schemeClr val="dk1"/>
          </a:fontRef>
        </p:style>
        <p:txBody>
          <a:bodyPr rtlCol="0" anchor="t" anchorCtr="0"/>
          <a:lstStyle/>
          <a:p>
            <a:pPr defTabSz="685800">
              <a:defRPr/>
            </a:pPr>
            <a:r>
              <a:rPr lang="en-US" altLang="zh-CN" b="1" dirty="0">
                <a:solidFill>
                  <a:srgbClr val="0165C0"/>
                </a:solidFill>
                <a:latin typeface="Calibri" panose="020F0502020204030204"/>
                <a:ea typeface="DengXian" panose="02010600030101010101" pitchFamily="2" charset="-122"/>
              </a:rPr>
              <a:t>DISK</a:t>
            </a:r>
            <a:endParaRPr lang="en-US" b="1" dirty="0">
              <a:solidFill>
                <a:srgbClr val="0165C0"/>
              </a:solidFill>
              <a:latin typeface="Calibri" panose="020F0502020204030204"/>
            </a:endParaRPr>
          </a:p>
        </p:txBody>
      </p:sp>
      <p:sp>
        <p:nvSpPr>
          <p:cNvPr id="2" name="Title 1"/>
          <p:cNvSpPr>
            <a:spLocks noGrp="1"/>
          </p:cNvSpPr>
          <p:nvPr>
            <p:ph type="title"/>
          </p:nvPr>
        </p:nvSpPr>
        <p:spPr/>
        <p:txBody>
          <a:bodyPr>
            <a:normAutofit/>
          </a:bodyPr>
          <a:lstStyle/>
          <a:p>
            <a:r>
              <a:rPr lang="en-US" dirty="0"/>
              <a:t>Soft Updates</a:t>
            </a:r>
            <a:r>
              <a:rPr lang="zh-CN" altLang="en-US" dirty="0"/>
              <a:t>的总体思想</a:t>
            </a:r>
            <a:endParaRPr lang="en-US" dirty="0"/>
          </a:p>
        </p:txBody>
      </p:sp>
      <p:sp>
        <p:nvSpPr>
          <p:cNvPr id="3" name="Content Placeholder 2"/>
          <p:cNvSpPr>
            <a:spLocks noGrp="1"/>
          </p:cNvSpPr>
          <p:nvPr>
            <p:ph idx="1"/>
          </p:nvPr>
        </p:nvSpPr>
        <p:spPr>
          <a:xfrm>
            <a:off x="37532" y="1290156"/>
            <a:ext cx="8229600" cy="3771636"/>
          </a:xfrm>
        </p:spPr>
        <p:txBody>
          <a:bodyPr>
            <a:normAutofit/>
          </a:bodyPr>
          <a:lstStyle/>
          <a:p>
            <a:r>
              <a:rPr lang="en-US" dirty="0" err="1"/>
              <a:t>最新的元数据在内存中</a:t>
            </a:r>
            <a:endParaRPr lang="en-US" dirty="0"/>
          </a:p>
          <a:p>
            <a:pPr lvl="1" indent="-342900">
              <a:buFont typeface="Wingdings" charset="2"/>
              <a:buChar char="§"/>
            </a:pPr>
            <a:r>
              <a:rPr lang="en-US" dirty="0" err="1"/>
              <a:t>在DRAM中更新</a:t>
            </a:r>
            <a:r>
              <a:rPr lang="zh-CN" altLang="en-US" dirty="0"/>
              <a:t>，跟踪</a:t>
            </a:r>
            <a:r>
              <a:rPr lang="en-US" dirty="0"/>
              <a:t>dependency</a:t>
            </a:r>
          </a:p>
          <a:p>
            <a:pPr lvl="1" indent="-342900">
              <a:buFont typeface="Wingdings" charset="2"/>
              <a:buChar char="ü"/>
            </a:pPr>
            <a:r>
              <a:rPr lang="en-US" dirty="0"/>
              <a:t>DRAM </a:t>
            </a:r>
            <a:r>
              <a:rPr lang="en-US" dirty="0" err="1"/>
              <a:t>性能更好</a:t>
            </a:r>
            <a:endParaRPr lang="en-US" dirty="0"/>
          </a:p>
          <a:p>
            <a:pPr lvl="1" indent="-342900">
              <a:buFont typeface="Wingdings" charset="2"/>
              <a:buChar char="ü"/>
            </a:pPr>
            <a:r>
              <a:rPr lang="en-US" dirty="0" err="1"/>
              <a:t>无需同步的磁盘写</a:t>
            </a:r>
            <a:endParaRPr lang="en-US" dirty="0"/>
          </a:p>
          <a:p>
            <a:r>
              <a:rPr lang="en-US" dirty="0" err="1"/>
              <a:t>磁盘中的元数据总是一致的</a:t>
            </a:r>
            <a:endParaRPr lang="en-US" dirty="0"/>
          </a:p>
          <a:p>
            <a:pPr lvl="1" indent="-342900">
              <a:buFont typeface="Wingdings" charset="2"/>
              <a:buChar char="§"/>
            </a:pPr>
            <a:r>
              <a:rPr lang="zh-CN" altLang="en-US" dirty="0"/>
              <a:t>在遵循</a:t>
            </a:r>
            <a:r>
              <a:rPr lang="en-US" altLang="zh-CN" dirty="0"/>
              <a:t>dependency</a:t>
            </a:r>
            <a:r>
              <a:rPr lang="zh-CN" altLang="en-US" dirty="0"/>
              <a:t>的前提下</a:t>
            </a:r>
            <a:r>
              <a:rPr lang="en-US" dirty="0" err="1"/>
              <a:t>写入磁盘</a:t>
            </a:r>
            <a:endParaRPr lang="en-US" dirty="0"/>
          </a:p>
          <a:p>
            <a:pPr lvl="1" indent="-342900">
              <a:buFont typeface="Wingdings" charset="2"/>
              <a:buChar char="ü"/>
            </a:pPr>
            <a:r>
              <a:rPr lang="en-US" dirty="0" err="1"/>
              <a:t>一直能保证一致性</a:t>
            </a:r>
            <a:endParaRPr lang="en-US" dirty="0"/>
          </a:p>
          <a:p>
            <a:pPr lvl="1" indent="-342900">
              <a:buFont typeface="Wingdings" charset="2"/>
              <a:buChar char="ü"/>
            </a:pPr>
            <a:r>
              <a:rPr lang="en-US" dirty="0" err="1">
                <a:solidFill>
                  <a:schemeClr val="accent1"/>
                </a:solidFill>
              </a:rPr>
              <a:t>发生崩溃后</a:t>
            </a:r>
            <a:r>
              <a:rPr lang="zh-CN" altLang="en-US" dirty="0">
                <a:solidFill>
                  <a:schemeClr val="accent1"/>
                </a:solidFill>
              </a:rPr>
              <a:t>，重启立即</a:t>
            </a:r>
            <a:r>
              <a:rPr lang="en-US" dirty="0" err="1">
                <a:solidFill>
                  <a:schemeClr val="accent1"/>
                </a:solidFill>
              </a:rPr>
              <a:t>可用</a:t>
            </a:r>
            <a:endParaRPr lang="en-US" dirty="0">
              <a:solidFill>
                <a:schemeClr val="accent1"/>
              </a:solidFill>
            </a:endParaRPr>
          </a:p>
        </p:txBody>
      </p:sp>
      <p:sp>
        <p:nvSpPr>
          <p:cNvPr id="7" name="Rounded Rectangle 6"/>
          <p:cNvSpPr/>
          <p:nvPr/>
        </p:nvSpPr>
        <p:spPr>
          <a:xfrm>
            <a:off x="5964107" y="1159433"/>
            <a:ext cx="2777490" cy="1569425"/>
          </a:xfrm>
          <a:prstGeom prst="roundRect">
            <a:avLst>
              <a:gd name="adj" fmla="val 8084"/>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t" anchorCtr="0"/>
          <a:lstStyle/>
          <a:p>
            <a:pPr defTabSz="685800">
              <a:defRPr/>
            </a:pPr>
            <a:r>
              <a:rPr lang="en-US" altLang="zh-CN" b="1" dirty="0">
                <a:solidFill>
                  <a:srgbClr val="C00000"/>
                </a:solidFill>
                <a:latin typeface="Calibri" panose="020F0502020204030204"/>
                <a:ea typeface="DengXian" panose="02010600030101010101" pitchFamily="2" charset="-122"/>
              </a:rPr>
              <a:t>DRAM (Page cache)</a:t>
            </a:r>
            <a:endParaRPr lang="en-US" b="1" dirty="0">
              <a:solidFill>
                <a:srgbClr val="C00000"/>
              </a:solidFill>
              <a:latin typeface="Calibri" panose="020F0502020204030204"/>
            </a:endParaRPr>
          </a:p>
        </p:txBody>
      </p:sp>
      <p:sp>
        <p:nvSpPr>
          <p:cNvPr id="8" name="Rectangle 7"/>
          <p:cNvSpPr/>
          <p:nvPr/>
        </p:nvSpPr>
        <p:spPr>
          <a:xfrm>
            <a:off x="6122247" y="1607437"/>
            <a:ext cx="401129" cy="401129"/>
          </a:xfrm>
          <a:prstGeom prst="rect">
            <a:avLst/>
          </a:prstGeom>
          <a:solidFill>
            <a:srgbClr val="FF8286"/>
          </a:solidFill>
          <a:ln w="254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defTabSz="685800">
              <a:defRPr/>
            </a:pPr>
            <a:endParaRPr lang="en-US" sz="1350">
              <a:solidFill>
                <a:prstClr val="black"/>
              </a:solidFill>
              <a:latin typeface="Calibri" panose="020F0502020204030204"/>
            </a:endParaRPr>
          </a:p>
        </p:txBody>
      </p:sp>
      <p:sp>
        <p:nvSpPr>
          <p:cNvPr id="9" name="Rectangle 8"/>
          <p:cNvSpPr/>
          <p:nvPr/>
        </p:nvSpPr>
        <p:spPr>
          <a:xfrm>
            <a:off x="6723940" y="1908283"/>
            <a:ext cx="401129" cy="401129"/>
          </a:xfrm>
          <a:prstGeom prst="rect">
            <a:avLst/>
          </a:prstGeom>
          <a:solidFill>
            <a:srgbClr val="FF8286"/>
          </a:solidFill>
          <a:ln w="254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defTabSz="685800">
              <a:defRPr/>
            </a:pPr>
            <a:endParaRPr lang="en-US" sz="1350">
              <a:solidFill>
                <a:prstClr val="black"/>
              </a:solidFill>
              <a:latin typeface="Calibri" panose="020F0502020204030204"/>
            </a:endParaRPr>
          </a:p>
        </p:txBody>
      </p:sp>
      <p:cxnSp>
        <p:nvCxnSpPr>
          <p:cNvPr id="10" name="Straight Arrow Connector 9"/>
          <p:cNvCxnSpPr>
            <a:stCxn id="9" idx="3"/>
            <a:endCxn id="10" idx="1"/>
          </p:cNvCxnSpPr>
          <p:nvPr/>
        </p:nvCxnSpPr>
        <p:spPr>
          <a:xfrm>
            <a:off x="6523376" y="1808002"/>
            <a:ext cx="200564" cy="30084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6325462" y="4395993"/>
            <a:ext cx="2143728" cy="369332"/>
          </a:xfrm>
          <a:prstGeom prst="rect">
            <a:avLst/>
          </a:prstGeom>
          <a:noFill/>
        </p:spPr>
        <p:txBody>
          <a:bodyPr wrap="none" rtlCol="0">
            <a:spAutoFit/>
          </a:bodyPr>
          <a:lstStyle/>
          <a:p>
            <a:pPr defTabSz="685800">
              <a:defRPr/>
            </a:pPr>
            <a:r>
              <a:rPr lang="en-US" dirty="0" err="1">
                <a:solidFill>
                  <a:prstClr val="black"/>
                </a:solidFill>
                <a:latin typeface="Calibri" panose="020F0502020204030204"/>
              </a:rPr>
              <a:t>传统的</a:t>
            </a:r>
            <a:r>
              <a:rPr lang="en-US" dirty="0">
                <a:solidFill>
                  <a:prstClr val="black"/>
                </a:solidFill>
                <a:latin typeface="Calibri" panose="020F0502020204030204"/>
              </a:rPr>
              <a:t> Soft Updates</a:t>
            </a:r>
          </a:p>
        </p:txBody>
      </p:sp>
      <p:sp>
        <p:nvSpPr>
          <p:cNvPr id="12" name="Rectangle 11"/>
          <p:cNvSpPr/>
          <p:nvPr/>
        </p:nvSpPr>
        <p:spPr>
          <a:xfrm>
            <a:off x="7370583" y="1707719"/>
            <a:ext cx="401129" cy="401129"/>
          </a:xfrm>
          <a:prstGeom prst="rect">
            <a:avLst/>
          </a:prstGeom>
          <a:solidFill>
            <a:srgbClr val="FF8286"/>
          </a:solidFill>
          <a:ln w="254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defTabSz="685800">
              <a:defRPr/>
            </a:pPr>
            <a:r>
              <a:rPr lang="zh-CN" altLang="en-US" sz="1350">
                <a:solidFill>
                  <a:prstClr val="black"/>
                </a:solidFill>
                <a:latin typeface="Calibri" panose="020F0502020204030204"/>
                <a:ea typeface="DengXian" panose="02010600030101010101" pitchFamily="2" charset="-122"/>
              </a:rPr>
              <a:t> </a:t>
            </a:r>
            <a:endParaRPr lang="en-US" sz="1350">
              <a:solidFill>
                <a:prstClr val="black"/>
              </a:solidFill>
              <a:latin typeface="Calibri" panose="020F0502020204030204"/>
            </a:endParaRPr>
          </a:p>
        </p:txBody>
      </p:sp>
      <p:cxnSp>
        <p:nvCxnSpPr>
          <p:cNvPr id="13" name="Straight Arrow Connector 12"/>
          <p:cNvCxnSpPr/>
          <p:nvPr/>
        </p:nvCxnSpPr>
        <p:spPr>
          <a:xfrm flipV="1">
            <a:off x="7125069" y="1908284"/>
            <a:ext cx="245515" cy="20056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8017226" y="1977493"/>
            <a:ext cx="401129" cy="401129"/>
          </a:xfrm>
          <a:prstGeom prst="rect">
            <a:avLst/>
          </a:prstGeom>
          <a:solidFill>
            <a:srgbClr val="FF8286"/>
          </a:solidFill>
          <a:ln w="254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defTabSz="685800">
              <a:defRPr/>
            </a:pPr>
            <a:r>
              <a:rPr lang="zh-CN" altLang="en-US" sz="1350">
                <a:solidFill>
                  <a:prstClr val="black"/>
                </a:solidFill>
                <a:latin typeface="Calibri" panose="020F0502020204030204"/>
                <a:ea typeface="DengXian" panose="02010600030101010101" pitchFamily="2" charset="-122"/>
              </a:rPr>
              <a:t> </a:t>
            </a:r>
            <a:endParaRPr lang="en-US" sz="1350" dirty="0">
              <a:solidFill>
                <a:prstClr val="black"/>
              </a:solidFill>
              <a:latin typeface="Calibri" panose="020F0502020204030204"/>
            </a:endParaRPr>
          </a:p>
        </p:txBody>
      </p:sp>
      <p:cxnSp>
        <p:nvCxnSpPr>
          <p:cNvPr id="15" name="Straight Arrow Connector 14"/>
          <p:cNvCxnSpPr>
            <a:stCxn id="21" idx="3"/>
          </p:cNvCxnSpPr>
          <p:nvPr/>
        </p:nvCxnSpPr>
        <p:spPr>
          <a:xfrm>
            <a:off x="7771712" y="1908284"/>
            <a:ext cx="245515" cy="26977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6122247" y="3113574"/>
            <a:ext cx="401129" cy="401129"/>
          </a:xfrm>
          <a:prstGeom prst="rect">
            <a:avLst/>
          </a:prstGeom>
          <a:solidFill>
            <a:schemeClr val="accent1">
              <a:lumMod val="20000"/>
              <a:lumOff val="80000"/>
            </a:schemeClr>
          </a:solidFill>
          <a:ln w="254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defTabSz="685800">
              <a:defRPr/>
            </a:pPr>
            <a:endParaRPr lang="en-US" sz="1350">
              <a:solidFill>
                <a:prstClr val="black"/>
              </a:solidFill>
              <a:latin typeface="Calibri" panose="020F0502020204030204"/>
            </a:endParaRPr>
          </a:p>
        </p:txBody>
      </p:sp>
      <p:sp>
        <p:nvSpPr>
          <p:cNvPr id="17" name="Rectangle 16"/>
          <p:cNvSpPr/>
          <p:nvPr/>
        </p:nvSpPr>
        <p:spPr>
          <a:xfrm>
            <a:off x="6723940" y="3414420"/>
            <a:ext cx="401129" cy="401129"/>
          </a:xfrm>
          <a:prstGeom prst="rect">
            <a:avLst/>
          </a:prstGeom>
          <a:solidFill>
            <a:schemeClr val="accent1">
              <a:lumMod val="20000"/>
              <a:lumOff val="80000"/>
            </a:schemeClr>
          </a:solidFill>
          <a:ln w="254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defTabSz="685800">
              <a:defRPr/>
            </a:pPr>
            <a:endParaRPr lang="en-US" sz="1350">
              <a:solidFill>
                <a:prstClr val="black"/>
              </a:solidFill>
              <a:latin typeface="Calibri" panose="020F0502020204030204"/>
            </a:endParaRPr>
          </a:p>
        </p:txBody>
      </p:sp>
      <p:cxnSp>
        <p:nvCxnSpPr>
          <p:cNvPr id="19" name="Straight Arrow Connector 18"/>
          <p:cNvCxnSpPr/>
          <p:nvPr/>
        </p:nvCxnSpPr>
        <p:spPr>
          <a:xfrm>
            <a:off x="6523376" y="3314138"/>
            <a:ext cx="200564" cy="30084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21" idx="3"/>
          </p:cNvCxnSpPr>
          <p:nvPr/>
        </p:nvCxnSpPr>
        <p:spPr>
          <a:xfrm>
            <a:off x="7771712" y="3414420"/>
            <a:ext cx="245515" cy="1821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7370583" y="3213856"/>
            <a:ext cx="401129" cy="401129"/>
          </a:xfrm>
          <a:prstGeom prst="rect">
            <a:avLst/>
          </a:prstGeom>
          <a:solidFill>
            <a:schemeClr val="accent1">
              <a:lumMod val="20000"/>
              <a:lumOff val="80000"/>
            </a:schemeClr>
          </a:solidFill>
          <a:ln w="254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defTabSz="685800">
              <a:defRPr/>
            </a:pPr>
            <a:r>
              <a:rPr lang="zh-CN" altLang="en-US" sz="1350">
                <a:solidFill>
                  <a:prstClr val="black"/>
                </a:solidFill>
                <a:latin typeface="Calibri" panose="020F0502020204030204"/>
                <a:ea typeface="DengXian" panose="02010600030101010101" pitchFamily="2" charset="-122"/>
              </a:rPr>
              <a:t> </a:t>
            </a:r>
            <a:endParaRPr lang="en-US" sz="1350">
              <a:solidFill>
                <a:prstClr val="black"/>
              </a:solidFill>
              <a:latin typeface="Calibri" panose="020F0502020204030204"/>
            </a:endParaRPr>
          </a:p>
        </p:txBody>
      </p:sp>
      <p:cxnSp>
        <p:nvCxnSpPr>
          <p:cNvPr id="22" name="Straight Arrow Connector 21"/>
          <p:cNvCxnSpPr/>
          <p:nvPr/>
        </p:nvCxnSpPr>
        <p:spPr>
          <a:xfrm flipV="1">
            <a:off x="7125069" y="3414421"/>
            <a:ext cx="245515" cy="20056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50"/>
          <p:cNvSpPr/>
          <p:nvPr/>
        </p:nvSpPr>
        <p:spPr>
          <a:xfrm>
            <a:off x="8017256" y="1977493"/>
            <a:ext cx="401129" cy="401129"/>
          </a:xfrm>
          <a:prstGeom prst="rect">
            <a:avLst/>
          </a:prstGeom>
          <a:solidFill>
            <a:srgbClr val="FF8286"/>
          </a:solidFill>
          <a:ln w="254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defTabSz="685800">
              <a:defRPr/>
            </a:pPr>
            <a:r>
              <a:rPr lang="zh-CN" altLang="en-US" sz="1350">
                <a:solidFill>
                  <a:prstClr val="black"/>
                </a:solidFill>
                <a:latin typeface="Calibri" panose="020F0502020204030204"/>
                <a:ea typeface="DengXian" panose="02010600030101010101" pitchFamily="2" charset="-122"/>
              </a:rPr>
              <a:t> </a:t>
            </a:r>
            <a:endParaRPr lang="en-US" sz="1350" dirty="0">
              <a:solidFill>
                <a:prstClr val="black"/>
              </a:solidFill>
              <a:latin typeface="Calibri" panose="020F0502020204030204"/>
            </a:endParaRPr>
          </a:p>
        </p:txBody>
      </p:sp>
      <p:grpSp>
        <p:nvGrpSpPr>
          <p:cNvPr id="50" name="Group 49"/>
          <p:cNvGrpSpPr/>
          <p:nvPr/>
        </p:nvGrpSpPr>
        <p:grpSpPr>
          <a:xfrm>
            <a:off x="8017227" y="1250390"/>
            <a:ext cx="668800" cy="562890"/>
            <a:chOff x="10689635" y="1286186"/>
            <a:chExt cx="891733" cy="750520"/>
          </a:xfrm>
        </p:grpSpPr>
        <p:sp>
          <p:nvSpPr>
            <p:cNvPr id="24" name="Rectangle 23"/>
            <p:cNvSpPr/>
            <p:nvPr/>
          </p:nvSpPr>
          <p:spPr>
            <a:xfrm>
              <a:off x="10689635" y="1399220"/>
              <a:ext cx="342900" cy="236147"/>
            </a:xfrm>
            <a:prstGeom prst="rect">
              <a:avLst/>
            </a:prstGeom>
            <a:solidFill>
              <a:schemeClr val="accent3">
                <a:lumMod val="20000"/>
                <a:lumOff val="8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26" name="Rectangle 25"/>
            <p:cNvSpPr/>
            <p:nvPr/>
          </p:nvSpPr>
          <p:spPr>
            <a:xfrm>
              <a:off x="10689635" y="1800559"/>
              <a:ext cx="342900" cy="236147"/>
            </a:xfrm>
            <a:prstGeom prst="rect">
              <a:avLst/>
            </a:prstGeom>
            <a:solidFill>
              <a:schemeClr val="accent3">
                <a:lumMod val="20000"/>
                <a:lumOff val="8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27" name="Rectangle 26"/>
            <p:cNvSpPr/>
            <p:nvPr/>
          </p:nvSpPr>
          <p:spPr>
            <a:xfrm>
              <a:off x="11238468" y="1286186"/>
              <a:ext cx="342900" cy="236147"/>
            </a:xfrm>
            <a:prstGeom prst="rect">
              <a:avLst/>
            </a:prstGeom>
            <a:solidFill>
              <a:schemeClr val="accent3">
                <a:lumMod val="20000"/>
                <a:lumOff val="8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28" name="Oval 27"/>
            <p:cNvSpPr/>
            <p:nvPr/>
          </p:nvSpPr>
          <p:spPr>
            <a:xfrm>
              <a:off x="11211701" y="1723501"/>
              <a:ext cx="304800" cy="304800"/>
            </a:xfrm>
            <a:prstGeom prst="ellipse">
              <a:avLst/>
            </a:prstGeom>
            <a:solidFill>
              <a:schemeClr val="bg2"/>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cxnSp>
          <p:nvCxnSpPr>
            <p:cNvPr id="32" name="Straight Arrow Connector 31"/>
            <p:cNvCxnSpPr>
              <a:stCxn id="24" idx="3"/>
              <a:endCxn id="27" idx="1"/>
            </p:cNvCxnSpPr>
            <p:nvPr/>
          </p:nvCxnSpPr>
          <p:spPr>
            <a:xfrm flipV="1">
              <a:off x="11032535" y="1404260"/>
              <a:ext cx="205933" cy="11303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27" idx="2"/>
              <a:endCxn id="28" idx="0"/>
            </p:cNvCxnSpPr>
            <p:nvPr/>
          </p:nvCxnSpPr>
          <p:spPr>
            <a:xfrm flipH="1">
              <a:off x="11364101" y="1522333"/>
              <a:ext cx="45817" cy="20116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28" idx="2"/>
              <a:endCxn id="26" idx="3"/>
            </p:cNvCxnSpPr>
            <p:nvPr/>
          </p:nvCxnSpPr>
          <p:spPr>
            <a:xfrm flipH="1">
              <a:off x="11032535" y="1875901"/>
              <a:ext cx="179166" cy="4273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12216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0" presetClass="entr" presetSubtype="0" fill="hold" grpId="2" nodeType="withEffect">
                                  <p:stCondLst>
                                    <p:cond delay="0"/>
                                  </p:stCondLst>
                                  <p:childTnLst>
                                    <p:set>
                                      <p:cBhvr>
                                        <p:cTn id="15" dur="1" fill="hold">
                                          <p:stCondLst>
                                            <p:cond delay="0"/>
                                          </p:stCondLst>
                                        </p:cTn>
                                        <p:tgtEl>
                                          <p:spTgt spid="51"/>
                                        </p:tgtEl>
                                        <p:attrNameLst>
                                          <p:attrName>style.visibility</p:attrName>
                                        </p:attrNameLst>
                                      </p:cBhvr>
                                      <p:to>
                                        <p:strVal val="visible"/>
                                      </p:to>
                                    </p:set>
                                    <p:animEffect transition="in" filter="fade">
                                      <p:cBhvr>
                                        <p:cTn id="16" dur="500"/>
                                        <p:tgtEl>
                                          <p:spTgt spid="51"/>
                                        </p:tgtEl>
                                      </p:cBhvr>
                                    </p:animEffect>
                                  </p:childTnLst>
                                </p:cTn>
                              </p:par>
                              <p:par>
                                <p:cTn id="17" presetID="10" presetClass="entr" presetSubtype="0" fill="hold" nodeType="withEffect">
                                  <p:stCondLst>
                                    <p:cond delay="0"/>
                                  </p:stCondLst>
                                  <p:childTnLst>
                                    <p:set>
                                      <p:cBhvr>
                                        <p:cTn id="18" dur="1" fill="hold">
                                          <p:stCondLst>
                                            <p:cond delay="0"/>
                                          </p:stCondLst>
                                        </p:cTn>
                                        <p:tgtEl>
                                          <p:spTgt spid="50"/>
                                        </p:tgtEl>
                                        <p:attrNameLst>
                                          <p:attrName>style.visibility</p:attrName>
                                        </p:attrNameLst>
                                      </p:cBhvr>
                                      <p:to>
                                        <p:strVal val="visible"/>
                                      </p:to>
                                    </p:set>
                                    <p:animEffect transition="in" filter="fade">
                                      <p:cBhvr>
                                        <p:cTn id="19" dur="500"/>
                                        <p:tgtEl>
                                          <p:spTgt spid="5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58" presetClass="path" presetSubtype="0" accel="50000" decel="50000" fill="hold" nodeType="withEffect">
                                  <p:stCondLst>
                                    <p:cond delay="0"/>
                                  </p:stCondLst>
                                  <p:childTnLst>
                                    <p:animMotion origin="layout" path="M -1.25E-6 3.7037E-7 L 0.03998 0.06181 C 0.04896 0.075 0.05404 0.09444 0.05404 0.11481 C 0.05404 0.13796 0.04896 0.15625 0.03998 0.16944 L -1.25E-6 0.23148 " pathEditMode="relative" rAng="0" ptsTypes="AAAAA">
                                      <p:cBhvr>
                                        <p:cTn id="26" dur="2000" fill="hold"/>
                                        <p:tgtEl>
                                          <p:spTgt spid="50"/>
                                        </p:tgtEl>
                                        <p:attrNameLst>
                                          <p:attrName>ppt_x</p:attrName>
                                          <p:attrName>ppt_y</p:attrName>
                                        </p:attrNameLst>
                                      </p:cBhvr>
                                      <p:rCtr x="2695" y="11574"/>
                                    </p:animMotion>
                                  </p:childTnLst>
                                </p:cTn>
                              </p:par>
                              <p:par>
                                <p:cTn id="27" presetID="42" presetClass="path" presetSubtype="0" accel="50000" decel="50000" fill="hold" grpId="0" nodeType="withEffect">
                                  <p:stCondLst>
                                    <p:cond delay="0"/>
                                  </p:stCondLst>
                                  <p:childTnLst>
                                    <p:animMotion origin="layout" path="M 2.08333E-6 -4.07407E-6 L 2.08333E-6 0.0882 " pathEditMode="relative" rAng="0" ptsTypes="AA">
                                      <p:cBhvr>
                                        <p:cTn id="28" dur="2000" fill="hold"/>
                                        <p:tgtEl>
                                          <p:spTgt spid="51"/>
                                        </p:tgtEl>
                                        <p:attrNameLst>
                                          <p:attrName>ppt_x</p:attrName>
                                          <p:attrName>ppt_y</p:attrName>
                                        </p:attrNameLst>
                                      </p:cBhvr>
                                      <p:rCtr x="0" y="4398"/>
                                    </p:animMotion>
                                  </p:childTnLst>
                                </p:cTn>
                              </p:par>
                            </p:childTnLst>
                          </p:cTn>
                        </p:par>
                        <p:par>
                          <p:cTn id="29" fill="hold">
                            <p:stCondLst>
                              <p:cond delay="2000"/>
                            </p:stCondLst>
                            <p:childTnLst>
                              <p:par>
                                <p:cTn id="30" presetID="10" presetClass="exit" presetSubtype="0" fill="hold" nodeType="afterEffect">
                                  <p:stCondLst>
                                    <p:cond delay="0"/>
                                  </p:stCondLst>
                                  <p:childTnLst>
                                    <p:animEffect transition="out" filter="fade">
                                      <p:cBhvr>
                                        <p:cTn id="31" dur="2000"/>
                                        <p:tgtEl>
                                          <p:spTgt spid="50"/>
                                        </p:tgtEl>
                                      </p:cBhvr>
                                    </p:animEffect>
                                    <p:set>
                                      <p:cBhvr>
                                        <p:cTn id="32" dur="1" fill="hold">
                                          <p:stCondLst>
                                            <p:cond delay="1999"/>
                                          </p:stCondLst>
                                        </p:cTn>
                                        <p:tgtEl>
                                          <p:spTgt spid="50"/>
                                        </p:tgtEl>
                                        <p:attrNameLst>
                                          <p:attrName>style.visibility</p:attrName>
                                        </p:attrNameLst>
                                      </p:cBhvr>
                                      <p:to>
                                        <p:strVal val="hidden"/>
                                      </p:to>
                                    </p:set>
                                  </p:childTnLst>
                                </p:cTn>
                              </p:par>
                              <p:par>
                                <p:cTn id="33" presetID="42" presetClass="path" presetSubtype="0" accel="50000" decel="50000" fill="hold" grpId="1" nodeType="withEffect">
                                  <p:stCondLst>
                                    <p:cond delay="0"/>
                                  </p:stCondLst>
                                  <p:childTnLst>
                                    <p:animMotion origin="layout" path="M 2.08333E-6 0.10024 L 2.08333E-6 0.27593 " pathEditMode="relative" rAng="0" ptsTypes="AA">
                                      <p:cBhvr>
                                        <p:cTn id="34" dur="1000" fill="hold"/>
                                        <p:tgtEl>
                                          <p:spTgt spid="51"/>
                                        </p:tgtEl>
                                        <p:attrNameLst>
                                          <p:attrName>ppt_x</p:attrName>
                                          <p:attrName>ppt_y</p:attrName>
                                        </p:attrNameLst>
                                      </p:cBhvr>
                                      <p:rCtr x="0" y="8773"/>
                                    </p:animMotion>
                                  </p:childTnLst>
                                </p:cTn>
                              </p:par>
                              <p:par>
                                <p:cTn id="35" presetID="1" presetClass="emph" presetSubtype="2" fill="hold" nodeType="withEffect">
                                  <p:stCondLst>
                                    <p:cond delay="0"/>
                                  </p:stCondLst>
                                  <p:childTnLst>
                                    <p:animClr clrSpc="rgb" dir="cw">
                                      <p:cBhvr>
                                        <p:cTn id="36" dur="1000" fill="hold"/>
                                        <p:tgtEl>
                                          <p:spTgt spid="51"/>
                                        </p:tgtEl>
                                        <p:attrNameLst>
                                          <p:attrName>fillcolor</p:attrName>
                                        </p:attrNameLst>
                                      </p:cBhvr>
                                      <p:to>
                                        <a:srgbClr val="DEEBF7"/>
                                      </p:to>
                                    </p:animClr>
                                    <p:set>
                                      <p:cBhvr>
                                        <p:cTn id="37" dur="1000" fill="hold"/>
                                        <p:tgtEl>
                                          <p:spTgt spid="51"/>
                                        </p:tgtEl>
                                        <p:attrNameLst>
                                          <p:attrName>fill.type</p:attrName>
                                        </p:attrNameLst>
                                      </p:cBhvr>
                                      <p:to>
                                        <p:strVal val="solid"/>
                                      </p:to>
                                    </p:set>
                                    <p:set>
                                      <p:cBhvr>
                                        <p:cTn id="38" dur="1000" fill="hold"/>
                                        <p:tgtEl>
                                          <p:spTgt spid="51"/>
                                        </p:tgtEl>
                                        <p:attrNameLst>
                                          <p:attrName>fill.on</p:attrName>
                                        </p:attrNameLst>
                                      </p:cBhvr>
                                      <p:to>
                                        <p:strVal val="true"/>
                                      </p:to>
                                    </p:set>
                                  </p:childTnLst>
                                </p:cTn>
                              </p:par>
                            </p:childTnLst>
                          </p:cTn>
                        </p:par>
                        <p:par>
                          <p:cTn id="39" fill="hold">
                            <p:stCondLst>
                              <p:cond delay="4000"/>
                            </p:stCondLst>
                            <p:childTnLst>
                              <p:par>
                                <p:cTn id="40" presetID="22" presetClass="entr" presetSubtype="8" fill="hold" nodeType="after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wipe(left)">
                                      <p:cBhvr>
                                        <p:cTn id="42" dur="50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2" end="2"/>
                                            </p:txEl>
                                          </p:spTgt>
                                        </p:tgtEl>
                                        <p:attrNameLst>
                                          <p:attrName>style.visibility</p:attrName>
                                        </p:attrNameLst>
                                      </p:cBhvr>
                                      <p:to>
                                        <p:strVal val="visible"/>
                                      </p:to>
                                    </p:set>
                                    <p:animEffect transition="in" filter="fade">
                                      <p:cBhvr>
                                        <p:cTn id="47" dur="500"/>
                                        <p:tgtEl>
                                          <p:spTgt spid="3">
                                            <p:txEl>
                                              <p:pRg st="2" end="2"/>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3">
                                            <p:txEl>
                                              <p:pRg st="3" end="3"/>
                                            </p:txEl>
                                          </p:spTgt>
                                        </p:tgtEl>
                                        <p:attrNameLst>
                                          <p:attrName>style.visibility</p:attrName>
                                        </p:attrNameLst>
                                      </p:cBhvr>
                                      <p:to>
                                        <p:strVal val="visible"/>
                                      </p:to>
                                    </p:set>
                                    <p:animEffect transition="in" filter="fade">
                                      <p:cBhvr>
                                        <p:cTn id="50" dur="500"/>
                                        <p:tgtEl>
                                          <p:spTgt spid="3">
                                            <p:txEl>
                                              <p:pRg st="3" end="3"/>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3">
                                            <p:txEl>
                                              <p:pRg st="6" end="6"/>
                                            </p:txEl>
                                          </p:spTgt>
                                        </p:tgtEl>
                                        <p:attrNameLst>
                                          <p:attrName>style.visibility</p:attrName>
                                        </p:attrNameLst>
                                      </p:cBhvr>
                                      <p:to>
                                        <p:strVal val="visible"/>
                                      </p:to>
                                    </p:set>
                                    <p:animEffect transition="in" filter="fade">
                                      <p:cBhvr>
                                        <p:cTn id="55" dur="500"/>
                                        <p:tgtEl>
                                          <p:spTgt spid="3">
                                            <p:txEl>
                                              <p:pRg st="6" end="6"/>
                                            </p:txEl>
                                          </p:spTgt>
                                        </p:tgtEl>
                                      </p:cBhvr>
                                    </p:animEffect>
                                  </p:childTnLst>
                                </p:cTn>
                              </p:par>
                              <p:par>
                                <p:cTn id="56" presetID="10" presetClass="entr" presetSubtype="0" fill="hold" nodeType="withEffect">
                                  <p:stCondLst>
                                    <p:cond delay="0"/>
                                  </p:stCondLst>
                                  <p:childTnLst>
                                    <p:set>
                                      <p:cBhvr>
                                        <p:cTn id="57" dur="1" fill="hold">
                                          <p:stCondLst>
                                            <p:cond delay="0"/>
                                          </p:stCondLst>
                                        </p:cTn>
                                        <p:tgtEl>
                                          <p:spTgt spid="3">
                                            <p:txEl>
                                              <p:pRg st="7" end="7"/>
                                            </p:txEl>
                                          </p:spTgt>
                                        </p:tgtEl>
                                        <p:attrNameLst>
                                          <p:attrName>style.visibility</p:attrName>
                                        </p:attrNameLst>
                                      </p:cBhvr>
                                      <p:to>
                                        <p:strVal val="visible"/>
                                      </p:to>
                                    </p:set>
                                    <p:animEffect transition="in" filter="fade">
                                      <p:cBhvr>
                                        <p:cTn id="5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51" grpId="0" animBg="1"/>
      <p:bldP spid="51" grpId="1" animBg="1"/>
      <p:bldP spid="51" grpId="2"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DDC32-D951-904C-9656-C9FE4C4B7B45}"/>
              </a:ext>
            </a:extLst>
          </p:cNvPr>
          <p:cNvSpPr>
            <a:spLocks noGrp="1"/>
          </p:cNvSpPr>
          <p:nvPr>
            <p:ph type="title"/>
          </p:nvPr>
        </p:nvSpPr>
        <p:spPr/>
        <p:txBody>
          <a:bodyPr/>
          <a:lstStyle/>
          <a:p>
            <a:r>
              <a:rPr lang="en-CN"/>
              <a:t>Soft</a:t>
            </a:r>
            <a:r>
              <a:rPr lang="zh-CN" altLang="en-US" dirty="0"/>
              <a:t> </a:t>
            </a:r>
            <a:r>
              <a:rPr lang="en-US" altLang="zh-CN" dirty="0"/>
              <a:t>Updates</a:t>
            </a:r>
            <a:r>
              <a:rPr lang="zh-CN" altLang="en-US" dirty="0"/>
              <a:t>的三个次序规则</a:t>
            </a:r>
            <a:endParaRPr lang="en-CN" dirty="0"/>
          </a:p>
        </p:txBody>
      </p:sp>
      <p:sp>
        <p:nvSpPr>
          <p:cNvPr id="3" name="Content Placeholder 2">
            <a:extLst>
              <a:ext uri="{FF2B5EF4-FFF2-40B4-BE49-F238E27FC236}">
                <a16:creationId xmlns:a16="http://schemas.microsoft.com/office/drawing/2014/main" id="{C678C414-7F68-3144-B3EA-DF88FD3FA3A0}"/>
              </a:ext>
            </a:extLst>
          </p:cNvPr>
          <p:cNvSpPr>
            <a:spLocks noGrp="1"/>
          </p:cNvSpPr>
          <p:nvPr>
            <p:ph idx="1"/>
          </p:nvPr>
        </p:nvSpPr>
        <p:spPr>
          <a:xfrm>
            <a:off x="457200" y="1129308"/>
            <a:ext cx="8229600" cy="3975829"/>
          </a:xfrm>
        </p:spPr>
        <p:txBody>
          <a:bodyPr>
            <a:normAutofit fontScale="92500"/>
          </a:bodyPr>
          <a:lstStyle/>
          <a:p>
            <a:pPr marL="0" indent="0">
              <a:buNone/>
            </a:pPr>
            <a:r>
              <a:rPr lang="en-US" altLang="zh-CN" dirty="0"/>
              <a:t>1.</a:t>
            </a:r>
            <a:r>
              <a:rPr lang="zh-CN" altLang="en-US" dirty="0"/>
              <a:t> 不要指向一个未初始化的结构</a:t>
            </a:r>
            <a:endParaRPr lang="en-US" altLang="zh-CN" dirty="0"/>
          </a:p>
          <a:p>
            <a:pPr lvl="1"/>
            <a:r>
              <a:rPr lang="zh-CN" altLang="en-US" dirty="0"/>
              <a:t>如：目录项指向一个</a:t>
            </a:r>
            <a:r>
              <a:rPr lang="en-US" altLang="zh-CN" dirty="0" err="1"/>
              <a:t>inode</a:t>
            </a:r>
            <a:r>
              <a:rPr lang="zh-CN" altLang="en-US" dirty="0"/>
              <a:t>之前，改</a:t>
            </a:r>
            <a:r>
              <a:rPr lang="en-US" altLang="zh-CN" dirty="0" err="1"/>
              <a:t>inode</a:t>
            </a:r>
            <a:r>
              <a:rPr lang="zh-CN" altLang="en-US" dirty="0"/>
              <a:t>结构应该先被初始化</a:t>
            </a:r>
            <a:endParaRPr lang="en-US" altLang="zh-CN" dirty="0"/>
          </a:p>
          <a:p>
            <a:pPr marL="400050" lvl="1" indent="0">
              <a:buNone/>
            </a:pPr>
            <a:endParaRPr lang="en-US" altLang="zh-CN" sz="1800" b="0" dirty="0"/>
          </a:p>
          <a:p>
            <a:pPr marL="0" indent="0">
              <a:buNone/>
            </a:pPr>
            <a:r>
              <a:rPr lang="en-US" altLang="zh-CN" dirty="0"/>
              <a:t>2.</a:t>
            </a:r>
            <a:r>
              <a:rPr lang="zh-CN" altLang="en-US" dirty="0"/>
              <a:t> 一个结构被指针指向时，不要重用该结构</a:t>
            </a:r>
            <a:endParaRPr lang="en-US" altLang="zh-CN" dirty="0"/>
          </a:p>
          <a:p>
            <a:pPr lvl="1"/>
            <a:r>
              <a:rPr lang="zh-CN" altLang="en-US" dirty="0"/>
              <a:t>如：当一个</a:t>
            </a:r>
            <a:r>
              <a:rPr lang="en-US" altLang="zh-CN" dirty="0" err="1"/>
              <a:t>inode</a:t>
            </a:r>
            <a:r>
              <a:rPr lang="zh-CN" altLang="en-US" dirty="0"/>
              <a:t>指向了一个数据块时，这个数据块不应该被重新分配给其他结构</a:t>
            </a:r>
            <a:endParaRPr lang="en-US" dirty="0"/>
          </a:p>
          <a:p>
            <a:pPr marL="400050" lvl="1" indent="0">
              <a:buNone/>
            </a:pPr>
            <a:endParaRPr lang="en-US" altLang="zh-CN" sz="1800" b="0" dirty="0"/>
          </a:p>
          <a:p>
            <a:pPr marL="0" indent="0">
              <a:buNone/>
            </a:pPr>
            <a:r>
              <a:rPr lang="en-US" altLang="zh-CN" dirty="0"/>
              <a:t>3.</a:t>
            </a:r>
            <a:r>
              <a:rPr lang="zh-CN" altLang="en-US" dirty="0"/>
              <a:t> 不要修改最后一个指向有用结构的指针</a:t>
            </a:r>
            <a:endParaRPr lang="en-US" dirty="0"/>
          </a:p>
          <a:p>
            <a:pPr lvl="1"/>
            <a:r>
              <a:rPr lang="zh-CN" altLang="en-US" dirty="0"/>
              <a:t>如：</a:t>
            </a:r>
            <a:r>
              <a:rPr lang="en-US" dirty="0"/>
              <a:t>Rename</a:t>
            </a:r>
            <a:r>
              <a:rPr lang="zh-CN" altLang="en-US" dirty="0"/>
              <a:t>文件时，在写入新的目录项前，不应删除旧的目录项</a:t>
            </a:r>
            <a:endParaRPr lang="en-US" dirty="0"/>
          </a:p>
        </p:txBody>
      </p:sp>
      <p:sp>
        <p:nvSpPr>
          <p:cNvPr id="4" name="Slide Number Placeholder 3">
            <a:extLst>
              <a:ext uri="{FF2B5EF4-FFF2-40B4-BE49-F238E27FC236}">
                <a16:creationId xmlns:a16="http://schemas.microsoft.com/office/drawing/2014/main" id="{2283FC2E-96EC-D741-96D2-54CAC8B87FEA}"/>
              </a:ext>
            </a:extLst>
          </p:cNvPr>
          <p:cNvSpPr>
            <a:spLocks noGrp="1"/>
          </p:cNvSpPr>
          <p:nvPr>
            <p:ph type="sldNum" sz="quarter" idx="12"/>
          </p:nvPr>
        </p:nvSpPr>
        <p:spPr/>
        <p:txBody>
          <a:bodyPr/>
          <a:lstStyle/>
          <a:p>
            <a:fld id="{ADE361C3-C043-4A6E-BDCE-8DA1E7D90A3B}" type="slidenum">
              <a:rPr lang="zh-CN" altLang="en-US" smtClean="0"/>
              <a:t>54</a:t>
            </a:fld>
            <a:endParaRPr lang="zh-CN" altLang="en-US"/>
          </a:p>
        </p:txBody>
      </p:sp>
      <p:sp>
        <p:nvSpPr>
          <p:cNvPr id="5" name="Footer Placeholder 4">
            <a:extLst>
              <a:ext uri="{FF2B5EF4-FFF2-40B4-BE49-F238E27FC236}">
                <a16:creationId xmlns:a16="http://schemas.microsoft.com/office/drawing/2014/main" id="{E8C2BA8D-631E-D34D-B191-2C28C8B58BAA}"/>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74388494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DDC32-D951-904C-9656-C9FE4C4B7B45}"/>
              </a:ext>
            </a:extLst>
          </p:cNvPr>
          <p:cNvSpPr>
            <a:spLocks noGrp="1"/>
          </p:cNvSpPr>
          <p:nvPr>
            <p:ph type="title"/>
          </p:nvPr>
        </p:nvSpPr>
        <p:spPr/>
        <p:txBody>
          <a:bodyPr/>
          <a:lstStyle/>
          <a:p>
            <a:r>
              <a:rPr lang="en-CN"/>
              <a:t>Soft</a:t>
            </a:r>
            <a:r>
              <a:rPr lang="zh-CN" altLang="en-US" dirty="0"/>
              <a:t> </a:t>
            </a:r>
            <a:r>
              <a:rPr lang="en-US" altLang="zh-CN" dirty="0"/>
              <a:t>Updates</a:t>
            </a:r>
            <a:endParaRPr lang="en-CN" dirty="0"/>
          </a:p>
        </p:txBody>
      </p:sp>
      <p:sp>
        <p:nvSpPr>
          <p:cNvPr id="3" name="Content Placeholder 2">
            <a:extLst>
              <a:ext uri="{FF2B5EF4-FFF2-40B4-BE49-F238E27FC236}">
                <a16:creationId xmlns:a16="http://schemas.microsoft.com/office/drawing/2014/main" id="{C678C414-7F68-3144-B3EA-DF88FD3FA3A0}"/>
              </a:ext>
            </a:extLst>
          </p:cNvPr>
          <p:cNvSpPr>
            <a:spLocks noGrp="1"/>
          </p:cNvSpPr>
          <p:nvPr>
            <p:ph idx="1"/>
          </p:nvPr>
        </p:nvSpPr>
        <p:spPr/>
        <p:txBody>
          <a:bodyPr>
            <a:normAutofit/>
          </a:bodyPr>
          <a:lstStyle/>
          <a:p>
            <a:r>
              <a:rPr lang="zh-CN" altLang="en-US" dirty="0"/>
              <a:t>对于每个文件系统请求，将其拆解成对多个结构的操作</a:t>
            </a:r>
            <a:endParaRPr lang="en-US" altLang="zh-CN" dirty="0"/>
          </a:p>
          <a:p>
            <a:pPr lvl="1"/>
            <a:r>
              <a:rPr lang="zh-CN" altLang="en-US" b="0" dirty="0"/>
              <a:t>记录对每个结构的修改内容（旧值、新值）</a:t>
            </a:r>
            <a:endParaRPr lang="en-US" altLang="zh-CN" b="0" dirty="0"/>
          </a:p>
          <a:p>
            <a:pPr lvl="1"/>
            <a:r>
              <a:rPr lang="zh-CN" altLang="en-US" dirty="0"/>
              <a:t>记录这个修改依赖于那些修改（应在哪些修改之后持久化）</a:t>
            </a:r>
            <a:endParaRPr lang="en-US" altLang="zh-CN" dirty="0"/>
          </a:p>
          <a:p>
            <a:pPr lvl="1"/>
            <a:r>
              <a:rPr lang="zh-CN" altLang="en-US" dirty="0"/>
              <a:t>如创建文件：</a:t>
            </a:r>
            <a:endParaRPr lang="en-US" altLang="zh-CN" dirty="0"/>
          </a:p>
          <a:p>
            <a:pPr marL="857250" lvl="2" indent="0">
              <a:buNone/>
            </a:pPr>
            <a:r>
              <a:rPr lang="en-US" altLang="zh-CN" dirty="0"/>
              <a:t>1.</a:t>
            </a:r>
            <a:r>
              <a:rPr lang="zh-CN" altLang="en-US" dirty="0"/>
              <a:t> 标记</a:t>
            </a:r>
            <a:r>
              <a:rPr lang="en-US" altLang="zh-CN" dirty="0" err="1"/>
              <a:t>inode</a:t>
            </a:r>
            <a:r>
              <a:rPr lang="zh-CN" altLang="en-US" dirty="0"/>
              <a:t>为占用（对</a:t>
            </a:r>
            <a:r>
              <a:rPr lang="en-US" altLang="zh-CN" dirty="0"/>
              <a:t>bitmap</a:t>
            </a:r>
            <a:r>
              <a:rPr lang="zh-CN" altLang="en-US" dirty="0"/>
              <a:t>的修改）</a:t>
            </a:r>
            <a:br>
              <a:rPr lang="en-US" altLang="zh-CN" dirty="0"/>
            </a:br>
            <a:r>
              <a:rPr lang="en-US" altLang="zh-CN" dirty="0"/>
              <a:t>2.</a:t>
            </a:r>
            <a:r>
              <a:rPr lang="zh-CN" altLang="en-US" dirty="0"/>
              <a:t> 初始化</a:t>
            </a:r>
            <a:r>
              <a:rPr lang="en-US" altLang="zh-CN" dirty="0" err="1"/>
              <a:t>inode</a:t>
            </a:r>
            <a:r>
              <a:rPr lang="zh-CN" altLang="en-US" dirty="0"/>
              <a:t>（对</a:t>
            </a:r>
            <a:r>
              <a:rPr lang="en-US" altLang="zh-CN" dirty="0" err="1"/>
              <a:t>inode</a:t>
            </a:r>
            <a:r>
              <a:rPr lang="zh-CN" altLang="en-US" dirty="0"/>
              <a:t>的修改，依赖于</a:t>
            </a:r>
            <a:r>
              <a:rPr lang="en-US" altLang="zh-CN" dirty="0"/>
              <a:t>1</a:t>
            </a:r>
            <a:r>
              <a:rPr lang="zh-CN" altLang="en-US" dirty="0"/>
              <a:t>）</a:t>
            </a:r>
            <a:br>
              <a:rPr lang="en-US" altLang="zh-CN" dirty="0"/>
            </a:br>
            <a:r>
              <a:rPr lang="en-US" altLang="zh-CN" dirty="0"/>
              <a:t>3.</a:t>
            </a:r>
            <a:r>
              <a:rPr lang="zh-CN" altLang="en-US" dirty="0"/>
              <a:t> 将目录项写入目录中（对目录文件的内容修改，依赖于</a:t>
            </a:r>
            <a:r>
              <a:rPr lang="en-US" altLang="zh-CN" dirty="0"/>
              <a:t>1</a:t>
            </a:r>
            <a:r>
              <a:rPr lang="zh-CN" altLang="en-US" dirty="0"/>
              <a:t>和</a:t>
            </a:r>
            <a:r>
              <a:rPr lang="en-US" altLang="zh-CN" dirty="0"/>
              <a:t>2</a:t>
            </a:r>
            <a:r>
              <a:rPr lang="zh-CN" altLang="en-US" dirty="0"/>
              <a:t>）</a:t>
            </a:r>
            <a:endParaRPr lang="en-US" altLang="zh-CN" dirty="0"/>
          </a:p>
        </p:txBody>
      </p:sp>
      <p:sp>
        <p:nvSpPr>
          <p:cNvPr id="4" name="Slide Number Placeholder 3">
            <a:extLst>
              <a:ext uri="{FF2B5EF4-FFF2-40B4-BE49-F238E27FC236}">
                <a16:creationId xmlns:a16="http://schemas.microsoft.com/office/drawing/2014/main" id="{2283FC2E-96EC-D741-96D2-54CAC8B87FEA}"/>
              </a:ext>
            </a:extLst>
          </p:cNvPr>
          <p:cNvSpPr>
            <a:spLocks noGrp="1"/>
          </p:cNvSpPr>
          <p:nvPr>
            <p:ph type="sldNum" sz="quarter" idx="12"/>
          </p:nvPr>
        </p:nvSpPr>
        <p:spPr/>
        <p:txBody>
          <a:bodyPr/>
          <a:lstStyle/>
          <a:p>
            <a:fld id="{ADE361C3-C043-4A6E-BDCE-8DA1E7D90A3B}" type="slidenum">
              <a:rPr lang="zh-CN" altLang="en-US" smtClean="0"/>
              <a:t>55</a:t>
            </a:fld>
            <a:endParaRPr lang="zh-CN" altLang="en-US"/>
          </a:p>
        </p:txBody>
      </p:sp>
      <p:sp>
        <p:nvSpPr>
          <p:cNvPr id="5" name="Footer Placeholder 4">
            <a:extLst>
              <a:ext uri="{FF2B5EF4-FFF2-40B4-BE49-F238E27FC236}">
                <a16:creationId xmlns:a16="http://schemas.microsoft.com/office/drawing/2014/main" id="{E8C2BA8D-631E-D34D-B191-2C28C8B58BAA}"/>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26974497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7E53A464-4EB1-4D4B-B540-4CDAE40FBFC5}"/>
              </a:ext>
            </a:extLst>
          </p:cNvPr>
          <p:cNvPicPr>
            <a:picLocks noChangeAspect="1"/>
          </p:cNvPicPr>
          <p:nvPr/>
        </p:nvPicPr>
        <p:blipFill>
          <a:blip r:embed="rId2"/>
          <a:stretch>
            <a:fillRect/>
          </a:stretch>
        </p:blipFill>
        <p:spPr>
          <a:xfrm>
            <a:off x="5331043" y="0"/>
            <a:ext cx="3921477" cy="2137420"/>
          </a:xfrm>
          <a:prstGeom prst="rect">
            <a:avLst/>
          </a:prstGeom>
        </p:spPr>
      </p:pic>
      <p:sp>
        <p:nvSpPr>
          <p:cNvPr id="2" name="标题 1">
            <a:extLst>
              <a:ext uri="{FF2B5EF4-FFF2-40B4-BE49-F238E27FC236}">
                <a16:creationId xmlns:a16="http://schemas.microsoft.com/office/drawing/2014/main" id="{ED6D1858-4DF3-DE42-A562-B35F2B413684}"/>
              </a:ext>
            </a:extLst>
          </p:cNvPr>
          <p:cNvSpPr>
            <a:spLocks noGrp="1"/>
          </p:cNvSpPr>
          <p:nvPr>
            <p:ph type="title"/>
          </p:nvPr>
        </p:nvSpPr>
        <p:spPr/>
        <p:txBody>
          <a:bodyPr/>
          <a:lstStyle/>
          <a:p>
            <a:r>
              <a:rPr kumimoji="1" lang="zh-CN" altLang="en-US" dirty="0"/>
              <a:t>创建文件</a:t>
            </a:r>
          </a:p>
        </p:txBody>
      </p:sp>
      <p:sp>
        <p:nvSpPr>
          <p:cNvPr id="3" name="内容占位符 2">
            <a:extLst>
              <a:ext uri="{FF2B5EF4-FFF2-40B4-BE49-F238E27FC236}">
                <a16:creationId xmlns:a16="http://schemas.microsoft.com/office/drawing/2014/main" id="{2397D4B6-5676-0240-B346-F4BEF090A603}"/>
              </a:ext>
            </a:extLst>
          </p:cNvPr>
          <p:cNvSpPr>
            <a:spLocks noGrp="1"/>
          </p:cNvSpPr>
          <p:nvPr>
            <p:ph idx="1"/>
          </p:nvPr>
        </p:nvSpPr>
        <p:spPr>
          <a:xfrm>
            <a:off x="457200" y="1392601"/>
            <a:ext cx="8229600" cy="3712536"/>
          </a:xfrm>
        </p:spPr>
        <p:txBody>
          <a:bodyPr>
            <a:normAutofit/>
          </a:bodyPr>
          <a:lstStyle/>
          <a:p>
            <a:r>
              <a:rPr kumimoji="1" lang="zh-CN" altLang="en-US" sz="2000" dirty="0"/>
              <a:t>操作步骤</a:t>
            </a:r>
            <a:endParaRPr kumimoji="1" lang="en-US" altLang="zh-CN" sz="2000" dirty="0"/>
          </a:p>
          <a:p>
            <a:pPr lvl="1"/>
            <a:r>
              <a:rPr kumimoji="1" lang="zh-CN" altLang="en-US" sz="1600" dirty="0"/>
              <a:t>根据规则</a:t>
            </a:r>
            <a:r>
              <a:rPr kumimoji="1" lang="en-US" altLang="zh-CN" sz="1600" dirty="0"/>
              <a:t>1</a:t>
            </a:r>
            <a:r>
              <a:rPr kumimoji="1" lang="zh-CN" altLang="en-US" sz="1600" dirty="0"/>
              <a:t>，</a:t>
            </a:r>
            <a:r>
              <a:rPr kumimoji="1" lang="en" altLang="zh-CN" sz="1600" dirty="0" err="1"/>
              <a:t>inode</a:t>
            </a:r>
            <a:r>
              <a:rPr kumimoji="1" lang="en" altLang="zh-CN" sz="1600" dirty="0"/>
              <a:t> </a:t>
            </a:r>
            <a:r>
              <a:rPr kumimoji="1" lang="zh-CN" altLang="en-US" sz="1600" dirty="0"/>
              <a:t>初始化的持久化应早于增加目录项操作的持久化</a:t>
            </a:r>
            <a:endParaRPr kumimoji="1" lang="en-US" altLang="zh-CN" sz="1600" dirty="0"/>
          </a:p>
          <a:p>
            <a:pPr lvl="1"/>
            <a:r>
              <a:rPr kumimoji="1" lang="zh-CN" altLang="en-US" sz="1600" dirty="0"/>
              <a:t>根据规则</a:t>
            </a:r>
            <a:r>
              <a:rPr kumimoji="1" lang="en-US" altLang="zh-CN" sz="1600" dirty="0"/>
              <a:t>2</a:t>
            </a:r>
            <a:r>
              <a:rPr kumimoji="1" lang="zh-CN" altLang="en-US" sz="1600" dirty="0"/>
              <a:t>，</a:t>
            </a:r>
            <a:r>
              <a:rPr kumimoji="1" lang="en" altLang="zh-CN" sz="1600" dirty="0" err="1"/>
              <a:t>inode</a:t>
            </a:r>
            <a:r>
              <a:rPr kumimoji="1" lang="en" altLang="zh-CN" sz="1600" dirty="0"/>
              <a:t> </a:t>
            </a:r>
            <a:r>
              <a:rPr kumimoji="1" lang="zh-CN" altLang="en-US" sz="1600" dirty="0"/>
              <a:t>分配同样应该在增加目录项之前持久化</a:t>
            </a:r>
            <a:endParaRPr kumimoji="1" lang="en-US" altLang="zh-CN" sz="1600" dirty="0"/>
          </a:p>
          <a:p>
            <a:pPr lvl="1"/>
            <a:r>
              <a:rPr kumimoji="1" lang="zh-CN" altLang="en-US" sz="1600" dirty="0"/>
              <a:t>需同时创建“</a:t>
            </a:r>
            <a:r>
              <a:rPr kumimoji="1" lang="en-US" altLang="zh-CN" sz="1600" dirty="0"/>
              <a:t>.</a:t>
            </a:r>
            <a:r>
              <a:rPr kumimoji="1" lang="zh-CN" altLang="en-US" sz="1600" dirty="0"/>
              <a:t>”和“</a:t>
            </a:r>
            <a:r>
              <a:rPr kumimoji="1" lang="en-US" altLang="zh-CN" sz="1600" dirty="0"/>
              <a:t>..</a:t>
            </a:r>
            <a:r>
              <a:rPr kumimoji="1" lang="zh-CN" altLang="en-US" sz="1600" dirty="0"/>
              <a:t>”两个目录项，需要分配并初始化一个新的数据块</a:t>
            </a:r>
            <a:endParaRPr kumimoji="1" lang="en-US" altLang="zh-CN" sz="1600" dirty="0"/>
          </a:p>
          <a:p>
            <a:pPr lvl="1"/>
            <a:r>
              <a:rPr kumimoji="1" lang="zh-CN" altLang="en-US" sz="1600" dirty="0"/>
              <a:t>根据规则</a:t>
            </a:r>
            <a:r>
              <a:rPr kumimoji="1" lang="en-US" altLang="zh-CN" sz="1600" dirty="0"/>
              <a:t>1</a:t>
            </a:r>
            <a:r>
              <a:rPr kumimoji="1" lang="zh-CN" altLang="en-US" sz="1600" dirty="0"/>
              <a:t>，数据块的初始化操作应该先 于 </a:t>
            </a:r>
            <a:r>
              <a:rPr kumimoji="1" lang="en" altLang="zh-CN" sz="1600" dirty="0" err="1"/>
              <a:t>inode</a:t>
            </a:r>
            <a:r>
              <a:rPr kumimoji="1" lang="en" altLang="zh-CN" sz="1600" dirty="0"/>
              <a:t> </a:t>
            </a:r>
            <a:r>
              <a:rPr kumimoji="1" lang="zh-CN" altLang="en-US" sz="1600" dirty="0"/>
              <a:t>中索引的修改持久化</a:t>
            </a:r>
            <a:endParaRPr kumimoji="1" lang="en-US" altLang="zh-CN" sz="1600" dirty="0"/>
          </a:p>
          <a:p>
            <a:pPr lvl="1"/>
            <a:r>
              <a:rPr kumimoji="1" lang="zh-CN" altLang="en-US" sz="1600" dirty="0"/>
              <a:t>根据规则</a:t>
            </a:r>
            <a:r>
              <a:rPr kumimoji="1" lang="en-US" altLang="zh-CN" sz="1600" dirty="0"/>
              <a:t>2</a:t>
            </a:r>
            <a:r>
              <a:rPr kumimoji="1" lang="zh-CN" altLang="en-US" sz="1600" dirty="0"/>
              <a:t>，数据块分配信息（如 </a:t>
            </a:r>
            <a:r>
              <a:rPr kumimoji="1" lang="en" altLang="zh-CN" sz="1600" dirty="0"/>
              <a:t>bitmap</a:t>
            </a:r>
            <a:r>
              <a:rPr kumimoji="1" lang="zh-CN" altLang="en" sz="1600" dirty="0"/>
              <a:t>）</a:t>
            </a:r>
            <a:r>
              <a:rPr kumimoji="1" lang="zh-CN" altLang="en-US" sz="1600" dirty="0"/>
              <a:t>的持久化同样应该在 </a:t>
            </a:r>
            <a:r>
              <a:rPr kumimoji="1" lang="en" altLang="zh-CN" sz="1600" dirty="0" err="1"/>
              <a:t>inode</a:t>
            </a:r>
            <a:r>
              <a:rPr kumimoji="1" lang="zh-CN" altLang="en-US" sz="1600" dirty="0"/>
              <a:t>初始化之前</a:t>
            </a:r>
            <a:endParaRPr kumimoji="1" lang="en-US" altLang="zh-CN" sz="1600" dirty="0"/>
          </a:p>
          <a:p>
            <a:r>
              <a:rPr kumimoji="1" lang="zh-CN" altLang="en-US" sz="2000" dirty="0"/>
              <a:t>异常情况</a:t>
            </a:r>
            <a:endParaRPr kumimoji="1" lang="en-US" altLang="zh-CN" sz="2000" dirty="0"/>
          </a:p>
          <a:p>
            <a:pPr lvl="1"/>
            <a:r>
              <a:rPr kumimoji="1" lang="zh-CN" altLang="en-US" sz="1600" dirty="0"/>
              <a:t>依然可能会发生空间泄漏，即 </a:t>
            </a:r>
            <a:r>
              <a:rPr kumimoji="1" lang="en" altLang="zh-CN" sz="1600" dirty="0" err="1"/>
              <a:t>inode</a:t>
            </a:r>
            <a:r>
              <a:rPr kumimoji="1" lang="en" altLang="zh-CN" sz="1600" dirty="0"/>
              <a:t> </a:t>
            </a:r>
            <a:r>
              <a:rPr kumimoji="1" lang="zh-CN" altLang="en-US" sz="1600" dirty="0"/>
              <a:t>分配信息被持久化但却未被文件系统使用</a:t>
            </a:r>
            <a:endParaRPr kumimoji="1" lang="en-US" altLang="zh-CN" sz="1600" dirty="0"/>
          </a:p>
          <a:p>
            <a:pPr lvl="1"/>
            <a:r>
              <a:rPr kumimoji="1" lang="zh-CN" altLang="en-US" sz="1600" dirty="0"/>
              <a:t>对文件系统结构没有影响；可通过定期扫描找到未使用的 </a:t>
            </a:r>
            <a:r>
              <a:rPr kumimoji="1" lang="en" altLang="zh-CN" sz="1600" dirty="0" err="1"/>
              <a:t>inode</a:t>
            </a:r>
            <a:r>
              <a:rPr kumimoji="1" lang="en" altLang="zh-CN" sz="1600" dirty="0"/>
              <a:t> </a:t>
            </a:r>
            <a:r>
              <a:rPr kumimoji="1" lang="zh-CN" altLang="en-US" sz="1600" dirty="0"/>
              <a:t>节点并修复</a:t>
            </a:r>
          </a:p>
        </p:txBody>
      </p:sp>
      <p:sp>
        <p:nvSpPr>
          <p:cNvPr id="4" name="灯片编号占位符 3">
            <a:extLst>
              <a:ext uri="{FF2B5EF4-FFF2-40B4-BE49-F238E27FC236}">
                <a16:creationId xmlns:a16="http://schemas.microsoft.com/office/drawing/2014/main" id="{04CDB5B4-5CEB-A345-9500-359F0BFEF8DE}"/>
              </a:ext>
            </a:extLst>
          </p:cNvPr>
          <p:cNvSpPr>
            <a:spLocks noGrp="1"/>
          </p:cNvSpPr>
          <p:nvPr>
            <p:ph type="sldNum" sz="quarter" idx="12"/>
          </p:nvPr>
        </p:nvSpPr>
        <p:spPr/>
        <p:txBody>
          <a:bodyPr/>
          <a:lstStyle/>
          <a:p>
            <a:fld id="{ADE361C3-C043-4A6E-BDCE-8DA1E7D90A3B}" type="slidenum">
              <a:rPr lang="zh-CN" altLang="en-US" smtClean="0"/>
              <a:t>56</a:t>
            </a:fld>
            <a:endParaRPr lang="zh-CN" altLang="en-US"/>
          </a:p>
        </p:txBody>
      </p:sp>
      <p:sp>
        <p:nvSpPr>
          <p:cNvPr id="5" name="页脚占位符 4">
            <a:extLst>
              <a:ext uri="{FF2B5EF4-FFF2-40B4-BE49-F238E27FC236}">
                <a16:creationId xmlns:a16="http://schemas.microsoft.com/office/drawing/2014/main" id="{31A6F0BF-B52C-CC43-80FA-E73D91697E0E}"/>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8" name="文本框 7">
            <a:extLst>
              <a:ext uri="{FF2B5EF4-FFF2-40B4-BE49-F238E27FC236}">
                <a16:creationId xmlns:a16="http://schemas.microsoft.com/office/drawing/2014/main" id="{04E96C9C-09C7-E249-8A4E-34EBAABFF191}"/>
              </a:ext>
            </a:extLst>
          </p:cNvPr>
          <p:cNvSpPr txBox="1"/>
          <p:nvPr/>
        </p:nvSpPr>
        <p:spPr>
          <a:xfrm>
            <a:off x="3563888" y="94853"/>
            <a:ext cx="1800200" cy="1068882"/>
          </a:xfrm>
          <a:prstGeom prst="rect">
            <a:avLst/>
          </a:prstGeom>
          <a:noFill/>
        </p:spPr>
        <p:txBody>
          <a:bodyPr wrap="square">
            <a:spAutoFit/>
          </a:bodyPr>
          <a:lstStyle/>
          <a:p>
            <a:pPr>
              <a:lnSpc>
                <a:spcPct val="130000"/>
              </a:lnSpc>
            </a:pPr>
            <a:r>
              <a:rPr kumimoji="1" lang="zh-CN" altLang="en-US" sz="1400" dirty="0"/>
              <a:t>包括</a:t>
            </a:r>
            <a:r>
              <a:rPr kumimoji="1" lang="en-US" altLang="zh-CN" sz="1400" dirty="0"/>
              <a:t>3</a:t>
            </a:r>
            <a:r>
              <a:rPr kumimoji="1" lang="zh-CN" altLang="en-US" sz="1400" dirty="0"/>
              <a:t>个主要步骤：</a:t>
            </a:r>
            <a:endParaRPr kumimoji="1" lang="en-US" altLang="zh-CN" sz="1400" dirty="0"/>
          </a:p>
          <a:p>
            <a:pPr lvl="1">
              <a:lnSpc>
                <a:spcPct val="130000"/>
              </a:lnSpc>
            </a:pPr>
            <a:r>
              <a:rPr kumimoji="1" lang="zh-CN" altLang="en-US" sz="1200" dirty="0"/>
              <a:t>分配 </a:t>
            </a:r>
            <a:r>
              <a:rPr kumimoji="1" lang="en" altLang="zh-CN" sz="1200" dirty="0" err="1"/>
              <a:t>inode</a:t>
            </a:r>
            <a:endParaRPr kumimoji="1" lang="en-US" altLang="zh-CN" sz="1200" dirty="0"/>
          </a:p>
          <a:p>
            <a:pPr lvl="1">
              <a:lnSpc>
                <a:spcPct val="130000"/>
              </a:lnSpc>
            </a:pPr>
            <a:r>
              <a:rPr kumimoji="1" lang="zh-CN" altLang="en-US" sz="1200" dirty="0"/>
              <a:t>初始化 </a:t>
            </a:r>
            <a:r>
              <a:rPr kumimoji="1" lang="en" altLang="zh-CN" sz="1200" dirty="0" err="1"/>
              <a:t>inode</a:t>
            </a:r>
            <a:endParaRPr kumimoji="1" lang="en-US" altLang="zh-CN" sz="1200" dirty="0"/>
          </a:p>
          <a:p>
            <a:pPr lvl="1">
              <a:lnSpc>
                <a:spcPct val="130000"/>
              </a:lnSpc>
            </a:pPr>
            <a:r>
              <a:rPr kumimoji="1" lang="zh-CN" altLang="en-US" sz="1200" dirty="0"/>
              <a:t>增加目录项</a:t>
            </a:r>
            <a:endParaRPr lang="zh-CN" altLang="en-US" sz="1400" dirty="0"/>
          </a:p>
        </p:txBody>
      </p:sp>
    </p:spTree>
    <p:extLst>
      <p:ext uri="{BB962C8B-B14F-4D97-AF65-F5344CB8AC3E}">
        <p14:creationId xmlns:p14="http://schemas.microsoft.com/office/powerpoint/2010/main" val="194833971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998A501D-A8F8-4349-BCE2-E601D34F268C}"/>
              </a:ext>
            </a:extLst>
          </p:cNvPr>
          <p:cNvPicPr>
            <a:picLocks noChangeAspect="1"/>
          </p:cNvPicPr>
          <p:nvPr/>
        </p:nvPicPr>
        <p:blipFill>
          <a:blip r:embed="rId2"/>
          <a:stretch>
            <a:fillRect/>
          </a:stretch>
        </p:blipFill>
        <p:spPr>
          <a:xfrm>
            <a:off x="5526162" y="-14962"/>
            <a:ext cx="3617838" cy="2268262"/>
          </a:xfrm>
          <a:prstGeom prst="rect">
            <a:avLst/>
          </a:prstGeom>
        </p:spPr>
      </p:pic>
      <p:sp>
        <p:nvSpPr>
          <p:cNvPr id="2" name="标题 1">
            <a:extLst>
              <a:ext uri="{FF2B5EF4-FFF2-40B4-BE49-F238E27FC236}">
                <a16:creationId xmlns:a16="http://schemas.microsoft.com/office/drawing/2014/main" id="{ED6D1858-4DF3-DE42-A562-B35F2B413684}"/>
              </a:ext>
            </a:extLst>
          </p:cNvPr>
          <p:cNvSpPr>
            <a:spLocks noGrp="1"/>
          </p:cNvSpPr>
          <p:nvPr>
            <p:ph type="title"/>
          </p:nvPr>
        </p:nvSpPr>
        <p:spPr/>
        <p:txBody>
          <a:bodyPr/>
          <a:lstStyle/>
          <a:p>
            <a:r>
              <a:rPr kumimoji="1" lang="zh-CN" altLang="en-US" dirty="0"/>
              <a:t>删除文件</a:t>
            </a:r>
          </a:p>
        </p:txBody>
      </p:sp>
      <p:sp>
        <p:nvSpPr>
          <p:cNvPr id="3" name="内容占位符 2">
            <a:extLst>
              <a:ext uri="{FF2B5EF4-FFF2-40B4-BE49-F238E27FC236}">
                <a16:creationId xmlns:a16="http://schemas.microsoft.com/office/drawing/2014/main" id="{2397D4B6-5676-0240-B346-F4BEF090A603}"/>
              </a:ext>
            </a:extLst>
          </p:cNvPr>
          <p:cNvSpPr>
            <a:spLocks noGrp="1"/>
          </p:cNvSpPr>
          <p:nvPr>
            <p:ph idx="1"/>
          </p:nvPr>
        </p:nvSpPr>
        <p:spPr>
          <a:xfrm>
            <a:off x="457200" y="1392601"/>
            <a:ext cx="8229600" cy="3712536"/>
          </a:xfrm>
        </p:spPr>
        <p:txBody>
          <a:bodyPr>
            <a:normAutofit/>
          </a:bodyPr>
          <a:lstStyle/>
          <a:p>
            <a:r>
              <a:rPr kumimoji="1" lang="zh-CN" altLang="en-US" sz="2000" dirty="0"/>
              <a:t>操作步骤</a:t>
            </a:r>
            <a:endParaRPr kumimoji="1" lang="en-US" altLang="zh-CN" sz="2000" dirty="0"/>
          </a:p>
          <a:p>
            <a:pPr lvl="1"/>
            <a:r>
              <a:rPr kumimoji="1" lang="zh-CN" altLang="en-US" sz="1600" dirty="0"/>
              <a:t>根据规则</a:t>
            </a:r>
            <a:r>
              <a:rPr kumimoji="1" lang="en-US" altLang="zh-CN" sz="1600" dirty="0"/>
              <a:t>2</a:t>
            </a:r>
            <a:r>
              <a:rPr kumimoji="1" lang="zh-CN" altLang="en-US" sz="1600" dirty="0"/>
              <a:t>，文件系统需要将目标文件先从整个文件系统树中</a:t>
            </a:r>
            <a:br>
              <a:rPr kumimoji="1" lang="en-US" altLang="zh-CN" sz="1600" dirty="0"/>
            </a:br>
            <a:r>
              <a:rPr kumimoji="1" lang="zh-CN" altLang="en-US" sz="1600" dirty="0"/>
              <a:t>去掉，再进行资源回收等操作前</a:t>
            </a:r>
            <a:endParaRPr kumimoji="1" lang="en-US" altLang="zh-CN" sz="1600" dirty="0"/>
          </a:p>
          <a:p>
            <a:r>
              <a:rPr kumimoji="1" lang="zh-CN" altLang="en-US" sz="2000" dirty="0"/>
              <a:t>异常情况</a:t>
            </a:r>
            <a:endParaRPr kumimoji="1" lang="en-US" altLang="zh-CN" sz="2000" dirty="0"/>
          </a:p>
          <a:p>
            <a:pPr lvl="1"/>
            <a:r>
              <a:rPr kumimoji="1" lang="zh-CN" altLang="en-US" sz="1600" dirty="0"/>
              <a:t>删除目录项为删除操作的原子更新点，系统崩溃只可能发生在此操作之前或之后</a:t>
            </a:r>
            <a:endParaRPr kumimoji="1" lang="en-US" altLang="zh-CN" sz="1600" dirty="0"/>
          </a:p>
          <a:p>
            <a:pPr lvl="1"/>
            <a:r>
              <a:rPr kumimoji="1" lang="zh-CN" altLang="en-US" sz="1600" dirty="0"/>
              <a:t>若崩溃发生在此之前，则没有删除操作被执行，因此不会产生不一致的情况</a:t>
            </a:r>
            <a:endParaRPr kumimoji="1" lang="en-US" altLang="zh-CN" sz="1600" dirty="0"/>
          </a:p>
          <a:p>
            <a:pPr lvl="1"/>
            <a:r>
              <a:rPr kumimoji="1" lang="zh-CN" altLang="en-US" sz="1600" dirty="0"/>
              <a:t>若崩溃发生在此之后，并不会造成文件系统中其他文件和数据的不一致性</a:t>
            </a:r>
            <a:endParaRPr kumimoji="1" lang="en-US" altLang="zh-CN" sz="1600" dirty="0"/>
          </a:p>
          <a:p>
            <a:pPr lvl="2"/>
            <a:r>
              <a:rPr kumimoji="1" lang="zh-CN" altLang="en-US" sz="1600" dirty="0"/>
              <a:t>此过程中造成的空间泄漏，也 可以通过定期检查的方法进行修复</a:t>
            </a:r>
          </a:p>
        </p:txBody>
      </p:sp>
      <p:sp>
        <p:nvSpPr>
          <p:cNvPr id="4" name="灯片编号占位符 3">
            <a:extLst>
              <a:ext uri="{FF2B5EF4-FFF2-40B4-BE49-F238E27FC236}">
                <a16:creationId xmlns:a16="http://schemas.microsoft.com/office/drawing/2014/main" id="{04CDB5B4-5CEB-A345-9500-359F0BFEF8DE}"/>
              </a:ext>
            </a:extLst>
          </p:cNvPr>
          <p:cNvSpPr>
            <a:spLocks noGrp="1"/>
          </p:cNvSpPr>
          <p:nvPr>
            <p:ph type="sldNum" sz="quarter" idx="12"/>
          </p:nvPr>
        </p:nvSpPr>
        <p:spPr/>
        <p:txBody>
          <a:bodyPr/>
          <a:lstStyle/>
          <a:p>
            <a:fld id="{ADE361C3-C043-4A6E-BDCE-8DA1E7D90A3B}" type="slidenum">
              <a:rPr lang="zh-CN" altLang="en-US" smtClean="0"/>
              <a:t>57</a:t>
            </a:fld>
            <a:endParaRPr lang="zh-CN" altLang="en-US"/>
          </a:p>
        </p:txBody>
      </p:sp>
      <p:sp>
        <p:nvSpPr>
          <p:cNvPr id="5" name="页脚占位符 4">
            <a:extLst>
              <a:ext uri="{FF2B5EF4-FFF2-40B4-BE49-F238E27FC236}">
                <a16:creationId xmlns:a16="http://schemas.microsoft.com/office/drawing/2014/main" id="{31A6F0BF-B52C-CC43-80FA-E73D91697E0E}"/>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8" name="文本框 7">
            <a:extLst>
              <a:ext uri="{FF2B5EF4-FFF2-40B4-BE49-F238E27FC236}">
                <a16:creationId xmlns:a16="http://schemas.microsoft.com/office/drawing/2014/main" id="{04E96C9C-09C7-E249-8A4E-34EBAABFF191}"/>
              </a:ext>
            </a:extLst>
          </p:cNvPr>
          <p:cNvSpPr txBox="1"/>
          <p:nvPr/>
        </p:nvSpPr>
        <p:spPr>
          <a:xfrm>
            <a:off x="3563888" y="94853"/>
            <a:ext cx="1800200" cy="828817"/>
          </a:xfrm>
          <a:prstGeom prst="rect">
            <a:avLst/>
          </a:prstGeom>
          <a:noFill/>
        </p:spPr>
        <p:txBody>
          <a:bodyPr wrap="square">
            <a:spAutoFit/>
          </a:bodyPr>
          <a:lstStyle/>
          <a:p>
            <a:pPr>
              <a:lnSpc>
                <a:spcPct val="130000"/>
              </a:lnSpc>
            </a:pPr>
            <a:r>
              <a:rPr kumimoji="1" lang="zh-CN" altLang="en-US" sz="1400" dirty="0"/>
              <a:t>包括</a:t>
            </a:r>
            <a:r>
              <a:rPr kumimoji="1" lang="en-US" altLang="zh-CN" sz="1400" dirty="0"/>
              <a:t>2</a:t>
            </a:r>
            <a:r>
              <a:rPr kumimoji="1" lang="zh-CN" altLang="en-US" sz="1400" dirty="0"/>
              <a:t>个主要步骤：</a:t>
            </a:r>
            <a:endParaRPr kumimoji="1" lang="en-US" altLang="zh-CN" sz="1400" dirty="0"/>
          </a:p>
          <a:p>
            <a:pPr lvl="1">
              <a:lnSpc>
                <a:spcPct val="130000"/>
              </a:lnSpc>
            </a:pPr>
            <a:r>
              <a:rPr kumimoji="1" lang="zh-CN" altLang="en-US" sz="1200" dirty="0"/>
              <a:t>从文件树移除</a:t>
            </a:r>
            <a:endParaRPr kumimoji="1" lang="en-US" altLang="zh-CN" sz="1200" dirty="0"/>
          </a:p>
          <a:p>
            <a:pPr lvl="1">
              <a:lnSpc>
                <a:spcPct val="130000"/>
              </a:lnSpc>
            </a:pPr>
            <a:r>
              <a:rPr kumimoji="1" lang="zh-CN" altLang="en-US" sz="1200" dirty="0"/>
              <a:t>资源回收和重用</a:t>
            </a:r>
            <a:endParaRPr lang="zh-CN" altLang="en-US" sz="1400" dirty="0"/>
          </a:p>
        </p:txBody>
      </p:sp>
    </p:spTree>
    <p:extLst>
      <p:ext uri="{BB962C8B-B14F-4D97-AF65-F5344CB8AC3E}">
        <p14:creationId xmlns:p14="http://schemas.microsoft.com/office/powerpoint/2010/main" val="59622156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637C9852-84C6-C644-A5D5-657E1A4D052E}"/>
              </a:ext>
            </a:extLst>
          </p:cNvPr>
          <p:cNvPicPr>
            <a:picLocks noChangeAspect="1"/>
          </p:cNvPicPr>
          <p:nvPr/>
        </p:nvPicPr>
        <p:blipFill>
          <a:blip r:embed="rId2"/>
          <a:stretch>
            <a:fillRect/>
          </a:stretch>
        </p:blipFill>
        <p:spPr>
          <a:xfrm>
            <a:off x="5490675" y="0"/>
            <a:ext cx="3624725" cy="2658132"/>
          </a:xfrm>
          <a:prstGeom prst="rect">
            <a:avLst/>
          </a:prstGeom>
        </p:spPr>
      </p:pic>
      <p:sp>
        <p:nvSpPr>
          <p:cNvPr id="2" name="标题 1">
            <a:extLst>
              <a:ext uri="{FF2B5EF4-FFF2-40B4-BE49-F238E27FC236}">
                <a16:creationId xmlns:a16="http://schemas.microsoft.com/office/drawing/2014/main" id="{ED6D1858-4DF3-DE42-A562-B35F2B413684}"/>
              </a:ext>
            </a:extLst>
          </p:cNvPr>
          <p:cNvSpPr>
            <a:spLocks noGrp="1"/>
          </p:cNvSpPr>
          <p:nvPr>
            <p:ph type="title"/>
          </p:nvPr>
        </p:nvSpPr>
        <p:spPr/>
        <p:txBody>
          <a:bodyPr/>
          <a:lstStyle/>
          <a:p>
            <a:r>
              <a:rPr kumimoji="1" lang="zh-CN" altLang="en-US" dirty="0"/>
              <a:t>文件重命名</a:t>
            </a:r>
          </a:p>
        </p:txBody>
      </p:sp>
      <p:sp>
        <p:nvSpPr>
          <p:cNvPr id="3" name="内容占位符 2">
            <a:extLst>
              <a:ext uri="{FF2B5EF4-FFF2-40B4-BE49-F238E27FC236}">
                <a16:creationId xmlns:a16="http://schemas.microsoft.com/office/drawing/2014/main" id="{2397D4B6-5676-0240-B346-F4BEF090A603}"/>
              </a:ext>
            </a:extLst>
          </p:cNvPr>
          <p:cNvSpPr>
            <a:spLocks noGrp="1"/>
          </p:cNvSpPr>
          <p:nvPr>
            <p:ph idx="1"/>
          </p:nvPr>
        </p:nvSpPr>
        <p:spPr>
          <a:xfrm>
            <a:off x="457200" y="1392601"/>
            <a:ext cx="8229600" cy="3712536"/>
          </a:xfrm>
        </p:spPr>
        <p:txBody>
          <a:bodyPr>
            <a:normAutofit/>
          </a:bodyPr>
          <a:lstStyle/>
          <a:p>
            <a:r>
              <a:rPr kumimoji="1" lang="zh-CN" altLang="en-US" sz="2000" dirty="0"/>
              <a:t>操作步骤</a:t>
            </a:r>
            <a:endParaRPr kumimoji="1" lang="en-US" altLang="zh-CN" sz="2000" dirty="0"/>
          </a:p>
          <a:p>
            <a:pPr lvl="1"/>
            <a:r>
              <a:rPr kumimoji="1" lang="zh-CN" altLang="en-US" sz="1600" dirty="0"/>
              <a:t>根据规则</a:t>
            </a:r>
            <a:r>
              <a:rPr kumimoji="1" lang="en-US" altLang="zh-CN" sz="1600" dirty="0"/>
              <a:t>3</a:t>
            </a:r>
            <a:r>
              <a:rPr kumimoji="1" lang="zh-CN" altLang="en-US" sz="1600" dirty="0"/>
              <a:t>，在进行文件移动时，需要先保证目标目录中的</a:t>
            </a:r>
            <a:br>
              <a:rPr kumimoji="1" lang="en-US" altLang="zh-CN" sz="1600" dirty="0"/>
            </a:br>
            <a:r>
              <a:rPr kumimoji="1" lang="zh-CN" altLang="en-US" sz="1600" dirty="0"/>
              <a:t>目录项 被写入完毕，之后才能删除源目录中的目录项</a:t>
            </a:r>
            <a:endParaRPr kumimoji="1" lang="en-US" altLang="zh-CN" sz="1600" dirty="0"/>
          </a:p>
          <a:p>
            <a:r>
              <a:rPr kumimoji="1" lang="zh-CN" altLang="en-US" sz="2000" dirty="0"/>
              <a:t>异常情况</a:t>
            </a:r>
            <a:endParaRPr kumimoji="1" lang="en-US" altLang="zh-CN" sz="2000" dirty="0"/>
          </a:p>
          <a:p>
            <a:pPr lvl="1"/>
            <a:r>
              <a:rPr kumimoji="1" lang="zh-CN" altLang="en-US" sz="1600" dirty="0"/>
              <a:t>目标目录中的目录项写入完毕后发生崩溃</a:t>
            </a:r>
            <a:endParaRPr kumimoji="1" lang="en-US" altLang="zh-CN" sz="1600" dirty="0"/>
          </a:p>
          <a:p>
            <a:pPr lvl="1"/>
            <a:r>
              <a:rPr kumimoji="1" lang="zh-CN" altLang="en-US" sz="1600" dirty="0"/>
              <a:t>重启后会发现两个目录中的目录项均指向该 </a:t>
            </a:r>
            <a:r>
              <a:rPr kumimoji="1" lang="en" altLang="zh-CN" sz="1600" dirty="0" err="1"/>
              <a:t>inode</a:t>
            </a:r>
            <a:r>
              <a:rPr kumimoji="1" lang="en" altLang="zh-CN" sz="1600" dirty="0"/>
              <a:t> </a:t>
            </a:r>
            <a:r>
              <a:rPr kumimoji="1" lang="zh-CN" altLang="en-US" sz="1600" dirty="0"/>
              <a:t>结构</a:t>
            </a:r>
            <a:endParaRPr kumimoji="1" lang="en-US" altLang="zh-CN" sz="1600" dirty="0"/>
          </a:p>
          <a:p>
            <a:pPr lvl="1"/>
            <a:r>
              <a:rPr kumimoji="1" lang="zh-CN" altLang="en-US" sz="1600" dirty="0"/>
              <a:t>并未造成被移动文件的数据丢失， 也不影响文件系统中其他文件的一致性</a:t>
            </a:r>
          </a:p>
        </p:txBody>
      </p:sp>
      <p:sp>
        <p:nvSpPr>
          <p:cNvPr id="4" name="灯片编号占位符 3">
            <a:extLst>
              <a:ext uri="{FF2B5EF4-FFF2-40B4-BE49-F238E27FC236}">
                <a16:creationId xmlns:a16="http://schemas.microsoft.com/office/drawing/2014/main" id="{04CDB5B4-5CEB-A345-9500-359F0BFEF8DE}"/>
              </a:ext>
            </a:extLst>
          </p:cNvPr>
          <p:cNvSpPr>
            <a:spLocks noGrp="1"/>
          </p:cNvSpPr>
          <p:nvPr>
            <p:ph type="sldNum" sz="quarter" idx="12"/>
          </p:nvPr>
        </p:nvSpPr>
        <p:spPr/>
        <p:txBody>
          <a:bodyPr/>
          <a:lstStyle/>
          <a:p>
            <a:fld id="{ADE361C3-C043-4A6E-BDCE-8DA1E7D90A3B}" type="slidenum">
              <a:rPr lang="zh-CN" altLang="en-US" smtClean="0"/>
              <a:t>58</a:t>
            </a:fld>
            <a:endParaRPr lang="zh-CN" altLang="en-US"/>
          </a:p>
        </p:txBody>
      </p:sp>
      <p:sp>
        <p:nvSpPr>
          <p:cNvPr id="5" name="页脚占位符 4">
            <a:extLst>
              <a:ext uri="{FF2B5EF4-FFF2-40B4-BE49-F238E27FC236}">
                <a16:creationId xmlns:a16="http://schemas.microsoft.com/office/drawing/2014/main" id="{31A6F0BF-B52C-CC43-80FA-E73D91697E0E}"/>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6878453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FC19B-A6EA-8243-B153-61182F377840}"/>
              </a:ext>
            </a:extLst>
          </p:cNvPr>
          <p:cNvSpPr>
            <a:spLocks noGrp="1"/>
          </p:cNvSpPr>
          <p:nvPr>
            <p:ph type="title"/>
          </p:nvPr>
        </p:nvSpPr>
        <p:spPr/>
        <p:txBody>
          <a:bodyPr/>
          <a:lstStyle/>
          <a:p>
            <a:r>
              <a:rPr kumimoji="1" lang="zh-CN" altLang="en-US" dirty="0"/>
              <a:t>依赖追踪</a:t>
            </a:r>
          </a:p>
        </p:txBody>
      </p:sp>
      <p:sp>
        <p:nvSpPr>
          <p:cNvPr id="3" name="内容占位符 2">
            <a:extLst>
              <a:ext uri="{FF2B5EF4-FFF2-40B4-BE49-F238E27FC236}">
                <a16:creationId xmlns:a16="http://schemas.microsoft.com/office/drawing/2014/main" id="{D0432BAF-BBE2-0B41-8D8D-3020872CC2CC}"/>
              </a:ext>
            </a:extLst>
          </p:cNvPr>
          <p:cNvSpPr>
            <a:spLocks noGrp="1"/>
          </p:cNvSpPr>
          <p:nvPr>
            <p:ph idx="1"/>
          </p:nvPr>
        </p:nvSpPr>
        <p:spPr/>
        <p:txBody>
          <a:bodyPr>
            <a:normAutofit/>
          </a:bodyPr>
          <a:lstStyle/>
          <a:p>
            <a:r>
              <a:rPr kumimoji="1" lang="en-US" altLang="zh-CN" sz="2000" dirty="0"/>
              <a:t>Soft</a:t>
            </a:r>
            <a:r>
              <a:rPr kumimoji="1" lang="zh-CN" altLang="en-US" sz="2000" dirty="0"/>
              <a:t> </a:t>
            </a:r>
            <a:r>
              <a:rPr kumimoji="1" lang="en-US" altLang="zh-CN" sz="2000" dirty="0"/>
              <a:t>Update</a:t>
            </a:r>
            <a:r>
              <a:rPr kumimoji="1" lang="zh-CN" altLang="en-US" sz="2000" dirty="0"/>
              <a:t>原理</a:t>
            </a:r>
            <a:endParaRPr kumimoji="1" lang="en-US" altLang="zh-CN" sz="2000" dirty="0"/>
          </a:p>
          <a:p>
            <a:pPr lvl="1"/>
            <a:r>
              <a:rPr kumimoji="1" lang="zh-CN" altLang="en-US" sz="1800" dirty="0"/>
              <a:t>使用内存结构表示还未写回到存储设备的修改</a:t>
            </a:r>
            <a:endParaRPr kumimoji="1" lang="en-US" altLang="zh-CN" sz="1800" dirty="0"/>
          </a:p>
          <a:p>
            <a:pPr lvl="1"/>
            <a:r>
              <a:rPr kumimoji="1" lang="zh-CN" altLang="en-US" sz="1800" dirty="0"/>
              <a:t>并异步地将这些修改持久化到 存储设备中</a:t>
            </a:r>
            <a:endParaRPr kumimoji="1" lang="en-US" altLang="zh-CN" sz="1800" dirty="0"/>
          </a:p>
          <a:p>
            <a:pPr lvl="1"/>
            <a:r>
              <a:rPr kumimoji="1" lang="zh-CN" altLang="en-US" sz="1800" dirty="0"/>
              <a:t>问题：如何保证这些修改的持久化顺序呢？</a:t>
            </a:r>
            <a:endParaRPr kumimoji="1" lang="en-US" altLang="zh-CN" sz="1800" dirty="0"/>
          </a:p>
          <a:p>
            <a:r>
              <a:rPr kumimoji="1" lang="zh-CN" altLang="en-US" sz="2000" dirty="0"/>
              <a:t>依赖追踪</a:t>
            </a:r>
            <a:endParaRPr kumimoji="1" lang="en-US" altLang="zh-CN" sz="2000" dirty="0"/>
          </a:p>
          <a:p>
            <a:pPr lvl="1"/>
            <a:r>
              <a:rPr kumimoji="1" lang="zh-CN" altLang="en-US" sz="1800" dirty="0"/>
              <a:t>根据</a:t>
            </a:r>
            <a:r>
              <a:rPr kumimoji="1" lang="en-US" altLang="zh-CN" sz="1800" dirty="0"/>
              <a:t>3</a:t>
            </a:r>
            <a:r>
              <a:rPr kumimoji="1" lang="zh-CN" altLang="en-US" sz="1800" dirty="0"/>
              <a:t>条规则，对修改之间需要遵守的顺序进行记录</a:t>
            </a:r>
            <a:endParaRPr kumimoji="1" lang="en-US" altLang="zh-CN" sz="1800" dirty="0"/>
          </a:p>
          <a:p>
            <a:pPr lvl="2"/>
            <a:r>
              <a:rPr kumimoji="1" lang="zh-CN" altLang="en-US" sz="1800" dirty="0"/>
              <a:t>如果修改 </a:t>
            </a:r>
            <a:r>
              <a:rPr kumimoji="1" lang="en" altLang="zh-CN" sz="1800" dirty="0"/>
              <a:t>A</a:t>
            </a:r>
            <a:r>
              <a:rPr kumimoji="1" lang="zh-CN" altLang="en-US" sz="1800" dirty="0"/>
              <a:t>需要在修改</a:t>
            </a:r>
            <a:r>
              <a:rPr kumimoji="1" lang="en" altLang="zh-CN" sz="1800" dirty="0"/>
              <a:t>B</a:t>
            </a:r>
            <a:r>
              <a:rPr kumimoji="1" lang="zh-CN" altLang="en-US" sz="1800" dirty="0"/>
              <a:t>之前写入到存储，则称</a:t>
            </a:r>
            <a:r>
              <a:rPr kumimoji="1" lang="en" altLang="zh-CN" sz="1800" dirty="0"/>
              <a:t>B</a:t>
            </a:r>
            <a:r>
              <a:rPr kumimoji="1" lang="zh-CN" altLang="en-US" sz="1800" dirty="0"/>
              <a:t>依赖于</a:t>
            </a:r>
            <a:r>
              <a:rPr kumimoji="1" lang="en" altLang="zh-CN" sz="1800" dirty="0"/>
              <a:t>A</a:t>
            </a:r>
            <a:endParaRPr kumimoji="1" lang="en-US" altLang="zh-CN" sz="1800" dirty="0"/>
          </a:p>
          <a:p>
            <a:pPr lvl="1"/>
            <a:r>
              <a:rPr kumimoji="1" lang="en-US" altLang="zh-CN" sz="1800" dirty="0"/>
              <a:t>Soft</a:t>
            </a:r>
            <a:r>
              <a:rPr kumimoji="1" lang="zh-CN" altLang="en-US" sz="1800" dirty="0"/>
              <a:t> </a:t>
            </a:r>
            <a:r>
              <a:rPr kumimoji="1" lang="en-US" altLang="zh-CN" sz="1800" dirty="0"/>
              <a:t>update</a:t>
            </a:r>
            <a:r>
              <a:rPr kumimoji="1" lang="zh-CN" altLang="en-US" sz="1800" dirty="0"/>
              <a:t>会将这些修改之间的依赖关系记录下来</a:t>
            </a:r>
          </a:p>
        </p:txBody>
      </p:sp>
      <p:sp>
        <p:nvSpPr>
          <p:cNvPr id="4" name="灯片编号占位符 3">
            <a:extLst>
              <a:ext uri="{FF2B5EF4-FFF2-40B4-BE49-F238E27FC236}">
                <a16:creationId xmlns:a16="http://schemas.microsoft.com/office/drawing/2014/main" id="{CD7AE679-A3C6-D041-AF2B-B14C4F9B7BD5}"/>
              </a:ext>
            </a:extLst>
          </p:cNvPr>
          <p:cNvSpPr>
            <a:spLocks noGrp="1"/>
          </p:cNvSpPr>
          <p:nvPr>
            <p:ph type="sldNum" sz="quarter" idx="12"/>
          </p:nvPr>
        </p:nvSpPr>
        <p:spPr/>
        <p:txBody>
          <a:bodyPr/>
          <a:lstStyle/>
          <a:p>
            <a:fld id="{ADE361C3-C043-4A6E-BDCE-8DA1E7D90A3B}" type="slidenum">
              <a:rPr lang="zh-CN" altLang="en-US" smtClean="0"/>
              <a:t>59</a:t>
            </a:fld>
            <a:endParaRPr lang="zh-CN" altLang="en-US"/>
          </a:p>
        </p:txBody>
      </p:sp>
      <p:sp>
        <p:nvSpPr>
          <p:cNvPr id="5" name="页脚占位符 4">
            <a:extLst>
              <a:ext uri="{FF2B5EF4-FFF2-40B4-BE49-F238E27FC236}">
                <a16:creationId xmlns:a16="http://schemas.microsoft.com/office/drawing/2014/main" id="{51C0D6CF-F50F-D54E-B06D-42F05413A352}"/>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6" name="图片 5">
            <a:extLst>
              <a:ext uri="{FF2B5EF4-FFF2-40B4-BE49-F238E27FC236}">
                <a16:creationId xmlns:a16="http://schemas.microsoft.com/office/drawing/2014/main" id="{450D8F88-75CF-844C-B106-330558FC147E}"/>
              </a:ext>
            </a:extLst>
          </p:cNvPr>
          <p:cNvPicPr>
            <a:picLocks noChangeAspect="1"/>
          </p:cNvPicPr>
          <p:nvPr/>
        </p:nvPicPr>
        <p:blipFill>
          <a:blip r:embed="rId2"/>
          <a:stretch>
            <a:fillRect/>
          </a:stretch>
        </p:blipFill>
        <p:spPr>
          <a:xfrm>
            <a:off x="5940152" y="102026"/>
            <a:ext cx="2995841" cy="2980556"/>
          </a:xfrm>
          <a:prstGeom prst="rect">
            <a:avLst/>
          </a:prstGeom>
        </p:spPr>
      </p:pic>
      <p:sp>
        <p:nvSpPr>
          <p:cNvPr id="8" name="文本框 7">
            <a:extLst>
              <a:ext uri="{FF2B5EF4-FFF2-40B4-BE49-F238E27FC236}">
                <a16:creationId xmlns:a16="http://schemas.microsoft.com/office/drawing/2014/main" id="{D10E41F4-DE6C-F44B-9660-74D6C73B7BBB}"/>
              </a:ext>
            </a:extLst>
          </p:cNvPr>
          <p:cNvSpPr txBox="1"/>
          <p:nvPr/>
        </p:nvSpPr>
        <p:spPr>
          <a:xfrm>
            <a:off x="6355682" y="3008358"/>
            <a:ext cx="2331118" cy="307777"/>
          </a:xfrm>
          <a:prstGeom prst="rect">
            <a:avLst/>
          </a:prstGeom>
          <a:noFill/>
        </p:spPr>
        <p:txBody>
          <a:bodyPr wrap="square">
            <a:spAutoFit/>
          </a:bodyPr>
          <a:lstStyle/>
          <a:p>
            <a:pPr algn="ctr"/>
            <a:r>
              <a:rPr lang="zh-CN" altLang="en-US" sz="1400" b="1" dirty="0">
                <a:solidFill>
                  <a:schemeClr val="accent3"/>
                </a:solidFill>
              </a:rPr>
              <a:t>基于块的 DAG 依赖关系图</a:t>
            </a:r>
          </a:p>
        </p:txBody>
      </p:sp>
    </p:spTree>
    <p:extLst>
      <p:ext uri="{BB962C8B-B14F-4D97-AF65-F5344CB8AC3E}">
        <p14:creationId xmlns:p14="http://schemas.microsoft.com/office/powerpoint/2010/main" val="155566616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44A0B9-937B-3B49-BAFD-13AC7C8D8399}"/>
              </a:ext>
            </a:extLst>
          </p:cNvPr>
          <p:cNvSpPr>
            <a:spLocks noGrp="1"/>
          </p:cNvSpPr>
          <p:nvPr>
            <p:ph type="title"/>
          </p:nvPr>
        </p:nvSpPr>
        <p:spPr/>
        <p:txBody>
          <a:bodyPr/>
          <a:lstStyle/>
          <a:p>
            <a:r>
              <a:rPr kumimoji="1" lang="zh-CN" altLang="en-US" dirty="0"/>
              <a:t>依赖追踪的两个问题</a:t>
            </a:r>
          </a:p>
        </p:txBody>
      </p:sp>
      <p:sp>
        <p:nvSpPr>
          <p:cNvPr id="3" name="内容占位符 2">
            <a:extLst>
              <a:ext uri="{FF2B5EF4-FFF2-40B4-BE49-F238E27FC236}">
                <a16:creationId xmlns:a16="http://schemas.microsoft.com/office/drawing/2014/main" id="{AD6911D1-F79F-2E4F-A4E5-9E63F214D57A}"/>
              </a:ext>
            </a:extLst>
          </p:cNvPr>
          <p:cNvSpPr>
            <a:spLocks noGrp="1"/>
          </p:cNvSpPr>
          <p:nvPr>
            <p:ph idx="1"/>
          </p:nvPr>
        </p:nvSpPr>
        <p:spPr/>
        <p:txBody>
          <a:bodyPr/>
          <a:lstStyle/>
          <a:p>
            <a:r>
              <a:rPr kumimoji="1" lang="zh-CN" altLang="en-US" dirty="0"/>
              <a:t>问题</a:t>
            </a:r>
            <a:r>
              <a:rPr kumimoji="1" lang="en-US" altLang="zh-CN" dirty="0"/>
              <a:t>1</a:t>
            </a:r>
            <a:r>
              <a:rPr kumimoji="1" lang="zh-CN" altLang="en-US" dirty="0"/>
              <a:t>：环形依赖</a:t>
            </a:r>
            <a:endParaRPr kumimoji="1" lang="en-US" altLang="zh-CN" dirty="0"/>
          </a:p>
          <a:p>
            <a:pPr lvl="1"/>
            <a:r>
              <a:rPr kumimoji="1" lang="zh-CN" altLang="en-US" dirty="0"/>
              <a:t>一个块通常包含多个文件系统结构</a:t>
            </a:r>
            <a:endParaRPr kumimoji="1" lang="en-US" altLang="zh-CN" dirty="0"/>
          </a:p>
          <a:p>
            <a:pPr lvl="1"/>
            <a:r>
              <a:rPr kumimoji="1" lang="zh-CN" altLang="en-US" dirty="0"/>
              <a:t>环形依赖：块 </a:t>
            </a:r>
            <a:r>
              <a:rPr kumimoji="1" lang="en-US" altLang="zh-CN" dirty="0"/>
              <a:t>A </a:t>
            </a:r>
            <a:r>
              <a:rPr kumimoji="1" lang="zh-CN" altLang="en-US" dirty="0"/>
              <a:t>需要在块 </a:t>
            </a:r>
            <a:r>
              <a:rPr kumimoji="1" lang="en-US" altLang="zh-CN" dirty="0"/>
              <a:t>B </a:t>
            </a:r>
            <a:r>
              <a:rPr kumimoji="1" lang="zh-CN" altLang="en-US" dirty="0"/>
              <a:t>前写回，同时块 </a:t>
            </a:r>
            <a:r>
              <a:rPr kumimoji="1" lang="en-US" altLang="zh-CN" dirty="0"/>
              <a:t>B </a:t>
            </a:r>
            <a:r>
              <a:rPr kumimoji="1" lang="zh-CN" altLang="en-US" dirty="0"/>
              <a:t>需要在块 </a:t>
            </a:r>
            <a:r>
              <a:rPr kumimoji="1" lang="en-US" altLang="zh-CN" dirty="0"/>
              <a:t>A </a:t>
            </a:r>
            <a:r>
              <a:rPr kumimoji="1" lang="zh-CN" altLang="en-US" dirty="0"/>
              <a:t>前写回</a:t>
            </a:r>
            <a:endParaRPr kumimoji="1" lang="en-US" altLang="zh-CN" dirty="0"/>
          </a:p>
          <a:p>
            <a:pPr lvl="1"/>
            <a:endParaRPr kumimoji="1" lang="en-US" altLang="zh-CN" dirty="0"/>
          </a:p>
          <a:p>
            <a:pPr lvl="0"/>
            <a:r>
              <a:rPr kumimoji="1" lang="zh-CN" altLang="en-US" dirty="0">
                <a:solidFill>
                  <a:srgbClr val="000000">
                    <a:lumMod val="75000"/>
                    <a:lumOff val="25000"/>
                  </a:srgbClr>
                </a:solidFill>
              </a:rPr>
              <a:t>问题</a:t>
            </a:r>
            <a:r>
              <a:rPr kumimoji="1" lang="en-US" altLang="zh-CN" dirty="0">
                <a:solidFill>
                  <a:srgbClr val="000000">
                    <a:lumMod val="75000"/>
                    <a:lumOff val="25000"/>
                  </a:srgbClr>
                </a:solidFill>
              </a:rPr>
              <a:t>2</a:t>
            </a:r>
            <a:r>
              <a:rPr kumimoji="1" lang="zh-CN" altLang="en-US" dirty="0">
                <a:solidFill>
                  <a:srgbClr val="000000">
                    <a:lumMod val="75000"/>
                    <a:lumOff val="25000"/>
                  </a:srgbClr>
                </a:solidFill>
              </a:rPr>
              <a:t>：写回迟滞</a:t>
            </a:r>
            <a:endParaRPr kumimoji="1" lang="en-US" altLang="zh-CN" dirty="0">
              <a:solidFill>
                <a:srgbClr val="000000">
                  <a:lumMod val="75000"/>
                  <a:lumOff val="25000"/>
                </a:srgbClr>
              </a:solidFill>
            </a:endParaRPr>
          </a:p>
          <a:p>
            <a:pPr lvl="1"/>
            <a:r>
              <a:rPr kumimoji="1" lang="zh-CN" altLang="en-US" dirty="0"/>
              <a:t>当一个结构中的数据被频繁修改时，该结构很可能由于一直产生新的依赖导致长时间无法被写回到存储设备之中</a:t>
            </a:r>
            <a:endParaRPr kumimoji="1" lang="en-US" altLang="zh-CN" dirty="0"/>
          </a:p>
        </p:txBody>
      </p:sp>
      <p:sp>
        <p:nvSpPr>
          <p:cNvPr id="4" name="灯片编号占位符 3">
            <a:extLst>
              <a:ext uri="{FF2B5EF4-FFF2-40B4-BE49-F238E27FC236}">
                <a16:creationId xmlns:a16="http://schemas.microsoft.com/office/drawing/2014/main" id="{6C37997D-92C9-AE41-BF67-A782CF096134}"/>
              </a:ext>
            </a:extLst>
          </p:cNvPr>
          <p:cNvSpPr>
            <a:spLocks noGrp="1"/>
          </p:cNvSpPr>
          <p:nvPr>
            <p:ph type="sldNum" sz="quarter" idx="12"/>
          </p:nvPr>
        </p:nvSpPr>
        <p:spPr/>
        <p:txBody>
          <a:bodyPr/>
          <a:lstStyle/>
          <a:p>
            <a:fld id="{ADE361C3-C043-4A6E-BDCE-8DA1E7D90A3B}" type="slidenum">
              <a:rPr lang="zh-CN" altLang="en-US" smtClean="0"/>
              <a:t>60</a:t>
            </a:fld>
            <a:endParaRPr lang="zh-CN" altLang="en-US"/>
          </a:p>
        </p:txBody>
      </p:sp>
      <p:sp>
        <p:nvSpPr>
          <p:cNvPr id="5" name="页脚占位符 4">
            <a:extLst>
              <a:ext uri="{FF2B5EF4-FFF2-40B4-BE49-F238E27FC236}">
                <a16:creationId xmlns:a16="http://schemas.microsoft.com/office/drawing/2014/main" id="{60591A2F-E683-304F-92D3-7B508B9B9B8C}"/>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6" name="图片 5">
            <a:extLst>
              <a:ext uri="{FF2B5EF4-FFF2-40B4-BE49-F238E27FC236}">
                <a16:creationId xmlns:a16="http://schemas.microsoft.com/office/drawing/2014/main" id="{BFD36BDA-25BE-F844-9DBE-80AC4D01FA70}"/>
              </a:ext>
            </a:extLst>
          </p:cNvPr>
          <p:cNvPicPr>
            <a:picLocks noChangeAspect="1"/>
          </p:cNvPicPr>
          <p:nvPr/>
        </p:nvPicPr>
        <p:blipFill>
          <a:blip r:embed="rId3"/>
          <a:stretch>
            <a:fillRect/>
          </a:stretch>
        </p:blipFill>
        <p:spPr>
          <a:xfrm>
            <a:off x="5300818" y="17350"/>
            <a:ext cx="3843182" cy="2058151"/>
          </a:xfrm>
          <a:prstGeom prst="rect">
            <a:avLst/>
          </a:prstGeom>
        </p:spPr>
      </p:pic>
    </p:spTree>
    <p:extLst>
      <p:ext uri="{BB962C8B-B14F-4D97-AF65-F5344CB8AC3E}">
        <p14:creationId xmlns:p14="http://schemas.microsoft.com/office/powerpoint/2010/main" val="404464333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FC401B-6906-D04E-982E-65FA9B2C9485}"/>
              </a:ext>
            </a:extLst>
          </p:cNvPr>
          <p:cNvSpPr>
            <a:spLocks noGrp="1"/>
          </p:cNvSpPr>
          <p:nvPr>
            <p:ph type="title"/>
          </p:nvPr>
        </p:nvSpPr>
        <p:spPr/>
        <p:txBody>
          <a:bodyPr/>
          <a:lstStyle/>
          <a:p>
            <a:r>
              <a:rPr kumimoji="1" lang="zh-CN" altLang="en-US" dirty="0"/>
              <a:t>撤销和重做</a:t>
            </a:r>
          </a:p>
        </p:txBody>
      </p:sp>
      <p:sp>
        <p:nvSpPr>
          <p:cNvPr id="3" name="内容占位符 2">
            <a:extLst>
              <a:ext uri="{FF2B5EF4-FFF2-40B4-BE49-F238E27FC236}">
                <a16:creationId xmlns:a16="http://schemas.microsoft.com/office/drawing/2014/main" id="{924100E1-4C1C-A347-96E1-0C8BA5803A62}"/>
              </a:ext>
            </a:extLst>
          </p:cNvPr>
          <p:cNvSpPr>
            <a:spLocks noGrp="1"/>
          </p:cNvSpPr>
          <p:nvPr>
            <p:ph idx="1"/>
          </p:nvPr>
        </p:nvSpPr>
        <p:spPr/>
        <p:txBody>
          <a:bodyPr>
            <a:noAutofit/>
          </a:bodyPr>
          <a:lstStyle/>
          <a:p>
            <a:r>
              <a:rPr kumimoji="1" lang="zh-CN" altLang="en-US" sz="2000" dirty="0"/>
              <a:t>解决环形依赖</a:t>
            </a:r>
            <a:endParaRPr kumimoji="1" lang="en-US" altLang="zh-CN" sz="2000" dirty="0"/>
          </a:p>
          <a:p>
            <a:pPr lvl="1"/>
            <a:r>
              <a:rPr kumimoji="1" lang="zh-CN" altLang="en-US" sz="1800" dirty="0"/>
              <a:t>将依赖追踪从块粒度细化为结构粒度，使用撤销和重做打破循环依赖</a:t>
            </a:r>
            <a:endParaRPr kumimoji="1" lang="en-US" altLang="zh-CN" sz="1800" dirty="0"/>
          </a:p>
          <a:p>
            <a:r>
              <a:rPr kumimoji="1" lang="zh-CN" altLang="en-US" sz="2000" dirty="0"/>
              <a:t>记录每个结构上的修改记录</a:t>
            </a:r>
            <a:endParaRPr kumimoji="1" lang="en-US" altLang="zh-CN" sz="2000" dirty="0"/>
          </a:p>
          <a:p>
            <a:pPr lvl="1"/>
            <a:r>
              <a:rPr kumimoji="1" lang="zh-CN" altLang="en-US" sz="1800" dirty="0"/>
              <a:t>当需要将某个结构写回到存储设备时，检测是否有环形依赖</a:t>
            </a:r>
            <a:endParaRPr kumimoji="1" lang="en-US" altLang="zh-CN" sz="1800" dirty="0"/>
          </a:p>
          <a:p>
            <a:pPr lvl="1"/>
            <a:r>
              <a:rPr kumimoji="1" lang="zh-CN" altLang="en-US" sz="1800" dirty="0"/>
              <a:t>当出现环形依赖时，其先将部分操作撤销</a:t>
            </a:r>
            <a:endParaRPr kumimoji="1" lang="en-US" altLang="zh-CN" sz="1800" dirty="0"/>
          </a:p>
          <a:p>
            <a:pPr lvl="2"/>
            <a:r>
              <a:rPr kumimoji="1" lang="zh-CN" altLang="en-US" sz="1800" dirty="0"/>
              <a:t>即将内存中的结构还原到此操作执行前的状态</a:t>
            </a:r>
            <a:endParaRPr kumimoji="1" lang="en-US" altLang="zh-CN" sz="1800" dirty="0"/>
          </a:p>
          <a:p>
            <a:pPr lvl="1"/>
            <a:r>
              <a:rPr kumimoji="1" lang="zh-CN" altLang="en-US" sz="1800" dirty="0"/>
              <a:t>撤销之后环形依赖被打破，根据打破后的依赖将修改按照顺序持久化</a:t>
            </a:r>
            <a:endParaRPr kumimoji="1" lang="en-US" altLang="zh-CN" sz="1800" dirty="0"/>
          </a:p>
          <a:p>
            <a:pPr lvl="1"/>
            <a:r>
              <a:rPr kumimoji="1" lang="zh-CN" altLang="en-US" sz="1800" dirty="0"/>
              <a:t>持久化完毕之后，将此前被撤销的操作恢复，即重做。</a:t>
            </a:r>
            <a:endParaRPr kumimoji="1" lang="en-US" altLang="zh-CN" sz="1800" dirty="0"/>
          </a:p>
          <a:p>
            <a:pPr lvl="1"/>
            <a:r>
              <a:rPr kumimoji="1" lang="zh-CN" altLang="en-US" sz="1800" dirty="0"/>
              <a:t>在重做完成后，将最新的内存中的结构按照新的依赖关系再次持久化</a:t>
            </a:r>
          </a:p>
        </p:txBody>
      </p:sp>
      <p:sp>
        <p:nvSpPr>
          <p:cNvPr id="4" name="灯片编号占位符 3">
            <a:extLst>
              <a:ext uri="{FF2B5EF4-FFF2-40B4-BE49-F238E27FC236}">
                <a16:creationId xmlns:a16="http://schemas.microsoft.com/office/drawing/2014/main" id="{E024F3A6-3453-0842-858F-0F05AAFE6711}"/>
              </a:ext>
            </a:extLst>
          </p:cNvPr>
          <p:cNvSpPr>
            <a:spLocks noGrp="1"/>
          </p:cNvSpPr>
          <p:nvPr>
            <p:ph type="sldNum" sz="quarter" idx="12"/>
          </p:nvPr>
        </p:nvSpPr>
        <p:spPr/>
        <p:txBody>
          <a:bodyPr/>
          <a:lstStyle/>
          <a:p>
            <a:fld id="{ADE361C3-C043-4A6E-BDCE-8DA1E7D90A3B}" type="slidenum">
              <a:rPr lang="zh-CN" altLang="en-US" smtClean="0"/>
              <a:t>61</a:t>
            </a:fld>
            <a:endParaRPr lang="zh-CN" altLang="en-US"/>
          </a:p>
        </p:txBody>
      </p:sp>
      <p:sp>
        <p:nvSpPr>
          <p:cNvPr id="5" name="页脚占位符 4">
            <a:extLst>
              <a:ext uri="{FF2B5EF4-FFF2-40B4-BE49-F238E27FC236}">
                <a16:creationId xmlns:a16="http://schemas.microsoft.com/office/drawing/2014/main" id="{8E71B95C-1299-4D46-8252-3D3208F73D0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424860110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B2E613-B31A-4B43-BB33-853B4A45971D}"/>
              </a:ext>
            </a:extLst>
          </p:cNvPr>
          <p:cNvSpPr>
            <a:spLocks noGrp="1"/>
          </p:cNvSpPr>
          <p:nvPr>
            <p:ph type="title"/>
          </p:nvPr>
        </p:nvSpPr>
        <p:spPr/>
        <p:txBody>
          <a:bodyPr/>
          <a:lstStyle/>
          <a:p>
            <a:r>
              <a:rPr kumimoji="1" lang="zh-CN" altLang="en-US" dirty="0"/>
              <a:t>撤销和重做</a:t>
            </a:r>
          </a:p>
        </p:txBody>
      </p:sp>
      <p:sp>
        <p:nvSpPr>
          <p:cNvPr id="4" name="灯片编号占位符 3">
            <a:extLst>
              <a:ext uri="{FF2B5EF4-FFF2-40B4-BE49-F238E27FC236}">
                <a16:creationId xmlns:a16="http://schemas.microsoft.com/office/drawing/2014/main" id="{3C621FF4-127A-6045-82C3-BF0245217F8F}"/>
              </a:ext>
            </a:extLst>
          </p:cNvPr>
          <p:cNvSpPr>
            <a:spLocks noGrp="1"/>
          </p:cNvSpPr>
          <p:nvPr>
            <p:ph type="sldNum" sz="quarter" idx="12"/>
          </p:nvPr>
        </p:nvSpPr>
        <p:spPr/>
        <p:txBody>
          <a:bodyPr/>
          <a:lstStyle/>
          <a:p>
            <a:fld id="{ADE361C3-C043-4A6E-BDCE-8DA1E7D90A3B}" type="slidenum">
              <a:rPr lang="zh-CN" altLang="en-US" smtClean="0"/>
              <a:t>62</a:t>
            </a:fld>
            <a:endParaRPr lang="zh-CN" altLang="en-US"/>
          </a:p>
        </p:txBody>
      </p:sp>
      <p:sp>
        <p:nvSpPr>
          <p:cNvPr id="5" name="页脚占位符 4">
            <a:extLst>
              <a:ext uri="{FF2B5EF4-FFF2-40B4-BE49-F238E27FC236}">
                <a16:creationId xmlns:a16="http://schemas.microsoft.com/office/drawing/2014/main" id="{68B1FA00-4C0C-A848-B520-AD827ABA1E68}"/>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6" name="图片 5">
            <a:extLst>
              <a:ext uri="{FF2B5EF4-FFF2-40B4-BE49-F238E27FC236}">
                <a16:creationId xmlns:a16="http://schemas.microsoft.com/office/drawing/2014/main" id="{1A6F53BE-5453-644D-A657-EB4CDB704A67}"/>
              </a:ext>
            </a:extLst>
          </p:cNvPr>
          <p:cNvPicPr>
            <a:picLocks noChangeAspect="1"/>
          </p:cNvPicPr>
          <p:nvPr/>
        </p:nvPicPr>
        <p:blipFill>
          <a:blip r:embed="rId3"/>
          <a:stretch>
            <a:fillRect/>
          </a:stretch>
        </p:blipFill>
        <p:spPr>
          <a:xfrm>
            <a:off x="1518657" y="1230577"/>
            <a:ext cx="6106686" cy="3931179"/>
          </a:xfrm>
          <a:prstGeom prst="rect">
            <a:avLst/>
          </a:prstGeom>
        </p:spPr>
      </p:pic>
    </p:spTree>
    <p:extLst>
      <p:ext uri="{BB962C8B-B14F-4D97-AF65-F5344CB8AC3E}">
        <p14:creationId xmlns:p14="http://schemas.microsoft.com/office/powerpoint/2010/main" val="408195996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2451C6-13FC-2C4A-9CF4-14E0E75B19A5}"/>
              </a:ext>
            </a:extLst>
          </p:cNvPr>
          <p:cNvSpPr>
            <a:spLocks noGrp="1"/>
          </p:cNvSpPr>
          <p:nvPr>
            <p:ph type="title"/>
          </p:nvPr>
        </p:nvSpPr>
        <p:spPr/>
        <p:txBody>
          <a:bodyPr/>
          <a:lstStyle/>
          <a:p>
            <a:r>
              <a:rPr kumimoji="1" lang="zh-CN" altLang="en-US" dirty="0"/>
              <a:t>撤销和重做</a:t>
            </a:r>
          </a:p>
        </p:txBody>
      </p:sp>
      <p:sp>
        <p:nvSpPr>
          <p:cNvPr id="3" name="内容占位符 2">
            <a:extLst>
              <a:ext uri="{FF2B5EF4-FFF2-40B4-BE49-F238E27FC236}">
                <a16:creationId xmlns:a16="http://schemas.microsoft.com/office/drawing/2014/main" id="{C59B19FA-F1DB-6C43-95DA-94070C88A6BF}"/>
              </a:ext>
            </a:extLst>
          </p:cNvPr>
          <p:cNvSpPr>
            <a:spLocks noGrp="1"/>
          </p:cNvSpPr>
          <p:nvPr>
            <p:ph idx="1"/>
          </p:nvPr>
        </p:nvSpPr>
        <p:spPr/>
        <p:txBody>
          <a:bodyPr/>
          <a:lstStyle/>
          <a:p>
            <a:r>
              <a:rPr kumimoji="1" lang="zh-CN" altLang="en-US" dirty="0"/>
              <a:t>不仅能够打破环形依赖，还能解决写回迟滞的问题</a:t>
            </a:r>
            <a:endParaRPr kumimoji="1" lang="en-US" altLang="zh-CN" dirty="0"/>
          </a:p>
          <a:p>
            <a:pPr lvl="1"/>
            <a:r>
              <a:rPr kumimoji="1" lang="zh-CN" altLang="en-US" dirty="0"/>
              <a:t>若某个结构被频繁修改，导致不断有新的依赖产生时，可将部分新的修改撤销，在快速完成持久化后将修改重做</a:t>
            </a:r>
            <a:endParaRPr kumimoji="1" lang="en-US" altLang="zh-CN" dirty="0"/>
          </a:p>
          <a:p>
            <a:pPr lvl="1"/>
            <a:r>
              <a:rPr kumimoji="1" lang="zh-CN" altLang="en-US" dirty="0"/>
              <a:t>避免新依赖不断推迟该结构上修改的持久化</a:t>
            </a:r>
          </a:p>
        </p:txBody>
      </p:sp>
      <p:sp>
        <p:nvSpPr>
          <p:cNvPr id="4" name="灯片编号占位符 3">
            <a:extLst>
              <a:ext uri="{FF2B5EF4-FFF2-40B4-BE49-F238E27FC236}">
                <a16:creationId xmlns:a16="http://schemas.microsoft.com/office/drawing/2014/main" id="{85110839-E680-FB47-92E0-8FA62C0EAAED}"/>
              </a:ext>
            </a:extLst>
          </p:cNvPr>
          <p:cNvSpPr>
            <a:spLocks noGrp="1"/>
          </p:cNvSpPr>
          <p:nvPr>
            <p:ph type="sldNum" sz="quarter" idx="12"/>
          </p:nvPr>
        </p:nvSpPr>
        <p:spPr/>
        <p:txBody>
          <a:bodyPr/>
          <a:lstStyle/>
          <a:p>
            <a:fld id="{ADE361C3-C043-4A6E-BDCE-8DA1E7D90A3B}" type="slidenum">
              <a:rPr lang="zh-CN" altLang="en-US" smtClean="0"/>
              <a:t>63</a:t>
            </a:fld>
            <a:endParaRPr lang="zh-CN" altLang="en-US"/>
          </a:p>
        </p:txBody>
      </p:sp>
      <p:sp>
        <p:nvSpPr>
          <p:cNvPr id="5" name="页脚占位符 4">
            <a:extLst>
              <a:ext uri="{FF2B5EF4-FFF2-40B4-BE49-F238E27FC236}">
                <a16:creationId xmlns:a16="http://schemas.microsoft.com/office/drawing/2014/main" id="{A6E904F6-6420-4845-913B-AC47886E6A1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228590162"/>
      </p:ext>
    </p:extLst>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778495"/>
      </a:dk2>
      <a:lt2>
        <a:srgbClr val="F0F0F0"/>
      </a:lt2>
      <a:accent1>
        <a:srgbClr val="BE384B"/>
      </a:accent1>
      <a:accent2>
        <a:srgbClr val="6A868F"/>
      </a:accent2>
      <a:accent3>
        <a:srgbClr val="32788E"/>
      </a:accent3>
      <a:accent4>
        <a:srgbClr val="D6C88B"/>
      </a:accent4>
      <a:accent5>
        <a:srgbClr val="D66E49"/>
      </a:accent5>
      <a:accent6>
        <a:srgbClr val="BFBFBF"/>
      </a:accent6>
      <a:hlink>
        <a:srgbClr val="BE384B"/>
      </a:hlink>
      <a:folHlink>
        <a:srgbClr val="BFBFBF"/>
      </a:folHlink>
    </a:clrScheme>
    <a:fontScheme name="2obzv3wc">
      <a:majorFont>
        <a:latin typeface="Arial" panose="020B0A04020102020204"/>
        <a:ea typeface="微软雅黑"/>
        <a:cs typeface=""/>
      </a:majorFont>
      <a:minorFont>
        <a:latin typeface="Arial" panose="020B0604020202020204"/>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JTU-Red" id="{D8CCD1CF-4E9C-2949-907F-EF4853CAD992}" vid="{47F94616-763E-7D43-9BB0-722503DC19A3}"/>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SJTU-Red</Template>
  <TotalTime>52536</TotalTime>
  <Words>7598</Words>
  <Application>Microsoft Macintosh PowerPoint</Application>
  <PresentationFormat>全屏显示(16:10)</PresentationFormat>
  <Paragraphs>1127</Paragraphs>
  <Slides>63</Slides>
  <Notes>19</Notes>
  <HiddenSlides>7</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63</vt:i4>
      </vt:variant>
    </vt:vector>
  </HeadingPairs>
  <TitlesOfParts>
    <vt:vector size="71" baseType="lpstr">
      <vt:lpstr>DengXian</vt:lpstr>
      <vt:lpstr>微软雅黑</vt:lpstr>
      <vt:lpstr>Arial</vt:lpstr>
      <vt:lpstr>Calibri</vt:lpstr>
      <vt:lpstr>Candara</vt:lpstr>
      <vt:lpstr>Courier</vt:lpstr>
      <vt:lpstr>Wingdings</vt:lpstr>
      <vt:lpstr>Office 主题​​</vt:lpstr>
      <vt:lpstr>文件系统崩溃一致性</vt:lpstr>
      <vt:lpstr>版权声明</vt:lpstr>
      <vt:lpstr>文件系统崩溃一致性</vt:lpstr>
      <vt:lpstr>文件系统的崩溃一致性</vt:lpstr>
      <vt:lpstr>回顾：内存与存储结构</vt:lpstr>
      <vt:lpstr>PowerPoint 演示文稿</vt:lpstr>
      <vt:lpstr>创建文件时崩溃，有几种情况？</vt:lpstr>
      <vt:lpstr>创建文件时崩溃，有几种情况？</vt:lpstr>
      <vt:lpstr>创建文件时崩溃的六种情况</vt:lpstr>
      <vt:lpstr>崩溃一致性：用户期望</vt:lpstr>
      <vt:lpstr>一些（简化的）假设</vt:lpstr>
      <vt:lpstr>文件系统操作所要求的三个属性</vt:lpstr>
      <vt:lpstr>崩溃一致性保障方法</vt:lpstr>
      <vt:lpstr>同步元数据写+fsck</vt:lpstr>
      <vt:lpstr>同步元数据写+fsck</vt:lpstr>
      <vt:lpstr>同步元数据写+fsck</vt:lpstr>
      <vt:lpstr>同步元数据写+fsck</vt:lpstr>
      <vt:lpstr>fsck的问题：太慢</vt:lpstr>
      <vt:lpstr>日志</vt:lpstr>
      <vt:lpstr>日志：基本思路</vt:lpstr>
      <vt:lpstr>日志</vt:lpstr>
      <vt:lpstr>日志</vt:lpstr>
      <vt:lpstr>问题</vt:lpstr>
      <vt:lpstr>利用内存中的页缓存</vt:lpstr>
      <vt:lpstr>利用内存中的页缓存</vt:lpstr>
      <vt:lpstr>批量处理日志以减少磁盘写</vt:lpstr>
      <vt:lpstr>日志提交的触发条件</vt:lpstr>
      <vt:lpstr>Case：Linux中的日志系统JBD2</vt:lpstr>
      <vt:lpstr>JBD2事务的状态</vt:lpstr>
      <vt:lpstr>JBD2部分接口和使用方法</vt:lpstr>
      <vt:lpstr>JBD2部分接口和使用方法</vt:lpstr>
      <vt:lpstr>JBD2部分接口和使用方法</vt:lpstr>
      <vt:lpstr>JBD2部分接口和使用方法</vt:lpstr>
      <vt:lpstr>JBD2部分接口和使用方法</vt:lpstr>
      <vt:lpstr>JBD2日志的磁盘结构</vt:lpstr>
      <vt:lpstr>Ext4的三种日志模式</vt:lpstr>
      <vt:lpstr>Ext4的三种日志模式</vt:lpstr>
      <vt:lpstr>Ordered Mode：两次Flush保证顺序</vt:lpstr>
      <vt:lpstr>Ordered Mode</vt:lpstr>
      <vt:lpstr>写时复制</vt:lpstr>
      <vt:lpstr>写时复制（Copy-on-Write）</vt:lpstr>
      <vt:lpstr>文件中的写时复制</vt:lpstr>
      <vt:lpstr>文件中的写时复制</vt:lpstr>
      <vt:lpstr>文件中的写时复制</vt:lpstr>
      <vt:lpstr>文件中的写时复制</vt:lpstr>
      <vt:lpstr>文件中的写时复制</vt:lpstr>
      <vt:lpstr>文件中的写时复制</vt:lpstr>
      <vt:lpstr>思考时间</vt:lpstr>
      <vt:lpstr>"写时复制"文件系统</vt:lpstr>
      <vt:lpstr>Soft updates</vt:lpstr>
      <vt:lpstr>Soft Updates</vt:lpstr>
      <vt:lpstr>回顾：创建文件时崩溃的六种情况</vt:lpstr>
      <vt:lpstr>Soft Updates的总体思想</vt:lpstr>
      <vt:lpstr>Soft Updates的三个次序规则</vt:lpstr>
      <vt:lpstr>Soft Updates</vt:lpstr>
      <vt:lpstr>创建文件</vt:lpstr>
      <vt:lpstr>删除文件</vt:lpstr>
      <vt:lpstr>文件重命名</vt:lpstr>
      <vt:lpstr>依赖追踪</vt:lpstr>
      <vt:lpstr>依赖追踪的两个问题</vt:lpstr>
      <vt:lpstr>撤销和重做</vt:lpstr>
      <vt:lpstr>撤销和重做</vt:lpstr>
      <vt:lpstr>撤销和重做</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虚拟机隔离与安全</dc:title>
  <dc:creator>Xia Yubin</dc:creator>
  <cp:lastModifiedBy>Xia Yubin</cp:lastModifiedBy>
  <cp:revision>4085</cp:revision>
  <cp:lastPrinted>2016-06-13T07:55:34Z</cp:lastPrinted>
  <dcterms:created xsi:type="dcterms:W3CDTF">2017-11-24T09:35:45Z</dcterms:created>
  <dcterms:modified xsi:type="dcterms:W3CDTF">2024-06-14T15:21:49Z</dcterms:modified>
</cp:coreProperties>
</file>