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63"/>
  </p:notesMasterIdLst>
  <p:handoutMasterIdLst>
    <p:handoutMasterId r:id="rId64"/>
  </p:handoutMasterIdLst>
  <p:sldIdLst>
    <p:sldId id="2871" r:id="rId2"/>
    <p:sldId id="2872" r:id="rId3"/>
    <p:sldId id="2860" r:id="rId4"/>
    <p:sldId id="2868" r:id="rId5"/>
    <p:sldId id="2943" r:id="rId6"/>
    <p:sldId id="2858" r:id="rId7"/>
    <p:sldId id="2944" r:id="rId8"/>
    <p:sldId id="2746" r:id="rId9"/>
    <p:sldId id="2937" r:id="rId10"/>
    <p:sldId id="2874" r:id="rId11"/>
    <p:sldId id="2239" r:id="rId12"/>
    <p:sldId id="2936" r:id="rId13"/>
    <p:sldId id="1388" r:id="rId14"/>
    <p:sldId id="2809" r:id="rId15"/>
    <p:sldId id="2275" r:id="rId16"/>
    <p:sldId id="586" r:id="rId17"/>
    <p:sldId id="2912" r:id="rId18"/>
    <p:sldId id="2878" r:id="rId19"/>
    <p:sldId id="2879" r:id="rId20"/>
    <p:sldId id="2880" r:id="rId21"/>
    <p:sldId id="2881" r:id="rId22"/>
    <p:sldId id="2882" r:id="rId23"/>
    <p:sldId id="2883" r:id="rId24"/>
    <p:sldId id="2884" r:id="rId25"/>
    <p:sldId id="2911" r:id="rId26"/>
    <p:sldId id="2854" r:id="rId27"/>
    <p:sldId id="2885" r:id="rId28"/>
    <p:sldId id="2886" r:id="rId29"/>
    <p:sldId id="2909" r:id="rId30"/>
    <p:sldId id="2888" r:id="rId31"/>
    <p:sldId id="2889" r:id="rId32"/>
    <p:sldId id="2859" r:id="rId33"/>
    <p:sldId id="2893" r:id="rId34"/>
    <p:sldId id="2895" r:id="rId35"/>
    <p:sldId id="2896" r:id="rId36"/>
    <p:sldId id="2898" r:id="rId37"/>
    <p:sldId id="2900" r:id="rId38"/>
    <p:sldId id="2901" r:id="rId39"/>
    <p:sldId id="2902" r:id="rId40"/>
    <p:sldId id="2904" r:id="rId41"/>
    <p:sldId id="2907" r:id="rId42"/>
    <p:sldId id="2913" r:id="rId43"/>
    <p:sldId id="2908" r:id="rId44"/>
    <p:sldId id="2914" r:id="rId45"/>
    <p:sldId id="2830" r:id="rId46"/>
    <p:sldId id="2798" r:id="rId47"/>
    <p:sldId id="2799" r:id="rId48"/>
    <p:sldId id="2800" r:id="rId49"/>
    <p:sldId id="2801" r:id="rId50"/>
    <p:sldId id="2802" r:id="rId51"/>
    <p:sldId id="2803" r:id="rId52"/>
    <p:sldId id="2805" r:id="rId53"/>
    <p:sldId id="2806" r:id="rId54"/>
    <p:sldId id="2807" r:id="rId55"/>
    <p:sldId id="2808" r:id="rId56"/>
    <p:sldId id="2795" r:id="rId57"/>
    <p:sldId id="2857" r:id="rId58"/>
    <p:sldId id="2824" r:id="rId59"/>
    <p:sldId id="2825" r:id="rId60"/>
    <p:sldId id="2822" r:id="rId61"/>
    <p:sldId id="2942" r:id="rId62"/>
  </p:sldIdLst>
  <p:sldSz cx="9144000" cy="5715000" type="screen16x1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00" userDrawn="1">
          <p15:clr>
            <a:srgbClr val="A4A3A4"/>
          </p15:clr>
        </p15:guide>
        <p15:guide id="2" pos="3878" userDrawn="1">
          <p15:clr>
            <a:srgbClr val="A4A3A4"/>
          </p15:clr>
        </p15:guide>
        <p15:guide id="3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E384B"/>
    <a:srgbClr val="404040"/>
    <a:srgbClr val="FFFF99"/>
    <a:srgbClr val="515151"/>
    <a:srgbClr val="941100"/>
    <a:srgbClr val="FF2F92"/>
    <a:srgbClr val="0432FF"/>
    <a:srgbClr val="FF9300"/>
    <a:srgbClr val="00FB92"/>
    <a:srgbClr val="2121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48" autoAdjust="0"/>
    <p:restoredTop sz="90884" autoAdjust="0"/>
  </p:normalViewPr>
  <p:slideViewPr>
    <p:cSldViewPr>
      <p:cViewPr varScale="1">
        <p:scale>
          <a:sx n="134" d="100"/>
          <a:sy n="134" d="100"/>
        </p:scale>
        <p:origin x="440" y="176"/>
      </p:cViewPr>
      <p:guideLst>
        <p:guide orient="horz" pos="1800"/>
        <p:guide pos="3878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121" d="100"/>
          <a:sy n="121" d="100"/>
        </p:scale>
        <p:origin x="3864" y="1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notesMaster" Target="notesMasters/notesMaster1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384E5B-0B7C-A143-A087-04B582FC4BEF}" type="datetimeFigureOut">
              <a:rPr kumimoji="1" lang="zh-CN" altLang="en-US" smtClean="0"/>
              <a:t>2024/6/14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8370ED-3FEA-E543-9D41-DF20FAD761C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551917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D7DB94-E0DE-4F0F-A9B7-54654CD8C8B1}" type="datetimeFigureOut">
              <a:rPr lang="zh-CN" altLang="en-US" smtClean="0"/>
              <a:t>2024/6/14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84A077-83E9-49A7-9F59-234D78BD69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0265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685800"/>
            <a:ext cx="54864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>
                <a:solidFill>
                  <a:prstClr val="black"/>
                </a:solidFill>
              </a:rPr>
              <a:pPr/>
              <a:t>1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29895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800" b="0" i="0" dirty="0">
                <a:solidFill>
                  <a:srgbClr val="000000"/>
                </a:solidFill>
                <a:effectLst/>
                <a:latin typeface="NimbusRomNo9L-Regu"/>
              </a:rPr>
              <a:t>Accesses to cacheable memory retain their associated PAS until reaching the Point of Physical Aliasing (</a:t>
            </a:r>
            <a:r>
              <a:rPr lang="en-US" altLang="zh-CN" sz="1800" b="0" i="0" dirty="0" err="1">
                <a:solidFill>
                  <a:srgbClr val="000000"/>
                </a:solidFill>
                <a:effectLst/>
                <a:latin typeface="NimbusRomNo9L-Regu"/>
              </a:rPr>
              <a:t>PoPA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NimbusRomNo9L-Regu"/>
              </a:rPr>
              <a:t>)</a:t>
            </a:r>
            <a:r>
              <a:rPr lang="en-US" altLang="zh-CN" dirty="0"/>
              <a:t> </a:t>
            </a:r>
            <a:br>
              <a:rPr lang="en-US" altLang="zh-CN" dirty="0"/>
            </a:b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62094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76531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07411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685800"/>
            <a:ext cx="54864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/>
              <a:t>在 </a:t>
            </a:r>
            <a:r>
              <a:rPr lang="en-US" altLang="zh-CN" sz="1200" dirty="0"/>
              <a:t>TwinVisor </a:t>
            </a:r>
            <a:r>
              <a:rPr lang="zh-CN" altLang="en-US" sz="1200" dirty="0"/>
              <a:t>的威胁模型中，只有 </a:t>
            </a:r>
            <a:r>
              <a:rPr lang="en-US" altLang="zh-CN" sz="1200" dirty="0"/>
              <a:t>S-visor </a:t>
            </a:r>
            <a:r>
              <a:rPr lang="zh-CN" altLang="en-US" sz="1200" dirty="0"/>
              <a:t>和</a:t>
            </a:r>
            <a:r>
              <a:rPr lang="en-US" altLang="zh-CN" sz="1200" dirty="0"/>
              <a:t>EL3</a:t>
            </a:r>
            <a:r>
              <a:rPr lang="zh-CN" altLang="en-US" sz="1200" dirty="0"/>
              <a:t>中的固件属于</a:t>
            </a:r>
            <a:r>
              <a:rPr lang="en-US" altLang="zh-CN" sz="1200" dirty="0"/>
              <a:t>TCB</a:t>
            </a:r>
            <a:r>
              <a:rPr lang="zh-CN" altLang="en-US" sz="1200" dirty="0"/>
              <a:t>。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dirty="0"/>
              <a:t>N-VMs</a:t>
            </a:r>
            <a:r>
              <a:rPr lang="zh-CN" altLang="en-US" sz="1200" dirty="0"/>
              <a:t>和</a:t>
            </a:r>
            <a:r>
              <a:rPr lang="en-US" altLang="zh-CN" sz="1200" dirty="0"/>
              <a:t>N-visor</a:t>
            </a:r>
            <a:r>
              <a:rPr lang="zh-CN" altLang="en-US" sz="1200" dirty="0"/>
              <a:t>可以被攻击者入侵并控制，而</a:t>
            </a:r>
            <a:r>
              <a:rPr lang="en-US" altLang="zh-CN" sz="1200" dirty="0"/>
              <a:t>S-VMs</a:t>
            </a:r>
            <a:r>
              <a:rPr lang="zh-CN" altLang="en-US" sz="1200" dirty="0"/>
              <a:t>可能被恶意的云租户控制。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/>
              <a:t>物理攻击、</a:t>
            </a:r>
            <a:r>
              <a:rPr lang="en-US" altLang="zh-CN" sz="1200" dirty="0"/>
              <a:t>side-channel</a:t>
            </a:r>
            <a:r>
              <a:rPr lang="zh-CN" altLang="en-US" sz="1200" dirty="0"/>
              <a:t>和</a:t>
            </a:r>
            <a:r>
              <a:rPr lang="en-US" altLang="zh-CN" sz="1200" dirty="0" err="1"/>
              <a:t>DoS</a:t>
            </a:r>
            <a:r>
              <a:rPr lang="zh-CN" altLang="en-US" sz="1200" dirty="0"/>
              <a:t>攻击不在</a:t>
            </a:r>
            <a:r>
              <a:rPr lang="en-US" altLang="zh-CN" sz="1200" dirty="0"/>
              <a:t>TwinVisor</a:t>
            </a:r>
            <a:r>
              <a:rPr lang="zh-CN" altLang="en-US" sz="1200" dirty="0"/>
              <a:t>的考虑范围内，这些攻击的防御方法与</a:t>
            </a:r>
            <a:r>
              <a:rPr lang="en-US" altLang="zh-CN" sz="1200" dirty="0"/>
              <a:t>TwinVisor</a:t>
            </a:r>
            <a:r>
              <a:rPr lang="zh-CN" altLang="en-US" sz="1200" dirty="0"/>
              <a:t>的设计是正交的。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dirty="0"/>
              <a:t>TwinVisor</a:t>
            </a:r>
            <a:r>
              <a:rPr lang="zh-CN" altLang="en-US" sz="1200" dirty="0"/>
              <a:t>假设设备供应商提供硬件支持的</a:t>
            </a:r>
            <a:r>
              <a:rPr lang="en-US" altLang="zh-CN" sz="1200" dirty="0"/>
              <a:t>root of trust</a:t>
            </a:r>
            <a:r>
              <a:rPr lang="zh-CN" altLang="en-US" sz="1200" dirty="0"/>
              <a:t>以进行</a:t>
            </a:r>
            <a:r>
              <a:rPr lang="en-US" altLang="zh-CN" sz="1200" dirty="0"/>
              <a:t>attestation</a:t>
            </a:r>
            <a:r>
              <a:rPr lang="zh-CN" altLang="en-US" sz="1200" dirty="0"/>
              <a:t>，而</a:t>
            </a:r>
            <a:r>
              <a:rPr lang="en-US" altLang="zh-CN" sz="1200" dirty="0"/>
              <a:t>S-VM</a:t>
            </a:r>
            <a:r>
              <a:rPr lang="zh-CN" altLang="en-US" sz="1200" dirty="0"/>
              <a:t>则通过加密和完整性检查来保护自己的</a:t>
            </a:r>
            <a:r>
              <a:rPr lang="en-US" altLang="zh-CN" sz="1200" dirty="0"/>
              <a:t>I/O</a:t>
            </a:r>
            <a:r>
              <a:rPr lang="zh-CN" altLang="en-US" sz="1200" dirty="0"/>
              <a:t>数据安全。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96134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44853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76861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63988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35270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63717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34745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296691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370873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223724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480963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577358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54788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/>
              <a:t>假设系统最高磁盘</a:t>
            </a:r>
            <a:r>
              <a:rPr kumimoji="1" lang="en-US" altLang="ja-JP" dirty="0"/>
              <a:t>IO</a:t>
            </a:r>
            <a:r>
              <a:rPr kumimoji="1" lang="ja-JP" altLang="en-US"/>
              <a:t>速度为</a:t>
            </a:r>
            <a:r>
              <a:rPr kumimoji="1" lang="en-US" altLang="zh-CN" dirty="0"/>
              <a:t>500MB/s</a:t>
            </a:r>
            <a:r>
              <a:rPr kumimoji="1" lang="zh-CN" altLang="en-US" dirty="0"/>
              <a:t>，</a:t>
            </a:r>
            <a:r>
              <a:rPr kumimoji="1" lang="ja-JP" altLang="en-US"/>
              <a:t>小明和小红都想访问磁盘</a:t>
            </a:r>
            <a:r>
              <a:rPr kumimoji="1" lang="zh-CN" altLang="en-US" dirty="0"/>
              <a:t>，</a:t>
            </a:r>
            <a:r>
              <a:rPr kumimoji="1" lang="ja-JP" altLang="en-US"/>
              <a:t>小明抢不过小红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663536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621359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070317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031423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042032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50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641660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说明一下有很多子系统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51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270182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52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022943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/>
              <a:t>假设系统最高磁盘</a:t>
            </a:r>
            <a:r>
              <a:rPr kumimoji="1" lang="en-US" altLang="ja-JP" dirty="0"/>
              <a:t>IO</a:t>
            </a:r>
            <a:r>
              <a:rPr kumimoji="1" lang="ja-JP" altLang="en-US"/>
              <a:t>速度为</a:t>
            </a:r>
            <a:r>
              <a:rPr kumimoji="1" lang="en-US" altLang="zh-CN" dirty="0"/>
              <a:t>500MB/s</a:t>
            </a:r>
            <a:r>
              <a:rPr kumimoji="1" lang="zh-CN" altLang="en-US" dirty="0"/>
              <a:t>，</a:t>
            </a:r>
            <a:r>
              <a:rPr kumimoji="1" lang="ja-JP" altLang="en-US"/>
              <a:t>小明和小红都想访问磁盘</a:t>
            </a:r>
            <a:r>
              <a:rPr kumimoji="1" lang="zh-CN" altLang="en-US" dirty="0"/>
              <a:t>，</a:t>
            </a:r>
            <a:r>
              <a:rPr kumimoji="1" lang="ja-JP" altLang="en-US"/>
              <a:t>于是给他们每个人都设置了</a:t>
            </a:r>
            <a:r>
              <a:rPr kumimoji="1" lang="en-US" altLang="zh-CN" dirty="0"/>
              <a:t>250MB/s</a:t>
            </a:r>
            <a:r>
              <a:rPr kumimoji="1" lang="ja-JP" altLang="en-US"/>
              <a:t>的最大值</a:t>
            </a:r>
            <a:endParaRPr kumimoji="1" lang="en-US" altLang="ja-JP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53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893279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54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420064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/>
              <a:t>假设系统最高磁盘</a:t>
            </a:r>
            <a:r>
              <a:rPr kumimoji="1" lang="en-US" altLang="ja-JP" dirty="0"/>
              <a:t>IO</a:t>
            </a:r>
            <a:r>
              <a:rPr kumimoji="1" lang="ja-JP" altLang="en-US"/>
              <a:t>速度为</a:t>
            </a:r>
            <a:r>
              <a:rPr kumimoji="1" lang="en-US" altLang="zh-CN" dirty="0"/>
              <a:t>500MB/s</a:t>
            </a:r>
            <a:r>
              <a:rPr kumimoji="1" lang="zh-CN" altLang="en-US" dirty="0"/>
              <a:t>，</a:t>
            </a:r>
            <a:r>
              <a:rPr kumimoji="1" lang="ja-JP" altLang="en-US"/>
              <a:t>小明和小红都想访问磁盘</a:t>
            </a:r>
            <a:r>
              <a:rPr kumimoji="1" lang="zh-CN" altLang="en-US" dirty="0"/>
              <a:t>，</a:t>
            </a:r>
            <a:r>
              <a:rPr kumimoji="1" lang="ja-JP" altLang="en-US"/>
              <a:t>于是给他们每个人都设置了</a:t>
            </a:r>
            <a:r>
              <a:rPr kumimoji="1" lang="en-US" altLang="zh-CN" dirty="0"/>
              <a:t>250MB/s</a:t>
            </a:r>
            <a:r>
              <a:rPr kumimoji="1" lang="ja-JP" altLang="en-US"/>
              <a:t>的最大值</a:t>
            </a:r>
            <a:endParaRPr kumimoji="1" lang="en-US" altLang="ja-JP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55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982490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56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71545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57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393417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58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170003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59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32560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60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20941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775358"/>
            <a:ext cx="7772400" cy="1225021"/>
          </a:xfrm>
        </p:spPr>
        <p:txBody>
          <a:bodyPr>
            <a:normAutofit/>
          </a:bodyPr>
          <a:lstStyle>
            <a:lvl1pPr algn="ctr">
              <a:defRPr sz="4400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238500"/>
            <a:ext cx="6400800" cy="14605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页脚占位符 4">
            <a:extLst>
              <a:ext uri="{FF2B5EF4-FFF2-40B4-BE49-F238E27FC236}">
                <a16:creationId xmlns:a16="http://schemas.microsoft.com/office/drawing/2014/main" id="{9FA25068-95BE-F84A-896E-9E89F94348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lvl1pPr algn="ctr">
              <a:defRPr sz="1100"/>
            </a:lvl1pPr>
          </a:lstStyle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21461422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>
            <a:lvl1pPr>
              <a:defRPr b="1">
                <a:solidFill>
                  <a:schemeClr val="accent1"/>
                </a:solidFill>
                <a:latin typeface="+mj-lt"/>
                <a:ea typeface="+mj-ea"/>
                <a:cs typeface="微软雅黑 Light" panose="020B0502040204020203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20000"/>
              </a:lnSpc>
              <a:defRPr sz="2400" b="1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lnSpc>
                <a:spcPct val="120000"/>
              </a:lnSpc>
              <a:defRPr sz="20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lnSpc>
                <a:spcPct val="120000"/>
              </a:lnSpc>
              <a:defRPr sz="20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lnSpc>
                <a:spcPct val="120000"/>
              </a:lnSpc>
              <a:defRPr sz="18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lnSpc>
                <a:spcPct val="120000"/>
              </a:lnSpc>
              <a:defRPr sz="18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-180527" y="439062"/>
            <a:ext cx="164581" cy="48005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066DE83E-C489-9340-8A6C-F2C63F8574DC}"/>
              </a:ext>
            </a:extLst>
          </p:cNvPr>
          <p:cNvSpPr/>
          <p:nvPr userDrawn="1"/>
        </p:nvSpPr>
        <p:spPr>
          <a:xfrm rot="5400000">
            <a:off x="-160702" y="599536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  <p:sp>
        <p:nvSpPr>
          <p:cNvPr id="9" name="页脚占位符 4">
            <a:extLst>
              <a:ext uri="{FF2B5EF4-FFF2-40B4-BE49-F238E27FC236}">
                <a16:creationId xmlns:a16="http://schemas.microsoft.com/office/drawing/2014/main" id="{6608DAFC-F7CB-BF45-A12C-3E5B3C7488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/>
          <a:lstStyle>
            <a:lvl1pPr algn="ctr">
              <a:defRPr sz="1100"/>
            </a:lvl1pPr>
          </a:lstStyle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949560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672418"/>
            <a:ext cx="7772400" cy="1135062"/>
          </a:xfrm>
        </p:spPr>
        <p:txBody>
          <a:bodyPr anchor="t"/>
          <a:lstStyle>
            <a:lvl1pPr algn="l">
              <a:defRPr sz="4000" b="1" cap="all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422261"/>
            <a:ext cx="7772400" cy="125015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A8EE614D-B549-154F-943F-0F3919AB5939}"/>
              </a:ext>
            </a:extLst>
          </p:cNvPr>
          <p:cNvSpPr/>
          <p:nvPr userDrawn="1"/>
        </p:nvSpPr>
        <p:spPr>
          <a:xfrm rot="5400000">
            <a:off x="-160703" y="3920373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  <p:sp>
        <p:nvSpPr>
          <p:cNvPr id="9" name="页脚占位符 4">
            <a:extLst>
              <a:ext uri="{FF2B5EF4-FFF2-40B4-BE49-F238E27FC236}">
                <a16:creationId xmlns:a16="http://schemas.microsoft.com/office/drawing/2014/main" id="{222B87CB-0BF3-3A40-9555-EFDE398401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/>
          <a:lstStyle>
            <a:lvl1pPr algn="ctr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614694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333501"/>
            <a:ext cx="82296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1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fld id="{ADE361C3-C043-4A6E-BDCE-8DA1E7D90A3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7" name="页脚占位符 4">
            <a:extLst>
              <a:ext uri="{FF2B5EF4-FFF2-40B4-BE49-F238E27FC236}">
                <a16:creationId xmlns:a16="http://schemas.microsoft.com/office/drawing/2014/main" id="{4DC863AB-1CA3-014A-96B6-C1A16FEA03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lvl1pPr>
              <a:defRPr sz="11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defRPr>
            </a:lvl1pPr>
          </a:lstStyle>
          <a:p>
            <a:pPr algn="ctr"/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890905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sz="3600" b="1" kern="1200">
          <a:solidFill>
            <a:schemeClr val="accent1"/>
          </a:solidFill>
          <a:latin typeface="+mj-lt"/>
          <a:ea typeface="+mj-ea"/>
          <a:cs typeface="微软雅黑 Light" panose="020B0502040204020203" pitchFamily="34" charset="-122"/>
        </a:defRPr>
      </a:lvl1pPr>
    </p:titleStyle>
    <p:bodyStyle>
      <a:lvl1pPr marL="342900" indent="-342900" algn="l" defTabSz="914400" rtl="0" eaLnBrk="1" latinLnBrk="0" hangingPunct="1">
        <a:lnSpc>
          <a:spcPct val="120000"/>
        </a:lnSpc>
        <a:spcBef>
          <a:spcPts val="1200"/>
        </a:spcBef>
        <a:buFont typeface="Arial" pitchFamily="34" charset="0"/>
        <a:buChar char="•"/>
        <a:defRPr sz="2600" b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1pPr>
      <a:lvl2pPr marL="742950" indent="-28575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»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/4.0/legalcode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jpeg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2C7C6228-E47F-EA4B-8DD8-28647C76DD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720996"/>
            <a:ext cx="7772400" cy="1225021"/>
          </a:xfrm>
        </p:spPr>
        <p:txBody>
          <a:bodyPr>
            <a:normAutofit/>
          </a:bodyPr>
          <a:lstStyle/>
          <a:p>
            <a:pPr algn="ctr">
              <a:lnSpc>
                <a:spcPct val="110000"/>
              </a:lnSpc>
            </a:pPr>
            <a:r>
              <a:rPr kumimoji="1" lang="zh-CN" altLang="en-US" sz="4800" dirty="0"/>
              <a:t>轻量级隔离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23A70DCB-3E4D-4449-82B8-441C200ABD6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652120" y="252561"/>
            <a:ext cx="1362088" cy="492009"/>
          </a:xfrm>
          <a:prstGeom prst="rect">
            <a:avLst/>
          </a:prstGeom>
        </p:spPr>
      </p:pic>
      <p:pic>
        <p:nvPicPr>
          <p:cNvPr id="8" name="Picture 6" descr="http://korean.onlinesjtu.com/%E6%A0%A1%E5%BE%BD%E7%B3%BB%E5%88%97/%E7%BC%A9%E5%B0%8F%E7%89%88/%E8%93%9D%E8%89%B2%E7%B3%BB%20%E5%B0%8F%E5%B0%BA%E5%AF%B8%E6%A0%A1%E5%BE%BD%E5%B1%95%E5%BC%80%E5%BC%8F%20(10mm%E4%BB%A5%E4%B8%8B%E4%BD%BF%E7%94%A8)%20%5b%E8%BD%AC%E6%8D%A2%5d.png">
            <a:extLst>
              <a:ext uri="{FF2B5EF4-FFF2-40B4-BE49-F238E27FC236}">
                <a16:creationId xmlns:a16="http://schemas.microsoft.com/office/drawing/2014/main" id="{9D0C1772-9C9E-534B-9410-16BA28CA6E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4288" y="282539"/>
            <a:ext cx="1642840" cy="432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副标题 5">
            <a:extLst>
              <a:ext uri="{FF2B5EF4-FFF2-40B4-BE49-F238E27FC236}">
                <a16:creationId xmlns:a16="http://schemas.microsoft.com/office/drawing/2014/main" id="{DEA1DAE2-049F-A01D-F693-398F9A1CA437}"/>
              </a:ext>
            </a:extLst>
          </p:cNvPr>
          <p:cNvSpPr txBox="1">
            <a:spLocks/>
          </p:cNvSpPr>
          <p:nvPr/>
        </p:nvSpPr>
        <p:spPr>
          <a:xfrm>
            <a:off x="685800" y="3412362"/>
            <a:ext cx="7772400" cy="122502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None/>
              <a:defRPr sz="2600" b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DengXian" charset="0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DengXian" charset="0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DengXian" charset="0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DengXian" charset="0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DengXian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en-US" altLang="zh-CN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https://</a:t>
            </a:r>
            <a:r>
              <a:rPr kumimoji="1" lang="en-US" altLang="zh-CN" sz="1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ipads.se.sjtu.edu.cn</a:t>
            </a:r>
            <a:endParaRPr kumimoji="1" lang="en" altLang="zh-CN" sz="1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" name="副标题 2">
            <a:extLst>
              <a:ext uri="{FF2B5EF4-FFF2-40B4-BE49-F238E27FC236}">
                <a16:creationId xmlns:a16="http://schemas.microsoft.com/office/drawing/2014/main" id="{9AF2B832-67D1-BA7F-D002-05CB5A22C942}"/>
              </a:ext>
            </a:extLst>
          </p:cNvPr>
          <p:cNvSpPr txBox="1">
            <a:spLocks/>
          </p:cNvSpPr>
          <p:nvPr/>
        </p:nvSpPr>
        <p:spPr>
          <a:xfrm>
            <a:off x="467544" y="252559"/>
            <a:ext cx="3240360" cy="5040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None/>
              <a:defRPr sz="2600" b="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zh-CN" altLang="en-US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  <a:t>操作系统</a:t>
            </a:r>
          </a:p>
        </p:txBody>
      </p:sp>
    </p:spTree>
    <p:extLst>
      <p:ext uri="{BB962C8B-B14F-4D97-AF65-F5344CB8AC3E}">
        <p14:creationId xmlns:p14="http://schemas.microsoft.com/office/powerpoint/2010/main" val="254966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626"/>
    </mc:Choice>
    <mc:Fallback xmlns="">
      <p:transition spd="slow" advTm="11626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BE39C2-86D1-9B45-B569-48F1570E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>
                <a:latin typeface="+mn-lt"/>
              </a:rPr>
              <a:t>版权声明</a:t>
            </a:r>
            <a:endParaRPr kumimoji="1" lang="zh-CN" altLang="en-US" dirty="0">
              <a:latin typeface="+mn-lt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5B3383-B219-984C-8D0C-BCF0766559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zh-CN" altLang="en-US" sz="2000" b="0">
                <a:latin typeface="+mn-lt"/>
              </a:rPr>
              <a:t>本内容版权归</a:t>
            </a:r>
            <a:r>
              <a:rPr lang="zh-CN" altLang="en-US" sz="2000">
                <a:latin typeface="+mn-lt"/>
              </a:rPr>
              <a:t>上海交通大学并行与分布式系统研究所</a:t>
            </a:r>
            <a:r>
              <a:rPr lang="zh-CN" altLang="en-US" sz="2000" b="0">
                <a:latin typeface="+mn-lt"/>
              </a:rPr>
              <a:t>所有</a:t>
            </a:r>
            <a:endParaRPr lang="en-US" altLang="zh-CN" sz="2000" b="0">
              <a:latin typeface="+mn-lt"/>
            </a:endParaRPr>
          </a:p>
          <a:p>
            <a:r>
              <a:rPr lang="zh-CN" altLang="en-US" sz="2000" b="0">
                <a:latin typeface="+mn-lt"/>
              </a:rPr>
              <a:t>使用者可以将全部或部分本内容免费用于非商业用途</a:t>
            </a:r>
            <a:endParaRPr lang="en-US" altLang="zh-CN" sz="2000" b="0">
              <a:latin typeface="+mn-lt"/>
            </a:endParaRPr>
          </a:p>
          <a:p>
            <a:r>
              <a:rPr lang="zh-CN" altLang="en-US" sz="2000" b="0">
                <a:latin typeface="+mn-lt"/>
              </a:rPr>
              <a:t>使用者在使用全部或部分本内容时请注明来源：</a:t>
            </a:r>
            <a:endParaRPr lang="en-US" altLang="zh-CN" sz="2000" b="0">
              <a:latin typeface="+mn-lt"/>
            </a:endParaRPr>
          </a:p>
          <a:p>
            <a:pPr lvl="1"/>
            <a:r>
              <a:rPr lang="zh-CN" altLang="en-US" sz="1600"/>
              <a:t>内容来自：上海交通大学并行与分布式系统研究所</a:t>
            </a:r>
            <a:r>
              <a:rPr lang="en-US" altLang="zh-CN" sz="1600"/>
              <a:t>+</a:t>
            </a:r>
            <a:r>
              <a:rPr lang="zh-CN" altLang="en-US" sz="1600"/>
              <a:t>材料名字</a:t>
            </a:r>
            <a:endParaRPr lang="en-US" altLang="zh-CN" sz="1600"/>
          </a:p>
          <a:p>
            <a:r>
              <a:rPr lang="zh-CN" altLang="en-US" sz="2000" b="0">
                <a:latin typeface="+mn-lt"/>
              </a:rPr>
              <a:t>对于不遵守此声明或者其他违法使用本内容者，将依法保留追究权</a:t>
            </a:r>
            <a:endParaRPr lang="en-US" altLang="zh-CN" sz="2000" b="0">
              <a:latin typeface="+mn-lt"/>
            </a:endParaRPr>
          </a:p>
          <a:p>
            <a:r>
              <a:rPr lang="zh-CN" altLang="en-US" sz="2000" b="0">
                <a:latin typeface="+mn-lt"/>
              </a:rPr>
              <a:t>本内容的发布采用 </a:t>
            </a:r>
            <a:r>
              <a:rPr lang="en-US" altLang="zh-CN" sz="2000" b="0">
                <a:latin typeface="+mn-lt"/>
              </a:rPr>
              <a:t>Creative Commons</a:t>
            </a:r>
            <a:r>
              <a:rPr lang="zh-CN" altLang="en-US" sz="2000" b="0">
                <a:latin typeface="+mn-lt"/>
              </a:rPr>
              <a:t> </a:t>
            </a:r>
            <a:r>
              <a:rPr lang="en-US" altLang="zh-CN" sz="2000" b="0">
                <a:latin typeface="+mn-lt"/>
              </a:rPr>
              <a:t>Attribution</a:t>
            </a:r>
            <a:r>
              <a:rPr lang="zh-CN" altLang="en-US" sz="2000" b="0">
                <a:latin typeface="+mn-lt"/>
              </a:rPr>
              <a:t> </a:t>
            </a:r>
            <a:r>
              <a:rPr lang="en-US" altLang="zh-CN" sz="2000" b="0">
                <a:latin typeface="+mn-lt"/>
              </a:rPr>
              <a:t>4.0</a:t>
            </a:r>
            <a:r>
              <a:rPr lang="zh-CN" altLang="en-US" sz="2000" b="0">
                <a:latin typeface="+mn-lt"/>
              </a:rPr>
              <a:t> </a:t>
            </a:r>
            <a:r>
              <a:rPr lang="en-US" altLang="zh-CN" sz="2000" b="0">
                <a:latin typeface="+mn-lt"/>
              </a:rPr>
              <a:t>License</a:t>
            </a:r>
            <a:endParaRPr lang="en-US" altLang="zh-CN" sz="2400" b="0">
              <a:latin typeface="+mn-lt"/>
            </a:endParaRPr>
          </a:p>
          <a:p>
            <a:pPr lvl="1"/>
            <a:r>
              <a:rPr lang="zh-CN" altLang="en-US" sz="1600">
                <a:latin typeface="+mn-lt"/>
              </a:rPr>
              <a:t>完整文本：</a:t>
            </a:r>
            <a:r>
              <a:rPr lang="en-US" altLang="zh-CN" sz="1600">
                <a:latin typeface="+mn-lt"/>
                <a:hlinkClick r:id="rId2"/>
              </a:rPr>
              <a:t>https://creativecommons.org/licenses/by/4.0/legalcode</a:t>
            </a:r>
            <a:endParaRPr lang="en-US" altLang="zh-CN" sz="1800" b="0">
              <a:latin typeface="+mn-lt"/>
            </a:endParaRPr>
          </a:p>
          <a:p>
            <a:endParaRPr kumimoji="1" lang="zh-CN" altLang="en-US" sz="2000" dirty="0">
              <a:latin typeface="+mn-lt"/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3E75993-6B82-2A4E-883D-B9872C5016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74DB58-9478-0845-B9D0-F1002C2E0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9169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C5FAC1-F672-F54C-8289-D806E1F37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世界状态</a:t>
            </a:r>
            <a:r>
              <a:rPr kumimoji="1" lang="en-US" altLang="zh-CN" dirty="0"/>
              <a:t>World</a:t>
            </a:r>
            <a:r>
              <a:rPr kumimoji="1" lang="zh-CN" altLang="en-US" dirty="0"/>
              <a:t> </a:t>
            </a:r>
            <a:r>
              <a:rPr kumimoji="1" lang="en-US" altLang="zh-CN" dirty="0"/>
              <a:t>State</a:t>
            </a:r>
            <a:r>
              <a:rPr kumimoji="1" lang="zh-CN" altLang="en-US" dirty="0"/>
              <a:t>和内存隔离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7C26A6C-49AB-084B-BE01-D2CF5BF98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74" name="内容占位符 2">
            <a:extLst>
              <a:ext uri="{FF2B5EF4-FFF2-40B4-BE49-F238E27FC236}">
                <a16:creationId xmlns:a16="http://schemas.microsoft.com/office/drawing/2014/main" id="{02436D2B-0373-4A41-8274-DDBE9F7460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0"/>
            <a:ext cx="8229600" cy="4152633"/>
          </a:xfrm>
        </p:spPr>
        <p:txBody>
          <a:bodyPr>
            <a:normAutofit/>
          </a:bodyPr>
          <a:lstStyle/>
          <a:p>
            <a:r>
              <a:rPr lang="en-US" altLang="zh-CN" sz="2000" dirty="0"/>
              <a:t>4</a:t>
            </a:r>
            <a:r>
              <a:rPr lang="zh-CN" altLang="en-US" sz="2000" dirty="0"/>
              <a:t>个世界状态：</a:t>
            </a:r>
            <a:r>
              <a:rPr lang="en-US" altLang="zh-CN" sz="1800" dirty="0"/>
              <a:t>Non-secure,</a:t>
            </a:r>
            <a:r>
              <a:rPr lang="zh-CN" altLang="en-US" sz="1800" dirty="0"/>
              <a:t> </a:t>
            </a:r>
            <a:r>
              <a:rPr lang="en-US" altLang="zh-CN" sz="1800" dirty="0"/>
              <a:t>Realm,</a:t>
            </a:r>
            <a:r>
              <a:rPr lang="zh-CN" altLang="en-US" sz="1800" dirty="0"/>
              <a:t> </a:t>
            </a:r>
            <a:r>
              <a:rPr lang="en-US" altLang="zh-CN" sz="1800" dirty="0"/>
              <a:t>secure,</a:t>
            </a:r>
            <a:r>
              <a:rPr lang="zh-CN" altLang="en-US" sz="1800" dirty="0"/>
              <a:t> </a:t>
            </a:r>
            <a:r>
              <a:rPr lang="en-US" altLang="zh-CN" sz="1800" dirty="0"/>
              <a:t>root</a:t>
            </a:r>
          </a:p>
          <a:p>
            <a:r>
              <a:rPr lang="en-US" altLang="zh-CN" sz="2000" dirty="0"/>
              <a:t>4</a:t>
            </a:r>
            <a:r>
              <a:rPr lang="zh-CN" altLang="en-US" sz="2000" dirty="0"/>
              <a:t>个</a:t>
            </a:r>
            <a:r>
              <a:rPr lang="en-US" altLang="zh-CN" sz="2000" dirty="0"/>
              <a:t>Physical Address Space (PAS) </a:t>
            </a:r>
          </a:p>
          <a:p>
            <a:pPr lvl="1"/>
            <a:r>
              <a:rPr lang="en-US" altLang="zh-CN" sz="1400" dirty="0"/>
              <a:t>Non-secure PAS</a:t>
            </a:r>
          </a:p>
          <a:p>
            <a:pPr lvl="1"/>
            <a:r>
              <a:rPr lang="en-US" altLang="zh-CN" sz="1400" dirty="0"/>
              <a:t>Secure PAS</a:t>
            </a:r>
          </a:p>
          <a:p>
            <a:pPr lvl="1"/>
            <a:r>
              <a:rPr lang="en-US" altLang="zh-CN" sz="1400" dirty="0"/>
              <a:t>Realm PAS</a:t>
            </a:r>
          </a:p>
          <a:p>
            <a:pPr lvl="1"/>
            <a:r>
              <a:rPr lang="en-US" altLang="zh-CN" sz="1400" dirty="0"/>
              <a:t>Root PAS</a:t>
            </a:r>
            <a:endParaRPr lang="en-US" altLang="zh-CN" sz="1800" dirty="0"/>
          </a:p>
          <a:p>
            <a:endParaRPr lang="en-US" altLang="zh-CN" sz="1800" dirty="0"/>
          </a:p>
          <a:p>
            <a:pPr lvl="1"/>
            <a:endParaRPr lang="en-US" altLang="zh-CN" sz="1400" dirty="0"/>
          </a:p>
          <a:p>
            <a:pPr lvl="1"/>
            <a:endParaRPr lang="en-US" altLang="zh-CN" sz="1800" dirty="0"/>
          </a:p>
          <a:p>
            <a:endParaRPr lang="en-US" altLang="zh-CN" sz="1800" dirty="0"/>
          </a:p>
          <a:p>
            <a:pPr lvl="1"/>
            <a:endParaRPr lang="en-US" altLang="zh-CN" sz="1800" dirty="0"/>
          </a:p>
          <a:p>
            <a:pPr marL="457200" lvl="1" indent="0">
              <a:buNone/>
            </a:pPr>
            <a:endParaRPr lang="en-US" altLang="zh-CN" sz="1800" dirty="0"/>
          </a:p>
          <a:p>
            <a:pPr lvl="1"/>
            <a:endParaRPr lang="en-US" altLang="zh-CN" sz="1800" dirty="0"/>
          </a:p>
          <a:p>
            <a:pPr lvl="1"/>
            <a:endParaRPr lang="en-US" altLang="zh-CN" sz="1600" dirty="0"/>
          </a:p>
          <a:p>
            <a:endParaRPr lang="en-US" altLang="zh-CN" sz="2200" dirty="0"/>
          </a:p>
          <a:p>
            <a:pPr lvl="1"/>
            <a:endParaRPr lang="en-US" altLang="zh-CN" sz="1800" dirty="0"/>
          </a:p>
          <a:p>
            <a:endParaRPr lang="en-US" altLang="zh-CN" sz="1800" dirty="0"/>
          </a:p>
          <a:p>
            <a:pPr marL="514350" lvl="1" indent="0">
              <a:buNone/>
            </a:pPr>
            <a:endParaRPr lang="en" altLang="zh-CN" sz="2000" dirty="0"/>
          </a:p>
          <a:p>
            <a:endParaRPr lang="en" altLang="zh-CN" sz="2000" dirty="0"/>
          </a:p>
          <a:p>
            <a:endParaRPr lang="en-US" altLang="zh-CN" sz="2000" dirty="0"/>
          </a:p>
          <a:p>
            <a:pPr lvl="1"/>
            <a:endParaRPr lang="en" altLang="zh-CN" sz="1800" dirty="0"/>
          </a:p>
          <a:p>
            <a:pPr lvl="1"/>
            <a:endParaRPr lang="en" altLang="zh-CN" sz="1800" dirty="0"/>
          </a:p>
          <a:p>
            <a:pPr lvl="1"/>
            <a:endParaRPr lang="en-US" altLang="zh-CN" sz="1800" dirty="0"/>
          </a:p>
          <a:p>
            <a:pPr marL="457200" lvl="1" indent="0">
              <a:buNone/>
            </a:pPr>
            <a:endParaRPr lang="en" altLang="zh-CN" sz="1800" dirty="0"/>
          </a:p>
          <a:p>
            <a:endParaRPr lang="en" altLang="zh-CN" sz="2000" dirty="0"/>
          </a:p>
          <a:p>
            <a:pPr lvl="1"/>
            <a:endParaRPr lang="en-US" altLang="zh-CN" sz="1800" dirty="0"/>
          </a:p>
          <a:p>
            <a:pPr lvl="1"/>
            <a:endParaRPr lang="en-US" altLang="zh-CN" sz="1800" dirty="0"/>
          </a:p>
          <a:p>
            <a:pPr lvl="1"/>
            <a:endParaRPr lang="en" altLang="zh-CN" sz="1800" dirty="0"/>
          </a:p>
          <a:p>
            <a:endParaRPr lang="en-US" altLang="zh-CN" sz="2000" dirty="0"/>
          </a:p>
          <a:p>
            <a:pPr lvl="2">
              <a:lnSpc>
                <a:spcPct val="130000"/>
              </a:lnSpc>
            </a:pPr>
            <a:endParaRPr lang="en" altLang="zh-CN" sz="1400" dirty="0"/>
          </a:p>
          <a:p>
            <a:pPr lvl="1">
              <a:lnSpc>
                <a:spcPct val="130000"/>
              </a:lnSpc>
            </a:pPr>
            <a:endParaRPr lang="en" altLang="zh-CN" sz="1800" dirty="0"/>
          </a:p>
          <a:p>
            <a:endParaRPr lang="en-US" altLang="zh-CN" sz="2400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8EB4464-7EA8-1141-ABE4-2906060EE259}"/>
              </a:ext>
            </a:extLst>
          </p:cNvPr>
          <p:cNvSpPr/>
          <p:nvPr/>
        </p:nvSpPr>
        <p:spPr>
          <a:xfrm>
            <a:off x="903725" y="5198102"/>
            <a:ext cx="2808312" cy="2880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00" dirty="0"/>
              <a:t>Secure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monitor</a:t>
            </a:r>
            <a:endParaRPr kumimoji="1" lang="zh-CN" altLang="en-US" sz="1600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6DFE72D-ECCD-C24D-A4B4-60EC203C7809}"/>
              </a:ext>
            </a:extLst>
          </p:cNvPr>
          <p:cNvSpPr/>
          <p:nvPr/>
        </p:nvSpPr>
        <p:spPr>
          <a:xfrm>
            <a:off x="1047741" y="3963890"/>
            <a:ext cx="648072" cy="1119113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76C8CB1-B34D-B24C-AC4D-8134358B35B1}"/>
              </a:ext>
            </a:extLst>
          </p:cNvPr>
          <p:cNvSpPr/>
          <p:nvPr/>
        </p:nvSpPr>
        <p:spPr>
          <a:xfrm>
            <a:off x="1911837" y="3963890"/>
            <a:ext cx="648072" cy="111911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53BD23C-CD6D-0742-ABAF-72FBABFB1FEC}"/>
              </a:ext>
            </a:extLst>
          </p:cNvPr>
          <p:cNvSpPr/>
          <p:nvPr/>
        </p:nvSpPr>
        <p:spPr>
          <a:xfrm>
            <a:off x="2775933" y="3954892"/>
            <a:ext cx="648072" cy="111911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1" name="直线连接符 10">
            <a:extLst>
              <a:ext uri="{FF2B5EF4-FFF2-40B4-BE49-F238E27FC236}">
                <a16:creationId xmlns:a16="http://schemas.microsoft.com/office/drawing/2014/main" id="{B920497F-EACB-D44E-8D1A-A60C852D7D05}"/>
              </a:ext>
            </a:extLst>
          </p:cNvPr>
          <p:cNvCxnSpPr>
            <a:cxnSpLocks/>
          </p:cNvCxnSpPr>
          <p:nvPr/>
        </p:nvCxnSpPr>
        <p:spPr>
          <a:xfrm>
            <a:off x="1804133" y="3954892"/>
            <a:ext cx="0" cy="1128111"/>
          </a:xfrm>
          <a:prstGeom prst="line">
            <a:avLst/>
          </a:prstGeom>
          <a:ln w="15875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线连接符 13">
            <a:extLst>
              <a:ext uri="{FF2B5EF4-FFF2-40B4-BE49-F238E27FC236}">
                <a16:creationId xmlns:a16="http://schemas.microsoft.com/office/drawing/2014/main" id="{A17B3ECE-C7B9-7F47-B07F-A1B575B2A0E3}"/>
              </a:ext>
            </a:extLst>
          </p:cNvPr>
          <p:cNvCxnSpPr>
            <a:cxnSpLocks/>
          </p:cNvCxnSpPr>
          <p:nvPr/>
        </p:nvCxnSpPr>
        <p:spPr>
          <a:xfrm>
            <a:off x="2668133" y="3959390"/>
            <a:ext cx="0" cy="1128111"/>
          </a:xfrm>
          <a:prstGeom prst="line">
            <a:avLst/>
          </a:prstGeom>
          <a:ln w="15875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7D797ED9-DDA3-DF43-9E8F-F27996EDF231}"/>
              </a:ext>
            </a:extLst>
          </p:cNvPr>
          <p:cNvSpPr/>
          <p:nvPr/>
        </p:nvSpPr>
        <p:spPr>
          <a:xfrm>
            <a:off x="1963153" y="4769627"/>
            <a:ext cx="545439" cy="24149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1200" dirty="0" err="1"/>
              <a:t>vmm</a:t>
            </a:r>
            <a:endParaRPr kumimoji="1" lang="zh-CN" altLang="en-US" sz="1200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34E0C6F-E141-7145-B228-AA8A7F225C01}"/>
              </a:ext>
            </a:extLst>
          </p:cNvPr>
          <p:cNvSpPr/>
          <p:nvPr/>
        </p:nvSpPr>
        <p:spPr>
          <a:xfrm>
            <a:off x="1963153" y="4444689"/>
            <a:ext cx="545439" cy="24149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1050" dirty="0"/>
              <a:t>OS</a:t>
            </a:r>
            <a:endParaRPr kumimoji="1" lang="zh-CN" altLang="en-US" sz="1200" dirty="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DC09F57-0801-8D4B-A47B-A44069BCCAFE}"/>
              </a:ext>
            </a:extLst>
          </p:cNvPr>
          <p:cNvSpPr/>
          <p:nvPr/>
        </p:nvSpPr>
        <p:spPr>
          <a:xfrm>
            <a:off x="1963153" y="4092100"/>
            <a:ext cx="545439" cy="24149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1050" dirty="0"/>
              <a:t>Host</a:t>
            </a:r>
            <a:endParaRPr kumimoji="1" lang="zh-CN" altLang="en-US" sz="1050" dirty="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A8E7F7E-547B-7D47-8460-01CEF0598645}"/>
              </a:ext>
            </a:extLst>
          </p:cNvPr>
          <p:cNvSpPr/>
          <p:nvPr/>
        </p:nvSpPr>
        <p:spPr>
          <a:xfrm>
            <a:off x="2827249" y="4092099"/>
            <a:ext cx="545439" cy="241493"/>
          </a:xfrm>
          <a:prstGeom prst="rect">
            <a:avLst/>
          </a:prstGeom>
          <a:ln>
            <a:solidFill>
              <a:srgbClr val="8A2635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1200" dirty="0">
                <a:solidFill>
                  <a:srgbClr val="BD384A"/>
                </a:solidFill>
              </a:rPr>
              <a:t>TA</a:t>
            </a:r>
            <a:endParaRPr kumimoji="1" lang="zh-CN" altLang="en-US" sz="1200" dirty="0">
              <a:solidFill>
                <a:srgbClr val="BD384A"/>
              </a:solidFill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9DAE748-CB38-C54A-B939-B3F6EB502605}"/>
              </a:ext>
            </a:extLst>
          </p:cNvPr>
          <p:cNvSpPr/>
          <p:nvPr/>
        </p:nvSpPr>
        <p:spPr>
          <a:xfrm>
            <a:off x="2823566" y="4444193"/>
            <a:ext cx="545439" cy="241493"/>
          </a:xfrm>
          <a:prstGeom prst="rect">
            <a:avLst/>
          </a:prstGeom>
          <a:ln>
            <a:solidFill>
              <a:srgbClr val="8A2635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800" dirty="0">
                <a:solidFill>
                  <a:srgbClr val="BD384A"/>
                </a:solidFill>
              </a:rPr>
              <a:t>TEEOS</a:t>
            </a:r>
            <a:endParaRPr kumimoji="1" lang="zh-CN" altLang="en-US" sz="800" dirty="0">
              <a:solidFill>
                <a:srgbClr val="BD384A"/>
              </a:solidFill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58775D5-868A-534A-8CE7-992F101F9B85}"/>
              </a:ext>
            </a:extLst>
          </p:cNvPr>
          <p:cNvSpPr/>
          <p:nvPr/>
        </p:nvSpPr>
        <p:spPr>
          <a:xfrm>
            <a:off x="2823566" y="4773814"/>
            <a:ext cx="545439" cy="241493"/>
          </a:xfrm>
          <a:prstGeom prst="rect">
            <a:avLst/>
          </a:prstGeom>
          <a:ln>
            <a:solidFill>
              <a:srgbClr val="8A2635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1050" dirty="0">
                <a:solidFill>
                  <a:srgbClr val="BD384A"/>
                </a:solidFill>
              </a:rPr>
              <a:t>SEL2</a:t>
            </a:r>
            <a:endParaRPr kumimoji="1" lang="zh-CN" altLang="en-US" sz="800" dirty="0">
              <a:solidFill>
                <a:srgbClr val="BD384A"/>
              </a:solidFill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27B1EA2F-FAD3-B048-8465-79B888D73BB8}"/>
              </a:ext>
            </a:extLst>
          </p:cNvPr>
          <p:cNvSpPr/>
          <p:nvPr/>
        </p:nvSpPr>
        <p:spPr>
          <a:xfrm>
            <a:off x="1090883" y="4767537"/>
            <a:ext cx="545439" cy="241493"/>
          </a:xfrm>
          <a:prstGeom prst="rect">
            <a:avLst/>
          </a:prstGeom>
          <a:ln>
            <a:solidFill>
              <a:srgbClr val="D66E49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1050" dirty="0">
                <a:solidFill>
                  <a:srgbClr val="D66E49"/>
                </a:solidFill>
              </a:rPr>
              <a:t>RMM</a:t>
            </a:r>
            <a:endParaRPr kumimoji="1" lang="zh-CN" altLang="en-US" sz="800" dirty="0">
              <a:solidFill>
                <a:srgbClr val="D66E49"/>
              </a:solidFill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3279E310-E3CA-034B-BD24-0F9869AD4CE0}"/>
              </a:ext>
            </a:extLst>
          </p:cNvPr>
          <p:cNvSpPr/>
          <p:nvPr/>
        </p:nvSpPr>
        <p:spPr>
          <a:xfrm>
            <a:off x="1086557" y="4444192"/>
            <a:ext cx="545439" cy="241493"/>
          </a:xfrm>
          <a:prstGeom prst="rect">
            <a:avLst/>
          </a:prstGeom>
          <a:ln>
            <a:solidFill>
              <a:srgbClr val="D66E49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900" dirty="0" err="1">
                <a:solidFill>
                  <a:srgbClr val="D66E49"/>
                </a:solidFill>
              </a:rPr>
              <a:t>RealmOS</a:t>
            </a:r>
            <a:endParaRPr kumimoji="1" lang="zh-CN" altLang="en-US" sz="600" dirty="0">
              <a:solidFill>
                <a:srgbClr val="D66E49"/>
              </a:solidFill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FB077A7C-C3E1-104E-994B-923BAB08A4B8}"/>
              </a:ext>
            </a:extLst>
          </p:cNvPr>
          <p:cNvSpPr/>
          <p:nvPr/>
        </p:nvSpPr>
        <p:spPr>
          <a:xfrm>
            <a:off x="1099057" y="4092098"/>
            <a:ext cx="545439" cy="241493"/>
          </a:xfrm>
          <a:prstGeom prst="rect">
            <a:avLst/>
          </a:prstGeom>
          <a:ln>
            <a:solidFill>
              <a:srgbClr val="D66E49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900" dirty="0">
                <a:solidFill>
                  <a:srgbClr val="D66E49"/>
                </a:solidFill>
              </a:rPr>
              <a:t>Realm</a:t>
            </a:r>
            <a:endParaRPr kumimoji="1" lang="zh-CN" altLang="en-US" sz="600" dirty="0">
              <a:solidFill>
                <a:srgbClr val="D66E49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B4FAC6C-AAE0-8444-914B-0ABB8756A40E}"/>
              </a:ext>
            </a:extLst>
          </p:cNvPr>
          <p:cNvSpPr/>
          <p:nvPr/>
        </p:nvSpPr>
        <p:spPr>
          <a:xfrm>
            <a:off x="972809" y="3600018"/>
            <a:ext cx="62709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200" dirty="0">
                <a:solidFill>
                  <a:srgbClr val="D66E49"/>
                </a:solidFill>
              </a:rPr>
              <a:t>Realm</a:t>
            </a:r>
            <a:endParaRPr lang="zh-CN" altLang="en-US" sz="1200" dirty="0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4211DC27-A952-794A-A482-D05C5B9426CB}"/>
              </a:ext>
            </a:extLst>
          </p:cNvPr>
          <p:cNvSpPr/>
          <p:nvPr/>
        </p:nvSpPr>
        <p:spPr>
          <a:xfrm>
            <a:off x="1799384" y="3608878"/>
            <a:ext cx="97654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200" dirty="0"/>
              <a:t>Non-secure</a:t>
            </a:r>
            <a:endParaRPr lang="zh-CN" altLang="en-US" sz="1200" dirty="0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2AAC5B69-DA04-FA42-9871-ACB31C3B39F5}"/>
              </a:ext>
            </a:extLst>
          </p:cNvPr>
          <p:cNvSpPr/>
          <p:nvPr/>
        </p:nvSpPr>
        <p:spPr>
          <a:xfrm>
            <a:off x="2749576" y="3614552"/>
            <a:ext cx="67037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200" dirty="0">
                <a:solidFill>
                  <a:srgbClr val="8A2635"/>
                </a:solidFill>
              </a:rPr>
              <a:t>Secure</a:t>
            </a:r>
            <a:endParaRPr lang="zh-CN" altLang="en-US" sz="1200" dirty="0">
              <a:solidFill>
                <a:srgbClr val="8A2635"/>
              </a:solidFill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5415F7A4-9F34-AE4B-953B-BD4D29D45E5A}"/>
              </a:ext>
            </a:extLst>
          </p:cNvPr>
          <p:cNvSpPr/>
          <p:nvPr/>
        </p:nvSpPr>
        <p:spPr>
          <a:xfrm>
            <a:off x="3712037" y="5209134"/>
            <a:ext cx="50847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200" dirty="0">
                <a:solidFill>
                  <a:srgbClr val="BE384B"/>
                </a:solidFill>
              </a:rPr>
              <a:t>Root</a:t>
            </a:r>
            <a:endParaRPr lang="zh-CN" altLang="en-US" sz="1200" dirty="0">
              <a:solidFill>
                <a:srgbClr val="BE384B"/>
              </a:solidFill>
            </a:endParaRPr>
          </a:p>
        </p:txBody>
      </p:sp>
      <p:graphicFrame>
        <p:nvGraphicFramePr>
          <p:cNvPr id="26" name="表格 29">
            <a:extLst>
              <a:ext uri="{FF2B5EF4-FFF2-40B4-BE49-F238E27FC236}">
                <a16:creationId xmlns:a16="http://schemas.microsoft.com/office/drawing/2014/main" id="{65A2CC7B-813F-0440-80BA-E3C19A5E119C}"/>
              </a:ext>
            </a:extLst>
          </p:cNvPr>
          <p:cNvGraphicFramePr>
            <a:graphicFrameLocks noGrp="1"/>
          </p:cNvGraphicFramePr>
          <p:nvPr/>
        </p:nvGraphicFramePr>
        <p:xfrm>
          <a:off x="4572000" y="3200261"/>
          <a:ext cx="4306100" cy="1783674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861220">
                  <a:extLst>
                    <a:ext uri="{9D8B030D-6E8A-4147-A177-3AD203B41FA5}">
                      <a16:colId xmlns:a16="http://schemas.microsoft.com/office/drawing/2014/main" val="4101370806"/>
                    </a:ext>
                  </a:extLst>
                </a:gridCol>
                <a:gridCol w="861220">
                  <a:extLst>
                    <a:ext uri="{9D8B030D-6E8A-4147-A177-3AD203B41FA5}">
                      <a16:colId xmlns:a16="http://schemas.microsoft.com/office/drawing/2014/main" val="362569005"/>
                    </a:ext>
                  </a:extLst>
                </a:gridCol>
                <a:gridCol w="861220">
                  <a:extLst>
                    <a:ext uri="{9D8B030D-6E8A-4147-A177-3AD203B41FA5}">
                      <a16:colId xmlns:a16="http://schemas.microsoft.com/office/drawing/2014/main" val="4030883520"/>
                    </a:ext>
                  </a:extLst>
                </a:gridCol>
                <a:gridCol w="861220">
                  <a:extLst>
                    <a:ext uri="{9D8B030D-6E8A-4147-A177-3AD203B41FA5}">
                      <a16:colId xmlns:a16="http://schemas.microsoft.com/office/drawing/2014/main" val="3962162921"/>
                    </a:ext>
                  </a:extLst>
                </a:gridCol>
                <a:gridCol w="861220">
                  <a:extLst>
                    <a:ext uri="{9D8B030D-6E8A-4147-A177-3AD203B41FA5}">
                      <a16:colId xmlns:a16="http://schemas.microsoft.com/office/drawing/2014/main" val="2219495654"/>
                    </a:ext>
                  </a:extLst>
                </a:gridCol>
              </a:tblGrid>
              <a:tr h="310078">
                <a:tc>
                  <a:txBody>
                    <a:bodyPr/>
                    <a:lstStyle/>
                    <a:p>
                      <a:pPr algn="ctr"/>
                      <a:endParaRPr lang="zh-CN" altLang="en-US" sz="11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Non-secure</a:t>
                      </a:r>
                      <a:endParaRPr lang="zh-CN" altLang="en-US" sz="11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Realm</a:t>
                      </a:r>
                      <a:endParaRPr lang="zh-CN" altLang="en-US" sz="11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Secure</a:t>
                      </a:r>
                      <a:endParaRPr lang="zh-CN" altLang="en-US" sz="11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Root</a:t>
                      </a:r>
                      <a:endParaRPr lang="zh-CN" altLang="en-US" sz="11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4878237"/>
                  </a:ext>
                </a:extLst>
              </a:tr>
              <a:tr h="31007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Non-secure</a:t>
                      </a:r>
                      <a:endParaRPr lang="zh-CN" altLang="en-US" sz="11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1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1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100" b="1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1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58154659"/>
                  </a:ext>
                </a:extLst>
              </a:tr>
              <a:tr h="31007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Realm</a:t>
                      </a:r>
                      <a:endParaRPr lang="zh-CN" altLang="en-US" sz="11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100" b="1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1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1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1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51530737"/>
                  </a:ext>
                </a:extLst>
              </a:tr>
              <a:tr h="31007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Secure</a:t>
                      </a:r>
                      <a:endParaRPr lang="zh-CN" altLang="en-US" sz="11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100" b="1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1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1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1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66831094"/>
                  </a:ext>
                </a:extLst>
              </a:tr>
              <a:tr h="31007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Root</a:t>
                      </a:r>
                      <a:endParaRPr lang="zh-CN" altLang="en-US" sz="11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100" b="1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100" b="1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1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1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537417"/>
                  </a:ext>
                </a:extLst>
              </a:tr>
            </a:tbl>
          </a:graphicData>
        </a:graphic>
      </p:graphicFrame>
      <p:pic>
        <p:nvPicPr>
          <p:cNvPr id="31" name="图形 30" descr="关闭 纯色填充">
            <a:extLst>
              <a:ext uri="{FF2B5EF4-FFF2-40B4-BE49-F238E27FC236}">
                <a16:creationId xmlns:a16="http://schemas.microsoft.com/office/drawing/2014/main" id="{9BB0296E-C9E1-304B-ABAE-BC70D22E6D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20079" y="3762567"/>
            <a:ext cx="209942" cy="209942"/>
          </a:xfrm>
          <a:prstGeom prst="rect">
            <a:avLst/>
          </a:prstGeom>
        </p:spPr>
      </p:pic>
      <p:pic>
        <p:nvPicPr>
          <p:cNvPr id="33" name="图形 32" descr="关闭 纯色填充">
            <a:extLst>
              <a:ext uri="{FF2B5EF4-FFF2-40B4-BE49-F238E27FC236}">
                <a16:creationId xmlns:a16="http://schemas.microsoft.com/office/drawing/2014/main" id="{34ED9986-B901-0443-A42F-79C88CC0EF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83355" y="3762567"/>
            <a:ext cx="209942" cy="209942"/>
          </a:xfrm>
          <a:prstGeom prst="rect">
            <a:avLst/>
          </a:prstGeom>
        </p:spPr>
      </p:pic>
      <p:pic>
        <p:nvPicPr>
          <p:cNvPr id="34" name="图形 33" descr="关闭 纯色填充">
            <a:extLst>
              <a:ext uri="{FF2B5EF4-FFF2-40B4-BE49-F238E27FC236}">
                <a16:creationId xmlns:a16="http://schemas.microsoft.com/office/drawing/2014/main" id="{7820963C-D8B3-5A45-BA2C-3A3C7D40BE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46631" y="3762567"/>
            <a:ext cx="209942" cy="209942"/>
          </a:xfrm>
          <a:prstGeom prst="rect">
            <a:avLst/>
          </a:prstGeom>
        </p:spPr>
      </p:pic>
      <p:pic>
        <p:nvPicPr>
          <p:cNvPr id="35" name="图形 34" descr="关闭 纯色填充">
            <a:extLst>
              <a:ext uri="{FF2B5EF4-FFF2-40B4-BE49-F238E27FC236}">
                <a16:creationId xmlns:a16="http://schemas.microsoft.com/office/drawing/2014/main" id="{6D7DA4FD-2DAD-9541-9FB0-EE1B12F55F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79672" y="4114661"/>
            <a:ext cx="209942" cy="209942"/>
          </a:xfrm>
          <a:prstGeom prst="rect">
            <a:avLst/>
          </a:prstGeom>
        </p:spPr>
      </p:pic>
      <p:pic>
        <p:nvPicPr>
          <p:cNvPr id="36" name="图形 35" descr="关闭 纯色填充">
            <a:extLst>
              <a:ext uri="{FF2B5EF4-FFF2-40B4-BE49-F238E27FC236}">
                <a16:creationId xmlns:a16="http://schemas.microsoft.com/office/drawing/2014/main" id="{EEC397F5-303C-A040-9C9E-C670538AC2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48452" y="4114661"/>
            <a:ext cx="209942" cy="209942"/>
          </a:xfrm>
          <a:prstGeom prst="rect">
            <a:avLst/>
          </a:prstGeom>
        </p:spPr>
      </p:pic>
      <p:pic>
        <p:nvPicPr>
          <p:cNvPr id="37" name="图形 36" descr="关闭 纯色填充">
            <a:extLst>
              <a:ext uri="{FF2B5EF4-FFF2-40B4-BE49-F238E27FC236}">
                <a16:creationId xmlns:a16="http://schemas.microsoft.com/office/drawing/2014/main" id="{A4BA25D4-9393-E84A-A5A7-1776A86211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46631" y="4422784"/>
            <a:ext cx="209942" cy="209942"/>
          </a:xfrm>
          <a:prstGeom prst="rect">
            <a:avLst/>
          </a:prstGeom>
        </p:spPr>
      </p:pic>
      <p:pic>
        <p:nvPicPr>
          <p:cNvPr id="38" name="图形 37" descr="关闭 纯色填充">
            <a:extLst>
              <a:ext uri="{FF2B5EF4-FFF2-40B4-BE49-F238E27FC236}">
                <a16:creationId xmlns:a16="http://schemas.microsoft.com/office/drawing/2014/main" id="{07DB22E1-9F89-2645-B4D1-3E64DDC42F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9259" y="4413786"/>
            <a:ext cx="209942" cy="209942"/>
          </a:xfrm>
          <a:prstGeom prst="rect">
            <a:avLst/>
          </a:prstGeom>
        </p:spPr>
      </p:pic>
      <p:pic>
        <p:nvPicPr>
          <p:cNvPr id="39" name="图形 38" descr="复选标记 纯色填充">
            <a:extLst>
              <a:ext uri="{FF2B5EF4-FFF2-40B4-BE49-F238E27FC236}">
                <a16:creationId xmlns:a16="http://schemas.microsoft.com/office/drawing/2014/main" id="{4EF7143A-9220-F146-B6E3-1BAA1578400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71147" y="3762566"/>
            <a:ext cx="209943" cy="209943"/>
          </a:xfrm>
          <a:prstGeom prst="rect">
            <a:avLst/>
          </a:prstGeom>
        </p:spPr>
      </p:pic>
      <p:pic>
        <p:nvPicPr>
          <p:cNvPr id="41" name="图形 40" descr="复选标记 纯色填充">
            <a:extLst>
              <a:ext uri="{FF2B5EF4-FFF2-40B4-BE49-F238E27FC236}">
                <a16:creationId xmlns:a16="http://schemas.microsoft.com/office/drawing/2014/main" id="{134D7719-186F-A147-8B44-94E224B9254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71147" y="4092098"/>
            <a:ext cx="209943" cy="209943"/>
          </a:xfrm>
          <a:prstGeom prst="rect">
            <a:avLst/>
          </a:prstGeom>
        </p:spPr>
      </p:pic>
      <p:pic>
        <p:nvPicPr>
          <p:cNvPr id="42" name="图形 41" descr="复选标记 纯色填充">
            <a:extLst>
              <a:ext uri="{FF2B5EF4-FFF2-40B4-BE49-F238E27FC236}">
                <a16:creationId xmlns:a16="http://schemas.microsoft.com/office/drawing/2014/main" id="{CD6A03AE-7B5D-1946-8D0C-3A8401FA9AE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71147" y="4401261"/>
            <a:ext cx="209943" cy="209943"/>
          </a:xfrm>
          <a:prstGeom prst="rect">
            <a:avLst/>
          </a:prstGeom>
        </p:spPr>
      </p:pic>
      <p:pic>
        <p:nvPicPr>
          <p:cNvPr id="43" name="图形 42" descr="复选标记 纯色填充">
            <a:extLst>
              <a:ext uri="{FF2B5EF4-FFF2-40B4-BE49-F238E27FC236}">
                <a16:creationId xmlns:a16="http://schemas.microsoft.com/office/drawing/2014/main" id="{4F6A52F2-C143-6A43-BA21-E9ACEAE0664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71146" y="4716981"/>
            <a:ext cx="209943" cy="209943"/>
          </a:xfrm>
          <a:prstGeom prst="rect">
            <a:avLst/>
          </a:prstGeom>
        </p:spPr>
      </p:pic>
      <p:pic>
        <p:nvPicPr>
          <p:cNvPr id="44" name="图形 43" descr="复选标记 纯色填充">
            <a:extLst>
              <a:ext uri="{FF2B5EF4-FFF2-40B4-BE49-F238E27FC236}">
                <a16:creationId xmlns:a16="http://schemas.microsoft.com/office/drawing/2014/main" id="{342C5F9D-076B-8642-A8A3-9B2154B37BF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9284" y="4088176"/>
            <a:ext cx="209943" cy="209943"/>
          </a:xfrm>
          <a:prstGeom prst="rect">
            <a:avLst/>
          </a:prstGeom>
        </p:spPr>
      </p:pic>
      <p:pic>
        <p:nvPicPr>
          <p:cNvPr id="45" name="图形 44" descr="复选标记 纯色填充">
            <a:extLst>
              <a:ext uri="{FF2B5EF4-FFF2-40B4-BE49-F238E27FC236}">
                <a16:creationId xmlns:a16="http://schemas.microsoft.com/office/drawing/2014/main" id="{CE467AC3-1FC8-0347-A00F-02A34E680E1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9259" y="4716980"/>
            <a:ext cx="209943" cy="209943"/>
          </a:xfrm>
          <a:prstGeom prst="rect">
            <a:avLst/>
          </a:prstGeom>
        </p:spPr>
      </p:pic>
      <p:pic>
        <p:nvPicPr>
          <p:cNvPr id="46" name="图形 45" descr="复选标记 纯色填充">
            <a:extLst>
              <a:ext uri="{FF2B5EF4-FFF2-40B4-BE49-F238E27FC236}">
                <a16:creationId xmlns:a16="http://schemas.microsoft.com/office/drawing/2014/main" id="{61708526-25F8-A04D-A445-20B6CF0EC80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77607" y="4401260"/>
            <a:ext cx="209943" cy="209943"/>
          </a:xfrm>
          <a:prstGeom prst="rect">
            <a:avLst/>
          </a:prstGeom>
        </p:spPr>
      </p:pic>
      <p:pic>
        <p:nvPicPr>
          <p:cNvPr id="47" name="图形 46" descr="复选标记 纯色填充">
            <a:extLst>
              <a:ext uri="{FF2B5EF4-FFF2-40B4-BE49-F238E27FC236}">
                <a16:creationId xmlns:a16="http://schemas.microsoft.com/office/drawing/2014/main" id="{B79AAE42-5978-1E45-9D4B-68BE447DC50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77607" y="4726570"/>
            <a:ext cx="209943" cy="209943"/>
          </a:xfrm>
          <a:prstGeom prst="rect">
            <a:avLst/>
          </a:prstGeom>
        </p:spPr>
      </p:pic>
      <p:pic>
        <p:nvPicPr>
          <p:cNvPr id="48" name="图形 47" descr="复选标记 纯色填充">
            <a:extLst>
              <a:ext uri="{FF2B5EF4-FFF2-40B4-BE49-F238E27FC236}">
                <a16:creationId xmlns:a16="http://schemas.microsoft.com/office/drawing/2014/main" id="{A12201FB-13F4-2640-AF62-0682C1619AA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46631" y="4714908"/>
            <a:ext cx="209943" cy="20994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0CE42EB-592E-F09A-17E1-99D53DACBB48}"/>
              </a:ext>
            </a:extLst>
          </p:cNvPr>
          <p:cNvSpPr txBox="1"/>
          <p:nvPr/>
        </p:nvSpPr>
        <p:spPr>
          <a:xfrm>
            <a:off x="5969040" y="2839476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内存访问权限表</a:t>
            </a:r>
          </a:p>
        </p:txBody>
      </p:sp>
    </p:spTree>
    <p:extLst>
      <p:ext uri="{BB962C8B-B14F-4D97-AF65-F5344CB8AC3E}">
        <p14:creationId xmlns:p14="http://schemas.microsoft.com/office/powerpoint/2010/main" val="10379052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6691F9-B179-574C-B6CD-B99AA40A7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内存加密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9CD3435-492B-BD4A-8460-B268AB53BE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003232" cy="3771636"/>
          </a:xfrm>
        </p:spPr>
        <p:txBody>
          <a:bodyPr>
            <a:normAutofit/>
          </a:bodyPr>
          <a:lstStyle/>
          <a:p>
            <a:r>
              <a:rPr lang="zh-CN" altLang="en" sz="2000" dirty="0"/>
              <a:t>内存</a:t>
            </a:r>
            <a:r>
              <a:rPr lang="zh-CN" altLang="en-US" sz="2000" dirty="0"/>
              <a:t>保护引擎（</a:t>
            </a:r>
            <a:r>
              <a:rPr lang="en-US" altLang="zh-CN" sz="2000" dirty="0"/>
              <a:t>MPE</a:t>
            </a:r>
            <a:r>
              <a:rPr lang="zh-CN" altLang="en-US" sz="2000" dirty="0"/>
              <a:t>）</a:t>
            </a:r>
            <a:endParaRPr lang="en-US" altLang="zh-CN" sz="2000" dirty="0"/>
          </a:p>
          <a:p>
            <a:pPr lvl="1"/>
            <a:r>
              <a:rPr lang="en-US" altLang="zh-CN" sz="1400" dirty="0"/>
              <a:t>MPE</a:t>
            </a:r>
            <a:r>
              <a:rPr lang="zh-CN" altLang="en-US" sz="1400" dirty="0"/>
              <a:t>为不同</a:t>
            </a:r>
            <a:r>
              <a:rPr lang="en-US" altLang="zh-CN" sz="1400" dirty="0"/>
              <a:t>PAS</a:t>
            </a:r>
            <a:r>
              <a:rPr lang="zh-CN" altLang="en-US" sz="1400" dirty="0"/>
              <a:t>提供不同的秘钥或</a:t>
            </a:r>
            <a:r>
              <a:rPr lang="en-US" altLang="zh-CN" sz="1400" dirty="0"/>
              <a:t>Tweak</a:t>
            </a:r>
            <a:endParaRPr lang="en" altLang="zh-CN" sz="1400" dirty="0"/>
          </a:p>
          <a:p>
            <a:pPr lvl="1"/>
            <a:r>
              <a:rPr lang="en-US" altLang="zh-CN" sz="1400" dirty="0"/>
              <a:t>Non-secure</a:t>
            </a:r>
            <a:r>
              <a:rPr lang="zh-CN" altLang="en-US" sz="1400" dirty="0"/>
              <a:t>以外的</a:t>
            </a:r>
            <a:r>
              <a:rPr lang="en-US" altLang="zh-CN" sz="1400" dirty="0"/>
              <a:t>PAS</a:t>
            </a:r>
            <a:r>
              <a:rPr lang="zh-CN" altLang="en-US" sz="1400" dirty="0"/>
              <a:t>必须经过内存加密</a:t>
            </a:r>
            <a:endParaRPr lang="en-US" altLang="zh-CN" sz="1400" dirty="0"/>
          </a:p>
          <a:p>
            <a:pPr lvl="1"/>
            <a:r>
              <a:rPr lang="en-US" altLang="zh-CN" sz="1400" dirty="0"/>
              <a:t>Monitor </a:t>
            </a:r>
            <a:r>
              <a:rPr lang="zh-CN" altLang="en-US" sz="1400" dirty="0"/>
              <a:t>可以配置</a:t>
            </a:r>
            <a:r>
              <a:rPr lang="en-US" altLang="zh-CN" sz="1400" dirty="0"/>
              <a:t>MPE</a:t>
            </a:r>
          </a:p>
          <a:p>
            <a:pPr lvl="1"/>
            <a:r>
              <a:rPr lang="zh-CN" altLang="en-US" sz="1400" dirty="0"/>
              <a:t>硬件完整性保护非必须</a:t>
            </a:r>
            <a:endParaRPr lang="en-US" altLang="zh-CN" sz="14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6A4D391-AEDD-6A43-BFE9-005F1220B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</a:t>
            </a:fld>
            <a:endParaRPr lang="zh-CN" altLang="en-US"/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2F584BC-6CEC-8450-BF97-A61A19D50267}"/>
              </a:ext>
            </a:extLst>
          </p:cNvPr>
          <p:cNvGrpSpPr/>
          <p:nvPr/>
        </p:nvGrpSpPr>
        <p:grpSpPr>
          <a:xfrm>
            <a:off x="2123728" y="3269208"/>
            <a:ext cx="4160022" cy="2224582"/>
            <a:chOff x="1403648" y="1919812"/>
            <a:chExt cx="5633067" cy="3235862"/>
          </a:xfrm>
        </p:grpSpPr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317F125F-CB4F-BB1E-0D50-D1BB2E6ADB6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03648" y="3607323"/>
              <a:ext cx="4927284" cy="1548351"/>
            </a:xfrm>
            <a:prstGeom prst="rect">
              <a:avLst/>
            </a:prstGeom>
          </p:spPr>
        </p:pic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E2B3677-D432-C914-D6F7-ED003928CBE7}"/>
                </a:ext>
              </a:extLst>
            </p:cNvPr>
            <p:cNvSpPr txBox="1"/>
            <p:nvPr/>
          </p:nvSpPr>
          <p:spPr>
            <a:xfrm>
              <a:off x="2573716" y="3591543"/>
              <a:ext cx="1102349" cy="4029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600" dirty="0"/>
                <a:t>Point of </a:t>
              </a:r>
            </a:p>
            <a:p>
              <a:r>
                <a:rPr lang="en-US" altLang="zh-CN" sz="600" dirty="0"/>
                <a:t>Physical Aliasing </a:t>
              </a:r>
              <a:endParaRPr lang="zh-CN" altLang="en-US" sz="600" dirty="0"/>
            </a:p>
          </p:txBody>
        </p:sp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F5371A01-FFC7-1046-8F1B-8CE3AAF9140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30000" y="1919812"/>
              <a:ext cx="5506715" cy="1708644"/>
            </a:xfrm>
            <a:prstGeom prst="rect">
              <a:avLst/>
            </a:prstGeom>
          </p:spPr>
        </p:pic>
      </p:grpSp>
      <p:sp>
        <p:nvSpPr>
          <p:cNvPr id="5" name="箭头: 上 4">
            <a:extLst>
              <a:ext uri="{FF2B5EF4-FFF2-40B4-BE49-F238E27FC236}">
                <a16:creationId xmlns:a16="http://schemas.microsoft.com/office/drawing/2014/main" id="{8135EFA1-B784-D4E6-E5FA-899BF758243E}"/>
              </a:ext>
            </a:extLst>
          </p:cNvPr>
          <p:cNvSpPr/>
          <p:nvPr/>
        </p:nvSpPr>
        <p:spPr>
          <a:xfrm>
            <a:off x="6553200" y="3361556"/>
            <a:ext cx="197899" cy="1200768"/>
          </a:xfrm>
          <a:prstGeom prst="upArrow">
            <a:avLst/>
          </a:prstGeom>
          <a:ln w="158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箭头: 上 5">
            <a:extLst>
              <a:ext uri="{FF2B5EF4-FFF2-40B4-BE49-F238E27FC236}">
                <a16:creationId xmlns:a16="http://schemas.microsoft.com/office/drawing/2014/main" id="{D876FA2B-FC66-1584-846A-330534E90391}"/>
              </a:ext>
            </a:extLst>
          </p:cNvPr>
          <p:cNvSpPr/>
          <p:nvPr/>
        </p:nvSpPr>
        <p:spPr>
          <a:xfrm rot="10800000">
            <a:off x="6548544" y="4731813"/>
            <a:ext cx="197900" cy="682296"/>
          </a:xfrm>
          <a:prstGeom prst="upArrow">
            <a:avLst/>
          </a:prstGeom>
          <a:ln w="158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D36A6CC3-38F9-78CF-740B-12CAC3AE30CA}"/>
              </a:ext>
            </a:extLst>
          </p:cNvPr>
          <p:cNvCxnSpPr/>
          <p:nvPr/>
        </p:nvCxnSpPr>
        <p:spPr>
          <a:xfrm>
            <a:off x="6372200" y="4657700"/>
            <a:ext cx="576064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>
            <a:extLst>
              <a:ext uri="{FF2B5EF4-FFF2-40B4-BE49-F238E27FC236}">
                <a16:creationId xmlns:a16="http://schemas.microsoft.com/office/drawing/2014/main" id="{E8F9D95E-D9A3-63A9-F7BA-F6168153B755}"/>
              </a:ext>
            </a:extLst>
          </p:cNvPr>
          <p:cNvSpPr/>
          <p:nvPr/>
        </p:nvSpPr>
        <p:spPr>
          <a:xfrm>
            <a:off x="7003968" y="3793604"/>
            <a:ext cx="169309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dirty="0"/>
              <a:t>Plaintext with isolation</a:t>
            </a:r>
            <a:endParaRPr lang="zh-CN" altLang="en-US" sz="1200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64474CF-FE04-6E23-45ED-498E9774F98C}"/>
              </a:ext>
            </a:extLst>
          </p:cNvPr>
          <p:cNvSpPr/>
          <p:nvPr/>
        </p:nvSpPr>
        <p:spPr>
          <a:xfrm>
            <a:off x="7003968" y="4894509"/>
            <a:ext cx="194957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dirty="0"/>
              <a:t>Ciphertext with encryption</a:t>
            </a:r>
            <a:endParaRPr lang="zh-CN" altLang="en-US" sz="1200" dirty="0"/>
          </a:p>
        </p:txBody>
      </p:sp>
      <p:sp>
        <p:nvSpPr>
          <p:cNvPr id="15" name="对话气泡: 矩形 14">
            <a:extLst>
              <a:ext uri="{FF2B5EF4-FFF2-40B4-BE49-F238E27FC236}">
                <a16:creationId xmlns:a16="http://schemas.microsoft.com/office/drawing/2014/main" id="{C25B0615-2242-2169-A4D0-E2C3F92E777A}"/>
              </a:ext>
            </a:extLst>
          </p:cNvPr>
          <p:cNvSpPr/>
          <p:nvPr/>
        </p:nvSpPr>
        <p:spPr>
          <a:xfrm>
            <a:off x="839673" y="3874336"/>
            <a:ext cx="1250931" cy="682648"/>
          </a:xfrm>
          <a:prstGeom prst="wedgeRectCallout">
            <a:avLst>
              <a:gd name="adj1" fmla="val 37314"/>
              <a:gd name="adj2" fmla="val 7959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Per Physical Address Space + address tweak encryption</a:t>
            </a:r>
            <a:r>
              <a:rPr lang="en-US" altLang="zh-CN" sz="1000" dirty="0"/>
              <a:t> </a:t>
            </a:r>
            <a:endParaRPr lang="zh-CN" altLang="en-US" sz="1000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B11F746-F2CA-6ED7-90A7-83F08B0D2E6A}"/>
              </a:ext>
            </a:extLst>
          </p:cNvPr>
          <p:cNvSpPr/>
          <p:nvPr/>
        </p:nvSpPr>
        <p:spPr>
          <a:xfrm>
            <a:off x="2771800" y="3065015"/>
            <a:ext cx="3024336" cy="199954"/>
          </a:xfrm>
          <a:prstGeom prst="rect">
            <a:avLst/>
          </a:prstGeom>
          <a:ln w="158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50" dirty="0"/>
              <a:t>Core</a:t>
            </a:r>
            <a:endParaRPr lang="zh-CN" altLang="en-US" sz="1050" dirty="0"/>
          </a:p>
        </p:txBody>
      </p:sp>
    </p:spTree>
    <p:extLst>
      <p:ext uri="{BB962C8B-B14F-4D97-AF65-F5344CB8AC3E}">
        <p14:creationId xmlns:p14="http://schemas.microsoft.com/office/powerpoint/2010/main" val="21272951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6691F9-B179-574C-B6CD-B99AA40A7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kumimoji="1" lang="zh-CN" altLang="en-US" sz="2600" dirty="0"/>
              <a:t>物理内存检查模块</a:t>
            </a:r>
            <a:r>
              <a:rPr kumimoji="1" lang="en-US" altLang="zh-CN" sz="2600" dirty="0"/>
              <a:t>Granule Protection Check (GPC)</a:t>
            </a:r>
            <a:endParaRPr kumimoji="1" lang="zh-CN" altLang="en-US" sz="26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9CD3435-492B-BD4A-8460-B268AB53BE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0"/>
            <a:ext cx="8229600" cy="4152633"/>
          </a:xfrm>
        </p:spPr>
        <p:txBody>
          <a:bodyPr>
            <a:normAutofit/>
          </a:bodyPr>
          <a:lstStyle/>
          <a:p>
            <a:r>
              <a:rPr lang="en-US" altLang="zh-CN" sz="2000" dirty="0"/>
              <a:t>Granule</a:t>
            </a:r>
            <a:r>
              <a:rPr lang="zh-CN" altLang="en-US" sz="2000" dirty="0"/>
              <a:t> </a:t>
            </a:r>
            <a:r>
              <a:rPr lang="en-US" altLang="zh-CN" sz="2000" dirty="0"/>
              <a:t>protection</a:t>
            </a:r>
            <a:r>
              <a:rPr lang="zh-CN" altLang="en-US" sz="2000" dirty="0"/>
              <a:t> </a:t>
            </a:r>
            <a:r>
              <a:rPr lang="en-US" altLang="zh-CN" sz="2000" dirty="0"/>
              <a:t>check</a:t>
            </a:r>
            <a:endParaRPr lang="en-US" altLang="zh-CN" sz="1800" dirty="0"/>
          </a:p>
          <a:p>
            <a:pPr lvl="1"/>
            <a:r>
              <a:rPr lang="en-US" altLang="zh-CN" sz="1600" dirty="0"/>
              <a:t>2-level</a:t>
            </a:r>
            <a:r>
              <a:rPr lang="zh-CN" altLang="en-US" sz="1600" dirty="0"/>
              <a:t> </a:t>
            </a:r>
            <a:r>
              <a:rPr lang="en-US" altLang="zh-CN" sz="1600" dirty="0"/>
              <a:t>index</a:t>
            </a:r>
            <a:r>
              <a:rPr lang="zh-CN" altLang="en-US" sz="1600" dirty="0"/>
              <a:t> </a:t>
            </a:r>
            <a:r>
              <a:rPr lang="en-US" altLang="zh-CN" sz="1600" dirty="0"/>
              <a:t>table for PAS</a:t>
            </a:r>
            <a:r>
              <a:rPr lang="zh-CN" altLang="en-US" sz="1600" dirty="0"/>
              <a:t> </a:t>
            </a:r>
            <a:r>
              <a:rPr lang="en-US" altLang="zh-CN" sz="1600" dirty="0"/>
              <a:t>tag</a:t>
            </a:r>
          </a:p>
          <a:p>
            <a:pPr lvl="1"/>
            <a:r>
              <a:rPr lang="en-US" altLang="zh-CN" sz="1600" dirty="0"/>
              <a:t>PA-&gt;Tag translation</a:t>
            </a:r>
          </a:p>
          <a:p>
            <a:pPr lvl="1"/>
            <a:endParaRPr lang="en-US" altLang="zh-CN" sz="1800" dirty="0"/>
          </a:p>
          <a:p>
            <a:pPr marL="457200" lvl="1" indent="0">
              <a:buNone/>
            </a:pPr>
            <a:endParaRPr lang="en-US" altLang="zh-CN" sz="1800" dirty="0"/>
          </a:p>
          <a:p>
            <a:pPr lvl="1"/>
            <a:endParaRPr lang="en-US" altLang="zh-CN" sz="1800" dirty="0"/>
          </a:p>
          <a:p>
            <a:pPr lvl="1"/>
            <a:endParaRPr lang="en-US" altLang="zh-CN" sz="1600" dirty="0"/>
          </a:p>
          <a:p>
            <a:endParaRPr lang="en-US" altLang="zh-CN" sz="2200" dirty="0"/>
          </a:p>
          <a:p>
            <a:pPr lvl="1"/>
            <a:endParaRPr lang="en-US" altLang="zh-CN" sz="1800" dirty="0"/>
          </a:p>
          <a:p>
            <a:endParaRPr lang="en-US" altLang="zh-CN" sz="1800" dirty="0"/>
          </a:p>
          <a:p>
            <a:pPr marL="514350" lvl="1" indent="0">
              <a:buNone/>
            </a:pPr>
            <a:endParaRPr lang="en" altLang="zh-CN" sz="2000" dirty="0"/>
          </a:p>
          <a:p>
            <a:endParaRPr lang="en" altLang="zh-CN" sz="2000" dirty="0"/>
          </a:p>
          <a:p>
            <a:endParaRPr lang="en-US" altLang="zh-CN" sz="2000" dirty="0"/>
          </a:p>
          <a:p>
            <a:pPr lvl="1"/>
            <a:endParaRPr lang="en" altLang="zh-CN" sz="1800" dirty="0"/>
          </a:p>
          <a:p>
            <a:pPr lvl="1"/>
            <a:endParaRPr lang="en" altLang="zh-CN" sz="1800" dirty="0"/>
          </a:p>
          <a:p>
            <a:pPr lvl="1"/>
            <a:endParaRPr lang="en-US" altLang="zh-CN" sz="1800" dirty="0"/>
          </a:p>
          <a:p>
            <a:pPr marL="457200" lvl="1" indent="0">
              <a:buNone/>
            </a:pPr>
            <a:endParaRPr lang="en" altLang="zh-CN" sz="1800" dirty="0"/>
          </a:p>
          <a:p>
            <a:endParaRPr lang="en" altLang="zh-CN" sz="2000" dirty="0"/>
          </a:p>
          <a:p>
            <a:pPr lvl="1"/>
            <a:endParaRPr lang="en-US" altLang="zh-CN" sz="1800" dirty="0"/>
          </a:p>
          <a:p>
            <a:pPr lvl="1"/>
            <a:endParaRPr lang="en-US" altLang="zh-CN" sz="1800" dirty="0"/>
          </a:p>
          <a:p>
            <a:pPr lvl="1"/>
            <a:endParaRPr lang="en" altLang="zh-CN" sz="1800" dirty="0"/>
          </a:p>
          <a:p>
            <a:endParaRPr lang="en-US" altLang="zh-CN" sz="2000" dirty="0"/>
          </a:p>
          <a:p>
            <a:pPr lvl="2">
              <a:lnSpc>
                <a:spcPct val="130000"/>
              </a:lnSpc>
            </a:pPr>
            <a:endParaRPr lang="en" altLang="zh-CN" sz="1400" dirty="0"/>
          </a:p>
          <a:p>
            <a:pPr lvl="1">
              <a:lnSpc>
                <a:spcPct val="130000"/>
              </a:lnSpc>
            </a:pPr>
            <a:endParaRPr lang="en" altLang="zh-CN" sz="1800" dirty="0"/>
          </a:p>
          <a:p>
            <a:endParaRPr lang="en-US" altLang="zh-CN" sz="24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6A4D391-AEDD-6A43-BFE9-005F1220B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</a:t>
            </a:fld>
            <a:endParaRPr lang="zh-CN" altLang="en-US" dirty="0"/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61AE8305-565F-C044-85F6-1FC9F7E0F20B}"/>
              </a:ext>
            </a:extLst>
          </p:cNvPr>
          <p:cNvGrpSpPr/>
          <p:nvPr/>
        </p:nvGrpSpPr>
        <p:grpSpPr>
          <a:xfrm>
            <a:off x="1421459" y="2671474"/>
            <a:ext cx="4514522" cy="2047220"/>
            <a:chOff x="1054810" y="1489348"/>
            <a:chExt cx="5784582" cy="2676129"/>
          </a:xfrm>
        </p:grpSpPr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1331E22A-C990-5543-98CB-A6583190DAB3}"/>
                </a:ext>
              </a:extLst>
            </p:cNvPr>
            <p:cNvSpPr txBox="1"/>
            <p:nvPr/>
          </p:nvSpPr>
          <p:spPr>
            <a:xfrm>
              <a:off x="1162823" y="1489348"/>
              <a:ext cx="720081" cy="4023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400" dirty="0"/>
                <a:t>EL0</a:t>
              </a:r>
              <a:endParaRPr kumimoji="1" lang="zh-CN" altLang="en-US" sz="1400" dirty="0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96B19FB3-8C04-C048-9B57-BAA04EED8CE4}"/>
                </a:ext>
              </a:extLst>
            </p:cNvPr>
            <p:cNvSpPr txBox="1"/>
            <p:nvPr/>
          </p:nvSpPr>
          <p:spPr>
            <a:xfrm>
              <a:off x="3059832" y="1489348"/>
              <a:ext cx="720081" cy="4023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400" dirty="0"/>
                <a:t>EL1</a:t>
              </a:r>
              <a:endParaRPr kumimoji="1" lang="zh-CN" altLang="en-US" sz="1400" dirty="0"/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F99B3448-BFE2-1140-9052-B144A4353620}"/>
                </a:ext>
              </a:extLst>
            </p:cNvPr>
            <p:cNvSpPr txBox="1"/>
            <p:nvPr/>
          </p:nvSpPr>
          <p:spPr>
            <a:xfrm>
              <a:off x="4571999" y="1489348"/>
              <a:ext cx="720081" cy="4023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400" dirty="0"/>
                <a:t>EL2</a:t>
              </a:r>
              <a:endParaRPr kumimoji="1" lang="zh-CN" altLang="en-US" sz="1400" dirty="0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2C08E971-84BE-824A-8089-CEA02BF10244}"/>
                </a:ext>
              </a:extLst>
            </p:cNvPr>
            <p:cNvSpPr txBox="1"/>
            <p:nvPr/>
          </p:nvSpPr>
          <p:spPr>
            <a:xfrm>
              <a:off x="6084168" y="1489348"/>
              <a:ext cx="720081" cy="4023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400" dirty="0"/>
                <a:t>EL3</a:t>
              </a:r>
              <a:endParaRPr kumimoji="1" lang="zh-CN" altLang="en-US" sz="1400" dirty="0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86672417-AB16-5E4F-9DDD-B0294665B3E2}"/>
                </a:ext>
              </a:extLst>
            </p:cNvPr>
            <p:cNvSpPr/>
            <p:nvPr/>
          </p:nvSpPr>
          <p:spPr>
            <a:xfrm>
              <a:off x="1054811" y="2014528"/>
              <a:ext cx="936103" cy="43204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100" dirty="0"/>
                <a:t>Stage1</a:t>
              </a:r>
              <a:r>
                <a:rPr kumimoji="1" lang="zh-CN" altLang="en-US" sz="1100" dirty="0"/>
                <a:t> </a:t>
              </a:r>
              <a:r>
                <a:rPr kumimoji="1" lang="en-US" altLang="zh-CN" sz="1100" dirty="0"/>
                <a:t>MMU</a:t>
              </a:r>
              <a:endParaRPr kumimoji="1" lang="zh-CN" altLang="en-US" sz="1100" dirty="0"/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35DB6EBA-F95D-1244-A372-9B91000DB45B}"/>
                </a:ext>
              </a:extLst>
            </p:cNvPr>
            <p:cNvSpPr/>
            <p:nvPr/>
          </p:nvSpPr>
          <p:spPr>
            <a:xfrm>
              <a:off x="2843809" y="2014528"/>
              <a:ext cx="936103" cy="43204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100" dirty="0"/>
                <a:t>Stage1</a:t>
              </a:r>
              <a:r>
                <a:rPr kumimoji="1" lang="zh-CN" altLang="en-US" sz="1100" dirty="0"/>
                <a:t> </a:t>
              </a:r>
              <a:r>
                <a:rPr kumimoji="1" lang="en-US" altLang="zh-CN" sz="1100" dirty="0"/>
                <a:t>MMU</a:t>
              </a:r>
              <a:endParaRPr kumimoji="1" lang="zh-CN" altLang="en-US" sz="1100" dirty="0"/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630B47C2-23CC-4B4F-9614-8A02D008A77D}"/>
                </a:ext>
              </a:extLst>
            </p:cNvPr>
            <p:cNvSpPr/>
            <p:nvPr/>
          </p:nvSpPr>
          <p:spPr>
            <a:xfrm>
              <a:off x="4364975" y="2014528"/>
              <a:ext cx="936103" cy="43204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100" dirty="0"/>
                <a:t>Stage1</a:t>
              </a:r>
              <a:r>
                <a:rPr kumimoji="1" lang="zh-CN" altLang="en-US" sz="1100" dirty="0"/>
                <a:t> </a:t>
              </a:r>
              <a:r>
                <a:rPr kumimoji="1" lang="en-US" altLang="zh-CN" sz="1100" dirty="0"/>
                <a:t>MMU</a:t>
              </a:r>
              <a:endParaRPr kumimoji="1" lang="zh-CN" altLang="en-US" sz="1100" dirty="0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FD8DC517-B640-2E41-B119-B0F6AADC3D33}"/>
                </a:ext>
              </a:extLst>
            </p:cNvPr>
            <p:cNvSpPr/>
            <p:nvPr/>
          </p:nvSpPr>
          <p:spPr>
            <a:xfrm>
              <a:off x="5903289" y="2014528"/>
              <a:ext cx="936103" cy="43204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100" dirty="0"/>
                <a:t>Stage1</a:t>
              </a:r>
              <a:r>
                <a:rPr kumimoji="1" lang="zh-CN" altLang="en-US" sz="1100" dirty="0"/>
                <a:t> </a:t>
              </a:r>
              <a:r>
                <a:rPr kumimoji="1" lang="en-US" altLang="zh-CN" sz="1100" dirty="0"/>
                <a:t>MMU</a:t>
              </a:r>
              <a:endParaRPr kumimoji="1" lang="zh-CN" altLang="en-US" sz="1100" dirty="0"/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96666703-4F32-E04E-8BA1-867F157E0F87}"/>
                </a:ext>
              </a:extLst>
            </p:cNvPr>
            <p:cNvSpPr/>
            <p:nvPr/>
          </p:nvSpPr>
          <p:spPr>
            <a:xfrm>
              <a:off x="1522862" y="2989067"/>
              <a:ext cx="1944216" cy="43204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100" dirty="0"/>
                <a:t>Stage2</a:t>
              </a:r>
              <a:r>
                <a:rPr kumimoji="1" lang="zh-CN" altLang="en-US" sz="1100" dirty="0"/>
                <a:t> </a:t>
              </a:r>
              <a:r>
                <a:rPr kumimoji="1" lang="en-US" altLang="zh-CN" sz="1100" dirty="0"/>
                <a:t>MMU</a:t>
              </a:r>
              <a:endParaRPr kumimoji="1" lang="zh-CN" altLang="en-US" sz="1100" dirty="0"/>
            </a:p>
          </p:txBody>
        </p:sp>
        <p:cxnSp>
          <p:nvCxnSpPr>
            <p:cNvPr id="15" name="直线连接符 14">
              <a:extLst>
                <a:ext uri="{FF2B5EF4-FFF2-40B4-BE49-F238E27FC236}">
                  <a16:creationId xmlns:a16="http://schemas.microsoft.com/office/drawing/2014/main" id="{01611BC7-0791-2E4D-8801-D2671C7551B5}"/>
                </a:ext>
              </a:extLst>
            </p:cNvPr>
            <p:cNvCxnSpPr/>
            <p:nvPr/>
          </p:nvCxnSpPr>
          <p:spPr>
            <a:xfrm>
              <a:off x="2411760" y="1552682"/>
              <a:ext cx="0" cy="957228"/>
            </a:xfrm>
            <a:prstGeom prst="line">
              <a:avLst/>
            </a:prstGeom>
            <a:ln w="25400"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线连接符 15">
              <a:extLst>
                <a:ext uri="{FF2B5EF4-FFF2-40B4-BE49-F238E27FC236}">
                  <a16:creationId xmlns:a16="http://schemas.microsoft.com/office/drawing/2014/main" id="{91ACE4AE-A2FA-CE4D-B709-9777D5F268A3}"/>
                </a:ext>
              </a:extLst>
            </p:cNvPr>
            <p:cNvCxnSpPr>
              <a:cxnSpLocks/>
            </p:cNvCxnSpPr>
            <p:nvPr/>
          </p:nvCxnSpPr>
          <p:spPr>
            <a:xfrm>
              <a:off x="4067944" y="1552682"/>
              <a:ext cx="0" cy="1868433"/>
            </a:xfrm>
            <a:prstGeom prst="line">
              <a:avLst/>
            </a:prstGeom>
            <a:ln w="25400"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0159CDBB-D55A-0347-A60E-D7E78DE56BA6}"/>
                </a:ext>
              </a:extLst>
            </p:cNvPr>
            <p:cNvSpPr/>
            <p:nvPr/>
          </p:nvSpPr>
          <p:spPr>
            <a:xfrm>
              <a:off x="1054810" y="3733429"/>
              <a:ext cx="4309275" cy="43204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100" dirty="0"/>
                <a:t>Granule</a:t>
              </a:r>
              <a:r>
                <a:rPr kumimoji="1" lang="zh-CN" altLang="en-US" sz="1100" dirty="0"/>
                <a:t> </a:t>
              </a:r>
              <a:r>
                <a:rPr kumimoji="1" lang="en-US" altLang="zh-CN" sz="1100" dirty="0"/>
                <a:t>protection</a:t>
              </a:r>
              <a:r>
                <a:rPr kumimoji="1" lang="zh-CN" altLang="en-US" sz="1100" dirty="0"/>
                <a:t> </a:t>
              </a:r>
              <a:r>
                <a:rPr kumimoji="1" lang="en-US" altLang="zh-CN" sz="1100" dirty="0"/>
                <a:t>check</a:t>
              </a:r>
              <a:endParaRPr kumimoji="1" lang="zh-CN" altLang="en-US" sz="1100" dirty="0"/>
            </a:p>
          </p:txBody>
        </p:sp>
        <p:cxnSp>
          <p:nvCxnSpPr>
            <p:cNvPr id="19" name="直线连接符 18">
              <a:extLst>
                <a:ext uri="{FF2B5EF4-FFF2-40B4-BE49-F238E27FC236}">
                  <a16:creationId xmlns:a16="http://schemas.microsoft.com/office/drawing/2014/main" id="{59928604-CC3B-CA42-9920-37CE912CC74B}"/>
                </a:ext>
              </a:extLst>
            </p:cNvPr>
            <p:cNvCxnSpPr>
              <a:cxnSpLocks/>
            </p:cNvCxnSpPr>
            <p:nvPr/>
          </p:nvCxnSpPr>
          <p:spPr>
            <a:xfrm>
              <a:off x="5652120" y="1535914"/>
              <a:ext cx="0" cy="2629563"/>
            </a:xfrm>
            <a:prstGeom prst="line">
              <a:avLst/>
            </a:prstGeom>
            <a:ln w="25400"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A22F14F9-97D9-3B51-01C2-B72E33FEC109}"/>
              </a:ext>
            </a:extLst>
          </p:cNvPr>
          <p:cNvGrpSpPr/>
          <p:nvPr/>
        </p:nvGrpSpPr>
        <p:grpSpPr>
          <a:xfrm>
            <a:off x="6636757" y="2857500"/>
            <a:ext cx="1280267" cy="1640845"/>
            <a:chOff x="6678945" y="3441301"/>
            <a:chExt cx="1575097" cy="2018711"/>
          </a:xfrm>
        </p:grpSpPr>
        <p:grpSp>
          <p:nvGrpSpPr>
            <p:cNvPr id="29" name="组合 28">
              <a:extLst>
                <a:ext uri="{FF2B5EF4-FFF2-40B4-BE49-F238E27FC236}">
                  <a16:creationId xmlns:a16="http://schemas.microsoft.com/office/drawing/2014/main" id="{29797B72-416E-7F45-9A23-FE77DE8DB51F}"/>
                </a:ext>
              </a:extLst>
            </p:cNvPr>
            <p:cNvGrpSpPr/>
            <p:nvPr/>
          </p:nvGrpSpPr>
          <p:grpSpPr>
            <a:xfrm>
              <a:off x="6683681" y="3877514"/>
              <a:ext cx="528852" cy="340788"/>
              <a:chOff x="6659371" y="4365782"/>
              <a:chExt cx="528852" cy="340788"/>
            </a:xfrm>
          </p:grpSpPr>
          <p:sp>
            <p:nvSpPr>
              <p:cNvPr id="23" name="矩形 22">
                <a:extLst>
                  <a:ext uri="{FF2B5EF4-FFF2-40B4-BE49-F238E27FC236}">
                    <a16:creationId xmlns:a16="http://schemas.microsoft.com/office/drawing/2014/main" id="{60717950-E151-D547-B1FC-BB54DA4841B4}"/>
                  </a:ext>
                </a:extLst>
              </p:cNvPr>
              <p:cNvSpPr/>
              <p:nvPr/>
            </p:nvSpPr>
            <p:spPr>
              <a:xfrm>
                <a:off x="6659371" y="4373381"/>
                <a:ext cx="528852" cy="304271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5FE9DEB2-13B1-7D48-95EF-4799FC34E404}"/>
                  </a:ext>
                </a:extLst>
              </p:cNvPr>
              <p:cNvSpPr txBox="1"/>
              <p:nvPr/>
            </p:nvSpPr>
            <p:spPr>
              <a:xfrm>
                <a:off x="6685037" y="4365782"/>
                <a:ext cx="468049" cy="3407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/>
                  <a:t>00</a:t>
                </a:r>
                <a:endParaRPr lang="zh-CN" altLang="en-US" sz="1200" dirty="0"/>
              </a:p>
            </p:txBody>
          </p:sp>
        </p:grpSp>
        <p:grpSp>
          <p:nvGrpSpPr>
            <p:cNvPr id="28" name="组合 27">
              <a:extLst>
                <a:ext uri="{FF2B5EF4-FFF2-40B4-BE49-F238E27FC236}">
                  <a16:creationId xmlns:a16="http://schemas.microsoft.com/office/drawing/2014/main" id="{2652823E-09CB-DD41-A7EB-BCEBC2B067DC}"/>
                </a:ext>
              </a:extLst>
            </p:cNvPr>
            <p:cNvGrpSpPr/>
            <p:nvPr/>
          </p:nvGrpSpPr>
          <p:grpSpPr>
            <a:xfrm>
              <a:off x="6678945" y="4310565"/>
              <a:ext cx="528852" cy="340788"/>
              <a:chOff x="6811771" y="4518182"/>
              <a:chExt cx="528852" cy="340788"/>
            </a:xfrm>
          </p:grpSpPr>
          <p:sp>
            <p:nvSpPr>
              <p:cNvPr id="26" name="矩形 25">
                <a:extLst>
                  <a:ext uri="{FF2B5EF4-FFF2-40B4-BE49-F238E27FC236}">
                    <a16:creationId xmlns:a16="http://schemas.microsoft.com/office/drawing/2014/main" id="{10B31EFE-E052-BB4F-8129-367C1768114D}"/>
                  </a:ext>
                </a:extLst>
              </p:cNvPr>
              <p:cNvSpPr/>
              <p:nvPr/>
            </p:nvSpPr>
            <p:spPr>
              <a:xfrm>
                <a:off x="6811771" y="4525781"/>
                <a:ext cx="528852" cy="304271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9105B818-DA87-0B4A-A352-366A50B41065}"/>
                  </a:ext>
                </a:extLst>
              </p:cNvPr>
              <p:cNvSpPr txBox="1"/>
              <p:nvPr/>
            </p:nvSpPr>
            <p:spPr>
              <a:xfrm>
                <a:off x="6837437" y="4518182"/>
                <a:ext cx="468049" cy="3407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/>
                  <a:t>01</a:t>
                </a:r>
                <a:endParaRPr lang="zh-CN" altLang="en-US" sz="1200" dirty="0"/>
              </a:p>
            </p:txBody>
          </p:sp>
        </p:grpSp>
        <p:grpSp>
          <p:nvGrpSpPr>
            <p:cNvPr id="30" name="组合 29">
              <a:extLst>
                <a:ext uri="{FF2B5EF4-FFF2-40B4-BE49-F238E27FC236}">
                  <a16:creationId xmlns:a16="http://schemas.microsoft.com/office/drawing/2014/main" id="{412F9FD5-09E5-E946-BE7E-F45D381E06B1}"/>
                </a:ext>
              </a:extLst>
            </p:cNvPr>
            <p:cNvGrpSpPr/>
            <p:nvPr/>
          </p:nvGrpSpPr>
          <p:grpSpPr>
            <a:xfrm>
              <a:off x="6683681" y="4711095"/>
              <a:ext cx="528852" cy="340788"/>
              <a:chOff x="6811771" y="4518182"/>
              <a:chExt cx="528852" cy="340788"/>
            </a:xfrm>
          </p:grpSpPr>
          <p:sp>
            <p:nvSpPr>
              <p:cNvPr id="31" name="矩形 30">
                <a:extLst>
                  <a:ext uri="{FF2B5EF4-FFF2-40B4-BE49-F238E27FC236}">
                    <a16:creationId xmlns:a16="http://schemas.microsoft.com/office/drawing/2014/main" id="{0134444C-6AF0-3D49-B8EB-68F4B67EC0DB}"/>
                  </a:ext>
                </a:extLst>
              </p:cNvPr>
              <p:cNvSpPr/>
              <p:nvPr/>
            </p:nvSpPr>
            <p:spPr>
              <a:xfrm>
                <a:off x="6811771" y="4525781"/>
                <a:ext cx="528852" cy="304271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2E1D791C-C2A7-084B-8AF4-436C4BC1E2AF}"/>
                  </a:ext>
                </a:extLst>
              </p:cNvPr>
              <p:cNvSpPr txBox="1"/>
              <p:nvPr/>
            </p:nvSpPr>
            <p:spPr>
              <a:xfrm>
                <a:off x="6837437" y="4518182"/>
                <a:ext cx="468049" cy="3407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/>
                  <a:t>10</a:t>
                </a:r>
                <a:endParaRPr lang="zh-CN" altLang="en-US" sz="1200" dirty="0"/>
              </a:p>
            </p:txBody>
          </p:sp>
        </p:grpSp>
        <p:grpSp>
          <p:nvGrpSpPr>
            <p:cNvPr id="33" name="组合 32">
              <a:extLst>
                <a:ext uri="{FF2B5EF4-FFF2-40B4-BE49-F238E27FC236}">
                  <a16:creationId xmlns:a16="http://schemas.microsoft.com/office/drawing/2014/main" id="{BC61C740-4745-C24F-B3E4-9E816322A1F8}"/>
                </a:ext>
              </a:extLst>
            </p:cNvPr>
            <p:cNvGrpSpPr/>
            <p:nvPr/>
          </p:nvGrpSpPr>
          <p:grpSpPr>
            <a:xfrm>
              <a:off x="6683681" y="5119224"/>
              <a:ext cx="528852" cy="340788"/>
              <a:chOff x="6811771" y="4518182"/>
              <a:chExt cx="528852" cy="340788"/>
            </a:xfrm>
          </p:grpSpPr>
          <p:sp>
            <p:nvSpPr>
              <p:cNvPr id="34" name="矩形 33">
                <a:extLst>
                  <a:ext uri="{FF2B5EF4-FFF2-40B4-BE49-F238E27FC236}">
                    <a16:creationId xmlns:a16="http://schemas.microsoft.com/office/drawing/2014/main" id="{0B0279C1-2616-4E43-8505-C121A32C6DD2}"/>
                  </a:ext>
                </a:extLst>
              </p:cNvPr>
              <p:cNvSpPr/>
              <p:nvPr/>
            </p:nvSpPr>
            <p:spPr>
              <a:xfrm>
                <a:off x="6811771" y="4525781"/>
                <a:ext cx="528852" cy="304271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525E39B8-8248-D749-AFE5-926598B24E4E}"/>
                  </a:ext>
                </a:extLst>
              </p:cNvPr>
              <p:cNvSpPr txBox="1"/>
              <p:nvPr/>
            </p:nvSpPr>
            <p:spPr>
              <a:xfrm>
                <a:off x="6837437" y="4518182"/>
                <a:ext cx="468049" cy="3407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/>
                  <a:t>11</a:t>
                </a:r>
                <a:endParaRPr lang="zh-CN" altLang="en-US" sz="1200" dirty="0"/>
              </a:p>
            </p:txBody>
          </p:sp>
        </p:grpSp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275B909A-9216-9241-BBC0-A170FBD2ACF0}"/>
                </a:ext>
              </a:extLst>
            </p:cNvPr>
            <p:cNvSpPr/>
            <p:nvPr/>
          </p:nvSpPr>
          <p:spPr>
            <a:xfrm>
              <a:off x="6916580" y="3441301"/>
              <a:ext cx="1021341" cy="3786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400" dirty="0"/>
                <a:t>PAS</a:t>
              </a:r>
              <a:r>
                <a:rPr lang="zh-CN" altLang="en-US" sz="1400" dirty="0"/>
                <a:t> </a:t>
              </a:r>
              <a:r>
                <a:rPr lang="en-US" altLang="zh-CN" sz="1400" dirty="0"/>
                <a:t>tag</a:t>
              </a:r>
              <a:endParaRPr lang="zh-CN" altLang="en-US" sz="1400" dirty="0"/>
            </a:p>
          </p:txBody>
        </p:sp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EE1762F1-CE1F-1047-961A-8CEB0BF9F68C}"/>
                </a:ext>
              </a:extLst>
            </p:cNvPr>
            <p:cNvSpPr/>
            <p:nvPr/>
          </p:nvSpPr>
          <p:spPr>
            <a:xfrm>
              <a:off x="7285506" y="3882406"/>
              <a:ext cx="968536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200" dirty="0"/>
                <a:t>Non</a:t>
              </a:r>
              <a:r>
                <a:rPr lang="zh-CN" altLang="en-US" sz="1200" dirty="0"/>
                <a:t> </a:t>
              </a:r>
              <a:r>
                <a:rPr lang="en-US" altLang="zh-CN" sz="1200" dirty="0"/>
                <a:t>secure</a:t>
              </a:r>
              <a:endParaRPr lang="zh-CN" altLang="en-US" sz="1200" dirty="0"/>
            </a:p>
          </p:txBody>
        </p: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88FD2F84-8BBE-1B41-8F94-0FCAB462AC86}"/>
                </a:ext>
              </a:extLst>
            </p:cNvPr>
            <p:cNvSpPr/>
            <p:nvPr/>
          </p:nvSpPr>
          <p:spPr>
            <a:xfrm>
              <a:off x="7417988" y="4311893"/>
              <a:ext cx="670376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200" dirty="0"/>
                <a:t>Secure</a:t>
              </a:r>
              <a:endParaRPr lang="zh-CN" altLang="en-US" sz="1200" dirty="0"/>
            </a:p>
          </p:txBody>
        </p:sp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3FFF6639-DEEB-0142-A251-C271BFC6605F}"/>
                </a:ext>
              </a:extLst>
            </p:cNvPr>
            <p:cNvSpPr/>
            <p:nvPr/>
          </p:nvSpPr>
          <p:spPr>
            <a:xfrm>
              <a:off x="7434587" y="4679721"/>
              <a:ext cx="627095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200" dirty="0"/>
                <a:t>Realm</a:t>
              </a:r>
              <a:endParaRPr lang="zh-CN" altLang="en-US" sz="1200" dirty="0"/>
            </a:p>
          </p:txBody>
        </p:sp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0BD469C7-C7E4-9C49-8B30-4F6375638F0B}"/>
                </a:ext>
              </a:extLst>
            </p:cNvPr>
            <p:cNvSpPr/>
            <p:nvPr/>
          </p:nvSpPr>
          <p:spPr>
            <a:xfrm>
              <a:off x="7493896" y="5111446"/>
              <a:ext cx="508473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200" dirty="0"/>
                <a:t>Root</a:t>
              </a:r>
              <a:endParaRPr lang="zh-CN" altLang="en-US" sz="1200" dirty="0"/>
            </a:p>
          </p:txBody>
        </p:sp>
      </p:grpSp>
      <p:sp>
        <p:nvSpPr>
          <p:cNvPr id="14" name="文本框 13">
            <a:extLst>
              <a:ext uri="{FF2B5EF4-FFF2-40B4-BE49-F238E27FC236}">
                <a16:creationId xmlns:a16="http://schemas.microsoft.com/office/drawing/2014/main" id="{38BB13BB-C522-1DF7-86B8-20EB900590F9}"/>
              </a:ext>
            </a:extLst>
          </p:cNvPr>
          <p:cNvSpPr txBox="1"/>
          <p:nvPr/>
        </p:nvSpPr>
        <p:spPr>
          <a:xfrm>
            <a:off x="811969" y="2882420"/>
            <a:ext cx="39861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/>
              <a:t>VA</a:t>
            </a:r>
            <a:endParaRPr lang="zh-CN" altLang="en-US" sz="1050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3D175EF-87AD-EFF9-138F-0779609C5C15}"/>
              </a:ext>
            </a:extLst>
          </p:cNvPr>
          <p:cNvSpPr txBox="1"/>
          <p:nvPr/>
        </p:nvSpPr>
        <p:spPr>
          <a:xfrm>
            <a:off x="776438" y="3602500"/>
            <a:ext cx="46740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50" dirty="0"/>
              <a:t>GPA</a:t>
            </a:r>
            <a:endParaRPr lang="zh-CN" altLang="en-US" sz="1050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9AAB296-AD0C-BD1B-E674-3A7E3965BCFF}"/>
              </a:ext>
            </a:extLst>
          </p:cNvPr>
          <p:cNvSpPr txBox="1"/>
          <p:nvPr/>
        </p:nvSpPr>
        <p:spPr>
          <a:xfrm>
            <a:off x="755576" y="4131599"/>
            <a:ext cx="52889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50" dirty="0"/>
              <a:t>HPA</a:t>
            </a:r>
            <a:endParaRPr lang="zh-CN" altLang="en-US" sz="1050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CF792FD-6655-A068-51E8-E9A86705B153}"/>
              </a:ext>
            </a:extLst>
          </p:cNvPr>
          <p:cNvSpPr txBox="1"/>
          <p:nvPr/>
        </p:nvSpPr>
        <p:spPr>
          <a:xfrm>
            <a:off x="782200" y="4681908"/>
            <a:ext cx="47564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/>
              <a:t>Tag</a:t>
            </a:r>
            <a:endParaRPr lang="zh-CN" altLang="en-US" sz="1050" dirty="0"/>
          </a:p>
        </p:txBody>
      </p: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EE108F31-5D72-FF66-877F-B8A4EBFA46DC}"/>
              </a:ext>
            </a:extLst>
          </p:cNvPr>
          <p:cNvCxnSpPr>
            <a:cxnSpLocks/>
            <a:stCxn id="14" idx="2"/>
            <a:endCxn id="18" idx="0"/>
          </p:cNvCxnSpPr>
          <p:nvPr/>
        </p:nvCxnSpPr>
        <p:spPr>
          <a:xfrm flipH="1">
            <a:off x="1010142" y="3144030"/>
            <a:ext cx="1134" cy="4584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6E39325D-54FA-D525-60C7-FAA66BC2D54F}"/>
              </a:ext>
            </a:extLst>
          </p:cNvPr>
          <p:cNvCxnSpPr>
            <a:cxnSpLocks/>
            <a:stCxn id="18" idx="2"/>
            <a:endCxn id="20" idx="0"/>
          </p:cNvCxnSpPr>
          <p:nvPr/>
        </p:nvCxnSpPr>
        <p:spPr>
          <a:xfrm>
            <a:off x="1010142" y="3856416"/>
            <a:ext cx="9882" cy="2751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825BB658-B73B-DF67-F182-1D69DF62EA14}"/>
              </a:ext>
            </a:extLst>
          </p:cNvPr>
          <p:cNvCxnSpPr>
            <a:cxnSpLocks/>
            <a:stCxn id="20" idx="2"/>
            <a:endCxn id="21" idx="0"/>
          </p:cNvCxnSpPr>
          <p:nvPr/>
        </p:nvCxnSpPr>
        <p:spPr>
          <a:xfrm>
            <a:off x="1020024" y="4385515"/>
            <a:ext cx="0" cy="2963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" name="左大括号 51">
            <a:extLst>
              <a:ext uri="{FF2B5EF4-FFF2-40B4-BE49-F238E27FC236}">
                <a16:creationId xmlns:a16="http://schemas.microsoft.com/office/drawing/2014/main" id="{A00372BD-2DA7-BF06-5C03-F54B31C3C8BE}"/>
              </a:ext>
            </a:extLst>
          </p:cNvPr>
          <p:cNvSpPr/>
          <p:nvPr/>
        </p:nvSpPr>
        <p:spPr>
          <a:xfrm>
            <a:off x="637977" y="3073233"/>
            <a:ext cx="117599" cy="1645461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F799BD6B-40CA-E0F7-BBB9-E705F9015560}"/>
              </a:ext>
            </a:extLst>
          </p:cNvPr>
          <p:cNvSpPr txBox="1"/>
          <p:nvPr/>
        </p:nvSpPr>
        <p:spPr>
          <a:xfrm>
            <a:off x="-59113" y="3664055"/>
            <a:ext cx="7665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/>
              <a:t>Combined</a:t>
            </a:r>
          </a:p>
          <a:p>
            <a:r>
              <a:rPr lang="en-US" altLang="zh-CN" sz="1000" dirty="0"/>
              <a:t> in TLB</a:t>
            </a:r>
            <a:endParaRPr lang="zh-CN" altLang="en-US" sz="1000" dirty="0"/>
          </a:p>
        </p:txBody>
      </p:sp>
    </p:spTree>
    <p:extLst>
      <p:ext uri="{BB962C8B-B14F-4D97-AF65-F5344CB8AC3E}">
        <p14:creationId xmlns:p14="http://schemas.microsoft.com/office/powerpoint/2010/main" val="19891210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内容占位符 2">
            <a:extLst>
              <a:ext uri="{FF2B5EF4-FFF2-40B4-BE49-F238E27FC236}">
                <a16:creationId xmlns:a16="http://schemas.microsoft.com/office/drawing/2014/main" id="{84B4641A-0B23-88D0-D306-F6B781D96E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1050" y="1323785"/>
            <a:ext cx="8229600" cy="4152633"/>
          </a:xfrm>
        </p:spPr>
        <p:txBody>
          <a:bodyPr>
            <a:normAutofit/>
          </a:bodyPr>
          <a:lstStyle/>
          <a:p>
            <a:r>
              <a:rPr lang="zh-CN" altLang="en-US" sz="2000" dirty="0"/>
              <a:t>在</a:t>
            </a:r>
            <a:r>
              <a:rPr lang="en-US" altLang="zh-CN" sz="2000" dirty="0"/>
              <a:t>MMU</a:t>
            </a:r>
            <a:r>
              <a:rPr lang="zh-CN" altLang="en-US" sz="2000" dirty="0"/>
              <a:t>和</a:t>
            </a:r>
            <a:r>
              <a:rPr lang="en-US" altLang="zh-CN" sz="2000" dirty="0"/>
              <a:t>SMMU</a:t>
            </a:r>
            <a:r>
              <a:rPr lang="zh-CN" altLang="en-US" sz="2000" dirty="0"/>
              <a:t>中添加</a:t>
            </a:r>
            <a:r>
              <a:rPr lang="en-US" altLang="zh-CN" sz="2000" dirty="0"/>
              <a:t>GPC</a:t>
            </a:r>
            <a:r>
              <a:rPr lang="zh-CN" altLang="en-US" sz="2000" dirty="0"/>
              <a:t>模块</a:t>
            </a:r>
            <a:r>
              <a:rPr lang="en-US" altLang="zh-CN" sz="2000" dirty="0"/>
              <a:t> </a:t>
            </a:r>
          </a:p>
          <a:p>
            <a:pPr lvl="1"/>
            <a:r>
              <a:rPr lang="en-US" altLang="zh-CN" sz="1400" dirty="0"/>
              <a:t>PAS</a:t>
            </a:r>
            <a:r>
              <a:rPr lang="zh-CN" altLang="en-US" sz="1400" dirty="0"/>
              <a:t>标签在</a:t>
            </a:r>
            <a:r>
              <a:rPr lang="en-US" altLang="zh-CN" sz="1400" dirty="0"/>
              <a:t>SoC</a:t>
            </a:r>
            <a:r>
              <a:rPr lang="zh-CN" altLang="en-US" sz="1400" dirty="0"/>
              <a:t>中不断进行传递</a:t>
            </a:r>
            <a:endParaRPr lang="en-US" altLang="zh-CN" sz="1800" dirty="0"/>
          </a:p>
          <a:p>
            <a:endParaRPr lang="en-US" altLang="zh-CN" sz="1800" dirty="0"/>
          </a:p>
          <a:p>
            <a:pPr lvl="1"/>
            <a:endParaRPr lang="en-US" altLang="zh-CN" sz="1800" dirty="0"/>
          </a:p>
          <a:p>
            <a:pPr marL="457200" lvl="1" indent="0">
              <a:buNone/>
            </a:pPr>
            <a:endParaRPr lang="en-US" altLang="zh-CN" sz="1800" dirty="0"/>
          </a:p>
          <a:p>
            <a:pPr lvl="1"/>
            <a:endParaRPr lang="en-US" altLang="zh-CN" sz="1800" dirty="0"/>
          </a:p>
          <a:p>
            <a:pPr lvl="1"/>
            <a:endParaRPr lang="en-US" altLang="zh-CN" sz="1600" dirty="0"/>
          </a:p>
          <a:p>
            <a:endParaRPr lang="en-US" altLang="zh-CN" sz="2200" dirty="0"/>
          </a:p>
          <a:p>
            <a:pPr lvl="1"/>
            <a:endParaRPr lang="en-US" altLang="zh-CN" sz="1800" dirty="0"/>
          </a:p>
          <a:p>
            <a:endParaRPr lang="en-US" altLang="zh-CN" sz="1800" dirty="0"/>
          </a:p>
          <a:p>
            <a:pPr marL="514350" lvl="1" indent="0">
              <a:buNone/>
            </a:pPr>
            <a:endParaRPr lang="en" altLang="zh-CN" sz="2000" dirty="0"/>
          </a:p>
          <a:p>
            <a:endParaRPr lang="en" altLang="zh-CN" sz="2000" dirty="0"/>
          </a:p>
          <a:p>
            <a:endParaRPr lang="en-US" altLang="zh-CN" sz="2000" dirty="0"/>
          </a:p>
          <a:p>
            <a:pPr lvl="1"/>
            <a:endParaRPr lang="en" altLang="zh-CN" sz="1800" dirty="0"/>
          </a:p>
          <a:p>
            <a:pPr lvl="1"/>
            <a:endParaRPr lang="en" altLang="zh-CN" sz="1800" dirty="0"/>
          </a:p>
          <a:p>
            <a:pPr lvl="1"/>
            <a:endParaRPr lang="en-US" altLang="zh-CN" sz="1800" dirty="0"/>
          </a:p>
          <a:p>
            <a:pPr marL="457200" lvl="1" indent="0">
              <a:buNone/>
            </a:pPr>
            <a:endParaRPr lang="en" altLang="zh-CN" sz="1800" dirty="0"/>
          </a:p>
          <a:p>
            <a:endParaRPr lang="en" altLang="zh-CN" sz="2000" dirty="0"/>
          </a:p>
          <a:p>
            <a:pPr lvl="1"/>
            <a:endParaRPr lang="en-US" altLang="zh-CN" sz="1800" dirty="0"/>
          </a:p>
          <a:p>
            <a:pPr lvl="1"/>
            <a:endParaRPr lang="en-US" altLang="zh-CN" sz="1800" dirty="0"/>
          </a:p>
          <a:p>
            <a:pPr lvl="1"/>
            <a:endParaRPr lang="en" altLang="zh-CN" sz="1800" dirty="0"/>
          </a:p>
          <a:p>
            <a:endParaRPr lang="en-US" altLang="zh-CN" sz="2000" dirty="0"/>
          </a:p>
          <a:p>
            <a:pPr lvl="2">
              <a:lnSpc>
                <a:spcPct val="130000"/>
              </a:lnSpc>
            </a:pPr>
            <a:endParaRPr lang="en" altLang="zh-CN" sz="1400" dirty="0"/>
          </a:p>
          <a:p>
            <a:pPr lvl="1">
              <a:lnSpc>
                <a:spcPct val="130000"/>
              </a:lnSpc>
            </a:pPr>
            <a:endParaRPr lang="en" altLang="zh-CN" sz="1800" dirty="0"/>
          </a:p>
          <a:p>
            <a:endParaRPr lang="en-US" altLang="zh-CN" sz="2400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5D6691F9-B179-574C-B6CD-B99AA40A7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kumimoji="1" lang="zh-CN" altLang="en-US" sz="2600" dirty="0"/>
              <a:t>物理内存检查模块</a:t>
            </a:r>
            <a:r>
              <a:rPr kumimoji="1" lang="en-US" altLang="zh-CN" sz="2600" dirty="0"/>
              <a:t>Granule Protection Check (GPC)</a:t>
            </a:r>
            <a:endParaRPr kumimoji="1" lang="zh-CN" altLang="en-US" sz="26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6A4D391-AEDD-6A43-BFE9-005F1220B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</a:t>
            </a:fld>
            <a:endParaRPr lang="zh-CN" altLang="en-US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6088C94B-9214-5EC4-501B-B452550C6B2A}"/>
              </a:ext>
            </a:extLst>
          </p:cNvPr>
          <p:cNvGrpSpPr/>
          <p:nvPr/>
        </p:nvGrpSpPr>
        <p:grpSpPr>
          <a:xfrm>
            <a:off x="827584" y="2544499"/>
            <a:ext cx="7200797" cy="3056732"/>
            <a:chOff x="426349" y="1468334"/>
            <a:chExt cx="8637313" cy="3666532"/>
          </a:xfrm>
        </p:grpSpPr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D448B015-DB45-B743-A42C-1ED4C448B189}"/>
                </a:ext>
              </a:extLst>
            </p:cNvPr>
            <p:cNvSpPr/>
            <p:nvPr/>
          </p:nvSpPr>
          <p:spPr>
            <a:xfrm>
              <a:off x="4764782" y="1468334"/>
              <a:ext cx="2304256" cy="104149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4065E289-00E7-1B45-B1EB-73681A9E6E1C}"/>
                </a:ext>
              </a:extLst>
            </p:cNvPr>
            <p:cNvSpPr/>
            <p:nvPr/>
          </p:nvSpPr>
          <p:spPr>
            <a:xfrm>
              <a:off x="4842751" y="2046179"/>
              <a:ext cx="944488" cy="32388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724BCD85-CBFA-7E4E-BEE6-EF2CD68AA485}"/>
                </a:ext>
              </a:extLst>
            </p:cNvPr>
            <p:cNvSpPr/>
            <p:nvPr/>
          </p:nvSpPr>
          <p:spPr>
            <a:xfrm>
              <a:off x="4842751" y="2046179"/>
              <a:ext cx="354079" cy="32388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600" dirty="0"/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150E84BE-12FD-2144-A6B7-550312F47464}"/>
                </a:ext>
              </a:extLst>
            </p:cNvPr>
            <p:cNvSpPr/>
            <p:nvPr/>
          </p:nvSpPr>
          <p:spPr>
            <a:xfrm>
              <a:off x="5922780" y="2046178"/>
              <a:ext cx="858226" cy="32388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000" dirty="0"/>
                <a:t>GPC</a:t>
              </a:r>
              <a:endParaRPr kumimoji="1" lang="zh-CN" altLang="en-US" sz="900" dirty="0"/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3A6890A2-D48E-814B-8C71-2AB4DA995603}"/>
                </a:ext>
              </a:extLst>
            </p:cNvPr>
            <p:cNvSpPr txBox="1"/>
            <p:nvPr/>
          </p:nvSpPr>
          <p:spPr>
            <a:xfrm>
              <a:off x="5164342" y="2034450"/>
              <a:ext cx="690667" cy="3045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050" dirty="0"/>
                <a:t>Cache</a:t>
              </a:r>
              <a:endParaRPr kumimoji="1" lang="zh-CN" altLang="en-US" sz="1050" dirty="0"/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DC0963BA-B5FD-7D48-A3AB-D38B7C84FA1C}"/>
                </a:ext>
              </a:extLst>
            </p:cNvPr>
            <p:cNvSpPr/>
            <p:nvPr/>
          </p:nvSpPr>
          <p:spPr>
            <a:xfrm>
              <a:off x="5915362" y="1607199"/>
              <a:ext cx="858226" cy="32388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400" dirty="0">
                  <a:solidFill>
                    <a:schemeClr val="tx1"/>
                  </a:solidFill>
                </a:rPr>
                <a:t>MMU</a:t>
              </a:r>
              <a:endParaRPr kumimoji="1" lang="zh-CN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95AD153A-47E4-E246-AAF2-C5A202B1185E}"/>
                </a:ext>
              </a:extLst>
            </p:cNvPr>
            <p:cNvSpPr/>
            <p:nvPr/>
          </p:nvSpPr>
          <p:spPr>
            <a:xfrm>
              <a:off x="4854429" y="1537853"/>
              <a:ext cx="686822" cy="3691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en-US" altLang="zh-CN" sz="1400" dirty="0"/>
                <a:t>Core</a:t>
              </a:r>
              <a:endParaRPr lang="zh-CN" altLang="en-US" sz="1400" dirty="0"/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332BB008-D6C1-E04D-BEB3-8BAB332BC64C}"/>
                </a:ext>
              </a:extLst>
            </p:cNvPr>
            <p:cNvSpPr/>
            <p:nvPr/>
          </p:nvSpPr>
          <p:spPr>
            <a:xfrm>
              <a:off x="2014365" y="1468334"/>
              <a:ext cx="2304256" cy="104149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C2BF6E70-576E-DA40-9710-62C550A555D0}"/>
                </a:ext>
              </a:extLst>
            </p:cNvPr>
            <p:cNvSpPr/>
            <p:nvPr/>
          </p:nvSpPr>
          <p:spPr>
            <a:xfrm>
              <a:off x="2188059" y="1546909"/>
              <a:ext cx="869825" cy="42544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7C305D3C-87D3-694B-8DD0-315435D3BC4F}"/>
                </a:ext>
              </a:extLst>
            </p:cNvPr>
            <p:cNvSpPr txBox="1"/>
            <p:nvPr/>
          </p:nvSpPr>
          <p:spPr>
            <a:xfrm>
              <a:off x="2227645" y="1509152"/>
              <a:ext cx="790652" cy="4799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zh-CN" sz="1000" dirty="0"/>
                <a:t>On</a:t>
              </a:r>
              <a:r>
                <a:rPr kumimoji="1" lang="zh-CN" altLang="en-US" sz="1000" dirty="0"/>
                <a:t> </a:t>
              </a:r>
              <a:r>
                <a:rPr kumimoji="1" lang="en-US" altLang="zh-CN" sz="1000" dirty="0"/>
                <a:t>chip</a:t>
              </a:r>
              <a:r>
                <a:rPr kumimoji="1" lang="zh-CN" altLang="en-US" sz="1000" dirty="0"/>
                <a:t> </a:t>
              </a:r>
              <a:endParaRPr kumimoji="1" lang="en-US" altLang="zh-CN" sz="1000" dirty="0"/>
            </a:p>
            <a:p>
              <a:pPr algn="ctr"/>
              <a:r>
                <a:rPr kumimoji="1" lang="en-US" altLang="zh-CN" sz="1000" dirty="0"/>
                <a:t>device</a:t>
              </a:r>
              <a:endParaRPr kumimoji="1" lang="zh-CN" altLang="en-US" sz="1000" dirty="0"/>
            </a:p>
          </p:txBody>
        </p:sp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00ABEC66-3CFA-A442-89E7-EDE6B9BBD58B}"/>
                </a:ext>
              </a:extLst>
            </p:cNvPr>
            <p:cNvSpPr/>
            <p:nvPr/>
          </p:nvSpPr>
          <p:spPr>
            <a:xfrm>
              <a:off x="3231662" y="1546909"/>
              <a:ext cx="869825" cy="42544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ACB5AE13-43CA-7148-A1E6-9BFAB46FA0BF}"/>
                </a:ext>
              </a:extLst>
            </p:cNvPr>
            <p:cNvSpPr txBox="1"/>
            <p:nvPr/>
          </p:nvSpPr>
          <p:spPr>
            <a:xfrm>
              <a:off x="3342011" y="1599940"/>
              <a:ext cx="617601" cy="3138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zh-CN" sz="1050" dirty="0"/>
                <a:t>PCIE</a:t>
              </a:r>
              <a:endParaRPr kumimoji="1" lang="zh-CN" altLang="en-US" sz="1050" dirty="0"/>
            </a:p>
          </p:txBody>
        </p:sp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8248DD0F-3C84-0946-AD02-A461BD5696A0}"/>
                </a:ext>
              </a:extLst>
            </p:cNvPr>
            <p:cNvSpPr/>
            <p:nvPr/>
          </p:nvSpPr>
          <p:spPr>
            <a:xfrm>
              <a:off x="2188059" y="2079549"/>
              <a:ext cx="1913427" cy="32388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200" dirty="0">
                  <a:solidFill>
                    <a:schemeClr val="tx1"/>
                  </a:solidFill>
                </a:rPr>
                <a:t>SMMU</a:t>
              </a:r>
              <a:endParaRPr kumimoji="1" lang="zh-CN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00F7BEB3-6E3E-1C41-AE97-43C5AE87E867}"/>
                </a:ext>
              </a:extLst>
            </p:cNvPr>
            <p:cNvSpPr/>
            <p:nvPr/>
          </p:nvSpPr>
          <p:spPr>
            <a:xfrm>
              <a:off x="3514312" y="2098643"/>
              <a:ext cx="587173" cy="29783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000" dirty="0"/>
                <a:t>GPC</a:t>
              </a:r>
              <a:endParaRPr kumimoji="1" lang="zh-CN" altLang="en-US" sz="700" dirty="0"/>
            </a:p>
          </p:txBody>
        </p:sp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50E44C7C-154D-344B-A328-F16CEF6C1F41}"/>
                </a:ext>
              </a:extLst>
            </p:cNvPr>
            <p:cNvSpPr/>
            <p:nvPr/>
          </p:nvSpPr>
          <p:spPr>
            <a:xfrm>
              <a:off x="2014365" y="2857500"/>
              <a:ext cx="5054673" cy="43204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3A8F76D3-8072-E54D-BE62-90BE17BFB7BA}"/>
                </a:ext>
              </a:extLst>
            </p:cNvPr>
            <p:cNvSpPr txBox="1"/>
            <p:nvPr/>
          </p:nvSpPr>
          <p:spPr>
            <a:xfrm>
              <a:off x="3666314" y="2913105"/>
              <a:ext cx="1449187" cy="3691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400" dirty="0"/>
                <a:t>System</a:t>
              </a:r>
              <a:r>
                <a:rPr kumimoji="1" lang="zh-CN" altLang="en-US" sz="1400" dirty="0"/>
                <a:t> </a:t>
              </a:r>
              <a:r>
                <a:rPr kumimoji="1" lang="en-US" altLang="zh-CN" sz="1400" dirty="0"/>
                <a:t>bus</a:t>
              </a:r>
              <a:endParaRPr kumimoji="1" lang="zh-CN" altLang="en-US" sz="1400" dirty="0"/>
            </a:p>
          </p:txBody>
        </p:sp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C0D19400-2AC9-E54C-85FC-6FC0E2585868}"/>
                </a:ext>
              </a:extLst>
            </p:cNvPr>
            <p:cNvSpPr/>
            <p:nvPr/>
          </p:nvSpPr>
          <p:spPr>
            <a:xfrm>
              <a:off x="6596049" y="3649616"/>
              <a:ext cx="2467613" cy="109249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8BBE5312-A2E3-1F4C-8CD6-86B216B010CE}"/>
                </a:ext>
              </a:extLst>
            </p:cNvPr>
            <p:cNvSpPr/>
            <p:nvPr/>
          </p:nvSpPr>
          <p:spPr>
            <a:xfrm>
              <a:off x="7854441" y="3711757"/>
              <a:ext cx="868880" cy="26435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900" dirty="0"/>
                <a:t>PAS</a:t>
              </a:r>
              <a:r>
                <a:rPr kumimoji="1" lang="zh-CN" altLang="en-US" sz="900" dirty="0"/>
                <a:t> </a:t>
              </a:r>
              <a:r>
                <a:rPr kumimoji="1" lang="en-US" altLang="zh-CN" sz="900" dirty="0"/>
                <a:t>filter</a:t>
              </a:r>
              <a:endParaRPr kumimoji="1" lang="zh-CN" altLang="en-US" sz="900" dirty="0"/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921A7763-4F28-C446-A443-C9F21C16AE9B}"/>
                </a:ext>
              </a:extLst>
            </p:cNvPr>
            <p:cNvSpPr txBox="1"/>
            <p:nvPr/>
          </p:nvSpPr>
          <p:spPr>
            <a:xfrm>
              <a:off x="6596049" y="3714194"/>
              <a:ext cx="1449187" cy="3138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50" dirty="0"/>
                <a:t>P</a:t>
              </a:r>
              <a:r>
                <a:rPr lang="en" altLang="zh-CN" sz="1050" dirty="0" err="1"/>
                <a:t>eripheral</a:t>
              </a:r>
              <a:r>
                <a:rPr kumimoji="1" lang="zh-CN" altLang="en-US" sz="1050" dirty="0"/>
                <a:t> </a:t>
              </a:r>
              <a:r>
                <a:rPr kumimoji="1" lang="en-US" altLang="zh-CN" sz="1050" dirty="0"/>
                <a:t>bus</a:t>
              </a:r>
              <a:endParaRPr kumimoji="1" lang="zh-CN" altLang="en-US" sz="1050" dirty="0"/>
            </a:p>
          </p:txBody>
        </p:sp>
        <p:cxnSp>
          <p:nvCxnSpPr>
            <p:cNvPr id="46" name="直线连接符 45">
              <a:extLst>
                <a:ext uri="{FF2B5EF4-FFF2-40B4-BE49-F238E27FC236}">
                  <a16:creationId xmlns:a16="http://schemas.microsoft.com/office/drawing/2014/main" id="{5687306A-2B55-A842-A171-B7425D84F9DC}"/>
                </a:ext>
              </a:extLst>
            </p:cNvPr>
            <p:cNvCxnSpPr/>
            <p:nvPr/>
          </p:nvCxnSpPr>
          <p:spPr>
            <a:xfrm>
              <a:off x="7664557" y="4040453"/>
              <a:ext cx="0" cy="593465"/>
            </a:xfrm>
            <a:prstGeom prst="line">
              <a:avLst/>
            </a:prstGeom>
            <a:ln w="25400"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A659DE70-AD37-B146-9739-FA533EEE0122}"/>
                </a:ext>
              </a:extLst>
            </p:cNvPr>
            <p:cNvSpPr/>
            <p:nvPr/>
          </p:nvSpPr>
          <p:spPr>
            <a:xfrm>
              <a:off x="6836354" y="4067954"/>
              <a:ext cx="587898" cy="23843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sp>
          <p:nvSpPr>
            <p:cNvPr id="48" name="矩形 47">
              <a:extLst>
                <a:ext uri="{FF2B5EF4-FFF2-40B4-BE49-F238E27FC236}">
                  <a16:creationId xmlns:a16="http://schemas.microsoft.com/office/drawing/2014/main" id="{56D350CF-4B9C-E843-999E-928B486DD554}"/>
                </a:ext>
              </a:extLst>
            </p:cNvPr>
            <p:cNvSpPr/>
            <p:nvPr/>
          </p:nvSpPr>
          <p:spPr>
            <a:xfrm>
              <a:off x="6836354" y="4407442"/>
              <a:ext cx="587898" cy="23843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sp>
          <p:nvSpPr>
            <p:cNvPr id="49" name="矩形 48">
              <a:extLst>
                <a:ext uri="{FF2B5EF4-FFF2-40B4-BE49-F238E27FC236}">
                  <a16:creationId xmlns:a16="http://schemas.microsoft.com/office/drawing/2014/main" id="{26F678A6-2658-FF4D-B89A-98828B2372F5}"/>
                </a:ext>
              </a:extLst>
            </p:cNvPr>
            <p:cNvSpPr/>
            <p:nvPr/>
          </p:nvSpPr>
          <p:spPr>
            <a:xfrm>
              <a:off x="7988482" y="4106358"/>
              <a:ext cx="587898" cy="238437"/>
            </a:xfrm>
            <a:prstGeom prst="rect">
              <a:avLst/>
            </a:prstGeom>
            <a:pattFill prst="sphere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sp>
          <p:nvSpPr>
            <p:cNvPr id="50" name="矩形 49">
              <a:extLst>
                <a:ext uri="{FF2B5EF4-FFF2-40B4-BE49-F238E27FC236}">
                  <a16:creationId xmlns:a16="http://schemas.microsoft.com/office/drawing/2014/main" id="{A0EA2DD9-A9D9-AF46-B43E-88EB3939A90C}"/>
                </a:ext>
              </a:extLst>
            </p:cNvPr>
            <p:cNvSpPr/>
            <p:nvPr/>
          </p:nvSpPr>
          <p:spPr>
            <a:xfrm>
              <a:off x="7988482" y="4424232"/>
              <a:ext cx="587898" cy="238437"/>
            </a:xfrm>
            <a:prstGeom prst="rect">
              <a:avLst/>
            </a:prstGeom>
            <a:pattFill prst="sphere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cxnSp>
          <p:nvCxnSpPr>
            <p:cNvPr id="52" name="肘形连接符 51">
              <a:extLst>
                <a:ext uri="{FF2B5EF4-FFF2-40B4-BE49-F238E27FC236}">
                  <a16:creationId xmlns:a16="http://schemas.microsoft.com/office/drawing/2014/main" id="{79A139BB-01E1-0348-9DEA-A6DA48617DEA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6569189" y="3328806"/>
              <a:ext cx="347670" cy="293949"/>
            </a:xfrm>
            <a:prstGeom prst="bentConnector3">
              <a:avLst/>
            </a:prstGeom>
            <a:ln w="2222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矩形 52">
              <a:extLst>
                <a:ext uri="{FF2B5EF4-FFF2-40B4-BE49-F238E27FC236}">
                  <a16:creationId xmlns:a16="http://schemas.microsoft.com/office/drawing/2014/main" id="{04EA892A-F6DA-D545-A467-B22B4C6CF1DD}"/>
                </a:ext>
              </a:extLst>
            </p:cNvPr>
            <p:cNvSpPr/>
            <p:nvPr/>
          </p:nvSpPr>
          <p:spPr>
            <a:xfrm>
              <a:off x="543264" y="3847632"/>
              <a:ext cx="950339" cy="32388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BB892C56-6280-2F4C-8A21-968264AD0268}"/>
                </a:ext>
              </a:extLst>
            </p:cNvPr>
            <p:cNvSpPr/>
            <p:nvPr/>
          </p:nvSpPr>
          <p:spPr>
            <a:xfrm>
              <a:off x="1578477" y="3831206"/>
              <a:ext cx="554327" cy="32388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000" dirty="0"/>
                <a:t>GPC</a:t>
              </a:r>
              <a:endParaRPr kumimoji="1" lang="zh-CN" altLang="en-US" sz="700" dirty="0"/>
            </a:p>
          </p:txBody>
        </p:sp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291E0E40-5890-F548-99DB-0285E7845BFF}"/>
                </a:ext>
              </a:extLst>
            </p:cNvPr>
            <p:cNvSpPr txBox="1"/>
            <p:nvPr/>
          </p:nvSpPr>
          <p:spPr>
            <a:xfrm>
              <a:off x="556540" y="3823871"/>
              <a:ext cx="950339" cy="3322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Device</a:t>
              </a:r>
              <a:endParaRPr kumimoji="1" lang="zh-CN" altLang="en-US" sz="1200" dirty="0"/>
            </a:p>
          </p:txBody>
        </p:sp>
        <p:sp>
          <p:nvSpPr>
            <p:cNvPr id="59" name="矩形 58">
              <a:extLst>
                <a:ext uri="{FF2B5EF4-FFF2-40B4-BE49-F238E27FC236}">
                  <a16:creationId xmlns:a16="http://schemas.microsoft.com/office/drawing/2014/main" id="{DCE88643-0FA2-BE4B-BEA3-ED7D50B4DC18}"/>
                </a:ext>
              </a:extLst>
            </p:cNvPr>
            <p:cNvSpPr/>
            <p:nvPr/>
          </p:nvSpPr>
          <p:spPr>
            <a:xfrm>
              <a:off x="543264" y="4322861"/>
              <a:ext cx="950339" cy="32388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0" name="矩形 59">
              <a:extLst>
                <a:ext uri="{FF2B5EF4-FFF2-40B4-BE49-F238E27FC236}">
                  <a16:creationId xmlns:a16="http://schemas.microsoft.com/office/drawing/2014/main" id="{2319B9BF-EFDC-EA45-BF8C-3ECA9C770436}"/>
                </a:ext>
              </a:extLst>
            </p:cNvPr>
            <p:cNvSpPr/>
            <p:nvPr/>
          </p:nvSpPr>
          <p:spPr>
            <a:xfrm>
              <a:off x="1578477" y="4306435"/>
              <a:ext cx="554327" cy="32388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000" dirty="0"/>
                <a:t>GPC</a:t>
              </a:r>
              <a:endParaRPr kumimoji="1" lang="zh-CN" altLang="en-US" sz="700" dirty="0"/>
            </a:p>
          </p:txBody>
        </p:sp>
        <p:sp>
          <p:nvSpPr>
            <p:cNvPr id="61" name="文本框 60">
              <a:extLst>
                <a:ext uri="{FF2B5EF4-FFF2-40B4-BE49-F238E27FC236}">
                  <a16:creationId xmlns:a16="http://schemas.microsoft.com/office/drawing/2014/main" id="{5B2C522D-0451-4347-B514-A7093DB9F79B}"/>
                </a:ext>
              </a:extLst>
            </p:cNvPr>
            <p:cNvSpPr txBox="1"/>
            <p:nvPr/>
          </p:nvSpPr>
          <p:spPr>
            <a:xfrm>
              <a:off x="556540" y="4299099"/>
              <a:ext cx="95033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200" dirty="0"/>
                <a:t>Device</a:t>
              </a:r>
              <a:endParaRPr kumimoji="1" lang="zh-CN" altLang="en-US" sz="1200" dirty="0"/>
            </a:p>
          </p:txBody>
        </p:sp>
        <p:sp>
          <p:nvSpPr>
            <p:cNvPr id="62" name="矩形 61">
              <a:extLst>
                <a:ext uri="{FF2B5EF4-FFF2-40B4-BE49-F238E27FC236}">
                  <a16:creationId xmlns:a16="http://schemas.microsoft.com/office/drawing/2014/main" id="{D34D68EB-EF68-4749-9AC3-B5A0255BA75A}"/>
                </a:ext>
              </a:extLst>
            </p:cNvPr>
            <p:cNvSpPr/>
            <p:nvPr/>
          </p:nvSpPr>
          <p:spPr>
            <a:xfrm>
              <a:off x="426349" y="3760190"/>
              <a:ext cx="1818153" cy="98396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cxnSp>
          <p:nvCxnSpPr>
            <p:cNvPr id="57" name="肘形连接符 56">
              <a:extLst>
                <a:ext uri="{FF2B5EF4-FFF2-40B4-BE49-F238E27FC236}">
                  <a16:creationId xmlns:a16="http://schemas.microsoft.com/office/drawing/2014/main" id="{01368362-5199-784E-AF9F-30C6925299A9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010025" y="3294216"/>
              <a:ext cx="470315" cy="461633"/>
            </a:xfrm>
            <a:prstGeom prst="bentConnector3">
              <a:avLst/>
            </a:prstGeom>
            <a:ln w="22225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矩形 64">
              <a:extLst>
                <a:ext uri="{FF2B5EF4-FFF2-40B4-BE49-F238E27FC236}">
                  <a16:creationId xmlns:a16="http://schemas.microsoft.com/office/drawing/2014/main" id="{D60627B6-64B3-B449-92C0-D36D9C582368}"/>
                </a:ext>
              </a:extLst>
            </p:cNvPr>
            <p:cNvSpPr/>
            <p:nvPr/>
          </p:nvSpPr>
          <p:spPr>
            <a:xfrm>
              <a:off x="3938184" y="3745765"/>
              <a:ext cx="1168907" cy="42574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7" name="文本框 66">
              <a:extLst>
                <a:ext uri="{FF2B5EF4-FFF2-40B4-BE49-F238E27FC236}">
                  <a16:creationId xmlns:a16="http://schemas.microsoft.com/office/drawing/2014/main" id="{FDC9D5A3-139A-934F-A26D-A10101BE6EA9}"/>
                </a:ext>
              </a:extLst>
            </p:cNvPr>
            <p:cNvSpPr txBox="1"/>
            <p:nvPr/>
          </p:nvSpPr>
          <p:spPr>
            <a:xfrm>
              <a:off x="4187150" y="3790501"/>
              <a:ext cx="621608" cy="3138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100" dirty="0"/>
                <a:t>MPE</a:t>
              </a:r>
              <a:endParaRPr kumimoji="1" lang="zh-CN" altLang="en-US" sz="1100" dirty="0"/>
            </a:p>
          </p:txBody>
        </p:sp>
        <p:cxnSp>
          <p:nvCxnSpPr>
            <p:cNvPr id="68" name="肘形连接符 67">
              <a:extLst>
                <a:ext uri="{FF2B5EF4-FFF2-40B4-BE49-F238E27FC236}">
                  <a16:creationId xmlns:a16="http://schemas.microsoft.com/office/drawing/2014/main" id="{C9B53F94-E749-754E-9069-EAB7B5AB0A2C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4320903" y="3539391"/>
              <a:ext cx="441599" cy="2"/>
            </a:xfrm>
            <a:prstGeom prst="bentConnector3">
              <a:avLst/>
            </a:prstGeom>
            <a:ln w="2222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矩形 69">
              <a:extLst>
                <a:ext uri="{FF2B5EF4-FFF2-40B4-BE49-F238E27FC236}">
                  <a16:creationId xmlns:a16="http://schemas.microsoft.com/office/drawing/2014/main" id="{DBA06169-905A-BF45-B710-AB403C703E27}"/>
                </a:ext>
              </a:extLst>
            </p:cNvPr>
            <p:cNvSpPr/>
            <p:nvPr/>
          </p:nvSpPr>
          <p:spPr>
            <a:xfrm>
              <a:off x="3597373" y="4415342"/>
              <a:ext cx="1926763" cy="719524"/>
            </a:xfrm>
            <a:prstGeom prst="rect">
              <a:avLst/>
            </a:prstGeom>
            <a:pattFill prst="pct5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72" name="文本框 71">
              <a:extLst>
                <a:ext uri="{FF2B5EF4-FFF2-40B4-BE49-F238E27FC236}">
                  <a16:creationId xmlns:a16="http://schemas.microsoft.com/office/drawing/2014/main" id="{9C5CE35F-15AF-C74F-B503-F1F5DA03B6B4}"/>
                </a:ext>
              </a:extLst>
            </p:cNvPr>
            <p:cNvSpPr txBox="1"/>
            <p:nvPr/>
          </p:nvSpPr>
          <p:spPr>
            <a:xfrm>
              <a:off x="3741452" y="4598951"/>
              <a:ext cx="1638605" cy="3138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100" dirty="0"/>
                <a:t>Encrypted</a:t>
              </a:r>
              <a:r>
                <a:rPr kumimoji="1" lang="zh-CN" altLang="en-US" sz="1100" dirty="0"/>
                <a:t> </a:t>
              </a:r>
              <a:r>
                <a:rPr kumimoji="1" lang="en-US" altLang="zh-CN" sz="1100" dirty="0"/>
                <a:t>memory</a:t>
              </a:r>
              <a:endParaRPr kumimoji="1" lang="zh-CN" altLang="en-US" sz="1100" dirty="0"/>
            </a:p>
          </p:txBody>
        </p:sp>
        <p:pic>
          <p:nvPicPr>
            <p:cNvPr id="76" name="图形 75" descr="钥匙 纯色填充">
              <a:extLst>
                <a:ext uri="{FF2B5EF4-FFF2-40B4-BE49-F238E27FC236}">
                  <a16:creationId xmlns:a16="http://schemas.microsoft.com/office/drawing/2014/main" id="{8487BEB4-71ED-554D-90FF-661041A5CB6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5257723" y="4187172"/>
              <a:ext cx="311154" cy="311154"/>
            </a:xfrm>
            <a:prstGeom prst="rect">
              <a:avLst/>
            </a:prstGeom>
          </p:spPr>
        </p:pic>
        <p:sp>
          <p:nvSpPr>
            <p:cNvPr id="78" name="矩形 77">
              <a:extLst>
                <a:ext uri="{FF2B5EF4-FFF2-40B4-BE49-F238E27FC236}">
                  <a16:creationId xmlns:a16="http://schemas.microsoft.com/office/drawing/2014/main" id="{A7B2211B-C80B-1B48-878E-AA4F1AE78A01}"/>
                </a:ext>
              </a:extLst>
            </p:cNvPr>
            <p:cNvSpPr/>
            <p:nvPr/>
          </p:nvSpPr>
          <p:spPr>
            <a:xfrm>
              <a:off x="6102398" y="2902743"/>
              <a:ext cx="901603" cy="32388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000" dirty="0"/>
                <a:t>PAS</a:t>
              </a:r>
              <a:r>
                <a:rPr kumimoji="1" lang="zh-CN" altLang="en-US" sz="1000" dirty="0"/>
                <a:t> </a:t>
              </a:r>
              <a:r>
                <a:rPr kumimoji="1" lang="en-US" altLang="zh-CN" sz="1000" dirty="0"/>
                <a:t>TAG</a:t>
              </a:r>
              <a:endParaRPr kumimoji="1" lang="zh-CN" altLang="en-US" sz="1000" dirty="0"/>
            </a:p>
          </p:txBody>
        </p:sp>
      </p:grpSp>
      <p:sp>
        <p:nvSpPr>
          <p:cNvPr id="5" name="矩形 4">
            <a:extLst>
              <a:ext uri="{FF2B5EF4-FFF2-40B4-BE49-F238E27FC236}">
                <a16:creationId xmlns:a16="http://schemas.microsoft.com/office/drawing/2014/main" id="{9C46EFE9-DE38-D085-431E-75E834FCD5A6}"/>
              </a:ext>
            </a:extLst>
          </p:cNvPr>
          <p:cNvSpPr/>
          <p:nvPr/>
        </p:nvSpPr>
        <p:spPr>
          <a:xfrm>
            <a:off x="7698554" y="4743779"/>
            <a:ext cx="253415" cy="19878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6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4AE072C-39AC-5817-CCBB-40DC60847E25}"/>
              </a:ext>
            </a:extLst>
          </p:cNvPr>
          <p:cNvSpPr txBox="1"/>
          <p:nvPr/>
        </p:nvSpPr>
        <p:spPr>
          <a:xfrm>
            <a:off x="7622142" y="4753974"/>
            <a:ext cx="406239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700" dirty="0">
                <a:solidFill>
                  <a:schemeClr val="bg1"/>
                </a:solidFill>
              </a:rPr>
              <a:t>TAG</a:t>
            </a:r>
            <a:endParaRPr kumimoji="1" lang="zh-CN" altLang="en-US" sz="700" dirty="0">
              <a:solidFill>
                <a:schemeClr val="bg1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B30C01E-5332-50DD-ABA7-1B66D680EFDB}"/>
              </a:ext>
            </a:extLst>
          </p:cNvPr>
          <p:cNvSpPr txBox="1"/>
          <p:nvPr/>
        </p:nvSpPr>
        <p:spPr>
          <a:xfrm>
            <a:off x="4440888" y="3055755"/>
            <a:ext cx="406239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700" dirty="0">
                <a:solidFill>
                  <a:schemeClr val="bg1"/>
                </a:solidFill>
              </a:rPr>
              <a:t>TAG</a:t>
            </a:r>
            <a:endParaRPr kumimoji="1" lang="zh-CN" altLang="en-US" sz="700" dirty="0">
              <a:solidFill>
                <a:schemeClr val="bg1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E1189AB-16CB-AF71-279B-2EE11DD9C922}"/>
              </a:ext>
            </a:extLst>
          </p:cNvPr>
          <p:cNvSpPr/>
          <p:nvPr/>
        </p:nvSpPr>
        <p:spPr>
          <a:xfrm>
            <a:off x="7698554" y="5011280"/>
            <a:ext cx="253415" cy="19878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600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C50C75F-13D8-C7FC-2750-185A83D14190}"/>
              </a:ext>
            </a:extLst>
          </p:cNvPr>
          <p:cNvSpPr txBox="1"/>
          <p:nvPr/>
        </p:nvSpPr>
        <p:spPr>
          <a:xfrm>
            <a:off x="7622142" y="5021475"/>
            <a:ext cx="406239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700" dirty="0">
                <a:solidFill>
                  <a:schemeClr val="bg1"/>
                </a:solidFill>
              </a:rPr>
              <a:t>TAG</a:t>
            </a:r>
            <a:endParaRPr kumimoji="1" lang="zh-CN" altLang="en-US" sz="700" dirty="0">
              <a:solidFill>
                <a:schemeClr val="bg1"/>
              </a:solidFill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00B7FA00-EA8E-2C04-CC32-B9A302857C81}"/>
              </a:ext>
            </a:extLst>
          </p:cNvPr>
          <p:cNvSpPr/>
          <p:nvPr/>
        </p:nvSpPr>
        <p:spPr>
          <a:xfrm>
            <a:off x="4167380" y="4795415"/>
            <a:ext cx="182222" cy="182222"/>
          </a:xfrm>
          <a:prstGeom prst="ellipse">
            <a:avLst/>
          </a:prstGeom>
          <a:solidFill>
            <a:srgbClr val="BE384B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16B50459-D7C5-7460-BE1C-D5BE1A3FDBC6}"/>
              </a:ext>
            </a:extLst>
          </p:cNvPr>
          <p:cNvSpPr txBox="1"/>
          <p:nvPr/>
        </p:nvSpPr>
        <p:spPr>
          <a:xfrm>
            <a:off x="992267" y="4042248"/>
            <a:ext cx="1159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/>
              <a:t>Master device without SMMU</a:t>
            </a:r>
            <a:endParaRPr lang="zh-CN" altLang="en-US" sz="1000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9960B0EC-0E58-8061-6C62-F874AA0D64D1}"/>
              </a:ext>
            </a:extLst>
          </p:cNvPr>
          <p:cNvSpPr txBox="1"/>
          <p:nvPr/>
        </p:nvSpPr>
        <p:spPr>
          <a:xfrm>
            <a:off x="6643529" y="4043773"/>
            <a:ext cx="9901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/>
              <a:t>Slave device</a:t>
            </a:r>
            <a:endParaRPr lang="zh-CN" altLang="en-US" sz="1000" dirty="0"/>
          </a:p>
        </p:txBody>
      </p:sp>
    </p:spTree>
    <p:extLst>
      <p:ext uri="{BB962C8B-B14F-4D97-AF65-F5344CB8AC3E}">
        <p14:creationId xmlns:p14="http://schemas.microsoft.com/office/powerpoint/2010/main" val="23888643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6691F9-B179-574C-B6CD-B99AA40A7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/>
              <a:t>GPT</a:t>
            </a:r>
            <a:r>
              <a:rPr kumimoji="1" lang="zh-CN" altLang="en-US" dirty="0"/>
              <a:t>的格式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6A4D391-AEDD-6A43-BFE9-005F1220B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11" name="内容占位符 2">
            <a:extLst>
              <a:ext uri="{FF2B5EF4-FFF2-40B4-BE49-F238E27FC236}">
                <a16:creationId xmlns:a16="http://schemas.microsoft.com/office/drawing/2014/main" id="{84B4641A-0B23-88D0-D306-F6B781D96E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0"/>
            <a:ext cx="8229600" cy="4152633"/>
          </a:xfrm>
        </p:spPr>
        <p:txBody>
          <a:bodyPr>
            <a:normAutofit/>
          </a:bodyPr>
          <a:lstStyle/>
          <a:p>
            <a:r>
              <a:rPr lang="zh-CN" altLang="en-US" sz="2000" dirty="0"/>
              <a:t>两层页表，存在不同的页表项格式</a:t>
            </a:r>
            <a:endParaRPr lang="en-US" altLang="zh-CN" sz="2000" dirty="0"/>
          </a:p>
          <a:p>
            <a:pPr lvl="1"/>
            <a:r>
              <a:rPr lang="en-US" altLang="zh-CN" sz="1600" dirty="0"/>
              <a:t>L0GPT Entry size</a:t>
            </a:r>
            <a:r>
              <a:rPr lang="zh-CN" altLang="en-US" sz="1600" dirty="0"/>
              <a:t>：</a:t>
            </a:r>
            <a:r>
              <a:rPr lang="en-US" altLang="zh-CN" sz="1600" dirty="0"/>
              <a:t>1G,</a:t>
            </a:r>
            <a:r>
              <a:rPr lang="zh-CN" altLang="en-US" sz="1600" dirty="0"/>
              <a:t> </a:t>
            </a:r>
            <a:r>
              <a:rPr lang="en-US" altLang="zh-CN" sz="1600" dirty="0"/>
              <a:t>16G, 64G, 512G</a:t>
            </a:r>
          </a:p>
          <a:p>
            <a:pPr lvl="1"/>
            <a:r>
              <a:rPr lang="en-US" altLang="zh-CN" sz="1600" dirty="0"/>
              <a:t>L1GPT Entry size</a:t>
            </a:r>
            <a:r>
              <a:rPr lang="zh-CN" altLang="en-US" sz="1600" dirty="0"/>
              <a:t>：</a:t>
            </a:r>
            <a:r>
              <a:rPr lang="en-US" altLang="zh-CN" sz="1600" dirty="0"/>
              <a:t>4K, 16K, 64K, 2M, 32M, 512M</a:t>
            </a:r>
          </a:p>
          <a:p>
            <a:pPr lvl="1"/>
            <a:endParaRPr lang="en-US" altLang="zh-CN" sz="1800" dirty="0"/>
          </a:p>
          <a:p>
            <a:endParaRPr lang="en-US" altLang="zh-CN" sz="1800" dirty="0"/>
          </a:p>
          <a:p>
            <a:pPr lvl="1"/>
            <a:endParaRPr lang="en-US" altLang="zh-CN" sz="1800" dirty="0"/>
          </a:p>
          <a:p>
            <a:pPr marL="457200" lvl="1" indent="0">
              <a:buNone/>
            </a:pPr>
            <a:endParaRPr lang="en-US" altLang="zh-CN" sz="1800" dirty="0"/>
          </a:p>
          <a:p>
            <a:pPr lvl="1"/>
            <a:endParaRPr lang="en-US" altLang="zh-CN" sz="1800" dirty="0"/>
          </a:p>
          <a:p>
            <a:pPr lvl="1"/>
            <a:endParaRPr lang="en-US" altLang="zh-CN" sz="1600" dirty="0"/>
          </a:p>
          <a:p>
            <a:endParaRPr lang="en-US" altLang="zh-CN" sz="2200" dirty="0"/>
          </a:p>
          <a:p>
            <a:pPr lvl="1"/>
            <a:endParaRPr lang="en-US" altLang="zh-CN" sz="1800" dirty="0"/>
          </a:p>
          <a:p>
            <a:endParaRPr lang="en-US" altLang="zh-CN" sz="1800" dirty="0"/>
          </a:p>
          <a:p>
            <a:pPr marL="514350" lvl="1" indent="0">
              <a:buNone/>
            </a:pPr>
            <a:endParaRPr lang="en" altLang="zh-CN" sz="2000" dirty="0"/>
          </a:p>
          <a:p>
            <a:endParaRPr lang="en" altLang="zh-CN" sz="2000" dirty="0"/>
          </a:p>
          <a:p>
            <a:endParaRPr lang="en-US" altLang="zh-CN" sz="2000" dirty="0"/>
          </a:p>
          <a:p>
            <a:pPr lvl="1"/>
            <a:endParaRPr lang="en" altLang="zh-CN" sz="1800" dirty="0"/>
          </a:p>
          <a:p>
            <a:pPr lvl="1"/>
            <a:endParaRPr lang="en" altLang="zh-CN" sz="1800" dirty="0"/>
          </a:p>
          <a:p>
            <a:pPr lvl="1"/>
            <a:endParaRPr lang="en-US" altLang="zh-CN" sz="1800" dirty="0"/>
          </a:p>
          <a:p>
            <a:pPr marL="457200" lvl="1" indent="0">
              <a:buNone/>
            </a:pPr>
            <a:endParaRPr lang="en" altLang="zh-CN" sz="1800" dirty="0"/>
          </a:p>
          <a:p>
            <a:endParaRPr lang="en" altLang="zh-CN" sz="2000" dirty="0"/>
          </a:p>
          <a:p>
            <a:pPr lvl="1"/>
            <a:endParaRPr lang="en-US" altLang="zh-CN" sz="1800" dirty="0"/>
          </a:p>
          <a:p>
            <a:pPr lvl="1"/>
            <a:endParaRPr lang="en-US" altLang="zh-CN" sz="1800" dirty="0"/>
          </a:p>
          <a:p>
            <a:pPr lvl="1"/>
            <a:endParaRPr lang="en" altLang="zh-CN" sz="1800" dirty="0"/>
          </a:p>
          <a:p>
            <a:endParaRPr lang="en-US" altLang="zh-CN" sz="2000" dirty="0"/>
          </a:p>
          <a:p>
            <a:pPr lvl="2">
              <a:lnSpc>
                <a:spcPct val="130000"/>
              </a:lnSpc>
            </a:pPr>
            <a:endParaRPr lang="en" altLang="zh-CN" sz="1400" dirty="0"/>
          </a:p>
          <a:p>
            <a:pPr lvl="1">
              <a:lnSpc>
                <a:spcPct val="130000"/>
              </a:lnSpc>
            </a:pPr>
            <a:endParaRPr lang="en" altLang="zh-CN" sz="1800" dirty="0"/>
          </a:p>
          <a:p>
            <a:endParaRPr lang="en-US" altLang="zh-CN" sz="2400" dirty="0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A8826E87-52D7-22D7-8F43-1266191BEF6C}"/>
              </a:ext>
            </a:extLst>
          </p:cNvPr>
          <p:cNvGrpSpPr/>
          <p:nvPr/>
        </p:nvGrpSpPr>
        <p:grpSpPr>
          <a:xfrm>
            <a:off x="1115616" y="3303272"/>
            <a:ext cx="784970" cy="1078228"/>
            <a:chOff x="5868144" y="3711437"/>
            <a:chExt cx="511174" cy="646180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FE30AFC1-C747-1E4B-C9B2-C5B29105FF4A}"/>
                </a:ext>
              </a:extLst>
            </p:cNvPr>
            <p:cNvSpPr/>
            <p:nvPr/>
          </p:nvSpPr>
          <p:spPr>
            <a:xfrm>
              <a:off x="5868144" y="3711437"/>
              <a:ext cx="504056" cy="64618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402BACD2-FD40-8C39-F8FE-6D03F1269C58}"/>
                </a:ext>
              </a:extLst>
            </p:cNvPr>
            <p:cNvCxnSpPr/>
            <p:nvPr/>
          </p:nvCxnSpPr>
          <p:spPr>
            <a:xfrm>
              <a:off x="5868144" y="3875485"/>
              <a:ext cx="509227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8F6B40C2-DE85-DCCA-8AD4-65CFC5DBFDA6}"/>
                </a:ext>
              </a:extLst>
            </p:cNvPr>
            <p:cNvCxnSpPr/>
            <p:nvPr/>
          </p:nvCxnSpPr>
          <p:spPr>
            <a:xfrm>
              <a:off x="5870091" y="4034527"/>
              <a:ext cx="509227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E0E987DB-BD08-BC1E-719F-14ABF7E71588}"/>
                </a:ext>
              </a:extLst>
            </p:cNvPr>
            <p:cNvCxnSpPr/>
            <p:nvPr/>
          </p:nvCxnSpPr>
          <p:spPr>
            <a:xfrm>
              <a:off x="5870091" y="4194000"/>
              <a:ext cx="509227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3B4987B1-7B6B-EC6C-72A5-5BD3EFBE48A4}"/>
              </a:ext>
            </a:extLst>
          </p:cNvPr>
          <p:cNvGrpSpPr/>
          <p:nvPr/>
        </p:nvGrpSpPr>
        <p:grpSpPr>
          <a:xfrm>
            <a:off x="2548658" y="3735320"/>
            <a:ext cx="784970" cy="1078228"/>
            <a:chOff x="5868144" y="3711437"/>
            <a:chExt cx="511174" cy="646180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2C10720F-215F-AA38-67B4-A1F9E02C0B2A}"/>
                </a:ext>
              </a:extLst>
            </p:cNvPr>
            <p:cNvSpPr/>
            <p:nvPr/>
          </p:nvSpPr>
          <p:spPr>
            <a:xfrm>
              <a:off x="5868144" y="3711437"/>
              <a:ext cx="504056" cy="64618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C8E4E784-DB3F-50C4-4D36-89A6122069D6}"/>
                </a:ext>
              </a:extLst>
            </p:cNvPr>
            <p:cNvCxnSpPr/>
            <p:nvPr/>
          </p:nvCxnSpPr>
          <p:spPr>
            <a:xfrm>
              <a:off x="5868144" y="3875485"/>
              <a:ext cx="509227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E7D7CDE8-F178-3F10-DADC-6CDA06535749}"/>
                </a:ext>
              </a:extLst>
            </p:cNvPr>
            <p:cNvCxnSpPr/>
            <p:nvPr/>
          </p:nvCxnSpPr>
          <p:spPr>
            <a:xfrm>
              <a:off x="5870091" y="4034527"/>
              <a:ext cx="509227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485034CA-E7FD-1E30-9F99-8D1E7ED92F39}"/>
                </a:ext>
              </a:extLst>
            </p:cNvPr>
            <p:cNvCxnSpPr/>
            <p:nvPr/>
          </p:nvCxnSpPr>
          <p:spPr>
            <a:xfrm>
              <a:off x="5870091" y="4194000"/>
              <a:ext cx="509227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1" name="连接符: 肘形 20">
            <a:extLst>
              <a:ext uri="{FF2B5EF4-FFF2-40B4-BE49-F238E27FC236}">
                <a16:creationId xmlns:a16="http://schemas.microsoft.com/office/drawing/2014/main" id="{F7146DF1-003D-D1A6-973D-493CDAB44C06}"/>
              </a:ext>
            </a:extLst>
          </p:cNvPr>
          <p:cNvCxnSpPr>
            <a:cxnSpLocks/>
          </p:cNvCxnSpPr>
          <p:nvPr/>
        </p:nvCxnSpPr>
        <p:spPr>
          <a:xfrm flipV="1">
            <a:off x="1884190" y="3735320"/>
            <a:ext cx="653537" cy="25806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>
            <a:extLst>
              <a:ext uri="{FF2B5EF4-FFF2-40B4-BE49-F238E27FC236}">
                <a16:creationId xmlns:a16="http://schemas.microsoft.com/office/drawing/2014/main" id="{0936A5BC-4872-CDB4-0058-B22909D3E342}"/>
              </a:ext>
            </a:extLst>
          </p:cNvPr>
          <p:cNvSpPr/>
          <p:nvPr/>
        </p:nvSpPr>
        <p:spPr>
          <a:xfrm>
            <a:off x="1166645" y="3024641"/>
            <a:ext cx="67197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dirty="0"/>
              <a:t>L0GPT</a:t>
            </a:r>
            <a:endParaRPr lang="zh-CN" altLang="en-US" sz="1200" dirty="0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764A48F-5F03-3968-FAAF-19C7FDCFC4A0}"/>
              </a:ext>
            </a:extLst>
          </p:cNvPr>
          <p:cNvSpPr/>
          <p:nvPr/>
        </p:nvSpPr>
        <p:spPr>
          <a:xfrm>
            <a:off x="2606648" y="3456689"/>
            <a:ext cx="67197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dirty="0"/>
              <a:t>L1GPT</a:t>
            </a:r>
            <a:endParaRPr lang="zh-CN" altLang="en-US" sz="1200" dirty="0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B084A16E-2004-6925-DE29-B89F9AE899D9}"/>
              </a:ext>
            </a:extLst>
          </p:cNvPr>
          <p:cNvSpPr txBox="1"/>
          <p:nvPr/>
        </p:nvSpPr>
        <p:spPr>
          <a:xfrm>
            <a:off x="3942508" y="2710192"/>
            <a:ext cx="4276299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altLang="zh-CN" sz="1200" b="1" i="0" dirty="0">
                <a:solidFill>
                  <a:srgbClr val="000000"/>
                </a:solidFill>
                <a:effectLst/>
                <a:latin typeface="NimbusSanL-Bold"/>
              </a:rPr>
              <a:t>GPT Granules descriptor</a:t>
            </a:r>
            <a:r>
              <a:rPr lang="en-US" altLang="zh-CN" sz="1200" dirty="0"/>
              <a:t>: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NimbusRomNo9L-Regu"/>
              </a:rPr>
              <a:t>8-byte 16 physical granules</a:t>
            </a:r>
          </a:p>
          <a:p>
            <a:pPr marL="342900" indent="-342900">
              <a:buFont typeface="+mj-lt"/>
              <a:buAutoNum type="arabicPeriod"/>
            </a:pPr>
            <a:endParaRPr lang="en-US" altLang="zh-CN" sz="1200" dirty="0">
              <a:solidFill>
                <a:srgbClr val="000000"/>
              </a:solidFill>
              <a:latin typeface="NimbusRomNo9L-Regu"/>
            </a:endParaRPr>
          </a:p>
          <a:p>
            <a:pPr marL="342900" indent="-342900">
              <a:buFont typeface="+mj-lt"/>
              <a:buAutoNum type="arabicPeriod"/>
            </a:pPr>
            <a:endParaRPr lang="en-US" altLang="zh-CN" sz="1200" b="0" i="0" dirty="0">
              <a:solidFill>
                <a:srgbClr val="000000"/>
              </a:solidFill>
              <a:effectLst/>
              <a:latin typeface="NimbusRomNo9L-Regu"/>
            </a:endParaRPr>
          </a:p>
          <a:p>
            <a:pPr marL="342900" indent="-342900">
              <a:buFont typeface="+mj-lt"/>
              <a:buAutoNum type="arabicPeriod"/>
            </a:pPr>
            <a:endParaRPr lang="en-US" altLang="zh-CN" sz="1200" dirty="0">
              <a:solidFill>
                <a:srgbClr val="000000"/>
              </a:solidFill>
              <a:latin typeface="NimbusRomNo9L-Regu"/>
            </a:endParaRPr>
          </a:p>
          <a:p>
            <a:pPr marL="342900" indent="-342900">
              <a:buFont typeface="+mj-lt"/>
              <a:buAutoNum type="arabicPeriod"/>
            </a:pPr>
            <a:endParaRPr lang="en-US" altLang="zh-CN" sz="1200" b="0" i="0" dirty="0">
              <a:solidFill>
                <a:srgbClr val="000000"/>
              </a:solidFill>
              <a:effectLst/>
              <a:latin typeface="NimbusRomNo9L-Regu"/>
            </a:endParaRPr>
          </a:p>
          <a:p>
            <a:pPr marL="342900" indent="-342900">
              <a:buFont typeface="+mj-lt"/>
              <a:buAutoNum type="arabicPeriod"/>
            </a:pPr>
            <a:endParaRPr lang="en-US" altLang="zh-CN" sz="1200" dirty="0">
              <a:solidFill>
                <a:srgbClr val="000000"/>
              </a:solidFill>
              <a:latin typeface="NimbusRomNo9L-Regu"/>
            </a:endParaRPr>
          </a:p>
          <a:p>
            <a:pPr marL="342900" indent="-342900">
              <a:buFont typeface="+mj-lt"/>
              <a:buAutoNum type="arabicPeriod"/>
            </a:pPr>
            <a:endParaRPr lang="en-US" altLang="zh-CN" sz="1200" b="0" i="0" dirty="0">
              <a:solidFill>
                <a:srgbClr val="000000"/>
              </a:solidFill>
              <a:effectLst/>
              <a:latin typeface="NimbusRomNo9L-Regu"/>
            </a:endParaRPr>
          </a:p>
          <a:p>
            <a:pPr marL="342900" indent="-342900">
              <a:buFont typeface="+mj-lt"/>
              <a:buAutoNum type="arabicPeriod"/>
            </a:pPr>
            <a:endParaRPr lang="en-US" altLang="zh-CN" sz="1200" dirty="0">
              <a:solidFill>
                <a:srgbClr val="000000"/>
              </a:solidFill>
              <a:latin typeface="NimbusRomNo9L-Regu"/>
            </a:endParaRPr>
          </a:p>
          <a:p>
            <a:pPr marL="342900" indent="-342900">
              <a:buFont typeface="+mj-lt"/>
              <a:buAutoNum type="arabicPeriod"/>
            </a:pPr>
            <a:endParaRPr lang="en-US" altLang="zh-CN" sz="1200" b="0" i="0" dirty="0">
              <a:solidFill>
                <a:srgbClr val="000000"/>
              </a:solidFill>
              <a:effectLst/>
              <a:latin typeface="NimbusRomNo9L-Regu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zh-CN" sz="1200" b="1" dirty="0">
                <a:solidFill>
                  <a:srgbClr val="000000"/>
                </a:solidFill>
                <a:latin typeface="NimbusSanL-Bold"/>
              </a:rPr>
              <a:t>GPT Contiguous descriptor: </a:t>
            </a:r>
            <a:r>
              <a:rPr lang="en-US" altLang="zh-CN" sz="1200" dirty="0">
                <a:solidFill>
                  <a:srgbClr val="000000"/>
                </a:solidFill>
                <a:latin typeface="NimbusSanL-Bold"/>
              </a:rPr>
              <a:t>an entry has a contiguous block</a:t>
            </a:r>
            <a:br>
              <a:rPr lang="en-US" altLang="zh-CN" sz="1200" dirty="0">
                <a:solidFill>
                  <a:srgbClr val="000000"/>
                </a:solidFill>
                <a:latin typeface="NimbusRomNo9L-Regu"/>
              </a:rPr>
            </a:br>
            <a:br>
              <a:rPr lang="en-US" altLang="zh-CN" sz="1200" dirty="0">
                <a:solidFill>
                  <a:srgbClr val="000000"/>
                </a:solidFill>
                <a:latin typeface="NimbusRomNo9L-Regu"/>
              </a:rPr>
            </a:br>
            <a:endParaRPr lang="zh-CN" altLang="en-US" sz="1200" dirty="0">
              <a:solidFill>
                <a:srgbClr val="000000"/>
              </a:solidFill>
              <a:latin typeface="NimbusRomNo9L-Regu"/>
            </a:endParaRPr>
          </a:p>
        </p:txBody>
      </p:sp>
      <p:pic>
        <p:nvPicPr>
          <p:cNvPr id="41" name="图片 40">
            <a:extLst>
              <a:ext uri="{FF2B5EF4-FFF2-40B4-BE49-F238E27FC236}">
                <a16:creationId xmlns:a16="http://schemas.microsoft.com/office/drawing/2014/main" id="{DEE1F2A1-EE76-BF89-4BDA-02A0252130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8024" y="3035401"/>
            <a:ext cx="2399633" cy="1275779"/>
          </a:xfrm>
          <a:prstGeom prst="rect">
            <a:avLst/>
          </a:prstGeom>
        </p:spPr>
      </p:pic>
      <p:pic>
        <p:nvPicPr>
          <p:cNvPr id="43" name="图片 42">
            <a:extLst>
              <a:ext uri="{FF2B5EF4-FFF2-40B4-BE49-F238E27FC236}">
                <a16:creationId xmlns:a16="http://schemas.microsoft.com/office/drawing/2014/main" id="{F68E2A65-D42D-6E41-228F-3F324BF847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7776" y="4648942"/>
            <a:ext cx="816040" cy="841305"/>
          </a:xfrm>
          <a:prstGeom prst="rect">
            <a:avLst/>
          </a:prstGeom>
        </p:spPr>
      </p:pic>
      <p:pic>
        <p:nvPicPr>
          <p:cNvPr id="45" name="图片 44">
            <a:extLst>
              <a:ext uri="{FF2B5EF4-FFF2-40B4-BE49-F238E27FC236}">
                <a16:creationId xmlns:a16="http://schemas.microsoft.com/office/drawing/2014/main" id="{2DCCF0AD-74EA-7507-3ED0-FB5BE6361B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0032" y="4648942"/>
            <a:ext cx="1486260" cy="924355"/>
          </a:xfrm>
          <a:prstGeom prst="rect">
            <a:avLst/>
          </a:prstGeom>
        </p:spPr>
      </p:pic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id="{6CFB6AFC-4D9F-8D8C-4857-A0D357E753A2}"/>
              </a:ext>
            </a:extLst>
          </p:cNvPr>
          <p:cNvCxnSpPr>
            <a:cxnSpLocks/>
          </p:cNvCxnSpPr>
          <p:nvPr/>
        </p:nvCxnSpPr>
        <p:spPr>
          <a:xfrm flipV="1">
            <a:off x="3330638" y="2785492"/>
            <a:ext cx="699207" cy="948196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3A6C2CA8-4007-1EE2-F60E-8623EF633BA8}"/>
              </a:ext>
            </a:extLst>
          </p:cNvPr>
          <p:cNvCxnSpPr>
            <a:cxnSpLocks/>
          </p:cNvCxnSpPr>
          <p:nvPr/>
        </p:nvCxnSpPr>
        <p:spPr>
          <a:xfrm>
            <a:off x="3330638" y="4007422"/>
            <a:ext cx="702688" cy="63158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文本框 55">
            <a:extLst>
              <a:ext uri="{FF2B5EF4-FFF2-40B4-BE49-F238E27FC236}">
                <a16:creationId xmlns:a16="http://schemas.microsoft.com/office/drawing/2014/main" id="{D0B8D75F-C5AA-C7DD-41F0-DC29F8E29C14}"/>
              </a:ext>
            </a:extLst>
          </p:cNvPr>
          <p:cNvSpPr txBox="1"/>
          <p:nvPr/>
        </p:nvSpPr>
        <p:spPr>
          <a:xfrm>
            <a:off x="16363" y="3163140"/>
            <a:ext cx="91299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b="0" i="0" dirty="0">
                <a:solidFill>
                  <a:srgbClr val="000000"/>
                </a:solidFill>
                <a:effectLst/>
                <a:latin typeface="NimbusRomNo9L-Regu"/>
              </a:rPr>
              <a:t>GPCCR_EL3</a:t>
            </a:r>
            <a:r>
              <a:rPr lang="en-US" altLang="zh-CN" sz="1200" dirty="0"/>
              <a:t> </a:t>
            </a:r>
            <a:endParaRPr lang="zh-CN" altLang="en-US" sz="1600" dirty="0"/>
          </a:p>
        </p:txBody>
      </p:sp>
      <p:cxnSp>
        <p:nvCxnSpPr>
          <p:cNvPr id="58" name="直接箭头连接符 57">
            <a:extLst>
              <a:ext uri="{FF2B5EF4-FFF2-40B4-BE49-F238E27FC236}">
                <a16:creationId xmlns:a16="http://schemas.microsoft.com/office/drawing/2014/main" id="{373144F4-3EAC-B91E-84ED-C53D162CCD08}"/>
              </a:ext>
            </a:extLst>
          </p:cNvPr>
          <p:cNvCxnSpPr>
            <a:cxnSpLocks/>
          </p:cNvCxnSpPr>
          <p:nvPr/>
        </p:nvCxnSpPr>
        <p:spPr>
          <a:xfrm>
            <a:off x="827584" y="3301640"/>
            <a:ext cx="27710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33619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C5FAC1-F672-F54C-8289-D806E1F37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可信软件固件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7C26A6C-49AB-084B-BE01-D2CF5BF98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8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A83BB35-8741-7440-ADBE-B4115DF400F5}"/>
              </a:ext>
            </a:extLst>
          </p:cNvPr>
          <p:cNvSpPr/>
          <p:nvPr/>
        </p:nvSpPr>
        <p:spPr>
          <a:xfrm>
            <a:off x="1223628" y="4727789"/>
            <a:ext cx="6768752" cy="30427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Secure</a:t>
            </a:r>
            <a:r>
              <a:rPr kumimoji="1" lang="zh-CN" altLang="en-US" dirty="0"/>
              <a:t> </a:t>
            </a:r>
            <a:r>
              <a:rPr kumimoji="1" lang="en-US" altLang="zh-CN" dirty="0"/>
              <a:t>Monitor</a:t>
            </a:r>
            <a:endParaRPr kumimoji="1" lang="zh-CN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F66C175-BE1C-8E4B-BA1C-B9052A7F2FEB}"/>
              </a:ext>
            </a:extLst>
          </p:cNvPr>
          <p:cNvSpPr/>
          <p:nvPr/>
        </p:nvSpPr>
        <p:spPr>
          <a:xfrm>
            <a:off x="1295636" y="3159853"/>
            <a:ext cx="2664296" cy="129614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48018AF1-EDB6-704C-AA08-A430C2601DEB}"/>
              </a:ext>
            </a:extLst>
          </p:cNvPr>
          <p:cNvGrpSpPr/>
          <p:nvPr/>
        </p:nvGrpSpPr>
        <p:grpSpPr>
          <a:xfrm>
            <a:off x="1403648" y="3519893"/>
            <a:ext cx="1152128" cy="360040"/>
            <a:chOff x="1368795" y="3577581"/>
            <a:chExt cx="1092948" cy="280714"/>
          </a:xfrm>
        </p:grpSpPr>
        <p:sp>
          <p:nvSpPr>
            <p:cNvPr id="8" name="圆角矩形 7">
              <a:extLst>
                <a:ext uri="{FF2B5EF4-FFF2-40B4-BE49-F238E27FC236}">
                  <a16:creationId xmlns:a16="http://schemas.microsoft.com/office/drawing/2014/main" id="{1CD0B0C1-D8A4-C54A-B2A1-D6011D70274B}"/>
                </a:ext>
              </a:extLst>
            </p:cNvPr>
            <p:cNvSpPr/>
            <p:nvPr/>
          </p:nvSpPr>
          <p:spPr>
            <a:xfrm>
              <a:off x="1402950" y="3577581"/>
              <a:ext cx="1024639" cy="280714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7913D4E8-D065-F84B-9E5C-C1BA691402EF}"/>
                </a:ext>
              </a:extLst>
            </p:cNvPr>
            <p:cNvSpPr txBox="1"/>
            <p:nvPr/>
          </p:nvSpPr>
          <p:spPr>
            <a:xfrm>
              <a:off x="1368795" y="3621698"/>
              <a:ext cx="1092948" cy="2039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1100" dirty="0"/>
                <a:t>Isolation</a:t>
              </a:r>
              <a:endParaRPr kumimoji="1" lang="zh-CN" altLang="en-US" sz="1100" dirty="0"/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7DC53064-DEB5-C44E-81AF-3096AFFA82CF}"/>
              </a:ext>
            </a:extLst>
          </p:cNvPr>
          <p:cNvGrpSpPr/>
          <p:nvPr/>
        </p:nvGrpSpPr>
        <p:grpSpPr>
          <a:xfrm>
            <a:off x="2735796" y="3519893"/>
            <a:ext cx="1080120" cy="360040"/>
            <a:chOff x="1402950" y="3577581"/>
            <a:chExt cx="1024639" cy="280714"/>
          </a:xfrm>
        </p:grpSpPr>
        <p:sp>
          <p:nvSpPr>
            <p:cNvPr id="13" name="圆角矩形 12">
              <a:extLst>
                <a:ext uri="{FF2B5EF4-FFF2-40B4-BE49-F238E27FC236}">
                  <a16:creationId xmlns:a16="http://schemas.microsoft.com/office/drawing/2014/main" id="{EB964F9C-D09D-0742-AD80-071651DA9BDD}"/>
                </a:ext>
              </a:extLst>
            </p:cNvPr>
            <p:cNvSpPr/>
            <p:nvPr/>
          </p:nvSpPr>
          <p:spPr>
            <a:xfrm>
              <a:off x="1402950" y="3577581"/>
              <a:ext cx="1024639" cy="280714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4D67D105-067E-F542-A004-FE9F7B5CAFB2}"/>
                </a:ext>
              </a:extLst>
            </p:cNvPr>
            <p:cNvSpPr txBox="1"/>
            <p:nvPr/>
          </p:nvSpPr>
          <p:spPr>
            <a:xfrm>
              <a:off x="1402950" y="3618952"/>
              <a:ext cx="1024639" cy="2039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CN" altLang="en-US" sz="1100" dirty="0"/>
                <a:t> </a:t>
              </a:r>
              <a:r>
                <a:rPr kumimoji="1" lang="en-US" altLang="zh-CN" sz="1100" dirty="0"/>
                <a:t>Realm</a:t>
              </a:r>
              <a:r>
                <a:rPr kumimoji="1" lang="zh-CN" altLang="en-US" sz="1100" dirty="0"/>
                <a:t> </a:t>
              </a:r>
              <a:r>
                <a:rPr kumimoji="1" lang="en-US" altLang="zh-CN" sz="1100" dirty="0" err="1"/>
                <a:t>mngt</a:t>
              </a:r>
              <a:r>
                <a:rPr kumimoji="1" lang="en-US" altLang="zh-CN" sz="1100" dirty="0"/>
                <a:t>.</a:t>
              </a:r>
              <a:endParaRPr kumimoji="1" lang="zh-CN" altLang="en-US" sz="1100" dirty="0"/>
            </a:p>
          </p:txBody>
        </p: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98A2919-24DE-9B4C-B856-94C0585BCEC4}"/>
              </a:ext>
            </a:extLst>
          </p:cNvPr>
          <p:cNvGrpSpPr/>
          <p:nvPr/>
        </p:nvGrpSpPr>
        <p:grpSpPr>
          <a:xfrm>
            <a:off x="1439652" y="3994977"/>
            <a:ext cx="1080120" cy="360040"/>
            <a:chOff x="1402950" y="3577581"/>
            <a:chExt cx="1024639" cy="280714"/>
          </a:xfrm>
        </p:grpSpPr>
        <p:sp>
          <p:nvSpPr>
            <p:cNvPr id="16" name="圆角矩形 15">
              <a:extLst>
                <a:ext uri="{FF2B5EF4-FFF2-40B4-BE49-F238E27FC236}">
                  <a16:creationId xmlns:a16="http://schemas.microsoft.com/office/drawing/2014/main" id="{BCC07437-4917-9040-8323-E89EC0A4CC73}"/>
                </a:ext>
              </a:extLst>
            </p:cNvPr>
            <p:cNvSpPr/>
            <p:nvPr/>
          </p:nvSpPr>
          <p:spPr>
            <a:xfrm>
              <a:off x="1402950" y="3577581"/>
              <a:ext cx="1024639" cy="280714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4B01A188-880C-DF40-8148-0082D90678DB}"/>
                </a:ext>
              </a:extLst>
            </p:cNvPr>
            <p:cNvSpPr txBox="1"/>
            <p:nvPr/>
          </p:nvSpPr>
          <p:spPr>
            <a:xfrm>
              <a:off x="1402950" y="3618952"/>
              <a:ext cx="1024639" cy="2039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CN" altLang="en-US" sz="1100" dirty="0"/>
                <a:t> </a:t>
              </a:r>
              <a:r>
                <a:rPr kumimoji="1" lang="en-US" altLang="zh-CN" sz="1100" dirty="0"/>
                <a:t>Attestation</a:t>
              </a:r>
              <a:endParaRPr kumimoji="1" lang="zh-CN" altLang="en-US" sz="1100" dirty="0"/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03DD2732-F188-3B49-A622-6D40296C4CE0}"/>
              </a:ext>
            </a:extLst>
          </p:cNvPr>
          <p:cNvGrpSpPr/>
          <p:nvPr/>
        </p:nvGrpSpPr>
        <p:grpSpPr>
          <a:xfrm>
            <a:off x="2735796" y="4005167"/>
            <a:ext cx="1080120" cy="360040"/>
            <a:chOff x="1402950" y="3577581"/>
            <a:chExt cx="1024639" cy="280714"/>
          </a:xfrm>
        </p:grpSpPr>
        <p:sp>
          <p:nvSpPr>
            <p:cNvPr id="19" name="圆角矩形 18">
              <a:extLst>
                <a:ext uri="{FF2B5EF4-FFF2-40B4-BE49-F238E27FC236}">
                  <a16:creationId xmlns:a16="http://schemas.microsoft.com/office/drawing/2014/main" id="{9754D5AA-B38F-5D43-A30D-6B561835E62C}"/>
                </a:ext>
              </a:extLst>
            </p:cNvPr>
            <p:cNvSpPr/>
            <p:nvPr/>
          </p:nvSpPr>
          <p:spPr>
            <a:xfrm>
              <a:off x="1402950" y="3577581"/>
              <a:ext cx="1024639" cy="280714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8F4CB663-2BC3-E240-B44A-ADF17A683925}"/>
                </a:ext>
              </a:extLst>
            </p:cNvPr>
            <p:cNvSpPr txBox="1"/>
            <p:nvPr/>
          </p:nvSpPr>
          <p:spPr>
            <a:xfrm>
              <a:off x="1512604" y="3614933"/>
              <a:ext cx="751402" cy="2039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1100" dirty="0"/>
                <a:t>Crypto</a:t>
              </a:r>
              <a:endParaRPr kumimoji="1" lang="zh-CN" altLang="en-US" sz="1100" dirty="0"/>
            </a:p>
          </p:txBody>
        </p:sp>
      </p:grpSp>
      <p:sp>
        <p:nvSpPr>
          <p:cNvPr id="21" name="文本框 20">
            <a:extLst>
              <a:ext uri="{FF2B5EF4-FFF2-40B4-BE49-F238E27FC236}">
                <a16:creationId xmlns:a16="http://schemas.microsoft.com/office/drawing/2014/main" id="{3AEB4476-58C4-4F4A-8FDF-09CAF3107BA2}"/>
              </a:ext>
            </a:extLst>
          </p:cNvPr>
          <p:cNvSpPr txBox="1"/>
          <p:nvPr/>
        </p:nvSpPr>
        <p:spPr>
          <a:xfrm>
            <a:off x="1296048" y="3180776"/>
            <a:ext cx="7196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100" dirty="0"/>
              <a:t>RMM</a:t>
            </a:r>
            <a:endParaRPr kumimoji="1" lang="zh-CN" altLang="en-US" sz="1100" dirty="0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3AB1416-5013-C345-BC34-D043D4CFEFE8}"/>
              </a:ext>
            </a:extLst>
          </p:cNvPr>
          <p:cNvSpPr/>
          <p:nvPr/>
        </p:nvSpPr>
        <p:spPr>
          <a:xfrm>
            <a:off x="1295636" y="1913191"/>
            <a:ext cx="576064" cy="40307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6C6D4142-FE90-0C4F-805C-F9288BCB375A}"/>
              </a:ext>
            </a:extLst>
          </p:cNvPr>
          <p:cNvSpPr txBox="1"/>
          <p:nvPr/>
        </p:nvSpPr>
        <p:spPr>
          <a:xfrm>
            <a:off x="1312727" y="1960840"/>
            <a:ext cx="5435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900" dirty="0"/>
              <a:t>Realm</a:t>
            </a:r>
          </a:p>
          <a:p>
            <a:pPr algn="ctr"/>
            <a:r>
              <a:rPr kumimoji="1" lang="en-US" altLang="zh-CN" sz="900" dirty="0"/>
              <a:t>App</a:t>
            </a:r>
            <a:endParaRPr kumimoji="1" lang="zh-CN" altLang="en-US" sz="900" dirty="0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7AF6C05-3A0F-3C4E-A43E-3CCB389B806B}"/>
              </a:ext>
            </a:extLst>
          </p:cNvPr>
          <p:cNvSpPr/>
          <p:nvPr/>
        </p:nvSpPr>
        <p:spPr>
          <a:xfrm>
            <a:off x="2087724" y="1915095"/>
            <a:ext cx="936104" cy="40307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AFFF9575-7C2D-B545-9196-FDD50A0A17EA}"/>
              </a:ext>
            </a:extLst>
          </p:cNvPr>
          <p:cNvSpPr txBox="1"/>
          <p:nvPr/>
        </p:nvSpPr>
        <p:spPr>
          <a:xfrm>
            <a:off x="2137647" y="1955737"/>
            <a:ext cx="8363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/>
              <a:t>Service</a:t>
            </a:r>
            <a:endParaRPr kumimoji="1" lang="zh-CN" altLang="en-US" sz="1400" dirty="0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74E618CF-104D-9C4F-8B9F-4F29A671188C}"/>
              </a:ext>
            </a:extLst>
          </p:cNvPr>
          <p:cNvSpPr/>
          <p:nvPr/>
        </p:nvSpPr>
        <p:spPr>
          <a:xfrm>
            <a:off x="2087724" y="2537933"/>
            <a:ext cx="936104" cy="40307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0EA0366F-A718-0347-BD27-14CD8B02F20F}"/>
              </a:ext>
            </a:extLst>
          </p:cNvPr>
          <p:cNvSpPr txBox="1"/>
          <p:nvPr/>
        </p:nvSpPr>
        <p:spPr>
          <a:xfrm>
            <a:off x="2131040" y="2523841"/>
            <a:ext cx="8363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200" dirty="0"/>
              <a:t>Realm</a:t>
            </a:r>
            <a:r>
              <a:rPr kumimoji="1" lang="zh-CN" altLang="en-US" sz="1200" dirty="0"/>
              <a:t> </a:t>
            </a:r>
            <a:r>
              <a:rPr kumimoji="1" lang="en-US" altLang="zh-CN" sz="1200" dirty="0"/>
              <a:t>OS</a:t>
            </a:r>
            <a:endParaRPr kumimoji="1" lang="zh-CN" altLang="en-US" sz="1200" dirty="0"/>
          </a:p>
        </p:txBody>
      </p: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4F9540C6-54E3-8E48-BB07-FF8A086E2766}"/>
              </a:ext>
            </a:extLst>
          </p:cNvPr>
          <p:cNvGrpSpPr/>
          <p:nvPr/>
        </p:nvGrpSpPr>
        <p:grpSpPr>
          <a:xfrm>
            <a:off x="3197579" y="1913191"/>
            <a:ext cx="762353" cy="1025914"/>
            <a:chOff x="1979712" y="1403004"/>
            <a:chExt cx="576064" cy="403076"/>
          </a:xfrm>
        </p:grpSpPr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3B508F90-670B-B94B-B659-2684BCB3FC2F}"/>
                </a:ext>
              </a:extLst>
            </p:cNvPr>
            <p:cNvSpPr/>
            <p:nvPr/>
          </p:nvSpPr>
          <p:spPr>
            <a:xfrm>
              <a:off x="1979712" y="1403004"/>
              <a:ext cx="576064" cy="40307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709DA870-EA58-5A43-A54F-2B6047256F90}"/>
                </a:ext>
              </a:extLst>
            </p:cNvPr>
            <p:cNvSpPr txBox="1"/>
            <p:nvPr/>
          </p:nvSpPr>
          <p:spPr>
            <a:xfrm>
              <a:off x="2005216" y="1517011"/>
              <a:ext cx="545361" cy="2055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1400" dirty="0"/>
                <a:t>Realm</a:t>
              </a:r>
            </a:p>
            <a:p>
              <a:pPr algn="ctr"/>
              <a:r>
                <a:rPr kumimoji="1" lang="en-US" altLang="zh-CN" sz="1400" dirty="0"/>
                <a:t>VM</a:t>
              </a:r>
              <a:endParaRPr kumimoji="1" lang="zh-CN" altLang="en-US" sz="1400" dirty="0"/>
            </a:p>
          </p:txBody>
        </p:sp>
      </p:grpSp>
      <p:cxnSp>
        <p:nvCxnSpPr>
          <p:cNvPr id="39" name="直线连接符 38">
            <a:extLst>
              <a:ext uri="{FF2B5EF4-FFF2-40B4-BE49-F238E27FC236}">
                <a16:creationId xmlns:a16="http://schemas.microsoft.com/office/drawing/2014/main" id="{75222B14-431D-2042-8E86-87624B450859}"/>
              </a:ext>
            </a:extLst>
          </p:cNvPr>
          <p:cNvCxnSpPr/>
          <p:nvPr/>
        </p:nvCxnSpPr>
        <p:spPr>
          <a:xfrm>
            <a:off x="1980012" y="1851726"/>
            <a:ext cx="0" cy="1152128"/>
          </a:xfrm>
          <a:prstGeom prst="line">
            <a:avLst/>
          </a:prstGeom>
          <a:ln w="25400">
            <a:prstDash val="sysDash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0" name="直线连接符 39">
            <a:extLst>
              <a:ext uri="{FF2B5EF4-FFF2-40B4-BE49-F238E27FC236}">
                <a16:creationId xmlns:a16="http://schemas.microsoft.com/office/drawing/2014/main" id="{248F8530-C231-5E45-B8CD-792892EB3054}"/>
              </a:ext>
            </a:extLst>
          </p:cNvPr>
          <p:cNvCxnSpPr/>
          <p:nvPr/>
        </p:nvCxnSpPr>
        <p:spPr>
          <a:xfrm>
            <a:off x="3114012" y="1851726"/>
            <a:ext cx="0" cy="1152128"/>
          </a:xfrm>
          <a:prstGeom prst="line">
            <a:avLst/>
          </a:prstGeom>
          <a:ln w="25400">
            <a:prstDash val="sysDash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1" name="直线连接符 40">
            <a:extLst>
              <a:ext uri="{FF2B5EF4-FFF2-40B4-BE49-F238E27FC236}">
                <a16:creationId xmlns:a16="http://schemas.microsoft.com/office/drawing/2014/main" id="{4A902EA1-D6D0-2D45-B9F0-456C944786A4}"/>
              </a:ext>
            </a:extLst>
          </p:cNvPr>
          <p:cNvCxnSpPr>
            <a:cxnSpLocks/>
          </p:cNvCxnSpPr>
          <p:nvPr/>
        </p:nvCxnSpPr>
        <p:spPr>
          <a:xfrm>
            <a:off x="1295636" y="3030734"/>
            <a:ext cx="2664296" cy="4307"/>
          </a:xfrm>
          <a:prstGeom prst="line">
            <a:avLst/>
          </a:prstGeom>
          <a:ln w="25400">
            <a:prstDash val="sysDash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49" name="矩形 48">
            <a:extLst>
              <a:ext uri="{FF2B5EF4-FFF2-40B4-BE49-F238E27FC236}">
                <a16:creationId xmlns:a16="http://schemas.microsoft.com/office/drawing/2014/main" id="{90296E23-3817-FB46-A6CB-13157E45C7E6}"/>
              </a:ext>
            </a:extLst>
          </p:cNvPr>
          <p:cNvSpPr/>
          <p:nvPr/>
        </p:nvSpPr>
        <p:spPr>
          <a:xfrm>
            <a:off x="4156696" y="3898951"/>
            <a:ext cx="1560382" cy="55704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A815FD3F-88FF-064C-88B9-978C9EF0EB8D}"/>
              </a:ext>
            </a:extLst>
          </p:cNvPr>
          <p:cNvSpPr txBox="1"/>
          <p:nvPr/>
        </p:nvSpPr>
        <p:spPr>
          <a:xfrm>
            <a:off x="4424275" y="4046681"/>
            <a:ext cx="91723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/>
              <a:t>Hypervisor</a:t>
            </a:r>
            <a:endParaRPr kumimoji="1" lang="zh-CN" altLang="en-US" dirty="0"/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11C8EEDA-7CC3-C34A-928B-90C8FB42E21D}"/>
              </a:ext>
            </a:extLst>
          </p:cNvPr>
          <p:cNvSpPr/>
          <p:nvPr/>
        </p:nvSpPr>
        <p:spPr>
          <a:xfrm>
            <a:off x="5093931" y="1913192"/>
            <a:ext cx="618300" cy="102591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8B237482-63C8-E346-9306-F18D43AA0711}"/>
              </a:ext>
            </a:extLst>
          </p:cNvPr>
          <p:cNvSpPr txBox="1"/>
          <p:nvPr/>
        </p:nvSpPr>
        <p:spPr>
          <a:xfrm>
            <a:off x="5176096" y="2344042"/>
            <a:ext cx="4539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/>
              <a:t>VM</a:t>
            </a:r>
            <a:endParaRPr kumimoji="1" lang="zh-CN" altLang="en-US" dirty="0"/>
          </a:p>
        </p:txBody>
      </p: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F05A3F7E-2733-7C4F-96A2-D6BFA9BDA5D2}"/>
              </a:ext>
            </a:extLst>
          </p:cNvPr>
          <p:cNvGrpSpPr/>
          <p:nvPr/>
        </p:nvGrpSpPr>
        <p:grpSpPr>
          <a:xfrm>
            <a:off x="4195131" y="1913190"/>
            <a:ext cx="725760" cy="403076"/>
            <a:chOff x="1979712" y="1403004"/>
            <a:chExt cx="576064" cy="403076"/>
          </a:xfrm>
        </p:grpSpPr>
        <p:sp>
          <p:nvSpPr>
            <p:cNvPr id="54" name="矩形 53">
              <a:extLst>
                <a:ext uri="{FF2B5EF4-FFF2-40B4-BE49-F238E27FC236}">
                  <a16:creationId xmlns:a16="http://schemas.microsoft.com/office/drawing/2014/main" id="{C3960B51-1ED5-3243-9245-61ABF2503131}"/>
                </a:ext>
              </a:extLst>
            </p:cNvPr>
            <p:cNvSpPr/>
            <p:nvPr/>
          </p:nvSpPr>
          <p:spPr>
            <a:xfrm>
              <a:off x="1979712" y="1403004"/>
              <a:ext cx="576064" cy="40307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5" name="文本框 54">
              <a:extLst>
                <a:ext uri="{FF2B5EF4-FFF2-40B4-BE49-F238E27FC236}">
                  <a16:creationId xmlns:a16="http://schemas.microsoft.com/office/drawing/2014/main" id="{257BF16F-E184-2D4B-9AF1-15464427EEC6}"/>
                </a:ext>
              </a:extLst>
            </p:cNvPr>
            <p:cNvSpPr txBox="1"/>
            <p:nvPr/>
          </p:nvSpPr>
          <p:spPr>
            <a:xfrm>
              <a:off x="2035520" y="1450653"/>
              <a:ext cx="437803" cy="3077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kumimoji="1" lang="en-US" altLang="zh-CN" sz="1400" dirty="0"/>
                <a:t>App</a:t>
              </a:r>
              <a:endParaRPr kumimoji="1" lang="zh-CN" altLang="en-US" sz="1400" dirty="0"/>
            </a:p>
          </p:txBody>
        </p:sp>
      </p:grp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1311BD8C-38B5-AD49-A0EC-80B05F672F73}"/>
              </a:ext>
            </a:extLst>
          </p:cNvPr>
          <p:cNvGrpSpPr/>
          <p:nvPr/>
        </p:nvGrpSpPr>
        <p:grpSpPr>
          <a:xfrm>
            <a:off x="4183543" y="2645629"/>
            <a:ext cx="748937" cy="293476"/>
            <a:chOff x="1997945" y="1303759"/>
            <a:chExt cx="576064" cy="465296"/>
          </a:xfrm>
        </p:grpSpPr>
        <p:sp>
          <p:nvSpPr>
            <p:cNvPr id="57" name="矩形 56">
              <a:extLst>
                <a:ext uri="{FF2B5EF4-FFF2-40B4-BE49-F238E27FC236}">
                  <a16:creationId xmlns:a16="http://schemas.microsoft.com/office/drawing/2014/main" id="{E0EAAE11-786D-2345-B854-A8E12DF39DE2}"/>
                </a:ext>
              </a:extLst>
            </p:cNvPr>
            <p:cNvSpPr/>
            <p:nvPr/>
          </p:nvSpPr>
          <p:spPr>
            <a:xfrm>
              <a:off x="1997945" y="1313573"/>
              <a:ext cx="576064" cy="45548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8" name="文本框 57">
              <a:extLst>
                <a:ext uri="{FF2B5EF4-FFF2-40B4-BE49-F238E27FC236}">
                  <a16:creationId xmlns:a16="http://schemas.microsoft.com/office/drawing/2014/main" id="{4EF39514-F437-E545-995D-3AB3087256D9}"/>
                </a:ext>
              </a:extLst>
            </p:cNvPr>
            <p:cNvSpPr txBox="1"/>
            <p:nvPr/>
          </p:nvSpPr>
          <p:spPr>
            <a:xfrm>
              <a:off x="2030383" y="1303759"/>
              <a:ext cx="514659" cy="30777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1400" dirty="0"/>
                <a:t>OS</a:t>
              </a:r>
              <a:endParaRPr kumimoji="1" lang="zh-CN" altLang="en-US" sz="1400" dirty="0"/>
            </a:p>
          </p:txBody>
        </p:sp>
      </p:grpSp>
      <p:cxnSp>
        <p:nvCxnSpPr>
          <p:cNvPr id="59" name="直线连接符 58">
            <a:extLst>
              <a:ext uri="{FF2B5EF4-FFF2-40B4-BE49-F238E27FC236}">
                <a16:creationId xmlns:a16="http://schemas.microsoft.com/office/drawing/2014/main" id="{A688E015-7D6F-014A-BCF6-E98D93D1302F}"/>
              </a:ext>
            </a:extLst>
          </p:cNvPr>
          <p:cNvCxnSpPr>
            <a:cxnSpLocks/>
          </p:cNvCxnSpPr>
          <p:nvPr/>
        </p:nvCxnSpPr>
        <p:spPr>
          <a:xfrm>
            <a:off x="4183543" y="3030734"/>
            <a:ext cx="1528688" cy="0"/>
          </a:xfrm>
          <a:prstGeom prst="line">
            <a:avLst/>
          </a:prstGeom>
          <a:ln w="25400">
            <a:prstDash val="sysDash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61" name="直线连接符 60">
            <a:extLst>
              <a:ext uri="{FF2B5EF4-FFF2-40B4-BE49-F238E27FC236}">
                <a16:creationId xmlns:a16="http://schemas.microsoft.com/office/drawing/2014/main" id="{F8FF9280-A398-D948-93CF-ACF5094E2FF0}"/>
              </a:ext>
            </a:extLst>
          </p:cNvPr>
          <p:cNvCxnSpPr/>
          <p:nvPr/>
        </p:nvCxnSpPr>
        <p:spPr>
          <a:xfrm>
            <a:off x="5004028" y="1851726"/>
            <a:ext cx="0" cy="1152128"/>
          </a:xfrm>
          <a:prstGeom prst="line">
            <a:avLst/>
          </a:prstGeom>
          <a:ln w="25400">
            <a:prstDash val="sysDash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62" name="矩形 61">
            <a:extLst>
              <a:ext uri="{FF2B5EF4-FFF2-40B4-BE49-F238E27FC236}">
                <a16:creationId xmlns:a16="http://schemas.microsoft.com/office/drawing/2014/main" id="{21E33BB0-C5B3-9B46-BF9B-BEDB9D3212E7}"/>
              </a:ext>
            </a:extLst>
          </p:cNvPr>
          <p:cNvSpPr/>
          <p:nvPr/>
        </p:nvSpPr>
        <p:spPr>
          <a:xfrm>
            <a:off x="6107662" y="3879933"/>
            <a:ext cx="1560382" cy="55704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646594FA-7964-6E4D-B54C-B7064459DC35}"/>
              </a:ext>
            </a:extLst>
          </p:cNvPr>
          <p:cNvSpPr txBox="1"/>
          <p:nvPr/>
        </p:nvSpPr>
        <p:spPr>
          <a:xfrm>
            <a:off x="6276025" y="3945563"/>
            <a:ext cx="122365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100" dirty="0"/>
              <a:t>Secure</a:t>
            </a:r>
            <a:r>
              <a:rPr kumimoji="1" lang="zh-CN" altLang="en-US" sz="1100" dirty="0"/>
              <a:t> </a:t>
            </a:r>
            <a:r>
              <a:rPr kumimoji="1" lang="en-US" altLang="zh-CN" sz="1100" dirty="0"/>
              <a:t>Platform</a:t>
            </a:r>
            <a:r>
              <a:rPr kumimoji="1" lang="zh-CN" altLang="en-US" sz="1100" dirty="0"/>
              <a:t> </a:t>
            </a:r>
            <a:r>
              <a:rPr kumimoji="1" lang="en-US" altLang="zh-CN" sz="1100" dirty="0"/>
              <a:t>Manager</a:t>
            </a:r>
            <a:endParaRPr kumimoji="1" lang="zh-CN" altLang="en-US" sz="1100" dirty="0"/>
          </a:p>
        </p:txBody>
      </p:sp>
      <p:grpSp>
        <p:nvGrpSpPr>
          <p:cNvPr id="66" name="组合 65">
            <a:extLst>
              <a:ext uri="{FF2B5EF4-FFF2-40B4-BE49-F238E27FC236}">
                <a16:creationId xmlns:a16="http://schemas.microsoft.com/office/drawing/2014/main" id="{5BD92E17-49CD-1549-BA39-3953638DA265}"/>
              </a:ext>
            </a:extLst>
          </p:cNvPr>
          <p:cNvGrpSpPr/>
          <p:nvPr/>
        </p:nvGrpSpPr>
        <p:grpSpPr>
          <a:xfrm>
            <a:off x="6118395" y="1894172"/>
            <a:ext cx="653789" cy="433128"/>
            <a:chOff x="1957725" y="1403004"/>
            <a:chExt cx="518938" cy="433128"/>
          </a:xfrm>
        </p:grpSpPr>
        <p:sp>
          <p:nvSpPr>
            <p:cNvPr id="67" name="矩形 66">
              <a:extLst>
                <a:ext uri="{FF2B5EF4-FFF2-40B4-BE49-F238E27FC236}">
                  <a16:creationId xmlns:a16="http://schemas.microsoft.com/office/drawing/2014/main" id="{3F9369B7-CE3D-B049-ACAC-5BBBA103B0A4}"/>
                </a:ext>
              </a:extLst>
            </p:cNvPr>
            <p:cNvSpPr/>
            <p:nvPr/>
          </p:nvSpPr>
          <p:spPr>
            <a:xfrm>
              <a:off x="1979712" y="1403004"/>
              <a:ext cx="496951" cy="4030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8" name="文本框 67">
              <a:extLst>
                <a:ext uri="{FF2B5EF4-FFF2-40B4-BE49-F238E27FC236}">
                  <a16:creationId xmlns:a16="http://schemas.microsoft.com/office/drawing/2014/main" id="{55E942E4-EA98-524F-B401-FDA9C344FB1D}"/>
                </a:ext>
              </a:extLst>
            </p:cNvPr>
            <p:cNvSpPr txBox="1"/>
            <p:nvPr/>
          </p:nvSpPr>
          <p:spPr>
            <a:xfrm>
              <a:off x="1957725" y="1436022"/>
              <a:ext cx="50027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1000" dirty="0"/>
                <a:t>Trusted</a:t>
              </a:r>
              <a:r>
                <a:rPr kumimoji="1" lang="zh-CN" altLang="en-US" sz="1000" dirty="0"/>
                <a:t> </a:t>
              </a:r>
              <a:r>
                <a:rPr kumimoji="1" lang="en-US" altLang="zh-CN" sz="1000" dirty="0"/>
                <a:t>App</a:t>
              </a:r>
              <a:endParaRPr kumimoji="1" lang="zh-CN" altLang="en-US" sz="1000" dirty="0"/>
            </a:p>
          </p:txBody>
        </p:sp>
      </p:grpSp>
      <p:grpSp>
        <p:nvGrpSpPr>
          <p:cNvPr id="69" name="组合 68">
            <a:extLst>
              <a:ext uri="{FF2B5EF4-FFF2-40B4-BE49-F238E27FC236}">
                <a16:creationId xmlns:a16="http://schemas.microsoft.com/office/drawing/2014/main" id="{7AC3CBCA-748A-6444-B439-DD5EF928F81E}"/>
              </a:ext>
            </a:extLst>
          </p:cNvPr>
          <p:cNvGrpSpPr/>
          <p:nvPr/>
        </p:nvGrpSpPr>
        <p:grpSpPr>
          <a:xfrm>
            <a:off x="6103081" y="2633779"/>
            <a:ext cx="669105" cy="287286"/>
            <a:chOff x="1973771" y="1315122"/>
            <a:chExt cx="514659" cy="455482"/>
          </a:xfrm>
        </p:grpSpPr>
        <p:sp>
          <p:nvSpPr>
            <p:cNvPr id="70" name="矩形 69">
              <a:extLst>
                <a:ext uri="{FF2B5EF4-FFF2-40B4-BE49-F238E27FC236}">
                  <a16:creationId xmlns:a16="http://schemas.microsoft.com/office/drawing/2014/main" id="{B6E3597F-76C7-CA42-8D64-77C6BBFE0ABA}"/>
                </a:ext>
              </a:extLst>
            </p:cNvPr>
            <p:cNvSpPr/>
            <p:nvPr/>
          </p:nvSpPr>
          <p:spPr>
            <a:xfrm>
              <a:off x="2000492" y="1315122"/>
              <a:ext cx="475582" cy="45548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71" name="文本框 70">
              <a:extLst>
                <a:ext uri="{FF2B5EF4-FFF2-40B4-BE49-F238E27FC236}">
                  <a16:creationId xmlns:a16="http://schemas.microsoft.com/office/drawing/2014/main" id="{43440B45-6543-6B4C-852B-78E1C8FB430A}"/>
                </a:ext>
              </a:extLst>
            </p:cNvPr>
            <p:cNvSpPr txBox="1"/>
            <p:nvPr/>
          </p:nvSpPr>
          <p:spPr>
            <a:xfrm>
              <a:off x="1973771" y="1355830"/>
              <a:ext cx="514659" cy="414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1100" dirty="0"/>
                <a:t>TEEOS</a:t>
              </a:r>
              <a:endParaRPr kumimoji="1" lang="zh-CN" altLang="en-US" sz="1100" dirty="0"/>
            </a:p>
          </p:txBody>
        </p:sp>
      </p:grpSp>
      <p:cxnSp>
        <p:nvCxnSpPr>
          <p:cNvPr id="72" name="直线连接符 71">
            <a:extLst>
              <a:ext uri="{FF2B5EF4-FFF2-40B4-BE49-F238E27FC236}">
                <a16:creationId xmlns:a16="http://schemas.microsoft.com/office/drawing/2014/main" id="{81F0A6F5-B941-BA42-A66B-0F8C4BEB4757}"/>
              </a:ext>
            </a:extLst>
          </p:cNvPr>
          <p:cNvCxnSpPr>
            <a:cxnSpLocks/>
          </p:cNvCxnSpPr>
          <p:nvPr/>
        </p:nvCxnSpPr>
        <p:spPr>
          <a:xfrm>
            <a:off x="6134509" y="3011716"/>
            <a:ext cx="1528688" cy="0"/>
          </a:xfrm>
          <a:prstGeom prst="line">
            <a:avLst/>
          </a:prstGeom>
          <a:ln w="25400">
            <a:prstDash val="sysDash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73" name="直线连接符 72">
            <a:extLst>
              <a:ext uri="{FF2B5EF4-FFF2-40B4-BE49-F238E27FC236}">
                <a16:creationId xmlns:a16="http://schemas.microsoft.com/office/drawing/2014/main" id="{D2A4796A-2702-7E4C-945F-F3DD1ACC5422}"/>
              </a:ext>
            </a:extLst>
          </p:cNvPr>
          <p:cNvCxnSpPr/>
          <p:nvPr/>
        </p:nvCxnSpPr>
        <p:spPr>
          <a:xfrm>
            <a:off x="6876496" y="1851726"/>
            <a:ext cx="0" cy="1152128"/>
          </a:xfrm>
          <a:prstGeom prst="line">
            <a:avLst/>
          </a:prstGeom>
          <a:ln w="25400">
            <a:prstDash val="sysDash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grpSp>
        <p:nvGrpSpPr>
          <p:cNvPr id="80" name="组合 79">
            <a:extLst>
              <a:ext uri="{FF2B5EF4-FFF2-40B4-BE49-F238E27FC236}">
                <a16:creationId xmlns:a16="http://schemas.microsoft.com/office/drawing/2014/main" id="{D2B3E5B3-819F-5844-BC3F-4F5E06877147}"/>
              </a:ext>
            </a:extLst>
          </p:cNvPr>
          <p:cNvGrpSpPr/>
          <p:nvPr/>
        </p:nvGrpSpPr>
        <p:grpSpPr>
          <a:xfrm>
            <a:off x="6980807" y="1894172"/>
            <a:ext cx="653789" cy="433128"/>
            <a:chOff x="1957725" y="1403004"/>
            <a:chExt cx="518938" cy="433128"/>
          </a:xfrm>
        </p:grpSpPr>
        <p:sp>
          <p:nvSpPr>
            <p:cNvPr id="81" name="矩形 80">
              <a:extLst>
                <a:ext uri="{FF2B5EF4-FFF2-40B4-BE49-F238E27FC236}">
                  <a16:creationId xmlns:a16="http://schemas.microsoft.com/office/drawing/2014/main" id="{9871214E-0808-0141-B16F-DD581DE0A6E9}"/>
                </a:ext>
              </a:extLst>
            </p:cNvPr>
            <p:cNvSpPr/>
            <p:nvPr/>
          </p:nvSpPr>
          <p:spPr>
            <a:xfrm>
              <a:off x="1979712" y="1403004"/>
              <a:ext cx="496951" cy="40307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2" name="文本框 81">
              <a:extLst>
                <a:ext uri="{FF2B5EF4-FFF2-40B4-BE49-F238E27FC236}">
                  <a16:creationId xmlns:a16="http://schemas.microsoft.com/office/drawing/2014/main" id="{A690226F-379E-0F4B-8466-F39F7190393C}"/>
                </a:ext>
              </a:extLst>
            </p:cNvPr>
            <p:cNvSpPr txBox="1"/>
            <p:nvPr/>
          </p:nvSpPr>
          <p:spPr>
            <a:xfrm>
              <a:off x="1957725" y="1436022"/>
              <a:ext cx="50027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1000" dirty="0"/>
                <a:t>Trusted</a:t>
              </a:r>
              <a:r>
                <a:rPr kumimoji="1" lang="zh-CN" altLang="en-US" sz="1000" dirty="0"/>
                <a:t> </a:t>
              </a:r>
              <a:r>
                <a:rPr kumimoji="1" lang="en-US" altLang="zh-CN" sz="1000" dirty="0"/>
                <a:t>App</a:t>
              </a:r>
              <a:endParaRPr kumimoji="1" lang="zh-CN" altLang="en-US" sz="1000" dirty="0"/>
            </a:p>
          </p:txBody>
        </p:sp>
      </p:grpSp>
      <p:grpSp>
        <p:nvGrpSpPr>
          <p:cNvPr id="83" name="组合 82">
            <a:extLst>
              <a:ext uri="{FF2B5EF4-FFF2-40B4-BE49-F238E27FC236}">
                <a16:creationId xmlns:a16="http://schemas.microsoft.com/office/drawing/2014/main" id="{1FA5DDC5-4E38-E44F-BCF8-EB275C49141E}"/>
              </a:ext>
            </a:extLst>
          </p:cNvPr>
          <p:cNvGrpSpPr/>
          <p:nvPr/>
        </p:nvGrpSpPr>
        <p:grpSpPr>
          <a:xfrm>
            <a:off x="6965493" y="2633779"/>
            <a:ext cx="669105" cy="287286"/>
            <a:chOff x="1973771" y="1315122"/>
            <a:chExt cx="514659" cy="455482"/>
          </a:xfrm>
        </p:grpSpPr>
        <p:sp>
          <p:nvSpPr>
            <p:cNvPr id="84" name="矩形 83">
              <a:extLst>
                <a:ext uri="{FF2B5EF4-FFF2-40B4-BE49-F238E27FC236}">
                  <a16:creationId xmlns:a16="http://schemas.microsoft.com/office/drawing/2014/main" id="{800D2D9C-D60E-DF44-A8EE-1729FD89FF77}"/>
                </a:ext>
              </a:extLst>
            </p:cNvPr>
            <p:cNvSpPr/>
            <p:nvPr/>
          </p:nvSpPr>
          <p:spPr>
            <a:xfrm>
              <a:off x="2000492" y="1315122"/>
              <a:ext cx="475582" cy="45548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5" name="文本框 84">
              <a:extLst>
                <a:ext uri="{FF2B5EF4-FFF2-40B4-BE49-F238E27FC236}">
                  <a16:creationId xmlns:a16="http://schemas.microsoft.com/office/drawing/2014/main" id="{EF1E0403-8D49-8D47-BF4F-4282970487C4}"/>
                </a:ext>
              </a:extLst>
            </p:cNvPr>
            <p:cNvSpPr txBox="1"/>
            <p:nvPr/>
          </p:nvSpPr>
          <p:spPr>
            <a:xfrm>
              <a:off x="1973771" y="1355830"/>
              <a:ext cx="514659" cy="414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1100" dirty="0"/>
                <a:t>TEEOS</a:t>
              </a:r>
              <a:endParaRPr kumimoji="1" lang="zh-CN" altLang="en-US" sz="1100" dirty="0"/>
            </a:p>
          </p:txBody>
        </p:sp>
      </p:grpSp>
      <p:cxnSp>
        <p:nvCxnSpPr>
          <p:cNvPr id="87" name="直线连接符 86">
            <a:extLst>
              <a:ext uri="{FF2B5EF4-FFF2-40B4-BE49-F238E27FC236}">
                <a16:creationId xmlns:a16="http://schemas.microsoft.com/office/drawing/2014/main" id="{89E6DC05-1922-6A4F-8437-1AC03955265D}"/>
              </a:ext>
            </a:extLst>
          </p:cNvPr>
          <p:cNvCxnSpPr>
            <a:cxnSpLocks/>
          </p:cNvCxnSpPr>
          <p:nvPr/>
        </p:nvCxnSpPr>
        <p:spPr>
          <a:xfrm>
            <a:off x="4068028" y="1891641"/>
            <a:ext cx="0" cy="2692132"/>
          </a:xfrm>
          <a:prstGeom prst="line">
            <a:avLst/>
          </a:prstGeom>
          <a:ln w="25400">
            <a:solidFill>
              <a:srgbClr val="C00000"/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8" name="直线连接符 87">
            <a:extLst>
              <a:ext uri="{FF2B5EF4-FFF2-40B4-BE49-F238E27FC236}">
                <a16:creationId xmlns:a16="http://schemas.microsoft.com/office/drawing/2014/main" id="{42F7E93C-3FCE-D840-8E79-035E8CA4AC60}"/>
              </a:ext>
            </a:extLst>
          </p:cNvPr>
          <p:cNvCxnSpPr>
            <a:cxnSpLocks/>
          </p:cNvCxnSpPr>
          <p:nvPr/>
        </p:nvCxnSpPr>
        <p:spPr>
          <a:xfrm>
            <a:off x="5904148" y="1891640"/>
            <a:ext cx="0" cy="2692133"/>
          </a:xfrm>
          <a:prstGeom prst="line">
            <a:avLst/>
          </a:prstGeom>
          <a:ln w="25400">
            <a:solidFill>
              <a:srgbClr val="C00000"/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" name="直线连接符 91">
            <a:extLst>
              <a:ext uri="{FF2B5EF4-FFF2-40B4-BE49-F238E27FC236}">
                <a16:creationId xmlns:a16="http://schemas.microsoft.com/office/drawing/2014/main" id="{CCBBB7FE-82AE-1643-9F66-A98DE6E189C2}"/>
              </a:ext>
            </a:extLst>
          </p:cNvPr>
          <p:cNvCxnSpPr>
            <a:cxnSpLocks/>
          </p:cNvCxnSpPr>
          <p:nvPr/>
        </p:nvCxnSpPr>
        <p:spPr>
          <a:xfrm>
            <a:off x="1295636" y="4583773"/>
            <a:ext cx="4608512" cy="14092"/>
          </a:xfrm>
          <a:prstGeom prst="line">
            <a:avLst/>
          </a:prstGeom>
          <a:ln w="25400">
            <a:solidFill>
              <a:srgbClr val="C00000"/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5" name="文本框 94">
            <a:extLst>
              <a:ext uri="{FF2B5EF4-FFF2-40B4-BE49-F238E27FC236}">
                <a16:creationId xmlns:a16="http://schemas.microsoft.com/office/drawing/2014/main" id="{078BBE76-693E-314F-81C5-8092CEA76C38}"/>
              </a:ext>
            </a:extLst>
          </p:cNvPr>
          <p:cNvSpPr txBox="1"/>
          <p:nvPr/>
        </p:nvSpPr>
        <p:spPr>
          <a:xfrm>
            <a:off x="1212265" y="1463973"/>
            <a:ext cx="62709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/>
              <a:t>Realm</a:t>
            </a:r>
            <a:endParaRPr kumimoji="1" lang="zh-CN" altLang="en-US" dirty="0"/>
          </a:p>
        </p:txBody>
      </p:sp>
      <p:sp>
        <p:nvSpPr>
          <p:cNvPr id="96" name="文本框 95">
            <a:extLst>
              <a:ext uri="{FF2B5EF4-FFF2-40B4-BE49-F238E27FC236}">
                <a16:creationId xmlns:a16="http://schemas.microsoft.com/office/drawing/2014/main" id="{31E46428-B8B6-2543-B801-B40ECBA19690}"/>
              </a:ext>
            </a:extLst>
          </p:cNvPr>
          <p:cNvSpPr txBox="1"/>
          <p:nvPr/>
        </p:nvSpPr>
        <p:spPr>
          <a:xfrm>
            <a:off x="4110727" y="1463973"/>
            <a:ext cx="9765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/>
              <a:t>Non-secure</a:t>
            </a:r>
            <a:endParaRPr kumimoji="1" lang="zh-CN" altLang="en-US" dirty="0"/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3569AB61-CD74-5D48-9B94-9FBDF1844BD4}"/>
              </a:ext>
            </a:extLst>
          </p:cNvPr>
          <p:cNvSpPr txBox="1"/>
          <p:nvPr/>
        </p:nvSpPr>
        <p:spPr>
          <a:xfrm>
            <a:off x="6031959" y="1463973"/>
            <a:ext cx="6703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/>
              <a:t>Secure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593789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ED9AE2-5BBC-6B5A-5CD2-6F5D3846E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RMM</a:t>
            </a:r>
            <a:r>
              <a:rPr lang="zh-CN" altLang="en-US" dirty="0"/>
              <a:t>接口：</a:t>
            </a:r>
            <a:r>
              <a:rPr lang="en-US" altLang="zh-CN" dirty="0"/>
              <a:t>RMI</a:t>
            </a:r>
            <a:r>
              <a:rPr lang="zh-CN" altLang="en-US" dirty="0"/>
              <a:t>和</a:t>
            </a:r>
            <a:r>
              <a:rPr lang="en-US" altLang="zh-CN" dirty="0"/>
              <a:t>RSI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9590D7-54C8-14BF-A4DA-E4115BC28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9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E328A5-6462-D2DB-B2AF-9AC92C3D87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AA4460A-FE0B-2E47-CF62-D789D5E844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41443"/>
            <a:ext cx="7772400" cy="375219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6E27FC6-CFE4-3CC0-7C63-E1D6CB65DB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7664" y="2417311"/>
            <a:ext cx="1838896" cy="880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9282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6691F9-B179-574C-B6CD-B99AA40A7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远程验证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9CD3435-492B-BD4A-8460-B268AB53BE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0"/>
            <a:ext cx="8507288" cy="4152633"/>
          </a:xfrm>
        </p:spPr>
        <p:txBody>
          <a:bodyPr>
            <a:normAutofit/>
          </a:bodyPr>
          <a:lstStyle/>
          <a:p>
            <a:r>
              <a:rPr lang="zh-CN" altLang="en-US" sz="2000" dirty="0"/>
              <a:t>验证报告的控制流</a:t>
            </a:r>
            <a:endParaRPr lang="en-US" altLang="zh-CN" sz="1800" dirty="0"/>
          </a:p>
          <a:p>
            <a:pPr lvl="1"/>
            <a:r>
              <a:rPr lang="en-US" altLang="zh-CN" sz="1600" dirty="0"/>
              <a:t>Monitor</a:t>
            </a:r>
            <a:r>
              <a:rPr lang="zh-CN" altLang="en-US" sz="1600" dirty="0"/>
              <a:t>获得</a:t>
            </a:r>
            <a:r>
              <a:rPr lang="en-US" altLang="zh-CN" sz="1600" dirty="0"/>
              <a:t>CCA</a:t>
            </a:r>
            <a:r>
              <a:rPr lang="zh-CN" altLang="en-US" sz="1600" dirty="0"/>
              <a:t>平台报告，并返回给</a:t>
            </a:r>
            <a:r>
              <a:rPr lang="en-US" altLang="zh-CN" sz="1600" dirty="0"/>
              <a:t>RMM</a:t>
            </a:r>
          </a:p>
          <a:p>
            <a:pPr lvl="1"/>
            <a:r>
              <a:rPr lang="en-US" altLang="zh-CN" sz="1600" dirty="0"/>
              <a:t>RMM</a:t>
            </a:r>
            <a:r>
              <a:rPr lang="zh-CN" altLang="en-US" sz="1600" dirty="0"/>
              <a:t>将</a:t>
            </a:r>
            <a:r>
              <a:rPr lang="en-US" altLang="zh-CN" sz="1600" dirty="0"/>
              <a:t>Realm</a:t>
            </a:r>
            <a:r>
              <a:rPr lang="zh-CN" altLang="en-US" sz="1600" dirty="0"/>
              <a:t>的度量信息添加到报告中，并返回给</a:t>
            </a:r>
            <a:r>
              <a:rPr lang="en-US" altLang="zh-CN" sz="1600" dirty="0"/>
              <a:t>Realm</a:t>
            </a:r>
          </a:p>
          <a:p>
            <a:endParaRPr lang="en-US" altLang="zh-CN" sz="2200" dirty="0"/>
          </a:p>
          <a:p>
            <a:pPr lvl="1"/>
            <a:endParaRPr lang="en-US" altLang="zh-CN" sz="1800" dirty="0"/>
          </a:p>
          <a:p>
            <a:endParaRPr lang="en-US" altLang="zh-CN" sz="1800" dirty="0"/>
          </a:p>
          <a:p>
            <a:pPr marL="514350" lvl="1" indent="0">
              <a:buNone/>
            </a:pPr>
            <a:endParaRPr lang="en" altLang="zh-CN" sz="2000" dirty="0"/>
          </a:p>
          <a:p>
            <a:endParaRPr lang="en" altLang="zh-CN" sz="2000" dirty="0"/>
          </a:p>
          <a:p>
            <a:endParaRPr lang="en-US" altLang="zh-CN" sz="2000" dirty="0"/>
          </a:p>
          <a:p>
            <a:pPr lvl="1"/>
            <a:endParaRPr lang="en" altLang="zh-CN" sz="1800" dirty="0"/>
          </a:p>
          <a:p>
            <a:pPr lvl="1"/>
            <a:endParaRPr lang="en" altLang="zh-CN" sz="1800" dirty="0"/>
          </a:p>
          <a:p>
            <a:pPr lvl="1"/>
            <a:endParaRPr lang="en-US" altLang="zh-CN" sz="1800" dirty="0"/>
          </a:p>
          <a:p>
            <a:pPr marL="457200" lvl="1" indent="0">
              <a:buNone/>
            </a:pPr>
            <a:endParaRPr lang="en" altLang="zh-CN" sz="1800" dirty="0"/>
          </a:p>
          <a:p>
            <a:endParaRPr lang="en" altLang="zh-CN" sz="2000" dirty="0"/>
          </a:p>
          <a:p>
            <a:pPr lvl="1"/>
            <a:endParaRPr lang="en-US" altLang="zh-CN" sz="1800" dirty="0"/>
          </a:p>
          <a:p>
            <a:pPr lvl="1"/>
            <a:endParaRPr lang="en-US" altLang="zh-CN" sz="1800" dirty="0"/>
          </a:p>
          <a:p>
            <a:pPr lvl="1"/>
            <a:endParaRPr lang="en" altLang="zh-CN" sz="1800" dirty="0"/>
          </a:p>
          <a:p>
            <a:endParaRPr lang="en-US" altLang="zh-CN" sz="2000" dirty="0"/>
          </a:p>
          <a:p>
            <a:pPr lvl="2">
              <a:lnSpc>
                <a:spcPct val="130000"/>
              </a:lnSpc>
            </a:pPr>
            <a:endParaRPr lang="en" altLang="zh-CN" sz="1400" dirty="0"/>
          </a:p>
          <a:p>
            <a:pPr lvl="1">
              <a:lnSpc>
                <a:spcPct val="130000"/>
              </a:lnSpc>
            </a:pPr>
            <a:endParaRPr lang="en" altLang="zh-CN" sz="1800" dirty="0"/>
          </a:p>
          <a:p>
            <a:endParaRPr lang="en-US" altLang="zh-CN" sz="24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6A4D391-AEDD-6A43-BFE9-005F1220B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10</a:t>
            </a:fld>
            <a:endParaRPr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03686B44-2EBD-9548-6042-50AFB0F2DC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72" y="2641476"/>
            <a:ext cx="8219758" cy="2090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77154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3A3A7078-2947-A24E-B9C1-3D06E1ACC8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其他机密虚拟化方案</a:t>
            </a: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C81737A5-FDCC-284D-B0C7-6EB7B35979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AF45FD7-1C84-7645-BE3D-7B1519735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640AAE6-A750-7D4E-8766-741E58EEEA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634622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457D9-B518-27D3-7734-6A6ADFCF3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ARM</a:t>
            </a:r>
            <a:r>
              <a:rPr lang="zh-CN" altLang="en-US" dirty="0"/>
              <a:t> </a:t>
            </a:r>
            <a:r>
              <a:rPr lang="en-US" altLang="zh-CN" dirty="0"/>
              <a:t>SEL2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B2226F-6C88-39E5-FEAA-FD2036A37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12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D3931E-9F4D-C2F3-836D-4295693A2D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54" name="内容占位符 6">
            <a:extLst>
              <a:ext uri="{FF2B5EF4-FFF2-40B4-BE49-F238E27FC236}">
                <a16:creationId xmlns:a16="http://schemas.microsoft.com/office/drawing/2014/main" id="{CED028E8-52AD-164B-B668-39B7A417AB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229600" cy="3771636"/>
          </a:xfrm>
        </p:spPr>
        <p:txBody>
          <a:bodyPr>
            <a:normAutofit/>
          </a:bodyPr>
          <a:lstStyle/>
          <a:p>
            <a:r>
              <a:rPr lang="en-US" altLang="zh-CN" sz="1800" dirty="0"/>
              <a:t>ARM</a:t>
            </a:r>
            <a:r>
              <a:rPr lang="zh-CN" altLang="en-US" sz="1800" dirty="0"/>
              <a:t> </a:t>
            </a:r>
            <a:r>
              <a:rPr lang="en-US" altLang="zh-CN" sz="1800" dirty="0"/>
              <a:t>TrustZone</a:t>
            </a:r>
            <a:r>
              <a:rPr lang="zh-CN" altLang="en-US" sz="1800" dirty="0"/>
              <a:t> </a:t>
            </a:r>
            <a:r>
              <a:rPr lang="en-US" altLang="zh-CN" sz="1800" dirty="0"/>
              <a:t>&amp;</a:t>
            </a:r>
            <a:r>
              <a:rPr lang="zh-CN" altLang="en-US" sz="1800" dirty="0"/>
              <a:t> </a:t>
            </a:r>
            <a:r>
              <a:rPr lang="en-US" altLang="zh-CN" sz="1800" dirty="0"/>
              <a:t>Secure-EL2</a:t>
            </a:r>
            <a:r>
              <a:rPr lang="zh-CN" altLang="en-US" sz="1800" dirty="0"/>
              <a:t> </a:t>
            </a:r>
            <a:r>
              <a:rPr lang="en-US" altLang="zh-CN" sz="1800" dirty="0"/>
              <a:t>(S-EL2)</a:t>
            </a:r>
            <a:r>
              <a:rPr lang="zh-CN" altLang="en-US" sz="1800" dirty="0"/>
              <a:t>硬件扩展</a:t>
            </a:r>
            <a:endParaRPr lang="en-US" altLang="zh-CN" sz="1800" dirty="0"/>
          </a:p>
          <a:p>
            <a:pPr lvl="1"/>
            <a:r>
              <a:rPr lang="en-US" altLang="zh-CN" sz="1440" dirty="0"/>
              <a:t>TrustZone:</a:t>
            </a:r>
            <a:r>
              <a:rPr lang="zh-CN" altLang="en-US" sz="1440" dirty="0"/>
              <a:t> 与普通世界硬件隔离，被广泛应用于移动端</a:t>
            </a:r>
            <a:endParaRPr lang="en-US" altLang="zh-CN" sz="1440" dirty="0"/>
          </a:p>
          <a:p>
            <a:pPr lvl="1"/>
            <a:r>
              <a:rPr lang="zh-CN" altLang="en-US" sz="1440" dirty="0"/>
              <a:t>从</a:t>
            </a:r>
            <a:r>
              <a:rPr lang="en-US" altLang="zh-CN" sz="1440" dirty="0"/>
              <a:t>ARMv8.4</a:t>
            </a:r>
            <a:r>
              <a:rPr lang="zh-CN" altLang="en-US" sz="1440" dirty="0"/>
              <a:t>开始引入的</a:t>
            </a:r>
            <a:r>
              <a:rPr lang="en-US" altLang="zh-CN" sz="1440" dirty="0"/>
              <a:t>S-EL2</a:t>
            </a:r>
            <a:r>
              <a:rPr lang="zh-CN" altLang="en-US" sz="1440" dirty="0"/>
              <a:t>扩展在</a:t>
            </a:r>
            <a:r>
              <a:rPr lang="en-US" altLang="zh-CN" sz="1440" dirty="0" err="1"/>
              <a:t>TrustZone</a:t>
            </a:r>
            <a:r>
              <a:rPr lang="zh-CN" altLang="en-US" sz="1440" dirty="0"/>
              <a:t>中支持了硬件虚拟化</a:t>
            </a:r>
            <a:endParaRPr lang="en-US" altLang="zh-CN" sz="1440" dirty="0"/>
          </a:p>
          <a:p>
            <a:pPr lvl="2"/>
            <a:r>
              <a:rPr lang="en-US" altLang="zh-CN" sz="1440" dirty="0"/>
              <a:t>S-EL2</a:t>
            </a:r>
            <a:r>
              <a:rPr lang="zh-CN" altLang="en-US" sz="1440" dirty="0"/>
              <a:t>与普通世界的</a:t>
            </a:r>
            <a:r>
              <a:rPr lang="en-US" altLang="zh-CN" sz="1440" dirty="0"/>
              <a:t>EL2</a:t>
            </a:r>
            <a:r>
              <a:rPr lang="zh-CN" altLang="en-US" sz="1440" dirty="0"/>
              <a:t>功能相同</a:t>
            </a:r>
            <a:endParaRPr lang="en-US" altLang="zh-CN" sz="1260" dirty="0"/>
          </a:p>
          <a:p>
            <a:pPr marL="411472" lvl="1" indent="0">
              <a:buNone/>
            </a:pPr>
            <a:endParaRPr lang="en-US" altLang="zh-CN" sz="1440" dirty="0"/>
          </a:p>
          <a:p>
            <a:pPr lvl="1"/>
            <a:endParaRPr lang="en-US" altLang="zh-CN" sz="144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74EE0AB-AB5A-58FF-1CC3-5D685D337AC5}"/>
              </a:ext>
            </a:extLst>
          </p:cNvPr>
          <p:cNvSpPr txBox="1"/>
          <p:nvPr/>
        </p:nvSpPr>
        <p:spPr>
          <a:xfrm>
            <a:off x="1112725" y="4418757"/>
            <a:ext cx="2602789" cy="674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60" dirty="0"/>
              <a:t>基于区域粒度的内存隔离</a:t>
            </a:r>
            <a:endParaRPr lang="en-US" altLang="zh-CN" sz="1260" dirty="0"/>
          </a:p>
          <a:p>
            <a:pPr marL="257170" indent="-257170">
              <a:buFontTx/>
              <a:buChar char="-"/>
            </a:pPr>
            <a:r>
              <a:rPr lang="zh-CN" altLang="en-US" sz="1260" dirty="0"/>
              <a:t>最多</a:t>
            </a:r>
            <a:r>
              <a:rPr lang="en-US" altLang="zh-CN" sz="1260" dirty="0"/>
              <a:t>8</a:t>
            </a:r>
            <a:r>
              <a:rPr lang="zh-CN" altLang="en-US" sz="1260" dirty="0"/>
              <a:t>个内存区域 </a:t>
            </a:r>
            <a:r>
              <a:rPr lang="en-US" altLang="zh-CN" sz="1260" dirty="0"/>
              <a:t>(TZC-400)</a:t>
            </a:r>
          </a:p>
          <a:p>
            <a:pPr marL="257170" indent="-257170">
              <a:buFontTx/>
              <a:buChar char="-"/>
            </a:pPr>
            <a:r>
              <a:rPr lang="zh-CN" altLang="en-US" sz="1260" dirty="0"/>
              <a:t>可在</a:t>
            </a:r>
            <a:r>
              <a:rPr lang="en-US" altLang="zh-CN" sz="1260" dirty="0"/>
              <a:t>EL3</a:t>
            </a:r>
            <a:r>
              <a:rPr lang="zh-CN" altLang="en-US" sz="1260" dirty="0"/>
              <a:t> </a:t>
            </a:r>
            <a:r>
              <a:rPr lang="en-US" altLang="zh-CN" sz="1260" dirty="0"/>
              <a:t>&amp;</a:t>
            </a:r>
            <a:r>
              <a:rPr lang="zh-CN" altLang="en-US" sz="1260" dirty="0"/>
              <a:t> </a:t>
            </a:r>
            <a:r>
              <a:rPr lang="en-US" altLang="zh-CN" sz="1260" dirty="0"/>
              <a:t>S-EL2</a:t>
            </a:r>
            <a:r>
              <a:rPr lang="zh-CN" altLang="en-US" sz="1260" dirty="0"/>
              <a:t>进行配置</a:t>
            </a:r>
            <a:endParaRPr lang="en-CN" altLang="zh-CN" sz="1260" dirty="0"/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7FA8AE57-20E2-41C9-3CB5-D94E1A95F536}"/>
              </a:ext>
            </a:extLst>
          </p:cNvPr>
          <p:cNvGrpSpPr/>
          <p:nvPr/>
        </p:nvGrpSpPr>
        <p:grpSpPr>
          <a:xfrm>
            <a:off x="3716883" y="2609237"/>
            <a:ext cx="4579468" cy="2440426"/>
            <a:chOff x="3467510" y="2556799"/>
            <a:chExt cx="5088298" cy="2711584"/>
          </a:xfrm>
        </p:grpSpPr>
        <p:sp>
          <p:nvSpPr>
            <p:cNvPr id="57" name="Rounded Rectangle 56">
              <a:extLst>
                <a:ext uri="{FF2B5EF4-FFF2-40B4-BE49-F238E27FC236}">
                  <a16:creationId xmlns:a16="http://schemas.microsoft.com/office/drawing/2014/main" id="{F3149654-D172-E401-F219-A52E60ADAC50}"/>
                </a:ext>
              </a:extLst>
            </p:cNvPr>
            <p:cNvSpPr/>
            <p:nvPr/>
          </p:nvSpPr>
          <p:spPr>
            <a:xfrm>
              <a:off x="5560388" y="4118778"/>
              <a:ext cx="939866" cy="311161"/>
            </a:xfrm>
            <a:prstGeom prst="roundRect">
              <a:avLst/>
            </a:prstGeom>
            <a:pattFill prst="lgCheck">
              <a:fgClr>
                <a:schemeClr val="accent6"/>
              </a:fgClr>
              <a:bgClr>
                <a:schemeClr val="bg1"/>
              </a:bgClr>
            </a:patt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1260" dirty="0">
                <a:solidFill>
                  <a:schemeClr val="tx1"/>
                </a:solidFill>
              </a:endParaRPr>
            </a:p>
          </p:txBody>
        </p: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ABB0BD23-2E56-E38C-5A02-102FAE7B704A}"/>
                </a:ext>
              </a:extLst>
            </p:cNvPr>
            <p:cNvCxnSpPr>
              <a:cxnSpLocks/>
            </p:cNvCxnSpPr>
            <p:nvPr/>
          </p:nvCxnSpPr>
          <p:spPr>
            <a:xfrm>
              <a:off x="4030634" y="4480649"/>
              <a:ext cx="3943102" cy="0"/>
            </a:xfrm>
            <a:prstGeom prst="line">
              <a:avLst/>
            </a:prstGeom>
            <a:ln w="127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ADF7D8AB-660A-9B71-BAF3-DE564BA616A1}"/>
                </a:ext>
              </a:extLst>
            </p:cNvPr>
            <p:cNvCxnSpPr>
              <a:cxnSpLocks/>
            </p:cNvCxnSpPr>
            <p:nvPr/>
          </p:nvCxnSpPr>
          <p:spPr>
            <a:xfrm>
              <a:off x="5292080" y="3012954"/>
              <a:ext cx="0" cy="1397145"/>
            </a:xfrm>
            <a:prstGeom prst="line">
              <a:avLst/>
            </a:prstGeom>
            <a:ln w="127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Rounded Rectangle 59">
              <a:extLst>
                <a:ext uri="{FF2B5EF4-FFF2-40B4-BE49-F238E27FC236}">
                  <a16:creationId xmlns:a16="http://schemas.microsoft.com/office/drawing/2014/main" id="{49FDED49-6365-86F6-3358-5295634DC405}"/>
                </a:ext>
              </a:extLst>
            </p:cNvPr>
            <p:cNvSpPr/>
            <p:nvPr/>
          </p:nvSpPr>
          <p:spPr>
            <a:xfrm>
              <a:off x="4806738" y="4567376"/>
              <a:ext cx="989398" cy="257746"/>
            </a:xfrm>
            <a:prstGeom prst="roundRect">
              <a:avLst/>
            </a:prstGeom>
            <a:solidFill>
              <a:schemeClr val="accent6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60" dirty="0">
                  <a:solidFill>
                    <a:schemeClr val="tx1"/>
                  </a:solidFill>
                </a:rPr>
                <a:t>F</a:t>
              </a:r>
              <a:r>
                <a:rPr lang="en-US" altLang="zh-CN" sz="1260" dirty="0">
                  <a:solidFill>
                    <a:schemeClr val="tx1"/>
                  </a:solidFill>
                </a:rPr>
                <a:t>irmware</a:t>
              </a:r>
              <a:endParaRPr lang="en-CN" sz="1260" dirty="0">
                <a:solidFill>
                  <a:schemeClr val="tx1"/>
                </a:solidFill>
              </a:endParaRPr>
            </a:p>
          </p:txBody>
        </p:sp>
        <p:sp>
          <p:nvSpPr>
            <p:cNvPr id="61" name="Rounded Rectangle 60">
              <a:extLst>
                <a:ext uri="{FF2B5EF4-FFF2-40B4-BE49-F238E27FC236}">
                  <a16:creationId xmlns:a16="http://schemas.microsoft.com/office/drawing/2014/main" id="{861C80E4-2792-97FD-B9A9-079C2DC2EC5C}"/>
                </a:ext>
              </a:extLst>
            </p:cNvPr>
            <p:cNvSpPr/>
            <p:nvPr/>
          </p:nvSpPr>
          <p:spPr>
            <a:xfrm>
              <a:off x="6863742" y="4127337"/>
              <a:ext cx="1070684" cy="257746"/>
            </a:xfrm>
            <a:prstGeom prst="roundRect">
              <a:avLst/>
            </a:prstGeom>
            <a:solidFill>
              <a:srgbClr val="66CBAD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tx1"/>
                  </a:solidFill>
                </a:rPr>
                <a:t>Hypervisor</a:t>
              </a:r>
              <a:endParaRPr lang="en-CN" sz="1260" dirty="0">
                <a:solidFill>
                  <a:schemeClr val="tx1"/>
                </a:solidFill>
              </a:endParaRPr>
            </a:p>
          </p:txBody>
        </p:sp>
        <p:sp>
          <p:nvSpPr>
            <p:cNvPr id="62" name="Rounded Rectangle 61">
              <a:extLst>
                <a:ext uri="{FF2B5EF4-FFF2-40B4-BE49-F238E27FC236}">
                  <a16:creationId xmlns:a16="http://schemas.microsoft.com/office/drawing/2014/main" id="{201C376C-2151-E701-F40E-B841679980B1}"/>
                </a:ext>
              </a:extLst>
            </p:cNvPr>
            <p:cNvSpPr/>
            <p:nvPr/>
          </p:nvSpPr>
          <p:spPr>
            <a:xfrm>
              <a:off x="7003927" y="3192093"/>
              <a:ext cx="792087" cy="252014"/>
            </a:xfrm>
            <a:prstGeom prst="roundRect">
              <a:avLst/>
            </a:prstGeom>
            <a:solidFill>
              <a:srgbClr val="66CBAD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60" dirty="0">
                  <a:solidFill>
                    <a:schemeClr val="tx1"/>
                  </a:solidFill>
                </a:rPr>
                <a:t>APPs</a:t>
              </a:r>
              <a:endParaRPr lang="en-CN" sz="1260" dirty="0">
                <a:solidFill>
                  <a:schemeClr val="tx1"/>
                </a:solidFill>
              </a:endParaRPr>
            </a:p>
          </p:txBody>
        </p:sp>
        <p:sp>
          <p:nvSpPr>
            <p:cNvPr id="63" name="Rounded Rectangle 62">
              <a:extLst>
                <a:ext uri="{FF2B5EF4-FFF2-40B4-BE49-F238E27FC236}">
                  <a16:creationId xmlns:a16="http://schemas.microsoft.com/office/drawing/2014/main" id="{8CF338AC-2329-6CFA-19FF-4AC8C7B936D5}"/>
                </a:ext>
              </a:extLst>
            </p:cNvPr>
            <p:cNvSpPr/>
            <p:nvPr/>
          </p:nvSpPr>
          <p:spPr>
            <a:xfrm>
              <a:off x="7003041" y="3648300"/>
              <a:ext cx="792087" cy="252014"/>
            </a:xfrm>
            <a:prstGeom prst="roundRect">
              <a:avLst/>
            </a:prstGeom>
            <a:solidFill>
              <a:srgbClr val="66CBAD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60" dirty="0">
                  <a:solidFill>
                    <a:schemeClr val="tx1"/>
                  </a:solidFill>
                </a:rPr>
                <a:t>Kernel</a:t>
              </a:r>
              <a:endParaRPr lang="en-CN" sz="1260" dirty="0">
                <a:solidFill>
                  <a:schemeClr val="tx1"/>
                </a:solidFill>
              </a:endParaRPr>
            </a:p>
          </p:txBody>
        </p: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503ABC0E-596A-3B20-13A9-57630245AB52}"/>
                </a:ext>
              </a:extLst>
            </p:cNvPr>
            <p:cNvCxnSpPr>
              <a:cxnSpLocks/>
            </p:cNvCxnSpPr>
            <p:nvPr/>
          </p:nvCxnSpPr>
          <p:spPr>
            <a:xfrm>
              <a:off x="7003041" y="3557870"/>
              <a:ext cx="792087" cy="0"/>
            </a:xfrm>
            <a:prstGeom prst="line">
              <a:avLst/>
            </a:prstGeom>
            <a:ln w="127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5D5A8F7A-CF39-9CB1-0453-45755F139C6B}"/>
                </a:ext>
              </a:extLst>
            </p:cNvPr>
            <p:cNvSpPr/>
            <p:nvPr/>
          </p:nvSpPr>
          <p:spPr>
            <a:xfrm>
              <a:off x="6936147" y="3104579"/>
              <a:ext cx="925874" cy="860517"/>
            </a:xfrm>
            <a:prstGeom prst="rect">
              <a:avLst/>
            </a:prstGeom>
            <a:noFill/>
            <a:ln w="25400">
              <a:solidFill>
                <a:srgbClr val="7EBE8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1620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8C7C7BB2-9DE5-499B-197A-0CCA1CFB700D}"/>
                </a:ext>
              </a:extLst>
            </p:cNvPr>
            <p:cNvSpPr txBox="1"/>
            <p:nvPr/>
          </p:nvSpPr>
          <p:spPr>
            <a:xfrm>
              <a:off x="7909446" y="3162797"/>
              <a:ext cx="634433" cy="28725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080" dirty="0"/>
                <a:t>S-EL0</a:t>
              </a:r>
              <a:endParaRPr lang="en-CN" sz="1080" dirty="0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0C311C3D-CB82-B44C-4E90-1182F36362DA}"/>
                </a:ext>
              </a:extLst>
            </p:cNvPr>
            <p:cNvSpPr txBox="1"/>
            <p:nvPr/>
          </p:nvSpPr>
          <p:spPr>
            <a:xfrm>
              <a:off x="7921375" y="3620418"/>
              <a:ext cx="634433" cy="28725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080" dirty="0"/>
                <a:t>S-EL1</a:t>
              </a:r>
              <a:endParaRPr lang="en-CN" sz="1080" dirty="0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0565ADA6-55CF-C377-04C2-E88A2B5BE318}"/>
                </a:ext>
              </a:extLst>
            </p:cNvPr>
            <p:cNvSpPr txBox="1"/>
            <p:nvPr/>
          </p:nvSpPr>
          <p:spPr>
            <a:xfrm>
              <a:off x="7909446" y="4109297"/>
              <a:ext cx="634433" cy="28725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080" dirty="0"/>
                <a:t>S-EL2</a:t>
              </a:r>
              <a:endParaRPr lang="en-CN" sz="1080" dirty="0"/>
            </a:p>
          </p:txBody>
        </p:sp>
        <p:sp>
          <p:nvSpPr>
            <p:cNvPr id="69" name="Rounded Rectangle 68">
              <a:extLst>
                <a:ext uri="{FF2B5EF4-FFF2-40B4-BE49-F238E27FC236}">
                  <a16:creationId xmlns:a16="http://schemas.microsoft.com/office/drawing/2014/main" id="{D94586F8-9F03-4B10-2785-32D29DCFA121}"/>
                </a:ext>
              </a:extLst>
            </p:cNvPr>
            <p:cNvSpPr/>
            <p:nvPr/>
          </p:nvSpPr>
          <p:spPr>
            <a:xfrm>
              <a:off x="4057822" y="4127338"/>
              <a:ext cx="1070684" cy="257746"/>
            </a:xfrm>
            <a:prstGeom prst="roundRect">
              <a:avLst/>
            </a:prstGeom>
            <a:solidFill>
              <a:srgbClr val="EA154B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bg1"/>
                  </a:solidFill>
                </a:rPr>
                <a:t>Hypervisor</a:t>
              </a:r>
              <a:endParaRPr lang="en-CN" sz="1260" dirty="0">
                <a:solidFill>
                  <a:schemeClr val="bg1"/>
                </a:solidFill>
              </a:endParaRPr>
            </a:p>
          </p:txBody>
        </p:sp>
        <p:sp>
          <p:nvSpPr>
            <p:cNvPr id="70" name="Rounded Rectangle 69">
              <a:extLst>
                <a:ext uri="{FF2B5EF4-FFF2-40B4-BE49-F238E27FC236}">
                  <a16:creationId xmlns:a16="http://schemas.microsoft.com/office/drawing/2014/main" id="{2E2E3B7B-CEA2-4AB5-830F-AB941A928328}"/>
                </a:ext>
              </a:extLst>
            </p:cNvPr>
            <p:cNvSpPr/>
            <p:nvPr/>
          </p:nvSpPr>
          <p:spPr>
            <a:xfrm>
              <a:off x="4198007" y="3192093"/>
              <a:ext cx="792087" cy="252014"/>
            </a:xfrm>
            <a:prstGeom prst="roundRect">
              <a:avLst/>
            </a:prstGeom>
            <a:solidFill>
              <a:srgbClr val="EA154B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60" dirty="0">
                  <a:solidFill>
                    <a:schemeClr val="bg1"/>
                  </a:solidFill>
                </a:rPr>
                <a:t>APPs</a:t>
              </a:r>
              <a:endParaRPr lang="en-CN" sz="1260" dirty="0">
                <a:solidFill>
                  <a:schemeClr val="bg1"/>
                </a:solidFill>
              </a:endParaRPr>
            </a:p>
          </p:txBody>
        </p:sp>
        <p:sp>
          <p:nvSpPr>
            <p:cNvPr id="71" name="Rounded Rectangle 70">
              <a:extLst>
                <a:ext uri="{FF2B5EF4-FFF2-40B4-BE49-F238E27FC236}">
                  <a16:creationId xmlns:a16="http://schemas.microsoft.com/office/drawing/2014/main" id="{A466B6AA-4ACB-F966-86FC-480E53625D75}"/>
                </a:ext>
              </a:extLst>
            </p:cNvPr>
            <p:cNvSpPr/>
            <p:nvPr/>
          </p:nvSpPr>
          <p:spPr>
            <a:xfrm>
              <a:off x="4197121" y="3648300"/>
              <a:ext cx="792087" cy="252014"/>
            </a:xfrm>
            <a:prstGeom prst="roundRect">
              <a:avLst/>
            </a:prstGeom>
            <a:solidFill>
              <a:srgbClr val="EA154B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60" dirty="0">
                  <a:solidFill>
                    <a:schemeClr val="bg1"/>
                  </a:solidFill>
                </a:rPr>
                <a:t>Kernel</a:t>
              </a:r>
              <a:endParaRPr lang="en-CN" sz="1260" dirty="0">
                <a:solidFill>
                  <a:schemeClr val="bg1"/>
                </a:solidFill>
              </a:endParaRPr>
            </a:p>
          </p:txBody>
        </p: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36C57DAA-EA19-980E-9B32-9C31F4123528}"/>
                </a:ext>
              </a:extLst>
            </p:cNvPr>
            <p:cNvCxnSpPr>
              <a:cxnSpLocks/>
            </p:cNvCxnSpPr>
            <p:nvPr/>
          </p:nvCxnSpPr>
          <p:spPr>
            <a:xfrm>
              <a:off x="4197121" y="3557870"/>
              <a:ext cx="792087" cy="0"/>
            </a:xfrm>
            <a:prstGeom prst="line">
              <a:avLst/>
            </a:prstGeom>
            <a:ln w="127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0E8F0F9F-E983-F389-EB72-A05E69CC9093}"/>
                </a:ext>
              </a:extLst>
            </p:cNvPr>
            <p:cNvCxnSpPr>
              <a:cxnSpLocks/>
            </p:cNvCxnSpPr>
            <p:nvPr/>
          </p:nvCxnSpPr>
          <p:spPr>
            <a:xfrm>
              <a:off x="4030634" y="4049977"/>
              <a:ext cx="1139434" cy="1"/>
            </a:xfrm>
            <a:prstGeom prst="line">
              <a:avLst/>
            </a:prstGeom>
            <a:ln w="127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3413C2EE-7F5C-77B8-68BD-3DBA8EEB74B0}"/>
                </a:ext>
              </a:extLst>
            </p:cNvPr>
            <p:cNvSpPr/>
            <p:nvPr/>
          </p:nvSpPr>
          <p:spPr>
            <a:xfrm>
              <a:off x="4130227" y="3104579"/>
              <a:ext cx="925874" cy="860517"/>
            </a:xfrm>
            <a:prstGeom prst="rect">
              <a:avLst/>
            </a:prstGeom>
            <a:noFill/>
            <a:ln w="25400">
              <a:solidFill>
                <a:srgbClr val="EA154B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1620"/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D4DE0823-A5BE-9F04-9758-D32151D1C0D6}"/>
                </a:ext>
              </a:extLst>
            </p:cNvPr>
            <p:cNvSpPr txBox="1"/>
            <p:nvPr/>
          </p:nvSpPr>
          <p:spPr>
            <a:xfrm>
              <a:off x="4168186" y="2560715"/>
              <a:ext cx="924754" cy="31803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CN" sz="1260" dirty="0">
                  <a:solidFill>
                    <a:srgbClr val="EA154B"/>
                  </a:solidFill>
                  <a:latin typeface="American Typewriter" panose="02090604020004020304" pitchFamily="18" charset="77"/>
                </a:rPr>
                <a:t>普通</a:t>
              </a:r>
              <a:r>
                <a:rPr lang="zh-CN" altLang="en-US" sz="1260" dirty="0">
                  <a:solidFill>
                    <a:srgbClr val="EA154B"/>
                  </a:solidFill>
                  <a:latin typeface="American Typewriter" panose="02090604020004020304" pitchFamily="18" charset="77"/>
                </a:rPr>
                <a:t>世界</a:t>
              </a:r>
              <a:endParaRPr lang="en-CN" sz="1260" dirty="0">
                <a:solidFill>
                  <a:srgbClr val="EA154B"/>
                </a:solidFill>
                <a:latin typeface="American Typewriter" panose="02090604020004020304" pitchFamily="18" charset="77"/>
              </a:endParaRP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97AAC14F-C53C-8E4A-9F42-8B29DE179C00}"/>
                </a:ext>
              </a:extLst>
            </p:cNvPr>
            <p:cNvSpPr txBox="1"/>
            <p:nvPr/>
          </p:nvSpPr>
          <p:spPr>
            <a:xfrm>
              <a:off x="6918022" y="2846661"/>
              <a:ext cx="940786" cy="28725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080" dirty="0"/>
                <a:t>支持</a:t>
              </a:r>
              <a:r>
                <a:rPr lang="en-US" altLang="zh-CN" sz="1080" dirty="0"/>
                <a:t>S-EL2</a:t>
              </a:r>
              <a:endParaRPr lang="en-CN" sz="1080" dirty="0"/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E9682DA9-9B51-6F41-3342-1E6191A505D6}"/>
                </a:ext>
              </a:extLst>
            </p:cNvPr>
            <p:cNvSpPr txBox="1"/>
            <p:nvPr/>
          </p:nvSpPr>
          <p:spPr>
            <a:xfrm>
              <a:off x="3475906" y="3170698"/>
              <a:ext cx="641558" cy="28725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080" dirty="0"/>
                <a:t>N-EL0</a:t>
              </a:r>
              <a:endParaRPr lang="en-CN" sz="1080" dirty="0"/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F2E963C4-3C05-05D8-77A3-9DD4FC8A7070}"/>
                </a:ext>
              </a:extLst>
            </p:cNvPr>
            <p:cNvSpPr txBox="1"/>
            <p:nvPr/>
          </p:nvSpPr>
          <p:spPr>
            <a:xfrm>
              <a:off x="3467510" y="3618097"/>
              <a:ext cx="641558" cy="28725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080" dirty="0"/>
                <a:t>N-EL1</a:t>
              </a:r>
              <a:endParaRPr lang="en-CN" sz="1080" dirty="0"/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4FEB0201-33F3-7001-1F5E-0193E321DE0D}"/>
                </a:ext>
              </a:extLst>
            </p:cNvPr>
            <p:cNvSpPr txBox="1"/>
            <p:nvPr/>
          </p:nvSpPr>
          <p:spPr>
            <a:xfrm>
              <a:off x="3477521" y="4109297"/>
              <a:ext cx="641558" cy="28725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080" dirty="0"/>
                <a:t>N-EL2</a:t>
              </a:r>
              <a:endParaRPr lang="en-CN" sz="1080" dirty="0"/>
            </a:p>
          </p:txBody>
        </p: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BB4DCC81-BD8A-96B1-4116-3661A496F6A5}"/>
                </a:ext>
              </a:extLst>
            </p:cNvPr>
            <p:cNvCxnSpPr>
              <a:cxnSpLocks/>
            </p:cNvCxnSpPr>
            <p:nvPr/>
          </p:nvCxnSpPr>
          <p:spPr>
            <a:xfrm>
              <a:off x="6834302" y="4046215"/>
              <a:ext cx="1139434" cy="1"/>
            </a:xfrm>
            <a:prstGeom prst="line">
              <a:avLst/>
            </a:prstGeom>
            <a:ln w="127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73F926C5-5BAA-9090-818C-F9FA39A83E62}"/>
                </a:ext>
              </a:extLst>
            </p:cNvPr>
            <p:cNvSpPr txBox="1"/>
            <p:nvPr/>
          </p:nvSpPr>
          <p:spPr>
            <a:xfrm>
              <a:off x="8063335" y="4560982"/>
              <a:ext cx="479476" cy="28725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080" dirty="0"/>
                <a:t>EL3</a:t>
              </a:r>
              <a:endParaRPr lang="en-CN" sz="1080" dirty="0"/>
            </a:p>
          </p:txBody>
        </p: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D4986919-C40C-47C3-1567-B5750DE0AA6D}"/>
                </a:ext>
              </a:extLst>
            </p:cNvPr>
            <p:cNvCxnSpPr>
              <a:cxnSpLocks/>
            </p:cNvCxnSpPr>
            <p:nvPr/>
          </p:nvCxnSpPr>
          <p:spPr>
            <a:xfrm>
              <a:off x="4057822" y="4892952"/>
              <a:ext cx="3898209" cy="0"/>
            </a:xfrm>
            <a:prstGeom prst="line">
              <a:avLst/>
            </a:prstGeom>
            <a:ln w="127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Elbow Connector 82">
              <a:extLst>
                <a:ext uri="{FF2B5EF4-FFF2-40B4-BE49-F238E27FC236}">
                  <a16:creationId xmlns:a16="http://schemas.microsoft.com/office/drawing/2014/main" id="{5BAF469F-8A50-6531-ABF9-182C1FF8BF5D}"/>
                </a:ext>
              </a:extLst>
            </p:cNvPr>
            <p:cNvCxnSpPr>
              <a:cxnSpLocks/>
              <a:stCxn id="61" idx="2"/>
              <a:endCxn id="60" idx="3"/>
            </p:cNvCxnSpPr>
            <p:nvPr/>
          </p:nvCxnSpPr>
          <p:spPr>
            <a:xfrm rot="5400000">
              <a:off x="6442027" y="3739192"/>
              <a:ext cx="311166" cy="1602948"/>
            </a:xfrm>
            <a:prstGeom prst="bentConnector2">
              <a:avLst/>
            </a:prstGeom>
            <a:ln w="25400">
              <a:solidFill>
                <a:schemeClr val="tx1"/>
              </a:solidFill>
              <a:headEnd w="sm" len="lg"/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Elbow Connector 83">
              <a:extLst>
                <a:ext uri="{FF2B5EF4-FFF2-40B4-BE49-F238E27FC236}">
                  <a16:creationId xmlns:a16="http://schemas.microsoft.com/office/drawing/2014/main" id="{CBF1097A-61B3-C954-0D4C-54B55148D1A3}"/>
                </a:ext>
              </a:extLst>
            </p:cNvPr>
            <p:cNvCxnSpPr>
              <a:cxnSpLocks/>
              <a:stCxn id="69" idx="2"/>
            </p:cNvCxnSpPr>
            <p:nvPr/>
          </p:nvCxnSpPr>
          <p:spPr>
            <a:xfrm rot="16200000" flipH="1">
              <a:off x="4523862" y="4454385"/>
              <a:ext cx="311165" cy="172561"/>
            </a:xfrm>
            <a:prstGeom prst="bentConnector2">
              <a:avLst/>
            </a:prstGeom>
            <a:ln w="25400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CB67BCF6-A20B-57AE-BA4F-28050075787E}"/>
                </a:ext>
              </a:extLst>
            </p:cNvPr>
            <p:cNvSpPr txBox="1"/>
            <p:nvPr/>
          </p:nvSpPr>
          <p:spPr>
            <a:xfrm>
              <a:off x="7362785" y="4534432"/>
              <a:ext cx="547159" cy="28725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080" dirty="0"/>
                <a:t>SMC</a:t>
              </a:r>
              <a:endParaRPr lang="en-CN" sz="1080" dirty="0"/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6948DC5A-9141-0172-964E-8776082F24F0}"/>
                </a:ext>
              </a:extLst>
            </p:cNvPr>
            <p:cNvSpPr txBox="1"/>
            <p:nvPr/>
          </p:nvSpPr>
          <p:spPr>
            <a:xfrm>
              <a:off x="4095008" y="4517601"/>
              <a:ext cx="547159" cy="28725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080" dirty="0"/>
                <a:t>SMC</a:t>
              </a:r>
              <a:endParaRPr lang="en-CN" sz="1080" dirty="0"/>
            </a:p>
          </p:txBody>
        </p:sp>
        <p:cxnSp>
          <p:nvCxnSpPr>
            <p:cNvPr id="87" name="Elbow Connector 86">
              <a:extLst>
                <a:ext uri="{FF2B5EF4-FFF2-40B4-BE49-F238E27FC236}">
                  <a16:creationId xmlns:a16="http://schemas.microsoft.com/office/drawing/2014/main" id="{36BEB0E2-82EB-78AF-2A95-A410F6AAD752}"/>
                </a:ext>
              </a:extLst>
            </p:cNvPr>
            <p:cNvCxnSpPr>
              <a:cxnSpLocks/>
              <a:stCxn id="71" idx="2"/>
              <a:endCxn id="69" idx="0"/>
            </p:cNvCxnSpPr>
            <p:nvPr/>
          </p:nvCxnSpPr>
          <p:spPr>
            <a:xfrm rot="5400000">
              <a:off x="4479653" y="4013826"/>
              <a:ext cx="227024" cy="1"/>
            </a:xfrm>
            <a:prstGeom prst="bentConnector3">
              <a:avLst>
                <a:gd name="adj1" fmla="val 50000"/>
              </a:avLst>
            </a:prstGeom>
            <a:ln w="25400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Elbow Connector 87">
              <a:extLst>
                <a:ext uri="{FF2B5EF4-FFF2-40B4-BE49-F238E27FC236}">
                  <a16:creationId xmlns:a16="http://schemas.microsoft.com/office/drawing/2014/main" id="{29468755-CB38-B62E-97B4-AF77E224EDEB}"/>
                </a:ext>
              </a:extLst>
            </p:cNvPr>
            <p:cNvCxnSpPr>
              <a:cxnSpLocks/>
              <a:stCxn id="63" idx="2"/>
              <a:endCxn id="61" idx="0"/>
            </p:cNvCxnSpPr>
            <p:nvPr/>
          </p:nvCxnSpPr>
          <p:spPr>
            <a:xfrm rot="5400000">
              <a:off x="7285574" y="4013825"/>
              <a:ext cx="227023" cy="1"/>
            </a:xfrm>
            <a:prstGeom prst="bentConnector3">
              <a:avLst>
                <a:gd name="adj1" fmla="val 50000"/>
              </a:avLst>
            </a:prstGeom>
            <a:ln w="25400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" name="Rounded Rectangle 88">
              <a:extLst>
                <a:ext uri="{FF2B5EF4-FFF2-40B4-BE49-F238E27FC236}">
                  <a16:creationId xmlns:a16="http://schemas.microsoft.com/office/drawing/2014/main" id="{BA82C4EB-CD2E-99DC-AB01-ADA5B46F7F99}"/>
                </a:ext>
              </a:extLst>
            </p:cNvPr>
            <p:cNvSpPr/>
            <p:nvPr/>
          </p:nvSpPr>
          <p:spPr>
            <a:xfrm>
              <a:off x="4860032" y="5010636"/>
              <a:ext cx="2412642" cy="257746"/>
            </a:xfrm>
            <a:prstGeom prst="roundRect">
              <a:avLst/>
            </a:prstGeom>
            <a:solidFill>
              <a:srgbClr val="EA154B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60" dirty="0">
                  <a:solidFill>
                    <a:schemeClr val="bg1"/>
                  </a:solidFill>
                </a:rPr>
                <a:t>DRAM</a:t>
              </a:r>
              <a:endParaRPr lang="en-CN" sz="1260" dirty="0">
                <a:solidFill>
                  <a:schemeClr val="bg1"/>
                </a:solidFill>
              </a:endParaRPr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89F9B829-33E1-F890-C6CF-63B53076F598}"/>
                </a:ext>
              </a:extLst>
            </p:cNvPr>
            <p:cNvSpPr/>
            <p:nvPr/>
          </p:nvSpPr>
          <p:spPr>
            <a:xfrm>
              <a:off x="6481566" y="5014363"/>
              <a:ext cx="648072" cy="251764"/>
            </a:xfrm>
            <a:prstGeom prst="rect">
              <a:avLst/>
            </a:prstGeom>
            <a:solidFill>
              <a:srgbClr val="66CBAD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1620"/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2AC597B3-AE8C-BA82-5F55-F02F9F8DF5C1}"/>
                </a:ext>
              </a:extLst>
            </p:cNvPr>
            <p:cNvSpPr/>
            <p:nvPr/>
          </p:nvSpPr>
          <p:spPr>
            <a:xfrm>
              <a:off x="5201789" y="5010636"/>
              <a:ext cx="380037" cy="257747"/>
            </a:xfrm>
            <a:prstGeom prst="rect">
              <a:avLst/>
            </a:prstGeom>
            <a:solidFill>
              <a:srgbClr val="66CBAD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1620"/>
            </a:p>
          </p:txBody>
        </p:sp>
        <p:sp>
          <p:nvSpPr>
            <p:cNvPr id="92" name="Rounded Rectangle 91">
              <a:extLst>
                <a:ext uri="{FF2B5EF4-FFF2-40B4-BE49-F238E27FC236}">
                  <a16:creationId xmlns:a16="http://schemas.microsoft.com/office/drawing/2014/main" id="{B515AC20-E217-5871-63B2-1F05B15A13D8}"/>
                </a:ext>
              </a:extLst>
            </p:cNvPr>
            <p:cNvSpPr/>
            <p:nvPr/>
          </p:nvSpPr>
          <p:spPr>
            <a:xfrm>
              <a:off x="5473305" y="3192093"/>
              <a:ext cx="501041" cy="252014"/>
            </a:xfrm>
            <a:prstGeom prst="roundRect">
              <a:avLst/>
            </a:prstGeom>
            <a:solidFill>
              <a:srgbClr val="66CBAD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60" dirty="0">
                  <a:solidFill>
                    <a:schemeClr val="tx1"/>
                  </a:solidFill>
                </a:rPr>
                <a:t>TA</a:t>
              </a:r>
              <a:endParaRPr lang="en-CN" sz="1260" dirty="0">
                <a:solidFill>
                  <a:schemeClr val="tx1"/>
                </a:solidFill>
              </a:endParaRPr>
            </a:p>
          </p:txBody>
        </p:sp>
        <p:sp>
          <p:nvSpPr>
            <p:cNvPr id="93" name="Rounded Rectangle 92">
              <a:extLst>
                <a:ext uri="{FF2B5EF4-FFF2-40B4-BE49-F238E27FC236}">
                  <a16:creationId xmlns:a16="http://schemas.microsoft.com/office/drawing/2014/main" id="{EA22C78D-F062-45FA-4270-95B736912769}"/>
                </a:ext>
              </a:extLst>
            </p:cNvPr>
            <p:cNvSpPr/>
            <p:nvPr/>
          </p:nvSpPr>
          <p:spPr>
            <a:xfrm>
              <a:off x="5472418" y="3648300"/>
              <a:ext cx="1139434" cy="252014"/>
            </a:xfrm>
            <a:prstGeom prst="roundRect">
              <a:avLst/>
            </a:prstGeom>
            <a:solidFill>
              <a:srgbClr val="66CBAD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tx1"/>
                  </a:solidFill>
                </a:rPr>
                <a:t>TEE-Kernel</a:t>
              </a:r>
              <a:endParaRPr lang="en-CN" sz="1200" dirty="0">
                <a:solidFill>
                  <a:schemeClr val="tx1"/>
                </a:solidFill>
              </a:endParaRPr>
            </a:p>
          </p:txBody>
        </p: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D6358B29-992A-5FCA-E43B-5376E6E3A528}"/>
                </a:ext>
              </a:extLst>
            </p:cNvPr>
            <p:cNvCxnSpPr>
              <a:cxnSpLocks/>
            </p:cNvCxnSpPr>
            <p:nvPr/>
          </p:nvCxnSpPr>
          <p:spPr>
            <a:xfrm>
              <a:off x="5472418" y="3557870"/>
              <a:ext cx="1115806" cy="0"/>
            </a:xfrm>
            <a:prstGeom prst="line">
              <a:avLst/>
            </a:prstGeom>
            <a:ln w="127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323655B0-608D-6F66-411A-1F15623CCCF3}"/>
                </a:ext>
              </a:extLst>
            </p:cNvPr>
            <p:cNvSpPr/>
            <p:nvPr/>
          </p:nvSpPr>
          <p:spPr>
            <a:xfrm>
              <a:off x="5405524" y="3104579"/>
              <a:ext cx="1258058" cy="860517"/>
            </a:xfrm>
            <a:prstGeom prst="rect">
              <a:avLst/>
            </a:prstGeom>
            <a:noFill/>
            <a:ln w="25400">
              <a:solidFill>
                <a:srgbClr val="7EBE8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1620"/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17740DF2-C211-49D8-5F83-6A90C4B2BE0C}"/>
                </a:ext>
              </a:extLst>
            </p:cNvPr>
            <p:cNvSpPr txBox="1"/>
            <p:nvPr/>
          </p:nvSpPr>
          <p:spPr>
            <a:xfrm>
              <a:off x="6310888" y="2556799"/>
              <a:ext cx="924754" cy="31803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CN" sz="1260" dirty="0">
                  <a:solidFill>
                    <a:srgbClr val="66CBAD"/>
                  </a:solidFill>
                  <a:latin typeface="American Typewriter" panose="02090604020004020304" pitchFamily="18" charset="77"/>
                </a:rPr>
                <a:t>安全</a:t>
              </a:r>
              <a:r>
                <a:rPr lang="zh-CN" altLang="en-US" sz="1260" dirty="0">
                  <a:solidFill>
                    <a:srgbClr val="66CBAD"/>
                  </a:solidFill>
                  <a:latin typeface="American Typewriter" panose="02090604020004020304" pitchFamily="18" charset="77"/>
                </a:rPr>
                <a:t>世界</a:t>
              </a:r>
              <a:endParaRPr lang="en-CN" sz="1260" dirty="0">
                <a:solidFill>
                  <a:srgbClr val="66CBAD"/>
                </a:solidFill>
                <a:latin typeface="American Typewriter" panose="02090604020004020304" pitchFamily="18" charset="77"/>
              </a:endParaRPr>
            </a:p>
          </p:txBody>
        </p: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872CC01A-3BFA-B794-FA2D-98CAB14B5CFB}"/>
                </a:ext>
              </a:extLst>
            </p:cNvPr>
            <p:cNvCxnSpPr>
              <a:cxnSpLocks/>
            </p:cNvCxnSpPr>
            <p:nvPr/>
          </p:nvCxnSpPr>
          <p:spPr>
            <a:xfrm>
              <a:off x="5391808" y="4059449"/>
              <a:ext cx="1268716" cy="1"/>
            </a:xfrm>
            <a:prstGeom prst="line">
              <a:avLst/>
            </a:prstGeom>
            <a:ln w="127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Elbow Connector 97">
              <a:extLst>
                <a:ext uri="{FF2B5EF4-FFF2-40B4-BE49-F238E27FC236}">
                  <a16:creationId xmlns:a16="http://schemas.microsoft.com/office/drawing/2014/main" id="{2F959D55-347B-FBDE-37AA-DCB31FC75391}"/>
                </a:ext>
              </a:extLst>
            </p:cNvPr>
            <p:cNvCxnSpPr>
              <a:cxnSpLocks/>
              <a:stCxn id="93" idx="2"/>
              <a:endCxn id="60" idx="3"/>
            </p:cNvCxnSpPr>
            <p:nvPr/>
          </p:nvCxnSpPr>
          <p:spPr>
            <a:xfrm rot="5400000">
              <a:off x="5521169" y="4175282"/>
              <a:ext cx="795935" cy="245999"/>
            </a:xfrm>
            <a:prstGeom prst="bentConnector2">
              <a:avLst/>
            </a:prstGeom>
            <a:ln w="25400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E36BF7EA-CCA9-AEF6-33D9-BE778DCFE2BF}"/>
                </a:ext>
              </a:extLst>
            </p:cNvPr>
            <p:cNvCxnSpPr>
              <a:cxnSpLocks/>
            </p:cNvCxnSpPr>
            <p:nvPr/>
          </p:nvCxnSpPr>
          <p:spPr>
            <a:xfrm>
              <a:off x="6762294" y="3026003"/>
              <a:ext cx="0" cy="1397145"/>
            </a:xfrm>
            <a:prstGeom prst="line">
              <a:avLst/>
            </a:prstGeom>
            <a:ln w="127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0E1D3490-12D9-33F7-A5F8-97AA26862A62}"/>
                </a:ext>
              </a:extLst>
            </p:cNvPr>
            <p:cNvSpPr txBox="1"/>
            <p:nvPr/>
          </p:nvSpPr>
          <p:spPr>
            <a:xfrm>
              <a:off x="5505150" y="2842960"/>
              <a:ext cx="1093961" cy="28725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080" dirty="0"/>
                <a:t>不支持</a:t>
              </a:r>
              <a:r>
                <a:rPr lang="en-US" altLang="zh-CN" sz="1080" dirty="0"/>
                <a:t>S-EL2</a:t>
              </a:r>
              <a:endParaRPr lang="en-CN" sz="1080" dirty="0"/>
            </a:p>
          </p:txBody>
        </p:sp>
        <p:sp>
          <p:nvSpPr>
            <p:cNvPr id="101" name="Rounded Rectangle 100">
              <a:extLst>
                <a:ext uri="{FF2B5EF4-FFF2-40B4-BE49-F238E27FC236}">
                  <a16:creationId xmlns:a16="http://schemas.microsoft.com/office/drawing/2014/main" id="{ACEE1F41-4AF1-3E31-1B1D-BD670DC87648}"/>
                </a:ext>
              </a:extLst>
            </p:cNvPr>
            <p:cNvSpPr/>
            <p:nvPr/>
          </p:nvSpPr>
          <p:spPr>
            <a:xfrm>
              <a:off x="6087182" y="3197059"/>
              <a:ext cx="501042" cy="252014"/>
            </a:xfrm>
            <a:prstGeom prst="roundRect">
              <a:avLst/>
            </a:prstGeom>
            <a:solidFill>
              <a:srgbClr val="66CBAD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60" dirty="0">
                  <a:solidFill>
                    <a:schemeClr val="tx1"/>
                  </a:solidFill>
                </a:rPr>
                <a:t>TA</a:t>
              </a:r>
              <a:endParaRPr lang="en-CN" sz="1260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038164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15B792-5319-E447-A448-BEA712658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ARM</a:t>
            </a:r>
            <a:r>
              <a:rPr lang="zh-CN" altLang="en-US" dirty="0"/>
              <a:t> </a:t>
            </a:r>
            <a:r>
              <a:rPr lang="en-CN" altLang="zh-CN" dirty="0"/>
              <a:t>TwinVisor</a:t>
            </a:r>
            <a:r>
              <a:rPr lang="en-US" altLang="zh-CN" dirty="0"/>
              <a:t>:</a:t>
            </a:r>
            <a:r>
              <a:rPr lang="zh-CN" altLang="en-US" dirty="0"/>
              <a:t> 来自上海交大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C708E5-3065-F042-B616-D33056EF5B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1800" dirty="0"/>
              <a:t>关键观察</a:t>
            </a:r>
            <a:endParaRPr lang="en-US" sz="1800" dirty="0"/>
          </a:p>
          <a:p>
            <a:pPr lvl="1"/>
            <a:r>
              <a:rPr lang="zh-CN" altLang="en-US" sz="1440" dirty="0"/>
              <a:t>在普通世界中已经存在功能成熟、被广泛应用的</a:t>
            </a:r>
            <a:r>
              <a:rPr lang="en-US" altLang="zh-CN" sz="1440" dirty="0"/>
              <a:t>hypervisor</a:t>
            </a:r>
            <a:r>
              <a:rPr lang="zh-CN" altLang="en-US" sz="1440" dirty="0"/>
              <a:t>了</a:t>
            </a:r>
            <a:endParaRPr lang="en-US" sz="1440" dirty="0"/>
          </a:p>
          <a:p>
            <a:r>
              <a:rPr lang="zh-CN" altLang="en-US" sz="1800" dirty="0"/>
              <a:t>将机密虚拟机的</a:t>
            </a:r>
            <a:r>
              <a:rPr lang="zh-CN" altLang="en-US" sz="1800" dirty="0">
                <a:solidFill>
                  <a:schemeClr val="accent1"/>
                </a:solidFill>
              </a:rPr>
              <a:t>资源管理</a:t>
            </a:r>
            <a:r>
              <a:rPr lang="zh-CN" altLang="en-US" sz="1800" dirty="0"/>
              <a:t>功能与</a:t>
            </a:r>
            <a:r>
              <a:rPr lang="zh-CN" altLang="en-US" sz="1800" dirty="0">
                <a:solidFill>
                  <a:schemeClr val="accent1"/>
                </a:solidFill>
              </a:rPr>
              <a:t>保护机制</a:t>
            </a:r>
            <a:r>
              <a:rPr lang="zh-CN" altLang="en-US" sz="1800" dirty="0"/>
              <a:t>解耦 </a:t>
            </a:r>
            <a:endParaRPr lang="en-US" altLang="zh-CN" sz="1800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6B493C6-4AAA-1D48-A04E-4EFD60157AF8}"/>
              </a:ext>
            </a:extLst>
          </p:cNvPr>
          <p:cNvGrpSpPr/>
          <p:nvPr/>
        </p:nvGrpSpPr>
        <p:grpSpPr>
          <a:xfrm>
            <a:off x="942797" y="2840094"/>
            <a:ext cx="2544696" cy="2488795"/>
            <a:chOff x="321528" y="2934845"/>
            <a:chExt cx="2827440" cy="2765326"/>
          </a:xfrm>
        </p:grpSpPr>
        <p:pic>
          <p:nvPicPr>
            <p:cNvPr id="1026" name="Picture 2" descr="Out Of Scope - Out Of Scope updated their profile picture.">
              <a:extLst>
                <a:ext uri="{FF2B5EF4-FFF2-40B4-BE49-F238E27FC236}">
                  <a16:creationId xmlns:a16="http://schemas.microsoft.com/office/drawing/2014/main" id="{1BD816F0-EC9A-414F-B3BA-69796DFD4B9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8191" y="3701687"/>
              <a:ext cx="543334" cy="54333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CEEB4F6-BB12-1542-9A44-D6761E16EEFA}"/>
                </a:ext>
              </a:extLst>
            </p:cNvPr>
            <p:cNvSpPr/>
            <p:nvPr/>
          </p:nvSpPr>
          <p:spPr>
            <a:xfrm>
              <a:off x="941085" y="3722619"/>
              <a:ext cx="2089647" cy="53347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1260" dirty="0"/>
                <a:t>物理攻击、侧信道攻击、拒绝服务攻击</a:t>
              </a:r>
              <a:endParaRPr lang="en-US" altLang="zh-CN" sz="1260" dirty="0"/>
            </a:p>
          </p:txBody>
        </p:sp>
        <p:pic>
          <p:nvPicPr>
            <p:cNvPr id="1036" name="Picture 12" descr="Aim, focus, goal, target icon - Download on Iconfinder">
              <a:extLst>
                <a:ext uri="{FF2B5EF4-FFF2-40B4-BE49-F238E27FC236}">
                  <a16:creationId xmlns:a16="http://schemas.microsoft.com/office/drawing/2014/main" id="{AE305814-36D2-7E4B-BD9B-271C6CA6584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3450" y="2934845"/>
              <a:ext cx="646903" cy="64690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9A1AE985-4FDC-D245-BC62-A5C4531EE0AE}"/>
                </a:ext>
              </a:extLst>
            </p:cNvPr>
            <p:cNvSpPr/>
            <p:nvPr/>
          </p:nvSpPr>
          <p:spPr>
            <a:xfrm>
              <a:off x="947036" y="3116912"/>
              <a:ext cx="1464433" cy="31803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260" dirty="0"/>
                <a:t>不受信任的软件</a:t>
              </a:r>
              <a:endParaRPr lang="en-US" altLang="zh-CN" sz="1260" dirty="0"/>
            </a:p>
          </p:txBody>
        </p:sp>
        <p:pic>
          <p:nvPicPr>
            <p:cNvPr id="1040" name="Picture 16" descr="Lamp Bulb Halftone Dotted Icon And Assumption Unclean Stamp Seal. Stamp  Seal Includes Assumption Caption Between Parallel Lines. Royalty Free  Cliparts, Vectors, And Stock Illustration. Image 154547935.">
              <a:extLst>
                <a:ext uri="{FF2B5EF4-FFF2-40B4-BE49-F238E27FC236}">
                  <a16:creationId xmlns:a16="http://schemas.microsoft.com/office/drawing/2014/main" id="{62CD19E9-BFCD-3840-AD63-D0367EE68BB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876"/>
            <a:stretch/>
          </p:blipFill>
          <p:spPr bwMode="auto">
            <a:xfrm>
              <a:off x="321528" y="4285368"/>
              <a:ext cx="885763" cy="6713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F4F3AFA3-CB7F-054F-B27C-7F8EDFA72902}"/>
                </a:ext>
              </a:extLst>
            </p:cNvPr>
            <p:cNvSpPr txBox="1"/>
            <p:nvPr/>
          </p:nvSpPr>
          <p:spPr>
            <a:xfrm>
              <a:off x="607676" y="4735805"/>
              <a:ext cx="2541292" cy="9643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defRPr/>
              </a:pPr>
              <a:r>
                <a:rPr lang="en-US" altLang="zh-CN" sz="1260" dirty="0"/>
                <a:t>-</a:t>
              </a:r>
              <a:r>
                <a:rPr lang="zh-CN" altLang="en-US" sz="1260" dirty="0"/>
                <a:t> 设备供应商需要提供硬件支持的</a:t>
              </a:r>
              <a:r>
                <a:rPr lang="en-US" altLang="zh-CN" sz="1260" dirty="0"/>
                <a:t>attestation</a:t>
              </a:r>
              <a:r>
                <a:rPr lang="zh-CN" altLang="en-US" sz="1260" dirty="0"/>
                <a:t>机制</a:t>
              </a:r>
              <a:endParaRPr lang="en-US" altLang="zh-CN" sz="1260" dirty="0"/>
            </a:p>
            <a:p>
              <a:pPr lvl="0">
                <a:defRPr/>
              </a:pPr>
              <a:r>
                <a:rPr lang="en-US" altLang="zh-CN" sz="1260" dirty="0"/>
                <a:t>-</a:t>
              </a:r>
              <a:r>
                <a:rPr lang="zh-CN" altLang="en-US" sz="1260" dirty="0"/>
                <a:t> </a:t>
              </a:r>
              <a:r>
                <a:rPr lang="en-US" altLang="zh-CN" sz="1260" dirty="0"/>
                <a:t>S-VMs</a:t>
              </a:r>
              <a:r>
                <a:rPr lang="zh-CN" altLang="en-US" sz="1260" dirty="0"/>
                <a:t>需要保护自己的</a:t>
              </a:r>
              <a:r>
                <a:rPr lang="en-US" altLang="zh-CN" sz="1260" dirty="0"/>
                <a:t>I/O</a:t>
              </a:r>
              <a:r>
                <a:rPr lang="zh-CN" altLang="en-US" sz="1260" dirty="0"/>
                <a:t>数据安全</a:t>
              </a:r>
              <a:endParaRPr lang="en-US" altLang="zh-CN" sz="1260" dirty="0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D5D796F5-B223-8347-B015-DF33D5C0EF1A}"/>
              </a:ext>
            </a:extLst>
          </p:cNvPr>
          <p:cNvGrpSpPr/>
          <p:nvPr/>
        </p:nvGrpSpPr>
        <p:grpSpPr>
          <a:xfrm>
            <a:off x="3381083" y="2781054"/>
            <a:ext cx="4518240" cy="2271525"/>
            <a:chOff x="2230763" y="2689022"/>
            <a:chExt cx="5020266" cy="2523918"/>
          </a:xfrm>
        </p:grpSpPr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0B2B81E4-2C50-A649-931A-1AD8EB91FD9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61838" y="4811588"/>
              <a:ext cx="3559398" cy="4792"/>
            </a:xfrm>
            <a:prstGeom prst="line">
              <a:avLst/>
            </a:prstGeom>
            <a:ln w="127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Rounded Rectangle 47">
              <a:extLst>
                <a:ext uri="{FF2B5EF4-FFF2-40B4-BE49-F238E27FC236}">
                  <a16:creationId xmlns:a16="http://schemas.microsoft.com/office/drawing/2014/main" id="{99932252-3877-7D4E-8A80-924AF42E8DD4}"/>
                </a:ext>
              </a:extLst>
            </p:cNvPr>
            <p:cNvSpPr/>
            <p:nvPr/>
          </p:nvSpPr>
          <p:spPr>
            <a:xfrm>
              <a:off x="5220556" y="4101391"/>
              <a:ext cx="935620" cy="242221"/>
            </a:xfrm>
            <a:prstGeom prst="roundRect">
              <a:avLst/>
            </a:prstGeom>
            <a:solidFill>
              <a:srgbClr val="66CBAD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80" dirty="0">
                  <a:solidFill>
                    <a:schemeClr val="tx1"/>
                  </a:solidFill>
                </a:rPr>
                <a:t>Protection</a:t>
              </a:r>
              <a:endParaRPr lang="en-CN" sz="1260" dirty="0">
                <a:solidFill>
                  <a:schemeClr val="tx1"/>
                </a:solidFill>
              </a:endParaRP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25302EDD-0C0B-7948-B8B6-76A987934FCF}"/>
                </a:ext>
              </a:extLst>
            </p:cNvPr>
            <p:cNvSpPr/>
            <p:nvPr/>
          </p:nvSpPr>
          <p:spPr>
            <a:xfrm>
              <a:off x="4924943" y="3283321"/>
              <a:ext cx="660181" cy="381812"/>
            </a:xfrm>
            <a:prstGeom prst="rect">
              <a:avLst/>
            </a:prstGeom>
            <a:noFill/>
            <a:ln w="25400">
              <a:solidFill>
                <a:srgbClr val="EA154B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60" dirty="0">
                  <a:solidFill>
                    <a:schemeClr val="tx1"/>
                  </a:solidFill>
                </a:rPr>
                <a:t>S-VM</a:t>
              </a:r>
              <a:endParaRPr lang="en-CN" sz="1260" dirty="0">
                <a:solidFill>
                  <a:schemeClr val="tx1"/>
                </a:solidFill>
              </a:endParaRP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2C77FCEC-C381-8246-B414-9F5C202C66AF}"/>
                </a:ext>
              </a:extLst>
            </p:cNvPr>
            <p:cNvSpPr txBox="1"/>
            <p:nvPr/>
          </p:nvSpPr>
          <p:spPr>
            <a:xfrm>
              <a:off x="6427798" y="3330735"/>
              <a:ext cx="823231" cy="28725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080" dirty="0"/>
                <a:t>S-EL0&amp;1</a:t>
              </a:r>
              <a:endParaRPr lang="en-CN" sz="1080" dirty="0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2A43F8B4-5F1E-3648-A564-B19CE41CB4C7}"/>
                </a:ext>
              </a:extLst>
            </p:cNvPr>
            <p:cNvSpPr txBox="1"/>
            <p:nvPr/>
          </p:nvSpPr>
          <p:spPr>
            <a:xfrm>
              <a:off x="6423569" y="4151067"/>
              <a:ext cx="634433" cy="28725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080" dirty="0"/>
                <a:t>S-EL2</a:t>
              </a:r>
              <a:endParaRPr lang="en-CN" sz="1080" dirty="0"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1C9E135A-7BF2-3E4E-931B-BFB71A87CF0A}"/>
                </a:ext>
              </a:extLst>
            </p:cNvPr>
            <p:cNvSpPr txBox="1"/>
            <p:nvPr/>
          </p:nvSpPr>
          <p:spPr>
            <a:xfrm>
              <a:off x="3409991" y="3005594"/>
              <a:ext cx="817888" cy="28725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CN" sz="1080" dirty="0"/>
                <a:t>普通</a:t>
              </a:r>
              <a:r>
                <a:rPr lang="zh-CN" altLang="en-US" sz="1080" dirty="0"/>
                <a:t>世界</a:t>
              </a:r>
              <a:endParaRPr lang="en-CN" sz="1080" dirty="0"/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7C8F95AE-6530-9A46-BC79-292C6BD44792}"/>
                </a:ext>
              </a:extLst>
            </p:cNvPr>
            <p:cNvSpPr txBox="1"/>
            <p:nvPr/>
          </p:nvSpPr>
          <p:spPr>
            <a:xfrm>
              <a:off x="2230763" y="3341155"/>
              <a:ext cx="830355" cy="28725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080" dirty="0"/>
                <a:t>N-EL0&amp;1</a:t>
              </a:r>
              <a:endParaRPr lang="en-CN" sz="1080" dirty="0"/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271F4C1C-010D-6341-8EF5-30EF99DA7C6B}"/>
                </a:ext>
              </a:extLst>
            </p:cNvPr>
            <p:cNvSpPr txBox="1"/>
            <p:nvPr/>
          </p:nvSpPr>
          <p:spPr>
            <a:xfrm>
              <a:off x="2233646" y="4151067"/>
              <a:ext cx="641558" cy="28725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080" dirty="0"/>
                <a:t>N-EL2</a:t>
              </a:r>
              <a:endParaRPr lang="en-CN" sz="1080" dirty="0"/>
            </a:p>
          </p:txBody>
        </p: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44FF4EDA-AA97-6146-B34A-10E09F263E30}"/>
                </a:ext>
              </a:extLst>
            </p:cNvPr>
            <p:cNvCxnSpPr>
              <a:cxnSpLocks/>
            </p:cNvCxnSpPr>
            <p:nvPr/>
          </p:nvCxnSpPr>
          <p:spPr>
            <a:xfrm>
              <a:off x="4915210" y="3799558"/>
              <a:ext cx="1535544" cy="0"/>
            </a:xfrm>
            <a:prstGeom prst="line">
              <a:avLst/>
            </a:prstGeom>
            <a:ln w="127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2F0C6508-09A1-3A45-96D7-7E413DDB0B81}"/>
                </a:ext>
              </a:extLst>
            </p:cNvPr>
            <p:cNvSpPr txBox="1"/>
            <p:nvPr/>
          </p:nvSpPr>
          <p:spPr>
            <a:xfrm>
              <a:off x="6450754" y="4887061"/>
              <a:ext cx="479475" cy="28725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080" dirty="0"/>
                <a:t>EL3</a:t>
              </a:r>
              <a:endParaRPr lang="en-CN" sz="1080" dirty="0"/>
            </a:p>
          </p:txBody>
        </p:sp>
        <p:cxnSp>
          <p:nvCxnSpPr>
            <p:cNvPr id="66" name="Elbow Connector 65">
              <a:extLst>
                <a:ext uri="{FF2B5EF4-FFF2-40B4-BE49-F238E27FC236}">
                  <a16:creationId xmlns:a16="http://schemas.microsoft.com/office/drawing/2014/main" id="{9DB4327C-E684-E84D-9541-AA7CCB4D9F0D}"/>
                </a:ext>
              </a:extLst>
            </p:cNvPr>
            <p:cNvCxnSpPr>
              <a:cxnSpLocks/>
              <a:stCxn id="89" idx="2"/>
              <a:endCxn id="93" idx="1"/>
            </p:cNvCxnSpPr>
            <p:nvPr/>
          </p:nvCxnSpPr>
          <p:spPr>
            <a:xfrm rot="16200000" flipH="1">
              <a:off x="3883710" y="4627537"/>
              <a:ext cx="393396" cy="479892"/>
            </a:xfrm>
            <a:prstGeom prst="bentConnector2">
              <a:avLst/>
            </a:prstGeom>
            <a:ln w="25400">
              <a:solidFill>
                <a:schemeClr val="tx1"/>
              </a:solidFill>
              <a:headEnd type="stealth"/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2E8A49A4-AAD6-1343-A39D-095B85D1674E}"/>
                </a:ext>
              </a:extLst>
            </p:cNvPr>
            <p:cNvSpPr txBox="1"/>
            <p:nvPr/>
          </p:nvSpPr>
          <p:spPr>
            <a:xfrm>
              <a:off x="5282199" y="3010710"/>
              <a:ext cx="817888" cy="28725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CN" sz="1080" dirty="0"/>
                <a:t>安全世界</a:t>
              </a:r>
              <a:endParaRPr lang="en-CN" sz="1080" dirty="0"/>
            </a:p>
          </p:txBody>
        </p: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63AD06E1-24FA-9146-B0DD-9C0B505CBFEC}"/>
                </a:ext>
              </a:extLst>
            </p:cNvPr>
            <p:cNvCxnSpPr>
              <a:cxnSpLocks/>
            </p:cNvCxnSpPr>
            <p:nvPr/>
          </p:nvCxnSpPr>
          <p:spPr>
            <a:xfrm>
              <a:off x="4751090" y="3204744"/>
              <a:ext cx="0" cy="1534836"/>
            </a:xfrm>
            <a:prstGeom prst="line">
              <a:avLst/>
            </a:prstGeom>
            <a:ln w="127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30974B0F-24AE-4142-88AA-F8A01F629080}"/>
                </a:ext>
              </a:extLst>
            </p:cNvPr>
            <p:cNvSpPr txBox="1"/>
            <p:nvPr/>
          </p:nvSpPr>
          <p:spPr>
            <a:xfrm>
              <a:off x="3283540" y="2689022"/>
              <a:ext cx="1104648" cy="31803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N" sz="1260" dirty="0">
                  <a:solidFill>
                    <a:srgbClr val="EA154B"/>
                  </a:solidFill>
                  <a:latin typeface="American Typewriter" panose="02090604020004020304" pitchFamily="18" charset="77"/>
                </a:rPr>
                <a:t>不受信部分</a:t>
              </a: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FD36FA1C-9CB4-F740-90ED-B7A2A252EF27}"/>
                </a:ext>
              </a:extLst>
            </p:cNvPr>
            <p:cNvSpPr txBox="1"/>
            <p:nvPr/>
          </p:nvSpPr>
          <p:spPr>
            <a:xfrm>
              <a:off x="5246555" y="2689022"/>
              <a:ext cx="924754" cy="31803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60" dirty="0">
                  <a:solidFill>
                    <a:srgbClr val="66CBAD"/>
                  </a:solidFill>
                  <a:latin typeface="American Typewriter" panose="02090604020004020304" pitchFamily="18" charset="77"/>
                </a:rPr>
                <a:t>可信部分</a:t>
              </a:r>
              <a:endParaRPr lang="en-CN" sz="1260" dirty="0">
                <a:solidFill>
                  <a:srgbClr val="66CBAD"/>
                </a:solidFill>
                <a:latin typeface="American Typewriter" panose="02090604020004020304" pitchFamily="18" charset="77"/>
              </a:endParaRPr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4B535D00-E824-8447-884C-1A5024C99C2F}"/>
                </a:ext>
              </a:extLst>
            </p:cNvPr>
            <p:cNvSpPr/>
            <p:nvPr/>
          </p:nvSpPr>
          <p:spPr>
            <a:xfrm>
              <a:off x="3059410" y="3288748"/>
              <a:ext cx="660181" cy="381812"/>
            </a:xfrm>
            <a:prstGeom prst="rect">
              <a:avLst/>
            </a:prstGeom>
            <a:noFill/>
            <a:ln w="25400">
              <a:solidFill>
                <a:srgbClr val="EA154B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60" dirty="0">
                  <a:solidFill>
                    <a:schemeClr val="tx1"/>
                  </a:solidFill>
                </a:rPr>
                <a:t>N-VM</a:t>
              </a:r>
              <a:endParaRPr lang="en-CN" sz="1260" dirty="0">
                <a:solidFill>
                  <a:schemeClr val="tx1"/>
                </a:solidFill>
              </a:endParaRPr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D3F9D6F6-3B11-2A45-8B2C-857999C7EDB1}"/>
                </a:ext>
              </a:extLst>
            </p:cNvPr>
            <p:cNvSpPr/>
            <p:nvPr/>
          </p:nvSpPr>
          <p:spPr>
            <a:xfrm>
              <a:off x="3906177" y="3284467"/>
              <a:ext cx="660181" cy="381812"/>
            </a:xfrm>
            <a:prstGeom prst="rect">
              <a:avLst/>
            </a:prstGeom>
            <a:noFill/>
            <a:ln w="25400">
              <a:solidFill>
                <a:srgbClr val="EA154B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60" dirty="0">
                  <a:solidFill>
                    <a:schemeClr val="tx1"/>
                  </a:solidFill>
                </a:rPr>
                <a:t>N-VM</a:t>
              </a:r>
              <a:endParaRPr lang="en-CN" sz="1260" dirty="0">
                <a:solidFill>
                  <a:schemeClr val="tx1"/>
                </a:solidFill>
              </a:endParaRPr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F625ED03-0D59-CD47-81BF-8D38CA46E17A}"/>
                </a:ext>
              </a:extLst>
            </p:cNvPr>
            <p:cNvSpPr/>
            <p:nvPr/>
          </p:nvSpPr>
          <p:spPr>
            <a:xfrm>
              <a:off x="5745601" y="3290120"/>
              <a:ext cx="660181" cy="381812"/>
            </a:xfrm>
            <a:prstGeom prst="rect">
              <a:avLst/>
            </a:prstGeom>
            <a:noFill/>
            <a:ln w="25400">
              <a:solidFill>
                <a:srgbClr val="EA154B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60" dirty="0">
                  <a:solidFill>
                    <a:schemeClr val="tx1"/>
                  </a:solidFill>
                </a:rPr>
                <a:t>S-VM</a:t>
              </a:r>
              <a:endParaRPr lang="en-CN" sz="1260" dirty="0">
                <a:solidFill>
                  <a:schemeClr val="tx1"/>
                </a:solidFill>
              </a:endParaRPr>
            </a:p>
          </p:txBody>
        </p: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14B7258E-6D77-924D-AA05-6A258703F646}"/>
                </a:ext>
              </a:extLst>
            </p:cNvPr>
            <p:cNvCxnSpPr>
              <a:cxnSpLocks/>
            </p:cNvCxnSpPr>
            <p:nvPr/>
          </p:nvCxnSpPr>
          <p:spPr>
            <a:xfrm>
              <a:off x="3049577" y="3799558"/>
              <a:ext cx="1535544" cy="0"/>
            </a:xfrm>
            <a:prstGeom prst="line">
              <a:avLst/>
            </a:prstGeom>
            <a:ln w="127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176DA86F-397F-664E-8A2F-69B8655F4073}"/>
                </a:ext>
              </a:extLst>
            </p:cNvPr>
            <p:cNvSpPr/>
            <p:nvPr/>
          </p:nvSpPr>
          <p:spPr>
            <a:xfrm>
              <a:off x="5141610" y="4016019"/>
              <a:ext cx="1093582" cy="586642"/>
            </a:xfrm>
            <a:prstGeom prst="rect">
              <a:avLst/>
            </a:prstGeom>
            <a:noFill/>
            <a:ln w="25400">
              <a:solidFill>
                <a:srgbClr val="66CBAD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1260" dirty="0">
                <a:solidFill>
                  <a:srgbClr val="EA154B"/>
                </a:solidFill>
              </a:endParaRPr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8AD3CCC1-8D14-0740-B2D6-34025770A6A4}"/>
                </a:ext>
              </a:extLst>
            </p:cNvPr>
            <p:cNvSpPr/>
            <p:nvPr/>
          </p:nvSpPr>
          <p:spPr>
            <a:xfrm>
              <a:off x="3161203" y="3948300"/>
              <a:ext cx="1358517" cy="722485"/>
            </a:xfrm>
            <a:prstGeom prst="rect">
              <a:avLst/>
            </a:prstGeom>
            <a:noFill/>
            <a:ln w="25400">
              <a:solidFill>
                <a:srgbClr val="EA154B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1260" dirty="0">
                <a:solidFill>
                  <a:srgbClr val="EA154B"/>
                </a:solidFill>
              </a:endParaRP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B5C9A047-FB05-8E4A-9086-AA7DB389D991}"/>
                </a:ext>
              </a:extLst>
            </p:cNvPr>
            <p:cNvSpPr txBox="1"/>
            <p:nvPr/>
          </p:nvSpPr>
          <p:spPr>
            <a:xfrm>
              <a:off x="5349454" y="4345915"/>
              <a:ext cx="684304" cy="28725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080" dirty="0"/>
                <a:t>S-visor</a:t>
              </a:r>
              <a:endParaRPr lang="en-CN" sz="1080" dirty="0"/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BAA83044-FD1B-E041-8413-19871705304E}"/>
                </a:ext>
              </a:extLst>
            </p:cNvPr>
            <p:cNvSpPr txBox="1"/>
            <p:nvPr/>
          </p:nvSpPr>
          <p:spPr>
            <a:xfrm>
              <a:off x="3518681" y="4406482"/>
              <a:ext cx="691429" cy="28725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080" dirty="0"/>
                <a:t>N-visor</a:t>
              </a:r>
              <a:endParaRPr lang="en-CN" sz="1080" dirty="0"/>
            </a:p>
          </p:txBody>
        </p:sp>
        <p:sp>
          <p:nvSpPr>
            <p:cNvPr id="92" name="Rounded Rectangle 91">
              <a:extLst>
                <a:ext uri="{FF2B5EF4-FFF2-40B4-BE49-F238E27FC236}">
                  <a16:creationId xmlns:a16="http://schemas.microsoft.com/office/drawing/2014/main" id="{3DE9346F-1646-D748-AD90-E56433E7DE95}"/>
                </a:ext>
              </a:extLst>
            </p:cNvPr>
            <p:cNvSpPr/>
            <p:nvPr/>
          </p:nvSpPr>
          <p:spPr>
            <a:xfrm>
              <a:off x="3271293" y="4012886"/>
              <a:ext cx="1119603" cy="419230"/>
            </a:xfrm>
            <a:prstGeom prst="roundRect">
              <a:avLst/>
            </a:prstGeom>
            <a:solidFill>
              <a:srgbClr val="EA154B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80" dirty="0">
                  <a:solidFill>
                    <a:schemeClr val="bg1"/>
                  </a:solidFill>
                </a:rPr>
                <a:t>Resource</a:t>
              </a:r>
            </a:p>
            <a:p>
              <a:pPr algn="ctr"/>
              <a:r>
                <a:rPr lang="en-US" altLang="zh-CN" sz="1080" dirty="0">
                  <a:solidFill>
                    <a:schemeClr val="bg1"/>
                  </a:solidFill>
                </a:rPr>
                <a:t>Management</a:t>
              </a:r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662CD1C4-F505-8247-8B62-53BCBBB6DA53}"/>
                </a:ext>
              </a:extLst>
            </p:cNvPr>
            <p:cNvSpPr/>
            <p:nvPr/>
          </p:nvSpPr>
          <p:spPr>
            <a:xfrm>
              <a:off x="4320354" y="4928459"/>
              <a:ext cx="821255" cy="271443"/>
            </a:xfrm>
            <a:prstGeom prst="rect">
              <a:avLst/>
            </a:prstGeom>
            <a:noFill/>
            <a:ln w="25400">
              <a:solidFill>
                <a:srgbClr val="66CBAD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1260" dirty="0">
                <a:solidFill>
                  <a:srgbClr val="EA154B"/>
                </a:solidFill>
              </a:endParaRP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18F17F6D-D001-9A4B-9D1A-6A7E55FD5FBD}"/>
                </a:ext>
              </a:extLst>
            </p:cNvPr>
            <p:cNvSpPr txBox="1"/>
            <p:nvPr/>
          </p:nvSpPr>
          <p:spPr>
            <a:xfrm>
              <a:off x="4318849" y="4925682"/>
              <a:ext cx="846385" cy="28725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080" dirty="0"/>
                <a:t>Firmware</a:t>
              </a:r>
              <a:endParaRPr lang="en-CN" sz="1080" dirty="0"/>
            </a:p>
          </p:txBody>
        </p:sp>
        <p:cxnSp>
          <p:nvCxnSpPr>
            <p:cNvPr id="95" name="Elbow Connector 94">
              <a:extLst>
                <a:ext uri="{FF2B5EF4-FFF2-40B4-BE49-F238E27FC236}">
                  <a16:creationId xmlns:a16="http://schemas.microsoft.com/office/drawing/2014/main" id="{48FC3333-2C09-6D4A-B68E-0B9A4D831AB1}"/>
                </a:ext>
              </a:extLst>
            </p:cNvPr>
            <p:cNvCxnSpPr>
              <a:cxnSpLocks/>
              <a:stCxn id="88" idx="2"/>
              <a:endCxn id="93" idx="3"/>
            </p:cNvCxnSpPr>
            <p:nvPr/>
          </p:nvCxnSpPr>
          <p:spPr>
            <a:xfrm rot="5400000">
              <a:off x="5184245" y="4560025"/>
              <a:ext cx="461520" cy="546792"/>
            </a:xfrm>
            <a:prstGeom prst="bentConnector2">
              <a:avLst/>
            </a:prstGeom>
            <a:ln w="25400">
              <a:solidFill>
                <a:schemeClr val="tx1"/>
              </a:solidFill>
              <a:headEnd type="stealth"/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347629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3198"/>
    </mc:Choice>
    <mc:Fallback xmlns="">
      <p:transition spd="slow" advTm="53198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6691F9-B179-574C-B6CD-B99AA40A7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CN" dirty="0"/>
              <a:t>Intel</a:t>
            </a:r>
            <a:r>
              <a:rPr kumimoji="1" lang="zh-CN" altLang="en-US" dirty="0"/>
              <a:t> </a:t>
            </a:r>
            <a:r>
              <a:rPr kumimoji="1" lang="en-US" altLang="zh-CN" dirty="0"/>
              <a:t>Trusted</a:t>
            </a:r>
            <a:r>
              <a:rPr kumimoji="1" lang="zh-CN" altLang="en-US" dirty="0"/>
              <a:t> </a:t>
            </a:r>
            <a:r>
              <a:rPr kumimoji="1" lang="en-US" altLang="zh-CN" dirty="0"/>
              <a:t>Domain</a:t>
            </a:r>
            <a:r>
              <a:rPr kumimoji="1" lang="zh-CN" altLang="en-US" dirty="0"/>
              <a:t> </a:t>
            </a:r>
            <a:r>
              <a:rPr kumimoji="1" lang="en-US" altLang="zh-CN" dirty="0"/>
              <a:t>Extensions</a:t>
            </a:r>
            <a:r>
              <a:rPr kumimoji="1" lang="zh-CN" altLang="en-US" dirty="0"/>
              <a:t> </a:t>
            </a:r>
            <a:r>
              <a:rPr kumimoji="1" lang="en-US" altLang="zh-CN" dirty="0"/>
              <a:t>(TDX)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9CD3435-492B-BD4A-8460-B268AB53BE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229600" cy="3963460"/>
          </a:xfrm>
        </p:spPr>
        <p:txBody>
          <a:bodyPr>
            <a:normAutofit/>
          </a:bodyPr>
          <a:lstStyle/>
          <a:p>
            <a:r>
              <a:rPr lang="en" altLang="zh-CN" sz="1800" dirty="0"/>
              <a:t>Intel TDX is designed to isolate VMs </a:t>
            </a:r>
            <a:r>
              <a:rPr lang="en-US" altLang="zh-CN" sz="1800" dirty="0"/>
              <a:t>(TD)</a:t>
            </a:r>
            <a:r>
              <a:rPr lang="zh-CN" altLang="en-US" sz="1800" dirty="0"/>
              <a:t> </a:t>
            </a:r>
            <a:r>
              <a:rPr lang="en" altLang="zh-CN" sz="1800" dirty="0"/>
              <a:t>from the hypervisor and any other non-TD software</a:t>
            </a:r>
            <a:endParaRPr lang="en-US" altLang="zh-CN" sz="1800" dirty="0"/>
          </a:p>
          <a:p>
            <a:pPr lvl="1"/>
            <a:r>
              <a:rPr lang="en" altLang="zh-CN" sz="1600" b="0" dirty="0"/>
              <a:t>Virtual Machine Extensions (VMX)</a:t>
            </a:r>
            <a:r>
              <a:rPr lang="en" altLang="zh-CN" sz="1600" dirty="0"/>
              <a:t> </a:t>
            </a:r>
            <a:endParaRPr lang="en-US" altLang="zh-CN" sz="1600" dirty="0"/>
          </a:p>
          <a:p>
            <a:pPr lvl="1"/>
            <a:r>
              <a:rPr lang="en-US" altLang="zh-CN" sz="1600" dirty="0"/>
              <a:t>M</a:t>
            </a:r>
            <a:r>
              <a:rPr lang="en" altLang="zh-CN" sz="1600" dirty="0" err="1"/>
              <a:t>ulti</a:t>
            </a:r>
            <a:r>
              <a:rPr lang="en" altLang="zh-CN" sz="1600" dirty="0"/>
              <a:t>-key, total</a:t>
            </a:r>
            <a:r>
              <a:rPr lang="zh-CN" altLang="en-US" sz="1600" dirty="0"/>
              <a:t> </a:t>
            </a:r>
            <a:r>
              <a:rPr lang="en" altLang="zh-CN" sz="1600" dirty="0"/>
              <a:t>memory-encryption (MKTME) technology</a:t>
            </a:r>
          </a:p>
          <a:p>
            <a:pPr lvl="1"/>
            <a:endParaRPr lang="en" altLang="zh-CN" sz="1800" dirty="0"/>
          </a:p>
          <a:p>
            <a:pPr lvl="1"/>
            <a:endParaRPr lang="en" altLang="zh-CN" sz="1800" dirty="0"/>
          </a:p>
          <a:p>
            <a:pPr lvl="1"/>
            <a:endParaRPr lang="en-US" altLang="zh-CN" sz="1800" dirty="0"/>
          </a:p>
          <a:p>
            <a:pPr marL="457200" lvl="1" indent="0">
              <a:buNone/>
            </a:pPr>
            <a:endParaRPr lang="en" altLang="zh-CN" sz="1800" dirty="0"/>
          </a:p>
          <a:p>
            <a:endParaRPr lang="en" altLang="zh-CN" sz="2000" dirty="0"/>
          </a:p>
          <a:p>
            <a:pPr lvl="1"/>
            <a:endParaRPr lang="en-US" altLang="zh-CN" sz="1800" dirty="0"/>
          </a:p>
          <a:p>
            <a:pPr lvl="1"/>
            <a:endParaRPr lang="en-US" altLang="zh-CN" sz="1800" dirty="0"/>
          </a:p>
          <a:p>
            <a:pPr lvl="1"/>
            <a:endParaRPr lang="en" altLang="zh-CN" sz="1800" dirty="0"/>
          </a:p>
          <a:p>
            <a:endParaRPr lang="en-US" altLang="zh-CN" sz="2000" dirty="0"/>
          </a:p>
          <a:p>
            <a:pPr lvl="2">
              <a:lnSpc>
                <a:spcPct val="130000"/>
              </a:lnSpc>
            </a:pPr>
            <a:endParaRPr lang="en" altLang="zh-CN" sz="1400" dirty="0"/>
          </a:p>
          <a:p>
            <a:pPr lvl="1">
              <a:lnSpc>
                <a:spcPct val="130000"/>
              </a:lnSpc>
            </a:pPr>
            <a:endParaRPr lang="en" altLang="zh-CN" sz="1800" dirty="0"/>
          </a:p>
          <a:p>
            <a:endParaRPr lang="en-US" altLang="zh-CN" sz="24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6A4D391-AEDD-6A43-BFE9-005F1220B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14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AC71FEB-07FB-DDFE-71D2-71B8BD3426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5736" y="2756578"/>
            <a:ext cx="4221678" cy="2958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51784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F69653-F29A-0C49-BEE5-6B84A561A3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sz="3100" dirty="0"/>
              <a:t>AMD</a:t>
            </a:r>
            <a:r>
              <a:rPr kumimoji="1" lang="zh-CN" altLang="en-US" sz="3100" dirty="0"/>
              <a:t> </a:t>
            </a:r>
            <a:r>
              <a:rPr kumimoji="1" lang="en-US" altLang="zh-CN" sz="3100" dirty="0"/>
              <a:t>Secure Encrypted Virtualization (SEV)</a:t>
            </a:r>
            <a:endParaRPr kumimoji="1" lang="zh-CN" altLang="en-US" sz="31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80A86C4-F372-144B-8073-B11DDA8C1C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以虚拟机为粒度的</a:t>
            </a:r>
            <a:r>
              <a:rPr kumimoji="1" lang="en-US" altLang="zh-CN" dirty="0"/>
              <a:t>Enclave</a:t>
            </a:r>
          </a:p>
          <a:p>
            <a:pPr lvl="1"/>
            <a:r>
              <a:rPr kumimoji="1" lang="zh-CN" altLang="en-US" dirty="0"/>
              <a:t>对不同的虚拟机进行加密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每个虚拟机的密钥均不相同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Hypervisor</a:t>
            </a:r>
            <a:r>
              <a:rPr kumimoji="1" lang="zh-CN" altLang="en-US" dirty="0"/>
              <a:t>有自己的密钥</a:t>
            </a:r>
            <a:endParaRPr kumimoji="1" lang="en-US" altLang="zh-CN" dirty="0"/>
          </a:p>
          <a:p>
            <a:r>
              <a:rPr kumimoji="1" lang="zh-CN" altLang="en-US" dirty="0"/>
              <a:t>安全模型的缺陷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依然部分依赖</a:t>
            </a:r>
            <a:r>
              <a:rPr kumimoji="1" lang="en-US" altLang="zh-CN" dirty="0"/>
              <a:t>Hypervisor</a:t>
            </a:r>
          </a:p>
          <a:p>
            <a:pPr lvl="2"/>
            <a:r>
              <a:rPr kumimoji="1" lang="zh-CN" altLang="en-US" sz="1800" dirty="0"/>
              <a:t>如：为</a:t>
            </a:r>
            <a:r>
              <a:rPr kumimoji="1" lang="en-US" altLang="zh-CN" sz="1800" dirty="0"/>
              <a:t>VM</a:t>
            </a:r>
            <a:r>
              <a:rPr kumimoji="1" lang="zh-CN" altLang="en-US" sz="1800" dirty="0"/>
              <a:t>设置正确的密钥</a:t>
            </a:r>
            <a:endParaRPr kumimoji="1" lang="en-US" altLang="zh-CN" sz="1800" dirty="0"/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DDE7F66-B936-EE41-8721-D03497DDE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2F2220E-FCF4-1E42-BEC6-2E38E10CFE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A25C5AD-0420-5C4C-88A9-DDEDFDA04D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6056" y="1336376"/>
            <a:ext cx="3804716" cy="3444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50981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Review</a:t>
            </a:r>
            <a:r>
              <a:rPr kumimoji="1" lang="zh-CN" altLang="en-US" dirty="0"/>
              <a:t>：虚拟化的技术</a:t>
            </a:r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2427239"/>
              </p:ext>
            </p:extLst>
          </p:nvPr>
        </p:nvGraphicFramePr>
        <p:xfrm>
          <a:off x="539552" y="1121991"/>
          <a:ext cx="7920881" cy="43202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21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617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070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5349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zh-CN" altLang="en-US" sz="1500" dirty="0"/>
                        <a:t>虚拟化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zh-CN" altLang="en-US" sz="1500" dirty="0"/>
                        <a:t>软件方案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zh-CN" altLang="en-US" sz="1500" dirty="0"/>
                        <a:t>硬件方案</a:t>
                      </a:r>
                    </a:p>
                  </a:txBody>
                  <a:tcPr marL="76200" marR="76200" marT="38100" marB="381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22559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1500" dirty="0"/>
                        <a:t>CPU</a:t>
                      </a:r>
                      <a:endParaRPr lang="zh-CN" altLang="en-US" sz="1500" dirty="0"/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pPr marL="285750" indent="-285750">
                        <a:lnSpc>
                          <a:spcPct val="120000"/>
                        </a:lnSpc>
                        <a:buFont typeface="Arial" charset="0"/>
                        <a:buChar char="•"/>
                      </a:pPr>
                      <a:r>
                        <a:rPr lang="en-US" altLang="zh-CN" sz="1500" dirty="0"/>
                        <a:t>Trap</a:t>
                      </a:r>
                      <a:r>
                        <a:rPr lang="zh-CN" altLang="en-US" sz="1500" dirty="0"/>
                        <a:t> </a:t>
                      </a:r>
                      <a:r>
                        <a:rPr lang="en-US" altLang="zh-CN" sz="1500" dirty="0"/>
                        <a:t>&amp;</a:t>
                      </a:r>
                      <a:r>
                        <a:rPr lang="zh-CN" altLang="en-US" sz="1500" dirty="0"/>
                        <a:t> </a:t>
                      </a:r>
                      <a:r>
                        <a:rPr lang="en-US" altLang="zh-CN" sz="1500" dirty="0"/>
                        <a:t>Emulate</a:t>
                      </a:r>
                      <a:endParaRPr lang="zh-CN" altLang="en-US" sz="1500" dirty="0"/>
                    </a:p>
                    <a:p>
                      <a:pPr marL="285750" indent="-285750">
                        <a:lnSpc>
                          <a:spcPct val="120000"/>
                        </a:lnSpc>
                        <a:buFont typeface="Arial" charset="0"/>
                        <a:buChar char="•"/>
                      </a:pPr>
                      <a:r>
                        <a:rPr lang="zh-CN" altLang="en-US" sz="1500" dirty="0"/>
                        <a:t>指令解释执行</a:t>
                      </a:r>
                    </a:p>
                    <a:p>
                      <a:pPr marL="285750" indent="-285750">
                        <a:lnSpc>
                          <a:spcPct val="120000"/>
                        </a:lnSpc>
                        <a:buFont typeface="Arial" charset="0"/>
                        <a:buChar char="•"/>
                      </a:pPr>
                      <a:r>
                        <a:rPr lang="zh-CN" altLang="en-US" sz="1500" dirty="0"/>
                        <a:t>二进制翻译</a:t>
                      </a:r>
                    </a:p>
                    <a:p>
                      <a:pPr marL="285750" indent="-285750">
                        <a:lnSpc>
                          <a:spcPct val="120000"/>
                        </a:lnSpc>
                        <a:buFont typeface="Arial" charset="0"/>
                        <a:buChar char="•"/>
                      </a:pPr>
                      <a:r>
                        <a:rPr lang="en-US" altLang="zh-CN" sz="1500" dirty="0"/>
                        <a:t>Para-virtualization</a:t>
                      </a:r>
                      <a:endParaRPr lang="zh-CN" altLang="en-US" sz="1500" dirty="0"/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pPr marL="285750" lvl="0" indent="-285750">
                        <a:lnSpc>
                          <a:spcPct val="120000"/>
                        </a:lnSpc>
                        <a:buFont typeface="Arial" charset="0"/>
                        <a:buChar char="•"/>
                      </a:pPr>
                      <a:r>
                        <a:rPr lang="en-US" altLang="zh-CN" sz="15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EL-2</a:t>
                      </a:r>
                      <a:r>
                        <a:rPr lang="zh-CN" altLang="en-US" sz="15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CN" sz="15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(ARM)</a:t>
                      </a:r>
                    </a:p>
                  </a:txBody>
                  <a:tcPr marL="76200" marR="76200" marT="38100" marB="381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22559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zh-CN" altLang="en-US" sz="1500" dirty="0"/>
                        <a:t>内存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pPr marL="285750" indent="-285750">
                        <a:lnSpc>
                          <a:spcPct val="120000"/>
                        </a:lnSpc>
                        <a:buFont typeface="Arial" charset="0"/>
                        <a:buChar char="•"/>
                      </a:pPr>
                      <a:r>
                        <a:rPr lang="en-US" altLang="zh-CN" sz="1500" dirty="0"/>
                        <a:t>Shadow</a:t>
                      </a:r>
                      <a:r>
                        <a:rPr lang="zh-CN" altLang="en-US" sz="1500" dirty="0"/>
                        <a:t> </a:t>
                      </a:r>
                      <a:r>
                        <a:rPr lang="en-US" altLang="zh-CN" sz="1500" dirty="0"/>
                        <a:t>page</a:t>
                      </a:r>
                      <a:r>
                        <a:rPr lang="zh-CN" altLang="en-US" sz="1500" dirty="0"/>
                        <a:t> </a:t>
                      </a:r>
                      <a:r>
                        <a:rPr lang="en-US" altLang="zh-CN" sz="1500" dirty="0"/>
                        <a:t>table</a:t>
                      </a:r>
                      <a:endParaRPr lang="zh-CN" altLang="en-US" sz="1500" dirty="0"/>
                    </a:p>
                    <a:p>
                      <a:pPr marL="285750" indent="-285750">
                        <a:lnSpc>
                          <a:spcPct val="120000"/>
                        </a:lnSpc>
                        <a:buFont typeface="Arial" charset="0"/>
                        <a:buChar char="•"/>
                      </a:pPr>
                      <a:r>
                        <a:rPr lang="en-US" altLang="zh-CN" sz="1500" baseline="0" dirty="0"/>
                        <a:t>Separating</a:t>
                      </a:r>
                      <a:r>
                        <a:rPr lang="zh-CN" altLang="en-US" sz="1500" baseline="0" dirty="0"/>
                        <a:t> </a:t>
                      </a:r>
                      <a:r>
                        <a:rPr lang="en-US" altLang="zh-CN" sz="1500" baseline="0" dirty="0"/>
                        <a:t>page</a:t>
                      </a:r>
                      <a:r>
                        <a:rPr lang="zh-CN" altLang="en-US" sz="1500" baseline="0" dirty="0"/>
                        <a:t> </a:t>
                      </a:r>
                      <a:r>
                        <a:rPr lang="en-US" altLang="zh-CN" sz="1500" baseline="0" dirty="0"/>
                        <a:t>tables</a:t>
                      </a:r>
                      <a:r>
                        <a:rPr lang="zh-CN" altLang="en-US" sz="1500" baseline="0" dirty="0"/>
                        <a:t> </a:t>
                      </a:r>
                      <a:r>
                        <a:rPr lang="en-US" altLang="zh-CN" sz="1500" baseline="0" dirty="0"/>
                        <a:t>for</a:t>
                      </a:r>
                      <a:r>
                        <a:rPr lang="zh-CN" altLang="en-US" sz="1500" baseline="0" dirty="0"/>
                        <a:t> </a:t>
                      </a:r>
                      <a:r>
                        <a:rPr lang="en-US" altLang="zh-CN" sz="1500" baseline="0" dirty="0"/>
                        <a:t>U/K</a:t>
                      </a:r>
                      <a:endParaRPr lang="zh-CN" altLang="en-US" sz="1500" baseline="0" dirty="0"/>
                    </a:p>
                    <a:p>
                      <a:pPr marL="285750" indent="-285750">
                        <a:lnSpc>
                          <a:spcPct val="120000"/>
                        </a:lnSpc>
                        <a:buFont typeface="Arial" charset="0"/>
                        <a:buChar char="•"/>
                      </a:pPr>
                      <a:r>
                        <a:rPr lang="en-US" altLang="zh-CN" sz="1500" baseline="0" dirty="0"/>
                        <a:t>Para-virtualization:</a:t>
                      </a:r>
                      <a:r>
                        <a:rPr lang="zh-CN" altLang="en-US" sz="1500" baseline="0" dirty="0"/>
                        <a:t> </a:t>
                      </a:r>
                      <a:r>
                        <a:rPr lang="en-US" altLang="zh-CN" sz="1500" baseline="0" dirty="0"/>
                        <a:t>Direct</a:t>
                      </a:r>
                      <a:r>
                        <a:rPr lang="zh-CN" altLang="en-US" sz="1500" baseline="0" dirty="0"/>
                        <a:t> </a:t>
                      </a:r>
                      <a:r>
                        <a:rPr lang="en-US" altLang="zh-CN" sz="1500" baseline="0" dirty="0"/>
                        <a:t>paging</a:t>
                      </a:r>
                      <a:endParaRPr lang="zh-CN" altLang="en-US" sz="1500" dirty="0"/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pPr marL="285750" indent="-285750">
                        <a:lnSpc>
                          <a:spcPct val="120000"/>
                        </a:lnSpc>
                        <a:buFont typeface="Arial" charset="0"/>
                        <a:buChar char="•"/>
                      </a:pPr>
                      <a:r>
                        <a:rPr lang="en-US" altLang="zh-CN" sz="1500" dirty="0"/>
                        <a:t>Stage-2</a:t>
                      </a:r>
                      <a:r>
                        <a:rPr lang="zh-CN" altLang="en-US" sz="1500" dirty="0"/>
                        <a:t> </a:t>
                      </a:r>
                      <a:r>
                        <a:rPr lang="en-US" altLang="zh-CN" sz="1500" dirty="0"/>
                        <a:t>PT</a:t>
                      </a:r>
                      <a:r>
                        <a:rPr lang="zh-CN" altLang="en-US" sz="1500" dirty="0"/>
                        <a:t> </a:t>
                      </a:r>
                      <a:r>
                        <a:rPr lang="en-US" altLang="zh-CN" sz="1500" dirty="0"/>
                        <a:t>(ARM)</a:t>
                      </a:r>
                      <a:endParaRPr lang="zh-CN" altLang="en-US" sz="1500" dirty="0"/>
                    </a:p>
                  </a:txBody>
                  <a:tcPr marL="76200" marR="76200" marT="38100" marB="381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8239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1500" dirty="0"/>
                        <a:t>I/O</a:t>
                      </a:r>
                      <a:endParaRPr lang="zh-CN" altLang="en-US" sz="1500" dirty="0"/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pPr marL="285750" indent="-285750">
                        <a:lnSpc>
                          <a:spcPct val="120000"/>
                        </a:lnSpc>
                        <a:buFont typeface="Arial" charset="0"/>
                        <a:buChar char="•"/>
                      </a:pPr>
                      <a:r>
                        <a:rPr lang="en-US" altLang="zh-CN" sz="1500" dirty="0"/>
                        <a:t>Direct</a:t>
                      </a:r>
                      <a:r>
                        <a:rPr lang="zh-CN" altLang="en-US" sz="1500" dirty="0"/>
                        <a:t> </a:t>
                      </a:r>
                      <a:r>
                        <a:rPr lang="en-US" altLang="zh-CN" sz="1500" dirty="0"/>
                        <a:t>I/O</a:t>
                      </a:r>
                      <a:endParaRPr lang="zh-CN" altLang="en-US" sz="1500" dirty="0"/>
                    </a:p>
                    <a:p>
                      <a:pPr marL="285750" indent="-285750">
                        <a:lnSpc>
                          <a:spcPct val="120000"/>
                        </a:lnSpc>
                        <a:buFont typeface="Arial" charset="0"/>
                        <a:buChar char="•"/>
                      </a:pPr>
                      <a:r>
                        <a:rPr lang="zh-CN" altLang="en-US" sz="1500" dirty="0"/>
                        <a:t>设备模拟</a:t>
                      </a:r>
                      <a:endParaRPr lang="en-US" altLang="zh-CN" sz="1500" dirty="0"/>
                    </a:p>
                    <a:p>
                      <a:pPr marL="285750" indent="-285750">
                        <a:lnSpc>
                          <a:spcPct val="120000"/>
                        </a:lnSpc>
                        <a:buFont typeface="Arial" charset="0"/>
                        <a:buChar char="•"/>
                      </a:pPr>
                      <a:r>
                        <a:rPr lang="en-US" altLang="zh-CN" sz="1500" dirty="0"/>
                        <a:t>Para-virtualization:</a:t>
                      </a:r>
                      <a:r>
                        <a:rPr lang="zh-CN" altLang="en-US" sz="1500" dirty="0"/>
                        <a:t> </a:t>
                      </a:r>
                      <a:r>
                        <a:rPr lang="en-US" altLang="zh-CN" sz="1500" dirty="0"/>
                        <a:t>Front-end</a:t>
                      </a:r>
                      <a:r>
                        <a:rPr lang="zh-CN" altLang="en-US" sz="1500" baseline="0" dirty="0"/>
                        <a:t> </a:t>
                      </a:r>
                      <a:r>
                        <a:rPr lang="en-US" altLang="zh-CN" sz="1500" baseline="0" dirty="0"/>
                        <a:t>&amp;</a:t>
                      </a:r>
                      <a:r>
                        <a:rPr lang="zh-CN" altLang="en-US" sz="1500" baseline="0" dirty="0"/>
                        <a:t> </a:t>
                      </a:r>
                      <a:r>
                        <a:rPr lang="en-US" altLang="zh-CN" sz="1500" baseline="0" dirty="0"/>
                        <a:t>back-end</a:t>
                      </a:r>
                      <a:r>
                        <a:rPr lang="zh-CN" altLang="en-US" sz="1500" baseline="0" dirty="0"/>
                        <a:t> </a:t>
                      </a:r>
                      <a:r>
                        <a:rPr lang="en-US" altLang="zh-CN" sz="1500" baseline="0" dirty="0"/>
                        <a:t>driver</a:t>
                      </a:r>
                      <a:r>
                        <a:rPr lang="zh-CN" altLang="en-US" sz="1500" baseline="0" dirty="0"/>
                        <a:t> </a:t>
                      </a:r>
                      <a:r>
                        <a:rPr lang="en-US" altLang="zh-CN" sz="1500" baseline="0" dirty="0"/>
                        <a:t>(e.g.,</a:t>
                      </a:r>
                      <a:r>
                        <a:rPr lang="zh-CN" altLang="en-US" sz="1500" baseline="0" dirty="0"/>
                        <a:t> </a:t>
                      </a:r>
                      <a:r>
                        <a:rPr lang="en-US" altLang="zh-CN" sz="1500" baseline="0" dirty="0" err="1"/>
                        <a:t>virtio</a:t>
                      </a:r>
                      <a:r>
                        <a:rPr lang="en-US" altLang="zh-CN" sz="1500" baseline="0" dirty="0"/>
                        <a:t>)</a:t>
                      </a:r>
                      <a:endParaRPr lang="zh-CN" altLang="en-US" sz="1500" baseline="0" dirty="0"/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pPr marL="285750" indent="-285750">
                        <a:lnSpc>
                          <a:spcPct val="120000"/>
                        </a:lnSpc>
                        <a:buFont typeface="Arial" charset="0"/>
                        <a:buChar char="•"/>
                      </a:pPr>
                      <a:r>
                        <a:rPr lang="en-US" altLang="zh-CN" sz="1500" dirty="0"/>
                        <a:t>SMMU</a:t>
                      </a:r>
                      <a:r>
                        <a:rPr lang="zh-CN" altLang="en-US" sz="1500" dirty="0"/>
                        <a:t> </a:t>
                      </a:r>
                      <a:r>
                        <a:rPr lang="en-US" altLang="zh-CN" sz="1500" dirty="0"/>
                        <a:t>(ARM)</a:t>
                      </a:r>
                      <a:r>
                        <a:rPr lang="zh-CN" altLang="en-US" sz="1500" dirty="0"/>
                        <a:t> </a:t>
                      </a:r>
                      <a:r>
                        <a:rPr lang="en-US" altLang="zh-CN" sz="1500" dirty="0"/>
                        <a:t>/</a:t>
                      </a:r>
                      <a:r>
                        <a:rPr lang="zh-CN" altLang="en-US" sz="1500" dirty="0"/>
                        <a:t> </a:t>
                      </a:r>
                      <a:r>
                        <a:rPr lang="en-US" altLang="zh-CN" sz="1500" dirty="0"/>
                        <a:t>IOMMU</a:t>
                      </a:r>
                      <a:r>
                        <a:rPr lang="zh-CN" altLang="en-US" sz="1500" dirty="0"/>
                        <a:t> </a:t>
                      </a:r>
                      <a:r>
                        <a:rPr lang="en-US" altLang="zh-CN" sz="1500" dirty="0"/>
                        <a:t>(x86)</a:t>
                      </a:r>
                      <a:endParaRPr lang="zh-CN" altLang="en-US" sz="1500" dirty="0"/>
                    </a:p>
                    <a:p>
                      <a:pPr marL="285750" indent="-285750">
                        <a:lnSpc>
                          <a:spcPct val="120000"/>
                        </a:lnSpc>
                        <a:buFont typeface="Arial" charset="0"/>
                        <a:buChar char="•"/>
                      </a:pPr>
                      <a:r>
                        <a:rPr lang="en-US" altLang="zh-CN" sz="1500" dirty="0"/>
                        <a:t>SR-IOV</a:t>
                      </a:r>
                      <a:endParaRPr lang="zh-CN" altLang="en-US" sz="1500" dirty="0"/>
                    </a:p>
                  </a:txBody>
                  <a:tcPr marL="76200" marR="76200" marT="38100" marB="381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664729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4B824E-A612-604B-9DFE-031618B0A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云厂商普遍用虚拟化来隔离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1E500B1-AA7D-4144-8112-9358D8E38B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虚拟化的优势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可以运行完整的软件栈，包括不同的操作系统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灵活的整体资源分配（支持动态迁移）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方便的添加、删除、备份（只需文件操作）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虚拟机之间的强隔离（能抵御 </a:t>
            </a:r>
            <a:r>
              <a:rPr kumimoji="1" lang="en-US" altLang="zh-CN" dirty="0"/>
              <a:t>fork</a:t>
            </a:r>
            <a:r>
              <a:rPr kumimoji="1" lang="zh-CN" altLang="en-US" dirty="0"/>
              <a:t> </a:t>
            </a:r>
            <a:r>
              <a:rPr kumimoji="1" lang="en-US" altLang="zh-CN" dirty="0"/>
              <a:t>bomb</a:t>
            </a:r>
            <a:r>
              <a:rPr kumimoji="1" lang="zh-CN" altLang="en-US" dirty="0"/>
              <a:t> ）</a:t>
            </a:r>
            <a:endParaRPr kumimoji="1" lang="en-US" altLang="zh-CN" dirty="0"/>
          </a:p>
          <a:p>
            <a:r>
              <a:rPr kumimoji="1" lang="zh-CN" altLang="en-US" dirty="0"/>
              <a:t>虚拟化的问题：太重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云：性能损失，尤其是</a:t>
            </a:r>
            <a:r>
              <a:rPr kumimoji="1" lang="en-US" altLang="zh-CN" dirty="0"/>
              <a:t>I/O</a:t>
            </a:r>
            <a:r>
              <a:rPr kumimoji="1" lang="zh-CN" altLang="en-US" dirty="0"/>
              <a:t>虚拟化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用户：两层操作系统导致资源浪费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E38E7C3-C563-A141-A9F6-61E9ECCCF1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A7630BC-0D24-7C42-B9CB-A86C4700A7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174117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BF7EAD-D2EA-3549-8907-5F1532058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是否有更轻量级的隔离？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A3B81B-C7D6-0240-BE60-EE117BC287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ja-JP" altLang="en-US"/>
              <a:t>多用户机制</a:t>
            </a:r>
            <a:endParaRPr lang="en-US" altLang="ja-JP" dirty="0"/>
          </a:p>
          <a:p>
            <a:pPr lvl="1"/>
            <a:r>
              <a:rPr lang="ja-JP" altLang="en-US"/>
              <a:t>如</a:t>
            </a:r>
            <a:r>
              <a:rPr lang="zh-CN" altLang="en-US" dirty="0"/>
              <a:t>：</a:t>
            </a:r>
            <a:r>
              <a:rPr lang="en-US" altLang="ja-JP" dirty="0"/>
              <a:t>Windows</a:t>
            </a:r>
            <a:r>
              <a:rPr lang="zh-CN" altLang="en-US" dirty="0"/>
              <a:t> </a:t>
            </a:r>
            <a:r>
              <a:rPr lang="en-US" altLang="zh-CN" dirty="0"/>
              <a:t>Server</a:t>
            </a:r>
            <a:r>
              <a:rPr lang="ja-JP" altLang="en-US"/>
              <a:t>允许多个用户</a:t>
            </a:r>
            <a:r>
              <a:rPr lang="zh-CN" altLang="en-US" dirty="0"/>
              <a:t>，</a:t>
            </a:r>
            <a:r>
              <a:rPr lang="ja-JP" altLang="en-US"/>
              <a:t>同时远程使用桌面</a:t>
            </a:r>
            <a:endParaRPr lang="en-US" altLang="ja-JP" dirty="0"/>
          </a:p>
          <a:p>
            <a:pPr lvl="1"/>
            <a:r>
              <a:rPr lang="ja-JP" altLang="en-US"/>
              <a:t>多个用户可以共享一个操作系统</a:t>
            </a:r>
            <a:r>
              <a:rPr lang="zh-CN" altLang="en-US" dirty="0"/>
              <a:t>，</a:t>
            </a:r>
            <a:r>
              <a:rPr lang="ja-JP" altLang="en-US"/>
              <a:t>同时进行不同的工作</a:t>
            </a:r>
            <a:endParaRPr lang="en-US" altLang="ja-JP" dirty="0"/>
          </a:p>
          <a:p>
            <a:r>
              <a:rPr lang="zh-CN" altLang="en-US" dirty="0"/>
              <a:t>缺点：</a:t>
            </a:r>
            <a:r>
              <a:rPr lang="ja-JP" altLang="en-US"/>
              <a:t>多个用户之间缺少隔离</a:t>
            </a:r>
            <a:endParaRPr lang="en-US" altLang="ja-JP" dirty="0"/>
          </a:p>
          <a:p>
            <a:pPr lvl="1"/>
            <a:r>
              <a:rPr lang="zh-CN" altLang="en-US" dirty="0"/>
              <a:t>例如：</a:t>
            </a:r>
            <a:r>
              <a:rPr lang="ja-JP" altLang="en-US"/>
              <a:t>所有用户共同操作一个文件系统根目录</a:t>
            </a:r>
            <a:endParaRPr lang="en-US" altLang="ja-JP" dirty="0"/>
          </a:p>
          <a:p>
            <a:r>
              <a:rPr lang="zh-CN" altLang="en-US" dirty="0"/>
              <a:t>如何</a:t>
            </a:r>
            <a:r>
              <a:rPr lang="ja-JP" altLang="en-US"/>
              <a:t>想让每个用户看到的文件系统视图不同</a:t>
            </a:r>
            <a:r>
              <a:rPr lang="zh-CN" altLang="en-US" dirty="0"/>
              <a:t>？</a:t>
            </a:r>
            <a:endParaRPr lang="en-US" altLang="ja-JP" dirty="0"/>
          </a:p>
          <a:p>
            <a:pPr lvl="1"/>
            <a:r>
              <a:rPr lang="ja-JP" altLang="en-US"/>
              <a:t>对每个用户可访问的文件系统做隔离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8E6F09-94D4-1C43-B90C-6B29D9FBD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18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DFAB7D-99B9-1E4E-8B95-9A959C42D3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751272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AF46C-6530-BE46-8D18-A076A18D8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chroot</a:t>
            </a:r>
            <a:endParaRPr lang="en-C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D1D474-38E7-6440-A34D-39FE1C5651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742254-F661-BD45-AA6E-308FAA94E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19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68FC44-3EA4-AA45-96A8-B615BF647F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299219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C7D23BF-7BE6-3243-8735-46FD96623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文件系统视图的隔离</a:t>
            </a:r>
            <a:endParaRPr lang="en-CN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38322FA-7066-F343-B42E-14C95BDEAD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/>
              <a:t>为每个执行环境提供单独的文件系统视图</a:t>
            </a:r>
            <a:endParaRPr lang="en-US" altLang="ja-JP" dirty="0"/>
          </a:p>
          <a:p>
            <a:r>
              <a:rPr lang="ja-JP" altLang="en-US"/>
              <a:t>原理</a:t>
            </a:r>
            <a:endParaRPr lang="en-US" altLang="ja-JP" dirty="0"/>
          </a:p>
          <a:p>
            <a:pPr lvl="1"/>
            <a:r>
              <a:rPr lang="en-US" altLang="ja-JP" dirty="0"/>
              <a:t>Unix</a:t>
            </a:r>
            <a:r>
              <a:rPr lang="ja-JP" altLang="en-US"/>
              <a:t>系统中的</a:t>
            </a:r>
            <a:r>
              <a:rPr lang="zh-CN" altLang="en-US" dirty="0"/>
              <a:t>“</a:t>
            </a:r>
            <a:r>
              <a:rPr lang="ja-JP" altLang="en-US"/>
              <a:t>一切皆文件</a:t>
            </a:r>
            <a:r>
              <a:rPr lang="zh-CN" altLang="en-US" dirty="0"/>
              <a:t>”</a:t>
            </a:r>
            <a:r>
              <a:rPr lang="ja-JP" altLang="en-US"/>
              <a:t>设计理念</a:t>
            </a:r>
            <a:endParaRPr lang="en-US" altLang="zh-CN" dirty="0"/>
          </a:p>
          <a:p>
            <a:pPr lvl="1"/>
            <a:r>
              <a:rPr lang="ja-JP" altLang="en-US"/>
              <a:t>对于用户态来说</a:t>
            </a:r>
            <a:r>
              <a:rPr lang="zh-CN" altLang="en-US" dirty="0"/>
              <a:t>，</a:t>
            </a:r>
            <a:r>
              <a:rPr lang="ja-JP" altLang="en-US"/>
              <a:t>文件系统相当重要</a:t>
            </a:r>
            <a:endParaRPr lang="en-US" altLang="ja-JP" dirty="0"/>
          </a:p>
          <a:p>
            <a:r>
              <a:rPr lang="ja-JP" altLang="en-US"/>
              <a:t>方法</a:t>
            </a:r>
            <a:endParaRPr lang="en-US" altLang="ja-JP" dirty="0"/>
          </a:p>
          <a:p>
            <a:pPr lvl="1"/>
            <a:r>
              <a:rPr lang="ja-JP" altLang="en-US"/>
              <a:t>改变文件系统的根目录</a:t>
            </a:r>
            <a:r>
              <a:rPr lang="zh-CN" altLang="en-US" dirty="0"/>
              <a:t>，</a:t>
            </a:r>
            <a:r>
              <a:rPr lang="ja-JP" altLang="en-US"/>
              <a:t>即</a:t>
            </a:r>
            <a:r>
              <a:rPr lang="en-US" altLang="ja-JP" dirty="0"/>
              <a:t>chroot</a:t>
            </a:r>
          </a:p>
          <a:p>
            <a:pPr lvl="1"/>
            <a:endParaRPr lang="en-US" altLang="ja-JP" dirty="0"/>
          </a:p>
          <a:p>
            <a:pPr lvl="1"/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D71913-A913-794A-B9DE-A28F56644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20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8DC855-ECBA-CF4F-899F-D6C98DDCE1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975591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2B93B7-95B2-C647-A672-CFE64BE40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Chroot</a:t>
            </a:r>
            <a:r>
              <a:rPr kumimoji="1" lang="ja-JP" altLang="en-US"/>
              <a:t>效果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63171EC-F059-CC43-8601-4FF2D09158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控制进程能够访问哪些目录子树</a:t>
            </a:r>
            <a:endParaRPr kumimoji="1" lang="en-US" altLang="zh-CN" dirty="0"/>
          </a:p>
          <a:p>
            <a:r>
              <a:rPr kumimoji="1" lang="ja-JP" altLang="en-US" dirty="0"/>
              <a:t>改变进程所属的根目录</a:t>
            </a:r>
            <a:endParaRPr kumimoji="1" lang="en-US" altLang="ja-JP" dirty="0"/>
          </a:p>
          <a:p>
            <a:r>
              <a:rPr kumimoji="1" lang="ja-JP" altLang="en-US" dirty="0"/>
              <a:t>进程只能看到根目录下属的文件</a:t>
            </a: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A03D2A2-C0ED-D34A-99FA-87FF3394C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21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E8A309F-9D97-594C-A465-3B80769EB4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3D6215CC-54D4-614C-B890-B65E043EE60B}"/>
              </a:ext>
            </a:extLst>
          </p:cNvPr>
          <p:cNvSpPr/>
          <p:nvPr/>
        </p:nvSpPr>
        <p:spPr>
          <a:xfrm>
            <a:off x="5868144" y="2867714"/>
            <a:ext cx="900000" cy="360000"/>
          </a:xfrm>
          <a:prstGeom prst="round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1"/>
                </a:solidFill>
              </a:rPr>
              <a:t>/</a:t>
            </a:r>
            <a:endParaRPr lang="en-CN" dirty="0">
              <a:solidFill>
                <a:schemeClr val="accent1"/>
              </a:solidFill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C679E30B-1721-6A4B-ADB2-B59C7C03912A}"/>
              </a:ext>
            </a:extLst>
          </p:cNvPr>
          <p:cNvSpPr/>
          <p:nvPr/>
        </p:nvSpPr>
        <p:spPr>
          <a:xfrm>
            <a:off x="4738561" y="3747343"/>
            <a:ext cx="900000" cy="360000"/>
          </a:xfrm>
          <a:prstGeom prst="roundRect">
            <a:avLst/>
          </a:prstGeom>
          <a:solidFill>
            <a:schemeClr val="accent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>
                <a:solidFill>
                  <a:schemeClr val="bg1"/>
                </a:solidFill>
              </a:rPr>
              <a:t>usr</a:t>
            </a:r>
            <a:endParaRPr lang="en-CN" dirty="0">
              <a:solidFill>
                <a:schemeClr val="bg1"/>
              </a:solidFill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E0BE8934-A77D-5248-9CAB-C6312878294D}"/>
              </a:ext>
            </a:extLst>
          </p:cNvPr>
          <p:cNvSpPr/>
          <p:nvPr/>
        </p:nvSpPr>
        <p:spPr>
          <a:xfrm>
            <a:off x="6988637" y="3747343"/>
            <a:ext cx="900000" cy="360000"/>
          </a:xfrm>
          <a:prstGeom prst="roundRect">
            <a:avLst/>
          </a:prstGeom>
          <a:solidFill>
            <a:schemeClr val="accent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>
                <a:solidFill>
                  <a:schemeClr val="bg1"/>
                </a:solidFill>
              </a:rPr>
              <a:t>mnt</a:t>
            </a:r>
            <a:endParaRPr lang="en-CN" dirty="0">
              <a:solidFill>
                <a:schemeClr val="bg1"/>
              </a:solidFill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495FADA6-02B0-4C46-8EFF-0E2D9FA1EEB9}"/>
              </a:ext>
            </a:extLst>
          </p:cNvPr>
          <p:cNvSpPr/>
          <p:nvPr/>
        </p:nvSpPr>
        <p:spPr>
          <a:xfrm>
            <a:off x="5863828" y="3747343"/>
            <a:ext cx="900000" cy="360000"/>
          </a:xfrm>
          <a:prstGeom prst="roundRect">
            <a:avLst/>
          </a:prstGeom>
          <a:solidFill>
            <a:schemeClr val="accent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1"/>
                </a:solidFill>
              </a:rPr>
              <a:t>bin</a:t>
            </a:r>
            <a:endParaRPr lang="en-CN" dirty="0">
              <a:solidFill>
                <a:schemeClr val="bg1"/>
              </a:solidFill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719522B4-C6F9-664E-81A7-6C9A9ED0FE13}"/>
              </a:ext>
            </a:extLst>
          </p:cNvPr>
          <p:cNvSpPr/>
          <p:nvPr/>
        </p:nvSpPr>
        <p:spPr>
          <a:xfrm>
            <a:off x="6503976" y="4513724"/>
            <a:ext cx="900000" cy="360000"/>
          </a:xfrm>
          <a:prstGeom prst="roundRect">
            <a:avLst/>
          </a:prstGeom>
          <a:solidFill>
            <a:schemeClr val="accent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>
                <a:solidFill>
                  <a:schemeClr val="bg1"/>
                </a:solidFill>
              </a:rPr>
              <a:t>usr</a:t>
            </a:r>
            <a:endParaRPr lang="en-CN" dirty="0">
              <a:solidFill>
                <a:schemeClr val="bg1"/>
              </a:solidFill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EFB72E59-C09E-8141-9B6F-FBA7611C2FBD}"/>
              </a:ext>
            </a:extLst>
          </p:cNvPr>
          <p:cNvSpPr/>
          <p:nvPr/>
        </p:nvSpPr>
        <p:spPr>
          <a:xfrm>
            <a:off x="7712843" y="4513724"/>
            <a:ext cx="900000" cy="360000"/>
          </a:xfrm>
          <a:prstGeom prst="roundRect">
            <a:avLst/>
          </a:prstGeom>
          <a:solidFill>
            <a:schemeClr val="accent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1"/>
                </a:solidFill>
              </a:rPr>
              <a:t>bin</a:t>
            </a:r>
            <a:endParaRPr lang="en-CN" dirty="0">
              <a:solidFill>
                <a:schemeClr val="bg1"/>
              </a:solidFill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C0034CA-B807-2C4A-92B1-E9B24DE6D442}"/>
              </a:ext>
            </a:extLst>
          </p:cNvPr>
          <p:cNvCxnSpPr>
            <a:stCxn id="15" idx="2"/>
            <a:endCxn id="18" idx="0"/>
          </p:cNvCxnSpPr>
          <p:nvPr/>
        </p:nvCxnSpPr>
        <p:spPr>
          <a:xfrm flipH="1">
            <a:off x="5188561" y="3227714"/>
            <a:ext cx="1129583" cy="51962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8B09E33-7C37-B548-A97A-329A33FDB228}"/>
              </a:ext>
            </a:extLst>
          </p:cNvPr>
          <p:cNvCxnSpPr>
            <a:cxnSpLocks/>
            <a:stCxn id="15" idx="2"/>
            <a:endCxn id="20" idx="0"/>
          </p:cNvCxnSpPr>
          <p:nvPr/>
        </p:nvCxnSpPr>
        <p:spPr>
          <a:xfrm flipH="1">
            <a:off x="6313828" y="3227714"/>
            <a:ext cx="4316" cy="51962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10A2FD1-F543-9449-93F4-F1842C6531DF}"/>
              </a:ext>
            </a:extLst>
          </p:cNvPr>
          <p:cNvCxnSpPr>
            <a:cxnSpLocks/>
            <a:stCxn id="15" idx="2"/>
            <a:endCxn id="19" idx="0"/>
          </p:cNvCxnSpPr>
          <p:nvPr/>
        </p:nvCxnSpPr>
        <p:spPr>
          <a:xfrm>
            <a:off x="6318144" y="3227714"/>
            <a:ext cx="1120493" cy="51962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1BF6E504-C7B4-E142-8386-293D9BC03D52}"/>
              </a:ext>
            </a:extLst>
          </p:cNvPr>
          <p:cNvCxnSpPr>
            <a:cxnSpLocks/>
            <a:stCxn id="19" idx="2"/>
            <a:endCxn id="21" idx="0"/>
          </p:cNvCxnSpPr>
          <p:nvPr/>
        </p:nvCxnSpPr>
        <p:spPr>
          <a:xfrm flipH="1">
            <a:off x="6953976" y="4107343"/>
            <a:ext cx="484661" cy="40638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C3EEE55B-0B3B-7446-8AC4-7DFBD26AAFA9}"/>
              </a:ext>
            </a:extLst>
          </p:cNvPr>
          <p:cNvCxnSpPr>
            <a:cxnSpLocks/>
            <a:stCxn id="19" idx="2"/>
            <a:endCxn id="22" idx="0"/>
          </p:cNvCxnSpPr>
          <p:nvPr/>
        </p:nvCxnSpPr>
        <p:spPr>
          <a:xfrm>
            <a:off x="7438637" y="4107343"/>
            <a:ext cx="724206" cy="40638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5BADF5F5-E2A2-954A-9D85-14C2C7399B4A}"/>
              </a:ext>
            </a:extLst>
          </p:cNvPr>
          <p:cNvSpPr txBox="1"/>
          <p:nvPr/>
        </p:nvSpPr>
        <p:spPr>
          <a:xfrm>
            <a:off x="6773358" y="2849405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CN"/>
              <a:t>根目录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411020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798 -0.00139 L 0.12083 0.15445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642" y="7778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  <p:set>
                                      <p:cBhvr>
                                        <p:cTn id="9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  <p:set>
                                      <p:cBhvr>
                                        <p:cTn id="13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  <p:set>
                                      <p:cBhvr>
                                        <p:cTn id="17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BE384B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1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BE384B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3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BE384B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5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382EF-8F97-4945-B7A5-D1812605C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Chroot</a:t>
            </a:r>
            <a:r>
              <a:rPr lang="ja-JP" altLang="en-CN"/>
              <a:t>原理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409BA2-600E-CD44-8F75-1FEE85A08A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ja-JP" altLang="en-US"/>
              <a:t>进程只能从根目录向下开始查找文件</a:t>
            </a:r>
            <a:endParaRPr lang="en-US" altLang="ja-JP" dirty="0"/>
          </a:p>
          <a:p>
            <a:pPr lvl="1"/>
            <a:r>
              <a:rPr lang="ja-JP" altLang="en-CN"/>
              <a:t>操作</a:t>
            </a:r>
            <a:r>
              <a:rPr lang="ja-JP" altLang="en-US"/>
              <a:t>系统内部修改了根目录的位置</a:t>
            </a:r>
            <a:endParaRPr lang="en-US" altLang="ja-JP" dirty="0"/>
          </a:p>
          <a:p>
            <a:r>
              <a:rPr lang="ja-JP" altLang="en-US"/>
              <a:t>一个简单的设计</a:t>
            </a:r>
            <a:endParaRPr lang="en-US" altLang="ja-JP" dirty="0"/>
          </a:p>
          <a:p>
            <a:pPr lvl="1"/>
            <a:r>
              <a:rPr lang="ja-JP" altLang="en-US"/>
              <a:t>内核为每个用户记录一个根目录路径</a:t>
            </a:r>
            <a:endParaRPr lang="en-US" altLang="ja-JP" dirty="0"/>
          </a:p>
          <a:p>
            <a:pPr lvl="1"/>
            <a:r>
              <a:rPr lang="ja-JP" altLang="en-US"/>
              <a:t>进程打开文件时内核从该用户的根目录开始查找</a:t>
            </a:r>
            <a:endParaRPr lang="en-US" altLang="ja-JP" dirty="0"/>
          </a:p>
          <a:p>
            <a:r>
              <a:rPr lang="ja-JP" altLang="en-US"/>
              <a:t>上述设计有什么问题</a:t>
            </a:r>
            <a:r>
              <a:rPr lang="zh-CN" altLang="en-US" dirty="0"/>
              <a:t>？</a:t>
            </a:r>
            <a:endParaRPr lang="en-US" altLang="zh-CN" dirty="0"/>
          </a:p>
          <a:p>
            <a:pPr lvl="1"/>
            <a:r>
              <a:rPr lang="ja-JP" altLang="en-US"/>
              <a:t>遇到类似</a:t>
            </a:r>
            <a:r>
              <a:rPr lang="zh-CN" altLang="en-US" dirty="0"/>
              <a:t>“</a:t>
            </a:r>
            <a:r>
              <a:rPr lang="en-US" altLang="zh-CN" dirty="0"/>
              <a:t>..</a:t>
            </a:r>
            <a:r>
              <a:rPr lang="zh-CN" altLang="en-US" dirty="0"/>
              <a:t>”</a:t>
            </a:r>
            <a:r>
              <a:rPr lang="ja-JP" altLang="en-US"/>
              <a:t>的路径会发生什么</a:t>
            </a:r>
            <a:r>
              <a:rPr lang="zh-CN" altLang="en-US" dirty="0"/>
              <a:t>？</a:t>
            </a:r>
            <a:endParaRPr lang="en-US" altLang="zh-CN" dirty="0"/>
          </a:p>
          <a:p>
            <a:pPr lvl="1"/>
            <a:r>
              <a:rPr lang="ja-JP" altLang="en-US"/>
              <a:t>一个用户想要使不同进程有不同的根目录怎么办</a:t>
            </a:r>
            <a:r>
              <a:rPr lang="zh-CN" altLang="en-US" dirty="0"/>
              <a:t>？</a:t>
            </a:r>
            <a:endParaRPr lang="en-US" altLang="zh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49637C-4825-4D4D-9844-F188F3391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22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9C7D34-45D2-7D45-B5C7-58F6B50262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505004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382EF-8F97-4945-B7A5-D1812605C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Chroot</a:t>
            </a:r>
            <a:r>
              <a:rPr lang="ja-JP" altLang="en-US"/>
              <a:t>在</a:t>
            </a:r>
            <a:r>
              <a:rPr lang="en-US" altLang="ja-JP" dirty="0"/>
              <a:t>Linux</a:t>
            </a:r>
            <a:r>
              <a:rPr lang="ja-JP" altLang="en-US"/>
              <a:t>中的实现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409BA2-600E-CD44-8F75-1FEE85A08A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/>
              <a:t>特殊检查根目录下的</a:t>
            </a:r>
            <a:r>
              <a:rPr lang="zh-CN" altLang="en-US" dirty="0"/>
              <a:t>“</a:t>
            </a:r>
            <a:r>
              <a:rPr lang="en-US" altLang="zh-CN" dirty="0"/>
              <a:t>..</a:t>
            </a:r>
            <a:r>
              <a:rPr lang="zh-CN" altLang="en-US" dirty="0"/>
              <a:t>”</a:t>
            </a:r>
            <a:endParaRPr lang="en-US" altLang="zh-CN" dirty="0"/>
          </a:p>
          <a:p>
            <a:pPr lvl="1"/>
            <a:r>
              <a:rPr lang="ja-JP" altLang="en-US"/>
              <a:t>使得</a:t>
            </a:r>
            <a:r>
              <a:rPr lang="zh-CN" altLang="en-US" dirty="0"/>
              <a:t>“</a:t>
            </a:r>
            <a:r>
              <a:rPr lang="en-US" altLang="zh-CN" dirty="0"/>
              <a:t>/..</a:t>
            </a:r>
            <a:r>
              <a:rPr lang="zh-CN" altLang="en-US" dirty="0"/>
              <a:t>”</a:t>
            </a:r>
            <a:r>
              <a:rPr lang="ja-JP" altLang="en-US"/>
              <a:t>与</a:t>
            </a:r>
            <a:r>
              <a:rPr lang="zh-CN" altLang="en-US" dirty="0"/>
              <a:t>“</a:t>
            </a:r>
            <a:r>
              <a:rPr lang="en-US" altLang="zh-CN" dirty="0"/>
              <a:t>/</a:t>
            </a:r>
            <a:r>
              <a:rPr lang="zh-CN" altLang="en-US" dirty="0"/>
              <a:t>”</a:t>
            </a:r>
            <a:r>
              <a:rPr lang="ja-JP" altLang="en-US"/>
              <a:t>等价</a:t>
            </a:r>
            <a:endParaRPr lang="en-US" altLang="ja-JP" dirty="0"/>
          </a:p>
          <a:p>
            <a:pPr lvl="1"/>
            <a:r>
              <a:rPr lang="ja-JP" altLang="en-US"/>
              <a:t>无法通过</a:t>
            </a:r>
            <a:r>
              <a:rPr lang="zh-CN" altLang="en-US" dirty="0"/>
              <a:t>“</a:t>
            </a:r>
            <a:r>
              <a:rPr lang="en-US" altLang="zh-CN" dirty="0"/>
              <a:t>..</a:t>
            </a:r>
            <a:r>
              <a:rPr lang="zh-CN" altLang="en-US" dirty="0"/>
              <a:t>”</a:t>
            </a:r>
            <a:r>
              <a:rPr lang="ja-JP" altLang="en-US"/>
              <a:t>打破隔离</a:t>
            </a:r>
            <a:endParaRPr lang="en-US" altLang="ja-JP" dirty="0"/>
          </a:p>
          <a:p>
            <a:r>
              <a:rPr lang="ja-JP" altLang="en-US"/>
              <a:t>每个</a:t>
            </a:r>
            <a:r>
              <a:rPr lang="en-US" altLang="ja-JP" dirty="0"/>
              <a:t>TCB</a:t>
            </a:r>
            <a:r>
              <a:rPr lang="ja-JP" altLang="en-US"/>
              <a:t>都指向一个</a:t>
            </a:r>
            <a:r>
              <a:rPr lang="en-US" altLang="ja-JP" dirty="0"/>
              <a:t>root</a:t>
            </a:r>
            <a:r>
              <a:rPr lang="ja-JP" altLang="en-US"/>
              <a:t>目录</a:t>
            </a:r>
            <a:endParaRPr lang="en-US" altLang="ja-JP" dirty="0"/>
          </a:p>
          <a:p>
            <a:pPr lvl="1"/>
            <a:r>
              <a:rPr lang="ja-JP" altLang="en-US"/>
              <a:t>一个用户可以对多个进程</a:t>
            </a:r>
            <a:r>
              <a:rPr lang="en-US" altLang="ja-JP" dirty="0"/>
              <a:t>chroot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49637C-4825-4D4D-9844-F188F3391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23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9C7D34-45D2-7D45-B5C7-58F6B50262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7832A64-F824-6245-8803-FA05C89B971A}"/>
              </a:ext>
            </a:extLst>
          </p:cNvPr>
          <p:cNvSpPr/>
          <p:nvPr/>
        </p:nvSpPr>
        <p:spPr>
          <a:xfrm>
            <a:off x="5220073" y="2245508"/>
            <a:ext cx="3923928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struct 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fs_struct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   ......</a:t>
            </a:r>
          </a:p>
          <a:p>
            <a:r>
              <a:rPr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struct path 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root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pwd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  <a:p>
            <a:endParaRPr lang="en-US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struct 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task_struct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   ......</a:t>
            </a:r>
          </a:p>
          <a:p>
            <a:r>
              <a:rPr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struct 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fs_struct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*fs;</a:t>
            </a:r>
          </a:p>
          <a:p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   ......</a:t>
            </a:r>
          </a:p>
          <a:p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16155623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382EF-8F97-4945-B7A5-D1812605C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正确</a:t>
            </a:r>
            <a:r>
              <a:rPr lang="ja-JP" altLang="en-CN"/>
              <a:t>使用</a:t>
            </a:r>
            <a:r>
              <a:rPr lang="en-CN" dirty="0"/>
              <a:t>Chroot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409BA2-600E-CD44-8F75-1FEE85A08A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/>
              <a:t>需要</a:t>
            </a:r>
            <a:r>
              <a:rPr lang="en-US" altLang="ja-JP" dirty="0"/>
              <a:t>root</a:t>
            </a:r>
            <a:r>
              <a:rPr lang="ja-JP" altLang="en-US"/>
              <a:t>权限才能变更根目录</a:t>
            </a:r>
            <a:endParaRPr lang="en-US" altLang="ja-JP" dirty="0"/>
          </a:p>
          <a:p>
            <a:pPr lvl="1"/>
            <a:r>
              <a:rPr lang="ja-JP" altLang="en-US"/>
              <a:t>也意味着</a:t>
            </a:r>
            <a:r>
              <a:rPr lang="en-US" altLang="zh-CN" dirty="0"/>
              <a:t>chroot</a:t>
            </a:r>
            <a:r>
              <a:rPr lang="ja-JP" altLang="en-US"/>
              <a:t>无法限制</a:t>
            </a:r>
            <a:r>
              <a:rPr lang="en-US" altLang="ja-JP" dirty="0"/>
              <a:t>root</a:t>
            </a:r>
            <a:r>
              <a:rPr lang="ja-JP" altLang="en-US"/>
              <a:t>用户</a:t>
            </a:r>
            <a:endParaRPr lang="en-US" altLang="ja-JP" dirty="0"/>
          </a:p>
          <a:p>
            <a:r>
              <a:rPr lang="ja-JP" altLang="en-US"/>
              <a:t>确保</a:t>
            </a:r>
            <a:r>
              <a:rPr lang="en-US" altLang="ja-JP" dirty="0"/>
              <a:t>chroot</a:t>
            </a:r>
            <a:r>
              <a:rPr lang="ja-JP" altLang="en-US"/>
              <a:t>有效</a:t>
            </a:r>
            <a:endParaRPr lang="en-US" altLang="ja-JP" dirty="0"/>
          </a:p>
          <a:p>
            <a:pPr lvl="1"/>
            <a:r>
              <a:rPr lang="ja-JP" altLang="en-US"/>
              <a:t>使用</a:t>
            </a:r>
            <a:r>
              <a:rPr lang="en-US" altLang="zh-CN" dirty="0" err="1"/>
              <a:t>setuid</a:t>
            </a:r>
            <a:r>
              <a:rPr lang="ja-JP" altLang="en-US"/>
              <a:t>消除目标进程的</a:t>
            </a:r>
            <a:r>
              <a:rPr lang="en-US" altLang="ja-JP" dirty="0"/>
              <a:t>root</a:t>
            </a:r>
            <a:r>
              <a:rPr lang="ja-JP" altLang="en-US"/>
              <a:t>权限</a:t>
            </a:r>
            <a:endParaRPr lang="en-US" altLang="ja-JP" dirty="0"/>
          </a:p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49637C-4825-4D4D-9844-F188F3391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24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9C7D34-45D2-7D45-B5C7-58F6B50262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7" name="矩形 5">
            <a:extLst>
              <a:ext uri="{FF2B5EF4-FFF2-40B4-BE49-F238E27FC236}">
                <a16:creationId xmlns:a16="http://schemas.microsoft.com/office/drawing/2014/main" id="{03A8C98B-8C47-1844-A32D-B4BC4C090440}"/>
              </a:ext>
            </a:extLst>
          </p:cNvPr>
          <p:cNvSpPr/>
          <p:nvPr/>
        </p:nvSpPr>
        <p:spPr>
          <a:xfrm>
            <a:off x="5364088" y="3478622"/>
            <a:ext cx="392392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chdir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(“jail”);</a:t>
            </a:r>
          </a:p>
          <a:p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chroot(“.”);</a:t>
            </a:r>
          </a:p>
          <a:p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setuid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(UID);</a:t>
            </a:r>
            <a:r>
              <a:rPr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UID</a:t>
            </a:r>
            <a:r>
              <a:rPr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12619618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CB0A88-B526-9F47-BE50-8CB0C419E7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基于</a:t>
            </a:r>
            <a:r>
              <a:rPr kumimoji="1" lang="en-US" altLang="zh-CN" dirty="0"/>
              <a:t>Name</a:t>
            </a:r>
            <a:r>
              <a:rPr kumimoji="1" lang="zh-CN" altLang="en-US" dirty="0"/>
              <a:t> </a:t>
            </a:r>
            <a:r>
              <a:rPr kumimoji="1" lang="en-US" altLang="zh-CN" dirty="0"/>
              <a:t>Space</a:t>
            </a:r>
            <a:r>
              <a:rPr kumimoji="1" lang="zh-CN" altLang="en-US" dirty="0"/>
              <a:t>的限制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CD437BD-F3CA-424D-9DD6-5050E725E8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通过文件系统的</a:t>
            </a:r>
            <a:r>
              <a:rPr kumimoji="1" lang="en-US" altLang="zh-CN" dirty="0"/>
              <a:t>name</a:t>
            </a:r>
            <a:r>
              <a:rPr kumimoji="1" lang="zh-CN" altLang="en-US" dirty="0"/>
              <a:t> </a:t>
            </a:r>
            <a:r>
              <a:rPr kumimoji="1" lang="en-US" altLang="zh-CN" dirty="0"/>
              <a:t>space</a:t>
            </a:r>
            <a:r>
              <a:rPr kumimoji="1" lang="zh-CN" altLang="en-US" dirty="0"/>
              <a:t>来限制用户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如果用户直接通过</a:t>
            </a:r>
            <a:r>
              <a:rPr kumimoji="1" lang="en-US" altLang="zh-CN" dirty="0" err="1"/>
              <a:t>inode</a:t>
            </a:r>
            <a:r>
              <a:rPr kumimoji="1" lang="zh-CN" altLang="en-US" dirty="0"/>
              <a:t>访问，则可绕过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不允许用户直接用</a:t>
            </a:r>
            <a:r>
              <a:rPr kumimoji="1" lang="en-US" altLang="zh-CN" dirty="0" err="1"/>
              <a:t>inode</a:t>
            </a:r>
            <a:r>
              <a:rPr kumimoji="1" lang="zh-CN" altLang="en-US" dirty="0"/>
              <a:t>访问文件</a:t>
            </a:r>
            <a:endParaRPr kumimoji="1" lang="en-US" altLang="zh-CN" dirty="0"/>
          </a:p>
          <a:p>
            <a:r>
              <a:rPr kumimoji="1" lang="zh-CN" altLang="en-US" dirty="0"/>
              <a:t>其它层也可以限制用户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例如：</a:t>
            </a:r>
            <a:r>
              <a:rPr kumimoji="1" lang="en-US" altLang="zh-CN" dirty="0" err="1"/>
              <a:t>inode</a:t>
            </a:r>
            <a:r>
              <a:rPr kumimoji="1" lang="zh-CN" altLang="en-US" dirty="0"/>
              <a:t>层可以限制用户</a:t>
            </a:r>
            <a:endParaRPr kumimoji="1" lang="en-US" altLang="zh-CN" dirty="0"/>
          </a:p>
          <a:p>
            <a:pPr lvl="1"/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F7CF001-EA2B-5947-B1A5-2C9D8CFEF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B07164A-BFF5-494A-98FC-9512C5B1B0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BFF332C-37E3-C944-9CB8-2103050C3096}"/>
              </a:ext>
            </a:extLst>
          </p:cNvPr>
          <p:cNvSpPr/>
          <p:nvPr/>
        </p:nvSpPr>
        <p:spPr>
          <a:xfrm>
            <a:off x="6660232" y="4441676"/>
            <a:ext cx="2133600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block</a:t>
            </a:r>
            <a:r>
              <a:rPr kumimoji="1" lang="zh-CN" altLang="en-US" dirty="0"/>
              <a:t>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90E7CE9-F8A8-F94C-8A9B-B4C6B1D4AE5F}"/>
              </a:ext>
            </a:extLst>
          </p:cNvPr>
          <p:cNvSpPr/>
          <p:nvPr/>
        </p:nvSpPr>
        <p:spPr>
          <a:xfrm>
            <a:off x="6660232" y="3930106"/>
            <a:ext cx="2133600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文件层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80CE0AE-F16C-2B4C-A9B9-550C8216B1EA}"/>
              </a:ext>
            </a:extLst>
          </p:cNvPr>
          <p:cNvSpPr/>
          <p:nvPr/>
        </p:nvSpPr>
        <p:spPr>
          <a:xfrm>
            <a:off x="6660232" y="3418537"/>
            <a:ext cx="2133600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err="1"/>
              <a:t>inode</a:t>
            </a:r>
            <a:r>
              <a:rPr kumimoji="1" lang="zh-CN" altLang="en-US" dirty="0"/>
              <a:t> </a:t>
            </a:r>
            <a:r>
              <a:rPr kumimoji="1" lang="en-US" altLang="zh-CN" dirty="0"/>
              <a:t>number</a:t>
            </a:r>
            <a:r>
              <a:rPr kumimoji="1" lang="zh-CN" altLang="en-US" dirty="0"/>
              <a:t>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9CE444C-A9EE-A04C-81F7-71B71218F717}"/>
              </a:ext>
            </a:extLst>
          </p:cNvPr>
          <p:cNvSpPr/>
          <p:nvPr/>
        </p:nvSpPr>
        <p:spPr>
          <a:xfrm>
            <a:off x="6660232" y="2395399"/>
            <a:ext cx="2133600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路径名层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C3B4D1A-95A1-E443-A943-81978119291D}"/>
              </a:ext>
            </a:extLst>
          </p:cNvPr>
          <p:cNvSpPr/>
          <p:nvPr/>
        </p:nvSpPr>
        <p:spPr>
          <a:xfrm>
            <a:off x="6660232" y="1883830"/>
            <a:ext cx="2133600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绝对路径层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4447A1F-5238-E342-A839-FB38F91FB012}"/>
              </a:ext>
            </a:extLst>
          </p:cNvPr>
          <p:cNvSpPr/>
          <p:nvPr/>
        </p:nvSpPr>
        <p:spPr>
          <a:xfrm>
            <a:off x="6660232" y="1372261"/>
            <a:ext cx="2133600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符号链接层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8D2676C-D078-D744-A7FE-CDDB340AE514}"/>
              </a:ext>
            </a:extLst>
          </p:cNvPr>
          <p:cNvSpPr/>
          <p:nvPr/>
        </p:nvSpPr>
        <p:spPr>
          <a:xfrm>
            <a:off x="6660232" y="2906968"/>
            <a:ext cx="2133600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文件名层</a:t>
            </a:r>
          </a:p>
        </p:txBody>
      </p:sp>
    </p:spTree>
    <p:extLst>
      <p:ext uri="{BB962C8B-B14F-4D97-AF65-F5344CB8AC3E}">
        <p14:creationId xmlns:p14="http://schemas.microsoft.com/office/powerpoint/2010/main" val="3262010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FA28C-0CB8-E44B-B9FD-4B32C5DA3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Chroot</a:t>
            </a:r>
            <a:r>
              <a:rPr lang="ja-JP" altLang="en-US"/>
              <a:t>能否</a:t>
            </a:r>
            <a:r>
              <a:rPr lang="ja-JP" altLang="en-CN"/>
              <a:t>实现</a:t>
            </a:r>
            <a:r>
              <a:rPr lang="zh-CN" altLang="en-US" dirty="0"/>
              <a:t>彻底的隔离？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86C68D-0888-0744-9044-AA619E0B7F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/>
              <a:t>不同的执行环境想要共享一些文件怎么办</a:t>
            </a:r>
            <a:r>
              <a:rPr lang="zh-CN" altLang="en-US" dirty="0"/>
              <a:t>？</a:t>
            </a:r>
            <a:endParaRPr lang="en-US" altLang="ja-JP" dirty="0"/>
          </a:p>
          <a:p>
            <a:r>
              <a:rPr lang="ja-JP" altLang="en-US"/>
              <a:t>涉及到网络服务时会发生什么</a:t>
            </a:r>
            <a:r>
              <a:rPr lang="zh-CN" altLang="en-US" dirty="0"/>
              <a:t>？</a:t>
            </a:r>
            <a:endParaRPr lang="en-US" altLang="zh-CN" dirty="0"/>
          </a:p>
          <a:p>
            <a:pPr lvl="1"/>
            <a:r>
              <a:rPr lang="ja-JP" altLang="en-US"/>
              <a:t>所有执行环境共用一个</a:t>
            </a:r>
            <a:r>
              <a:rPr lang="en-US" altLang="ja-JP" dirty="0"/>
              <a:t>IP</a:t>
            </a:r>
            <a:r>
              <a:rPr lang="ja-JP" altLang="en-US"/>
              <a:t>地址</a:t>
            </a:r>
            <a:r>
              <a:rPr lang="zh-CN" altLang="en-US" dirty="0"/>
              <a:t>，</a:t>
            </a:r>
            <a:r>
              <a:rPr lang="ja-JP" altLang="en-US"/>
              <a:t>所以无法区分许多服务</a:t>
            </a:r>
            <a:endParaRPr lang="en-US" altLang="ja-JP" dirty="0"/>
          </a:p>
          <a:p>
            <a:r>
              <a:rPr lang="ja-JP" altLang="en-US"/>
              <a:t>执行环境需要</a:t>
            </a:r>
            <a:r>
              <a:rPr lang="en-US" altLang="ja-JP" dirty="0"/>
              <a:t>root</a:t>
            </a:r>
            <a:r>
              <a:rPr lang="ja-JP" altLang="en-US"/>
              <a:t>权限该怎么办</a:t>
            </a:r>
            <a:r>
              <a:rPr lang="zh-CN" altLang="en-US" dirty="0"/>
              <a:t>？</a:t>
            </a:r>
            <a:endParaRPr lang="en-US" altLang="ja-JP" dirty="0"/>
          </a:p>
          <a:p>
            <a:pPr lvl="1"/>
            <a:r>
              <a:rPr lang="ja-JP" altLang="en-US"/>
              <a:t>全局只有一个</a:t>
            </a:r>
            <a:r>
              <a:rPr lang="en-US" altLang="zh-CN" dirty="0"/>
              <a:t>root</a:t>
            </a:r>
            <a:r>
              <a:rPr lang="ja-JP" altLang="en-US"/>
              <a:t>用户</a:t>
            </a:r>
            <a:r>
              <a:rPr lang="zh-CN" altLang="en-US" dirty="0"/>
              <a:t>，</a:t>
            </a:r>
            <a:r>
              <a:rPr lang="ja-JP" altLang="en-US"/>
              <a:t>所以不同执行环境间可能相互影响</a:t>
            </a:r>
            <a:endParaRPr lang="en-US" altLang="ja-JP" dirty="0"/>
          </a:p>
          <a:p>
            <a:pPr marL="0" indent="0">
              <a:buNone/>
            </a:pPr>
            <a:endParaRPr lang="en-US" altLang="ja-JP" dirty="0"/>
          </a:p>
          <a:p>
            <a:r>
              <a:rPr lang="zh-CN" altLang="en-US" dirty="0"/>
              <a:t>不能，因为</a:t>
            </a:r>
            <a:r>
              <a:rPr lang="ja-JP" altLang="en-US"/>
              <a:t>还有许多资源被共享</a:t>
            </a:r>
            <a:r>
              <a:rPr lang="en-US" altLang="zh-CN" dirty="0"/>
              <a:t>…</a:t>
            </a:r>
            <a:endParaRPr lang="en-US" altLang="ja-JP" dirty="0"/>
          </a:p>
          <a:p>
            <a:pPr lvl="1"/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FDBEE4-5BCB-9347-ACD5-2ECB35C38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26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0C842E-02C0-8942-9A19-E41B42D629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153113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AF46C-6530-BE46-8D18-A076A18D8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Linux</a:t>
            </a:r>
            <a:r>
              <a:rPr lang="zh-CN" altLang="en-US" dirty="0"/>
              <a:t> </a:t>
            </a:r>
            <a:r>
              <a:rPr lang="en-US" altLang="zh-CN" dirty="0"/>
              <a:t>container</a:t>
            </a:r>
            <a:endParaRPr lang="en-C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D1D474-38E7-6440-A34D-39FE1C5651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742254-F661-BD45-AA6E-308FAA94E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27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68FC44-3EA4-AA45-96A8-B615BF647F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3074167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F3D522DB-9F87-A441-AA22-B53239BB8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/>
              <a:t>L</a:t>
            </a:r>
            <a:r>
              <a:rPr lang="en-US" altLang="zh-CN" dirty="0" err="1"/>
              <a:t>inuX</a:t>
            </a:r>
            <a:r>
              <a:rPr lang="zh-CN" altLang="en-US" dirty="0"/>
              <a:t> </a:t>
            </a:r>
            <a:r>
              <a:rPr lang="en-US" altLang="zh-CN" dirty="0"/>
              <a:t>Container</a:t>
            </a:r>
            <a:r>
              <a:rPr lang="zh-CN" altLang="en-US" dirty="0"/>
              <a:t> </a:t>
            </a:r>
            <a:r>
              <a:rPr lang="en-US" altLang="zh-CN" dirty="0"/>
              <a:t>(LXC)</a:t>
            </a:r>
            <a:endParaRPr lang="en-CN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E78983B-2DDE-E74D-AA7D-AECDB01E23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CN"/>
              <a:t>基于</a:t>
            </a:r>
            <a:r>
              <a:rPr lang="ja-JP" altLang="en-US"/>
              <a:t>容器的轻量级虚拟化方案</a:t>
            </a:r>
            <a:endParaRPr lang="en-US" altLang="ja-JP" dirty="0"/>
          </a:p>
          <a:p>
            <a:pPr lvl="1"/>
            <a:r>
              <a:rPr lang="ja-JP" altLang="en-US"/>
              <a:t>由</a:t>
            </a:r>
            <a:r>
              <a:rPr lang="en-US" altLang="ja-JP" dirty="0"/>
              <a:t>Linux</a:t>
            </a:r>
            <a:r>
              <a:rPr lang="ja-JP" altLang="en-US"/>
              <a:t>内核提供资源隔离机制</a:t>
            </a:r>
            <a:endParaRPr lang="en-US" altLang="ja-JP" dirty="0"/>
          </a:p>
          <a:p>
            <a:r>
              <a:rPr lang="ja-JP" altLang="en-US"/>
              <a:t>安全隔离</a:t>
            </a:r>
            <a:endParaRPr lang="en-US" altLang="ja-JP" dirty="0"/>
          </a:p>
          <a:p>
            <a:pPr lvl="1"/>
            <a:r>
              <a:rPr lang="zh-CN" altLang="en-US" dirty="0"/>
              <a:t>基于</a:t>
            </a:r>
            <a:r>
              <a:rPr lang="en-US" altLang="zh-CN" i="1" dirty="0">
                <a:highlight>
                  <a:srgbClr val="FFFF00"/>
                </a:highlight>
              </a:rPr>
              <a:t>namespace</a:t>
            </a:r>
            <a:r>
              <a:rPr lang="zh-CN" altLang="en-US" dirty="0"/>
              <a:t>机制</a:t>
            </a:r>
            <a:endParaRPr lang="en-US" altLang="ja-JP" dirty="0"/>
          </a:p>
          <a:p>
            <a:r>
              <a:rPr lang="ja-JP" altLang="en-US"/>
              <a:t>性能隔离</a:t>
            </a:r>
            <a:endParaRPr lang="en-US" altLang="ja-JP" dirty="0"/>
          </a:p>
          <a:p>
            <a:pPr lvl="1"/>
            <a:r>
              <a:rPr lang="en-US" altLang="zh-CN" dirty="0"/>
              <a:t>Linux</a:t>
            </a:r>
            <a:r>
              <a:rPr lang="zh-CN" altLang="en-US" dirty="0"/>
              <a:t> </a:t>
            </a:r>
            <a:r>
              <a:rPr lang="en-US" altLang="zh-CN" dirty="0"/>
              <a:t>c</a:t>
            </a:r>
            <a:r>
              <a:rPr lang="en-CN" dirty="0"/>
              <a:t>group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83A54E-7E5C-9C4E-B30B-D630C3F3D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pPr/>
              <a:t>28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B07C37-46D3-734B-8C18-BEE399F54D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12" name="Rectangle 27">
            <a:extLst>
              <a:ext uri="{FF2B5EF4-FFF2-40B4-BE49-F238E27FC236}">
                <a16:creationId xmlns:a16="http://schemas.microsoft.com/office/drawing/2014/main" id="{E6DCEF93-C26F-3545-AF48-4DFE1C1A4FE2}"/>
              </a:ext>
            </a:extLst>
          </p:cNvPr>
          <p:cNvSpPr>
            <a:spLocks noChangeAspect="1"/>
          </p:cNvSpPr>
          <p:nvPr/>
        </p:nvSpPr>
        <p:spPr>
          <a:xfrm>
            <a:off x="7915269" y="2433343"/>
            <a:ext cx="958130" cy="1368173"/>
          </a:xfrm>
          <a:prstGeom prst="rect">
            <a:avLst/>
          </a:prstGeom>
          <a:solidFill>
            <a:schemeClr val="bg1"/>
          </a:solidFill>
          <a:ln w="25400"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sp>
        <p:nvSpPr>
          <p:cNvPr id="13" name="Rectangle 27">
            <a:extLst>
              <a:ext uri="{FF2B5EF4-FFF2-40B4-BE49-F238E27FC236}">
                <a16:creationId xmlns:a16="http://schemas.microsoft.com/office/drawing/2014/main" id="{FEBEE921-B66F-EB47-8E95-EE8FE3E4A284}"/>
              </a:ext>
            </a:extLst>
          </p:cNvPr>
          <p:cNvSpPr>
            <a:spLocks noChangeAspect="1"/>
          </p:cNvSpPr>
          <p:nvPr/>
        </p:nvSpPr>
        <p:spPr>
          <a:xfrm>
            <a:off x="6912325" y="2434162"/>
            <a:ext cx="958130" cy="1368173"/>
          </a:xfrm>
          <a:prstGeom prst="rect">
            <a:avLst/>
          </a:prstGeom>
          <a:solidFill>
            <a:schemeClr val="bg1"/>
          </a:solidFill>
          <a:ln w="25400"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sp>
        <p:nvSpPr>
          <p:cNvPr id="14" name="Rectangle 27">
            <a:extLst>
              <a:ext uri="{FF2B5EF4-FFF2-40B4-BE49-F238E27FC236}">
                <a16:creationId xmlns:a16="http://schemas.microsoft.com/office/drawing/2014/main" id="{1F70F1EE-D8D8-6345-97C9-9FE62E603B6D}"/>
              </a:ext>
            </a:extLst>
          </p:cNvPr>
          <p:cNvSpPr>
            <a:spLocks noChangeAspect="1"/>
          </p:cNvSpPr>
          <p:nvPr/>
        </p:nvSpPr>
        <p:spPr>
          <a:xfrm>
            <a:off x="5885811" y="2434163"/>
            <a:ext cx="958130" cy="1368173"/>
          </a:xfrm>
          <a:prstGeom prst="rect">
            <a:avLst/>
          </a:prstGeom>
          <a:solidFill>
            <a:schemeClr val="bg1"/>
          </a:solidFill>
          <a:ln w="25400"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cxnSp>
        <p:nvCxnSpPr>
          <p:cNvPr id="15" name="Straight Connector 13">
            <a:extLst>
              <a:ext uri="{FF2B5EF4-FFF2-40B4-BE49-F238E27FC236}">
                <a16:creationId xmlns:a16="http://schemas.microsoft.com/office/drawing/2014/main" id="{C2B8342F-9177-5547-9357-A0DD8734C92D}"/>
              </a:ext>
            </a:extLst>
          </p:cNvPr>
          <p:cNvCxnSpPr>
            <a:cxnSpLocks/>
          </p:cNvCxnSpPr>
          <p:nvPr/>
        </p:nvCxnSpPr>
        <p:spPr>
          <a:xfrm>
            <a:off x="4651691" y="4352861"/>
            <a:ext cx="4464496" cy="0"/>
          </a:xfrm>
          <a:prstGeom prst="line">
            <a:avLst/>
          </a:prstGeom>
          <a:ln>
            <a:solidFill>
              <a:srgbClr val="BE3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27">
            <a:extLst>
              <a:ext uri="{FF2B5EF4-FFF2-40B4-BE49-F238E27FC236}">
                <a16:creationId xmlns:a16="http://schemas.microsoft.com/office/drawing/2014/main" id="{235A5F62-85CD-C842-8990-3137A1342D00}"/>
              </a:ext>
            </a:extLst>
          </p:cNvPr>
          <p:cNvSpPr>
            <a:spLocks noChangeAspect="1"/>
          </p:cNvSpPr>
          <p:nvPr/>
        </p:nvSpPr>
        <p:spPr>
          <a:xfrm>
            <a:off x="4890132" y="2434164"/>
            <a:ext cx="958130" cy="1368173"/>
          </a:xfrm>
          <a:prstGeom prst="rect">
            <a:avLst/>
          </a:prstGeom>
          <a:solidFill>
            <a:schemeClr val="bg1"/>
          </a:solidFill>
          <a:ln w="25400"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sp>
        <p:nvSpPr>
          <p:cNvPr id="17" name="文本框 5">
            <a:extLst>
              <a:ext uri="{FF2B5EF4-FFF2-40B4-BE49-F238E27FC236}">
                <a16:creationId xmlns:a16="http://schemas.microsoft.com/office/drawing/2014/main" id="{CD311251-8022-124E-B586-0292E86048CE}"/>
              </a:ext>
            </a:extLst>
          </p:cNvPr>
          <p:cNvSpPr txBox="1"/>
          <p:nvPr/>
        </p:nvSpPr>
        <p:spPr>
          <a:xfrm>
            <a:off x="4981911" y="2054212"/>
            <a:ext cx="774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>
                <a:solidFill>
                  <a:srgbClr val="BE384B"/>
                </a:solidFill>
              </a:rPr>
              <a:t>容器</a:t>
            </a:r>
            <a:r>
              <a:rPr lang="en-US" altLang="zh-CN" dirty="0">
                <a:solidFill>
                  <a:srgbClr val="BE384B"/>
                </a:solidFill>
              </a:rPr>
              <a:t>1</a:t>
            </a:r>
            <a:endParaRPr lang="zh-CN" altLang="en-US" dirty="0">
              <a:solidFill>
                <a:srgbClr val="BE384B"/>
              </a:solidFill>
            </a:endParaRPr>
          </a:p>
        </p:txBody>
      </p:sp>
      <p:sp>
        <p:nvSpPr>
          <p:cNvPr id="18" name="文本框 18">
            <a:extLst>
              <a:ext uri="{FF2B5EF4-FFF2-40B4-BE49-F238E27FC236}">
                <a16:creationId xmlns:a16="http://schemas.microsoft.com/office/drawing/2014/main" id="{8E107702-FEB3-6E4B-8BE9-696BC4A0EC3D}"/>
              </a:ext>
            </a:extLst>
          </p:cNvPr>
          <p:cNvSpPr txBox="1"/>
          <p:nvPr/>
        </p:nvSpPr>
        <p:spPr>
          <a:xfrm>
            <a:off x="5977590" y="2055825"/>
            <a:ext cx="774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>
                <a:solidFill>
                  <a:srgbClr val="BE384B"/>
                </a:solidFill>
              </a:rPr>
              <a:t>容器</a:t>
            </a:r>
            <a:r>
              <a:rPr lang="en-US" altLang="zh-CN" dirty="0">
                <a:solidFill>
                  <a:srgbClr val="BE384B"/>
                </a:solidFill>
              </a:rPr>
              <a:t>2</a:t>
            </a:r>
            <a:endParaRPr lang="zh-CN" altLang="en-US" dirty="0">
              <a:solidFill>
                <a:srgbClr val="BE384B"/>
              </a:solidFill>
            </a:endParaRPr>
          </a:p>
        </p:txBody>
      </p:sp>
      <p:sp>
        <p:nvSpPr>
          <p:cNvPr id="19" name="文本框 19">
            <a:extLst>
              <a:ext uri="{FF2B5EF4-FFF2-40B4-BE49-F238E27FC236}">
                <a16:creationId xmlns:a16="http://schemas.microsoft.com/office/drawing/2014/main" id="{FDE9DC64-BCAF-4B45-AB95-CD6B995E0710}"/>
              </a:ext>
            </a:extLst>
          </p:cNvPr>
          <p:cNvSpPr txBox="1"/>
          <p:nvPr/>
        </p:nvSpPr>
        <p:spPr>
          <a:xfrm>
            <a:off x="7014993" y="2053868"/>
            <a:ext cx="774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>
                <a:solidFill>
                  <a:srgbClr val="BE384B"/>
                </a:solidFill>
              </a:rPr>
              <a:t>容器</a:t>
            </a:r>
            <a:r>
              <a:rPr lang="en-US" altLang="zh-CN" dirty="0">
                <a:solidFill>
                  <a:srgbClr val="BE384B"/>
                </a:solidFill>
              </a:rPr>
              <a:t>3</a:t>
            </a:r>
            <a:endParaRPr lang="zh-CN" altLang="en-US" dirty="0">
              <a:solidFill>
                <a:srgbClr val="BE384B"/>
              </a:solidFill>
            </a:endParaRPr>
          </a:p>
        </p:txBody>
      </p:sp>
      <p:sp>
        <p:nvSpPr>
          <p:cNvPr id="20" name="文本框 20">
            <a:extLst>
              <a:ext uri="{FF2B5EF4-FFF2-40B4-BE49-F238E27FC236}">
                <a16:creationId xmlns:a16="http://schemas.microsoft.com/office/drawing/2014/main" id="{5B53DDE0-183F-034B-9901-B6EFE81DBEA2}"/>
              </a:ext>
            </a:extLst>
          </p:cNvPr>
          <p:cNvSpPr txBox="1"/>
          <p:nvPr/>
        </p:nvSpPr>
        <p:spPr>
          <a:xfrm>
            <a:off x="8007048" y="2053771"/>
            <a:ext cx="774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>
                <a:solidFill>
                  <a:srgbClr val="BE384B"/>
                </a:solidFill>
              </a:rPr>
              <a:t>容器</a:t>
            </a:r>
            <a:r>
              <a:rPr lang="en-US" altLang="zh-CN" dirty="0">
                <a:solidFill>
                  <a:srgbClr val="BE384B"/>
                </a:solidFill>
              </a:rPr>
              <a:t>4</a:t>
            </a:r>
            <a:endParaRPr lang="zh-CN" altLang="en-US" dirty="0">
              <a:solidFill>
                <a:srgbClr val="BE384B"/>
              </a:solidFill>
            </a:endParaRPr>
          </a:p>
        </p:txBody>
      </p:sp>
      <p:sp>
        <p:nvSpPr>
          <p:cNvPr id="21" name="圆角矩形 7">
            <a:extLst>
              <a:ext uri="{FF2B5EF4-FFF2-40B4-BE49-F238E27FC236}">
                <a16:creationId xmlns:a16="http://schemas.microsoft.com/office/drawing/2014/main" id="{3C59E883-92DE-FB41-9015-CF969E5ADF76}"/>
              </a:ext>
            </a:extLst>
          </p:cNvPr>
          <p:cNvSpPr/>
          <p:nvPr/>
        </p:nvSpPr>
        <p:spPr>
          <a:xfrm>
            <a:off x="4936497" y="2482239"/>
            <a:ext cx="867002" cy="810355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Nginx</a:t>
            </a:r>
            <a:endParaRPr lang="zh-CN" altLang="en-US" sz="1600" dirty="0"/>
          </a:p>
        </p:txBody>
      </p:sp>
      <p:sp>
        <p:nvSpPr>
          <p:cNvPr id="22" name="圆角矩形 23">
            <a:extLst>
              <a:ext uri="{FF2B5EF4-FFF2-40B4-BE49-F238E27FC236}">
                <a16:creationId xmlns:a16="http://schemas.microsoft.com/office/drawing/2014/main" id="{1086ECFE-F064-6D42-932A-5BFB8D4AA48C}"/>
              </a:ext>
            </a:extLst>
          </p:cNvPr>
          <p:cNvSpPr/>
          <p:nvPr/>
        </p:nvSpPr>
        <p:spPr>
          <a:xfrm>
            <a:off x="4936857" y="3346331"/>
            <a:ext cx="867002" cy="406395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rgbClr val="BE384B"/>
                </a:solidFill>
                <a:cs typeface="Arial Narrow"/>
              </a:rPr>
              <a:t>Bins/Libs</a:t>
            </a:r>
          </a:p>
        </p:txBody>
      </p:sp>
      <p:sp>
        <p:nvSpPr>
          <p:cNvPr id="23" name="圆角矩形 24">
            <a:extLst>
              <a:ext uri="{FF2B5EF4-FFF2-40B4-BE49-F238E27FC236}">
                <a16:creationId xmlns:a16="http://schemas.microsoft.com/office/drawing/2014/main" id="{9ACC5D52-CC87-0148-BB4B-342741EF94BD}"/>
              </a:ext>
            </a:extLst>
          </p:cNvPr>
          <p:cNvSpPr/>
          <p:nvPr/>
        </p:nvSpPr>
        <p:spPr>
          <a:xfrm>
            <a:off x="5931374" y="3346330"/>
            <a:ext cx="867002" cy="406395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rgbClr val="BE384B"/>
                </a:solidFill>
                <a:cs typeface="Arial Narrow"/>
              </a:rPr>
              <a:t>Bins/Libs</a:t>
            </a:r>
          </a:p>
        </p:txBody>
      </p:sp>
      <p:sp>
        <p:nvSpPr>
          <p:cNvPr id="24" name="圆角矩形 25">
            <a:extLst>
              <a:ext uri="{FF2B5EF4-FFF2-40B4-BE49-F238E27FC236}">
                <a16:creationId xmlns:a16="http://schemas.microsoft.com/office/drawing/2014/main" id="{2E9A3CC5-16E7-C04E-947D-EE74659E2ABF}"/>
              </a:ext>
            </a:extLst>
          </p:cNvPr>
          <p:cNvSpPr/>
          <p:nvPr/>
        </p:nvSpPr>
        <p:spPr>
          <a:xfrm>
            <a:off x="6957889" y="3346024"/>
            <a:ext cx="867002" cy="406395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rgbClr val="BE384B"/>
                </a:solidFill>
                <a:cs typeface="Arial Narrow"/>
              </a:rPr>
              <a:t>Bins/Libs</a:t>
            </a:r>
          </a:p>
        </p:txBody>
      </p:sp>
      <p:sp>
        <p:nvSpPr>
          <p:cNvPr id="25" name="圆角矩形 26">
            <a:extLst>
              <a:ext uri="{FF2B5EF4-FFF2-40B4-BE49-F238E27FC236}">
                <a16:creationId xmlns:a16="http://schemas.microsoft.com/office/drawing/2014/main" id="{4EF270CF-1837-C74C-B910-71EA45F3839D}"/>
              </a:ext>
            </a:extLst>
          </p:cNvPr>
          <p:cNvSpPr/>
          <p:nvPr/>
        </p:nvSpPr>
        <p:spPr>
          <a:xfrm>
            <a:off x="7960833" y="3350840"/>
            <a:ext cx="867002" cy="406395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rgbClr val="BE384B"/>
                </a:solidFill>
                <a:cs typeface="Arial Narrow"/>
              </a:rPr>
              <a:t>Bins/Libs</a:t>
            </a:r>
          </a:p>
        </p:txBody>
      </p:sp>
      <p:sp>
        <p:nvSpPr>
          <p:cNvPr id="26" name="圆角矩形 27">
            <a:extLst>
              <a:ext uri="{FF2B5EF4-FFF2-40B4-BE49-F238E27FC236}">
                <a16:creationId xmlns:a16="http://schemas.microsoft.com/office/drawing/2014/main" id="{9BDE9A25-FD02-A94C-A58F-7562748E72C2}"/>
              </a:ext>
            </a:extLst>
          </p:cNvPr>
          <p:cNvSpPr/>
          <p:nvPr/>
        </p:nvSpPr>
        <p:spPr>
          <a:xfrm>
            <a:off x="5931374" y="2481717"/>
            <a:ext cx="867002" cy="810355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SQL</a:t>
            </a:r>
          </a:p>
          <a:p>
            <a:pPr algn="ctr"/>
            <a:r>
              <a:rPr lang="en-US" altLang="zh-CN" sz="1600" dirty="0">
                <a:solidFill>
                  <a:srgbClr val="BE384B"/>
                </a:solidFill>
              </a:rPr>
              <a:t>Server</a:t>
            </a:r>
            <a:endParaRPr lang="zh-CN" altLang="en-US" sz="1600" dirty="0"/>
          </a:p>
        </p:txBody>
      </p:sp>
      <p:sp>
        <p:nvSpPr>
          <p:cNvPr id="27" name="圆角矩形 28">
            <a:extLst>
              <a:ext uri="{FF2B5EF4-FFF2-40B4-BE49-F238E27FC236}">
                <a16:creationId xmlns:a16="http://schemas.microsoft.com/office/drawing/2014/main" id="{1F82417C-C53E-0447-AB00-21A2F8BB28B6}"/>
              </a:ext>
            </a:extLst>
          </p:cNvPr>
          <p:cNvSpPr/>
          <p:nvPr/>
        </p:nvSpPr>
        <p:spPr>
          <a:xfrm>
            <a:off x="6957889" y="2481717"/>
            <a:ext cx="867002" cy="810355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ERP</a:t>
            </a:r>
            <a:endParaRPr lang="zh-CN" altLang="en-US" sz="1600" dirty="0"/>
          </a:p>
        </p:txBody>
      </p:sp>
      <p:sp>
        <p:nvSpPr>
          <p:cNvPr id="28" name="圆角矩形 29">
            <a:extLst>
              <a:ext uri="{FF2B5EF4-FFF2-40B4-BE49-F238E27FC236}">
                <a16:creationId xmlns:a16="http://schemas.microsoft.com/office/drawing/2014/main" id="{05CB8F0C-6189-DF4B-A1B2-AB3C0922FDB5}"/>
              </a:ext>
            </a:extLst>
          </p:cNvPr>
          <p:cNvSpPr/>
          <p:nvPr/>
        </p:nvSpPr>
        <p:spPr>
          <a:xfrm>
            <a:off x="7966005" y="2481794"/>
            <a:ext cx="867002" cy="810355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Other</a:t>
            </a:r>
          </a:p>
          <a:p>
            <a:pPr algn="ctr"/>
            <a:r>
              <a:rPr lang="en-US" altLang="zh-CN" sz="1600" dirty="0">
                <a:solidFill>
                  <a:srgbClr val="BE384B"/>
                </a:solidFill>
              </a:rPr>
              <a:t>APPs</a:t>
            </a:r>
            <a:endParaRPr lang="zh-CN" altLang="en-US" sz="1600" dirty="0"/>
          </a:p>
        </p:txBody>
      </p:sp>
      <p:sp>
        <p:nvSpPr>
          <p:cNvPr id="29" name="Rectangle 24">
            <a:extLst>
              <a:ext uri="{FF2B5EF4-FFF2-40B4-BE49-F238E27FC236}">
                <a16:creationId xmlns:a16="http://schemas.microsoft.com/office/drawing/2014/main" id="{85E3DE67-C24D-7146-A9FC-B5E358CF4AA3}"/>
              </a:ext>
            </a:extLst>
          </p:cNvPr>
          <p:cNvSpPr/>
          <p:nvPr/>
        </p:nvSpPr>
        <p:spPr>
          <a:xfrm>
            <a:off x="4860032" y="4441676"/>
            <a:ext cx="4039743" cy="512789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rgbClr val="BE384B"/>
                </a:solidFill>
                <a:cs typeface="Arial Narrow"/>
              </a:rPr>
              <a:t>物理硬件</a:t>
            </a:r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/</a:t>
            </a:r>
            <a:r>
              <a:rPr lang="zh-CN" altLang="en-US" sz="1600" dirty="0">
                <a:solidFill>
                  <a:srgbClr val="BE384B"/>
                </a:solidFill>
                <a:cs typeface="Arial Narrow"/>
              </a:rPr>
              <a:t>虚拟机</a:t>
            </a:r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sp>
        <p:nvSpPr>
          <p:cNvPr id="30" name="Rectangle 22">
            <a:extLst>
              <a:ext uri="{FF2B5EF4-FFF2-40B4-BE49-F238E27FC236}">
                <a16:creationId xmlns:a16="http://schemas.microsoft.com/office/drawing/2014/main" id="{9ED86506-CB5F-4041-82D8-450F5D45A3FA}"/>
              </a:ext>
            </a:extLst>
          </p:cNvPr>
          <p:cNvSpPr/>
          <p:nvPr/>
        </p:nvSpPr>
        <p:spPr>
          <a:xfrm>
            <a:off x="4860099" y="3841921"/>
            <a:ext cx="4039743" cy="428625"/>
          </a:xfrm>
          <a:prstGeom prst="rect">
            <a:avLst/>
          </a:prstGeom>
          <a:solidFill>
            <a:srgbClr val="BE384B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600">
                <a:solidFill>
                  <a:schemeClr val="bg1"/>
                </a:solidFill>
                <a:cs typeface="Arial Narrow"/>
              </a:rPr>
              <a:t>主机操作系统</a:t>
            </a:r>
            <a:endParaRPr lang="en-US" sz="1600" dirty="0">
              <a:solidFill>
                <a:schemeClr val="bg1"/>
              </a:solidFill>
              <a:cs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254843169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E6B60-A469-1441-B125-2791BCEE6B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Linux Namespace</a:t>
            </a:r>
            <a:r>
              <a:rPr lang="zh-CN" altLang="en-US" dirty="0"/>
              <a:t> </a:t>
            </a:r>
            <a:r>
              <a:rPr lang="en-US" altLang="zh-CN" dirty="0"/>
              <a:t>(NS)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A10819-2E2F-914B-AAC1-05C2FDECA7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每种</a:t>
            </a:r>
            <a:r>
              <a:rPr lang="en-US" altLang="zh-CN" dirty="0"/>
              <a:t>NS</a:t>
            </a:r>
            <a:r>
              <a:rPr lang="ja-JP" altLang="en-US" dirty="0"/>
              <a:t>封装一类全局资源</a:t>
            </a:r>
            <a:endParaRPr lang="en-US" altLang="ja-JP" dirty="0"/>
          </a:p>
          <a:p>
            <a:pPr lvl="1"/>
            <a:r>
              <a:rPr lang="ja-JP" altLang="en-US" dirty="0"/>
              <a:t>进程只能访问封装后的局部资源</a:t>
            </a:r>
            <a:endParaRPr lang="en-US" altLang="ja-JP" dirty="0"/>
          </a:p>
          <a:p>
            <a:pPr lvl="1"/>
            <a:r>
              <a:rPr lang="ja-JP" altLang="en-US" dirty="0"/>
              <a:t>目前一共有七种</a:t>
            </a:r>
            <a:r>
              <a:rPr lang="en-US" altLang="zh-CN" dirty="0"/>
              <a:t>NS</a:t>
            </a:r>
          </a:p>
          <a:p>
            <a:r>
              <a:rPr lang="ja-JP" altLang="en-US" dirty="0"/>
              <a:t>进程通过系统调用控制</a:t>
            </a:r>
            <a:r>
              <a:rPr lang="en-US" altLang="ja-JP" dirty="0"/>
              <a:t>NS</a:t>
            </a:r>
            <a:endParaRPr lang="en-US" altLang="zh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007F1D-DB55-6C46-9BA9-9198EA615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29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B2243B-F6A9-5D4D-80FC-A8E705AA43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6" name="Rounded Rectangle 22">
            <a:extLst>
              <a:ext uri="{FF2B5EF4-FFF2-40B4-BE49-F238E27FC236}">
                <a16:creationId xmlns:a16="http://schemas.microsoft.com/office/drawing/2014/main" id="{5B7E51C2-4E2D-5C4F-ACEF-692ADA772270}"/>
              </a:ext>
            </a:extLst>
          </p:cNvPr>
          <p:cNvSpPr/>
          <p:nvPr/>
        </p:nvSpPr>
        <p:spPr>
          <a:xfrm>
            <a:off x="5980978" y="3924946"/>
            <a:ext cx="1142483" cy="360040"/>
          </a:xfrm>
          <a:prstGeom prst="roundRect">
            <a:avLst/>
          </a:prstGeom>
          <a:solidFill>
            <a:schemeClr val="accent3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>
                <a:solidFill>
                  <a:schemeClr val="bg1"/>
                </a:solidFill>
              </a:rPr>
              <a:t>资源种类</a:t>
            </a:r>
            <a:endParaRPr lang="en-CN" dirty="0">
              <a:solidFill>
                <a:schemeClr val="bg1"/>
              </a:solidFill>
            </a:endParaRPr>
          </a:p>
        </p:txBody>
      </p:sp>
      <p:sp>
        <p:nvSpPr>
          <p:cNvPr id="7" name="Rounded Rectangle 22">
            <a:extLst>
              <a:ext uri="{FF2B5EF4-FFF2-40B4-BE49-F238E27FC236}">
                <a16:creationId xmlns:a16="http://schemas.microsoft.com/office/drawing/2014/main" id="{396C5B7C-61D5-5241-8587-867C501D45BC}"/>
              </a:ext>
            </a:extLst>
          </p:cNvPr>
          <p:cNvSpPr/>
          <p:nvPr/>
        </p:nvSpPr>
        <p:spPr>
          <a:xfrm>
            <a:off x="5796136" y="3023024"/>
            <a:ext cx="1512168" cy="576064"/>
          </a:xfrm>
          <a:prstGeom prst="round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1"/>
                </a:solidFill>
              </a:rPr>
              <a:t>Linux</a:t>
            </a:r>
            <a:r>
              <a:rPr lang="zh-CN" altLang="en-US" dirty="0">
                <a:solidFill>
                  <a:schemeClr val="bg1"/>
                </a:solidFill>
              </a:rPr>
              <a:t> </a:t>
            </a:r>
            <a:r>
              <a:rPr lang="en-US" altLang="zh-CN" dirty="0">
                <a:solidFill>
                  <a:schemeClr val="bg1"/>
                </a:solidFill>
              </a:rPr>
              <a:t>Namespace</a:t>
            </a:r>
            <a:endParaRPr lang="en-CN" dirty="0">
              <a:solidFill>
                <a:schemeClr val="bg1"/>
              </a:solidFill>
            </a:endParaRPr>
          </a:p>
        </p:txBody>
      </p:sp>
      <p:sp>
        <p:nvSpPr>
          <p:cNvPr id="8" name="Rounded Rectangle 22">
            <a:extLst>
              <a:ext uri="{FF2B5EF4-FFF2-40B4-BE49-F238E27FC236}">
                <a16:creationId xmlns:a16="http://schemas.microsoft.com/office/drawing/2014/main" id="{2970E423-485C-6D4E-BA79-8254C8396A2E}"/>
              </a:ext>
            </a:extLst>
          </p:cNvPr>
          <p:cNvSpPr/>
          <p:nvPr/>
        </p:nvSpPr>
        <p:spPr>
          <a:xfrm>
            <a:off x="5844716" y="4698346"/>
            <a:ext cx="864096" cy="360040"/>
          </a:xfrm>
          <a:prstGeom prst="round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1"/>
                </a:solidFill>
              </a:rPr>
              <a:t>NET</a:t>
            </a:r>
            <a:endParaRPr lang="en-CN" dirty="0">
              <a:solidFill>
                <a:schemeClr val="accent1"/>
              </a:solidFill>
            </a:endParaRPr>
          </a:p>
        </p:txBody>
      </p:sp>
      <p:sp>
        <p:nvSpPr>
          <p:cNvPr id="9" name="Rounded Rectangle 22">
            <a:extLst>
              <a:ext uri="{FF2B5EF4-FFF2-40B4-BE49-F238E27FC236}">
                <a16:creationId xmlns:a16="http://schemas.microsoft.com/office/drawing/2014/main" id="{899AA950-DD30-8C43-AB5A-F8856A240DE2}"/>
              </a:ext>
            </a:extLst>
          </p:cNvPr>
          <p:cNvSpPr/>
          <p:nvPr/>
        </p:nvSpPr>
        <p:spPr>
          <a:xfrm>
            <a:off x="3955489" y="4694752"/>
            <a:ext cx="864096" cy="360040"/>
          </a:xfrm>
          <a:prstGeom prst="round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solidFill>
                  <a:schemeClr val="accent1"/>
                </a:solidFill>
              </a:rPr>
              <a:t>IPC</a:t>
            </a:r>
            <a:endParaRPr lang="en-CN" dirty="0">
              <a:solidFill>
                <a:schemeClr val="accent1"/>
              </a:solidFill>
            </a:endParaRPr>
          </a:p>
        </p:txBody>
      </p:sp>
      <p:sp>
        <p:nvSpPr>
          <p:cNvPr id="10" name="Rounded Rectangle 22">
            <a:extLst>
              <a:ext uri="{FF2B5EF4-FFF2-40B4-BE49-F238E27FC236}">
                <a16:creationId xmlns:a16="http://schemas.microsoft.com/office/drawing/2014/main" id="{89516804-83BE-AD43-BCF2-C3F5FDA4AE3D}"/>
              </a:ext>
            </a:extLst>
          </p:cNvPr>
          <p:cNvSpPr/>
          <p:nvPr/>
        </p:nvSpPr>
        <p:spPr>
          <a:xfrm>
            <a:off x="4903053" y="4691777"/>
            <a:ext cx="864096" cy="360040"/>
          </a:xfrm>
          <a:prstGeom prst="round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1"/>
                </a:solidFill>
              </a:rPr>
              <a:t>PID</a:t>
            </a:r>
            <a:endParaRPr lang="en-CN" dirty="0">
              <a:solidFill>
                <a:schemeClr val="accent1"/>
              </a:solidFill>
            </a:endParaRPr>
          </a:p>
        </p:txBody>
      </p:sp>
      <p:sp>
        <p:nvSpPr>
          <p:cNvPr id="11" name="Rounded Rectangle 22">
            <a:extLst>
              <a:ext uri="{FF2B5EF4-FFF2-40B4-BE49-F238E27FC236}">
                <a16:creationId xmlns:a16="http://schemas.microsoft.com/office/drawing/2014/main" id="{363667B8-0633-1649-8B56-A5E770122CE5}"/>
              </a:ext>
            </a:extLst>
          </p:cNvPr>
          <p:cNvSpPr/>
          <p:nvPr/>
        </p:nvSpPr>
        <p:spPr>
          <a:xfrm>
            <a:off x="1977501" y="4698346"/>
            <a:ext cx="910951" cy="360040"/>
          </a:xfrm>
          <a:prstGeom prst="round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solidFill>
                  <a:schemeClr val="accent1"/>
                </a:solidFill>
              </a:rPr>
              <a:t>MNT</a:t>
            </a:r>
            <a:endParaRPr lang="en-CN" dirty="0">
              <a:solidFill>
                <a:schemeClr val="accent1"/>
              </a:solidFill>
            </a:endParaRPr>
          </a:p>
        </p:txBody>
      </p:sp>
      <p:sp>
        <p:nvSpPr>
          <p:cNvPr id="12" name="Rounded Rectangle 22">
            <a:extLst>
              <a:ext uri="{FF2B5EF4-FFF2-40B4-BE49-F238E27FC236}">
                <a16:creationId xmlns:a16="http://schemas.microsoft.com/office/drawing/2014/main" id="{83AF65C7-3854-2249-BBCE-B53CB1005528}"/>
              </a:ext>
            </a:extLst>
          </p:cNvPr>
          <p:cNvSpPr/>
          <p:nvPr/>
        </p:nvSpPr>
        <p:spPr>
          <a:xfrm>
            <a:off x="7774897" y="4691777"/>
            <a:ext cx="968423" cy="360040"/>
          </a:xfrm>
          <a:prstGeom prst="round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>
                <a:solidFill>
                  <a:schemeClr val="accent1"/>
                </a:solidFill>
              </a:rPr>
              <a:t>C</a:t>
            </a:r>
            <a:r>
              <a:rPr lang="en-US" altLang="ja-JP" dirty="0" err="1">
                <a:solidFill>
                  <a:schemeClr val="accent1"/>
                </a:solidFill>
              </a:rPr>
              <a:t>group</a:t>
            </a:r>
            <a:endParaRPr lang="en-CN" dirty="0">
              <a:solidFill>
                <a:schemeClr val="accent1"/>
              </a:solidFill>
            </a:endParaRPr>
          </a:p>
        </p:txBody>
      </p:sp>
      <p:sp>
        <p:nvSpPr>
          <p:cNvPr id="13" name="Rounded Rectangle 22">
            <a:extLst>
              <a:ext uri="{FF2B5EF4-FFF2-40B4-BE49-F238E27FC236}">
                <a16:creationId xmlns:a16="http://schemas.microsoft.com/office/drawing/2014/main" id="{01F917C0-235A-3447-9652-20C3A94EA29D}"/>
              </a:ext>
            </a:extLst>
          </p:cNvPr>
          <p:cNvSpPr/>
          <p:nvPr/>
        </p:nvSpPr>
        <p:spPr>
          <a:xfrm>
            <a:off x="6786379" y="4691777"/>
            <a:ext cx="910951" cy="360040"/>
          </a:xfrm>
          <a:prstGeom prst="round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1"/>
                </a:solidFill>
              </a:rPr>
              <a:t>User</a:t>
            </a:r>
            <a:endParaRPr lang="en-CN" dirty="0">
              <a:solidFill>
                <a:schemeClr val="accent1"/>
              </a:solidFill>
            </a:endParaRPr>
          </a:p>
        </p:txBody>
      </p:sp>
      <p:sp>
        <p:nvSpPr>
          <p:cNvPr id="14" name="Rounded Rectangle 22">
            <a:extLst>
              <a:ext uri="{FF2B5EF4-FFF2-40B4-BE49-F238E27FC236}">
                <a16:creationId xmlns:a16="http://schemas.microsoft.com/office/drawing/2014/main" id="{FF1F3119-FCE5-5B47-92F7-6368AEFF51E8}"/>
              </a:ext>
            </a:extLst>
          </p:cNvPr>
          <p:cNvSpPr/>
          <p:nvPr/>
        </p:nvSpPr>
        <p:spPr>
          <a:xfrm>
            <a:off x="2964720" y="4698121"/>
            <a:ext cx="910951" cy="360040"/>
          </a:xfrm>
          <a:prstGeom prst="round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solidFill>
                  <a:schemeClr val="accent1"/>
                </a:solidFill>
              </a:rPr>
              <a:t>UTS</a:t>
            </a:r>
            <a:endParaRPr lang="en-CN" dirty="0">
              <a:solidFill>
                <a:schemeClr val="accent1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19DF76B-C402-4D41-8C18-A3081256BFC7}"/>
              </a:ext>
            </a:extLst>
          </p:cNvPr>
          <p:cNvCxnSpPr>
            <a:cxnSpLocks/>
            <a:stCxn id="11" idx="0"/>
            <a:endCxn id="6" idx="2"/>
          </p:cNvCxnSpPr>
          <p:nvPr/>
        </p:nvCxnSpPr>
        <p:spPr>
          <a:xfrm flipV="1">
            <a:off x="2432977" y="4284986"/>
            <a:ext cx="4119243" cy="41336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F4401C4-1B7F-0343-A1A7-022A82EA6BC5}"/>
              </a:ext>
            </a:extLst>
          </p:cNvPr>
          <p:cNvCxnSpPr>
            <a:cxnSpLocks/>
            <a:stCxn id="14" idx="0"/>
            <a:endCxn id="6" idx="2"/>
          </p:cNvCxnSpPr>
          <p:nvPr/>
        </p:nvCxnSpPr>
        <p:spPr>
          <a:xfrm flipV="1">
            <a:off x="3420196" y="4284986"/>
            <a:ext cx="3132024" cy="41313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4A14261-A73B-7640-962D-833ABE2AC2E0}"/>
              </a:ext>
            </a:extLst>
          </p:cNvPr>
          <p:cNvCxnSpPr>
            <a:cxnSpLocks/>
            <a:stCxn id="9" idx="0"/>
            <a:endCxn id="6" idx="2"/>
          </p:cNvCxnSpPr>
          <p:nvPr/>
        </p:nvCxnSpPr>
        <p:spPr>
          <a:xfrm flipV="1">
            <a:off x="4387537" y="4284986"/>
            <a:ext cx="2164683" cy="409766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490308C-7C1F-FC40-ADEC-D2AF6202EEE7}"/>
              </a:ext>
            </a:extLst>
          </p:cNvPr>
          <p:cNvCxnSpPr>
            <a:cxnSpLocks/>
            <a:stCxn id="10" idx="0"/>
            <a:endCxn id="6" idx="2"/>
          </p:cNvCxnSpPr>
          <p:nvPr/>
        </p:nvCxnSpPr>
        <p:spPr>
          <a:xfrm flipV="1">
            <a:off x="5335101" y="4284986"/>
            <a:ext cx="1217119" cy="40679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362FAF63-A494-F640-9229-61F4C6FA0863}"/>
              </a:ext>
            </a:extLst>
          </p:cNvPr>
          <p:cNvCxnSpPr>
            <a:cxnSpLocks/>
            <a:stCxn id="8" idx="0"/>
            <a:endCxn id="6" idx="2"/>
          </p:cNvCxnSpPr>
          <p:nvPr/>
        </p:nvCxnSpPr>
        <p:spPr>
          <a:xfrm flipV="1">
            <a:off x="6276764" y="4284986"/>
            <a:ext cx="275456" cy="41336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7594E928-EDF2-234D-BC3F-15321D9BF554}"/>
              </a:ext>
            </a:extLst>
          </p:cNvPr>
          <p:cNvCxnSpPr>
            <a:cxnSpLocks/>
            <a:stCxn id="13" idx="0"/>
            <a:endCxn id="6" idx="2"/>
          </p:cNvCxnSpPr>
          <p:nvPr/>
        </p:nvCxnSpPr>
        <p:spPr>
          <a:xfrm flipH="1" flipV="1">
            <a:off x="6552220" y="4284986"/>
            <a:ext cx="689635" cy="40679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7D640EE3-8306-5446-888B-0F5B2EFFAD3F}"/>
              </a:ext>
            </a:extLst>
          </p:cNvPr>
          <p:cNvCxnSpPr>
            <a:cxnSpLocks/>
            <a:stCxn id="12" idx="0"/>
            <a:endCxn id="6" idx="2"/>
          </p:cNvCxnSpPr>
          <p:nvPr/>
        </p:nvCxnSpPr>
        <p:spPr>
          <a:xfrm flipH="1" flipV="1">
            <a:off x="6552220" y="4284986"/>
            <a:ext cx="1706889" cy="40679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22">
            <a:extLst>
              <a:ext uri="{FF2B5EF4-FFF2-40B4-BE49-F238E27FC236}">
                <a16:creationId xmlns:a16="http://schemas.microsoft.com/office/drawing/2014/main" id="{A2E2C105-F5F8-CE4B-B642-C8E972361208}"/>
              </a:ext>
            </a:extLst>
          </p:cNvPr>
          <p:cNvSpPr/>
          <p:nvPr/>
        </p:nvSpPr>
        <p:spPr>
          <a:xfrm>
            <a:off x="5980978" y="2369579"/>
            <a:ext cx="1142483" cy="360040"/>
          </a:xfrm>
          <a:prstGeom prst="roundRect">
            <a:avLst/>
          </a:prstGeom>
          <a:solidFill>
            <a:schemeClr val="accent3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>
                <a:solidFill>
                  <a:schemeClr val="bg1"/>
                </a:solidFill>
              </a:rPr>
              <a:t>系统调用</a:t>
            </a:r>
            <a:endParaRPr lang="en-CN" dirty="0">
              <a:solidFill>
                <a:schemeClr val="bg1"/>
              </a:solidFill>
            </a:endParaRPr>
          </a:p>
        </p:txBody>
      </p:sp>
      <p:sp>
        <p:nvSpPr>
          <p:cNvPr id="39" name="Rounded Rectangle 22">
            <a:extLst>
              <a:ext uri="{FF2B5EF4-FFF2-40B4-BE49-F238E27FC236}">
                <a16:creationId xmlns:a16="http://schemas.microsoft.com/office/drawing/2014/main" id="{A9FB7A08-9BEA-EC4D-8F48-B752C5B0CCB8}"/>
              </a:ext>
            </a:extLst>
          </p:cNvPr>
          <p:cNvSpPr/>
          <p:nvPr/>
        </p:nvSpPr>
        <p:spPr>
          <a:xfrm>
            <a:off x="6315799" y="1640038"/>
            <a:ext cx="808709" cy="360040"/>
          </a:xfrm>
          <a:prstGeom prst="round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solidFill>
                  <a:schemeClr val="accent1"/>
                </a:solidFill>
              </a:rPr>
              <a:t>clone</a:t>
            </a:r>
            <a:endParaRPr lang="en-CN" dirty="0">
              <a:solidFill>
                <a:schemeClr val="accent1"/>
              </a:solidFill>
            </a:endParaRPr>
          </a:p>
        </p:txBody>
      </p:sp>
      <p:sp>
        <p:nvSpPr>
          <p:cNvPr id="40" name="Rounded Rectangle 22">
            <a:extLst>
              <a:ext uri="{FF2B5EF4-FFF2-40B4-BE49-F238E27FC236}">
                <a16:creationId xmlns:a16="http://schemas.microsoft.com/office/drawing/2014/main" id="{C0CEF6AF-6AB8-804C-8BCF-A3919CDAB16E}"/>
              </a:ext>
            </a:extLst>
          </p:cNvPr>
          <p:cNvSpPr/>
          <p:nvPr/>
        </p:nvSpPr>
        <p:spPr>
          <a:xfrm>
            <a:off x="7189293" y="1640038"/>
            <a:ext cx="1106281" cy="360040"/>
          </a:xfrm>
          <a:prstGeom prst="round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>
                <a:solidFill>
                  <a:schemeClr val="accent1"/>
                </a:solidFill>
              </a:rPr>
              <a:t>unshare</a:t>
            </a:r>
            <a:endParaRPr lang="en-CN" dirty="0">
              <a:solidFill>
                <a:schemeClr val="accent1"/>
              </a:solidFill>
            </a:endParaRPr>
          </a:p>
        </p:txBody>
      </p:sp>
      <p:sp>
        <p:nvSpPr>
          <p:cNvPr id="41" name="Rounded Rectangle 22">
            <a:extLst>
              <a:ext uri="{FF2B5EF4-FFF2-40B4-BE49-F238E27FC236}">
                <a16:creationId xmlns:a16="http://schemas.microsoft.com/office/drawing/2014/main" id="{DE7A802B-44AD-7046-9793-31E998FB5CA8}"/>
              </a:ext>
            </a:extLst>
          </p:cNvPr>
          <p:cNvSpPr/>
          <p:nvPr/>
        </p:nvSpPr>
        <p:spPr>
          <a:xfrm>
            <a:off x="5403686" y="1640038"/>
            <a:ext cx="847328" cy="360040"/>
          </a:xfrm>
          <a:prstGeom prst="round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>
                <a:solidFill>
                  <a:schemeClr val="accent1"/>
                </a:solidFill>
              </a:rPr>
              <a:t>setns</a:t>
            </a:r>
            <a:endParaRPr lang="en-CN" dirty="0">
              <a:solidFill>
                <a:schemeClr val="accent1"/>
              </a:solidFill>
            </a:endParaRPr>
          </a:p>
        </p:txBody>
      </p:sp>
      <p:sp>
        <p:nvSpPr>
          <p:cNvPr id="42" name="Rounded Rectangle 22">
            <a:extLst>
              <a:ext uri="{FF2B5EF4-FFF2-40B4-BE49-F238E27FC236}">
                <a16:creationId xmlns:a16="http://schemas.microsoft.com/office/drawing/2014/main" id="{13FF0D20-73EA-AE4B-9C89-76DBD87DCE96}"/>
              </a:ext>
            </a:extLst>
          </p:cNvPr>
          <p:cNvSpPr/>
          <p:nvPr/>
        </p:nvSpPr>
        <p:spPr>
          <a:xfrm>
            <a:off x="8358645" y="1632817"/>
            <a:ext cx="656309" cy="360040"/>
          </a:xfrm>
          <a:prstGeom prst="round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>
                <a:solidFill>
                  <a:schemeClr val="accent1"/>
                </a:solidFill>
              </a:rPr>
              <a:t>ioctl</a:t>
            </a:r>
            <a:endParaRPr lang="en-CN" dirty="0">
              <a:solidFill>
                <a:schemeClr val="accent1"/>
              </a:solidFill>
            </a:endParaRP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E8C0B8B4-6196-714C-8599-3B9097BF03EF}"/>
              </a:ext>
            </a:extLst>
          </p:cNvPr>
          <p:cNvCxnSpPr>
            <a:cxnSpLocks/>
            <a:stCxn id="36" idx="0"/>
            <a:endCxn id="41" idx="2"/>
          </p:cNvCxnSpPr>
          <p:nvPr/>
        </p:nvCxnSpPr>
        <p:spPr>
          <a:xfrm flipH="1" flipV="1">
            <a:off x="5827350" y="2000078"/>
            <a:ext cx="724870" cy="36950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CF0DAE4C-9BC5-CA4C-A13B-BC89CD2843B3}"/>
              </a:ext>
            </a:extLst>
          </p:cNvPr>
          <p:cNvCxnSpPr>
            <a:cxnSpLocks/>
            <a:stCxn id="36" idx="0"/>
            <a:endCxn id="39" idx="2"/>
          </p:cNvCxnSpPr>
          <p:nvPr/>
        </p:nvCxnSpPr>
        <p:spPr>
          <a:xfrm flipV="1">
            <a:off x="6552220" y="2000078"/>
            <a:ext cx="167934" cy="36950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2EAA007C-76A0-C245-8754-D69D2A505043}"/>
              </a:ext>
            </a:extLst>
          </p:cNvPr>
          <p:cNvCxnSpPr>
            <a:cxnSpLocks/>
            <a:stCxn id="36" idx="0"/>
            <a:endCxn id="40" idx="2"/>
          </p:cNvCxnSpPr>
          <p:nvPr/>
        </p:nvCxnSpPr>
        <p:spPr>
          <a:xfrm flipV="1">
            <a:off x="6552220" y="2000078"/>
            <a:ext cx="1190214" cy="36950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D1A2C6C9-439A-9042-8823-0B451BEAEA9F}"/>
              </a:ext>
            </a:extLst>
          </p:cNvPr>
          <p:cNvCxnSpPr>
            <a:cxnSpLocks/>
            <a:stCxn id="36" idx="0"/>
            <a:endCxn id="42" idx="2"/>
          </p:cNvCxnSpPr>
          <p:nvPr/>
        </p:nvCxnSpPr>
        <p:spPr>
          <a:xfrm flipV="1">
            <a:off x="6552220" y="1992857"/>
            <a:ext cx="2134580" cy="37672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C64AA5CE-D9F4-6C44-9520-50D25D262FFE}"/>
              </a:ext>
            </a:extLst>
          </p:cNvPr>
          <p:cNvCxnSpPr>
            <a:cxnSpLocks/>
            <a:stCxn id="36" idx="2"/>
            <a:endCxn id="7" idx="0"/>
          </p:cNvCxnSpPr>
          <p:nvPr/>
        </p:nvCxnSpPr>
        <p:spPr>
          <a:xfrm>
            <a:off x="6552220" y="2729619"/>
            <a:ext cx="0" cy="29340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CB52D41A-59C8-0B46-99E1-C4933C217D9F}"/>
              </a:ext>
            </a:extLst>
          </p:cNvPr>
          <p:cNvCxnSpPr>
            <a:cxnSpLocks/>
            <a:stCxn id="7" idx="2"/>
            <a:endCxn id="6" idx="0"/>
          </p:cNvCxnSpPr>
          <p:nvPr/>
        </p:nvCxnSpPr>
        <p:spPr>
          <a:xfrm>
            <a:off x="6552220" y="3599088"/>
            <a:ext cx="0" cy="32585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18383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9BBAD-6F49-F443-B3D3-CC9EEF750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、</a:t>
            </a:r>
            <a:r>
              <a:rPr lang="en-US" altLang="ja-JP" dirty="0"/>
              <a:t>M</a:t>
            </a:r>
            <a:r>
              <a:rPr lang="en-US" altLang="zh-CN" dirty="0"/>
              <a:t>ount</a:t>
            </a:r>
            <a:r>
              <a:rPr lang="zh-CN" altLang="en-US" dirty="0"/>
              <a:t> </a:t>
            </a:r>
            <a:r>
              <a:rPr lang="en-US" altLang="zh-CN" dirty="0"/>
              <a:t>Namespace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2FFB12-986B-8E49-A6B5-A3D861947D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ja-JP" altLang="en-US"/>
              <a:t>容器内外可部分共享文件系统</a:t>
            </a:r>
            <a:endParaRPr lang="en-US" altLang="ja-JP" dirty="0"/>
          </a:p>
          <a:p>
            <a:pPr lvl="1"/>
            <a:r>
              <a:rPr lang="ja-JP" altLang="en-US"/>
              <a:t>思考</a:t>
            </a:r>
            <a:r>
              <a:rPr lang="zh-CN" altLang="en-US" dirty="0"/>
              <a:t>：</a:t>
            </a:r>
            <a:r>
              <a:rPr lang="ja-JP" altLang="en-US"/>
              <a:t>如果容器内修改了一个挂载点会发生什么</a:t>
            </a:r>
            <a:r>
              <a:rPr lang="zh-CN" altLang="en-US" dirty="0"/>
              <a:t>？</a:t>
            </a:r>
            <a:endParaRPr lang="en-US" altLang="zh-CN" dirty="0"/>
          </a:p>
          <a:p>
            <a:pPr lvl="1"/>
            <a:endParaRPr lang="en-US" altLang="zh-CN" dirty="0"/>
          </a:p>
          <a:p>
            <a:r>
              <a:rPr lang="ja-JP" altLang="en-US"/>
              <a:t>假设主机操作系统上运行了一个容器</a:t>
            </a:r>
            <a:endParaRPr lang="en-US" altLang="ja-JP" dirty="0"/>
          </a:p>
          <a:p>
            <a:pPr lvl="1"/>
            <a:r>
              <a:rPr lang="en-US" altLang="zh-CN" dirty="0"/>
              <a:t>Step-1</a:t>
            </a:r>
            <a:r>
              <a:rPr lang="zh-CN" altLang="en-US" dirty="0"/>
              <a:t>：</a:t>
            </a:r>
            <a:r>
              <a:rPr lang="ja-JP" altLang="en-US"/>
              <a:t>主机</a:t>
            </a:r>
            <a:r>
              <a:rPr lang="en-US" altLang="ja-JP" dirty="0"/>
              <a:t>OS</a:t>
            </a:r>
            <a:r>
              <a:rPr lang="ja-JP" altLang="en-US"/>
              <a:t>准备从</a:t>
            </a:r>
            <a:r>
              <a:rPr lang="en-US" altLang="zh-CN" dirty="0"/>
              <a:t>/</a:t>
            </a:r>
            <a:r>
              <a:rPr lang="en-US" altLang="zh-CN" dirty="0" err="1"/>
              <a:t>mnt</a:t>
            </a:r>
            <a:r>
              <a:rPr lang="ja-JP" altLang="en-US"/>
              <a:t>目录下的</a:t>
            </a:r>
            <a:r>
              <a:rPr lang="en-US" altLang="ja-JP" dirty="0"/>
              <a:t>ext</a:t>
            </a:r>
            <a:r>
              <a:rPr lang="en-US" altLang="zh-CN" dirty="0"/>
              <a:t>4</a:t>
            </a:r>
            <a:r>
              <a:rPr lang="ja-JP" altLang="en-US"/>
              <a:t>文件系统中读取数据</a:t>
            </a:r>
            <a:endParaRPr lang="en-US" altLang="ja-JP" dirty="0"/>
          </a:p>
          <a:p>
            <a:pPr lvl="1"/>
            <a:r>
              <a:rPr lang="en-US" altLang="zh-CN" dirty="0"/>
              <a:t>Step-2</a:t>
            </a:r>
            <a:r>
              <a:rPr lang="zh-CN" altLang="en-US" dirty="0"/>
              <a:t>：</a:t>
            </a:r>
            <a:r>
              <a:rPr lang="ja-JP" altLang="en-US"/>
              <a:t>容器中进程在</a:t>
            </a:r>
            <a:r>
              <a:rPr lang="en-US" altLang="zh-CN" dirty="0"/>
              <a:t>/</a:t>
            </a:r>
            <a:r>
              <a:rPr lang="en-US" altLang="zh-CN" dirty="0" err="1"/>
              <a:t>mnt</a:t>
            </a:r>
            <a:r>
              <a:rPr lang="ja-JP" altLang="en-US"/>
              <a:t>目录下挂载了一个</a:t>
            </a:r>
            <a:r>
              <a:rPr lang="en-US" altLang="ja-JP" dirty="0" err="1"/>
              <a:t>xfs</a:t>
            </a:r>
            <a:r>
              <a:rPr lang="ja-JP" altLang="en-US"/>
              <a:t>文件系统</a:t>
            </a:r>
            <a:endParaRPr lang="en-US" altLang="ja-JP" dirty="0"/>
          </a:p>
          <a:p>
            <a:pPr lvl="1"/>
            <a:r>
              <a:rPr lang="en-US" altLang="ja-JP" dirty="0"/>
              <a:t>Step</a:t>
            </a:r>
            <a:r>
              <a:rPr lang="en-US" altLang="zh-CN" dirty="0"/>
              <a:t>-3</a:t>
            </a:r>
            <a:r>
              <a:rPr lang="zh-CN" altLang="en-US" dirty="0"/>
              <a:t>：</a:t>
            </a:r>
            <a:r>
              <a:rPr lang="ja-JP" altLang="en-US"/>
              <a:t>主机操作系统可能读到错误数据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AB7F5A-4C37-A347-833A-CDFDB7E8B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30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73A891-783D-244C-961A-6CD3078D77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1715294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Mount Namespace</a:t>
            </a:r>
            <a:r>
              <a:rPr lang="zh-CN" altLang="en-US" dirty="0"/>
              <a:t>的实现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333501"/>
            <a:ext cx="4690864" cy="3771636"/>
          </a:xfrm>
        </p:spPr>
        <p:txBody>
          <a:bodyPr>
            <a:normAutofit/>
          </a:bodyPr>
          <a:lstStyle/>
          <a:p>
            <a:r>
              <a:rPr lang="zh-CN" altLang="en-US" sz="2000" dirty="0"/>
              <a:t>设计思路</a:t>
            </a:r>
            <a:endParaRPr lang="en-US" altLang="zh-CN" sz="2000" dirty="0"/>
          </a:p>
          <a:p>
            <a:pPr lvl="1"/>
            <a:r>
              <a:rPr lang="zh-CN" altLang="en-US" sz="1800" dirty="0"/>
              <a:t>在内核中分别记录每个</a:t>
            </a:r>
            <a:r>
              <a:rPr lang="en-US" altLang="zh-CN" sz="1800" dirty="0"/>
              <a:t>NS</a:t>
            </a:r>
            <a:r>
              <a:rPr lang="zh-CN" altLang="en-US" sz="1800" dirty="0"/>
              <a:t>中对于挂载点的修改</a:t>
            </a:r>
            <a:endParaRPr lang="en-US" altLang="zh-CN" sz="1800" dirty="0"/>
          </a:p>
          <a:p>
            <a:pPr lvl="1"/>
            <a:r>
              <a:rPr lang="zh-CN" altLang="en-US" sz="1800" dirty="0"/>
              <a:t>访问挂载点时，内核根据当前</a:t>
            </a:r>
            <a:r>
              <a:rPr lang="en-US" altLang="zh-CN" sz="1800" dirty="0"/>
              <a:t>NS</a:t>
            </a:r>
            <a:r>
              <a:rPr lang="zh-CN" altLang="en-US" sz="1800" dirty="0"/>
              <a:t>的记录查找文件</a:t>
            </a:r>
            <a:endParaRPr lang="en-US" altLang="zh-CN" sz="1800" dirty="0"/>
          </a:p>
          <a:p>
            <a:r>
              <a:rPr lang="zh-CN" altLang="en-US" sz="2000" dirty="0"/>
              <a:t>每个</a:t>
            </a:r>
            <a:r>
              <a:rPr lang="en-US" altLang="zh-CN" sz="2000" dirty="0"/>
              <a:t>NS</a:t>
            </a:r>
            <a:r>
              <a:rPr lang="zh-CN" altLang="en-US" sz="2000" dirty="0"/>
              <a:t>有独立的文件系统树</a:t>
            </a:r>
            <a:endParaRPr lang="en-US" altLang="zh-CN" sz="2000" dirty="0"/>
          </a:p>
          <a:p>
            <a:pPr lvl="1"/>
            <a:r>
              <a:rPr lang="zh-CN" altLang="en-US" sz="1800" dirty="0"/>
              <a:t>新</a:t>
            </a:r>
            <a:r>
              <a:rPr lang="en-US" altLang="zh-CN" sz="1800" dirty="0"/>
              <a:t>NS</a:t>
            </a:r>
            <a:r>
              <a:rPr lang="zh-CN" altLang="en-US" sz="1800" dirty="0"/>
              <a:t>会拷贝一份父</a:t>
            </a:r>
            <a:r>
              <a:rPr lang="en-US" altLang="zh-CN" sz="1800" dirty="0"/>
              <a:t>NS</a:t>
            </a:r>
            <a:r>
              <a:rPr lang="zh-CN" altLang="en-US" sz="1800" dirty="0"/>
              <a:t>的文件系统树</a:t>
            </a:r>
            <a:endParaRPr lang="en-US" altLang="ja-JP" sz="1800" dirty="0"/>
          </a:p>
          <a:p>
            <a:pPr lvl="1"/>
            <a:r>
              <a:rPr lang="ja-JP" altLang="en-US" sz="1800"/>
              <a:t>修改挂载点只会反映到自己</a:t>
            </a:r>
            <a:r>
              <a:rPr lang="en-US" altLang="zh-CN" sz="1800" dirty="0"/>
              <a:t>NS</a:t>
            </a:r>
            <a:r>
              <a:rPr lang="ja-JP" altLang="en-US" sz="1800"/>
              <a:t>的文件系统树</a:t>
            </a:r>
            <a:endParaRPr lang="en-US" altLang="ja-JP" sz="1800" dirty="0"/>
          </a:p>
          <a:p>
            <a:pPr lvl="1"/>
            <a:endParaRPr lang="en-US" altLang="ja-JP" sz="1800" dirty="0"/>
          </a:p>
          <a:p>
            <a:pPr lvl="1"/>
            <a:endParaRPr lang="zh-CN" altLang="en-US" sz="1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6" name="Rectangle 66">
            <a:extLst>
              <a:ext uri="{FF2B5EF4-FFF2-40B4-BE49-F238E27FC236}">
                <a16:creationId xmlns:a16="http://schemas.microsoft.com/office/drawing/2014/main" id="{A41B1D34-3A54-F841-8787-844982D6B726}"/>
              </a:ext>
            </a:extLst>
          </p:cNvPr>
          <p:cNvSpPr/>
          <p:nvPr/>
        </p:nvSpPr>
        <p:spPr>
          <a:xfrm>
            <a:off x="5508104" y="1037386"/>
            <a:ext cx="3384376" cy="2019564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1"/>
          <a:lstStyle/>
          <a:p>
            <a:pPr algn="ctr"/>
            <a:r>
              <a:rPr lang="zh-CN" altLang="en-US" dirty="0">
                <a:solidFill>
                  <a:schemeClr val="accent1"/>
                </a:solidFill>
              </a:rPr>
              <a:t>                                  </a:t>
            </a:r>
            <a:r>
              <a:rPr lang="en-US" altLang="zh-CN" dirty="0">
                <a:solidFill>
                  <a:schemeClr val="accent1"/>
                </a:solidFill>
              </a:rPr>
              <a:t>Root</a:t>
            </a:r>
            <a:r>
              <a:rPr lang="zh-CN" altLang="en-US" dirty="0">
                <a:solidFill>
                  <a:schemeClr val="accent1"/>
                </a:solidFill>
              </a:rPr>
              <a:t> </a:t>
            </a:r>
            <a:r>
              <a:rPr lang="en-US" altLang="zh-CN" dirty="0">
                <a:solidFill>
                  <a:schemeClr val="accent1"/>
                </a:solidFill>
              </a:rPr>
              <a:t>NS</a:t>
            </a:r>
          </a:p>
        </p:txBody>
      </p:sp>
      <p:grpSp>
        <p:nvGrpSpPr>
          <p:cNvPr id="7" name="Group 53">
            <a:extLst>
              <a:ext uri="{FF2B5EF4-FFF2-40B4-BE49-F238E27FC236}">
                <a16:creationId xmlns:a16="http://schemas.microsoft.com/office/drawing/2014/main" id="{6D66AD6E-DDC0-0343-ACDE-538480F014EF}"/>
              </a:ext>
            </a:extLst>
          </p:cNvPr>
          <p:cNvGrpSpPr/>
          <p:nvPr/>
        </p:nvGrpSpPr>
        <p:grpSpPr>
          <a:xfrm>
            <a:off x="5760000" y="1155336"/>
            <a:ext cx="2903454" cy="1743600"/>
            <a:chOff x="5361509" y="1473900"/>
            <a:chExt cx="2903454" cy="1743600"/>
          </a:xfrm>
        </p:grpSpPr>
        <p:sp>
          <p:nvSpPr>
            <p:cNvPr id="8" name="Rounded Rectangle 54">
              <a:extLst>
                <a:ext uri="{FF2B5EF4-FFF2-40B4-BE49-F238E27FC236}">
                  <a16:creationId xmlns:a16="http://schemas.microsoft.com/office/drawing/2014/main" id="{107885B7-01D8-C44F-ABEA-0C797212C481}"/>
                </a:ext>
              </a:extLst>
            </p:cNvPr>
            <p:cNvSpPr/>
            <p:nvPr/>
          </p:nvSpPr>
          <p:spPr>
            <a:xfrm>
              <a:off x="6228173" y="1473900"/>
              <a:ext cx="648000" cy="360000"/>
            </a:xfrm>
            <a:prstGeom prst="round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accent1"/>
                  </a:solidFill>
                </a:rPr>
                <a:t>/</a:t>
              </a:r>
              <a:endParaRPr lang="en-CN" dirty="0">
                <a:solidFill>
                  <a:schemeClr val="accent1"/>
                </a:solidFill>
              </a:endParaRPr>
            </a:p>
          </p:txBody>
        </p:sp>
        <p:sp>
          <p:nvSpPr>
            <p:cNvPr id="9" name="Rounded Rectangle 55">
              <a:extLst>
                <a:ext uri="{FF2B5EF4-FFF2-40B4-BE49-F238E27FC236}">
                  <a16:creationId xmlns:a16="http://schemas.microsoft.com/office/drawing/2014/main" id="{992595BF-6A9E-684C-B6EE-AAD070BB75F0}"/>
                </a:ext>
              </a:extLst>
            </p:cNvPr>
            <p:cNvSpPr/>
            <p:nvPr/>
          </p:nvSpPr>
          <p:spPr>
            <a:xfrm>
              <a:off x="5361509" y="2209572"/>
              <a:ext cx="648000" cy="360000"/>
            </a:xfrm>
            <a:prstGeom prst="round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err="1">
                  <a:solidFill>
                    <a:schemeClr val="accent1"/>
                  </a:solidFill>
                </a:rPr>
                <a:t>usr</a:t>
              </a:r>
              <a:endParaRPr lang="en-CN" dirty="0">
                <a:solidFill>
                  <a:schemeClr val="accent1"/>
                </a:solidFill>
              </a:endParaRPr>
            </a:p>
          </p:txBody>
        </p:sp>
        <p:sp>
          <p:nvSpPr>
            <p:cNvPr id="10" name="Rounded Rectangle 56">
              <a:extLst>
                <a:ext uri="{FF2B5EF4-FFF2-40B4-BE49-F238E27FC236}">
                  <a16:creationId xmlns:a16="http://schemas.microsoft.com/office/drawing/2014/main" id="{FCDC85B2-2F39-CA45-8535-7DD5113308B5}"/>
                </a:ext>
              </a:extLst>
            </p:cNvPr>
            <p:cNvSpPr/>
            <p:nvPr/>
          </p:nvSpPr>
          <p:spPr>
            <a:xfrm>
              <a:off x="7086227" y="2209572"/>
              <a:ext cx="648000" cy="360000"/>
            </a:xfrm>
            <a:prstGeom prst="round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err="1">
                  <a:solidFill>
                    <a:schemeClr val="accent1"/>
                  </a:solidFill>
                </a:rPr>
                <a:t>mnt</a:t>
              </a:r>
              <a:endParaRPr lang="en-CN" dirty="0">
                <a:solidFill>
                  <a:schemeClr val="accent1"/>
                </a:solidFill>
              </a:endParaRPr>
            </a:p>
          </p:txBody>
        </p:sp>
        <p:sp>
          <p:nvSpPr>
            <p:cNvPr id="11" name="Rounded Rectangle 57">
              <a:extLst>
                <a:ext uri="{FF2B5EF4-FFF2-40B4-BE49-F238E27FC236}">
                  <a16:creationId xmlns:a16="http://schemas.microsoft.com/office/drawing/2014/main" id="{43E709B7-21DA-1947-B4D5-06345DC1DF5A}"/>
                </a:ext>
              </a:extLst>
            </p:cNvPr>
            <p:cNvSpPr/>
            <p:nvPr/>
          </p:nvSpPr>
          <p:spPr>
            <a:xfrm>
              <a:off x="6223868" y="2209572"/>
              <a:ext cx="648000" cy="360000"/>
            </a:xfrm>
            <a:prstGeom prst="round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accent1"/>
                  </a:solidFill>
                </a:rPr>
                <a:t>bin</a:t>
              </a:r>
              <a:endParaRPr lang="en-CN" dirty="0">
                <a:solidFill>
                  <a:schemeClr val="accent1"/>
                </a:solidFill>
              </a:endParaRPr>
            </a:p>
          </p:txBody>
        </p:sp>
        <p:sp>
          <p:nvSpPr>
            <p:cNvPr id="12" name="Rounded Rectangle 58">
              <a:extLst>
                <a:ext uri="{FF2B5EF4-FFF2-40B4-BE49-F238E27FC236}">
                  <a16:creationId xmlns:a16="http://schemas.microsoft.com/office/drawing/2014/main" id="{90B45F48-DE66-414A-9D66-4005A4B48D40}"/>
                </a:ext>
              </a:extLst>
            </p:cNvPr>
            <p:cNvSpPr/>
            <p:nvPr/>
          </p:nvSpPr>
          <p:spPr>
            <a:xfrm>
              <a:off x="6657200" y="2857500"/>
              <a:ext cx="648000" cy="360000"/>
            </a:xfrm>
            <a:prstGeom prst="round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accent1"/>
                  </a:solidFill>
                </a:rPr>
                <a:t>foo</a:t>
              </a:r>
              <a:endParaRPr lang="en-CN" dirty="0">
                <a:solidFill>
                  <a:schemeClr val="accent1"/>
                </a:solidFill>
              </a:endParaRPr>
            </a:p>
          </p:txBody>
        </p:sp>
        <p:sp>
          <p:nvSpPr>
            <p:cNvPr id="13" name="Rounded Rectangle 59">
              <a:extLst>
                <a:ext uri="{FF2B5EF4-FFF2-40B4-BE49-F238E27FC236}">
                  <a16:creationId xmlns:a16="http://schemas.microsoft.com/office/drawing/2014/main" id="{E4109807-4A6E-9D4E-AF14-FD66277C9D7B}"/>
                </a:ext>
              </a:extLst>
            </p:cNvPr>
            <p:cNvSpPr/>
            <p:nvPr/>
          </p:nvSpPr>
          <p:spPr>
            <a:xfrm>
              <a:off x="7616963" y="2857500"/>
              <a:ext cx="648000" cy="360000"/>
            </a:xfrm>
            <a:prstGeom prst="round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accent1"/>
                  </a:solidFill>
                </a:rPr>
                <a:t>bar</a:t>
              </a:r>
              <a:endParaRPr lang="en-CN" dirty="0">
                <a:solidFill>
                  <a:schemeClr val="accent1"/>
                </a:solidFill>
              </a:endParaRPr>
            </a:p>
          </p:txBody>
        </p:sp>
        <p:cxnSp>
          <p:nvCxnSpPr>
            <p:cNvPr id="14" name="Straight Arrow Connector 60">
              <a:extLst>
                <a:ext uri="{FF2B5EF4-FFF2-40B4-BE49-F238E27FC236}">
                  <a16:creationId xmlns:a16="http://schemas.microsoft.com/office/drawing/2014/main" id="{188A64CF-2F5E-9748-9E91-CB81B92A7659}"/>
                </a:ext>
              </a:extLst>
            </p:cNvPr>
            <p:cNvCxnSpPr>
              <a:cxnSpLocks/>
              <a:stCxn id="8" idx="2"/>
              <a:endCxn id="9" idx="0"/>
            </p:cNvCxnSpPr>
            <p:nvPr/>
          </p:nvCxnSpPr>
          <p:spPr>
            <a:xfrm flipH="1">
              <a:off x="5685509" y="1833900"/>
              <a:ext cx="866664" cy="375672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61">
              <a:extLst>
                <a:ext uri="{FF2B5EF4-FFF2-40B4-BE49-F238E27FC236}">
                  <a16:creationId xmlns:a16="http://schemas.microsoft.com/office/drawing/2014/main" id="{0C0BF6FE-2591-7F41-A137-1BFA1752E8A3}"/>
                </a:ext>
              </a:extLst>
            </p:cNvPr>
            <p:cNvCxnSpPr>
              <a:cxnSpLocks/>
              <a:stCxn id="8" idx="2"/>
              <a:endCxn id="11" idx="0"/>
            </p:cNvCxnSpPr>
            <p:nvPr/>
          </p:nvCxnSpPr>
          <p:spPr>
            <a:xfrm flipH="1">
              <a:off x="6547868" y="1833900"/>
              <a:ext cx="4305" cy="375672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62">
              <a:extLst>
                <a:ext uri="{FF2B5EF4-FFF2-40B4-BE49-F238E27FC236}">
                  <a16:creationId xmlns:a16="http://schemas.microsoft.com/office/drawing/2014/main" id="{57E01DA3-2824-704E-865D-353151B2EAEB}"/>
                </a:ext>
              </a:extLst>
            </p:cNvPr>
            <p:cNvCxnSpPr>
              <a:cxnSpLocks/>
              <a:stCxn id="8" idx="2"/>
              <a:endCxn id="10" idx="0"/>
            </p:cNvCxnSpPr>
            <p:nvPr/>
          </p:nvCxnSpPr>
          <p:spPr>
            <a:xfrm>
              <a:off x="6552173" y="1833900"/>
              <a:ext cx="858054" cy="375672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63">
              <a:extLst>
                <a:ext uri="{FF2B5EF4-FFF2-40B4-BE49-F238E27FC236}">
                  <a16:creationId xmlns:a16="http://schemas.microsoft.com/office/drawing/2014/main" id="{1A011915-BF3C-DA4B-BE6F-6AE614A54515}"/>
                </a:ext>
              </a:extLst>
            </p:cNvPr>
            <p:cNvCxnSpPr>
              <a:cxnSpLocks/>
              <a:stCxn id="10" idx="2"/>
              <a:endCxn id="12" idx="0"/>
            </p:cNvCxnSpPr>
            <p:nvPr/>
          </p:nvCxnSpPr>
          <p:spPr>
            <a:xfrm flipH="1">
              <a:off x="6981200" y="2569572"/>
              <a:ext cx="429027" cy="287928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64">
              <a:extLst>
                <a:ext uri="{FF2B5EF4-FFF2-40B4-BE49-F238E27FC236}">
                  <a16:creationId xmlns:a16="http://schemas.microsoft.com/office/drawing/2014/main" id="{FD292232-D532-B141-860D-738B4EB32CC3}"/>
                </a:ext>
              </a:extLst>
            </p:cNvPr>
            <p:cNvCxnSpPr>
              <a:cxnSpLocks/>
              <a:stCxn id="10" idx="2"/>
              <a:endCxn id="13" idx="0"/>
            </p:cNvCxnSpPr>
            <p:nvPr/>
          </p:nvCxnSpPr>
          <p:spPr>
            <a:xfrm>
              <a:off x="7410227" y="2569572"/>
              <a:ext cx="530736" cy="287928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28">
            <a:extLst>
              <a:ext uri="{FF2B5EF4-FFF2-40B4-BE49-F238E27FC236}">
                <a16:creationId xmlns:a16="http://schemas.microsoft.com/office/drawing/2014/main" id="{A322EF89-7799-0647-BDAC-62F3B50353CD}"/>
              </a:ext>
            </a:extLst>
          </p:cNvPr>
          <p:cNvGrpSpPr/>
          <p:nvPr/>
        </p:nvGrpSpPr>
        <p:grpSpPr>
          <a:xfrm>
            <a:off x="5760000" y="1155336"/>
            <a:ext cx="2903454" cy="1743600"/>
            <a:chOff x="5361509" y="1473900"/>
            <a:chExt cx="2903454" cy="1743600"/>
          </a:xfrm>
        </p:grpSpPr>
        <p:sp>
          <p:nvSpPr>
            <p:cNvPr id="20" name="Rounded Rectangle 5">
              <a:extLst>
                <a:ext uri="{FF2B5EF4-FFF2-40B4-BE49-F238E27FC236}">
                  <a16:creationId xmlns:a16="http://schemas.microsoft.com/office/drawing/2014/main" id="{480A5217-3ED9-7E45-8EFA-DD85822F20B1}"/>
                </a:ext>
              </a:extLst>
            </p:cNvPr>
            <p:cNvSpPr/>
            <p:nvPr/>
          </p:nvSpPr>
          <p:spPr>
            <a:xfrm>
              <a:off x="6228173" y="1473900"/>
              <a:ext cx="648000" cy="360000"/>
            </a:xfrm>
            <a:prstGeom prst="round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accent1"/>
                  </a:solidFill>
                </a:rPr>
                <a:t>/</a:t>
              </a:r>
              <a:endParaRPr lang="en-CN" dirty="0">
                <a:solidFill>
                  <a:schemeClr val="accent1"/>
                </a:solidFill>
              </a:endParaRPr>
            </a:p>
          </p:txBody>
        </p:sp>
        <p:sp>
          <p:nvSpPr>
            <p:cNvPr id="21" name="Rounded Rectangle 6">
              <a:extLst>
                <a:ext uri="{FF2B5EF4-FFF2-40B4-BE49-F238E27FC236}">
                  <a16:creationId xmlns:a16="http://schemas.microsoft.com/office/drawing/2014/main" id="{200DFAF9-E98A-4A42-85A1-E364799F6E04}"/>
                </a:ext>
              </a:extLst>
            </p:cNvPr>
            <p:cNvSpPr/>
            <p:nvPr/>
          </p:nvSpPr>
          <p:spPr>
            <a:xfrm>
              <a:off x="5361509" y="2209572"/>
              <a:ext cx="648000" cy="360000"/>
            </a:xfrm>
            <a:prstGeom prst="round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err="1">
                  <a:solidFill>
                    <a:schemeClr val="accent1"/>
                  </a:solidFill>
                </a:rPr>
                <a:t>usr</a:t>
              </a:r>
              <a:endParaRPr lang="en-CN" dirty="0">
                <a:solidFill>
                  <a:schemeClr val="accent1"/>
                </a:solidFill>
              </a:endParaRPr>
            </a:p>
          </p:txBody>
        </p:sp>
        <p:sp>
          <p:nvSpPr>
            <p:cNvPr id="22" name="Rounded Rectangle 7">
              <a:extLst>
                <a:ext uri="{FF2B5EF4-FFF2-40B4-BE49-F238E27FC236}">
                  <a16:creationId xmlns:a16="http://schemas.microsoft.com/office/drawing/2014/main" id="{3AFE9738-2FB9-734F-808A-C5276DDFFE2E}"/>
                </a:ext>
              </a:extLst>
            </p:cNvPr>
            <p:cNvSpPr/>
            <p:nvPr/>
          </p:nvSpPr>
          <p:spPr>
            <a:xfrm>
              <a:off x="7086227" y="2209572"/>
              <a:ext cx="648000" cy="360000"/>
            </a:xfrm>
            <a:prstGeom prst="round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err="1">
                  <a:solidFill>
                    <a:schemeClr val="accent1"/>
                  </a:solidFill>
                </a:rPr>
                <a:t>mnt</a:t>
              </a:r>
              <a:endParaRPr lang="en-CN" dirty="0">
                <a:solidFill>
                  <a:schemeClr val="accent1"/>
                </a:solidFill>
              </a:endParaRPr>
            </a:p>
          </p:txBody>
        </p:sp>
        <p:sp>
          <p:nvSpPr>
            <p:cNvPr id="23" name="Rounded Rectangle 8">
              <a:extLst>
                <a:ext uri="{FF2B5EF4-FFF2-40B4-BE49-F238E27FC236}">
                  <a16:creationId xmlns:a16="http://schemas.microsoft.com/office/drawing/2014/main" id="{496C1B22-77BB-2344-97E4-11EE3EAE4303}"/>
                </a:ext>
              </a:extLst>
            </p:cNvPr>
            <p:cNvSpPr/>
            <p:nvPr/>
          </p:nvSpPr>
          <p:spPr>
            <a:xfrm>
              <a:off x="6223868" y="2209572"/>
              <a:ext cx="648000" cy="360000"/>
            </a:xfrm>
            <a:prstGeom prst="round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accent1"/>
                  </a:solidFill>
                </a:rPr>
                <a:t>bin</a:t>
              </a:r>
              <a:endParaRPr lang="en-CN" dirty="0">
                <a:solidFill>
                  <a:schemeClr val="accent1"/>
                </a:solidFill>
              </a:endParaRPr>
            </a:p>
          </p:txBody>
        </p:sp>
        <p:sp>
          <p:nvSpPr>
            <p:cNvPr id="24" name="Rounded Rectangle 9">
              <a:extLst>
                <a:ext uri="{FF2B5EF4-FFF2-40B4-BE49-F238E27FC236}">
                  <a16:creationId xmlns:a16="http://schemas.microsoft.com/office/drawing/2014/main" id="{EA27E371-FD7B-894D-966D-B6CEBB355613}"/>
                </a:ext>
              </a:extLst>
            </p:cNvPr>
            <p:cNvSpPr/>
            <p:nvPr/>
          </p:nvSpPr>
          <p:spPr>
            <a:xfrm>
              <a:off x="6657200" y="2857500"/>
              <a:ext cx="648000" cy="360000"/>
            </a:xfrm>
            <a:prstGeom prst="round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accent1"/>
                  </a:solidFill>
                </a:rPr>
                <a:t>foo</a:t>
              </a:r>
              <a:endParaRPr lang="en-CN" dirty="0">
                <a:solidFill>
                  <a:schemeClr val="accent1"/>
                </a:solidFill>
              </a:endParaRPr>
            </a:p>
          </p:txBody>
        </p:sp>
        <p:sp>
          <p:nvSpPr>
            <p:cNvPr id="25" name="Rounded Rectangle 10">
              <a:extLst>
                <a:ext uri="{FF2B5EF4-FFF2-40B4-BE49-F238E27FC236}">
                  <a16:creationId xmlns:a16="http://schemas.microsoft.com/office/drawing/2014/main" id="{A4ED262F-B750-DE45-B83F-26ABF149B946}"/>
                </a:ext>
              </a:extLst>
            </p:cNvPr>
            <p:cNvSpPr/>
            <p:nvPr/>
          </p:nvSpPr>
          <p:spPr>
            <a:xfrm>
              <a:off x="7616963" y="2857500"/>
              <a:ext cx="648000" cy="360000"/>
            </a:xfrm>
            <a:prstGeom prst="round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accent1"/>
                  </a:solidFill>
                </a:rPr>
                <a:t>bar</a:t>
              </a:r>
              <a:endParaRPr lang="en-CN" dirty="0">
                <a:solidFill>
                  <a:schemeClr val="accent1"/>
                </a:solidFill>
              </a:endParaRPr>
            </a:p>
          </p:txBody>
        </p:sp>
        <p:cxnSp>
          <p:nvCxnSpPr>
            <p:cNvPr id="26" name="Straight Arrow Connector 11">
              <a:extLst>
                <a:ext uri="{FF2B5EF4-FFF2-40B4-BE49-F238E27FC236}">
                  <a16:creationId xmlns:a16="http://schemas.microsoft.com/office/drawing/2014/main" id="{65D070C1-8FC2-FE4D-8055-7AA75D8E3C51}"/>
                </a:ext>
              </a:extLst>
            </p:cNvPr>
            <p:cNvCxnSpPr>
              <a:cxnSpLocks/>
              <a:stCxn id="20" idx="2"/>
              <a:endCxn id="21" idx="0"/>
            </p:cNvCxnSpPr>
            <p:nvPr/>
          </p:nvCxnSpPr>
          <p:spPr>
            <a:xfrm flipH="1">
              <a:off x="5685509" y="1833900"/>
              <a:ext cx="866664" cy="375672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12">
              <a:extLst>
                <a:ext uri="{FF2B5EF4-FFF2-40B4-BE49-F238E27FC236}">
                  <a16:creationId xmlns:a16="http://schemas.microsoft.com/office/drawing/2014/main" id="{A7893840-6FBB-AE40-AD16-BE1F11B497CB}"/>
                </a:ext>
              </a:extLst>
            </p:cNvPr>
            <p:cNvCxnSpPr>
              <a:cxnSpLocks/>
              <a:stCxn id="20" idx="2"/>
              <a:endCxn id="23" idx="0"/>
            </p:cNvCxnSpPr>
            <p:nvPr/>
          </p:nvCxnSpPr>
          <p:spPr>
            <a:xfrm flipH="1">
              <a:off x="6547868" y="1833900"/>
              <a:ext cx="4305" cy="375672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13">
              <a:extLst>
                <a:ext uri="{FF2B5EF4-FFF2-40B4-BE49-F238E27FC236}">
                  <a16:creationId xmlns:a16="http://schemas.microsoft.com/office/drawing/2014/main" id="{4169EB68-5570-9B40-9B8E-4368E386A69B}"/>
                </a:ext>
              </a:extLst>
            </p:cNvPr>
            <p:cNvCxnSpPr>
              <a:cxnSpLocks/>
              <a:stCxn id="20" idx="2"/>
              <a:endCxn id="22" idx="0"/>
            </p:cNvCxnSpPr>
            <p:nvPr/>
          </p:nvCxnSpPr>
          <p:spPr>
            <a:xfrm>
              <a:off x="6552173" y="1833900"/>
              <a:ext cx="858054" cy="375672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14">
              <a:extLst>
                <a:ext uri="{FF2B5EF4-FFF2-40B4-BE49-F238E27FC236}">
                  <a16:creationId xmlns:a16="http://schemas.microsoft.com/office/drawing/2014/main" id="{EA7626CF-061E-144A-A640-D69F605D6FF8}"/>
                </a:ext>
              </a:extLst>
            </p:cNvPr>
            <p:cNvCxnSpPr>
              <a:cxnSpLocks/>
              <a:stCxn id="22" idx="2"/>
              <a:endCxn id="24" idx="0"/>
            </p:cNvCxnSpPr>
            <p:nvPr/>
          </p:nvCxnSpPr>
          <p:spPr>
            <a:xfrm flipH="1">
              <a:off x="6981200" y="2569572"/>
              <a:ext cx="429027" cy="287928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15">
              <a:extLst>
                <a:ext uri="{FF2B5EF4-FFF2-40B4-BE49-F238E27FC236}">
                  <a16:creationId xmlns:a16="http://schemas.microsoft.com/office/drawing/2014/main" id="{67889B2E-C9AE-CF46-9E88-2A7A6471AE4F}"/>
                </a:ext>
              </a:extLst>
            </p:cNvPr>
            <p:cNvCxnSpPr>
              <a:cxnSpLocks/>
              <a:stCxn id="22" idx="2"/>
              <a:endCxn id="25" idx="0"/>
            </p:cNvCxnSpPr>
            <p:nvPr/>
          </p:nvCxnSpPr>
          <p:spPr>
            <a:xfrm>
              <a:off x="7410227" y="2569572"/>
              <a:ext cx="530736" cy="287928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Group 29">
            <a:extLst>
              <a:ext uri="{FF2B5EF4-FFF2-40B4-BE49-F238E27FC236}">
                <a16:creationId xmlns:a16="http://schemas.microsoft.com/office/drawing/2014/main" id="{D5FF6B01-8A60-384A-8941-3118621733E6}"/>
              </a:ext>
            </a:extLst>
          </p:cNvPr>
          <p:cNvGrpSpPr/>
          <p:nvPr/>
        </p:nvGrpSpPr>
        <p:grpSpPr>
          <a:xfrm>
            <a:off x="5760000" y="3344877"/>
            <a:ext cx="2903454" cy="1743600"/>
            <a:chOff x="5361509" y="1473900"/>
            <a:chExt cx="2903454" cy="1743600"/>
          </a:xfrm>
        </p:grpSpPr>
        <p:sp>
          <p:nvSpPr>
            <p:cNvPr id="32" name="Rounded Rectangle 30">
              <a:extLst>
                <a:ext uri="{FF2B5EF4-FFF2-40B4-BE49-F238E27FC236}">
                  <a16:creationId xmlns:a16="http://schemas.microsoft.com/office/drawing/2014/main" id="{3AA82107-8C4C-894A-B034-CCB3A23B5446}"/>
                </a:ext>
              </a:extLst>
            </p:cNvPr>
            <p:cNvSpPr/>
            <p:nvPr/>
          </p:nvSpPr>
          <p:spPr>
            <a:xfrm>
              <a:off x="6228173" y="1473900"/>
              <a:ext cx="648000" cy="360000"/>
            </a:xfrm>
            <a:prstGeom prst="round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accent1"/>
                  </a:solidFill>
                </a:rPr>
                <a:t>/</a:t>
              </a:r>
              <a:endParaRPr lang="en-CN" dirty="0">
                <a:solidFill>
                  <a:schemeClr val="accent1"/>
                </a:solidFill>
              </a:endParaRPr>
            </a:p>
          </p:txBody>
        </p:sp>
        <p:sp>
          <p:nvSpPr>
            <p:cNvPr id="33" name="Rounded Rectangle 31">
              <a:extLst>
                <a:ext uri="{FF2B5EF4-FFF2-40B4-BE49-F238E27FC236}">
                  <a16:creationId xmlns:a16="http://schemas.microsoft.com/office/drawing/2014/main" id="{A13D82AF-3DFF-3F4F-A53F-779E3899EAD7}"/>
                </a:ext>
              </a:extLst>
            </p:cNvPr>
            <p:cNvSpPr/>
            <p:nvPr/>
          </p:nvSpPr>
          <p:spPr>
            <a:xfrm>
              <a:off x="5361509" y="2209572"/>
              <a:ext cx="648000" cy="360000"/>
            </a:xfrm>
            <a:prstGeom prst="round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err="1">
                  <a:solidFill>
                    <a:schemeClr val="accent1"/>
                  </a:solidFill>
                </a:rPr>
                <a:t>usr</a:t>
              </a:r>
              <a:endParaRPr lang="en-CN" dirty="0">
                <a:solidFill>
                  <a:schemeClr val="accent1"/>
                </a:solidFill>
              </a:endParaRPr>
            </a:p>
          </p:txBody>
        </p:sp>
        <p:sp>
          <p:nvSpPr>
            <p:cNvPr id="34" name="Rounded Rectangle 32">
              <a:extLst>
                <a:ext uri="{FF2B5EF4-FFF2-40B4-BE49-F238E27FC236}">
                  <a16:creationId xmlns:a16="http://schemas.microsoft.com/office/drawing/2014/main" id="{F20A6A55-D443-8148-9243-23266D0A4AFD}"/>
                </a:ext>
              </a:extLst>
            </p:cNvPr>
            <p:cNvSpPr/>
            <p:nvPr/>
          </p:nvSpPr>
          <p:spPr>
            <a:xfrm>
              <a:off x="7086227" y="2209572"/>
              <a:ext cx="648000" cy="360000"/>
            </a:xfrm>
            <a:prstGeom prst="roundRect">
              <a:avLst/>
            </a:prstGeom>
            <a:solidFill>
              <a:schemeClr val="accent1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err="1">
                  <a:solidFill>
                    <a:schemeClr val="bg1"/>
                  </a:solidFill>
                </a:rPr>
                <a:t>mnt</a:t>
              </a:r>
              <a:endParaRPr lang="en-CN" dirty="0">
                <a:solidFill>
                  <a:schemeClr val="bg1"/>
                </a:solidFill>
              </a:endParaRPr>
            </a:p>
          </p:txBody>
        </p:sp>
        <p:sp>
          <p:nvSpPr>
            <p:cNvPr id="35" name="Rounded Rectangle 33">
              <a:extLst>
                <a:ext uri="{FF2B5EF4-FFF2-40B4-BE49-F238E27FC236}">
                  <a16:creationId xmlns:a16="http://schemas.microsoft.com/office/drawing/2014/main" id="{139A3208-2EF9-554D-A49C-5633BDC44323}"/>
                </a:ext>
              </a:extLst>
            </p:cNvPr>
            <p:cNvSpPr/>
            <p:nvPr/>
          </p:nvSpPr>
          <p:spPr>
            <a:xfrm>
              <a:off x="6224075" y="2209572"/>
              <a:ext cx="648000" cy="360000"/>
            </a:xfrm>
            <a:prstGeom prst="round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accent1"/>
                  </a:solidFill>
                </a:rPr>
                <a:t>bin</a:t>
              </a:r>
              <a:endParaRPr lang="en-CN" dirty="0">
                <a:solidFill>
                  <a:schemeClr val="accent1"/>
                </a:solidFill>
              </a:endParaRPr>
            </a:p>
          </p:txBody>
        </p:sp>
        <p:sp>
          <p:nvSpPr>
            <p:cNvPr id="36" name="Rounded Rectangle 34">
              <a:extLst>
                <a:ext uri="{FF2B5EF4-FFF2-40B4-BE49-F238E27FC236}">
                  <a16:creationId xmlns:a16="http://schemas.microsoft.com/office/drawing/2014/main" id="{859980C7-F4D1-EB46-B9C2-26194CC98B14}"/>
                </a:ext>
              </a:extLst>
            </p:cNvPr>
            <p:cNvSpPr/>
            <p:nvPr/>
          </p:nvSpPr>
          <p:spPr>
            <a:xfrm>
              <a:off x="6657200" y="2857500"/>
              <a:ext cx="648000" cy="360000"/>
            </a:xfrm>
            <a:prstGeom prst="roundRect">
              <a:avLst/>
            </a:prstGeom>
            <a:solidFill>
              <a:schemeClr val="accent1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</a:rPr>
                <a:t>log</a:t>
              </a:r>
              <a:endParaRPr lang="en-CN" dirty="0">
                <a:solidFill>
                  <a:schemeClr val="bg1"/>
                </a:solidFill>
              </a:endParaRPr>
            </a:p>
          </p:txBody>
        </p:sp>
        <p:sp>
          <p:nvSpPr>
            <p:cNvPr id="37" name="Rounded Rectangle 35">
              <a:extLst>
                <a:ext uri="{FF2B5EF4-FFF2-40B4-BE49-F238E27FC236}">
                  <a16:creationId xmlns:a16="http://schemas.microsoft.com/office/drawing/2014/main" id="{DDF69DFA-9BD9-2C40-961B-D01485D35FD7}"/>
                </a:ext>
              </a:extLst>
            </p:cNvPr>
            <p:cNvSpPr/>
            <p:nvPr/>
          </p:nvSpPr>
          <p:spPr>
            <a:xfrm>
              <a:off x="7616963" y="2857500"/>
              <a:ext cx="648000" cy="360000"/>
            </a:xfrm>
            <a:prstGeom prst="roundRect">
              <a:avLst/>
            </a:prstGeom>
            <a:solidFill>
              <a:schemeClr val="accent1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</a:rPr>
                <a:t>var</a:t>
              </a:r>
              <a:endParaRPr lang="en-CN" dirty="0">
                <a:solidFill>
                  <a:schemeClr val="bg1"/>
                </a:solidFill>
              </a:endParaRPr>
            </a:p>
          </p:txBody>
        </p:sp>
        <p:cxnSp>
          <p:nvCxnSpPr>
            <p:cNvPr id="38" name="Straight Arrow Connector 36">
              <a:extLst>
                <a:ext uri="{FF2B5EF4-FFF2-40B4-BE49-F238E27FC236}">
                  <a16:creationId xmlns:a16="http://schemas.microsoft.com/office/drawing/2014/main" id="{F1199F10-FDEB-ED45-844E-7306A3338822}"/>
                </a:ext>
              </a:extLst>
            </p:cNvPr>
            <p:cNvCxnSpPr>
              <a:cxnSpLocks/>
              <a:stCxn id="32" idx="2"/>
              <a:endCxn id="33" idx="0"/>
            </p:cNvCxnSpPr>
            <p:nvPr/>
          </p:nvCxnSpPr>
          <p:spPr>
            <a:xfrm flipH="1">
              <a:off x="5685509" y="1833900"/>
              <a:ext cx="866664" cy="375672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7">
              <a:extLst>
                <a:ext uri="{FF2B5EF4-FFF2-40B4-BE49-F238E27FC236}">
                  <a16:creationId xmlns:a16="http://schemas.microsoft.com/office/drawing/2014/main" id="{14B7DFBB-5E93-7840-BCBF-B1F1C20E2E8C}"/>
                </a:ext>
              </a:extLst>
            </p:cNvPr>
            <p:cNvCxnSpPr>
              <a:cxnSpLocks/>
              <a:stCxn id="32" idx="2"/>
              <a:endCxn id="35" idx="0"/>
            </p:cNvCxnSpPr>
            <p:nvPr/>
          </p:nvCxnSpPr>
          <p:spPr>
            <a:xfrm flipH="1">
              <a:off x="6548075" y="1833900"/>
              <a:ext cx="4098" cy="375672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8">
              <a:extLst>
                <a:ext uri="{FF2B5EF4-FFF2-40B4-BE49-F238E27FC236}">
                  <a16:creationId xmlns:a16="http://schemas.microsoft.com/office/drawing/2014/main" id="{D6CA9F3F-33D9-1645-A8FD-4E54B7003945}"/>
                </a:ext>
              </a:extLst>
            </p:cNvPr>
            <p:cNvCxnSpPr>
              <a:cxnSpLocks/>
              <a:stCxn id="32" idx="2"/>
              <a:endCxn id="34" idx="0"/>
            </p:cNvCxnSpPr>
            <p:nvPr/>
          </p:nvCxnSpPr>
          <p:spPr>
            <a:xfrm>
              <a:off x="6552173" y="1833900"/>
              <a:ext cx="858054" cy="375672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39">
              <a:extLst>
                <a:ext uri="{FF2B5EF4-FFF2-40B4-BE49-F238E27FC236}">
                  <a16:creationId xmlns:a16="http://schemas.microsoft.com/office/drawing/2014/main" id="{87C395F0-14E1-3E46-9202-C8AD91749CB3}"/>
                </a:ext>
              </a:extLst>
            </p:cNvPr>
            <p:cNvCxnSpPr>
              <a:cxnSpLocks/>
              <a:stCxn id="34" idx="2"/>
              <a:endCxn id="36" idx="0"/>
            </p:cNvCxnSpPr>
            <p:nvPr/>
          </p:nvCxnSpPr>
          <p:spPr>
            <a:xfrm flipH="1">
              <a:off x="6981200" y="2569572"/>
              <a:ext cx="429027" cy="287928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0">
              <a:extLst>
                <a:ext uri="{FF2B5EF4-FFF2-40B4-BE49-F238E27FC236}">
                  <a16:creationId xmlns:a16="http://schemas.microsoft.com/office/drawing/2014/main" id="{7CF868CA-9E59-2542-91B0-C33B85607EB7}"/>
                </a:ext>
              </a:extLst>
            </p:cNvPr>
            <p:cNvCxnSpPr>
              <a:cxnSpLocks/>
              <a:stCxn id="34" idx="2"/>
              <a:endCxn id="37" idx="0"/>
            </p:cNvCxnSpPr>
            <p:nvPr/>
          </p:nvCxnSpPr>
          <p:spPr>
            <a:xfrm>
              <a:off x="7410227" y="2569572"/>
              <a:ext cx="530736" cy="287928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Rectangle 67">
            <a:extLst>
              <a:ext uri="{FF2B5EF4-FFF2-40B4-BE49-F238E27FC236}">
                <a16:creationId xmlns:a16="http://schemas.microsoft.com/office/drawing/2014/main" id="{D396B5CE-C3BE-E24F-A1AF-AD1427814AC3}"/>
              </a:ext>
            </a:extLst>
          </p:cNvPr>
          <p:cNvSpPr/>
          <p:nvPr/>
        </p:nvSpPr>
        <p:spPr>
          <a:xfrm>
            <a:off x="5508104" y="3217540"/>
            <a:ext cx="3384376" cy="1944216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Ins="90000" rtlCol="0" anchor="t" anchorCtr="0"/>
          <a:lstStyle/>
          <a:p>
            <a:pPr algn="ctr"/>
            <a:r>
              <a:rPr lang="en-US" altLang="zh-CN" dirty="0">
                <a:solidFill>
                  <a:schemeClr val="accent1"/>
                </a:solidFill>
              </a:rPr>
              <a:t>                                          NS 1</a:t>
            </a:r>
          </a:p>
        </p:txBody>
      </p:sp>
      <p:sp>
        <p:nvSpPr>
          <p:cNvPr id="44" name="Down Arrow 69">
            <a:extLst>
              <a:ext uri="{FF2B5EF4-FFF2-40B4-BE49-F238E27FC236}">
                <a16:creationId xmlns:a16="http://schemas.microsoft.com/office/drawing/2014/main" id="{95839218-B8AC-B74D-88B1-577E93B937DA}"/>
              </a:ext>
            </a:extLst>
          </p:cNvPr>
          <p:cNvSpPr/>
          <p:nvPr/>
        </p:nvSpPr>
        <p:spPr>
          <a:xfrm>
            <a:off x="5726932" y="2475701"/>
            <a:ext cx="655843" cy="1276632"/>
          </a:xfrm>
          <a:prstGeom prst="downArrow">
            <a:avLst/>
          </a:prstGeom>
          <a:solidFill>
            <a:schemeClr val="accent1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ja-JP" altLang="en-US" sz="1400"/>
              <a:t>创建子进程</a:t>
            </a:r>
            <a:endParaRPr lang="en-CN" sz="1400" dirty="0"/>
          </a:p>
        </p:txBody>
      </p:sp>
      <p:sp>
        <p:nvSpPr>
          <p:cNvPr id="45" name="TextBox 71">
            <a:extLst>
              <a:ext uri="{FF2B5EF4-FFF2-40B4-BE49-F238E27FC236}">
                <a16:creationId xmlns:a16="http://schemas.microsoft.com/office/drawing/2014/main" id="{F330870A-0720-2A48-B2FF-181F05D1C4F8}"/>
              </a:ext>
            </a:extLst>
          </p:cNvPr>
          <p:cNvSpPr txBox="1"/>
          <p:nvPr/>
        </p:nvSpPr>
        <p:spPr>
          <a:xfrm>
            <a:off x="8130733" y="1886342"/>
            <a:ext cx="761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highlight>
                  <a:srgbClr val="FFFF00"/>
                </a:highlight>
              </a:rPr>
              <a:t>EXT4</a:t>
            </a:r>
            <a:endParaRPr lang="en-CN" dirty="0">
              <a:highlight>
                <a:srgbClr val="FFFF00"/>
              </a:highlight>
            </a:endParaRPr>
          </a:p>
        </p:txBody>
      </p:sp>
      <p:sp>
        <p:nvSpPr>
          <p:cNvPr id="46" name="TextBox 72">
            <a:extLst>
              <a:ext uri="{FF2B5EF4-FFF2-40B4-BE49-F238E27FC236}">
                <a16:creationId xmlns:a16="http://schemas.microsoft.com/office/drawing/2014/main" id="{6B44D850-2EA0-614C-8895-B713C9FE5A55}"/>
              </a:ext>
            </a:extLst>
          </p:cNvPr>
          <p:cNvSpPr txBox="1"/>
          <p:nvPr/>
        </p:nvSpPr>
        <p:spPr>
          <a:xfrm>
            <a:off x="8134974" y="4071217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highlight>
                  <a:srgbClr val="FFFF00"/>
                </a:highlight>
              </a:rPr>
              <a:t>XFS</a:t>
            </a:r>
            <a:endParaRPr lang="en-CN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179356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39 -0.00166 L 0.00035 0.38472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7" y="1930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5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  <p:bldP spid="44" grpId="0" animBg="1"/>
      <p:bldP spid="46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0D6FE-7FBC-1E47-8583-00F8C0D1B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</a:t>
            </a:r>
            <a:r>
              <a:rPr lang="zh-CN" altLang="en-US" dirty="0"/>
              <a:t>、</a:t>
            </a:r>
            <a:r>
              <a:rPr lang="en-US" altLang="ja-JP" dirty="0"/>
              <a:t>IPC</a:t>
            </a:r>
            <a:r>
              <a:rPr lang="zh-CN" altLang="en-US" dirty="0"/>
              <a:t> </a:t>
            </a:r>
            <a:r>
              <a:rPr lang="en-US" altLang="zh-CN" dirty="0"/>
              <a:t>Namespace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0EB339-624B-A34F-9BF3-0FD64ECB31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/>
              <a:t>不同</a:t>
            </a:r>
            <a:r>
              <a:rPr lang="ja-JP" altLang="en-CN"/>
              <a:t>容器内</a:t>
            </a:r>
            <a:r>
              <a:rPr lang="ja-JP" altLang="en-US"/>
              <a:t>的进程</a:t>
            </a:r>
            <a:r>
              <a:rPr lang="zh-CN" altLang="en-US" dirty="0"/>
              <a:t>若</a:t>
            </a:r>
            <a:r>
              <a:rPr lang="ja-JP" altLang="en-US"/>
              <a:t>共享</a:t>
            </a:r>
            <a:r>
              <a:rPr lang="en-US" altLang="ja-JP" dirty="0"/>
              <a:t>IPC</a:t>
            </a:r>
            <a:r>
              <a:rPr lang="ja-JP" altLang="en-US"/>
              <a:t>对象会发生什么</a:t>
            </a:r>
            <a:r>
              <a:rPr lang="zh-CN" altLang="en-US" dirty="0"/>
              <a:t>？</a:t>
            </a:r>
            <a:endParaRPr lang="en-US" altLang="ja-JP" dirty="0"/>
          </a:p>
          <a:p>
            <a:endParaRPr lang="en-US" altLang="ja-JP" dirty="0"/>
          </a:p>
          <a:p>
            <a:r>
              <a:rPr lang="ja-JP" altLang="en-US"/>
              <a:t>假设有两个容器</a:t>
            </a:r>
            <a:r>
              <a:rPr lang="en-US" altLang="ja-JP" dirty="0"/>
              <a:t>A</a:t>
            </a:r>
            <a:r>
              <a:rPr lang="ja-JP" altLang="en-US"/>
              <a:t>和</a:t>
            </a:r>
            <a:r>
              <a:rPr lang="en-US" altLang="ja-JP" dirty="0"/>
              <a:t>B</a:t>
            </a:r>
          </a:p>
          <a:p>
            <a:pPr lvl="1"/>
            <a:r>
              <a:rPr lang="en-US" altLang="zh-CN" dirty="0"/>
              <a:t>A</a:t>
            </a:r>
            <a:r>
              <a:rPr lang="ja-JP" altLang="en-US"/>
              <a:t>中进程使用名为</a:t>
            </a:r>
            <a:r>
              <a:rPr lang="zh-CN" altLang="en-US" dirty="0"/>
              <a:t>“</a:t>
            </a:r>
            <a:r>
              <a:rPr lang="en-US" altLang="zh-CN" dirty="0" err="1"/>
              <a:t>my_mem</a:t>
            </a:r>
            <a:r>
              <a:rPr lang="zh-CN" altLang="en-US" dirty="0"/>
              <a:t>”</a:t>
            </a:r>
            <a:r>
              <a:rPr lang="ja-JP" altLang="en-US"/>
              <a:t>共享内存进行数据共享</a:t>
            </a:r>
            <a:endParaRPr lang="en-US" altLang="ja-JP" dirty="0"/>
          </a:p>
          <a:p>
            <a:pPr lvl="1"/>
            <a:r>
              <a:rPr lang="en-US" altLang="ja-JP" dirty="0"/>
              <a:t>B</a:t>
            </a:r>
            <a:r>
              <a:rPr lang="ja-JP" altLang="en-US"/>
              <a:t>中进程也使用名为</a:t>
            </a:r>
            <a:r>
              <a:rPr lang="zh-CN" altLang="en-US" dirty="0"/>
              <a:t>“</a:t>
            </a:r>
            <a:r>
              <a:rPr lang="en-US" altLang="zh-CN" dirty="0" err="1"/>
              <a:t>my_mem</a:t>
            </a:r>
            <a:r>
              <a:rPr lang="zh-CN" altLang="en-US" dirty="0"/>
              <a:t>”</a:t>
            </a:r>
            <a:r>
              <a:rPr lang="ja-JP" altLang="en-US"/>
              <a:t>共享内存进行通信</a:t>
            </a:r>
            <a:endParaRPr lang="en-US" altLang="ja-JP" dirty="0"/>
          </a:p>
          <a:p>
            <a:pPr lvl="1"/>
            <a:r>
              <a:rPr lang="en-US" altLang="ja-JP" dirty="0"/>
              <a:t>B</a:t>
            </a:r>
            <a:r>
              <a:rPr lang="ja-JP" altLang="en-US"/>
              <a:t>中进程可能收到</a:t>
            </a:r>
            <a:r>
              <a:rPr lang="en-US" altLang="ja-JP" dirty="0"/>
              <a:t>A</a:t>
            </a:r>
            <a:r>
              <a:rPr lang="ja-JP" altLang="en-US"/>
              <a:t>中进程的数据</a:t>
            </a:r>
            <a:r>
              <a:rPr lang="zh-CN" altLang="en-US" dirty="0"/>
              <a:t>，</a:t>
            </a:r>
            <a:r>
              <a:rPr lang="ja-JP" altLang="en-US"/>
              <a:t>导致出错以及数据泄露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D868DE-1107-EF47-87E8-D2E388A53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32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2FB088-080C-774E-A79A-B449E156D9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0188148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FFFA3-9336-7245-9B81-BFA9D7741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ja-JP" dirty="0"/>
              <a:t>IPC</a:t>
            </a:r>
            <a:r>
              <a:rPr lang="zh-CN" altLang="en-US" dirty="0"/>
              <a:t> </a:t>
            </a:r>
            <a:r>
              <a:rPr lang="en-US" altLang="zh-CN" dirty="0"/>
              <a:t>Namespace</a:t>
            </a:r>
            <a:r>
              <a:rPr lang="ja-JP" altLang="en-US"/>
              <a:t>的实现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05007D-6F76-0142-8EAC-1D7476A84C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ja-JP" altLang="en-US"/>
              <a:t>使</a:t>
            </a:r>
            <a:r>
              <a:rPr lang="zh-CN" altLang="en-US" dirty="0"/>
              <a:t>每个</a:t>
            </a:r>
            <a:r>
              <a:rPr lang="en-US" altLang="zh-CN" dirty="0"/>
              <a:t>IPC</a:t>
            </a:r>
            <a:r>
              <a:rPr lang="zh-CN" altLang="en-US" dirty="0"/>
              <a:t>对象只能属于一个</a:t>
            </a:r>
            <a:r>
              <a:rPr lang="en-US" altLang="zh-CN" dirty="0"/>
              <a:t>NS</a:t>
            </a:r>
            <a:endParaRPr lang="en-US" altLang="ja-JP" dirty="0"/>
          </a:p>
          <a:p>
            <a:pPr lvl="1"/>
            <a:r>
              <a:rPr lang="ja-JP" altLang="en-US"/>
              <a:t>每个</a:t>
            </a:r>
            <a:r>
              <a:rPr lang="en-US" altLang="ja-JP" dirty="0"/>
              <a:t>NS</a:t>
            </a:r>
            <a:r>
              <a:rPr lang="ja-JP" altLang="en-US"/>
              <a:t>单独记录属于自己的</a:t>
            </a:r>
            <a:r>
              <a:rPr lang="en-US" altLang="ja-JP" dirty="0"/>
              <a:t>IPC</a:t>
            </a:r>
            <a:r>
              <a:rPr lang="ja-JP" altLang="en-US"/>
              <a:t>对象</a:t>
            </a:r>
            <a:endParaRPr lang="en-US" altLang="ja-JP" dirty="0"/>
          </a:p>
          <a:p>
            <a:pPr lvl="1"/>
            <a:r>
              <a:rPr lang="ja-JP" altLang="en-US"/>
              <a:t>进程只能在当前</a:t>
            </a:r>
            <a:r>
              <a:rPr lang="en-US" altLang="ja-JP" dirty="0"/>
              <a:t>NS</a:t>
            </a:r>
            <a:r>
              <a:rPr lang="ja-JP" altLang="en-US"/>
              <a:t>中寻找</a:t>
            </a:r>
            <a:r>
              <a:rPr lang="en-US" altLang="ja-JP" dirty="0"/>
              <a:t>IPC</a:t>
            </a:r>
            <a:r>
              <a:rPr lang="ja-JP" altLang="en-US"/>
              <a:t>对象</a:t>
            </a:r>
            <a:endParaRPr lang="en-US" altLang="ja-JP" dirty="0"/>
          </a:p>
          <a:p>
            <a:pPr lvl="1"/>
            <a:endParaRPr lang="en-US" altLang="zh-CN" dirty="0"/>
          </a:p>
          <a:p>
            <a:r>
              <a:rPr lang="zh-CN" altLang="en-US" dirty="0"/>
              <a:t>图例</a:t>
            </a:r>
            <a:endParaRPr lang="en-US" altLang="zh-CN" dirty="0"/>
          </a:p>
          <a:p>
            <a:pPr lvl="1"/>
            <a:r>
              <a:rPr lang="zh-CN" altLang="en-US" dirty="0"/>
              <a:t>即使不同</a:t>
            </a:r>
            <a:r>
              <a:rPr lang="en-US" altLang="zh-CN" dirty="0"/>
              <a:t>NS</a:t>
            </a:r>
            <a:r>
              <a:rPr lang="zh-CN" altLang="en-US" dirty="0"/>
              <a:t>的共享内存</a:t>
            </a:r>
            <a:r>
              <a:rPr lang="en-US" altLang="zh-CN" dirty="0"/>
              <a:t>ID</a:t>
            </a:r>
            <a:r>
              <a:rPr lang="zh-CN" altLang="en-US" dirty="0"/>
              <a:t>均为</a:t>
            </a:r>
            <a:br>
              <a:rPr lang="en-US" altLang="zh-CN" dirty="0"/>
            </a:br>
            <a:r>
              <a:rPr lang="en-US" altLang="zh-CN" dirty="0" err="1"/>
              <a:t>my_mem</a:t>
            </a:r>
            <a:r>
              <a:rPr lang="zh-CN" altLang="en-US" dirty="0"/>
              <a:t> </a:t>
            </a:r>
            <a:r>
              <a:rPr lang="en-US" altLang="zh-CN" dirty="0">
                <a:sym typeface="Wingdings" pitchFamily="2" charset="2"/>
              </a:rPr>
              <a:t></a:t>
            </a:r>
            <a:r>
              <a:rPr lang="zh-CN" altLang="en-US" dirty="0">
                <a:sym typeface="Wingdings" pitchFamily="2" charset="2"/>
              </a:rPr>
              <a:t> </a:t>
            </a:r>
            <a:r>
              <a:rPr lang="ja-JP" altLang="en-US">
                <a:sym typeface="Wingdings" pitchFamily="2" charset="2"/>
              </a:rPr>
              <a:t>不同的共享内存</a:t>
            </a:r>
            <a:endParaRPr lang="en-US" altLang="zh-CN" dirty="0"/>
          </a:p>
          <a:p>
            <a:pPr lvl="2"/>
            <a:endParaRPr lang="en-US" altLang="ja-JP" dirty="0"/>
          </a:p>
          <a:p>
            <a:endParaRPr lang="en-US" altLang="ja-JP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D9AEDD-B84F-B746-B1A2-2574F873F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33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05401B-EEE8-074B-BA09-F92552B469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6" name="Rectangle 42">
            <a:extLst>
              <a:ext uri="{FF2B5EF4-FFF2-40B4-BE49-F238E27FC236}">
                <a16:creationId xmlns:a16="http://schemas.microsoft.com/office/drawing/2014/main" id="{0EFF795C-4B3E-FB42-99E6-C37D445EB469}"/>
              </a:ext>
            </a:extLst>
          </p:cNvPr>
          <p:cNvSpPr/>
          <p:nvPr/>
        </p:nvSpPr>
        <p:spPr>
          <a:xfrm>
            <a:off x="5729837" y="3654637"/>
            <a:ext cx="3096344" cy="1296286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Ins="90000" rtlCol="0" anchor="t" anchorCtr="0"/>
          <a:lstStyle/>
          <a:p>
            <a:pPr algn="ctr"/>
            <a:r>
              <a:rPr lang="zh-CN" altLang="en-US" dirty="0">
                <a:solidFill>
                  <a:schemeClr val="accent1"/>
                </a:solidFill>
              </a:rPr>
              <a:t>                                     </a:t>
            </a:r>
            <a:r>
              <a:rPr lang="en-US" altLang="zh-CN" dirty="0">
                <a:solidFill>
                  <a:schemeClr val="accent1"/>
                </a:solidFill>
              </a:rPr>
              <a:t>NS</a:t>
            </a:r>
            <a:r>
              <a:rPr lang="zh-CN" altLang="en-US" dirty="0">
                <a:solidFill>
                  <a:schemeClr val="accent1"/>
                </a:solidFill>
              </a:rPr>
              <a:t> </a:t>
            </a:r>
            <a:r>
              <a:rPr lang="en-US" altLang="zh-CN" dirty="0">
                <a:solidFill>
                  <a:schemeClr val="accent1"/>
                </a:solidFill>
              </a:rPr>
              <a:t>1</a:t>
            </a:r>
          </a:p>
        </p:txBody>
      </p:sp>
      <p:sp>
        <p:nvSpPr>
          <p:cNvPr id="7" name="Rounded Rectangle 52">
            <a:extLst>
              <a:ext uri="{FF2B5EF4-FFF2-40B4-BE49-F238E27FC236}">
                <a16:creationId xmlns:a16="http://schemas.microsoft.com/office/drawing/2014/main" id="{012D7AA4-E180-1342-B779-87BEF0F79014}"/>
              </a:ext>
            </a:extLst>
          </p:cNvPr>
          <p:cNvSpPr/>
          <p:nvPr/>
        </p:nvSpPr>
        <p:spPr>
          <a:xfrm>
            <a:off x="6590848" y="3852323"/>
            <a:ext cx="1169522" cy="360000"/>
          </a:xfrm>
          <a:prstGeom prst="roundRect">
            <a:avLst/>
          </a:prstGeom>
          <a:solidFill>
            <a:schemeClr val="accent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>
                <a:solidFill>
                  <a:schemeClr val="bg1"/>
                </a:solidFill>
              </a:rPr>
              <a:t>my_mem</a:t>
            </a:r>
            <a:endParaRPr lang="en-CN" dirty="0">
              <a:solidFill>
                <a:schemeClr val="bg1"/>
              </a:solidFill>
            </a:endParaRPr>
          </a:p>
        </p:txBody>
      </p:sp>
      <p:sp>
        <p:nvSpPr>
          <p:cNvPr id="8" name="Rounded Rectangle 53">
            <a:extLst>
              <a:ext uri="{FF2B5EF4-FFF2-40B4-BE49-F238E27FC236}">
                <a16:creationId xmlns:a16="http://schemas.microsoft.com/office/drawing/2014/main" id="{FAA84C02-C645-5941-A7F5-0A37D8FCC059}"/>
              </a:ext>
            </a:extLst>
          </p:cNvPr>
          <p:cNvSpPr/>
          <p:nvPr/>
        </p:nvSpPr>
        <p:spPr>
          <a:xfrm>
            <a:off x="5801845" y="4518915"/>
            <a:ext cx="839383" cy="360000"/>
          </a:xfrm>
          <a:prstGeom prst="round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>
                <a:solidFill>
                  <a:schemeClr val="accent1"/>
                </a:solidFill>
              </a:rPr>
              <a:t>进程</a:t>
            </a:r>
            <a:r>
              <a:rPr lang="en-US" altLang="zh-CN" dirty="0">
                <a:solidFill>
                  <a:schemeClr val="accent1"/>
                </a:solidFill>
              </a:rPr>
              <a:t>2</a:t>
            </a:r>
            <a:endParaRPr lang="en-CN" dirty="0">
              <a:solidFill>
                <a:schemeClr val="accent1"/>
              </a:solidFill>
            </a:endParaRPr>
          </a:p>
        </p:txBody>
      </p:sp>
      <p:sp>
        <p:nvSpPr>
          <p:cNvPr id="9" name="Rounded Rectangle 54">
            <a:extLst>
              <a:ext uri="{FF2B5EF4-FFF2-40B4-BE49-F238E27FC236}">
                <a16:creationId xmlns:a16="http://schemas.microsoft.com/office/drawing/2014/main" id="{F02333C8-13BC-B24E-A983-613E345F53F3}"/>
              </a:ext>
            </a:extLst>
          </p:cNvPr>
          <p:cNvSpPr/>
          <p:nvPr/>
        </p:nvSpPr>
        <p:spPr>
          <a:xfrm>
            <a:off x="7731019" y="4518915"/>
            <a:ext cx="839383" cy="360000"/>
          </a:xfrm>
          <a:prstGeom prst="round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>
                <a:solidFill>
                  <a:schemeClr val="accent1"/>
                </a:solidFill>
              </a:rPr>
              <a:t>进程</a:t>
            </a:r>
            <a:r>
              <a:rPr lang="en-US" altLang="zh-CN" dirty="0">
                <a:solidFill>
                  <a:schemeClr val="accent1"/>
                </a:solidFill>
              </a:rPr>
              <a:t>3</a:t>
            </a:r>
            <a:endParaRPr lang="en-CN" dirty="0">
              <a:solidFill>
                <a:schemeClr val="accent1"/>
              </a:solidFill>
            </a:endParaRPr>
          </a:p>
        </p:txBody>
      </p:sp>
      <p:cxnSp>
        <p:nvCxnSpPr>
          <p:cNvPr id="10" name="Elbow Connector 57">
            <a:extLst>
              <a:ext uri="{FF2B5EF4-FFF2-40B4-BE49-F238E27FC236}">
                <a16:creationId xmlns:a16="http://schemas.microsoft.com/office/drawing/2014/main" id="{41001805-1951-CF4E-B962-E83F7B187BF9}"/>
              </a:ext>
            </a:extLst>
          </p:cNvPr>
          <p:cNvCxnSpPr>
            <a:cxnSpLocks/>
            <a:stCxn id="8" idx="0"/>
            <a:endCxn id="7" idx="1"/>
          </p:cNvCxnSpPr>
          <p:nvPr/>
        </p:nvCxnSpPr>
        <p:spPr>
          <a:xfrm rot="5400000" flipH="1" flipV="1">
            <a:off x="6162896" y="4090964"/>
            <a:ext cx="486592" cy="369311"/>
          </a:xfrm>
          <a:prstGeom prst="bentConnector2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60">
            <a:extLst>
              <a:ext uri="{FF2B5EF4-FFF2-40B4-BE49-F238E27FC236}">
                <a16:creationId xmlns:a16="http://schemas.microsoft.com/office/drawing/2014/main" id="{2DDF9739-D4C1-C842-BE25-F38E2DA8DCDF}"/>
              </a:ext>
            </a:extLst>
          </p:cNvPr>
          <p:cNvCxnSpPr>
            <a:cxnSpLocks/>
            <a:endCxn id="7" idx="3"/>
          </p:cNvCxnSpPr>
          <p:nvPr/>
        </p:nvCxnSpPr>
        <p:spPr>
          <a:xfrm rot="16200000" flipV="1">
            <a:off x="7703844" y="4088849"/>
            <a:ext cx="545008" cy="431956"/>
          </a:xfrm>
          <a:prstGeom prst="bentConnector2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76">
            <a:extLst>
              <a:ext uri="{FF2B5EF4-FFF2-40B4-BE49-F238E27FC236}">
                <a16:creationId xmlns:a16="http://schemas.microsoft.com/office/drawing/2014/main" id="{D9AEC610-EE4B-5F48-A8CA-2BA31CBB033B}"/>
              </a:ext>
            </a:extLst>
          </p:cNvPr>
          <p:cNvSpPr/>
          <p:nvPr/>
        </p:nvSpPr>
        <p:spPr>
          <a:xfrm>
            <a:off x="5724128" y="1417340"/>
            <a:ext cx="3096344" cy="1296286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Ins="90000" rtlCol="0" anchor="t" anchorCtr="0"/>
          <a:lstStyle/>
          <a:p>
            <a:pPr algn="ctr"/>
            <a:r>
              <a:rPr lang="zh-CN" altLang="en-US" dirty="0">
                <a:solidFill>
                  <a:schemeClr val="accent1"/>
                </a:solidFill>
              </a:rPr>
              <a:t>                                     </a:t>
            </a:r>
            <a:r>
              <a:rPr lang="en-US" altLang="zh-CN" dirty="0">
                <a:solidFill>
                  <a:schemeClr val="accent1"/>
                </a:solidFill>
              </a:rPr>
              <a:t>NS</a:t>
            </a:r>
            <a:r>
              <a:rPr lang="zh-CN" altLang="en-US" dirty="0">
                <a:solidFill>
                  <a:schemeClr val="accent1"/>
                </a:solidFill>
              </a:rPr>
              <a:t> </a:t>
            </a:r>
            <a:r>
              <a:rPr lang="en-US" altLang="zh-CN" dirty="0">
                <a:solidFill>
                  <a:schemeClr val="accent1"/>
                </a:solidFill>
              </a:rPr>
              <a:t>0</a:t>
            </a:r>
          </a:p>
        </p:txBody>
      </p:sp>
      <p:sp>
        <p:nvSpPr>
          <p:cNvPr id="13" name="Rounded Rectangle 77">
            <a:extLst>
              <a:ext uri="{FF2B5EF4-FFF2-40B4-BE49-F238E27FC236}">
                <a16:creationId xmlns:a16="http://schemas.microsoft.com/office/drawing/2014/main" id="{FF6E07A6-0E5D-1145-A73D-E34EDE412FDD}"/>
              </a:ext>
            </a:extLst>
          </p:cNvPr>
          <p:cNvSpPr/>
          <p:nvPr/>
        </p:nvSpPr>
        <p:spPr>
          <a:xfrm>
            <a:off x="6585139" y="1602753"/>
            <a:ext cx="1169522" cy="360000"/>
          </a:xfrm>
          <a:prstGeom prst="roundRect">
            <a:avLst/>
          </a:prstGeom>
          <a:solidFill>
            <a:schemeClr val="accent3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>
                <a:solidFill>
                  <a:schemeClr val="bg1"/>
                </a:solidFill>
              </a:rPr>
              <a:t>my_mem</a:t>
            </a:r>
            <a:endParaRPr lang="en-CN" dirty="0">
              <a:solidFill>
                <a:schemeClr val="bg1"/>
              </a:solidFill>
            </a:endParaRPr>
          </a:p>
        </p:txBody>
      </p:sp>
      <p:sp>
        <p:nvSpPr>
          <p:cNvPr id="14" name="Rounded Rectangle 78">
            <a:extLst>
              <a:ext uri="{FF2B5EF4-FFF2-40B4-BE49-F238E27FC236}">
                <a16:creationId xmlns:a16="http://schemas.microsoft.com/office/drawing/2014/main" id="{4CB35D63-4F11-1540-BC8C-61EA7728D568}"/>
              </a:ext>
            </a:extLst>
          </p:cNvPr>
          <p:cNvSpPr/>
          <p:nvPr/>
        </p:nvSpPr>
        <p:spPr>
          <a:xfrm>
            <a:off x="5796136" y="2281618"/>
            <a:ext cx="839383" cy="360000"/>
          </a:xfrm>
          <a:prstGeom prst="round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>
                <a:solidFill>
                  <a:schemeClr val="accent1"/>
                </a:solidFill>
              </a:rPr>
              <a:t>进程</a:t>
            </a:r>
            <a:r>
              <a:rPr lang="en-US" altLang="zh-CN" dirty="0">
                <a:solidFill>
                  <a:schemeClr val="accent1"/>
                </a:solidFill>
              </a:rPr>
              <a:t>2</a:t>
            </a:r>
            <a:endParaRPr lang="en-CN" dirty="0">
              <a:solidFill>
                <a:schemeClr val="accent1"/>
              </a:solidFill>
            </a:endParaRPr>
          </a:p>
        </p:txBody>
      </p:sp>
      <p:sp>
        <p:nvSpPr>
          <p:cNvPr id="15" name="Rounded Rectangle 79">
            <a:extLst>
              <a:ext uri="{FF2B5EF4-FFF2-40B4-BE49-F238E27FC236}">
                <a16:creationId xmlns:a16="http://schemas.microsoft.com/office/drawing/2014/main" id="{386F8665-5673-C942-A5E2-F8DC85A5D9E3}"/>
              </a:ext>
            </a:extLst>
          </p:cNvPr>
          <p:cNvSpPr/>
          <p:nvPr/>
        </p:nvSpPr>
        <p:spPr>
          <a:xfrm>
            <a:off x="7725310" y="2281618"/>
            <a:ext cx="839383" cy="360000"/>
          </a:xfrm>
          <a:prstGeom prst="round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>
                <a:solidFill>
                  <a:schemeClr val="accent1"/>
                </a:solidFill>
              </a:rPr>
              <a:t>进程</a:t>
            </a:r>
            <a:r>
              <a:rPr lang="en-US" altLang="zh-CN" dirty="0">
                <a:solidFill>
                  <a:schemeClr val="accent1"/>
                </a:solidFill>
              </a:rPr>
              <a:t>3</a:t>
            </a:r>
            <a:endParaRPr lang="en-CN" dirty="0">
              <a:solidFill>
                <a:schemeClr val="accent1"/>
              </a:solidFill>
            </a:endParaRPr>
          </a:p>
        </p:txBody>
      </p:sp>
      <p:cxnSp>
        <p:nvCxnSpPr>
          <p:cNvPr id="16" name="Elbow Connector 80">
            <a:extLst>
              <a:ext uri="{FF2B5EF4-FFF2-40B4-BE49-F238E27FC236}">
                <a16:creationId xmlns:a16="http://schemas.microsoft.com/office/drawing/2014/main" id="{D26C8154-8951-2940-AC91-6731487BC92B}"/>
              </a:ext>
            </a:extLst>
          </p:cNvPr>
          <p:cNvCxnSpPr>
            <a:cxnSpLocks/>
            <a:stCxn id="14" idx="0"/>
            <a:endCxn id="13" idx="1"/>
          </p:cNvCxnSpPr>
          <p:nvPr/>
        </p:nvCxnSpPr>
        <p:spPr>
          <a:xfrm rot="5400000" flipH="1" flipV="1">
            <a:off x="6151051" y="1847531"/>
            <a:ext cx="498865" cy="369311"/>
          </a:xfrm>
          <a:prstGeom prst="bentConnector2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Elbow Connector 81">
            <a:extLst>
              <a:ext uri="{FF2B5EF4-FFF2-40B4-BE49-F238E27FC236}">
                <a16:creationId xmlns:a16="http://schemas.microsoft.com/office/drawing/2014/main" id="{DAFDE905-19DC-9E45-A1EE-C16B3F27AA3C}"/>
              </a:ext>
            </a:extLst>
          </p:cNvPr>
          <p:cNvCxnSpPr>
            <a:cxnSpLocks/>
            <a:endCxn id="13" idx="3"/>
          </p:cNvCxnSpPr>
          <p:nvPr/>
        </p:nvCxnSpPr>
        <p:spPr>
          <a:xfrm rot="16200000" flipV="1">
            <a:off x="7698135" y="1839279"/>
            <a:ext cx="545008" cy="431956"/>
          </a:xfrm>
          <a:prstGeom prst="bentConnector2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83">
            <a:extLst>
              <a:ext uri="{FF2B5EF4-FFF2-40B4-BE49-F238E27FC236}">
                <a16:creationId xmlns:a16="http://schemas.microsoft.com/office/drawing/2014/main" id="{9C9DA2C5-8A0E-CA4E-83C1-00AEFD29A11C}"/>
              </a:ext>
            </a:extLst>
          </p:cNvPr>
          <p:cNvCxnSpPr>
            <a:stCxn id="12" idx="2"/>
            <a:endCxn id="6" idx="0"/>
          </p:cNvCxnSpPr>
          <p:nvPr/>
        </p:nvCxnSpPr>
        <p:spPr>
          <a:xfrm>
            <a:off x="7272300" y="2713626"/>
            <a:ext cx="5709" cy="941011"/>
          </a:xfrm>
          <a:prstGeom prst="straightConnector1">
            <a:avLst/>
          </a:prstGeom>
          <a:ln w="38100">
            <a:solidFill>
              <a:schemeClr val="tx1"/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Multiply 84">
            <a:extLst>
              <a:ext uri="{FF2B5EF4-FFF2-40B4-BE49-F238E27FC236}">
                <a16:creationId xmlns:a16="http://schemas.microsoft.com/office/drawing/2014/main" id="{390410F4-0BD0-5642-9B1A-91A764B65467}"/>
              </a:ext>
            </a:extLst>
          </p:cNvPr>
          <p:cNvSpPr/>
          <p:nvPr/>
        </p:nvSpPr>
        <p:spPr>
          <a:xfrm>
            <a:off x="7020284" y="2940263"/>
            <a:ext cx="504031" cy="521318"/>
          </a:xfrm>
          <a:prstGeom prst="mathMultiply">
            <a:avLst>
              <a:gd name="adj1" fmla="val 1308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2387630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0D6FE-7FBC-1E47-8583-00F8C0D1B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r>
              <a:rPr lang="zh-CN" altLang="en-US" dirty="0"/>
              <a:t>、</a:t>
            </a:r>
            <a:r>
              <a:rPr lang="en-US" altLang="ja-JP" dirty="0"/>
              <a:t>Network</a:t>
            </a:r>
            <a:r>
              <a:rPr lang="zh-CN" altLang="en-US" dirty="0"/>
              <a:t> </a:t>
            </a:r>
            <a:r>
              <a:rPr lang="en-US" altLang="zh-CN" dirty="0"/>
              <a:t>Namespace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0EB339-624B-A34F-9BF3-0FD64ECB31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/>
              <a:t>不同的</a:t>
            </a:r>
            <a:r>
              <a:rPr lang="ja-JP" altLang="en-CN"/>
              <a:t>容器</a:t>
            </a:r>
            <a:r>
              <a:rPr lang="ja-JP" altLang="en-US"/>
              <a:t>共用一个</a:t>
            </a:r>
            <a:r>
              <a:rPr lang="en-US" altLang="ja-JP" dirty="0"/>
              <a:t>IP</a:t>
            </a:r>
            <a:r>
              <a:rPr lang="ja-JP" altLang="en-US"/>
              <a:t>会发生什么</a:t>
            </a:r>
            <a:r>
              <a:rPr lang="zh-CN" altLang="en-US" dirty="0"/>
              <a:t>？</a:t>
            </a:r>
            <a:endParaRPr lang="en-US" altLang="zh-CN" dirty="0"/>
          </a:p>
          <a:p>
            <a:endParaRPr lang="en-US" altLang="ja-JP" dirty="0"/>
          </a:p>
          <a:p>
            <a:r>
              <a:rPr lang="ja-JP" altLang="en-US"/>
              <a:t>假设有两个容器均提供网络服务</a:t>
            </a:r>
            <a:endParaRPr lang="en-US" altLang="ja-JP" dirty="0"/>
          </a:p>
          <a:p>
            <a:pPr lvl="1"/>
            <a:r>
              <a:rPr lang="ja-JP" altLang="en-US"/>
              <a:t>两个容器的外部用户向同一</a:t>
            </a:r>
            <a:r>
              <a:rPr lang="en-US" altLang="ja-JP" dirty="0"/>
              <a:t>IP</a:t>
            </a:r>
            <a:r>
              <a:rPr lang="ja-JP" altLang="en-US"/>
              <a:t>发送网络服务请求</a:t>
            </a:r>
            <a:endParaRPr lang="en-US" altLang="zh-CN" dirty="0"/>
          </a:p>
          <a:p>
            <a:pPr lvl="1"/>
            <a:r>
              <a:rPr lang="ja-JP" altLang="en-US"/>
              <a:t>主机操作系统不知道该将网络包转发给哪个容器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D868DE-1107-EF47-87E8-D2E388A53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34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2FB088-080C-774E-A79A-B449E156D9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2947221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Content Placeholder 68">
            <a:extLst>
              <a:ext uri="{FF2B5EF4-FFF2-40B4-BE49-F238E27FC236}">
                <a16:creationId xmlns:a16="http://schemas.microsoft.com/office/drawing/2014/main" id="{B1A7A651-A104-7A46-A22A-09C376B44D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ja-JP" altLang="en-US" dirty="0"/>
              <a:t>在虚拟机场景下很常见</a:t>
            </a:r>
            <a:endParaRPr lang="en-US" altLang="ja-JP" dirty="0"/>
          </a:p>
          <a:p>
            <a:pPr lvl="1"/>
            <a:r>
              <a:rPr lang="ja-JP" altLang="en-US" dirty="0"/>
              <a:t>每个虚拟机分配一个</a:t>
            </a:r>
            <a:r>
              <a:rPr lang="en-US" altLang="ja-JP" dirty="0"/>
              <a:t>IP</a:t>
            </a:r>
          </a:p>
          <a:p>
            <a:pPr lvl="2"/>
            <a:r>
              <a:rPr lang="en-CN" dirty="0"/>
              <a:t>IP</a:t>
            </a:r>
            <a:r>
              <a:rPr lang="ja-JP" altLang="en-CN" dirty="0"/>
              <a:t>绑定</a:t>
            </a:r>
            <a:r>
              <a:rPr lang="ja-JP" altLang="en-US" dirty="0"/>
              <a:t>到各自的网络设备上</a:t>
            </a:r>
            <a:endParaRPr lang="en-US" altLang="ja-JP" dirty="0"/>
          </a:p>
          <a:p>
            <a:pPr lvl="1"/>
            <a:r>
              <a:rPr lang="zh-CN" altLang="en-US" dirty="0"/>
              <a:t>内部的</a:t>
            </a:r>
            <a:r>
              <a:rPr lang="ja-JP" altLang="en-US"/>
              <a:t>二级</a:t>
            </a:r>
            <a:r>
              <a:rPr lang="zh-CN" altLang="en-US" dirty="0"/>
              <a:t>虚拟网络设备</a:t>
            </a:r>
            <a:endParaRPr lang="en-US" altLang="ja-JP" dirty="0"/>
          </a:p>
          <a:p>
            <a:pPr lvl="2"/>
            <a:r>
              <a:rPr lang="en-US" altLang="zh-CN" dirty="0"/>
              <a:t>br0:</a:t>
            </a:r>
            <a:r>
              <a:rPr lang="zh-CN" altLang="en-US" dirty="0"/>
              <a:t> 虚拟网桥</a:t>
            </a:r>
            <a:endParaRPr lang="en-US" altLang="zh-CN" dirty="0"/>
          </a:p>
          <a:p>
            <a:pPr lvl="2"/>
            <a:r>
              <a:rPr lang="en-US" altLang="zh-CN" dirty="0"/>
              <a:t>tap:</a:t>
            </a:r>
            <a:r>
              <a:rPr lang="zh-CN" altLang="en-US" dirty="0"/>
              <a:t> 虚拟网络设备</a:t>
            </a:r>
            <a:endParaRPr lang="en-US" altLang="zh-CN" dirty="0"/>
          </a:p>
          <a:p>
            <a:r>
              <a:rPr lang="zh-CN" altLang="en-US" dirty="0"/>
              <a:t>如何</a:t>
            </a:r>
            <a:r>
              <a:rPr lang="ja-JP" altLang="en-US" dirty="0"/>
              <a:t>应用到</a:t>
            </a:r>
            <a:r>
              <a:rPr lang="zh-CN" altLang="en-US" dirty="0"/>
              <a:t>容器场景？</a:t>
            </a:r>
            <a:endParaRPr lang="en-C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543E7D-0F80-EB4E-9FAB-4599DE40E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altLang="zh-CN" dirty="0"/>
              <a:t>Linux</a:t>
            </a:r>
            <a:r>
              <a:rPr lang="ja-JP" altLang="en-CN"/>
              <a:t>对于</a:t>
            </a:r>
            <a:r>
              <a:rPr lang="ja-JP" altLang="en-US"/>
              <a:t>多</a:t>
            </a:r>
            <a:r>
              <a:rPr lang="en-US" altLang="ja-JP" dirty="0"/>
              <a:t>IP</a:t>
            </a:r>
            <a:r>
              <a:rPr lang="ja-JP" altLang="en-US"/>
              <a:t>的支持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4D618D-0243-AB44-9CB5-13E92CB27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35</a:t>
            </a:fld>
            <a:endParaRPr lang="zh-CN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91BC58-A3E5-A043-9651-43DD0526BE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18" name="Rounded Rectangle 77">
            <a:extLst>
              <a:ext uri="{FF2B5EF4-FFF2-40B4-BE49-F238E27FC236}">
                <a16:creationId xmlns:a16="http://schemas.microsoft.com/office/drawing/2014/main" id="{20B45CB1-2934-FE44-A691-4F9CC33BA6DE}"/>
              </a:ext>
            </a:extLst>
          </p:cNvPr>
          <p:cNvSpPr/>
          <p:nvPr/>
        </p:nvSpPr>
        <p:spPr>
          <a:xfrm>
            <a:off x="5367766" y="3287572"/>
            <a:ext cx="3383650" cy="360000"/>
          </a:xfrm>
          <a:prstGeom prst="roundRect">
            <a:avLst/>
          </a:prstGeom>
          <a:solidFill>
            <a:schemeClr val="accent6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1"/>
                </a:solidFill>
              </a:rPr>
              <a:t>br0</a:t>
            </a:r>
            <a:endParaRPr lang="en-CN" dirty="0">
              <a:solidFill>
                <a:schemeClr val="accent1"/>
              </a:solidFill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5630616" y="1489348"/>
            <a:ext cx="1213664" cy="131919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VM0</a:t>
            </a:r>
          </a:p>
          <a:p>
            <a:pPr algn="ctr"/>
            <a:endParaRPr lang="en-US" altLang="zh-CN" dirty="0">
              <a:solidFill>
                <a:schemeClr val="tx1"/>
              </a:solidFill>
            </a:endParaRPr>
          </a:p>
          <a:p>
            <a:pPr algn="ctr"/>
            <a:endParaRPr lang="en-US" altLang="zh-CN" dirty="0">
              <a:solidFill>
                <a:schemeClr val="tx1"/>
              </a:solidFill>
            </a:endParaRPr>
          </a:p>
          <a:p>
            <a:pPr algn="ctr"/>
            <a:endParaRPr lang="en-US" altLang="zh-CN" dirty="0">
              <a:solidFill>
                <a:schemeClr val="tx1"/>
              </a:solidFill>
            </a:endParaRPr>
          </a:p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0" name="圆角矩形 19"/>
          <p:cNvSpPr/>
          <p:nvPr/>
        </p:nvSpPr>
        <p:spPr>
          <a:xfrm>
            <a:off x="5830155" y="3026518"/>
            <a:ext cx="814586" cy="303847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tap0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4" name="圆角矩形 43"/>
          <p:cNvSpPr/>
          <p:nvPr/>
        </p:nvSpPr>
        <p:spPr>
          <a:xfrm>
            <a:off x="7548885" y="3026518"/>
            <a:ext cx="814586" cy="303847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tap1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9" name="圆角矩形 48"/>
          <p:cNvSpPr/>
          <p:nvPr/>
        </p:nvSpPr>
        <p:spPr>
          <a:xfrm>
            <a:off x="7542177" y="3913895"/>
            <a:ext cx="814271" cy="303847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1"/>
                </a:solidFill>
              </a:rPr>
              <a:t>eth0</a:t>
            </a:r>
            <a:endParaRPr lang="zh-CN" altLang="en-US" dirty="0"/>
          </a:p>
        </p:txBody>
      </p:sp>
      <p:cxnSp>
        <p:nvCxnSpPr>
          <p:cNvPr id="50" name="Straight Arrow Connector 31">
            <a:extLst>
              <a:ext uri="{FF2B5EF4-FFF2-40B4-BE49-F238E27FC236}">
                <a16:creationId xmlns:a16="http://schemas.microsoft.com/office/drawing/2014/main" id="{49AC4C82-BB3D-7642-A4BF-7D0CC5D69CEC}"/>
              </a:ext>
            </a:extLst>
          </p:cNvPr>
          <p:cNvCxnSpPr>
            <a:cxnSpLocks/>
            <a:endCxn id="49" idx="0"/>
          </p:cNvCxnSpPr>
          <p:nvPr/>
        </p:nvCxnSpPr>
        <p:spPr>
          <a:xfrm>
            <a:off x="7949312" y="3634212"/>
            <a:ext cx="1" cy="279683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圆角矩形 98"/>
          <p:cNvSpPr/>
          <p:nvPr/>
        </p:nvSpPr>
        <p:spPr>
          <a:xfrm>
            <a:off x="7602611" y="4600432"/>
            <a:ext cx="693401" cy="30384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NIC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100" name="Straight Connector 39">
            <a:extLst>
              <a:ext uri="{FF2B5EF4-FFF2-40B4-BE49-F238E27FC236}">
                <a16:creationId xmlns:a16="http://schemas.microsoft.com/office/drawing/2014/main" id="{962C19A7-3E7A-5945-9C52-A5941376B573}"/>
              </a:ext>
            </a:extLst>
          </p:cNvPr>
          <p:cNvCxnSpPr>
            <a:cxnSpLocks/>
          </p:cNvCxnSpPr>
          <p:nvPr/>
        </p:nvCxnSpPr>
        <p:spPr>
          <a:xfrm>
            <a:off x="4788024" y="4441676"/>
            <a:ext cx="4211960" cy="0"/>
          </a:xfrm>
          <a:prstGeom prst="line">
            <a:avLst/>
          </a:prstGeom>
          <a:ln w="25400"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31">
            <a:extLst>
              <a:ext uri="{FF2B5EF4-FFF2-40B4-BE49-F238E27FC236}">
                <a16:creationId xmlns:a16="http://schemas.microsoft.com/office/drawing/2014/main" id="{49AC4C82-BB3D-7642-A4BF-7D0CC5D69CEC}"/>
              </a:ext>
            </a:extLst>
          </p:cNvPr>
          <p:cNvCxnSpPr>
            <a:cxnSpLocks/>
            <a:stCxn id="49" idx="2"/>
            <a:endCxn id="99" idx="0"/>
          </p:cNvCxnSpPr>
          <p:nvPr/>
        </p:nvCxnSpPr>
        <p:spPr>
          <a:xfrm flipH="1">
            <a:off x="7949312" y="4217742"/>
            <a:ext cx="1" cy="382690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TextBox 56">
            <a:extLst>
              <a:ext uri="{FF2B5EF4-FFF2-40B4-BE49-F238E27FC236}">
                <a16:creationId xmlns:a16="http://schemas.microsoft.com/office/drawing/2014/main" id="{8490D254-840B-F84D-9556-31AABBC772EB}"/>
              </a:ext>
            </a:extLst>
          </p:cNvPr>
          <p:cNvSpPr txBox="1"/>
          <p:nvPr/>
        </p:nvSpPr>
        <p:spPr>
          <a:xfrm>
            <a:off x="4716016" y="4475356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硬件</a:t>
            </a:r>
            <a:endParaRPr lang="en-CN" dirty="0"/>
          </a:p>
        </p:txBody>
      </p:sp>
      <p:sp>
        <p:nvSpPr>
          <p:cNvPr id="40" name="TextBox 56">
            <a:extLst>
              <a:ext uri="{FF2B5EF4-FFF2-40B4-BE49-F238E27FC236}">
                <a16:creationId xmlns:a16="http://schemas.microsoft.com/office/drawing/2014/main" id="{30CB1980-A8F2-4349-9F96-761B68AF85C6}"/>
              </a:ext>
            </a:extLst>
          </p:cNvPr>
          <p:cNvSpPr txBox="1"/>
          <p:nvPr/>
        </p:nvSpPr>
        <p:spPr>
          <a:xfrm>
            <a:off x="5673030" y="2138213"/>
            <a:ext cx="11288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192.168.2.2</a:t>
            </a:r>
            <a:endParaRPr lang="en-CN" sz="1400" dirty="0"/>
          </a:p>
        </p:txBody>
      </p:sp>
      <p:sp>
        <p:nvSpPr>
          <p:cNvPr id="52" name="TextBox 56">
            <a:extLst>
              <a:ext uri="{FF2B5EF4-FFF2-40B4-BE49-F238E27FC236}">
                <a16:creationId xmlns:a16="http://schemas.microsoft.com/office/drawing/2014/main" id="{96C6EC93-013B-DB42-974F-0EE1E1ABC616}"/>
              </a:ext>
            </a:extLst>
          </p:cNvPr>
          <p:cNvSpPr txBox="1"/>
          <p:nvPr/>
        </p:nvSpPr>
        <p:spPr>
          <a:xfrm>
            <a:off x="5789854" y="3626845"/>
            <a:ext cx="11288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192.168.2.1</a:t>
            </a:r>
            <a:endParaRPr lang="en-CN" sz="14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D4B6885-CCD8-5A4A-8B67-D448BF96E58A}"/>
              </a:ext>
            </a:extLst>
          </p:cNvPr>
          <p:cNvSpPr/>
          <p:nvPr/>
        </p:nvSpPr>
        <p:spPr>
          <a:xfrm>
            <a:off x="5697388" y="1790443"/>
            <a:ext cx="1080120" cy="375334"/>
          </a:xfrm>
          <a:prstGeom prst="rect">
            <a:avLst/>
          </a:prstGeom>
          <a:solidFill>
            <a:schemeClr val="accent3"/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CN"/>
              <a:t>协议栈</a:t>
            </a:r>
            <a:endParaRPr lang="en-CN" dirty="0"/>
          </a:p>
        </p:txBody>
      </p:sp>
      <p:sp>
        <p:nvSpPr>
          <p:cNvPr id="54" name="圆角矩形 19">
            <a:extLst>
              <a:ext uri="{FF2B5EF4-FFF2-40B4-BE49-F238E27FC236}">
                <a16:creationId xmlns:a16="http://schemas.microsoft.com/office/drawing/2014/main" id="{94E39813-4C5E-CE49-A442-4ED15229D90B}"/>
              </a:ext>
            </a:extLst>
          </p:cNvPr>
          <p:cNvSpPr/>
          <p:nvPr/>
        </p:nvSpPr>
        <p:spPr>
          <a:xfrm>
            <a:off x="5830155" y="2427158"/>
            <a:ext cx="814586" cy="303847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1"/>
                </a:solidFill>
              </a:rPr>
              <a:t>eth0</a:t>
            </a:r>
            <a:endParaRPr lang="zh-CN" altLang="en-US" dirty="0">
              <a:solidFill>
                <a:schemeClr val="bg1"/>
              </a:solidFill>
            </a:endParaRPr>
          </a:p>
        </p:txBody>
      </p:sp>
      <p:cxnSp>
        <p:nvCxnSpPr>
          <p:cNvPr id="55" name="Straight Arrow Connector 31">
            <a:extLst>
              <a:ext uri="{FF2B5EF4-FFF2-40B4-BE49-F238E27FC236}">
                <a16:creationId xmlns:a16="http://schemas.microsoft.com/office/drawing/2014/main" id="{0BB9EA78-6C57-AC44-84E1-8B2EE9C47992}"/>
              </a:ext>
            </a:extLst>
          </p:cNvPr>
          <p:cNvCxnSpPr>
            <a:cxnSpLocks/>
            <a:stCxn id="54" idx="2"/>
            <a:endCxn id="20" idx="0"/>
          </p:cNvCxnSpPr>
          <p:nvPr/>
        </p:nvCxnSpPr>
        <p:spPr>
          <a:xfrm>
            <a:off x="6237448" y="2731005"/>
            <a:ext cx="0" cy="295513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31">
            <a:extLst>
              <a:ext uri="{FF2B5EF4-FFF2-40B4-BE49-F238E27FC236}">
                <a16:creationId xmlns:a16="http://schemas.microsoft.com/office/drawing/2014/main" id="{61E225FC-D3F3-9C47-AB37-816D3A8C9C95}"/>
              </a:ext>
            </a:extLst>
          </p:cNvPr>
          <p:cNvCxnSpPr>
            <a:cxnSpLocks/>
            <a:stCxn id="15" idx="2"/>
            <a:endCxn id="54" idx="0"/>
          </p:cNvCxnSpPr>
          <p:nvPr/>
        </p:nvCxnSpPr>
        <p:spPr>
          <a:xfrm>
            <a:off x="6237448" y="2165777"/>
            <a:ext cx="0" cy="261381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圆角矩形 18">
            <a:extLst>
              <a:ext uri="{FF2B5EF4-FFF2-40B4-BE49-F238E27FC236}">
                <a16:creationId xmlns:a16="http://schemas.microsoft.com/office/drawing/2014/main" id="{2DED4D5E-C304-B54F-A7CB-DAB3936FE772}"/>
              </a:ext>
            </a:extLst>
          </p:cNvPr>
          <p:cNvSpPr/>
          <p:nvPr/>
        </p:nvSpPr>
        <p:spPr>
          <a:xfrm>
            <a:off x="7348336" y="1489348"/>
            <a:ext cx="1213664" cy="131919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VM1</a:t>
            </a:r>
          </a:p>
          <a:p>
            <a:pPr algn="ctr"/>
            <a:endParaRPr lang="en-US" altLang="zh-CN" dirty="0">
              <a:solidFill>
                <a:schemeClr val="tx1"/>
              </a:solidFill>
            </a:endParaRPr>
          </a:p>
          <a:p>
            <a:pPr algn="ctr"/>
            <a:endParaRPr lang="en-US" altLang="zh-CN" dirty="0">
              <a:solidFill>
                <a:schemeClr val="tx1"/>
              </a:solidFill>
            </a:endParaRPr>
          </a:p>
          <a:p>
            <a:pPr algn="ctr"/>
            <a:endParaRPr lang="en-US" altLang="zh-CN" dirty="0">
              <a:solidFill>
                <a:schemeClr val="tx1"/>
              </a:solidFill>
            </a:endParaRPr>
          </a:p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BD1B42B8-A974-A741-ACF5-75F97A28FDD5}"/>
              </a:ext>
            </a:extLst>
          </p:cNvPr>
          <p:cNvSpPr/>
          <p:nvPr/>
        </p:nvSpPr>
        <p:spPr>
          <a:xfrm>
            <a:off x="7415108" y="1790443"/>
            <a:ext cx="1080120" cy="375334"/>
          </a:xfrm>
          <a:prstGeom prst="rect">
            <a:avLst/>
          </a:prstGeom>
          <a:solidFill>
            <a:schemeClr val="accent3"/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CN"/>
              <a:t>协议栈</a:t>
            </a:r>
            <a:endParaRPr lang="en-CN" dirty="0"/>
          </a:p>
        </p:txBody>
      </p:sp>
      <p:sp>
        <p:nvSpPr>
          <p:cNvPr id="63" name="圆角矩形 19">
            <a:extLst>
              <a:ext uri="{FF2B5EF4-FFF2-40B4-BE49-F238E27FC236}">
                <a16:creationId xmlns:a16="http://schemas.microsoft.com/office/drawing/2014/main" id="{32BAD49E-DFBB-BC4B-A97C-0E67BD5794C1}"/>
              </a:ext>
            </a:extLst>
          </p:cNvPr>
          <p:cNvSpPr/>
          <p:nvPr/>
        </p:nvSpPr>
        <p:spPr>
          <a:xfrm>
            <a:off x="7547875" y="2443299"/>
            <a:ext cx="814586" cy="303847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1"/>
                </a:solidFill>
              </a:rPr>
              <a:t>eth0</a:t>
            </a:r>
            <a:endParaRPr lang="zh-CN" altLang="en-US" dirty="0">
              <a:solidFill>
                <a:schemeClr val="bg1"/>
              </a:solidFill>
            </a:endParaRPr>
          </a:p>
        </p:txBody>
      </p:sp>
      <p:cxnSp>
        <p:nvCxnSpPr>
          <p:cNvPr id="64" name="Straight Arrow Connector 31">
            <a:extLst>
              <a:ext uri="{FF2B5EF4-FFF2-40B4-BE49-F238E27FC236}">
                <a16:creationId xmlns:a16="http://schemas.microsoft.com/office/drawing/2014/main" id="{6DEA3D07-F031-FE44-974A-C573105EB37B}"/>
              </a:ext>
            </a:extLst>
          </p:cNvPr>
          <p:cNvCxnSpPr>
            <a:cxnSpLocks/>
            <a:stCxn id="62" idx="2"/>
            <a:endCxn id="63" idx="0"/>
          </p:cNvCxnSpPr>
          <p:nvPr/>
        </p:nvCxnSpPr>
        <p:spPr>
          <a:xfrm>
            <a:off x="7955168" y="2165777"/>
            <a:ext cx="0" cy="277522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31">
            <a:extLst>
              <a:ext uri="{FF2B5EF4-FFF2-40B4-BE49-F238E27FC236}">
                <a16:creationId xmlns:a16="http://schemas.microsoft.com/office/drawing/2014/main" id="{924C7E60-F31B-D846-A5A7-D452FBF575D6}"/>
              </a:ext>
            </a:extLst>
          </p:cNvPr>
          <p:cNvCxnSpPr>
            <a:cxnSpLocks/>
            <a:stCxn id="63" idx="2"/>
            <a:endCxn id="44" idx="0"/>
          </p:cNvCxnSpPr>
          <p:nvPr/>
        </p:nvCxnSpPr>
        <p:spPr>
          <a:xfrm>
            <a:off x="7955168" y="2747146"/>
            <a:ext cx="1010" cy="279372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Rectangle 65">
            <a:extLst>
              <a:ext uri="{FF2B5EF4-FFF2-40B4-BE49-F238E27FC236}">
                <a16:creationId xmlns:a16="http://schemas.microsoft.com/office/drawing/2014/main" id="{790C74C3-9D8B-DD4A-8D2A-FE62450CFA61}"/>
              </a:ext>
            </a:extLst>
          </p:cNvPr>
          <p:cNvSpPr/>
          <p:nvPr/>
        </p:nvSpPr>
        <p:spPr>
          <a:xfrm>
            <a:off x="5813697" y="3928199"/>
            <a:ext cx="1080120" cy="375334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CN"/>
              <a:t>协议栈</a:t>
            </a:r>
            <a:endParaRPr lang="en-CN" dirty="0"/>
          </a:p>
        </p:txBody>
      </p:sp>
      <p:cxnSp>
        <p:nvCxnSpPr>
          <p:cNvPr id="71" name="Straight Arrow Connector 31">
            <a:extLst>
              <a:ext uri="{FF2B5EF4-FFF2-40B4-BE49-F238E27FC236}">
                <a16:creationId xmlns:a16="http://schemas.microsoft.com/office/drawing/2014/main" id="{A75C1C0A-C309-854A-AFBC-C814ACB36E9C}"/>
              </a:ext>
            </a:extLst>
          </p:cNvPr>
          <p:cNvCxnSpPr>
            <a:cxnSpLocks/>
            <a:stCxn id="66" idx="0"/>
          </p:cNvCxnSpPr>
          <p:nvPr/>
        </p:nvCxnSpPr>
        <p:spPr>
          <a:xfrm flipV="1">
            <a:off x="6353757" y="3647572"/>
            <a:ext cx="0" cy="280627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TextBox 56">
            <a:extLst>
              <a:ext uri="{FF2B5EF4-FFF2-40B4-BE49-F238E27FC236}">
                <a16:creationId xmlns:a16="http://schemas.microsoft.com/office/drawing/2014/main" id="{27876A25-881D-2C43-A760-4BB3916B4152}"/>
              </a:ext>
            </a:extLst>
          </p:cNvPr>
          <p:cNvSpPr txBox="1"/>
          <p:nvPr/>
        </p:nvSpPr>
        <p:spPr>
          <a:xfrm>
            <a:off x="7364995" y="2150688"/>
            <a:ext cx="11288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192.168.2.3</a:t>
            </a:r>
            <a:endParaRPr lang="en-CN" sz="1400" dirty="0"/>
          </a:p>
        </p:txBody>
      </p:sp>
    </p:spTree>
    <p:extLst>
      <p:ext uri="{BB962C8B-B14F-4D97-AF65-F5344CB8AC3E}">
        <p14:creationId xmlns:p14="http://schemas.microsoft.com/office/powerpoint/2010/main" val="12320893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FFFA3-9336-7245-9B81-BFA9D7741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ja-JP" dirty="0"/>
              <a:t>Network</a:t>
            </a:r>
            <a:r>
              <a:rPr lang="zh-CN" altLang="en-US" dirty="0"/>
              <a:t> </a:t>
            </a:r>
            <a:r>
              <a:rPr lang="en-US" altLang="zh-CN" dirty="0"/>
              <a:t>Namespace</a:t>
            </a:r>
            <a:r>
              <a:rPr lang="ja-JP" altLang="en-US"/>
              <a:t>的实现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05007D-6F76-0142-8EAC-1D7476A84C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ja-JP" altLang="en-CN" sz="1800"/>
              <a:t>每个</a:t>
            </a:r>
            <a:r>
              <a:rPr lang="en-US" altLang="ja-JP" sz="1800" dirty="0"/>
              <a:t>NS</a:t>
            </a:r>
            <a:r>
              <a:rPr lang="ja-JP" altLang="en-US" sz="1800"/>
              <a:t>拥有一套独立的网络资源</a:t>
            </a:r>
            <a:endParaRPr lang="en-US" altLang="ja-JP" sz="1800" dirty="0"/>
          </a:p>
          <a:p>
            <a:pPr lvl="1"/>
            <a:r>
              <a:rPr lang="ja-JP" altLang="en-US" sz="1600"/>
              <a:t>包括</a:t>
            </a:r>
            <a:r>
              <a:rPr lang="en-US" altLang="ja-JP" sz="1600" dirty="0"/>
              <a:t>IP</a:t>
            </a:r>
            <a:r>
              <a:rPr lang="ja-JP" altLang="en-US" sz="1600"/>
              <a:t>地址</a:t>
            </a:r>
            <a:r>
              <a:rPr lang="zh-CN" altLang="en-US" sz="1600" dirty="0"/>
              <a:t>、</a:t>
            </a:r>
            <a:r>
              <a:rPr lang="ja-JP" altLang="en-US" sz="1600"/>
              <a:t>网络设备等</a:t>
            </a:r>
            <a:endParaRPr lang="en-US" altLang="ja-JP" sz="1600" dirty="0"/>
          </a:p>
          <a:p>
            <a:r>
              <a:rPr lang="ja-JP" altLang="en-US" sz="1800"/>
              <a:t>新</a:t>
            </a:r>
            <a:r>
              <a:rPr lang="en-US" altLang="ja-JP" sz="1800" dirty="0"/>
              <a:t>N</a:t>
            </a:r>
            <a:r>
              <a:rPr lang="en-US" altLang="zh-CN" sz="1800" dirty="0"/>
              <a:t>S</a:t>
            </a:r>
            <a:r>
              <a:rPr lang="ja-JP" altLang="en-US" sz="1800"/>
              <a:t>默认只有一个</a:t>
            </a:r>
            <a:r>
              <a:rPr lang="en-US" altLang="ja-JP" sz="1800" dirty="0"/>
              <a:t>loopback</a:t>
            </a:r>
            <a:r>
              <a:rPr lang="ja-JP" altLang="en-US" sz="1800"/>
              <a:t>设备</a:t>
            </a:r>
            <a:endParaRPr lang="en-US" altLang="ja-JP" sz="1800" dirty="0"/>
          </a:p>
          <a:p>
            <a:pPr lvl="1"/>
            <a:r>
              <a:rPr lang="ja-JP" altLang="en-US" sz="1600"/>
              <a:t>其余设备需后续分配或从外部加入</a:t>
            </a:r>
            <a:endParaRPr lang="en-US" altLang="ja-JP" sz="1600" dirty="0"/>
          </a:p>
          <a:p>
            <a:r>
              <a:rPr lang="zh-CN" altLang="en-US" sz="1800" dirty="0"/>
              <a:t>图例</a:t>
            </a:r>
            <a:endParaRPr lang="en-US" altLang="zh-CN" sz="2000" dirty="0"/>
          </a:p>
          <a:p>
            <a:pPr lvl="1"/>
            <a:r>
              <a:rPr lang="zh-CN" altLang="en-US" sz="1600" dirty="0"/>
              <a:t>创建相连的</a:t>
            </a:r>
            <a:r>
              <a:rPr lang="en-US" altLang="zh-CN" sz="1600" dirty="0" err="1"/>
              <a:t>veth</a:t>
            </a:r>
            <a:r>
              <a:rPr lang="zh-CN" altLang="en-US" sz="1600" dirty="0"/>
              <a:t>虚拟设备对</a:t>
            </a:r>
            <a:endParaRPr lang="en-US" altLang="zh-CN" sz="1600" dirty="0"/>
          </a:p>
          <a:p>
            <a:pPr lvl="1"/>
            <a:r>
              <a:rPr lang="zh-CN" altLang="en-US" sz="1600" dirty="0"/>
              <a:t>一端加入</a:t>
            </a:r>
            <a:r>
              <a:rPr lang="en-US" altLang="zh-CN" sz="1600" dirty="0"/>
              <a:t>NS</a:t>
            </a:r>
            <a:r>
              <a:rPr lang="zh-CN" altLang="en-US" sz="1600" dirty="0"/>
              <a:t>即可连通网络</a:t>
            </a:r>
            <a:endParaRPr lang="en-US" altLang="zh-CN" sz="1600" dirty="0"/>
          </a:p>
          <a:p>
            <a:pPr lvl="1"/>
            <a:r>
              <a:rPr lang="zh-CN" altLang="en-US" sz="1600" dirty="0"/>
              <a:t>分配</a:t>
            </a:r>
            <a:r>
              <a:rPr lang="en-US" altLang="zh-CN" sz="1600" dirty="0"/>
              <a:t>IP</a:t>
            </a:r>
            <a:r>
              <a:rPr lang="zh-CN" altLang="en-US" sz="1600" dirty="0"/>
              <a:t>后可分别与外界通信</a:t>
            </a:r>
            <a:endParaRPr lang="en-US" altLang="zh-CN" sz="1600" dirty="0"/>
          </a:p>
          <a:p>
            <a:pPr lvl="1"/>
            <a:endParaRPr lang="zh-CN" altLang="en-US" sz="1600" dirty="0"/>
          </a:p>
          <a:p>
            <a:endParaRPr lang="en-CN" altLang="zh-CN" sz="2000"/>
          </a:p>
          <a:p>
            <a:pPr lvl="1"/>
            <a:endParaRPr lang="en-US" altLang="ja-JP" sz="1600" dirty="0"/>
          </a:p>
          <a:p>
            <a:endParaRPr lang="en-US" altLang="ja-JP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D9AEDD-B84F-B746-B1A2-2574F873F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36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05401B-EEE8-074B-BA09-F92552B469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6" name="Rectangle 76">
            <a:extLst>
              <a:ext uri="{FF2B5EF4-FFF2-40B4-BE49-F238E27FC236}">
                <a16:creationId xmlns:a16="http://schemas.microsoft.com/office/drawing/2014/main" id="{B120618B-728E-534F-B225-83C4D86D455F}"/>
              </a:ext>
            </a:extLst>
          </p:cNvPr>
          <p:cNvSpPr/>
          <p:nvPr/>
        </p:nvSpPr>
        <p:spPr>
          <a:xfrm>
            <a:off x="4898960" y="1800809"/>
            <a:ext cx="1788011" cy="711609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Ins="90000" rtlCol="0" anchor="t" anchorCtr="0"/>
          <a:lstStyle/>
          <a:p>
            <a:pPr algn="ctr"/>
            <a:endParaRPr lang="en-US" altLang="zh-CN" dirty="0">
              <a:solidFill>
                <a:schemeClr val="accent1"/>
              </a:solidFill>
            </a:endParaRPr>
          </a:p>
        </p:txBody>
      </p:sp>
      <p:sp>
        <p:nvSpPr>
          <p:cNvPr id="7" name="Rectangle 76">
            <a:extLst>
              <a:ext uri="{FF2B5EF4-FFF2-40B4-BE49-F238E27FC236}">
                <a16:creationId xmlns:a16="http://schemas.microsoft.com/office/drawing/2014/main" id="{D082B9F8-3D26-5F48-B82D-3AE1B3637DE6}"/>
              </a:ext>
            </a:extLst>
          </p:cNvPr>
          <p:cNvSpPr/>
          <p:nvPr/>
        </p:nvSpPr>
        <p:spPr>
          <a:xfrm>
            <a:off x="4761306" y="1417340"/>
            <a:ext cx="4276787" cy="3092319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Ins="90000" rtlCol="0" anchor="t" anchorCtr="0"/>
          <a:lstStyle/>
          <a:p>
            <a:pPr algn="ctr"/>
            <a:endParaRPr lang="en-US" altLang="zh-CN" dirty="0">
              <a:solidFill>
                <a:schemeClr val="accent1"/>
              </a:solidFill>
            </a:endParaRP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B0AC1F87-A10D-E147-B0F7-3BD4BEBDABBF}"/>
              </a:ext>
            </a:extLst>
          </p:cNvPr>
          <p:cNvSpPr/>
          <p:nvPr/>
        </p:nvSpPr>
        <p:spPr>
          <a:xfrm>
            <a:off x="5007726" y="2089026"/>
            <a:ext cx="432048" cy="303847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1"/>
                </a:solidFill>
              </a:rPr>
              <a:t>lo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1F9EB75C-76E0-1349-9193-721F0F809C54}"/>
              </a:ext>
            </a:extLst>
          </p:cNvPr>
          <p:cNvSpPr/>
          <p:nvPr/>
        </p:nvSpPr>
        <p:spPr>
          <a:xfrm>
            <a:off x="7656362" y="4121922"/>
            <a:ext cx="432048" cy="303847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1"/>
                </a:solidFill>
              </a:rPr>
              <a:t>lo</a:t>
            </a:r>
            <a:endParaRPr lang="zh-CN" altLang="en-US" dirty="0"/>
          </a:p>
        </p:txBody>
      </p:sp>
      <p:sp>
        <p:nvSpPr>
          <p:cNvPr id="10" name="Rounded Rectangle 77">
            <a:extLst>
              <a:ext uri="{FF2B5EF4-FFF2-40B4-BE49-F238E27FC236}">
                <a16:creationId xmlns:a16="http://schemas.microsoft.com/office/drawing/2014/main" id="{01CC34D8-7288-234C-89CB-B40BAAC8A38B}"/>
              </a:ext>
            </a:extLst>
          </p:cNvPr>
          <p:cNvSpPr/>
          <p:nvPr/>
        </p:nvSpPr>
        <p:spPr>
          <a:xfrm>
            <a:off x="5223750" y="3503596"/>
            <a:ext cx="3383650" cy="360000"/>
          </a:xfrm>
          <a:prstGeom prst="roundRect">
            <a:avLst/>
          </a:prstGeom>
          <a:solidFill>
            <a:schemeClr val="accent6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1"/>
                </a:solidFill>
              </a:rPr>
              <a:t>br0</a:t>
            </a:r>
            <a:endParaRPr lang="en-CN" dirty="0">
              <a:solidFill>
                <a:schemeClr val="accent1"/>
              </a:solidFill>
            </a:endParaRP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106CE876-5394-B14C-824B-930F6C484490}"/>
              </a:ext>
            </a:extLst>
          </p:cNvPr>
          <p:cNvSpPr/>
          <p:nvPr/>
        </p:nvSpPr>
        <p:spPr>
          <a:xfrm>
            <a:off x="5701910" y="2720724"/>
            <a:ext cx="814586" cy="303847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veth0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B706C866-CD63-1542-8A1D-99B8458EFE46}"/>
              </a:ext>
            </a:extLst>
          </p:cNvPr>
          <p:cNvSpPr/>
          <p:nvPr/>
        </p:nvSpPr>
        <p:spPr>
          <a:xfrm>
            <a:off x="5701910" y="3242542"/>
            <a:ext cx="814586" cy="303847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veth1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3" name="TextBox 56">
            <a:extLst>
              <a:ext uri="{FF2B5EF4-FFF2-40B4-BE49-F238E27FC236}">
                <a16:creationId xmlns:a16="http://schemas.microsoft.com/office/drawing/2014/main" id="{9E5D9641-E7B2-2D40-BA24-E69C5502E15A}"/>
              </a:ext>
            </a:extLst>
          </p:cNvPr>
          <p:cNvSpPr txBox="1"/>
          <p:nvPr/>
        </p:nvSpPr>
        <p:spPr>
          <a:xfrm>
            <a:off x="8054198" y="1387620"/>
            <a:ext cx="1056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Root NS</a:t>
            </a:r>
            <a:endParaRPr lang="en-CN" dirty="0"/>
          </a:p>
        </p:txBody>
      </p:sp>
      <p:sp>
        <p:nvSpPr>
          <p:cNvPr id="14" name="TextBox 56">
            <a:extLst>
              <a:ext uri="{FF2B5EF4-FFF2-40B4-BE49-F238E27FC236}">
                <a16:creationId xmlns:a16="http://schemas.microsoft.com/office/drawing/2014/main" id="{3AA0A551-04AE-0B4B-A3A5-8EE1EDFC1757}"/>
              </a:ext>
            </a:extLst>
          </p:cNvPr>
          <p:cNvSpPr txBox="1"/>
          <p:nvPr/>
        </p:nvSpPr>
        <p:spPr>
          <a:xfrm>
            <a:off x="6042714" y="1752256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NS 1</a:t>
            </a:r>
            <a:endParaRPr lang="en-CN" dirty="0"/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650DD0BA-221D-D54C-926D-D83C04B9EA77}"/>
              </a:ext>
            </a:extLst>
          </p:cNvPr>
          <p:cNvSpPr/>
          <p:nvPr/>
        </p:nvSpPr>
        <p:spPr>
          <a:xfrm>
            <a:off x="5701910" y="2094419"/>
            <a:ext cx="814586" cy="303847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1"/>
                </a:solidFill>
              </a:rPr>
              <a:t>eth0</a:t>
            </a:r>
            <a:endParaRPr lang="zh-CN" altLang="en-US" dirty="0">
              <a:solidFill>
                <a:schemeClr val="bg1"/>
              </a:solidFill>
            </a:endParaRPr>
          </a:p>
        </p:txBody>
      </p:sp>
      <p:cxnSp>
        <p:nvCxnSpPr>
          <p:cNvPr id="16" name="Straight Arrow Connector 31">
            <a:extLst>
              <a:ext uri="{FF2B5EF4-FFF2-40B4-BE49-F238E27FC236}">
                <a16:creationId xmlns:a16="http://schemas.microsoft.com/office/drawing/2014/main" id="{909AFAC1-F25F-214F-AA26-D2BD6E8C4676}"/>
              </a:ext>
            </a:extLst>
          </p:cNvPr>
          <p:cNvCxnSpPr>
            <a:cxnSpLocks/>
            <a:stCxn id="11" idx="2"/>
            <a:endCxn id="12" idx="0"/>
          </p:cNvCxnSpPr>
          <p:nvPr/>
        </p:nvCxnSpPr>
        <p:spPr>
          <a:xfrm>
            <a:off x="6109203" y="3024571"/>
            <a:ext cx="0" cy="217971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31">
            <a:extLst>
              <a:ext uri="{FF2B5EF4-FFF2-40B4-BE49-F238E27FC236}">
                <a16:creationId xmlns:a16="http://schemas.microsoft.com/office/drawing/2014/main" id="{5FD0371C-D484-C446-BCC4-44C60D122182}"/>
              </a:ext>
            </a:extLst>
          </p:cNvPr>
          <p:cNvCxnSpPr>
            <a:cxnSpLocks/>
            <a:stCxn id="15" idx="2"/>
            <a:endCxn id="11" idx="2"/>
          </p:cNvCxnSpPr>
          <p:nvPr/>
        </p:nvCxnSpPr>
        <p:spPr>
          <a:xfrm>
            <a:off x="6109203" y="2398266"/>
            <a:ext cx="0" cy="626305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76">
            <a:extLst>
              <a:ext uri="{FF2B5EF4-FFF2-40B4-BE49-F238E27FC236}">
                <a16:creationId xmlns:a16="http://schemas.microsoft.com/office/drawing/2014/main" id="{E55F9F7C-3591-C447-9EC6-86672B46064E}"/>
              </a:ext>
            </a:extLst>
          </p:cNvPr>
          <p:cNvSpPr/>
          <p:nvPr/>
        </p:nvSpPr>
        <p:spPr>
          <a:xfrm>
            <a:off x="7160193" y="1800809"/>
            <a:ext cx="1788011" cy="711609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Ins="90000" rtlCol="0" anchor="t" anchorCtr="0"/>
          <a:lstStyle/>
          <a:p>
            <a:pPr algn="ctr"/>
            <a:endParaRPr lang="en-US" altLang="zh-CN" dirty="0">
              <a:solidFill>
                <a:schemeClr val="accent1"/>
              </a:solidFill>
            </a:endParaRPr>
          </a:p>
        </p:txBody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D870B000-F51A-C848-A7EE-9A0291D37A49}"/>
              </a:ext>
            </a:extLst>
          </p:cNvPr>
          <p:cNvSpPr/>
          <p:nvPr/>
        </p:nvSpPr>
        <p:spPr>
          <a:xfrm>
            <a:off x="8413142" y="2089025"/>
            <a:ext cx="432048" cy="303847"/>
          </a:xfrm>
          <a:prstGeom prst="roundRect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1"/>
                </a:solidFill>
              </a:rPr>
              <a:t>lo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20" name="圆角矩形 19">
            <a:extLst>
              <a:ext uri="{FF2B5EF4-FFF2-40B4-BE49-F238E27FC236}">
                <a16:creationId xmlns:a16="http://schemas.microsoft.com/office/drawing/2014/main" id="{02122E33-E890-D84E-980F-556A47775A73}"/>
              </a:ext>
            </a:extLst>
          </p:cNvPr>
          <p:cNvSpPr/>
          <p:nvPr/>
        </p:nvSpPr>
        <p:spPr>
          <a:xfrm>
            <a:off x="7303301" y="2720724"/>
            <a:ext cx="814586" cy="303847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veth3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C7CB25E0-066F-F344-A461-E127BCB7E6B4}"/>
              </a:ext>
            </a:extLst>
          </p:cNvPr>
          <p:cNvSpPr/>
          <p:nvPr/>
        </p:nvSpPr>
        <p:spPr>
          <a:xfrm>
            <a:off x="7303301" y="3242542"/>
            <a:ext cx="814586" cy="303847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veth2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2" name="TextBox 56">
            <a:extLst>
              <a:ext uri="{FF2B5EF4-FFF2-40B4-BE49-F238E27FC236}">
                <a16:creationId xmlns:a16="http://schemas.microsoft.com/office/drawing/2014/main" id="{EFC4A344-F5D9-064D-9C5A-D463710E085C}"/>
              </a:ext>
            </a:extLst>
          </p:cNvPr>
          <p:cNvSpPr txBox="1"/>
          <p:nvPr/>
        </p:nvSpPr>
        <p:spPr>
          <a:xfrm>
            <a:off x="8284811" y="1752256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NS 2</a:t>
            </a:r>
            <a:endParaRPr lang="en-CN" dirty="0"/>
          </a:p>
        </p:txBody>
      </p:sp>
      <p:sp>
        <p:nvSpPr>
          <p:cNvPr id="23" name="圆角矩形 22">
            <a:extLst>
              <a:ext uri="{FF2B5EF4-FFF2-40B4-BE49-F238E27FC236}">
                <a16:creationId xmlns:a16="http://schemas.microsoft.com/office/drawing/2014/main" id="{46DEE572-02FD-E947-BE39-1A5CE5A5C8B7}"/>
              </a:ext>
            </a:extLst>
          </p:cNvPr>
          <p:cNvSpPr/>
          <p:nvPr/>
        </p:nvSpPr>
        <p:spPr>
          <a:xfrm>
            <a:off x="7303301" y="2094419"/>
            <a:ext cx="814586" cy="303847"/>
          </a:xfrm>
          <a:prstGeom prst="roundRect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1"/>
                </a:solidFill>
              </a:rPr>
              <a:t>eth0</a:t>
            </a:r>
            <a:endParaRPr lang="zh-CN" altLang="en-US" dirty="0">
              <a:solidFill>
                <a:schemeClr val="bg1"/>
              </a:solidFill>
            </a:endParaRPr>
          </a:p>
        </p:txBody>
      </p:sp>
      <p:cxnSp>
        <p:nvCxnSpPr>
          <p:cNvPr id="24" name="Straight Arrow Connector 31">
            <a:extLst>
              <a:ext uri="{FF2B5EF4-FFF2-40B4-BE49-F238E27FC236}">
                <a16:creationId xmlns:a16="http://schemas.microsoft.com/office/drawing/2014/main" id="{C62959D9-3EEC-7A43-BAD0-1317C27123F6}"/>
              </a:ext>
            </a:extLst>
          </p:cNvPr>
          <p:cNvCxnSpPr>
            <a:cxnSpLocks/>
            <a:stCxn id="20" idx="2"/>
            <a:endCxn id="21" idx="0"/>
          </p:cNvCxnSpPr>
          <p:nvPr/>
        </p:nvCxnSpPr>
        <p:spPr>
          <a:xfrm>
            <a:off x="7710594" y="3024571"/>
            <a:ext cx="0" cy="217971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31">
            <a:extLst>
              <a:ext uri="{FF2B5EF4-FFF2-40B4-BE49-F238E27FC236}">
                <a16:creationId xmlns:a16="http://schemas.microsoft.com/office/drawing/2014/main" id="{2701DCEF-B201-8D44-87C6-CEE9E5C54BE2}"/>
              </a:ext>
            </a:extLst>
          </p:cNvPr>
          <p:cNvCxnSpPr>
            <a:cxnSpLocks/>
            <a:stCxn id="23" idx="2"/>
            <a:endCxn id="20" idx="2"/>
          </p:cNvCxnSpPr>
          <p:nvPr/>
        </p:nvCxnSpPr>
        <p:spPr>
          <a:xfrm>
            <a:off x="7710594" y="2398266"/>
            <a:ext cx="0" cy="626305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圆角矩形 25">
            <a:extLst>
              <a:ext uri="{FF2B5EF4-FFF2-40B4-BE49-F238E27FC236}">
                <a16:creationId xmlns:a16="http://schemas.microsoft.com/office/drawing/2014/main" id="{A1EFD7AC-3A51-3644-AECE-1007075729C6}"/>
              </a:ext>
            </a:extLst>
          </p:cNvPr>
          <p:cNvSpPr/>
          <p:nvPr/>
        </p:nvSpPr>
        <p:spPr>
          <a:xfrm>
            <a:off x="6508439" y="4121922"/>
            <a:ext cx="814271" cy="303847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1"/>
                </a:solidFill>
              </a:rPr>
              <a:t>eth0</a:t>
            </a:r>
            <a:endParaRPr lang="zh-CN" altLang="en-US" dirty="0"/>
          </a:p>
        </p:txBody>
      </p:sp>
      <p:cxnSp>
        <p:nvCxnSpPr>
          <p:cNvPr id="27" name="Straight Arrow Connector 31">
            <a:extLst>
              <a:ext uri="{FF2B5EF4-FFF2-40B4-BE49-F238E27FC236}">
                <a16:creationId xmlns:a16="http://schemas.microsoft.com/office/drawing/2014/main" id="{DEBC4FF7-6369-2148-8C43-238A091E157C}"/>
              </a:ext>
            </a:extLst>
          </p:cNvPr>
          <p:cNvCxnSpPr>
            <a:cxnSpLocks/>
            <a:stCxn id="10" idx="2"/>
            <a:endCxn id="26" idx="0"/>
          </p:cNvCxnSpPr>
          <p:nvPr/>
        </p:nvCxnSpPr>
        <p:spPr>
          <a:xfrm>
            <a:off x="6915575" y="3863596"/>
            <a:ext cx="0" cy="258326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圆角矩形 27">
            <a:extLst>
              <a:ext uri="{FF2B5EF4-FFF2-40B4-BE49-F238E27FC236}">
                <a16:creationId xmlns:a16="http://schemas.microsoft.com/office/drawing/2014/main" id="{BBB76AC3-AFCC-7D4C-888C-009B710D3CAA}"/>
              </a:ext>
            </a:extLst>
          </p:cNvPr>
          <p:cNvSpPr/>
          <p:nvPr/>
        </p:nvSpPr>
        <p:spPr>
          <a:xfrm>
            <a:off x="5481386" y="4121922"/>
            <a:ext cx="693401" cy="303847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1"/>
                </a:solidFill>
              </a:rPr>
              <a:t>ib0</a:t>
            </a:r>
            <a:endParaRPr lang="zh-CN" altLang="en-US" dirty="0"/>
          </a:p>
        </p:txBody>
      </p:sp>
      <p:sp>
        <p:nvSpPr>
          <p:cNvPr id="29" name="圆角矩形 28">
            <a:extLst>
              <a:ext uri="{FF2B5EF4-FFF2-40B4-BE49-F238E27FC236}">
                <a16:creationId xmlns:a16="http://schemas.microsoft.com/office/drawing/2014/main" id="{AE35CA55-A290-B948-B092-C6432E6BCB1A}"/>
              </a:ext>
            </a:extLst>
          </p:cNvPr>
          <p:cNvSpPr/>
          <p:nvPr/>
        </p:nvSpPr>
        <p:spPr>
          <a:xfrm>
            <a:off x="6568873" y="4798279"/>
            <a:ext cx="693401" cy="30384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NIC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30" name="Straight Connector 39">
            <a:extLst>
              <a:ext uri="{FF2B5EF4-FFF2-40B4-BE49-F238E27FC236}">
                <a16:creationId xmlns:a16="http://schemas.microsoft.com/office/drawing/2014/main" id="{9F535F20-D34D-E042-8282-25ACACEFA6F1}"/>
              </a:ext>
            </a:extLst>
          </p:cNvPr>
          <p:cNvCxnSpPr/>
          <p:nvPr/>
        </p:nvCxnSpPr>
        <p:spPr>
          <a:xfrm>
            <a:off x="4644008" y="4657700"/>
            <a:ext cx="4499992" cy="0"/>
          </a:xfrm>
          <a:prstGeom prst="line">
            <a:avLst/>
          </a:prstGeom>
          <a:ln w="25400"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1">
            <a:extLst>
              <a:ext uri="{FF2B5EF4-FFF2-40B4-BE49-F238E27FC236}">
                <a16:creationId xmlns:a16="http://schemas.microsoft.com/office/drawing/2014/main" id="{77215B99-314F-5A48-9E2D-D0926DC8CB18}"/>
              </a:ext>
            </a:extLst>
          </p:cNvPr>
          <p:cNvCxnSpPr>
            <a:cxnSpLocks/>
            <a:stCxn id="26" idx="2"/>
            <a:endCxn id="29" idx="0"/>
          </p:cNvCxnSpPr>
          <p:nvPr/>
        </p:nvCxnSpPr>
        <p:spPr>
          <a:xfrm flipH="1">
            <a:off x="6915574" y="4425769"/>
            <a:ext cx="1" cy="372510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56">
            <a:extLst>
              <a:ext uri="{FF2B5EF4-FFF2-40B4-BE49-F238E27FC236}">
                <a16:creationId xmlns:a16="http://schemas.microsoft.com/office/drawing/2014/main" id="{B6EF1252-FA7A-AD4F-9A66-162F824CD14B}"/>
              </a:ext>
            </a:extLst>
          </p:cNvPr>
          <p:cNvSpPr txBox="1"/>
          <p:nvPr/>
        </p:nvSpPr>
        <p:spPr>
          <a:xfrm>
            <a:off x="4572000" y="469138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硬件</a:t>
            </a:r>
            <a:endParaRPr lang="en-CN" dirty="0"/>
          </a:p>
        </p:txBody>
      </p:sp>
      <p:sp>
        <p:nvSpPr>
          <p:cNvPr id="33" name="TextBox 56">
            <a:extLst>
              <a:ext uri="{FF2B5EF4-FFF2-40B4-BE49-F238E27FC236}">
                <a16:creationId xmlns:a16="http://schemas.microsoft.com/office/drawing/2014/main" id="{A73A91DB-81D0-5E4E-9F08-945790E52478}"/>
              </a:ext>
            </a:extLst>
          </p:cNvPr>
          <p:cNvSpPr txBox="1"/>
          <p:nvPr/>
        </p:nvSpPr>
        <p:spPr>
          <a:xfrm>
            <a:off x="4733836" y="1418397"/>
            <a:ext cx="11288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192.168.2.1</a:t>
            </a:r>
            <a:endParaRPr lang="en-CN" sz="1400" dirty="0"/>
          </a:p>
        </p:txBody>
      </p:sp>
      <p:sp>
        <p:nvSpPr>
          <p:cNvPr id="34" name="TextBox 56">
            <a:extLst>
              <a:ext uri="{FF2B5EF4-FFF2-40B4-BE49-F238E27FC236}">
                <a16:creationId xmlns:a16="http://schemas.microsoft.com/office/drawing/2014/main" id="{944E863C-2FDF-7C4C-BD9F-E3AA2AC6CCB9}"/>
              </a:ext>
            </a:extLst>
          </p:cNvPr>
          <p:cNvSpPr txBox="1"/>
          <p:nvPr/>
        </p:nvSpPr>
        <p:spPr>
          <a:xfrm>
            <a:off x="4864726" y="1777783"/>
            <a:ext cx="11288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192.168.2.2</a:t>
            </a:r>
            <a:endParaRPr lang="en-CN" sz="1400" dirty="0"/>
          </a:p>
        </p:txBody>
      </p:sp>
      <p:sp>
        <p:nvSpPr>
          <p:cNvPr id="35" name="TextBox 56">
            <a:extLst>
              <a:ext uri="{FF2B5EF4-FFF2-40B4-BE49-F238E27FC236}">
                <a16:creationId xmlns:a16="http://schemas.microsoft.com/office/drawing/2014/main" id="{3C57FC64-59F7-0340-8966-59E08AD2F1AB}"/>
              </a:ext>
            </a:extLst>
          </p:cNvPr>
          <p:cNvSpPr txBox="1"/>
          <p:nvPr/>
        </p:nvSpPr>
        <p:spPr>
          <a:xfrm>
            <a:off x="7116689" y="1785381"/>
            <a:ext cx="11288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192.168.2.3</a:t>
            </a:r>
            <a:endParaRPr lang="en-CN" sz="1400" dirty="0"/>
          </a:p>
        </p:txBody>
      </p:sp>
    </p:spTree>
    <p:extLst>
      <p:ext uri="{BB962C8B-B14F-4D97-AF65-F5344CB8AC3E}">
        <p14:creationId xmlns:p14="http://schemas.microsoft.com/office/powerpoint/2010/main" val="2024514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64" presetClass="pat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44444E-6 0 L 0.00017 -0.11 " pathEditMode="relative" rAng="0" ptsTypes="AA">
                                      <p:cBhvr>
                                        <p:cTn id="2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5500"/>
                                    </p:animMotion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64" presetClass="pat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0 L 0.00017 -0.11 " pathEditMode="relative" rAng="0" ptsTypes="AA">
                                      <p:cBhvr>
                                        <p:cTn id="3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5500"/>
                                    </p:animMotion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000"/>
                            </p:stCondLst>
                            <p:childTnLst>
                              <p:par>
                                <p:cTn id="4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000"/>
                            </p:stCondLst>
                            <p:childTnLst>
                              <p:par>
                                <p:cTn id="4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11" grpId="0" animBg="1"/>
      <p:bldP spid="14" grpId="0"/>
      <p:bldP spid="15" grpId="0" animBg="1"/>
      <p:bldP spid="18" grpId="0" animBg="1"/>
      <p:bldP spid="19" grpId="0" animBg="1"/>
      <p:bldP spid="20" grpId="0" animBg="1"/>
      <p:bldP spid="22" grpId="0"/>
      <p:bldP spid="23" grpId="0" animBg="1"/>
      <p:bldP spid="34" grpId="0"/>
      <p:bldP spid="35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0D6FE-7FBC-1E47-8583-00F8C0D1B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</a:t>
            </a:r>
            <a:r>
              <a:rPr lang="zh-CN" altLang="en-US" dirty="0"/>
              <a:t>、</a:t>
            </a:r>
            <a:r>
              <a:rPr lang="en-US" altLang="ja-JP" dirty="0"/>
              <a:t>PID</a:t>
            </a:r>
            <a:r>
              <a:rPr lang="zh-CN" altLang="en-US" dirty="0"/>
              <a:t> </a:t>
            </a:r>
            <a:r>
              <a:rPr lang="en-US" altLang="zh-CN" dirty="0"/>
              <a:t>Namespace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0EB339-624B-A34F-9BF3-0FD64ECB31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CN" dirty="0"/>
              <a:t>容器</a:t>
            </a:r>
            <a:r>
              <a:rPr lang="ja-JP" altLang="en-US" dirty="0"/>
              <a:t>内进程可以看到容器外进程的</a:t>
            </a:r>
            <a:r>
              <a:rPr lang="en-US" altLang="ja-JP" dirty="0"/>
              <a:t>PID</a:t>
            </a:r>
            <a:r>
              <a:rPr lang="ja-JP" altLang="en-US" dirty="0"/>
              <a:t>会发生</a:t>
            </a:r>
            <a:r>
              <a:rPr lang="ja-JP" altLang="en-US"/>
              <a:t>什么</a:t>
            </a:r>
            <a:r>
              <a:rPr lang="zh-CN" altLang="en-US" dirty="0"/>
              <a:t>？</a:t>
            </a:r>
            <a:endParaRPr lang="en-US" altLang="zh-CN" dirty="0"/>
          </a:p>
          <a:p>
            <a:endParaRPr lang="en-US" altLang="ja-JP" dirty="0"/>
          </a:p>
          <a:p>
            <a:r>
              <a:rPr lang="ja-JP" altLang="en-US" dirty="0"/>
              <a:t>假设有容器内存在一个恶意进程</a:t>
            </a:r>
            <a:endParaRPr lang="en-US" altLang="ja-JP" dirty="0"/>
          </a:p>
          <a:p>
            <a:pPr lvl="1"/>
            <a:r>
              <a:rPr lang="ja-JP" altLang="en-US" dirty="0"/>
              <a:t>恶意进程向容器外进程发送</a:t>
            </a:r>
            <a:r>
              <a:rPr lang="en-US" altLang="ja-JP" dirty="0"/>
              <a:t>SIGKILL</a:t>
            </a:r>
            <a:r>
              <a:rPr lang="ja-JP" altLang="en-US" dirty="0"/>
              <a:t>信号</a:t>
            </a:r>
            <a:endParaRPr lang="en-US" altLang="zh-CN" dirty="0"/>
          </a:p>
          <a:p>
            <a:pPr lvl="1"/>
            <a:r>
              <a:rPr lang="ja-JP" altLang="en-US" dirty="0"/>
              <a:t>主机操作系统或其他容器中的正常进程会被杀死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D868DE-1107-EF47-87E8-D2E388A53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37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2FB088-080C-774E-A79A-B449E156D9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2272156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PID Namespace</a:t>
            </a:r>
            <a:r>
              <a:rPr lang="zh-CN" altLang="en-US" dirty="0"/>
              <a:t>的设计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直接的想法</a:t>
            </a:r>
            <a:endParaRPr lang="en-US" altLang="zh-CN" dirty="0"/>
          </a:p>
          <a:p>
            <a:pPr lvl="1"/>
            <a:r>
              <a:rPr lang="zh-CN" altLang="en-US" dirty="0"/>
              <a:t>将每个</a:t>
            </a:r>
            <a:r>
              <a:rPr lang="en-US" altLang="zh-CN" dirty="0"/>
              <a:t>NS</a:t>
            </a:r>
            <a:r>
              <a:rPr lang="zh-CN" altLang="en-US" dirty="0"/>
              <a:t>中的进程放在一起管理，不同</a:t>
            </a:r>
            <a:r>
              <a:rPr lang="en-US" altLang="zh-CN" dirty="0"/>
              <a:t>NS</a:t>
            </a:r>
            <a:r>
              <a:rPr lang="zh-CN" altLang="en-US" dirty="0"/>
              <a:t>中的进程相互隔离</a:t>
            </a:r>
            <a:endParaRPr lang="en-US" altLang="zh-CN" dirty="0"/>
          </a:p>
          <a:p>
            <a:r>
              <a:rPr lang="zh-CN" altLang="en-US" dirty="0"/>
              <a:t>存在的问题</a:t>
            </a:r>
            <a:endParaRPr lang="en-US" altLang="zh-CN" dirty="0"/>
          </a:p>
          <a:p>
            <a:pPr lvl="1"/>
            <a:r>
              <a:rPr lang="zh-CN" altLang="en-US" dirty="0"/>
              <a:t>进程间关系如何处理（比如父子进程）？</a:t>
            </a:r>
            <a:endParaRPr lang="en-US" altLang="zh-CN" dirty="0"/>
          </a:p>
          <a:p>
            <a:r>
              <a:rPr lang="zh-CN" altLang="en-US" dirty="0"/>
              <a:t>更进一步</a:t>
            </a:r>
            <a:endParaRPr lang="en-US" altLang="zh-CN" dirty="0"/>
          </a:p>
          <a:p>
            <a:pPr lvl="1"/>
            <a:r>
              <a:rPr lang="zh-CN" altLang="en-US" dirty="0"/>
              <a:t>允许父</a:t>
            </a:r>
            <a:r>
              <a:rPr lang="en-US" altLang="zh-CN" dirty="0"/>
              <a:t>NS</a:t>
            </a:r>
            <a:r>
              <a:rPr lang="zh-CN" altLang="en-US" dirty="0"/>
              <a:t>看到子</a:t>
            </a:r>
            <a:r>
              <a:rPr lang="en-US" altLang="zh-CN" dirty="0"/>
              <a:t>NS</a:t>
            </a:r>
            <a:r>
              <a:rPr lang="zh-CN" altLang="en-US" dirty="0"/>
              <a:t>中的进程，保留父子关系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8369294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FFFA3-9336-7245-9B81-BFA9D7741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ja-JP" dirty="0"/>
              <a:t>PID</a:t>
            </a:r>
            <a:r>
              <a:rPr lang="zh-CN" altLang="en-US" dirty="0"/>
              <a:t> </a:t>
            </a:r>
            <a:r>
              <a:rPr lang="en-US" altLang="zh-CN" dirty="0"/>
              <a:t>Namespace</a:t>
            </a:r>
            <a:r>
              <a:rPr lang="ja-JP" altLang="en-US"/>
              <a:t>的实现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05007D-6F76-0142-8EAC-1D7476A84C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ja-JP" altLang="en-CN"/>
              <a:t>对</a:t>
            </a:r>
            <a:r>
              <a:rPr lang="en-US" altLang="ja-JP" dirty="0"/>
              <a:t>NS</a:t>
            </a:r>
            <a:r>
              <a:rPr lang="ja-JP" altLang="en-US"/>
              <a:t>内外的</a:t>
            </a:r>
            <a:r>
              <a:rPr lang="en-US" altLang="ja-JP" dirty="0"/>
              <a:t>PID</a:t>
            </a:r>
            <a:r>
              <a:rPr lang="ja-JP" altLang="en-US"/>
              <a:t>进行单向隔离</a:t>
            </a:r>
            <a:endParaRPr lang="en-US" altLang="ja-JP" dirty="0"/>
          </a:p>
          <a:p>
            <a:pPr lvl="1"/>
            <a:r>
              <a:rPr lang="ja-JP" altLang="en-US"/>
              <a:t>外部能看到</a:t>
            </a:r>
            <a:r>
              <a:rPr lang="zh-CN" altLang="en-US" dirty="0"/>
              <a:t>内部</a:t>
            </a:r>
            <a:r>
              <a:rPr lang="ja-JP" altLang="en-US"/>
              <a:t>的进程</a:t>
            </a:r>
            <a:r>
              <a:rPr lang="zh-CN" altLang="en-US" dirty="0"/>
              <a:t>，</a:t>
            </a:r>
            <a:r>
              <a:rPr lang="ja-JP" altLang="en-US"/>
              <a:t>反之</a:t>
            </a:r>
            <a:r>
              <a:rPr lang="zh-CN" altLang="en-US" dirty="0"/>
              <a:t>则</a:t>
            </a:r>
            <a:r>
              <a:rPr lang="ja-JP" altLang="en-US"/>
              <a:t>不能</a:t>
            </a:r>
            <a:endParaRPr lang="en-US" altLang="ja-JP" dirty="0"/>
          </a:p>
          <a:p>
            <a:endParaRPr lang="en-US" altLang="zh-CN" dirty="0"/>
          </a:p>
          <a:p>
            <a:r>
              <a:rPr lang="zh-CN" altLang="en-US" dirty="0"/>
              <a:t>图例</a:t>
            </a:r>
            <a:endParaRPr lang="en-US" altLang="zh-CN" dirty="0"/>
          </a:p>
          <a:p>
            <a:pPr lvl="1"/>
            <a:r>
              <a:rPr lang="zh-CN" altLang="en-US" dirty="0"/>
              <a:t>子</a:t>
            </a:r>
            <a:r>
              <a:rPr lang="en-US" altLang="zh-CN" dirty="0"/>
              <a:t>NS</a:t>
            </a:r>
            <a:r>
              <a:rPr lang="zh-CN" altLang="en-US" dirty="0"/>
              <a:t>中的进程在父</a:t>
            </a:r>
            <a:r>
              <a:rPr lang="en-US" altLang="zh-CN" dirty="0"/>
              <a:t>NS</a:t>
            </a:r>
            <a:r>
              <a:rPr lang="zh-CN" altLang="en-US" dirty="0"/>
              <a:t>中也有</a:t>
            </a:r>
            <a:r>
              <a:rPr lang="en-US" altLang="zh-CN" dirty="0"/>
              <a:t>PID</a:t>
            </a:r>
          </a:p>
          <a:p>
            <a:pPr lvl="1"/>
            <a:r>
              <a:rPr lang="ja-JP" altLang="en-US"/>
              <a:t>进程只能看到当前</a:t>
            </a:r>
            <a:r>
              <a:rPr lang="en-US" altLang="ja-JP" dirty="0"/>
              <a:t>NS</a:t>
            </a:r>
            <a:r>
              <a:rPr lang="ja-JP" altLang="en-US"/>
              <a:t>的</a:t>
            </a:r>
            <a:r>
              <a:rPr lang="en-US" altLang="ja-JP" dirty="0"/>
              <a:t>PID</a:t>
            </a:r>
            <a:endParaRPr lang="en-US" altLang="zh-CN" dirty="0"/>
          </a:p>
          <a:p>
            <a:pPr lvl="1"/>
            <a:r>
              <a:rPr lang="zh-CN" altLang="en-US" dirty="0"/>
              <a:t>子</a:t>
            </a:r>
            <a:r>
              <a:rPr lang="en-US" altLang="zh-CN" dirty="0"/>
              <a:t>NS</a:t>
            </a:r>
            <a:r>
              <a:rPr lang="zh-CN" altLang="en-US" dirty="0"/>
              <a:t>中的进程无法向外发送信号</a:t>
            </a:r>
            <a:endParaRPr lang="en-US" altLang="zh-CN" dirty="0"/>
          </a:p>
          <a:p>
            <a:pPr lvl="1"/>
            <a:endParaRPr lang="zh-CN" altLang="en-US" dirty="0"/>
          </a:p>
          <a:p>
            <a:endParaRPr lang="en-US" altLang="ja-JP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D9AEDD-B84F-B746-B1A2-2574F873F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39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05401B-EEE8-074B-BA09-F92552B469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58CD5B46-9C76-F240-9FD7-33DE64779607}"/>
              </a:ext>
            </a:extLst>
          </p:cNvPr>
          <p:cNvSpPr/>
          <p:nvPr/>
        </p:nvSpPr>
        <p:spPr>
          <a:xfrm>
            <a:off x="6817472" y="2717512"/>
            <a:ext cx="648072" cy="30384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FF0000"/>
                </a:solidFill>
              </a:rPr>
              <a:t>3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8BE7C725-0219-BF4A-BFB0-7B6421193E73}"/>
              </a:ext>
            </a:extLst>
          </p:cNvPr>
          <p:cNvSpPr/>
          <p:nvPr/>
        </p:nvSpPr>
        <p:spPr>
          <a:xfrm>
            <a:off x="5774336" y="3241240"/>
            <a:ext cx="648072" cy="303847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FF0000"/>
                </a:solidFill>
              </a:rPr>
              <a:t>2,</a:t>
            </a:r>
            <a:r>
              <a:rPr lang="en-US" altLang="zh-CN" dirty="0">
                <a:solidFill>
                  <a:schemeClr val="accent1"/>
                </a:solidFill>
              </a:rPr>
              <a:t> </a:t>
            </a:r>
            <a:r>
              <a:rPr lang="en-US" altLang="zh-CN" dirty="0">
                <a:solidFill>
                  <a:srgbClr val="00B0F0"/>
                </a:solidFill>
              </a:rPr>
              <a:t>1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8" name="Rectangle 76">
            <a:extLst>
              <a:ext uri="{FF2B5EF4-FFF2-40B4-BE49-F238E27FC236}">
                <a16:creationId xmlns:a16="http://schemas.microsoft.com/office/drawing/2014/main" id="{A1A8596A-BDC7-D14C-B174-A2C2E32E4F82}"/>
              </a:ext>
            </a:extLst>
          </p:cNvPr>
          <p:cNvSpPr/>
          <p:nvPr/>
        </p:nvSpPr>
        <p:spPr>
          <a:xfrm>
            <a:off x="5680697" y="3090654"/>
            <a:ext cx="2106203" cy="1504976"/>
          </a:xfrm>
          <a:prstGeom prst="rect">
            <a:avLst/>
          </a:prstGeom>
          <a:noFill/>
          <a:ln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Ins="90000" rtlCol="0" anchor="t" anchorCtr="0"/>
          <a:lstStyle/>
          <a:p>
            <a:pPr algn="ctr"/>
            <a:endParaRPr lang="en-US" altLang="zh-CN" dirty="0">
              <a:solidFill>
                <a:schemeClr val="accent1"/>
              </a:solidFill>
            </a:endParaRPr>
          </a:p>
        </p:txBody>
      </p:sp>
      <p:cxnSp>
        <p:nvCxnSpPr>
          <p:cNvPr id="9" name="Straight Arrow Connector 31">
            <a:extLst>
              <a:ext uri="{FF2B5EF4-FFF2-40B4-BE49-F238E27FC236}">
                <a16:creationId xmlns:a16="http://schemas.microsoft.com/office/drawing/2014/main" id="{3C2D5578-D417-854B-950B-6BADD940252F}"/>
              </a:ext>
            </a:extLst>
          </p:cNvPr>
          <p:cNvCxnSpPr>
            <a:cxnSpLocks/>
            <a:stCxn id="13" idx="2"/>
            <a:endCxn id="7" idx="0"/>
          </p:cNvCxnSpPr>
          <p:nvPr/>
        </p:nvCxnSpPr>
        <p:spPr>
          <a:xfrm flipH="1">
            <a:off x="6098372" y="2387853"/>
            <a:ext cx="1043136" cy="853387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31">
            <a:extLst>
              <a:ext uri="{FF2B5EF4-FFF2-40B4-BE49-F238E27FC236}">
                <a16:creationId xmlns:a16="http://schemas.microsoft.com/office/drawing/2014/main" id="{65D96D02-F9FD-4D4A-BB87-675991FCA942}"/>
              </a:ext>
            </a:extLst>
          </p:cNvPr>
          <p:cNvCxnSpPr>
            <a:cxnSpLocks/>
            <a:stCxn id="13" idx="2"/>
            <a:endCxn id="14" idx="0"/>
          </p:cNvCxnSpPr>
          <p:nvPr/>
        </p:nvCxnSpPr>
        <p:spPr>
          <a:xfrm>
            <a:off x="7141508" y="2387853"/>
            <a:ext cx="1270458" cy="695424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31">
            <a:extLst>
              <a:ext uri="{FF2B5EF4-FFF2-40B4-BE49-F238E27FC236}">
                <a16:creationId xmlns:a16="http://schemas.microsoft.com/office/drawing/2014/main" id="{9AECEE92-950E-EB4D-B85D-C8F74E2892CE}"/>
              </a:ext>
            </a:extLst>
          </p:cNvPr>
          <p:cNvCxnSpPr>
            <a:cxnSpLocks/>
            <a:stCxn id="7" idx="2"/>
            <a:endCxn id="12" idx="0"/>
          </p:cNvCxnSpPr>
          <p:nvPr/>
        </p:nvCxnSpPr>
        <p:spPr>
          <a:xfrm>
            <a:off x="6098372" y="3545087"/>
            <a:ext cx="0" cy="600966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5CFBCAD1-5A98-B04C-8AF1-249D98C3BE7E}"/>
              </a:ext>
            </a:extLst>
          </p:cNvPr>
          <p:cNvSpPr/>
          <p:nvPr/>
        </p:nvSpPr>
        <p:spPr>
          <a:xfrm>
            <a:off x="5774336" y="4146053"/>
            <a:ext cx="648072" cy="303847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FF0000"/>
                </a:solidFill>
              </a:rPr>
              <a:t>4,</a:t>
            </a:r>
            <a:r>
              <a:rPr lang="en-US" altLang="zh-CN" dirty="0">
                <a:solidFill>
                  <a:schemeClr val="accent1"/>
                </a:solidFill>
              </a:rPr>
              <a:t> </a:t>
            </a:r>
            <a:r>
              <a:rPr lang="en-US" altLang="zh-CN" dirty="0">
                <a:solidFill>
                  <a:srgbClr val="00B0F0"/>
                </a:solidFill>
              </a:rPr>
              <a:t>3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023B5085-E468-9740-9C88-6D73F2E7BDF2}"/>
              </a:ext>
            </a:extLst>
          </p:cNvPr>
          <p:cNvSpPr/>
          <p:nvPr/>
        </p:nvSpPr>
        <p:spPr>
          <a:xfrm>
            <a:off x="6817472" y="2084006"/>
            <a:ext cx="648072" cy="303847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FF0000"/>
                </a:solidFill>
              </a:rPr>
              <a:t>1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4" name="圆角矩形 13">
            <a:extLst>
              <a:ext uri="{FF2B5EF4-FFF2-40B4-BE49-F238E27FC236}">
                <a16:creationId xmlns:a16="http://schemas.microsoft.com/office/drawing/2014/main" id="{24B86D15-AD9F-C14A-A85A-4F8AC9EDB579}"/>
              </a:ext>
            </a:extLst>
          </p:cNvPr>
          <p:cNvSpPr/>
          <p:nvPr/>
        </p:nvSpPr>
        <p:spPr>
          <a:xfrm>
            <a:off x="8087930" y="3083277"/>
            <a:ext cx="648072" cy="303847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FF0000"/>
                </a:solidFill>
              </a:rPr>
              <a:t>5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5" name="Rectangle 76">
            <a:extLst>
              <a:ext uri="{FF2B5EF4-FFF2-40B4-BE49-F238E27FC236}">
                <a16:creationId xmlns:a16="http://schemas.microsoft.com/office/drawing/2014/main" id="{3B6C9A4C-AFF2-9E41-B703-DD43ADF53F82}"/>
              </a:ext>
            </a:extLst>
          </p:cNvPr>
          <p:cNvSpPr/>
          <p:nvPr/>
        </p:nvSpPr>
        <p:spPr>
          <a:xfrm>
            <a:off x="5594404" y="1921396"/>
            <a:ext cx="3384376" cy="2755474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Ins="90000" rtlCol="0" anchor="t" anchorCtr="0"/>
          <a:lstStyle/>
          <a:p>
            <a:pPr algn="ctr"/>
            <a:endParaRPr lang="en-US" altLang="zh-CN" dirty="0">
              <a:solidFill>
                <a:schemeClr val="accent1"/>
              </a:solidFill>
            </a:endParaRPr>
          </a:p>
        </p:txBody>
      </p:sp>
      <p:sp>
        <p:nvSpPr>
          <p:cNvPr id="16" name="TextBox 56">
            <a:extLst>
              <a:ext uri="{FF2B5EF4-FFF2-40B4-BE49-F238E27FC236}">
                <a16:creationId xmlns:a16="http://schemas.microsoft.com/office/drawing/2014/main" id="{D344C0B3-649A-BC43-8BC1-EE5EA771CB0A}"/>
              </a:ext>
            </a:extLst>
          </p:cNvPr>
          <p:cNvSpPr txBox="1"/>
          <p:nvPr/>
        </p:nvSpPr>
        <p:spPr>
          <a:xfrm>
            <a:off x="7787436" y="4307538"/>
            <a:ext cx="12490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Parent NS</a:t>
            </a:r>
            <a:endParaRPr lang="en-CN" dirty="0">
              <a:solidFill>
                <a:srgbClr val="FF0000"/>
              </a:solidFill>
            </a:endParaRPr>
          </a:p>
        </p:txBody>
      </p:sp>
      <p:sp>
        <p:nvSpPr>
          <p:cNvPr id="17" name="TextBox 56">
            <a:extLst>
              <a:ext uri="{FF2B5EF4-FFF2-40B4-BE49-F238E27FC236}">
                <a16:creationId xmlns:a16="http://schemas.microsoft.com/office/drawing/2014/main" id="{6C771A95-D086-004D-90B6-11BC1EC2642E}"/>
              </a:ext>
            </a:extLst>
          </p:cNvPr>
          <p:cNvSpPr txBox="1"/>
          <p:nvPr/>
        </p:nvSpPr>
        <p:spPr>
          <a:xfrm>
            <a:off x="6740082" y="4242053"/>
            <a:ext cx="1095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00B0F0"/>
                </a:solidFill>
              </a:rPr>
              <a:t>Child NS</a:t>
            </a:r>
            <a:endParaRPr lang="en-CN" dirty="0">
              <a:solidFill>
                <a:srgbClr val="00B0F0"/>
              </a:solidFill>
            </a:endParaRPr>
          </a:p>
        </p:txBody>
      </p:sp>
      <p:cxnSp>
        <p:nvCxnSpPr>
          <p:cNvPr id="18" name="Straight Arrow Connector 31">
            <a:extLst>
              <a:ext uri="{FF2B5EF4-FFF2-40B4-BE49-F238E27FC236}">
                <a16:creationId xmlns:a16="http://schemas.microsoft.com/office/drawing/2014/main" id="{4584FEB5-E526-EA45-8260-56F8B76781EC}"/>
              </a:ext>
            </a:extLst>
          </p:cNvPr>
          <p:cNvCxnSpPr>
            <a:cxnSpLocks/>
          </p:cNvCxnSpPr>
          <p:nvPr/>
        </p:nvCxnSpPr>
        <p:spPr>
          <a:xfrm>
            <a:off x="7141015" y="2717512"/>
            <a:ext cx="493" cy="932076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31">
            <a:extLst>
              <a:ext uri="{FF2B5EF4-FFF2-40B4-BE49-F238E27FC236}">
                <a16:creationId xmlns:a16="http://schemas.microsoft.com/office/drawing/2014/main" id="{63408A35-A164-3E4F-B492-4B41789480D3}"/>
              </a:ext>
            </a:extLst>
          </p:cNvPr>
          <p:cNvCxnSpPr>
            <a:cxnSpLocks/>
            <a:stCxn id="13" idx="2"/>
            <a:endCxn id="6" idx="0"/>
          </p:cNvCxnSpPr>
          <p:nvPr/>
        </p:nvCxnSpPr>
        <p:spPr>
          <a:xfrm>
            <a:off x="7141508" y="2387853"/>
            <a:ext cx="0" cy="329659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圆角矩形 19">
            <a:extLst>
              <a:ext uri="{FF2B5EF4-FFF2-40B4-BE49-F238E27FC236}">
                <a16:creationId xmlns:a16="http://schemas.microsoft.com/office/drawing/2014/main" id="{EF749AA7-033F-FD4C-9285-07A33EB58F1B}"/>
              </a:ext>
            </a:extLst>
          </p:cNvPr>
          <p:cNvSpPr/>
          <p:nvPr/>
        </p:nvSpPr>
        <p:spPr>
          <a:xfrm>
            <a:off x="6815060" y="3649588"/>
            <a:ext cx="648072" cy="30384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FF0000"/>
                </a:solidFill>
              </a:rPr>
              <a:t>3,</a:t>
            </a:r>
            <a:r>
              <a:rPr lang="en-US" altLang="zh-CN" dirty="0">
                <a:solidFill>
                  <a:schemeClr val="accent1"/>
                </a:solidFill>
              </a:rPr>
              <a:t> </a:t>
            </a:r>
            <a:r>
              <a:rPr lang="en-US" altLang="zh-CN" dirty="0">
                <a:solidFill>
                  <a:srgbClr val="00B0F0"/>
                </a:solidFill>
              </a:rPr>
              <a:t>2</a:t>
            </a:r>
            <a:endParaRPr lang="zh-CN" altLang="en-US" dirty="0">
              <a:solidFill>
                <a:srgbClr val="00B0F0"/>
              </a:solidFill>
            </a:endParaRPr>
          </a:p>
        </p:txBody>
      </p:sp>
      <p:cxnSp>
        <p:nvCxnSpPr>
          <p:cNvPr id="21" name="肘形连接符 20">
            <a:extLst>
              <a:ext uri="{FF2B5EF4-FFF2-40B4-BE49-F238E27FC236}">
                <a16:creationId xmlns:a16="http://schemas.microsoft.com/office/drawing/2014/main" id="{103BBC3B-95E2-E046-9669-0603CB442F57}"/>
              </a:ext>
            </a:extLst>
          </p:cNvPr>
          <p:cNvCxnSpPr/>
          <p:nvPr/>
        </p:nvCxnSpPr>
        <p:spPr>
          <a:xfrm rot="10800000" flipV="1">
            <a:off x="7460698" y="3387126"/>
            <a:ext cx="798003" cy="346496"/>
          </a:xfrm>
          <a:prstGeom prst="bentConnector3">
            <a:avLst>
              <a:gd name="adj1" fmla="val -290"/>
            </a:avLst>
          </a:prstGeom>
          <a:ln w="1905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Multiply 13">
            <a:extLst>
              <a:ext uri="{FF2B5EF4-FFF2-40B4-BE49-F238E27FC236}">
                <a16:creationId xmlns:a16="http://schemas.microsoft.com/office/drawing/2014/main" id="{0E7885EE-8B16-3B4C-8F84-E66B8B64DDF8}"/>
              </a:ext>
            </a:extLst>
          </p:cNvPr>
          <p:cNvSpPr/>
          <p:nvPr/>
        </p:nvSpPr>
        <p:spPr>
          <a:xfrm>
            <a:off x="7790446" y="3809776"/>
            <a:ext cx="504031" cy="521318"/>
          </a:xfrm>
          <a:prstGeom prst="mathMultiply">
            <a:avLst>
              <a:gd name="adj1" fmla="val 1308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3" name="L-Shape 15">
            <a:extLst>
              <a:ext uri="{FF2B5EF4-FFF2-40B4-BE49-F238E27FC236}">
                <a16:creationId xmlns:a16="http://schemas.microsoft.com/office/drawing/2014/main" id="{EF468DFD-2D39-E645-A6ED-68E1214140E5}"/>
              </a:ext>
            </a:extLst>
          </p:cNvPr>
          <p:cNvSpPr/>
          <p:nvPr/>
        </p:nvSpPr>
        <p:spPr>
          <a:xfrm rot="19140904">
            <a:off x="8360997" y="3467164"/>
            <a:ext cx="361523" cy="232792"/>
          </a:xfrm>
          <a:prstGeom prst="corner">
            <a:avLst>
              <a:gd name="adj1" fmla="val 27348"/>
              <a:gd name="adj2" fmla="val 2928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24" name="直接箭头连接符 73">
            <a:extLst>
              <a:ext uri="{FF2B5EF4-FFF2-40B4-BE49-F238E27FC236}">
                <a16:creationId xmlns:a16="http://schemas.microsoft.com/office/drawing/2014/main" id="{57B1BEAB-7D51-4D4B-8799-C3463152326F}"/>
              </a:ext>
            </a:extLst>
          </p:cNvPr>
          <p:cNvCxnSpPr/>
          <p:nvPr/>
        </p:nvCxnSpPr>
        <p:spPr>
          <a:xfrm flipV="1">
            <a:off x="7474341" y="3869606"/>
            <a:ext cx="457200" cy="3679"/>
          </a:xfrm>
          <a:prstGeom prst="straightConnector1">
            <a:avLst/>
          </a:prstGeom>
          <a:ln w="1905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56">
            <a:extLst>
              <a:ext uri="{FF2B5EF4-FFF2-40B4-BE49-F238E27FC236}">
                <a16:creationId xmlns:a16="http://schemas.microsoft.com/office/drawing/2014/main" id="{AD22C360-D587-0241-8EAF-4A1D3F03F041}"/>
              </a:ext>
            </a:extLst>
          </p:cNvPr>
          <p:cNvSpPr txBox="1"/>
          <p:nvPr/>
        </p:nvSpPr>
        <p:spPr>
          <a:xfrm>
            <a:off x="8198894" y="3808032"/>
            <a:ext cx="7910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Signal</a:t>
            </a:r>
            <a:endParaRPr lang="en-CN" sz="1600" dirty="0"/>
          </a:p>
        </p:txBody>
      </p:sp>
    </p:spTree>
    <p:extLst>
      <p:ext uri="{BB962C8B-B14F-4D97-AF65-F5344CB8AC3E}">
        <p14:creationId xmlns:p14="http://schemas.microsoft.com/office/powerpoint/2010/main" val="3197050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42" presetClass="pat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2222E-6 4.44444E-6 L -0.00018 0.16194 " pathEditMode="relative" rAng="0" ptsTypes="AA">
                                      <p:cBhvr>
                                        <p:cTn id="2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" y="8083"/>
                                    </p:animMotion>
                                  </p:childTnLst>
                                </p:cTn>
                              </p:par>
                              <p:par>
                                <p:cTn id="2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50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50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4000"/>
                            </p:stCondLst>
                            <p:childTnLst>
                              <p:par>
                                <p:cTn id="4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500"/>
                            </p:stCondLst>
                            <p:childTnLst>
                              <p:par>
                                <p:cTn id="5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7000"/>
                            </p:stCondLst>
                            <p:childTnLst>
                              <p:par>
                                <p:cTn id="5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7000"/>
                            </p:stCondLst>
                            <p:childTnLst>
                              <p:par>
                                <p:cTn id="60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8500"/>
                            </p:stCondLst>
                            <p:childTnLst>
                              <p:par>
                                <p:cTn id="6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7" grpId="0" animBg="1"/>
      <p:bldP spid="8" grpId="0" animBg="1"/>
      <p:bldP spid="12" grpId="0" animBg="1"/>
      <p:bldP spid="14" grpId="0" animBg="1"/>
      <p:bldP spid="17" grpId="0"/>
      <p:bldP spid="20" grpId="0" animBg="1"/>
      <p:bldP spid="22" grpId="0" animBg="1"/>
      <p:bldP spid="23" grpId="0" animBg="1"/>
      <p:bldP spid="25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0D6FE-7FBC-1E47-8583-00F8C0D1B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</a:t>
            </a:r>
            <a:r>
              <a:rPr lang="zh-CN" altLang="en-US" dirty="0"/>
              <a:t>、</a:t>
            </a:r>
            <a:r>
              <a:rPr lang="en-US" altLang="ja-JP" dirty="0"/>
              <a:t>User</a:t>
            </a:r>
            <a:r>
              <a:rPr lang="zh-CN" altLang="en-US" dirty="0"/>
              <a:t> </a:t>
            </a:r>
            <a:r>
              <a:rPr lang="en-US" altLang="zh-CN" dirty="0"/>
              <a:t>Namespace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0EB339-624B-A34F-9BF3-0FD64ECB31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/>
              <a:t>容器内外共享一个</a:t>
            </a:r>
            <a:r>
              <a:rPr lang="en-US" altLang="ja-JP" dirty="0"/>
              <a:t>root</a:t>
            </a:r>
            <a:r>
              <a:rPr lang="ja-JP" altLang="en-US"/>
              <a:t>用户会发生什么</a:t>
            </a:r>
            <a:r>
              <a:rPr lang="zh-CN" altLang="en-US" dirty="0"/>
              <a:t>？</a:t>
            </a:r>
            <a:endParaRPr lang="en-US" altLang="zh-CN" dirty="0"/>
          </a:p>
          <a:p>
            <a:endParaRPr lang="en-US" altLang="zh-CN" dirty="0"/>
          </a:p>
          <a:p>
            <a:r>
              <a:rPr lang="ja-JP" altLang="en-US"/>
              <a:t>假设一个恶意用户在容器内获取了</a:t>
            </a:r>
            <a:r>
              <a:rPr lang="en-US" altLang="ja-JP" dirty="0"/>
              <a:t>root</a:t>
            </a:r>
            <a:r>
              <a:rPr lang="ja-JP" altLang="en-US"/>
              <a:t>权限</a:t>
            </a:r>
            <a:endParaRPr lang="en-US" altLang="ja-JP" dirty="0"/>
          </a:p>
          <a:p>
            <a:pPr lvl="1"/>
            <a:r>
              <a:rPr lang="ja-JP" altLang="en-US"/>
              <a:t>恶意用户相当于拥有了整个系统的最高权限</a:t>
            </a:r>
            <a:endParaRPr lang="en-US" altLang="ja-JP" dirty="0"/>
          </a:p>
          <a:p>
            <a:pPr lvl="1"/>
            <a:r>
              <a:rPr lang="ja-JP" altLang="en-US"/>
              <a:t>可以窃取其他容器甚至主机操作系统的隐私信息</a:t>
            </a:r>
            <a:endParaRPr lang="en-US" altLang="ja-JP" dirty="0"/>
          </a:p>
          <a:p>
            <a:pPr lvl="1"/>
            <a:r>
              <a:rPr lang="ja-JP" altLang="en-US"/>
              <a:t>可以控制或破坏系统内的各种服务</a:t>
            </a:r>
            <a:endParaRPr lang="en-US" altLang="ja-JP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D868DE-1107-EF47-87E8-D2E388A53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40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2FB088-080C-774E-A79A-B449E156D9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4968795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User Namespace</a:t>
            </a:r>
            <a:r>
              <a:rPr lang="zh-CN" altLang="en-US" dirty="0"/>
              <a:t>的实现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333501"/>
            <a:ext cx="4114800" cy="3771636"/>
          </a:xfrm>
        </p:spPr>
        <p:txBody>
          <a:bodyPr>
            <a:normAutofit/>
          </a:bodyPr>
          <a:lstStyle/>
          <a:p>
            <a:r>
              <a:rPr lang="ja-JP" altLang="en-CN" sz="1800"/>
              <a:t>对</a:t>
            </a:r>
            <a:r>
              <a:rPr lang="en-US" altLang="ja-JP" sz="1800" dirty="0"/>
              <a:t>NS</a:t>
            </a:r>
            <a:r>
              <a:rPr lang="ja-JP" altLang="en-US" sz="1800"/>
              <a:t>内外的</a:t>
            </a:r>
            <a:r>
              <a:rPr lang="en-US" altLang="zh-CN" sz="1800" dirty="0"/>
              <a:t>UID</a:t>
            </a:r>
            <a:r>
              <a:rPr lang="ja-JP" altLang="en-US" sz="1800"/>
              <a:t>和</a:t>
            </a:r>
            <a:r>
              <a:rPr lang="en-US" altLang="ja-JP" sz="1800" dirty="0"/>
              <a:t>GID</a:t>
            </a:r>
            <a:r>
              <a:rPr lang="ja-JP" altLang="en-US" sz="1800"/>
              <a:t>进行映射</a:t>
            </a:r>
            <a:endParaRPr lang="en-US" altLang="ja-JP" sz="1800" dirty="0"/>
          </a:p>
          <a:p>
            <a:pPr lvl="1"/>
            <a:r>
              <a:rPr lang="zh-CN" altLang="en-US" sz="1600" dirty="0"/>
              <a:t>允许普通用户在容器内有更高权限</a:t>
            </a:r>
            <a:endParaRPr lang="en-US" altLang="zh-CN" sz="1600" dirty="0"/>
          </a:p>
          <a:p>
            <a:pPr lvl="2"/>
            <a:r>
              <a:rPr lang="zh-CN" altLang="en-US" sz="1600" dirty="0"/>
              <a:t>基于</a:t>
            </a:r>
            <a:r>
              <a:rPr lang="en-US" altLang="zh-CN" sz="1600" dirty="0"/>
              <a:t>Linux</a:t>
            </a:r>
            <a:r>
              <a:rPr lang="zh-CN" altLang="en-US" sz="1600" dirty="0"/>
              <a:t> </a:t>
            </a:r>
            <a:r>
              <a:rPr lang="en-US" altLang="zh-CN" sz="1600" dirty="0"/>
              <a:t>Capability</a:t>
            </a:r>
            <a:r>
              <a:rPr lang="zh-CN" altLang="en-US" sz="1600" dirty="0"/>
              <a:t>机制</a:t>
            </a:r>
            <a:endParaRPr lang="en-US" altLang="zh-CN" sz="1600" dirty="0"/>
          </a:p>
          <a:p>
            <a:pPr lvl="1"/>
            <a:r>
              <a:rPr lang="ja-JP" altLang="en-US" sz="1600"/>
              <a:t>容器内</a:t>
            </a:r>
            <a:r>
              <a:rPr lang="en-US" altLang="ja-JP" sz="1600" dirty="0"/>
              <a:t>root</a:t>
            </a:r>
            <a:r>
              <a:rPr lang="ja-JP" altLang="en-US" sz="1600"/>
              <a:t>用户在容器外</a:t>
            </a:r>
            <a:r>
              <a:rPr lang="zh-CN" altLang="en-US" sz="1600" dirty="0"/>
              <a:t>无</a:t>
            </a:r>
            <a:r>
              <a:rPr lang="ja-JP" altLang="en-US" sz="1600"/>
              <a:t>特权</a:t>
            </a:r>
            <a:endParaRPr lang="en-US" altLang="ja-JP" sz="1600" dirty="0"/>
          </a:p>
          <a:p>
            <a:pPr lvl="2"/>
            <a:r>
              <a:rPr lang="zh-CN" altLang="en-US" sz="1600" dirty="0"/>
              <a:t>只是普通用户</a:t>
            </a:r>
            <a:endParaRPr lang="en-US" altLang="zh-CN" sz="1600" dirty="0"/>
          </a:p>
          <a:p>
            <a:r>
              <a:rPr lang="zh-CN" altLang="en-US" sz="1800" dirty="0"/>
              <a:t>图例</a:t>
            </a:r>
            <a:endParaRPr lang="en-US" altLang="zh-CN" sz="1800" dirty="0"/>
          </a:p>
          <a:p>
            <a:pPr lvl="1"/>
            <a:r>
              <a:rPr lang="zh-CN" altLang="en-US" sz="1600" dirty="0"/>
              <a:t>普通用户在子</a:t>
            </a:r>
            <a:r>
              <a:rPr lang="en-US" altLang="zh-CN" sz="1600" dirty="0"/>
              <a:t>NS</a:t>
            </a:r>
            <a:r>
              <a:rPr lang="zh-CN" altLang="en-US" sz="1600" dirty="0"/>
              <a:t>中是</a:t>
            </a:r>
            <a:r>
              <a:rPr lang="en-US" altLang="zh-CN" sz="1600" dirty="0"/>
              <a:t>root</a:t>
            </a:r>
            <a:r>
              <a:rPr lang="zh-CN" altLang="en-US" sz="1600" dirty="0"/>
              <a:t>用户</a:t>
            </a:r>
            <a:endParaRPr lang="en-US" altLang="zh-CN" sz="1600" dirty="0"/>
          </a:p>
          <a:p>
            <a:endParaRPr lang="zh-CN" altLang="en-US" sz="1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68" name="矩形 67"/>
          <p:cNvSpPr/>
          <p:nvPr/>
        </p:nvSpPr>
        <p:spPr>
          <a:xfrm>
            <a:off x="5103410" y="1646332"/>
            <a:ext cx="3657600" cy="22483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矩形 68"/>
          <p:cNvSpPr/>
          <p:nvPr/>
        </p:nvSpPr>
        <p:spPr>
          <a:xfrm>
            <a:off x="6017810" y="2570943"/>
            <a:ext cx="1828800" cy="224834"/>
          </a:xfrm>
          <a:prstGeom prst="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矩形 69"/>
          <p:cNvSpPr/>
          <p:nvPr/>
        </p:nvSpPr>
        <p:spPr>
          <a:xfrm>
            <a:off x="6475010" y="3500098"/>
            <a:ext cx="914400" cy="224834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矩形 70"/>
          <p:cNvSpPr/>
          <p:nvPr/>
        </p:nvSpPr>
        <p:spPr>
          <a:xfrm>
            <a:off x="4934014" y="1201316"/>
            <a:ext cx="4114800" cy="3160703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TextBox 56">
            <a:extLst>
              <a:ext uri="{FF2B5EF4-FFF2-40B4-BE49-F238E27FC236}">
                <a16:creationId xmlns:a16="http://schemas.microsoft.com/office/drawing/2014/main" id="{8490D254-840B-F84D-9556-31AABBC772EB}"/>
              </a:ext>
            </a:extLst>
          </p:cNvPr>
          <p:cNvSpPr txBox="1"/>
          <p:nvPr/>
        </p:nvSpPr>
        <p:spPr>
          <a:xfrm>
            <a:off x="5931619" y="3037715"/>
            <a:ext cx="6480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/>
              <a:t>root</a:t>
            </a:r>
          </a:p>
          <a:p>
            <a:pPr algn="ctr"/>
            <a:r>
              <a:rPr lang="en-US" altLang="zh-CN" sz="1400" dirty="0"/>
              <a:t>0</a:t>
            </a:r>
            <a:endParaRPr lang="en-CN" sz="1400" dirty="0"/>
          </a:p>
        </p:txBody>
      </p:sp>
      <p:sp>
        <p:nvSpPr>
          <p:cNvPr id="73" name="TextBox 56">
            <a:extLst>
              <a:ext uri="{FF2B5EF4-FFF2-40B4-BE49-F238E27FC236}">
                <a16:creationId xmlns:a16="http://schemas.microsoft.com/office/drawing/2014/main" id="{8490D254-840B-F84D-9556-31AABBC772EB}"/>
              </a:ext>
            </a:extLst>
          </p:cNvPr>
          <p:cNvSpPr txBox="1"/>
          <p:nvPr/>
        </p:nvSpPr>
        <p:spPr>
          <a:xfrm>
            <a:off x="5961885" y="2101376"/>
            <a:ext cx="6480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Hong</a:t>
            </a:r>
          </a:p>
          <a:p>
            <a:r>
              <a:rPr lang="en-US" sz="1400" dirty="0"/>
              <a:t>500</a:t>
            </a:r>
            <a:endParaRPr lang="en-CN" sz="1400" dirty="0"/>
          </a:p>
        </p:txBody>
      </p:sp>
      <p:sp>
        <p:nvSpPr>
          <p:cNvPr id="74" name="TextBox 56">
            <a:extLst>
              <a:ext uri="{FF2B5EF4-FFF2-40B4-BE49-F238E27FC236}">
                <a16:creationId xmlns:a16="http://schemas.microsoft.com/office/drawing/2014/main" id="{8490D254-840B-F84D-9556-31AABBC772EB}"/>
              </a:ext>
            </a:extLst>
          </p:cNvPr>
          <p:cNvSpPr txBox="1"/>
          <p:nvPr/>
        </p:nvSpPr>
        <p:spPr>
          <a:xfrm>
            <a:off x="7384261" y="1368520"/>
            <a:ext cx="6480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2999</a:t>
            </a:r>
          </a:p>
        </p:txBody>
      </p:sp>
      <p:sp>
        <p:nvSpPr>
          <p:cNvPr id="75" name="TextBox 56">
            <a:extLst>
              <a:ext uri="{FF2B5EF4-FFF2-40B4-BE49-F238E27FC236}">
                <a16:creationId xmlns:a16="http://schemas.microsoft.com/office/drawing/2014/main" id="{8490D254-840B-F84D-9556-31AABBC772EB}"/>
              </a:ext>
            </a:extLst>
          </p:cNvPr>
          <p:cNvSpPr txBox="1"/>
          <p:nvPr/>
        </p:nvSpPr>
        <p:spPr>
          <a:xfrm>
            <a:off x="5521369" y="1174567"/>
            <a:ext cx="6480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M</a:t>
            </a:r>
            <a:r>
              <a:rPr lang="en-US" altLang="ja-JP" sz="1400" dirty="0"/>
              <a:t>ing</a:t>
            </a:r>
            <a:endParaRPr lang="en-US" altLang="zh-CN" sz="1400" dirty="0"/>
          </a:p>
          <a:p>
            <a:r>
              <a:rPr lang="en-US" sz="1400" dirty="0"/>
              <a:t>1000</a:t>
            </a:r>
            <a:endParaRPr lang="en-CN" sz="1400" dirty="0"/>
          </a:p>
        </p:txBody>
      </p:sp>
      <p:sp>
        <p:nvSpPr>
          <p:cNvPr id="76" name="TextBox 56">
            <a:extLst>
              <a:ext uri="{FF2B5EF4-FFF2-40B4-BE49-F238E27FC236}">
                <a16:creationId xmlns:a16="http://schemas.microsoft.com/office/drawing/2014/main" id="{8490D254-840B-F84D-9556-31AABBC772EB}"/>
              </a:ext>
            </a:extLst>
          </p:cNvPr>
          <p:cNvSpPr txBox="1"/>
          <p:nvPr/>
        </p:nvSpPr>
        <p:spPr>
          <a:xfrm>
            <a:off x="4788024" y="1174567"/>
            <a:ext cx="6480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/>
              <a:t>root</a:t>
            </a:r>
          </a:p>
          <a:p>
            <a:pPr algn="ctr"/>
            <a:r>
              <a:rPr lang="en-US" altLang="zh-CN" sz="1400" dirty="0"/>
              <a:t>0</a:t>
            </a:r>
            <a:endParaRPr lang="en-CN" sz="1400" dirty="0"/>
          </a:p>
        </p:txBody>
      </p:sp>
      <p:sp>
        <p:nvSpPr>
          <p:cNvPr id="77" name="TextBox 56">
            <a:extLst>
              <a:ext uri="{FF2B5EF4-FFF2-40B4-BE49-F238E27FC236}">
                <a16:creationId xmlns:a16="http://schemas.microsoft.com/office/drawing/2014/main" id="{8490D254-840B-F84D-9556-31AABBC772EB}"/>
              </a:ext>
            </a:extLst>
          </p:cNvPr>
          <p:cNvSpPr txBox="1"/>
          <p:nvPr/>
        </p:nvSpPr>
        <p:spPr>
          <a:xfrm>
            <a:off x="5488663" y="2092764"/>
            <a:ext cx="6480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/>
              <a:t>root</a:t>
            </a:r>
          </a:p>
          <a:p>
            <a:pPr algn="ctr"/>
            <a:r>
              <a:rPr lang="en-US" altLang="zh-CN" sz="1400" dirty="0"/>
              <a:t>0</a:t>
            </a:r>
            <a:endParaRPr lang="en-CN" sz="1400" dirty="0"/>
          </a:p>
        </p:txBody>
      </p:sp>
      <p:sp>
        <p:nvSpPr>
          <p:cNvPr id="78" name="TextBox 56">
            <a:extLst>
              <a:ext uri="{FF2B5EF4-FFF2-40B4-BE49-F238E27FC236}">
                <a16:creationId xmlns:a16="http://schemas.microsoft.com/office/drawing/2014/main" id="{8490D254-840B-F84D-9556-31AABBC772EB}"/>
              </a:ext>
            </a:extLst>
          </p:cNvPr>
          <p:cNvSpPr txBox="1"/>
          <p:nvPr/>
        </p:nvSpPr>
        <p:spPr>
          <a:xfrm>
            <a:off x="6836773" y="2293044"/>
            <a:ext cx="6480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1499</a:t>
            </a:r>
          </a:p>
        </p:txBody>
      </p:sp>
      <p:sp>
        <p:nvSpPr>
          <p:cNvPr id="79" name="TextBox 56">
            <a:extLst>
              <a:ext uri="{FF2B5EF4-FFF2-40B4-BE49-F238E27FC236}">
                <a16:creationId xmlns:a16="http://schemas.microsoft.com/office/drawing/2014/main" id="{8490D254-840B-F84D-9556-31AABBC772EB}"/>
              </a:ext>
            </a:extLst>
          </p:cNvPr>
          <p:cNvSpPr txBox="1"/>
          <p:nvPr/>
        </p:nvSpPr>
        <p:spPr>
          <a:xfrm>
            <a:off x="7346282" y="2291087"/>
            <a:ext cx="6480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1999</a:t>
            </a:r>
          </a:p>
        </p:txBody>
      </p:sp>
      <p:sp>
        <p:nvSpPr>
          <p:cNvPr id="80" name="TextBox 56">
            <a:extLst>
              <a:ext uri="{FF2B5EF4-FFF2-40B4-BE49-F238E27FC236}">
                <a16:creationId xmlns:a16="http://schemas.microsoft.com/office/drawing/2014/main" id="{8490D254-840B-F84D-9556-31AABBC772EB}"/>
              </a:ext>
            </a:extLst>
          </p:cNvPr>
          <p:cNvSpPr txBox="1"/>
          <p:nvPr/>
        </p:nvSpPr>
        <p:spPr>
          <a:xfrm>
            <a:off x="6932210" y="3228333"/>
            <a:ext cx="6480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999</a:t>
            </a:r>
          </a:p>
        </p:txBody>
      </p:sp>
      <p:cxnSp>
        <p:nvCxnSpPr>
          <p:cNvPr id="81" name="Straight Arrow Connector 31">
            <a:extLst>
              <a:ext uri="{FF2B5EF4-FFF2-40B4-BE49-F238E27FC236}">
                <a16:creationId xmlns:a16="http://schemas.microsoft.com/office/drawing/2014/main" id="{49AC4C82-BB3D-7642-A4BF-7D0CC5D69CEC}"/>
              </a:ext>
            </a:extLst>
          </p:cNvPr>
          <p:cNvCxnSpPr>
            <a:cxnSpLocks/>
          </p:cNvCxnSpPr>
          <p:nvPr/>
        </p:nvCxnSpPr>
        <p:spPr>
          <a:xfrm flipH="1">
            <a:off x="6017809" y="1653382"/>
            <a:ext cx="1" cy="910511"/>
          </a:xfrm>
          <a:prstGeom prst="straightConnector1">
            <a:avLst/>
          </a:prstGeom>
          <a:ln w="25400">
            <a:solidFill>
              <a:schemeClr val="tx1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31">
            <a:extLst>
              <a:ext uri="{FF2B5EF4-FFF2-40B4-BE49-F238E27FC236}">
                <a16:creationId xmlns:a16="http://schemas.microsoft.com/office/drawing/2014/main" id="{49AC4C82-BB3D-7642-A4BF-7D0CC5D69CEC}"/>
              </a:ext>
            </a:extLst>
          </p:cNvPr>
          <p:cNvCxnSpPr>
            <a:cxnSpLocks/>
          </p:cNvCxnSpPr>
          <p:nvPr/>
        </p:nvCxnSpPr>
        <p:spPr>
          <a:xfrm flipH="1">
            <a:off x="7846610" y="1653382"/>
            <a:ext cx="1" cy="910511"/>
          </a:xfrm>
          <a:prstGeom prst="straightConnector1">
            <a:avLst/>
          </a:prstGeom>
          <a:ln w="25400">
            <a:solidFill>
              <a:schemeClr val="tx1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TextBox 56">
            <a:extLst>
              <a:ext uri="{FF2B5EF4-FFF2-40B4-BE49-F238E27FC236}">
                <a16:creationId xmlns:a16="http://schemas.microsoft.com/office/drawing/2014/main" id="{8490D254-840B-F84D-9556-31AABBC772EB}"/>
              </a:ext>
            </a:extLst>
          </p:cNvPr>
          <p:cNvSpPr txBox="1"/>
          <p:nvPr/>
        </p:nvSpPr>
        <p:spPr>
          <a:xfrm>
            <a:off x="8711669" y="1532612"/>
            <a:ext cx="6480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/>
              <a:t>…</a:t>
            </a:r>
            <a:endParaRPr lang="en-CN" sz="1600" b="1" dirty="0"/>
          </a:p>
        </p:txBody>
      </p:sp>
      <p:sp>
        <p:nvSpPr>
          <p:cNvPr id="84" name="TextBox 56">
            <a:extLst>
              <a:ext uri="{FF2B5EF4-FFF2-40B4-BE49-F238E27FC236}">
                <a16:creationId xmlns:a16="http://schemas.microsoft.com/office/drawing/2014/main" id="{8490D254-840B-F84D-9556-31AABBC772EB}"/>
              </a:ext>
            </a:extLst>
          </p:cNvPr>
          <p:cNvSpPr txBox="1"/>
          <p:nvPr/>
        </p:nvSpPr>
        <p:spPr>
          <a:xfrm>
            <a:off x="7360922" y="3373224"/>
            <a:ext cx="6480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chemeClr val="accent1"/>
                </a:solidFill>
              </a:rPr>
              <a:t>…</a:t>
            </a:r>
            <a:endParaRPr lang="en-CN" sz="1600" b="1" dirty="0">
              <a:solidFill>
                <a:schemeClr val="accent1"/>
              </a:solidFill>
            </a:endParaRPr>
          </a:p>
        </p:txBody>
      </p:sp>
      <p:cxnSp>
        <p:nvCxnSpPr>
          <p:cNvPr id="85" name="Straight Arrow Connector 31">
            <a:extLst>
              <a:ext uri="{FF2B5EF4-FFF2-40B4-BE49-F238E27FC236}">
                <a16:creationId xmlns:a16="http://schemas.microsoft.com/office/drawing/2014/main" id="{49AC4C82-BB3D-7642-A4BF-7D0CC5D69CEC}"/>
              </a:ext>
            </a:extLst>
          </p:cNvPr>
          <p:cNvCxnSpPr>
            <a:cxnSpLocks/>
          </p:cNvCxnSpPr>
          <p:nvPr/>
        </p:nvCxnSpPr>
        <p:spPr>
          <a:xfrm flipH="1">
            <a:off x="6475011" y="1669123"/>
            <a:ext cx="0" cy="1828800"/>
          </a:xfrm>
          <a:prstGeom prst="straightConnector1">
            <a:avLst/>
          </a:prstGeom>
          <a:ln w="25400">
            <a:solidFill>
              <a:schemeClr val="tx1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31">
            <a:extLst>
              <a:ext uri="{FF2B5EF4-FFF2-40B4-BE49-F238E27FC236}">
                <a16:creationId xmlns:a16="http://schemas.microsoft.com/office/drawing/2014/main" id="{49AC4C82-BB3D-7642-A4BF-7D0CC5D69CEC}"/>
              </a:ext>
            </a:extLst>
          </p:cNvPr>
          <p:cNvCxnSpPr>
            <a:cxnSpLocks/>
          </p:cNvCxnSpPr>
          <p:nvPr/>
        </p:nvCxnSpPr>
        <p:spPr>
          <a:xfrm>
            <a:off x="7389408" y="1669123"/>
            <a:ext cx="1" cy="1828800"/>
          </a:xfrm>
          <a:prstGeom prst="straightConnector1">
            <a:avLst/>
          </a:prstGeom>
          <a:ln w="25400">
            <a:solidFill>
              <a:schemeClr val="tx1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56">
            <a:extLst>
              <a:ext uri="{FF2B5EF4-FFF2-40B4-BE49-F238E27FC236}">
                <a16:creationId xmlns:a16="http://schemas.microsoft.com/office/drawing/2014/main" id="{8490D254-840B-F84D-9556-31AABBC772EB}"/>
              </a:ext>
            </a:extLst>
          </p:cNvPr>
          <p:cNvSpPr txBox="1"/>
          <p:nvPr/>
        </p:nvSpPr>
        <p:spPr>
          <a:xfrm>
            <a:off x="7840146" y="2446691"/>
            <a:ext cx="6480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chemeClr val="accent3"/>
                </a:solidFill>
              </a:rPr>
              <a:t>…</a:t>
            </a:r>
            <a:endParaRPr lang="en-CN" sz="1600" b="1" dirty="0">
              <a:solidFill>
                <a:schemeClr val="accent3"/>
              </a:solidFill>
            </a:endParaRPr>
          </a:p>
        </p:txBody>
      </p:sp>
      <p:sp>
        <p:nvSpPr>
          <p:cNvPr id="88" name="矩形 87"/>
          <p:cNvSpPr/>
          <p:nvPr/>
        </p:nvSpPr>
        <p:spPr>
          <a:xfrm>
            <a:off x="5604888" y="2016331"/>
            <a:ext cx="3064117" cy="2129664"/>
          </a:xfrm>
          <a:prstGeom prst="rect">
            <a:avLst/>
          </a:prstGeom>
          <a:noFill/>
          <a:ln>
            <a:solidFill>
              <a:schemeClr val="accent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9" name="矩形 88"/>
          <p:cNvSpPr/>
          <p:nvPr/>
        </p:nvSpPr>
        <p:spPr>
          <a:xfrm>
            <a:off x="6061999" y="2911011"/>
            <a:ext cx="2112375" cy="1017272"/>
          </a:xfrm>
          <a:prstGeom prst="rect">
            <a:avLst/>
          </a:prstGeom>
          <a:noFill/>
          <a:ln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0" name="TextBox 56">
            <a:extLst>
              <a:ext uri="{FF2B5EF4-FFF2-40B4-BE49-F238E27FC236}">
                <a16:creationId xmlns:a16="http://schemas.microsoft.com/office/drawing/2014/main" id="{8490D254-840B-F84D-9556-31AABBC772EB}"/>
              </a:ext>
            </a:extLst>
          </p:cNvPr>
          <p:cNvSpPr txBox="1"/>
          <p:nvPr/>
        </p:nvSpPr>
        <p:spPr>
          <a:xfrm>
            <a:off x="8164181" y="1192704"/>
            <a:ext cx="9589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/>
              <a:t>Root NS</a:t>
            </a:r>
            <a:endParaRPr lang="en-CN" sz="1600" dirty="0"/>
          </a:p>
        </p:txBody>
      </p:sp>
      <p:sp>
        <p:nvSpPr>
          <p:cNvPr id="91" name="TextBox 56">
            <a:extLst>
              <a:ext uri="{FF2B5EF4-FFF2-40B4-BE49-F238E27FC236}">
                <a16:creationId xmlns:a16="http://schemas.microsoft.com/office/drawing/2014/main" id="{8490D254-840B-F84D-9556-31AABBC772EB}"/>
              </a:ext>
            </a:extLst>
          </p:cNvPr>
          <p:cNvSpPr txBox="1"/>
          <p:nvPr/>
        </p:nvSpPr>
        <p:spPr>
          <a:xfrm>
            <a:off x="7866447" y="1996916"/>
            <a:ext cx="8747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solidFill>
                  <a:schemeClr val="accent3"/>
                </a:solidFill>
              </a:rPr>
              <a:t>LV1 NS</a:t>
            </a:r>
            <a:endParaRPr lang="en-CN" sz="1600" dirty="0">
              <a:solidFill>
                <a:schemeClr val="accent3"/>
              </a:solidFill>
            </a:endParaRPr>
          </a:p>
        </p:txBody>
      </p:sp>
      <p:sp>
        <p:nvSpPr>
          <p:cNvPr id="92" name="TextBox 56">
            <a:extLst>
              <a:ext uri="{FF2B5EF4-FFF2-40B4-BE49-F238E27FC236}">
                <a16:creationId xmlns:a16="http://schemas.microsoft.com/office/drawing/2014/main" id="{8490D254-840B-F84D-9556-31AABBC772EB}"/>
              </a:ext>
            </a:extLst>
          </p:cNvPr>
          <p:cNvSpPr txBox="1"/>
          <p:nvPr/>
        </p:nvSpPr>
        <p:spPr>
          <a:xfrm>
            <a:off x="7371467" y="2886150"/>
            <a:ext cx="8747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solidFill>
                  <a:schemeClr val="accent1"/>
                </a:solidFill>
              </a:rPr>
              <a:t>LV2 NS</a:t>
            </a:r>
            <a:endParaRPr lang="en-CN" sz="16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7127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500"/>
                            </p:stCondLst>
                            <p:childTnLst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" grpId="0" animBg="1"/>
      <p:bldP spid="70" grpId="0" animBg="1"/>
      <p:bldP spid="72" grpId="0"/>
      <p:bldP spid="73" grpId="0"/>
      <p:bldP spid="77" grpId="0"/>
      <p:bldP spid="78" grpId="0"/>
      <p:bldP spid="79" grpId="0"/>
      <p:bldP spid="80" grpId="0"/>
      <p:bldP spid="84" grpId="0"/>
      <p:bldP spid="87" grpId="0"/>
      <p:bldP spid="88" grpId="0" animBg="1"/>
      <p:bldP spid="89" grpId="0" animBg="1"/>
      <p:bldP spid="91" grpId="0"/>
      <p:bldP spid="92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467BA4-DB32-2C44-BC9E-029C0D69A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进一步限制容器内</a:t>
            </a:r>
            <a:r>
              <a:rPr kumimoji="1" lang="en-US" altLang="zh-CN" dirty="0"/>
              <a:t>Root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A951007-BEC8-F54F-89F1-8802029431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如果容器内</a:t>
            </a:r>
            <a:r>
              <a:rPr kumimoji="1" lang="en-US" altLang="zh-CN" dirty="0"/>
              <a:t>root</a:t>
            </a:r>
            <a:r>
              <a:rPr kumimoji="1" lang="zh-CN" altLang="en-US" dirty="0"/>
              <a:t>要执行特权操作怎么办？</a:t>
            </a:r>
            <a:endParaRPr kumimoji="1" lang="en-US" altLang="zh-CN" dirty="0"/>
          </a:p>
          <a:p>
            <a:pPr lvl="1"/>
            <a:r>
              <a:rPr kumimoji="1" lang="en-US" altLang="zh-CN" dirty="0" err="1"/>
              <a:t>insmod</a:t>
            </a:r>
            <a:r>
              <a:rPr kumimoji="1" lang="zh-CN" altLang="en-US" dirty="0"/>
              <a:t>？一旦允许在内核中插入驱动，则拥有最高权限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关机</a:t>
            </a:r>
            <a:r>
              <a:rPr kumimoji="1" lang="en-US" altLang="zh-CN" dirty="0"/>
              <a:t>/</a:t>
            </a:r>
            <a:r>
              <a:rPr kumimoji="1" lang="zh-CN" altLang="en-US" dirty="0"/>
              <a:t>重启？整个云服务器会受影响</a:t>
            </a:r>
            <a:endParaRPr kumimoji="1" lang="en-US" altLang="zh-CN" dirty="0"/>
          </a:p>
          <a:p>
            <a:r>
              <a:rPr kumimoji="1" lang="en-US" altLang="zh-CN" dirty="0"/>
              <a:t>1</a:t>
            </a:r>
            <a:r>
              <a:rPr kumimoji="1" lang="zh-CN" altLang="en-US" dirty="0"/>
              <a:t>、从内核角度来看，仅仅是普通用户</a:t>
            </a:r>
            <a:endParaRPr kumimoji="1" lang="en-US" altLang="zh-CN" dirty="0"/>
          </a:p>
          <a:p>
            <a:r>
              <a:rPr kumimoji="1" lang="en-US" altLang="zh-CN" dirty="0"/>
              <a:t>2</a:t>
            </a:r>
            <a:r>
              <a:rPr kumimoji="1" lang="zh-CN" altLang="en-US" dirty="0"/>
              <a:t>、限制系统调用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Seccomp</a:t>
            </a:r>
            <a:r>
              <a:rPr kumimoji="1" lang="zh-CN" altLang="en-US" dirty="0"/>
              <a:t>机制</a:t>
            </a: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5E13144-BBE2-7140-94C1-43ECDC5DF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4C1B07E-CD7E-1845-850D-74E9FBD34C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6469292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4209C-7BAA-B543-B0A8-9211B5EC08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其他</a:t>
            </a:r>
            <a:r>
              <a:rPr lang="en-US" altLang="zh-CN" dirty="0"/>
              <a:t>Namespace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A17E37-2AE7-CF47-A72D-B0785E3341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6</a:t>
            </a:r>
            <a:r>
              <a:rPr lang="zh-CN" altLang="en-US" dirty="0"/>
              <a:t>、</a:t>
            </a:r>
            <a:r>
              <a:rPr lang="en-US" dirty="0"/>
              <a:t>UTS Namespace</a:t>
            </a:r>
          </a:p>
          <a:p>
            <a:pPr lvl="1"/>
            <a:r>
              <a:rPr lang="zh-CN" altLang="en-US" dirty="0"/>
              <a:t>每个</a:t>
            </a:r>
            <a:r>
              <a:rPr lang="en-US" altLang="zh-CN" dirty="0"/>
              <a:t>NS</a:t>
            </a:r>
            <a:r>
              <a:rPr lang="zh-CN" altLang="en-US" dirty="0"/>
              <a:t>拥有独立的</a:t>
            </a:r>
            <a:r>
              <a:rPr lang="en-US" altLang="zh-CN" dirty="0"/>
              <a:t>hostname</a:t>
            </a:r>
            <a:r>
              <a:rPr lang="zh-CN" altLang="en-US" dirty="0"/>
              <a:t>等名称</a:t>
            </a:r>
            <a:endParaRPr lang="en-US" altLang="zh-CN" dirty="0"/>
          </a:p>
          <a:p>
            <a:pPr lvl="1"/>
            <a:r>
              <a:rPr lang="zh-CN" altLang="en-US" dirty="0"/>
              <a:t>便于分辨主机操作系统及其上的多个容器</a:t>
            </a:r>
            <a:endParaRPr lang="en-US" altLang="zh-CN" dirty="0"/>
          </a:p>
          <a:p>
            <a:r>
              <a:rPr lang="en-US" altLang="zh-CN" dirty="0"/>
              <a:t>7</a:t>
            </a:r>
            <a:r>
              <a:rPr lang="zh-CN" altLang="en-US" dirty="0"/>
              <a:t>、</a:t>
            </a:r>
            <a:r>
              <a:rPr lang="en-US" dirty="0" err="1"/>
              <a:t>Cgroup</a:t>
            </a:r>
            <a:r>
              <a:rPr lang="en-US" dirty="0"/>
              <a:t> Namespace</a:t>
            </a:r>
          </a:p>
          <a:p>
            <a:pPr lvl="1"/>
            <a:r>
              <a:rPr lang="en-US" altLang="zh-CN" dirty="0" err="1"/>
              <a:t>cgroupfs</a:t>
            </a:r>
            <a:r>
              <a:rPr lang="zh-CN" altLang="en-US" dirty="0"/>
              <a:t>的实现向容器内暴露</a:t>
            </a:r>
            <a:r>
              <a:rPr lang="en-US" altLang="zh-CN" dirty="0" err="1"/>
              <a:t>cgroup</a:t>
            </a:r>
            <a:r>
              <a:rPr lang="zh-CN" altLang="en-US" dirty="0"/>
              <a:t>根目录</a:t>
            </a:r>
            <a:endParaRPr lang="en-US" altLang="zh-CN" dirty="0"/>
          </a:p>
          <a:p>
            <a:pPr lvl="1"/>
            <a:r>
              <a:rPr lang="zh-CN" altLang="en-US" dirty="0"/>
              <a:t>增强隔离性：避免向容器内泄露主机操作系统信息</a:t>
            </a:r>
            <a:endParaRPr lang="en-US" altLang="zh-CN" dirty="0"/>
          </a:p>
          <a:p>
            <a:pPr lvl="1"/>
            <a:r>
              <a:rPr lang="zh-CN" altLang="en-US" dirty="0"/>
              <a:t>增强可移植性：取消</a:t>
            </a:r>
            <a:r>
              <a:rPr lang="en-US" altLang="zh-CN" dirty="0" err="1"/>
              <a:t>cgroup</a:t>
            </a:r>
            <a:r>
              <a:rPr lang="zh-CN" altLang="en-US" dirty="0"/>
              <a:t>路径名依赖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ADFADB-4421-504E-A2DA-9B1812219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43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44F0DE-CAA0-4548-8B26-3F04216073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1813500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7C3CFBB2-29A4-9845-909C-D2C6211C1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/>
              <a:t>性能</a:t>
            </a:r>
            <a:r>
              <a:rPr kumimoji="1" lang="ja-JP" altLang="en-US" dirty="0"/>
              <a:t>隔离</a:t>
            </a:r>
            <a:endParaRPr kumimoji="1" lang="zh-CN" altLang="en-US" b="1" dirty="0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88326478-0DD6-F849-B334-5BDB7DEEC8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5F61D95-77C6-4F44-A6A2-DDF144D59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44</a:t>
            </a:fld>
            <a:endParaRPr lang="zh-CN" altLang="en-US"/>
          </a:p>
        </p:txBody>
      </p:sp>
      <p:sp>
        <p:nvSpPr>
          <p:cNvPr id="7" name="页脚占位符 4">
            <a:extLst>
              <a:ext uri="{FF2B5EF4-FFF2-40B4-BE49-F238E27FC236}">
                <a16:creationId xmlns:a16="http://schemas.microsoft.com/office/drawing/2014/main" id="{68F72CF8-9211-EE45-9468-F698C90541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</p:spPr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190612705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F65833-BDEC-2B4B-AF0D-9F673F2D5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>
            <a:normAutofit/>
          </a:bodyPr>
          <a:lstStyle/>
          <a:p>
            <a:r>
              <a:rPr kumimoji="1" lang="ja-JP" altLang="en-US"/>
              <a:t>资源竞争问题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36966D5-5415-3C42-944F-60314F389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48C4BF5-CF02-114D-8C3B-2C3ED7628B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AF30F1D7-2EC8-6B49-B1CF-143B8BF8E55B}"/>
              </a:ext>
            </a:extLst>
          </p:cNvPr>
          <p:cNvCxnSpPr>
            <a:cxnSpLocks/>
          </p:cNvCxnSpPr>
          <p:nvPr/>
        </p:nvCxnSpPr>
        <p:spPr>
          <a:xfrm flipH="1">
            <a:off x="10622825" y="2628261"/>
            <a:ext cx="1" cy="33259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内容占位符 2">
            <a:extLst>
              <a:ext uri="{FF2B5EF4-FFF2-40B4-BE49-F238E27FC236}">
                <a16:creationId xmlns:a16="http://schemas.microsoft.com/office/drawing/2014/main" id="{CE849B39-2C46-C94E-9BAF-3C3D3EF84D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2"/>
            <a:ext cx="8229600" cy="1056102"/>
          </a:xfrm>
        </p:spPr>
        <p:txBody>
          <a:bodyPr>
            <a:normAutofit/>
          </a:bodyPr>
          <a:lstStyle/>
          <a:p>
            <a:r>
              <a:rPr kumimoji="1" lang="ja-JP" altLang="en-US"/>
              <a:t>小明和小红同时访问磁盘</a:t>
            </a:r>
            <a:endParaRPr kumimoji="1" lang="en-US" altLang="ja-JP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AD24B56F-B301-CB43-9551-293B3B2B651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70738" y="3136205"/>
            <a:ext cx="1905000" cy="19050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3D00307F-003F-4849-B5DB-8FD8A1AFF9A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203601" y="3865612"/>
            <a:ext cx="1224136" cy="1224136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D512DFC0-A9C2-BF4D-9194-F740A30AF91A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294497" y="2773661"/>
            <a:ext cx="1133240" cy="113324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1B6450F-C695-2142-A534-DAE496794460}"/>
              </a:ext>
            </a:extLst>
          </p:cNvPr>
          <p:cNvSpPr txBox="1"/>
          <p:nvPr/>
        </p:nvSpPr>
        <p:spPr>
          <a:xfrm>
            <a:off x="3844427" y="3104409"/>
            <a:ext cx="966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50MB/s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F99BB14-37FF-BC42-80E7-24E2A15F92D5}"/>
              </a:ext>
            </a:extLst>
          </p:cNvPr>
          <p:cNvSpPr txBox="1"/>
          <p:nvPr/>
        </p:nvSpPr>
        <p:spPr>
          <a:xfrm>
            <a:off x="3799642" y="4468212"/>
            <a:ext cx="1095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450MB/s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0867975-1FC8-174A-B4A2-81AA82686CF1}"/>
              </a:ext>
            </a:extLst>
          </p:cNvPr>
          <p:cNvCxnSpPr>
            <a:stCxn id="11" idx="3"/>
          </p:cNvCxnSpPr>
          <p:nvPr/>
        </p:nvCxnSpPr>
        <p:spPr>
          <a:xfrm>
            <a:off x="3427737" y="3340281"/>
            <a:ext cx="1843001" cy="31422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C248174-CBDA-D14F-B83A-3A74B61AEF43}"/>
              </a:ext>
            </a:extLst>
          </p:cNvPr>
          <p:cNvCxnSpPr>
            <a:cxnSpLocks/>
          </p:cNvCxnSpPr>
          <p:nvPr/>
        </p:nvCxnSpPr>
        <p:spPr>
          <a:xfrm flipV="1">
            <a:off x="3542546" y="4336946"/>
            <a:ext cx="1728192" cy="14073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FB940DFD-9B93-D846-B33A-E1B4771D68F6}"/>
              </a:ext>
            </a:extLst>
          </p:cNvPr>
          <p:cNvSpPr txBox="1"/>
          <p:nvPr/>
        </p:nvSpPr>
        <p:spPr>
          <a:xfrm>
            <a:off x="6880899" y="3719373"/>
            <a:ext cx="1723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MAX: 500MB/s</a:t>
            </a:r>
          </a:p>
        </p:txBody>
      </p:sp>
      <p:sp>
        <p:nvSpPr>
          <p:cNvPr id="19" name="Smiley Face 18">
            <a:extLst>
              <a:ext uri="{FF2B5EF4-FFF2-40B4-BE49-F238E27FC236}">
                <a16:creationId xmlns:a16="http://schemas.microsoft.com/office/drawing/2014/main" id="{27640D2A-F83C-7146-9142-2776594E2816}"/>
              </a:ext>
            </a:extLst>
          </p:cNvPr>
          <p:cNvSpPr/>
          <p:nvPr/>
        </p:nvSpPr>
        <p:spPr>
          <a:xfrm>
            <a:off x="2815669" y="2127166"/>
            <a:ext cx="750318" cy="750318"/>
          </a:xfrm>
          <a:prstGeom prst="smileyFace">
            <a:avLst>
              <a:gd name="adj" fmla="val -4653"/>
            </a:avLst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686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20" grpId="0"/>
      <p:bldP spid="19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内容占位符 2">
            <a:extLst>
              <a:ext uri="{FF2B5EF4-FFF2-40B4-BE49-F238E27FC236}">
                <a16:creationId xmlns:a16="http://schemas.microsoft.com/office/drawing/2014/main" id="{0E8E9810-F6B4-CC43-80D0-7AD0F2710C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229600" cy="3771636"/>
          </a:xfrm>
        </p:spPr>
        <p:txBody>
          <a:bodyPr>
            <a:normAutofit/>
          </a:bodyPr>
          <a:lstStyle/>
          <a:p>
            <a:r>
              <a:rPr kumimoji="1" lang="en-US" altLang="ja-JP" dirty="0" err="1"/>
              <a:t>Cgroups</a:t>
            </a:r>
            <a:r>
              <a:rPr kumimoji="1" lang="ja-JP" altLang="en-US"/>
              <a:t>是什么</a:t>
            </a:r>
            <a:endParaRPr kumimoji="1" lang="en-US" altLang="ja-JP" dirty="0"/>
          </a:p>
          <a:p>
            <a:pPr lvl="1"/>
            <a:r>
              <a:rPr kumimoji="1" lang="en-US" altLang="ja-JP" dirty="0"/>
              <a:t>Linux</a:t>
            </a:r>
            <a:r>
              <a:rPr kumimoji="1" lang="ja-JP" altLang="en-US"/>
              <a:t>内核</a:t>
            </a:r>
            <a:r>
              <a:rPr kumimoji="1" lang="zh-CN" altLang="en-US" dirty="0"/>
              <a:t>（</a:t>
            </a:r>
            <a:r>
              <a:rPr kumimoji="1" lang="ja-JP" altLang="en-US"/>
              <a:t>从</a:t>
            </a:r>
            <a:r>
              <a:rPr kumimoji="1" lang="en-US" altLang="ja-JP" dirty="0"/>
              <a:t>Linux</a:t>
            </a:r>
            <a:r>
              <a:rPr kumimoji="1" lang="en-US" altLang="zh-CN" dirty="0"/>
              <a:t>2.6.24</a:t>
            </a:r>
            <a:r>
              <a:rPr kumimoji="1" lang="ja-JP" altLang="en-US"/>
              <a:t>开始</a:t>
            </a:r>
            <a:r>
              <a:rPr kumimoji="1" lang="zh-CN" altLang="en-US" dirty="0"/>
              <a:t>）</a:t>
            </a:r>
            <a:r>
              <a:rPr kumimoji="1" lang="ja-JP" altLang="en-US"/>
              <a:t>提供的一种资源隔离的功能</a:t>
            </a:r>
            <a:endParaRPr kumimoji="1" lang="en-US" altLang="ja-JP" dirty="0"/>
          </a:p>
          <a:p>
            <a:r>
              <a:rPr kumimoji="1" lang="en-US" altLang="ja-JP" dirty="0" err="1"/>
              <a:t>Cgroups</a:t>
            </a:r>
            <a:r>
              <a:rPr kumimoji="1" lang="ja-JP" altLang="en-US"/>
              <a:t>可以做什么</a:t>
            </a:r>
            <a:endParaRPr kumimoji="1" lang="en-US" altLang="ja-JP" dirty="0"/>
          </a:p>
          <a:p>
            <a:pPr lvl="1"/>
            <a:r>
              <a:rPr kumimoji="1" lang="ja-JP" altLang="en-US"/>
              <a:t>将线程分组</a:t>
            </a:r>
            <a:endParaRPr kumimoji="1" lang="en-US" altLang="ja-JP" dirty="0"/>
          </a:p>
          <a:p>
            <a:pPr lvl="1"/>
            <a:r>
              <a:rPr kumimoji="1" lang="ja-JP" altLang="en-US"/>
              <a:t>对每组线程使用的多种物理资源进行限制和监控</a:t>
            </a:r>
            <a:endParaRPr kumimoji="1" lang="en-US" altLang="ja-JP" dirty="0"/>
          </a:p>
          <a:p>
            <a:r>
              <a:rPr kumimoji="1" lang="ja-JP" altLang="en-US"/>
              <a:t>怎么用</a:t>
            </a:r>
            <a:r>
              <a:rPr kumimoji="1" lang="en-US" altLang="ja-JP" dirty="0" err="1"/>
              <a:t>Cgroups</a:t>
            </a:r>
            <a:endParaRPr kumimoji="1" lang="en-US" altLang="ja-JP" dirty="0"/>
          </a:p>
          <a:p>
            <a:pPr lvl="1"/>
            <a:r>
              <a:rPr kumimoji="1" lang="ja-JP" altLang="en-US"/>
              <a:t>名为</a:t>
            </a:r>
            <a:r>
              <a:rPr kumimoji="1" lang="en-US" altLang="ja-JP" dirty="0" err="1"/>
              <a:t>cgroupfs</a:t>
            </a:r>
            <a:r>
              <a:rPr kumimoji="1" lang="ja-JP" altLang="en-US"/>
              <a:t>的伪文件系统提供了用户接口</a:t>
            </a:r>
            <a:endParaRPr kumimoji="1" lang="en-US" altLang="ja-JP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2BF65833-BDEC-2B4B-AF0D-9F673F2D5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kumimoji="1" lang="en-US" altLang="ja-JP" dirty="0"/>
              <a:t>Control </a:t>
            </a:r>
            <a:r>
              <a:rPr kumimoji="1" lang="en-US" altLang="ja-JP" dirty="0" err="1"/>
              <a:t>Cgroups</a:t>
            </a:r>
            <a:r>
              <a:rPr kumimoji="1" lang="en-US" altLang="ja-JP" dirty="0"/>
              <a:t> (</a:t>
            </a:r>
            <a:r>
              <a:rPr kumimoji="1" lang="en-US" altLang="ja-JP" dirty="0" err="1"/>
              <a:t>Cgroups</a:t>
            </a:r>
            <a:r>
              <a:rPr kumimoji="1" lang="en-US" altLang="ja-JP" dirty="0"/>
              <a:t>)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36966D5-5415-3C42-944F-60314F389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48C4BF5-CF02-114D-8C3B-2C3ED7628B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AF30F1D7-2EC8-6B49-B1CF-143B8BF8E55B}"/>
              </a:ext>
            </a:extLst>
          </p:cNvPr>
          <p:cNvCxnSpPr>
            <a:cxnSpLocks/>
          </p:cNvCxnSpPr>
          <p:nvPr/>
        </p:nvCxnSpPr>
        <p:spPr>
          <a:xfrm flipH="1">
            <a:off x="10622825" y="2628261"/>
            <a:ext cx="1" cy="33259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333486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内容占位符 2">
            <a:extLst>
              <a:ext uri="{FF2B5EF4-FFF2-40B4-BE49-F238E27FC236}">
                <a16:creationId xmlns:a16="http://schemas.microsoft.com/office/drawing/2014/main" id="{0E8E9810-F6B4-CC43-80D0-7AD0F2710C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229600" cy="3771636"/>
          </a:xfrm>
        </p:spPr>
        <p:txBody>
          <a:bodyPr>
            <a:normAutofit/>
          </a:bodyPr>
          <a:lstStyle/>
          <a:p>
            <a:r>
              <a:rPr kumimoji="1" lang="ja-JP" altLang="en-US"/>
              <a:t>任务</a:t>
            </a:r>
            <a:r>
              <a:rPr kumimoji="1" lang="zh-CN" altLang="en-US" dirty="0"/>
              <a:t>（</a:t>
            </a:r>
            <a:r>
              <a:rPr kumimoji="1" lang="en-US" altLang="ja-JP" dirty="0"/>
              <a:t>task</a:t>
            </a:r>
            <a:r>
              <a:rPr kumimoji="1" lang="zh-CN" altLang="en-US" dirty="0"/>
              <a:t>）</a:t>
            </a:r>
            <a:endParaRPr kumimoji="1" lang="en-US" altLang="ja-JP" dirty="0"/>
          </a:p>
          <a:p>
            <a:r>
              <a:rPr kumimoji="1" lang="ja-JP" altLang="en-US"/>
              <a:t>控制组</a:t>
            </a:r>
            <a:r>
              <a:rPr kumimoji="1" lang="zh-CN" altLang="en-US" dirty="0"/>
              <a:t>（</a:t>
            </a:r>
            <a:r>
              <a:rPr kumimoji="1" lang="en-US" altLang="ja-JP" dirty="0" err="1"/>
              <a:t>cgroup</a:t>
            </a:r>
            <a:r>
              <a:rPr kumimoji="1" lang="zh-CN" altLang="en-US" dirty="0"/>
              <a:t>）</a:t>
            </a:r>
            <a:endParaRPr kumimoji="1" lang="en-US" altLang="ja-JP" dirty="0"/>
          </a:p>
          <a:p>
            <a:r>
              <a:rPr kumimoji="1" lang="ja-JP" altLang="en-US"/>
              <a:t>子系统</a:t>
            </a:r>
            <a:r>
              <a:rPr kumimoji="1" lang="zh-CN" altLang="en-US" dirty="0"/>
              <a:t>（</a:t>
            </a:r>
            <a:r>
              <a:rPr kumimoji="1" lang="en-US" altLang="ja-JP" dirty="0"/>
              <a:t>subsystem</a:t>
            </a:r>
            <a:r>
              <a:rPr kumimoji="1" lang="zh-CN" altLang="en-US" dirty="0"/>
              <a:t>）</a:t>
            </a:r>
            <a:endParaRPr kumimoji="1" lang="en-US" altLang="ja-JP" dirty="0"/>
          </a:p>
          <a:p>
            <a:r>
              <a:rPr kumimoji="1" lang="ja-JP" altLang="en-US"/>
              <a:t>层级</a:t>
            </a:r>
            <a:r>
              <a:rPr kumimoji="1" lang="zh-CN" altLang="en-US" dirty="0"/>
              <a:t> （</a:t>
            </a:r>
            <a:r>
              <a:rPr kumimoji="1" lang="en-US" altLang="ja-JP" dirty="0"/>
              <a:t>hierarchy</a:t>
            </a:r>
            <a:r>
              <a:rPr kumimoji="1" lang="zh-CN" altLang="en-US" dirty="0"/>
              <a:t>）</a:t>
            </a:r>
            <a:endParaRPr kumimoji="1" lang="en-US" altLang="ja-JP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2BF65833-BDEC-2B4B-AF0D-9F673F2D5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kumimoji="1" lang="en-US" altLang="ja-JP" dirty="0" err="1"/>
              <a:t>Cgroups</a:t>
            </a:r>
            <a:r>
              <a:rPr kumimoji="1" lang="ja-JP" altLang="en-US"/>
              <a:t>的常用术语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36966D5-5415-3C42-944F-60314F389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48C4BF5-CF02-114D-8C3B-2C3ED7628B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AF30F1D7-2EC8-6B49-B1CF-143B8BF8E55B}"/>
              </a:ext>
            </a:extLst>
          </p:cNvPr>
          <p:cNvCxnSpPr>
            <a:cxnSpLocks/>
          </p:cNvCxnSpPr>
          <p:nvPr/>
        </p:nvCxnSpPr>
        <p:spPr>
          <a:xfrm flipH="1">
            <a:off x="10622825" y="2628261"/>
            <a:ext cx="1" cy="33259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020362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F65833-BDEC-2B4B-AF0D-9F673F2D5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kumimoji="1" lang="ja-JP" altLang="en-US"/>
              <a:t>任务</a:t>
            </a:r>
            <a:r>
              <a:rPr kumimoji="1" lang="zh-CN" altLang="en-US" dirty="0"/>
              <a:t>（</a:t>
            </a:r>
            <a:r>
              <a:rPr kumimoji="1" lang="en-US" altLang="zh-CN" dirty="0"/>
              <a:t>Task</a:t>
            </a:r>
            <a:r>
              <a:rPr kumimoji="1" lang="zh-CN" altLang="en-US" dirty="0"/>
              <a:t>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36966D5-5415-3C42-944F-60314F389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48C4BF5-CF02-114D-8C3B-2C3ED7628B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E5A5BB05-0287-3642-B6D2-1AC69D10DEEA}"/>
              </a:ext>
            </a:extLst>
          </p:cNvPr>
          <p:cNvSpPr/>
          <p:nvPr/>
        </p:nvSpPr>
        <p:spPr>
          <a:xfrm>
            <a:off x="3275856" y="2832310"/>
            <a:ext cx="878977" cy="38754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task1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7F713847-F7ED-1E4A-B486-21C6F8554057}"/>
              </a:ext>
            </a:extLst>
          </p:cNvPr>
          <p:cNvSpPr/>
          <p:nvPr/>
        </p:nvSpPr>
        <p:spPr>
          <a:xfrm>
            <a:off x="5674223" y="2831775"/>
            <a:ext cx="878977" cy="38754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task2</a:t>
            </a: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AF30F1D7-2EC8-6B49-B1CF-143B8BF8E55B}"/>
              </a:ext>
            </a:extLst>
          </p:cNvPr>
          <p:cNvCxnSpPr>
            <a:cxnSpLocks/>
          </p:cNvCxnSpPr>
          <p:nvPr/>
        </p:nvCxnSpPr>
        <p:spPr>
          <a:xfrm flipH="1">
            <a:off x="10622825" y="2628261"/>
            <a:ext cx="1" cy="33259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内容占位符 2">
            <a:extLst>
              <a:ext uri="{FF2B5EF4-FFF2-40B4-BE49-F238E27FC236}">
                <a16:creationId xmlns:a16="http://schemas.microsoft.com/office/drawing/2014/main" id="{0E8E9810-F6B4-CC43-80D0-7AD0F2710C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229600" cy="3771636"/>
          </a:xfrm>
        </p:spPr>
        <p:txBody>
          <a:bodyPr>
            <a:normAutofit/>
          </a:bodyPr>
          <a:lstStyle/>
          <a:p>
            <a:r>
              <a:rPr kumimoji="1" lang="ja-JP" altLang="en-US"/>
              <a:t>任务就是系统中的一个线程</a:t>
            </a:r>
            <a:endParaRPr kumimoji="1" lang="en-US" altLang="ja-JP" dirty="0"/>
          </a:p>
          <a:p>
            <a:r>
              <a:rPr kumimoji="1" lang="ja-JP" altLang="en-US"/>
              <a:t>例如</a:t>
            </a:r>
            <a:r>
              <a:rPr kumimoji="1" lang="zh-CN" altLang="en-US" dirty="0"/>
              <a:t>：有</a:t>
            </a:r>
            <a:r>
              <a:rPr kumimoji="1" lang="ja-JP" altLang="en-US"/>
              <a:t>两个任务</a:t>
            </a:r>
            <a:r>
              <a:rPr kumimoji="1" lang="zh-CN" altLang="en-US" dirty="0"/>
              <a:t> </a:t>
            </a:r>
            <a:r>
              <a:rPr kumimoji="1" lang="en-US" altLang="zh-CN" dirty="0"/>
              <a:t>task1</a:t>
            </a:r>
            <a:r>
              <a:rPr kumimoji="1" lang="ja-JP" altLang="en-US"/>
              <a:t>和</a:t>
            </a:r>
            <a:r>
              <a:rPr kumimoji="1" lang="en-US" altLang="ja-JP" dirty="0"/>
              <a:t>task</a:t>
            </a:r>
            <a:r>
              <a:rPr kumimoji="1" lang="en-US" altLang="zh-CN" dirty="0"/>
              <a:t>2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44410609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内容占位符 2">
            <a:extLst>
              <a:ext uri="{FF2B5EF4-FFF2-40B4-BE49-F238E27FC236}">
                <a16:creationId xmlns:a16="http://schemas.microsoft.com/office/drawing/2014/main" id="{5E105E87-5F03-2D48-A1AF-0E17F47DAB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229600" cy="3771636"/>
          </a:xfrm>
        </p:spPr>
        <p:txBody>
          <a:bodyPr>
            <a:normAutofit/>
          </a:bodyPr>
          <a:lstStyle/>
          <a:p>
            <a:r>
              <a:rPr kumimoji="1" lang="en-US" altLang="ja-JP" dirty="0" err="1"/>
              <a:t>Cgroups</a:t>
            </a:r>
            <a:r>
              <a:rPr kumimoji="1" lang="ja-JP" altLang="en-US"/>
              <a:t>进行资源监控和限制的单位</a:t>
            </a:r>
            <a:endParaRPr kumimoji="1" lang="en-US" altLang="ja-JP" dirty="0"/>
          </a:p>
          <a:p>
            <a:r>
              <a:rPr kumimoji="1" lang="ja-JP" altLang="en-US"/>
              <a:t>任务的集合</a:t>
            </a:r>
            <a:endParaRPr kumimoji="1" lang="en-US" altLang="ja-JP" dirty="0"/>
          </a:p>
          <a:p>
            <a:pPr lvl="1"/>
            <a:r>
              <a:rPr kumimoji="1" lang="ja-JP" altLang="en-US"/>
              <a:t>控制组</a:t>
            </a:r>
            <a:r>
              <a:rPr kumimoji="1" lang="en-US" altLang="ja-JP" dirty="0"/>
              <a:t>cgroup1</a:t>
            </a:r>
            <a:r>
              <a:rPr kumimoji="1" lang="ja-JP" altLang="en-US"/>
              <a:t>包含</a:t>
            </a:r>
            <a:r>
              <a:rPr kumimoji="1" lang="en-US" altLang="ja-JP" dirty="0"/>
              <a:t>task</a:t>
            </a:r>
            <a:r>
              <a:rPr kumimoji="1" lang="en-US" altLang="zh-CN" dirty="0"/>
              <a:t>1</a:t>
            </a:r>
          </a:p>
          <a:p>
            <a:pPr lvl="1"/>
            <a:r>
              <a:rPr kumimoji="1" lang="ja-JP" altLang="en-US"/>
              <a:t>控制组</a:t>
            </a:r>
            <a:r>
              <a:rPr kumimoji="1" lang="en-US" altLang="ja-JP" dirty="0"/>
              <a:t>cgroup</a:t>
            </a:r>
            <a:r>
              <a:rPr kumimoji="1" lang="en-US" altLang="zh-CN" dirty="0"/>
              <a:t>2</a:t>
            </a:r>
            <a:r>
              <a:rPr kumimoji="1" lang="ja-JP" altLang="en-US"/>
              <a:t>包含</a:t>
            </a:r>
            <a:r>
              <a:rPr kumimoji="1" lang="en-US" altLang="ja-JP" dirty="0"/>
              <a:t>task</a:t>
            </a:r>
            <a:r>
              <a:rPr kumimoji="1" lang="en-US" altLang="zh-CN" dirty="0"/>
              <a:t>2</a:t>
            </a:r>
          </a:p>
          <a:p>
            <a:pPr lvl="1"/>
            <a:r>
              <a:rPr kumimoji="1" lang="ja-JP" altLang="en-US"/>
              <a:t>控制组</a:t>
            </a:r>
            <a:r>
              <a:rPr kumimoji="1" lang="en-US" altLang="ja-JP" dirty="0"/>
              <a:t>cgroup</a:t>
            </a:r>
            <a:r>
              <a:rPr kumimoji="1" lang="en-US" altLang="zh-CN" dirty="0"/>
              <a:t>3</a:t>
            </a:r>
            <a:r>
              <a:rPr kumimoji="1" lang="ja-JP" altLang="en-US"/>
              <a:t>由</a:t>
            </a:r>
            <a:r>
              <a:rPr kumimoji="1" lang="en-US" altLang="ja-JP" dirty="0"/>
              <a:t>task</a:t>
            </a:r>
            <a:r>
              <a:rPr kumimoji="1" lang="en-US" altLang="zh-CN" dirty="0"/>
              <a:t>1</a:t>
            </a:r>
            <a:r>
              <a:rPr kumimoji="1" lang="ja-JP" altLang="en-US"/>
              <a:t>和</a:t>
            </a:r>
            <a:r>
              <a:rPr kumimoji="1" lang="en-US" altLang="ja-JP" dirty="0"/>
              <a:t>task</a:t>
            </a:r>
            <a:r>
              <a:rPr kumimoji="1" lang="en-US" altLang="zh-CN" dirty="0"/>
              <a:t>2</a:t>
            </a:r>
            <a:r>
              <a:rPr kumimoji="1" lang="ja-JP" altLang="en-US"/>
              <a:t>组成</a:t>
            </a:r>
            <a:endParaRPr kumimoji="1" lang="en-US" altLang="ja-JP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2BF65833-BDEC-2B4B-AF0D-9F673F2D5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kumimoji="1" lang="ja-JP" altLang="en-US"/>
              <a:t>控制组</a:t>
            </a:r>
            <a:r>
              <a:rPr kumimoji="1" lang="zh-CN" altLang="en-US" dirty="0"/>
              <a:t>（</a:t>
            </a:r>
            <a:r>
              <a:rPr kumimoji="1" lang="en-US" altLang="zh-CN" dirty="0"/>
              <a:t>Control</a:t>
            </a:r>
            <a:r>
              <a:rPr kumimoji="1" lang="zh-CN" altLang="en-US" dirty="0"/>
              <a:t> </a:t>
            </a:r>
            <a:r>
              <a:rPr kumimoji="1" lang="en-US" altLang="zh-CN" dirty="0"/>
              <a:t>Group</a:t>
            </a:r>
            <a:r>
              <a:rPr kumimoji="1" lang="zh-CN" altLang="en-US" dirty="0"/>
              <a:t>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36966D5-5415-3C42-944F-60314F389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48C4BF5-CF02-114D-8C3B-2C3ED7628B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E5A5BB05-0287-3642-B6D2-1AC69D10DEEA}"/>
              </a:ext>
            </a:extLst>
          </p:cNvPr>
          <p:cNvSpPr/>
          <p:nvPr/>
        </p:nvSpPr>
        <p:spPr>
          <a:xfrm>
            <a:off x="2114327" y="4750910"/>
            <a:ext cx="878977" cy="38754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task1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7F713847-F7ED-1E4A-B486-21C6F8554057}"/>
              </a:ext>
            </a:extLst>
          </p:cNvPr>
          <p:cNvSpPr/>
          <p:nvPr/>
        </p:nvSpPr>
        <p:spPr>
          <a:xfrm>
            <a:off x="3942466" y="4755314"/>
            <a:ext cx="878977" cy="38754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task2</a:t>
            </a: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4DECCA4F-3066-7C47-841E-EE1345ADA4B4}"/>
              </a:ext>
            </a:extLst>
          </p:cNvPr>
          <p:cNvSpPr/>
          <p:nvPr/>
        </p:nvSpPr>
        <p:spPr>
          <a:xfrm>
            <a:off x="5506494" y="4774212"/>
            <a:ext cx="878977" cy="387544"/>
          </a:xfrm>
          <a:prstGeom prst="roundRect">
            <a:avLst/>
          </a:prstGeom>
          <a:solidFill>
            <a:srgbClr val="BE384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task1</a:t>
            </a:r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F33D21B1-D906-054C-A7EF-62287A7BDCF7}"/>
              </a:ext>
            </a:extLst>
          </p:cNvPr>
          <p:cNvSpPr/>
          <p:nvPr/>
        </p:nvSpPr>
        <p:spPr>
          <a:xfrm>
            <a:off x="6723702" y="4774212"/>
            <a:ext cx="878977" cy="387544"/>
          </a:xfrm>
          <a:prstGeom prst="roundRect">
            <a:avLst/>
          </a:prstGeom>
          <a:solidFill>
            <a:srgbClr val="BE384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task2</a:t>
            </a: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AF30F1D7-2EC8-6B49-B1CF-143B8BF8E55B}"/>
              </a:ext>
            </a:extLst>
          </p:cNvPr>
          <p:cNvCxnSpPr>
            <a:cxnSpLocks/>
          </p:cNvCxnSpPr>
          <p:nvPr/>
        </p:nvCxnSpPr>
        <p:spPr>
          <a:xfrm flipH="1">
            <a:off x="10622825" y="2628261"/>
            <a:ext cx="1" cy="33259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72A4861B-4D6F-AD4E-BF19-6CDDE5643AE3}"/>
              </a:ext>
            </a:extLst>
          </p:cNvPr>
          <p:cNvCxnSpPr>
            <a:cxnSpLocks/>
            <a:stCxn id="40" idx="2"/>
            <a:endCxn id="32" idx="0"/>
          </p:cNvCxnSpPr>
          <p:nvPr/>
        </p:nvCxnSpPr>
        <p:spPr>
          <a:xfrm flipH="1">
            <a:off x="2553816" y="4283869"/>
            <a:ext cx="1" cy="46704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FF943EE3-0647-C140-B991-3BA6213A31A1}"/>
              </a:ext>
            </a:extLst>
          </p:cNvPr>
          <p:cNvCxnSpPr>
            <a:cxnSpLocks/>
            <a:stCxn id="43" idx="2"/>
            <a:endCxn id="33" idx="0"/>
          </p:cNvCxnSpPr>
          <p:nvPr/>
        </p:nvCxnSpPr>
        <p:spPr>
          <a:xfrm flipH="1">
            <a:off x="4381955" y="4283869"/>
            <a:ext cx="1" cy="47144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50521F85-8AC2-EB4C-B2A6-D0895E0B84A2}"/>
              </a:ext>
            </a:extLst>
          </p:cNvPr>
          <p:cNvCxnSpPr>
            <a:cxnSpLocks/>
            <a:stCxn id="49" idx="2"/>
            <a:endCxn id="44" idx="0"/>
          </p:cNvCxnSpPr>
          <p:nvPr/>
        </p:nvCxnSpPr>
        <p:spPr>
          <a:xfrm flipH="1">
            <a:off x="5945983" y="4298115"/>
            <a:ext cx="592376" cy="47609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AEA3BDE9-2632-1A45-A036-92843E97F9E3}"/>
              </a:ext>
            </a:extLst>
          </p:cNvPr>
          <p:cNvCxnSpPr>
            <a:cxnSpLocks/>
            <a:stCxn id="49" idx="2"/>
            <a:endCxn id="45" idx="0"/>
          </p:cNvCxnSpPr>
          <p:nvPr/>
        </p:nvCxnSpPr>
        <p:spPr>
          <a:xfrm>
            <a:off x="6538359" y="4298115"/>
            <a:ext cx="624832" cy="47609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B6B4B82D-5B17-BE4F-BF04-376AF28E3819}"/>
              </a:ext>
            </a:extLst>
          </p:cNvPr>
          <p:cNvSpPr/>
          <p:nvPr/>
        </p:nvSpPr>
        <p:spPr>
          <a:xfrm>
            <a:off x="1983074" y="3788623"/>
            <a:ext cx="1141485" cy="495246"/>
          </a:xfrm>
          <a:prstGeom prst="roundRect">
            <a:avLst/>
          </a:prstGeom>
          <a:solidFill>
            <a:srgbClr val="BE384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cgroup1</a:t>
            </a: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50801641-0105-7641-A2FE-B4351626D357}"/>
              </a:ext>
            </a:extLst>
          </p:cNvPr>
          <p:cNvSpPr/>
          <p:nvPr/>
        </p:nvSpPr>
        <p:spPr>
          <a:xfrm>
            <a:off x="3811213" y="3788623"/>
            <a:ext cx="1141485" cy="495246"/>
          </a:xfrm>
          <a:prstGeom prst="roundRect">
            <a:avLst/>
          </a:prstGeom>
          <a:solidFill>
            <a:srgbClr val="BE384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cgroup2</a:t>
            </a: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D7AAB561-FB79-E749-BDAF-66E75CB7B700}"/>
              </a:ext>
            </a:extLst>
          </p:cNvPr>
          <p:cNvSpPr/>
          <p:nvPr/>
        </p:nvSpPr>
        <p:spPr>
          <a:xfrm>
            <a:off x="5967616" y="3802869"/>
            <a:ext cx="1141485" cy="495246"/>
          </a:xfrm>
          <a:prstGeom prst="roundRect">
            <a:avLst/>
          </a:prstGeom>
          <a:solidFill>
            <a:srgbClr val="BE384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cgroup3</a:t>
            </a:r>
          </a:p>
        </p:txBody>
      </p:sp>
    </p:spTree>
    <p:extLst>
      <p:ext uri="{BB962C8B-B14F-4D97-AF65-F5344CB8AC3E}">
        <p14:creationId xmlns:p14="http://schemas.microsoft.com/office/powerpoint/2010/main" val="2419551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3" grpId="0" animBg="1"/>
      <p:bldP spid="44" grpId="0" animBg="1"/>
      <p:bldP spid="45" grpId="0" animBg="1"/>
      <p:bldP spid="40" grpId="0" animBg="1"/>
      <p:bldP spid="43" grpId="0" animBg="1"/>
      <p:bldP spid="49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内容占位符 2">
            <a:extLst>
              <a:ext uri="{FF2B5EF4-FFF2-40B4-BE49-F238E27FC236}">
                <a16:creationId xmlns:a16="http://schemas.microsoft.com/office/drawing/2014/main" id="{0C9BCC96-D963-3C4E-B618-0CCE27687C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229600" cy="3771636"/>
          </a:xfrm>
        </p:spPr>
        <p:txBody>
          <a:bodyPr>
            <a:normAutofit/>
          </a:bodyPr>
          <a:lstStyle/>
          <a:p>
            <a:r>
              <a:rPr kumimoji="1" lang="ja-JP" altLang="en-US"/>
              <a:t>可以跟踪或限制控制组使用该类型物理资源的内核组件</a:t>
            </a:r>
            <a:endParaRPr kumimoji="1" lang="en-US" altLang="ja-JP" dirty="0"/>
          </a:p>
          <a:p>
            <a:r>
              <a:rPr kumimoji="1" lang="ja-JP" altLang="en-US"/>
              <a:t>也被称为资源控制器</a:t>
            </a:r>
            <a:endParaRPr kumimoji="1" lang="en-US" altLang="ja-JP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2BF65833-BDEC-2B4B-AF0D-9F673F2D5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kumimoji="1" lang="ja-JP" altLang="en-US"/>
              <a:t>子系统</a:t>
            </a:r>
            <a:r>
              <a:rPr kumimoji="1" lang="zh-CN" altLang="en-US" dirty="0"/>
              <a:t>（</a:t>
            </a:r>
            <a:r>
              <a:rPr kumimoji="1" lang="en-US" altLang="zh-CN" dirty="0"/>
              <a:t>Sub-system</a:t>
            </a:r>
            <a:r>
              <a:rPr kumimoji="1" lang="zh-CN" altLang="en-US" dirty="0"/>
              <a:t>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36966D5-5415-3C42-944F-60314F389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48C4BF5-CF02-114D-8C3B-2C3ED7628B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AF30F1D7-2EC8-6B49-B1CF-143B8BF8E55B}"/>
              </a:ext>
            </a:extLst>
          </p:cNvPr>
          <p:cNvCxnSpPr>
            <a:cxnSpLocks/>
          </p:cNvCxnSpPr>
          <p:nvPr/>
        </p:nvCxnSpPr>
        <p:spPr>
          <a:xfrm flipH="1">
            <a:off x="10622825" y="2628261"/>
            <a:ext cx="1" cy="33259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6DE4CA31-5EC7-1242-A57F-D39FE04F77E5}"/>
              </a:ext>
            </a:extLst>
          </p:cNvPr>
          <p:cNvSpPr/>
          <p:nvPr/>
        </p:nvSpPr>
        <p:spPr>
          <a:xfrm>
            <a:off x="1763688" y="3577580"/>
            <a:ext cx="1080119" cy="495246"/>
          </a:xfrm>
          <a:prstGeom prst="roundRect">
            <a:avLst/>
          </a:prstGeom>
          <a:solidFill>
            <a:srgbClr val="BE384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bg1"/>
                </a:solidFill>
              </a:rPr>
              <a:t>cpu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F6553DF8-4BCF-7E41-AA57-ADDE886D2730}"/>
              </a:ext>
            </a:extLst>
          </p:cNvPr>
          <p:cNvSpPr/>
          <p:nvPr/>
        </p:nvSpPr>
        <p:spPr>
          <a:xfrm>
            <a:off x="4150295" y="3577580"/>
            <a:ext cx="1080119" cy="495246"/>
          </a:xfrm>
          <a:prstGeom prst="roundRect">
            <a:avLst/>
          </a:prstGeom>
          <a:solidFill>
            <a:srgbClr val="BE384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bg1"/>
                </a:solidFill>
              </a:rPr>
              <a:t>cpuacct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E46B25EB-526B-2F40-A8DF-7E75E326FB20}"/>
              </a:ext>
            </a:extLst>
          </p:cNvPr>
          <p:cNvSpPr/>
          <p:nvPr/>
        </p:nvSpPr>
        <p:spPr>
          <a:xfrm>
            <a:off x="6732240" y="3576766"/>
            <a:ext cx="1080119" cy="495246"/>
          </a:xfrm>
          <a:prstGeom prst="roundRect">
            <a:avLst/>
          </a:prstGeom>
          <a:solidFill>
            <a:srgbClr val="BE384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memory</a:t>
            </a:r>
          </a:p>
        </p:txBody>
      </p:sp>
    </p:spTree>
    <p:extLst>
      <p:ext uri="{BB962C8B-B14F-4D97-AF65-F5344CB8AC3E}">
        <p14:creationId xmlns:p14="http://schemas.microsoft.com/office/powerpoint/2010/main" val="31176080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F65833-BDEC-2B4B-AF0D-9F673F2D5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kumimoji="1" lang="ja-JP" altLang="en-US"/>
              <a:t>层级</a:t>
            </a:r>
            <a:r>
              <a:rPr kumimoji="1" lang="zh-CN" altLang="en-US" dirty="0"/>
              <a:t>（</a:t>
            </a:r>
            <a:r>
              <a:rPr kumimoji="1" lang="en-US" altLang="zh-CN" dirty="0"/>
              <a:t>H</a:t>
            </a:r>
            <a:r>
              <a:rPr kumimoji="1" lang="en-US" altLang="ja-JP" dirty="0"/>
              <a:t>ierarchy</a:t>
            </a:r>
            <a:r>
              <a:rPr kumimoji="1" lang="zh-CN" altLang="en-US" dirty="0"/>
              <a:t>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36966D5-5415-3C42-944F-60314F389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48C4BF5-CF02-114D-8C3B-2C3ED7628B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AF30F1D7-2EC8-6B49-B1CF-143B8BF8E55B}"/>
              </a:ext>
            </a:extLst>
          </p:cNvPr>
          <p:cNvCxnSpPr>
            <a:cxnSpLocks/>
          </p:cNvCxnSpPr>
          <p:nvPr/>
        </p:nvCxnSpPr>
        <p:spPr>
          <a:xfrm flipH="1">
            <a:off x="10622825" y="2628261"/>
            <a:ext cx="1" cy="33259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内容占位符 2">
            <a:extLst>
              <a:ext uri="{FF2B5EF4-FFF2-40B4-BE49-F238E27FC236}">
                <a16:creationId xmlns:a16="http://schemas.microsoft.com/office/drawing/2014/main" id="{CE849B39-2C46-C94E-9BAF-3C3D3EF84D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229600" cy="3771636"/>
          </a:xfrm>
        </p:spPr>
        <p:txBody>
          <a:bodyPr>
            <a:normAutofit/>
          </a:bodyPr>
          <a:lstStyle/>
          <a:p>
            <a:r>
              <a:rPr kumimoji="1" lang="ja-JP" altLang="en-US"/>
              <a:t>由控制组组成的树状结构</a:t>
            </a:r>
            <a:endParaRPr kumimoji="1" lang="en-US" altLang="ja-JP" dirty="0"/>
          </a:p>
          <a:p>
            <a:r>
              <a:rPr kumimoji="1" lang="ja-JP" altLang="en-US"/>
              <a:t>通过被挂载到文件系统中形成</a:t>
            </a:r>
            <a:endParaRPr kumimoji="1" lang="en-US" altLang="ja-JP" dirty="0"/>
          </a:p>
          <a:p>
            <a:r>
              <a:rPr kumimoji="1" lang="ja-JP" altLang="en-US"/>
              <a:t>一个任务在每个层级结构中只能属于一个控制组</a:t>
            </a:r>
            <a:endParaRPr kumimoji="1" lang="en-US" altLang="ja-JP" dirty="0"/>
          </a:p>
          <a:p>
            <a:r>
              <a:rPr kumimoji="1" lang="ja-JP" altLang="en-US"/>
              <a:t>一个子系统只能附加于一个层级结构</a:t>
            </a:r>
            <a:endParaRPr kumimoji="1" lang="en-US" altLang="ja-JP" dirty="0"/>
          </a:p>
          <a:p>
            <a:r>
              <a:rPr kumimoji="1" lang="ja-JP" altLang="en-US"/>
              <a:t>一个层级结构可以附加多个子系统</a:t>
            </a:r>
            <a:endParaRPr kumimoji="1" lang="en-US" altLang="ja-JP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A5B4F7D9-C20B-114B-97E1-2A4F2735C4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425452"/>
            <a:ext cx="9144000" cy="252965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BDD7BBD-D1B7-91AF-E237-697A2FDCDC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575982"/>
            <a:ext cx="7772400" cy="4563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7313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F65833-BDEC-2B4B-AF0D-9F673F2D5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>
            <a:normAutofit/>
          </a:bodyPr>
          <a:lstStyle/>
          <a:p>
            <a:r>
              <a:rPr kumimoji="1" lang="ja-JP" altLang="en-US"/>
              <a:t>资源控制模型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36966D5-5415-3C42-944F-60314F389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48C4BF5-CF02-114D-8C3B-2C3ED7628B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AF30F1D7-2EC8-6B49-B1CF-143B8BF8E55B}"/>
              </a:ext>
            </a:extLst>
          </p:cNvPr>
          <p:cNvCxnSpPr>
            <a:cxnSpLocks/>
          </p:cNvCxnSpPr>
          <p:nvPr/>
        </p:nvCxnSpPr>
        <p:spPr>
          <a:xfrm flipH="1">
            <a:off x="10622825" y="2628261"/>
            <a:ext cx="1" cy="33259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内容占位符 2">
            <a:extLst>
              <a:ext uri="{FF2B5EF4-FFF2-40B4-BE49-F238E27FC236}">
                <a16:creationId xmlns:a16="http://schemas.microsoft.com/office/drawing/2014/main" id="{CE849B39-2C46-C94E-9BAF-3C3D3EF84D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229600" cy="3771636"/>
          </a:xfrm>
        </p:spPr>
        <p:txBody>
          <a:bodyPr>
            <a:normAutofit/>
          </a:bodyPr>
          <a:lstStyle/>
          <a:p>
            <a:r>
              <a:rPr kumimoji="1" lang="ja-JP" altLang="en-US"/>
              <a:t>最大值</a:t>
            </a:r>
            <a:endParaRPr kumimoji="1" lang="en-US" altLang="ja-JP" dirty="0"/>
          </a:p>
          <a:p>
            <a:pPr lvl="1"/>
            <a:r>
              <a:rPr kumimoji="1" lang="ja-JP" altLang="en-US"/>
              <a:t>直接设置一个控制组所能使用的物理资源的最大值</a:t>
            </a:r>
            <a:r>
              <a:rPr kumimoji="1" lang="zh-CN" altLang="en-US" dirty="0"/>
              <a:t>，</a:t>
            </a:r>
            <a:r>
              <a:rPr kumimoji="1" lang="ja-JP" altLang="en-US"/>
              <a:t>例如</a:t>
            </a:r>
            <a:r>
              <a:rPr kumimoji="1" lang="zh-CN" altLang="en-US" dirty="0"/>
              <a:t>：</a:t>
            </a:r>
            <a:endParaRPr kumimoji="1" lang="en-US" altLang="ja-JP" dirty="0"/>
          </a:p>
          <a:p>
            <a:pPr lvl="2"/>
            <a:r>
              <a:rPr kumimoji="1" lang="ja-JP" altLang="en-US"/>
              <a:t>内存子系统</a:t>
            </a:r>
            <a:r>
              <a:rPr kumimoji="1" lang="zh-CN" altLang="en-US" dirty="0"/>
              <a:t>：</a:t>
            </a:r>
            <a:r>
              <a:rPr kumimoji="1" lang="ja-JP" altLang="en-US"/>
              <a:t>最多能使用</a:t>
            </a:r>
            <a:r>
              <a:rPr kumimoji="1" lang="en-US" altLang="zh-CN" dirty="0"/>
              <a:t>1GB</a:t>
            </a:r>
            <a:r>
              <a:rPr kumimoji="1" lang="ja-JP" altLang="en-US"/>
              <a:t>内存</a:t>
            </a:r>
            <a:endParaRPr kumimoji="1" lang="en-US" altLang="ja-JP" dirty="0"/>
          </a:p>
          <a:p>
            <a:pPr lvl="2"/>
            <a:r>
              <a:rPr kumimoji="1" lang="ja-JP" altLang="en-US"/>
              <a:t>存储子系统</a:t>
            </a:r>
            <a:r>
              <a:rPr kumimoji="1" lang="zh-CN" altLang="en-US" dirty="0"/>
              <a:t>：</a:t>
            </a:r>
            <a:r>
              <a:rPr kumimoji="1" lang="ja-JP" altLang="en-US"/>
              <a:t>最大能使用</a:t>
            </a:r>
            <a:r>
              <a:rPr kumimoji="1" lang="en-US" altLang="ja-JP" dirty="0"/>
              <a:t>100</a:t>
            </a:r>
            <a:r>
              <a:rPr kumimoji="1" lang="en-US" altLang="zh-CN" dirty="0"/>
              <a:t>MB/s</a:t>
            </a:r>
            <a:r>
              <a:rPr kumimoji="1" lang="ja-JP" altLang="en-US"/>
              <a:t>的磁盘</a:t>
            </a:r>
            <a:r>
              <a:rPr kumimoji="1" lang="en-US" altLang="ja-JP" dirty="0"/>
              <a:t>IO</a:t>
            </a:r>
          </a:p>
        </p:txBody>
      </p:sp>
    </p:spTree>
    <p:extLst>
      <p:ext uri="{BB962C8B-B14F-4D97-AF65-F5344CB8AC3E}">
        <p14:creationId xmlns:p14="http://schemas.microsoft.com/office/powerpoint/2010/main" val="117400743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F65833-BDEC-2B4B-AF0D-9F673F2D5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>
            <a:normAutofit/>
          </a:bodyPr>
          <a:lstStyle/>
          <a:p>
            <a:r>
              <a:rPr kumimoji="1" lang="ja-JP" altLang="en-US"/>
              <a:t>资源控制模型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36966D5-5415-3C42-944F-60314F389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48C4BF5-CF02-114D-8C3B-2C3ED7628B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AF30F1D7-2EC8-6B49-B1CF-143B8BF8E55B}"/>
              </a:ext>
            </a:extLst>
          </p:cNvPr>
          <p:cNvCxnSpPr>
            <a:cxnSpLocks/>
          </p:cNvCxnSpPr>
          <p:nvPr/>
        </p:nvCxnSpPr>
        <p:spPr>
          <a:xfrm flipH="1">
            <a:off x="10622825" y="2628261"/>
            <a:ext cx="1" cy="33259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内容占位符 2">
            <a:extLst>
              <a:ext uri="{FF2B5EF4-FFF2-40B4-BE49-F238E27FC236}">
                <a16:creationId xmlns:a16="http://schemas.microsoft.com/office/drawing/2014/main" id="{CE849B39-2C46-C94E-9BAF-3C3D3EF84D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2"/>
            <a:ext cx="8229600" cy="1056102"/>
          </a:xfrm>
        </p:spPr>
        <p:txBody>
          <a:bodyPr>
            <a:normAutofit/>
          </a:bodyPr>
          <a:lstStyle/>
          <a:p>
            <a:r>
              <a:rPr kumimoji="1" lang="ja-JP" altLang="en-US"/>
              <a:t>小明和小红同时访问磁盘</a:t>
            </a:r>
            <a:endParaRPr kumimoji="1" lang="en-US" altLang="ja-JP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AD24B56F-B301-CB43-9551-293B3B2B651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70738" y="3136205"/>
            <a:ext cx="1905000" cy="19050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3D00307F-003F-4849-B5DB-8FD8A1AFF9A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203601" y="3865612"/>
            <a:ext cx="1224136" cy="1224136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D512DFC0-A9C2-BF4D-9194-F740A30AF91A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294497" y="2773661"/>
            <a:ext cx="1133240" cy="113324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1B6450F-C695-2142-A534-DAE496794460}"/>
              </a:ext>
            </a:extLst>
          </p:cNvPr>
          <p:cNvSpPr txBox="1"/>
          <p:nvPr/>
        </p:nvSpPr>
        <p:spPr>
          <a:xfrm>
            <a:off x="3844427" y="3104409"/>
            <a:ext cx="1095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250MB/s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F99BB14-37FF-BC42-80E7-24E2A15F92D5}"/>
              </a:ext>
            </a:extLst>
          </p:cNvPr>
          <p:cNvSpPr txBox="1"/>
          <p:nvPr/>
        </p:nvSpPr>
        <p:spPr>
          <a:xfrm>
            <a:off x="3799642" y="4468212"/>
            <a:ext cx="1095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250MB/s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0867975-1FC8-174A-B4A2-81AA82686CF1}"/>
              </a:ext>
            </a:extLst>
          </p:cNvPr>
          <p:cNvCxnSpPr>
            <a:stCxn id="11" idx="3"/>
          </p:cNvCxnSpPr>
          <p:nvPr/>
        </p:nvCxnSpPr>
        <p:spPr>
          <a:xfrm>
            <a:off x="3427737" y="3340281"/>
            <a:ext cx="1843001" cy="31422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C248174-CBDA-D14F-B83A-3A74B61AEF43}"/>
              </a:ext>
            </a:extLst>
          </p:cNvPr>
          <p:cNvCxnSpPr>
            <a:cxnSpLocks/>
          </p:cNvCxnSpPr>
          <p:nvPr/>
        </p:nvCxnSpPr>
        <p:spPr>
          <a:xfrm flipV="1">
            <a:off x="3542546" y="4336946"/>
            <a:ext cx="1728192" cy="14073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FB940DFD-9B93-D846-B33A-E1B4771D68F6}"/>
              </a:ext>
            </a:extLst>
          </p:cNvPr>
          <p:cNvSpPr txBox="1"/>
          <p:nvPr/>
        </p:nvSpPr>
        <p:spPr>
          <a:xfrm>
            <a:off x="6880899" y="3719373"/>
            <a:ext cx="1723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MAX: 500MB/s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8A9887D-AD32-F540-8012-567F76318CF6}"/>
              </a:ext>
            </a:extLst>
          </p:cNvPr>
          <p:cNvSpPr txBox="1"/>
          <p:nvPr/>
        </p:nvSpPr>
        <p:spPr>
          <a:xfrm>
            <a:off x="568627" y="3155615"/>
            <a:ext cx="1723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MAX: 250MB/s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921AC65-625A-5046-8997-13F062EC730A}"/>
              </a:ext>
            </a:extLst>
          </p:cNvPr>
          <p:cNvSpPr txBox="1"/>
          <p:nvPr/>
        </p:nvSpPr>
        <p:spPr>
          <a:xfrm>
            <a:off x="568626" y="4293014"/>
            <a:ext cx="1723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MAX: 250MB/s</a:t>
            </a:r>
          </a:p>
        </p:txBody>
      </p:sp>
      <p:sp>
        <p:nvSpPr>
          <p:cNvPr id="23" name="Cloud Callout 22">
            <a:extLst>
              <a:ext uri="{FF2B5EF4-FFF2-40B4-BE49-F238E27FC236}">
                <a16:creationId xmlns:a16="http://schemas.microsoft.com/office/drawing/2014/main" id="{666D1562-2CE9-EB44-98B0-58584BE8FADC}"/>
              </a:ext>
            </a:extLst>
          </p:cNvPr>
          <p:cNvSpPr/>
          <p:nvPr/>
        </p:nvSpPr>
        <p:spPr>
          <a:xfrm>
            <a:off x="3866582" y="1808577"/>
            <a:ext cx="2808312" cy="1320602"/>
          </a:xfrm>
          <a:prstGeom prst="cloudCallout">
            <a:avLst>
              <a:gd name="adj1" fmla="val -60053"/>
              <a:gd name="adj2" fmla="val 4204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/>
              <a:t>没有其他人用</a:t>
            </a:r>
            <a:r>
              <a:rPr lang="zh-CN" altLang="en-US" dirty="0"/>
              <a:t>，</a:t>
            </a:r>
            <a:r>
              <a:rPr lang="ja-JP" altLang="en-US"/>
              <a:t>为什么我不能用</a:t>
            </a:r>
            <a:r>
              <a:rPr lang="en-US" altLang="zh-CN" dirty="0"/>
              <a:t>500MB/s</a:t>
            </a:r>
            <a:endParaRPr lang="en-US" dirty="0"/>
          </a:p>
        </p:txBody>
      </p:sp>
      <p:sp>
        <p:nvSpPr>
          <p:cNvPr id="28" name="Smiley Face 27">
            <a:extLst>
              <a:ext uri="{FF2B5EF4-FFF2-40B4-BE49-F238E27FC236}">
                <a16:creationId xmlns:a16="http://schemas.microsoft.com/office/drawing/2014/main" id="{AF6B5E59-D4E1-D84E-A370-42C861C29D39}"/>
              </a:ext>
            </a:extLst>
          </p:cNvPr>
          <p:cNvSpPr/>
          <p:nvPr/>
        </p:nvSpPr>
        <p:spPr>
          <a:xfrm>
            <a:off x="2815669" y="2127166"/>
            <a:ext cx="750318" cy="750318"/>
          </a:xfrm>
          <a:prstGeom prst="smileyFace">
            <a:avLst>
              <a:gd name="adj" fmla="val -4653"/>
            </a:avLst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004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3" grpId="1"/>
      <p:bldP spid="20" grpId="0"/>
      <p:bldP spid="21" grpId="0"/>
      <p:bldP spid="24" grpId="0"/>
      <p:bldP spid="23" grpId="0" animBg="1"/>
      <p:bldP spid="28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F65833-BDEC-2B4B-AF0D-9F673F2D5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>
            <a:normAutofit/>
          </a:bodyPr>
          <a:lstStyle/>
          <a:p>
            <a:r>
              <a:rPr kumimoji="1" lang="ja-JP" altLang="en-US"/>
              <a:t>资源控制模型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36966D5-5415-3C42-944F-60314F389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48C4BF5-CF02-114D-8C3B-2C3ED7628B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AF30F1D7-2EC8-6B49-B1CF-143B8BF8E55B}"/>
              </a:ext>
            </a:extLst>
          </p:cNvPr>
          <p:cNvCxnSpPr>
            <a:cxnSpLocks/>
          </p:cNvCxnSpPr>
          <p:nvPr/>
        </p:nvCxnSpPr>
        <p:spPr>
          <a:xfrm flipH="1">
            <a:off x="10622825" y="2628261"/>
            <a:ext cx="1" cy="33259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内容占位符 2">
            <a:extLst>
              <a:ext uri="{FF2B5EF4-FFF2-40B4-BE49-F238E27FC236}">
                <a16:creationId xmlns:a16="http://schemas.microsoft.com/office/drawing/2014/main" id="{CE849B39-2C46-C94E-9BAF-3C3D3EF84D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229600" cy="3771636"/>
          </a:xfrm>
        </p:spPr>
        <p:txBody>
          <a:bodyPr>
            <a:normAutofit/>
          </a:bodyPr>
          <a:lstStyle/>
          <a:p>
            <a:r>
              <a:rPr kumimoji="1" lang="ja-JP" altLang="en-US"/>
              <a:t>最大值</a:t>
            </a:r>
            <a:endParaRPr kumimoji="1" lang="en-US" altLang="ja-JP" dirty="0"/>
          </a:p>
          <a:p>
            <a:pPr lvl="1"/>
            <a:r>
              <a:rPr kumimoji="1" lang="ja-JP" altLang="en-US"/>
              <a:t>直接设置一个控制组所能使用的物理资源的最大值</a:t>
            </a:r>
            <a:r>
              <a:rPr kumimoji="1" lang="zh-CN" altLang="en-US" dirty="0"/>
              <a:t>，</a:t>
            </a:r>
            <a:r>
              <a:rPr kumimoji="1" lang="ja-JP" altLang="en-US"/>
              <a:t>例如</a:t>
            </a:r>
            <a:r>
              <a:rPr kumimoji="1" lang="zh-CN" altLang="en-US" dirty="0"/>
              <a:t>：</a:t>
            </a:r>
            <a:endParaRPr kumimoji="1" lang="en-US" altLang="ja-JP" dirty="0"/>
          </a:p>
          <a:p>
            <a:pPr lvl="2"/>
            <a:r>
              <a:rPr kumimoji="1" lang="ja-JP" altLang="en-US"/>
              <a:t>内存子系统</a:t>
            </a:r>
            <a:r>
              <a:rPr kumimoji="1" lang="zh-CN" altLang="en-US" dirty="0"/>
              <a:t>：</a:t>
            </a:r>
            <a:r>
              <a:rPr kumimoji="1" lang="ja-JP" altLang="en-US"/>
              <a:t>最多能使用</a:t>
            </a:r>
            <a:r>
              <a:rPr kumimoji="1" lang="en-US" altLang="zh-CN" dirty="0"/>
              <a:t>1GB</a:t>
            </a:r>
            <a:r>
              <a:rPr kumimoji="1" lang="ja-JP" altLang="en-US"/>
              <a:t>内存</a:t>
            </a:r>
            <a:endParaRPr kumimoji="1" lang="en-US" altLang="ja-JP" dirty="0"/>
          </a:p>
          <a:p>
            <a:pPr lvl="2"/>
            <a:r>
              <a:rPr kumimoji="1" lang="ja-JP" altLang="en-US"/>
              <a:t>存储子系统</a:t>
            </a:r>
            <a:r>
              <a:rPr kumimoji="1" lang="zh-CN" altLang="en-US" dirty="0"/>
              <a:t>：</a:t>
            </a:r>
            <a:r>
              <a:rPr kumimoji="1" lang="ja-JP" altLang="en-US"/>
              <a:t>最大能使用</a:t>
            </a:r>
            <a:r>
              <a:rPr kumimoji="1" lang="en-US" altLang="ja-JP" dirty="0"/>
              <a:t>100</a:t>
            </a:r>
            <a:r>
              <a:rPr kumimoji="1" lang="en-US" altLang="zh-CN" dirty="0"/>
              <a:t>MB/s</a:t>
            </a:r>
            <a:r>
              <a:rPr kumimoji="1" lang="ja-JP" altLang="en-US"/>
              <a:t>的磁盘</a:t>
            </a:r>
            <a:r>
              <a:rPr kumimoji="1" lang="en-US" altLang="ja-JP" dirty="0"/>
              <a:t>IO</a:t>
            </a:r>
          </a:p>
          <a:p>
            <a:r>
              <a:rPr kumimoji="1" lang="ja-JP" altLang="en-US"/>
              <a:t>比例</a:t>
            </a:r>
            <a:endParaRPr kumimoji="1" lang="en-US" altLang="ja-JP" dirty="0"/>
          </a:p>
          <a:p>
            <a:pPr lvl="1"/>
            <a:r>
              <a:rPr kumimoji="1" lang="ja-JP" altLang="en-US"/>
              <a:t>设置不同控制组使用同一物理资源时的资源分配比例</a:t>
            </a:r>
            <a:r>
              <a:rPr kumimoji="1" lang="zh-CN" altLang="en-US" dirty="0"/>
              <a:t>，</a:t>
            </a:r>
            <a:r>
              <a:rPr kumimoji="1" lang="ja-JP" altLang="en-US"/>
              <a:t>例如</a:t>
            </a:r>
            <a:r>
              <a:rPr kumimoji="1" lang="zh-CN" altLang="en-US" dirty="0"/>
              <a:t>：</a:t>
            </a:r>
            <a:endParaRPr kumimoji="1" lang="en-US" altLang="zh-CN" dirty="0"/>
          </a:p>
          <a:p>
            <a:pPr lvl="2"/>
            <a:r>
              <a:rPr kumimoji="1" lang="ja-JP" altLang="en-US"/>
              <a:t>存储子系统</a:t>
            </a:r>
            <a:r>
              <a:rPr kumimoji="1" lang="zh-CN" altLang="en-US" dirty="0"/>
              <a:t>：</a:t>
            </a:r>
            <a:r>
              <a:rPr kumimoji="1" lang="ja-JP" altLang="en-US"/>
              <a:t>两个控制组按照</a:t>
            </a:r>
            <a:r>
              <a:rPr kumimoji="1" lang="en-US" altLang="zh-CN" dirty="0"/>
              <a:t>1</a:t>
            </a:r>
            <a:r>
              <a:rPr kumimoji="1" lang="zh-CN" altLang="en-US" dirty="0"/>
              <a:t>：</a:t>
            </a:r>
            <a:r>
              <a:rPr kumimoji="1" lang="en-US" altLang="zh-CN" dirty="0"/>
              <a:t>1</a:t>
            </a:r>
            <a:r>
              <a:rPr kumimoji="1" lang="ja-JP" altLang="en-US"/>
              <a:t>的比例使用磁盘</a:t>
            </a:r>
            <a:r>
              <a:rPr kumimoji="1" lang="en-US" altLang="ja-JP" dirty="0"/>
              <a:t>IO</a:t>
            </a:r>
            <a:r>
              <a:rPr kumimoji="1" lang="ja-JP" altLang="en-US"/>
              <a:t>资源</a:t>
            </a:r>
            <a:endParaRPr kumimoji="1" lang="en-US" altLang="ja-JP" dirty="0"/>
          </a:p>
          <a:p>
            <a:pPr lvl="2"/>
            <a:r>
              <a:rPr kumimoji="1" lang="en-US" altLang="ja-JP" dirty="0"/>
              <a:t>CPU</a:t>
            </a:r>
            <a:r>
              <a:rPr kumimoji="1" lang="ja-JP" altLang="en-US"/>
              <a:t>子系统</a:t>
            </a:r>
            <a:r>
              <a:rPr kumimoji="1" lang="zh-CN" altLang="en-US" dirty="0"/>
              <a:t>：</a:t>
            </a:r>
            <a:r>
              <a:rPr kumimoji="1" lang="ja-JP" altLang="en-US"/>
              <a:t>两个控制组按照</a:t>
            </a:r>
            <a:r>
              <a:rPr kumimoji="1" lang="en-US" altLang="zh-CN" dirty="0"/>
              <a:t>2</a:t>
            </a:r>
            <a:r>
              <a:rPr kumimoji="1" lang="zh-CN" altLang="en-US" dirty="0"/>
              <a:t>：</a:t>
            </a:r>
            <a:r>
              <a:rPr kumimoji="1" lang="en-US" altLang="zh-CN" dirty="0"/>
              <a:t>1</a:t>
            </a:r>
            <a:r>
              <a:rPr kumimoji="1" lang="ja-JP" altLang="en-US"/>
              <a:t>的比例使用</a:t>
            </a:r>
            <a:r>
              <a:rPr kumimoji="1" lang="en-US" altLang="ja-JP" dirty="0"/>
              <a:t>CPU</a:t>
            </a:r>
            <a:r>
              <a:rPr kumimoji="1" lang="ja-JP" altLang="en-US"/>
              <a:t>时间</a:t>
            </a:r>
            <a:endParaRPr kumimoji="1"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55408147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F65833-BDEC-2B4B-AF0D-9F673F2D5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>
            <a:normAutofit/>
          </a:bodyPr>
          <a:lstStyle/>
          <a:p>
            <a:r>
              <a:rPr kumimoji="1" lang="ja-JP" altLang="en-US"/>
              <a:t>资源控制模型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36966D5-5415-3C42-944F-60314F389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48C4BF5-CF02-114D-8C3B-2C3ED7628B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AF30F1D7-2EC8-6B49-B1CF-143B8BF8E55B}"/>
              </a:ext>
            </a:extLst>
          </p:cNvPr>
          <p:cNvCxnSpPr>
            <a:cxnSpLocks/>
          </p:cNvCxnSpPr>
          <p:nvPr/>
        </p:nvCxnSpPr>
        <p:spPr>
          <a:xfrm flipH="1">
            <a:off x="10622825" y="2628261"/>
            <a:ext cx="1" cy="33259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内容占位符 2">
            <a:extLst>
              <a:ext uri="{FF2B5EF4-FFF2-40B4-BE49-F238E27FC236}">
                <a16:creationId xmlns:a16="http://schemas.microsoft.com/office/drawing/2014/main" id="{CE849B39-2C46-C94E-9BAF-3C3D3EF84D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2"/>
            <a:ext cx="8229600" cy="1056102"/>
          </a:xfrm>
        </p:spPr>
        <p:txBody>
          <a:bodyPr>
            <a:normAutofit/>
          </a:bodyPr>
          <a:lstStyle/>
          <a:p>
            <a:r>
              <a:rPr kumimoji="1" lang="ja-JP" altLang="en-US"/>
              <a:t>小明和小红同时访问磁盘</a:t>
            </a:r>
            <a:endParaRPr kumimoji="1" lang="en-US" altLang="ja-JP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AD24B56F-B301-CB43-9551-293B3B2B651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70738" y="3136205"/>
            <a:ext cx="1905000" cy="19050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3D00307F-003F-4849-B5DB-8FD8A1AFF9A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203601" y="3865612"/>
            <a:ext cx="1224136" cy="1224136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D512DFC0-A9C2-BF4D-9194-F740A30AF91A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294497" y="2773661"/>
            <a:ext cx="1133240" cy="113324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1B6450F-C695-2142-A534-DAE496794460}"/>
              </a:ext>
            </a:extLst>
          </p:cNvPr>
          <p:cNvSpPr txBox="1"/>
          <p:nvPr/>
        </p:nvSpPr>
        <p:spPr>
          <a:xfrm>
            <a:off x="3844427" y="3104409"/>
            <a:ext cx="1095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250MB/s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F99BB14-37FF-BC42-80E7-24E2A15F92D5}"/>
              </a:ext>
            </a:extLst>
          </p:cNvPr>
          <p:cNvSpPr txBox="1"/>
          <p:nvPr/>
        </p:nvSpPr>
        <p:spPr>
          <a:xfrm>
            <a:off x="3799642" y="4468212"/>
            <a:ext cx="1095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250MB/s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0867975-1FC8-174A-B4A2-81AA82686CF1}"/>
              </a:ext>
            </a:extLst>
          </p:cNvPr>
          <p:cNvCxnSpPr>
            <a:stCxn id="11" idx="3"/>
          </p:cNvCxnSpPr>
          <p:nvPr/>
        </p:nvCxnSpPr>
        <p:spPr>
          <a:xfrm>
            <a:off x="3427737" y="3340281"/>
            <a:ext cx="1843001" cy="31422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C248174-CBDA-D14F-B83A-3A74B61AEF43}"/>
              </a:ext>
            </a:extLst>
          </p:cNvPr>
          <p:cNvCxnSpPr>
            <a:cxnSpLocks/>
          </p:cNvCxnSpPr>
          <p:nvPr/>
        </p:nvCxnSpPr>
        <p:spPr>
          <a:xfrm flipV="1">
            <a:off x="3542546" y="4336946"/>
            <a:ext cx="1728192" cy="14073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FB940DFD-9B93-D846-B33A-E1B4771D68F6}"/>
              </a:ext>
            </a:extLst>
          </p:cNvPr>
          <p:cNvSpPr txBox="1"/>
          <p:nvPr/>
        </p:nvSpPr>
        <p:spPr>
          <a:xfrm>
            <a:off x="6880899" y="3719373"/>
            <a:ext cx="1723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MAX: 500MB/s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8A9887D-AD32-F540-8012-567F76318CF6}"/>
              </a:ext>
            </a:extLst>
          </p:cNvPr>
          <p:cNvSpPr txBox="1"/>
          <p:nvPr/>
        </p:nvSpPr>
        <p:spPr>
          <a:xfrm>
            <a:off x="568627" y="3155615"/>
            <a:ext cx="14116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Weight: 500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921AC65-625A-5046-8997-13F062EC730A}"/>
              </a:ext>
            </a:extLst>
          </p:cNvPr>
          <p:cNvSpPr txBox="1"/>
          <p:nvPr/>
        </p:nvSpPr>
        <p:spPr>
          <a:xfrm>
            <a:off x="568626" y="4293014"/>
            <a:ext cx="14116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Weight: 500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B834B2-201D-AA47-AA50-5D3AB8D517DF}"/>
              </a:ext>
            </a:extLst>
          </p:cNvPr>
          <p:cNvSpPr txBox="1"/>
          <p:nvPr/>
        </p:nvSpPr>
        <p:spPr>
          <a:xfrm>
            <a:off x="3832651" y="3104409"/>
            <a:ext cx="1095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500MB/s</a:t>
            </a:r>
          </a:p>
        </p:txBody>
      </p:sp>
      <p:sp>
        <p:nvSpPr>
          <p:cNvPr id="22" name="Smiley Face 21">
            <a:extLst>
              <a:ext uri="{FF2B5EF4-FFF2-40B4-BE49-F238E27FC236}">
                <a16:creationId xmlns:a16="http://schemas.microsoft.com/office/drawing/2014/main" id="{56538F19-7F9D-9B46-9BE5-EF1E2EB7B489}"/>
              </a:ext>
            </a:extLst>
          </p:cNvPr>
          <p:cNvSpPr/>
          <p:nvPr/>
        </p:nvSpPr>
        <p:spPr>
          <a:xfrm>
            <a:off x="2815669" y="2127166"/>
            <a:ext cx="750318" cy="750318"/>
          </a:xfrm>
          <a:prstGeom prst="smileyFace">
            <a:avLst>
              <a:gd name="adj" fmla="val 4653"/>
            </a:avLst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941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2" grpId="1"/>
      <p:bldP spid="13" grpId="0"/>
      <p:bldP spid="13" grpId="1"/>
      <p:bldP spid="20" grpId="0"/>
      <p:bldP spid="21" grpId="0"/>
      <p:bldP spid="24" grpId="0"/>
      <p:bldP spid="3" grpId="0"/>
      <p:bldP spid="22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F65833-BDEC-2B4B-AF0D-9F673F2D5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>
            <a:normAutofit/>
          </a:bodyPr>
          <a:lstStyle/>
          <a:p>
            <a:r>
              <a:rPr kumimoji="1" lang="ja-JP" altLang="en-US"/>
              <a:t>如何对任务使用资源进行监控和限制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36966D5-5415-3C42-944F-60314F389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48C4BF5-CF02-114D-8C3B-2C3ED7628B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AF30F1D7-2EC8-6B49-B1CF-143B8BF8E55B}"/>
              </a:ext>
            </a:extLst>
          </p:cNvPr>
          <p:cNvCxnSpPr>
            <a:cxnSpLocks/>
          </p:cNvCxnSpPr>
          <p:nvPr/>
        </p:nvCxnSpPr>
        <p:spPr>
          <a:xfrm flipH="1">
            <a:off x="10622825" y="2628261"/>
            <a:ext cx="1" cy="33259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内容占位符 2">
            <a:extLst>
              <a:ext uri="{FF2B5EF4-FFF2-40B4-BE49-F238E27FC236}">
                <a16:creationId xmlns:a16="http://schemas.microsoft.com/office/drawing/2014/main" id="{CE849B39-2C46-C94E-9BAF-3C3D3EF84D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229600" cy="3771636"/>
          </a:xfrm>
        </p:spPr>
        <p:txBody>
          <a:bodyPr>
            <a:normAutofit/>
          </a:bodyPr>
          <a:lstStyle/>
          <a:p>
            <a:r>
              <a:rPr kumimoji="1" lang="en-US" altLang="ja-JP" dirty="0" err="1"/>
              <a:t>Cgroups</a:t>
            </a:r>
            <a:r>
              <a:rPr kumimoji="1" lang="ja-JP" altLang="en-US"/>
              <a:t>进行监控和限制的单位是什么</a:t>
            </a:r>
            <a:r>
              <a:rPr kumimoji="1" lang="zh-CN" altLang="en-US" dirty="0"/>
              <a:t>？</a:t>
            </a:r>
            <a:endParaRPr kumimoji="1" lang="en-US" altLang="zh-CN" dirty="0"/>
          </a:p>
          <a:p>
            <a:pPr lvl="1"/>
            <a:r>
              <a:rPr kumimoji="1" lang="ja-JP" altLang="en-US"/>
              <a:t>控制组</a:t>
            </a:r>
            <a:endParaRPr kumimoji="1" lang="en-US" altLang="ja-JP" dirty="0"/>
          </a:p>
          <a:p>
            <a:r>
              <a:rPr kumimoji="1" lang="ja-JP" altLang="en-US"/>
              <a:t>如何知道一个控制组使用了多少物理资源</a:t>
            </a:r>
            <a:r>
              <a:rPr kumimoji="1" lang="zh-CN" altLang="en-US" dirty="0"/>
              <a:t>？</a:t>
            </a:r>
            <a:endParaRPr kumimoji="1" lang="en-US" altLang="zh-CN" dirty="0"/>
          </a:p>
          <a:p>
            <a:pPr lvl="1"/>
            <a:r>
              <a:rPr kumimoji="1" lang="ja-JP" altLang="en-US"/>
              <a:t>计算该控制组所有任务使用的该物理资源的总和</a:t>
            </a:r>
            <a:endParaRPr kumimoji="1" lang="en-US" altLang="ja-JP" dirty="0"/>
          </a:p>
          <a:p>
            <a:r>
              <a:rPr kumimoji="1" lang="ja-JP" altLang="en-US"/>
              <a:t>如何限制一个控制组</a:t>
            </a:r>
            <a:endParaRPr kumimoji="1" lang="en-US" altLang="ja-JP" dirty="0"/>
          </a:p>
          <a:p>
            <a:pPr lvl="1"/>
            <a:r>
              <a:rPr kumimoji="1" lang="ja-JP" altLang="en-US"/>
              <a:t>使该控制组的所有任务使用的物理资源不超过这个限制</a:t>
            </a:r>
            <a:endParaRPr kumimoji="1" lang="en-US" altLang="ja-JP" dirty="0"/>
          </a:p>
          <a:p>
            <a:pPr lvl="1"/>
            <a:r>
              <a:rPr kumimoji="1" lang="ja-JP" altLang="en-US"/>
              <a:t>在每个任务使用物理资源时</a:t>
            </a:r>
            <a:r>
              <a:rPr kumimoji="1" lang="zh-CN" altLang="en-US" dirty="0"/>
              <a:t>，</a:t>
            </a:r>
            <a:r>
              <a:rPr kumimoji="1" lang="ja-JP" altLang="en-US"/>
              <a:t>需要保证不违反该控制组的限制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411915292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F65833-BDEC-2B4B-AF0D-9F673F2D5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kumimoji="1" lang="en-US" altLang="ja-JP" dirty="0"/>
              <a:t>CPU</a:t>
            </a:r>
            <a:r>
              <a:rPr kumimoji="1" lang="ja-JP" altLang="en-US"/>
              <a:t>子系统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36966D5-5415-3C42-944F-60314F389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48C4BF5-CF02-114D-8C3B-2C3ED7628B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AF30F1D7-2EC8-6B49-B1CF-143B8BF8E55B}"/>
              </a:ext>
            </a:extLst>
          </p:cNvPr>
          <p:cNvCxnSpPr>
            <a:cxnSpLocks/>
          </p:cNvCxnSpPr>
          <p:nvPr/>
        </p:nvCxnSpPr>
        <p:spPr>
          <a:xfrm flipH="1">
            <a:off x="10622825" y="2628261"/>
            <a:ext cx="1" cy="33259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内容占位符 2">
            <a:extLst>
              <a:ext uri="{FF2B5EF4-FFF2-40B4-BE49-F238E27FC236}">
                <a16:creationId xmlns:a16="http://schemas.microsoft.com/office/drawing/2014/main" id="{CE849B39-2C46-C94E-9BAF-3C3D3EF84D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229600" cy="3771636"/>
          </a:xfrm>
        </p:spPr>
        <p:txBody>
          <a:bodyPr>
            <a:normAutofit/>
          </a:bodyPr>
          <a:lstStyle/>
          <a:p>
            <a:r>
              <a:rPr kumimoji="1" lang="ja-JP" altLang="en-US"/>
              <a:t>回顾</a:t>
            </a:r>
            <a:r>
              <a:rPr kumimoji="1" lang="en-US" altLang="ja-JP" dirty="0"/>
              <a:t>CFS</a:t>
            </a:r>
            <a:r>
              <a:rPr kumimoji="1" lang="zh-CN" altLang="en-US" dirty="0"/>
              <a:t>（</a:t>
            </a:r>
            <a:r>
              <a:rPr kumimoji="1" lang="ja-JP" altLang="en-US"/>
              <a:t>完全公平调度器</a:t>
            </a:r>
            <a:r>
              <a:rPr kumimoji="1" lang="zh-CN" altLang="en-US" dirty="0"/>
              <a:t>）</a:t>
            </a:r>
            <a:endParaRPr kumimoji="1" lang="en-US" altLang="ja-JP" dirty="0"/>
          </a:p>
          <a:p>
            <a:pPr lvl="1"/>
            <a:r>
              <a:rPr kumimoji="1" lang="ja-JP" altLang="en-US"/>
              <a:t>可以为每个任务设定一个</a:t>
            </a:r>
            <a:r>
              <a:rPr kumimoji="1" lang="zh-CN" altLang="en-US" dirty="0"/>
              <a:t>“</a:t>
            </a:r>
            <a:r>
              <a:rPr kumimoji="1" lang="ja-JP" altLang="en-US"/>
              <a:t>权重值</a:t>
            </a:r>
            <a:r>
              <a:rPr kumimoji="1" lang="zh-CN" altLang="en-US" dirty="0"/>
              <a:t>”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“</a:t>
            </a:r>
            <a:r>
              <a:rPr kumimoji="1" lang="ja-JP" altLang="en-US"/>
              <a:t>权重值</a:t>
            </a:r>
            <a:r>
              <a:rPr kumimoji="1" lang="zh-CN" altLang="en-US" dirty="0"/>
              <a:t>”</a:t>
            </a:r>
            <a:r>
              <a:rPr kumimoji="1" lang="ja-JP" altLang="en-US"/>
              <a:t>确定了不同任务占用资源的比例</a:t>
            </a:r>
            <a:endParaRPr kumimoji="1" lang="en-US" altLang="ja-JP" dirty="0"/>
          </a:p>
          <a:p>
            <a:r>
              <a:rPr kumimoji="1" lang="en-US" altLang="zh-CN" dirty="0"/>
              <a:t>CPU</a:t>
            </a:r>
            <a:r>
              <a:rPr kumimoji="1" lang="ja-JP" altLang="en-US"/>
              <a:t>子系统允许为不同的控制组设定</a:t>
            </a:r>
            <a:r>
              <a:rPr kumimoji="1" lang="en-US" altLang="ja-JP" dirty="0"/>
              <a:t>CPU</a:t>
            </a:r>
            <a:r>
              <a:rPr kumimoji="1" lang="ja-JP" altLang="en-US"/>
              <a:t>时间的比例</a:t>
            </a:r>
            <a:endParaRPr kumimoji="1" lang="en-US" altLang="ja-JP" dirty="0"/>
          </a:p>
          <a:p>
            <a:pPr lvl="1"/>
            <a:r>
              <a:rPr kumimoji="1" lang="ja-JP" altLang="en-US"/>
              <a:t>直接利用</a:t>
            </a:r>
            <a:r>
              <a:rPr kumimoji="1" lang="en-US" altLang="ja-JP" dirty="0"/>
              <a:t>CFS</a:t>
            </a:r>
            <a:r>
              <a:rPr kumimoji="1" lang="ja-JP" altLang="en-US"/>
              <a:t>来实现按比例分配的资源控制模型</a:t>
            </a:r>
            <a:endParaRPr kumimoji="1" lang="en-US" altLang="ja-JP" dirty="0"/>
          </a:p>
          <a:p>
            <a:pPr lvl="1"/>
            <a:r>
              <a:rPr kumimoji="1" lang="ja-JP" altLang="en-US"/>
              <a:t>为控制组设定权重</a:t>
            </a:r>
            <a:r>
              <a:rPr kumimoji="1" lang="zh-CN" altLang="en-US" dirty="0"/>
              <a:t>：</a:t>
            </a:r>
            <a:r>
              <a:rPr kumimoji="1" lang="ja-JP" altLang="en-US"/>
              <a:t>向</a:t>
            </a:r>
            <a:r>
              <a:rPr kumimoji="1" lang="en-US" altLang="ja-JP" dirty="0" err="1"/>
              <a:t>cpu.shares</a:t>
            </a:r>
            <a:r>
              <a:rPr kumimoji="1" lang="ja-JP" altLang="en-US"/>
              <a:t>文件中写入权重值</a:t>
            </a:r>
            <a:r>
              <a:rPr kumimoji="1" lang="zh-CN" altLang="en-US" dirty="0"/>
              <a:t>（</a:t>
            </a:r>
            <a:r>
              <a:rPr kumimoji="1" lang="ja-JP" altLang="en-US"/>
              <a:t>默认</a:t>
            </a:r>
            <a:r>
              <a:rPr kumimoji="1" lang="en-US" altLang="zh-CN" dirty="0"/>
              <a:t>1024</a:t>
            </a:r>
            <a:r>
              <a:rPr kumimoji="1" lang="zh-CN" altLang="en-US" dirty="0"/>
              <a:t>）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414057604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F65833-BDEC-2B4B-AF0D-9F673F2D5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kumimoji="1" lang="ja-JP" altLang="en-US"/>
              <a:t>内存子系统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36966D5-5415-3C42-944F-60314F389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48C4BF5-CF02-114D-8C3B-2C3ED7628B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AF30F1D7-2EC8-6B49-B1CF-143B8BF8E55B}"/>
              </a:ext>
            </a:extLst>
          </p:cNvPr>
          <p:cNvCxnSpPr>
            <a:cxnSpLocks/>
          </p:cNvCxnSpPr>
          <p:nvPr/>
        </p:nvCxnSpPr>
        <p:spPr>
          <a:xfrm flipH="1">
            <a:off x="10622825" y="2628261"/>
            <a:ext cx="1" cy="33259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内容占位符 2">
            <a:extLst>
              <a:ext uri="{FF2B5EF4-FFF2-40B4-BE49-F238E27FC236}">
                <a16:creationId xmlns:a16="http://schemas.microsoft.com/office/drawing/2014/main" id="{CE849B39-2C46-C94E-9BAF-3C3D3EF84D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229600" cy="3771636"/>
          </a:xfrm>
        </p:spPr>
        <p:txBody>
          <a:bodyPr>
            <a:normAutofit/>
          </a:bodyPr>
          <a:lstStyle/>
          <a:p>
            <a:r>
              <a:rPr kumimoji="1" lang="ja-JP" altLang="en-US"/>
              <a:t>监控控制组使用的内存</a:t>
            </a:r>
            <a:endParaRPr kumimoji="1" lang="en-US" altLang="ja-JP" dirty="0"/>
          </a:p>
          <a:p>
            <a:pPr lvl="1"/>
            <a:r>
              <a:rPr kumimoji="1" lang="ja-JP" altLang="en-US"/>
              <a:t>利用</a:t>
            </a:r>
            <a:r>
              <a:rPr kumimoji="1" lang="en-US" altLang="ja-JP" dirty="0" err="1"/>
              <a:t>page_counter</a:t>
            </a:r>
            <a:r>
              <a:rPr kumimoji="1" lang="ja-JP" altLang="en-US"/>
              <a:t>监控每个控制组使用了多少内存</a:t>
            </a:r>
            <a:endParaRPr kumimoji="1" lang="en-US" altLang="ja-JP" dirty="0"/>
          </a:p>
          <a:p>
            <a:r>
              <a:rPr kumimoji="1" lang="ja-JP" altLang="en-US"/>
              <a:t>限制控制组使用的内存</a:t>
            </a:r>
            <a:endParaRPr kumimoji="1" lang="en-US" altLang="ja-JP" dirty="0"/>
          </a:p>
          <a:p>
            <a:pPr lvl="1"/>
            <a:r>
              <a:rPr kumimoji="1" lang="ja-JP" altLang="en-US"/>
              <a:t>通过修改</a:t>
            </a:r>
            <a:r>
              <a:rPr kumimoji="1" lang="en-US" altLang="zh-CN" dirty="0" err="1"/>
              <a:t>memory.limit_in_bytes</a:t>
            </a:r>
            <a:r>
              <a:rPr kumimoji="1" lang="ja-JP" altLang="en-US"/>
              <a:t>文件设定控制组最大内存使用量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51620239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F65833-BDEC-2B4B-AF0D-9F673F2D5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kumimoji="1" lang="ja-JP" altLang="en-US"/>
              <a:t>内存子系统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36966D5-5415-3C42-944F-60314F389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48C4BF5-CF02-114D-8C3B-2C3ED7628B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AF30F1D7-2EC8-6B49-B1CF-143B8BF8E55B}"/>
              </a:ext>
            </a:extLst>
          </p:cNvPr>
          <p:cNvCxnSpPr>
            <a:cxnSpLocks/>
          </p:cNvCxnSpPr>
          <p:nvPr/>
        </p:nvCxnSpPr>
        <p:spPr>
          <a:xfrm flipH="1">
            <a:off x="10622825" y="2628261"/>
            <a:ext cx="1" cy="33259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内容占位符 2">
            <a:extLst>
              <a:ext uri="{FF2B5EF4-FFF2-40B4-BE49-F238E27FC236}">
                <a16:creationId xmlns:a16="http://schemas.microsoft.com/office/drawing/2014/main" id="{CE849B39-2C46-C94E-9BAF-3C3D3EF84D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0"/>
            <a:ext cx="8229600" cy="3972271"/>
          </a:xfrm>
        </p:spPr>
        <p:txBody>
          <a:bodyPr>
            <a:normAutofit/>
          </a:bodyPr>
          <a:lstStyle/>
          <a:p>
            <a:r>
              <a:rPr kumimoji="1" lang="en-US" altLang="zh-CN" dirty="0"/>
              <a:t>Linux</a:t>
            </a:r>
            <a:r>
              <a:rPr kumimoji="1" lang="ja-JP" altLang="en-US"/>
              <a:t>分配内存首先需要</a:t>
            </a:r>
            <a:r>
              <a:rPr kumimoji="1" lang="en-US" altLang="ja-JP" dirty="0"/>
              <a:t>charge</a:t>
            </a:r>
            <a:r>
              <a:rPr kumimoji="1" lang="ja-JP" altLang="en-US"/>
              <a:t>同等大小的内存</a:t>
            </a:r>
            <a:endParaRPr kumimoji="1" lang="en-US" altLang="ja-JP" dirty="0"/>
          </a:p>
          <a:p>
            <a:pPr lvl="1"/>
            <a:r>
              <a:rPr kumimoji="1" lang="ja-JP" altLang="en-US"/>
              <a:t>只有</a:t>
            </a:r>
            <a:r>
              <a:rPr kumimoji="1" lang="en-US" altLang="ja-JP" dirty="0"/>
              <a:t>charge</a:t>
            </a:r>
            <a:r>
              <a:rPr kumimoji="1" lang="ja-JP" altLang="en-US"/>
              <a:t>成功</a:t>
            </a:r>
            <a:r>
              <a:rPr kumimoji="1" lang="zh-CN" altLang="en-US" dirty="0"/>
              <a:t>，</a:t>
            </a:r>
            <a:r>
              <a:rPr kumimoji="1" lang="ja-JP" altLang="en-US"/>
              <a:t>才能分配内存</a:t>
            </a:r>
            <a:endParaRPr kumimoji="1" lang="en-US" altLang="ja-JP" dirty="0"/>
          </a:p>
          <a:p>
            <a:r>
              <a:rPr kumimoji="1" lang="en-US" altLang="zh-CN" dirty="0"/>
              <a:t>Charge</a:t>
            </a:r>
            <a:r>
              <a:rPr kumimoji="1" lang="ja-JP" altLang="en-US"/>
              <a:t>内存的简化代码</a:t>
            </a:r>
            <a:r>
              <a:rPr kumimoji="1" lang="zh-CN" altLang="en-US" dirty="0"/>
              <a:t>（</a:t>
            </a:r>
            <a:r>
              <a:rPr kumimoji="1" lang="ja-JP" altLang="en-US"/>
              <a:t>大小为</a:t>
            </a:r>
            <a:r>
              <a:rPr kumimoji="1" lang="en-US" altLang="ja-JP" dirty="0" err="1"/>
              <a:t>nr_pages</a:t>
            </a:r>
            <a:r>
              <a:rPr kumimoji="1" lang="zh-CN" altLang="en-US" dirty="0"/>
              <a:t>）：</a:t>
            </a:r>
            <a:endParaRPr kumimoji="1" lang="en-US" altLang="zh-CN" dirty="0"/>
          </a:p>
          <a:p>
            <a:endParaRPr kumimoji="1" lang="en-US" altLang="zh-CN" dirty="0"/>
          </a:p>
          <a:p>
            <a:pPr marL="0" indent="0">
              <a:buNone/>
            </a:pPr>
            <a:endParaRPr kumimoji="1" lang="en-US" altLang="zh-CN" dirty="0"/>
          </a:p>
          <a:p>
            <a:r>
              <a:rPr kumimoji="1" lang="ja-JP" altLang="en-US"/>
              <a:t>释放内存时会执行相反的</a:t>
            </a:r>
            <a:r>
              <a:rPr kumimoji="1" lang="en-US" altLang="ja-JP" dirty="0" err="1"/>
              <a:t>uncharge</a:t>
            </a:r>
            <a:r>
              <a:rPr kumimoji="1" lang="ja-JP" altLang="en-US"/>
              <a:t>操作</a:t>
            </a:r>
            <a:endParaRPr kumimoji="1" lang="en-US" altLang="ja-JP" dirty="0"/>
          </a:p>
          <a:p>
            <a:endParaRPr kumimoji="1" lang="en-US" altLang="zh-CN" dirty="0"/>
          </a:p>
        </p:txBody>
      </p:sp>
      <p:sp>
        <p:nvSpPr>
          <p:cNvPr id="9" name="矩形 5">
            <a:extLst>
              <a:ext uri="{FF2B5EF4-FFF2-40B4-BE49-F238E27FC236}">
                <a16:creationId xmlns:a16="http://schemas.microsoft.com/office/drawing/2014/main" id="{D5CF8123-3DDE-DC4B-9759-41483B4BFC1D}"/>
              </a:ext>
            </a:extLst>
          </p:cNvPr>
          <p:cNvSpPr/>
          <p:nvPr/>
        </p:nvSpPr>
        <p:spPr>
          <a:xfrm>
            <a:off x="827584" y="2799784"/>
            <a:ext cx="7704856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new = 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atomic_long_add_return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zh-CN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nr_pages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&amp;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page_counter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-&gt;usage);</a:t>
            </a: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if (</a:t>
            </a:r>
            <a:r>
              <a:rPr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new &gt; </a:t>
            </a:r>
            <a:r>
              <a:rPr lang="en-US" altLang="zh-CN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page_counter</a:t>
            </a:r>
            <a:r>
              <a:rPr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-&gt;max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  <a:b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atomic_long_sub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zh-CN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nr_pages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&amp;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page_counter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-&gt;usage);</a:t>
            </a: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goto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failed;</a:t>
            </a:r>
          </a:p>
          <a:p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21272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F65833-BDEC-2B4B-AF0D-9F673F2D5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kumimoji="1" lang="ja-JP" altLang="en-US"/>
              <a:t>存储子系统</a:t>
            </a:r>
            <a:r>
              <a:rPr kumimoji="1" lang="zh-CN" altLang="en-US" dirty="0"/>
              <a:t>（</a:t>
            </a:r>
            <a:r>
              <a:rPr kumimoji="1" lang="en-US" altLang="zh-CN" dirty="0" err="1"/>
              <a:t>blkio</a:t>
            </a:r>
            <a:r>
              <a:rPr kumimoji="1" lang="zh-CN" altLang="en-US" dirty="0"/>
              <a:t>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36966D5-5415-3C42-944F-60314F389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48C4BF5-CF02-114D-8C3B-2C3ED7628B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AF30F1D7-2EC8-6B49-B1CF-143B8BF8E55B}"/>
              </a:ext>
            </a:extLst>
          </p:cNvPr>
          <p:cNvCxnSpPr>
            <a:cxnSpLocks/>
          </p:cNvCxnSpPr>
          <p:nvPr/>
        </p:nvCxnSpPr>
        <p:spPr>
          <a:xfrm flipH="1">
            <a:off x="10622825" y="2628261"/>
            <a:ext cx="1" cy="33259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F827AA00-68DB-7A4D-BB9F-F03B3D5591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229600" cy="3771636"/>
          </a:xfrm>
        </p:spPr>
        <p:txBody>
          <a:bodyPr>
            <a:normAutofit/>
          </a:bodyPr>
          <a:lstStyle/>
          <a:p>
            <a:r>
              <a:rPr kumimoji="1" lang="ja-JP" altLang="en-US"/>
              <a:t>限制最大</a:t>
            </a:r>
            <a:r>
              <a:rPr kumimoji="1" lang="en-US" altLang="ja-JP" dirty="0"/>
              <a:t>IOPS/BPS</a:t>
            </a:r>
          </a:p>
          <a:p>
            <a:pPr lvl="1"/>
            <a:r>
              <a:rPr kumimoji="1" lang="en-US" altLang="zh-CN" dirty="0" err="1"/>
              <a:t>blkio.throttle.read_bps_device</a:t>
            </a:r>
            <a:r>
              <a:rPr kumimoji="1" lang="en-US" altLang="zh-CN" dirty="0"/>
              <a:t> </a:t>
            </a:r>
            <a:r>
              <a:rPr kumimoji="1" lang="ja-JP" altLang="en-US"/>
              <a:t>限制对某块设备的读带宽</a:t>
            </a:r>
            <a:endParaRPr kumimoji="1" lang="en-US" altLang="ja-JP" dirty="0"/>
          </a:p>
          <a:p>
            <a:pPr lvl="1"/>
            <a:r>
              <a:rPr kumimoji="1" lang="en-US" altLang="zh-CN" dirty="0" err="1"/>
              <a:t>blkio.throttle.read_iops_device</a:t>
            </a:r>
            <a:r>
              <a:rPr kumimoji="1" lang="en-US" altLang="zh-CN" dirty="0"/>
              <a:t> </a:t>
            </a:r>
            <a:r>
              <a:rPr kumimoji="1" lang="ja-JP" altLang="en-US"/>
              <a:t>限制对某块设备的每秒读次数</a:t>
            </a:r>
            <a:endParaRPr kumimoji="1" lang="en-US" altLang="ja-JP" dirty="0"/>
          </a:p>
          <a:p>
            <a:pPr lvl="1"/>
            <a:r>
              <a:rPr kumimoji="1" lang="en-US" altLang="zh-CN" dirty="0" err="1"/>
              <a:t>blkio.throttle.write_bps_device</a:t>
            </a:r>
            <a:r>
              <a:rPr kumimoji="1" lang="en-US" altLang="zh-CN" dirty="0"/>
              <a:t> </a:t>
            </a:r>
            <a:r>
              <a:rPr kumimoji="1" lang="ja-JP" altLang="en-US"/>
              <a:t>限制对某块设备的写带宽</a:t>
            </a:r>
            <a:endParaRPr kumimoji="1" lang="en-US" altLang="ja-JP" dirty="0"/>
          </a:p>
          <a:p>
            <a:pPr lvl="1"/>
            <a:r>
              <a:rPr kumimoji="1" lang="en-US" altLang="zh-CN" dirty="0" err="1"/>
              <a:t>blkio.throttle.write_iops_device</a:t>
            </a:r>
            <a:r>
              <a:rPr kumimoji="1" lang="en-US" altLang="zh-CN" dirty="0"/>
              <a:t> </a:t>
            </a:r>
            <a:r>
              <a:rPr kumimoji="1" lang="ja-JP" altLang="en-US"/>
              <a:t>限制对某块设备的每秒写次数</a:t>
            </a:r>
            <a:endParaRPr kumimoji="1" lang="en-US" altLang="zh-CN" dirty="0"/>
          </a:p>
          <a:p>
            <a:r>
              <a:rPr kumimoji="1" lang="ja-JP" altLang="en-US"/>
              <a:t>设定权重</a:t>
            </a:r>
            <a:r>
              <a:rPr kumimoji="1" lang="zh-CN" altLang="en-US" dirty="0"/>
              <a:t>（</a:t>
            </a:r>
            <a:r>
              <a:rPr kumimoji="1" lang="en-US" altLang="zh-CN" dirty="0"/>
              <a:t>weight</a:t>
            </a:r>
            <a:r>
              <a:rPr kumimoji="1" lang="zh-CN" altLang="en-US" dirty="0"/>
              <a:t>）</a:t>
            </a:r>
            <a:endParaRPr kumimoji="1" lang="en-US" altLang="ja-JP" dirty="0"/>
          </a:p>
          <a:p>
            <a:pPr lvl="1"/>
            <a:r>
              <a:rPr kumimoji="1" lang="en-US" altLang="ja-JP" dirty="0" err="1"/>
              <a:t>blkio.weight</a:t>
            </a:r>
            <a:r>
              <a:rPr kumimoji="1" lang="en-US" altLang="ja-JP" dirty="0"/>
              <a:t> </a:t>
            </a:r>
            <a:r>
              <a:rPr kumimoji="1" lang="ja-JP" altLang="en-US"/>
              <a:t>该控制组的权重值</a:t>
            </a:r>
            <a:endParaRPr kumimoji="1" lang="en-US" altLang="ja-JP" dirty="0"/>
          </a:p>
          <a:p>
            <a:pPr lvl="1"/>
            <a:r>
              <a:rPr kumimoji="1" lang="en-US" altLang="ja-JP" dirty="0" err="1"/>
              <a:t>blkio.weight_device</a:t>
            </a:r>
            <a:r>
              <a:rPr kumimoji="1" lang="en-US" altLang="ja-JP" dirty="0"/>
              <a:t> </a:t>
            </a:r>
            <a:r>
              <a:rPr kumimoji="1" lang="ja-JP" altLang="en-US"/>
              <a:t>对某块设备单独的权重值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36063846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33FF13-61C8-8541-B296-BD742B379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小结：隔离的不同方式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1415A22-05E6-A949-B4C2-E44AD83750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spcBef>
                <a:spcPts val="600"/>
              </a:spcBef>
            </a:pPr>
            <a:r>
              <a:rPr kumimoji="1" lang="zh-CN" altLang="en-US" sz="2000" dirty="0"/>
              <a:t>物理机隔离</a:t>
            </a:r>
            <a:endParaRPr kumimoji="1" lang="en-US" altLang="zh-CN" sz="2000" dirty="0"/>
          </a:p>
          <a:p>
            <a:pPr>
              <a:spcBef>
                <a:spcPts val="600"/>
              </a:spcBef>
            </a:pPr>
            <a:r>
              <a:rPr kumimoji="1" lang="zh-CN" altLang="en-US" sz="2000" dirty="0"/>
              <a:t>虚拟机隔离</a:t>
            </a:r>
            <a:endParaRPr kumimoji="1" lang="en-US" altLang="zh-CN" sz="2000" dirty="0"/>
          </a:p>
          <a:p>
            <a:pPr>
              <a:spcBef>
                <a:spcPts val="600"/>
              </a:spcBef>
            </a:pPr>
            <a:r>
              <a:rPr kumimoji="1" lang="zh-CN" altLang="en-US" sz="2000" dirty="0"/>
              <a:t>机密虚拟机隔离</a:t>
            </a:r>
            <a:endParaRPr kumimoji="1" lang="en-US" altLang="zh-CN" sz="2000" dirty="0"/>
          </a:p>
          <a:p>
            <a:pPr>
              <a:spcBef>
                <a:spcPts val="600"/>
              </a:spcBef>
            </a:pPr>
            <a:r>
              <a:rPr kumimoji="1" lang="zh-CN" altLang="en-US" sz="2000" dirty="0"/>
              <a:t>文件系统隔离：</a:t>
            </a:r>
            <a:r>
              <a:rPr kumimoji="1" lang="en-US" altLang="zh-CN" sz="2000" b="0" dirty="0"/>
              <a:t>Chroot</a:t>
            </a:r>
          </a:p>
          <a:p>
            <a:pPr>
              <a:spcBef>
                <a:spcPts val="600"/>
              </a:spcBef>
            </a:pPr>
            <a:r>
              <a:rPr kumimoji="1" lang="zh-CN" altLang="en-US" sz="2000" dirty="0"/>
              <a:t>容器隔离：</a:t>
            </a:r>
            <a:r>
              <a:rPr kumimoji="1" lang="en-US" altLang="zh-CN" sz="2000" b="0" dirty="0"/>
              <a:t>Name</a:t>
            </a:r>
            <a:r>
              <a:rPr kumimoji="1" lang="zh-CN" altLang="en-US" sz="2000" b="0" dirty="0"/>
              <a:t> </a:t>
            </a:r>
            <a:r>
              <a:rPr kumimoji="1" lang="en-US" altLang="zh-CN" sz="2000" b="0" dirty="0"/>
              <a:t>Space</a:t>
            </a:r>
          </a:p>
          <a:p>
            <a:pPr>
              <a:spcBef>
                <a:spcPts val="600"/>
              </a:spcBef>
            </a:pPr>
            <a:r>
              <a:rPr kumimoji="1" lang="zh-CN" altLang="en-US" sz="2000" dirty="0"/>
              <a:t>进程隔离：</a:t>
            </a:r>
            <a:r>
              <a:rPr kumimoji="1" lang="zh-CN" altLang="en-US" sz="2000" b="0" dirty="0"/>
              <a:t>传统方式</a:t>
            </a:r>
            <a:endParaRPr kumimoji="1" lang="en-US" altLang="zh-CN" sz="2000" b="0" dirty="0"/>
          </a:p>
          <a:p>
            <a:pPr>
              <a:spcBef>
                <a:spcPts val="600"/>
              </a:spcBef>
            </a:pPr>
            <a:r>
              <a:rPr kumimoji="1" lang="zh-CN" altLang="en-US" sz="2000" dirty="0"/>
              <a:t>性能隔离：</a:t>
            </a:r>
            <a:r>
              <a:rPr kumimoji="1" lang="en-US" altLang="zh-CN" sz="2000" b="0" dirty="0" err="1"/>
              <a:t>Cgroup</a:t>
            </a:r>
            <a:endParaRPr kumimoji="1" lang="zh-CN" altLang="en-US" sz="2000" b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713A500-587D-BC41-A15C-519120919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E3C5F1E-49D7-6D4D-BC87-13B4E883C4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322664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BE384B"/>
      </a:accent1>
      <a:accent2>
        <a:srgbClr val="6A868F"/>
      </a:accent2>
      <a:accent3>
        <a:srgbClr val="32788E"/>
      </a:accent3>
      <a:accent4>
        <a:srgbClr val="D6C88B"/>
      </a:accent4>
      <a:accent5>
        <a:srgbClr val="D66E49"/>
      </a:accent5>
      <a:accent6>
        <a:srgbClr val="BFBFBF"/>
      </a:accent6>
      <a:hlink>
        <a:srgbClr val="BE384B"/>
      </a:hlink>
      <a:folHlink>
        <a:srgbClr val="BFBFBF"/>
      </a:folHlink>
    </a:clrScheme>
    <a:fontScheme name="2obzv3wc">
      <a:majorFont>
        <a:latin typeface="Arial" panose="020B0A04020102020204"/>
        <a:ea typeface="微软雅黑"/>
        <a:cs typeface=""/>
      </a:majorFont>
      <a:minorFont>
        <a:latin typeface="Arial" panose="020B060402020202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JTU-Red" id="{D8CCD1CF-4E9C-2949-907F-EF4853CAD992}" vid="{47F94616-763E-7D43-9BB0-722503DC19A3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SJTU-Red</Template>
  <TotalTime>53813</TotalTime>
  <Words>4331</Words>
  <Application>Microsoft Macintosh PowerPoint</Application>
  <PresentationFormat>全屏显示(16:10)</PresentationFormat>
  <Paragraphs>977</Paragraphs>
  <Slides>61</Slides>
  <Notes>33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61</vt:i4>
      </vt:variant>
    </vt:vector>
  </HeadingPairs>
  <TitlesOfParts>
    <vt:vector size="70" baseType="lpstr">
      <vt:lpstr>DengXian</vt:lpstr>
      <vt:lpstr>微软雅黑</vt:lpstr>
      <vt:lpstr>NimbusRomNo9L-Regu</vt:lpstr>
      <vt:lpstr>NimbusSanL-Bold</vt:lpstr>
      <vt:lpstr>American Typewriter</vt:lpstr>
      <vt:lpstr>Arial</vt:lpstr>
      <vt:lpstr>Calibri</vt:lpstr>
      <vt:lpstr>Courier New</vt:lpstr>
      <vt:lpstr>Office 主题​​</vt:lpstr>
      <vt:lpstr>轻量级隔离</vt:lpstr>
      <vt:lpstr>版权声明</vt:lpstr>
      <vt:lpstr>世界状态World State和内存隔离</vt:lpstr>
      <vt:lpstr>内存加密</vt:lpstr>
      <vt:lpstr>物理内存检查模块Granule Protection Check (GPC)</vt:lpstr>
      <vt:lpstr>物理内存检查模块Granule Protection Check (GPC)</vt:lpstr>
      <vt:lpstr>GPT的格式</vt:lpstr>
      <vt:lpstr>可信软件固件</vt:lpstr>
      <vt:lpstr>RMM接口：RMI和RSI</vt:lpstr>
      <vt:lpstr>远程验证</vt:lpstr>
      <vt:lpstr>其他机密虚拟化方案</vt:lpstr>
      <vt:lpstr>ARM SEL2</vt:lpstr>
      <vt:lpstr>ARM TwinVisor: 来自上海交大</vt:lpstr>
      <vt:lpstr>Intel Trusted Domain Extensions (TDX)</vt:lpstr>
      <vt:lpstr>AMD Secure Encrypted Virtualization (SEV)</vt:lpstr>
      <vt:lpstr>Review：虚拟化的技术</vt:lpstr>
      <vt:lpstr>云厂商普遍用虚拟化来隔离</vt:lpstr>
      <vt:lpstr>是否有更轻量级的隔离？</vt:lpstr>
      <vt:lpstr>chroot</vt:lpstr>
      <vt:lpstr>文件系统视图的隔离</vt:lpstr>
      <vt:lpstr>Chroot效果</vt:lpstr>
      <vt:lpstr>Chroot原理</vt:lpstr>
      <vt:lpstr>Chroot在Linux中的实现</vt:lpstr>
      <vt:lpstr>正确使用Chroot</vt:lpstr>
      <vt:lpstr>基于Name Space的限制</vt:lpstr>
      <vt:lpstr>Chroot能否实现彻底的隔离？</vt:lpstr>
      <vt:lpstr>Linux container</vt:lpstr>
      <vt:lpstr>LinuX Container (LXC)</vt:lpstr>
      <vt:lpstr>Linux Namespace (NS)</vt:lpstr>
      <vt:lpstr>1、Mount Namespace</vt:lpstr>
      <vt:lpstr>Mount Namespace的实现</vt:lpstr>
      <vt:lpstr>2、IPC Namespace</vt:lpstr>
      <vt:lpstr>IPC Namespace的实现</vt:lpstr>
      <vt:lpstr>3、Network Namespace</vt:lpstr>
      <vt:lpstr>Linux对于多IP的支持</vt:lpstr>
      <vt:lpstr>Network Namespace的实现</vt:lpstr>
      <vt:lpstr>4、PID Namespace</vt:lpstr>
      <vt:lpstr>PID Namespace的设计</vt:lpstr>
      <vt:lpstr>PID Namespace的实现</vt:lpstr>
      <vt:lpstr>5、User Namespace</vt:lpstr>
      <vt:lpstr>User Namespace的实现</vt:lpstr>
      <vt:lpstr>进一步限制容器内Root</vt:lpstr>
      <vt:lpstr>其他Namespace</vt:lpstr>
      <vt:lpstr>性能隔离</vt:lpstr>
      <vt:lpstr>资源竞争问题</vt:lpstr>
      <vt:lpstr>Control Cgroups (Cgroups)</vt:lpstr>
      <vt:lpstr>Cgroups的常用术语</vt:lpstr>
      <vt:lpstr>任务（Task）</vt:lpstr>
      <vt:lpstr>控制组（Control Group）</vt:lpstr>
      <vt:lpstr>子系统（Sub-system）</vt:lpstr>
      <vt:lpstr>层级（Hierarchy）</vt:lpstr>
      <vt:lpstr>资源控制模型</vt:lpstr>
      <vt:lpstr>资源控制模型</vt:lpstr>
      <vt:lpstr>资源控制模型</vt:lpstr>
      <vt:lpstr>资源控制模型</vt:lpstr>
      <vt:lpstr>如何对任务使用资源进行监控和限制</vt:lpstr>
      <vt:lpstr>CPU子系统</vt:lpstr>
      <vt:lpstr>内存子系统</vt:lpstr>
      <vt:lpstr>内存子系统</vt:lpstr>
      <vt:lpstr>存储子系统（blkio）</vt:lpstr>
      <vt:lpstr>小结：隔离的不同方式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虚拟机隔离与安全</dc:title>
  <dc:creator>Xia Yubin</dc:creator>
  <cp:lastModifiedBy>Xia Yubin</cp:lastModifiedBy>
  <cp:revision>5415</cp:revision>
  <cp:lastPrinted>2016-06-13T07:55:34Z</cp:lastPrinted>
  <dcterms:created xsi:type="dcterms:W3CDTF">2017-11-24T09:35:45Z</dcterms:created>
  <dcterms:modified xsi:type="dcterms:W3CDTF">2024-06-14T15:23:21Z</dcterms:modified>
</cp:coreProperties>
</file>