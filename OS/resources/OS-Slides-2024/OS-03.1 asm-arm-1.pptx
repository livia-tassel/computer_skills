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241" r:id="rId2"/>
    <p:sldId id="1359" r:id="rId3"/>
    <p:sldId id="2628" r:id="rId4"/>
    <p:sldId id="2615" r:id="rId5"/>
    <p:sldId id="2627" r:id="rId6"/>
    <p:sldId id="2240" r:id="rId7"/>
    <p:sldId id="2629" r:id="rId8"/>
    <p:sldId id="2631" r:id="rId9"/>
    <p:sldId id="2630" r:id="rId10"/>
    <p:sldId id="1371" r:id="rId11"/>
    <p:sldId id="2632" r:id="rId12"/>
    <p:sldId id="2243" r:id="rId13"/>
    <p:sldId id="2244" r:id="rId14"/>
    <p:sldId id="2245" r:id="rId15"/>
    <p:sldId id="2246" r:id="rId16"/>
    <p:sldId id="2247" r:id="rId17"/>
    <p:sldId id="2260" r:id="rId18"/>
    <p:sldId id="2640" r:id="rId19"/>
    <p:sldId id="2642" r:id="rId20"/>
    <p:sldId id="2641" r:id="rId21"/>
    <p:sldId id="2643" r:id="rId22"/>
    <p:sldId id="2644" r:id="rId23"/>
    <p:sldId id="2647" r:id="rId24"/>
    <p:sldId id="2645" r:id="rId25"/>
    <p:sldId id="1197" r:id="rId26"/>
    <p:sldId id="1200" r:id="rId27"/>
    <p:sldId id="2242" r:id="rId28"/>
    <p:sldId id="1116" r:id="rId29"/>
    <p:sldId id="2648" r:id="rId30"/>
    <p:sldId id="2656" r:id="rId31"/>
    <p:sldId id="1117" r:id="rId32"/>
    <p:sldId id="1118" r:id="rId33"/>
    <p:sldId id="1120" r:id="rId34"/>
    <p:sldId id="2657" r:id="rId35"/>
    <p:sldId id="2658" r:id="rId36"/>
    <p:sldId id="2649" r:id="rId37"/>
    <p:sldId id="2659" r:id="rId38"/>
    <p:sldId id="2653" r:id="rId39"/>
    <p:sldId id="2654" r:id="rId40"/>
    <p:sldId id="2655" r:id="rId41"/>
    <p:sldId id="2253" r:id="rId42"/>
    <p:sldId id="2254" r:id="rId43"/>
    <p:sldId id="2662" r:id="rId44"/>
    <p:sldId id="2661" r:id="rId45"/>
    <p:sldId id="2256" r:id="rId46"/>
    <p:sldId id="1272" r:id="rId47"/>
    <p:sldId id="2660" r:id="rId48"/>
    <p:sldId id="2259" r:id="rId4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A"/>
    <a:srgbClr val="E9CED1"/>
    <a:srgbClr val="0432FF"/>
    <a:srgbClr val="73FE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78776" autoAdjust="0"/>
  </p:normalViewPr>
  <p:slideViewPr>
    <p:cSldViewPr>
      <p:cViewPr varScale="1">
        <p:scale>
          <a:sx n="114" d="100"/>
          <a:sy n="114" d="100"/>
        </p:scale>
        <p:origin x="1792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操作系统的定义：应用于硬件之间的桥梁，管理硬件、服务应用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硬件抽象（两个手机上的应用程序通过操作系统提供的网络抽象使用网络功能）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54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三纵：冯诺依曼架构计算机 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内存 </a:t>
            </a:r>
            <a:r>
              <a:rPr kumimoji="1" lang="en-US" altLang="zh-CN" dirty="0"/>
              <a:t>IO</a:t>
            </a:r>
          </a:p>
          <a:p>
            <a:r>
              <a:rPr kumimoji="1" lang="zh-CN" altLang="en-US" dirty="0"/>
              <a:t>第一部分：程序员</a:t>
            </a:r>
            <a:r>
              <a:rPr kumimoji="1" lang="en-US" altLang="zh-CN" dirty="0"/>
              <a:t>/</a:t>
            </a:r>
            <a:r>
              <a:rPr kumimoji="1" lang="zh-CN" altLang="en-US" dirty="0"/>
              <a:t>应用视角看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，如何使用这些资源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4</a:t>
            </a:r>
            <a:r>
              <a:rPr kumimoji="1" lang="zh-CN" altLang="en-US" dirty="0"/>
              <a:t>介绍</a:t>
            </a:r>
            <a:r>
              <a:rPr kumimoji="1" lang="en-US" altLang="zh-CN" dirty="0"/>
              <a:t>OS</a:t>
            </a:r>
            <a:r>
              <a:rPr kumimoji="1" lang="zh-CN" altLang="en-US" dirty="0"/>
              <a:t>如何进行抽象、如何实现提供给用户的接口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进阶（如果有时间）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234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当应用程序运行在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会保存诸多状态，比如，程序当前执行到哪条指令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SP </a:t>
            </a:r>
            <a:r>
              <a:rPr kumimoji="1" lang="zh-CN" altLang="en-US" dirty="0"/>
              <a:t>寄存器也没有初始化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1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94</a:t>
            </a:r>
            <a:r>
              <a:rPr kumimoji="1" lang="zh-CN" altLang="en-US" dirty="0"/>
              <a:t> （前</a:t>
            </a:r>
            <a:r>
              <a:rPr kumimoji="1" lang="en-US" altLang="zh-CN" dirty="0"/>
              <a:t>6</a:t>
            </a:r>
            <a:r>
              <a:rPr kumimoji="1" lang="zh-CN" altLang="en-US" dirty="0"/>
              <a:t>个</a:t>
            </a:r>
            <a:r>
              <a:rPr kumimoji="1" lang="en-US" altLang="zh-CN" dirty="0"/>
              <a:t>bit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bl</a:t>
            </a:r>
            <a:r>
              <a:rPr kumimoji="1" lang="zh-CN" altLang="en-US" dirty="0"/>
              <a:t>），后面</a:t>
            </a:r>
            <a:r>
              <a:rPr kumimoji="1" lang="en-US" altLang="zh-CN" dirty="0"/>
              <a:t>26</a:t>
            </a:r>
            <a:r>
              <a:rPr kumimoji="1" lang="zh-CN" altLang="en-US" dirty="0"/>
              <a:t>位表示偏移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84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7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不能运行位于存储上的程序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620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257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RISCV</a:t>
            </a:r>
            <a:r>
              <a:rPr kumimoji="1" lang="zh-CN" altLang="en-US" dirty="0"/>
              <a:t> 等长指令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x86</a:t>
            </a:r>
            <a:r>
              <a:rPr kumimoji="1" lang="zh-CN" altLang="en-US" dirty="0"/>
              <a:t>加多少呢？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286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程序的数据和代码一样，也会从存储加载到内存中。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负责计算、内存负责存放数据（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不能直接访问存储中的数据）。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6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寄存器是</a:t>
            </a:r>
            <a:r>
              <a:rPr kumimoji="1" lang="zh-CN" altLang="en-US" dirty="0"/>
              <a:t>处理器内部的高速存储单元。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X</a:t>
            </a:r>
            <a:r>
              <a:rPr kumimoji="1" lang="zh-CN" altLang="en-US" dirty="0"/>
              <a:t>：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r>
              <a:rPr kumimoji="1" lang="en-US" altLang="zh-CN" dirty="0"/>
              <a:t>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66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B98C992-4B62-406B-A261-F29CD0517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6B21AF5-D80B-48A9-A3A6-7652D214D4A2}" type="slidenum">
              <a:rPr lang="zh-CN" altLang="en-US" sz="1200" b="0" smtClean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34B8ED6-0B83-4C66-AD0B-31204E7C2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A0ED4FC-F465-4A5C-AECB-DAA253044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53DCE4F5-27A0-4B94-AB56-1703B9BF0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EBA687F-AC71-4690-8C95-F494C60FD83C}" type="slidenum">
              <a:rPr lang="zh-CN" altLang="en-US" sz="1200" b="0" smtClean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7CE44A6-EBF4-45BE-ABD6-2208113C7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29ADCB9-4227-445A-A1E5-8B1C06863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3082580-61B5-48D7-86D8-956387CB6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80443A4-89C2-4DBC-A318-5BF12F36DFFC}" type="slidenum">
              <a:rPr lang="zh-CN" altLang="en-US" sz="1200" b="0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2D8694D-B886-4B50-91D1-354C419B1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462B7F1-FB14-485F-90A4-EF45CAE9B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加减法不区分</a:t>
            </a:r>
            <a:r>
              <a:rPr lang="en-US" altLang="zh-CN" dirty="0"/>
              <a:t>signed</a:t>
            </a:r>
            <a:r>
              <a:rPr lang="zh-CN" altLang="en-US" dirty="0"/>
              <a:t>、</a:t>
            </a:r>
            <a:r>
              <a:rPr lang="en-US" altLang="zh-CN" dirty="0"/>
              <a:t>unsigned</a:t>
            </a:r>
          </a:p>
          <a:p>
            <a:pPr eaLnBrk="1" hangingPunct="1"/>
            <a:r>
              <a:rPr lang="zh-CN" altLang="en-US" dirty="0"/>
              <a:t>乘除法区分。课后思考。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352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739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effectLst/>
                <a:latin typeface="Lato" panose="020F0502020204030203" pitchFamily="34" charset="0"/>
              </a:rPr>
              <a:t>为什么没有乘法？而是用了位移运算和加法？因为乘法指令慢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0CF5603-EB4A-4636-BAD1-3A2196C7C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EA6C9D4-7068-4B85-B089-6541F09D628B}" type="slidenum">
              <a:rPr lang="zh-CN" altLang="en-US" sz="1200" b="0" smtClean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31A57E6-023E-4F6E-B085-60D440DB3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DCB25B6-13F9-40FA-B720-EC130E5ED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u:</a:t>
            </a:r>
            <a:r>
              <a:rPr lang="zh-CN" altLang="en-US" dirty="0"/>
              <a:t> </a:t>
            </a:r>
            <a:r>
              <a:rPr lang="en-US" altLang="zh-CN" dirty="0"/>
              <a:t>unsigned</a:t>
            </a:r>
          </a:p>
          <a:p>
            <a:pPr eaLnBrk="1" hangingPunct="1"/>
            <a:r>
              <a:rPr lang="en-US" altLang="zh-CN" dirty="0"/>
              <a:t>s:</a:t>
            </a:r>
            <a:r>
              <a:rPr lang="zh-CN" altLang="en-US" dirty="0"/>
              <a:t> </a:t>
            </a:r>
            <a:r>
              <a:rPr lang="en-US" altLang="zh-CN" dirty="0"/>
              <a:t>signed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xt</a:t>
            </a:r>
            <a:r>
              <a:rPr lang="zh-CN" altLang="en-US" dirty="0"/>
              <a:t>：</a:t>
            </a:r>
            <a:r>
              <a:rPr lang="en-US" altLang="zh-CN" dirty="0"/>
              <a:t>extend</a:t>
            </a:r>
          </a:p>
          <a:p>
            <a:pPr eaLnBrk="1" hangingPunct="1"/>
            <a:r>
              <a:rPr lang="en-US" altLang="zh-CN" dirty="0"/>
              <a:t>B: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H:</a:t>
            </a:r>
            <a:r>
              <a:rPr lang="zh-CN" altLang="en-US" dirty="0"/>
              <a:t> </a:t>
            </a:r>
            <a:r>
              <a:rPr lang="en-US" altLang="zh-CN" dirty="0"/>
              <a:t>16</a:t>
            </a:r>
          </a:p>
          <a:p>
            <a:pPr eaLnBrk="1" hangingPunct="1"/>
            <a:r>
              <a:rPr lang="en-US" altLang="zh-CN" dirty="0"/>
              <a:t>W:</a:t>
            </a:r>
            <a:r>
              <a:rPr lang="zh-CN" altLang="en-US" dirty="0"/>
              <a:t> </a:t>
            </a:r>
            <a:r>
              <a:rPr lang="en-US" altLang="zh-CN" dirty="0"/>
              <a:t>32</a:t>
            </a: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796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0" i="0" dirty="0">
                <a:effectLst/>
                <a:latin typeface="Lato" panose="020F0502020204030203" pitchFamily="34" charset="0"/>
              </a:rPr>
              <a:t>When a W register is written, as in the example above, the top 32 bits of the 64-bit register are zeroed.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888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73BEA93-771B-4262-B494-0E7C34A0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2E1FC18-2725-43AB-B779-F62AE4343C87}" type="slidenum">
              <a:rPr lang="zh-CN" altLang="en-US" sz="1200" b="0" smtClean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E455E28-74FC-4DBB-AC98-4898B5F44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5E33F3E-1703-4299-825A-C951CA38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x1, x2,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w0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-&gt;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表示只看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w0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的低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位，扩展到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64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位（因为要与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x2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做加法），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表示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signed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，即扩展位与低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位的最高位相同，即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0x1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，所以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扩展后成为了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9287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程序的数据和代码一样，也会从存储加载到内存中。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负责计算、内存负责存放数据（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不能直接访问存储中的数据）。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1643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338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强调：在应用程序运行时，地址均为虚拟地址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47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中括号内部具有一定的格式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4889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05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思考：</a:t>
            </a:r>
            <a:endParaRPr kumimoji="1" lang="en-US" altLang="zh-CN" dirty="0"/>
          </a:p>
          <a:p>
            <a:r>
              <a:rPr kumimoji="1" lang="en-US" altLang="zh-CN" dirty="0" err="1"/>
              <a:t>imm</a:t>
            </a:r>
            <a:r>
              <a:rPr kumimoji="1" lang="zh-CN" altLang="en-US" dirty="0"/>
              <a:t>位数不是任意的</a:t>
            </a:r>
            <a:endParaRPr kumimoji="1" lang="en-US" altLang="zh-CN" dirty="0"/>
          </a:p>
          <a:p>
            <a:r>
              <a:rPr kumimoji="1" lang="en-US" altLang="zh-CN" dirty="0" err="1"/>
              <a:t>lsl</a:t>
            </a:r>
            <a:r>
              <a:rPr kumimoji="1" lang="zh-CN" altLang="en-US" dirty="0"/>
              <a:t> 位数不是任意的，只能是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或</a:t>
            </a:r>
            <a:r>
              <a:rPr kumimoji="1" lang="en-US" altLang="zh-CN" dirty="0"/>
              <a:t>2/3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Why</a:t>
            </a:r>
            <a:r>
              <a:rPr kumimoji="1" lang="zh-CN" altLang="en-US" dirty="0"/>
              <a:t>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4835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F3D5207A-E9E8-4789-9316-E1E085971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06A9A49-9A62-4AA0-85A4-459E97C60388}" type="slidenum">
              <a:rPr lang="zh-CN" altLang="en-US" sz="1200" b="0" smtClean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C7C17D8-714A-41B4-A1B6-EA4A2651A2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6ADCCBC-E6E7-4063-B88E-CF4EB86BA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 hex(256)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0x100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2024/6/14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– </a:t>
            </a:r>
            <a:r>
              <a:rPr kumimoji="1" lang="zh-CN" altLang="en-US" sz="4800" dirty="0"/>
              <a:t>基础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8213-A597-2547-A063-0AF62C40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回顾：不同操作系统架构的对比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9BFF9-2B74-4747-BF41-BBD5B615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B17DDE-012A-FA43-9BC5-FB3ECB6F3B23}"/>
              </a:ext>
            </a:extLst>
          </p:cNvPr>
          <p:cNvSpPr/>
          <p:nvPr/>
        </p:nvSpPr>
        <p:spPr>
          <a:xfrm>
            <a:off x="1157755" y="3617411"/>
            <a:ext cx="926476" cy="638114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2C801E7-3409-F24B-977F-D493CD5760CC}"/>
              </a:ext>
            </a:extLst>
          </p:cNvPr>
          <p:cNvSpPr/>
          <p:nvPr/>
        </p:nvSpPr>
        <p:spPr>
          <a:xfrm>
            <a:off x="1157755" y="4250832"/>
            <a:ext cx="926476" cy="5972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7" name="直接连接符 5">
            <a:extLst>
              <a:ext uri="{FF2B5EF4-FFF2-40B4-BE49-F238E27FC236}">
                <a16:creationId xmlns:a16="http://schemas.microsoft.com/office/drawing/2014/main" id="{3034909B-D972-5841-A943-961E0B018446}"/>
              </a:ext>
            </a:extLst>
          </p:cNvPr>
          <p:cNvCxnSpPr>
            <a:cxnSpLocks/>
          </p:cNvCxnSpPr>
          <p:nvPr/>
        </p:nvCxnSpPr>
        <p:spPr>
          <a:xfrm>
            <a:off x="271158" y="3473996"/>
            <a:ext cx="8261282" cy="0"/>
          </a:xfrm>
          <a:prstGeom prst="line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BB80C71D-C56B-E044-8B2C-9F43A43E71DF}"/>
              </a:ext>
            </a:extLst>
          </p:cNvPr>
          <p:cNvSpPr/>
          <p:nvPr/>
        </p:nvSpPr>
        <p:spPr>
          <a:xfrm>
            <a:off x="271158" y="3080957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用户态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DF29DC3-D3AD-1842-A94B-859EDE60D3DF}"/>
              </a:ext>
            </a:extLst>
          </p:cNvPr>
          <p:cNvSpPr/>
          <p:nvPr/>
        </p:nvSpPr>
        <p:spPr>
          <a:xfrm>
            <a:off x="271158" y="354770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80985"/>
            <a:r>
              <a:rPr lang="zh-CN" altLang="en-US" sz="1400" b="1" dirty="0">
                <a:solidFill>
                  <a:srgbClr val="C0504D"/>
                </a:solidFill>
                <a:latin typeface="+mn-ea"/>
              </a:rPr>
              <a:t>内核态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4EE58B-F340-EF4A-8005-EE0D8BDA456B}"/>
              </a:ext>
            </a:extLst>
          </p:cNvPr>
          <p:cNvSpPr/>
          <p:nvPr/>
        </p:nvSpPr>
        <p:spPr>
          <a:xfrm>
            <a:off x="1282672" y="370401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0CC6979-4281-6F4A-AB49-33190239A254}"/>
              </a:ext>
            </a:extLst>
          </p:cNvPr>
          <p:cNvSpPr/>
          <p:nvPr/>
        </p:nvSpPr>
        <p:spPr>
          <a:xfrm>
            <a:off x="1699065" y="39152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B355341-F758-E64B-B881-05FD099FBFFD}"/>
              </a:ext>
            </a:extLst>
          </p:cNvPr>
          <p:cNvSpPr/>
          <p:nvPr/>
        </p:nvSpPr>
        <p:spPr>
          <a:xfrm>
            <a:off x="2491508" y="3617411"/>
            <a:ext cx="1043588" cy="67896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191AC43-0054-D54C-8878-F694A2C69840}"/>
              </a:ext>
            </a:extLst>
          </p:cNvPr>
          <p:cNvSpPr/>
          <p:nvPr/>
        </p:nvSpPr>
        <p:spPr>
          <a:xfrm>
            <a:off x="2729638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0FC5A7A-82B7-234B-A9A8-E341AC3B01C7}"/>
              </a:ext>
            </a:extLst>
          </p:cNvPr>
          <p:cNvSpPr/>
          <p:nvPr/>
        </p:nvSpPr>
        <p:spPr>
          <a:xfrm>
            <a:off x="3146031" y="39568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CF50A66-006A-254A-AA44-BDFF8D19327D}"/>
              </a:ext>
            </a:extLst>
          </p:cNvPr>
          <p:cNvSpPr/>
          <p:nvPr/>
        </p:nvSpPr>
        <p:spPr>
          <a:xfrm>
            <a:off x="1563738" y="431971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8FA45AD-9DDE-5545-B266-EE91075949AD}"/>
              </a:ext>
            </a:extLst>
          </p:cNvPr>
          <p:cNvSpPr/>
          <p:nvPr/>
        </p:nvSpPr>
        <p:spPr>
          <a:xfrm>
            <a:off x="1241033" y="4506093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502159E-556C-0444-8BA0-18263C57914D}"/>
              </a:ext>
            </a:extLst>
          </p:cNvPr>
          <p:cNvSpPr/>
          <p:nvPr/>
        </p:nvSpPr>
        <p:spPr>
          <a:xfrm>
            <a:off x="3937178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5BB7750-EA8A-8045-AC7D-746904AE7221}"/>
              </a:ext>
            </a:extLst>
          </p:cNvPr>
          <p:cNvSpPr/>
          <p:nvPr/>
        </p:nvSpPr>
        <p:spPr>
          <a:xfrm>
            <a:off x="3937178" y="3617411"/>
            <a:ext cx="1043588" cy="42912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C95FDAF-2809-114C-8338-ADF1C0199007}"/>
              </a:ext>
            </a:extLst>
          </p:cNvPr>
          <p:cNvSpPr/>
          <p:nvPr/>
        </p:nvSpPr>
        <p:spPr>
          <a:xfrm>
            <a:off x="4124554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4063F83-5622-A742-8DFD-23A2B8D203ED}"/>
              </a:ext>
            </a:extLst>
          </p:cNvPr>
          <p:cNvSpPr/>
          <p:nvPr/>
        </p:nvSpPr>
        <p:spPr>
          <a:xfrm>
            <a:off x="4311934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D7E7BC6-E8DD-354B-A0B1-6C5F3201F273}"/>
              </a:ext>
            </a:extLst>
          </p:cNvPr>
          <p:cNvSpPr/>
          <p:nvPr/>
        </p:nvSpPr>
        <p:spPr>
          <a:xfrm>
            <a:off x="4686689" y="2214407"/>
            <a:ext cx="294077" cy="112531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3EA979E-BBB5-6A40-907E-2660E0C1D6AD}"/>
              </a:ext>
            </a:extLst>
          </p:cNvPr>
          <p:cNvSpPr/>
          <p:nvPr/>
        </p:nvSpPr>
        <p:spPr>
          <a:xfrm>
            <a:off x="3964503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34EDABF-9F97-4B4B-98DF-04E86BD744DC}"/>
              </a:ext>
            </a:extLst>
          </p:cNvPr>
          <p:cNvSpPr/>
          <p:nvPr/>
        </p:nvSpPr>
        <p:spPr>
          <a:xfrm>
            <a:off x="4339258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3EE4882-E0C2-774B-8EF8-AA9AED300F06}"/>
              </a:ext>
            </a:extLst>
          </p:cNvPr>
          <p:cNvSpPr/>
          <p:nvPr/>
        </p:nvSpPr>
        <p:spPr>
          <a:xfrm>
            <a:off x="4714014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C55C352-EF9D-384B-9069-B64596032B1A}"/>
              </a:ext>
            </a:extLst>
          </p:cNvPr>
          <p:cNvSpPr/>
          <p:nvPr/>
        </p:nvSpPr>
        <p:spPr>
          <a:xfrm>
            <a:off x="5386701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2F1E6DE-60B8-7E44-9818-4EFAB8438A49}"/>
              </a:ext>
            </a:extLst>
          </p:cNvPr>
          <p:cNvSpPr/>
          <p:nvPr/>
        </p:nvSpPr>
        <p:spPr>
          <a:xfrm>
            <a:off x="5386701" y="3617411"/>
            <a:ext cx="1066913" cy="128241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8968D4F-38D6-7049-BB29-F34D536E3277}"/>
              </a:ext>
            </a:extLst>
          </p:cNvPr>
          <p:cNvSpPr/>
          <p:nvPr/>
        </p:nvSpPr>
        <p:spPr>
          <a:xfrm>
            <a:off x="5414026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68833BC-B6B5-B141-95B7-FF3B4134213A}"/>
              </a:ext>
            </a:extLst>
          </p:cNvPr>
          <p:cNvSpPr/>
          <p:nvPr/>
        </p:nvSpPr>
        <p:spPr>
          <a:xfrm>
            <a:off x="5386701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00F59CE-5CCE-914B-82DD-65406894F62E}"/>
              </a:ext>
            </a:extLst>
          </p:cNvPr>
          <p:cNvSpPr/>
          <p:nvPr/>
        </p:nvSpPr>
        <p:spPr>
          <a:xfrm>
            <a:off x="5414026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F4910C-6F3D-B343-BAD9-B3ADA5695D15}"/>
              </a:ext>
            </a:extLst>
          </p:cNvPr>
          <p:cNvSpPr/>
          <p:nvPr/>
        </p:nvSpPr>
        <p:spPr>
          <a:xfrm>
            <a:off x="3964503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45D40F9-8829-3D43-9DB8-1EE786574380}"/>
              </a:ext>
            </a:extLst>
          </p:cNvPr>
          <p:cNvSpPr/>
          <p:nvPr/>
        </p:nvSpPr>
        <p:spPr>
          <a:xfrm>
            <a:off x="4339258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5B67E-C195-914D-92DF-5005C1FFA078}"/>
              </a:ext>
            </a:extLst>
          </p:cNvPr>
          <p:cNvSpPr/>
          <p:nvPr/>
        </p:nvSpPr>
        <p:spPr>
          <a:xfrm>
            <a:off x="4714014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BD9BB7E-50B4-BC47-8B3B-C142D68A20FF}"/>
              </a:ext>
            </a:extLst>
          </p:cNvPr>
          <p:cNvSpPr/>
          <p:nvPr/>
        </p:nvSpPr>
        <p:spPr>
          <a:xfrm>
            <a:off x="5773119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5DACA89-490D-574F-9BA0-20407416CBA5}"/>
              </a:ext>
            </a:extLst>
          </p:cNvPr>
          <p:cNvSpPr/>
          <p:nvPr/>
        </p:nvSpPr>
        <p:spPr>
          <a:xfrm>
            <a:off x="5800444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412F5F7-D960-5F44-90EC-23C115F6172D}"/>
              </a:ext>
            </a:extLst>
          </p:cNvPr>
          <p:cNvSpPr/>
          <p:nvPr/>
        </p:nvSpPr>
        <p:spPr>
          <a:xfrm>
            <a:off x="5773119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8807052-D9AF-7A4B-A107-53536B535D1F}"/>
              </a:ext>
            </a:extLst>
          </p:cNvPr>
          <p:cNvSpPr/>
          <p:nvPr/>
        </p:nvSpPr>
        <p:spPr>
          <a:xfrm>
            <a:off x="5800444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6E18DEA-EBB7-8548-B522-134309E06968}"/>
              </a:ext>
            </a:extLst>
          </p:cNvPr>
          <p:cNvSpPr/>
          <p:nvPr/>
        </p:nvSpPr>
        <p:spPr>
          <a:xfrm>
            <a:off x="6159537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C6E4E9D-556C-AA4A-AF8E-28591C727A05}"/>
              </a:ext>
            </a:extLst>
          </p:cNvPr>
          <p:cNvSpPr/>
          <p:nvPr/>
        </p:nvSpPr>
        <p:spPr>
          <a:xfrm>
            <a:off x="6186862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C9BFF19-1E65-2345-8DCE-84061200BEAA}"/>
              </a:ext>
            </a:extLst>
          </p:cNvPr>
          <p:cNvSpPr/>
          <p:nvPr/>
        </p:nvSpPr>
        <p:spPr>
          <a:xfrm>
            <a:off x="6159537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41ADE7E-498D-294C-B7AE-8CE60AE1DCFB}"/>
              </a:ext>
            </a:extLst>
          </p:cNvPr>
          <p:cNvSpPr/>
          <p:nvPr/>
        </p:nvSpPr>
        <p:spPr>
          <a:xfrm>
            <a:off x="6186862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ECFBE60-3392-DD48-8FC1-7E07F9FB3349}"/>
              </a:ext>
            </a:extLst>
          </p:cNvPr>
          <p:cNvSpPr txBox="1"/>
          <p:nvPr/>
        </p:nvSpPr>
        <p:spPr>
          <a:xfrm>
            <a:off x="1077687" y="4956894"/>
            <a:ext cx="1086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简单内核</a:t>
            </a:r>
            <a:endParaRPr lang="en-US" altLang="zh-CN" sz="1600" dirty="0">
              <a:solidFill>
                <a:prstClr val="black"/>
              </a:solidFill>
              <a:latin typeface="+mn-ea"/>
            </a:endParaRPr>
          </a:p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（如</a:t>
            </a:r>
            <a:r>
              <a:rPr lang="en-US" altLang="zh-CN" sz="1600" dirty="0">
                <a:solidFill>
                  <a:prstClr val="black"/>
                </a:solidFill>
                <a:latin typeface="+mn-ea"/>
              </a:rPr>
              <a:t>DOS</a:t>
            </a:r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）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CA1D444-E2AA-224E-924B-392EB6FC1AD9}"/>
              </a:ext>
            </a:extLst>
          </p:cNvPr>
          <p:cNvSpPr txBox="1"/>
          <p:nvPr/>
        </p:nvSpPr>
        <p:spPr>
          <a:xfrm>
            <a:off x="2414994" y="4956894"/>
            <a:ext cx="1196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宏内核</a:t>
            </a:r>
            <a:endParaRPr lang="en-US" altLang="zh-CN" sz="1600" dirty="0">
              <a:solidFill>
                <a:prstClr val="black"/>
              </a:solidFill>
              <a:latin typeface="+mn-ea"/>
            </a:endParaRPr>
          </a:p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（如</a:t>
            </a:r>
            <a:r>
              <a:rPr lang="en-US" altLang="zh-CN" sz="1600" dirty="0">
                <a:solidFill>
                  <a:prstClr val="black"/>
                </a:solidFill>
                <a:latin typeface="+mn-ea"/>
              </a:rPr>
              <a:t>Linux</a:t>
            </a:r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）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D24C625-10D3-864A-B55D-62852E8AC922}"/>
              </a:ext>
            </a:extLst>
          </p:cNvPr>
          <p:cNvSpPr txBox="1"/>
          <p:nvPr/>
        </p:nvSpPr>
        <p:spPr>
          <a:xfrm>
            <a:off x="3760472" y="4956894"/>
            <a:ext cx="1396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微内核</a:t>
            </a:r>
            <a:endParaRPr lang="en-US" altLang="zh-CN" sz="1600" dirty="0">
              <a:solidFill>
                <a:prstClr val="black"/>
              </a:solidFill>
              <a:latin typeface="+mn-ea"/>
            </a:endParaRPr>
          </a:p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（如</a:t>
            </a:r>
            <a:r>
              <a:rPr lang="en-US" altLang="zh-CN" sz="1600" dirty="0">
                <a:solidFill>
                  <a:prstClr val="black"/>
                </a:solidFill>
                <a:latin typeface="+mn-ea"/>
              </a:rPr>
              <a:t>ChCore</a:t>
            </a:r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）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883FC87-27A8-794F-B869-98B069D71D66}"/>
              </a:ext>
            </a:extLst>
          </p:cNvPr>
          <p:cNvSpPr txBox="1"/>
          <p:nvPr/>
        </p:nvSpPr>
        <p:spPr>
          <a:xfrm>
            <a:off x="5074972" y="4956894"/>
            <a:ext cx="169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外核</a:t>
            </a:r>
            <a:endParaRPr lang="en-US" altLang="zh-CN" sz="1600" dirty="0">
              <a:solidFill>
                <a:prstClr val="black"/>
              </a:solidFill>
              <a:latin typeface="+mn-ea"/>
            </a:endParaRPr>
          </a:p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（如</a:t>
            </a:r>
            <a:r>
              <a:rPr lang="en-US" altLang="zh-CN" sz="1600" dirty="0" err="1">
                <a:solidFill>
                  <a:prstClr val="black"/>
                </a:solidFill>
                <a:latin typeface="+mn-ea"/>
              </a:rPr>
              <a:t>Unikernel</a:t>
            </a:r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）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B6C67E3-3F4E-8446-9301-CCE21A61C26F}"/>
              </a:ext>
            </a:extLst>
          </p:cNvPr>
          <p:cNvSpPr/>
          <p:nvPr/>
        </p:nvSpPr>
        <p:spPr>
          <a:xfrm>
            <a:off x="4545455" y="37456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411C89-3226-D14A-B7B3-567D78105AAB}"/>
              </a:ext>
            </a:extLst>
          </p:cNvPr>
          <p:cNvSpPr/>
          <p:nvPr/>
        </p:nvSpPr>
        <p:spPr>
          <a:xfrm>
            <a:off x="2809037" y="4016168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56618F9-217E-4646-A3F9-D0162E5528C7}"/>
              </a:ext>
            </a:extLst>
          </p:cNvPr>
          <p:cNvSpPr/>
          <p:nvPr/>
        </p:nvSpPr>
        <p:spPr>
          <a:xfrm>
            <a:off x="1332189" y="399795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4664C74-EF5C-4D4C-BFA8-17DA9C220975}"/>
              </a:ext>
            </a:extLst>
          </p:cNvPr>
          <p:cNvSpPr/>
          <p:nvPr/>
        </p:nvSpPr>
        <p:spPr>
          <a:xfrm>
            <a:off x="1730364" y="457468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9" name="直接箭头连接符 68">
            <a:extLst>
              <a:ext uri="{FF2B5EF4-FFF2-40B4-BE49-F238E27FC236}">
                <a16:creationId xmlns:a16="http://schemas.microsoft.com/office/drawing/2014/main" id="{582233FB-9B45-B547-82BA-53C64A92C5DC}"/>
              </a:ext>
            </a:extLst>
          </p:cNvPr>
          <p:cNvCxnSpPr>
            <a:stCxn id="100" idx="2"/>
            <a:endCxn id="89" idx="0"/>
          </p:cNvCxnSpPr>
          <p:nvPr/>
        </p:nvCxnSpPr>
        <p:spPr>
          <a:xfrm>
            <a:off x="4084217" y="3212332"/>
            <a:ext cx="160051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0" name="直接箭头连接符 71">
            <a:extLst>
              <a:ext uri="{FF2B5EF4-FFF2-40B4-BE49-F238E27FC236}">
                <a16:creationId xmlns:a16="http://schemas.microsoft.com/office/drawing/2014/main" id="{6377BBC9-A85B-2B4E-A347-C71D8BE2FCDE}"/>
              </a:ext>
            </a:extLst>
          </p:cNvPr>
          <p:cNvCxnSpPr>
            <a:stCxn id="89" idx="0"/>
            <a:endCxn id="101" idx="2"/>
          </p:cNvCxnSpPr>
          <p:nvPr/>
        </p:nvCxnSpPr>
        <p:spPr>
          <a:xfrm flipV="1">
            <a:off x="4244268" y="3212332"/>
            <a:ext cx="214704" cy="533318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1" name="直接箭头连接符 75">
            <a:extLst>
              <a:ext uri="{FF2B5EF4-FFF2-40B4-BE49-F238E27FC236}">
                <a16:creationId xmlns:a16="http://schemas.microsoft.com/office/drawing/2014/main" id="{B847357E-0C2A-624E-8B1B-5179A623F37C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flipH="1">
            <a:off x="1683452" y="4101632"/>
            <a:ext cx="135328" cy="218082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2" name="直接箭头连接符 78">
            <a:extLst>
              <a:ext uri="{FF2B5EF4-FFF2-40B4-BE49-F238E27FC236}">
                <a16:creationId xmlns:a16="http://schemas.microsoft.com/office/drawing/2014/main" id="{C1CE340C-0BA8-6A4E-A669-E8E5CE7DA99C}"/>
              </a:ext>
            </a:extLst>
          </p:cNvPr>
          <p:cNvCxnSpPr>
            <a:stCxn id="97" idx="2"/>
            <a:endCxn id="99" idx="0"/>
          </p:cNvCxnSpPr>
          <p:nvPr/>
        </p:nvCxnSpPr>
        <p:spPr>
          <a:xfrm>
            <a:off x="5533740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C2F7463F-16E2-784D-97AA-2D8543E19445}"/>
              </a:ext>
            </a:extLst>
          </p:cNvPr>
          <p:cNvSpPr/>
          <p:nvPr/>
        </p:nvSpPr>
        <p:spPr>
          <a:xfrm>
            <a:off x="5414026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6A49185-3DF2-234D-8BB2-5CF6CB00D7A1}"/>
              </a:ext>
            </a:extLst>
          </p:cNvPr>
          <p:cNvSpPr/>
          <p:nvPr/>
        </p:nvSpPr>
        <p:spPr>
          <a:xfrm>
            <a:off x="5800444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7314A19-D36E-5C4A-9879-6A29B19022EA}"/>
              </a:ext>
            </a:extLst>
          </p:cNvPr>
          <p:cNvSpPr/>
          <p:nvPr/>
        </p:nvSpPr>
        <p:spPr>
          <a:xfrm>
            <a:off x="6186862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283125C-CF50-A34C-88D6-A2985BBA0870}"/>
              </a:ext>
            </a:extLst>
          </p:cNvPr>
          <p:cNvSpPr/>
          <p:nvPr/>
        </p:nvSpPr>
        <p:spPr>
          <a:xfrm>
            <a:off x="7238077" y="951186"/>
            <a:ext cx="239309" cy="26151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7F16883E-8F20-B141-8356-29283CB0E426}"/>
              </a:ext>
            </a:extLst>
          </p:cNvPr>
          <p:cNvSpPr txBox="1"/>
          <p:nvPr/>
        </p:nvSpPr>
        <p:spPr>
          <a:xfrm>
            <a:off x="7541658" y="925932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OS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2FDFB3A-5788-7440-8900-27568D297B13}"/>
              </a:ext>
            </a:extLst>
          </p:cNvPr>
          <p:cNvSpPr/>
          <p:nvPr/>
        </p:nvSpPr>
        <p:spPr>
          <a:xfrm>
            <a:off x="7238077" y="1284765"/>
            <a:ext cx="239309" cy="261513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F9EB3FF2-050F-3F4A-B56C-DEF93163ED25}"/>
              </a:ext>
            </a:extLst>
          </p:cNvPr>
          <p:cNvSpPr txBox="1"/>
          <p:nvPr/>
        </p:nvSpPr>
        <p:spPr>
          <a:xfrm>
            <a:off x="7541658" y="1259511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App</a:t>
            </a:r>
            <a:endParaRPr lang="zh-CN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0ED75FF-DA80-AF4A-8AC6-212A3F220C21}"/>
              </a:ext>
            </a:extLst>
          </p:cNvPr>
          <p:cNvSpPr/>
          <p:nvPr/>
        </p:nvSpPr>
        <p:spPr>
          <a:xfrm>
            <a:off x="7238077" y="1617907"/>
            <a:ext cx="239309" cy="261513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AA2AEBA-362A-2E40-9E92-D2FE289721DA}"/>
              </a:ext>
            </a:extLst>
          </p:cNvPr>
          <p:cNvSpPr txBox="1"/>
          <p:nvPr/>
        </p:nvSpPr>
        <p:spPr>
          <a:xfrm>
            <a:off x="7541658" y="1592654"/>
            <a:ext cx="655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0985"/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逻辑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6B7DDA1-9861-CF42-A38B-A68DFA1733EF}"/>
              </a:ext>
            </a:extLst>
          </p:cNvPr>
          <p:cNvSpPr/>
          <p:nvPr/>
        </p:nvSpPr>
        <p:spPr>
          <a:xfrm>
            <a:off x="2491507" y="2214407"/>
            <a:ext cx="294077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058E3BD-6E8F-564C-AD02-34F460831972}"/>
              </a:ext>
            </a:extLst>
          </p:cNvPr>
          <p:cNvSpPr/>
          <p:nvPr/>
        </p:nvSpPr>
        <p:spPr>
          <a:xfrm>
            <a:off x="2866263" y="2214407"/>
            <a:ext cx="680642" cy="1125318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97D2C9A-D02F-B84D-87A9-4645800AAB3D}"/>
              </a:ext>
            </a:extLst>
          </p:cNvPr>
          <p:cNvSpPr/>
          <p:nvPr/>
        </p:nvSpPr>
        <p:spPr>
          <a:xfrm>
            <a:off x="2518832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133D643-668B-CA4F-9179-766C3A57C1AD}"/>
              </a:ext>
            </a:extLst>
          </p:cNvPr>
          <p:cNvSpPr/>
          <p:nvPr/>
        </p:nvSpPr>
        <p:spPr>
          <a:xfrm>
            <a:off x="2893587" y="246329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38E7CB9-34C8-CD42-80BA-83721DC8F4D4}"/>
              </a:ext>
            </a:extLst>
          </p:cNvPr>
          <p:cNvSpPr/>
          <p:nvPr/>
        </p:nvSpPr>
        <p:spPr>
          <a:xfrm>
            <a:off x="3268343" y="247473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C605443-F6E7-874C-AD9C-EE079F5A7B96}"/>
              </a:ext>
            </a:extLst>
          </p:cNvPr>
          <p:cNvSpPr/>
          <p:nvPr/>
        </p:nvSpPr>
        <p:spPr>
          <a:xfrm>
            <a:off x="2518832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514DBCD-DBE6-E94A-91F1-5111633374C3}"/>
              </a:ext>
            </a:extLst>
          </p:cNvPr>
          <p:cNvSpPr/>
          <p:nvPr/>
        </p:nvSpPr>
        <p:spPr>
          <a:xfrm>
            <a:off x="2893587" y="3025954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32F75F6-9C25-CA47-8EFF-296BEE82BC3C}"/>
              </a:ext>
            </a:extLst>
          </p:cNvPr>
          <p:cNvSpPr/>
          <p:nvPr/>
        </p:nvSpPr>
        <p:spPr>
          <a:xfrm>
            <a:off x="3268343" y="303739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1" name="直接箭头连接符 21">
            <a:extLst>
              <a:ext uri="{FF2B5EF4-FFF2-40B4-BE49-F238E27FC236}">
                <a16:creationId xmlns:a16="http://schemas.microsoft.com/office/drawing/2014/main" id="{1DC7A50A-1635-5F40-9AFF-85285298F594}"/>
              </a:ext>
            </a:extLst>
          </p:cNvPr>
          <p:cNvCxnSpPr>
            <a:endCxn id="84" idx="0"/>
          </p:cNvCxnSpPr>
          <p:nvPr/>
        </p:nvCxnSpPr>
        <p:spPr>
          <a:xfrm flipH="1">
            <a:off x="3265746" y="3223768"/>
            <a:ext cx="130123" cy="733123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CBA7DBF2-9786-3246-8288-F33EC22E4E09}"/>
              </a:ext>
            </a:extLst>
          </p:cNvPr>
          <p:cNvSpPr/>
          <p:nvPr/>
        </p:nvSpPr>
        <p:spPr>
          <a:xfrm>
            <a:off x="3280055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75A29A18-7669-4344-A667-6038D87D90DC}"/>
              </a:ext>
            </a:extLst>
          </p:cNvPr>
          <p:cNvSpPr/>
          <p:nvPr/>
        </p:nvSpPr>
        <p:spPr>
          <a:xfrm>
            <a:off x="4101129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50D36643-7D71-1A46-84D5-9A82827993A2}"/>
              </a:ext>
            </a:extLst>
          </p:cNvPr>
          <p:cNvSpPr/>
          <p:nvPr/>
        </p:nvSpPr>
        <p:spPr>
          <a:xfrm>
            <a:off x="4278443" y="3412816"/>
            <a:ext cx="136632" cy="136632"/>
          </a:xfrm>
          <a:prstGeom prst="ellipse">
            <a:avLst/>
          </a:prstGeom>
          <a:solidFill>
            <a:srgbClr val="C0504D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2467145-B34E-7245-8F87-9B0132DCB8D8}"/>
              </a:ext>
            </a:extLst>
          </p:cNvPr>
          <p:cNvSpPr/>
          <p:nvPr/>
        </p:nvSpPr>
        <p:spPr>
          <a:xfrm>
            <a:off x="6823104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201BB87-E831-4245-89C3-886393B0E4F1}"/>
              </a:ext>
            </a:extLst>
          </p:cNvPr>
          <p:cNvSpPr/>
          <p:nvPr/>
        </p:nvSpPr>
        <p:spPr>
          <a:xfrm>
            <a:off x="6823104" y="3617411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999252D-6CA9-C349-8FB6-2AE34A4821BE}"/>
              </a:ext>
            </a:extLst>
          </p:cNvPr>
          <p:cNvSpPr/>
          <p:nvPr/>
        </p:nvSpPr>
        <p:spPr>
          <a:xfrm>
            <a:off x="6850429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6703D69-9773-F340-8328-B90C24DC2D0A}"/>
              </a:ext>
            </a:extLst>
          </p:cNvPr>
          <p:cNvSpPr/>
          <p:nvPr/>
        </p:nvSpPr>
        <p:spPr>
          <a:xfrm>
            <a:off x="6823104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70F6982-FCEA-2C4F-BC46-F17AB29B757E}"/>
              </a:ext>
            </a:extLst>
          </p:cNvPr>
          <p:cNvSpPr/>
          <p:nvPr/>
        </p:nvSpPr>
        <p:spPr>
          <a:xfrm>
            <a:off x="6850429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8C44D258-628C-A743-A95C-80FFDB8F7922}"/>
              </a:ext>
            </a:extLst>
          </p:cNvPr>
          <p:cNvSpPr/>
          <p:nvPr/>
        </p:nvSpPr>
        <p:spPr>
          <a:xfrm>
            <a:off x="7209522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C69A972-B96E-ED47-AAB7-314B7CB26309}"/>
              </a:ext>
            </a:extLst>
          </p:cNvPr>
          <p:cNvSpPr/>
          <p:nvPr/>
        </p:nvSpPr>
        <p:spPr>
          <a:xfrm>
            <a:off x="7236847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9EF7E4C-6465-9946-9B4C-2EC73DDA6553}"/>
              </a:ext>
            </a:extLst>
          </p:cNvPr>
          <p:cNvSpPr/>
          <p:nvPr/>
        </p:nvSpPr>
        <p:spPr>
          <a:xfrm>
            <a:off x="7209522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4D356FB-DE39-7246-BCC0-005195CE89EC}"/>
              </a:ext>
            </a:extLst>
          </p:cNvPr>
          <p:cNvSpPr/>
          <p:nvPr/>
        </p:nvSpPr>
        <p:spPr>
          <a:xfrm>
            <a:off x="7236847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8FD3CCA-FA48-1143-B208-E2CAA350B05A}"/>
              </a:ext>
            </a:extLst>
          </p:cNvPr>
          <p:cNvSpPr/>
          <p:nvPr/>
        </p:nvSpPr>
        <p:spPr>
          <a:xfrm>
            <a:off x="7595940" y="2911338"/>
            <a:ext cx="294077" cy="428386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09F8F6E-F1B0-C549-ADCD-2D112AF2851B}"/>
              </a:ext>
            </a:extLst>
          </p:cNvPr>
          <p:cNvSpPr/>
          <p:nvPr/>
        </p:nvSpPr>
        <p:spPr>
          <a:xfrm>
            <a:off x="7623265" y="2619440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7E2690E1-D03C-A949-9FFC-D623627DA77E}"/>
              </a:ext>
            </a:extLst>
          </p:cNvPr>
          <p:cNvSpPr/>
          <p:nvPr/>
        </p:nvSpPr>
        <p:spPr>
          <a:xfrm>
            <a:off x="7595940" y="2214407"/>
            <a:ext cx="294077" cy="696931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C5EA946-62A8-5749-82C0-088215D54A25}"/>
              </a:ext>
            </a:extLst>
          </p:cNvPr>
          <p:cNvSpPr/>
          <p:nvPr/>
        </p:nvSpPr>
        <p:spPr>
          <a:xfrm>
            <a:off x="7623265" y="3033805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847C99F-775C-B443-8794-104AC1CDB646}"/>
              </a:ext>
            </a:extLst>
          </p:cNvPr>
          <p:cNvSpPr txBox="1"/>
          <p:nvPr/>
        </p:nvSpPr>
        <p:spPr>
          <a:xfrm>
            <a:off x="6588210" y="4956894"/>
            <a:ext cx="1536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多内核</a:t>
            </a:r>
            <a:endParaRPr lang="en-US" altLang="zh-CN" sz="1600" dirty="0">
              <a:solidFill>
                <a:prstClr val="black"/>
              </a:solidFill>
              <a:latin typeface="+mn-ea"/>
            </a:endParaRPr>
          </a:p>
          <a:p>
            <a:pPr algn="ctr" defTabSz="380985"/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（如</a:t>
            </a:r>
            <a:r>
              <a:rPr lang="en-US" altLang="zh-CN" sz="1600" dirty="0" err="1">
                <a:solidFill>
                  <a:prstClr val="black"/>
                </a:solidFill>
                <a:latin typeface="+mn-ea"/>
              </a:rPr>
              <a:t>BarrelFish</a:t>
            </a:r>
            <a:r>
              <a:rPr lang="zh-CN" altLang="en-US" sz="1600" dirty="0">
                <a:solidFill>
                  <a:prstClr val="black"/>
                </a:solidFill>
                <a:latin typeface="+mn-ea"/>
              </a:rPr>
              <a:t>）</a:t>
            </a:r>
          </a:p>
        </p:txBody>
      </p:sp>
      <p:cxnSp>
        <p:nvCxnSpPr>
          <p:cNvPr id="160" name="直接箭头连接符 78">
            <a:extLst>
              <a:ext uri="{FF2B5EF4-FFF2-40B4-BE49-F238E27FC236}">
                <a16:creationId xmlns:a16="http://schemas.microsoft.com/office/drawing/2014/main" id="{B0C009C9-35EF-C945-B454-7942CA93AF2B}"/>
              </a:ext>
            </a:extLst>
          </p:cNvPr>
          <p:cNvCxnSpPr>
            <a:stCxn id="148" idx="2"/>
            <a:endCxn id="150" idx="0"/>
          </p:cNvCxnSpPr>
          <p:nvPr/>
        </p:nvCxnSpPr>
        <p:spPr>
          <a:xfrm>
            <a:off x="6970143" y="2805819"/>
            <a:ext cx="0" cy="227986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479F0441-4E1E-6740-BA9B-9A10AC2D0F33}"/>
              </a:ext>
            </a:extLst>
          </p:cNvPr>
          <p:cNvSpPr/>
          <p:nvPr/>
        </p:nvSpPr>
        <p:spPr>
          <a:xfrm>
            <a:off x="6850429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DA60E2A-68C1-2743-8FB5-997CE33A804C}"/>
              </a:ext>
            </a:extLst>
          </p:cNvPr>
          <p:cNvSpPr/>
          <p:nvPr/>
        </p:nvSpPr>
        <p:spPr>
          <a:xfrm>
            <a:off x="7236847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12E5F0E-FD83-6B4A-B8C5-A7CB5186AE94}"/>
              </a:ext>
            </a:extLst>
          </p:cNvPr>
          <p:cNvSpPr/>
          <p:nvPr/>
        </p:nvSpPr>
        <p:spPr>
          <a:xfrm>
            <a:off x="7623265" y="2316701"/>
            <a:ext cx="239427" cy="186379"/>
          </a:xfrm>
          <a:prstGeom prst="rect">
            <a:avLst/>
          </a:prstGeom>
          <a:solidFill>
            <a:srgbClr val="0096FF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F4064531-8AAE-404C-832B-2C8B8EEC597D}"/>
              </a:ext>
            </a:extLst>
          </p:cNvPr>
          <p:cNvSpPr/>
          <p:nvPr/>
        </p:nvSpPr>
        <p:spPr>
          <a:xfrm>
            <a:off x="7209522" y="3613718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D7F22FB-2854-8C46-9707-B2C7EF6B5DE9}"/>
              </a:ext>
            </a:extLst>
          </p:cNvPr>
          <p:cNvSpPr/>
          <p:nvPr/>
        </p:nvSpPr>
        <p:spPr>
          <a:xfrm>
            <a:off x="7595939" y="3617410"/>
            <a:ext cx="294077" cy="12823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809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21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5270D-B90F-3849-B3BB-AF1CF4DC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从应用的视角看操作系统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828391-B279-8E41-A69D-5A4E4B3F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32EF7C-101D-EA4A-9A0E-7A8232419827}"/>
              </a:ext>
            </a:extLst>
          </p:cNvPr>
          <p:cNvSpPr/>
          <p:nvPr/>
        </p:nvSpPr>
        <p:spPr>
          <a:xfrm>
            <a:off x="6627268" y="1473697"/>
            <a:ext cx="1833164" cy="442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4">
                    <a:lumMod val="50000"/>
                  </a:schemeClr>
                </a:solidFill>
              </a:rPr>
              <a:t>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54A2B2-36E1-F54C-9145-9BB9D5D54073}"/>
              </a:ext>
            </a:extLst>
          </p:cNvPr>
          <p:cNvSpPr/>
          <p:nvPr/>
        </p:nvSpPr>
        <p:spPr>
          <a:xfrm>
            <a:off x="6627268" y="2054938"/>
            <a:ext cx="1833164" cy="442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操作系统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3FACE3-83F1-4549-9031-BB0CF1858559}"/>
              </a:ext>
            </a:extLst>
          </p:cNvPr>
          <p:cNvSpPr/>
          <p:nvPr/>
        </p:nvSpPr>
        <p:spPr>
          <a:xfrm>
            <a:off x="6627268" y="2636179"/>
            <a:ext cx="1833164" cy="44264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bg1"/>
                </a:solidFill>
              </a:rPr>
              <a:t>硬件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B648DB9-04AF-7B4D-A50C-D5002B60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注意：常见的误解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应用只是逻辑上运行在操作系统上层</a:t>
            </a:r>
          </a:p>
          <a:p>
            <a:pPr lvl="1"/>
            <a:r>
              <a:rPr kumimoji="1" lang="zh-CN" altLang="en-US" sz="1800" dirty="0"/>
              <a:t>但并不是“由操作系统来运行应用”</a:t>
            </a:r>
          </a:p>
          <a:p>
            <a:pPr lvl="1"/>
            <a:r>
              <a:rPr kumimoji="1" lang="zh-CN" altLang="en-US" sz="1800" dirty="0"/>
              <a:t>实际上，应用的每一行代码都运行在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上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操作系统的每一行代码，也都运行在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上</a:t>
            </a:r>
            <a:endParaRPr kumimoji="1" lang="en-US" altLang="zh-CN" sz="1800" dirty="0"/>
          </a:p>
          <a:p>
            <a:r>
              <a:rPr kumimoji="1" lang="zh-CN" altLang="en-US" sz="2000" dirty="0"/>
              <a:t>让一个硬件支持多个应用的三种形式</a:t>
            </a:r>
            <a:endParaRPr kumimoji="1" lang="en-US" altLang="zh-CN" sz="2000" dirty="0"/>
          </a:p>
          <a:p>
            <a:pPr lvl="1"/>
            <a:r>
              <a:rPr kumimoji="1" lang="zh-CN" altLang="en-US" sz="1800" b="1" dirty="0">
                <a:solidFill>
                  <a:schemeClr val="accent1"/>
                </a:solidFill>
              </a:rPr>
              <a:t>直通</a:t>
            </a:r>
            <a:r>
              <a:rPr kumimoji="1" lang="zh-CN" altLang="en-US" sz="1800" dirty="0"/>
              <a:t>：将硬件接口直接暴露给应用</a:t>
            </a:r>
            <a:endParaRPr kumimoji="1" lang="en-US" altLang="zh-CN" sz="1800" dirty="0"/>
          </a:p>
          <a:p>
            <a:pPr lvl="1"/>
            <a:r>
              <a:rPr kumimoji="1" lang="zh-CN" altLang="en-US" sz="1800" b="1" dirty="0">
                <a:solidFill>
                  <a:schemeClr val="accent1"/>
                </a:solidFill>
              </a:rPr>
              <a:t>虚拟化</a:t>
            </a:r>
            <a:r>
              <a:rPr kumimoji="1" lang="zh-CN" altLang="en-US" sz="1800" dirty="0"/>
              <a:t>：向应用提供的接口与硬件原有接口一样，但允许多个应用使用</a:t>
            </a:r>
            <a:endParaRPr kumimoji="1" lang="en-US" altLang="zh-CN" sz="1800" dirty="0"/>
          </a:p>
          <a:p>
            <a:pPr lvl="1"/>
            <a:r>
              <a:rPr kumimoji="1" lang="zh-CN" altLang="en-US" sz="1800" b="1" dirty="0">
                <a:solidFill>
                  <a:schemeClr val="accent1"/>
                </a:solidFill>
              </a:rPr>
              <a:t>抽象</a:t>
            </a:r>
            <a:r>
              <a:rPr kumimoji="1" lang="zh-CN" altLang="en-US" sz="1800" dirty="0"/>
              <a:t>：提供的接口与硬件接口不一样，操作系统负责转化</a:t>
            </a:r>
          </a:p>
          <a:p>
            <a:pPr lvl="1"/>
            <a:endParaRPr kumimoji="1" lang="en-US" altLang="zh-CN" sz="1800" dirty="0"/>
          </a:p>
        </p:txBody>
      </p:sp>
      <p:pic>
        <p:nvPicPr>
          <p:cNvPr id="1026" name="Picture 2" descr="打叉】打叉图片_打叉素材下载-稿定素材">
            <a:extLst>
              <a:ext uri="{FF2B5EF4-FFF2-40B4-BE49-F238E27FC236}">
                <a16:creationId xmlns:a16="http://schemas.microsoft.com/office/drawing/2014/main" id="{86C35451-760E-E747-A4B3-70B960BC6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126672"/>
            <a:ext cx="393380" cy="42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84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圆角矩形 82">
            <a:extLst>
              <a:ext uri="{FF2B5EF4-FFF2-40B4-BE49-F238E27FC236}">
                <a16:creationId xmlns:a16="http://schemas.microsoft.com/office/drawing/2014/main" id="{C19EFB7D-C0F6-B74B-965B-898F11FB55E9}"/>
              </a:ext>
            </a:extLst>
          </p:cNvPr>
          <p:cNvSpPr/>
          <p:nvPr/>
        </p:nvSpPr>
        <p:spPr>
          <a:xfrm>
            <a:off x="5013427" y="1793725"/>
            <a:ext cx="1140134" cy="1842076"/>
          </a:xfrm>
          <a:prstGeom prst="roundRect">
            <a:avLst>
              <a:gd name="adj" fmla="val 8201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60F8B06D-4DF9-CF42-B1BD-A1A5FCA7C7D3}"/>
              </a:ext>
            </a:extLst>
          </p:cNvPr>
          <p:cNvSpPr/>
          <p:nvPr/>
        </p:nvSpPr>
        <p:spPr>
          <a:xfrm>
            <a:off x="1132848" y="3539796"/>
            <a:ext cx="7615592" cy="1557816"/>
          </a:xfrm>
          <a:prstGeom prst="roundRect">
            <a:avLst>
              <a:gd name="adj" fmla="val 6604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944175C5-AA37-0E47-A944-5800F7F52363}"/>
              </a:ext>
            </a:extLst>
          </p:cNvPr>
          <p:cNvSpPr/>
          <p:nvPr/>
        </p:nvSpPr>
        <p:spPr>
          <a:xfrm>
            <a:off x="2447637" y="1796958"/>
            <a:ext cx="1140134" cy="1842076"/>
          </a:xfrm>
          <a:prstGeom prst="roundRect">
            <a:avLst>
              <a:gd name="adj" fmla="val 8201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B9955190-332F-9140-8BDE-9023BED9E9A6}"/>
              </a:ext>
            </a:extLst>
          </p:cNvPr>
          <p:cNvSpPr/>
          <p:nvPr/>
        </p:nvSpPr>
        <p:spPr>
          <a:xfrm>
            <a:off x="6296515" y="1793724"/>
            <a:ext cx="2451941" cy="1630821"/>
          </a:xfrm>
          <a:prstGeom prst="roundRect">
            <a:avLst>
              <a:gd name="adj" fmla="val 552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3EF9EB41-EFBA-344C-A126-CE8A632D3D6E}"/>
              </a:ext>
            </a:extLst>
          </p:cNvPr>
          <p:cNvSpPr/>
          <p:nvPr/>
        </p:nvSpPr>
        <p:spPr>
          <a:xfrm>
            <a:off x="3702146" y="1802737"/>
            <a:ext cx="1254147" cy="1621808"/>
          </a:xfrm>
          <a:prstGeom prst="roundRect">
            <a:avLst>
              <a:gd name="adj" fmla="val 820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AA6B878D-D01D-9C43-B298-28247C3C9673}"/>
              </a:ext>
            </a:extLst>
          </p:cNvPr>
          <p:cNvSpPr/>
          <p:nvPr/>
        </p:nvSpPr>
        <p:spPr>
          <a:xfrm>
            <a:off x="1132847" y="1789087"/>
            <a:ext cx="1254147" cy="1635458"/>
          </a:xfrm>
          <a:prstGeom prst="roundRect">
            <a:avLst>
              <a:gd name="adj" fmla="val 7062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2E8262-A1E0-674F-97B8-2614AD5C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BA577FE-5606-BC46-AA76-6018336716D1}"/>
              </a:ext>
            </a:extLst>
          </p:cNvPr>
          <p:cNvSpPr/>
          <p:nvPr/>
        </p:nvSpPr>
        <p:spPr>
          <a:xfrm>
            <a:off x="1259632" y="2270793"/>
            <a:ext cx="995541" cy="663694"/>
          </a:xfrm>
          <a:prstGeom prst="roundRect">
            <a:avLst>
              <a:gd name="adj" fmla="val 8201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OS</a:t>
            </a:r>
            <a:r>
              <a:rPr kumimoji="1" lang="zh-CN" altLang="en-US" sz="1000" dirty="0"/>
              <a:t>（抽象）</a:t>
            </a:r>
          </a:p>
        </p:txBody>
      </p:sp>
      <p:sp>
        <p:nvSpPr>
          <p:cNvPr id="6" name="剪去对角的矩形 5">
            <a:extLst>
              <a:ext uri="{FF2B5EF4-FFF2-40B4-BE49-F238E27FC236}">
                <a16:creationId xmlns:a16="http://schemas.microsoft.com/office/drawing/2014/main" id="{35DEDE9C-712B-8449-B289-9A40D6BF5740}"/>
              </a:ext>
            </a:extLst>
          </p:cNvPr>
          <p:cNvSpPr/>
          <p:nvPr/>
        </p:nvSpPr>
        <p:spPr>
          <a:xfrm>
            <a:off x="1259632" y="3619769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系统 </a:t>
            </a:r>
            <a:r>
              <a:rPr kumimoji="1" lang="en-US" altLang="zh-CN" sz="1000" dirty="0"/>
              <a:t>ISA</a:t>
            </a:r>
            <a:endParaRPr kumimoji="1" lang="zh-CN" altLang="en-US" sz="1000" dirty="0"/>
          </a:p>
        </p:txBody>
      </p:sp>
      <p:sp>
        <p:nvSpPr>
          <p:cNvPr id="8" name="剪去对角的矩形 7">
            <a:extLst>
              <a:ext uri="{FF2B5EF4-FFF2-40B4-BE49-F238E27FC236}">
                <a16:creationId xmlns:a16="http://schemas.microsoft.com/office/drawing/2014/main" id="{E38292A3-0D0C-EC4D-BC04-C1B8AE1E2004}"/>
              </a:ext>
            </a:extLst>
          </p:cNvPr>
          <p:cNvSpPr/>
          <p:nvPr/>
        </p:nvSpPr>
        <p:spPr>
          <a:xfrm>
            <a:off x="2520651" y="3625384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用户 </a:t>
            </a:r>
            <a:r>
              <a:rPr kumimoji="1" lang="en-US" altLang="zh-CN" sz="1000" dirty="0"/>
              <a:t>ISA</a:t>
            </a:r>
            <a:endParaRPr kumimoji="1" lang="zh-CN" altLang="en-US" sz="1000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80FC55E-961F-2643-812E-7F19A7580B24}"/>
              </a:ext>
            </a:extLst>
          </p:cNvPr>
          <p:cNvSpPr/>
          <p:nvPr/>
        </p:nvSpPr>
        <p:spPr>
          <a:xfrm>
            <a:off x="3825850" y="2270793"/>
            <a:ext cx="995541" cy="663694"/>
          </a:xfrm>
          <a:prstGeom prst="roundRect">
            <a:avLst>
              <a:gd name="adj" fmla="val 8201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OS</a:t>
            </a:r>
            <a:r>
              <a:rPr kumimoji="1" lang="zh-CN" altLang="en-US" sz="1000" dirty="0"/>
              <a:t>（抽象）</a:t>
            </a:r>
          </a:p>
        </p:txBody>
      </p:sp>
      <p:sp>
        <p:nvSpPr>
          <p:cNvPr id="10" name="剪去对角的矩形 9">
            <a:extLst>
              <a:ext uri="{FF2B5EF4-FFF2-40B4-BE49-F238E27FC236}">
                <a16:creationId xmlns:a16="http://schemas.microsoft.com/office/drawing/2014/main" id="{58CEBB97-A341-5B4C-A6D8-FC99F91CD335}"/>
              </a:ext>
            </a:extLst>
          </p:cNvPr>
          <p:cNvSpPr/>
          <p:nvPr/>
        </p:nvSpPr>
        <p:spPr>
          <a:xfrm>
            <a:off x="3825850" y="3619769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寄存器 </a:t>
            </a:r>
            <a:r>
              <a:rPr kumimoji="1" lang="en-US" altLang="zh-CN" sz="1000" dirty="0"/>
              <a:t>/</a:t>
            </a:r>
            <a:r>
              <a:rPr kumimoji="1" lang="zh-CN" altLang="en-US" sz="1000" dirty="0"/>
              <a:t> 页表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3235A5F-6024-EB4A-B8D2-9FBDE94F6BB8}"/>
              </a:ext>
            </a:extLst>
          </p:cNvPr>
          <p:cNvSpPr/>
          <p:nvPr/>
        </p:nvSpPr>
        <p:spPr>
          <a:xfrm>
            <a:off x="5086869" y="2270793"/>
            <a:ext cx="995541" cy="663694"/>
          </a:xfrm>
          <a:prstGeom prst="roundRect">
            <a:avLst>
              <a:gd name="adj" fmla="val 8201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/>
              <a:t>MMU</a:t>
            </a:r>
            <a:r>
              <a:rPr kumimoji="1" lang="zh-CN" altLang="en-US" sz="900" dirty="0"/>
              <a:t>（虚拟化）</a:t>
            </a:r>
          </a:p>
        </p:txBody>
      </p:sp>
      <p:sp>
        <p:nvSpPr>
          <p:cNvPr id="12" name="剪去对角的矩形 11">
            <a:extLst>
              <a:ext uri="{FF2B5EF4-FFF2-40B4-BE49-F238E27FC236}">
                <a16:creationId xmlns:a16="http://schemas.microsoft.com/office/drawing/2014/main" id="{1EDC4DEC-92AF-024D-8DA9-12A8F5CC2329}"/>
              </a:ext>
            </a:extLst>
          </p:cNvPr>
          <p:cNvSpPr/>
          <p:nvPr/>
        </p:nvSpPr>
        <p:spPr>
          <a:xfrm>
            <a:off x="5086869" y="3619769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访存 </a:t>
            </a:r>
            <a:r>
              <a:rPr kumimoji="1" lang="en-US" altLang="zh-CN" sz="1000" dirty="0"/>
              <a:t>ISA</a:t>
            </a:r>
            <a:endParaRPr kumimoji="1" lang="zh-CN" altLang="en-US" sz="1000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4C4B4D4-963D-F944-A73D-A57A165912DD}"/>
              </a:ext>
            </a:extLst>
          </p:cNvPr>
          <p:cNvSpPr/>
          <p:nvPr/>
        </p:nvSpPr>
        <p:spPr>
          <a:xfrm>
            <a:off x="6387701" y="2270793"/>
            <a:ext cx="2256560" cy="663694"/>
          </a:xfrm>
          <a:prstGeom prst="roundRect">
            <a:avLst>
              <a:gd name="adj" fmla="val 8201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OS</a:t>
            </a:r>
            <a:r>
              <a:rPr kumimoji="1" lang="zh-CN" altLang="en-US" sz="1000" dirty="0"/>
              <a:t>（抽象）</a:t>
            </a:r>
          </a:p>
        </p:txBody>
      </p:sp>
      <p:sp>
        <p:nvSpPr>
          <p:cNvPr id="14" name="剪去对角的矩形 13">
            <a:extLst>
              <a:ext uri="{FF2B5EF4-FFF2-40B4-BE49-F238E27FC236}">
                <a16:creationId xmlns:a16="http://schemas.microsoft.com/office/drawing/2014/main" id="{3915CEE2-7430-684B-91F1-A5CCAFDB014B}"/>
              </a:ext>
            </a:extLst>
          </p:cNvPr>
          <p:cNvSpPr/>
          <p:nvPr/>
        </p:nvSpPr>
        <p:spPr>
          <a:xfrm>
            <a:off x="6387701" y="3619769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寄存器</a:t>
            </a:r>
          </a:p>
        </p:txBody>
      </p:sp>
      <p:sp>
        <p:nvSpPr>
          <p:cNvPr id="16" name="剪去对角的矩形 15">
            <a:extLst>
              <a:ext uri="{FF2B5EF4-FFF2-40B4-BE49-F238E27FC236}">
                <a16:creationId xmlns:a16="http://schemas.microsoft.com/office/drawing/2014/main" id="{5BBAEF58-5591-494B-BEDB-BCB01B60D489}"/>
              </a:ext>
            </a:extLst>
          </p:cNvPr>
          <p:cNvSpPr/>
          <p:nvPr/>
        </p:nvSpPr>
        <p:spPr>
          <a:xfrm>
            <a:off x="7648720" y="3619769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中断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21F4601-716A-F74B-A620-D0E3B95C2B5E}"/>
              </a:ext>
            </a:extLst>
          </p:cNvPr>
          <p:cNvSpPr/>
          <p:nvPr/>
        </p:nvSpPr>
        <p:spPr>
          <a:xfrm>
            <a:off x="1259631" y="4049991"/>
            <a:ext cx="7384609" cy="366211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CPU</a:t>
            </a:r>
            <a:endParaRPr kumimoji="1" lang="zh-CN" altLang="en-US" sz="1000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D6929C4-2706-084B-90BA-2A6FB181E869}"/>
              </a:ext>
            </a:extLst>
          </p:cNvPr>
          <p:cNvSpPr/>
          <p:nvPr/>
        </p:nvSpPr>
        <p:spPr>
          <a:xfrm>
            <a:off x="3825850" y="4653017"/>
            <a:ext cx="2256560" cy="366211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物理内存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58B5694-99DA-CB44-BCBE-B367E1A00318}"/>
              </a:ext>
            </a:extLst>
          </p:cNvPr>
          <p:cNvSpPr/>
          <p:nvPr/>
        </p:nvSpPr>
        <p:spPr>
          <a:xfrm>
            <a:off x="6387701" y="4653016"/>
            <a:ext cx="2256560" cy="366211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设备（存储、网络、键盘、显卡</a:t>
            </a:r>
            <a:r>
              <a:rPr kumimoji="1" lang="en-US" altLang="zh-CN" sz="1000" dirty="0"/>
              <a:t>…</a:t>
            </a:r>
            <a:r>
              <a:rPr kumimoji="1" lang="zh-CN" altLang="en-US" sz="1000" dirty="0"/>
              <a:t>）</a:t>
            </a:r>
          </a:p>
        </p:txBody>
      </p:sp>
      <p:sp>
        <p:nvSpPr>
          <p:cNvPr id="21" name="剪去对角的矩形 20">
            <a:extLst>
              <a:ext uri="{FF2B5EF4-FFF2-40B4-BE49-F238E27FC236}">
                <a16:creationId xmlns:a16="http://schemas.microsoft.com/office/drawing/2014/main" id="{56149957-AE5F-9347-AF22-E31B1B96CACD}"/>
              </a:ext>
            </a:extLst>
          </p:cNvPr>
          <p:cNvSpPr/>
          <p:nvPr/>
        </p:nvSpPr>
        <p:spPr>
          <a:xfrm>
            <a:off x="1259632" y="1883200"/>
            <a:ext cx="995541" cy="257358"/>
          </a:xfrm>
          <a:prstGeom prst="snip2Diag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进程 </a:t>
            </a:r>
            <a:r>
              <a:rPr kumimoji="1" lang="en-US" altLang="zh-CN" sz="1000" dirty="0"/>
              <a:t>/</a:t>
            </a:r>
            <a:r>
              <a:rPr kumimoji="1" lang="zh-CN" altLang="en-US" sz="1000" dirty="0"/>
              <a:t> 线程</a:t>
            </a:r>
          </a:p>
        </p:txBody>
      </p:sp>
      <p:sp>
        <p:nvSpPr>
          <p:cNvPr id="22" name="剪去对角的矩形 21">
            <a:extLst>
              <a:ext uri="{FF2B5EF4-FFF2-40B4-BE49-F238E27FC236}">
                <a16:creationId xmlns:a16="http://schemas.microsoft.com/office/drawing/2014/main" id="{60110D20-81B2-8040-9901-7D3CA50253BC}"/>
              </a:ext>
            </a:extLst>
          </p:cNvPr>
          <p:cNvSpPr/>
          <p:nvPr/>
        </p:nvSpPr>
        <p:spPr>
          <a:xfrm>
            <a:off x="2520651" y="1888815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用户 </a:t>
            </a:r>
            <a:r>
              <a:rPr kumimoji="1" lang="en-US" altLang="zh-CN" sz="1000" dirty="0"/>
              <a:t>ISA</a:t>
            </a:r>
            <a:endParaRPr kumimoji="1" lang="zh-CN" altLang="en-US" sz="1000" dirty="0"/>
          </a:p>
        </p:txBody>
      </p:sp>
      <p:sp>
        <p:nvSpPr>
          <p:cNvPr id="23" name="剪去对角的矩形 22">
            <a:extLst>
              <a:ext uri="{FF2B5EF4-FFF2-40B4-BE49-F238E27FC236}">
                <a16:creationId xmlns:a16="http://schemas.microsoft.com/office/drawing/2014/main" id="{66079E40-A9D0-5342-B4C5-C28DE292AE46}"/>
              </a:ext>
            </a:extLst>
          </p:cNvPr>
          <p:cNvSpPr/>
          <p:nvPr/>
        </p:nvSpPr>
        <p:spPr>
          <a:xfrm>
            <a:off x="3825850" y="1883200"/>
            <a:ext cx="995541" cy="257358"/>
          </a:xfrm>
          <a:prstGeom prst="snip2Diag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地址映射</a:t>
            </a:r>
          </a:p>
        </p:txBody>
      </p:sp>
      <p:sp>
        <p:nvSpPr>
          <p:cNvPr id="24" name="剪去对角的矩形 23">
            <a:extLst>
              <a:ext uri="{FF2B5EF4-FFF2-40B4-BE49-F238E27FC236}">
                <a16:creationId xmlns:a16="http://schemas.microsoft.com/office/drawing/2014/main" id="{DF4EE80D-8895-8F45-9BB1-F75E6F34270F}"/>
              </a:ext>
            </a:extLst>
          </p:cNvPr>
          <p:cNvSpPr/>
          <p:nvPr/>
        </p:nvSpPr>
        <p:spPr>
          <a:xfrm>
            <a:off x="5086869" y="1883200"/>
            <a:ext cx="995541" cy="257358"/>
          </a:xfrm>
          <a:prstGeom prst="snip2Diag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访存 </a:t>
            </a:r>
            <a:r>
              <a:rPr kumimoji="1" lang="en-US" altLang="zh-CN" sz="1000" dirty="0"/>
              <a:t>ISA</a:t>
            </a:r>
            <a:endParaRPr kumimoji="1" lang="zh-CN" altLang="en-US" sz="1000" dirty="0"/>
          </a:p>
        </p:txBody>
      </p:sp>
      <p:sp>
        <p:nvSpPr>
          <p:cNvPr id="25" name="剪去对角的矩形 24">
            <a:extLst>
              <a:ext uri="{FF2B5EF4-FFF2-40B4-BE49-F238E27FC236}">
                <a16:creationId xmlns:a16="http://schemas.microsoft.com/office/drawing/2014/main" id="{8D7A99CB-F8F2-4D41-8EB2-11A86F0B53CE}"/>
              </a:ext>
            </a:extLst>
          </p:cNvPr>
          <p:cNvSpPr/>
          <p:nvPr/>
        </p:nvSpPr>
        <p:spPr>
          <a:xfrm>
            <a:off x="6387701" y="1883200"/>
            <a:ext cx="2256560" cy="257358"/>
          </a:xfrm>
          <a:prstGeom prst="snip2Diag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文件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1F842B54-FB62-4645-B06F-4953C04F7A50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018421" y="2146173"/>
            <a:ext cx="1" cy="1397242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B77E7A1-AE74-FB46-B27F-A045B86E2294}"/>
              </a:ext>
            </a:extLst>
          </p:cNvPr>
          <p:cNvSpPr/>
          <p:nvPr/>
        </p:nvSpPr>
        <p:spPr>
          <a:xfrm>
            <a:off x="2669607" y="2483295"/>
            <a:ext cx="697627" cy="2462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accent3"/>
                </a:solidFill>
              </a:rPr>
              <a:t>（直通）</a:t>
            </a:r>
            <a:endParaRPr lang="zh-CN" altLang="en-US" sz="1000" dirty="0">
              <a:solidFill>
                <a:schemeClr val="accent3"/>
              </a:solidFill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502AC026-7BB4-144E-9E54-7B2F7126C8A0}"/>
              </a:ext>
            </a:extLst>
          </p:cNvPr>
          <p:cNvSpPr/>
          <p:nvPr/>
        </p:nvSpPr>
        <p:spPr>
          <a:xfrm>
            <a:off x="1132847" y="647278"/>
            <a:ext cx="7615592" cy="968945"/>
          </a:xfrm>
          <a:prstGeom prst="roundRect">
            <a:avLst>
              <a:gd name="adj" fmla="val 7009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788A9251-399C-5240-8E9C-6320454AA772}"/>
              </a:ext>
            </a:extLst>
          </p:cNvPr>
          <p:cNvCxnSpPr>
            <a:cxnSpLocks/>
          </p:cNvCxnSpPr>
          <p:nvPr/>
        </p:nvCxnSpPr>
        <p:spPr>
          <a:xfrm>
            <a:off x="1757403" y="1010649"/>
            <a:ext cx="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6CCD3435-A306-7840-B144-D92C642905C7}"/>
              </a:ext>
            </a:extLst>
          </p:cNvPr>
          <p:cNvSpPr txBox="1"/>
          <p:nvPr/>
        </p:nvSpPr>
        <p:spPr>
          <a:xfrm>
            <a:off x="1723659" y="914772"/>
            <a:ext cx="1008112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fork()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signal()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waitpid()</a:t>
            </a:r>
            <a:r>
              <a:rPr kumimoji="1" lang="zh-CN" altLang="en-US" sz="900" dirty="0">
                <a:solidFill>
                  <a:schemeClr val="accent1"/>
                </a:solidFill>
              </a:rPr>
              <a:t> </a:t>
            </a:r>
            <a:r>
              <a:rPr kumimoji="1" lang="en-US" altLang="zh-CN" sz="900" dirty="0">
                <a:solidFill>
                  <a:schemeClr val="accent1"/>
                </a:solidFill>
              </a:rPr>
              <a:t>…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783513D1-78C3-B641-AE09-6D0434C71EB5}"/>
              </a:ext>
            </a:extLst>
          </p:cNvPr>
          <p:cNvCxnSpPr>
            <a:cxnSpLocks/>
          </p:cNvCxnSpPr>
          <p:nvPr/>
        </p:nvCxnSpPr>
        <p:spPr>
          <a:xfrm>
            <a:off x="3018421" y="1010649"/>
            <a:ext cx="1" cy="79770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F5E5CCF1-60ED-444F-B27D-B5CAA98BD6E6}"/>
              </a:ext>
            </a:extLst>
          </p:cNvPr>
          <p:cNvSpPr txBox="1"/>
          <p:nvPr/>
        </p:nvSpPr>
        <p:spPr>
          <a:xfrm>
            <a:off x="2987824" y="914772"/>
            <a:ext cx="501751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add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mov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bl</a:t>
            </a:r>
            <a:r>
              <a:rPr kumimoji="1" lang="zh-CN" altLang="en-US" sz="900" dirty="0">
                <a:solidFill>
                  <a:schemeClr val="accent3"/>
                </a:solidFill>
              </a:rPr>
              <a:t> </a:t>
            </a:r>
            <a:r>
              <a:rPr kumimoji="1" lang="en-US" altLang="zh-CN" sz="900" dirty="0">
                <a:solidFill>
                  <a:schemeClr val="accent3"/>
                </a:solidFill>
              </a:rPr>
              <a:t>…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75FC769-B2CA-704C-BED2-D411985E9BAF}"/>
              </a:ext>
            </a:extLst>
          </p:cNvPr>
          <p:cNvCxnSpPr>
            <a:cxnSpLocks/>
          </p:cNvCxnSpPr>
          <p:nvPr/>
        </p:nvCxnSpPr>
        <p:spPr>
          <a:xfrm>
            <a:off x="4323618" y="1013489"/>
            <a:ext cx="1" cy="79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B2F646C6-6CC4-C64D-BDA2-D0BAD54373FF}"/>
              </a:ext>
            </a:extLst>
          </p:cNvPr>
          <p:cNvSpPr txBox="1"/>
          <p:nvPr/>
        </p:nvSpPr>
        <p:spPr>
          <a:xfrm>
            <a:off x="4290413" y="921149"/>
            <a:ext cx="1008112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mmap()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mprotect()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shmat()</a:t>
            </a:r>
            <a:r>
              <a:rPr kumimoji="1" lang="zh-CN" altLang="en-US" sz="900" dirty="0">
                <a:solidFill>
                  <a:schemeClr val="accent1"/>
                </a:solidFill>
              </a:rPr>
              <a:t> </a:t>
            </a:r>
            <a:r>
              <a:rPr kumimoji="1" lang="en-US" altLang="zh-CN" sz="900" dirty="0">
                <a:solidFill>
                  <a:schemeClr val="accent1"/>
                </a:solidFill>
              </a:rPr>
              <a:t>…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BC91FD13-314C-0649-A066-A4AEDE42D8B0}"/>
              </a:ext>
            </a:extLst>
          </p:cNvPr>
          <p:cNvCxnSpPr>
            <a:cxnSpLocks/>
          </p:cNvCxnSpPr>
          <p:nvPr/>
        </p:nvCxnSpPr>
        <p:spPr>
          <a:xfrm>
            <a:off x="5584634" y="1005668"/>
            <a:ext cx="1" cy="79770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69DCC0A2-473F-4042-9166-7F8D0C159BF9}"/>
              </a:ext>
            </a:extLst>
          </p:cNvPr>
          <p:cNvCxnSpPr>
            <a:cxnSpLocks/>
          </p:cNvCxnSpPr>
          <p:nvPr/>
        </p:nvCxnSpPr>
        <p:spPr>
          <a:xfrm>
            <a:off x="7534095" y="1007112"/>
            <a:ext cx="1" cy="79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2ED6566-DB22-F241-84E8-713A9AB6A444}"/>
              </a:ext>
            </a:extLst>
          </p:cNvPr>
          <p:cNvSpPr txBox="1"/>
          <p:nvPr/>
        </p:nvSpPr>
        <p:spPr>
          <a:xfrm>
            <a:off x="7500890" y="914772"/>
            <a:ext cx="1008112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open()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write()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1"/>
                </a:solidFill>
              </a:rPr>
              <a:t>ioctl()</a:t>
            </a:r>
            <a:r>
              <a:rPr kumimoji="1" lang="zh-CN" altLang="en-US" sz="900" dirty="0">
                <a:solidFill>
                  <a:schemeClr val="accent1"/>
                </a:solidFill>
              </a:rPr>
              <a:t> </a:t>
            </a:r>
            <a:r>
              <a:rPr kumimoji="1" lang="en-US" altLang="zh-CN" sz="900" dirty="0">
                <a:solidFill>
                  <a:schemeClr val="accent1"/>
                </a:solidFill>
              </a:rPr>
              <a:t>…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E9BFA1-1DF3-474D-823B-69C06ABFA22E}"/>
              </a:ext>
            </a:extLst>
          </p:cNvPr>
          <p:cNvSpPr txBox="1"/>
          <p:nvPr/>
        </p:nvSpPr>
        <p:spPr>
          <a:xfrm>
            <a:off x="5548412" y="920147"/>
            <a:ext cx="1008112" cy="43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load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store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98DA758-D1F5-F949-B92D-ED7646B287BD}"/>
              </a:ext>
            </a:extLst>
          </p:cNvPr>
          <p:cNvSpPr txBox="1"/>
          <p:nvPr/>
        </p:nvSpPr>
        <p:spPr>
          <a:xfrm>
            <a:off x="5541967" y="2966572"/>
            <a:ext cx="1008112" cy="43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load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store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75140F35-8C9D-6E48-BEB3-C675BF06B1A7}"/>
              </a:ext>
            </a:extLst>
          </p:cNvPr>
          <p:cNvCxnSpPr>
            <a:cxnSpLocks/>
          </p:cNvCxnSpPr>
          <p:nvPr/>
        </p:nvCxnSpPr>
        <p:spPr>
          <a:xfrm>
            <a:off x="1757403" y="2934487"/>
            <a:ext cx="0" cy="60892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3750736-512C-CA42-AFF9-339F11D66BA3}"/>
              </a:ext>
            </a:extLst>
          </p:cNvPr>
          <p:cNvSpPr txBox="1"/>
          <p:nvPr/>
        </p:nvSpPr>
        <p:spPr>
          <a:xfrm>
            <a:off x="1705850" y="2963796"/>
            <a:ext cx="1082033" cy="43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读写寄存器</a:t>
            </a:r>
            <a:endParaRPr kumimoji="1" lang="en-US" altLang="zh-CN" sz="900" dirty="0">
              <a:solidFill>
                <a:schemeClr val="accent3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特权指令</a:t>
            </a:r>
            <a:endParaRPr kumimoji="1" lang="en-US" altLang="zh-CN" sz="900" dirty="0">
              <a:solidFill>
                <a:schemeClr val="accent3"/>
              </a:solidFill>
            </a:endParaRPr>
          </a:p>
        </p:txBody>
      </p: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F45DC56B-CCB2-FA45-A9D9-0B1B84A37D29}"/>
              </a:ext>
            </a:extLst>
          </p:cNvPr>
          <p:cNvCxnSpPr>
            <a:cxnSpLocks/>
          </p:cNvCxnSpPr>
          <p:nvPr/>
        </p:nvCxnSpPr>
        <p:spPr>
          <a:xfrm>
            <a:off x="4293530" y="2934487"/>
            <a:ext cx="0" cy="60892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80B8366-2AD7-C646-B3C5-63B87207E0E8}"/>
              </a:ext>
            </a:extLst>
          </p:cNvPr>
          <p:cNvSpPr txBox="1"/>
          <p:nvPr/>
        </p:nvSpPr>
        <p:spPr>
          <a:xfrm>
            <a:off x="4228256" y="2964818"/>
            <a:ext cx="1042891" cy="43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读写寄存器</a:t>
            </a:r>
            <a:endParaRPr kumimoji="1" lang="en-US" altLang="zh-CN" sz="900" dirty="0">
              <a:solidFill>
                <a:schemeClr val="accent3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修改页表</a:t>
            </a:r>
            <a:endParaRPr kumimoji="1" lang="en-US" altLang="zh-CN" sz="900" dirty="0">
              <a:solidFill>
                <a:schemeClr val="accent3"/>
              </a:solidFill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B8DAEEC-206A-2E4B-9207-EC4B83B3B492}"/>
              </a:ext>
            </a:extLst>
          </p:cNvPr>
          <p:cNvCxnSpPr>
            <a:cxnSpLocks/>
          </p:cNvCxnSpPr>
          <p:nvPr/>
        </p:nvCxnSpPr>
        <p:spPr>
          <a:xfrm>
            <a:off x="6881956" y="2934487"/>
            <a:ext cx="0" cy="60892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B8DC9537-2F89-084F-ACA1-901F2846D5A4}"/>
              </a:ext>
            </a:extLst>
          </p:cNvPr>
          <p:cNvSpPr txBox="1"/>
          <p:nvPr/>
        </p:nvSpPr>
        <p:spPr>
          <a:xfrm>
            <a:off x="6844061" y="3004662"/>
            <a:ext cx="788251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读写寄存器</a:t>
            </a:r>
            <a:endParaRPr kumimoji="1" lang="en-US" altLang="zh-CN" sz="900" dirty="0">
              <a:solidFill>
                <a:schemeClr val="accent3"/>
              </a:solidFill>
            </a:endParaRPr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4B39E0E3-9938-4044-A925-85E3B459AD35}"/>
              </a:ext>
            </a:extLst>
          </p:cNvPr>
          <p:cNvCxnSpPr>
            <a:cxnSpLocks/>
          </p:cNvCxnSpPr>
          <p:nvPr/>
        </p:nvCxnSpPr>
        <p:spPr>
          <a:xfrm>
            <a:off x="8138287" y="2934487"/>
            <a:ext cx="0" cy="60892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CF72A4C-5CE2-2340-89CC-90DA19C24CC7}"/>
              </a:ext>
            </a:extLst>
          </p:cNvPr>
          <p:cNvSpPr txBox="1"/>
          <p:nvPr/>
        </p:nvSpPr>
        <p:spPr>
          <a:xfrm>
            <a:off x="8100392" y="3004662"/>
            <a:ext cx="685956" cy="254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900" dirty="0">
                <a:solidFill>
                  <a:schemeClr val="accent3"/>
                </a:solidFill>
              </a:rPr>
              <a:t>中断处理</a:t>
            </a:r>
            <a:endParaRPr kumimoji="1" lang="en-US" altLang="zh-CN" sz="900" dirty="0">
              <a:solidFill>
                <a:schemeClr val="accent3"/>
              </a:solidFill>
            </a:endParaRPr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F0A7559F-2CE0-EB41-88A0-DFC87FD70866}"/>
              </a:ext>
            </a:extLst>
          </p:cNvPr>
          <p:cNvCxnSpPr>
            <a:cxnSpLocks/>
          </p:cNvCxnSpPr>
          <p:nvPr/>
        </p:nvCxnSpPr>
        <p:spPr>
          <a:xfrm flipV="1">
            <a:off x="5584640" y="2934487"/>
            <a:ext cx="0" cy="608928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D2BBC3BB-5BEC-8141-A49B-FD2A017D54CB}"/>
              </a:ext>
            </a:extLst>
          </p:cNvPr>
          <p:cNvSpPr txBox="1"/>
          <p:nvPr/>
        </p:nvSpPr>
        <p:spPr>
          <a:xfrm>
            <a:off x="2987824" y="2793746"/>
            <a:ext cx="501751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add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mov</a:t>
            </a:r>
          </a:p>
          <a:p>
            <a:pPr>
              <a:lnSpc>
                <a:spcPct val="130000"/>
              </a:lnSpc>
            </a:pPr>
            <a:r>
              <a:rPr kumimoji="1" lang="en-US" altLang="zh-CN" sz="900" dirty="0">
                <a:solidFill>
                  <a:schemeClr val="accent3"/>
                </a:solidFill>
              </a:rPr>
              <a:t>bl</a:t>
            </a:r>
            <a:r>
              <a:rPr kumimoji="1" lang="zh-CN" altLang="en-US" sz="900" dirty="0">
                <a:solidFill>
                  <a:schemeClr val="accent3"/>
                </a:solidFill>
              </a:rPr>
              <a:t> </a:t>
            </a:r>
            <a:r>
              <a:rPr kumimoji="1" lang="en-US" altLang="zh-CN" sz="900" dirty="0">
                <a:solidFill>
                  <a:schemeClr val="accent3"/>
                </a:solidFill>
              </a:rPr>
              <a:t>…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FEE0E10-605A-F14E-8008-CA830BB6846C}"/>
              </a:ext>
            </a:extLst>
          </p:cNvPr>
          <p:cNvSpPr/>
          <p:nvPr/>
        </p:nvSpPr>
        <p:spPr>
          <a:xfrm>
            <a:off x="42710" y="1883200"/>
            <a:ext cx="1082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000" b="1" dirty="0">
                <a:solidFill>
                  <a:schemeClr val="accent4">
                    <a:lumMod val="50000"/>
                  </a:schemeClr>
                </a:solidFill>
              </a:rPr>
              <a:t>应用看到的接口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FA7858C-C156-8146-98BA-040F45DFC25D}"/>
              </a:ext>
            </a:extLst>
          </p:cNvPr>
          <p:cNvSpPr/>
          <p:nvPr/>
        </p:nvSpPr>
        <p:spPr>
          <a:xfrm>
            <a:off x="35496" y="3625337"/>
            <a:ext cx="10967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en-US" altLang="zh-CN" sz="1000" b="1" dirty="0">
                <a:solidFill>
                  <a:schemeClr val="accent3"/>
                </a:solidFill>
              </a:rPr>
              <a:t>CPU</a:t>
            </a:r>
            <a:r>
              <a:rPr kumimoji="1" lang="zh-CN" altLang="en-US" sz="1000" b="1" dirty="0">
                <a:solidFill>
                  <a:schemeClr val="accent3"/>
                </a:solidFill>
              </a:rPr>
              <a:t>提供的接口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E6936FC-9667-D844-B9BC-69215EA3E276}"/>
              </a:ext>
            </a:extLst>
          </p:cNvPr>
          <p:cNvCxnSpPr>
            <a:cxnSpLocks/>
          </p:cNvCxnSpPr>
          <p:nvPr/>
        </p:nvCxnSpPr>
        <p:spPr>
          <a:xfrm>
            <a:off x="3635896" y="346030"/>
            <a:ext cx="0" cy="525520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67438450-B562-A34D-9491-33B9C04BD500}"/>
              </a:ext>
            </a:extLst>
          </p:cNvPr>
          <p:cNvCxnSpPr>
            <a:cxnSpLocks/>
          </p:cNvCxnSpPr>
          <p:nvPr/>
        </p:nvCxnSpPr>
        <p:spPr>
          <a:xfrm>
            <a:off x="6228184" y="346030"/>
            <a:ext cx="0" cy="525520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CE41B84-5DE9-D14A-A722-F297876990E2}"/>
              </a:ext>
            </a:extLst>
          </p:cNvPr>
          <p:cNvSpPr/>
          <p:nvPr/>
        </p:nvSpPr>
        <p:spPr>
          <a:xfrm>
            <a:off x="1977411" y="346031"/>
            <a:ext cx="9685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使用</a:t>
            </a:r>
            <a:r>
              <a:rPr kumimoji="1"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CPU</a:t>
            </a:r>
            <a:r>
              <a:rPr kumimoji="1"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资源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CBC5DE4-A01C-3E48-B9F4-9A912846A12E}"/>
              </a:ext>
            </a:extLst>
          </p:cNvPr>
          <p:cNvSpPr/>
          <p:nvPr/>
        </p:nvSpPr>
        <p:spPr>
          <a:xfrm>
            <a:off x="4483777" y="346030"/>
            <a:ext cx="9541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使用内存资源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0539622-682F-9D42-AA1A-22BE4947771E}"/>
              </a:ext>
            </a:extLst>
          </p:cNvPr>
          <p:cNvSpPr/>
          <p:nvPr/>
        </p:nvSpPr>
        <p:spPr>
          <a:xfrm>
            <a:off x="7018485" y="346030"/>
            <a:ext cx="9541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使用设备资源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B68395E-A6B8-9D49-A9AE-57D277EFF0A4}"/>
              </a:ext>
            </a:extLst>
          </p:cNvPr>
          <p:cNvSpPr/>
          <p:nvPr/>
        </p:nvSpPr>
        <p:spPr>
          <a:xfrm>
            <a:off x="4603125" y="676235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accent4">
                    <a:lumMod val="50000"/>
                  </a:schemeClr>
                </a:solidFill>
              </a:rPr>
              <a:t>应用程序</a:t>
            </a: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92DAC5EC-8033-984D-9E68-98ACCDC9873A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951936" y="4416202"/>
            <a:ext cx="2194" cy="23681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F82871D-00F2-AD49-9A42-5A0D8B1968A2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515981" y="4410299"/>
            <a:ext cx="1" cy="24271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B23A369B-9FA8-7C48-900A-4C16ADE03E50}"/>
              </a:ext>
            </a:extLst>
          </p:cNvPr>
          <p:cNvSpPr/>
          <p:nvPr/>
        </p:nvSpPr>
        <p:spPr>
          <a:xfrm>
            <a:off x="62280" y="2387385"/>
            <a:ext cx="825867" cy="872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三种方式：</a:t>
            </a:r>
            <a:endParaRPr kumimoji="1" lang="en-US" altLang="zh-C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直通</a:t>
            </a:r>
            <a:endParaRPr kumimoji="1" lang="en-US" altLang="zh-CN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抽象</a:t>
            </a:r>
            <a:endParaRPr kumimoji="1" lang="en-US" altLang="zh-CN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虚拟化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DAE3379F-F268-9D48-B934-137ADE3CC275}"/>
              </a:ext>
            </a:extLst>
          </p:cNvPr>
          <p:cNvSpPr/>
          <p:nvPr/>
        </p:nvSpPr>
        <p:spPr>
          <a:xfrm>
            <a:off x="257136" y="4244575"/>
            <a:ext cx="168242" cy="157796"/>
          </a:xfrm>
          <a:prstGeom prst="roundRect">
            <a:avLst>
              <a:gd name="adj" fmla="val 19298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8B7F7A9D-1D8F-F04B-ADAE-9EC8EE85D6F9}"/>
              </a:ext>
            </a:extLst>
          </p:cNvPr>
          <p:cNvSpPr/>
          <p:nvPr/>
        </p:nvSpPr>
        <p:spPr>
          <a:xfrm>
            <a:off x="257136" y="4447104"/>
            <a:ext cx="168242" cy="157796"/>
          </a:xfrm>
          <a:prstGeom prst="roundRect">
            <a:avLst>
              <a:gd name="adj" fmla="val 19298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F1C74219-AF0E-244D-A4B0-110BA72CC7D3}"/>
              </a:ext>
            </a:extLst>
          </p:cNvPr>
          <p:cNvSpPr/>
          <p:nvPr/>
        </p:nvSpPr>
        <p:spPr>
          <a:xfrm>
            <a:off x="257136" y="4649633"/>
            <a:ext cx="168242" cy="157796"/>
          </a:xfrm>
          <a:prstGeom prst="roundRect">
            <a:avLst>
              <a:gd name="adj" fmla="val 1929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94" name="任意形状 93">
            <a:extLst>
              <a:ext uri="{FF2B5EF4-FFF2-40B4-BE49-F238E27FC236}">
                <a16:creationId xmlns:a16="http://schemas.microsoft.com/office/drawing/2014/main" id="{0341CF8C-B826-864C-BA51-F4E142D86F6D}"/>
              </a:ext>
            </a:extLst>
          </p:cNvPr>
          <p:cNvSpPr/>
          <p:nvPr/>
        </p:nvSpPr>
        <p:spPr>
          <a:xfrm>
            <a:off x="257136" y="4949175"/>
            <a:ext cx="168242" cy="78867"/>
          </a:xfrm>
          <a:custGeom>
            <a:avLst/>
            <a:gdLst>
              <a:gd name="connsiteX0" fmla="*/ 0 w 168242"/>
              <a:gd name="connsiteY0" fmla="*/ 0 h 78867"/>
              <a:gd name="connsiteX1" fmla="*/ 168242 w 168242"/>
              <a:gd name="connsiteY1" fmla="*/ 0 h 78867"/>
              <a:gd name="connsiteX2" fmla="*/ 168242 w 168242"/>
              <a:gd name="connsiteY2" fmla="*/ 78867 h 78867"/>
              <a:gd name="connsiteX3" fmla="*/ 48071 w 168242"/>
              <a:gd name="connsiteY3" fmla="*/ 78867 h 78867"/>
              <a:gd name="connsiteX4" fmla="*/ 0 w 168242"/>
              <a:gd name="connsiteY4" fmla="*/ 30796 h 78867"/>
              <a:gd name="connsiteX5" fmla="*/ 0 w 168242"/>
              <a:gd name="connsiteY5" fmla="*/ 0 h 7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242" h="78867">
                <a:moveTo>
                  <a:pt x="0" y="0"/>
                </a:moveTo>
                <a:lnTo>
                  <a:pt x="168242" y="0"/>
                </a:lnTo>
                <a:lnTo>
                  <a:pt x="168242" y="78867"/>
                </a:lnTo>
                <a:lnTo>
                  <a:pt x="48071" y="78867"/>
                </a:lnTo>
                <a:lnTo>
                  <a:pt x="0" y="307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93" name="任意形状 92">
            <a:extLst>
              <a:ext uri="{FF2B5EF4-FFF2-40B4-BE49-F238E27FC236}">
                <a16:creationId xmlns:a16="http://schemas.microsoft.com/office/drawing/2014/main" id="{F4CC119F-4DE8-F348-AC2C-81FDB03EAB82}"/>
              </a:ext>
            </a:extLst>
          </p:cNvPr>
          <p:cNvSpPr/>
          <p:nvPr/>
        </p:nvSpPr>
        <p:spPr>
          <a:xfrm>
            <a:off x="257136" y="4870246"/>
            <a:ext cx="168242" cy="78929"/>
          </a:xfrm>
          <a:custGeom>
            <a:avLst/>
            <a:gdLst>
              <a:gd name="connsiteX0" fmla="*/ 0 w 168242"/>
              <a:gd name="connsiteY0" fmla="*/ 0 h 78929"/>
              <a:gd name="connsiteX1" fmla="*/ 120171 w 168242"/>
              <a:gd name="connsiteY1" fmla="*/ 0 h 78929"/>
              <a:gd name="connsiteX2" fmla="*/ 168242 w 168242"/>
              <a:gd name="connsiteY2" fmla="*/ 48071 h 78929"/>
              <a:gd name="connsiteX3" fmla="*/ 168242 w 168242"/>
              <a:gd name="connsiteY3" fmla="*/ 78929 h 78929"/>
              <a:gd name="connsiteX4" fmla="*/ 0 w 168242"/>
              <a:gd name="connsiteY4" fmla="*/ 78929 h 78929"/>
              <a:gd name="connsiteX5" fmla="*/ 0 w 168242"/>
              <a:gd name="connsiteY5" fmla="*/ 0 h 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242" h="78929">
                <a:moveTo>
                  <a:pt x="0" y="0"/>
                </a:moveTo>
                <a:lnTo>
                  <a:pt x="120171" y="0"/>
                </a:lnTo>
                <a:lnTo>
                  <a:pt x="168242" y="48071"/>
                </a:lnTo>
                <a:lnTo>
                  <a:pt x="168242" y="78929"/>
                </a:lnTo>
                <a:lnTo>
                  <a:pt x="0" y="7892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6C55296-3BC5-274F-8C9C-0C5B906491C2}"/>
              </a:ext>
            </a:extLst>
          </p:cNvPr>
          <p:cNvSpPr/>
          <p:nvPr/>
        </p:nvSpPr>
        <p:spPr>
          <a:xfrm>
            <a:off x="386438" y="4162454"/>
            <a:ext cx="441146" cy="272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702AC7E-9AD5-1B4A-AC90-3AAC0F89912D}"/>
              </a:ext>
            </a:extLst>
          </p:cNvPr>
          <p:cNvSpPr/>
          <p:nvPr/>
        </p:nvSpPr>
        <p:spPr>
          <a:xfrm>
            <a:off x="386438" y="4373628"/>
            <a:ext cx="369012" cy="271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OS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9768091-9B58-424B-8F22-2F1B27B5C23B}"/>
              </a:ext>
            </a:extLst>
          </p:cNvPr>
          <p:cNvSpPr/>
          <p:nvPr/>
        </p:nvSpPr>
        <p:spPr>
          <a:xfrm>
            <a:off x="386438" y="4584802"/>
            <a:ext cx="441146" cy="272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硬件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87B42A7-F8D7-7B47-95E3-487A34B10CFA}"/>
              </a:ext>
            </a:extLst>
          </p:cNvPr>
          <p:cNvSpPr/>
          <p:nvPr/>
        </p:nvSpPr>
        <p:spPr>
          <a:xfrm>
            <a:off x="386438" y="4795977"/>
            <a:ext cx="441146" cy="272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接口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14C135-4045-0042-8E59-A0A64C64ACFD}"/>
              </a:ext>
            </a:extLst>
          </p:cNvPr>
          <p:cNvSpPr/>
          <p:nvPr/>
        </p:nvSpPr>
        <p:spPr>
          <a:xfrm>
            <a:off x="1187624" y="113388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800" dirty="0">
                <a:solidFill>
                  <a:schemeClr val="accent1"/>
                </a:solidFill>
              </a:rPr>
              <a:t>系统调用</a:t>
            </a:r>
            <a:endParaRPr lang="zh-CN" altLang="en-US" sz="800" dirty="0">
              <a:solidFill>
                <a:schemeClr val="accent1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6472F38-1A09-A34A-A17D-320C8A784960}"/>
              </a:ext>
            </a:extLst>
          </p:cNvPr>
          <p:cNvSpPr/>
          <p:nvPr/>
        </p:nvSpPr>
        <p:spPr>
          <a:xfrm>
            <a:off x="2453576" y="1133887"/>
            <a:ext cx="6062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800" dirty="0">
                <a:solidFill>
                  <a:schemeClr val="accent3"/>
                </a:solidFill>
              </a:rPr>
              <a:t>CPU</a:t>
            </a:r>
            <a:r>
              <a:rPr kumimoji="1" lang="zh-CN" altLang="en-US" sz="800" dirty="0">
                <a:solidFill>
                  <a:schemeClr val="accent3"/>
                </a:solidFill>
              </a:rPr>
              <a:t>指令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8CB514C-637B-C744-81BD-F2E868DEBB7D}"/>
              </a:ext>
            </a:extLst>
          </p:cNvPr>
          <p:cNvSpPr/>
          <p:nvPr/>
        </p:nvSpPr>
        <p:spPr>
          <a:xfrm>
            <a:off x="3776225" y="113388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800" dirty="0">
                <a:solidFill>
                  <a:schemeClr val="accent1"/>
                </a:solidFill>
              </a:rPr>
              <a:t>系统调用</a:t>
            </a:r>
            <a:endParaRPr lang="zh-CN" altLang="en-US" sz="800" dirty="0">
              <a:solidFill>
                <a:schemeClr val="accent1"/>
              </a:solidFill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C8C33E2-E94E-9C4A-B669-CDB00A32EDD9}"/>
              </a:ext>
            </a:extLst>
          </p:cNvPr>
          <p:cNvSpPr/>
          <p:nvPr/>
        </p:nvSpPr>
        <p:spPr>
          <a:xfrm>
            <a:off x="5012390" y="1133887"/>
            <a:ext cx="6062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800" dirty="0">
                <a:solidFill>
                  <a:schemeClr val="accent3"/>
                </a:solidFill>
              </a:rPr>
              <a:t>CPU</a:t>
            </a:r>
            <a:r>
              <a:rPr kumimoji="1" lang="zh-CN" altLang="en-US" sz="800" dirty="0">
                <a:solidFill>
                  <a:schemeClr val="accent3"/>
                </a:solidFill>
              </a:rPr>
              <a:t>指令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9824409-4A65-CD44-9EE8-178C75CA2176}"/>
              </a:ext>
            </a:extLst>
          </p:cNvPr>
          <p:cNvSpPr/>
          <p:nvPr/>
        </p:nvSpPr>
        <p:spPr>
          <a:xfrm>
            <a:off x="6963935" y="1133887"/>
            <a:ext cx="6323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800" dirty="0">
                <a:solidFill>
                  <a:schemeClr val="accent1"/>
                </a:solidFill>
              </a:rPr>
              <a:t>系统调用</a:t>
            </a:r>
            <a:endParaRPr lang="zh-CN" altLang="en-US" sz="800" dirty="0">
              <a:solidFill>
                <a:schemeClr val="accent1"/>
              </a:solidFill>
            </a:endParaRP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52753F93-0BC1-6E4F-829D-52732B9CC3A7}"/>
              </a:ext>
            </a:extLst>
          </p:cNvPr>
          <p:cNvSpPr/>
          <p:nvPr/>
        </p:nvSpPr>
        <p:spPr>
          <a:xfrm rot="16200000">
            <a:off x="2304225" y="4151130"/>
            <a:ext cx="167378" cy="2256559"/>
          </a:xfrm>
          <a:prstGeom prst="leftBrace">
            <a:avLst>
              <a:gd name="adj1" fmla="val 47215"/>
              <a:gd name="adj2" fmla="val 50000"/>
            </a:avLst>
          </a:prstGeom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左大括号 91">
            <a:extLst>
              <a:ext uri="{FF2B5EF4-FFF2-40B4-BE49-F238E27FC236}">
                <a16:creationId xmlns:a16="http://schemas.microsoft.com/office/drawing/2014/main" id="{B685CB50-6DC8-4846-9DE5-072B4B793EC0}"/>
              </a:ext>
            </a:extLst>
          </p:cNvPr>
          <p:cNvSpPr/>
          <p:nvPr/>
        </p:nvSpPr>
        <p:spPr>
          <a:xfrm rot="16200000">
            <a:off x="4870444" y="4151130"/>
            <a:ext cx="167378" cy="2256561"/>
          </a:xfrm>
          <a:prstGeom prst="leftBrace">
            <a:avLst>
              <a:gd name="adj1" fmla="val 47215"/>
              <a:gd name="adj2" fmla="val 50000"/>
            </a:avLst>
          </a:prstGeom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左大括号 98">
            <a:extLst>
              <a:ext uri="{FF2B5EF4-FFF2-40B4-BE49-F238E27FC236}">
                <a16:creationId xmlns:a16="http://schemas.microsoft.com/office/drawing/2014/main" id="{00DA2494-2044-C841-AB6E-40F8B5176A06}"/>
              </a:ext>
            </a:extLst>
          </p:cNvPr>
          <p:cNvSpPr/>
          <p:nvPr/>
        </p:nvSpPr>
        <p:spPr>
          <a:xfrm rot="16200000">
            <a:off x="7432273" y="4152192"/>
            <a:ext cx="167378" cy="2256560"/>
          </a:xfrm>
          <a:prstGeom prst="leftBrace">
            <a:avLst>
              <a:gd name="adj1" fmla="val 47215"/>
              <a:gd name="adj2" fmla="val 50000"/>
            </a:avLst>
          </a:prstGeom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左大括号 99">
            <a:extLst>
              <a:ext uri="{FF2B5EF4-FFF2-40B4-BE49-F238E27FC236}">
                <a16:creationId xmlns:a16="http://schemas.microsoft.com/office/drawing/2014/main" id="{145F1A83-7B97-FA45-BF3A-9F15FFF1A9F0}"/>
              </a:ext>
            </a:extLst>
          </p:cNvPr>
          <p:cNvSpPr/>
          <p:nvPr/>
        </p:nvSpPr>
        <p:spPr>
          <a:xfrm>
            <a:off x="921543" y="647279"/>
            <a:ext cx="167378" cy="977958"/>
          </a:xfrm>
          <a:prstGeom prst="leftBrace">
            <a:avLst>
              <a:gd name="adj1" fmla="val 47215"/>
              <a:gd name="adj2" fmla="val 50000"/>
            </a:avLst>
          </a:prstGeom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09D29E5-76E2-9D4A-9B43-CA15055E185E}"/>
              </a:ext>
            </a:extLst>
          </p:cNvPr>
          <p:cNvSpPr/>
          <p:nvPr/>
        </p:nvSpPr>
        <p:spPr>
          <a:xfrm>
            <a:off x="142933" y="992962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第一部分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2980C0A-55A9-8546-9FF1-000C1C44B7F1}"/>
              </a:ext>
            </a:extLst>
          </p:cNvPr>
          <p:cNvSpPr/>
          <p:nvPr/>
        </p:nvSpPr>
        <p:spPr>
          <a:xfrm>
            <a:off x="1982850" y="5380501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第三部分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E1F28CA-9763-F24D-9706-66C159925891}"/>
              </a:ext>
            </a:extLst>
          </p:cNvPr>
          <p:cNvSpPr/>
          <p:nvPr/>
        </p:nvSpPr>
        <p:spPr>
          <a:xfrm>
            <a:off x="4540534" y="5371613"/>
            <a:ext cx="8002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第二部分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FA0B291-95FA-E44F-982A-90C7B453C11F}"/>
              </a:ext>
            </a:extLst>
          </p:cNvPr>
          <p:cNvSpPr/>
          <p:nvPr/>
        </p:nvSpPr>
        <p:spPr>
          <a:xfrm>
            <a:off x="7135444" y="5371613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第四部分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9E0E50C-ABD7-B04F-83CF-CDCBC9E6D13E}"/>
              </a:ext>
            </a:extLst>
          </p:cNvPr>
          <p:cNvSpPr/>
          <p:nvPr/>
        </p:nvSpPr>
        <p:spPr>
          <a:xfrm>
            <a:off x="107504" y="5368893"/>
            <a:ext cx="1261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第五部分：进阶</a:t>
            </a:r>
          </a:p>
        </p:txBody>
      </p:sp>
    </p:spTree>
    <p:extLst>
      <p:ext uri="{BB962C8B-B14F-4D97-AF65-F5344CB8AC3E}">
        <p14:creationId xmlns:p14="http://schemas.microsoft.com/office/powerpoint/2010/main" val="111848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D149A8-9973-8543-A77F-3AE34E74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汇编</a:t>
            </a:r>
            <a:endParaRPr kumimoji="1" lang="en-US" altLang="zh-CN" dirty="0"/>
          </a:p>
          <a:p>
            <a:r>
              <a:rPr kumimoji="1" lang="zh-CN" altLang="en-US" dirty="0"/>
              <a:t>从</a:t>
            </a:r>
            <a:r>
              <a:rPr kumimoji="1" lang="en-US" altLang="zh-CN" dirty="0"/>
              <a:t>C</a:t>
            </a:r>
            <a:r>
              <a:rPr kumimoji="1" lang="zh-CN" altLang="en-US" dirty="0"/>
              <a:t>到汇编</a:t>
            </a:r>
            <a:endParaRPr kumimoji="1" lang="en-US" altLang="zh-CN" dirty="0"/>
          </a:p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  <a:endParaRPr kumimoji="1" lang="en-US" altLang="zh-CN" dirty="0"/>
          </a:p>
          <a:p>
            <a:r>
              <a:rPr kumimoji="1" lang="zh-CN" altLang="en-US" dirty="0"/>
              <a:t>理解机器执行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B5A8429-BCF6-164C-98F4-27E970C4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58659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932D9-3E1E-70CB-02E9-E9631D98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ISA/</a:t>
            </a:r>
            <a:r>
              <a:rPr kumimoji="1" lang="zh-CN" altLang="en-US" dirty="0"/>
              <a:t>汇编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BE6C2-0AD2-1753-2037-F3CD3E71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1F9C6-3239-027C-96F8-4484ABB6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4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75C7C-91B9-FAB9-7013-27851878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指令集架构与操作系统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99601-9FE4-E7B7-EAD0-292851E4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Architecture)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CPU</a:t>
            </a:r>
            <a:r>
              <a:rPr kumimoji="1" lang="zh-CN" altLang="en-US" dirty="0"/>
              <a:t>向软件（应用程序和操作系统）提供的接口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理解软件在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上的运行（操作系统设计、程序调试等）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操作系统中包含体系结构相关的汇编代码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操作系统启动代码（例如栈尚未设置）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部分操作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语言无法表达（例如获取系统状态、刷新</a:t>
            </a:r>
            <a:r>
              <a:rPr kumimoji="1" lang="en-US" altLang="zh-CN" dirty="0"/>
              <a:t>TLB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部分场景下，汇编代码比</a:t>
            </a:r>
            <a:r>
              <a:rPr kumimoji="1" lang="en-US" altLang="zh-CN" dirty="0"/>
              <a:t>C</a:t>
            </a:r>
            <a:r>
              <a:rPr kumimoji="1" lang="zh-CN" altLang="en-US" dirty="0"/>
              <a:t>代码高效很多（例如</a:t>
            </a:r>
            <a:r>
              <a:rPr kumimoji="1" lang="en-US" altLang="zh-CN" dirty="0" err="1"/>
              <a:t>memcpy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91F91-5F9B-6362-29BB-1B94D74C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79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55553-F46B-E65E-5725-97288F42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为什么选择</a:t>
            </a:r>
            <a:r>
              <a:rPr kumimoji="1" lang="en-US" altLang="zh-CN" dirty="0"/>
              <a:t>ARM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8EF29-D326-B494-E481-EFFC06320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CPU</a:t>
            </a:r>
            <a:r>
              <a:rPr kumimoji="1" lang="zh-CN" altLang="en-US" sz="2400" dirty="0"/>
              <a:t>体系结构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ARM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RISC-V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SPARC</a:t>
            </a:r>
            <a:r>
              <a:rPr kumimoji="1" lang="zh-CN" altLang="en-US" sz="2000" dirty="0"/>
              <a:t>、</a:t>
            </a:r>
            <a:r>
              <a:rPr kumimoji="1" lang="en-US" altLang="zh-CN" sz="2000" dirty="0" err="1"/>
              <a:t>LoongArch</a:t>
            </a:r>
            <a:r>
              <a:rPr kumimoji="1" lang="zh-CN" altLang="en-US" sz="2000" dirty="0"/>
              <a:t>（龙芯）、</a:t>
            </a:r>
            <a:r>
              <a:rPr kumimoji="1" lang="en-US" altLang="zh-CN" sz="2000" dirty="0"/>
              <a:t>…</a:t>
            </a:r>
          </a:p>
          <a:p>
            <a:r>
              <a:rPr kumimoji="1" lang="en-US" altLang="zh-CN" sz="2400" dirty="0"/>
              <a:t>ARM</a:t>
            </a:r>
            <a:r>
              <a:rPr kumimoji="1" lang="zh-CN" altLang="en-US" sz="2400" dirty="0"/>
              <a:t>的应用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终端：手机、平台、智能终端、边缘设备 </a:t>
            </a:r>
            <a:r>
              <a:rPr kumimoji="1" lang="en-US" altLang="zh-CN" sz="2000" dirty="0"/>
              <a:t>—</a:t>
            </a:r>
            <a:r>
              <a:rPr kumimoji="1" lang="zh-CN" altLang="en-US" sz="2000" dirty="0"/>
              <a:t> 垄断地位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车载：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问界智能座舱、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NVIDIA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Jetson/Orin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笔记本：</a:t>
            </a:r>
            <a:r>
              <a:rPr kumimoji="1" lang="en-US" altLang="zh-CN" sz="2000" dirty="0"/>
              <a:t>Apple</a:t>
            </a:r>
          </a:p>
          <a:p>
            <a:pPr lvl="1"/>
            <a:r>
              <a:rPr kumimoji="1" lang="zh-CN" altLang="en-US" sz="2000" dirty="0"/>
              <a:t>服务器：华为鲲鹏、亚马逊</a:t>
            </a:r>
            <a:r>
              <a:rPr kumimoji="1" lang="en" altLang="zh-CN" sz="2000" dirty="0"/>
              <a:t>Graviton</a:t>
            </a:r>
            <a:r>
              <a:rPr kumimoji="1" lang="zh-CN" altLang="en-US" sz="2000" dirty="0"/>
              <a:t>、</a:t>
            </a:r>
            <a:r>
              <a:rPr kumimoji="1" lang="en" altLang="zh-CN" sz="2000" dirty="0"/>
              <a:t>Ampere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NVIDIA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Grace</a:t>
            </a:r>
          </a:p>
          <a:p>
            <a:pPr lvl="1"/>
            <a:r>
              <a:rPr kumimoji="1" lang="zh-CN" altLang="en-US" sz="2000" dirty="0"/>
              <a:t>航天：</a:t>
            </a:r>
            <a:r>
              <a:rPr kumimoji="1" lang="en-US" altLang="zh-CN" sz="2000" dirty="0"/>
              <a:t>NASA</a:t>
            </a: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646BF-ADFA-6416-8263-44F043B3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6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从</a:t>
            </a:r>
            <a:r>
              <a:rPr kumimoji="1" lang="en-US" altLang="zh-CN" b="1" dirty="0"/>
              <a:t>C</a:t>
            </a:r>
            <a:r>
              <a:rPr kumimoji="1" lang="zh-CN" altLang="en-US" b="1" dirty="0"/>
              <a:t>语言到汇编语言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94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00D55-B67C-71F6-D027-F0DE0AB8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为什么硬件不能直接运行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语言的源代码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E0C3-B8AD-BC4F-F96E-314AC0E5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硬件设计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高级语言的表达能力很强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硬件理解高级语言的复杂度过高、难以高效设计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机器指令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格式相对固定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功能相对简单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二进制编码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F936D-5E06-287C-0D4D-1C054D9D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7B13-ED16-47D0-95C9-B973FA22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代码示例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4907AB-5055-4282-B49B-D8ED2E4E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9BEC5E-6F7C-DD44-B959-542AAA5DC031}"/>
              </a:ext>
            </a:extLst>
          </p:cNvPr>
          <p:cNvSpPr/>
          <p:nvPr/>
        </p:nvSpPr>
        <p:spPr>
          <a:xfrm>
            <a:off x="899592" y="1380172"/>
            <a:ext cx="7344816" cy="29546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 code in </a:t>
            </a:r>
            <a:r>
              <a:rPr lang="en-US" altLang="zh-CN" sz="2400" dirty="0" err="1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mstore.c</a:t>
            </a:r>
            <a:endParaRPr lang="en-US" altLang="zh-CN" sz="2400" dirty="0">
              <a:solidFill>
                <a:srgbClr val="006FC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long mult2(long, long);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(long x, long y, long *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dest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long t = mult2(x, y);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*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dest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= 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92F033-F66B-EECB-20FE-2C559A788CC6}"/>
              </a:ext>
            </a:extLst>
          </p:cNvPr>
          <p:cNvSpPr/>
          <p:nvPr/>
        </p:nvSpPr>
        <p:spPr>
          <a:xfrm>
            <a:off x="5220072" y="410046"/>
            <a:ext cx="3600400" cy="120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long mult2(long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a, long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return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*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82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4ED69-E29B-44DE-9DF6-815707CD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3167-ACD3-47B4-93ED-A18242D2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66BDF4-2701-4B3D-9F93-A94C38CDB5A8}"/>
              </a:ext>
            </a:extLst>
          </p:cNvPr>
          <p:cNvSpPr/>
          <p:nvPr/>
        </p:nvSpPr>
        <p:spPr>
          <a:xfrm>
            <a:off x="3455877" y="1489348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预处理器</a:t>
            </a:r>
            <a:r>
              <a:rPr lang="en-US" altLang="zh-CN" dirty="0"/>
              <a:t> (</a:t>
            </a:r>
            <a:r>
              <a:rPr lang="en-US" altLang="zh-CN" b="1" dirty="0" err="1"/>
              <a:t>cpp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B1B9B10-50FB-4BFF-987E-7A54A44F1FA3}"/>
              </a:ext>
            </a:extLst>
          </p:cNvPr>
          <p:cNvCxnSpPr>
            <a:cxnSpLocks/>
            <a:stCxn id="76" idx="2"/>
            <a:endCxn id="89" idx="0"/>
          </p:cNvCxnSpPr>
          <p:nvPr/>
        </p:nvCxnSpPr>
        <p:spPr>
          <a:xfrm>
            <a:off x="4355977" y="2002214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FEAC3BC6-9A2E-4657-8BF2-CC382CC598CD}"/>
              </a:ext>
            </a:extLst>
          </p:cNvPr>
          <p:cNvSpPr txBox="1"/>
          <p:nvPr/>
        </p:nvSpPr>
        <p:spPr>
          <a:xfrm>
            <a:off x="4392156" y="106997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源程序（文本）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38BE691-CBE4-492B-9380-B0F50F1DD874}"/>
              </a:ext>
            </a:extLst>
          </p:cNvPr>
          <p:cNvSpPr/>
          <p:nvPr/>
        </p:nvSpPr>
        <p:spPr>
          <a:xfrm>
            <a:off x="3455877" y="2425452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编译器</a:t>
            </a:r>
            <a:r>
              <a:rPr lang="en-US" altLang="zh-CN" dirty="0"/>
              <a:t> (</a:t>
            </a:r>
            <a:r>
              <a:rPr lang="en-US" altLang="zh-CN" b="1" dirty="0"/>
              <a:t>cc1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3B2E872-DE57-43D0-86DF-83558DBEB528}"/>
              </a:ext>
            </a:extLst>
          </p:cNvPr>
          <p:cNvSpPr/>
          <p:nvPr/>
        </p:nvSpPr>
        <p:spPr>
          <a:xfrm>
            <a:off x="3455877" y="3361556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汇编器</a:t>
            </a:r>
            <a:r>
              <a:rPr lang="en-US" altLang="zh-CN" dirty="0"/>
              <a:t> (</a:t>
            </a:r>
            <a:r>
              <a:rPr lang="en-US" altLang="zh-CN" b="1" dirty="0"/>
              <a:t>as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CE8B6EA-F875-416A-902B-4149FBB58A67}"/>
              </a:ext>
            </a:extLst>
          </p:cNvPr>
          <p:cNvSpPr/>
          <p:nvPr/>
        </p:nvSpPr>
        <p:spPr>
          <a:xfrm>
            <a:off x="3455877" y="4297660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链接器</a:t>
            </a:r>
            <a:r>
              <a:rPr lang="en-US" altLang="zh-CN" dirty="0"/>
              <a:t> (</a:t>
            </a:r>
            <a:r>
              <a:rPr lang="en-US" altLang="zh-CN" b="1" dirty="0" err="1"/>
              <a:t>ld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DB6501B-346A-4F69-9DAC-4EB92093B4CA}"/>
              </a:ext>
            </a:extLst>
          </p:cNvPr>
          <p:cNvCxnSpPr>
            <a:cxnSpLocks/>
          </p:cNvCxnSpPr>
          <p:nvPr/>
        </p:nvCxnSpPr>
        <p:spPr>
          <a:xfrm>
            <a:off x="4355977" y="2938318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2F957C7B-8D83-4BCE-A803-5867DC1216E1}"/>
              </a:ext>
            </a:extLst>
          </p:cNvPr>
          <p:cNvCxnSpPr>
            <a:cxnSpLocks/>
          </p:cNvCxnSpPr>
          <p:nvPr/>
        </p:nvCxnSpPr>
        <p:spPr>
          <a:xfrm>
            <a:off x="4355977" y="3874422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4E2591F-23D8-4589-B16F-55B5F27FEA8C}"/>
              </a:ext>
            </a:extLst>
          </p:cNvPr>
          <p:cNvCxnSpPr>
            <a:cxnSpLocks/>
          </p:cNvCxnSpPr>
          <p:nvPr/>
        </p:nvCxnSpPr>
        <p:spPr>
          <a:xfrm>
            <a:off x="4355977" y="4810526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6F389494-2DCF-4C36-A096-8799DA724382}"/>
              </a:ext>
            </a:extLst>
          </p:cNvPr>
          <p:cNvCxnSpPr>
            <a:cxnSpLocks/>
          </p:cNvCxnSpPr>
          <p:nvPr/>
        </p:nvCxnSpPr>
        <p:spPr>
          <a:xfrm>
            <a:off x="4355977" y="1066110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9" name="Text Box 5">
            <a:extLst>
              <a:ext uri="{FF2B5EF4-FFF2-40B4-BE49-F238E27FC236}">
                <a16:creationId xmlns:a16="http://schemas.microsoft.com/office/drawing/2014/main" id="{1C69FAEC-881C-441C-B020-C1D687C1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837" y="1032890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mstore.c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0" name="Text Box 5">
            <a:extLst>
              <a:ext uri="{FF2B5EF4-FFF2-40B4-BE49-F238E27FC236}">
                <a16:creationId xmlns:a16="http://schemas.microsoft.com/office/drawing/2014/main" id="{8CFD9362-3381-48B8-BAFC-34564BFB9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214" y="1987966"/>
            <a:ext cx="10951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mstore.i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1" name="Text Box 5">
            <a:extLst>
              <a:ext uri="{FF2B5EF4-FFF2-40B4-BE49-F238E27FC236}">
                <a16:creationId xmlns:a16="http://schemas.microsoft.com/office/drawing/2014/main" id="{D9FCBB0F-764A-4AC7-BB4C-5F65D758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591" y="2943042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mstore.s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2" name="Text Box 5">
            <a:extLst>
              <a:ext uri="{FF2B5EF4-FFF2-40B4-BE49-F238E27FC236}">
                <a16:creationId xmlns:a16="http://schemas.microsoft.com/office/drawing/2014/main" id="{DC248D8D-C718-4B24-B1BB-931FBDABD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968" y="3898118"/>
            <a:ext cx="12266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mstore.o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3" name="Text Box 5">
            <a:extLst>
              <a:ext uri="{FF2B5EF4-FFF2-40B4-BE49-F238E27FC236}">
                <a16:creationId xmlns:a16="http://schemas.microsoft.com/office/drawing/2014/main" id="{54978856-B336-48E4-B0D0-81CA2CC4F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359" y="4809958"/>
            <a:ext cx="9669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C82BA8F-602A-496B-B678-006A3B3E9C82}"/>
              </a:ext>
            </a:extLst>
          </p:cNvPr>
          <p:cNvSpPr txBox="1"/>
          <p:nvPr/>
        </p:nvSpPr>
        <p:spPr>
          <a:xfrm>
            <a:off x="4392155" y="2018744"/>
            <a:ext cx="2556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经预处理的源程序（文本）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FA5F714-EFFE-4FEE-B541-04FFC8474E78}"/>
              </a:ext>
            </a:extLst>
          </p:cNvPr>
          <p:cNvSpPr txBox="1"/>
          <p:nvPr/>
        </p:nvSpPr>
        <p:spPr>
          <a:xfrm>
            <a:off x="4392156" y="2967512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汇编程序（文本）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E389B6B-6800-4AC4-9B66-79E15A3FE003}"/>
              </a:ext>
            </a:extLst>
          </p:cNvPr>
          <p:cNvSpPr txBox="1"/>
          <p:nvPr/>
        </p:nvSpPr>
        <p:spPr>
          <a:xfrm>
            <a:off x="4392155" y="3916764"/>
            <a:ext cx="262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可重定向目标程序（二进制）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3A0B9F0-31BF-4A49-8FE9-38816AEA4A2B}"/>
              </a:ext>
            </a:extLst>
          </p:cNvPr>
          <p:cNvSpPr txBox="1"/>
          <p:nvPr/>
        </p:nvSpPr>
        <p:spPr>
          <a:xfrm>
            <a:off x="4392155" y="4866016"/>
            <a:ext cx="248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可执行目标程序（二进制）</a:t>
            </a:r>
          </a:p>
        </p:txBody>
      </p:sp>
    </p:spTree>
    <p:extLst>
      <p:ext uri="{BB962C8B-B14F-4D97-AF65-F5344CB8AC3E}">
        <p14:creationId xmlns:p14="http://schemas.microsoft.com/office/powerpoint/2010/main" val="233772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324730"/>
              </p:ext>
            </p:extLst>
          </p:nvPr>
        </p:nvGraphicFramePr>
        <p:xfrm>
          <a:off x="467544" y="1321600"/>
          <a:ext cx="8280000" cy="3840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9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mstore.o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00 00 00 94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f0 ff ff 97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52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graphicFrame>
        <p:nvGraphicFramePr>
          <p:cNvPr id="9" name="Group 14">
            <a:extLst>
              <a:ext uri="{FF2B5EF4-FFF2-40B4-BE49-F238E27FC236}">
                <a16:creationId xmlns:a16="http://schemas.microsoft.com/office/drawing/2014/main" id="{739D3EA2-941E-4FA8-BFDA-7D85A59BC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480935"/>
              </p:ext>
            </p:extLst>
          </p:nvPr>
        </p:nvGraphicFramePr>
        <p:xfrm>
          <a:off x="467544" y="1321600"/>
          <a:ext cx="8280920" cy="3840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95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mstore.o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00 00 00 94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f0 ff ff 97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67B38C5-2F84-44EA-9788-EC7D71DFF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39" y="4116805"/>
            <a:ext cx="8100442" cy="972443"/>
          </a:xfrm>
          <a:prstGeom prst="rect">
            <a:avLst/>
          </a:prstGeom>
          <a:solidFill>
            <a:srgbClr val="FFFFFF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188E2BF-9853-4306-8D09-51E1A9CD01E2}"/>
              </a:ext>
            </a:extLst>
          </p:cNvPr>
          <p:cNvSpPr txBox="1"/>
          <p:nvPr/>
        </p:nvSpPr>
        <p:spPr bwMode="auto">
          <a:xfrm>
            <a:off x="2684303" y="4375625"/>
            <a:ext cx="3416320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机器码</a:t>
            </a:r>
            <a:r>
              <a:rPr lang="zh-CN" altLang="en-US" sz="2800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很难直接理解</a:t>
            </a:r>
            <a:endParaRPr lang="zh-CN" altLang="en-US" sz="2000" dirty="0">
              <a:solidFill>
                <a:srgbClr val="BE38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弧形 1">
            <a:extLst>
              <a:ext uri="{FF2B5EF4-FFF2-40B4-BE49-F238E27FC236}">
                <a16:creationId xmlns:a16="http://schemas.microsoft.com/office/drawing/2014/main" id="{9510BFE8-FD9B-4EC3-9FF8-1A47D85F8F52}"/>
              </a:ext>
            </a:extLst>
          </p:cNvPr>
          <p:cNvSpPr/>
          <p:nvPr/>
        </p:nvSpPr>
        <p:spPr bwMode="auto">
          <a:xfrm>
            <a:off x="6189688" y="2650711"/>
            <a:ext cx="2138363" cy="685800"/>
          </a:xfrm>
          <a:prstGeom prst="arc">
            <a:avLst>
              <a:gd name="adj1" fmla="val 20974696"/>
              <a:gd name="adj2" fmla="val 8673988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4C2DB5-BF74-4773-A01B-AFD8F06A8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991" y="241734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0" dirty="0">
                <a:solidFill>
                  <a:srgbClr val="BE384A"/>
                </a:solidFill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endParaRPr lang="zh-CN" altLang="en-US" sz="1800" b="0" dirty="0">
              <a:solidFill>
                <a:srgbClr val="BE384A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136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9" name="Group 14">
            <a:extLst>
              <a:ext uri="{FF2B5EF4-FFF2-40B4-BE49-F238E27FC236}">
                <a16:creationId xmlns:a16="http://schemas.microsoft.com/office/drawing/2014/main" id="{739D3EA2-941E-4FA8-BFDA-7D85A59BC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476896"/>
              </p:ext>
            </p:extLst>
          </p:nvPr>
        </p:nvGraphicFramePr>
        <p:xfrm>
          <a:off x="467544" y="1321600"/>
          <a:ext cx="8280920" cy="2773518"/>
        </p:xfrm>
        <a:graphic>
          <a:graphicData uri="http://schemas.openxmlformats.org/drawingml/2006/table">
            <a:tbl>
              <a:tblPr/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95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弧形 1">
            <a:extLst>
              <a:ext uri="{FF2B5EF4-FFF2-40B4-BE49-F238E27FC236}">
                <a16:creationId xmlns:a16="http://schemas.microsoft.com/office/drawing/2014/main" id="{9510BFE8-FD9B-4EC3-9FF8-1A47D85F8F52}"/>
              </a:ext>
            </a:extLst>
          </p:cNvPr>
          <p:cNvSpPr/>
          <p:nvPr/>
        </p:nvSpPr>
        <p:spPr bwMode="auto">
          <a:xfrm>
            <a:off x="6189688" y="2650711"/>
            <a:ext cx="2138363" cy="685800"/>
          </a:xfrm>
          <a:prstGeom prst="arc">
            <a:avLst>
              <a:gd name="adj1" fmla="val 20974696"/>
              <a:gd name="adj2" fmla="val 8673988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algn="ctr">
              <a:defRPr/>
            </a:pPr>
            <a:endParaRPr lang="zh-CN" altLang="en-US">
              <a:solidFill>
                <a:srgbClr val="BE384A"/>
              </a:solidFill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4C2DB5-BF74-4773-A01B-AFD8F06A8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991" y="241734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0" dirty="0">
                <a:solidFill>
                  <a:srgbClr val="BE384A"/>
                </a:solidFill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endParaRPr lang="zh-CN" altLang="en-US" sz="1800" b="0" dirty="0">
              <a:solidFill>
                <a:srgbClr val="BE384A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40725F6-CBD2-F54E-969D-DF6343E68B2D}"/>
              </a:ext>
            </a:extLst>
          </p:cNvPr>
          <p:cNvSpPr txBox="1"/>
          <p:nvPr/>
        </p:nvSpPr>
        <p:spPr bwMode="auto">
          <a:xfrm>
            <a:off x="3797525" y="2622312"/>
            <a:ext cx="1620957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适合阅读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0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908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俯瞰指令执行：程序代码在哪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081EB-B181-CABA-D76B-6707696CF6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168F08D-5BAF-EE63-5735-526D5453F10D}"/>
              </a:ext>
            </a:extLst>
          </p:cNvPr>
          <p:cNvGrpSpPr/>
          <p:nvPr/>
        </p:nvGrpSpPr>
        <p:grpSpPr>
          <a:xfrm>
            <a:off x="3707904" y="1057300"/>
            <a:ext cx="2160240" cy="1402436"/>
            <a:chOff x="6309208" y="1326649"/>
            <a:chExt cx="2160240" cy="1402436"/>
          </a:xfrm>
        </p:grpSpPr>
        <p:sp>
          <p:nvSpPr>
            <p:cNvPr id="8" name="竖卷形 7">
              <a:extLst>
                <a:ext uri="{FF2B5EF4-FFF2-40B4-BE49-F238E27FC236}">
                  <a16:creationId xmlns:a16="http://schemas.microsoft.com/office/drawing/2014/main" id="{687B2AFF-47BA-EA99-369E-39F1DD16C33A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F2C0C2E-FBC6-E517-C15A-53819344A8FD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A0F7126-07E7-646E-8BC6-5667D69FB55A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4" name="竖卷形 13">
            <a:extLst>
              <a:ext uri="{FF2B5EF4-FFF2-40B4-BE49-F238E27FC236}">
                <a16:creationId xmlns:a16="http://schemas.microsoft.com/office/drawing/2014/main" id="{FA5C3236-57B5-1947-AEA8-A4AA2DDFC6B1}"/>
              </a:ext>
            </a:extLst>
          </p:cNvPr>
          <p:cNvSpPr/>
          <p:nvPr/>
        </p:nvSpPr>
        <p:spPr>
          <a:xfrm>
            <a:off x="6963878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3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5.55112E-17 L 0.28351 0.135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6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俯瞰指令执行：代码加载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C1ED11-89A7-9D06-64F4-CDCF32D593D2}"/>
              </a:ext>
            </a:extLst>
          </p:cNvPr>
          <p:cNvGrpSpPr/>
          <p:nvPr/>
        </p:nvGrpSpPr>
        <p:grpSpPr>
          <a:xfrm>
            <a:off x="6300192" y="1815104"/>
            <a:ext cx="2160240" cy="1402436"/>
            <a:chOff x="6309208" y="1326649"/>
            <a:chExt cx="2160240" cy="1402436"/>
          </a:xfrm>
        </p:grpSpPr>
        <p:sp>
          <p:nvSpPr>
            <p:cNvPr id="12" name="竖卷形 11">
              <a:extLst>
                <a:ext uri="{FF2B5EF4-FFF2-40B4-BE49-F238E27FC236}">
                  <a16:creationId xmlns:a16="http://schemas.microsoft.com/office/drawing/2014/main" id="{3C92ADC2-0E00-866D-B320-FDE2DF319B13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5A7B815-B4C1-7420-292D-A69B8C39B662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9AD72D8-5A7C-0B93-C621-C598BB47F7D3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E9152-2A21-CB6F-A406-D31BB0DA3D4B}"/>
              </a:ext>
            </a:extLst>
          </p:cNvPr>
          <p:cNvSpPr txBox="1"/>
          <p:nvPr/>
        </p:nvSpPr>
        <p:spPr>
          <a:xfrm>
            <a:off x="6235657" y="434867"/>
            <a:ext cx="2492990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问：谁负责加载程序？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88D2DA-B27D-A746-A2D4-9CB8AFFBA3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17" name="竖卷形 16">
            <a:extLst>
              <a:ext uri="{FF2B5EF4-FFF2-40B4-BE49-F238E27FC236}">
                <a16:creationId xmlns:a16="http://schemas.microsoft.com/office/drawing/2014/main" id="{56E18F03-D0B9-5B46-A94C-B4BFF7E98E02}"/>
              </a:ext>
            </a:extLst>
          </p:cNvPr>
          <p:cNvSpPr/>
          <p:nvPr/>
        </p:nvSpPr>
        <p:spPr>
          <a:xfrm>
            <a:off x="6963878" y="4346887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217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9132 -0.003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-1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6406 0.0022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12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俯瞰指令执行：指令位置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05595" y="1480537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</a:rPr>
              <a:t>PC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C7B2D56C-6ED5-7983-09C2-8B0B98BB1221}"/>
              </a:ext>
            </a:extLst>
          </p:cNvPr>
          <p:cNvSpPr/>
          <p:nvPr/>
        </p:nvSpPr>
        <p:spPr>
          <a:xfrm>
            <a:off x="835491" y="1497311"/>
            <a:ext cx="432344" cy="2296293"/>
          </a:xfrm>
          <a:custGeom>
            <a:avLst/>
            <a:gdLst>
              <a:gd name="connsiteX0" fmla="*/ 368469 w 368469"/>
              <a:gd name="connsiteY0" fmla="*/ 2278380 h 2278380"/>
              <a:gd name="connsiteX1" fmla="*/ 2709 w 368469"/>
              <a:gd name="connsiteY1" fmla="*/ 632460 h 2278380"/>
              <a:gd name="connsiteX2" fmla="*/ 231309 w 368469"/>
              <a:gd name="connsiteY2" fmla="*/ 0 h 2278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469" h="2278380">
                <a:moveTo>
                  <a:pt x="368469" y="2278380"/>
                </a:moveTo>
                <a:cubicBezTo>
                  <a:pt x="197019" y="1645285"/>
                  <a:pt x="25569" y="1012190"/>
                  <a:pt x="2709" y="632460"/>
                </a:cubicBezTo>
                <a:cubicBezTo>
                  <a:pt x="-20151" y="252730"/>
                  <a:pt x="105579" y="126365"/>
                  <a:pt x="23130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61E552-011D-244F-A438-4179DDA4B736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4" name="竖卷形 23">
            <a:extLst>
              <a:ext uri="{FF2B5EF4-FFF2-40B4-BE49-F238E27FC236}">
                <a16:creationId xmlns:a16="http://schemas.microsoft.com/office/drawing/2014/main" id="{B8E79605-EEE4-3440-9A7A-357581982AAE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7839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俯瞰指令执行：更新</a:t>
            </a:r>
            <a:r>
              <a:rPr kumimoji="1" lang="en-US" altLang="zh-CN" dirty="0"/>
              <a:t>PC</a:t>
            </a:r>
            <a:r>
              <a:rPr kumimoji="1" lang="zh-CN" altLang="en-US" dirty="0"/>
              <a:t>找到下一条指令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15616" y="1477251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5B1DE7DF-F4D1-8556-35C1-DE635AC12F56}"/>
              </a:ext>
            </a:extLst>
          </p:cNvPr>
          <p:cNvSpPr/>
          <p:nvPr/>
        </p:nvSpPr>
        <p:spPr>
          <a:xfrm>
            <a:off x="1115616" y="1634426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759C0F65-61BE-C7F9-7631-A46B4366B074}"/>
              </a:ext>
            </a:extLst>
          </p:cNvPr>
          <p:cNvSpPr/>
          <p:nvPr/>
        </p:nvSpPr>
        <p:spPr>
          <a:xfrm>
            <a:off x="1115616" y="1795238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06E61-A031-8F77-1A52-784097163A80}"/>
              </a:ext>
            </a:extLst>
          </p:cNvPr>
          <p:cNvSpPr txBox="1"/>
          <p:nvPr/>
        </p:nvSpPr>
        <p:spPr>
          <a:xfrm>
            <a:off x="-26044" y="15258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+4</a:t>
            </a:r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B4DFE4-7A8F-1A4E-940B-B819A3053814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5" name="竖卷形 24">
            <a:extLst>
              <a:ext uri="{FF2B5EF4-FFF2-40B4-BE49-F238E27FC236}">
                <a16:creationId xmlns:a16="http://schemas.microsoft.com/office/drawing/2014/main" id="{6B1EB07D-37E0-6A45-8F01-6F0C71D9425D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06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3" grpId="1" animBg="1"/>
      <p:bldP spid="14" grpId="0" animBg="1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俯瞰指令执行：数据在哪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5" y="1657775"/>
            <a:ext cx="2808313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20" name="圆柱体 19">
            <a:extLst>
              <a:ext uri="{FF2B5EF4-FFF2-40B4-BE49-F238E27FC236}">
                <a16:creationId xmlns:a16="http://schemas.microsoft.com/office/drawing/2014/main" id="{71B1445F-C9C4-8A7F-2787-04B3135FECE1}"/>
              </a:ext>
            </a:extLst>
          </p:cNvPr>
          <p:cNvSpPr/>
          <p:nvPr/>
        </p:nvSpPr>
        <p:spPr>
          <a:xfrm>
            <a:off x="7092280" y="198801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7A0BCD-DC81-45F2-24B1-6B53C5443F58}"/>
              </a:ext>
            </a:extLst>
          </p:cNvPr>
          <p:cNvSpPr txBox="1"/>
          <p:nvPr/>
        </p:nvSpPr>
        <p:spPr>
          <a:xfrm>
            <a:off x="2193881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8AD9F6-ACB1-F5E1-74CD-7A8945F4B44A}"/>
              </a:ext>
            </a:extLst>
          </p:cNvPr>
          <p:cNvSpPr txBox="1"/>
          <p:nvPr/>
        </p:nvSpPr>
        <p:spPr>
          <a:xfrm>
            <a:off x="4965965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数据存放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FADE9D-D4AE-B486-4BB3-54CFEF4AA010}"/>
              </a:ext>
            </a:extLst>
          </p:cNvPr>
          <p:cNvSpPr txBox="1"/>
          <p:nvPr/>
        </p:nvSpPr>
        <p:spPr>
          <a:xfrm>
            <a:off x="1960460" y="3747454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245AE-B584-7C0F-C579-3D3D33F92156}"/>
              </a:ext>
            </a:extLst>
          </p:cNvPr>
          <p:cNvSpPr txBox="1"/>
          <p:nvPr/>
        </p:nvSpPr>
        <p:spPr>
          <a:xfrm>
            <a:off x="1960459" y="4025830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842361-0B18-74D4-21D1-3370D7559011}"/>
              </a:ext>
            </a:extLst>
          </p:cNvPr>
          <p:cNvSpPr txBox="1"/>
          <p:nvPr/>
        </p:nvSpPr>
        <p:spPr>
          <a:xfrm>
            <a:off x="1960458" y="4297171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9" name="左右箭头 28">
            <a:extLst>
              <a:ext uri="{FF2B5EF4-FFF2-40B4-BE49-F238E27FC236}">
                <a16:creationId xmlns:a16="http://schemas.microsoft.com/office/drawing/2014/main" id="{8453FE6F-51B1-AB47-4DE6-EF80C6D4F0E6}"/>
              </a:ext>
            </a:extLst>
          </p:cNvPr>
          <p:cNvSpPr/>
          <p:nvPr/>
        </p:nvSpPr>
        <p:spPr>
          <a:xfrm>
            <a:off x="2915816" y="4081636"/>
            <a:ext cx="720080" cy="2424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409383-043A-FF4F-7534-0A203D84A075}"/>
              </a:ext>
            </a:extLst>
          </p:cNvPr>
          <p:cNvSpPr txBox="1"/>
          <p:nvPr/>
        </p:nvSpPr>
        <p:spPr>
          <a:xfrm>
            <a:off x="2750805" y="4281782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数据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rgbClr val="C00000"/>
                </a:solidFill>
              </a:rPr>
              <a:t>load/store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0A3711-5CA2-A141-9CD3-989EE86B007F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32" name="竖卷形 31">
            <a:extLst>
              <a:ext uri="{FF2B5EF4-FFF2-40B4-BE49-F238E27FC236}">
                <a16:creationId xmlns:a16="http://schemas.microsoft.com/office/drawing/2014/main" id="{3998AF06-EB73-5D4C-84B8-CB575F3EA769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柱体 24">
            <a:extLst>
              <a:ext uri="{FF2B5EF4-FFF2-40B4-BE49-F238E27FC236}">
                <a16:creationId xmlns:a16="http://schemas.microsoft.com/office/drawing/2014/main" id="{E448E544-22E3-937A-6942-7532C5CCEC19}"/>
              </a:ext>
            </a:extLst>
          </p:cNvPr>
          <p:cNvSpPr/>
          <p:nvPr/>
        </p:nvSpPr>
        <p:spPr>
          <a:xfrm>
            <a:off x="6636685" y="429717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83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0.00723 L -0.19809 0.00723 " pathEditMode="relative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0" grpId="0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4430F-B0FD-4612-9907-BD221DCC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寄存器数据搬移指令</a:t>
            </a:r>
            <a:br>
              <a:rPr kumimoji="1" lang="en-US" altLang="zh-CN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19F8B4-E4B4-45C8-A290-6AFC4C5A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81A1C-1467-412D-B613-61F722D3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526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寄存器：</a:t>
            </a:r>
            <a:r>
              <a:rPr kumimoji="1" lang="zh-CN" altLang="en-US" dirty="0"/>
              <a:t>处理器内部的高速存储单元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2108919" y="15700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3380506" y="16239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5906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W0</a:t>
            </a:r>
            <a:endParaRPr lang="zh-CN" altLang="en-US" sz="1400">
              <a:latin typeface="+mn-lt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5906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2108919" y="1971650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3380506" y="2025625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993875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</a:t>
            </a:r>
            <a:endParaRPr lang="zh-CN" altLang="en-US" sz="1400">
              <a:latin typeface="+mn-lt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993875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2108919" y="2528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3380506" y="2582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551087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W7</a:t>
            </a:r>
            <a:endParaRPr lang="zh-CN" altLang="en-US" sz="1400">
              <a:latin typeface="+mn-lt"/>
            </a:endParaRPr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551087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X7</a:t>
            </a:r>
            <a:endParaRPr lang="zh-CN" altLang="en-US" sz="1400">
              <a:latin typeface="+mn-lt"/>
            </a:endParaRPr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506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63</a:t>
            </a:r>
            <a:endParaRPr lang="zh-CN" altLang="en-US" sz="1200">
              <a:latin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69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31</a:t>
            </a:r>
            <a:endParaRPr lang="zh-CN" altLang="en-US" sz="1200">
              <a:latin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869" y="13096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0</a:t>
            </a:r>
            <a:endParaRPr lang="zh-CN" altLang="en-US" sz="1200">
              <a:latin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2108919" y="29352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3380506" y="29892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95590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W8</a:t>
            </a:r>
            <a:endParaRPr lang="zh-CN" altLang="en-US" sz="1400">
              <a:latin typeface="+mn-lt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95590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X8</a:t>
            </a:r>
            <a:endParaRPr lang="zh-CN" altLang="en-US" sz="1400">
              <a:latin typeface="+mn-lt"/>
            </a:endParaRPr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2170087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2108919" y="33353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3380506" y="33892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3559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W9</a:t>
            </a:r>
            <a:endParaRPr lang="zh-CN" altLang="en-US" sz="1400">
              <a:latin typeface="+mn-lt"/>
            </a:endParaRPr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3559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X9</a:t>
            </a:r>
            <a:endParaRPr lang="zh-CN" altLang="en-US" sz="1400">
              <a:latin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2108919" y="3892525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3380506" y="3946500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913162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W15</a:t>
            </a:r>
            <a:endParaRPr lang="zh-CN" altLang="en-US" sz="1400">
              <a:latin typeface="+mn-lt"/>
            </a:endParaRPr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91316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X15</a:t>
            </a:r>
            <a:endParaRPr lang="zh-CN" altLang="en-US" sz="1400">
              <a:latin typeface="+mn-lt"/>
            </a:endParaRPr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3511525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2108919" y="4306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3380506" y="4360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4329087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W16</a:t>
            </a:r>
            <a:endParaRPr lang="zh-CN" altLang="en-US" sz="1400">
              <a:latin typeface="+mn-lt"/>
            </a:endParaRPr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4329087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X16</a:t>
            </a:r>
            <a:endParaRPr lang="zh-CN" altLang="en-US" sz="1400">
              <a:latin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5153173" y="1574820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6424761" y="1628795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159704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W17</a:t>
            </a:r>
            <a:endParaRPr lang="zh-CN" altLang="en-US" sz="1400">
              <a:latin typeface="+mn-lt"/>
            </a:endParaRPr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159704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X17</a:t>
            </a:r>
            <a:endParaRPr lang="zh-CN" altLang="en-US" sz="1400">
              <a:latin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5153173" y="1985982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6424761" y="203995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2008207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W18</a:t>
            </a:r>
            <a:endParaRPr lang="zh-CN" altLang="en-US" sz="1400">
              <a:latin typeface="+mn-lt"/>
            </a:endParaRPr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2008207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X18</a:t>
            </a:r>
            <a:endParaRPr lang="zh-CN" altLang="en-US" sz="1400">
              <a:latin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5156348" y="37877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6427936" y="38417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8084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W30</a:t>
            </a:r>
            <a:endParaRPr lang="zh-CN" altLang="en-US" sz="1400">
              <a:latin typeface="+mn-lt"/>
            </a:endParaRPr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8084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X30</a:t>
            </a:r>
            <a:endParaRPr lang="zh-CN" altLang="en-US" sz="1400">
              <a:latin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5156348" y="2397145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6427936" y="245112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417782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W19</a:t>
            </a:r>
            <a:endParaRPr lang="zh-CN" altLang="en-US" sz="1400">
              <a:latin typeface="+mn-lt"/>
            </a:endParaRPr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41778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X19</a:t>
            </a:r>
            <a:endParaRPr lang="zh-CN" altLang="en-US" sz="1400">
              <a:latin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5156348" y="2954357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6427936" y="300833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97499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W28</a:t>
            </a:r>
            <a:endParaRPr lang="zh-CN" altLang="en-US" sz="1400">
              <a:latin typeface="+mn-lt"/>
            </a:endParaRPr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97499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X28</a:t>
            </a:r>
            <a:endParaRPr lang="zh-CN" altLang="en-US" sz="1400">
              <a:latin typeface="+mn-lt"/>
            </a:endParaRPr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248" y="2571770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5156348" y="33686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6427936" y="34226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3893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W29</a:t>
            </a:r>
            <a:endParaRPr lang="zh-CN" altLang="en-US" sz="1400">
              <a:latin typeface="+mn-lt"/>
            </a:endParaRPr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3893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X29</a:t>
            </a:r>
            <a:endParaRPr lang="zh-CN" altLang="en-US" sz="1400">
              <a:latin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4C80A5C-06BD-BA46-BFC4-430FB9581BD3}"/>
              </a:ext>
            </a:extLst>
          </p:cNvPr>
          <p:cNvSpPr txBox="1"/>
          <p:nvPr/>
        </p:nvSpPr>
        <p:spPr>
          <a:xfrm>
            <a:off x="409775" y="4400575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X0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X30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64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7940DD2-E21C-694C-A798-FF6B45DC61B1}"/>
              </a:ext>
            </a:extLst>
          </p:cNvPr>
          <p:cNvCxnSpPr/>
          <p:nvPr/>
        </p:nvCxnSpPr>
        <p:spPr>
          <a:xfrm flipH="1">
            <a:off x="1763688" y="4400575"/>
            <a:ext cx="394443" cy="257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0F72846F-C65B-9545-92BB-36C0FF93515D}"/>
              </a:ext>
            </a:extLst>
          </p:cNvPr>
          <p:cNvSpPr txBox="1"/>
          <p:nvPr/>
        </p:nvSpPr>
        <p:spPr>
          <a:xfrm>
            <a:off x="6775598" y="4402556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W0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W30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32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5C18D5D-B703-094E-A7AF-96F8C722D27A}"/>
              </a:ext>
            </a:extLst>
          </p:cNvPr>
          <p:cNvCxnSpPr>
            <a:cxnSpLocks/>
          </p:cNvCxnSpPr>
          <p:nvPr/>
        </p:nvCxnSpPr>
        <p:spPr>
          <a:xfrm>
            <a:off x="6985869" y="4033873"/>
            <a:ext cx="250427" cy="448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3C18E5C-9782-EB41-B612-E007D86CAA6F}"/>
              </a:ext>
            </a:extLst>
          </p:cNvPr>
          <p:cNvSpPr txBox="1"/>
          <p:nvPr/>
        </p:nvSpPr>
        <p:spPr>
          <a:xfrm>
            <a:off x="2488784" y="5164040"/>
            <a:ext cx="4286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ARMv8</a:t>
            </a:r>
            <a:r>
              <a:rPr lang="zh-CN" altLang="en-US" b="1" dirty="0"/>
              <a:t>寄存器</a:t>
            </a:r>
          </a:p>
        </p:txBody>
      </p:sp>
    </p:spTree>
    <p:extLst>
      <p:ext uri="{BB962C8B-B14F-4D97-AF65-F5344CB8AC3E}">
        <p14:creationId xmlns:p14="http://schemas.microsoft.com/office/powerpoint/2010/main" val="3447051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68AC641-68AD-491B-8ECB-501E7013D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寄存器间的数据搬移指令</a:t>
            </a:r>
            <a:endParaRPr lang="en-US" altLang="zh-CN" dirty="0">
              <a:latin typeface="+mj-ea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FDA86D1-B818-4A3E-A471-A459FD2E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指令格式：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mov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dst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源操作数 </a:t>
            </a:r>
            <a:r>
              <a:rPr lang="en-US" altLang="zh-CN" b="1" dirty="0" err="1">
                <a:solidFill>
                  <a:srgbClr val="C00000"/>
                </a:solidFill>
                <a:latin typeface="+mj-ea"/>
              </a:rPr>
              <a:t>src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可以是：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立即数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目的操作数 </a:t>
            </a:r>
            <a:r>
              <a:rPr lang="en-US" altLang="zh-CN" b="1" dirty="0">
                <a:solidFill>
                  <a:srgbClr val="C00000"/>
                </a:solidFill>
                <a:latin typeface="+mj-ea"/>
              </a:rPr>
              <a:t>dst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必须是寄存器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被搬移数据的大小：由目的操作数决定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C756EF1D-A151-4F5E-95DA-611D7BD8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182F96-5599-4ED4-9D8E-3B161C87794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2C43BB7A-AF49-4120-94B9-A53DC19C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644D63-9626-40B4-ACA0-744B8E2892C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947838E-C0E7-45A1-B625-92A23D584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实例：寄存器间的数据搬移指令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65C18E1-84CD-4A47-A237-3E3842861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5616" y="1766097"/>
            <a:ext cx="8229600" cy="3683000"/>
          </a:xfrm>
        </p:spPr>
        <p:txBody>
          <a:bodyPr/>
          <a:lstStyle/>
          <a:p>
            <a:pPr marL="444482" indent="-444482">
              <a:lnSpc>
                <a:spcPct val="200000"/>
              </a:lnSpc>
              <a:buNone/>
            </a:pPr>
            <a:r>
              <a:rPr lang="en-US" altLang="zh-CN" sz="1667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		w0, #1 		   	</a:t>
            </a:r>
            <a:r>
              <a:rPr lang="zh-CN" altLang="en-US" sz="1667" dirty="0">
                <a:solidFill>
                  <a:srgbClr val="006FC0"/>
                </a:solidFill>
                <a:latin typeface="+mj-ea"/>
                <a:ea typeface="+mj-ea"/>
                <a:cs typeface="Consolas" panose="020B0609020204030204" pitchFamily="49" charset="0"/>
              </a:rPr>
              <a:t>立即数</a:t>
            </a:r>
            <a:r>
              <a:rPr lang="en-US" altLang="zh-CN" sz="1667" dirty="0">
                <a:solidFill>
                  <a:srgbClr val="006F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-&gt;</a:t>
            </a:r>
            <a:r>
              <a:rPr lang="zh-CN" altLang="en-US" sz="1667" dirty="0">
                <a:solidFill>
                  <a:srgbClr val="006FC0"/>
                </a:solidFill>
                <a:latin typeface="+mj-ea"/>
                <a:ea typeface="+mj-ea"/>
                <a:cs typeface="Consolas" panose="020B0609020204030204" pitchFamily="49" charset="0"/>
              </a:rPr>
              <a:t>寄存器</a:t>
            </a:r>
            <a:r>
              <a:rPr lang="en-US" altLang="zh-CN" sz="1667" dirty="0">
                <a:solidFill>
                  <a:srgbClr val="006F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4 bytes</a:t>
            </a:r>
          </a:p>
          <a:p>
            <a:pPr marL="444482" indent="-444482">
              <a:lnSpc>
                <a:spcPct val="200000"/>
              </a:lnSpc>
              <a:buNone/>
            </a:pPr>
            <a:r>
              <a:rPr lang="en-US" altLang="zh-CN" sz="1667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  	x0, x1      	   	</a:t>
            </a:r>
            <a:r>
              <a:rPr lang="zh-CN" altLang="en-US" sz="1667" dirty="0">
                <a:solidFill>
                  <a:srgbClr val="006FC0"/>
                </a:solidFill>
                <a:latin typeface="+mj-ea"/>
                <a:ea typeface="+mj-ea"/>
                <a:cs typeface="Consolas" panose="020B0609020204030204" pitchFamily="49" charset="0"/>
              </a:rPr>
              <a:t>寄存器</a:t>
            </a:r>
            <a:r>
              <a:rPr lang="en-US" altLang="zh-CN" sz="1667" dirty="0">
                <a:solidFill>
                  <a:srgbClr val="006F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-&gt;</a:t>
            </a:r>
            <a:r>
              <a:rPr lang="zh-CN" altLang="en-US" sz="1667" dirty="0">
                <a:solidFill>
                  <a:srgbClr val="006FC0"/>
                </a:solidFill>
                <a:latin typeface="+mj-ea"/>
                <a:ea typeface="+mj-ea"/>
                <a:cs typeface="Consolas" panose="020B0609020204030204" pitchFamily="49" charset="0"/>
              </a:rPr>
              <a:t>寄存器</a:t>
            </a:r>
            <a:r>
              <a:rPr lang="en-US" altLang="zh-CN" sz="1667" dirty="0">
                <a:solidFill>
                  <a:srgbClr val="006F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8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4430F-B0FD-4612-9907-BD221DCC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算术与逻辑运算指令</a:t>
            </a:r>
            <a:br>
              <a:rPr kumimoji="1" lang="en-US" altLang="zh-CN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19F8B4-E4B4-45C8-A290-6AFC4C5A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81A1C-1467-412D-B613-61F722D3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974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288D931-B31C-40ED-9734-69889703F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2755" name="Group 67">
            <a:extLst>
              <a:ext uri="{FF2B5EF4-FFF2-40B4-BE49-F238E27FC236}">
                <a16:creationId xmlns:a16="http://schemas.microsoft.com/office/drawing/2014/main" id="{B02AB896-CF57-4FF6-8C85-5047E144C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038513"/>
              </p:ext>
            </p:extLst>
          </p:nvPr>
        </p:nvGraphicFramePr>
        <p:xfrm>
          <a:off x="457200" y="1333500"/>
          <a:ext cx="8229599" cy="2591028"/>
        </p:xfrm>
        <a:graphic>
          <a:graphicData uri="http://schemas.openxmlformats.org/drawingml/2006/table">
            <a:tbl>
              <a:tblPr/>
              <a:tblGrid>
                <a:gridCol w="289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+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-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减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乘（</a:t>
                      </a:r>
                      <a:r>
                        <a:rPr kumimoji="1" lang="en-US" altLang="zh-CN" sz="2000" dirty="0" err="1"/>
                        <a:t>smul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umul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÷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除（</a:t>
                      </a:r>
                      <a:r>
                        <a:rPr kumimoji="1" lang="en-US" altLang="zh-CN" sz="2000" dirty="0" err="1"/>
                        <a:t>sdiv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udiv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-Rn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取相反数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5B8425E-0BB3-4913-8B2A-ED3077E4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A16687-571E-453C-97B6-83F62D501F1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655212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E8760-3E31-7400-C363-C64AD26B6341}"/>
              </a:ext>
            </a:extLst>
          </p:cNvPr>
          <p:cNvSpPr/>
          <p:nvPr/>
        </p:nvSpPr>
        <p:spPr>
          <a:xfrm>
            <a:off x="1907704" y="3937620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cxnSp>
        <p:nvCxnSpPr>
          <p:cNvPr id="3" name="直接箭头连接符 7">
            <a:extLst>
              <a:ext uri="{FF2B5EF4-FFF2-40B4-BE49-F238E27FC236}">
                <a16:creationId xmlns:a16="http://schemas.microsoft.com/office/drawing/2014/main" id="{82953E51-7DF5-826B-FF52-864478B2DFE1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3650740" y="4231491"/>
            <a:ext cx="417235" cy="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49">
            <a:extLst>
              <a:ext uri="{FF2B5EF4-FFF2-40B4-BE49-F238E27FC236}">
                <a16:creationId xmlns:a16="http://schemas.microsoft.com/office/drawing/2014/main" id="{3970DB9B-E393-CB6B-5B62-11AC9681142B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470255" y="4230135"/>
            <a:ext cx="437449" cy="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副标题 5">
            <a:extLst>
              <a:ext uri="{FF2B5EF4-FFF2-40B4-BE49-F238E27FC236}">
                <a16:creationId xmlns:a16="http://schemas.microsoft.com/office/drawing/2014/main" id="{9C758D38-855D-FE44-D2AE-4D84F938530F}"/>
              </a:ext>
            </a:extLst>
          </p:cNvPr>
          <p:cNvSpPr txBox="1">
            <a:spLocks/>
          </p:cNvSpPr>
          <p:nvPr/>
        </p:nvSpPr>
        <p:spPr>
          <a:xfrm>
            <a:off x="177280" y="4017849"/>
            <a:ext cx="769971" cy="851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kumimoji="1" lang="en" altLang="zh-CN" sz="16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2727B3-A1AB-1EE1-D763-68B41F2D4F57}"/>
              </a:ext>
            </a:extLst>
          </p:cNvPr>
          <p:cNvSpPr txBox="1"/>
          <p:nvPr/>
        </p:nvSpPr>
        <p:spPr>
          <a:xfrm>
            <a:off x="214688" y="3992759"/>
            <a:ext cx="978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最高位被丢弃</a:t>
            </a:r>
          </a:p>
        </p:txBody>
      </p:sp>
      <p:cxnSp>
        <p:nvCxnSpPr>
          <p:cNvPr id="7" name="直接箭头连接符 54">
            <a:extLst>
              <a:ext uri="{FF2B5EF4-FFF2-40B4-BE49-F238E27FC236}">
                <a16:creationId xmlns:a16="http://schemas.microsoft.com/office/drawing/2014/main" id="{A2ED4225-F857-DA25-3C12-568DD124E03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026286" y="4294882"/>
            <a:ext cx="461553" cy="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5ADD015-7F9E-ACE3-589E-A3E0FC6E8D23}"/>
              </a:ext>
            </a:extLst>
          </p:cNvPr>
          <p:cNvSpPr/>
          <p:nvPr/>
        </p:nvSpPr>
        <p:spPr>
          <a:xfrm>
            <a:off x="8502648" y="3941893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56">
            <a:extLst>
              <a:ext uri="{FF2B5EF4-FFF2-40B4-BE49-F238E27FC236}">
                <a16:creationId xmlns:a16="http://schemas.microsoft.com/office/drawing/2014/main" id="{4647F5A3-F5E7-918F-B839-04F234267807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flipH="1">
            <a:off x="8487840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57">
            <a:extLst>
              <a:ext uri="{FF2B5EF4-FFF2-40B4-BE49-F238E27FC236}">
                <a16:creationId xmlns:a16="http://schemas.microsoft.com/office/drawing/2014/main" id="{AEC795D9-C6E4-D256-F2D9-CEE681CB0AAA}"/>
              </a:ext>
            </a:extLst>
          </p:cNvPr>
          <p:cNvCxnSpPr>
            <a:cxnSpLocks/>
            <a:stCxn id="8" idx="6"/>
            <a:endCxn id="11" idx="6"/>
          </p:cNvCxnSpPr>
          <p:nvPr/>
        </p:nvCxnSpPr>
        <p:spPr>
          <a:xfrm flipH="1">
            <a:off x="8835353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29CA873-F728-5E6E-BBFC-546BCA156313}"/>
              </a:ext>
            </a:extLst>
          </p:cNvPr>
          <p:cNvSpPr/>
          <p:nvPr/>
        </p:nvSpPr>
        <p:spPr>
          <a:xfrm>
            <a:off x="8487840" y="4451186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850550-B7F5-4E24-F0EF-357EB3CE1BAF}"/>
              </a:ext>
            </a:extLst>
          </p:cNvPr>
          <p:cNvSpPr/>
          <p:nvPr/>
        </p:nvSpPr>
        <p:spPr>
          <a:xfrm>
            <a:off x="8502648" y="389248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60">
            <a:extLst>
              <a:ext uri="{FF2B5EF4-FFF2-40B4-BE49-F238E27FC236}">
                <a16:creationId xmlns:a16="http://schemas.microsoft.com/office/drawing/2014/main" id="{3DFE04EA-4343-1122-58CE-5EB11BC64357}"/>
              </a:ext>
            </a:extLst>
          </p:cNvPr>
          <p:cNvCxnSpPr>
            <a:cxnSpLocks/>
            <a:stCxn id="12" idx="2"/>
            <a:endCxn id="8" idx="2"/>
          </p:cNvCxnSpPr>
          <p:nvPr/>
        </p:nvCxnSpPr>
        <p:spPr>
          <a:xfrm>
            <a:off x="8502648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1">
            <a:extLst>
              <a:ext uri="{FF2B5EF4-FFF2-40B4-BE49-F238E27FC236}">
                <a16:creationId xmlns:a16="http://schemas.microsoft.com/office/drawing/2014/main" id="{CF8FFA6B-23C0-47BE-E3EF-54AFD4964106}"/>
              </a:ext>
            </a:extLst>
          </p:cNvPr>
          <p:cNvCxnSpPr>
            <a:cxnSpLocks/>
            <a:stCxn id="12" idx="6"/>
            <a:endCxn id="8" idx="6"/>
          </p:cNvCxnSpPr>
          <p:nvPr/>
        </p:nvCxnSpPr>
        <p:spPr>
          <a:xfrm>
            <a:off x="8850161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62">
            <a:extLst>
              <a:ext uri="{FF2B5EF4-FFF2-40B4-BE49-F238E27FC236}">
                <a16:creationId xmlns:a16="http://schemas.microsoft.com/office/drawing/2014/main" id="{4E7EF67B-8385-C51F-FDD1-C7B536566C2E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 flipH="1">
            <a:off x="8538732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023">
            <a:extLst>
              <a:ext uri="{FF2B5EF4-FFF2-40B4-BE49-F238E27FC236}">
                <a16:creationId xmlns:a16="http://schemas.microsoft.com/office/drawing/2014/main" id="{40001680-E086-05FE-8CF8-355EF10482B4}"/>
              </a:ext>
            </a:extLst>
          </p:cNvPr>
          <p:cNvCxnSpPr>
            <a:cxnSpLocks/>
            <a:stCxn id="8" idx="4"/>
            <a:endCxn id="11" idx="4"/>
          </p:cNvCxnSpPr>
          <p:nvPr/>
        </p:nvCxnSpPr>
        <p:spPr>
          <a:xfrm flipH="1">
            <a:off x="8661597" y="4030881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024">
            <a:extLst>
              <a:ext uri="{FF2B5EF4-FFF2-40B4-BE49-F238E27FC236}">
                <a16:creationId xmlns:a16="http://schemas.microsoft.com/office/drawing/2014/main" id="{F80F7781-0357-EEBB-17DF-CDEE0C90F2DF}"/>
              </a:ext>
            </a:extLst>
          </p:cNvPr>
          <p:cNvCxnSpPr>
            <a:cxnSpLocks/>
            <a:stCxn id="8" idx="5"/>
            <a:endCxn id="11" idx="5"/>
          </p:cNvCxnSpPr>
          <p:nvPr/>
        </p:nvCxnSpPr>
        <p:spPr>
          <a:xfrm flipH="1">
            <a:off x="8784461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036">
            <a:extLst>
              <a:ext uri="{FF2B5EF4-FFF2-40B4-BE49-F238E27FC236}">
                <a16:creationId xmlns:a16="http://schemas.microsoft.com/office/drawing/2014/main" id="{2CCFB962-A76D-969C-882C-3F3513B68125}"/>
              </a:ext>
            </a:extLst>
          </p:cNvPr>
          <p:cNvCxnSpPr>
            <a:cxnSpLocks/>
          </p:cNvCxnSpPr>
          <p:nvPr/>
        </p:nvCxnSpPr>
        <p:spPr>
          <a:xfrm>
            <a:off x="5589678" y="4265823"/>
            <a:ext cx="698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68CB962-8BFF-98C6-E579-76165AC3764F}"/>
              </a:ext>
            </a:extLst>
          </p:cNvPr>
          <p:cNvSpPr txBox="1"/>
          <p:nvPr/>
        </p:nvSpPr>
        <p:spPr>
          <a:xfrm>
            <a:off x="4834803" y="4049517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最高位补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194E02-44D5-87E4-2119-C95DDDA7CF80}"/>
              </a:ext>
            </a:extLst>
          </p:cNvPr>
          <p:cNvSpPr txBox="1"/>
          <p:nvPr/>
        </p:nvSpPr>
        <p:spPr>
          <a:xfrm>
            <a:off x="3488464" y="4496310"/>
            <a:ext cx="355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B15791-75AE-C579-2CC4-11D3590690EA}"/>
              </a:ext>
            </a:extLst>
          </p:cNvPr>
          <p:cNvSpPr txBox="1"/>
          <p:nvPr/>
        </p:nvSpPr>
        <p:spPr>
          <a:xfrm>
            <a:off x="1818156" y="4496310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DA666-8F73-3478-B3CC-26AFC204116D}"/>
              </a:ext>
            </a:extLst>
          </p:cNvPr>
          <p:cNvSpPr/>
          <p:nvPr/>
        </p:nvSpPr>
        <p:spPr>
          <a:xfrm>
            <a:off x="6283250" y="3996367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EEC573-7003-CCB6-E97B-63706CD27404}"/>
              </a:ext>
            </a:extLst>
          </p:cNvPr>
          <p:cNvSpPr txBox="1"/>
          <p:nvPr/>
        </p:nvSpPr>
        <p:spPr>
          <a:xfrm>
            <a:off x="7838257" y="4566211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2E50A7-448B-A277-7070-2543F76644CD}"/>
              </a:ext>
            </a:extLst>
          </p:cNvPr>
          <p:cNvSpPr txBox="1"/>
          <p:nvPr/>
        </p:nvSpPr>
        <p:spPr>
          <a:xfrm>
            <a:off x="6182601" y="4574368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C1459F-451D-AB88-1FEA-A08F06F603EA}"/>
              </a:ext>
            </a:extLst>
          </p:cNvPr>
          <p:cNvSpPr/>
          <p:nvPr/>
        </p:nvSpPr>
        <p:spPr>
          <a:xfrm>
            <a:off x="1126050" y="3987488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1145">
            <a:extLst>
              <a:ext uri="{FF2B5EF4-FFF2-40B4-BE49-F238E27FC236}">
                <a16:creationId xmlns:a16="http://schemas.microsoft.com/office/drawing/2014/main" id="{46574397-EDCA-A43E-9C54-5AF8B8EF0493}"/>
              </a:ext>
            </a:extLst>
          </p:cNvPr>
          <p:cNvCxnSpPr>
            <a:cxnSpLocks/>
            <a:stCxn id="25" idx="2"/>
            <a:endCxn id="28" idx="2"/>
          </p:cNvCxnSpPr>
          <p:nvPr/>
        </p:nvCxnSpPr>
        <p:spPr>
          <a:xfrm flipH="1">
            <a:off x="1111242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1146">
            <a:extLst>
              <a:ext uri="{FF2B5EF4-FFF2-40B4-BE49-F238E27FC236}">
                <a16:creationId xmlns:a16="http://schemas.microsoft.com/office/drawing/2014/main" id="{F606C7DD-682E-9CC0-781C-B0182057E2DD}"/>
              </a:ext>
            </a:extLst>
          </p:cNvPr>
          <p:cNvCxnSpPr>
            <a:cxnSpLocks/>
            <a:stCxn id="25" idx="6"/>
            <a:endCxn id="28" idx="6"/>
          </p:cNvCxnSpPr>
          <p:nvPr/>
        </p:nvCxnSpPr>
        <p:spPr>
          <a:xfrm flipH="1">
            <a:off x="1458755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B9256B98-8A4A-DF2C-D0A0-3493655031A9}"/>
              </a:ext>
            </a:extLst>
          </p:cNvPr>
          <p:cNvSpPr/>
          <p:nvPr/>
        </p:nvSpPr>
        <p:spPr>
          <a:xfrm>
            <a:off x="1111242" y="4496781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42C2546-76EB-3173-6B0E-3975012333B9}"/>
              </a:ext>
            </a:extLst>
          </p:cNvPr>
          <p:cNvSpPr/>
          <p:nvPr/>
        </p:nvSpPr>
        <p:spPr>
          <a:xfrm>
            <a:off x="1126050" y="3938080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1149">
            <a:extLst>
              <a:ext uri="{FF2B5EF4-FFF2-40B4-BE49-F238E27FC236}">
                <a16:creationId xmlns:a16="http://schemas.microsoft.com/office/drawing/2014/main" id="{14514031-9686-E4BE-16D7-E7D62501B86B}"/>
              </a:ext>
            </a:extLst>
          </p:cNvPr>
          <p:cNvCxnSpPr>
            <a:stCxn id="29" idx="2"/>
            <a:endCxn id="25" idx="2"/>
          </p:cNvCxnSpPr>
          <p:nvPr/>
        </p:nvCxnSpPr>
        <p:spPr>
          <a:xfrm>
            <a:off x="1126050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150">
            <a:extLst>
              <a:ext uri="{FF2B5EF4-FFF2-40B4-BE49-F238E27FC236}">
                <a16:creationId xmlns:a16="http://schemas.microsoft.com/office/drawing/2014/main" id="{D0A76B00-C020-65F6-C10A-6ABD3DEF90AF}"/>
              </a:ext>
            </a:extLst>
          </p:cNvPr>
          <p:cNvCxnSpPr>
            <a:stCxn id="29" idx="6"/>
            <a:endCxn id="25" idx="6"/>
          </p:cNvCxnSpPr>
          <p:nvPr/>
        </p:nvCxnSpPr>
        <p:spPr>
          <a:xfrm>
            <a:off x="1473563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151">
            <a:extLst>
              <a:ext uri="{FF2B5EF4-FFF2-40B4-BE49-F238E27FC236}">
                <a16:creationId xmlns:a16="http://schemas.microsoft.com/office/drawing/2014/main" id="{404406A3-7874-8F71-F4C6-796702B9E4F6}"/>
              </a:ext>
            </a:extLst>
          </p:cNvPr>
          <p:cNvCxnSpPr>
            <a:stCxn id="25" idx="3"/>
            <a:endCxn id="28" idx="3"/>
          </p:cNvCxnSpPr>
          <p:nvPr/>
        </p:nvCxnSpPr>
        <p:spPr>
          <a:xfrm flipH="1">
            <a:off x="1162134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152">
            <a:extLst>
              <a:ext uri="{FF2B5EF4-FFF2-40B4-BE49-F238E27FC236}">
                <a16:creationId xmlns:a16="http://schemas.microsoft.com/office/drawing/2014/main" id="{EC931EDD-1DD3-F9D8-4F30-B5C545141FC3}"/>
              </a:ext>
            </a:extLst>
          </p:cNvPr>
          <p:cNvCxnSpPr>
            <a:cxnSpLocks/>
            <a:stCxn id="25" idx="4"/>
            <a:endCxn id="28" idx="4"/>
          </p:cNvCxnSpPr>
          <p:nvPr/>
        </p:nvCxnSpPr>
        <p:spPr>
          <a:xfrm flipH="1">
            <a:off x="1284999" y="4076476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53">
            <a:extLst>
              <a:ext uri="{FF2B5EF4-FFF2-40B4-BE49-F238E27FC236}">
                <a16:creationId xmlns:a16="http://schemas.microsoft.com/office/drawing/2014/main" id="{BC2A06E2-E0F1-C5E0-70F5-E9E8DB0EA739}"/>
              </a:ext>
            </a:extLst>
          </p:cNvPr>
          <p:cNvCxnSpPr>
            <a:stCxn id="25" idx="5"/>
            <a:endCxn id="28" idx="5"/>
          </p:cNvCxnSpPr>
          <p:nvPr/>
        </p:nvCxnSpPr>
        <p:spPr>
          <a:xfrm flipH="1">
            <a:off x="1407863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5874956-9C1C-F69A-2AA5-01605E0C9647}"/>
              </a:ext>
            </a:extLst>
          </p:cNvPr>
          <p:cNvSpPr txBox="1"/>
          <p:nvPr/>
        </p:nvSpPr>
        <p:spPr>
          <a:xfrm>
            <a:off x="2239318" y="4917424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lsl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BFB609-14FB-6FE1-256C-17546E24188E}"/>
              </a:ext>
            </a:extLst>
          </p:cNvPr>
          <p:cNvSpPr txBox="1"/>
          <p:nvPr/>
        </p:nvSpPr>
        <p:spPr>
          <a:xfrm>
            <a:off x="6614864" y="491742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lsr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1A8AB58-E198-FB30-B901-46A326A3B043}"/>
              </a:ext>
            </a:extLst>
          </p:cNvPr>
          <p:cNvSpPr txBox="1"/>
          <p:nvPr/>
        </p:nvSpPr>
        <p:spPr>
          <a:xfrm>
            <a:off x="3981056" y="4033271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最低位补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80077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13248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Arithmetic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Rotate right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2517995-0E47-538F-8E34-4661B7E06EFC}"/>
              </a:ext>
            </a:extLst>
          </p:cNvPr>
          <p:cNvSpPr txBox="1"/>
          <p:nvPr/>
        </p:nvSpPr>
        <p:spPr>
          <a:xfrm>
            <a:off x="440778" y="4088052"/>
            <a:ext cx="1079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最高位按照符号扩展</a:t>
            </a:r>
          </a:p>
        </p:txBody>
      </p:sp>
      <p:cxnSp>
        <p:nvCxnSpPr>
          <p:cNvPr id="63" name="直接箭头连接符 1103">
            <a:extLst>
              <a:ext uri="{FF2B5EF4-FFF2-40B4-BE49-F238E27FC236}">
                <a16:creationId xmlns:a16="http://schemas.microsoft.com/office/drawing/2014/main" id="{BB4A138B-9C81-975A-DA50-E79521BAC023}"/>
              </a:ext>
            </a:extLst>
          </p:cNvPr>
          <p:cNvCxnSpPr>
            <a:cxnSpLocks/>
            <a:stCxn id="28687" idx="3"/>
            <a:endCxn id="28687" idx="1"/>
          </p:cNvCxnSpPr>
          <p:nvPr/>
        </p:nvCxnSpPr>
        <p:spPr>
          <a:xfrm flipH="1">
            <a:off x="6175847" y="4429168"/>
            <a:ext cx="1743036" cy="12700"/>
          </a:xfrm>
          <a:prstGeom prst="bentConnector5">
            <a:avLst>
              <a:gd name="adj1" fmla="val -13115"/>
              <a:gd name="adj2" fmla="val -5167134"/>
              <a:gd name="adj3" fmla="val 1131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2" name="椭圆 28671">
            <a:extLst>
              <a:ext uri="{FF2B5EF4-FFF2-40B4-BE49-F238E27FC236}">
                <a16:creationId xmlns:a16="http://schemas.microsoft.com/office/drawing/2014/main" id="{72E65ED5-8798-3968-4607-392BFF818F8B}"/>
              </a:ext>
            </a:extLst>
          </p:cNvPr>
          <p:cNvSpPr/>
          <p:nvPr/>
        </p:nvSpPr>
        <p:spPr>
          <a:xfrm>
            <a:off x="3879077" y="4050522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3" name="直接连接符 1113">
            <a:extLst>
              <a:ext uri="{FF2B5EF4-FFF2-40B4-BE49-F238E27FC236}">
                <a16:creationId xmlns:a16="http://schemas.microsoft.com/office/drawing/2014/main" id="{1F5950E4-88C7-65F1-92FA-E0557F6D361E}"/>
              </a:ext>
            </a:extLst>
          </p:cNvPr>
          <p:cNvCxnSpPr>
            <a:cxnSpLocks/>
            <a:stCxn id="28672" idx="2"/>
            <a:endCxn id="28677" idx="2"/>
          </p:cNvCxnSpPr>
          <p:nvPr/>
        </p:nvCxnSpPr>
        <p:spPr>
          <a:xfrm flipH="1">
            <a:off x="3864269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76" name="直接连接符 1114">
            <a:extLst>
              <a:ext uri="{FF2B5EF4-FFF2-40B4-BE49-F238E27FC236}">
                <a16:creationId xmlns:a16="http://schemas.microsoft.com/office/drawing/2014/main" id="{0348B6BC-DEB1-0380-3EA8-99A917B4D610}"/>
              </a:ext>
            </a:extLst>
          </p:cNvPr>
          <p:cNvCxnSpPr>
            <a:cxnSpLocks/>
            <a:stCxn id="28672" idx="6"/>
            <a:endCxn id="28677" idx="6"/>
          </p:cNvCxnSpPr>
          <p:nvPr/>
        </p:nvCxnSpPr>
        <p:spPr>
          <a:xfrm flipH="1">
            <a:off x="4211782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77" name="椭圆 28676">
            <a:extLst>
              <a:ext uri="{FF2B5EF4-FFF2-40B4-BE49-F238E27FC236}">
                <a16:creationId xmlns:a16="http://schemas.microsoft.com/office/drawing/2014/main" id="{7C3BF027-8280-ECCD-5B72-01039C813274}"/>
              </a:ext>
            </a:extLst>
          </p:cNvPr>
          <p:cNvSpPr/>
          <p:nvPr/>
        </p:nvSpPr>
        <p:spPr>
          <a:xfrm>
            <a:off x="3864269" y="455981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78" name="椭圆 28677">
            <a:extLst>
              <a:ext uri="{FF2B5EF4-FFF2-40B4-BE49-F238E27FC236}">
                <a16:creationId xmlns:a16="http://schemas.microsoft.com/office/drawing/2014/main" id="{24C73DA8-5013-0249-F46D-F8423CF495B8}"/>
              </a:ext>
            </a:extLst>
          </p:cNvPr>
          <p:cNvSpPr/>
          <p:nvPr/>
        </p:nvSpPr>
        <p:spPr>
          <a:xfrm>
            <a:off x="3879077" y="4001114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9" name="直接连接符 1117">
            <a:extLst>
              <a:ext uri="{FF2B5EF4-FFF2-40B4-BE49-F238E27FC236}">
                <a16:creationId xmlns:a16="http://schemas.microsoft.com/office/drawing/2014/main" id="{14474A70-5306-516B-C5B7-2BA54F298094}"/>
              </a:ext>
            </a:extLst>
          </p:cNvPr>
          <p:cNvCxnSpPr>
            <a:stCxn id="28678" idx="2"/>
            <a:endCxn id="28672" idx="2"/>
          </p:cNvCxnSpPr>
          <p:nvPr/>
        </p:nvCxnSpPr>
        <p:spPr>
          <a:xfrm>
            <a:off x="3879077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0" name="直接连接符 1118">
            <a:extLst>
              <a:ext uri="{FF2B5EF4-FFF2-40B4-BE49-F238E27FC236}">
                <a16:creationId xmlns:a16="http://schemas.microsoft.com/office/drawing/2014/main" id="{C7911FBB-1A91-CE97-562B-69CADF39B702}"/>
              </a:ext>
            </a:extLst>
          </p:cNvPr>
          <p:cNvCxnSpPr>
            <a:stCxn id="28678" idx="6"/>
            <a:endCxn id="28672" idx="6"/>
          </p:cNvCxnSpPr>
          <p:nvPr/>
        </p:nvCxnSpPr>
        <p:spPr>
          <a:xfrm>
            <a:off x="4226590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1" name="直接连接符 1119">
            <a:extLst>
              <a:ext uri="{FF2B5EF4-FFF2-40B4-BE49-F238E27FC236}">
                <a16:creationId xmlns:a16="http://schemas.microsoft.com/office/drawing/2014/main" id="{024A12FC-4783-B4EB-31EC-465ED3ED8AAD}"/>
              </a:ext>
            </a:extLst>
          </p:cNvPr>
          <p:cNvCxnSpPr>
            <a:stCxn id="28672" idx="3"/>
            <a:endCxn id="28677" idx="3"/>
          </p:cNvCxnSpPr>
          <p:nvPr/>
        </p:nvCxnSpPr>
        <p:spPr>
          <a:xfrm flipH="1">
            <a:off x="3915161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2" name="直接连接符 1120">
            <a:extLst>
              <a:ext uri="{FF2B5EF4-FFF2-40B4-BE49-F238E27FC236}">
                <a16:creationId xmlns:a16="http://schemas.microsoft.com/office/drawing/2014/main" id="{E391E456-B98F-A595-FBBA-41AAFDDD91DB}"/>
              </a:ext>
            </a:extLst>
          </p:cNvPr>
          <p:cNvCxnSpPr>
            <a:cxnSpLocks/>
            <a:stCxn id="28672" idx="4"/>
            <a:endCxn id="28677" idx="4"/>
          </p:cNvCxnSpPr>
          <p:nvPr/>
        </p:nvCxnSpPr>
        <p:spPr>
          <a:xfrm flipH="1">
            <a:off x="4038026" y="4139510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3" name="直接连接符 1121">
            <a:extLst>
              <a:ext uri="{FF2B5EF4-FFF2-40B4-BE49-F238E27FC236}">
                <a16:creationId xmlns:a16="http://schemas.microsoft.com/office/drawing/2014/main" id="{598EFDB8-F744-C7CE-5774-A2B347BE0417}"/>
              </a:ext>
            </a:extLst>
          </p:cNvPr>
          <p:cNvCxnSpPr>
            <a:stCxn id="28672" idx="5"/>
            <a:endCxn id="28677" idx="5"/>
          </p:cNvCxnSpPr>
          <p:nvPr/>
        </p:nvCxnSpPr>
        <p:spPr>
          <a:xfrm flipH="1">
            <a:off x="4160890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4" name="矩形 28683">
            <a:extLst>
              <a:ext uri="{FF2B5EF4-FFF2-40B4-BE49-F238E27FC236}">
                <a16:creationId xmlns:a16="http://schemas.microsoft.com/office/drawing/2014/main" id="{4A3C8FB1-95CD-C68B-12BD-8AD053D1AE98}"/>
              </a:ext>
            </a:extLst>
          </p:cNvPr>
          <p:cNvSpPr/>
          <p:nvPr/>
        </p:nvSpPr>
        <p:spPr>
          <a:xfrm>
            <a:off x="1745923" y="4030624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       寄存器</a:t>
            </a:r>
          </a:p>
        </p:txBody>
      </p:sp>
      <p:sp>
        <p:nvSpPr>
          <p:cNvPr id="28685" name="文本框 28684">
            <a:extLst>
              <a:ext uri="{FF2B5EF4-FFF2-40B4-BE49-F238E27FC236}">
                <a16:creationId xmlns:a16="http://schemas.microsoft.com/office/drawing/2014/main" id="{F4226DBF-8F0E-A5E6-483D-6DB7E729C8BD}"/>
              </a:ext>
            </a:extLst>
          </p:cNvPr>
          <p:cNvSpPr txBox="1"/>
          <p:nvPr/>
        </p:nvSpPr>
        <p:spPr>
          <a:xfrm>
            <a:off x="3219959" y="4606634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6" name="文本框 28685">
            <a:extLst>
              <a:ext uri="{FF2B5EF4-FFF2-40B4-BE49-F238E27FC236}">
                <a16:creationId xmlns:a16="http://schemas.microsoft.com/office/drawing/2014/main" id="{F1836E35-5667-4856-7DD1-AD28145771D1}"/>
              </a:ext>
            </a:extLst>
          </p:cNvPr>
          <p:cNvSpPr txBox="1"/>
          <p:nvPr/>
        </p:nvSpPr>
        <p:spPr>
          <a:xfrm>
            <a:off x="1694342" y="4615057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87" name="矩形 28686">
            <a:extLst>
              <a:ext uri="{FF2B5EF4-FFF2-40B4-BE49-F238E27FC236}">
                <a16:creationId xmlns:a16="http://schemas.microsoft.com/office/drawing/2014/main" id="{EE74F0D8-AA64-037B-2404-5E48C53982B9}"/>
              </a:ext>
            </a:extLst>
          </p:cNvPr>
          <p:cNvSpPr/>
          <p:nvPr/>
        </p:nvSpPr>
        <p:spPr>
          <a:xfrm>
            <a:off x="6175847" y="4130653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8688" name="文本框 28687">
            <a:extLst>
              <a:ext uri="{FF2B5EF4-FFF2-40B4-BE49-F238E27FC236}">
                <a16:creationId xmlns:a16="http://schemas.microsoft.com/office/drawing/2014/main" id="{423F956E-AB6E-F33D-B58B-AE4B41E2316E}"/>
              </a:ext>
            </a:extLst>
          </p:cNvPr>
          <p:cNvSpPr txBox="1"/>
          <p:nvPr/>
        </p:nvSpPr>
        <p:spPr>
          <a:xfrm>
            <a:off x="7691970" y="4740383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9" name="文本框 28688">
            <a:extLst>
              <a:ext uri="{FF2B5EF4-FFF2-40B4-BE49-F238E27FC236}">
                <a16:creationId xmlns:a16="http://schemas.microsoft.com/office/drawing/2014/main" id="{BB5B54A0-E6D5-50D5-45E0-D509C900063F}"/>
              </a:ext>
            </a:extLst>
          </p:cNvPr>
          <p:cNvSpPr txBox="1"/>
          <p:nvPr/>
        </p:nvSpPr>
        <p:spPr>
          <a:xfrm>
            <a:off x="6083664" y="4727962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90" name="文本框 28689">
            <a:extLst>
              <a:ext uri="{FF2B5EF4-FFF2-40B4-BE49-F238E27FC236}">
                <a16:creationId xmlns:a16="http://schemas.microsoft.com/office/drawing/2014/main" id="{EBC6112F-5F95-3A3B-917F-906CAC5623DE}"/>
              </a:ext>
            </a:extLst>
          </p:cNvPr>
          <p:cNvSpPr txBox="1"/>
          <p:nvPr/>
        </p:nvSpPr>
        <p:spPr>
          <a:xfrm>
            <a:off x="1980529" y="498918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 </a:t>
            </a:r>
            <a:r>
              <a:rPr lang="en-US" altLang="zh-CN" sz="1400" dirty="0" err="1"/>
              <a:t>asr</a:t>
            </a:r>
            <a:endParaRPr lang="zh-CN" altLang="en-US" sz="1400" dirty="0"/>
          </a:p>
        </p:txBody>
      </p:sp>
      <p:sp>
        <p:nvSpPr>
          <p:cNvPr id="28691" name="文本框 28690">
            <a:extLst>
              <a:ext uri="{FF2B5EF4-FFF2-40B4-BE49-F238E27FC236}">
                <a16:creationId xmlns:a16="http://schemas.microsoft.com/office/drawing/2014/main" id="{4D1B270C-AA21-7C6C-9822-B0541514EFCB}"/>
              </a:ext>
            </a:extLst>
          </p:cNvPr>
          <p:cNvSpPr txBox="1"/>
          <p:nvPr/>
        </p:nvSpPr>
        <p:spPr>
          <a:xfrm>
            <a:off x="6480317" y="5011148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ror</a:t>
            </a:r>
            <a:endParaRPr lang="zh-CN" altLang="en-US" sz="1400" dirty="0"/>
          </a:p>
        </p:txBody>
      </p:sp>
      <p:cxnSp>
        <p:nvCxnSpPr>
          <p:cNvPr id="28692" name="直接箭头连接符 1165">
            <a:extLst>
              <a:ext uri="{FF2B5EF4-FFF2-40B4-BE49-F238E27FC236}">
                <a16:creationId xmlns:a16="http://schemas.microsoft.com/office/drawing/2014/main" id="{F04F20BF-F500-4158-FB37-BBDCEF42BA78}"/>
              </a:ext>
            </a:extLst>
          </p:cNvPr>
          <p:cNvCxnSpPr>
            <a:stCxn id="28684" idx="3"/>
          </p:cNvCxnSpPr>
          <p:nvPr/>
        </p:nvCxnSpPr>
        <p:spPr>
          <a:xfrm flipV="1">
            <a:off x="3488959" y="4329138"/>
            <a:ext cx="3753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3" name="矩形 28692">
            <a:extLst>
              <a:ext uri="{FF2B5EF4-FFF2-40B4-BE49-F238E27FC236}">
                <a16:creationId xmlns:a16="http://schemas.microsoft.com/office/drawing/2014/main" id="{9768367F-2294-9784-F715-C05B60A854D1}"/>
              </a:ext>
            </a:extLst>
          </p:cNvPr>
          <p:cNvSpPr/>
          <p:nvPr/>
        </p:nvSpPr>
        <p:spPr>
          <a:xfrm>
            <a:off x="1954138" y="4023187"/>
            <a:ext cx="216341" cy="606854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694" name="直接连接符 1241">
            <a:extLst>
              <a:ext uri="{FF2B5EF4-FFF2-40B4-BE49-F238E27FC236}">
                <a16:creationId xmlns:a16="http://schemas.microsoft.com/office/drawing/2014/main" id="{6DA0AAFB-F730-6CCA-61CC-CEEDD041C93F}"/>
              </a:ext>
            </a:extLst>
          </p:cNvPr>
          <p:cNvCxnSpPr>
            <a:cxnSpLocks/>
          </p:cNvCxnSpPr>
          <p:nvPr/>
        </p:nvCxnSpPr>
        <p:spPr>
          <a:xfrm flipV="1">
            <a:off x="2053028" y="3634853"/>
            <a:ext cx="0" cy="410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5" name="直接连接符 1243">
            <a:extLst>
              <a:ext uri="{FF2B5EF4-FFF2-40B4-BE49-F238E27FC236}">
                <a16:creationId xmlns:a16="http://schemas.microsoft.com/office/drawing/2014/main" id="{3A5D8EBB-1BD0-235A-628B-164C238CA2AD}"/>
              </a:ext>
            </a:extLst>
          </p:cNvPr>
          <p:cNvCxnSpPr/>
          <p:nvPr/>
        </p:nvCxnSpPr>
        <p:spPr>
          <a:xfrm flipH="1">
            <a:off x="1854701" y="3625961"/>
            <a:ext cx="198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6" name="直接箭头连接符 1245">
            <a:extLst>
              <a:ext uri="{FF2B5EF4-FFF2-40B4-BE49-F238E27FC236}">
                <a16:creationId xmlns:a16="http://schemas.microsoft.com/office/drawing/2014/main" id="{865B87E4-33DE-CA74-B436-E92E41BAC179}"/>
              </a:ext>
            </a:extLst>
          </p:cNvPr>
          <p:cNvCxnSpPr>
            <a:cxnSpLocks/>
          </p:cNvCxnSpPr>
          <p:nvPr/>
        </p:nvCxnSpPr>
        <p:spPr>
          <a:xfrm>
            <a:off x="1851304" y="3634853"/>
            <a:ext cx="3397" cy="410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88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逻辑运算指令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768855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^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按位异或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|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&amp;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按位与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~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Rn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按位取反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994753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10844"/>
              </p:ext>
            </p:extLst>
          </p:nvPr>
        </p:nvGraphicFramePr>
        <p:xfrm>
          <a:off x="457201" y="1355492"/>
          <a:ext cx="6851104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60626"/>
              </p:ext>
            </p:extLst>
          </p:nvPr>
        </p:nvGraphicFramePr>
        <p:xfrm>
          <a:off x="443643" y="2925749"/>
          <a:ext cx="6851104" cy="243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843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</a:rPr>
                        <a:t>add  x2, x2, x1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/>
                        <a:t>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sub  x1, x1,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 err="1"/>
                        <a:t>mul</a:t>
                      </a:r>
                      <a:r>
                        <a:rPr lang="en-US" altLang="zh-CN" sz="1800" dirty="0"/>
                        <a:t>  x0, x1, 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D21F10B9-737D-7545-BF85-41219E97FE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2120740"/>
              </p:ext>
            </p:extLst>
          </p:nvPr>
        </p:nvGraphicFramePr>
        <p:xfrm>
          <a:off x="7452320" y="1355492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DD03AC6-2ABE-A548-B3F9-D4AAA2A1348C}"/>
              </a:ext>
            </a:extLst>
          </p:cNvPr>
          <p:cNvSpPr txBox="1"/>
          <p:nvPr/>
        </p:nvSpPr>
        <p:spPr>
          <a:xfrm>
            <a:off x="3712065" y="3237671"/>
            <a:ext cx="350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0x4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E0C44F-1F12-3B4A-97F0-355A225DF131}"/>
              </a:ext>
            </a:extLst>
          </p:cNvPr>
          <p:cNvSpPr txBox="1"/>
          <p:nvPr/>
        </p:nvSpPr>
        <p:spPr>
          <a:xfrm>
            <a:off x="3131840" y="3607003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533E94-EE03-0949-ADC6-05DCC502C2A4}"/>
              </a:ext>
            </a:extLst>
          </p:cNvPr>
          <p:cNvSpPr txBox="1"/>
          <p:nvPr/>
        </p:nvSpPr>
        <p:spPr>
          <a:xfrm>
            <a:off x="3131840" y="3964606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0x3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2ECCF-23A0-A345-BC0F-0C21B8866A7A}"/>
              </a:ext>
            </a:extLst>
          </p:cNvPr>
          <p:cNvSpPr txBox="1"/>
          <p:nvPr/>
        </p:nvSpPr>
        <p:spPr>
          <a:xfrm>
            <a:off x="3131840" y="4318008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63B698-59FA-C747-95CA-AAB4A8FA268E}"/>
              </a:ext>
            </a:extLst>
          </p:cNvPr>
          <p:cNvSpPr txBox="1"/>
          <p:nvPr/>
        </p:nvSpPr>
        <p:spPr>
          <a:xfrm>
            <a:off x="3131840" y="4653417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AC1EA6-6E52-4248-9E0F-3CB4331598AF}"/>
              </a:ext>
            </a:extLst>
          </p:cNvPr>
          <p:cNvSpPr txBox="1"/>
          <p:nvPr/>
        </p:nvSpPr>
        <p:spPr>
          <a:xfrm>
            <a:off x="3131840" y="4992461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算术运算汇编代码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6408712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6408712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1667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mov     w1, </a:t>
            </a:r>
            <a:r>
              <a:rPr lang="en-US" altLang="zh-CN" sz="1667" b="1" dirty="0">
                <a:latin typeface="Courier New" panose="02070309020205020404" pitchFamily="49" charset="0"/>
              </a:rPr>
              <a:t>#0x0F0F0F0F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const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AB8E0B-92E5-B52F-B185-249FD566BBF9}"/>
              </a:ext>
            </a:extLst>
          </p:cNvPr>
          <p:cNvSpPr txBox="1"/>
          <p:nvPr/>
        </p:nvSpPr>
        <p:spPr>
          <a:xfrm>
            <a:off x="771316" y="5320550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  <p:graphicFrame>
        <p:nvGraphicFramePr>
          <p:cNvPr id="7" name="Group 67">
            <a:extLst>
              <a:ext uri="{FF2B5EF4-FFF2-40B4-BE49-F238E27FC236}">
                <a16:creationId xmlns:a16="http://schemas.microsoft.com/office/drawing/2014/main" id="{274C5753-9B4C-EB4E-9923-2317D2602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24217"/>
              </p:ext>
            </p:extLst>
          </p:nvPr>
        </p:nvGraphicFramePr>
        <p:xfrm>
          <a:off x="7380312" y="1158010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B5664-8F19-7CAC-F08F-918261EA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：修改过的寄存器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9D639-8AFB-C21B-35FA-4A39DEF5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altLang="zh-CN" sz="2800" b="1" dirty="0" err="1">
                <a:latin typeface="Courier New" panose="02070309020205020404" pitchFamily="49" charset="0"/>
              </a:rPr>
              <a:t>add</a:t>
            </a:r>
            <a:r>
              <a:rPr lang="pl-PL" altLang="zh-CN" sz="2800" b="1" dirty="0">
                <a:latin typeface="Courier New" panose="02070309020205020404" pitchFamily="49" charset="0"/>
              </a:rPr>
              <a:t> </a:t>
            </a:r>
            <a:r>
              <a:rPr lang="zh-CN" altLang="en-US" sz="2800" b="1" dirty="0">
                <a:latin typeface="Courier New" panose="02070309020205020404" pitchFamily="49" charset="0"/>
              </a:rPr>
              <a:t> </a:t>
            </a:r>
            <a:r>
              <a:rPr lang="pl-PL" altLang="zh-CN" sz="2800" b="1" dirty="0">
                <a:latin typeface="Courier New" panose="02070309020205020404" pitchFamily="49" charset="0"/>
              </a:rPr>
              <a:t>x2, x2, 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28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：减少指令数量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：减少用于存放中间结果的寄存器占用量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75590-E3A4-82F1-027C-45092B6B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74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47BBF9A1-B1E0-425D-809C-34988030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39CD48-39A8-4F17-9FA3-5F0B5463FD1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3551657-462F-443C-BD81-C41171694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Modified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Register</a:t>
            </a:r>
            <a:r>
              <a:rPr lang="zh-CN" altLang="en-US" dirty="0">
                <a:latin typeface="+mn-lt"/>
              </a:rPr>
              <a:t>的常见用法</a:t>
            </a:r>
            <a:endParaRPr lang="en-US" altLang="zh-CN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C954CDA-DB6F-4FC3-9B27-A2185495C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对操作数进行移位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</a:t>
            </a:r>
            <a:r>
              <a:rPr lang="en" altLang="zh-CN" dirty="0" err="1">
                <a:latin typeface="+mj-ea"/>
              </a:rPr>
              <a:t>eor</a:t>
            </a:r>
            <a:r>
              <a:rPr lang="en" altLang="zh-CN" dirty="0">
                <a:latin typeface="+mj-ea"/>
              </a:rPr>
              <a:t> w0, w8, w8, </a:t>
            </a:r>
            <a:r>
              <a:rPr lang="en" altLang="zh-CN" dirty="0" err="1">
                <a:latin typeface="+mj-ea"/>
              </a:rPr>
              <a:t>asr</a:t>
            </a:r>
            <a:r>
              <a:rPr lang="en" altLang="zh-CN" dirty="0">
                <a:latin typeface="+mj-ea"/>
              </a:rPr>
              <a:t> #16</a:t>
            </a:r>
            <a:endParaRPr lang="en-US" altLang="zh-CN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对操作数进行位扩展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add x19, x19, w0, </a:t>
            </a:r>
            <a:r>
              <a:rPr lang="en" altLang="zh-CN" dirty="0" err="1">
                <a:latin typeface="+mj-ea"/>
              </a:rPr>
              <a:t>sxtw</a:t>
            </a:r>
            <a:endParaRPr lang="en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无符号扩展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uxtb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uxth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uxtw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sxtb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sxth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sxtw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剪去同侧角的矩形 2">
            <a:extLst>
              <a:ext uri="{FF2B5EF4-FFF2-40B4-BE49-F238E27FC236}">
                <a16:creationId xmlns:a16="http://schemas.microsoft.com/office/drawing/2014/main" id="{5D90509B-CB15-C8CB-49E8-CB70FDE7FBBE}"/>
              </a:ext>
            </a:extLst>
          </p:cNvPr>
          <p:cNvSpPr/>
          <p:nvPr/>
        </p:nvSpPr>
        <p:spPr>
          <a:xfrm>
            <a:off x="6121152" y="1777380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C6C61-5B37-5FC4-E717-5B383CB2685D}"/>
              </a:ext>
            </a:extLst>
          </p:cNvPr>
          <p:cNvSpPr txBox="1"/>
          <p:nvPr/>
        </p:nvSpPr>
        <p:spPr>
          <a:xfrm>
            <a:off x="6121152" y="1987488"/>
            <a:ext cx="249654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w0 = ((w8 &gt;&gt; 16) ^ w8);</a:t>
            </a:r>
            <a:endParaRPr kumimoji="1" lang="zh-CN" altLang="en-US" sz="1400" b="1" dirty="0"/>
          </a:p>
        </p:txBody>
      </p:sp>
      <p:sp>
        <p:nvSpPr>
          <p:cNvPr id="9" name="剪去同侧角的矩形 8">
            <a:extLst>
              <a:ext uri="{FF2B5EF4-FFF2-40B4-BE49-F238E27FC236}">
                <a16:creationId xmlns:a16="http://schemas.microsoft.com/office/drawing/2014/main" id="{57CA6A78-650D-2241-8254-0814E8EE94FB}"/>
              </a:ext>
            </a:extLst>
          </p:cNvPr>
          <p:cNvSpPr/>
          <p:nvPr/>
        </p:nvSpPr>
        <p:spPr>
          <a:xfrm>
            <a:off x="6121152" y="3433564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1A08B5-CAFC-4341-8F65-0F3E06380AF6}"/>
              </a:ext>
            </a:extLst>
          </p:cNvPr>
          <p:cNvSpPr txBox="1"/>
          <p:nvPr/>
        </p:nvSpPr>
        <p:spPr>
          <a:xfrm>
            <a:off x="6121152" y="3651366"/>
            <a:ext cx="286523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long x19; int w0; x19 += w0;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16528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算术运算汇编代码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6408712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6408712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x2, </a:t>
            </a:r>
            <a:r>
              <a:rPr lang="pl-PL" altLang="zh-CN" sz="1667" b="1" dirty="0" err="1"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mov     </a:t>
            </a:r>
            <a:r>
              <a:rPr lang="pl-PL" altLang="zh-CN" sz="1667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w1</a:t>
            </a:r>
            <a:r>
              <a:rPr lang="pl-PL" altLang="zh-CN" sz="1667" b="1" dirty="0">
                <a:latin typeface="Courier New" panose="02070309020205020404" pitchFamily="49" charset="0"/>
              </a:rPr>
              <a:t>, </a:t>
            </a:r>
            <a:r>
              <a:rPr lang="en-US" altLang="zh-CN" sz="1667" b="1" dirty="0">
                <a:latin typeface="Courier New" panose="02070309020205020404" pitchFamily="49" charset="0"/>
              </a:rPr>
              <a:t>#0x0F0F0F0F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</a:t>
            </a:r>
            <a:r>
              <a:rPr lang="pl-PL" altLang="zh-CN" sz="1667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const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graphicFrame>
        <p:nvGraphicFramePr>
          <p:cNvPr id="6" name="Group 67">
            <a:extLst>
              <a:ext uri="{FF2B5EF4-FFF2-40B4-BE49-F238E27FC236}">
                <a16:creationId xmlns:a16="http://schemas.microsoft.com/office/drawing/2014/main" id="{AEF1B91C-C890-4547-AAF2-C3851FC861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4534812"/>
              </p:ext>
            </p:extLst>
          </p:nvPr>
        </p:nvGraphicFramePr>
        <p:xfrm>
          <a:off x="7380312" y="1158010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5E5C765-1C7F-4344-B2CB-18F95418608A}"/>
              </a:ext>
            </a:extLst>
          </p:cNvPr>
          <p:cNvSpPr txBox="1"/>
          <p:nvPr/>
        </p:nvSpPr>
        <p:spPr>
          <a:xfrm>
            <a:off x="771316" y="5320550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0379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D1E8964-BE10-4897-8C66-6E6B6BA6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C3219-FFFD-4FE2-9543-203B51E8E62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1E0C0CB-4DC1-4B69-B9CC-E85DE5A88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练习题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8D4BC3E-F926-4A86-B1E0-9FB47455F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44482" indent="-444482">
              <a:buNone/>
            </a:pPr>
            <a:r>
              <a:rPr lang="zh-CN" altLang="en-US" sz="2000" dirty="0">
                <a:latin typeface="+mj-ea"/>
              </a:rPr>
              <a:t>初始值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4482" indent="-444482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x0 = 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x1 = 1234567898765432</a:t>
            </a:r>
          </a:p>
          <a:p>
            <a:pPr marL="444482" indent="-444482"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x2 = 0000000000000011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2AD841-AE80-1244-4A55-B0C18A4899A7}"/>
              </a:ext>
            </a:extLst>
          </p:cNvPr>
          <p:cNvSpPr txBox="1"/>
          <p:nvPr/>
        </p:nvSpPr>
        <p:spPr>
          <a:xfrm>
            <a:off x="5241458" y="347221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</a:t>
            </a:r>
            <a:r>
              <a:rPr lang="en-US" altLang="zh-CN" sz="18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0008d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EB0C2A-2198-EB13-CCB7-E4ABAD817C94}"/>
              </a:ext>
            </a:extLst>
          </p:cNvPr>
          <p:cNvSpPr txBox="1"/>
          <p:nvPr/>
        </p:nvSpPr>
        <p:spPr>
          <a:xfrm>
            <a:off x="899592" y="3468404"/>
            <a:ext cx="42739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w1, w2,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lsl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#8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x1, x2,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eor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x1, x1, x0,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#4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	w1, w0               x1 =</a:t>
            </a:r>
            <a:endParaRPr lang="en-US" altLang="zh-CN" b="1" dirty="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endParaRPr kumimoji="1"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F83FF-5EBD-F891-3C2A-D015D8BF469E}"/>
              </a:ext>
            </a:extLst>
          </p:cNvPr>
          <p:cNvSpPr txBox="1"/>
          <p:nvPr/>
        </p:nvSpPr>
        <p:spPr>
          <a:xfrm>
            <a:off x="5241458" y="374182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ffffffffffffff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9e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C3F8E-988F-7503-0F2E-24DFF2F72F69}"/>
              </a:ext>
            </a:extLst>
          </p:cNvPr>
          <p:cNvSpPr txBox="1"/>
          <p:nvPr/>
        </p:nvSpPr>
        <p:spPr>
          <a:xfrm>
            <a:off x="5241458" y="402240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123456789876543a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0041BF-5AF6-7710-0B24-5A25ED77F8CD}"/>
              </a:ext>
            </a:extLst>
          </p:cNvPr>
          <p:cNvSpPr txBox="1"/>
          <p:nvPr/>
        </p:nvSpPr>
        <p:spPr>
          <a:xfrm>
            <a:off x="5241458" y="429201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访存指令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230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5" y="1657775"/>
            <a:ext cx="2808313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081EB-B181-CABA-D76B-6707696CF65E}"/>
              </a:ext>
            </a:extLst>
          </p:cNvPr>
          <p:cNvSpPr txBox="1"/>
          <p:nvPr/>
        </p:nvSpPr>
        <p:spPr>
          <a:xfrm>
            <a:off x="7057146" y="5016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20" name="圆柱体 19">
            <a:extLst>
              <a:ext uri="{FF2B5EF4-FFF2-40B4-BE49-F238E27FC236}">
                <a16:creationId xmlns:a16="http://schemas.microsoft.com/office/drawing/2014/main" id="{71B1445F-C9C4-8A7F-2787-04B3135FECE1}"/>
              </a:ext>
            </a:extLst>
          </p:cNvPr>
          <p:cNvSpPr/>
          <p:nvPr/>
        </p:nvSpPr>
        <p:spPr>
          <a:xfrm>
            <a:off x="7092280" y="198801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7A0BCD-DC81-45F2-24B1-6B53C5443F58}"/>
              </a:ext>
            </a:extLst>
          </p:cNvPr>
          <p:cNvSpPr txBox="1"/>
          <p:nvPr/>
        </p:nvSpPr>
        <p:spPr>
          <a:xfrm>
            <a:off x="2193881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8AD9F6-ACB1-F5E1-74CD-7A8945F4B44A}"/>
              </a:ext>
            </a:extLst>
          </p:cNvPr>
          <p:cNvSpPr txBox="1"/>
          <p:nvPr/>
        </p:nvSpPr>
        <p:spPr>
          <a:xfrm>
            <a:off x="4965965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数据存放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FADE9D-D4AE-B486-4BB3-54CFEF4AA010}"/>
              </a:ext>
            </a:extLst>
          </p:cNvPr>
          <p:cNvSpPr txBox="1"/>
          <p:nvPr/>
        </p:nvSpPr>
        <p:spPr>
          <a:xfrm>
            <a:off x="1960460" y="3747454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245AE-B584-7C0F-C579-3D3D33F92156}"/>
              </a:ext>
            </a:extLst>
          </p:cNvPr>
          <p:cNvSpPr txBox="1"/>
          <p:nvPr/>
        </p:nvSpPr>
        <p:spPr>
          <a:xfrm>
            <a:off x="1960459" y="4025830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842361-0B18-74D4-21D1-3370D7559011}"/>
              </a:ext>
            </a:extLst>
          </p:cNvPr>
          <p:cNvSpPr txBox="1"/>
          <p:nvPr/>
        </p:nvSpPr>
        <p:spPr>
          <a:xfrm>
            <a:off x="1960458" y="4297171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9" name="左右箭头 28">
            <a:extLst>
              <a:ext uri="{FF2B5EF4-FFF2-40B4-BE49-F238E27FC236}">
                <a16:creationId xmlns:a16="http://schemas.microsoft.com/office/drawing/2014/main" id="{8453FE6F-51B1-AB47-4DE6-EF80C6D4F0E6}"/>
              </a:ext>
            </a:extLst>
          </p:cNvPr>
          <p:cNvSpPr/>
          <p:nvPr/>
        </p:nvSpPr>
        <p:spPr>
          <a:xfrm>
            <a:off x="2915816" y="4081636"/>
            <a:ext cx="720080" cy="2424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409383-043A-FF4F-7534-0A203D84A075}"/>
              </a:ext>
            </a:extLst>
          </p:cNvPr>
          <p:cNvSpPr txBox="1"/>
          <p:nvPr/>
        </p:nvSpPr>
        <p:spPr>
          <a:xfrm>
            <a:off x="2750805" y="4281782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数据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rgbClr val="C00000"/>
                </a:solidFill>
              </a:rPr>
              <a:t>load/store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F3D211-5C94-1A67-004E-FB346797106F}"/>
              </a:ext>
            </a:extLst>
          </p:cNvPr>
          <p:cNvSpPr txBox="1"/>
          <p:nvPr/>
        </p:nvSpPr>
        <p:spPr>
          <a:xfrm>
            <a:off x="1095" y="2608220"/>
            <a:ext cx="2287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计算指令</a:t>
            </a:r>
            <a:endParaRPr kumimoji="1" lang="en-US" altLang="zh-CN" b="1" dirty="0"/>
          </a:p>
          <a:p>
            <a:r>
              <a:rPr kumimoji="1" lang="en-US" altLang="zh-CN" b="1" dirty="0"/>
              <a:t>mov</a:t>
            </a:r>
            <a:r>
              <a:rPr kumimoji="1" lang="zh-CN" altLang="en-US" b="1" dirty="0"/>
              <a:t>指令</a:t>
            </a:r>
            <a:endParaRPr kumimoji="1" lang="en-US" altLang="zh-CN" b="1" dirty="0"/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操作</a:t>
            </a:r>
            <a:r>
              <a:rPr kumimoji="1" lang="en-US" altLang="zh-CN" b="1" dirty="0">
                <a:solidFill>
                  <a:srgbClr val="C00000"/>
                </a:solidFill>
              </a:rPr>
              <a:t>CPU</a:t>
            </a:r>
            <a:r>
              <a:rPr kumimoji="1" lang="zh-CN" altLang="en-US" b="1" dirty="0">
                <a:solidFill>
                  <a:srgbClr val="C00000"/>
                </a:solidFill>
              </a:rPr>
              <a:t>内部的数据</a:t>
            </a:r>
          </a:p>
        </p:txBody>
      </p:sp>
    </p:spTree>
    <p:extLst>
      <p:ext uri="{BB962C8B-B14F-4D97-AF65-F5344CB8AC3E}">
        <p14:creationId xmlns:p14="http://schemas.microsoft.com/office/powerpoint/2010/main" val="2783844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123937"/>
              </p:ext>
            </p:extLst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从寄存器将数据写入内存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395536" y="2907490"/>
            <a:ext cx="4390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r>
              <a:rPr kumimoji="1" lang="en-US" altLang="zh-CN" baseline="-25000" dirty="0"/>
              <a:t>s</a:t>
            </a:r>
            <a:r>
              <a:rPr kumimoji="1" lang="zh-CN" altLang="en-US" dirty="0"/>
              <a:t>：指寄存器的大小（字节数）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mem[a : b] </a:t>
            </a:r>
            <a:r>
              <a:rPr kumimoji="1" lang="zh-CN" altLang="en-US" dirty="0"/>
              <a:t>指地址 </a:t>
            </a:r>
            <a:r>
              <a:rPr kumimoji="1" lang="en-US" altLang="zh-CN" dirty="0"/>
              <a:t>a </a:t>
            </a:r>
            <a:r>
              <a:rPr kumimoji="1" lang="zh-CN" altLang="en-US" dirty="0"/>
              <a:t>到地址 </a:t>
            </a:r>
            <a:r>
              <a:rPr kumimoji="1" lang="en-US" altLang="zh-CN" dirty="0"/>
              <a:t>b </a:t>
            </a:r>
            <a:r>
              <a:rPr kumimoji="1" lang="zh-CN" altLang="en-US" dirty="0"/>
              <a:t>的内存范围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439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7DACA-6A64-4902-AB23-DE193740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处理器视角下的内存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D06D3-BD63-4818-8DE7-DE85B298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内存可以被视为一个很大的</a:t>
            </a:r>
            <a:r>
              <a:rPr lang="zh-CN" altLang="en-US" sz="2400" dirty="0">
                <a:solidFill>
                  <a:srgbClr val="BE384A"/>
                </a:solidFill>
              </a:rPr>
              <a:t>字节数组</a:t>
            </a:r>
            <a:endParaRPr lang="en-US" altLang="zh-CN" sz="2400" dirty="0">
              <a:solidFill>
                <a:srgbClr val="BE384A"/>
              </a:solidFill>
            </a:endParaRPr>
          </a:p>
          <a:p>
            <a:r>
              <a:rPr lang="zh-CN" altLang="en-US" sz="2400" dirty="0"/>
              <a:t>数组中每个元素可以由唯一的地址来索引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FE2877-088A-4CFE-97AB-4FB0DDB2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F869E2FD-FFB6-4639-92E2-2AC930D243D2}"/>
              </a:ext>
            </a:extLst>
          </p:cNvPr>
          <p:cNvGraphicFramePr>
            <a:graphicFrameLocks noGrp="1"/>
          </p:cNvGraphicFramePr>
          <p:nvPr/>
        </p:nvGraphicFramePr>
        <p:xfrm>
          <a:off x="3830960" y="2641476"/>
          <a:ext cx="1371600" cy="274002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  <a:cs typeface="Times New Roman" pitchFamily="18" charset="0"/>
                        </a:rPr>
                        <a:t>… … … 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0D6728A4-612C-4B7C-B14F-65EBB3438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2666004"/>
            <a:ext cx="1770856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0xffffffffffff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0xfffffffffffe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0x2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0x1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0x0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2A117850-2DBA-497E-953A-E225DF2C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238337"/>
            <a:ext cx="1447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地址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8" name="Line 26">
            <a:extLst>
              <a:ext uri="{FF2B5EF4-FFF2-40B4-BE49-F238E27FC236}">
                <a16:creationId xmlns:a16="http://schemas.microsoft.com/office/drawing/2014/main" id="{1C942C4E-60E9-4361-A324-4F326C4FB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2870076"/>
            <a:ext cx="633806" cy="5334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7">
            <a:extLst>
              <a:ext uri="{FF2B5EF4-FFF2-40B4-BE49-F238E27FC236}">
                <a16:creationId xmlns:a16="http://schemas.microsoft.com/office/drawing/2014/main" id="{CD138723-0EA0-4E28-A17A-3134B9397C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3187398"/>
            <a:ext cx="633806" cy="21607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DCBF1D9E-A97B-4B5B-B3FC-81D99565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4680" y="3141605"/>
            <a:ext cx="175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内容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1" name="Line 29">
            <a:extLst>
              <a:ext uri="{FF2B5EF4-FFF2-40B4-BE49-F238E27FC236}">
                <a16:creationId xmlns:a16="http://schemas.microsoft.com/office/drawing/2014/main" id="{DEF361D5-F513-4C6A-BCD4-82A7B8F8FC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5366" y="3356222"/>
            <a:ext cx="2139314" cy="51082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0">
            <a:extLst>
              <a:ext uri="{FF2B5EF4-FFF2-40B4-BE49-F238E27FC236}">
                <a16:creationId xmlns:a16="http://schemas.microsoft.com/office/drawing/2014/main" id="{18725CEA-2A59-489F-B80E-6BC4FDC35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8024" y="3356223"/>
            <a:ext cx="2256656" cy="19049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58F0F3C5-FF7A-4D9A-9466-0EA89F41F6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88024" y="2785492"/>
            <a:ext cx="2256656" cy="570731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5B1D844D-BDD8-4466-A67A-B10609AB4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182216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117DFD98-83F2-4FCF-8491-C36C27F8C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5"/>
            <a:ext cx="1770856" cy="185774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CA825864-A46C-41BE-8C3C-01E69E60E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47024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317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8CE74-3CDE-42D1-B3BC-6EFF4026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AB6ED-8E3F-4CF5-9A11-48E660FA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将“内存数组”的名称记为 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zh-CN" altLang="en-US" dirty="0"/>
              <a:t>若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为要访问的内存地址，</a:t>
            </a:r>
            <a:br>
              <a:rPr lang="en-US" altLang="zh-CN" dirty="0"/>
            </a:b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M[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dirty="0"/>
              <a:t>即为由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开始的内存单元的内容</a:t>
            </a:r>
            <a:endParaRPr lang="en-US" altLang="zh-CN" dirty="0"/>
          </a:p>
          <a:p>
            <a:pPr lvl="2"/>
            <a:r>
              <a:rPr lang="en-US" altLang="zh-CN" dirty="0" err="1"/>
              <a:t>addr</a:t>
            </a:r>
            <a:r>
              <a:rPr lang="zh-CN" altLang="en-US" dirty="0"/>
              <a:t> 在这里被用作“内存数组”的索引</a:t>
            </a:r>
            <a:endParaRPr lang="en-US" altLang="zh-CN" dirty="0"/>
          </a:p>
          <a:p>
            <a:pPr lvl="1"/>
            <a:r>
              <a:rPr lang="zh-CN" altLang="en-US" dirty="0"/>
              <a:t>内存单元的大小由上下文决定</a:t>
            </a:r>
            <a:endParaRPr lang="en-US" altLang="zh-CN" dirty="0"/>
          </a:p>
          <a:p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的具体格式由</a:t>
            </a:r>
            <a:r>
              <a:rPr lang="zh-CN" altLang="en-US" dirty="0">
                <a:solidFill>
                  <a:srgbClr val="C00000"/>
                </a:solidFill>
              </a:rPr>
              <a:t>寻址模式</a:t>
            </a:r>
            <a:r>
              <a:rPr lang="zh-CN" altLang="en-US" dirty="0"/>
              <a:t>决定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D718D-5FD7-4A8A-803B-384A8B1A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245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12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23471-21EB-60DE-E454-70583E83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示例：基地址模式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CFC77C6-DF19-C270-5404-7D7188A95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52" y="1201316"/>
            <a:ext cx="4436094" cy="370076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9CBF0A-3A38-9300-B145-380AE131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C2309B-255F-A34C-AE31-C29DF2EB48B8}"/>
              </a:ext>
            </a:extLst>
          </p:cNvPr>
          <p:cNvSpPr txBox="1"/>
          <p:nvPr/>
        </p:nvSpPr>
        <p:spPr>
          <a:xfrm>
            <a:off x="1763688" y="5101535"/>
            <a:ext cx="458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2066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7BE41-9091-4454-BEC7-ADC8E08A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基地址加偏移量模式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31D7B-4476-42B7-B4B2-ECD85D44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引用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M[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baseline="-25000" dirty="0">
                <a:solidFill>
                  <a:srgbClr val="C0000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Offset]</a:t>
            </a:r>
            <a:r>
              <a:rPr lang="zh-CN" altLang="en-US" sz="2400" dirty="0">
                <a:latin typeface="+mn-ea"/>
                <a:ea typeface="+mn-ea"/>
              </a:rPr>
              <a:t>处的数据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基地址寄存器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64</a:t>
            </a:r>
            <a:r>
              <a:rPr lang="zh-CN" altLang="en-US" sz="2400" dirty="0">
                <a:latin typeface="+mn-ea"/>
                <a:ea typeface="+mn-ea"/>
              </a:rPr>
              <a:t>位通用寄存器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偏移量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</a:t>
            </a:r>
            <a:r>
              <a:rPr lang="zh-CN" altLang="en-US" sz="2400" dirty="0">
                <a:latin typeface="+mn-ea"/>
                <a:ea typeface="+mn-ea"/>
              </a:rPr>
              <a:t>可以是下列选项之一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立即数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#imm</a:t>
            </a:r>
            <a:endParaRPr lang="en-US" altLang="zh-CN" sz="20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2000" dirty="0">
                <a:latin typeface="+mn-ea"/>
                <a:ea typeface="+mn-ea"/>
              </a:rPr>
              <a:t>64</a:t>
            </a:r>
            <a:r>
              <a:rPr lang="zh-CN" altLang="en-US" sz="2000" dirty="0">
                <a:latin typeface="+mn-ea"/>
                <a:ea typeface="+mn-ea"/>
              </a:rPr>
              <a:t>位通用寄存器 </a:t>
            </a:r>
            <a:r>
              <a:rPr lang="en-US" altLang="zh-CN" sz="2000" b="1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修改过的寄存器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>
                <a:solidFill>
                  <a:srgbClr val="C00000"/>
                </a:solidFill>
                <a:latin typeface="+mn-ea"/>
                <a:ea typeface="+mn-ea"/>
              </a:rPr>
              <a:t>m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, op</a:t>
            </a:r>
            <a:r>
              <a:rPr lang="zh-CN" altLang="en-US" sz="2000" dirty="0">
                <a:latin typeface="+mn-ea"/>
                <a:ea typeface="+mn-ea"/>
              </a:rPr>
              <a:t>，在这里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000" dirty="0">
                <a:latin typeface="+mn-ea"/>
                <a:ea typeface="+mn-ea"/>
              </a:rPr>
              <a:t>可以是</a:t>
            </a:r>
            <a:endParaRPr lang="en-US" altLang="zh-CN" sz="1800" b="1" baseline="-250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移位运算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lsl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 #3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位扩展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sxtw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E7FEE3-777B-41BC-BDED-A26345C2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112814-3119-9E43-B2C9-EE5FF4D50FDA}"/>
              </a:ext>
            </a:extLst>
          </p:cNvPr>
          <p:cNvSpPr txBox="1"/>
          <p:nvPr/>
        </p:nvSpPr>
        <p:spPr>
          <a:xfrm>
            <a:off x="6660232" y="3073524"/>
            <a:ext cx="2105063" cy="152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w8, [x0, #8]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w9, [x1, x0]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x0, </a:t>
            </a:r>
            <a:r>
              <a:rPr kumimoji="1" lang="en-US" altLang="zh-CN" sz="1600" dirty="0" err="1"/>
              <a:t>lsl</a:t>
            </a:r>
            <a:r>
              <a:rPr kumimoji="1" lang="en-US" altLang="zh-CN" sz="1600" dirty="0"/>
              <a:t> #2]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w0, </a:t>
            </a:r>
            <a:r>
              <a:rPr kumimoji="1" lang="en-US" altLang="zh-CN" sz="1600" dirty="0" err="1"/>
              <a:t>sxtw</a:t>
            </a:r>
            <a:r>
              <a:rPr kumimoji="1" lang="en-US" altLang="zh-CN" sz="1600" dirty="0"/>
              <a:t>]</a:t>
            </a:r>
            <a:endParaRPr kumimoji="1" lang="zh-CN" altLang="en-US" sz="1600" dirty="0"/>
          </a:p>
        </p:txBody>
      </p:sp>
      <p:sp>
        <p:nvSpPr>
          <p:cNvPr id="6" name="竖卷形 5">
            <a:extLst>
              <a:ext uri="{FF2B5EF4-FFF2-40B4-BE49-F238E27FC236}">
                <a16:creationId xmlns:a16="http://schemas.microsoft.com/office/drawing/2014/main" id="{B7956273-010D-4E01-4B33-7FB22F35072B}"/>
              </a:ext>
            </a:extLst>
          </p:cNvPr>
          <p:cNvSpPr/>
          <p:nvPr/>
        </p:nvSpPr>
        <p:spPr>
          <a:xfrm>
            <a:off x="6300192" y="2569468"/>
            <a:ext cx="2736304" cy="2448272"/>
          </a:xfrm>
          <a:prstGeom prst="verticalScroll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830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7EACFEC0-7899-4AF6-A20E-4B7790CE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7DC58-4C32-4BE8-8C69-664057199B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75F42F2-AD51-4FE1-A4A5-12046FEAA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示例：基地址加偏移量模式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5C31348-1C03-4CD7-8EB7-4D9378B3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假设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E</a:t>
            </a:r>
            <a:r>
              <a:rPr lang="zh-CN" altLang="en-US" dirty="0"/>
              <a:t>是一个整型数组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的起始地址存放在</a:t>
            </a:r>
            <a:r>
              <a:rPr lang="en-US" altLang="zh-CN" dirty="0"/>
              <a:t>x0</a:t>
            </a:r>
            <a:r>
              <a:rPr lang="zh-CN" altLang="en-US" dirty="0"/>
              <a:t>寄存器中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的索引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存放在</a:t>
            </a:r>
            <a:r>
              <a:rPr lang="en-US" altLang="zh-CN" dirty="0"/>
              <a:t>x1</a:t>
            </a:r>
            <a:r>
              <a:rPr lang="zh-CN" altLang="en-US" dirty="0"/>
              <a:t>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访问数组元素</a:t>
            </a:r>
            <a:r>
              <a:rPr lang="en-US" altLang="zh-CN" dirty="0">
                <a:ea typeface="宋体" panose="02010600030101010101" pitchFamily="2" charset="-122"/>
              </a:rPr>
              <a:t>E[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/>
              <a:t>的</a:t>
            </a:r>
            <a:r>
              <a:rPr lang="en-US" altLang="zh-CN" dirty="0"/>
              <a:t>ARM</a:t>
            </a:r>
            <a:r>
              <a:rPr lang="zh-CN" altLang="en-US" dirty="0"/>
              <a:t>汇编为：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ldr</a:t>
            </a:r>
            <a:r>
              <a:rPr lang="en-US" altLang="zh-CN" b="1" dirty="0">
                <a:ea typeface="宋体" panose="02010600030101010101" pitchFamily="2" charset="-122"/>
              </a:rPr>
              <a:t>  x2, 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[x0, x1, </a:t>
            </a:r>
            <a:r>
              <a:rPr lang="en-US" altLang="zh-CN" b="1" dirty="0" err="1">
                <a:solidFill>
                  <a:srgbClr val="C00000"/>
                </a:solidFill>
                <a:ea typeface="宋体" panose="02010600030101010101" pitchFamily="2" charset="-122"/>
              </a:rPr>
              <a:t>lsl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 #3]</a:t>
            </a:r>
          </a:p>
        </p:txBody>
      </p:sp>
      <p:graphicFrame>
        <p:nvGraphicFramePr>
          <p:cNvPr id="2" name="Group 3">
            <a:extLst>
              <a:ext uri="{FF2B5EF4-FFF2-40B4-BE49-F238E27FC236}">
                <a16:creationId xmlns:a16="http://schemas.microsoft.com/office/drawing/2014/main" id="{4FB9B76C-AFB9-9777-A682-071DDE897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702352"/>
              </p:ext>
            </p:extLst>
          </p:nvPr>
        </p:nvGraphicFramePr>
        <p:xfrm>
          <a:off x="4821713" y="1531888"/>
          <a:ext cx="4191000" cy="3175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Box 25">
            <a:extLst>
              <a:ext uri="{FF2B5EF4-FFF2-40B4-BE49-F238E27FC236}">
                <a16:creationId xmlns:a16="http://schemas.microsoft.com/office/drawing/2014/main" id="{6F70355B-7B8A-1B47-3B15-1EB292B5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651" y="1121784"/>
            <a:ext cx="18774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E[6] 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  <a:p>
            <a:pPr lvl="1"/>
            <a:r>
              <a:rPr lang="zh-CN" altLang="en-US" dirty="0"/>
              <a:t>前索引寻址（寻址操作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前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offset]!</a:t>
            </a:r>
            <a:r>
              <a:rPr lang="zh-CN" altLang="en-US" dirty="0"/>
              <a:t>                    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Offset;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</a:t>
            </a:r>
            <a:endParaRPr lang="en-US" altLang="zh-CN" dirty="0"/>
          </a:p>
          <a:p>
            <a:pPr lvl="1"/>
            <a:r>
              <a:rPr lang="zh-CN" altLang="en-US" dirty="0"/>
              <a:t>后索引寻址（寻址操作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后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], offset</a:t>
            </a:r>
            <a:r>
              <a:rPr lang="zh-CN" altLang="en-US" dirty="0"/>
              <a:t>                    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];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38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89877"/>
              </p:ext>
            </p:extLst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4587612"/>
              </p:ext>
            </p:extLst>
          </p:nvPr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997492"/>
              </p:ext>
            </p:extLst>
          </p:nvPr>
        </p:nvGraphicFramePr>
        <p:xfrm>
          <a:off x="3169542" y="1273324"/>
          <a:ext cx="5433418" cy="3621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46452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#0x18]!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553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[X0], #0x18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77537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8570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3682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30781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  <p:sp>
        <p:nvSpPr>
          <p:cNvPr id="13" name="Rectangle 49">
            <a:extLst>
              <a:ext uri="{FF2B5EF4-FFF2-40B4-BE49-F238E27FC236}">
                <a16:creationId xmlns:a16="http://schemas.microsoft.com/office/drawing/2014/main" id="{25388745-805E-154E-9906-D3E934D4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17902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0x100</a:t>
            </a:r>
          </a:p>
        </p:txBody>
      </p:sp>
      <p:sp>
        <p:nvSpPr>
          <p:cNvPr id="14" name="Rectangle 41">
            <a:extLst>
              <a:ext uri="{FF2B5EF4-FFF2-40B4-BE49-F238E27FC236}">
                <a16:creationId xmlns:a16="http://schemas.microsoft.com/office/drawing/2014/main" id="{619C0C1E-24E4-9542-A0D0-08A194D97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8889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(0x118)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0x11</a:t>
            </a:r>
          </a:p>
        </p:txBody>
      </p:sp>
      <p:sp>
        <p:nvSpPr>
          <p:cNvPr id="15" name="Rectangle 41">
            <a:extLst>
              <a:ext uri="{FF2B5EF4-FFF2-40B4-BE49-F238E27FC236}">
                <a16:creationId xmlns:a16="http://schemas.microsoft.com/office/drawing/2014/main" id="{C5F5185B-08D1-5A45-AA1C-B1C11E7A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44096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(0x100)</a:t>
            </a:r>
            <a:r>
              <a:rPr lang="zh-CN" altLang="en-US" sz="1800" b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3419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41381</TotalTime>
  <Words>4176</Words>
  <Application>Microsoft Macintosh PowerPoint</Application>
  <PresentationFormat>全屏显示(16:10)</PresentationFormat>
  <Paragraphs>892</Paragraphs>
  <Slides>48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9" baseType="lpstr">
      <vt:lpstr>DengXian</vt:lpstr>
      <vt:lpstr>微软雅黑</vt:lpstr>
      <vt:lpstr>Arial</vt:lpstr>
      <vt:lpstr>Calibri</vt:lpstr>
      <vt:lpstr>Comic Sans MS</vt:lpstr>
      <vt:lpstr>Consolas</vt:lpstr>
      <vt:lpstr>Courier New</vt:lpstr>
      <vt:lpstr>Helvetica Neue</vt:lpstr>
      <vt:lpstr>Lato</vt:lpstr>
      <vt:lpstr>Times New Roman</vt:lpstr>
      <vt:lpstr>Office 主题​​</vt:lpstr>
      <vt:lpstr>ARM汇编 – 基础</vt:lpstr>
      <vt:lpstr>版权声明</vt:lpstr>
      <vt:lpstr>回顾：不同操作系统架构的对比</vt:lpstr>
      <vt:lpstr>从应用的视角看操作系统</vt:lpstr>
      <vt:lpstr>PowerPoint 演示文稿</vt:lpstr>
      <vt:lpstr>大纲</vt:lpstr>
      <vt:lpstr>为什么学习ARM ISA/汇编</vt:lpstr>
      <vt:lpstr>指令集架构与操作系统</vt:lpstr>
      <vt:lpstr>为什么选择ARM</vt:lpstr>
      <vt:lpstr>从C语言到汇编语言</vt:lpstr>
      <vt:lpstr>为什么硬件不能直接运行C语言的源代码</vt:lpstr>
      <vt:lpstr>C代码示例</vt:lpstr>
      <vt:lpstr>编译过程</vt:lpstr>
      <vt:lpstr>从C程序到二进制编码</vt:lpstr>
      <vt:lpstr>从C程序到二进制编码</vt:lpstr>
      <vt:lpstr>从C程序到二进制编码</vt:lpstr>
      <vt:lpstr>理解ARM汇编</vt:lpstr>
      <vt:lpstr>俯瞰指令执行：程序代码在哪</vt:lpstr>
      <vt:lpstr>俯瞰指令执行：代码加载</vt:lpstr>
      <vt:lpstr>俯瞰指令执行：指令位置</vt:lpstr>
      <vt:lpstr>俯瞰指令执行：更新PC找到下一条指令</vt:lpstr>
      <vt:lpstr>俯瞰指令执行：数据在哪</vt:lpstr>
      <vt:lpstr>寄存器数据搬移指令 </vt:lpstr>
      <vt:lpstr>寄存器：处理器内部的高速存储单元</vt:lpstr>
      <vt:lpstr>寄存器间的数据搬移指令</vt:lpstr>
      <vt:lpstr>实例：寄存器间的数据搬移指令</vt:lpstr>
      <vt:lpstr>算术与逻辑运算指令 </vt:lpstr>
      <vt:lpstr>算术指令</vt:lpstr>
      <vt:lpstr>移位指令</vt:lpstr>
      <vt:lpstr>移位指令</vt:lpstr>
      <vt:lpstr>逻辑运算指令</vt:lpstr>
      <vt:lpstr>练习</vt:lpstr>
      <vt:lpstr>算术运算汇编代码</vt:lpstr>
      <vt:lpstr>Modified Register：修改过的寄存器</vt:lpstr>
      <vt:lpstr>Modified Register的常见用法</vt:lpstr>
      <vt:lpstr>算术运算汇编代码</vt:lpstr>
      <vt:lpstr>练习题</vt:lpstr>
      <vt:lpstr>访存指令</vt:lpstr>
      <vt:lpstr>回顾</vt:lpstr>
      <vt:lpstr>访存指令</vt:lpstr>
      <vt:lpstr>处理器视角下的内存</vt:lpstr>
      <vt:lpstr>内存地址</vt:lpstr>
      <vt:lpstr>寻址模式</vt:lpstr>
      <vt:lpstr>示例：基地址模式</vt:lpstr>
      <vt:lpstr>基地址加偏移量模式</vt:lpstr>
      <vt:lpstr>示例：基地址加偏移量模式</vt:lpstr>
      <vt:lpstr>寻址模式小结</vt:lpstr>
      <vt:lpstr>练习题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1462</cp:revision>
  <cp:lastPrinted>2020-03-02T13:38:09Z</cp:lastPrinted>
  <dcterms:created xsi:type="dcterms:W3CDTF">2017-11-24T09:35:45Z</dcterms:created>
  <dcterms:modified xsi:type="dcterms:W3CDTF">2024-06-14T15:18:25Z</dcterms:modified>
</cp:coreProperties>
</file>