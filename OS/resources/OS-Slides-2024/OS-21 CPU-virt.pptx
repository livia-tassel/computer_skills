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0"/>
  </p:notesMasterIdLst>
  <p:handoutMasterIdLst>
    <p:handoutMasterId r:id="rId41"/>
  </p:handoutMasterIdLst>
  <p:sldIdLst>
    <p:sldId id="1306" r:id="rId2"/>
    <p:sldId id="1359" r:id="rId3"/>
    <p:sldId id="502" r:id="rId4"/>
    <p:sldId id="2771" r:id="rId5"/>
    <p:sldId id="2727" r:id="rId6"/>
    <p:sldId id="2728" r:id="rId7"/>
    <p:sldId id="2729" r:id="rId8"/>
    <p:sldId id="384" r:id="rId9"/>
    <p:sldId id="2730" r:id="rId10"/>
    <p:sldId id="2731" r:id="rId11"/>
    <p:sldId id="2732" r:id="rId12"/>
    <p:sldId id="388" r:id="rId13"/>
    <p:sldId id="389" r:id="rId14"/>
    <p:sldId id="390" r:id="rId15"/>
    <p:sldId id="391" r:id="rId16"/>
    <p:sldId id="392" r:id="rId17"/>
    <p:sldId id="2733" r:id="rId18"/>
    <p:sldId id="2734" r:id="rId19"/>
    <p:sldId id="2750" r:id="rId20"/>
    <p:sldId id="2735" r:id="rId21"/>
    <p:sldId id="2762" r:id="rId22"/>
    <p:sldId id="2765" r:id="rId23"/>
    <p:sldId id="2746" r:id="rId24"/>
    <p:sldId id="2747" r:id="rId25"/>
    <p:sldId id="2748" r:id="rId26"/>
    <p:sldId id="2745" r:id="rId27"/>
    <p:sldId id="2766" r:id="rId28"/>
    <p:sldId id="2736" r:id="rId29"/>
    <p:sldId id="2737" r:id="rId30"/>
    <p:sldId id="2738" r:id="rId31"/>
    <p:sldId id="2739" r:id="rId32"/>
    <p:sldId id="2767" r:id="rId33"/>
    <p:sldId id="2740" r:id="rId34"/>
    <p:sldId id="2741" r:id="rId35"/>
    <p:sldId id="2742" r:id="rId36"/>
    <p:sldId id="2743" r:id="rId37"/>
    <p:sldId id="2749" r:id="rId38"/>
    <p:sldId id="2769" r:id="rId39"/>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userDrawn="1">
          <p15:clr>
            <a:srgbClr val="A4A3A4"/>
          </p15:clr>
        </p15:guide>
        <p15:guide id="2" pos="3878" userDrawn="1">
          <p15:clr>
            <a:srgbClr val="A4A3A4"/>
          </p15:clr>
        </p15:guide>
        <p15:guide id="3"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404040"/>
    <a:srgbClr val="BE384B"/>
    <a:srgbClr val="FFFF99"/>
    <a:srgbClr val="515151"/>
    <a:srgbClr val="941100"/>
    <a:srgbClr val="FF2F92"/>
    <a:srgbClr val="0432FF"/>
    <a:srgbClr val="FF9300"/>
    <a:srgbClr val="00FB92"/>
    <a:srgbClr val="2121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251" autoAdjust="0"/>
    <p:restoredTop sz="85782" autoAdjust="0"/>
  </p:normalViewPr>
  <p:slideViewPr>
    <p:cSldViewPr>
      <p:cViewPr varScale="1">
        <p:scale>
          <a:sx n="125" d="100"/>
          <a:sy n="125" d="100"/>
        </p:scale>
        <p:origin x="752" y="176"/>
      </p:cViewPr>
      <p:guideLst>
        <p:guide orient="horz" pos="1800"/>
        <p:guide pos="3878"/>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21" d="100"/>
          <a:sy n="121" d="100"/>
        </p:scale>
        <p:origin x="3864" y="1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384E5B-0B7C-A143-A087-04B582FC4BEF}" type="datetimeFigureOut">
              <a:rPr kumimoji="1" lang="zh-CN" altLang="en-US" smtClean="0"/>
              <a:t>2024/6/14</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78370ED-3FEA-E543-9D41-DF20FAD761C7}" type="slidenum">
              <a:rPr kumimoji="1" lang="zh-CN" altLang="en-US" smtClean="0"/>
              <a:t>‹#›</a:t>
            </a:fld>
            <a:endParaRPr kumimoji="1" lang="zh-CN" altLang="en-US"/>
          </a:p>
        </p:txBody>
      </p:sp>
    </p:spTree>
    <p:extLst>
      <p:ext uri="{BB962C8B-B14F-4D97-AF65-F5344CB8AC3E}">
        <p14:creationId xmlns:p14="http://schemas.microsoft.com/office/powerpoint/2010/main" val="35551917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D7DB94-E0DE-4F0F-A9B7-54654CD8C8B1}" type="datetimeFigureOut">
              <a:rPr lang="zh-CN" altLang="en-US" smtClean="0"/>
              <a:t>2024/6/14</a:t>
            </a:fld>
            <a:endParaRPr lang="zh-CN" altLang="en-US"/>
          </a:p>
        </p:txBody>
      </p:sp>
      <p:sp>
        <p:nvSpPr>
          <p:cNvPr id="4" name="幻灯片图像占位符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A84A077-83E9-49A7-9F59-234D78BD6949}" type="slidenum">
              <a:rPr lang="zh-CN" altLang="en-US" smtClean="0"/>
              <a:t>‹#›</a:t>
            </a:fld>
            <a:endParaRPr lang="zh-CN" altLang="en-US"/>
          </a:p>
        </p:txBody>
      </p:sp>
    </p:spTree>
    <p:extLst>
      <p:ext uri="{BB962C8B-B14F-4D97-AF65-F5344CB8AC3E}">
        <p14:creationId xmlns:p14="http://schemas.microsoft.com/office/powerpoint/2010/main" val="2430265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685800"/>
            <a:ext cx="5486400" cy="3429000"/>
          </a:xfrm>
        </p:spPr>
      </p:sp>
      <p:sp>
        <p:nvSpPr>
          <p:cNvPr id="3" name="备注占位符 2"/>
          <p:cNvSpPr>
            <a:spLocks noGrp="1"/>
          </p:cNvSpPr>
          <p:nvPr>
            <p:ph type="body" idx="1"/>
          </p:nvPr>
        </p:nvSpPr>
        <p:spPr/>
        <p:txBody>
          <a:bodyPr/>
          <a:lstStyle/>
          <a:p>
            <a:endParaRPr kumimoji="1" lang="en-US" altLang="zh-CN" baseline="0"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solidFill>
                  <a:prstClr val="black"/>
                </a:solidFill>
              </a:rPr>
              <a:pPr/>
              <a:t>1</a:t>
            </a:fld>
            <a:endParaRPr lang="zh-CN" altLang="en-US">
              <a:solidFill>
                <a:prstClr val="black"/>
              </a:solidFill>
            </a:endParaRPr>
          </a:p>
        </p:txBody>
      </p:sp>
    </p:spTree>
    <p:extLst>
      <p:ext uri="{BB962C8B-B14F-4D97-AF65-F5344CB8AC3E}">
        <p14:creationId xmlns:p14="http://schemas.microsoft.com/office/powerpoint/2010/main" val="1299018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7F7F7F"/>
            </a:solidFill>
            <a:miter lim="800000"/>
            <a:headEnd/>
            <a:tailEnd/>
          </a:ln>
        </p:spPr>
      </p:sp>
      <p:sp>
        <p:nvSpPr>
          <p:cNvPr id="3" name="Notes Placeholder 2"/>
          <p:cNvSpPr>
            <a:spLocks noGrp="1"/>
          </p:cNvSpPr>
          <p:nvPr>
            <p:ph type="body" idx="1"/>
          </p:nvPr>
        </p:nvSpPr>
        <p:spPr/>
        <p:txBody>
          <a:bodyPr wrap="square" numCol="1" anchor="t" anchorCtr="0" compatLnSpc="1">
            <a:prstTxWarp prst="textNoShape">
              <a:avLst/>
            </a:prstTxWarp>
          </a:bodyPr>
          <a:lstStyle/>
          <a:p>
            <a:pPr eaLnBrk="1" hangingPunct="1">
              <a:lnSpc>
                <a:spcPct val="90000"/>
              </a:lnSpc>
            </a:pPr>
            <a:endParaRPr lang="en-US" altLang="zh-TW" sz="1100"/>
          </a:p>
        </p:txBody>
      </p:sp>
      <p:sp>
        <p:nvSpPr>
          <p:cNvPr id="4" name="Slide Number Placeholder 3"/>
          <p:cNvSpPr>
            <a:spLocks noGrp="1"/>
          </p:cNvSpPr>
          <p:nvPr>
            <p:ph type="sldNum" sz="quarter" idx="5"/>
          </p:nvPr>
        </p:nvSpPr>
        <p:spPr/>
        <p:txBody>
          <a:bodyPr/>
          <a:lstStyle/>
          <a:p>
            <a:fld id="{D2F0FC9B-40AB-4675-94A7-6BEFBBE727CB}" type="slidenum">
              <a:rPr lang="en-US" altLang="zh-TW"/>
              <a:pPr/>
              <a:t>12</a:t>
            </a:fld>
            <a:endParaRPr lang="en-US" altLang="zh-TW"/>
          </a:p>
        </p:txBody>
      </p:sp>
    </p:spTree>
    <p:extLst>
      <p:ext uri="{BB962C8B-B14F-4D97-AF65-F5344CB8AC3E}">
        <p14:creationId xmlns:p14="http://schemas.microsoft.com/office/powerpoint/2010/main" val="11884360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7F7F7F"/>
            </a:solidFill>
            <a:miter lim="800000"/>
            <a:headEnd/>
            <a:tailEnd/>
          </a:ln>
        </p:spPr>
      </p:sp>
      <p:sp>
        <p:nvSpPr>
          <p:cNvPr id="3" name="Notes Placeholder 2"/>
          <p:cNvSpPr>
            <a:spLocks noGrp="1"/>
          </p:cNvSpPr>
          <p:nvPr>
            <p:ph type="body" idx="1"/>
          </p:nvPr>
        </p:nvSpPr>
        <p:spPr/>
        <p:txBody>
          <a:bodyPr wrap="square" numCol="1" anchor="t" anchorCtr="0" compatLnSpc="1">
            <a:prstTxWarp prst="textNoShape">
              <a:avLst/>
            </a:prstTxWarp>
          </a:bodyPr>
          <a:lstStyle/>
          <a:p>
            <a:pPr eaLnBrk="1" hangingPunct="1">
              <a:lnSpc>
                <a:spcPct val="90000"/>
              </a:lnSpc>
            </a:pPr>
            <a:r>
              <a:rPr lang="en-US" altLang="zh-TW" sz="1100" dirty="0"/>
              <a:t>Dynamic binary translation is used in virtualizing the CPU by translating potentially dangerous (or non-</a:t>
            </a:r>
            <a:r>
              <a:rPr lang="en-US" altLang="zh-TW" sz="1100" dirty="0" err="1"/>
              <a:t>virtualizable</a:t>
            </a:r>
            <a:r>
              <a:rPr lang="en-US" altLang="zh-TW" sz="1100" dirty="0"/>
              <a:t>) instruction sequences one-by-one into safe instruction sequences. </a:t>
            </a:r>
          </a:p>
          <a:p>
            <a:pPr eaLnBrk="1" hangingPunct="1">
              <a:lnSpc>
                <a:spcPct val="90000"/>
              </a:lnSpc>
            </a:pPr>
            <a:endParaRPr lang="en-US" altLang="zh-TW" sz="1100" dirty="0"/>
          </a:p>
          <a:p>
            <a:pPr eaLnBrk="1" hangingPunct="1">
              <a:lnSpc>
                <a:spcPct val="90000"/>
              </a:lnSpc>
            </a:pPr>
            <a:r>
              <a:rPr lang="en-US" altLang="zh-TW" sz="1100" dirty="0"/>
              <a:t> It works like this:</a:t>
            </a:r>
          </a:p>
          <a:p>
            <a:pPr eaLnBrk="1" hangingPunct="1">
              <a:lnSpc>
                <a:spcPct val="90000"/>
              </a:lnSpc>
            </a:pPr>
            <a:endParaRPr lang="en-US" altLang="zh-TW" sz="1100" dirty="0"/>
          </a:p>
          <a:p>
            <a:pPr eaLnBrk="1" hangingPunct="1">
              <a:lnSpc>
                <a:spcPct val="90000"/>
              </a:lnSpc>
              <a:buFont typeface="Calibri" pitchFamily="34" charset="0"/>
              <a:buAutoNum type="arabicPeriod"/>
            </a:pPr>
            <a:r>
              <a:rPr lang="en-US" altLang="zh-TW" sz="1100" dirty="0"/>
              <a:t>The monitor inspects the next sequence of instructions. An instruction sequence is typically defined as the next basic block, that is all instructions up to the next control transfer instruction such as a branch. There may be reasons to end a sequence earlier or go past a branch but for now lets assume we go to the next branch.</a:t>
            </a:r>
          </a:p>
          <a:p>
            <a:pPr eaLnBrk="1" hangingPunct="1">
              <a:lnSpc>
                <a:spcPct val="90000"/>
              </a:lnSpc>
              <a:buFont typeface="Calibri" pitchFamily="34" charset="0"/>
              <a:buAutoNum type="arabicPeriod"/>
            </a:pPr>
            <a:r>
              <a:rPr lang="en-US" altLang="zh-TW" sz="1100" dirty="0"/>
              <a:t>Each instruction is translated and the translation is copied into a translation cache.</a:t>
            </a:r>
          </a:p>
          <a:p>
            <a:pPr eaLnBrk="1" hangingPunct="1">
              <a:lnSpc>
                <a:spcPct val="90000"/>
              </a:lnSpc>
              <a:buFont typeface="Calibri" pitchFamily="34" charset="0"/>
              <a:buAutoNum type="arabicPeriod"/>
            </a:pPr>
            <a:r>
              <a:rPr lang="en-US" altLang="zh-TW" sz="1100" dirty="0"/>
              <a:t>Instructions are translated as follows:</a:t>
            </a:r>
          </a:p>
          <a:p>
            <a:pPr marL="723900" lvl="1" indent="-241300" eaLnBrk="1" hangingPunct="1">
              <a:lnSpc>
                <a:spcPct val="90000"/>
              </a:lnSpc>
              <a:buFontTx/>
              <a:buChar char="•"/>
            </a:pPr>
            <a:r>
              <a:rPr lang="en-US" altLang="zh-TW" sz="1100" dirty="0"/>
              <a:t>Instructions which pose no problems can be copied into the translation cache with modification. We call these “</a:t>
            </a:r>
            <a:r>
              <a:rPr lang="en-US" altLang="zh-TW" sz="1100" dirty="0" err="1"/>
              <a:t>ident</a:t>
            </a:r>
            <a:r>
              <a:rPr lang="en-US" altLang="zh-TW" sz="1100" dirty="0"/>
              <a:t>” translations.</a:t>
            </a:r>
          </a:p>
          <a:p>
            <a:pPr marL="723900" lvl="1" indent="-241300" eaLnBrk="1" hangingPunct="1">
              <a:lnSpc>
                <a:spcPct val="90000"/>
              </a:lnSpc>
              <a:buFontTx/>
              <a:buChar char="•"/>
            </a:pPr>
            <a:r>
              <a:rPr lang="en-US" altLang="zh-TW" sz="1100" dirty="0"/>
              <a:t>Some simple dangerous instructions can be translated into a short sequence emulation code. This code is placed directly into the translation cache. We call this “inline” translation. An example is the modification of the Interrupt Enable flag.</a:t>
            </a:r>
          </a:p>
          <a:p>
            <a:pPr marL="723900" lvl="1" indent="-241300" eaLnBrk="1" hangingPunct="1">
              <a:lnSpc>
                <a:spcPct val="90000"/>
              </a:lnSpc>
              <a:buFontTx/>
              <a:buChar char="•"/>
            </a:pPr>
            <a:r>
              <a:rPr lang="en-US" altLang="zh-TW" sz="1100" dirty="0"/>
              <a:t>Other dangerous instructions need be performed by emulation code in the monitor. For these instructions calls to the monitor are made. These are called “Call-outs”. An example of these is a change to the page table base.</a:t>
            </a:r>
          </a:p>
          <a:p>
            <a:pPr marL="723900" lvl="1" indent="-241300" eaLnBrk="1" hangingPunct="1">
              <a:lnSpc>
                <a:spcPct val="90000"/>
              </a:lnSpc>
              <a:buFontTx/>
              <a:buChar char="•"/>
            </a:pPr>
            <a:r>
              <a:rPr lang="en-US" altLang="zh-TW" sz="1100" dirty="0"/>
              <a:t>The branch ending the basic block needs a call out. </a:t>
            </a:r>
          </a:p>
          <a:p>
            <a:pPr eaLnBrk="1" hangingPunct="1">
              <a:lnSpc>
                <a:spcPct val="90000"/>
              </a:lnSpc>
              <a:buFont typeface="Calibri" pitchFamily="34" charset="0"/>
              <a:buAutoNum type="arabicPeriod"/>
            </a:pPr>
            <a:r>
              <a:rPr lang="en-US" altLang="zh-TW" sz="1100" dirty="0"/>
              <a:t>The monitor can now jump to the start of the translated basic block with the virtual registers in the hardware registers.</a:t>
            </a:r>
          </a:p>
          <a:p>
            <a:pPr eaLnBrk="1" hangingPunct="1">
              <a:lnSpc>
                <a:spcPct val="90000"/>
              </a:lnSpc>
            </a:pPr>
            <a:endParaRPr lang="en-US" altLang="zh-TW" sz="1100" dirty="0"/>
          </a:p>
          <a:p>
            <a:pPr eaLnBrk="1" hangingPunct="1">
              <a:lnSpc>
                <a:spcPct val="90000"/>
              </a:lnSpc>
            </a:pPr>
            <a:r>
              <a:rPr lang="en-US" altLang="zh-TW" sz="1100" dirty="0"/>
              <a:t>So dangerous instructions can be privileged instructions, non-</a:t>
            </a:r>
            <a:r>
              <a:rPr lang="en-US" altLang="zh-TW" sz="1100" dirty="0" err="1"/>
              <a:t>virtualizable</a:t>
            </a:r>
            <a:r>
              <a:rPr lang="en-US" altLang="zh-TW" sz="1100" dirty="0"/>
              <a:t> instructions, control flow, memory accesses.</a:t>
            </a:r>
          </a:p>
        </p:txBody>
      </p:sp>
      <p:sp>
        <p:nvSpPr>
          <p:cNvPr id="4" name="Slide Number Placeholder 3"/>
          <p:cNvSpPr>
            <a:spLocks noGrp="1"/>
          </p:cNvSpPr>
          <p:nvPr>
            <p:ph type="sldNum" sz="quarter" idx="5"/>
          </p:nvPr>
        </p:nvSpPr>
        <p:spPr/>
        <p:txBody>
          <a:bodyPr/>
          <a:lstStyle/>
          <a:p>
            <a:fld id="{CF7F5DCB-DFD5-460F-A618-D9112056DB6F}" type="slidenum">
              <a:rPr lang="en-US" altLang="zh-TW"/>
              <a:pPr/>
              <a:t>13</a:t>
            </a:fld>
            <a:endParaRPr lang="en-US" altLang="zh-TW"/>
          </a:p>
        </p:txBody>
      </p:sp>
    </p:spTree>
    <p:extLst>
      <p:ext uri="{BB962C8B-B14F-4D97-AF65-F5344CB8AC3E}">
        <p14:creationId xmlns:p14="http://schemas.microsoft.com/office/powerpoint/2010/main" val="28597728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dirty="0"/>
              <a:t>Dynamic binary</a:t>
            </a:r>
            <a:r>
              <a:rPr lang="en-US" baseline="0" dirty="0"/>
              <a:t> translation is used in </a:t>
            </a:r>
            <a:r>
              <a:rPr lang="en-US" baseline="0" dirty="0" err="1"/>
              <a:t>virtualizing</a:t>
            </a:r>
            <a:r>
              <a:rPr lang="en-US" baseline="0" dirty="0"/>
              <a:t> the CPU by translating potentially dangerous (or non-virtualizable) instruction sequences one-by-one into safe instruction sequences. </a:t>
            </a:r>
          </a:p>
          <a:p>
            <a:endParaRPr lang="en-US" baseline="0" dirty="0"/>
          </a:p>
          <a:p>
            <a:r>
              <a:rPr lang="en-US" baseline="0" dirty="0"/>
              <a:t> It works like this:</a:t>
            </a:r>
          </a:p>
          <a:p>
            <a:endParaRPr lang="en-US" baseline="0" dirty="0"/>
          </a:p>
          <a:p>
            <a:pPr marL="241653" indent="-241653">
              <a:buFont typeface="+mj-lt"/>
              <a:buAutoNum type="arabicPeriod"/>
            </a:pPr>
            <a:r>
              <a:rPr lang="en-US" baseline="0" dirty="0"/>
              <a:t>The monitor inspects the next sequence of instructions. An instruction sequence is typically defined as the next basic block, that is all instructions up to the next control transfer instruction such as a branch. There may be reasons to end a sequence earlier or go past a branch but for now lets assume we go to the next branch.</a:t>
            </a:r>
          </a:p>
          <a:p>
            <a:pPr marL="241653" indent="-241653">
              <a:buFont typeface="+mj-lt"/>
              <a:buAutoNum type="arabicPeriod"/>
            </a:pPr>
            <a:r>
              <a:rPr lang="en-US" baseline="0" dirty="0"/>
              <a:t>Each instruction is translated and the translation is copied into a translation cache.</a:t>
            </a:r>
          </a:p>
          <a:p>
            <a:pPr marL="241653" indent="-241653">
              <a:buFont typeface="+mj-lt"/>
              <a:buAutoNum type="arabicPeriod"/>
            </a:pPr>
            <a:r>
              <a:rPr lang="en-US" baseline="0" dirty="0"/>
              <a:t>Instructions are translated as follows:</a:t>
            </a:r>
          </a:p>
          <a:p>
            <a:pPr marL="724959" lvl="1" indent="-241653">
              <a:buFont typeface="Arial" pitchFamily="34" charset="0"/>
              <a:buChar char="•"/>
            </a:pPr>
            <a:r>
              <a:rPr lang="en-US" baseline="0" dirty="0"/>
              <a:t>Instructions which pose no problems can be copied into the translation cache with modification. We call these “</a:t>
            </a:r>
            <a:r>
              <a:rPr lang="en-US" baseline="0" dirty="0" err="1"/>
              <a:t>ident</a:t>
            </a:r>
            <a:r>
              <a:rPr lang="en-US" baseline="0" dirty="0"/>
              <a:t>” translations.</a:t>
            </a:r>
          </a:p>
          <a:p>
            <a:pPr marL="724959" lvl="1" indent="-241653">
              <a:buFont typeface="Arial" pitchFamily="34" charset="0"/>
              <a:buChar char="•"/>
            </a:pPr>
            <a:r>
              <a:rPr lang="en-US" baseline="0" dirty="0"/>
              <a:t>Some simple dangerous instructions can be translated into a short sequence emulation code. This code is placed directly into the translation cache. We call this “inline” translation. An example is the modification of the Interrupt Enable flag.</a:t>
            </a:r>
          </a:p>
          <a:p>
            <a:pPr marL="724959" lvl="1" indent="-241653">
              <a:buFont typeface="Arial" pitchFamily="34" charset="0"/>
              <a:buChar char="•"/>
            </a:pPr>
            <a:r>
              <a:rPr lang="en-US" baseline="0" dirty="0"/>
              <a:t>Other dangerous instructions need be performed by emulation code in the monitor. For these instructions calls to the monitor are made. These are called “Call-outs”. An example of these is a change to the page table base.</a:t>
            </a:r>
          </a:p>
          <a:p>
            <a:pPr marL="724959" lvl="1" indent="-241653">
              <a:buFont typeface="Arial" pitchFamily="34" charset="0"/>
              <a:buChar char="•"/>
            </a:pPr>
            <a:r>
              <a:rPr lang="en-US" baseline="0" dirty="0"/>
              <a:t>The branch ending the basic block needs a call out. </a:t>
            </a:r>
          </a:p>
          <a:p>
            <a:pPr marL="241653" indent="-241653">
              <a:buFont typeface="+mj-lt"/>
              <a:buAutoNum type="arabicPeriod"/>
            </a:pPr>
            <a:r>
              <a:rPr lang="en-US" baseline="0" dirty="0"/>
              <a:t>The monitor can now jump to the start of the translated basic block with the virtual registers in the hardware registers.</a:t>
            </a:r>
          </a:p>
          <a:p>
            <a:pPr marL="241653" indent="-241653"/>
            <a:endParaRPr lang="en-US" baseline="0" dirty="0"/>
          </a:p>
          <a:p>
            <a:pPr marL="241653" indent="-241653"/>
            <a:r>
              <a:rPr lang="en-US" baseline="0" dirty="0"/>
              <a:t>So dangerous instructions can be privileged instructions, non-virtualizable instructions, control flow, memory accesses.</a:t>
            </a:r>
          </a:p>
        </p:txBody>
      </p:sp>
      <p:sp>
        <p:nvSpPr>
          <p:cNvPr id="4" name="Slide Number Placeholder 3"/>
          <p:cNvSpPr>
            <a:spLocks noGrp="1"/>
          </p:cNvSpPr>
          <p:nvPr>
            <p:ph type="sldNum" sz="quarter" idx="10"/>
          </p:nvPr>
        </p:nvSpPr>
        <p:spPr/>
        <p:txBody>
          <a:bodyPr/>
          <a:lstStyle/>
          <a:p>
            <a:fld id="{A6545F9A-0FF2-4090-8703-55A26BE7AB60}" type="slidenum">
              <a:rPr lang="en-US" smtClean="0"/>
              <a:pPr/>
              <a:t>14</a:t>
            </a:fld>
            <a:endParaRPr lang="en-US"/>
          </a:p>
        </p:txBody>
      </p:sp>
    </p:spTree>
    <p:extLst>
      <p:ext uri="{BB962C8B-B14F-4D97-AF65-F5344CB8AC3E}">
        <p14:creationId xmlns:p14="http://schemas.microsoft.com/office/powerpoint/2010/main" val="924065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38</a:t>
            </a:fld>
            <a:endParaRPr lang="zh-CN" altLang="en-US"/>
          </a:p>
        </p:txBody>
      </p:sp>
    </p:spTree>
    <p:extLst>
      <p:ext uri="{BB962C8B-B14F-4D97-AF65-F5344CB8AC3E}">
        <p14:creationId xmlns:p14="http://schemas.microsoft.com/office/powerpoint/2010/main" val="642721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8"/>
            <a:ext cx="7772400" cy="1225021"/>
          </a:xfrm>
        </p:spPr>
        <p:txBody>
          <a:bodyPr>
            <a:normAutofit/>
          </a:bodyPr>
          <a:lstStyle>
            <a:lvl1pPr algn="ctr">
              <a:defRPr sz="4400">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页脚占位符 4">
            <a:extLst>
              <a:ext uri="{FF2B5EF4-FFF2-40B4-BE49-F238E27FC236}">
                <a16:creationId xmlns:a16="http://schemas.microsoft.com/office/drawing/2014/main" id="{9FA25068-95BE-F84A-896E-9E89F943483E}"/>
              </a:ext>
            </a:extLst>
          </p:cNvPr>
          <p:cNvSpPr>
            <a:spLocks noGrp="1"/>
          </p:cNvSpPr>
          <p:nvPr>
            <p:ph type="ftr" sz="quarter" idx="3"/>
          </p:nvPr>
        </p:nvSpPr>
        <p:spPr>
          <a:xfrm>
            <a:off x="2553817" y="5305772"/>
            <a:ext cx="3962399" cy="304271"/>
          </a:xfrm>
          <a:prstGeom prst="rect">
            <a:avLst/>
          </a:prstGeom>
        </p:spPr>
        <p:txBody>
          <a:bodyPr anchor="ctr"/>
          <a:lstStyle>
            <a:lvl1pPr algn="ctr">
              <a:defRPr sz="1100"/>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146142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lstStyle>
            <a:lvl1pPr>
              <a:defRPr b="1">
                <a:solidFill>
                  <a:schemeClr val="accent1"/>
                </a:solidFill>
                <a:latin typeface="+mj-lt"/>
                <a:ea typeface="+mj-ea"/>
                <a:cs typeface="微软雅黑 Light" panose="020B0502040204020203"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lnSpc>
                <a:spcPct val="120000"/>
              </a:lnSpc>
              <a:defRPr sz="2400" b="1" i="0">
                <a:latin typeface="+mn-lt"/>
                <a:ea typeface="微软雅黑" panose="020B0503020204020204" pitchFamily="34" charset="-122"/>
                <a:cs typeface="微软雅黑" panose="020B0503020204020204" pitchFamily="34" charset="-122"/>
              </a:defRPr>
            </a:lvl1pPr>
            <a:lvl2pPr>
              <a:lnSpc>
                <a:spcPct val="120000"/>
              </a:lnSpc>
              <a:defRPr sz="2000" b="0" i="0">
                <a:latin typeface="+mn-lt"/>
                <a:ea typeface="微软雅黑" panose="020B0503020204020204" pitchFamily="34" charset="-122"/>
                <a:cs typeface="微软雅黑" panose="020B0503020204020204" pitchFamily="34" charset="-122"/>
              </a:defRPr>
            </a:lvl2pPr>
            <a:lvl3pPr>
              <a:lnSpc>
                <a:spcPct val="120000"/>
              </a:lnSpc>
              <a:defRPr sz="2000" b="0" i="0">
                <a:latin typeface="+mn-lt"/>
                <a:ea typeface="微软雅黑" panose="020B0503020204020204" pitchFamily="34" charset="-122"/>
                <a:cs typeface="微软雅黑" panose="020B0503020204020204" pitchFamily="34" charset="-122"/>
              </a:defRPr>
            </a:lvl3pPr>
            <a:lvl4pPr>
              <a:lnSpc>
                <a:spcPct val="120000"/>
              </a:lnSpc>
              <a:defRPr sz="1800" b="0" i="0">
                <a:latin typeface="+mn-lt"/>
                <a:ea typeface="微软雅黑" panose="020B0503020204020204" pitchFamily="34" charset="-122"/>
                <a:cs typeface="微软雅黑" panose="020B0503020204020204" pitchFamily="34" charset="-122"/>
              </a:defRPr>
            </a:lvl4pPr>
            <a:lvl5pPr>
              <a:lnSpc>
                <a:spcPct val="120000"/>
              </a:lnSpc>
              <a:defRPr sz="1800" b="0" i="0">
                <a:latin typeface="+mn-lt"/>
                <a:ea typeface="微软雅黑" panose="020B0503020204020204" pitchFamily="34" charset="-122"/>
                <a:cs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矩形 6"/>
          <p:cNvSpPr/>
          <p:nvPr userDrawn="1"/>
        </p:nvSpPr>
        <p:spPr>
          <a:xfrm>
            <a:off x="-180527" y="439062"/>
            <a:ext cx="164581"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三角形 7">
            <a:extLst>
              <a:ext uri="{FF2B5EF4-FFF2-40B4-BE49-F238E27FC236}">
                <a16:creationId xmlns:a16="http://schemas.microsoft.com/office/drawing/2014/main" id="{066DE83E-C489-9340-8A6C-F2C63F8574DC}"/>
              </a:ext>
            </a:extLst>
          </p:cNvPr>
          <p:cNvSpPr/>
          <p:nvPr userDrawn="1"/>
        </p:nvSpPr>
        <p:spPr>
          <a:xfrm rot="5400000">
            <a:off x="-160702" y="599536"/>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9" name="页脚占位符 4">
            <a:extLst>
              <a:ext uri="{FF2B5EF4-FFF2-40B4-BE49-F238E27FC236}">
                <a16:creationId xmlns:a16="http://schemas.microsoft.com/office/drawing/2014/main" id="{6608DAFC-F7CB-BF45-A12C-3E5B3C748823}"/>
              </a:ext>
            </a:extLst>
          </p:cNvPr>
          <p:cNvSpPr>
            <a:spLocks noGrp="1"/>
          </p:cNvSpPr>
          <p:nvPr>
            <p:ph type="ftr" sz="quarter" idx="3"/>
          </p:nvPr>
        </p:nvSpPr>
        <p:spPr>
          <a:xfrm>
            <a:off x="2553817" y="5305772"/>
            <a:ext cx="3962399" cy="304271"/>
          </a:xfrm>
          <a:prstGeom prst="rect">
            <a:avLst/>
          </a:prstGeom>
        </p:spPr>
        <p:txBody>
          <a:bodyPr/>
          <a:lstStyle>
            <a:lvl1pPr algn="ctr">
              <a:defRPr sz="1100"/>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949560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8"/>
            <a:ext cx="7772400" cy="1135062"/>
          </a:xfrm>
        </p:spPr>
        <p:txBody>
          <a:bodyPr anchor="t"/>
          <a:lstStyle>
            <a:lvl1pPr algn="l">
              <a:defRPr sz="4000" b="1" cap="all">
                <a:latin typeface="+mj-lt"/>
              </a:defRPr>
            </a:lvl1pPr>
          </a:lstStyle>
          <a:p>
            <a:r>
              <a:rPr lang="zh-CN" altLang="en-US" dirty="0"/>
              <a:t>单击此处编辑母版标题样式</a:t>
            </a:r>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8" name="三角形 7">
            <a:extLst>
              <a:ext uri="{FF2B5EF4-FFF2-40B4-BE49-F238E27FC236}">
                <a16:creationId xmlns:a16="http://schemas.microsoft.com/office/drawing/2014/main" id="{A8EE614D-B549-154F-943F-0F3919AB5939}"/>
              </a:ext>
            </a:extLst>
          </p:cNvPr>
          <p:cNvSpPr/>
          <p:nvPr userDrawn="1"/>
        </p:nvSpPr>
        <p:spPr>
          <a:xfrm rot="5400000">
            <a:off x="-160703" y="3920373"/>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9" name="页脚占位符 4">
            <a:extLst>
              <a:ext uri="{FF2B5EF4-FFF2-40B4-BE49-F238E27FC236}">
                <a16:creationId xmlns:a16="http://schemas.microsoft.com/office/drawing/2014/main" id="{222B87CB-0BF3-3A40-9555-EFDE398401FB}"/>
              </a:ext>
            </a:extLst>
          </p:cNvPr>
          <p:cNvSpPr>
            <a:spLocks noGrp="1"/>
          </p:cNvSpPr>
          <p:nvPr>
            <p:ph type="ftr" sz="quarter" idx="3"/>
          </p:nvPr>
        </p:nvSpPr>
        <p:spPr>
          <a:xfrm>
            <a:off x="2553817" y="5305772"/>
            <a:ext cx="3962399" cy="304271"/>
          </a:xfrm>
          <a:prstGeom prst="rect">
            <a:avLst/>
          </a:prstGeom>
        </p:spPr>
        <p:txBody>
          <a:bodyPr/>
          <a:lstStyle>
            <a:lvl1pPr algn="ctr">
              <a:defRPr sz="1100">
                <a:solidFill>
                  <a:schemeClr val="tx1">
                    <a:lumMod val="50000"/>
                    <a:lumOff val="50000"/>
                  </a:schemeClr>
                </a:solidFill>
              </a:defRPr>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61469465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28866"/>
            <a:ext cx="8229600" cy="9525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333501"/>
            <a:ext cx="8229600" cy="3771636"/>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1" y="5296962"/>
            <a:ext cx="2133600" cy="304271"/>
          </a:xfrm>
          <a:prstGeom prst="rect">
            <a:avLst/>
          </a:prstGeom>
        </p:spPr>
        <p:txBody>
          <a:bodyPr vert="horz" lIns="91440" tIns="45720" rIns="91440" bIns="45720" rtlCol="0" anchor="ctr"/>
          <a:lstStyle>
            <a:lvl1pPr algn="l">
              <a:defRPr sz="1200">
                <a:solidFill>
                  <a:schemeClr val="tx1">
                    <a:tint val="75000"/>
                  </a:schemeClr>
                </a:solidFill>
                <a:latin typeface="DengXian" charset="0"/>
                <a:ea typeface="DengXian" charset="0"/>
                <a:cs typeface="DengXian" charset="0"/>
              </a:defRPr>
            </a:lvl1pPr>
          </a:lstStyle>
          <a:p>
            <a:endParaRPr lang="zh-CN" altLang="en-US" dirty="0"/>
          </a:p>
        </p:txBody>
      </p:sp>
      <p:sp>
        <p:nvSpPr>
          <p:cNvPr id="6" name="灯片编号占位符 5"/>
          <p:cNvSpPr>
            <a:spLocks noGrp="1"/>
          </p:cNvSpPr>
          <p:nvPr>
            <p:ph type="sldNum" sz="quarter" idx="4"/>
          </p:nvPr>
        </p:nvSpPr>
        <p:spPr>
          <a:xfrm>
            <a:off x="6553200" y="5296962"/>
            <a:ext cx="2133600" cy="304271"/>
          </a:xfrm>
          <a:prstGeom prst="rect">
            <a:avLst/>
          </a:prstGeom>
        </p:spPr>
        <p:txBody>
          <a:bodyPr vert="horz" lIns="91440" tIns="45720" rIns="91440" bIns="45720" rtlCol="0" anchor="ctr"/>
          <a:lstStyle>
            <a:lvl1pPr algn="r">
              <a:defRPr sz="1200">
                <a:solidFill>
                  <a:schemeClr val="tx1">
                    <a:tint val="75000"/>
                  </a:schemeClr>
                </a:solidFill>
                <a:latin typeface="DengXian" charset="0"/>
                <a:ea typeface="DengXian" charset="0"/>
                <a:cs typeface="DengXian" charset="0"/>
              </a:defRPr>
            </a:lvl1pPr>
          </a:lstStyle>
          <a:p>
            <a:fld id="{ADE361C3-C043-4A6E-BDCE-8DA1E7D90A3B}" type="slidenum">
              <a:rPr lang="zh-CN" altLang="en-US" smtClean="0"/>
              <a:pPr/>
              <a:t>‹#›</a:t>
            </a:fld>
            <a:endParaRPr lang="zh-CN" altLang="en-US"/>
          </a:p>
        </p:txBody>
      </p:sp>
      <p:sp>
        <p:nvSpPr>
          <p:cNvPr id="7" name="页脚占位符 4">
            <a:extLst>
              <a:ext uri="{FF2B5EF4-FFF2-40B4-BE49-F238E27FC236}">
                <a16:creationId xmlns:a16="http://schemas.microsoft.com/office/drawing/2014/main" id="{4DC863AB-1CA3-014A-96B6-C1A16FEA03AC}"/>
              </a:ext>
            </a:extLst>
          </p:cNvPr>
          <p:cNvSpPr>
            <a:spLocks noGrp="1"/>
          </p:cNvSpPr>
          <p:nvPr>
            <p:ph type="ftr" sz="quarter" idx="3"/>
          </p:nvPr>
        </p:nvSpPr>
        <p:spPr>
          <a:xfrm>
            <a:off x="2553817" y="5305772"/>
            <a:ext cx="3962399" cy="304271"/>
          </a:xfrm>
          <a:prstGeom prst="rect">
            <a:avLst/>
          </a:prstGeom>
        </p:spPr>
        <p:txBody>
          <a:bodyPr anchor="ctr"/>
          <a:lstStyle>
            <a:lvl1pPr>
              <a:defRPr sz="1100">
                <a:solidFill>
                  <a:schemeClr val="tx1">
                    <a:lumMod val="50000"/>
                    <a:lumOff val="50000"/>
                  </a:schemeClr>
                </a:solidFill>
                <a:latin typeface="+mn-ea"/>
                <a:ea typeface="+mn-ea"/>
              </a:defRPr>
            </a:lvl1pPr>
          </a:lstStyle>
          <a:p>
            <a:pPr algn="ctr"/>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890905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dt="0"/>
  <p:txStyles>
    <p:title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p:titleStyle>
    <p:bodyStyle>
      <a:lvl1pPr marL="342900" indent="-342900" algn="l" defTabSz="914400" rtl="0" eaLnBrk="1" latinLnBrk="0" hangingPunct="1">
        <a:lnSpc>
          <a:spcPct val="120000"/>
        </a:lnSpc>
        <a:spcBef>
          <a:spcPts val="1200"/>
        </a:spcBef>
        <a:buFont typeface="Arial" pitchFamily="34" charset="0"/>
        <a:buChar char="•"/>
        <a:defRPr sz="2600" b="0" kern="1200">
          <a:solidFill>
            <a:schemeClr val="tx1">
              <a:lumMod val="75000"/>
              <a:lumOff val="25000"/>
            </a:schemeClr>
          </a:solidFill>
          <a:latin typeface="+mn-lt"/>
          <a:ea typeface="+mn-ea"/>
          <a:cs typeface="DengXian" charset="0"/>
        </a:defRPr>
      </a:lvl1pPr>
      <a:lvl2pPr marL="742950" indent="-285750" algn="l" defTabSz="914400" rtl="0" eaLnBrk="1" latinLnBrk="0" hangingPunct="1">
        <a:lnSpc>
          <a:spcPct val="120000"/>
        </a:lnSpc>
        <a:spcBef>
          <a:spcPct val="20000"/>
        </a:spcBef>
        <a:buFont typeface="Arial" pitchFamily="34" charset="0"/>
        <a:buChar char="–"/>
        <a:defRPr sz="2400" kern="1200">
          <a:solidFill>
            <a:schemeClr val="tx1">
              <a:lumMod val="75000"/>
              <a:lumOff val="25000"/>
            </a:schemeClr>
          </a:solidFill>
          <a:latin typeface="+mn-lt"/>
          <a:ea typeface="+mn-ea"/>
          <a:cs typeface="DengXian" charset="0"/>
        </a:defRPr>
      </a:lvl2pPr>
      <a:lvl3pPr marL="1143000" indent="-228600" algn="l" defTabSz="914400" rtl="0" eaLnBrk="1" latinLnBrk="0" hangingPunct="1">
        <a:lnSpc>
          <a:spcPct val="120000"/>
        </a:lnSpc>
        <a:spcBef>
          <a:spcPct val="20000"/>
        </a:spcBef>
        <a:buFont typeface="Arial" pitchFamily="34" charset="0"/>
        <a:buChar char="•"/>
        <a:defRPr sz="2000" kern="1200">
          <a:solidFill>
            <a:schemeClr val="tx1">
              <a:lumMod val="75000"/>
              <a:lumOff val="25000"/>
            </a:schemeClr>
          </a:solidFill>
          <a:latin typeface="+mn-lt"/>
          <a:ea typeface="+mn-ea"/>
          <a:cs typeface="DengXian" charset="0"/>
        </a:defRPr>
      </a:lvl3pPr>
      <a:lvl4pPr marL="16002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4pPr>
      <a:lvl5pPr marL="20574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7C6228-E47F-EA4B-8DD8-28647C76DDD6}"/>
              </a:ext>
            </a:extLst>
          </p:cNvPr>
          <p:cNvSpPr>
            <a:spLocks noGrp="1"/>
          </p:cNvSpPr>
          <p:nvPr>
            <p:ph type="ctrTitle"/>
          </p:nvPr>
        </p:nvSpPr>
        <p:spPr>
          <a:xfrm>
            <a:off x="685800" y="1720996"/>
            <a:ext cx="7772400" cy="1225021"/>
          </a:xfrm>
        </p:spPr>
        <p:txBody>
          <a:bodyPr>
            <a:normAutofit/>
          </a:bodyPr>
          <a:lstStyle/>
          <a:p>
            <a:pPr algn="ctr">
              <a:lnSpc>
                <a:spcPct val="110000"/>
              </a:lnSpc>
            </a:pPr>
            <a:r>
              <a:rPr kumimoji="1" lang="zh-CN" altLang="en-US" sz="4800" dirty="0"/>
              <a:t>处理器虚拟化</a:t>
            </a:r>
          </a:p>
        </p:txBody>
      </p:sp>
      <p:pic>
        <p:nvPicPr>
          <p:cNvPr id="9" name="图片 8">
            <a:extLst>
              <a:ext uri="{FF2B5EF4-FFF2-40B4-BE49-F238E27FC236}">
                <a16:creationId xmlns:a16="http://schemas.microsoft.com/office/drawing/2014/main" id="{23A70DCB-3E4D-4449-82B8-441C200ABD69}"/>
              </a:ext>
            </a:extLst>
          </p:cNvPr>
          <p:cNvPicPr>
            <a:picLocks noChangeAspect="1"/>
          </p:cNvPicPr>
          <p:nvPr/>
        </p:nvPicPr>
        <p:blipFill>
          <a:blip r:embed="rId3">
            <a:duotone>
              <a:schemeClr val="accent1">
                <a:shade val="45000"/>
                <a:satMod val="135000"/>
              </a:schemeClr>
              <a:prstClr val="white"/>
            </a:duotone>
          </a:blip>
          <a:stretch>
            <a:fillRect/>
          </a:stretch>
        </p:blipFill>
        <p:spPr>
          <a:xfrm>
            <a:off x="5652120" y="252561"/>
            <a:ext cx="1362088" cy="492009"/>
          </a:xfrm>
          <a:prstGeom prst="rect">
            <a:avLst/>
          </a:prstGeom>
        </p:spPr>
      </p:pic>
      <p:pic>
        <p:nvPicPr>
          <p:cNvPr id="8" name="Picture 6" descr="http://korean.onlinesjtu.com/%E6%A0%A1%E5%BE%BD%E7%B3%BB%E5%88%97/%E7%BC%A9%E5%B0%8F%E7%89%88/%E8%93%9D%E8%89%B2%E7%B3%BB%20%E5%B0%8F%E5%B0%BA%E5%AF%B8%E6%A0%A1%E5%BE%BD%E5%B1%95%E5%BC%80%E5%BC%8F%20(10mm%E4%BB%A5%E4%B8%8B%E4%BD%BF%E7%94%A8)%20%5b%E8%BD%AC%E6%8D%A2%5d.png">
            <a:extLst>
              <a:ext uri="{FF2B5EF4-FFF2-40B4-BE49-F238E27FC236}">
                <a16:creationId xmlns:a16="http://schemas.microsoft.com/office/drawing/2014/main" id="{9D0C1772-9C9E-534B-9410-16BA28CA6EB4}"/>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64288" y="282539"/>
            <a:ext cx="1642840" cy="432048"/>
          </a:xfrm>
          <a:prstGeom prst="rect">
            <a:avLst/>
          </a:prstGeom>
          <a:noFill/>
          <a:extLst>
            <a:ext uri="{909E8E84-426E-40dd-AFC4-6F175D3DCCD1}">
              <a14:hiddenFill xmlns="" xmlns:a14="http://schemas.microsoft.com/office/drawing/2010/main">
                <a:solidFill>
                  <a:srgbClr val="FFFFFF"/>
                </a:solidFill>
              </a14:hiddenFill>
            </a:ext>
          </a:extLst>
        </p:spPr>
      </p:pic>
      <p:sp>
        <p:nvSpPr>
          <p:cNvPr id="4" name="副标题 5">
            <a:extLst>
              <a:ext uri="{FF2B5EF4-FFF2-40B4-BE49-F238E27FC236}">
                <a16:creationId xmlns:a16="http://schemas.microsoft.com/office/drawing/2014/main" id="{9E62E6A5-2C71-2197-4A73-83C136C1086B}"/>
              </a:ext>
            </a:extLst>
          </p:cNvPr>
          <p:cNvSpPr txBox="1">
            <a:spLocks/>
          </p:cNvSpPr>
          <p:nvPr/>
        </p:nvSpPr>
        <p:spPr>
          <a:xfrm>
            <a:off x="685800" y="3412362"/>
            <a:ext cx="7772400" cy="1225020"/>
          </a:xfrm>
          <a:prstGeom prst="rect">
            <a:avLst/>
          </a:prstGeom>
        </p:spPr>
        <p:txBody>
          <a:bodyPr vert="horz" lIns="91440" tIns="45720" rIns="91440" bIns="45720" rtlCol="0">
            <a:noAutofit/>
          </a:bodyPr>
          <a:lstStyle>
            <a:lvl1pPr marL="0" indent="0" algn="ctr" defTabSz="914400" rtl="0" eaLnBrk="1" latinLnBrk="0" hangingPunct="1">
              <a:lnSpc>
                <a:spcPct val="120000"/>
              </a:lnSpc>
              <a:spcBef>
                <a:spcPts val="1200"/>
              </a:spcBef>
              <a:buFont typeface="Arial" pitchFamily="34" charset="0"/>
              <a:buNone/>
              <a:defRPr sz="2600" b="0" kern="1200">
                <a:solidFill>
                  <a:schemeClr val="tx1">
                    <a:tint val="75000"/>
                  </a:schemeClr>
                </a:solidFill>
                <a:latin typeface="+mn-lt"/>
                <a:ea typeface="+mn-ea"/>
                <a:cs typeface="DengXian" charset="0"/>
              </a:defRPr>
            </a:lvl1pPr>
            <a:lvl2pPr marL="457200" indent="0" algn="ctr" defTabSz="914400" rtl="0" eaLnBrk="1" latinLnBrk="0" hangingPunct="1">
              <a:lnSpc>
                <a:spcPct val="120000"/>
              </a:lnSpc>
              <a:spcBef>
                <a:spcPct val="20000"/>
              </a:spcBef>
              <a:buFont typeface="Arial" pitchFamily="34" charset="0"/>
              <a:buNone/>
              <a:defRPr sz="2400" kern="1200">
                <a:solidFill>
                  <a:schemeClr val="tx1">
                    <a:tint val="75000"/>
                  </a:schemeClr>
                </a:solidFill>
                <a:latin typeface="+mn-lt"/>
                <a:ea typeface="+mn-ea"/>
                <a:cs typeface="DengXian" charset="0"/>
              </a:defRPr>
            </a:lvl2pPr>
            <a:lvl3pPr marL="914400" indent="0" algn="ctr" defTabSz="914400" rtl="0" eaLnBrk="1" latinLnBrk="0" hangingPunct="1">
              <a:lnSpc>
                <a:spcPct val="120000"/>
              </a:lnSpc>
              <a:spcBef>
                <a:spcPct val="20000"/>
              </a:spcBef>
              <a:buFont typeface="Arial" pitchFamily="34" charset="0"/>
              <a:buNone/>
              <a:defRPr sz="2000" kern="1200">
                <a:solidFill>
                  <a:schemeClr val="tx1">
                    <a:tint val="75000"/>
                  </a:schemeClr>
                </a:solidFill>
                <a:latin typeface="+mn-lt"/>
                <a:ea typeface="+mn-ea"/>
                <a:cs typeface="DengXian" charset="0"/>
              </a:defRPr>
            </a:lvl3pPr>
            <a:lvl4pPr marL="13716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lt"/>
                <a:ea typeface="+mn-ea"/>
                <a:cs typeface="DengXian" charset="0"/>
              </a:defRPr>
            </a:lvl4pPr>
            <a:lvl5pPr marL="18288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lt"/>
                <a:ea typeface="+mn-ea"/>
                <a:cs typeface="DengXian"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nSpc>
                <a:spcPct val="150000"/>
              </a:lnSpc>
              <a:spcBef>
                <a:spcPts val="0"/>
              </a:spcBef>
            </a:pPr>
            <a:r>
              <a:rPr kumimoji="1" lang="en-US" altLang="zh-CN" sz="1800" dirty="0">
                <a:solidFill>
                  <a:schemeClr val="tx1">
                    <a:lumMod val="50000"/>
                    <a:lumOff val="50000"/>
                  </a:schemeClr>
                </a:solidFill>
              </a:rPr>
              <a:t>https://</a:t>
            </a:r>
            <a:r>
              <a:rPr kumimoji="1" lang="en-US" altLang="zh-CN" sz="1800" dirty="0" err="1">
                <a:solidFill>
                  <a:schemeClr val="tx1">
                    <a:lumMod val="50000"/>
                    <a:lumOff val="50000"/>
                  </a:schemeClr>
                </a:solidFill>
              </a:rPr>
              <a:t>ipads.se.sjtu.edu.cn</a:t>
            </a:r>
            <a:endParaRPr kumimoji="1" lang="en" altLang="zh-CN" sz="1800" dirty="0">
              <a:solidFill>
                <a:schemeClr val="tx1">
                  <a:lumMod val="50000"/>
                  <a:lumOff val="50000"/>
                </a:schemeClr>
              </a:solidFill>
            </a:endParaRPr>
          </a:p>
        </p:txBody>
      </p:sp>
      <p:sp>
        <p:nvSpPr>
          <p:cNvPr id="2" name="副标题 2">
            <a:extLst>
              <a:ext uri="{FF2B5EF4-FFF2-40B4-BE49-F238E27FC236}">
                <a16:creationId xmlns:a16="http://schemas.microsoft.com/office/drawing/2014/main" id="{CA768494-9BF9-F07B-F674-7D557D2F4208}"/>
              </a:ext>
            </a:extLst>
          </p:cNvPr>
          <p:cNvSpPr txBox="1">
            <a:spLocks/>
          </p:cNvSpPr>
          <p:nvPr/>
        </p:nvSpPr>
        <p:spPr>
          <a:xfrm>
            <a:off x="467544" y="252559"/>
            <a:ext cx="3240360" cy="504056"/>
          </a:xfrm>
          <a:prstGeom prst="rect">
            <a:avLst/>
          </a:prstGeom>
        </p:spPr>
        <p:txBody>
          <a:bodyPr vert="horz" lIns="91440" tIns="45720" rIns="91440" bIns="45720" rtlCol="0">
            <a:normAutofit/>
          </a:bodyPr>
          <a:lstStyle>
            <a:lvl1pPr marL="0" indent="0" algn="ctr" defTabSz="914400" rtl="0" eaLnBrk="1" latinLnBrk="0" hangingPunct="1">
              <a:lnSpc>
                <a:spcPct val="120000"/>
              </a:lnSpc>
              <a:spcBef>
                <a:spcPts val="1200"/>
              </a:spcBef>
              <a:buFont typeface="Arial" pitchFamily="34" charset="0"/>
              <a:buNone/>
              <a:defRPr sz="2600" b="0" kern="1200">
                <a:solidFill>
                  <a:schemeClr val="tx1">
                    <a:tint val="75000"/>
                  </a:schemeClr>
                </a:solidFill>
                <a:latin typeface="+mn-ea"/>
                <a:ea typeface="+mn-ea"/>
                <a:cs typeface="DengXian" charset="0"/>
              </a:defRPr>
            </a:lvl1pPr>
            <a:lvl2pPr marL="457200" indent="0" algn="ctr" defTabSz="914400" rtl="0" eaLnBrk="1" latinLnBrk="0" hangingPunct="1">
              <a:lnSpc>
                <a:spcPct val="120000"/>
              </a:lnSpc>
              <a:spcBef>
                <a:spcPct val="20000"/>
              </a:spcBef>
              <a:buFont typeface="Arial" pitchFamily="34" charset="0"/>
              <a:buNone/>
              <a:defRPr sz="2400" kern="1200">
                <a:solidFill>
                  <a:schemeClr val="tx1">
                    <a:tint val="75000"/>
                  </a:schemeClr>
                </a:solidFill>
                <a:latin typeface="+mn-ea"/>
                <a:ea typeface="+mn-ea"/>
                <a:cs typeface="DengXian" charset="0"/>
              </a:defRPr>
            </a:lvl2pPr>
            <a:lvl3pPr marL="914400" indent="0" algn="ctr" defTabSz="914400" rtl="0" eaLnBrk="1" latinLnBrk="0" hangingPunct="1">
              <a:lnSpc>
                <a:spcPct val="120000"/>
              </a:lnSpc>
              <a:spcBef>
                <a:spcPct val="20000"/>
              </a:spcBef>
              <a:buFont typeface="Arial" pitchFamily="34" charset="0"/>
              <a:buNone/>
              <a:defRPr sz="2000" kern="1200">
                <a:solidFill>
                  <a:schemeClr val="tx1">
                    <a:tint val="75000"/>
                  </a:schemeClr>
                </a:solidFill>
                <a:latin typeface="+mn-ea"/>
                <a:ea typeface="+mn-ea"/>
                <a:cs typeface="DengXian" charset="0"/>
              </a:defRPr>
            </a:lvl3pPr>
            <a:lvl4pPr marL="13716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4pPr>
            <a:lvl5pPr marL="18288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defRPr/>
            </a:pPr>
            <a:r>
              <a:rPr lang="zh-CN" altLang="en-US" sz="1400" dirty="0">
                <a:solidFill>
                  <a:srgbClr val="000000">
                    <a:lumMod val="75000"/>
                    <a:lumOff val="25000"/>
                  </a:srgbClr>
                </a:solidFill>
                <a:latin typeface="Arial" panose="020B0604020202020204"/>
              </a:rPr>
              <a:t>操作系统</a:t>
            </a:r>
          </a:p>
        </p:txBody>
      </p:sp>
    </p:spTree>
    <p:extLst>
      <p:ext uri="{BB962C8B-B14F-4D97-AF65-F5344CB8AC3E}">
        <p14:creationId xmlns:p14="http://schemas.microsoft.com/office/powerpoint/2010/main" val="1808067628"/>
      </p:ext>
    </p:extLst>
  </p:cSld>
  <p:clrMapOvr>
    <a:masterClrMapping/>
  </p:clrMapOvr>
  <mc:AlternateContent xmlns:mc="http://schemas.openxmlformats.org/markup-compatibility/2006" xmlns:p14="http://schemas.microsoft.com/office/powerpoint/2010/main">
    <mc:Choice Requires="p14">
      <p:transition spd="slow" p14:dur="2000" advTm="11626"/>
    </mc:Choice>
    <mc:Fallback xmlns="">
      <p:transition spd="slow" advTm="1162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BE39C2-86D1-9B45-B569-48F1570E518D}"/>
              </a:ext>
            </a:extLst>
          </p:cNvPr>
          <p:cNvSpPr>
            <a:spLocks noGrp="1"/>
          </p:cNvSpPr>
          <p:nvPr>
            <p:ph type="title"/>
          </p:nvPr>
        </p:nvSpPr>
        <p:spPr/>
        <p:txBody>
          <a:bodyPr/>
          <a:lstStyle/>
          <a:p>
            <a:r>
              <a:rPr kumimoji="1" lang="zh-CN" altLang="en-US">
                <a:latin typeface="+mn-lt"/>
              </a:rPr>
              <a:t>版权声明</a:t>
            </a:r>
            <a:endParaRPr kumimoji="1" lang="zh-CN" altLang="en-US" dirty="0">
              <a:latin typeface="+mn-lt"/>
            </a:endParaRPr>
          </a:p>
        </p:txBody>
      </p:sp>
      <p:sp>
        <p:nvSpPr>
          <p:cNvPr id="3" name="内容占位符 2">
            <a:extLst>
              <a:ext uri="{FF2B5EF4-FFF2-40B4-BE49-F238E27FC236}">
                <a16:creationId xmlns:a16="http://schemas.microsoft.com/office/drawing/2014/main" id="{695B3383-B219-984C-8D0C-BCF076655903}"/>
              </a:ext>
            </a:extLst>
          </p:cNvPr>
          <p:cNvSpPr>
            <a:spLocks noGrp="1"/>
          </p:cNvSpPr>
          <p:nvPr>
            <p:ph idx="1"/>
          </p:nvPr>
        </p:nvSpPr>
        <p:spPr/>
        <p:txBody>
          <a:bodyPr>
            <a:noAutofit/>
          </a:bodyPr>
          <a:lstStyle/>
          <a:p>
            <a:r>
              <a:rPr lang="zh-CN" altLang="en-US" sz="2000" b="0">
                <a:latin typeface="+mn-lt"/>
              </a:rPr>
              <a:t>本内容版权归</a:t>
            </a:r>
            <a:r>
              <a:rPr lang="zh-CN" altLang="en-US" sz="2000">
                <a:latin typeface="+mn-lt"/>
              </a:rPr>
              <a:t>上海交通大学并行与分布式系统研究所</a:t>
            </a:r>
            <a:r>
              <a:rPr lang="zh-CN" altLang="en-US" sz="2000" b="0">
                <a:latin typeface="+mn-lt"/>
              </a:rPr>
              <a:t>所有</a:t>
            </a:r>
            <a:endParaRPr lang="en-US" altLang="zh-CN" sz="2000" b="0">
              <a:latin typeface="+mn-lt"/>
            </a:endParaRPr>
          </a:p>
          <a:p>
            <a:r>
              <a:rPr lang="zh-CN" altLang="en-US" sz="2000" b="0">
                <a:latin typeface="+mn-lt"/>
              </a:rPr>
              <a:t>使用者可以将全部或部分本内容免费用于非商业用途</a:t>
            </a:r>
            <a:endParaRPr lang="en-US" altLang="zh-CN" sz="2000" b="0">
              <a:latin typeface="+mn-lt"/>
            </a:endParaRPr>
          </a:p>
          <a:p>
            <a:r>
              <a:rPr lang="zh-CN" altLang="en-US" sz="2000" b="0">
                <a:latin typeface="+mn-lt"/>
              </a:rPr>
              <a:t>使用者在使用全部或部分本内容时请注明来源：</a:t>
            </a:r>
            <a:endParaRPr lang="en-US" altLang="zh-CN" sz="2000" b="0">
              <a:latin typeface="+mn-lt"/>
            </a:endParaRPr>
          </a:p>
          <a:p>
            <a:pPr lvl="1"/>
            <a:r>
              <a:rPr lang="zh-CN" altLang="en-US" sz="1600"/>
              <a:t>内容来自：上海交通大学并行与分布式系统研究所</a:t>
            </a:r>
            <a:r>
              <a:rPr lang="en-US" altLang="zh-CN" sz="1600"/>
              <a:t>+</a:t>
            </a:r>
            <a:r>
              <a:rPr lang="zh-CN" altLang="en-US" sz="1600"/>
              <a:t>材料名字</a:t>
            </a:r>
            <a:endParaRPr lang="en-US" altLang="zh-CN" sz="1600"/>
          </a:p>
          <a:p>
            <a:r>
              <a:rPr lang="zh-CN" altLang="en-US" sz="2000" b="0">
                <a:latin typeface="+mn-lt"/>
              </a:rPr>
              <a:t>对于不遵守此声明或者其他违法使用本内容者，将依法保留追究权</a:t>
            </a:r>
            <a:endParaRPr lang="en-US" altLang="zh-CN" sz="2000" b="0">
              <a:latin typeface="+mn-lt"/>
            </a:endParaRPr>
          </a:p>
          <a:p>
            <a:r>
              <a:rPr lang="zh-CN" altLang="en-US" sz="2000" b="0">
                <a:latin typeface="+mn-lt"/>
              </a:rPr>
              <a:t>本内容的发布采用 </a:t>
            </a:r>
            <a:r>
              <a:rPr lang="en-US" altLang="zh-CN" sz="2000" b="0">
                <a:latin typeface="+mn-lt"/>
              </a:rPr>
              <a:t>Creative Commons</a:t>
            </a:r>
            <a:r>
              <a:rPr lang="zh-CN" altLang="en-US" sz="2000" b="0">
                <a:latin typeface="+mn-lt"/>
              </a:rPr>
              <a:t> </a:t>
            </a:r>
            <a:r>
              <a:rPr lang="en-US" altLang="zh-CN" sz="2000" b="0">
                <a:latin typeface="+mn-lt"/>
              </a:rPr>
              <a:t>Attribution</a:t>
            </a:r>
            <a:r>
              <a:rPr lang="zh-CN" altLang="en-US" sz="2000" b="0">
                <a:latin typeface="+mn-lt"/>
              </a:rPr>
              <a:t> </a:t>
            </a:r>
            <a:r>
              <a:rPr lang="en-US" altLang="zh-CN" sz="2000" b="0">
                <a:latin typeface="+mn-lt"/>
              </a:rPr>
              <a:t>4.0</a:t>
            </a:r>
            <a:r>
              <a:rPr lang="zh-CN" altLang="en-US" sz="2000" b="0">
                <a:latin typeface="+mn-lt"/>
              </a:rPr>
              <a:t> </a:t>
            </a:r>
            <a:r>
              <a:rPr lang="en-US" altLang="zh-CN" sz="2000" b="0">
                <a:latin typeface="+mn-lt"/>
              </a:rPr>
              <a:t>License</a:t>
            </a:r>
            <a:endParaRPr lang="en-US" altLang="zh-CN" sz="2400" b="0">
              <a:latin typeface="+mn-lt"/>
            </a:endParaRPr>
          </a:p>
          <a:p>
            <a:pPr lvl="1"/>
            <a:r>
              <a:rPr lang="zh-CN" altLang="en-US" sz="1600">
                <a:latin typeface="+mn-lt"/>
              </a:rPr>
              <a:t>完整文本：</a:t>
            </a:r>
            <a:r>
              <a:rPr lang="en-US" altLang="zh-CN" sz="1600">
                <a:latin typeface="+mn-lt"/>
                <a:hlinkClick r:id="rId2"/>
              </a:rPr>
              <a:t>https://creativecommons.org/licenses/by/4.0/legalcode</a:t>
            </a:r>
            <a:endParaRPr lang="en-US" altLang="zh-CN" sz="1800" b="0">
              <a:latin typeface="+mn-lt"/>
            </a:endParaRPr>
          </a:p>
          <a:p>
            <a:endParaRPr kumimoji="1" lang="zh-CN" altLang="en-US" sz="2000" dirty="0">
              <a:latin typeface="+mn-lt"/>
            </a:endParaRPr>
          </a:p>
        </p:txBody>
      </p:sp>
      <p:sp>
        <p:nvSpPr>
          <p:cNvPr id="5" name="页脚占位符 4">
            <a:extLst>
              <a:ext uri="{FF2B5EF4-FFF2-40B4-BE49-F238E27FC236}">
                <a16:creationId xmlns:a16="http://schemas.microsoft.com/office/drawing/2014/main" id="{03E75993-6B82-2A4E-883D-B9872C50165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4" name="Slide Number Placeholder 3">
            <a:extLst>
              <a:ext uri="{FF2B5EF4-FFF2-40B4-BE49-F238E27FC236}">
                <a16:creationId xmlns:a16="http://schemas.microsoft.com/office/drawing/2014/main" id="{B974DB58-9478-0845-B9D0-F1002C2E008B}"/>
              </a:ext>
            </a:extLst>
          </p:cNvPr>
          <p:cNvSpPr>
            <a:spLocks noGrp="1"/>
          </p:cNvSpPr>
          <p:nvPr>
            <p:ph type="sldNum" sz="quarter" idx="12"/>
          </p:nvPr>
        </p:nvSpPr>
        <p:spPr/>
        <p:txBody>
          <a:bodyPr/>
          <a:lstStyle/>
          <a:p>
            <a:fld id="{ADE361C3-C043-4A6E-BDCE-8DA1E7D90A3B}" type="slidenum">
              <a:rPr lang="zh-CN" altLang="en-US" smtClean="0"/>
              <a:t>2</a:t>
            </a:fld>
            <a:endParaRPr lang="zh-CN" altLang="en-US"/>
          </a:p>
        </p:txBody>
      </p:sp>
    </p:spTree>
    <p:extLst>
      <p:ext uri="{BB962C8B-B14F-4D97-AF65-F5344CB8AC3E}">
        <p14:creationId xmlns:p14="http://schemas.microsoft.com/office/powerpoint/2010/main" val="1615226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ARM</a:t>
            </a:r>
            <a:r>
              <a:rPr lang="zh-CN" altLang="en-US" dirty="0"/>
              <a:t>不是严格的可虚拟化架构</a:t>
            </a:r>
            <a:endParaRPr lang="en-US" altLang="zh-CN" dirty="0"/>
          </a:p>
        </p:txBody>
      </p:sp>
      <p:sp>
        <p:nvSpPr>
          <p:cNvPr id="3" name="内容占位符 2"/>
          <p:cNvSpPr>
            <a:spLocks noGrp="1"/>
          </p:cNvSpPr>
          <p:nvPr>
            <p:ph idx="1"/>
          </p:nvPr>
        </p:nvSpPr>
        <p:spPr/>
        <p:txBody>
          <a:bodyPr>
            <a:normAutofit/>
          </a:bodyPr>
          <a:lstStyle/>
          <a:p>
            <a:r>
              <a:rPr lang="zh-CN" altLang="en-US" dirty="0"/>
              <a:t>敏感指令</a:t>
            </a:r>
            <a:endParaRPr lang="en-US" altLang="zh-CN" dirty="0"/>
          </a:p>
          <a:p>
            <a:pPr lvl="1"/>
            <a:r>
              <a:rPr lang="zh-CN" altLang="en-US" sz="1800" dirty="0"/>
              <a:t>读写特殊寄存器或更改处理器状态</a:t>
            </a:r>
            <a:endParaRPr lang="en-US" altLang="zh-CN" sz="1800" dirty="0"/>
          </a:p>
          <a:p>
            <a:pPr lvl="1"/>
            <a:r>
              <a:rPr lang="zh-CN" altLang="en-US" sz="1800" dirty="0"/>
              <a:t>读写敏感内存：例如访问未映射内存、写入只读内存</a:t>
            </a:r>
            <a:endParaRPr lang="en-US" altLang="zh-CN" sz="1800" dirty="0"/>
          </a:p>
          <a:p>
            <a:pPr lvl="1"/>
            <a:r>
              <a:rPr lang="en-US" altLang="zh-CN" sz="1800" dirty="0"/>
              <a:t>I/O</a:t>
            </a:r>
            <a:r>
              <a:rPr lang="zh-CN" altLang="en-US" sz="1800" dirty="0"/>
              <a:t>指令</a:t>
            </a:r>
            <a:endParaRPr lang="en-US" altLang="zh-CN" sz="1800" dirty="0"/>
          </a:p>
          <a:p>
            <a:r>
              <a:rPr lang="zh-CN" altLang="en-US" dirty="0"/>
              <a:t>特权指令</a:t>
            </a:r>
            <a:endParaRPr lang="en-US" altLang="zh-CN" dirty="0"/>
          </a:p>
          <a:p>
            <a:pPr lvl="1"/>
            <a:r>
              <a:rPr lang="zh-CN" altLang="en-US" sz="1800" dirty="0"/>
              <a:t>在用户态执行会触发</a:t>
            </a:r>
            <a:r>
              <a:rPr lang="zh-CN" altLang="en-US" sz="1800" dirty="0">
                <a:solidFill>
                  <a:srgbClr val="BE384B"/>
                </a:solidFill>
              </a:rPr>
              <a:t>异常</a:t>
            </a:r>
            <a:r>
              <a:rPr lang="zh-CN" altLang="en-US" sz="1800" dirty="0">
                <a:solidFill>
                  <a:srgbClr val="404040"/>
                </a:solidFill>
              </a:rPr>
              <a:t>，并陷入内核态</a:t>
            </a:r>
            <a:endParaRPr lang="en-US" altLang="zh-CN" sz="1800" dirty="0">
              <a:solidFill>
                <a:srgbClr val="404040"/>
              </a:solidFill>
            </a:endParaRPr>
          </a:p>
          <a:p>
            <a:endParaRPr lang="zh-CN" altLang="en-US" sz="2000" dirty="0"/>
          </a:p>
        </p:txBody>
      </p:sp>
    </p:spTree>
    <p:extLst>
      <p:ext uri="{BB962C8B-B14F-4D97-AF65-F5344CB8AC3E}">
        <p14:creationId xmlns:p14="http://schemas.microsoft.com/office/powerpoint/2010/main" val="3880652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954E9F-6039-9E41-BC35-6EB441CF044C}"/>
              </a:ext>
            </a:extLst>
          </p:cNvPr>
          <p:cNvSpPr>
            <a:spLocks noGrp="1"/>
          </p:cNvSpPr>
          <p:nvPr>
            <p:ph type="title"/>
          </p:nvPr>
        </p:nvSpPr>
        <p:spPr/>
        <p:txBody>
          <a:bodyPr/>
          <a:lstStyle/>
          <a:p>
            <a:r>
              <a:rPr lang="en-US" altLang="zh-CN" dirty="0"/>
              <a:t>ARM</a:t>
            </a:r>
            <a:r>
              <a:rPr lang="zh-CN" altLang="en-US" dirty="0"/>
              <a:t>不是严格的可虚拟化架构</a:t>
            </a:r>
            <a:endParaRPr kumimoji="1" lang="zh-CN" altLang="en-US" dirty="0"/>
          </a:p>
        </p:txBody>
      </p:sp>
      <p:sp>
        <p:nvSpPr>
          <p:cNvPr id="3" name="内容占位符 2">
            <a:extLst>
              <a:ext uri="{FF2B5EF4-FFF2-40B4-BE49-F238E27FC236}">
                <a16:creationId xmlns:a16="http://schemas.microsoft.com/office/drawing/2014/main" id="{DCFF7C2B-5238-6643-A457-96C535448A33}"/>
              </a:ext>
            </a:extLst>
          </p:cNvPr>
          <p:cNvSpPr>
            <a:spLocks noGrp="1"/>
          </p:cNvSpPr>
          <p:nvPr>
            <p:ph idx="1"/>
          </p:nvPr>
        </p:nvSpPr>
        <p:spPr/>
        <p:txBody>
          <a:bodyPr>
            <a:normAutofit/>
          </a:bodyPr>
          <a:lstStyle/>
          <a:p>
            <a:r>
              <a:rPr lang="zh-CN" altLang="en-US" dirty="0">
                <a:solidFill>
                  <a:srgbClr val="404040"/>
                </a:solidFill>
              </a:rPr>
              <a:t>在</a:t>
            </a:r>
            <a:r>
              <a:rPr lang="en-US" altLang="zh-CN" dirty="0">
                <a:solidFill>
                  <a:srgbClr val="404040"/>
                </a:solidFill>
              </a:rPr>
              <a:t>ARM</a:t>
            </a:r>
            <a:r>
              <a:rPr lang="zh-CN" altLang="en-US" dirty="0">
                <a:solidFill>
                  <a:srgbClr val="404040"/>
                </a:solidFill>
              </a:rPr>
              <a:t>中：不是所有敏感指令都属于特权指令</a:t>
            </a:r>
            <a:endParaRPr lang="en-US" altLang="zh-CN" dirty="0">
              <a:solidFill>
                <a:srgbClr val="404040"/>
              </a:solidFill>
            </a:endParaRPr>
          </a:p>
          <a:p>
            <a:r>
              <a:rPr lang="zh-CN" altLang="en-US" dirty="0"/>
              <a:t>例子</a:t>
            </a:r>
            <a:r>
              <a:rPr lang="en-US" altLang="zh-CN" dirty="0"/>
              <a:t>:</a:t>
            </a:r>
            <a:r>
              <a:rPr lang="zh-CN" altLang="en-US" dirty="0"/>
              <a:t> </a:t>
            </a:r>
            <a:r>
              <a:rPr lang="en-US" altLang="zh-CN" dirty="0">
                <a:solidFill>
                  <a:srgbClr val="BE384B"/>
                </a:solidFill>
              </a:rPr>
              <a:t>CPSID/CPSIE</a:t>
            </a:r>
            <a:r>
              <a:rPr lang="zh-CN" altLang="en-US" dirty="0"/>
              <a:t>指令</a:t>
            </a:r>
            <a:endParaRPr lang="en-US" altLang="zh-CN" sz="2000" dirty="0"/>
          </a:p>
          <a:p>
            <a:pPr lvl="1"/>
            <a:r>
              <a:rPr lang="en-US" altLang="zh-CN" dirty="0"/>
              <a:t>CPSID</a:t>
            </a:r>
            <a:r>
              <a:rPr lang="zh-CN" altLang="en-US" dirty="0"/>
              <a:t>和</a:t>
            </a:r>
            <a:r>
              <a:rPr lang="en-US" altLang="zh-CN" dirty="0"/>
              <a:t>CPSIE</a:t>
            </a:r>
            <a:r>
              <a:rPr lang="zh-CN" altLang="en-US" dirty="0"/>
              <a:t>分别可以关闭和打开中断</a:t>
            </a:r>
            <a:endParaRPr lang="zh-CN" altLang="en-US" sz="1600" dirty="0"/>
          </a:p>
          <a:p>
            <a:pPr lvl="1"/>
            <a:r>
              <a:rPr lang="zh-CN" altLang="en-US" dirty="0"/>
              <a:t>内核态执行：</a:t>
            </a:r>
            <a:r>
              <a:rPr lang="en-US" altLang="zh-CN" dirty="0"/>
              <a:t>PSTATE.{A, I, F}</a:t>
            </a:r>
            <a:r>
              <a:rPr lang="zh-CN" altLang="en-US" dirty="0"/>
              <a:t> 可以被</a:t>
            </a:r>
            <a:r>
              <a:rPr lang="en-US" altLang="zh-CN" dirty="0"/>
              <a:t>CPS</a:t>
            </a:r>
            <a:r>
              <a:rPr lang="zh-CN" altLang="en-US" dirty="0"/>
              <a:t>指令修改</a:t>
            </a:r>
            <a:endParaRPr lang="en-US" altLang="zh-CN" dirty="0"/>
          </a:p>
          <a:p>
            <a:pPr lvl="1"/>
            <a:r>
              <a:rPr lang="zh-CN" altLang="en-US" dirty="0"/>
              <a:t>在用户态执行：</a:t>
            </a:r>
            <a:r>
              <a:rPr lang="en-US" altLang="zh-CN" dirty="0"/>
              <a:t>CPS </a:t>
            </a:r>
            <a:r>
              <a:rPr lang="zh-CN" altLang="en-US" dirty="0"/>
              <a:t>被当做</a:t>
            </a:r>
            <a:r>
              <a:rPr lang="en-US" altLang="zh-CN" dirty="0"/>
              <a:t>NOP</a:t>
            </a:r>
            <a:r>
              <a:rPr lang="zh-CN" altLang="en-US" dirty="0"/>
              <a:t>指令，不产生任何效果</a:t>
            </a:r>
            <a:endParaRPr lang="en-US" altLang="zh-CN" dirty="0"/>
          </a:p>
          <a:p>
            <a:pPr lvl="2"/>
            <a:r>
              <a:rPr lang="zh-CN" altLang="en-US" dirty="0">
                <a:solidFill>
                  <a:srgbClr val="BE384B"/>
                </a:solidFill>
              </a:rPr>
              <a:t>不是特权指令</a:t>
            </a:r>
            <a:endParaRPr kumimoji="1" lang="zh-CN" altLang="en-US" sz="2400" dirty="0"/>
          </a:p>
        </p:txBody>
      </p:sp>
      <p:sp>
        <p:nvSpPr>
          <p:cNvPr id="4" name="灯片编号占位符 3">
            <a:extLst>
              <a:ext uri="{FF2B5EF4-FFF2-40B4-BE49-F238E27FC236}">
                <a16:creationId xmlns:a16="http://schemas.microsoft.com/office/drawing/2014/main" id="{139DBB13-3472-4E4B-B6A0-9DDB41E33B8D}"/>
              </a:ext>
            </a:extLst>
          </p:cNvPr>
          <p:cNvSpPr>
            <a:spLocks noGrp="1"/>
          </p:cNvSpPr>
          <p:nvPr>
            <p:ph type="sldNum" sz="quarter" idx="12"/>
          </p:nvPr>
        </p:nvSpPr>
        <p:spPr/>
        <p:txBody>
          <a:bodyPr/>
          <a:lstStyle/>
          <a:p>
            <a:fld id="{ADE361C3-C043-4A6E-BDCE-8DA1E7D90A3B}" type="slidenum">
              <a:rPr lang="zh-CN" altLang="en-US" smtClean="0"/>
              <a:t>4</a:t>
            </a:fld>
            <a:endParaRPr lang="zh-CN" altLang="en-US"/>
          </a:p>
        </p:txBody>
      </p:sp>
      <p:sp>
        <p:nvSpPr>
          <p:cNvPr id="5" name="页脚占位符 4">
            <a:extLst>
              <a:ext uri="{FF2B5EF4-FFF2-40B4-BE49-F238E27FC236}">
                <a16:creationId xmlns:a16="http://schemas.microsoft.com/office/drawing/2014/main" id="{5D5B4D46-B91E-9E4B-8826-BCFB710C10A2}"/>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771069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5ECF89-2338-6C4C-80E0-C9F9C3D0F9E3}"/>
              </a:ext>
            </a:extLst>
          </p:cNvPr>
          <p:cNvSpPr>
            <a:spLocks noGrp="1"/>
          </p:cNvSpPr>
          <p:nvPr>
            <p:ph type="title"/>
          </p:nvPr>
        </p:nvSpPr>
        <p:spPr/>
        <p:txBody>
          <a:bodyPr/>
          <a:lstStyle/>
          <a:p>
            <a:r>
              <a:rPr kumimoji="1" lang="zh-CN" altLang="en-US" dirty="0"/>
              <a:t>如何处理这些不会下陷的敏感指令？</a:t>
            </a:r>
          </a:p>
        </p:txBody>
      </p:sp>
      <p:sp>
        <p:nvSpPr>
          <p:cNvPr id="3" name="内容占位符 2">
            <a:extLst>
              <a:ext uri="{FF2B5EF4-FFF2-40B4-BE49-F238E27FC236}">
                <a16:creationId xmlns:a16="http://schemas.microsoft.com/office/drawing/2014/main" id="{AFD9BC47-B75F-DE4F-948A-6C8FB29993D8}"/>
              </a:ext>
            </a:extLst>
          </p:cNvPr>
          <p:cNvSpPr>
            <a:spLocks noGrp="1"/>
          </p:cNvSpPr>
          <p:nvPr>
            <p:ph idx="1"/>
          </p:nvPr>
        </p:nvSpPr>
        <p:spPr>
          <a:xfrm>
            <a:off x="457200" y="2425451"/>
            <a:ext cx="8229600" cy="2679685"/>
          </a:xfrm>
        </p:spPr>
        <p:txBody>
          <a:bodyPr/>
          <a:lstStyle/>
          <a:p>
            <a:r>
              <a:rPr kumimoji="1" lang="zh-CN" altLang="en-US" dirty="0"/>
              <a:t>方法</a:t>
            </a:r>
            <a:r>
              <a:rPr kumimoji="1" lang="en-US" altLang="zh-CN" dirty="0"/>
              <a:t>1</a:t>
            </a:r>
            <a:r>
              <a:rPr kumimoji="1" lang="zh-CN" altLang="en-US" dirty="0"/>
              <a:t>：解释执行</a:t>
            </a:r>
            <a:endParaRPr kumimoji="1" lang="en-US" altLang="zh-CN" dirty="0"/>
          </a:p>
          <a:p>
            <a:r>
              <a:rPr kumimoji="1" lang="zh-CN" altLang="en-US" dirty="0"/>
              <a:t>方法</a:t>
            </a:r>
            <a:r>
              <a:rPr kumimoji="1" lang="en-US" altLang="zh-CN" dirty="0"/>
              <a:t>2</a:t>
            </a:r>
            <a:r>
              <a:rPr kumimoji="1" lang="zh-CN" altLang="en-US" dirty="0"/>
              <a:t>：二进制翻译</a:t>
            </a:r>
            <a:endParaRPr kumimoji="1" lang="en-US" altLang="zh-CN" dirty="0"/>
          </a:p>
          <a:p>
            <a:r>
              <a:rPr kumimoji="1" lang="zh-CN" altLang="en-US" dirty="0"/>
              <a:t>方法</a:t>
            </a:r>
            <a:r>
              <a:rPr kumimoji="1" lang="en-US" altLang="zh-CN" dirty="0"/>
              <a:t>3</a:t>
            </a:r>
            <a:r>
              <a:rPr kumimoji="1" lang="zh-CN" altLang="en-US" dirty="0"/>
              <a:t>：半虚拟化</a:t>
            </a:r>
            <a:endParaRPr kumimoji="1" lang="en-US" altLang="zh-CN" dirty="0"/>
          </a:p>
          <a:p>
            <a:r>
              <a:rPr kumimoji="1" lang="zh-CN" altLang="en-US" dirty="0"/>
              <a:t>方法</a:t>
            </a:r>
            <a:r>
              <a:rPr kumimoji="1" lang="en-US" altLang="zh-CN" dirty="0"/>
              <a:t>4</a:t>
            </a:r>
            <a:r>
              <a:rPr kumimoji="1" lang="zh-CN" altLang="en-US" dirty="0"/>
              <a:t>：硬件虚拟化（改硬件）</a:t>
            </a:r>
          </a:p>
        </p:txBody>
      </p:sp>
      <p:sp>
        <p:nvSpPr>
          <p:cNvPr id="4" name="灯片编号占位符 3">
            <a:extLst>
              <a:ext uri="{FF2B5EF4-FFF2-40B4-BE49-F238E27FC236}">
                <a16:creationId xmlns:a16="http://schemas.microsoft.com/office/drawing/2014/main" id="{C0AFE993-0C78-584B-8EAB-8381BF830EC1}"/>
              </a:ext>
            </a:extLst>
          </p:cNvPr>
          <p:cNvSpPr>
            <a:spLocks noGrp="1"/>
          </p:cNvSpPr>
          <p:nvPr>
            <p:ph type="sldNum" sz="quarter" idx="12"/>
          </p:nvPr>
        </p:nvSpPr>
        <p:spPr/>
        <p:txBody>
          <a:bodyPr/>
          <a:lstStyle/>
          <a:p>
            <a:fld id="{ADE361C3-C043-4A6E-BDCE-8DA1E7D90A3B}" type="slidenum">
              <a:rPr lang="zh-CN" altLang="en-US" smtClean="0"/>
              <a:t>5</a:t>
            </a:fld>
            <a:endParaRPr lang="zh-CN" altLang="en-US"/>
          </a:p>
        </p:txBody>
      </p:sp>
      <p:sp>
        <p:nvSpPr>
          <p:cNvPr id="5" name="页脚占位符 4">
            <a:extLst>
              <a:ext uri="{FF2B5EF4-FFF2-40B4-BE49-F238E27FC236}">
                <a16:creationId xmlns:a16="http://schemas.microsoft.com/office/drawing/2014/main" id="{0C2F7CAC-E7D0-E942-9B58-11C1BE4B6DD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标题 1">
            <a:extLst>
              <a:ext uri="{FF2B5EF4-FFF2-40B4-BE49-F238E27FC236}">
                <a16:creationId xmlns:a16="http://schemas.microsoft.com/office/drawing/2014/main" id="{2F3CC139-4210-F04D-A01B-1FFF678AB8EE}"/>
              </a:ext>
            </a:extLst>
          </p:cNvPr>
          <p:cNvSpPr txBox="1">
            <a:spLocks/>
          </p:cNvSpPr>
          <p:nvPr/>
        </p:nvSpPr>
        <p:spPr>
          <a:xfrm>
            <a:off x="457200" y="1333183"/>
            <a:ext cx="8229600" cy="900442"/>
          </a:xfrm>
          <a:prstGeom prst="rect">
            <a:avLst/>
          </a:prstGeom>
        </p:spPr>
        <p:txBody>
          <a:bodyPr vert="horz" lIns="91440" tIns="45720" rIns="91440" bIns="45720" rtlCol="0" anchor="ctr">
            <a:normAutofit lnSpcReduction="10000"/>
          </a:bodyPr>
          <a:lst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a:lstStyle>
          <a:p>
            <a:pPr>
              <a:lnSpc>
                <a:spcPct val="120000"/>
              </a:lnSpc>
            </a:pPr>
            <a:r>
              <a:rPr kumimoji="1" lang="zh-CN" altLang="en-US" sz="2400" b="0" dirty="0">
                <a:solidFill>
                  <a:schemeClr val="tx1">
                    <a:lumMod val="75000"/>
                    <a:lumOff val="25000"/>
                  </a:schemeClr>
                </a:solidFill>
              </a:rPr>
              <a:t>处理这些不会下陷的敏感指令，使得虚拟机中的操作系统能够运行在用户态（</a:t>
            </a:r>
            <a:r>
              <a:rPr kumimoji="1" lang="en-US" altLang="zh-CN" sz="2400" b="0" dirty="0">
                <a:solidFill>
                  <a:schemeClr val="tx1">
                    <a:lumMod val="75000"/>
                    <a:lumOff val="25000"/>
                  </a:schemeClr>
                </a:solidFill>
              </a:rPr>
              <a:t>EL-0</a:t>
            </a:r>
            <a:r>
              <a:rPr kumimoji="1" lang="zh-CN" altLang="en-US" sz="2400" b="0" dirty="0">
                <a:solidFill>
                  <a:schemeClr val="tx1">
                    <a:lumMod val="75000"/>
                    <a:lumOff val="25000"/>
                  </a:schemeClr>
                </a:solidFill>
              </a:rPr>
              <a:t>）</a:t>
            </a:r>
          </a:p>
        </p:txBody>
      </p:sp>
    </p:spTree>
    <p:extLst>
      <p:ext uri="{BB962C8B-B14F-4D97-AF65-F5344CB8AC3E}">
        <p14:creationId xmlns:p14="http://schemas.microsoft.com/office/powerpoint/2010/main" val="3516240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832F20-9AFD-CE40-869C-809195DD7028}"/>
              </a:ext>
            </a:extLst>
          </p:cNvPr>
          <p:cNvSpPr>
            <a:spLocks noGrp="1"/>
          </p:cNvSpPr>
          <p:nvPr>
            <p:ph type="title"/>
          </p:nvPr>
        </p:nvSpPr>
        <p:spPr/>
        <p:txBody>
          <a:bodyPr/>
          <a:lstStyle/>
          <a:p>
            <a:r>
              <a:rPr kumimoji="1" lang="zh-CN" altLang="en-US" dirty="0"/>
              <a:t>方法</a:t>
            </a:r>
            <a:r>
              <a:rPr kumimoji="1" lang="en-US" altLang="zh-CN" dirty="0"/>
              <a:t>1</a:t>
            </a:r>
            <a:r>
              <a:rPr kumimoji="1" lang="zh-CN" altLang="en-US" dirty="0"/>
              <a:t>：解释执行</a:t>
            </a:r>
          </a:p>
        </p:txBody>
      </p:sp>
      <p:sp>
        <p:nvSpPr>
          <p:cNvPr id="3" name="内容占位符 2">
            <a:extLst>
              <a:ext uri="{FF2B5EF4-FFF2-40B4-BE49-F238E27FC236}">
                <a16:creationId xmlns:a16="http://schemas.microsoft.com/office/drawing/2014/main" id="{26DB53A1-50CF-7548-88AC-ACE199CF2E2F}"/>
              </a:ext>
            </a:extLst>
          </p:cNvPr>
          <p:cNvSpPr>
            <a:spLocks noGrp="1"/>
          </p:cNvSpPr>
          <p:nvPr>
            <p:ph idx="1"/>
          </p:nvPr>
        </p:nvSpPr>
        <p:spPr/>
        <p:txBody>
          <a:bodyPr/>
          <a:lstStyle/>
          <a:p>
            <a:r>
              <a:rPr kumimoji="1" lang="zh-CN" altLang="en-US" dirty="0"/>
              <a:t>使用软件方法一条条对虚拟机代码进行模拟</a:t>
            </a:r>
            <a:endParaRPr kumimoji="1" lang="en-US" altLang="zh-CN" dirty="0"/>
          </a:p>
          <a:p>
            <a:pPr lvl="1"/>
            <a:r>
              <a:rPr kumimoji="1" lang="zh-CN" altLang="en-US" dirty="0"/>
              <a:t>不区分敏感指令还是其他指令</a:t>
            </a:r>
            <a:endParaRPr kumimoji="1" lang="en-US" altLang="zh-CN" dirty="0"/>
          </a:p>
          <a:p>
            <a:pPr lvl="1"/>
            <a:r>
              <a:rPr kumimoji="1" lang="zh-CN" altLang="en-US" dirty="0"/>
              <a:t>没有虚拟机指令直接在硬件上执行</a:t>
            </a:r>
            <a:endParaRPr kumimoji="1" lang="en-US" altLang="zh-CN" dirty="0"/>
          </a:p>
          <a:p>
            <a:r>
              <a:rPr kumimoji="1" lang="zh-CN" altLang="en-US" dirty="0"/>
              <a:t>使用内存维护虚拟机状态</a:t>
            </a:r>
            <a:endParaRPr kumimoji="1" lang="en-US" altLang="zh-CN" dirty="0"/>
          </a:p>
          <a:p>
            <a:pPr lvl="1"/>
            <a:r>
              <a:rPr kumimoji="1" lang="zh-CN" altLang="en-US" dirty="0"/>
              <a:t>例如：使用</a:t>
            </a:r>
            <a:r>
              <a:rPr kumimoji="1" lang="en-US" altLang="zh-CN" dirty="0"/>
              <a:t>uint64_t</a:t>
            </a:r>
            <a:r>
              <a:rPr kumimoji="1" lang="zh-CN" altLang="en-US" dirty="0"/>
              <a:t> </a:t>
            </a:r>
            <a:r>
              <a:rPr kumimoji="1" lang="en-US" altLang="zh-CN" dirty="0"/>
              <a:t>x[30]</a:t>
            </a:r>
            <a:r>
              <a:rPr kumimoji="1" lang="zh-CN" altLang="en-US" dirty="0"/>
              <a:t>数组保存所有通用寄存器的值</a:t>
            </a:r>
            <a:endParaRPr kumimoji="1" lang="en-US" altLang="zh-CN" dirty="0"/>
          </a:p>
          <a:p>
            <a:endParaRPr kumimoji="1" lang="zh-CN" altLang="en-US" dirty="0"/>
          </a:p>
        </p:txBody>
      </p:sp>
      <p:sp>
        <p:nvSpPr>
          <p:cNvPr id="4" name="灯片编号占位符 3">
            <a:extLst>
              <a:ext uri="{FF2B5EF4-FFF2-40B4-BE49-F238E27FC236}">
                <a16:creationId xmlns:a16="http://schemas.microsoft.com/office/drawing/2014/main" id="{929A5218-4201-EE47-A0E1-9CB03F32A7FC}"/>
              </a:ext>
            </a:extLst>
          </p:cNvPr>
          <p:cNvSpPr>
            <a:spLocks noGrp="1"/>
          </p:cNvSpPr>
          <p:nvPr>
            <p:ph type="sldNum" sz="quarter" idx="12"/>
          </p:nvPr>
        </p:nvSpPr>
        <p:spPr/>
        <p:txBody>
          <a:bodyPr/>
          <a:lstStyle/>
          <a:p>
            <a:fld id="{ADE361C3-C043-4A6E-BDCE-8DA1E7D90A3B}" type="slidenum">
              <a:rPr lang="zh-CN" altLang="en-US" smtClean="0"/>
              <a:t>6</a:t>
            </a:fld>
            <a:endParaRPr lang="zh-CN" altLang="en-US"/>
          </a:p>
        </p:txBody>
      </p:sp>
      <p:sp>
        <p:nvSpPr>
          <p:cNvPr id="5" name="页脚占位符 4">
            <a:extLst>
              <a:ext uri="{FF2B5EF4-FFF2-40B4-BE49-F238E27FC236}">
                <a16:creationId xmlns:a16="http://schemas.microsoft.com/office/drawing/2014/main" id="{DD22FA37-24A1-DB47-9BBB-ECFE3351E854}"/>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751601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DFEBC5-83B1-7F43-8179-82DAE7F1FA8D}"/>
              </a:ext>
            </a:extLst>
          </p:cNvPr>
          <p:cNvSpPr>
            <a:spLocks noGrp="1"/>
          </p:cNvSpPr>
          <p:nvPr>
            <p:ph type="title"/>
          </p:nvPr>
        </p:nvSpPr>
        <p:spPr/>
        <p:txBody>
          <a:bodyPr/>
          <a:lstStyle/>
          <a:p>
            <a:r>
              <a:rPr kumimoji="1" lang="zh-CN" altLang="en-US" dirty="0"/>
              <a:t>方法</a:t>
            </a:r>
            <a:r>
              <a:rPr kumimoji="1" lang="en-US" altLang="zh-CN" dirty="0"/>
              <a:t>1</a:t>
            </a:r>
            <a:r>
              <a:rPr kumimoji="1" lang="zh-CN" altLang="en-US" dirty="0"/>
              <a:t>：解释执行</a:t>
            </a:r>
          </a:p>
        </p:txBody>
      </p:sp>
      <p:sp>
        <p:nvSpPr>
          <p:cNvPr id="4" name="灯片编号占位符 3">
            <a:extLst>
              <a:ext uri="{FF2B5EF4-FFF2-40B4-BE49-F238E27FC236}">
                <a16:creationId xmlns:a16="http://schemas.microsoft.com/office/drawing/2014/main" id="{D3274E13-E0AC-2248-92E9-97C0281D5086}"/>
              </a:ext>
            </a:extLst>
          </p:cNvPr>
          <p:cNvSpPr>
            <a:spLocks noGrp="1"/>
          </p:cNvSpPr>
          <p:nvPr>
            <p:ph type="sldNum" sz="quarter" idx="12"/>
          </p:nvPr>
        </p:nvSpPr>
        <p:spPr/>
        <p:txBody>
          <a:bodyPr/>
          <a:lstStyle/>
          <a:p>
            <a:fld id="{ADE361C3-C043-4A6E-BDCE-8DA1E7D90A3B}" type="slidenum">
              <a:rPr lang="zh-CN" altLang="en-US" smtClean="0"/>
              <a:t>7</a:t>
            </a:fld>
            <a:endParaRPr lang="zh-CN" altLang="en-US"/>
          </a:p>
        </p:txBody>
      </p:sp>
      <p:sp>
        <p:nvSpPr>
          <p:cNvPr id="5" name="页脚占位符 4">
            <a:extLst>
              <a:ext uri="{FF2B5EF4-FFF2-40B4-BE49-F238E27FC236}">
                <a16:creationId xmlns:a16="http://schemas.microsoft.com/office/drawing/2014/main" id="{4CB9645B-F997-0145-9BEA-8EEAB22AEBA7}"/>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14" name="组合 13">
            <a:extLst>
              <a:ext uri="{FF2B5EF4-FFF2-40B4-BE49-F238E27FC236}">
                <a16:creationId xmlns:a16="http://schemas.microsoft.com/office/drawing/2014/main" id="{F5BEDC1B-5996-5D43-9C9A-7007553E1F62}"/>
              </a:ext>
            </a:extLst>
          </p:cNvPr>
          <p:cNvGrpSpPr/>
          <p:nvPr/>
        </p:nvGrpSpPr>
        <p:grpSpPr>
          <a:xfrm>
            <a:off x="846216" y="1127471"/>
            <a:ext cx="1588230" cy="1670257"/>
            <a:chOff x="2950840" y="1073433"/>
            <a:chExt cx="1588230" cy="1670257"/>
          </a:xfrm>
          <a:solidFill>
            <a:schemeClr val="bg1"/>
          </a:solidFill>
        </p:grpSpPr>
        <p:sp>
          <p:nvSpPr>
            <p:cNvPr id="6" name="矩形 5">
              <a:extLst>
                <a:ext uri="{FF2B5EF4-FFF2-40B4-BE49-F238E27FC236}">
                  <a16:creationId xmlns:a16="http://schemas.microsoft.com/office/drawing/2014/main" id="{E64A1A1C-6AB2-FB42-8E66-04CCAB03C2E6}"/>
                </a:ext>
              </a:extLst>
            </p:cNvPr>
            <p:cNvSpPr/>
            <p:nvPr/>
          </p:nvSpPr>
          <p:spPr>
            <a:xfrm>
              <a:off x="2950840" y="1073433"/>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Instr.</a:t>
              </a:r>
              <a:r>
                <a:rPr kumimoji="1" lang="zh-CN" altLang="en-US" dirty="0">
                  <a:solidFill>
                    <a:schemeClr val="tx1"/>
                  </a:solidFill>
                </a:rPr>
                <a:t> </a:t>
              </a:r>
              <a:r>
                <a:rPr kumimoji="1" lang="en-US" altLang="zh-CN" dirty="0">
                  <a:solidFill>
                    <a:schemeClr val="tx1"/>
                  </a:solidFill>
                </a:rPr>
                <a:t>1</a:t>
              </a:r>
              <a:endParaRPr kumimoji="1" lang="zh-CN" altLang="en-US" dirty="0">
                <a:solidFill>
                  <a:schemeClr val="tx1"/>
                </a:solidFill>
              </a:endParaRPr>
            </a:p>
          </p:txBody>
        </p:sp>
        <p:sp>
          <p:nvSpPr>
            <p:cNvPr id="7" name="矩形 6">
              <a:extLst>
                <a:ext uri="{FF2B5EF4-FFF2-40B4-BE49-F238E27FC236}">
                  <a16:creationId xmlns:a16="http://schemas.microsoft.com/office/drawing/2014/main" id="{BBA9972A-3C59-C74A-8873-B9B8D278478E}"/>
                </a:ext>
              </a:extLst>
            </p:cNvPr>
            <p:cNvSpPr/>
            <p:nvPr/>
          </p:nvSpPr>
          <p:spPr>
            <a:xfrm>
              <a:off x="2950840" y="1287736"/>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Instr.</a:t>
              </a:r>
              <a:r>
                <a:rPr kumimoji="1" lang="zh-CN" altLang="en-US" dirty="0">
                  <a:solidFill>
                    <a:schemeClr val="tx1"/>
                  </a:solidFill>
                </a:rPr>
                <a:t> </a:t>
              </a:r>
              <a:r>
                <a:rPr kumimoji="1" lang="en-US" altLang="zh-CN" dirty="0">
                  <a:solidFill>
                    <a:schemeClr val="tx1"/>
                  </a:solidFill>
                </a:rPr>
                <a:t>2</a:t>
              </a:r>
              <a:endParaRPr kumimoji="1" lang="zh-CN" altLang="en-US" dirty="0">
                <a:solidFill>
                  <a:schemeClr val="tx1"/>
                </a:solidFill>
              </a:endParaRPr>
            </a:p>
          </p:txBody>
        </p:sp>
        <p:sp>
          <p:nvSpPr>
            <p:cNvPr id="8" name="矩形 7">
              <a:extLst>
                <a:ext uri="{FF2B5EF4-FFF2-40B4-BE49-F238E27FC236}">
                  <a16:creationId xmlns:a16="http://schemas.microsoft.com/office/drawing/2014/main" id="{38BF1C90-7591-D548-9D9A-5ECBA784AE99}"/>
                </a:ext>
              </a:extLst>
            </p:cNvPr>
            <p:cNvSpPr/>
            <p:nvPr/>
          </p:nvSpPr>
          <p:spPr>
            <a:xfrm>
              <a:off x="2954894" y="1488237"/>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Instr.</a:t>
              </a:r>
              <a:r>
                <a:rPr kumimoji="1" lang="zh-CN" altLang="en-US" dirty="0">
                  <a:solidFill>
                    <a:schemeClr val="tx1"/>
                  </a:solidFill>
                </a:rPr>
                <a:t> </a:t>
              </a:r>
              <a:r>
                <a:rPr kumimoji="1" lang="en-US" altLang="zh-CN" dirty="0">
                  <a:solidFill>
                    <a:schemeClr val="tx1"/>
                  </a:solidFill>
                </a:rPr>
                <a:t>3</a:t>
              </a:r>
              <a:endParaRPr kumimoji="1" lang="zh-CN" altLang="en-US" dirty="0">
                <a:solidFill>
                  <a:schemeClr val="tx1"/>
                </a:solidFill>
              </a:endParaRPr>
            </a:p>
          </p:txBody>
        </p:sp>
        <p:sp>
          <p:nvSpPr>
            <p:cNvPr id="9" name="矩形 8">
              <a:extLst>
                <a:ext uri="{FF2B5EF4-FFF2-40B4-BE49-F238E27FC236}">
                  <a16:creationId xmlns:a16="http://schemas.microsoft.com/office/drawing/2014/main" id="{21278907-FC4E-A643-AE9E-C0D95B3AD43A}"/>
                </a:ext>
              </a:extLst>
            </p:cNvPr>
            <p:cNvSpPr/>
            <p:nvPr/>
          </p:nvSpPr>
          <p:spPr>
            <a:xfrm>
              <a:off x="2954894" y="1704395"/>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Instr.</a:t>
              </a:r>
              <a:r>
                <a:rPr kumimoji="1" lang="zh-CN" altLang="en-US" dirty="0">
                  <a:solidFill>
                    <a:schemeClr val="tx1"/>
                  </a:solidFill>
                </a:rPr>
                <a:t> </a:t>
              </a:r>
              <a:r>
                <a:rPr kumimoji="1" lang="en-US" altLang="zh-CN" dirty="0">
                  <a:solidFill>
                    <a:schemeClr val="tx1"/>
                  </a:solidFill>
                </a:rPr>
                <a:t>4</a:t>
              </a:r>
              <a:endParaRPr kumimoji="1" lang="zh-CN" altLang="en-US" dirty="0">
                <a:solidFill>
                  <a:schemeClr val="tx1"/>
                </a:solidFill>
              </a:endParaRPr>
            </a:p>
          </p:txBody>
        </p:sp>
        <p:sp>
          <p:nvSpPr>
            <p:cNvPr id="10" name="矩形 9">
              <a:extLst>
                <a:ext uri="{FF2B5EF4-FFF2-40B4-BE49-F238E27FC236}">
                  <a16:creationId xmlns:a16="http://schemas.microsoft.com/office/drawing/2014/main" id="{617B841D-63D2-924B-9CCA-065A84ADD9DD}"/>
                </a:ext>
              </a:extLst>
            </p:cNvPr>
            <p:cNvSpPr/>
            <p:nvPr/>
          </p:nvSpPr>
          <p:spPr>
            <a:xfrm>
              <a:off x="2950840" y="1916031"/>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Instr.</a:t>
              </a:r>
              <a:r>
                <a:rPr kumimoji="1" lang="zh-CN" altLang="en-US" dirty="0">
                  <a:solidFill>
                    <a:schemeClr val="tx1"/>
                  </a:solidFill>
                </a:rPr>
                <a:t> </a:t>
              </a:r>
              <a:r>
                <a:rPr kumimoji="1" lang="en-US" altLang="zh-CN" dirty="0">
                  <a:solidFill>
                    <a:schemeClr val="tx1"/>
                  </a:solidFill>
                </a:rPr>
                <a:t>5</a:t>
              </a:r>
              <a:endParaRPr kumimoji="1" lang="zh-CN" altLang="en-US" dirty="0">
                <a:solidFill>
                  <a:schemeClr val="tx1"/>
                </a:solidFill>
              </a:endParaRPr>
            </a:p>
          </p:txBody>
        </p:sp>
        <p:sp>
          <p:nvSpPr>
            <p:cNvPr id="11" name="矩形 10">
              <a:extLst>
                <a:ext uri="{FF2B5EF4-FFF2-40B4-BE49-F238E27FC236}">
                  <a16:creationId xmlns:a16="http://schemas.microsoft.com/office/drawing/2014/main" id="{AF76654F-B123-2E4D-96B4-5B2E5F1D488B}"/>
                </a:ext>
              </a:extLst>
            </p:cNvPr>
            <p:cNvSpPr/>
            <p:nvPr/>
          </p:nvSpPr>
          <p:spPr>
            <a:xfrm>
              <a:off x="2950840" y="2127667"/>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Instr.</a:t>
              </a:r>
              <a:r>
                <a:rPr kumimoji="1" lang="zh-CN" altLang="en-US" dirty="0">
                  <a:solidFill>
                    <a:schemeClr val="tx1"/>
                  </a:solidFill>
                </a:rPr>
                <a:t> </a:t>
              </a:r>
              <a:r>
                <a:rPr kumimoji="1" lang="en-US" altLang="zh-CN" dirty="0">
                  <a:solidFill>
                    <a:schemeClr val="tx1"/>
                  </a:solidFill>
                </a:rPr>
                <a:t>6</a:t>
              </a:r>
              <a:endParaRPr kumimoji="1" lang="zh-CN" altLang="en-US" dirty="0">
                <a:solidFill>
                  <a:schemeClr val="tx1"/>
                </a:solidFill>
              </a:endParaRPr>
            </a:p>
          </p:txBody>
        </p:sp>
        <p:sp>
          <p:nvSpPr>
            <p:cNvPr id="12" name="矩形 11">
              <a:extLst>
                <a:ext uri="{FF2B5EF4-FFF2-40B4-BE49-F238E27FC236}">
                  <a16:creationId xmlns:a16="http://schemas.microsoft.com/office/drawing/2014/main" id="{64164F23-D60D-5940-A160-EF497B6688E3}"/>
                </a:ext>
              </a:extLst>
            </p:cNvPr>
            <p:cNvSpPr/>
            <p:nvPr/>
          </p:nvSpPr>
          <p:spPr>
            <a:xfrm>
              <a:off x="2950840" y="2334418"/>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a:t>
              </a:r>
              <a:endParaRPr kumimoji="1" lang="zh-CN" altLang="en-US" dirty="0">
                <a:solidFill>
                  <a:schemeClr val="tx1"/>
                </a:solidFill>
              </a:endParaRPr>
            </a:p>
          </p:txBody>
        </p:sp>
        <p:sp>
          <p:nvSpPr>
            <p:cNvPr id="13" name="矩形 12">
              <a:extLst>
                <a:ext uri="{FF2B5EF4-FFF2-40B4-BE49-F238E27FC236}">
                  <a16:creationId xmlns:a16="http://schemas.microsoft.com/office/drawing/2014/main" id="{C099D8A7-541F-B048-869D-20CD8FB04857}"/>
                </a:ext>
              </a:extLst>
            </p:cNvPr>
            <p:cNvSpPr/>
            <p:nvPr/>
          </p:nvSpPr>
          <p:spPr>
            <a:xfrm>
              <a:off x="2950840" y="2527666"/>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Instr.</a:t>
              </a:r>
              <a:r>
                <a:rPr kumimoji="1" lang="zh-CN" altLang="en-US" dirty="0">
                  <a:solidFill>
                    <a:schemeClr val="tx1"/>
                  </a:solidFill>
                </a:rPr>
                <a:t> </a:t>
              </a:r>
              <a:r>
                <a:rPr kumimoji="1" lang="en-US" altLang="zh-CN" dirty="0">
                  <a:solidFill>
                    <a:schemeClr val="tx1"/>
                  </a:solidFill>
                </a:rPr>
                <a:t>N</a:t>
              </a:r>
              <a:endParaRPr kumimoji="1" lang="zh-CN" altLang="en-US" dirty="0">
                <a:solidFill>
                  <a:schemeClr val="tx1"/>
                </a:solidFill>
              </a:endParaRPr>
            </a:p>
          </p:txBody>
        </p:sp>
      </p:grpSp>
      <p:cxnSp>
        <p:nvCxnSpPr>
          <p:cNvPr id="16" name="直线箭头连接符 15">
            <a:extLst>
              <a:ext uri="{FF2B5EF4-FFF2-40B4-BE49-F238E27FC236}">
                <a16:creationId xmlns:a16="http://schemas.microsoft.com/office/drawing/2014/main" id="{54BBA666-3D1C-FE43-9588-9CF3A8C224CD}"/>
              </a:ext>
            </a:extLst>
          </p:cNvPr>
          <p:cNvCxnSpPr>
            <a:cxnSpLocks/>
            <a:stCxn id="6" idx="3"/>
          </p:cNvCxnSpPr>
          <p:nvPr/>
        </p:nvCxnSpPr>
        <p:spPr>
          <a:xfrm>
            <a:off x="2430392" y="1235483"/>
            <a:ext cx="121943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D3361679-2CE6-C54D-ADF8-869BBACB3ED0}"/>
              </a:ext>
            </a:extLst>
          </p:cNvPr>
          <p:cNvSpPr txBox="1"/>
          <p:nvPr/>
        </p:nvSpPr>
        <p:spPr>
          <a:xfrm>
            <a:off x="3143913" y="898908"/>
            <a:ext cx="505267" cy="369332"/>
          </a:xfrm>
          <a:prstGeom prst="rect">
            <a:avLst/>
          </a:prstGeom>
          <a:noFill/>
        </p:spPr>
        <p:txBody>
          <a:bodyPr wrap="none" rtlCol="0">
            <a:spAutoFit/>
          </a:bodyPr>
          <a:lstStyle/>
          <a:p>
            <a:r>
              <a:rPr kumimoji="1" lang="en-US" altLang="zh-CN" dirty="0"/>
              <a:t>PC</a:t>
            </a:r>
            <a:endParaRPr kumimoji="1" lang="zh-CN" altLang="en-US" dirty="0"/>
          </a:p>
        </p:txBody>
      </p:sp>
      <p:sp>
        <p:nvSpPr>
          <p:cNvPr id="18" name="矩形 17">
            <a:extLst>
              <a:ext uri="{FF2B5EF4-FFF2-40B4-BE49-F238E27FC236}">
                <a16:creationId xmlns:a16="http://schemas.microsoft.com/office/drawing/2014/main" id="{FA94E526-7C78-5041-9BA2-97CF1737090E}"/>
              </a:ext>
            </a:extLst>
          </p:cNvPr>
          <p:cNvSpPr/>
          <p:nvPr/>
        </p:nvSpPr>
        <p:spPr>
          <a:xfrm>
            <a:off x="3649180" y="1058529"/>
            <a:ext cx="1261120" cy="33284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模拟器</a:t>
            </a:r>
          </a:p>
        </p:txBody>
      </p:sp>
      <p:sp>
        <p:nvSpPr>
          <p:cNvPr id="19" name="矩形 18">
            <a:extLst>
              <a:ext uri="{FF2B5EF4-FFF2-40B4-BE49-F238E27FC236}">
                <a16:creationId xmlns:a16="http://schemas.microsoft.com/office/drawing/2014/main" id="{2BC759F9-6E39-8F4F-A6AA-544283CE167C}"/>
              </a:ext>
            </a:extLst>
          </p:cNvPr>
          <p:cNvSpPr/>
          <p:nvPr/>
        </p:nvSpPr>
        <p:spPr>
          <a:xfrm>
            <a:off x="3014028" y="2388456"/>
            <a:ext cx="1482081" cy="10372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CPS</a:t>
            </a:r>
          </a:p>
          <a:p>
            <a:pPr algn="ctr"/>
            <a:r>
              <a:rPr kumimoji="1" lang="zh-CN" altLang="en-US" dirty="0"/>
              <a:t>模拟函数</a:t>
            </a:r>
          </a:p>
        </p:txBody>
      </p:sp>
      <p:sp>
        <p:nvSpPr>
          <p:cNvPr id="20" name="矩形 19">
            <a:extLst>
              <a:ext uri="{FF2B5EF4-FFF2-40B4-BE49-F238E27FC236}">
                <a16:creationId xmlns:a16="http://schemas.microsoft.com/office/drawing/2014/main" id="{BEE9D188-76DC-2644-B531-ABC94BAEF36B}"/>
              </a:ext>
            </a:extLst>
          </p:cNvPr>
          <p:cNvSpPr/>
          <p:nvPr/>
        </p:nvSpPr>
        <p:spPr>
          <a:xfrm>
            <a:off x="4584466" y="2388457"/>
            <a:ext cx="1482080" cy="10372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MSR</a:t>
            </a:r>
            <a:r>
              <a:rPr kumimoji="1" lang="zh-CN" altLang="en-US" dirty="0"/>
              <a:t> </a:t>
            </a:r>
            <a:r>
              <a:rPr kumimoji="1" lang="en-US" altLang="zh-CN" dirty="0"/>
              <a:t>TTRB0_EL1</a:t>
            </a:r>
          </a:p>
          <a:p>
            <a:pPr algn="ctr"/>
            <a:r>
              <a:rPr kumimoji="1" lang="zh-CN" altLang="en-US" dirty="0"/>
              <a:t>模拟函数</a:t>
            </a:r>
          </a:p>
        </p:txBody>
      </p:sp>
      <p:sp>
        <p:nvSpPr>
          <p:cNvPr id="22" name="矩形 21">
            <a:extLst>
              <a:ext uri="{FF2B5EF4-FFF2-40B4-BE49-F238E27FC236}">
                <a16:creationId xmlns:a16="http://schemas.microsoft.com/office/drawing/2014/main" id="{65723D0C-1B5C-584C-94E3-5C5E172F3C6E}"/>
              </a:ext>
            </a:extLst>
          </p:cNvPr>
          <p:cNvSpPr/>
          <p:nvPr/>
        </p:nvSpPr>
        <p:spPr>
          <a:xfrm>
            <a:off x="6927550" y="2388456"/>
            <a:ext cx="1482080" cy="10372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其他</a:t>
            </a:r>
            <a:endParaRPr kumimoji="1" lang="en-US" altLang="zh-CN" dirty="0"/>
          </a:p>
          <a:p>
            <a:pPr algn="ctr"/>
            <a:r>
              <a:rPr kumimoji="1" lang="zh-CN" altLang="en-US" dirty="0"/>
              <a:t>模拟函数</a:t>
            </a:r>
          </a:p>
        </p:txBody>
      </p:sp>
      <p:sp>
        <p:nvSpPr>
          <p:cNvPr id="23" name="文本框 22">
            <a:extLst>
              <a:ext uri="{FF2B5EF4-FFF2-40B4-BE49-F238E27FC236}">
                <a16:creationId xmlns:a16="http://schemas.microsoft.com/office/drawing/2014/main" id="{6B653FDF-FF3B-C94B-8503-3B64B4A67974}"/>
              </a:ext>
            </a:extLst>
          </p:cNvPr>
          <p:cNvSpPr txBox="1"/>
          <p:nvPr/>
        </p:nvSpPr>
        <p:spPr>
          <a:xfrm>
            <a:off x="6269890" y="2751681"/>
            <a:ext cx="415498" cy="369332"/>
          </a:xfrm>
          <a:prstGeom prst="rect">
            <a:avLst/>
          </a:prstGeom>
          <a:noFill/>
        </p:spPr>
        <p:txBody>
          <a:bodyPr wrap="none" rtlCol="0">
            <a:spAutoFit/>
          </a:bodyPr>
          <a:lstStyle/>
          <a:p>
            <a:r>
              <a:rPr kumimoji="1" lang="en-US" altLang="zh-CN" dirty="0"/>
              <a:t>…</a:t>
            </a:r>
            <a:endParaRPr kumimoji="1" lang="zh-CN" altLang="en-US" dirty="0"/>
          </a:p>
        </p:txBody>
      </p:sp>
      <p:cxnSp>
        <p:nvCxnSpPr>
          <p:cNvPr id="25" name="肘形连接符 24">
            <a:extLst>
              <a:ext uri="{FF2B5EF4-FFF2-40B4-BE49-F238E27FC236}">
                <a16:creationId xmlns:a16="http://schemas.microsoft.com/office/drawing/2014/main" id="{BB9068AE-877C-9648-9408-A91539F9BFE3}"/>
              </a:ext>
            </a:extLst>
          </p:cNvPr>
          <p:cNvCxnSpPr>
            <a:stCxn id="18" idx="2"/>
            <a:endCxn id="19" idx="0"/>
          </p:cNvCxnSpPr>
          <p:nvPr/>
        </p:nvCxnSpPr>
        <p:spPr>
          <a:xfrm rot="5400000">
            <a:off x="3518865" y="1627580"/>
            <a:ext cx="997081" cy="524671"/>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肘形连接符 31">
            <a:extLst>
              <a:ext uri="{FF2B5EF4-FFF2-40B4-BE49-F238E27FC236}">
                <a16:creationId xmlns:a16="http://schemas.microsoft.com/office/drawing/2014/main" id="{5AC3C690-AB2B-F44C-B7BB-5B191D68AAE9}"/>
              </a:ext>
            </a:extLst>
          </p:cNvPr>
          <p:cNvCxnSpPr>
            <a:cxnSpLocks/>
            <a:stCxn id="18" idx="2"/>
            <a:endCxn id="20" idx="0"/>
          </p:cNvCxnSpPr>
          <p:nvPr/>
        </p:nvCxnSpPr>
        <p:spPr>
          <a:xfrm rot="16200000" flipH="1">
            <a:off x="4304082" y="1367033"/>
            <a:ext cx="997082" cy="1045766"/>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肘形连接符 36">
            <a:extLst>
              <a:ext uri="{FF2B5EF4-FFF2-40B4-BE49-F238E27FC236}">
                <a16:creationId xmlns:a16="http://schemas.microsoft.com/office/drawing/2014/main" id="{1CCF110F-505F-B145-9C33-327C0A1D159E}"/>
              </a:ext>
            </a:extLst>
          </p:cNvPr>
          <p:cNvCxnSpPr>
            <a:cxnSpLocks/>
            <a:stCxn id="18" idx="2"/>
            <a:endCxn id="22" idx="0"/>
          </p:cNvCxnSpPr>
          <p:nvPr/>
        </p:nvCxnSpPr>
        <p:spPr>
          <a:xfrm rot="16200000" flipH="1">
            <a:off x="5475625" y="195490"/>
            <a:ext cx="997081" cy="3388850"/>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肘形连接符 40">
            <a:extLst>
              <a:ext uri="{FF2B5EF4-FFF2-40B4-BE49-F238E27FC236}">
                <a16:creationId xmlns:a16="http://schemas.microsoft.com/office/drawing/2014/main" id="{F8B61288-B898-3348-97A9-B5A060239EE7}"/>
              </a:ext>
            </a:extLst>
          </p:cNvPr>
          <p:cNvCxnSpPr>
            <a:cxnSpLocks/>
            <a:stCxn id="19" idx="2"/>
            <a:endCxn id="42" idx="3"/>
          </p:cNvCxnSpPr>
          <p:nvPr/>
        </p:nvCxnSpPr>
        <p:spPr>
          <a:xfrm rot="5400000">
            <a:off x="2640746" y="3163718"/>
            <a:ext cx="852309" cy="1376338"/>
          </a:xfrm>
          <a:prstGeom prst="bentConnector2">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矩形 41">
            <a:extLst>
              <a:ext uri="{FF2B5EF4-FFF2-40B4-BE49-F238E27FC236}">
                <a16:creationId xmlns:a16="http://schemas.microsoft.com/office/drawing/2014/main" id="{27F25F97-BB9C-014A-B874-F9F7CA3DD875}"/>
              </a:ext>
            </a:extLst>
          </p:cNvPr>
          <p:cNvSpPr/>
          <p:nvPr/>
        </p:nvSpPr>
        <p:spPr>
          <a:xfrm>
            <a:off x="896650" y="3337123"/>
            <a:ext cx="1482081" cy="18818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X[30]</a:t>
            </a:r>
          </a:p>
          <a:p>
            <a:pPr algn="ctr"/>
            <a:r>
              <a:rPr kumimoji="1" lang="en-US" altLang="zh-CN" dirty="0"/>
              <a:t>PC</a:t>
            </a:r>
          </a:p>
          <a:p>
            <a:pPr algn="ctr"/>
            <a:r>
              <a:rPr kumimoji="1" lang="en-US" altLang="zh-CN" dirty="0"/>
              <a:t>PSTATE</a:t>
            </a:r>
          </a:p>
          <a:p>
            <a:pPr algn="ctr"/>
            <a:r>
              <a:rPr kumimoji="1" lang="en-US" altLang="zh-CN" dirty="0"/>
              <a:t>TTBR0_EL1</a:t>
            </a:r>
          </a:p>
          <a:p>
            <a:pPr algn="ctr"/>
            <a:r>
              <a:rPr kumimoji="1" lang="en-US" altLang="zh-CN" dirty="0"/>
              <a:t>…</a:t>
            </a:r>
            <a:endParaRPr kumimoji="1" lang="zh-CN" altLang="en-US" dirty="0"/>
          </a:p>
        </p:txBody>
      </p:sp>
      <p:cxnSp>
        <p:nvCxnSpPr>
          <p:cNvPr id="45" name="肘形连接符 44">
            <a:extLst>
              <a:ext uri="{FF2B5EF4-FFF2-40B4-BE49-F238E27FC236}">
                <a16:creationId xmlns:a16="http://schemas.microsoft.com/office/drawing/2014/main" id="{466F95EB-5971-8F46-B6F9-2901352F3CDE}"/>
              </a:ext>
            </a:extLst>
          </p:cNvPr>
          <p:cNvCxnSpPr>
            <a:cxnSpLocks/>
            <a:stCxn id="20" idx="2"/>
            <a:endCxn id="42" idx="3"/>
          </p:cNvCxnSpPr>
          <p:nvPr/>
        </p:nvCxnSpPr>
        <p:spPr>
          <a:xfrm rot="5400000">
            <a:off x="3425965" y="2378500"/>
            <a:ext cx="852309" cy="2946775"/>
          </a:xfrm>
          <a:prstGeom prst="bentConnector2">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8" name="肘形连接符 47">
            <a:extLst>
              <a:ext uri="{FF2B5EF4-FFF2-40B4-BE49-F238E27FC236}">
                <a16:creationId xmlns:a16="http://schemas.microsoft.com/office/drawing/2014/main" id="{A03C2489-13CC-F54B-B5AC-42ED53525A75}"/>
              </a:ext>
            </a:extLst>
          </p:cNvPr>
          <p:cNvCxnSpPr>
            <a:cxnSpLocks/>
            <a:stCxn id="22" idx="2"/>
            <a:endCxn id="42" idx="3"/>
          </p:cNvCxnSpPr>
          <p:nvPr/>
        </p:nvCxnSpPr>
        <p:spPr>
          <a:xfrm rot="5400000">
            <a:off x="4597506" y="1206958"/>
            <a:ext cx="852310" cy="5289859"/>
          </a:xfrm>
          <a:prstGeom prst="bentConnector2">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椭圆 55">
            <a:extLst>
              <a:ext uri="{FF2B5EF4-FFF2-40B4-BE49-F238E27FC236}">
                <a16:creationId xmlns:a16="http://schemas.microsoft.com/office/drawing/2014/main" id="{8CC47182-408F-8944-81DA-86CD78EF34E0}"/>
              </a:ext>
            </a:extLst>
          </p:cNvPr>
          <p:cNvSpPr/>
          <p:nvPr/>
        </p:nvSpPr>
        <p:spPr>
          <a:xfrm>
            <a:off x="2838508" y="911366"/>
            <a:ext cx="353318" cy="3600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57" name="椭圆 56">
            <a:extLst>
              <a:ext uri="{FF2B5EF4-FFF2-40B4-BE49-F238E27FC236}">
                <a16:creationId xmlns:a16="http://schemas.microsoft.com/office/drawing/2014/main" id="{6F9A5459-768D-7144-87D0-8252ED86F6C4}"/>
              </a:ext>
            </a:extLst>
          </p:cNvPr>
          <p:cNvSpPr/>
          <p:nvPr/>
        </p:nvSpPr>
        <p:spPr>
          <a:xfrm>
            <a:off x="4372658" y="1438449"/>
            <a:ext cx="353318" cy="3600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58" name="文本框 57">
            <a:extLst>
              <a:ext uri="{FF2B5EF4-FFF2-40B4-BE49-F238E27FC236}">
                <a16:creationId xmlns:a16="http://schemas.microsoft.com/office/drawing/2014/main" id="{B588BAD9-9F70-0040-8AC2-04C6CDB91267}"/>
              </a:ext>
            </a:extLst>
          </p:cNvPr>
          <p:cNvSpPr txBox="1"/>
          <p:nvPr/>
        </p:nvSpPr>
        <p:spPr>
          <a:xfrm>
            <a:off x="4660996" y="1428218"/>
            <a:ext cx="646331" cy="369332"/>
          </a:xfrm>
          <a:prstGeom prst="rect">
            <a:avLst/>
          </a:prstGeom>
          <a:noFill/>
        </p:spPr>
        <p:txBody>
          <a:bodyPr wrap="none" rtlCol="0">
            <a:spAutoFit/>
          </a:bodyPr>
          <a:lstStyle/>
          <a:p>
            <a:r>
              <a:rPr kumimoji="1" lang="zh-CN" altLang="en-US" dirty="0"/>
              <a:t>调用</a:t>
            </a:r>
          </a:p>
        </p:txBody>
      </p:sp>
      <p:sp>
        <p:nvSpPr>
          <p:cNvPr id="59" name="椭圆 58">
            <a:extLst>
              <a:ext uri="{FF2B5EF4-FFF2-40B4-BE49-F238E27FC236}">
                <a16:creationId xmlns:a16="http://schemas.microsoft.com/office/drawing/2014/main" id="{82EDDC9F-7EC2-C04E-88E6-41FC8022C536}"/>
              </a:ext>
            </a:extLst>
          </p:cNvPr>
          <p:cNvSpPr/>
          <p:nvPr/>
        </p:nvSpPr>
        <p:spPr>
          <a:xfrm>
            <a:off x="2837159" y="3839731"/>
            <a:ext cx="353318" cy="3600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60" name="文本框 59">
            <a:extLst>
              <a:ext uri="{FF2B5EF4-FFF2-40B4-BE49-F238E27FC236}">
                <a16:creationId xmlns:a16="http://schemas.microsoft.com/office/drawing/2014/main" id="{29176F43-E7B2-7E46-A546-8401C967718F}"/>
              </a:ext>
            </a:extLst>
          </p:cNvPr>
          <p:cNvSpPr txBox="1"/>
          <p:nvPr/>
        </p:nvSpPr>
        <p:spPr>
          <a:xfrm>
            <a:off x="1237580" y="5273377"/>
            <a:ext cx="646331" cy="369332"/>
          </a:xfrm>
          <a:prstGeom prst="rect">
            <a:avLst/>
          </a:prstGeom>
          <a:noFill/>
        </p:spPr>
        <p:txBody>
          <a:bodyPr wrap="none" rtlCol="0">
            <a:spAutoFit/>
          </a:bodyPr>
          <a:lstStyle/>
          <a:p>
            <a:r>
              <a:rPr kumimoji="1" lang="zh-CN" altLang="en-US" dirty="0"/>
              <a:t>内存</a:t>
            </a:r>
          </a:p>
        </p:txBody>
      </p:sp>
      <p:sp>
        <p:nvSpPr>
          <p:cNvPr id="61" name="文本框 60">
            <a:extLst>
              <a:ext uri="{FF2B5EF4-FFF2-40B4-BE49-F238E27FC236}">
                <a16:creationId xmlns:a16="http://schemas.microsoft.com/office/drawing/2014/main" id="{ED5EB931-8BA1-B14B-82E0-B3AE559A7CFF}"/>
              </a:ext>
            </a:extLst>
          </p:cNvPr>
          <p:cNvSpPr txBox="1"/>
          <p:nvPr/>
        </p:nvSpPr>
        <p:spPr>
          <a:xfrm>
            <a:off x="918822" y="2949220"/>
            <a:ext cx="1338828" cy="369332"/>
          </a:xfrm>
          <a:prstGeom prst="rect">
            <a:avLst/>
          </a:prstGeom>
          <a:noFill/>
        </p:spPr>
        <p:txBody>
          <a:bodyPr wrap="none" rtlCol="0">
            <a:spAutoFit/>
          </a:bodyPr>
          <a:lstStyle/>
          <a:p>
            <a:r>
              <a:rPr kumimoji="1" lang="zh-CN" altLang="en-US" dirty="0"/>
              <a:t>虚拟机状态</a:t>
            </a:r>
          </a:p>
        </p:txBody>
      </p:sp>
      <p:sp>
        <p:nvSpPr>
          <p:cNvPr id="62" name="矩形 61">
            <a:extLst>
              <a:ext uri="{FF2B5EF4-FFF2-40B4-BE49-F238E27FC236}">
                <a16:creationId xmlns:a16="http://schemas.microsoft.com/office/drawing/2014/main" id="{861A3E77-DB12-EC43-88A3-F8D93E67DEC1}"/>
              </a:ext>
            </a:extLst>
          </p:cNvPr>
          <p:cNvSpPr/>
          <p:nvPr/>
        </p:nvSpPr>
        <p:spPr>
          <a:xfrm>
            <a:off x="529117" y="1058529"/>
            <a:ext cx="2218417" cy="423843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3" name="文本框 62">
            <a:extLst>
              <a:ext uri="{FF2B5EF4-FFF2-40B4-BE49-F238E27FC236}">
                <a16:creationId xmlns:a16="http://schemas.microsoft.com/office/drawing/2014/main" id="{AB0CCB96-A1C8-7F46-87FB-5924D47B387A}"/>
              </a:ext>
            </a:extLst>
          </p:cNvPr>
          <p:cNvSpPr txBox="1"/>
          <p:nvPr/>
        </p:nvSpPr>
        <p:spPr>
          <a:xfrm>
            <a:off x="3150829" y="3830440"/>
            <a:ext cx="646331" cy="369332"/>
          </a:xfrm>
          <a:prstGeom prst="rect">
            <a:avLst/>
          </a:prstGeom>
          <a:noFill/>
        </p:spPr>
        <p:txBody>
          <a:bodyPr wrap="none" rtlCol="0">
            <a:spAutoFit/>
          </a:bodyPr>
          <a:lstStyle/>
          <a:p>
            <a:r>
              <a:rPr kumimoji="1" lang="zh-CN" altLang="en-US" dirty="0"/>
              <a:t>读写</a:t>
            </a:r>
          </a:p>
        </p:txBody>
      </p:sp>
      <p:sp>
        <p:nvSpPr>
          <p:cNvPr id="67" name="椭圆 66">
            <a:extLst>
              <a:ext uri="{FF2B5EF4-FFF2-40B4-BE49-F238E27FC236}">
                <a16:creationId xmlns:a16="http://schemas.microsoft.com/office/drawing/2014/main" id="{E7E2F3A0-3122-FA43-B66D-71B347E8CB6D}"/>
              </a:ext>
            </a:extLst>
          </p:cNvPr>
          <p:cNvSpPr/>
          <p:nvPr/>
        </p:nvSpPr>
        <p:spPr>
          <a:xfrm>
            <a:off x="2836738" y="1513086"/>
            <a:ext cx="353318" cy="3600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cxnSp>
        <p:nvCxnSpPr>
          <p:cNvPr id="69" name="肘形连接符 68">
            <a:extLst>
              <a:ext uri="{FF2B5EF4-FFF2-40B4-BE49-F238E27FC236}">
                <a16:creationId xmlns:a16="http://schemas.microsoft.com/office/drawing/2014/main" id="{2ED85038-F621-6743-82BE-011B38E2EE25}"/>
              </a:ext>
            </a:extLst>
          </p:cNvPr>
          <p:cNvCxnSpPr>
            <a:cxnSpLocks/>
          </p:cNvCxnSpPr>
          <p:nvPr/>
        </p:nvCxnSpPr>
        <p:spPr>
          <a:xfrm rot="10800000" flipV="1">
            <a:off x="2440133" y="1233427"/>
            <a:ext cx="1218788" cy="197771"/>
          </a:xfrm>
          <a:prstGeom prst="bentConnector3">
            <a:avLst>
              <a:gd name="adj1" fmla="val 50000"/>
            </a:avLst>
          </a:prstGeom>
          <a:ln w="38100">
            <a:solidFill>
              <a:schemeClr val="tx1"/>
            </a:solidFill>
            <a:prstDash val="sysDot"/>
            <a:headEnd type="triangle"/>
            <a:tailEnd type="none"/>
          </a:ln>
        </p:spPr>
        <p:style>
          <a:lnRef idx="1">
            <a:schemeClr val="accent1"/>
          </a:lnRef>
          <a:fillRef idx="0">
            <a:schemeClr val="accent1"/>
          </a:fillRef>
          <a:effectRef idx="0">
            <a:schemeClr val="accent1"/>
          </a:effectRef>
          <a:fontRef idx="minor">
            <a:schemeClr val="tx1"/>
          </a:fontRef>
        </p:style>
      </p:cxnSp>
      <p:sp>
        <p:nvSpPr>
          <p:cNvPr id="72" name="文本框 71">
            <a:extLst>
              <a:ext uri="{FF2B5EF4-FFF2-40B4-BE49-F238E27FC236}">
                <a16:creationId xmlns:a16="http://schemas.microsoft.com/office/drawing/2014/main" id="{EF7E3D6C-B914-8143-9A53-0562E0DA0CD0}"/>
              </a:ext>
            </a:extLst>
          </p:cNvPr>
          <p:cNvSpPr txBox="1"/>
          <p:nvPr/>
        </p:nvSpPr>
        <p:spPr>
          <a:xfrm>
            <a:off x="3126931" y="1520239"/>
            <a:ext cx="646331" cy="369332"/>
          </a:xfrm>
          <a:prstGeom prst="rect">
            <a:avLst/>
          </a:prstGeom>
          <a:noFill/>
        </p:spPr>
        <p:txBody>
          <a:bodyPr wrap="none" rtlCol="0">
            <a:spAutoFit/>
          </a:bodyPr>
          <a:lstStyle/>
          <a:p>
            <a:r>
              <a:rPr kumimoji="1" lang="zh-CN" altLang="en-US" dirty="0"/>
              <a:t>更新</a:t>
            </a:r>
          </a:p>
        </p:txBody>
      </p:sp>
    </p:spTree>
    <p:extLst>
      <p:ext uri="{BB962C8B-B14F-4D97-AF65-F5344CB8AC3E}">
        <p14:creationId xmlns:p14="http://schemas.microsoft.com/office/powerpoint/2010/main" val="1733021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56" grpId="0" animBg="1"/>
      <p:bldP spid="57" grpId="0" animBg="1"/>
      <p:bldP spid="58" grpId="0"/>
      <p:bldP spid="59" grpId="0" animBg="1"/>
      <p:bldP spid="63" grpId="0"/>
      <p:bldP spid="67" grpId="0" animBg="1"/>
      <p:bldP spid="7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428700" y="1029419"/>
            <a:ext cx="8784976" cy="4924425"/>
          </a:xfrm>
          <a:prstGeom prst="rect">
            <a:avLst/>
          </a:prstGeom>
          <a:noFill/>
          <a:ln>
            <a:noFill/>
          </a:ln>
        </p:spPr>
        <p:txBody>
          <a:bodyPr wrap="square" lIns="152400" tIns="152400" rIns="152400" bIns="152400" numCol="2">
            <a:spAutoFit/>
          </a:bodyPr>
          <a:lstStyle/>
          <a:p>
            <a:pPr>
              <a:defRPr/>
            </a:pPr>
            <a:r>
              <a:rPr lang="en-US" sz="1200" dirty="0">
                <a:latin typeface="Courier New" pitchFamily="49" charset="0"/>
                <a:cs typeface="Courier New" pitchFamily="49" charset="0"/>
              </a:rPr>
              <a:t>void </a:t>
            </a:r>
            <a:r>
              <a:rPr lang="en-US" sz="1200" dirty="0" err="1">
                <a:latin typeface="Courier New" pitchFamily="49" charset="0"/>
                <a:cs typeface="Courier New" pitchFamily="49" charset="0"/>
              </a:rPr>
              <a:t>CPU_Run</a:t>
            </a:r>
            <a:r>
              <a:rPr lang="en-US" sz="1200" dirty="0">
                <a:latin typeface="Courier New" pitchFamily="49" charset="0"/>
                <a:cs typeface="Courier New" pitchFamily="49" charset="0"/>
              </a:rPr>
              <a:t>(void)</a:t>
            </a:r>
          </a:p>
          <a:p>
            <a:pPr>
              <a:defRPr/>
            </a:pPr>
            <a:r>
              <a:rPr lang="en-US" sz="1200" dirty="0">
                <a:latin typeface="Courier New" pitchFamily="49" charset="0"/>
                <a:cs typeface="Courier New" pitchFamily="49" charset="0"/>
              </a:rPr>
              <a:t>{</a:t>
            </a:r>
          </a:p>
          <a:p>
            <a:pPr>
              <a:defRPr/>
            </a:pPr>
            <a:r>
              <a:rPr lang="en-US" sz="1200" dirty="0">
                <a:latin typeface="Courier New" pitchFamily="49" charset="0"/>
                <a:cs typeface="Courier New" pitchFamily="49" charset="0"/>
              </a:rPr>
              <a:t>   while (1) {</a:t>
            </a:r>
          </a:p>
          <a:p>
            <a:pPr>
              <a:defRPr/>
            </a:pPr>
            <a:r>
              <a:rPr lang="en-US" sz="1200" dirty="0">
                <a:latin typeface="Courier New" pitchFamily="49" charset="0"/>
                <a:cs typeface="Courier New" pitchFamily="49" charset="0"/>
              </a:rPr>
              <a:t>      inst = Fetch(</a:t>
            </a:r>
            <a:r>
              <a:rPr lang="en-US" sz="1200" dirty="0" err="1">
                <a:latin typeface="Courier New" pitchFamily="49" charset="0"/>
                <a:cs typeface="Courier New" pitchFamily="49" charset="0"/>
              </a:rPr>
              <a:t>CPUState.PC</a:t>
            </a:r>
            <a:r>
              <a:rPr lang="en-US" sz="1200" dirty="0">
                <a:latin typeface="Courier New" pitchFamily="49" charset="0"/>
                <a:cs typeface="Courier New" pitchFamily="49" charset="0"/>
              </a:rPr>
              <a:t>);</a:t>
            </a:r>
          </a:p>
          <a:p>
            <a:pPr>
              <a:defRPr/>
            </a:pPr>
            <a:endParaRPr lang="en-US" sz="1200" dirty="0">
              <a:latin typeface="Courier New" pitchFamily="49" charset="0"/>
              <a:cs typeface="Courier New" pitchFamily="49" charset="0"/>
            </a:endParaRPr>
          </a:p>
          <a:p>
            <a:pPr>
              <a:defRPr/>
            </a:pPr>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CPUState.PC</a:t>
            </a:r>
            <a:r>
              <a:rPr lang="en-US" sz="1200" dirty="0">
                <a:latin typeface="Courier New" pitchFamily="49" charset="0"/>
                <a:cs typeface="Courier New" pitchFamily="49" charset="0"/>
              </a:rPr>
              <a:t> += 4;</a:t>
            </a:r>
          </a:p>
          <a:p>
            <a:pPr>
              <a:defRPr/>
            </a:pPr>
            <a:endParaRPr lang="en-US" sz="1200" dirty="0">
              <a:latin typeface="Courier New" pitchFamily="49" charset="0"/>
              <a:cs typeface="Courier New" pitchFamily="49" charset="0"/>
            </a:endParaRPr>
          </a:p>
          <a:p>
            <a:pPr>
              <a:defRPr/>
            </a:pPr>
            <a:r>
              <a:rPr lang="en-US" sz="1200" dirty="0">
                <a:latin typeface="Courier New" pitchFamily="49" charset="0"/>
                <a:cs typeface="Courier New" pitchFamily="49" charset="0"/>
              </a:rPr>
              <a:t>      switch (inst) {</a:t>
            </a:r>
          </a:p>
          <a:p>
            <a:pPr>
              <a:defRPr/>
            </a:pPr>
            <a:r>
              <a:rPr lang="en-US" sz="1200" dirty="0">
                <a:latin typeface="Courier New" pitchFamily="49" charset="0"/>
                <a:cs typeface="Courier New" pitchFamily="49" charset="0"/>
              </a:rPr>
              <a:t>      case </a:t>
            </a:r>
            <a:r>
              <a:rPr lang="en-US" sz="1200" b="1" dirty="0">
                <a:solidFill>
                  <a:srgbClr val="0096FF"/>
                </a:solidFill>
                <a:latin typeface="Courier New" pitchFamily="49" charset="0"/>
                <a:cs typeface="Courier New" pitchFamily="49" charset="0"/>
              </a:rPr>
              <a:t>ADD</a:t>
            </a:r>
            <a:r>
              <a:rPr lang="en-US" sz="1200" dirty="0">
                <a:latin typeface="Courier New" pitchFamily="49" charset="0"/>
                <a:cs typeface="Courier New" pitchFamily="49" charset="0"/>
              </a:rPr>
              <a:t>:</a:t>
            </a:r>
          </a:p>
          <a:p>
            <a:pPr>
              <a:defRPr/>
            </a:pPr>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CPUState.GPR</a:t>
            </a:r>
            <a:r>
              <a:rPr lang="en-US" sz="1200" dirty="0">
                <a:latin typeface="Courier New" pitchFamily="49" charset="0"/>
                <a:cs typeface="Courier New" pitchFamily="49" charset="0"/>
              </a:rPr>
              <a:t>[</a:t>
            </a:r>
            <a:r>
              <a:rPr lang="en-US" sz="1200" dirty="0" err="1">
                <a:latin typeface="Courier New" pitchFamily="49" charset="0"/>
                <a:cs typeface="Courier New" pitchFamily="49" charset="0"/>
              </a:rPr>
              <a:t>rd</a:t>
            </a:r>
            <a:r>
              <a:rPr lang="en-US" sz="1200" dirty="0">
                <a:latin typeface="Courier New" pitchFamily="49" charset="0"/>
                <a:cs typeface="Courier New" pitchFamily="49" charset="0"/>
              </a:rPr>
              <a:t>] = GPR[</a:t>
            </a:r>
            <a:r>
              <a:rPr lang="en-US" sz="1200" dirty="0" err="1">
                <a:latin typeface="Courier New" pitchFamily="49" charset="0"/>
                <a:cs typeface="Courier New" pitchFamily="49" charset="0"/>
              </a:rPr>
              <a:t>rn</a:t>
            </a:r>
            <a:r>
              <a:rPr lang="en-US" sz="1200" dirty="0">
                <a:latin typeface="Courier New" pitchFamily="49" charset="0"/>
                <a:cs typeface="Courier New" pitchFamily="49" charset="0"/>
              </a:rPr>
              <a:t>] + GPR[</a:t>
            </a:r>
            <a:r>
              <a:rPr lang="en-US" sz="1200" dirty="0" err="1">
                <a:latin typeface="Courier New" pitchFamily="49" charset="0"/>
                <a:cs typeface="Courier New" pitchFamily="49" charset="0"/>
              </a:rPr>
              <a:t>rm</a:t>
            </a:r>
            <a:r>
              <a:rPr lang="en-US" sz="1200" dirty="0">
                <a:latin typeface="Courier New" pitchFamily="49" charset="0"/>
                <a:cs typeface="Courier New" pitchFamily="49" charset="0"/>
              </a:rPr>
              <a:t>];</a:t>
            </a:r>
          </a:p>
          <a:p>
            <a:pPr>
              <a:defRPr/>
            </a:pPr>
            <a:r>
              <a:rPr lang="en-US" sz="1200" dirty="0">
                <a:latin typeface="Courier New" pitchFamily="49" charset="0"/>
                <a:cs typeface="Courier New" pitchFamily="49" charset="0"/>
              </a:rPr>
              <a:t>         break;</a:t>
            </a:r>
          </a:p>
          <a:p>
            <a:pPr>
              <a:defRPr/>
            </a:pPr>
            <a:r>
              <a:rPr lang="en-US" sz="1200" dirty="0">
                <a:latin typeface="Courier New" pitchFamily="49" charset="0"/>
                <a:cs typeface="Courier New" pitchFamily="49" charset="0"/>
              </a:rPr>
              <a:t>      …</a:t>
            </a:r>
          </a:p>
          <a:p>
            <a:pPr>
              <a:defRPr/>
            </a:pPr>
            <a:r>
              <a:rPr lang="en-US" sz="1200" dirty="0">
                <a:latin typeface="Courier New" pitchFamily="49" charset="0"/>
                <a:cs typeface="Courier New" pitchFamily="49" charset="0"/>
              </a:rPr>
              <a:t>      case </a:t>
            </a:r>
            <a:r>
              <a:rPr lang="en-US" sz="1200" b="1" dirty="0">
                <a:solidFill>
                  <a:srgbClr val="0096FF"/>
                </a:solidFill>
                <a:latin typeface="Courier New" pitchFamily="49" charset="0"/>
                <a:cs typeface="Courier New" pitchFamily="49" charset="0"/>
              </a:rPr>
              <a:t>CLI</a:t>
            </a:r>
            <a:r>
              <a:rPr lang="en-US" sz="1200" dirty="0">
                <a:latin typeface="Courier New" pitchFamily="49" charset="0"/>
                <a:cs typeface="Courier New" pitchFamily="49" charset="0"/>
              </a:rPr>
              <a:t>:</a:t>
            </a:r>
          </a:p>
          <a:p>
            <a:pPr>
              <a:defRPr/>
            </a:pPr>
            <a:r>
              <a:rPr lang="en-US" sz="1200" dirty="0">
                <a:latin typeface="Courier New" pitchFamily="49" charset="0"/>
                <a:cs typeface="Courier New" pitchFamily="49" charset="0"/>
              </a:rPr>
              <a:t>         CPU_CLI(); break;</a:t>
            </a:r>
          </a:p>
          <a:p>
            <a:pPr>
              <a:defRPr/>
            </a:pPr>
            <a:r>
              <a:rPr lang="en-US" sz="1200" dirty="0">
                <a:latin typeface="Courier New" pitchFamily="49" charset="0"/>
                <a:cs typeface="Courier New" pitchFamily="49" charset="0"/>
              </a:rPr>
              <a:t>      case </a:t>
            </a:r>
            <a:r>
              <a:rPr lang="en-US" sz="1200" b="1" dirty="0">
                <a:solidFill>
                  <a:srgbClr val="0096FF"/>
                </a:solidFill>
                <a:latin typeface="Courier New" pitchFamily="49" charset="0"/>
                <a:cs typeface="Courier New" pitchFamily="49" charset="0"/>
              </a:rPr>
              <a:t>STI</a:t>
            </a:r>
            <a:r>
              <a:rPr lang="en-US" sz="1200" b="1" dirty="0">
                <a:latin typeface="Courier New" pitchFamily="49" charset="0"/>
                <a:cs typeface="Courier New" pitchFamily="49" charset="0"/>
              </a:rPr>
              <a:t>:</a:t>
            </a:r>
          </a:p>
          <a:p>
            <a:pPr>
              <a:defRPr/>
            </a:pPr>
            <a:r>
              <a:rPr lang="en-US" sz="1200" dirty="0">
                <a:latin typeface="Courier New" pitchFamily="49" charset="0"/>
                <a:cs typeface="Courier New" pitchFamily="49" charset="0"/>
              </a:rPr>
              <a:t>         CPU_STI(); break;</a:t>
            </a:r>
          </a:p>
          <a:p>
            <a:pPr>
              <a:defRPr/>
            </a:pPr>
            <a:r>
              <a:rPr lang="en-US" sz="1200" dirty="0">
                <a:latin typeface="Courier New" pitchFamily="49" charset="0"/>
                <a:cs typeface="Courier New" pitchFamily="49" charset="0"/>
              </a:rPr>
              <a:t>      }</a:t>
            </a:r>
          </a:p>
          <a:p>
            <a:pPr>
              <a:defRPr/>
            </a:pPr>
            <a:endParaRPr lang="en-US" sz="1200" dirty="0">
              <a:latin typeface="Courier New" pitchFamily="49" charset="0"/>
              <a:cs typeface="Courier New" pitchFamily="49" charset="0"/>
            </a:endParaRPr>
          </a:p>
          <a:p>
            <a:pPr>
              <a:defRPr/>
            </a:pPr>
            <a:r>
              <a:rPr lang="en-US" sz="1200" dirty="0">
                <a:latin typeface="Courier New" pitchFamily="49" charset="0"/>
                <a:cs typeface="Courier New" pitchFamily="49" charset="0"/>
              </a:rPr>
              <a:t>      if (</a:t>
            </a:r>
            <a:r>
              <a:rPr lang="en-US" sz="1200" dirty="0" err="1">
                <a:latin typeface="Courier New" pitchFamily="49" charset="0"/>
                <a:cs typeface="Courier New" pitchFamily="49" charset="0"/>
              </a:rPr>
              <a:t>CPUState.IRQ</a:t>
            </a:r>
            <a:r>
              <a:rPr lang="zh-CN" altLang="en-US" sz="1200" dirty="0">
                <a:latin typeface="Courier New" pitchFamily="49" charset="0"/>
                <a:cs typeface="Courier New" pitchFamily="49" charset="0"/>
              </a:rPr>
              <a:t> </a:t>
            </a:r>
            <a:r>
              <a:rPr lang="en-US" sz="1200" dirty="0">
                <a:latin typeface="Courier New" pitchFamily="49" charset="0"/>
                <a:cs typeface="Courier New" pitchFamily="49" charset="0"/>
              </a:rPr>
              <a:t>&amp;&amp; CPUState.IE) {</a:t>
            </a:r>
          </a:p>
          <a:p>
            <a:pPr>
              <a:defRPr/>
            </a:pPr>
            <a:r>
              <a:rPr lang="en-US" sz="1200" dirty="0">
                <a:latin typeface="Courier New" pitchFamily="49" charset="0"/>
                <a:cs typeface="Courier New" pitchFamily="49" charset="0"/>
              </a:rPr>
              <a:t>         CPUState.IE = 0;</a:t>
            </a:r>
          </a:p>
          <a:p>
            <a:pPr>
              <a:defRPr/>
            </a:pPr>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CPU_Vector</a:t>
            </a:r>
            <a:r>
              <a:rPr lang="en-US" sz="1200" dirty="0">
                <a:latin typeface="Courier New" pitchFamily="49" charset="0"/>
                <a:cs typeface="Courier New" pitchFamily="49" charset="0"/>
              </a:rPr>
              <a:t>(EXC_INT);</a:t>
            </a:r>
          </a:p>
          <a:p>
            <a:pPr>
              <a:defRPr/>
            </a:pPr>
            <a:r>
              <a:rPr lang="en-US" sz="1200" dirty="0">
                <a:latin typeface="Courier New" pitchFamily="49" charset="0"/>
                <a:cs typeface="Courier New" pitchFamily="49" charset="0"/>
              </a:rPr>
              <a:t>      }</a:t>
            </a:r>
          </a:p>
          <a:p>
            <a:pPr>
              <a:defRPr/>
            </a:pPr>
            <a:r>
              <a:rPr lang="en-US" sz="1200" dirty="0">
                <a:latin typeface="Courier New" pitchFamily="49" charset="0"/>
                <a:cs typeface="Courier New" pitchFamily="49" charset="0"/>
              </a:rPr>
              <a:t>   }</a:t>
            </a:r>
          </a:p>
          <a:p>
            <a:pPr>
              <a:defRPr/>
            </a:pPr>
            <a:r>
              <a:rPr lang="en-US" sz="1200" dirty="0">
                <a:latin typeface="Courier New" pitchFamily="49" charset="0"/>
                <a:cs typeface="Courier New" pitchFamily="49" charset="0"/>
              </a:rPr>
              <a:t>}</a:t>
            </a:r>
            <a:endParaRPr lang="zh-CN" altLang="en-US" sz="1200" dirty="0">
              <a:latin typeface="Courier New" pitchFamily="49" charset="0"/>
              <a:cs typeface="Courier New" pitchFamily="49" charset="0"/>
            </a:endParaRPr>
          </a:p>
        </p:txBody>
      </p:sp>
      <p:sp>
        <p:nvSpPr>
          <p:cNvPr id="6" name="矩形 5"/>
          <p:cNvSpPr/>
          <p:nvPr/>
        </p:nvSpPr>
        <p:spPr>
          <a:xfrm>
            <a:off x="5544616" y="1129119"/>
            <a:ext cx="4572000" cy="3231654"/>
          </a:xfrm>
          <a:prstGeom prst="rect">
            <a:avLst/>
          </a:prstGeom>
        </p:spPr>
        <p:txBody>
          <a:bodyPr>
            <a:spAutoFit/>
          </a:bodyPr>
          <a:lstStyle/>
          <a:p>
            <a:pPr>
              <a:defRPr/>
            </a:pPr>
            <a:r>
              <a:rPr lang="en-US" altLang="zh-CN" sz="1200" dirty="0">
                <a:latin typeface="Courier New" pitchFamily="49" charset="0"/>
                <a:cs typeface="Courier New" pitchFamily="49" charset="0"/>
              </a:rPr>
              <a:t>void CPU_CLI(void)</a:t>
            </a:r>
          </a:p>
          <a:p>
            <a:pPr>
              <a:defRPr/>
            </a:pPr>
            <a:r>
              <a:rPr lang="en-US" altLang="zh-CN" sz="1200" dirty="0">
                <a:latin typeface="Courier New" pitchFamily="49" charset="0"/>
                <a:cs typeface="Courier New" pitchFamily="49" charset="0"/>
              </a:rPr>
              <a:t>{</a:t>
            </a:r>
          </a:p>
          <a:p>
            <a:pPr>
              <a:defRPr/>
            </a:pPr>
            <a:r>
              <a:rPr lang="en-US" altLang="zh-CN" sz="1200" dirty="0">
                <a:latin typeface="Courier New" pitchFamily="49" charset="0"/>
                <a:cs typeface="Courier New" pitchFamily="49" charset="0"/>
              </a:rPr>
              <a:t>   </a:t>
            </a:r>
            <a:r>
              <a:rPr lang="en-US" altLang="zh-CN" sz="1200" dirty="0" err="1">
                <a:latin typeface="Courier New" pitchFamily="49" charset="0"/>
                <a:cs typeface="Courier New" pitchFamily="49" charset="0"/>
              </a:rPr>
              <a:t>CPUState.IE</a:t>
            </a:r>
            <a:r>
              <a:rPr lang="en-US" altLang="zh-CN" sz="1200" dirty="0">
                <a:latin typeface="Courier New" pitchFamily="49" charset="0"/>
                <a:cs typeface="Courier New" pitchFamily="49" charset="0"/>
              </a:rPr>
              <a:t> = 0;</a:t>
            </a:r>
          </a:p>
          <a:p>
            <a:pPr>
              <a:defRPr/>
            </a:pPr>
            <a:r>
              <a:rPr lang="en-US" altLang="zh-CN" sz="1200" dirty="0">
                <a:latin typeface="Courier New" pitchFamily="49" charset="0"/>
                <a:cs typeface="Courier New" pitchFamily="49" charset="0"/>
              </a:rPr>
              <a:t>}</a:t>
            </a:r>
          </a:p>
          <a:p>
            <a:pPr>
              <a:defRPr/>
            </a:pPr>
            <a:endParaRPr lang="zh-CN" altLang="en-US" sz="1200" dirty="0">
              <a:latin typeface="Courier New" pitchFamily="49" charset="0"/>
              <a:cs typeface="Courier New" pitchFamily="49" charset="0"/>
            </a:endParaRPr>
          </a:p>
          <a:p>
            <a:pPr>
              <a:defRPr/>
            </a:pPr>
            <a:endParaRPr lang="en-US" altLang="zh-CN" sz="1200" dirty="0">
              <a:latin typeface="Courier New" pitchFamily="49" charset="0"/>
              <a:cs typeface="Courier New" pitchFamily="49" charset="0"/>
            </a:endParaRPr>
          </a:p>
          <a:p>
            <a:pPr>
              <a:defRPr/>
            </a:pPr>
            <a:r>
              <a:rPr lang="en-US" altLang="zh-CN" sz="1200" dirty="0">
                <a:latin typeface="Courier New" pitchFamily="49" charset="0"/>
                <a:cs typeface="Courier New" pitchFamily="49" charset="0"/>
              </a:rPr>
              <a:t>void CPU_STI(void)</a:t>
            </a:r>
          </a:p>
          <a:p>
            <a:pPr>
              <a:defRPr/>
            </a:pPr>
            <a:r>
              <a:rPr lang="en-US" altLang="zh-CN" sz="1200" dirty="0">
                <a:latin typeface="Courier New" pitchFamily="49" charset="0"/>
                <a:cs typeface="Courier New" pitchFamily="49" charset="0"/>
              </a:rPr>
              <a:t>{</a:t>
            </a:r>
          </a:p>
          <a:p>
            <a:pPr>
              <a:defRPr/>
            </a:pPr>
            <a:r>
              <a:rPr lang="en-US" altLang="zh-CN" sz="1200" dirty="0">
                <a:latin typeface="Courier New" pitchFamily="49" charset="0"/>
                <a:cs typeface="Courier New" pitchFamily="49" charset="0"/>
              </a:rPr>
              <a:t>   </a:t>
            </a:r>
            <a:r>
              <a:rPr lang="en-US" altLang="zh-CN" sz="1200" dirty="0" err="1">
                <a:latin typeface="Courier New" pitchFamily="49" charset="0"/>
                <a:cs typeface="Courier New" pitchFamily="49" charset="0"/>
              </a:rPr>
              <a:t>CPUState.IE</a:t>
            </a:r>
            <a:r>
              <a:rPr lang="en-US" altLang="zh-CN" sz="1200" dirty="0">
                <a:latin typeface="Courier New" pitchFamily="49" charset="0"/>
                <a:cs typeface="Courier New" pitchFamily="49" charset="0"/>
              </a:rPr>
              <a:t> = 1;</a:t>
            </a:r>
          </a:p>
          <a:p>
            <a:pPr>
              <a:defRPr/>
            </a:pPr>
            <a:r>
              <a:rPr lang="en-US" altLang="zh-CN" sz="1200" dirty="0">
                <a:latin typeface="Courier New" pitchFamily="49" charset="0"/>
                <a:cs typeface="Courier New" pitchFamily="49" charset="0"/>
              </a:rPr>
              <a:t>}</a:t>
            </a:r>
          </a:p>
          <a:p>
            <a:pPr>
              <a:defRPr/>
            </a:pPr>
            <a:endParaRPr lang="zh-CN" altLang="en-US" sz="1200" dirty="0">
              <a:latin typeface="Courier New" pitchFamily="49" charset="0"/>
              <a:cs typeface="Courier New" pitchFamily="49" charset="0"/>
            </a:endParaRPr>
          </a:p>
          <a:p>
            <a:pPr>
              <a:defRPr/>
            </a:pPr>
            <a:endParaRPr lang="en-US" altLang="zh-CN" sz="1200" dirty="0">
              <a:latin typeface="Courier New" pitchFamily="49" charset="0"/>
              <a:cs typeface="Courier New" pitchFamily="49" charset="0"/>
            </a:endParaRPr>
          </a:p>
          <a:p>
            <a:pPr>
              <a:defRPr/>
            </a:pPr>
            <a:r>
              <a:rPr lang="en-US" altLang="zh-CN" sz="1200" dirty="0">
                <a:latin typeface="Courier New" pitchFamily="49" charset="0"/>
                <a:cs typeface="Courier New" pitchFamily="49" charset="0"/>
              </a:rPr>
              <a:t>void </a:t>
            </a:r>
            <a:r>
              <a:rPr lang="en-US" altLang="zh-CN" sz="1200" dirty="0" err="1">
                <a:latin typeface="Courier New" pitchFamily="49" charset="0"/>
                <a:cs typeface="Courier New" pitchFamily="49" charset="0"/>
              </a:rPr>
              <a:t>CPU_Vector</a:t>
            </a:r>
            <a:r>
              <a:rPr lang="en-US" altLang="zh-CN" sz="1200" dirty="0">
                <a:latin typeface="Courier New" pitchFamily="49" charset="0"/>
                <a:cs typeface="Courier New" pitchFamily="49" charset="0"/>
              </a:rPr>
              <a:t>(</a:t>
            </a:r>
            <a:r>
              <a:rPr lang="en-US" altLang="zh-CN" sz="1200" dirty="0" err="1">
                <a:latin typeface="Courier New" pitchFamily="49" charset="0"/>
                <a:cs typeface="Courier New" pitchFamily="49" charset="0"/>
              </a:rPr>
              <a:t>int</a:t>
            </a:r>
            <a:r>
              <a:rPr lang="en-US" altLang="zh-CN" sz="1200" dirty="0">
                <a:latin typeface="Courier New" pitchFamily="49" charset="0"/>
                <a:cs typeface="Courier New" pitchFamily="49" charset="0"/>
              </a:rPr>
              <a:t> </a:t>
            </a:r>
            <a:r>
              <a:rPr lang="en-US" altLang="zh-CN" sz="1200" dirty="0" err="1">
                <a:latin typeface="Courier New" pitchFamily="49" charset="0"/>
                <a:cs typeface="Courier New" pitchFamily="49" charset="0"/>
              </a:rPr>
              <a:t>exc</a:t>
            </a:r>
            <a:r>
              <a:rPr lang="en-US" altLang="zh-CN" sz="1200" dirty="0">
                <a:latin typeface="Courier New" pitchFamily="49" charset="0"/>
                <a:cs typeface="Courier New" pitchFamily="49" charset="0"/>
              </a:rPr>
              <a:t>)</a:t>
            </a:r>
          </a:p>
          <a:p>
            <a:pPr>
              <a:defRPr/>
            </a:pPr>
            <a:r>
              <a:rPr lang="en-US" altLang="zh-CN" sz="1200" dirty="0">
                <a:latin typeface="Courier New" pitchFamily="49" charset="0"/>
                <a:cs typeface="Courier New" pitchFamily="49" charset="0"/>
              </a:rPr>
              <a:t>{</a:t>
            </a:r>
          </a:p>
          <a:p>
            <a:pPr>
              <a:defRPr/>
            </a:pPr>
            <a:r>
              <a:rPr lang="en-US" altLang="zh-CN" sz="1200" dirty="0">
                <a:latin typeface="Courier New" pitchFamily="49" charset="0"/>
                <a:cs typeface="Courier New" pitchFamily="49" charset="0"/>
              </a:rPr>
              <a:t>   </a:t>
            </a:r>
            <a:r>
              <a:rPr lang="en-US" altLang="zh-CN" sz="1200" dirty="0" err="1">
                <a:latin typeface="Courier New" pitchFamily="49" charset="0"/>
                <a:cs typeface="Courier New" pitchFamily="49" charset="0"/>
              </a:rPr>
              <a:t>CPUState.LR</a:t>
            </a:r>
            <a:r>
              <a:rPr lang="en-US" altLang="zh-CN" sz="1200" dirty="0">
                <a:latin typeface="Courier New" pitchFamily="49" charset="0"/>
                <a:cs typeface="Courier New" pitchFamily="49" charset="0"/>
              </a:rPr>
              <a:t> = </a:t>
            </a:r>
            <a:r>
              <a:rPr lang="en-US" altLang="zh-CN" sz="1200" dirty="0" err="1">
                <a:latin typeface="Courier New" pitchFamily="49" charset="0"/>
                <a:cs typeface="Courier New" pitchFamily="49" charset="0"/>
              </a:rPr>
              <a:t>CPUState.PC</a:t>
            </a:r>
            <a:r>
              <a:rPr lang="en-US" altLang="zh-CN" sz="1200" dirty="0">
                <a:latin typeface="Courier New" pitchFamily="49" charset="0"/>
                <a:cs typeface="Courier New" pitchFamily="49" charset="0"/>
              </a:rPr>
              <a:t>;</a:t>
            </a:r>
          </a:p>
          <a:p>
            <a:pPr>
              <a:defRPr/>
            </a:pPr>
            <a:r>
              <a:rPr lang="en-US" altLang="zh-CN" sz="1200" dirty="0">
                <a:latin typeface="Courier New" pitchFamily="49" charset="0"/>
                <a:cs typeface="Courier New" pitchFamily="49" charset="0"/>
              </a:rPr>
              <a:t>   </a:t>
            </a:r>
            <a:r>
              <a:rPr lang="en-US" altLang="zh-CN" sz="1200" dirty="0" err="1">
                <a:latin typeface="Courier New" pitchFamily="49" charset="0"/>
                <a:cs typeface="Courier New" pitchFamily="49" charset="0"/>
              </a:rPr>
              <a:t>CPUState.PC</a:t>
            </a:r>
            <a:r>
              <a:rPr lang="en-US" altLang="zh-CN" sz="1200" dirty="0">
                <a:latin typeface="Courier New" pitchFamily="49" charset="0"/>
                <a:cs typeface="Courier New" pitchFamily="49" charset="0"/>
              </a:rPr>
              <a:t> = </a:t>
            </a:r>
            <a:r>
              <a:rPr lang="en-US" altLang="zh-CN" sz="1200" dirty="0" err="1">
                <a:latin typeface="Courier New" pitchFamily="49" charset="0"/>
                <a:cs typeface="Courier New" pitchFamily="49" charset="0"/>
              </a:rPr>
              <a:t>disTab</a:t>
            </a:r>
            <a:r>
              <a:rPr lang="en-US" altLang="zh-CN" sz="1200" dirty="0">
                <a:latin typeface="Courier New" pitchFamily="49" charset="0"/>
                <a:cs typeface="Courier New" pitchFamily="49" charset="0"/>
              </a:rPr>
              <a:t>[</a:t>
            </a:r>
            <a:r>
              <a:rPr lang="en-US" altLang="zh-CN" sz="1200" dirty="0" err="1">
                <a:latin typeface="Courier New" pitchFamily="49" charset="0"/>
                <a:cs typeface="Courier New" pitchFamily="49" charset="0"/>
              </a:rPr>
              <a:t>exc</a:t>
            </a:r>
            <a:r>
              <a:rPr lang="en-US" altLang="zh-CN" sz="1200" dirty="0">
                <a:latin typeface="Courier New" pitchFamily="49" charset="0"/>
                <a:cs typeface="Courier New" pitchFamily="49" charset="0"/>
              </a:rPr>
              <a:t>];</a:t>
            </a:r>
          </a:p>
          <a:p>
            <a:pPr>
              <a:defRPr/>
            </a:pPr>
            <a:r>
              <a:rPr lang="en-US" altLang="zh-CN" sz="1200" dirty="0">
                <a:latin typeface="Courier New" pitchFamily="49" charset="0"/>
                <a:cs typeface="Courier New" pitchFamily="49" charset="0"/>
              </a:rPr>
              <a:t>}</a:t>
            </a:r>
          </a:p>
        </p:txBody>
      </p:sp>
      <p:sp>
        <p:nvSpPr>
          <p:cNvPr id="8" name="标题 1"/>
          <p:cNvSpPr>
            <a:spLocks noGrp="1"/>
          </p:cNvSpPr>
          <p:nvPr>
            <p:ph type="title"/>
          </p:nvPr>
        </p:nvSpPr>
        <p:spPr>
          <a:xfrm>
            <a:off x="457200" y="228866"/>
            <a:ext cx="8229600" cy="900442"/>
          </a:xfrm>
        </p:spPr>
        <p:txBody>
          <a:bodyPr>
            <a:noAutofit/>
          </a:bodyPr>
          <a:lstStyle/>
          <a:p>
            <a:r>
              <a:rPr lang="zh-CN" altLang="en-US" dirty="0"/>
              <a:t>例子：使用解释执行来模拟中断的设置</a:t>
            </a:r>
            <a:endParaRPr kumimoji="1" lang="zh-CN" altLang="en-US" dirty="0"/>
          </a:p>
        </p:txBody>
      </p:sp>
      <p:sp>
        <p:nvSpPr>
          <p:cNvPr id="5" name="文本框 4">
            <a:extLst>
              <a:ext uri="{FF2B5EF4-FFF2-40B4-BE49-F238E27FC236}">
                <a16:creationId xmlns:a16="http://schemas.microsoft.com/office/drawing/2014/main" id="{6CDC4CE5-4F8C-554D-A45C-07A467907B91}"/>
              </a:ext>
            </a:extLst>
          </p:cNvPr>
          <p:cNvSpPr txBox="1"/>
          <p:nvPr/>
        </p:nvSpPr>
        <p:spPr>
          <a:xfrm>
            <a:off x="4469015" y="4761646"/>
            <a:ext cx="3775393" cy="400110"/>
          </a:xfrm>
          <a:prstGeom prst="rect">
            <a:avLst/>
          </a:prstGeom>
          <a:noFill/>
        </p:spPr>
        <p:txBody>
          <a:bodyPr wrap="none" rtlCol="0">
            <a:spAutoFit/>
          </a:bodyPr>
          <a:lstStyle/>
          <a:p>
            <a:r>
              <a:rPr kumimoji="1" lang="zh-CN" altLang="en-US" sz="2000" b="1" dirty="0">
                <a:solidFill>
                  <a:srgbClr val="BE384B"/>
                </a:solidFill>
              </a:rPr>
              <a:t>思考：这种方式有什么优缺点？</a:t>
            </a:r>
          </a:p>
        </p:txBody>
      </p:sp>
    </p:spTree>
    <p:extLst>
      <p:ext uri="{BB962C8B-B14F-4D97-AF65-F5344CB8AC3E}">
        <p14:creationId xmlns:p14="http://schemas.microsoft.com/office/powerpoint/2010/main" val="321852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F0854A-218D-8240-9C44-AAEA54B41959}"/>
              </a:ext>
            </a:extLst>
          </p:cNvPr>
          <p:cNvSpPr>
            <a:spLocks noGrp="1"/>
          </p:cNvSpPr>
          <p:nvPr>
            <p:ph type="title"/>
          </p:nvPr>
        </p:nvSpPr>
        <p:spPr/>
        <p:txBody>
          <a:bodyPr/>
          <a:lstStyle/>
          <a:p>
            <a:r>
              <a:rPr kumimoji="1" lang="zh-CN" altLang="en-US" dirty="0"/>
              <a:t>解释执行的优缺点</a:t>
            </a:r>
          </a:p>
        </p:txBody>
      </p:sp>
      <p:sp>
        <p:nvSpPr>
          <p:cNvPr id="3" name="内容占位符 2">
            <a:extLst>
              <a:ext uri="{FF2B5EF4-FFF2-40B4-BE49-F238E27FC236}">
                <a16:creationId xmlns:a16="http://schemas.microsoft.com/office/drawing/2014/main" id="{10FEFAF5-7B6F-8148-AD1A-666287F9BE33}"/>
              </a:ext>
            </a:extLst>
          </p:cNvPr>
          <p:cNvSpPr>
            <a:spLocks noGrp="1"/>
          </p:cNvSpPr>
          <p:nvPr>
            <p:ph idx="1"/>
          </p:nvPr>
        </p:nvSpPr>
        <p:spPr/>
        <p:txBody>
          <a:bodyPr/>
          <a:lstStyle/>
          <a:p>
            <a:r>
              <a:rPr kumimoji="1" lang="zh-CN" altLang="en-US" dirty="0"/>
              <a:t>优点：</a:t>
            </a:r>
            <a:endParaRPr kumimoji="1" lang="en-US" altLang="zh-CN" dirty="0"/>
          </a:p>
          <a:p>
            <a:pPr lvl="1"/>
            <a:r>
              <a:rPr kumimoji="1" lang="zh-CN" altLang="en-US" dirty="0"/>
              <a:t>解决了敏感函数不下陷的问题</a:t>
            </a:r>
            <a:endParaRPr kumimoji="1" lang="en-US" altLang="zh-CN" dirty="0"/>
          </a:p>
          <a:p>
            <a:pPr lvl="1"/>
            <a:r>
              <a:rPr kumimoji="1" lang="zh-CN" altLang="en-US" dirty="0"/>
              <a:t>可以模拟不同</a:t>
            </a:r>
            <a:r>
              <a:rPr kumimoji="1" lang="en-US" altLang="zh-CN" dirty="0"/>
              <a:t>ISA</a:t>
            </a:r>
            <a:r>
              <a:rPr kumimoji="1" lang="zh-CN" altLang="en-US" dirty="0"/>
              <a:t>的虚拟机</a:t>
            </a:r>
            <a:endParaRPr kumimoji="1" lang="en-US" altLang="zh-CN" dirty="0"/>
          </a:p>
          <a:p>
            <a:pPr lvl="1"/>
            <a:r>
              <a:rPr kumimoji="1" lang="zh-CN" altLang="en-US" dirty="0"/>
              <a:t>易于实现、复杂度低</a:t>
            </a:r>
            <a:endParaRPr kumimoji="1" lang="en-US" altLang="zh-CN" dirty="0"/>
          </a:p>
          <a:p>
            <a:r>
              <a:rPr kumimoji="1" lang="zh-CN" altLang="en-US" dirty="0"/>
              <a:t>缺点：</a:t>
            </a:r>
            <a:endParaRPr kumimoji="1" lang="en-US" altLang="zh-CN" dirty="0"/>
          </a:p>
          <a:p>
            <a:pPr lvl="1"/>
            <a:r>
              <a:rPr kumimoji="1" lang="zh-CN" altLang="en-US" dirty="0">
                <a:solidFill>
                  <a:srgbClr val="BE384B"/>
                </a:solidFill>
              </a:rPr>
              <a:t>非常慢：任何一条虚拟机指令都会转换成多条模拟指令</a:t>
            </a:r>
          </a:p>
        </p:txBody>
      </p:sp>
      <p:sp>
        <p:nvSpPr>
          <p:cNvPr id="4" name="灯片编号占位符 3">
            <a:extLst>
              <a:ext uri="{FF2B5EF4-FFF2-40B4-BE49-F238E27FC236}">
                <a16:creationId xmlns:a16="http://schemas.microsoft.com/office/drawing/2014/main" id="{F7DF8BA9-FB02-3F43-9F1F-B304B75868B6}"/>
              </a:ext>
            </a:extLst>
          </p:cNvPr>
          <p:cNvSpPr>
            <a:spLocks noGrp="1"/>
          </p:cNvSpPr>
          <p:nvPr>
            <p:ph type="sldNum" sz="quarter" idx="12"/>
          </p:nvPr>
        </p:nvSpPr>
        <p:spPr/>
        <p:txBody>
          <a:bodyPr/>
          <a:lstStyle/>
          <a:p>
            <a:fld id="{ADE361C3-C043-4A6E-BDCE-8DA1E7D90A3B}" type="slidenum">
              <a:rPr lang="zh-CN" altLang="en-US" smtClean="0"/>
              <a:t>9</a:t>
            </a:fld>
            <a:endParaRPr lang="zh-CN" altLang="en-US"/>
          </a:p>
        </p:txBody>
      </p:sp>
      <p:sp>
        <p:nvSpPr>
          <p:cNvPr id="5" name="页脚占位符 4">
            <a:extLst>
              <a:ext uri="{FF2B5EF4-FFF2-40B4-BE49-F238E27FC236}">
                <a16:creationId xmlns:a16="http://schemas.microsoft.com/office/drawing/2014/main" id="{3159AE9B-A04D-2D4E-8CF7-F30592455E8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582350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A86C6B-8D3F-644C-8AB0-60394A8F03C9}"/>
              </a:ext>
            </a:extLst>
          </p:cNvPr>
          <p:cNvSpPr>
            <a:spLocks noGrp="1"/>
          </p:cNvSpPr>
          <p:nvPr>
            <p:ph type="title"/>
          </p:nvPr>
        </p:nvSpPr>
        <p:spPr/>
        <p:txBody>
          <a:bodyPr/>
          <a:lstStyle/>
          <a:p>
            <a:r>
              <a:rPr kumimoji="1" lang="zh-CN" altLang="en-US" dirty="0"/>
              <a:t>方法</a:t>
            </a:r>
            <a:r>
              <a:rPr kumimoji="1" lang="en-US" altLang="zh-CN" dirty="0"/>
              <a:t>2</a:t>
            </a:r>
            <a:r>
              <a:rPr kumimoji="1" lang="zh-CN" altLang="en-US" dirty="0"/>
              <a:t>：二进制翻译</a:t>
            </a:r>
          </a:p>
        </p:txBody>
      </p:sp>
      <p:sp>
        <p:nvSpPr>
          <p:cNvPr id="3" name="内容占位符 2">
            <a:extLst>
              <a:ext uri="{FF2B5EF4-FFF2-40B4-BE49-F238E27FC236}">
                <a16:creationId xmlns:a16="http://schemas.microsoft.com/office/drawing/2014/main" id="{872E2F20-AAC6-CB41-9E14-5029E5516146}"/>
              </a:ext>
            </a:extLst>
          </p:cNvPr>
          <p:cNvSpPr>
            <a:spLocks noGrp="1"/>
          </p:cNvSpPr>
          <p:nvPr>
            <p:ph idx="1"/>
          </p:nvPr>
        </p:nvSpPr>
        <p:spPr/>
        <p:txBody>
          <a:bodyPr/>
          <a:lstStyle/>
          <a:p>
            <a:r>
              <a:rPr kumimoji="1" lang="zh-CN" altLang="en-US" dirty="0"/>
              <a:t>提出两个加速技术</a:t>
            </a:r>
            <a:endParaRPr kumimoji="1" lang="en-US" altLang="zh-CN" dirty="0"/>
          </a:p>
          <a:p>
            <a:pPr lvl="1"/>
            <a:r>
              <a:rPr kumimoji="1" lang="zh-CN" altLang="en-US" dirty="0"/>
              <a:t>在执行前</a:t>
            </a:r>
            <a:r>
              <a:rPr kumimoji="1" lang="zh-CN" altLang="en-US" dirty="0">
                <a:solidFill>
                  <a:srgbClr val="BE384B"/>
                </a:solidFill>
              </a:rPr>
              <a:t>批量翻译</a:t>
            </a:r>
            <a:r>
              <a:rPr kumimoji="1" lang="zh-CN" altLang="en-US" dirty="0"/>
              <a:t>虚拟机指令</a:t>
            </a:r>
            <a:endParaRPr kumimoji="1" lang="en-US" altLang="zh-CN" dirty="0"/>
          </a:p>
          <a:p>
            <a:pPr lvl="1"/>
            <a:r>
              <a:rPr kumimoji="1" lang="zh-CN" altLang="en-US" dirty="0">
                <a:solidFill>
                  <a:srgbClr val="BE384B"/>
                </a:solidFill>
              </a:rPr>
              <a:t>缓存</a:t>
            </a:r>
            <a:r>
              <a:rPr kumimoji="1" lang="zh-CN" altLang="en-US" dirty="0"/>
              <a:t>已翻译完成的指令</a:t>
            </a:r>
            <a:endParaRPr kumimoji="1" lang="en-US" altLang="zh-CN" dirty="0"/>
          </a:p>
          <a:p>
            <a:r>
              <a:rPr kumimoji="1" lang="zh-CN" altLang="en-US" dirty="0"/>
              <a:t>使用基本块</a:t>
            </a:r>
            <a:r>
              <a:rPr kumimoji="1" lang="en-US" altLang="zh-CN" dirty="0"/>
              <a:t>(Basic</a:t>
            </a:r>
            <a:r>
              <a:rPr kumimoji="1" lang="zh-CN" altLang="en-US" dirty="0"/>
              <a:t> </a:t>
            </a:r>
            <a:r>
              <a:rPr kumimoji="1" lang="en-US" altLang="zh-CN" dirty="0"/>
              <a:t>Block)</a:t>
            </a:r>
            <a:r>
              <a:rPr kumimoji="1" lang="zh-CN" altLang="en-US" dirty="0"/>
              <a:t>的翻译粒度（</a:t>
            </a:r>
            <a:r>
              <a:rPr kumimoji="1" lang="zh-CN" altLang="en-US" dirty="0">
                <a:solidFill>
                  <a:srgbClr val="BE384B"/>
                </a:solidFill>
              </a:rPr>
              <a:t>为什么</a:t>
            </a:r>
            <a:r>
              <a:rPr kumimoji="1" lang="en-US" altLang="zh-CN" dirty="0">
                <a:solidFill>
                  <a:srgbClr val="BE384B"/>
                </a:solidFill>
              </a:rPr>
              <a:t>?</a:t>
            </a:r>
            <a:r>
              <a:rPr kumimoji="1" lang="zh-CN" altLang="en-US" dirty="0"/>
              <a:t>）</a:t>
            </a:r>
            <a:endParaRPr kumimoji="1" lang="en-US" altLang="zh-CN" dirty="0"/>
          </a:p>
          <a:p>
            <a:pPr lvl="1"/>
            <a:r>
              <a:rPr kumimoji="1" lang="zh-CN" altLang="en-US" dirty="0"/>
              <a:t>每一个基本块被翻译完后叫代码补丁</a:t>
            </a:r>
          </a:p>
        </p:txBody>
      </p:sp>
      <p:sp>
        <p:nvSpPr>
          <p:cNvPr id="4" name="灯片编号占位符 3">
            <a:extLst>
              <a:ext uri="{FF2B5EF4-FFF2-40B4-BE49-F238E27FC236}">
                <a16:creationId xmlns:a16="http://schemas.microsoft.com/office/drawing/2014/main" id="{EFD7E371-2364-A448-8474-63BEF5B60C34}"/>
              </a:ext>
            </a:extLst>
          </p:cNvPr>
          <p:cNvSpPr>
            <a:spLocks noGrp="1"/>
          </p:cNvSpPr>
          <p:nvPr>
            <p:ph type="sldNum" sz="quarter" idx="12"/>
          </p:nvPr>
        </p:nvSpPr>
        <p:spPr/>
        <p:txBody>
          <a:bodyPr/>
          <a:lstStyle/>
          <a:p>
            <a:fld id="{ADE361C3-C043-4A6E-BDCE-8DA1E7D90A3B}" type="slidenum">
              <a:rPr lang="zh-CN" altLang="en-US" smtClean="0"/>
              <a:t>10</a:t>
            </a:fld>
            <a:endParaRPr lang="zh-CN" altLang="en-US"/>
          </a:p>
        </p:txBody>
      </p:sp>
      <p:sp>
        <p:nvSpPr>
          <p:cNvPr id="5" name="页脚占位符 4">
            <a:extLst>
              <a:ext uri="{FF2B5EF4-FFF2-40B4-BE49-F238E27FC236}">
                <a16:creationId xmlns:a16="http://schemas.microsoft.com/office/drawing/2014/main" id="{D116D7A7-C662-E04F-950D-7F7221C908E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0604767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7C8DF0-F7DD-F14E-91F3-81EA0C18488A}"/>
              </a:ext>
            </a:extLst>
          </p:cNvPr>
          <p:cNvSpPr>
            <a:spLocks noGrp="1"/>
          </p:cNvSpPr>
          <p:nvPr>
            <p:ph type="title"/>
          </p:nvPr>
        </p:nvSpPr>
        <p:spPr/>
        <p:txBody>
          <a:bodyPr/>
          <a:lstStyle/>
          <a:p>
            <a:r>
              <a:rPr kumimoji="1" lang="zh-CN" altLang="en-US" dirty="0"/>
              <a:t>二进制翻译</a:t>
            </a:r>
          </a:p>
        </p:txBody>
      </p:sp>
      <p:sp>
        <p:nvSpPr>
          <p:cNvPr id="4" name="灯片编号占位符 3">
            <a:extLst>
              <a:ext uri="{FF2B5EF4-FFF2-40B4-BE49-F238E27FC236}">
                <a16:creationId xmlns:a16="http://schemas.microsoft.com/office/drawing/2014/main" id="{16F73CC9-65E6-224A-897D-0B7F720B7B72}"/>
              </a:ext>
            </a:extLst>
          </p:cNvPr>
          <p:cNvSpPr>
            <a:spLocks noGrp="1"/>
          </p:cNvSpPr>
          <p:nvPr>
            <p:ph type="sldNum" sz="quarter" idx="12"/>
          </p:nvPr>
        </p:nvSpPr>
        <p:spPr/>
        <p:txBody>
          <a:bodyPr/>
          <a:lstStyle/>
          <a:p>
            <a:fld id="{ADE361C3-C043-4A6E-BDCE-8DA1E7D90A3B}" type="slidenum">
              <a:rPr lang="zh-CN" altLang="en-US" smtClean="0"/>
              <a:t>11</a:t>
            </a:fld>
            <a:endParaRPr lang="zh-CN" altLang="en-US"/>
          </a:p>
        </p:txBody>
      </p:sp>
      <p:sp>
        <p:nvSpPr>
          <p:cNvPr id="5" name="页脚占位符 4">
            <a:extLst>
              <a:ext uri="{FF2B5EF4-FFF2-40B4-BE49-F238E27FC236}">
                <a16:creationId xmlns:a16="http://schemas.microsoft.com/office/drawing/2014/main" id="{E7DE1C5D-17D4-FA4E-8EBF-34BDF2B96044}"/>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6" name="组合 5">
            <a:extLst>
              <a:ext uri="{FF2B5EF4-FFF2-40B4-BE49-F238E27FC236}">
                <a16:creationId xmlns:a16="http://schemas.microsoft.com/office/drawing/2014/main" id="{CBB3E0B2-39DF-714D-AC4A-C9C270592A73}"/>
              </a:ext>
            </a:extLst>
          </p:cNvPr>
          <p:cNvGrpSpPr/>
          <p:nvPr/>
        </p:nvGrpSpPr>
        <p:grpSpPr>
          <a:xfrm>
            <a:off x="1242594" y="1287858"/>
            <a:ext cx="1588230" cy="1670257"/>
            <a:chOff x="2950840" y="1073433"/>
            <a:chExt cx="1588230" cy="1670257"/>
          </a:xfrm>
          <a:solidFill>
            <a:schemeClr val="bg1"/>
          </a:solidFill>
        </p:grpSpPr>
        <p:sp>
          <p:nvSpPr>
            <p:cNvPr id="7" name="矩形 6">
              <a:extLst>
                <a:ext uri="{FF2B5EF4-FFF2-40B4-BE49-F238E27FC236}">
                  <a16:creationId xmlns:a16="http://schemas.microsoft.com/office/drawing/2014/main" id="{5C8A1DE8-BD43-AA44-993A-533AEB8AC7B1}"/>
                </a:ext>
              </a:extLst>
            </p:cNvPr>
            <p:cNvSpPr/>
            <p:nvPr/>
          </p:nvSpPr>
          <p:spPr>
            <a:xfrm>
              <a:off x="2950840" y="1073433"/>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rPr>
                <a:t>基本块</a:t>
              </a:r>
              <a:r>
                <a:rPr kumimoji="1" lang="en-US" altLang="zh-CN" sz="1600" dirty="0">
                  <a:solidFill>
                    <a:schemeClr val="tx1"/>
                  </a:solidFill>
                </a:rPr>
                <a:t>1</a:t>
              </a:r>
              <a:endParaRPr kumimoji="1" lang="zh-CN" altLang="en-US" sz="1600" dirty="0">
                <a:solidFill>
                  <a:schemeClr val="tx1"/>
                </a:solidFill>
              </a:endParaRPr>
            </a:p>
          </p:txBody>
        </p:sp>
        <p:sp>
          <p:nvSpPr>
            <p:cNvPr id="8" name="矩形 7">
              <a:extLst>
                <a:ext uri="{FF2B5EF4-FFF2-40B4-BE49-F238E27FC236}">
                  <a16:creationId xmlns:a16="http://schemas.microsoft.com/office/drawing/2014/main" id="{8A21C8F5-5672-6B41-B622-53C2CA67AD9A}"/>
                </a:ext>
              </a:extLst>
            </p:cNvPr>
            <p:cNvSpPr/>
            <p:nvPr/>
          </p:nvSpPr>
          <p:spPr>
            <a:xfrm>
              <a:off x="2950840" y="1287736"/>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rPr>
                <a:t>基本块</a:t>
              </a:r>
              <a:r>
                <a:rPr kumimoji="1" lang="en-US" altLang="zh-CN" sz="1600" dirty="0">
                  <a:solidFill>
                    <a:schemeClr val="tx1"/>
                  </a:solidFill>
                </a:rPr>
                <a:t>2</a:t>
              </a:r>
              <a:endParaRPr kumimoji="1" lang="zh-CN" altLang="en-US" sz="1600" dirty="0">
                <a:solidFill>
                  <a:schemeClr val="tx1"/>
                </a:solidFill>
              </a:endParaRPr>
            </a:p>
          </p:txBody>
        </p:sp>
        <p:sp>
          <p:nvSpPr>
            <p:cNvPr id="9" name="矩形 8">
              <a:extLst>
                <a:ext uri="{FF2B5EF4-FFF2-40B4-BE49-F238E27FC236}">
                  <a16:creationId xmlns:a16="http://schemas.microsoft.com/office/drawing/2014/main" id="{0D8DCCB1-B030-3C45-8EB3-776361F36F24}"/>
                </a:ext>
              </a:extLst>
            </p:cNvPr>
            <p:cNvSpPr/>
            <p:nvPr/>
          </p:nvSpPr>
          <p:spPr>
            <a:xfrm>
              <a:off x="2954894" y="1488237"/>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rPr>
                <a:t>基本块</a:t>
              </a:r>
              <a:r>
                <a:rPr kumimoji="1" lang="en-US" altLang="zh-CN" sz="1600" dirty="0">
                  <a:solidFill>
                    <a:schemeClr val="tx1"/>
                  </a:solidFill>
                </a:rPr>
                <a:t>3</a:t>
              </a:r>
              <a:endParaRPr kumimoji="1" lang="zh-CN" altLang="en-US" sz="1600" dirty="0">
                <a:solidFill>
                  <a:schemeClr val="tx1"/>
                </a:solidFill>
              </a:endParaRPr>
            </a:p>
          </p:txBody>
        </p:sp>
        <p:sp>
          <p:nvSpPr>
            <p:cNvPr id="10" name="矩形 9">
              <a:extLst>
                <a:ext uri="{FF2B5EF4-FFF2-40B4-BE49-F238E27FC236}">
                  <a16:creationId xmlns:a16="http://schemas.microsoft.com/office/drawing/2014/main" id="{C59F9F45-8635-9141-A84F-3EE5AA79553E}"/>
                </a:ext>
              </a:extLst>
            </p:cNvPr>
            <p:cNvSpPr/>
            <p:nvPr/>
          </p:nvSpPr>
          <p:spPr>
            <a:xfrm>
              <a:off x="2954894" y="1704395"/>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rPr>
                <a:t>基本块</a:t>
              </a:r>
              <a:r>
                <a:rPr kumimoji="1" lang="en-US" altLang="zh-CN" sz="1600" dirty="0">
                  <a:solidFill>
                    <a:schemeClr val="tx1"/>
                  </a:solidFill>
                </a:rPr>
                <a:t>4</a:t>
              </a:r>
              <a:endParaRPr kumimoji="1" lang="zh-CN" altLang="en-US" sz="1600" dirty="0">
                <a:solidFill>
                  <a:schemeClr val="tx1"/>
                </a:solidFill>
              </a:endParaRPr>
            </a:p>
          </p:txBody>
        </p:sp>
        <p:sp>
          <p:nvSpPr>
            <p:cNvPr id="11" name="矩形 10">
              <a:extLst>
                <a:ext uri="{FF2B5EF4-FFF2-40B4-BE49-F238E27FC236}">
                  <a16:creationId xmlns:a16="http://schemas.microsoft.com/office/drawing/2014/main" id="{6AAC1C39-A0D7-8947-A861-C27B4CC19CC0}"/>
                </a:ext>
              </a:extLst>
            </p:cNvPr>
            <p:cNvSpPr/>
            <p:nvPr/>
          </p:nvSpPr>
          <p:spPr>
            <a:xfrm>
              <a:off x="2950840" y="1916031"/>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rPr>
                <a:t>基本块</a:t>
              </a:r>
              <a:r>
                <a:rPr kumimoji="1" lang="en-US" altLang="zh-CN" sz="1600" dirty="0">
                  <a:solidFill>
                    <a:schemeClr val="tx1"/>
                  </a:solidFill>
                </a:rPr>
                <a:t>5</a:t>
              </a:r>
              <a:endParaRPr kumimoji="1" lang="zh-CN" altLang="en-US" sz="1600" dirty="0">
                <a:solidFill>
                  <a:schemeClr val="tx1"/>
                </a:solidFill>
              </a:endParaRPr>
            </a:p>
          </p:txBody>
        </p:sp>
        <p:sp>
          <p:nvSpPr>
            <p:cNvPr id="12" name="矩形 11">
              <a:extLst>
                <a:ext uri="{FF2B5EF4-FFF2-40B4-BE49-F238E27FC236}">
                  <a16:creationId xmlns:a16="http://schemas.microsoft.com/office/drawing/2014/main" id="{840BAB85-ADB6-9242-B72D-F1AA2F0EA5FB}"/>
                </a:ext>
              </a:extLst>
            </p:cNvPr>
            <p:cNvSpPr/>
            <p:nvPr/>
          </p:nvSpPr>
          <p:spPr>
            <a:xfrm>
              <a:off x="2950840" y="2127667"/>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rPr>
                <a:t>基本块</a:t>
              </a:r>
              <a:r>
                <a:rPr kumimoji="1" lang="en-US" altLang="zh-CN" sz="1600" dirty="0">
                  <a:solidFill>
                    <a:schemeClr val="tx1"/>
                  </a:solidFill>
                </a:rPr>
                <a:t>6</a:t>
              </a:r>
              <a:endParaRPr kumimoji="1" lang="zh-CN" altLang="en-US" sz="1600" dirty="0">
                <a:solidFill>
                  <a:schemeClr val="tx1"/>
                </a:solidFill>
              </a:endParaRPr>
            </a:p>
          </p:txBody>
        </p:sp>
        <p:sp>
          <p:nvSpPr>
            <p:cNvPr id="13" name="矩形 12">
              <a:extLst>
                <a:ext uri="{FF2B5EF4-FFF2-40B4-BE49-F238E27FC236}">
                  <a16:creationId xmlns:a16="http://schemas.microsoft.com/office/drawing/2014/main" id="{D43D13A7-9024-6C48-BE4F-C4ED5ED0B8F5}"/>
                </a:ext>
              </a:extLst>
            </p:cNvPr>
            <p:cNvSpPr/>
            <p:nvPr/>
          </p:nvSpPr>
          <p:spPr>
            <a:xfrm>
              <a:off x="2950840" y="2334418"/>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600" dirty="0">
                  <a:solidFill>
                    <a:schemeClr val="tx1"/>
                  </a:solidFill>
                </a:rPr>
                <a:t>…</a:t>
              </a:r>
              <a:endParaRPr kumimoji="1" lang="zh-CN" altLang="en-US" sz="1600" dirty="0">
                <a:solidFill>
                  <a:schemeClr val="tx1"/>
                </a:solidFill>
              </a:endParaRPr>
            </a:p>
          </p:txBody>
        </p:sp>
        <p:sp>
          <p:nvSpPr>
            <p:cNvPr id="14" name="矩形 13">
              <a:extLst>
                <a:ext uri="{FF2B5EF4-FFF2-40B4-BE49-F238E27FC236}">
                  <a16:creationId xmlns:a16="http://schemas.microsoft.com/office/drawing/2014/main" id="{58323015-A578-C042-99CE-7A1D76A28D44}"/>
                </a:ext>
              </a:extLst>
            </p:cNvPr>
            <p:cNvSpPr/>
            <p:nvPr/>
          </p:nvSpPr>
          <p:spPr>
            <a:xfrm>
              <a:off x="2950840" y="2527666"/>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rPr>
                <a:t>基本块</a:t>
              </a:r>
              <a:r>
                <a:rPr kumimoji="1" lang="en-US" altLang="zh-CN" sz="1600" dirty="0">
                  <a:solidFill>
                    <a:schemeClr val="tx1"/>
                  </a:solidFill>
                </a:rPr>
                <a:t>N</a:t>
              </a:r>
              <a:endParaRPr kumimoji="1" lang="zh-CN" altLang="en-US" sz="1600" dirty="0">
                <a:solidFill>
                  <a:schemeClr val="tx1"/>
                </a:solidFill>
              </a:endParaRPr>
            </a:p>
          </p:txBody>
        </p:sp>
      </p:grpSp>
      <p:sp>
        <p:nvSpPr>
          <p:cNvPr id="17" name="矩形 16">
            <a:extLst>
              <a:ext uri="{FF2B5EF4-FFF2-40B4-BE49-F238E27FC236}">
                <a16:creationId xmlns:a16="http://schemas.microsoft.com/office/drawing/2014/main" id="{7AE36491-3B52-FE43-BBDD-B9956542576C}"/>
              </a:ext>
            </a:extLst>
          </p:cNvPr>
          <p:cNvSpPr/>
          <p:nvPr/>
        </p:nvSpPr>
        <p:spPr>
          <a:xfrm>
            <a:off x="4045558" y="1008385"/>
            <a:ext cx="1261120" cy="33284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模拟器</a:t>
            </a:r>
          </a:p>
        </p:txBody>
      </p:sp>
      <p:cxnSp>
        <p:nvCxnSpPr>
          <p:cNvPr id="22" name="肘形连接符 21">
            <a:extLst>
              <a:ext uri="{FF2B5EF4-FFF2-40B4-BE49-F238E27FC236}">
                <a16:creationId xmlns:a16="http://schemas.microsoft.com/office/drawing/2014/main" id="{27385280-ACCA-3344-B333-E3F6C36A58D0}"/>
              </a:ext>
            </a:extLst>
          </p:cNvPr>
          <p:cNvCxnSpPr>
            <a:cxnSpLocks/>
            <a:stCxn id="17" idx="2"/>
            <a:endCxn id="73" idx="0"/>
          </p:cNvCxnSpPr>
          <p:nvPr/>
        </p:nvCxnSpPr>
        <p:spPr>
          <a:xfrm rot="16200000" flipH="1">
            <a:off x="4570457" y="1446892"/>
            <a:ext cx="557806" cy="346484"/>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肘形连接符 22">
            <a:extLst>
              <a:ext uri="{FF2B5EF4-FFF2-40B4-BE49-F238E27FC236}">
                <a16:creationId xmlns:a16="http://schemas.microsoft.com/office/drawing/2014/main" id="{CB334465-B221-3446-B442-E2D7DBE6EE55}"/>
              </a:ext>
            </a:extLst>
          </p:cNvPr>
          <p:cNvCxnSpPr>
            <a:cxnSpLocks/>
            <a:stCxn id="110" idx="2"/>
            <a:endCxn id="78" idx="3"/>
          </p:cNvCxnSpPr>
          <p:nvPr/>
        </p:nvCxnSpPr>
        <p:spPr>
          <a:xfrm rot="5400000">
            <a:off x="6478389" y="3603528"/>
            <a:ext cx="878974" cy="258234"/>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矩形 25">
            <a:extLst>
              <a:ext uri="{FF2B5EF4-FFF2-40B4-BE49-F238E27FC236}">
                <a16:creationId xmlns:a16="http://schemas.microsoft.com/office/drawing/2014/main" id="{5F546260-5A62-5D4E-AEAC-8C6BAF08B7EB}"/>
              </a:ext>
            </a:extLst>
          </p:cNvPr>
          <p:cNvSpPr/>
          <p:nvPr/>
        </p:nvSpPr>
        <p:spPr>
          <a:xfrm>
            <a:off x="1242595" y="4561413"/>
            <a:ext cx="1584176" cy="40907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a:t>
            </a:r>
            <a:endParaRPr kumimoji="1" lang="zh-CN" altLang="en-US" dirty="0"/>
          </a:p>
        </p:txBody>
      </p:sp>
      <p:cxnSp>
        <p:nvCxnSpPr>
          <p:cNvPr id="27" name="肘形连接符 26">
            <a:extLst>
              <a:ext uri="{FF2B5EF4-FFF2-40B4-BE49-F238E27FC236}">
                <a16:creationId xmlns:a16="http://schemas.microsoft.com/office/drawing/2014/main" id="{9948A607-6F76-CE4B-9426-8EB30AAEE3E3}"/>
              </a:ext>
            </a:extLst>
          </p:cNvPr>
          <p:cNvCxnSpPr>
            <a:cxnSpLocks/>
            <a:stCxn id="78" idx="2"/>
            <a:endCxn id="26" idx="3"/>
          </p:cNvCxnSpPr>
          <p:nvPr/>
        </p:nvCxnSpPr>
        <p:spPr>
          <a:xfrm rot="5400000">
            <a:off x="4217269" y="2935497"/>
            <a:ext cx="439953" cy="3220948"/>
          </a:xfrm>
          <a:prstGeom prst="bentConnector2">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椭圆 28">
            <a:extLst>
              <a:ext uri="{FF2B5EF4-FFF2-40B4-BE49-F238E27FC236}">
                <a16:creationId xmlns:a16="http://schemas.microsoft.com/office/drawing/2014/main" id="{FD801EED-81E8-BB44-BACF-81E657DDA4B1}"/>
              </a:ext>
            </a:extLst>
          </p:cNvPr>
          <p:cNvSpPr/>
          <p:nvPr/>
        </p:nvSpPr>
        <p:spPr>
          <a:xfrm>
            <a:off x="3234886" y="861222"/>
            <a:ext cx="353318" cy="3600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32" name="椭圆 31">
            <a:extLst>
              <a:ext uri="{FF2B5EF4-FFF2-40B4-BE49-F238E27FC236}">
                <a16:creationId xmlns:a16="http://schemas.microsoft.com/office/drawing/2014/main" id="{E94B32E0-B312-7E4B-98D9-A4B6E1CEB864}"/>
              </a:ext>
            </a:extLst>
          </p:cNvPr>
          <p:cNvSpPr/>
          <p:nvPr/>
        </p:nvSpPr>
        <p:spPr>
          <a:xfrm>
            <a:off x="5074016" y="2240030"/>
            <a:ext cx="353318" cy="3600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33" name="文本框 32">
            <a:extLst>
              <a:ext uri="{FF2B5EF4-FFF2-40B4-BE49-F238E27FC236}">
                <a16:creationId xmlns:a16="http://schemas.microsoft.com/office/drawing/2014/main" id="{B5B21400-ECF8-7645-99D5-05E9B7F79A1C}"/>
              </a:ext>
            </a:extLst>
          </p:cNvPr>
          <p:cNvSpPr txBox="1"/>
          <p:nvPr/>
        </p:nvSpPr>
        <p:spPr>
          <a:xfrm>
            <a:off x="1633958" y="5223233"/>
            <a:ext cx="800219" cy="461665"/>
          </a:xfrm>
          <a:prstGeom prst="rect">
            <a:avLst/>
          </a:prstGeom>
          <a:noFill/>
        </p:spPr>
        <p:txBody>
          <a:bodyPr wrap="none" rtlCol="0">
            <a:spAutoFit/>
          </a:bodyPr>
          <a:lstStyle/>
          <a:p>
            <a:r>
              <a:rPr kumimoji="1" lang="zh-CN" altLang="en-US" sz="2400" dirty="0"/>
              <a:t>内存</a:t>
            </a:r>
          </a:p>
        </p:txBody>
      </p:sp>
      <p:sp>
        <p:nvSpPr>
          <p:cNvPr id="34" name="文本框 33">
            <a:extLst>
              <a:ext uri="{FF2B5EF4-FFF2-40B4-BE49-F238E27FC236}">
                <a16:creationId xmlns:a16="http://schemas.microsoft.com/office/drawing/2014/main" id="{9E398753-695E-4445-9C18-608A227E2D4D}"/>
              </a:ext>
            </a:extLst>
          </p:cNvPr>
          <p:cNvSpPr txBox="1"/>
          <p:nvPr/>
        </p:nvSpPr>
        <p:spPr>
          <a:xfrm>
            <a:off x="536018" y="4475474"/>
            <a:ext cx="800219" cy="584775"/>
          </a:xfrm>
          <a:prstGeom prst="rect">
            <a:avLst/>
          </a:prstGeom>
          <a:noFill/>
        </p:spPr>
        <p:txBody>
          <a:bodyPr wrap="none" rtlCol="0">
            <a:spAutoFit/>
          </a:bodyPr>
          <a:lstStyle/>
          <a:p>
            <a:pPr algn="ctr"/>
            <a:r>
              <a:rPr kumimoji="1" lang="zh-CN" altLang="en-US" sz="1600" dirty="0"/>
              <a:t>虚拟机</a:t>
            </a:r>
            <a:endParaRPr kumimoji="1" lang="en-US" altLang="zh-CN" sz="1600" dirty="0"/>
          </a:p>
          <a:p>
            <a:pPr algn="ctr"/>
            <a:r>
              <a:rPr kumimoji="1" lang="zh-CN" altLang="en-US" sz="1600" dirty="0"/>
              <a:t>状态</a:t>
            </a:r>
          </a:p>
        </p:txBody>
      </p:sp>
      <p:sp>
        <p:nvSpPr>
          <p:cNvPr id="35" name="矩形 34">
            <a:extLst>
              <a:ext uri="{FF2B5EF4-FFF2-40B4-BE49-F238E27FC236}">
                <a16:creationId xmlns:a16="http://schemas.microsoft.com/office/drawing/2014/main" id="{317C9B45-DB31-B440-8135-E8A8E0E58A22}"/>
              </a:ext>
            </a:extLst>
          </p:cNvPr>
          <p:cNvSpPr/>
          <p:nvPr/>
        </p:nvSpPr>
        <p:spPr>
          <a:xfrm>
            <a:off x="590442" y="1008385"/>
            <a:ext cx="2553471" cy="423843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6" name="文本框 35">
            <a:extLst>
              <a:ext uri="{FF2B5EF4-FFF2-40B4-BE49-F238E27FC236}">
                <a16:creationId xmlns:a16="http://schemas.microsoft.com/office/drawing/2014/main" id="{8985CA46-2369-E54B-9DB3-D5045EF34E89}"/>
              </a:ext>
            </a:extLst>
          </p:cNvPr>
          <p:cNvSpPr txBox="1"/>
          <p:nvPr/>
        </p:nvSpPr>
        <p:spPr>
          <a:xfrm>
            <a:off x="5401387" y="2232158"/>
            <a:ext cx="646331" cy="369332"/>
          </a:xfrm>
          <a:prstGeom prst="rect">
            <a:avLst/>
          </a:prstGeom>
          <a:noFill/>
        </p:spPr>
        <p:txBody>
          <a:bodyPr wrap="none" rtlCol="0">
            <a:spAutoFit/>
          </a:bodyPr>
          <a:lstStyle/>
          <a:p>
            <a:r>
              <a:rPr kumimoji="1" lang="zh-CN" altLang="en-US" dirty="0"/>
              <a:t>命中</a:t>
            </a:r>
          </a:p>
        </p:txBody>
      </p:sp>
      <p:cxnSp>
        <p:nvCxnSpPr>
          <p:cNvPr id="38" name="肘形连接符 37">
            <a:extLst>
              <a:ext uri="{FF2B5EF4-FFF2-40B4-BE49-F238E27FC236}">
                <a16:creationId xmlns:a16="http://schemas.microsoft.com/office/drawing/2014/main" id="{CB5D4C41-FB94-B541-ACA8-2A9A0E22066D}"/>
              </a:ext>
            </a:extLst>
          </p:cNvPr>
          <p:cNvCxnSpPr>
            <a:cxnSpLocks/>
            <a:stCxn id="17" idx="1"/>
            <a:endCxn id="7" idx="3"/>
          </p:cNvCxnSpPr>
          <p:nvPr/>
        </p:nvCxnSpPr>
        <p:spPr>
          <a:xfrm rot="10800000" flipV="1">
            <a:off x="2826770" y="1174808"/>
            <a:ext cx="1218788" cy="221062"/>
          </a:xfrm>
          <a:prstGeom prst="bentConnector3">
            <a:avLst>
              <a:gd name="adj1" fmla="val 50000"/>
            </a:avLst>
          </a:prstGeom>
          <a:ln w="381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grpSp>
        <p:nvGrpSpPr>
          <p:cNvPr id="43" name="组合 42">
            <a:extLst>
              <a:ext uri="{FF2B5EF4-FFF2-40B4-BE49-F238E27FC236}">
                <a16:creationId xmlns:a16="http://schemas.microsoft.com/office/drawing/2014/main" id="{7A376FC9-A708-AD42-91FA-83156D29AF06}"/>
              </a:ext>
            </a:extLst>
          </p:cNvPr>
          <p:cNvGrpSpPr/>
          <p:nvPr/>
        </p:nvGrpSpPr>
        <p:grpSpPr>
          <a:xfrm>
            <a:off x="1243111" y="3408843"/>
            <a:ext cx="1584176" cy="630828"/>
            <a:chOff x="2950840" y="1073433"/>
            <a:chExt cx="1584176" cy="630828"/>
          </a:xfrm>
          <a:solidFill>
            <a:schemeClr val="bg1"/>
          </a:solidFill>
        </p:grpSpPr>
        <p:sp>
          <p:nvSpPr>
            <p:cNvPr id="44" name="矩形 43">
              <a:extLst>
                <a:ext uri="{FF2B5EF4-FFF2-40B4-BE49-F238E27FC236}">
                  <a16:creationId xmlns:a16="http://schemas.microsoft.com/office/drawing/2014/main" id="{3113EB54-7139-FD45-9A03-7DF3CDD3A9B9}"/>
                </a:ext>
              </a:extLst>
            </p:cNvPr>
            <p:cNvSpPr/>
            <p:nvPr/>
          </p:nvSpPr>
          <p:spPr>
            <a:xfrm>
              <a:off x="2950840" y="1073433"/>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rPr>
                <a:t>代码补丁</a:t>
              </a:r>
              <a:r>
                <a:rPr kumimoji="1" lang="en-US" altLang="zh-CN" sz="1600" dirty="0">
                  <a:solidFill>
                    <a:schemeClr val="tx1"/>
                  </a:solidFill>
                </a:rPr>
                <a:t>1</a:t>
              </a:r>
              <a:endParaRPr kumimoji="1" lang="zh-CN" altLang="en-US" sz="1600" dirty="0">
                <a:solidFill>
                  <a:schemeClr val="tx1"/>
                </a:solidFill>
              </a:endParaRPr>
            </a:p>
          </p:txBody>
        </p:sp>
        <p:sp>
          <p:nvSpPr>
            <p:cNvPr id="45" name="矩形 44">
              <a:extLst>
                <a:ext uri="{FF2B5EF4-FFF2-40B4-BE49-F238E27FC236}">
                  <a16:creationId xmlns:a16="http://schemas.microsoft.com/office/drawing/2014/main" id="{51EF7CFE-BC58-C54E-84AE-2D47F25150D6}"/>
                </a:ext>
              </a:extLst>
            </p:cNvPr>
            <p:cNvSpPr/>
            <p:nvPr/>
          </p:nvSpPr>
          <p:spPr>
            <a:xfrm>
              <a:off x="2950840" y="1287736"/>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rPr>
                <a:t>代码补丁</a:t>
              </a:r>
              <a:r>
                <a:rPr kumimoji="1" lang="en-US" altLang="zh-CN" sz="1600" dirty="0">
                  <a:solidFill>
                    <a:schemeClr val="tx1"/>
                  </a:solidFill>
                </a:rPr>
                <a:t>2</a:t>
              </a:r>
              <a:endParaRPr kumimoji="1" lang="zh-CN" altLang="en-US" sz="1600" dirty="0">
                <a:solidFill>
                  <a:schemeClr val="tx1"/>
                </a:solidFill>
              </a:endParaRPr>
            </a:p>
          </p:txBody>
        </p:sp>
        <p:sp>
          <p:nvSpPr>
            <p:cNvPr id="46" name="矩形 45">
              <a:extLst>
                <a:ext uri="{FF2B5EF4-FFF2-40B4-BE49-F238E27FC236}">
                  <a16:creationId xmlns:a16="http://schemas.microsoft.com/office/drawing/2014/main" id="{C3C34590-CA76-DC4E-8F3A-30B0F00AF2C7}"/>
                </a:ext>
              </a:extLst>
            </p:cNvPr>
            <p:cNvSpPr/>
            <p:nvPr/>
          </p:nvSpPr>
          <p:spPr>
            <a:xfrm>
              <a:off x="2950840" y="1488237"/>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rPr>
                <a:t>代码补丁</a:t>
              </a:r>
              <a:r>
                <a:rPr kumimoji="1" lang="en-US" altLang="zh-CN" sz="1600" dirty="0">
                  <a:solidFill>
                    <a:schemeClr val="tx1"/>
                  </a:solidFill>
                </a:rPr>
                <a:t>3</a:t>
              </a:r>
              <a:endParaRPr kumimoji="1" lang="zh-CN" altLang="en-US" sz="1600" dirty="0">
                <a:solidFill>
                  <a:schemeClr val="tx1"/>
                </a:solidFill>
              </a:endParaRPr>
            </a:p>
          </p:txBody>
        </p:sp>
      </p:grpSp>
      <p:sp>
        <p:nvSpPr>
          <p:cNvPr id="52" name="文本框 51">
            <a:extLst>
              <a:ext uri="{FF2B5EF4-FFF2-40B4-BE49-F238E27FC236}">
                <a16:creationId xmlns:a16="http://schemas.microsoft.com/office/drawing/2014/main" id="{F322BB71-1E61-9A45-87DA-DE7A61F1E602}"/>
              </a:ext>
            </a:extLst>
          </p:cNvPr>
          <p:cNvSpPr txBox="1"/>
          <p:nvPr/>
        </p:nvSpPr>
        <p:spPr>
          <a:xfrm>
            <a:off x="596263" y="3577247"/>
            <a:ext cx="595035" cy="338554"/>
          </a:xfrm>
          <a:prstGeom prst="rect">
            <a:avLst/>
          </a:prstGeom>
          <a:noFill/>
        </p:spPr>
        <p:txBody>
          <a:bodyPr wrap="none" rtlCol="0">
            <a:spAutoFit/>
          </a:bodyPr>
          <a:lstStyle/>
          <a:p>
            <a:r>
              <a:rPr kumimoji="1" lang="zh-CN" altLang="en-US" sz="1600" dirty="0"/>
              <a:t>缓存</a:t>
            </a:r>
          </a:p>
        </p:txBody>
      </p:sp>
      <p:sp>
        <p:nvSpPr>
          <p:cNvPr id="63" name="文本框 62">
            <a:extLst>
              <a:ext uri="{FF2B5EF4-FFF2-40B4-BE49-F238E27FC236}">
                <a16:creationId xmlns:a16="http://schemas.microsoft.com/office/drawing/2014/main" id="{D2B264C3-0704-0041-B91E-BFE439CB68CF}"/>
              </a:ext>
            </a:extLst>
          </p:cNvPr>
          <p:cNvSpPr txBox="1"/>
          <p:nvPr/>
        </p:nvSpPr>
        <p:spPr>
          <a:xfrm>
            <a:off x="514382" y="1925165"/>
            <a:ext cx="800219" cy="584775"/>
          </a:xfrm>
          <a:prstGeom prst="rect">
            <a:avLst/>
          </a:prstGeom>
          <a:noFill/>
        </p:spPr>
        <p:txBody>
          <a:bodyPr wrap="none" rtlCol="0">
            <a:spAutoFit/>
          </a:bodyPr>
          <a:lstStyle/>
          <a:p>
            <a:pPr algn="ctr"/>
            <a:r>
              <a:rPr kumimoji="1" lang="zh-CN" altLang="en-US" sz="1600" dirty="0"/>
              <a:t>虚拟机</a:t>
            </a:r>
            <a:endParaRPr kumimoji="1" lang="en-US" altLang="zh-CN" sz="1600" dirty="0"/>
          </a:p>
          <a:p>
            <a:pPr algn="ctr"/>
            <a:r>
              <a:rPr kumimoji="1" lang="zh-CN" altLang="en-US" sz="1600" dirty="0"/>
              <a:t>内存</a:t>
            </a:r>
          </a:p>
        </p:txBody>
      </p:sp>
      <p:sp>
        <p:nvSpPr>
          <p:cNvPr id="64" name="矩形 63">
            <a:extLst>
              <a:ext uri="{FF2B5EF4-FFF2-40B4-BE49-F238E27FC236}">
                <a16:creationId xmlns:a16="http://schemas.microsoft.com/office/drawing/2014/main" id="{65FECA86-8AD2-114F-BCD5-7EA25C38EF1A}"/>
              </a:ext>
            </a:extLst>
          </p:cNvPr>
          <p:cNvSpPr/>
          <p:nvPr/>
        </p:nvSpPr>
        <p:spPr>
          <a:xfrm>
            <a:off x="6305953" y="1905300"/>
            <a:ext cx="1482081" cy="30772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翻译</a:t>
            </a:r>
          </a:p>
        </p:txBody>
      </p:sp>
      <p:sp>
        <p:nvSpPr>
          <p:cNvPr id="73" name="矩形 72">
            <a:extLst>
              <a:ext uri="{FF2B5EF4-FFF2-40B4-BE49-F238E27FC236}">
                <a16:creationId xmlns:a16="http://schemas.microsoft.com/office/drawing/2014/main" id="{0465605C-D8E4-174C-A335-6E0F53342FD2}"/>
              </a:ext>
            </a:extLst>
          </p:cNvPr>
          <p:cNvSpPr/>
          <p:nvPr/>
        </p:nvSpPr>
        <p:spPr>
          <a:xfrm>
            <a:off x="4281561" y="1899037"/>
            <a:ext cx="1482081" cy="297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查询</a:t>
            </a:r>
          </a:p>
        </p:txBody>
      </p:sp>
      <p:cxnSp>
        <p:nvCxnSpPr>
          <p:cNvPr id="75" name="肘形连接符 74">
            <a:extLst>
              <a:ext uri="{FF2B5EF4-FFF2-40B4-BE49-F238E27FC236}">
                <a16:creationId xmlns:a16="http://schemas.microsoft.com/office/drawing/2014/main" id="{4D462F14-E6DC-7449-B5BA-020A731D8AF2}"/>
              </a:ext>
            </a:extLst>
          </p:cNvPr>
          <p:cNvCxnSpPr>
            <a:cxnSpLocks/>
            <a:stCxn id="17" idx="2"/>
            <a:endCxn id="64" idx="0"/>
          </p:cNvCxnSpPr>
          <p:nvPr/>
        </p:nvCxnSpPr>
        <p:spPr>
          <a:xfrm rot="16200000" flipH="1">
            <a:off x="5579522" y="437827"/>
            <a:ext cx="564069" cy="2370876"/>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矩形 77">
            <a:extLst>
              <a:ext uri="{FF2B5EF4-FFF2-40B4-BE49-F238E27FC236}">
                <a16:creationId xmlns:a16="http://schemas.microsoft.com/office/drawing/2014/main" id="{8E094270-64E9-A847-B5F6-09259F630155}"/>
              </a:ext>
            </a:extLst>
          </p:cNvPr>
          <p:cNvSpPr/>
          <p:nvPr/>
        </p:nvSpPr>
        <p:spPr>
          <a:xfrm>
            <a:off x="5306678" y="4018268"/>
            <a:ext cx="1482081" cy="30772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执行</a:t>
            </a:r>
          </a:p>
        </p:txBody>
      </p:sp>
      <p:cxnSp>
        <p:nvCxnSpPr>
          <p:cNvPr id="80" name="肘形连接符 79">
            <a:extLst>
              <a:ext uri="{FF2B5EF4-FFF2-40B4-BE49-F238E27FC236}">
                <a16:creationId xmlns:a16="http://schemas.microsoft.com/office/drawing/2014/main" id="{7DB5D314-8F28-4C43-8AC9-B69144105A83}"/>
              </a:ext>
            </a:extLst>
          </p:cNvPr>
          <p:cNvCxnSpPr>
            <a:cxnSpLocks/>
            <a:stCxn id="73" idx="2"/>
            <a:endCxn id="78" idx="1"/>
          </p:cNvCxnSpPr>
          <p:nvPr/>
        </p:nvCxnSpPr>
        <p:spPr>
          <a:xfrm rot="16200000" flipH="1">
            <a:off x="4176998" y="3042452"/>
            <a:ext cx="1975284" cy="284076"/>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肘形连接符 86">
            <a:extLst>
              <a:ext uri="{FF2B5EF4-FFF2-40B4-BE49-F238E27FC236}">
                <a16:creationId xmlns:a16="http://schemas.microsoft.com/office/drawing/2014/main" id="{6794DE28-D4EC-6448-9128-8DE529CECDE8}"/>
              </a:ext>
            </a:extLst>
          </p:cNvPr>
          <p:cNvCxnSpPr>
            <a:cxnSpLocks/>
            <a:stCxn id="73" idx="1"/>
            <a:endCxn id="45" idx="3"/>
          </p:cNvCxnSpPr>
          <p:nvPr/>
        </p:nvCxnSpPr>
        <p:spPr>
          <a:xfrm rot="10800000" flipV="1">
            <a:off x="2827287" y="2047942"/>
            <a:ext cx="1454274" cy="1683215"/>
          </a:xfrm>
          <a:prstGeom prst="bentConnector3">
            <a:avLst>
              <a:gd name="adj1" fmla="val 50000"/>
            </a:avLst>
          </a:prstGeom>
          <a:ln w="381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89" name="椭圆 88">
            <a:extLst>
              <a:ext uri="{FF2B5EF4-FFF2-40B4-BE49-F238E27FC236}">
                <a16:creationId xmlns:a16="http://schemas.microsoft.com/office/drawing/2014/main" id="{55F22BA6-AA9A-C242-971F-399A166FD676}"/>
              </a:ext>
            </a:extLst>
          </p:cNvPr>
          <p:cNvSpPr/>
          <p:nvPr/>
        </p:nvSpPr>
        <p:spPr>
          <a:xfrm>
            <a:off x="3274008" y="3960551"/>
            <a:ext cx="353318" cy="3600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90" name="文本框 89">
            <a:extLst>
              <a:ext uri="{FF2B5EF4-FFF2-40B4-BE49-F238E27FC236}">
                <a16:creationId xmlns:a16="http://schemas.microsoft.com/office/drawing/2014/main" id="{CCBF11A1-A1FA-C34E-8C61-BDE65CD0476B}"/>
              </a:ext>
            </a:extLst>
          </p:cNvPr>
          <p:cNvSpPr txBox="1"/>
          <p:nvPr/>
        </p:nvSpPr>
        <p:spPr>
          <a:xfrm>
            <a:off x="3613377" y="3951259"/>
            <a:ext cx="646331" cy="369332"/>
          </a:xfrm>
          <a:prstGeom prst="rect">
            <a:avLst/>
          </a:prstGeom>
          <a:noFill/>
        </p:spPr>
        <p:txBody>
          <a:bodyPr wrap="none" rtlCol="0">
            <a:spAutoFit/>
          </a:bodyPr>
          <a:lstStyle/>
          <a:p>
            <a:r>
              <a:rPr kumimoji="1" lang="zh-CN" altLang="en-US" dirty="0"/>
              <a:t>写入</a:t>
            </a:r>
          </a:p>
        </p:txBody>
      </p:sp>
      <p:sp>
        <p:nvSpPr>
          <p:cNvPr id="110" name="矩形 109">
            <a:extLst>
              <a:ext uri="{FF2B5EF4-FFF2-40B4-BE49-F238E27FC236}">
                <a16:creationId xmlns:a16="http://schemas.microsoft.com/office/drawing/2014/main" id="{92A9DCDD-56A7-424E-9379-80B77B6F31D9}"/>
              </a:ext>
            </a:extLst>
          </p:cNvPr>
          <p:cNvSpPr/>
          <p:nvPr/>
        </p:nvSpPr>
        <p:spPr>
          <a:xfrm>
            <a:off x="6305952" y="2985431"/>
            <a:ext cx="1482081" cy="30772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写入</a:t>
            </a:r>
          </a:p>
        </p:txBody>
      </p:sp>
      <p:cxnSp>
        <p:nvCxnSpPr>
          <p:cNvPr id="112" name="肘形连接符 111">
            <a:extLst>
              <a:ext uri="{FF2B5EF4-FFF2-40B4-BE49-F238E27FC236}">
                <a16:creationId xmlns:a16="http://schemas.microsoft.com/office/drawing/2014/main" id="{70892127-E3F2-B848-B23C-1B12933B492F}"/>
              </a:ext>
            </a:extLst>
          </p:cNvPr>
          <p:cNvCxnSpPr>
            <a:cxnSpLocks/>
            <a:stCxn id="64" idx="2"/>
            <a:endCxn id="110" idx="0"/>
          </p:cNvCxnSpPr>
          <p:nvPr/>
        </p:nvCxnSpPr>
        <p:spPr>
          <a:xfrm rot="5400000">
            <a:off x="6660792" y="2599229"/>
            <a:ext cx="772404" cy="1"/>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肘形连接符 114">
            <a:extLst>
              <a:ext uri="{FF2B5EF4-FFF2-40B4-BE49-F238E27FC236}">
                <a16:creationId xmlns:a16="http://schemas.microsoft.com/office/drawing/2014/main" id="{97D5D7DB-10B4-DD43-A52B-1473CCF30F33}"/>
              </a:ext>
            </a:extLst>
          </p:cNvPr>
          <p:cNvCxnSpPr>
            <a:cxnSpLocks/>
            <a:endCxn id="46" idx="3"/>
          </p:cNvCxnSpPr>
          <p:nvPr/>
        </p:nvCxnSpPr>
        <p:spPr>
          <a:xfrm rot="10800000" flipV="1">
            <a:off x="2827288" y="3074891"/>
            <a:ext cx="3450635" cy="856768"/>
          </a:xfrm>
          <a:prstGeom prst="bentConnector3">
            <a:avLst>
              <a:gd name="adj1" fmla="val 50000"/>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18" name="椭圆 117">
            <a:extLst>
              <a:ext uri="{FF2B5EF4-FFF2-40B4-BE49-F238E27FC236}">
                <a16:creationId xmlns:a16="http://schemas.microsoft.com/office/drawing/2014/main" id="{2E7BAE73-7AF7-BE4A-9C73-02849E46684E}"/>
              </a:ext>
            </a:extLst>
          </p:cNvPr>
          <p:cNvSpPr/>
          <p:nvPr/>
        </p:nvSpPr>
        <p:spPr>
          <a:xfrm>
            <a:off x="5978581" y="1215032"/>
            <a:ext cx="353318" cy="3600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119" name="文本框 118">
            <a:extLst>
              <a:ext uri="{FF2B5EF4-FFF2-40B4-BE49-F238E27FC236}">
                <a16:creationId xmlns:a16="http://schemas.microsoft.com/office/drawing/2014/main" id="{313A0C4E-3441-A745-8801-9E7258CFB5D6}"/>
              </a:ext>
            </a:extLst>
          </p:cNvPr>
          <p:cNvSpPr txBox="1"/>
          <p:nvPr/>
        </p:nvSpPr>
        <p:spPr>
          <a:xfrm>
            <a:off x="6305952" y="1207160"/>
            <a:ext cx="877163" cy="369332"/>
          </a:xfrm>
          <a:prstGeom prst="rect">
            <a:avLst/>
          </a:prstGeom>
          <a:noFill/>
        </p:spPr>
        <p:txBody>
          <a:bodyPr wrap="none" rtlCol="0">
            <a:spAutoFit/>
          </a:bodyPr>
          <a:lstStyle/>
          <a:p>
            <a:r>
              <a:rPr kumimoji="1" lang="zh-CN" altLang="en-US" dirty="0"/>
              <a:t>未命中</a:t>
            </a:r>
          </a:p>
        </p:txBody>
      </p:sp>
      <p:sp>
        <p:nvSpPr>
          <p:cNvPr id="134" name="椭圆 133">
            <a:extLst>
              <a:ext uri="{FF2B5EF4-FFF2-40B4-BE49-F238E27FC236}">
                <a16:creationId xmlns:a16="http://schemas.microsoft.com/office/drawing/2014/main" id="{580E51A2-B0F7-2D45-AF84-27B64FDF9805}"/>
              </a:ext>
            </a:extLst>
          </p:cNvPr>
          <p:cNvSpPr/>
          <p:nvPr/>
        </p:nvSpPr>
        <p:spPr>
          <a:xfrm>
            <a:off x="3203441" y="1652881"/>
            <a:ext cx="353318" cy="3600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35" name="文本框 134">
            <a:extLst>
              <a:ext uri="{FF2B5EF4-FFF2-40B4-BE49-F238E27FC236}">
                <a16:creationId xmlns:a16="http://schemas.microsoft.com/office/drawing/2014/main" id="{FEBDE3CD-C443-8E4E-A557-71145EE99E1C}"/>
              </a:ext>
            </a:extLst>
          </p:cNvPr>
          <p:cNvSpPr txBox="1"/>
          <p:nvPr/>
        </p:nvSpPr>
        <p:spPr>
          <a:xfrm>
            <a:off x="3530812" y="1645009"/>
            <a:ext cx="646331" cy="369332"/>
          </a:xfrm>
          <a:prstGeom prst="rect">
            <a:avLst/>
          </a:prstGeom>
          <a:noFill/>
        </p:spPr>
        <p:txBody>
          <a:bodyPr wrap="none" rtlCol="0">
            <a:spAutoFit/>
          </a:bodyPr>
          <a:lstStyle/>
          <a:p>
            <a:r>
              <a:rPr kumimoji="1" lang="zh-CN" altLang="en-US" dirty="0"/>
              <a:t>查询</a:t>
            </a:r>
          </a:p>
        </p:txBody>
      </p:sp>
      <p:sp>
        <p:nvSpPr>
          <p:cNvPr id="136" name="文本框 135">
            <a:extLst>
              <a:ext uri="{FF2B5EF4-FFF2-40B4-BE49-F238E27FC236}">
                <a16:creationId xmlns:a16="http://schemas.microsoft.com/office/drawing/2014/main" id="{7F257ACE-253A-7F48-B91E-C07DF91471CA}"/>
              </a:ext>
            </a:extLst>
          </p:cNvPr>
          <p:cNvSpPr txBox="1"/>
          <p:nvPr/>
        </p:nvSpPr>
        <p:spPr>
          <a:xfrm>
            <a:off x="3517270" y="826201"/>
            <a:ext cx="505267" cy="369332"/>
          </a:xfrm>
          <a:prstGeom prst="rect">
            <a:avLst/>
          </a:prstGeom>
          <a:noFill/>
        </p:spPr>
        <p:txBody>
          <a:bodyPr wrap="none" rtlCol="0">
            <a:spAutoFit/>
          </a:bodyPr>
          <a:lstStyle/>
          <a:p>
            <a:r>
              <a:rPr kumimoji="1" lang="en-US" altLang="zh-CN" dirty="0"/>
              <a:t>PC</a:t>
            </a:r>
            <a:endParaRPr kumimoji="1" lang="zh-CN" altLang="en-US" dirty="0"/>
          </a:p>
        </p:txBody>
      </p:sp>
      <p:sp>
        <p:nvSpPr>
          <p:cNvPr id="137" name="椭圆 136">
            <a:extLst>
              <a:ext uri="{FF2B5EF4-FFF2-40B4-BE49-F238E27FC236}">
                <a16:creationId xmlns:a16="http://schemas.microsoft.com/office/drawing/2014/main" id="{A9412126-40E0-1444-95AB-07EC41E63DAC}"/>
              </a:ext>
            </a:extLst>
          </p:cNvPr>
          <p:cNvSpPr/>
          <p:nvPr/>
        </p:nvSpPr>
        <p:spPr>
          <a:xfrm>
            <a:off x="4336749" y="4795109"/>
            <a:ext cx="353318" cy="3600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138" name="文本框 137">
            <a:extLst>
              <a:ext uri="{FF2B5EF4-FFF2-40B4-BE49-F238E27FC236}">
                <a16:creationId xmlns:a16="http://schemas.microsoft.com/office/drawing/2014/main" id="{5B322022-0A9B-274F-BB43-76EC869F48CE}"/>
              </a:ext>
            </a:extLst>
          </p:cNvPr>
          <p:cNvSpPr txBox="1"/>
          <p:nvPr/>
        </p:nvSpPr>
        <p:spPr>
          <a:xfrm>
            <a:off x="4676118" y="4785817"/>
            <a:ext cx="646331" cy="369332"/>
          </a:xfrm>
          <a:prstGeom prst="rect">
            <a:avLst/>
          </a:prstGeom>
          <a:noFill/>
        </p:spPr>
        <p:txBody>
          <a:bodyPr wrap="none" rtlCol="0">
            <a:spAutoFit/>
          </a:bodyPr>
          <a:lstStyle/>
          <a:p>
            <a:r>
              <a:rPr kumimoji="1" lang="zh-CN" altLang="en-US" dirty="0"/>
              <a:t>读写</a:t>
            </a:r>
          </a:p>
        </p:txBody>
      </p:sp>
    </p:spTree>
    <p:extLst>
      <p:ext uri="{BB962C8B-B14F-4D97-AF65-F5344CB8AC3E}">
        <p14:creationId xmlns:p14="http://schemas.microsoft.com/office/powerpoint/2010/main" val="864745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3" presetClass="exit" presetSubtype="10" fill="hold" grpId="1" nodeType="clickEffect">
                                  <p:stCondLst>
                                    <p:cond delay="0"/>
                                  </p:stCondLst>
                                  <p:childTnLst>
                                    <p:animEffect transition="out" filter="blinds(horizontal)">
                                      <p:cBhvr>
                                        <p:cTn id="38" dur="500"/>
                                        <p:tgtEl>
                                          <p:spTgt spid="135"/>
                                        </p:tgtEl>
                                      </p:cBhvr>
                                    </p:animEffect>
                                    <p:set>
                                      <p:cBhvr>
                                        <p:cTn id="39" dur="1" fill="hold">
                                          <p:stCondLst>
                                            <p:cond delay="499"/>
                                          </p:stCondLst>
                                        </p:cTn>
                                        <p:tgtEl>
                                          <p:spTgt spid="135"/>
                                        </p:tgtEl>
                                        <p:attrNameLst>
                                          <p:attrName>style.visibility</p:attrName>
                                        </p:attrNameLst>
                                      </p:cBhvr>
                                      <p:to>
                                        <p:strVal val="hidden"/>
                                      </p:to>
                                    </p:set>
                                  </p:childTnLst>
                                </p:cTn>
                              </p:par>
                              <p:par>
                                <p:cTn id="40" presetID="3" presetClass="exit" presetSubtype="10" fill="hold" grpId="1" nodeType="withEffect">
                                  <p:stCondLst>
                                    <p:cond delay="0"/>
                                  </p:stCondLst>
                                  <p:childTnLst>
                                    <p:animEffect transition="out" filter="blinds(horizontal)">
                                      <p:cBhvr>
                                        <p:cTn id="41" dur="500"/>
                                        <p:tgtEl>
                                          <p:spTgt spid="134"/>
                                        </p:tgtEl>
                                      </p:cBhvr>
                                    </p:animEffect>
                                    <p:set>
                                      <p:cBhvr>
                                        <p:cTn id="42" dur="1" fill="hold">
                                          <p:stCondLst>
                                            <p:cond delay="499"/>
                                          </p:stCondLst>
                                        </p:cTn>
                                        <p:tgtEl>
                                          <p:spTgt spid="134"/>
                                        </p:tgtEl>
                                        <p:attrNameLst>
                                          <p:attrName>style.visibility</p:attrName>
                                        </p:attrNameLst>
                                      </p:cBhvr>
                                      <p:to>
                                        <p:strVal val="hidden"/>
                                      </p:to>
                                    </p:set>
                                  </p:childTnLst>
                                </p:cTn>
                              </p:par>
                              <p:par>
                                <p:cTn id="43" presetID="3" presetClass="exit" presetSubtype="10" fill="hold" nodeType="withEffect">
                                  <p:stCondLst>
                                    <p:cond delay="0"/>
                                  </p:stCondLst>
                                  <p:childTnLst>
                                    <p:animEffect transition="out" filter="blinds(horizontal)">
                                      <p:cBhvr>
                                        <p:cTn id="44" dur="500"/>
                                        <p:tgtEl>
                                          <p:spTgt spid="87"/>
                                        </p:tgtEl>
                                      </p:cBhvr>
                                    </p:animEffect>
                                    <p:set>
                                      <p:cBhvr>
                                        <p:cTn id="45" dur="1" fill="hold">
                                          <p:stCondLst>
                                            <p:cond delay="499"/>
                                          </p:stCondLst>
                                        </p:cTn>
                                        <p:tgtEl>
                                          <p:spTgt spid="87"/>
                                        </p:tgtEl>
                                        <p:attrNameLst>
                                          <p:attrName>style.visibility</p:attrName>
                                        </p:attrNameLst>
                                      </p:cBhvr>
                                      <p:to>
                                        <p:strVal val="hidden"/>
                                      </p:to>
                                    </p:set>
                                  </p:childTnLst>
                                </p:cTn>
                              </p:par>
                              <p:par>
                                <p:cTn id="46" presetID="3" presetClass="exit" presetSubtype="10" fill="hold" grpId="1" nodeType="withEffect">
                                  <p:stCondLst>
                                    <p:cond delay="0"/>
                                  </p:stCondLst>
                                  <p:childTnLst>
                                    <p:animEffect transition="out" filter="blinds(horizontal)">
                                      <p:cBhvr>
                                        <p:cTn id="47" dur="500"/>
                                        <p:tgtEl>
                                          <p:spTgt spid="36"/>
                                        </p:tgtEl>
                                      </p:cBhvr>
                                    </p:animEffect>
                                    <p:set>
                                      <p:cBhvr>
                                        <p:cTn id="48" dur="1" fill="hold">
                                          <p:stCondLst>
                                            <p:cond delay="499"/>
                                          </p:stCondLst>
                                        </p:cTn>
                                        <p:tgtEl>
                                          <p:spTgt spid="36"/>
                                        </p:tgtEl>
                                        <p:attrNameLst>
                                          <p:attrName>style.visibility</p:attrName>
                                        </p:attrNameLst>
                                      </p:cBhvr>
                                      <p:to>
                                        <p:strVal val="hidden"/>
                                      </p:to>
                                    </p:set>
                                  </p:childTnLst>
                                </p:cTn>
                              </p:par>
                              <p:par>
                                <p:cTn id="49" presetID="3" presetClass="exit" presetSubtype="10" fill="hold" grpId="1" nodeType="withEffect">
                                  <p:stCondLst>
                                    <p:cond delay="0"/>
                                  </p:stCondLst>
                                  <p:childTnLst>
                                    <p:animEffect transition="out" filter="blinds(horizontal)">
                                      <p:cBhvr>
                                        <p:cTn id="50" dur="500"/>
                                        <p:tgtEl>
                                          <p:spTgt spid="32"/>
                                        </p:tgtEl>
                                      </p:cBhvr>
                                    </p:animEffect>
                                    <p:set>
                                      <p:cBhvr>
                                        <p:cTn id="51" dur="1" fill="hold">
                                          <p:stCondLst>
                                            <p:cond delay="499"/>
                                          </p:stCondLst>
                                        </p:cTn>
                                        <p:tgtEl>
                                          <p:spTgt spid="32"/>
                                        </p:tgtEl>
                                        <p:attrNameLst>
                                          <p:attrName>style.visibility</p:attrName>
                                        </p:attrNameLst>
                                      </p:cBhvr>
                                      <p:to>
                                        <p:strVal val="hidden"/>
                                      </p:to>
                                    </p:set>
                                  </p:childTnLst>
                                </p:cTn>
                              </p:par>
                              <p:par>
                                <p:cTn id="52" presetID="3" presetClass="exit" presetSubtype="10" fill="hold" grpId="2" nodeType="withEffect">
                                  <p:stCondLst>
                                    <p:cond delay="0"/>
                                  </p:stCondLst>
                                  <p:childTnLst>
                                    <p:animEffect transition="out" filter="blinds(horizontal)">
                                      <p:cBhvr>
                                        <p:cTn id="53" dur="500"/>
                                        <p:tgtEl>
                                          <p:spTgt spid="78"/>
                                        </p:tgtEl>
                                      </p:cBhvr>
                                    </p:animEffect>
                                    <p:set>
                                      <p:cBhvr>
                                        <p:cTn id="54" dur="1" fill="hold">
                                          <p:stCondLst>
                                            <p:cond delay="499"/>
                                          </p:stCondLst>
                                        </p:cTn>
                                        <p:tgtEl>
                                          <p:spTgt spid="78"/>
                                        </p:tgtEl>
                                        <p:attrNameLst>
                                          <p:attrName>style.visibility</p:attrName>
                                        </p:attrNameLst>
                                      </p:cBhvr>
                                      <p:to>
                                        <p:strVal val="hidden"/>
                                      </p:to>
                                    </p:set>
                                  </p:childTnLst>
                                </p:cTn>
                              </p:par>
                              <p:par>
                                <p:cTn id="55" presetID="3" presetClass="exit" presetSubtype="10" fill="hold" nodeType="withEffect">
                                  <p:stCondLst>
                                    <p:cond delay="0"/>
                                  </p:stCondLst>
                                  <p:childTnLst>
                                    <p:animEffect transition="out" filter="blinds(horizontal)">
                                      <p:cBhvr>
                                        <p:cTn id="56" dur="500"/>
                                        <p:tgtEl>
                                          <p:spTgt spid="80"/>
                                        </p:tgtEl>
                                      </p:cBhvr>
                                    </p:animEffect>
                                    <p:set>
                                      <p:cBhvr>
                                        <p:cTn id="57" dur="1" fill="hold">
                                          <p:stCondLst>
                                            <p:cond delay="499"/>
                                          </p:stCondLst>
                                        </p:cTn>
                                        <p:tgtEl>
                                          <p:spTgt spid="80"/>
                                        </p:tgtEl>
                                        <p:attrNameLst>
                                          <p:attrName>style.visibility</p:attrName>
                                        </p:attrNameLst>
                                      </p:cBhvr>
                                      <p:to>
                                        <p:strVal val="hidden"/>
                                      </p:to>
                                    </p:set>
                                  </p:childTnLst>
                                </p:cTn>
                              </p:par>
                              <p:par>
                                <p:cTn id="58" presetID="3" presetClass="exit" presetSubtype="10" fill="hold" nodeType="withEffect">
                                  <p:stCondLst>
                                    <p:cond delay="0"/>
                                  </p:stCondLst>
                                  <p:childTnLst>
                                    <p:animEffect transition="out" filter="blinds(horizontal)">
                                      <p:cBhvr>
                                        <p:cTn id="59" dur="500"/>
                                        <p:tgtEl>
                                          <p:spTgt spid="22"/>
                                        </p:tgtEl>
                                      </p:cBhvr>
                                    </p:animEffect>
                                    <p:set>
                                      <p:cBhvr>
                                        <p:cTn id="60" dur="1" fill="hold">
                                          <p:stCondLst>
                                            <p:cond delay="499"/>
                                          </p:stCondLst>
                                        </p:cTn>
                                        <p:tgtEl>
                                          <p:spTgt spid="22"/>
                                        </p:tgtEl>
                                        <p:attrNameLst>
                                          <p:attrName>style.visibility</p:attrName>
                                        </p:attrNameLst>
                                      </p:cBhvr>
                                      <p:to>
                                        <p:strVal val="hidden"/>
                                      </p:to>
                                    </p:set>
                                  </p:childTnLst>
                                </p:cTn>
                              </p:par>
                              <p:par>
                                <p:cTn id="61" presetID="3" presetClass="exit" presetSubtype="10" fill="hold" grpId="1" nodeType="withEffect">
                                  <p:stCondLst>
                                    <p:cond delay="0"/>
                                  </p:stCondLst>
                                  <p:childTnLst>
                                    <p:animEffect transition="out" filter="blinds(horizontal)">
                                      <p:cBhvr>
                                        <p:cTn id="62" dur="500"/>
                                        <p:tgtEl>
                                          <p:spTgt spid="73"/>
                                        </p:tgtEl>
                                      </p:cBhvr>
                                    </p:animEffect>
                                    <p:set>
                                      <p:cBhvr>
                                        <p:cTn id="63" dur="1" fill="hold">
                                          <p:stCondLst>
                                            <p:cond delay="499"/>
                                          </p:stCondLst>
                                        </p:cTn>
                                        <p:tgtEl>
                                          <p:spTgt spid="73"/>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75"/>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64"/>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118"/>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119"/>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112"/>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110"/>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90"/>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89"/>
                                        </p:tgtEl>
                                        <p:attrNameLst>
                                          <p:attrName>style.visibility</p:attrName>
                                        </p:attrNameLst>
                                      </p:cBhvr>
                                      <p:to>
                                        <p:strVal val="visible"/>
                                      </p:to>
                                    </p:set>
                                  </p:childTnLst>
                                </p:cTn>
                              </p:par>
                              <p:par>
                                <p:cTn id="84" presetID="1" presetClass="entr" presetSubtype="0" fill="hold" nodeType="withEffect">
                                  <p:stCondLst>
                                    <p:cond delay="0"/>
                                  </p:stCondLst>
                                  <p:childTnLst>
                                    <p:set>
                                      <p:cBhvr>
                                        <p:cTn id="85" dur="1" fill="hold">
                                          <p:stCondLst>
                                            <p:cond delay="0"/>
                                          </p:stCondLst>
                                        </p:cTn>
                                        <p:tgtEl>
                                          <p:spTgt spid="115"/>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nodeType="clickEffect">
                                  <p:stCondLst>
                                    <p:cond delay="0"/>
                                  </p:stCondLst>
                                  <p:childTnLst>
                                    <p:set>
                                      <p:cBhvr>
                                        <p:cTn id="89" dur="1" fill="hold">
                                          <p:stCondLst>
                                            <p:cond delay="0"/>
                                          </p:stCondLst>
                                        </p:cTn>
                                        <p:tgtEl>
                                          <p:spTgt spid="23"/>
                                        </p:tgtEl>
                                        <p:attrNameLst>
                                          <p:attrName>style.visibility</p:attrName>
                                        </p:attrNameLst>
                                      </p:cBhvr>
                                      <p:to>
                                        <p:strVal val="visible"/>
                                      </p:to>
                                    </p:set>
                                  </p:childTnLst>
                                </p:cTn>
                              </p:par>
                              <p:par>
                                <p:cTn id="90" presetID="1" presetClass="entr" presetSubtype="0" fill="hold" grpId="1" nodeType="withEffect">
                                  <p:stCondLst>
                                    <p:cond delay="0"/>
                                  </p:stCondLst>
                                  <p:childTnLst>
                                    <p:set>
                                      <p:cBhvr>
                                        <p:cTn id="91" dur="1" fill="hold">
                                          <p:stCondLst>
                                            <p:cond delay="0"/>
                                          </p:stCondLst>
                                        </p:cTn>
                                        <p:tgtEl>
                                          <p:spTgt spid="78"/>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27"/>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138"/>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1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2" grpId="0" animBg="1"/>
      <p:bldP spid="32" grpId="1" animBg="1"/>
      <p:bldP spid="36" grpId="0"/>
      <p:bldP spid="36" grpId="1"/>
      <p:bldP spid="64" grpId="0" animBg="1"/>
      <p:bldP spid="73" grpId="0" animBg="1"/>
      <p:bldP spid="73" grpId="1" animBg="1"/>
      <p:bldP spid="78" grpId="0" animBg="1"/>
      <p:bldP spid="78" grpId="1" animBg="1"/>
      <p:bldP spid="78" grpId="2" animBg="1"/>
      <p:bldP spid="89" grpId="0" animBg="1"/>
      <p:bldP spid="90" grpId="0"/>
      <p:bldP spid="110" grpId="0" animBg="1"/>
      <p:bldP spid="118" grpId="0" animBg="1"/>
      <p:bldP spid="119" grpId="0"/>
      <p:bldP spid="134" grpId="0" animBg="1"/>
      <p:bldP spid="134" grpId="1" animBg="1"/>
      <p:bldP spid="135" grpId="0"/>
      <p:bldP spid="135" grpId="1"/>
      <p:bldP spid="136" grpId="0"/>
      <p:bldP spid="137" grpId="0" animBg="1"/>
      <p:bldP spid="13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kumimoji="1" lang="zh-CN" altLang="en-US" dirty="0"/>
              <a:t>二进制翻译的 </a:t>
            </a:r>
            <a:r>
              <a:rPr lang="en-US" altLang="zh-TW" dirty="0"/>
              <a:t>Basic Blocks</a:t>
            </a:r>
          </a:p>
        </p:txBody>
      </p:sp>
      <p:cxnSp>
        <p:nvCxnSpPr>
          <p:cNvPr id="7" name="Straight Arrow Connector 6"/>
          <p:cNvCxnSpPr>
            <a:stCxn id="14" idx="3"/>
            <a:endCxn id="32" idx="1"/>
          </p:cNvCxnSpPr>
          <p:nvPr/>
        </p:nvCxnSpPr>
        <p:spPr>
          <a:xfrm>
            <a:off x="1841500" y="1841500"/>
            <a:ext cx="190500" cy="132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1270000" y="1714500"/>
            <a:ext cx="571500" cy="254000"/>
          </a:xfrm>
          <a:prstGeom prst="rect">
            <a:avLst/>
          </a:prstGeom>
          <a:solidFill>
            <a:schemeClr val="tx1"/>
          </a:solidFill>
          <a:ln w="9525">
            <a:no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lgn="ctr">
              <a:defRPr/>
            </a:pPr>
            <a:r>
              <a:rPr lang="en-US" sz="1333" b="1" dirty="0" err="1">
                <a:solidFill>
                  <a:schemeClr val="bg1"/>
                </a:solidFill>
                <a:latin typeface="DengXian" charset="0"/>
                <a:ea typeface="DengXian" charset="0"/>
                <a:cs typeface="DengXian" charset="0"/>
              </a:rPr>
              <a:t>vPC</a:t>
            </a:r>
            <a:endParaRPr lang="en-US" sz="1333" b="1" dirty="0">
              <a:solidFill>
                <a:schemeClr val="bg1"/>
              </a:solidFill>
              <a:latin typeface="DengXian" charset="0"/>
              <a:ea typeface="DengXian" charset="0"/>
              <a:cs typeface="DengXian" charset="0"/>
            </a:endParaRPr>
          </a:p>
        </p:txBody>
      </p:sp>
      <p:sp>
        <p:nvSpPr>
          <p:cNvPr id="32" name="Rectangle 31"/>
          <p:cNvSpPr/>
          <p:nvPr/>
        </p:nvSpPr>
        <p:spPr>
          <a:xfrm>
            <a:off x="2032000" y="1714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err="1">
                <a:solidFill>
                  <a:schemeClr val="tx1"/>
                </a:solidFill>
                <a:latin typeface="Courier New" pitchFamily="49" charset="0"/>
                <a:cs typeface="Courier New" pitchFamily="49" charset="0"/>
              </a:rPr>
              <a:t>mov</a:t>
            </a:r>
            <a:r>
              <a:rPr lang="en-US" sz="1167" b="1" dirty="0">
                <a:solidFill>
                  <a:schemeClr val="tx1"/>
                </a:solidFill>
                <a:latin typeface="Courier New" pitchFamily="49" charset="0"/>
                <a:cs typeface="Courier New" pitchFamily="49" charset="0"/>
              </a:rPr>
              <a:t>   </a:t>
            </a:r>
            <a:r>
              <a:rPr lang="en-US" sz="1167" b="1" dirty="0" err="1">
                <a:solidFill>
                  <a:schemeClr val="tx1"/>
                </a:solidFill>
                <a:latin typeface="Courier New" pitchFamily="49" charset="0"/>
                <a:cs typeface="Courier New" pitchFamily="49" charset="0"/>
              </a:rPr>
              <a:t>ebx</a:t>
            </a:r>
            <a:r>
              <a:rPr lang="en-US" sz="1167" b="1" dirty="0">
                <a:solidFill>
                  <a:schemeClr val="tx1"/>
                </a:solidFill>
                <a:latin typeface="Courier New" pitchFamily="49" charset="0"/>
                <a:cs typeface="Courier New" pitchFamily="49" charset="0"/>
              </a:rPr>
              <a:t>, </a:t>
            </a:r>
            <a:r>
              <a:rPr lang="en-US" sz="1167" b="1" dirty="0" err="1">
                <a:solidFill>
                  <a:schemeClr val="tx1"/>
                </a:solidFill>
                <a:latin typeface="Courier New" pitchFamily="49" charset="0"/>
                <a:cs typeface="Courier New" pitchFamily="49" charset="0"/>
              </a:rPr>
              <a:t>eax</a:t>
            </a:r>
            <a:endParaRPr lang="en-US" sz="1167" b="1" dirty="0">
              <a:solidFill>
                <a:schemeClr val="tx1"/>
              </a:solidFill>
              <a:latin typeface="Courier New" pitchFamily="49" charset="0"/>
              <a:cs typeface="Courier New" pitchFamily="49" charset="0"/>
            </a:endParaRPr>
          </a:p>
        </p:txBody>
      </p:sp>
      <p:sp>
        <p:nvSpPr>
          <p:cNvPr id="33" name="Rectangle 32"/>
          <p:cNvSpPr/>
          <p:nvPr/>
        </p:nvSpPr>
        <p:spPr>
          <a:xfrm>
            <a:off x="2032000" y="1968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err="1">
                <a:solidFill>
                  <a:schemeClr val="tx1"/>
                </a:solidFill>
                <a:latin typeface="Courier New" pitchFamily="49" charset="0"/>
                <a:cs typeface="Courier New" pitchFamily="49" charset="0"/>
              </a:rPr>
              <a:t>cli</a:t>
            </a:r>
            <a:endParaRPr lang="en-US" sz="1167" b="1" dirty="0">
              <a:solidFill>
                <a:schemeClr val="tx1"/>
              </a:solidFill>
              <a:latin typeface="Courier New" pitchFamily="49" charset="0"/>
              <a:cs typeface="Courier New" pitchFamily="49" charset="0"/>
            </a:endParaRPr>
          </a:p>
        </p:txBody>
      </p:sp>
      <p:sp>
        <p:nvSpPr>
          <p:cNvPr id="34" name="Rectangle 33"/>
          <p:cNvSpPr/>
          <p:nvPr/>
        </p:nvSpPr>
        <p:spPr>
          <a:xfrm>
            <a:off x="2032000" y="2222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a:solidFill>
                  <a:schemeClr val="tx1"/>
                </a:solidFill>
                <a:latin typeface="Courier New" pitchFamily="49" charset="0"/>
                <a:cs typeface="Courier New" pitchFamily="49" charset="0"/>
              </a:rPr>
              <a:t>and   </a:t>
            </a:r>
            <a:r>
              <a:rPr lang="en-US" sz="1167" b="1" dirty="0" err="1">
                <a:solidFill>
                  <a:schemeClr val="tx1"/>
                </a:solidFill>
                <a:latin typeface="Courier New" pitchFamily="49" charset="0"/>
                <a:cs typeface="Courier New" pitchFamily="49" charset="0"/>
              </a:rPr>
              <a:t>ebx</a:t>
            </a:r>
            <a:r>
              <a:rPr lang="en-US" sz="1167" b="1" dirty="0">
                <a:solidFill>
                  <a:schemeClr val="tx1"/>
                </a:solidFill>
                <a:latin typeface="Courier New" pitchFamily="49" charset="0"/>
                <a:cs typeface="Courier New" pitchFamily="49" charset="0"/>
              </a:rPr>
              <a:t>, ~0xfff</a:t>
            </a:r>
          </a:p>
        </p:txBody>
      </p:sp>
      <p:sp>
        <p:nvSpPr>
          <p:cNvPr id="35" name="Rectangle 34"/>
          <p:cNvSpPr/>
          <p:nvPr/>
        </p:nvSpPr>
        <p:spPr>
          <a:xfrm>
            <a:off x="2032000" y="2476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err="1">
                <a:solidFill>
                  <a:schemeClr val="tx1"/>
                </a:solidFill>
                <a:latin typeface="Courier New" pitchFamily="49" charset="0"/>
                <a:cs typeface="Courier New" pitchFamily="49" charset="0"/>
              </a:rPr>
              <a:t>mov</a:t>
            </a:r>
            <a:r>
              <a:rPr lang="en-US" sz="1167" b="1" dirty="0">
                <a:solidFill>
                  <a:schemeClr val="tx1"/>
                </a:solidFill>
                <a:latin typeface="Courier New" pitchFamily="49" charset="0"/>
                <a:cs typeface="Courier New" pitchFamily="49" charset="0"/>
              </a:rPr>
              <a:t>   </a:t>
            </a:r>
            <a:r>
              <a:rPr lang="en-US" sz="1167" b="1" dirty="0" err="1">
                <a:solidFill>
                  <a:schemeClr val="tx1"/>
                </a:solidFill>
                <a:latin typeface="Courier New" pitchFamily="49" charset="0"/>
                <a:cs typeface="Courier New" pitchFamily="49" charset="0"/>
              </a:rPr>
              <a:t>ebx</a:t>
            </a:r>
            <a:r>
              <a:rPr lang="en-US" sz="1167" b="1" dirty="0">
                <a:solidFill>
                  <a:schemeClr val="tx1"/>
                </a:solidFill>
                <a:latin typeface="Courier New" pitchFamily="49" charset="0"/>
                <a:cs typeface="Courier New" pitchFamily="49" charset="0"/>
              </a:rPr>
              <a:t>, cr3</a:t>
            </a:r>
          </a:p>
        </p:txBody>
      </p:sp>
      <p:sp>
        <p:nvSpPr>
          <p:cNvPr id="36" name="Rectangle 35"/>
          <p:cNvSpPr/>
          <p:nvPr/>
        </p:nvSpPr>
        <p:spPr>
          <a:xfrm>
            <a:off x="2032000" y="2730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err="1">
                <a:solidFill>
                  <a:schemeClr val="tx1"/>
                </a:solidFill>
                <a:latin typeface="Courier New" pitchFamily="49" charset="0"/>
                <a:cs typeface="Courier New" pitchFamily="49" charset="0"/>
              </a:rPr>
              <a:t>sti</a:t>
            </a:r>
            <a:endParaRPr lang="en-US" sz="1167" b="1" dirty="0">
              <a:solidFill>
                <a:schemeClr val="tx1"/>
              </a:solidFill>
              <a:latin typeface="Courier New" pitchFamily="49" charset="0"/>
              <a:cs typeface="Courier New" pitchFamily="49" charset="0"/>
            </a:endParaRPr>
          </a:p>
        </p:txBody>
      </p:sp>
      <p:sp>
        <p:nvSpPr>
          <p:cNvPr id="37" name="Rectangle 36"/>
          <p:cNvSpPr/>
          <p:nvPr/>
        </p:nvSpPr>
        <p:spPr>
          <a:xfrm>
            <a:off x="2032000" y="2984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a:solidFill>
                  <a:schemeClr val="tx1"/>
                </a:solidFill>
                <a:latin typeface="Courier New" pitchFamily="49" charset="0"/>
                <a:cs typeface="Courier New" pitchFamily="49" charset="0"/>
              </a:rPr>
              <a:t>ret</a:t>
            </a:r>
          </a:p>
        </p:txBody>
      </p:sp>
      <p:cxnSp>
        <p:nvCxnSpPr>
          <p:cNvPr id="39" name="Straight Connector 38"/>
          <p:cNvCxnSpPr/>
          <p:nvPr/>
        </p:nvCxnSpPr>
        <p:spPr>
          <a:xfrm rot="5400000">
            <a:off x="1016001" y="2476500"/>
            <a:ext cx="2032000" cy="26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5400000">
            <a:off x="2858162" y="2475839"/>
            <a:ext cx="2032000" cy="13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4829" name="TextBox 107"/>
          <p:cNvSpPr txBox="1">
            <a:spLocks noChangeArrowheads="1"/>
          </p:cNvSpPr>
          <p:nvPr/>
        </p:nvSpPr>
        <p:spPr bwMode="auto">
          <a:xfrm>
            <a:off x="2356274" y="1079501"/>
            <a:ext cx="1192955" cy="323165"/>
          </a:xfrm>
          <a:prstGeom prst="rect">
            <a:avLst/>
          </a:prstGeom>
          <a:noFill/>
          <a:ln w="9525">
            <a:noFill/>
            <a:miter lim="800000"/>
            <a:headEnd/>
            <a:tailEnd/>
          </a:ln>
        </p:spPr>
        <p:txBody>
          <a:bodyPr wrap="none">
            <a:spAutoFit/>
          </a:bodyPr>
          <a:lstStyle/>
          <a:p>
            <a:pPr algn="ctr"/>
            <a:r>
              <a:rPr lang="en-US" altLang="zh-TW" sz="1500" b="1">
                <a:latin typeface="DengXian" charset="0"/>
                <a:ea typeface="DengXian" charset="0"/>
                <a:cs typeface="DengXian" charset="0"/>
              </a:rPr>
              <a:t>Guest Code</a:t>
            </a:r>
          </a:p>
        </p:txBody>
      </p:sp>
      <p:sp>
        <p:nvSpPr>
          <p:cNvPr id="53" name="Right Brace 52"/>
          <p:cNvSpPr/>
          <p:nvPr/>
        </p:nvSpPr>
        <p:spPr>
          <a:xfrm>
            <a:off x="3937000" y="1714500"/>
            <a:ext cx="190500" cy="1270000"/>
          </a:xfrm>
          <a:prstGeom prst="rightBrace">
            <a:avLst/>
          </a:prstGeom>
          <a:ln w="12700">
            <a:solidFill>
              <a:srgbClr val="00935D"/>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a:endParaRPr lang="en-US" altLang="zh-TW" sz="1500"/>
          </a:p>
        </p:txBody>
      </p:sp>
      <p:sp>
        <p:nvSpPr>
          <p:cNvPr id="34831" name="TextBox 53"/>
          <p:cNvSpPr txBox="1">
            <a:spLocks noChangeArrowheads="1"/>
          </p:cNvSpPr>
          <p:nvPr/>
        </p:nvSpPr>
        <p:spPr bwMode="auto">
          <a:xfrm>
            <a:off x="4127500" y="2196042"/>
            <a:ext cx="1762021" cy="323165"/>
          </a:xfrm>
          <a:prstGeom prst="rect">
            <a:avLst/>
          </a:prstGeom>
          <a:noFill/>
          <a:ln w="9525">
            <a:noFill/>
            <a:miter lim="800000"/>
            <a:headEnd/>
            <a:tailEnd/>
          </a:ln>
        </p:spPr>
        <p:txBody>
          <a:bodyPr wrap="none">
            <a:spAutoFit/>
          </a:bodyPr>
          <a:lstStyle/>
          <a:p>
            <a:r>
              <a:rPr lang="en-US" altLang="zh-TW" sz="1500" b="1">
                <a:solidFill>
                  <a:srgbClr val="00935D"/>
                </a:solidFill>
                <a:latin typeface="DengXian" charset="0"/>
                <a:ea typeface="DengXian" charset="0"/>
                <a:cs typeface="DengXian" charset="0"/>
              </a:rPr>
              <a:t>Straight-line code</a:t>
            </a:r>
          </a:p>
        </p:txBody>
      </p:sp>
      <p:sp>
        <p:nvSpPr>
          <p:cNvPr id="55" name="Right Brace 54"/>
          <p:cNvSpPr/>
          <p:nvPr/>
        </p:nvSpPr>
        <p:spPr>
          <a:xfrm>
            <a:off x="3937000" y="3048000"/>
            <a:ext cx="190500" cy="190500"/>
          </a:xfrm>
          <a:prstGeom prst="rightBrace">
            <a:avLst/>
          </a:prstGeom>
          <a:ln w="12700">
            <a:solidFill>
              <a:srgbClr val="00935D"/>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a:endParaRPr lang="en-US" altLang="zh-TW" sz="1500"/>
          </a:p>
        </p:txBody>
      </p:sp>
      <p:sp>
        <p:nvSpPr>
          <p:cNvPr id="34833" name="TextBox 55"/>
          <p:cNvSpPr txBox="1">
            <a:spLocks noChangeArrowheads="1"/>
          </p:cNvSpPr>
          <p:nvPr/>
        </p:nvSpPr>
        <p:spPr bwMode="auto">
          <a:xfrm>
            <a:off x="4127500" y="2984501"/>
            <a:ext cx="1266693" cy="323165"/>
          </a:xfrm>
          <a:prstGeom prst="rect">
            <a:avLst/>
          </a:prstGeom>
          <a:noFill/>
          <a:ln w="9525">
            <a:noFill/>
            <a:miter lim="800000"/>
            <a:headEnd/>
            <a:tailEnd/>
          </a:ln>
        </p:spPr>
        <p:txBody>
          <a:bodyPr wrap="none">
            <a:spAutoFit/>
          </a:bodyPr>
          <a:lstStyle/>
          <a:p>
            <a:r>
              <a:rPr lang="en-US" altLang="zh-TW" sz="1500" b="1">
                <a:solidFill>
                  <a:srgbClr val="00935D"/>
                </a:solidFill>
                <a:latin typeface="DengXian" charset="0"/>
                <a:ea typeface="DengXian" charset="0"/>
                <a:cs typeface="DengXian" charset="0"/>
              </a:rPr>
              <a:t>Control flow</a:t>
            </a:r>
          </a:p>
        </p:txBody>
      </p:sp>
      <p:sp>
        <p:nvSpPr>
          <p:cNvPr id="57" name="Right Brace 56"/>
          <p:cNvSpPr/>
          <p:nvPr/>
        </p:nvSpPr>
        <p:spPr>
          <a:xfrm>
            <a:off x="5825717" y="1714500"/>
            <a:ext cx="190500" cy="1524000"/>
          </a:xfrm>
          <a:prstGeom prst="rightBrace">
            <a:avLst/>
          </a:prstGeom>
          <a:ln w="12700">
            <a:solidFill>
              <a:srgbClr val="00935D"/>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a:endParaRPr lang="en-US" altLang="zh-TW" sz="1500"/>
          </a:p>
        </p:txBody>
      </p:sp>
      <p:sp>
        <p:nvSpPr>
          <p:cNvPr id="34835" name="TextBox 58"/>
          <p:cNvSpPr txBox="1">
            <a:spLocks noChangeArrowheads="1"/>
          </p:cNvSpPr>
          <p:nvPr/>
        </p:nvSpPr>
        <p:spPr bwMode="auto">
          <a:xfrm>
            <a:off x="6016217" y="2323042"/>
            <a:ext cx="1148071" cy="323165"/>
          </a:xfrm>
          <a:prstGeom prst="rect">
            <a:avLst/>
          </a:prstGeom>
          <a:noFill/>
          <a:ln w="9525">
            <a:noFill/>
            <a:miter lim="800000"/>
            <a:headEnd/>
            <a:tailEnd/>
          </a:ln>
        </p:spPr>
        <p:txBody>
          <a:bodyPr wrap="none">
            <a:spAutoFit/>
          </a:bodyPr>
          <a:lstStyle/>
          <a:p>
            <a:r>
              <a:rPr lang="en-US" altLang="zh-TW" sz="1500" b="1">
                <a:solidFill>
                  <a:srgbClr val="00935D"/>
                </a:solidFill>
                <a:latin typeface="DengXian" charset="0"/>
                <a:ea typeface="DengXian" charset="0"/>
                <a:cs typeface="DengXian" charset="0"/>
              </a:rPr>
              <a:t>Basic Block</a:t>
            </a:r>
          </a:p>
        </p:txBody>
      </p:sp>
    </p:spTree>
    <p:extLst>
      <p:ext uri="{BB962C8B-B14F-4D97-AF65-F5344CB8AC3E}">
        <p14:creationId xmlns:p14="http://schemas.microsoft.com/office/powerpoint/2010/main" val="2077867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1" name="Straight Arrow Connector 60"/>
          <p:cNvCxnSpPr>
            <a:stCxn id="33" idx="3"/>
            <a:endCxn id="21" idx="1"/>
          </p:cNvCxnSpPr>
          <p:nvPr/>
        </p:nvCxnSpPr>
        <p:spPr>
          <a:xfrm>
            <a:off x="3873500" y="2095500"/>
            <a:ext cx="1143000" cy="1323"/>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35" idx="3"/>
            <a:endCxn id="22" idx="1"/>
          </p:cNvCxnSpPr>
          <p:nvPr/>
        </p:nvCxnSpPr>
        <p:spPr>
          <a:xfrm>
            <a:off x="3873500" y="2603500"/>
            <a:ext cx="1143000" cy="127000"/>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36" idx="3"/>
            <a:endCxn id="23" idx="1"/>
          </p:cNvCxnSpPr>
          <p:nvPr/>
        </p:nvCxnSpPr>
        <p:spPr>
          <a:xfrm>
            <a:off x="3873500" y="2857500"/>
            <a:ext cx="1143000" cy="254000"/>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37" idx="3"/>
            <a:endCxn id="24" idx="1"/>
          </p:cNvCxnSpPr>
          <p:nvPr/>
        </p:nvCxnSpPr>
        <p:spPr>
          <a:xfrm>
            <a:off x="3873500" y="3111500"/>
            <a:ext cx="1143000" cy="254000"/>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a:stCxn id="32" idx="3"/>
            <a:endCxn id="96" idx="1"/>
          </p:cNvCxnSpPr>
          <p:nvPr/>
        </p:nvCxnSpPr>
        <p:spPr>
          <a:xfrm>
            <a:off x="3873500" y="1841500"/>
            <a:ext cx="1143000" cy="1323"/>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Left Brace 20"/>
          <p:cNvSpPr/>
          <p:nvPr/>
        </p:nvSpPr>
        <p:spPr>
          <a:xfrm>
            <a:off x="5016500" y="2032000"/>
            <a:ext cx="63500" cy="1270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endParaRPr lang="en-US" altLang="zh-TW" sz="1500"/>
          </a:p>
        </p:txBody>
      </p:sp>
      <p:sp>
        <p:nvSpPr>
          <p:cNvPr id="22" name="Left Brace 21"/>
          <p:cNvSpPr/>
          <p:nvPr/>
        </p:nvSpPr>
        <p:spPr>
          <a:xfrm>
            <a:off x="5016500" y="2540000"/>
            <a:ext cx="63500" cy="3810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endParaRPr lang="en-US" altLang="zh-TW" sz="1500"/>
          </a:p>
        </p:txBody>
      </p:sp>
      <p:sp>
        <p:nvSpPr>
          <p:cNvPr id="23" name="Left Brace 22"/>
          <p:cNvSpPr/>
          <p:nvPr/>
        </p:nvSpPr>
        <p:spPr>
          <a:xfrm>
            <a:off x="5016500" y="3048000"/>
            <a:ext cx="63500" cy="1270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endParaRPr lang="en-US" altLang="zh-TW" sz="1500"/>
          </a:p>
        </p:txBody>
      </p:sp>
      <p:sp>
        <p:nvSpPr>
          <p:cNvPr id="24" name="Left Brace 23"/>
          <p:cNvSpPr/>
          <p:nvPr/>
        </p:nvSpPr>
        <p:spPr>
          <a:xfrm>
            <a:off x="5016500" y="3302000"/>
            <a:ext cx="63500" cy="1270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endParaRPr lang="en-US" altLang="zh-TW" sz="1500"/>
          </a:p>
        </p:txBody>
      </p:sp>
      <p:sp>
        <p:nvSpPr>
          <p:cNvPr id="96" name="Left Brace 95"/>
          <p:cNvSpPr/>
          <p:nvPr/>
        </p:nvSpPr>
        <p:spPr>
          <a:xfrm>
            <a:off x="5016500" y="1778000"/>
            <a:ext cx="63500" cy="1270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endParaRPr lang="en-US" altLang="zh-TW" sz="1500"/>
          </a:p>
        </p:txBody>
      </p:sp>
      <p:sp>
        <p:nvSpPr>
          <p:cNvPr id="97" name="Left Brace 96"/>
          <p:cNvSpPr/>
          <p:nvPr/>
        </p:nvSpPr>
        <p:spPr>
          <a:xfrm>
            <a:off x="5016500" y="2286000"/>
            <a:ext cx="63500" cy="1270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endParaRPr lang="en-US" altLang="zh-TW" sz="1500"/>
          </a:p>
        </p:txBody>
      </p:sp>
      <p:cxnSp>
        <p:nvCxnSpPr>
          <p:cNvPr id="98" name="Straight Arrow Connector 97"/>
          <p:cNvCxnSpPr>
            <a:stCxn id="34" idx="3"/>
            <a:endCxn id="97" idx="1"/>
          </p:cNvCxnSpPr>
          <p:nvPr/>
        </p:nvCxnSpPr>
        <p:spPr>
          <a:xfrm>
            <a:off x="3873500" y="2349500"/>
            <a:ext cx="1143000" cy="1323"/>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5854" name="Title 1"/>
          <p:cNvSpPr>
            <a:spLocks noGrp="1"/>
          </p:cNvSpPr>
          <p:nvPr>
            <p:ph type="title"/>
          </p:nvPr>
        </p:nvSpPr>
        <p:spPr/>
        <p:txBody>
          <a:bodyPr/>
          <a:lstStyle/>
          <a:p>
            <a:r>
              <a:rPr kumimoji="1" lang="zh-CN" altLang="en-US" dirty="0"/>
              <a:t>二进制翻译举例</a:t>
            </a:r>
            <a:endParaRPr lang="en-US" altLang="zh-TW" dirty="0"/>
          </a:p>
        </p:txBody>
      </p:sp>
      <p:cxnSp>
        <p:nvCxnSpPr>
          <p:cNvPr id="7" name="Straight Arrow Connector 6"/>
          <p:cNvCxnSpPr>
            <a:stCxn id="14" idx="3"/>
            <a:endCxn id="32" idx="1"/>
          </p:cNvCxnSpPr>
          <p:nvPr/>
        </p:nvCxnSpPr>
        <p:spPr>
          <a:xfrm>
            <a:off x="1841500" y="1841500"/>
            <a:ext cx="190500" cy="132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1270000" y="1714500"/>
            <a:ext cx="571500" cy="254000"/>
          </a:xfrm>
          <a:prstGeom prst="rect">
            <a:avLst/>
          </a:prstGeom>
          <a:solidFill>
            <a:schemeClr val="tx1"/>
          </a:solidFill>
          <a:ln w="9525">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lgn="ctr">
              <a:defRPr/>
            </a:pPr>
            <a:r>
              <a:rPr lang="en-US" sz="1333" b="1" dirty="0" err="1">
                <a:solidFill>
                  <a:schemeClr val="bg1"/>
                </a:solidFill>
              </a:rPr>
              <a:t>vPC</a:t>
            </a:r>
            <a:endParaRPr lang="en-US" sz="1333" b="1" dirty="0">
              <a:solidFill>
                <a:schemeClr val="bg1"/>
              </a:solidFill>
            </a:endParaRPr>
          </a:p>
        </p:txBody>
      </p:sp>
      <p:sp>
        <p:nvSpPr>
          <p:cNvPr id="32" name="Rectangle 31"/>
          <p:cNvSpPr/>
          <p:nvPr/>
        </p:nvSpPr>
        <p:spPr>
          <a:xfrm>
            <a:off x="2032000" y="1714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err="1">
                <a:solidFill>
                  <a:schemeClr val="tx1"/>
                </a:solidFill>
                <a:latin typeface="Courier New" pitchFamily="49" charset="0"/>
                <a:cs typeface="Courier New" pitchFamily="49" charset="0"/>
              </a:rPr>
              <a:t>mov</a:t>
            </a:r>
            <a:r>
              <a:rPr lang="en-US" sz="1167" b="1" dirty="0">
                <a:solidFill>
                  <a:schemeClr val="tx1"/>
                </a:solidFill>
                <a:latin typeface="Courier New" pitchFamily="49" charset="0"/>
                <a:cs typeface="Courier New" pitchFamily="49" charset="0"/>
              </a:rPr>
              <a:t>   </a:t>
            </a:r>
            <a:r>
              <a:rPr lang="en-US" sz="1167" b="1" dirty="0" err="1">
                <a:solidFill>
                  <a:schemeClr val="tx1"/>
                </a:solidFill>
                <a:latin typeface="Courier New" pitchFamily="49" charset="0"/>
                <a:cs typeface="Courier New" pitchFamily="49" charset="0"/>
              </a:rPr>
              <a:t>ebx</a:t>
            </a:r>
            <a:r>
              <a:rPr lang="en-US" sz="1167" b="1" dirty="0">
                <a:solidFill>
                  <a:schemeClr val="tx1"/>
                </a:solidFill>
                <a:latin typeface="Courier New" pitchFamily="49" charset="0"/>
                <a:cs typeface="Courier New" pitchFamily="49" charset="0"/>
              </a:rPr>
              <a:t>, </a:t>
            </a:r>
            <a:r>
              <a:rPr lang="en-US" sz="1167" b="1" dirty="0" err="1">
                <a:solidFill>
                  <a:schemeClr val="tx1"/>
                </a:solidFill>
                <a:latin typeface="Courier New" pitchFamily="49" charset="0"/>
                <a:cs typeface="Courier New" pitchFamily="49" charset="0"/>
              </a:rPr>
              <a:t>eax</a:t>
            </a:r>
            <a:endParaRPr lang="en-US" sz="1167" b="1" dirty="0">
              <a:solidFill>
                <a:schemeClr val="tx1"/>
              </a:solidFill>
              <a:latin typeface="Courier New" pitchFamily="49" charset="0"/>
              <a:cs typeface="Courier New" pitchFamily="49" charset="0"/>
            </a:endParaRPr>
          </a:p>
        </p:txBody>
      </p:sp>
      <p:sp>
        <p:nvSpPr>
          <p:cNvPr id="33" name="Rectangle 32"/>
          <p:cNvSpPr/>
          <p:nvPr/>
        </p:nvSpPr>
        <p:spPr>
          <a:xfrm>
            <a:off x="2032000" y="1968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err="1">
                <a:solidFill>
                  <a:schemeClr val="tx1"/>
                </a:solidFill>
                <a:latin typeface="Courier New" pitchFamily="49" charset="0"/>
                <a:cs typeface="Courier New" pitchFamily="49" charset="0"/>
              </a:rPr>
              <a:t>cli</a:t>
            </a:r>
            <a:endParaRPr lang="en-US" sz="1167" b="1" dirty="0">
              <a:solidFill>
                <a:schemeClr val="tx1"/>
              </a:solidFill>
              <a:latin typeface="Courier New" pitchFamily="49" charset="0"/>
              <a:cs typeface="Courier New" pitchFamily="49" charset="0"/>
            </a:endParaRPr>
          </a:p>
        </p:txBody>
      </p:sp>
      <p:sp>
        <p:nvSpPr>
          <p:cNvPr id="34" name="Rectangle 33"/>
          <p:cNvSpPr/>
          <p:nvPr/>
        </p:nvSpPr>
        <p:spPr>
          <a:xfrm>
            <a:off x="2032000" y="2222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a:solidFill>
                  <a:schemeClr val="tx1"/>
                </a:solidFill>
                <a:latin typeface="Courier New" pitchFamily="49" charset="0"/>
                <a:cs typeface="Courier New" pitchFamily="49" charset="0"/>
              </a:rPr>
              <a:t>and   </a:t>
            </a:r>
            <a:r>
              <a:rPr lang="en-US" sz="1167" b="1" dirty="0" err="1">
                <a:solidFill>
                  <a:schemeClr val="tx1"/>
                </a:solidFill>
                <a:latin typeface="Courier New" pitchFamily="49" charset="0"/>
                <a:cs typeface="Courier New" pitchFamily="49" charset="0"/>
              </a:rPr>
              <a:t>ebx</a:t>
            </a:r>
            <a:r>
              <a:rPr lang="en-US" sz="1167" b="1" dirty="0">
                <a:solidFill>
                  <a:schemeClr val="tx1"/>
                </a:solidFill>
                <a:latin typeface="Courier New" pitchFamily="49" charset="0"/>
                <a:cs typeface="Courier New" pitchFamily="49" charset="0"/>
              </a:rPr>
              <a:t>, ~0xfff</a:t>
            </a:r>
          </a:p>
        </p:txBody>
      </p:sp>
      <p:sp>
        <p:nvSpPr>
          <p:cNvPr id="35" name="Rectangle 34"/>
          <p:cNvSpPr/>
          <p:nvPr/>
        </p:nvSpPr>
        <p:spPr>
          <a:xfrm>
            <a:off x="2032000" y="2476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err="1">
                <a:solidFill>
                  <a:schemeClr val="tx1"/>
                </a:solidFill>
                <a:latin typeface="Courier New" pitchFamily="49" charset="0"/>
                <a:cs typeface="Courier New" pitchFamily="49" charset="0"/>
              </a:rPr>
              <a:t>mov</a:t>
            </a:r>
            <a:r>
              <a:rPr lang="en-US" sz="1167" b="1" dirty="0">
                <a:solidFill>
                  <a:schemeClr val="tx1"/>
                </a:solidFill>
                <a:latin typeface="Courier New" pitchFamily="49" charset="0"/>
                <a:cs typeface="Courier New" pitchFamily="49" charset="0"/>
              </a:rPr>
              <a:t>   </a:t>
            </a:r>
            <a:r>
              <a:rPr lang="en-US" sz="1167" b="1" dirty="0" err="1">
                <a:solidFill>
                  <a:schemeClr val="tx1"/>
                </a:solidFill>
                <a:latin typeface="Courier New" pitchFamily="49" charset="0"/>
                <a:cs typeface="Courier New" pitchFamily="49" charset="0"/>
              </a:rPr>
              <a:t>ebx</a:t>
            </a:r>
            <a:r>
              <a:rPr lang="en-US" sz="1167" b="1" dirty="0">
                <a:solidFill>
                  <a:schemeClr val="tx1"/>
                </a:solidFill>
                <a:latin typeface="Courier New" pitchFamily="49" charset="0"/>
                <a:cs typeface="Courier New" pitchFamily="49" charset="0"/>
              </a:rPr>
              <a:t>, cr3</a:t>
            </a:r>
          </a:p>
        </p:txBody>
      </p:sp>
      <p:sp>
        <p:nvSpPr>
          <p:cNvPr id="36" name="Rectangle 35"/>
          <p:cNvSpPr/>
          <p:nvPr/>
        </p:nvSpPr>
        <p:spPr>
          <a:xfrm>
            <a:off x="2032000" y="2730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err="1">
                <a:solidFill>
                  <a:schemeClr val="tx1"/>
                </a:solidFill>
                <a:latin typeface="Courier New" pitchFamily="49" charset="0"/>
                <a:cs typeface="Courier New" pitchFamily="49" charset="0"/>
              </a:rPr>
              <a:t>sti</a:t>
            </a:r>
            <a:endParaRPr lang="en-US" sz="1167" b="1" dirty="0">
              <a:solidFill>
                <a:schemeClr val="tx1"/>
              </a:solidFill>
              <a:latin typeface="Courier New" pitchFamily="49" charset="0"/>
              <a:cs typeface="Courier New" pitchFamily="49" charset="0"/>
            </a:endParaRPr>
          </a:p>
        </p:txBody>
      </p:sp>
      <p:sp>
        <p:nvSpPr>
          <p:cNvPr id="37" name="Rectangle 36"/>
          <p:cNvSpPr/>
          <p:nvPr/>
        </p:nvSpPr>
        <p:spPr>
          <a:xfrm>
            <a:off x="2032000" y="2984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a:solidFill>
                  <a:schemeClr val="tx1"/>
                </a:solidFill>
                <a:latin typeface="Courier New" pitchFamily="49" charset="0"/>
                <a:cs typeface="Courier New" pitchFamily="49" charset="0"/>
              </a:rPr>
              <a:t>ret</a:t>
            </a:r>
          </a:p>
        </p:txBody>
      </p:sp>
      <p:cxnSp>
        <p:nvCxnSpPr>
          <p:cNvPr id="39" name="Straight Connector 38"/>
          <p:cNvCxnSpPr/>
          <p:nvPr/>
        </p:nvCxnSpPr>
        <p:spPr>
          <a:xfrm rot="5400000">
            <a:off x="1016001" y="2476500"/>
            <a:ext cx="2032000" cy="26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5400000">
            <a:off x="2858162" y="2475839"/>
            <a:ext cx="2032000" cy="13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Rectangle 40"/>
          <p:cNvSpPr/>
          <p:nvPr/>
        </p:nvSpPr>
        <p:spPr>
          <a:xfrm>
            <a:off x="5143500" y="1714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err="1">
                <a:solidFill>
                  <a:schemeClr val="tx1"/>
                </a:solidFill>
                <a:latin typeface="Courier New" pitchFamily="49" charset="0"/>
                <a:cs typeface="Courier New" pitchFamily="49" charset="0"/>
              </a:rPr>
              <a:t>mov</a:t>
            </a:r>
            <a:r>
              <a:rPr lang="en-US" sz="1167" b="1" dirty="0">
                <a:solidFill>
                  <a:schemeClr val="tx1"/>
                </a:solidFill>
                <a:latin typeface="Courier New" pitchFamily="49" charset="0"/>
                <a:cs typeface="Courier New" pitchFamily="49" charset="0"/>
              </a:rPr>
              <a:t>   </a:t>
            </a:r>
            <a:r>
              <a:rPr lang="en-US" sz="1167" b="1" dirty="0" err="1">
                <a:solidFill>
                  <a:schemeClr val="tx1"/>
                </a:solidFill>
                <a:latin typeface="Courier New" pitchFamily="49" charset="0"/>
                <a:cs typeface="Courier New" pitchFamily="49" charset="0"/>
              </a:rPr>
              <a:t>ebx</a:t>
            </a:r>
            <a:r>
              <a:rPr lang="en-US" sz="1167" b="1" dirty="0">
                <a:solidFill>
                  <a:schemeClr val="tx1"/>
                </a:solidFill>
                <a:latin typeface="Courier New" pitchFamily="49" charset="0"/>
                <a:cs typeface="Courier New" pitchFamily="49" charset="0"/>
              </a:rPr>
              <a:t>, </a:t>
            </a:r>
            <a:r>
              <a:rPr lang="en-US" sz="1167" b="1" dirty="0" err="1">
                <a:solidFill>
                  <a:schemeClr val="tx1"/>
                </a:solidFill>
                <a:latin typeface="Courier New" pitchFamily="49" charset="0"/>
                <a:cs typeface="Courier New" pitchFamily="49" charset="0"/>
              </a:rPr>
              <a:t>eax</a:t>
            </a:r>
            <a:endParaRPr lang="en-US" sz="1167" b="1" dirty="0">
              <a:solidFill>
                <a:schemeClr val="tx1"/>
              </a:solidFill>
              <a:latin typeface="Courier New" pitchFamily="49" charset="0"/>
              <a:cs typeface="Courier New" pitchFamily="49" charset="0"/>
            </a:endParaRPr>
          </a:p>
        </p:txBody>
      </p:sp>
      <p:sp>
        <p:nvSpPr>
          <p:cNvPr id="42" name="Rectangle 41"/>
          <p:cNvSpPr/>
          <p:nvPr/>
        </p:nvSpPr>
        <p:spPr>
          <a:xfrm>
            <a:off x="5143500" y="1968500"/>
            <a:ext cx="1841500" cy="254000"/>
          </a:xfrm>
          <a:prstGeom prst="rect">
            <a:avLst/>
          </a:prstGeom>
          <a:solidFill>
            <a:schemeClr val="bg2"/>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a:solidFill>
                  <a:schemeClr val="tx1"/>
                </a:solidFill>
                <a:latin typeface="Courier New" pitchFamily="49" charset="0"/>
                <a:cs typeface="Courier New" pitchFamily="49" charset="0"/>
              </a:rPr>
              <a:t>call  HANDLE_CLI</a:t>
            </a:r>
          </a:p>
        </p:txBody>
      </p:sp>
      <p:sp>
        <p:nvSpPr>
          <p:cNvPr id="43" name="Rectangle 42"/>
          <p:cNvSpPr/>
          <p:nvPr/>
        </p:nvSpPr>
        <p:spPr>
          <a:xfrm>
            <a:off x="5143500" y="2222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a:solidFill>
                  <a:schemeClr val="tx1"/>
                </a:solidFill>
                <a:latin typeface="Courier New" pitchFamily="49" charset="0"/>
                <a:cs typeface="Courier New" pitchFamily="49" charset="0"/>
              </a:rPr>
              <a:t>and   </a:t>
            </a:r>
            <a:r>
              <a:rPr lang="en-US" sz="1167" b="1" dirty="0" err="1">
                <a:solidFill>
                  <a:schemeClr val="tx1"/>
                </a:solidFill>
                <a:latin typeface="Courier New" pitchFamily="49" charset="0"/>
                <a:cs typeface="Courier New" pitchFamily="49" charset="0"/>
              </a:rPr>
              <a:t>ebx</a:t>
            </a:r>
            <a:r>
              <a:rPr lang="en-US" sz="1167" b="1" dirty="0">
                <a:solidFill>
                  <a:schemeClr val="tx1"/>
                </a:solidFill>
                <a:latin typeface="Courier New" pitchFamily="49" charset="0"/>
                <a:cs typeface="Courier New" pitchFamily="49" charset="0"/>
              </a:rPr>
              <a:t>, ~0xfff</a:t>
            </a:r>
          </a:p>
        </p:txBody>
      </p:sp>
      <p:sp>
        <p:nvSpPr>
          <p:cNvPr id="44" name="Rectangle 43"/>
          <p:cNvSpPr/>
          <p:nvPr/>
        </p:nvSpPr>
        <p:spPr>
          <a:xfrm>
            <a:off x="5143500" y="2476500"/>
            <a:ext cx="1841500" cy="254000"/>
          </a:xfrm>
          <a:prstGeom prst="rect">
            <a:avLst/>
          </a:prstGeom>
          <a:solidFill>
            <a:schemeClr val="bg2"/>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00" b="1" dirty="0" err="1">
                <a:solidFill>
                  <a:schemeClr val="tx1"/>
                </a:solidFill>
                <a:latin typeface="Courier New" pitchFamily="49" charset="0"/>
                <a:cs typeface="Courier New" pitchFamily="49" charset="0"/>
              </a:rPr>
              <a:t>mov</a:t>
            </a:r>
            <a:r>
              <a:rPr lang="en-US" sz="1100" b="1" dirty="0">
                <a:solidFill>
                  <a:schemeClr val="tx1"/>
                </a:solidFill>
                <a:latin typeface="Courier New" pitchFamily="49" charset="0"/>
                <a:cs typeface="Courier New" pitchFamily="49" charset="0"/>
              </a:rPr>
              <a:t>   [CO_ARG], </a:t>
            </a:r>
            <a:r>
              <a:rPr lang="en-US" sz="1100" b="1" dirty="0" err="1">
                <a:solidFill>
                  <a:schemeClr val="tx1"/>
                </a:solidFill>
                <a:latin typeface="Courier New" pitchFamily="49" charset="0"/>
                <a:cs typeface="Courier New" pitchFamily="49" charset="0"/>
              </a:rPr>
              <a:t>ebx</a:t>
            </a:r>
            <a:endParaRPr lang="en-US" sz="1100" b="1" dirty="0">
              <a:solidFill>
                <a:schemeClr val="tx1"/>
              </a:solidFill>
              <a:latin typeface="Courier New" pitchFamily="49" charset="0"/>
              <a:cs typeface="Courier New" pitchFamily="49" charset="0"/>
            </a:endParaRPr>
          </a:p>
        </p:txBody>
      </p:sp>
      <p:sp>
        <p:nvSpPr>
          <p:cNvPr id="45" name="Rectangle 44"/>
          <p:cNvSpPr/>
          <p:nvPr/>
        </p:nvSpPr>
        <p:spPr>
          <a:xfrm>
            <a:off x="5143500" y="2730500"/>
            <a:ext cx="1841500" cy="254000"/>
          </a:xfrm>
          <a:prstGeom prst="rect">
            <a:avLst/>
          </a:prstGeom>
          <a:solidFill>
            <a:schemeClr val="bg2"/>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a:solidFill>
                  <a:schemeClr val="tx1"/>
                </a:solidFill>
                <a:latin typeface="Courier New" pitchFamily="49" charset="0"/>
                <a:cs typeface="Courier New" pitchFamily="49" charset="0"/>
              </a:rPr>
              <a:t>call  HANDLE_CR3</a:t>
            </a:r>
          </a:p>
        </p:txBody>
      </p:sp>
      <p:sp>
        <p:nvSpPr>
          <p:cNvPr id="46" name="Rectangle 45"/>
          <p:cNvSpPr/>
          <p:nvPr/>
        </p:nvSpPr>
        <p:spPr>
          <a:xfrm>
            <a:off x="5143500" y="2984500"/>
            <a:ext cx="1841500" cy="254000"/>
          </a:xfrm>
          <a:prstGeom prst="rect">
            <a:avLst/>
          </a:prstGeom>
          <a:solidFill>
            <a:schemeClr val="bg2"/>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a:solidFill>
                  <a:schemeClr val="tx1"/>
                </a:solidFill>
                <a:latin typeface="Courier New" pitchFamily="49" charset="0"/>
                <a:cs typeface="Courier New" pitchFamily="49" charset="0"/>
              </a:rPr>
              <a:t>call  HANDLE_STI</a:t>
            </a:r>
          </a:p>
        </p:txBody>
      </p:sp>
      <p:cxnSp>
        <p:nvCxnSpPr>
          <p:cNvPr id="47" name="Straight Connector 46"/>
          <p:cNvCxnSpPr/>
          <p:nvPr/>
        </p:nvCxnSpPr>
        <p:spPr>
          <a:xfrm rot="5400000">
            <a:off x="4033573" y="2571750"/>
            <a:ext cx="2221177" cy="13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5400000">
            <a:off x="5874412" y="2571089"/>
            <a:ext cx="2222500" cy="13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Rectangle 51"/>
          <p:cNvSpPr/>
          <p:nvPr/>
        </p:nvSpPr>
        <p:spPr>
          <a:xfrm>
            <a:off x="5143500" y="3238500"/>
            <a:ext cx="1841500" cy="254000"/>
          </a:xfrm>
          <a:prstGeom prst="rect">
            <a:avLst/>
          </a:prstGeom>
          <a:solidFill>
            <a:schemeClr val="bg2"/>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err="1">
                <a:solidFill>
                  <a:schemeClr val="tx1"/>
                </a:solidFill>
                <a:latin typeface="Courier New" pitchFamily="49" charset="0"/>
                <a:cs typeface="Courier New" pitchFamily="49" charset="0"/>
              </a:rPr>
              <a:t>jmp</a:t>
            </a:r>
            <a:r>
              <a:rPr lang="en-US" sz="1167" b="1" dirty="0">
                <a:solidFill>
                  <a:schemeClr val="tx1"/>
                </a:solidFill>
                <a:latin typeface="Courier New" pitchFamily="49" charset="0"/>
                <a:cs typeface="Courier New" pitchFamily="49" charset="0"/>
              </a:rPr>
              <a:t>   HANDLE_RET</a:t>
            </a:r>
          </a:p>
        </p:txBody>
      </p:sp>
      <p:sp>
        <p:nvSpPr>
          <p:cNvPr id="78" name="Rectangle 77"/>
          <p:cNvSpPr/>
          <p:nvPr/>
        </p:nvSpPr>
        <p:spPr>
          <a:xfrm>
            <a:off x="7239000" y="1714500"/>
            <a:ext cx="571500" cy="254000"/>
          </a:xfrm>
          <a:prstGeom prst="rect">
            <a:avLst/>
          </a:prstGeom>
          <a:solidFill>
            <a:srgbClr val="C00000"/>
          </a:solidFill>
          <a:ln w="9525">
            <a:no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lgn="ctr">
              <a:defRPr/>
            </a:pPr>
            <a:r>
              <a:rPr lang="en-US" sz="1333" b="1" dirty="0">
                <a:solidFill>
                  <a:schemeClr val="bg1"/>
                </a:solidFill>
              </a:rPr>
              <a:t>start</a:t>
            </a:r>
          </a:p>
        </p:txBody>
      </p:sp>
      <p:sp>
        <p:nvSpPr>
          <p:cNvPr id="35875" name="TextBox 107"/>
          <p:cNvSpPr txBox="1">
            <a:spLocks noChangeArrowheads="1"/>
          </p:cNvSpPr>
          <p:nvPr/>
        </p:nvSpPr>
        <p:spPr bwMode="auto">
          <a:xfrm>
            <a:off x="2404620" y="1079501"/>
            <a:ext cx="1096262" cy="323165"/>
          </a:xfrm>
          <a:prstGeom prst="rect">
            <a:avLst/>
          </a:prstGeom>
          <a:noFill/>
          <a:ln w="9525">
            <a:noFill/>
            <a:miter lim="800000"/>
            <a:headEnd/>
            <a:tailEnd/>
          </a:ln>
        </p:spPr>
        <p:txBody>
          <a:bodyPr wrap="none">
            <a:spAutoFit/>
          </a:bodyPr>
          <a:lstStyle/>
          <a:p>
            <a:pPr algn="ctr"/>
            <a:r>
              <a:rPr lang="en-US" altLang="zh-TW" sz="1500" b="1"/>
              <a:t>Guest Code</a:t>
            </a:r>
          </a:p>
        </p:txBody>
      </p:sp>
      <p:sp>
        <p:nvSpPr>
          <p:cNvPr id="35876" name="TextBox 109"/>
          <p:cNvSpPr txBox="1">
            <a:spLocks noChangeArrowheads="1"/>
          </p:cNvSpPr>
          <p:nvPr/>
        </p:nvSpPr>
        <p:spPr bwMode="auto">
          <a:xfrm>
            <a:off x="5270379" y="1079501"/>
            <a:ext cx="1587742" cy="323165"/>
          </a:xfrm>
          <a:prstGeom prst="rect">
            <a:avLst/>
          </a:prstGeom>
          <a:noFill/>
          <a:ln w="9525">
            <a:noFill/>
            <a:miter lim="800000"/>
            <a:headEnd/>
            <a:tailEnd/>
          </a:ln>
        </p:spPr>
        <p:txBody>
          <a:bodyPr wrap="none">
            <a:spAutoFit/>
          </a:bodyPr>
          <a:lstStyle/>
          <a:p>
            <a:pPr algn="ctr"/>
            <a:r>
              <a:rPr lang="en-US" altLang="zh-TW" sz="1500" b="1"/>
              <a:t>Translation Cache</a:t>
            </a:r>
          </a:p>
        </p:txBody>
      </p:sp>
      <p:sp>
        <p:nvSpPr>
          <p:cNvPr id="121" name="Right Arrow 120"/>
          <p:cNvSpPr/>
          <p:nvPr/>
        </p:nvSpPr>
        <p:spPr>
          <a:xfrm>
            <a:off x="6985000" y="3302000"/>
            <a:ext cx="317500" cy="127000"/>
          </a:xfrm>
          <a:prstGeom prst="rightArrow">
            <a:avLst/>
          </a:prstGeom>
          <a:solidFill>
            <a:srgbClr val="C00000"/>
          </a:solidFill>
          <a:ln w="6350">
            <a:no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lgn="ctr"/>
            <a:endParaRPr lang="en-US" altLang="zh-TW" sz="1333" b="1">
              <a:solidFill>
                <a:schemeClr val="tx1"/>
              </a:solidFill>
            </a:endParaRPr>
          </a:p>
        </p:txBody>
      </p:sp>
      <p:sp>
        <p:nvSpPr>
          <p:cNvPr id="126" name="Left-Right Arrow 125"/>
          <p:cNvSpPr/>
          <p:nvPr/>
        </p:nvSpPr>
        <p:spPr>
          <a:xfrm>
            <a:off x="6985000" y="3048000"/>
            <a:ext cx="317500" cy="127000"/>
          </a:xfrm>
          <a:prstGeom prst="leftRightArrow">
            <a:avLst/>
          </a:prstGeom>
          <a:solidFill>
            <a:srgbClr val="C00000"/>
          </a:solidFill>
          <a:ln w="9525">
            <a:no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lgn="ctr"/>
            <a:endParaRPr lang="en-US" altLang="zh-TW" sz="1333" b="1">
              <a:solidFill>
                <a:schemeClr val="tx1"/>
              </a:solidFill>
            </a:endParaRPr>
          </a:p>
        </p:txBody>
      </p:sp>
      <p:sp>
        <p:nvSpPr>
          <p:cNvPr id="127" name="Left-Right Arrow 126"/>
          <p:cNvSpPr/>
          <p:nvPr/>
        </p:nvSpPr>
        <p:spPr>
          <a:xfrm>
            <a:off x="6985000" y="2794000"/>
            <a:ext cx="317500" cy="127000"/>
          </a:xfrm>
          <a:prstGeom prst="leftRightArrow">
            <a:avLst/>
          </a:prstGeom>
          <a:solidFill>
            <a:srgbClr val="C00000"/>
          </a:solidFill>
          <a:ln w="9525">
            <a:no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lgn="ctr"/>
            <a:endParaRPr lang="en-US" altLang="zh-TW" sz="1333" b="1">
              <a:solidFill>
                <a:schemeClr val="tx1"/>
              </a:solidFill>
            </a:endParaRPr>
          </a:p>
        </p:txBody>
      </p:sp>
      <p:sp>
        <p:nvSpPr>
          <p:cNvPr id="128" name="Right Arrow 127"/>
          <p:cNvSpPr/>
          <p:nvPr/>
        </p:nvSpPr>
        <p:spPr>
          <a:xfrm flipH="1">
            <a:off x="6966480" y="1778000"/>
            <a:ext cx="336021" cy="127000"/>
          </a:xfrm>
          <a:prstGeom prst="rightArrow">
            <a:avLst/>
          </a:prstGeom>
          <a:solidFill>
            <a:srgbClr val="C00000"/>
          </a:solidFill>
          <a:ln w="6350">
            <a:no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lgn="ctr"/>
            <a:endParaRPr lang="en-US" altLang="zh-TW" sz="1333" b="1">
              <a:solidFill>
                <a:schemeClr val="tx1"/>
              </a:solidFill>
            </a:endParaRPr>
          </a:p>
        </p:txBody>
      </p:sp>
    </p:spTree>
    <p:extLst>
      <p:ext uri="{BB962C8B-B14F-4D97-AF65-F5344CB8AC3E}">
        <p14:creationId xmlns:p14="http://schemas.microsoft.com/office/powerpoint/2010/main" val="1630409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1" name="Straight Arrow Connector 60"/>
          <p:cNvCxnSpPr>
            <a:stCxn id="33" idx="3"/>
            <a:endCxn id="21" idx="1"/>
          </p:cNvCxnSpPr>
          <p:nvPr/>
        </p:nvCxnSpPr>
        <p:spPr>
          <a:xfrm>
            <a:off x="3873500" y="2095500"/>
            <a:ext cx="1143000" cy="1323"/>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35" idx="3"/>
            <a:endCxn id="22" idx="1"/>
          </p:cNvCxnSpPr>
          <p:nvPr/>
        </p:nvCxnSpPr>
        <p:spPr>
          <a:xfrm>
            <a:off x="3873500" y="2603500"/>
            <a:ext cx="1143000" cy="127000"/>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36" idx="3"/>
            <a:endCxn id="23" idx="1"/>
          </p:cNvCxnSpPr>
          <p:nvPr/>
        </p:nvCxnSpPr>
        <p:spPr>
          <a:xfrm>
            <a:off x="3873500" y="2857500"/>
            <a:ext cx="1143000" cy="635000"/>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37" idx="3"/>
            <a:endCxn id="24" idx="1"/>
          </p:cNvCxnSpPr>
          <p:nvPr/>
        </p:nvCxnSpPr>
        <p:spPr>
          <a:xfrm>
            <a:off x="3873500" y="3111500"/>
            <a:ext cx="1143000" cy="1016000"/>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a:stCxn id="32" idx="3"/>
            <a:endCxn id="96" idx="1"/>
          </p:cNvCxnSpPr>
          <p:nvPr/>
        </p:nvCxnSpPr>
        <p:spPr>
          <a:xfrm>
            <a:off x="3873500" y="1841500"/>
            <a:ext cx="1143000" cy="1323"/>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Left Brace 20"/>
          <p:cNvSpPr/>
          <p:nvPr/>
        </p:nvSpPr>
        <p:spPr>
          <a:xfrm>
            <a:off x="5016500" y="2032000"/>
            <a:ext cx="63500" cy="1270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00"/>
          </a:p>
        </p:txBody>
      </p:sp>
      <p:sp>
        <p:nvSpPr>
          <p:cNvPr id="22" name="Left Brace 21"/>
          <p:cNvSpPr/>
          <p:nvPr/>
        </p:nvSpPr>
        <p:spPr>
          <a:xfrm>
            <a:off x="5016500" y="2540000"/>
            <a:ext cx="63500" cy="3810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00"/>
          </a:p>
        </p:txBody>
      </p:sp>
      <p:sp>
        <p:nvSpPr>
          <p:cNvPr id="23" name="Left Brace 22"/>
          <p:cNvSpPr/>
          <p:nvPr/>
        </p:nvSpPr>
        <p:spPr>
          <a:xfrm>
            <a:off x="5016500" y="3048000"/>
            <a:ext cx="63500" cy="8890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00"/>
          </a:p>
        </p:txBody>
      </p:sp>
      <p:sp>
        <p:nvSpPr>
          <p:cNvPr id="24" name="Left Brace 23"/>
          <p:cNvSpPr/>
          <p:nvPr/>
        </p:nvSpPr>
        <p:spPr>
          <a:xfrm>
            <a:off x="5016500" y="4064000"/>
            <a:ext cx="63500" cy="1270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00"/>
          </a:p>
        </p:txBody>
      </p:sp>
      <p:sp>
        <p:nvSpPr>
          <p:cNvPr id="96" name="Left Brace 95"/>
          <p:cNvSpPr/>
          <p:nvPr/>
        </p:nvSpPr>
        <p:spPr>
          <a:xfrm>
            <a:off x="5016500" y="1778000"/>
            <a:ext cx="63500" cy="1270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00"/>
          </a:p>
        </p:txBody>
      </p:sp>
      <p:sp>
        <p:nvSpPr>
          <p:cNvPr id="97" name="Left Brace 96"/>
          <p:cNvSpPr/>
          <p:nvPr/>
        </p:nvSpPr>
        <p:spPr>
          <a:xfrm>
            <a:off x="5016500" y="2286000"/>
            <a:ext cx="63500" cy="1270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00"/>
          </a:p>
        </p:txBody>
      </p:sp>
      <p:cxnSp>
        <p:nvCxnSpPr>
          <p:cNvPr id="98" name="Straight Arrow Connector 97"/>
          <p:cNvCxnSpPr>
            <a:stCxn id="34" idx="3"/>
            <a:endCxn id="97" idx="1"/>
          </p:cNvCxnSpPr>
          <p:nvPr/>
        </p:nvCxnSpPr>
        <p:spPr>
          <a:xfrm>
            <a:off x="3873500" y="2349500"/>
            <a:ext cx="1143000" cy="1323"/>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kumimoji="1" lang="zh-CN" altLang="en-US" dirty="0"/>
              <a:t>二进制翻译举例</a:t>
            </a:r>
            <a:endParaRPr lang="en-US" dirty="0"/>
          </a:p>
        </p:txBody>
      </p:sp>
      <p:cxnSp>
        <p:nvCxnSpPr>
          <p:cNvPr id="7" name="Straight Arrow Connector 6"/>
          <p:cNvCxnSpPr>
            <a:stCxn id="14" idx="3"/>
            <a:endCxn id="32" idx="1"/>
          </p:cNvCxnSpPr>
          <p:nvPr/>
        </p:nvCxnSpPr>
        <p:spPr>
          <a:xfrm>
            <a:off x="1841500" y="1841500"/>
            <a:ext cx="190500" cy="132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1270000" y="1714500"/>
            <a:ext cx="571500" cy="254000"/>
          </a:xfrm>
          <a:prstGeom prst="rect">
            <a:avLst/>
          </a:prstGeom>
          <a:solidFill>
            <a:schemeClr val="tx1"/>
          </a:solidFill>
          <a:ln w="9525">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ctr"/>
            <a:r>
              <a:rPr lang="en-US" sz="1333" b="1" dirty="0" err="1">
                <a:solidFill>
                  <a:schemeClr val="bg1"/>
                </a:solidFill>
              </a:rPr>
              <a:t>vPC</a:t>
            </a:r>
            <a:endParaRPr lang="en-US" sz="1333" b="1" dirty="0">
              <a:solidFill>
                <a:schemeClr val="bg1"/>
              </a:solidFill>
            </a:endParaRPr>
          </a:p>
        </p:txBody>
      </p:sp>
      <p:sp>
        <p:nvSpPr>
          <p:cNvPr id="32" name="Rectangle 31"/>
          <p:cNvSpPr/>
          <p:nvPr/>
        </p:nvSpPr>
        <p:spPr>
          <a:xfrm>
            <a:off x="2032000" y="1714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err="1">
                <a:solidFill>
                  <a:schemeClr val="tx1"/>
                </a:solidFill>
                <a:latin typeface="Courier New" pitchFamily="49" charset="0"/>
                <a:cs typeface="Courier New" pitchFamily="49" charset="0"/>
              </a:rPr>
              <a:t>mov</a:t>
            </a:r>
            <a:r>
              <a:rPr lang="en-US" sz="1167" b="1" dirty="0">
                <a:solidFill>
                  <a:schemeClr val="tx1"/>
                </a:solidFill>
                <a:latin typeface="Courier New" pitchFamily="49" charset="0"/>
                <a:cs typeface="Courier New" pitchFamily="49" charset="0"/>
              </a:rPr>
              <a:t>   </a:t>
            </a:r>
            <a:r>
              <a:rPr lang="en-US" sz="1167" b="1" dirty="0" err="1">
                <a:solidFill>
                  <a:schemeClr val="tx1"/>
                </a:solidFill>
                <a:latin typeface="Courier New" pitchFamily="49" charset="0"/>
                <a:cs typeface="Courier New" pitchFamily="49" charset="0"/>
              </a:rPr>
              <a:t>ebx</a:t>
            </a:r>
            <a:r>
              <a:rPr lang="en-US" sz="1167" b="1" dirty="0">
                <a:solidFill>
                  <a:schemeClr val="tx1"/>
                </a:solidFill>
                <a:latin typeface="Courier New" pitchFamily="49" charset="0"/>
                <a:cs typeface="Courier New" pitchFamily="49" charset="0"/>
              </a:rPr>
              <a:t>, </a:t>
            </a:r>
            <a:r>
              <a:rPr lang="en-US" sz="1167" b="1" dirty="0" err="1">
                <a:solidFill>
                  <a:schemeClr val="tx1"/>
                </a:solidFill>
                <a:latin typeface="Courier New" pitchFamily="49" charset="0"/>
                <a:cs typeface="Courier New" pitchFamily="49" charset="0"/>
              </a:rPr>
              <a:t>eax</a:t>
            </a:r>
            <a:endParaRPr lang="en-US" sz="1167" b="1" dirty="0">
              <a:solidFill>
                <a:schemeClr val="tx1"/>
              </a:solidFill>
              <a:latin typeface="Courier New" pitchFamily="49" charset="0"/>
              <a:cs typeface="Courier New" pitchFamily="49" charset="0"/>
            </a:endParaRPr>
          </a:p>
        </p:txBody>
      </p:sp>
      <p:sp>
        <p:nvSpPr>
          <p:cNvPr id="33" name="Rectangle 32"/>
          <p:cNvSpPr/>
          <p:nvPr/>
        </p:nvSpPr>
        <p:spPr>
          <a:xfrm>
            <a:off x="2032000" y="1968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err="1">
                <a:solidFill>
                  <a:schemeClr val="tx1"/>
                </a:solidFill>
                <a:latin typeface="Courier New" pitchFamily="49" charset="0"/>
                <a:cs typeface="Courier New" pitchFamily="49" charset="0"/>
              </a:rPr>
              <a:t>cli</a:t>
            </a:r>
            <a:endParaRPr lang="en-US" sz="1167" b="1" dirty="0">
              <a:solidFill>
                <a:schemeClr val="tx1"/>
              </a:solidFill>
              <a:latin typeface="Courier New" pitchFamily="49" charset="0"/>
              <a:cs typeface="Courier New" pitchFamily="49" charset="0"/>
            </a:endParaRPr>
          </a:p>
        </p:txBody>
      </p:sp>
      <p:sp>
        <p:nvSpPr>
          <p:cNvPr id="34" name="Rectangle 33"/>
          <p:cNvSpPr/>
          <p:nvPr/>
        </p:nvSpPr>
        <p:spPr>
          <a:xfrm>
            <a:off x="2032000" y="2222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a:solidFill>
                  <a:schemeClr val="tx1"/>
                </a:solidFill>
                <a:latin typeface="Courier New" pitchFamily="49" charset="0"/>
                <a:cs typeface="Courier New" pitchFamily="49" charset="0"/>
              </a:rPr>
              <a:t>and   </a:t>
            </a:r>
            <a:r>
              <a:rPr lang="en-US" sz="1167" b="1" dirty="0" err="1">
                <a:solidFill>
                  <a:schemeClr val="tx1"/>
                </a:solidFill>
                <a:latin typeface="Courier New" pitchFamily="49" charset="0"/>
                <a:cs typeface="Courier New" pitchFamily="49" charset="0"/>
              </a:rPr>
              <a:t>ebx</a:t>
            </a:r>
            <a:r>
              <a:rPr lang="en-US" sz="1167" b="1" dirty="0">
                <a:solidFill>
                  <a:schemeClr val="tx1"/>
                </a:solidFill>
                <a:latin typeface="Courier New" pitchFamily="49" charset="0"/>
                <a:cs typeface="Courier New" pitchFamily="49" charset="0"/>
              </a:rPr>
              <a:t>, ~0xfff</a:t>
            </a:r>
          </a:p>
        </p:txBody>
      </p:sp>
      <p:sp>
        <p:nvSpPr>
          <p:cNvPr id="35" name="Rectangle 34"/>
          <p:cNvSpPr/>
          <p:nvPr/>
        </p:nvSpPr>
        <p:spPr>
          <a:xfrm>
            <a:off x="2032000" y="2476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err="1">
                <a:solidFill>
                  <a:schemeClr val="tx1"/>
                </a:solidFill>
                <a:latin typeface="Courier New" pitchFamily="49" charset="0"/>
                <a:cs typeface="Courier New" pitchFamily="49" charset="0"/>
              </a:rPr>
              <a:t>mov</a:t>
            </a:r>
            <a:r>
              <a:rPr lang="en-US" sz="1167" b="1" dirty="0">
                <a:solidFill>
                  <a:schemeClr val="tx1"/>
                </a:solidFill>
                <a:latin typeface="Courier New" pitchFamily="49" charset="0"/>
                <a:cs typeface="Courier New" pitchFamily="49" charset="0"/>
              </a:rPr>
              <a:t>   </a:t>
            </a:r>
            <a:r>
              <a:rPr lang="en-US" sz="1167" b="1" dirty="0" err="1">
                <a:solidFill>
                  <a:schemeClr val="tx1"/>
                </a:solidFill>
                <a:latin typeface="Courier New" pitchFamily="49" charset="0"/>
                <a:cs typeface="Courier New" pitchFamily="49" charset="0"/>
              </a:rPr>
              <a:t>ebx</a:t>
            </a:r>
            <a:r>
              <a:rPr lang="en-US" sz="1167" b="1" dirty="0">
                <a:solidFill>
                  <a:schemeClr val="tx1"/>
                </a:solidFill>
                <a:latin typeface="Courier New" pitchFamily="49" charset="0"/>
                <a:cs typeface="Courier New" pitchFamily="49" charset="0"/>
              </a:rPr>
              <a:t>, cr3</a:t>
            </a:r>
          </a:p>
        </p:txBody>
      </p:sp>
      <p:sp>
        <p:nvSpPr>
          <p:cNvPr id="36" name="Rectangle 35"/>
          <p:cNvSpPr/>
          <p:nvPr/>
        </p:nvSpPr>
        <p:spPr>
          <a:xfrm>
            <a:off x="2032000" y="2730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err="1">
                <a:solidFill>
                  <a:schemeClr val="tx1"/>
                </a:solidFill>
                <a:latin typeface="Courier New" pitchFamily="49" charset="0"/>
                <a:cs typeface="Courier New" pitchFamily="49" charset="0"/>
              </a:rPr>
              <a:t>sti</a:t>
            </a:r>
            <a:endParaRPr lang="en-US" sz="1167" b="1" dirty="0">
              <a:solidFill>
                <a:schemeClr val="tx1"/>
              </a:solidFill>
              <a:latin typeface="Courier New" pitchFamily="49" charset="0"/>
              <a:cs typeface="Courier New" pitchFamily="49" charset="0"/>
            </a:endParaRPr>
          </a:p>
        </p:txBody>
      </p:sp>
      <p:sp>
        <p:nvSpPr>
          <p:cNvPr id="37" name="Rectangle 36"/>
          <p:cNvSpPr/>
          <p:nvPr/>
        </p:nvSpPr>
        <p:spPr>
          <a:xfrm>
            <a:off x="2032000" y="2984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a:solidFill>
                  <a:schemeClr val="tx1"/>
                </a:solidFill>
                <a:latin typeface="Courier New" pitchFamily="49" charset="0"/>
                <a:cs typeface="Courier New" pitchFamily="49" charset="0"/>
              </a:rPr>
              <a:t>ret</a:t>
            </a:r>
          </a:p>
        </p:txBody>
      </p:sp>
      <p:cxnSp>
        <p:nvCxnSpPr>
          <p:cNvPr id="39" name="Straight Connector 38"/>
          <p:cNvCxnSpPr/>
          <p:nvPr/>
        </p:nvCxnSpPr>
        <p:spPr>
          <a:xfrm rot="5400000">
            <a:off x="1016000" y="2476500"/>
            <a:ext cx="2032000" cy="13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5400000">
            <a:off x="2858162" y="2475839"/>
            <a:ext cx="2032000" cy="13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Rectangle 40"/>
          <p:cNvSpPr/>
          <p:nvPr/>
        </p:nvSpPr>
        <p:spPr>
          <a:xfrm>
            <a:off x="5143500" y="1714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err="1">
                <a:solidFill>
                  <a:schemeClr val="tx1"/>
                </a:solidFill>
                <a:latin typeface="Courier New" pitchFamily="49" charset="0"/>
                <a:cs typeface="Courier New" pitchFamily="49" charset="0"/>
              </a:rPr>
              <a:t>mov</a:t>
            </a:r>
            <a:r>
              <a:rPr lang="en-US" sz="1167" b="1" dirty="0">
                <a:solidFill>
                  <a:schemeClr val="tx1"/>
                </a:solidFill>
                <a:latin typeface="Courier New" pitchFamily="49" charset="0"/>
                <a:cs typeface="Courier New" pitchFamily="49" charset="0"/>
              </a:rPr>
              <a:t>   </a:t>
            </a:r>
            <a:r>
              <a:rPr lang="en-US" sz="1167" b="1" dirty="0" err="1">
                <a:solidFill>
                  <a:schemeClr val="tx1"/>
                </a:solidFill>
                <a:latin typeface="Courier New" pitchFamily="49" charset="0"/>
                <a:cs typeface="Courier New" pitchFamily="49" charset="0"/>
              </a:rPr>
              <a:t>ebx</a:t>
            </a:r>
            <a:r>
              <a:rPr lang="en-US" sz="1167" b="1" dirty="0">
                <a:solidFill>
                  <a:schemeClr val="tx1"/>
                </a:solidFill>
                <a:latin typeface="Courier New" pitchFamily="49" charset="0"/>
                <a:cs typeface="Courier New" pitchFamily="49" charset="0"/>
              </a:rPr>
              <a:t>, </a:t>
            </a:r>
            <a:r>
              <a:rPr lang="en-US" sz="1167" b="1" dirty="0" err="1">
                <a:solidFill>
                  <a:schemeClr val="tx1"/>
                </a:solidFill>
                <a:latin typeface="Courier New" pitchFamily="49" charset="0"/>
                <a:cs typeface="Courier New" pitchFamily="49" charset="0"/>
              </a:rPr>
              <a:t>eax</a:t>
            </a:r>
            <a:endParaRPr lang="en-US" sz="1167" b="1" dirty="0">
              <a:solidFill>
                <a:schemeClr val="tx1"/>
              </a:solidFill>
              <a:latin typeface="Courier New" pitchFamily="49" charset="0"/>
              <a:cs typeface="Courier New" pitchFamily="49" charset="0"/>
            </a:endParaRPr>
          </a:p>
        </p:txBody>
      </p:sp>
      <p:sp>
        <p:nvSpPr>
          <p:cNvPr id="42" name="Rectangle 41"/>
          <p:cNvSpPr/>
          <p:nvPr/>
        </p:nvSpPr>
        <p:spPr>
          <a:xfrm>
            <a:off x="5143500" y="1968500"/>
            <a:ext cx="1841500" cy="254000"/>
          </a:xfrm>
          <a:prstGeom prst="rect">
            <a:avLst/>
          </a:prstGeom>
          <a:solidFill>
            <a:schemeClr val="bg2"/>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err="1">
                <a:solidFill>
                  <a:schemeClr val="tx1"/>
                </a:solidFill>
                <a:latin typeface="Courier New" pitchFamily="49" charset="0"/>
                <a:cs typeface="Courier New" pitchFamily="49" charset="0"/>
              </a:rPr>
              <a:t>mov</a:t>
            </a:r>
            <a:r>
              <a:rPr lang="en-US" sz="1167" b="1" dirty="0">
                <a:solidFill>
                  <a:schemeClr val="tx1"/>
                </a:solidFill>
                <a:latin typeface="Courier New" pitchFamily="49" charset="0"/>
                <a:cs typeface="Courier New" pitchFamily="49" charset="0"/>
              </a:rPr>
              <a:t>   [CPU_IE], 0</a:t>
            </a:r>
          </a:p>
        </p:txBody>
      </p:sp>
      <p:sp>
        <p:nvSpPr>
          <p:cNvPr id="43" name="Rectangle 42"/>
          <p:cNvSpPr/>
          <p:nvPr/>
        </p:nvSpPr>
        <p:spPr>
          <a:xfrm>
            <a:off x="5143500" y="2222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a:solidFill>
                  <a:schemeClr val="tx1"/>
                </a:solidFill>
                <a:latin typeface="Courier New" pitchFamily="49" charset="0"/>
                <a:cs typeface="Courier New" pitchFamily="49" charset="0"/>
              </a:rPr>
              <a:t>and   </a:t>
            </a:r>
            <a:r>
              <a:rPr lang="en-US" sz="1167" b="1" dirty="0" err="1">
                <a:solidFill>
                  <a:schemeClr val="tx1"/>
                </a:solidFill>
                <a:latin typeface="Courier New" pitchFamily="49" charset="0"/>
                <a:cs typeface="Courier New" pitchFamily="49" charset="0"/>
              </a:rPr>
              <a:t>ebx</a:t>
            </a:r>
            <a:r>
              <a:rPr lang="en-US" sz="1167" b="1" dirty="0">
                <a:solidFill>
                  <a:schemeClr val="tx1"/>
                </a:solidFill>
                <a:latin typeface="Courier New" pitchFamily="49" charset="0"/>
                <a:cs typeface="Courier New" pitchFamily="49" charset="0"/>
              </a:rPr>
              <a:t>, ~0xfff</a:t>
            </a:r>
          </a:p>
        </p:txBody>
      </p:sp>
      <p:sp>
        <p:nvSpPr>
          <p:cNvPr id="44" name="Rectangle 43"/>
          <p:cNvSpPr/>
          <p:nvPr/>
        </p:nvSpPr>
        <p:spPr>
          <a:xfrm>
            <a:off x="5143500" y="2476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00" b="1" dirty="0" err="1">
                <a:solidFill>
                  <a:schemeClr val="tx1"/>
                </a:solidFill>
                <a:latin typeface="Courier New" pitchFamily="49" charset="0"/>
                <a:cs typeface="Courier New" pitchFamily="49" charset="0"/>
              </a:rPr>
              <a:t>mov</a:t>
            </a:r>
            <a:r>
              <a:rPr lang="en-US" sz="1100" b="1" dirty="0">
                <a:solidFill>
                  <a:schemeClr val="tx1"/>
                </a:solidFill>
                <a:latin typeface="Courier New" pitchFamily="49" charset="0"/>
                <a:cs typeface="Courier New" pitchFamily="49" charset="0"/>
              </a:rPr>
              <a:t>   [CO_ARG], </a:t>
            </a:r>
            <a:r>
              <a:rPr lang="en-US" sz="1100" b="1" dirty="0" err="1">
                <a:solidFill>
                  <a:schemeClr val="tx1"/>
                </a:solidFill>
                <a:latin typeface="Courier New" pitchFamily="49" charset="0"/>
                <a:cs typeface="Courier New" pitchFamily="49" charset="0"/>
              </a:rPr>
              <a:t>ebx</a:t>
            </a:r>
            <a:endParaRPr lang="en-US" sz="1100" b="1" dirty="0">
              <a:solidFill>
                <a:schemeClr val="tx1"/>
              </a:solidFill>
              <a:latin typeface="Courier New" pitchFamily="49" charset="0"/>
              <a:cs typeface="Courier New" pitchFamily="49" charset="0"/>
            </a:endParaRPr>
          </a:p>
        </p:txBody>
      </p:sp>
      <p:sp>
        <p:nvSpPr>
          <p:cNvPr id="45" name="Rectangle 44"/>
          <p:cNvSpPr/>
          <p:nvPr/>
        </p:nvSpPr>
        <p:spPr>
          <a:xfrm>
            <a:off x="5143500" y="2730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a:solidFill>
                  <a:schemeClr val="tx1"/>
                </a:solidFill>
                <a:latin typeface="Courier New" pitchFamily="49" charset="0"/>
                <a:cs typeface="Courier New" pitchFamily="49" charset="0"/>
              </a:rPr>
              <a:t>call  HANDLE_CR3</a:t>
            </a:r>
          </a:p>
        </p:txBody>
      </p:sp>
      <p:sp>
        <p:nvSpPr>
          <p:cNvPr id="46" name="Rectangle 45"/>
          <p:cNvSpPr/>
          <p:nvPr/>
        </p:nvSpPr>
        <p:spPr>
          <a:xfrm>
            <a:off x="5143500" y="2984500"/>
            <a:ext cx="1841500" cy="254000"/>
          </a:xfrm>
          <a:prstGeom prst="rect">
            <a:avLst/>
          </a:prstGeom>
          <a:solidFill>
            <a:schemeClr val="bg2"/>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err="1">
                <a:solidFill>
                  <a:schemeClr val="tx1"/>
                </a:solidFill>
                <a:latin typeface="Courier New" pitchFamily="49" charset="0"/>
                <a:cs typeface="Courier New" pitchFamily="49" charset="0"/>
              </a:rPr>
              <a:t>mov</a:t>
            </a:r>
            <a:r>
              <a:rPr lang="en-US" sz="1167" b="1" dirty="0">
                <a:solidFill>
                  <a:schemeClr val="tx1"/>
                </a:solidFill>
                <a:latin typeface="Courier New" pitchFamily="49" charset="0"/>
                <a:cs typeface="Courier New" pitchFamily="49" charset="0"/>
              </a:rPr>
              <a:t>   [CPU_IE], 1</a:t>
            </a:r>
          </a:p>
        </p:txBody>
      </p:sp>
      <p:cxnSp>
        <p:nvCxnSpPr>
          <p:cNvPr id="47" name="Straight Connector 46"/>
          <p:cNvCxnSpPr/>
          <p:nvPr/>
        </p:nvCxnSpPr>
        <p:spPr>
          <a:xfrm rot="5400000">
            <a:off x="3620162" y="2984500"/>
            <a:ext cx="3047338" cy="6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5400000">
            <a:off x="5461662" y="2983839"/>
            <a:ext cx="3048000" cy="13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5143500" y="3238500"/>
            <a:ext cx="1841500" cy="254000"/>
          </a:xfrm>
          <a:prstGeom prst="rect">
            <a:avLst/>
          </a:prstGeom>
          <a:solidFill>
            <a:schemeClr val="bg2"/>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a:solidFill>
                  <a:schemeClr val="tx1"/>
                </a:solidFill>
                <a:latin typeface="Courier New" pitchFamily="49" charset="0"/>
                <a:cs typeface="Courier New" pitchFamily="49" charset="0"/>
              </a:rPr>
              <a:t>test  [CPU_IRQ], 1</a:t>
            </a:r>
          </a:p>
        </p:txBody>
      </p:sp>
      <p:sp>
        <p:nvSpPr>
          <p:cNvPr id="50" name="Rectangle 49"/>
          <p:cNvSpPr/>
          <p:nvPr/>
        </p:nvSpPr>
        <p:spPr>
          <a:xfrm>
            <a:off x="5143500" y="3492500"/>
            <a:ext cx="1841500" cy="254000"/>
          </a:xfrm>
          <a:prstGeom prst="rect">
            <a:avLst/>
          </a:prstGeom>
          <a:solidFill>
            <a:schemeClr val="bg2"/>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err="1">
                <a:solidFill>
                  <a:schemeClr val="tx1"/>
                </a:solidFill>
                <a:latin typeface="Courier New" pitchFamily="49" charset="0"/>
                <a:cs typeface="Courier New" pitchFamily="49" charset="0"/>
              </a:rPr>
              <a:t>jne</a:t>
            </a:r>
            <a:endParaRPr lang="en-US" sz="1167" b="1" dirty="0">
              <a:solidFill>
                <a:schemeClr val="tx1"/>
              </a:solidFill>
              <a:latin typeface="Courier New" pitchFamily="49" charset="0"/>
              <a:cs typeface="Courier New" pitchFamily="49" charset="0"/>
            </a:endParaRPr>
          </a:p>
        </p:txBody>
      </p:sp>
      <p:sp>
        <p:nvSpPr>
          <p:cNvPr id="51" name="Rectangle 50"/>
          <p:cNvSpPr/>
          <p:nvPr/>
        </p:nvSpPr>
        <p:spPr>
          <a:xfrm>
            <a:off x="5143500" y="3746500"/>
            <a:ext cx="1841500" cy="254000"/>
          </a:xfrm>
          <a:prstGeom prst="rect">
            <a:avLst/>
          </a:prstGeom>
          <a:solidFill>
            <a:schemeClr val="bg2"/>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a:solidFill>
                  <a:schemeClr val="tx1"/>
                </a:solidFill>
                <a:latin typeface="Courier New" pitchFamily="49" charset="0"/>
                <a:cs typeface="Courier New" pitchFamily="49" charset="0"/>
              </a:rPr>
              <a:t>call  HANDLE_INTS</a:t>
            </a:r>
          </a:p>
        </p:txBody>
      </p:sp>
      <p:sp>
        <p:nvSpPr>
          <p:cNvPr id="52" name="Rectangle 51"/>
          <p:cNvSpPr/>
          <p:nvPr/>
        </p:nvSpPr>
        <p:spPr>
          <a:xfrm>
            <a:off x="5143500" y="4000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err="1">
                <a:solidFill>
                  <a:schemeClr val="tx1"/>
                </a:solidFill>
                <a:latin typeface="Courier New" pitchFamily="49" charset="0"/>
                <a:cs typeface="Courier New" pitchFamily="49" charset="0"/>
              </a:rPr>
              <a:t>jmp</a:t>
            </a:r>
            <a:r>
              <a:rPr lang="en-US" sz="1167" b="1" dirty="0">
                <a:solidFill>
                  <a:schemeClr val="tx1"/>
                </a:solidFill>
                <a:latin typeface="Courier New" pitchFamily="49" charset="0"/>
                <a:cs typeface="Courier New" pitchFamily="49" charset="0"/>
              </a:rPr>
              <a:t>   HANDLE_RET</a:t>
            </a:r>
          </a:p>
        </p:txBody>
      </p:sp>
      <p:sp>
        <p:nvSpPr>
          <p:cNvPr id="78" name="Rectangle 77"/>
          <p:cNvSpPr/>
          <p:nvPr/>
        </p:nvSpPr>
        <p:spPr>
          <a:xfrm>
            <a:off x="7239000" y="1714500"/>
            <a:ext cx="571500" cy="254000"/>
          </a:xfrm>
          <a:prstGeom prst="rect">
            <a:avLst/>
          </a:prstGeom>
          <a:solidFill>
            <a:srgbClr val="C00000"/>
          </a:solidFill>
          <a:ln w="9525">
            <a:no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ctr"/>
            <a:r>
              <a:rPr lang="en-US" sz="1333" b="1" dirty="0">
                <a:solidFill>
                  <a:schemeClr val="bg1"/>
                </a:solidFill>
              </a:rPr>
              <a:t>start</a:t>
            </a:r>
          </a:p>
        </p:txBody>
      </p:sp>
      <p:sp>
        <p:nvSpPr>
          <p:cNvPr id="108" name="TextBox 107"/>
          <p:cNvSpPr txBox="1"/>
          <p:nvPr/>
        </p:nvSpPr>
        <p:spPr>
          <a:xfrm>
            <a:off x="2404619" y="1079501"/>
            <a:ext cx="1096262" cy="323165"/>
          </a:xfrm>
          <a:prstGeom prst="rect">
            <a:avLst/>
          </a:prstGeom>
          <a:noFill/>
        </p:spPr>
        <p:txBody>
          <a:bodyPr wrap="none" rtlCol="0">
            <a:spAutoFit/>
          </a:bodyPr>
          <a:lstStyle/>
          <a:p>
            <a:pPr algn="ctr"/>
            <a:r>
              <a:rPr lang="en-US" sz="1500" b="1" dirty="0"/>
              <a:t>Guest Code</a:t>
            </a:r>
          </a:p>
        </p:txBody>
      </p:sp>
      <p:sp>
        <p:nvSpPr>
          <p:cNvPr id="110" name="TextBox 109"/>
          <p:cNvSpPr txBox="1"/>
          <p:nvPr/>
        </p:nvSpPr>
        <p:spPr>
          <a:xfrm>
            <a:off x="5270379" y="1079501"/>
            <a:ext cx="1587742" cy="323165"/>
          </a:xfrm>
          <a:prstGeom prst="rect">
            <a:avLst/>
          </a:prstGeom>
          <a:noFill/>
        </p:spPr>
        <p:txBody>
          <a:bodyPr wrap="none" rtlCol="0">
            <a:spAutoFit/>
          </a:bodyPr>
          <a:lstStyle/>
          <a:p>
            <a:pPr algn="ctr"/>
            <a:r>
              <a:rPr lang="en-US" sz="1500" b="1" dirty="0"/>
              <a:t>Translation Cache</a:t>
            </a:r>
          </a:p>
        </p:txBody>
      </p:sp>
      <p:sp>
        <p:nvSpPr>
          <p:cNvPr id="121" name="Right Arrow 120"/>
          <p:cNvSpPr/>
          <p:nvPr/>
        </p:nvSpPr>
        <p:spPr>
          <a:xfrm>
            <a:off x="6985000" y="4064000"/>
            <a:ext cx="317500" cy="127000"/>
          </a:xfrm>
          <a:prstGeom prst="rightArrow">
            <a:avLst/>
          </a:prstGeom>
          <a:solidFill>
            <a:srgbClr val="C00000"/>
          </a:solidFill>
          <a:ln w="6350">
            <a:no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ctr"/>
            <a:endParaRPr lang="en-US" sz="1333" b="1">
              <a:solidFill>
                <a:schemeClr val="tx1"/>
              </a:solidFill>
            </a:endParaRPr>
          </a:p>
        </p:txBody>
      </p:sp>
      <p:sp>
        <p:nvSpPr>
          <p:cNvPr id="126" name="Left-Right Arrow 125"/>
          <p:cNvSpPr/>
          <p:nvPr/>
        </p:nvSpPr>
        <p:spPr>
          <a:xfrm>
            <a:off x="6985000" y="3810000"/>
            <a:ext cx="317500" cy="127000"/>
          </a:xfrm>
          <a:prstGeom prst="leftRightArrow">
            <a:avLst/>
          </a:prstGeom>
          <a:solidFill>
            <a:srgbClr val="C00000"/>
          </a:solidFill>
          <a:ln w="9525">
            <a:no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ctr"/>
            <a:endParaRPr lang="en-US" sz="1333" b="1">
              <a:solidFill>
                <a:schemeClr val="tx1"/>
              </a:solidFill>
            </a:endParaRPr>
          </a:p>
        </p:txBody>
      </p:sp>
      <p:sp>
        <p:nvSpPr>
          <p:cNvPr id="127" name="Left-Right Arrow 126"/>
          <p:cNvSpPr/>
          <p:nvPr/>
        </p:nvSpPr>
        <p:spPr>
          <a:xfrm>
            <a:off x="6985000" y="2794000"/>
            <a:ext cx="317500" cy="127000"/>
          </a:xfrm>
          <a:prstGeom prst="leftRightArrow">
            <a:avLst/>
          </a:prstGeom>
          <a:solidFill>
            <a:srgbClr val="C00000"/>
          </a:solidFill>
          <a:ln w="9525">
            <a:no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ctr"/>
            <a:endParaRPr lang="en-US" sz="1333" b="1">
              <a:solidFill>
                <a:schemeClr val="tx1"/>
              </a:solidFill>
            </a:endParaRPr>
          </a:p>
        </p:txBody>
      </p:sp>
      <p:cxnSp>
        <p:nvCxnSpPr>
          <p:cNvPr id="133" name="Elbow Connector 132"/>
          <p:cNvCxnSpPr/>
          <p:nvPr/>
        </p:nvCxnSpPr>
        <p:spPr>
          <a:xfrm>
            <a:off x="5778500" y="3619500"/>
            <a:ext cx="1016000" cy="381000"/>
          </a:xfrm>
          <a:prstGeom prst="bentConnector3">
            <a:avLst>
              <a:gd name="adj1" fmla="val 100000"/>
            </a:avLst>
          </a:prstGeom>
          <a:ln w="19050">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sp>
        <p:nvSpPr>
          <p:cNvPr id="128" name="Right Arrow 127"/>
          <p:cNvSpPr/>
          <p:nvPr/>
        </p:nvSpPr>
        <p:spPr>
          <a:xfrm flipH="1">
            <a:off x="6966856" y="1778000"/>
            <a:ext cx="335643" cy="127000"/>
          </a:xfrm>
          <a:prstGeom prst="rightArrow">
            <a:avLst/>
          </a:prstGeom>
          <a:solidFill>
            <a:srgbClr val="C00000"/>
          </a:solidFill>
          <a:ln w="6350">
            <a:no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ctr"/>
            <a:endParaRPr lang="en-US" sz="1333" b="1">
              <a:solidFill>
                <a:schemeClr val="tx1"/>
              </a:solidFill>
            </a:endParaRPr>
          </a:p>
        </p:txBody>
      </p:sp>
    </p:spTree>
    <p:extLst>
      <p:ext uri="{BB962C8B-B14F-4D97-AF65-F5344CB8AC3E}">
        <p14:creationId xmlns:p14="http://schemas.microsoft.com/office/powerpoint/2010/main" val="7054302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zh-CN" altLang="en-US" dirty="0"/>
              <a:t>二进制翻译的翻译器（</a:t>
            </a:r>
            <a:r>
              <a:rPr kumimoji="1" lang="en-US" altLang="zh-CN" dirty="0"/>
              <a:t>Translator</a:t>
            </a:r>
            <a:r>
              <a:rPr kumimoji="1" lang="zh-CN" altLang="en-US" dirty="0"/>
              <a:t>）</a:t>
            </a:r>
            <a:r>
              <a:rPr kumimoji="1" lang="en-US" altLang="zh-CN" dirty="0"/>
              <a:t>-1</a:t>
            </a:r>
            <a:endParaRPr lang="en-US" dirty="0"/>
          </a:p>
        </p:txBody>
      </p:sp>
      <p:sp>
        <p:nvSpPr>
          <p:cNvPr id="5" name="TextBox 4"/>
          <p:cNvSpPr txBox="1"/>
          <p:nvPr/>
        </p:nvSpPr>
        <p:spPr>
          <a:xfrm>
            <a:off x="539552" y="1132785"/>
            <a:ext cx="8147248" cy="5109091"/>
          </a:xfrm>
          <a:prstGeom prst="rect">
            <a:avLst/>
          </a:prstGeom>
          <a:noFill/>
          <a:ln>
            <a:noFill/>
          </a:ln>
        </p:spPr>
        <p:txBody>
          <a:bodyPr wrap="square" lIns="152400" tIns="152400" rIns="152400" bIns="152400" numCol="2" rtlCol="0">
            <a:spAutoFit/>
          </a:bodyPr>
          <a:lstStyle/>
          <a:p>
            <a:r>
              <a:rPr lang="en-US" sz="1200" dirty="0">
                <a:latin typeface="Courier New" pitchFamily="49" charset="0"/>
                <a:cs typeface="Courier New" pitchFamily="49" charset="0"/>
              </a:rPr>
              <a:t>void </a:t>
            </a:r>
            <a:r>
              <a:rPr lang="en-US" sz="1200" b="1" dirty="0" err="1">
                <a:solidFill>
                  <a:srgbClr val="00935D"/>
                </a:solidFill>
                <a:latin typeface="Courier New" pitchFamily="49" charset="0"/>
                <a:cs typeface="Courier New" pitchFamily="49" charset="0"/>
              </a:rPr>
              <a:t>BT_Run</a:t>
            </a:r>
            <a:r>
              <a:rPr lang="en-US" sz="1200" dirty="0">
                <a:latin typeface="Courier New" pitchFamily="49" charset="0"/>
                <a:cs typeface="Courier New" pitchFamily="49" charset="0"/>
              </a:rPr>
              <a:t>(void)</a:t>
            </a:r>
          </a:p>
          <a:p>
            <a:r>
              <a:rPr lang="en-US" sz="1200" dirty="0">
                <a:latin typeface="Courier New" pitchFamily="49" charset="0"/>
                <a:cs typeface="Courier New" pitchFamily="49" charset="0"/>
              </a:rPr>
              <a:t>{</a:t>
            </a:r>
          </a:p>
          <a:p>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CPUState.PC</a:t>
            </a:r>
            <a:r>
              <a:rPr lang="en-US" sz="1200" dirty="0">
                <a:latin typeface="Courier New" pitchFamily="49" charset="0"/>
                <a:cs typeface="Courier New" pitchFamily="49" charset="0"/>
              </a:rPr>
              <a:t> = _start;</a:t>
            </a:r>
          </a:p>
          <a:p>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BT_Continue</a:t>
            </a:r>
            <a:r>
              <a:rPr lang="en-US" sz="1200" dirty="0">
                <a:latin typeface="Courier New" pitchFamily="49" charset="0"/>
                <a:cs typeface="Courier New" pitchFamily="49" charset="0"/>
              </a:rPr>
              <a:t>();</a:t>
            </a:r>
          </a:p>
          <a:p>
            <a:r>
              <a:rPr lang="en-US" sz="1200" dirty="0">
                <a:latin typeface="Courier New" pitchFamily="49" charset="0"/>
                <a:cs typeface="Courier New" pitchFamily="49" charset="0"/>
              </a:rPr>
              <a:t>}</a:t>
            </a:r>
          </a:p>
          <a:p>
            <a:endParaRPr lang="en-US" sz="1200" dirty="0">
              <a:latin typeface="Courier New" pitchFamily="49" charset="0"/>
              <a:cs typeface="Courier New" pitchFamily="49" charset="0"/>
            </a:endParaRPr>
          </a:p>
          <a:p>
            <a:r>
              <a:rPr lang="en-US" sz="1200" dirty="0">
                <a:latin typeface="Courier New" pitchFamily="49" charset="0"/>
                <a:cs typeface="Courier New" pitchFamily="49" charset="0"/>
              </a:rPr>
              <a:t>void </a:t>
            </a:r>
            <a:r>
              <a:rPr lang="en-US" sz="1200" b="1" dirty="0" err="1">
                <a:solidFill>
                  <a:srgbClr val="00935D"/>
                </a:solidFill>
                <a:latin typeface="Courier New" pitchFamily="49" charset="0"/>
                <a:cs typeface="Courier New" pitchFamily="49" charset="0"/>
              </a:rPr>
              <a:t>BT_Continue</a:t>
            </a:r>
            <a:r>
              <a:rPr lang="en-US" sz="1200" dirty="0">
                <a:latin typeface="Courier New" pitchFamily="49" charset="0"/>
                <a:cs typeface="Courier New" pitchFamily="49" charset="0"/>
              </a:rPr>
              <a:t>(void)</a:t>
            </a:r>
          </a:p>
          <a:p>
            <a:r>
              <a:rPr lang="en-US" sz="1200" dirty="0">
                <a:latin typeface="Courier New" pitchFamily="49" charset="0"/>
                <a:cs typeface="Courier New" pitchFamily="49" charset="0"/>
              </a:rPr>
              <a:t>{</a:t>
            </a:r>
          </a:p>
          <a:p>
            <a:r>
              <a:rPr lang="en-US" sz="1200" dirty="0">
                <a:latin typeface="Courier New" pitchFamily="49" charset="0"/>
                <a:cs typeface="Courier New" pitchFamily="49" charset="0"/>
              </a:rPr>
              <a:t>   void *</a:t>
            </a:r>
            <a:r>
              <a:rPr lang="en-US" sz="1200" dirty="0" err="1">
                <a:latin typeface="Courier New" pitchFamily="49" charset="0"/>
                <a:cs typeface="Courier New" pitchFamily="49" charset="0"/>
              </a:rPr>
              <a:t>tcpc</a:t>
            </a:r>
            <a:r>
              <a:rPr lang="en-US" sz="1200" dirty="0">
                <a:latin typeface="Courier New" pitchFamily="49" charset="0"/>
                <a:cs typeface="Courier New" pitchFamily="49" charset="0"/>
              </a:rPr>
              <a:t>;</a:t>
            </a:r>
          </a:p>
          <a:p>
            <a:endParaRPr lang="en-US" sz="1200" dirty="0">
              <a:latin typeface="Courier New" pitchFamily="49" charset="0"/>
              <a:cs typeface="Courier New" pitchFamily="49" charset="0"/>
            </a:endParaRPr>
          </a:p>
          <a:p>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tcpc</a:t>
            </a:r>
            <a:r>
              <a:rPr lang="en-US" sz="1200" dirty="0">
                <a:latin typeface="Courier New" pitchFamily="49" charset="0"/>
                <a:cs typeface="Courier New" pitchFamily="49" charset="0"/>
              </a:rPr>
              <a:t> = </a:t>
            </a:r>
            <a:r>
              <a:rPr lang="en-US" sz="1200" dirty="0" err="1">
                <a:latin typeface="Courier New" pitchFamily="49" charset="0"/>
                <a:cs typeface="Courier New" pitchFamily="49" charset="0"/>
              </a:rPr>
              <a:t>BTFindBB</a:t>
            </a:r>
            <a:r>
              <a:rPr lang="en-US" sz="1200" dirty="0">
                <a:latin typeface="Courier New" pitchFamily="49" charset="0"/>
                <a:cs typeface="Courier New" pitchFamily="49" charset="0"/>
              </a:rPr>
              <a:t>(</a:t>
            </a:r>
            <a:r>
              <a:rPr lang="en-US" sz="1200" dirty="0" err="1">
                <a:latin typeface="Courier New" pitchFamily="49" charset="0"/>
                <a:cs typeface="Courier New" pitchFamily="49" charset="0"/>
              </a:rPr>
              <a:t>CPUState.PC</a:t>
            </a:r>
            <a:r>
              <a:rPr lang="en-US" sz="1200" dirty="0">
                <a:latin typeface="Courier New" pitchFamily="49" charset="0"/>
                <a:cs typeface="Courier New" pitchFamily="49" charset="0"/>
              </a:rPr>
              <a:t>);</a:t>
            </a:r>
          </a:p>
          <a:p>
            <a:endParaRPr lang="en-US" sz="1200" dirty="0">
              <a:latin typeface="Courier New" pitchFamily="49" charset="0"/>
              <a:cs typeface="Courier New" pitchFamily="49" charset="0"/>
            </a:endParaRPr>
          </a:p>
          <a:p>
            <a:r>
              <a:rPr lang="en-US" sz="1200" dirty="0">
                <a:latin typeface="Courier New" pitchFamily="49" charset="0"/>
                <a:cs typeface="Courier New" pitchFamily="49" charset="0"/>
              </a:rPr>
              <a:t>   if (!</a:t>
            </a:r>
            <a:r>
              <a:rPr lang="en-US" sz="1200" dirty="0" err="1">
                <a:latin typeface="Courier New" pitchFamily="49" charset="0"/>
                <a:cs typeface="Courier New" pitchFamily="49" charset="0"/>
              </a:rPr>
              <a:t>tcpc</a:t>
            </a:r>
            <a:r>
              <a:rPr lang="en-US" sz="1200" dirty="0">
                <a:latin typeface="Courier New" pitchFamily="49" charset="0"/>
                <a:cs typeface="Courier New" pitchFamily="49" charset="0"/>
              </a:rPr>
              <a:t>) {</a:t>
            </a:r>
          </a:p>
          <a:p>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tcpc</a:t>
            </a:r>
            <a:r>
              <a:rPr lang="en-US" sz="1200" dirty="0">
                <a:latin typeface="Courier New" pitchFamily="49" charset="0"/>
                <a:cs typeface="Courier New" pitchFamily="49" charset="0"/>
              </a:rPr>
              <a:t> = </a:t>
            </a:r>
            <a:r>
              <a:rPr lang="en-US" sz="1200" dirty="0" err="1">
                <a:latin typeface="Courier New" pitchFamily="49" charset="0"/>
                <a:cs typeface="Courier New" pitchFamily="49" charset="0"/>
              </a:rPr>
              <a:t>BTTranslate</a:t>
            </a:r>
            <a:r>
              <a:rPr lang="en-US" sz="1200" dirty="0">
                <a:latin typeface="Courier New" pitchFamily="49" charset="0"/>
                <a:cs typeface="Courier New" pitchFamily="49" charset="0"/>
              </a:rPr>
              <a:t>(</a:t>
            </a:r>
            <a:r>
              <a:rPr lang="en-US" sz="1200" dirty="0" err="1">
                <a:latin typeface="Courier New" pitchFamily="49" charset="0"/>
                <a:cs typeface="Courier New" pitchFamily="49" charset="0"/>
              </a:rPr>
              <a:t>CPUState.PC</a:t>
            </a:r>
            <a:r>
              <a:rPr lang="en-US" sz="1200" dirty="0">
                <a:latin typeface="Courier New" pitchFamily="49" charset="0"/>
                <a:cs typeface="Courier New" pitchFamily="49" charset="0"/>
              </a:rPr>
              <a:t>);</a:t>
            </a:r>
          </a:p>
          <a:p>
            <a:r>
              <a:rPr lang="en-US" sz="1200" dirty="0">
                <a:latin typeface="Courier New" pitchFamily="49" charset="0"/>
                <a:cs typeface="Courier New" pitchFamily="49" charset="0"/>
              </a:rPr>
              <a:t>   }</a:t>
            </a:r>
          </a:p>
          <a:p>
            <a:endParaRPr lang="en-US" sz="1200" dirty="0">
              <a:latin typeface="Courier New" pitchFamily="49" charset="0"/>
              <a:cs typeface="Courier New" pitchFamily="49" charset="0"/>
            </a:endParaRPr>
          </a:p>
          <a:p>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RestoreRegsAndJump</a:t>
            </a:r>
            <a:r>
              <a:rPr lang="en-US" sz="1200" dirty="0">
                <a:latin typeface="Courier New" pitchFamily="49" charset="0"/>
                <a:cs typeface="Courier New" pitchFamily="49" charset="0"/>
              </a:rPr>
              <a:t>(</a:t>
            </a:r>
            <a:r>
              <a:rPr lang="en-US" sz="1200" dirty="0" err="1">
                <a:latin typeface="Courier New" pitchFamily="49" charset="0"/>
                <a:cs typeface="Courier New" pitchFamily="49" charset="0"/>
              </a:rPr>
              <a:t>tcpc</a:t>
            </a:r>
            <a:r>
              <a:rPr lang="en-US" sz="1200" dirty="0">
                <a:latin typeface="Courier New" pitchFamily="49" charset="0"/>
                <a:cs typeface="Courier New" pitchFamily="49" charset="0"/>
              </a:rPr>
              <a:t>);</a:t>
            </a:r>
          </a:p>
          <a:p>
            <a:r>
              <a:rPr lang="en-US" sz="1200" dirty="0">
                <a:latin typeface="Courier New" pitchFamily="49" charset="0"/>
                <a:cs typeface="Courier New" pitchFamily="49" charset="0"/>
              </a:rPr>
              <a:t>}</a:t>
            </a:r>
          </a:p>
          <a:p>
            <a:endParaRPr lang="en-US" sz="1200" dirty="0">
              <a:latin typeface="Courier New" pitchFamily="49" charset="0"/>
              <a:cs typeface="Courier New" pitchFamily="49" charset="0"/>
            </a:endParaRPr>
          </a:p>
          <a:p>
            <a:endParaRPr lang="en-US" sz="1200" dirty="0">
              <a:latin typeface="Courier New" pitchFamily="49" charset="0"/>
              <a:cs typeface="Courier New" pitchFamily="49" charset="0"/>
            </a:endParaRPr>
          </a:p>
          <a:p>
            <a:endParaRPr lang="en-US" sz="1200" dirty="0">
              <a:latin typeface="Courier New" pitchFamily="49" charset="0"/>
              <a:cs typeface="Courier New" pitchFamily="49" charset="0"/>
            </a:endParaRPr>
          </a:p>
          <a:p>
            <a:endParaRPr lang="en-US" sz="1200" dirty="0">
              <a:latin typeface="Courier New" pitchFamily="49" charset="0"/>
              <a:cs typeface="Courier New" pitchFamily="49" charset="0"/>
            </a:endParaRPr>
          </a:p>
          <a:p>
            <a:endParaRPr lang="en-US" sz="1200" dirty="0">
              <a:latin typeface="Courier New" pitchFamily="49" charset="0"/>
              <a:cs typeface="Courier New" pitchFamily="49" charset="0"/>
            </a:endParaRPr>
          </a:p>
          <a:p>
            <a:endParaRPr lang="en-US" sz="1200" dirty="0">
              <a:latin typeface="Courier New" pitchFamily="49" charset="0"/>
              <a:cs typeface="Courier New" pitchFamily="49" charset="0"/>
            </a:endParaRPr>
          </a:p>
          <a:p>
            <a:endParaRPr lang="zh-CN" altLang="en-US" sz="1200" dirty="0">
              <a:latin typeface="Courier New" pitchFamily="49" charset="0"/>
              <a:cs typeface="Courier New" pitchFamily="49" charset="0"/>
            </a:endParaRPr>
          </a:p>
          <a:p>
            <a:endParaRPr lang="en-US" sz="1200" dirty="0">
              <a:latin typeface="Courier New" pitchFamily="49" charset="0"/>
              <a:cs typeface="Courier New" pitchFamily="49" charset="0"/>
            </a:endParaRPr>
          </a:p>
          <a:p>
            <a:r>
              <a:rPr lang="en-US" sz="1200" dirty="0">
                <a:latin typeface="Courier New" pitchFamily="49" charset="0"/>
                <a:cs typeface="Courier New" pitchFamily="49" charset="0"/>
              </a:rPr>
              <a:t>void *</a:t>
            </a:r>
            <a:r>
              <a:rPr lang="en-US" sz="1200" b="1" dirty="0" err="1">
                <a:solidFill>
                  <a:srgbClr val="00935D"/>
                </a:solidFill>
                <a:latin typeface="Courier New" pitchFamily="49" charset="0"/>
                <a:cs typeface="Courier New" pitchFamily="49" charset="0"/>
              </a:rPr>
              <a:t>BTTranslate</a:t>
            </a:r>
            <a:r>
              <a:rPr lang="en-US" sz="1200" dirty="0">
                <a:latin typeface="Courier New" pitchFamily="49" charset="0"/>
                <a:cs typeface="Courier New" pitchFamily="49" charset="0"/>
              </a:rPr>
              <a:t>(uint32 pc)</a:t>
            </a:r>
          </a:p>
          <a:p>
            <a:r>
              <a:rPr lang="en-US" sz="1200" dirty="0">
                <a:latin typeface="Courier New" pitchFamily="49" charset="0"/>
                <a:cs typeface="Courier New" pitchFamily="49" charset="0"/>
              </a:rPr>
              <a:t>{</a:t>
            </a:r>
          </a:p>
          <a:p>
            <a:r>
              <a:rPr lang="en-US" sz="1200" dirty="0">
                <a:latin typeface="Courier New" pitchFamily="49" charset="0"/>
                <a:cs typeface="Courier New" pitchFamily="49" charset="0"/>
              </a:rPr>
              <a:t>   void *start = </a:t>
            </a:r>
            <a:r>
              <a:rPr lang="en-US" sz="1200" dirty="0" err="1">
                <a:latin typeface="Courier New" pitchFamily="49" charset="0"/>
                <a:cs typeface="Courier New" pitchFamily="49" charset="0"/>
              </a:rPr>
              <a:t>TCTop</a:t>
            </a:r>
            <a:r>
              <a:rPr lang="en-US" sz="1200" dirty="0">
                <a:latin typeface="Courier New" pitchFamily="49" charset="0"/>
                <a:cs typeface="Courier New" pitchFamily="49" charset="0"/>
              </a:rPr>
              <a:t>;</a:t>
            </a:r>
          </a:p>
          <a:p>
            <a:r>
              <a:rPr lang="en-US" sz="1200" dirty="0">
                <a:latin typeface="Courier New" pitchFamily="49" charset="0"/>
                <a:cs typeface="Courier New" pitchFamily="49" charset="0"/>
              </a:rPr>
              <a:t>   uint32 TCPC = pc;</a:t>
            </a:r>
          </a:p>
          <a:p>
            <a:endParaRPr lang="en-US" sz="1200" dirty="0">
              <a:latin typeface="Courier New" pitchFamily="49" charset="0"/>
              <a:cs typeface="Courier New" pitchFamily="49" charset="0"/>
            </a:endParaRPr>
          </a:p>
          <a:p>
            <a:r>
              <a:rPr lang="en-US" sz="1200" dirty="0">
                <a:latin typeface="Courier New" pitchFamily="49" charset="0"/>
                <a:cs typeface="Courier New" pitchFamily="49" charset="0"/>
              </a:rPr>
              <a:t>   while (1) {</a:t>
            </a:r>
          </a:p>
          <a:p>
            <a:r>
              <a:rPr lang="en-US" sz="1200" dirty="0">
                <a:latin typeface="Courier New" pitchFamily="49" charset="0"/>
                <a:cs typeface="Courier New" pitchFamily="49" charset="0"/>
              </a:rPr>
              <a:t>      inst = Fetch(TCPC);</a:t>
            </a:r>
          </a:p>
          <a:p>
            <a:r>
              <a:rPr lang="en-US" sz="1200" dirty="0">
                <a:latin typeface="Courier New" pitchFamily="49" charset="0"/>
                <a:cs typeface="Courier New" pitchFamily="49" charset="0"/>
              </a:rPr>
              <a:t>      TCPC += 4;</a:t>
            </a:r>
          </a:p>
          <a:p>
            <a:endParaRPr lang="en-US" sz="1200" dirty="0">
              <a:latin typeface="Courier New" pitchFamily="49" charset="0"/>
              <a:cs typeface="Courier New" pitchFamily="49" charset="0"/>
            </a:endParaRPr>
          </a:p>
          <a:p>
            <a:r>
              <a:rPr lang="en-US" sz="1200" dirty="0">
                <a:latin typeface="Courier New" pitchFamily="49" charset="0"/>
                <a:cs typeface="Courier New" pitchFamily="49" charset="0"/>
              </a:rPr>
              <a:t>      if (</a:t>
            </a:r>
            <a:r>
              <a:rPr lang="en-US" sz="1200" dirty="0" err="1">
                <a:latin typeface="Courier New" pitchFamily="49" charset="0"/>
                <a:cs typeface="Courier New" pitchFamily="49" charset="0"/>
              </a:rPr>
              <a:t>IsPrivileged</a:t>
            </a:r>
            <a:r>
              <a:rPr lang="en-US" sz="1200" dirty="0">
                <a:latin typeface="Courier New" pitchFamily="49" charset="0"/>
                <a:cs typeface="Courier New" pitchFamily="49" charset="0"/>
              </a:rPr>
              <a:t>(inst)) {</a:t>
            </a:r>
          </a:p>
          <a:p>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EmitCallout</a:t>
            </a:r>
            <a:r>
              <a:rPr lang="en-US" sz="1200" dirty="0">
                <a:latin typeface="Courier New" pitchFamily="49" charset="0"/>
                <a:cs typeface="Courier New" pitchFamily="49" charset="0"/>
              </a:rPr>
              <a:t>();</a:t>
            </a:r>
          </a:p>
          <a:p>
            <a:r>
              <a:rPr lang="en-US" sz="1200" dirty="0">
                <a:latin typeface="Courier New" pitchFamily="49" charset="0"/>
                <a:cs typeface="Courier New" pitchFamily="49" charset="0"/>
              </a:rPr>
              <a:t>      } else if (</a:t>
            </a:r>
            <a:r>
              <a:rPr lang="en-US" sz="1200" dirty="0" err="1">
                <a:latin typeface="Courier New" pitchFamily="49" charset="0"/>
                <a:cs typeface="Courier New" pitchFamily="49" charset="0"/>
              </a:rPr>
              <a:t>IsControlFlow</a:t>
            </a:r>
            <a:r>
              <a:rPr lang="en-US" sz="1200" dirty="0">
                <a:latin typeface="Courier New" pitchFamily="49" charset="0"/>
                <a:cs typeface="Courier New" pitchFamily="49" charset="0"/>
              </a:rPr>
              <a:t>(inst)) {</a:t>
            </a:r>
          </a:p>
          <a:p>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EmitEndBB</a:t>
            </a:r>
            <a:r>
              <a:rPr lang="en-US" sz="1200" dirty="0">
                <a:latin typeface="Courier New" pitchFamily="49" charset="0"/>
                <a:cs typeface="Courier New" pitchFamily="49" charset="0"/>
              </a:rPr>
              <a:t>();</a:t>
            </a:r>
          </a:p>
          <a:p>
            <a:r>
              <a:rPr lang="en-US" sz="1200" dirty="0">
                <a:latin typeface="Courier New" pitchFamily="49" charset="0"/>
                <a:cs typeface="Courier New" pitchFamily="49" charset="0"/>
              </a:rPr>
              <a:t>         break;</a:t>
            </a:r>
          </a:p>
          <a:p>
            <a:r>
              <a:rPr lang="en-US" sz="1200" dirty="0">
                <a:latin typeface="Courier New" pitchFamily="49" charset="0"/>
                <a:cs typeface="Courier New" pitchFamily="49" charset="0"/>
              </a:rPr>
              <a:t>      } else {</a:t>
            </a:r>
          </a:p>
          <a:p>
            <a:r>
              <a:rPr lang="en-US" sz="1200" dirty="0">
                <a:latin typeface="Courier New" pitchFamily="49" charset="0"/>
                <a:cs typeface="Courier New" pitchFamily="49" charset="0"/>
              </a:rPr>
              <a:t>         /* </a:t>
            </a:r>
            <a:r>
              <a:rPr lang="en-US" sz="1200" dirty="0" err="1">
                <a:latin typeface="Courier New" pitchFamily="49" charset="0"/>
                <a:cs typeface="Courier New" pitchFamily="49" charset="0"/>
              </a:rPr>
              <a:t>ident</a:t>
            </a:r>
            <a:r>
              <a:rPr lang="en-US" sz="1200" dirty="0">
                <a:latin typeface="Courier New" pitchFamily="49" charset="0"/>
                <a:cs typeface="Courier New" pitchFamily="49" charset="0"/>
              </a:rPr>
              <a:t> translation */</a:t>
            </a:r>
          </a:p>
          <a:p>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EmitInst</a:t>
            </a:r>
            <a:r>
              <a:rPr lang="en-US" sz="1200" dirty="0">
                <a:latin typeface="Courier New" pitchFamily="49" charset="0"/>
                <a:cs typeface="Courier New" pitchFamily="49" charset="0"/>
              </a:rPr>
              <a:t>(inst);</a:t>
            </a:r>
          </a:p>
          <a:p>
            <a:r>
              <a:rPr lang="en-US" sz="1200" dirty="0">
                <a:latin typeface="Courier New" pitchFamily="49" charset="0"/>
                <a:cs typeface="Courier New" pitchFamily="49" charset="0"/>
              </a:rPr>
              <a:t>      }</a:t>
            </a:r>
          </a:p>
          <a:p>
            <a:r>
              <a:rPr lang="en-US" sz="1200" dirty="0">
                <a:latin typeface="Courier New" pitchFamily="49" charset="0"/>
                <a:cs typeface="Courier New" pitchFamily="49" charset="0"/>
              </a:rPr>
              <a:t>   }</a:t>
            </a:r>
          </a:p>
          <a:p>
            <a:endParaRPr lang="en-US" sz="1200" dirty="0">
              <a:latin typeface="Courier New" pitchFamily="49" charset="0"/>
              <a:cs typeface="Courier New" pitchFamily="49" charset="0"/>
            </a:endParaRPr>
          </a:p>
          <a:p>
            <a:r>
              <a:rPr lang="en-US" sz="1200" dirty="0">
                <a:latin typeface="Courier New" pitchFamily="49" charset="0"/>
                <a:cs typeface="Courier New" pitchFamily="49" charset="0"/>
              </a:rPr>
              <a:t>   return start;</a:t>
            </a:r>
          </a:p>
          <a:p>
            <a:r>
              <a:rPr lang="en-US" sz="1200" dirty="0">
                <a:latin typeface="Courier New" pitchFamily="49" charset="0"/>
                <a:cs typeface="Courier New" pitchFamily="49" charset="0"/>
              </a:rPr>
              <a:t>}</a:t>
            </a:r>
          </a:p>
          <a:p>
            <a:endParaRPr lang="en-US" sz="1200" dirty="0">
              <a:latin typeface="Courier New" pitchFamily="49" charset="0"/>
              <a:cs typeface="Courier New" pitchFamily="49" charset="0"/>
            </a:endParaRPr>
          </a:p>
          <a:p>
            <a:endParaRPr lang="en-US" sz="1200" dirty="0">
              <a:latin typeface="Courier New" pitchFamily="49" charset="0"/>
              <a:cs typeface="Courier New" pitchFamily="49" charset="0"/>
            </a:endParaRPr>
          </a:p>
          <a:p>
            <a:endParaRPr lang="en-US" sz="1200" dirty="0">
              <a:latin typeface="Courier New" pitchFamily="49" charset="0"/>
              <a:cs typeface="Courier New" pitchFamily="49" charset="0"/>
            </a:endParaRPr>
          </a:p>
        </p:txBody>
      </p:sp>
    </p:spTree>
    <p:extLst>
      <p:ext uri="{BB962C8B-B14F-4D97-AF65-F5344CB8AC3E}">
        <p14:creationId xmlns:p14="http://schemas.microsoft.com/office/powerpoint/2010/main" val="2856779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kumimoji="1" lang="zh-CN" altLang="en-US" dirty="0"/>
              <a:t>二进制翻译的翻译器（</a:t>
            </a:r>
            <a:r>
              <a:rPr kumimoji="1" lang="en-US" altLang="zh-CN" dirty="0"/>
              <a:t>Translator</a:t>
            </a:r>
            <a:r>
              <a:rPr kumimoji="1" lang="zh-CN" altLang="en-US" dirty="0"/>
              <a:t>）</a:t>
            </a:r>
            <a:r>
              <a:rPr kumimoji="1" lang="en-US" altLang="zh-CN" dirty="0"/>
              <a:t>-2</a:t>
            </a:r>
            <a:endParaRPr lang="en-US" dirty="0"/>
          </a:p>
        </p:txBody>
      </p:sp>
      <p:sp>
        <p:nvSpPr>
          <p:cNvPr id="5" name="TextBox 4"/>
          <p:cNvSpPr txBox="1"/>
          <p:nvPr/>
        </p:nvSpPr>
        <p:spPr>
          <a:xfrm>
            <a:off x="457200" y="1129308"/>
            <a:ext cx="7190432" cy="3816429"/>
          </a:xfrm>
          <a:prstGeom prst="rect">
            <a:avLst/>
          </a:prstGeom>
          <a:noFill/>
          <a:ln>
            <a:noFill/>
          </a:ln>
        </p:spPr>
        <p:txBody>
          <a:bodyPr wrap="square" lIns="152400" tIns="152400" rIns="152400" bIns="152400" numCol="2" rtlCol="0">
            <a:spAutoFit/>
          </a:bodyPr>
          <a:lstStyle/>
          <a:p>
            <a:r>
              <a:rPr lang="en-US" sz="1200" dirty="0">
                <a:latin typeface="Courier New" pitchFamily="49" charset="0"/>
                <a:cs typeface="Courier New" pitchFamily="49" charset="0"/>
              </a:rPr>
              <a:t>void </a:t>
            </a:r>
            <a:r>
              <a:rPr lang="en-US" sz="1200" b="1" dirty="0" err="1">
                <a:solidFill>
                  <a:srgbClr val="00935D"/>
                </a:solidFill>
                <a:latin typeface="Courier New" pitchFamily="49" charset="0"/>
                <a:cs typeface="Courier New" pitchFamily="49" charset="0"/>
              </a:rPr>
              <a:t>BT_CalloutSTI</a:t>
            </a:r>
            <a:r>
              <a:rPr lang="zh-CN" altLang="en-US" sz="1200" b="1" dirty="0">
                <a:solidFill>
                  <a:srgbClr val="00935D"/>
                </a:solidFill>
                <a:latin typeface="Courier New" pitchFamily="49" charset="0"/>
                <a:cs typeface="Courier New" pitchFamily="49" charset="0"/>
              </a:rPr>
              <a:t> </a:t>
            </a:r>
            <a:r>
              <a:rPr lang="en-US" sz="1200" dirty="0">
                <a:latin typeface="Courier New" pitchFamily="49" charset="0"/>
                <a:cs typeface="Courier New" pitchFamily="49" charset="0"/>
              </a:rPr>
              <a:t>(</a:t>
            </a:r>
            <a:r>
              <a:rPr lang="en-US" sz="1200" dirty="0" err="1">
                <a:latin typeface="Courier New" pitchFamily="49" charset="0"/>
                <a:cs typeface="Courier New" pitchFamily="49" charset="0"/>
              </a:rPr>
              <a:t>BTSavedRegs</a:t>
            </a:r>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regs</a:t>
            </a:r>
            <a:r>
              <a:rPr lang="en-US" sz="1200" dirty="0">
                <a:latin typeface="Courier New" pitchFamily="49" charset="0"/>
                <a:cs typeface="Courier New" pitchFamily="49" charset="0"/>
              </a:rPr>
              <a:t>)</a:t>
            </a:r>
          </a:p>
          <a:p>
            <a:r>
              <a:rPr lang="en-US" sz="1200" dirty="0">
                <a:latin typeface="Courier New" pitchFamily="49" charset="0"/>
                <a:cs typeface="Courier New" pitchFamily="49" charset="0"/>
              </a:rPr>
              <a:t>{</a:t>
            </a:r>
          </a:p>
          <a:p>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CPUState.PC</a:t>
            </a:r>
            <a:r>
              <a:rPr lang="en-US" sz="1200" dirty="0">
                <a:latin typeface="Courier New" pitchFamily="49" charset="0"/>
                <a:cs typeface="Courier New" pitchFamily="49" charset="0"/>
              </a:rPr>
              <a:t> = </a:t>
            </a:r>
            <a:r>
              <a:rPr lang="en-US" sz="1200" dirty="0" err="1">
                <a:latin typeface="Courier New" pitchFamily="49" charset="0"/>
                <a:cs typeface="Courier New" pitchFamily="49" charset="0"/>
              </a:rPr>
              <a:t>BTFindPC</a:t>
            </a:r>
            <a:r>
              <a:rPr lang="en-US" sz="1200" dirty="0">
                <a:latin typeface="Courier New" pitchFamily="49" charset="0"/>
                <a:cs typeface="Courier New" pitchFamily="49" charset="0"/>
              </a:rPr>
              <a:t>(</a:t>
            </a:r>
            <a:r>
              <a:rPr lang="en-US" sz="1200" dirty="0" err="1">
                <a:latin typeface="Courier New" pitchFamily="49" charset="0"/>
                <a:cs typeface="Courier New" pitchFamily="49" charset="0"/>
              </a:rPr>
              <a:t>regs.tcpc</a:t>
            </a:r>
            <a:r>
              <a:rPr lang="en-US" sz="1200" dirty="0">
                <a:latin typeface="Courier New" pitchFamily="49" charset="0"/>
                <a:cs typeface="Courier New" pitchFamily="49" charset="0"/>
              </a:rPr>
              <a:t>);</a:t>
            </a:r>
          </a:p>
          <a:p>
            <a:r>
              <a:rPr lang="en-US" sz="1200" dirty="0">
                <a:latin typeface="Courier New" pitchFamily="49" charset="0"/>
                <a:cs typeface="Courier New" pitchFamily="49" charset="0"/>
              </a:rPr>
              <a:t>   CPUState.GPR[] = regs.GPR[];</a:t>
            </a:r>
          </a:p>
          <a:p>
            <a:endParaRPr lang="en-US" sz="1200" dirty="0">
              <a:latin typeface="Courier New" pitchFamily="49" charset="0"/>
              <a:cs typeface="Courier New" pitchFamily="49" charset="0"/>
            </a:endParaRPr>
          </a:p>
          <a:p>
            <a:r>
              <a:rPr lang="en-US" sz="1200" dirty="0">
                <a:latin typeface="Courier New" pitchFamily="49" charset="0"/>
                <a:cs typeface="Courier New" pitchFamily="49" charset="0"/>
              </a:rPr>
              <a:t>   CPU_STI();</a:t>
            </a:r>
          </a:p>
          <a:p>
            <a:endParaRPr lang="en-US" sz="1200" dirty="0">
              <a:latin typeface="Courier New" pitchFamily="49" charset="0"/>
              <a:cs typeface="Courier New" pitchFamily="49" charset="0"/>
            </a:endParaRPr>
          </a:p>
          <a:p>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CPUState.PC</a:t>
            </a:r>
            <a:r>
              <a:rPr lang="en-US" sz="1200" dirty="0">
                <a:latin typeface="Courier New" pitchFamily="49" charset="0"/>
                <a:cs typeface="Courier New" pitchFamily="49" charset="0"/>
              </a:rPr>
              <a:t> += 4;</a:t>
            </a:r>
          </a:p>
          <a:p>
            <a:endParaRPr lang="en-US" sz="1200" dirty="0">
              <a:latin typeface="Courier New" pitchFamily="49" charset="0"/>
              <a:cs typeface="Courier New" pitchFamily="49" charset="0"/>
            </a:endParaRPr>
          </a:p>
          <a:p>
            <a:r>
              <a:rPr lang="en-US" sz="1200" dirty="0">
                <a:latin typeface="Courier New" pitchFamily="49" charset="0"/>
                <a:cs typeface="Courier New" pitchFamily="49" charset="0"/>
              </a:rPr>
              <a:t>   if (CPUState.IRQ</a:t>
            </a:r>
          </a:p>
          <a:p>
            <a:r>
              <a:rPr lang="en-US" sz="1200" dirty="0">
                <a:latin typeface="Courier New" pitchFamily="49" charset="0"/>
                <a:cs typeface="Courier New" pitchFamily="49" charset="0"/>
              </a:rPr>
              <a:t>         &amp;&amp; CPUState.IE) {</a:t>
            </a:r>
          </a:p>
          <a:p>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CPUVector</a:t>
            </a:r>
            <a:r>
              <a:rPr lang="en-US" sz="1200" dirty="0">
                <a:latin typeface="Courier New" pitchFamily="49" charset="0"/>
                <a:cs typeface="Courier New" pitchFamily="49" charset="0"/>
              </a:rPr>
              <a:t>();</a:t>
            </a:r>
          </a:p>
          <a:p>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BT_Continue</a:t>
            </a:r>
            <a:r>
              <a:rPr lang="en-US" sz="1200" dirty="0">
                <a:latin typeface="Courier New" pitchFamily="49" charset="0"/>
                <a:cs typeface="Courier New" pitchFamily="49" charset="0"/>
              </a:rPr>
              <a:t>();</a:t>
            </a:r>
          </a:p>
          <a:p>
            <a:r>
              <a:rPr lang="en-US" sz="1200" dirty="0">
                <a:latin typeface="Courier New" pitchFamily="49" charset="0"/>
                <a:cs typeface="Courier New" pitchFamily="49" charset="0"/>
              </a:rPr>
              <a:t>      /* NOT_REACHED */</a:t>
            </a:r>
          </a:p>
          <a:p>
            <a:r>
              <a:rPr lang="en-US" sz="1200" dirty="0">
                <a:latin typeface="Courier New" pitchFamily="49" charset="0"/>
                <a:cs typeface="Courier New" pitchFamily="49" charset="0"/>
              </a:rPr>
              <a:t>   }</a:t>
            </a:r>
          </a:p>
          <a:p>
            <a:endParaRPr lang="en-US" sz="1200" dirty="0">
              <a:latin typeface="Courier New" pitchFamily="49" charset="0"/>
              <a:cs typeface="Courier New" pitchFamily="49" charset="0"/>
            </a:endParaRPr>
          </a:p>
          <a:p>
            <a:r>
              <a:rPr lang="en-US" sz="1200" dirty="0">
                <a:latin typeface="Courier New" pitchFamily="49" charset="0"/>
                <a:cs typeface="Courier New" pitchFamily="49" charset="0"/>
              </a:rPr>
              <a:t>   return;</a:t>
            </a:r>
          </a:p>
          <a:p>
            <a:r>
              <a:rPr lang="en-US" sz="1200" dirty="0">
                <a:latin typeface="Courier New" pitchFamily="49" charset="0"/>
                <a:cs typeface="Courier New" pitchFamily="49" charset="0"/>
              </a:rPr>
              <a:t>}</a:t>
            </a:r>
          </a:p>
          <a:p>
            <a:endParaRPr lang="en-US" sz="1200" dirty="0">
              <a:latin typeface="Courier New" pitchFamily="49" charset="0"/>
              <a:cs typeface="Courier New" pitchFamily="49" charset="0"/>
            </a:endParaRPr>
          </a:p>
        </p:txBody>
      </p:sp>
    </p:spTree>
    <p:extLst>
      <p:ext uri="{BB962C8B-B14F-4D97-AF65-F5344CB8AC3E}">
        <p14:creationId xmlns:p14="http://schemas.microsoft.com/office/powerpoint/2010/main" val="25841568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FC6180-C3AB-614B-864B-E11145B00631}"/>
              </a:ext>
            </a:extLst>
          </p:cNvPr>
          <p:cNvSpPr>
            <a:spLocks noGrp="1"/>
          </p:cNvSpPr>
          <p:nvPr>
            <p:ph type="title"/>
          </p:nvPr>
        </p:nvSpPr>
        <p:spPr/>
        <p:txBody>
          <a:bodyPr/>
          <a:lstStyle/>
          <a:p>
            <a:r>
              <a:rPr kumimoji="1" lang="zh-CN" altLang="en-US" dirty="0"/>
              <a:t>二进制翻译的缺点</a:t>
            </a:r>
          </a:p>
        </p:txBody>
      </p:sp>
      <p:sp>
        <p:nvSpPr>
          <p:cNvPr id="3" name="内容占位符 2">
            <a:extLst>
              <a:ext uri="{FF2B5EF4-FFF2-40B4-BE49-F238E27FC236}">
                <a16:creationId xmlns:a16="http://schemas.microsoft.com/office/drawing/2014/main" id="{4AAF12F7-4FF1-D84E-B124-5E658956A1CC}"/>
              </a:ext>
            </a:extLst>
          </p:cNvPr>
          <p:cNvSpPr>
            <a:spLocks noGrp="1"/>
          </p:cNvSpPr>
          <p:nvPr>
            <p:ph idx="1"/>
          </p:nvPr>
        </p:nvSpPr>
        <p:spPr/>
        <p:txBody>
          <a:bodyPr/>
          <a:lstStyle/>
          <a:p>
            <a:r>
              <a:rPr kumimoji="1" lang="zh-CN" altLang="en-US" dirty="0"/>
              <a:t>不能处理自修改的代码</a:t>
            </a:r>
            <a:r>
              <a:rPr kumimoji="1" lang="en-US" altLang="zh-CN" dirty="0"/>
              <a:t>(Self-modifying</a:t>
            </a:r>
            <a:r>
              <a:rPr kumimoji="1" lang="zh-CN" altLang="en-US" dirty="0"/>
              <a:t> </a:t>
            </a:r>
            <a:r>
              <a:rPr kumimoji="1" lang="en-US" altLang="zh-CN" dirty="0"/>
              <a:t>Code)</a:t>
            </a:r>
          </a:p>
          <a:p>
            <a:r>
              <a:rPr kumimoji="1" lang="zh-CN" altLang="en-US" dirty="0"/>
              <a:t>中断插入粒度变大</a:t>
            </a:r>
            <a:endParaRPr kumimoji="1" lang="en-US" altLang="zh-CN" dirty="0"/>
          </a:p>
          <a:p>
            <a:pPr lvl="1"/>
            <a:r>
              <a:rPr kumimoji="1" lang="zh-CN" altLang="en-US" dirty="0"/>
              <a:t>模拟执行可以在任意指令位置插入虚拟中断</a:t>
            </a:r>
            <a:endParaRPr kumimoji="1" lang="en-US" altLang="zh-CN" dirty="0"/>
          </a:p>
          <a:p>
            <a:pPr lvl="1"/>
            <a:r>
              <a:rPr kumimoji="1" lang="zh-CN" altLang="en-US" dirty="0"/>
              <a:t>二进制翻译时只能在基本块边界插入虚拟中断（</a:t>
            </a:r>
            <a:r>
              <a:rPr kumimoji="1" lang="zh-CN" altLang="en-US" dirty="0">
                <a:solidFill>
                  <a:srgbClr val="BE384B"/>
                </a:solidFill>
              </a:rPr>
              <a:t>为什么？</a:t>
            </a:r>
            <a:r>
              <a:rPr kumimoji="1" lang="zh-CN" altLang="en-US" dirty="0"/>
              <a:t>）</a:t>
            </a:r>
            <a:endParaRPr kumimoji="1" lang="en-US" altLang="zh-CN" dirty="0"/>
          </a:p>
          <a:p>
            <a:pPr lvl="1"/>
            <a:endParaRPr kumimoji="1" lang="en-US" altLang="zh-CN" dirty="0"/>
          </a:p>
          <a:p>
            <a:pPr lvl="1"/>
            <a:endParaRPr kumimoji="1" lang="en-US" altLang="zh-CN" dirty="0"/>
          </a:p>
        </p:txBody>
      </p:sp>
      <p:sp>
        <p:nvSpPr>
          <p:cNvPr id="4" name="灯片编号占位符 3">
            <a:extLst>
              <a:ext uri="{FF2B5EF4-FFF2-40B4-BE49-F238E27FC236}">
                <a16:creationId xmlns:a16="http://schemas.microsoft.com/office/drawing/2014/main" id="{80D2CD24-AAE3-564D-B53C-A1F57D0BC4B6}"/>
              </a:ext>
            </a:extLst>
          </p:cNvPr>
          <p:cNvSpPr>
            <a:spLocks noGrp="1"/>
          </p:cNvSpPr>
          <p:nvPr>
            <p:ph type="sldNum" sz="quarter" idx="12"/>
          </p:nvPr>
        </p:nvSpPr>
        <p:spPr/>
        <p:txBody>
          <a:bodyPr/>
          <a:lstStyle/>
          <a:p>
            <a:fld id="{ADE361C3-C043-4A6E-BDCE-8DA1E7D90A3B}" type="slidenum">
              <a:rPr lang="zh-CN" altLang="en-US" smtClean="0"/>
              <a:t>17</a:t>
            </a:fld>
            <a:endParaRPr lang="zh-CN" altLang="en-US"/>
          </a:p>
        </p:txBody>
      </p:sp>
      <p:sp>
        <p:nvSpPr>
          <p:cNvPr id="5" name="页脚占位符 4">
            <a:extLst>
              <a:ext uri="{FF2B5EF4-FFF2-40B4-BE49-F238E27FC236}">
                <a16:creationId xmlns:a16="http://schemas.microsoft.com/office/drawing/2014/main" id="{8D530629-7728-9642-8CFB-993D492D812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8764571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A86C6B-8D3F-644C-8AB0-60394A8F03C9}"/>
              </a:ext>
            </a:extLst>
          </p:cNvPr>
          <p:cNvSpPr>
            <a:spLocks noGrp="1"/>
          </p:cNvSpPr>
          <p:nvPr>
            <p:ph type="title"/>
          </p:nvPr>
        </p:nvSpPr>
        <p:spPr/>
        <p:txBody>
          <a:bodyPr/>
          <a:lstStyle/>
          <a:p>
            <a:r>
              <a:rPr kumimoji="1" lang="zh-CN" altLang="en-US" dirty="0"/>
              <a:t>方法</a:t>
            </a:r>
            <a:r>
              <a:rPr kumimoji="1" lang="en-US" altLang="zh-CN" dirty="0"/>
              <a:t>3</a:t>
            </a:r>
            <a:r>
              <a:rPr kumimoji="1" lang="zh-CN" altLang="en-US" dirty="0"/>
              <a:t>：半虚拟化 </a:t>
            </a:r>
            <a:r>
              <a:rPr kumimoji="1" lang="en-US" altLang="zh-CN" dirty="0"/>
              <a:t>(Para-virtualization)</a:t>
            </a:r>
            <a:endParaRPr kumimoji="1" lang="zh-CN" altLang="en-US" dirty="0"/>
          </a:p>
        </p:txBody>
      </p:sp>
      <p:sp>
        <p:nvSpPr>
          <p:cNvPr id="3" name="内容占位符 2">
            <a:extLst>
              <a:ext uri="{FF2B5EF4-FFF2-40B4-BE49-F238E27FC236}">
                <a16:creationId xmlns:a16="http://schemas.microsoft.com/office/drawing/2014/main" id="{872E2F20-AAC6-CB41-9E14-5029E5516146}"/>
              </a:ext>
            </a:extLst>
          </p:cNvPr>
          <p:cNvSpPr>
            <a:spLocks noGrp="1"/>
          </p:cNvSpPr>
          <p:nvPr>
            <p:ph idx="1"/>
          </p:nvPr>
        </p:nvSpPr>
        <p:spPr/>
        <p:txBody>
          <a:bodyPr/>
          <a:lstStyle/>
          <a:p>
            <a:r>
              <a:rPr kumimoji="1" lang="zh-CN" altLang="en-US" dirty="0"/>
              <a:t>协同设计</a:t>
            </a:r>
            <a:endParaRPr kumimoji="1" lang="en-US" altLang="zh-CN" dirty="0"/>
          </a:p>
          <a:p>
            <a:pPr lvl="1"/>
            <a:r>
              <a:rPr kumimoji="1" lang="zh-CN" altLang="en-US" dirty="0"/>
              <a:t>让</a:t>
            </a:r>
            <a:r>
              <a:rPr kumimoji="1" lang="en-US" altLang="zh-CN" dirty="0"/>
              <a:t>VMM</a:t>
            </a:r>
            <a:r>
              <a:rPr kumimoji="1" lang="zh-CN" altLang="en-US" dirty="0"/>
              <a:t>提供接口给虚拟机，称为</a:t>
            </a:r>
            <a:r>
              <a:rPr kumimoji="1" lang="en-US" altLang="zh-CN" b="1" dirty="0" err="1">
                <a:highlight>
                  <a:srgbClr val="FFFF00"/>
                </a:highlight>
              </a:rPr>
              <a:t>Hypercall</a:t>
            </a:r>
            <a:endParaRPr kumimoji="1" lang="en-US" altLang="zh-CN" b="1" dirty="0">
              <a:highlight>
                <a:srgbClr val="FFFF00"/>
              </a:highlight>
            </a:endParaRPr>
          </a:p>
          <a:p>
            <a:pPr lvl="1"/>
            <a:r>
              <a:rPr kumimoji="1" lang="zh-CN" altLang="en-US" dirty="0"/>
              <a:t>修改操作系统源码，让其主动调用</a:t>
            </a:r>
            <a:r>
              <a:rPr kumimoji="1" lang="en-US" altLang="zh-CN" dirty="0"/>
              <a:t>VMM</a:t>
            </a:r>
            <a:r>
              <a:rPr kumimoji="1" lang="zh-CN" altLang="en-US" dirty="0"/>
              <a:t>接口</a:t>
            </a:r>
            <a:endParaRPr kumimoji="1" lang="en-US" altLang="zh-CN" dirty="0"/>
          </a:p>
          <a:p>
            <a:r>
              <a:rPr kumimoji="1" lang="en-US" altLang="zh-CN" dirty="0" err="1"/>
              <a:t>Hypercall</a:t>
            </a:r>
            <a:r>
              <a:rPr kumimoji="1" lang="zh-CN" altLang="en-US" dirty="0"/>
              <a:t>可以理解为</a:t>
            </a:r>
            <a:r>
              <a:rPr kumimoji="1" lang="en-US" altLang="zh-CN" dirty="0"/>
              <a:t>VMM</a:t>
            </a:r>
            <a:r>
              <a:rPr kumimoji="1" lang="zh-CN" altLang="en-US" dirty="0"/>
              <a:t>提供的系统调用</a:t>
            </a:r>
            <a:endParaRPr kumimoji="1" lang="en-US" altLang="zh-CN" dirty="0"/>
          </a:p>
          <a:p>
            <a:pPr lvl="1"/>
            <a:r>
              <a:rPr kumimoji="1" lang="zh-CN" altLang="en-US" dirty="0"/>
              <a:t>在</a:t>
            </a:r>
            <a:r>
              <a:rPr kumimoji="1" lang="en-US" altLang="zh-CN" dirty="0"/>
              <a:t>ARM</a:t>
            </a:r>
            <a:r>
              <a:rPr kumimoji="1" lang="zh-CN" altLang="en-US" dirty="0"/>
              <a:t>中是</a:t>
            </a:r>
            <a:r>
              <a:rPr kumimoji="1" lang="en-US" altLang="zh-CN" dirty="0"/>
              <a:t>HVC</a:t>
            </a:r>
            <a:r>
              <a:rPr kumimoji="1" lang="zh-CN" altLang="en-US" dirty="0"/>
              <a:t>指令</a:t>
            </a:r>
            <a:endParaRPr kumimoji="1" lang="en-US" altLang="zh-CN" dirty="0"/>
          </a:p>
          <a:p>
            <a:r>
              <a:rPr kumimoji="1" lang="zh-CN" altLang="en-US" dirty="0"/>
              <a:t>将所有不引起下陷的敏感指令替换成超级调用</a:t>
            </a:r>
            <a:endParaRPr kumimoji="1" lang="en-US" altLang="zh-CN" dirty="0"/>
          </a:p>
          <a:p>
            <a:r>
              <a:rPr kumimoji="1" lang="zh-CN" altLang="en-US" dirty="0">
                <a:solidFill>
                  <a:srgbClr val="BE384B"/>
                </a:solidFill>
              </a:rPr>
              <a:t>思考：这种方式有什么优缺点？</a:t>
            </a:r>
          </a:p>
        </p:txBody>
      </p:sp>
      <p:sp>
        <p:nvSpPr>
          <p:cNvPr id="4" name="灯片编号占位符 3">
            <a:extLst>
              <a:ext uri="{FF2B5EF4-FFF2-40B4-BE49-F238E27FC236}">
                <a16:creationId xmlns:a16="http://schemas.microsoft.com/office/drawing/2014/main" id="{EFD7E371-2364-A448-8474-63BEF5B60C34}"/>
              </a:ext>
            </a:extLst>
          </p:cNvPr>
          <p:cNvSpPr>
            <a:spLocks noGrp="1"/>
          </p:cNvSpPr>
          <p:nvPr>
            <p:ph type="sldNum" sz="quarter" idx="12"/>
          </p:nvPr>
        </p:nvSpPr>
        <p:spPr/>
        <p:txBody>
          <a:bodyPr/>
          <a:lstStyle/>
          <a:p>
            <a:fld id="{ADE361C3-C043-4A6E-BDCE-8DA1E7D90A3B}" type="slidenum">
              <a:rPr lang="zh-CN" altLang="en-US" smtClean="0"/>
              <a:t>18</a:t>
            </a:fld>
            <a:endParaRPr lang="zh-CN" altLang="en-US"/>
          </a:p>
        </p:txBody>
      </p:sp>
      <p:sp>
        <p:nvSpPr>
          <p:cNvPr id="5" name="页脚占位符 4">
            <a:extLst>
              <a:ext uri="{FF2B5EF4-FFF2-40B4-BE49-F238E27FC236}">
                <a16:creationId xmlns:a16="http://schemas.microsoft.com/office/drawing/2014/main" id="{D116D7A7-C662-E04F-950D-7F7221C908E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9606025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EE16FD-52A5-0042-B9E9-74E77F538633}"/>
              </a:ext>
            </a:extLst>
          </p:cNvPr>
          <p:cNvSpPr>
            <a:spLocks noGrp="1"/>
          </p:cNvSpPr>
          <p:nvPr>
            <p:ph type="title"/>
          </p:nvPr>
        </p:nvSpPr>
        <p:spPr/>
        <p:txBody>
          <a:bodyPr/>
          <a:lstStyle/>
          <a:p>
            <a:r>
              <a:rPr kumimoji="1" lang="zh-CN" altLang="en-US" dirty="0"/>
              <a:t>半虚拟化方法的优缺点</a:t>
            </a:r>
          </a:p>
        </p:txBody>
      </p:sp>
      <p:sp>
        <p:nvSpPr>
          <p:cNvPr id="3" name="内容占位符 2">
            <a:extLst>
              <a:ext uri="{FF2B5EF4-FFF2-40B4-BE49-F238E27FC236}">
                <a16:creationId xmlns:a16="http://schemas.microsoft.com/office/drawing/2014/main" id="{F49A9BAF-CA4A-2D49-AA51-6D330FE54ED5}"/>
              </a:ext>
            </a:extLst>
          </p:cNvPr>
          <p:cNvSpPr>
            <a:spLocks noGrp="1"/>
          </p:cNvSpPr>
          <p:nvPr>
            <p:ph idx="1"/>
          </p:nvPr>
        </p:nvSpPr>
        <p:spPr/>
        <p:txBody>
          <a:bodyPr/>
          <a:lstStyle/>
          <a:p>
            <a:r>
              <a:rPr kumimoji="1" lang="zh-CN" altLang="en-US" dirty="0"/>
              <a:t>优点：</a:t>
            </a:r>
            <a:endParaRPr kumimoji="1" lang="en-US" altLang="zh-CN" dirty="0"/>
          </a:p>
          <a:p>
            <a:pPr lvl="1"/>
            <a:r>
              <a:rPr kumimoji="1" lang="zh-CN" altLang="en-US" dirty="0"/>
              <a:t>解决了敏感函数不下陷的问题</a:t>
            </a:r>
            <a:endParaRPr kumimoji="1" lang="en-US" altLang="zh-CN" dirty="0"/>
          </a:p>
          <a:p>
            <a:pPr lvl="1"/>
            <a:r>
              <a:rPr kumimoji="1" lang="zh-CN" altLang="en-US" dirty="0"/>
              <a:t>协同设计的思想可以提升某些场景下的系统性能</a:t>
            </a:r>
            <a:endParaRPr kumimoji="1" lang="en-US" altLang="zh-CN" dirty="0"/>
          </a:p>
          <a:p>
            <a:pPr lvl="2"/>
            <a:r>
              <a:rPr kumimoji="1" lang="en-US" altLang="zh-CN" dirty="0"/>
              <a:t>I/O</a:t>
            </a:r>
            <a:r>
              <a:rPr kumimoji="1" lang="zh-CN" altLang="en-US" dirty="0"/>
              <a:t>等场景</a:t>
            </a:r>
            <a:endParaRPr kumimoji="1" lang="en-US" altLang="zh-CN" dirty="0"/>
          </a:p>
          <a:p>
            <a:r>
              <a:rPr kumimoji="1" lang="zh-CN" altLang="en-US" dirty="0"/>
              <a:t>缺点：</a:t>
            </a:r>
            <a:endParaRPr kumimoji="1" lang="en-US" altLang="zh-CN" dirty="0"/>
          </a:p>
          <a:p>
            <a:pPr lvl="1"/>
            <a:r>
              <a:rPr kumimoji="1" lang="zh-CN" altLang="en-US" dirty="0"/>
              <a:t>需要修改操作系统代码，难以用于闭源系统</a:t>
            </a:r>
            <a:endParaRPr kumimoji="1" lang="en-US" altLang="zh-CN" dirty="0"/>
          </a:p>
          <a:p>
            <a:pPr lvl="1"/>
            <a:r>
              <a:rPr kumimoji="1" lang="zh-CN" altLang="en-US" dirty="0"/>
              <a:t>即使是开源系统，也难以同时在不同版本中实现</a:t>
            </a:r>
            <a:endParaRPr kumimoji="1" lang="en-US" altLang="zh-CN" dirty="0"/>
          </a:p>
        </p:txBody>
      </p:sp>
      <p:sp>
        <p:nvSpPr>
          <p:cNvPr id="4" name="灯片编号占位符 3">
            <a:extLst>
              <a:ext uri="{FF2B5EF4-FFF2-40B4-BE49-F238E27FC236}">
                <a16:creationId xmlns:a16="http://schemas.microsoft.com/office/drawing/2014/main" id="{80036167-1364-4E41-82DA-D006014F628F}"/>
              </a:ext>
            </a:extLst>
          </p:cNvPr>
          <p:cNvSpPr>
            <a:spLocks noGrp="1"/>
          </p:cNvSpPr>
          <p:nvPr>
            <p:ph type="sldNum" sz="quarter" idx="12"/>
          </p:nvPr>
        </p:nvSpPr>
        <p:spPr/>
        <p:txBody>
          <a:bodyPr/>
          <a:lstStyle/>
          <a:p>
            <a:fld id="{ADE361C3-C043-4A6E-BDCE-8DA1E7D90A3B}" type="slidenum">
              <a:rPr lang="zh-CN" altLang="en-US" smtClean="0"/>
              <a:t>19</a:t>
            </a:fld>
            <a:endParaRPr lang="zh-CN" altLang="en-US"/>
          </a:p>
        </p:txBody>
      </p:sp>
      <p:sp>
        <p:nvSpPr>
          <p:cNvPr id="5" name="页脚占位符 4">
            <a:extLst>
              <a:ext uri="{FF2B5EF4-FFF2-40B4-BE49-F238E27FC236}">
                <a16:creationId xmlns:a16="http://schemas.microsoft.com/office/drawing/2014/main" id="{5CCF78AD-4355-BD41-8448-E56C58DCC2DC}"/>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1927383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90C03A-3281-F64F-A4BE-F7D4F880E949}"/>
              </a:ext>
            </a:extLst>
          </p:cNvPr>
          <p:cNvSpPr>
            <a:spLocks noGrp="1"/>
          </p:cNvSpPr>
          <p:nvPr>
            <p:ph type="title"/>
          </p:nvPr>
        </p:nvSpPr>
        <p:spPr/>
        <p:txBody>
          <a:bodyPr/>
          <a:lstStyle/>
          <a:p>
            <a:r>
              <a:rPr kumimoji="1" lang="zh-CN" altLang="en-US" dirty="0"/>
              <a:t>方法</a:t>
            </a:r>
            <a:r>
              <a:rPr kumimoji="1" lang="en-US" altLang="zh-CN" dirty="0"/>
              <a:t>4</a:t>
            </a:r>
            <a:r>
              <a:rPr kumimoji="1" lang="zh-CN" altLang="en-US" dirty="0"/>
              <a:t>：硬件虚拟化</a:t>
            </a:r>
          </a:p>
        </p:txBody>
      </p:sp>
      <p:sp>
        <p:nvSpPr>
          <p:cNvPr id="3" name="内容占位符 2">
            <a:extLst>
              <a:ext uri="{FF2B5EF4-FFF2-40B4-BE49-F238E27FC236}">
                <a16:creationId xmlns:a16="http://schemas.microsoft.com/office/drawing/2014/main" id="{76B45377-6977-8448-9E29-271C513B0A2C}"/>
              </a:ext>
            </a:extLst>
          </p:cNvPr>
          <p:cNvSpPr>
            <a:spLocks noGrp="1"/>
          </p:cNvSpPr>
          <p:nvPr>
            <p:ph idx="1"/>
          </p:nvPr>
        </p:nvSpPr>
        <p:spPr/>
        <p:txBody>
          <a:bodyPr>
            <a:normAutofit fontScale="85000" lnSpcReduction="10000"/>
          </a:bodyPr>
          <a:lstStyle/>
          <a:p>
            <a:r>
              <a:rPr kumimoji="1" lang="en-US" altLang="zh-CN" dirty="0"/>
              <a:t>x86</a:t>
            </a:r>
            <a:r>
              <a:rPr kumimoji="1" lang="zh-CN" altLang="en-US" dirty="0"/>
              <a:t>和</a:t>
            </a:r>
            <a:r>
              <a:rPr kumimoji="1" lang="en-US" altLang="zh-CN" dirty="0"/>
              <a:t>ARM</a:t>
            </a:r>
            <a:r>
              <a:rPr kumimoji="1" lang="zh-CN" altLang="en-US" dirty="0"/>
              <a:t>都引入了全新的虚拟化特权级</a:t>
            </a:r>
            <a:endParaRPr kumimoji="1" lang="en-US" altLang="zh-CN" dirty="0"/>
          </a:p>
          <a:p>
            <a:r>
              <a:rPr kumimoji="1" lang="en-US" altLang="zh-CN" dirty="0"/>
              <a:t>x86</a:t>
            </a:r>
            <a:r>
              <a:rPr kumimoji="1" lang="zh-CN" altLang="en-US" dirty="0"/>
              <a:t>引入了</a:t>
            </a:r>
            <a:r>
              <a:rPr kumimoji="1" lang="en-US" altLang="zh-CN" dirty="0"/>
              <a:t>root</a:t>
            </a:r>
            <a:r>
              <a:rPr kumimoji="1" lang="zh-CN" altLang="en-US" dirty="0"/>
              <a:t>模式和</a:t>
            </a:r>
            <a:r>
              <a:rPr kumimoji="1" lang="en-US" altLang="zh-CN" dirty="0"/>
              <a:t>non-root</a:t>
            </a:r>
            <a:r>
              <a:rPr kumimoji="1" lang="zh-CN" altLang="en-US" dirty="0"/>
              <a:t>模式</a:t>
            </a:r>
            <a:endParaRPr kumimoji="1" lang="en-US" altLang="zh-CN" dirty="0"/>
          </a:p>
          <a:p>
            <a:pPr lvl="1"/>
            <a:r>
              <a:rPr kumimoji="1" lang="en-US" altLang="zh-CN" dirty="0"/>
              <a:t>Intel</a:t>
            </a:r>
            <a:r>
              <a:rPr kumimoji="1" lang="zh-CN" altLang="en-US" dirty="0"/>
              <a:t>推出了</a:t>
            </a:r>
            <a:r>
              <a:rPr kumimoji="1" lang="en-US" altLang="zh-CN" dirty="0"/>
              <a:t>VT-x</a:t>
            </a:r>
            <a:r>
              <a:rPr kumimoji="1" lang="zh-CN" altLang="en-US" dirty="0"/>
              <a:t>硬件虚拟化扩展</a:t>
            </a:r>
            <a:endParaRPr kumimoji="1" lang="en-US" altLang="zh-CN" dirty="0"/>
          </a:p>
          <a:p>
            <a:pPr lvl="1"/>
            <a:r>
              <a:rPr kumimoji="1" lang="en-US" altLang="zh-CN" dirty="0"/>
              <a:t>Root</a:t>
            </a:r>
            <a:r>
              <a:rPr kumimoji="1" lang="zh-CN" altLang="en-US" dirty="0"/>
              <a:t>模式是最高特权级别，控制物理资源</a:t>
            </a:r>
            <a:endParaRPr kumimoji="1" lang="en-US" altLang="zh-CN" dirty="0"/>
          </a:p>
          <a:p>
            <a:pPr lvl="1"/>
            <a:r>
              <a:rPr kumimoji="1" lang="en-US" altLang="zh-CN" dirty="0"/>
              <a:t>VMM</a:t>
            </a:r>
            <a:r>
              <a:rPr kumimoji="1" lang="zh-CN" altLang="en-US" dirty="0"/>
              <a:t>运行在</a:t>
            </a:r>
            <a:r>
              <a:rPr kumimoji="1" lang="en-US" altLang="zh-CN" dirty="0"/>
              <a:t>root</a:t>
            </a:r>
            <a:r>
              <a:rPr kumimoji="1" lang="zh-CN" altLang="en-US" dirty="0"/>
              <a:t>模式，虚拟机运行在</a:t>
            </a:r>
            <a:r>
              <a:rPr kumimoji="1" lang="en-US" altLang="zh-CN" dirty="0"/>
              <a:t>non-root</a:t>
            </a:r>
            <a:r>
              <a:rPr kumimoji="1" lang="zh-CN" altLang="en-US" dirty="0"/>
              <a:t>模式</a:t>
            </a:r>
            <a:endParaRPr kumimoji="1" lang="en-US" altLang="zh-CN" dirty="0"/>
          </a:p>
          <a:p>
            <a:pPr lvl="1"/>
            <a:r>
              <a:rPr kumimoji="1" lang="zh-CN" altLang="en-US" dirty="0"/>
              <a:t>两个模式内都有</a:t>
            </a:r>
            <a:r>
              <a:rPr kumimoji="1" lang="en-US" altLang="zh-CN" dirty="0"/>
              <a:t>4</a:t>
            </a:r>
            <a:r>
              <a:rPr kumimoji="1" lang="zh-CN" altLang="en-US" dirty="0"/>
              <a:t>个特权级别：</a:t>
            </a:r>
            <a:r>
              <a:rPr kumimoji="1" lang="en-US" altLang="zh-CN" dirty="0"/>
              <a:t>Ring0~Ring3</a:t>
            </a:r>
          </a:p>
          <a:p>
            <a:r>
              <a:rPr kumimoji="1" lang="en-US" altLang="zh-CN" dirty="0"/>
              <a:t>ARM</a:t>
            </a:r>
            <a:r>
              <a:rPr kumimoji="1" lang="zh-CN" altLang="en-US" dirty="0"/>
              <a:t>引入了</a:t>
            </a:r>
            <a:r>
              <a:rPr kumimoji="1" lang="en-US" altLang="zh-CN" dirty="0"/>
              <a:t>EL2</a:t>
            </a:r>
          </a:p>
          <a:p>
            <a:pPr lvl="1"/>
            <a:r>
              <a:rPr kumimoji="1" lang="en-US" altLang="zh-CN" dirty="0"/>
              <a:t>VMM</a:t>
            </a:r>
            <a:r>
              <a:rPr kumimoji="1" lang="zh-CN" altLang="en-US" dirty="0"/>
              <a:t>运行在</a:t>
            </a:r>
            <a:r>
              <a:rPr kumimoji="1" lang="en-US" altLang="zh-CN" dirty="0"/>
              <a:t>EL2</a:t>
            </a:r>
          </a:p>
          <a:p>
            <a:pPr lvl="1"/>
            <a:r>
              <a:rPr kumimoji="1" lang="en-US" altLang="zh-CN" dirty="0"/>
              <a:t>EL2</a:t>
            </a:r>
            <a:r>
              <a:rPr kumimoji="1" lang="zh-CN" altLang="en-US" dirty="0"/>
              <a:t>是最高特权级别，控制物理资源</a:t>
            </a:r>
            <a:endParaRPr kumimoji="1" lang="en-US" altLang="zh-CN" dirty="0"/>
          </a:p>
          <a:p>
            <a:pPr lvl="1"/>
            <a:r>
              <a:rPr kumimoji="1" lang="en-US" altLang="zh-CN" dirty="0"/>
              <a:t>VMM</a:t>
            </a:r>
            <a:r>
              <a:rPr kumimoji="1" lang="zh-CN" altLang="en-US" dirty="0"/>
              <a:t>的操作系统和应用程序分别运行在</a:t>
            </a:r>
            <a:r>
              <a:rPr kumimoji="1" lang="en-US" altLang="zh-CN" dirty="0"/>
              <a:t>EL1</a:t>
            </a:r>
            <a:r>
              <a:rPr kumimoji="1" lang="zh-CN" altLang="en-US" dirty="0"/>
              <a:t>和</a:t>
            </a:r>
            <a:r>
              <a:rPr kumimoji="1" lang="en-US" altLang="zh-CN" dirty="0"/>
              <a:t>EL0</a:t>
            </a:r>
          </a:p>
          <a:p>
            <a:pPr marL="0" indent="0">
              <a:buNone/>
            </a:pPr>
            <a:endParaRPr kumimoji="1" lang="en-US" altLang="zh-CN" dirty="0"/>
          </a:p>
        </p:txBody>
      </p:sp>
      <p:sp>
        <p:nvSpPr>
          <p:cNvPr id="4" name="灯片编号占位符 3">
            <a:extLst>
              <a:ext uri="{FF2B5EF4-FFF2-40B4-BE49-F238E27FC236}">
                <a16:creationId xmlns:a16="http://schemas.microsoft.com/office/drawing/2014/main" id="{7EF605BB-633A-5949-83AD-0B94688DC5BD}"/>
              </a:ext>
            </a:extLst>
          </p:cNvPr>
          <p:cNvSpPr>
            <a:spLocks noGrp="1"/>
          </p:cNvSpPr>
          <p:nvPr>
            <p:ph type="sldNum" sz="quarter" idx="12"/>
          </p:nvPr>
        </p:nvSpPr>
        <p:spPr/>
        <p:txBody>
          <a:bodyPr/>
          <a:lstStyle/>
          <a:p>
            <a:fld id="{ADE361C3-C043-4A6E-BDCE-8DA1E7D90A3B}" type="slidenum">
              <a:rPr lang="zh-CN" altLang="en-US" smtClean="0"/>
              <a:t>20</a:t>
            </a:fld>
            <a:endParaRPr lang="zh-CN" altLang="en-US"/>
          </a:p>
        </p:txBody>
      </p:sp>
      <p:sp>
        <p:nvSpPr>
          <p:cNvPr id="5" name="页脚占位符 4">
            <a:extLst>
              <a:ext uri="{FF2B5EF4-FFF2-40B4-BE49-F238E27FC236}">
                <a16:creationId xmlns:a16="http://schemas.microsoft.com/office/drawing/2014/main" id="{17EDC75F-41CC-BE49-888F-695636979711}"/>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215403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02C3FEF5-F933-1349-B56E-0C6158F22253}"/>
              </a:ext>
            </a:extLst>
          </p:cNvPr>
          <p:cNvSpPr>
            <a:spLocks noGrp="1"/>
          </p:cNvSpPr>
          <p:nvPr>
            <p:ph type="title"/>
          </p:nvPr>
        </p:nvSpPr>
        <p:spPr/>
        <p:txBody>
          <a:bodyPr/>
          <a:lstStyle/>
          <a:p>
            <a:r>
              <a:rPr lang="en-US" altLang="zh-CN" dirty="0"/>
              <a:t>Intel</a:t>
            </a:r>
            <a:r>
              <a:rPr lang="zh-CN" altLang="en-US" dirty="0"/>
              <a:t> </a:t>
            </a:r>
            <a:r>
              <a:rPr lang="en-US" altLang="zh-CN" dirty="0"/>
              <a:t>VT-x</a:t>
            </a:r>
            <a:endParaRPr lang="zh-CN" altLang="en-US" dirty="0"/>
          </a:p>
        </p:txBody>
      </p:sp>
      <p:sp>
        <p:nvSpPr>
          <p:cNvPr id="7" name="文本占位符 6">
            <a:extLst>
              <a:ext uri="{FF2B5EF4-FFF2-40B4-BE49-F238E27FC236}">
                <a16:creationId xmlns:a16="http://schemas.microsoft.com/office/drawing/2014/main" id="{F73DB188-D648-D641-A0C1-233898237BF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989EE4C-EAB2-B743-8E82-87DAE4F03B0A}"/>
              </a:ext>
            </a:extLst>
          </p:cNvPr>
          <p:cNvSpPr>
            <a:spLocks noGrp="1"/>
          </p:cNvSpPr>
          <p:nvPr>
            <p:ph type="sldNum" sz="quarter" idx="12"/>
          </p:nvPr>
        </p:nvSpPr>
        <p:spPr/>
        <p:txBody>
          <a:bodyPr/>
          <a:lstStyle/>
          <a:p>
            <a:fld id="{ADE361C3-C043-4A6E-BDCE-8DA1E7D90A3B}" type="slidenum">
              <a:rPr lang="zh-CN" altLang="en-US" smtClean="0"/>
              <a:t>21</a:t>
            </a:fld>
            <a:endParaRPr lang="zh-CN" altLang="en-US"/>
          </a:p>
        </p:txBody>
      </p:sp>
      <p:sp>
        <p:nvSpPr>
          <p:cNvPr id="5" name="页脚占位符 4">
            <a:extLst>
              <a:ext uri="{FF2B5EF4-FFF2-40B4-BE49-F238E27FC236}">
                <a16:creationId xmlns:a16="http://schemas.microsoft.com/office/drawing/2014/main" id="{22D54148-2DC2-D948-8ECD-0A7F1104CA49}"/>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7865318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F60C4C-D36C-5849-9FE8-57F2BC1FE571}"/>
              </a:ext>
            </a:extLst>
          </p:cNvPr>
          <p:cNvSpPr>
            <a:spLocks noGrp="1"/>
          </p:cNvSpPr>
          <p:nvPr>
            <p:ph type="title"/>
          </p:nvPr>
        </p:nvSpPr>
        <p:spPr/>
        <p:txBody>
          <a:bodyPr/>
          <a:lstStyle/>
          <a:p>
            <a:r>
              <a:rPr kumimoji="1" lang="en-US" altLang="zh-CN" dirty="0"/>
              <a:t>VT-x</a:t>
            </a:r>
            <a:r>
              <a:rPr kumimoji="1" lang="zh-CN" altLang="en-US" dirty="0"/>
              <a:t>的处理器虚拟化</a:t>
            </a:r>
          </a:p>
        </p:txBody>
      </p:sp>
      <p:sp>
        <p:nvSpPr>
          <p:cNvPr id="4" name="灯片编号占位符 3">
            <a:extLst>
              <a:ext uri="{FF2B5EF4-FFF2-40B4-BE49-F238E27FC236}">
                <a16:creationId xmlns:a16="http://schemas.microsoft.com/office/drawing/2014/main" id="{89A7FFD0-7820-EA46-9D93-15006D43355E}"/>
              </a:ext>
            </a:extLst>
          </p:cNvPr>
          <p:cNvSpPr>
            <a:spLocks noGrp="1"/>
          </p:cNvSpPr>
          <p:nvPr>
            <p:ph type="sldNum" sz="quarter" idx="12"/>
          </p:nvPr>
        </p:nvSpPr>
        <p:spPr/>
        <p:txBody>
          <a:bodyPr/>
          <a:lstStyle/>
          <a:p>
            <a:fld id="{ADE361C3-C043-4A6E-BDCE-8DA1E7D90A3B}" type="slidenum">
              <a:rPr lang="zh-CN" altLang="en-US" smtClean="0"/>
              <a:t>22</a:t>
            </a:fld>
            <a:endParaRPr lang="zh-CN" altLang="en-US"/>
          </a:p>
        </p:txBody>
      </p:sp>
      <p:sp>
        <p:nvSpPr>
          <p:cNvPr id="5" name="页脚占位符 4">
            <a:extLst>
              <a:ext uri="{FF2B5EF4-FFF2-40B4-BE49-F238E27FC236}">
                <a16:creationId xmlns:a16="http://schemas.microsoft.com/office/drawing/2014/main" id="{527B389E-4BF0-D64C-B5F0-79532C9C65F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24" name="组合 23">
            <a:extLst>
              <a:ext uri="{FF2B5EF4-FFF2-40B4-BE49-F238E27FC236}">
                <a16:creationId xmlns:a16="http://schemas.microsoft.com/office/drawing/2014/main" id="{085FD986-06BE-E34F-A103-D886C3ED8444}"/>
              </a:ext>
            </a:extLst>
          </p:cNvPr>
          <p:cNvGrpSpPr/>
          <p:nvPr/>
        </p:nvGrpSpPr>
        <p:grpSpPr>
          <a:xfrm>
            <a:off x="395536" y="1582552"/>
            <a:ext cx="8376651" cy="3219164"/>
            <a:chOff x="765167" y="1805965"/>
            <a:chExt cx="8376651" cy="3219164"/>
          </a:xfrm>
        </p:grpSpPr>
        <p:sp>
          <p:nvSpPr>
            <p:cNvPr id="9" name="Rectangle 27">
              <a:extLst>
                <a:ext uri="{FF2B5EF4-FFF2-40B4-BE49-F238E27FC236}">
                  <a16:creationId xmlns:a16="http://schemas.microsoft.com/office/drawing/2014/main" id="{B1079DF0-D9BA-D141-B107-3FACC05C58DF}"/>
                </a:ext>
              </a:extLst>
            </p:cNvPr>
            <p:cNvSpPr/>
            <p:nvPr/>
          </p:nvSpPr>
          <p:spPr>
            <a:xfrm>
              <a:off x="2147290" y="2223724"/>
              <a:ext cx="1576032" cy="1559893"/>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600" dirty="0">
                  <a:solidFill>
                    <a:srgbClr val="BE384B"/>
                  </a:solidFill>
                  <a:cs typeface="Arial Narrow"/>
                </a:rPr>
                <a:t>进程</a:t>
              </a:r>
              <a:endParaRPr lang="en-US" sz="1600" dirty="0">
                <a:solidFill>
                  <a:srgbClr val="BE384B"/>
                </a:solidFill>
                <a:cs typeface="Arial Narrow"/>
              </a:endParaRPr>
            </a:p>
          </p:txBody>
        </p:sp>
        <p:cxnSp>
          <p:nvCxnSpPr>
            <p:cNvPr id="10" name="Straight Connector 13">
              <a:extLst>
                <a:ext uri="{FF2B5EF4-FFF2-40B4-BE49-F238E27FC236}">
                  <a16:creationId xmlns:a16="http://schemas.microsoft.com/office/drawing/2014/main" id="{117C1FEE-67D1-084A-A7FB-077AC7B5444C}"/>
                </a:ext>
              </a:extLst>
            </p:cNvPr>
            <p:cNvCxnSpPr>
              <a:cxnSpLocks/>
            </p:cNvCxnSpPr>
            <p:nvPr/>
          </p:nvCxnSpPr>
          <p:spPr>
            <a:xfrm>
              <a:off x="1773279" y="4225652"/>
              <a:ext cx="6913521" cy="0"/>
            </a:xfrm>
            <a:prstGeom prst="line">
              <a:avLst/>
            </a:prstGeom>
            <a:ln>
              <a:solidFill>
                <a:srgbClr val="BE384B"/>
              </a:solidFill>
            </a:ln>
            <a:effectLst/>
          </p:spPr>
          <p:style>
            <a:lnRef idx="2">
              <a:schemeClr val="accent1"/>
            </a:lnRef>
            <a:fillRef idx="0">
              <a:schemeClr val="accent1"/>
            </a:fillRef>
            <a:effectRef idx="1">
              <a:schemeClr val="accent1"/>
            </a:effectRef>
            <a:fontRef idx="minor">
              <a:schemeClr val="tx1"/>
            </a:fontRef>
          </p:style>
        </p:cxnSp>
        <p:sp>
          <p:nvSpPr>
            <p:cNvPr id="11" name="文本框 10">
              <a:extLst>
                <a:ext uri="{FF2B5EF4-FFF2-40B4-BE49-F238E27FC236}">
                  <a16:creationId xmlns:a16="http://schemas.microsoft.com/office/drawing/2014/main" id="{61D452BE-7F9B-9F4F-AFD9-DC30DE684E3B}"/>
                </a:ext>
              </a:extLst>
            </p:cNvPr>
            <p:cNvSpPr txBox="1"/>
            <p:nvPr/>
          </p:nvSpPr>
          <p:spPr>
            <a:xfrm>
              <a:off x="7533684" y="3219477"/>
              <a:ext cx="1608134" cy="646331"/>
            </a:xfrm>
            <a:prstGeom prst="rect">
              <a:avLst/>
            </a:prstGeom>
            <a:noFill/>
          </p:spPr>
          <p:txBody>
            <a:bodyPr wrap="none" rtlCol="0">
              <a:spAutoFit/>
            </a:bodyPr>
            <a:lstStyle/>
            <a:p>
              <a:pPr algn="ctr"/>
              <a:r>
                <a:rPr kumimoji="1" lang="en-US" altLang="zh-CN" dirty="0"/>
                <a:t>Non-root</a:t>
              </a:r>
              <a:r>
                <a:rPr kumimoji="1" lang="zh-CN" altLang="en-US" dirty="0"/>
                <a:t> 模式</a:t>
              </a:r>
              <a:endParaRPr kumimoji="1" lang="en-US" altLang="zh-CN" dirty="0"/>
            </a:p>
            <a:p>
              <a:pPr algn="ctr"/>
              <a:r>
                <a:rPr kumimoji="1" lang="en-US" altLang="zh-CN" dirty="0"/>
                <a:t>Ring-0</a:t>
              </a:r>
              <a:endParaRPr kumimoji="1" lang="zh-CN" altLang="en-US" dirty="0"/>
            </a:p>
          </p:txBody>
        </p:sp>
        <p:sp>
          <p:nvSpPr>
            <p:cNvPr id="12" name="文本框 11">
              <a:extLst>
                <a:ext uri="{FF2B5EF4-FFF2-40B4-BE49-F238E27FC236}">
                  <a16:creationId xmlns:a16="http://schemas.microsoft.com/office/drawing/2014/main" id="{5996FF38-7531-7044-9761-06199BEBFD61}"/>
                </a:ext>
              </a:extLst>
            </p:cNvPr>
            <p:cNvSpPr txBox="1"/>
            <p:nvPr/>
          </p:nvSpPr>
          <p:spPr>
            <a:xfrm>
              <a:off x="7525243" y="2325099"/>
              <a:ext cx="1608134" cy="646331"/>
            </a:xfrm>
            <a:prstGeom prst="rect">
              <a:avLst/>
            </a:prstGeom>
            <a:noFill/>
          </p:spPr>
          <p:txBody>
            <a:bodyPr wrap="none" rtlCol="0">
              <a:spAutoFit/>
            </a:bodyPr>
            <a:lstStyle/>
            <a:p>
              <a:pPr algn="ctr"/>
              <a:r>
                <a:rPr kumimoji="1" lang="en-US" altLang="zh-CN" dirty="0"/>
                <a:t>Non-root</a:t>
              </a:r>
              <a:r>
                <a:rPr kumimoji="1" lang="zh-CN" altLang="en-US" dirty="0"/>
                <a:t> 模式</a:t>
              </a:r>
              <a:endParaRPr kumimoji="1" lang="en-US" altLang="zh-CN" dirty="0"/>
            </a:p>
            <a:p>
              <a:pPr algn="ctr"/>
              <a:r>
                <a:rPr kumimoji="1" lang="en-US" altLang="zh-CN" dirty="0"/>
                <a:t>Ring-3</a:t>
              </a:r>
              <a:endParaRPr kumimoji="1" lang="zh-CN" altLang="en-US" dirty="0"/>
            </a:p>
          </p:txBody>
        </p:sp>
        <p:sp>
          <p:nvSpPr>
            <p:cNvPr id="13" name="Rectangle 22">
              <a:extLst>
                <a:ext uri="{FF2B5EF4-FFF2-40B4-BE49-F238E27FC236}">
                  <a16:creationId xmlns:a16="http://schemas.microsoft.com/office/drawing/2014/main" id="{1F5190EF-F564-1F40-A0E2-411D3B4D5BF5}"/>
                </a:ext>
              </a:extLst>
            </p:cNvPr>
            <p:cNvSpPr/>
            <p:nvPr/>
          </p:nvSpPr>
          <p:spPr>
            <a:xfrm>
              <a:off x="2147290" y="4354925"/>
              <a:ext cx="5224523" cy="670204"/>
            </a:xfrm>
            <a:prstGeom prst="rect">
              <a:avLst/>
            </a:prstGeom>
            <a:solidFill>
              <a:srgbClr val="BE384B"/>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pPr algn="r"/>
              <a:r>
                <a:rPr lang="zh-CN" altLang="en-US" sz="1600" dirty="0">
                  <a:solidFill>
                    <a:schemeClr val="bg1"/>
                  </a:solidFill>
                  <a:cs typeface="Arial Narrow"/>
                </a:rPr>
                <a:t>虚拟机监控器</a:t>
              </a:r>
              <a:endParaRPr lang="en-US" sz="1600" dirty="0">
                <a:solidFill>
                  <a:schemeClr val="bg1"/>
                </a:solidFill>
                <a:cs typeface="Arial Narrow"/>
              </a:endParaRPr>
            </a:p>
          </p:txBody>
        </p:sp>
        <p:sp>
          <p:nvSpPr>
            <p:cNvPr id="14" name="文本框 13">
              <a:extLst>
                <a:ext uri="{FF2B5EF4-FFF2-40B4-BE49-F238E27FC236}">
                  <a16:creationId xmlns:a16="http://schemas.microsoft.com/office/drawing/2014/main" id="{AC2D095C-A4E0-B240-AEF6-50CB9E19CB6D}"/>
                </a:ext>
              </a:extLst>
            </p:cNvPr>
            <p:cNvSpPr txBox="1"/>
            <p:nvPr/>
          </p:nvSpPr>
          <p:spPr>
            <a:xfrm>
              <a:off x="765167" y="4372259"/>
              <a:ext cx="1133644" cy="646331"/>
            </a:xfrm>
            <a:prstGeom prst="rect">
              <a:avLst/>
            </a:prstGeom>
            <a:noFill/>
          </p:spPr>
          <p:txBody>
            <a:bodyPr wrap="none" rtlCol="0">
              <a:spAutoFit/>
            </a:bodyPr>
            <a:lstStyle/>
            <a:p>
              <a:pPr algn="ctr"/>
              <a:r>
                <a:rPr kumimoji="1" lang="en-US" altLang="zh-CN" dirty="0"/>
                <a:t>Root</a:t>
              </a:r>
              <a:r>
                <a:rPr kumimoji="1" lang="zh-CN" altLang="en-US" dirty="0"/>
                <a:t>模式</a:t>
              </a:r>
              <a:endParaRPr kumimoji="1" lang="en-US" altLang="zh-CN" dirty="0"/>
            </a:p>
            <a:p>
              <a:pPr algn="ctr"/>
              <a:r>
                <a:rPr kumimoji="1" lang="en-US" altLang="zh-CN" dirty="0"/>
                <a:t>Ring-0</a:t>
              </a:r>
              <a:endParaRPr kumimoji="1" lang="zh-CN" altLang="en-US" dirty="0"/>
            </a:p>
          </p:txBody>
        </p:sp>
        <p:sp>
          <p:nvSpPr>
            <p:cNvPr id="17" name="Rectangle 22">
              <a:extLst>
                <a:ext uri="{FF2B5EF4-FFF2-40B4-BE49-F238E27FC236}">
                  <a16:creationId xmlns:a16="http://schemas.microsoft.com/office/drawing/2014/main" id="{23DF1B3C-70D8-F448-94CA-A7CE740D40D8}"/>
                </a:ext>
              </a:extLst>
            </p:cNvPr>
            <p:cNvSpPr/>
            <p:nvPr/>
          </p:nvSpPr>
          <p:spPr>
            <a:xfrm>
              <a:off x="4590140" y="3113416"/>
              <a:ext cx="2636232" cy="670204"/>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pPr algn="r"/>
              <a:r>
                <a:rPr lang="zh-CN" altLang="en-US" sz="1600" dirty="0">
                  <a:solidFill>
                    <a:srgbClr val="BE384B"/>
                  </a:solidFill>
                  <a:cs typeface="Arial Narrow"/>
                </a:rPr>
                <a:t>操作系统内核</a:t>
              </a:r>
              <a:endParaRPr lang="en-US" sz="1600" dirty="0">
                <a:solidFill>
                  <a:srgbClr val="BE384B"/>
                </a:solidFill>
                <a:cs typeface="Arial Narrow"/>
              </a:endParaRPr>
            </a:p>
          </p:txBody>
        </p:sp>
        <p:sp>
          <p:nvSpPr>
            <p:cNvPr id="18" name="Rectangle 27">
              <a:extLst>
                <a:ext uri="{FF2B5EF4-FFF2-40B4-BE49-F238E27FC236}">
                  <a16:creationId xmlns:a16="http://schemas.microsoft.com/office/drawing/2014/main" id="{BCBE0768-7A69-C741-8ACF-44BDA9E7E2C9}"/>
                </a:ext>
              </a:extLst>
            </p:cNvPr>
            <p:cNvSpPr/>
            <p:nvPr/>
          </p:nvSpPr>
          <p:spPr>
            <a:xfrm>
              <a:off x="4587897" y="2204453"/>
              <a:ext cx="2636232" cy="670202"/>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600" dirty="0">
                  <a:solidFill>
                    <a:srgbClr val="BE384B"/>
                  </a:solidFill>
                  <a:cs typeface="Arial Narrow"/>
                </a:rPr>
                <a:t>进程</a:t>
              </a:r>
              <a:endParaRPr lang="en-US" sz="1600" dirty="0">
                <a:solidFill>
                  <a:srgbClr val="BE384B"/>
                </a:solidFill>
                <a:cs typeface="Arial Narrow"/>
              </a:endParaRPr>
            </a:p>
          </p:txBody>
        </p:sp>
        <p:sp>
          <p:nvSpPr>
            <p:cNvPr id="19" name="圆角矩形 18">
              <a:extLst>
                <a:ext uri="{FF2B5EF4-FFF2-40B4-BE49-F238E27FC236}">
                  <a16:creationId xmlns:a16="http://schemas.microsoft.com/office/drawing/2014/main" id="{837643CB-0B54-B845-B78D-507DD889631E}"/>
                </a:ext>
              </a:extLst>
            </p:cNvPr>
            <p:cNvSpPr/>
            <p:nvPr/>
          </p:nvSpPr>
          <p:spPr>
            <a:xfrm>
              <a:off x="4440212" y="1805965"/>
              <a:ext cx="2931601" cy="2133498"/>
            </a:xfrm>
            <a:prstGeom prst="roundRect">
              <a:avLst>
                <a:gd name="adj" fmla="val 6497"/>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0" name="文本框 19">
              <a:extLst>
                <a:ext uri="{FF2B5EF4-FFF2-40B4-BE49-F238E27FC236}">
                  <a16:creationId xmlns:a16="http://schemas.microsoft.com/office/drawing/2014/main" id="{EDF1401A-A8B3-454B-B240-EFA78CAABC90}"/>
                </a:ext>
              </a:extLst>
            </p:cNvPr>
            <p:cNvSpPr txBox="1"/>
            <p:nvPr/>
          </p:nvSpPr>
          <p:spPr>
            <a:xfrm>
              <a:off x="5436096" y="1839539"/>
              <a:ext cx="1416615" cy="501210"/>
            </a:xfrm>
            <a:prstGeom prst="rect">
              <a:avLst/>
            </a:prstGeom>
            <a:noFill/>
          </p:spPr>
          <p:txBody>
            <a:bodyPr wrap="none" rtlCol="0">
              <a:spAutoFit/>
            </a:bodyPr>
            <a:lstStyle/>
            <a:p>
              <a:r>
                <a:rPr kumimoji="1" lang="zh-CN" altLang="en-US" dirty="0"/>
                <a:t>虚拟机</a:t>
              </a:r>
              <a:r>
                <a:rPr kumimoji="1" lang="en-US" altLang="zh-CN" dirty="0"/>
                <a:t>N</a:t>
              </a:r>
              <a:endParaRPr kumimoji="1" lang="zh-CN" altLang="en-US" dirty="0"/>
            </a:p>
          </p:txBody>
        </p:sp>
      </p:grpSp>
      <p:sp>
        <p:nvSpPr>
          <p:cNvPr id="21" name="文本框 20">
            <a:extLst>
              <a:ext uri="{FF2B5EF4-FFF2-40B4-BE49-F238E27FC236}">
                <a16:creationId xmlns:a16="http://schemas.microsoft.com/office/drawing/2014/main" id="{86418850-A836-444A-85CE-21871D5D00BE}"/>
              </a:ext>
            </a:extLst>
          </p:cNvPr>
          <p:cNvSpPr txBox="1"/>
          <p:nvPr/>
        </p:nvSpPr>
        <p:spPr>
          <a:xfrm>
            <a:off x="395536" y="2595591"/>
            <a:ext cx="1133644" cy="646331"/>
          </a:xfrm>
          <a:prstGeom prst="rect">
            <a:avLst/>
          </a:prstGeom>
          <a:noFill/>
        </p:spPr>
        <p:txBody>
          <a:bodyPr wrap="none" rtlCol="0">
            <a:spAutoFit/>
          </a:bodyPr>
          <a:lstStyle/>
          <a:p>
            <a:pPr algn="ctr"/>
            <a:r>
              <a:rPr kumimoji="1" lang="en-US" altLang="zh-CN" dirty="0"/>
              <a:t>Root</a:t>
            </a:r>
            <a:r>
              <a:rPr kumimoji="1" lang="zh-CN" altLang="en-US" dirty="0"/>
              <a:t>模式</a:t>
            </a:r>
            <a:endParaRPr kumimoji="1" lang="en-US" altLang="zh-CN" dirty="0"/>
          </a:p>
          <a:p>
            <a:pPr algn="ctr"/>
            <a:r>
              <a:rPr kumimoji="1" lang="en-US" altLang="zh-CN" dirty="0"/>
              <a:t>Ring-3</a:t>
            </a:r>
            <a:endParaRPr kumimoji="1" lang="zh-CN" altLang="en-US" dirty="0"/>
          </a:p>
        </p:txBody>
      </p:sp>
    </p:spTree>
    <p:extLst>
      <p:ext uri="{BB962C8B-B14F-4D97-AF65-F5344CB8AC3E}">
        <p14:creationId xmlns:p14="http://schemas.microsoft.com/office/powerpoint/2010/main" val="2486381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D637B1-BF04-354A-B52E-893C70BE8B7D}"/>
              </a:ext>
            </a:extLst>
          </p:cNvPr>
          <p:cNvSpPr>
            <a:spLocks noGrp="1"/>
          </p:cNvSpPr>
          <p:nvPr>
            <p:ph type="title"/>
          </p:nvPr>
        </p:nvSpPr>
        <p:spPr/>
        <p:txBody>
          <a:bodyPr>
            <a:normAutofit fontScale="90000"/>
          </a:bodyPr>
          <a:lstStyle/>
          <a:p>
            <a:r>
              <a:rPr kumimoji="1" lang="en-US" altLang="zh-CN" dirty="0"/>
              <a:t>Virtual</a:t>
            </a:r>
            <a:r>
              <a:rPr kumimoji="1" lang="zh-CN" altLang="en-US" dirty="0"/>
              <a:t> </a:t>
            </a:r>
            <a:r>
              <a:rPr kumimoji="1" lang="en-US" altLang="zh-CN" dirty="0"/>
              <a:t>Machine</a:t>
            </a:r>
            <a:r>
              <a:rPr kumimoji="1" lang="zh-CN" altLang="en-US" dirty="0"/>
              <a:t> </a:t>
            </a:r>
            <a:r>
              <a:rPr kumimoji="1" lang="en-US" altLang="zh-CN" dirty="0"/>
              <a:t>Control</a:t>
            </a:r>
            <a:r>
              <a:rPr kumimoji="1" lang="zh-CN" altLang="en-US" dirty="0"/>
              <a:t> </a:t>
            </a:r>
            <a:r>
              <a:rPr kumimoji="1" lang="en-US" altLang="zh-CN" dirty="0"/>
              <a:t>Structure</a:t>
            </a:r>
            <a:r>
              <a:rPr kumimoji="1" lang="zh-CN" altLang="en-US" dirty="0"/>
              <a:t> </a:t>
            </a:r>
            <a:r>
              <a:rPr kumimoji="1" lang="en-US" altLang="zh-CN" dirty="0"/>
              <a:t>(VMCS)</a:t>
            </a:r>
            <a:endParaRPr kumimoji="1" lang="zh-CN" altLang="en-US" dirty="0"/>
          </a:p>
        </p:txBody>
      </p:sp>
      <p:sp>
        <p:nvSpPr>
          <p:cNvPr id="3" name="内容占位符 2">
            <a:extLst>
              <a:ext uri="{FF2B5EF4-FFF2-40B4-BE49-F238E27FC236}">
                <a16:creationId xmlns:a16="http://schemas.microsoft.com/office/drawing/2014/main" id="{0C60AD64-5E1E-7445-BD7B-4AA6342833CC}"/>
              </a:ext>
            </a:extLst>
          </p:cNvPr>
          <p:cNvSpPr>
            <a:spLocks noGrp="1"/>
          </p:cNvSpPr>
          <p:nvPr>
            <p:ph idx="1"/>
          </p:nvPr>
        </p:nvSpPr>
        <p:spPr/>
        <p:txBody>
          <a:bodyPr>
            <a:normAutofit lnSpcReduction="10000"/>
          </a:bodyPr>
          <a:lstStyle/>
          <a:p>
            <a:r>
              <a:rPr kumimoji="1" lang="en-US" altLang="zh-CN" dirty="0"/>
              <a:t>VMM</a:t>
            </a:r>
            <a:r>
              <a:rPr kumimoji="1" lang="zh-CN" altLang="en-US" dirty="0"/>
              <a:t>提供给硬件的内存页（</a:t>
            </a:r>
            <a:r>
              <a:rPr kumimoji="1" lang="en-US" altLang="zh-CN" dirty="0"/>
              <a:t>4KB</a:t>
            </a:r>
            <a:r>
              <a:rPr kumimoji="1" lang="zh-CN" altLang="en-US" dirty="0"/>
              <a:t>）</a:t>
            </a:r>
            <a:endParaRPr kumimoji="1" lang="en-US" altLang="zh-CN" dirty="0"/>
          </a:p>
          <a:p>
            <a:pPr lvl="1"/>
            <a:r>
              <a:rPr kumimoji="1" lang="zh-CN" altLang="en-US" dirty="0"/>
              <a:t>记录与当前</a:t>
            </a:r>
            <a:r>
              <a:rPr kumimoji="1" lang="en-US" altLang="zh-CN" dirty="0"/>
              <a:t>VM</a:t>
            </a:r>
            <a:r>
              <a:rPr kumimoji="1" lang="zh-CN" altLang="en-US" dirty="0"/>
              <a:t>运行相关的所有状态</a:t>
            </a:r>
            <a:endParaRPr kumimoji="1" lang="en-US" altLang="zh-CN" dirty="0"/>
          </a:p>
          <a:p>
            <a:r>
              <a:rPr kumimoji="1" lang="en-US" altLang="zh-CN" dirty="0"/>
              <a:t>VM</a:t>
            </a:r>
            <a:r>
              <a:rPr kumimoji="1" lang="zh-CN" altLang="en-US" dirty="0"/>
              <a:t> </a:t>
            </a:r>
            <a:r>
              <a:rPr kumimoji="1" lang="en-US" altLang="zh-CN" dirty="0"/>
              <a:t>Entry</a:t>
            </a:r>
          </a:p>
          <a:p>
            <a:pPr lvl="1"/>
            <a:r>
              <a:rPr kumimoji="1" lang="zh-CN" altLang="en-US" dirty="0"/>
              <a:t>硬件自动将当前</a:t>
            </a:r>
            <a:r>
              <a:rPr kumimoji="1" lang="en-US" altLang="zh-CN" dirty="0"/>
              <a:t>CPU</a:t>
            </a:r>
            <a:r>
              <a:rPr kumimoji="1" lang="zh-CN" altLang="en-US" dirty="0"/>
              <a:t>中的</a:t>
            </a:r>
            <a:r>
              <a:rPr kumimoji="1" lang="en-US" altLang="zh-CN" dirty="0"/>
              <a:t>VMM</a:t>
            </a:r>
            <a:r>
              <a:rPr kumimoji="1" lang="zh-CN" altLang="en-US" dirty="0"/>
              <a:t>状态保存至</a:t>
            </a:r>
            <a:r>
              <a:rPr kumimoji="1" lang="en-US" altLang="zh-CN" dirty="0"/>
              <a:t>VMCS</a:t>
            </a:r>
          </a:p>
          <a:p>
            <a:pPr lvl="1"/>
            <a:r>
              <a:rPr kumimoji="1" lang="zh-CN" altLang="en-US" dirty="0"/>
              <a:t>硬件硬件自动从</a:t>
            </a:r>
            <a:r>
              <a:rPr kumimoji="1" lang="en-US" altLang="zh-CN" dirty="0"/>
              <a:t>VMCS</a:t>
            </a:r>
            <a:r>
              <a:rPr kumimoji="1" lang="zh-CN" altLang="en-US" dirty="0"/>
              <a:t>中加载</a:t>
            </a:r>
            <a:r>
              <a:rPr kumimoji="1" lang="en-US" altLang="zh-CN" dirty="0"/>
              <a:t>VM</a:t>
            </a:r>
            <a:r>
              <a:rPr kumimoji="1" lang="zh-CN" altLang="en-US" dirty="0"/>
              <a:t>状态至</a:t>
            </a:r>
            <a:r>
              <a:rPr kumimoji="1" lang="en-US" altLang="zh-CN" dirty="0"/>
              <a:t>CPU</a:t>
            </a:r>
            <a:r>
              <a:rPr kumimoji="1" lang="zh-CN" altLang="en-US" dirty="0"/>
              <a:t>中</a:t>
            </a:r>
            <a:endParaRPr kumimoji="1" lang="en-US" altLang="zh-CN" dirty="0"/>
          </a:p>
          <a:p>
            <a:r>
              <a:rPr kumimoji="1" lang="en-US" altLang="zh-CN" dirty="0"/>
              <a:t>VM</a:t>
            </a:r>
            <a:r>
              <a:rPr kumimoji="1" lang="zh-CN" altLang="en-US" dirty="0"/>
              <a:t> </a:t>
            </a:r>
            <a:r>
              <a:rPr kumimoji="1" lang="en-US" altLang="zh-CN" dirty="0"/>
              <a:t>Exit</a:t>
            </a:r>
          </a:p>
          <a:p>
            <a:pPr lvl="1"/>
            <a:r>
              <a:rPr kumimoji="1" lang="zh-CN" altLang="en-US" dirty="0"/>
              <a:t>硬件自动将当前</a:t>
            </a:r>
            <a:r>
              <a:rPr kumimoji="1" lang="en-US" altLang="zh-CN" dirty="0"/>
              <a:t>CPU</a:t>
            </a:r>
            <a:r>
              <a:rPr kumimoji="1" lang="zh-CN" altLang="en-US" dirty="0"/>
              <a:t>中的</a:t>
            </a:r>
            <a:r>
              <a:rPr kumimoji="1" lang="en-US" altLang="zh-CN" dirty="0"/>
              <a:t>VM</a:t>
            </a:r>
            <a:r>
              <a:rPr kumimoji="1" lang="zh-CN" altLang="en-US" dirty="0"/>
              <a:t>状态保存至</a:t>
            </a:r>
            <a:r>
              <a:rPr kumimoji="1" lang="en-US" altLang="zh-CN" dirty="0"/>
              <a:t>VMCS</a:t>
            </a:r>
          </a:p>
          <a:p>
            <a:pPr lvl="1"/>
            <a:r>
              <a:rPr kumimoji="1" lang="zh-CN" altLang="en-US" dirty="0"/>
              <a:t>硬件自动从</a:t>
            </a:r>
            <a:r>
              <a:rPr kumimoji="1" lang="en-US" altLang="zh-CN" dirty="0"/>
              <a:t>VMCS</a:t>
            </a:r>
            <a:r>
              <a:rPr kumimoji="1" lang="zh-CN" altLang="en-US" dirty="0"/>
              <a:t>加载</a:t>
            </a:r>
            <a:r>
              <a:rPr kumimoji="1" lang="en-US" altLang="zh-CN" dirty="0"/>
              <a:t>VMM</a:t>
            </a:r>
            <a:r>
              <a:rPr kumimoji="1" lang="zh-CN" altLang="en-US" dirty="0"/>
              <a:t>状态至</a:t>
            </a:r>
            <a:r>
              <a:rPr kumimoji="1" lang="en-US" altLang="zh-CN" dirty="0"/>
              <a:t>CPU</a:t>
            </a:r>
            <a:r>
              <a:rPr kumimoji="1" lang="zh-CN" altLang="en-US" dirty="0"/>
              <a:t>中</a:t>
            </a:r>
            <a:endParaRPr kumimoji="1" lang="en-US" altLang="zh-CN" dirty="0"/>
          </a:p>
        </p:txBody>
      </p:sp>
      <p:sp>
        <p:nvSpPr>
          <p:cNvPr id="4" name="灯片编号占位符 3">
            <a:extLst>
              <a:ext uri="{FF2B5EF4-FFF2-40B4-BE49-F238E27FC236}">
                <a16:creationId xmlns:a16="http://schemas.microsoft.com/office/drawing/2014/main" id="{5261F7E6-AD13-134F-9EBF-B9E754066E63}"/>
              </a:ext>
            </a:extLst>
          </p:cNvPr>
          <p:cNvSpPr>
            <a:spLocks noGrp="1"/>
          </p:cNvSpPr>
          <p:nvPr>
            <p:ph type="sldNum" sz="quarter" idx="12"/>
          </p:nvPr>
        </p:nvSpPr>
        <p:spPr/>
        <p:txBody>
          <a:bodyPr/>
          <a:lstStyle/>
          <a:p>
            <a:fld id="{ADE361C3-C043-4A6E-BDCE-8DA1E7D90A3B}" type="slidenum">
              <a:rPr lang="zh-CN" altLang="en-US" smtClean="0"/>
              <a:t>23</a:t>
            </a:fld>
            <a:endParaRPr lang="zh-CN" altLang="en-US"/>
          </a:p>
        </p:txBody>
      </p:sp>
      <p:sp>
        <p:nvSpPr>
          <p:cNvPr id="5" name="页脚占位符 4">
            <a:extLst>
              <a:ext uri="{FF2B5EF4-FFF2-40B4-BE49-F238E27FC236}">
                <a16:creationId xmlns:a16="http://schemas.microsoft.com/office/drawing/2014/main" id="{9EB2F501-E7A2-8948-8719-33A099C21755}"/>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8369124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7B91B4-7DA0-E040-ACD5-4BD8C59F34BA}"/>
              </a:ext>
            </a:extLst>
          </p:cNvPr>
          <p:cNvSpPr>
            <a:spLocks noGrp="1"/>
          </p:cNvSpPr>
          <p:nvPr>
            <p:ph type="title"/>
          </p:nvPr>
        </p:nvSpPr>
        <p:spPr/>
        <p:txBody>
          <a:bodyPr/>
          <a:lstStyle/>
          <a:p>
            <a:r>
              <a:rPr kumimoji="1" lang="en-US" altLang="zh-CN" dirty="0"/>
              <a:t>VT-x</a:t>
            </a:r>
            <a:r>
              <a:rPr kumimoji="1" lang="zh-CN" altLang="en-US" dirty="0"/>
              <a:t> </a:t>
            </a:r>
            <a:r>
              <a:rPr kumimoji="1" lang="en-US" altLang="zh-CN" dirty="0"/>
              <a:t>VMCS</a:t>
            </a:r>
            <a:r>
              <a:rPr kumimoji="1" lang="zh-CN" altLang="en-US" dirty="0"/>
              <a:t>的内容</a:t>
            </a:r>
          </a:p>
        </p:txBody>
      </p:sp>
      <p:sp>
        <p:nvSpPr>
          <p:cNvPr id="3" name="内容占位符 2">
            <a:extLst>
              <a:ext uri="{FF2B5EF4-FFF2-40B4-BE49-F238E27FC236}">
                <a16:creationId xmlns:a16="http://schemas.microsoft.com/office/drawing/2014/main" id="{9F30ADD3-DAF6-634F-9975-B0A4068C3C9D}"/>
              </a:ext>
            </a:extLst>
          </p:cNvPr>
          <p:cNvSpPr>
            <a:spLocks noGrp="1"/>
          </p:cNvSpPr>
          <p:nvPr>
            <p:ph idx="1"/>
          </p:nvPr>
        </p:nvSpPr>
        <p:spPr/>
        <p:txBody>
          <a:bodyPr>
            <a:normAutofit fontScale="92500"/>
          </a:bodyPr>
          <a:lstStyle/>
          <a:p>
            <a:r>
              <a:rPr kumimoji="1" lang="zh-CN" altLang="en-US" dirty="0"/>
              <a:t>包含</a:t>
            </a:r>
            <a:r>
              <a:rPr kumimoji="1" lang="en-US" altLang="zh-CN" dirty="0"/>
              <a:t>6</a:t>
            </a:r>
            <a:r>
              <a:rPr kumimoji="1" lang="zh-CN" altLang="en-US" dirty="0"/>
              <a:t>个部分</a:t>
            </a:r>
            <a:endParaRPr kumimoji="1" lang="en-US" altLang="zh-CN" dirty="0"/>
          </a:p>
          <a:p>
            <a:pPr lvl="1"/>
            <a:r>
              <a:rPr kumimoji="1" lang="en-US" altLang="zh-CN" dirty="0"/>
              <a:t>Guest-state</a:t>
            </a:r>
            <a:r>
              <a:rPr kumimoji="1" lang="zh-CN" altLang="en-US" dirty="0"/>
              <a:t> </a:t>
            </a:r>
            <a:r>
              <a:rPr kumimoji="1" lang="en-US" altLang="zh-CN" dirty="0"/>
              <a:t>area:</a:t>
            </a:r>
            <a:r>
              <a:rPr kumimoji="1" lang="zh-CN" altLang="en-US" dirty="0"/>
              <a:t> 发生</a:t>
            </a:r>
            <a:r>
              <a:rPr kumimoji="1" lang="en-US" altLang="zh-CN" dirty="0"/>
              <a:t>VM</a:t>
            </a:r>
            <a:r>
              <a:rPr kumimoji="1" lang="zh-CN" altLang="en-US" dirty="0"/>
              <a:t> </a:t>
            </a:r>
            <a:r>
              <a:rPr kumimoji="1" lang="en-US" altLang="zh-CN" dirty="0"/>
              <a:t>exit</a:t>
            </a:r>
            <a:r>
              <a:rPr kumimoji="1" lang="zh-CN" altLang="en-US" dirty="0"/>
              <a:t>时，</a:t>
            </a:r>
            <a:r>
              <a:rPr kumimoji="1" lang="en-US" altLang="zh-CN" dirty="0"/>
              <a:t>CPU</a:t>
            </a:r>
            <a:r>
              <a:rPr kumimoji="1" lang="zh-CN" altLang="en-US" dirty="0"/>
              <a:t>的状态会被硬件自动保存至该区域；发生</a:t>
            </a:r>
            <a:r>
              <a:rPr kumimoji="1" lang="en-US" altLang="zh-CN" dirty="0"/>
              <a:t>VM</a:t>
            </a:r>
            <a:r>
              <a:rPr kumimoji="1" lang="zh-CN" altLang="en-US" dirty="0"/>
              <a:t> </a:t>
            </a:r>
            <a:r>
              <a:rPr kumimoji="1" lang="en-US" altLang="zh-CN" dirty="0"/>
              <a:t>Entry</a:t>
            </a:r>
            <a:r>
              <a:rPr kumimoji="1" lang="zh-CN" altLang="en-US" dirty="0"/>
              <a:t>时，硬件自动从该区域加载状态至</a:t>
            </a:r>
            <a:r>
              <a:rPr kumimoji="1" lang="en-US" altLang="zh-CN" dirty="0"/>
              <a:t>CPU</a:t>
            </a:r>
            <a:r>
              <a:rPr kumimoji="1" lang="zh-CN" altLang="en-US" dirty="0"/>
              <a:t>中</a:t>
            </a:r>
            <a:endParaRPr kumimoji="1" lang="en-US" altLang="zh-CN" dirty="0"/>
          </a:p>
          <a:p>
            <a:pPr lvl="1"/>
            <a:r>
              <a:rPr kumimoji="1" lang="en-US" altLang="zh-CN" dirty="0"/>
              <a:t>Host-state</a:t>
            </a:r>
            <a:r>
              <a:rPr kumimoji="1" lang="zh-CN" altLang="en-US" dirty="0"/>
              <a:t> </a:t>
            </a:r>
            <a:r>
              <a:rPr kumimoji="1" lang="en-US" altLang="zh-CN" dirty="0"/>
              <a:t>area</a:t>
            </a:r>
            <a:r>
              <a:rPr kumimoji="1" lang="zh-CN" altLang="en-US" dirty="0"/>
              <a:t>：发生</a:t>
            </a:r>
            <a:r>
              <a:rPr kumimoji="1" lang="en-US" altLang="zh-CN" dirty="0"/>
              <a:t>VM</a:t>
            </a:r>
            <a:r>
              <a:rPr kumimoji="1" lang="zh-CN" altLang="en-US" dirty="0"/>
              <a:t> </a:t>
            </a:r>
            <a:r>
              <a:rPr kumimoji="1" lang="en-US" altLang="zh-CN" dirty="0"/>
              <a:t>exit</a:t>
            </a:r>
            <a:r>
              <a:rPr kumimoji="1" lang="zh-CN" altLang="en-US" dirty="0"/>
              <a:t>时，硬件自动从该区域加载状态至</a:t>
            </a:r>
            <a:r>
              <a:rPr kumimoji="1" lang="en-US" altLang="zh-CN" dirty="0"/>
              <a:t>CPU</a:t>
            </a:r>
            <a:r>
              <a:rPr kumimoji="1" lang="zh-CN" altLang="en-US" dirty="0"/>
              <a:t>中；发生</a:t>
            </a:r>
            <a:r>
              <a:rPr kumimoji="1" lang="en-US" altLang="zh-CN" dirty="0"/>
              <a:t>VM</a:t>
            </a:r>
            <a:r>
              <a:rPr kumimoji="1" lang="zh-CN" altLang="en-US" dirty="0"/>
              <a:t> </a:t>
            </a:r>
            <a:r>
              <a:rPr kumimoji="1" lang="en-US" altLang="zh-CN" dirty="0"/>
              <a:t>Entry</a:t>
            </a:r>
            <a:r>
              <a:rPr kumimoji="1" lang="zh-CN" altLang="en-US" dirty="0"/>
              <a:t>时，</a:t>
            </a:r>
            <a:r>
              <a:rPr kumimoji="1" lang="en-US" altLang="zh-CN" dirty="0"/>
              <a:t>CPU</a:t>
            </a:r>
            <a:r>
              <a:rPr kumimoji="1" lang="zh-CN" altLang="en-US" dirty="0"/>
              <a:t>的状态会被自动保存至该区域</a:t>
            </a:r>
            <a:endParaRPr kumimoji="1" lang="en-US" altLang="zh-CN" dirty="0"/>
          </a:p>
          <a:p>
            <a:pPr lvl="1"/>
            <a:r>
              <a:rPr kumimoji="1" lang="en-US" altLang="zh-CN" dirty="0"/>
              <a:t>VM-execution</a:t>
            </a:r>
            <a:r>
              <a:rPr kumimoji="1" lang="zh-CN" altLang="en-US" dirty="0"/>
              <a:t> </a:t>
            </a:r>
            <a:r>
              <a:rPr kumimoji="1" lang="en-US" altLang="zh-CN" dirty="0"/>
              <a:t>control</a:t>
            </a:r>
            <a:r>
              <a:rPr kumimoji="1" lang="zh-CN" altLang="en-US" dirty="0"/>
              <a:t> </a:t>
            </a:r>
            <a:r>
              <a:rPr kumimoji="1" lang="en-US" altLang="zh-CN" dirty="0"/>
              <a:t>fields</a:t>
            </a:r>
            <a:r>
              <a:rPr kumimoji="1" lang="zh-CN" altLang="en-US" dirty="0"/>
              <a:t>：</a:t>
            </a:r>
            <a:r>
              <a:rPr lang="en-US" altLang="zh-CN" dirty="0"/>
              <a:t> </a:t>
            </a:r>
            <a:r>
              <a:rPr lang="zh-CN" altLang="en-US" dirty="0"/>
              <a:t>控制</a:t>
            </a:r>
            <a:r>
              <a:rPr lang="en-US" altLang="zh-CN" dirty="0"/>
              <a:t>Non-root</a:t>
            </a:r>
            <a:r>
              <a:rPr lang="zh-CN" altLang="en-US" dirty="0"/>
              <a:t>模式中虚拟机的行为</a:t>
            </a:r>
            <a:endParaRPr lang="en-US" altLang="zh-CN" dirty="0"/>
          </a:p>
          <a:p>
            <a:pPr lvl="1"/>
            <a:r>
              <a:rPr kumimoji="1" lang="en-US" altLang="zh-CN" dirty="0"/>
              <a:t>VM-exit</a:t>
            </a:r>
            <a:r>
              <a:rPr kumimoji="1" lang="zh-CN" altLang="en-US" dirty="0"/>
              <a:t> </a:t>
            </a:r>
            <a:r>
              <a:rPr kumimoji="1" lang="en-US" altLang="zh-CN" dirty="0"/>
              <a:t>control</a:t>
            </a:r>
            <a:r>
              <a:rPr kumimoji="1" lang="zh-CN" altLang="en-US" dirty="0"/>
              <a:t> </a:t>
            </a:r>
            <a:r>
              <a:rPr kumimoji="1" lang="en-US" altLang="zh-CN" dirty="0"/>
              <a:t>fields</a:t>
            </a:r>
            <a:r>
              <a:rPr kumimoji="1" lang="zh-CN" altLang="en-US" dirty="0"/>
              <a:t>：控制</a:t>
            </a:r>
            <a:r>
              <a:rPr kumimoji="1" lang="en-US" altLang="zh-CN" dirty="0"/>
              <a:t>VM</a:t>
            </a:r>
            <a:r>
              <a:rPr kumimoji="1" lang="zh-CN" altLang="en-US" dirty="0"/>
              <a:t> </a:t>
            </a:r>
            <a:r>
              <a:rPr kumimoji="1" lang="en-US" altLang="zh-CN" dirty="0"/>
              <a:t>exit</a:t>
            </a:r>
            <a:r>
              <a:rPr kumimoji="1" lang="zh-CN" altLang="en-US" dirty="0"/>
              <a:t>的行为</a:t>
            </a:r>
            <a:endParaRPr kumimoji="1" lang="en-US" altLang="zh-CN" dirty="0"/>
          </a:p>
          <a:p>
            <a:pPr lvl="1"/>
            <a:r>
              <a:rPr kumimoji="1" lang="en-US" altLang="zh-CN" dirty="0"/>
              <a:t>VM-entry</a:t>
            </a:r>
            <a:r>
              <a:rPr kumimoji="1" lang="zh-CN" altLang="en-US" dirty="0"/>
              <a:t> </a:t>
            </a:r>
            <a:r>
              <a:rPr kumimoji="1" lang="en-US" altLang="zh-CN" dirty="0"/>
              <a:t>control</a:t>
            </a:r>
            <a:r>
              <a:rPr kumimoji="1" lang="zh-CN" altLang="en-US" dirty="0"/>
              <a:t> </a:t>
            </a:r>
            <a:r>
              <a:rPr kumimoji="1" lang="en-US" altLang="zh-CN" dirty="0"/>
              <a:t>fields</a:t>
            </a:r>
            <a:r>
              <a:rPr kumimoji="1" lang="zh-CN" altLang="en-US" dirty="0"/>
              <a:t>：控制</a:t>
            </a:r>
            <a:r>
              <a:rPr kumimoji="1" lang="en-US" altLang="zh-CN" dirty="0"/>
              <a:t>VM</a:t>
            </a:r>
            <a:r>
              <a:rPr kumimoji="1" lang="zh-CN" altLang="en-US" dirty="0"/>
              <a:t> </a:t>
            </a:r>
            <a:r>
              <a:rPr kumimoji="1" lang="en-US" altLang="zh-CN" dirty="0"/>
              <a:t>entry</a:t>
            </a:r>
            <a:r>
              <a:rPr kumimoji="1" lang="zh-CN" altLang="en-US" dirty="0"/>
              <a:t>的行为</a:t>
            </a:r>
            <a:endParaRPr kumimoji="1" lang="en-US" altLang="zh-CN" dirty="0"/>
          </a:p>
          <a:p>
            <a:pPr lvl="1"/>
            <a:r>
              <a:rPr kumimoji="1" lang="en-US" altLang="zh-CN" dirty="0"/>
              <a:t>VM-exit</a:t>
            </a:r>
            <a:r>
              <a:rPr kumimoji="1" lang="zh-CN" altLang="en-US" dirty="0"/>
              <a:t> </a:t>
            </a:r>
            <a:r>
              <a:rPr kumimoji="1" lang="en-US" altLang="zh-CN" dirty="0"/>
              <a:t>information</a:t>
            </a:r>
            <a:r>
              <a:rPr kumimoji="1" lang="zh-CN" altLang="en-US" dirty="0"/>
              <a:t> </a:t>
            </a:r>
            <a:r>
              <a:rPr kumimoji="1" lang="en-US" altLang="zh-CN" dirty="0"/>
              <a:t>fields</a:t>
            </a:r>
            <a:r>
              <a:rPr kumimoji="1" lang="zh-CN" altLang="en-US" dirty="0"/>
              <a:t>：</a:t>
            </a:r>
            <a:r>
              <a:rPr kumimoji="1" lang="en-US" altLang="zh-CN" dirty="0"/>
              <a:t>VM</a:t>
            </a:r>
            <a:r>
              <a:rPr kumimoji="1" lang="zh-CN" altLang="en-US" dirty="0"/>
              <a:t> </a:t>
            </a:r>
            <a:r>
              <a:rPr kumimoji="1" lang="en-US" altLang="zh-CN" dirty="0"/>
              <a:t>Exit</a:t>
            </a:r>
            <a:r>
              <a:rPr kumimoji="1" lang="zh-CN" altLang="en-US" dirty="0"/>
              <a:t>的原因和相关信息（只读区域）</a:t>
            </a:r>
            <a:endParaRPr kumimoji="1" lang="en-US" altLang="zh-CN" dirty="0"/>
          </a:p>
        </p:txBody>
      </p:sp>
      <p:sp>
        <p:nvSpPr>
          <p:cNvPr id="4" name="灯片编号占位符 3">
            <a:extLst>
              <a:ext uri="{FF2B5EF4-FFF2-40B4-BE49-F238E27FC236}">
                <a16:creationId xmlns:a16="http://schemas.microsoft.com/office/drawing/2014/main" id="{CBC0B91A-B7A5-544A-822B-FEF23BFF6781}"/>
              </a:ext>
            </a:extLst>
          </p:cNvPr>
          <p:cNvSpPr>
            <a:spLocks noGrp="1"/>
          </p:cNvSpPr>
          <p:nvPr>
            <p:ph type="sldNum" sz="quarter" idx="12"/>
          </p:nvPr>
        </p:nvSpPr>
        <p:spPr/>
        <p:txBody>
          <a:bodyPr/>
          <a:lstStyle/>
          <a:p>
            <a:fld id="{ADE361C3-C043-4A6E-BDCE-8DA1E7D90A3B}" type="slidenum">
              <a:rPr lang="zh-CN" altLang="en-US" smtClean="0"/>
              <a:t>24</a:t>
            </a:fld>
            <a:endParaRPr lang="zh-CN" altLang="en-US"/>
          </a:p>
        </p:txBody>
      </p:sp>
      <p:sp>
        <p:nvSpPr>
          <p:cNvPr id="5" name="页脚占位符 4">
            <a:extLst>
              <a:ext uri="{FF2B5EF4-FFF2-40B4-BE49-F238E27FC236}">
                <a16:creationId xmlns:a16="http://schemas.microsoft.com/office/drawing/2014/main" id="{FCAE0A03-2AB2-F64B-80DF-3518101E8719}"/>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0061740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E50B0B-05A3-2D43-AD42-4C9912DD733B}"/>
              </a:ext>
            </a:extLst>
          </p:cNvPr>
          <p:cNvSpPr>
            <a:spLocks noGrp="1"/>
          </p:cNvSpPr>
          <p:nvPr>
            <p:ph type="title"/>
          </p:nvPr>
        </p:nvSpPr>
        <p:spPr/>
        <p:txBody>
          <a:bodyPr/>
          <a:lstStyle/>
          <a:p>
            <a:r>
              <a:rPr kumimoji="1" lang="en-US" altLang="zh-CN" dirty="0"/>
              <a:t>VT-x</a:t>
            </a:r>
            <a:r>
              <a:rPr kumimoji="1" lang="zh-CN" altLang="en-US" dirty="0"/>
              <a:t>的执行过程</a:t>
            </a:r>
          </a:p>
        </p:txBody>
      </p:sp>
      <p:sp>
        <p:nvSpPr>
          <p:cNvPr id="4" name="灯片编号占位符 3">
            <a:extLst>
              <a:ext uri="{FF2B5EF4-FFF2-40B4-BE49-F238E27FC236}">
                <a16:creationId xmlns:a16="http://schemas.microsoft.com/office/drawing/2014/main" id="{DDC30944-3BD4-8E46-9825-B3146BF9D5C2}"/>
              </a:ext>
            </a:extLst>
          </p:cNvPr>
          <p:cNvSpPr>
            <a:spLocks noGrp="1"/>
          </p:cNvSpPr>
          <p:nvPr>
            <p:ph type="sldNum" sz="quarter" idx="12"/>
          </p:nvPr>
        </p:nvSpPr>
        <p:spPr/>
        <p:txBody>
          <a:bodyPr/>
          <a:lstStyle/>
          <a:p>
            <a:fld id="{ADE361C3-C043-4A6E-BDCE-8DA1E7D90A3B}" type="slidenum">
              <a:rPr lang="zh-CN" altLang="en-US" smtClean="0"/>
              <a:t>25</a:t>
            </a:fld>
            <a:endParaRPr lang="zh-CN" altLang="en-US"/>
          </a:p>
        </p:txBody>
      </p:sp>
      <p:sp>
        <p:nvSpPr>
          <p:cNvPr id="5" name="页脚占位符 4">
            <a:extLst>
              <a:ext uri="{FF2B5EF4-FFF2-40B4-BE49-F238E27FC236}">
                <a16:creationId xmlns:a16="http://schemas.microsoft.com/office/drawing/2014/main" id="{67894662-8396-584A-B408-F03957F967EA}"/>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7" name="Group 4">
            <a:extLst>
              <a:ext uri="{FF2B5EF4-FFF2-40B4-BE49-F238E27FC236}">
                <a16:creationId xmlns:a16="http://schemas.microsoft.com/office/drawing/2014/main" id="{D471D002-7C05-6C46-8CB4-2C439B19EBA6}"/>
              </a:ext>
            </a:extLst>
          </p:cNvPr>
          <p:cNvGrpSpPr>
            <a:grpSpLocks/>
          </p:cNvGrpSpPr>
          <p:nvPr/>
        </p:nvGrpSpPr>
        <p:grpSpPr bwMode="auto">
          <a:xfrm>
            <a:off x="2346052" y="3865612"/>
            <a:ext cx="5867400" cy="1016000"/>
            <a:chOff x="1440" y="2832"/>
            <a:chExt cx="3696" cy="768"/>
          </a:xfrm>
        </p:grpSpPr>
        <p:sp>
          <p:nvSpPr>
            <p:cNvPr id="8" name="Rectangle 5">
              <a:extLst>
                <a:ext uri="{FF2B5EF4-FFF2-40B4-BE49-F238E27FC236}">
                  <a16:creationId xmlns:a16="http://schemas.microsoft.com/office/drawing/2014/main" id="{756816DE-4CB3-3F4F-82CE-1B91E1B87E21}"/>
                </a:ext>
              </a:extLst>
            </p:cNvPr>
            <p:cNvSpPr>
              <a:spLocks noChangeArrowheads="1"/>
            </p:cNvSpPr>
            <p:nvPr/>
          </p:nvSpPr>
          <p:spPr bwMode="auto">
            <a:xfrm>
              <a:off x="1440" y="3216"/>
              <a:ext cx="3696" cy="384"/>
            </a:xfrm>
            <a:prstGeom prst="rect">
              <a:avLst/>
            </a:prstGeom>
            <a:solidFill>
              <a:srgbClr val="515151"/>
            </a:solidFill>
            <a:ln w="9525">
              <a:solidFill>
                <a:srgbClr val="51515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r>
                <a:rPr lang="en-US" altLang="zh-CN" sz="2000" dirty="0">
                  <a:solidFill>
                    <a:schemeClr val="bg2"/>
                  </a:solidFill>
                  <a:cs typeface="Arial Narrow"/>
                </a:rPr>
                <a:t>Ring 0</a:t>
              </a:r>
            </a:p>
          </p:txBody>
        </p:sp>
        <p:sp>
          <p:nvSpPr>
            <p:cNvPr id="9" name="Rectangle 6">
              <a:extLst>
                <a:ext uri="{FF2B5EF4-FFF2-40B4-BE49-F238E27FC236}">
                  <a16:creationId xmlns:a16="http://schemas.microsoft.com/office/drawing/2014/main" id="{2D6E977B-DC69-854D-B224-AB37AB58AA67}"/>
                </a:ext>
              </a:extLst>
            </p:cNvPr>
            <p:cNvSpPr>
              <a:spLocks noChangeArrowheads="1"/>
            </p:cNvSpPr>
            <p:nvPr/>
          </p:nvSpPr>
          <p:spPr bwMode="auto">
            <a:xfrm>
              <a:off x="1440" y="2832"/>
              <a:ext cx="3696" cy="384"/>
            </a:xfrm>
            <a:prstGeom prst="rect">
              <a:avLst/>
            </a:prstGeom>
            <a:solidFill>
              <a:srgbClr val="BE384B"/>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r>
                <a:rPr lang="en-US" altLang="zh-CN" sz="2000" dirty="0">
                  <a:solidFill>
                    <a:schemeClr val="bg2"/>
                  </a:solidFill>
                  <a:cs typeface="Arial Narrow"/>
                </a:rPr>
                <a:t>Ring 3</a:t>
              </a:r>
            </a:p>
          </p:txBody>
        </p:sp>
      </p:grpSp>
      <p:sp>
        <p:nvSpPr>
          <p:cNvPr id="10" name="Text Box 7">
            <a:extLst>
              <a:ext uri="{FF2B5EF4-FFF2-40B4-BE49-F238E27FC236}">
                <a16:creationId xmlns:a16="http://schemas.microsoft.com/office/drawing/2014/main" id="{5F3516E8-4253-0C4A-B1F2-0A9C1D619153}"/>
              </a:ext>
            </a:extLst>
          </p:cNvPr>
          <p:cNvSpPr txBox="1">
            <a:spLocks noChangeArrowheads="1"/>
          </p:cNvSpPr>
          <p:nvPr/>
        </p:nvSpPr>
        <p:spPr bwMode="auto">
          <a:xfrm>
            <a:off x="383197" y="4014360"/>
            <a:ext cx="1353256" cy="7078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dirty="0">
                <a:solidFill>
                  <a:srgbClr val="404040"/>
                </a:solidFill>
                <a:cs typeface="Arial Narrow"/>
              </a:rPr>
              <a:t>VMX Root</a:t>
            </a:r>
          </a:p>
          <a:p>
            <a:pPr algn="l"/>
            <a:r>
              <a:rPr lang="en-US" altLang="zh-CN" sz="2000" dirty="0">
                <a:solidFill>
                  <a:srgbClr val="404040"/>
                </a:solidFill>
                <a:cs typeface="Arial Narrow"/>
              </a:rPr>
              <a:t>Operation</a:t>
            </a:r>
          </a:p>
        </p:txBody>
      </p:sp>
      <p:sp>
        <p:nvSpPr>
          <p:cNvPr id="11" name="Text Box 8">
            <a:extLst>
              <a:ext uri="{FF2B5EF4-FFF2-40B4-BE49-F238E27FC236}">
                <a16:creationId xmlns:a16="http://schemas.microsoft.com/office/drawing/2014/main" id="{7A3CA0BF-BEB7-0B48-8A38-4C9AA6DD3201}"/>
              </a:ext>
            </a:extLst>
          </p:cNvPr>
          <p:cNvSpPr txBox="1">
            <a:spLocks noChangeArrowheads="1"/>
          </p:cNvSpPr>
          <p:nvPr/>
        </p:nvSpPr>
        <p:spPr bwMode="auto">
          <a:xfrm>
            <a:off x="441054" y="1579613"/>
            <a:ext cx="1309974" cy="10156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dirty="0">
                <a:solidFill>
                  <a:srgbClr val="404040"/>
                </a:solidFill>
                <a:cs typeface="Arial Narrow"/>
              </a:rPr>
              <a:t>VMX </a:t>
            </a:r>
          </a:p>
          <a:p>
            <a:pPr algn="l"/>
            <a:r>
              <a:rPr lang="en-US" altLang="zh-CN" sz="2000" dirty="0">
                <a:solidFill>
                  <a:srgbClr val="404040"/>
                </a:solidFill>
                <a:cs typeface="Arial Narrow"/>
              </a:rPr>
              <a:t>Non-root</a:t>
            </a:r>
          </a:p>
          <a:p>
            <a:pPr algn="l"/>
            <a:r>
              <a:rPr lang="en-US" altLang="zh-CN" sz="2000" dirty="0">
                <a:solidFill>
                  <a:srgbClr val="404040"/>
                </a:solidFill>
                <a:cs typeface="Arial Narrow"/>
              </a:rPr>
              <a:t>Operation</a:t>
            </a:r>
          </a:p>
        </p:txBody>
      </p:sp>
      <p:sp>
        <p:nvSpPr>
          <p:cNvPr id="12" name="Line 9">
            <a:extLst>
              <a:ext uri="{FF2B5EF4-FFF2-40B4-BE49-F238E27FC236}">
                <a16:creationId xmlns:a16="http://schemas.microsoft.com/office/drawing/2014/main" id="{3D1C1813-E5D9-5E47-94A2-CB917670BE36}"/>
              </a:ext>
            </a:extLst>
          </p:cNvPr>
          <p:cNvSpPr>
            <a:spLocks noChangeShapeType="1"/>
          </p:cNvSpPr>
          <p:nvPr/>
        </p:nvSpPr>
        <p:spPr bwMode="auto">
          <a:xfrm>
            <a:off x="381000" y="3365500"/>
            <a:ext cx="8382000"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zh-CN" altLang="en-US">
              <a:latin typeface="Arial Narrow"/>
              <a:cs typeface="Arial Narrow"/>
            </a:endParaRPr>
          </a:p>
        </p:txBody>
      </p:sp>
      <p:sp>
        <p:nvSpPr>
          <p:cNvPr id="13" name="Text Box 10">
            <a:extLst>
              <a:ext uri="{FF2B5EF4-FFF2-40B4-BE49-F238E27FC236}">
                <a16:creationId xmlns:a16="http://schemas.microsoft.com/office/drawing/2014/main" id="{826F7686-175F-8F44-989F-03209818B7C7}"/>
              </a:ext>
            </a:extLst>
          </p:cNvPr>
          <p:cNvSpPr txBox="1">
            <a:spLocks noChangeArrowheads="1"/>
          </p:cNvSpPr>
          <p:nvPr/>
        </p:nvSpPr>
        <p:spPr bwMode="auto">
          <a:xfrm>
            <a:off x="5775053" y="1857425"/>
            <a:ext cx="537327"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cs typeface="Arial Narrow"/>
              </a:rPr>
              <a:t>. . .</a:t>
            </a:r>
          </a:p>
        </p:txBody>
      </p:sp>
      <p:grpSp>
        <p:nvGrpSpPr>
          <p:cNvPr id="14" name="Group 11">
            <a:extLst>
              <a:ext uri="{FF2B5EF4-FFF2-40B4-BE49-F238E27FC236}">
                <a16:creationId xmlns:a16="http://schemas.microsoft.com/office/drawing/2014/main" id="{C7E12574-09B9-504A-84FF-5C9BB1FC5AB3}"/>
              </a:ext>
            </a:extLst>
          </p:cNvPr>
          <p:cNvGrpSpPr>
            <a:grpSpLocks/>
          </p:cNvGrpSpPr>
          <p:nvPr/>
        </p:nvGrpSpPr>
        <p:grpSpPr bwMode="auto">
          <a:xfrm>
            <a:off x="2346052" y="985623"/>
            <a:ext cx="1371600" cy="1673490"/>
            <a:chOff x="1440" y="463"/>
            <a:chExt cx="864" cy="1265"/>
          </a:xfrm>
        </p:grpSpPr>
        <p:sp>
          <p:nvSpPr>
            <p:cNvPr id="15" name="Rectangle 12">
              <a:extLst>
                <a:ext uri="{FF2B5EF4-FFF2-40B4-BE49-F238E27FC236}">
                  <a16:creationId xmlns:a16="http://schemas.microsoft.com/office/drawing/2014/main" id="{5761DDBD-4263-634D-BC6C-3E0847C7A8A0}"/>
                </a:ext>
              </a:extLst>
            </p:cNvPr>
            <p:cNvSpPr>
              <a:spLocks noChangeArrowheads="1"/>
            </p:cNvSpPr>
            <p:nvPr/>
          </p:nvSpPr>
          <p:spPr bwMode="auto">
            <a:xfrm>
              <a:off x="1440" y="1344"/>
              <a:ext cx="864" cy="384"/>
            </a:xfrm>
            <a:prstGeom prst="rect">
              <a:avLst/>
            </a:prstGeom>
            <a:solidFill>
              <a:srgbClr val="51515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r>
                <a:rPr lang="en-US" altLang="zh-CN" sz="2000" dirty="0">
                  <a:solidFill>
                    <a:schemeClr val="bg2"/>
                  </a:solidFill>
                  <a:cs typeface="Arial Narrow"/>
                </a:rPr>
                <a:t>Ring 0</a:t>
              </a:r>
            </a:p>
          </p:txBody>
        </p:sp>
        <p:sp>
          <p:nvSpPr>
            <p:cNvPr id="16" name="Rectangle 13">
              <a:extLst>
                <a:ext uri="{FF2B5EF4-FFF2-40B4-BE49-F238E27FC236}">
                  <a16:creationId xmlns:a16="http://schemas.microsoft.com/office/drawing/2014/main" id="{0F0AB8B8-3305-1245-82DE-979A1C310871}"/>
                </a:ext>
              </a:extLst>
            </p:cNvPr>
            <p:cNvSpPr>
              <a:spLocks noChangeArrowheads="1"/>
            </p:cNvSpPr>
            <p:nvPr/>
          </p:nvSpPr>
          <p:spPr bwMode="auto">
            <a:xfrm>
              <a:off x="1440" y="960"/>
              <a:ext cx="864" cy="384"/>
            </a:xfrm>
            <a:prstGeom prst="rect">
              <a:avLst/>
            </a:prstGeom>
            <a:solidFill>
              <a:srgbClr val="BE384B"/>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r>
                <a:rPr lang="en-US" altLang="zh-CN" sz="2000" dirty="0">
                  <a:solidFill>
                    <a:schemeClr val="bg2"/>
                  </a:solidFill>
                  <a:cs typeface="Arial Narrow"/>
                </a:rPr>
                <a:t>Ring 3</a:t>
              </a:r>
            </a:p>
          </p:txBody>
        </p:sp>
        <p:sp>
          <p:nvSpPr>
            <p:cNvPr id="17" name="Text Box 14">
              <a:extLst>
                <a:ext uri="{FF2B5EF4-FFF2-40B4-BE49-F238E27FC236}">
                  <a16:creationId xmlns:a16="http://schemas.microsoft.com/office/drawing/2014/main" id="{301A5718-9C5F-8C4F-A742-49DFEE2B3ECE}"/>
                </a:ext>
              </a:extLst>
            </p:cNvPr>
            <p:cNvSpPr txBox="1">
              <a:spLocks noChangeArrowheads="1"/>
            </p:cNvSpPr>
            <p:nvPr/>
          </p:nvSpPr>
          <p:spPr bwMode="auto">
            <a:xfrm>
              <a:off x="1527" y="463"/>
              <a:ext cx="701" cy="53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altLang="zh-CN" sz="2000" dirty="0">
                  <a:cs typeface="Arial Narrow"/>
                </a:rPr>
                <a:t>VM1</a:t>
              </a:r>
            </a:p>
            <a:p>
              <a:pPr algn="ctr"/>
              <a:r>
                <a:rPr lang="en-US" altLang="zh-CN" sz="2000" dirty="0">
                  <a:cs typeface="Arial Narrow"/>
                </a:rPr>
                <a:t>VCPU 1</a:t>
              </a:r>
            </a:p>
          </p:txBody>
        </p:sp>
      </p:grpSp>
      <p:grpSp>
        <p:nvGrpSpPr>
          <p:cNvPr id="18" name="Group 15">
            <a:extLst>
              <a:ext uri="{FF2B5EF4-FFF2-40B4-BE49-F238E27FC236}">
                <a16:creationId xmlns:a16="http://schemas.microsoft.com/office/drawing/2014/main" id="{34B9B43B-8A11-F742-A242-812CB307657B}"/>
              </a:ext>
            </a:extLst>
          </p:cNvPr>
          <p:cNvGrpSpPr>
            <a:grpSpLocks/>
          </p:cNvGrpSpPr>
          <p:nvPr/>
        </p:nvGrpSpPr>
        <p:grpSpPr bwMode="auto">
          <a:xfrm>
            <a:off x="4098655" y="985623"/>
            <a:ext cx="1371601" cy="1673490"/>
            <a:chOff x="2544" y="463"/>
            <a:chExt cx="864" cy="1265"/>
          </a:xfrm>
        </p:grpSpPr>
        <p:sp>
          <p:nvSpPr>
            <p:cNvPr id="19" name="Rectangle 16">
              <a:extLst>
                <a:ext uri="{FF2B5EF4-FFF2-40B4-BE49-F238E27FC236}">
                  <a16:creationId xmlns:a16="http://schemas.microsoft.com/office/drawing/2014/main" id="{83D73D8C-8D1A-4D4B-A3F6-282ACF6787F0}"/>
                </a:ext>
              </a:extLst>
            </p:cNvPr>
            <p:cNvSpPr>
              <a:spLocks noChangeArrowheads="1"/>
            </p:cNvSpPr>
            <p:nvPr/>
          </p:nvSpPr>
          <p:spPr bwMode="auto">
            <a:xfrm>
              <a:off x="2544" y="1344"/>
              <a:ext cx="864" cy="384"/>
            </a:xfrm>
            <a:prstGeom prst="rect">
              <a:avLst/>
            </a:prstGeom>
            <a:solidFill>
              <a:srgbClr val="515151"/>
            </a:solidFill>
            <a:ln w="9525">
              <a:solidFill>
                <a:srgbClr val="51515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r>
                <a:rPr lang="en-US" altLang="zh-CN" sz="2000">
                  <a:solidFill>
                    <a:schemeClr val="bg2"/>
                  </a:solidFill>
                  <a:cs typeface="Arial Narrow"/>
                </a:rPr>
                <a:t>Ring 0</a:t>
              </a:r>
            </a:p>
          </p:txBody>
        </p:sp>
        <p:sp>
          <p:nvSpPr>
            <p:cNvPr id="20" name="Rectangle 17">
              <a:extLst>
                <a:ext uri="{FF2B5EF4-FFF2-40B4-BE49-F238E27FC236}">
                  <a16:creationId xmlns:a16="http://schemas.microsoft.com/office/drawing/2014/main" id="{75AC76B2-5D24-B247-9BB4-18B3FD8546F0}"/>
                </a:ext>
              </a:extLst>
            </p:cNvPr>
            <p:cNvSpPr>
              <a:spLocks noChangeArrowheads="1"/>
            </p:cNvSpPr>
            <p:nvPr/>
          </p:nvSpPr>
          <p:spPr bwMode="auto">
            <a:xfrm>
              <a:off x="2544" y="960"/>
              <a:ext cx="864" cy="384"/>
            </a:xfrm>
            <a:prstGeom prst="rect">
              <a:avLst/>
            </a:prstGeom>
            <a:solidFill>
              <a:srgbClr val="BE384B"/>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r>
                <a:rPr lang="en-US" altLang="zh-CN" sz="2000">
                  <a:solidFill>
                    <a:schemeClr val="bg2"/>
                  </a:solidFill>
                  <a:cs typeface="Arial Narrow"/>
                </a:rPr>
                <a:t>Ring 3</a:t>
              </a:r>
            </a:p>
          </p:txBody>
        </p:sp>
        <p:sp>
          <p:nvSpPr>
            <p:cNvPr id="21" name="Text Box 18">
              <a:extLst>
                <a:ext uri="{FF2B5EF4-FFF2-40B4-BE49-F238E27FC236}">
                  <a16:creationId xmlns:a16="http://schemas.microsoft.com/office/drawing/2014/main" id="{77725470-A2E9-8E46-8E9F-B900B41434DB}"/>
                </a:ext>
              </a:extLst>
            </p:cNvPr>
            <p:cNvSpPr txBox="1">
              <a:spLocks noChangeArrowheads="1"/>
            </p:cNvSpPr>
            <p:nvPr/>
          </p:nvSpPr>
          <p:spPr bwMode="auto">
            <a:xfrm>
              <a:off x="2661" y="463"/>
              <a:ext cx="701" cy="53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altLang="zh-CN" sz="2000" dirty="0">
                  <a:cs typeface="Arial Narrow"/>
                </a:rPr>
                <a:t>VM</a:t>
              </a:r>
              <a:r>
                <a:rPr lang="zh-CN" altLang="en-US" sz="2000" dirty="0">
                  <a:cs typeface="Arial Narrow"/>
                </a:rPr>
                <a:t> </a:t>
              </a:r>
              <a:r>
                <a:rPr lang="en-US" altLang="zh-CN" sz="2000" dirty="0">
                  <a:cs typeface="Arial Narrow"/>
                </a:rPr>
                <a:t>1</a:t>
              </a:r>
            </a:p>
            <a:p>
              <a:pPr algn="ctr"/>
              <a:r>
                <a:rPr lang="en-US" altLang="zh-CN" sz="2000" dirty="0">
                  <a:cs typeface="Arial Narrow"/>
                </a:rPr>
                <a:t>VCPU 2</a:t>
              </a:r>
            </a:p>
          </p:txBody>
        </p:sp>
      </p:grpSp>
      <p:grpSp>
        <p:nvGrpSpPr>
          <p:cNvPr id="22" name="Group 19">
            <a:extLst>
              <a:ext uri="{FF2B5EF4-FFF2-40B4-BE49-F238E27FC236}">
                <a16:creationId xmlns:a16="http://schemas.microsoft.com/office/drawing/2014/main" id="{A228DC2F-69AB-A444-A5FC-B40FACE99452}"/>
              </a:ext>
            </a:extLst>
          </p:cNvPr>
          <p:cNvGrpSpPr>
            <a:grpSpLocks/>
          </p:cNvGrpSpPr>
          <p:nvPr/>
        </p:nvGrpSpPr>
        <p:grpSpPr bwMode="auto">
          <a:xfrm>
            <a:off x="6765652" y="985623"/>
            <a:ext cx="1371600" cy="1673490"/>
            <a:chOff x="4224" y="463"/>
            <a:chExt cx="864" cy="1265"/>
          </a:xfrm>
        </p:grpSpPr>
        <p:sp>
          <p:nvSpPr>
            <p:cNvPr id="23" name="Rectangle 20">
              <a:extLst>
                <a:ext uri="{FF2B5EF4-FFF2-40B4-BE49-F238E27FC236}">
                  <a16:creationId xmlns:a16="http://schemas.microsoft.com/office/drawing/2014/main" id="{548FE740-6205-A24D-995F-1ECFEB0D862E}"/>
                </a:ext>
              </a:extLst>
            </p:cNvPr>
            <p:cNvSpPr>
              <a:spLocks noChangeArrowheads="1"/>
            </p:cNvSpPr>
            <p:nvPr/>
          </p:nvSpPr>
          <p:spPr bwMode="auto">
            <a:xfrm>
              <a:off x="4224" y="1344"/>
              <a:ext cx="864" cy="384"/>
            </a:xfrm>
            <a:prstGeom prst="rect">
              <a:avLst/>
            </a:prstGeom>
            <a:solidFill>
              <a:srgbClr val="51515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r>
                <a:rPr lang="en-US" altLang="zh-CN" sz="2000">
                  <a:solidFill>
                    <a:schemeClr val="bg2"/>
                  </a:solidFill>
                  <a:cs typeface="Arial Narrow"/>
                </a:rPr>
                <a:t>Ring 0</a:t>
              </a:r>
            </a:p>
          </p:txBody>
        </p:sp>
        <p:sp>
          <p:nvSpPr>
            <p:cNvPr id="24" name="Rectangle 21">
              <a:extLst>
                <a:ext uri="{FF2B5EF4-FFF2-40B4-BE49-F238E27FC236}">
                  <a16:creationId xmlns:a16="http://schemas.microsoft.com/office/drawing/2014/main" id="{1AE8574E-9FC3-7847-84B9-7E29C58948A3}"/>
                </a:ext>
              </a:extLst>
            </p:cNvPr>
            <p:cNvSpPr>
              <a:spLocks noChangeArrowheads="1"/>
            </p:cNvSpPr>
            <p:nvPr/>
          </p:nvSpPr>
          <p:spPr bwMode="auto">
            <a:xfrm>
              <a:off x="4224" y="960"/>
              <a:ext cx="864" cy="384"/>
            </a:xfrm>
            <a:prstGeom prst="rect">
              <a:avLst/>
            </a:prstGeom>
            <a:solidFill>
              <a:srgbClr val="BE384B"/>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r>
                <a:rPr lang="en-US" altLang="zh-CN" sz="2000" dirty="0">
                  <a:solidFill>
                    <a:schemeClr val="bg2"/>
                  </a:solidFill>
                  <a:cs typeface="Arial Narrow"/>
                </a:rPr>
                <a:t>Ring 3</a:t>
              </a:r>
            </a:p>
          </p:txBody>
        </p:sp>
        <p:sp>
          <p:nvSpPr>
            <p:cNvPr id="25" name="Text Box 22">
              <a:extLst>
                <a:ext uri="{FF2B5EF4-FFF2-40B4-BE49-F238E27FC236}">
                  <a16:creationId xmlns:a16="http://schemas.microsoft.com/office/drawing/2014/main" id="{AAB5609A-1AAB-4A46-92DD-D1B8067756FA}"/>
                </a:ext>
              </a:extLst>
            </p:cNvPr>
            <p:cNvSpPr txBox="1">
              <a:spLocks noChangeArrowheads="1"/>
            </p:cNvSpPr>
            <p:nvPr/>
          </p:nvSpPr>
          <p:spPr bwMode="auto">
            <a:xfrm>
              <a:off x="4294" y="463"/>
              <a:ext cx="701" cy="53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altLang="zh-CN" sz="2000" dirty="0">
                  <a:cs typeface="Arial Narrow"/>
                </a:rPr>
                <a:t>VM</a:t>
              </a:r>
              <a:r>
                <a:rPr lang="zh-CN" altLang="en-US" sz="2000" dirty="0">
                  <a:cs typeface="Arial Narrow"/>
                </a:rPr>
                <a:t> </a:t>
              </a:r>
              <a:r>
                <a:rPr lang="en-US" altLang="zh-CN" sz="2000" dirty="0">
                  <a:cs typeface="Arial Narrow"/>
                </a:rPr>
                <a:t>m</a:t>
              </a:r>
            </a:p>
            <a:p>
              <a:pPr algn="ctr"/>
              <a:r>
                <a:rPr lang="en-US" altLang="zh-CN" sz="2000" dirty="0">
                  <a:cs typeface="Arial Narrow"/>
                </a:rPr>
                <a:t>VCPU n</a:t>
              </a:r>
            </a:p>
          </p:txBody>
        </p:sp>
      </p:grpSp>
      <p:sp>
        <p:nvSpPr>
          <p:cNvPr id="26" name="Line 23">
            <a:extLst>
              <a:ext uri="{FF2B5EF4-FFF2-40B4-BE49-F238E27FC236}">
                <a16:creationId xmlns:a16="http://schemas.microsoft.com/office/drawing/2014/main" id="{087FC29F-BD62-D546-9796-22597EACB439}"/>
              </a:ext>
            </a:extLst>
          </p:cNvPr>
          <p:cNvSpPr>
            <a:spLocks noChangeShapeType="1"/>
          </p:cNvSpPr>
          <p:nvPr/>
        </p:nvSpPr>
        <p:spPr bwMode="auto">
          <a:xfrm flipV="1">
            <a:off x="3108052" y="2659112"/>
            <a:ext cx="0" cy="1714500"/>
          </a:xfrm>
          <a:prstGeom prst="line">
            <a:avLst/>
          </a:prstGeom>
          <a:noFill/>
          <a:ln w="38100">
            <a:solidFill>
              <a:schemeClr val="tx1"/>
            </a:solidFill>
            <a:round/>
            <a:headEnd/>
            <a:tailEnd type="triangle" w="lg"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zh-CN" altLang="en-US" sz="2000">
              <a:cs typeface="Arial Narrow"/>
            </a:endParaRPr>
          </a:p>
        </p:txBody>
      </p:sp>
      <p:sp>
        <p:nvSpPr>
          <p:cNvPr id="27" name="Line 24">
            <a:extLst>
              <a:ext uri="{FF2B5EF4-FFF2-40B4-BE49-F238E27FC236}">
                <a16:creationId xmlns:a16="http://schemas.microsoft.com/office/drawing/2014/main" id="{0A62B486-9F25-614E-BD34-CD38AF059579}"/>
              </a:ext>
            </a:extLst>
          </p:cNvPr>
          <p:cNvSpPr>
            <a:spLocks noChangeShapeType="1"/>
          </p:cNvSpPr>
          <p:nvPr/>
        </p:nvSpPr>
        <p:spPr bwMode="auto">
          <a:xfrm flipV="1">
            <a:off x="4860652" y="2659112"/>
            <a:ext cx="0" cy="1714500"/>
          </a:xfrm>
          <a:prstGeom prst="line">
            <a:avLst/>
          </a:prstGeom>
          <a:noFill/>
          <a:ln w="38100">
            <a:solidFill>
              <a:schemeClr val="tx1"/>
            </a:solidFill>
            <a:round/>
            <a:headEnd/>
            <a:tailEnd type="triangle" w="lg"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zh-CN" altLang="en-US" sz="2000">
              <a:cs typeface="Arial Narrow"/>
            </a:endParaRPr>
          </a:p>
        </p:txBody>
      </p:sp>
      <p:sp>
        <p:nvSpPr>
          <p:cNvPr id="28" name="Line 25">
            <a:extLst>
              <a:ext uri="{FF2B5EF4-FFF2-40B4-BE49-F238E27FC236}">
                <a16:creationId xmlns:a16="http://schemas.microsoft.com/office/drawing/2014/main" id="{3A3AF7D7-250D-134C-9A72-C9E4769DE3D7}"/>
              </a:ext>
            </a:extLst>
          </p:cNvPr>
          <p:cNvSpPr>
            <a:spLocks noChangeShapeType="1"/>
          </p:cNvSpPr>
          <p:nvPr/>
        </p:nvSpPr>
        <p:spPr bwMode="auto">
          <a:xfrm flipV="1">
            <a:off x="7527652" y="2659112"/>
            <a:ext cx="0" cy="1714500"/>
          </a:xfrm>
          <a:prstGeom prst="line">
            <a:avLst/>
          </a:prstGeom>
          <a:noFill/>
          <a:ln w="38100">
            <a:solidFill>
              <a:schemeClr val="tx1"/>
            </a:solidFill>
            <a:round/>
            <a:headEnd/>
            <a:tailEnd type="triangle" w="lg"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zh-CN" altLang="en-US" sz="2000">
              <a:cs typeface="Arial Narrow"/>
            </a:endParaRPr>
          </a:p>
        </p:txBody>
      </p:sp>
      <p:sp>
        <p:nvSpPr>
          <p:cNvPr id="29" name="Text Box 26">
            <a:extLst>
              <a:ext uri="{FF2B5EF4-FFF2-40B4-BE49-F238E27FC236}">
                <a16:creationId xmlns:a16="http://schemas.microsoft.com/office/drawing/2014/main" id="{B402EA94-1F07-E74F-970B-018AF9A02CC4}"/>
              </a:ext>
            </a:extLst>
          </p:cNvPr>
          <p:cNvSpPr txBox="1">
            <a:spLocks noChangeArrowheads="1"/>
          </p:cNvSpPr>
          <p:nvPr/>
        </p:nvSpPr>
        <p:spPr bwMode="auto">
          <a:xfrm>
            <a:off x="2574652" y="4439759"/>
            <a:ext cx="1125629"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dirty="0">
                <a:solidFill>
                  <a:schemeClr val="bg1"/>
                </a:solidFill>
                <a:cs typeface="Arial Narrow"/>
              </a:rPr>
              <a:t>VMXON</a:t>
            </a:r>
          </a:p>
        </p:txBody>
      </p:sp>
      <p:sp>
        <p:nvSpPr>
          <p:cNvPr id="30" name="Text Box 27">
            <a:extLst>
              <a:ext uri="{FF2B5EF4-FFF2-40B4-BE49-F238E27FC236}">
                <a16:creationId xmlns:a16="http://schemas.microsoft.com/office/drawing/2014/main" id="{32CF8D11-735B-874E-9F4A-F9F385A13AC4}"/>
              </a:ext>
            </a:extLst>
          </p:cNvPr>
          <p:cNvSpPr txBox="1">
            <a:spLocks noChangeArrowheads="1"/>
          </p:cNvSpPr>
          <p:nvPr/>
        </p:nvSpPr>
        <p:spPr bwMode="auto">
          <a:xfrm>
            <a:off x="2464428" y="4423612"/>
            <a:ext cx="1627369"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dirty="0">
                <a:solidFill>
                  <a:schemeClr val="bg1"/>
                </a:solidFill>
                <a:cs typeface="Arial Narrow"/>
              </a:rPr>
              <a:t>VMLAUNCH</a:t>
            </a:r>
          </a:p>
        </p:txBody>
      </p:sp>
      <p:sp>
        <p:nvSpPr>
          <p:cNvPr id="31" name="Text Box 28">
            <a:extLst>
              <a:ext uri="{FF2B5EF4-FFF2-40B4-BE49-F238E27FC236}">
                <a16:creationId xmlns:a16="http://schemas.microsoft.com/office/drawing/2014/main" id="{C1CB3EF9-D516-5F4D-BA6A-529FCB607729}"/>
              </a:ext>
            </a:extLst>
          </p:cNvPr>
          <p:cNvSpPr txBox="1">
            <a:spLocks noChangeArrowheads="1"/>
          </p:cNvSpPr>
          <p:nvPr/>
        </p:nvSpPr>
        <p:spPr bwMode="auto">
          <a:xfrm>
            <a:off x="2464428" y="4429709"/>
            <a:ext cx="1669047"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dirty="0">
                <a:solidFill>
                  <a:schemeClr val="bg1"/>
                </a:solidFill>
                <a:cs typeface="Arial Narrow"/>
              </a:rPr>
              <a:t>VMRESUME</a:t>
            </a:r>
          </a:p>
        </p:txBody>
      </p:sp>
      <p:sp>
        <p:nvSpPr>
          <p:cNvPr id="32" name="Text Box 29">
            <a:extLst>
              <a:ext uri="{FF2B5EF4-FFF2-40B4-BE49-F238E27FC236}">
                <a16:creationId xmlns:a16="http://schemas.microsoft.com/office/drawing/2014/main" id="{24562994-EEF9-EC4F-9D3E-00BC3E263503}"/>
              </a:ext>
            </a:extLst>
          </p:cNvPr>
          <p:cNvSpPr txBox="1">
            <a:spLocks noChangeArrowheads="1"/>
          </p:cNvSpPr>
          <p:nvPr/>
        </p:nvSpPr>
        <p:spPr bwMode="auto">
          <a:xfrm>
            <a:off x="1698879" y="2844026"/>
            <a:ext cx="1109599"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b="1">
                <a:cs typeface="Arial Narrow"/>
              </a:rPr>
              <a:t>VM Exit</a:t>
            </a:r>
          </a:p>
        </p:txBody>
      </p:sp>
      <p:sp>
        <p:nvSpPr>
          <p:cNvPr id="33" name="Line 30">
            <a:extLst>
              <a:ext uri="{FF2B5EF4-FFF2-40B4-BE49-F238E27FC236}">
                <a16:creationId xmlns:a16="http://schemas.microsoft.com/office/drawing/2014/main" id="{1A6E3B25-C964-384C-9F7B-920142964DC5}"/>
              </a:ext>
            </a:extLst>
          </p:cNvPr>
          <p:cNvSpPr>
            <a:spLocks noChangeShapeType="1"/>
          </p:cNvSpPr>
          <p:nvPr/>
        </p:nvSpPr>
        <p:spPr bwMode="auto">
          <a:xfrm>
            <a:off x="3108052" y="2659112"/>
            <a:ext cx="0" cy="1714500"/>
          </a:xfrm>
          <a:prstGeom prst="line">
            <a:avLst/>
          </a:prstGeom>
          <a:noFill/>
          <a:ln w="38100">
            <a:solidFill>
              <a:schemeClr val="tx1"/>
            </a:solidFill>
            <a:round/>
            <a:headEnd/>
            <a:tailEnd type="triangle" w="lg"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zh-CN" altLang="en-US" sz="2000">
              <a:cs typeface="Arial Narrow"/>
            </a:endParaRPr>
          </a:p>
        </p:txBody>
      </p:sp>
      <p:grpSp>
        <p:nvGrpSpPr>
          <p:cNvPr id="34" name="Group 31">
            <a:extLst>
              <a:ext uri="{FF2B5EF4-FFF2-40B4-BE49-F238E27FC236}">
                <a16:creationId xmlns:a16="http://schemas.microsoft.com/office/drawing/2014/main" id="{E393FDB6-D131-EE40-B368-C0C131A8ACDC}"/>
              </a:ext>
            </a:extLst>
          </p:cNvPr>
          <p:cNvGrpSpPr>
            <a:grpSpLocks/>
          </p:cNvGrpSpPr>
          <p:nvPr/>
        </p:nvGrpSpPr>
        <p:grpSpPr bwMode="auto">
          <a:xfrm>
            <a:off x="4403452" y="2659112"/>
            <a:ext cx="838200" cy="1079500"/>
            <a:chOff x="1968" y="1920"/>
            <a:chExt cx="528" cy="816"/>
          </a:xfrm>
          <a:solidFill>
            <a:srgbClr val="FFFF99"/>
          </a:solidFill>
        </p:grpSpPr>
        <p:sp>
          <p:nvSpPr>
            <p:cNvPr id="35" name="Rectangle 32">
              <a:extLst>
                <a:ext uri="{FF2B5EF4-FFF2-40B4-BE49-F238E27FC236}">
                  <a16:creationId xmlns:a16="http://schemas.microsoft.com/office/drawing/2014/main" id="{F21AB320-EA68-5E42-89AF-9EC531E8A627}"/>
                </a:ext>
              </a:extLst>
            </p:cNvPr>
            <p:cNvSpPr>
              <a:spLocks noChangeArrowheads="1"/>
            </p:cNvSpPr>
            <p:nvPr/>
          </p:nvSpPr>
          <p:spPr bwMode="auto">
            <a:xfrm>
              <a:off x="1968" y="2307"/>
              <a:ext cx="528" cy="429"/>
            </a:xfrm>
            <a:prstGeom prst="rect">
              <a:avLst/>
            </a:prstGeom>
            <a:grp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r>
                <a:rPr lang="en-US" altLang="zh-CN" sz="2000" dirty="0">
                  <a:cs typeface="Arial Narrow"/>
                </a:rPr>
                <a:t>VMCS</a:t>
              </a:r>
            </a:p>
            <a:p>
              <a:pPr algn="ctr"/>
              <a:r>
                <a:rPr lang="en-US" altLang="zh-CN" sz="2000" dirty="0">
                  <a:cs typeface="Arial Narrow"/>
                </a:rPr>
                <a:t>2</a:t>
              </a:r>
            </a:p>
          </p:txBody>
        </p:sp>
        <p:sp>
          <p:nvSpPr>
            <p:cNvPr id="36" name="Line 33">
              <a:extLst>
                <a:ext uri="{FF2B5EF4-FFF2-40B4-BE49-F238E27FC236}">
                  <a16:creationId xmlns:a16="http://schemas.microsoft.com/office/drawing/2014/main" id="{23E20BD8-A6C1-C444-8631-2823E825472F}"/>
                </a:ext>
              </a:extLst>
            </p:cNvPr>
            <p:cNvSpPr>
              <a:spLocks noChangeShapeType="1"/>
            </p:cNvSpPr>
            <p:nvPr/>
          </p:nvSpPr>
          <p:spPr bwMode="auto">
            <a:xfrm flipH="1" flipV="1">
              <a:off x="2256" y="1920"/>
              <a:ext cx="0" cy="387"/>
            </a:xfrm>
            <a:prstGeom prst="line">
              <a:avLst/>
            </a:prstGeom>
            <a:grpFill/>
            <a:ln w="38100">
              <a:solidFill>
                <a:schemeClr val="tx1"/>
              </a:solidFill>
              <a:round/>
              <a:headEnd/>
              <a:tailEnd type="triangle" w="lg"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a:endParaRPr lang="zh-CN" altLang="en-US" sz="2000">
                <a:cs typeface="Arial Narrow"/>
              </a:endParaRPr>
            </a:p>
          </p:txBody>
        </p:sp>
      </p:grpSp>
      <p:grpSp>
        <p:nvGrpSpPr>
          <p:cNvPr id="37" name="Group 34">
            <a:extLst>
              <a:ext uri="{FF2B5EF4-FFF2-40B4-BE49-F238E27FC236}">
                <a16:creationId xmlns:a16="http://schemas.microsoft.com/office/drawing/2014/main" id="{0EE15572-135E-D549-9D9B-F02E804D528F}"/>
              </a:ext>
            </a:extLst>
          </p:cNvPr>
          <p:cNvGrpSpPr>
            <a:grpSpLocks/>
          </p:cNvGrpSpPr>
          <p:nvPr/>
        </p:nvGrpSpPr>
        <p:grpSpPr bwMode="auto">
          <a:xfrm>
            <a:off x="7070452" y="2659112"/>
            <a:ext cx="838200" cy="1079500"/>
            <a:chOff x="1968" y="1920"/>
            <a:chExt cx="528" cy="816"/>
          </a:xfrm>
          <a:solidFill>
            <a:srgbClr val="FFFF99"/>
          </a:solidFill>
        </p:grpSpPr>
        <p:sp>
          <p:nvSpPr>
            <p:cNvPr id="38" name="Rectangle 35">
              <a:extLst>
                <a:ext uri="{FF2B5EF4-FFF2-40B4-BE49-F238E27FC236}">
                  <a16:creationId xmlns:a16="http://schemas.microsoft.com/office/drawing/2014/main" id="{AA60C1B0-76BC-4A42-AE63-095F8DAB0486}"/>
                </a:ext>
              </a:extLst>
            </p:cNvPr>
            <p:cNvSpPr>
              <a:spLocks noChangeArrowheads="1"/>
            </p:cNvSpPr>
            <p:nvPr/>
          </p:nvSpPr>
          <p:spPr bwMode="auto">
            <a:xfrm>
              <a:off x="1968" y="2307"/>
              <a:ext cx="528" cy="429"/>
            </a:xfrm>
            <a:prstGeom prst="rect">
              <a:avLst/>
            </a:prstGeom>
            <a:grp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r>
                <a:rPr lang="en-US" altLang="zh-CN" sz="2000" dirty="0">
                  <a:cs typeface="Arial Narrow"/>
                </a:rPr>
                <a:t>VMCS</a:t>
              </a:r>
            </a:p>
            <a:p>
              <a:pPr algn="ctr"/>
              <a:r>
                <a:rPr lang="en-US" altLang="zh-CN" sz="2000" dirty="0">
                  <a:cs typeface="Arial Narrow"/>
                </a:rPr>
                <a:t>n</a:t>
              </a:r>
            </a:p>
          </p:txBody>
        </p:sp>
        <p:sp>
          <p:nvSpPr>
            <p:cNvPr id="39" name="Line 36">
              <a:extLst>
                <a:ext uri="{FF2B5EF4-FFF2-40B4-BE49-F238E27FC236}">
                  <a16:creationId xmlns:a16="http://schemas.microsoft.com/office/drawing/2014/main" id="{CEC7B1DB-A3B6-9541-998B-6E672E740F9F}"/>
                </a:ext>
              </a:extLst>
            </p:cNvPr>
            <p:cNvSpPr>
              <a:spLocks noChangeShapeType="1"/>
            </p:cNvSpPr>
            <p:nvPr/>
          </p:nvSpPr>
          <p:spPr bwMode="auto">
            <a:xfrm flipH="1" flipV="1">
              <a:off x="2256" y="1920"/>
              <a:ext cx="0" cy="387"/>
            </a:xfrm>
            <a:prstGeom prst="line">
              <a:avLst/>
            </a:prstGeom>
            <a:grpFill/>
            <a:ln w="38100">
              <a:solidFill>
                <a:schemeClr val="tx1"/>
              </a:solidFill>
              <a:round/>
              <a:headEnd/>
              <a:tailEnd type="triangle" w="lg"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a:endParaRPr lang="zh-CN" altLang="en-US" sz="2000">
                <a:cs typeface="Arial Narrow"/>
              </a:endParaRPr>
            </a:p>
          </p:txBody>
        </p:sp>
      </p:grpSp>
      <p:grpSp>
        <p:nvGrpSpPr>
          <p:cNvPr id="40" name="Group 37">
            <a:extLst>
              <a:ext uri="{FF2B5EF4-FFF2-40B4-BE49-F238E27FC236}">
                <a16:creationId xmlns:a16="http://schemas.microsoft.com/office/drawing/2014/main" id="{E067A487-75CD-E544-92F6-4236602579A1}"/>
              </a:ext>
            </a:extLst>
          </p:cNvPr>
          <p:cNvGrpSpPr>
            <a:grpSpLocks/>
          </p:cNvGrpSpPr>
          <p:nvPr/>
        </p:nvGrpSpPr>
        <p:grpSpPr bwMode="auto">
          <a:xfrm>
            <a:off x="2650852" y="2659112"/>
            <a:ext cx="838200" cy="1079500"/>
            <a:chOff x="1968" y="1920"/>
            <a:chExt cx="528" cy="816"/>
          </a:xfrm>
          <a:solidFill>
            <a:schemeClr val="accent4">
              <a:lumMod val="50000"/>
            </a:schemeClr>
          </a:solidFill>
        </p:grpSpPr>
        <p:sp>
          <p:nvSpPr>
            <p:cNvPr id="41" name="Rectangle 38">
              <a:extLst>
                <a:ext uri="{FF2B5EF4-FFF2-40B4-BE49-F238E27FC236}">
                  <a16:creationId xmlns:a16="http://schemas.microsoft.com/office/drawing/2014/main" id="{D66FD3C4-EE45-D147-A64F-BC216D963135}"/>
                </a:ext>
              </a:extLst>
            </p:cNvPr>
            <p:cNvSpPr>
              <a:spLocks noChangeArrowheads="1"/>
            </p:cNvSpPr>
            <p:nvPr/>
          </p:nvSpPr>
          <p:spPr bwMode="auto">
            <a:xfrm>
              <a:off x="1968" y="2307"/>
              <a:ext cx="528" cy="429"/>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r>
                <a:rPr lang="en-US" altLang="zh-CN" sz="2000" dirty="0">
                  <a:cs typeface="Arial Narrow"/>
                </a:rPr>
                <a:t>VMCS</a:t>
              </a:r>
            </a:p>
            <a:p>
              <a:pPr algn="ctr"/>
              <a:r>
                <a:rPr lang="en-US" altLang="zh-CN" sz="2000" dirty="0">
                  <a:cs typeface="Arial Narrow"/>
                </a:rPr>
                <a:t>1</a:t>
              </a:r>
            </a:p>
          </p:txBody>
        </p:sp>
        <p:sp>
          <p:nvSpPr>
            <p:cNvPr id="42" name="Line 39">
              <a:extLst>
                <a:ext uri="{FF2B5EF4-FFF2-40B4-BE49-F238E27FC236}">
                  <a16:creationId xmlns:a16="http://schemas.microsoft.com/office/drawing/2014/main" id="{6BC240DD-6BD0-2A41-956D-1C5A2BA599C5}"/>
                </a:ext>
              </a:extLst>
            </p:cNvPr>
            <p:cNvSpPr>
              <a:spLocks noChangeShapeType="1"/>
            </p:cNvSpPr>
            <p:nvPr/>
          </p:nvSpPr>
          <p:spPr bwMode="auto">
            <a:xfrm flipH="1" flipV="1">
              <a:off x="2256" y="1920"/>
              <a:ext cx="0" cy="387"/>
            </a:xfrm>
            <a:prstGeom prst="line">
              <a:avLst/>
            </a:prstGeom>
            <a:grpFill/>
            <a:ln w="38100">
              <a:solidFill>
                <a:schemeClr val="tx1"/>
              </a:solidFill>
              <a:round/>
              <a:headEnd/>
              <a:tailEnd type="triangle" w="lg"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a:endParaRPr lang="zh-CN" altLang="en-US" sz="2000">
                <a:cs typeface="Arial Narrow"/>
              </a:endParaRPr>
            </a:p>
          </p:txBody>
        </p:sp>
      </p:grpSp>
    </p:spTree>
    <p:extLst>
      <p:ext uri="{BB962C8B-B14F-4D97-AF65-F5344CB8AC3E}">
        <p14:creationId xmlns:p14="http://schemas.microsoft.com/office/powerpoint/2010/main" val="3168240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2" presetClass="entr" presetSubtype="2"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slide(fromRight)">
                                      <p:cBhvr>
                                        <p:cTn id="9" dur="500"/>
                                        <p:tgtEl>
                                          <p:spTgt spid="10"/>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grpId="1" nodeType="clickEffect">
                                  <p:stCondLst>
                                    <p:cond delay="0"/>
                                  </p:stCondLst>
                                  <p:childTnLst>
                                    <p:set>
                                      <p:cBhvr>
                                        <p:cTn id="13" dur="1" fill="hold">
                                          <p:stCondLst>
                                            <p:cond delay="0"/>
                                          </p:stCondLst>
                                        </p:cTn>
                                        <p:tgtEl>
                                          <p:spTgt spid="29"/>
                                        </p:tgtEl>
                                        <p:attrNameLst>
                                          <p:attrName>style.visibility</p:attrName>
                                        </p:attrNameLst>
                                      </p:cBhvr>
                                      <p:to>
                                        <p:strVal val="hidden"/>
                                      </p:to>
                                    </p:set>
                                  </p:childTnLst>
                                </p:cTn>
                              </p:par>
                            </p:childTnLst>
                          </p:cTn>
                        </p:par>
                        <p:par>
                          <p:cTn id="14" fill="hold">
                            <p:stCondLst>
                              <p:cond delay="0"/>
                            </p:stCondLst>
                            <p:childTnLst>
                              <p:par>
                                <p:cTn id="15" presetID="1" presetClass="entr" presetSubtype="0" fill="hold" grpId="0" nodeType="afterEffect">
                                  <p:stCondLst>
                                    <p:cond delay="500"/>
                                  </p:stCondLst>
                                  <p:childTnLst>
                                    <p:set>
                                      <p:cBhvr>
                                        <p:cTn id="16" dur="1" fill="hold">
                                          <p:stCondLst>
                                            <p:cond delay="0"/>
                                          </p:stCondLst>
                                        </p:cTn>
                                        <p:tgtEl>
                                          <p:spTgt spid="30"/>
                                        </p:tgtEl>
                                        <p:attrNameLst>
                                          <p:attrName>style.visibility</p:attrName>
                                        </p:attrNameLst>
                                      </p:cBhvr>
                                      <p:to>
                                        <p:strVal val="visible"/>
                                      </p:to>
                                    </p:set>
                                  </p:childTnLst>
                                </p:cTn>
                              </p:par>
                            </p:childTnLst>
                          </p:cTn>
                        </p:par>
                        <p:par>
                          <p:cTn id="17" fill="hold">
                            <p:stCondLst>
                              <p:cond delay="500"/>
                            </p:stCondLst>
                            <p:childTnLst>
                              <p:par>
                                <p:cTn id="18" presetID="2" presetClass="entr" presetSubtype="4"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500" fill="hold"/>
                                        <p:tgtEl>
                                          <p:spTgt spid="12"/>
                                        </p:tgtEl>
                                        <p:attrNameLst>
                                          <p:attrName>ppt_x</p:attrName>
                                        </p:attrNameLst>
                                      </p:cBhvr>
                                      <p:tavLst>
                                        <p:tav tm="0">
                                          <p:val>
                                            <p:strVal val="#ppt_x"/>
                                          </p:val>
                                        </p:tav>
                                        <p:tav tm="100000">
                                          <p:val>
                                            <p:strVal val="#ppt_x"/>
                                          </p:val>
                                        </p:tav>
                                      </p:tavLst>
                                    </p:anim>
                                    <p:anim calcmode="lin" valueType="num">
                                      <p:cBhvr additive="base">
                                        <p:cTn id="21" dur="500" fill="hold"/>
                                        <p:tgtEl>
                                          <p:spTgt spid="12"/>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ppt_x"/>
                                          </p:val>
                                        </p:tav>
                                        <p:tav tm="100000">
                                          <p:val>
                                            <p:strVal val="#ppt_x"/>
                                          </p:val>
                                        </p:tav>
                                      </p:tavLst>
                                    </p:anim>
                                    <p:anim calcmode="lin" valueType="num">
                                      <p:cBhvr additive="base">
                                        <p:cTn id="25" dur="500" fill="hold"/>
                                        <p:tgtEl>
                                          <p:spTgt spid="11"/>
                                        </p:tgtEl>
                                        <p:attrNameLst>
                                          <p:attrName>ppt_y</p:attrName>
                                        </p:attrNameLst>
                                      </p:cBhvr>
                                      <p:tavLst>
                                        <p:tav tm="0">
                                          <p:val>
                                            <p:strVal val="1+#ppt_h/2"/>
                                          </p:val>
                                        </p:tav>
                                        <p:tav tm="100000">
                                          <p:val>
                                            <p:strVal val="#ppt_y"/>
                                          </p:val>
                                        </p:tav>
                                      </p:tavLst>
                                    </p:anim>
                                  </p:childTnLst>
                                </p:cTn>
                              </p:par>
                            </p:childTnLst>
                          </p:cTn>
                        </p:par>
                        <p:par>
                          <p:cTn id="26" fill="hold">
                            <p:stCondLst>
                              <p:cond delay="1000"/>
                            </p:stCondLst>
                            <p:childTnLst>
                              <p:par>
                                <p:cTn id="27" presetID="12" presetClass="entr" presetSubtype="4" fill="hold" grpId="0" nodeType="after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slide(fromBottom)">
                                      <p:cBhvr>
                                        <p:cTn id="29" dur="500"/>
                                        <p:tgtEl>
                                          <p:spTgt spid="26"/>
                                        </p:tgtEl>
                                      </p:cBhvr>
                                    </p:animEffect>
                                  </p:childTnLst>
                                </p:cTn>
                              </p:par>
                            </p:childTnLst>
                          </p:cTn>
                        </p:par>
                        <p:par>
                          <p:cTn id="30" fill="hold">
                            <p:stCondLst>
                              <p:cond delay="1500"/>
                            </p:stCondLst>
                            <p:childTnLst>
                              <p:par>
                                <p:cTn id="31" presetID="1" presetClass="entr" presetSubtype="0" fill="hold" nodeType="after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30"/>
                                        </p:tgtEl>
                                        <p:attrNameLst>
                                          <p:attrName>style.visibility</p:attrName>
                                        </p:attrNameLst>
                                      </p:cBhvr>
                                      <p:to>
                                        <p:strVal val="hidden"/>
                                      </p:to>
                                    </p:set>
                                  </p:childTnLst>
                                </p:cTn>
                              </p:par>
                            </p:childTnLst>
                          </p:cTn>
                        </p:par>
                        <p:par>
                          <p:cTn id="37" fill="hold">
                            <p:stCondLst>
                              <p:cond delay="0"/>
                            </p:stCondLst>
                            <p:childTnLst>
                              <p:par>
                                <p:cTn id="38" presetID="1" presetClass="exit" presetSubtype="0" fill="hold" grpId="1" nodeType="afterEffect">
                                  <p:stCondLst>
                                    <p:cond delay="0"/>
                                  </p:stCondLst>
                                  <p:childTnLst>
                                    <p:set>
                                      <p:cBhvr>
                                        <p:cTn id="39" dur="1" fill="hold">
                                          <p:stCondLst>
                                            <p:cond delay="0"/>
                                          </p:stCondLst>
                                        </p:cTn>
                                        <p:tgtEl>
                                          <p:spTgt spid="26"/>
                                        </p:tgtEl>
                                        <p:attrNameLst>
                                          <p:attrName>style.visibility</p:attrName>
                                        </p:attrNameLst>
                                      </p:cBhvr>
                                      <p:to>
                                        <p:strVal val="hidden"/>
                                      </p:to>
                                    </p:set>
                                  </p:childTnLst>
                                </p:cTn>
                              </p:par>
                            </p:childTnLst>
                          </p:cTn>
                        </p:par>
                        <p:par>
                          <p:cTn id="40" fill="hold">
                            <p:stCondLst>
                              <p:cond delay="0"/>
                            </p:stCondLst>
                            <p:childTnLst>
                              <p:par>
                                <p:cTn id="41" presetID="1" presetClass="entr" presetSubtype="0" fill="hold" grpId="0" nodeType="after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childTnLst>
                          </p:cTn>
                        </p:par>
                        <p:par>
                          <p:cTn id="43" fill="hold">
                            <p:stCondLst>
                              <p:cond delay="0"/>
                            </p:stCondLst>
                            <p:childTnLst>
                              <p:par>
                                <p:cTn id="44" presetID="12" presetClass="entr" presetSubtype="1" fill="hold" grpId="0" nodeType="after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slide(fromTop)">
                                      <p:cBhvr>
                                        <p:cTn id="46" dur="500"/>
                                        <p:tgtEl>
                                          <p:spTgt spid="33"/>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32"/>
                                        </p:tgtEl>
                                        <p:attrNameLst>
                                          <p:attrName>style.visibility</p:attrName>
                                        </p:attrNameLst>
                                      </p:cBhvr>
                                      <p:to>
                                        <p:strVal val="hidden"/>
                                      </p:to>
                                    </p:set>
                                  </p:childTnLst>
                                </p:cTn>
                              </p:par>
                            </p:childTnLst>
                          </p:cTn>
                        </p:par>
                        <p:par>
                          <p:cTn id="51" fill="hold">
                            <p:stCondLst>
                              <p:cond delay="0"/>
                            </p:stCondLst>
                            <p:childTnLst>
                              <p:par>
                                <p:cTn id="52" presetID="1" presetClass="exit" presetSubtype="0" fill="hold" grpId="1" nodeType="afterEffect">
                                  <p:stCondLst>
                                    <p:cond delay="0"/>
                                  </p:stCondLst>
                                  <p:childTnLst>
                                    <p:set>
                                      <p:cBhvr>
                                        <p:cTn id="53" dur="1" fill="hold">
                                          <p:stCondLst>
                                            <p:cond delay="0"/>
                                          </p:stCondLst>
                                        </p:cTn>
                                        <p:tgtEl>
                                          <p:spTgt spid="33"/>
                                        </p:tgtEl>
                                        <p:attrNameLst>
                                          <p:attrName>style.visibility</p:attrName>
                                        </p:attrNameLst>
                                      </p:cBhvr>
                                      <p:to>
                                        <p:strVal val="hidden"/>
                                      </p:to>
                                    </p:set>
                                  </p:childTnLst>
                                </p:cTn>
                              </p:par>
                            </p:childTnLst>
                          </p:cTn>
                        </p:par>
                        <p:par>
                          <p:cTn id="54" fill="hold">
                            <p:stCondLst>
                              <p:cond delay="0"/>
                            </p:stCondLst>
                            <p:childTnLst>
                              <p:par>
                                <p:cTn id="55" presetID="1" presetClass="entr" presetSubtype="0" fill="hold" grpId="0" nodeType="after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childTnLst>
                          </p:cTn>
                        </p:par>
                        <p:par>
                          <p:cTn id="57" fill="hold">
                            <p:stCondLst>
                              <p:cond delay="0"/>
                            </p:stCondLst>
                            <p:childTnLst>
                              <p:par>
                                <p:cTn id="58" presetID="12" presetClass="entr" presetSubtype="4" fill="hold" grpId="2" nodeType="after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slide(fromBottom)">
                                      <p:cBhvr>
                                        <p:cTn id="60" dur="500"/>
                                        <p:tgtEl>
                                          <p:spTgt spid="26"/>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grpId="1" nodeType="clickEffect">
                                  <p:stCondLst>
                                    <p:cond delay="0"/>
                                  </p:stCondLst>
                                  <p:childTnLst>
                                    <p:set>
                                      <p:cBhvr>
                                        <p:cTn id="64" dur="1" fill="hold">
                                          <p:stCondLst>
                                            <p:cond delay="0"/>
                                          </p:stCondLst>
                                        </p:cTn>
                                        <p:tgtEl>
                                          <p:spTgt spid="31"/>
                                        </p:tgtEl>
                                        <p:attrNameLst>
                                          <p:attrName>style.visibility</p:attrName>
                                        </p:attrNameLst>
                                      </p:cBhvr>
                                      <p:to>
                                        <p:strVal val="hidden"/>
                                      </p:to>
                                    </p:set>
                                  </p:childTnLst>
                                </p:cTn>
                              </p:par>
                            </p:childTnLst>
                          </p:cTn>
                        </p:par>
                        <p:par>
                          <p:cTn id="65" fill="hold">
                            <p:stCondLst>
                              <p:cond delay="0"/>
                            </p:stCondLst>
                            <p:childTnLst>
                              <p:par>
                                <p:cTn id="66" presetID="1" presetClass="exit" presetSubtype="0" fill="hold" grpId="3" nodeType="afterEffect">
                                  <p:stCondLst>
                                    <p:cond delay="0"/>
                                  </p:stCondLst>
                                  <p:childTnLst>
                                    <p:set>
                                      <p:cBhvr>
                                        <p:cTn id="67" dur="1" fill="hold">
                                          <p:stCondLst>
                                            <p:cond delay="0"/>
                                          </p:stCondLst>
                                        </p:cTn>
                                        <p:tgtEl>
                                          <p:spTgt spid="26"/>
                                        </p:tgtEl>
                                        <p:attrNameLst>
                                          <p:attrName>style.visibility</p:attrName>
                                        </p:attrNameLst>
                                      </p:cBhvr>
                                      <p:to>
                                        <p:strVal val="hidden"/>
                                      </p:to>
                                    </p:set>
                                  </p:childTnLst>
                                </p:cTn>
                              </p:par>
                            </p:childTnLst>
                          </p:cTn>
                        </p:par>
                        <p:par>
                          <p:cTn id="68" fill="hold">
                            <p:stCondLst>
                              <p:cond delay="0"/>
                            </p:stCondLst>
                            <p:childTnLst>
                              <p:par>
                                <p:cTn id="69" presetID="1" presetClass="entr" presetSubtype="0" fill="hold" grpId="2" nodeType="afterEffect">
                                  <p:stCondLst>
                                    <p:cond delay="0"/>
                                  </p:stCondLst>
                                  <p:childTnLst>
                                    <p:set>
                                      <p:cBhvr>
                                        <p:cTn id="70" dur="1" fill="hold">
                                          <p:stCondLst>
                                            <p:cond delay="0"/>
                                          </p:stCondLst>
                                        </p:cTn>
                                        <p:tgtEl>
                                          <p:spTgt spid="30"/>
                                        </p:tgtEl>
                                        <p:attrNameLst>
                                          <p:attrName>style.visibility</p:attrName>
                                        </p:attrNameLst>
                                      </p:cBhvr>
                                      <p:to>
                                        <p:strVal val="visible"/>
                                      </p:to>
                                    </p:set>
                                  </p:childTnLst>
                                </p:cTn>
                              </p:par>
                            </p:childTnLst>
                          </p:cTn>
                        </p:par>
                        <p:par>
                          <p:cTn id="71" fill="hold">
                            <p:stCondLst>
                              <p:cond delay="0"/>
                            </p:stCondLst>
                            <p:childTnLst>
                              <p:par>
                                <p:cTn id="72" presetID="12" presetClass="entr" presetSubtype="4" fill="hold" grpId="0" nodeType="after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slide(fromBottom)">
                                      <p:cBhvr>
                                        <p:cTn id="74" dur="500"/>
                                        <p:tgtEl>
                                          <p:spTgt spid="27"/>
                                        </p:tgtEl>
                                      </p:cBhvr>
                                    </p:animEffect>
                                  </p:childTnLst>
                                </p:cTn>
                              </p:par>
                            </p:childTnLst>
                          </p:cTn>
                        </p:par>
                        <p:par>
                          <p:cTn id="75" fill="hold">
                            <p:stCondLst>
                              <p:cond delay="500"/>
                            </p:stCondLst>
                            <p:childTnLst>
                              <p:par>
                                <p:cTn id="76" presetID="1" presetClass="entr" presetSubtype="0" fill="hold" nodeType="afterEffect">
                                  <p:stCondLst>
                                    <p:cond delay="0"/>
                                  </p:stCondLst>
                                  <p:childTnLst>
                                    <p:set>
                                      <p:cBhvr>
                                        <p:cTn id="77" dur="1" fill="hold">
                                          <p:stCondLst>
                                            <p:cond delay="0"/>
                                          </p:stCondLst>
                                        </p:cTn>
                                        <p:tgtEl>
                                          <p:spTgt spid="18"/>
                                        </p:tgtEl>
                                        <p:attrNameLst>
                                          <p:attrName>style.visibility</p:attrName>
                                        </p:attrNameLst>
                                      </p:cBhvr>
                                      <p:to>
                                        <p:strVal val="visible"/>
                                      </p:to>
                                    </p:set>
                                  </p:childTnLst>
                                </p:cTn>
                              </p:par>
                            </p:childTnLst>
                          </p:cTn>
                        </p:par>
                        <p:par>
                          <p:cTn id="78" fill="hold">
                            <p:stCondLst>
                              <p:cond delay="500"/>
                            </p:stCondLst>
                            <p:childTnLst>
                              <p:par>
                                <p:cTn id="79" presetID="12" presetClass="entr" presetSubtype="4" fill="hold" grpId="0" nodeType="after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slide(fromBottom)">
                                      <p:cBhvr>
                                        <p:cTn id="81" dur="500"/>
                                        <p:tgtEl>
                                          <p:spTgt spid="28"/>
                                        </p:tgtEl>
                                      </p:cBhvr>
                                    </p:animEffect>
                                  </p:childTnLst>
                                </p:cTn>
                              </p:par>
                            </p:childTnLst>
                          </p:cTn>
                        </p:par>
                        <p:par>
                          <p:cTn id="82" fill="hold">
                            <p:stCondLst>
                              <p:cond delay="1000"/>
                            </p:stCondLst>
                            <p:childTnLst>
                              <p:par>
                                <p:cTn id="83" presetID="1" presetClass="entr" presetSubtype="0" fill="hold" nodeType="afterEffect">
                                  <p:stCondLst>
                                    <p:cond delay="0"/>
                                  </p:stCondLst>
                                  <p:childTnLst>
                                    <p:set>
                                      <p:cBhvr>
                                        <p:cTn id="84" dur="1" fill="hold">
                                          <p:stCondLst>
                                            <p:cond delay="0"/>
                                          </p:stCondLst>
                                        </p:cTn>
                                        <p:tgtEl>
                                          <p:spTgt spid="2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3"/>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grpId="3" nodeType="clickEffect">
                                  <p:stCondLst>
                                    <p:cond delay="0"/>
                                  </p:stCondLst>
                                  <p:childTnLst>
                                    <p:set>
                                      <p:cBhvr>
                                        <p:cTn id="90" dur="1" fill="hold">
                                          <p:stCondLst>
                                            <p:cond delay="0"/>
                                          </p:stCondLst>
                                        </p:cTn>
                                        <p:tgtEl>
                                          <p:spTgt spid="30"/>
                                        </p:tgtEl>
                                        <p:attrNameLst>
                                          <p:attrName>style.visibility</p:attrName>
                                        </p:attrNameLst>
                                      </p:cBhvr>
                                      <p:to>
                                        <p:strVal val="hidden"/>
                                      </p:to>
                                    </p:set>
                                  </p:childTnLst>
                                </p:cTn>
                              </p:par>
                            </p:childTnLst>
                          </p:cTn>
                        </p:par>
                        <p:par>
                          <p:cTn id="91" fill="hold">
                            <p:stCondLst>
                              <p:cond delay="0"/>
                            </p:stCondLst>
                            <p:childTnLst>
                              <p:par>
                                <p:cTn id="92" presetID="1" presetClass="exit" presetSubtype="0" fill="hold" grpId="1" nodeType="afterEffect">
                                  <p:stCondLst>
                                    <p:cond delay="0"/>
                                  </p:stCondLst>
                                  <p:childTnLst>
                                    <p:set>
                                      <p:cBhvr>
                                        <p:cTn id="93" dur="1" fill="hold">
                                          <p:stCondLst>
                                            <p:cond delay="0"/>
                                          </p:stCondLst>
                                        </p:cTn>
                                        <p:tgtEl>
                                          <p:spTgt spid="28"/>
                                        </p:tgtEl>
                                        <p:attrNameLst>
                                          <p:attrName>style.visibility</p:attrName>
                                        </p:attrNameLst>
                                      </p:cBhvr>
                                      <p:to>
                                        <p:strVal val="hidden"/>
                                      </p:to>
                                    </p:set>
                                  </p:childTnLst>
                                </p:cTn>
                              </p:par>
                            </p:childTnLst>
                          </p:cTn>
                        </p:par>
                        <p:par>
                          <p:cTn id="94" fill="hold">
                            <p:stCondLst>
                              <p:cond delay="0"/>
                            </p:stCondLst>
                            <p:childTnLst>
                              <p:par>
                                <p:cTn id="95" presetID="1" presetClass="exit" presetSubtype="0" fill="hold" grpId="1" nodeType="afterEffect">
                                  <p:stCondLst>
                                    <p:cond delay="0"/>
                                  </p:stCondLst>
                                  <p:childTnLst>
                                    <p:set>
                                      <p:cBhvr>
                                        <p:cTn id="96" dur="1" fill="hold">
                                          <p:stCondLst>
                                            <p:cond delay="0"/>
                                          </p:stCondLst>
                                        </p:cTn>
                                        <p:tgtEl>
                                          <p:spTgt spid="27"/>
                                        </p:tgtEl>
                                        <p:attrNameLst>
                                          <p:attrName>style.visibility</p:attrName>
                                        </p:attrNameLst>
                                      </p:cBhvr>
                                      <p:to>
                                        <p:strVal val="hidden"/>
                                      </p:to>
                                    </p:set>
                                  </p:childTnLst>
                                </p:cTn>
                              </p:par>
                            </p:childTnLst>
                          </p:cTn>
                        </p:par>
                        <p:par>
                          <p:cTn id="97" fill="hold">
                            <p:stCondLst>
                              <p:cond delay="0"/>
                            </p:stCondLst>
                            <p:childTnLst>
                              <p:par>
                                <p:cTn id="98" presetID="2" presetClass="entr" presetSubtype="2" fill="hold" nodeType="afterEffect">
                                  <p:stCondLst>
                                    <p:cond delay="0"/>
                                  </p:stCondLst>
                                  <p:childTnLst>
                                    <p:set>
                                      <p:cBhvr>
                                        <p:cTn id="99" dur="1" fill="hold">
                                          <p:stCondLst>
                                            <p:cond delay="0"/>
                                          </p:stCondLst>
                                        </p:cTn>
                                        <p:tgtEl>
                                          <p:spTgt spid="40"/>
                                        </p:tgtEl>
                                        <p:attrNameLst>
                                          <p:attrName>style.visibility</p:attrName>
                                        </p:attrNameLst>
                                      </p:cBhvr>
                                      <p:to>
                                        <p:strVal val="visible"/>
                                      </p:to>
                                    </p:set>
                                    <p:anim calcmode="lin" valueType="num">
                                      <p:cBhvr additive="base">
                                        <p:cTn id="100" dur="500" fill="hold"/>
                                        <p:tgtEl>
                                          <p:spTgt spid="40"/>
                                        </p:tgtEl>
                                        <p:attrNameLst>
                                          <p:attrName>ppt_x</p:attrName>
                                        </p:attrNameLst>
                                      </p:cBhvr>
                                      <p:tavLst>
                                        <p:tav tm="0">
                                          <p:val>
                                            <p:strVal val="1+#ppt_w/2"/>
                                          </p:val>
                                        </p:tav>
                                        <p:tav tm="100000">
                                          <p:val>
                                            <p:strVal val="#ppt_x"/>
                                          </p:val>
                                        </p:tav>
                                      </p:tavLst>
                                    </p:anim>
                                    <p:anim calcmode="lin" valueType="num">
                                      <p:cBhvr additive="base">
                                        <p:cTn id="101" dur="500" fill="hold"/>
                                        <p:tgtEl>
                                          <p:spTgt spid="40"/>
                                        </p:tgtEl>
                                        <p:attrNameLst>
                                          <p:attrName>ppt_y</p:attrName>
                                        </p:attrNameLst>
                                      </p:cBhvr>
                                      <p:tavLst>
                                        <p:tav tm="0">
                                          <p:val>
                                            <p:strVal val="#ppt_y"/>
                                          </p:val>
                                        </p:tav>
                                        <p:tav tm="100000">
                                          <p:val>
                                            <p:strVal val="#ppt_y"/>
                                          </p:val>
                                        </p:tav>
                                      </p:tavLst>
                                    </p:anim>
                                  </p:childTnLst>
                                </p:cTn>
                              </p:par>
                              <p:par>
                                <p:cTn id="102" presetID="2" presetClass="entr" presetSubtype="2" fill="hold" nodeType="withEffect">
                                  <p:stCondLst>
                                    <p:cond delay="0"/>
                                  </p:stCondLst>
                                  <p:childTnLst>
                                    <p:set>
                                      <p:cBhvr>
                                        <p:cTn id="103" dur="1" fill="hold">
                                          <p:stCondLst>
                                            <p:cond delay="0"/>
                                          </p:stCondLst>
                                        </p:cTn>
                                        <p:tgtEl>
                                          <p:spTgt spid="34"/>
                                        </p:tgtEl>
                                        <p:attrNameLst>
                                          <p:attrName>style.visibility</p:attrName>
                                        </p:attrNameLst>
                                      </p:cBhvr>
                                      <p:to>
                                        <p:strVal val="visible"/>
                                      </p:to>
                                    </p:set>
                                    <p:anim calcmode="lin" valueType="num">
                                      <p:cBhvr additive="base">
                                        <p:cTn id="104" dur="500" fill="hold"/>
                                        <p:tgtEl>
                                          <p:spTgt spid="34"/>
                                        </p:tgtEl>
                                        <p:attrNameLst>
                                          <p:attrName>ppt_x</p:attrName>
                                        </p:attrNameLst>
                                      </p:cBhvr>
                                      <p:tavLst>
                                        <p:tav tm="0">
                                          <p:val>
                                            <p:strVal val="1+#ppt_w/2"/>
                                          </p:val>
                                        </p:tav>
                                        <p:tav tm="100000">
                                          <p:val>
                                            <p:strVal val="#ppt_x"/>
                                          </p:val>
                                        </p:tav>
                                      </p:tavLst>
                                    </p:anim>
                                    <p:anim calcmode="lin" valueType="num">
                                      <p:cBhvr additive="base">
                                        <p:cTn id="105" dur="500" fill="hold"/>
                                        <p:tgtEl>
                                          <p:spTgt spid="34"/>
                                        </p:tgtEl>
                                        <p:attrNameLst>
                                          <p:attrName>ppt_y</p:attrName>
                                        </p:attrNameLst>
                                      </p:cBhvr>
                                      <p:tavLst>
                                        <p:tav tm="0">
                                          <p:val>
                                            <p:strVal val="#ppt_y"/>
                                          </p:val>
                                        </p:tav>
                                        <p:tav tm="100000">
                                          <p:val>
                                            <p:strVal val="#ppt_y"/>
                                          </p:val>
                                        </p:tav>
                                      </p:tavLst>
                                    </p:anim>
                                  </p:childTnLst>
                                </p:cTn>
                              </p:par>
                              <p:par>
                                <p:cTn id="106" presetID="2" presetClass="entr" presetSubtype="2" fill="hold" nodeType="withEffect">
                                  <p:stCondLst>
                                    <p:cond delay="0"/>
                                  </p:stCondLst>
                                  <p:childTnLst>
                                    <p:set>
                                      <p:cBhvr>
                                        <p:cTn id="107" dur="1" fill="hold">
                                          <p:stCondLst>
                                            <p:cond delay="0"/>
                                          </p:stCondLst>
                                        </p:cTn>
                                        <p:tgtEl>
                                          <p:spTgt spid="37"/>
                                        </p:tgtEl>
                                        <p:attrNameLst>
                                          <p:attrName>style.visibility</p:attrName>
                                        </p:attrNameLst>
                                      </p:cBhvr>
                                      <p:to>
                                        <p:strVal val="visible"/>
                                      </p:to>
                                    </p:set>
                                    <p:anim calcmode="lin" valueType="num">
                                      <p:cBhvr additive="base">
                                        <p:cTn id="108" dur="500" fill="hold"/>
                                        <p:tgtEl>
                                          <p:spTgt spid="37"/>
                                        </p:tgtEl>
                                        <p:attrNameLst>
                                          <p:attrName>ppt_x</p:attrName>
                                        </p:attrNameLst>
                                      </p:cBhvr>
                                      <p:tavLst>
                                        <p:tav tm="0">
                                          <p:val>
                                            <p:strVal val="1+#ppt_w/2"/>
                                          </p:val>
                                        </p:tav>
                                        <p:tav tm="100000">
                                          <p:val>
                                            <p:strVal val="#ppt_x"/>
                                          </p:val>
                                        </p:tav>
                                      </p:tavLst>
                                    </p:anim>
                                    <p:anim calcmode="lin" valueType="num">
                                      <p:cBhvr additive="base">
                                        <p:cTn id="109" dur="500" fill="hold"/>
                                        <p:tgtEl>
                                          <p:spTgt spid="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animBg="1"/>
      <p:bldP spid="13" grpId="0"/>
      <p:bldP spid="26" grpId="0" animBg="1"/>
      <p:bldP spid="26" grpId="1" animBg="1"/>
      <p:bldP spid="26" grpId="2" animBg="1"/>
      <p:bldP spid="26" grpId="3" animBg="1"/>
      <p:bldP spid="27" grpId="0" animBg="1"/>
      <p:bldP spid="27" grpId="1" animBg="1"/>
      <p:bldP spid="28" grpId="0" animBg="1"/>
      <p:bldP spid="28" grpId="1" animBg="1"/>
      <p:bldP spid="29" grpId="0"/>
      <p:bldP spid="29" grpId="1"/>
      <p:bldP spid="30" grpId="0"/>
      <p:bldP spid="30" grpId="1"/>
      <p:bldP spid="30" grpId="2"/>
      <p:bldP spid="30" grpId="3"/>
      <p:bldP spid="31" grpId="0"/>
      <p:bldP spid="31" grpId="1"/>
      <p:bldP spid="32" grpId="0"/>
      <p:bldP spid="32" grpId="1"/>
      <p:bldP spid="33" grpId="0" animBg="1"/>
      <p:bldP spid="33"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CEA400-56D1-7944-9A70-02D15A2B096C}"/>
              </a:ext>
            </a:extLst>
          </p:cNvPr>
          <p:cNvSpPr>
            <a:spLocks noGrp="1"/>
          </p:cNvSpPr>
          <p:nvPr>
            <p:ph type="title"/>
          </p:nvPr>
        </p:nvSpPr>
        <p:spPr/>
        <p:txBody>
          <a:bodyPr/>
          <a:lstStyle/>
          <a:p>
            <a:r>
              <a:rPr kumimoji="1" lang="en-US" altLang="zh-CN" dirty="0"/>
              <a:t>x86</a:t>
            </a:r>
            <a:r>
              <a:rPr kumimoji="1" lang="zh-CN" altLang="en-US" dirty="0"/>
              <a:t>中的</a:t>
            </a:r>
            <a:r>
              <a:rPr kumimoji="1" lang="en-US" altLang="zh-CN" dirty="0"/>
              <a:t>VM</a:t>
            </a:r>
            <a:r>
              <a:rPr kumimoji="1" lang="zh-CN" altLang="en-US" dirty="0"/>
              <a:t> </a:t>
            </a:r>
            <a:r>
              <a:rPr kumimoji="1" lang="en-US" altLang="zh-CN" dirty="0"/>
              <a:t>Entry</a:t>
            </a:r>
            <a:r>
              <a:rPr kumimoji="1" lang="zh-CN" altLang="en-US" dirty="0"/>
              <a:t>和</a:t>
            </a:r>
            <a:r>
              <a:rPr kumimoji="1" lang="en-US" altLang="zh-CN" dirty="0"/>
              <a:t>VM</a:t>
            </a:r>
            <a:r>
              <a:rPr kumimoji="1" lang="zh-CN" altLang="en-US" dirty="0"/>
              <a:t> </a:t>
            </a:r>
            <a:r>
              <a:rPr kumimoji="1" lang="en-US" altLang="zh-CN" dirty="0"/>
              <a:t>Exit</a:t>
            </a:r>
            <a:endParaRPr kumimoji="1" lang="zh-CN" altLang="en-US" dirty="0"/>
          </a:p>
        </p:txBody>
      </p:sp>
      <p:sp>
        <p:nvSpPr>
          <p:cNvPr id="3" name="内容占位符 2">
            <a:extLst>
              <a:ext uri="{FF2B5EF4-FFF2-40B4-BE49-F238E27FC236}">
                <a16:creationId xmlns:a16="http://schemas.microsoft.com/office/drawing/2014/main" id="{565A407D-4005-8046-98F5-860F1CBEE6A9}"/>
              </a:ext>
            </a:extLst>
          </p:cNvPr>
          <p:cNvSpPr>
            <a:spLocks noGrp="1"/>
          </p:cNvSpPr>
          <p:nvPr>
            <p:ph idx="1"/>
          </p:nvPr>
        </p:nvSpPr>
        <p:spPr/>
        <p:txBody>
          <a:bodyPr>
            <a:normAutofit fontScale="92500" lnSpcReduction="10000"/>
          </a:bodyPr>
          <a:lstStyle/>
          <a:p>
            <a:r>
              <a:rPr kumimoji="1" lang="en-US" altLang="zh-CN" dirty="0"/>
              <a:t>VM</a:t>
            </a:r>
            <a:r>
              <a:rPr kumimoji="1" lang="zh-CN" altLang="en-US" dirty="0"/>
              <a:t> </a:t>
            </a:r>
            <a:r>
              <a:rPr kumimoji="1" lang="en-US" altLang="zh-CN" dirty="0"/>
              <a:t>Entry</a:t>
            </a:r>
          </a:p>
          <a:p>
            <a:pPr lvl="1"/>
            <a:r>
              <a:rPr kumimoji="1" lang="zh-CN" altLang="en-US" dirty="0"/>
              <a:t>从</a:t>
            </a:r>
            <a:r>
              <a:rPr kumimoji="1" lang="en-US" altLang="zh-CN" dirty="0"/>
              <a:t>VMM</a:t>
            </a:r>
            <a:r>
              <a:rPr kumimoji="1" lang="zh-CN" altLang="en-US" dirty="0"/>
              <a:t>进入</a:t>
            </a:r>
            <a:r>
              <a:rPr kumimoji="1" lang="en-US" altLang="zh-CN" dirty="0"/>
              <a:t>VM</a:t>
            </a:r>
          </a:p>
          <a:p>
            <a:pPr lvl="1"/>
            <a:r>
              <a:rPr kumimoji="1" lang="zh-CN" altLang="en-US" dirty="0"/>
              <a:t>从</a:t>
            </a:r>
            <a:r>
              <a:rPr kumimoji="1" lang="en-US" altLang="zh-CN" dirty="0"/>
              <a:t>Root</a:t>
            </a:r>
            <a:r>
              <a:rPr kumimoji="1" lang="zh-CN" altLang="en-US" dirty="0"/>
              <a:t>模式切换到</a:t>
            </a:r>
            <a:r>
              <a:rPr kumimoji="1" lang="en-US" altLang="zh-CN" dirty="0"/>
              <a:t>Non-root</a:t>
            </a:r>
            <a:r>
              <a:rPr kumimoji="1" lang="zh-CN" altLang="en-US" dirty="0"/>
              <a:t>模式</a:t>
            </a:r>
            <a:endParaRPr kumimoji="1" lang="en-US" altLang="zh-CN" dirty="0"/>
          </a:p>
          <a:p>
            <a:pPr lvl="1"/>
            <a:r>
              <a:rPr kumimoji="1" lang="zh-CN" altLang="en-US" dirty="0"/>
              <a:t>第一次启动虚拟机时使用</a:t>
            </a:r>
            <a:r>
              <a:rPr kumimoji="1" lang="en-US" altLang="zh-CN" dirty="0">
                <a:solidFill>
                  <a:srgbClr val="BE384B"/>
                </a:solidFill>
              </a:rPr>
              <a:t>VMLAUNCH</a:t>
            </a:r>
            <a:r>
              <a:rPr kumimoji="1" lang="zh-CN" altLang="en-US" dirty="0">
                <a:solidFill>
                  <a:srgbClr val="BE384B"/>
                </a:solidFill>
              </a:rPr>
              <a:t>指令</a:t>
            </a:r>
            <a:endParaRPr kumimoji="1" lang="en-US" altLang="zh-CN" dirty="0">
              <a:solidFill>
                <a:srgbClr val="BE384B"/>
              </a:solidFill>
            </a:endParaRPr>
          </a:p>
          <a:p>
            <a:pPr lvl="1"/>
            <a:r>
              <a:rPr kumimoji="1" lang="zh-CN" altLang="en-US" dirty="0">
                <a:solidFill>
                  <a:srgbClr val="404040"/>
                </a:solidFill>
              </a:rPr>
              <a:t>后续的</a:t>
            </a:r>
            <a:r>
              <a:rPr kumimoji="1" lang="en-US" altLang="zh-CN" dirty="0">
                <a:solidFill>
                  <a:srgbClr val="404040"/>
                </a:solidFill>
              </a:rPr>
              <a:t>VM</a:t>
            </a:r>
            <a:r>
              <a:rPr kumimoji="1" lang="zh-CN" altLang="en-US" dirty="0">
                <a:solidFill>
                  <a:srgbClr val="404040"/>
                </a:solidFill>
              </a:rPr>
              <a:t> </a:t>
            </a:r>
            <a:r>
              <a:rPr kumimoji="1" lang="en-US" altLang="zh-CN" dirty="0">
                <a:solidFill>
                  <a:srgbClr val="404040"/>
                </a:solidFill>
              </a:rPr>
              <a:t>Entry</a:t>
            </a:r>
            <a:r>
              <a:rPr kumimoji="1" lang="zh-CN" altLang="en-US" dirty="0">
                <a:solidFill>
                  <a:srgbClr val="404040"/>
                </a:solidFill>
              </a:rPr>
              <a:t>使用</a:t>
            </a:r>
            <a:r>
              <a:rPr kumimoji="1" lang="en-US" altLang="zh-CN" dirty="0">
                <a:solidFill>
                  <a:srgbClr val="BE384B"/>
                </a:solidFill>
              </a:rPr>
              <a:t>VMRESUME</a:t>
            </a:r>
            <a:r>
              <a:rPr kumimoji="1" lang="zh-CN" altLang="en-US" dirty="0">
                <a:solidFill>
                  <a:srgbClr val="BE384B"/>
                </a:solidFill>
              </a:rPr>
              <a:t>指令</a:t>
            </a:r>
            <a:endParaRPr kumimoji="1" lang="en-US" altLang="zh-CN" dirty="0">
              <a:solidFill>
                <a:srgbClr val="BE384B"/>
              </a:solidFill>
            </a:endParaRPr>
          </a:p>
          <a:p>
            <a:r>
              <a:rPr kumimoji="1" lang="en-US" altLang="zh-CN" dirty="0"/>
              <a:t>VM</a:t>
            </a:r>
            <a:r>
              <a:rPr kumimoji="1" lang="zh-CN" altLang="en-US" dirty="0"/>
              <a:t> </a:t>
            </a:r>
            <a:r>
              <a:rPr kumimoji="1" lang="en-US" altLang="zh-CN" dirty="0"/>
              <a:t>Exit</a:t>
            </a:r>
          </a:p>
          <a:p>
            <a:pPr lvl="1"/>
            <a:r>
              <a:rPr kumimoji="1" lang="zh-CN" altLang="en-US" dirty="0"/>
              <a:t>从</a:t>
            </a:r>
            <a:r>
              <a:rPr kumimoji="1" lang="en-US" altLang="zh-CN" dirty="0"/>
              <a:t>VM</a:t>
            </a:r>
            <a:r>
              <a:rPr kumimoji="1" lang="zh-CN" altLang="en-US" dirty="0"/>
              <a:t>回到</a:t>
            </a:r>
            <a:r>
              <a:rPr kumimoji="1" lang="en-US" altLang="zh-CN" dirty="0"/>
              <a:t>VMM</a:t>
            </a:r>
          </a:p>
          <a:p>
            <a:pPr lvl="1"/>
            <a:r>
              <a:rPr kumimoji="1" lang="zh-CN" altLang="en-US" dirty="0"/>
              <a:t>从</a:t>
            </a:r>
            <a:r>
              <a:rPr kumimoji="1" lang="en-US" altLang="zh-CN" dirty="0"/>
              <a:t>Non-root</a:t>
            </a:r>
            <a:r>
              <a:rPr kumimoji="1" lang="zh-CN" altLang="en-US" dirty="0"/>
              <a:t>模式切换到</a:t>
            </a:r>
            <a:r>
              <a:rPr kumimoji="1" lang="en-US" altLang="zh-CN" dirty="0"/>
              <a:t>Root</a:t>
            </a:r>
            <a:r>
              <a:rPr kumimoji="1" lang="zh-CN" altLang="en-US" dirty="0"/>
              <a:t>模式</a:t>
            </a:r>
            <a:endParaRPr kumimoji="1" lang="en-US" altLang="zh-CN" dirty="0"/>
          </a:p>
          <a:p>
            <a:pPr lvl="1"/>
            <a:r>
              <a:rPr kumimoji="1" lang="zh-CN" altLang="en-US" dirty="0"/>
              <a:t>虚拟机执行敏感指令或发生事件</a:t>
            </a:r>
            <a:r>
              <a:rPr kumimoji="1" lang="en-US" altLang="zh-CN" dirty="0"/>
              <a:t>(</a:t>
            </a:r>
            <a:r>
              <a:rPr kumimoji="1" lang="zh-CN" altLang="en-US" dirty="0"/>
              <a:t>如外部中断</a:t>
            </a:r>
            <a:r>
              <a:rPr kumimoji="1" lang="en-US" altLang="zh-CN" dirty="0"/>
              <a:t>)</a:t>
            </a:r>
          </a:p>
          <a:p>
            <a:pPr lvl="1"/>
            <a:endParaRPr kumimoji="1" lang="en-US" altLang="zh-CN" dirty="0"/>
          </a:p>
          <a:p>
            <a:pPr lvl="1"/>
            <a:endParaRPr kumimoji="1" lang="en-US" altLang="zh-CN" dirty="0"/>
          </a:p>
          <a:p>
            <a:pPr lvl="1"/>
            <a:endParaRPr kumimoji="1" lang="zh-CN" altLang="en-US" dirty="0"/>
          </a:p>
        </p:txBody>
      </p:sp>
      <p:sp>
        <p:nvSpPr>
          <p:cNvPr id="4" name="灯片编号占位符 3">
            <a:extLst>
              <a:ext uri="{FF2B5EF4-FFF2-40B4-BE49-F238E27FC236}">
                <a16:creationId xmlns:a16="http://schemas.microsoft.com/office/drawing/2014/main" id="{022D340D-63D6-8843-A0D3-50B23A6FAB4D}"/>
              </a:ext>
            </a:extLst>
          </p:cNvPr>
          <p:cNvSpPr>
            <a:spLocks noGrp="1"/>
          </p:cNvSpPr>
          <p:nvPr>
            <p:ph type="sldNum" sz="quarter" idx="12"/>
          </p:nvPr>
        </p:nvSpPr>
        <p:spPr/>
        <p:txBody>
          <a:bodyPr/>
          <a:lstStyle/>
          <a:p>
            <a:fld id="{ADE361C3-C043-4A6E-BDCE-8DA1E7D90A3B}" type="slidenum">
              <a:rPr lang="zh-CN" altLang="en-US" smtClean="0"/>
              <a:t>26</a:t>
            </a:fld>
            <a:endParaRPr lang="zh-CN" altLang="en-US"/>
          </a:p>
        </p:txBody>
      </p:sp>
      <p:sp>
        <p:nvSpPr>
          <p:cNvPr id="5" name="页脚占位符 4">
            <a:extLst>
              <a:ext uri="{FF2B5EF4-FFF2-40B4-BE49-F238E27FC236}">
                <a16:creationId xmlns:a16="http://schemas.microsoft.com/office/drawing/2014/main" id="{43F2F736-4719-3840-92FB-FB5DE3981BC1}"/>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25" name="组合 24">
            <a:extLst>
              <a:ext uri="{FF2B5EF4-FFF2-40B4-BE49-F238E27FC236}">
                <a16:creationId xmlns:a16="http://schemas.microsoft.com/office/drawing/2014/main" id="{7D36E8B7-015D-8A4A-9C64-368241A2FAF7}"/>
              </a:ext>
            </a:extLst>
          </p:cNvPr>
          <p:cNvGrpSpPr/>
          <p:nvPr/>
        </p:nvGrpSpPr>
        <p:grpSpPr>
          <a:xfrm>
            <a:off x="5724129" y="1540642"/>
            <a:ext cx="3093376" cy="2342447"/>
            <a:chOff x="-56953" y="1805965"/>
            <a:chExt cx="8743753" cy="3219164"/>
          </a:xfrm>
        </p:grpSpPr>
        <p:sp>
          <p:nvSpPr>
            <p:cNvPr id="26" name="Rectangle 22">
              <a:extLst>
                <a:ext uri="{FF2B5EF4-FFF2-40B4-BE49-F238E27FC236}">
                  <a16:creationId xmlns:a16="http://schemas.microsoft.com/office/drawing/2014/main" id="{64452D7E-C80D-414D-9C62-854A43644187}"/>
                </a:ext>
              </a:extLst>
            </p:cNvPr>
            <p:cNvSpPr/>
            <p:nvPr/>
          </p:nvSpPr>
          <p:spPr>
            <a:xfrm>
              <a:off x="2422147" y="3132688"/>
              <a:ext cx="2636232" cy="670204"/>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pPr algn="ctr"/>
              <a:r>
                <a:rPr lang="zh-CN" altLang="en-US" sz="1100" dirty="0">
                  <a:solidFill>
                    <a:srgbClr val="BE384B"/>
                  </a:solidFill>
                  <a:cs typeface="Arial Narrow"/>
                </a:rPr>
                <a:t>操作系统</a:t>
              </a:r>
              <a:endParaRPr lang="en-US" altLang="zh-CN" sz="1100" dirty="0">
                <a:solidFill>
                  <a:srgbClr val="BE384B"/>
                </a:solidFill>
                <a:cs typeface="Arial Narrow"/>
              </a:endParaRPr>
            </a:p>
            <a:p>
              <a:pPr algn="ctr"/>
              <a:r>
                <a:rPr lang="zh-CN" altLang="en-US" sz="1100" dirty="0">
                  <a:solidFill>
                    <a:srgbClr val="BE384B"/>
                  </a:solidFill>
                  <a:cs typeface="Arial Narrow"/>
                </a:rPr>
                <a:t>内核</a:t>
              </a:r>
              <a:endParaRPr lang="en-US" sz="1100" dirty="0">
                <a:solidFill>
                  <a:srgbClr val="BE384B"/>
                </a:solidFill>
                <a:cs typeface="Arial Narrow"/>
              </a:endParaRPr>
            </a:p>
          </p:txBody>
        </p:sp>
        <p:sp>
          <p:nvSpPr>
            <p:cNvPr id="27" name="Rectangle 27">
              <a:extLst>
                <a:ext uri="{FF2B5EF4-FFF2-40B4-BE49-F238E27FC236}">
                  <a16:creationId xmlns:a16="http://schemas.microsoft.com/office/drawing/2014/main" id="{FB058D2A-9CF0-3245-B50E-5388ABCA2832}"/>
                </a:ext>
              </a:extLst>
            </p:cNvPr>
            <p:cNvSpPr/>
            <p:nvPr/>
          </p:nvSpPr>
          <p:spPr>
            <a:xfrm>
              <a:off x="2419904" y="2223725"/>
              <a:ext cx="2636232" cy="670202"/>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100" dirty="0">
                  <a:solidFill>
                    <a:srgbClr val="BE384B"/>
                  </a:solidFill>
                  <a:cs typeface="Arial Narrow"/>
                </a:rPr>
                <a:t>进程</a:t>
              </a:r>
              <a:endParaRPr lang="en-US" sz="1100" dirty="0">
                <a:solidFill>
                  <a:srgbClr val="BE384B"/>
                </a:solidFill>
                <a:cs typeface="Arial Narrow"/>
              </a:endParaRPr>
            </a:p>
          </p:txBody>
        </p:sp>
        <p:cxnSp>
          <p:nvCxnSpPr>
            <p:cNvPr id="28" name="Straight Connector 13">
              <a:extLst>
                <a:ext uri="{FF2B5EF4-FFF2-40B4-BE49-F238E27FC236}">
                  <a16:creationId xmlns:a16="http://schemas.microsoft.com/office/drawing/2014/main" id="{09F9FDAF-0D8F-D94B-860C-C354668D9442}"/>
                </a:ext>
              </a:extLst>
            </p:cNvPr>
            <p:cNvCxnSpPr>
              <a:cxnSpLocks/>
            </p:cNvCxnSpPr>
            <p:nvPr/>
          </p:nvCxnSpPr>
          <p:spPr>
            <a:xfrm>
              <a:off x="604293" y="4225652"/>
              <a:ext cx="8082507" cy="0"/>
            </a:xfrm>
            <a:prstGeom prst="line">
              <a:avLst/>
            </a:prstGeom>
            <a:ln>
              <a:solidFill>
                <a:srgbClr val="BE384B"/>
              </a:solidFill>
            </a:ln>
            <a:effectLst/>
          </p:spPr>
          <p:style>
            <a:lnRef idx="2">
              <a:schemeClr val="accent1"/>
            </a:lnRef>
            <a:fillRef idx="0">
              <a:schemeClr val="accent1"/>
            </a:fillRef>
            <a:effectRef idx="1">
              <a:schemeClr val="accent1"/>
            </a:effectRef>
            <a:fontRef idx="minor">
              <a:schemeClr val="tx1"/>
            </a:fontRef>
          </p:style>
        </p:cxnSp>
        <p:sp>
          <p:nvSpPr>
            <p:cNvPr id="31" name="Rectangle 22">
              <a:extLst>
                <a:ext uri="{FF2B5EF4-FFF2-40B4-BE49-F238E27FC236}">
                  <a16:creationId xmlns:a16="http://schemas.microsoft.com/office/drawing/2014/main" id="{1107B237-FE2C-7041-8602-82883C0282D4}"/>
                </a:ext>
              </a:extLst>
            </p:cNvPr>
            <p:cNvSpPr/>
            <p:nvPr/>
          </p:nvSpPr>
          <p:spPr>
            <a:xfrm>
              <a:off x="2145403" y="4354924"/>
              <a:ext cx="6243021" cy="670205"/>
            </a:xfrm>
            <a:prstGeom prst="rect">
              <a:avLst/>
            </a:prstGeom>
            <a:solidFill>
              <a:srgbClr val="BE384B"/>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pPr algn="r"/>
              <a:r>
                <a:rPr lang="zh-CN" altLang="en-US" sz="1100" dirty="0">
                  <a:solidFill>
                    <a:schemeClr val="bg1"/>
                  </a:solidFill>
                  <a:cs typeface="Arial Narrow"/>
                </a:rPr>
                <a:t>虚拟机监控器</a:t>
              </a:r>
              <a:endParaRPr lang="en-US" sz="1100" dirty="0">
                <a:solidFill>
                  <a:schemeClr val="bg1"/>
                </a:solidFill>
                <a:cs typeface="Arial Narrow"/>
              </a:endParaRPr>
            </a:p>
          </p:txBody>
        </p:sp>
        <p:sp>
          <p:nvSpPr>
            <p:cNvPr id="32" name="文本框 31">
              <a:extLst>
                <a:ext uri="{FF2B5EF4-FFF2-40B4-BE49-F238E27FC236}">
                  <a16:creationId xmlns:a16="http://schemas.microsoft.com/office/drawing/2014/main" id="{DAD28F15-8D55-5B46-A99C-4F4638670179}"/>
                </a:ext>
              </a:extLst>
            </p:cNvPr>
            <p:cNvSpPr txBox="1"/>
            <p:nvPr/>
          </p:nvSpPr>
          <p:spPr>
            <a:xfrm>
              <a:off x="-56953" y="4452850"/>
              <a:ext cx="1532784" cy="524205"/>
            </a:xfrm>
            <a:prstGeom prst="rect">
              <a:avLst/>
            </a:prstGeom>
            <a:noFill/>
          </p:spPr>
          <p:txBody>
            <a:bodyPr wrap="none" rtlCol="0">
              <a:spAutoFit/>
            </a:bodyPr>
            <a:lstStyle/>
            <a:p>
              <a:r>
                <a:rPr kumimoji="1" lang="en-US" altLang="zh-CN" sz="1100" dirty="0"/>
                <a:t>Root</a:t>
              </a:r>
              <a:r>
                <a:rPr kumimoji="1" lang="zh-CN" altLang="en-US" sz="1100" dirty="0"/>
                <a:t>模式</a:t>
              </a:r>
            </a:p>
          </p:txBody>
        </p:sp>
        <p:sp>
          <p:nvSpPr>
            <p:cNvPr id="33" name="圆角矩形 32">
              <a:extLst>
                <a:ext uri="{FF2B5EF4-FFF2-40B4-BE49-F238E27FC236}">
                  <a16:creationId xmlns:a16="http://schemas.microsoft.com/office/drawing/2014/main" id="{4D15BFAA-F48F-1D4D-9F6B-5B23382FDB1A}"/>
                </a:ext>
              </a:extLst>
            </p:cNvPr>
            <p:cNvSpPr/>
            <p:nvPr/>
          </p:nvSpPr>
          <p:spPr>
            <a:xfrm>
              <a:off x="2283046" y="1811511"/>
              <a:ext cx="2931601" cy="2133498"/>
            </a:xfrm>
            <a:prstGeom prst="roundRect">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00"/>
            </a:p>
          </p:txBody>
        </p:sp>
        <p:sp>
          <p:nvSpPr>
            <p:cNvPr id="34" name="文本框 33">
              <a:extLst>
                <a:ext uri="{FF2B5EF4-FFF2-40B4-BE49-F238E27FC236}">
                  <a16:creationId xmlns:a16="http://schemas.microsoft.com/office/drawing/2014/main" id="{AFAC3B1C-EE63-9F48-B194-D445143BEDF7}"/>
                </a:ext>
              </a:extLst>
            </p:cNvPr>
            <p:cNvSpPr txBox="1"/>
            <p:nvPr/>
          </p:nvSpPr>
          <p:spPr>
            <a:xfrm>
              <a:off x="2843303" y="1839539"/>
              <a:ext cx="1375395" cy="524205"/>
            </a:xfrm>
            <a:prstGeom prst="rect">
              <a:avLst/>
            </a:prstGeom>
            <a:noFill/>
          </p:spPr>
          <p:txBody>
            <a:bodyPr wrap="none" rtlCol="0">
              <a:spAutoFit/>
            </a:bodyPr>
            <a:lstStyle/>
            <a:p>
              <a:r>
                <a:rPr kumimoji="1" lang="zh-CN" altLang="en-US" sz="1100" dirty="0"/>
                <a:t>虚拟机</a:t>
              </a:r>
              <a:r>
                <a:rPr kumimoji="1" lang="en-US" altLang="zh-CN" sz="1100" dirty="0"/>
                <a:t>1</a:t>
              </a:r>
              <a:endParaRPr kumimoji="1" lang="zh-CN" altLang="en-US" sz="1100" dirty="0"/>
            </a:p>
          </p:txBody>
        </p:sp>
        <p:sp>
          <p:nvSpPr>
            <p:cNvPr id="35" name="Rectangle 22">
              <a:extLst>
                <a:ext uri="{FF2B5EF4-FFF2-40B4-BE49-F238E27FC236}">
                  <a16:creationId xmlns:a16="http://schemas.microsoft.com/office/drawing/2014/main" id="{240B784C-396C-6745-94E1-BFB0760CA2E1}"/>
                </a:ext>
              </a:extLst>
            </p:cNvPr>
            <p:cNvSpPr/>
            <p:nvPr/>
          </p:nvSpPr>
          <p:spPr>
            <a:xfrm>
              <a:off x="5604598" y="3113416"/>
              <a:ext cx="2636232" cy="670204"/>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pPr algn="ctr"/>
              <a:r>
                <a:rPr lang="zh-CN" altLang="en-US" sz="1100" dirty="0">
                  <a:solidFill>
                    <a:srgbClr val="BE384B"/>
                  </a:solidFill>
                  <a:cs typeface="Arial Narrow"/>
                </a:rPr>
                <a:t>操作系统</a:t>
              </a:r>
              <a:endParaRPr lang="en-US" altLang="zh-CN" sz="1100" dirty="0">
                <a:solidFill>
                  <a:srgbClr val="BE384B"/>
                </a:solidFill>
                <a:cs typeface="Arial Narrow"/>
              </a:endParaRPr>
            </a:p>
            <a:p>
              <a:pPr algn="ctr"/>
              <a:r>
                <a:rPr lang="zh-CN" altLang="en-US" sz="1100" dirty="0">
                  <a:solidFill>
                    <a:srgbClr val="BE384B"/>
                  </a:solidFill>
                  <a:cs typeface="Arial Narrow"/>
                </a:rPr>
                <a:t>内核</a:t>
              </a:r>
              <a:endParaRPr lang="en-US" sz="1100" dirty="0">
                <a:solidFill>
                  <a:srgbClr val="BE384B"/>
                </a:solidFill>
                <a:cs typeface="Arial Narrow"/>
              </a:endParaRPr>
            </a:p>
          </p:txBody>
        </p:sp>
        <p:sp>
          <p:nvSpPr>
            <p:cNvPr id="36" name="Rectangle 27">
              <a:extLst>
                <a:ext uri="{FF2B5EF4-FFF2-40B4-BE49-F238E27FC236}">
                  <a16:creationId xmlns:a16="http://schemas.microsoft.com/office/drawing/2014/main" id="{0AE11167-1A48-034B-ACBB-EB29D6C7B300}"/>
                </a:ext>
              </a:extLst>
            </p:cNvPr>
            <p:cNvSpPr/>
            <p:nvPr/>
          </p:nvSpPr>
          <p:spPr>
            <a:xfrm>
              <a:off x="5602355" y="2204453"/>
              <a:ext cx="2636232" cy="670202"/>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100" dirty="0">
                  <a:solidFill>
                    <a:srgbClr val="BE384B"/>
                  </a:solidFill>
                  <a:cs typeface="Arial Narrow"/>
                </a:rPr>
                <a:t>进程</a:t>
              </a:r>
              <a:endParaRPr lang="en-US" sz="1100" dirty="0">
                <a:solidFill>
                  <a:srgbClr val="BE384B"/>
                </a:solidFill>
                <a:cs typeface="Arial Narrow"/>
              </a:endParaRPr>
            </a:p>
          </p:txBody>
        </p:sp>
        <p:sp>
          <p:nvSpPr>
            <p:cNvPr id="37" name="圆角矩形 36">
              <a:extLst>
                <a:ext uri="{FF2B5EF4-FFF2-40B4-BE49-F238E27FC236}">
                  <a16:creationId xmlns:a16="http://schemas.microsoft.com/office/drawing/2014/main" id="{33AD643B-AD47-F040-B781-DD5DF8767050}"/>
                </a:ext>
              </a:extLst>
            </p:cNvPr>
            <p:cNvSpPr/>
            <p:nvPr/>
          </p:nvSpPr>
          <p:spPr>
            <a:xfrm>
              <a:off x="5454670" y="1805965"/>
              <a:ext cx="2931601" cy="2133498"/>
            </a:xfrm>
            <a:prstGeom prst="roundRect">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00" dirty="0"/>
            </a:p>
          </p:txBody>
        </p:sp>
        <p:sp>
          <p:nvSpPr>
            <p:cNvPr id="38" name="文本框 37">
              <a:extLst>
                <a:ext uri="{FF2B5EF4-FFF2-40B4-BE49-F238E27FC236}">
                  <a16:creationId xmlns:a16="http://schemas.microsoft.com/office/drawing/2014/main" id="{B450617B-B787-6F40-BD51-4987529E60D9}"/>
                </a:ext>
              </a:extLst>
            </p:cNvPr>
            <p:cNvSpPr txBox="1"/>
            <p:nvPr/>
          </p:nvSpPr>
          <p:spPr>
            <a:xfrm>
              <a:off x="5942543" y="1839539"/>
              <a:ext cx="1423575" cy="524205"/>
            </a:xfrm>
            <a:prstGeom prst="rect">
              <a:avLst/>
            </a:prstGeom>
            <a:noFill/>
          </p:spPr>
          <p:txBody>
            <a:bodyPr wrap="none" rtlCol="0">
              <a:spAutoFit/>
            </a:bodyPr>
            <a:lstStyle/>
            <a:p>
              <a:r>
                <a:rPr kumimoji="1" lang="zh-CN" altLang="en-US" sz="1100" dirty="0"/>
                <a:t>虚拟机</a:t>
              </a:r>
              <a:r>
                <a:rPr kumimoji="1" lang="en-US" altLang="zh-CN" sz="1100" dirty="0"/>
                <a:t>N</a:t>
              </a:r>
              <a:endParaRPr kumimoji="1" lang="zh-CN" altLang="en-US" sz="1100" dirty="0"/>
            </a:p>
          </p:txBody>
        </p:sp>
        <p:sp>
          <p:nvSpPr>
            <p:cNvPr id="39" name="文本框 38">
              <a:extLst>
                <a:ext uri="{FF2B5EF4-FFF2-40B4-BE49-F238E27FC236}">
                  <a16:creationId xmlns:a16="http://schemas.microsoft.com/office/drawing/2014/main" id="{53EA7BFE-167C-A146-9BEA-6F1BB7741395}"/>
                </a:ext>
              </a:extLst>
            </p:cNvPr>
            <p:cNvSpPr txBox="1"/>
            <p:nvPr/>
          </p:nvSpPr>
          <p:spPr>
            <a:xfrm>
              <a:off x="250725" y="2610857"/>
              <a:ext cx="1468543" cy="863395"/>
            </a:xfrm>
            <a:prstGeom prst="rect">
              <a:avLst/>
            </a:prstGeom>
            <a:noFill/>
          </p:spPr>
          <p:txBody>
            <a:bodyPr wrap="none" rtlCol="0">
              <a:spAutoFit/>
            </a:bodyPr>
            <a:lstStyle/>
            <a:p>
              <a:pPr algn="ctr"/>
              <a:r>
                <a:rPr kumimoji="1" lang="en-US" altLang="zh-CN" sz="1100" dirty="0"/>
                <a:t>Non-root</a:t>
              </a:r>
            </a:p>
            <a:p>
              <a:pPr algn="ctr"/>
              <a:r>
                <a:rPr kumimoji="1" lang="zh-CN" altLang="en-US" sz="1100" dirty="0"/>
                <a:t>模式</a:t>
              </a:r>
            </a:p>
          </p:txBody>
        </p:sp>
      </p:grpSp>
      <p:sp>
        <p:nvSpPr>
          <p:cNvPr id="21" name="Line 140">
            <a:extLst>
              <a:ext uri="{FF2B5EF4-FFF2-40B4-BE49-F238E27FC236}">
                <a16:creationId xmlns:a16="http://schemas.microsoft.com/office/drawing/2014/main" id="{522D1D40-1FAD-124F-9CA4-501AD549CC40}"/>
              </a:ext>
            </a:extLst>
          </p:cNvPr>
          <p:cNvSpPr>
            <a:spLocks noChangeShapeType="1"/>
          </p:cNvSpPr>
          <p:nvPr/>
        </p:nvSpPr>
        <p:spPr bwMode="auto">
          <a:xfrm flipH="1">
            <a:off x="6822259" y="2857500"/>
            <a:ext cx="1" cy="708112"/>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zh-CN" altLang="en-US" sz="1500"/>
          </a:p>
        </p:txBody>
      </p:sp>
      <p:sp>
        <p:nvSpPr>
          <p:cNvPr id="22" name="Line 140">
            <a:extLst>
              <a:ext uri="{FF2B5EF4-FFF2-40B4-BE49-F238E27FC236}">
                <a16:creationId xmlns:a16="http://schemas.microsoft.com/office/drawing/2014/main" id="{FFB91230-6D7A-A04E-BC3F-33F563964AAA}"/>
              </a:ext>
            </a:extLst>
          </p:cNvPr>
          <p:cNvSpPr>
            <a:spLocks noChangeShapeType="1"/>
          </p:cNvSpPr>
          <p:nvPr/>
        </p:nvSpPr>
        <p:spPr bwMode="auto">
          <a:xfrm>
            <a:off x="7308304" y="2804806"/>
            <a:ext cx="0" cy="704030"/>
          </a:xfrm>
          <a:prstGeom prst="line">
            <a:avLst/>
          </a:prstGeom>
          <a:noFill/>
          <a:ln w="76200">
            <a:solidFill>
              <a:schemeClr val="tx1"/>
            </a:solidFill>
            <a:round/>
            <a:headEnd type="triangle"/>
            <a:tailEnd type="non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zh-CN" altLang="en-US" sz="1500"/>
          </a:p>
        </p:txBody>
      </p:sp>
      <p:sp>
        <p:nvSpPr>
          <p:cNvPr id="23" name="文本框 22">
            <a:extLst>
              <a:ext uri="{FF2B5EF4-FFF2-40B4-BE49-F238E27FC236}">
                <a16:creationId xmlns:a16="http://schemas.microsoft.com/office/drawing/2014/main" id="{B48B7D16-8B3D-7C4F-87BD-F92C0814D527}"/>
              </a:ext>
            </a:extLst>
          </p:cNvPr>
          <p:cNvSpPr txBox="1"/>
          <p:nvPr/>
        </p:nvSpPr>
        <p:spPr>
          <a:xfrm>
            <a:off x="6504156" y="3585046"/>
            <a:ext cx="625492" cy="246221"/>
          </a:xfrm>
          <a:prstGeom prst="rect">
            <a:avLst/>
          </a:prstGeom>
          <a:noFill/>
        </p:spPr>
        <p:txBody>
          <a:bodyPr wrap="none" rtlCol="0">
            <a:spAutoFit/>
          </a:bodyPr>
          <a:lstStyle/>
          <a:p>
            <a:r>
              <a:rPr kumimoji="1" lang="en-US" altLang="zh-CN" sz="1000" dirty="0"/>
              <a:t>VM</a:t>
            </a:r>
            <a:r>
              <a:rPr kumimoji="1" lang="zh-CN" altLang="en-US" sz="1000" dirty="0"/>
              <a:t> </a:t>
            </a:r>
            <a:r>
              <a:rPr kumimoji="1" lang="en-US" altLang="zh-CN" sz="1000" dirty="0"/>
              <a:t>Exit</a:t>
            </a:r>
            <a:endParaRPr kumimoji="1" lang="zh-CN" altLang="en-US" sz="1000" dirty="0"/>
          </a:p>
        </p:txBody>
      </p:sp>
      <p:sp>
        <p:nvSpPr>
          <p:cNvPr id="24" name="文本框 23">
            <a:extLst>
              <a:ext uri="{FF2B5EF4-FFF2-40B4-BE49-F238E27FC236}">
                <a16:creationId xmlns:a16="http://schemas.microsoft.com/office/drawing/2014/main" id="{62FC580D-8340-FB47-95F7-04FD745EBEEB}"/>
              </a:ext>
            </a:extLst>
          </p:cNvPr>
          <p:cNvSpPr txBox="1"/>
          <p:nvPr/>
        </p:nvSpPr>
        <p:spPr>
          <a:xfrm>
            <a:off x="7302926" y="3106179"/>
            <a:ext cx="710451" cy="246221"/>
          </a:xfrm>
          <a:prstGeom prst="rect">
            <a:avLst/>
          </a:prstGeom>
          <a:noFill/>
        </p:spPr>
        <p:txBody>
          <a:bodyPr wrap="none" rtlCol="0">
            <a:spAutoFit/>
          </a:bodyPr>
          <a:lstStyle/>
          <a:p>
            <a:r>
              <a:rPr kumimoji="1" lang="en-US" altLang="zh-CN" sz="1000" dirty="0"/>
              <a:t>VM</a:t>
            </a:r>
            <a:r>
              <a:rPr kumimoji="1" lang="zh-CN" altLang="en-US" sz="1000" dirty="0"/>
              <a:t> </a:t>
            </a:r>
            <a:r>
              <a:rPr kumimoji="1" lang="en-US" altLang="zh-CN" sz="1000" dirty="0"/>
              <a:t>Entry</a:t>
            </a:r>
            <a:endParaRPr kumimoji="1" lang="zh-CN" altLang="en-US" sz="1000" dirty="0"/>
          </a:p>
        </p:txBody>
      </p:sp>
    </p:spTree>
    <p:extLst>
      <p:ext uri="{BB962C8B-B14F-4D97-AF65-F5344CB8AC3E}">
        <p14:creationId xmlns:p14="http://schemas.microsoft.com/office/powerpoint/2010/main" val="3853761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p:bldP spid="2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02C3FEF5-F933-1349-B56E-0C6158F22253}"/>
              </a:ext>
            </a:extLst>
          </p:cNvPr>
          <p:cNvSpPr>
            <a:spLocks noGrp="1"/>
          </p:cNvSpPr>
          <p:nvPr>
            <p:ph type="title"/>
          </p:nvPr>
        </p:nvSpPr>
        <p:spPr/>
        <p:txBody>
          <a:bodyPr/>
          <a:lstStyle/>
          <a:p>
            <a:r>
              <a:rPr lang="en-US" altLang="zh-CN" dirty="0"/>
              <a:t>ARM</a:t>
            </a:r>
            <a:r>
              <a:rPr lang="zh-CN" altLang="en-US" dirty="0"/>
              <a:t>的虚拟化技术</a:t>
            </a:r>
          </a:p>
        </p:txBody>
      </p:sp>
      <p:sp>
        <p:nvSpPr>
          <p:cNvPr id="7" name="文本占位符 6">
            <a:extLst>
              <a:ext uri="{FF2B5EF4-FFF2-40B4-BE49-F238E27FC236}">
                <a16:creationId xmlns:a16="http://schemas.microsoft.com/office/drawing/2014/main" id="{F73DB188-D648-D641-A0C1-233898237BF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989EE4C-EAB2-B743-8E82-87DAE4F03B0A}"/>
              </a:ext>
            </a:extLst>
          </p:cNvPr>
          <p:cNvSpPr>
            <a:spLocks noGrp="1"/>
          </p:cNvSpPr>
          <p:nvPr>
            <p:ph type="sldNum" sz="quarter" idx="12"/>
          </p:nvPr>
        </p:nvSpPr>
        <p:spPr/>
        <p:txBody>
          <a:bodyPr/>
          <a:lstStyle/>
          <a:p>
            <a:fld id="{ADE361C3-C043-4A6E-BDCE-8DA1E7D90A3B}" type="slidenum">
              <a:rPr lang="zh-CN" altLang="en-US" smtClean="0"/>
              <a:t>27</a:t>
            </a:fld>
            <a:endParaRPr lang="zh-CN" altLang="en-US"/>
          </a:p>
        </p:txBody>
      </p:sp>
      <p:sp>
        <p:nvSpPr>
          <p:cNvPr id="5" name="页脚占位符 4">
            <a:extLst>
              <a:ext uri="{FF2B5EF4-FFF2-40B4-BE49-F238E27FC236}">
                <a16:creationId xmlns:a16="http://schemas.microsoft.com/office/drawing/2014/main" id="{22D54148-2DC2-D948-8ECD-0A7F1104CA49}"/>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2195323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795A4D-C2D3-3B4D-8C73-8E78137DD57E}"/>
              </a:ext>
            </a:extLst>
          </p:cNvPr>
          <p:cNvSpPr>
            <a:spLocks noGrp="1"/>
          </p:cNvSpPr>
          <p:nvPr>
            <p:ph type="title"/>
          </p:nvPr>
        </p:nvSpPr>
        <p:spPr/>
        <p:txBody>
          <a:bodyPr/>
          <a:lstStyle/>
          <a:p>
            <a:r>
              <a:rPr kumimoji="1" lang="en-US" altLang="zh-CN" dirty="0"/>
              <a:t>ARM</a:t>
            </a:r>
            <a:r>
              <a:rPr kumimoji="1" lang="zh-CN" altLang="en-US" dirty="0"/>
              <a:t>的处理器虚拟化</a:t>
            </a:r>
          </a:p>
        </p:txBody>
      </p:sp>
      <p:sp>
        <p:nvSpPr>
          <p:cNvPr id="4" name="灯片编号占位符 3">
            <a:extLst>
              <a:ext uri="{FF2B5EF4-FFF2-40B4-BE49-F238E27FC236}">
                <a16:creationId xmlns:a16="http://schemas.microsoft.com/office/drawing/2014/main" id="{4DB12819-9064-A140-9948-FA587A70E0BA}"/>
              </a:ext>
            </a:extLst>
          </p:cNvPr>
          <p:cNvSpPr>
            <a:spLocks noGrp="1"/>
          </p:cNvSpPr>
          <p:nvPr>
            <p:ph type="sldNum" sz="quarter" idx="12"/>
          </p:nvPr>
        </p:nvSpPr>
        <p:spPr/>
        <p:txBody>
          <a:bodyPr/>
          <a:lstStyle/>
          <a:p>
            <a:fld id="{ADE361C3-C043-4A6E-BDCE-8DA1E7D90A3B}" type="slidenum">
              <a:rPr lang="zh-CN" altLang="en-US" smtClean="0"/>
              <a:t>28</a:t>
            </a:fld>
            <a:endParaRPr lang="zh-CN" altLang="en-US"/>
          </a:p>
        </p:txBody>
      </p:sp>
      <p:sp>
        <p:nvSpPr>
          <p:cNvPr id="5" name="页脚占位符 4">
            <a:extLst>
              <a:ext uri="{FF2B5EF4-FFF2-40B4-BE49-F238E27FC236}">
                <a16:creationId xmlns:a16="http://schemas.microsoft.com/office/drawing/2014/main" id="{18623507-52D7-0043-AFE4-211C109AC1D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20" name="组合 19">
            <a:extLst>
              <a:ext uri="{FF2B5EF4-FFF2-40B4-BE49-F238E27FC236}">
                <a16:creationId xmlns:a16="http://schemas.microsoft.com/office/drawing/2014/main" id="{71869896-D5C2-B542-93D4-D5DCDD7FE510}"/>
              </a:ext>
            </a:extLst>
          </p:cNvPr>
          <p:cNvGrpSpPr/>
          <p:nvPr/>
        </p:nvGrpSpPr>
        <p:grpSpPr>
          <a:xfrm>
            <a:off x="1003343" y="1416110"/>
            <a:ext cx="7137313" cy="3656844"/>
            <a:chOff x="3785670" y="2131558"/>
            <a:chExt cx="5259347" cy="2694657"/>
          </a:xfrm>
        </p:grpSpPr>
        <p:sp>
          <p:nvSpPr>
            <p:cNvPr id="6" name="Rectangle 22">
              <a:extLst>
                <a:ext uri="{FF2B5EF4-FFF2-40B4-BE49-F238E27FC236}">
                  <a16:creationId xmlns:a16="http://schemas.microsoft.com/office/drawing/2014/main" id="{A42FEE01-01C5-9D4F-946E-BD221A3C77EF}"/>
                </a:ext>
              </a:extLst>
            </p:cNvPr>
            <p:cNvSpPr/>
            <p:nvPr/>
          </p:nvSpPr>
          <p:spPr>
            <a:xfrm>
              <a:off x="4357605" y="3109194"/>
              <a:ext cx="1942588" cy="493860"/>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pPr algn="r"/>
              <a:r>
                <a:rPr lang="zh-CN" altLang="en-US" sz="1600" dirty="0">
                  <a:solidFill>
                    <a:srgbClr val="BE384B"/>
                  </a:solidFill>
                  <a:cs typeface="Arial Narrow"/>
                </a:rPr>
                <a:t>操作系统内核</a:t>
              </a:r>
              <a:endParaRPr lang="en-US" sz="1600" dirty="0">
                <a:solidFill>
                  <a:srgbClr val="BE384B"/>
                </a:solidFill>
                <a:cs typeface="Arial Narrow"/>
              </a:endParaRPr>
            </a:p>
          </p:txBody>
        </p:sp>
        <p:sp>
          <p:nvSpPr>
            <p:cNvPr id="7" name="Rectangle 24">
              <a:extLst>
                <a:ext uri="{FF2B5EF4-FFF2-40B4-BE49-F238E27FC236}">
                  <a16:creationId xmlns:a16="http://schemas.microsoft.com/office/drawing/2014/main" id="{48CA7806-AA2F-3141-B67D-2AB395B5306A}"/>
                </a:ext>
              </a:extLst>
            </p:cNvPr>
            <p:cNvSpPr/>
            <p:nvPr/>
          </p:nvSpPr>
          <p:spPr>
            <a:xfrm>
              <a:off x="4355954" y="4482275"/>
              <a:ext cx="4287673" cy="343940"/>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600" dirty="0">
                  <a:solidFill>
                    <a:srgbClr val="BE384B"/>
                  </a:solidFill>
                  <a:cs typeface="Arial Narrow"/>
                </a:rPr>
                <a:t>硬件</a:t>
              </a:r>
              <a:endParaRPr lang="en-US" sz="1600" dirty="0">
                <a:solidFill>
                  <a:srgbClr val="BE384B"/>
                </a:solidFill>
                <a:cs typeface="Arial Narrow"/>
              </a:endParaRPr>
            </a:p>
          </p:txBody>
        </p:sp>
        <p:sp>
          <p:nvSpPr>
            <p:cNvPr id="8" name="Rectangle 27">
              <a:extLst>
                <a:ext uri="{FF2B5EF4-FFF2-40B4-BE49-F238E27FC236}">
                  <a16:creationId xmlns:a16="http://schemas.microsoft.com/office/drawing/2014/main" id="{185CBD85-9B21-0F4D-83A7-34508808F55B}"/>
                </a:ext>
              </a:extLst>
            </p:cNvPr>
            <p:cNvSpPr/>
            <p:nvPr/>
          </p:nvSpPr>
          <p:spPr>
            <a:xfrm>
              <a:off x="4355952" y="2439397"/>
              <a:ext cx="1942588" cy="493859"/>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600" dirty="0">
                  <a:solidFill>
                    <a:srgbClr val="BE384B"/>
                  </a:solidFill>
                  <a:cs typeface="Arial Narrow"/>
                </a:rPr>
                <a:t>进程</a:t>
              </a:r>
              <a:endParaRPr lang="en-US" sz="1600" dirty="0">
                <a:solidFill>
                  <a:srgbClr val="BE384B"/>
                </a:solidFill>
                <a:cs typeface="Arial Narrow"/>
              </a:endParaRPr>
            </a:p>
          </p:txBody>
        </p:sp>
        <p:cxnSp>
          <p:nvCxnSpPr>
            <p:cNvPr id="9" name="Straight Connector 13">
              <a:extLst>
                <a:ext uri="{FF2B5EF4-FFF2-40B4-BE49-F238E27FC236}">
                  <a16:creationId xmlns:a16="http://schemas.microsoft.com/office/drawing/2014/main" id="{9AB3EEE8-C7F4-5A40-8B8F-1C778A67A5CF}"/>
                </a:ext>
              </a:extLst>
            </p:cNvPr>
            <p:cNvCxnSpPr>
              <a:cxnSpLocks/>
            </p:cNvCxnSpPr>
            <p:nvPr/>
          </p:nvCxnSpPr>
          <p:spPr>
            <a:xfrm>
              <a:off x="4032925" y="4341956"/>
              <a:ext cx="5012092" cy="0"/>
            </a:xfrm>
            <a:prstGeom prst="line">
              <a:avLst/>
            </a:prstGeom>
            <a:ln>
              <a:solidFill>
                <a:srgbClr val="BE384B"/>
              </a:solidFill>
            </a:ln>
            <a:effectLst/>
          </p:spPr>
          <p:style>
            <a:lnRef idx="2">
              <a:schemeClr val="accent1"/>
            </a:lnRef>
            <a:fillRef idx="0">
              <a:schemeClr val="accent1"/>
            </a:fillRef>
            <a:effectRef idx="1">
              <a:schemeClr val="accent1"/>
            </a:effectRef>
            <a:fontRef idx="minor">
              <a:schemeClr val="tx1"/>
            </a:fontRef>
          </p:style>
        </p:cxnSp>
        <p:sp>
          <p:nvSpPr>
            <p:cNvPr id="10" name="文本框 9">
              <a:extLst>
                <a:ext uri="{FF2B5EF4-FFF2-40B4-BE49-F238E27FC236}">
                  <a16:creationId xmlns:a16="http://schemas.microsoft.com/office/drawing/2014/main" id="{6105D18A-9F34-914E-B666-71AAED8D0156}"/>
                </a:ext>
              </a:extLst>
            </p:cNvPr>
            <p:cNvSpPr txBox="1"/>
            <p:nvPr/>
          </p:nvSpPr>
          <p:spPr>
            <a:xfrm>
              <a:off x="3785670" y="3181571"/>
              <a:ext cx="595035" cy="369332"/>
            </a:xfrm>
            <a:prstGeom prst="rect">
              <a:avLst/>
            </a:prstGeom>
            <a:noFill/>
          </p:spPr>
          <p:txBody>
            <a:bodyPr wrap="none" rtlCol="0">
              <a:spAutoFit/>
            </a:bodyPr>
            <a:lstStyle/>
            <a:p>
              <a:r>
                <a:rPr kumimoji="1" lang="en-US" altLang="zh-CN" dirty="0"/>
                <a:t>EL1</a:t>
              </a:r>
              <a:endParaRPr kumimoji="1" lang="zh-CN" altLang="en-US" dirty="0"/>
            </a:p>
          </p:txBody>
        </p:sp>
        <p:sp>
          <p:nvSpPr>
            <p:cNvPr id="11" name="文本框 10">
              <a:extLst>
                <a:ext uri="{FF2B5EF4-FFF2-40B4-BE49-F238E27FC236}">
                  <a16:creationId xmlns:a16="http://schemas.microsoft.com/office/drawing/2014/main" id="{6D49E7E8-E3F5-F54D-AA8A-64474296D2F6}"/>
                </a:ext>
              </a:extLst>
            </p:cNvPr>
            <p:cNvSpPr txBox="1"/>
            <p:nvPr/>
          </p:nvSpPr>
          <p:spPr>
            <a:xfrm>
              <a:off x="3785670" y="2537822"/>
              <a:ext cx="595035" cy="369332"/>
            </a:xfrm>
            <a:prstGeom prst="rect">
              <a:avLst/>
            </a:prstGeom>
            <a:noFill/>
          </p:spPr>
          <p:txBody>
            <a:bodyPr wrap="none" rtlCol="0">
              <a:spAutoFit/>
            </a:bodyPr>
            <a:lstStyle/>
            <a:p>
              <a:r>
                <a:rPr kumimoji="1" lang="en-US" altLang="zh-CN" dirty="0"/>
                <a:t>EL0</a:t>
              </a:r>
              <a:endParaRPr kumimoji="1" lang="zh-CN" altLang="en-US" dirty="0"/>
            </a:p>
          </p:txBody>
        </p:sp>
        <p:sp>
          <p:nvSpPr>
            <p:cNvPr id="12" name="Rectangle 22">
              <a:extLst>
                <a:ext uri="{FF2B5EF4-FFF2-40B4-BE49-F238E27FC236}">
                  <a16:creationId xmlns:a16="http://schemas.microsoft.com/office/drawing/2014/main" id="{7F49D29B-D10B-274E-8827-815531C6EBD9}"/>
                </a:ext>
              </a:extLst>
            </p:cNvPr>
            <p:cNvSpPr/>
            <p:nvPr/>
          </p:nvSpPr>
          <p:spPr>
            <a:xfrm>
              <a:off x="4345922" y="3777937"/>
              <a:ext cx="4297705" cy="493860"/>
            </a:xfrm>
            <a:prstGeom prst="rect">
              <a:avLst/>
            </a:prstGeom>
            <a:solidFill>
              <a:srgbClr val="BE384B"/>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pPr algn="r"/>
              <a:r>
                <a:rPr lang="zh-CN" altLang="en-US" sz="1600" dirty="0">
                  <a:solidFill>
                    <a:schemeClr val="bg1"/>
                  </a:solidFill>
                  <a:cs typeface="Arial Narrow"/>
                </a:rPr>
                <a:t>虚拟机监控器</a:t>
              </a:r>
              <a:endParaRPr lang="en-US" sz="1600" dirty="0">
                <a:solidFill>
                  <a:schemeClr val="bg1"/>
                </a:solidFill>
                <a:cs typeface="Arial Narrow"/>
              </a:endParaRPr>
            </a:p>
          </p:txBody>
        </p:sp>
        <p:sp>
          <p:nvSpPr>
            <p:cNvPr id="13" name="文本框 12">
              <a:extLst>
                <a:ext uri="{FF2B5EF4-FFF2-40B4-BE49-F238E27FC236}">
                  <a16:creationId xmlns:a16="http://schemas.microsoft.com/office/drawing/2014/main" id="{93E36288-1AA9-F946-8916-65D5C3DB2DCB}"/>
                </a:ext>
              </a:extLst>
            </p:cNvPr>
            <p:cNvSpPr txBox="1"/>
            <p:nvPr/>
          </p:nvSpPr>
          <p:spPr>
            <a:xfrm>
              <a:off x="3785670" y="3826181"/>
              <a:ext cx="595035" cy="369332"/>
            </a:xfrm>
            <a:prstGeom prst="rect">
              <a:avLst/>
            </a:prstGeom>
            <a:noFill/>
          </p:spPr>
          <p:txBody>
            <a:bodyPr wrap="none" rtlCol="0">
              <a:spAutoFit/>
            </a:bodyPr>
            <a:lstStyle/>
            <a:p>
              <a:r>
                <a:rPr kumimoji="1" lang="en-US" altLang="zh-CN" dirty="0"/>
                <a:t>EL2</a:t>
              </a:r>
              <a:endParaRPr kumimoji="1" lang="zh-CN" altLang="en-US" dirty="0"/>
            </a:p>
          </p:txBody>
        </p:sp>
        <p:sp>
          <p:nvSpPr>
            <p:cNvPr id="14" name="圆角矩形 13">
              <a:extLst>
                <a:ext uri="{FF2B5EF4-FFF2-40B4-BE49-F238E27FC236}">
                  <a16:creationId xmlns:a16="http://schemas.microsoft.com/office/drawing/2014/main" id="{30494FAA-C263-3D4F-AD88-1D16563C49A2}"/>
                </a:ext>
              </a:extLst>
            </p:cNvPr>
            <p:cNvSpPr/>
            <p:nvPr/>
          </p:nvSpPr>
          <p:spPr>
            <a:xfrm>
              <a:off x="4255104" y="2135645"/>
              <a:ext cx="2160240" cy="1572133"/>
            </a:xfrm>
            <a:prstGeom prst="roundRect">
              <a:avLst>
                <a:gd name="adj" fmla="val 7612"/>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文本框 14">
              <a:extLst>
                <a:ext uri="{FF2B5EF4-FFF2-40B4-BE49-F238E27FC236}">
                  <a16:creationId xmlns:a16="http://schemas.microsoft.com/office/drawing/2014/main" id="{471DD093-3D7A-804C-AA62-E7A33E31DBEA}"/>
                </a:ext>
              </a:extLst>
            </p:cNvPr>
            <p:cNvSpPr txBox="1"/>
            <p:nvPr/>
          </p:nvSpPr>
          <p:spPr>
            <a:xfrm>
              <a:off x="5028292" y="2154867"/>
              <a:ext cx="1005403" cy="369332"/>
            </a:xfrm>
            <a:prstGeom prst="rect">
              <a:avLst/>
            </a:prstGeom>
            <a:noFill/>
          </p:spPr>
          <p:txBody>
            <a:bodyPr wrap="none" rtlCol="0">
              <a:spAutoFit/>
            </a:bodyPr>
            <a:lstStyle/>
            <a:p>
              <a:r>
                <a:rPr kumimoji="1" lang="zh-CN" altLang="en-US" dirty="0"/>
                <a:t>虚拟机</a:t>
              </a:r>
              <a:r>
                <a:rPr kumimoji="1" lang="en-US" altLang="zh-CN" dirty="0"/>
                <a:t>1</a:t>
              </a:r>
              <a:endParaRPr kumimoji="1" lang="zh-CN" altLang="en-US" dirty="0"/>
            </a:p>
          </p:txBody>
        </p:sp>
        <p:sp>
          <p:nvSpPr>
            <p:cNvPr id="16" name="Rectangle 22">
              <a:extLst>
                <a:ext uri="{FF2B5EF4-FFF2-40B4-BE49-F238E27FC236}">
                  <a16:creationId xmlns:a16="http://schemas.microsoft.com/office/drawing/2014/main" id="{B2609B38-A75C-EE48-BA72-B827EDAABB31}"/>
                </a:ext>
              </a:extLst>
            </p:cNvPr>
            <p:cNvSpPr/>
            <p:nvPr/>
          </p:nvSpPr>
          <p:spPr>
            <a:xfrm>
              <a:off x="6702691" y="3094993"/>
              <a:ext cx="1942588" cy="493860"/>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pPr algn="r"/>
              <a:r>
                <a:rPr lang="zh-CN" altLang="en-US" sz="1600" dirty="0">
                  <a:solidFill>
                    <a:srgbClr val="BE384B"/>
                  </a:solidFill>
                  <a:cs typeface="Arial Narrow"/>
                </a:rPr>
                <a:t>操作系统内核</a:t>
              </a:r>
              <a:endParaRPr lang="en-US" sz="1600" dirty="0">
                <a:solidFill>
                  <a:srgbClr val="BE384B"/>
                </a:solidFill>
                <a:cs typeface="Arial Narrow"/>
              </a:endParaRPr>
            </a:p>
          </p:txBody>
        </p:sp>
        <p:sp>
          <p:nvSpPr>
            <p:cNvPr id="17" name="Rectangle 27">
              <a:extLst>
                <a:ext uri="{FF2B5EF4-FFF2-40B4-BE49-F238E27FC236}">
                  <a16:creationId xmlns:a16="http://schemas.microsoft.com/office/drawing/2014/main" id="{0E206E98-6C17-C648-A820-E7A67799074E}"/>
                </a:ext>
              </a:extLst>
            </p:cNvPr>
            <p:cNvSpPr/>
            <p:nvPr/>
          </p:nvSpPr>
          <p:spPr>
            <a:xfrm>
              <a:off x="6701038" y="2425196"/>
              <a:ext cx="1942588" cy="493859"/>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600" dirty="0">
                  <a:solidFill>
                    <a:srgbClr val="BE384B"/>
                  </a:solidFill>
                  <a:cs typeface="Arial Narrow"/>
                </a:rPr>
                <a:t>进程</a:t>
              </a:r>
              <a:endParaRPr lang="en-US" sz="1600" dirty="0">
                <a:solidFill>
                  <a:srgbClr val="BE384B"/>
                </a:solidFill>
                <a:cs typeface="Arial Narrow"/>
              </a:endParaRPr>
            </a:p>
          </p:txBody>
        </p:sp>
        <p:sp>
          <p:nvSpPr>
            <p:cNvPr id="18" name="圆角矩形 17">
              <a:extLst>
                <a:ext uri="{FF2B5EF4-FFF2-40B4-BE49-F238E27FC236}">
                  <a16:creationId xmlns:a16="http://schemas.microsoft.com/office/drawing/2014/main" id="{8850F2EE-E293-A04D-9E92-4C8683D0C53D}"/>
                </a:ext>
              </a:extLst>
            </p:cNvPr>
            <p:cNvSpPr/>
            <p:nvPr/>
          </p:nvSpPr>
          <p:spPr>
            <a:xfrm>
              <a:off x="6592212" y="2131558"/>
              <a:ext cx="2160240" cy="1572133"/>
            </a:xfrm>
            <a:prstGeom prst="roundRect">
              <a:avLst>
                <a:gd name="adj" fmla="val 5801"/>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9" name="文本框 18">
              <a:extLst>
                <a:ext uri="{FF2B5EF4-FFF2-40B4-BE49-F238E27FC236}">
                  <a16:creationId xmlns:a16="http://schemas.microsoft.com/office/drawing/2014/main" id="{7FE2106D-577B-DB4D-B66A-A2233468940B}"/>
                </a:ext>
              </a:extLst>
            </p:cNvPr>
            <p:cNvSpPr txBox="1"/>
            <p:nvPr/>
          </p:nvSpPr>
          <p:spPr>
            <a:xfrm>
              <a:off x="7326060" y="2156298"/>
              <a:ext cx="1043876" cy="369332"/>
            </a:xfrm>
            <a:prstGeom prst="rect">
              <a:avLst/>
            </a:prstGeom>
            <a:noFill/>
          </p:spPr>
          <p:txBody>
            <a:bodyPr wrap="none" rtlCol="0">
              <a:spAutoFit/>
            </a:bodyPr>
            <a:lstStyle/>
            <a:p>
              <a:r>
                <a:rPr kumimoji="1" lang="zh-CN" altLang="en-US" dirty="0"/>
                <a:t>虚拟机</a:t>
              </a:r>
              <a:r>
                <a:rPr kumimoji="1" lang="en-US" altLang="zh-CN" dirty="0"/>
                <a:t>N</a:t>
              </a:r>
              <a:endParaRPr kumimoji="1" lang="zh-CN" altLang="en-US" dirty="0"/>
            </a:p>
          </p:txBody>
        </p:sp>
      </p:grpSp>
    </p:spTree>
    <p:extLst>
      <p:ext uri="{BB962C8B-B14F-4D97-AF65-F5344CB8AC3E}">
        <p14:creationId xmlns:p14="http://schemas.microsoft.com/office/powerpoint/2010/main" val="3774494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CEA400-56D1-7944-9A70-02D15A2B096C}"/>
              </a:ext>
            </a:extLst>
          </p:cNvPr>
          <p:cNvSpPr>
            <a:spLocks noGrp="1"/>
          </p:cNvSpPr>
          <p:nvPr>
            <p:ph type="title"/>
          </p:nvPr>
        </p:nvSpPr>
        <p:spPr/>
        <p:txBody>
          <a:bodyPr/>
          <a:lstStyle/>
          <a:p>
            <a:r>
              <a:rPr kumimoji="1" lang="en-US" altLang="zh-CN" dirty="0"/>
              <a:t>ARM</a:t>
            </a:r>
            <a:r>
              <a:rPr kumimoji="1" lang="zh-CN" altLang="en-US" dirty="0"/>
              <a:t>的</a:t>
            </a:r>
            <a:r>
              <a:rPr kumimoji="1" lang="en-US" altLang="zh-CN" dirty="0"/>
              <a:t>VM</a:t>
            </a:r>
            <a:r>
              <a:rPr kumimoji="1" lang="zh-CN" altLang="en-US" dirty="0"/>
              <a:t> </a:t>
            </a:r>
            <a:r>
              <a:rPr kumimoji="1" lang="en-US" altLang="zh-CN" dirty="0"/>
              <a:t>Entry</a:t>
            </a:r>
            <a:r>
              <a:rPr kumimoji="1" lang="zh-CN" altLang="en-US" dirty="0"/>
              <a:t>和</a:t>
            </a:r>
            <a:r>
              <a:rPr kumimoji="1" lang="en-US" altLang="zh-CN" dirty="0"/>
              <a:t>VM</a:t>
            </a:r>
            <a:r>
              <a:rPr kumimoji="1" lang="zh-CN" altLang="en-US" dirty="0"/>
              <a:t> </a:t>
            </a:r>
            <a:r>
              <a:rPr kumimoji="1" lang="en-US" altLang="zh-CN" dirty="0"/>
              <a:t>Exit</a:t>
            </a:r>
            <a:endParaRPr kumimoji="1" lang="zh-CN" altLang="en-US" dirty="0"/>
          </a:p>
        </p:txBody>
      </p:sp>
      <p:sp>
        <p:nvSpPr>
          <p:cNvPr id="3" name="内容占位符 2">
            <a:extLst>
              <a:ext uri="{FF2B5EF4-FFF2-40B4-BE49-F238E27FC236}">
                <a16:creationId xmlns:a16="http://schemas.microsoft.com/office/drawing/2014/main" id="{565A407D-4005-8046-98F5-860F1CBEE6A9}"/>
              </a:ext>
            </a:extLst>
          </p:cNvPr>
          <p:cNvSpPr>
            <a:spLocks noGrp="1"/>
          </p:cNvSpPr>
          <p:nvPr>
            <p:ph idx="1"/>
          </p:nvPr>
        </p:nvSpPr>
        <p:spPr/>
        <p:txBody>
          <a:bodyPr>
            <a:normAutofit fontScale="92500" lnSpcReduction="20000"/>
          </a:bodyPr>
          <a:lstStyle/>
          <a:p>
            <a:r>
              <a:rPr kumimoji="1" lang="en-US" altLang="zh-CN" dirty="0"/>
              <a:t>VM</a:t>
            </a:r>
            <a:r>
              <a:rPr kumimoji="1" lang="zh-CN" altLang="en-US" dirty="0"/>
              <a:t> </a:t>
            </a:r>
            <a:r>
              <a:rPr kumimoji="1" lang="en-US" altLang="zh-CN" dirty="0"/>
              <a:t>Entry</a:t>
            </a:r>
          </a:p>
          <a:p>
            <a:pPr lvl="1"/>
            <a:r>
              <a:rPr kumimoji="1" lang="zh-CN" altLang="en-US" dirty="0"/>
              <a:t>使用</a:t>
            </a:r>
            <a:r>
              <a:rPr kumimoji="1" lang="en-US" altLang="zh-CN" dirty="0"/>
              <a:t>ERET</a:t>
            </a:r>
            <a:r>
              <a:rPr kumimoji="1" lang="zh-CN" altLang="en-US" dirty="0"/>
              <a:t>指令从</a:t>
            </a:r>
            <a:r>
              <a:rPr kumimoji="1" lang="en-US" altLang="zh-CN" dirty="0"/>
              <a:t>VMM</a:t>
            </a:r>
            <a:r>
              <a:rPr kumimoji="1" lang="zh-CN" altLang="en-US" dirty="0"/>
              <a:t>进入</a:t>
            </a:r>
            <a:r>
              <a:rPr kumimoji="1" lang="en-US" altLang="zh-CN" dirty="0"/>
              <a:t>VM</a:t>
            </a:r>
          </a:p>
          <a:p>
            <a:pPr lvl="1"/>
            <a:r>
              <a:rPr kumimoji="1" lang="zh-CN" altLang="en-US" dirty="0"/>
              <a:t>在进入</a:t>
            </a:r>
            <a:r>
              <a:rPr kumimoji="1" lang="en-US" altLang="zh-CN" dirty="0"/>
              <a:t>VM</a:t>
            </a:r>
            <a:r>
              <a:rPr kumimoji="1" lang="zh-CN" altLang="en-US" dirty="0"/>
              <a:t>之前，</a:t>
            </a:r>
            <a:r>
              <a:rPr kumimoji="1" lang="en-US" altLang="zh-CN" dirty="0"/>
              <a:t>VMM</a:t>
            </a:r>
            <a:r>
              <a:rPr kumimoji="1" lang="zh-CN" altLang="en-US" dirty="0"/>
              <a:t>需要</a:t>
            </a:r>
            <a:r>
              <a:rPr kumimoji="1" lang="zh-CN" altLang="en-US" dirty="0">
                <a:solidFill>
                  <a:srgbClr val="BE384B"/>
                </a:solidFill>
              </a:rPr>
              <a:t>主动</a:t>
            </a:r>
            <a:r>
              <a:rPr kumimoji="1" lang="zh-CN" altLang="en-US" dirty="0"/>
              <a:t>加载</a:t>
            </a:r>
            <a:r>
              <a:rPr kumimoji="1" lang="en-US" altLang="zh-CN" dirty="0"/>
              <a:t>VM</a:t>
            </a:r>
            <a:r>
              <a:rPr kumimoji="1" lang="zh-CN" altLang="en-US" dirty="0"/>
              <a:t>状态</a:t>
            </a:r>
            <a:endParaRPr kumimoji="1" lang="en-US" altLang="zh-CN" dirty="0"/>
          </a:p>
          <a:p>
            <a:pPr lvl="2"/>
            <a:r>
              <a:rPr kumimoji="1" lang="en-US" altLang="zh-CN" dirty="0"/>
              <a:t>VM</a:t>
            </a:r>
            <a:r>
              <a:rPr kumimoji="1" lang="zh-CN" altLang="en-US" dirty="0"/>
              <a:t>内状态：通用寄存器、系统寄存器、</a:t>
            </a:r>
            <a:endParaRPr kumimoji="1" lang="en-US" altLang="zh-CN" dirty="0"/>
          </a:p>
          <a:p>
            <a:pPr lvl="2"/>
            <a:r>
              <a:rPr kumimoji="1" lang="en-US" altLang="zh-CN" dirty="0"/>
              <a:t>VM</a:t>
            </a:r>
            <a:r>
              <a:rPr kumimoji="1" lang="zh-CN" altLang="en-US" dirty="0"/>
              <a:t>的控制状态：</a:t>
            </a:r>
            <a:r>
              <a:rPr kumimoji="1" lang="en-US" altLang="zh-CN" dirty="0"/>
              <a:t>HCR_EL2</a:t>
            </a:r>
            <a:r>
              <a:rPr kumimoji="1" lang="zh-CN" altLang="en-US" dirty="0"/>
              <a:t>、</a:t>
            </a:r>
            <a:r>
              <a:rPr kumimoji="1" lang="en-US" altLang="zh-CN" dirty="0"/>
              <a:t>VTTBR_EL2</a:t>
            </a:r>
            <a:r>
              <a:rPr kumimoji="1" lang="zh-CN" altLang="en-US" dirty="0"/>
              <a:t>等</a:t>
            </a:r>
            <a:endParaRPr kumimoji="1" lang="en-US" altLang="zh-CN" dirty="0"/>
          </a:p>
          <a:p>
            <a:r>
              <a:rPr kumimoji="1" lang="en-US" altLang="zh-CN" dirty="0"/>
              <a:t>VM</a:t>
            </a:r>
            <a:r>
              <a:rPr kumimoji="1" lang="zh-CN" altLang="en-US" dirty="0"/>
              <a:t> </a:t>
            </a:r>
            <a:r>
              <a:rPr kumimoji="1" lang="en-US" altLang="zh-CN" dirty="0"/>
              <a:t>Exit</a:t>
            </a:r>
          </a:p>
          <a:p>
            <a:pPr lvl="1"/>
            <a:r>
              <a:rPr kumimoji="1" lang="zh-CN" altLang="en-US" dirty="0"/>
              <a:t>虚拟机执行敏感指令或收到中断等</a:t>
            </a:r>
            <a:endParaRPr kumimoji="1" lang="en-US" altLang="zh-CN" dirty="0"/>
          </a:p>
          <a:p>
            <a:pPr lvl="1"/>
            <a:r>
              <a:rPr kumimoji="1" lang="zh-CN" altLang="en-US" dirty="0"/>
              <a:t>以</a:t>
            </a:r>
            <a:r>
              <a:rPr kumimoji="1" lang="en-US" altLang="zh-CN" dirty="0"/>
              <a:t>Exception</a:t>
            </a:r>
            <a:r>
              <a:rPr kumimoji="1" lang="zh-CN" altLang="en-US" dirty="0"/>
              <a:t>、</a:t>
            </a:r>
            <a:r>
              <a:rPr kumimoji="1" lang="en-US" altLang="zh-CN" dirty="0"/>
              <a:t>IRQ</a:t>
            </a:r>
            <a:r>
              <a:rPr kumimoji="1" lang="zh-CN" altLang="en-US" dirty="0"/>
              <a:t>、</a:t>
            </a:r>
            <a:r>
              <a:rPr kumimoji="1" lang="en-US" altLang="zh-CN" dirty="0"/>
              <a:t>FIQ</a:t>
            </a:r>
            <a:r>
              <a:rPr kumimoji="1" lang="zh-CN" altLang="en-US" dirty="0"/>
              <a:t>的形式回到</a:t>
            </a:r>
            <a:r>
              <a:rPr kumimoji="1" lang="en-US" altLang="zh-CN" dirty="0"/>
              <a:t>VMM</a:t>
            </a:r>
          </a:p>
          <a:p>
            <a:pPr lvl="2"/>
            <a:r>
              <a:rPr kumimoji="1" lang="zh-CN" altLang="en-US" dirty="0"/>
              <a:t>调用</a:t>
            </a:r>
            <a:r>
              <a:rPr kumimoji="1" lang="en-US" altLang="zh-CN" dirty="0"/>
              <a:t>VMM</a:t>
            </a:r>
            <a:r>
              <a:rPr kumimoji="1" lang="zh-CN" altLang="en-US" dirty="0"/>
              <a:t>记录在</a:t>
            </a:r>
            <a:r>
              <a:rPr kumimoji="1" lang="en-US" altLang="zh-CN" dirty="0"/>
              <a:t>vbar_el2</a:t>
            </a:r>
            <a:r>
              <a:rPr kumimoji="1" lang="zh-CN" altLang="en-US" dirty="0"/>
              <a:t>中的相关处理函数</a:t>
            </a:r>
            <a:endParaRPr kumimoji="1" lang="en-US" altLang="zh-CN" dirty="0"/>
          </a:p>
          <a:p>
            <a:pPr lvl="1"/>
            <a:r>
              <a:rPr kumimoji="1" lang="zh-CN" altLang="en-US" dirty="0"/>
              <a:t>下陷第一步：</a:t>
            </a:r>
            <a:r>
              <a:rPr kumimoji="1" lang="en-US" altLang="zh-CN" dirty="0"/>
              <a:t>VMM</a:t>
            </a:r>
            <a:r>
              <a:rPr kumimoji="1" lang="zh-CN" altLang="en-US" dirty="0">
                <a:solidFill>
                  <a:srgbClr val="BE384B"/>
                </a:solidFill>
              </a:rPr>
              <a:t>主动</a:t>
            </a:r>
            <a:r>
              <a:rPr kumimoji="1" lang="zh-CN" altLang="en-US" dirty="0"/>
              <a:t>保存所有</a:t>
            </a:r>
            <a:r>
              <a:rPr kumimoji="1" lang="en-US" altLang="zh-CN" dirty="0"/>
              <a:t>VM</a:t>
            </a:r>
            <a:r>
              <a:rPr kumimoji="1" lang="zh-CN" altLang="en-US" dirty="0"/>
              <a:t>的状态</a:t>
            </a:r>
            <a:endParaRPr kumimoji="1" lang="en-US" altLang="zh-CN" dirty="0"/>
          </a:p>
          <a:p>
            <a:pPr lvl="2"/>
            <a:endParaRPr kumimoji="1" lang="en-US" altLang="zh-CN" dirty="0"/>
          </a:p>
          <a:p>
            <a:pPr lvl="1"/>
            <a:endParaRPr kumimoji="1" lang="en-US" altLang="zh-CN" dirty="0"/>
          </a:p>
          <a:p>
            <a:pPr lvl="1"/>
            <a:endParaRPr kumimoji="1" lang="zh-CN" altLang="en-US" dirty="0"/>
          </a:p>
        </p:txBody>
      </p:sp>
      <p:sp>
        <p:nvSpPr>
          <p:cNvPr id="4" name="灯片编号占位符 3">
            <a:extLst>
              <a:ext uri="{FF2B5EF4-FFF2-40B4-BE49-F238E27FC236}">
                <a16:creationId xmlns:a16="http://schemas.microsoft.com/office/drawing/2014/main" id="{022D340D-63D6-8843-A0D3-50B23A6FAB4D}"/>
              </a:ext>
            </a:extLst>
          </p:cNvPr>
          <p:cNvSpPr>
            <a:spLocks noGrp="1"/>
          </p:cNvSpPr>
          <p:nvPr>
            <p:ph type="sldNum" sz="quarter" idx="12"/>
          </p:nvPr>
        </p:nvSpPr>
        <p:spPr/>
        <p:txBody>
          <a:bodyPr/>
          <a:lstStyle/>
          <a:p>
            <a:fld id="{ADE361C3-C043-4A6E-BDCE-8DA1E7D90A3B}" type="slidenum">
              <a:rPr lang="zh-CN" altLang="en-US" smtClean="0"/>
              <a:t>29</a:t>
            </a:fld>
            <a:endParaRPr lang="zh-CN" altLang="en-US"/>
          </a:p>
        </p:txBody>
      </p:sp>
      <p:sp>
        <p:nvSpPr>
          <p:cNvPr id="5" name="页脚占位符 4">
            <a:extLst>
              <a:ext uri="{FF2B5EF4-FFF2-40B4-BE49-F238E27FC236}">
                <a16:creationId xmlns:a16="http://schemas.microsoft.com/office/drawing/2014/main" id="{43F2F736-4719-3840-92FB-FB5DE3981BC1}"/>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6" name="组合 5">
            <a:extLst>
              <a:ext uri="{FF2B5EF4-FFF2-40B4-BE49-F238E27FC236}">
                <a16:creationId xmlns:a16="http://schemas.microsoft.com/office/drawing/2014/main" id="{2B94A576-69CF-4647-B2FF-E42A3B09DE61}"/>
              </a:ext>
            </a:extLst>
          </p:cNvPr>
          <p:cNvGrpSpPr/>
          <p:nvPr/>
        </p:nvGrpSpPr>
        <p:grpSpPr>
          <a:xfrm>
            <a:off x="6301295" y="1166310"/>
            <a:ext cx="2788674" cy="2309737"/>
            <a:chOff x="3379899" y="2131558"/>
            <a:chExt cx="5665118" cy="2694657"/>
          </a:xfrm>
        </p:grpSpPr>
        <p:sp>
          <p:nvSpPr>
            <p:cNvPr id="7" name="Rectangle 22">
              <a:extLst>
                <a:ext uri="{FF2B5EF4-FFF2-40B4-BE49-F238E27FC236}">
                  <a16:creationId xmlns:a16="http://schemas.microsoft.com/office/drawing/2014/main" id="{29D35EB8-E93E-CD47-B6C4-146A29700FD2}"/>
                </a:ext>
              </a:extLst>
            </p:cNvPr>
            <p:cNvSpPr/>
            <p:nvPr/>
          </p:nvSpPr>
          <p:spPr>
            <a:xfrm>
              <a:off x="4357605" y="3109194"/>
              <a:ext cx="1942588" cy="493860"/>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pPr algn="ctr"/>
              <a:r>
                <a:rPr lang="zh-CN" altLang="en-US" sz="1200" dirty="0">
                  <a:solidFill>
                    <a:srgbClr val="BE384B"/>
                  </a:solidFill>
                  <a:cs typeface="Arial Narrow"/>
                </a:rPr>
                <a:t>操作系统</a:t>
              </a:r>
              <a:endParaRPr lang="en-US" altLang="zh-CN" sz="1200" dirty="0">
                <a:solidFill>
                  <a:srgbClr val="BE384B"/>
                </a:solidFill>
                <a:cs typeface="Arial Narrow"/>
              </a:endParaRPr>
            </a:p>
            <a:p>
              <a:pPr algn="ctr"/>
              <a:r>
                <a:rPr lang="zh-CN" altLang="en-US" sz="1200" dirty="0">
                  <a:solidFill>
                    <a:srgbClr val="BE384B"/>
                  </a:solidFill>
                  <a:cs typeface="Arial Narrow"/>
                </a:rPr>
                <a:t>内核</a:t>
              </a:r>
              <a:endParaRPr lang="en-US" sz="1200" dirty="0">
                <a:solidFill>
                  <a:srgbClr val="BE384B"/>
                </a:solidFill>
                <a:cs typeface="Arial Narrow"/>
              </a:endParaRPr>
            </a:p>
          </p:txBody>
        </p:sp>
        <p:sp>
          <p:nvSpPr>
            <p:cNvPr id="8" name="Rectangle 24">
              <a:extLst>
                <a:ext uri="{FF2B5EF4-FFF2-40B4-BE49-F238E27FC236}">
                  <a16:creationId xmlns:a16="http://schemas.microsoft.com/office/drawing/2014/main" id="{61703E68-0D11-264D-A9D4-0DBF559A3EF2}"/>
                </a:ext>
              </a:extLst>
            </p:cNvPr>
            <p:cNvSpPr/>
            <p:nvPr/>
          </p:nvSpPr>
          <p:spPr>
            <a:xfrm>
              <a:off x="4355954" y="4482275"/>
              <a:ext cx="4433342" cy="343940"/>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200" dirty="0">
                  <a:solidFill>
                    <a:srgbClr val="BE384B"/>
                  </a:solidFill>
                  <a:cs typeface="Arial Narrow"/>
                </a:rPr>
                <a:t>硬件</a:t>
              </a:r>
              <a:endParaRPr lang="en-US" sz="1200" dirty="0">
                <a:solidFill>
                  <a:srgbClr val="BE384B"/>
                </a:solidFill>
                <a:cs typeface="Arial Narrow"/>
              </a:endParaRPr>
            </a:p>
          </p:txBody>
        </p:sp>
        <p:sp>
          <p:nvSpPr>
            <p:cNvPr id="9" name="Rectangle 27">
              <a:extLst>
                <a:ext uri="{FF2B5EF4-FFF2-40B4-BE49-F238E27FC236}">
                  <a16:creationId xmlns:a16="http://schemas.microsoft.com/office/drawing/2014/main" id="{8EDCEE82-462C-244C-B4CF-B3B50D71F5EE}"/>
                </a:ext>
              </a:extLst>
            </p:cNvPr>
            <p:cNvSpPr/>
            <p:nvPr/>
          </p:nvSpPr>
          <p:spPr>
            <a:xfrm>
              <a:off x="4355952" y="2439397"/>
              <a:ext cx="1942588" cy="493859"/>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200" dirty="0">
                  <a:solidFill>
                    <a:srgbClr val="BE384B"/>
                  </a:solidFill>
                  <a:cs typeface="Arial Narrow"/>
                </a:rPr>
                <a:t>进程</a:t>
              </a:r>
              <a:endParaRPr lang="en-US" sz="1200" dirty="0">
                <a:solidFill>
                  <a:srgbClr val="BE384B"/>
                </a:solidFill>
                <a:cs typeface="Arial Narrow"/>
              </a:endParaRPr>
            </a:p>
          </p:txBody>
        </p:sp>
        <p:cxnSp>
          <p:nvCxnSpPr>
            <p:cNvPr id="10" name="Straight Connector 13">
              <a:extLst>
                <a:ext uri="{FF2B5EF4-FFF2-40B4-BE49-F238E27FC236}">
                  <a16:creationId xmlns:a16="http://schemas.microsoft.com/office/drawing/2014/main" id="{CFF153BE-8A3C-3D4E-BFEA-ACE57BEF919D}"/>
                </a:ext>
              </a:extLst>
            </p:cNvPr>
            <p:cNvCxnSpPr>
              <a:cxnSpLocks/>
            </p:cNvCxnSpPr>
            <p:nvPr/>
          </p:nvCxnSpPr>
          <p:spPr>
            <a:xfrm>
              <a:off x="4032925" y="4341956"/>
              <a:ext cx="5012092" cy="0"/>
            </a:xfrm>
            <a:prstGeom prst="line">
              <a:avLst/>
            </a:prstGeom>
            <a:ln>
              <a:solidFill>
                <a:srgbClr val="BE384B"/>
              </a:solidFill>
            </a:ln>
            <a:effectLst/>
          </p:spPr>
          <p:style>
            <a:lnRef idx="2">
              <a:schemeClr val="accent1"/>
            </a:lnRef>
            <a:fillRef idx="0">
              <a:schemeClr val="accent1"/>
            </a:fillRef>
            <a:effectRef idx="1">
              <a:schemeClr val="accent1"/>
            </a:effectRef>
            <a:fontRef idx="minor">
              <a:schemeClr val="tx1"/>
            </a:fontRef>
          </p:style>
        </p:cxnSp>
        <p:sp>
          <p:nvSpPr>
            <p:cNvPr id="11" name="文本框 10">
              <a:extLst>
                <a:ext uri="{FF2B5EF4-FFF2-40B4-BE49-F238E27FC236}">
                  <a16:creationId xmlns:a16="http://schemas.microsoft.com/office/drawing/2014/main" id="{9EA2F06D-CCBC-2C44-A027-F099C6A1E795}"/>
                </a:ext>
              </a:extLst>
            </p:cNvPr>
            <p:cNvSpPr txBox="1"/>
            <p:nvPr/>
          </p:nvSpPr>
          <p:spPr>
            <a:xfrm>
              <a:off x="3379899" y="3176896"/>
              <a:ext cx="595035" cy="369333"/>
            </a:xfrm>
            <a:prstGeom prst="rect">
              <a:avLst/>
            </a:prstGeom>
            <a:noFill/>
          </p:spPr>
          <p:txBody>
            <a:bodyPr wrap="none" rtlCol="0">
              <a:spAutoFit/>
            </a:bodyPr>
            <a:lstStyle/>
            <a:p>
              <a:r>
                <a:rPr kumimoji="1" lang="en-US" altLang="zh-CN" sz="1200" dirty="0"/>
                <a:t>EL1</a:t>
              </a:r>
              <a:endParaRPr kumimoji="1" lang="zh-CN" altLang="en-US" sz="1200" dirty="0"/>
            </a:p>
          </p:txBody>
        </p:sp>
        <p:sp>
          <p:nvSpPr>
            <p:cNvPr id="12" name="文本框 11">
              <a:extLst>
                <a:ext uri="{FF2B5EF4-FFF2-40B4-BE49-F238E27FC236}">
                  <a16:creationId xmlns:a16="http://schemas.microsoft.com/office/drawing/2014/main" id="{F8B80B00-1DAF-7747-97F1-70151564DDD3}"/>
                </a:ext>
              </a:extLst>
            </p:cNvPr>
            <p:cNvSpPr txBox="1"/>
            <p:nvPr/>
          </p:nvSpPr>
          <p:spPr>
            <a:xfrm>
              <a:off x="3379899" y="2533147"/>
              <a:ext cx="595035" cy="369333"/>
            </a:xfrm>
            <a:prstGeom prst="rect">
              <a:avLst/>
            </a:prstGeom>
            <a:noFill/>
          </p:spPr>
          <p:txBody>
            <a:bodyPr wrap="none" rtlCol="0">
              <a:spAutoFit/>
            </a:bodyPr>
            <a:lstStyle/>
            <a:p>
              <a:r>
                <a:rPr kumimoji="1" lang="en-US" altLang="zh-CN" sz="1200" dirty="0"/>
                <a:t>EL0</a:t>
              </a:r>
              <a:endParaRPr kumimoji="1" lang="zh-CN" altLang="en-US" sz="1200" dirty="0"/>
            </a:p>
          </p:txBody>
        </p:sp>
        <p:sp>
          <p:nvSpPr>
            <p:cNvPr id="13" name="Rectangle 22">
              <a:extLst>
                <a:ext uri="{FF2B5EF4-FFF2-40B4-BE49-F238E27FC236}">
                  <a16:creationId xmlns:a16="http://schemas.microsoft.com/office/drawing/2014/main" id="{28AB3515-B50D-AC47-8804-63E5451F0590}"/>
                </a:ext>
              </a:extLst>
            </p:cNvPr>
            <p:cNvSpPr/>
            <p:nvPr/>
          </p:nvSpPr>
          <p:spPr>
            <a:xfrm>
              <a:off x="4345922" y="3777937"/>
              <a:ext cx="4443373" cy="493860"/>
            </a:xfrm>
            <a:prstGeom prst="rect">
              <a:avLst/>
            </a:prstGeom>
            <a:solidFill>
              <a:srgbClr val="BE384B"/>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pPr algn="r"/>
              <a:r>
                <a:rPr lang="zh-CN" altLang="en-US" sz="1200" dirty="0">
                  <a:solidFill>
                    <a:schemeClr val="bg1"/>
                  </a:solidFill>
                  <a:cs typeface="Arial Narrow"/>
                </a:rPr>
                <a:t>虚拟机监控器</a:t>
              </a:r>
              <a:endParaRPr lang="en-US" sz="1200" dirty="0">
                <a:solidFill>
                  <a:schemeClr val="bg1"/>
                </a:solidFill>
                <a:cs typeface="Arial Narrow"/>
              </a:endParaRPr>
            </a:p>
          </p:txBody>
        </p:sp>
        <p:sp>
          <p:nvSpPr>
            <p:cNvPr id="14" name="文本框 13">
              <a:extLst>
                <a:ext uri="{FF2B5EF4-FFF2-40B4-BE49-F238E27FC236}">
                  <a16:creationId xmlns:a16="http://schemas.microsoft.com/office/drawing/2014/main" id="{18CFFEBA-0871-434A-B3B4-07CD43AD3DCD}"/>
                </a:ext>
              </a:extLst>
            </p:cNvPr>
            <p:cNvSpPr txBox="1"/>
            <p:nvPr/>
          </p:nvSpPr>
          <p:spPr>
            <a:xfrm>
              <a:off x="3379899" y="3821506"/>
              <a:ext cx="595035" cy="369333"/>
            </a:xfrm>
            <a:prstGeom prst="rect">
              <a:avLst/>
            </a:prstGeom>
            <a:noFill/>
          </p:spPr>
          <p:txBody>
            <a:bodyPr wrap="none" rtlCol="0">
              <a:spAutoFit/>
            </a:bodyPr>
            <a:lstStyle/>
            <a:p>
              <a:r>
                <a:rPr kumimoji="1" lang="en-US" altLang="zh-CN" sz="1200" dirty="0"/>
                <a:t>EL2</a:t>
              </a:r>
              <a:endParaRPr kumimoji="1" lang="zh-CN" altLang="en-US" sz="1200" dirty="0"/>
            </a:p>
          </p:txBody>
        </p:sp>
        <p:sp>
          <p:nvSpPr>
            <p:cNvPr id="15" name="圆角矩形 14">
              <a:extLst>
                <a:ext uri="{FF2B5EF4-FFF2-40B4-BE49-F238E27FC236}">
                  <a16:creationId xmlns:a16="http://schemas.microsoft.com/office/drawing/2014/main" id="{8C471E18-3CF4-BE48-9310-3FC82ED25E2D}"/>
                </a:ext>
              </a:extLst>
            </p:cNvPr>
            <p:cNvSpPr/>
            <p:nvPr/>
          </p:nvSpPr>
          <p:spPr>
            <a:xfrm>
              <a:off x="4255104" y="2135645"/>
              <a:ext cx="2160240" cy="1572133"/>
            </a:xfrm>
            <a:prstGeom prst="roundRect">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a:p>
          </p:txBody>
        </p:sp>
        <p:sp>
          <p:nvSpPr>
            <p:cNvPr id="16" name="文本框 15">
              <a:extLst>
                <a:ext uri="{FF2B5EF4-FFF2-40B4-BE49-F238E27FC236}">
                  <a16:creationId xmlns:a16="http://schemas.microsoft.com/office/drawing/2014/main" id="{ABC81670-114D-DF41-892A-93669A095FFA}"/>
                </a:ext>
              </a:extLst>
            </p:cNvPr>
            <p:cNvSpPr txBox="1"/>
            <p:nvPr/>
          </p:nvSpPr>
          <p:spPr>
            <a:xfrm>
              <a:off x="4625282" y="2154504"/>
              <a:ext cx="951309" cy="360338"/>
            </a:xfrm>
            <a:prstGeom prst="rect">
              <a:avLst/>
            </a:prstGeom>
            <a:noFill/>
          </p:spPr>
          <p:txBody>
            <a:bodyPr wrap="none" rtlCol="0">
              <a:spAutoFit/>
            </a:bodyPr>
            <a:lstStyle/>
            <a:p>
              <a:r>
                <a:rPr kumimoji="1" lang="zh-CN" altLang="en-US" sz="1200" dirty="0"/>
                <a:t>虚拟机</a:t>
              </a:r>
              <a:r>
                <a:rPr kumimoji="1" lang="en-US" altLang="zh-CN" sz="1200" dirty="0"/>
                <a:t>1</a:t>
              </a:r>
              <a:endParaRPr kumimoji="1" lang="zh-CN" altLang="en-US" sz="1200" dirty="0"/>
            </a:p>
          </p:txBody>
        </p:sp>
        <p:sp>
          <p:nvSpPr>
            <p:cNvPr id="17" name="Rectangle 22">
              <a:extLst>
                <a:ext uri="{FF2B5EF4-FFF2-40B4-BE49-F238E27FC236}">
                  <a16:creationId xmlns:a16="http://schemas.microsoft.com/office/drawing/2014/main" id="{C47ECB7D-8649-5C4D-A466-332F9604F421}"/>
                </a:ext>
              </a:extLst>
            </p:cNvPr>
            <p:cNvSpPr/>
            <p:nvPr/>
          </p:nvSpPr>
          <p:spPr>
            <a:xfrm>
              <a:off x="6702691" y="3094993"/>
              <a:ext cx="1942588" cy="493860"/>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pPr algn="ctr"/>
              <a:r>
                <a:rPr lang="zh-CN" altLang="en-US" sz="1200" dirty="0">
                  <a:solidFill>
                    <a:srgbClr val="BE384B"/>
                  </a:solidFill>
                  <a:cs typeface="Arial Narrow"/>
                </a:rPr>
                <a:t>操作系统</a:t>
              </a:r>
              <a:endParaRPr lang="en-US" altLang="zh-CN" sz="1200" dirty="0">
                <a:solidFill>
                  <a:srgbClr val="BE384B"/>
                </a:solidFill>
                <a:cs typeface="Arial Narrow"/>
              </a:endParaRPr>
            </a:p>
            <a:p>
              <a:pPr algn="ctr"/>
              <a:r>
                <a:rPr lang="zh-CN" altLang="en-US" sz="1200" dirty="0">
                  <a:solidFill>
                    <a:srgbClr val="BE384B"/>
                  </a:solidFill>
                  <a:cs typeface="Arial Narrow"/>
                </a:rPr>
                <a:t>内核</a:t>
              </a:r>
              <a:endParaRPr lang="en-US" sz="1200" dirty="0">
                <a:solidFill>
                  <a:srgbClr val="BE384B"/>
                </a:solidFill>
                <a:cs typeface="Arial Narrow"/>
              </a:endParaRPr>
            </a:p>
          </p:txBody>
        </p:sp>
        <p:sp>
          <p:nvSpPr>
            <p:cNvPr id="18" name="Rectangle 27">
              <a:extLst>
                <a:ext uri="{FF2B5EF4-FFF2-40B4-BE49-F238E27FC236}">
                  <a16:creationId xmlns:a16="http://schemas.microsoft.com/office/drawing/2014/main" id="{0DD68828-FCC7-4841-8A10-6FC2ABAB0BFB}"/>
                </a:ext>
              </a:extLst>
            </p:cNvPr>
            <p:cNvSpPr/>
            <p:nvPr/>
          </p:nvSpPr>
          <p:spPr>
            <a:xfrm>
              <a:off x="6701038" y="2425196"/>
              <a:ext cx="1942588" cy="493859"/>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200" dirty="0">
                  <a:solidFill>
                    <a:srgbClr val="BE384B"/>
                  </a:solidFill>
                  <a:cs typeface="Arial Narrow"/>
                </a:rPr>
                <a:t>进程</a:t>
              </a:r>
              <a:endParaRPr lang="en-US" sz="1200" dirty="0">
                <a:solidFill>
                  <a:srgbClr val="BE384B"/>
                </a:solidFill>
                <a:cs typeface="Arial Narrow"/>
              </a:endParaRPr>
            </a:p>
          </p:txBody>
        </p:sp>
        <p:sp>
          <p:nvSpPr>
            <p:cNvPr id="19" name="圆角矩形 18">
              <a:extLst>
                <a:ext uri="{FF2B5EF4-FFF2-40B4-BE49-F238E27FC236}">
                  <a16:creationId xmlns:a16="http://schemas.microsoft.com/office/drawing/2014/main" id="{8312F9A0-59A0-4B44-8939-4F62510C2839}"/>
                </a:ext>
              </a:extLst>
            </p:cNvPr>
            <p:cNvSpPr/>
            <p:nvPr/>
          </p:nvSpPr>
          <p:spPr>
            <a:xfrm>
              <a:off x="6592212" y="2131558"/>
              <a:ext cx="2160240" cy="1572133"/>
            </a:xfrm>
            <a:prstGeom prst="roundRect">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p>
          </p:txBody>
        </p:sp>
        <p:sp>
          <p:nvSpPr>
            <p:cNvPr id="20" name="文本框 19">
              <a:extLst>
                <a:ext uri="{FF2B5EF4-FFF2-40B4-BE49-F238E27FC236}">
                  <a16:creationId xmlns:a16="http://schemas.microsoft.com/office/drawing/2014/main" id="{6EE3BF1E-DB6C-E64C-8E60-9D0AC36B595F}"/>
                </a:ext>
              </a:extLst>
            </p:cNvPr>
            <p:cNvSpPr txBox="1"/>
            <p:nvPr/>
          </p:nvSpPr>
          <p:spPr>
            <a:xfrm>
              <a:off x="6957798" y="2141753"/>
              <a:ext cx="984674" cy="360338"/>
            </a:xfrm>
            <a:prstGeom prst="rect">
              <a:avLst/>
            </a:prstGeom>
            <a:noFill/>
          </p:spPr>
          <p:txBody>
            <a:bodyPr wrap="none" rtlCol="0">
              <a:spAutoFit/>
            </a:bodyPr>
            <a:lstStyle/>
            <a:p>
              <a:r>
                <a:rPr kumimoji="1" lang="zh-CN" altLang="en-US" sz="1200" dirty="0"/>
                <a:t>虚拟机</a:t>
              </a:r>
              <a:r>
                <a:rPr kumimoji="1" lang="en-US" altLang="zh-CN" sz="1200" dirty="0"/>
                <a:t>N</a:t>
              </a:r>
              <a:endParaRPr kumimoji="1" lang="zh-CN" altLang="en-US" sz="1200" dirty="0"/>
            </a:p>
          </p:txBody>
        </p:sp>
      </p:grpSp>
      <p:sp>
        <p:nvSpPr>
          <p:cNvPr id="21" name="Line 140">
            <a:extLst>
              <a:ext uri="{FF2B5EF4-FFF2-40B4-BE49-F238E27FC236}">
                <a16:creationId xmlns:a16="http://schemas.microsoft.com/office/drawing/2014/main" id="{522D1D40-1FAD-124F-9CA4-501AD549CC40}"/>
              </a:ext>
            </a:extLst>
          </p:cNvPr>
          <p:cNvSpPr>
            <a:spLocks noChangeShapeType="1"/>
          </p:cNvSpPr>
          <p:nvPr/>
        </p:nvSpPr>
        <p:spPr bwMode="auto">
          <a:xfrm>
            <a:off x="7036433" y="2293096"/>
            <a:ext cx="9245" cy="439762"/>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zh-CN" altLang="en-US" sz="1500"/>
          </a:p>
        </p:txBody>
      </p:sp>
      <p:sp>
        <p:nvSpPr>
          <p:cNvPr id="22" name="Line 140">
            <a:extLst>
              <a:ext uri="{FF2B5EF4-FFF2-40B4-BE49-F238E27FC236}">
                <a16:creationId xmlns:a16="http://schemas.microsoft.com/office/drawing/2014/main" id="{FFB91230-6D7A-A04E-BC3F-33F563964AAA}"/>
              </a:ext>
            </a:extLst>
          </p:cNvPr>
          <p:cNvSpPr>
            <a:spLocks noChangeShapeType="1"/>
          </p:cNvSpPr>
          <p:nvPr/>
        </p:nvSpPr>
        <p:spPr bwMode="auto">
          <a:xfrm>
            <a:off x="7452320" y="2244803"/>
            <a:ext cx="0" cy="439762"/>
          </a:xfrm>
          <a:prstGeom prst="line">
            <a:avLst/>
          </a:prstGeom>
          <a:noFill/>
          <a:ln w="76200">
            <a:solidFill>
              <a:schemeClr val="tx1"/>
            </a:solidFill>
            <a:round/>
            <a:headEnd type="triangle"/>
            <a:tailEnd type="non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zh-CN" altLang="en-US" sz="1500"/>
          </a:p>
        </p:txBody>
      </p:sp>
      <p:sp>
        <p:nvSpPr>
          <p:cNvPr id="23" name="文本框 22">
            <a:extLst>
              <a:ext uri="{FF2B5EF4-FFF2-40B4-BE49-F238E27FC236}">
                <a16:creationId xmlns:a16="http://schemas.microsoft.com/office/drawing/2014/main" id="{B48B7D16-8B3D-7C4F-87BD-F92C0814D527}"/>
              </a:ext>
            </a:extLst>
          </p:cNvPr>
          <p:cNvSpPr txBox="1"/>
          <p:nvPr/>
        </p:nvSpPr>
        <p:spPr>
          <a:xfrm>
            <a:off x="6753629" y="2684565"/>
            <a:ext cx="625492" cy="246221"/>
          </a:xfrm>
          <a:prstGeom prst="rect">
            <a:avLst/>
          </a:prstGeom>
          <a:noFill/>
        </p:spPr>
        <p:txBody>
          <a:bodyPr wrap="none" rtlCol="0">
            <a:spAutoFit/>
          </a:bodyPr>
          <a:lstStyle/>
          <a:p>
            <a:r>
              <a:rPr kumimoji="1" lang="en-US" altLang="zh-CN" sz="1000" dirty="0"/>
              <a:t>VM</a:t>
            </a:r>
            <a:r>
              <a:rPr kumimoji="1" lang="zh-CN" altLang="en-US" sz="1000" dirty="0"/>
              <a:t> </a:t>
            </a:r>
            <a:r>
              <a:rPr kumimoji="1" lang="en-US" altLang="zh-CN" sz="1000" dirty="0"/>
              <a:t>Exit</a:t>
            </a:r>
            <a:endParaRPr kumimoji="1" lang="zh-CN" altLang="en-US" sz="1000" dirty="0"/>
          </a:p>
        </p:txBody>
      </p:sp>
      <p:sp>
        <p:nvSpPr>
          <p:cNvPr id="24" name="文本框 23">
            <a:extLst>
              <a:ext uri="{FF2B5EF4-FFF2-40B4-BE49-F238E27FC236}">
                <a16:creationId xmlns:a16="http://schemas.microsoft.com/office/drawing/2014/main" id="{62FC580D-8340-FB47-95F7-04FD745EBEEB}"/>
              </a:ext>
            </a:extLst>
          </p:cNvPr>
          <p:cNvSpPr txBox="1"/>
          <p:nvPr/>
        </p:nvSpPr>
        <p:spPr>
          <a:xfrm>
            <a:off x="7440278" y="2526974"/>
            <a:ext cx="710451" cy="246221"/>
          </a:xfrm>
          <a:prstGeom prst="rect">
            <a:avLst/>
          </a:prstGeom>
          <a:noFill/>
        </p:spPr>
        <p:txBody>
          <a:bodyPr wrap="none" rtlCol="0">
            <a:spAutoFit/>
          </a:bodyPr>
          <a:lstStyle/>
          <a:p>
            <a:r>
              <a:rPr kumimoji="1" lang="en-US" altLang="zh-CN" sz="1000" dirty="0"/>
              <a:t>VM</a:t>
            </a:r>
            <a:r>
              <a:rPr kumimoji="1" lang="zh-CN" altLang="en-US" sz="1000" dirty="0"/>
              <a:t> </a:t>
            </a:r>
            <a:r>
              <a:rPr kumimoji="1" lang="en-US" altLang="zh-CN" sz="1000" dirty="0"/>
              <a:t>Entry</a:t>
            </a:r>
            <a:endParaRPr kumimoji="1" lang="zh-CN" altLang="en-US" sz="1000" dirty="0"/>
          </a:p>
        </p:txBody>
      </p:sp>
    </p:spTree>
    <p:extLst>
      <p:ext uri="{BB962C8B-B14F-4D97-AF65-F5344CB8AC3E}">
        <p14:creationId xmlns:p14="http://schemas.microsoft.com/office/powerpoint/2010/main" val="3836634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p:bldP spid="2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5F5F00-2593-834A-BE6D-397788AA1F44}"/>
              </a:ext>
            </a:extLst>
          </p:cNvPr>
          <p:cNvSpPr>
            <a:spLocks noGrp="1"/>
          </p:cNvSpPr>
          <p:nvPr>
            <p:ph type="title"/>
          </p:nvPr>
        </p:nvSpPr>
        <p:spPr/>
        <p:txBody>
          <a:bodyPr/>
          <a:lstStyle/>
          <a:p>
            <a:r>
              <a:rPr kumimoji="1" lang="en-US" altLang="zh-CN" dirty="0"/>
              <a:t>ARM</a:t>
            </a:r>
            <a:r>
              <a:rPr kumimoji="1" lang="zh-CN" altLang="en-US" dirty="0"/>
              <a:t>硬件虚拟化的新功能</a:t>
            </a:r>
          </a:p>
        </p:txBody>
      </p:sp>
      <p:sp>
        <p:nvSpPr>
          <p:cNvPr id="3" name="内容占位符 2">
            <a:extLst>
              <a:ext uri="{FF2B5EF4-FFF2-40B4-BE49-F238E27FC236}">
                <a16:creationId xmlns:a16="http://schemas.microsoft.com/office/drawing/2014/main" id="{B20B8DD3-993A-E443-82C2-8533E4EFB6A0}"/>
              </a:ext>
            </a:extLst>
          </p:cNvPr>
          <p:cNvSpPr>
            <a:spLocks noGrp="1"/>
          </p:cNvSpPr>
          <p:nvPr>
            <p:ph idx="1"/>
          </p:nvPr>
        </p:nvSpPr>
        <p:spPr/>
        <p:txBody>
          <a:bodyPr>
            <a:normAutofit fontScale="85000" lnSpcReduction="20000"/>
          </a:bodyPr>
          <a:lstStyle/>
          <a:p>
            <a:r>
              <a:rPr kumimoji="1" lang="en-US" altLang="zh-CN" dirty="0"/>
              <a:t>ARM</a:t>
            </a:r>
            <a:r>
              <a:rPr kumimoji="1" lang="zh-CN" altLang="en-US" dirty="0"/>
              <a:t>中没有</a:t>
            </a:r>
            <a:r>
              <a:rPr kumimoji="1" lang="en-US" altLang="zh-CN" dirty="0"/>
              <a:t>VMCS</a:t>
            </a:r>
          </a:p>
          <a:p>
            <a:r>
              <a:rPr kumimoji="1" lang="en-US" altLang="zh-CN" dirty="0"/>
              <a:t>VM</a:t>
            </a:r>
            <a:r>
              <a:rPr kumimoji="1" lang="zh-CN" altLang="en-US" dirty="0"/>
              <a:t>能直接控制</a:t>
            </a:r>
            <a:r>
              <a:rPr kumimoji="1" lang="en-US" altLang="zh-CN" dirty="0"/>
              <a:t>EL1</a:t>
            </a:r>
            <a:r>
              <a:rPr kumimoji="1" lang="zh-CN" altLang="en-US" dirty="0"/>
              <a:t>和</a:t>
            </a:r>
            <a:r>
              <a:rPr kumimoji="1" lang="en-US" altLang="zh-CN" dirty="0"/>
              <a:t>EL0</a:t>
            </a:r>
            <a:r>
              <a:rPr kumimoji="1" lang="zh-CN" altLang="en-US" dirty="0"/>
              <a:t>的状态</a:t>
            </a:r>
            <a:endParaRPr kumimoji="1" lang="en-US" altLang="zh-CN" dirty="0"/>
          </a:p>
          <a:p>
            <a:pPr lvl="1"/>
            <a:r>
              <a:rPr kumimoji="1" lang="zh-CN" altLang="en-US" dirty="0"/>
              <a:t>自由地修改</a:t>
            </a:r>
            <a:r>
              <a:rPr kumimoji="1" lang="en-US" altLang="zh-CN" dirty="0"/>
              <a:t>PSTATE(VMM</a:t>
            </a:r>
            <a:r>
              <a:rPr kumimoji="1" lang="zh-CN" altLang="en-US" dirty="0"/>
              <a:t>不需要捕捉</a:t>
            </a:r>
            <a:r>
              <a:rPr kumimoji="1" lang="en-US" altLang="zh-CN" dirty="0"/>
              <a:t>CPS</a:t>
            </a:r>
            <a:r>
              <a:rPr kumimoji="1" lang="zh-CN" altLang="en-US" dirty="0"/>
              <a:t>指令</a:t>
            </a:r>
            <a:r>
              <a:rPr kumimoji="1" lang="en-US" altLang="zh-CN" dirty="0"/>
              <a:t>)</a:t>
            </a:r>
          </a:p>
          <a:p>
            <a:pPr lvl="1"/>
            <a:r>
              <a:rPr kumimoji="1" lang="zh-CN" altLang="en-US" dirty="0"/>
              <a:t>可以读写</a:t>
            </a:r>
            <a:r>
              <a:rPr kumimoji="1" lang="en-US" altLang="zh-CN" dirty="0"/>
              <a:t>TTBR0_EL1/SCTRL_EL1/TCR_EL1</a:t>
            </a:r>
            <a:r>
              <a:rPr kumimoji="1" lang="zh-CN" altLang="en-US" dirty="0"/>
              <a:t>等寄存器</a:t>
            </a:r>
            <a:endParaRPr kumimoji="1" lang="en-US" altLang="zh-CN" dirty="0"/>
          </a:p>
          <a:p>
            <a:r>
              <a:rPr kumimoji="1" lang="en-US" altLang="zh-CN" dirty="0"/>
              <a:t>VM</a:t>
            </a:r>
            <a:r>
              <a:rPr kumimoji="1" lang="zh-CN" altLang="en-US" dirty="0"/>
              <a:t> </a:t>
            </a:r>
            <a:r>
              <a:rPr kumimoji="1" lang="en-US" altLang="zh-CN" dirty="0"/>
              <a:t>Exit</a:t>
            </a:r>
            <a:r>
              <a:rPr kumimoji="1" lang="zh-CN" altLang="en-US" dirty="0"/>
              <a:t>时</a:t>
            </a:r>
            <a:r>
              <a:rPr kumimoji="1" lang="en-US" altLang="zh-CN" dirty="0"/>
              <a:t>VMM</a:t>
            </a:r>
            <a:r>
              <a:rPr kumimoji="1" lang="zh-CN" altLang="en-US" dirty="0"/>
              <a:t>仍然可以直接访问</a:t>
            </a:r>
            <a:r>
              <a:rPr kumimoji="1" lang="en-US" altLang="zh-CN" dirty="0"/>
              <a:t>VM</a:t>
            </a:r>
            <a:r>
              <a:rPr kumimoji="1" lang="zh-CN" altLang="en-US" dirty="0"/>
              <a:t>的</a:t>
            </a:r>
            <a:r>
              <a:rPr kumimoji="1" lang="en-US" altLang="zh-CN" dirty="0"/>
              <a:t>EL0</a:t>
            </a:r>
            <a:r>
              <a:rPr kumimoji="1" lang="zh-CN" altLang="en-US" dirty="0"/>
              <a:t>和</a:t>
            </a:r>
            <a:r>
              <a:rPr kumimoji="1" lang="en-US" altLang="zh-CN" dirty="0"/>
              <a:t>EL1</a:t>
            </a:r>
            <a:r>
              <a:rPr kumimoji="1" lang="zh-CN" altLang="en-US" dirty="0"/>
              <a:t>寄存器</a:t>
            </a:r>
            <a:endParaRPr kumimoji="1" lang="en-US" altLang="zh-CN" dirty="0"/>
          </a:p>
          <a:p>
            <a:endParaRPr kumimoji="1" lang="en-US" altLang="zh-CN" dirty="0"/>
          </a:p>
          <a:p>
            <a:r>
              <a:rPr kumimoji="1" lang="zh-CN" altLang="en-US" dirty="0">
                <a:solidFill>
                  <a:srgbClr val="BE384B"/>
                </a:solidFill>
              </a:rPr>
              <a:t>思考题</a:t>
            </a:r>
            <a:r>
              <a:rPr kumimoji="1" lang="en-US" altLang="zh-CN" dirty="0">
                <a:solidFill>
                  <a:srgbClr val="BE384B"/>
                </a:solidFill>
              </a:rPr>
              <a:t>1</a:t>
            </a:r>
            <a:r>
              <a:rPr kumimoji="1" lang="zh-CN" altLang="en-US" dirty="0">
                <a:solidFill>
                  <a:srgbClr val="BE384B"/>
                </a:solidFill>
              </a:rPr>
              <a:t>：为什么</a:t>
            </a:r>
            <a:r>
              <a:rPr kumimoji="1" lang="en-US" altLang="zh-CN" dirty="0">
                <a:solidFill>
                  <a:srgbClr val="BE384B"/>
                </a:solidFill>
              </a:rPr>
              <a:t>ARM</a:t>
            </a:r>
            <a:r>
              <a:rPr kumimoji="1" lang="zh-CN" altLang="en-US" dirty="0">
                <a:solidFill>
                  <a:srgbClr val="BE384B"/>
                </a:solidFill>
              </a:rPr>
              <a:t>中可以不需要</a:t>
            </a:r>
            <a:r>
              <a:rPr kumimoji="1" lang="en-US" altLang="zh-CN" dirty="0">
                <a:solidFill>
                  <a:srgbClr val="BE384B"/>
                </a:solidFill>
              </a:rPr>
              <a:t>VMCS</a:t>
            </a:r>
            <a:r>
              <a:rPr kumimoji="1" lang="zh-CN" altLang="en-US" dirty="0">
                <a:solidFill>
                  <a:srgbClr val="BE384B"/>
                </a:solidFill>
              </a:rPr>
              <a:t>？</a:t>
            </a:r>
            <a:endParaRPr kumimoji="1" lang="en-US" altLang="zh-CN" dirty="0">
              <a:solidFill>
                <a:srgbClr val="BE384B"/>
              </a:solidFill>
            </a:endParaRPr>
          </a:p>
          <a:p>
            <a:r>
              <a:rPr kumimoji="1" lang="zh-CN" altLang="en-US" dirty="0">
                <a:solidFill>
                  <a:srgbClr val="BE384B"/>
                </a:solidFill>
              </a:rPr>
              <a:t>思考题</a:t>
            </a:r>
            <a:r>
              <a:rPr kumimoji="1" lang="en-US" altLang="zh-CN" dirty="0">
                <a:solidFill>
                  <a:srgbClr val="BE384B"/>
                </a:solidFill>
              </a:rPr>
              <a:t>2</a:t>
            </a:r>
            <a:r>
              <a:rPr kumimoji="1" lang="zh-CN" altLang="en-US" dirty="0">
                <a:solidFill>
                  <a:srgbClr val="BE384B"/>
                </a:solidFill>
              </a:rPr>
              <a:t>：</a:t>
            </a:r>
            <a:r>
              <a:rPr kumimoji="1" lang="en-US" altLang="zh-CN" dirty="0">
                <a:solidFill>
                  <a:srgbClr val="BE384B"/>
                </a:solidFill>
              </a:rPr>
              <a:t>ARM</a:t>
            </a:r>
            <a:r>
              <a:rPr kumimoji="1" lang="zh-CN" altLang="en-US" dirty="0">
                <a:solidFill>
                  <a:srgbClr val="BE384B"/>
                </a:solidFill>
              </a:rPr>
              <a:t>中没有</a:t>
            </a:r>
            <a:r>
              <a:rPr kumimoji="1" lang="en-US" altLang="zh-CN" dirty="0">
                <a:solidFill>
                  <a:srgbClr val="BE384B"/>
                </a:solidFill>
              </a:rPr>
              <a:t>VMCS</a:t>
            </a:r>
            <a:r>
              <a:rPr kumimoji="1" lang="zh-CN" altLang="en-US" dirty="0">
                <a:solidFill>
                  <a:srgbClr val="BE384B"/>
                </a:solidFill>
              </a:rPr>
              <a:t>，对于</a:t>
            </a:r>
            <a:r>
              <a:rPr kumimoji="1" lang="en-US" altLang="zh-CN" dirty="0">
                <a:solidFill>
                  <a:srgbClr val="BE384B"/>
                </a:solidFill>
              </a:rPr>
              <a:t>VMM</a:t>
            </a:r>
            <a:r>
              <a:rPr kumimoji="1" lang="zh-CN" altLang="en-US" dirty="0">
                <a:solidFill>
                  <a:srgbClr val="BE384B"/>
                </a:solidFill>
              </a:rPr>
              <a:t>的设计和实现来说有什么优缺点？</a:t>
            </a:r>
            <a:endParaRPr kumimoji="1" lang="en-US" altLang="zh-CN" dirty="0">
              <a:solidFill>
                <a:srgbClr val="BE384B"/>
              </a:solidFill>
            </a:endParaRPr>
          </a:p>
        </p:txBody>
      </p:sp>
      <p:sp>
        <p:nvSpPr>
          <p:cNvPr id="4" name="灯片编号占位符 3">
            <a:extLst>
              <a:ext uri="{FF2B5EF4-FFF2-40B4-BE49-F238E27FC236}">
                <a16:creationId xmlns:a16="http://schemas.microsoft.com/office/drawing/2014/main" id="{BB945CA7-C988-5A47-99C4-C0B4ED56ED20}"/>
              </a:ext>
            </a:extLst>
          </p:cNvPr>
          <p:cNvSpPr>
            <a:spLocks noGrp="1"/>
          </p:cNvSpPr>
          <p:nvPr>
            <p:ph type="sldNum" sz="quarter" idx="12"/>
          </p:nvPr>
        </p:nvSpPr>
        <p:spPr/>
        <p:txBody>
          <a:bodyPr/>
          <a:lstStyle/>
          <a:p>
            <a:fld id="{ADE361C3-C043-4A6E-BDCE-8DA1E7D90A3B}" type="slidenum">
              <a:rPr lang="zh-CN" altLang="en-US" smtClean="0"/>
              <a:t>30</a:t>
            </a:fld>
            <a:endParaRPr lang="zh-CN" altLang="en-US"/>
          </a:p>
        </p:txBody>
      </p:sp>
      <p:sp>
        <p:nvSpPr>
          <p:cNvPr id="5" name="页脚占位符 4">
            <a:extLst>
              <a:ext uri="{FF2B5EF4-FFF2-40B4-BE49-F238E27FC236}">
                <a16:creationId xmlns:a16="http://schemas.microsoft.com/office/drawing/2014/main" id="{76E0B4A3-4FFC-3F4D-B266-8E056121774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8529941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E24D36-9A63-804A-BBE0-361FB2272D1B}"/>
              </a:ext>
            </a:extLst>
          </p:cNvPr>
          <p:cNvSpPr>
            <a:spLocks noGrp="1"/>
          </p:cNvSpPr>
          <p:nvPr>
            <p:ph type="title"/>
          </p:nvPr>
        </p:nvSpPr>
        <p:spPr/>
        <p:txBody>
          <a:bodyPr/>
          <a:lstStyle/>
          <a:p>
            <a:r>
              <a:rPr kumimoji="1" lang="en-US" altLang="zh-CN" dirty="0"/>
              <a:t>HCR_EL2</a:t>
            </a:r>
            <a:r>
              <a:rPr kumimoji="1" lang="zh-CN" altLang="en-US" dirty="0"/>
              <a:t>寄存器简介</a:t>
            </a:r>
          </a:p>
        </p:txBody>
      </p:sp>
      <p:sp>
        <p:nvSpPr>
          <p:cNvPr id="3" name="内容占位符 2">
            <a:extLst>
              <a:ext uri="{FF2B5EF4-FFF2-40B4-BE49-F238E27FC236}">
                <a16:creationId xmlns:a16="http://schemas.microsoft.com/office/drawing/2014/main" id="{3CBA3899-B3D0-2249-A1AB-424D349E28A0}"/>
              </a:ext>
            </a:extLst>
          </p:cNvPr>
          <p:cNvSpPr>
            <a:spLocks noGrp="1"/>
          </p:cNvSpPr>
          <p:nvPr>
            <p:ph idx="1"/>
          </p:nvPr>
        </p:nvSpPr>
        <p:spPr/>
        <p:txBody>
          <a:bodyPr>
            <a:normAutofit lnSpcReduction="10000"/>
          </a:bodyPr>
          <a:lstStyle/>
          <a:p>
            <a:r>
              <a:rPr kumimoji="1" lang="en-US" altLang="zh-CN" dirty="0">
                <a:solidFill>
                  <a:srgbClr val="404040"/>
                </a:solidFill>
              </a:rPr>
              <a:t>HCR_EL2</a:t>
            </a:r>
            <a:r>
              <a:rPr kumimoji="1" lang="zh-CN" altLang="en-US" dirty="0">
                <a:solidFill>
                  <a:srgbClr val="404040"/>
                </a:solidFill>
              </a:rPr>
              <a:t>：</a:t>
            </a:r>
            <a:r>
              <a:rPr kumimoji="1" lang="en-US" altLang="zh-CN" dirty="0">
                <a:solidFill>
                  <a:srgbClr val="404040"/>
                </a:solidFill>
              </a:rPr>
              <a:t>VMM</a:t>
            </a:r>
            <a:r>
              <a:rPr kumimoji="1" lang="zh-CN" altLang="en-US" dirty="0">
                <a:solidFill>
                  <a:srgbClr val="404040"/>
                </a:solidFill>
              </a:rPr>
              <a:t>控制</a:t>
            </a:r>
            <a:r>
              <a:rPr kumimoji="1" lang="en-US" altLang="zh-CN" dirty="0">
                <a:solidFill>
                  <a:srgbClr val="404040"/>
                </a:solidFill>
              </a:rPr>
              <a:t>VM</a:t>
            </a:r>
            <a:r>
              <a:rPr kumimoji="1" lang="zh-CN" altLang="en-US" dirty="0">
                <a:solidFill>
                  <a:srgbClr val="404040"/>
                </a:solidFill>
              </a:rPr>
              <a:t>行为的系统寄存器</a:t>
            </a:r>
            <a:endParaRPr kumimoji="1" lang="en-US" altLang="zh-CN" dirty="0">
              <a:solidFill>
                <a:srgbClr val="404040"/>
              </a:solidFill>
            </a:endParaRPr>
          </a:p>
          <a:p>
            <a:pPr lvl="1"/>
            <a:r>
              <a:rPr kumimoji="1" lang="en-US" altLang="zh-CN" dirty="0">
                <a:solidFill>
                  <a:srgbClr val="404040"/>
                </a:solidFill>
              </a:rPr>
              <a:t>VMM</a:t>
            </a:r>
            <a:r>
              <a:rPr kumimoji="1" lang="zh-CN" altLang="en-US" dirty="0">
                <a:solidFill>
                  <a:srgbClr val="BE384B"/>
                </a:solidFill>
              </a:rPr>
              <a:t>有选择地</a:t>
            </a:r>
            <a:r>
              <a:rPr kumimoji="1" lang="zh-CN" altLang="en-US" dirty="0"/>
              <a:t>决定</a:t>
            </a:r>
            <a:r>
              <a:rPr kumimoji="1" lang="en-US" altLang="zh-CN" dirty="0"/>
              <a:t>VM</a:t>
            </a:r>
            <a:r>
              <a:rPr kumimoji="1" lang="zh-CN" altLang="en-US" dirty="0"/>
              <a:t>在某些情况时下陷</a:t>
            </a:r>
            <a:endParaRPr kumimoji="1" lang="en-US" altLang="zh-CN" dirty="0"/>
          </a:p>
          <a:p>
            <a:pPr lvl="1"/>
            <a:r>
              <a:rPr kumimoji="1" lang="zh-CN" altLang="en-US" dirty="0"/>
              <a:t>和</a:t>
            </a:r>
            <a:r>
              <a:rPr kumimoji="1" lang="en-US" altLang="zh-CN" dirty="0"/>
              <a:t>VT-x</a:t>
            </a:r>
            <a:r>
              <a:rPr kumimoji="1" lang="zh-CN" altLang="en-US" dirty="0"/>
              <a:t> </a:t>
            </a:r>
            <a:r>
              <a:rPr kumimoji="1" lang="en-US" altLang="zh-CN" dirty="0"/>
              <a:t>VMCS</a:t>
            </a:r>
            <a:r>
              <a:rPr kumimoji="1" lang="zh-CN" altLang="en-US" dirty="0"/>
              <a:t>中</a:t>
            </a:r>
            <a:r>
              <a:rPr kumimoji="1" lang="en-US" altLang="zh-CN" dirty="0"/>
              <a:t>VM-execution</a:t>
            </a:r>
            <a:r>
              <a:rPr kumimoji="1" lang="zh-CN" altLang="en-US" dirty="0"/>
              <a:t> </a:t>
            </a:r>
            <a:r>
              <a:rPr kumimoji="1" lang="en-US" altLang="zh-CN" dirty="0"/>
              <a:t>control</a:t>
            </a:r>
            <a:r>
              <a:rPr kumimoji="1" lang="zh-CN" altLang="en-US" dirty="0"/>
              <a:t> </a:t>
            </a:r>
            <a:r>
              <a:rPr kumimoji="1" lang="en-US" altLang="zh-CN" dirty="0"/>
              <a:t>area</a:t>
            </a:r>
            <a:r>
              <a:rPr kumimoji="1" lang="zh-CN" altLang="en-US" dirty="0"/>
              <a:t>类似</a:t>
            </a:r>
            <a:endParaRPr kumimoji="1" lang="en-US" altLang="zh-CN" dirty="0"/>
          </a:p>
          <a:p>
            <a:r>
              <a:rPr kumimoji="1" lang="zh-CN" altLang="en-US" dirty="0"/>
              <a:t>在</a:t>
            </a:r>
            <a:r>
              <a:rPr kumimoji="1" lang="en-US" altLang="zh-CN" dirty="0"/>
              <a:t>VM</a:t>
            </a:r>
            <a:r>
              <a:rPr kumimoji="1" lang="zh-CN" altLang="en-US" dirty="0"/>
              <a:t> </a:t>
            </a:r>
            <a:r>
              <a:rPr kumimoji="1" lang="en-US" altLang="zh-CN" dirty="0"/>
              <a:t>Entry</a:t>
            </a:r>
            <a:r>
              <a:rPr kumimoji="1" lang="zh-CN" altLang="en-US" dirty="0"/>
              <a:t>之前设置相关位，控制虚拟机行为</a:t>
            </a:r>
            <a:endParaRPr kumimoji="1" lang="en-US" altLang="zh-CN" dirty="0"/>
          </a:p>
          <a:p>
            <a:pPr lvl="1"/>
            <a:r>
              <a:rPr kumimoji="1" lang="en-US" altLang="zh-CN" dirty="0"/>
              <a:t>TRVM(32</a:t>
            </a:r>
            <a:r>
              <a:rPr kumimoji="1" lang="zh-CN" altLang="en-US" dirty="0"/>
              <a:t>位</a:t>
            </a:r>
            <a:r>
              <a:rPr kumimoji="1" lang="en-US" altLang="zh-CN" dirty="0"/>
              <a:t>)</a:t>
            </a:r>
            <a:r>
              <a:rPr kumimoji="1" lang="zh-CN" altLang="en-US" dirty="0"/>
              <a:t>和</a:t>
            </a:r>
            <a:r>
              <a:rPr kumimoji="1" lang="en-US" altLang="zh-CN" dirty="0"/>
              <a:t>TVM(26</a:t>
            </a:r>
            <a:r>
              <a:rPr kumimoji="1" lang="zh-CN" altLang="en-US" dirty="0"/>
              <a:t>位</a:t>
            </a:r>
            <a:r>
              <a:rPr kumimoji="1" lang="en-US" altLang="zh-CN" dirty="0"/>
              <a:t>):</a:t>
            </a:r>
            <a:r>
              <a:rPr kumimoji="1" lang="zh-CN" altLang="en-US" dirty="0"/>
              <a:t> </a:t>
            </a:r>
            <a:r>
              <a:rPr kumimoji="1" lang="en-US" altLang="zh-CN" dirty="0"/>
              <a:t>VM</a:t>
            </a:r>
            <a:r>
              <a:rPr kumimoji="1" lang="zh-CN" altLang="en-US" dirty="0"/>
              <a:t>读写内存控制寄存器是否下陷，例如</a:t>
            </a:r>
            <a:r>
              <a:rPr kumimoji="1" lang="en-US" altLang="zh-CN" dirty="0"/>
              <a:t>SCTRL_EL1</a:t>
            </a:r>
            <a:r>
              <a:rPr kumimoji="1" lang="zh-CN" altLang="en-US" dirty="0"/>
              <a:t>、</a:t>
            </a:r>
            <a:r>
              <a:rPr kumimoji="1" lang="en-US" altLang="zh-CN" dirty="0"/>
              <a:t>TTBR0_EL1</a:t>
            </a:r>
          </a:p>
          <a:p>
            <a:pPr lvl="1"/>
            <a:r>
              <a:rPr kumimoji="1" lang="en-US" altLang="zh-CN" dirty="0"/>
              <a:t>TWE(14</a:t>
            </a:r>
            <a:r>
              <a:rPr kumimoji="1" lang="zh-CN" altLang="en-US" dirty="0"/>
              <a:t>位</a:t>
            </a:r>
            <a:r>
              <a:rPr kumimoji="1" lang="en-US" altLang="zh-CN" dirty="0"/>
              <a:t>)</a:t>
            </a:r>
            <a:r>
              <a:rPr kumimoji="1" lang="zh-CN" altLang="en-US" dirty="0"/>
              <a:t>和</a:t>
            </a:r>
            <a:r>
              <a:rPr kumimoji="1" lang="en-US" altLang="zh-CN" dirty="0"/>
              <a:t>TWI(13</a:t>
            </a:r>
            <a:r>
              <a:rPr kumimoji="1" lang="zh-CN" altLang="en-US" dirty="0"/>
              <a:t>位</a:t>
            </a:r>
            <a:r>
              <a:rPr kumimoji="1" lang="en-US" altLang="zh-CN" dirty="0"/>
              <a:t>)</a:t>
            </a:r>
            <a:r>
              <a:rPr kumimoji="1" lang="zh-CN" altLang="en-US" dirty="0"/>
              <a:t>：执行</a:t>
            </a:r>
            <a:r>
              <a:rPr kumimoji="1" lang="en-US" altLang="zh-CN" dirty="0"/>
              <a:t>WFE</a:t>
            </a:r>
            <a:r>
              <a:rPr kumimoji="1" lang="zh-CN" altLang="en-US" dirty="0"/>
              <a:t>和</a:t>
            </a:r>
            <a:r>
              <a:rPr kumimoji="1" lang="en-US" altLang="zh-CN" dirty="0"/>
              <a:t>WFI</a:t>
            </a:r>
            <a:r>
              <a:rPr kumimoji="1" lang="zh-CN" altLang="en-US" dirty="0"/>
              <a:t>指令是否下陷</a:t>
            </a:r>
            <a:endParaRPr kumimoji="1" lang="en-US" altLang="zh-CN" dirty="0"/>
          </a:p>
          <a:p>
            <a:pPr lvl="1"/>
            <a:r>
              <a:rPr kumimoji="1" lang="en-US" altLang="zh-CN" dirty="0"/>
              <a:t>AMO(6</a:t>
            </a:r>
            <a:r>
              <a:rPr kumimoji="1" lang="zh-CN" altLang="en-US" dirty="0"/>
              <a:t>位</a:t>
            </a:r>
            <a:r>
              <a:rPr kumimoji="1" lang="en-US" altLang="zh-CN" dirty="0"/>
              <a:t>)/IMO(5</a:t>
            </a:r>
            <a:r>
              <a:rPr kumimoji="1" lang="zh-CN" altLang="en-US" dirty="0"/>
              <a:t>位</a:t>
            </a:r>
            <a:r>
              <a:rPr kumimoji="1" lang="en-US" altLang="zh-CN" dirty="0"/>
              <a:t>)/FMO(4</a:t>
            </a:r>
            <a:r>
              <a:rPr kumimoji="1" lang="zh-CN" altLang="en-US" dirty="0"/>
              <a:t>位</a:t>
            </a:r>
            <a:r>
              <a:rPr kumimoji="1" lang="en-US" altLang="zh-CN" dirty="0"/>
              <a:t>)</a:t>
            </a:r>
            <a:r>
              <a:rPr kumimoji="1" lang="zh-CN" altLang="en-US" dirty="0"/>
              <a:t>：</a:t>
            </a:r>
            <a:r>
              <a:rPr kumimoji="1" lang="en-US" altLang="zh-CN" dirty="0"/>
              <a:t>Exception/IRQ/FIQ</a:t>
            </a:r>
            <a:r>
              <a:rPr kumimoji="1" lang="zh-CN" altLang="en-US" dirty="0"/>
              <a:t>是否下陷</a:t>
            </a:r>
            <a:endParaRPr kumimoji="1" lang="en-US" altLang="zh-CN" dirty="0"/>
          </a:p>
          <a:p>
            <a:pPr lvl="1"/>
            <a:r>
              <a:rPr kumimoji="1" lang="en-US" altLang="zh-CN" dirty="0"/>
              <a:t>VM(0</a:t>
            </a:r>
            <a:r>
              <a:rPr kumimoji="1" lang="zh-CN" altLang="en-US" dirty="0"/>
              <a:t>位</a:t>
            </a:r>
            <a:r>
              <a:rPr kumimoji="1" lang="en-US" altLang="zh-CN" dirty="0"/>
              <a:t>):</a:t>
            </a:r>
            <a:r>
              <a:rPr kumimoji="1" lang="zh-CN" altLang="en-US" dirty="0"/>
              <a:t> 是否打开第二阶段地址翻译</a:t>
            </a:r>
            <a:endParaRPr kumimoji="1" lang="en-US" altLang="zh-CN" dirty="0"/>
          </a:p>
          <a:p>
            <a:pPr lvl="1"/>
            <a:endParaRPr kumimoji="1" lang="en-US" altLang="zh-CN" dirty="0"/>
          </a:p>
          <a:p>
            <a:pPr lvl="1"/>
            <a:endParaRPr kumimoji="1" lang="en-US" altLang="zh-CN" dirty="0"/>
          </a:p>
          <a:p>
            <a:endParaRPr kumimoji="1" lang="zh-CN" altLang="en-US" dirty="0"/>
          </a:p>
        </p:txBody>
      </p:sp>
      <p:sp>
        <p:nvSpPr>
          <p:cNvPr id="4" name="灯片编号占位符 3">
            <a:extLst>
              <a:ext uri="{FF2B5EF4-FFF2-40B4-BE49-F238E27FC236}">
                <a16:creationId xmlns:a16="http://schemas.microsoft.com/office/drawing/2014/main" id="{68919C51-C12D-C543-9725-322CCB19E55D}"/>
              </a:ext>
            </a:extLst>
          </p:cNvPr>
          <p:cNvSpPr>
            <a:spLocks noGrp="1"/>
          </p:cNvSpPr>
          <p:nvPr>
            <p:ph type="sldNum" sz="quarter" idx="12"/>
          </p:nvPr>
        </p:nvSpPr>
        <p:spPr/>
        <p:txBody>
          <a:bodyPr/>
          <a:lstStyle/>
          <a:p>
            <a:fld id="{ADE361C3-C043-4A6E-BDCE-8DA1E7D90A3B}" type="slidenum">
              <a:rPr lang="zh-CN" altLang="en-US" smtClean="0"/>
              <a:t>31</a:t>
            </a:fld>
            <a:endParaRPr lang="zh-CN" altLang="en-US"/>
          </a:p>
        </p:txBody>
      </p:sp>
      <p:sp>
        <p:nvSpPr>
          <p:cNvPr id="5" name="页脚占位符 4">
            <a:extLst>
              <a:ext uri="{FF2B5EF4-FFF2-40B4-BE49-F238E27FC236}">
                <a16:creationId xmlns:a16="http://schemas.microsoft.com/office/drawing/2014/main" id="{DEECEB12-99D2-3B4C-8349-C962CC85C555}"/>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4633957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627665-2F26-F94E-B76B-10C0327B6607}"/>
              </a:ext>
            </a:extLst>
          </p:cNvPr>
          <p:cNvSpPr>
            <a:spLocks noGrp="1"/>
          </p:cNvSpPr>
          <p:nvPr>
            <p:ph type="title"/>
          </p:nvPr>
        </p:nvSpPr>
        <p:spPr/>
        <p:txBody>
          <a:bodyPr/>
          <a:lstStyle/>
          <a:p>
            <a:r>
              <a:rPr kumimoji="1" lang="en-US" altLang="zh-CN" dirty="0"/>
              <a:t>HCR_EL2</a:t>
            </a:r>
            <a:r>
              <a:rPr kumimoji="1" lang="zh-CN" altLang="en-US" dirty="0"/>
              <a:t>寄存器简介</a:t>
            </a:r>
          </a:p>
        </p:txBody>
      </p:sp>
      <p:sp>
        <p:nvSpPr>
          <p:cNvPr id="4" name="灯片编号占位符 3">
            <a:extLst>
              <a:ext uri="{FF2B5EF4-FFF2-40B4-BE49-F238E27FC236}">
                <a16:creationId xmlns:a16="http://schemas.microsoft.com/office/drawing/2014/main" id="{1BA1AC7A-E4A7-4D41-8AC1-A65C4284EFFC}"/>
              </a:ext>
            </a:extLst>
          </p:cNvPr>
          <p:cNvSpPr>
            <a:spLocks noGrp="1"/>
          </p:cNvSpPr>
          <p:nvPr>
            <p:ph type="sldNum" sz="quarter" idx="12"/>
          </p:nvPr>
        </p:nvSpPr>
        <p:spPr/>
        <p:txBody>
          <a:bodyPr/>
          <a:lstStyle/>
          <a:p>
            <a:fld id="{ADE361C3-C043-4A6E-BDCE-8DA1E7D90A3B}" type="slidenum">
              <a:rPr lang="zh-CN" altLang="en-US" smtClean="0"/>
              <a:t>32</a:t>
            </a:fld>
            <a:endParaRPr lang="zh-CN" altLang="en-US"/>
          </a:p>
        </p:txBody>
      </p:sp>
      <p:sp>
        <p:nvSpPr>
          <p:cNvPr id="5" name="页脚占位符 4">
            <a:extLst>
              <a:ext uri="{FF2B5EF4-FFF2-40B4-BE49-F238E27FC236}">
                <a16:creationId xmlns:a16="http://schemas.microsoft.com/office/drawing/2014/main" id="{94085620-F55B-6B44-8770-18283F713170}"/>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84DF0356-88D6-D44D-946F-BE93B72082D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99592" y="1417340"/>
            <a:ext cx="7625826" cy="3616766"/>
          </a:xfrm>
          <a:prstGeom prst="rect">
            <a:avLst/>
          </a:prstGeom>
        </p:spPr>
      </p:pic>
    </p:spTree>
    <p:extLst>
      <p:ext uri="{BB962C8B-B14F-4D97-AF65-F5344CB8AC3E}">
        <p14:creationId xmlns:p14="http://schemas.microsoft.com/office/powerpoint/2010/main" val="4031149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113949-97E0-A747-BA06-2A699C8197CF}"/>
              </a:ext>
            </a:extLst>
          </p:cNvPr>
          <p:cNvSpPr>
            <a:spLocks noGrp="1"/>
          </p:cNvSpPr>
          <p:nvPr>
            <p:ph type="title"/>
          </p:nvPr>
        </p:nvSpPr>
        <p:spPr/>
        <p:txBody>
          <a:bodyPr/>
          <a:lstStyle/>
          <a:p>
            <a:r>
              <a:rPr kumimoji="1" lang="en-US" altLang="zh-CN" dirty="0"/>
              <a:t>ARM</a:t>
            </a:r>
            <a:r>
              <a:rPr kumimoji="1" lang="zh-CN" altLang="en-US" dirty="0"/>
              <a:t>硬件虚拟化发展</a:t>
            </a:r>
          </a:p>
        </p:txBody>
      </p:sp>
      <p:sp>
        <p:nvSpPr>
          <p:cNvPr id="3" name="内容占位符 2">
            <a:extLst>
              <a:ext uri="{FF2B5EF4-FFF2-40B4-BE49-F238E27FC236}">
                <a16:creationId xmlns:a16="http://schemas.microsoft.com/office/drawing/2014/main" id="{DCCA607F-583F-1043-8BFC-2352CE878C06}"/>
              </a:ext>
            </a:extLst>
          </p:cNvPr>
          <p:cNvSpPr>
            <a:spLocks noGrp="1"/>
          </p:cNvSpPr>
          <p:nvPr>
            <p:ph idx="1"/>
          </p:nvPr>
        </p:nvSpPr>
        <p:spPr/>
        <p:txBody>
          <a:bodyPr>
            <a:normAutofit lnSpcReduction="10000"/>
          </a:bodyPr>
          <a:lstStyle/>
          <a:p>
            <a:r>
              <a:rPr kumimoji="1" lang="en-US" altLang="zh-CN" dirty="0"/>
              <a:t>ARMv8.0</a:t>
            </a:r>
          </a:p>
          <a:p>
            <a:pPr lvl="1"/>
            <a:r>
              <a:rPr kumimoji="1" lang="zh-CN" altLang="en-US" dirty="0"/>
              <a:t>增加</a:t>
            </a:r>
            <a:r>
              <a:rPr kumimoji="1" lang="en-US" altLang="zh-CN" dirty="0"/>
              <a:t>EL2</a:t>
            </a:r>
            <a:r>
              <a:rPr kumimoji="1" lang="en-US" altLang="zh-CN" baseline="30000" dirty="0"/>
              <a:t>1</a:t>
            </a:r>
            <a:r>
              <a:rPr kumimoji="1" lang="zh-CN" altLang="en-US" dirty="0"/>
              <a:t>特权级</a:t>
            </a:r>
            <a:endParaRPr kumimoji="1" lang="en-US" altLang="zh-CN" dirty="0"/>
          </a:p>
          <a:p>
            <a:pPr lvl="1"/>
            <a:r>
              <a:rPr kumimoji="1" lang="en-US" altLang="zh-CN" dirty="0"/>
              <a:t>EL2</a:t>
            </a:r>
            <a:r>
              <a:rPr kumimoji="1" lang="zh-CN" altLang="en-US" dirty="0"/>
              <a:t>只能运行</a:t>
            </a:r>
            <a:r>
              <a:rPr kumimoji="1" lang="en-US" altLang="zh-CN" dirty="0"/>
              <a:t>VMM</a:t>
            </a:r>
            <a:r>
              <a:rPr kumimoji="1" lang="zh-CN" altLang="en-US" dirty="0"/>
              <a:t>，不能运行一般操作系统内核</a:t>
            </a:r>
            <a:endParaRPr kumimoji="1" lang="en-US" altLang="zh-CN" dirty="0"/>
          </a:p>
          <a:p>
            <a:pPr lvl="2"/>
            <a:r>
              <a:rPr kumimoji="1" lang="en-US" altLang="zh-CN" dirty="0"/>
              <a:t>OS</a:t>
            </a:r>
            <a:r>
              <a:rPr kumimoji="1" lang="zh-CN" altLang="en-US" dirty="0"/>
              <a:t>一般只使用</a:t>
            </a:r>
            <a:r>
              <a:rPr kumimoji="1" lang="en-US" altLang="zh-CN" dirty="0"/>
              <a:t>EL1</a:t>
            </a:r>
            <a:r>
              <a:rPr kumimoji="1" lang="zh-CN" altLang="en-US" dirty="0"/>
              <a:t>的寄存器，在</a:t>
            </a:r>
            <a:r>
              <a:rPr kumimoji="1" lang="en-US" altLang="zh-CN" dirty="0"/>
              <a:t>EL2</a:t>
            </a:r>
            <a:r>
              <a:rPr kumimoji="1" lang="zh-CN" altLang="en-US" dirty="0"/>
              <a:t>中不存在对应的寄存器</a:t>
            </a:r>
            <a:endParaRPr kumimoji="1" lang="en-US" altLang="zh-CN" dirty="0"/>
          </a:p>
          <a:p>
            <a:pPr lvl="3"/>
            <a:r>
              <a:rPr kumimoji="1" lang="en-US" altLang="zh-CN" dirty="0"/>
              <a:t>EL1</a:t>
            </a:r>
            <a:r>
              <a:rPr kumimoji="1" lang="zh-CN" altLang="en-US" dirty="0"/>
              <a:t>：</a:t>
            </a:r>
            <a:r>
              <a:rPr kumimoji="1" lang="en-US" altLang="zh-CN" dirty="0"/>
              <a:t>TTBR0_EL1</a:t>
            </a:r>
            <a:r>
              <a:rPr kumimoji="1" lang="zh-CN" altLang="en-US" dirty="0"/>
              <a:t>、</a:t>
            </a:r>
            <a:r>
              <a:rPr kumimoji="1" lang="en-US" altLang="zh-CN" dirty="0"/>
              <a:t>TTBR1_EL1</a:t>
            </a:r>
          </a:p>
          <a:p>
            <a:pPr lvl="3"/>
            <a:r>
              <a:rPr kumimoji="1" lang="en-US" altLang="zh-CN" dirty="0"/>
              <a:t>EL2</a:t>
            </a:r>
            <a:r>
              <a:rPr kumimoji="1" lang="zh-CN" altLang="en-US" dirty="0"/>
              <a:t>：</a:t>
            </a:r>
            <a:r>
              <a:rPr kumimoji="1" lang="en-US" altLang="zh-CN" dirty="0"/>
              <a:t>TTBR_EL2</a:t>
            </a:r>
          </a:p>
          <a:p>
            <a:pPr lvl="2"/>
            <a:r>
              <a:rPr kumimoji="1" lang="en-US" altLang="zh-CN" dirty="0"/>
              <a:t>EL2</a:t>
            </a:r>
            <a:r>
              <a:rPr kumimoji="1" lang="zh-CN" altLang="en-US" dirty="0"/>
              <a:t>不能与</a:t>
            </a:r>
            <a:r>
              <a:rPr kumimoji="1" lang="en-US" altLang="zh-CN" dirty="0"/>
              <a:t>EL0</a:t>
            </a:r>
            <a:r>
              <a:rPr kumimoji="1" lang="zh-CN" altLang="en-US" dirty="0"/>
              <a:t>共享内存</a:t>
            </a:r>
            <a:endParaRPr kumimoji="1" lang="en-US" altLang="zh-CN" dirty="0"/>
          </a:p>
          <a:p>
            <a:pPr lvl="1"/>
            <a:r>
              <a:rPr kumimoji="1" lang="zh-CN" altLang="en-US" dirty="0">
                <a:solidFill>
                  <a:srgbClr val="BE384B"/>
                </a:solidFill>
              </a:rPr>
              <a:t>因此：无法在</a:t>
            </a:r>
            <a:r>
              <a:rPr kumimoji="1" lang="en-US" altLang="zh-CN" dirty="0">
                <a:solidFill>
                  <a:srgbClr val="BE384B"/>
                </a:solidFill>
              </a:rPr>
              <a:t>EL2</a:t>
            </a:r>
            <a:r>
              <a:rPr kumimoji="1" lang="zh-CN" altLang="en-US" dirty="0">
                <a:solidFill>
                  <a:srgbClr val="BE384B"/>
                </a:solidFill>
              </a:rPr>
              <a:t>中运行</a:t>
            </a:r>
            <a:r>
              <a:rPr kumimoji="1" lang="en-US" altLang="zh-CN" dirty="0">
                <a:solidFill>
                  <a:srgbClr val="BE384B"/>
                </a:solidFill>
              </a:rPr>
              <a:t>Type-2</a:t>
            </a:r>
            <a:r>
              <a:rPr kumimoji="1" lang="zh-CN" altLang="en-US" dirty="0">
                <a:solidFill>
                  <a:srgbClr val="BE384B"/>
                </a:solidFill>
              </a:rPr>
              <a:t>虚拟机监控器的</a:t>
            </a:r>
            <a:r>
              <a:rPr kumimoji="1" lang="en-US" altLang="zh-CN" dirty="0">
                <a:solidFill>
                  <a:srgbClr val="BE384B"/>
                </a:solidFill>
              </a:rPr>
              <a:t>Host</a:t>
            </a:r>
            <a:r>
              <a:rPr kumimoji="1" lang="zh-CN" altLang="en-US" dirty="0">
                <a:solidFill>
                  <a:srgbClr val="BE384B"/>
                </a:solidFill>
              </a:rPr>
              <a:t> </a:t>
            </a:r>
            <a:r>
              <a:rPr kumimoji="1" lang="en-US" altLang="zh-CN" dirty="0">
                <a:solidFill>
                  <a:srgbClr val="BE384B"/>
                </a:solidFill>
              </a:rPr>
              <a:t>OS</a:t>
            </a:r>
          </a:p>
          <a:p>
            <a:pPr lvl="2"/>
            <a:r>
              <a:rPr kumimoji="1" lang="zh-CN" altLang="en-US" sz="1800" dirty="0"/>
              <a:t>或者说，</a:t>
            </a:r>
            <a:r>
              <a:rPr kumimoji="1" lang="en-US" altLang="zh-CN" sz="1800" dirty="0"/>
              <a:t>Host</a:t>
            </a:r>
            <a:r>
              <a:rPr kumimoji="1" lang="zh-CN" altLang="en-US" sz="1800" dirty="0"/>
              <a:t> </a:t>
            </a:r>
            <a:r>
              <a:rPr kumimoji="1" lang="en-US" altLang="zh-CN" sz="1800" dirty="0"/>
              <a:t>OS</a:t>
            </a:r>
            <a:r>
              <a:rPr kumimoji="1" lang="zh-CN" altLang="en-US" sz="1800" dirty="0"/>
              <a:t>需要大量修改才能运行在</a:t>
            </a:r>
            <a:r>
              <a:rPr kumimoji="1" lang="en-US" altLang="zh-CN" sz="1800" dirty="0"/>
              <a:t>EL2</a:t>
            </a:r>
          </a:p>
        </p:txBody>
      </p:sp>
      <p:sp>
        <p:nvSpPr>
          <p:cNvPr id="4" name="灯片编号占位符 3">
            <a:extLst>
              <a:ext uri="{FF2B5EF4-FFF2-40B4-BE49-F238E27FC236}">
                <a16:creationId xmlns:a16="http://schemas.microsoft.com/office/drawing/2014/main" id="{41A72711-36D4-6649-95D5-4A49DE1538B9}"/>
              </a:ext>
            </a:extLst>
          </p:cNvPr>
          <p:cNvSpPr>
            <a:spLocks noGrp="1"/>
          </p:cNvSpPr>
          <p:nvPr>
            <p:ph type="sldNum" sz="quarter" idx="12"/>
          </p:nvPr>
        </p:nvSpPr>
        <p:spPr/>
        <p:txBody>
          <a:bodyPr/>
          <a:lstStyle/>
          <a:p>
            <a:fld id="{ADE361C3-C043-4A6E-BDCE-8DA1E7D90A3B}" type="slidenum">
              <a:rPr lang="zh-CN" altLang="en-US" smtClean="0"/>
              <a:t>33</a:t>
            </a:fld>
            <a:endParaRPr lang="zh-CN" altLang="en-US"/>
          </a:p>
        </p:txBody>
      </p:sp>
      <p:sp>
        <p:nvSpPr>
          <p:cNvPr id="5" name="页脚占位符 4">
            <a:extLst>
              <a:ext uri="{FF2B5EF4-FFF2-40B4-BE49-F238E27FC236}">
                <a16:creationId xmlns:a16="http://schemas.microsoft.com/office/drawing/2014/main" id="{8AE10382-ABDD-1649-8B2C-22AE8257FCD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文本框 5">
            <a:extLst>
              <a:ext uri="{FF2B5EF4-FFF2-40B4-BE49-F238E27FC236}">
                <a16:creationId xmlns:a16="http://schemas.microsoft.com/office/drawing/2014/main" id="{2FB4418D-104A-254E-9F46-7DB577F022A2}"/>
              </a:ext>
            </a:extLst>
          </p:cNvPr>
          <p:cNvSpPr txBox="1"/>
          <p:nvPr/>
        </p:nvSpPr>
        <p:spPr>
          <a:xfrm>
            <a:off x="0" y="5438001"/>
            <a:ext cx="1680268" cy="276999"/>
          </a:xfrm>
          <a:prstGeom prst="rect">
            <a:avLst/>
          </a:prstGeom>
          <a:noFill/>
        </p:spPr>
        <p:txBody>
          <a:bodyPr wrap="none" rtlCol="0">
            <a:spAutoFit/>
          </a:bodyPr>
          <a:lstStyle/>
          <a:p>
            <a:r>
              <a:rPr kumimoji="1" lang="en-US" altLang="zh-CN" sz="1200" dirty="0">
                <a:solidFill>
                  <a:srgbClr val="404040"/>
                </a:solidFill>
              </a:rPr>
              <a:t>1:</a:t>
            </a:r>
            <a:r>
              <a:rPr kumimoji="1" lang="zh-CN" altLang="en-US" sz="1200" dirty="0">
                <a:solidFill>
                  <a:srgbClr val="404040"/>
                </a:solidFill>
              </a:rPr>
              <a:t> 实际上名为</a:t>
            </a:r>
            <a:r>
              <a:rPr kumimoji="1" lang="en-US" altLang="zh-CN" sz="1200" dirty="0" err="1">
                <a:solidFill>
                  <a:srgbClr val="404040"/>
                </a:solidFill>
              </a:rPr>
              <a:t>hyp</a:t>
            </a:r>
            <a:r>
              <a:rPr kumimoji="1" lang="zh-CN" altLang="en-US" sz="1200" dirty="0">
                <a:solidFill>
                  <a:srgbClr val="404040"/>
                </a:solidFill>
              </a:rPr>
              <a:t>模式</a:t>
            </a:r>
          </a:p>
        </p:txBody>
      </p:sp>
    </p:spTree>
    <p:extLst>
      <p:ext uri="{BB962C8B-B14F-4D97-AF65-F5344CB8AC3E}">
        <p14:creationId xmlns:p14="http://schemas.microsoft.com/office/powerpoint/2010/main" val="2487440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23E471-AB76-E447-9676-A31B72505914}"/>
              </a:ext>
            </a:extLst>
          </p:cNvPr>
          <p:cNvSpPr>
            <a:spLocks noGrp="1"/>
          </p:cNvSpPr>
          <p:nvPr>
            <p:ph type="title"/>
          </p:nvPr>
        </p:nvSpPr>
        <p:spPr/>
        <p:txBody>
          <a:bodyPr/>
          <a:lstStyle/>
          <a:p>
            <a:r>
              <a:rPr kumimoji="1" lang="en-US" altLang="zh-CN" dirty="0"/>
              <a:t>ARMv8.0</a:t>
            </a:r>
            <a:r>
              <a:rPr kumimoji="1" lang="zh-CN" altLang="en-US" dirty="0"/>
              <a:t>中的</a:t>
            </a:r>
            <a:r>
              <a:rPr kumimoji="1" lang="en-US" altLang="zh-CN" dirty="0"/>
              <a:t>Type-2</a:t>
            </a:r>
            <a:r>
              <a:rPr kumimoji="1" lang="zh-CN" altLang="en-US" dirty="0"/>
              <a:t> </a:t>
            </a:r>
            <a:r>
              <a:rPr kumimoji="1" lang="en-US" altLang="zh-CN" dirty="0"/>
              <a:t>VMM</a:t>
            </a:r>
            <a:r>
              <a:rPr kumimoji="1" lang="zh-CN" altLang="en-US" dirty="0"/>
              <a:t>架构</a:t>
            </a:r>
          </a:p>
        </p:txBody>
      </p:sp>
      <p:sp>
        <p:nvSpPr>
          <p:cNvPr id="4" name="灯片编号占位符 3">
            <a:extLst>
              <a:ext uri="{FF2B5EF4-FFF2-40B4-BE49-F238E27FC236}">
                <a16:creationId xmlns:a16="http://schemas.microsoft.com/office/drawing/2014/main" id="{66119BDE-CCF5-AB43-A5A1-08E351A0BCFE}"/>
              </a:ext>
            </a:extLst>
          </p:cNvPr>
          <p:cNvSpPr>
            <a:spLocks noGrp="1"/>
          </p:cNvSpPr>
          <p:nvPr>
            <p:ph type="sldNum" sz="quarter" idx="12"/>
          </p:nvPr>
        </p:nvSpPr>
        <p:spPr/>
        <p:txBody>
          <a:bodyPr/>
          <a:lstStyle/>
          <a:p>
            <a:fld id="{ADE361C3-C043-4A6E-BDCE-8DA1E7D90A3B}" type="slidenum">
              <a:rPr lang="zh-CN" altLang="en-US" smtClean="0"/>
              <a:t>34</a:t>
            </a:fld>
            <a:endParaRPr lang="zh-CN" altLang="en-US"/>
          </a:p>
        </p:txBody>
      </p:sp>
      <p:sp>
        <p:nvSpPr>
          <p:cNvPr id="5" name="页脚占位符 4">
            <a:extLst>
              <a:ext uri="{FF2B5EF4-FFF2-40B4-BE49-F238E27FC236}">
                <a16:creationId xmlns:a16="http://schemas.microsoft.com/office/drawing/2014/main" id="{7A778045-0284-1542-99F7-212D6837495C}"/>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7" name="Rectangle 22">
            <a:extLst>
              <a:ext uri="{FF2B5EF4-FFF2-40B4-BE49-F238E27FC236}">
                <a16:creationId xmlns:a16="http://schemas.microsoft.com/office/drawing/2014/main" id="{EAB256EA-18F1-5D45-8DFB-6BE76844916A}"/>
              </a:ext>
            </a:extLst>
          </p:cNvPr>
          <p:cNvSpPr/>
          <p:nvPr/>
        </p:nvSpPr>
        <p:spPr>
          <a:xfrm>
            <a:off x="1790025" y="2456032"/>
            <a:ext cx="2636232" cy="670204"/>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b" anchorCtr="0"/>
          <a:lstStyle/>
          <a:p>
            <a:r>
              <a:rPr lang="en-US" altLang="zh-CN" sz="1600" dirty="0">
                <a:solidFill>
                  <a:srgbClr val="BE384B"/>
                </a:solidFill>
                <a:cs typeface="Arial Narrow"/>
              </a:rPr>
              <a:t>Host</a:t>
            </a:r>
            <a:r>
              <a:rPr lang="zh-CN" altLang="en-US" sz="1600" dirty="0">
                <a:solidFill>
                  <a:srgbClr val="BE384B"/>
                </a:solidFill>
                <a:cs typeface="Arial Narrow"/>
              </a:rPr>
              <a:t> </a:t>
            </a:r>
            <a:r>
              <a:rPr lang="en-US" altLang="zh-CN" sz="1600" dirty="0">
                <a:solidFill>
                  <a:srgbClr val="BE384B"/>
                </a:solidFill>
                <a:cs typeface="Arial Narrow"/>
              </a:rPr>
              <a:t>OS</a:t>
            </a:r>
            <a:endParaRPr lang="en-US" sz="1600" dirty="0">
              <a:solidFill>
                <a:srgbClr val="BE384B"/>
              </a:solidFill>
              <a:cs typeface="Arial Narrow"/>
            </a:endParaRPr>
          </a:p>
        </p:txBody>
      </p:sp>
      <p:sp>
        <p:nvSpPr>
          <p:cNvPr id="9" name="Rectangle 27">
            <a:extLst>
              <a:ext uri="{FF2B5EF4-FFF2-40B4-BE49-F238E27FC236}">
                <a16:creationId xmlns:a16="http://schemas.microsoft.com/office/drawing/2014/main" id="{318D4375-44F2-BB44-B568-10CFB4A5A886}"/>
              </a:ext>
            </a:extLst>
          </p:cNvPr>
          <p:cNvSpPr/>
          <p:nvPr/>
        </p:nvSpPr>
        <p:spPr>
          <a:xfrm>
            <a:off x="1787782" y="1547069"/>
            <a:ext cx="2636232" cy="670202"/>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rgbClr val="BE384B"/>
                </a:solidFill>
                <a:cs typeface="Arial Narrow"/>
              </a:rPr>
              <a:t>Processes</a:t>
            </a:r>
            <a:endParaRPr lang="en-US" sz="1600" dirty="0">
              <a:solidFill>
                <a:srgbClr val="BE384B"/>
              </a:solidFill>
              <a:cs typeface="Arial Narrow"/>
            </a:endParaRPr>
          </a:p>
        </p:txBody>
      </p:sp>
      <p:cxnSp>
        <p:nvCxnSpPr>
          <p:cNvPr id="10" name="Straight Connector 13">
            <a:extLst>
              <a:ext uri="{FF2B5EF4-FFF2-40B4-BE49-F238E27FC236}">
                <a16:creationId xmlns:a16="http://schemas.microsoft.com/office/drawing/2014/main" id="{72A1F924-3A9C-2F4F-B69D-F57E3E89E4CF}"/>
              </a:ext>
            </a:extLst>
          </p:cNvPr>
          <p:cNvCxnSpPr>
            <a:cxnSpLocks/>
          </p:cNvCxnSpPr>
          <p:nvPr/>
        </p:nvCxnSpPr>
        <p:spPr>
          <a:xfrm>
            <a:off x="1144656" y="3382686"/>
            <a:ext cx="6801770" cy="0"/>
          </a:xfrm>
          <a:prstGeom prst="line">
            <a:avLst/>
          </a:prstGeom>
          <a:ln>
            <a:solidFill>
              <a:srgbClr val="BE384B"/>
            </a:solidFill>
          </a:ln>
          <a:effectLst/>
        </p:spPr>
        <p:style>
          <a:lnRef idx="2">
            <a:schemeClr val="accent1"/>
          </a:lnRef>
          <a:fillRef idx="0">
            <a:schemeClr val="accent1"/>
          </a:fillRef>
          <a:effectRef idx="1">
            <a:schemeClr val="accent1"/>
          </a:effectRef>
          <a:fontRef idx="minor">
            <a:schemeClr val="tx1"/>
          </a:fontRef>
        </p:style>
      </p:cxnSp>
      <p:sp>
        <p:nvSpPr>
          <p:cNvPr id="11" name="文本框 10">
            <a:extLst>
              <a:ext uri="{FF2B5EF4-FFF2-40B4-BE49-F238E27FC236}">
                <a16:creationId xmlns:a16="http://schemas.microsoft.com/office/drawing/2014/main" id="{090FFF94-E997-8144-9615-4839EF00023A}"/>
              </a:ext>
            </a:extLst>
          </p:cNvPr>
          <p:cNvSpPr txBox="1"/>
          <p:nvPr/>
        </p:nvSpPr>
        <p:spPr>
          <a:xfrm>
            <a:off x="1013868" y="2554252"/>
            <a:ext cx="807505" cy="501210"/>
          </a:xfrm>
          <a:prstGeom prst="rect">
            <a:avLst/>
          </a:prstGeom>
          <a:noFill/>
        </p:spPr>
        <p:txBody>
          <a:bodyPr wrap="none" rtlCol="0">
            <a:spAutoFit/>
          </a:bodyPr>
          <a:lstStyle/>
          <a:p>
            <a:r>
              <a:rPr kumimoji="1" lang="en-US" altLang="zh-CN" dirty="0"/>
              <a:t>EL1</a:t>
            </a:r>
            <a:endParaRPr kumimoji="1" lang="zh-CN" altLang="en-US" dirty="0"/>
          </a:p>
        </p:txBody>
      </p:sp>
      <p:sp>
        <p:nvSpPr>
          <p:cNvPr id="12" name="文本框 11">
            <a:extLst>
              <a:ext uri="{FF2B5EF4-FFF2-40B4-BE49-F238E27FC236}">
                <a16:creationId xmlns:a16="http://schemas.microsoft.com/office/drawing/2014/main" id="{68EA182B-73FE-A141-936E-2F1B63AF2A46}"/>
              </a:ext>
            </a:extLst>
          </p:cNvPr>
          <p:cNvSpPr txBox="1"/>
          <p:nvPr/>
        </p:nvSpPr>
        <p:spPr>
          <a:xfrm>
            <a:off x="1013868" y="1680639"/>
            <a:ext cx="807505" cy="501210"/>
          </a:xfrm>
          <a:prstGeom prst="rect">
            <a:avLst/>
          </a:prstGeom>
          <a:noFill/>
        </p:spPr>
        <p:txBody>
          <a:bodyPr wrap="none" rtlCol="0">
            <a:spAutoFit/>
          </a:bodyPr>
          <a:lstStyle/>
          <a:p>
            <a:r>
              <a:rPr kumimoji="1" lang="en-US" altLang="zh-CN" dirty="0"/>
              <a:t>EL0</a:t>
            </a:r>
            <a:endParaRPr kumimoji="1" lang="zh-CN" altLang="en-US" dirty="0"/>
          </a:p>
        </p:txBody>
      </p:sp>
      <p:sp>
        <p:nvSpPr>
          <p:cNvPr id="13" name="Rectangle 22">
            <a:extLst>
              <a:ext uri="{FF2B5EF4-FFF2-40B4-BE49-F238E27FC236}">
                <a16:creationId xmlns:a16="http://schemas.microsoft.com/office/drawing/2014/main" id="{F464D9E1-6E8A-6E4A-9B3C-6C3BB04E1771}"/>
              </a:ext>
            </a:extLst>
          </p:cNvPr>
          <p:cNvSpPr/>
          <p:nvPr/>
        </p:nvSpPr>
        <p:spPr>
          <a:xfrm>
            <a:off x="1774170" y="3499181"/>
            <a:ext cx="2649844" cy="670204"/>
          </a:xfrm>
          <a:prstGeom prst="rect">
            <a:avLst/>
          </a:prstGeom>
          <a:solidFill>
            <a:srgbClr val="BE384B"/>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nchorCtr="0"/>
          <a:lstStyle/>
          <a:p>
            <a:r>
              <a:rPr lang="zh-CN" altLang="en-US" sz="1600" dirty="0">
                <a:solidFill>
                  <a:schemeClr val="bg1"/>
                </a:solidFill>
                <a:cs typeface="Arial Narrow"/>
              </a:rPr>
              <a:t>  </a:t>
            </a:r>
            <a:r>
              <a:rPr lang="en-US" altLang="zh-CN" sz="1600" dirty="0">
                <a:solidFill>
                  <a:schemeClr val="bg1"/>
                </a:solidFill>
                <a:cs typeface="Arial Narrow"/>
              </a:rPr>
              <a:t>VMM</a:t>
            </a:r>
            <a:r>
              <a:rPr lang="zh-CN" altLang="en-US" sz="1600" dirty="0">
                <a:solidFill>
                  <a:schemeClr val="bg1"/>
                </a:solidFill>
                <a:cs typeface="Arial Narrow"/>
              </a:rPr>
              <a:t> </a:t>
            </a:r>
            <a:endParaRPr lang="en-US" altLang="zh-CN" sz="1600" dirty="0">
              <a:solidFill>
                <a:schemeClr val="bg1"/>
              </a:solidFill>
              <a:cs typeface="Arial Narrow"/>
            </a:endParaRPr>
          </a:p>
          <a:p>
            <a:r>
              <a:rPr lang="en-US" altLang="zh-CN" sz="1600" dirty="0" err="1">
                <a:solidFill>
                  <a:schemeClr val="bg1"/>
                </a:solidFill>
                <a:cs typeface="Arial Narrow"/>
              </a:rPr>
              <a:t>Lowvisor</a:t>
            </a:r>
            <a:endParaRPr lang="en-US" sz="1600" dirty="0">
              <a:solidFill>
                <a:schemeClr val="bg1"/>
              </a:solidFill>
              <a:cs typeface="Arial Narrow"/>
            </a:endParaRPr>
          </a:p>
        </p:txBody>
      </p:sp>
      <p:sp>
        <p:nvSpPr>
          <p:cNvPr id="14" name="文本框 13">
            <a:extLst>
              <a:ext uri="{FF2B5EF4-FFF2-40B4-BE49-F238E27FC236}">
                <a16:creationId xmlns:a16="http://schemas.microsoft.com/office/drawing/2014/main" id="{C6EC19BF-D40B-0E4D-BB96-29A9818150C4}"/>
              </a:ext>
            </a:extLst>
          </p:cNvPr>
          <p:cNvSpPr txBox="1"/>
          <p:nvPr/>
        </p:nvSpPr>
        <p:spPr>
          <a:xfrm>
            <a:off x="1013867" y="3564652"/>
            <a:ext cx="807505" cy="501210"/>
          </a:xfrm>
          <a:prstGeom prst="rect">
            <a:avLst/>
          </a:prstGeom>
          <a:noFill/>
        </p:spPr>
        <p:txBody>
          <a:bodyPr wrap="none" rtlCol="0">
            <a:spAutoFit/>
          </a:bodyPr>
          <a:lstStyle/>
          <a:p>
            <a:r>
              <a:rPr kumimoji="1" lang="en-US" altLang="zh-CN" dirty="0"/>
              <a:t>EL2</a:t>
            </a:r>
            <a:endParaRPr kumimoji="1" lang="zh-CN" altLang="en-US" dirty="0"/>
          </a:p>
        </p:txBody>
      </p:sp>
      <p:sp>
        <p:nvSpPr>
          <p:cNvPr id="16" name="文本框 15">
            <a:extLst>
              <a:ext uri="{FF2B5EF4-FFF2-40B4-BE49-F238E27FC236}">
                <a16:creationId xmlns:a16="http://schemas.microsoft.com/office/drawing/2014/main" id="{4FB131DD-3DE8-3645-AAB9-C235F4756E4B}"/>
              </a:ext>
            </a:extLst>
          </p:cNvPr>
          <p:cNvSpPr txBox="1"/>
          <p:nvPr/>
        </p:nvSpPr>
        <p:spPr>
          <a:xfrm>
            <a:off x="2700196" y="1160941"/>
            <a:ext cx="723275" cy="369332"/>
          </a:xfrm>
          <a:prstGeom prst="rect">
            <a:avLst/>
          </a:prstGeom>
          <a:noFill/>
        </p:spPr>
        <p:txBody>
          <a:bodyPr wrap="none" rtlCol="0">
            <a:spAutoFit/>
          </a:bodyPr>
          <a:lstStyle/>
          <a:p>
            <a:r>
              <a:rPr kumimoji="1" lang="en-US" altLang="zh-CN" dirty="0"/>
              <a:t>VMM</a:t>
            </a:r>
            <a:endParaRPr kumimoji="1" lang="zh-CN" altLang="en-US" dirty="0"/>
          </a:p>
        </p:txBody>
      </p:sp>
      <p:sp>
        <p:nvSpPr>
          <p:cNvPr id="17" name="Rectangle 22">
            <a:extLst>
              <a:ext uri="{FF2B5EF4-FFF2-40B4-BE49-F238E27FC236}">
                <a16:creationId xmlns:a16="http://schemas.microsoft.com/office/drawing/2014/main" id="{93457CC6-5207-4441-9E18-E04A2661A4DD}"/>
              </a:ext>
            </a:extLst>
          </p:cNvPr>
          <p:cNvSpPr/>
          <p:nvPr/>
        </p:nvSpPr>
        <p:spPr>
          <a:xfrm>
            <a:off x="4972476" y="2436760"/>
            <a:ext cx="2636232" cy="670204"/>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pPr algn="r"/>
            <a:r>
              <a:rPr lang="en-US" altLang="zh-CN" sz="1600" dirty="0">
                <a:solidFill>
                  <a:srgbClr val="BE384B"/>
                </a:solidFill>
                <a:cs typeface="Arial Narrow"/>
              </a:rPr>
              <a:t>OS</a:t>
            </a:r>
            <a:r>
              <a:rPr lang="zh-CN" altLang="en-US" sz="1600" dirty="0">
                <a:solidFill>
                  <a:srgbClr val="BE384B"/>
                </a:solidFill>
                <a:cs typeface="Arial Narrow"/>
              </a:rPr>
              <a:t> </a:t>
            </a:r>
            <a:r>
              <a:rPr lang="en-US" altLang="zh-CN" sz="1600" dirty="0">
                <a:solidFill>
                  <a:srgbClr val="BE384B"/>
                </a:solidFill>
                <a:cs typeface="Arial Narrow"/>
              </a:rPr>
              <a:t>Kernel</a:t>
            </a:r>
            <a:endParaRPr lang="en-US" sz="1600" dirty="0">
              <a:solidFill>
                <a:srgbClr val="BE384B"/>
              </a:solidFill>
              <a:cs typeface="Arial Narrow"/>
            </a:endParaRPr>
          </a:p>
        </p:txBody>
      </p:sp>
      <p:sp>
        <p:nvSpPr>
          <p:cNvPr id="18" name="Rectangle 27">
            <a:extLst>
              <a:ext uri="{FF2B5EF4-FFF2-40B4-BE49-F238E27FC236}">
                <a16:creationId xmlns:a16="http://schemas.microsoft.com/office/drawing/2014/main" id="{63D5D3A1-ACDD-7B49-9954-E9799E06AE77}"/>
              </a:ext>
            </a:extLst>
          </p:cNvPr>
          <p:cNvSpPr/>
          <p:nvPr/>
        </p:nvSpPr>
        <p:spPr>
          <a:xfrm>
            <a:off x="4970233" y="1527797"/>
            <a:ext cx="2636232" cy="670202"/>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rgbClr val="BE384B"/>
                </a:solidFill>
                <a:cs typeface="Arial Narrow"/>
              </a:rPr>
              <a:t>Processes</a:t>
            </a:r>
            <a:endParaRPr lang="en-US" sz="1600" dirty="0">
              <a:solidFill>
                <a:srgbClr val="BE384B"/>
              </a:solidFill>
              <a:cs typeface="Arial Narrow"/>
            </a:endParaRPr>
          </a:p>
        </p:txBody>
      </p:sp>
      <p:sp>
        <p:nvSpPr>
          <p:cNvPr id="19" name="圆角矩形 18">
            <a:extLst>
              <a:ext uri="{FF2B5EF4-FFF2-40B4-BE49-F238E27FC236}">
                <a16:creationId xmlns:a16="http://schemas.microsoft.com/office/drawing/2014/main" id="{98928C1F-51A6-8C4F-A32B-09FD375611F3}"/>
              </a:ext>
            </a:extLst>
          </p:cNvPr>
          <p:cNvSpPr/>
          <p:nvPr/>
        </p:nvSpPr>
        <p:spPr>
          <a:xfrm>
            <a:off x="4822548" y="1129309"/>
            <a:ext cx="2931601" cy="2085766"/>
          </a:xfrm>
          <a:prstGeom prst="roundRect">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0" name="文本框 19">
            <a:extLst>
              <a:ext uri="{FF2B5EF4-FFF2-40B4-BE49-F238E27FC236}">
                <a16:creationId xmlns:a16="http://schemas.microsoft.com/office/drawing/2014/main" id="{D0D478E4-0884-7B4E-AAE9-EE164EC799DA}"/>
              </a:ext>
            </a:extLst>
          </p:cNvPr>
          <p:cNvSpPr txBox="1"/>
          <p:nvPr/>
        </p:nvSpPr>
        <p:spPr>
          <a:xfrm>
            <a:off x="5995826" y="1150287"/>
            <a:ext cx="530915" cy="369332"/>
          </a:xfrm>
          <a:prstGeom prst="rect">
            <a:avLst/>
          </a:prstGeom>
          <a:noFill/>
        </p:spPr>
        <p:txBody>
          <a:bodyPr wrap="none" rtlCol="0">
            <a:spAutoFit/>
          </a:bodyPr>
          <a:lstStyle/>
          <a:p>
            <a:r>
              <a:rPr kumimoji="1" lang="en-US" altLang="zh-CN" dirty="0"/>
              <a:t>VM</a:t>
            </a:r>
            <a:endParaRPr kumimoji="1" lang="zh-CN" altLang="en-US" dirty="0"/>
          </a:p>
        </p:txBody>
      </p:sp>
      <p:sp>
        <p:nvSpPr>
          <p:cNvPr id="21" name="圆角矩形 20">
            <a:extLst>
              <a:ext uri="{FF2B5EF4-FFF2-40B4-BE49-F238E27FC236}">
                <a16:creationId xmlns:a16="http://schemas.microsoft.com/office/drawing/2014/main" id="{C702FFDE-691B-7C40-A1F6-BD4E4B8E45DC}"/>
              </a:ext>
            </a:extLst>
          </p:cNvPr>
          <p:cNvSpPr/>
          <p:nvPr/>
        </p:nvSpPr>
        <p:spPr>
          <a:xfrm>
            <a:off x="1691680" y="1129308"/>
            <a:ext cx="2931601" cy="3313593"/>
          </a:xfrm>
          <a:prstGeom prst="roundRect">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2" name="Rectangle 22">
            <a:extLst>
              <a:ext uri="{FF2B5EF4-FFF2-40B4-BE49-F238E27FC236}">
                <a16:creationId xmlns:a16="http://schemas.microsoft.com/office/drawing/2014/main" id="{7B7FCC12-C741-B94E-B87F-A97741388C31}"/>
              </a:ext>
            </a:extLst>
          </p:cNvPr>
          <p:cNvSpPr/>
          <p:nvPr/>
        </p:nvSpPr>
        <p:spPr>
          <a:xfrm>
            <a:off x="3099092" y="2525045"/>
            <a:ext cx="1146017" cy="536591"/>
          </a:xfrm>
          <a:prstGeom prst="rect">
            <a:avLst/>
          </a:prstGeom>
          <a:solidFill>
            <a:srgbClr val="BE384B"/>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pPr algn="ctr"/>
            <a:r>
              <a:rPr lang="en-US" altLang="zh-CN" sz="1600" dirty="0">
                <a:solidFill>
                  <a:schemeClr val="bg1"/>
                </a:solidFill>
                <a:cs typeface="Arial Narrow"/>
              </a:rPr>
              <a:t>VMM</a:t>
            </a:r>
          </a:p>
          <a:p>
            <a:pPr algn="ctr"/>
            <a:r>
              <a:rPr lang="en-US" altLang="zh-CN" sz="1600" dirty="0" err="1">
                <a:solidFill>
                  <a:schemeClr val="bg1"/>
                </a:solidFill>
                <a:cs typeface="Arial Narrow"/>
              </a:rPr>
              <a:t>Highvisor</a:t>
            </a:r>
            <a:endParaRPr lang="en-US" sz="1600" dirty="0">
              <a:solidFill>
                <a:schemeClr val="bg1"/>
              </a:solidFill>
              <a:cs typeface="Arial Narrow"/>
            </a:endParaRPr>
          </a:p>
        </p:txBody>
      </p:sp>
      <p:cxnSp>
        <p:nvCxnSpPr>
          <p:cNvPr id="24" name="肘形连接符 23">
            <a:extLst>
              <a:ext uri="{FF2B5EF4-FFF2-40B4-BE49-F238E27FC236}">
                <a16:creationId xmlns:a16="http://schemas.microsoft.com/office/drawing/2014/main" id="{FE20E9B1-B03A-0749-AFAE-45A913BFEA07}"/>
              </a:ext>
            </a:extLst>
          </p:cNvPr>
          <p:cNvCxnSpPr>
            <a:cxnSpLocks/>
          </p:cNvCxnSpPr>
          <p:nvPr/>
        </p:nvCxnSpPr>
        <p:spPr>
          <a:xfrm rot="5400000">
            <a:off x="5135119" y="2408642"/>
            <a:ext cx="525874" cy="1948089"/>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肘形连接符 25">
            <a:extLst>
              <a:ext uri="{FF2B5EF4-FFF2-40B4-BE49-F238E27FC236}">
                <a16:creationId xmlns:a16="http://schemas.microsoft.com/office/drawing/2014/main" id="{5445CA85-69AD-7A40-88D2-0A9A5F961847}"/>
              </a:ext>
            </a:extLst>
          </p:cNvPr>
          <p:cNvCxnSpPr>
            <a:cxnSpLocks/>
            <a:endCxn id="13" idx="3"/>
          </p:cNvCxnSpPr>
          <p:nvPr/>
        </p:nvCxnSpPr>
        <p:spPr>
          <a:xfrm rot="10800000" flipV="1">
            <a:off x="4424014" y="3135979"/>
            <a:ext cx="2343940" cy="698304"/>
          </a:xfrm>
          <a:prstGeom prst="bentConnector3">
            <a:avLst>
              <a:gd name="adj1" fmla="val 409"/>
            </a:avLst>
          </a:prstGeom>
          <a:ln w="381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1" name="直线箭头连接符 30">
            <a:extLst>
              <a:ext uri="{FF2B5EF4-FFF2-40B4-BE49-F238E27FC236}">
                <a16:creationId xmlns:a16="http://schemas.microsoft.com/office/drawing/2014/main" id="{A547885A-D51D-DD44-8B14-44FB3B0E0AE2}"/>
              </a:ext>
            </a:extLst>
          </p:cNvPr>
          <p:cNvCxnSpPr/>
          <p:nvPr/>
        </p:nvCxnSpPr>
        <p:spPr>
          <a:xfrm flipV="1">
            <a:off x="3934453" y="3055462"/>
            <a:ext cx="0" cy="44371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线箭头连接符 31">
            <a:extLst>
              <a:ext uri="{FF2B5EF4-FFF2-40B4-BE49-F238E27FC236}">
                <a16:creationId xmlns:a16="http://schemas.microsoft.com/office/drawing/2014/main" id="{96A7D8E0-8324-AC4D-BF36-9E34C586951B}"/>
              </a:ext>
            </a:extLst>
          </p:cNvPr>
          <p:cNvCxnSpPr/>
          <p:nvPr/>
        </p:nvCxnSpPr>
        <p:spPr>
          <a:xfrm flipV="1">
            <a:off x="3423471" y="3069042"/>
            <a:ext cx="0" cy="443719"/>
          </a:xfrm>
          <a:prstGeom prst="straightConnector1">
            <a:avLst/>
          </a:prstGeom>
          <a:ln w="381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3" name="椭圆 32">
            <a:extLst>
              <a:ext uri="{FF2B5EF4-FFF2-40B4-BE49-F238E27FC236}">
                <a16:creationId xmlns:a16="http://schemas.microsoft.com/office/drawing/2014/main" id="{249B9C26-7ACC-CA43-A212-314D175EBDEF}"/>
              </a:ext>
            </a:extLst>
          </p:cNvPr>
          <p:cNvSpPr/>
          <p:nvPr/>
        </p:nvSpPr>
        <p:spPr>
          <a:xfrm>
            <a:off x="5199164" y="3279980"/>
            <a:ext cx="353318" cy="3600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35" name="椭圆 34">
            <a:extLst>
              <a:ext uri="{FF2B5EF4-FFF2-40B4-BE49-F238E27FC236}">
                <a16:creationId xmlns:a16="http://schemas.microsoft.com/office/drawing/2014/main" id="{10E8D67C-83BA-9E44-9889-D902DD4F871B}"/>
              </a:ext>
            </a:extLst>
          </p:cNvPr>
          <p:cNvSpPr/>
          <p:nvPr/>
        </p:nvSpPr>
        <p:spPr>
          <a:xfrm>
            <a:off x="3980113" y="3097301"/>
            <a:ext cx="353318" cy="3600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36" name="椭圆 35">
            <a:extLst>
              <a:ext uri="{FF2B5EF4-FFF2-40B4-BE49-F238E27FC236}">
                <a16:creationId xmlns:a16="http://schemas.microsoft.com/office/drawing/2014/main" id="{31378F70-B8E8-2C48-8FCD-FC33277B6A01}"/>
              </a:ext>
            </a:extLst>
          </p:cNvPr>
          <p:cNvSpPr/>
          <p:nvPr/>
        </p:nvSpPr>
        <p:spPr>
          <a:xfrm>
            <a:off x="2992000" y="3082974"/>
            <a:ext cx="353318" cy="3600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37" name="椭圆 36">
            <a:extLst>
              <a:ext uri="{FF2B5EF4-FFF2-40B4-BE49-F238E27FC236}">
                <a16:creationId xmlns:a16="http://schemas.microsoft.com/office/drawing/2014/main" id="{8BCCC4CD-5D20-9344-A161-57B1A0258656}"/>
              </a:ext>
            </a:extLst>
          </p:cNvPr>
          <p:cNvSpPr/>
          <p:nvPr/>
        </p:nvSpPr>
        <p:spPr>
          <a:xfrm>
            <a:off x="5199164" y="3894655"/>
            <a:ext cx="353318" cy="3600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38" name="文本框 37">
            <a:extLst>
              <a:ext uri="{FF2B5EF4-FFF2-40B4-BE49-F238E27FC236}">
                <a16:creationId xmlns:a16="http://schemas.microsoft.com/office/drawing/2014/main" id="{D1AC907F-50AC-B341-B110-6429065C9D5D}"/>
              </a:ext>
            </a:extLst>
          </p:cNvPr>
          <p:cNvSpPr txBox="1"/>
          <p:nvPr/>
        </p:nvSpPr>
        <p:spPr>
          <a:xfrm>
            <a:off x="5375823" y="4382708"/>
            <a:ext cx="3185487" cy="369332"/>
          </a:xfrm>
          <a:prstGeom prst="rect">
            <a:avLst/>
          </a:prstGeom>
          <a:noFill/>
        </p:spPr>
        <p:txBody>
          <a:bodyPr wrap="none" rtlCol="0">
            <a:spAutoFit/>
          </a:bodyPr>
          <a:lstStyle/>
          <a:p>
            <a:r>
              <a:rPr kumimoji="1" lang="zh-CN" altLang="en-US" dirty="0">
                <a:solidFill>
                  <a:srgbClr val="BE384B"/>
                </a:solidFill>
              </a:rPr>
              <a:t>思考：这种架构有什么缺点？</a:t>
            </a:r>
          </a:p>
        </p:txBody>
      </p:sp>
      <p:sp>
        <p:nvSpPr>
          <p:cNvPr id="3" name="文本框 2">
            <a:extLst>
              <a:ext uri="{FF2B5EF4-FFF2-40B4-BE49-F238E27FC236}">
                <a16:creationId xmlns:a16="http://schemas.microsoft.com/office/drawing/2014/main" id="{D563113B-E5D2-A64F-B159-8528121DBDA5}"/>
              </a:ext>
            </a:extLst>
          </p:cNvPr>
          <p:cNvSpPr txBox="1"/>
          <p:nvPr/>
        </p:nvSpPr>
        <p:spPr>
          <a:xfrm>
            <a:off x="3287747" y="3620203"/>
            <a:ext cx="1005403" cy="338554"/>
          </a:xfrm>
          <a:prstGeom prst="rect">
            <a:avLst/>
          </a:prstGeom>
          <a:noFill/>
          <a:ln>
            <a:solidFill>
              <a:schemeClr val="bg1"/>
            </a:solidFill>
          </a:ln>
        </p:spPr>
        <p:txBody>
          <a:bodyPr wrap="none" rtlCol="0">
            <a:spAutoFit/>
          </a:bodyPr>
          <a:lstStyle/>
          <a:p>
            <a:r>
              <a:rPr kumimoji="1" lang="zh-CN" altLang="en-US" sz="1600" dirty="0">
                <a:solidFill>
                  <a:schemeClr val="bg1"/>
                </a:solidFill>
              </a:rPr>
              <a:t>切换状态</a:t>
            </a:r>
          </a:p>
        </p:txBody>
      </p:sp>
      <p:graphicFrame>
        <p:nvGraphicFramePr>
          <p:cNvPr id="30" name="表格 29">
            <a:extLst>
              <a:ext uri="{FF2B5EF4-FFF2-40B4-BE49-F238E27FC236}">
                <a16:creationId xmlns:a16="http://schemas.microsoft.com/office/drawing/2014/main" id="{7987C6C2-951C-BC4E-BFAF-05345763D76A}"/>
              </a:ext>
            </a:extLst>
          </p:cNvPr>
          <p:cNvGraphicFramePr>
            <a:graphicFrameLocks noGrp="1"/>
          </p:cNvGraphicFramePr>
          <p:nvPr/>
        </p:nvGraphicFramePr>
        <p:xfrm>
          <a:off x="0" y="4585692"/>
          <a:ext cx="2711624" cy="1008113"/>
        </p:xfrm>
        <a:graphic>
          <a:graphicData uri="http://schemas.openxmlformats.org/drawingml/2006/table">
            <a:tbl>
              <a:tblPr firstRow="1" bandRow="1">
                <a:tableStyleId>{5C22544A-7EE6-4342-B048-85BDC9FD1C3A}</a:tableStyleId>
              </a:tblPr>
              <a:tblGrid>
                <a:gridCol w="1872208">
                  <a:extLst>
                    <a:ext uri="{9D8B030D-6E8A-4147-A177-3AD203B41FA5}">
                      <a16:colId xmlns:a16="http://schemas.microsoft.com/office/drawing/2014/main" val="490510203"/>
                    </a:ext>
                  </a:extLst>
                </a:gridCol>
                <a:gridCol w="839416">
                  <a:extLst>
                    <a:ext uri="{9D8B030D-6E8A-4147-A177-3AD203B41FA5}">
                      <a16:colId xmlns:a16="http://schemas.microsoft.com/office/drawing/2014/main" val="1598031696"/>
                    </a:ext>
                  </a:extLst>
                </a:gridCol>
              </a:tblGrid>
              <a:tr h="342071">
                <a:tc>
                  <a:txBody>
                    <a:bodyPr/>
                    <a:lstStyle/>
                    <a:p>
                      <a:pPr algn="ctr"/>
                      <a:r>
                        <a:rPr lang="zh-CN" altLang="en-US" sz="1400" dirty="0"/>
                        <a:t>部件</a:t>
                      </a:r>
                    </a:p>
                  </a:txBody>
                  <a:tcPr/>
                </a:tc>
                <a:tc>
                  <a:txBody>
                    <a:bodyPr/>
                    <a:lstStyle/>
                    <a:p>
                      <a:pPr algn="ctr"/>
                      <a:r>
                        <a:rPr lang="zh-CN" altLang="en-US" sz="1400" dirty="0"/>
                        <a:t>代码行</a:t>
                      </a:r>
                    </a:p>
                  </a:txBody>
                  <a:tcPr/>
                </a:tc>
                <a:extLst>
                  <a:ext uri="{0D108BD9-81ED-4DB2-BD59-A6C34878D82A}">
                    <a16:rowId xmlns:a16="http://schemas.microsoft.com/office/drawing/2014/main" val="1421592137"/>
                  </a:ext>
                </a:extLst>
              </a:tr>
              <a:tr h="323971">
                <a:tc>
                  <a:txBody>
                    <a:bodyPr/>
                    <a:lstStyle/>
                    <a:p>
                      <a:pPr algn="ctr"/>
                      <a:r>
                        <a:rPr lang="en-US" altLang="zh-CN" sz="1400" dirty="0">
                          <a:solidFill>
                            <a:srgbClr val="404040"/>
                          </a:solidFill>
                        </a:rPr>
                        <a:t>KVM/ARM</a:t>
                      </a:r>
                      <a:r>
                        <a:rPr lang="zh-CN" altLang="en-US" sz="1400" dirty="0">
                          <a:solidFill>
                            <a:srgbClr val="404040"/>
                          </a:solidFill>
                        </a:rPr>
                        <a:t> </a:t>
                      </a:r>
                      <a:r>
                        <a:rPr lang="en-US" altLang="zh-CN" sz="1400" dirty="0" err="1">
                          <a:solidFill>
                            <a:srgbClr val="404040"/>
                          </a:solidFill>
                        </a:rPr>
                        <a:t>Highvisor</a:t>
                      </a:r>
                      <a:endParaRPr lang="zh-CN" altLang="en-US" sz="1400" dirty="0">
                        <a:solidFill>
                          <a:srgbClr val="404040"/>
                        </a:solidFill>
                      </a:endParaRPr>
                    </a:p>
                  </a:txBody>
                  <a:tcPr/>
                </a:tc>
                <a:tc>
                  <a:txBody>
                    <a:bodyPr/>
                    <a:lstStyle/>
                    <a:p>
                      <a:pPr algn="ctr"/>
                      <a:r>
                        <a:rPr lang="en-US" altLang="zh-CN" sz="1400" dirty="0">
                          <a:solidFill>
                            <a:srgbClr val="404040"/>
                          </a:solidFill>
                        </a:rPr>
                        <a:t>5094</a:t>
                      </a:r>
                      <a:endParaRPr lang="zh-CN" altLang="en-US" sz="1400" dirty="0">
                        <a:solidFill>
                          <a:srgbClr val="404040"/>
                        </a:solidFill>
                      </a:endParaRPr>
                    </a:p>
                  </a:txBody>
                  <a:tcPr/>
                </a:tc>
                <a:extLst>
                  <a:ext uri="{0D108BD9-81ED-4DB2-BD59-A6C34878D82A}">
                    <a16:rowId xmlns:a16="http://schemas.microsoft.com/office/drawing/2014/main" val="3143708669"/>
                  </a:ext>
                </a:extLst>
              </a:tr>
              <a:tr h="342071">
                <a:tc>
                  <a:txBody>
                    <a:bodyPr/>
                    <a:lstStyle/>
                    <a:p>
                      <a:pPr algn="ctr"/>
                      <a:r>
                        <a:rPr lang="en-US" altLang="zh-CN" sz="1400" dirty="0">
                          <a:solidFill>
                            <a:srgbClr val="404040"/>
                          </a:solidFill>
                        </a:rPr>
                        <a:t>KVM/ARM</a:t>
                      </a:r>
                      <a:r>
                        <a:rPr lang="zh-CN" altLang="en-US" sz="1400" dirty="0">
                          <a:solidFill>
                            <a:srgbClr val="404040"/>
                          </a:solidFill>
                        </a:rPr>
                        <a:t> </a:t>
                      </a:r>
                      <a:r>
                        <a:rPr lang="en-US" altLang="zh-CN" sz="1400" dirty="0" err="1">
                          <a:solidFill>
                            <a:srgbClr val="404040"/>
                          </a:solidFill>
                        </a:rPr>
                        <a:t>Lowvisor</a:t>
                      </a:r>
                      <a:endParaRPr lang="zh-CN" altLang="en-US" sz="1400" dirty="0">
                        <a:solidFill>
                          <a:srgbClr val="404040"/>
                        </a:solidFill>
                      </a:endParaRPr>
                    </a:p>
                  </a:txBody>
                  <a:tcPr/>
                </a:tc>
                <a:tc>
                  <a:txBody>
                    <a:bodyPr/>
                    <a:lstStyle/>
                    <a:p>
                      <a:pPr algn="ctr"/>
                      <a:r>
                        <a:rPr lang="en-US" altLang="zh-CN" sz="1400" dirty="0">
                          <a:solidFill>
                            <a:srgbClr val="404040"/>
                          </a:solidFill>
                        </a:rPr>
                        <a:t>718</a:t>
                      </a:r>
                      <a:endParaRPr lang="zh-CN" altLang="en-US" sz="1400" dirty="0">
                        <a:solidFill>
                          <a:srgbClr val="404040"/>
                        </a:solidFill>
                      </a:endParaRPr>
                    </a:p>
                  </a:txBody>
                  <a:tcPr/>
                </a:tc>
                <a:extLst>
                  <a:ext uri="{0D108BD9-81ED-4DB2-BD59-A6C34878D82A}">
                    <a16:rowId xmlns:a16="http://schemas.microsoft.com/office/drawing/2014/main" val="265216975"/>
                  </a:ext>
                </a:extLst>
              </a:tr>
            </a:tbl>
          </a:graphicData>
        </a:graphic>
      </p:graphicFrame>
    </p:spTree>
    <p:extLst>
      <p:ext uri="{BB962C8B-B14F-4D97-AF65-F5344CB8AC3E}">
        <p14:creationId xmlns:p14="http://schemas.microsoft.com/office/powerpoint/2010/main" val="4106037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5" grpId="0" animBg="1"/>
      <p:bldP spid="36" grpId="0" animBg="1"/>
      <p:bldP spid="37" grpId="0" animBg="1"/>
      <p:bldP spid="38" grpId="0"/>
      <p:bldP spid="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E685C6-3350-7A43-824B-C72B68A18DD8}"/>
              </a:ext>
            </a:extLst>
          </p:cNvPr>
          <p:cNvSpPr>
            <a:spLocks noGrp="1"/>
          </p:cNvSpPr>
          <p:nvPr>
            <p:ph type="title"/>
          </p:nvPr>
        </p:nvSpPr>
        <p:spPr/>
        <p:txBody>
          <a:bodyPr/>
          <a:lstStyle/>
          <a:p>
            <a:r>
              <a:rPr kumimoji="1" lang="en-US" altLang="zh-CN" dirty="0"/>
              <a:t>ARMv8.1</a:t>
            </a:r>
            <a:r>
              <a:rPr kumimoji="1" lang="zh-CN" altLang="en-US" dirty="0"/>
              <a:t>中的</a:t>
            </a:r>
            <a:r>
              <a:rPr kumimoji="1" lang="en-US" altLang="zh-CN" dirty="0"/>
              <a:t>Type-2</a:t>
            </a:r>
            <a:r>
              <a:rPr kumimoji="1" lang="zh-CN" altLang="en-US" dirty="0"/>
              <a:t> </a:t>
            </a:r>
            <a:r>
              <a:rPr kumimoji="1" lang="en-US" altLang="zh-CN" dirty="0"/>
              <a:t>VMM</a:t>
            </a:r>
            <a:r>
              <a:rPr kumimoji="1" lang="zh-CN" altLang="en-US" dirty="0"/>
              <a:t>架构</a:t>
            </a:r>
          </a:p>
        </p:txBody>
      </p:sp>
      <p:sp>
        <p:nvSpPr>
          <p:cNvPr id="3" name="内容占位符 2">
            <a:extLst>
              <a:ext uri="{FF2B5EF4-FFF2-40B4-BE49-F238E27FC236}">
                <a16:creationId xmlns:a16="http://schemas.microsoft.com/office/drawing/2014/main" id="{AF544612-1F63-404D-A51C-FB5942B445F7}"/>
              </a:ext>
            </a:extLst>
          </p:cNvPr>
          <p:cNvSpPr>
            <a:spLocks noGrp="1"/>
          </p:cNvSpPr>
          <p:nvPr>
            <p:ph idx="1"/>
          </p:nvPr>
        </p:nvSpPr>
        <p:spPr/>
        <p:txBody>
          <a:bodyPr/>
          <a:lstStyle/>
          <a:p>
            <a:r>
              <a:rPr kumimoji="1" lang="en-US" altLang="zh-CN" dirty="0"/>
              <a:t>ARMv8.1</a:t>
            </a:r>
          </a:p>
          <a:p>
            <a:pPr lvl="1"/>
            <a:r>
              <a:rPr kumimoji="1" lang="zh-CN" altLang="en-US" dirty="0"/>
              <a:t>推出</a:t>
            </a:r>
            <a:r>
              <a:rPr kumimoji="1" lang="en-US" altLang="zh-CN" dirty="0"/>
              <a:t>Virtualization</a:t>
            </a:r>
            <a:r>
              <a:rPr kumimoji="1" lang="zh-CN" altLang="en-US" dirty="0"/>
              <a:t> </a:t>
            </a:r>
            <a:r>
              <a:rPr kumimoji="1" lang="en-US" altLang="zh-CN" dirty="0"/>
              <a:t>Host</a:t>
            </a:r>
            <a:r>
              <a:rPr kumimoji="1" lang="zh-CN" altLang="en-US" dirty="0"/>
              <a:t> </a:t>
            </a:r>
            <a:r>
              <a:rPr kumimoji="1" lang="en-US" altLang="zh-CN" dirty="0"/>
              <a:t>Extensions(VHE)</a:t>
            </a:r>
            <a:r>
              <a:rPr kumimoji="1" lang="zh-CN" altLang="en-US" dirty="0"/>
              <a:t>，在</a:t>
            </a:r>
            <a:r>
              <a:rPr kumimoji="1" lang="en-US" altLang="zh-CN" dirty="0"/>
              <a:t>HCR_EL2.E2H</a:t>
            </a:r>
            <a:r>
              <a:rPr kumimoji="1" lang="zh-CN" altLang="en-US" dirty="0"/>
              <a:t>打开</a:t>
            </a:r>
            <a:endParaRPr kumimoji="1" lang="en-US" altLang="zh-CN" dirty="0"/>
          </a:p>
          <a:p>
            <a:pPr lvl="2"/>
            <a:r>
              <a:rPr kumimoji="1" lang="zh-CN" altLang="en-US" dirty="0"/>
              <a:t>寄存器映射</a:t>
            </a:r>
            <a:endParaRPr kumimoji="1" lang="en-US" altLang="zh-CN" dirty="0"/>
          </a:p>
          <a:p>
            <a:pPr lvl="2"/>
            <a:r>
              <a:rPr kumimoji="1" lang="zh-CN" altLang="en-US" dirty="0"/>
              <a:t>允许与</a:t>
            </a:r>
            <a:r>
              <a:rPr kumimoji="1" lang="en-US" altLang="zh-CN" dirty="0"/>
              <a:t>EL0</a:t>
            </a:r>
            <a:r>
              <a:rPr kumimoji="1" lang="zh-CN" altLang="en-US" dirty="0"/>
              <a:t>共享内存</a:t>
            </a:r>
            <a:endParaRPr kumimoji="1" lang="en-US" altLang="zh-CN" dirty="0"/>
          </a:p>
          <a:p>
            <a:pPr lvl="1"/>
            <a:r>
              <a:rPr kumimoji="1" lang="zh-CN" altLang="en-US" dirty="0"/>
              <a:t>使</a:t>
            </a:r>
            <a:r>
              <a:rPr kumimoji="1" lang="en-US" altLang="zh-CN" dirty="0"/>
              <a:t>EL2</a:t>
            </a:r>
            <a:r>
              <a:rPr kumimoji="1" lang="zh-CN" altLang="en-US" dirty="0"/>
              <a:t>中可直接运行未修改的操作系统内核（</a:t>
            </a:r>
            <a:r>
              <a:rPr kumimoji="1" lang="en-US" altLang="zh-CN" dirty="0"/>
              <a:t>Host</a:t>
            </a:r>
            <a:r>
              <a:rPr kumimoji="1" lang="zh-CN" altLang="en-US" dirty="0"/>
              <a:t> </a:t>
            </a:r>
            <a:r>
              <a:rPr kumimoji="1" lang="en-US" altLang="zh-CN" dirty="0"/>
              <a:t>OS</a:t>
            </a:r>
            <a:r>
              <a:rPr kumimoji="1" lang="zh-CN" altLang="en-US" dirty="0"/>
              <a:t>）</a:t>
            </a:r>
            <a:endParaRPr kumimoji="1" lang="en-US" altLang="zh-CN" dirty="0"/>
          </a:p>
          <a:p>
            <a:endParaRPr kumimoji="1" lang="zh-CN" altLang="en-US" dirty="0"/>
          </a:p>
        </p:txBody>
      </p:sp>
      <p:sp>
        <p:nvSpPr>
          <p:cNvPr id="4" name="灯片编号占位符 3">
            <a:extLst>
              <a:ext uri="{FF2B5EF4-FFF2-40B4-BE49-F238E27FC236}">
                <a16:creationId xmlns:a16="http://schemas.microsoft.com/office/drawing/2014/main" id="{EA69478A-097B-5444-9933-E1AFA1AE1F66}"/>
              </a:ext>
            </a:extLst>
          </p:cNvPr>
          <p:cNvSpPr>
            <a:spLocks noGrp="1"/>
          </p:cNvSpPr>
          <p:nvPr>
            <p:ph type="sldNum" sz="quarter" idx="12"/>
          </p:nvPr>
        </p:nvSpPr>
        <p:spPr/>
        <p:txBody>
          <a:bodyPr/>
          <a:lstStyle/>
          <a:p>
            <a:fld id="{ADE361C3-C043-4A6E-BDCE-8DA1E7D90A3B}" type="slidenum">
              <a:rPr lang="zh-CN" altLang="en-US" smtClean="0"/>
              <a:t>35</a:t>
            </a:fld>
            <a:endParaRPr lang="zh-CN" altLang="en-US"/>
          </a:p>
        </p:txBody>
      </p:sp>
      <p:sp>
        <p:nvSpPr>
          <p:cNvPr id="5" name="页脚占位符 4">
            <a:extLst>
              <a:ext uri="{FF2B5EF4-FFF2-40B4-BE49-F238E27FC236}">
                <a16:creationId xmlns:a16="http://schemas.microsoft.com/office/drawing/2014/main" id="{61192988-2588-FF4A-A683-4513AF8B0440}"/>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7" name="图片 6">
            <a:extLst>
              <a:ext uri="{FF2B5EF4-FFF2-40B4-BE49-F238E27FC236}">
                <a16:creationId xmlns:a16="http://schemas.microsoft.com/office/drawing/2014/main" id="{D238AD4D-44AD-A046-815A-04883ED2609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99592" y="3865612"/>
            <a:ext cx="7668344" cy="1177508"/>
          </a:xfrm>
          <a:prstGeom prst="rect">
            <a:avLst/>
          </a:prstGeom>
        </p:spPr>
      </p:pic>
      <p:sp>
        <p:nvSpPr>
          <p:cNvPr id="8" name="文本框 7">
            <a:extLst>
              <a:ext uri="{FF2B5EF4-FFF2-40B4-BE49-F238E27FC236}">
                <a16:creationId xmlns:a16="http://schemas.microsoft.com/office/drawing/2014/main" id="{3D0F0B31-A8F7-DB41-846C-AC891200A5EF}"/>
              </a:ext>
            </a:extLst>
          </p:cNvPr>
          <p:cNvSpPr txBox="1"/>
          <p:nvPr/>
        </p:nvSpPr>
        <p:spPr>
          <a:xfrm>
            <a:off x="-22516" y="5438001"/>
            <a:ext cx="2765052" cy="276999"/>
          </a:xfrm>
          <a:prstGeom prst="rect">
            <a:avLst/>
          </a:prstGeom>
          <a:noFill/>
        </p:spPr>
        <p:txBody>
          <a:bodyPr wrap="none" rtlCol="0">
            <a:spAutoFit/>
          </a:bodyPr>
          <a:lstStyle/>
          <a:p>
            <a:r>
              <a:rPr kumimoji="1" lang="zh-CN" altLang="en-US" sz="1200" dirty="0">
                <a:solidFill>
                  <a:schemeClr val="tx1">
                    <a:lumMod val="65000"/>
                    <a:lumOff val="35000"/>
                  </a:schemeClr>
                </a:solidFill>
              </a:rPr>
              <a:t>图片来自于</a:t>
            </a:r>
            <a:r>
              <a:rPr kumimoji="1" lang="en-US" altLang="zh-CN" sz="1200" dirty="0">
                <a:solidFill>
                  <a:schemeClr val="tx1">
                    <a:lumMod val="65000"/>
                    <a:lumOff val="35000"/>
                  </a:schemeClr>
                </a:solidFill>
              </a:rPr>
              <a:t>https://</a:t>
            </a:r>
            <a:r>
              <a:rPr kumimoji="1" lang="en-US" altLang="zh-CN" sz="1200" dirty="0" err="1">
                <a:solidFill>
                  <a:schemeClr val="tx1">
                    <a:lumMod val="65000"/>
                    <a:lumOff val="35000"/>
                  </a:schemeClr>
                </a:solidFill>
              </a:rPr>
              <a:t>developer.arm.com</a:t>
            </a:r>
            <a:r>
              <a:rPr kumimoji="1" lang="en-US" altLang="zh-CN" sz="1200" dirty="0">
                <a:solidFill>
                  <a:schemeClr val="tx1">
                    <a:lumMod val="65000"/>
                    <a:lumOff val="35000"/>
                  </a:schemeClr>
                </a:solidFill>
              </a:rPr>
              <a:t>/</a:t>
            </a:r>
            <a:endParaRPr kumimoji="1" lang="zh-CN" altLang="en-US" sz="1200" dirty="0">
              <a:solidFill>
                <a:schemeClr val="tx1">
                  <a:lumMod val="65000"/>
                  <a:lumOff val="35000"/>
                </a:schemeClr>
              </a:solidFill>
            </a:endParaRPr>
          </a:p>
        </p:txBody>
      </p:sp>
    </p:spTree>
    <p:extLst>
      <p:ext uri="{BB962C8B-B14F-4D97-AF65-F5344CB8AC3E}">
        <p14:creationId xmlns:p14="http://schemas.microsoft.com/office/powerpoint/2010/main" val="16402739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E685C6-3350-7A43-824B-C72B68A18DD8}"/>
              </a:ext>
            </a:extLst>
          </p:cNvPr>
          <p:cNvSpPr>
            <a:spLocks noGrp="1"/>
          </p:cNvSpPr>
          <p:nvPr>
            <p:ph type="title"/>
          </p:nvPr>
        </p:nvSpPr>
        <p:spPr/>
        <p:txBody>
          <a:bodyPr/>
          <a:lstStyle/>
          <a:p>
            <a:r>
              <a:rPr kumimoji="1" lang="en-US" altLang="zh-CN" dirty="0"/>
              <a:t>ARMv8.1</a:t>
            </a:r>
            <a:r>
              <a:rPr kumimoji="1" lang="zh-CN" altLang="en-US" dirty="0"/>
              <a:t>中的</a:t>
            </a:r>
            <a:r>
              <a:rPr kumimoji="1" lang="en-US" altLang="zh-CN" dirty="0"/>
              <a:t>Type-2</a:t>
            </a:r>
            <a:r>
              <a:rPr kumimoji="1" lang="zh-CN" altLang="en-US" dirty="0"/>
              <a:t> </a:t>
            </a:r>
            <a:r>
              <a:rPr kumimoji="1" lang="en-US" altLang="zh-CN" dirty="0"/>
              <a:t>VMM</a:t>
            </a:r>
            <a:r>
              <a:rPr kumimoji="1" lang="zh-CN" altLang="en-US" dirty="0"/>
              <a:t>架构</a:t>
            </a:r>
          </a:p>
        </p:txBody>
      </p:sp>
      <p:sp>
        <p:nvSpPr>
          <p:cNvPr id="4" name="灯片编号占位符 3">
            <a:extLst>
              <a:ext uri="{FF2B5EF4-FFF2-40B4-BE49-F238E27FC236}">
                <a16:creationId xmlns:a16="http://schemas.microsoft.com/office/drawing/2014/main" id="{EA69478A-097B-5444-9933-E1AFA1AE1F66}"/>
              </a:ext>
            </a:extLst>
          </p:cNvPr>
          <p:cNvSpPr>
            <a:spLocks noGrp="1"/>
          </p:cNvSpPr>
          <p:nvPr>
            <p:ph type="sldNum" sz="quarter" idx="12"/>
          </p:nvPr>
        </p:nvSpPr>
        <p:spPr/>
        <p:txBody>
          <a:bodyPr/>
          <a:lstStyle/>
          <a:p>
            <a:fld id="{ADE361C3-C043-4A6E-BDCE-8DA1E7D90A3B}" type="slidenum">
              <a:rPr lang="zh-CN" altLang="en-US" smtClean="0"/>
              <a:t>36</a:t>
            </a:fld>
            <a:endParaRPr lang="zh-CN" altLang="en-US"/>
          </a:p>
        </p:txBody>
      </p:sp>
      <p:sp>
        <p:nvSpPr>
          <p:cNvPr id="5" name="页脚占位符 4">
            <a:extLst>
              <a:ext uri="{FF2B5EF4-FFF2-40B4-BE49-F238E27FC236}">
                <a16:creationId xmlns:a16="http://schemas.microsoft.com/office/drawing/2014/main" id="{61192988-2588-FF4A-A683-4513AF8B0440}"/>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8" name="Rectangle 22">
            <a:extLst>
              <a:ext uri="{FF2B5EF4-FFF2-40B4-BE49-F238E27FC236}">
                <a16:creationId xmlns:a16="http://schemas.microsoft.com/office/drawing/2014/main" id="{ED0CFC21-A66D-AA45-A201-05E3AEBC4B10}"/>
              </a:ext>
            </a:extLst>
          </p:cNvPr>
          <p:cNvSpPr/>
          <p:nvPr/>
        </p:nvSpPr>
        <p:spPr>
          <a:xfrm>
            <a:off x="1810847" y="3741374"/>
            <a:ext cx="2636232" cy="670204"/>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b" anchorCtr="0"/>
          <a:lstStyle/>
          <a:p>
            <a:r>
              <a:rPr lang="en-US" altLang="zh-CN" sz="1600" dirty="0">
                <a:solidFill>
                  <a:srgbClr val="BE384B"/>
                </a:solidFill>
                <a:cs typeface="Arial Narrow"/>
              </a:rPr>
              <a:t>Host</a:t>
            </a:r>
            <a:r>
              <a:rPr lang="zh-CN" altLang="en-US" sz="1600" dirty="0">
                <a:solidFill>
                  <a:srgbClr val="BE384B"/>
                </a:solidFill>
                <a:cs typeface="Arial Narrow"/>
              </a:rPr>
              <a:t> </a:t>
            </a:r>
            <a:r>
              <a:rPr lang="en-US" altLang="zh-CN" sz="1600" dirty="0">
                <a:solidFill>
                  <a:srgbClr val="BE384B"/>
                </a:solidFill>
                <a:cs typeface="Arial Narrow"/>
              </a:rPr>
              <a:t>OS</a:t>
            </a:r>
            <a:endParaRPr lang="en-US" sz="1600" dirty="0">
              <a:solidFill>
                <a:srgbClr val="BE384B"/>
              </a:solidFill>
              <a:cs typeface="Arial Narrow"/>
            </a:endParaRPr>
          </a:p>
        </p:txBody>
      </p:sp>
      <p:sp>
        <p:nvSpPr>
          <p:cNvPr id="9" name="Rectangle 27">
            <a:extLst>
              <a:ext uri="{FF2B5EF4-FFF2-40B4-BE49-F238E27FC236}">
                <a16:creationId xmlns:a16="http://schemas.microsoft.com/office/drawing/2014/main" id="{D87BD6A2-09EC-714D-A0C8-618560403424}"/>
              </a:ext>
            </a:extLst>
          </p:cNvPr>
          <p:cNvSpPr/>
          <p:nvPr/>
        </p:nvSpPr>
        <p:spPr>
          <a:xfrm>
            <a:off x="1777257" y="1833870"/>
            <a:ext cx="2636232" cy="670202"/>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rgbClr val="BE384B"/>
                </a:solidFill>
                <a:cs typeface="Arial Narrow"/>
              </a:rPr>
              <a:t>Processes</a:t>
            </a:r>
            <a:endParaRPr lang="en-US" sz="1600" dirty="0">
              <a:solidFill>
                <a:srgbClr val="BE384B"/>
              </a:solidFill>
              <a:cs typeface="Arial Narrow"/>
            </a:endParaRPr>
          </a:p>
        </p:txBody>
      </p:sp>
      <p:cxnSp>
        <p:nvCxnSpPr>
          <p:cNvPr id="10" name="Straight Connector 13">
            <a:extLst>
              <a:ext uri="{FF2B5EF4-FFF2-40B4-BE49-F238E27FC236}">
                <a16:creationId xmlns:a16="http://schemas.microsoft.com/office/drawing/2014/main" id="{A9836340-78EC-C14F-9325-7627D3246CC6}"/>
              </a:ext>
            </a:extLst>
          </p:cNvPr>
          <p:cNvCxnSpPr>
            <a:cxnSpLocks/>
          </p:cNvCxnSpPr>
          <p:nvPr/>
        </p:nvCxnSpPr>
        <p:spPr>
          <a:xfrm>
            <a:off x="1134131" y="3669487"/>
            <a:ext cx="6801770" cy="0"/>
          </a:xfrm>
          <a:prstGeom prst="line">
            <a:avLst/>
          </a:prstGeom>
          <a:ln>
            <a:solidFill>
              <a:srgbClr val="BE384B"/>
            </a:solidFill>
          </a:ln>
          <a:effectLst/>
        </p:spPr>
        <p:style>
          <a:lnRef idx="2">
            <a:schemeClr val="accent1"/>
          </a:lnRef>
          <a:fillRef idx="0">
            <a:schemeClr val="accent1"/>
          </a:fillRef>
          <a:effectRef idx="1">
            <a:schemeClr val="accent1"/>
          </a:effectRef>
          <a:fontRef idx="minor">
            <a:schemeClr val="tx1"/>
          </a:fontRef>
        </p:style>
      </p:cxnSp>
      <p:sp>
        <p:nvSpPr>
          <p:cNvPr id="11" name="文本框 10">
            <a:extLst>
              <a:ext uri="{FF2B5EF4-FFF2-40B4-BE49-F238E27FC236}">
                <a16:creationId xmlns:a16="http://schemas.microsoft.com/office/drawing/2014/main" id="{5A43794A-090C-A640-8423-A7EC15C00428}"/>
              </a:ext>
            </a:extLst>
          </p:cNvPr>
          <p:cNvSpPr txBox="1"/>
          <p:nvPr/>
        </p:nvSpPr>
        <p:spPr>
          <a:xfrm>
            <a:off x="1003343" y="2841053"/>
            <a:ext cx="807505" cy="501210"/>
          </a:xfrm>
          <a:prstGeom prst="rect">
            <a:avLst/>
          </a:prstGeom>
          <a:noFill/>
        </p:spPr>
        <p:txBody>
          <a:bodyPr wrap="none" rtlCol="0">
            <a:spAutoFit/>
          </a:bodyPr>
          <a:lstStyle/>
          <a:p>
            <a:r>
              <a:rPr kumimoji="1" lang="en-US" altLang="zh-CN" dirty="0"/>
              <a:t>EL1</a:t>
            </a:r>
            <a:endParaRPr kumimoji="1" lang="zh-CN" altLang="en-US" dirty="0"/>
          </a:p>
        </p:txBody>
      </p:sp>
      <p:sp>
        <p:nvSpPr>
          <p:cNvPr id="12" name="文本框 11">
            <a:extLst>
              <a:ext uri="{FF2B5EF4-FFF2-40B4-BE49-F238E27FC236}">
                <a16:creationId xmlns:a16="http://schemas.microsoft.com/office/drawing/2014/main" id="{CE9C5242-F020-4D4C-99F1-51A356683269}"/>
              </a:ext>
            </a:extLst>
          </p:cNvPr>
          <p:cNvSpPr txBox="1"/>
          <p:nvPr/>
        </p:nvSpPr>
        <p:spPr>
          <a:xfrm>
            <a:off x="1003343" y="1967440"/>
            <a:ext cx="807505" cy="501210"/>
          </a:xfrm>
          <a:prstGeom prst="rect">
            <a:avLst/>
          </a:prstGeom>
          <a:noFill/>
        </p:spPr>
        <p:txBody>
          <a:bodyPr wrap="none" rtlCol="0">
            <a:spAutoFit/>
          </a:bodyPr>
          <a:lstStyle/>
          <a:p>
            <a:r>
              <a:rPr kumimoji="1" lang="en-US" altLang="zh-CN" dirty="0"/>
              <a:t>EL0</a:t>
            </a:r>
            <a:endParaRPr kumimoji="1" lang="zh-CN" altLang="en-US" dirty="0"/>
          </a:p>
        </p:txBody>
      </p:sp>
      <p:sp>
        <p:nvSpPr>
          <p:cNvPr id="14" name="文本框 13">
            <a:extLst>
              <a:ext uri="{FF2B5EF4-FFF2-40B4-BE49-F238E27FC236}">
                <a16:creationId xmlns:a16="http://schemas.microsoft.com/office/drawing/2014/main" id="{A2467E5C-738B-A940-B672-F82BE0C879EE}"/>
              </a:ext>
            </a:extLst>
          </p:cNvPr>
          <p:cNvSpPr txBox="1"/>
          <p:nvPr/>
        </p:nvSpPr>
        <p:spPr>
          <a:xfrm>
            <a:off x="1003342" y="3851453"/>
            <a:ext cx="807505" cy="501210"/>
          </a:xfrm>
          <a:prstGeom prst="rect">
            <a:avLst/>
          </a:prstGeom>
          <a:noFill/>
        </p:spPr>
        <p:txBody>
          <a:bodyPr wrap="none" rtlCol="0">
            <a:spAutoFit/>
          </a:bodyPr>
          <a:lstStyle/>
          <a:p>
            <a:r>
              <a:rPr kumimoji="1" lang="en-US" altLang="zh-CN" dirty="0"/>
              <a:t>EL2</a:t>
            </a:r>
            <a:endParaRPr kumimoji="1" lang="zh-CN" altLang="en-US" dirty="0"/>
          </a:p>
        </p:txBody>
      </p:sp>
      <p:sp>
        <p:nvSpPr>
          <p:cNvPr id="15" name="文本框 14">
            <a:extLst>
              <a:ext uri="{FF2B5EF4-FFF2-40B4-BE49-F238E27FC236}">
                <a16:creationId xmlns:a16="http://schemas.microsoft.com/office/drawing/2014/main" id="{120C1F04-C251-8145-A264-1D282DD5FCC1}"/>
              </a:ext>
            </a:extLst>
          </p:cNvPr>
          <p:cNvSpPr txBox="1"/>
          <p:nvPr/>
        </p:nvSpPr>
        <p:spPr>
          <a:xfrm>
            <a:off x="2689671" y="1447742"/>
            <a:ext cx="723275" cy="369332"/>
          </a:xfrm>
          <a:prstGeom prst="rect">
            <a:avLst/>
          </a:prstGeom>
          <a:noFill/>
        </p:spPr>
        <p:txBody>
          <a:bodyPr wrap="none" rtlCol="0">
            <a:spAutoFit/>
          </a:bodyPr>
          <a:lstStyle/>
          <a:p>
            <a:r>
              <a:rPr kumimoji="1" lang="en-US" altLang="zh-CN" dirty="0"/>
              <a:t>VMM</a:t>
            </a:r>
            <a:endParaRPr kumimoji="1" lang="zh-CN" altLang="en-US" dirty="0"/>
          </a:p>
        </p:txBody>
      </p:sp>
      <p:sp>
        <p:nvSpPr>
          <p:cNvPr id="16" name="Rectangle 22">
            <a:extLst>
              <a:ext uri="{FF2B5EF4-FFF2-40B4-BE49-F238E27FC236}">
                <a16:creationId xmlns:a16="http://schemas.microsoft.com/office/drawing/2014/main" id="{DE1EAA50-3EE7-BD48-A5A5-CE58DC99FF01}"/>
              </a:ext>
            </a:extLst>
          </p:cNvPr>
          <p:cNvSpPr/>
          <p:nvPr/>
        </p:nvSpPr>
        <p:spPr>
          <a:xfrm>
            <a:off x="4961951" y="2723561"/>
            <a:ext cx="2636232" cy="670204"/>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pPr algn="r"/>
            <a:r>
              <a:rPr lang="en-US" altLang="zh-CN" sz="1600" dirty="0">
                <a:solidFill>
                  <a:srgbClr val="BE384B"/>
                </a:solidFill>
                <a:cs typeface="Arial Narrow"/>
              </a:rPr>
              <a:t>OS</a:t>
            </a:r>
            <a:r>
              <a:rPr lang="zh-CN" altLang="en-US" sz="1600" dirty="0">
                <a:solidFill>
                  <a:srgbClr val="BE384B"/>
                </a:solidFill>
                <a:cs typeface="Arial Narrow"/>
              </a:rPr>
              <a:t> </a:t>
            </a:r>
            <a:r>
              <a:rPr lang="en-US" altLang="zh-CN" sz="1600" dirty="0">
                <a:solidFill>
                  <a:srgbClr val="BE384B"/>
                </a:solidFill>
                <a:cs typeface="Arial Narrow"/>
              </a:rPr>
              <a:t>Kernel</a:t>
            </a:r>
            <a:endParaRPr lang="en-US" sz="1600" dirty="0">
              <a:solidFill>
                <a:srgbClr val="BE384B"/>
              </a:solidFill>
              <a:cs typeface="Arial Narrow"/>
            </a:endParaRPr>
          </a:p>
        </p:txBody>
      </p:sp>
      <p:sp>
        <p:nvSpPr>
          <p:cNvPr id="17" name="Rectangle 27">
            <a:extLst>
              <a:ext uri="{FF2B5EF4-FFF2-40B4-BE49-F238E27FC236}">
                <a16:creationId xmlns:a16="http://schemas.microsoft.com/office/drawing/2014/main" id="{6B78C15D-9092-ED4E-9535-43F24F67DD44}"/>
              </a:ext>
            </a:extLst>
          </p:cNvPr>
          <p:cNvSpPr/>
          <p:nvPr/>
        </p:nvSpPr>
        <p:spPr>
          <a:xfrm>
            <a:off x="4959708" y="1814598"/>
            <a:ext cx="2636232" cy="670202"/>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rgbClr val="BE384B"/>
                </a:solidFill>
                <a:cs typeface="Arial Narrow"/>
              </a:rPr>
              <a:t>Processes</a:t>
            </a:r>
            <a:endParaRPr lang="en-US" sz="1600" dirty="0">
              <a:solidFill>
                <a:srgbClr val="BE384B"/>
              </a:solidFill>
              <a:cs typeface="Arial Narrow"/>
            </a:endParaRPr>
          </a:p>
        </p:txBody>
      </p:sp>
      <p:sp>
        <p:nvSpPr>
          <p:cNvPr id="18" name="圆角矩形 17">
            <a:extLst>
              <a:ext uri="{FF2B5EF4-FFF2-40B4-BE49-F238E27FC236}">
                <a16:creationId xmlns:a16="http://schemas.microsoft.com/office/drawing/2014/main" id="{A2D00EBB-6D41-2E48-9A46-A80B1865242A}"/>
              </a:ext>
            </a:extLst>
          </p:cNvPr>
          <p:cNvSpPr/>
          <p:nvPr/>
        </p:nvSpPr>
        <p:spPr>
          <a:xfrm>
            <a:off x="4812023" y="1416110"/>
            <a:ext cx="2931601" cy="2085766"/>
          </a:xfrm>
          <a:prstGeom prst="roundRect">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9" name="文本框 18">
            <a:extLst>
              <a:ext uri="{FF2B5EF4-FFF2-40B4-BE49-F238E27FC236}">
                <a16:creationId xmlns:a16="http://schemas.microsoft.com/office/drawing/2014/main" id="{5F21322D-728B-8545-8A9F-25CD67A08D77}"/>
              </a:ext>
            </a:extLst>
          </p:cNvPr>
          <p:cNvSpPr txBox="1"/>
          <p:nvPr/>
        </p:nvSpPr>
        <p:spPr>
          <a:xfrm>
            <a:off x="5985301" y="1437088"/>
            <a:ext cx="530915" cy="369332"/>
          </a:xfrm>
          <a:prstGeom prst="rect">
            <a:avLst/>
          </a:prstGeom>
          <a:noFill/>
        </p:spPr>
        <p:txBody>
          <a:bodyPr wrap="none" rtlCol="0">
            <a:spAutoFit/>
          </a:bodyPr>
          <a:lstStyle/>
          <a:p>
            <a:r>
              <a:rPr kumimoji="1" lang="en-US" altLang="zh-CN" dirty="0"/>
              <a:t>VM</a:t>
            </a:r>
            <a:endParaRPr kumimoji="1" lang="zh-CN" altLang="en-US" dirty="0"/>
          </a:p>
        </p:txBody>
      </p:sp>
      <p:sp>
        <p:nvSpPr>
          <p:cNvPr id="20" name="圆角矩形 19">
            <a:extLst>
              <a:ext uri="{FF2B5EF4-FFF2-40B4-BE49-F238E27FC236}">
                <a16:creationId xmlns:a16="http://schemas.microsoft.com/office/drawing/2014/main" id="{2417631C-4531-CF46-A268-F184A61B558A}"/>
              </a:ext>
            </a:extLst>
          </p:cNvPr>
          <p:cNvSpPr/>
          <p:nvPr/>
        </p:nvSpPr>
        <p:spPr>
          <a:xfrm>
            <a:off x="1681155" y="1416109"/>
            <a:ext cx="2931601" cy="3313593"/>
          </a:xfrm>
          <a:prstGeom prst="roundRect">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1" name="Rectangle 22">
            <a:extLst>
              <a:ext uri="{FF2B5EF4-FFF2-40B4-BE49-F238E27FC236}">
                <a16:creationId xmlns:a16="http://schemas.microsoft.com/office/drawing/2014/main" id="{7D135709-8991-8243-A064-BD810FB353FE}"/>
              </a:ext>
            </a:extLst>
          </p:cNvPr>
          <p:cNvSpPr/>
          <p:nvPr/>
        </p:nvSpPr>
        <p:spPr>
          <a:xfrm>
            <a:off x="3119914" y="3810387"/>
            <a:ext cx="1146017" cy="536591"/>
          </a:xfrm>
          <a:prstGeom prst="rect">
            <a:avLst/>
          </a:prstGeom>
          <a:solidFill>
            <a:srgbClr val="BE384B"/>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pPr algn="ctr"/>
            <a:r>
              <a:rPr lang="en-US" altLang="zh-CN" sz="1600" dirty="0">
                <a:solidFill>
                  <a:schemeClr val="bg1"/>
                </a:solidFill>
                <a:cs typeface="Arial Narrow"/>
              </a:rPr>
              <a:t>VMM</a:t>
            </a:r>
            <a:endParaRPr lang="en-US" sz="1600" dirty="0">
              <a:solidFill>
                <a:schemeClr val="bg1"/>
              </a:solidFill>
              <a:cs typeface="Arial Narrow"/>
            </a:endParaRPr>
          </a:p>
        </p:txBody>
      </p:sp>
      <p:cxnSp>
        <p:nvCxnSpPr>
          <p:cNvPr id="22" name="肘形连接符 21">
            <a:extLst>
              <a:ext uri="{FF2B5EF4-FFF2-40B4-BE49-F238E27FC236}">
                <a16:creationId xmlns:a16="http://schemas.microsoft.com/office/drawing/2014/main" id="{432664A4-2563-9344-9D25-9325ABCA84D7}"/>
              </a:ext>
            </a:extLst>
          </p:cNvPr>
          <p:cNvCxnSpPr>
            <a:cxnSpLocks/>
          </p:cNvCxnSpPr>
          <p:nvPr/>
        </p:nvCxnSpPr>
        <p:spPr>
          <a:xfrm rot="10800000" flipV="1">
            <a:off x="4227948" y="3406551"/>
            <a:ext cx="2133629" cy="563286"/>
          </a:xfrm>
          <a:prstGeom prst="bentConnector3">
            <a:avLst>
              <a:gd name="adj1" fmla="val 102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肘形连接符 22">
            <a:extLst>
              <a:ext uri="{FF2B5EF4-FFF2-40B4-BE49-F238E27FC236}">
                <a16:creationId xmlns:a16="http://schemas.microsoft.com/office/drawing/2014/main" id="{B6B892BF-C988-5849-8C2C-FA341F3DA28E}"/>
              </a:ext>
            </a:extLst>
          </p:cNvPr>
          <p:cNvCxnSpPr>
            <a:cxnSpLocks/>
          </p:cNvCxnSpPr>
          <p:nvPr/>
        </p:nvCxnSpPr>
        <p:spPr>
          <a:xfrm rot="10800000" flipV="1">
            <a:off x="4265931" y="3422779"/>
            <a:ext cx="2491498" cy="805179"/>
          </a:xfrm>
          <a:prstGeom prst="bentConnector3">
            <a:avLst>
              <a:gd name="adj1" fmla="val -47"/>
            </a:avLst>
          </a:prstGeom>
          <a:ln w="381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6" name="椭圆 25">
            <a:extLst>
              <a:ext uri="{FF2B5EF4-FFF2-40B4-BE49-F238E27FC236}">
                <a16:creationId xmlns:a16="http://schemas.microsoft.com/office/drawing/2014/main" id="{248A811C-7648-4947-BCA9-5627AB36398A}"/>
              </a:ext>
            </a:extLst>
          </p:cNvPr>
          <p:cNvSpPr/>
          <p:nvPr/>
        </p:nvSpPr>
        <p:spPr>
          <a:xfrm>
            <a:off x="5188639" y="3566781"/>
            <a:ext cx="353318" cy="3600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29" name="椭圆 28">
            <a:extLst>
              <a:ext uri="{FF2B5EF4-FFF2-40B4-BE49-F238E27FC236}">
                <a16:creationId xmlns:a16="http://schemas.microsoft.com/office/drawing/2014/main" id="{82C915F6-6FF1-E948-A647-C2ADDEFB3786}"/>
              </a:ext>
            </a:extLst>
          </p:cNvPr>
          <p:cNvSpPr/>
          <p:nvPr/>
        </p:nvSpPr>
        <p:spPr>
          <a:xfrm>
            <a:off x="5221680" y="4289828"/>
            <a:ext cx="353318" cy="3600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Tree>
    <p:extLst>
      <p:ext uri="{BB962C8B-B14F-4D97-AF65-F5344CB8AC3E}">
        <p14:creationId xmlns:p14="http://schemas.microsoft.com/office/powerpoint/2010/main" val="3049270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D93F89-5272-5B4B-87F8-7F4E6773BFAF}"/>
              </a:ext>
            </a:extLst>
          </p:cNvPr>
          <p:cNvSpPr>
            <a:spLocks noGrp="1"/>
          </p:cNvSpPr>
          <p:nvPr>
            <p:ph type="title"/>
          </p:nvPr>
        </p:nvSpPr>
        <p:spPr/>
        <p:txBody>
          <a:bodyPr/>
          <a:lstStyle/>
          <a:p>
            <a:r>
              <a:rPr kumimoji="1" lang="en-US" altLang="zh-CN" dirty="0"/>
              <a:t>VT-x</a:t>
            </a:r>
            <a:r>
              <a:rPr kumimoji="1" lang="zh-CN" altLang="en-US" dirty="0"/>
              <a:t>和</a:t>
            </a:r>
            <a:r>
              <a:rPr kumimoji="1" lang="en-US" altLang="zh-CN" dirty="0"/>
              <a:t>VHE</a:t>
            </a:r>
            <a:r>
              <a:rPr kumimoji="1" lang="zh-CN" altLang="en-US" dirty="0"/>
              <a:t>对比</a:t>
            </a:r>
          </a:p>
        </p:txBody>
      </p:sp>
      <p:graphicFrame>
        <p:nvGraphicFramePr>
          <p:cNvPr id="6" name="内容占位符 5">
            <a:extLst>
              <a:ext uri="{FF2B5EF4-FFF2-40B4-BE49-F238E27FC236}">
                <a16:creationId xmlns:a16="http://schemas.microsoft.com/office/drawing/2014/main" id="{F43F8C97-4360-9D40-A53A-85710D651E46}"/>
              </a:ext>
            </a:extLst>
          </p:cNvPr>
          <p:cNvGraphicFramePr>
            <a:graphicFrameLocks noGrp="1"/>
          </p:cNvGraphicFramePr>
          <p:nvPr>
            <p:ph idx="1"/>
          </p:nvPr>
        </p:nvGraphicFramePr>
        <p:xfrm>
          <a:off x="457200" y="1333500"/>
          <a:ext cx="8229600" cy="3684240"/>
        </p:xfrm>
        <a:graphic>
          <a:graphicData uri="http://schemas.openxmlformats.org/drawingml/2006/table">
            <a:tbl>
              <a:tblPr firstRow="1" bandRow="1">
                <a:tableStyleId>{5C22544A-7EE6-4342-B048-85BDC9FD1C3A}</a:tableStyleId>
              </a:tblPr>
              <a:tblGrid>
                <a:gridCol w="3754760">
                  <a:extLst>
                    <a:ext uri="{9D8B030D-6E8A-4147-A177-3AD203B41FA5}">
                      <a16:colId xmlns:a16="http://schemas.microsoft.com/office/drawing/2014/main" val="447630312"/>
                    </a:ext>
                  </a:extLst>
                </a:gridCol>
                <a:gridCol w="2232248">
                  <a:extLst>
                    <a:ext uri="{9D8B030D-6E8A-4147-A177-3AD203B41FA5}">
                      <a16:colId xmlns:a16="http://schemas.microsoft.com/office/drawing/2014/main" val="1639899835"/>
                    </a:ext>
                  </a:extLst>
                </a:gridCol>
                <a:gridCol w="2242592">
                  <a:extLst>
                    <a:ext uri="{9D8B030D-6E8A-4147-A177-3AD203B41FA5}">
                      <a16:colId xmlns:a16="http://schemas.microsoft.com/office/drawing/2014/main" val="569973888"/>
                    </a:ext>
                  </a:extLst>
                </a:gridCol>
              </a:tblGrid>
              <a:tr h="526320">
                <a:tc>
                  <a:txBody>
                    <a:bodyPr/>
                    <a:lstStyle/>
                    <a:p>
                      <a:endParaRPr lang="zh-CN" altLang="en-US" dirty="0"/>
                    </a:p>
                  </a:txBody>
                  <a:tcPr/>
                </a:tc>
                <a:tc>
                  <a:txBody>
                    <a:bodyPr/>
                    <a:lstStyle/>
                    <a:p>
                      <a:r>
                        <a:rPr lang="en-US" altLang="zh-CN" dirty="0"/>
                        <a:t>VT-x</a:t>
                      </a:r>
                      <a:endParaRPr lang="zh-CN" altLang="en-US" dirty="0"/>
                    </a:p>
                  </a:txBody>
                  <a:tcPr/>
                </a:tc>
                <a:tc>
                  <a:txBody>
                    <a:bodyPr/>
                    <a:lstStyle/>
                    <a:p>
                      <a:r>
                        <a:rPr lang="en-US" altLang="zh-CN" dirty="0"/>
                        <a:t>VHE</a:t>
                      </a:r>
                      <a:endParaRPr lang="zh-CN" altLang="en-US" dirty="0"/>
                    </a:p>
                  </a:txBody>
                  <a:tcPr/>
                </a:tc>
                <a:extLst>
                  <a:ext uri="{0D108BD9-81ED-4DB2-BD59-A6C34878D82A}">
                    <a16:rowId xmlns:a16="http://schemas.microsoft.com/office/drawing/2014/main" val="1440035186"/>
                  </a:ext>
                </a:extLst>
              </a:tr>
              <a:tr h="526320">
                <a:tc>
                  <a:txBody>
                    <a:bodyPr/>
                    <a:lstStyle/>
                    <a:p>
                      <a:r>
                        <a:rPr lang="zh-CN" altLang="en-US" dirty="0"/>
                        <a:t>新特权级</a:t>
                      </a:r>
                    </a:p>
                  </a:txBody>
                  <a:tcPr/>
                </a:tc>
                <a:tc>
                  <a:txBody>
                    <a:bodyPr/>
                    <a:lstStyle/>
                    <a:p>
                      <a:r>
                        <a:rPr lang="en-US" altLang="zh-CN" dirty="0"/>
                        <a:t>Root</a:t>
                      </a:r>
                      <a:r>
                        <a:rPr lang="zh-CN" altLang="en-US" dirty="0"/>
                        <a:t>和</a:t>
                      </a:r>
                      <a:r>
                        <a:rPr lang="en-US" altLang="zh-CN" dirty="0"/>
                        <a:t>Non-root</a:t>
                      </a:r>
                      <a:endParaRPr lang="zh-CN" altLang="en-US" dirty="0"/>
                    </a:p>
                  </a:txBody>
                  <a:tcPr/>
                </a:tc>
                <a:tc>
                  <a:txBody>
                    <a:bodyPr/>
                    <a:lstStyle/>
                    <a:p>
                      <a:r>
                        <a:rPr lang="en-US" altLang="zh-CN" dirty="0"/>
                        <a:t>EL2</a:t>
                      </a:r>
                      <a:endParaRPr lang="zh-CN" altLang="en-US" dirty="0"/>
                    </a:p>
                  </a:txBody>
                  <a:tcPr/>
                </a:tc>
                <a:extLst>
                  <a:ext uri="{0D108BD9-81ED-4DB2-BD59-A6C34878D82A}">
                    <a16:rowId xmlns:a16="http://schemas.microsoft.com/office/drawing/2014/main" val="419850146"/>
                  </a:ext>
                </a:extLst>
              </a:tr>
              <a:tr h="526320">
                <a:tc>
                  <a:txBody>
                    <a:bodyPr/>
                    <a:lstStyle/>
                    <a:p>
                      <a:r>
                        <a:rPr lang="zh-CN" altLang="en-US" dirty="0"/>
                        <a:t>是否有</a:t>
                      </a:r>
                      <a:r>
                        <a:rPr lang="en-US" altLang="zh-CN" dirty="0"/>
                        <a:t>VMCS</a:t>
                      </a:r>
                      <a:r>
                        <a:rPr lang="zh-CN" altLang="en-US" dirty="0"/>
                        <a:t>？</a:t>
                      </a:r>
                    </a:p>
                  </a:txBody>
                  <a:tcPr/>
                </a:tc>
                <a:tc>
                  <a:txBody>
                    <a:bodyPr/>
                    <a:lstStyle/>
                    <a:p>
                      <a:r>
                        <a:rPr lang="zh-CN" altLang="en-US" dirty="0"/>
                        <a:t>是</a:t>
                      </a:r>
                    </a:p>
                  </a:txBody>
                  <a:tcPr/>
                </a:tc>
                <a:tc>
                  <a:txBody>
                    <a:bodyPr/>
                    <a:lstStyle/>
                    <a:p>
                      <a:r>
                        <a:rPr lang="zh-CN" altLang="en-US" dirty="0"/>
                        <a:t>否</a:t>
                      </a:r>
                    </a:p>
                  </a:txBody>
                  <a:tcPr/>
                </a:tc>
                <a:extLst>
                  <a:ext uri="{0D108BD9-81ED-4DB2-BD59-A6C34878D82A}">
                    <a16:rowId xmlns:a16="http://schemas.microsoft.com/office/drawing/2014/main" val="1363081217"/>
                  </a:ext>
                </a:extLst>
              </a:tr>
              <a:tr h="526320">
                <a:tc>
                  <a:txBody>
                    <a:bodyPr/>
                    <a:lstStyle/>
                    <a:p>
                      <a:r>
                        <a:rPr lang="en-US" altLang="zh-CN" dirty="0"/>
                        <a:t>VM</a:t>
                      </a:r>
                      <a:r>
                        <a:rPr lang="zh-CN" altLang="en-US" dirty="0"/>
                        <a:t> </a:t>
                      </a:r>
                      <a:r>
                        <a:rPr lang="en-US" altLang="zh-CN" dirty="0"/>
                        <a:t>Entry/Exit</a:t>
                      </a:r>
                      <a:r>
                        <a:rPr lang="zh-CN" altLang="en-US" dirty="0"/>
                        <a:t>时硬件自动保存状态？</a:t>
                      </a:r>
                    </a:p>
                  </a:txBody>
                  <a:tcPr/>
                </a:tc>
                <a:tc>
                  <a:txBody>
                    <a:bodyPr/>
                    <a:lstStyle/>
                    <a:p>
                      <a:r>
                        <a:rPr lang="zh-CN" altLang="en-US" dirty="0"/>
                        <a:t>是</a:t>
                      </a:r>
                    </a:p>
                  </a:txBody>
                  <a:tcPr/>
                </a:tc>
                <a:tc>
                  <a:txBody>
                    <a:bodyPr/>
                    <a:lstStyle/>
                    <a:p>
                      <a:r>
                        <a:rPr lang="zh-CN" altLang="en-US" dirty="0"/>
                        <a:t>否</a:t>
                      </a:r>
                    </a:p>
                  </a:txBody>
                  <a:tcPr/>
                </a:tc>
                <a:extLst>
                  <a:ext uri="{0D108BD9-81ED-4DB2-BD59-A6C34878D82A}">
                    <a16:rowId xmlns:a16="http://schemas.microsoft.com/office/drawing/2014/main" val="2714241866"/>
                  </a:ext>
                </a:extLst>
              </a:tr>
              <a:tr h="526320">
                <a:tc>
                  <a:txBody>
                    <a:bodyPr/>
                    <a:lstStyle/>
                    <a:p>
                      <a:r>
                        <a:rPr lang="zh-CN" altLang="en-US" dirty="0"/>
                        <a:t>是否引入新的指令？</a:t>
                      </a:r>
                    </a:p>
                  </a:txBody>
                  <a:tcPr/>
                </a:tc>
                <a:tc>
                  <a:txBody>
                    <a:bodyPr/>
                    <a:lstStyle/>
                    <a:p>
                      <a:r>
                        <a:rPr lang="zh-CN" altLang="en-US" dirty="0"/>
                        <a:t>是</a:t>
                      </a:r>
                      <a:r>
                        <a:rPr lang="en-US" altLang="zh-CN" dirty="0"/>
                        <a:t>(</a:t>
                      </a:r>
                      <a:r>
                        <a:rPr lang="zh-CN" altLang="en-US" dirty="0"/>
                        <a:t>多</a:t>
                      </a:r>
                      <a:r>
                        <a:rPr lang="en-US" altLang="zh-CN" dirty="0"/>
                        <a:t>)</a:t>
                      </a:r>
                      <a:endParaRPr lang="zh-CN" altLang="en-US" dirty="0"/>
                    </a:p>
                  </a:txBody>
                  <a:tcPr/>
                </a:tc>
                <a:tc>
                  <a:txBody>
                    <a:bodyPr/>
                    <a:lstStyle/>
                    <a:p>
                      <a:r>
                        <a:rPr lang="zh-CN" altLang="en-US" dirty="0"/>
                        <a:t>是</a:t>
                      </a:r>
                      <a:r>
                        <a:rPr lang="en-US" altLang="zh-CN" dirty="0"/>
                        <a:t>(</a:t>
                      </a:r>
                      <a:r>
                        <a:rPr lang="zh-CN" altLang="en-US" dirty="0"/>
                        <a:t>少</a:t>
                      </a:r>
                      <a:r>
                        <a:rPr lang="en-US" altLang="zh-CN" dirty="0"/>
                        <a:t>)</a:t>
                      </a:r>
                      <a:endParaRPr lang="zh-CN" altLang="en-US" dirty="0"/>
                    </a:p>
                  </a:txBody>
                  <a:tcPr/>
                </a:tc>
                <a:extLst>
                  <a:ext uri="{0D108BD9-81ED-4DB2-BD59-A6C34878D82A}">
                    <a16:rowId xmlns:a16="http://schemas.microsoft.com/office/drawing/2014/main" val="3041867358"/>
                  </a:ext>
                </a:extLst>
              </a:tr>
              <a:tr h="526320">
                <a:tc>
                  <a:txBody>
                    <a:bodyPr/>
                    <a:lstStyle/>
                    <a:p>
                      <a:r>
                        <a:rPr lang="zh-CN" altLang="en-US" dirty="0"/>
                        <a:t>是否引入新的系统寄存器</a:t>
                      </a:r>
                      <a:r>
                        <a:rPr lang="en-US" altLang="zh-CN" dirty="0"/>
                        <a:t>?</a:t>
                      </a:r>
                      <a:endParaRPr lang="zh-CN" altLang="en-US" dirty="0"/>
                    </a:p>
                  </a:txBody>
                  <a:tcPr/>
                </a:tc>
                <a:tc>
                  <a:txBody>
                    <a:bodyPr/>
                    <a:lstStyle/>
                    <a:p>
                      <a:r>
                        <a:rPr lang="zh-CN" altLang="en-US" dirty="0"/>
                        <a:t>否</a:t>
                      </a:r>
                    </a:p>
                  </a:txBody>
                  <a:tcPr/>
                </a:tc>
                <a:tc>
                  <a:txBody>
                    <a:bodyPr/>
                    <a:lstStyle/>
                    <a:p>
                      <a:r>
                        <a:rPr lang="zh-CN" altLang="en-US"/>
                        <a:t>是</a:t>
                      </a:r>
                      <a:r>
                        <a:rPr lang="en-US" altLang="zh-CN"/>
                        <a:t>(</a:t>
                      </a:r>
                      <a:r>
                        <a:rPr lang="zh-CN" altLang="en-US"/>
                        <a:t>多</a:t>
                      </a:r>
                      <a:r>
                        <a:rPr lang="en-US" altLang="zh-CN"/>
                        <a:t>)</a:t>
                      </a:r>
                      <a:endParaRPr lang="zh-CN" altLang="en-US" dirty="0"/>
                    </a:p>
                  </a:txBody>
                  <a:tcPr/>
                </a:tc>
                <a:extLst>
                  <a:ext uri="{0D108BD9-81ED-4DB2-BD59-A6C34878D82A}">
                    <a16:rowId xmlns:a16="http://schemas.microsoft.com/office/drawing/2014/main" val="1389366084"/>
                  </a:ext>
                </a:extLst>
              </a:tr>
              <a:tr h="526320">
                <a:tc>
                  <a:txBody>
                    <a:bodyPr/>
                    <a:lstStyle/>
                    <a:p>
                      <a:r>
                        <a:rPr lang="zh-CN" altLang="en-US" dirty="0"/>
                        <a:t>是否有扩展页表</a:t>
                      </a:r>
                      <a:r>
                        <a:rPr lang="en-US" altLang="zh-CN" dirty="0"/>
                        <a:t>(</a:t>
                      </a:r>
                      <a:r>
                        <a:rPr lang="zh-CN" altLang="en-US" dirty="0"/>
                        <a:t>第二阶段页表</a:t>
                      </a:r>
                      <a:r>
                        <a:rPr lang="en-US" altLang="zh-CN" dirty="0"/>
                        <a:t>)?</a:t>
                      </a:r>
                      <a:endParaRPr lang="zh-CN" altLang="en-US" dirty="0"/>
                    </a:p>
                  </a:txBody>
                  <a:tcPr/>
                </a:tc>
                <a:tc>
                  <a:txBody>
                    <a:bodyPr/>
                    <a:lstStyle/>
                    <a:p>
                      <a:r>
                        <a:rPr lang="zh-CN" altLang="en-US" dirty="0"/>
                        <a:t>是</a:t>
                      </a:r>
                    </a:p>
                  </a:txBody>
                  <a:tcPr/>
                </a:tc>
                <a:tc>
                  <a:txBody>
                    <a:bodyPr/>
                    <a:lstStyle/>
                    <a:p>
                      <a:r>
                        <a:rPr lang="zh-CN" altLang="en-US" dirty="0"/>
                        <a:t>是</a:t>
                      </a:r>
                    </a:p>
                  </a:txBody>
                  <a:tcPr/>
                </a:tc>
                <a:extLst>
                  <a:ext uri="{0D108BD9-81ED-4DB2-BD59-A6C34878D82A}">
                    <a16:rowId xmlns:a16="http://schemas.microsoft.com/office/drawing/2014/main" val="317133554"/>
                  </a:ext>
                </a:extLst>
              </a:tr>
            </a:tbl>
          </a:graphicData>
        </a:graphic>
      </p:graphicFrame>
      <p:sp>
        <p:nvSpPr>
          <p:cNvPr id="4" name="灯片编号占位符 3">
            <a:extLst>
              <a:ext uri="{FF2B5EF4-FFF2-40B4-BE49-F238E27FC236}">
                <a16:creationId xmlns:a16="http://schemas.microsoft.com/office/drawing/2014/main" id="{AF46F43F-280A-EA45-A37B-E24074A908D7}"/>
              </a:ext>
            </a:extLst>
          </p:cNvPr>
          <p:cNvSpPr>
            <a:spLocks noGrp="1"/>
          </p:cNvSpPr>
          <p:nvPr>
            <p:ph type="sldNum" sz="quarter" idx="12"/>
          </p:nvPr>
        </p:nvSpPr>
        <p:spPr/>
        <p:txBody>
          <a:bodyPr/>
          <a:lstStyle/>
          <a:p>
            <a:fld id="{ADE361C3-C043-4A6E-BDCE-8DA1E7D90A3B}" type="slidenum">
              <a:rPr lang="zh-CN" altLang="en-US" smtClean="0"/>
              <a:t>37</a:t>
            </a:fld>
            <a:endParaRPr lang="zh-CN" altLang="en-US"/>
          </a:p>
        </p:txBody>
      </p:sp>
      <p:sp>
        <p:nvSpPr>
          <p:cNvPr id="5" name="页脚占位符 4">
            <a:extLst>
              <a:ext uri="{FF2B5EF4-FFF2-40B4-BE49-F238E27FC236}">
                <a16:creationId xmlns:a16="http://schemas.microsoft.com/office/drawing/2014/main" id="{EA46A49E-0EFB-5E45-BDC8-1F117F82C183}"/>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9539891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65F014-419B-5942-8893-BFF6158E54EE}"/>
              </a:ext>
            </a:extLst>
          </p:cNvPr>
          <p:cNvSpPr>
            <a:spLocks noGrp="1"/>
          </p:cNvSpPr>
          <p:nvPr>
            <p:ph type="title"/>
          </p:nvPr>
        </p:nvSpPr>
        <p:spPr/>
        <p:txBody>
          <a:bodyPr>
            <a:normAutofit/>
          </a:bodyPr>
          <a:lstStyle/>
          <a:p>
            <a:r>
              <a:rPr kumimoji="1" lang="en-US" altLang="zh-CN" dirty="0"/>
              <a:t>Type-1</a:t>
            </a:r>
            <a:r>
              <a:rPr kumimoji="1" lang="zh-CN" altLang="en-US" dirty="0"/>
              <a:t>和</a:t>
            </a:r>
            <a:r>
              <a:rPr kumimoji="1" lang="en-US" altLang="zh-CN" dirty="0"/>
              <a:t>Type-2</a:t>
            </a:r>
            <a:r>
              <a:rPr kumimoji="1" lang="zh-CN" altLang="en-US" dirty="0"/>
              <a:t>在</a:t>
            </a:r>
            <a:r>
              <a:rPr kumimoji="1" lang="en-US" altLang="zh-CN" dirty="0"/>
              <a:t>VT-x</a:t>
            </a:r>
            <a:r>
              <a:rPr kumimoji="1" lang="zh-CN" altLang="en-US" dirty="0"/>
              <a:t>和</a:t>
            </a:r>
            <a:r>
              <a:rPr kumimoji="1" lang="en-US" altLang="zh-CN" dirty="0"/>
              <a:t>VHE</a:t>
            </a:r>
            <a:r>
              <a:rPr kumimoji="1" lang="zh-CN" altLang="en-US" dirty="0"/>
              <a:t>下架构</a:t>
            </a:r>
          </a:p>
        </p:txBody>
      </p:sp>
      <p:sp>
        <p:nvSpPr>
          <p:cNvPr id="4" name="灯片编号占位符 3">
            <a:extLst>
              <a:ext uri="{FF2B5EF4-FFF2-40B4-BE49-F238E27FC236}">
                <a16:creationId xmlns:a16="http://schemas.microsoft.com/office/drawing/2014/main" id="{8958250A-0745-2044-A079-58E6348DAD9C}"/>
              </a:ext>
            </a:extLst>
          </p:cNvPr>
          <p:cNvSpPr>
            <a:spLocks noGrp="1"/>
          </p:cNvSpPr>
          <p:nvPr>
            <p:ph type="sldNum" sz="quarter" idx="12"/>
          </p:nvPr>
        </p:nvSpPr>
        <p:spPr/>
        <p:txBody>
          <a:bodyPr/>
          <a:lstStyle/>
          <a:p>
            <a:fld id="{ADE361C3-C043-4A6E-BDCE-8DA1E7D90A3B}" type="slidenum">
              <a:rPr lang="zh-CN" altLang="en-US" smtClean="0"/>
              <a:t>38</a:t>
            </a:fld>
            <a:endParaRPr lang="zh-CN" altLang="en-US"/>
          </a:p>
        </p:txBody>
      </p:sp>
      <p:sp>
        <p:nvSpPr>
          <p:cNvPr id="5" name="页脚占位符 4">
            <a:extLst>
              <a:ext uri="{FF2B5EF4-FFF2-40B4-BE49-F238E27FC236}">
                <a16:creationId xmlns:a16="http://schemas.microsoft.com/office/drawing/2014/main" id="{8465779D-DCB0-9C4B-A3E7-4CBDCE5D1C54}"/>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22">
            <a:extLst>
              <a:ext uri="{FF2B5EF4-FFF2-40B4-BE49-F238E27FC236}">
                <a16:creationId xmlns:a16="http://schemas.microsoft.com/office/drawing/2014/main" id="{516CA86F-8F60-3741-9600-4761F85DA985}"/>
              </a:ext>
            </a:extLst>
          </p:cNvPr>
          <p:cNvSpPr/>
          <p:nvPr/>
        </p:nvSpPr>
        <p:spPr>
          <a:xfrm>
            <a:off x="2411760" y="2785492"/>
            <a:ext cx="1761833" cy="216024"/>
          </a:xfrm>
          <a:prstGeom prst="rect">
            <a:avLst/>
          </a:prstGeom>
          <a:solidFill>
            <a:srgbClr val="BE384B"/>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chemeClr val="bg1"/>
                </a:solidFill>
                <a:cs typeface="Arial Narrow"/>
              </a:rPr>
              <a:t>VMM</a:t>
            </a:r>
            <a:endParaRPr lang="en-US" sz="1600" dirty="0">
              <a:solidFill>
                <a:schemeClr val="bg1"/>
              </a:solidFill>
              <a:cs typeface="Arial Narrow"/>
            </a:endParaRPr>
          </a:p>
        </p:txBody>
      </p:sp>
      <p:sp>
        <p:nvSpPr>
          <p:cNvPr id="7" name="Rectangle 23">
            <a:extLst>
              <a:ext uri="{FF2B5EF4-FFF2-40B4-BE49-F238E27FC236}">
                <a16:creationId xmlns:a16="http://schemas.microsoft.com/office/drawing/2014/main" id="{BD129CE6-84DC-FB45-BFE5-70B593F9B0E0}"/>
              </a:ext>
            </a:extLst>
          </p:cNvPr>
          <p:cNvSpPr/>
          <p:nvPr/>
        </p:nvSpPr>
        <p:spPr>
          <a:xfrm>
            <a:off x="3343523" y="2093108"/>
            <a:ext cx="835531" cy="462028"/>
          </a:xfrm>
          <a:prstGeom prst="rect">
            <a:avLst/>
          </a:prstGeom>
          <a:no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rgbClr val="404040"/>
                </a:solidFill>
                <a:cs typeface="Arial Narrow"/>
              </a:rPr>
              <a:t>VM-2</a:t>
            </a:r>
          </a:p>
        </p:txBody>
      </p:sp>
      <p:sp>
        <p:nvSpPr>
          <p:cNvPr id="9" name="Rectangle 27">
            <a:extLst>
              <a:ext uri="{FF2B5EF4-FFF2-40B4-BE49-F238E27FC236}">
                <a16:creationId xmlns:a16="http://schemas.microsoft.com/office/drawing/2014/main" id="{3465EED1-ABC6-9E4D-BC38-7797267EE4AB}"/>
              </a:ext>
            </a:extLst>
          </p:cNvPr>
          <p:cNvSpPr/>
          <p:nvPr/>
        </p:nvSpPr>
        <p:spPr>
          <a:xfrm>
            <a:off x="2416691" y="2093108"/>
            <a:ext cx="835531" cy="462028"/>
          </a:xfrm>
          <a:prstGeom prst="rect">
            <a:avLst/>
          </a:prstGeom>
          <a:no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rgbClr val="404040"/>
                </a:solidFill>
                <a:cs typeface="Arial Narrow"/>
              </a:rPr>
              <a:t>VM-1</a:t>
            </a:r>
            <a:endParaRPr lang="en-US" sz="1600" dirty="0">
              <a:solidFill>
                <a:srgbClr val="404040"/>
              </a:solidFill>
              <a:cs typeface="Arial Narrow"/>
            </a:endParaRPr>
          </a:p>
        </p:txBody>
      </p:sp>
      <p:sp>
        <p:nvSpPr>
          <p:cNvPr id="11" name="Rectangle 22">
            <a:extLst>
              <a:ext uri="{FF2B5EF4-FFF2-40B4-BE49-F238E27FC236}">
                <a16:creationId xmlns:a16="http://schemas.microsoft.com/office/drawing/2014/main" id="{27EC1224-A952-6F40-A8CE-6177AB42B325}"/>
              </a:ext>
            </a:extLst>
          </p:cNvPr>
          <p:cNvSpPr/>
          <p:nvPr/>
        </p:nvSpPr>
        <p:spPr>
          <a:xfrm>
            <a:off x="5724129" y="2713484"/>
            <a:ext cx="1761833" cy="322200"/>
          </a:xfrm>
          <a:prstGeom prst="rect">
            <a:avLst/>
          </a:prstGeom>
          <a:no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zh-CN" altLang="en-US" sz="1600" dirty="0">
                <a:solidFill>
                  <a:srgbClr val="404040"/>
                </a:solidFill>
                <a:cs typeface="Arial Narrow"/>
              </a:rPr>
              <a:t>  </a:t>
            </a:r>
            <a:r>
              <a:rPr lang="en-US" altLang="zh-CN" sz="1600" dirty="0">
                <a:solidFill>
                  <a:srgbClr val="404040"/>
                </a:solidFill>
                <a:cs typeface="Arial Narrow"/>
              </a:rPr>
              <a:t>Host</a:t>
            </a:r>
            <a:r>
              <a:rPr lang="zh-CN" altLang="en-US" sz="1600" dirty="0">
                <a:solidFill>
                  <a:srgbClr val="404040"/>
                </a:solidFill>
                <a:cs typeface="Arial Narrow"/>
              </a:rPr>
              <a:t> </a:t>
            </a:r>
            <a:r>
              <a:rPr lang="en-US" altLang="zh-CN" sz="1600" dirty="0">
                <a:solidFill>
                  <a:srgbClr val="404040"/>
                </a:solidFill>
                <a:cs typeface="Arial Narrow"/>
              </a:rPr>
              <a:t>OS</a:t>
            </a:r>
            <a:endParaRPr lang="en-US" sz="1600" dirty="0">
              <a:solidFill>
                <a:srgbClr val="404040"/>
              </a:solidFill>
              <a:cs typeface="Arial Narrow"/>
            </a:endParaRPr>
          </a:p>
        </p:txBody>
      </p:sp>
      <p:sp>
        <p:nvSpPr>
          <p:cNvPr id="12" name="Rectangle 23">
            <a:extLst>
              <a:ext uri="{FF2B5EF4-FFF2-40B4-BE49-F238E27FC236}">
                <a16:creationId xmlns:a16="http://schemas.microsoft.com/office/drawing/2014/main" id="{BAEE7F2E-F253-C24C-8913-45BBDD1FE00B}"/>
              </a:ext>
            </a:extLst>
          </p:cNvPr>
          <p:cNvSpPr/>
          <p:nvPr/>
        </p:nvSpPr>
        <p:spPr>
          <a:xfrm>
            <a:off x="6655892" y="2118049"/>
            <a:ext cx="835531" cy="462028"/>
          </a:xfrm>
          <a:prstGeom prst="rect">
            <a:avLst/>
          </a:prstGeom>
          <a:no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rgbClr val="404040"/>
                </a:solidFill>
                <a:cs typeface="Arial Narrow"/>
              </a:rPr>
              <a:t>VM-2</a:t>
            </a:r>
          </a:p>
        </p:txBody>
      </p:sp>
      <p:sp>
        <p:nvSpPr>
          <p:cNvPr id="14" name="Rectangle 27">
            <a:extLst>
              <a:ext uri="{FF2B5EF4-FFF2-40B4-BE49-F238E27FC236}">
                <a16:creationId xmlns:a16="http://schemas.microsoft.com/office/drawing/2014/main" id="{CAB49CB3-D1AD-D445-AA20-CBF3CCFCE1B7}"/>
              </a:ext>
            </a:extLst>
          </p:cNvPr>
          <p:cNvSpPr/>
          <p:nvPr/>
        </p:nvSpPr>
        <p:spPr>
          <a:xfrm>
            <a:off x="5729060" y="2118049"/>
            <a:ext cx="835531" cy="462028"/>
          </a:xfrm>
          <a:prstGeom prst="rect">
            <a:avLst/>
          </a:prstGeom>
          <a:no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rgbClr val="404040"/>
                </a:solidFill>
                <a:cs typeface="Arial Narrow"/>
              </a:rPr>
              <a:t>VM-1</a:t>
            </a:r>
            <a:endParaRPr lang="en-US" sz="1600" dirty="0">
              <a:solidFill>
                <a:srgbClr val="404040"/>
              </a:solidFill>
              <a:cs typeface="Arial Narrow"/>
            </a:endParaRPr>
          </a:p>
        </p:txBody>
      </p:sp>
      <p:sp>
        <p:nvSpPr>
          <p:cNvPr id="21" name="Rectangle 27">
            <a:extLst>
              <a:ext uri="{FF2B5EF4-FFF2-40B4-BE49-F238E27FC236}">
                <a16:creationId xmlns:a16="http://schemas.microsoft.com/office/drawing/2014/main" id="{FE61F048-DAB9-4045-9E24-8AF8876B9C74}"/>
              </a:ext>
            </a:extLst>
          </p:cNvPr>
          <p:cNvSpPr/>
          <p:nvPr/>
        </p:nvSpPr>
        <p:spPr>
          <a:xfrm>
            <a:off x="2422103" y="1608423"/>
            <a:ext cx="370384" cy="321946"/>
          </a:xfrm>
          <a:prstGeom prst="rect">
            <a:avLst/>
          </a:prstGeom>
          <a:no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rgbClr val="404040"/>
              </a:solidFill>
              <a:cs typeface="Arial Narrow"/>
            </a:endParaRPr>
          </a:p>
        </p:txBody>
      </p:sp>
      <p:sp>
        <p:nvSpPr>
          <p:cNvPr id="22" name="Rectangle 27">
            <a:extLst>
              <a:ext uri="{FF2B5EF4-FFF2-40B4-BE49-F238E27FC236}">
                <a16:creationId xmlns:a16="http://schemas.microsoft.com/office/drawing/2014/main" id="{F440C695-1171-8945-A835-A74C53BE5017}"/>
              </a:ext>
            </a:extLst>
          </p:cNvPr>
          <p:cNvSpPr/>
          <p:nvPr/>
        </p:nvSpPr>
        <p:spPr>
          <a:xfrm>
            <a:off x="2889209" y="1608423"/>
            <a:ext cx="370384" cy="321946"/>
          </a:xfrm>
          <a:prstGeom prst="rect">
            <a:avLst/>
          </a:prstGeom>
          <a:no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rgbClr val="404040"/>
              </a:solidFill>
              <a:cs typeface="Arial Narrow"/>
            </a:endParaRPr>
          </a:p>
        </p:txBody>
      </p:sp>
      <p:sp>
        <p:nvSpPr>
          <p:cNvPr id="23" name="Rectangle 27">
            <a:extLst>
              <a:ext uri="{FF2B5EF4-FFF2-40B4-BE49-F238E27FC236}">
                <a16:creationId xmlns:a16="http://schemas.microsoft.com/office/drawing/2014/main" id="{A0151E6A-244C-5749-AC28-7E97C26ED655}"/>
              </a:ext>
            </a:extLst>
          </p:cNvPr>
          <p:cNvSpPr/>
          <p:nvPr/>
        </p:nvSpPr>
        <p:spPr>
          <a:xfrm>
            <a:off x="3353865" y="1608423"/>
            <a:ext cx="370384" cy="321946"/>
          </a:xfrm>
          <a:prstGeom prst="rect">
            <a:avLst/>
          </a:prstGeom>
          <a:no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rgbClr val="404040"/>
              </a:solidFill>
              <a:cs typeface="Arial Narrow"/>
            </a:endParaRPr>
          </a:p>
        </p:txBody>
      </p:sp>
      <p:sp>
        <p:nvSpPr>
          <p:cNvPr id="24" name="Rectangle 27">
            <a:extLst>
              <a:ext uri="{FF2B5EF4-FFF2-40B4-BE49-F238E27FC236}">
                <a16:creationId xmlns:a16="http://schemas.microsoft.com/office/drawing/2014/main" id="{0B67558C-EEA8-1148-8B72-C29AE1D402C9}"/>
              </a:ext>
            </a:extLst>
          </p:cNvPr>
          <p:cNvSpPr/>
          <p:nvPr/>
        </p:nvSpPr>
        <p:spPr>
          <a:xfrm>
            <a:off x="3820971" y="1608423"/>
            <a:ext cx="370384" cy="321946"/>
          </a:xfrm>
          <a:prstGeom prst="rect">
            <a:avLst/>
          </a:prstGeom>
          <a:no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rgbClr val="404040"/>
              </a:solidFill>
              <a:cs typeface="Arial Narrow"/>
            </a:endParaRPr>
          </a:p>
        </p:txBody>
      </p:sp>
      <p:sp>
        <p:nvSpPr>
          <p:cNvPr id="25" name="Rectangle 27">
            <a:extLst>
              <a:ext uri="{FF2B5EF4-FFF2-40B4-BE49-F238E27FC236}">
                <a16:creationId xmlns:a16="http://schemas.microsoft.com/office/drawing/2014/main" id="{60C554B7-180C-924A-B58A-23BBB576D6F0}"/>
              </a:ext>
            </a:extLst>
          </p:cNvPr>
          <p:cNvSpPr/>
          <p:nvPr/>
        </p:nvSpPr>
        <p:spPr>
          <a:xfrm>
            <a:off x="5724128" y="1633364"/>
            <a:ext cx="370384" cy="321946"/>
          </a:xfrm>
          <a:prstGeom prst="rect">
            <a:avLst/>
          </a:prstGeom>
          <a:no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rgbClr val="404040"/>
              </a:solidFill>
              <a:cs typeface="Arial Narrow"/>
            </a:endParaRPr>
          </a:p>
        </p:txBody>
      </p:sp>
      <p:sp>
        <p:nvSpPr>
          <p:cNvPr id="26" name="Rectangle 27">
            <a:extLst>
              <a:ext uri="{FF2B5EF4-FFF2-40B4-BE49-F238E27FC236}">
                <a16:creationId xmlns:a16="http://schemas.microsoft.com/office/drawing/2014/main" id="{4C05BABF-7316-3F4C-9BAB-3953AEF9753D}"/>
              </a:ext>
            </a:extLst>
          </p:cNvPr>
          <p:cNvSpPr/>
          <p:nvPr/>
        </p:nvSpPr>
        <p:spPr>
          <a:xfrm>
            <a:off x="6191234" y="1633364"/>
            <a:ext cx="370384" cy="321946"/>
          </a:xfrm>
          <a:prstGeom prst="rect">
            <a:avLst/>
          </a:prstGeom>
          <a:no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rgbClr val="404040"/>
              </a:solidFill>
              <a:cs typeface="Arial Narrow"/>
            </a:endParaRPr>
          </a:p>
        </p:txBody>
      </p:sp>
      <p:sp>
        <p:nvSpPr>
          <p:cNvPr id="27" name="Rectangle 27">
            <a:extLst>
              <a:ext uri="{FF2B5EF4-FFF2-40B4-BE49-F238E27FC236}">
                <a16:creationId xmlns:a16="http://schemas.microsoft.com/office/drawing/2014/main" id="{7A354850-6018-4C46-ABA8-3884233494F6}"/>
              </a:ext>
            </a:extLst>
          </p:cNvPr>
          <p:cNvSpPr/>
          <p:nvPr/>
        </p:nvSpPr>
        <p:spPr>
          <a:xfrm>
            <a:off x="6655890" y="1633364"/>
            <a:ext cx="370384" cy="321946"/>
          </a:xfrm>
          <a:prstGeom prst="rect">
            <a:avLst/>
          </a:prstGeom>
          <a:no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rgbClr val="404040"/>
              </a:solidFill>
              <a:cs typeface="Arial Narrow"/>
            </a:endParaRPr>
          </a:p>
        </p:txBody>
      </p:sp>
      <p:sp>
        <p:nvSpPr>
          <p:cNvPr id="28" name="Rectangle 27">
            <a:extLst>
              <a:ext uri="{FF2B5EF4-FFF2-40B4-BE49-F238E27FC236}">
                <a16:creationId xmlns:a16="http://schemas.microsoft.com/office/drawing/2014/main" id="{BF989BAB-1361-FE42-AF31-34A3E3A2956E}"/>
              </a:ext>
            </a:extLst>
          </p:cNvPr>
          <p:cNvSpPr/>
          <p:nvPr/>
        </p:nvSpPr>
        <p:spPr>
          <a:xfrm>
            <a:off x="7122996" y="1633364"/>
            <a:ext cx="370384" cy="321946"/>
          </a:xfrm>
          <a:prstGeom prst="rect">
            <a:avLst/>
          </a:prstGeom>
          <a:no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rgbClr val="404040"/>
              </a:solidFill>
              <a:cs typeface="Arial Narrow"/>
            </a:endParaRPr>
          </a:p>
        </p:txBody>
      </p:sp>
      <p:sp>
        <p:nvSpPr>
          <p:cNvPr id="35" name="Rectangle 27">
            <a:extLst>
              <a:ext uri="{FF2B5EF4-FFF2-40B4-BE49-F238E27FC236}">
                <a16:creationId xmlns:a16="http://schemas.microsoft.com/office/drawing/2014/main" id="{F958C350-FBB7-5146-9354-3C281F4D16A8}"/>
              </a:ext>
            </a:extLst>
          </p:cNvPr>
          <p:cNvSpPr/>
          <p:nvPr/>
        </p:nvSpPr>
        <p:spPr>
          <a:xfrm>
            <a:off x="6745304" y="2769057"/>
            <a:ext cx="691543" cy="217303"/>
          </a:xfrm>
          <a:prstGeom prst="rect">
            <a:avLst/>
          </a:prstGeom>
          <a:solidFill>
            <a:srgbClr val="BE384B"/>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chemeClr val="bg1"/>
                </a:solidFill>
                <a:cs typeface="Arial Narrow"/>
              </a:rPr>
              <a:t>VMM</a:t>
            </a:r>
            <a:endParaRPr lang="en-US" sz="1600" dirty="0">
              <a:solidFill>
                <a:schemeClr val="bg1"/>
              </a:solidFill>
              <a:cs typeface="Arial Narrow"/>
            </a:endParaRPr>
          </a:p>
        </p:txBody>
      </p:sp>
      <p:sp>
        <p:nvSpPr>
          <p:cNvPr id="37" name="文本框 36">
            <a:extLst>
              <a:ext uri="{FF2B5EF4-FFF2-40B4-BE49-F238E27FC236}">
                <a16:creationId xmlns:a16="http://schemas.microsoft.com/office/drawing/2014/main" id="{2937B459-39CE-1343-A0AE-C9456413C398}"/>
              </a:ext>
            </a:extLst>
          </p:cNvPr>
          <p:cNvSpPr txBox="1"/>
          <p:nvPr/>
        </p:nvSpPr>
        <p:spPr>
          <a:xfrm>
            <a:off x="1691680" y="1057300"/>
            <a:ext cx="2314600" cy="369332"/>
          </a:xfrm>
          <a:prstGeom prst="rect">
            <a:avLst/>
          </a:prstGeom>
          <a:noFill/>
          <a:ln>
            <a:noFill/>
          </a:ln>
        </p:spPr>
        <p:txBody>
          <a:bodyPr wrap="square" rtlCol="0">
            <a:spAutoFit/>
          </a:bodyPr>
          <a:lstStyle/>
          <a:p>
            <a:pPr algn="ctr"/>
            <a:r>
              <a:rPr kumimoji="1" lang="en-US" altLang="zh-CN" b="1" dirty="0">
                <a:solidFill>
                  <a:srgbClr val="404040"/>
                </a:solidFill>
                <a:latin typeface="DengXian" charset="0"/>
                <a:ea typeface="DengXian" charset="0"/>
                <a:cs typeface="DengXian" charset="0"/>
              </a:rPr>
              <a:t>Type-1</a:t>
            </a:r>
            <a:endParaRPr kumimoji="1" lang="zh-CN" altLang="en-US" b="1" dirty="0">
              <a:solidFill>
                <a:srgbClr val="404040"/>
              </a:solidFill>
              <a:latin typeface="DengXian" charset="0"/>
              <a:ea typeface="DengXian" charset="0"/>
              <a:cs typeface="DengXian" charset="0"/>
            </a:endParaRPr>
          </a:p>
        </p:txBody>
      </p:sp>
      <p:cxnSp>
        <p:nvCxnSpPr>
          <p:cNvPr id="40" name="Straight Connector 13">
            <a:extLst>
              <a:ext uri="{FF2B5EF4-FFF2-40B4-BE49-F238E27FC236}">
                <a16:creationId xmlns:a16="http://schemas.microsoft.com/office/drawing/2014/main" id="{813447C9-2048-3F4B-A1C5-C60DFD454E16}"/>
              </a:ext>
            </a:extLst>
          </p:cNvPr>
          <p:cNvCxnSpPr>
            <a:cxnSpLocks/>
          </p:cNvCxnSpPr>
          <p:nvPr/>
        </p:nvCxnSpPr>
        <p:spPr>
          <a:xfrm>
            <a:off x="4932040" y="2641476"/>
            <a:ext cx="2697018" cy="0"/>
          </a:xfrm>
          <a:prstGeom prst="line">
            <a:avLst/>
          </a:prstGeom>
          <a:ln>
            <a:solidFill>
              <a:srgbClr val="BE384B"/>
            </a:solidFill>
          </a:ln>
          <a:effectLst/>
        </p:spPr>
        <p:style>
          <a:lnRef idx="2">
            <a:schemeClr val="accent1"/>
          </a:lnRef>
          <a:fillRef idx="0">
            <a:schemeClr val="accent1"/>
          </a:fillRef>
          <a:effectRef idx="1">
            <a:schemeClr val="accent1"/>
          </a:effectRef>
          <a:fontRef idx="minor">
            <a:schemeClr val="tx1"/>
          </a:fontRef>
        </p:style>
      </p:cxnSp>
      <p:sp>
        <p:nvSpPr>
          <p:cNvPr id="42" name="文本框 41">
            <a:extLst>
              <a:ext uri="{FF2B5EF4-FFF2-40B4-BE49-F238E27FC236}">
                <a16:creationId xmlns:a16="http://schemas.microsoft.com/office/drawing/2014/main" id="{7BDFB596-E851-BE47-8C1D-5F5619273814}"/>
              </a:ext>
            </a:extLst>
          </p:cNvPr>
          <p:cNvSpPr txBox="1"/>
          <p:nvPr/>
        </p:nvSpPr>
        <p:spPr>
          <a:xfrm>
            <a:off x="4932040" y="2641476"/>
            <a:ext cx="631904" cy="523220"/>
          </a:xfrm>
          <a:prstGeom prst="rect">
            <a:avLst/>
          </a:prstGeom>
          <a:noFill/>
        </p:spPr>
        <p:txBody>
          <a:bodyPr wrap="none" rtlCol="0">
            <a:spAutoFit/>
          </a:bodyPr>
          <a:lstStyle/>
          <a:p>
            <a:pPr algn="ctr"/>
            <a:r>
              <a:rPr kumimoji="1" lang="en-US" altLang="zh-CN" sz="1400" dirty="0"/>
              <a:t>Root</a:t>
            </a:r>
            <a:r>
              <a:rPr kumimoji="1" lang="zh-CN" altLang="en-US" sz="1400" dirty="0"/>
              <a:t> </a:t>
            </a:r>
            <a:endParaRPr kumimoji="1" lang="en-US" altLang="zh-CN" sz="1400" dirty="0"/>
          </a:p>
          <a:p>
            <a:pPr algn="ctr"/>
            <a:r>
              <a:rPr kumimoji="1" lang="en-US" altLang="zh-CN" sz="1400" dirty="0"/>
              <a:t>Mode</a:t>
            </a:r>
            <a:endParaRPr kumimoji="1" lang="zh-CN" altLang="en-US" sz="1400" dirty="0"/>
          </a:p>
        </p:txBody>
      </p:sp>
      <p:sp>
        <p:nvSpPr>
          <p:cNvPr id="43" name="文本框 42">
            <a:extLst>
              <a:ext uri="{FF2B5EF4-FFF2-40B4-BE49-F238E27FC236}">
                <a16:creationId xmlns:a16="http://schemas.microsoft.com/office/drawing/2014/main" id="{074DBA0A-837D-1149-9460-E34163643C35}"/>
              </a:ext>
            </a:extLst>
          </p:cNvPr>
          <p:cNvSpPr txBox="1"/>
          <p:nvPr/>
        </p:nvSpPr>
        <p:spPr>
          <a:xfrm>
            <a:off x="4788024" y="1849388"/>
            <a:ext cx="930063" cy="523220"/>
          </a:xfrm>
          <a:prstGeom prst="rect">
            <a:avLst/>
          </a:prstGeom>
          <a:noFill/>
        </p:spPr>
        <p:txBody>
          <a:bodyPr wrap="none" rtlCol="0">
            <a:spAutoFit/>
          </a:bodyPr>
          <a:lstStyle/>
          <a:p>
            <a:pPr algn="ctr"/>
            <a:r>
              <a:rPr kumimoji="1" lang="en-US" altLang="zh-CN" sz="1400" dirty="0"/>
              <a:t>Non-root</a:t>
            </a:r>
            <a:r>
              <a:rPr kumimoji="1" lang="zh-CN" altLang="en-US" sz="1400" dirty="0"/>
              <a:t> </a:t>
            </a:r>
            <a:endParaRPr kumimoji="1" lang="en-US" altLang="zh-CN" sz="1400" dirty="0"/>
          </a:p>
          <a:p>
            <a:pPr algn="ctr"/>
            <a:r>
              <a:rPr kumimoji="1" lang="en-US" altLang="zh-CN" sz="1400" dirty="0"/>
              <a:t>Mode</a:t>
            </a:r>
            <a:endParaRPr kumimoji="1" lang="zh-CN" altLang="en-US" sz="1400" dirty="0"/>
          </a:p>
        </p:txBody>
      </p:sp>
      <p:cxnSp>
        <p:nvCxnSpPr>
          <p:cNvPr id="45" name="Straight Connector 13">
            <a:extLst>
              <a:ext uri="{FF2B5EF4-FFF2-40B4-BE49-F238E27FC236}">
                <a16:creationId xmlns:a16="http://schemas.microsoft.com/office/drawing/2014/main" id="{F0C4ED27-A218-FA41-AA07-A547F23EC19A}"/>
              </a:ext>
            </a:extLst>
          </p:cNvPr>
          <p:cNvCxnSpPr>
            <a:cxnSpLocks/>
          </p:cNvCxnSpPr>
          <p:nvPr/>
        </p:nvCxnSpPr>
        <p:spPr>
          <a:xfrm>
            <a:off x="1763688" y="2641476"/>
            <a:ext cx="2485336" cy="0"/>
          </a:xfrm>
          <a:prstGeom prst="line">
            <a:avLst/>
          </a:prstGeom>
          <a:ln>
            <a:solidFill>
              <a:srgbClr val="BE384B"/>
            </a:solidFill>
          </a:ln>
          <a:effectLst/>
        </p:spPr>
        <p:style>
          <a:lnRef idx="2">
            <a:schemeClr val="accent1"/>
          </a:lnRef>
          <a:fillRef idx="0">
            <a:schemeClr val="accent1"/>
          </a:fillRef>
          <a:effectRef idx="1">
            <a:schemeClr val="accent1"/>
          </a:effectRef>
          <a:fontRef idx="minor">
            <a:schemeClr val="tx1"/>
          </a:fontRef>
        </p:style>
      </p:cxnSp>
      <p:sp>
        <p:nvSpPr>
          <p:cNvPr id="46" name="文本框 45">
            <a:extLst>
              <a:ext uri="{FF2B5EF4-FFF2-40B4-BE49-F238E27FC236}">
                <a16:creationId xmlns:a16="http://schemas.microsoft.com/office/drawing/2014/main" id="{162C3C2C-BE9A-C448-9896-A4CDE9D11852}"/>
              </a:ext>
            </a:extLst>
          </p:cNvPr>
          <p:cNvSpPr txBox="1"/>
          <p:nvPr/>
        </p:nvSpPr>
        <p:spPr>
          <a:xfrm>
            <a:off x="1691680" y="2641476"/>
            <a:ext cx="631904" cy="523220"/>
          </a:xfrm>
          <a:prstGeom prst="rect">
            <a:avLst/>
          </a:prstGeom>
          <a:noFill/>
        </p:spPr>
        <p:txBody>
          <a:bodyPr wrap="none" rtlCol="0">
            <a:spAutoFit/>
          </a:bodyPr>
          <a:lstStyle/>
          <a:p>
            <a:pPr algn="ctr"/>
            <a:r>
              <a:rPr kumimoji="1" lang="en-US" altLang="zh-CN" sz="1400" dirty="0"/>
              <a:t>Root</a:t>
            </a:r>
            <a:r>
              <a:rPr kumimoji="1" lang="zh-CN" altLang="en-US" sz="1400" dirty="0"/>
              <a:t> </a:t>
            </a:r>
            <a:endParaRPr kumimoji="1" lang="en-US" altLang="zh-CN" sz="1400" dirty="0"/>
          </a:p>
          <a:p>
            <a:pPr algn="ctr"/>
            <a:r>
              <a:rPr kumimoji="1" lang="en-US" altLang="zh-CN" sz="1400" dirty="0"/>
              <a:t>Mode</a:t>
            </a:r>
            <a:endParaRPr kumimoji="1" lang="zh-CN" altLang="en-US" sz="1400" dirty="0"/>
          </a:p>
        </p:txBody>
      </p:sp>
      <p:sp>
        <p:nvSpPr>
          <p:cNvPr id="48" name="文本框 47">
            <a:extLst>
              <a:ext uri="{FF2B5EF4-FFF2-40B4-BE49-F238E27FC236}">
                <a16:creationId xmlns:a16="http://schemas.microsoft.com/office/drawing/2014/main" id="{006CC55C-4C20-B048-8638-E365C0AD665C}"/>
              </a:ext>
            </a:extLst>
          </p:cNvPr>
          <p:cNvSpPr txBox="1"/>
          <p:nvPr/>
        </p:nvSpPr>
        <p:spPr>
          <a:xfrm>
            <a:off x="1547664" y="1777380"/>
            <a:ext cx="930063" cy="523220"/>
          </a:xfrm>
          <a:prstGeom prst="rect">
            <a:avLst/>
          </a:prstGeom>
          <a:noFill/>
        </p:spPr>
        <p:txBody>
          <a:bodyPr wrap="none" rtlCol="0">
            <a:spAutoFit/>
          </a:bodyPr>
          <a:lstStyle/>
          <a:p>
            <a:pPr algn="ctr"/>
            <a:r>
              <a:rPr kumimoji="1" lang="en-US" altLang="zh-CN" sz="1400" dirty="0"/>
              <a:t>Non-root</a:t>
            </a:r>
            <a:r>
              <a:rPr kumimoji="1" lang="zh-CN" altLang="en-US" sz="1400" dirty="0"/>
              <a:t> </a:t>
            </a:r>
            <a:endParaRPr kumimoji="1" lang="en-US" altLang="zh-CN" sz="1400" dirty="0"/>
          </a:p>
          <a:p>
            <a:pPr algn="ctr"/>
            <a:r>
              <a:rPr kumimoji="1" lang="en-US" altLang="zh-CN" sz="1400" dirty="0"/>
              <a:t>Mode</a:t>
            </a:r>
            <a:endParaRPr kumimoji="1" lang="zh-CN" altLang="en-US" sz="1400" dirty="0"/>
          </a:p>
        </p:txBody>
      </p:sp>
      <p:sp>
        <p:nvSpPr>
          <p:cNvPr id="57" name="文本框 56">
            <a:extLst>
              <a:ext uri="{FF2B5EF4-FFF2-40B4-BE49-F238E27FC236}">
                <a16:creationId xmlns:a16="http://schemas.microsoft.com/office/drawing/2014/main" id="{29A4FAB6-7ABC-FC49-9A96-498A7B01BE47}"/>
              </a:ext>
            </a:extLst>
          </p:cNvPr>
          <p:cNvSpPr txBox="1"/>
          <p:nvPr/>
        </p:nvSpPr>
        <p:spPr>
          <a:xfrm>
            <a:off x="1722396" y="4657700"/>
            <a:ext cx="503664" cy="307777"/>
          </a:xfrm>
          <a:prstGeom prst="rect">
            <a:avLst/>
          </a:prstGeom>
          <a:noFill/>
        </p:spPr>
        <p:txBody>
          <a:bodyPr wrap="none" rtlCol="0">
            <a:spAutoFit/>
          </a:bodyPr>
          <a:lstStyle/>
          <a:p>
            <a:pPr algn="ctr"/>
            <a:r>
              <a:rPr kumimoji="1" lang="en-US" altLang="zh-CN" sz="1400" dirty="0"/>
              <a:t>EL2</a:t>
            </a:r>
            <a:endParaRPr kumimoji="1" lang="zh-CN" altLang="en-US" sz="1400" dirty="0"/>
          </a:p>
        </p:txBody>
      </p:sp>
      <p:sp>
        <p:nvSpPr>
          <p:cNvPr id="58" name="文本框 57">
            <a:extLst>
              <a:ext uri="{FF2B5EF4-FFF2-40B4-BE49-F238E27FC236}">
                <a16:creationId xmlns:a16="http://schemas.microsoft.com/office/drawing/2014/main" id="{407BACC5-7776-FF4E-9175-2CA109305348}"/>
              </a:ext>
            </a:extLst>
          </p:cNvPr>
          <p:cNvSpPr txBox="1"/>
          <p:nvPr/>
        </p:nvSpPr>
        <p:spPr>
          <a:xfrm>
            <a:off x="1506372" y="3865612"/>
            <a:ext cx="942887" cy="307777"/>
          </a:xfrm>
          <a:prstGeom prst="rect">
            <a:avLst/>
          </a:prstGeom>
          <a:noFill/>
        </p:spPr>
        <p:txBody>
          <a:bodyPr wrap="none" rtlCol="0">
            <a:spAutoFit/>
          </a:bodyPr>
          <a:lstStyle/>
          <a:p>
            <a:pPr algn="ctr"/>
            <a:r>
              <a:rPr kumimoji="1" lang="en-US" altLang="zh-CN" sz="1400" dirty="0"/>
              <a:t>EL0&amp;EL1</a:t>
            </a:r>
            <a:endParaRPr kumimoji="1" lang="zh-CN" altLang="en-US" sz="1400" dirty="0"/>
          </a:p>
        </p:txBody>
      </p:sp>
      <p:sp>
        <p:nvSpPr>
          <p:cNvPr id="59" name="Rectangle 22">
            <a:extLst>
              <a:ext uri="{FF2B5EF4-FFF2-40B4-BE49-F238E27FC236}">
                <a16:creationId xmlns:a16="http://schemas.microsoft.com/office/drawing/2014/main" id="{22DE1FD9-D3BF-644A-89D7-A9C8EA7149DE}"/>
              </a:ext>
            </a:extLst>
          </p:cNvPr>
          <p:cNvSpPr/>
          <p:nvPr/>
        </p:nvSpPr>
        <p:spPr>
          <a:xfrm>
            <a:off x="5724128" y="4657700"/>
            <a:ext cx="1761833" cy="322200"/>
          </a:xfrm>
          <a:prstGeom prst="rect">
            <a:avLst/>
          </a:prstGeom>
          <a:no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zh-CN" altLang="en-US" sz="1600" dirty="0">
                <a:solidFill>
                  <a:srgbClr val="404040"/>
                </a:solidFill>
                <a:cs typeface="Arial Narrow"/>
              </a:rPr>
              <a:t>  </a:t>
            </a:r>
            <a:r>
              <a:rPr lang="en-US" altLang="zh-CN" sz="1600" dirty="0">
                <a:solidFill>
                  <a:srgbClr val="404040"/>
                </a:solidFill>
                <a:cs typeface="Arial Narrow"/>
              </a:rPr>
              <a:t>Host</a:t>
            </a:r>
            <a:r>
              <a:rPr lang="zh-CN" altLang="en-US" sz="1600" dirty="0">
                <a:solidFill>
                  <a:srgbClr val="404040"/>
                </a:solidFill>
                <a:cs typeface="Arial Narrow"/>
              </a:rPr>
              <a:t> </a:t>
            </a:r>
            <a:r>
              <a:rPr lang="en-US" altLang="zh-CN" sz="1600" dirty="0">
                <a:solidFill>
                  <a:srgbClr val="404040"/>
                </a:solidFill>
                <a:cs typeface="Arial Narrow"/>
              </a:rPr>
              <a:t>OS</a:t>
            </a:r>
            <a:endParaRPr lang="en-US" sz="1600" dirty="0">
              <a:solidFill>
                <a:srgbClr val="404040"/>
              </a:solidFill>
              <a:cs typeface="Arial Narrow"/>
            </a:endParaRPr>
          </a:p>
        </p:txBody>
      </p:sp>
      <p:sp>
        <p:nvSpPr>
          <p:cNvPr id="60" name="Rectangle 23">
            <a:extLst>
              <a:ext uri="{FF2B5EF4-FFF2-40B4-BE49-F238E27FC236}">
                <a16:creationId xmlns:a16="http://schemas.microsoft.com/office/drawing/2014/main" id="{069DC9FD-1A07-EB40-93C2-43D1B45A4BCB}"/>
              </a:ext>
            </a:extLst>
          </p:cNvPr>
          <p:cNvSpPr/>
          <p:nvPr/>
        </p:nvSpPr>
        <p:spPr>
          <a:xfrm>
            <a:off x="6655891" y="4062265"/>
            <a:ext cx="835531" cy="462028"/>
          </a:xfrm>
          <a:prstGeom prst="rect">
            <a:avLst/>
          </a:prstGeom>
          <a:no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rgbClr val="404040"/>
                </a:solidFill>
                <a:cs typeface="Arial Narrow"/>
              </a:rPr>
              <a:t>VM-2</a:t>
            </a:r>
          </a:p>
        </p:txBody>
      </p:sp>
      <p:sp>
        <p:nvSpPr>
          <p:cNvPr id="61" name="Rectangle 27">
            <a:extLst>
              <a:ext uri="{FF2B5EF4-FFF2-40B4-BE49-F238E27FC236}">
                <a16:creationId xmlns:a16="http://schemas.microsoft.com/office/drawing/2014/main" id="{171008F9-3490-9E43-B1DE-8D571CD2F5CB}"/>
              </a:ext>
            </a:extLst>
          </p:cNvPr>
          <p:cNvSpPr/>
          <p:nvPr/>
        </p:nvSpPr>
        <p:spPr>
          <a:xfrm>
            <a:off x="5729059" y="4062265"/>
            <a:ext cx="835531" cy="462028"/>
          </a:xfrm>
          <a:prstGeom prst="rect">
            <a:avLst/>
          </a:prstGeom>
          <a:no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rgbClr val="404040"/>
                </a:solidFill>
                <a:cs typeface="Arial Narrow"/>
              </a:rPr>
              <a:t>VM-1</a:t>
            </a:r>
            <a:endParaRPr lang="en-US" sz="1600" dirty="0">
              <a:solidFill>
                <a:srgbClr val="404040"/>
              </a:solidFill>
              <a:cs typeface="Arial Narrow"/>
            </a:endParaRPr>
          </a:p>
        </p:txBody>
      </p:sp>
      <p:sp>
        <p:nvSpPr>
          <p:cNvPr id="62" name="Rectangle 27">
            <a:extLst>
              <a:ext uri="{FF2B5EF4-FFF2-40B4-BE49-F238E27FC236}">
                <a16:creationId xmlns:a16="http://schemas.microsoft.com/office/drawing/2014/main" id="{7040E2BA-20C1-BF41-B882-1791ECD759AD}"/>
              </a:ext>
            </a:extLst>
          </p:cNvPr>
          <p:cNvSpPr/>
          <p:nvPr/>
        </p:nvSpPr>
        <p:spPr>
          <a:xfrm>
            <a:off x="5724127" y="3577580"/>
            <a:ext cx="370384" cy="321946"/>
          </a:xfrm>
          <a:prstGeom prst="rect">
            <a:avLst/>
          </a:prstGeom>
          <a:no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rgbClr val="404040"/>
              </a:solidFill>
              <a:cs typeface="Arial Narrow"/>
            </a:endParaRPr>
          </a:p>
        </p:txBody>
      </p:sp>
      <p:sp>
        <p:nvSpPr>
          <p:cNvPr id="63" name="Rectangle 27">
            <a:extLst>
              <a:ext uri="{FF2B5EF4-FFF2-40B4-BE49-F238E27FC236}">
                <a16:creationId xmlns:a16="http://schemas.microsoft.com/office/drawing/2014/main" id="{EFAE4218-B782-3E4C-B160-53D1026FAF41}"/>
              </a:ext>
            </a:extLst>
          </p:cNvPr>
          <p:cNvSpPr/>
          <p:nvPr/>
        </p:nvSpPr>
        <p:spPr>
          <a:xfrm>
            <a:off x="6191233" y="3577580"/>
            <a:ext cx="370384" cy="321946"/>
          </a:xfrm>
          <a:prstGeom prst="rect">
            <a:avLst/>
          </a:prstGeom>
          <a:no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rgbClr val="404040"/>
              </a:solidFill>
              <a:cs typeface="Arial Narrow"/>
            </a:endParaRPr>
          </a:p>
        </p:txBody>
      </p:sp>
      <p:sp>
        <p:nvSpPr>
          <p:cNvPr id="64" name="Rectangle 27">
            <a:extLst>
              <a:ext uri="{FF2B5EF4-FFF2-40B4-BE49-F238E27FC236}">
                <a16:creationId xmlns:a16="http://schemas.microsoft.com/office/drawing/2014/main" id="{1CD96825-8BA9-1948-A6A1-E761A2258983}"/>
              </a:ext>
            </a:extLst>
          </p:cNvPr>
          <p:cNvSpPr/>
          <p:nvPr/>
        </p:nvSpPr>
        <p:spPr>
          <a:xfrm>
            <a:off x="6655889" y="3577580"/>
            <a:ext cx="370384" cy="321946"/>
          </a:xfrm>
          <a:prstGeom prst="rect">
            <a:avLst/>
          </a:prstGeom>
          <a:no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rgbClr val="404040"/>
              </a:solidFill>
              <a:cs typeface="Arial Narrow"/>
            </a:endParaRPr>
          </a:p>
        </p:txBody>
      </p:sp>
      <p:sp>
        <p:nvSpPr>
          <p:cNvPr id="65" name="Rectangle 27">
            <a:extLst>
              <a:ext uri="{FF2B5EF4-FFF2-40B4-BE49-F238E27FC236}">
                <a16:creationId xmlns:a16="http://schemas.microsoft.com/office/drawing/2014/main" id="{68E14584-F017-C24C-8B6E-74D6A1FF7DEC}"/>
              </a:ext>
            </a:extLst>
          </p:cNvPr>
          <p:cNvSpPr/>
          <p:nvPr/>
        </p:nvSpPr>
        <p:spPr>
          <a:xfrm>
            <a:off x="7122995" y="3577580"/>
            <a:ext cx="370384" cy="321946"/>
          </a:xfrm>
          <a:prstGeom prst="rect">
            <a:avLst/>
          </a:prstGeom>
          <a:no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rgbClr val="404040"/>
              </a:solidFill>
              <a:cs typeface="Arial Narrow"/>
            </a:endParaRPr>
          </a:p>
        </p:txBody>
      </p:sp>
      <p:sp>
        <p:nvSpPr>
          <p:cNvPr id="66" name="Rectangle 27">
            <a:extLst>
              <a:ext uri="{FF2B5EF4-FFF2-40B4-BE49-F238E27FC236}">
                <a16:creationId xmlns:a16="http://schemas.microsoft.com/office/drawing/2014/main" id="{6D2CFCDD-990B-F14B-AD3F-96B5B9D45615}"/>
              </a:ext>
            </a:extLst>
          </p:cNvPr>
          <p:cNvSpPr/>
          <p:nvPr/>
        </p:nvSpPr>
        <p:spPr>
          <a:xfrm>
            <a:off x="6745303" y="4713273"/>
            <a:ext cx="691543" cy="217303"/>
          </a:xfrm>
          <a:prstGeom prst="rect">
            <a:avLst/>
          </a:prstGeom>
          <a:solidFill>
            <a:srgbClr val="BE384B"/>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chemeClr val="bg1"/>
                </a:solidFill>
                <a:cs typeface="Arial Narrow"/>
              </a:rPr>
              <a:t>VMM</a:t>
            </a:r>
            <a:endParaRPr lang="en-US" sz="1600" dirty="0">
              <a:solidFill>
                <a:schemeClr val="bg1"/>
              </a:solidFill>
              <a:cs typeface="Arial Narrow"/>
            </a:endParaRPr>
          </a:p>
        </p:txBody>
      </p:sp>
      <p:cxnSp>
        <p:nvCxnSpPr>
          <p:cNvPr id="67" name="Straight Connector 13">
            <a:extLst>
              <a:ext uri="{FF2B5EF4-FFF2-40B4-BE49-F238E27FC236}">
                <a16:creationId xmlns:a16="http://schemas.microsoft.com/office/drawing/2014/main" id="{DF9EBC74-2736-7F4B-A7BE-E18656A3AFB4}"/>
              </a:ext>
            </a:extLst>
          </p:cNvPr>
          <p:cNvCxnSpPr>
            <a:cxnSpLocks/>
          </p:cNvCxnSpPr>
          <p:nvPr/>
        </p:nvCxnSpPr>
        <p:spPr>
          <a:xfrm>
            <a:off x="4932039" y="4585692"/>
            <a:ext cx="2697018" cy="0"/>
          </a:xfrm>
          <a:prstGeom prst="line">
            <a:avLst/>
          </a:prstGeom>
          <a:ln>
            <a:solidFill>
              <a:srgbClr val="BE384B"/>
            </a:solidFill>
          </a:ln>
          <a:effectLst/>
        </p:spPr>
        <p:style>
          <a:lnRef idx="2">
            <a:schemeClr val="accent1"/>
          </a:lnRef>
          <a:fillRef idx="0">
            <a:schemeClr val="accent1"/>
          </a:fillRef>
          <a:effectRef idx="1">
            <a:schemeClr val="accent1"/>
          </a:effectRef>
          <a:fontRef idx="minor">
            <a:schemeClr val="tx1"/>
          </a:fontRef>
        </p:style>
      </p:cxnSp>
      <p:sp>
        <p:nvSpPr>
          <p:cNvPr id="68" name="文本框 67">
            <a:extLst>
              <a:ext uri="{FF2B5EF4-FFF2-40B4-BE49-F238E27FC236}">
                <a16:creationId xmlns:a16="http://schemas.microsoft.com/office/drawing/2014/main" id="{0CCB9E86-4728-A844-8A7E-4337254BCA3F}"/>
              </a:ext>
            </a:extLst>
          </p:cNvPr>
          <p:cNvSpPr txBox="1"/>
          <p:nvPr/>
        </p:nvSpPr>
        <p:spPr>
          <a:xfrm>
            <a:off x="5004048" y="4657700"/>
            <a:ext cx="503664" cy="307777"/>
          </a:xfrm>
          <a:prstGeom prst="rect">
            <a:avLst/>
          </a:prstGeom>
          <a:noFill/>
        </p:spPr>
        <p:txBody>
          <a:bodyPr wrap="none" rtlCol="0">
            <a:spAutoFit/>
          </a:bodyPr>
          <a:lstStyle/>
          <a:p>
            <a:pPr algn="ctr"/>
            <a:r>
              <a:rPr kumimoji="1" lang="en-US" altLang="zh-CN" sz="1400" dirty="0"/>
              <a:t>EL2</a:t>
            </a:r>
            <a:endParaRPr kumimoji="1" lang="zh-CN" altLang="en-US" sz="1400" dirty="0"/>
          </a:p>
        </p:txBody>
      </p:sp>
      <p:sp>
        <p:nvSpPr>
          <p:cNvPr id="70" name="文本框 69">
            <a:extLst>
              <a:ext uri="{FF2B5EF4-FFF2-40B4-BE49-F238E27FC236}">
                <a16:creationId xmlns:a16="http://schemas.microsoft.com/office/drawing/2014/main" id="{28D1DEC6-EC4C-CC45-ACC1-5FABCD64541E}"/>
              </a:ext>
            </a:extLst>
          </p:cNvPr>
          <p:cNvSpPr txBox="1"/>
          <p:nvPr/>
        </p:nvSpPr>
        <p:spPr>
          <a:xfrm>
            <a:off x="4860032" y="3865612"/>
            <a:ext cx="942887" cy="307777"/>
          </a:xfrm>
          <a:prstGeom prst="rect">
            <a:avLst/>
          </a:prstGeom>
          <a:noFill/>
        </p:spPr>
        <p:txBody>
          <a:bodyPr wrap="none" rtlCol="0">
            <a:spAutoFit/>
          </a:bodyPr>
          <a:lstStyle/>
          <a:p>
            <a:pPr algn="ctr"/>
            <a:r>
              <a:rPr kumimoji="1" lang="en-US" altLang="zh-CN" sz="1400" dirty="0"/>
              <a:t>EL0&amp;EL1</a:t>
            </a:r>
            <a:endParaRPr kumimoji="1" lang="zh-CN" altLang="en-US" sz="1400" dirty="0"/>
          </a:p>
        </p:txBody>
      </p:sp>
      <p:cxnSp>
        <p:nvCxnSpPr>
          <p:cNvPr id="71" name="Straight Connector 13">
            <a:extLst>
              <a:ext uri="{FF2B5EF4-FFF2-40B4-BE49-F238E27FC236}">
                <a16:creationId xmlns:a16="http://schemas.microsoft.com/office/drawing/2014/main" id="{AB370ED3-2120-1144-9943-CEC50D090175}"/>
              </a:ext>
            </a:extLst>
          </p:cNvPr>
          <p:cNvCxnSpPr>
            <a:cxnSpLocks/>
          </p:cNvCxnSpPr>
          <p:nvPr/>
        </p:nvCxnSpPr>
        <p:spPr>
          <a:xfrm>
            <a:off x="467544" y="3361556"/>
            <a:ext cx="7992888"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3" name="Straight Connector 13">
            <a:extLst>
              <a:ext uri="{FF2B5EF4-FFF2-40B4-BE49-F238E27FC236}">
                <a16:creationId xmlns:a16="http://schemas.microsoft.com/office/drawing/2014/main" id="{C12EFA4C-9F8C-3D46-BD65-E31E8643A7B3}"/>
              </a:ext>
            </a:extLst>
          </p:cNvPr>
          <p:cNvCxnSpPr>
            <a:cxnSpLocks/>
          </p:cNvCxnSpPr>
          <p:nvPr/>
        </p:nvCxnSpPr>
        <p:spPr>
          <a:xfrm>
            <a:off x="4644008" y="1057300"/>
            <a:ext cx="0" cy="4176464"/>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1" name="文本框 80">
            <a:extLst>
              <a:ext uri="{FF2B5EF4-FFF2-40B4-BE49-F238E27FC236}">
                <a16:creationId xmlns:a16="http://schemas.microsoft.com/office/drawing/2014/main" id="{9E661C52-A044-C34F-8D29-A22A47F3CB7C}"/>
              </a:ext>
            </a:extLst>
          </p:cNvPr>
          <p:cNvSpPr txBox="1"/>
          <p:nvPr/>
        </p:nvSpPr>
        <p:spPr>
          <a:xfrm>
            <a:off x="5292080" y="1057300"/>
            <a:ext cx="2314600" cy="369332"/>
          </a:xfrm>
          <a:prstGeom prst="rect">
            <a:avLst/>
          </a:prstGeom>
          <a:noFill/>
          <a:ln>
            <a:noFill/>
          </a:ln>
        </p:spPr>
        <p:txBody>
          <a:bodyPr wrap="square" rtlCol="0">
            <a:spAutoFit/>
          </a:bodyPr>
          <a:lstStyle/>
          <a:p>
            <a:pPr algn="ctr"/>
            <a:r>
              <a:rPr kumimoji="1" lang="en-US" altLang="zh-CN" b="1" dirty="0">
                <a:solidFill>
                  <a:srgbClr val="404040"/>
                </a:solidFill>
                <a:latin typeface="DengXian" charset="0"/>
                <a:ea typeface="DengXian" charset="0"/>
                <a:cs typeface="DengXian" charset="0"/>
              </a:rPr>
              <a:t>Type-2</a:t>
            </a:r>
            <a:endParaRPr kumimoji="1" lang="zh-CN" altLang="en-US" b="1" dirty="0">
              <a:solidFill>
                <a:srgbClr val="404040"/>
              </a:solidFill>
              <a:latin typeface="DengXian" charset="0"/>
              <a:ea typeface="DengXian" charset="0"/>
              <a:cs typeface="DengXian" charset="0"/>
            </a:endParaRPr>
          </a:p>
        </p:txBody>
      </p:sp>
      <p:sp>
        <p:nvSpPr>
          <p:cNvPr id="82" name="文本框 81">
            <a:extLst>
              <a:ext uri="{FF2B5EF4-FFF2-40B4-BE49-F238E27FC236}">
                <a16:creationId xmlns:a16="http://schemas.microsoft.com/office/drawing/2014/main" id="{099BB94A-B350-0245-BCA8-D51493935DC3}"/>
              </a:ext>
            </a:extLst>
          </p:cNvPr>
          <p:cNvSpPr txBox="1"/>
          <p:nvPr/>
        </p:nvSpPr>
        <p:spPr>
          <a:xfrm>
            <a:off x="-396552" y="2209428"/>
            <a:ext cx="2314600" cy="369332"/>
          </a:xfrm>
          <a:prstGeom prst="rect">
            <a:avLst/>
          </a:prstGeom>
          <a:noFill/>
          <a:ln>
            <a:noFill/>
          </a:ln>
        </p:spPr>
        <p:txBody>
          <a:bodyPr wrap="square" rtlCol="0">
            <a:spAutoFit/>
          </a:bodyPr>
          <a:lstStyle/>
          <a:p>
            <a:pPr algn="ctr"/>
            <a:r>
              <a:rPr kumimoji="1" lang="en-US" altLang="zh-CN" b="1" dirty="0">
                <a:solidFill>
                  <a:srgbClr val="404040"/>
                </a:solidFill>
                <a:latin typeface="DengXian" charset="0"/>
                <a:ea typeface="DengXian" charset="0"/>
                <a:cs typeface="DengXian" charset="0"/>
              </a:rPr>
              <a:t>VT-x</a:t>
            </a:r>
            <a:endParaRPr kumimoji="1" lang="zh-CN" altLang="en-US" b="1" dirty="0">
              <a:solidFill>
                <a:srgbClr val="404040"/>
              </a:solidFill>
              <a:latin typeface="DengXian" charset="0"/>
              <a:ea typeface="DengXian" charset="0"/>
              <a:cs typeface="DengXian" charset="0"/>
            </a:endParaRPr>
          </a:p>
        </p:txBody>
      </p:sp>
      <p:sp>
        <p:nvSpPr>
          <p:cNvPr id="83" name="文本框 82">
            <a:extLst>
              <a:ext uri="{FF2B5EF4-FFF2-40B4-BE49-F238E27FC236}">
                <a16:creationId xmlns:a16="http://schemas.microsoft.com/office/drawing/2014/main" id="{3E7C4618-5800-D845-B028-E59DF467DE39}"/>
              </a:ext>
            </a:extLst>
          </p:cNvPr>
          <p:cNvSpPr txBox="1"/>
          <p:nvPr/>
        </p:nvSpPr>
        <p:spPr>
          <a:xfrm>
            <a:off x="-396552" y="4153644"/>
            <a:ext cx="2314600" cy="369332"/>
          </a:xfrm>
          <a:prstGeom prst="rect">
            <a:avLst/>
          </a:prstGeom>
          <a:noFill/>
          <a:ln>
            <a:noFill/>
          </a:ln>
        </p:spPr>
        <p:txBody>
          <a:bodyPr wrap="square" rtlCol="0">
            <a:spAutoFit/>
          </a:bodyPr>
          <a:lstStyle/>
          <a:p>
            <a:pPr algn="ctr"/>
            <a:r>
              <a:rPr kumimoji="1" lang="en-US" altLang="zh-CN" b="1" dirty="0">
                <a:solidFill>
                  <a:srgbClr val="404040"/>
                </a:solidFill>
                <a:latin typeface="DengXian" charset="0"/>
                <a:ea typeface="DengXian" charset="0"/>
                <a:cs typeface="DengXian" charset="0"/>
              </a:rPr>
              <a:t>VHE</a:t>
            </a:r>
            <a:endParaRPr kumimoji="1" lang="zh-CN" altLang="en-US" b="1" dirty="0">
              <a:solidFill>
                <a:srgbClr val="404040"/>
              </a:solidFill>
              <a:latin typeface="DengXian" charset="0"/>
              <a:ea typeface="DengXian" charset="0"/>
              <a:cs typeface="DengXian" charset="0"/>
            </a:endParaRPr>
          </a:p>
        </p:txBody>
      </p:sp>
      <p:cxnSp>
        <p:nvCxnSpPr>
          <p:cNvPr id="84" name="Straight Connector 13">
            <a:extLst>
              <a:ext uri="{FF2B5EF4-FFF2-40B4-BE49-F238E27FC236}">
                <a16:creationId xmlns:a16="http://schemas.microsoft.com/office/drawing/2014/main" id="{DEC4325F-0D09-4E46-A1BF-90F7D8217BCA}"/>
              </a:ext>
            </a:extLst>
          </p:cNvPr>
          <p:cNvCxnSpPr>
            <a:cxnSpLocks/>
          </p:cNvCxnSpPr>
          <p:nvPr/>
        </p:nvCxnSpPr>
        <p:spPr>
          <a:xfrm>
            <a:off x="467544" y="5233764"/>
            <a:ext cx="7992888"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6" name="Straight Connector 13">
            <a:extLst>
              <a:ext uri="{FF2B5EF4-FFF2-40B4-BE49-F238E27FC236}">
                <a16:creationId xmlns:a16="http://schemas.microsoft.com/office/drawing/2014/main" id="{A3D42C55-2E8D-9F43-B5C0-8EC5113AC1B2}"/>
              </a:ext>
            </a:extLst>
          </p:cNvPr>
          <p:cNvCxnSpPr>
            <a:cxnSpLocks/>
          </p:cNvCxnSpPr>
          <p:nvPr/>
        </p:nvCxnSpPr>
        <p:spPr>
          <a:xfrm>
            <a:off x="1259632" y="1057300"/>
            <a:ext cx="0" cy="4176464"/>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90" name="Straight Connector 13">
            <a:extLst>
              <a:ext uri="{FF2B5EF4-FFF2-40B4-BE49-F238E27FC236}">
                <a16:creationId xmlns:a16="http://schemas.microsoft.com/office/drawing/2014/main" id="{48AC6149-6122-A547-B2D8-9AF6ED65200C}"/>
              </a:ext>
            </a:extLst>
          </p:cNvPr>
          <p:cNvCxnSpPr>
            <a:cxnSpLocks/>
          </p:cNvCxnSpPr>
          <p:nvPr/>
        </p:nvCxnSpPr>
        <p:spPr>
          <a:xfrm>
            <a:off x="467544" y="1489348"/>
            <a:ext cx="8424936"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5" name="Rectangle 22">
            <a:extLst>
              <a:ext uri="{FF2B5EF4-FFF2-40B4-BE49-F238E27FC236}">
                <a16:creationId xmlns:a16="http://schemas.microsoft.com/office/drawing/2014/main" id="{C456793D-2103-5D4E-B557-C24B1AE47FD3}"/>
              </a:ext>
            </a:extLst>
          </p:cNvPr>
          <p:cNvSpPr/>
          <p:nvPr/>
        </p:nvSpPr>
        <p:spPr>
          <a:xfrm>
            <a:off x="2416101" y="4702012"/>
            <a:ext cx="1761833" cy="216024"/>
          </a:xfrm>
          <a:prstGeom prst="rect">
            <a:avLst/>
          </a:prstGeom>
          <a:solidFill>
            <a:srgbClr val="BE384B"/>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chemeClr val="bg1"/>
                </a:solidFill>
                <a:cs typeface="Arial Narrow"/>
              </a:rPr>
              <a:t>VMM</a:t>
            </a:r>
            <a:endParaRPr lang="en-US" sz="1600" dirty="0">
              <a:solidFill>
                <a:schemeClr val="bg1"/>
              </a:solidFill>
              <a:cs typeface="Arial Narrow"/>
            </a:endParaRPr>
          </a:p>
        </p:txBody>
      </p:sp>
      <p:sp>
        <p:nvSpPr>
          <p:cNvPr id="96" name="Rectangle 23">
            <a:extLst>
              <a:ext uri="{FF2B5EF4-FFF2-40B4-BE49-F238E27FC236}">
                <a16:creationId xmlns:a16="http://schemas.microsoft.com/office/drawing/2014/main" id="{377EAACF-AE24-274A-B8EC-BD3E39CA6244}"/>
              </a:ext>
            </a:extLst>
          </p:cNvPr>
          <p:cNvSpPr/>
          <p:nvPr/>
        </p:nvSpPr>
        <p:spPr>
          <a:xfrm>
            <a:off x="3347864" y="4009628"/>
            <a:ext cx="835531" cy="462028"/>
          </a:xfrm>
          <a:prstGeom prst="rect">
            <a:avLst/>
          </a:prstGeom>
          <a:no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rgbClr val="404040"/>
                </a:solidFill>
                <a:cs typeface="Arial Narrow"/>
              </a:rPr>
              <a:t>VM-2</a:t>
            </a:r>
          </a:p>
        </p:txBody>
      </p:sp>
      <p:sp>
        <p:nvSpPr>
          <p:cNvPr id="97" name="Rectangle 27">
            <a:extLst>
              <a:ext uri="{FF2B5EF4-FFF2-40B4-BE49-F238E27FC236}">
                <a16:creationId xmlns:a16="http://schemas.microsoft.com/office/drawing/2014/main" id="{34ABF703-DC32-E24C-95E6-456FD84FDDB5}"/>
              </a:ext>
            </a:extLst>
          </p:cNvPr>
          <p:cNvSpPr/>
          <p:nvPr/>
        </p:nvSpPr>
        <p:spPr>
          <a:xfrm>
            <a:off x="2421032" y="4009628"/>
            <a:ext cx="835531" cy="462028"/>
          </a:xfrm>
          <a:prstGeom prst="rect">
            <a:avLst/>
          </a:prstGeom>
          <a:no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rgbClr val="404040"/>
                </a:solidFill>
                <a:cs typeface="Arial Narrow"/>
              </a:rPr>
              <a:t>VM-1</a:t>
            </a:r>
            <a:endParaRPr lang="en-US" sz="1600" dirty="0">
              <a:solidFill>
                <a:srgbClr val="404040"/>
              </a:solidFill>
              <a:cs typeface="Arial Narrow"/>
            </a:endParaRPr>
          </a:p>
        </p:txBody>
      </p:sp>
      <p:sp>
        <p:nvSpPr>
          <p:cNvPr id="98" name="Rectangle 27">
            <a:extLst>
              <a:ext uri="{FF2B5EF4-FFF2-40B4-BE49-F238E27FC236}">
                <a16:creationId xmlns:a16="http://schemas.microsoft.com/office/drawing/2014/main" id="{E1ED052F-D660-BE46-B609-67D06B4A6EE8}"/>
              </a:ext>
            </a:extLst>
          </p:cNvPr>
          <p:cNvSpPr/>
          <p:nvPr/>
        </p:nvSpPr>
        <p:spPr>
          <a:xfrm>
            <a:off x="2426444" y="3524943"/>
            <a:ext cx="370384" cy="321946"/>
          </a:xfrm>
          <a:prstGeom prst="rect">
            <a:avLst/>
          </a:prstGeom>
          <a:no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rgbClr val="404040"/>
              </a:solidFill>
              <a:cs typeface="Arial Narrow"/>
            </a:endParaRPr>
          </a:p>
        </p:txBody>
      </p:sp>
      <p:sp>
        <p:nvSpPr>
          <p:cNvPr id="99" name="Rectangle 27">
            <a:extLst>
              <a:ext uri="{FF2B5EF4-FFF2-40B4-BE49-F238E27FC236}">
                <a16:creationId xmlns:a16="http://schemas.microsoft.com/office/drawing/2014/main" id="{456B770C-203F-0A45-A645-0266B1435A8F}"/>
              </a:ext>
            </a:extLst>
          </p:cNvPr>
          <p:cNvSpPr/>
          <p:nvPr/>
        </p:nvSpPr>
        <p:spPr>
          <a:xfrm>
            <a:off x="2893550" y="3524943"/>
            <a:ext cx="370384" cy="321946"/>
          </a:xfrm>
          <a:prstGeom prst="rect">
            <a:avLst/>
          </a:prstGeom>
          <a:no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rgbClr val="404040"/>
              </a:solidFill>
              <a:cs typeface="Arial Narrow"/>
            </a:endParaRPr>
          </a:p>
        </p:txBody>
      </p:sp>
      <p:sp>
        <p:nvSpPr>
          <p:cNvPr id="100" name="Rectangle 27">
            <a:extLst>
              <a:ext uri="{FF2B5EF4-FFF2-40B4-BE49-F238E27FC236}">
                <a16:creationId xmlns:a16="http://schemas.microsoft.com/office/drawing/2014/main" id="{82E08288-BBE5-F843-A64E-E47346B970D9}"/>
              </a:ext>
            </a:extLst>
          </p:cNvPr>
          <p:cNvSpPr/>
          <p:nvPr/>
        </p:nvSpPr>
        <p:spPr>
          <a:xfrm>
            <a:off x="3358206" y="3524943"/>
            <a:ext cx="370384" cy="321946"/>
          </a:xfrm>
          <a:prstGeom prst="rect">
            <a:avLst/>
          </a:prstGeom>
          <a:no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rgbClr val="404040"/>
              </a:solidFill>
              <a:cs typeface="Arial Narrow"/>
            </a:endParaRPr>
          </a:p>
        </p:txBody>
      </p:sp>
      <p:sp>
        <p:nvSpPr>
          <p:cNvPr id="101" name="Rectangle 27">
            <a:extLst>
              <a:ext uri="{FF2B5EF4-FFF2-40B4-BE49-F238E27FC236}">
                <a16:creationId xmlns:a16="http://schemas.microsoft.com/office/drawing/2014/main" id="{45F3A112-B2A5-344D-BE2E-AD192B7C1992}"/>
              </a:ext>
            </a:extLst>
          </p:cNvPr>
          <p:cNvSpPr/>
          <p:nvPr/>
        </p:nvSpPr>
        <p:spPr>
          <a:xfrm>
            <a:off x="3825312" y="3524943"/>
            <a:ext cx="370384" cy="321946"/>
          </a:xfrm>
          <a:prstGeom prst="rect">
            <a:avLst/>
          </a:prstGeom>
          <a:no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rgbClr val="404040"/>
              </a:solidFill>
              <a:cs typeface="Arial Narrow"/>
            </a:endParaRPr>
          </a:p>
        </p:txBody>
      </p:sp>
      <p:cxnSp>
        <p:nvCxnSpPr>
          <p:cNvPr id="102" name="Straight Connector 13">
            <a:extLst>
              <a:ext uri="{FF2B5EF4-FFF2-40B4-BE49-F238E27FC236}">
                <a16:creationId xmlns:a16="http://schemas.microsoft.com/office/drawing/2014/main" id="{E38A2C9D-240F-2342-A3EB-421E31DB3050}"/>
              </a:ext>
            </a:extLst>
          </p:cNvPr>
          <p:cNvCxnSpPr>
            <a:cxnSpLocks/>
          </p:cNvCxnSpPr>
          <p:nvPr/>
        </p:nvCxnSpPr>
        <p:spPr>
          <a:xfrm>
            <a:off x="1768029" y="4557996"/>
            <a:ext cx="2485336" cy="0"/>
          </a:xfrm>
          <a:prstGeom prst="line">
            <a:avLst/>
          </a:prstGeom>
          <a:ln>
            <a:solidFill>
              <a:srgbClr val="BE384B"/>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5266593"/>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778495"/>
      </a:dk2>
      <a:lt2>
        <a:srgbClr val="F0F0F0"/>
      </a:lt2>
      <a:accent1>
        <a:srgbClr val="BE384B"/>
      </a:accent1>
      <a:accent2>
        <a:srgbClr val="6A868F"/>
      </a:accent2>
      <a:accent3>
        <a:srgbClr val="32788E"/>
      </a:accent3>
      <a:accent4>
        <a:srgbClr val="D6C88B"/>
      </a:accent4>
      <a:accent5>
        <a:srgbClr val="D66E49"/>
      </a:accent5>
      <a:accent6>
        <a:srgbClr val="BFBFBF"/>
      </a:accent6>
      <a:hlink>
        <a:srgbClr val="BE384B"/>
      </a:hlink>
      <a:folHlink>
        <a:srgbClr val="BFBFBF"/>
      </a:folHlink>
    </a:clrScheme>
    <a:fontScheme name="2obzv3wc">
      <a:majorFont>
        <a:latin typeface="Arial" panose="020B0A040201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JTU-Red" id="{D8CCD1CF-4E9C-2949-907F-EF4853CAD992}" vid="{47F94616-763E-7D43-9BB0-722503DC19A3}"/>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SJTU-Red</Template>
  <TotalTime>49382</TotalTime>
  <Words>3490</Words>
  <Application>Microsoft Macintosh PowerPoint</Application>
  <PresentationFormat>全屏显示(16:10)</PresentationFormat>
  <Paragraphs>663</Paragraphs>
  <Slides>38</Slides>
  <Notes>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38</vt:i4>
      </vt:variant>
    </vt:vector>
  </HeadingPairs>
  <TitlesOfParts>
    <vt:vector size="45" baseType="lpstr">
      <vt:lpstr>DengXian</vt:lpstr>
      <vt:lpstr>微软雅黑</vt:lpstr>
      <vt:lpstr>Arial</vt:lpstr>
      <vt:lpstr>Arial Narrow</vt:lpstr>
      <vt:lpstr>Calibri</vt:lpstr>
      <vt:lpstr>Courier New</vt:lpstr>
      <vt:lpstr>Office 主题​​</vt:lpstr>
      <vt:lpstr>处理器虚拟化</vt:lpstr>
      <vt:lpstr>版权声明</vt:lpstr>
      <vt:lpstr>ARM不是严格的可虚拟化架构</vt:lpstr>
      <vt:lpstr>ARM不是严格的可虚拟化架构</vt:lpstr>
      <vt:lpstr>如何处理这些不会下陷的敏感指令？</vt:lpstr>
      <vt:lpstr>方法1：解释执行</vt:lpstr>
      <vt:lpstr>方法1：解释执行</vt:lpstr>
      <vt:lpstr>例子：使用解释执行来模拟中断的设置</vt:lpstr>
      <vt:lpstr>解释执行的优缺点</vt:lpstr>
      <vt:lpstr>方法2：二进制翻译</vt:lpstr>
      <vt:lpstr>二进制翻译</vt:lpstr>
      <vt:lpstr>二进制翻译的 Basic Blocks</vt:lpstr>
      <vt:lpstr>二进制翻译举例</vt:lpstr>
      <vt:lpstr>二进制翻译举例</vt:lpstr>
      <vt:lpstr>二进制翻译的翻译器（Translator）-1</vt:lpstr>
      <vt:lpstr>二进制翻译的翻译器（Translator）-2</vt:lpstr>
      <vt:lpstr>二进制翻译的缺点</vt:lpstr>
      <vt:lpstr>方法3：半虚拟化 (Para-virtualization)</vt:lpstr>
      <vt:lpstr>半虚拟化方法的优缺点</vt:lpstr>
      <vt:lpstr>方法4：硬件虚拟化</vt:lpstr>
      <vt:lpstr>Intel VT-x</vt:lpstr>
      <vt:lpstr>VT-x的处理器虚拟化</vt:lpstr>
      <vt:lpstr>Virtual Machine Control Structure (VMCS)</vt:lpstr>
      <vt:lpstr>VT-x VMCS的内容</vt:lpstr>
      <vt:lpstr>VT-x的执行过程</vt:lpstr>
      <vt:lpstr>x86中的VM Entry和VM Exit</vt:lpstr>
      <vt:lpstr>ARM的虚拟化技术</vt:lpstr>
      <vt:lpstr>ARM的处理器虚拟化</vt:lpstr>
      <vt:lpstr>ARM的VM Entry和VM Exit</vt:lpstr>
      <vt:lpstr>ARM硬件虚拟化的新功能</vt:lpstr>
      <vt:lpstr>HCR_EL2寄存器简介</vt:lpstr>
      <vt:lpstr>HCR_EL2寄存器简介</vt:lpstr>
      <vt:lpstr>ARM硬件虚拟化发展</vt:lpstr>
      <vt:lpstr>ARMv8.0中的Type-2 VMM架构</vt:lpstr>
      <vt:lpstr>ARMv8.1中的Type-2 VMM架构</vt:lpstr>
      <vt:lpstr>ARMv8.1中的Type-2 VMM架构</vt:lpstr>
      <vt:lpstr>VT-x和VHE对比</vt:lpstr>
      <vt:lpstr>Type-1和Type-2在VT-x和VHE下架构</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虚拟机隔离与安全</dc:title>
  <dc:creator>Xia Yubin</dc:creator>
  <cp:lastModifiedBy>Xia Yubin</cp:lastModifiedBy>
  <cp:revision>5104</cp:revision>
  <cp:lastPrinted>2016-06-13T07:55:34Z</cp:lastPrinted>
  <dcterms:created xsi:type="dcterms:W3CDTF">2017-11-24T09:35:45Z</dcterms:created>
  <dcterms:modified xsi:type="dcterms:W3CDTF">2024-06-14T15:22:31Z</dcterms:modified>
</cp:coreProperties>
</file>