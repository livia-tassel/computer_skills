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handoutMasterIdLst>
    <p:handoutMasterId r:id="rId69"/>
  </p:handoutMasterIdLst>
  <p:sldIdLst>
    <p:sldId id="2324" r:id="rId2"/>
    <p:sldId id="1359" r:id="rId3"/>
    <p:sldId id="2367" r:id="rId4"/>
    <p:sldId id="1403" r:id="rId5"/>
    <p:sldId id="2388" r:id="rId6"/>
    <p:sldId id="2389" r:id="rId7"/>
    <p:sldId id="2390" r:id="rId8"/>
    <p:sldId id="2245" r:id="rId9"/>
    <p:sldId id="2246" r:id="rId10"/>
    <p:sldId id="2249" r:id="rId11"/>
    <p:sldId id="1404" r:id="rId12"/>
    <p:sldId id="2391" r:id="rId13"/>
    <p:sldId id="2250" r:id="rId14"/>
    <p:sldId id="2251" r:id="rId15"/>
    <p:sldId id="1376" r:id="rId16"/>
    <p:sldId id="1377" r:id="rId17"/>
    <p:sldId id="1378" r:id="rId18"/>
    <p:sldId id="1385" r:id="rId19"/>
    <p:sldId id="1387" r:id="rId20"/>
    <p:sldId id="1386" r:id="rId21"/>
    <p:sldId id="1388" r:id="rId22"/>
    <p:sldId id="1389" r:id="rId23"/>
    <p:sldId id="1379" r:id="rId24"/>
    <p:sldId id="1391" r:id="rId25"/>
    <p:sldId id="2252" r:id="rId26"/>
    <p:sldId id="2278" r:id="rId27"/>
    <p:sldId id="2279" r:id="rId28"/>
    <p:sldId id="2280" r:id="rId29"/>
    <p:sldId id="2281" r:id="rId30"/>
    <p:sldId id="2285" r:id="rId31"/>
    <p:sldId id="2286" r:id="rId32"/>
    <p:sldId id="2284" r:id="rId33"/>
    <p:sldId id="2287" r:id="rId34"/>
    <p:sldId id="2288" r:id="rId35"/>
    <p:sldId id="2290" r:id="rId36"/>
    <p:sldId id="2289" r:id="rId37"/>
    <p:sldId id="2291" r:id="rId38"/>
    <p:sldId id="2292" r:id="rId39"/>
    <p:sldId id="2293" r:id="rId40"/>
    <p:sldId id="2294" r:id="rId41"/>
    <p:sldId id="2295" r:id="rId42"/>
    <p:sldId id="2296" r:id="rId43"/>
    <p:sldId id="2297" r:id="rId44"/>
    <p:sldId id="2313" r:id="rId45"/>
    <p:sldId id="2298" r:id="rId46"/>
    <p:sldId id="2299" r:id="rId47"/>
    <p:sldId id="2300" r:id="rId48"/>
    <p:sldId id="2301" r:id="rId49"/>
    <p:sldId id="2302" r:id="rId50"/>
    <p:sldId id="2303" r:id="rId51"/>
    <p:sldId id="2304" r:id="rId52"/>
    <p:sldId id="2305" r:id="rId53"/>
    <p:sldId id="2306" r:id="rId54"/>
    <p:sldId id="2307" r:id="rId55"/>
    <p:sldId id="2308" r:id="rId56"/>
    <p:sldId id="2309" r:id="rId57"/>
    <p:sldId id="2310" r:id="rId58"/>
    <p:sldId id="2311" r:id="rId59"/>
    <p:sldId id="2244" r:id="rId60"/>
    <p:sldId id="1405" r:id="rId61"/>
    <p:sldId id="1380" r:id="rId62"/>
    <p:sldId id="1399" r:id="rId63"/>
    <p:sldId id="2242" r:id="rId64"/>
    <p:sldId id="2860" r:id="rId65"/>
    <p:sldId id="2243" r:id="rId66"/>
    <p:sldId id="1401" r:id="rId67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374B"/>
    <a:srgbClr val="B3B3B4"/>
    <a:srgbClr val="BD3247"/>
    <a:srgbClr val="FF2F92"/>
    <a:srgbClr val="941100"/>
    <a:srgbClr val="212121"/>
    <a:srgbClr val="005493"/>
    <a:srgbClr val="9437FF"/>
    <a:srgbClr val="73FEFF"/>
    <a:srgbClr val="ED3C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 autoAdjust="0"/>
    <p:restoredTop sz="90544" autoAdjust="0"/>
  </p:normalViewPr>
  <p:slideViewPr>
    <p:cSldViewPr>
      <p:cViewPr varScale="1">
        <p:scale>
          <a:sx n="133" d="100"/>
          <a:sy n="133" d="100"/>
        </p:scale>
        <p:origin x="480" y="184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23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093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3679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562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236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9603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405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0394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052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通过出让资源给其它线程，避免计算资源被浪费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939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189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例子来自</a:t>
            </a:r>
            <a:r>
              <a:rPr kumimoji="1" lang="en-US" altLang="zh-CN" dirty="0" err="1"/>
              <a:t>csapp</a:t>
            </a:r>
            <a:r>
              <a:rPr kumimoji="1" lang="zh-CN" altLang="en-US" dirty="0"/>
              <a:t>，有修改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4576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338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94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运行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函数的称为主线程，其他线程称为对等线程（</a:t>
            </a:r>
            <a:r>
              <a:rPr kumimoji="1" lang="en-US" altLang="zh-CN" dirty="0"/>
              <a:t>peer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117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原因：主线程可能先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了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52401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70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893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7408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 err="1"/>
              <a:t>Errno</a:t>
            </a:r>
            <a:r>
              <a:rPr kumimoji="1" lang="en-US" altLang="zh-CN" dirty="0"/>
              <a:t> 11</a:t>
            </a:r>
            <a:r>
              <a:rPr kumimoji="1" lang="zh-CN" altLang="en-US" dirty="0"/>
              <a:t>意味着</a:t>
            </a:r>
            <a:r>
              <a:rPr kumimoji="1" lang="en" altLang="zh-CN" dirty="0"/>
              <a:t>Resource Temporarily Unavailable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466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22</a:t>
            </a:r>
            <a:r>
              <a:rPr kumimoji="1" lang="zh-CN" altLang="en-US" dirty="0"/>
              <a:t>代表</a:t>
            </a:r>
            <a:r>
              <a:rPr kumimoji="1" lang="en-US" altLang="zh-CN" dirty="0"/>
              <a:t>illegal</a:t>
            </a:r>
            <a:r>
              <a:rPr kumimoji="1" lang="zh-CN" altLang="en-US" dirty="0"/>
              <a:t> </a:t>
            </a:r>
            <a:r>
              <a:rPr kumimoji="1" lang="en-US" altLang="zh-CN" dirty="0"/>
              <a:t>arguments</a:t>
            </a:r>
            <a:r>
              <a:rPr kumimoji="1" lang="zh-CN" altLang="en-US" dirty="0"/>
              <a:t>，因为这个线程无法</a:t>
            </a:r>
            <a:r>
              <a:rPr kumimoji="1" lang="en-US" altLang="zh-CN" dirty="0"/>
              <a:t>join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4843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12:</a:t>
            </a:r>
            <a:r>
              <a:rPr kumimoji="1" lang="zh-CN" altLang="en-US" dirty="0"/>
              <a:t> </a:t>
            </a:r>
            <a:r>
              <a:rPr kumimoji="1" lang="en-US" altLang="zh-CN" dirty="0"/>
              <a:t>out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memory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9276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766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75663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01856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5147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84856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通过</a:t>
            </a:r>
            <a:r>
              <a:rPr kumimoji="1" lang="en-US" altLang="zh-CN" dirty="0" err="1"/>
              <a:t>makc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context</a:t>
            </a:r>
            <a:r>
              <a:rPr kumimoji="1" lang="zh-CN" altLang="en-US" dirty="0"/>
              <a:t>生成两个纤程，分别对应生产者和消费者。当</a:t>
            </a:r>
            <a:r>
              <a:rPr kumimoji="1" lang="en-US" altLang="zh-CN" dirty="0"/>
              <a:t>producer</a:t>
            </a:r>
            <a:r>
              <a:rPr kumimoji="1" lang="zh-CN" altLang="en-US" dirty="0"/>
              <a:t>数据准备好以后，就可以通过</a:t>
            </a:r>
            <a:r>
              <a:rPr kumimoji="1" lang="en-US" altLang="zh-CN" dirty="0" err="1"/>
              <a:t>setcontext</a:t>
            </a:r>
            <a:r>
              <a:rPr kumimoji="1" lang="zh-CN" altLang="en-US" dirty="0"/>
              <a:t>直接切换到</a:t>
            </a:r>
            <a:r>
              <a:rPr kumimoji="1" lang="en-US" altLang="zh-CN" dirty="0"/>
              <a:t>consumer</a:t>
            </a:r>
            <a:r>
              <a:rPr kumimoji="1" lang="zh-CN" altLang="en-US" dirty="0"/>
              <a:t>。</a:t>
            </a:r>
            <a:endParaRPr kumimoji="1" lang="en-US" altLang="zh-CN" dirty="0"/>
          </a:p>
          <a:p>
            <a:r>
              <a:rPr kumimoji="1" lang="zh-CN" altLang="en-US" dirty="0"/>
              <a:t>由于上下文切换不需要进入内核，因此开销较低；另外，切换也比内核调度更加及时。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84225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虚线表示纤程的创建关系；实线表示纤程的上下文切换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主纤程：创建两个新纤程：生产者和消费者，并切换到生产者</a:t>
            </a:r>
            <a:endParaRPr kumimoji="1" lang="en-US" altLang="zh-CN" dirty="0"/>
          </a:p>
          <a:p>
            <a:r>
              <a:rPr kumimoji="1" lang="zh-CN" altLang="en-US" dirty="0"/>
              <a:t>之后两个纤程来回切换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2348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361766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333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sz="4800" dirty="0"/>
              <a:t>进程与线程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副标题 2">
            <a:extLst>
              <a:ext uri="{FF2B5EF4-FFF2-40B4-BE49-F238E27FC236}">
                <a16:creationId xmlns:a16="http://schemas.microsoft.com/office/drawing/2014/main" id="{2D37805F-77C4-8857-7F32-2A52A6CE6629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操作系统</a:t>
            </a:r>
          </a:p>
        </p:txBody>
      </p:sp>
    </p:spTree>
    <p:extLst>
      <p:ext uri="{BB962C8B-B14F-4D97-AF65-F5344CB8AC3E}">
        <p14:creationId xmlns:p14="http://schemas.microsoft.com/office/powerpoint/2010/main" val="2020691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+mn-lt"/>
              </a:rPr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>
                <a:latin typeface="+mn-lt"/>
              </a:rPr>
              <a:t>本内容版权归</a:t>
            </a:r>
            <a:r>
              <a:rPr lang="zh-CN" altLang="en-US" sz="2000" dirty="0">
                <a:latin typeface="+mn-lt"/>
              </a:rPr>
              <a:t>上海交通大学并行与分布式系统研究所</a:t>
            </a:r>
            <a:r>
              <a:rPr lang="zh-CN" altLang="en-US" sz="2000" b="0" dirty="0">
                <a:latin typeface="+mn-lt"/>
              </a:rPr>
              <a:t>所有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使用者可以将全部或部分本内容免费用于非商业用途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使用者在使用全部或部分本内容时请注明来源：</a:t>
            </a:r>
            <a:endParaRPr lang="en-US" altLang="zh-CN" sz="2000" b="0" dirty="0">
              <a:latin typeface="+mn-lt"/>
            </a:endParaRPr>
          </a:p>
          <a:p>
            <a:pPr lvl="1"/>
            <a:r>
              <a:rPr lang="zh-CN" altLang="en-US" sz="1600" dirty="0"/>
              <a:t>内容来自：上海交通大学并行与分布式系统研究所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dirty="0"/>
          </a:p>
          <a:p>
            <a:r>
              <a:rPr lang="zh-CN" altLang="en-US" sz="2000" b="0" dirty="0">
                <a:latin typeface="+mn-lt"/>
              </a:rPr>
              <a:t>对于不遵守此声明或者其他违法使用本内容者，将依法保留追究权</a:t>
            </a:r>
            <a:endParaRPr lang="en-US" altLang="zh-CN" sz="2000" b="0" dirty="0">
              <a:latin typeface="+mn-lt"/>
            </a:endParaRPr>
          </a:p>
          <a:p>
            <a:r>
              <a:rPr lang="zh-CN" altLang="en-US" sz="2000" b="0" dirty="0">
                <a:latin typeface="+mn-lt"/>
              </a:rPr>
              <a:t>本内容的发布采用 </a:t>
            </a:r>
            <a:r>
              <a:rPr lang="en-US" altLang="zh-CN" sz="2000" b="0" dirty="0">
                <a:latin typeface="+mn-lt"/>
              </a:rPr>
              <a:t>Creative Commons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Attribution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4.0</a:t>
            </a:r>
            <a:r>
              <a:rPr lang="zh-CN" altLang="en-US" sz="2000" b="0" dirty="0">
                <a:latin typeface="+mn-lt"/>
              </a:rPr>
              <a:t> </a:t>
            </a:r>
            <a:r>
              <a:rPr lang="en-US" altLang="zh-CN" sz="2000" b="0" dirty="0">
                <a:latin typeface="+mn-lt"/>
              </a:rPr>
              <a:t>License</a:t>
            </a:r>
            <a:endParaRPr lang="en-US" altLang="zh-CN" sz="2400" b="0" dirty="0">
              <a:latin typeface="+mn-lt"/>
            </a:endParaRPr>
          </a:p>
          <a:p>
            <a:pPr lvl="1"/>
            <a:r>
              <a:rPr lang="zh-CN" altLang="en-US" sz="1600" dirty="0">
                <a:latin typeface="+mn-lt"/>
              </a:rPr>
              <a:t>完整文本：</a:t>
            </a:r>
            <a:r>
              <a:rPr lang="en-US" altLang="zh-CN" sz="1600" dirty="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 dirty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线程的概念 </a:t>
            </a:r>
            <a:r>
              <a:rPr lang="en-US" altLang="zh-CN" dirty="0"/>
              <a:t>- </a:t>
            </a:r>
            <a:r>
              <a:rPr lang="zh-CN" altLang="en-US" dirty="0"/>
              <a:t>线程模型 </a:t>
            </a:r>
            <a:r>
              <a:rPr lang="en-US" altLang="zh-CN" dirty="0"/>
              <a:t>-</a:t>
            </a:r>
            <a:r>
              <a:rPr lang="zh-CN" altLang="en-US" dirty="0"/>
              <a:t> 相关数据结构 </a:t>
            </a:r>
            <a:r>
              <a:rPr lang="en-US" altLang="zh-CN" dirty="0"/>
              <a:t>-</a:t>
            </a:r>
            <a:r>
              <a:rPr lang="zh-CN" altLang="en-US" dirty="0"/>
              <a:t> 基本操作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2982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77EA0-3BB8-CB45-927E-B9505F7B3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为什么需要线程？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7A9CE-8FE2-4141-B2F9-B5E32BE2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创建进程的开销较大</a:t>
            </a:r>
            <a:endParaRPr kumimoji="1" lang="en-US" altLang="zh-CN"/>
          </a:p>
          <a:p>
            <a:pPr lvl="1"/>
            <a:r>
              <a:rPr kumimoji="1" lang="zh-CN" altLang="en-US"/>
              <a:t>包括了数据、代码、堆、栈等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进程的隔离性过强</a:t>
            </a:r>
            <a:endParaRPr kumimoji="1" lang="en-US" altLang="zh-CN"/>
          </a:p>
          <a:p>
            <a:pPr lvl="1"/>
            <a:r>
              <a:rPr kumimoji="1" lang="zh-CN" altLang="en-US"/>
              <a:t>进程间交互：可以通过进程间通信（</a:t>
            </a:r>
            <a:r>
              <a:rPr kumimoji="1" lang="en-US" altLang="zh-CN"/>
              <a:t>IPC</a:t>
            </a:r>
            <a:r>
              <a:rPr kumimoji="1" lang="zh-CN" altLang="en-US"/>
              <a:t>），但开销较大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进程内部无法支持并行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9CCE54-CDCB-894B-A61B-7988F27B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AA9AE-8C61-2541-A924-D49424F397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0603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B2DE1CE-4C7A-B646-8012-ED7F10385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背景：单台设备计算资源逐渐丰富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032CEE-D31C-6940-BB0F-1081C0792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多核处理器在</a:t>
            </a:r>
            <a:r>
              <a:rPr lang="en-US" altLang="zh-CN" dirty="0"/>
              <a:t>21</a:t>
            </a:r>
            <a:r>
              <a:rPr lang="zh-CN" altLang="en-US" dirty="0"/>
              <a:t>世纪初逐渐兴起</a:t>
            </a:r>
            <a:endParaRPr lang="en-US" altLang="zh-CN" dirty="0"/>
          </a:p>
          <a:p>
            <a:pPr lvl="1"/>
            <a:r>
              <a:rPr lang="zh-CN" altLang="en-US" dirty="0"/>
              <a:t>每个“核”（</a:t>
            </a:r>
            <a:r>
              <a:rPr lang="en-US" altLang="zh-CN" dirty="0"/>
              <a:t>core</a:t>
            </a:r>
            <a:r>
              <a:rPr lang="zh-CN" altLang="en-US" dirty="0"/>
              <a:t>）都能独立运行程序</a:t>
            </a:r>
            <a:endParaRPr lang="en-US" altLang="zh-CN" dirty="0"/>
          </a:p>
          <a:p>
            <a:pPr lvl="1"/>
            <a:r>
              <a:rPr lang="zh-CN" altLang="en-US" dirty="0"/>
              <a:t>最新的</a:t>
            </a:r>
            <a:r>
              <a:rPr lang="en-US" altLang="zh-CN" dirty="0"/>
              <a:t>Apple M1</a:t>
            </a:r>
            <a:r>
              <a:rPr lang="zh-CN" altLang="en-US" dirty="0"/>
              <a:t>：</a:t>
            </a:r>
            <a:r>
              <a:rPr lang="en-US" altLang="zh-CN" dirty="0"/>
              <a:t>8</a:t>
            </a:r>
            <a:r>
              <a:rPr lang="zh-CN" altLang="en-US" dirty="0"/>
              <a:t>核；</a:t>
            </a:r>
            <a:r>
              <a:rPr lang="en-US" altLang="zh-CN" dirty="0"/>
              <a:t>M1</a:t>
            </a:r>
            <a:r>
              <a:rPr lang="zh-CN" altLang="en-US" dirty="0"/>
              <a:t> </a:t>
            </a:r>
            <a:r>
              <a:rPr lang="en-US" altLang="zh-CN" dirty="0"/>
              <a:t>Pro</a:t>
            </a:r>
            <a:r>
              <a:rPr lang="zh-CN" altLang="en-US" dirty="0"/>
              <a:t>：</a:t>
            </a:r>
            <a:r>
              <a:rPr lang="en-US" altLang="zh-CN" dirty="0"/>
              <a:t>10</a:t>
            </a:r>
            <a:r>
              <a:rPr lang="zh-CN" altLang="en-US" dirty="0"/>
              <a:t>核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r>
              <a:rPr lang="zh-CN" altLang="en-US" dirty="0"/>
              <a:t>大型计算机包含大量多核处理器</a:t>
            </a:r>
            <a:endParaRPr lang="en-US" altLang="zh-CN" dirty="0"/>
          </a:p>
          <a:p>
            <a:pPr lvl="1"/>
            <a:r>
              <a:rPr lang="zh-CN" altLang="en-US" dirty="0"/>
              <a:t>我国的神威</a:t>
            </a:r>
            <a:r>
              <a:rPr lang="en-US" altLang="zh-CN" dirty="0"/>
              <a:t>·</a:t>
            </a:r>
            <a:r>
              <a:rPr lang="zh-CN" altLang="en-US" dirty="0"/>
              <a:t>太湖之光：包含</a:t>
            </a:r>
            <a:r>
              <a:rPr lang="en-US" altLang="zh-CN" dirty="0"/>
              <a:t>40960</a:t>
            </a:r>
            <a:r>
              <a:rPr lang="zh-CN" altLang="en-US" dirty="0"/>
              <a:t>颗神威处理器（</a:t>
            </a:r>
            <a:r>
              <a:rPr lang="en-US" altLang="zh-CN" dirty="0"/>
              <a:t>6</a:t>
            </a:r>
            <a:r>
              <a:rPr lang="zh-CN" altLang="en-US" dirty="0"/>
              <a:t>核）</a:t>
            </a:r>
            <a:endParaRPr lang="en-US" altLang="zh-CN" dirty="0"/>
          </a:p>
          <a:p>
            <a:pPr lvl="1"/>
            <a:r>
              <a:rPr lang="zh-CN" altLang="en-US" dirty="0"/>
              <a:t>每个处理器</a:t>
            </a:r>
            <a:r>
              <a:rPr lang="en-US" altLang="zh-CN" dirty="0"/>
              <a:t>260</a:t>
            </a:r>
            <a:r>
              <a:rPr lang="zh-CN" altLang="en-US" dirty="0"/>
              <a:t>核，共</a:t>
            </a:r>
            <a:r>
              <a:rPr lang="en-US" altLang="zh-CN" dirty="0"/>
              <a:t>10,649,600</a:t>
            </a:r>
            <a:r>
              <a:rPr lang="zh-CN" altLang="en-US" dirty="0"/>
              <a:t>核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9349B-863B-D046-9EC0-2B311F3AF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220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499E53-E174-484E-B355-40FC0BBC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7C7E09-FF87-D541-B8FF-AAA73F36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进程数量一般远超过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核数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通过简单分配，使每个核至少分得一个进程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调度器通过分时复用增加计算资源利用率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通过调度策略，在进程需要等待时切换到其他进程执行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375017-B2A3-6441-B44C-6275B0B97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CF5F8F-FAA1-D643-B9AC-F83752074AF6}"/>
              </a:ext>
            </a:extLst>
          </p:cNvPr>
          <p:cNvSpPr/>
          <p:nvPr/>
        </p:nvSpPr>
        <p:spPr>
          <a:xfrm rot="16200000">
            <a:off x="1712045" y="4116649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0C0E8C-9BDA-1141-A8CC-A6704DE5BE3D}"/>
              </a:ext>
            </a:extLst>
          </p:cNvPr>
          <p:cNvSpPr txBox="1"/>
          <p:nvPr/>
        </p:nvSpPr>
        <p:spPr>
          <a:xfrm>
            <a:off x="1763175" y="4149347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4AE5FA6-158E-DB41-8131-FCAA6493D639}"/>
              </a:ext>
            </a:extLst>
          </p:cNvPr>
          <p:cNvSpPr txBox="1"/>
          <p:nvPr/>
        </p:nvSpPr>
        <p:spPr>
          <a:xfrm>
            <a:off x="1763175" y="491414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F3E472-B0D5-6546-A08C-1572BD514A49}"/>
              </a:ext>
            </a:extLst>
          </p:cNvPr>
          <p:cNvSpPr/>
          <p:nvPr/>
        </p:nvSpPr>
        <p:spPr>
          <a:xfrm>
            <a:off x="2498197" y="417752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DD1C06E-7BD6-724E-931F-79EE3CEBA096}"/>
              </a:ext>
            </a:extLst>
          </p:cNvPr>
          <p:cNvSpPr txBox="1"/>
          <p:nvPr/>
        </p:nvSpPr>
        <p:spPr>
          <a:xfrm>
            <a:off x="2498197" y="416619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EB62679-5C80-D24D-A05E-EBCB423802AC}"/>
              </a:ext>
            </a:extLst>
          </p:cNvPr>
          <p:cNvSpPr/>
          <p:nvPr/>
        </p:nvSpPr>
        <p:spPr>
          <a:xfrm>
            <a:off x="3302148" y="417647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EC6D3A-EF1A-A845-B806-D5BEF92B26D6}"/>
              </a:ext>
            </a:extLst>
          </p:cNvPr>
          <p:cNvSpPr txBox="1"/>
          <p:nvPr/>
        </p:nvSpPr>
        <p:spPr>
          <a:xfrm>
            <a:off x="3302148" y="416514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D1C84C7-6C20-934A-84EE-7E88A5375C8D}"/>
              </a:ext>
            </a:extLst>
          </p:cNvPr>
          <p:cNvSpPr/>
          <p:nvPr/>
        </p:nvSpPr>
        <p:spPr>
          <a:xfrm>
            <a:off x="4106099" y="417711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3C530F-8743-3C40-8A01-8B2DC1FFFF88}"/>
              </a:ext>
            </a:extLst>
          </p:cNvPr>
          <p:cNvSpPr txBox="1"/>
          <p:nvPr/>
        </p:nvSpPr>
        <p:spPr>
          <a:xfrm>
            <a:off x="4106099" y="416578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8A5E1E-67F2-2445-9DC2-E4D35E28857B}"/>
              </a:ext>
            </a:extLst>
          </p:cNvPr>
          <p:cNvSpPr/>
          <p:nvPr/>
        </p:nvSpPr>
        <p:spPr>
          <a:xfrm>
            <a:off x="4910050" y="417606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9CDECE-5EB1-6B4A-864B-4E7B02517B18}"/>
              </a:ext>
            </a:extLst>
          </p:cNvPr>
          <p:cNvSpPr txBox="1"/>
          <p:nvPr/>
        </p:nvSpPr>
        <p:spPr>
          <a:xfrm>
            <a:off x="4910050" y="4164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0D6CF74-924E-C84F-B422-4860F68FFA60}"/>
              </a:ext>
            </a:extLst>
          </p:cNvPr>
          <p:cNvSpPr/>
          <p:nvPr/>
        </p:nvSpPr>
        <p:spPr>
          <a:xfrm>
            <a:off x="2501151" y="493358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0FCB7B-C53A-074A-9739-251767183D6A}"/>
              </a:ext>
            </a:extLst>
          </p:cNvPr>
          <p:cNvSpPr txBox="1"/>
          <p:nvPr/>
        </p:nvSpPr>
        <p:spPr>
          <a:xfrm>
            <a:off x="2501151" y="492225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3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A37F55-5333-4A48-9562-65CF6BC0A8A6}"/>
              </a:ext>
            </a:extLst>
          </p:cNvPr>
          <p:cNvSpPr/>
          <p:nvPr/>
        </p:nvSpPr>
        <p:spPr>
          <a:xfrm>
            <a:off x="3305102" y="493253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19582BC-B63E-5F45-87D7-EF6DB02C8210}"/>
              </a:ext>
            </a:extLst>
          </p:cNvPr>
          <p:cNvSpPr txBox="1"/>
          <p:nvPr/>
        </p:nvSpPr>
        <p:spPr>
          <a:xfrm>
            <a:off x="3305102" y="492120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C71C06-753F-4F49-A441-E83C412ECAAB}"/>
              </a:ext>
            </a:extLst>
          </p:cNvPr>
          <p:cNvSpPr/>
          <p:nvPr/>
        </p:nvSpPr>
        <p:spPr>
          <a:xfrm>
            <a:off x="4109053" y="493317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994F6D9-094D-0346-9A11-655FBBC56CBD}"/>
              </a:ext>
            </a:extLst>
          </p:cNvPr>
          <p:cNvSpPr txBox="1"/>
          <p:nvPr/>
        </p:nvSpPr>
        <p:spPr>
          <a:xfrm>
            <a:off x="4109053" y="492184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7B6978-3C76-0A4A-8697-D70EA66B8DCF}"/>
              </a:ext>
            </a:extLst>
          </p:cNvPr>
          <p:cNvSpPr/>
          <p:nvPr/>
        </p:nvSpPr>
        <p:spPr>
          <a:xfrm>
            <a:off x="4913004" y="493212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17639F-9FAC-7045-B8F3-E8FCD69EC3F9}"/>
              </a:ext>
            </a:extLst>
          </p:cNvPr>
          <p:cNvSpPr txBox="1"/>
          <p:nvPr/>
        </p:nvSpPr>
        <p:spPr>
          <a:xfrm>
            <a:off x="4913004" y="492079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4B2A8B0-5638-1141-A8C9-A53A8A4C7359}"/>
              </a:ext>
            </a:extLst>
          </p:cNvPr>
          <p:cNvSpPr txBox="1"/>
          <p:nvPr/>
        </p:nvSpPr>
        <p:spPr>
          <a:xfrm>
            <a:off x="5539083" y="4071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25FF378-FFE3-4C4E-86F1-DAC2277644DC}"/>
              </a:ext>
            </a:extLst>
          </p:cNvPr>
          <p:cNvSpPr txBox="1"/>
          <p:nvPr/>
        </p:nvSpPr>
        <p:spPr>
          <a:xfrm>
            <a:off x="5539083" y="48450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4F8C05C-C512-F743-9E02-7E06861D9B30}"/>
              </a:ext>
            </a:extLst>
          </p:cNvPr>
          <p:cNvSpPr/>
          <p:nvPr/>
        </p:nvSpPr>
        <p:spPr>
          <a:xfrm rot="16200000">
            <a:off x="1712045" y="4872708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AED50D5-95A2-6449-8612-3C93AFA2FFF8}"/>
              </a:ext>
            </a:extLst>
          </p:cNvPr>
          <p:cNvSpPr/>
          <p:nvPr/>
        </p:nvSpPr>
        <p:spPr>
          <a:xfrm>
            <a:off x="2426189" y="4845025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E46D40-B6C4-7A47-BFD1-B71925E61698}"/>
              </a:ext>
            </a:extLst>
          </p:cNvPr>
          <p:cNvSpPr/>
          <p:nvPr/>
        </p:nvSpPr>
        <p:spPr>
          <a:xfrm>
            <a:off x="2426189" y="4089664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1B09880-2D93-0149-9E5B-3AC14E8CED4E}"/>
              </a:ext>
            </a:extLst>
          </p:cNvPr>
          <p:cNvSpPr txBox="1"/>
          <p:nvPr/>
        </p:nvSpPr>
        <p:spPr>
          <a:xfrm>
            <a:off x="6228184" y="4456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65F0D17F-B518-D743-9CE9-61445843F36C}"/>
              </a:ext>
            </a:extLst>
          </p:cNvPr>
          <p:cNvSpPr/>
          <p:nvPr/>
        </p:nvSpPr>
        <p:spPr>
          <a:xfrm>
            <a:off x="6228184" y="4464099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51119ED0-4A3A-1146-A3A2-0256CEF68392}"/>
              </a:ext>
            </a:extLst>
          </p:cNvPr>
          <p:cNvCxnSpPr>
            <a:cxnSpLocks/>
            <a:stCxn id="35" idx="1"/>
            <a:endCxn id="32" idx="3"/>
          </p:cNvCxnSpPr>
          <p:nvPr/>
        </p:nvCxnSpPr>
        <p:spPr>
          <a:xfrm flipH="1" flipV="1">
            <a:off x="5954581" y="4318623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4773FA5A-4FD1-9348-8CDE-0612B354EAE5}"/>
              </a:ext>
            </a:extLst>
          </p:cNvPr>
          <p:cNvCxnSpPr>
            <a:cxnSpLocks/>
            <a:stCxn id="35" idx="1"/>
            <a:endCxn id="31" idx="3"/>
          </p:cNvCxnSpPr>
          <p:nvPr/>
        </p:nvCxnSpPr>
        <p:spPr>
          <a:xfrm flipH="1">
            <a:off x="5954581" y="4644774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BA0C4BE-24A8-4446-9AD0-CF918811E2FD}"/>
              </a:ext>
            </a:extLst>
          </p:cNvPr>
          <p:cNvSpPr txBox="1"/>
          <p:nvPr/>
        </p:nvSpPr>
        <p:spPr>
          <a:xfrm>
            <a:off x="5991783" y="422350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8C095C33-630B-C04D-8439-8341A4EBF2F6}"/>
              </a:ext>
            </a:extLst>
          </p:cNvPr>
          <p:cNvSpPr txBox="1"/>
          <p:nvPr/>
        </p:nvSpPr>
        <p:spPr>
          <a:xfrm>
            <a:off x="6012111" y="48737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46" name="曲线连接符 45">
            <a:extLst>
              <a:ext uri="{FF2B5EF4-FFF2-40B4-BE49-F238E27FC236}">
                <a16:creationId xmlns:a16="http://schemas.microsoft.com/office/drawing/2014/main" id="{9170347B-868B-5642-AF81-DC515D7D54CC}"/>
              </a:ext>
            </a:extLst>
          </p:cNvPr>
          <p:cNvCxnSpPr>
            <a:cxnSpLocks/>
            <a:stCxn id="13" idx="0"/>
            <a:endCxn id="15" idx="0"/>
          </p:cNvCxnSpPr>
          <p:nvPr/>
        </p:nvCxnSpPr>
        <p:spPr>
          <a:xfrm rot="5400000" flipH="1" flipV="1">
            <a:off x="3226821" y="3763695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曲线连接符 51">
            <a:extLst>
              <a:ext uri="{FF2B5EF4-FFF2-40B4-BE49-F238E27FC236}">
                <a16:creationId xmlns:a16="http://schemas.microsoft.com/office/drawing/2014/main" id="{D1725D39-8F0B-2C43-B49C-5644F9FAE8B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43358" y="3763284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曲线连接符 52">
            <a:extLst>
              <a:ext uri="{FF2B5EF4-FFF2-40B4-BE49-F238E27FC236}">
                <a16:creationId xmlns:a16="http://schemas.microsoft.com/office/drawing/2014/main" id="{874D74C1-CCB0-044D-9D0E-25D3340EDC1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7309" y="3774833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B5A2B1C9-A30C-7542-A22C-B101A6B3AAA3}"/>
              </a:ext>
            </a:extLst>
          </p:cNvPr>
          <p:cNvSpPr txBox="1"/>
          <p:nvPr/>
        </p:nvSpPr>
        <p:spPr>
          <a:xfrm>
            <a:off x="2981123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D00797-A7FD-C847-B4BE-CD1DA27F828E}"/>
              </a:ext>
            </a:extLst>
          </p:cNvPr>
          <p:cNvSpPr txBox="1"/>
          <p:nvPr/>
        </p:nvSpPr>
        <p:spPr>
          <a:xfrm>
            <a:off x="3797660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8B50DB0-235D-524F-9457-9C48F6834077}"/>
              </a:ext>
            </a:extLst>
          </p:cNvPr>
          <p:cNvSpPr txBox="1"/>
          <p:nvPr/>
        </p:nvSpPr>
        <p:spPr>
          <a:xfrm>
            <a:off x="4601611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cxnSp>
        <p:nvCxnSpPr>
          <p:cNvPr id="57" name="曲线连接符 56">
            <a:extLst>
              <a:ext uri="{FF2B5EF4-FFF2-40B4-BE49-F238E27FC236}">
                <a16:creationId xmlns:a16="http://schemas.microsoft.com/office/drawing/2014/main" id="{A4D4F01A-4635-434E-AD77-938E9E7CA527}"/>
              </a:ext>
            </a:extLst>
          </p:cNvPr>
          <p:cNvCxnSpPr>
            <a:cxnSpLocks/>
            <a:stCxn id="21" idx="2"/>
            <a:endCxn id="22" idx="2"/>
          </p:cNvCxnSpPr>
          <p:nvPr/>
        </p:nvCxnSpPr>
        <p:spPr>
          <a:xfrm rot="5400000" flipH="1" flipV="1">
            <a:off x="3225568" y="4823323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曲线连接符 61">
            <a:extLst>
              <a:ext uri="{FF2B5EF4-FFF2-40B4-BE49-F238E27FC236}">
                <a16:creationId xmlns:a16="http://schemas.microsoft.com/office/drawing/2014/main" id="{7E637098-9FC4-EB44-B3AD-931747F0601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26566" y="4843068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曲线连接符 62">
            <a:extLst>
              <a:ext uri="{FF2B5EF4-FFF2-40B4-BE49-F238E27FC236}">
                <a16:creationId xmlns:a16="http://schemas.microsoft.com/office/drawing/2014/main" id="{1034E3C5-51D3-F144-B095-5F334E50DE8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3103" y="4833557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8E497323-01C4-7E4A-AA18-D994DA43A5E6}"/>
              </a:ext>
            </a:extLst>
          </p:cNvPr>
          <p:cNvSpPr txBox="1"/>
          <p:nvPr/>
        </p:nvSpPr>
        <p:spPr>
          <a:xfrm>
            <a:off x="2981123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3B65670-AAA6-294F-A643-9B1680998114}"/>
              </a:ext>
            </a:extLst>
          </p:cNvPr>
          <p:cNvSpPr txBox="1"/>
          <p:nvPr/>
        </p:nvSpPr>
        <p:spPr>
          <a:xfrm>
            <a:off x="3797660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50403831-3F0C-554C-80E4-7BA78DDE605A}"/>
              </a:ext>
            </a:extLst>
          </p:cNvPr>
          <p:cNvSpPr txBox="1"/>
          <p:nvPr/>
        </p:nvSpPr>
        <p:spPr>
          <a:xfrm>
            <a:off x="4601611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2701277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B0BDC-7415-5545-92D2-C3D2CC7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08125-3B41-C441-A3CD-989A883C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存在局限：单一进程无法利用多核资源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一个进程同一时刻只能被调度到其中一个核上运行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BD3247"/>
                </a:solidFill>
              </a:rPr>
              <a:t>如果一个程序想同时利用多核，该怎么办呢？</a:t>
            </a:r>
            <a:endParaRPr kumimoji="1" lang="en-US" altLang="zh-CN" b="1" dirty="0">
              <a:solidFill>
                <a:srgbClr val="BD3247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50937-5A46-1745-A353-BD3D16E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63A50F-B0B0-5044-8055-4863EB2915BD}"/>
              </a:ext>
            </a:extLst>
          </p:cNvPr>
          <p:cNvSpPr/>
          <p:nvPr/>
        </p:nvSpPr>
        <p:spPr>
          <a:xfrm rot="16200000">
            <a:off x="1712045" y="3929324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DDB5E4-5227-2D4A-B670-1F1BC693CAD5}"/>
              </a:ext>
            </a:extLst>
          </p:cNvPr>
          <p:cNvSpPr txBox="1"/>
          <p:nvPr/>
        </p:nvSpPr>
        <p:spPr>
          <a:xfrm>
            <a:off x="1763175" y="3962022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C232FF-7C7E-8044-8C17-A6181B7EE72D}"/>
              </a:ext>
            </a:extLst>
          </p:cNvPr>
          <p:cNvSpPr txBox="1"/>
          <p:nvPr/>
        </p:nvSpPr>
        <p:spPr>
          <a:xfrm>
            <a:off x="1763175" y="4726820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53E9AA-506D-6D49-8702-6E491DA95AE2}"/>
              </a:ext>
            </a:extLst>
          </p:cNvPr>
          <p:cNvSpPr/>
          <p:nvPr/>
        </p:nvSpPr>
        <p:spPr>
          <a:xfrm>
            <a:off x="2498197" y="3990200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90D5FE-A28F-0F47-9E4E-567C5CB5A349}"/>
              </a:ext>
            </a:extLst>
          </p:cNvPr>
          <p:cNvSpPr txBox="1"/>
          <p:nvPr/>
        </p:nvSpPr>
        <p:spPr>
          <a:xfrm>
            <a:off x="2498197" y="397886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C48089-EF75-4149-B0FC-84FC8078414A}"/>
              </a:ext>
            </a:extLst>
          </p:cNvPr>
          <p:cNvSpPr/>
          <p:nvPr/>
        </p:nvSpPr>
        <p:spPr>
          <a:xfrm>
            <a:off x="3302148" y="398915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B786-FDA6-E847-87F2-7DA9C0DAF453}"/>
              </a:ext>
            </a:extLst>
          </p:cNvPr>
          <p:cNvSpPr txBox="1"/>
          <p:nvPr/>
        </p:nvSpPr>
        <p:spPr>
          <a:xfrm>
            <a:off x="3302148" y="397782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F7D95-BE7F-4847-B419-3B9A915489FB}"/>
              </a:ext>
            </a:extLst>
          </p:cNvPr>
          <p:cNvSpPr/>
          <p:nvPr/>
        </p:nvSpPr>
        <p:spPr>
          <a:xfrm>
            <a:off x="4106099" y="3989790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C344-BAD7-A049-A8A6-43431679E3F8}"/>
              </a:ext>
            </a:extLst>
          </p:cNvPr>
          <p:cNvSpPr txBox="1"/>
          <p:nvPr/>
        </p:nvSpPr>
        <p:spPr>
          <a:xfrm>
            <a:off x="4106099" y="397845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3C52D2-3C5B-8347-A818-143C19C2226A}"/>
              </a:ext>
            </a:extLst>
          </p:cNvPr>
          <p:cNvSpPr/>
          <p:nvPr/>
        </p:nvSpPr>
        <p:spPr>
          <a:xfrm>
            <a:off x="4910050" y="398874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6487B-F1FF-7A44-9AD0-407348C9A5AC}"/>
              </a:ext>
            </a:extLst>
          </p:cNvPr>
          <p:cNvSpPr txBox="1"/>
          <p:nvPr/>
        </p:nvSpPr>
        <p:spPr>
          <a:xfrm>
            <a:off x="4910050" y="397741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F9ED2-18EC-3E4A-8C1A-7CE6235BCFFB}"/>
              </a:ext>
            </a:extLst>
          </p:cNvPr>
          <p:cNvSpPr/>
          <p:nvPr/>
        </p:nvSpPr>
        <p:spPr>
          <a:xfrm>
            <a:off x="2501151" y="4746259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ECE8D0-0EE5-BE4C-AC3E-B7EF3834CC99}"/>
              </a:ext>
            </a:extLst>
          </p:cNvPr>
          <p:cNvSpPr txBox="1"/>
          <p:nvPr/>
        </p:nvSpPr>
        <p:spPr>
          <a:xfrm>
            <a:off x="2501151" y="4734928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1528D8-E7CE-9842-B117-3CD9A480EC86}"/>
              </a:ext>
            </a:extLst>
          </p:cNvPr>
          <p:cNvSpPr/>
          <p:nvPr/>
        </p:nvSpPr>
        <p:spPr>
          <a:xfrm>
            <a:off x="3305102" y="4745211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5E0972-3230-F64D-9C26-32D89730610A}"/>
              </a:ext>
            </a:extLst>
          </p:cNvPr>
          <p:cNvSpPr txBox="1"/>
          <p:nvPr/>
        </p:nvSpPr>
        <p:spPr>
          <a:xfrm>
            <a:off x="3305102" y="473388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4A8622-3ECC-9E4E-9E51-132A6FF3DE89}"/>
              </a:ext>
            </a:extLst>
          </p:cNvPr>
          <p:cNvSpPr/>
          <p:nvPr/>
        </p:nvSpPr>
        <p:spPr>
          <a:xfrm>
            <a:off x="4109053" y="4745849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115F92-F8A9-0D42-83D8-C3ABAB614B16}"/>
              </a:ext>
            </a:extLst>
          </p:cNvPr>
          <p:cNvSpPr txBox="1"/>
          <p:nvPr/>
        </p:nvSpPr>
        <p:spPr>
          <a:xfrm>
            <a:off x="4109053" y="4734518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47490D-F2E7-B24A-A997-240B9E19FEEB}"/>
              </a:ext>
            </a:extLst>
          </p:cNvPr>
          <p:cNvSpPr/>
          <p:nvPr/>
        </p:nvSpPr>
        <p:spPr>
          <a:xfrm>
            <a:off x="4913004" y="4744801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FA25C-62EB-2E4E-AD62-FD62657E8EA8}"/>
              </a:ext>
            </a:extLst>
          </p:cNvPr>
          <p:cNvSpPr txBox="1"/>
          <p:nvPr/>
        </p:nvSpPr>
        <p:spPr>
          <a:xfrm>
            <a:off x="4913004" y="4733470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71B6AD-68D0-1743-B693-115609D6EB7A}"/>
              </a:ext>
            </a:extLst>
          </p:cNvPr>
          <p:cNvSpPr txBox="1"/>
          <p:nvPr/>
        </p:nvSpPr>
        <p:spPr>
          <a:xfrm>
            <a:off x="5539083" y="388370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7555EF-98CF-5040-85F9-D0E4D1A87286}"/>
              </a:ext>
            </a:extLst>
          </p:cNvPr>
          <p:cNvSpPr txBox="1"/>
          <p:nvPr/>
        </p:nvSpPr>
        <p:spPr>
          <a:xfrm>
            <a:off x="5539083" y="46577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A6A0E-F390-0E48-8E59-AA82E07BD15F}"/>
              </a:ext>
            </a:extLst>
          </p:cNvPr>
          <p:cNvSpPr/>
          <p:nvPr/>
        </p:nvSpPr>
        <p:spPr>
          <a:xfrm rot="16200000">
            <a:off x="1712045" y="4685383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90BE70-ED09-4544-A126-E95F46F12F29}"/>
              </a:ext>
            </a:extLst>
          </p:cNvPr>
          <p:cNvSpPr/>
          <p:nvPr/>
        </p:nvSpPr>
        <p:spPr>
          <a:xfrm>
            <a:off x="2426189" y="4657700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4333CA-8C33-2B43-BA1A-CEFD07F666BF}"/>
              </a:ext>
            </a:extLst>
          </p:cNvPr>
          <p:cNvSpPr/>
          <p:nvPr/>
        </p:nvSpPr>
        <p:spPr>
          <a:xfrm>
            <a:off x="2426189" y="3902339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9AA495-9611-5843-ADFC-C273414DF8E4}"/>
              </a:ext>
            </a:extLst>
          </p:cNvPr>
          <p:cNvSpPr txBox="1"/>
          <p:nvPr/>
        </p:nvSpPr>
        <p:spPr>
          <a:xfrm>
            <a:off x="6228184" y="426879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E9DA4C8-82A7-A040-B748-A0ACECCBB117}"/>
              </a:ext>
            </a:extLst>
          </p:cNvPr>
          <p:cNvSpPr/>
          <p:nvPr/>
        </p:nvSpPr>
        <p:spPr>
          <a:xfrm>
            <a:off x="6228184" y="4276774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9D0E300-097E-284E-B71F-EACB9B15054E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5954581" y="4131298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EE0668B-517C-A341-A8C6-B0F5A39DC7A4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5954581" y="4457449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7B3FA65-5DB8-5A4F-A5B1-CED69C9E4D48}"/>
              </a:ext>
            </a:extLst>
          </p:cNvPr>
          <p:cNvSpPr txBox="1"/>
          <p:nvPr/>
        </p:nvSpPr>
        <p:spPr>
          <a:xfrm>
            <a:off x="5991783" y="403617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52CBBB-2F52-5643-9397-A86C5A8C4919}"/>
              </a:ext>
            </a:extLst>
          </p:cNvPr>
          <p:cNvSpPr txBox="1"/>
          <p:nvPr/>
        </p:nvSpPr>
        <p:spPr>
          <a:xfrm>
            <a:off x="6012111" y="468640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48" name="直线连接符 47">
            <a:extLst>
              <a:ext uri="{FF2B5EF4-FFF2-40B4-BE49-F238E27FC236}">
                <a16:creationId xmlns:a16="http://schemas.microsoft.com/office/drawing/2014/main" id="{E8212B42-FBA3-0744-8CFC-36E4BC80E53F}"/>
              </a:ext>
            </a:extLst>
          </p:cNvPr>
          <p:cNvCxnSpPr>
            <a:cxnSpLocks/>
          </p:cNvCxnSpPr>
          <p:nvPr/>
        </p:nvCxnSpPr>
        <p:spPr>
          <a:xfrm flipV="1">
            <a:off x="2463220" y="4638123"/>
            <a:ext cx="689323" cy="471514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连接符 48">
            <a:extLst>
              <a:ext uri="{FF2B5EF4-FFF2-40B4-BE49-F238E27FC236}">
                <a16:creationId xmlns:a16="http://schemas.microsoft.com/office/drawing/2014/main" id="{F89271BA-3518-0542-A4D6-D330D7926F10}"/>
              </a:ext>
            </a:extLst>
          </p:cNvPr>
          <p:cNvCxnSpPr>
            <a:cxnSpLocks/>
          </p:cNvCxnSpPr>
          <p:nvPr/>
        </p:nvCxnSpPr>
        <p:spPr>
          <a:xfrm flipH="1" flipV="1">
            <a:off x="2498198" y="4657701"/>
            <a:ext cx="678751" cy="451936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58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5B0BDC-7415-5545-92D2-C3D2CC776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简单方法：进程</a:t>
            </a:r>
            <a:r>
              <a:rPr kumimoji="1" lang="en-US" altLang="zh-CN" dirty="0"/>
              <a:t>+</a:t>
            </a:r>
            <a:r>
              <a:rPr kumimoji="1" lang="zh-CN" altLang="en-US" dirty="0"/>
              <a:t>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108125-3B41-C441-A3CD-989A883C7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存在局限：单一进程无法利用多核资源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一个进程一同时刻只能被调度到其中一个核上运行</a:t>
            </a:r>
            <a:endParaRPr kumimoji="1" lang="en-US" altLang="zh-CN" dirty="0"/>
          </a:p>
          <a:p>
            <a:pPr lvl="1"/>
            <a:endParaRPr kumimoji="1" lang="en-US" altLang="zh-CN" dirty="0">
              <a:solidFill>
                <a:schemeClr val="tx1"/>
              </a:solidFill>
            </a:endParaRPr>
          </a:p>
          <a:p>
            <a:r>
              <a:rPr kumimoji="1" lang="zh-CN" altLang="en-US" dirty="0">
                <a:solidFill>
                  <a:schemeClr val="tx1"/>
                </a:solidFill>
              </a:rPr>
              <a:t>解决思路：用</a:t>
            </a:r>
            <a:r>
              <a:rPr kumimoji="1" lang="en-US" altLang="zh-CN" dirty="0">
                <a:solidFill>
                  <a:schemeClr val="tx1"/>
                </a:solidFill>
              </a:rPr>
              <a:t>fork</a:t>
            </a:r>
            <a:r>
              <a:rPr kumimoji="1" lang="zh-CN" altLang="en-US" dirty="0">
                <a:solidFill>
                  <a:schemeClr val="tx1"/>
                </a:solidFill>
              </a:rPr>
              <a:t>创建相似进程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r>
              <a:rPr kumimoji="1" lang="en-US" altLang="zh-CN" dirty="0">
                <a:solidFill>
                  <a:schemeClr val="tx1"/>
                </a:solidFill>
              </a:rPr>
              <a:t>Fork</a:t>
            </a:r>
            <a:r>
              <a:rPr kumimoji="1" lang="zh-CN" altLang="en-US" dirty="0">
                <a:solidFill>
                  <a:schemeClr val="tx1"/>
                </a:solidFill>
              </a:rPr>
              <a:t>创建的进程与原进程行为类似，可用于其他核上执行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550937-5A46-1745-A353-BD3D16E8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63A50F-B0B0-5044-8055-4863EB2915BD}"/>
              </a:ext>
            </a:extLst>
          </p:cNvPr>
          <p:cNvSpPr/>
          <p:nvPr/>
        </p:nvSpPr>
        <p:spPr>
          <a:xfrm rot="16200000">
            <a:off x="1712045" y="4232667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6DDB5E4-5227-2D4A-B670-1F1BC693CAD5}"/>
              </a:ext>
            </a:extLst>
          </p:cNvPr>
          <p:cNvSpPr txBox="1"/>
          <p:nvPr/>
        </p:nvSpPr>
        <p:spPr>
          <a:xfrm>
            <a:off x="1763175" y="426536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AC232FF-7C7E-8044-8C17-A6181B7EE72D}"/>
              </a:ext>
            </a:extLst>
          </p:cNvPr>
          <p:cNvSpPr txBox="1"/>
          <p:nvPr/>
        </p:nvSpPr>
        <p:spPr>
          <a:xfrm>
            <a:off x="1763175" y="5030163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53E9AA-506D-6D49-8702-6E491DA95AE2}"/>
              </a:ext>
            </a:extLst>
          </p:cNvPr>
          <p:cNvSpPr/>
          <p:nvPr/>
        </p:nvSpPr>
        <p:spPr>
          <a:xfrm>
            <a:off x="2498197" y="429354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90D5FE-A28F-0F47-9E4E-567C5CB5A349}"/>
              </a:ext>
            </a:extLst>
          </p:cNvPr>
          <p:cNvSpPr txBox="1"/>
          <p:nvPr/>
        </p:nvSpPr>
        <p:spPr>
          <a:xfrm>
            <a:off x="2498197" y="428221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7C48089-EF75-4149-B0FC-84FC8078414A}"/>
              </a:ext>
            </a:extLst>
          </p:cNvPr>
          <p:cNvSpPr/>
          <p:nvPr/>
        </p:nvSpPr>
        <p:spPr>
          <a:xfrm>
            <a:off x="3302148" y="429249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0ACB786-FDA6-E847-87F2-7DA9C0DAF453}"/>
              </a:ext>
            </a:extLst>
          </p:cNvPr>
          <p:cNvSpPr txBox="1"/>
          <p:nvPr/>
        </p:nvSpPr>
        <p:spPr>
          <a:xfrm>
            <a:off x="3302148" y="428116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1FF7D95-BE7F-4847-B419-3B9A915489FB}"/>
              </a:ext>
            </a:extLst>
          </p:cNvPr>
          <p:cNvSpPr/>
          <p:nvPr/>
        </p:nvSpPr>
        <p:spPr>
          <a:xfrm>
            <a:off x="4106099" y="429313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CC5C344-BAD7-A049-A8A6-43431679E3F8}"/>
              </a:ext>
            </a:extLst>
          </p:cNvPr>
          <p:cNvSpPr txBox="1"/>
          <p:nvPr/>
        </p:nvSpPr>
        <p:spPr>
          <a:xfrm>
            <a:off x="4106099" y="428180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33C52D2-3C5B-8347-A818-143C19C2226A}"/>
              </a:ext>
            </a:extLst>
          </p:cNvPr>
          <p:cNvSpPr/>
          <p:nvPr/>
        </p:nvSpPr>
        <p:spPr>
          <a:xfrm>
            <a:off x="4910050" y="429208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56487B-F1FF-7A44-9AD0-407348C9A5AC}"/>
              </a:ext>
            </a:extLst>
          </p:cNvPr>
          <p:cNvSpPr txBox="1"/>
          <p:nvPr/>
        </p:nvSpPr>
        <p:spPr>
          <a:xfrm>
            <a:off x="4910050" y="428075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61F9ED2-18EC-3E4A-8C1A-7CE6235BCFFB}"/>
              </a:ext>
            </a:extLst>
          </p:cNvPr>
          <p:cNvSpPr/>
          <p:nvPr/>
        </p:nvSpPr>
        <p:spPr>
          <a:xfrm>
            <a:off x="2501151" y="504960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2ECE8D0-0EE5-BE4C-AC3E-B7EF3834CC99}"/>
              </a:ext>
            </a:extLst>
          </p:cNvPr>
          <p:cNvSpPr txBox="1"/>
          <p:nvPr/>
        </p:nvSpPr>
        <p:spPr>
          <a:xfrm>
            <a:off x="2492295" y="5036813"/>
            <a:ext cx="8338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0’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1528D8-E7CE-9842-B117-3CD9A480EC86}"/>
              </a:ext>
            </a:extLst>
          </p:cNvPr>
          <p:cNvSpPr/>
          <p:nvPr/>
        </p:nvSpPr>
        <p:spPr>
          <a:xfrm>
            <a:off x="3305102" y="504855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B5E0972-3230-F64D-9C26-32D89730610A}"/>
              </a:ext>
            </a:extLst>
          </p:cNvPr>
          <p:cNvSpPr txBox="1"/>
          <p:nvPr/>
        </p:nvSpPr>
        <p:spPr>
          <a:xfrm>
            <a:off x="3305102" y="503722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A4A8622-3ECC-9E4E-9E51-132A6FF3DE89}"/>
              </a:ext>
            </a:extLst>
          </p:cNvPr>
          <p:cNvSpPr/>
          <p:nvPr/>
        </p:nvSpPr>
        <p:spPr>
          <a:xfrm>
            <a:off x="4109053" y="504919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115F92-F8A9-0D42-83D8-C3ABAB614B16}"/>
              </a:ext>
            </a:extLst>
          </p:cNvPr>
          <p:cNvSpPr txBox="1"/>
          <p:nvPr/>
        </p:nvSpPr>
        <p:spPr>
          <a:xfrm>
            <a:off x="4109053" y="503786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47490D-F2E7-B24A-A997-240B9E19FEEB}"/>
              </a:ext>
            </a:extLst>
          </p:cNvPr>
          <p:cNvSpPr/>
          <p:nvPr/>
        </p:nvSpPr>
        <p:spPr>
          <a:xfrm>
            <a:off x="4913004" y="504814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56FA25C-62EB-2E4E-AD62-FD62657E8EA8}"/>
              </a:ext>
            </a:extLst>
          </p:cNvPr>
          <p:cNvSpPr txBox="1"/>
          <p:nvPr/>
        </p:nvSpPr>
        <p:spPr>
          <a:xfrm>
            <a:off x="4913004" y="503681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71B6AD-68D0-1743-B693-115609D6EB7A}"/>
              </a:ext>
            </a:extLst>
          </p:cNvPr>
          <p:cNvSpPr txBox="1"/>
          <p:nvPr/>
        </p:nvSpPr>
        <p:spPr>
          <a:xfrm>
            <a:off x="5539083" y="418704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7555EF-98CF-5040-85F9-D0E4D1A87286}"/>
              </a:ext>
            </a:extLst>
          </p:cNvPr>
          <p:cNvSpPr txBox="1"/>
          <p:nvPr/>
        </p:nvSpPr>
        <p:spPr>
          <a:xfrm>
            <a:off x="5539083" y="496104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F4A6A0E-F390-0E48-8E59-AA82E07BD15F}"/>
              </a:ext>
            </a:extLst>
          </p:cNvPr>
          <p:cNvSpPr/>
          <p:nvPr/>
        </p:nvSpPr>
        <p:spPr>
          <a:xfrm rot="16200000">
            <a:off x="1712045" y="4988726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90BE70-ED09-4544-A126-E95F46F12F29}"/>
              </a:ext>
            </a:extLst>
          </p:cNvPr>
          <p:cNvSpPr/>
          <p:nvPr/>
        </p:nvSpPr>
        <p:spPr>
          <a:xfrm>
            <a:off x="2426189" y="4961043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14333CA-8C33-2B43-BA1A-CEFD07F666BF}"/>
              </a:ext>
            </a:extLst>
          </p:cNvPr>
          <p:cNvSpPr/>
          <p:nvPr/>
        </p:nvSpPr>
        <p:spPr>
          <a:xfrm>
            <a:off x="2426189" y="4205682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29AA495-9611-5843-ADFC-C273414DF8E4}"/>
              </a:ext>
            </a:extLst>
          </p:cNvPr>
          <p:cNvSpPr txBox="1"/>
          <p:nvPr/>
        </p:nvSpPr>
        <p:spPr>
          <a:xfrm>
            <a:off x="6228184" y="4572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E9DA4C8-82A7-A040-B748-A0ACECCBB117}"/>
              </a:ext>
            </a:extLst>
          </p:cNvPr>
          <p:cNvSpPr/>
          <p:nvPr/>
        </p:nvSpPr>
        <p:spPr>
          <a:xfrm>
            <a:off x="6228184" y="4580117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9D0E300-097E-284E-B71F-EACB9B15054E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5954581" y="4434641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CEE0668B-517C-A341-A8C6-B0F5A39DC7A4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5954581" y="4760792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F7B3FA65-5DB8-5A4F-A5B1-CED69C9E4D48}"/>
              </a:ext>
            </a:extLst>
          </p:cNvPr>
          <p:cNvSpPr txBox="1"/>
          <p:nvPr/>
        </p:nvSpPr>
        <p:spPr>
          <a:xfrm>
            <a:off x="5991783" y="433952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952CBBB-2F52-5643-9397-A86C5A8C4919}"/>
              </a:ext>
            </a:extLst>
          </p:cNvPr>
          <p:cNvSpPr txBox="1"/>
          <p:nvPr/>
        </p:nvSpPr>
        <p:spPr>
          <a:xfrm>
            <a:off x="6012111" y="498975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A905DA14-13AF-6849-8246-399E90ACC448}"/>
              </a:ext>
            </a:extLst>
          </p:cNvPr>
          <p:cNvCxnSpPr>
            <a:stCxn id="9" idx="2"/>
          </p:cNvCxnSpPr>
          <p:nvPr/>
        </p:nvCxnSpPr>
        <p:spPr>
          <a:xfrm>
            <a:off x="2825370" y="4589989"/>
            <a:ext cx="0" cy="458155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804EA5DA-7372-B445-A482-7BFF7D0DD86C}"/>
              </a:ext>
            </a:extLst>
          </p:cNvPr>
          <p:cNvSpPr txBox="1"/>
          <p:nvPr/>
        </p:nvSpPr>
        <p:spPr>
          <a:xfrm>
            <a:off x="2786212" y="4676727"/>
            <a:ext cx="4651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solidFill>
                  <a:srgbClr val="BD3247"/>
                </a:solidFill>
                <a:latin typeface="Candara" panose="020E0502030303020204" pitchFamily="34" charset="0"/>
              </a:rPr>
              <a:t>fork</a:t>
            </a:r>
            <a:endParaRPr kumimoji="1" lang="zh-CN" altLang="en-US" sz="1200" b="1" dirty="0">
              <a:solidFill>
                <a:srgbClr val="BD3247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5432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5667A-FBB2-8447-9413-9528AD8E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Fork</a:t>
            </a:r>
            <a:r>
              <a:rPr kumimoji="1" lang="zh-CN" altLang="en-US" dirty="0"/>
              <a:t>方法存在的局限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A37B1C-2CA5-6143-8CBD-32E2B2129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进程间隔离过强，共享数据困难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各进程拥有独立的地址空间，共享需以页为粒度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协调困难，需要复杂的通信机制（如管道）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进程管理开销较大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创建：地址空间复制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切换：页表切换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2D8D93-24FA-BE4E-8262-C3583431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78A68A-B443-1746-8AA1-E69E5AC173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9033" y="3055079"/>
            <a:ext cx="509152" cy="50986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4530DDD-FFEF-B641-990B-13C87DF9307A}"/>
              </a:ext>
            </a:extLst>
          </p:cNvPr>
          <p:cNvSpPr txBox="1"/>
          <p:nvPr/>
        </p:nvSpPr>
        <p:spPr>
          <a:xfrm>
            <a:off x="5991961" y="4597427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进程</a:t>
            </a:r>
            <a:r>
              <a:rPr kumimoji="1" lang="en-US" altLang="zh-CN" sz="1400" b="1" dirty="0"/>
              <a:t>1</a:t>
            </a:r>
            <a:endParaRPr kumimoji="1" lang="zh-CN" altLang="en-US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244CEAA-0FB6-634C-85E3-22865ED42BD3}"/>
              </a:ext>
            </a:extLst>
          </p:cNvPr>
          <p:cNvSpPr txBox="1"/>
          <p:nvPr/>
        </p:nvSpPr>
        <p:spPr>
          <a:xfrm>
            <a:off x="7296128" y="4589957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进程</a:t>
            </a:r>
            <a:r>
              <a:rPr kumimoji="1" lang="en-US" altLang="zh-CN" sz="1400" b="1" dirty="0"/>
              <a:t>2</a:t>
            </a:r>
            <a:endParaRPr kumimoji="1" lang="zh-CN" altLang="en-US" sz="1400" b="1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9C6F5A-725B-C942-A6E0-3336D30D59DF}"/>
              </a:ext>
            </a:extLst>
          </p:cNvPr>
          <p:cNvSpPr/>
          <p:nvPr/>
        </p:nvSpPr>
        <p:spPr>
          <a:xfrm>
            <a:off x="6553200" y="5050924"/>
            <a:ext cx="786210" cy="258406"/>
          </a:xfrm>
          <a:prstGeom prst="rect">
            <a:avLst/>
          </a:prstGeom>
          <a:solidFill>
            <a:srgbClr val="BE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65E6FD-C667-9542-B387-03D8F8F4DF92}"/>
              </a:ext>
            </a:extLst>
          </p:cNvPr>
          <p:cNvSpPr txBox="1"/>
          <p:nvPr/>
        </p:nvSpPr>
        <p:spPr>
          <a:xfrm>
            <a:off x="6738556" y="5286530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900" b="1" dirty="0"/>
              <a:t>数据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2A2CC6F-763D-6E40-81AE-3F7DF3384C51}"/>
              </a:ext>
            </a:extLst>
          </p:cNvPr>
          <p:cNvSpPr/>
          <p:nvPr/>
        </p:nvSpPr>
        <p:spPr>
          <a:xfrm>
            <a:off x="6058412" y="3723269"/>
            <a:ext cx="442602" cy="86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8F5204-77C3-5944-AB62-3CD620AE3A1D}"/>
              </a:ext>
            </a:extLst>
          </p:cNvPr>
          <p:cNvSpPr/>
          <p:nvPr/>
        </p:nvSpPr>
        <p:spPr>
          <a:xfrm>
            <a:off x="6061531" y="437553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C098358-DEF4-FE40-B97D-EFCF165A5A48}"/>
              </a:ext>
            </a:extLst>
          </p:cNvPr>
          <p:cNvSpPr/>
          <p:nvPr/>
        </p:nvSpPr>
        <p:spPr>
          <a:xfrm>
            <a:off x="6058411" y="429768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9ECA218-9B9C-DD4D-9CBA-B9181221CAA4}"/>
              </a:ext>
            </a:extLst>
          </p:cNvPr>
          <p:cNvSpPr/>
          <p:nvPr/>
        </p:nvSpPr>
        <p:spPr>
          <a:xfrm>
            <a:off x="6056899" y="4079114"/>
            <a:ext cx="439484" cy="121655"/>
          </a:xfrm>
          <a:prstGeom prst="rect">
            <a:avLst/>
          </a:prstGeom>
          <a:solidFill>
            <a:srgbClr val="0070B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04A873-262E-A74A-A0C7-33E0B353D704}"/>
              </a:ext>
            </a:extLst>
          </p:cNvPr>
          <p:cNvSpPr/>
          <p:nvPr/>
        </p:nvSpPr>
        <p:spPr>
          <a:xfrm>
            <a:off x="6057655" y="393947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18F30E2-03F0-E34C-A0ED-FF97A22D69E4}"/>
              </a:ext>
            </a:extLst>
          </p:cNvPr>
          <p:cNvSpPr/>
          <p:nvPr/>
        </p:nvSpPr>
        <p:spPr>
          <a:xfrm>
            <a:off x="6056899" y="386162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AB77F82-553A-094F-862F-9ECFB86A080E}"/>
              </a:ext>
            </a:extLst>
          </p:cNvPr>
          <p:cNvSpPr/>
          <p:nvPr/>
        </p:nvSpPr>
        <p:spPr>
          <a:xfrm>
            <a:off x="7400765" y="3723269"/>
            <a:ext cx="442602" cy="8621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BEE200-2368-8343-9282-5BF53ACF76CB}"/>
              </a:ext>
            </a:extLst>
          </p:cNvPr>
          <p:cNvSpPr/>
          <p:nvPr/>
        </p:nvSpPr>
        <p:spPr>
          <a:xfrm>
            <a:off x="7403884" y="437553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234EE8B-320B-8C49-9A9E-757302C1493F}"/>
              </a:ext>
            </a:extLst>
          </p:cNvPr>
          <p:cNvSpPr/>
          <p:nvPr/>
        </p:nvSpPr>
        <p:spPr>
          <a:xfrm>
            <a:off x="7400764" y="429768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7DE7023-3315-6B4F-9E30-E6D2AAEB7034}"/>
              </a:ext>
            </a:extLst>
          </p:cNvPr>
          <p:cNvSpPr/>
          <p:nvPr/>
        </p:nvSpPr>
        <p:spPr>
          <a:xfrm>
            <a:off x="7400008" y="3939474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9051B41-352B-F247-9894-7C71DBD97DB9}"/>
              </a:ext>
            </a:extLst>
          </p:cNvPr>
          <p:cNvSpPr/>
          <p:nvPr/>
        </p:nvSpPr>
        <p:spPr>
          <a:xfrm>
            <a:off x="7399252" y="3861627"/>
            <a:ext cx="439484" cy="76173"/>
          </a:xfrm>
          <a:prstGeom prst="rect">
            <a:avLst/>
          </a:prstGeom>
          <a:solidFill>
            <a:srgbClr val="B3B3B3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20973DD-202B-0F4E-BE5E-238D3F26DA40}"/>
              </a:ext>
            </a:extLst>
          </p:cNvPr>
          <p:cNvSpPr/>
          <p:nvPr/>
        </p:nvSpPr>
        <p:spPr>
          <a:xfrm>
            <a:off x="6827641" y="5049902"/>
            <a:ext cx="115486" cy="252816"/>
          </a:xfrm>
          <a:prstGeom prst="rect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ED9F540-1997-F44B-8486-AA844F67FA3A}"/>
              </a:ext>
            </a:extLst>
          </p:cNvPr>
          <p:cNvSpPr txBox="1"/>
          <p:nvPr/>
        </p:nvSpPr>
        <p:spPr>
          <a:xfrm>
            <a:off x="6729066" y="4773414"/>
            <a:ext cx="275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⚔️</a:t>
            </a:r>
            <a:endParaRPr kumimoji="1" lang="zh-CN" altLang="en-US" sz="12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3E8B7A4-64CE-4B40-9D44-E52227866392}"/>
              </a:ext>
            </a:extLst>
          </p:cNvPr>
          <p:cNvSpPr txBox="1"/>
          <p:nvPr/>
        </p:nvSpPr>
        <p:spPr>
          <a:xfrm>
            <a:off x="6026204" y="2763082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核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11B2B66-89E3-7549-927C-534BB7D9BCDC}"/>
              </a:ext>
            </a:extLst>
          </p:cNvPr>
          <p:cNvSpPr txBox="1"/>
          <p:nvPr/>
        </p:nvSpPr>
        <p:spPr>
          <a:xfrm>
            <a:off x="7383829" y="2763082"/>
            <a:ext cx="474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核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3ABDBECE-89FB-DB4A-8C1F-EA74A91224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3115" y="3038398"/>
            <a:ext cx="509152" cy="509862"/>
          </a:xfrm>
          <a:prstGeom prst="rect">
            <a:avLst/>
          </a:prstGeom>
        </p:spPr>
      </p:pic>
      <p:sp>
        <p:nvSpPr>
          <p:cNvPr id="50" name="矩形 49">
            <a:extLst>
              <a:ext uri="{FF2B5EF4-FFF2-40B4-BE49-F238E27FC236}">
                <a16:creationId xmlns:a16="http://schemas.microsoft.com/office/drawing/2014/main" id="{AB2E9C49-34BC-F04E-BC6F-5CA92E13D3E6}"/>
              </a:ext>
            </a:extLst>
          </p:cNvPr>
          <p:cNvSpPr/>
          <p:nvPr/>
        </p:nvSpPr>
        <p:spPr>
          <a:xfrm>
            <a:off x="7399252" y="4075706"/>
            <a:ext cx="439484" cy="121655"/>
          </a:xfrm>
          <a:prstGeom prst="rect">
            <a:avLst/>
          </a:prstGeom>
          <a:solidFill>
            <a:srgbClr val="0070BF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700" b="1" dirty="0">
              <a:solidFill>
                <a:schemeClr val="tx1"/>
              </a:solidFill>
            </a:endParaRPr>
          </a:p>
        </p:txBody>
      </p: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A254EA86-5A35-404C-B27D-241560409C0D}"/>
              </a:ext>
            </a:extLst>
          </p:cNvPr>
          <p:cNvCxnSpPr>
            <a:cxnSpLocks/>
            <a:stCxn id="24" idx="3"/>
            <a:endCxn id="45" idx="0"/>
          </p:cNvCxnSpPr>
          <p:nvPr/>
        </p:nvCxnSpPr>
        <p:spPr>
          <a:xfrm>
            <a:off x="6496383" y="4139942"/>
            <a:ext cx="389001" cy="909960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C0649210-0A5D-E246-81B1-440A012DCC9D}"/>
              </a:ext>
            </a:extLst>
          </p:cNvPr>
          <p:cNvCxnSpPr>
            <a:cxnSpLocks/>
            <a:stCxn id="50" idx="1"/>
            <a:endCxn id="45" idx="0"/>
          </p:cNvCxnSpPr>
          <p:nvPr/>
        </p:nvCxnSpPr>
        <p:spPr>
          <a:xfrm flipH="1">
            <a:off x="6885384" y="4136534"/>
            <a:ext cx="513868" cy="913368"/>
          </a:xfrm>
          <a:prstGeom prst="straightConnector1">
            <a:avLst/>
          </a:prstGeom>
          <a:ln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64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5EE37-F357-FF48-8C94-BCFCAB1F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解决方案：能否使单一进程跨核执行？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935F6E-3374-1D42-B8EB-56AE92597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优势：无需用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创建新进程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降低进程管理开销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同一地址空间数据共享</a:t>
            </a:r>
            <a:r>
              <a:rPr kumimoji="1" lang="en-US" altLang="zh-CN" dirty="0"/>
              <a:t>/</a:t>
            </a:r>
            <a:r>
              <a:rPr kumimoji="1" lang="zh-CN" altLang="en-US" dirty="0"/>
              <a:t>同步方便</a:t>
            </a:r>
            <a:endParaRPr kumimoji="1" lang="en-US" altLang="zh-CN" dirty="0"/>
          </a:p>
          <a:p>
            <a:r>
              <a:rPr kumimoji="1" lang="zh-CN" altLang="en-US" dirty="0"/>
              <a:t>需要什么支持？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上下文（</a:t>
            </a:r>
            <a:r>
              <a:rPr kumimoji="1" lang="en-US" altLang="zh-CN" dirty="0"/>
              <a:t>Context</a:t>
            </a:r>
            <a:r>
              <a:rPr kumimoji="1" lang="zh-CN" altLang="en-US" dirty="0"/>
              <a:t>）：不同核执行状态不同，需要独立上下文</a:t>
            </a:r>
            <a:endParaRPr kumimoji="1" lang="en-US" altLang="zh-CN" dirty="0"/>
          </a:p>
          <a:p>
            <a:pPr lvl="1"/>
            <a:r>
              <a:rPr kumimoji="1" lang="zh-CN" altLang="en-US" b="1" dirty="0">
                <a:solidFill>
                  <a:srgbClr val="C00000"/>
                </a:solidFill>
              </a:rPr>
              <a:t>接下来的问题：如何在进程内部为多个上下文提供支持？</a:t>
            </a:r>
            <a:endParaRPr kumimoji="1" lang="en-US" altLang="zh-CN" b="1" dirty="0">
              <a:solidFill>
                <a:srgbClr val="C00000"/>
              </a:solidFill>
            </a:endParaRPr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50505D-4588-C344-AEBA-CD26E83B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F3342F-6806-A944-926C-E353AC527F56}"/>
              </a:ext>
            </a:extLst>
          </p:cNvPr>
          <p:cNvSpPr/>
          <p:nvPr/>
        </p:nvSpPr>
        <p:spPr>
          <a:xfrm rot="16200000">
            <a:off x="1847819" y="4353657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48066F-6737-E34D-B20E-572ECF13FF74}"/>
              </a:ext>
            </a:extLst>
          </p:cNvPr>
          <p:cNvSpPr txBox="1"/>
          <p:nvPr/>
        </p:nvSpPr>
        <p:spPr>
          <a:xfrm>
            <a:off x="1898949" y="438635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5BA77FA-8C3A-2641-8DA8-7A279D4DEF9C}"/>
              </a:ext>
            </a:extLst>
          </p:cNvPr>
          <p:cNvSpPr txBox="1"/>
          <p:nvPr/>
        </p:nvSpPr>
        <p:spPr>
          <a:xfrm>
            <a:off x="1898949" y="5151153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A2AAA-EBF6-484A-A98E-003FF87F958C}"/>
              </a:ext>
            </a:extLst>
          </p:cNvPr>
          <p:cNvSpPr/>
          <p:nvPr/>
        </p:nvSpPr>
        <p:spPr>
          <a:xfrm>
            <a:off x="2633971" y="4414533"/>
            <a:ext cx="654346" cy="10368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A0B0F1-9E74-5D48-BC0F-8B6E596433AD}"/>
              </a:ext>
            </a:extLst>
          </p:cNvPr>
          <p:cNvSpPr txBox="1"/>
          <p:nvPr/>
        </p:nvSpPr>
        <p:spPr>
          <a:xfrm>
            <a:off x="2652572" y="4763949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47A7BE8-3257-9B43-B70E-2AFB3DDD2B7F}"/>
              </a:ext>
            </a:extLst>
          </p:cNvPr>
          <p:cNvSpPr/>
          <p:nvPr/>
        </p:nvSpPr>
        <p:spPr>
          <a:xfrm>
            <a:off x="3437922" y="441348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2C6A62-680F-A444-9873-69D736058E64}"/>
              </a:ext>
            </a:extLst>
          </p:cNvPr>
          <p:cNvSpPr txBox="1"/>
          <p:nvPr/>
        </p:nvSpPr>
        <p:spPr>
          <a:xfrm>
            <a:off x="3437922" y="440215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9902C4-F17E-304E-AB5B-0B806A41E812}"/>
              </a:ext>
            </a:extLst>
          </p:cNvPr>
          <p:cNvSpPr/>
          <p:nvPr/>
        </p:nvSpPr>
        <p:spPr>
          <a:xfrm>
            <a:off x="4241873" y="4414123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37E46D1-B423-724B-B5EB-FC1DA97F9112}"/>
              </a:ext>
            </a:extLst>
          </p:cNvPr>
          <p:cNvSpPr txBox="1"/>
          <p:nvPr/>
        </p:nvSpPr>
        <p:spPr>
          <a:xfrm>
            <a:off x="4241873" y="4402792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DE2AF19-373A-AF46-A4C1-77F073FB84C2}"/>
              </a:ext>
            </a:extLst>
          </p:cNvPr>
          <p:cNvSpPr/>
          <p:nvPr/>
        </p:nvSpPr>
        <p:spPr>
          <a:xfrm>
            <a:off x="5045824" y="441307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CDDFDD-CAC1-0744-A9BB-2DEFBFB17F1F}"/>
              </a:ext>
            </a:extLst>
          </p:cNvPr>
          <p:cNvSpPr txBox="1"/>
          <p:nvPr/>
        </p:nvSpPr>
        <p:spPr>
          <a:xfrm>
            <a:off x="5045824" y="440174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E0A174-110A-B741-B05E-132310B7F088}"/>
              </a:ext>
            </a:extLst>
          </p:cNvPr>
          <p:cNvSpPr/>
          <p:nvPr/>
        </p:nvSpPr>
        <p:spPr>
          <a:xfrm>
            <a:off x="3440876" y="516954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91E9FBE-84F4-8145-A3D8-A71F8E043F34}"/>
              </a:ext>
            </a:extLst>
          </p:cNvPr>
          <p:cNvSpPr txBox="1"/>
          <p:nvPr/>
        </p:nvSpPr>
        <p:spPr>
          <a:xfrm>
            <a:off x="3440876" y="515821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1C1A356-ED23-484B-9ED2-F06D5313DFBA}"/>
              </a:ext>
            </a:extLst>
          </p:cNvPr>
          <p:cNvSpPr/>
          <p:nvPr/>
        </p:nvSpPr>
        <p:spPr>
          <a:xfrm>
            <a:off x="4244827" y="5170182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E739B9-F97B-E046-9FA8-2B438822C303}"/>
              </a:ext>
            </a:extLst>
          </p:cNvPr>
          <p:cNvSpPr txBox="1"/>
          <p:nvPr/>
        </p:nvSpPr>
        <p:spPr>
          <a:xfrm>
            <a:off x="4244827" y="5158851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3959BCD-4C8C-484E-81E6-F23759004A8A}"/>
              </a:ext>
            </a:extLst>
          </p:cNvPr>
          <p:cNvSpPr/>
          <p:nvPr/>
        </p:nvSpPr>
        <p:spPr>
          <a:xfrm>
            <a:off x="5048778" y="516913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744A46C-8B3F-354A-AB71-D881C6577F73}"/>
              </a:ext>
            </a:extLst>
          </p:cNvPr>
          <p:cNvSpPr txBox="1"/>
          <p:nvPr/>
        </p:nvSpPr>
        <p:spPr>
          <a:xfrm>
            <a:off x="5048778" y="515780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进程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6815A6-A26A-C846-B8D2-7EFA34046C23}"/>
              </a:ext>
            </a:extLst>
          </p:cNvPr>
          <p:cNvSpPr txBox="1"/>
          <p:nvPr/>
        </p:nvSpPr>
        <p:spPr>
          <a:xfrm>
            <a:off x="5674857" y="430803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3322F9D-B6C0-414C-B73E-32FD0460DB57}"/>
              </a:ext>
            </a:extLst>
          </p:cNvPr>
          <p:cNvSpPr txBox="1"/>
          <p:nvPr/>
        </p:nvSpPr>
        <p:spPr>
          <a:xfrm>
            <a:off x="5674857" y="508203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9C3F721-B38C-8C49-A871-3F79799118DB}"/>
              </a:ext>
            </a:extLst>
          </p:cNvPr>
          <p:cNvSpPr/>
          <p:nvPr/>
        </p:nvSpPr>
        <p:spPr>
          <a:xfrm rot="16200000">
            <a:off x="1847819" y="5109716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2195179-D867-8B4C-AF79-875AB92E559B}"/>
              </a:ext>
            </a:extLst>
          </p:cNvPr>
          <p:cNvSpPr/>
          <p:nvPr/>
        </p:nvSpPr>
        <p:spPr>
          <a:xfrm>
            <a:off x="2561963" y="5082033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8235077-592B-1341-9BC3-96D0E503572C}"/>
              </a:ext>
            </a:extLst>
          </p:cNvPr>
          <p:cNvSpPr/>
          <p:nvPr/>
        </p:nvSpPr>
        <p:spPr>
          <a:xfrm>
            <a:off x="2561963" y="4326672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56008A2-6CC3-9A47-8CAD-247B6D350048}"/>
              </a:ext>
            </a:extLst>
          </p:cNvPr>
          <p:cNvSpPr txBox="1"/>
          <p:nvPr/>
        </p:nvSpPr>
        <p:spPr>
          <a:xfrm>
            <a:off x="6363958" y="469312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1CB8DE78-1524-D444-8DDF-86F1DF200FEF}"/>
              </a:ext>
            </a:extLst>
          </p:cNvPr>
          <p:cNvSpPr/>
          <p:nvPr/>
        </p:nvSpPr>
        <p:spPr>
          <a:xfrm>
            <a:off x="6363958" y="4701107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7FCB311F-6CB5-034E-A965-AB9FFE57E9CB}"/>
              </a:ext>
            </a:extLst>
          </p:cNvPr>
          <p:cNvCxnSpPr>
            <a:cxnSpLocks/>
            <a:stCxn id="30" idx="1"/>
            <a:endCxn id="28" idx="3"/>
          </p:cNvCxnSpPr>
          <p:nvPr/>
        </p:nvCxnSpPr>
        <p:spPr>
          <a:xfrm flipH="1" flipV="1">
            <a:off x="6090355" y="4555631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BA5B48CC-41A8-244F-9E50-897191A0C8DE}"/>
              </a:ext>
            </a:extLst>
          </p:cNvPr>
          <p:cNvCxnSpPr>
            <a:cxnSpLocks/>
            <a:stCxn id="30" idx="1"/>
            <a:endCxn id="27" idx="3"/>
          </p:cNvCxnSpPr>
          <p:nvPr/>
        </p:nvCxnSpPr>
        <p:spPr>
          <a:xfrm flipH="1">
            <a:off x="6090355" y="4881782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29C8C856-20C8-9645-8838-4D3ADE25F5B2}"/>
              </a:ext>
            </a:extLst>
          </p:cNvPr>
          <p:cNvSpPr txBox="1"/>
          <p:nvPr/>
        </p:nvSpPr>
        <p:spPr>
          <a:xfrm>
            <a:off x="6127557" y="446051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E8134B9-E4EC-684C-B62B-E25C4C92C9B5}"/>
              </a:ext>
            </a:extLst>
          </p:cNvPr>
          <p:cNvSpPr txBox="1"/>
          <p:nvPr/>
        </p:nvSpPr>
        <p:spPr>
          <a:xfrm>
            <a:off x="6147885" y="5110741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461FB32-A686-1847-9A3F-AC2B4410D8F0}"/>
              </a:ext>
            </a:extLst>
          </p:cNvPr>
          <p:cNvSpPr/>
          <p:nvPr/>
        </p:nvSpPr>
        <p:spPr>
          <a:xfrm>
            <a:off x="2703944" y="4476812"/>
            <a:ext cx="514400" cy="214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42A50FD-8EEF-AA46-856F-A876ADA580E4}"/>
              </a:ext>
            </a:extLst>
          </p:cNvPr>
          <p:cNvSpPr txBox="1"/>
          <p:nvPr/>
        </p:nvSpPr>
        <p:spPr>
          <a:xfrm>
            <a:off x="2643462" y="4463300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chemeClr val="bg1"/>
                </a:solidFill>
                <a:latin typeface="+mn-ea"/>
              </a:rPr>
              <a:t>上下文</a:t>
            </a:r>
            <a:r>
              <a:rPr kumimoji="1" lang="en-US" altLang="zh-CN" sz="1000" b="1" dirty="0">
                <a:solidFill>
                  <a:schemeClr val="bg1"/>
                </a:solidFill>
                <a:latin typeface="+mn-ea"/>
              </a:rPr>
              <a:t>0</a:t>
            </a:r>
            <a:endParaRPr kumimoji="1"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A69DC3C-3CDA-9840-91CB-33B46BB98720}"/>
              </a:ext>
            </a:extLst>
          </p:cNvPr>
          <p:cNvSpPr/>
          <p:nvPr/>
        </p:nvSpPr>
        <p:spPr>
          <a:xfrm>
            <a:off x="2709538" y="5180919"/>
            <a:ext cx="514400" cy="2142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41D22E-5A9A-7547-B1C6-58B5B010788E}"/>
              </a:ext>
            </a:extLst>
          </p:cNvPr>
          <p:cNvSpPr txBox="1"/>
          <p:nvPr/>
        </p:nvSpPr>
        <p:spPr>
          <a:xfrm>
            <a:off x="2649056" y="5167407"/>
            <a:ext cx="6479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b="1" dirty="0">
                <a:solidFill>
                  <a:schemeClr val="bg1"/>
                </a:solidFill>
                <a:latin typeface="+mn-ea"/>
              </a:rPr>
              <a:t>上下文</a:t>
            </a:r>
            <a:r>
              <a:rPr kumimoji="1" lang="en-US" altLang="zh-CN" sz="1000" b="1" dirty="0">
                <a:solidFill>
                  <a:schemeClr val="bg1"/>
                </a:solidFill>
                <a:latin typeface="+mn-ea"/>
              </a:rPr>
              <a:t>1</a:t>
            </a:r>
            <a:endParaRPr kumimoji="1" lang="zh-CN" altLang="en-US" sz="10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23868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A77019-50CF-984E-BDDA-FEE34CE35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线程：更加轻量级的运行时抽象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62361D-5EC7-1B4F-8073-291486CE0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线程只包含运行时的状态</a:t>
            </a:r>
            <a:endParaRPr kumimoji="1" lang="en-US" altLang="zh-CN"/>
          </a:p>
          <a:p>
            <a:pPr lvl="1"/>
            <a:r>
              <a:rPr kumimoji="1" lang="zh-CN" altLang="en-US"/>
              <a:t>静态部分由</a:t>
            </a:r>
            <a:r>
              <a:rPr kumimoji="1" lang="zh-CN" altLang="en-US" b="1"/>
              <a:t>进程</a:t>
            </a:r>
            <a:r>
              <a:rPr kumimoji="1" lang="zh-CN" altLang="en-US"/>
              <a:t>提供</a:t>
            </a:r>
            <a:endParaRPr kumimoji="1" lang="en-US" altLang="zh-CN"/>
          </a:p>
          <a:p>
            <a:pPr lvl="1"/>
            <a:r>
              <a:rPr kumimoji="1" lang="zh-CN" altLang="en-US"/>
              <a:t>包括了执行所需的</a:t>
            </a:r>
            <a:r>
              <a:rPr kumimoji="1" lang="zh-CN" altLang="en-US" b="1"/>
              <a:t>最小</a:t>
            </a:r>
            <a:r>
              <a:rPr kumimoji="1" lang="zh-CN" altLang="en-US"/>
              <a:t>状态（主要是寄存器和栈）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一个进程可以包含多个线程</a:t>
            </a:r>
            <a:endParaRPr kumimoji="1" lang="en-US" altLang="zh-CN"/>
          </a:p>
          <a:p>
            <a:pPr lvl="1"/>
            <a:r>
              <a:rPr kumimoji="1" lang="zh-CN" altLang="en-US"/>
              <a:t>每个线程共享同一地址空间（方便数据共享和交互）</a:t>
            </a:r>
            <a:endParaRPr kumimoji="1" lang="en-US" altLang="zh-CN"/>
          </a:p>
          <a:p>
            <a:pPr lvl="1"/>
            <a:r>
              <a:rPr kumimoji="1" lang="zh-CN" altLang="en-US"/>
              <a:t>允许进程内并行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853221-E5F7-AD46-972E-5996341FB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A144B-524F-714B-91B0-DA64528A60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8345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614871"/>
            <a:ext cx="7772400" cy="1250156"/>
          </a:xfrm>
        </p:spPr>
        <p:txBody>
          <a:bodyPr/>
          <a:lstStyle/>
          <a:p>
            <a:r>
              <a:rPr lang="zh-CN" altLang="en-US" dirty="0"/>
              <a:t>线程的概念 </a:t>
            </a:r>
            <a:r>
              <a:rPr lang="en-US" altLang="zh-CN" dirty="0"/>
              <a:t>- </a:t>
            </a:r>
            <a:r>
              <a:rPr lang="zh-CN" altLang="en-US" dirty="0"/>
              <a:t>线程模型 </a:t>
            </a:r>
            <a:r>
              <a:rPr lang="en-US" altLang="zh-CN" dirty="0"/>
              <a:t>-</a:t>
            </a:r>
            <a:r>
              <a:rPr lang="zh-CN" altLang="en-US" dirty="0"/>
              <a:t> 相关数据结构 </a:t>
            </a:r>
            <a:r>
              <a:rPr lang="en-US" altLang="zh-CN" dirty="0"/>
              <a:t>-</a:t>
            </a:r>
            <a:r>
              <a:rPr lang="zh-CN" altLang="en-US" dirty="0"/>
              <a:t> 基本操作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C3291F-9B8C-0D4A-B9AB-449452A7B8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306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723F4-DF29-7E4A-B00A-DB7FDA89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从进程到线程的发展历史（一）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F140E-844E-2C48-887B-F31A3310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kumimoji="1" lang="zh-CN" altLang="en-US" dirty="0"/>
              <a:t>早期的操作系统（</a:t>
            </a:r>
            <a:r>
              <a:rPr kumimoji="1" lang="en-US" altLang="zh-CN" dirty="0"/>
              <a:t>20</a:t>
            </a:r>
            <a:r>
              <a:rPr kumimoji="1" lang="zh-CN" altLang="en-US" dirty="0"/>
              <a:t>世纪</a:t>
            </a:r>
            <a:r>
              <a:rPr kumimoji="1" lang="en-US" altLang="zh-CN" dirty="0"/>
              <a:t>60</a:t>
            </a:r>
            <a:r>
              <a:rPr kumimoji="1" lang="zh-CN" altLang="en-US" dirty="0"/>
              <a:t>年代）只有进程的概念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客观原因：硬件资源有限（没有多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、多核硬件）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IBM</a:t>
            </a:r>
            <a:r>
              <a:rPr kumimoji="1" lang="zh-CN" altLang="en-US" dirty="0"/>
              <a:t> </a:t>
            </a:r>
            <a:r>
              <a:rPr kumimoji="1" lang="en-US" altLang="zh-CN" dirty="0"/>
              <a:t>OS/360</a:t>
            </a:r>
            <a:r>
              <a:rPr kumimoji="1" lang="zh-CN" altLang="en-US" dirty="0"/>
              <a:t>操作系统中较早出现了类似线程的概念（</a:t>
            </a:r>
            <a:r>
              <a:rPr kumimoji="1" lang="en-US" altLang="zh-CN" dirty="0"/>
              <a:t>1967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称为“任务”（</a:t>
            </a:r>
            <a:r>
              <a:rPr kumimoji="1" lang="en-US" altLang="zh-CN" dirty="0"/>
              <a:t>task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一般认为</a:t>
            </a:r>
            <a:r>
              <a:rPr kumimoji="1" lang="en-US" altLang="zh-CN" dirty="0"/>
              <a:t>thread</a:t>
            </a:r>
            <a:r>
              <a:rPr kumimoji="1" lang="zh-CN" altLang="en-US" dirty="0"/>
              <a:t>概念的提出者是</a:t>
            </a:r>
            <a:r>
              <a:rPr lang="en" altLang="zh-CN" sz="1800" b="0" dirty="0"/>
              <a:t>Victor </a:t>
            </a:r>
            <a:r>
              <a:rPr lang="en-US" altLang="zh-CN" sz="1800" b="0" dirty="0"/>
              <a:t>N. </a:t>
            </a:r>
            <a:r>
              <a:rPr lang="en" altLang="zh-CN" sz="1800" b="0" dirty="0" err="1"/>
              <a:t>Vyssotsky</a:t>
            </a:r>
            <a:endParaRPr lang="en" altLang="zh-CN" sz="1800" b="0" dirty="0"/>
          </a:p>
          <a:p>
            <a:pPr lvl="1"/>
            <a:r>
              <a:rPr kumimoji="1" lang="en" altLang="zh-CN" dirty="0"/>
              <a:t>Multics</a:t>
            </a:r>
            <a:r>
              <a:rPr kumimoji="1" lang="zh-CN" altLang="en" dirty="0"/>
              <a:t>操作系统</a:t>
            </a:r>
            <a:r>
              <a:rPr kumimoji="1" lang="zh-CN" altLang="en-US" dirty="0"/>
              <a:t>项目的技术领头人</a:t>
            </a:r>
            <a:endParaRPr kumimoji="1" lang="en-US" altLang="zh-CN" dirty="0"/>
          </a:p>
          <a:p>
            <a:pPr lvl="1"/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F7A63-AC8C-6D4A-992C-28489D85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E98D1-631E-A947-99EB-4CC0418A7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2C9AC07-C632-AD40-BA6D-87EBD20F1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349374"/>
            <a:ext cx="1844299" cy="185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690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723F4-DF29-7E4A-B00A-DB7FDA89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从进程到线程的发展历史（二）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F140E-844E-2C48-887B-F31A3310C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内核（</a:t>
            </a:r>
            <a:r>
              <a:rPr kumimoji="1" lang="en-US" altLang="zh-CN" dirty="0"/>
              <a:t>1991</a:t>
            </a:r>
            <a:r>
              <a:rPr kumimoji="1" lang="zh-CN" altLang="en-US" dirty="0"/>
              <a:t>）最初并未提供线程支持</a:t>
            </a:r>
            <a:endParaRPr kumimoji="1" lang="en-US" altLang="zh-CN" dirty="0"/>
          </a:p>
          <a:p>
            <a:r>
              <a:rPr kumimoji="1" lang="en-US" altLang="zh-CN" dirty="0"/>
              <a:t>POSIX</a:t>
            </a:r>
            <a:r>
              <a:rPr kumimoji="1" lang="zh-CN" altLang="en-US" dirty="0"/>
              <a:t>随后（</a:t>
            </a:r>
            <a:r>
              <a:rPr kumimoji="1" lang="en-US" altLang="zh-CN" dirty="0"/>
              <a:t>1995</a:t>
            </a:r>
            <a:r>
              <a:rPr kumimoji="1" lang="zh-CN" altLang="en-US" dirty="0"/>
              <a:t>）定义了较为统一的线程接口</a:t>
            </a:r>
            <a:endParaRPr kumimoji="1" lang="en-US" altLang="zh-CN" dirty="0"/>
          </a:p>
          <a:p>
            <a:pPr lvl="1"/>
            <a:r>
              <a:rPr kumimoji="1" lang="en-US" altLang="zh-CN" b="1" dirty="0">
                <a:solidFill>
                  <a:schemeClr val="accent1"/>
                </a:solidFill>
              </a:rPr>
              <a:t>POSIX threads</a:t>
            </a:r>
            <a:r>
              <a:rPr kumimoji="1" lang="zh-CN" altLang="en-US" dirty="0"/>
              <a:t>，常用的</a:t>
            </a:r>
            <a:r>
              <a:rPr kumimoji="1" lang="en-US" altLang="zh-CN" i="1" dirty="0" err="1"/>
              <a:t>pthreads</a:t>
            </a:r>
            <a:r>
              <a:rPr kumimoji="1" lang="zh-CN" altLang="en-US" dirty="0"/>
              <a:t>就是一种实现</a:t>
            </a:r>
            <a:endParaRPr kumimoji="1" lang="en-US" altLang="zh-CN" dirty="0"/>
          </a:p>
          <a:p>
            <a:r>
              <a:rPr kumimoji="1" lang="en-US" altLang="zh-CN" dirty="0"/>
              <a:t>Red</a:t>
            </a:r>
            <a:r>
              <a:rPr kumimoji="1" lang="zh-CN" altLang="en-US" dirty="0"/>
              <a:t> </a:t>
            </a:r>
            <a:r>
              <a:rPr kumimoji="1" lang="en-US" altLang="zh-CN" dirty="0"/>
              <a:t>Hat</a:t>
            </a:r>
            <a:r>
              <a:rPr kumimoji="1" lang="zh-CN" altLang="en-US" dirty="0"/>
              <a:t>的研究人员对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内核进行了修改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使其为线程提供原生支持，基于</a:t>
            </a:r>
            <a:r>
              <a:rPr kumimoji="1" lang="en-US" altLang="zh-CN" dirty="0"/>
              <a:t>process</a:t>
            </a:r>
            <a:r>
              <a:rPr kumimoji="1" lang="zh-CN" altLang="en-US" dirty="0"/>
              <a:t>实现了</a:t>
            </a:r>
            <a:r>
              <a:rPr kumimoji="1" lang="en-US" altLang="zh-CN" dirty="0"/>
              <a:t>thread</a:t>
            </a:r>
          </a:p>
          <a:p>
            <a:pPr lvl="2"/>
            <a:r>
              <a:rPr kumimoji="1" lang="zh-CN" altLang="en-US" sz="1800" dirty="0"/>
              <a:t>又称为“</a:t>
            </a:r>
            <a:r>
              <a:rPr kumimoji="1" lang="en-US" altLang="zh-CN" sz="1800" dirty="0"/>
              <a:t>lightweight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process</a:t>
            </a:r>
            <a:r>
              <a:rPr kumimoji="1" lang="zh-CN" altLang="en-US" sz="1800" dirty="0"/>
              <a:t>”，即共享虚拟地址空间的进程</a:t>
            </a:r>
            <a:endParaRPr kumimoji="1" lang="en-US" altLang="zh-CN" sz="1800" dirty="0"/>
          </a:p>
          <a:p>
            <a:pPr lvl="1"/>
            <a:r>
              <a:rPr kumimoji="1" lang="zh-CN" altLang="en-US" dirty="0"/>
              <a:t>在</a:t>
            </a:r>
            <a:r>
              <a:rPr kumimoji="1" lang="en-US" altLang="zh-CN" dirty="0"/>
              <a:t>Linux 2.6</a:t>
            </a:r>
            <a:r>
              <a:rPr kumimoji="1" lang="zh-CN" altLang="en-US" dirty="0"/>
              <a:t>以后进入主线（</a:t>
            </a:r>
            <a:r>
              <a:rPr kumimoji="1" lang="en-US" altLang="zh-CN" dirty="0"/>
              <a:t>2003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lang="en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F7A63-AC8C-6D4A-992C-28489D856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E98D1-631E-A947-99EB-4CC0418A77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122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23F2C-0F29-9B42-83E6-F551C8BE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多线程的进程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324FBA-1355-024A-99FC-CF5DE39B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一个进程可以包含多个线程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一个进程的多线程可以在不同处理器上同时执行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调度的基本单元由进程变为了线程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每个线程都有</a:t>
            </a:r>
            <a:r>
              <a:rPr kumimoji="1" lang="zh-CN" altLang="en-US" b="1" dirty="0"/>
              <a:t>状态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切换的单位由进程变为了线程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2771D6-886D-5F46-B5ED-CD61222F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FC138B-DF85-414D-8FC6-4D560F29E3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061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9A66B5-D2E3-AE4D-9B66-52B22096E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多线程进程的地址空间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467B45-FA82-8D4B-A775-11EC1C478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每个线程拥有自己的栈</a:t>
            </a:r>
            <a:endParaRPr kumimoji="1" lang="en-US" altLang="zh-CN"/>
          </a:p>
          <a:p>
            <a:pPr marL="0" indent="0">
              <a:buNone/>
            </a:pPr>
            <a:endParaRPr kumimoji="1" lang="en-US" altLang="zh-CN"/>
          </a:p>
          <a:p>
            <a:r>
              <a:rPr kumimoji="1" lang="zh-CN" altLang="en-US"/>
              <a:t>内核中也有为线程准备的内核栈</a:t>
            </a:r>
            <a:endParaRPr kumimoji="1" lang="en-US" altLang="zh-CN"/>
          </a:p>
          <a:p>
            <a:endParaRPr kumimoji="1" lang="en-US" altLang="zh-CN"/>
          </a:p>
          <a:p>
            <a:r>
              <a:rPr kumimoji="1" lang="zh-CN" altLang="en-US"/>
              <a:t>其它区域共享</a:t>
            </a:r>
            <a:endParaRPr kumimoji="1" lang="en-US" altLang="zh-CN"/>
          </a:p>
          <a:p>
            <a:pPr lvl="1"/>
            <a:r>
              <a:rPr kumimoji="1" lang="zh-CN" altLang="en-US"/>
              <a:t>数据、代码、堆</a:t>
            </a:r>
            <a:r>
              <a:rPr kumimoji="1" lang="en-US" altLang="zh-CN"/>
              <a:t>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4DF97-1E1B-DD42-AEF3-019FEA31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528B48-95D5-704A-AAA6-4FC492291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44" y="1193461"/>
            <a:ext cx="1654528" cy="4111885"/>
          </a:xfrm>
          <a:prstGeom prst="rect">
            <a:avLst/>
          </a:prstGeom>
        </p:spPr>
      </p:pic>
      <p:sp>
        <p:nvSpPr>
          <p:cNvPr id="11" name="左大括号 10">
            <a:extLst>
              <a:ext uri="{FF2B5EF4-FFF2-40B4-BE49-F238E27FC236}">
                <a16:creationId xmlns:a16="http://schemas.microsoft.com/office/drawing/2014/main" id="{934BE2FB-4E65-674E-8401-818C21E84C7B}"/>
              </a:ext>
            </a:extLst>
          </p:cNvPr>
          <p:cNvSpPr/>
          <p:nvPr/>
        </p:nvSpPr>
        <p:spPr>
          <a:xfrm>
            <a:off x="6941745" y="3844839"/>
            <a:ext cx="155448" cy="1260298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383868C-AC6E-3D47-A517-232A4E7729B3}"/>
              </a:ext>
            </a:extLst>
          </p:cNvPr>
          <p:cNvSpPr txBox="1"/>
          <p:nvPr/>
        </p:nvSpPr>
        <p:spPr>
          <a:xfrm>
            <a:off x="6444208" y="4328794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b="1" dirty="0">
                <a:solidFill>
                  <a:srgbClr val="941100"/>
                </a:solidFill>
              </a:rPr>
              <a:t>共享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BA641-4493-D64D-8F9D-56B8446E6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0070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7FD24-D892-394D-A070-183EE591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用户态线程与内核态线程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24856F-0482-5A48-8BA5-EB620E8CB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/>
              <a:t>根据线程是否受内核管理，可以将线程分为两类</a:t>
            </a:r>
            <a:endParaRPr kumimoji="1" lang="en-US" altLang="zh-CN"/>
          </a:p>
          <a:p>
            <a:pPr lvl="1"/>
            <a:r>
              <a:rPr kumimoji="1" lang="zh-CN" altLang="en-US"/>
              <a:t>内核态线程：内核可见，受内核管理</a:t>
            </a:r>
            <a:endParaRPr kumimoji="1" lang="en-US" altLang="zh-CN"/>
          </a:p>
          <a:p>
            <a:pPr lvl="1"/>
            <a:r>
              <a:rPr kumimoji="1" lang="zh-CN" altLang="en-US"/>
              <a:t>用户态线程：内核不可见，不受内核直接管理</a:t>
            </a:r>
            <a:endParaRPr kumimoji="1" lang="en-US" altLang="zh-CN"/>
          </a:p>
          <a:p>
            <a:r>
              <a:rPr kumimoji="1" lang="zh-CN" altLang="en-US"/>
              <a:t>内核态线程</a:t>
            </a:r>
            <a:endParaRPr kumimoji="1" lang="en-US" altLang="zh-CN"/>
          </a:p>
          <a:p>
            <a:pPr lvl="1"/>
            <a:r>
              <a:rPr kumimoji="1" lang="zh-CN" altLang="en-US"/>
              <a:t>由内核创建，线程相关信息存放在内核中</a:t>
            </a:r>
            <a:endParaRPr kumimoji="1" lang="en-US" altLang="zh-CN"/>
          </a:p>
          <a:p>
            <a:r>
              <a:rPr kumimoji="1" lang="zh-CN" altLang="en-US"/>
              <a:t>用户态线程（纤程）</a:t>
            </a:r>
            <a:endParaRPr kumimoji="1" lang="en-US" altLang="zh-CN"/>
          </a:p>
          <a:p>
            <a:pPr lvl="1"/>
            <a:r>
              <a:rPr kumimoji="1" lang="zh-CN" altLang="en-US"/>
              <a:t>在应用态创建，线程相关信息主要存放在应用数据中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5CE240D-CA7C-9F49-822A-AC6D61B97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8FF3E3-2515-7C41-A3BA-C92A0719C3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502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2217E-65C4-964A-A771-B9B5FD11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DF1FC0-FD19-A540-B1A9-19F9E2E76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线程模型表示了用户态线程与内核态线程之间的联系</a:t>
            </a:r>
            <a:endParaRPr kumimoji="1" lang="en-US" altLang="zh-CN"/>
          </a:p>
          <a:p>
            <a:pPr lvl="1"/>
            <a:r>
              <a:rPr kumimoji="1" lang="zh-CN" altLang="en-US"/>
              <a:t>多对一模型：多个用户态线程对应一个内核态线程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一对一模型：一个用户态线程对应一个内核态线程</a:t>
            </a:r>
            <a:endParaRPr kumimoji="1" lang="en-US" altLang="zh-CN"/>
          </a:p>
          <a:p>
            <a:pPr lvl="1"/>
            <a:r>
              <a:rPr kumimoji="1" lang="zh-CN" altLang="en-US"/>
              <a:t>多对多模型：多个用户态线程对应多个内核态线程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09ED67-289E-1341-8236-42A9192A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CC2C68-0CDE-7341-BBA2-F3BEDCC78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32" y="3222062"/>
            <a:ext cx="2808312" cy="172009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966BBA-BAA1-4B43-B783-2D98CFEF0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146" y="3217540"/>
            <a:ext cx="2809469" cy="1720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AD1650A-2159-6F4E-AEFC-CF9722736D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6615" y="3217540"/>
            <a:ext cx="2809469" cy="17208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04AC268-EEA5-CC48-9AB2-91E32A7E97FB}"/>
              </a:ext>
            </a:extLst>
          </p:cNvPr>
          <p:cNvSpPr txBox="1"/>
          <p:nvPr/>
        </p:nvSpPr>
        <p:spPr>
          <a:xfrm>
            <a:off x="1144940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一对一模型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6EEEC5-26FE-DE4D-B49A-1778041AD23E}"/>
              </a:ext>
            </a:extLst>
          </p:cNvPr>
          <p:cNvSpPr txBox="1"/>
          <p:nvPr/>
        </p:nvSpPr>
        <p:spPr>
          <a:xfrm>
            <a:off x="3977024" y="485811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多对一模型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5D131E-08CD-5248-B5EB-65B6EC0DB1F4}"/>
              </a:ext>
            </a:extLst>
          </p:cNvPr>
          <p:cNvSpPr txBox="1"/>
          <p:nvPr/>
        </p:nvSpPr>
        <p:spPr>
          <a:xfrm>
            <a:off x="6809108" y="4853041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多对多模型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434FCE-97CA-CC4E-9F2C-B2CA10D96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1175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5BB36A-7CDD-3A4F-A6C3-C9595CC87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多对一模型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595FC-B432-1346-9683-889F376CE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将多个用户态线程映射给单一的内核线程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优点：内核管理简单</a:t>
            </a:r>
            <a:endParaRPr kumimoji="1" lang="en-US" altLang="zh-CN"/>
          </a:p>
          <a:p>
            <a:pPr lvl="1"/>
            <a:r>
              <a:rPr kumimoji="1" lang="zh-CN" altLang="en-US"/>
              <a:t>缺点：可扩展性差，无法适应多核机器的发展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在主流操作系统中被弃用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用于各种用户态线程库中</a:t>
            </a:r>
            <a:endParaRPr kumimoji="1" lang="zh-CN" altLang="en-US" dirty="0">
              <a:solidFill>
                <a:schemeClr val="accent1"/>
              </a:solidFill>
              <a:latin typeface="+mj-lt"/>
              <a:ea typeface="+mj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C13C6-7FA4-9842-B14F-503F6A00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4D509F-58BD-7446-B772-3292F303CD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531" y="3577580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10F133-D248-2941-A9E4-1526B6AED6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7999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3B859B-4980-0A44-8A0B-3CD24345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一对一模型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2DD8A7-8E2D-754D-8F27-4C1943364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每个用户线程映射单独的内核线程</a:t>
            </a:r>
            <a:endParaRPr kumimoji="1" lang="en-US" altLang="zh-CN"/>
          </a:p>
          <a:p>
            <a:pPr lvl="1"/>
            <a:r>
              <a:rPr kumimoji="1" lang="zh-CN" altLang="en-US"/>
              <a:t>优点：解决了多对一模型中的可扩展性问题</a:t>
            </a:r>
            <a:endParaRPr kumimoji="1" lang="en-US" altLang="zh-CN"/>
          </a:p>
          <a:p>
            <a:pPr lvl="1"/>
            <a:r>
              <a:rPr kumimoji="1" lang="zh-CN" altLang="en-US"/>
              <a:t>缺点：内核线程数量大，开销大</a:t>
            </a:r>
            <a:endParaRPr kumimoji="1" lang="en-US" altLang="zh-CN"/>
          </a:p>
          <a:p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主流操作系统都采用一对一模型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pPr lvl="1"/>
            <a:r>
              <a:rPr kumimoji="1" lang="en-US" altLang="zh-CN"/>
              <a:t>Windows</a:t>
            </a:r>
            <a:r>
              <a:rPr kumimoji="1" lang="zh-CN" altLang="en-US"/>
              <a:t>、</a:t>
            </a:r>
            <a:r>
              <a:rPr kumimoji="1" lang="en-US" altLang="zh-CN"/>
              <a:t>Linux</a:t>
            </a:r>
            <a:r>
              <a:rPr kumimoji="1" lang="zh-CN" altLang="en-US"/>
              <a:t>、</a:t>
            </a:r>
            <a:r>
              <a:rPr kumimoji="1" lang="en-US" altLang="zh-CN"/>
              <a:t>OS</a:t>
            </a:r>
            <a:r>
              <a:rPr kumimoji="1" lang="zh-CN" altLang="en-US"/>
              <a:t> </a:t>
            </a:r>
            <a:r>
              <a:rPr kumimoji="1" lang="en-US" altLang="zh-CN"/>
              <a:t>X……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E6A175-99E6-B446-A034-0C6871EB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8B5DC3-3DC4-524B-A4CE-6EA58CC5E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844" y="3576871"/>
            <a:ext cx="2808312" cy="1720091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4958213-51A0-4140-82E8-2C94FFCBE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62961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29FAD-B33C-804B-9950-ED0C7DE2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/>
              <a:t>多对多模型（又叫</a:t>
            </a:r>
            <a:r>
              <a:rPr kumimoji="1" lang="en-US" altLang="zh-CN"/>
              <a:t>Scheduler</a:t>
            </a:r>
            <a:r>
              <a:rPr kumimoji="1" lang="zh-CN" altLang="en-US"/>
              <a:t> </a:t>
            </a:r>
            <a:r>
              <a:rPr kumimoji="1" lang="en-US" altLang="zh-CN"/>
              <a:t>Activation</a:t>
            </a:r>
            <a:r>
              <a:rPr kumimoji="1" lang="zh-CN" altLang="en-US"/>
              <a:t>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E5EB2F-16F2-0F4C-B58D-BC30366D9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/>
              <a:t>N</a:t>
            </a:r>
            <a:r>
              <a:rPr kumimoji="1" lang="zh-CN" altLang="en-US"/>
              <a:t>个用户态线程映射到</a:t>
            </a:r>
            <a:r>
              <a:rPr kumimoji="1" lang="en-US" altLang="zh-CN"/>
              <a:t>M</a:t>
            </a:r>
            <a:r>
              <a:rPr kumimoji="1" lang="zh-CN" altLang="en-US"/>
              <a:t>个内核态线程（</a:t>
            </a:r>
            <a:r>
              <a:rPr kumimoji="1" lang="en-US" altLang="zh-CN"/>
              <a:t>N &gt; M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zh-CN" altLang="en-US"/>
              <a:t>优点：解决了可扩展性问题（多对一）和线程过多问题（一对一）</a:t>
            </a:r>
            <a:endParaRPr kumimoji="1" lang="en-US" altLang="zh-CN"/>
          </a:p>
          <a:p>
            <a:pPr lvl="1"/>
            <a:r>
              <a:rPr kumimoji="1" lang="zh-CN" altLang="en-US"/>
              <a:t>缺点：管理更为复杂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en-US" altLang="zh-CN"/>
              <a:t>Solaris</a:t>
            </a:r>
            <a:r>
              <a:rPr kumimoji="1" lang="zh-CN" altLang="en-US"/>
              <a:t>在</a:t>
            </a:r>
            <a:r>
              <a:rPr kumimoji="1" lang="en-US" altLang="zh-CN"/>
              <a:t>9</a:t>
            </a:r>
            <a:r>
              <a:rPr kumimoji="1" lang="zh-CN" altLang="en-US"/>
              <a:t>之前使用该模型</a:t>
            </a:r>
            <a:endParaRPr kumimoji="1" lang="en-US" altLang="zh-CN"/>
          </a:p>
          <a:p>
            <a:pPr lvl="1"/>
            <a:r>
              <a:rPr kumimoji="1" lang="en-US" altLang="zh-CN"/>
              <a:t>9</a:t>
            </a:r>
            <a:r>
              <a:rPr kumimoji="1" lang="zh-CN" altLang="en-US"/>
              <a:t>之后改为一对一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>
                <a:solidFill>
                  <a:schemeClr val="accent1"/>
                </a:solidFill>
                <a:latin typeface="+mj-lt"/>
                <a:ea typeface="+mj-ea"/>
              </a:rPr>
              <a:t>在虚拟化中得到了广泛应用</a:t>
            </a:r>
            <a:endParaRPr kumimoji="1" lang="en-US" altLang="zh-CN">
              <a:solidFill>
                <a:schemeClr val="accent1"/>
              </a:solidFill>
              <a:latin typeface="+mj-lt"/>
              <a:ea typeface="+mj-ea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28FC66-B3CB-324D-ADD3-56AF8BE8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FBB533-67FB-6F43-BCC6-343F81115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160" y="3576162"/>
            <a:ext cx="2809469" cy="1720800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7802DC-5E0E-8D42-8A4B-7A1F5CE99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52227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812C8-487B-3C42-AE73-73449B0F7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线程的相关数据结构：</a:t>
            </a:r>
            <a:r>
              <a:rPr kumimoji="1" lang="en-US" altLang="zh-CN"/>
              <a:t>TCB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29688-87D8-1845-8428-6B4F690375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一对一模型的</a:t>
            </a:r>
            <a:r>
              <a:rPr kumimoji="1" lang="en-US" altLang="zh-CN" dirty="0"/>
              <a:t>TCB</a:t>
            </a:r>
            <a:r>
              <a:rPr kumimoji="1" lang="zh-CN" altLang="en-US" dirty="0"/>
              <a:t>可以分为两部分</a:t>
            </a:r>
            <a:endParaRPr kumimoji="1" lang="en-US" altLang="zh-CN" dirty="0"/>
          </a:p>
          <a:p>
            <a:r>
              <a:rPr kumimoji="1" lang="zh-CN" altLang="en-US" dirty="0"/>
              <a:t>内核态：与</a:t>
            </a:r>
            <a:r>
              <a:rPr kumimoji="1" lang="en-US" altLang="zh-CN" dirty="0"/>
              <a:t>PCB</a:t>
            </a:r>
            <a:r>
              <a:rPr kumimoji="1" lang="zh-CN" altLang="en-US" dirty="0"/>
              <a:t>结构类似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中进程与线程使用的是同一种数据结构（</a:t>
            </a:r>
            <a:r>
              <a:rPr kumimoji="1" lang="en-US" altLang="zh-CN" dirty="0" err="1"/>
              <a:t>task_struct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上下文切换中会使用</a:t>
            </a:r>
            <a:endParaRPr kumimoji="1" lang="en-US" altLang="zh-CN" dirty="0"/>
          </a:p>
          <a:p>
            <a:r>
              <a:rPr kumimoji="1" lang="zh-CN" altLang="en-US" dirty="0"/>
              <a:t>应用态：可以由线程库定义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Linux</a:t>
            </a:r>
            <a:r>
              <a:rPr kumimoji="1" lang="zh-CN" altLang="en-US" dirty="0"/>
              <a:t>：</a:t>
            </a:r>
            <a:r>
              <a:rPr kumimoji="1" lang="en-US" altLang="zh-CN" dirty="0" err="1"/>
              <a:t>pthread</a:t>
            </a:r>
            <a:r>
              <a:rPr kumimoji="1" lang="zh-CN" altLang="en-US" dirty="0"/>
              <a:t>结构体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可以认为是内核</a:t>
            </a:r>
            <a:r>
              <a:rPr kumimoji="1" lang="en-US" altLang="zh-CN" dirty="0"/>
              <a:t>TCB</a:t>
            </a:r>
            <a:r>
              <a:rPr kumimoji="1" lang="zh-CN" altLang="en-US" dirty="0"/>
              <a:t>的扩展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FE06E1-8460-5C44-9CC2-CDC50B1E6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99C2E3-90A6-1E49-BEA2-48E2760C7E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847949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创建：</a:t>
            </a:r>
            <a:r>
              <a:rPr kumimoji="1" lang="en-US" altLang="zh-CN"/>
              <a:t>pthread_create</a:t>
            </a:r>
          </a:p>
          <a:p>
            <a:pPr lvl="1"/>
            <a:r>
              <a:rPr kumimoji="1" lang="zh-CN" altLang="en-US"/>
              <a:t>内核态：创建相应的内核态线程及内核栈</a:t>
            </a:r>
            <a:endParaRPr kumimoji="1" lang="en-US" altLang="zh-CN"/>
          </a:p>
          <a:p>
            <a:pPr lvl="1"/>
            <a:r>
              <a:rPr kumimoji="1" lang="zh-CN" altLang="en-US"/>
              <a:t>应用态：创建</a:t>
            </a:r>
            <a:r>
              <a:rPr kumimoji="1" lang="en-US" altLang="zh-CN"/>
              <a:t>TCB</a:t>
            </a:r>
            <a:r>
              <a:rPr kumimoji="1" lang="zh-CN" altLang="en-US"/>
              <a:t>、应用栈和</a:t>
            </a:r>
            <a:r>
              <a:rPr kumimoji="1" lang="en-US" altLang="zh-CN"/>
              <a:t>TLS</a:t>
            </a:r>
          </a:p>
          <a:p>
            <a:pPr lvl="1"/>
            <a:endParaRPr kumimoji="1" lang="en-US" altLang="zh-CN"/>
          </a:p>
          <a:p>
            <a:r>
              <a:rPr kumimoji="1" lang="zh-CN" altLang="en-US"/>
              <a:t>合并：</a:t>
            </a:r>
            <a:r>
              <a:rPr kumimoji="1" lang="en-US" altLang="zh-CN"/>
              <a:t>pthread_join</a:t>
            </a:r>
          </a:p>
          <a:p>
            <a:pPr lvl="1"/>
            <a:r>
              <a:rPr kumimoji="1" lang="zh-CN" altLang="en-US"/>
              <a:t>等待另一线程执行完成，并获取其执行结果</a:t>
            </a:r>
            <a:endParaRPr kumimoji="1" lang="en-US" altLang="zh-CN"/>
          </a:p>
          <a:p>
            <a:pPr lvl="1"/>
            <a:r>
              <a:rPr kumimoji="1" lang="zh-CN" altLang="en-US"/>
              <a:t>可以认为是</a:t>
            </a:r>
            <a:r>
              <a:rPr kumimoji="1" lang="en-US" altLang="zh-CN"/>
              <a:t>fork</a:t>
            </a:r>
            <a:r>
              <a:rPr kumimoji="1" lang="zh-CN" altLang="en-US"/>
              <a:t>的“逆向操作”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8F47C72-4DBD-7E46-8966-E08338F969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2515330"/>
            <a:ext cx="1612900" cy="2794000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A566CB-D8C4-1043-B59B-09DD5A0A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38958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3A64F0-5085-374C-A434-E9A7891B7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线程的基本操作：以</a:t>
            </a:r>
            <a:r>
              <a:rPr kumimoji="1" lang="en-US" altLang="zh-CN" i="1"/>
              <a:t>pthreads</a:t>
            </a:r>
            <a:r>
              <a:rPr kumimoji="1" lang="zh-CN" altLang="en-US"/>
              <a:t>为例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B5C7D4-F1B9-8147-9FCD-167DA2ADB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退出：</a:t>
            </a:r>
            <a:r>
              <a:rPr kumimoji="1" lang="en-US" altLang="zh-CN"/>
              <a:t>pthread_exit</a:t>
            </a:r>
          </a:p>
          <a:p>
            <a:pPr lvl="1"/>
            <a:r>
              <a:rPr kumimoji="1" lang="zh-CN" altLang="en-US"/>
              <a:t>可设置返回值（会被</a:t>
            </a:r>
            <a:r>
              <a:rPr kumimoji="1" lang="en-US" altLang="zh-CN"/>
              <a:t>pthread_join</a:t>
            </a:r>
            <a:r>
              <a:rPr kumimoji="1" lang="zh-CN" altLang="en-US"/>
              <a:t>获取）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暂停：</a:t>
            </a:r>
            <a:r>
              <a:rPr kumimoji="1" lang="en-US" altLang="zh-CN"/>
              <a:t>pthread_yield</a:t>
            </a:r>
          </a:p>
          <a:p>
            <a:pPr lvl="1"/>
            <a:r>
              <a:rPr kumimoji="1" lang="zh-CN" altLang="en-US"/>
              <a:t>立即暂停执行，出让</a:t>
            </a:r>
            <a:r>
              <a:rPr kumimoji="1" lang="en-US" altLang="zh-CN"/>
              <a:t>CPU</a:t>
            </a:r>
            <a:r>
              <a:rPr kumimoji="1" lang="zh-CN" altLang="en-US"/>
              <a:t>资源给其它线程</a:t>
            </a:r>
            <a:endParaRPr kumimoji="1" lang="en-US" altLang="zh-CN"/>
          </a:p>
          <a:p>
            <a:pPr lvl="1"/>
            <a:r>
              <a:rPr kumimoji="1" lang="zh-CN" altLang="en-US"/>
              <a:t>好处：可以帮助调度器做出更优的决策</a:t>
            </a:r>
            <a:endParaRPr kumimoji="1" lang="en-US" altLang="zh-CN"/>
          </a:p>
          <a:p>
            <a:endParaRPr kumimoji="1" lang="en-US" altLang="zh-CN"/>
          </a:p>
          <a:p>
            <a:endParaRPr kumimoji="1" lang="en-US" altLang="zh-CN"/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9E4516-5E31-C04A-8C13-0EC28D425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C7051-2CEE-ED4A-9FA7-CD926DF7FC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9482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29D8D5-E66D-C842-A890-7945B885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对比：进程</a:t>
            </a:r>
            <a:r>
              <a:rPr kumimoji="1" lang="en-US" altLang="zh-CN" dirty="0"/>
              <a:t>vs. </a:t>
            </a:r>
            <a:r>
              <a:rPr kumimoji="1" lang="zh-CN" altLang="en-US" dirty="0"/>
              <a:t>线程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4204E-C303-304F-B478-445705FBF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线程和进程的相似之处：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都可以与其他进程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线程并发执行（可能在不同核心上）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都可以进行上下文切换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引入线程后，调度管理单位由进程变为线程</a:t>
            </a:r>
            <a:endParaRPr kumimoji="1" lang="en-US" altLang="zh-CN" sz="1800" dirty="0"/>
          </a:p>
          <a:p>
            <a:pPr lvl="2"/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6145E3-D10C-0A42-A6F4-AB2DB68A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2328C6C-09F2-4843-A09D-ABB20367710C}"/>
              </a:ext>
            </a:extLst>
          </p:cNvPr>
          <p:cNvSpPr/>
          <p:nvPr/>
        </p:nvSpPr>
        <p:spPr>
          <a:xfrm rot="16200000">
            <a:off x="1712045" y="4116649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CB67C41-9241-1F48-8941-0AA4ABC37050}"/>
              </a:ext>
            </a:extLst>
          </p:cNvPr>
          <p:cNvSpPr txBox="1"/>
          <p:nvPr/>
        </p:nvSpPr>
        <p:spPr>
          <a:xfrm>
            <a:off x="1763175" y="4149347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0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888EF1F-EF2F-BF4A-9301-93AC3BFC021E}"/>
              </a:ext>
            </a:extLst>
          </p:cNvPr>
          <p:cNvSpPr txBox="1"/>
          <p:nvPr/>
        </p:nvSpPr>
        <p:spPr>
          <a:xfrm>
            <a:off x="1763175" y="4914145"/>
            <a:ext cx="5164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latin typeface="+mn-ea"/>
              </a:rPr>
              <a:t>核</a:t>
            </a:r>
            <a:r>
              <a:rPr kumimoji="1" lang="en-US" altLang="zh-CN" sz="1600" b="1" dirty="0">
                <a:latin typeface="+mn-ea"/>
              </a:rPr>
              <a:t>1</a:t>
            </a:r>
            <a:endParaRPr kumimoji="1" lang="zh-CN" altLang="en-US" sz="1600" b="1" dirty="0">
              <a:latin typeface="+mn-e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35FC62-B703-094A-B6FF-1E63B4BBE93B}"/>
              </a:ext>
            </a:extLst>
          </p:cNvPr>
          <p:cNvSpPr/>
          <p:nvPr/>
        </p:nvSpPr>
        <p:spPr>
          <a:xfrm>
            <a:off x="2498197" y="417752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C61B849-7945-B746-A964-F51EAF5B768A}"/>
              </a:ext>
            </a:extLst>
          </p:cNvPr>
          <p:cNvSpPr txBox="1"/>
          <p:nvPr/>
        </p:nvSpPr>
        <p:spPr>
          <a:xfrm>
            <a:off x="2498197" y="416619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0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3D5738BE-30A8-3241-871F-3AEB40111115}"/>
              </a:ext>
            </a:extLst>
          </p:cNvPr>
          <p:cNvSpPr/>
          <p:nvPr/>
        </p:nvSpPr>
        <p:spPr>
          <a:xfrm>
            <a:off x="3302148" y="417647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1F2756F-6AB1-7242-908D-055752FA410B}"/>
              </a:ext>
            </a:extLst>
          </p:cNvPr>
          <p:cNvSpPr txBox="1"/>
          <p:nvPr/>
        </p:nvSpPr>
        <p:spPr>
          <a:xfrm>
            <a:off x="3302148" y="416514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2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974F609-0AAB-B441-AC25-D94E6586A0FE}"/>
              </a:ext>
            </a:extLst>
          </p:cNvPr>
          <p:cNvSpPr/>
          <p:nvPr/>
        </p:nvSpPr>
        <p:spPr>
          <a:xfrm>
            <a:off x="4106099" y="4177115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195C460-0214-0D4E-9F2A-52652B46FE9B}"/>
              </a:ext>
            </a:extLst>
          </p:cNvPr>
          <p:cNvSpPr txBox="1"/>
          <p:nvPr/>
        </p:nvSpPr>
        <p:spPr>
          <a:xfrm>
            <a:off x="4106099" y="4165784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5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5C83B65-598D-3E42-9DB7-8DA22E57A97F}"/>
              </a:ext>
            </a:extLst>
          </p:cNvPr>
          <p:cNvSpPr/>
          <p:nvPr/>
        </p:nvSpPr>
        <p:spPr>
          <a:xfrm>
            <a:off x="4910050" y="4176067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D50B883-5062-6144-9CFB-07497D5E12C4}"/>
              </a:ext>
            </a:extLst>
          </p:cNvPr>
          <p:cNvSpPr txBox="1"/>
          <p:nvPr/>
        </p:nvSpPr>
        <p:spPr>
          <a:xfrm>
            <a:off x="4910050" y="4164736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8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7E81151-263C-154D-B012-AD0D26C34FD2}"/>
              </a:ext>
            </a:extLst>
          </p:cNvPr>
          <p:cNvSpPr/>
          <p:nvPr/>
        </p:nvSpPr>
        <p:spPr>
          <a:xfrm>
            <a:off x="2501151" y="493358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161A3C88-637A-9A47-9500-692684221BE9}"/>
              </a:ext>
            </a:extLst>
          </p:cNvPr>
          <p:cNvSpPr txBox="1"/>
          <p:nvPr/>
        </p:nvSpPr>
        <p:spPr>
          <a:xfrm>
            <a:off x="2501151" y="492225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3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39BA5E1-A5A5-4348-B2B0-FA0A6BA3A7C4}"/>
              </a:ext>
            </a:extLst>
          </p:cNvPr>
          <p:cNvSpPr/>
          <p:nvPr/>
        </p:nvSpPr>
        <p:spPr>
          <a:xfrm>
            <a:off x="3305102" y="493253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EEE7F34-4AC8-BE48-B039-B68740FE6AE0}"/>
              </a:ext>
            </a:extLst>
          </p:cNvPr>
          <p:cNvSpPr txBox="1"/>
          <p:nvPr/>
        </p:nvSpPr>
        <p:spPr>
          <a:xfrm>
            <a:off x="3305102" y="492120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7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11AC4EA7-07AF-8F42-B30B-4FF447F3A88C}"/>
              </a:ext>
            </a:extLst>
          </p:cNvPr>
          <p:cNvSpPr/>
          <p:nvPr/>
        </p:nvSpPr>
        <p:spPr>
          <a:xfrm>
            <a:off x="4109053" y="4933174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AF00A41E-127C-A646-A1EE-3914C6B666CD}"/>
              </a:ext>
            </a:extLst>
          </p:cNvPr>
          <p:cNvSpPr txBox="1"/>
          <p:nvPr/>
        </p:nvSpPr>
        <p:spPr>
          <a:xfrm>
            <a:off x="4109053" y="4921843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1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92B0282-3C75-5B47-9071-28145614D68C}"/>
              </a:ext>
            </a:extLst>
          </p:cNvPr>
          <p:cNvSpPr/>
          <p:nvPr/>
        </p:nvSpPr>
        <p:spPr>
          <a:xfrm>
            <a:off x="4913004" y="4932126"/>
            <a:ext cx="654346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E1D3489F-3B26-8E46-B3AB-5E61177761C2}"/>
              </a:ext>
            </a:extLst>
          </p:cNvPr>
          <p:cNvSpPr txBox="1"/>
          <p:nvPr/>
        </p:nvSpPr>
        <p:spPr>
          <a:xfrm>
            <a:off x="4913004" y="4920795"/>
            <a:ext cx="6543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>
                <a:latin typeface="+mn-ea"/>
              </a:rPr>
              <a:t>线程</a:t>
            </a:r>
            <a:r>
              <a:rPr kumimoji="1" lang="en-US" altLang="zh-CN" sz="1400" b="1" dirty="0">
                <a:latin typeface="+mn-ea"/>
              </a:rPr>
              <a:t>9</a:t>
            </a:r>
            <a:endParaRPr kumimoji="1" lang="zh-CN" altLang="en-US" sz="1400" b="1" dirty="0">
              <a:latin typeface="+mn-ea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E922B8E-A77C-DE4A-952A-2C980E4AF7BB}"/>
              </a:ext>
            </a:extLst>
          </p:cNvPr>
          <p:cNvSpPr txBox="1"/>
          <p:nvPr/>
        </p:nvSpPr>
        <p:spPr>
          <a:xfrm>
            <a:off x="5539083" y="407102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2DEEF1D-03D0-E041-AC92-EDAA26153515}"/>
              </a:ext>
            </a:extLst>
          </p:cNvPr>
          <p:cNvSpPr txBox="1"/>
          <p:nvPr/>
        </p:nvSpPr>
        <p:spPr>
          <a:xfrm>
            <a:off x="5539083" y="484502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B51CD83-CA18-174A-B904-987735889723}"/>
              </a:ext>
            </a:extLst>
          </p:cNvPr>
          <p:cNvSpPr/>
          <p:nvPr/>
        </p:nvSpPr>
        <p:spPr>
          <a:xfrm rot="16200000">
            <a:off x="1712045" y="4872708"/>
            <a:ext cx="618747" cy="403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2907758-1954-6E44-80F9-947E50088E43}"/>
              </a:ext>
            </a:extLst>
          </p:cNvPr>
          <p:cNvSpPr/>
          <p:nvPr/>
        </p:nvSpPr>
        <p:spPr>
          <a:xfrm>
            <a:off x="2426189" y="4845025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44AF5F44-8CA3-7347-AEF7-4438710DFE24}"/>
              </a:ext>
            </a:extLst>
          </p:cNvPr>
          <p:cNvSpPr/>
          <p:nvPr/>
        </p:nvSpPr>
        <p:spPr>
          <a:xfrm>
            <a:off x="2426189" y="4089664"/>
            <a:ext cx="3528392" cy="457917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A608735-2DE7-B84B-9A47-2448F78A4E7C}"/>
              </a:ext>
            </a:extLst>
          </p:cNvPr>
          <p:cNvSpPr txBox="1"/>
          <p:nvPr/>
        </p:nvSpPr>
        <p:spPr>
          <a:xfrm>
            <a:off x="6228184" y="44561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调度器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0B1B2D3D-66F0-D349-ADF6-37DDE4332377}"/>
              </a:ext>
            </a:extLst>
          </p:cNvPr>
          <p:cNvSpPr/>
          <p:nvPr/>
        </p:nvSpPr>
        <p:spPr>
          <a:xfrm>
            <a:off x="6228184" y="4464099"/>
            <a:ext cx="877163" cy="36134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7" name="直线箭头连接符 66">
            <a:extLst>
              <a:ext uri="{FF2B5EF4-FFF2-40B4-BE49-F238E27FC236}">
                <a16:creationId xmlns:a16="http://schemas.microsoft.com/office/drawing/2014/main" id="{22770729-0692-A845-AD1A-0F4993FD9251}"/>
              </a:ext>
            </a:extLst>
          </p:cNvPr>
          <p:cNvCxnSpPr>
            <a:cxnSpLocks/>
            <a:stCxn id="66" idx="1"/>
            <a:endCxn id="64" idx="3"/>
          </p:cNvCxnSpPr>
          <p:nvPr/>
        </p:nvCxnSpPr>
        <p:spPr>
          <a:xfrm flipH="1" flipV="1">
            <a:off x="5954581" y="4318623"/>
            <a:ext cx="273603" cy="3261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7851C289-8B5B-E64C-ADF8-A6F1AE26BD5E}"/>
              </a:ext>
            </a:extLst>
          </p:cNvPr>
          <p:cNvCxnSpPr>
            <a:cxnSpLocks/>
            <a:stCxn id="66" idx="1"/>
            <a:endCxn id="63" idx="3"/>
          </p:cNvCxnSpPr>
          <p:nvPr/>
        </p:nvCxnSpPr>
        <p:spPr>
          <a:xfrm flipH="1">
            <a:off x="5954581" y="4644774"/>
            <a:ext cx="273603" cy="4292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DEF91CB7-9D54-5B41-B9C9-0FC79D2D0974}"/>
              </a:ext>
            </a:extLst>
          </p:cNvPr>
          <p:cNvSpPr txBox="1"/>
          <p:nvPr/>
        </p:nvSpPr>
        <p:spPr>
          <a:xfrm>
            <a:off x="5991783" y="422350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BC1F4ED-7F53-2D47-B946-DF0D68D01B68}"/>
              </a:ext>
            </a:extLst>
          </p:cNvPr>
          <p:cNvSpPr txBox="1"/>
          <p:nvPr/>
        </p:nvSpPr>
        <p:spPr>
          <a:xfrm>
            <a:off x="6012111" y="487373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/>
              <a:t>管理</a:t>
            </a:r>
          </a:p>
        </p:txBody>
      </p:sp>
      <p:cxnSp>
        <p:nvCxnSpPr>
          <p:cNvPr id="71" name="曲线连接符 70">
            <a:extLst>
              <a:ext uri="{FF2B5EF4-FFF2-40B4-BE49-F238E27FC236}">
                <a16:creationId xmlns:a16="http://schemas.microsoft.com/office/drawing/2014/main" id="{714A32C6-5116-BC4D-B89F-7131D09EA04C}"/>
              </a:ext>
            </a:extLst>
          </p:cNvPr>
          <p:cNvCxnSpPr>
            <a:cxnSpLocks/>
            <a:stCxn id="45" idx="0"/>
            <a:endCxn id="47" idx="0"/>
          </p:cNvCxnSpPr>
          <p:nvPr/>
        </p:nvCxnSpPr>
        <p:spPr>
          <a:xfrm rot="5400000" flipH="1" flipV="1">
            <a:off x="3226821" y="3763695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>
            <a:extLst>
              <a:ext uri="{FF2B5EF4-FFF2-40B4-BE49-F238E27FC236}">
                <a16:creationId xmlns:a16="http://schemas.microsoft.com/office/drawing/2014/main" id="{F021C553-3087-864C-9750-13A809BEE20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43358" y="3763284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曲线连接符 72">
            <a:extLst>
              <a:ext uri="{FF2B5EF4-FFF2-40B4-BE49-F238E27FC236}">
                <a16:creationId xmlns:a16="http://schemas.microsoft.com/office/drawing/2014/main" id="{7711CE91-55E2-FE4E-A09E-3548EA6261F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7309" y="3774833"/>
            <a:ext cx="1048" cy="803951"/>
          </a:xfrm>
          <a:prstGeom prst="curvedConnector3">
            <a:avLst>
              <a:gd name="adj1" fmla="val 21912977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id="{9A78F26B-6DAD-F943-A12E-6CE1849E2EC8}"/>
              </a:ext>
            </a:extLst>
          </p:cNvPr>
          <p:cNvSpPr txBox="1"/>
          <p:nvPr/>
        </p:nvSpPr>
        <p:spPr>
          <a:xfrm>
            <a:off x="2981123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B3A0F66D-5D8F-2D48-9308-CA7223202872}"/>
              </a:ext>
            </a:extLst>
          </p:cNvPr>
          <p:cNvSpPr txBox="1"/>
          <p:nvPr/>
        </p:nvSpPr>
        <p:spPr>
          <a:xfrm>
            <a:off x="3797660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903A3E9-F285-2048-9BB6-194ACA2D9AEE}"/>
              </a:ext>
            </a:extLst>
          </p:cNvPr>
          <p:cNvSpPr txBox="1"/>
          <p:nvPr/>
        </p:nvSpPr>
        <p:spPr>
          <a:xfrm>
            <a:off x="4601611" y="3702368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cxnSp>
        <p:nvCxnSpPr>
          <p:cNvPr id="77" name="曲线连接符 76">
            <a:extLst>
              <a:ext uri="{FF2B5EF4-FFF2-40B4-BE49-F238E27FC236}">
                <a16:creationId xmlns:a16="http://schemas.microsoft.com/office/drawing/2014/main" id="{CCA90BD1-A356-C144-975A-07E6408DE65C}"/>
              </a:ext>
            </a:extLst>
          </p:cNvPr>
          <p:cNvCxnSpPr>
            <a:cxnSpLocks/>
            <a:stCxn id="53" idx="2"/>
            <a:endCxn id="54" idx="2"/>
          </p:cNvCxnSpPr>
          <p:nvPr/>
        </p:nvCxnSpPr>
        <p:spPr>
          <a:xfrm rot="5400000" flipH="1" flipV="1">
            <a:off x="3225568" y="4823323"/>
            <a:ext cx="9462" cy="803951"/>
          </a:xfrm>
          <a:prstGeom prst="curvedConnector3">
            <a:avLst>
              <a:gd name="adj1" fmla="val -241598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曲线连接符 77">
            <a:extLst>
              <a:ext uri="{FF2B5EF4-FFF2-40B4-BE49-F238E27FC236}">
                <a16:creationId xmlns:a16="http://schemas.microsoft.com/office/drawing/2014/main" id="{40395821-510B-984F-8554-E1E7C9F2950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026566" y="4843068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曲线连接符 78">
            <a:extLst>
              <a:ext uri="{FF2B5EF4-FFF2-40B4-BE49-F238E27FC236}">
                <a16:creationId xmlns:a16="http://schemas.microsoft.com/office/drawing/2014/main" id="{CC0CB200-08D7-A149-BB9A-BEA29749D3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843103" y="4833557"/>
            <a:ext cx="9462" cy="803951"/>
          </a:xfrm>
          <a:prstGeom prst="curvedConnector3">
            <a:avLst>
              <a:gd name="adj1" fmla="val -1879095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id="{45C67136-4CED-E64F-9C01-972FA8FF3DE0}"/>
              </a:ext>
            </a:extLst>
          </p:cNvPr>
          <p:cNvSpPr txBox="1"/>
          <p:nvPr/>
        </p:nvSpPr>
        <p:spPr>
          <a:xfrm>
            <a:off x="2981123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B7D49D6-1FE5-514E-8B8B-1EAEF0CD5605}"/>
              </a:ext>
            </a:extLst>
          </p:cNvPr>
          <p:cNvSpPr txBox="1"/>
          <p:nvPr/>
        </p:nvSpPr>
        <p:spPr>
          <a:xfrm>
            <a:off x="3797660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3F831027-1509-FE4B-B153-B716828BC95D}"/>
              </a:ext>
            </a:extLst>
          </p:cNvPr>
          <p:cNvSpPr txBox="1"/>
          <p:nvPr/>
        </p:nvSpPr>
        <p:spPr>
          <a:xfrm>
            <a:off x="4601611" y="5388813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rgbClr val="BD3247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1879968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F7DDD-613C-E743-ABCC-5E6D20D7D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对比：进程</a:t>
            </a:r>
            <a:r>
              <a:rPr kumimoji="1" lang="en-US" altLang="zh-CN" dirty="0"/>
              <a:t>vs. </a:t>
            </a:r>
            <a:r>
              <a:rPr kumimoji="1" lang="zh-CN" altLang="en-US" dirty="0"/>
              <a:t>线程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F1E063-79FC-7E4B-9558-20FAFBCE0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线程和进程的不同之处：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同一进程的不同线程共享代码和部分数据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不同进程不共享虚拟地址空间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线程与进程相比开销较低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进程控制（创建和回收）通常比线程更耗时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Linux</a:t>
            </a:r>
            <a:r>
              <a:rPr kumimoji="1" lang="zh-CN" altLang="en-US" dirty="0"/>
              <a:t>的数据：</a:t>
            </a:r>
            <a:endParaRPr kumimoji="1" lang="en-US" altLang="zh-CN" dirty="0"/>
          </a:p>
          <a:p>
            <a:pPr lvl="3"/>
            <a:r>
              <a:rPr kumimoji="1" lang="zh-CN" altLang="en-US" dirty="0"/>
              <a:t>创建和回收进程：～</a:t>
            </a:r>
            <a:r>
              <a:rPr kumimoji="1" lang="en-US" altLang="zh-CN" dirty="0"/>
              <a:t>20K</a:t>
            </a:r>
            <a:r>
              <a:rPr kumimoji="1" lang="zh-CN" altLang="en-US" dirty="0"/>
              <a:t> </a:t>
            </a:r>
            <a:r>
              <a:rPr kumimoji="1" lang="en-US" altLang="zh-CN" dirty="0"/>
              <a:t>cycle</a:t>
            </a:r>
          </a:p>
          <a:p>
            <a:pPr lvl="3"/>
            <a:r>
              <a:rPr kumimoji="1" lang="zh-CN" altLang="en-US" dirty="0"/>
              <a:t>创建和回收线程：～</a:t>
            </a:r>
            <a:r>
              <a:rPr kumimoji="1" lang="en-US" altLang="zh-CN" dirty="0"/>
              <a:t>10K</a:t>
            </a:r>
            <a:r>
              <a:rPr kumimoji="1" lang="zh-CN" altLang="en-US" dirty="0"/>
              <a:t> </a:t>
            </a:r>
            <a:r>
              <a:rPr kumimoji="1" lang="en-US" altLang="zh-CN" dirty="0"/>
              <a:t>cycle</a:t>
            </a:r>
            <a:r>
              <a:rPr kumimoji="1" lang="zh-CN" altLang="en-US" dirty="0"/>
              <a:t>（或更少）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53BE4D-4D00-814E-BEE9-6B3323DB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0588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程序员如何使用线程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en-US" altLang="zh-CN" dirty="0" err="1"/>
              <a:t>pthread</a:t>
            </a:r>
            <a:r>
              <a:rPr lang="zh-CN" altLang="en-US" dirty="0"/>
              <a:t>接口 </a:t>
            </a:r>
            <a:r>
              <a:rPr lang="en-US" altLang="zh-CN" dirty="0"/>
              <a:t>–</a:t>
            </a:r>
            <a:r>
              <a:rPr lang="zh-CN" altLang="en-US" dirty="0"/>
              <a:t> 线程本地存储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567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FF2D54-4889-F649-9218-3A3A814AC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在程序中如何使用线程？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3AB887-9510-BA4B-B8F2-6A4E9FDBC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 dirty="0"/>
              <a:t>常用库：</a:t>
            </a:r>
            <a:r>
              <a:rPr lang="en-US" altLang="zh-CN" dirty="0"/>
              <a:t>POSIX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r>
              <a:rPr lang="zh-CN" altLang="en-US" dirty="0"/>
              <a:t>（</a:t>
            </a:r>
            <a:r>
              <a:rPr lang="en-US" altLang="zh-CN" dirty="0" err="1"/>
              <a:t>pthreads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包含约</a:t>
            </a:r>
            <a:r>
              <a:rPr lang="en-US" altLang="zh-CN" dirty="0"/>
              <a:t>60</a:t>
            </a:r>
            <a:r>
              <a:rPr lang="zh-CN" altLang="en-US" dirty="0"/>
              <a:t>个函数的标准接口</a:t>
            </a:r>
            <a:endParaRPr lang="en-US" altLang="zh-CN" dirty="0"/>
          </a:p>
          <a:p>
            <a:pPr lvl="1"/>
            <a:r>
              <a:rPr lang="zh-CN" altLang="en-US" dirty="0"/>
              <a:t>实现的功能与进程相关系统调用相似</a:t>
            </a:r>
            <a:endParaRPr lang="en-US" altLang="zh-CN" dirty="0"/>
          </a:p>
          <a:p>
            <a:pPr lvl="2"/>
            <a:r>
              <a:rPr lang="zh-CN" altLang="en-US" dirty="0"/>
              <a:t>创建：</a:t>
            </a:r>
            <a:r>
              <a:rPr lang="en-US" altLang="zh-CN" dirty="0" err="1"/>
              <a:t>pthread_create</a:t>
            </a:r>
            <a:endParaRPr lang="en-US" altLang="zh-CN" dirty="0"/>
          </a:p>
          <a:p>
            <a:pPr lvl="2"/>
            <a:r>
              <a:rPr lang="zh-CN" altLang="en-US" dirty="0"/>
              <a:t>回收：</a:t>
            </a:r>
            <a:r>
              <a:rPr lang="en-US" altLang="zh-CN" dirty="0" err="1"/>
              <a:t>pthread_join</a:t>
            </a:r>
            <a:endParaRPr lang="en-US" altLang="zh-CN" dirty="0"/>
          </a:p>
          <a:p>
            <a:pPr lvl="2"/>
            <a:r>
              <a:rPr lang="zh-CN" altLang="en-US" dirty="0"/>
              <a:t>退出：</a:t>
            </a:r>
            <a:r>
              <a:rPr lang="en-US" altLang="zh-CN" dirty="0" err="1"/>
              <a:t>pthread_exit</a:t>
            </a:r>
            <a:endParaRPr lang="en-US" altLang="zh-CN" dirty="0"/>
          </a:p>
          <a:p>
            <a:pPr lvl="2"/>
            <a:r>
              <a:rPr lang="en-US" altLang="zh-CN" dirty="0"/>
              <a:t>……</a:t>
            </a:r>
          </a:p>
          <a:p>
            <a:r>
              <a:rPr lang="zh-CN" altLang="en-US" dirty="0"/>
              <a:t>注意：一个线程执行系统调用，可能影响该进程的所有线程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exit</a:t>
            </a:r>
            <a:r>
              <a:rPr lang="zh-CN" altLang="en-US" dirty="0"/>
              <a:t>会使所有线程退出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29F702-977B-7A45-95CF-D40D8D795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640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12CCA8C-475B-574A-B928-0C5D7B0D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896" y="3956230"/>
            <a:ext cx="1631178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创建线程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接口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8D4217B-F5EB-7742-B19A-E79B59C172EE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2771800" y="4113196"/>
            <a:ext cx="864096" cy="47249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1849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012CCA8C-475B-574A-B928-0C5D7B0D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60" y="3871799"/>
            <a:ext cx="129614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ID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48D4217B-F5EB-7742-B19A-E79B59C172E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3059832" y="4185731"/>
            <a:ext cx="144016" cy="3999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>
            <a:extLst>
              <a:ext uri="{FF2B5EF4-FFF2-40B4-BE49-F238E27FC236}">
                <a16:creationId xmlns:a16="http://schemas.microsoft.com/office/drawing/2014/main" id="{2F116640-0C26-6E47-B207-F8118CBBF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540" y="3468612"/>
            <a:ext cx="1296144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</a:t>
            </a:r>
            <a:endParaRPr kumimoji="0" lang="en-US" altLang="zh-CN" sz="1600" b="1" kern="0" noProof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起始执行点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5D7A36F-F8C5-D741-A07D-FC8C7E404C3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2195736" y="2857500"/>
            <a:ext cx="2619876" cy="6111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F016392-F2C6-BF4C-B78B-9240E7E9EEC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4572000" y="4053387"/>
            <a:ext cx="243612" cy="4985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72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2F116640-0C26-6E47-B207-F8118CBBFF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596832"/>
            <a:ext cx="129614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参数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5D7A36F-F8C5-D741-A07D-FC8C7E404C39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3262062" y="2850300"/>
            <a:ext cx="2318050" cy="7465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AF016392-F2C6-BF4C-B78B-9240E7E9EECC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336500" y="3910764"/>
            <a:ext cx="243612" cy="63399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4">
            <a:extLst>
              <a:ext uri="{FF2B5EF4-FFF2-40B4-BE49-F238E27FC236}">
                <a16:creationId xmlns:a16="http://schemas.microsoft.com/office/drawing/2014/main" id="{F4EE718F-A1C6-8644-9B06-0D43C4B82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1331" y="3495560"/>
            <a:ext cx="1702569" cy="553998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kern="0" noProof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新线程属性</a:t>
            </a:r>
            <a:endParaRPr kumimoji="0" lang="en-US" altLang="zh-CN" sz="1500" b="1" kern="0" noProof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（通常为</a:t>
            </a:r>
            <a:r>
              <a:rPr kumimoji="0" lang="en-US" altLang="zh-CN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NULL</a:t>
            </a:r>
            <a:r>
              <a:rPr kumimoji="0" lang="zh-CN" altLang="en-US" sz="1500" b="1" i="0" u="none" strike="noStrike" kern="0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）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24D7059-46C5-8544-9374-0030B2792FAE}"/>
              </a:ext>
            </a:extLst>
          </p:cNvPr>
          <p:cNvCxnSpPr>
            <a:cxnSpLocks/>
          </p:cNvCxnSpPr>
          <p:nvPr/>
        </p:nvCxnSpPr>
        <p:spPr>
          <a:xfrm>
            <a:off x="3782615" y="4046186"/>
            <a:ext cx="24886" cy="45327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9833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B0C739-D8E1-2D44-9257-9AAA22C5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30638" y="2497460"/>
            <a:ext cx="241362" cy="4827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01F7C0-CEEE-1742-90FF-FFC6496E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32977" y="4390326"/>
            <a:ext cx="241362" cy="482724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C2C5A0B1-676B-184A-B0F1-CBE5B2F0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999" y="4450270"/>
            <a:ext cx="93610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主线程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9BF506A-95E5-CD41-8C9C-D0AB7AAE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409" y="2438740"/>
            <a:ext cx="1064605" cy="30008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对等线程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DFD671-A6EF-4646-BD7E-1EBCBB4B251B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3995936" y="2738822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5ED24BF-A584-9048-9F31-8349E72E4965}"/>
              </a:ext>
            </a:extLst>
          </p:cNvPr>
          <p:cNvCxnSpPr>
            <a:cxnSpLocks/>
          </p:cNvCxnSpPr>
          <p:nvPr/>
        </p:nvCxnSpPr>
        <p:spPr>
          <a:xfrm flipH="1">
            <a:off x="5652120" y="4631688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01E082E-A4C1-2942-8AED-EAAE24A418CA}"/>
              </a:ext>
            </a:extLst>
          </p:cNvPr>
          <p:cNvSpPr txBox="1"/>
          <p:nvPr/>
        </p:nvSpPr>
        <p:spPr>
          <a:xfrm>
            <a:off x="6027863" y="1977075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  <a:endParaRPr kumimoji="1" lang="zh-CN" altLang="en-US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BF9807-567A-8545-B7A1-50F23B817B35}"/>
              </a:ext>
            </a:extLst>
          </p:cNvPr>
          <p:cNvSpPr txBox="1"/>
          <p:nvPr/>
        </p:nvSpPr>
        <p:spPr>
          <a:xfrm>
            <a:off x="5956979" y="160360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预期运行结果：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2116515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2D13FA-1E99-9246-B4AF-AA4A79503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使用线程的程序示例（创建）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20A58B-2F23-9842-863A-DF41C8302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539494-D819-5D4C-9EE0-27C6A2F86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8D8CBFF-7656-0A48-891F-31A9D584D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76" y="1264730"/>
            <a:ext cx="6781800" cy="410573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thread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BB0C739-D8E1-2D44-9257-9AAA22C5E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30638" y="2497460"/>
            <a:ext cx="241362" cy="48272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B01F7C0-CEEE-1742-90FF-FFC6496E6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932977" y="4390326"/>
            <a:ext cx="241362" cy="482724"/>
          </a:xfrm>
          <a:prstGeom prst="rect">
            <a:avLst/>
          </a:prstGeom>
        </p:spPr>
      </p:pic>
      <p:sp>
        <p:nvSpPr>
          <p:cNvPr id="12" name="Text Box 4">
            <a:extLst>
              <a:ext uri="{FF2B5EF4-FFF2-40B4-BE49-F238E27FC236}">
                <a16:creationId xmlns:a16="http://schemas.microsoft.com/office/drawing/2014/main" id="{C2C5A0B1-676B-184A-B0F1-CBE5B2F04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0999" y="4450270"/>
            <a:ext cx="936104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主线程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13" name="Text Box 4">
            <a:extLst>
              <a:ext uri="{FF2B5EF4-FFF2-40B4-BE49-F238E27FC236}">
                <a16:creationId xmlns:a16="http://schemas.microsoft.com/office/drawing/2014/main" id="{99BF506A-95E5-CD41-8C9C-D0AB7AAE1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409" y="2438740"/>
            <a:ext cx="1064605" cy="30008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5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对等线程</a:t>
            </a:r>
            <a:endParaRPr kumimoji="0" lang="en-US" altLang="zh-CN" sz="15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DFD671-A6EF-4646-BD7E-1EBCBB4B251B}"/>
              </a:ext>
            </a:extLst>
          </p:cNvPr>
          <p:cNvCxnSpPr>
            <a:cxnSpLocks/>
            <a:stCxn id="10" idx="3"/>
          </p:cNvCxnSpPr>
          <p:nvPr/>
        </p:nvCxnSpPr>
        <p:spPr>
          <a:xfrm flipH="1">
            <a:off x="3995936" y="2738822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85ED24BF-A584-9048-9F31-8349E72E4965}"/>
              </a:ext>
            </a:extLst>
          </p:cNvPr>
          <p:cNvCxnSpPr>
            <a:cxnSpLocks/>
          </p:cNvCxnSpPr>
          <p:nvPr/>
        </p:nvCxnSpPr>
        <p:spPr>
          <a:xfrm flipH="1">
            <a:off x="5652120" y="4631688"/>
            <a:ext cx="3347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01E082E-A4C1-2942-8AED-EAAE24A418CA}"/>
              </a:ext>
            </a:extLst>
          </p:cNvPr>
          <p:cNvSpPr txBox="1"/>
          <p:nvPr/>
        </p:nvSpPr>
        <p:spPr>
          <a:xfrm>
            <a:off x="6085969" y="2174294"/>
            <a:ext cx="2084225" cy="64633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  <a:endParaRPr kumimoji="1" lang="zh-CN" altLang="en-US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3BF9807-567A-8545-B7A1-50F23B817B35}"/>
              </a:ext>
            </a:extLst>
          </p:cNvPr>
          <p:cNvSpPr txBox="1"/>
          <p:nvPr/>
        </p:nvSpPr>
        <p:spPr>
          <a:xfrm>
            <a:off x="5434945" y="1741540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可能的实际运行结果：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4789A2-F3DF-2F48-9F89-FEEBB73A0997}"/>
              </a:ext>
            </a:extLst>
          </p:cNvPr>
          <p:cNvSpPr txBox="1"/>
          <p:nvPr/>
        </p:nvSpPr>
        <p:spPr>
          <a:xfrm>
            <a:off x="5588675" y="303465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为什么没有输出？</a:t>
            </a:r>
          </a:p>
        </p:txBody>
      </p:sp>
    </p:spTree>
    <p:extLst>
      <p:ext uri="{BB962C8B-B14F-4D97-AF65-F5344CB8AC3E}">
        <p14:creationId xmlns:p14="http://schemas.microsoft.com/office/powerpoint/2010/main" val="38255783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1D6FD-59F6-B144-B0C8-B4DB0CC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程序控制流分析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47949A3C-7AC9-6547-B2E4-754AC11D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主线程创建对等线程后，两线程独立执行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若对等线程先执行，则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顺利输出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99195-38EA-734D-BA06-933438A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6D9D847-22EA-3C4A-BB08-4137C2E3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982" y="2529675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2B9B8E5-F446-894C-8717-C06009E44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518" y="3436971"/>
            <a:ext cx="1107996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23818A5-63C7-2345-AE7C-39C26C3F0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784" y="2964710"/>
            <a:ext cx="1" cy="27011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66B44BDE-0D07-354A-866B-1EFEC6C44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5736" y="4024387"/>
            <a:ext cx="0" cy="5368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CCAEA26-366F-7846-8AF3-AF7B8757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267409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return NULL;</a:t>
            </a:r>
            <a:endParaRPr kumimoji="0" lang="en-US" altLang="zh-CN" sz="1800" b="1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56DE622-F5EC-5645-8915-F218F425B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785" y="3300229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7C8AFEE2-8BEA-1947-8273-29E18CC5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6189" y="4611941"/>
            <a:ext cx="1800493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及其他对等线程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2F9F9A5-D9F1-4A48-95F1-927CDE863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88" y="3098918"/>
            <a:ext cx="2815194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0" dirty="0"/>
              <a:t>()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46473D5-4354-FC4D-B9EE-9C4F03206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3958453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endParaRPr kumimoji="0" lang="en-US" altLang="zh-CN" sz="1800" b="1" dirty="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2EC091A0-1939-8A48-AD7E-784578918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579221"/>
            <a:ext cx="174919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对等线程终止</a:t>
            </a: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68FD1F7-E50D-9043-BBD1-32E4DBFB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19" y="3367332"/>
            <a:ext cx="285206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4C2C40F-F4B0-0046-913D-BE9BD9F10D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887" y="4498836"/>
            <a:ext cx="3304848" cy="159522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AD68AD-3BAF-1E40-AA62-C8E357C501A0}"/>
              </a:ext>
            </a:extLst>
          </p:cNvPr>
          <p:cNvSpPr txBox="1"/>
          <p:nvPr/>
        </p:nvSpPr>
        <p:spPr>
          <a:xfrm>
            <a:off x="4503043" y="3219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A07D13-25EF-5445-A146-DEBFC08E5477}"/>
              </a:ext>
            </a:extLst>
          </p:cNvPr>
          <p:cNvSpPr txBox="1"/>
          <p:nvPr/>
        </p:nvSpPr>
        <p:spPr>
          <a:xfrm>
            <a:off x="4503042" y="45972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</p:spTree>
    <p:extLst>
      <p:ext uri="{BB962C8B-B14F-4D97-AF65-F5344CB8AC3E}">
        <p14:creationId xmlns:p14="http://schemas.microsoft.com/office/powerpoint/2010/main" val="16485048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1D6FD-59F6-B144-B0C8-B4DB0CC73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程序控制流分析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47949A3C-7AC9-6547-B2E4-754AC11D3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主线程创建对等线程后，两线程独立执行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若对等线程先执行，则</a:t>
            </a:r>
            <a:r>
              <a:rPr kumimoji="1" lang="en-US" altLang="zh-CN" dirty="0"/>
              <a:t>exit</a:t>
            </a:r>
            <a:r>
              <a:rPr kumimoji="1" lang="zh-CN" altLang="en-US" dirty="0"/>
              <a:t>被调用，对等线程直接被终止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99195-38EA-734D-BA06-933438A8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06D9D847-22EA-3C4A-BB08-4137C2E3D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982" y="2529675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B2B9B8E5-F446-894C-8717-C06009E44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5518" y="3436971"/>
            <a:ext cx="1107996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D23818A5-63C7-2345-AE7C-39C26C3F070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3784" y="2964710"/>
            <a:ext cx="1" cy="270110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CCAEA26-366F-7846-8AF3-AF7B8757D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2839" y="4336998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return NULL;</a:t>
            </a:r>
            <a:endParaRPr kumimoji="0" lang="en-US" altLang="zh-CN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056DE622-F5EC-5645-8915-F218F425B67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785" y="3300229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7C8AFEE2-8BEA-1947-8273-29E18CC505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843" y="4261414"/>
            <a:ext cx="1800493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及其他对等线程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2F9F9A5-D9F1-4A48-95F1-927CDE863C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488" y="3098918"/>
            <a:ext cx="2815194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0" dirty="0"/>
              <a:t>()</a:t>
            </a: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446473D5-4354-FC4D-B9EE-9C4F03206B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6063" y="4028042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</a:rPr>
              <a:t>()</a:t>
            </a:r>
            <a:endParaRPr kumimoji="0" lang="en-US" altLang="zh-CN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468FD1F7-E50D-9043-BBD1-32E4DBFB2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619" y="3367332"/>
            <a:ext cx="2852063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1" name="Line 8">
            <a:extLst>
              <a:ext uri="{FF2B5EF4-FFF2-40B4-BE49-F238E27FC236}">
                <a16:creationId xmlns:a16="http://schemas.microsoft.com/office/drawing/2014/main" id="{54C2C40F-F4B0-0046-913D-BE9BD9F10DA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40887" y="4067481"/>
            <a:ext cx="3304847" cy="199928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6F7E5E5-067B-AB4E-A8B9-668814321DEB}"/>
              </a:ext>
            </a:extLst>
          </p:cNvPr>
          <p:cNvSpPr txBox="1"/>
          <p:nvPr/>
        </p:nvSpPr>
        <p:spPr>
          <a:xfrm>
            <a:off x="4503043" y="321931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2A81F17-CF1E-3C48-BD8A-AC83F3660643}"/>
              </a:ext>
            </a:extLst>
          </p:cNvPr>
          <p:cNvSpPr txBox="1"/>
          <p:nvPr/>
        </p:nvSpPr>
        <p:spPr>
          <a:xfrm>
            <a:off x="4499846" y="42023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切换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F48ABC-C8D5-A243-81A4-5217B2134A9F}"/>
              </a:ext>
            </a:extLst>
          </p:cNvPr>
          <p:cNvSpPr txBox="1"/>
          <p:nvPr/>
        </p:nvSpPr>
        <p:spPr>
          <a:xfrm>
            <a:off x="7620000" y="184938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</a:rPr>
              <a:t>如何避免？</a:t>
            </a:r>
          </a:p>
        </p:txBody>
      </p:sp>
    </p:spTree>
    <p:extLst>
      <p:ext uri="{BB962C8B-B14F-4D97-AF65-F5344CB8AC3E}">
        <p14:creationId xmlns:p14="http://schemas.microsoft.com/office/powerpoint/2010/main" val="122484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CEA107-44A8-CF41-B399-A6EC7A5EC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941B10-9AF0-2749-9A6B-AC743432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CE9E47-5CFE-1E43-99DC-EE75F08CF0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24650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kumimoji="0" lang="en-US" altLang="zh-CN" sz="1600" dirty="0" err="1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pthreads</a:t>
            </a: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"hello, world" program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thread routine */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F0D7BC0-55C5-DF40-8A24-48CD511BD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1880" y="3909868"/>
            <a:ext cx="3744416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j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oin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操作：等待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tid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对应线程退出并回收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CA424FC-EC2C-B642-95D5-DB9D122CF381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483768" y="4066834"/>
            <a:ext cx="1008112" cy="7348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 Box 4">
            <a:extLst>
              <a:ext uri="{FF2B5EF4-FFF2-40B4-BE49-F238E27FC236}">
                <a16:creationId xmlns:a16="http://schemas.microsoft.com/office/drawing/2014/main" id="{3602012F-391F-064C-AE95-3ED4DCB407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4894" y="5135165"/>
            <a:ext cx="1471871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线程返回值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59D5BDAD-95B6-2548-B04B-FDC8A0DECA27}"/>
              </a:ext>
            </a:extLst>
          </p:cNvPr>
          <p:cNvCxnSpPr>
            <a:stCxn id="12" idx="1"/>
          </p:cNvCxnSpPr>
          <p:nvPr/>
        </p:nvCxnSpPr>
        <p:spPr>
          <a:xfrm flipH="1" flipV="1">
            <a:off x="3635896" y="4945732"/>
            <a:ext cx="518998" cy="346399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4404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E4340D-0C1A-A14F-980F-736B3902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加入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之后的程序控制流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24C90-FCFD-B94E-B4DD-9FACF0F39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A1B78159-8C2B-B04B-BF00-75A1FF0AB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0372" y="1433601"/>
            <a:ext cx="877163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主线程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D0C04953-855B-BA4B-AC7C-439E936D3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3908" y="2340897"/>
            <a:ext cx="1107996" cy="341632"/>
          </a:xfrm>
          <a:prstGeom prst="rect">
            <a:avLst/>
          </a:prstGeom>
          <a:solidFill>
            <a:srgbClr val="F1C7C7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</a:t>
            </a:r>
            <a:endParaRPr kumimoji="0" lang="en-US" altLang="zh-CN" sz="1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Line 5">
            <a:extLst>
              <a:ext uri="{FF2B5EF4-FFF2-40B4-BE49-F238E27FC236}">
                <a16:creationId xmlns:a16="http://schemas.microsoft.com/office/drawing/2014/main" id="{66864ABC-B1BD-0942-84E2-7A6785E82016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175" y="1868637"/>
            <a:ext cx="16776" cy="300567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E4A07544-300B-9D40-B249-E0C1E252885A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4126" y="2928313"/>
            <a:ext cx="0" cy="5368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E5499EA8-8211-0F42-8736-FB88F1BA9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229" y="3171335"/>
            <a:ext cx="1838965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>
                <a:latin typeface="Courier New" panose="02070309020205020404" pitchFamily="49" charset="0"/>
              </a:rPr>
              <a:t>return NULL;</a:t>
            </a:r>
            <a:endParaRPr kumimoji="0" lang="en-US" altLang="zh-CN" sz="1800" b="1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D49E54AD-F6D4-5F43-9F3E-18514D2B1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2175" y="2204155"/>
            <a:ext cx="3371950" cy="724159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9">
            <a:extLst>
              <a:ext uri="{FF2B5EF4-FFF2-40B4-BE49-F238E27FC236}">
                <a16:creationId xmlns:a16="http://schemas.microsoft.com/office/drawing/2014/main" id="{DD017255-AFF6-0448-B693-8DA1CE804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84" y="3134309"/>
            <a:ext cx="1415772" cy="584775"/>
          </a:xfrm>
          <a:prstGeom prst="rect">
            <a:avLst/>
          </a:prstGeom>
          <a:solidFill>
            <a:srgbClr val="FFFFCC"/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600" b="1" dirty="0">
                <a:latin typeface="+mn-ea"/>
                <a:ea typeface="+mn-ea"/>
              </a:rPr>
              <a:t>主线程等待</a:t>
            </a:r>
            <a:endParaRPr kumimoji="0" lang="en-US" altLang="zh-CN" sz="1600" b="1" dirty="0">
              <a:latin typeface="+mn-ea"/>
              <a:ea typeface="+mn-ea"/>
            </a:endParaRPr>
          </a:p>
          <a:p>
            <a:pPr algn="ctr">
              <a:lnSpc>
                <a:spcPct val="90000"/>
              </a:lnSpc>
              <a:buFontTx/>
              <a:buNone/>
            </a:pPr>
            <a:r>
              <a:rPr kumimoji="0" lang="zh-CN" altLang="en-US" sz="1600" b="1" dirty="0">
                <a:latin typeface="+mn-ea"/>
                <a:ea typeface="+mn-ea"/>
              </a:rPr>
              <a:t>对等线程终止</a:t>
            </a:r>
            <a:endParaRPr kumimoji="0" lang="en-US" altLang="zh-CN" sz="1600" b="1" dirty="0">
              <a:latin typeface="+mn-ea"/>
              <a:ea typeface="+mn-ea"/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5434AA5F-6F50-3F42-964A-FFED88726F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18951" y="3465141"/>
            <a:ext cx="3355175" cy="671035"/>
          </a:xfrm>
          <a:prstGeom prst="line">
            <a:avLst/>
          </a:prstGeom>
          <a:noFill/>
          <a:ln w="254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3F49AFD8-FF76-7A48-9103-8549B6BBA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2538" y="4535104"/>
            <a:ext cx="1800493" cy="951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exit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r>
              <a:rPr kumimoji="0" lang="en-US" altLang="zh-CN" sz="1800" dirty="0"/>
              <a:t>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终止主线程</a:t>
            </a:r>
            <a:endParaRPr kumimoji="0" lang="en-US" altLang="zh-CN" sz="1800" b="1" dirty="0">
              <a:latin typeface="+mn-ea"/>
              <a:ea typeface="+mn-ea"/>
            </a:endParaRPr>
          </a:p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+mn-ea"/>
                <a:ea typeface="+mn-ea"/>
              </a:rPr>
              <a:t>及其他对等线程</a:t>
            </a:r>
            <a:endParaRPr kumimoji="0" lang="en-US" altLang="zh-CN" sz="1800" b="0" dirty="0"/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8CFFD614-1882-D742-9C4B-CCC1CFABE9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50" y="2002844"/>
            <a:ext cx="2989922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调用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2B51B280-416F-F248-96EE-07780D2D5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66" y="2673879"/>
            <a:ext cx="2714205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调用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2DCD4D88-C40F-2549-A617-66D4EC1E6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051" y="3948846"/>
            <a:ext cx="2394022" cy="597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pthread_join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17" name="Text Box 15">
            <a:extLst>
              <a:ext uri="{FF2B5EF4-FFF2-40B4-BE49-F238E27FC236}">
                <a16:creationId xmlns:a16="http://schemas.microsoft.com/office/drawing/2014/main" id="{9E8707F7-4619-5D47-9A8B-59C261BF0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453" y="2862379"/>
            <a:ext cx="1287532" cy="348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latin typeface="Courier New" panose="02070309020205020404" pitchFamily="49" charset="0"/>
              </a:rPr>
              <a:t>printf</a:t>
            </a:r>
            <a:r>
              <a:rPr kumimoji="0" lang="en-US" altLang="zh-CN" sz="1800" b="1" dirty="0">
                <a:latin typeface="Courier New" panose="02070309020205020404" pitchFamily="49" charset="0"/>
              </a:rPr>
              <a:t>()</a:t>
            </a:r>
            <a:endParaRPr kumimoji="0" lang="en-US" altLang="zh-CN" sz="1800" b="1" dirty="0"/>
          </a:p>
        </p:txBody>
      </p:sp>
      <p:sp>
        <p:nvSpPr>
          <p:cNvPr id="18" name="Text Box 16">
            <a:extLst>
              <a:ext uri="{FF2B5EF4-FFF2-40B4-BE49-F238E27FC236}">
                <a16:creationId xmlns:a16="http://schemas.microsoft.com/office/drawing/2014/main" id="{2E71D250-E219-AA49-A5CB-AF23058068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1229" y="3483147"/>
            <a:ext cx="174919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kumimoji="0" lang="zh-CN" altLang="en-US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对等线程终止</a:t>
            </a:r>
            <a:r>
              <a:rPr kumimoji="0" lang="en-US" altLang="zh-CN" sz="1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</a:p>
        </p:txBody>
      </p:sp>
      <p:sp>
        <p:nvSpPr>
          <p:cNvPr id="19" name="Text Box 17">
            <a:extLst>
              <a:ext uri="{FF2B5EF4-FFF2-40B4-BE49-F238E27FC236}">
                <a16:creationId xmlns:a16="http://schemas.microsoft.com/office/drawing/2014/main" id="{FF948F6C-0DD0-7B4A-995A-A099682AB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151" y="2271258"/>
            <a:ext cx="2989921" cy="348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algn="r">
              <a:lnSpc>
                <a:spcPct val="90000"/>
              </a:lnSpc>
              <a:buFontTx/>
              <a:buNone/>
            </a:pPr>
            <a:r>
              <a:rPr kumimoji="0" lang="en-US" altLang="zh-CN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kumimoji="0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zh-CN" altLang="en-US" sz="1800" b="1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返回</a:t>
            </a:r>
            <a:endParaRPr kumimoji="0" lang="en-US" altLang="zh-CN" sz="1800" b="1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9020C35-8E84-D54D-A8F6-7A5F9313164E}"/>
              </a:ext>
            </a:extLst>
          </p:cNvPr>
          <p:cNvSpPr txBox="1"/>
          <p:nvPr/>
        </p:nvSpPr>
        <p:spPr>
          <a:xfrm>
            <a:off x="4652248" y="4981589"/>
            <a:ext cx="398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FF0000"/>
                </a:solidFill>
                <a:latin typeface="+mn-ea"/>
              </a:rPr>
              <a:t>join</a:t>
            </a:r>
            <a:r>
              <a:rPr kumimoji="1" lang="zh-CN" altLang="en-US" b="1" dirty="0">
                <a:solidFill>
                  <a:srgbClr val="FF0000"/>
                </a:solidFill>
                <a:latin typeface="+mn-ea"/>
              </a:rPr>
              <a:t>保证该对等线程一定会执行完成</a:t>
            </a:r>
          </a:p>
        </p:txBody>
      </p:sp>
    </p:spTree>
    <p:extLst>
      <p:ext uri="{BB962C8B-B14F-4D97-AF65-F5344CB8AC3E}">
        <p14:creationId xmlns:p14="http://schemas.microsoft.com/office/powerpoint/2010/main" val="4277847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A01EF-E615-7C40-ACAC-B863885D0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基于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的方法存在什么问题？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E26894-6AE6-C744-90EF-53B2A19B0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需要主线程手动调用回收资源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若主线程未调用则可能出现资源溢出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8DDD7-6889-7446-AE9E-A30A90908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4010EC0-73D9-F24B-8910-A4F72FFC6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300595"/>
            <a:ext cx="6781800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  <a:endParaRPr kumimoji="0" lang="en-US" altLang="zh-CN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DAE51EE-17E0-1C4D-91B6-A0E998B5776E}"/>
              </a:ext>
            </a:extLst>
          </p:cNvPr>
          <p:cNvSpPr txBox="1"/>
          <p:nvPr/>
        </p:nvSpPr>
        <p:spPr>
          <a:xfrm>
            <a:off x="6205183" y="2255302"/>
            <a:ext cx="2337499" cy="1754326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(stuck; errno:11)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DCDBE8-5767-3548-AD17-5F2E580F57AC}"/>
              </a:ext>
            </a:extLst>
          </p:cNvPr>
          <p:cNvSpPr txBox="1"/>
          <p:nvPr/>
        </p:nvSpPr>
        <p:spPr>
          <a:xfrm>
            <a:off x="6134299" y="1881832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81DC7BA-3F53-C345-AB4D-2A0E5152693B}"/>
              </a:ext>
            </a:extLst>
          </p:cNvPr>
          <p:cNvSpPr txBox="1"/>
          <p:nvPr/>
        </p:nvSpPr>
        <p:spPr>
          <a:xfrm>
            <a:off x="5724128" y="132113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能否实现自动资源管理？</a:t>
            </a:r>
          </a:p>
        </p:txBody>
      </p:sp>
    </p:spTree>
    <p:extLst>
      <p:ext uri="{BB962C8B-B14F-4D97-AF65-F5344CB8AC3E}">
        <p14:creationId xmlns:p14="http://schemas.microsoft.com/office/powerpoint/2010/main" val="210826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5F1B6-5C5B-1D40-B888-AF1A85E2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操作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955F87-C8CB-7E41-913B-8AE8E300C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调用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可使线程进入“分离”状态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分离线程不能被其他线程杀死或回收，退出时资源自动回收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BC1E0-9D54-AE49-8B01-EC8E31D7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7A1788-DC77-3144-BC99-42EADD0D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2300595"/>
            <a:ext cx="6781800" cy="3293209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pthread_self</a:t>
            </a: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  <a:endParaRPr kumimoji="0" lang="en-US" altLang="zh-CN" sz="16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3A59224E-EA7A-C140-9D6E-E62F630CC1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2543568"/>
            <a:ext cx="1631178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返回自身线程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ID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0C21FA82-E4B9-DD40-B9D2-493FAAE3AFB8}"/>
              </a:ext>
            </a:extLst>
          </p:cNvPr>
          <p:cNvCxnSpPr>
            <a:cxnSpLocks/>
          </p:cNvCxnSpPr>
          <p:nvPr/>
        </p:nvCxnSpPr>
        <p:spPr>
          <a:xfrm flipH="1">
            <a:off x="4427985" y="2857500"/>
            <a:ext cx="1080120" cy="28803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2B16457B-3D5E-BC41-8504-45389F609C4C}"/>
              </a:ext>
            </a:extLst>
          </p:cNvPr>
          <p:cNvSpPr txBox="1"/>
          <p:nvPr/>
        </p:nvSpPr>
        <p:spPr>
          <a:xfrm>
            <a:off x="6553200" y="2942938"/>
            <a:ext cx="2084225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C33EA36-2971-1D44-83BD-E34C1CFC2E5C}"/>
              </a:ext>
            </a:extLst>
          </p:cNvPr>
          <p:cNvSpPr txBox="1"/>
          <p:nvPr/>
        </p:nvSpPr>
        <p:spPr>
          <a:xfrm>
            <a:off x="6482316" y="2569468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</p:spTree>
    <p:extLst>
      <p:ext uri="{BB962C8B-B14F-4D97-AF65-F5344CB8AC3E}">
        <p14:creationId xmlns:p14="http://schemas.microsoft.com/office/powerpoint/2010/main" val="850857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5F1B6-5C5B-1D40-B888-AF1A85E2A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如果</a:t>
            </a:r>
            <a:r>
              <a:rPr kumimoji="1" lang="en-US" altLang="zh-CN" dirty="0"/>
              <a:t>detach</a:t>
            </a:r>
            <a:r>
              <a:rPr kumimoji="1" lang="zh-CN" altLang="en-US" dirty="0"/>
              <a:t>和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一起使用会怎么样？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0BC1E0-9D54-AE49-8B01-EC8E31D7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A7A1788-DC77-3144-BC99-42EADD0DC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524798"/>
            <a:ext cx="6781800" cy="3834896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None/>
            </a:pPr>
            <a:r>
              <a:rPr kumimoji="0" lang="zh-CN" altLang="en-US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(“%d\n”, </a:t>
            </a:r>
            <a:r>
              <a:rPr kumimoji="0" lang="en" altLang="zh-CN" sz="1600" dirty="0" err="1"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NULL));</a:t>
            </a:r>
            <a:endParaRPr kumimoji="0" lang="en-US" altLang="zh-CN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432446-5211-F049-9D5A-D61569D95CD3}"/>
              </a:ext>
            </a:extLst>
          </p:cNvPr>
          <p:cNvSpPr txBox="1"/>
          <p:nvPr/>
        </p:nvSpPr>
        <p:spPr>
          <a:xfrm>
            <a:off x="5878675" y="2137420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22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F50B56-EF83-854E-BA9E-10963D095D8D}"/>
              </a:ext>
            </a:extLst>
          </p:cNvPr>
          <p:cNvSpPr txBox="1"/>
          <p:nvPr/>
        </p:nvSpPr>
        <p:spPr>
          <a:xfrm>
            <a:off x="5807791" y="17639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一种实际运行结果：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3F7529F-B314-A34C-9522-64747C2A70DF}"/>
              </a:ext>
            </a:extLst>
          </p:cNvPr>
          <p:cNvSpPr txBox="1"/>
          <p:nvPr/>
        </p:nvSpPr>
        <p:spPr>
          <a:xfrm>
            <a:off x="3491880" y="3145532"/>
            <a:ext cx="46656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dirty="0">
                <a:solidFill>
                  <a:schemeClr val="accent1"/>
                </a:solidFill>
              </a:rPr>
              <a:t>22</a:t>
            </a:r>
            <a:r>
              <a:rPr kumimoji="1" lang="zh-CN" altLang="en-US" sz="1600" dirty="0">
                <a:solidFill>
                  <a:schemeClr val="accent1"/>
                </a:solidFill>
              </a:rPr>
              <a:t>代表</a:t>
            </a:r>
            <a:r>
              <a:rPr kumimoji="1" lang="en-US" altLang="zh-CN" sz="1600" dirty="0">
                <a:solidFill>
                  <a:schemeClr val="accent1"/>
                </a:solidFill>
              </a:rPr>
              <a:t>illegal</a:t>
            </a:r>
            <a:r>
              <a:rPr kumimoji="1" lang="zh-CN" altLang="en-US" sz="1600" dirty="0">
                <a:solidFill>
                  <a:schemeClr val="accent1"/>
                </a:solidFill>
              </a:rPr>
              <a:t> </a:t>
            </a:r>
            <a:r>
              <a:rPr kumimoji="1" lang="en-US" altLang="zh-CN" sz="1600" dirty="0">
                <a:solidFill>
                  <a:schemeClr val="accent1"/>
                </a:solidFill>
              </a:rPr>
              <a:t>arguments</a:t>
            </a:r>
            <a:r>
              <a:rPr kumimoji="1" lang="zh-CN" altLang="en-US" sz="1600" dirty="0">
                <a:solidFill>
                  <a:schemeClr val="accent1"/>
                </a:solidFill>
              </a:rPr>
              <a:t>，因为这个线程无法</a:t>
            </a:r>
            <a:r>
              <a:rPr kumimoji="1" lang="en-US" altLang="zh-CN" sz="1600" dirty="0">
                <a:solidFill>
                  <a:schemeClr val="accent1"/>
                </a:solidFill>
              </a:rPr>
              <a:t>join</a:t>
            </a:r>
            <a:endParaRPr kumimoji="1" lang="zh-CN" alt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0579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3D5EA0-2971-2243-AFE8-9F5708428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detach</a:t>
            </a:r>
            <a:r>
              <a:rPr kumimoji="1" lang="zh-CN" altLang="en-US" dirty="0"/>
              <a:t>代表线程完全独立了吗？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74D39-F6AD-E340-A34C-825773C9A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9A41D50-4A22-8948-AEFE-23A97922ED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660219"/>
            <a:ext cx="6781800" cy="356405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2911790-CC3A-864C-A03E-BF2B24E0664F}"/>
              </a:ext>
            </a:extLst>
          </p:cNvPr>
          <p:cNvSpPr txBox="1"/>
          <p:nvPr/>
        </p:nvSpPr>
        <p:spPr>
          <a:xfrm>
            <a:off x="5807791" y="2106056"/>
            <a:ext cx="2084225" cy="646331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5C5B76-0EBB-D44E-98DB-C85A6655998B}"/>
              </a:ext>
            </a:extLst>
          </p:cNvPr>
          <p:cNvSpPr txBox="1"/>
          <p:nvPr/>
        </p:nvSpPr>
        <p:spPr>
          <a:xfrm>
            <a:off x="5807791" y="176395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一种实际运行结果：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B1B21C-D41C-D64A-9D27-3B0981E76EC6}"/>
              </a:ext>
            </a:extLst>
          </p:cNvPr>
          <p:cNvSpPr txBox="1"/>
          <p:nvPr/>
        </p:nvSpPr>
        <p:spPr>
          <a:xfrm>
            <a:off x="5910382" y="280871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对等线程仍被终结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F072F68-E9B4-A442-8CEB-1129CEBFF218}"/>
              </a:ext>
            </a:extLst>
          </p:cNvPr>
          <p:cNvSpPr txBox="1"/>
          <p:nvPr/>
        </p:nvSpPr>
        <p:spPr>
          <a:xfrm>
            <a:off x="1907704" y="4892786"/>
            <a:ext cx="54633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>
                <a:solidFill>
                  <a:srgbClr val="C00000"/>
                </a:solidFill>
              </a:rPr>
              <a:t>核心原因：主函数返回后隐式调用</a:t>
            </a:r>
            <a:r>
              <a:rPr kumimoji="1" lang="en-US" altLang="zh-CN" sz="1600" b="1" dirty="0">
                <a:solidFill>
                  <a:srgbClr val="C00000"/>
                </a:solidFill>
              </a:rPr>
              <a:t>exit</a:t>
            </a:r>
            <a:r>
              <a:rPr kumimoji="1" lang="zh-CN" altLang="en-US" sz="1600" b="1" dirty="0">
                <a:solidFill>
                  <a:srgbClr val="C00000"/>
                </a:solidFill>
              </a:rPr>
              <a:t>，强制终止所有线程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B0833181-A050-E649-91F8-19A582861FD3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1461526" y="5062063"/>
            <a:ext cx="446178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9074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78463-8454-3F4A-9512-F4D9DB763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解决方案：加入</a:t>
            </a:r>
            <a:r>
              <a:rPr kumimoji="1" lang="en-US" altLang="zh-CN" dirty="0" err="1"/>
              <a:t>pthread_exit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C4C115-F301-B045-BFEE-B3EE8B61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ADE2BDA-7D73-434C-8079-252B296E1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1660219"/>
            <a:ext cx="6781800" cy="356405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endParaRPr kumimoji="0" lang="en-US" altLang="zh-CN" sz="1600" dirty="0">
              <a:solidFill>
                <a:srgbClr val="00B05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("Hello, world!\n");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while(1);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pthread_detach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pthread_exit</a:t>
            </a:r>
            <a:r>
              <a:rPr kumimoji="0" lang="en-US" altLang="zh-CN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AE5B65-587B-0945-9CAE-6C0372FCEA47}"/>
              </a:ext>
            </a:extLst>
          </p:cNvPr>
          <p:cNvSpPr txBox="1"/>
          <p:nvPr/>
        </p:nvSpPr>
        <p:spPr>
          <a:xfrm>
            <a:off x="5807791" y="2106056"/>
            <a:ext cx="2084225" cy="923330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Hello, world!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(stuck)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F0BEA2-4E58-2D4B-A5E3-DD48BA0B657A}"/>
              </a:ext>
            </a:extLst>
          </p:cNvPr>
          <p:cNvSpPr txBox="1"/>
          <p:nvPr/>
        </p:nvSpPr>
        <p:spPr>
          <a:xfrm>
            <a:off x="5807791" y="1763950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实际运行结果：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DB6FCD0A-1129-D844-82C1-1C50C320D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3" y="4450715"/>
            <a:ext cx="1872209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只退出当前线程</a:t>
            </a:r>
            <a:endParaRPr kumimoji="0" lang="en-US" altLang="zh-CN" sz="1600" b="1" kern="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（参数为返回值）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4288E3DC-3EED-6F4B-942A-DB633C8FB818}"/>
              </a:ext>
            </a:extLst>
          </p:cNvPr>
          <p:cNvCxnSpPr>
            <a:cxnSpLocks/>
          </p:cNvCxnSpPr>
          <p:nvPr/>
        </p:nvCxnSpPr>
        <p:spPr>
          <a:xfrm flipH="1" flipV="1">
            <a:off x="3491880" y="4790290"/>
            <a:ext cx="936106" cy="1564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4817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B41321-905B-5343-8933-1515AB77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pthreads</a:t>
            </a:r>
            <a:r>
              <a:rPr kumimoji="1" lang="zh-CN" altLang="en-US" dirty="0"/>
              <a:t>使用小结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B6C479-5DAC-F448-BBCA-07FC73FDB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常用接口：创建、合并、分离、退出</a:t>
            </a:r>
            <a:endParaRPr kumimoji="1" lang="en-US" altLang="zh-CN" dirty="0"/>
          </a:p>
          <a:p>
            <a:r>
              <a:rPr kumimoji="1" lang="zh-CN" altLang="en-US" dirty="0"/>
              <a:t>线程资源默认需要手动回收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主线程可使用合并（</a:t>
            </a:r>
            <a:r>
              <a:rPr kumimoji="1" lang="en-US" altLang="zh-CN" dirty="0" err="1"/>
              <a:t>pthread_join</a:t>
            </a:r>
            <a:r>
              <a:rPr kumimoji="1" lang="zh-CN" altLang="en-US" dirty="0"/>
              <a:t>）回收其他线程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也可调用分离（</a:t>
            </a:r>
            <a:r>
              <a:rPr kumimoji="1" lang="en-US" altLang="zh-CN" dirty="0" err="1"/>
              <a:t>pthread_detach</a:t>
            </a:r>
            <a:r>
              <a:rPr kumimoji="1" lang="zh-CN" altLang="en-US" dirty="0"/>
              <a:t>）使其他线程自动回收</a:t>
            </a:r>
            <a:endParaRPr kumimoji="1" lang="en-US" altLang="zh-CN" dirty="0"/>
          </a:p>
          <a:p>
            <a:r>
              <a:rPr kumimoji="1" lang="zh-CN" altLang="en-US" dirty="0"/>
              <a:t>主线程退出默认会终结所有线程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可改为调用退出（</a:t>
            </a:r>
            <a:r>
              <a:rPr kumimoji="1" lang="en-US" altLang="zh-CN" dirty="0" err="1"/>
              <a:t>pthread_exit</a:t>
            </a:r>
            <a:r>
              <a:rPr kumimoji="1" lang="zh-CN" altLang="en-US" dirty="0"/>
              <a:t>），只退出主线程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0C514C-8439-274F-963E-B4F8983E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517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TLS</a:t>
            </a:r>
            <a:r>
              <a:rPr lang="zh-CN" altLang="en-US" dirty="0"/>
              <a:t>：线程本地存储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zh-CN" altLang="en-US" dirty="0"/>
              <a:t>可实现同名变量，不同线程有不同实例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8167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8562-5BC0-E44B-A939-0DE97FB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新问题：多线程的错误处理（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26DF4-2E75-E849-B954-9B75E6FA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C9534A-B31D-0946-87C5-00318E5B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85526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malloc(-1);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2F0447-D82A-7540-981A-A0866E4157EC}"/>
              </a:ext>
            </a:extLst>
          </p:cNvPr>
          <p:cNvSpPr txBox="1"/>
          <p:nvPr/>
        </p:nvSpPr>
        <p:spPr>
          <a:xfrm>
            <a:off x="7374912" y="2120486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00C57F-C322-7248-AF06-73A5C187FBEF}"/>
              </a:ext>
            </a:extLst>
          </p:cNvPr>
          <p:cNvSpPr txBox="1"/>
          <p:nvPr/>
        </p:nvSpPr>
        <p:spPr>
          <a:xfrm>
            <a:off x="7380312" y="2714815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745DCB6-4FAA-A24B-846D-4A8E950B2C84}"/>
              </a:ext>
            </a:extLst>
          </p:cNvPr>
          <p:cNvSpPr txBox="1"/>
          <p:nvPr/>
        </p:nvSpPr>
        <p:spPr>
          <a:xfrm>
            <a:off x="7380312" y="328834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4A382F-42B9-1D40-BAF5-75627CEB5FD6}"/>
              </a:ext>
            </a:extLst>
          </p:cNvPr>
          <p:cNvSpPr txBox="1"/>
          <p:nvPr/>
        </p:nvSpPr>
        <p:spPr>
          <a:xfrm>
            <a:off x="7380312" y="388351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4" name="直线箭头连接符 13">
            <a:extLst>
              <a:ext uri="{FF2B5EF4-FFF2-40B4-BE49-F238E27FC236}">
                <a16:creationId xmlns:a16="http://schemas.microsoft.com/office/drawing/2014/main" id="{D2142A45-0A82-214E-B1D8-690F8850C01F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8167000" y="2489818"/>
            <a:ext cx="2150" cy="224997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184D8968-7314-8A40-891D-0F977228FFF5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8169150" y="3084147"/>
            <a:ext cx="0" cy="2041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0D1F67AA-3120-B445-9532-60E327E50232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8169150" y="3657672"/>
            <a:ext cx="0" cy="225838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60AE7F48-A360-8647-B917-23D34A941224}"/>
              </a:ext>
            </a:extLst>
          </p:cNvPr>
          <p:cNvSpPr txBox="1"/>
          <p:nvPr/>
        </p:nvSpPr>
        <p:spPr>
          <a:xfrm>
            <a:off x="7725168" y="1566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执行流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:a16="http://schemas.microsoft.com/office/drawing/2014/main" id="{DEE3B689-A868-CA4A-B296-E68577094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912" y="2145325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AF785CDD-1018-2B41-AB14-8841031CA09E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4139952" y="2459257"/>
            <a:ext cx="297530" cy="3982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Box 4">
            <a:extLst>
              <a:ext uri="{FF2B5EF4-FFF2-40B4-BE49-F238E27FC236}">
                <a16:creationId xmlns:a16="http://schemas.microsoft.com/office/drawing/2014/main" id="{31773ED4-7D7B-4544-B92C-417B2D95B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482" y="4630382"/>
            <a:ext cx="1430662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A208DC90-4DE6-9344-83C8-114023CEC0F8}"/>
              </a:ext>
            </a:extLst>
          </p:cNvPr>
          <p:cNvCxnSpPr>
            <a:cxnSpLocks/>
            <a:stCxn id="32" idx="1"/>
          </p:cNvCxnSpPr>
          <p:nvPr/>
        </p:nvCxnSpPr>
        <p:spPr>
          <a:xfrm flipH="1" flipV="1">
            <a:off x="3563888" y="4591260"/>
            <a:ext cx="873594" cy="1960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3E8911E-A51C-C94D-8189-532819078014}"/>
              </a:ext>
            </a:extLst>
          </p:cNvPr>
          <p:cNvSpPr txBox="1"/>
          <p:nvPr/>
        </p:nvSpPr>
        <p:spPr>
          <a:xfrm>
            <a:off x="5062029" y="1296094"/>
            <a:ext cx="2312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800" b="1" dirty="0" err="1"/>
              <a:t>errno</a:t>
            </a:r>
            <a:r>
              <a:rPr kumimoji="1" lang="zh-CN" altLang="en-US" sz="1800" b="1" dirty="0"/>
              <a:t>是全局变量！</a:t>
            </a:r>
            <a:endParaRPr kumimoji="1"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7622810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8562-5BC0-E44B-A939-0DE97FB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新问题：多线程的错误处理（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96EE2-1159-7B48-8EF1-3D1EBF070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26DF4-2E75-E849-B954-9B75E6FA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C9534A-B31D-0946-87C5-00318E5B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85526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malloc(-1);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3E614-5074-8547-BE66-1945F0843EBD}"/>
              </a:ext>
            </a:extLst>
          </p:cNvPr>
          <p:cNvSpPr txBox="1"/>
          <p:nvPr/>
        </p:nvSpPr>
        <p:spPr>
          <a:xfrm>
            <a:off x="5085937" y="2209428"/>
            <a:ext cx="2084225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411732-7706-7146-96CA-8147C6C2224A}"/>
              </a:ext>
            </a:extLst>
          </p:cNvPr>
          <p:cNvSpPr txBox="1"/>
          <p:nvPr/>
        </p:nvSpPr>
        <p:spPr>
          <a:xfrm>
            <a:off x="5004048" y="1585529"/>
            <a:ext cx="1939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 err="1"/>
              <a:t>errno</a:t>
            </a:r>
            <a:r>
              <a:rPr kumimoji="1" lang="zh-CN" altLang="en-US" sz="1600" b="1" dirty="0"/>
              <a:t>是全局变量，</a:t>
            </a:r>
            <a:endParaRPr kumimoji="1" lang="en-US" altLang="zh-CN" sz="1600" b="1" dirty="0"/>
          </a:p>
          <a:p>
            <a:r>
              <a:rPr kumimoji="1" lang="zh-CN" altLang="en-US" sz="1600" b="1" dirty="0"/>
              <a:t>运行结果可能为：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71F361-0411-F84B-95B8-B1DB9198D14C}"/>
              </a:ext>
            </a:extLst>
          </p:cNvPr>
          <p:cNvSpPr txBox="1"/>
          <p:nvPr/>
        </p:nvSpPr>
        <p:spPr>
          <a:xfrm>
            <a:off x="7374912" y="2120486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8E3407-673C-7D44-8674-6FFA9EFC0297}"/>
              </a:ext>
            </a:extLst>
          </p:cNvPr>
          <p:cNvSpPr txBox="1"/>
          <p:nvPr/>
        </p:nvSpPr>
        <p:spPr>
          <a:xfrm>
            <a:off x="7380312" y="2714815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5AAE6A-EB0A-D942-8408-6E032B0A474D}"/>
              </a:ext>
            </a:extLst>
          </p:cNvPr>
          <p:cNvSpPr txBox="1"/>
          <p:nvPr/>
        </p:nvSpPr>
        <p:spPr>
          <a:xfrm>
            <a:off x="7380312" y="328834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B13286-8925-BC42-9C80-DA5317E9063D}"/>
              </a:ext>
            </a:extLst>
          </p:cNvPr>
          <p:cNvSpPr txBox="1"/>
          <p:nvPr/>
        </p:nvSpPr>
        <p:spPr>
          <a:xfrm>
            <a:off x="7380312" y="388351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8EBFF92-F006-2F42-9F42-04F252AAB51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167000" y="2489818"/>
            <a:ext cx="2150" cy="224997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9729672-6C04-8548-AFD7-F09E8803F515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169150" y="3084147"/>
            <a:ext cx="0" cy="2041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CEE048B-756D-0A43-9F66-6154F3EE7A76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8169150" y="3657672"/>
            <a:ext cx="0" cy="225838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E3E27DE-4A4D-8941-993B-1FE910609299}"/>
              </a:ext>
            </a:extLst>
          </p:cNvPr>
          <p:cNvSpPr txBox="1"/>
          <p:nvPr/>
        </p:nvSpPr>
        <p:spPr>
          <a:xfrm>
            <a:off x="7725168" y="1566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执行流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729C3BF8-B4B8-B349-B428-5D6086CE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136" y="2000624"/>
            <a:ext cx="1315139" cy="584775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errno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覆盖为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2DDB605-FF54-E54F-B70F-679376513973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4155788" y="2585399"/>
            <a:ext cx="43918" cy="27210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4">
            <a:extLst>
              <a:ext uri="{FF2B5EF4-FFF2-40B4-BE49-F238E27FC236}">
                <a16:creationId xmlns:a16="http://schemas.microsoft.com/office/drawing/2014/main" id="{5896CD7C-5A0B-4847-9C57-4AA6238A9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482" y="4630382"/>
            <a:ext cx="1430662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7F70600-27E6-FC44-BD1E-F71433AFCE64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3563888" y="4591260"/>
            <a:ext cx="873594" cy="1960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3815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AC8562-5BC0-E44B-A939-0DE97FBE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新问题：多线程的错误处理（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B496EE2-1159-7B48-8EF1-3D1EBF070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A26DF4-2E75-E849-B954-9B75E6FA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FC9534A-B31D-0946-87C5-00318E5BF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85526"/>
            <a:ext cx="6781800" cy="4376583"/>
          </a:xfrm>
          <a:prstGeom prst="rect">
            <a:avLst/>
          </a:prstGeom>
          <a:solidFill>
            <a:srgbClr val="F6F5BD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</a:t>
            </a: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stdlib.h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void *thread(void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vargp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return NULL;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int main()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pthread_t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zh-CN" alt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pthread_create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(&amp;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NULL, thread,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void *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addr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= malloc(-1);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pthread_join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tid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, NULL);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=%d\n", </a:t>
            </a:r>
            <a:r>
              <a:rPr kumimoji="0" lang="en-US" altLang="zh-CN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kumimoji="0" lang="en-US" altLang="zh-CN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8B3E614-5074-8547-BE66-1945F0843EBD}"/>
              </a:ext>
            </a:extLst>
          </p:cNvPr>
          <p:cNvSpPr txBox="1"/>
          <p:nvPr/>
        </p:nvSpPr>
        <p:spPr>
          <a:xfrm>
            <a:off x="5085937" y="2209428"/>
            <a:ext cx="2084225" cy="1200329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 ./</a:t>
            </a:r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a.out</a:t>
            </a:r>
            <a:endParaRPr kumimoji="1" lang="en-US" altLang="zh-CN" b="1" dirty="0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peer:errno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</a:t>
            </a:r>
          </a:p>
          <a:p>
            <a:r>
              <a:rPr kumimoji="1" lang="en-US" altLang="zh-CN" b="1" dirty="0" err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main:errno</a:t>
            </a:r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=12</a:t>
            </a:r>
          </a:p>
          <a:p>
            <a:r>
              <a:rPr kumimoji="1" lang="en-US" altLang="zh-CN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~/test$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E411732-7706-7146-96CA-8147C6C2224A}"/>
              </a:ext>
            </a:extLst>
          </p:cNvPr>
          <p:cNvSpPr txBox="1"/>
          <p:nvPr/>
        </p:nvSpPr>
        <p:spPr>
          <a:xfrm>
            <a:off x="4993187" y="1842765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实际运行结果为：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71F361-0411-F84B-95B8-B1DB9198D14C}"/>
              </a:ext>
            </a:extLst>
          </p:cNvPr>
          <p:cNvSpPr txBox="1"/>
          <p:nvPr/>
        </p:nvSpPr>
        <p:spPr>
          <a:xfrm>
            <a:off x="7374912" y="2120486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8E3407-673C-7D44-8674-6FFA9EFC0297}"/>
              </a:ext>
            </a:extLst>
          </p:cNvPr>
          <p:cNvSpPr txBox="1"/>
          <p:nvPr/>
        </p:nvSpPr>
        <p:spPr>
          <a:xfrm>
            <a:off x="7380312" y="2714815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peer.malloc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B5AAE6A-EB0A-D942-8408-6E032B0A474D}"/>
              </a:ext>
            </a:extLst>
          </p:cNvPr>
          <p:cNvSpPr txBox="1"/>
          <p:nvPr/>
        </p:nvSpPr>
        <p:spPr>
          <a:xfrm>
            <a:off x="7380312" y="328834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peer.printf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3B13286-8925-BC42-9C80-DA5317E9063D}"/>
              </a:ext>
            </a:extLst>
          </p:cNvPr>
          <p:cNvSpPr txBox="1"/>
          <p:nvPr/>
        </p:nvSpPr>
        <p:spPr>
          <a:xfrm>
            <a:off x="7380312" y="3883510"/>
            <a:ext cx="1577676" cy="369332"/>
          </a:xfrm>
          <a:prstGeom prst="rect">
            <a:avLst/>
          </a:prstGeom>
          <a:noFill/>
          <a:ln w="19050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main.printf</a:t>
            </a:r>
            <a:endParaRPr kumimoji="1" lang="en-US" altLang="zh-CN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8EBFF92-F006-2F42-9F42-04F252AAB51D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167000" y="2489818"/>
            <a:ext cx="2150" cy="224997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9729672-6C04-8548-AFD7-F09E8803F515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8169150" y="3084147"/>
            <a:ext cx="0" cy="204193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BCEE048B-756D-0A43-9F66-6154F3EE7A76}"/>
              </a:ext>
            </a:extLst>
          </p:cNvPr>
          <p:cNvCxnSpPr>
            <a:cxnSpLocks/>
            <a:stCxn id="20" idx="2"/>
            <a:endCxn id="22" idx="0"/>
          </p:cNvCxnSpPr>
          <p:nvPr/>
        </p:nvCxnSpPr>
        <p:spPr>
          <a:xfrm>
            <a:off x="8169150" y="3657672"/>
            <a:ext cx="0" cy="225838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E3E27DE-4A4D-8941-993B-1FE910609299}"/>
              </a:ext>
            </a:extLst>
          </p:cNvPr>
          <p:cNvSpPr txBox="1"/>
          <p:nvPr/>
        </p:nvSpPr>
        <p:spPr>
          <a:xfrm>
            <a:off x="7725168" y="156648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执行流</a:t>
            </a:r>
          </a:p>
        </p:txBody>
      </p:sp>
      <p:sp>
        <p:nvSpPr>
          <p:cNvPr id="28" name="Text Box 4">
            <a:extLst>
              <a:ext uri="{FF2B5EF4-FFF2-40B4-BE49-F238E27FC236}">
                <a16:creationId xmlns:a16="http://schemas.microsoft.com/office/drawing/2014/main" id="{729C3BF8-B4B8-B349-B428-5D6086CEC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136" y="2136045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errno</a:t>
            </a:r>
            <a:r>
              <a:rPr kumimoji="0" lang="zh-CN" altLang="en-US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为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B2DDB605-FF54-E54F-B70F-679376513973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4155788" y="2449977"/>
            <a:ext cx="43918" cy="40752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 Box 4">
            <a:extLst>
              <a:ext uri="{FF2B5EF4-FFF2-40B4-BE49-F238E27FC236}">
                <a16:creationId xmlns:a16="http://schemas.microsoft.com/office/drawing/2014/main" id="{5896CD7C-5A0B-4847-9C57-4AA6238A9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7482" y="4630382"/>
            <a:ext cx="1430662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改为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07F70600-27E6-FC44-BD1E-F71433AFCE64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3563888" y="4591260"/>
            <a:ext cx="873594" cy="1960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4606C326-1500-7149-9AAE-9E6AED409759}"/>
              </a:ext>
            </a:extLst>
          </p:cNvPr>
          <p:cNvSpPr txBox="1"/>
          <p:nvPr/>
        </p:nvSpPr>
        <p:spPr>
          <a:xfrm>
            <a:off x="3694440" y="3585925"/>
            <a:ext cx="35445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两个</a:t>
            </a:r>
            <a:r>
              <a:rPr kumimoji="1" lang="en-US" altLang="zh-CN" b="1" dirty="0" err="1">
                <a:solidFill>
                  <a:srgbClr val="C00000"/>
                </a:solidFill>
              </a:rPr>
              <a:t>errno</a:t>
            </a:r>
            <a:r>
              <a:rPr kumimoji="1" lang="zh-CN" altLang="en-US" b="1" dirty="0">
                <a:solidFill>
                  <a:srgbClr val="C00000"/>
                </a:solidFill>
              </a:rPr>
              <a:t>同名，却是不同变量！</a:t>
            </a:r>
          </a:p>
        </p:txBody>
      </p:sp>
    </p:spTree>
    <p:extLst>
      <p:ext uri="{BB962C8B-B14F-4D97-AF65-F5344CB8AC3E}">
        <p14:creationId xmlns:p14="http://schemas.microsoft.com/office/powerpoint/2010/main" val="403087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F887CD-4B81-F04A-82A6-44275D215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同名不同变量的实现方法：</a:t>
            </a:r>
            <a:r>
              <a:rPr kumimoji="1" lang="en-US" altLang="zh-CN" dirty="0"/>
              <a:t>TLS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981095-CF71-EB4E-86B1-5950BF99E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即线程本地存储（</a:t>
            </a:r>
            <a:r>
              <a:rPr kumimoji="1" lang="en-US" altLang="zh-CN" dirty="0"/>
              <a:t>Thread-Local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也称为线程专有存储（</a:t>
            </a:r>
            <a:r>
              <a:rPr kumimoji="1" lang="en-US" altLang="zh-CN" dirty="0"/>
              <a:t>Thread-Specific</a:t>
            </a:r>
            <a:r>
              <a:rPr kumimoji="1" lang="zh-CN" altLang="en-US" dirty="0"/>
              <a:t> </a:t>
            </a:r>
            <a:r>
              <a:rPr kumimoji="1" lang="en-US" altLang="zh-CN" dirty="0"/>
              <a:t>Storage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线程库允许定义存储在</a:t>
            </a:r>
            <a:r>
              <a:rPr kumimoji="1" lang="en-US" altLang="zh-CN" dirty="0"/>
              <a:t>TLS</a:t>
            </a:r>
            <a:r>
              <a:rPr kumimoji="1" lang="zh-CN" altLang="en-US" dirty="0"/>
              <a:t>的变量</a:t>
            </a:r>
            <a:endParaRPr kumimoji="1" lang="en-US" altLang="zh-CN" dirty="0"/>
          </a:p>
          <a:p>
            <a:pPr lvl="2"/>
            <a:r>
              <a:rPr kumimoji="1" lang="zh-CN" altLang="en-US" sz="1800" dirty="0"/>
              <a:t>例如</a:t>
            </a:r>
            <a:r>
              <a:rPr kumimoji="1" lang="en-US" altLang="zh-CN" sz="1800" dirty="0"/>
              <a:t> </a:t>
            </a:r>
            <a:r>
              <a:rPr kumimoji="1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__thread</a:t>
            </a:r>
            <a:r>
              <a:rPr kumimoji="1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zh-CN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id</a:t>
            </a:r>
            <a:r>
              <a:rPr kumimoji="1" lang="zh-CN" alt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zh-CN" altLang="en-US" sz="1800" dirty="0">
                <a:latin typeface="+mn-ea"/>
                <a:cs typeface="Courier New" panose="02070309020205020404" pitchFamily="49" charset="0"/>
              </a:rPr>
              <a:t>会为每个线程定义一个独有的</a:t>
            </a:r>
            <a:r>
              <a:rPr kumimoji="1" lang="en-US" altLang="zh-CN" sz="1800" dirty="0">
                <a:latin typeface="+mn-ea"/>
                <a:cs typeface="Courier New" panose="02070309020205020404" pitchFamily="49" charset="0"/>
              </a:rPr>
              <a:t>id</a:t>
            </a:r>
            <a:r>
              <a:rPr kumimoji="1" lang="zh-CN" altLang="en-US" sz="1800" dirty="0">
                <a:latin typeface="+mn-ea"/>
                <a:cs typeface="Courier New" panose="02070309020205020404" pitchFamily="49" charset="0"/>
              </a:rPr>
              <a:t>变量</a:t>
            </a:r>
            <a:endParaRPr kumimoji="1" lang="en-US" altLang="zh-CN" sz="1800" dirty="0">
              <a:latin typeface="+mn-ea"/>
              <a:cs typeface="Courier New" panose="02070309020205020404" pitchFamily="49" charset="0"/>
            </a:endParaRPr>
          </a:p>
          <a:p>
            <a:pPr lvl="2"/>
            <a:r>
              <a:rPr kumimoji="1" lang="zh-CN" altLang="en-US" sz="1800" dirty="0"/>
              <a:t>对其他线程都不可见（除非引用</a:t>
            </a:r>
            <a:r>
              <a:rPr kumimoji="1" lang="en-US" altLang="zh-CN" sz="1800" dirty="0"/>
              <a:t>/</a:t>
            </a:r>
            <a:r>
              <a:rPr kumimoji="1" lang="zh-CN" altLang="en-US" sz="1800" dirty="0"/>
              <a:t>指针暴露出去）</a:t>
            </a:r>
            <a:endParaRPr kumimoji="1" lang="en-US" altLang="zh-CN" sz="1800" dirty="0"/>
          </a:p>
          <a:p>
            <a:pPr lvl="2"/>
            <a:endParaRPr kumimoji="1" lang="en-US" altLang="zh-CN" sz="1800" dirty="0"/>
          </a:p>
          <a:p>
            <a:r>
              <a:rPr kumimoji="1" lang="zh-CN" altLang="en-US" sz="2200" dirty="0"/>
              <a:t>在上面例子中，</a:t>
            </a:r>
            <a:r>
              <a:rPr kumimoji="1" lang="en-US" altLang="zh-CN" sz="2200" dirty="0" err="1"/>
              <a:t>errno</a:t>
            </a:r>
            <a:r>
              <a:rPr kumimoji="1" lang="zh-CN" altLang="en-US" sz="2200" dirty="0"/>
              <a:t>存储在</a:t>
            </a:r>
            <a:r>
              <a:rPr kumimoji="1" lang="en-US" altLang="zh-CN" sz="2200" dirty="0"/>
              <a:t>TLS</a:t>
            </a:r>
            <a:r>
              <a:rPr kumimoji="1" lang="zh-CN" altLang="en-US" sz="2200" dirty="0"/>
              <a:t>中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两个线程对于</a:t>
            </a:r>
            <a:r>
              <a:rPr kumimoji="1" lang="en-US" altLang="zh-CN" sz="1800" dirty="0" err="1"/>
              <a:t>errno</a:t>
            </a:r>
            <a:r>
              <a:rPr kumimoji="1" lang="zh-CN" altLang="en-US" sz="1800" dirty="0"/>
              <a:t>的修改互相不可见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E06E8D-747F-7644-804F-F984BF91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717D04C9-60E8-3642-A1E3-DEF72C924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461" y="3909760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=</a:t>
            </a: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12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268F42-C402-D249-92B0-A55F071639C3}"/>
              </a:ext>
            </a:extLst>
          </p:cNvPr>
          <p:cNvSpPr txBox="1"/>
          <p:nvPr/>
        </p:nvSpPr>
        <p:spPr>
          <a:xfrm>
            <a:off x="5606401" y="3882060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main</a:t>
            </a:r>
            <a:endParaRPr kumimoji="1" lang="zh-CN" altLang="en-US" b="1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004F0972-E74D-C24E-B532-0FB99A1258E2}"/>
              </a:ext>
            </a:extLst>
          </p:cNvPr>
          <p:cNvCxnSpPr>
            <a:stCxn id="6" idx="3"/>
            <a:endCxn id="5" idx="1"/>
          </p:cNvCxnSpPr>
          <p:nvPr/>
        </p:nvCxnSpPr>
        <p:spPr>
          <a:xfrm>
            <a:off x="6329676" y="4066726"/>
            <a:ext cx="50178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4">
            <a:extLst>
              <a:ext uri="{FF2B5EF4-FFF2-40B4-BE49-F238E27FC236}">
                <a16:creationId xmlns:a16="http://schemas.microsoft.com/office/drawing/2014/main" id="{0C1BC010-ADD9-2B4F-AA60-ABEB1D2CA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1461" y="4984995"/>
            <a:ext cx="1315139" cy="313932"/>
          </a:xfrm>
          <a:prstGeom prst="rect">
            <a:avLst/>
          </a:prstGeom>
          <a:solidFill>
            <a:srgbClr val="CCFFFF"/>
          </a:solidFill>
          <a:ln w="25400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2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4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kern="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e</a:t>
            </a:r>
            <a:r>
              <a:rPr kumimoji="0" lang="en-US" altLang="zh-CN" sz="1600" b="1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rrno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Consolas" panose="020B0609020204030204" pitchFamily="49" charset="0"/>
              </a:rPr>
              <a:t>=0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3DD212A-9D49-FA43-B29E-C608DE7B5EFD}"/>
              </a:ext>
            </a:extLst>
          </p:cNvPr>
          <p:cNvSpPr txBox="1"/>
          <p:nvPr/>
        </p:nvSpPr>
        <p:spPr>
          <a:xfrm>
            <a:off x="5606401" y="495729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/>
              <a:t>peer</a:t>
            </a:r>
            <a:endParaRPr kumimoji="1" lang="zh-CN" altLang="en-US" b="1" dirty="0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05F6E867-6728-0F40-9041-86CF24AE7F48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6278380" y="5141961"/>
            <a:ext cx="553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949490A8-6AE6-AE4B-8523-EA2411737CE5}"/>
              </a:ext>
            </a:extLst>
          </p:cNvPr>
          <p:cNvSpPr/>
          <p:nvPr/>
        </p:nvSpPr>
        <p:spPr>
          <a:xfrm>
            <a:off x="6732240" y="3776676"/>
            <a:ext cx="1954560" cy="5760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182FCF-D89A-5048-898A-2DC63EF71DE8}"/>
              </a:ext>
            </a:extLst>
          </p:cNvPr>
          <p:cNvSpPr txBox="1"/>
          <p:nvPr/>
        </p:nvSpPr>
        <p:spPr>
          <a:xfrm>
            <a:off x="7308304" y="3386851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/>
              <a:t>TLS</a:t>
            </a:r>
            <a:r>
              <a:rPr kumimoji="1" lang="en-US" altLang="zh-CN" b="1" baseline="-25000" dirty="0" err="1"/>
              <a:t>main</a:t>
            </a:r>
            <a:endParaRPr kumimoji="1"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20F555-C10C-8742-9370-A5B8A9B3135F}"/>
              </a:ext>
            </a:extLst>
          </p:cNvPr>
          <p:cNvSpPr/>
          <p:nvPr/>
        </p:nvSpPr>
        <p:spPr>
          <a:xfrm>
            <a:off x="6732240" y="4839934"/>
            <a:ext cx="1954560" cy="576064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508E76A-5825-0A4A-B36E-F8A5AE075EA3}"/>
              </a:ext>
            </a:extLst>
          </p:cNvPr>
          <p:cNvSpPr txBox="1"/>
          <p:nvPr/>
        </p:nvSpPr>
        <p:spPr>
          <a:xfrm>
            <a:off x="7308303" y="446210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 err="1"/>
              <a:t>TLS</a:t>
            </a:r>
            <a:r>
              <a:rPr kumimoji="1" lang="en-US" altLang="zh-CN" b="1" baseline="-25000" dirty="0" err="1"/>
              <a:t>peer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53677381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线程的实现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44432"/>
            <a:ext cx="7772400" cy="1250156"/>
          </a:xfrm>
        </p:spPr>
        <p:txBody>
          <a:bodyPr/>
          <a:lstStyle/>
          <a:p>
            <a:r>
              <a:rPr lang="zh-CN" altLang="en-US" dirty="0"/>
              <a:t>数据结构 </a:t>
            </a:r>
            <a:r>
              <a:rPr lang="en-US" altLang="zh-CN" dirty="0"/>
              <a:t>–</a:t>
            </a:r>
            <a:r>
              <a:rPr lang="zh-CN" altLang="en-US" dirty="0"/>
              <a:t> 相关接口实现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016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A5BC9E7-237F-F64D-BF75-1565AB536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回顾：进程的内核“户口”：</a:t>
            </a:r>
            <a:r>
              <a:rPr lang="en-US" altLang="zh-CN" dirty="0"/>
              <a:t>PCB</a:t>
            </a:r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463155-86B2-D247-8E58-18E0D24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包含进程上下文和虚拟地址空间</a:t>
            </a:r>
            <a:endParaRPr lang="en-US" altLang="zh-CN" dirty="0"/>
          </a:p>
          <a:p>
            <a:r>
              <a:rPr lang="zh-CN" altLang="en-US" dirty="0"/>
              <a:t>如果需要支持线程，需要如何修改？</a:t>
            </a:r>
            <a:endParaRPr lang="en-US" altLang="zh-CN" dirty="0"/>
          </a:p>
          <a:p>
            <a:pPr lvl="1"/>
            <a:r>
              <a:rPr lang="zh-CN" altLang="en-US" dirty="0"/>
              <a:t>单个上下文 </a:t>
            </a:r>
            <a:r>
              <a:rPr lang="en-US" altLang="zh-CN" dirty="0"/>
              <a:t>-&gt; </a:t>
            </a:r>
            <a:r>
              <a:rPr lang="zh-CN" altLang="en-US" dirty="0"/>
              <a:t>多个上下文</a:t>
            </a:r>
            <a:endParaRPr lang="en-US" altLang="zh-CN" dirty="0"/>
          </a:p>
          <a:p>
            <a:pPr lvl="1"/>
            <a:r>
              <a:rPr lang="zh-CN" altLang="en-US" dirty="0"/>
              <a:t>内核需为每个线程维护相应数据结构（方便以线程为粒度调度）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EC42D-4D6E-9145-99C8-DD062F9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5F2EB6F-92A7-F648-8316-E9AE8C269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776" y="3727283"/>
            <a:ext cx="3779912" cy="1377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19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A5BC9E7-237F-F64D-BF75-1565AB53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53574" cy="900442"/>
          </a:xfrm>
        </p:spPr>
        <p:txBody>
          <a:bodyPr>
            <a:normAutofit/>
          </a:bodyPr>
          <a:lstStyle/>
          <a:p>
            <a:r>
              <a:rPr lang="zh-CN" altLang="en-US" dirty="0"/>
              <a:t>线程对应数据结构：</a:t>
            </a:r>
            <a:r>
              <a:rPr lang="en-US" altLang="zh-CN" dirty="0"/>
              <a:t>TCB</a:t>
            </a:r>
            <a:r>
              <a:rPr lang="zh-CN" altLang="en-US" dirty="0"/>
              <a:t>（线程控制块）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2463155-86B2-D247-8E58-18E0D249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 err="1"/>
              <a:t>ChCore</a:t>
            </a:r>
            <a:r>
              <a:rPr lang="zh-CN" altLang="en-US" dirty="0"/>
              <a:t>中，对应</a:t>
            </a:r>
            <a:r>
              <a:rPr lang="en-US" altLang="zh-CN" i="1" dirty="0"/>
              <a:t>thread</a:t>
            </a:r>
            <a:r>
              <a:rPr lang="zh-CN" altLang="en-US" dirty="0"/>
              <a:t>数据结构</a:t>
            </a:r>
            <a:endParaRPr lang="en-US" altLang="zh-CN" dirty="0"/>
          </a:p>
          <a:p>
            <a:pPr lvl="1"/>
            <a:r>
              <a:rPr lang="zh-CN" altLang="en-US" dirty="0"/>
              <a:t>每个线程</a:t>
            </a:r>
            <a:r>
              <a:rPr lang="en-US" altLang="zh-CN" dirty="0"/>
              <a:t>TCB</a:t>
            </a:r>
            <a:r>
              <a:rPr lang="zh-CN" altLang="en-US" dirty="0"/>
              <a:t>保存自己的上下文</a:t>
            </a:r>
            <a:endParaRPr lang="en-US" altLang="zh-CN" dirty="0"/>
          </a:p>
          <a:p>
            <a:pPr lvl="1"/>
            <a:r>
              <a:rPr lang="zh-CN" altLang="en-US" dirty="0"/>
              <a:t>进程</a:t>
            </a:r>
            <a:r>
              <a:rPr lang="en-US" altLang="zh-CN" dirty="0"/>
              <a:t>PCB</a:t>
            </a:r>
            <a:r>
              <a:rPr lang="zh-CN" altLang="en-US" dirty="0"/>
              <a:t>仍维护共享的地址空间</a:t>
            </a:r>
            <a:endParaRPr lang="en-US" altLang="zh-CN" dirty="0"/>
          </a:p>
          <a:p>
            <a:pPr lvl="1"/>
            <a:r>
              <a:rPr lang="en-US" altLang="zh-CN" dirty="0"/>
              <a:t>PCB/TCB</a:t>
            </a:r>
            <a:r>
              <a:rPr lang="zh-CN" altLang="en-US" dirty="0"/>
              <a:t>间相互引用，便于管理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6EC42D-4D6E-9145-99C8-DD062F94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42BEA8A-88BA-AE46-AF65-9C921F959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3622889"/>
            <a:ext cx="5374878" cy="198021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F379A15B-D9B8-2A46-A82C-06DB6E6D8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52" y="4228746"/>
            <a:ext cx="2994263" cy="768503"/>
          </a:xfrm>
          <a:prstGeom prst="rect">
            <a:avLst/>
          </a:prstGeom>
        </p:spPr>
      </p:pic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97032088-BDD5-044B-9DB5-7C3D7B31A054}"/>
              </a:ext>
            </a:extLst>
          </p:cNvPr>
          <p:cNvCxnSpPr>
            <a:cxnSpLocks/>
          </p:cNvCxnSpPr>
          <p:nvPr/>
        </p:nvCxnSpPr>
        <p:spPr>
          <a:xfrm flipV="1">
            <a:off x="3347864" y="3865612"/>
            <a:ext cx="1296144" cy="811888"/>
          </a:xfrm>
          <a:prstGeom prst="straightConnector1">
            <a:avLst/>
          </a:prstGeom>
          <a:ln w="25400">
            <a:solidFill>
              <a:srgbClr val="BD32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5A440235-C088-5A41-BA5A-B306E6238285}"/>
              </a:ext>
            </a:extLst>
          </p:cNvPr>
          <p:cNvCxnSpPr>
            <a:cxnSpLocks/>
          </p:cNvCxnSpPr>
          <p:nvPr/>
        </p:nvCxnSpPr>
        <p:spPr>
          <a:xfrm flipH="1" flipV="1">
            <a:off x="1835696" y="4381499"/>
            <a:ext cx="3168353" cy="231498"/>
          </a:xfrm>
          <a:prstGeom prst="straightConnector1">
            <a:avLst/>
          </a:prstGeom>
          <a:ln w="25400">
            <a:solidFill>
              <a:srgbClr val="BD324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83958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148EF-5ED6-D240-96B4-121DB79C5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数据结构变化示意图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E948A-E8F9-1F4C-B6C8-E21AD1DBF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除</a:t>
            </a:r>
            <a:r>
              <a:rPr kumimoji="1" lang="en-US" altLang="zh-CN" dirty="0"/>
              <a:t>TCB</a:t>
            </a:r>
            <a:r>
              <a:rPr kumimoji="1" lang="zh-CN" altLang="en-US" dirty="0"/>
              <a:t>外，每个线程也使用独立的</a:t>
            </a:r>
            <a:r>
              <a:rPr kumimoji="1" lang="zh-CN" altLang="en-US" dirty="0">
                <a:solidFill>
                  <a:schemeClr val="accent1"/>
                </a:solidFill>
              </a:rPr>
              <a:t>内核栈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dirty="0"/>
              <a:t>便于各线程在内核中独立执行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45879-207B-D347-9D7F-067A49645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4163A1-8A27-CA46-A1FB-0008959C0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933" y="2493034"/>
            <a:ext cx="2677622" cy="29931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7E3D08A-E3CA-F742-B863-F10CF2016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3060" y="2517915"/>
            <a:ext cx="2070290" cy="32154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9388541-7DE8-7E45-8E7A-8858B73113DA}"/>
              </a:ext>
            </a:extLst>
          </p:cNvPr>
          <p:cNvSpPr txBox="1"/>
          <p:nvPr/>
        </p:nvSpPr>
        <p:spPr>
          <a:xfrm>
            <a:off x="2627784" y="23336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无线程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7C89A1-9F90-E64E-A40E-44BF9ADC6F31}"/>
              </a:ext>
            </a:extLst>
          </p:cNvPr>
          <p:cNvSpPr txBox="1"/>
          <p:nvPr/>
        </p:nvSpPr>
        <p:spPr>
          <a:xfrm>
            <a:off x="6085844" y="2333699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b="1" dirty="0"/>
              <a:t>有线程</a:t>
            </a:r>
          </a:p>
        </p:txBody>
      </p:sp>
    </p:spTree>
    <p:extLst>
      <p:ext uri="{BB962C8B-B14F-4D97-AF65-F5344CB8AC3E}">
        <p14:creationId xmlns:p14="http://schemas.microsoft.com/office/powerpoint/2010/main" val="15435263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FE21-FFA1-4A46-9D6A-3AA32F1A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线程创建的实现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1FC27-3DFF-6B4D-AF60-26AC0A8D2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中，线程创建由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（</a:t>
            </a:r>
            <a:r>
              <a:rPr kumimoji="1" lang="zh-CN" altLang="en-US" dirty="0">
                <a:solidFill>
                  <a:srgbClr val="C00000"/>
                </a:solidFill>
              </a:rPr>
              <a:t>本用于创建进程</a:t>
            </a:r>
            <a:r>
              <a:rPr kumimoji="1" lang="zh-CN" altLang="en-US" dirty="0"/>
              <a:t>）实现</a:t>
            </a:r>
            <a:endParaRPr kumimoji="1" lang="en-US" altLang="zh-CN" dirty="0"/>
          </a:p>
          <a:p>
            <a:r>
              <a:rPr kumimoji="1" lang="zh-CN" altLang="en-US" dirty="0"/>
              <a:t>为创建线程，需要为</a:t>
            </a:r>
            <a:r>
              <a:rPr kumimoji="1" lang="en-US" altLang="zh-CN" dirty="0"/>
              <a:t>clone</a:t>
            </a:r>
            <a:r>
              <a:rPr kumimoji="1" lang="zh-CN" altLang="en-US" dirty="0"/>
              <a:t>配置多个特殊标记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CLONE_VM: </a:t>
            </a:r>
            <a:r>
              <a:rPr kumimoji="1" lang="zh-CN" altLang="en-US" dirty="0"/>
              <a:t>创建的两个“进程”共享同一地址空间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CLONE_THREAD: </a:t>
            </a:r>
            <a:r>
              <a:rPr kumimoji="1" lang="zh-CN" altLang="en-US" dirty="0"/>
              <a:t>新“进程”与原进程从属于同一进程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</a:p>
          <a:p>
            <a:endParaRPr kumimoji="1" lang="zh-CN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5A642-EED2-DC4A-99F8-DA46EBBB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EE2816B-B830-7742-9999-DD6FAE34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3721596"/>
            <a:ext cx="7825308" cy="1995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9787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EFE21-FFA1-4A46-9D6A-3AA32F1A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线程创建的实现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71FC27-3DFF-6B4D-AF60-26AC0A8D2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5825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内核采用</a:t>
            </a:r>
            <a:r>
              <a:rPr kumimoji="1" lang="en-US" altLang="zh-CN" dirty="0" err="1"/>
              <a:t>thread_create</a:t>
            </a:r>
            <a:r>
              <a:rPr kumimoji="1" lang="zh-CN" altLang="en-US" dirty="0"/>
              <a:t>函数创建线程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05A642-EED2-DC4A-99F8-DA46EBBB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42BCBA0-6275-7640-8541-F514ABC3B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705372"/>
            <a:ext cx="6351990" cy="403777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C0DCAFF4-690F-2346-9006-16397893C50C}"/>
              </a:ext>
            </a:extLst>
          </p:cNvPr>
          <p:cNvSpPr/>
          <p:nvPr/>
        </p:nvSpPr>
        <p:spPr>
          <a:xfrm>
            <a:off x="1890000" y="3145532"/>
            <a:ext cx="432000" cy="288032"/>
          </a:xfrm>
          <a:prstGeom prst="rect">
            <a:avLst/>
          </a:prstGeom>
          <a:noFill/>
          <a:ln w="19050">
            <a:solidFill>
              <a:srgbClr val="BD3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31CC9E2-8BEF-D844-8794-8BAC0DB908AB}"/>
              </a:ext>
            </a:extLst>
          </p:cNvPr>
          <p:cNvSpPr/>
          <p:nvPr/>
        </p:nvSpPr>
        <p:spPr>
          <a:xfrm>
            <a:off x="2915816" y="3721596"/>
            <a:ext cx="576064" cy="288032"/>
          </a:xfrm>
          <a:prstGeom prst="rect">
            <a:avLst/>
          </a:prstGeom>
          <a:noFill/>
          <a:ln w="19050">
            <a:solidFill>
              <a:srgbClr val="BD32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B87158A-33D8-D94C-AE0E-8B6DBA4C564E}"/>
              </a:ext>
            </a:extLst>
          </p:cNvPr>
          <p:cNvSpPr txBox="1"/>
          <p:nvPr/>
        </p:nvSpPr>
        <p:spPr>
          <a:xfrm>
            <a:off x="3654930" y="2991643"/>
            <a:ext cx="46089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500" b="1" dirty="0">
                <a:solidFill>
                  <a:srgbClr val="C00000"/>
                </a:solidFill>
              </a:rPr>
              <a:t>与进程相比创建内容较少（如不需要创建地址空间）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3A807A35-86A4-2944-B5B6-A6021F8BBDD8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2322000" y="3153226"/>
            <a:ext cx="1332930" cy="1363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4E1D3BD2-9835-CD48-9882-8ED27EAB2D4A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3491880" y="3153226"/>
            <a:ext cx="163050" cy="7123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19383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3D0AD0-510E-D94B-8064-252990249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线程退出的实现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D824A6-E806-5B4A-8AB9-C24865706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ChCore</a:t>
            </a:r>
            <a:r>
              <a:rPr kumimoji="1" lang="zh-CN" altLang="en-US" dirty="0"/>
              <a:t>内核采用 </a:t>
            </a:r>
            <a:r>
              <a:rPr kumimoji="1" lang="en-US" altLang="zh-CN" dirty="0" err="1"/>
              <a:t>thread_deinit</a:t>
            </a:r>
            <a:r>
              <a:rPr kumimoji="1" lang="zh-CN" altLang="en-US" dirty="0"/>
              <a:t> 销毁线程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由于</a:t>
            </a:r>
            <a:r>
              <a:rPr kumimoji="1" lang="en-US" altLang="zh-CN" dirty="0" err="1"/>
              <a:t>ChCore</a:t>
            </a:r>
            <a:r>
              <a:rPr kumimoji="1" lang="zh-CN" altLang="en-US" dirty="0"/>
              <a:t>未支持</a:t>
            </a:r>
            <a:r>
              <a:rPr kumimoji="1" lang="en-US" altLang="zh-CN" dirty="0"/>
              <a:t>join</a:t>
            </a:r>
            <a:r>
              <a:rPr kumimoji="1" lang="zh-CN" altLang="en-US" dirty="0"/>
              <a:t>操作，线程退出后内核回收资源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147A5E-8AC1-E340-9332-5798D587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45BC9FB-E508-E448-8B98-1F5BD893D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2311878"/>
            <a:ext cx="5434682" cy="3403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5452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/>
              <a:t>实现方式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：拷贝父进程中所有的线程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从概念上较为直观（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：“一模一样”的进程拷贝）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但可能会出现反直觉的行为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如下面的例子：线程</a:t>
            </a:r>
            <a:r>
              <a:rPr kumimoji="1" lang="en-US" altLang="zh-CN" dirty="0"/>
              <a:t>0</a:t>
            </a:r>
            <a:r>
              <a:rPr kumimoji="1" lang="zh-CN" altLang="en-US" dirty="0"/>
              <a:t>的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会导致文件被两个线程</a:t>
            </a:r>
            <a:r>
              <a:rPr kumimoji="1" lang="en-US" altLang="zh-CN" dirty="0"/>
              <a:t>1</a:t>
            </a:r>
            <a:r>
              <a:rPr kumimoji="1" lang="zh-CN" altLang="en-US" dirty="0"/>
              <a:t>各写一次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C7F1B9-0ACB-5642-B3BD-B05C5FAAF39C}"/>
              </a:ext>
            </a:extLst>
          </p:cNvPr>
          <p:cNvSpPr/>
          <p:nvPr/>
        </p:nvSpPr>
        <p:spPr>
          <a:xfrm>
            <a:off x="1907704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62D0BB-9DEF-EC46-9849-D2D1BC54A9AB}"/>
              </a:ext>
            </a:extLst>
          </p:cNvPr>
          <p:cNvSpPr txBox="1"/>
          <p:nvPr/>
        </p:nvSpPr>
        <p:spPr>
          <a:xfrm>
            <a:off x="1918936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EABC7E-705D-5E4E-B9B6-A87FC4CDFDC9}"/>
              </a:ext>
            </a:extLst>
          </p:cNvPr>
          <p:cNvSpPr/>
          <p:nvPr/>
        </p:nvSpPr>
        <p:spPr>
          <a:xfrm>
            <a:off x="1907704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17FC3B-C15D-BB48-86EF-FD1DA671630A}"/>
              </a:ext>
            </a:extLst>
          </p:cNvPr>
          <p:cNvSpPr txBox="1"/>
          <p:nvPr/>
        </p:nvSpPr>
        <p:spPr>
          <a:xfrm>
            <a:off x="1918936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BB2CA1-1FDE-2244-9124-384705CC7572}"/>
              </a:ext>
            </a:extLst>
          </p:cNvPr>
          <p:cNvSpPr/>
          <p:nvPr/>
        </p:nvSpPr>
        <p:spPr>
          <a:xfrm>
            <a:off x="1835696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15C734-4D83-BD43-A67D-1A352B29DE6F}"/>
              </a:ext>
            </a:extLst>
          </p:cNvPr>
          <p:cNvSpPr txBox="1"/>
          <p:nvPr/>
        </p:nvSpPr>
        <p:spPr>
          <a:xfrm>
            <a:off x="1880458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0</a:t>
            </a:r>
            <a:endParaRPr kumimoji="1" lang="zh-CN" altLang="en-US" b="1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E268EB2-C13D-354D-BE01-0978DE80A89B}"/>
              </a:ext>
            </a:extLst>
          </p:cNvPr>
          <p:cNvSpPr/>
          <p:nvPr/>
        </p:nvSpPr>
        <p:spPr>
          <a:xfrm>
            <a:off x="3529351" y="5233764"/>
            <a:ext cx="720080" cy="3674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8A0683-9B45-F741-BA64-679FA9B323ED}"/>
              </a:ext>
            </a:extLst>
          </p:cNvPr>
          <p:cNvSpPr txBox="1"/>
          <p:nvPr/>
        </p:nvSpPr>
        <p:spPr>
          <a:xfrm>
            <a:off x="3566022" y="52319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AC415EE-BCBB-F44F-B557-E38EC5B9F807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2627784" y="5105137"/>
            <a:ext cx="90156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0B4AF06-B696-3346-AB07-819771B03EBE}"/>
              </a:ext>
            </a:extLst>
          </p:cNvPr>
          <p:cNvSpPr txBox="1"/>
          <p:nvPr/>
        </p:nvSpPr>
        <p:spPr>
          <a:xfrm>
            <a:off x="2833322" y="491437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C546B35-2622-D443-8BA2-EC032FDB5A1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2627784" y="4621696"/>
            <a:ext cx="24723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6E3142F-AF1F-2245-8990-8261F3C67ADD}"/>
              </a:ext>
            </a:extLst>
          </p:cNvPr>
          <p:cNvSpPr txBox="1"/>
          <p:nvPr/>
        </p:nvSpPr>
        <p:spPr>
          <a:xfrm>
            <a:off x="3604493" y="42883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fork</a:t>
            </a:r>
            <a:endParaRPr kumimoji="1" lang="zh-CN" altLang="en-US" i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D79C19-D3A3-FB4F-9F5F-EF21A8FC4E1B}"/>
              </a:ext>
            </a:extLst>
          </p:cNvPr>
          <p:cNvSpPr/>
          <p:nvPr/>
        </p:nvSpPr>
        <p:spPr>
          <a:xfrm>
            <a:off x="5100106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379DE-D6AD-6B4E-98E5-3FD13E55A5B8}"/>
              </a:ext>
            </a:extLst>
          </p:cNvPr>
          <p:cNvSpPr txBox="1"/>
          <p:nvPr/>
        </p:nvSpPr>
        <p:spPr>
          <a:xfrm>
            <a:off x="5111338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7F6567F-1CCD-D449-A192-39E3E4DC69A5}"/>
              </a:ext>
            </a:extLst>
          </p:cNvPr>
          <p:cNvSpPr/>
          <p:nvPr/>
        </p:nvSpPr>
        <p:spPr>
          <a:xfrm>
            <a:off x="5100106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977E7D-04AB-FF49-AAF5-34DDDD45C139}"/>
              </a:ext>
            </a:extLst>
          </p:cNvPr>
          <p:cNvSpPr txBox="1"/>
          <p:nvPr/>
        </p:nvSpPr>
        <p:spPr>
          <a:xfrm>
            <a:off x="5111338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C3F763-BBCE-6D4F-8EAA-2F8FD4756F0A}"/>
              </a:ext>
            </a:extLst>
          </p:cNvPr>
          <p:cNvSpPr/>
          <p:nvPr/>
        </p:nvSpPr>
        <p:spPr>
          <a:xfrm>
            <a:off x="5028098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878B48-C650-4C4B-9480-C298FC805BAB}"/>
              </a:ext>
            </a:extLst>
          </p:cNvPr>
          <p:cNvSpPr txBox="1"/>
          <p:nvPr/>
        </p:nvSpPr>
        <p:spPr>
          <a:xfrm>
            <a:off x="5072860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02A000CC-AD0A-874F-B293-74470263B934}"/>
              </a:ext>
            </a:extLst>
          </p:cNvPr>
          <p:cNvCxnSpPr>
            <a:cxnSpLocks/>
            <a:stCxn id="31" idx="1"/>
            <a:endCxn id="18" idx="3"/>
          </p:cNvCxnSpPr>
          <p:nvPr/>
        </p:nvCxnSpPr>
        <p:spPr>
          <a:xfrm flipH="1">
            <a:off x="4249431" y="5105137"/>
            <a:ext cx="86190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43234866-D25A-1B44-9465-88E1D2E806FA}"/>
              </a:ext>
            </a:extLst>
          </p:cNvPr>
          <p:cNvSpPr txBox="1"/>
          <p:nvPr/>
        </p:nvSpPr>
        <p:spPr>
          <a:xfrm>
            <a:off x="4209771" y="490972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5504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/>
              <a:t>实现方式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：只拷贝父进程中调用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的线程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新进程中只出现一个线程，不会出现反直觉的重复操作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但其他线程的内存状态仍然会被拷贝，且不会被主动释放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C7F1B9-0ACB-5642-B3BD-B05C5FAAF39C}"/>
              </a:ext>
            </a:extLst>
          </p:cNvPr>
          <p:cNvSpPr/>
          <p:nvPr/>
        </p:nvSpPr>
        <p:spPr>
          <a:xfrm>
            <a:off x="1907704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B62D0BB-9DEF-EC46-9849-D2D1BC54A9AB}"/>
              </a:ext>
            </a:extLst>
          </p:cNvPr>
          <p:cNvSpPr txBox="1"/>
          <p:nvPr/>
        </p:nvSpPr>
        <p:spPr>
          <a:xfrm>
            <a:off x="1918936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EABC7E-705D-5E4E-B9B6-A87FC4CDFDC9}"/>
              </a:ext>
            </a:extLst>
          </p:cNvPr>
          <p:cNvSpPr/>
          <p:nvPr/>
        </p:nvSpPr>
        <p:spPr>
          <a:xfrm>
            <a:off x="1907704" y="4914374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917FC3B-C15D-BB48-86EF-FD1DA671630A}"/>
              </a:ext>
            </a:extLst>
          </p:cNvPr>
          <p:cNvSpPr txBox="1"/>
          <p:nvPr/>
        </p:nvSpPr>
        <p:spPr>
          <a:xfrm>
            <a:off x="1918936" y="4935860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9BB2CA1-1FDE-2244-9124-384705CC7572}"/>
              </a:ext>
            </a:extLst>
          </p:cNvPr>
          <p:cNvSpPr/>
          <p:nvPr/>
        </p:nvSpPr>
        <p:spPr>
          <a:xfrm>
            <a:off x="1835696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15C734-4D83-BD43-A67D-1A352B29DE6F}"/>
              </a:ext>
            </a:extLst>
          </p:cNvPr>
          <p:cNvSpPr txBox="1"/>
          <p:nvPr/>
        </p:nvSpPr>
        <p:spPr>
          <a:xfrm>
            <a:off x="1880458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0</a:t>
            </a:r>
            <a:endParaRPr kumimoji="1" lang="zh-CN" altLang="en-US" b="1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CE268EB2-C13D-354D-BE01-0978DE80A89B}"/>
              </a:ext>
            </a:extLst>
          </p:cNvPr>
          <p:cNvSpPr/>
          <p:nvPr/>
        </p:nvSpPr>
        <p:spPr>
          <a:xfrm>
            <a:off x="3529351" y="5233764"/>
            <a:ext cx="720080" cy="36746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8A0683-9B45-F741-BA64-679FA9B323ED}"/>
              </a:ext>
            </a:extLst>
          </p:cNvPr>
          <p:cNvSpPr txBox="1"/>
          <p:nvPr/>
        </p:nvSpPr>
        <p:spPr>
          <a:xfrm>
            <a:off x="3566022" y="523190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C00000"/>
                </a:solidFill>
              </a:rPr>
              <a:t>文件</a:t>
            </a: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BAC415EE-BCBB-F44F-B557-E38EC5B9F807}"/>
              </a:ext>
            </a:extLst>
          </p:cNvPr>
          <p:cNvCxnSpPr>
            <a:stCxn id="8" idx="3"/>
            <a:endCxn id="18" idx="1"/>
          </p:cNvCxnSpPr>
          <p:nvPr/>
        </p:nvCxnSpPr>
        <p:spPr>
          <a:xfrm>
            <a:off x="2627784" y="5105137"/>
            <a:ext cx="901567" cy="312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0B4AF06-B696-3346-AB07-819771B03EBE}"/>
              </a:ext>
            </a:extLst>
          </p:cNvPr>
          <p:cNvSpPr txBox="1"/>
          <p:nvPr/>
        </p:nvSpPr>
        <p:spPr>
          <a:xfrm>
            <a:off x="2833322" y="4914374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>
                <a:solidFill>
                  <a:srgbClr val="C00000"/>
                </a:solidFill>
              </a:rPr>
              <a:t>write</a:t>
            </a:r>
            <a:endParaRPr kumimoji="1" lang="zh-CN" altLang="en-US" i="1" dirty="0">
              <a:solidFill>
                <a:srgbClr val="C00000"/>
              </a:solidFill>
            </a:endParaRPr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DC546B35-2622-D443-8BA2-EC032FDB5A16}"/>
              </a:ext>
            </a:extLst>
          </p:cNvPr>
          <p:cNvCxnSpPr>
            <a:cxnSpLocks/>
            <a:stCxn id="5" idx="3"/>
            <a:endCxn id="28" idx="1"/>
          </p:cNvCxnSpPr>
          <p:nvPr/>
        </p:nvCxnSpPr>
        <p:spPr>
          <a:xfrm>
            <a:off x="2627784" y="4621696"/>
            <a:ext cx="247232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26E3142F-AF1F-2245-8990-8261F3C67ADD}"/>
              </a:ext>
            </a:extLst>
          </p:cNvPr>
          <p:cNvSpPr txBox="1"/>
          <p:nvPr/>
        </p:nvSpPr>
        <p:spPr>
          <a:xfrm>
            <a:off x="3604493" y="4288368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i="1" dirty="0"/>
              <a:t>fork</a:t>
            </a:r>
            <a:endParaRPr kumimoji="1" lang="zh-CN" altLang="en-US" i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0D79C19-D3A3-FB4F-9F5F-EF21A8FC4E1B}"/>
              </a:ext>
            </a:extLst>
          </p:cNvPr>
          <p:cNvSpPr/>
          <p:nvPr/>
        </p:nvSpPr>
        <p:spPr>
          <a:xfrm>
            <a:off x="5100106" y="4441676"/>
            <a:ext cx="720080" cy="3600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4D379DE-D6AD-6B4E-98E5-3FD13E55A5B8}"/>
              </a:ext>
            </a:extLst>
          </p:cNvPr>
          <p:cNvSpPr txBox="1"/>
          <p:nvPr/>
        </p:nvSpPr>
        <p:spPr>
          <a:xfrm>
            <a:off x="5111338" y="4463162"/>
            <a:ext cx="7088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b="1" dirty="0"/>
              <a:t>线程</a:t>
            </a:r>
            <a:r>
              <a:rPr kumimoji="1" lang="en-US" altLang="zh-CN" sz="1600" b="1" dirty="0"/>
              <a:t>0</a:t>
            </a:r>
            <a:endParaRPr kumimoji="1" lang="zh-CN" altLang="en-US" sz="1600" b="1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0C3F763-BBCE-6D4F-8EAA-2F8FD4756F0A}"/>
              </a:ext>
            </a:extLst>
          </p:cNvPr>
          <p:cNvSpPr/>
          <p:nvPr/>
        </p:nvSpPr>
        <p:spPr>
          <a:xfrm>
            <a:off x="5028098" y="4369668"/>
            <a:ext cx="864096" cy="996281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9878B48-C650-4C4B-9480-C298FC805BAB}"/>
              </a:ext>
            </a:extLst>
          </p:cNvPr>
          <p:cNvSpPr txBox="1"/>
          <p:nvPr/>
        </p:nvSpPr>
        <p:spPr>
          <a:xfrm>
            <a:off x="5072860" y="3980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/>
              <a:t>进程</a:t>
            </a:r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7C2A01B-04F3-BE49-963D-2944128AC67C}"/>
              </a:ext>
            </a:extLst>
          </p:cNvPr>
          <p:cNvSpPr/>
          <p:nvPr/>
        </p:nvSpPr>
        <p:spPr>
          <a:xfrm>
            <a:off x="5100660" y="4933539"/>
            <a:ext cx="720080" cy="360040"/>
          </a:xfrm>
          <a:prstGeom prst="rect">
            <a:avLst/>
          </a:prstGeom>
          <a:solidFill>
            <a:schemeClr val="bg2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3DCDF04-FEC8-484F-9F78-CE2678BE66F7}"/>
              </a:ext>
            </a:extLst>
          </p:cNvPr>
          <p:cNvSpPr txBox="1"/>
          <p:nvPr/>
        </p:nvSpPr>
        <p:spPr>
          <a:xfrm>
            <a:off x="5046409" y="4982754"/>
            <a:ext cx="8274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100" b="1" dirty="0"/>
              <a:t>线程</a:t>
            </a:r>
            <a:r>
              <a:rPr kumimoji="1" lang="en-US" altLang="zh-CN" sz="1100" b="1" dirty="0"/>
              <a:t>1</a:t>
            </a:r>
            <a:r>
              <a:rPr kumimoji="1" lang="zh-CN" altLang="en-US" sz="1100" b="1" dirty="0"/>
              <a:t>数据</a:t>
            </a:r>
          </a:p>
        </p:txBody>
      </p:sp>
    </p:spTree>
    <p:extLst>
      <p:ext uri="{BB962C8B-B14F-4D97-AF65-F5344CB8AC3E}">
        <p14:creationId xmlns:p14="http://schemas.microsoft.com/office/powerpoint/2010/main" val="22622411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E1AF2-59D2-A84C-BD30-BF35E77B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与进程管理接口的关系：以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01BB8-EA7E-0A4B-9F9C-8639F0227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一个多线程的程序调用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，会发生什么？</a:t>
            </a:r>
            <a:endParaRPr kumimoji="1" lang="en-US" altLang="zh-CN" dirty="0"/>
          </a:p>
          <a:p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实现方式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1: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拷贝父进程中所有的线程</a:t>
            </a:r>
            <a:endParaRPr kumimoji="1"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实现方式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2: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只拷贝父进程中调用</a:t>
            </a:r>
            <a:r>
              <a:rPr kumimoji="1" lang="en-US" altLang="zh-CN" dirty="0">
                <a:solidFill>
                  <a:schemeClr val="bg2">
                    <a:lumMod val="75000"/>
                  </a:schemeClr>
                </a:solidFill>
              </a:rPr>
              <a:t>fork</a:t>
            </a:r>
            <a:r>
              <a:rPr kumimoji="1" lang="zh-CN" altLang="en-US" dirty="0">
                <a:solidFill>
                  <a:schemeClr val="bg2">
                    <a:lumMod val="75000"/>
                  </a:schemeClr>
                </a:solidFill>
              </a:rPr>
              <a:t>的线程</a:t>
            </a:r>
            <a:endParaRPr kumimoji="1" lang="en-US" altLang="zh-CN" dirty="0">
              <a:solidFill>
                <a:schemeClr val="bg2">
                  <a:lumMod val="75000"/>
                </a:schemeClr>
              </a:solidFill>
            </a:endParaRPr>
          </a:p>
          <a:p>
            <a:r>
              <a:rPr kumimoji="1" lang="en-US" altLang="zh-CN" dirty="0"/>
              <a:t>POSIX</a:t>
            </a:r>
            <a:r>
              <a:rPr kumimoji="1" lang="zh-CN" altLang="en-US" dirty="0"/>
              <a:t>建议：尽量避免用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拷贝多线程程序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若希望使用多进程：使用</a:t>
            </a:r>
            <a:r>
              <a:rPr kumimoji="1" lang="en-US" altLang="zh-CN" dirty="0"/>
              <a:t>fork</a:t>
            </a:r>
          </a:p>
          <a:p>
            <a:pPr lvl="1"/>
            <a:r>
              <a:rPr kumimoji="1" lang="zh-CN" altLang="en-US" dirty="0"/>
              <a:t>若希望使用多线程：直接使用</a:t>
            </a:r>
            <a:r>
              <a:rPr kumimoji="1" lang="en-US" altLang="zh-CN" dirty="0" err="1"/>
              <a:t>pthread_create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BE38B-A110-EE45-8806-3F42E33C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39701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CBD40-1AF0-499A-8320-859B1345A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纤程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462AD6-8B47-4508-808E-1B7A52954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3557324"/>
            <a:ext cx="7772400" cy="1250156"/>
          </a:xfrm>
        </p:spPr>
        <p:txBody>
          <a:bodyPr/>
          <a:lstStyle/>
          <a:p>
            <a:r>
              <a:rPr lang="zh-CN" altLang="en-US"/>
              <a:t>纤程的概念 </a:t>
            </a:r>
            <a:r>
              <a:rPr lang="en-US" altLang="zh-CN"/>
              <a:t>-</a:t>
            </a:r>
            <a:r>
              <a:rPr lang="zh-CN" altLang="en-US"/>
              <a:t> 编程模型 </a:t>
            </a:r>
            <a:r>
              <a:rPr lang="en-US" altLang="zh-CN"/>
              <a:t>-</a:t>
            </a:r>
            <a:r>
              <a:rPr lang="zh-CN" altLang="en-US"/>
              <a:t> </a:t>
            </a:r>
            <a:r>
              <a:rPr lang="en-US" altLang="zh-CN"/>
              <a:t>Windows</a:t>
            </a:r>
            <a:r>
              <a:rPr lang="zh-CN" altLang="en-US"/>
              <a:t>和编程语言支持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58500-807F-44B5-B542-092663CF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88D982-3907-3E47-8956-EA4C2B1CC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455958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35A4F-DE3D-D24C-BAC9-1056DFF2C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一对一线程模型的局限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1DA620-4CC2-1945-83F5-7662D1A80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复杂应用：对调度存在更多需求</a:t>
            </a:r>
            <a:endParaRPr kumimoji="1" lang="en-US" altLang="zh-CN"/>
          </a:p>
          <a:p>
            <a:pPr lvl="1"/>
            <a:r>
              <a:rPr kumimoji="1" lang="zh-CN" altLang="en-US"/>
              <a:t>生产者消费者模型：生产者完成后，消费者最好马上被调度</a:t>
            </a:r>
            <a:endParaRPr kumimoji="1" lang="en-US" altLang="zh-CN"/>
          </a:p>
          <a:p>
            <a:pPr lvl="1"/>
            <a:r>
              <a:rPr kumimoji="1" lang="zh-CN" altLang="en-US"/>
              <a:t>内核调度器的信息不足，无法完成及时调度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“短命”线程：执行时间亚毫秒级（如处理</a:t>
            </a:r>
            <a:r>
              <a:rPr kumimoji="1" lang="en-US" altLang="zh-CN"/>
              <a:t>web</a:t>
            </a:r>
            <a:r>
              <a:rPr kumimoji="1" lang="zh-CN" altLang="en-US"/>
              <a:t>请求）</a:t>
            </a:r>
            <a:endParaRPr kumimoji="1" lang="en-US" altLang="zh-CN"/>
          </a:p>
          <a:p>
            <a:pPr lvl="1"/>
            <a:r>
              <a:rPr kumimoji="1" lang="zh-CN" altLang="en-US"/>
              <a:t>内核线程初始化时间较长，造成执行开销</a:t>
            </a:r>
            <a:endParaRPr kumimoji="1" lang="en-US" altLang="zh-CN"/>
          </a:p>
          <a:p>
            <a:pPr lvl="1"/>
            <a:r>
              <a:rPr kumimoji="1" lang="zh-CN" altLang="en-US"/>
              <a:t>线程上下文切换频繁，开销较大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2BA02C-79AB-5D47-A83C-DBF978DEF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7969B2-6A2D-9F4C-A5C8-275A9281D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8817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B5DC2-192A-A048-9626-F50C3406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纤程（用户态线程）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9357F-456E-7546-9A46-905D2BCB6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比线程更加轻量级的运行时抽象</a:t>
            </a:r>
            <a:endParaRPr kumimoji="1" lang="en-US" altLang="zh-CN"/>
          </a:p>
          <a:p>
            <a:pPr lvl="1"/>
            <a:r>
              <a:rPr kumimoji="1" lang="zh-CN" altLang="en-US"/>
              <a:t>不单独对应内核线程</a:t>
            </a:r>
            <a:endParaRPr kumimoji="1" lang="en-US" altLang="zh-CN"/>
          </a:p>
          <a:p>
            <a:pPr lvl="1"/>
            <a:r>
              <a:rPr kumimoji="1" lang="zh-CN" altLang="en-US"/>
              <a:t>一个内核线程可以对应多个纤程（多对一）</a:t>
            </a:r>
            <a:endParaRPr kumimoji="1" lang="en-US" altLang="zh-CN"/>
          </a:p>
          <a:p>
            <a:pPr lvl="1"/>
            <a:endParaRPr kumimoji="1" lang="en-US" altLang="zh-CN"/>
          </a:p>
          <a:p>
            <a:r>
              <a:rPr kumimoji="1" lang="zh-CN" altLang="en-US"/>
              <a:t>纤程的优点</a:t>
            </a:r>
            <a:endParaRPr kumimoji="1" lang="en-US" altLang="zh-CN"/>
          </a:p>
          <a:p>
            <a:pPr lvl="1"/>
            <a:r>
              <a:rPr kumimoji="1" lang="zh-CN" altLang="en-US"/>
              <a:t>不需要创建内核线程，开销小</a:t>
            </a:r>
            <a:endParaRPr kumimoji="1" lang="en-US" altLang="zh-CN"/>
          </a:p>
          <a:p>
            <a:pPr lvl="1"/>
            <a:r>
              <a:rPr kumimoji="1" lang="zh-CN" altLang="en-US"/>
              <a:t>上下文切换快（不需要进入内核）</a:t>
            </a:r>
            <a:endParaRPr kumimoji="1" lang="en-US" altLang="zh-CN"/>
          </a:p>
          <a:p>
            <a:pPr lvl="1"/>
            <a:r>
              <a:rPr kumimoji="1" lang="zh-CN" altLang="en-US"/>
              <a:t>允许用户态自主调度，有助于做出更优的调度决策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B36494C-3334-C94F-A213-2FAA3EF96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02B51-CF55-7942-9E6D-54C2B96F4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79232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3BE6E8-81DD-E54A-8EC8-515A89AB5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Linux</a:t>
            </a:r>
            <a:r>
              <a:rPr kumimoji="1" lang="zh-CN" altLang="en-US"/>
              <a:t>对于纤程的支持：</a:t>
            </a:r>
            <a:r>
              <a:rPr kumimoji="1" lang="en-US" altLang="zh-CN"/>
              <a:t>ucontext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BFE4A1-A7FF-F24F-931C-881D4E376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/>
              <a:t>每个</a:t>
            </a:r>
            <a:r>
              <a:rPr kumimoji="1" lang="en-US" altLang="zh-CN"/>
              <a:t>ucontext</a:t>
            </a:r>
            <a:r>
              <a:rPr kumimoji="1" lang="zh-CN" altLang="en-US"/>
              <a:t>可以看作一个用户态线程</a:t>
            </a:r>
            <a:endParaRPr kumimoji="1" lang="en-US" altLang="zh-CN"/>
          </a:p>
          <a:p>
            <a:pPr lvl="1"/>
            <a:r>
              <a:rPr kumimoji="1" lang="en-US" altLang="zh-CN"/>
              <a:t>makecontext:</a:t>
            </a:r>
            <a:r>
              <a:rPr kumimoji="1" lang="zh-CN" altLang="en-US"/>
              <a:t> 创建新的</a:t>
            </a:r>
            <a:r>
              <a:rPr kumimoji="1" lang="en-US" altLang="zh-CN"/>
              <a:t>ucontext</a:t>
            </a:r>
          </a:p>
          <a:p>
            <a:pPr lvl="1"/>
            <a:r>
              <a:rPr kumimoji="1" lang="en-US" altLang="zh-CN"/>
              <a:t>setcontext:</a:t>
            </a:r>
            <a:r>
              <a:rPr kumimoji="1" lang="zh-CN" altLang="en-US"/>
              <a:t>纤程上下文切换</a:t>
            </a:r>
            <a:endParaRPr kumimoji="1" lang="en-US" altLang="zh-CN"/>
          </a:p>
          <a:p>
            <a:pPr lvl="1"/>
            <a:r>
              <a:rPr kumimoji="1" lang="en-US" altLang="zh-CN"/>
              <a:t>getcontext:</a:t>
            </a:r>
            <a:r>
              <a:rPr kumimoji="1" lang="zh-CN" altLang="en-US"/>
              <a:t>保存当前的</a:t>
            </a:r>
            <a:r>
              <a:rPr kumimoji="1" lang="en-US" altLang="zh-CN"/>
              <a:t>ucontext</a:t>
            </a:r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2242B9-87C2-624B-A09F-0827BCD0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45DE02-15A3-A347-B4B3-45BA1D5A7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85672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8CEF18-2FFF-1A45-A54B-867605033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纤程的例子：生产者－消费者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ADE383-B94B-C14B-BA07-E0F5878C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7D9D87-5C1C-0C4B-8C57-5FCDC0F74F8B}"/>
              </a:ext>
            </a:extLst>
          </p:cNvPr>
          <p:cNvSpPr txBox="1"/>
          <p:nvPr/>
        </p:nvSpPr>
        <p:spPr>
          <a:xfrm>
            <a:off x="611560" y="2017211"/>
            <a:ext cx="3493264" cy="12003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produce()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[++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rand();</a:t>
            </a:r>
          </a:p>
          <a:p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(&amp;cxt2);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11F479-FBA3-C347-951F-BFDF7877CCAF}"/>
              </a:ext>
            </a:extLst>
          </p:cNvPr>
          <p:cNvSpPr txBox="1"/>
          <p:nvPr/>
        </p:nvSpPr>
        <p:spPr>
          <a:xfrm>
            <a:off x="5292080" y="2017210"/>
            <a:ext cx="3217547" cy="120032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consume()</a:t>
            </a: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process(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cnt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kumimoji="1"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(&amp;cxt1);</a:t>
            </a:r>
          </a:p>
          <a:p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F2003BB-79C1-1646-B659-230DA81C1E9E}"/>
              </a:ext>
            </a:extLst>
          </p:cNvPr>
          <p:cNvCxnSpPr/>
          <p:nvPr/>
        </p:nvCxnSpPr>
        <p:spPr>
          <a:xfrm flipV="1">
            <a:off x="3635896" y="2233235"/>
            <a:ext cx="1656184" cy="50405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E531275-08B6-3045-A86C-5A8CED6C6D64}"/>
              </a:ext>
            </a:extLst>
          </p:cNvPr>
          <p:cNvSpPr txBox="1"/>
          <p:nvPr/>
        </p:nvSpPr>
        <p:spPr>
          <a:xfrm>
            <a:off x="1881138" y="1521286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生产者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7D02967-E8AA-0743-A347-C873CE6B9ED6}"/>
              </a:ext>
            </a:extLst>
          </p:cNvPr>
          <p:cNvSpPr txBox="1"/>
          <p:nvPr/>
        </p:nvSpPr>
        <p:spPr>
          <a:xfrm>
            <a:off x="6423799" y="150821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消费者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2EC2A39-8B08-A94F-A316-C2C420E36C7B}"/>
              </a:ext>
            </a:extLst>
          </p:cNvPr>
          <p:cNvCxnSpPr>
            <a:cxnSpLocks/>
          </p:cNvCxnSpPr>
          <p:nvPr/>
        </p:nvCxnSpPr>
        <p:spPr>
          <a:xfrm flipH="1" flipV="1">
            <a:off x="3635896" y="2227279"/>
            <a:ext cx="2232248" cy="5637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FC33DFCE-9B6A-C440-93C7-773B0E88D1E7}"/>
              </a:ext>
            </a:extLst>
          </p:cNvPr>
          <p:cNvSpPr txBox="1"/>
          <p:nvPr/>
        </p:nvSpPr>
        <p:spPr>
          <a:xfrm>
            <a:off x="2359002" y="4327072"/>
            <a:ext cx="4458272" cy="92333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(&amp;cxt1, produce, …);</a:t>
            </a:r>
          </a:p>
          <a:p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(&amp;cxt2, consume, …);</a:t>
            </a:r>
          </a:p>
          <a:p>
            <a:r>
              <a:rPr kumimoji="1"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setcontext</a:t>
            </a:r>
            <a:r>
              <a:rPr kumimoji="1"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(&amp;cxt1);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542281-9508-B04A-91C5-2932593070D3}"/>
              </a:ext>
            </a:extLst>
          </p:cNvPr>
          <p:cNvSpPr txBox="1"/>
          <p:nvPr/>
        </p:nvSpPr>
        <p:spPr>
          <a:xfrm>
            <a:off x="4126730" y="388901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主纤程</a:t>
            </a:r>
          </a:p>
        </p:txBody>
      </p:sp>
      <p:cxnSp>
        <p:nvCxnSpPr>
          <p:cNvPr id="22" name="曲线连接符 21">
            <a:extLst>
              <a:ext uri="{FF2B5EF4-FFF2-40B4-BE49-F238E27FC236}">
                <a16:creationId xmlns:a16="http://schemas.microsoft.com/office/drawing/2014/main" id="{04520F92-A869-D443-BE6C-216CE4354F32}"/>
              </a:ext>
            </a:extLst>
          </p:cNvPr>
          <p:cNvCxnSpPr>
            <a:cxnSpLocks/>
          </p:cNvCxnSpPr>
          <p:nvPr/>
        </p:nvCxnSpPr>
        <p:spPr>
          <a:xfrm rot="16200000" flipV="1">
            <a:off x="1852714" y="3344540"/>
            <a:ext cx="1109532" cy="855531"/>
          </a:xfrm>
          <a:prstGeom prst="curvedConnector3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曲线连接符 23">
            <a:extLst>
              <a:ext uri="{FF2B5EF4-FFF2-40B4-BE49-F238E27FC236}">
                <a16:creationId xmlns:a16="http://schemas.microsoft.com/office/drawing/2014/main" id="{5E1CE1F1-A407-B64E-9DE9-BCB586A1AD61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6817274" y="3208731"/>
            <a:ext cx="560632" cy="1580006"/>
          </a:xfrm>
          <a:prstGeom prst="curvedConnector2">
            <a:avLst/>
          </a:prstGeom>
          <a:ln w="254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72CD9055-2732-0349-8868-04AC9C902404}"/>
              </a:ext>
            </a:extLst>
          </p:cNvPr>
          <p:cNvCxnSpPr/>
          <p:nvPr/>
        </p:nvCxnSpPr>
        <p:spPr>
          <a:xfrm flipH="1" flipV="1">
            <a:off x="755576" y="2227279"/>
            <a:ext cx="1651904" cy="2790461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D15607E-A2B0-2B49-89C3-75E0D5132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47055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3949E-7AE7-EE47-8751-4E2DE8C4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纤程的切换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D2308F-7A69-7743-8DC9-23EB2F306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3E316B9-BBFB-994C-AFA9-42A94195C0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51" b="1"/>
          <a:stretch/>
        </p:blipFill>
        <p:spPr>
          <a:xfrm>
            <a:off x="839240" y="1280753"/>
            <a:ext cx="7465520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8666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034C12-8F0D-1F47-9BCE-DE5F0497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从例子看纤程的优势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27FC6-62CD-5644-9298-6D2A8ED84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纤程切换及时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当生产者完成任务后，可直接用户态切换到消费者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对该线程来说是最优调度（内核调度器和难做到）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高效上下文切换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切换不进入内核态，开销小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即时频繁切换也不会造成过大开销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1900</a:t>
            </a:r>
            <a:r>
              <a:rPr kumimoji="1" lang="zh-CN" altLang="en-US" dirty="0"/>
              <a:t>纳秒 </a:t>
            </a:r>
            <a:r>
              <a:rPr kumimoji="1" lang="en-US" altLang="zh-CN" dirty="0"/>
              <a:t>VS.</a:t>
            </a:r>
            <a:r>
              <a:rPr kumimoji="1" lang="zh-CN" altLang="en-US" dirty="0"/>
              <a:t> </a:t>
            </a:r>
            <a:r>
              <a:rPr kumimoji="1" lang="en-US" altLang="zh-CN" dirty="0"/>
              <a:t>500</a:t>
            </a:r>
            <a:r>
              <a:rPr kumimoji="1" lang="zh-CN" altLang="en-US" dirty="0"/>
              <a:t>纳秒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BD9754-1B17-B749-A2C1-3DE59CB8A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B95893-3766-C145-9AF6-05258D35FD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884" y="3361557"/>
            <a:ext cx="3215625" cy="21602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358826C-E9CB-DC47-AED6-2F42960A93BE}"/>
              </a:ext>
            </a:extLst>
          </p:cNvPr>
          <p:cNvSpPr txBox="1"/>
          <p:nvPr/>
        </p:nvSpPr>
        <p:spPr>
          <a:xfrm>
            <a:off x="5383838" y="4963488"/>
            <a:ext cx="8443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(producer)</a:t>
            </a:r>
            <a:endParaRPr kumimoji="1" lang="zh-CN" altLang="en-US" sz="12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CFCB691-F09F-BF4A-B86D-86C6DD153821}"/>
              </a:ext>
            </a:extLst>
          </p:cNvPr>
          <p:cNvSpPr txBox="1"/>
          <p:nvPr/>
        </p:nvSpPr>
        <p:spPr>
          <a:xfrm>
            <a:off x="7203266" y="4958298"/>
            <a:ext cx="909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 dirty="0"/>
              <a:t>(consumer)</a:t>
            </a:r>
            <a:endParaRPr kumimoji="1" lang="zh-CN" altLang="en-US" sz="1200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8B9FF3-123A-2249-9290-1C4C67700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72787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5380B7-B9E6-FC40-8396-00E2B7008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程序语言中对纤程的支持：协程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8E9EB-4505-1C42-B2A4-DA3AD2D82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许多高级程序语言都对协程提供了支持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go</a:t>
            </a:r>
            <a:r>
              <a:rPr kumimoji="1" lang="zh-CN" altLang="en-US" dirty="0"/>
              <a:t>、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、</a:t>
            </a:r>
            <a:r>
              <a:rPr kumimoji="1" lang="en-US" altLang="zh-CN" dirty="0" err="1"/>
              <a:t>lua</a:t>
            </a:r>
            <a:r>
              <a:rPr kumimoji="1" lang="en-US" altLang="zh-CN" dirty="0"/>
              <a:t>……</a:t>
            </a:r>
          </a:p>
          <a:p>
            <a:pPr lvl="1"/>
            <a:r>
              <a:rPr kumimoji="1" lang="en-US" altLang="zh-CN" dirty="0"/>
              <a:t>C++</a:t>
            </a:r>
            <a:r>
              <a:rPr kumimoji="1" lang="zh-CN" altLang="en-US" dirty="0"/>
              <a:t>自</a:t>
            </a:r>
            <a:r>
              <a:rPr kumimoji="1" lang="en-US" altLang="zh-CN" dirty="0"/>
              <a:t>20</a:t>
            </a:r>
            <a:r>
              <a:rPr kumimoji="1" lang="zh-CN" altLang="en-US" dirty="0"/>
              <a:t>开始也支持了协程</a:t>
            </a:r>
            <a:endParaRPr kumimoji="1" lang="en-US" altLang="zh-CN" dirty="0"/>
          </a:p>
          <a:p>
            <a:r>
              <a:rPr kumimoji="1" lang="zh-CN" altLang="en-US" dirty="0"/>
              <a:t>协程也拥有状态（新生／暂停／终止／执行）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核心操作：</a:t>
            </a:r>
            <a:r>
              <a:rPr kumimoji="1" lang="en-US" altLang="zh-CN" dirty="0"/>
              <a:t>yield</a:t>
            </a:r>
            <a:r>
              <a:rPr kumimoji="1" lang="zh-CN" altLang="en-US" dirty="0"/>
              <a:t>（使协程暂停执行）、</a:t>
            </a:r>
            <a:r>
              <a:rPr kumimoji="1" lang="en-US" altLang="zh-CN" dirty="0"/>
              <a:t>resume</a:t>
            </a:r>
            <a:r>
              <a:rPr kumimoji="1" lang="zh-CN" altLang="en-US" dirty="0"/>
              <a:t>（继续执行）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187AC4-0B9D-284F-A1F1-84F6AF98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758D2F5-2553-3C40-9F89-4B1F51A85D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3720122"/>
            <a:ext cx="3384376" cy="1728975"/>
          </a:xfrm>
          <a:prstGeom prst="rect">
            <a:avLst/>
          </a:prstGeom>
        </p:spPr>
      </p:pic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EB257A-8ECA-6F4B-98E3-7B03FF0BD6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2600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59869</TotalTime>
  <Words>5270</Words>
  <Application>Microsoft Macintosh PowerPoint</Application>
  <PresentationFormat>全屏显示(16:10)</PresentationFormat>
  <Paragraphs>918</Paragraphs>
  <Slides>66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66</vt:i4>
      </vt:variant>
    </vt:vector>
  </HeadingPairs>
  <TitlesOfParts>
    <vt:vector size="76" baseType="lpstr">
      <vt:lpstr>DengXian</vt:lpstr>
      <vt:lpstr>Microsoft YaHei</vt:lpstr>
      <vt:lpstr>Microsoft YaHei</vt:lpstr>
      <vt:lpstr>Arial</vt:lpstr>
      <vt:lpstr>Calibri</vt:lpstr>
      <vt:lpstr>Candara</vt:lpstr>
      <vt:lpstr>Comic Sans MS</vt:lpstr>
      <vt:lpstr>Consolas</vt:lpstr>
      <vt:lpstr>Courier New</vt:lpstr>
      <vt:lpstr>Office 主题​​</vt:lpstr>
      <vt:lpstr>进程与线程</vt:lpstr>
      <vt:lpstr>版权声明</vt:lpstr>
      <vt:lpstr>线程</vt:lpstr>
      <vt:lpstr>为什么需要线程？</vt:lpstr>
      <vt:lpstr>背景：单台设备计算资源逐渐丰富</vt:lpstr>
      <vt:lpstr>简单方法：进程+调度</vt:lpstr>
      <vt:lpstr>简单方法：进程+调度</vt:lpstr>
      <vt:lpstr>简单方法：进程+调度</vt:lpstr>
      <vt:lpstr>Fork方法存在的局限</vt:lpstr>
      <vt:lpstr>解决方案：能否使单一进程跨核执行？</vt:lpstr>
      <vt:lpstr>线程：更加轻量级的运行时抽象</vt:lpstr>
      <vt:lpstr>线程</vt:lpstr>
      <vt:lpstr>从进程到线程的发展历史（一）</vt:lpstr>
      <vt:lpstr>从进程到线程的发展历史（二）</vt:lpstr>
      <vt:lpstr>多线程的进程</vt:lpstr>
      <vt:lpstr>多线程进程的地址空间</vt:lpstr>
      <vt:lpstr>用户态线程与内核态线程</vt:lpstr>
      <vt:lpstr>线程模型</vt:lpstr>
      <vt:lpstr>多对一模型</vt:lpstr>
      <vt:lpstr>一对一模型</vt:lpstr>
      <vt:lpstr>多对多模型（又叫Scheduler Activation）</vt:lpstr>
      <vt:lpstr>线程的相关数据结构：TCB</vt:lpstr>
      <vt:lpstr>线程的基本操作：以pthreads为例</vt:lpstr>
      <vt:lpstr>线程的基本操作：以pthreads为例</vt:lpstr>
      <vt:lpstr>对比：进程vs. 线程</vt:lpstr>
      <vt:lpstr>对比：进程vs. 线程</vt:lpstr>
      <vt:lpstr>程序员如何使用线程</vt:lpstr>
      <vt:lpstr>在程序中如何使用线程？</vt:lpstr>
      <vt:lpstr>使用线程的程序示例（创建）</vt:lpstr>
      <vt:lpstr>使用线程的程序示例（创建）</vt:lpstr>
      <vt:lpstr>使用线程的程序示例（创建）</vt:lpstr>
      <vt:lpstr>使用线程的程序示例（创建）</vt:lpstr>
      <vt:lpstr>使用线程的程序示例（创建）</vt:lpstr>
      <vt:lpstr>程序控制流分析</vt:lpstr>
      <vt:lpstr>程序控制流分析</vt:lpstr>
      <vt:lpstr>解决方案：加入join操作</vt:lpstr>
      <vt:lpstr>加入join之后的程序控制流</vt:lpstr>
      <vt:lpstr>基于join的方法存在什么问题？</vt:lpstr>
      <vt:lpstr>解决方案：加入detach操作</vt:lpstr>
      <vt:lpstr>如果detach和join一起使用会怎么样？</vt:lpstr>
      <vt:lpstr>detach代表线程完全独立了吗？</vt:lpstr>
      <vt:lpstr>解决方案：加入pthread_exit</vt:lpstr>
      <vt:lpstr>pthreads使用小结</vt:lpstr>
      <vt:lpstr>TLS：线程本地存储</vt:lpstr>
      <vt:lpstr>新问题：多线程的错误处理（errno）</vt:lpstr>
      <vt:lpstr>新问题：多线程的错误处理（errno）</vt:lpstr>
      <vt:lpstr>新问题：多线程的错误处理（errno）</vt:lpstr>
      <vt:lpstr>同名不同变量的实现方法：TLS</vt:lpstr>
      <vt:lpstr>线程的实现</vt:lpstr>
      <vt:lpstr>回顾：进程的内核“户口”：PCB</vt:lpstr>
      <vt:lpstr>线程对应数据结构：TCB（线程控制块）</vt:lpstr>
      <vt:lpstr>数据结构变化示意图</vt:lpstr>
      <vt:lpstr>线程创建的实现</vt:lpstr>
      <vt:lpstr>线程创建的实现</vt:lpstr>
      <vt:lpstr>线程退出的实现</vt:lpstr>
      <vt:lpstr>与进程管理接口的关系：以fork为例</vt:lpstr>
      <vt:lpstr>与进程管理接口的关系：以fork为例</vt:lpstr>
      <vt:lpstr>与进程管理接口的关系：以fork为例</vt:lpstr>
      <vt:lpstr>纤程</vt:lpstr>
      <vt:lpstr>一对一线程模型的局限</vt:lpstr>
      <vt:lpstr>纤程（用户态线程）</vt:lpstr>
      <vt:lpstr>Linux对于纤程的支持：ucontext</vt:lpstr>
      <vt:lpstr>纤程的例子：生产者－消费者</vt:lpstr>
      <vt:lpstr>纤程的切换</vt:lpstr>
      <vt:lpstr>从例子看纤程的优势</vt:lpstr>
      <vt:lpstr>程序语言中对纤程的支持：协程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4978</cp:revision>
  <cp:lastPrinted>2016-06-13T07:55:34Z</cp:lastPrinted>
  <dcterms:created xsi:type="dcterms:W3CDTF">2017-11-24T09:35:45Z</dcterms:created>
  <dcterms:modified xsi:type="dcterms:W3CDTF">2024-06-14T15:20:34Z</dcterms:modified>
</cp:coreProperties>
</file>