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1306" r:id="rId2"/>
    <p:sldId id="1359" r:id="rId3"/>
    <p:sldId id="2782" r:id="rId4"/>
    <p:sldId id="2783" r:id="rId5"/>
    <p:sldId id="2784" r:id="rId6"/>
    <p:sldId id="2785" r:id="rId7"/>
    <p:sldId id="2846" r:id="rId8"/>
    <p:sldId id="2788" r:id="rId9"/>
    <p:sldId id="2847" r:id="rId10"/>
    <p:sldId id="2849" r:id="rId11"/>
    <p:sldId id="2851" r:id="rId12"/>
    <p:sldId id="2852" r:id="rId13"/>
    <p:sldId id="2853" r:id="rId14"/>
    <p:sldId id="2813" r:id="rId15"/>
    <p:sldId id="2854" r:id="rId16"/>
    <p:sldId id="2929" r:id="rId17"/>
    <p:sldId id="1987" r:id="rId18"/>
    <p:sldId id="2930" r:id="rId19"/>
    <p:sldId id="2233" r:id="rId20"/>
    <p:sldId id="2928" r:id="rId21"/>
    <p:sldId id="2927" r:id="rId22"/>
    <p:sldId id="2926" r:id="rId23"/>
    <p:sldId id="2932" r:id="rId24"/>
    <p:sldId id="2882" r:id="rId25"/>
    <p:sldId id="2933" r:id="rId26"/>
    <p:sldId id="2258" r:id="rId27"/>
    <p:sldId id="2265" r:id="rId28"/>
    <p:sldId id="2260" r:id="rId29"/>
    <p:sldId id="2881" r:id="rId30"/>
    <p:sldId id="2269" r:id="rId31"/>
    <p:sldId id="270" r:id="rId32"/>
    <p:sldId id="2938" r:id="rId33"/>
    <p:sldId id="2256" r:id="rId34"/>
    <p:sldId id="2935" r:id="rId35"/>
    <p:sldId id="366" r:id="rId36"/>
    <p:sldId id="2870" r:id="rId37"/>
    <p:sldId id="2860" r:id="rId38"/>
    <p:sldId id="2868" r:id="rId39"/>
    <p:sldId id="2871" r:id="rId40"/>
    <p:sldId id="2858" r:id="rId41"/>
    <p:sldId id="2872" r:id="rId42"/>
    <p:sldId id="2746" r:id="rId43"/>
    <p:sldId id="2937" r:id="rId44"/>
    <p:sldId id="2874" r:id="rId45"/>
    <p:sldId id="2239" r:id="rId46"/>
    <p:sldId id="2936" r:id="rId47"/>
    <p:sldId id="1388" r:id="rId48"/>
    <p:sldId id="2809" r:id="rId49"/>
    <p:sldId id="2275" r:id="rId5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BE384B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55" autoAdjust="0"/>
    <p:restoredTop sz="85714" autoAdjust="0"/>
  </p:normalViewPr>
  <p:slideViewPr>
    <p:cSldViewPr>
      <p:cViewPr varScale="1">
        <p:scale>
          <a:sx n="125" d="100"/>
          <a:sy n="125" d="100"/>
        </p:scale>
        <p:origin x="792" y="17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5</c:v>
                </c:pt>
                <c:pt idx="1">
                  <c:v>32</c:v>
                </c:pt>
                <c:pt idx="2">
                  <c:v>82</c:v>
                </c:pt>
                <c:pt idx="3">
                  <c:v>114</c:v>
                </c:pt>
                <c:pt idx="4">
                  <c:v>168</c:v>
                </c:pt>
                <c:pt idx="5">
                  <c:v>203</c:v>
                </c:pt>
                <c:pt idx="6">
                  <c:v>250</c:v>
                </c:pt>
                <c:pt idx="7">
                  <c:v>279</c:v>
                </c:pt>
                <c:pt idx="8">
                  <c:v>308</c:v>
                </c:pt>
                <c:pt idx="9">
                  <c:v>321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05-1F47-B00C-0D24D26469D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25523360"/>
        <c:axId val="440496016"/>
      </c:lineChart>
      <c:catAx>
        <c:axId val="325523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40496016"/>
        <c:crosses val="autoZero"/>
        <c:auto val="0"/>
        <c:lblAlgn val="ctr"/>
        <c:lblOffset val="100"/>
        <c:noMultiLvlLbl val="0"/>
      </c:catAx>
      <c:valAx>
        <c:axId val="440496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5523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0908384492172846"/>
          <c:y val="0.7195167815021265"/>
          <c:w val="0.58282395433784617"/>
          <c:h val="0.155705842649794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10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854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18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D7246-93AA-45B6-8137-2D1467FC970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97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但是我们看到，目前具有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D7246-93AA-45B6-8137-2D1467FC970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28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正如前面提到，现阶段是硬件特性爆发阶段，各家的硬件还没有完全形成合适的、统一的隔离抽象。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提出的隔离是物理机粒度、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提出的则是非常细粒度的应用片段隔离。</a:t>
            </a:r>
            <a:endParaRPr kumimoji="1" lang="en-US" altLang="zh-CN" dirty="0"/>
          </a:p>
          <a:p>
            <a:r>
              <a:rPr kumimoji="1" lang="zh-CN" altLang="en-US" dirty="0"/>
              <a:t>这是两个极端，粒度细的优点是内部逻辑简单，但内外交互的接口很复杂，因为具有高层语义；而粒度粗则相反，交互接口很底层、很简单，但隔离环境内部的层次多，所以逻辑复杂。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2013</a:t>
            </a:r>
            <a:r>
              <a:rPr kumimoji="1" lang="zh-CN" altLang="en-US" dirty="0"/>
              <a:t>年，我们提出了一种基于加密内存保护的虚拟机抽象，在内部复杂性与交互复杂性之间找到一个平衡点。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297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620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38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638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990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21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Accesses to cacheable memory retain their associated PAS until reaching the Point of Physical Aliasing (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NimbusRomNo9L-Regu"/>
              </a:rPr>
              <a:t>PoPA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)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209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653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741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在 </a:t>
            </a:r>
            <a:r>
              <a:rPr lang="en-US" altLang="zh-CN" sz="1200" dirty="0"/>
              <a:t>TwinVisor </a:t>
            </a:r>
            <a:r>
              <a:rPr lang="zh-CN" altLang="en-US" sz="1200" dirty="0"/>
              <a:t>的威胁模型中，只有 </a:t>
            </a:r>
            <a:r>
              <a:rPr lang="en-US" altLang="zh-CN" sz="1200" dirty="0"/>
              <a:t>S-visor </a:t>
            </a:r>
            <a:r>
              <a:rPr lang="zh-CN" altLang="en-US" sz="1200" dirty="0"/>
              <a:t>和</a:t>
            </a:r>
            <a:r>
              <a:rPr lang="en-US" altLang="zh-CN" sz="1200" dirty="0"/>
              <a:t>EL3</a:t>
            </a:r>
            <a:r>
              <a:rPr lang="zh-CN" altLang="en-US" sz="1200" dirty="0"/>
              <a:t>中的固件属于</a:t>
            </a:r>
            <a:r>
              <a:rPr lang="en-US" altLang="zh-CN" sz="1200" dirty="0"/>
              <a:t>TCB</a:t>
            </a:r>
            <a:r>
              <a:rPr lang="zh-CN" altLang="en-US" sz="1200" dirty="0"/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N-VMs</a:t>
            </a:r>
            <a:r>
              <a:rPr lang="zh-CN" altLang="en-US" sz="1200" dirty="0"/>
              <a:t>和</a:t>
            </a:r>
            <a:r>
              <a:rPr lang="en-US" altLang="zh-CN" sz="1200" dirty="0"/>
              <a:t>N-visor</a:t>
            </a:r>
            <a:r>
              <a:rPr lang="zh-CN" altLang="en-US" sz="1200" dirty="0"/>
              <a:t>可以被攻击者入侵并控制，而</a:t>
            </a:r>
            <a:r>
              <a:rPr lang="en-US" altLang="zh-CN" sz="1200" dirty="0"/>
              <a:t>S-VMs</a:t>
            </a:r>
            <a:r>
              <a:rPr lang="zh-CN" altLang="en-US" sz="1200" dirty="0"/>
              <a:t>可能被恶意的云租户控制。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物理攻击、</a:t>
            </a:r>
            <a:r>
              <a:rPr lang="en-US" altLang="zh-CN" sz="1200" dirty="0"/>
              <a:t>side-channel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DoS</a:t>
            </a:r>
            <a:r>
              <a:rPr lang="zh-CN" altLang="en-US" sz="1200" dirty="0"/>
              <a:t>攻击不在</a:t>
            </a:r>
            <a:r>
              <a:rPr lang="en-US" altLang="zh-CN" sz="1200" dirty="0"/>
              <a:t>TwinVisor</a:t>
            </a:r>
            <a:r>
              <a:rPr lang="zh-CN" altLang="en-US" sz="1200" dirty="0"/>
              <a:t>的考虑范围内，这些攻击的防御方法与</a:t>
            </a:r>
            <a:r>
              <a:rPr lang="en-US" altLang="zh-CN" sz="1200" dirty="0"/>
              <a:t>TwinVisor</a:t>
            </a:r>
            <a:r>
              <a:rPr lang="zh-CN" altLang="en-US" sz="1200" dirty="0"/>
              <a:t>的设计是正交的。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TwinVisor</a:t>
            </a:r>
            <a:r>
              <a:rPr lang="zh-CN" altLang="en-US" sz="1200" dirty="0"/>
              <a:t>假设设备供应商提供硬件支持的</a:t>
            </a:r>
            <a:r>
              <a:rPr lang="en-US" altLang="zh-CN" sz="1200" dirty="0"/>
              <a:t>root of trust</a:t>
            </a:r>
            <a:r>
              <a:rPr lang="zh-CN" altLang="en-US" sz="1200" dirty="0"/>
              <a:t>以进行</a:t>
            </a:r>
            <a:r>
              <a:rPr lang="en-US" altLang="zh-CN" sz="1200" dirty="0"/>
              <a:t>attestation</a:t>
            </a:r>
            <a:r>
              <a:rPr lang="zh-CN" altLang="en-US" sz="1200" dirty="0"/>
              <a:t>，而</a:t>
            </a:r>
            <a:r>
              <a:rPr lang="en-US" altLang="zh-CN" sz="1200" dirty="0"/>
              <a:t>S-VM</a:t>
            </a:r>
            <a:r>
              <a:rPr lang="zh-CN" altLang="en-US" sz="1200" dirty="0"/>
              <a:t>则通过加密和完整性检查来保护自己的</a:t>
            </a:r>
            <a:r>
              <a:rPr lang="en-US" altLang="zh-CN" sz="1200" dirty="0"/>
              <a:t>I/O</a:t>
            </a:r>
            <a:r>
              <a:rPr lang="zh-CN" altLang="en-US" sz="1200" dirty="0"/>
              <a:t>数据安全。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613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48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tiff"/><Relationship Id="rId5" Type="http://schemas.openxmlformats.org/officeDocument/2006/relationships/image" Target="../media/image7.tiff"/><Relationship Id="rId4" Type="http://schemas.openxmlformats.org/officeDocument/2006/relationships/image" Target="../media/image6.tif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1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机密虚拟化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C0CB1990-48D6-D1EA-0B36-BEDF00ED7F6B}"/>
              </a:ext>
            </a:extLst>
          </p:cNvPr>
          <p:cNvSpPr txBox="1">
            <a:spLocks/>
          </p:cNvSpPr>
          <p:nvPr/>
        </p:nvSpPr>
        <p:spPr>
          <a:xfrm>
            <a:off x="685800" y="3412362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242D12B-82E2-4C66-5846-F5465A86A909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0926E-1163-3240-B916-1821B8A5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回顾：实现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虚拟化的方式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96671-2850-2B4A-8D36-241AE0790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、设备模拟（</a:t>
            </a:r>
            <a:r>
              <a:rPr kumimoji="1" lang="en-US" altLang="zh-CN" dirty="0"/>
              <a:t>Emulation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、半虚拟化方式（</a:t>
            </a:r>
            <a:r>
              <a:rPr kumimoji="1" lang="en-US" altLang="zh-CN" dirty="0"/>
              <a:t>Para-virtualization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、设备直通（</a:t>
            </a:r>
            <a:r>
              <a:rPr kumimoji="1" lang="en-US" altLang="zh-CN" dirty="0"/>
              <a:t>Pass-through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2EFA6-D663-DB43-9A38-A9F0A5C1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55AE2-7245-6748-854F-D03D45979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914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49F09-2683-2146-A575-083E3F77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：设备模拟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20B86-1A68-0543-9D4E-232E9BDB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806"/>
            <a:ext cx="8229600" cy="3371137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OS</a:t>
            </a:r>
            <a:r>
              <a:rPr kumimoji="1" lang="zh-CN" altLang="en-US" sz="2000" dirty="0"/>
              <a:t>与设备交互的硬件接口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模拟寄存器</a:t>
            </a:r>
            <a:r>
              <a:rPr kumimoji="1" lang="en-US" altLang="zh-CN" sz="1800" dirty="0"/>
              <a:t>(</a:t>
            </a:r>
            <a:r>
              <a:rPr kumimoji="1" lang="zh-CN" altLang="en-US" sz="1800" dirty="0"/>
              <a:t>中断等</a:t>
            </a:r>
            <a:r>
              <a:rPr kumimoji="1" lang="en-US" altLang="zh-CN" sz="1800" dirty="0"/>
              <a:t>)</a:t>
            </a:r>
          </a:p>
          <a:p>
            <a:pPr lvl="1"/>
            <a:r>
              <a:rPr kumimoji="1" lang="zh-CN" altLang="en-US" sz="1800" dirty="0"/>
              <a:t>捕捉</a:t>
            </a:r>
            <a:r>
              <a:rPr kumimoji="1" lang="en-US" altLang="zh-CN" sz="1800" dirty="0"/>
              <a:t>MMIO</a:t>
            </a:r>
            <a:r>
              <a:rPr kumimoji="1" lang="zh-CN" altLang="en-US" sz="1800" dirty="0"/>
              <a:t>操作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硬件虚拟化的方式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硬件虚拟化捕捉</a:t>
            </a:r>
            <a:r>
              <a:rPr kumimoji="1" lang="en-US" altLang="zh-CN" sz="1800" dirty="0"/>
              <a:t>PIO</a:t>
            </a:r>
            <a:r>
              <a:rPr kumimoji="1" lang="zh-CN" altLang="en-US" sz="1800" dirty="0"/>
              <a:t>指令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MMIO</a:t>
            </a:r>
            <a:r>
              <a:rPr kumimoji="1" lang="zh-CN" altLang="en-US" sz="1800" dirty="0"/>
              <a:t>对应内存在第二阶段页表中设置为</a:t>
            </a:r>
            <a:r>
              <a:rPr kumimoji="1" lang="en-US" altLang="zh-CN" sz="1800" dirty="0"/>
              <a:t>invalid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9F0E1-7EBE-444D-9C61-9CD43271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287E2-21D2-E742-ABD8-E0BE875D5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45477CE5-B0F7-F64E-9306-4D7908FF2382}"/>
              </a:ext>
            </a:extLst>
          </p:cNvPr>
          <p:cNvSpPr/>
          <p:nvPr/>
        </p:nvSpPr>
        <p:spPr>
          <a:xfrm>
            <a:off x="4495061" y="2613780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D5C16582-2DB4-C940-8EFD-8E46C79100D2}"/>
              </a:ext>
            </a:extLst>
          </p:cNvPr>
          <p:cNvSpPr/>
          <p:nvPr/>
        </p:nvSpPr>
        <p:spPr>
          <a:xfrm>
            <a:off x="4427984" y="1633364"/>
            <a:ext cx="1800200" cy="46202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OS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D3682DCC-9086-9D4D-8BD5-22264D7E2CA5}"/>
              </a:ext>
            </a:extLst>
          </p:cNvPr>
          <p:cNvCxnSpPr/>
          <p:nvPr/>
        </p:nvCxnSpPr>
        <p:spPr>
          <a:xfrm>
            <a:off x="4385699" y="2469975"/>
            <a:ext cx="198128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extLst>
              <a:ext uri="{FF2B5EF4-FFF2-40B4-BE49-F238E27FC236}">
                <a16:creationId xmlns:a16="http://schemas.microsoft.com/office/drawing/2014/main" id="{71CB81A4-7D63-1E46-926C-C3D007434A99}"/>
              </a:ext>
            </a:extLst>
          </p:cNvPr>
          <p:cNvSpPr/>
          <p:nvPr/>
        </p:nvSpPr>
        <p:spPr>
          <a:xfrm>
            <a:off x="4433396" y="1148679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B024DEEA-BB7A-C047-BDD5-13F5442C98FD}"/>
              </a:ext>
            </a:extLst>
          </p:cNvPr>
          <p:cNvSpPr/>
          <p:nvPr/>
        </p:nvSpPr>
        <p:spPr>
          <a:xfrm>
            <a:off x="5436096" y="1129308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33D7B41F-3D35-3B40-98A7-5D71BAF0A21B}"/>
              </a:ext>
            </a:extLst>
          </p:cNvPr>
          <p:cNvSpPr/>
          <p:nvPr/>
        </p:nvSpPr>
        <p:spPr>
          <a:xfrm>
            <a:off x="6975872" y="1993404"/>
            <a:ext cx="1761833" cy="32220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0D73C13C-04D6-AC4B-A8C8-DF1D0B4BE87A}"/>
              </a:ext>
            </a:extLst>
          </p:cNvPr>
          <p:cNvSpPr/>
          <p:nvPr/>
        </p:nvSpPr>
        <p:spPr>
          <a:xfrm>
            <a:off x="7907635" y="1397969"/>
            <a:ext cx="835531" cy="46202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VM-2</a:t>
            </a:r>
          </a:p>
        </p:txBody>
      </p:sp>
      <p:sp>
        <p:nvSpPr>
          <p:cNvPr id="17" name="Rectangle 24">
            <a:extLst>
              <a:ext uri="{FF2B5EF4-FFF2-40B4-BE49-F238E27FC236}">
                <a16:creationId xmlns:a16="http://schemas.microsoft.com/office/drawing/2014/main" id="{8D352E57-64D7-AD46-8996-989D86268863}"/>
              </a:ext>
            </a:extLst>
          </p:cNvPr>
          <p:cNvSpPr/>
          <p:nvPr/>
        </p:nvSpPr>
        <p:spPr>
          <a:xfrm>
            <a:off x="6975872" y="2594409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512AF890-E286-BE43-893C-DA18F6992485}"/>
              </a:ext>
            </a:extLst>
          </p:cNvPr>
          <p:cNvSpPr/>
          <p:nvPr/>
        </p:nvSpPr>
        <p:spPr>
          <a:xfrm>
            <a:off x="6980803" y="1397969"/>
            <a:ext cx="835531" cy="46202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VM-1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9" name="Straight Connector 13">
            <a:extLst>
              <a:ext uri="{FF2B5EF4-FFF2-40B4-BE49-F238E27FC236}">
                <a16:creationId xmlns:a16="http://schemas.microsoft.com/office/drawing/2014/main" id="{7BD4B133-8AFA-3041-A300-8E702B37758D}"/>
              </a:ext>
            </a:extLst>
          </p:cNvPr>
          <p:cNvCxnSpPr/>
          <p:nvPr/>
        </p:nvCxnSpPr>
        <p:spPr>
          <a:xfrm>
            <a:off x="6866510" y="2450604"/>
            <a:ext cx="198128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extLst>
              <a:ext uri="{FF2B5EF4-FFF2-40B4-BE49-F238E27FC236}">
                <a16:creationId xmlns:a16="http://schemas.microsoft.com/office/drawing/2014/main" id="{70D2E657-A649-9844-A693-A426B3E2DCDA}"/>
              </a:ext>
            </a:extLst>
          </p:cNvPr>
          <p:cNvSpPr/>
          <p:nvPr/>
        </p:nvSpPr>
        <p:spPr>
          <a:xfrm>
            <a:off x="6986215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6F5FAE9F-4BC1-714E-9921-EB38BF536095}"/>
              </a:ext>
            </a:extLst>
          </p:cNvPr>
          <p:cNvSpPr/>
          <p:nvPr/>
        </p:nvSpPr>
        <p:spPr>
          <a:xfrm>
            <a:off x="7453321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F78511F3-3185-3041-8E39-186E174933F1}"/>
              </a:ext>
            </a:extLst>
          </p:cNvPr>
          <p:cNvSpPr/>
          <p:nvPr/>
        </p:nvSpPr>
        <p:spPr>
          <a:xfrm>
            <a:off x="7917977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00FA60D5-D7F8-904C-A0F2-676F3F43363B}"/>
              </a:ext>
            </a:extLst>
          </p:cNvPr>
          <p:cNvSpPr/>
          <p:nvPr/>
        </p:nvSpPr>
        <p:spPr>
          <a:xfrm>
            <a:off x="8385083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93A3D695-9B6F-144F-9703-C4C1FAFF04AB}"/>
              </a:ext>
            </a:extLst>
          </p:cNvPr>
          <p:cNvCxnSpPr>
            <a:cxnSpLocks/>
          </p:cNvCxnSpPr>
          <p:nvPr/>
        </p:nvCxnSpPr>
        <p:spPr>
          <a:xfrm>
            <a:off x="5076056" y="2137420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3FCB49E5-FA9E-4F4D-B839-7FCCC38B955A}"/>
              </a:ext>
            </a:extLst>
          </p:cNvPr>
          <p:cNvCxnSpPr/>
          <p:nvPr/>
        </p:nvCxnSpPr>
        <p:spPr>
          <a:xfrm>
            <a:off x="5868144" y="2137420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6DE2C1F-C8D8-A047-86ED-F7B05427D663}"/>
              </a:ext>
            </a:extLst>
          </p:cNvPr>
          <p:cNvSpPr txBox="1"/>
          <p:nvPr/>
        </p:nvSpPr>
        <p:spPr>
          <a:xfrm>
            <a:off x="5292080" y="213742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MMIO</a:t>
            </a:r>
            <a:endParaRPr kumimoji="1" lang="zh-CN" altLang="en-US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DDB1781-A0B5-A944-BFBB-D326C9CC3A87}"/>
              </a:ext>
            </a:extLst>
          </p:cNvPr>
          <p:cNvSpPr txBox="1"/>
          <p:nvPr/>
        </p:nvSpPr>
        <p:spPr>
          <a:xfrm>
            <a:off x="4427984" y="2137420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寄存器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B52C7A0-3CF2-924E-90D5-7EDBDCD55936}"/>
              </a:ext>
            </a:extLst>
          </p:cNvPr>
          <p:cNvCxnSpPr>
            <a:cxnSpLocks/>
          </p:cNvCxnSpPr>
          <p:nvPr/>
        </p:nvCxnSpPr>
        <p:spPr>
          <a:xfrm>
            <a:off x="7164288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2E6DBC16-98A9-BB46-87FE-84A8FB8C8D19}"/>
              </a:ext>
            </a:extLst>
          </p:cNvPr>
          <p:cNvCxnSpPr>
            <a:cxnSpLocks/>
          </p:cNvCxnSpPr>
          <p:nvPr/>
        </p:nvCxnSpPr>
        <p:spPr>
          <a:xfrm>
            <a:off x="7380312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67D758A6-5F61-C14F-8411-21B4BA5903FE}"/>
              </a:ext>
            </a:extLst>
          </p:cNvPr>
          <p:cNvCxnSpPr>
            <a:cxnSpLocks/>
          </p:cNvCxnSpPr>
          <p:nvPr/>
        </p:nvCxnSpPr>
        <p:spPr>
          <a:xfrm>
            <a:off x="7596336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E759DFC3-178A-5742-860B-339F2333AD8F}"/>
              </a:ext>
            </a:extLst>
          </p:cNvPr>
          <p:cNvCxnSpPr>
            <a:cxnSpLocks/>
          </p:cNvCxnSpPr>
          <p:nvPr/>
        </p:nvCxnSpPr>
        <p:spPr>
          <a:xfrm>
            <a:off x="8100392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4D466632-216C-B243-B3A9-6DB3DCB6B71B}"/>
              </a:ext>
            </a:extLst>
          </p:cNvPr>
          <p:cNvCxnSpPr>
            <a:cxnSpLocks/>
          </p:cNvCxnSpPr>
          <p:nvPr/>
        </p:nvCxnSpPr>
        <p:spPr>
          <a:xfrm>
            <a:off x="8316416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4588F3DA-9012-E64A-90F6-A5F14DD8E0BB}"/>
              </a:ext>
            </a:extLst>
          </p:cNvPr>
          <p:cNvCxnSpPr>
            <a:cxnSpLocks/>
          </p:cNvCxnSpPr>
          <p:nvPr/>
        </p:nvCxnSpPr>
        <p:spPr>
          <a:xfrm>
            <a:off x="8532440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446777D0-022F-8648-AFC4-91808BDD990A}"/>
              </a:ext>
            </a:extLst>
          </p:cNvPr>
          <p:cNvCxnSpPr>
            <a:cxnSpLocks/>
          </p:cNvCxnSpPr>
          <p:nvPr/>
        </p:nvCxnSpPr>
        <p:spPr>
          <a:xfrm>
            <a:off x="7596336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D23A47DC-40D5-D647-B4E8-70E480A54D92}"/>
              </a:ext>
            </a:extLst>
          </p:cNvPr>
          <p:cNvCxnSpPr>
            <a:cxnSpLocks/>
          </p:cNvCxnSpPr>
          <p:nvPr/>
        </p:nvCxnSpPr>
        <p:spPr>
          <a:xfrm>
            <a:off x="7812360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363E41C2-CD73-F94C-9DFE-A3E070BEE44A}"/>
              </a:ext>
            </a:extLst>
          </p:cNvPr>
          <p:cNvCxnSpPr>
            <a:cxnSpLocks/>
          </p:cNvCxnSpPr>
          <p:nvPr/>
        </p:nvCxnSpPr>
        <p:spPr>
          <a:xfrm>
            <a:off x="8028384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右箭头 45">
            <a:extLst>
              <a:ext uri="{FF2B5EF4-FFF2-40B4-BE49-F238E27FC236}">
                <a16:creationId xmlns:a16="http://schemas.microsoft.com/office/drawing/2014/main" id="{C72CAAB3-185A-B640-BD6A-8F4ACE88F89A}"/>
              </a:ext>
            </a:extLst>
          </p:cNvPr>
          <p:cNvSpPr/>
          <p:nvPr/>
        </p:nvSpPr>
        <p:spPr>
          <a:xfrm>
            <a:off x="6486327" y="1744778"/>
            <a:ext cx="288031" cy="3600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0F9D11-C233-DE4E-8F65-737DEF1DD58D}"/>
              </a:ext>
            </a:extLst>
          </p:cNvPr>
          <p:cNvSpPr/>
          <p:nvPr/>
        </p:nvSpPr>
        <p:spPr>
          <a:xfrm>
            <a:off x="4912682" y="52695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/>
              <a:t>非虚拟化</a:t>
            </a:r>
            <a:endParaRPr lang="zh-CN" altLang="en-US" sz="1400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59599D-A6C6-1943-A01F-A913CFA8114C}"/>
              </a:ext>
            </a:extLst>
          </p:cNvPr>
          <p:cNvSpPr/>
          <p:nvPr/>
        </p:nvSpPr>
        <p:spPr>
          <a:xfrm>
            <a:off x="7495150" y="538701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/>
              <a:t>虚拟化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7563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F5B94-F7EB-4449-B4E7-2B8E74FC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：半虚拟化方式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52BB36-0F86-454E-A1ED-71B98F476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协同设计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</a:t>
            </a:r>
            <a:r>
              <a:rPr kumimoji="1" lang="en-US" altLang="zh-CN" dirty="0"/>
              <a:t>“</a:t>
            </a:r>
            <a:r>
              <a:rPr kumimoji="1" lang="zh-CN" altLang="en-US" dirty="0"/>
              <a:t>知道</a:t>
            </a:r>
            <a:r>
              <a:rPr kumimoji="1" lang="en-US" altLang="zh-CN" dirty="0"/>
              <a:t>”</a:t>
            </a:r>
            <a:r>
              <a:rPr kumimoji="1" lang="zh-CN" altLang="en-US" dirty="0"/>
              <a:t>自己运行在虚拟化环境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虚拟机内运行前端</a:t>
            </a:r>
            <a:r>
              <a:rPr kumimoji="1" lang="en-US" altLang="zh-CN" dirty="0"/>
              <a:t>(front-end)</a:t>
            </a:r>
            <a:r>
              <a:rPr kumimoji="1" lang="zh-CN" altLang="en-US" dirty="0"/>
              <a:t>驱动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内运行后端</a:t>
            </a:r>
            <a:r>
              <a:rPr kumimoji="1" lang="en-US" altLang="zh-CN" dirty="0"/>
              <a:t>(back-end)</a:t>
            </a:r>
            <a:r>
              <a:rPr kumimoji="1" lang="zh-CN" altLang="en-US" dirty="0"/>
              <a:t>驱动</a:t>
            </a:r>
            <a:endParaRPr kumimoji="1" lang="en-US" altLang="zh-CN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主动提供</a:t>
            </a:r>
            <a:r>
              <a:rPr kumimoji="1" lang="en-US" altLang="zh-CN" dirty="0" err="1"/>
              <a:t>Hypercall</a:t>
            </a:r>
            <a:r>
              <a:rPr kumimoji="1" lang="zh-CN" altLang="en-US" dirty="0"/>
              <a:t>给</a:t>
            </a:r>
            <a:r>
              <a:rPr kumimoji="1" lang="en-US" altLang="zh-CN" dirty="0"/>
              <a:t>VM</a:t>
            </a:r>
          </a:p>
          <a:p>
            <a:r>
              <a:rPr kumimoji="1" lang="zh-CN" altLang="en-US" dirty="0"/>
              <a:t>通过共享内存传递指令和命令</a:t>
            </a:r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44CB8-985D-6947-8556-934A69CA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2CFD7C-D3D8-874A-BA58-93990AC8E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493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F4980-52AC-A54F-99B1-AA9DB73F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：设备直通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C7AD0C-624C-2948-823B-95716C584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虚拟机直接管理物理设备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96238-3DAA-A24C-BB35-0886517C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73A31-C0B4-DB45-9099-B0AF47231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45375D4C-8DF2-7340-8D77-E2572EB5FE1A}"/>
              </a:ext>
            </a:extLst>
          </p:cNvPr>
          <p:cNvSpPr/>
          <p:nvPr/>
        </p:nvSpPr>
        <p:spPr>
          <a:xfrm>
            <a:off x="1114046" y="4201647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55EA5B3D-4F81-884B-9C1A-06A009509517}"/>
              </a:ext>
            </a:extLst>
          </p:cNvPr>
          <p:cNvSpPr/>
          <p:nvPr/>
        </p:nvSpPr>
        <p:spPr>
          <a:xfrm>
            <a:off x="1104094" y="2453454"/>
            <a:ext cx="3284547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4EFBC5C5-81D2-6449-B660-A1CAAA5ADCCB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BF5A77A-76DF-4D4F-A8AC-E68069CB4F24}"/>
              </a:ext>
            </a:extLst>
          </p:cNvPr>
          <p:cNvSpPr txBox="1"/>
          <p:nvPr/>
        </p:nvSpPr>
        <p:spPr>
          <a:xfrm>
            <a:off x="107504" y="328154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8C30D8-9276-9E4C-B4D3-3292D59732AF}"/>
              </a:ext>
            </a:extLst>
          </p:cNvPr>
          <p:cNvSpPr txBox="1"/>
          <p:nvPr/>
        </p:nvSpPr>
        <p:spPr>
          <a:xfrm>
            <a:off x="107504" y="2361444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079A6B-055A-FC4D-9F70-98680A08AEAE}"/>
              </a:ext>
            </a:extLst>
          </p:cNvPr>
          <p:cNvSpPr txBox="1"/>
          <p:nvPr/>
        </p:nvSpPr>
        <p:spPr>
          <a:xfrm>
            <a:off x="107504" y="429365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59F1CD-013C-9645-A9D8-57D12A29B27D}"/>
              </a:ext>
            </a:extLst>
          </p:cNvPr>
          <p:cNvSpPr txBox="1"/>
          <p:nvPr/>
        </p:nvSpPr>
        <p:spPr>
          <a:xfrm>
            <a:off x="2281882" y="1993403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A7681678-3CE3-1B49-AB13-4BE0E3D2FC42}"/>
              </a:ext>
            </a:extLst>
          </p:cNvPr>
          <p:cNvSpPr/>
          <p:nvPr/>
        </p:nvSpPr>
        <p:spPr>
          <a:xfrm>
            <a:off x="6386816" y="309752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98FB37E1-1F8D-BC41-95BC-A1A9EFFF1596}"/>
              </a:ext>
            </a:extLst>
          </p:cNvPr>
          <p:cNvSpPr/>
          <p:nvPr/>
        </p:nvSpPr>
        <p:spPr>
          <a:xfrm>
            <a:off x="6388610" y="2453454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EF4DA2E-054F-B746-A1EE-89477D7B5207}"/>
              </a:ext>
            </a:extLst>
          </p:cNvPr>
          <p:cNvSpPr/>
          <p:nvPr/>
        </p:nvSpPr>
        <p:spPr>
          <a:xfrm>
            <a:off x="4890068" y="1993403"/>
            <a:ext cx="3688484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C97CC3-1E7C-CC48-945C-73B9D1B4DD37}"/>
              </a:ext>
            </a:extLst>
          </p:cNvPr>
          <p:cNvSpPr txBox="1"/>
          <p:nvPr/>
        </p:nvSpPr>
        <p:spPr>
          <a:xfrm>
            <a:off x="6296216" y="1993403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024A6A2-4B10-0A44-B57E-185D650D1545}"/>
              </a:ext>
            </a:extLst>
          </p:cNvPr>
          <p:cNvSpPr/>
          <p:nvPr/>
        </p:nvSpPr>
        <p:spPr>
          <a:xfrm>
            <a:off x="950870" y="1993403"/>
            <a:ext cx="3688484" cy="2852317"/>
          </a:xfrm>
          <a:prstGeom prst="roundRect">
            <a:avLst>
              <a:gd name="adj" fmla="val 6363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71A5B3D9-7345-284D-B47F-EC41B327753A}"/>
              </a:ext>
            </a:extLst>
          </p:cNvPr>
          <p:cNvSpPr/>
          <p:nvPr/>
        </p:nvSpPr>
        <p:spPr>
          <a:xfrm>
            <a:off x="2761089" y="4385670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81E40467-C1DA-7947-845A-071717CD95F5}"/>
              </a:ext>
            </a:extLst>
          </p:cNvPr>
          <p:cNvSpPr/>
          <p:nvPr/>
        </p:nvSpPr>
        <p:spPr>
          <a:xfrm>
            <a:off x="2825477" y="3741597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AE13CE9D-2EF4-2A46-9A07-E4C2255B0D75}"/>
              </a:ext>
            </a:extLst>
          </p:cNvPr>
          <p:cNvSpPr/>
          <p:nvPr/>
        </p:nvSpPr>
        <p:spPr>
          <a:xfrm>
            <a:off x="971600" y="5017740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F1DB64B9-E722-C44E-94D9-27091A70F525}"/>
              </a:ext>
            </a:extLst>
          </p:cNvPr>
          <p:cNvSpPr/>
          <p:nvPr/>
        </p:nvSpPr>
        <p:spPr>
          <a:xfrm>
            <a:off x="5076056" y="256946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78C494C5-64A4-8B42-A2AA-0366948202D4}"/>
              </a:ext>
            </a:extLst>
          </p:cNvPr>
          <p:cNvCxnSpPr>
            <a:cxnSpLocks/>
          </p:cNvCxnSpPr>
          <p:nvPr/>
        </p:nvCxnSpPr>
        <p:spPr>
          <a:xfrm>
            <a:off x="7380312" y="285750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27E35D6B-CEE3-6F46-B465-BDD32E7351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0000" y="4873724"/>
            <a:ext cx="566266" cy="509904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10FC15C-A947-E14B-8AA3-0BB45FDD7EF0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7391189" y="3600306"/>
            <a:ext cx="1944" cy="127341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2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259BB-9EF0-7441-A235-93B2B75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虚拟化技术对比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C701A1-0156-5A42-AEAC-8F7019DF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43FB31-102B-894A-9EAA-A3EDA51D3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2E3919-E598-BD4D-9298-B3CEBCCF2176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1633364"/>
          <a:ext cx="82809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563">
                  <a:extLst>
                    <a:ext uri="{9D8B030D-6E8A-4147-A177-3AD203B41FA5}">
                      <a16:colId xmlns:a16="http://schemas.microsoft.com/office/drawing/2014/main" val="1448110210"/>
                    </a:ext>
                  </a:extLst>
                </a:gridCol>
                <a:gridCol w="1865897">
                  <a:extLst>
                    <a:ext uri="{9D8B030D-6E8A-4147-A177-3AD203B41FA5}">
                      <a16:colId xmlns:a16="http://schemas.microsoft.com/office/drawing/2014/main" val="2174093866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3967562975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3146010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设备模拟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半虚拟化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设备直通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81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130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修改虚拟机内核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驱动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安装</a:t>
                      </a:r>
                      <a:r>
                        <a:rPr lang="en-US" altLang="zh-CN" dirty="0"/>
                        <a:t>VF</a:t>
                      </a:r>
                      <a:r>
                        <a:rPr lang="zh-CN" altLang="en-US" dirty="0"/>
                        <a:t>驱动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983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VMM</a:t>
                      </a:r>
                      <a:r>
                        <a:rPr lang="zh-CN" altLang="en-US" dirty="0"/>
                        <a:t>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26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Interposition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2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是否依赖硬件功能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58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支持老版本</a:t>
                      </a:r>
                      <a:r>
                        <a:rPr lang="en-US" altLang="zh-CN" dirty="0"/>
                        <a:t>OS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05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86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EEA61-0EA9-BB4D-A99A-73C82832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中断虚拟化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A9BF8-8F21-4146-BE2E-550B5CD41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VMM</a:t>
            </a:r>
            <a:r>
              <a:rPr kumimoji="1" lang="zh-CN" altLang="en-US" dirty="0"/>
              <a:t>在完成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操作后通知</a:t>
            </a:r>
            <a:r>
              <a:rPr kumimoji="1" lang="en-US" altLang="zh-CN" dirty="0"/>
              <a:t>VM</a:t>
            </a:r>
          </a:p>
          <a:p>
            <a:pPr lvl="1"/>
            <a:r>
              <a:rPr kumimoji="1" lang="zh-CN" altLang="en-US" dirty="0"/>
              <a:t>例如在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操作之后</a:t>
            </a:r>
            <a:endParaRPr kumimoji="1" lang="en-US" altLang="zh-CN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在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时插入虚拟中断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</a:t>
            </a:r>
            <a:r>
              <a:rPr kumimoji="1" lang="zh-CN" altLang="en-US" dirty="0"/>
              <a:t>的中断处理函数会被调用</a:t>
            </a:r>
            <a:endParaRPr kumimoji="1" lang="en-US" altLang="zh-CN" dirty="0"/>
          </a:p>
          <a:p>
            <a:r>
              <a:rPr kumimoji="1" lang="zh-CN" altLang="en-US" dirty="0"/>
              <a:t>虚拟中断类型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时钟中断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核间中断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外部中断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978841-E350-5743-83B6-E92DB0ED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80C03-196E-1E47-82E7-8D00CFBD8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87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04737-C783-A84D-B9F8-D53096F4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中断虚拟化的实现方法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8A0FC-7BA7-CC44-B477-CC660A767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打断虚拟机执行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插入</a:t>
            </a:r>
            <a:endParaRPr kumimoji="1" lang="en-US" altLang="zh-CN" dirty="0"/>
          </a:p>
          <a:p>
            <a:r>
              <a:rPr kumimoji="1" lang="zh-CN" altLang="en-US" dirty="0"/>
              <a:t>不打断虚拟机执行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插入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6701B-5BB7-6947-BD49-FB34712F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AEE333-DC7D-5A4D-ADC7-3FA61B7E9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656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97334-2E97-DC47-A847-266B0B29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B96B8-6058-F149-9A49-06A2AE7A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GIC</a:t>
            </a:r>
            <a:r>
              <a:rPr kumimoji="1" lang="zh-CN" altLang="en-US" sz="2000" dirty="0"/>
              <a:t>为虚拟机提供的硬件功能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VM</a:t>
            </a:r>
            <a:r>
              <a:rPr kumimoji="1" lang="zh-CN" altLang="en-US" sz="1800" dirty="0"/>
              <a:t>通过</a:t>
            </a:r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GIC</a:t>
            </a:r>
            <a:r>
              <a:rPr kumimoji="1" lang="zh-CN" altLang="en-US" sz="1800" dirty="0"/>
              <a:t>交互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VMM</a:t>
            </a:r>
            <a:r>
              <a:rPr kumimoji="1" lang="zh-CN" altLang="en-US" sz="1800" dirty="0"/>
              <a:t>通过</a:t>
            </a:r>
            <a:r>
              <a:rPr kumimoji="1" lang="en-US" altLang="zh-CN" sz="1800" dirty="0"/>
              <a:t>Physical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GIC</a:t>
            </a:r>
            <a:r>
              <a:rPr kumimoji="1" lang="zh-CN" altLang="en-US" sz="1800" dirty="0"/>
              <a:t>交互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C76D9-7784-8041-BF1C-CBDFD1F7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C8BE8-0CBA-F04C-955A-A3DF9DAB8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580C66-BB4E-C444-A53D-B290B6DDED58}"/>
              </a:ext>
            </a:extLst>
          </p:cNvPr>
          <p:cNvSpPr/>
          <p:nvPr/>
        </p:nvSpPr>
        <p:spPr>
          <a:xfrm>
            <a:off x="2123728" y="3721596"/>
            <a:ext cx="1440160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Virtual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CPU</a:t>
            </a:r>
          </a:p>
          <a:p>
            <a:pPr algn="ctr"/>
            <a:r>
              <a:rPr kumimoji="1" lang="en-US" altLang="zh-CN" sz="1400" dirty="0"/>
              <a:t>Interface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302C63-D17D-C047-BFD5-4A0132232BED}"/>
              </a:ext>
            </a:extLst>
          </p:cNvPr>
          <p:cNvSpPr/>
          <p:nvPr/>
        </p:nvSpPr>
        <p:spPr>
          <a:xfrm>
            <a:off x="2123728" y="4657700"/>
            <a:ext cx="3384376" cy="4474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Distributor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357FDB-51FE-0B47-B326-9433BA4B2175}"/>
              </a:ext>
            </a:extLst>
          </p:cNvPr>
          <p:cNvSpPr/>
          <p:nvPr/>
        </p:nvSpPr>
        <p:spPr>
          <a:xfrm>
            <a:off x="4067944" y="3721596"/>
            <a:ext cx="1440160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Physical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CPU</a:t>
            </a:r>
          </a:p>
          <a:p>
            <a:pPr algn="ctr"/>
            <a:r>
              <a:rPr kumimoji="1" lang="en-US" altLang="zh-CN" sz="1400" dirty="0"/>
              <a:t>Interface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85B72C-2630-2047-B634-151D7685A5E0}"/>
              </a:ext>
            </a:extLst>
          </p:cNvPr>
          <p:cNvSpPr/>
          <p:nvPr/>
        </p:nvSpPr>
        <p:spPr>
          <a:xfrm>
            <a:off x="1979712" y="2857500"/>
            <a:ext cx="3672408" cy="64807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BBF0DD-772A-8F4C-8835-D7FEED013C59}"/>
              </a:ext>
            </a:extLst>
          </p:cNvPr>
          <p:cNvSpPr txBox="1"/>
          <p:nvPr/>
        </p:nvSpPr>
        <p:spPr>
          <a:xfrm>
            <a:off x="1334343" y="297988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C5E16F-B3C9-3E44-9C24-312E2929BF98}"/>
              </a:ext>
            </a:extLst>
          </p:cNvPr>
          <p:cNvSpPr/>
          <p:nvPr/>
        </p:nvSpPr>
        <p:spPr>
          <a:xfrm>
            <a:off x="2339752" y="3001516"/>
            <a:ext cx="999728" cy="296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EBD821-7C7A-904A-B1F6-B30920AF3A65}"/>
              </a:ext>
            </a:extLst>
          </p:cNvPr>
          <p:cNvSpPr/>
          <p:nvPr/>
        </p:nvSpPr>
        <p:spPr>
          <a:xfrm>
            <a:off x="4283968" y="3001516"/>
            <a:ext cx="999728" cy="296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E087768-3B8C-E54A-99CF-B64B505AF060}"/>
              </a:ext>
            </a:extLst>
          </p:cNvPr>
          <p:cNvCxnSpPr/>
          <p:nvPr/>
        </p:nvCxnSpPr>
        <p:spPr>
          <a:xfrm>
            <a:off x="4788024" y="328954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0B935EE1-72C5-AF49-8028-BD24EF225705}"/>
              </a:ext>
            </a:extLst>
          </p:cNvPr>
          <p:cNvCxnSpPr/>
          <p:nvPr/>
        </p:nvCxnSpPr>
        <p:spPr>
          <a:xfrm>
            <a:off x="2843808" y="328954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D14DF22E-ABD5-E643-A78E-CB7BC4AA323D}"/>
              </a:ext>
            </a:extLst>
          </p:cNvPr>
          <p:cNvCxnSpPr/>
          <p:nvPr/>
        </p:nvCxnSpPr>
        <p:spPr>
          <a:xfrm>
            <a:off x="2843808" y="436966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8FE0F8DD-6CE4-2440-8A91-35391672E85A}"/>
              </a:ext>
            </a:extLst>
          </p:cNvPr>
          <p:cNvCxnSpPr/>
          <p:nvPr/>
        </p:nvCxnSpPr>
        <p:spPr>
          <a:xfrm>
            <a:off x="4860032" y="436966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71B35DBE-0D76-CA40-AB93-D44F5D832BC9}"/>
              </a:ext>
            </a:extLst>
          </p:cNvPr>
          <p:cNvSpPr/>
          <p:nvPr/>
        </p:nvSpPr>
        <p:spPr>
          <a:xfrm>
            <a:off x="1979712" y="3649588"/>
            <a:ext cx="3672408" cy="159956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62A353-EBB7-E143-8CD9-76C59752DA0B}"/>
              </a:ext>
            </a:extLst>
          </p:cNvPr>
          <p:cNvSpPr txBox="1"/>
          <p:nvPr/>
        </p:nvSpPr>
        <p:spPr>
          <a:xfrm>
            <a:off x="1331640" y="436966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65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976D6-6C1D-FB4C-8C36-C64B8C81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插入虚拟中断：以半虚拟化举例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E7543A-49C3-C245-93D7-B10AD3D7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15BFF-4A66-A642-81DA-20F82FFD1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61A830D0-2BC2-6A46-BAAC-C62EDC1FB374}"/>
              </a:ext>
            </a:extLst>
          </p:cNvPr>
          <p:cNvSpPr/>
          <p:nvPr/>
        </p:nvSpPr>
        <p:spPr>
          <a:xfrm>
            <a:off x="1134776" y="3769600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5F1333A8-7187-7C46-A79A-274E8CE388B6}"/>
              </a:ext>
            </a:extLst>
          </p:cNvPr>
          <p:cNvSpPr/>
          <p:nvPr/>
        </p:nvSpPr>
        <p:spPr>
          <a:xfrm>
            <a:off x="1124824" y="1849389"/>
            <a:ext cx="3284547" cy="63207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AAD69BD2-D525-E144-B181-EE6D0BC1E88F}"/>
              </a:ext>
            </a:extLst>
          </p:cNvPr>
          <p:cNvCxnSpPr>
            <a:cxnSpLocks/>
          </p:cNvCxnSpPr>
          <p:nvPr/>
        </p:nvCxnSpPr>
        <p:spPr>
          <a:xfrm>
            <a:off x="283345" y="3520570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E88D475-6193-4B47-A0BA-E5EA569CDBAE}"/>
              </a:ext>
            </a:extLst>
          </p:cNvPr>
          <p:cNvSpPr txBox="1"/>
          <p:nvPr/>
        </p:nvSpPr>
        <p:spPr>
          <a:xfrm>
            <a:off x="128234" y="2849499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2B7805-2EFD-9649-A99E-31E6915FB52A}"/>
              </a:ext>
            </a:extLst>
          </p:cNvPr>
          <p:cNvSpPr txBox="1"/>
          <p:nvPr/>
        </p:nvSpPr>
        <p:spPr>
          <a:xfrm>
            <a:off x="128234" y="1929397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8559CB-91BA-FC4A-A750-7BCE44CF44AE}"/>
              </a:ext>
            </a:extLst>
          </p:cNvPr>
          <p:cNvSpPr txBox="1"/>
          <p:nvPr/>
        </p:nvSpPr>
        <p:spPr>
          <a:xfrm>
            <a:off x="128234" y="3861611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2108DB-4AB7-1D49-B6C1-1F585184401C}"/>
              </a:ext>
            </a:extLst>
          </p:cNvPr>
          <p:cNvSpPr txBox="1"/>
          <p:nvPr/>
        </p:nvSpPr>
        <p:spPr>
          <a:xfrm>
            <a:off x="2302612" y="1561356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BD27B40-0DC9-C747-87E3-D4689BE7FCC0}"/>
              </a:ext>
            </a:extLst>
          </p:cNvPr>
          <p:cNvSpPr/>
          <p:nvPr/>
        </p:nvSpPr>
        <p:spPr>
          <a:xfrm>
            <a:off x="6372200" y="192139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AD6CEF8-2592-A149-B4D9-FEED495CE83D}"/>
              </a:ext>
            </a:extLst>
          </p:cNvPr>
          <p:cNvSpPr/>
          <p:nvPr/>
        </p:nvSpPr>
        <p:spPr>
          <a:xfrm>
            <a:off x="5818475" y="1561356"/>
            <a:ext cx="2780807" cy="1745043"/>
          </a:xfrm>
          <a:prstGeom prst="roundRect">
            <a:avLst>
              <a:gd name="adj" fmla="val 947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D47D51-3CD4-A849-B9BE-26724FCF4CDC}"/>
              </a:ext>
            </a:extLst>
          </p:cNvPr>
          <p:cNvSpPr txBox="1"/>
          <p:nvPr/>
        </p:nvSpPr>
        <p:spPr>
          <a:xfrm>
            <a:off x="6316946" y="1561356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D244DE-94D1-4C49-9A8F-0D50C4F41CCB}"/>
              </a:ext>
            </a:extLst>
          </p:cNvPr>
          <p:cNvSpPr/>
          <p:nvPr/>
        </p:nvSpPr>
        <p:spPr>
          <a:xfrm>
            <a:off x="971600" y="1561356"/>
            <a:ext cx="3688484" cy="2852317"/>
          </a:xfrm>
          <a:prstGeom prst="roundRect">
            <a:avLst>
              <a:gd name="adj" fmla="val 6924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C5BF8EF2-7AEE-4640-96B7-60A556E9003B}"/>
              </a:ext>
            </a:extLst>
          </p:cNvPr>
          <p:cNvSpPr/>
          <p:nvPr/>
        </p:nvSpPr>
        <p:spPr>
          <a:xfrm>
            <a:off x="2781819" y="3953623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960A935F-061D-6742-B0D2-98F49FA68249}"/>
              </a:ext>
            </a:extLst>
          </p:cNvPr>
          <p:cNvSpPr/>
          <p:nvPr/>
        </p:nvSpPr>
        <p:spPr>
          <a:xfrm>
            <a:off x="2846207" y="3309550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D66E47BA-499E-EB4A-8C70-DE2CEED73E70}"/>
              </a:ext>
            </a:extLst>
          </p:cNvPr>
          <p:cNvCxnSpPr>
            <a:cxnSpLocks/>
          </p:cNvCxnSpPr>
          <p:nvPr/>
        </p:nvCxnSpPr>
        <p:spPr>
          <a:xfrm>
            <a:off x="3508375" y="2389448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54A522C0-312E-5A44-A944-F3FB1F162642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3502768" y="3613858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855704-8D77-DC46-BD2E-79954D02DD12}"/>
              </a:ext>
            </a:extLst>
          </p:cNvPr>
          <p:cNvSpPr txBox="1"/>
          <p:nvPr/>
        </p:nvSpPr>
        <p:spPr>
          <a:xfrm>
            <a:off x="7812360" y="386561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470AE8A6-8154-8E49-B918-D098D17FAEFF}"/>
              </a:ext>
            </a:extLst>
          </p:cNvPr>
          <p:cNvSpPr/>
          <p:nvPr/>
        </p:nvSpPr>
        <p:spPr>
          <a:xfrm>
            <a:off x="2843808" y="4585692"/>
            <a:ext cx="5744821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9E316B7-F763-6F4D-A583-3BC5ACCC0374}"/>
              </a:ext>
            </a:extLst>
          </p:cNvPr>
          <p:cNvCxnSpPr>
            <a:cxnSpLocks/>
          </p:cNvCxnSpPr>
          <p:nvPr/>
        </p:nvCxnSpPr>
        <p:spPr>
          <a:xfrm>
            <a:off x="3496426" y="4229652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D7346C8-20E4-E543-AA05-5F8F49CBA90A}"/>
              </a:ext>
            </a:extLst>
          </p:cNvPr>
          <p:cNvCxnSpPr>
            <a:cxnSpLocks/>
          </p:cNvCxnSpPr>
          <p:nvPr/>
        </p:nvCxnSpPr>
        <p:spPr>
          <a:xfrm>
            <a:off x="7401042" y="2425453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7">
            <a:extLst>
              <a:ext uri="{FF2B5EF4-FFF2-40B4-BE49-F238E27FC236}">
                <a16:creationId xmlns:a16="http://schemas.microsoft.com/office/drawing/2014/main" id="{84F94B14-7F48-1B41-81EA-72C87F0B80E7}"/>
              </a:ext>
            </a:extLst>
          </p:cNvPr>
          <p:cNvSpPr/>
          <p:nvPr/>
        </p:nvSpPr>
        <p:spPr>
          <a:xfrm>
            <a:off x="1784418" y="3879595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16D9B7-77D0-8B47-B454-1DD8ED74C030}"/>
              </a:ext>
            </a:extLst>
          </p:cNvPr>
          <p:cNvCxnSpPr>
            <a:cxnSpLocks/>
          </p:cNvCxnSpPr>
          <p:nvPr/>
        </p:nvCxnSpPr>
        <p:spPr>
          <a:xfrm flipV="1">
            <a:off x="2216466" y="2425453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4B70B016-870B-B24C-813C-C54281F7FA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15" y="4585693"/>
            <a:ext cx="566266" cy="509904"/>
          </a:xfrm>
          <a:prstGeom prst="rect">
            <a:avLst/>
          </a:prstGeom>
        </p:spPr>
      </p:pic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E78A0C0E-06D4-1347-81BB-F80CCC89AB3D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>
          <a:xfrm flipV="1">
            <a:off x="2254248" y="4239635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22">
            <a:extLst>
              <a:ext uri="{FF2B5EF4-FFF2-40B4-BE49-F238E27FC236}">
                <a16:creationId xmlns:a16="http://schemas.microsoft.com/office/drawing/2014/main" id="{2D3F0CF3-3177-A24C-8B9D-8CC136C5F8E4}"/>
              </a:ext>
            </a:extLst>
          </p:cNvPr>
          <p:cNvSpPr/>
          <p:nvPr/>
        </p:nvSpPr>
        <p:spPr>
          <a:xfrm>
            <a:off x="2555776" y="1993404"/>
            <a:ext cx="1721394" cy="35876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15EDCE5D-D317-E74D-801E-EEB986C219B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32040" y="2425452"/>
          <a:ext cx="720084" cy="240028"/>
        </p:xfrm>
        <a:graphic>
          <a:graphicData uri="http://schemas.openxmlformats.org/drawingml/2006/table">
            <a:tbl>
              <a:tblPr firstRow="1" bandRow="1"/>
              <a:tblGrid>
                <a:gridCol w="120014">
                  <a:extLst>
                    <a:ext uri="{9D8B030D-6E8A-4147-A177-3AD203B41FA5}">
                      <a16:colId xmlns:a16="http://schemas.microsoft.com/office/drawing/2014/main" val="2860160233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31885893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266334094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323478888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650179042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1575277169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11148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0879957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22C53693-F0CF-0946-8ED2-5912A6F99947}"/>
              </a:ext>
            </a:extLst>
          </p:cNvPr>
          <p:cNvSpPr txBox="1"/>
          <p:nvPr/>
        </p:nvSpPr>
        <p:spPr>
          <a:xfrm>
            <a:off x="4860032" y="2137420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Virtqueue</a:t>
            </a:r>
            <a:r>
              <a:rPr lang="en-US" altLang="zh-CN" sz="1200" dirty="0"/>
              <a:t> </a:t>
            </a:r>
          </a:p>
        </p:txBody>
      </p:sp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61352F86-183F-9145-8C88-AB2607906027}"/>
              </a:ext>
            </a:extLst>
          </p:cNvPr>
          <p:cNvCxnSpPr>
            <a:cxnSpLocks/>
            <a:stCxn id="13" idx="1"/>
            <a:endCxn id="32" idx="3"/>
          </p:cNvCxnSpPr>
          <p:nvPr/>
        </p:nvCxnSpPr>
        <p:spPr>
          <a:xfrm rot="10800000" flipV="1">
            <a:off x="5652124" y="2172786"/>
            <a:ext cx="720076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1DB00BAD-B522-BC44-BBD9-ABE817652FCE}"/>
              </a:ext>
            </a:extLst>
          </p:cNvPr>
          <p:cNvCxnSpPr>
            <a:cxnSpLocks/>
            <a:stCxn id="32" idx="1"/>
            <a:endCxn id="31" idx="3"/>
          </p:cNvCxnSpPr>
          <p:nvPr/>
        </p:nvCxnSpPr>
        <p:spPr>
          <a:xfrm rot="10800000">
            <a:off x="4277170" y="2172786"/>
            <a:ext cx="654870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0105938-7E86-DA41-A805-F60EE6B2EA5C}"/>
              </a:ext>
            </a:extLst>
          </p:cNvPr>
          <p:cNvSpPr txBox="1"/>
          <p:nvPr/>
        </p:nvSpPr>
        <p:spPr>
          <a:xfrm>
            <a:off x="2464788" y="2576915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Inject</a:t>
            </a:r>
          </a:p>
          <a:p>
            <a:r>
              <a:rPr kumimoji="1" lang="en-US" altLang="zh-CN" dirty="0"/>
              <a:t>Interrupt</a:t>
            </a:r>
            <a:endParaRPr kumimoji="1" lang="zh-CN" altLang="en-US" dirty="0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DF586596-AC52-BC41-ADE8-BBDAC7334A69}"/>
              </a:ext>
            </a:extLst>
          </p:cNvPr>
          <p:cNvSpPr/>
          <p:nvPr/>
        </p:nvSpPr>
        <p:spPr>
          <a:xfrm>
            <a:off x="5148064" y="3952800"/>
            <a:ext cx="1584176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ICH_LR0_EL2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E211682-AF4F-B249-98FE-2C025DE218A7}"/>
              </a:ext>
            </a:extLst>
          </p:cNvPr>
          <p:cNvCxnSpPr>
            <a:cxnSpLocks/>
            <a:stCxn id="18" idx="3"/>
            <a:endCxn id="37" idx="1"/>
          </p:cNvCxnSpPr>
          <p:nvPr/>
        </p:nvCxnSpPr>
        <p:spPr>
          <a:xfrm>
            <a:off x="4223716" y="4091639"/>
            <a:ext cx="924348" cy="5177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22">
            <a:extLst>
              <a:ext uri="{FF2B5EF4-FFF2-40B4-BE49-F238E27FC236}">
                <a16:creationId xmlns:a16="http://schemas.microsoft.com/office/drawing/2014/main" id="{113FE32F-839F-0842-95EC-F4E73B303A53}"/>
              </a:ext>
            </a:extLst>
          </p:cNvPr>
          <p:cNvSpPr/>
          <p:nvPr/>
        </p:nvSpPr>
        <p:spPr>
          <a:xfrm>
            <a:off x="6372200" y="2713484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IRQ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handler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C8601250-A0E1-2B4D-90D6-EE64BB058D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5652" y="3926255"/>
            <a:ext cx="1273417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>
            <a:extLst>
              <a:ext uri="{FF2B5EF4-FFF2-40B4-BE49-F238E27FC236}">
                <a16:creationId xmlns:a16="http://schemas.microsoft.com/office/drawing/2014/main" id="{0C6F9EF5-3B2E-1F4B-94FE-4DFBB9124718}"/>
              </a:ext>
            </a:extLst>
          </p:cNvPr>
          <p:cNvCxnSpPr>
            <a:cxnSpLocks/>
            <a:stCxn id="44" idx="2"/>
            <a:endCxn id="37" idx="3"/>
          </p:cNvCxnSpPr>
          <p:nvPr/>
        </p:nvCxnSpPr>
        <p:spPr>
          <a:xfrm rot="5400000">
            <a:off x="6614131" y="3334374"/>
            <a:ext cx="880552" cy="644333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22">
            <a:extLst>
              <a:ext uri="{FF2B5EF4-FFF2-40B4-BE49-F238E27FC236}">
                <a16:creationId xmlns:a16="http://schemas.microsoft.com/office/drawing/2014/main" id="{8C8036D7-B50E-7F4A-9667-1108D055A7E8}"/>
              </a:ext>
            </a:extLst>
          </p:cNvPr>
          <p:cNvSpPr/>
          <p:nvPr/>
        </p:nvSpPr>
        <p:spPr>
          <a:xfrm>
            <a:off x="4932040" y="3865612"/>
            <a:ext cx="2088232" cy="50405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A65EE83-E531-B04F-A6DA-1283A75ED71A}"/>
              </a:ext>
            </a:extLst>
          </p:cNvPr>
          <p:cNvSpPr txBox="1"/>
          <p:nvPr/>
        </p:nvSpPr>
        <p:spPr>
          <a:xfrm>
            <a:off x="5724128" y="35775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4F23F8-373B-0C49-8D31-0F1620B2C698}"/>
              </a:ext>
            </a:extLst>
          </p:cNvPr>
          <p:cNvSpPr txBox="1"/>
          <p:nvPr/>
        </p:nvSpPr>
        <p:spPr>
          <a:xfrm>
            <a:off x="5940152" y="105730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E384B"/>
                </a:solidFill>
              </a:rPr>
              <a:t>思考：这种方式有什么问题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23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7" grpId="0" animBg="1"/>
      <p:bldP spid="53" grpId="0" animBg="1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5F054-D7B8-7943-BDEB-68B4F27F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不打断虚拟机执行：</a:t>
            </a:r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6AD26F-5933-C942-A71D-5C241193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1800" dirty="0"/>
              <a:t>GIC</a:t>
            </a:r>
            <a:r>
              <a:rPr kumimoji="1" lang="zh-CN" altLang="en-US" sz="1800" dirty="0"/>
              <a:t>第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版本推出了</a:t>
            </a:r>
            <a:r>
              <a:rPr lang="en-US" altLang="zh-CN" sz="1800" dirty="0"/>
              <a:t>Direct injection of virtual interrupts </a:t>
            </a:r>
          </a:p>
          <a:p>
            <a:pPr lvl="1"/>
            <a:r>
              <a:rPr kumimoji="1" lang="zh-CN" altLang="en-US" sz="1600" dirty="0"/>
              <a:t>将物理设备的物理中断与虚拟中断绑定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物理设备直接向虚拟机发送虚拟中断</a:t>
            </a:r>
            <a:endParaRPr kumimoji="1" lang="en-US" altLang="zh-CN" sz="1600" dirty="0"/>
          </a:p>
          <a:p>
            <a:r>
              <a:rPr kumimoji="1" lang="en-US" altLang="zh-CN" sz="1800" dirty="0"/>
              <a:t>VMM</a:t>
            </a:r>
            <a:r>
              <a:rPr kumimoji="1" lang="zh-CN" altLang="en-US" sz="1800" dirty="0"/>
              <a:t>在运行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前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配置</a:t>
            </a:r>
            <a:r>
              <a:rPr kumimoji="1" lang="en-US" altLang="zh-CN" sz="1600" dirty="0"/>
              <a:t>GIC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(Interrupt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Translation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Service)</a:t>
            </a:r>
          </a:p>
          <a:p>
            <a:pPr lvl="2"/>
            <a:r>
              <a:rPr kumimoji="1" lang="zh-CN" altLang="en-US" sz="1600" dirty="0"/>
              <a:t>建立物理中断与虚拟中断的映射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映射内容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设备与物理中断的映射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分配虚拟中断号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发送给哪些物理核上的虚拟处理器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686929-4BC0-8F4C-A00D-F22D8324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71071-4AEB-6145-A645-020FD812B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4667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3389B-1A32-FE47-87BE-D504DB2B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虚拟中断的直接插入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30786-E6B0-D940-B2D1-E99B1C86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43ADD-E836-5D4A-8C1B-137789D3F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ABB92C8-952B-9A43-A69A-1F1B1212CB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8384" y="3933868"/>
            <a:ext cx="648072" cy="583568"/>
          </a:xfrm>
          <a:prstGeom prst="rect">
            <a:avLst/>
          </a:prstGeom>
        </p:spPr>
      </p:pic>
      <p:sp>
        <p:nvSpPr>
          <p:cNvPr id="17" name="Rectangle 22">
            <a:extLst>
              <a:ext uri="{FF2B5EF4-FFF2-40B4-BE49-F238E27FC236}">
                <a16:creationId xmlns:a16="http://schemas.microsoft.com/office/drawing/2014/main" id="{20CD993E-357B-BF46-95E1-723AD8EC17DA}"/>
              </a:ext>
            </a:extLst>
          </p:cNvPr>
          <p:cNvSpPr/>
          <p:nvPr/>
        </p:nvSpPr>
        <p:spPr>
          <a:xfrm>
            <a:off x="5436096" y="3073524"/>
            <a:ext cx="1728192" cy="136815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F425F447-D57A-AE40-8FAF-5521B8DEB0E7}"/>
              </a:ext>
            </a:extLst>
          </p:cNvPr>
          <p:cNvSpPr/>
          <p:nvPr/>
        </p:nvSpPr>
        <p:spPr>
          <a:xfrm>
            <a:off x="5652120" y="4081636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ITS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1BFA3C-8090-0A4E-B555-B552039A091F}"/>
              </a:ext>
            </a:extLst>
          </p:cNvPr>
          <p:cNvSpPr/>
          <p:nvPr/>
        </p:nvSpPr>
        <p:spPr>
          <a:xfrm>
            <a:off x="5796136" y="1921396"/>
            <a:ext cx="1008112" cy="584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CC2148-021A-7E43-9C57-EFDB710F6314}"/>
              </a:ext>
            </a:extLst>
          </p:cNvPr>
          <p:cNvSpPr txBox="1"/>
          <p:nvPr/>
        </p:nvSpPr>
        <p:spPr>
          <a:xfrm>
            <a:off x="6156176" y="45136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87AC364A-4576-014F-98F5-CA2AC3BEC95B}"/>
              </a:ext>
            </a:extLst>
          </p:cNvPr>
          <p:cNvCxnSpPr>
            <a:stCxn id="16" idx="1"/>
            <a:endCxn id="18" idx="3"/>
          </p:cNvCxnSpPr>
          <p:nvPr/>
        </p:nvCxnSpPr>
        <p:spPr>
          <a:xfrm flipH="1">
            <a:off x="6948264" y="4225652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33912FC-7B07-5648-B13F-340D83004A06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300192" y="2505844"/>
            <a:ext cx="0" cy="567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863CF49-6317-D841-A7F7-C9479C695588}"/>
              </a:ext>
            </a:extLst>
          </p:cNvPr>
          <p:cNvSpPr txBox="1"/>
          <p:nvPr/>
        </p:nvSpPr>
        <p:spPr>
          <a:xfrm>
            <a:off x="7164288" y="400962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384D28-A667-134E-B940-7E5996B0AF5E}"/>
              </a:ext>
            </a:extLst>
          </p:cNvPr>
          <p:cNvSpPr txBox="1"/>
          <p:nvPr/>
        </p:nvSpPr>
        <p:spPr>
          <a:xfrm>
            <a:off x="6228184" y="256946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</a:p>
          <a:p>
            <a:r>
              <a:rPr kumimoji="1" lang="en-US" altLang="zh-CN" sz="1200" dirty="0"/>
              <a:t>Interrupt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398D20C-35F5-0A4B-B74D-5ECD999952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9872" y="4009628"/>
            <a:ext cx="648072" cy="583568"/>
          </a:xfrm>
          <a:prstGeom prst="rect">
            <a:avLst/>
          </a:prstGeom>
        </p:spPr>
      </p:pic>
      <p:sp>
        <p:nvSpPr>
          <p:cNvPr id="36" name="Rectangle 22">
            <a:extLst>
              <a:ext uri="{FF2B5EF4-FFF2-40B4-BE49-F238E27FC236}">
                <a16:creationId xmlns:a16="http://schemas.microsoft.com/office/drawing/2014/main" id="{A2DEB5A8-F659-AD40-B548-9706CAF61B4D}"/>
              </a:ext>
            </a:extLst>
          </p:cNvPr>
          <p:cNvSpPr/>
          <p:nvPr/>
        </p:nvSpPr>
        <p:spPr>
          <a:xfrm>
            <a:off x="683568" y="3649588"/>
            <a:ext cx="1728192" cy="86409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834AF-64AC-3946-92D8-7ABBCEB82EFC}"/>
              </a:ext>
            </a:extLst>
          </p:cNvPr>
          <p:cNvSpPr/>
          <p:nvPr/>
        </p:nvSpPr>
        <p:spPr>
          <a:xfrm>
            <a:off x="1043608" y="1417340"/>
            <a:ext cx="1008112" cy="584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105DAE5-2DFF-A246-AC25-5DB7CCD3D905}"/>
              </a:ext>
            </a:extLst>
          </p:cNvPr>
          <p:cNvSpPr txBox="1"/>
          <p:nvPr/>
        </p:nvSpPr>
        <p:spPr>
          <a:xfrm>
            <a:off x="1259632" y="45136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0AE471B9-C47F-9248-AED2-949FE6FC465A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2195736" y="4301412"/>
            <a:ext cx="12241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1AF65C5E-9252-AC49-9B51-83CCAA817ADD}"/>
              </a:ext>
            </a:extLst>
          </p:cNvPr>
          <p:cNvCxnSpPr>
            <a:cxnSpLocks/>
            <a:stCxn id="55" idx="0"/>
            <a:endCxn id="46" idx="2"/>
          </p:cNvCxnSpPr>
          <p:nvPr/>
        </p:nvCxnSpPr>
        <p:spPr>
          <a:xfrm flipV="1">
            <a:off x="1547664" y="3001516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3A3E890-4991-A041-9D4D-ED0838D7074F}"/>
              </a:ext>
            </a:extLst>
          </p:cNvPr>
          <p:cNvSpPr txBox="1"/>
          <p:nvPr/>
        </p:nvSpPr>
        <p:spPr>
          <a:xfrm>
            <a:off x="2411760" y="4081636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41930579-2FEE-AC4F-B5CC-D292B2BC51C2}"/>
              </a:ext>
            </a:extLst>
          </p:cNvPr>
          <p:cNvSpPr/>
          <p:nvPr/>
        </p:nvSpPr>
        <p:spPr>
          <a:xfrm>
            <a:off x="899592" y="271348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471276-0406-5747-81FE-9BD5F301A038}"/>
              </a:ext>
            </a:extLst>
          </p:cNvPr>
          <p:cNvSpPr txBox="1"/>
          <p:nvPr/>
        </p:nvSpPr>
        <p:spPr>
          <a:xfrm>
            <a:off x="1475656" y="3073524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AA0C0590-F297-4C4B-BFAF-D7441D9B6D4B}"/>
              </a:ext>
            </a:extLst>
          </p:cNvPr>
          <p:cNvCxnSpPr>
            <a:cxnSpLocks/>
            <a:stCxn id="46" idx="0"/>
            <a:endCxn id="38" idx="2"/>
          </p:cNvCxnSpPr>
          <p:nvPr/>
        </p:nvCxnSpPr>
        <p:spPr>
          <a:xfrm flipV="1">
            <a:off x="1547664" y="2001788"/>
            <a:ext cx="0" cy="711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91A2F-5613-4A46-A989-DD25F284E159}"/>
              </a:ext>
            </a:extLst>
          </p:cNvPr>
          <p:cNvSpPr txBox="1"/>
          <p:nvPr/>
        </p:nvSpPr>
        <p:spPr>
          <a:xfrm>
            <a:off x="1475656" y="2137420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53" name="Rectangle 22">
            <a:extLst>
              <a:ext uri="{FF2B5EF4-FFF2-40B4-BE49-F238E27FC236}">
                <a16:creationId xmlns:a16="http://schemas.microsoft.com/office/drawing/2014/main" id="{3C1CAB9D-C258-674C-87BE-26ED5685B85E}"/>
              </a:ext>
            </a:extLst>
          </p:cNvPr>
          <p:cNvSpPr/>
          <p:nvPr/>
        </p:nvSpPr>
        <p:spPr>
          <a:xfrm>
            <a:off x="899592" y="415364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Distributor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5" name="Rectangle 22">
            <a:extLst>
              <a:ext uri="{FF2B5EF4-FFF2-40B4-BE49-F238E27FC236}">
                <a16:creationId xmlns:a16="http://schemas.microsoft.com/office/drawing/2014/main" id="{6357166C-6B95-424D-8422-9FA2F71CC0DB}"/>
              </a:ext>
            </a:extLst>
          </p:cNvPr>
          <p:cNvSpPr/>
          <p:nvPr/>
        </p:nvSpPr>
        <p:spPr>
          <a:xfrm>
            <a:off x="899592" y="3649588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cs typeface="Arial Narrow"/>
              </a:rPr>
              <a:t>CPU</a:t>
            </a:r>
            <a:r>
              <a:rPr lang="zh-CN" altLang="en-US" sz="12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cs typeface="Arial Narrow"/>
              </a:rPr>
              <a:t>Interface</a:t>
            </a:r>
            <a:endParaRPr lang="en-US" sz="12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995C9D86-9396-7442-ADB1-CD320B642BA9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1547664" y="3937620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22">
            <a:extLst>
              <a:ext uri="{FF2B5EF4-FFF2-40B4-BE49-F238E27FC236}">
                <a16:creationId xmlns:a16="http://schemas.microsoft.com/office/drawing/2014/main" id="{3B77C138-2246-FA4D-9636-8F6AD5584A66}"/>
              </a:ext>
            </a:extLst>
          </p:cNvPr>
          <p:cNvSpPr/>
          <p:nvPr/>
        </p:nvSpPr>
        <p:spPr>
          <a:xfrm>
            <a:off x="5652120" y="307352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Virtual</a:t>
            </a:r>
            <a:r>
              <a:rPr lang="zh-CN" altLang="en-US" sz="10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CPU</a:t>
            </a:r>
            <a:r>
              <a:rPr lang="zh-CN" altLang="en-US" sz="10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Interface</a:t>
            </a:r>
            <a:endParaRPr lang="en-US" sz="10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5864E60D-0211-A44E-8098-C8BCB1ABD827}"/>
              </a:ext>
            </a:extLst>
          </p:cNvPr>
          <p:cNvSpPr/>
          <p:nvPr/>
        </p:nvSpPr>
        <p:spPr>
          <a:xfrm>
            <a:off x="5652120" y="3577580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Redistributor</a:t>
            </a:r>
            <a:endParaRPr lang="en-US" sz="10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DA4DD63E-2B83-AD43-A072-E27EDF417519}"/>
              </a:ext>
            </a:extLst>
          </p:cNvPr>
          <p:cNvCxnSpPr>
            <a:cxnSpLocks/>
          </p:cNvCxnSpPr>
          <p:nvPr/>
        </p:nvCxnSpPr>
        <p:spPr>
          <a:xfrm flipV="1">
            <a:off x="6300192" y="3865612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77CB4471-D525-5D4F-A118-EA4824680602}"/>
              </a:ext>
            </a:extLst>
          </p:cNvPr>
          <p:cNvCxnSpPr>
            <a:cxnSpLocks/>
          </p:cNvCxnSpPr>
          <p:nvPr/>
        </p:nvCxnSpPr>
        <p:spPr>
          <a:xfrm flipV="1">
            <a:off x="6300192" y="3361556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13">
            <a:extLst>
              <a:ext uri="{FF2B5EF4-FFF2-40B4-BE49-F238E27FC236}">
                <a16:creationId xmlns:a16="http://schemas.microsoft.com/office/drawing/2014/main" id="{9E44F8DE-5A66-D749-A6BB-0B4394AF9847}"/>
              </a:ext>
            </a:extLst>
          </p:cNvPr>
          <p:cNvCxnSpPr>
            <a:cxnSpLocks/>
          </p:cNvCxnSpPr>
          <p:nvPr/>
        </p:nvCxnSpPr>
        <p:spPr>
          <a:xfrm>
            <a:off x="4644008" y="1057300"/>
            <a:ext cx="0" cy="4176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F770F25E-7A49-F847-ADA5-D6EC6B64775F}"/>
              </a:ext>
            </a:extLst>
          </p:cNvPr>
          <p:cNvSpPr txBox="1"/>
          <p:nvPr/>
        </p:nvSpPr>
        <p:spPr>
          <a:xfrm>
            <a:off x="1187624" y="5017740"/>
            <a:ext cx="266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GICv3</a:t>
            </a:r>
            <a:r>
              <a:rPr kumimoji="1" lang="zh-CN" altLang="en-US" dirty="0"/>
              <a:t>中的物理中断插入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9716956-6A2E-5548-B952-7093D6B21F84}"/>
              </a:ext>
            </a:extLst>
          </p:cNvPr>
          <p:cNvSpPr txBox="1"/>
          <p:nvPr/>
        </p:nvSpPr>
        <p:spPr>
          <a:xfrm>
            <a:off x="5292080" y="4945732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GICv4</a:t>
            </a:r>
            <a:r>
              <a:rPr kumimoji="1" lang="zh-CN" altLang="en-US" dirty="0"/>
              <a:t>中的物理中断插入</a:t>
            </a:r>
          </a:p>
        </p:txBody>
      </p:sp>
    </p:spTree>
    <p:extLst>
      <p:ext uri="{BB962C8B-B14F-4D97-AF65-F5344CB8AC3E}">
        <p14:creationId xmlns:p14="http://schemas.microsoft.com/office/powerpoint/2010/main" val="3522583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CN" b="1" dirty="0"/>
              <a:t>机密虚拟化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Confidential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Virtualization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21818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3389B-1A32-FE47-87BE-D504DB2B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当虚拟机监控器不可信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30786-E6B0-D940-B2D1-E99B1C86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43ADD-E836-5D4A-8C1B-137789D3F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84FDA810-0D67-9C03-CE0D-17A83E935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系统的复杂性</a:t>
            </a:r>
          </a:p>
          <a:p>
            <a:pPr lvl="1"/>
            <a:r>
              <a:rPr lang="zh-CN" altLang="en-US" dirty="0"/>
              <a:t>软件：恶意软件，虚拟机监控器本身可能存在漏洞</a:t>
            </a:r>
            <a:endParaRPr lang="en-US" altLang="zh-CN" dirty="0"/>
          </a:p>
          <a:p>
            <a:pPr lvl="1"/>
            <a:r>
              <a:rPr lang="zh-CN" altLang="en-US" dirty="0"/>
              <a:t>人：运维外包（如云计算等）导致接触计算机的人更复杂</a:t>
            </a:r>
            <a:endParaRPr lang="en-US" altLang="zh-CN" dirty="0"/>
          </a:p>
          <a:p>
            <a:r>
              <a:rPr lang="zh-CN" altLang="en-US" dirty="0"/>
              <a:t>不可信的虚拟机监控器</a:t>
            </a:r>
            <a:endParaRPr lang="en-US" altLang="zh-CN" dirty="0"/>
          </a:p>
          <a:p>
            <a:pPr lvl="1"/>
            <a:r>
              <a:rPr lang="zh-CN" altLang="en-US" dirty="0"/>
              <a:t>可以查看任意虚拟机的</a:t>
            </a:r>
            <a:r>
              <a:rPr lang="en-US" altLang="zh-CN" dirty="0"/>
              <a:t>vCPU</a:t>
            </a:r>
            <a:r>
              <a:rPr lang="zh-CN" altLang="en-US" dirty="0"/>
              <a:t>寄存器、内存内容、</a:t>
            </a:r>
            <a:r>
              <a:rPr lang="en-US" altLang="zh-CN" dirty="0"/>
              <a:t>I/O</a:t>
            </a:r>
            <a:r>
              <a:rPr lang="zh-CN" altLang="en-US" dirty="0"/>
              <a:t>数据</a:t>
            </a:r>
            <a:endParaRPr lang="en-US" altLang="zh-CN" dirty="0"/>
          </a:p>
          <a:p>
            <a:pPr lvl="1"/>
            <a:r>
              <a:rPr lang="zh-CN" altLang="en-US" dirty="0"/>
              <a:t>可以修改虚拟机的状态</a:t>
            </a:r>
            <a:endParaRPr lang="en-US" altLang="zh-CN" dirty="0"/>
          </a:p>
          <a:p>
            <a:pPr lvl="2"/>
            <a:r>
              <a:rPr kumimoji="1" lang="en-US" altLang="zh-CN" dirty="0"/>
              <a:t>VMM</a:t>
            </a:r>
            <a:r>
              <a:rPr kumimoji="1" lang="zh-CN" altLang="en-US" dirty="0"/>
              <a:t>控制着页表，可直接映射虚拟机的内存并读取数据</a:t>
            </a:r>
            <a:endParaRPr lang="en-US" altLang="zh-CN" dirty="0"/>
          </a:p>
          <a:p>
            <a:pPr lvl="1"/>
            <a:r>
              <a:rPr lang="zh-CN" altLang="en-US" dirty="0"/>
              <a:t>可以控制虚拟机的行为</a:t>
            </a:r>
            <a:endParaRPr lang="en-US" altLang="zh-CN" dirty="0"/>
          </a:p>
          <a:p>
            <a:pPr lvl="2"/>
            <a:r>
              <a:rPr kumimoji="1" lang="en-US" altLang="zh-CN" dirty="0"/>
              <a:t>VMM</a:t>
            </a:r>
            <a:r>
              <a:rPr kumimoji="1" lang="zh-CN" altLang="en-US" dirty="0"/>
              <a:t>控制着页表，可直接在应用内部新映射一段恶意代码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VMM</a:t>
            </a:r>
            <a:r>
              <a:rPr kumimoji="1" lang="zh-CN" altLang="en-US" dirty="0"/>
              <a:t>可任意改变虚拟机的</a:t>
            </a:r>
            <a:r>
              <a:rPr kumimoji="1" lang="en-US" altLang="zh-CN" dirty="0"/>
              <a:t>RIP</a:t>
            </a:r>
            <a:r>
              <a:rPr kumimoji="1" lang="zh-CN" altLang="en-US" dirty="0"/>
              <a:t>，劫持其执行流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085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2E23-6FF1-4F85-A398-42EEA865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虚拟机监控器的漏洞数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D09BB-E412-E55A-AF37-E439D095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3D0A2-B9CD-E26B-C341-542299AED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A1C9EFA-20E2-9350-296F-5EB9C479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3399"/>
            <a:ext cx="8291264" cy="397835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kumimoji="1" lang="en-US" altLang="zh-CN" dirty="0">
                <a:latin typeface="+mn-ea"/>
                <a:ea typeface="+mn-ea"/>
              </a:rPr>
              <a:t> Xen</a:t>
            </a:r>
            <a:r>
              <a:rPr kumimoji="1" lang="zh-CN" altLang="en-US" dirty="0">
                <a:latin typeface="+mn-ea"/>
                <a:ea typeface="+mn-ea"/>
              </a:rPr>
              <a:t> </a:t>
            </a:r>
            <a:r>
              <a:rPr kumimoji="1" lang="en-US" altLang="zh-CN" dirty="0">
                <a:latin typeface="+mn-ea"/>
                <a:ea typeface="+mn-ea"/>
              </a:rPr>
              <a:t>CVE</a:t>
            </a:r>
            <a:r>
              <a:rPr kumimoji="1" lang="zh-CN" altLang="en-US" dirty="0">
                <a:latin typeface="+mn-ea"/>
                <a:ea typeface="+mn-ea"/>
              </a:rPr>
              <a:t> </a:t>
            </a:r>
            <a:r>
              <a:rPr kumimoji="1" lang="en-US" altLang="zh-CN" dirty="0">
                <a:latin typeface="+mn-ea"/>
                <a:ea typeface="+mn-ea"/>
              </a:rPr>
              <a:t>is</a:t>
            </a:r>
            <a:r>
              <a:rPr kumimoji="1" lang="zh-CN" altLang="en-US" dirty="0">
                <a:latin typeface="+mn-ea"/>
                <a:ea typeface="+mn-ea"/>
              </a:rPr>
              <a:t> </a:t>
            </a:r>
            <a:r>
              <a:rPr kumimoji="1" lang="en-US" altLang="zh-CN" dirty="0">
                <a:latin typeface="+mn-ea"/>
                <a:ea typeface="+mn-ea"/>
              </a:rPr>
              <a:t>growing</a:t>
            </a:r>
          </a:p>
          <a:p>
            <a:pPr lvl="1">
              <a:lnSpc>
                <a:spcPct val="160000"/>
              </a:lnSpc>
            </a:pP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LoC: from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45K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(v2.0)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to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2,649K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(v4.14.0)</a:t>
            </a:r>
          </a:p>
          <a:p>
            <a:pPr lvl="1">
              <a:lnSpc>
                <a:spcPct val="160000"/>
              </a:lnSpc>
            </a:pP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321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XSA</a:t>
            </a:r>
          </a:p>
          <a:p>
            <a:pPr>
              <a:lnSpc>
                <a:spcPct val="160000"/>
              </a:lnSpc>
            </a:pP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KVM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and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VMware</a:t>
            </a:r>
          </a:p>
          <a:p>
            <a:pPr lvl="1">
              <a:lnSpc>
                <a:spcPct val="160000"/>
              </a:lnSpc>
            </a:pP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KVM: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110+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CVE</a:t>
            </a:r>
          </a:p>
          <a:p>
            <a:pPr lvl="1">
              <a:lnSpc>
                <a:spcPct val="160000"/>
              </a:lnSpc>
            </a:pP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VMware:</a:t>
            </a:r>
            <a:r>
              <a:rPr kumimoji="1" lang="zh-CN" altLang="en-US" dirty="0">
                <a:latin typeface="+mn-ea"/>
                <a:ea typeface="+mn-ea"/>
                <a:cs typeface="DengXian" charset="0"/>
              </a:rPr>
              <a:t> </a:t>
            </a:r>
            <a:r>
              <a:rPr kumimoji="1" lang="en-US" altLang="zh-CN" dirty="0">
                <a:latin typeface="+mn-ea"/>
                <a:ea typeface="+mn-ea"/>
                <a:cs typeface="DengXian" charset="0"/>
              </a:rPr>
              <a:t>140+</a:t>
            </a:r>
          </a:p>
          <a:p>
            <a:pPr>
              <a:lnSpc>
                <a:spcPct val="160000"/>
              </a:lnSpc>
            </a:pPr>
            <a:endParaRPr kumimoji="1" lang="zh-CN" altLang="en-US" dirty="0">
              <a:latin typeface="DengXian" charset="0"/>
              <a:ea typeface="DengXian" charset="0"/>
              <a:cs typeface="DengXian" charset="0"/>
            </a:endParaRPr>
          </a:p>
          <a:p>
            <a:pPr lvl="1">
              <a:lnSpc>
                <a:spcPct val="160000"/>
              </a:lnSpc>
            </a:pPr>
            <a:endParaRPr kumimoji="1" lang="zh-CN" altLang="en-US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6AEEAAA2-4C9F-6440-82EB-94771197AD12}"/>
              </a:ext>
            </a:extLst>
          </p:cNvPr>
          <p:cNvSpPr txBox="1">
            <a:spLocks/>
          </p:cNvSpPr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  <a:pPr/>
              <a:t>16</a:t>
            </a:fld>
            <a:endParaRPr lang="zh-CN" altLang="en-US"/>
          </a:p>
        </p:txBody>
      </p:sp>
      <p:graphicFrame>
        <p:nvGraphicFramePr>
          <p:cNvPr id="12" name="图表 5">
            <a:extLst>
              <a:ext uri="{FF2B5EF4-FFF2-40B4-BE49-F238E27FC236}">
                <a16:creationId xmlns:a16="http://schemas.microsoft.com/office/drawing/2014/main" id="{D85504E3-7911-E324-C002-B1C0D1D96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02645"/>
              </p:ext>
            </p:extLst>
          </p:nvPr>
        </p:nvGraphicFramePr>
        <p:xfrm>
          <a:off x="3995936" y="2427311"/>
          <a:ext cx="4067718" cy="2554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矩形 6">
            <a:extLst>
              <a:ext uri="{FF2B5EF4-FFF2-40B4-BE49-F238E27FC236}">
                <a16:creationId xmlns:a16="http://schemas.microsoft.com/office/drawing/2014/main" id="{8ADE7DE1-C14C-61A1-D9AB-0E8C1348A9F3}"/>
              </a:ext>
            </a:extLst>
          </p:cNvPr>
          <p:cNvSpPr/>
          <p:nvPr/>
        </p:nvSpPr>
        <p:spPr>
          <a:xfrm>
            <a:off x="4317627" y="4904421"/>
            <a:ext cx="342433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160" i="1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https://</a:t>
            </a:r>
            <a:r>
              <a:rPr kumimoji="1" lang="en-US" altLang="zh-CN" sz="216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xenbits.xen.org</a:t>
            </a:r>
            <a:r>
              <a:rPr kumimoji="1" lang="en-US" altLang="zh-CN" sz="2160" i="1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/</a:t>
            </a:r>
            <a:r>
              <a:rPr kumimoji="1" lang="en-US" altLang="zh-CN" sz="216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xsa</a:t>
            </a:r>
            <a:r>
              <a:rPr kumimoji="1" lang="en-US" altLang="zh-CN" sz="2160" i="1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/</a:t>
            </a:r>
            <a:endParaRPr lang="zh-CN" altLang="en-US" sz="216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10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28811-C629-454C-84FF-E11183F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虚拟机监控器漏洞的危害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A111E4-9000-6642-8F25-B3510700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CA5E36-9EEB-C945-8AA8-833E715C792F}"/>
              </a:ext>
            </a:extLst>
          </p:cNvPr>
          <p:cNvSpPr txBox="1"/>
          <p:nvPr/>
        </p:nvSpPr>
        <p:spPr>
          <a:xfrm>
            <a:off x="4970033" y="16997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24821937-9EE1-404B-A5C1-425858D9F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虚拟机提权</a:t>
            </a:r>
            <a:r>
              <a:rPr lang="en-US" altLang="zh-CN" dirty="0"/>
              <a:t>(Privilege</a:t>
            </a:r>
            <a:r>
              <a:rPr lang="zh-CN" altLang="en-US" dirty="0"/>
              <a:t> </a:t>
            </a:r>
            <a:r>
              <a:rPr lang="en-US" altLang="zh-CN" dirty="0"/>
              <a:t>Escalation)</a:t>
            </a:r>
          </a:p>
          <a:p>
            <a:r>
              <a:rPr lang="zh-CN" altLang="en-US" dirty="0"/>
              <a:t>隐私数据泄露</a:t>
            </a:r>
            <a:r>
              <a:rPr lang="en-US" altLang="zh-CN" dirty="0"/>
              <a:t>(Data</a:t>
            </a:r>
            <a:r>
              <a:rPr lang="zh-CN" altLang="en-US" dirty="0"/>
              <a:t> </a:t>
            </a:r>
            <a:r>
              <a:rPr lang="en-US" altLang="zh-CN" dirty="0"/>
              <a:t>Leakage)</a:t>
            </a:r>
          </a:p>
          <a:p>
            <a:r>
              <a:rPr lang="zh-CN" altLang="en-US" dirty="0"/>
              <a:t>拒绝服务攻击</a:t>
            </a:r>
            <a:r>
              <a:rPr lang="en-US" altLang="zh-CN" dirty="0"/>
              <a:t>(Denial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Service)</a:t>
            </a:r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68FB564E-25F6-1C4C-914F-B0801A151391}"/>
              </a:ext>
            </a:extLst>
          </p:cNvPr>
          <p:cNvGraphicFramePr>
            <a:graphicFrameLocks noGrp="1"/>
          </p:cNvGraphicFramePr>
          <p:nvPr/>
        </p:nvGraphicFramePr>
        <p:xfrm>
          <a:off x="1295635" y="3284318"/>
          <a:ext cx="6552729" cy="1733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768">
                  <a:extLst>
                    <a:ext uri="{9D8B030D-6E8A-4147-A177-3AD203B41FA5}">
                      <a16:colId xmlns:a16="http://schemas.microsoft.com/office/drawing/2014/main" val="615514409"/>
                    </a:ext>
                  </a:extLst>
                </a:gridCol>
                <a:gridCol w="841664">
                  <a:extLst>
                    <a:ext uri="{9D8B030D-6E8A-4147-A177-3AD203B41FA5}">
                      <a16:colId xmlns:a16="http://schemas.microsoft.com/office/drawing/2014/main" val="1199550206"/>
                    </a:ext>
                  </a:extLst>
                </a:gridCol>
                <a:gridCol w="725576">
                  <a:extLst>
                    <a:ext uri="{9D8B030D-6E8A-4147-A177-3AD203B41FA5}">
                      <a16:colId xmlns:a16="http://schemas.microsoft.com/office/drawing/2014/main" val="1963517805"/>
                    </a:ext>
                  </a:extLst>
                </a:gridCol>
                <a:gridCol w="850397">
                  <a:extLst>
                    <a:ext uri="{9D8B030D-6E8A-4147-A177-3AD203B41FA5}">
                      <a16:colId xmlns:a16="http://schemas.microsoft.com/office/drawing/2014/main" val="1474765811"/>
                    </a:ext>
                  </a:extLst>
                </a:gridCol>
                <a:gridCol w="773089">
                  <a:extLst>
                    <a:ext uri="{9D8B030D-6E8A-4147-A177-3AD203B41FA5}">
                      <a16:colId xmlns:a16="http://schemas.microsoft.com/office/drawing/2014/main" val="218238374"/>
                    </a:ext>
                  </a:extLst>
                </a:gridCol>
                <a:gridCol w="927705">
                  <a:extLst>
                    <a:ext uri="{9D8B030D-6E8A-4147-A177-3AD203B41FA5}">
                      <a16:colId xmlns:a16="http://schemas.microsoft.com/office/drawing/2014/main" val="1983192513"/>
                    </a:ext>
                  </a:extLst>
                </a:gridCol>
                <a:gridCol w="870530">
                  <a:extLst>
                    <a:ext uri="{9D8B030D-6E8A-4147-A177-3AD203B41FA5}">
                      <a16:colId xmlns:a16="http://schemas.microsoft.com/office/drawing/2014/main" val="4135647990"/>
                    </a:ext>
                  </a:extLst>
                </a:gridCol>
              </a:tblGrid>
              <a:tr h="433356">
                <a:tc rowSpan="2"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  <a:p>
                      <a:pPr algn="ctr" fontAlgn="ctr"/>
                      <a:r>
                        <a:rPr lang="en-US" altLang="zh-CN" dirty="0"/>
                        <a:t>Hypervisor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Total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Host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Other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LoC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401925"/>
                  </a:ext>
                </a:extLst>
              </a:tr>
              <a:tr h="433356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PE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DoS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DL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287645"/>
                  </a:ext>
                </a:extLst>
              </a:tr>
              <a:tr h="433356">
                <a:tc>
                  <a:txBody>
                    <a:bodyPr/>
                    <a:lstStyle/>
                    <a:p>
                      <a:r>
                        <a:rPr lang="en-US" altLang="zh-CN" dirty="0"/>
                        <a:t>KVM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127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17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53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47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57K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066618"/>
                  </a:ext>
                </a:extLst>
              </a:tr>
              <a:tr h="433356">
                <a:tc>
                  <a:txBody>
                    <a:bodyPr/>
                    <a:lstStyle/>
                    <a:p>
                      <a:r>
                        <a:rPr lang="en-US" altLang="zh-CN" dirty="0"/>
                        <a:t>Xen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423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109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189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25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302K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998186"/>
                  </a:ext>
                </a:extLst>
              </a:tr>
            </a:tbl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C0377C97-0757-429F-A191-94F32ACE191F}"/>
              </a:ext>
            </a:extLst>
          </p:cNvPr>
          <p:cNvGraphicFramePr/>
          <p:nvPr/>
        </p:nvGraphicFramePr>
        <p:xfrm>
          <a:off x="7089866" y="1378880"/>
          <a:ext cx="2055444" cy="1568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10E391-6DEA-FA9A-69EB-971CC3B179F1}"/>
              </a:ext>
            </a:extLst>
          </p:cNvPr>
          <p:cNvSpPr txBox="1">
            <a:spLocks/>
          </p:cNvSpPr>
          <p:nvPr/>
        </p:nvSpPr>
        <p:spPr>
          <a:xfrm>
            <a:off x="2590801" y="5466803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6131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14DD-B27F-CBBE-E431-9C0D7C1C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来自管理员的威胁</a:t>
            </a:r>
            <a:r>
              <a:rPr lang="zh-CN" altLang="en-US" dirty="0"/>
              <a:t>（</a:t>
            </a:r>
            <a:r>
              <a:rPr lang="en-US" altLang="zh-CN" dirty="0"/>
              <a:t>Insider</a:t>
            </a:r>
            <a:r>
              <a:rPr lang="zh-CN" altLang="en-US" dirty="0"/>
              <a:t> </a:t>
            </a:r>
            <a:r>
              <a:rPr lang="en-US" altLang="zh-CN" dirty="0"/>
              <a:t>Threats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B4AFF-2A08-CB8D-98C5-989FCAFD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61749-00D5-C84C-BCD4-D18DED2B6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77709F-4DD0-A43E-8EA3-2057B810EA1D}"/>
              </a:ext>
            </a:extLst>
          </p:cNvPr>
          <p:cNvSpPr txBox="1">
            <a:spLocks/>
          </p:cNvSpPr>
          <p:nvPr/>
        </p:nvSpPr>
        <p:spPr>
          <a:xfrm>
            <a:off x="-209228" y="119078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altLang="zh-CN" sz="1800">
              <a:cs typeface="方正舒体" charset="0"/>
            </a:endParaRPr>
          </a:p>
          <a:p>
            <a:pPr marL="182563" indent="-182563"/>
            <a:endParaRPr lang="en-US" altLang="zh-CN" sz="1800">
              <a:cs typeface="方正舒体" charset="0"/>
            </a:endParaRPr>
          </a:p>
          <a:p>
            <a:pPr marL="457200" lvl="1" indent="-182563"/>
            <a:endParaRPr lang="en-US" altLang="zh-CN" sz="1800" dirty="0"/>
          </a:p>
        </p:txBody>
      </p:sp>
      <p:pic>
        <p:nvPicPr>
          <p:cNvPr id="7" name="Picture 6" descr="图片 2.png">
            <a:extLst>
              <a:ext uri="{FF2B5EF4-FFF2-40B4-BE49-F238E27FC236}">
                <a16:creationId xmlns:a16="http://schemas.microsoft.com/office/drawing/2014/main" id="{6572561C-39AC-326F-1397-2697A19F0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117658"/>
            <a:ext cx="8572500" cy="51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019BF6-017D-C5DC-4B00-78A488D6E12D}"/>
              </a:ext>
            </a:extLst>
          </p:cNvPr>
          <p:cNvSpPr txBox="1"/>
          <p:nvPr/>
        </p:nvSpPr>
        <p:spPr>
          <a:xfrm>
            <a:off x="6451004" y="2701832"/>
            <a:ext cx="2088232" cy="3693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4B2C1-57C8-A780-9ECE-25308B0B6867}"/>
              </a:ext>
            </a:extLst>
          </p:cNvPr>
          <p:cNvSpPr txBox="1"/>
          <p:nvPr/>
        </p:nvSpPr>
        <p:spPr>
          <a:xfrm>
            <a:off x="2994620" y="2917857"/>
            <a:ext cx="2952328" cy="3693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AC6B1-149F-C93E-CB9C-1E228509246D}"/>
              </a:ext>
            </a:extLst>
          </p:cNvPr>
          <p:cNvSpPr txBox="1"/>
          <p:nvPr/>
        </p:nvSpPr>
        <p:spPr>
          <a:xfrm>
            <a:off x="2346548" y="5294121"/>
            <a:ext cx="5760640" cy="3693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FD21A048-3169-5B2A-C94E-2DBB7ED3945A}"/>
              </a:ext>
            </a:extLst>
          </p:cNvPr>
          <p:cNvSpPr txBox="1">
            <a:spLocks/>
          </p:cNvSpPr>
          <p:nvPr/>
        </p:nvSpPr>
        <p:spPr>
          <a:xfrm>
            <a:off x="1074414" y="3453763"/>
            <a:ext cx="7128045" cy="982133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872"/>
              </a:spcBef>
              <a:buFont typeface="Arial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..., peeking in on emails, chats and </a:t>
            </a:r>
            <a:b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Talk call logs for several months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046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36031-5779-4E49-A424-54F926D1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一种新的威胁模型：安全处理器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AEC863-D8BB-844A-88AD-CA6C1588E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不信任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外的硬件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包括内存（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）、设备、网络</a:t>
            </a:r>
          </a:p>
          <a:p>
            <a:r>
              <a:rPr kumimoji="1" lang="zh-CN" altLang="en-US" dirty="0"/>
              <a:t>仅信任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包括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、所有计算逻辑（</a:t>
            </a:r>
            <a:r>
              <a:rPr kumimoji="1" lang="en-US" altLang="zh-CN" dirty="0"/>
              <a:t>Anyway</a:t>
            </a:r>
            <a:r>
              <a:rPr kumimoji="1" lang="zh-CN" altLang="en-US" dirty="0"/>
              <a:t>，总得信任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吧</a:t>
            </a:r>
            <a:r>
              <a:rPr kumimoji="1" lang="en-US" altLang="zh-CN" dirty="0"/>
              <a:t>...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>
                <a:solidFill>
                  <a:schemeClr val="accent1"/>
                </a:solidFill>
              </a:rPr>
              <a:t>Enclave</a:t>
            </a:r>
            <a:r>
              <a:rPr kumimoji="1" lang="zh-CN" altLang="en-US" dirty="0">
                <a:solidFill>
                  <a:schemeClr val="accent1"/>
                </a:solidFill>
              </a:rPr>
              <a:t>（飞地）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dirty="0"/>
              <a:t>又称为可信执行环境，</a:t>
            </a:r>
            <a:r>
              <a:rPr kumimoji="1" lang="en-US" altLang="zh-CN" dirty="0"/>
              <a:t>TEE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Trusted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Environment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什么是“可信”？信什么呢？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EF6CB4-2033-0441-8550-7CA35069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E6E397-EF7B-E14D-A995-48AA10082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880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FA8F3-BCF0-F644-AC75-8AC50227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37220"/>
            <a:ext cx="6826002" cy="611258"/>
          </a:xfrm>
        </p:spPr>
        <p:txBody>
          <a:bodyPr>
            <a:noAutofit/>
          </a:bodyPr>
          <a:lstStyle/>
          <a:p>
            <a:r>
              <a:rPr kumimoji="1" lang="en-US" altLang="zh-CN" dirty="0"/>
              <a:t>Enclave/TEE</a:t>
            </a:r>
            <a:r>
              <a:rPr kumimoji="1" lang="zh-CN" altLang="en-US" dirty="0"/>
              <a:t>：可信执行环境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4EE99D3-C84C-8A4F-8DC6-487543311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67212"/>
            <a:ext cx="8136904" cy="3832235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Enclave/TEE</a:t>
            </a:r>
            <a:r>
              <a:rPr kumimoji="1" lang="zh-CN" altLang="en-US" sz="2000" dirty="0"/>
              <a:t>的定义</a:t>
            </a:r>
            <a:endParaRPr kumimoji="1" lang="en-US" altLang="zh-CN" sz="20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，又称</a:t>
            </a:r>
            <a:r>
              <a:rPr kumimoji="1" lang="en-US" altLang="zh-CN" sz="1600" dirty="0"/>
              <a:t>"</a:t>
            </a:r>
            <a:r>
              <a:rPr kumimoji="1" lang="zh-CN" altLang="en-US" sz="1600" dirty="0"/>
              <a:t>可信执行环境</a:t>
            </a:r>
            <a:r>
              <a:rPr kumimoji="1" lang="en-US" altLang="zh-CN" sz="1600" dirty="0"/>
              <a:t>" </a:t>
            </a:r>
            <a:r>
              <a:rPr kumimoji="1" lang="zh-CN" altLang="en-US" sz="1600" dirty="0"/>
              <a:t>（</a:t>
            </a:r>
            <a:r>
              <a:rPr kumimoji="1" lang="en-US" altLang="zh-CN" sz="1600" dirty="0"/>
              <a:t>TEE</a:t>
            </a:r>
            <a:r>
              <a:rPr kumimoji="1" lang="zh-CN" altLang="en-US" sz="1600" dirty="0"/>
              <a:t>，</a:t>
            </a:r>
            <a:r>
              <a:rPr kumimoji="1" lang="en-US" altLang="zh-CN" sz="1600" dirty="0"/>
              <a:t>Trusted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Execution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Environment</a:t>
            </a:r>
            <a:r>
              <a:rPr kumimoji="1" lang="zh-CN" altLang="en-US" sz="1600" dirty="0"/>
              <a:t>），是计算机系统中一块通过底层软硬件构造的安全区域，通过保证加载到该区域的代码和数据的完整性和隐私性，实现对代码执行与数据资产的保护 </a:t>
            </a:r>
            <a:r>
              <a:rPr kumimoji="1" lang="en-US" altLang="zh-CN" sz="1600" dirty="0"/>
              <a:t>——</a:t>
            </a:r>
            <a:r>
              <a:rPr kumimoji="1" lang="zh-CN" altLang="en-US" sz="1600" dirty="0"/>
              <a:t> </a:t>
            </a:r>
            <a:r>
              <a:rPr kumimoji="1" lang="en-US" altLang="zh-CN" sz="1600" i="1" dirty="0"/>
              <a:t>Wikipedia</a:t>
            </a:r>
          </a:p>
          <a:p>
            <a:r>
              <a:rPr kumimoji="1" lang="en-US" altLang="zh-CN" sz="2000" dirty="0"/>
              <a:t>Enclave</a:t>
            </a:r>
            <a:r>
              <a:rPr kumimoji="1" lang="zh-CN" altLang="en-US" sz="2000" dirty="0"/>
              <a:t>的两个主要功能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远程认证：验证远程节点是否为加载了合法代码的</a:t>
            </a:r>
            <a:r>
              <a:rPr kumimoji="1" lang="en-US" altLang="zh-CN" sz="1600" dirty="0"/>
              <a:t>Enclave</a:t>
            </a:r>
          </a:p>
          <a:p>
            <a:pPr lvl="1"/>
            <a:r>
              <a:rPr kumimoji="1" lang="zh-CN" altLang="en-US" sz="1600" dirty="0"/>
              <a:t>隔离运行：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外无法访问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内部的数据</a:t>
            </a:r>
            <a:endParaRPr kumimoji="1" lang="en-US" altLang="zh-CN" sz="1400" dirty="0"/>
          </a:p>
          <a:p>
            <a:r>
              <a:rPr kumimoji="1" lang="en-US" altLang="zh-CN" sz="2000" dirty="0"/>
              <a:t>Enclave</a:t>
            </a:r>
            <a:r>
              <a:rPr kumimoji="1" lang="zh-CN" altLang="en-US" sz="2000" dirty="0"/>
              <a:t>带来的能力：限制访问数据的软件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可保证数据只在提前被认证的合法节点间流动</a:t>
            </a:r>
            <a:endParaRPr kumimoji="1" lang="en-US" altLang="zh-CN" sz="1600" dirty="0"/>
          </a:p>
          <a:p>
            <a:pPr lvl="2"/>
            <a:r>
              <a:rPr kumimoji="1" lang="zh-CN" altLang="en-US" sz="1400" dirty="0"/>
              <a:t>合法节点：部署了合法软件的节点</a:t>
            </a:r>
            <a:endParaRPr kumimoji="1" lang="zh-CN" altLang="en-US" sz="2400" dirty="0"/>
          </a:p>
          <a:p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80662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Enclave/TEE</a:t>
            </a:r>
            <a:r>
              <a:rPr lang="zh-CN" altLang="en-US" dirty="0"/>
              <a:t>在工业界发展迅速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1521" y="2305989"/>
            <a:ext cx="2283111" cy="938600"/>
          </a:xfrm>
        </p:spPr>
        <p:txBody>
          <a:bodyPr>
            <a:normAutofit/>
          </a:bodyPr>
          <a:lstStyle/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Intel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SGX/TDX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2362653" y="2297393"/>
            <a:ext cx="2283111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AMD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SEV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内容占位符 4"/>
          <p:cNvSpPr txBox="1">
            <a:spLocks/>
          </p:cNvSpPr>
          <p:nvPr/>
        </p:nvSpPr>
        <p:spPr>
          <a:xfrm>
            <a:off x="4440085" y="2300281"/>
            <a:ext cx="2613190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ARM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CCA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46" y="1519518"/>
            <a:ext cx="1231583" cy="817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751" y="1283926"/>
            <a:ext cx="1532153" cy="11491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7339" y="1129309"/>
            <a:ext cx="1922600" cy="14419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410C76-7126-D443-8A11-508D1D493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43" y="1436025"/>
            <a:ext cx="2554004" cy="870683"/>
          </a:xfrm>
          <a:prstGeom prst="rect">
            <a:avLst/>
          </a:prstGeom>
        </p:spPr>
      </p:pic>
      <p:sp>
        <p:nvSpPr>
          <p:cNvPr id="14" name="内容占位符 4">
            <a:extLst>
              <a:ext uri="{FF2B5EF4-FFF2-40B4-BE49-F238E27FC236}">
                <a16:creationId xmlns:a16="http://schemas.microsoft.com/office/drawing/2014/main" id="{1458050B-EF8B-F248-B1B6-4BE2F817D9BA}"/>
              </a:ext>
            </a:extLst>
          </p:cNvPr>
          <p:cNvSpPr txBox="1">
            <a:spLocks/>
          </p:cNvSpPr>
          <p:nvPr/>
        </p:nvSpPr>
        <p:spPr>
          <a:xfrm>
            <a:off x="6577725" y="2297393"/>
            <a:ext cx="2613190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t>Keystone</a:t>
            </a:r>
            <a:r>
              <a:rPr lang="zh-CN" altLang="en-US" sz="1800" dirty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t>，蓬莱</a:t>
            </a:r>
            <a:endParaRPr lang="en-US" altLang="zh-CN" sz="1800" dirty="0">
              <a:solidFill>
                <a:schemeClr val="tx2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D9E9E6F-B1EA-3247-AE03-9002D69B7DF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386" t="61606" r="30739" b="8447"/>
          <a:stretch/>
        </p:blipFill>
        <p:spPr>
          <a:xfrm>
            <a:off x="6897293" y="4513684"/>
            <a:ext cx="2041565" cy="581998"/>
          </a:xfrm>
          <a:prstGeom prst="rect">
            <a:avLst/>
          </a:prstGeom>
        </p:spPr>
      </p:pic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53DF332-789C-B145-9572-BEA6E1869A54}"/>
              </a:ext>
            </a:extLst>
          </p:cNvPr>
          <p:cNvSpPr txBox="1">
            <a:spLocks/>
          </p:cNvSpPr>
          <p:nvPr/>
        </p:nvSpPr>
        <p:spPr>
          <a:xfrm>
            <a:off x="457200" y="3001516"/>
            <a:ext cx="8229600" cy="2304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多家云厂商利用</a:t>
            </a:r>
            <a:r>
              <a:rPr kumimoji="1" lang="en-US" altLang="zh-CN" sz="2000" dirty="0"/>
              <a:t>TEE/Enclave</a:t>
            </a:r>
            <a:r>
              <a:rPr kumimoji="1" lang="zh-CN" altLang="en-US" sz="2000" dirty="0"/>
              <a:t>保护数据</a:t>
            </a:r>
            <a:endParaRPr kumimoji="1" lang="en-US" altLang="zh-CN" sz="2000" dirty="0"/>
          </a:p>
          <a:p>
            <a:pPr lvl="1"/>
            <a:r>
              <a:rPr kumimoji="1" lang="en-US" altLang="zh-CN" sz="1500" dirty="0"/>
              <a:t>2018</a:t>
            </a:r>
            <a:r>
              <a:rPr kumimoji="1" lang="zh-CN" altLang="en-US" sz="1500" dirty="0"/>
              <a:t>年，</a:t>
            </a:r>
            <a:r>
              <a:rPr kumimoji="1" lang="en-US" altLang="zh-CN" sz="1500" dirty="0"/>
              <a:t>Microsoft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Azure</a:t>
            </a:r>
            <a:r>
              <a:rPr kumimoji="1" lang="zh-CN" altLang="en-US" sz="1500" dirty="0"/>
              <a:t> 基于</a:t>
            </a:r>
            <a:r>
              <a:rPr kumimoji="1" lang="en-US" altLang="zh-CN" sz="1500" dirty="0">
                <a:solidFill>
                  <a:schemeClr val="accent1"/>
                </a:solidFill>
              </a:rPr>
              <a:t>Intel</a:t>
            </a:r>
            <a:r>
              <a:rPr kumimoji="1" lang="zh-CN" altLang="en-US" sz="1500" dirty="0">
                <a:solidFill>
                  <a:schemeClr val="accent1"/>
                </a:solidFill>
              </a:rPr>
              <a:t> </a:t>
            </a:r>
            <a:r>
              <a:rPr kumimoji="1" lang="en-US" altLang="zh-CN" sz="1500" dirty="0">
                <a:solidFill>
                  <a:schemeClr val="accent1"/>
                </a:solidFill>
              </a:rPr>
              <a:t>SGX</a:t>
            </a:r>
            <a:r>
              <a:rPr kumimoji="1" lang="zh-CN" altLang="en-US" sz="1500" dirty="0"/>
              <a:t>推出</a:t>
            </a:r>
            <a:r>
              <a:rPr kumimoji="1" lang="en-US" altLang="zh-CN" sz="1500" dirty="0"/>
              <a:t>Confidential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Computing</a:t>
            </a:r>
          </a:p>
          <a:p>
            <a:pPr lvl="1"/>
            <a:r>
              <a:rPr kumimoji="1" lang="en-US" altLang="zh-CN" sz="1500" dirty="0"/>
              <a:t>2019</a:t>
            </a:r>
            <a:r>
              <a:rPr kumimoji="1" lang="zh-CN" altLang="en-US" sz="1500" dirty="0"/>
              <a:t>年，</a:t>
            </a:r>
            <a:r>
              <a:rPr kumimoji="1" lang="en-US" altLang="zh-CN" sz="1500" dirty="0"/>
              <a:t>Amazon</a:t>
            </a:r>
            <a:r>
              <a:rPr kumimoji="1" lang="zh-CN" altLang="en-US" sz="1500" dirty="0"/>
              <a:t> 推出了</a:t>
            </a:r>
            <a:r>
              <a:rPr kumimoji="1" lang="en-US" altLang="zh-CN" sz="1500" dirty="0">
                <a:solidFill>
                  <a:schemeClr val="accent1"/>
                </a:solidFill>
              </a:rPr>
              <a:t>Nitro</a:t>
            </a:r>
            <a:r>
              <a:rPr kumimoji="1" lang="zh-CN" altLang="en-US" sz="1500" dirty="0">
                <a:solidFill>
                  <a:schemeClr val="accent1"/>
                </a:solidFill>
              </a:rPr>
              <a:t> </a:t>
            </a:r>
            <a:r>
              <a:rPr kumimoji="1" lang="en-US" altLang="zh-CN" sz="1500" dirty="0">
                <a:solidFill>
                  <a:schemeClr val="accent1"/>
                </a:solidFill>
              </a:rPr>
              <a:t>Enclave</a:t>
            </a:r>
            <a:r>
              <a:rPr kumimoji="1" lang="zh-CN" altLang="en-US" sz="1500" dirty="0"/>
              <a:t>保护用户的关键数据</a:t>
            </a:r>
            <a:endParaRPr kumimoji="1" lang="en-US" altLang="zh-CN" sz="1500" dirty="0"/>
          </a:p>
          <a:p>
            <a:pPr lvl="1"/>
            <a:r>
              <a:rPr kumimoji="1" lang="en-US" altLang="zh-CN" sz="1500" dirty="0"/>
              <a:t>2020</a:t>
            </a:r>
            <a:r>
              <a:rPr kumimoji="1" lang="zh-CN" altLang="en-US" sz="1500" dirty="0"/>
              <a:t>年，</a:t>
            </a:r>
            <a:r>
              <a:rPr kumimoji="1" lang="en-US" altLang="zh-CN" sz="1500" dirty="0"/>
              <a:t>Google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Cloud</a:t>
            </a:r>
            <a:r>
              <a:rPr kumimoji="1" lang="zh-CN" altLang="en-US" sz="1500" dirty="0"/>
              <a:t> 基于</a:t>
            </a:r>
            <a:r>
              <a:rPr kumimoji="1" lang="en-US" altLang="zh-CN" sz="1500" dirty="0">
                <a:solidFill>
                  <a:schemeClr val="accent1"/>
                </a:solidFill>
              </a:rPr>
              <a:t>AMD</a:t>
            </a:r>
            <a:r>
              <a:rPr kumimoji="1" lang="zh-CN" altLang="en-US" sz="1500" dirty="0">
                <a:solidFill>
                  <a:schemeClr val="accent1"/>
                </a:solidFill>
              </a:rPr>
              <a:t> </a:t>
            </a:r>
            <a:r>
              <a:rPr kumimoji="1" lang="en-US" altLang="zh-CN" sz="1500" dirty="0">
                <a:solidFill>
                  <a:schemeClr val="accent1"/>
                </a:solidFill>
              </a:rPr>
              <a:t>SEV</a:t>
            </a:r>
            <a:r>
              <a:rPr kumimoji="1" lang="zh-CN" altLang="en-US" sz="1500" dirty="0"/>
              <a:t>推出加密虚拟机</a:t>
            </a:r>
            <a:r>
              <a:rPr kumimoji="1" lang="en-US" altLang="zh-CN" sz="1500" dirty="0"/>
              <a:t>Secure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VM</a:t>
            </a:r>
            <a:endParaRPr kumimoji="1" lang="zh-CN" altLang="en-US" sz="1500" dirty="0"/>
          </a:p>
          <a:p>
            <a:r>
              <a:rPr lang="en-US" altLang="zh-CN" sz="2000" dirty="0"/>
              <a:t>2019</a:t>
            </a:r>
            <a:r>
              <a:rPr lang="zh-CN" altLang="en-US" sz="2000" dirty="0"/>
              <a:t>年</a:t>
            </a:r>
            <a:r>
              <a:rPr lang="en-US" altLang="zh-CN" sz="2000" dirty="0"/>
              <a:t>8</a:t>
            </a:r>
            <a:r>
              <a:rPr lang="zh-CN" altLang="en-US" sz="2000" dirty="0"/>
              <a:t>月，多家公司成立机密计算联盟</a:t>
            </a:r>
          </a:p>
          <a:p>
            <a:pPr lvl="1"/>
            <a:r>
              <a:rPr kumimoji="1" lang="zh-CN" altLang="en-US" sz="1500" dirty="0"/>
              <a:t>国内公司包括：华为、阿里云、腾讯、百度、字节跳动等</a:t>
            </a:r>
            <a:endParaRPr kumimoji="1" lang="en-US" altLang="zh-CN" sz="1500" dirty="0"/>
          </a:p>
          <a:p>
            <a:pPr lvl="1"/>
            <a:r>
              <a:rPr kumimoji="1" lang="zh-CN" altLang="en-US" sz="1500" dirty="0"/>
              <a:t>国外公司包括：</a:t>
            </a:r>
            <a:r>
              <a:rPr kumimoji="1" lang="en-US" altLang="zh-CN" sz="1500" dirty="0"/>
              <a:t>Arm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AMD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Intel</a:t>
            </a:r>
            <a:r>
              <a:rPr kumimoji="1" lang="zh-CN" altLang="en-US" sz="1500" dirty="0"/>
              <a:t>、</a:t>
            </a:r>
            <a:r>
              <a:rPr kumimoji="1" lang="en-US" altLang="zh-CN" sz="1500" dirty="0" err="1"/>
              <a:t>Redhat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Facebook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Google</a:t>
            </a:r>
            <a:r>
              <a:rPr kumimoji="1" lang="zh-CN" altLang="en-US" sz="1500" dirty="0"/>
              <a:t>等</a:t>
            </a:r>
            <a:endParaRPr kumimoji="1" lang="en-US" altLang="zh-CN" sz="1500" dirty="0"/>
          </a:p>
        </p:txBody>
      </p:sp>
    </p:spTree>
    <p:extLst>
      <p:ext uri="{BB962C8B-B14F-4D97-AF65-F5344CB8AC3E}">
        <p14:creationId xmlns:p14="http://schemas.microsoft.com/office/powerpoint/2010/main" val="1428541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E7898-72AC-384A-82C3-AA2BA1A8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提供不同粒度的隔离环境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4F2942-6C60-5846-B252-2A6FDF5A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EDD9ED-B8BD-A648-9CA8-7F73366CD9A0}"/>
              </a:ext>
            </a:extLst>
          </p:cNvPr>
          <p:cNvSpPr txBox="1"/>
          <p:nvPr/>
        </p:nvSpPr>
        <p:spPr>
          <a:xfrm>
            <a:off x="3723370" y="1345335"/>
            <a:ext cx="127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容器抽象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2FC9CD-7D4B-6143-B95C-3EEE1151F531}"/>
              </a:ext>
            </a:extLst>
          </p:cNvPr>
          <p:cNvSpPr txBox="1"/>
          <p:nvPr/>
        </p:nvSpPr>
        <p:spPr>
          <a:xfrm>
            <a:off x="2195736" y="1345336"/>
            <a:ext cx="115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应用抽象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9C422BC-A11E-2E4C-A242-F60FA5287A79}"/>
              </a:ext>
            </a:extLst>
          </p:cNvPr>
          <p:cNvSpPr txBox="1"/>
          <p:nvPr/>
        </p:nvSpPr>
        <p:spPr>
          <a:xfrm>
            <a:off x="539552" y="1345333"/>
            <a:ext cx="127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应用片段抽象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AE7FBBE-249D-AF4D-9616-317301B3705D}"/>
              </a:ext>
            </a:extLst>
          </p:cNvPr>
          <p:cNvSpPr txBox="1"/>
          <p:nvPr/>
        </p:nvSpPr>
        <p:spPr>
          <a:xfrm>
            <a:off x="7242773" y="1345333"/>
            <a:ext cx="113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+mn-ea"/>
                <a:cs typeface="Arial" panose="020B0604020202020204" pitchFamily="34" charset="0"/>
              </a:rPr>
              <a:t>物理机抽象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0716BBA-E844-5B49-BC05-B7D693864978}"/>
              </a:ext>
            </a:extLst>
          </p:cNvPr>
          <p:cNvSpPr txBox="1"/>
          <p:nvPr/>
        </p:nvSpPr>
        <p:spPr>
          <a:xfrm>
            <a:off x="5377046" y="1345334"/>
            <a:ext cx="113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+mn-ea"/>
                <a:cs typeface="Arial" panose="020B0604020202020204" pitchFamily="34" charset="0"/>
              </a:rPr>
              <a:t>虚拟机抽象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E02E5E1-3F05-0F4F-91BC-58C92DD236F8}"/>
              </a:ext>
            </a:extLst>
          </p:cNvPr>
          <p:cNvSpPr/>
          <p:nvPr/>
        </p:nvSpPr>
        <p:spPr>
          <a:xfrm>
            <a:off x="824198" y="1876188"/>
            <a:ext cx="720080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可信部分</a:t>
            </a:r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F9169DA-93EA-7640-97E9-F6D7498E3550}"/>
              </a:ext>
            </a:extLst>
          </p:cNvPr>
          <p:cNvSpPr/>
          <p:nvPr/>
        </p:nvSpPr>
        <p:spPr>
          <a:xfrm>
            <a:off x="821798" y="2575102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5CA1D1C-4F9F-9443-95F5-AFE19E0C4AEE}"/>
              </a:ext>
            </a:extLst>
          </p:cNvPr>
          <p:cNvSpPr/>
          <p:nvPr/>
        </p:nvSpPr>
        <p:spPr>
          <a:xfrm>
            <a:off x="715325" y="1765159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CD1C9D5-96A5-D149-A841-51D03C6F1263}"/>
              </a:ext>
            </a:extLst>
          </p:cNvPr>
          <p:cNvSpPr/>
          <p:nvPr/>
        </p:nvSpPr>
        <p:spPr>
          <a:xfrm>
            <a:off x="715325" y="3464200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7ED01A2-ED63-D64A-862E-9D0715CCDB71}"/>
              </a:ext>
            </a:extLst>
          </p:cNvPr>
          <p:cNvSpPr/>
          <p:nvPr/>
        </p:nvSpPr>
        <p:spPr>
          <a:xfrm>
            <a:off x="4003263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C363AEC-F70C-9B44-8946-3CFB92E774AB}"/>
              </a:ext>
            </a:extLst>
          </p:cNvPr>
          <p:cNvSpPr/>
          <p:nvPr/>
        </p:nvSpPr>
        <p:spPr>
          <a:xfrm>
            <a:off x="4000862" y="2570104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5E13FAF-88B6-2341-9D9A-13537A27B5CE}"/>
              </a:ext>
            </a:extLst>
          </p:cNvPr>
          <p:cNvSpPr/>
          <p:nvPr/>
        </p:nvSpPr>
        <p:spPr>
          <a:xfrm>
            <a:off x="3894389" y="1760161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E6EF310-6BA6-F043-B812-FF020AD13826}"/>
              </a:ext>
            </a:extLst>
          </p:cNvPr>
          <p:cNvSpPr/>
          <p:nvPr/>
        </p:nvSpPr>
        <p:spPr>
          <a:xfrm>
            <a:off x="3894389" y="3459202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06BB9E4-9CE2-3F43-9F7B-85837A5BF5B2}"/>
              </a:ext>
            </a:extLst>
          </p:cNvPr>
          <p:cNvSpPr/>
          <p:nvPr/>
        </p:nvSpPr>
        <p:spPr>
          <a:xfrm>
            <a:off x="4387734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053CB18-1563-7F47-A38D-C467A96E0CE3}"/>
              </a:ext>
            </a:extLst>
          </p:cNvPr>
          <p:cNvSpPr/>
          <p:nvPr/>
        </p:nvSpPr>
        <p:spPr>
          <a:xfrm>
            <a:off x="2409248" y="2575996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6A76E4B-92CB-8745-B53F-45EA29E5ADB7}"/>
              </a:ext>
            </a:extLst>
          </p:cNvPr>
          <p:cNvSpPr/>
          <p:nvPr/>
        </p:nvSpPr>
        <p:spPr>
          <a:xfrm>
            <a:off x="2302775" y="1766053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9013DE1-7DA3-B445-AC2E-C324B3E5E82C}"/>
              </a:ext>
            </a:extLst>
          </p:cNvPr>
          <p:cNvSpPr/>
          <p:nvPr/>
        </p:nvSpPr>
        <p:spPr>
          <a:xfrm>
            <a:off x="2302775" y="3465094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F317806-41A4-7444-BB54-CA7081203C6B}"/>
              </a:ext>
            </a:extLst>
          </p:cNvPr>
          <p:cNvSpPr/>
          <p:nvPr/>
        </p:nvSpPr>
        <p:spPr>
          <a:xfrm>
            <a:off x="801354" y="2216762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/>
              <a:t>不可信部分</a:t>
            </a:r>
            <a:endParaRPr lang="zh-CN" altLang="en-US" sz="1000" dirty="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3C03834-09C3-5F45-84E3-0E7997CEC594}"/>
              </a:ext>
            </a:extLst>
          </p:cNvPr>
          <p:cNvSpPr/>
          <p:nvPr/>
        </p:nvSpPr>
        <p:spPr>
          <a:xfrm>
            <a:off x="715325" y="3076135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7AEB3CA-743C-B44C-8202-E14D4147E75F}"/>
              </a:ext>
            </a:extLst>
          </p:cNvPr>
          <p:cNvSpPr/>
          <p:nvPr/>
        </p:nvSpPr>
        <p:spPr>
          <a:xfrm>
            <a:off x="3894389" y="3071137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D712A58-4CE6-F542-865C-A8C0926B31D1}"/>
              </a:ext>
            </a:extLst>
          </p:cNvPr>
          <p:cNvSpPr/>
          <p:nvPr/>
        </p:nvSpPr>
        <p:spPr>
          <a:xfrm>
            <a:off x="2302775" y="3077029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63B6311-9651-6D4D-BFC7-F64CBCE365D0}"/>
              </a:ext>
            </a:extLst>
          </p:cNvPr>
          <p:cNvSpPr/>
          <p:nvPr/>
        </p:nvSpPr>
        <p:spPr>
          <a:xfrm>
            <a:off x="4000862" y="1862965"/>
            <a:ext cx="720080" cy="584863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EA000B3-6C1A-3849-AFC2-0DC07EEE2362}"/>
              </a:ext>
            </a:extLst>
          </p:cNvPr>
          <p:cNvSpPr/>
          <p:nvPr/>
        </p:nvSpPr>
        <p:spPr>
          <a:xfrm>
            <a:off x="824198" y="1872631"/>
            <a:ext cx="720080" cy="288032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796BFE4-8562-F140-AA2C-25BA00430411}"/>
              </a:ext>
            </a:extLst>
          </p:cNvPr>
          <p:cNvSpPr/>
          <p:nvPr/>
        </p:nvSpPr>
        <p:spPr>
          <a:xfrm>
            <a:off x="5589330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2B509C0-9601-4B43-9691-1EAEAB3C50FB}"/>
              </a:ext>
            </a:extLst>
          </p:cNvPr>
          <p:cNvSpPr/>
          <p:nvPr/>
        </p:nvSpPr>
        <p:spPr>
          <a:xfrm>
            <a:off x="5586929" y="2570104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28D8833-1DFD-6547-A338-42AC60B9B792}"/>
              </a:ext>
            </a:extLst>
          </p:cNvPr>
          <p:cNvSpPr/>
          <p:nvPr/>
        </p:nvSpPr>
        <p:spPr>
          <a:xfrm>
            <a:off x="5480456" y="1760161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B99C224-D5BE-AA43-9E1D-89112226DC41}"/>
              </a:ext>
            </a:extLst>
          </p:cNvPr>
          <p:cNvSpPr/>
          <p:nvPr/>
        </p:nvSpPr>
        <p:spPr>
          <a:xfrm>
            <a:off x="5480456" y="3459202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26BF2A6-2D1B-AF47-840A-96BFF73CC220}"/>
              </a:ext>
            </a:extLst>
          </p:cNvPr>
          <p:cNvSpPr/>
          <p:nvPr/>
        </p:nvSpPr>
        <p:spPr>
          <a:xfrm>
            <a:off x="5973801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D934C8-64A1-4F4A-802D-76251E58E053}"/>
              </a:ext>
            </a:extLst>
          </p:cNvPr>
          <p:cNvSpPr/>
          <p:nvPr/>
        </p:nvSpPr>
        <p:spPr>
          <a:xfrm>
            <a:off x="5480456" y="3071137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E3459C6-795D-9F45-9919-665580545A9D}"/>
              </a:ext>
            </a:extLst>
          </p:cNvPr>
          <p:cNvSpPr/>
          <p:nvPr/>
        </p:nvSpPr>
        <p:spPr>
          <a:xfrm>
            <a:off x="5480453" y="1760160"/>
            <a:ext cx="932352" cy="1210945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2057517-AF38-E54D-9F87-856CDC9D8307}"/>
              </a:ext>
            </a:extLst>
          </p:cNvPr>
          <p:cNvSpPr/>
          <p:nvPr/>
        </p:nvSpPr>
        <p:spPr>
          <a:xfrm>
            <a:off x="7214062" y="1871190"/>
            <a:ext cx="454282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D3343F6-B76E-C74A-9EB8-429D937ABB56}"/>
              </a:ext>
            </a:extLst>
          </p:cNvPr>
          <p:cNvSpPr/>
          <p:nvPr/>
        </p:nvSpPr>
        <p:spPr>
          <a:xfrm>
            <a:off x="7211662" y="2539862"/>
            <a:ext cx="456682" cy="34851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22FFA37-8521-D348-B661-D5A759E32E6A}"/>
              </a:ext>
            </a:extLst>
          </p:cNvPr>
          <p:cNvSpPr/>
          <p:nvPr/>
        </p:nvSpPr>
        <p:spPr>
          <a:xfrm>
            <a:off x="7147294" y="1760161"/>
            <a:ext cx="593060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9633248-4864-3A4B-9203-250F69A49AE9}"/>
              </a:ext>
            </a:extLst>
          </p:cNvPr>
          <p:cNvSpPr/>
          <p:nvPr/>
        </p:nvSpPr>
        <p:spPr>
          <a:xfrm>
            <a:off x="7147293" y="3459202"/>
            <a:ext cx="133013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4A5F8F7-F4FE-7742-9F58-AD05AC13BC45}"/>
              </a:ext>
            </a:extLst>
          </p:cNvPr>
          <p:cNvSpPr/>
          <p:nvPr/>
        </p:nvSpPr>
        <p:spPr>
          <a:xfrm>
            <a:off x="7147294" y="3071137"/>
            <a:ext cx="593059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086A96C-9D72-004A-A8F0-FD9AD854E26B}"/>
              </a:ext>
            </a:extLst>
          </p:cNvPr>
          <p:cNvSpPr/>
          <p:nvPr/>
        </p:nvSpPr>
        <p:spPr>
          <a:xfrm>
            <a:off x="7951136" y="1871190"/>
            <a:ext cx="454282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70BD541-697D-F34C-9B81-4ADC7C59A11E}"/>
              </a:ext>
            </a:extLst>
          </p:cNvPr>
          <p:cNvSpPr/>
          <p:nvPr/>
        </p:nvSpPr>
        <p:spPr>
          <a:xfrm>
            <a:off x="7948736" y="2539862"/>
            <a:ext cx="456682" cy="34851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97C85A1-CFFE-E246-AE91-E44FA5EB549D}"/>
              </a:ext>
            </a:extLst>
          </p:cNvPr>
          <p:cNvSpPr/>
          <p:nvPr/>
        </p:nvSpPr>
        <p:spPr>
          <a:xfrm>
            <a:off x="7884368" y="1760161"/>
            <a:ext cx="593060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19ED72F-27BB-2A42-9883-64F24038BDE1}"/>
              </a:ext>
            </a:extLst>
          </p:cNvPr>
          <p:cNvSpPr/>
          <p:nvPr/>
        </p:nvSpPr>
        <p:spPr>
          <a:xfrm>
            <a:off x="7884368" y="3071137"/>
            <a:ext cx="593059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D64C107-2C6C-AA4E-9CFC-6D5D415F3491}"/>
              </a:ext>
            </a:extLst>
          </p:cNvPr>
          <p:cNvSpPr/>
          <p:nvPr/>
        </p:nvSpPr>
        <p:spPr>
          <a:xfrm>
            <a:off x="7706574" y="3475330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>
                <a:solidFill>
                  <a:srgbClr val="000000"/>
                </a:solidFill>
                <a:latin typeface="微软雅黑"/>
              </a:rPr>
              <a:t>不可信硬件</a:t>
            </a:r>
            <a:endParaRPr lang="zh-CN" altLang="en-US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7FC3C93-66D1-5248-B88E-3470E37F719A}"/>
              </a:ext>
            </a:extLst>
          </p:cNvPr>
          <p:cNvSpPr/>
          <p:nvPr/>
        </p:nvSpPr>
        <p:spPr>
          <a:xfrm>
            <a:off x="7105189" y="3475331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>
                <a:solidFill>
                  <a:srgbClr val="000000"/>
                </a:solidFill>
                <a:latin typeface="微软雅黑"/>
              </a:rPr>
              <a:t>可信硬件</a:t>
            </a:r>
            <a:endParaRPr lang="zh-CN" altLang="en-US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AEC38CB-B049-E349-B1DC-31FFF81D61F0}"/>
              </a:ext>
            </a:extLst>
          </p:cNvPr>
          <p:cNvSpPr/>
          <p:nvPr/>
        </p:nvSpPr>
        <p:spPr>
          <a:xfrm>
            <a:off x="7148624" y="1760160"/>
            <a:ext cx="591729" cy="1987075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700E2833-8AE0-A54F-9AE5-10DC9A324A27}"/>
              </a:ext>
            </a:extLst>
          </p:cNvPr>
          <p:cNvCxnSpPr>
            <a:cxnSpLocks/>
          </p:cNvCxnSpPr>
          <p:nvPr/>
        </p:nvCxnSpPr>
        <p:spPr>
          <a:xfrm>
            <a:off x="429402" y="4990940"/>
            <a:ext cx="828519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1B2A48E7-412B-CF42-BE17-87444CED1F01}"/>
              </a:ext>
            </a:extLst>
          </p:cNvPr>
          <p:cNvSpPr/>
          <p:nvPr/>
        </p:nvSpPr>
        <p:spPr>
          <a:xfrm>
            <a:off x="2394392" y="1864868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BB27131-1CAF-6C46-9BA4-64AE6F2B427D}"/>
              </a:ext>
            </a:extLst>
          </p:cNvPr>
          <p:cNvSpPr/>
          <p:nvPr/>
        </p:nvSpPr>
        <p:spPr>
          <a:xfrm>
            <a:off x="2778863" y="1864868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3E6978C2-B8A7-9D4E-AC7C-105E6CBE8D0E}"/>
              </a:ext>
            </a:extLst>
          </p:cNvPr>
          <p:cNvSpPr/>
          <p:nvPr/>
        </p:nvSpPr>
        <p:spPr>
          <a:xfrm>
            <a:off x="2406905" y="1866226"/>
            <a:ext cx="320696" cy="584863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E843E1F-2AED-EE43-BFF1-10A91CB50F57}"/>
              </a:ext>
            </a:extLst>
          </p:cNvPr>
          <p:cNvSpPr txBox="1"/>
          <p:nvPr/>
        </p:nvSpPr>
        <p:spPr>
          <a:xfrm>
            <a:off x="848688" y="4820124"/>
            <a:ext cx="3152175" cy="3416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20" b="1" dirty="0">
                <a:solidFill>
                  <a:schemeClr val="accent1"/>
                </a:solidFill>
              </a:rPr>
              <a:t>粒度细：内部简单，但交互复杂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3C0D574-C0DB-B144-B5EF-EBB4EDA17E54}"/>
              </a:ext>
            </a:extLst>
          </p:cNvPr>
          <p:cNvSpPr txBox="1"/>
          <p:nvPr/>
        </p:nvSpPr>
        <p:spPr>
          <a:xfrm>
            <a:off x="5148065" y="4820124"/>
            <a:ext cx="3156175" cy="3416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20" b="1" dirty="0">
                <a:solidFill>
                  <a:schemeClr val="accent1"/>
                </a:solidFill>
              </a:rPr>
              <a:t>粒度粗：交互简单，但内部复杂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6BFBE88-FEFD-214C-97C9-8F8C6966B517}"/>
              </a:ext>
            </a:extLst>
          </p:cNvPr>
          <p:cNvSpPr txBox="1"/>
          <p:nvPr/>
        </p:nvSpPr>
        <p:spPr>
          <a:xfrm>
            <a:off x="395537" y="3934306"/>
            <a:ext cx="1605571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2015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年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Intel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SGX</a:t>
            </a:r>
          </a:p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由硬件提供高层次接口，但交互漏洞频频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55091A7-2142-4A4F-9333-3632E6E7863A}"/>
              </a:ext>
            </a:extLst>
          </p:cNvPr>
          <p:cNvSpPr txBox="1"/>
          <p:nvPr/>
        </p:nvSpPr>
        <p:spPr>
          <a:xfrm>
            <a:off x="6910122" y="3940582"/>
            <a:ext cx="1982358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2003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年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ARM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TrustZone</a:t>
            </a:r>
          </a:p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由于层次结构复杂，导致内部的软件漏洞不断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A6CA081-F1C9-9744-BBDF-E7082FAF209D}"/>
              </a:ext>
            </a:extLst>
          </p:cNvPr>
          <p:cNvSpPr txBox="1"/>
          <p:nvPr/>
        </p:nvSpPr>
        <p:spPr>
          <a:xfrm>
            <a:off x="2627784" y="3939455"/>
            <a:ext cx="1811996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传统的操作系统隔离环境抽象，高度依赖</a:t>
            </a:r>
            <a:r>
              <a:rPr lang="en-US" altLang="zh-CN" sz="1200" kern="0" dirty="0">
                <a:latin typeface="+mn-ea"/>
                <a:ea typeface="+mn-ea"/>
                <a:cs typeface="Arial" panose="020B0604020202020204" pitchFamily="34" charset="0"/>
              </a:rPr>
              <a:t>OS</a:t>
            </a: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语义，硬件不直接参与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6CE14CE-916D-D94E-859F-AA57FFB5BAA4}"/>
              </a:ext>
            </a:extLst>
          </p:cNvPr>
          <p:cNvSpPr txBox="1"/>
          <p:nvPr/>
        </p:nvSpPr>
        <p:spPr>
          <a:xfrm>
            <a:off x="5098812" y="3934306"/>
            <a:ext cx="1705437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在内部复杂性与交互复杂性间寻找平衡点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0046E50-D6E7-2341-A04C-9626CF9A209B}"/>
              </a:ext>
            </a:extLst>
          </p:cNvPr>
          <p:cNvCxnSpPr>
            <a:cxnSpLocks/>
          </p:cNvCxnSpPr>
          <p:nvPr/>
        </p:nvCxnSpPr>
        <p:spPr>
          <a:xfrm>
            <a:off x="1187624" y="3793604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67E3FBE1-6545-8048-86BF-51455D8F4BBD}"/>
              </a:ext>
            </a:extLst>
          </p:cNvPr>
          <p:cNvCxnSpPr>
            <a:cxnSpLocks/>
          </p:cNvCxnSpPr>
          <p:nvPr/>
        </p:nvCxnSpPr>
        <p:spPr>
          <a:xfrm>
            <a:off x="2768950" y="3781119"/>
            <a:ext cx="144016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F3F9DA77-A6A1-F949-A52C-D1311CCB4E0F}"/>
              </a:ext>
            </a:extLst>
          </p:cNvPr>
          <p:cNvCxnSpPr>
            <a:cxnSpLocks/>
          </p:cNvCxnSpPr>
          <p:nvPr/>
        </p:nvCxnSpPr>
        <p:spPr>
          <a:xfrm flipH="1">
            <a:off x="4233918" y="3781119"/>
            <a:ext cx="126647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7885C69-A0B9-DA47-9306-60B11A830F0F}"/>
              </a:ext>
            </a:extLst>
          </p:cNvPr>
          <p:cNvCxnSpPr>
            <a:cxnSpLocks/>
          </p:cNvCxnSpPr>
          <p:nvPr/>
        </p:nvCxnSpPr>
        <p:spPr>
          <a:xfrm>
            <a:off x="5946629" y="3781119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407F742A-AFC9-414D-A7B3-D4A264F78A2C}"/>
              </a:ext>
            </a:extLst>
          </p:cNvPr>
          <p:cNvCxnSpPr>
            <a:cxnSpLocks/>
          </p:cNvCxnSpPr>
          <p:nvPr/>
        </p:nvCxnSpPr>
        <p:spPr>
          <a:xfrm>
            <a:off x="7812358" y="3781119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83AD-3BB8-D2FF-E49C-D8C303F6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机密虚拟化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1CB6E-1503-DE51-79E3-8278440D9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一种通过基于硬件的可信执行环境来保护虚拟机数据的机制和方法</a:t>
            </a:r>
            <a:endParaRPr lang="en-US" altLang="ja-JP" dirty="0"/>
          </a:p>
          <a:p>
            <a:pPr lvl="1"/>
            <a:r>
              <a:rPr lang="en-CN" dirty="0"/>
              <a:t>保护虚拟机免受不可信虚拟机监控器和管理员的威胁</a:t>
            </a:r>
          </a:p>
          <a:p>
            <a:r>
              <a:rPr lang="en-CN" dirty="0"/>
              <a:t>关键技术</a:t>
            </a:r>
          </a:p>
          <a:p>
            <a:pPr lvl="1"/>
            <a:r>
              <a:rPr lang="zh-CN" altLang="en-US" dirty="0"/>
              <a:t>虚拟机内部与外部的隔离</a:t>
            </a:r>
            <a:endParaRPr lang="en-US" altLang="zh-CN" dirty="0"/>
          </a:p>
          <a:p>
            <a:pPr lvl="1"/>
            <a:r>
              <a:rPr lang="zh-CN" altLang="en-US" dirty="0"/>
              <a:t>内存加密和完整性保护</a:t>
            </a:r>
            <a:endParaRPr lang="en-US" altLang="zh-CN" dirty="0"/>
          </a:p>
          <a:p>
            <a:pPr lvl="1"/>
            <a:r>
              <a:rPr lang="en-CN" dirty="0"/>
              <a:t>远程验证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9B245-D175-7783-A828-65AD63AB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D08F-C865-21F7-7181-D4787D783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345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可信固件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8763"/>
            <a:ext cx="8003232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由</a:t>
            </a:r>
            <a:r>
              <a:rPr lang="en-US" altLang="zh-CN" dirty="0"/>
              <a:t>CPU</a:t>
            </a:r>
            <a:r>
              <a:rPr lang="zh-CN" altLang="en-US" dirty="0"/>
              <a:t>厂商开发的可信软件，比虚拟机监控器的特权级更高</a:t>
            </a:r>
            <a:endParaRPr lang="en-US" altLang="zh-CN" dirty="0"/>
          </a:p>
          <a:p>
            <a:r>
              <a:rPr lang="zh-CN" altLang="en-US" dirty="0"/>
              <a:t>可信固件能够访问所有物理资源，对系统进行配置并提供保护机制</a:t>
            </a:r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FF670C4-4E7B-D724-A14B-6C9D7AFB1E72}"/>
              </a:ext>
            </a:extLst>
          </p:cNvPr>
          <p:cNvSpPr/>
          <p:nvPr/>
        </p:nvSpPr>
        <p:spPr>
          <a:xfrm>
            <a:off x="4117824" y="2991485"/>
            <a:ext cx="1520198" cy="1728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9C5FC8-5E28-8EBC-78A4-0908EEBFB05F}"/>
              </a:ext>
            </a:extLst>
          </p:cNvPr>
          <p:cNvSpPr/>
          <p:nvPr/>
        </p:nvSpPr>
        <p:spPr>
          <a:xfrm>
            <a:off x="3920158" y="3154772"/>
            <a:ext cx="1520198" cy="1728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3096587-8886-28C6-19B1-2214926A6CDB}"/>
              </a:ext>
            </a:extLst>
          </p:cNvPr>
          <p:cNvSpPr/>
          <p:nvPr/>
        </p:nvSpPr>
        <p:spPr>
          <a:xfrm>
            <a:off x="2123728" y="3154772"/>
            <a:ext cx="1565802" cy="1728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8D3C67F-F8D0-45FC-32A8-DA0B0CB92785}"/>
              </a:ext>
            </a:extLst>
          </p:cNvPr>
          <p:cNvSpPr/>
          <p:nvPr/>
        </p:nvSpPr>
        <p:spPr>
          <a:xfrm>
            <a:off x="2267744" y="3517295"/>
            <a:ext cx="57606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 err="1"/>
              <a:t>Qemu</a:t>
            </a:r>
            <a:endParaRPr lang="zh-CN" altLang="en-US" sz="105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1FCC2C8-2071-26CF-8676-905659A32947}"/>
              </a:ext>
            </a:extLst>
          </p:cNvPr>
          <p:cNvSpPr/>
          <p:nvPr/>
        </p:nvSpPr>
        <p:spPr>
          <a:xfrm>
            <a:off x="2267745" y="4160266"/>
            <a:ext cx="1296144" cy="5786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FA08775-82C1-36B0-DA5B-E5642D44FC4C}"/>
              </a:ext>
            </a:extLst>
          </p:cNvPr>
          <p:cNvSpPr txBox="1"/>
          <p:nvPr/>
        </p:nvSpPr>
        <p:spPr>
          <a:xfrm>
            <a:off x="2369047" y="4156817"/>
            <a:ext cx="1152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Host kernel</a:t>
            </a:r>
            <a:endParaRPr lang="zh-CN" altLang="en-US" sz="11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62D0502-B202-A75B-F769-14F7DBCECA39}"/>
              </a:ext>
            </a:extLst>
          </p:cNvPr>
          <p:cNvSpPr/>
          <p:nvPr/>
        </p:nvSpPr>
        <p:spPr>
          <a:xfrm>
            <a:off x="2411760" y="4460790"/>
            <a:ext cx="1008112" cy="217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VMM</a:t>
            </a:r>
            <a:endParaRPr lang="zh-CN" altLang="en-US" sz="14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5735214-8AF7-AC9E-FD4E-812723B7324A}"/>
              </a:ext>
            </a:extLst>
          </p:cNvPr>
          <p:cNvSpPr/>
          <p:nvPr/>
        </p:nvSpPr>
        <p:spPr>
          <a:xfrm>
            <a:off x="4117824" y="3448751"/>
            <a:ext cx="504056" cy="3024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App</a:t>
            </a:r>
            <a:endParaRPr lang="zh-CN" altLang="en-US" sz="12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AB7ED6F-C030-E999-F706-49E03B686780}"/>
              </a:ext>
            </a:extLst>
          </p:cNvPr>
          <p:cNvSpPr/>
          <p:nvPr/>
        </p:nvSpPr>
        <p:spPr>
          <a:xfrm>
            <a:off x="4134504" y="4229330"/>
            <a:ext cx="1098122" cy="383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Guest Kernel</a:t>
            </a:r>
            <a:endParaRPr lang="zh-CN" altLang="en-US" sz="1100" dirty="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D7D10192-4111-7884-B80B-D06A21CA095B}"/>
              </a:ext>
            </a:extLst>
          </p:cNvPr>
          <p:cNvCxnSpPr/>
          <p:nvPr/>
        </p:nvCxnSpPr>
        <p:spPr>
          <a:xfrm>
            <a:off x="2195736" y="3946860"/>
            <a:ext cx="14401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535C7A2-D064-243A-6458-67C434045DC6}"/>
              </a:ext>
            </a:extLst>
          </p:cNvPr>
          <p:cNvCxnSpPr/>
          <p:nvPr/>
        </p:nvCxnSpPr>
        <p:spPr>
          <a:xfrm>
            <a:off x="4000196" y="3970948"/>
            <a:ext cx="14401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D3C84788-217C-0F88-AB4C-13ADCE37613F}"/>
              </a:ext>
            </a:extLst>
          </p:cNvPr>
          <p:cNvSpPr txBox="1"/>
          <p:nvPr/>
        </p:nvSpPr>
        <p:spPr>
          <a:xfrm>
            <a:off x="2085138" y="3176534"/>
            <a:ext cx="653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Ring 3</a:t>
            </a:r>
            <a:endParaRPr lang="zh-CN" altLang="en-US" sz="11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2CDF6FA-84C8-F7C5-8003-221B3F99FF19}"/>
              </a:ext>
            </a:extLst>
          </p:cNvPr>
          <p:cNvSpPr txBox="1"/>
          <p:nvPr/>
        </p:nvSpPr>
        <p:spPr>
          <a:xfrm>
            <a:off x="2089485" y="3923316"/>
            <a:ext cx="653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Ring 0</a:t>
            </a:r>
            <a:endParaRPr lang="zh-CN" altLang="en-US" sz="105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3FD30-6052-DA2A-F1BC-1B08C1930488}"/>
              </a:ext>
            </a:extLst>
          </p:cNvPr>
          <p:cNvSpPr txBox="1"/>
          <p:nvPr/>
        </p:nvSpPr>
        <p:spPr>
          <a:xfrm>
            <a:off x="3856180" y="3148181"/>
            <a:ext cx="653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Ring 3</a:t>
            </a:r>
            <a:endParaRPr lang="zh-CN" altLang="en-US" sz="105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11FDDB2-FDBC-2786-4CA8-CAFFD6C81672}"/>
              </a:ext>
            </a:extLst>
          </p:cNvPr>
          <p:cNvSpPr txBox="1"/>
          <p:nvPr/>
        </p:nvSpPr>
        <p:spPr>
          <a:xfrm>
            <a:off x="3856180" y="3975450"/>
            <a:ext cx="653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Ring 0</a:t>
            </a:r>
            <a:endParaRPr lang="zh-CN" altLang="en-US" sz="105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2A331D9-C487-B138-2532-84132D85739A}"/>
              </a:ext>
            </a:extLst>
          </p:cNvPr>
          <p:cNvSpPr txBox="1"/>
          <p:nvPr/>
        </p:nvSpPr>
        <p:spPr>
          <a:xfrm>
            <a:off x="2309470" y="4912419"/>
            <a:ext cx="12425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VMX Root Mode</a:t>
            </a:r>
            <a:endParaRPr lang="zh-CN" altLang="en-US" sz="11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8DD5E92-1E4B-CD32-165D-218B4C138255}"/>
              </a:ext>
            </a:extLst>
          </p:cNvPr>
          <p:cNvSpPr txBox="1"/>
          <p:nvPr/>
        </p:nvSpPr>
        <p:spPr>
          <a:xfrm>
            <a:off x="4022233" y="4925669"/>
            <a:ext cx="147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VMX non-Root Mode</a:t>
            </a:r>
            <a:endParaRPr lang="zh-CN" altLang="en-US" sz="105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B8B72FD-7DE3-317A-68AF-E61D0DD7580B}"/>
              </a:ext>
            </a:extLst>
          </p:cNvPr>
          <p:cNvSpPr/>
          <p:nvPr/>
        </p:nvSpPr>
        <p:spPr>
          <a:xfrm>
            <a:off x="2935836" y="3520744"/>
            <a:ext cx="57606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 err="1"/>
              <a:t>Qemu</a:t>
            </a:r>
            <a:endParaRPr lang="zh-CN" altLang="en-US" sz="1050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1234881-42E2-D065-13C8-0E3A0E6E0D51}"/>
              </a:ext>
            </a:extLst>
          </p:cNvPr>
          <p:cNvSpPr/>
          <p:nvPr/>
        </p:nvSpPr>
        <p:spPr>
          <a:xfrm>
            <a:off x="4725262" y="3448751"/>
            <a:ext cx="504056" cy="3024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App</a:t>
            </a:r>
            <a:endParaRPr lang="zh-CN" altLang="en-US" sz="12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0C73628-602B-3218-25C3-4210BC8B43D5}"/>
              </a:ext>
            </a:extLst>
          </p:cNvPr>
          <p:cNvSpPr txBox="1"/>
          <p:nvPr/>
        </p:nvSpPr>
        <p:spPr>
          <a:xfrm>
            <a:off x="4489207" y="2704909"/>
            <a:ext cx="3887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VM</a:t>
            </a:r>
            <a:endParaRPr lang="zh-CN" altLang="en-US" sz="105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A5C3A78-2110-CCB4-15B3-F35DAA303220}"/>
              </a:ext>
            </a:extLst>
          </p:cNvPr>
          <p:cNvSpPr txBox="1"/>
          <p:nvPr/>
        </p:nvSpPr>
        <p:spPr>
          <a:xfrm>
            <a:off x="3347864" y="5233764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Intel VT-x</a:t>
            </a:r>
            <a:endParaRPr lang="zh-CN" altLang="en-US" sz="1100" dirty="0"/>
          </a:p>
        </p:txBody>
      </p:sp>
      <p:sp>
        <p:nvSpPr>
          <p:cNvPr id="70" name="箭头: 右 69">
            <a:extLst>
              <a:ext uri="{FF2B5EF4-FFF2-40B4-BE49-F238E27FC236}">
                <a16:creationId xmlns:a16="http://schemas.microsoft.com/office/drawing/2014/main" id="{8AE6BE25-9116-4587-A660-50F76EE9FDC1}"/>
              </a:ext>
            </a:extLst>
          </p:cNvPr>
          <p:cNvSpPr/>
          <p:nvPr/>
        </p:nvSpPr>
        <p:spPr>
          <a:xfrm>
            <a:off x="3505252" y="4514609"/>
            <a:ext cx="576064" cy="114597"/>
          </a:xfrm>
          <a:prstGeom prst="rightArrow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2B10CBC1-DFBD-F85B-6B88-2C7D4027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1923" y="4441800"/>
            <a:ext cx="217983" cy="217983"/>
          </a:xfrm>
          <a:prstGeom prst="rect">
            <a:avLst/>
          </a:prstGeom>
        </p:spPr>
      </p:pic>
      <p:pic>
        <p:nvPicPr>
          <p:cNvPr id="73" name="图形 72" descr="关闭 纯色填充">
            <a:extLst>
              <a:ext uri="{FF2B5EF4-FFF2-40B4-BE49-F238E27FC236}">
                <a16:creationId xmlns:a16="http://schemas.microsoft.com/office/drawing/2014/main" id="{1A3E41D3-BD2F-B8C9-9236-239414AC9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6145" y="4441869"/>
            <a:ext cx="277808" cy="277808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4C53C7DD-50A8-2FC0-04EF-B40148F8D745}"/>
              </a:ext>
            </a:extLst>
          </p:cNvPr>
          <p:cNvSpPr/>
          <p:nvPr/>
        </p:nvSpPr>
        <p:spPr>
          <a:xfrm>
            <a:off x="4131619" y="4670375"/>
            <a:ext cx="1098122" cy="154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Shim</a:t>
            </a:r>
            <a:endParaRPr lang="zh-CN" altLang="en-US" sz="1100" dirty="0"/>
          </a:p>
        </p:txBody>
      </p:sp>
      <p:sp>
        <p:nvSpPr>
          <p:cNvPr id="75" name="箭头: 下弧形 74">
            <a:extLst>
              <a:ext uri="{FF2B5EF4-FFF2-40B4-BE49-F238E27FC236}">
                <a16:creationId xmlns:a16="http://schemas.microsoft.com/office/drawing/2014/main" id="{B95A0B09-C56B-0E1B-FF25-E2807AE1901E}"/>
              </a:ext>
            </a:extLst>
          </p:cNvPr>
          <p:cNvSpPr/>
          <p:nvPr/>
        </p:nvSpPr>
        <p:spPr>
          <a:xfrm rot="16200000">
            <a:off x="5141394" y="4525007"/>
            <a:ext cx="341580" cy="70370"/>
          </a:xfrm>
          <a:prstGeom prst="curvedUp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CD81EF4-1725-59B1-3310-84840930079D}"/>
              </a:ext>
            </a:extLst>
          </p:cNvPr>
          <p:cNvSpPr txBox="1"/>
          <p:nvPr/>
        </p:nvSpPr>
        <p:spPr>
          <a:xfrm>
            <a:off x="5638022" y="4411840"/>
            <a:ext cx="146353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accent1"/>
                </a:solidFill>
              </a:rPr>
              <a:t>Mediate between hyper and guest OS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619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83AD-3BB8-D2FF-E49C-D8C303F6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内存隔离机制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9B245-D175-7783-A828-65AD63AB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D08F-C865-21F7-7181-D4787D783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4201EED-F6C9-5491-6CAE-B15494788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03232" cy="3771636"/>
          </a:xfrm>
        </p:spPr>
        <p:txBody>
          <a:bodyPr>
            <a:normAutofit/>
          </a:bodyPr>
          <a:lstStyle/>
          <a:p>
            <a:r>
              <a:rPr lang="zh-CN" altLang="en-CN" dirty="0"/>
              <a:t>内存</a:t>
            </a:r>
            <a:r>
              <a:rPr lang="zh-CN" altLang="en-US" dirty="0"/>
              <a:t>隔离：机密虚拟机的内存范围不能被其他虚拟机和虚拟机监控器访问</a:t>
            </a:r>
            <a:endParaRPr lang="en-US" altLang="zh-CN" dirty="0"/>
          </a:p>
        </p:txBody>
      </p:sp>
      <p:sp>
        <p:nvSpPr>
          <p:cNvPr id="25" name="矩形 6">
            <a:extLst>
              <a:ext uri="{FF2B5EF4-FFF2-40B4-BE49-F238E27FC236}">
                <a16:creationId xmlns:a16="http://schemas.microsoft.com/office/drawing/2014/main" id="{DBB3B4CE-039C-35B8-9E77-2032E366CC99}"/>
              </a:ext>
            </a:extLst>
          </p:cNvPr>
          <p:cNvSpPr/>
          <p:nvPr/>
        </p:nvSpPr>
        <p:spPr>
          <a:xfrm>
            <a:off x="2061865" y="4563590"/>
            <a:ext cx="2808312" cy="279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7">
            <a:extLst>
              <a:ext uri="{FF2B5EF4-FFF2-40B4-BE49-F238E27FC236}">
                <a16:creationId xmlns:a16="http://schemas.microsoft.com/office/drawing/2014/main" id="{689A2B91-3BBE-2148-3C64-E0B4938000A5}"/>
              </a:ext>
            </a:extLst>
          </p:cNvPr>
          <p:cNvSpPr/>
          <p:nvPr/>
        </p:nvSpPr>
        <p:spPr>
          <a:xfrm>
            <a:off x="2308721" y="4563591"/>
            <a:ext cx="617240" cy="279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8">
            <a:extLst>
              <a:ext uri="{FF2B5EF4-FFF2-40B4-BE49-F238E27FC236}">
                <a16:creationId xmlns:a16="http://schemas.microsoft.com/office/drawing/2014/main" id="{2CCBD3DF-FBFE-586E-3D5F-12C937070448}"/>
              </a:ext>
            </a:extLst>
          </p:cNvPr>
          <p:cNvSpPr/>
          <p:nvPr/>
        </p:nvSpPr>
        <p:spPr>
          <a:xfrm>
            <a:off x="3193405" y="4563590"/>
            <a:ext cx="617240" cy="27922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9">
            <a:extLst>
              <a:ext uri="{FF2B5EF4-FFF2-40B4-BE49-F238E27FC236}">
                <a16:creationId xmlns:a16="http://schemas.microsoft.com/office/drawing/2014/main" id="{59751C1F-0DBB-0FFD-2668-CDD0742CC661}"/>
              </a:ext>
            </a:extLst>
          </p:cNvPr>
          <p:cNvSpPr/>
          <p:nvPr/>
        </p:nvSpPr>
        <p:spPr>
          <a:xfrm>
            <a:off x="4031741" y="4563591"/>
            <a:ext cx="617240" cy="279220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bg1"/>
            </a:bgClr>
          </a:patt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10">
            <a:extLst>
              <a:ext uri="{FF2B5EF4-FFF2-40B4-BE49-F238E27FC236}">
                <a16:creationId xmlns:a16="http://schemas.microsoft.com/office/drawing/2014/main" id="{792A2A20-C32E-59A3-868B-A96D7A20C1EA}"/>
              </a:ext>
            </a:extLst>
          </p:cNvPr>
          <p:cNvSpPr/>
          <p:nvPr/>
        </p:nvSpPr>
        <p:spPr>
          <a:xfrm>
            <a:off x="2236713" y="3741164"/>
            <a:ext cx="237877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hypervisor</a:t>
            </a:r>
            <a:endParaRPr lang="zh-CN" altLang="en-US" dirty="0"/>
          </a:p>
        </p:txBody>
      </p:sp>
      <p:sp>
        <p:nvSpPr>
          <p:cNvPr id="30" name="矩形 11">
            <a:extLst>
              <a:ext uri="{FF2B5EF4-FFF2-40B4-BE49-F238E27FC236}">
                <a16:creationId xmlns:a16="http://schemas.microsoft.com/office/drawing/2014/main" id="{82AC0EFE-2A3F-85CC-F303-0149D2871D75}"/>
              </a:ext>
            </a:extLst>
          </p:cNvPr>
          <p:cNvSpPr/>
          <p:nvPr/>
        </p:nvSpPr>
        <p:spPr>
          <a:xfrm>
            <a:off x="2267545" y="2877068"/>
            <a:ext cx="617240" cy="7211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VM1</a:t>
            </a:r>
            <a:endParaRPr lang="zh-CN" altLang="en-US" dirty="0"/>
          </a:p>
        </p:txBody>
      </p:sp>
      <p:sp>
        <p:nvSpPr>
          <p:cNvPr id="31" name="矩形 12">
            <a:extLst>
              <a:ext uri="{FF2B5EF4-FFF2-40B4-BE49-F238E27FC236}">
                <a16:creationId xmlns:a16="http://schemas.microsoft.com/office/drawing/2014/main" id="{8E9A78AF-644A-B5D9-A659-CAEE41BF7B37}"/>
              </a:ext>
            </a:extLst>
          </p:cNvPr>
          <p:cNvSpPr/>
          <p:nvPr/>
        </p:nvSpPr>
        <p:spPr>
          <a:xfrm>
            <a:off x="3100809" y="2881591"/>
            <a:ext cx="617240" cy="7166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VM2</a:t>
            </a:r>
            <a:endParaRPr lang="zh-CN" altLang="en-US" sz="1600" dirty="0"/>
          </a:p>
        </p:txBody>
      </p:sp>
      <p:sp>
        <p:nvSpPr>
          <p:cNvPr id="32" name="矩形 13">
            <a:extLst>
              <a:ext uri="{FF2B5EF4-FFF2-40B4-BE49-F238E27FC236}">
                <a16:creationId xmlns:a16="http://schemas.microsoft.com/office/drawing/2014/main" id="{CAE522A8-5279-424A-D395-43871C7886E8}"/>
              </a:ext>
            </a:extLst>
          </p:cNvPr>
          <p:cNvSpPr/>
          <p:nvPr/>
        </p:nvSpPr>
        <p:spPr>
          <a:xfrm>
            <a:off x="3998246" y="2881591"/>
            <a:ext cx="617240" cy="71661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VM3</a:t>
            </a:r>
            <a:endParaRPr lang="zh-CN" altLang="en-US" sz="1600" dirty="0"/>
          </a:p>
        </p:txBody>
      </p:sp>
      <p:cxnSp>
        <p:nvCxnSpPr>
          <p:cNvPr id="33" name="直接连接符 16">
            <a:extLst>
              <a:ext uri="{FF2B5EF4-FFF2-40B4-BE49-F238E27FC236}">
                <a16:creationId xmlns:a16="http://schemas.microsoft.com/office/drawing/2014/main" id="{6DAD123E-A130-071C-6B10-36FFE0E326F6}"/>
              </a:ext>
            </a:extLst>
          </p:cNvPr>
          <p:cNvCxnSpPr/>
          <p:nvPr/>
        </p:nvCxnSpPr>
        <p:spPr>
          <a:xfrm>
            <a:off x="2236713" y="4101204"/>
            <a:ext cx="72008" cy="46238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7">
            <a:extLst>
              <a:ext uri="{FF2B5EF4-FFF2-40B4-BE49-F238E27FC236}">
                <a16:creationId xmlns:a16="http://schemas.microsoft.com/office/drawing/2014/main" id="{372C368E-6613-5423-29D0-C71FA716B27E}"/>
              </a:ext>
            </a:extLst>
          </p:cNvPr>
          <p:cNvCxnSpPr>
            <a:cxnSpLocks/>
          </p:cNvCxnSpPr>
          <p:nvPr/>
        </p:nvCxnSpPr>
        <p:spPr>
          <a:xfrm flipH="1">
            <a:off x="2925961" y="4101204"/>
            <a:ext cx="1689525" cy="44324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26">
            <a:extLst>
              <a:ext uri="{FF2B5EF4-FFF2-40B4-BE49-F238E27FC236}">
                <a16:creationId xmlns:a16="http://schemas.microsoft.com/office/drawing/2014/main" id="{F69337A7-452B-6CCC-4B97-311A04DE6A2F}"/>
              </a:ext>
            </a:extLst>
          </p:cNvPr>
          <p:cNvSpPr txBox="1"/>
          <p:nvPr/>
        </p:nvSpPr>
        <p:spPr>
          <a:xfrm>
            <a:off x="913810" y="4518534"/>
            <a:ext cx="1093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Memory</a:t>
            </a:r>
            <a:endParaRPr lang="zh-CN" altLang="en-US" dirty="0"/>
          </a:p>
        </p:txBody>
      </p:sp>
      <p:pic>
        <p:nvPicPr>
          <p:cNvPr id="36" name="图形 28">
            <a:extLst>
              <a:ext uri="{FF2B5EF4-FFF2-40B4-BE49-F238E27FC236}">
                <a16:creationId xmlns:a16="http://schemas.microsoft.com/office/drawing/2014/main" id="{26C1B298-1D9F-34B3-1C97-64E6EA64A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2939" y="4396433"/>
            <a:ext cx="434007" cy="434007"/>
          </a:xfrm>
          <a:prstGeom prst="rect">
            <a:avLst/>
          </a:prstGeom>
        </p:spPr>
      </p:pic>
      <p:sp>
        <p:nvSpPr>
          <p:cNvPr id="37" name="文本框 33">
            <a:extLst>
              <a:ext uri="{FF2B5EF4-FFF2-40B4-BE49-F238E27FC236}">
                <a16:creationId xmlns:a16="http://schemas.microsoft.com/office/drawing/2014/main" id="{96D81A4E-EDF4-2062-E71E-20D912CF0AD3}"/>
              </a:ext>
            </a:extLst>
          </p:cNvPr>
          <p:cNvSpPr txBox="1"/>
          <p:nvPr/>
        </p:nvSpPr>
        <p:spPr>
          <a:xfrm>
            <a:off x="915219" y="4518534"/>
            <a:ext cx="1093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Memory</a:t>
            </a:r>
            <a:endParaRPr lang="zh-CN" altLang="en-US" dirty="0"/>
          </a:p>
        </p:txBody>
      </p:sp>
      <p:sp>
        <p:nvSpPr>
          <p:cNvPr id="38" name="文本框 34">
            <a:extLst>
              <a:ext uri="{FF2B5EF4-FFF2-40B4-BE49-F238E27FC236}">
                <a16:creationId xmlns:a16="http://schemas.microsoft.com/office/drawing/2014/main" id="{9EECF1F3-31B8-5201-86F2-2FEF6F4A682E}"/>
              </a:ext>
            </a:extLst>
          </p:cNvPr>
          <p:cNvSpPr txBox="1"/>
          <p:nvPr/>
        </p:nvSpPr>
        <p:spPr>
          <a:xfrm>
            <a:off x="5724128" y="4453951"/>
            <a:ext cx="2458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System bus interception, freeze memory</a:t>
            </a:r>
            <a:endParaRPr lang="zh-CN" altLang="en-US" sz="1600" dirty="0"/>
          </a:p>
        </p:txBody>
      </p:sp>
      <p:cxnSp>
        <p:nvCxnSpPr>
          <p:cNvPr id="39" name="连接符: 肘形 5">
            <a:extLst>
              <a:ext uri="{FF2B5EF4-FFF2-40B4-BE49-F238E27FC236}">
                <a16:creationId xmlns:a16="http://schemas.microsoft.com/office/drawing/2014/main" id="{CFE85B3B-BDBC-C536-DC0B-0CB4622324DC}"/>
              </a:ext>
            </a:extLst>
          </p:cNvPr>
          <p:cNvCxnSpPr>
            <a:stCxn id="36" idx="2"/>
            <a:endCxn id="27" idx="2"/>
          </p:cNvCxnSpPr>
          <p:nvPr/>
        </p:nvCxnSpPr>
        <p:spPr>
          <a:xfrm rot="5400000">
            <a:off x="4444799" y="3887666"/>
            <a:ext cx="12370" cy="1897918"/>
          </a:xfrm>
          <a:prstGeom prst="bentConnector3">
            <a:avLst>
              <a:gd name="adj1" fmla="val 1948019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0" name="图形 15" descr="放大镜 纯色填充">
            <a:extLst>
              <a:ext uri="{FF2B5EF4-FFF2-40B4-BE49-F238E27FC236}">
                <a16:creationId xmlns:a16="http://schemas.microsoft.com/office/drawing/2014/main" id="{72CA9F8B-B37F-4102-0BD5-05EC22EE5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9794" y="4456304"/>
            <a:ext cx="278904" cy="27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84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111E-4ECD-DE4B-80B5-4E520ADF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硬件内存加密与保护机制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325AF-1AA6-304A-A8B3-21670F1B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硬件加密保护隐私性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外皆为密文，包括内存、存储、网络等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内部为明文，包括各级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与寄存器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数据进出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时，由进行加密和解密操作</a:t>
            </a:r>
            <a:endParaRPr kumimoji="1" lang="en-US" altLang="zh-CN" dirty="0"/>
          </a:p>
          <a:p>
            <a:r>
              <a:rPr kumimoji="1" lang="zh-CN" altLang="en-US" dirty="0"/>
              <a:t>硬件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保护完整性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对内存中数据计算一级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，对一级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计算二级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，形成树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内部仅保存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，其它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保存在不可信的内存中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当内存中的数据被修改时，更新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EB3EF0-B8FB-1346-B5E1-A660F16E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5ABBF-D54D-564F-8AA6-1F00114E2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717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1D232-BEE2-5B42-88A6-EF8BB6E1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D6469-D6E3-8C49-B2D9-3DF16CF7E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方法一：单密钥加密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缺点：同样的明文会产生同样的密文</a:t>
            </a:r>
            <a:endParaRPr kumimoji="1" lang="en-US" altLang="zh-CN" sz="1800" dirty="0"/>
          </a:p>
          <a:p>
            <a:r>
              <a:rPr kumimoji="1" lang="zh-CN" altLang="en-US" sz="2000" dirty="0"/>
              <a:t>方法二：多密钥加密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缺点：如何保存这些密钥？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内部放不下</a:t>
            </a:r>
            <a:endParaRPr kumimoji="1" lang="en-US" altLang="zh-CN" sz="1800" dirty="0"/>
          </a:p>
          <a:p>
            <a:r>
              <a:rPr kumimoji="1" lang="zh-CN" altLang="en-US" sz="2000" dirty="0"/>
              <a:t>方法三：单密钥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多 </a:t>
            </a:r>
            <a:r>
              <a:rPr kumimoji="1" lang="en-US" altLang="zh-CN" sz="2000" dirty="0"/>
              <a:t>seed</a:t>
            </a:r>
          </a:p>
          <a:p>
            <a:pPr lvl="1"/>
            <a:r>
              <a:rPr kumimoji="1" lang="zh-CN" altLang="en-US" sz="1800" dirty="0"/>
              <a:t>为每个</a:t>
            </a:r>
            <a:r>
              <a:rPr kumimoji="1" lang="en-US" altLang="zh-CN" sz="1800" dirty="0"/>
              <a:t>cache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line</a:t>
            </a:r>
            <a:r>
              <a:rPr kumimoji="1" lang="zh-CN" altLang="en-US" sz="1800" dirty="0"/>
              <a:t>单独生成一个</a:t>
            </a:r>
            <a:r>
              <a:rPr kumimoji="1" lang="en-US" altLang="zh-CN" sz="1800" dirty="0"/>
              <a:t>seed</a:t>
            </a:r>
            <a:r>
              <a:rPr kumimoji="1" lang="zh-CN" altLang="en-US" sz="1800" dirty="0"/>
              <a:t>，用密钥加密后，对数据进行异或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278A70-95B8-A340-8BBF-350A17B5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AEBE7-7AC4-5840-A54D-9F9ED2E5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6415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A8E05-A237-7C45-831F-D53566CE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生成</a:t>
            </a:r>
            <a:r>
              <a:rPr kumimoji="1" lang="en-US" altLang="zh-CN" dirty="0"/>
              <a:t>seed</a:t>
            </a:r>
            <a:r>
              <a:rPr kumimoji="1" lang="zh-CN" altLang="en-US" dirty="0"/>
              <a:t>用于加密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85FE8-4F5F-184C-8C33-4BFD1E32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4914C-6AF4-554E-8F8A-7FC608641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DA22070-6966-6C46-9230-6859CC48E326}"/>
              </a:ext>
            </a:extLst>
          </p:cNvPr>
          <p:cNvSpPr/>
          <p:nvPr/>
        </p:nvSpPr>
        <p:spPr>
          <a:xfrm>
            <a:off x="2053662" y="2716076"/>
            <a:ext cx="360040" cy="36004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32C32D9-FD2F-B24B-BC07-41C2525352D1}"/>
              </a:ext>
            </a:extLst>
          </p:cNvPr>
          <p:cNvCxnSpPr>
            <a:cxnSpLocks/>
            <a:endCxn id="8" idx="6"/>
          </p:cNvCxnSpPr>
          <p:nvPr/>
        </p:nvCxnSpPr>
        <p:spPr>
          <a:xfrm>
            <a:off x="2053662" y="2896096"/>
            <a:ext cx="36004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89BC924A-A451-9B41-9EAB-4E7CEC0CD169}"/>
              </a:ext>
            </a:extLst>
          </p:cNvPr>
          <p:cNvCxnSpPr>
            <a:cxnSpLocks/>
            <a:stCxn id="8" idx="0"/>
            <a:endCxn id="8" idx="4"/>
          </p:cNvCxnSpPr>
          <p:nvPr/>
        </p:nvCxnSpPr>
        <p:spPr>
          <a:xfrm>
            <a:off x="2233682" y="2716076"/>
            <a:ext cx="0" cy="36004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9FAE77-D5BD-EC4D-8C55-AC5D55EABFD7}"/>
              </a:ext>
            </a:extLst>
          </p:cNvPr>
          <p:cNvCxnSpPr>
            <a:cxnSpLocks/>
          </p:cNvCxnSpPr>
          <p:nvPr/>
        </p:nvCxnSpPr>
        <p:spPr>
          <a:xfrm>
            <a:off x="2197678" y="2072631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7D114B8-90FA-F346-9C10-8DDFEEA838E3}"/>
              </a:ext>
            </a:extLst>
          </p:cNvPr>
          <p:cNvCxnSpPr>
            <a:cxnSpLocks/>
          </p:cNvCxnSpPr>
          <p:nvPr/>
        </p:nvCxnSpPr>
        <p:spPr>
          <a:xfrm flipV="1">
            <a:off x="2269686" y="2072631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8624B85-6AB5-E345-A69B-5924E36767C3}"/>
              </a:ext>
            </a:extLst>
          </p:cNvPr>
          <p:cNvCxnSpPr>
            <a:cxnSpLocks/>
          </p:cNvCxnSpPr>
          <p:nvPr/>
        </p:nvCxnSpPr>
        <p:spPr>
          <a:xfrm>
            <a:off x="2197678" y="3146345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D2C82BB-FBBD-3246-9572-BEE91863BCEE}"/>
              </a:ext>
            </a:extLst>
          </p:cNvPr>
          <p:cNvCxnSpPr>
            <a:cxnSpLocks/>
          </p:cNvCxnSpPr>
          <p:nvPr/>
        </p:nvCxnSpPr>
        <p:spPr>
          <a:xfrm flipV="1">
            <a:off x="2269686" y="3146345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66A0BFDD-2A14-EF49-B8A1-13D41F14B8D0}"/>
              </a:ext>
            </a:extLst>
          </p:cNvPr>
          <p:cNvCxnSpPr>
            <a:cxnSpLocks/>
          </p:cNvCxnSpPr>
          <p:nvPr/>
        </p:nvCxnSpPr>
        <p:spPr>
          <a:xfrm flipH="1">
            <a:off x="2447765" y="2896097"/>
            <a:ext cx="1044115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40302F0-6E02-0946-AF09-491E81839BAA}"/>
              </a:ext>
            </a:extLst>
          </p:cNvPr>
          <p:cNvSpPr txBox="1"/>
          <p:nvPr/>
        </p:nvSpPr>
        <p:spPr>
          <a:xfrm>
            <a:off x="1549606" y="2221273"/>
            <a:ext cx="64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明文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9ACBE3D-44B7-D848-909B-C1698017924C}"/>
              </a:ext>
            </a:extLst>
          </p:cNvPr>
          <p:cNvSpPr txBox="1"/>
          <p:nvPr/>
        </p:nvSpPr>
        <p:spPr>
          <a:xfrm>
            <a:off x="1549606" y="3290361"/>
            <a:ext cx="64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密文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2EE45A-66D6-B843-9E2B-DBA586720AB3}"/>
              </a:ext>
            </a:extLst>
          </p:cNvPr>
          <p:cNvSpPr txBox="1"/>
          <p:nvPr/>
        </p:nvSpPr>
        <p:spPr>
          <a:xfrm>
            <a:off x="2485709" y="2546799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加密</a:t>
            </a:r>
            <a:r>
              <a:rPr kumimoji="1" lang="en-US" altLang="zh-CN" sz="1400" dirty="0"/>
              <a:t>pad</a:t>
            </a:r>
            <a:endParaRPr kumimoji="1"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BB36D9-3978-BB4D-9D2E-33424EFD15E5}"/>
              </a:ext>
            </a:extLst>
          </p:cNvPr>
          <p:cNvSpPr/>
          <p:nvPr/>
        </p:nvSpPr>
        <p:spPr>
          <a:xfrm>
            <a:off x="3491880" y="2716076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加密模块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B928A3-AFAC-BC43-BD87-D1258A10AA1F}"/>
              </a:ext>
            </a:extLst>
          </p:cNvPr>
          <p:cNvSpPr/>
          <p:nvPr/>
        </p:nvSpPr>
        <p:spPr>
          <a:xfrm>
            <a:off x="1692651" y="3781354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内存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8156A92-7EA2-F641-8582-0D86784760D8}"/>
              </a:ext>
            </a:extLst>
          </p:cNvPr>
          <p:cNvSpPr/>
          <p:nvPr/>
        </p:nvSpPr>
        <p:spPr>
          <a:xfrm>
            <a:off x="1692651" y="1633364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accent1"/>
                </a:solidFill>
              </a:rPr>
              <a:t>L3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Cache</a:t>
            </a:r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327E14AA-314B-9347-A5FE-F8471BC7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561" y="2107552"/>
            <a:ext cx="266700" cy="254000"/>
          </a:xfrm>
          <a:prstGeom prst="rect">
            <a:avLst/>
          </a:prstGeom>
        </p:spPr>
      </p:pic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925A05BA-FDB6-3446-BC8D-10E844E766DD}"/>
              </a:ext>
            </a:extLst>
          </p:cNvPr>
          <p:cNvCxnSpPr>
            <a:cxnSpLocks/>
            <a:stCxn id="33" idx="2"/>
            <a:endCxn id="29" idx="0"/>
          </p:cNvCxnSpPr>
          <p:nvPr/>
        </p:nvCxnSpPr>
        <p:spPr>
          <a:xfrm>
            <a:off x="4032911" y="2361552"/>
            <a:ext cx="0" cy="354524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2EF85A0-52B0-6546-B199-9E1EAD8E8178}"/>
              </a:ext>
            </a:extLst>
          </p:cNvPr>
          <p:cNvCxnSpPr>
            <a:cxnSpLocks/>
          </p:cNvCxnSpPr>
          <p:nvPr/>
        </p:nvCxnSpPr>
        <p:spPr>
          <a:xfrm flipH="1">
            <a:off x="4573942" y="2902045"/>
            <a:ext cx="604655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77830A2D-59EF-AA46-8080-1452D33520C7}"/>
              </a:ext>
            </a:extLst>
          </p:cNvPr>
          <p:cNvSpPr/>
          <p:nvPr/>
        </p:nvSpPr>
        <p:spPr>
          <a:xfrm>
            <a:off x="5178597" y="2711671"/>
            <a:ext cx="833560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6EDFDC5-B900-564A-9AB5-358255677FE6}"/>
              </a:ext>
            </a:extLst>
          </p:cNvPr>
          <p:cNvSpPr/>
          <p:nvPr/>
        </p:nvSpPr>
        <p:spPr>
          <a:xfrm>
            <a:off x="6012157" y="271167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6FA6BB8-5565-2D4A-B7D4-F64D9DAB59CC}"/>
              </a:ext>
            </a:extLst>
          </p:cNvPr>
          <p:cNvSpPr/>
          <p:nvPr/>
        </p:nvSpPr>
        <p:spPr>
          <a:xfrm>
            <a:off x="6337166" y="2711671"/>
            <a:ext cx="820676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36BC286-4318-8342-A3C1-A8F5D37979D1}"/>
              </a:ext>
            </a:extLst>
          </p:cNvPr>
          <p:cNvSpPr txBox="1"/>
          <p:nvPr/>
        </p:nvSpPr>
        <p:spPr>
          <a:xfrm>
            <a:off x="6984269" y="2748156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Seed</a:t>
            </a:r>
            <a:endParaRPr kumimoji="1" lang="zh-CN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20BD1F9-66D8-4147-B0EB-AA2E2497F3A7}"/>
              </a:ext>
            </a:extLst>
          </p:cNvPr>
          <p:cNvSpPr/>
          <p:nvPr/>
        </p:nvSpPr>
        <p:spPr>
          <a:xfrm>
            <a:off x="5595376" y="3315966"/>
            <a:ext cx="741777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5F39540-33AB-3244-BCA9-3F41D5CF9B79}"/>
              </a:ext>
            </a:extLst>
          </p:cNvPr>
          <p:cNvSpPr/>
          <p:nvPr/>
        </p:nvSpPr>
        <p:spPr>
          <a:xfrm>
            <a:off x="6337153" y="3315966"/>
            <a:ext cx="820676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6E80A82-25DC-3148-A4BE-4CAF77296DE5}"/>
              </a:ext>
            </a:extLst>
          </p:cNvPr>
          <p:cNvCxnSpPr>
            <a:stCxn id="45" idx="0"/>
            <a:endCxn id="42" idx="2"/>
          </p:cNvCxnSpPr>
          <p:nvPr/>
        </p:nvCxnSpPr>
        <p:spPr>
          <a:xfrm flipV="1">
            <a:off x="6747491" y="3071711"/>
            <a:ext cx="13" cy="24425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691205AE-BA1C-384F-8692-297C2BC8C201}"/>
              </a:ext>
            </a:extLst>
          </p:cNvPr>
          <p:cNvSpPr/>
          <p:nvPr/>
        </p:nvSpPr>
        <p:spPr>
          <a:xfrm>
            <a:off x="5178596" y="2072631"/>
            <a:ext cx="833560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B824C52-9A0B-DD48-AE9D-F7BA760DB68A}"/>
              </a:ext>
            </a:extLst>
          </p:cNvPr>
          <p:cNvSpPr/>
          <p:nvPr/>
        </p:nvSpPr>
        <p:spPr>
          <a:xfrm>
            <a:off x="6012156" y="207263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37F798B-E965-0347-AC0F-FF29814FBCB9}"/>
              </a:ext>
            </a:extLst>
          </p:cNvPr>
          <p:cNvSpPr/>
          <p:nvPr/>
        </p:nvSpPr>
        <p:spPr>
          <a:xfrm>
            <a:off x="6337153" y="207691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3592315-A330-594B-84A0-4069ABEFEB00}"/>
              </a:ext>
            </a:extLst>
          </p:cNvPr>
          <p:cNvSpPr/>
          <p:nvPr/>
        </p:nvSpPr>
        <p:spPr>
          <a:xfrm>
            <a:off x="6833449" y="207753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23B2226-CADD-764F-A2F7-67B356B3F150}"/>
              </a:ext>
            </a:extLst>
          </p:cNvPr>
          <p:cNvSpPr txBox="1"/>
          <p:nvPr/>
        </p:nvSpPr>
        <p:spPr>
          <a:xfrm>
            <a:off x="6225433" y="2075387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...</a:t>
            </a:r>
            <a:endParaRPr kumimoji="1" lang="zh-CN" altLang="en-US" sz="1400" dirty="0"/>
          </a:p>
        </p:txBody>
      </p:sp>
      <p:cxnSp>
        <p:nvCxnSpPr>
          <p:cNvPr id="54" name="肘形连接符 53">
            <a:extLst>
              <a:ext uri="{FF2B5EF4-FFF2-40B4-BE49-F238E27FC236}">
                <a16:creationId xmlns:a16="http://schemas.microsoft.com/office/drawing/2014/main" id="{B2F7617A-95A5-3A4E-9E73-D83C70C3FB9B}"/>
              </a:ext>
            </a:extLst>
          </p:cNvPr>
          <p:cNvCxnSpPr>
            <a:cxnSpLocks/>
            <a:stCxn id="50" idx="2"/>
            <a:endCxn id="41" idx="0"/>
          </p:cNvCxnSpPr>
          <p:nvPr/>
        </p:nvCxnSpPr>
        <p:spPr>
          <a:xfrm rot="5400000">
            <a:off x="6199800" y="2411813"/>
            <a:ext cx="274720" cy="324996"/>
          </a:xfrm>
          <a:prstGeom prst="bentConnector3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8F63A71C-146D-E249-A75A-BBA71A6F754E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>
            <a:off x="5595376" y="2432671"/>
            <a:ext cx="1" cy="27900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5656177A-F826-9C4B-94CF-B490983CBE9D}"/>
              </a:ext>
            </a:extLst>
          </p:cNvPr>
          <p:cNvSpPr txBox="1"/>
          <p:nvPr/>
        </p:nvSpPr>
        <p:spPr>
          <a:xfrm>
            <a:off x="5972723" y="2131919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 err="1">
                <a:solidFill>
                  <a:schemeClr val="accent3"/>
                </a:solidFill>
              </a:rPr>
              <a:t>Cnt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C11E1A7-A5CD-7F45-AA53-65D60F284BBA}"/>
              </a:ext>
            </a:extLst>
          </p:cNvPr>
          <p:cNvSpPr txBox="1"/>
          <p:nvPr/>
        </p:nvSpPr>
        <p:spPr>
          <a:xfrm>
            <a:off x="5073319" y="2131364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3"/>
                </a:solidFill>
              </a:rPr>
              <a:t>LPID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5F81CA7-FDDD-3D49-8725-43AF0E0F7D7E}"/>
              </a:ext>
            </a:extLst>
          </p:cNvPr>
          <p:cNvSpPr txBox="1"/>
          <p:nvPr/>
        </p:nvSpPr>
        <p:spPr>
          <a:xfrm>
            <a:off x="6221748" y="3354271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3"/>
                </a:solidFill>
              </a:rPr>
              <a:t>Offset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6FD7A1C-0DEA-DE42-B646-3C1EC80792CA}"/>
              </a:ext>
            </a:extLst>
          </p:cNvPr>
          <p:cNvSpPr txBox="1"/>
          <p:nvPr/>
        </p:nvSpPr>
        <p:spPr>
          <a:xfrm>
            <a:off x="7128285" y="3333485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物理地址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D915B57-FE07-264A-8320-E686587455B6}"/>
              </a:ext>
            </a:extLst>
          </p:cNvPr>
          <p:cNvSpPr txBox="1"/>
          <p:nvPr/>
        </p:nvSpPr>
        <p:spPr>
          <a:xfrm>
            <a:off x="7128285" y="2102590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Counters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4027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内存完整性保护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03232" cy="3771636"/>
          </a:xfrm>
        </p:spPr>
        <p:txBody>
          <a:bodyPr>
            <a:normAutofit/>
          </a:bodyPr>
          <a:lstStyle/>
          <a:p>
            <a:r>
              <a:rPr lang="zh-CN" altLang="en" dirty="0"/>
              <a:t>内存</a:t>
            </a:r>
            <a:r>
              <a:rPr lang="zh-CN" altLang="en-US" dirty="0"/>
              <a:t>数据的完整性保护：机密虚拟机的内存数据不可被恶意修改</a:t>
            </a:r>
            <a:endParaRPr lang="en-US" altLang="zh-CN" dirty="0"/>
          </a:p>
          <a:p>
            <a:r>
              <a:rPr lang="zh-CN" altLang="en-US" dirty="0"/>
              <a:t>内存映射的完整性保护：机密虚拟机的第二阶段页表映射不可被恶习改变</a:t>
            </a:r>
            <a:endParaRPr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D4E24F-4569-D056-85EC-819AA066CAD2}"/>
              </a:ext>
            </a:extLst>
          </p:cNvPr>
          <p:cNvSpPr/>
          <p:nvPr/>
        </p:nvSpPr>
        <p:spPr>
          <a:xfrm>
            <a:off x="2242344" y="3400417"/>
            <a:ext cx="2113632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DF9CC9-3AFF-0CFB-2B7E-AFA36F673977}"/>
              </a:ext>
            </a:extLst>
          </p:cNvPr>
          <p:cNvSpPr/>
          <p:nvPr/>
        </p:nvSpPr>
        <p:spPr>
          <a:xfrm>
            <a:off x="2242344" y="4075499"/>
            <a:ext cx="2113632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E7BF6D-7E58-7D19-652F-773CC0F03798}"/>
              </a:ext>
            </a:extLst>
          </p:cNvPr>
          <p:cNvSpPr/>
          <p:nvPr/>
        </p:nvSpPr>
        <p:spPr>
          <a:xfrm>
            <a:off x="2254589" y="4768317"/>
            <a:ext cx="2113632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DEF445-6CC2-6C81-8DA0-B9EA4464FF7F}"/>
              </a:ext>
            </a:extLst>
          </p:cNvPr>
          <p:cNvSpPr/>
          <p:nvPr/>
        </p:nvSpPr>
        <p:spPr>
          <a:xfrm>
            <a:off x="2453267" y="3397891"/>
            <a:ext cx="534557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6399EB-DD94-894A-B095-F114DA3DF50E}"/>
              </a:ext>
            </a:extLst>
          </p:cNvPr>
          <p:cNvSpPr/>
          <p:nvPr/>
        </p:nvSpPr>
        <p:spPr>
          <a:xfrm>
            <a:off x="3419872" y="3397891"/>
            <a:ext cx="534557" cy="30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641B24-107B-0803-989A-281E02B58425}"/>
              </a:ext>
            </a:extLst>
          </p:cNvPr>
          <p:cNvSpPr/>
          <p:nvPr/>
        </p:nvSpPr>
        <p:spPr>
          <a:xfrm>
            <a:off x="2627784" y="4075223"/>
            <a:ext cx="534557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3D8C0B-FB1C-CA82-CFD2-BA0508FC8BD5}"/>
              </a:ext>
            </a:extLst>
          </p:cNvPr>
          <p:cNvSpPr/>
          <p:nvPr/>
        </p:nvSpPr>
        <p:spPr>
          <a:xfrm>
            <a:off x="3280502" y="4075223"/>
            <a:ext cx="534557" cy="30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4EE947-5C45-882B-DD2F-6128E4D48E29}"/>
              </a:ext>
            </a:extLst>
          </p:cNvPr>
          <p:cNvSpPr/>
          <p:nvPr/>
        </p:nvSpPr>
        <p:spPr>
          <a:xfrm>
            <a:off x="2411760" y="4768317"/>
            <a:ext cx="534557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BCBEBF-1471-2317-BCAD-0D1DDC6EF856}"/>
              </a:ext>
            </a:extLst>
          </p:cNvPr>
          <p:cNvSpPr/>
          <p:nvPr/>
        </p:nvSpPr>
        <p:spPr>
          <a:xfrm>
            <a:off x="3563888" y="4768317"/>
            <a:ext cx="534557" cy="30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83AEDF0-0678-7324-3C27-424EB5975C5F}"/>
              </a:ext>
            </a:extLst>
          </p:cNvPr>
          <p:cNvCxnSpPr>
            <a:cxnSpLocks/>
          </p:cNvCxnSpPr>
          <p:nvPr/>
        </p:nvCxnSpPr>
        <p:spPr>
          <a:xfrm>
            <a:off x="2453267" y="3703891"/>
            <a:ext cx="174517" cy="38681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D15DED2-0312-E55A-00B3-724B58E65B38}"/>
              </a:ext>
            </a:extLst>
          </p:cNvPr>
          <p:cNvCxnSpPr>
            <a:cxnSpLocks/>
          </p:cNvCxnSpPr>
          <p:nvPr/>
        </p:nvCxnSpPr>
        <p:spPr>
          <a:xfrm>
            <a:off x="2987824" y="3703891"/>
            <a:ext cx="162272" cy="37133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9E79FDF-9CC2-B1CA-EB80-DCA7EF91A6DF}"/>
              </a:ext>
            </a:extLst>
          </p:cNvPr>
          <p:cNvCxnSpPr>
            <a:cxnSpLocks/>
          </p:cNvCxnSpPr>
          <p:nvPr/>
        </p:nvCxnSpPr>
        <p:spPr>
          <a:xfrm>
            <a:off x="2627784" y="4381223"/>
            <a:ext cx="919996" cy="38406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57D3A87-7A2E-0E7D-BB17-9112BBCDE77F}"/>
              </a:ext>
            </a:extLst>
          </p:cNvPr>
          <p:cNvCxnSpPr>
            <a:cxnSpLocks/>
          </p:cNvCxnSpPr>
          <p:nvPr/>
        </p:nvCxnSpPr>
        <p:spPr>
          <a:xfrm>
            <a:off x="3150096" y="4381223"/>
            <a:ext cx="948349" cy="38406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B9F9FD8-3103-992B-EB59-CB15F779E523}"/>
              </a:ext>
            </a:extLst>
          </p:cNvPr>
          <p:cNvCxnSpPr>
            <a:cxnSpLocks/>
          </p:cNvCxnSpPr>
          <p:nvPr/>
        </p:nvCxnSpPr>
        <p:spPr>
          <a:xfrm flipH="1">
            <a:off x="3815059" y="3702691"/>
            <a:ext cx="118161" cy="369499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7B05043-4E7F-5EF9-7003-FA0291BE3A60}"/>
              </a:ext>
            </a:extLst>
          </p:cNvPr>
          <p:cNvCxnSpPr>
            <a:cxnSpLocks/>
          </p:cNvCxnSpPr>
          <p:nvPr/>
        </p:nvCxnSpPr>
        <p:spPr>
          <a:xfrm flipH="1">
            <a:off x="3280502" y="3697341"/>
            <a:ext cx="164645" cy="374849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BFEBBFA-7065-DB6B-C7E7-FD706F07953C}"/>
              </a:ext>
            </a:extLst>
          </p:cNvPr>
          <p:cNvCxnSpPr>
            <a:cxnSpLocks/>
          </p:cNvCxnSpPr>
          <p:nvPr/>
        </p:nvCxnSpPr>
        <p:spPr>
          <a:xfrm flipH="1" flipV="1">
            <a:off x="3815059" y="4381223"/>
            <a:ext cx="270458" cy="384061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C682D91-277D-E718-2515-DA78A0CCFEB0}"/>
              </a:ext>
            </a:extLst>
          </p:cNvPr>
          <p:cNvCxnSpPr>
            <a:cxnSpLocks/>
          </p:cNvCxnSpPr>
          <p:nvPr/>
        </p:nvCxnSpPr>
        <p:spPr>
          <a:xfrm>
            <a:off x="3275971" y="4373264"/>
            <a:ext cx="287917" cy="39477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B774DAC-F1DB-9061-AC6C-09023545DD33}"/>
              </a:ext>
            </a:extLst>
          </p:cNvPr>
          <p:cNvSpPr txBox="1"/>
          <p:nvPr/>
        </p:nvSpPr>
        <p:spPr>
          <a:xfrm>
            <a:off x="1547664" y="3397891"/>
            <a:ext cx="378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VA</a:t>
            </a: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2959DA-4329-F704-D0E4-62B92028821D}"/>
              </a:ext>
            </a:extLst>
          </p:cNvPr>
          <p:cNvSpPr txBox="1"/>
          <p:nvPr/>
        </p:nvSpPr>
        <p:spPr>
          <a:xfrm>
            <a:off x="1473173" y="4097099"/>
            <a:ext cx="498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GPA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3CB044-7D23-8713-3672-A0C20F182F0B}"/>
              </a:ext>
            </a:extLst>
          </p:cNvPr>
          <p:cNvSpPr txBox="1"/>
          <p:nvPr/>
        </p:nvSpPr>
        <p:spPr>
          <a:xfrm>
            <a:off x="1547663" y="4794639"/>
            <a:ext cx="378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PA</a:t>
            </a:r>
            <a:endParaRPr lang="zh-CN" altLang="en-US" sz="1200" dirty="0"/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7717C587-B995-26E6-A38F-CD3CDC590196}"/>
              </a:ext>
            </a:extLst>
          </p:cNvPr>
          <p:cNvSpPr/>
          <p:nvPr/>
        </p:nvSpPr>
        <p:spPr>
          <a:xfrm>
            <a:off x="1971203" y="4297660"/>
            <a:ext cx="80517" cy="64807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B2B9D6-B416-0859-14CA-A66A527B35D7}"/>
              </a:ext>
            </a:extLst>
          </p:cNvPr>
          <p:cNvSpPr txBox="1"/>
          <p:nvPr/>
        </p:nvSpPr>
        <p:spPr>
          <a:xfrm>
            <a:off x="1171592" y="4437030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/>
              <a:t>Controlled by</a:t>
            </a:r>
            <a:r>
              <a:rPr lang="zh-CN" altLang="en-US" sz="900" dirty="0"/>
              <a:t> </a:t>
            </a:r>
            <a:br>
              <a:rPr lang="en-US" altLang="zh-CN" sz="900" dirty="0"/>
            </a:br>
            <a:r>
              <a:rPr lang="en-US" altLang="zh-CN" sz="900" dirty="0"/>
              <a:t>hypervisor</a:t>
            </a:r>
            <a:endParaRPr lang="zh-CN" altLang="en-US" sz="900" dirty="0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60643B5A-3A8F-A165-34DE-48928C9A7109}"/>
              </a:ext>
            </a:extLst>
          </p:cNvPr>
          <p:cNvSpPr/>
          <p:nvPr/>
        </p:nvSpPr>
        <p:spPr>
          <a:xfrm>
            <a:off x="1976871" y="3563456"/>
            <a:ext cx="80517" cy="64807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B42EF0-653D-29A7-283B-E155B87E53B0}"/>
              </a:ext>
            </a:extLst>
          </p:cNvPr>
          <p:cNvSpPr txBox="1"/>
          <p:nvPr/>
        </p:nvSpPr>
        <p:spPr>
          <a:xfrm>
            <a:off x="1165925" y="3742185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/>
              <a:t>Controlled by</a:t>
            </a:r>
            <a:r>
              <a:rPr lang="zh-CN" altLang="en-US" sz="900" dirty="0"/>
              <a:t> </a:t>
            </a:r>
            <a:br>
              <a:rPr lang="en-US" altLang="zh-CN" sz="900" dirty="0"/>
            </a:br>
            <a:r>
              <a:rPr lang="en-US" altLang="zh-CN" sz="900" dirty="0"/>
              <a:t>Guest OS</a:t>
            </a:r>
            <a:endParaRPr lang="zh-CN" altLang="en-US" sz="900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FFEBC587-A0D2-36C2-4D82-536FD7497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916" y="4471065"/>
            <a:ext cx="300181" cy="30018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55CA5562-281B-819C-CD15-BA8CF0C63D83}"/>
              </a:ext>
            </a:extLst>
          </p:cNvPr>
          <p:cNvSpPr/>
          <p:nvPr/>
        </p:nvSpPr>
        <p:spPr>
          <a:xfrm>
            <a:off x="4968708" y="3397738"/>
            <a:ext cx="2113632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5AED91-DB62-42CE-ADCB-4599D86EDEB3}"/>
              </a:ext>
            </a:extLst>
          </p:cNvPr>
          <p:cNvSpPr/>
          <p:nvPr/>
        </p:nvSpPr>
        <p:spPr>
          <a:xfrm>
            <a:off x="4968708" y="4072820"/>
            <a:ext cx="2113632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DADB1F-0C06-39DB-649E-9D632BE10E91}"/>
              </a:ext>
            </a:extLst>
          </p:cNvPr>
          <p:cNvSpPr/>
          <p:nvPr/>
        </p:nvSpPr>
        <p:spPr>
          <a:xfrm>
            <a:off x="4980953" y="4765638"/>
            <a:ext cx="2113632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36984D1-C4BC-E397-5A5C-5264B57D341C}"/>
              </a:ext>
            </a:extLst>
          </p:cNvPr>
          <p:cNvSpPr/>
          <p:nvPr/>
        </p:nvSpPr>
        <p:spPr>
          <a:xfrm>
            <a:off x="5179631" y="3395212"/>
            <a:ext cx="534557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0A34C2-6A4E-24A5-16C6-4105703C1AD1}"/>
              </a:ext>
            </a:extLst>
          </p:cNvPr>
          <p:cNvSpPr/>
          <p:nvPr/>
        </p:nvSpPr>
        <p:spPr>
          <a:xfrm>
            <a:off x="6146236" y="3395212"/>
            <a:ext cx="534557" cy="30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6C8FBD1-4201-4374-F803-FB55387FAA6D}"/>
              </a:ext>
            </a:extLst>
          </p:cNvPr>
          <p:cNvSpPr/>
          <p:nvPr/>
        </p:nvSpPr>
        <p:spPr>
          <a:xfrm>
            <a:off x="5354148" y="4072544"/>
            <a:ext cx="534557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17E721-C35E-A9CD-17F7-A3336EDCB040}"/>
              </a:ext>
            </a:extLst>
          </p:cNvPr>
          <p:cNvSpPr/>
          <p:nvPr/>
        </p:nvSpPr>
        <p:spPr>
          <a:xfrm>
            <a:off x="6006866" y="4072544"/>
            <a:ext cx="534557" cy="30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90D0B2-3B88-7FD2-6448-BFAAB218E265}"/>
              </a:ext>
            </a:extLst>
          </p:cNvPr>
          <p:cNvSpPr/>
          <p:nvPr/>
        </p:nvSpPr>
        <p:spPr>
          <a:xfrm>
            <a:off x="5138124" y="4765638"/>
            <a:ext cx="534557" cy="30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92C42B-F60E-8063-B194-38E07F4929DC}"/>
              </a:ext>
            </a:extLst>
          </p:cNvPr>
          <p:cNvSpPr/>
          <p:nvPr/>
        </p:nvSpPr>
        <p:spPr>
          <a:xfrm>
            <a:off x="6290252" y="4765638"/>
            <a:ext cx="534557" cy="30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B892787-56F5-663A-0FC7-D3EE7572FBE4}"/>
              </a:ext>
            </a:extLst>
          </p:cNvPr>
          <p:cNvCxnSpPr>
            <a:cxnSpLocks/>
          </p:cNvCxnSpPr>
          <p:nvPr/>
        </p:nvCxnSpPr>
        <p:spPr>
          <a:xfrm>
            <a:off x="5179631" y="3701212"/>
            <a:ext cx="174517" cy="38681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C716D47-457E-73C4-62C3-23BBB0316A47}"/>
              </a:ext>
            </a:extLst>
          </p:cNvPr>
          <p:cNvCxnSpPr>
            <a:cxnSpLocks/>
          </p:cNvCxnSpPr>
          <p:nvPr/>
        </p:nvCxnSpPr>
        <p:spPr>
          <a:xfrm>
            <a:off x="5714188" y="3701212"/>
            <a:ext cx="162272" cy="37133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97918ED-896C-1ADF-F8C2-2D68E62CB4A4}"/>
              </a:ext>
            </a:extLst>
          </p:cNvPr>
          <p:cNvCxnSpPr>
            <a:cxnSpLocks/>
          </p:cNvCxnSpPr>
          <p:nvPr/>
        </p:nvCxnSpPr>
        <p:spPr>
          <a:xfrm flipH="1">
            <a:off x="5138124" y="4370585"/>
            <a:ext cx="864211" cy="3920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A576400-405F-FDBC-2EC2-B196318C48D9}"/>
              </a:ext>
            </a:extLst>
          </p:cNvPr>
          <p:cNvCxnSpPr>
            <a:cxnSpLocks/>
          </p:cNvCxnSpPr>
          <p:nvPr/>
        </p:nvCxnSpPr>
        <p:spPr>
          <a:xfrm flipH="1">
            <a:off x="5672681" y="4370585"/>
            <a:ext cx="868742" cy="3920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9379313-ADC6-666F-F3DD-E4E638670EDE}"/>
              </a:ext>
            </a:extLst>
          </p:cNvPr>
          <p:cNvCxnSpPr>
            <a:cxnSpLocks/>
          </p:cNvCxnSpPr>
          <p:nvPr/>
        </p:nvCxnSpPr>
        <p:spPr>
          <a:xfrm flipH="1">
            <a:off x="6541423" y="3700012"/>
            <a:ext cx="118161" cy="369499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BCF6E3-A90B-8777-B736-5422F6EA877C}"/>
              </a:ext>
            </a:extLst>
          </p:cNvPr>
          <p:cNvCxnSpPr>
            <a:cxnSpLocks/>
          </p:cNvCxnSpPr>
          <p:nvPr/>
        </p:nvCxnSpPr>
        <p:spPr>
          <a:xfrm flipH="1">
            <a:off x="6006866" y="3694662"/>
            <a:ext cx="164645" cy="374849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D11A30A-F2B0-CDF6-A175-845998A8C368}"/>
              </a:ext>
            </a:extLst>
          </p:cNvPr>
          <p:cNvCxnSpPr>
            <a:cxnSpLocks/>
          </p:cNvCxnSpPr>
          <p:nvPr/>
        </p:nvCxnSpPr>
        <p:spPr>
          <a:xfrm flipH="1" flipV="1">
            <a:off x="6541423" y="4378544"/>
            <a:ext cx="283386" cy="384061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7CD1A8B-54EE-6BA7-4E70-6E6D129A0C4C}"/>
              </a:ext>
            </a:extLst>
          </p:cNvPr>
          <p:cNvCxnSpPr>
            <a:cxnSpLocks/>
          </p:cNvCxnSpPr>
          <p:nvPr/>
        </p:nvCxnSpPr>
        <p:spPr>
          <a:xfrm>
            <a:off x="6002335" y="4370585"/>
            <a:ext cx="271809" cy="39202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B7A0B29A-3DEB-68AF-A436-A7FFA2E8494E}"/>
              </a:ext>
            </a:extLst>
          </p:cNvPr>
          <p:cNvSpPr txBox="1"/>
          <p:nvPr/>
        </p:nvSpPr>
        <p:spPr>
          <a:xfrm>
            <a:off x="2661227" y="5149524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Memory aliasing</a:t>
            </a:r>
            <a:endParaRPr lang="zh-CN" altLang="en-US" sz="12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A882972-CC03-3279-5D4F-C17A087318D0}"/>
              </a:ext>
            </a:extLst>
          </p:cNvPr>
          <p:cNvSpPr txBox="1"/>
          <p:nvPr/>
        </p:nvSpPr>
        <p:spPr>
          <a:xfrm>
            <a:off x="5387591" y="5154917"/>
            <a:ext cx="1505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Memory remapping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54509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76D15-101E-A84F-86CD-42B87647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内存完整性保护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97DA32-7658-8C45-9EBC-CF98C4E4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Merkle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hash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</a:p>
          <a:p>
            <a:pPr lvl="1"/>
            <a:r>
              <a:rPr kumimoji="1" lang="zh-CN" altLang="en-US" sz="2000" dirty="0"/>
              <a:t>可以保证内存不会受到拼接和欺骗攻击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不知道</a:t>
            </a:r>
            <a:r>
              <a:rPr kumimoji="1" lang="en-US" altLang="zh-CN" sz="1600" dirty="0"/>
              <a:t>hash key</a:t>
            </a:r>
            <a:r>
              <a:rPr kumimoji="1" lang="zh-CN" altLang="en-US" sz="1600" dirty="0"/>
              <a:t>无法计算对应的</a:t>
            </a:r>
            <a:r>
              <a:rPr kumimoji="1" lang="en-US" altLang="zh-CN" sz="1600" dirty="0"/>
              <a:t>mac</a:t>
            </a:r>
          </a:p>
          <a:p>
            <a:pPr lvl="1"/>
            <a:r>
              <a:rPr kumimoji="1" lang="zh-CN" altLang="en-US" sz="2000" dirty="0"/>
              <a:t>无法防御回放攻击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攻击者可以将</a:t>
            </a:r>
            <a:r>
              <a:rPr kumimoji="1" lang="en-US" altLang="zh-CN" sz="1600" dirty="0"/>
              <a:t>mac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data</a:t>
            </a:r>
            <a:r>
              <a:rPr kumimoji="1" lang="zh-CN" altLang="en-US" sz="1600" dirty="0"/>
              <a:t>同时替换成老版本</a:t>
            </a:r>
            <a:endParaRPr kumimoji="1" lang="en-US" altLang="zh-CN" sz="1600" dirty="0"/>
          </a:p>
          <a:p>
            <a:r>
              <a:rPr kumimoji="1" lang="zh-CN" altLang="en-US" sz="2400" dirty="0"/>
              <a:t>将</a:t>
            </a:r>
            <a:r>
              <a:rPr kumimoji="1" lang="en-US" altLang="zh-CN" sz="2400" dirty="0"/>
              <a:t>root hash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(mac)</a:t>
            </a:r>
            <a:r>
              <a:rPr kumimoji="1" lang="zh-CN" altLang="en-US" sz="2400" dirty="0"/>
              <a:t> 存储在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防御回放攻击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攻击者无法修改</a:t>
            </a:r>
            <a:r>
              <a:rPr kumimoji="1" lang="en-US" altLang="zh-CN" sz="1600" dirty="0"/>
              <a:t>root mac</a:t>
            </a:r>
            <a:r>
              <a:rPr kumimoji="1" lang="zh-CN" altLang="en-US" sz="1600" dirty="0"/>
              <a:t>的值</a:t>
            </a:r>
            <a:endParaRPr kumimoji="1" lang="en-US" altLang="zh-CN" sz="1600" dirty="0"/>
          </a:p>
          <a:p>
            <a:pPr marL="457200" lvl="1" indent="0">
              <a:buNone/>
            </a:pP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D73BFD-F025-6A43-A609-BB882770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97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内存完整性保护：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Picture 45"/>
          <p:cNvPicPr>
            <a:picLocks noChangeAspect="1"/>
          </p:cNvPicPr>
          <p:nvPr/>
        </p:nvPicPr>
        <p:blipFill rotWithShape="1">
          <a:blip r:embed="rId2"/>
          <a:srcRect t="40008" b="43755"/>
          <a:stretch/>
        </p:blipFill>
        <p:spPr>
          <a:xfrm>
            <a:off x="888601" y="4556411"/>
            <a:ext cx="7427815" cy="1113564"/>
          </a:xfrm>
          <a:prstGeom prst="rect">
            <a:avLst/>
          </a:prstGeom>
        </p:spPr>
      </p:pic>
      <p:sp>
        <p:nvSpPr>
          <p:cNvPr id="6" name="Rectangle 46"/>
          <p:cNvSpPr/>
          <p:nvPr/>
        </p:nvSpPr>
        <p:spPr>
          <a:xfrm>
            <a:off x="1367817" y="4748119"/>
            <a:ext cx="2740162" cy="611064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prstClr val="white"/>
            </a:bgClr>
          </a:patt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</a:rPr>
              <a:t>数据（密文）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Rectangle 70"/>
          <p:cNvSpPr/>
          <p:nvPr/>
        </p:nvSpPr>
        <p:spPr>
          <a:xfrm>
            <a:off x="5009842" y="4744759"/>
            <a:ext cx="1478876" cy="611064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prstClr val="white"/>
            </a:bgClr>
          </a:patt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</a:rPr>
              <a:t>Counters</a:t>
            </a:r>
          </a:p>
        </p:txBody>
      </p:sp>
      <p:sp>
        <p:nvSpPr>
          <p:cNvPr id="8" name="Rectangle 34"/>
          <p:cNvSpPr/>
          <p:nvPr/>
        </p:nvSpPr>
        <p:spPr>
          <a:xfrm>
            <a:off x="6617158" y="4753379"/>
            <a:ext cx="1331782" cy="6110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Hash</a:t>
            </a:r>
          </a:p>
        </p:txBody>
      </p:sp>
      <p:sp>
        <p:nvSpPr>
          <p:cNvPr id="9" name="Rectangle 37"/>
          <p:cNvSpPr/>
          <p:nvPr/>
        </p:nvSpPr>
        <p:spPr>
          <a:xfrm>
            <a:off x="1367817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Rectangle 38"/>
          <p:cNvSpPr/>
          <p:nvPr/>
        </p:nvSpPr>
        <p:spPr>
          <a:xfrm>
            <a:off x="1939528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39"/>
          <p:cNvSpPr/>
          <p:nvPr/>
        </p:nvSpPr>
        <p:spPr>
          <a:xfrm>
            <a:off x="2514585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40"/>
          <p:cNvSpPr/>
          <p:nvPr/>
        </p:nvSpPr>
        <p:spPr>
          <a:xfrm>
            <a:off x="3106912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Rectangle 42"/>
          <p:cNvSpPr/>
          <p:nvPr/>
        </p:nvSpPr>
        <p:spPr>
          <a:xfrm>
            <a:off x="3678623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47"/>
          <p:cNvSpPr/>
          <p:nvPr/>
        </p:nvSpPr>
        <p:spPr>
          <a:xfrm>
            <a:off x="5013176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Rectangle 48"/>
          <p:cNvSpPr/>
          <p:nvPr/>
        </p:nvSpPr>
        <p:spPr>
          <a:xfrm>
            <a:off x="5548947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Rectangle 49"/>
          <p:cNvSpPr/>
          <p:nvPr/>
        </p:nvSpPr>
        <p:spPr>
          <a:xfrm>
            <a:off x="6088064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Rectangle 52"/>
          <p:cNvSpPr/>
          <p:nvPr/>
        </p:nvSpPr>
        <p:spPr>
          <a:xfrm>
            <a:off x="2032156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Rectangle 53"/>
          <p:cNvSpPr/>
          <p:nvPr/>
        </p:nvSpPr>
        <p:spPr>
          <a:xfrm>
            <a:off x="2748632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Rectangle 55"/>
          <p:cNvSpPr/>
          <p:nvPr/>
        </p:nvSpPr>
        <p:spPr>
          <a:xfrm>
            <a:off x="3451926" y="3664770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Rectangle 56"/>
          <p:cNvSpPr/>
          <p:nvPr/>
        </p:nvSpPr>
        <p:spPr>
          <a:xfrm>
            <a:off x="1044347" y="1231150"/>
            <a:ext cx="7140287" cy="1389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58"/>
          <p:cNvSpPr/>
          <p:nvPr/>
        </p:nvSpPr>
        <p:spPr>
          <a:xfrm>
            <a:off x="3514243" y="1922753"/>
            <a:ext cx="943102" cy="313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Root</a:t>
            </a:r>
          </a:p>
        </p:txBody>
      </p:sp>
      <p:cxnSp>
        <p:nvCxnSpPr>
          <p:cNvPr id="22" name="Straight Connector 6"/>
          <p:cNvCxnSpPr/>
          <p:nvPr/>
        </p:nvCxnSpPr>
        <p:spPr>
          <a:xfrm flipH="1">
            <a:off x="1367818" y="2236175"/>
            <a:ext cx="2146425" cy="18769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59"/>
          <p:cNvCxnSpPr/>
          <p:nvPr/>
        </p:nvCxnSpPr>
        <p:spPr>
          <a:xfrm>
            <a:off x="4457345" y="2236175"/>
            <a:ext cx="2038050" cy="18769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60"/>
          <p:cNvSpPr/>
          <p:nvPr/>
        </p:nvSpPr>
        <p:spPr>
          <a:xfrm>
            <a:off x="1041233" y="1255334"/>
            <a:ext cx="1940816" cy="374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00"/>
                </a:solidFill>
              </a:rPr>
              <a:t>CPU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6"/>
          <p:cNvSpPr/>
          <p:nvPr/>
        </p:nvSpPr>
        <p:spPr>
          <a:xfrm>
            <a:off x="4792489" y="3662097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6" name="Rectangle 28"/>
          <p:cNvSpPr/>
          <p:nvPr/>
        </p:nvSpPr>
        <p:spPr>
          <a:xfrm>
            <a:off x="2640196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7" name="Rectangle 29"/>
          <p:cNvSpPr/>
          <p:nvPr/>
        </p:nvSpPr>
        <p:spPr>
          <a:xfrm>
            <a:off x="3356672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8" name="Rectangle 30"/>
          <p:cNvSpPr/>
          <p:nvPr/>
        </p:nvSpPr>
        <p:spPr>
          <a:xfrm>
            <a:off x="4140331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9" name="Rectangle 31"/>
          <p:cNvSpPr/>
          <p:nvPr/>
        </p:nvSpPr>
        <p:spPr>
          <a:xfrm>
            <a:off x="4354381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0" name="Rectangle 32"/>
          <p:cNvSpPr/>
          <p:nvPr/>
        </p:nvSpPr>
        <p:spPr>
          <a:xfrm>
            <a:off x="4031877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1" name="Rectangle 33"/>
          <p:cNvSpPr/>
          <p:nvPr/>
        </p:nvSpPr>
        <p:spPr>
          <a:xfrm>
            <a:off x="4695917" y="3246833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Rectangle 35"/>
          <p:cNvSpPr/>
          <p:nvPr/>
        </p:nvSpPr>
        <p:spPr>
          <a:xfrm>
            <a:off x="3338985" y="277529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3" name="Rectangle 36"/>
          <p:cNvSpPr/>
          <p:nvPr/>
        </p:nvSpPr>
        <p:spPr>
          <a:xfrm>
            <a:off x="4055461" y="277529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4" name="Rectangle 43"/>
          <p:cNvSpPr/>
          <p:nvPr/>
        </p:nvSpPr>
        <p:spPr>
          <a:xfrm>
            <a:off x="5408309" y="3657786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358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0725-DA30-B539-D2D2-8E3F292B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数字签名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9913D-9B68-534D-5702-20B04835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A8983-B665-C454-AF3B-68BA9703B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1D4D7B0-5AAE-F8EB-6737-527BBB943439}"/>
              </a:ext>
            </a:extLst>
          </p:cNvPr>
          <p:cNvGrpSpPr/>
          <p:nvPr/>
        </p:nvGrpSpPr>
        <p:grpSpPr>
          <a:xfrm>
            <a:off x="1437855" y="1670646"/>
            <a:ext cx="3352800" cy="1186854"/>
            <a:chOff x="304800" y="2019240"/>
            <a:chExt cx="3352800" cy="11868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111DFE6-FD07-5E3D-05DE-C03F634C4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" y="2019240"/>
              <a:ext cx="3352800" cy="118685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87DEFF-8261-BD1D-6CEA-BFC0C83C049B}"/>
                </a:ext>
              </a:extLst>
            </p:cNvPr>
            <p:cNvSpPr txBox="1"/>
            <p:nvPr/>
          </p:nvSpPr>
          <p:spPr>
            <a:xfrm>
              <a:off x="609600" y="2451040"/>
              <a:ext cx="23148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Bob agrees to pay Alice 1$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15F3E03-50EB-78F2-B576-BF15F5CA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47" y="3499446"/>
            <a:ext cx="1036320" cy="76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1DDC39-DF99-D671-F318-5EA68D94E50D}"/>
              </a:ext>
            </a:extLst>
          </p:cNvPr>
          <p:cNvSpPr txBox="1"/>
          <p:nvPr/>
        </p:nvSpPr>
        <p:spPr>
          <a:xfrm>
            <a:off x="-96908" y="4109046"/>
            <a:ext cx="1610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signing </a:t>
            </a:r>
            <a:br>
              <a:rPr lang="en-US" dirty="0"/>
            </a:br>
            <a:r>
              <a:rPr lang="en-US" dirty="0"/>
              <a:t>key  (</a:t>
            </a:r>
            <a:r>
              <a:rPr lang="en-US" dirty="0" err="1"/>
              <a:t>sk</a:t>
            </a:r>
            <a:r>
              <a:rPr lang="en-US" dirty="0"/>
              <a:t>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442D40-D429-77EA-3623-655EC2ACF5D0}"/>
              </a:ext>
            </a:extLst>
          </p:cNvPr>
          <p:cNvSpPr/>
          <p:nvPr/>
        </p:nvSpPr>
        <p:spPr>
          <a:xfrm>
            <a:off x="2018063" y="3492869"/>
            <a:ext cx="1553392" cy="118685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Signing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algorithm</a:t>
            </a:r>
          </a:p>
        </p:txBody>
      </p:sp>
      <p:sp>
        <p:nvSpPr>
          <p:cNvPr id="12" name="Up Arrow 11">
            <a:extLst>
              <a:ext uri="{FF2B5EF4-FFF2-40B4-BE49-F238E27FC236}">
                <a16:creationId xmlns:a16="http://schemas.microsoft.com/office/drawing/2014/main" id="{F1853F7F-7B17-3B42-0224-08A499BE5580}"/>
              </a:ext>
            </a:extLst>
          </p:cNvPr>
          <p:cNvSpPr/>
          <p:nvPr/>
        </p:nvSpPr>
        <p:spPr>
          <a:xfrm flipV="1">
            <a:off x="2762647" y="2966046"/>
            <a:ext cx="228600" cy="533400"/>
          </a:xfrm>
          <a:prstGeom prst="up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F56B998-ECAD-98FD-96F6-E65A7611C0ED}"/>
              </a:ext>
            </a:extLst>
          </p:cNvPr>
          <p:cNvSpPr/>
          <p:nvPr/>
        </p:nvSpPr>
        <p:spPr>
          <a:xfrm>
            <a:off x="1314847" y="3880446"/>
            <a:ext cx="762000" cy="152400"/>
          </a:xfrm>
          <a:prstGeom prst="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000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62CD1-FB94-2EB3-4FAA-C4AC4B1E829F}"/>
              </a:ext>
            </a:extLst>
          </p:cNvPr>
          <p:cNvSpPr txBox="1"/>
          <p:nvPr/>
        </p:nvSpPr>
        <p:spPr>
          <a:xfrm>
            <a:off x="3419055" y="2911932"/>
            <a:ext cx="1354908" cy="400110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signature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3DCF9A-6478-9AC2-FDF0-9720FBE1F760}"/>
              </a:ext>
            </a:extLst>
          </p:cNvPr>
          <p:cNvSpPr txBox="1"/>
          <p:nvPr/>
        </p:nvSpPr>
        <p:spPr>
          <a:xfrm>
            <a:off x="2607730" y="1231067"/>
            <a:ext cx="963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Signer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6A8F18-A62E-960D-7BA9-3BEC6302BFA5}"/>
              </a:ext>
            </a:extLst>
          </p:cNvPr>
          <p:cNvGrpSpPr/>
          <p:nvPr/>
        </p:nvGrpSpPr>
        <p:grpSpPr>
          <a:xfrm>
            <a:off x="6314655" y="1540332"/>
            <a:ext cx="1295400" cy="1295400"/>
            <a:chOff x="6629400" y="1428750"/>
            <a:chExt cx="1295400" cy="1295400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299B300-D137-38D6-3565-BC7098D300AB}"/>
                </a:ext>
              </a:extLst>
            </p:cNvPr>
            <p:cNvSpPr/>
            <p:nvPr/>
          </p:nvSpPr>
          <p:spPr>
            <a:xfrm>
              <a:off x="6629400" y="1962150"/>
              <a:ext cx="1295400" cy="7620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verifier</a:t>
              </a:r>
              <a:endParaRPr lang="en-US" sz="16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7A0294-28DB-C115-7F7C-756B607C5898}"/>
                </a:ext>
              </a:extLst>
            </p:cNvPr>
            <p:cNvSpPr txBox="1"/>
            <p:nvPr/>
          </p:nvSpPr>
          <p:spPr>
            <a:xfrm>
              <a:off x="6781800" y="1428750"/>
              <a:ext cx="9832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Verifier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8C17C23-6C9E-E8CA-F661-3634ABCB6759}"/>
              </a:ext>
            </a:extLst>
          </p:cNvPr>
          <p:cNvSpPr/>
          <p:nvPr/>
        </p:nvSpPr>
        <p:spPr>
          <a:xfrm>
            <a:off x="5170031" y="2454732"/>
            <a:ext cx="1079500" cy="152400"/>
          </a:xfrm>
          <a:prstGeom prst="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0000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3094CF-C136-DF98-8AEA-E363325DC5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4343" t="13511" r="3163" b="8927"/>
          <a:stretch/>
        </p:blipFill>
        <p:spPr>
          <a:xfrm flipH="1">
            <a:off x="6627258" y="3624473"/>
            <a:ext cx="958533" cy="591024"/>
          </a:xfrm>
          <a:prstGeom prst="rect">
            <a:avLst/>
          </a:prstGeom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1B8D77F-0FF3-53E0-8DAE-69A5C09163CD}"/>
              </a:ext>
            </a:extLst>
          </p:cNvPr>
          <p:cNvSpPr txBox="1"/>
          <p:nvPr/>
        </p:nvSpPr>
        <p:spPr>
          <a:xfrm>
            <a:off x="6062789" y="4087498"/>
            <a:ext cx="204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public verification</a:t>
            </a:r>
            <a:br>
              <a:rPr lang="en-US" dirty="0"/>
            </a:br>
            <a:r>
              <a:rPr lang="en-US" dirty="0"/>
              <a:t>key  (</a:t>
            </a:r>
            <a:r>
              <a:rPr lang="en-US" dirty="0" err="1"/>
              <a:t>pk</a:t>
            </a:r>
            <a:r>
              <a:rPr lang="en-US" dirty="0"/>
              <a:t>)</a:t>
            </a:r>
          </a:p>
        </p:txBody>
      </p:sp>
      <p:sp>
        <p:nvSpPr>
          <p:cNvPr id="22" name="Up Arrow 21">
            <a:extLst>
              <a:ext uri="{FF2B5EF4-FFF2-40B4-BE49-F238E27FC236}">
                <a16:creationId xmlns:a16="http://schemas.microsoft.com/office/drawing/2014/main" id="{A9E3BECA-16C3-C870-A42B-8D95EC2AE03C}"/>
              </a:ext>
            </a:extLst>
          </p:cNvPr>
          <p:cNvSpPr/>
          <p:nvPr/>
        </p:nvSpPr>
        <p:spPr>
          <a:xfrm>
            <a:off x="6948030" y="2911932"/>
            <a:ext cx="228600" cy="762000"/>
          </a:xfrm>
          <a:prstGeom prst="up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518ED2-D31C-A584-F74E-BD5F313EA06D}"/>
              </a:ext>
            </a:extLst>
          </p:cNvPr>
          <p:cNvGrpSpPr/>
          <p:nvPr/>
        </p:nvGrpSpPr>
        <p:grpSpPr>
          <a:xfrm>
            <a:off x="7635240" y="1923620"/>
            <a:ext cx="1524280" cy="923330"/>
            <a:chOff x="7610055" y="2091775"/>
            <a:chExt cx="1524280" cy="92333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D0F5B42-3CA6-7964-7712-5EBA87403F4C}"/>
                </a:ext>
              </a:extLst>
            </p:cNvPr>
            <p:cNvCxnSpPr>
              <a:stCxn id="17" idx="3"/>
            </p:cNvCxnSpPr>
            <p:nvPr/>
          </p:nvCxnSpPr>
          <p:spPr>
            <a:xfrm>
              <a:off x="7610055" y="2454732"/>
              <a:ext cx="685800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23610F-D59D-E76C-AF57-A3ACA7FF938F}"/>
                </a:ext>
              </a:extLst>
            </p:cNvPr>
            <p:cNvSpPr txBox="1"/>
            <p:nvPr/>
          </p:nvSpPr>
          <p:spPr>
            <a:xfrm>
              <a:off x="8090459" y="2091775"/>
              <a:ext cx="104387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‘accept’</a:t>
              </a:r>
            </a:p>
            <a:p>
              <a:pPr algn="ctr"/>
              <a:r>
                <a:rPr lang="en-US" b="1" dirty="0"/>
                <a:t>or</a:t>
              </a:r>
            </a:p>
            <a:p>
              <a:pPr algn="ctr"/>
              <a:r>
                <a:rPr lang="en-US" b="1" dirty="0"/>
                <a:t>‘reject’</a:t>
              </a:r>
            </a:p>
          </p:txBody>
        </p:sp>
      </p:grpSp>
      <p:sp>
        <p:nvSpPr>
          <p:cNvPr id="26" name="Bent Arrow 25">
            <a:extLst>
              <a:ext uri="{FF2B5EF4-FFF2-40B4-BE49-F238E27FC236}">
                <a16:creationId xmlns:a16="http://schemas.microsoft.com/office/drawing/2014/main" id="{00D03296-C45C-EC27-804C-81BAF9AA1DD0}"/>
              </a:ext>
            </a:extLst>
          </p:cNvPr>
          <p:cNvSpPr/>
          <p:nvPr/>
        </p:nvSpPr>
        <p:spPr>
          <a:xfrm rot="16200000" flipV="1">
            <a:off x="3457155" y="3407232"/>
            <a:ext cx="685800" cy="609600"/>
          </a:xfrm>
          <a:prstGeom prst="ben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FBFA39ED-8EB2-5A99-117F-741B2120E426}"/>
              </a:ext>
            </a:extLst>
          </p:cNvPr>
          <p:cNvSpPr/>
          <p:nvPr/>
        </p:nvSpPr>
        <p:spPr>
          <a:xfrm>
            <a:off x="4866855" y="1692732"/>
            <a:ext cx="304800" cy="1676400"/>
          </a:xfrm>
          <a:prstGeom prst="rightBrac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59859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2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07F2224-0EF7-9D44-96DE-F45B54B5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远程验证（</a:t>
            </a:r>
            <a:r>
              <a:rPr lang="en-US" altLang="zh-CN" dirty="0"/>
              <a:t>Remote</a:t>
            </a:r>
            <a:r>
              <a:rPr lang="zh-CN" altLang="en-US" dirty="0"/>
              <a:t> </a:t>
            </a:r>
            <a:r>
              <a:rPr lang="en-US" altLang="zh-CN" dirty="0"/>
              <a:t>Attestation</a:t>
            </a:r>
            <a:r>
              <a:rPr lang="zh-CN" altLang="en-US" dirty="0"/>
              <a:t>）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250335A-1B78-7A45-961F-662ABDC1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740023"/>
          </a:xfrm>
        </p:spPr>
        <p:txBody>
          <a:bodyPr/>
          <a:lstStyle/>
          <a:p>
            <a:r>
              <a:rPr lang="zh-CN" altLang="en-US" dirty="0"/>
              <a:t>要解决的问题：如何远程判断某个主体是机密虚拟机？</a:t>
            </a:r>
            <a:endParaRPr lang="en-US" altLang="zh-CN" dirty="0"/>
          </a:p>
          <a:p>
            <a:pPr lvl="1"/>
            <a:r>
              <a:rPr lang="zh-CN" altLang="en-US" dirty="0"/>
              <a:t>例如，如何判断某个在云端的服务运行环境是安全的</a:t>
            </a:r>
            <a:endParaRPr lang="en-US" altLang="zh-CN" dirty="0"/>
          </a:p>
          <a:p>
            <a:pPr lvl="1"/>
            <a:r>
              <a:rPr lang="zh-CN" altLang="en-US" dirty="0"/>
              <a:t>必须在认证之后，再进行下一步的操作，例如发送数据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CE6EBA-6402-B34A-B1E2-DFD04953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47A8EE-AA15-DD4F-862B-9B514934A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0CD0D9-5038-CE40-9F1B-7DF60D1A04FB}"/>
              </a:ext>
            </a:extLst>
          </p:cNvPr>
          <p:cNvSpPr/>
          <p:nvPr/>
        </p:nvSpPr>
        <p:spPr>
          <a:xfrm>
            <a:off x="971600" y="310512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云端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初始化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  <a:endParaRPr kumimoji="1"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7064F6-FC45-FD4C-BB5A-BB807E88235B}"/>
              </a:ext>
            </a:extLst>
          </p:cNvPr>
          <p:cNvSpPr/>
          <p:nvPr/>
        </p:nvSpPr>
        <p:spPr>
          <a:xfrm>
            <a:off x="241176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发起认证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1DDADE-7D95-5543-AB09-B334F7A125B5}"/>
              </a:ext>
            </a:extLst>
          </p:cNvPr>
          <p:cNvSpPr/>
          <p:nvPr/>
        </p:nvSpPr>
        <p:spPr>
          <a:xfrm>
            <a:off x="3851920" y="3115865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云端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生成报告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31F8B4-AE02-0A46-BDBE-DC4614611241}"/>
              </a:ext>
            </a:extLst>
          </p:cNvPr>
          <p:cNvSpPr/>
          <p:nvPr/>
        </p:nvSpPr>
        <p:spPr>
          <a:xfrm>
            <a:off x="529208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认证报告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07E108-7652-F74F-BC4B-C1D7F1A85499}"/>
              </a:ext>
            </a:extLst>
          </p:cNvPr>
          <p:cNvSpPr/>
          <p:nvPr/>
        </p:nvSpPr>
        <p:spPr>
          <a:xfrm>
            <a:off x="707994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与云端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</a:p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建立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安全连接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D66CFD8-5118-FE42-9C40-908311ABCF0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051720" y="3645183"/>
            <a:ext cx="360040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ED433C5-6601-D242-A0B1-37A56E7DDD4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491880" y="3655925"/>
            <a:ext cx="360040" cy="529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039E5FE-19BF-694A-930C-3997226F00F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4932040" y="3655925"/>
            <a:ext cx="360040" cy="529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F2301E5-174E-E94C-9FA7-438B2439384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372200" y="4185243"/>
            <a:ext cx="707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16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60B59D8-F699-0449-91D8-2050F4E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机密虚拟化案例分析：</a:t>
            </a:r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CCA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424B2-B4C6-5E40-B258-2C2E17AE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DE351-8C4F-1549-BF37-66DF01F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CFC59-3E2B-1846-8EB2-7A50DE080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1781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 TrustZone </a:t>
            </a:r>
            <a:r>
              <a:rPr lang="zh-CN" altLang="en-US" dirty="0"/>
              <a:t>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31742"/>
            <a:ext cx="8596115" cy="3394472"/>
          </a:xfrm>
        </p:spPr>
        <p:txBody>
          <a:bodyPr>
            <a:noAutofit/>
          </a:bodyPr>
          <a:lstStyle/>
          <a:p>
            <a:r>
              <a:rPr kumimoji="1" lang="en-US" altLang="zh-CN" sz="1950" dirty="0"/>
              <a:t>ARMv6</a:t>
            </a:r>
            <a:r>
              <a:rPr kumimoji="1" lang="zh-CN" altLang="en-US" sz="1950" dirty="0"/>
              <a:t>版本开始的安全硬件特性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包括</a:t>
            </a:r>
            <a:r>
              <a:rPr kumimoji="1" lang="en-US" altLang="zh-CN" sz="1575" dirty="0"/>
              <a:t>ARM11</a:t>
            </a:r>
            <a:r>
              <a:rPr kumimoji="1" lang="zh-CN" altLang="en-US" sz="1575" dirty="0"/>
              <a:t>及</a:t>
            </a:r>
            <a:r>
              <a:rPr kumimoji="1" lang="en-US" altLang="zh-CN" sz="1575" dirty="0"/>
              <a:t>Cortex A</a:t>
            </a:r>
            <a:r>
              <a:rPr kumimoji="1" lang="zh-CN" altLang="en-US" sz="1575" dirty="0"/>
              <a:t>系列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目前大部分手机芯片均有该硬件特性</a:t>
            </a:r>
            <a:endParaRPr kumimoji="1" lang="en-US" altLang="zh-CN" sz="1575" dirty="0"/>
          </a:p>
          <a:p>
            <a:r>
              <a:rPr kumimoji="1" lang="zh-CN" altLang="en-US" sz="1950" dirty="0"/>
              <a:t>同时运行一个安全的</a:t>
            </a:r>
            <a:r>
              <a:rPr kumimoji="1" lang="en-US" altLang="zh-CN" sz="1950" dirty="0"/>
              <a:t>OS</a:t>
            </a:r>
            <a:r>
              <a:rPr kumimoji="1" lang="zh-CN" altLang="en-US" sz="1950" dirty="0"/>
              <a:t>和一个普通的</a:t>
            </a:r>
            <a:r>
              <a:rPr kumimoji="1" lang="en-US" altLang="zh-CN" sz="1950" dirty="0"/>
              <a:t>OS</a:t>
            </a:r>
          </a:p>
          <a:p>
            <a:pPr lvl="1"/>
            <a:r>
              <a:rPr kumimoji="1" lang="zh-CN" altLang="en-US" sz="1575" dirty="0"/>
              <a:t>两个系统之间互相隔离运行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安全的</a:t>
            </a:r>
            <a:r>
              <a:rPr kumimoji="1" lang="en-US" altLang="zh-CN" sz="1575" dirty="0"/>
              <a:t>OS</a:t>
            </a:r>
            <a:r>
              <a:rPr kumimoji="1" lang="zh-CN" altLang="en-US" sz="1575" dirty="0"/>
              <a:t>具有更多的权限</a:t>
            </a:r>
            <a:endParaRPr kumimoji="1" lang="en-US" altLang="zh-CN" sz="1575" dirty="0"/>
          </a:p>
          <a:p>
            <a:r>
              <a:rPr kumimoji="1" lang="en-US" altLang="zh-CN" sz="1950" dirty="0" err="1"/>
              <a:t>TrustZone</a:t>
            </a:r>
            <a:r>
              <a:rPr kumimoji="1" lang="zh-CN" altLang="en-US" sz="1950" dirty="0"/>
              <a:t>是一个全系统级别的安全架构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处理器、内存和外设的安全隔离</a:t>
            </a:r>
            <a:endParaRPr kumimoji="1" lang="en-US" altLang="zh-CN" sz="157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B03DA-A1C1-85D2-43D9-DC56B0BA2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423302"/>
            <a:ext cx="3662046" cy="273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32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Confidential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Compute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03232" cy="377163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硬件扩展：</a:t>
            </a:r>
            <a:r>
              <a:rPr lang="en-US" altLang="zh-CN" sz="2000" dirty="0"/>
              <a:t>Realm Management Extension</a:t>
            </a:r>
            <a:endParaRPr lang="en" altLang="zh-CN" sz="1400" dirty="0"/>
          </a:p>
          <a:p>
            <a:pPr lvl="1"/>
            <a:r>
              <a:rPr lang="zh-CN" altLang="en-US" sz="1400" dirty="0"/>
              <a:t>全新</a:t>
            </a:r>
            <a:r>
              <a:rPr lang="zh-CN" altLang="en" sz="1400" dirty="0"/>
              <a:t>的</a:t>
            </a:r>
            <a:r>
              <a:rPr lang="zh-CN" altLang="en-US" sz="1400" dirty="0"/>
              <a:t>特权世界</a:t>
            </a:r>
            <a:r>
              <a:rPr lang="en-US" altLang="zh-CN" sz="1400" dirty="0"/>
              <a:t>Realm</a:t>
            </a:r>
          </a:p>
          <a:p>
            <a:pPr lvl="1"/>
            <a:r>
              <a:rPr lang="zh-CN" altLang="en-US" sz="1400" dirty="0"/>
              <a:t>全新的物理地址空间</a:t>
            </a:r>
            <a:endParaRPr lang="en-US" altLang="zh-CN" sz="1400" dirty="0"/>
          </a:p>
          <a:p>
            <a:pPr lvl="1"/>
            <a:r>
              <a:rPr lang="zh-CN" altLang="en-US" sz="1400" dirty="0"/>
              <a:t>细粒度和动态内存隔离机制</a:t>
            </a:r>
            <a:endParaRPr lang="en-US" altLang="zh-CN" sz="1400" dirty="0"/>
          </a:p>
          <a:p>
            <a:r>
              <a:rPr lang="en-US" altLang="zh-CN" sz="2200" dirty="0"/>
              <a:t>CCA</a:t>
            </a:r>
            <a:r>
              <a:rPr lang="zh-CN" altLang="en-US" sz="2200" dirty="0"/>
              <a:t>固件</a:t>
            </a:r>
            <a:endParaRPr lang="en-US" altLang="zh-CN" sz="2200" dirty="0"/>
          </a:p>
          <a:p>
            <a:pPr lvl="1"/>
            <a:r>
              <a:rPr lang="en-US" altLang="zh-CN" sz="1400" dirty="0"/>
              <a:t>RMM</a:t>
            </a:r>
            <a:r>
              <a:rPr lang="zh-CN" altLang="en-US" sz="1400" dirty="0"/>
              <a:t>管理</a:t>
            </a:r>
            <a:r>
              <a:rPr lang="en-US" altLang="zh-CN" sz="1400" dirty="0"/>
              <a:t>Realm</a:t>
            </a:r>
          </a:p>
          <a:p>
            <a:pPr lvl="1"/>
            <a:r>
              <a:rPr lang="en-US" altLang="zh-CN" sz="1400" dirty="0"/>
              <a:t>Monitor</a:t>
            </a:r>
            <a:r>
              <a:rPr lang="zh-CN" altLang="en-US" sz="1400" dirty="0"/>
              <a:t>管理物理内存及翻译</a:t>
            </a:r>
            <a:endParaRPr lang="en-US" altLang="zh-CN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6D931-D371-99C3-B0EE-D3ECCC668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2831422"/>
            <a:ext cx="5538178" cy="22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83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FAC1-F672-F54C-8289-D806E1F3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世界状态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</a:t>
            </a:r>
            <a:r>
              <a:rPr kumimoji="1" lang="zh-CN" altLang="en-US" dirty="0"/>
              <a:t>和内存隔离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26A6C-49AB-084B-BE01-D2CF5BF9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02436D2B-0373-4A41-8274-DDBE9F74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4</a:t>
            </a:r>
            <a:r>
              <a:rPr lang="zh-CN" altLang="en-US" sz="2000" dirty="0"/>
              <a:t>个世界状态：</a:t>
            </a:r>
            <a:r>
              <a:rPr lang="en-US" altLang="zh-CN" sz="1800" dirty="0"/>
              <a:t>Non-secure,</a:t>
            </a:r>
            <a:r>
              <a:rPr lang="zh-CN" altLang="en-US" sz="1800" dirty="0"/>
              <a:t> </a:t>
            </a:r>
            <a:r>
              <a:rPr lang="en-US" altLang="zh-CN" sz="1800" dirty="0"/>
              <a:t>Realm,</a:t>
            </a:r>
            <a:r>
              <a:rPr lang="zh-CN" altLang="en-US" sz="1800" dirty="0"/>
              <a:t> </a:t>
            </a:r>
            <a:r>
              <a:rPr lang="en-US" altLang="zh-CN" sz="1800" dirty="0"/>
              <a:t>secure,</a:t>
            </a:r>
            <a:r>
              <a:rPr lang="zh-CN" altLang="en-US" sz="1800" dirty="0"/>
              <a:t> </a:t>
            </a:r>
            <a:r>
              <a:rPr lang="en-US" altLang="zh-CN" sz="1800" dirty="0"/>
              <a:t>root</a:t>
            </a:r>
          </a:p>
          <a:p>
            <a:r>
              <a:rPr lang="en-US" altLang="zh-CN" sz="2000" dirty="0"/>
              <a:t>4</a:t>
            </a:r>
            <a:r>
              <a:rPr lang="zh-CN" altLang="en-US" sz="2000" dirty="0"/>
              <a:t>个</a:t>
            </a:r>
            <a:r>
              <a:rPr lang="en-US" altLang="zh-CN" sz="2000" dirty="0"/>
              <a:t>Physical Address Space (PAS) </a:t>
            </a:r>
          </a:p>
          <a:p>
            <a:pPr lvl="1"/>
            <a:r>
              <a:rPr lang="en-US" altLang="zh-CN" sz="1400" dirty="0"/>
              <a:t>Non-secure PAS</a:t>
            </a:r>
          </a:p>
          <a:p>
            <a:pPr lvl="1"/>
            <a:r>
              <a:rPr lang="en-US" altLang="zh-CN" sz="1400" dirty="0"/>
              <a:t>Secure PAS</a:t>
            </a:r>
          </a:p>
          <a:p>
            <a:pPr lvl="1"/>
            <a:r>
              <a:rPr lang="en-US" altLang="zh-CN" sz="1400" dirty="0"/>
              <a:t>Realm PAS</a:t>
            </a:r>
          </a:p>
          <a:p>
            <a:pPr lvl="1"/>
            <a:r>
              <a:rPr lang="en-US" altLang="zh-CN" sz="1400" dirty="0"/>
              <a:t>Root PAS</a:t>
            </a:r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4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EB4464-7EA8-1141-ABE4-2906060EE259}"/>
              </a:ext>
            </a:extLst>
          </p:cNvPr>
          <p:cNvSpPr/>
          <p:nvPr/>
        </p:nvSpPr>
        <p:spPr>
          <a:xfrm>
            <a:off x="903725" y="5198102"/>
            <a:ext cx="2808312" cy="288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Secure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monitor</a:t>
            </a:r>
            <a:endParaRPr kumimoji="1"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DFE72D-ECCD-C24D-A4B4-60EC203C7809}"/>
              </a:ext>
            </a:extLst>
          </p:cNvPr>
          <p:cNvSpPr/>
          <p:nvPr/>
        </p:nvSpPr>
        <p:spPr>
          <a:xfrm>
            <a:off x="1047741" y="3963890"/>
            <a:ext cx="648072" cy="11191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6C8CB1-B34D-B24C-AC4D-8134358B35B1}"/>
              </a:ext>
            </a:extLst>
          </p:cNvPr>
          <p:cNvSpPr/>
          <p:nvPr/>
        </p:nvSpPr>
        <p:spPr>
          <a:xfrm>
            <a:off x="1911837" y="3963890"/>
            <a:ext cx="648072" cy="1119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3BD23C-CD6D-0742-ABAF-72FBABFB1FEC}"/>
              </a:ext>
            </a:extLst>
          </p:cNvPr>
          <p:cNvSpPr/>
          <p:nvPr/>
        </p:nvSpPr>
        <p:spPr>
          <a:xfrm>
            <a:off x="2775933" y="3954892"/>
            <a:ext cx="648072" cy="11191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920497F-EACB-D44E-8D1A-A60C852D7D05}"/>
              </a:ext>
            </a:extLst>
          </p:cNvPr>
          <p:cNvCxnSpPr>
            <a:cxnSpLocks/>
          </p:cNvCxnSpPr>
          <p:nvPr/>
        </p:nvCxnSpPr>
        <p:spPr>
          <a:xfrm>
            <a:off x="1804133" y="3954892"/>
            <a:ext cx="0" cy="1128111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7B3ECE-C7B9-7F47-B07F-A1B575B2A0E3}"/>
              </a:ext>
            </a:extLst>
          </p:cNvPr>
          <p:cNvCxnSpPr>
            <a:cxnSpLocks/>
          </p:cNvCxnSpPr>
          <p:nvPr/>
        </p:nvCxnSpPr>
        <p:spPr>
          <a:xfrm>
            <a:off x="2668133" y="3959390"/>
            <a:ext cx="0" cy="1128111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D797ED9-DDA3-DF43-9E8F-F27996EDF231}"/>
              </a:ext>
            </a:extLst>
          </p:cNvPr>
          <p:cNvSpPr/>
          <p:nvPr/>
        </p:nvSpPr>
        <p:spPr>
          <a:xfrm>
            <a:off x="1963153" y="4769627"/>
            <a:ext cx="545439" cy="241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 err="1"/>
              <a:t>vmm</a:t>
            </a:r>
            <a:endParaRPr kumimoji="1" lang="zh-CN" alt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4E0C6F-E141-7145-B228-AA8A7F225C01}"/>
              </a:ext>
            </a:extLst>
          </p:cNvPr>
          <p:cNvSpPr/>
          <p:nvPr/>
        </p:nvSpPr>
        <p:spPr>
          <a:xfrm>
            <a:off x="1963153" y="4444689"/>
            <a:ext cx="545439" cy="241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/>
              <a:t>OS</a:t>
            </a:r>
            <a:endParaRPr kumimoji="1" lang="zh-CN" altLang="en-US" sz="1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C09F57-0801-8D4B-A47B-A44069BCCAFE}"/>
              </a:ext>
            </a:extLst>
          </p:cNvPr>
          <p:cNvSpPr/>
          <p:nvPr/>
        </p:nvSpPr>
        <p:spPr>
          <a:xfrm>
            <a:off x="1963153" y="4092100"/>
            <a:ext cx="545439" cy="241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/>
              <a:t>Host</a:t>
            </a:r>
            <a:endParaRPr kumimoji="1" lang="zh-CN" altLang="en-US" sz="105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8E7F7E-547B-7D47-8460-01CEF0598645}"/>
              </a:ext>
            </a:extLst>
          </p:cNvPr>
          <p:cNvSpPr/>
          <p:nvPr/>
        </p:nvSpPr>
        <p:spPr>
          <a:xfrm>
            <a:off x="2827249" y="4092099"/>
            <a:ext cx="545439" cy="241493"/>
          </a:xfrm>
          <a:prstGeom prst="rect">
            <a:avLst/>
          </a:prstGeom>
          <a:ln>
            <a:solidFill>
              <a:srgbClr val="8A26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BD384A"/>
                </a:solidFill>
              </a:rPr>
              <a:t>TA</a:t>
            </a:r>
            <a:endParaRPr kumimoji="1" lang="zh-CN" altLang="en-US" sz="1200" dirty="0">
              <a:solidFill>
                <a:srgbClr val="BD384A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DAE748-CB38-C54A-B939-B3F6EB502605}"/>
              </a:ext>
            </a:extLst>
          </p:cNvPr>
          <p:cNvSpPr/>
          <p:nvPr/>
        </p:nvSpPr>
        <p:spPr>
          <a:xfrm>
            <a:off x="2823566" y="4444193"/>
            <a:ext cx="545439" cy="241493"/>
          </a:xfrm>
          <a:prstGeom prst="rect">
            <a:avLst/>
          </a:prstGeom>
          <a:ln>
            <a:solidFill>
              <a:srgbClr val="8A26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rgbClr val="BD384A"/>
                </a:solidFill>
              </a:rPr>
              <a:t>TEEOS</a:t>
            </a:r>
            <a:endParaRPr kumimoji="1" lang="zh-CN" altLang="en-US" sz="800" dirty="0">
              <a:solidFill>
                <a:srgbClr val="BD384A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8775D5-868A-534A-8CE7-992F101F9B85}"/>
              </a:ext>
            </a:extLst>
          </p:cNvPr>
          <p:cNvSpPr/>
          <p:nvPr/>
        </p:nvSpPr>
        <p:spPr>
          <a:xfrm>
            <a:off x="2823566" y="4773814"/>
            <a:ext cx="545439" cy="241493"/>
          </a:xfrm>
          <a:prstGeom prst="rect">
            <a:avLst/>
          </a:prstGeom>
          <a:ln>
            <a:solidFill>
              <a:srgbClr val="8A26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solidFill>
                  <a:srgbClr val="BD384A"/>
                </a:solidFill>
              </a:rPr>
              <a:t>SEL2</a:t>
            </a:r>
            <a:endParaRPr kumimoji="1" lang="zh-CN" altLang="en-US" sz="800" dirty="0">
              <a:solidFill>
                <a:srgbClr val="BD384A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B1EA2F-FAD3-B048-8465-79B888D73BB8}"/>
              </a:ext>
            </a:extLst>
          </p:cNvPr>
          <p:cNvSpPr/>
          <p:nvPr/>
        </p:nvSpPr>
        <p:spPr>
          <a:xfrm>
            <a:off x="1090883" y="4767537"/>
            <a:ext cx="545439" cy="241493"/>
          </a:xfrm>
          <a:prstGeom prst="rect">
            <a:avLst/>
          </a:prstGeom>
          <a:ln>
            <a:solidFill>
              <a:srgbClr val="D66E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solidFill>
                  <a:srgbClr val="D66E49"/>
                </a:solidFill>
              </a:rPr>
              <a:t>RMM</a:t>
            </a:r>
            <a:endParaRPr kumimoji="1" lang="zh-CN" altLang="en-US" sz="800" dirty="0">
              <a:solidFill>
                <a:srgbClr val="D66E49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79E310-E3CA-034B-BD24-0F9869AD4CE0}"/>
              </a:ext>
            </a:extLst>
          </p:cNvPr>
          <p:cNvSpPr/>
          <p:nvPr/>
        </p:nvSpPr>
        <p:spPr>
          <a:xfrm>
            <a:off x="1086557" y="4444192"/>
            <a:ext cx="545439" cy="241493"/>
          </a:xfrm>
          <a:prstGeom prst="rect">
            <a:avLst/>
          </a:prstGeom>
          <a:ln>
            <a:solidFill>
              <a:srgbClr val="D66E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 err="1">
                <a:solidFill>
                  <a:srgbClr val="D66E49"/>
                </a:solidFill>
              </a:rPr>
              <a:t>RealmOS</a:t>
            </a:r>
            <a:endParaRPr kumimoji="1" lang="zh-CN" altLang="en-US" sz="600" dirty="0">
              <a:solidFill>
                <a:srgbClr val="D66E49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077A7C-C3E1-104E-994B-923BAB08A4B8}"/>
              </a:ext>
            </a:extLst>
          </p:cNvPr>
          <p:cNvSpPr/>
          <p:nvPr/>
        </p:nvSpPr>
        <p:spPr>
          <a:xfrm>
            <a:off x="1099057" y="4092098"/>
            <a:ext cx="545439" cy="241493"/>
          </a:xfrm>
          <a:prstGeom prst="rect">
            <a:avLst/>
          </a:prstGeom>
          <a:ln>
            <a:solidFill>
              <a:srgbClr val="D66E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rgbClr val="D66E49"/>
                </a:solidFill>
              </a:rPr>
              <a:t>Realm</a:t>
            </a:r>
            <a:endParaRPr kumimoji="1" lang="zh-CN" altLang="en-US" sz="600" dirty="0">
              <a:solidFill>
                <a:srgbClr val="D66E49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4FAC6C-AAE0-8444-914B-0ABB8756A40E}"/>
              </a:ext>
            </a:extLst>
          </p:cNvPr>
          <p:cNvSpPr/>
          <p:nvPr/>
        </p:nvSpPr>
        <p:spPr>
          <a:xfrm>
            <a:off x="972809" y="3600018"/>
            <a:ext cx="6270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>
                <a:solidFill>
                  <a:srgbClr val="D66E49"/>
                </a:solidFill>
              </a:rPr>
              <a:t>Realm</a:t>
            </a:r>
            <a:endParaRPr lang="zh-CN" altLang="en-US" sz="1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211DC27-A952-794A-A482-D05C5B9426CB}"/>
              </a:ext>
            </a:extLst>
          </p:cNvPr>
          <p:cNvSpPr/>
          <p:nvPr/>
        </p:nvSpPr>
        <p:spPr>
          <a:xfrm>
            <a:off x="1799384" y="3608878"/>
            <a:ext cx="9765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/>
              <a:t>Non-secure</a:t>
            </a:r>
            <a:endParaRPr lang="zh-CN" altLang="en-US" sz="1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AC5B69-DA04-FA42-9871-ACB31C3B39F5}"/>
              </a:ext>
            </a:extLst>
          </p:cNvPr>
          <p:cNvSpPr/>
          <p:nvPr/>
        </p:nvSpPr>
        <p:spPr>
          <a:xfrm>
            <a:off x="2749576" y="3614552"/>
            <a:ext cx="6703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>
                <a:solidFill>
                  <a:srgbClr val="8A2635"/>
                </a:solidFill>
              </a:rPr>
              <a:t>Secure</a:t>
            </a:r>
            <a:endParaRPr lang="zh-CN" altLang="en-US" sz="1200" dirty="0">
              <a:solidFill>
                <a:srgbClr val="8A2635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15F7A4-9F34-AE4B-953B-BD4D29D45E5A}"/>
              </a:ext>
            </a:extLst>
          </p:cNvPr>
          <p:cNvSpPr/>
          <p:nvPr/>
        </p:nvSpPr>
        <p:spPr>
          <a:xfrm>
            <a:off x="3712037" y="5209134"/>
            <a:ext cx="5084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>
                <a:solidFill>
                  <a:srgbClr val="BE384B"/>
                </a:solidFill>
              </a:rPr>
              <a:t>Root</a:t>
            </a:r>
            <a:endParaRPr lang="zh-CN" altLang="en-US" sz="1200" dirty="0">
              <a:solidFill>
                <a:srgbClr val="BE384B"/>
              </a:solidFill>
            </a:endParaRPr>
          </a:p>
        </p:txBody>
      </p:sp>
      <p:graphicFrame>
        <p:nvGraphicFramePr>
          <p:cNvPr id="26" name="表格 29">
            <a:extLst>
              <a:ext uri="{FF2B5EF4-FFF2-40B4-BE49-F238E27FC236}">
                <a16:creationId xmlns:a16="http://schemas.microsoft.com/office/drawing/2014/main" id="{65A2CC7B-813F-0440-80BA-E3C19A5E1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365166"/>
              </p:ext>
            </p:extLst>
          </p:nvPr>
        </p:nvGraphicFramePr>
        <p:xfrm>
          <a:off x="4572000" y="3200261"/>
          <a:ext cx="4306100" cy="178367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1220">
                  <a:extLst>
                    <a:ext uri="{9D8B030D-6E8A-4147-A177-3AD203B41FA5}">
                      <a16:colId xmlns:a16="http://schemas.microsoft.com/office/drawing/2014/main" val="4101370806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362569005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4030883520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3962162921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2219495654"/>
                    </a:ext>
                  </a:extLst>
                </a:gridCol>
              </a:tblGrid>
              <a:tr h="310078"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Non-secure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Realm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Root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878237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Non-secure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154659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Realm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530737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831094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Root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37417"/>
                  </a:ext>
                </a:extLst>
              </a:tr>
            </a:tbl>
          </a:graphicData>
        </a:graphic>
      </p:graphicFrame>
      <p:pic>
        <p:nvPicPr>
          <p:cNvPr id="31" name="图形 30" descr="关闭 纯色填充">
            <a:extLst>
              <a:ext uri="{FF2B5EF4-FFF2-40B4-BE49-F238E27FC236}">
                <a16:creationId xmlns:a16="http://schemas.microsoft.com/office/drawing/2014/main" id="{9BB0296E-C9E1-304B-ABAE-BC70D22E6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0079" y="3762567"/>
            <a:ext cx="209942" cy="209942"/>
          </a:xfrm>
          <a:prstGeom prst="rect">
            <a:avLst/>
          </a:prstGeom>
        </p:spPr>
      </p:pic>
      <p:pic>
        <p:nvPicPr>
          <p:cNvPr id="33" name="图形 32" descr="关闭 纯色填充">
            <a:extLst>
              <a:ext uri="{FF2B5EF4-FFF2-40B4-BE49-F238E27FC236}">
                <a16:creationId xmlns:a16="http://schemas.microsoft.com/office/drawing/2014/main" id="{34ED9986-B901-0443-A42F-79C88CC0E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355" y="3762567"/>
            <a:ext cx="209942" cy="209942"/>
          </a:xfrm>
          <a:prstGeom prst="rect">
            <a:avLst/>
          </a:prstGeom>
        </p:spPr>
      </p:pic>
      <p:pic>
        <p:nvPicPr>
          <p:cNvPr id="34" name="图形 33" descr="关闭 纯色填充">
            <a:extLst>
              <a:ext uri="{FF2B5EF4-FFF2-40B4-BE49-F238E27FC236}">
                <a16:creationId xmlns:a16="http://schemas.microsoft.com/office/drawing/2014/main" id="{7820963C-D8B3-5A45-BA2C-3A3C7D40B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6631" y="3762567"/>
            <a:ext cx="209942" cy="209942"/>
          </a:xfrm>
          <a:prstGeom prst="rect">
            <a:avLst/>
          </a:prstGeom>
        </p:spPr>
      </p:pic>
      <p:pic>
        <p:nvPicPr>
          <p:cNvPr id="35" name="图形 34" descr="关闭 纯色填充">
            <a:extLst>
              <a:ext uri="{FF2B5EF4-FFF2-40B4-BE49-F238E27FC236}">
                <a16:creationId xmlns:a16="http://schemas.microsoft.com/office/drawing/2014/main" id="{6D7DA4FD-2DAD-9541-9FB0-EE1B12F55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9672" y="4114661"/>
            <a:ext cx="209942" cy="209942"/>
          </a:xfrm>
          <a:prstGeom prst="rect">
            <a:avLst/>
          </a:prstGeom>
        </p:spPr>
      </p:pic>
      <p:pic>
        <p:nvPicPr>
          <p:cNvPr id="36" name="图形 35" descr="关闭 纯色填充">
            <a:extLst>
              <a:ext uri="{FF2B5EF4-FFF2-40B4-BE49-F238E27FC236}">
                <a16:creationId xmlns:a16="http://schemas.microsoft.com/office/drawing/2014/main" id="{EEC397F5-303C-A040-9C9E-C670538AC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8452" y="4114661"/>
            <a:ext cx="209942" cy="209942"/>
          </a:xfrm>
          <a:prstGeom prst="rect">
            <a:avLst/>
          </a:prstGeom>
        </p:spPr>
      </p:pic>
      <p:pic>
        <p:nvPicPr>
          <p:cNvPr id="37" name="图形 36" descr="关闭 纯色填充">
            <a:extLst>
              <a:ext uri="{FF2B5EF4-FFF2-40B4-BE49-F238E27FC236}">
                <a16:creationId xmlns:a16="http://schemas.microsoft.com/office/drawing/2014/main" id="{A4BA25D4-9393-E84A-A5A7-1776A8621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6631" y="4422784"/>
            <a:ext cx="209942" cy="209942"/>
          </a:xfrm>
          <a:prstGeom prst="rect">
            <a:avLst/>
          </a:prstGeom>
        </p:spPr>
      </p:pic>
      <p:pic>
        <p:nvPicPr>
          <p:cNvPr id="38" name="图形 37" descr="关闭 纯色填充">
            <a:extLst>
              <a:ext uri="{FF2B5EF4-FFF2-40B4-BE49-F238E27FC236}">
                <a16:creationId xmlns:a16="http://schemas.microsoft.com/office/drawing/2014/main" id="{07DB22E1-9F89-2645-B4D1-3E64DDC42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259" y="4413786"/>
            <a:ext cx="209942" cy="209942"/>
          </a:xfrm>
          <a:prstGeom prst="rect">
            <a:avLst/>
          </a:prstGeom>
        </p:spPr>
      </p:pic>
      <p:pic>
        <p:nvPicPr>
          <p:cNvPr id="39" name="图形 38" descr="复选标记 纯色填充">
            <a:extLst>
              <a:ext uri="{FF2B5EF4-FFF2-40B4-BE49-F238E27FC236}">
                <a16:creationId xmlns:a16="http://schemas.microsoft.com/office/drawing/2014/main" id="{4EF7143A-9220-F146-B6E3-1BAA15784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7" y="3762566"/>
            <a:ext cx="209943" cy="209943"/>
          </a:xfrm>
          <a:prstGeom prst="rect">
            <a:avLst/>
          </a:prstGeom>
        </p:spPr>
      </p:pic>
      <p:pic>
        <p:nvPicPr>
          <p:cNvPr id="41" name="图形 40" descr="复选标记 纯色填充">
            <a:extLst>
              <a:ext uri="{FF2B5EF4-FFF2-40B4-BE49-F238E27FC236}">
                <a16:creationId xmlns:a16="http://schemas.microsoft.com/office/drawing/2014/main" id="{134D7719-186F-A147-8B44-94E224B92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7" y="4092098"/>
            <a:ext cx="209943" cy="209943"/>
          </a:xfrm>
          <a:prstGeom prst="rect">
            <a:avLst/>
          </a:prstGeom>
        </p:spPr>
      </p:pic>
      <p:pic>
        <p:nvPicPr>
          <p:cNvPr id="42" name="图形 41" descr="复选标记 纯色填充">
            <a:extLst>
              <a:ext uri="{FF2B5EF4-FFF2-40B4-BE49-F238E27FC236}">
                <a16:creationId xmlns:a16="http://schemas.microsoft.com/office/drawing/2014/main" id="{CD6A03AE-7B5D-1946-8D0C-3A8401FA9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7" y="4401261"/>
            <a:ext cx="209943" cy="209943"/>
          </a:xfrm>
          <a:prstGeom prst="rect">
            <a:avLst/>
          </a:prstGeom>
        </p:spPr>
      </p:pic>
      <p:pic>
        <p:nvPicPr>
          <p:cNvPr id="43" name="图形 42" descr="复选标记 纯色填充">
            <a:extLst>
              <a:ext uri="{FF2B5EF4-FFF2-40B4-BE49-F238E27FC236}">
                <a16:creationId xmlns:a16="http://schemas.microsoft.com/office/drawing/2014/main" id="{4F6A52F2-C143-6A43-BA21-E9ACEAE06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6" y="4716981"/>
            <a:ext cx="209943" cy="209943"/>
          </a:xfrm>
          <a:prstGeom prst="rect">
            <a:avLst/>
          </a:prstGeom>
        </p:spPr>
      </p:pic>
      <p:pic>
        <p:nvPicPr>
          <p:cNvPr id="44" name="图形 43" descr="复选标记 纯色填充">
            <a:extLst>
              <a:ext uri="{FF2B5EF4-FFF2-40B4-BE49-F238E27FC236}">
                <a16:creationId xmlns:a16="http://schemas.microsoft.com/office/drawing/2014/main" id="{342C5F9D-076B-8642-A8A3-9B2154B37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284" y="4088176"/>
            <a:ext cx="209943" cy="209943"/>
          </a:xfrm>
          <a:prstGeom prst="rect">
            <a:avLst/>
          </a:prstGeom>
        </p:spPr>
      </p:pic>
      <p:pic>
        <p:nvPicPr>
          <p:cNvPr id="45" name="图形 44" descr="复选标记 纯色填充">
            <a:extLst>
              <a:ext uri="{FF2B5EF4-FFF2-40B4-BE49-F238E27FC236}">
                <a16:creationId xmlns:a16="http://schemas.microsoft.com/office/drawing/2014/main" id="{CE467AC3-1FC8-0347-A00F-02A34E680E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259" y="4716980"/>
            <a:ext cx="209943" cy="209943"/>
          </a:xfrm>
          <a:prstGeom prst="rect">
            <a:avLst/>
          </a:prstGeom>
        </p:spPr>
      </p:pic>
      <p:pic>
        <p:nvPicPr>
          <p:cNvPr id="46" name="图形 45" descr="复选标记 纯色填充">
            <a:extLst>
              <a:ext uri="{FF2B5EF4-FFF2-40B4-BE49-F238E27FC236}">
                <a16:creationId xmlns:a16="http://schemas.microsoft.com/office/drawing/2014/main" id="{61708526-25F8-A04D-A445-20B6CF0EC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7607" y="4401260"/>
            <a:ext cx="209943" cy="209943"/>
          </a:xfrm>
          <a:prstGeom prst="rect">
            <a:avLst/>
          </a:prstGeom>
        </p:spPr>
      </p:pic>
      <p:pic>
        <p:nvPicPr>
          <p:cNvPr id="47" name="图形 46" descr="复选标记 纯色填充">
            <a:extLst>
              <a:ext uri="{FF2B5EF4-FFF2-40B4-BE49-F238E27FC236}">
                <a16:creationId xmlns:a16="http://schemas.microsoft.com/office/drawing/2014/main" id="{B79AAE42-5978-1E45-9D4B-68BE447DC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7607" y="4726570"/>
            <a:ext cx="209943" cy="209943"/>
          </a:xfrm>
          <a:prstGeom prst="rect">
            <a:avLst/>
          </a:prstGeom>
        </p:spPr>
      </p:pic>
      <p:pic>
        <p:nvPicPr>
          <p:cNvPr id="48" name="图形 47" descr="复选标记 纯色填充">
            <a:extLst>
              <a:ext uri="{FF2B5EF4-FFF2-40B4-BE49-F238E27FC236}">
                <a16:creationId xmlns:a16="http://schemas.microsoft.com/office/drawing/2014/main" id="{A12201FB-13F4-2640-AF62-0682C1619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631" y="4714908"/>
            <a:ext cx="209943" cy="209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CE42EB-592E-F09A-17E1-99D53DACBB48}"/>
              </a:ext>
            </a:extLst>
          </p:cNvPr>
          <p:cNvSpPr txBox="1"/>
          <p:nvPr/>
        </p:nvSpPr>
        <p:spPr>
          <a:xfrm>
            <a:off x="5969040" y="28394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内存访问权限表</a:t>
            </a:r>
          </a:p>
        </p:txBody>
      </p:sp>
    </p:spTree>
    <p:extLst>
      <p:ext uri="{BB962C8B-B14F-4D97-AF65-F5344CB8AC3E}">
        <p14:creationId xmlns:p14="http://schemas.microsoft.com/office/powerpoint/2010/main" val="1037905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03232" cy="3771636"/>
          </a:xfrm>
        </p:spPr>
        <p:txBody>
          <a:bodyPr>
            <a:normAutofit/>
          </a:bodyPr>
          <a:lstStyle/>
          <a:p>
            <a:r>
              <a:rPr lang="zh-CN" altLang="en" sz="2000" dirty="0"/>
              <a:t>内存</a:t>
            </a:r>
            <a:r>
              <a:rPr lang="zh-CN" altLang="en-US" sz="2000" dirty="0"/>
              <a:t>保护引擎（</a:t>
            </a:r>
            <a:r>
              <a:rPr lang="en-US" altLang="zh-CN" sz="2000" dirty="0"/>
              <a:t>MPE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en-US" altLang="zh-CN" sz="1400" dirty="0"/>
              <a:t>MPE</a:t>
            </a:r>
            <a:r>
              <a:rPr lang="zh-CN" altLang="en-US" sz="1400" dirty="0"/>
              <a:t>为不同</a:t>
            </a:r>
            <a:r>
              <a:rPr lang="en-US" altLang="zh-CN" sz="1400" dirty="0"/>
              <a:t>PAS</a:t>
            </a:r>
            <a:r>
              <a:rPr lang="zh-CN" altLang="en-US" sz="1400" dirty="0"/>
              <a:t>提供不同的秘钥或</a:t>
            </a:r>
            <a:r>
              <a:rPr lang="en-US" altLang="zh-CN" sz="1400" dirty="0"/>
              <a:t>Tweak</a:t>
            </a:r>
            <a:endParaRPr lang="en" altLang="zh-CN" sz="1400" dirty="0"/>
          </a:p>
          <a:p>
            <a:pPr lvl="1"/>
            <a:r>
              <a:rPr lang="en-US" altLang="zh-CN" sz="1400" dirty="0"/>
              <a:t>Non-secure</a:t>
            </a:r>
            <a:r>
              <a:rPr lang="zh-CN" altLang="en-US" sz="1400" dirty="0"/>
              <a:t>以外的</a:t>
            </a:r>
            <a:r>
              <a:rPr lang="en-US" altLang="zh-CN" sz="1400" dirty="0"/>
              <a:t>PAS</a:t>
            </a:r>
            <a:r>
              <a:rPr lang="zh-CN" altLang="en-US" sz="1400" dirty="0"/>
              <a:t>必须经过内存加密</a:t>
            </a:r>
            <a:endParaRPr lang="en-US" altLang="zh-CN" sz="1400" dirty="0"/>
          </a:p>
          <a:p>
            <a:pPr lvl="1"/>
            <a:r>
              <a:rPr lang="en-US" altLang="zh-CN" sz="1400" dirty="0"/>
              <a:t>Monitor </a:t>
            </a:r>
            <a:r>
              <a:rPr lang="zh-CN" altLang="en-US" sz="1400" dirty="0"/>
              <a:t>可以配置</a:t>
            </a:r>
            <a:r>
              <a:rPr lang="en-US" altLang="zh-CN" sz="1400" dirty="0"/>
              <a:t>MPE</a:t>
            </a:r>
          </a:p>
          <a:p>
            <a:pPr lvl="1"/>
            <a:r>
              <a:rPr lang="zh-CN" altLang="en-US" sz="1400" dirty="0"/>
              <a:t>硬件完整性保护非必须</a:t>
            </a:r>
            <a:endParaRPr lang="en-US" altLang="zh-CN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2F584BC-6CEC-8450-BF97-A61A19D50267}"/>
              </a:ext>
            </a:extLst>
          </p:cNvPr>
          <p:cNvGrpSpPr/>
          <p:nvPr/>
        </p:nvGrpSpPr>
        <p:grpSpPr>
          <a:xfrm>
            <a:off x="2123728" y="3269208"/>
            <a:ext cx="4160022" cy="2224582"/>
            <a:chOff x="1403648" y="1919812"/>
            <a:chExt cx="5633067" cy="323586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17F125F-CB4F-BB1E-0D50-D1BB2E6A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3648" y="3607323"/>
              <a:ext cx="4927284" cy="154835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E2B3677-D432-C914-D6F7-ED003928CBE7}"/>
                </a:ext>
              </a:extLst>
            </p:cNvPr>
            <p:cNvSpPr txBox="1"/>
            <p:nvPr/>
          </p:nvSpPr>
          <p:spPr>
            <a:xfrm>
              <a:off x="2573716" y="3591543"/>
              <a:ext cx="1102349" cy="402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Point of </a:t>
              </a:r>
            </a:p>
            <a:p>
              <a:r>
                <a:rPr lang="en-US" altLang="zh-CN" sz="600" dirty="0"/>
                <a:t>Physical Aliasing </a:t>
              </a:r>
              <a:endParaRPr lang="zh-CN" altLang="en-US" sz="600" dirty="0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5371A01-FFC7-1046-8F1B-8CE3AAF91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000" y="1919812"/>
              <a:ext cx="5506715" cy="1708644"/>
            </a:xfrm>
            <a:prstGeom prst="rect">
              <a:avLst/>
            </a:prstGeom>
          </p:spPr>
        </p:pic>
      </p:grpSp>
      <p:sp>
        <p:nvSpPr>
          <p:cNvPr id="5" name="箭头: 上 4">
            <a:extLst>
              <a:ext uri="{FF2B5EF4-FFF2-40B4-BE49-F238E27FC236}">
                <a16:creationId xmlns:a16="http://schemas.microsoft.com/office/drawing/2014/main" id="{8135EFA1-B784-D4E6-E5FA-899BF758243E}"/>
              </a:ext>
            </a:extLst>
          </p:cNvPr>
          <p:cNvSpPr/>
          <p:nvPr/>
        </p:nvSpPr>
        <p:spPr>
          <a:xfrm>
            <a:off x="6553200" y="3361556"/>
            <a:ext cx="197899" cy="1200768"/>
          </a:xfrm>
          <a:prstGeom prst="upArrow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上 5">
            <a:extLst>
              <a:ext uri="{FF2B5EF4-FFF2-40B4-BE49-F238E27FC236}">
                <a16:creationId xmlns:a16="http://schemas.microsoft.com/office/drawing/2014/main" id="{D876FA2B-FC66-1584-846A-330534E90391}"/>
              </a:ext>
            </a:extLst>
          </p:cNvPr>
          <p:cNvSpPr/>
          <p:nvPr/>
        </p:nvSpPr>
        <p:spPr>
          <a:xfrm rot="10800000">
            <a:off x="6548544" y="4731813"/>
            <a:ext cx="197900" cy="682296"/>
          </a:xfrm>
          <a:prstGeom prst="upArrow">
            <a:avLst/>
          </a:prstGeom>
          <a:ln w="158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36A6CC3-38F9-78CF-740B-12CAC3AE30CA}"/>
              </a:ext>
            </a:extLst>
          </p:cNvPr>
          <p:cNvCxnSpPr/>
          <p:nvPr/>
        </p:nvCxnSpPr>
        <p:spPr>
          <a:xfrm>
            <a:off x="6372200" y="4657700"/>
            <a:ext cx="57606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E8F9D95E-D9A3-63A9-F7BA-F6168153B755}"/>
              </a:ext>
            </a:extLst>
          </p:cNvPr>
          <p:cNvSpPr/>
          <p:nvPr/>
        </p:nvSpPr>
        <p:spPr>
          <a:xfrm>
            <a:off x="7003968" y="3793604"/>
            <a:ext cx="16930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Plaintext with isolation</a:t>
            </a:r>
            <a:endParaRPr lang="zh-CN" altLang="en-US" sz="1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4474CF-FE04-6E23-45ED-498E9774F98C}"/>
              </a:ext>
            </a:extLst>
          </p:cNvPr>
          <p:cNvSpPr/>
          <p:nvPr/>
        </p:nvSpPr>
        <p:spPr>
          <a:xfrm>
            <a:off x="7003968" y="4894509"/>
            <a:ext cx="19495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Ciphertext with encryption</a:t>
            </a:r>
            <a:endParaRPr lang="zh-CN" altLang="en-US" sz="1200" dirty="0"/>
          </a:p>
        </p:txBody>
      </p: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C25B0615-2242-2169-A4D0-E2C3F92E777A}"/>
              </a:ext>
            </a:extLst>
          </p:cNvPr>
          <p:cNvSpPr/>
          <p:nvPr/>
        </p:nvSpPr>
        <p:spPr>
          <a:xfrm>
            <a:off x="839673" y="3874336"/>
            <a:ext cx="1250931" cy="682648"/>
          </a:xfrm>
          <a:prstGeom prst="wedgeRectCallout">
            <a:avLst>
              <a:gd name="adj1" fmla="val 37314"/>
              <a:gd name="adj2" fmla="val 7959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Per Physical Address Space + address tweak encryption</a:t>
            </a:r>
            <a:r>
              <a:rPr lang="en-US" altLang="zh-CN" sz="1000" dirty="0"/>
              <a:t> </a:t>
            </a:r>
            <a:endParaRPr lang="zh-CN" altLang="en-US" sz="1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11F746-F2CA-6ED7-90A7-83F08B0D2E6A}"/>
              </a:ext>
            </a:extLst>
          </p:cNvPr>
          <p:cNvSpPr/>
          <p:nvPr/>
        </p:nvSpPr>
        <p:spPr>
          <a:xfrm>
            <a:off x="2771800" y="3065015"/>
            <a:ext cx="3024336" cy="199954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Core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127295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2600" dirty="0"/>
              <a:t>物理内存检查模块</a:t>
            </a:r>
            <a:r>
              <a:rPr kumimoji="1" lang="en-US" altLang="zh-CN" sz="2600" dirty="0"/>
              <a:t>Granule Protection Check (GPC)</a:t>
            </a:r>
            <a:endParaRPr kumimoji="1" lang="zh-CN" altLang="en-US" sz="2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Granule</a:t>
            </a:r>
            <a:r>
              <a:rPr lang="zh-CN" altLang="en-US" sz="2000" dirty="0"/>
              <a:t> </a:t>
            </a:r>
            <a:r>
              <a:rPr lang="en-US" altLang="zh-CN" sz="2000" dirty="0"/>
              <a:t>protection</a:t>
            </a:r>
            <a:r>
              <a:rPr lang="zh-CN" altLang="en-US" sz="2000" dirty="0"/>
              <a:t> </a:t>
            </a:r>
            <a:r>
              <a:rPr lang="en-US" altLang="zh-CN" sz="2000" dirty="0"/>
              <a:t>check</a:t>
            </a:r>
            <a:endParaRPr lang="en-US" altLang="zh-CN" sz="1800" dirty="0"/>
          </a:p>
          <a:p>
            <a:pPr lvl="1"/>
            <a:r>
              <a:rPr lang="en-US" altLang="zh-CN" sz="1600" dirty="0"/>
              <a:t>2-level</a:t>
            </a:r>
            <a:r>
              <a:rPr lang="zh-CN" altLang="en-US" sz="1600" dirty="0"/>
              <a:t> </a:t>
            </a:r>
            <a:r>
              <a:rPr lang="en-US" altLang="zh-CN" sz="1600" dirty="0"/>
              <a:t>index</a:t>
            </a:r>
            <a:r>
              <a:rPr lang="zh-CN" altLang="en-US" sz="1600" dirty="0"/>
              <a:t> </a:t>
            </a:r>
            <a:r>
              <a:rPr lang="en-US" altLang="zh-CN" sz="1600" dirty="0"/>
              <a:t>table for PAS</a:t>
            </a:r>
            <a:r>
              <a:rPr lang="zh-CN" altLang="en-US" sz="1600" dirty="0"/>
              <a:t> </a:t>
            </a:r>
            <a:r>
              <a:rPr lang="en-US" altLang="zh-CN" sz="1600" dirty="0"/>
              <a:t>tag</a:t>
            </a:r>
          </a:p>
          <a:p>
            <a:pPr lvl="1"/>
            <a:r>
              <a:rPr lang="en-US" altLang="zh-CN" sz="1600" dirty="0"/>
              <a:t>PA-&gt;Tag translation</a:t>
            </a:r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1AE8305-565F-C044-85F6-1FC9F7E0F20B}"/>
              </a:ext>
            </a:extLst>
          </p:cNvPr>
          <p:cNvGrpSpPr/>
          <p:nvPr/>
        </p:nvGrpSpPr>
        <p:grpSpPr>
          <a:xfrm>
            <a:off x="1421459" y="2671474"/>
            <a:ext cx="4514522" cy="2047220"/>
            <a:chOff x="1054810" y="1489348"/>
            <a:chExt cx="5784582" cy="267612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331E22A-C990-5543-98CB-A6583190DAB3}"/>
                </a:ext>
              </a:extLst>
            </p:cNvPr>
            <p:cNvSpPr txBox="1"/>
            <p:nvPr/>
          </p:nvSpPr>
          <p:spPr>
            <a:xfrm>
              <a:off x="1162823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EL0</a:t>
              </a:r>
              <a:endParaRPr kumimoji="1" lang="zh-CN" altLang="en-US" sz="1400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6B19FB3-8C04-C048-9B57-BAA04EED8CE4}"/>
                </a:ext>
              </a:extLst>
            </p:cNvPr>
            <p:cNvSpPr txBox="1"/>
            <p:nvPr/>
          </p:nvSpPr>
          <p:spPr>
            <a:xfrm>
              <a:off x="3059832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EL1</a:t>
              </a:r>
              <a:endParaRPr kumimoji="1" lang="zh-CN" altLang="en-US" sz="14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99B3448-BFE2-1140-9052-B144A4353620}"/>
                </a:ext>
              </a:extLst>
            </p:cNvPr>
            <p:cNvSpPr txBox="1"/>
            <p:nvPr/>
          </p:nvSpPr>
          <p:spPr>
            <a:xfrm>
              <a:off x="4571999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EL2</a:t>
              </a:r>
              <a:endParaRPr kumimoji="1" lang="zh-CN" altLang="en-US" sz="14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C08E971-84BE-824A-8089-CEA02BF10244}"/>
                </a:ext>
              </a:extLst>
            </p:cNvPr>
            <p:cNvSpPr txBox="1"/>
            <p:nvPr/>
          </p:nvSpPr>
          <p:spPr>
            <a:xfrm>
              <a:off x="6084168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EL3</a:t>
              </a:r>
              <a:endParaRPr kumimoji="1" lang="zh-CN" altLang="en-US" sz="14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6672417-AB16-5E4F-9DDD-B0294665B3E2}"/>
                </a:ext>
              </a:extLst>
            </p:cNvPr>
            <p:cNvSpPr/>
            <p:nvPr/>
          </p:nvSpPr>
          <p:spPr>
            <a:xfrm>
              <a:off x="1054811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5DB6EBA-F95D-1244-A372-9B91000DB45B}"/>
                </a:ext>
              </a:extLst>
            </p:cNvPr>
            <p:cNvSpPr/>
            <p:nvPr/>
          </p:nvSpPr>
          <p:spPr>
            <a:xfrm>
              <a:off x="2843809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0B47C2-23CC-4B4F-9614-8A02D008A77D}"/>
                </a:ext>
              </a:extLst>
            </p:cNvPr>
            <p:cNvSpPr/>
            <p:nvPr/>
          </p:nvSpPr>
          <p:spPr>
            <a:xfrm>
              <a:off x="4364975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D8DC517-B640-2E41-B119-B0F6AADC3D33}"/>
                </a:ext>
              </a:extLst>
            </p:cNvPr>
            <p:cNvSpPr/>
            <p:nvPr/>
          </p:nvSpPr>
          <p:spPr>
            <a:xfrm>
              <a:off x="5903289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6666703-4F32-E04E-8BA1-867F157E0F87}"/>
                </a:ext>
              </a:extLst>
            </p:cNvPr>
            <p:cNvSpPr/>
            <p:nvPr/>
          </p:nvSpPr>
          <p:spPr>
            <a:xfrm>
              <a:off x="1522862" y="2989067"/>
              <a:ext cx="1944216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Stage2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01611BC7-0791-2E4D-8801-D2671C7551B5}"/>
                </a:ext>
              </a:extLst>
            </p:cNvPr>
            <p:cNvCxnSpPr/>
            <p:nvPr/>
          </p:nvCxnSpPr>
          <p:spPr>
            <a:xfrm>
              <a:off x="2411760" y="1552682"/>
              <a:ext cx="0" cy="957228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91ACE4AE-A2FA-CE4D-B709-9777D5F268A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944" y="1552682"/>
              <a:ext cx="0" cy="1868433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159CDBB-D55A-0347-A60E-D7E78DE56BA6}"/>
                </a:ext>
              </a:extLst>
            </p:cNvPr>
            <p:cNvSpPr/>
            <p:nvPr/>
          </p:nvSpPr>
          <p:spPr>
            <a:xfrm>
              <a:off x="1054810" y="3733429"/>
              <a:ext cx="4309275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Granule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protection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check</a:t>
              </a:r>
              <a:endParaRPr kumimoji="1" lang="zh-CN" altLang="en-US" sz="1100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59928604-CC3B-CA42-9920-37CE912CC74B}"/>
                </a:ext>
              </a:extLst>
            </p:cNvPr>
            <p:cNvCxnSpPr>
              <a:cxnSpLocks/>
            </p:cNvCxnSpPr>
            <p:nvPr/>
          </p:nvCxnSpPr>
          <p:spPr>
            <a:xfrm>
              <a:off x="5652120" y="1535914"/>
              <a:ext cx="0" cy="2629563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2F14F9-97D9-3B51-01C2-B72E33FEC109}"/>
              </a:ext>
            </a:extLst>
          </p:cNvPr>
          <p:cNvGrpSpPr/>
          <p:nvPr/>
        </p:nvGrpSpPr>
        <p:grpSpPr>
          <a:xfrm>
            <a:off x="6636757" y="2857500"/>
            <a:ext cx="1280267" cy="1640845"/>
            <a:chOff x="6678945" y="3441301"/>
            <a:chExt cx="1575097" cy="201871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9797B72-416E-7F45-9A23-FE77DE8DB51F}"/>
                </a:ext>
              </a:extLst>
            </p:cNvPr>
            <p:cNvGrpSpPr/>
            <p:nvPr/>
          </p:nvGrpSpPr>
          <p:grpSpPr>
            <a:xfrm>
              <a:off x="6683681" y="3877514"/>
              <a:ext cx="528852" cy="340788"/>
              <a:chOff x="6659371" y="4365782"/>
              <a:chExt cx="528852" cy="340788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0717950-E151-D547-B1FC-BB54DA4841B4}"/>
                  </a:ext>
                </a:extLst>
              </p:cNvPr>
              <p:cNvSpPr/>
              <p:nvPr/>
            </p:nvSpPr>
            <p:spPr>
              <a:xfrm>
                <a:off x="6659371" y="43733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FE9DEB2-13B1-7D48-95EF-4799FC34E404}"/>
                  </a:ext>
                </a:extLst>
              </p:cNvPr>
              <p:cNvSpPr txBox="1"/>
              <p:nvPr/>
            </p:nvSpPr>
            <p:spPr>
              <a:xfrm>
                <a:off x="6685037" y="43657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00</a:t>
                </a:r>
                <a:endParaRPr lang="zh-CN" altLang="en-US" sz="1200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2652823E-09CB-DD41-A7EB-BCEBC2B067DC}"/>
                </a:ext>
              </a:extLst>
            </p:cNvPr>
            <p:cNvGrpSpPr/>
            <p:nvPr/>
          </p:nvGrpSpPr>
          <p:grpSpPr>
            <a:xfrm>
              <a:off x="6678945" y="4310565"/>
              <a:ext cx="528852" cy="340788"/>
              <a:chOff x="6811771" y="4518182"/>
              <a:chExt cx="528852" cy="340788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0B31EFE-E052-BB4F-8129-367C1768114D}"/>
                  </a:ext>
                </a:extLst>
              </p:cNvPr>
              <p:cNvSpPr/>
              <p:nvPr/>
            </p:nvSpPr>
            <p:spPr>
              <a:xfrm>
                <a:off x="6811771" y="45257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105B818-DA87-0B4A-A352-366A50B41065}"/>
                  </a:ext>
                </a:extLst>
              </p:cNvPr>
              <p:cNvSpPr txBox="1"/>
              <p:nvPr/>
            </p:nvSpPr>
            <p:spPr>
              <a:xfrm>
                <a:off x="6837437" y="45181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01</a:t>
                </a:r>
                <a:endParaRPr lang="zh-CN" altLang="en-US" sz="1200" dirty="0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12F9FD5-09E5-E946-BE7E-F45D381E06B1}"/>
                </a:ext>
              </a:extLst>
            </p:cNvPr>
            <p:cNvGrpSpPr/>
            <p:nvPr/>
          </p:nvGrpSpPr>
          <p:grpSpPr>
            <a:xfrm>
              <a:off x="6683681" y="4711095"/>
              <a:ext cx="528852" cy="340788"/>
              <a:chOff x="6811771" y="4518182"/>
              <a:chExt cx="528852" cy="3407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0134444C-6AF0-3D49-B8EB-68F4B67EC0DB}"/>
                  </a:ext>
                </a:extLst>
              </p:cNvPr>
              <p:cNvSpPr/>
              <p:nvPr/>
            </p:nvSpPr>
            <p:spPr>
              <a:xfrm>
                <a:off x="6811771" y="45257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E1D791C-C2A7-084B-8AF4-436C4BC1E2AF}"/>
                  </a:ext>
                </a:extLst>
              </p:cNvPr>
              <p:cNvSpPr txBox="1"/>
              <p:nvPr/>
            </p:nvSpPr>
            <p:spPr>
              <a:xfrm>
                <a:off x="6837437" y="45181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10</a:t>
                </a:r>
                <a:endParaRPr lang="zh-CN" altLang="en-US" sz="1200" dirty="0"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C61C740-4745-C24F-B3E4-9E816322A1F8}"/>
                </a:ext>
              </a:extLst>
            </p:cNvPr>
            <p:cNvGrpSpPr/>
            <p:nvPr/>
          </p:nvGrpSpPr>
          <p:grpSpPr>
            <a:xfrm>
              <a:off x="6683681" y="5119224"/>
              <a:ext cx="528852" cy="340788"/>
              <a:chOff x="6811771" y="4518182"/>
              <a:chExt cx="528852" cy="34078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0B0279C1-2616-4E43-8505-C121A32C6DD2}"/>
                  </a:ext>
                </a:extLst>
              </p:cNvPr>
              <p:cNvSpPr/>
              <p:nvPr/>
            </p:nvSpPr>
            <p:spPr>
              <a:xfrm>
                <a:off x="6811771" y="45257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25E39B8-8248-D749-AFE5-926598B24E4E}"/>
                  </a:ext>
                </a:extLst>
              </p:cNvPr>
              <p:cNvSpPr txBox="1"/>
              <p:nvPr/>
            </p:nvSpPr>
            <p:spPr>
              <a:xfrm>
                <a:off x="6837437" y="45181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11</a:t>
                </a:r>
                <a:endParaRPr lang="zh-CN" altLang="en-US" sz="1200" dirty="0"/>
              </a:p>
            </p:txBody>
          </p:sp>
        </p:grp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75B909A-9216-9241-BBC0-A170FBD2ACF0}"/>
                </a:ext>
              </a:extLst>
            </p:cNvPr>
            <p:cNvSpPr/>
            <p:nvPr/>
          </p:nvSpPr>
          <p:spPr>
            <a:xfrm>
              <a:off x="6916580" y="3441301"/>
              <a:ext cx="1021341" cy="378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/>
                <a:t>PAS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tag</a:t>
              </a:r>
              <a:endParaRPr lang="zh-CN" altLang="en-US" sz="14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E1762F1-CE1F-1047-961A-8CEB0BF9F68C}"/>
                </a:ext>
              </a:extLst>
            </p:cNvPr>
            <p:cNvSpPr/>
            <p:nvPr/>
          </p:nvSpPr>
          <p:spPr>
            <a:xfrm>
              <a:off x="7285506" y="3882406"/>
              <a:ext cx="96853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Non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secure</a:t>
              </a:r>
              <a:endParaRPr lang="zh-CN" altLang="en-US" sz="12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8FD2F84-8BBE-1B41-8F94-0FCAB462AC86}"/>
                </a:ext>
              </a:extLst>
            </p:cNvPr>
            <p:cNvSpPr/>
            <p:nvPr/>
          </p:nvSpPr>
          <p:spPr>
            <a:xfrm>
              <a:off x="7417988" y="4311893"/>
              <a:ext cx="67037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Secure</a:t>
              </a:r>
              <a:endParaRPr lang="zh-CN" altLang="en-US" sz="12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FFF6639-DEEB-0142-A251-C271BFC6605F}"/>
                </a:ext>
              </a:extLst>
            </p:cNvPr>
            <p:cNvSpPr/>
            <p:nvPr/>
          </p:nvSpPr>
          <p:spPr>
            <a:xfrm>
              <a:off x="7434587" y="4679721"/>
              <a:ext cx="6270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Realm</a:t>
              </a:r>
              <a:endParaRPr lang="zh-CN" altLang="en-US" sz="12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BD469C7-C7E4-9C49-8B30-4F6375638F0B}"/>
                </a:ext>
              </a:extLst>
            </p:cNvPr>
            <p:cNvSpPr/>
            <p:nvPr/>
          </p:nvSpPr>
          <p:spPr>
            <a:xfrm>
              <a:off x="7493896" y="5111446"/>
              <a:ext cx="50847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Root</a:t>
              </a:r>
              <a:endParaRPr lang="zh-CN" altLang="en-US" sz="1200" dirty="0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8BB13BB-C522-1DF7-86B8-20EB900590F9}"/>
              </a:ext>
            </a:extLst>
          </p:cNvPr>
          <p:cNvSpPr txBox="1"/>
          <p:nvPr/>
        </p:nvSpPr>
        <p:spPr>
          <a:xfrm>
            <a:off x="811969" y="2882420"/>
            <a:ext cx="398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VA</a:t>
            </a:r>
            <a:endParaRPr lang="zh-CN" altLang="en-US" sz="105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D175EF-87AD-EFF9-138F-0779609C5C15}"/>
              </a:ext>
            </a:extLst>
          </p:cNvPr>
          <p:cNvSpPr txBox="1"/>
          <p:nvPr/>
        </p:nvSpPr>
        <p:spPr>
          <a:xfrm>
            <a:off x="776438" y="3602500"/>
            <a:ext cx="4674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/>
              <a:t>GPA</a:t>
            </a:r>
            <a:endParaRPr lang="zh-CN" altLang="en-US" sz="105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AAB296-AD0C-BD1B-E674-3A7E3965BCFF}"/>
              </a:ext>
            </a:extLst>
          </p:cNvPr>
          <p:cNvSpPr txBox="1"/>
          <p:nvPr/>
        </p:nvSpPr>
        <p:spPr>
          <a:xfrm>
            <a:off x="755576" y="4131599"/>
            <a:ext cx="5288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/>
              <a:t>HPA</a:t>
            </a:r>
            <a:endParaRPr lang="zh-CN" altLang="en-US" sz="105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F792FD-6655-A068-51E8-E9A86705B153}"/>
              </a:ext>
            </a:extLst>
          </p:cNvPr>
          <p:cNvSpPr txBox="1"/>
          <p:nvPr/>
        </p:nvSpPr>
        <p:spPr>
          <a:xfrm>
            <a:off x="782200" y="4681908"/>
            <a:ext cx="475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Tag</a:t>
            </a:r>
            <a:endParaRPr lang="zh-CN" altLang="en-US" sz="1050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E108F31-5D72-FF66-877F-B8A4EBFA46DC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flipH="1">
            <a:off x="1010142" y="3144030"/>
            <a:ext cx="1134" cy="458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E39325D-54FA-D525-60C7-FAA66BC2D54F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1010142" y="3856416"/>
            <a:ext cx="9882" cy="275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25BB658-B73B-DF67-F182-1D69DF62EA14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020024" y="4385515"/>
            <a:ext cx="0" cy="29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A00372BD-2DA7-BF06-5C03-F54B31C3C8BE}"/>
              </a:ext>
            </a:extLst>
          </p:cNvPr>
          <p:cNvSpPr/>
          <p:nvPr/>
        </p:nvSpPr>
        <p:spPr>
          <a:xfrm>
            <a:off x="637977" y="3073233"/>
            <a:ext cx="117599" cy="164546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99BD6B-40CA-E0F7-BBB9-E705F9015560}"/>
              </a:ext>
            </a:extLst>
          </p:cNvPr>
          <p:cNvSpPr txBox="1"/>
          <p:nvPr/>
        </p:nvSpPr>
        <p:spPr>
          <a:xfrm>
            <a:off x="-59113" y="3664055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Combined</a:t>
            </a:r>
          </a:p>
          <a:p>
            <a:r>
              <a:rPr lang="en-US" altLang="zh-CN" sz="1000" dirty="0"/>
              <a:t> in TLB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89121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4B4641A-0B23-88D0-D306-F6B781D9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50" y="1323785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在</a:t>
            </a:r>
            <a:r>
              <a:rPr lang="en-US" altLang="zh-CN" sz="2000" dirty="0"/>
              <a:t>MMU</a:t>
            </a:r>
            <a:r>
              <a:rPr lang="zh-CN" altLang="en-US" sz="2000" dirty="0"/>
              <a:t>和</a:t>
            </a:r>
            <a:r>
              <a:rPr lang="en-US" altLang="zh-CN" sz="2000" dirty="0"/>
              <a:t>SMMU</a:t>
            </a:r>
            <a:r>
              <a:rPr lang="zh-CN" altLang="en-US" sz="2000" dirty="0"/>
              <a:t>中添加</a:t>
            </a:r>
            <a:r>
              <a:rPr lang="en-US" altLang="zh-CN" sz="2000" dirty="0"/>
              <a:t>GPC</a:t>
            </a:r>
            <a:r>
              <a:rPr lang="zh-CN" altLang="en-US" sz="2000" dirty="0"/>
              <a:t>模块</a:t>
            </a:r>
            <a:r>
              <a:rPr lang="en-US" altLang="zh-CN" sz="2000" dirty="0"/>
              <a:t> </a:t>
            </a:r>
          </a:p>
          <a:p>
            <a:pPr lvl="1"/>
            <a:r>
              <a:rPr lang="en-US" altLang="zh-CN" sz="1400" dirty="0"/>
              <a:t>PAS</a:t>
            </a:r>
            <a:r>
              <a:rPr lang="zh-CN" altLang="en-US" sz="1400" dirty="0"/>
              <a:t>标签在</a:t>
            </a:r>
            <a:r>
              <a:rPr lang="en-US" altLang="zh-CN" sz="1400" dirty="0"/>
              <a:t>SoC</a:t>
            </a:r>
            <a:r>
              <a:rPr lang="zh-CN" altLang="en-US" sz="1400" dirty="0"/>
              <a:t>中不断进行传递</a:t>
            </a:r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2600" dirty="0"/>
              <a:t>物理内存检查模块</a:t>
            </a:r>
            <a:r>
              <a:rPr kumimoji="1" lang="en-US" altLang="zh-CN" sz="2600" dirty="0"/>
              <a:t>Granule Protection Check (GPC)</a:t>
            </a:r>
            <a:endParaRPr kumimoji="1" lang="zh-CN" altLang="en-US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88C94B-9214-5EC4-501B-B452550C6B2A}"/>
              </a:ext>
            </a:extLst>
          </p:cNvPr>
          <p:cNvGrpSpPr/>
          <p:nvPr/>
        </p:nvGrpSpPr>
        <p:grpSpPr>
          <a:xfrm>
            <a:off x="827584" y="2544499"/>
            <a:ext cx="7200797" cy="3056732"/>
            <a:chOff x="426349" y="1468334"/>
            <a:chExt cx="8637313" cy="366653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448B015-DB45-B743-A42C-1ED4C448B189}"/>
                </a:ext>
              </a:extLst>
            </p:cNvPr>
            <p:cNvSpPr/>
            <p:nvPr/>
          </p:nvSpPr>
          <p:spPr>
            <a:xfrm>
              <a:off x="4764782" y="1468334"/>
              <a:ext cx="2304256" cy="10414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065E289-00E7-1B45-B1EB-73681A9E6E1C}"/>
                </a:ext>
              </a:extLst>
            </p:cNvPr>
            <p:cNvSpPr/>
            <p:nvPr/>
          </p:nvSpPr>
          <p:spPr>
            <a:xfrm>
              <a:off x="4842751" y="2046179"/>
              <a:ext cx="944488" cy="323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24BCD85-CBFA-7E4E-BEE6-EF2CD68AA485}"/>
                </a:ext>
              </a:extLst>
            </p:cNvPr>
            <p:cNvSpPr/>
            <p:nvPr/>
          </p:nvSpPr>
          <p:spPr>
            <a:xfrm>
              <a:off x="4842751" y="2046179"/>
              <a:ext cx="354079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50E84BE-12FD-2144-A6B7-550312F47464}"/>
                </a:ext>
              </a:extLst>
            </p:cNvPr>
            <p:cNvSpPr/>
            <p:nvPr/>
          </p:nvSpPr>
          <p:spPr>
            <a:xfrm>
              <a:off x="5922780" y="2046178"/>
              <a:ext cx="858226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900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A6890A2-D48E-814B-8C71-2AB4DA995603}"/>
                </a:ext>
              </a:extLst>
            </p:cNvPr>
            <p:cNvSpPr txBox="1"/>
            <p:nvPr/>
          </p:nvSpPr>
          <p:spPr>
            <a:xfrm>
              <a:off x="5164342" y="2034450"/>
              <a:ext cx="690667" cy="3045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Cache</a:t>
              </a:r>
              <a:endParaRPr kumimoji="1" lang="zh-CN" altLang="en-US" sz="105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C0963BA-B5FD-7D48-A3AB-D38B7C84FA1C}"/>
                </a:ext>
              </a:extLst>
            </p:cNvPr>
            <p:cNvSpPr/>
            <p:nvPr/>
          </p:nvSpPr>
          <p:spPr>
            <a:xfrm>
              <a:off x="5915362" y="1607199"/>
              <a:ext cx="858226" cy="323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MMU</a:t>
              </a:r>
              <a:endParaRPr kumimoji="1"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5AD153A-47E4-E246-AAF2-C5A202B1185E}"/>
                </a:ext>
              </a:extLst>
            </p:cNvPr>
            <p:cNvSpPr/>
            <p:nvPr/>
          </p:nvSpPr>
          <p:spPr>
            <a:xfrm>
              <a:off x="4854429" y="1537853"/>
              <a:ext cx="686822" cy="3691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400" dirty="0"/>
                <a:t>Core</a:t>
              </a:r>
              <a:endParaRPr lang="zh-CN" altLang="en-US" sz="1400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32BB008-D6C1-E04D-BEB3-8BAB332BC64C}"/>
                </a:ext>
              </a:extLst>
            </p:cNvPr>
            <p:cNvSpPr/>
            <p:nvPr/>
          </p:nvSpPr>
          <p:spPr>
            <a:xfrm>
              <a:off x="2014365" y="1468334"/>
              <a:ext cx="2304256" cy="10414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2BF6E70-576E-DA40-9710-62C550A555D0}"/>
                </a:ext>
              </a:extLst>
            </p:cNvPr>
            <p:cNvSpPr/>
            <p:nvPr/>
          </p:nvSpPr>
          <p:spPr>
            <a:xfrm>
              <a:off x="2188059" y="1546909"/>
              <a:ext cx="869825" cy="425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C305D3C-87D3-694B-8DD0-315435D3BC4F}"/>
                </a:ext>
              </a:extLst>
            </p:cNvPr>
            <p:cNvSpPr txBox="1"/>
            <p:nvPr/>
          </p:nvSpPr>
          <p:spPr>
            <a:xfrm>
              <a:off x="2227645" y="1509152"/>
              <a:ext cx="790652" cy="479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00" dirty="0"/>
                <a:t>On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chip</a:t>
              </a:r>
              <a:r>
                <a:rPr kumimoji="1" lang="zh-CN" altLang="en-US" sz="1000" dirty="0"/>
                <a:t> </a:t>
              </a:r>
              <a:endParaRPr kumimoji="1" lang="en-US" altLang="zh-CN" sz="1000" dirty="0"/>
            </a:p>
            <a:p>
              <a:pPr algn="ctr"/>
              <a:r>
                <a:rPr kumimoji="1" lang="en-US" altLang="zh-CN" sz="1000" dirty="0"/>
                <a:t>device</a:t>
              </a:r>
              <a:endParaRPr kumimoji="1" lang="zh-CN" altLang="en-US" sz="10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0ABEC66-3CFA-A442-89E7-EDE6B9BBD58B}"/>
                </a:ext>
              </a:extLst>
            </p:cNvPr>
            <p:cNvSpPr/>
            <p:nvPr/>
          </p:nvSpPr>
          <p:spPr>
            <a:xfrm>
              <a:off x="3231662" y="1546909"/>
              <a:ext cx="869825" cy="425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CB5AE13-43CA-7148-A1E6-9BFAB46FA0BF}"/>
                </a:ext>
              </a:extLst>
            </p:cNvPr>
            <p:cNvSpPr txBox="1"/>
            <p:nvPr/>
          </p:nvSpPr>
          <p:spPr>
            <a:xfrm>
              <a:off x="3342011" y="1599940"/>
              <a:ext cx="617601" cy="313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50" dirty="0"/>
                <a:t>PCIE</a:t>
              </a:r>
              <a:endParaRPr kumimoji="1" lang="zh-CN" altLang="en-US" sz="105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248DD0F-3C84-0946-AD02-A461BD5696A0}"/>
                </a:ext>
              </a:extLst>
            </p:cNvPr>
            <p:cNvSpPr/>
            <p:nvPr/>
          </p:nvSpPr>
          <p:spPr>
            <a:xfrm>
              <a:off x="2188059" y="2079549"/>
              <a:ext cx="1913427" cy="323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</a:rPr>
                <a:t>SMMU</a:t>
              </a:r>
              <a:endParaRPr kumimoji="1"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0F7BEB3-6E3E-1C41-AE97-43C5AE87E867}"/>
                </a:ext>
              </a:extLst>
            </p:cNvPr>
            <p:cNvSpPr/>
            <p:nvPr/>
          </p:nvSpPr>
          <p:spPr>
            <a:xfrm>
              <a:off x="3514312" y="2098643"/>
              <a:ext cx="587173" cy="2978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7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0E44C7C-154D-344B-A328-F16CEF6C1F41}"/>
                </a:ext>
              </a:extLst>
            </p:cNvPr>
            <p:cNvSpPr/>
            <p:nvPr/>
          </p:nvSpPr>
          <p:spPr>
            <a:xfrm>
              <a:off x="2014365" y="2857500"/>
              <a:ext cx="5054673" cy="432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A8F76D3-8072-E54D-BE62-90BE17BFB7BA}"/>
                </a:ext>
              </a:extLst>
            </p:cNvPr>
            <p:cNvSpPr txBox="1"/>
            <p:nvPr/>
          </p:nvSpPr>
          <p:spPr>
            <a:xfrm>
              <a:off x="3666314" y="2913105"/>
              <a:ext cx="1449187" cy="369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System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bus</a:t>
              </a:r>
              <a:endParaRPr kumimoji="1" lang="zh-CN" altLang="en-US" sz="140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0D19400-2AC9-E54C-85FC-6FC0E2585868}"/>
                </a:ext>
              </a:extLst>
            </p:cNvPr>
            <p:cNvSpPr/>
            <p:nvPr/>
          </p:nvSpPr>
          <p:spPr>
            <a:xfrm>
              <a:off x="6596049" y="3649616"/>
              <a:ext cx="2467613" cy="10924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BBE5312-A2E3-1F4C-8CD6-86B216B010CE}"/>
                </a:ext>
              </a:extLst>
            </p:cNvPr>
            <p:cNvSpPr/>
            <p:nvPr/>
          </p:nvSpPr>
          <p:spPr>
            <a:xfrm>
              <a:off x="7854441" y="3711757"/>
              <a:ext cx="868880" cy="2643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PAS</a:t>
              </a:r>
              <a:r>
                <a:rPr kumimoji="1" lang="zh-CN" altLang="en-US" sz="900" dirty="0"/>
                <a:t> </a:t>
              </a:r>
              <a:r>
                <a:rPr kumimoji="1" lang="en-US" altLang="zh-CN" sz="900" dirty="0"/>
                <a:t>filter</a:t>
              </a:r>
              <a:endParaRPr kumimoji="1" lang="zh-CN" altLang="en-US" sz="9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21A7763-4F28-C446-A443-C9F21C16AE9B}"/>
                </a:ext>
              </a:extLst>
            </p:cNvPr>
            <p:cNvSpPr txBox="1"/>
            <p:nvPr/>
          </p:nvSpPr>
          <p:spPr>
            <a:xfrm>
              <a:off x="6596049" y="3714194"/>
              <a:ext cx="1449187" cy="313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/>
                <a:t>P</a:t>
              </a:r>
              <a:r>
                <a:rPr lang="en" altLang="zh-CN" sz="1050" dirty="0" err="1"/>
                <a:t>eripheral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bus</a:t>
              </a:r>
              <a:endParaRPr kumimoji="1" lang="zh-CN" altLang="en-US" sz="1050" dirty="0"/>
            </a:p>
          </p:txBody>
        </p: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5687306A-2B55-A842-A171-B7425D84F9DC}"/>
                </a:ext>
              </a:extLst>
            </p:cNvPr>
            <p:cNvCxnSpPr/>
            <p:nvPr/>
          </p:nvCxnSpPr>
          <p:spPr>
            <a:xfrm>
              <a:off x="7664557" y="4040453"/>
              <a:ext cx="0" cy="593465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659DE70-AD37-B146-9739-FA533EEE0122}"/>
                </a:ext>
              </a:extLst>
            </p:cNvPr>
            <p:cNvSpPr/>
            <p:nvPr/>
          </p:nvSpPr>
          <p:spPr>
            <a:xfrm>
              <a:off x="6836354" y="4067954"/>
              <a:ext cx="587898" cy="238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6D350CF-4B9C-E843-999E-928B486DD554}"/>
                </a:ext>
              </a:extLst>
            </p:cNvPr>
            <p:cNvSpPr/>
            <p:nvPr/>
          </p:nvSpPr>
          <p:spPr>
            <a:xfrm>
              <a:off x="6836354" y="4407442"/>
              <a:ext cx="587898" cy="238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6F678A6-2658-FF4D-B89A-98828B2372F5}"/>
                </a:ext>
              </a:extLst>
            </p:cNvPr>
            <p:cNvSpPr/>
            <p:nvPr/>
          </p:nvSpPr>
          <p:spPr>
            <a:xfrm>
              <a:off x="7988482" y="4106358"/>
              <a:ext cx="587898" cy="238437"/>
            </a:xfrm>
            <a:prstGeom prst="rect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0EA2DD9-A9D9-AF46-B43E-88EB3939A90C}"/>
                </a:ext>
              </a:extLst>
            </p:cNvPr>
            <p:cNvSpPr/>
            <p:nvPr/>
          </p:nvSpPr>
          <p:spPr>
            <a:xfrm>
              <a:off x="7988482" y="4424232"/>
              <a:ext cx="587898" cy="238437"/>
            </a:xfrm>
            <a:prstGeom prst="rect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52" name="肘形连接符 51">
              <a:extLst>
                <a:ext uri="{FF2B5EF4-FFF2-40B4-BE49-F238E27FC236}">
                  <a16:creationId xmlns:a16="http://schemas.microsoft.com/office/drawing/2014/main" id="{79A139BB-01E1-0348-9DEA-A6DA48617DE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569189" y="3328806"/>
              <a:ext cx="347670" cy="293949"/>
            </a:xfrm>
            <a:prstGeom prst="bentConnector3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4EA892A-F6DA-D545-A467-B22B4C6CF1DD}"/>
                </a:ext>
              </a:extLst>
            </p:cNvPr>
            <p:cNvSpPr/>
            <p:nvPr/>
          </p:nvSpPr>
          <p:spPr>
            <a:xfrm>
              <a:off x="543264" y="3847632"/>
              <a:ext cx="950339" cy="3238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B892C56-6280-2F4C-8A21-968264AD0268}"/>
                </a:ext>
              </a:extLst>
            </p:cNvPr>
            <p:cNvSpPr/>
            <p:nvPr/>
          </p:nvSpPr>
          <p:spPr>
            <a:xfrm>
              <a:off x="1578477" y="3831206"/>
              <a:ext cx="554327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700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91E0E40-5890-F548-99DB-0285E7845BFF}"/>
                </a:ext>
              </a:extLst>
            </p:cNvPr>
            <p:cNvSpPr txBox="1"/>
            <p:nvPr/>
          </p:nvSpPr>
          <p:spPr>
            <a:xfrm>
              <a:off x="556540" y="3823871"/>
              <a:ext cx="950339" cy="33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Device</a:t>
              </a:r>
              <a:endParaRPr kumimoji="1" lang="zh-CN" altLang="en-US" sz="1200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CE88643-0FA2-BE4B-BEA3-ED7D50B4DC18}"/>
                </a:ext>
              </a:extLst>
            </p:cNvPr>
            <p:cNvSpPr/>
            <p:nvPr/>
          </p:nvSpPr>
          <p:spPr>
            <a:xfrm>
              <a:off x="543264" y="4322861"/>
              <a:ext cx="950339" cy="3238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2319B9BF-EFDC-EA45-BF8C-3ECA9C770436}"/>
                </a:ext>
              </a:extLst>
            </p:cNvPr>
            <p:cNvSpPr/>
            <p:nvPr/>
          </p:nvSpPr>
          <p:spPr>
            <a:xfrm>
              <a:off x="1578477" y="4306435"/>
              <a:ext cx="554327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7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B2C522D-0451-4347-B514-A7093DB9F79B}"/>
                </a:ext>
              </a:extLst>
            </p:cNvPr>
            <p:cNvSpPr txBox="1"/>
            <p:nvPr/>
          </p:nvSpPr>
          <p:spPr>
            <a:xfrm>
              <a:off x="556540" y="4299099"/>
              <a:ext cx="950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Device</a:t>
              </a:r>
              <a:endParaRPr kumimoji="1" lang="zh-CN" altLang="en-US" sz="1200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34D68EB-EF68-4749-9AC3-B5A0255BA75A}"/>
                </a:ext>
              </a:extLst>
            </p:cNvPr>
            <p:cNvSpPr/>
            <p:nvPr/>
          </p:nvSpPr>
          <p:spPr>
            <a:xfrm>
              <a:off x="426349" y="3760190"/>
              <a:ext cx="1818153" cy="9839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7" name="肘形连接符 56">
              <a:extLst>
                <a:ext uri="{FF2B5EF4-FFF2-40B4-BE49-F238E27FC236}">
                  <a16:creationId xmlns:a16="http://schemas.microsoft.com/office/drawing/2014/main" id="{01368362-5199-784E-AF9F-30C6925299A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10025" y="3294216"/>
              <a:ext cx="470315" cy="461633"/>
            </a:xfrm>
            <a:prstGeom prst="bentConnector3">
              <a:avLst/>
            </a:prstGeom>
            <a:ln w="2222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60627B6-64B3-B449-92C0-D36D9C582368}"/>
                </a:ext>
              </a:extLst>
            </p:cNvPr>
            <p:cNvSpPr/>
            <p:nvPr/>
          </p:nvSpPr>
          <p:spPr>
            <a:xfrm>
              <a:off x="3938184" y="3745765"/>
              <a:ext cx="1168907" cy="4257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FDC9D5A3-139A-934F-A26D-A10101BE6EA9}"/>
                </a:ext>
              </a:extLst>
            </p:cNvPr>
            <p:cNvSpPr txBox="1"/>
            <p:nvPr/>
          </p:nvSpPr>
          <p:spPr>
            <a:xfrm>
              <a:off x="4187150" y="3790501"/>
              <a:ext cx="621608" cy="313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MPE</a:t>
              </a:r>
              <a:endParaRPr kumimoji="1" lang="zh-CN" altLang="en-US" sz="1100" dirty="0"/>
            </a:p>
          </p:txBody>
        </p:sp>
        <p:cxnSp>
          <p:nvCxnSpPr>
            <p:cNvPr id="68" name="肘形连接符 67">
              <a:extLst>
                <a:ext uri="{FF2B5EF4-FFF2-40B4-BE49-F238E27FC236}">
                  <a16:creationId xmlns:a16="http://schemas.microsoft.com/office/drawing/2014/main" id="{C9B53F94-E749-754E-9069-EAB7B5AB0A2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320903" y="3539391"/>
              <a:ext cx="441599" cy="2"/>
            </a:xfrm>
            <a:prstGeom prst="bentConnector3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BA06169-905A-BF45-B710-AB403C703E27}"/>
                </a:ext>
              </a:extLst>
            </p:cNvPr>
            <p:cNvSpPr/>
            <p:nvPr/>
          </p:nvSpPr>
          <p:spPr>
            <a:xfrm>
              <a:off x="3597373" y="4415342"/>
              <a:ext cx="1926763" cy="719524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C5CE35F-15AF-C74F-B503-F1F5DA03B6B4}"/>
                </a:ext>
              </a:extLst>
            </p:cNvPr>
            <p:cNvSpPr txBox="1"/>
            <p:nvPr/>
          </p:nvSpPr>
          <p:spPr>
            <a:xfrm>
              <a:off x="3741452" y="4598951"/>
              <a:ext cx="1638605" cy="313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/>
                <a:t>Encrypted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memory</a:t>
              </a:r>
              <a:endParaRPr kumimoji="1" lang="zh-CN" altLang="en-US" sz="1100" dirty="0"/>
            </a:p>
          </p:txBody>
        </p:sp>
        <p:pic>
          <p:nvPicPr>
            <p:cNvPr id="76" name="图形 75" descr="钥匙 纯色填充">
              <a:extLst>
                <a:ext uri="{FF2B5EF4-FFF2-40B4-BE49-F238E27FC236}">
                  <a16:creationId xmlns:a16="http://schemas.microsoft.com/office/drawing/2014/main" id="{8487BEB4-71ED-554D-90FF-661041A5C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257723" y="4187172"/>
              <a:ext cx="311154" cy="311154"/>
            </a:xfrm>
            <a:prstGeom prst="rect">
              <a:avLst/>
            </a:prstGeom>
          </p:spPr>
        </p:pic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7B2211B-C80B-1B48-878E-AA4F1AE78A01}"/>
                </a:ext>
              </a:extLst>
            </p:cNvPr>
            <p:cNvSpPr/>
            <p:nvPr/>
          </p:nvSpPr>
          <p:spPr>
            <a:xfrm>
              <a:off x="6102398" y="2902743"/>
              <a:ext cx="901603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PAS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TAG</a:t>
              </a:r>
              <a:endParaRPr kumimoji="1" lang="zh-CN" altLang="en-US" sz="1000" dirty="0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C46EFE9-DE38-D085-431E-75E834FCD5A6}"/>
              </a:ext>
            </a:extLst>
          </p:cNvPr>
          <p:cNvSpPr/>
          <p:nvPr/>
        </p:nvSpPr>
        <p:spPr>
          <a:xfrm>
            <a:off x="7698554" y="4743779"/>
            <a:ext cx="253415" cy="198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AE072C-39AC-5817-CCBB-40DC60847E25}"/>
              </a:ext>
            </a:extLst>
          </p:cNvPr>
          <p:cNvSpPr txBox="1"/>
          <p:nvPr/>
        </p:nvSpPr>
        <p:spPr>
          <a:xfrm>
            <a:off x="7622142" y="4753974"/>
            <a:ext cx="40623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</a:rPr>
              <a:t>TAG</a:t>
            </a:r>
            <a:endParaRPr kumimoji="1" lang="zh-CN" altLang="en-US" sz="7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30C01E-5332-50DD-ABA7-1B66D680EFDB}"/>
              </a:ext>
            </a:extLst>
          </p:cNvPr>
          <p:cNvSpPr txBox="1"/>
          <p:nvPr/>
        </p:nvSpPr>
        <p:spPr>
          <a:xfrm>
            <a:off x="4440888" y="3055755"/>
            <a:ext cx="40623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</a:rPr>
              <a:t>TAG</a:t>
            </a:r>
            <a:endParaRPr kumimoji="1" lang="zh-CN" altLang="en-US" sz="700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1189AB-16CB-AF71-279B-2EE11DD9C922}"/>
              </a:ext>
            </a:extLst>
          </p:cNvPr>
          <p:cNvSpPr/>
          <p:nvPr/>
        </p:nvSpPr>
        <p:spPr>
          <a:xfrm>
            <a:off x="7698554" y="5011280"/>
            <a:ext cx="253415" cy="198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50C75F-13D8-C7FC-2750-185A83D14190}"/>
              </a:ext>
            </a:extLst>
          </p:cNvPr>
          <p:cNvSpPr txBox="1"/>
          <p:nvPr/>
        </p:nvSpPr>
        <p:spPr>
          <a:xfrm>
            <a:off x="7622142" y="5021475"/>
            <a:ext cx="40623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</a:rPr>
              <a:t>TAG</a:t>
            </a:r>
            <a:endParaRPr kumimoji="1" lang="zh-CN" altLang="en-US" sz="700" dirty="0">
              <a:solidFill>
                <a:schemeClr val="bg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0B7FA00-EA8E-2C04-CC32-B9A302857C81}"/>
              </a:ext>
            </a:extLst>
          </p:cNvPr>
          <p:cNvSpPr/>
          <p:nvPr/>
        </p:nvSpPr>
        <p:spPr>
          <a:xfrm>
            <a:off x="4167380" y="4795415"/>
            <a:ext cx="182222" cy="182222"/>
          </a:xfrm>
          <a:prstGeom prst="ellipse">
            <a:avLst/>
          </a:prstGeom>
          <a:solidFill>
            <a:srgbClr val="BE384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B50459-D7C5-7460-BE1C-D5BE1A3FDBC6}"/>
              </a:ext>
            </a:extLst>
          </p:cNvPr>
          <p:cNvSpPr txBox="1"/>
          <p:nvPr/>
        </p:nvSpPr>
        <p:spPr>
          <a:xfrm>
            <a:off x="992267" y="4042248"/>
            <a:ext cx="1159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Master device without SMMU</a:t>
            </a:r>
            <a:endParaRPr lang="zh-CN" altLang="en-US" sz="1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60B0EC-0E58-8061-6C62-F874AA0D64D1}"/>
              </a:ext>
            </a:extLst>
          </p:cNvPr>
          <p:cNvSpPr txBox="1"/>
          <p:nvPr/>
        </p:nvSpPr>
        <p:spPr>
          <a:xfrm>
            <a:off x="6643529" y="4043773"/>
            <a:ext cx="990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Slave device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88864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GPT</a:t>
            </a:r>
            <a:r>
              <a:rPr kumimoji="1" lang="zh-CN" altLang="en-US" dirty="0"/>
              <a:t>的格式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4B4641A-0B23-88D0-D306-F6B781D9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两层页表，存在不同的页表项格式</a:t>
            </a:r>
            <a:endParaRPr lang="en-US" altLang="zh-CN" sz="2000" dirty="0"/>
          </a:p>
          <a:p>
            <a:pPr lvl="1"/>
            <a:r>
              <a:rPr lang="en-US" altLang="zh-CN" sz="1600" dirty="0"/>
              <a:t>L0GPT Entry size</a:t>
            </a:r>
            <a:r>
              <a:rPr lang="zh-CN" altLang="en-US" sz="1600" dirty="0"/>
              <a:t>：</a:t>
            </a:r>
            <a:r>
              <a:rPr lang="en-US" altLang="zh-CN" sz="1600" dirty="0"/>
              <a:t>1G,</a:t>
            </a:r>
            <a:r>
              <a:rPr lang="zh-CN" altLang="en-US" sz="1600" dirty="0"/>
              <a:t> </a:t>
            </a:r>
            <a:r>
              <a:rPr lang="en-US" altLang="zh-CN" sz="1600" dirty="0"/>
              <a:t>16G, 64G, 512G</a:t>
            </a:r>
          </a:p>
          <a:p>
            <a:pPr lvl="1"/>
            <a:r>
              <a:rPr lang="en-US" altLang="zh-CN" sz="1600" dirty="0"/>
              <a:t>L1GPT Entry size</a:t>
            </a:r>
            <a:r>
              <a:rPr lang="zh-CN" altLang="en-US" sz="1600" dirty="0"/>
              <a:t>：</a:t>
            </a:r>
            <a:r>
              <a:rPr lang="en-US" altLang="zh-CN" sz="1600" dirty="0"/>
              <a:t>4K, 16K, 64K, 2M, 32M, 512M</a:t>
            </a:r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8826E87-52D7-22D7-8F43-1266191BEF6C}"/>
              </a:ext>
            </a:extLst>
          </p:cNvPr>
          <p:cNvGrpSpPr/>
          <p:nvPr/>
        </p:nvGrpSpPr>
        <p:grpSpPr>
          <a:xfrm>
            <a:off x="1115616" y="3303272"/>
            <a:ext cx="784970" cy="1078228"/>
            <a:chOff x="5868144" y="3711437"/>
            <a:chExt cx="511174" cy="64618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E30AFC1-C747-1E4B-C9B2-C5B29105FF4A}"/>
                </a:ext>
              </a:extLst>
            </p:cNvPr>
            <p:cNvSpPr/>
            <p:nvPr/>
          </p:nvSpPr>
          <p:spPr>
            <a:xfrm>
              <a:off x="5868144" y="3711437"/>
              <a:ext cx="504056" cy="6461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02BACD2-FD40-8C39-F8FE-6D03F1269C58}"/>
                </a:ext>
              </a:extLst>
            </p:cNvPr>
            <p:cNvCxnSpPr/>
            <p:nvPr/>
          </p:nvCxnSpPr>
          <p:spPr>
            <a:xfrm>
              <a:off x="5868144" y="3875485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F6B40C2-DE85-DCCA-8AD4-65CFC5DBFDA6}"/>
                </a:ext>
              </a:extLst>
            </p:cNvPr>
            <p:cNvCxnSpPr/>
            <p:nvPr/>
          </p:nvCxnSpPr>
          <p:spPr>
            <a:xfrm>
              <a:off x="5870091" y="4034527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0E987DB-BD08-BC1E-719F-14ABF7E71588}"/>
                </a:ext>
              </a:extLst>
            </p:cNvPr>
            <p:cNvCxnSpPr/>
            <p:nvPr/>
          </p:nvCxnSpPr>
          <p:spPr>
            <a:xfrm>
              <a:off x="5870091" y="4194000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B4987B1-7B6B-EC6C-72A5-5BD3EFBE48A4}"/>
              </a:ext>
            </a:extLst>
          </p:cNvPr>
          <p:cNvGrpSpPr/>
          <p:nvPr/>
        </p:nvGrpSpPr>
        <p:grpSpPr>
          <a:xfrm>
            <a:off x="2548658" y="3735320"/>
            <a:ext cx="784970" cy="1078228"/>
            <a:chOff x="5868144" y="3711437"/>
            <a:chExt cx="511174" cy="64618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C10720F-215F-AA38-67B4-A1F9E02C0B2A}"/>
                </a:ext>
              </a:extLst>
            </p:cNvPr>
            <p:cNvSpPr/>
            <p:nvPr/>
          </p:nvSpPr>
          <p:spPr>
            <a:xfrm>
              <a:off x="5868144" y="3711437"/>
              <a:ext cx="504056" cy="6461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8E4E784-DB3F-50C4-4D36-89A6122069D6}"/>
                </a:ext>
              </a:extLst>
            </p:cNvPr>
            <p:cNvCxnSpPr/>
            <p:nvPr/>
          </p:nvCxnSpPr>
          <p:spPr>
            <a:xfrm>
              <a:off x="5868144" y="3875485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7D7CDE8-F178-3F10-DADC-6CDA06535749}"/>
                </a:ext>
              </a:extLst>
            </p:cNvPr>
            <p:cNvCxnSpPr/>
            <p:nvPr/>
          </p:nvCxnSpPr>
          <p:spPr>
            <a:xfrm>
              <a:off x="5870091" y="4034527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85034CA-E7FD-1E30-9F99-8D1E7ED92F39}"/>
                </a:ext>
              </a:extLst>
            </p:cNvPr>
            <p:cNvCxnSpPr/>
            <p:nvPr/>
          </p:nvCxnSpPr>
          <p:spPr>
            <a:xfrm>
              <a:off x="5870091" y="4194000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F7146DF1-003D-D1A6-973D-493CDAB44C06}"/>
              </a:ext>
            </a:extLst>
          </p:cNvPr>
          <p:cNvCxnSpPr>
            <a:cxnSpLocks/>
          </p:cNvCxnSpPr>
          <p:nvPr/>
        </p:nvCxnSpPr>
        <p:spPr>
          <a:xfrm flipV="1">
            <a:off x="1884190" y="3735320"/>
            <a:ext cx="653537" cy="2580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0936A5BC-4872-CDB4-0058-B22909D3E342}"/>
              </a:ext>
            </a:extLst>
          </p:cNvPr>
          <p:cNvSpPr/>
          <p:nvPr/>
        </p:nvSpPr>
        <p:spPr>
          <a:xfrm>
            <a:off x="1166645" y="3024641"/>
            <a:ext cx="6719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L0GPT</a:t>
            </a:r>
            <a:endParaRPr lang="zh-CN" altLang="en-US" sz="1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64A48F-5F03-3968-FAAF-19C7FDCFC4A0}"/>
              </a:ext>
            </a:extLst>
          </p:cNvPr>
          <p:cNvSpPr/>
          <p:nvPr/>
        </p:nvSpPr>
        <p:spPr>
          <a:xfrm>
            <a:off x="2606648" y="3456689"/>
            <a:ext cx="6719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L1GPT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084A16E-2004-6925-DE29-B89F9AE899D9}"/>
              </a:ext>
            </a:extLst>
          </p:cNvPr>
          <p:cNvSpPr txBox="1"/>
          <p:nvPr/>
        </p:nvSpPr>
        <p:spPr>
          <a:xfrm>
            <a:off x="3942508" y="2710192"/>
            <a:ext cx="42762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NimbusSanL-Bold"/>
              </a:rPr>
              <a:t>GPT Granules descriptor</a:t>
            </a:r>
            <a:r>
              <a:rPr lang="en-US" altLang="zh-CN" sz="1200" dirty="0"/>
              <a:t>: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NimbusRomNo9L-Regu"/>
              </a:rPr>
              <a:t>8-byte 16 physical granules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200" b="1" dirty="0">
                <a:solidFill>
                  <a:srgbClr val="000000"/>
                </a:solidFill>
                <a:latin typeface="NimbusSanL-Bold"/>
              </a:rPr>
              <a:t>GPT Contiguous descriptor: </a:t>
            </a:r>
            <a:r>
              <a:rPr lang="en-US" altLang="zh-CN" sz="1200" dirty="0">
                <a:solidFill>
                  <a:srgbClr val="000000"/>
                </a:solidFill>
                <a:latin typeface="NimbusSanL-Bold"/>
              </a:rPr>
              <a:t>an entry has a contiguous block</a:t>
            </a:r>
            <a:br>
              <a:rPr lang="en-US" altLang="zh-CN" sz="1200" dirty="0">
                <a:solidFill>
                  <a:srgbClr val="000000"/>
                </a:solidFill>
                <a:latin typeface="NimbusRomNo9L-Regu"/>
              </a:rPr>
            </a:br>
            <a:br>
              <a:rPr lang="en-US" altLang="zh-CN" sz="1200" dirty="0">
                <a:solidFill>
                  <a:srgbClr val="000000"/>
                </a:solidFill>
                <a:latin typeface="NimbusRomNo9L-Regu"/>
              </a:rPr>
            </a:br>
            <a:endParaRPr lang="zh-CN" altLang="en-US" sz="1200" dirty="0">
              <a:solidFill>
                <a:srgbClr val="000000"/>
              </a:solidFill>
              <a:latin typeface="NimbusRomNo9L-Regu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DEE1F2A1-EE76-BF89-4BDA-02A025213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035401"/>
            <a:ext cx="2399633" cy="1275779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F68E2A65-D42D-6E41-228F-3F324BF84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776" y="4648942"/>
            <a:ext cx="816040" cy="84130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2DCCF0AD-74EA-7507-3ED0-FB5BE6361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4648942"/>
            <a:ext cx="1486260" cy="924355"/>
          </a:xfrm>
          <a:prstGeom prst="rect">
            <a:avLst/>
          </a:prstGeom>
        </p:spPr>
      </p:pic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CFB6AFC-4D9F-8D8C-4857-A0D357E753A2}"/>
              </a:ext>
            </a:extLst>
          </p:cNvPr>
          <p:cNvCxnSpPr>
            <a:cxnSpLocks/>
          </p:cNvCxnSpPr>
          <p:nvPr/>
        </p:nvCxnSpPr>
        <p:spPr>
          <a:xfrm flipV="1">
            <a:off x="3330638" y="2785492"/>
            <a:ext cx="699207" cy="9481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A6C2CA8-4007-1EE2-F60E-8623EF633BA8}"/>
              </a:ext>
            </a:extLst>
          </p:cNvPr>
          <p:cNvCxnSpPr>
            <a:cxnSpLocks/>
          </p:cNvCxnSpPr>
          <p:nvPr/>
        </p:nvCxnSpPr>
        <p:spPr>
          <a:xfrm>
            <a:off x="3330638" y="4007422"/>
            <a:ext cx="702688" cy="6315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0B8D75F-C5AA-C7DD-41F0-DC29F8E29C14}"/>
              </a:ext>
            </a:extLst>
          </p:cNvPr>
          <p:cNvSpPr txBox="1"/>
          <p:nvPr/>
        </p:nvSpPr>
        <p:spPr>
          <a:xfrm>
            <a:off x="16363" y="3163140"/>
            <a:ext cx="9129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NimbusRomNo9L-Regu"/>
              </a:rPr>
              <a:t>GPCCR_EL3</a:t>
            </a:r>
            <a:r>
              <a:rPr lang="en-US" altLang="zh-CN" sz="1200" dirty="0"/>
              <a:t> </a:t>
            </a:r>
            <a:endParaRPr lang="zh-CN" altLang="en-US" sz="16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373144F4-3EAC-B91E-84ED-C53D162CCD08}"/>
              </a:ext>
            </a:extLst>
          </p:cNvPr>
          <p:cNvCxnSpPr>
            <a:cxnSpLocks/>
          </p:cNvCxnSpPr>
          <p:nvPr/>
        </p:nvCxnSpPr>
        <p:spPr>
          <a:xfrm>
            <a:off x="827584" y="3301640"/>
            <a:ext cx="277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361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FAC1-F672-F54C-8289-D806E1F3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可信软件固件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26A6C-49AB-084B-BE01-D2CF5BF9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83BB35-8741-7440-ADBE-B4115DF400F5}"/>
              </a:ext>
            </a:extLst>
          </p:cNvPr>
          <p:cNvSpPr/>
          <p:nvPr/>
        </p:nvSpPr>
        <p:spPr>
          <a:xfrm>
            <a:off x="1223628" y="4727789"/>
            <a:ext cx="6768752" cy="304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Secure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66C175-BE1C-8E4B-BA1C-B9052A7F2FEB}"/>
              </a:ext>
            </a:extLst>
          </p:cNvPr>
          <p:cNvSpPr/>
          <p:nvPr/>
        </p:nvSpPr>
        <p:spPr>
          <a:xfrm>
            <a:off x="1295636" y="3159853"/>
            <a:ext cx="2664296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8018AF1-EDB6-704C-AA08-A430C2601DEB}"/>
              </a:ext>
            </a:extLst>
          </p:cNvPr>
          <p:cNvGrpSpPr/>
          <p:nvPr/>
        </p:nvGrpSpPr>
        <p:grpSpPr>
          <a:xfrm>
            <a:off x="1403648" y="3519893"/>
            <a:ext cx="1152128" cy="360040"/>
            <a:chOff x="1368795" y="3577581"/>
            <a:chExt cx="1092948" cy="280714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1CD0B0C1-D8A4-C54A-B2A1-D6011D70274B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13D4E8-D065-F84B-9E5C-C1BA691402EF}"/>
                </a:ext>
              </a:extLst>
            </p:cNvPr>
            <p:cNvSpPr txBox="1"/>
            <p:nvPr/>
          </p:nvSpPr>
          <p:spPr>
            <a:xfrm>
              <a:off x="1368795" y="3621698"/>
              <a:ext cx="1092948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Isolation</a:t>
              </a:r>
              <a:endParaRPr kumimoji="1" lang="zh-CN" altLang="en-US" sz="1100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DC53064-DEB5-C44E-81AF-3096AFFA82CF}"/>
              </a:ext>
            </a:extLst>
          </p:cNvPr>
          <p:cNvGrpSpPr/>
          <p:nvPr/>
        </p:nvGrpSpPr>
        <p:grpSpPr>
          <a:xfrm>
            <a:off x="2735796" y="3519893"/>
            <a:ext cx="1080120" cy="360040"/>
            <a:chOff x="1402950" y="3577581"/>
            <a:chExt cx="1024639" cy="280714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EB964F9C-D09D-0742-AD80-071651DA9BDD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67D105-067E-F542-A004-FE9F7B5CAFB2}"/>
                </a:ext>
              </a:extLst>
            </p:cNvPr>
            <p:cNvSpPr txBox="1"/>
            <p:nvPr/>
          </p:nvSpPr>
          <p:spPr>
            <a:xfrm>
              <a:off x="1402950" y="3618952"/>
              <a:ext cx="1024639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Realm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 err="1"/>
                <a:t>mngt</a:t>
              </a:r>
              <a:r>
                <a:rPr kumimoji="1" lang="en-US" altLang="zh-CN" sz="1100" dirty="0"/>
                <a:t>.</a:t>
              </a:r>
              <a:endParaRPr kumimoji="1" lang="zh-CN" altLang="en-US" sz="1100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98A2919-24DE-9B4C-B856-94C0585BCEC4}"/>
              </a:ext>
            </a:extLst>
          </p:cNvPr>
          <p:cNvGrpSpPr/>
          <p:nvPr/>
        </p:nvGrpSpPr>
        <p:grpSpPr>
          <a:xfrm>
            <a:off x="1439652" y="3994977"/>
            <a:ext cx="1080120" cy="360040"/>
            <a:chOff x="1402950" y="3577581"/>
            <a:chExt cx="1024639" cy="280714"/>
          </a:xfrm>
        </p:grpSpPr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BCC07437-4917-9040-8323-E89EC0A4CC73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B01A188-880C-DF40-8148-0082D90678DB}"/>
                </a:ext>
              </a:extLst>
            </p:cNvPr>
            <p:cNvSpPr txBox="1"/>
            <p:nvPr/>
          </p:nvSpPr>
          <p:spPr>
            <a:xfrm>
              <a:off x="1402950" y="3618952"/>
              <a:ext cx="1024639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Attestation</a:t>
              </a:r>
              <a:endParaRPr kumimoji="1" lang="zh-CN" altLang="en-US" sz="11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3DD2732-F188-3B49-A622-6D40296C4CE0}"/>
              </a:ext>
            </a:extLst>
          </p:cNvPr>
          <p:cNvGrpSpPr/>
          <p:nvPr/>
        </p:nvGrpSpPr>
        <p:grpSpPr>
          <a:xfrm>
            <a:off x="2735796" y="4005167"/>
            <a:ext cx="1080120" cy="360040"/>
            <a:chOff x="1402950" y="3577581"/>
            <a:chExt cx="1024639" cy="280714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9754D5AA-B38F-5D43-A30D-6B561835E62C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F4CB663-2BC3-E240-B44A-ADF17A683925}"/>
                </a:ext>
              </a:extLst>
            </p:cNvPr>
            <p:cNvSpPr txBox="1"/>
            <p:nvPr/>
          </p:nvSpPr>
          <p:spPr>
            <a:xfrm>
              <a:off x="1512604" y="3614933"/>
              <a:ext cx="751402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Crypto</a:t>
              </a:r>
              <a:endParaRPr kumimoji="1" lang="zh-CN" altLang="en-US" sz="1100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3AEB4476-58C4-4F4A-8FDF-09CAF3107BA2}"/>
              </a:ext>
            </a:extLst>
          </p:cNvPr>
          <p:cNvSpPr txBox="1"/>
          <p:nvPr/>
        </p:nvSpPr>
        <p:spPr>
          <a:xfrm>
            <a:off x="1296048" y="3180776"/>
            <a:ext cx="719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/>
              <a:t>RMM</a:t>
            </a:r>
            <a:endParaRPr kumimoji="1" lang="zh-CN" altLang="en-US" sz="11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AB1416-5013-C345-BC34-D043D4CFEFE8}"/>
              </a:ext>
            </a:extLst>
          </p:cNvPr>
          <p:cNvSpPr/>
          <p:nvPr/>
        </p:nvSpPr>
        <p:spPr>
          <a:xfrm>
            <a:off x="1295636" y="1913191"/>
            <a:ext cx="576064" cy="403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6D4142-FE90-0C4F-805C-F9288BCB375A}"/>
              </a:ext>
            </a:extLst>
          </p:cNvPr>
          <p:cNvSpPr txBox="1"/>
          <p:nvPr/>
        </p:nvSpPr>
        <p:spPr>
          <a:xfrm>
            <a:off x="1312727" y="1960840"/>
            <a:ext cx="543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/>
              <a:t>Realm</a:t>
            </a:r>
          </a:p>
          <a:p>
            <a:pPr algn="ctr"/>
            <a:r>
              <a:rPr kumimoji="1" lang="en-US" altLang="zh-CN" sz="900" dirty="0"/>
              <a:t>App</a:t>
            </a:r>
            <a:endParaRPr kumimoji="1" lang="zh-CN" altLang="en-US" sz="9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AF6C05-3A0F-3C4E-A43E-3CCB389B806B}"/>
              </a:ext>
            </a:extLst>
          </p:cNvPr>
          <p:cNvSpPr/>
          <p:nvPr/>
        </p:nvSpPr>
        <p:spPr>
          <a:xfrm>
            <a:off x="2087724" y="1915095"/>
            <a:ext cx="936104" cy="403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FFF9575-7C2D-B545-9196-FDD50A0A17EA}"/>
              </a:ext>
            </a:extLst>
          </p:cNvPr>
          <p:cNvSpPr txBox="1"/>
          <p:nvPr/>
        </p:nvSpPr>
        <p:spPr>
          <a:xfrm>
            <a:off x="2137647" y="1955737"/>
            <a:ext cx="836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Service</a:t>
            </a:r>
            <a:endParaRPr kumimoji="1"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E618CF-104D-9C4F-8B9F-4F29A671188C}"/>
              </a:ext>
            </a:extLst>
          </p:cNvPr>
          <p:cNvSpPr/>
          <p:nvPr/>
        </p:nvSpPr>
        <p:spPr>
          <a:xfrm>
            <a:off x="2087724" y="2537933"/>
            <a:ext cx="936104" cy="403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EA0366F-A718-0347-BD27-14CD8B02F20F}"/>
              </a:ext>
            </a:extLst>
          </p:cNvPr>
          <p:cNvSpPr txBox="1"/>
          <p:nvPr/>
        </p:nvSpPr>
        <p:spPr>
          <a:xfrm>
            <a:off x="2131040" y="2523841"/>
            <a:ext cx="836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Realm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OS</a:t>
            </a:r>
            <a:endParaRPr kumimoji="1" lang="zh-CN" altLang="en-US" sz="12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F9540C6-54E3-8E48-BB07-FF8A086E2766}"/>
              </a:ext>
            </a:extLst>
          </p:cNvPr>
          <p:cNvGrpSpPr/>
          <p:nvPr/>
        </p:nvGrpSpPr>
        <p:grpSpPr>
          <a:xfrm>
            <a:off x="3197579" y="1913191"/>
            <a:ext cx="762353" cy="1025914"/>
            <a:chOff x="1979712" y="1403004"/>
            <a:chExt cx="576064" cy="403076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B508F90-670B-B94B-B659-2684BCB3FC2F}"/>
                </a:ext>
              </a:extLst>
            </p:cNvPr>
            <p:cNvSpPr/>
            <p:nvPr/>
          </p:nvSpPr>
          <p:spPr>
            <a:xfrm>
              <a:off x="1979712" y="1403004"/>
              <a:ext cx="576064" cy="403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09DA870-EA58-5A43-A54F-2B6047256F90}"/>
                </a:ext>
              </a:extLst>
            </p:cNvPr>
            <p:cNvSpPr txBox="1"/>
            <p:nvPr/>
          </p:nvSpPr>
          <p:spPr>
            <a:xfrm>
              <a:off x="2005216" y="1517011"/>
              <a:ext cx="545361" cy="205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Realm</a:t>
              </a:r>
            </a:p>
            <a:p>
              <a:pPr algn="ctr"/>
              <a:r>
                <a:rPr kumimoji="1" lang="en-US" altLang="zh-CN" sz="1400" dirty="0"/>
                <a:t>VM</a:t>
              </a:r>
              <a:endParaRPr kumimoji="1" lang="zh-CN" altLang="en-US" sz="1400" dirty="0"/>
            </a:p>
          </p:txBody>
        </p:sp>
      </p:grp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75222B14-431D-2042-8E86-87624B450859}"/>
              </a:ext>
            </a:extLst>
          </p:cNvPr>
          <p:cNvCxnSpPr/>
          <p:nvPr/>
        </p:nvCxnSpPr>
        <p:spPr>
          <a:xfrm>
            <a:off x="1980012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248F8530-C231-5E45-B8CD-792892EB3054}"/>
              </a:ext>
            </a:extLst>
          </p:cNvPr>
          <p:cNvCxnSpPr/>
          <p:nvPr/>
        </p:nvCxnSpPr>
        <p:spPr>
          <a:xfrm>
            <a:off x="3114012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4A902EA1-D6D0-2D45-B9F0-456C944786A4}"/>
              </a:ext>
            </a:extLst>
          </p:cNvPr>
          <p:cNvCxnSpPr>
            <a:cxnSpLocks/>
          </p:cNvCxnSpPr>
          <p:nvPr/>
        </p:nvCxnSpPr>
        <p:spPr>
          <a:xfrm>
            <a:off x="1295636" y="3030734"/>
            <a:ext cx="2664296" cy="4307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90296E23-3817-FB46-A6CB-13157E45C7E6}"/>
              </a:ext>
            </a:extLst>
          </p:cNvPr>
          <p:cNvSpPr/>
          <p:nvPr/>
        </p:nvSpPr>
        <p:spPr>
          <a:xfrm>
            <a:off x="4156696" y="3898951"/>
            <a:ext cx="1560382" cy="5570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815FD3F-88FF-064C-88B9-978C9EF0EB8D}"/>
              </a:ext>
            </a:extLst>
          </p:cNvPr>
          <p:cNvSpPr txBox="1"/>
          <p:nvPr/>
        </p:nvSpPr>
        <p:spPr>
          <a:xfrm>
            <a:off x="4424275" y="4046681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Hypervisor</a:t>
            </a:r>
            <a:endParaRPr kumimoji="1" lang="zh-CN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1C8EEDA-7CC3-C34A-928B-90C8FB42E21D}"/>
              </a:ext>
            </a:extLst>
          </p:cNvPr>
          <p:cNvSpPr/>
          <p:nvPr/>
        </p:nvSpPr>
        <p:spPr>
          <a:xfrm>
            <a:off x="5093931" y="1913192"/>
            <a:ext cx="618300" cy="10259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B237482-63C8-E346-9306-F18D43AA0711}"/>
              </a:ext>
            </a:extLst>
          </p:cNvPr>
          <p:cNvSpPr txBox="1"/>
          <p:nvPr/>
        </p:nvSpPr>
        <p:spPr>
          <a:xfrm>
            <a:off x="5176096" y="2344042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VM</a:t>
            </a:r>
            <a:endParaRPr kumimoji="1" lang="zh-CN" altLang="en-US" dirty="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05A3F7E-2733-7C4F-96A2-D6BFA9BDA5D2}"/>
              </a:ext>
            </a:extLst>
          </p:cNvPr>
          <p:cNvGrpSpPr/>
          <p:nvPr/>
        </p:nvGrpSpPr>
        <p:grpSpPr>
          <a:xfrm>
            <a:off x="4195131" y="1913190"/>
            <a:ext cx="725760" cy="403076"/>
            <a:chOff x="1979712" y="1403004"/>
            <a:chExt cx="576064" cy="40307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3960B51-1ED5-3243-9245-61ABF2503131}"/>
                </a:ext>
              </a:extLst>
            </p:cNvPr>
            <p:cNvSpPr/>
            <p:nvPr/>
          </p:nvSpPr>
          <p:spPr>
            <a:xfrm>
              <a:off x="1979712" y="1403004"/>
              <a:ext cx="576064" cy="403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57BF16F-E184-2D4B-9AF1-15464427EEC6}"/>
                </a:ext>
              </a:extLst>
            </p:cNvPr>
            <p:cNvSpPr txBox="1"/>
            <p:nvPr/>
          </p:nvSpPr>
          <p:spPr>
            <a:xfrm>
              <a:off x="2035520" y="1450653"/>
              <a:ext cx="437803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App</a:t>
              </a:r>
              <a:endParaRPr kumimoji="1" lang="zh-CN" altLang="en-US" sz="1400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311BD8C-38B5-AD49-A0EC-80B05F672F73}"/>
              </a:ext>
            </a:extLst>
          </p:cNvPr>
          <p:cNvGrpSpPr/>
          <p:nvPr/>
        </p:nvGrpSpPr>
        <p:grpSpPr>
          <a:xfrm>
            <a:off x="4183543" y="2645629"/>
            <a:ext cx="748937" cy="293476"/>
            <a:chOff x="1997945" y="1303759"/>
            <a:chExt cx="576064" cy="46529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E0EAAE11-786D-2345-B854-A8E12DF39DE2}"/>
                </a:ext>
              </a:extLst>
            </p:cNvPr>
            <p:cNvSpPr/>
            <p:nvPr/>
          </p:nvSpPr>
          <p:spPr>
            <a:xfrm>
              <a:off x="1997945" y="1313573"/>
              <a:ext cx="576064" cy="4554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EF39514-F437-E545-995D-3AB3087256D9}"/>
                </a:ext>
              </a:extLst>
            </p:cNvPr>
            <p:cNvSpPr txBox="1"/>
            <p:nvPr/>
          </p:nvSpPr>
          <p:spPr>
            <a:xfrm>
              <a:off x="2030383" y="1303759"/>
              <a:ext cx="514659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OS</a:t>
              </a:r>
              <a:endParaRPr kumimoji="1" lang="zh-CN" altLang="en-US" sz="1400" dirty="0"/>
            </a:p>
          </p:txBody>
        </p:sp>
      </p:grp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A688E015-7D6F-014A-BCF6-E98D93D1302F}"/>
              </a:ext>
            </a:extLst>
          </p:cNvPr>
          <p:cNvCxnSpPr>
            <a:cxnSpLocks/>
          </p:cNvCxnSpPr>
          <p:nvPr/>
        </p:nvCxnSpPr>
        <p:spPr>
          <a:xfrm>
            <a:off x="4183543" y="3030734"/>
            <a:ext cx="1528688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F8FF9280-A398-D948-93CF-ACF5094E2FF0}"/>
              </a:ext>
            </a:extLst>
          </p:cNvPr>
          <p:cNvCxnSpPr/>
          <p:nvPr/>
        </p:nvCxnSpPr>
        <p:spPr>
          <a:xfrm>
            <a:off x="5004028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21E33BB0-C5B3-9B46-BF9B-BEDB9D3212E7}"/>
              </a:ext>
            </a:extLst>
          </p:cNvPr>
          <p:cNvSpPr/>
          <p:nvPr/>
        </p:nvSpPr>
        <p:spPr>
          <a:xfrm>
            <a:off x="6107662" y="3879933"/>
            <a:ext cx="1560382" cy="5570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46594FA-7964-6E4D-B54C-B7064459DC35}"/>
              </a:ext>
            </a:extLst>
          </p:cNvPr>
          <p:cNvSpPr txBox="1"/>
          <p:nvPr/>
        </p:nvSpPr>
        <p:spPr>
          <a:xfrm>
            <a:off x="6276025" y="3945563"/>
            <a:ext cx="1223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/>
              <a:t>Secure</a:t>
            </a:r>
            <a:r>
              <a:rPr kumimoji="1" lang="zh-CN" altLang="en-US" sz="1100" dirty="0"/>
              <a:t> </a:t>
            </a:r>
            <a:r>
              <a:rPr kumimoji="1" lang="en-US" altLang="zh-CN" sz="1100" dirty="0"/>
              <a:t>Platform</a:t>
            </a:r>
            <a:r>
              <a:rPr kumimoji="1" lang="zh-CN" altLang="en-US" sz="1100" dirty="0"/>
              <a:t> </a:t>
            </a:r>
            <a:r>
              <a:rPr kumimoji="1" lang="en-US" altLang="zh-CN" sz="1100" dirty="0"/>
              <a:t>Manager</a:t>
            </a:r>
            <a:endParaRPr kumimoji="1" lang="zh-CN" altLang="en-US" sz="1100" dirty="0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BD92E17-49CD-1549-BA39-3953638DA265}"/>
              </a:ext>
            </a:extLst>
          </p:cNvPr>
          <p:cNvGrpSpPr/>
          <p:nvPr/>
        </p:nvGrpSpPr>
        <p:grpSpPr>
          <a:xfrm>
            <a:off x="6118395" y="1894172"/>
            <a:ext cx="653789" cy="433128"/>
            <a:chOff x="1957725" y="1403004"/>
            <a:chExt cx="518938" cy="43312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F9369B7-CE3D-B049-ACAC-5BBBA103B0A4}"/>
                </a:ext>
              </a:extLst>
            </p:cNvPr>
            <p:cNvSpPr/>
            <p:nvPr/>
          </p:nvSpPr>
          <p:spPr>
            <a:xfrm>
              <a:off x="1979712" y="1403004"/>
              <a:ext cx="496951" cy="4030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55E942E4-EA98-524F-B401-FDA9C344FB1D}"/>
                </a:ext>
              </a:extLst>
            </p:cNvPr>
            <p:cNvSpPr txBox="1"/>
            <p:nvPr/>
          </p:nvSpPr>
          <p:spPr>
            <a:xfrm>
              <a:off x="1957725" y="1436022"/>
              <a:ext cx="500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/>
                <a:t>Trusted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App</a:t>
              </a:r>
              <a:endParaRPr kumimoji="1" lang="zh-CN" altLang="en-US" sz="1000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7AC3CBCA-748A-6444-B439-DD5EF928F81E}"/>
              </a:ext>
            </a:extLst>
          </p:cNvPr>
          <p:cNvGrpSpPr/>
          <p:nvPr/>
        </p:nvGrpSpPr>
        <p:grpSpPr>
          <a:xfrm>
            <a:off x="6103081" y="2633779"/>
            <a:ext cx="669105" cy="287286"/>
            <a:chOff x="1973771" y="1315122"/>
            <a:chExt cx="514659" cy="455482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B6E3597F-76C7-CA42-8D64-77C6BBFE0ABA}"/>
                </a:ext>
              </a:extLst>
            </p:cNvPr>
            <p:cNvSpPr/>
            <p:nvPr/>
          </p:nvSpPr>
          <p:spPr>
            <a:xfrm>
              <a:off x="2000492" y="1315122"/>
              <a:ext cx="475582" cy="4554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43440B45-6543-6B4C-852B-78E1C8FB430A}"/>
                </a:ext>
              </a:extLst>
            </p:cNvPr>
            <p:cNvSpPr txBox="1"/>
            <p:nvPr/>
          </p:nvSpPr>
          <p:spPr>
            <a:xfrm>
              <a:off x="1973771" y="1355830"/>
              <a:ext cx="514659" cy="41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TEEOS</a:t>
              </a:r>
              <a:endParaRPr kumimoji="1" lang="zh-CN" altLang="en-US" sz="1100" dirty="0"/>
            </a:p>
          </p:txBody>
        </p:sp>
      </p:grp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81F0A6F5-B941-BA42-A66B-0F8C4BEB4757}"/>
              </a:ext>
            </a:extLst>
          </p:cNvPr>
          <p:cNvCxnSpPr>
            <a:cxnSpLocks/>
          </p:cNvCxnSpPr>
          <p:nvPr/>
        </p:nvCxnSpPr>
        <p:spPr>
          <a:xfrm>
            <a:off x="6134509" y="3011716"/>
            <a:ext cx="1528688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D2A4796A-2702-7E4C-945F-F3DD1ACC5422}"/>
              </a:ext>
            </a:extLst>
          </p:cNvPr>
          <p:cNvCxnSpPr/>
          <p:nvPr/>
        </p:nvCxnSpPr>
        <p:spPr>
          <a:xfrm>
            <a:off x="6876496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2B3E5B3-819F-5844-BC3F-4F5E06877147}"/>
              </a:ext>
            </a:extLst>
          </p:cNvPr>
          <p:cNvGrpSpPr/>
          <p:nvPr/>
        </p:nvGrpSpPr>
        <p:grpSpPr>
          <a:xfrm>
            <a:off x="6980807" y="1894172"/>
            <a:ext cx="653789" cy="433128"/>
            <a:chOff x="1957725" y="1403004"/>
            <a:chExt cx="518938" cy="433128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9871214E-0808-0141-B16F-DD581DE0A6E9}"/>
                </a:ext>
              </a:extLst>
            </p:cNvPr>
            <p:cNvSpPr/>
            <p:nvPr/>
          </p:nvSpPr>
          <p:spPr>
            <a:xfrm>
              <a:off x="1979712" y="1403004"/>
              <a:ext cx="496951" cy="4030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A690226F-379E-0F4B-8466-F39F7190393C}"/>
                </a:ext>
              </a:extLst>
            </p:cNvPr>
            <p:cNvSpPr txBox="1"/>
            <p:nvPr/>
          </p:nvSpPr>
          <p:spPr>
            <a:xfrm>
              <a:off x="1957725" y="1436022"/>
              <a:ext cx="500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/>
                <a:t>Trusted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App</a:t>
              </a:r>
              <a:endParaRPr kumimoji="1" lang="zh-CN" altLang="en-US" sz="10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1FA5DDC5-4E38-E44F-BCF8-EB275C49141E}"/>
              </a:ext>
            </a:extLst>
          </p:cNvPr>
          <p:cNvGrpSpPr/>
          <p:nvPr/>
        </p:nvGrpSpPr>
        <p:grpSpPr>
          <a:xfrm>
            <a:off x="6965493" y="2633779"/>
            <a:ext cx="669105" cy="287286"/>
            <a:chOff x="1973771" y="1315122"/>
            <a:chExt cx="514659" cy="455482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00D2D9C-D60E-DF44-A8EE-1729FD89FF77}"/>
                </a:ext>
              </a:extLst>
            </p:cNvPr>
            <p:cNvSpPr/>
            <p:nvPr/>
          </p:nvSpPr>
          <p:spPr>
            <a:xfrm>
              <a:off x="2000492" y="1315122"/>
              <a:ext cx="475582" cy="4554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EF1E0403-8D49-8D47-BF4F-4282970487C4}"/>
                </a:ext>
              </a:extLst>
            </p:cNvPr>
            <p:cNvSpPr txBox="1"/>
            <p:nvPr/>
          </p:nvSpPr>
          <p:spPr>
            <a:xfrm>
              <a:off x="1973771" y="1355830"/>
              <a:ext cx="514659" cy="41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TEEOS</a:t>
              </a:r>
              <a:endParaRPr kumimoji="1" lang="zh-CN" altLang="en-US" sz="1100" dirty="0"/>
            </a:p>
          </p:txBody>
        </p:sp>
      </p:grp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89E6DC05-1922-6A4F-8437-1AC03955265D}"/>
              </a:ext>
            </a:extLst>
          </p:cNvPr>
          <p:cNvCxnSpPr>
            <a:cxnSpLocks/>
          </p:cNvCxnSpPr>
          <p:nvPr/>
        </p:nvCxnSpPr>
        <p:spPr>
          <a:xfrm>
            <a:off x="4068028" y="1891641"/>
            <a:ext cx="0" cy="2692132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42F7E93C-3FCE-D840-8E79-035E8CA4AC60}"/>
              </a:ext>
            </a:extLst>
          </p:cNvPr>
          <p:cNvCxnSpPr>
            <a:cxnSpLocks/>
          </p:cNvCxnSpPr>
          <p:nvPr/>
        </p:nvCxnSpPr>
        <p:spPr>
          <a:xfrm>
            <a:off x="5904148" y="1891640"/>
            <a:ext cx="0" cy="2692133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CCBBB7FE-82AE-1643-9F66-A98DE6E189C2}"/>
              </a:ext>
            </a:extLst>
          </p:cNvPr>
          <p:cNvCxnSpPr>
            <a:cxnSpLocks/>
          </p:cNvCxnSpPr>
          <p:nvPr/>
        </p:nvCxnSpPr>
        <p:spPr>
          <a:xfrm>
            <a:off x="1295636" y="4583773"/>
            <a:ext cx="4608512" cy="14092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078BBE76-693E-314F-81C5-8092CEA76C38}"/>
              </a:ext>
            </a:extLst>
          </p:cNvPr>
          <p:cNvSpPr txBox="1"/>
          <p:nvPr/>
        </p:nvSpPr>
        <p:spPr>
          <a:xfrm>
            <a:off x="1212265" y="1463973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Realm</a:t>
            </a:r>
            <a:endParaRPr kumimoji="1"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1E46428-B8B6-2543-B801-B40ECBA19690}"/>
              </a:ext>
            </a:extLst>
          </p:cNvPr>
          <p:cNvSpPr txBox="1"/>
          <p:nvPr/>
        </p:nvSpPr>
        <p:spPr>
          <a:xfrm>
            <a:off x="4110727" y="1463973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Non-secure</a:t>
            </a:r>
            <a:endParaRPr kumimoji="1"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569AB61-CD74-5D48-9B94-9FBDF1844BD4}"/>
              </a:ext>
            </a:extLst>
          </p:cNvPr>
          <p:cNvSpPr txBox="1"/>
          <p:nvPr/>
        </p:nvSpPr>
        <p:spPr>
          <a:xfrm>
            <a:off x="6031959" y="1463973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Secure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93789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9AE2-5BBC-6B5A-5CD2-6F5D3846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RMM</a:t>
            </a:r>
            <a:r>
              <a:rPr lang="zh-CN" altLang="en-US" dirty="0"/>
              <a:t>接口：</a:t>
            </a:r>
            <a:r>
              <a:rPr lang="en-US" altLang="zh-CN" dirty="0"/>
              <a:t>RMI</a:t>
            </a:r>
            <a:r>
              <a:rPr lang="zh-CN" altLang="en-US" dirty="0"/>
              <a:t>和</a:t>
            </a:r>
            <a:r>
              <a:rPr lang="en-US" altLang="zh-CN" dirty="0"/>
              <a:t>RSI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590D7-54C8-14BF-A4DA-E4115BC2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328A5-6462-D2DB-B2AF-9AC92C3D8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A4460A-FE0B-2E47-CF62-D789D5E8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1443"/>
            <a:ext cx="7772400" cy="3752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E27FC6-CFE4-3CC0-7C63-E1D6CB65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417311"/>
            <a:ext cx="1838896" cy="88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8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远程验证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507288" cy="41526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验证报告的控制流</a:t>
            </a:r>
            <a:endParaRPr lang="en-US" altLang="zh-CN" sz="1800" dirty="0"/>
          </a:p>
          <a:p>
            <a:pPr lvl="1"/>
            <a:r>
              <a:rPr lang="en-US" altLang="zh-CN" sz="1600" dirty="0"/>
              <a:t>Monitor</a:t>
            </a:r>
            <a:r>
              <a:rPr lang="zh-CN" altLang="en-US" sz="1600" dirty="0"/>
              <a:t>获得</a:t>
            </a:r>
            <a:r>
              <a:rPr lang="en-US" altLang="zh-CN" sz="1600" dirty="0"/>
              <a:t>CCA</a:t>
            </a:r>
            <a:r>
              <a:rPr lang="zh-CN" altLang="en-US" sz="1600" dirty="0"/>
              <a:t>平台报告，并返回给</a:t>
            </a:r>
            <a:r>
              <a:rPr lang="en-US" altLang="zh-CN" sz="1600" dirty="0"/>
              <a:t>RMM</a:t>
            </a:r>
          </a:p>
          <a:p>
            <a:pPr lvl="1"/>
            <a:r>
              <a:rPr lang="en-US" altLang="zh-CN" sz="1600" dirty="0"/>
              <a:t>RMM</a:t>
            </a:r>
            <a:r>
              <a:rPr lang="zh-CN" altLang="en-US" sz="1600" dirty="0"/>
              <a:t>将</a:t>
            </a:r>
            <a:r>
              <a:rPr lang="en-US" altLang="zh-CN" sz="1600" dirty="0"/>
              <a:t>Realm</a:t>
            </a:r>
            <a:r>
              <a:rPr lang="zh-CN" altLang="en-US" sz="1600" dirty="0"/>
              <a:t>的度量信息添加到报告中，并返回给</a:t>
            </a:r>
            <a:r>
              <a:rPr lang="en-US" altLang="zh-CN" sz="1600" dirty="0"/>
              <a:t>Realm</a:t>
            </a:r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686B44-2EBD-9548-6042-50AFB0F2D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2" y="2641476"/>
            <a:ext cx="8219758" cy="20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15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A3A7078-2947-A24E-B9C1-3D06E1AC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其他机密虚拟化方案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81737A5-FDCC-284D-B0C7-6EB7B3597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45FD7-1C84-7645-BE3D-7B151973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0AAE6-A750-7D4E-8766-741E58EEE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34622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57D9-B518-27D3-7734-6A6ADFCF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 </a:t>
            </a:r>
            <a:r>
              <a:rPr lang="en-US" altLang="zh-CN" dirty="0"/>
              <a:t>SEL2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2226F-6C88-39E5-FEAA-FD2036A3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3931E-9F4D-C2F3-836D-4295693A2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4" name="内容占位符 6">
            <a:extLst>
              <a:ext uri="{FF2B5EF4-FFF2-40B4-BE49-F238E27FC236}">
                <a16:creationId xmlns:a16="http://schemas.microsoft.com/office/drawing/2014/main" id="{CED028E8-52AD-164B-B668-39B7A417A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ARM</a:t>
            </a:r>
            <a:r>
              <a:rPr lang="zh-CN" altLang="en-US" sz="1800" dirty="0"/>
              <a:t> </a:t>
            </a:r>
            <a:r>
              <a:rPr lang="en-US" altLang="zh-CN" sz="1800" dirty="0"/>
              <a:t>TrustZone</a:t>
            </a:r>
            <a:r>
              <a:rPr lang="zh-CN" altLang="en-US" sz="1800" dirty="0"/>
              <a:t> </a:t>
            </a:r>
            <a:r>
              <a:rPr lang="en-US" altLang="zh-CN" sz="1800" dirty="0"/>
              <a:t>&amp;</a:t>
            </a:r>
            <a:r>
              <a:rPr lang="zh-CN" altLang="en-US" sz="1800" dirty="0"/>
              <a:t> </a:t>
            </a:r>
            <a:r>
              <a:rPr lang="en-US" altLang="zh-CN" sz="1800" dirty="0"/>
              <a:t>Secure-EL2</a:t>
            </a:r>
            <a:r>
              <a:rPr lang="zh-CN" altLang="en-US" sz="1800" dirty="0"/>
              <a:t> </a:t>
            </a:r>
            <a:r>
              <a:rPr lang="en-US" altLang="zh-CN" sz="1800" dirty="0"/>
              <a:t>(S-EL2)</a:t>
            </a:r>
            <a:r>
              <a:rPr lang="zh-CN" altLang="en-US" sz="1800" dirty="0"/>
              <a:t>硬件扩展</a:t>
            </a:r>
            <a:endParaRPr lang="en-US" altLang="zh-CN" sz="1800" dirty="0"/>
          </a:p>
          <a:p>
            <a:pPr lvl="1"/>
            <a:r>
              <a:rPr lang="en-US" altLang="zh-CN" sz="1440" dirty="0"/>
              <a:t>TrustZone:</a:t>
            </a:r>
            <a:r>
              <a:rPr lang="zh-CN" altLang="en-US" sz="1440" dirty="0"/>
              <a:t> 与普通世界硬件隔离，被广泛应用于移动端</a:t>
            </a:r>
            <a:endParaRPr lang="en-US" altLang="zh-CN" sz="1440" dirty="0"/>
          </a:p>
          <a:p>
            <a:pPr lvl="1"/>
            <a:r>
              <a:rPr lang="zh-CN" altLang="en-US" sz="1440" dirty="0"/>
              <a:t>从</a:t>
            </a:r>
            <a:r>
              <a:rPr lang="en-US" altLang="zh-CN" sz="1440" dirty="0"/>
              <a:t>ARMv8.4</a:t>
            </a:r>
            <a:r>
              <a:rPr lang="zh-CN" altLang="en-US" sz="1440" dirty="0"/>
              <a:t>开始引入的</a:t>
            </a:r>
            <a:r>
              <a:rPr lang="en-US" altLang="zh-CN" sz="1440" dirty="0"/>
              <a:t>S-EL2</a:t>
            </a:r>
            <a:r>
              <a:rPr lang="zh-CN" altLang="en-US" sz="1440" dirty="0"/>
              <a:t>扩展在</a:t>
            </a:r>
            <a:r>
              <a:rPr lang="en-US" altLang="zh-CN" sz="1440" dirty="0" err="1"/>
              <a:t>TrustZone</a:t>
            </a:r>
            <a:r>
              <a:rPr lang="zh-CN" altLang="en-US" sz="1440" dirty="0"/>
              <a:t>中支持了硬件虚拟化</a:t>
            </a:r>
            <a:endParaRPr lang="en-US" altLang="zh-CN" sz="1440" dirty="0"/>
          </a:p>
          <a:p>
            <a:pPr lvl="2"/>
            <a:r>
              <a:rPr lang="en-US" altLang="zh-CN" sz="1440" dirty="0"/>
              <a:t>S-EL2</a:t>
            </a:r>
            <a:r>
              <a:rPr lang="zh-CN" altLang="en-US" sz="1440" dirty="0"/>
              <a:t>与普通世界的</a:t>
            </a:r>
            <a:r>
              <a:rPr lang="en-US" altLang="zh-CN" sz="1440" dirty="0"/>
              <a:t>EL2</a:t>
            </a:r>
            <a:r>
              <a:rPr lang="zh-CN" altLang="en-US" sz="1440" dirty="0"/>
              <a:t>功能相同</a:t>
            </a:r>
            <a:endParaRPr lang="en-US" altLang="zh-CN" sz="1260" dirty="0"/>
          </a:p>
          <a:p>
            <a:pPr marL="411472" lvl="1" indent="0">
              <a:buNone/>
            </a:pPr>
            <a:endParaRPr lang="en-US" altLang="zh-CN" sz="1440" dirty="0"/>
          </a:p>
          <a:p>
            <a:pPr lvl="1"/>
            <a:endParaRPr lang="en-US" altLang="zh-CN" sz="144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4EE0AB-AB5A-58FF-1CC3-5D685D337AC5}"/>
              </a:ext>
            </a:extLst>
          </p:cNvPr>
          <p:cNvSpPr txBox="1"/>
          <p:nvPr/>
        </p:nvSpPr>
        <p:spPr>
          <a:xfrm>
            <a:off x="1112725" y="4418757"/>
            <a:ext cx="2602789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0" dirty="0"/>
              <a:t>基于区域粒度的内存隔离</a:t>
            </a:r>
            <a:endParaRPr lang="en-US" altLang="zh-CN" sz="1260" dirty="0"/>
          </a:p>
          <a:p>
            <a:pPr marL="257170" indent="-257170">
              <a:buFontTx/>
              <a:buChar char="-"/>
            </a:pPr>
            <a:r>
              <a:rPr lang="zh-CN" altLang="en-US" sz="1260" dirty="0"/>
              <a:t>最多</a:t>
            </a:r>
            <a:r>
              <a:rPr lang="en-US" altLang="zh-CN" sz="1260" dirty="0"/>
              <a:t>8</a:t>
            </a:r>
            <a:r>
              <a:rPr lang="zh-CN" altLang="en-US" sz="1260" dirty="0"/>
              <a:t>个内存区域 </a:t>
            </a:r>
            <a:r>
              <a:rPr lang="en-US" altLang="zh-CN" sz="1260" dirty="0"/>
              <a:t>(TZC-400)</a:t>
            </a:r>
          </a:p>
          <a:p>
            <a:pPr marL="257170" indent="-257170">
              <a:buFontTx/>
              <a:buChar char="-"/>
            </a:pPr>
            <a:r>
              <a:rPr lang="zh-CN" altLang="en-US" sz="1260" dirty="0"/>
              <a:t>可在</a:t>
            </a:r>
            <a:r>
              <a:rPr lang="en-US" altLang="zh-CN" sz="1260" dirty="0"/>
              <a:t>EL3</a:t>
            </a:r>
            <a:r>
              <a:rPr lang="zh-CN" altLang="en-US" sz="1260" dirty="0"/>
              <a:t> </a:t>
            </a:r>
            <a:r>
              <a:rPr lang="en-US" altLang="zh-CN" sz="1260" dirty="0"/>
              <a:t>&amp;</a:t>
            </a:r>
            <a:r>
              <a:rPr lang="zh-CN" altLang="en-US" sz="1260" dirty="0"/>
              <a:t> </a:t>
            </a:r>
            <a:r>
              <a:rPr lang="en-US" altLang="zh-CN" sz="1260" dirty="0"/>
              <a:t>S-EL2</a:t>
            </a:r>
            <a:r>
              <a:rPr lang="zh-CN" altLang="en-US" sz="1260" dirty="0"/>
              <a:t>进行配置</a:t>
            </a:r>
            <a:endParaRPr lang="en-CN" altLang="zh-CN" sz="126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FA8AE57-20E2-41C9-3CB5-D94E1A95F536}"/>
              </a:ext>
            </a:extLst>
          </p:cNvPr>
          <p:cNvGrpSpPr/>
          <p:nvPr/>
        </p:nvGrpSpPr>
        <p:grpSpPr>
          <a:xfrm>
            <a:off x="3716883" y="2609237"/>
            <a:ext cx="4579468" cy="2440426"/>
            <a:chOff x="3467510" y="2556799"/>
            <a:chExt cx="5088298" cy="2711584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F3149654-D172-E401-F219-A52E60ADAC50}"/>
                </a:ext>
              </a:extLst>
            </p:cNvPr>
            <p:cNvSpPr/>
            <p:nvPr/>
          </p:nvSpPr>
          <p:spPr>
            <a:xfrm>
              <a:off x="5560388" y="4118778"/>
              <a:ext cx="939866" cy="311161"/>
            </a:xfrm>
            <a:prstGeom prst="roundRect">
              <a:avLst/>
            </a:prstGeom>
            <a:pattFill prst="lgCheck">
              <a:fgClr>
                <a:schemeClr val="accent6"/>
              </a:fgClr>
              <a:bgClr>
                <a:schemeClr val="bg1"/>
              </a:bgClr>
            </a:patt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BB0BD23-2E56-E38C-5A02-102FAE7B704A}"/>
                </a:ext>
              </a:extLst>
            </p:cNvPr>
            <p:cNvCxnSpPr>
              <a:cxnSpLocks/>
            </p:cNvCxnSpPr>
            <p:nvPr/>
          </p:nvCxnSpPr>
          <p:spPr>
            <a:xfrm>
              <a:off x="4030634" y="4480649"/>
              <a:ext cx="394310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DF7D8AB-660A-9B71-BAF3-DE564BA616A1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80" y="3012954"/>
              <a:ext cx="0" cy="139714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49FDED49-6365-86F6-3358-5295634DC405}"/>
                </a:ext>
              </a:extLst>
            </p:cNvPr>
            <p:cNvSpPr/>
            <p:nvPr/>
          </p:nvSpPr>
          <p:spPr>
            <a:xfrm>
              <a:off x="4806738" y="4567376"/>
              <a:ext cx="989398" cy="257746"/>
            </a:xfrm>
            <a:prstGeom prst="round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60" dirty="0">
                  <a:solidFill>
                    <a:schemeClr val="tx1"/>
                  </a:solidFill>
                </a:rPr>
                <a:t>F</a:t>
              </a:r>
              <a:r>
                <a:rPr lang="en-US" altLang="zh-CN" sz="1260" dirty="0">
                  <a:solidFill>
                    <a:schemeClr val="tx1"/>
                  </a:solidFill>
                </a:rPr>
                <a:t>irmware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861C80E4-2792-97FD-B9A9-079C2DC2EC5C}"/>
                </a:ext>
              </a:extLst>
            </p:cNvPr>
            <p:cNvSpPr/>
            <p:nvPr/>
          </p:nvSpPr>
          <p:spPr>
            <a:xfrm>
              <a:off x="6863742" y="4127337"/>
              <a:ext cx="1070684" cy="257746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Hypervisor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201C376C-2151-E701-F40E-B841679980B1}"/>
                </a:ext>
              </a:extLst>
            </p:cNvPr>
            <p:cNvSpPr/>
            <p:nvPr/>
          </p:nvSpPr>
          <p:spPr>
            <a:xfrm>
              <a:off x="7003927" y="3192093"/>
              <a:ext cx="792087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APPs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8CF338AC-2329-6CFA-19FF-4AC8C7B936D5}"/>
                </a:ext>
              </a:extLst>
            </p:cNvPr>
            <p:cNvSpPr/>
            <p:nvPr/>
          </p:nvSpPr>
          <p:spPr>
            <a:xfrm>
              <a:off x="7003041" y="3648300"/>
              <a:ext cx="792087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Kernel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03ABC0E-596A-3B20-13A9-57630245AB52}"/>
                </a:ext>
              </a:extLst>
            </p:cNvPr>
            <p:cNvCxnSpPr>
              <a:cxnSpLocks/>
            </p:cNvCxnSpPr>
            <p:nvPr/>
          </p:nvCxnSpPr>
          <p:spPr>
            <a:xfrm>
              <a:off x="7003041" y="3557870"/>
              <a:ext cx="79208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5A8F7A-CF39-9CB1-0453-45755F139C6B}"/>
                </a:ext>
              </a:extLst>
            </p:cNvPr>
            <p:cNvSpPr/>
            <p:nvPr/>
          </p:nvSpPr>
          <p:spPr>
            <a:xfrm>
              <a:off x="6936147" y="3104579"/>
              <a:ext cx="925874" cy="860517"/>
            </a:xfrm>
            <a:prstGeom prst="rect">
              <a:avLst/>
            </a:prstGeom>
            <a:noFill/>
            <a:ln w="25400">
              <a:solidFill>
                <a:srgbClr val="7EBE8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C7C7BB2-9DE5-499B-197A-0CCA1CFB700D}"/>
                </a:ext>
              </a:extLst>
            </p:cNvPr>
            <p:cNvSpPr txBox="1"/>
            <p:nvPr/>
          </p:nvSpPr>
          <p:spPr>
            <a:xfrm>
              <a:off x="7909446" y="3162797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S-EL0</a:t>
              </a:r>
              <a:endParaRPr lang="en-CN" sz="108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C311C3D-CB82-B44C-4E90-1182F36362DA}"/>
                </a:ext>
              </a:extLst>
            </p:cNvPr>
            <p:cNvSpPr txBox="1"/>
            <p:nvPr/>
          </p:nvSpPr>
          <p:spPr>
            <a:xfrm>
              <a:off x="7921375" y="3620418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S-EL1</a:t>
              </a:r>
              <a:endParaRPr lang="en-CN" sz="108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565ADA6-55CF-C377-04C2-E88A2B5BE318}"/>
                </a:ext>
              </a:extLst>
            </p:cNvPr>
            <p:cNvSpPr txBox="1"/>
            <p:nvPr/>
          </p:nvSpPr>
          <p:spPr>
            <a:xfrm>
              <a:off x="7909446" y="4109297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D94586F8-9F03-4B10-2785-32D29DCFA121}"/>
                </a:ext>
              </a:extLst>
            </p:cNvPr>
            <p:cNvSpPr/>
            <p:nvPr/>
          </p:nvSpPr>
          <p:spPr>
            <a:xfrm>
              <a:off x="4057822" y="4127338"/>
              <a:ext cx="1070684" cy="257746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Hypervisor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2E2E3B7B-CEA2-4AB5-830F-AB941A928328}"/>
                </a:ext>
              </a:extLst>
            </p:cNvPr>
            <p:cNvSpPr/>
            <p:nvPr/>
          </p:nvSpPr>
          <p:spPr>
            <a:xfrm>
              <a:off x="4198007" y="3192093"/>
              <a:ext cx="792087" cy="252014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bg1"/>
                  </a:solidFill>
                </a:rPr>
                <a:t>APPs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A466B6AA-4ACB-F966-86FC-480E53625D75}"/>
                </a:ext>
              </a:extLst>
            </p:cNvPr>
            <p:cNvSpPr/>
            <p:nvPr/>
          </p:nvSpPr>
          <p:spPr>
            <a:xfrm>
              <a:off x="4197121" y="3648300"/>
              <a:ext cx="792087" cy="252014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bg1"/>
                  </a:solidFill>
                </a:rPr>
                <a:t>Kernel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6C57DAA-EA19-980E-9B32-9C31F4123528}"/>
                </a:ext>
              </a:extLst>
            </p:cNvPr>
            <p:cNvCxnSpPr>
              <a:cxnSpLocks/>
            </p:cNvCxnSpPr>
            <p:nvPr/>
          </p:nvCxnSpPr>
          <p:spPr>
            <a:xfrm>
              <a:off x="4197121" y="3557870"/>
              <a:ext cx="79208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E8F0F9F-E983-F389-EB72-A05E69CC9093}"/>
                </a:ext>
              </a:extLst>
            </p:cNvPr>
            <p:cNvCxnSpPr>
              <a:cxnSpLocks/>
            </p:cNvCxnSpPr>
            <p:nvPr/>
          </p:nvCxnSpPr>
          <p:spPr>
            <a:xfrm>
              <a:off x="4030634" y="4049977"/>
              <a:ext cx="1139434" cy="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413C2EE-7F5C-77B8-68BD-3DBA8EEB74B0}"/>
                </a:ext>
              </a:extLst>
            </p:cNvPr>
            <p:cNvSpPr/>
            <p:nvPr/>
          </p:nvSpPr>
          <p:spPr>
            <a:xfrm>
              <a:off x="4130227" y="3104579"/>
              <a:ext cx="925874" cy="860517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4DE0823-A5BE-9F04-9758-D32151D1C0D6}"/>
                </a:ext>
              </a:extLst>
            </p:cNvPr>
            <p:cNvSpPr txBox="1"/>
            <p:nvPr/>
          </p:nvSpPr>
          <p:spPr>
            <a:xfrm>
              <a:off x="4168186" y="2560715"/>
              <a:ext cx="924754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60" dirty="0">
                  <a:solidFill>
                    <a:srgbClr val="EA154B"/>
                  </a:solidFill>
                  <a:latin typeface="American Typewriter" panose="02090604020004020304" pitchFamily="18" charset="77"/>
                </a:rPr>
                <a:t>普通</a:t>
              </a:r>
              <a:r>
                <a:rPr lang="zh-CN" altLang="en-US" sz="1260" dirty="0">
                  <a:solidFill>
                    <a:srgbClr val="EA154B"/>
                  </a:solidFill>
                  <a:latin typeface="American Typewriter" panose="02090604020004020304" pitchFamily="18" charset="77"/>
                </a:rPr>
                <a:t>世界</a:t>
              </a:r>
              <a:endParaRPr lang="en-CN" sz="1260" dirty="0">
                <a:solidFill>
                  <a:srgbClr val="EA154B"/>
                </a:solidFill>
                <a:latin typeface="American Typewriter" panose="02090604020004020304" pitchFamily="18" charset="7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7AAC14F-C53C-8E4A-9F42-8B29DE179C00}"/>
                </a:ext>
              </a:extLst>
            </p:cNvPr>
            <p:cNvSpPr txBox="1"/>
            <p:nvPr/>
          </p:nvSpPr>
          <p:spPr>
            <a:xfrm>
              <a:off x="6918022" y="2846661"/>
              <a:ext cx="940786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80" dirty="0"/>
                <a:t>支持</a:t>
              </a:r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9682DA9-9B51-6F41-3342-1E6191A505D6}"/>
                </a:ext>
              </a:extLst>
            </p:cNvPr>
            <p:cNvSpPr txBox="1"/>
            <p:nvPr/>
          </p:nvSpPr>
          <p:spPr>
            <a:xfrm>
              <a:off x="3475906" y="3170698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N-EL0</a:t>
              </a:r>
              <a:endParaRPr lang="en-CN" sz="108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2E963C4-3C05-05D8-77A3-9DD4FC8A7070}"/>
                </a:ext>
              </a:extLst>
            </p:cNvPr>
            <p:cNvSpPr txBox="1"/>
            <p:nvPr/>
          </p:nvSpPr>
          <p:spPr>
            <a:xfrm>
              <a:off x="3467510" y="3618097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N-EL1</a:t>
              </a:r>
              <a:endParaRPr lang="en-CN" sz="108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FEB0201-33F3-7001-1F5E-0193E321DE0D}"/>
                </a:ext>
              </a:extLst>
            </p:cNvPr>
            <p:cNvSpPr txBox="1"/>
            <p:nvPr/>
          </p:nvSpPr>
          <p:spPr>
            <a:xfrm>
              <a:off x="3477521" y="4109297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N-EL2</a:t>
              </a:r>
              <a:endParaRPr lang="en-CN" sz="1080" dirty="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B4DCC81-BD8A-96B1-4116-3661A496F6A5}"/>
                </a:ext>
              </a:extLst>
            </p:cNvPr>
            <p:cNvCxnSpPr>
              <a:cxnSpLocks/>
            </p:cNvCxnSpPr>
            <p:nvPr/>
          </p:nvCxnSpPr>
          <p:spPr>
            <a:xfrm>
              <a:off x="6834302" y="4046215"/>
              <a:ext cx="1139434" cy="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F926C5-5BAA-9090-818C-F9FA39A83E62}"/>
                </a:ext>
              </a:extLst>
            </p:cNvPr>
            <p:cNvSpPr txBox="1"/>
            <p:nvPr/>
          </p:nvSpPr>
          <p:spPr>
            <a:xfrm>
              <a:off x="8063335" y="4560982"/>
              <a:ext cx="479476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EL3</a:t>
              </a:r>
              <a:endParaRPr lang="en-CN" sz="1080" dirty="0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4986919-C40C-47C3-1567-B5750DE0AA6D}"/>
                </a:ext>
              </a:extLst>
            </p:cNvPr>
            <p:cNvCxnSpPr>
              <a:cxnSpLocks/>
            </p:cNvCxnSpPr>
            <p:nvPr/>
          </p:nvCxnSpPr>
          <p:spPr>
            <a:xfrm>
              <a:off x="4057822" y="4892952"/>
              <a:ext cx="389820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5BAF469F-8A50-6531-ABF9-182C1FF8BF5D}"/>
                </a:ext>
              </a:extLst>
            </p:cNvPr>
            <p:cNvCxnSpPr>
              <a:cxnSpLocks/>
              <a:stCxn id="61" idx="2"/>
              <a:endCxn id="60" idx="3"/>
            </p:cNvCxnSpPr>
            <p:nvPr/>
          </p:nvCxnSpPr>
          <p:spPr>
            <a:xfrm rot="5400000">
              <a:off x="6442027" y="3739192"/>
              <a:ext cx="311166" cy="1602948"/>
            </a:xfrm>
            <a:prstGeom prst="bentConnector2">
              <a:avLst/>
            </a:prstGeom>
            <a:ln w="25400">
              <a:solidFill>
                <a:schemeClr val="tx1"/>
              </a:solidFill>
              <a:headEnd w="sm" len="lg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CBF1097A-61B3-C954-0D4C-54B55148D1A3}"/>
                </a:ext>
              </a:extLst>
            </p:cNvPr>
            <p:cNvCxnSpPr>
              <a:cxnSpLocks/>
              <a:stCxn id="69" idx="2"/>
            </p:cNvCxnSpPr>
            <p:nvPr/>
          </p:nvCxnSpPr>
          <p:spPr>
            <a:xfrm rot="16200000" flipH="1">
              <a:off x="4523862" y="4454385"/>
              <a:ext cx="311165" cy="172561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B67BCF6-A20B-57AE-BA4F-28050075787E}"/>
                </a:ext>
              </a:extLst>
            </p:cNvPr>
            <p:cNvSpPr txBox="1"/>
            <p:nvPr/>
          </p:nvSpPr>
          <p:spPr>
            <a:xfrm>
              <a:off x="7362785" y="4534432"/>
              <a:ext cx="547159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SMC</a:t>
              </a:r>
              <a:endParaRPr lang="en-CN" sz="108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948DC5A-9141-0172-964E-8776082F24F0}"/>
                </a:ext>
              </a:extLst>
            </p:cNvPr>
            <p:cNvSpPr txBox="1"/>
            <p:nvPr/>
          </p:nvSpPr>
          <p:spPr>
            <a:xfrm>
              <a:off x="4095008" y="4517601"/>
              <a:ext cx="547159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SMC</a:t>
              </a:r>
              <a:endParaRPr lang="en-CN" sz="1080" dirty="0"/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36BEB0E2-82EB-78AF-2A95-A410F6AAD752}"/>
                </a:ext>
              </a:extLst>
            </p:cNvPr>
            <p:cNvCxnSpPr>
              <a:cxnSpLocks/>
              <a:stCxn id="71" idx="2"/>
              <a:endCxn id="69" idx="0"/>
            </p:cNvCxnSpPr>
            <p:nvPr/>
          </p:nvCxnSpPr>
          <p:spPr>
            <a:xfrm rot="5400000">
              <a:off x="4479653" y="4013826"/>
              <a:ext cx="227024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29468755-CB38-B62E-97B4-AF77E224EDEB}"/>
                </a:ext>
              </a:extLst>
            </p:cNvPr>
            <p:cNvCxnSpPr>
              <a:cxnSpLocks/>
              <a:stCxn id="63" idx="2"/>
              <a:endCxn id="61" idx="0"/>
            </p:cNvCxnSpPr>
            <p:nvPr/>
          </p:nvCxnSpPr>
          <p:spPr>
            <a:xfrm rot="5400000">
              <a:off x="7285574" y="4013825"/>
              <a:ext cx="227023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BA82C4EB-CD2E-99DC-AB01-ADA5B46F7F99}"/>
                </a:ext>
              </a:extLst>
            </p:cNvPr>
            <p:cNvSpPr/>
            <p:nvPr/>
          </p:nvSpPr>
          <p:spPr>
            <a:xfrm>
              <a:off x="4860032" y="5010636"/>
              <a:ext cx="2412642" cy="257746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bg1"/>
                  </a:solidFill>
                </a:rPr>
                <a:t>DRAM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9F9B829-33E1-F890-C6CF-63B53076F598}"/>
                </a:ext>
              </a:extLst>
            </p:cNvPr>
            <p:cNvSpPr/>
            <p:nvPr/>
          </p:nvSpPr>
          <p:spPr>
            <a:xfrm>
              <a:off x="6481566" y="5014363"/>
              <a:ext cx="648072" cy="251764"/>
            </a:xfrm>
            <a:prstGeom prst="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AC597B3-AE8C-BA82-5F55-F02F9F8DF5C1}"/>
                </a:ext>
              </a:extLst>
            </p:cNvPr>
            <p:cNvSpPr/>
            <p:nvPr/>
          </p:nvSpPr>
          <p:spPr>
            <a:xfrm>
              <a:off x="5201789" y="5010636"/>
              <a:ext cx="380037" cy="257747"/>
            </a:xfrm>
            <a:prstGeom prst="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B515AC20-E217-5871-63B2-1F05B15A13D8}"/>
                </a:ext>
              </a:extLst>
            </p:cNvPr>
            <p:cNvSpPr/>
            <p:nvPr/>
          </p:nvSpPr>
          <p:spPr>
            <a:xfrm>
              <a:off x="5473305" y="3192093"/>
              <a:ext cx="501041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TA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EA22C78D-F062-45FA-4270-95B736912769}"/>
                </a:ext>
              </a:extLst>
            </p:cNvPr>
            <p:cNvSpPr/>
            <p:nvPr/>
          </p:nvSpPr>
          <p:spPr>
            <a:xfrm>
              <a:off x="5472418" y="3648300"/>
              <a:ext cx="1139434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TEE-Kernel</a:t>
              </a:r>
              <a:endParaRPr lang="en-CN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6358B29-992A-5FCA-E43B-5376E6E3A528}"/>
                </a:ext>
              </a:extLst>
            </p:cNvPr>
            <p:cNvCxnSpPr>
              <a:cxnSpLocks/>
            </p:cNvCxnSpPr>
            <p:nvPr/>
          </p:nvCxnSpPr>
          <p:spPr>
            <a:xfrm>
              <a:off x="5472418" y="3557870"/>
              <a:ext cx="111580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23655B0-608D-6F66-411A-1F15623CCCF3}"/>
                </a:ext>
              </a:extLst>
            </p:cNvPr>
            <p:cNvSpPr/>
            <p:nvPr/>
          </p:nvSpPr>
          <p:spPr>
            <a:xfrm>
              <a:off x="5405524" y="3104579"/>
              <a:ext cx="1258058" cy="860517"/>
            </a:xfrm>
            <a:prstGeom prst="rect">
              <a:avLst/>
            </a:prstGeom>
            <a:noFill/>
            <a:ln w="25400">
              <a:solidFill>
                <a:srgbClr val="7EBE8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7740DF2-C211-49D8-5F83-6A90C4B2BE0C}"/>
                </a:ext>
              </a:extLst>
            </p:cNvPr>
            <p:cNvSpPr txBox="1"/>
            <p:nvPr/>
          </p:nvSpPr>
          <p:spPr>
            <a:xfrm>
              <a:off x="6310888" y="2556799"/>
              <a:ext cx="924754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60" dirty="0">
                  <a:solidFill>
                    <a:srgbClr val="66CBAD"/>
                  </a:solidFill>
                  <a:latin typeface="American Typewriter" panose="02090604020004020304" pitchFamily="18" charset="77"/>
                </a:rPr>
                <a:t>安全</a:t>
              </a:r>
              <a:r>
                <a:rPr lang="zh-CN" altLang="en-US" sz="1260" dirty="0">
                  <a:solidFill>
                    <a:srgbClr val="66CBAD"/>
                  </a:solidFill>
                  <a:latin typeface="American Typewriter" panose="02090604020004020304" pitchFamily="18" charset="77"/>
                </a:rPr>
                <a:t>世界</a:t>
              </a:r>
              <a:endParaRPr lang="en-CN" sz="1260" dirty="0">
                <a:solidFill>
                  <a:srgbClr val="66CBAD"/>
                </a:solidFill>
                <a:latin typeface="American Typewriter" panose="02090604020004020304" pitchFamily="18" charset="77"/>
              </a:endParaRP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72CC01A-3BFA-B794-FA2D-98CAB14B5CFB}"/>
                </a:ext>
              </a:extLst>
            </p:cNvPr>
            <p:cNvCxnSpPr>
              <a:cxnSpLocks/>
            </p:cNvCxnSpPr>
            <p:nvPr/>
          </p:nvCxnSpPr>
          <p:spPr>
            <a:xfrm>
              <a:off x="5391808" y="4059449"/>
              <a:ext cx="1268716" cy="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Elbow Connector 97">
              <a:extLst>
                <a:ext uri="{FF2B5EF4-FFF2-40B4-BE49-F238E27FC236}">
                  <a16:creationId xmlns:a16="http://schemas.microsoft.com/office/drawing/2014/main" id="{2F959D55-347B-FBDE-37AA-DCB31FC75391}"/>
                </a:ext>
              </a:extLst>
            </p:cNvPr>
            <p:cNvCxnSpPr>
              <a:cxnSpLocks/>
              <a:stCxn id="93" idx="2"/>
              <a:endCxn id="60" idx="3"/>
            </p:cNvCxnSpPr>
            <p:nvPr/>
          </p:nvCxnSpPr>
          <p:spPr>
            <a:xfrm rot="5400000">
              <a:off x="5521169" y="4175282"/>
              <a:ext cx="795935" cy="24599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36BF7EA-CCA9-AEF6-33D9-BE778DCFE2BF}"/>
                </a:ext>
              </a:extLst>
            </p:cNvPr>
            <p:cNvCxnSpPr>
              <a:cxnSpLocks/>
            </p:cNvCxnSpPr>
            <p:nvPr/>
          </p:nvCxnSpPr>
          <p:spPr>
            <a:xfrm>
              <a:off x="6762294" y="3026003"/>
              <a:ext cx="0" cy="139714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1D3490-12D9-33F7-A5F8-97AA26862A62}"/>
                </a:ext>
              </a:extLst>
            </p:cNvPr>
            <p:cNvSpPr txBox="1"/>
            <p:nvPr/>
          </p:nvSpPr>
          <p:spPr>
            <a:xfrm>
              <a:off x="5505150" y="2842960"/>
              <a:ext cx="1093961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80" dirty="0"/>
                <a:t>不支持</a:t>
              </a:r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ACEE1F41-4AF1-3E31-1B1D-BD670DC87648}"/>
                </a:ext>
              </a:extLst>
            </p:cNvPr>
            <p:cNvSpPr/>
            <p:nvPr/>
          </p:nvSpPr>
          <p:spPr>
            <a:xfrm>
              <a:off x="6087182" y="3197059"/>
              <a:ext cx="501042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TA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3816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B792-5319-E447-A448-BEA71265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 </a:t>
            </a:r>
            <a:r>
              <a:rPr lang="en-CN" altLang="zh-CN" dirty="0"/>
              <a:t>TwinVisor</a:t>
            </a:r>
            <a:r>
              <a:rPr lang="en-US" altLang="zh-CN" dirty="0"/>
              <a:t>:</a:t>
            </a:r>
            <a:r>
              <a:rPr lang="zh-CN" altLang="en-US" dirty="0"/>
              <a:t> 来自上海交大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08E5-3065-F042-B616-D33056EF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关键观察</a:t>
            </a:r>
            <a:endParaRPr lang="en-US" sz="1800" dirty="0"/>
          </a:p>
          <a:p>
            <a:pPr lvl="1"/>
            <a:r>
              <a:rPr lang="zh-CN" altLang="en-US" sz="1440" dirty="0"/>
              <a:t>在普通世界中已经存在功能成熟、被广泛应用的</a:t>
            </a:r>
            <a:r>
              <a:rPr lang="en-US" altLang="zh-CN" sz="1440" dirty="0"/>
              <a:t>hypervisor</a:t>
            </a:r>
            <a:r>
              <a:rPr lang="zh-CN" altLang="en-US" sz="1440" dirty="0"/>
              <a:t>了</a:t>
            </a:r>
            <a:endParaRPr lang="en-US" sz="1440" dirty="0"/>
          </a:p>
          <a:p>
            <a:r>
              <a:rPr lang="zh-CN" altLang="en-US" sz="1800" dirty="0"/>
              <a:t>将机密虚拟机的</a:t>
            </a:r>
            <a:r>
              <a:rPr lang="zh-CN" altLang="en-US" sz="1800" dirty="0">
                <a:solidFill>
                  <a:schemeClr val="accent1"/>
                </a:solidFill>
              </a:rPr>
              <a:t>资源管理</a:t>
            </a:r>
            <a:r>
              <a:rPr lang="zh-CN" altLang="en-US" sz="1800" dirty="0"/>
              <a:t>功能与</a:t>
            </a:r>
            <a:r>
              <a:rPr lang="zh-CN" altLang="en-US" sz="1800" dirty="0">
                <a:solidFill>
                  <a:schemeClr val="accent1"/>
                </a:solidFill>
              </a:rPr>
              <a:t>保护机制</a:t>
            </a:r>
            <a:r>
              <a:rPr lang="zh-CN" altLang="en-US" sz="1800" dirty="0"/>
              <a:t>解耦 </a:t>
            </a:r>
            <a:endParaRPr lang="en-US" altLang="zh-CN" sz="1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B493C6-4AAA-1D48-A04E-4EFD60157AF8}"/>
              </a:ext>
            </a:extLst>
          </p:cNvPr>
          <p:cNvGrpSpPr/>
          <p:nvPr/>
        </p:nvGrpSpPr>
        <p:grpSpPr>
          <a:xfrm>
            <a:off x="942797" y="2840094"/>
            <a:ext cx="2544696" cy="2488795"/>
            <a:chOff x="321528" y="2934845"/>
            <a:chExt cx="2827440" cy="2765326"/>
          </a:xfrm>
        </p:grpSpPr>
        <p:pic>
          <p:nvPicPr>
            <p:cNvPr id="1026" name="Picture 2" descr="Out Of Scope - Out Of Scope updated their profile picture.">
              <a:extLst>
                <a:ext uri="{FF2B5EF4-FFF2-40B4-BE49-F238E27FC236}">
                  <a16:creationId xmlns:a16="http://schemas.microsoft.com/office/drawing/2014/main" id="{1BD816F0-EC9A-414F-B3BA-69796DFD4B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191" y="3701687"/>
              <a:ext cx="543334" cy="543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EEB4F6-BB12-1542-9A44-D6761E16EEFA}"/>
                </a:ext>
              </a:extLst>
            </p:cNvPr>
            <p:cNvSpPr/>
            <p:nvPr/>
          </p:nvSpPr>
          <p:spPr>
            <a:xfrm>
              <a:off x="941085" y="3722619"/>
              <a:ext cx="2089647" cy="533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60" dirty="0"/>
                <a:t>物理攻击、侧信道攻击、拒绝服务攻击</a:t>
              </a:r>
              <a:endParaRPr lang="en-US" altLang="zh-CN" sz="1260" dirty="0"/>
            </a:p>
          </p:txBody>
        </p:sp>
        <p:pic>
          <p:nvPicPr>
            <p:cNvPr id="1036" name="Picture 12" descr="Aim, focus, goal, target icon - Download on Iconfinder">
              <a:extLst>
                <a:ext uri="{FF2B5EF4-FFF2-40B4-BE49-F238E27FC236}">
                  <a16:creationId xmlns:a16="http://schemas.microsoft.com/office/drawing/2014/main" id="{AE305814-36D2-7E4B-BD9B-271C6CA6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450" y="2934845"/>
              <a:ext cx="646903" cy="646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A1AE985-4FDC-D245-BC62-A5C4531EE0AE}"/>
                </a:ext>
              </a:extLst>
            </p:cNvPr>
            <p:cNvSpPr/>
            <p:nvPr/>
          </p:nvSpPr>
          <p:spPr>
            <a:xfrm>
              <a:off x="947036" y="3116912"/>
              <a:ext cx="1464433" cy="318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60" dirty="0"/>
                <a:t>不受信任的软件</a:t>
              </a:r>
              <a:endParaRPr lang="en-US" altLang="zh-CN" sz="1260" dirty="0"/>
            </a:p>
          </p:txBody>
        </p:sp>
        <p:pic>
          <p:nvPicPr>
            <p:cNvPr id="1040" name="Picture 16" descr="Lamp Bulb Halftone Dotted Icon And Assumption Unclean Stamp Seal. Stamp  Seal Includes Assumption Caption Between Parallel Lines. Royalty Free  Cliparts, Vectors, And Stock Illustration. Image 154547935.">
              <a:extLst>
                <a:ext uri="{FF2B5EF4-FFF2-40B4-BE49-F238E27FC236}">
                  <a16:creationId xmlns:a16="http://schemas.microsoft.com/office/drawing/2014/main" id="{62CD19E9-BFCD-3840-AD63-D0367EE68B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76"/>
            <a:stretch/>
          </p:blipFill>
          <p:spPr bwMode="auto">
            <a:xfrm>
              <a:off x="321528" y="4285368"/>
              <a:ext cx="885763" cy="671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F3AFA3-CB7F-054F-B27C-7F8EDFA72902}"/>
                </a:ext>
              </a:extLst>
            </p:cNvPr>
            <p:cNvSpPr txBox="1"/>
            <p:nvPr/>
          </p:nvSpPr>
          <p:spPr>
            <a:xfrm>
              <a:off x="607676" y="4735805"/>
              <a:ext cx="2541292" cy="964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CN" sz="1260" dirty="0"/>
                <a:t>-</a:t>
              </a:r>
              <a:r>
                <a:rPr lang="zh-CN" altLang="en-US" sz="1260" dirty="0"/>
                <a:t> 设备供应商需要提供硬件支持的</a:t>
              </a:r>
              <a:r>
                <a:rPr lang="en-US" altLang="zh-CN" sz="1260" dirty="0"/>
                <a:t>attestation</a:t>
              </a:r>
              <a:r>
                <a:rPr lang="zh-CN" altLang="en-US" sz="1260" dirty="0"/>
                <a:t>机制</a:t>
              </a:r>
              <a:endParaRPr lang="en-US" altLang="zh-CN" sz="1260" dirty="0"/>
            </a:p>
            <a:p>
              <a:pPr lvl="0">
                <a:defRPr/>
              </a:pPr>
              <a:r>
                <a:rPr lang="en-US" altLang="zh-CN" sz="1260" dirty="0"/>
                <a:t>-</a:t>
              </a:r>
              <a:r>
                <a:rPr lang="zh-CN" altLang="en-US" sz="1260" dirty="0"/>
                <a:t> </a:t>
              </a:r>
              <a:r>
                <a:rPr lang="en-US" altLang="zh-CN" sz="1260" dirty="0"/>
                <a:t>S-VMs</a:t>
              </a:r>
              <a:r>
                <a:rPr lang="zh-CN" altLang="en-US" sz="1260" dirty="0"/>
                <a:t>需要保护自己的</a:t>
              </a:r>
              <a:r>
                <a:rPr lang="en-US" altLang="zh-CN" sz="1260" dirty="0"/>
                <a:t>I/O</a:t>
              </a:r>
              <a:r>
                <a:rPr lang="zh-CN" altLang="en-US" sz="1260" dirty="0"/>
                <a:t>数据安全</a:t>
              </a:r>
              <a:endParaRPr lang="en-US" altLang="zh-CN" sz="126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D796F5-B223-8347-B015-DF33D5C0EF1A}"/>
              </a:ext>
            </a:extLst>
          </p:cNvPr>
          <p:cNvGrpSpPr/>
          <p:nvPr/>
        </p:nvGrpSpPr>
        <p:grpSpPr>
          <a:xfrm>
            <a:off x="3381083" y="2781054"/>
            <a:ext cx="4518240" cy="2271525"/>
            <a:chOff x="2230763" y="2689022"/>
            <a:chExt cx="5020266" cy="252391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B2B81E4-2C50-A649-931A-1AD8EB91FD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1838" y="4811588"/>
              <a:ext cx="3559398" cy="479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99932252-3877-7D4E-8A80-924AF42E8DD4}"/>
                </a:ext>
              </a:extLst>
            </p:cNvPr>
            <p:cNvSpPr/>
            <p:nvPr/>
          </p:nvSpPr>
          <p:spPr>
            <a:xfrm>
              <a:off x="5220556" y="4101391"/>
              <a:ext cx="935620" cy="242221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80" dirty="0">
                  <a:solidFill>
                    <a:schemeClr val="tx1"/>
                  </a:solidFill>
                </a:rPr>
                <a:t>Protection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5302EDD-0C0B-7948-B8B6-76A987934FCF}"/>
                </a:ext>
              </a:extLst>
            </p:cNvPr>
            <p:cNvSpPr/>
            <p:nvPr/>
          </p:nvSpPr>
          <p:spPr>
            <a:xfrm>
              <a:off x="4924943" y="3283321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S-VM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77FCEC-C381-8246-B414-9F5C202C66AF}"/>
                </a:ext>
              </a:extLst>
            </p:cNvPr>
            <p:cNvSpPr txBox="1"/>
            <p:nvPr/>
          </p:nvSpPr>
          <p:spPr>
            <a:xfrm>
              <a:off x="6427798" y="3330735"/>
              <a:ext cx="823231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S-EL0&amp;1</a:t>
              </a:r>
              <a:endParaRPr lang="en-CN" sz="108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A43F8B4-5F1E-3648-A564-B19CE41CB4C7}"/>
                </a:ext>
              </a:extLst>
            </p:cNvPr>
            <p:cNvSpPr txBox="1"/>
            <p:nvPr/>
          </p:nvSpPr>
          <p:spPr>
            <a:xfrm>
              <a:off x="6423569" y="4151067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9E135A-7BF2-3E4E-931B-BFB71A87CF0A}"/>
                </a:ext>
              </a:extLst>
            </p:cNvPr>
            <p:cNvSpPr txBox="1"/>
            <p:nvPr/>
          </p:nvSpPr>
          <p:spPr>
            <a:xfrm>
              <a:off x="3409991" y="3005594"/>
              <a:ext cx="81788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080" dirty="0"/>
                <a:t>普通</a:t>
              </a:r>
              <a:r>
                <a:rPr lang="zh-CN" altLang="en-US" sz="1080" dirty="0"/>
                <a:t>世界</a:t>
              </a:r>
              <a:endParaRPr lang="en-CN" sz="108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C8F95AE-6530-9A46-BC79-292C6BD44792}"/>
                </a:ext>
              </a:extLst>
            </p:cNvPr>
            <p:cNvSpPr txBox="1"/>
            <p:nvPr/>
          </p:nvSpPr>
          <p:spPr>
            <a:xfrm>
              <a:off x="2230763" y="3341155"/>
              <a:ext cx="830355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N-EL0&amp;1</a:t>
              </a:r>
              <a:endParaRPr lang="en-CN" sz="108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71F4C1C-010D-6341-8EF5-30EF99DA7C6B}"/>
                </a:ext>
              </a:extLst>
            </p:cNvPr>
            <p:cNvSpPr txBox="1"/>
            <p:nvPr/>
          </p:nvSpPr>
          <p:spPr>
            <a:xfrm>
              <a:off x="2233646" y="4151067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N-EL2</a:t>
              </a:r>
              <a:endParaRPr lang="en-CN" sz="1080" dirty="0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4FF4EDA-AA97-6146-B34A-10E09F263E30}"/>
                </a:ext>
              </a:extLst>
            </p:cNvPr>
            <p:cNvCxnSpPr>
              <a:cxnSpLocks/>
            </p:cNvCxnSpPr>
            <p:nvPr/>
          </p:nvCxnSpPr>
          <p:spPr>
            <a:xfrm>
              <a:off x="4915210" y="3799558"/>
              <a:ext cx="153554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0C6508-09A1-3A45-96D7-7E413DDB0B81}"/>
                </a:ext>
              </a:extLst>
            </p:cNvPr>
            <p:cNvSpPr txBox="1"/>
            <p:nvPr/>
          </p:nvSpPr>
          <p:spPr>
            <a:xfrm>
              <a:off x="6450754" y="4887061"/>
              <a:ext cx="479475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EL3</a:t>
              </a:r>
              <a:endParaRPr lang="en-CN" sz="1080" dirty="0"/>
            </a:p>
          </p:txBody>
        </p:sp>
        <p:cxnSp>
          <p:nvCxnSpPr>
            <p:cNvPr id="66" name="Elbow Connector 65">
              <a:extLst>
                <a:ext uri="{FF2B5EF4-FFF2-40B4-BE49-F238E27FC236}">
                  <a16:creationId xmlns:a16="http://schemas.microsoft.com/office/drawing/2014/main" id="{9DB4327C-E684-E84D-9541-AA7CCB4D9F0D}"/>
                </a:ext>
              </a:extLst>
            </p:cNvPr>
            <p:cNvCxnSpPr>
              <a:cxnSpLocks/>
              <a:stCxn id="89" idx="2"/>
              <a:endCxn id="93" idx="1"/>
            </p:cNvCxnSpPr>
            <p:nvPr/>
          </p:nvCxnSpPr>
          <p:spPr>
            <a:xfrm rot="16200000" flipH="1">
              <a:off x="3883710" y="4627537"/>
              <a:ext cx="393396" cy="479892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A49A4-AAD6-1343-A39D-095B85D1674E}"/>
                </a:ext>
              </a:extLst>
            </p:cNvPr>
            <p:cNvSpPr txBox="1"/>
            <p:nvPr/>
          </p:nvSpPr>
          <p:spPr>
            <a:xfrm>
              <a:off x="5282199" y="3010710"/>
              <a:ext cx="81788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080" dirty="0"/>
                <a:t>安全世界</a:t>
              </a:r>
              <a:endParaRPr lang="en-CN" sz="1080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3AD06E1-24FA-9146-B0DD-9C0B505CBFEC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90" y="3204744"/>
              <a:ext cx="0" cy="153483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0974B0F-24AE-4142-88AA-F8A01F629080}"/>
                </a:ext>
              </a:extLst>
            </p:cNvPr>
            <p:cNvSpPr txBox="1"/>
            <p:nvPr/>
          </p:nvSpPr>
          <p:spPr>
            <a:xfrm>
              <a:off x="3283540" y="2689022"/>
              <a:ext cx="1104648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60" dirty="0">
                  <a:solidFill>
                    <a:srgbClr val="EA154B"/>
                  </a:solidFill>
                  <a:latin typeface="American Typewriter" panose="02090604020004020304" pitchFamily="18" charset="77"/>
                </a:rPr>
                <a:t>不受信部分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D36FA1C-9CB4-F740-90ED-B7A2A252EF27}"/>
                </a:ext>
              </a:extLst>
            </p:cNvPr>
            <p:cNvSpPr txBox="1"/>
            <p:nvPr/>
          </p:nvSpPr>
          <p:spPr>
            <a:xfrm>
              <a:off x="5246555" y="2689022"/>
              <a:ext cx="924754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60" dirty="0">
                  <a:solidFill>
                    <a:srgbClr val="66CBAD"/>
                  </a:solidFill>
                  <a:latin typeface="American Typewriter" panose="02090604020004020304" pitchFamily="18" charset="77"/>
                </a:rPr>
                <a:t>可信部分</a:t>
              </a:r>
              <a:endParaRPr lang="en-CN" sz="1260" dirty="0">
                <a:solidFill>
                  <a:srgbClr val="66CBAD"/>
                </a:solidFill>
                <a:latin typeface="American Typewriter" panose="02090604020004020304" pitchFamily="18" charset="77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B535D00-E824-8447-884C-1A5024C99C2F}"/>
                </a:ext>
              </a:extLst>
            </p:cNvPr>
            <p:cNvSpPr/>
            <p:nvPr/>
          </p:nvSpPr>
          <p:spPr>
            <a:xfrm>
              <a:off x="3059410" y="3288748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N-VM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3F9D6F6-3B11-2A45-8B2C-857999C7EDB1}"/>
                </a:ext>
              </a:extLst>
            </p:cNvPr>
            <p:cNvSpPr/>
            <p:nvPr/>
          </p:nvSpPr>
          <p:spPr>
            <a:xfrm>
              <a:off x="3906177" y="3284467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N-VM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625ED03-0D59-CD47-81BF-8D38CA46E17A}"/>
                </a:ext>
              </a:extLst>
            </p:cNvPr>
            <p:cNvSpPr/>
            <p:nvPr/>
          </p:nvSpPr>
          <p:spPr>
            <a:xfrm>
              <a:off x="5745601" y="3290120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S-VM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4B7258E-6D77-924D-AA05-6A258703F64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577" y="3799558"/>
              <a:ext cx="153554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6DA86F-397F-664E-8A2F-69B8655F4073}"/>
                </a:ext>
              </a:extLst>
            </p:cNvPr>
            <p:cNvSpPr/>
            <p:nvPr/>
          </p:nvSpPr>
          <p:spPr>
            <a:xfrm>
              <a:off x="5141610" y="4016019"/>
              <a:ext cx="1093582" cy="586642"/>
            </a:xfrm>
            <a:prstGeom prst="rect">
              <a:avLst/>
            </a:prstGeom>
            <a:noFill/>
            <a:ln w="25400">
              <a:solidFill>
                <a:srgbClr val="66CBA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rgbClr val="EA154B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AD3CCC1-8D14-0740-B2D6-34025770A6A4}"/>
                </a:ext>
              </a:extLst>
            </p:cNvPr>
            <p:cNvSpPr/>
            <p:nvPr/>
          </p:nvSpPr>
          <p:spPr>
            <a:xfrm>
              <a:off x="3161203" y="3948300"/>
              <a:ext cx="1358517" cy="722485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rgbClr val="EA154B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5C9A047-FB05-8E4A-9086-AA7DB389D991}"/>
                </a:ext>
              </a:extLst>
            </p:cNvPr>
            <p:cNvSpPr txBox="1"/>
            <p:nvPr/>
          </p:nvSpPr>
          <p:spPr>
            <a:xfrm>
              <a:off x="5349454" y="4345915"/>
              <a:ext cx="684304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S-visor</a:t>
              </a:r>
              <a:endParaRPr lang="en-CN" sz="108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AA83044-FD1B-E041-8413-19871705304E}"/>
                </a:ext>
              </a:extLst>
            </p:cNvPr>
            <p:cNvSpPr txBox="1"/>
            <p:nvPr/>
          </p:nvSpPr>
          <p:spPr>
            <a:xfrm>
              <a:off x="3518681" y="4406482"/>
              <a:ext cx="691429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N-visor</a:t>
              </a:r>
              <a:endParaRPr lang="en-CN" sz="1080" dirty="0"/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3DE9346F-1646-D748-AD90-E56433E7DE95}"/>
                </a:ext>
              </a:extLst>
            </p:cNvPr>
            <p:cNvSpPr/>
            <p:nvPr/>
          </p:nvSpPr>
          <p:spPr>
            <a:xfrm>
              <a:off x="3271293" y="4012886"/>
              <a:ext cx="1119603" cy="419230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80" dirty="0">
                  <a:solidFill>
                    <a:schemeClr val="bg1"/>
                  </a:solidFill>
                </a:rPr>
                <a:t>Resource</a:t>
              </a:r>
            </a:p>
            <a:p>
              <a:pPr algn="ctr"/>
              <a:r>
                <a:rPr lang="en-US" altLang="zh-CN" sz="1080" dirty="0">
                  <a:solidFill>
                    <a:schemeClr val="bg1"/>
                  </a:solidFill>
                </a:rPr>
                <a:t>Management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62CD1C4-F505-8247-8B62-53BCBBB6DA53}"/>
                </a:ext>
              </a:extLst>
            </p:cNvPr>
            <p:cNvSpPr/>
            <p:nvPr/>
          </p:nvSpPr>
          <p:spPr>
            <a:xfrm>
              <a:off x="4320354" y="4928459"/>
              <a:ext cx="821255" cy="271443"/>
            </a:xfrm>
            <a:prstGeom prst="rect">
              <a:avLst/>
            </a:prstGeom>
            <a:noFill/>
            <a:ln w="25400">
              <a:solidFill>
                <a:srgbClr val="66CBA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rgbClr val="EA154B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8F17F6D-D001-9A4B-9D1A-6A7E55FD5FBD}"/>
                </a:ext>
              </a:extLst>
            </p:cNvPr>
            <p:cNvSpPr txBox="1"/>
            <p:nvPr/>
          </p:nvSpPr>
          <p:spPr>
            <a:xfrm>
              <a:off x="4318849" y="4925682"/>
              <a:ext cx="846385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Firmware</a:t>
              </a:r>
              <a:endParaRPr lang="en-CN" sz="1080" dirty="0"/>
            </a:p>
          </p:txBody>
        </p:sp>
        <p:cxnSp>
          <p:nvCxnSpPr>
            <p:cNvPr id="95" name="Elbow Connector 94">
              <a:extLst>
                <a:ext uri="{FF2B5EF4-FFF2-40B4-BE49-F238E27FC236}">
                  <a16:creationId xmlns:a16="http://schemas.microsoft.com/office/drawing/2014/main" id="{48FC3333-2C09-6D4A-B68E-0B9A4D831AB1}"/>
                </a:ext>
              </a:extLst>
            </p:cNvPr>
            <p:cNvCxnSpPr>
              <a:cxnSpLocks/>
              <a:stCxn id="88" idx="2"/>
              <a:endCxn id="93" idx="3"/>
            </p:cNvCxnSpPr>
            <p:nvPr/>
          </p:nvCxnSpPr>
          <p:spPr>
            <a:xfrm rot="5400000">
              <a:off x="5184245" y="4560025"/>
              <a:ext cx="461520" cy="546792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476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98"/>
    </mc:Choice>
    <mc:Fallback xmlns="">
      <p:transition spd="slow" advTm="53198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Trusted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Domain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Extensions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(TDX)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63460"/>
          </a:xfrm>
        </p:spPr>
        <p:txBody>
          <a:bodyPr>
            <a:normAutofit/>
          </a:bodyPr>
          <a:lstStyle/>
          <a:p>
            <a:r>
              <a:rPr lang="en" altLang="zh-CN" sz="1800" dirty="0"/>
              <a:t>Intel TDX is designed to isolate VMs </a:t>
            </a:r>
            <a:r>
              <a:rPr lang="en-US" altLang="zh-CN" sz="1800" dirty="0"/>
              <a:t>(TD)</a:t>
            </a:r>
            <a:r>
              <a:rPr lang="zh-CN" altLang="en-US" sz="1800" dirty="0"/>
              <a:t> </a:t>
            </a:r>
            <a:r>
              <a:rPr lang="en" altLang="zh-CN" sz="1800" dirty="0"/>
              <a:t>from the hypervisor and any other non-TD software</a:t>
            </a:r>
            <a:endParaRPr lang="en-US" altLang="zh-CN" sz="1800" dirty="0"/>
          </a:p>
          <a:p>
            <a:pPr lvl="1"/>
            <a:r>
              <a:rPr lang="en" altLang="zh-CN" sz="1600" b="0" dirty="0"/>
              <a:t>Virtual Machine Extensions (VMX)</a:t>
            </a:r>
            <a:r>
              <a:rPr lang="en" altLang="zh-CN" sz="1600" dirty="0"/>
              <a:t> </a:t>
            </a:r>
            <a:endParaRPr lang="en-US" altLang="zh-CN" sz="1600" dirty="0"/>
          </a:p>
          <a:p>
            <a:pPr lvl="1"/>
            <a:r>
              <a:rPr lang="en-US" altLang="zh-CN" sz="1600" dirty="0"/>
              <a:t>M</a:t>
            </a:r>
            <a:r>
              <a:rPr lang="en" altLang="zh-CN" sz="1600" dirty="0" err="1"/>
              <a:t>ulti</a:t>
            </a:r>
            <a:r>
              <a:rPr lang="en" altLang="zh-CN" sz="1600" dirty="0"/>
              <a:t>-key, total</a:t>
            </a:r>
            <a:r>
              <a:rPr lang="zh-CN" altLang="en-US" sz="1600" dirty="0"/>
              <a:t> </a:t>
            </a:r>
            <a:r>
              <a:rPr lang="en" altLang="zh-CN" sz="1600" dirty="0"/>
              <a:t>memory-encryption (MKTME) technology</a:t>
            </a:r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C71FEB-07FB-DDFE-71D2-71B8BD342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2756578"/>
            <a:ext cx="4221678" cy="295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784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69653-F29A-0C49-BEE5-6B84A561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100" dirty="0"/>
              <a:t>AMD</a:t>
            </a:r>
            <a:r>
              <a:rPr kumimoji="1" lang="zh-CN" altLang="en-US" sz="3100" dirty="0"/>
              <a:t> </a:t>
            </a:r>
            <a:r>
              <a:rPr kumimoji="1" lang="en-US" altLang="zh-CN" sz="3100" dirty="0"/>
              <a:t>Secure Encrypted Virtualization (SEV)</a:t>
            </a:r>
            <a:endParaRPr kumimoji="1" lang="zh-CN" altLang="en-US" sz="31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A86C4-F372-144B-8073-B11DDA8C1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以虚拟机为粒度的</a:t>
            </a:r>
            <a:r>
              <a:rPr kumimoji="1" lang="en-US" altLang="zh-CN" dirty="0"/>
              <a:t>Enclave</a:t>
            </a:r>
          </a:p>
          <a:p>
            <a:pPr lvl="1"/>
            <a:r>
              <a:rPr kumimoji="1" lang="zh-CN" altLang="en-US" dirty="0"/>
              <a:t>对不同的虚拟机进行加密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每个虚拟机的密钥均不相同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Hypervisor</a:t>
            </a:r>
            <a:r>
              <a:rPr kumimoji="1" lang="zh-CN" altLang="en-US" dirty="0"/>
              <a:t>有自己的密钥</a:t>
            </a:r>
            <a:endParaRPr kumimoji="1" lang="en-US" altLang="zh-CN" dirty="0"/>
          </a:p>
          <a:p>
            <a:r>
              <a:rPr kumimoji="1" lang="zh-CN" altLang="en-US" dirty="0"/>
              <a:t>安全模型的缺陷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依然部分依赖</a:t>
            </a:r>
            <a:r>
              <a:rPr kumimoji="1" lang="en-US" altLang="zh-CN" dirty="0"/>
              <a:t>Hypervisor</a:t>
            </a:r>
          </a:p>
          <a:p>
            <a:pPr lvl="2"/>
            <a:r>
              <a:rPr kumimoji="1" lang="zh-CN" altLang="en-US" sz="1800" dirty="0"/>
              <a:t>如：为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设置正确的密钥</a:t>
            </a:r>
            <a:endParaRPr kumimoji="1" lang="en-US" altLang="zh-CN" sz="1800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E7F66-B936-EE41-8721-D03497DD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2220E-FCF4-1E42-BEC6-2E38E10CF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25C5AD-0420-5C4C-88A9-DDEDFDA0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6376"/>
            <a:ext cx="3804716" cy="34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98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52912</TotalTime>
  <Words>3347</Words>
  <Application>Microsoft Macintosh PowerPoint</Application>
  <PresentationFormat>全屏显示(16:10)</PresentationFormat>
  <Paragraphs>861</Paragraphs>
  <Slides>49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DengXian</vt:lpstr>
      <vt:lpstr>微软雅黑</vt:lpstr>
      <vt:lpstr>Heiti SC Medium</vt:lpstr>
      <vt:lpstr>NimbusRomNo9L-Regu</vt:lpstr>
      <vt:lpstr>NimbusSanL-Bold</vt:lpstr>
      <vt:lpstr>American Typewriter</vt:lpstr>
      <vt:lpstr>Arial</vt:lpstr>
      <vt:lpstr>Calibri</vt:lpstr>
      <vt:lpstr>Wingdings</vt:lpstr>
      <vt:lpstr>Office 主题​​</vt:lpstr>
      <vt:lpstr>机密虚拟化</vt:lpstr>
      <vt:lpstr>版权声明</vt:lpstr>
      <vt:lpstr>回顾：实现I/O虚拟化的方式</vt:lpstr>
      <vt:lpstr>方法1：设备模拟</vt:lpstr>
      <vt:lpstr>方法2：半虚拟化方式</vt:lpstr>
      <vt:lpstr>方法3：设备直通</vt:lpstr>
      <vt:lpstr>I/O虚拟化技术对比</vt:lpstr>
      <vt:lpstr>中断虚拟化</vt:lpstr>
      <vt:lpstr>ARM中断虚拟化的实现方法</vt:lpstr>
      <vt:lpstr>Virtual CPU Interface</vt:lpstr>
      <vt:lpstr>插入虚拟中断：以半虚拟化举例</vt:lpstr>
      <vt:lpstr>不打断虚拟机执行：GIC ITS</vt:lpstr>
      <vt:lpstr>虚拟中断的直接插入</vt:lpstr>
      <vt:lpstr>机密虚拟化</vt:lpstr>
      <vt:lpstr>当虚拟机监控器不可信</vt:lpstr>
      <vt:lpstr>虚拟机监控器的漏洞数</vt:lpstr>
      <vt:lpstr>虚拟机监控器漏洞的危害</vt:lpstr>
      <vt:lpstr>来自管理员的威胁（Insider Threats）</vt:lpstr>
      <vt:lpstr>一种新的威胁模型：安全处理器</vt:lpstr>
      <vt:lpstr>Enclave/TEE：可信执行环境</vt:lpstr>
      <vt:lpstr>Enclave/TEE在工业界发展迅速</vt:lpstr>
      <vt:lpstr>硬件Enclave提供不同粒度的隔离环境</vt:lpstr>
      <vt:lpstr>机密虚拟化</vt:lpstr>
      <vt:lpstr>可信固件</vt:lpstr>
      <vt:lpstr>内存隔离机制</vt:lpstr>
      <vt:lpstr>硬件内存加密与保护机制</vt:lpstr>
      <vt:lpstr>硬件内存加密</vt:lpstr>
      <vt:lpstr>生成seed用于加密</vt:lpstr>
      <vt:lpstr>内存完整性保护</vt:lpstr>
      <vt:lpstr>内存完整性保护</vt:lpstr>
      <vt:lpstr>内存完整性保护：Merkle Hash Tree</vt:lpstr>
      <vt:lpstr>数字签名</vt:lpstr>
      <vt:lpstr>远程验证（Remote Attestation）</vt:lpstr>
      <vt:lpstr>机密虚拟化案例分析：ARM CCA</vt:lpstr>
      <vt:lpstr>ARM TrustZone 技术</vt:lpstr>
      <vt:lpstr>ARM Confidential Compute Architecture</vt:lpstr>
      <vt:lpstr>世界状态World State和内存隔离</vt:lpstr>
      <vt:lpstr>内存加密</vt:lpstr>
      <vt:lpstr>物理内存检查模块Granule Protection Check (GPC)</vt:lpstr>
      <vt:lpstr>物理内存检查模块Granule Protection Check (GPC)</vt:lpstr>
      <vt:lpstr>GPT的格式</vt:lpstr>
      <vt:lpstr>可信软件固件</vt:lpstr>
      <vt:lpstr>RMM接口：RMI和RSI</vt:lpstr>
      <vt:lpstr>远程验证</vt:lpstr>
      <vt:lpstr>其他机密虚拟化方案</vt:lpstr>
      <vt:lpstr>ARM SEL2</vt:lpstr>
      <vt:lpstr>ARM TwinVisor: 来自上海交大</vt:lpstr>
      <vt:lpstr>Intel Trusted Domain Extensions (TDX)</vt:lpstr>
      <vt:lpstr>AMD Secure Encrypted Virtualization (SEV)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5173</cp:revision>
  <cp:lastPrinted>2016-06-13T07:55:34Z</cp:lastPrinted>
  <dcterms:created xsi:type="dcterms:W3CDTF">2017-11-24T09:35:45Z</dcterms:created>
  <dcterms:modified xsi:type="dcterms:W3CDTF">2024-06-14T15:23:11Z</dcterms:modified>
</cp:coreProperties>
</file>