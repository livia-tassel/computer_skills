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1306" r:id="rId2"/>
    <p:sldId id="1359" r:id="rId3"/>
    <p:sldId id="2812" r:id="rId4"/>
    <p:sldId id="2774" r:id="rId5"/>
    <p:sldId id="2826" r:id="rId6"/>
    <p:sldId id="2820" r:id="rId7"/>
    <p:sldId id="2821" r:id="rId8"/>
    <p:sldId id="2822" r:id="rId9"/>
    <p:sldId id="2776" r:id="rId10"/>
    <p:sldId id="2777" r:id="rId11"/>
    <p:sldId id="2840" r:id="rId12"/>
    <p:sldId id="2778" r:id="rId13"/>
    <p:sldId id="2827" r:id="rId14"/>
    <p:sldId id="2854" r:id="rId15"/>
    <p:sldId id="2855" r:id="rId16"/>
    <p:sldId id="2813" r:id="rId17"/>
    <p:sldId id="2781" r:id="rId18"/>
    <p:sldId id="2841" r:id="rId19"/>
    <p:sldId id="2842" r:id="rId20"/>
    <p:sldId id="2782" r:id="rId21"/>
    <p:sldId id="2783" r:id="rId22"/>
    <p:sldId id="2795" r:id="rId23"/>
    <p:sldId id="2843" r:id="rId24"/>
    <p:sldId id="2792" r:id="rId25"/>
    <p:sldId id="2784" r:id="rId26"/>
    <p:sldId id="2796" r:id="rId27"/>
    <p:sldId id="2830" r:id="rId28"/>
    <p:sldId id="2829" r:id="rId29"/>
    <p:sldId id="2828" r:id="rId30"/>
    <p:sldId id="2793" r:id="rId31"/>
    <p:sldId id="2785" r:id="rId32"/>
    <p:sldId id="2838" r:id="rId33"/>
    <p:sldId id="2786" r:id="rId34"/>
    <p:sldId id="2844" r:id="rId35"/>
    <p:sldId id="2834" r:id="rId36"/>
    <p:sldId id="2832" r:id="rId37"/>
    <p:sldId id="2835" r:id="rId38"/>
    <p:sldId id="2837" r:id="rId39"/>
    <p:sldId id="2794" r:id="rId40"/>
    <p:sldId id="2846" r:id="rId41"/>
    <p:sldId id="2788" r:id="rId42"/>
    <p:sldId id="2847" r:id="rId43"/>
    <p:sldId id="2849" r:id="rId44"/>
    <p:sldId id="2851" r:id="rId45"/>
    <p:sldId id="2852" r:id="rId46"/>
    <p:sldId id="2853" r:id="rId4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BE384B"/>
    <a:srgbClr val="FFFF99"/>
    <a:srgbClr val="515151"/>
    <a:srgbClr val="941100"/>
    <a:srgbClr val="FF2F92"/>
    <a:srgbClr val="0432FF"/>
    <a:srgbClr val="FF9300"/>
    <a:srgbClr val="00FB92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55" autoAdjust="0"/>
    <p:restoredTop sz="85714" autoAdjust="0"/>
  </p:normalViewPr>
  <p:slideViewPr>
    <p:cSldViewPr>
      <p:cViewPr varScale="1">
        <p:scale>
          <a:sx n="125" d="100"/>
          <a:sy n="125" d="100"/>
        </p:scale>
        <p:origin x="792" y="176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37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075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978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419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327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10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742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重画一下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608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800" dirty="0"/>
              <a:t>I/O</a:t>
            </a:r>
            <a:r>
              <a:rPr kumimoji="1" lang="zh-CN" altLang="en-US" sz="4800" dirty="0"/>
              <a:t>虚拟化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C0CB1990-48D6-D1EA-0B36-BEDF00ED7F6B}"/>
              </a:ext>
            </a:extLst>
          </p:cNvPr>
          <p:cNvSpPr txBox="1">
            <a:spLocks/>
          </p:cNvSpPr>
          <p:nvPr/>
        </p:nvSpPr>
        <p:spPr>
          <a:xfrm>
            <a:off x="685800" y="3412362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FECE9448-035B-DB70-7C6F-F21FA6902837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006B7-7069-E847-9A77-48C769AE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三种地址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D63901-7864-1040-9A21-B5D40BA88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客户虚拟地址</a:t>
            </a:r>
            <a:r>
              <a:rPr kumimoji="1" lang="en-US" altLang="zh-CN" dirty="0"/>
              <a:t>(Guest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GVA)</a:t>
            </a:r>
          </a:p>
          <a:p>
            <a:pPr lvl="1"/>
            <a:r>
              <a:rPr kumimoji="1" lang="zh-CN" altLang="en-US" dirty="0"/>
              <a:t>虚拟机内进程使用的虚拟地址</a:t>
            </a:r>
            <a:endParaRPr kumimoji="1" lang="en-US" altLang="zh-CN" dirty="0"/>
          </a:p>
          <a:p>
            <a:r>
              <a:rPr kumimoji="1" lang="zh-CN" altLang="en-US" dirty="0">
                <a:highlight>
                  <a:srgbClr val="FFFF00"/>
                </a:highlight>
              </a:rPr>
              <a:t>客户物理地址</a:t>
            </a:r>
            <a:r>
              <a:rPr kumimoji="1" lang="en-US" altLang="zh-CN" dirty="0">
                <a:highlight>
                  <a:srgbClr val="FFFF00"/>
                </a:highlight>
              </a:rPr>
              <a:t>(Guest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Physical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Address,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GPA)</a:t>
            </a:r>
          </a:p>
          <a:p>
            <a:pPr lvl="1"/>
            <a:r>
              <a:rPr kumimoji="1" lang="zh-CN" altLang="en-US" dirty="0"/>
              <a:t>虚拟机内使用的</a:t>
            </a:r>
            <a:r>
              <a:rPr kumimoji="1" lang="en-US" altLang="zh-CN" dirty="0"/>
              <a:t>“</a:t>
            </a:r>
            <a:r>
              <a:rPr kumimoji="1" lang="zh-CN" altLang="en-US" dirty="0"/>
              <a:t>假</a:t>
            </a:r>
            <a:r>
              <a:rPr kumimoji="1" lang="en-US" altLang="zh-CN" dirty="0"/>
              <a:t>”</a:t>
            </a:r>
            <a:r>
              <a:rPr kumimoji="1" lang="zh-CN" altLang="en-US" dirty="0"/>
              <a:t>物理地址</a:t>
            </a:r>
            <a:endParaRPr kumimoji="1" lang="en-US" altLang="zh-CN" dirty="0"/>
          </a:p>
          <a:p>
            <a:r>
              <a:rPr kumimoji="1" lang="zh-CN" altLang="en-US" dirty="0"/>
              <a:t>主机物理地址</a:t>
            </a:r>
            <a:r>
              <a:rPr kumimoji="1" lang="en-US" altLang="zh-CN" dirty="0"/>
              <a:t>(Host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Address,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HPA)</a:t>
            </a:r>
          </a:p>
          <a:p>
            <a:pPr lvl="1"/>
            <a:r>
              <a:rPr kumimoji="1" lang="zh-CN" altLang="en-US" dirty="0"/>
              <a:t>真实寻址的物理地址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GPA</a:t>
            </a:r>
            <a:r>
              <a:rPr kumimoji="1" lang="zh-CN" altLang="en-US" dirty="0"/>
              <a:t>需要翻译成</a:t>
            </a:r>
            <a:r>
              <a:rPr kumimoji="1" lang="en-US" altLang="zh-CN" dirty="0"/>
              <a:t>HPA</a:t>
            </a:r>
            <a:r>
              <a:rPr kumimoji="1" lang="zh-CN" altLang="en-US" dirty="0"/>
              <a:t>才能访存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D0C91B-FD4F-3A41-AD26-114C5EE3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4" name="右大括号 43">
            <a:extLst>
              <a:ext uri="{FF2B5EF4-FFF2-40B4-BE49-F238E27FC236}">
                <a16:creationId xmlns:a16="http://schemas.microsoft.com/office/drawing/2014/main" id="{1D34257C-2E2A-184F-BE48-6B60FA168999}"/>
              </a:ext>
            </a:extLst>
          </p:cNvPr>
          <p:cNvSpPr/>
          <p:nvPr/>
        </p:nvSpPr>
        <p:spPr>
          <a:xfrm>
            <a:off x="7357844" y="2353444"/>
            <a:ext cx="144016" cy="2380910"/>
          </a:xfrm>
          <a:prstGeom prst="rightBrace">
            <a:avLst>
              <a:gd name="adj1" fmla="val 7258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54052EE-2AE0-C442-AC17-910BE15BB8D1}"/>
              </a:ext>
            </a:extLst>
          </p:cNvPr>
          <p:cNvSpPr txBox="1"/>
          <p:nvPr/>
        </p:nvSpPr>
        <p:spPr>
          <a:xfrm>
            <a:off x="7501860" y="335923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E384B"/>
                </a:solidFill>
              </a:rPr>
              <a:t>VMM</a:t>
            </a:r>
            <a:r>
              <a:rPr kumimoji="1" lang="zh-CN" altLang="en-US" dirty="0">
                <a:solidFill>
                  <a:srgbClr val="BE384B"/>
                </a:solidFill>
              </a:rPr>
              <a:t>管理</a:t>
            </a:r>
          </a:p>
        </p:txBody>
      </p:sp>
    </p:spTree>
    <p:extLst>
      <p:ext uri="{BB962C8B-B14F-4D97-AF65-F5344CB8AC3E}">
        <p14:creationId xmlns:p14="http://schemas.microsoft.com/office/powerpoint/2010/main" val="387561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0A6F1-E99C-2B48-8887-EF38D3A4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、硬件虚拟化对内存翻译的支持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489A7-CC3D-6F4A-99FC-6828E52F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ARM</a:t>
            </a:r>
            <a:r>
              <a:rPr kumimoji="1" lang="zh-CN" altLang="en-US" dirty="0"/>
              <a:t>硬件虚拟化都有对应的内存虚拟化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(EPT)</a:t>
            </a:r>
          </a:p>
          <a:p>
            <a:pPr lvl="1"/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Stage-2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zh-CN" altLang="en-US" dirty="0"/>
              <a:t>第二阶段页表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新的页表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GPA</a:t>
            </a:r>
            <a:r>
              <a:rPr kumimoji="1" lang="zh-CN" altLang="en-US" dirty="0"/>
              <a:t>翻译成</a:t>
            </a:r>
            <a:r>
              <a:rPr kumimoji="1" lang="en-US" altLang="zh-CN" dirty="0"/>
              <a:t>HPA</a:t>
            </a:r>
          </a:p>
          <a:p>
            <a:pPr lvl="1"/>
            <a:r>
              <a:rPr kumimoji="1" lang="zh-CN" altLang="en-US" dirty="0"/>
              <a:t>此表被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直接控制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每一个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有一个对应的页表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64B11C-8D73-F543-AFC6-3DB21F8D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D1F155-DB47-6D43-8FA4-D81908CF1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03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995C-D995-3E42-902C-0B671ED0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997AA-B8E1-1048-9B62-60456A14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第一阶段页表：虚拟机内虚拟地址翻译（</a:t>
            </a:r>
            <a:r>
              <a:rPr kumimoji="1" lang="en-US" altLang="zh-CN" dirty="0"/>
              <a:t>GVA-&gt;GPA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第二阶段页表：虚拟机客户物理地址翻译（</a:t>
            </a:r>
            <a:r>
              <a:rPr kumimoji="1" lang="en-US" altLang="zh-CN" dirty="0"/>
              <a:t>GPA-&gt;HPA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C9E3B4-D398-794B-BE5A-53933A03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99556D-1E09-F54B-A22F-C3D6B30A3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920009B-105A-D04E-BD34-028B3CFA035E}"/>
              </a:ext>
            </a:extLst>
          </p:cNvPr>
          <p:cNvGrpSpPr/>
          <p:nvPr/>
        </p:nvGrpSpPr>
        <p:grpSpPr>
          <a:xfrm>
            <a:off x="755576" y="2281436"/>
            <a:ext cx="7488832" cy="3049100"/>
            <a:chOff x="475924" y="70274"/>
            <a:chExt cx="8360384" cy="5239165"/>
          </a:xfrm>
        </p:grpSpPr>
        <p:cxnSp>
          <p:nvCxnSpPr>
            <p:cNvPr id="7" name="Straight Connector 146">
              <a:extLst>
                <a:ext uri="{FF2B5EF4-FFF2-40B4-BE49-F238E27FC236}">
                  <a16:creationId xmlns:a16="http://schemas.microsoft.com/office/drawing/2014/main" id="{1AE110D6-C335-C740-9833-E0C28518777A}"/>
                </a:ext>
              </a:extLst>
            </p:cNvPr>
            <p:cNvCxnSpPr/>
            <p:nvPr/>
          </p:nvCxnSpPr>
          <p:spPr>
            <a:xfrm>
              <a:off x="3632968" y="2504742"/>
              <a:ext cx="1311696" cy="924083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83">
              <a:extLst>
                <a:ext uri="{FF2B5EF4-FFF2-40B4-BE49-F238E27FC236}">
                  <a16:creationId xmlns:a16="http://schemas.microsoft.com/office/drawing/2014/main" id="{081229DF-1E5B-5F48-96D1-5E6782A4E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72652" y="3457256"/>
              <a:ext cx="6318029" cy="718081"/>
            </a:xfrm>
            <a:prstGeom prst="rect">
              <a:avLst/>
            </a:prstGeom>
          </p:spPr>
        </p:pic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0E164BDA-81FD-DC4E-BF2A-279AA737D7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0355" y="342882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673A9FC0-24A0-2247-B933-9178EA47B4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6764" y="342882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FB7A246F-CB54-F14F-9140-30BA4404509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039BCCAC-566A-E943-AE81-E3740FCD16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1F55AD9C-AAA1-5F4E-A725-5C76F18FB3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ACC4EE90-59BC-D744-8B57-C3B60F6F02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76230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2FCFDE0B-DE4C-414B-909E-9E584E5C1C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83912"/>
              <a:ext cx="655848" cy="352835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7C21F957-FC21-914F-9D3C-3B8912076C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2183912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6546AB6F-130E-7C45-B24C-7CFD6BD4DB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2183912"/>
              <a:ext cx="655848" cy="352835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15B39B1A-8990-E041-B93E-9492E99ECD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2968" y="2183912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19" name="Straight Connector 15">
              <a:extLst>
                <a:ext uri="{FF2B5EF4-FFF2-40B4-BE49-F238E27FC236}">
                  <a16:creationId xmlns:a16="http://schemas.microsoft.com/office/drawing/2014/main" id="{9609828E-1781-BD44-969E-93DAB7F0C9D5}"/>
                </a:ext>
              </a:extLst>
            </p:cNvPr>
            <p:cNvCxnSpPr/>
            <p:nvPr/>
          </p:nvCxnSpPr>
          <p:spPr>
            <a:xfrm>
              <a:off x="1665424" y="1332426"/>
              <a:ext cx="655848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6">
              <a:extLst>
                <a:ext uri="{FF2B5EF4-FFF2-40B4-BE49-F238E27FC236}">
                  <a16:creationId xmlns:a16="http://schemas.microsoft.com/office/drawing/2014/main" id="{7F7D681C-A90A-674D-A1F9-9EE50B8AC3F2}"/>
                </a:ext>
              </a:extLst>
            </p:cNvPr>
            <p:cNvCxnSpPr/>
            <p:nvPr/>
          </p:nvCxnSpPr>
          <p:spPr>
            <a:xfrm>
              <a:off x="2321272" y="1332426"/>
              <a:ext cx="655848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7">
              <a:extLst>
                <a:ext uri="{FF2B5EF4-FFF2-40B4-BE49-F238E27FC236}">
                  <a16:creationId xmlns:a16="http://schemas.microsoft.com/office/drawing/2014/main" id="{F688F64A-8968-6A40-99B2-0E905EC301E0}"/>
                </a:ext>
              </a:extLst>
            </p:cNvPr>
            <p:cNvCxnSpPr/>
            <p:nvPr/>
          </p:nvCxnSpPr>
          <p:spPr>
            <a:xfrm flipH="1">
              <a:off x="3632968" y="1332426"/>
              <a:ext cx="655848" cy="851486"/>
            </a:xfrm>
            <a:prstGeom prst="line">
              <a:avLst/>
            </a:prstGeom>
            <a:ln>
              <a:solidFill>
                <a:srgbClr val="7289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0">
              <a:extLst>
                <a:ext uri="{FF2B5EF4-FFF2-40B4-BE49-F238E27FC236}">
                  <a16:creationId xmlns:a16="http://schemas.microsoft.com/office/drawing/2014/main" id="{AC889F1C-00A3-B640-8D6A-6E28B1B59093}"/>
                </a:ext>
              </a:extLst>
            </p:cNvPr>
            <p:cNvCxnSpPr/>
            <p:nvPr/>
          </p:nvCxnSpPr>
          <p:spPr>
            <a:xfrm flipH="1">
              <a:off x="4288816" y="1332426"/>
              <a:ext cx="655848" cy="851486"/>
            </a:xfrm>
            <a:prstGeom prst="line">
              <a:avLst/>
            </a:prstGeom>
            <a:ln>
              <a:solidFill>
                <a:srgbClr val="7289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6B0C7A8A-89AF-A94C-91DC-B4DABB97FC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979591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6AB5DCA-74F7-8E41-A274-3CC081501D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2183912"/>
              <a:ext cx="655848" cy="352835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25" name="Straight Connector 25">
              <a:extLst>
                <a:ext uri="{FF2B5EF4-FFF2-40B4-BE49-F238E27FC236}">
                  <a16:creationId xmlns:a16="http://schemas.microsoft.com/office/drawing/2014/main" id="{1DFC766A-A04A-1241-AE9B-40DE08FDDADC}"/>
                </a:ext>
              </a:extLst>
            </p:cNvPr>
            <p:cNvCxnSpPr/>
            <p:nvPr/>
          </p:nvCxnSpPr>
          <p:spPr>
            <a:xfrm flipH="1">
              <a:off x="1676764" y="1332426"/>
              <a:ext cx="1300356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">
              <a:extLst>
                <a:ext uri="{FF2B5EF4-FFF2-40B4-BE49-F238E27FC236}">
                  <a16:creationId xmlns:a16="http://schemas.microsoft.com/office/drawing/2014/main" id="{C69E5FF5-E0DF-C943-81F8-E2A4AB1BC248}"/>
                </a:ext>
              </a:extLst>
            </p:cNvPr>
            <p:cNvCxnSpPr/>
            <p:nvPr/>
          </p:nvCxnSpPr>
          <p:spPr>
            <a:xfrm flipH="1">
              <a:off x="2321272" y="1332426"/>
              <a:ext cx="1311696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46CE1484-D1ED-3B40-8445-A26BF6BACB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308" y="343548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3E3E8DE0-DED1-E641-AFE9-DC37C19FE4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9" name="Rectangle 31">
              <a:extLst>
                <a:ext uri="{FF2B5EF4-FFF2-40B4-BE49-F238E27FC236}">
                  <a16:creationId xmlns:a16="http://schemas.microsoft.com/office/drawing/2014/main" id="{068F2896-6E3D-6944-848A-6E9080DE99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3435484"/>
              <a:ext cx="655848" cy="352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B1601F76-99DC-E447-AF27-06FD3C1F53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600512" y="3435484"/>
              <a:ext cx="655848" cy="3528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999B7A61-F08C-0347-90B1-BCEDC3B066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3435484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0627418E-DE60-8D47-A105-A7E4810E36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3435484"/>
              <a:ext cx="655848" cy="352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7DB612F2-9650-C64C-8ADE-3121BBF495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979591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8835C851-6A80-574D-A319-7FE8A0215A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2183912"/>
              <a:ext cx="655848" cy="352835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BC47905B-3858-1D4E-B962-16B33E854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2208" y="2183912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F125C589-BF92-974A-BB89-B67D7BA18A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79579"/>
              <a:ext cx="3279240" cy="352835"/>
            </a:xfrm>
            <a:prstGeom prst="rect">
              <a:avLst/>
            </a:prstGeom>
            <a:noFill/>
            <a:ln w="38100" cmpd="sng">
              <a:solidFill>
                <a:srgbClr val="BE384B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5BB2A7DF-0B03-9A42-9B38-1C0AF90E9A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E182014-3C80-6646-B073-1BBEAB1B3C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39" name="Straight Connector 50">
              <a:extLst>
                <a:ext uri="{FF2B5EF4-FFF2-40B4-BE49-F238E27FC236}">
                  <a16:creationId xmlns:a16="http://schemas.microsoft.com/office/drawing/2014/main" id="{F3D65767-0B28-224C-9D5C-D195503A60AD}"/>
                </a:ext>
              </a:extLst>
            </p:cNvPr>
            <p:cNvCxnSpPr/>
            <p:nvPr/>
          </p:nvCxnSpPr>
          <p:spPr>
            <a:xfrm>
              <a:off x="2321272" y="2542542"/>
              <a:ext cx="655848" cy="864406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53">
              <a:extLst>
                <a:ext uri="{FF2B5EF4-FFF2-40B4-BE49-F238E27FC236}">
                  <a16:creationId xmlns:a16="http://schemas.microsoft.com/office/drawing/2014/main" id="{353B8BD4-A5EC-CE47-AC76-7255683C2905}"/>
                </a:ext>
              </a:extLst>
            </p:cNvPr>
            <p:cNvCxnSpPr/>
            <p:nvPr/>
          </p:nvCxnSpPr>
          <p:spPr>
            <a:xfrm>
              <a:off x="1665424" y="2529065"/>
              <a:ext cx="655848" cy="896597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62">
              <a:extLst>
                <a:ext uri="{FF2B5EF4-FFF2-40B4-BE49-F238E27FC236}">
                  <a16:creationId xmlns:a16="http://schemas.microsoft.com/office/drawing/2014/main" id="{6D72707E-A1C2-7349-BCAD-ADC1FDDFAE65}"/>
                </a:ext>
              </a:extLst>
            </p:cNvPr>
            <p:cNvCxnSpPr/>
            <p:nvPr/>
          </p:nvCxnSpPr>
          <p:spPr>
            <a:xfrm flipH="1">
              <a:off x="6256360" y="2536747"/>
              <a:ext cx="655848" cy="888915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64">
              <a:extLst>
                <a:ext uri="{FF2B5EF4-FFF2-40B4-BE49-F238E27FC236}">
                  <a16:creationId xmlns:a16="http://schemas.microsoft.com/office/drawing/2014/main" id="{6E08895B-645A-B241-B957-D3EFED4DCA3E}"/>
                </a:ext>
              </a:extLst>
            </p:cNvPr>
            <p:cNvCxnSpPr/>
            <p:nvPr/>
          </p:nvCxnSpPr>
          <p:spPr>
            <a:xfrm flipH="1">
              <a:off x="6912208" y="2536747"/>
              <a:ext cx="655848" cy="870201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5">
              <a:extLst>
                <a:ext uri="{FF2B5EF4-FFF2-40B4-BE49-F238E27FC236}">
                  <a16:creationId xmlns:a16="http://schemas.microsoft.com/office/drawing/2014/main" id="{A8E54B0C-92A3-1E42-9A5F-E9E4D5DA5B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638B4A23-2102-1449-9B36-E2DDE42E2A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6764" y="3425662"/>
              <a:ext cx="5891292" cy="352835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5" name="TextBox 69">
              <a:extLst>
                <a:ext uri="{FF2B5EF4-FFF2-40B4-BE49-F238E27FC236}">
                  <a16:creationId xmlns:a16="http://schemas.microsoft.com/office/drawing/2014/main" id="{A717D2AB-0127-7F47-BFBF-5A52DA0D3079}"/>
                </a:ext>
              </a:extLst>
            </p:cNvPr>
            <p:cNvSpPr txBox="1"/>
            <p:nvPr/>
          </p:nvSpPr>
          <p:spPr>
            <a:xfrm>
              <a:off x="475924" y="317732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GVA</a:t>
              </a:r>
            </a:p>
          </p:txBody>
        </p:sp>
        <p:sp>
          <p:nvSpPr>
            <p:cNvPr id="46" name="TextBox 70">
              <a:extLst>
                <a:ext uri="{FF2B5EF4-FFF2-40B4-BE49-F238E27FC236}">
                  <a16:creationId xmlns:a16="http://schemas.microsoft.com/office/drawing/2014/main" id="{BB737759-FE23-F045-ABAE-227ADB0AFD03}"/>
                </a:ext>
              </a:extLst>
            </p:cNvPr>
            <p:cNvSpPr txBox="1"/>
            <p:nvPr/>
          </p:nvSpPr>
          <p:spPr>
            <a:xfrm>
              <a:off x="475924" y="1926208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GPA</a:t>
              </a:r>
            </a:p>
          </p:txBody>
        </p:sp>
        <p:sp>
          <p:nvSpPr>
            <p:cNvPr id="47" name="TextBox 71">
              <a:extLst>
                <a:ext uri="{FF2B5EF4-FFF2-40B4-BE49-F238E27FC236}">
                  <a16:creationId xmlns:a16="http://schemas.microsoft.com/office/drawing/2014/main" id="{BDFFAA24-AF18-CA4B-BFD1-ECFE07E8620F}"/>
                </a:ext>
              </a:extLst>
            </p:cNvPr>
            <p:cNvSpPr txBox="1"/>
            <p:nvPr/>
          </p:nvSpPr>
          <p:spPr>
            <a:xfrm>
              <a:off x="475924" y="3410954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HPA</a:t>
              </a:r>
            </a:p>
          </p:txBody>
        </p:sp>
        <p:sp>
          <p:nvSpPr>
            <p:cNvPr id="48" name="Rectangle 10">
              <a:extLst>
                <a:ext uri="{FF2B5EF4-FFF2-40B4-BE49-F238E27FC236}">
                  <a16:creationId xmlns:a16="http://schemas.microsoft.com/office/drawing/2014/main" id="{C42984D7-4EF9-9A4F-8F44-567AD0657D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72652" y="702453"/>
              <a:ext cx="4309061" cy="2264856"/>
            </a:xfrm>
            <a:prstGeom prst="rect">
              <a:avLst/>
            </a:prstGeom>
            <a:noFill/>
            <a:ln w="3175" cmpd="sng">
              <a:prstDash val="dash"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9" name="Rectangle 10">
              <a:extLst>
                <a:ext uri="{FF2B5EF4-FFF2-40B4-BE49-F238E27FC236}">
                  <a16:creationId xmlns:a16="http://schemas.microsoft.com/office/drawing/2014/main" id="{CA03A7BD-9F04-054F-8D10-13F641FCD0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864" y="702453"/>
              <a:ext cx="1723625" cy="2264856"/>
            </a:xfrm>
            <a:prstGeom prst="rect">
              <a:avLst/>
            </a:prstGeom>
            <a:noFill/>
            <a:ln w="3175" cmpd="sng">
              <a:solidFill>
                <a:srgbClr val="8064A2"/>
              </a:solidFill>
              <a:prstDash val="dash"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0" name="TextBox 74">
              <a:extLst>
                <a:ext uri="{FF2B5EF4-FFF2-40B4-BE49-F238E27FC236}">
                  <a16:creationId xmlns:a16="http://schemas.microsoft.com/office/drawing/2014/main" id="{16B67F9C-0026-C040-8727-4EE7D3081C47}"/>
                </a:ext>
              </a:extLst>
            </p:cNvPr>
            <p:cNvSpPr txBox="1"/>
            <p:nvPr/>
          </p:nvSpPr>
          <p:spPr>
            <a:xfrm>
              <a:off x="2726797" y="70274"/>
              <a:ext cx="1723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Guest VM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1" name="TextBox 75">
              <a:extLst>
                <a:ext uri="{FF2B5EF4-FFF2-40B4-BE49-F238E27FC236}">
                  <a16:creationId xmlns:a16="http://schemas.microsoft.com/office/drawing/2014/main" id="{C7907F6F-86F4-A946-8694-BD53A5EA1B50}"/>
                </a:ext>
              </a:extLst>
            </p:cNvPr>
            <p:cNvSpPr txBox="1"/>
            <p:nvPr/>
          </p:nvSpPr>
          <p:spPr>
            <a:xfrm>
              <a:off x="6424659" y="70274"/>
              <a:ext cx="1723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VMM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2" name="TextBox 76">
              <a:extLst>
                <a:ext uri="{FF2B5EF4-FFF2-40B4-BE49-F238E27FC236}">
                  <a16:creationId xmlns:a16="http://schemas.microsoft.com/office/drawing/2014/main" id="{63E2CEC3-902C-A14C-8335-4869C972EA2F}"/>
                </a:ext>
              </a:extLst>
            </p:cNvPr>
            <p:cNvSpPr txBox="1"/>
            <p:nvPr/>
          </p:nvSpPr>
          <p:spPr>
            <a:xfrm>
              <a:off x="7871648" y="1678750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VA</a:t>
              </a:r>
            </a:p>
          </p:txBody>
        </p:sp>
        <p:sp>
          <p:nvSpPr>
            <p:cNvPr id="53" name="TextBox 77">
              <a:extLst>
                <a:ext uri="{FF2B5EF4-FFF2-40B4-BE49-F238E27FC236}">
                  <a16:creationId xmlns:a16="http://schemas.microsoft.com/office/drawing/2014/main" id="{31C83834-B69A-1045-942A-3B286AD7BEB9}"/>
                </a:ext>
              </a:extLst>
            </p:cNvPr>
            <p:cNvSpPr txBox="1"/>
            <p:nvPr/>
          </p:nvSpPr>
          <p:spPr>
            <a:xfrm>
              <a:off x="7884368" y="3361556"/>
              <a:ext cx="909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PA</a:t>
              </a:r>
            </a:p>
          </p:txBody>
        </p:sp>
        <p:cxnSp>
          <p:nvCxnSpPr>
            <p:cNvPr id="54" name="Straight Arrow Connector 79">
              <a:extLst>
                <a:ext uri="{FF2B5EF4-FFF2-40B4-BE49-F238E27FC236}">
                  <a16:creationId xmlns:a16="http://schemas.microsoft.com/office/drawing/2014/main" id="{71BE3C40-7744-0246-A5F2-129C6F88CC8D}"/>
                </a:ext>
              </a:extLst>
            </p:cNvPr>
            <p:cNvCxnSpPr>
              <a:cxnSpLocks/>
            </p:cNvCxnSpPr>
            <p:nvPr/>
          </p:nvCxnSpPr>
          <p:spPr>
            <a:xfrm>
              <a:off x="958254" y="936376"/>
              <a:ext cx="0" cy="111539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80">
              <a:extLst>
                <a:ext uri="{FF2B5EF4-FFF2-40B4-BE49-F238E27FC236}">
                  <a16:creationId xmlns:a16="http://schemas.microsoft.com/office/drawing/2014/main" id="{750E2F10-219D-F641-A3C5-B0B9A2298126}"/>
                </a:ext>
              </a:extLst>
            </p:cNvPr>
            <p:cNvCxnSpPr>
              <a:cxnSpLocks/>
            </p:cNvCxnSpPr>
            <p:nvPr/>
          </p:nvCxnSpPr>
          <p:spPr>
            <a:xfrm>
              <a:off x="958254" y="2544852"/>
              <a:ext cx="0" cy="10047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99">
              <a:extLst>
                <a:ext uri="{FF2B5EF4-FFF2-40B4-BE49-F238E27FC236}">
                  <a16:creationId xmlns:a16="http://schemas.microsoft.com/office/drawing/2014/main" id="{B3D30F1D-EFCC-F44D-9A24-086E6142CF9B}"/>
                </a:ext>
              </a:extLst>
            </p:cNvPr>
            <p:cNvCxnSpPr>
              <a:cxnSpLocks/>
            </p:cNvCxnSpPr>
            <p:nvPr/>
          </p:nvCxnSpPr>
          <p:spPr>
            <a:xfrm>
              <a:off x="8316416" y="2281436"/>
              <a:ext cx="0" cy="111063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106">
              <a:extLst>
                <a:ext uri="{FF2B5EF4-FFF2-40B4-BE49-F238E27FC236}">
                  <a16:creationId xmlns:a16="http://schemas.microsoft.com/office/drawing/2014/main" id="{7EFCF76C-E2D8-0842-BC0C-D3C913B256D3}"/>
                </a:ext>
              </a:extLst>
            </p:cNvPr>
            <p:cNvSpPr/>
            <p:nvPr/>
          </p:nvSpPr>
          <p:spPr>
            <a:xfrm>
              <a:off x="475924" y="1098768"/>
              <a:ext cx="964660" cy="594243"/>
            </a:xfrm>
            <a:prstGeom prst="rect">
              <a:avLst/>
            </a:prstGeom>
            <a:solidFill>
              <a:srgbClr val="558ED6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Stage1</a:t>
              </a:r>
            </a:p>
            <a:p>
              <a:pPr algn="ctr"/>
              <a:r>
                <a:rPr 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</a:p>
          </p:txBody>
        </p:sp>
        <p:sp>
          <p:nvSpPr>
            <p:cNvPr id="58" name="Rectangle 107">
              <a:extLst>
                <a:ext uri="{FF2B5EF4-FFF2-40B4-BE49-F238E27FC236}">
                  <a16:creationId xmlns:a16="http://schemas.microsoft.com/office/drawing/2014/main" id="{244E8ADB-2F49-BD44-8CA0-7B23A4624DBA}"/>
                </a:ext>
              </a:extLst>
            </p:cNvPr>
            <p:cNvSpPr/>
            <p:nvPr/>
          </p:nvSpPr>
          <p:spPr>
            <a:xfrm>
              <a:off x="475924" y="2668581"/>
              <a:ext cx="964660" cy="576001"/>
            </a:xfrm>
            <a:prstGeom prst="rect">
              <a:avLst/>
            </a:prstGeom>
            <a:solidFill>
              <a:srgbClr val="BE384B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Stage2</a:t>
              </a:r>
              <a:r>
                <a:rPr lang="zh-CN" alt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endParaRPr lang="en-US" altLang="zh-CN" sz="12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  <a:endParaRPr lang="en-US" sz="12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9" name="Rectangle 108">
              <a:extLst>
                <a:ext uri="{FF2B5EF4-FFF2-40B4-BE49-F238E27FC236}">
                  <a16:creationId xmlns:a16="http://schemas.microsoft.com/office/drawing/2014/main" id="{3D7A4DE5-DA97-914A-A337-AFBCAB99D7A7}"/>
                </a:ext>
              </a:extLst>
            </p:cNvPr>
            <p:cNvSpPr/>
            <p:nvPr/>
          </p:nvSpPr>
          <p:spPr>
            <a:xfrm>
              <a:off x="7740352" y="2425452"/>
              <a:ext cx="1095956" cy="616475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Stage1</a:t>
              </a:r>
            </a:p>
            <a:p>
              <a:pPr algn="ctr"/>
              <a:r>
                <a:rPr 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</a:p>
          </p:txBody>
        </p:sp>
        <p:pic>
          <p:nvPicPr>
            <p:cNvPr id="60" name="Picture 113">
              <a:extLst>
                <a:ext uri="{FF2B5EF4-FFF2-40B4-BE49-F238E27FC236}">
                  <a16:creationId xmlns:a16="http://schemas.microsoft.com/office/drawing/2014/main" id="{F441721F-6A1D-A841-A4D2-553CB6B06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60254" y="4491306"/>
              <a:ext cx="1007063" cy="818133"/>
            </a:xfrm>
            <a:prstGeom prst="rect">
              <a:avLst/>
            </a:prstGeom>
          </p:spPr>
        </p:pic>
        <p:cxnSp>
          <p:nvCxnSpPr>
            <p:cNvPr id="61" name="Elbow Connector 115">
              <a:extLst>
                <a:ext uri="{FF2B5EF4-FFF2-40B4-BE49-F238E27FC236}">
                  <a16:creationId xmlns:a16="http://schemas.microsoft.com/office/drawing/2014/main" id="{A6C15E3A-1030-FE4D-AE48-FA0327EEE051}"/>
                </a:ext>
              </a:extLst>
            </p:cNvPr>
            <p:cNvCxnSpPr>
              <a:cxnSpLocks/>
              <a:stCxn id="60" idx="1"/>
              <a:endCxn id="57" idx="1"/>
            </p:cNvCxnSpPr>
            <p:nvPr/>
          </p:nvCxnSpPr>
          <p:spPr>
            <a:xfrm rot="10800000">
              <a:off x="475925" y="1395890"/>
              <a:ext cx="3584330" cy="3504483"/>
            </a:xfrm>
            <a:prstGeom prst="bentConnector3">
              <a:avLst>
                <a:gd name="adj1" fmla="val 107120"/>
              </a:avLst>
            </a:prstGeom>
            <a:ln>
              <a:solidFill>
                <a:srgbClr val="558ED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lbow Connector 116">
              <a:extLst>
                <a:ext uri="{FF2B5EF4-FFF2-40B4-BE49-F238E27FC236}">
                  <a16:creationId xmlns:a16="http://schemas.microsoft.com/office/drawing/2014/main" id="{2E36C8E3-2154-874A-9261-2C8396E12C45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rot="10800000">
              <a:off x="475924" y="2956581"/>
              <a:ext cx="3520713" cy="2014323"/>
            </a:xfrm>
            <a:prstGeom prst="bentConnector3">
              <a:avLst>
                <a:gd name="adj1" fmla="val 109479"/>
              </a:avLst>
            </a:prstGeom>
            <a:ln>
              <a:solidFill>
                <a:srgbClr val="BE384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125">
              <a:extLst>
                <a:ext uri="{FF2B5EF4-FFF2-40B4-BE49-F238E27FC236}">
                  <a16:creationId xmlns:a16="http://schemas.microsoft.com/office/drawing/2014/main" id="{50B04859-A2C6-B147-950D-6B425AF94249}"/>
                </a:ext>
              </a:extLst>
            </p:cNvPr>
            <p:cNvCxnSpPr>
              <a:cxnSpLocks/>
              <a:stCxn id="60" idx="3"/>
              <a:endCxn id="59" idx="3"/>
            </p:cNvCxnSpPr>
            <p:nvPr/>
          </p:nvCxnSpPr>
          <p:spPr>
            <a:xfrm flipV="1">
              <a:off x="5067317" y="2733690"/>
              <a:ext cx="3768991" cy="2166683"/>
            </a:xfrm>
            <a:prstGeom prst="bentConnector3">
              <a:avLst>
                <a:gd name="adj1" fmla="val 106065"/>
              </a:avLst>
            </a:prstGeom>
            <a:ln>
              <a:solidFill>
                <a:schemeClr val="accent4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43">
              <a:extLst>
                <a:ext uri="{FF2B5EF4-FFF2-40B4-BE49-F238E27FC236}">
                  <a16:creationId xmlns:a16="http://schemas.microsoft.com/office/drawing/2014/main" id="{DEAB8A96-63D0-5942-A350-DA4FAB3B5729}"/>
                </a:ext>
              </a:extLst>
            </p:cNvPr>
            <p:cNvCxnSpPr/>
            <p:nvPr/>
          </p:nvCxnSpPr>
          <p:spPr>
            <a:xfrm>
              <a:off x="4300156" y="2531615"/>
              <a:ext cx="1300356" cy="875333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160">
              <a:extLst>
                <a:ext uri="{FF2B5EF4-FFF2-40B4-BE49-F238E27FC236}">
                  <a16:creationId xmlns:a16="http://schemas.microsoft.com/office/drawing/2014/main" id="{75985FBE-57E4-8D44-8643-93FC391794E9}"/>
                </a:ext>
              </a:extLst>
            </p:cNvPr>
            <p:cNvSpPr txBox="1"/>
            <p:nvPr/>
          </p:nvSpPr>
          <p:spPr>
            <a:xfrm>
              <a:off x="5520902" y="4522302"/>
              <a:ext cx="2925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EL2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6" name="TextBox 161">
              <a:extLst>
                <a:ext uri="{FF2B5EF4-FFF2-40B4-BE49-F238E27FC236}">
                  <a16:creationId xmlns:a16="http://schemas.microsoft.com/office/drawing/2014/main" id="{FCF9EF41-7247-2F4A-9316-550B8597CEFB}"/>
                </a:ext>
              </a:extLst>
            </p:cNvPr>
            <p:cNvSpPr txBox="1"/>
            <p:nvPr/>
          </p:nvSpPr>
          <p:spPr>
            <a:xfrm>
              <a:off x="877866" y="4277057"/>
              <a:ext cx="2925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EL0</a:t>
              </a:r>
              <a:r>
                <a:rPr lang="zh-CN" alt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&amp;</a:t>
              </a:r>
              <a:r>
                <a:rPr lang="zh-CN" alt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EL1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693584AD-1348-AE45-8A85-0C3C44D1B2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2189707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68" name="Straight Connector 163">
              <a:extLst>
                <a:ext uri="{FF2B5EF4-FFF2-40B4-BE49-F238E27FC236}">
                  <a16:creationId xmlns:a16="http://schemas.microsoft.com/office/drawing/2014/main" id="{E49DBC03-F6CD-AD44-A85E-5C6D50A11909}"/>
                </a:ext>
              </a:extLst>
            </p:cNvPr>
            <p:cNvCxnSpPr/>
            <p:nvPr/>
          </p:nvCxnSpPr>
          <p:spPr>
            <a:xfrm flipH="1">
              <a:off x="4944664" y="2548953"/>
              <a:ext cx="1311696" cy="876709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65">
              <a:extLst>
                <a:ext uri="{FF2B5EF4-FFF2-40B4-BE49-F238E27FC236}">
                  <a16:creationId xmlns:a16="http://schemas.microsoft.com/office/drawing/2014/main" id="{6423C01A-74C5-E249-882E-ED7F11D39571}"/>
                </a:ext>
              </a:extLst>
            </p:cNvPr>
            <p:cNvCxnSpPr/>
            <p:nvPr/>
          </p:nvCxnSpPr>
          <p:spPr>
            <a:xfrm flipH="1">
              <a:off x="5598659" y="2542542"/>
              <a:ext cx="1311696" cy="886283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632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9D8BC-CF51-D640-B33E-A035CD2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70E39-FD5C-C94B-B36C-4037A215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15C4C-322A-2C4C-AAD5-2638DA0D8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7AB3D3-7918-BF49-8CB7-30A9CCE81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616" y="1129308"/>
            <a:ext cx="6316146" cy="40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2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228FB-B8D2-E948-8477-BC047516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VTTBR_EL2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CCEA8-49D4-2446-84CD-5ABE194B8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存储虚拟机第二阶段页表基地址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只有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个寄存器：</a:t>
            </a:r>
            <a:r>
              <a:rPr kumimoji="1" lang="en-US" altLang="zh-CN" dirty="0"/>
              <a:t>VTTBR_EL2</a:t>
            </a:r>
          </a:p>
          <a:p>
            <a:r>
              <a:rPr kumimoji="1" lang="zh-CN" altLang="en-US" dirty="0"/>
              <a:t>对比第一阶段页表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个页表基地址寄存器：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在调度</a:t>
            </a:r>
            <a:r>
              <a:rPr kumimoji="1" lang="en-US" altLang="zh-CN" dirty="0"/>
              <a:t>VM</a:t>
            </a:r>
            <a:r>
              <a:rPr kumimoji="1" lang="zh-CN" altLang="en-US" dirty="0"/>
              <a:t>之前需要在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中写入此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的第二阶段页表基地址</a:t>
            </a:r>
          </a:p>
          <a:p>
            <a:r>
              <a:rPr kumimoji="1" lang="zh-CN" altLang="en-US" dirty="0"/>
              <a:t>第二阶段页表使能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HCR_EL2</a:t>
            </a:r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E1F36-A463-9B4B-85D3-14162DE0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252B8-17A3-534E-B54A-276BA6DA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79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D4017-8BC0-D44C-BC88-EA869514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9AA50-5A9B-5D4B-8A47-E2E8604E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与第一阶段页表完全一致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 第</a:t>
            </a:r>
            <a:r>
              <a:rPr kumimoji="1" lang="en-US" altLang="zh-CN" dirty="0"/>
              <a:t>0-2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与第一阶段在高位有不同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374C1-2E4A-F242-B945-4F3176EF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50E68-C0C2-5843-839E-F259FEF4E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12DEAC-EFA5-104C-939A-6F890DA505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2209428"/>
            <a:ext cx="8326685" cy="6515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7489CC-AD16-1C4F-AB82-15E66357A7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3937620"/>
            <a:ext cx="7812360" cy="1384283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05A11E6-D186-AD42-9DD9-9DEC1F167B88}"/>
              </a:ext>
            </a:extLst>
          </p:cNvPr>
          <p:cNvSpPr txBox="1">
            <a:spLocks/>
          </p:cNvSpPr>
          <p:nvPr/>
        </p:nvSpPr>
        <p:spPr>
          <a:xfrm>
            <a:off x="4860032" y="3001516"/>
            <a:ext cx="4104456" cy="1724536"/>
          </a:xfrm>
          <a:prstGeom prst="rect">
            <a:avLst/>
          </a:prstGeom>
          <a:ln w="25400">
            <a:solidFill>
              <a:srgbClr val="BE384B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 err="1"/>
              <a:t>NSTable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与</a:t>
            </a:r>
            <a:r>
              <a:rPr kumimoji="1" lang="en-US" altLang="zh-CN" sz="1600" dirty="0" err="1"/>
              <a:t>TrustZone</a:t>
            </a:r>
            <a:r>
              <a:rPr kumimoji="1" lang="zh-CN" altLang="en-US" sz="1600" dirty="0"/>
              <a:t>有关</a:t>
            </a:r>
            <a:endParaRPr kumimoji="1" lang="en-US" altLang="zh-CN" sz="1600" dirty="0"/>
          </a:p>
          <a:p>
            <a:r>
              <a:rPr kumimoji="1" lang="en-US" altLang="zh-CN" sz="1600" dirty="0" err="1"/>
              <a:t>APTable</a:t>
            </a:r>
            <a:r>
              <a:rPr kumimoji="1" lang="zh-CN" altLang="en-US" sz="1600" dirty="0"/>
              <a:t>：读写权限</a:t>
            </a:r>
            <a:endParaRPr kumimoji="1" lang="en-US" altLang="zh-CN" sz="1600" dirty="0"/>
          </a:p>
          <a:p>
            <a:r>
              <a:rPr kumimoji="1" lang="en-US" altLang="zh-CN" sz="1600" dirty="0" err="1"/>
              <a:t>XNTable</a:t>
            </a:r>
            <a:r>
              <a:rPr kumimoji="1" lang="zh-CN" altLang="en-US" sz="1600" dirty="0"/>
              <a:t>：执行权限</a:t>
            </a:r>
            <a:endParaRPr kumimoji="1" lang="en-US" altLang="zh-CN" sz="1600" dirty="0"/>
          </a:p>
          <a:p>
            <a:r>
              <a:rPr kumimoji="1" lang="en-US" altLang="zh-CN" sz="1600" dirty="0" err="1"/>
              <a:t>PXNTable</a:t>
            </a:r>
            <a:r>
              <a:rPr kumimoji="1" lang="zh-CN" altLang="en-US" sz="1600" dirty="0"/>
              <a:t>：特权级别软件的执行权限</a:t>
            </a:r>
            <a:endParaRPr kumimoji="1" lang="en-US" altLang="zh-CN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F7483B-EE34-9448-9503-54FEEC4CECC6}"/>
              </a:ext>
            </a:extLst>
          </p:cNvPr>
          <p:cNvSpPr/>
          <p:nvPr/>
        </p:nvSpPr>
        <p:spPr>
          <a:xfrm>
            <a:off x="467544" y="3937620"/>
            <a:ext cx="295232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17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D7B1FD-EFD7-E946-88B5-FC12B0DE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AA4FE-518B-4F4D-8B90-724ECC543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D2028A8-E3F4-8F42-9102-A2F55771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翻译过程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4BB001F5-09F8-354C-9F0A-E5288ABC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034623" cy="3771636"/>
          </a:xfrm>
        </p:spPr>
        <p:txBody>
          <a:bodyPr/>
          <a:lstStyle/>
          <a:p>
            <a:r>
              <a:rPr kumimoji="1" lang="zh-CN" altLang="en-US" dirty="0"/>
              <a:t>总共</a:t>
            </a:r>
            <a:r>
              <a:rPr kumimoji="1" lang="en-US" altLang="zh-CN" dirty="0"/>
              <a:t>24</a:t>
            </a:r>
            <a:r>
              <a:rPr kumimoji="1" lang="zh-CN" altLang="en-US" dirty="0"/>
              <a:t>次内存访问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为什么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</a:p>
          <a:p>
            <a:pPr lvl="1"/>
            <a:r>
              <a:rPr kumimoji="1" lang="en-US" altLang="zh-CN" dirty="0">
                <a:solidFill>
                  <a:srgbClr val="BE384B"/>
                </a:solidFill>
              </a:rPr>
              <a:t>25-1</a:t>
            </a:r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读</a:t>
            </a:r>
            <a:r>
              <a:rPr kumimoji="1" lang="en-US" altLang="zh-CN" dirty="0">
                <a:solidFill>
                  <a:srgbClr val="BE384B"/>
                </a:solidFill>
              </a:rPr>
              <a:t>TTBR0_EL1</a:t>
            </a:r>
            <a:r>
              <a:rPr kumimoji="1" lang="zh-CN" altLang="en-US" dirty="0">
                <a:solidFill>
                  <a:srgbClr val="BE384B"/>
                </a:solidFill>
              </a:rPr>
              <a:t>无需内存访问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CD20F9-02D4-654A-9D13-BD5AB1821D9C}"/>
              </a:ext>
            </a:extLst>
          </p:cNvPr>
          <p:cNvSpPr/>
          <p:nvPr/>
        </p:nvSpPr>
        <p:spPr>
          <a:xfrm>
            <a:off x="4211960" y="337220"/>
            <a:ext cx="576064" cy="2160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TTBR0_EL1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EE1833-46A8-0A41-9842-0E457FCB17DA}"/>
              </a:ext>
            </a:extLst>
          </p:cNvPr>
          <p:cNvSpPr/>
          <p:nvPr/>
        </p:nvSpPr>
        <p:spPr>
          <a:xfrm>
            <a:off x="5004048" y="337220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L0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E14542-3DCB-194B-968D-304D5A533339}"/>
              </a:ext>
            </a:extLst>
          </p:cNvPr>
          <p:cNvSpPr/>
          <p:nvPr/>
        </p:nvSpPr>
        <p:spPr>
          <a:xfrm>
            <a:off x="4211960" y="625252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67C637FA-9B1A-964C-A619-B3295F69044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788024" y="409228"/>
            <a:ext cx="216024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8078FA6-B981-CF42-9C60-C91BE0F34296}"/>
              </a:ext>
            </a:extLst>
          </p:cNvPr>
          <p:cNvGrpSpPr/>
          <p:nvPr/>
        </p:nvGrpSpPr>
        <p:grpSpPr>
          <a:xfrm>
            <a:off x="5292080" y="625252"/>
            <a:ext cx="503999" cy="432048"/>
            <a:chOff x="5580112" y="409228"/>
            <a:chExt cx="648072" cy="43204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255503D-0069-AC4D-AA54-537E5F70CBFE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BAB48D1-EF92-034E-9F54-DAB97E766721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251284A-C74E-5C40-8EC6-09749C7D2E0B}"/>
              </a:ext>
            </a:extLst>
          </p:cNvPr>
          <p:cNvGrpSpPr/>
          <p:nvPr/>
        </p:nvGrpSpPr>
        <p:grpSpPr>
          <a:xfrm>
            <a:off x="6084168" y="625252"/>
            <a:ext cx="503999" cy="432048"/>
            <a:chOff x="5580112" y="409228"/>
            <a:chExt cx="648072" cy="432048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FA9B59-D1C4-974A-BD4F-4638495F0D7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581C655-EED4-F149-9BAA-0AC2B24251B3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707C91C-C448-D546-8675-6C5CEB785F72}"/>
              </a:ext>
            </a:extLst>
          </p:cNvPr>
          <p:cNvGrpSpPr/>
          <p:nvPr/>
        </p:nvGrpSpPr>
        <p:grpSpPr>
          <a:xfrm>
            <a:off x="6876256" y="625252"/>
            <a:ext cx="503999" cy="432048"/>
            <a:chOff x="5580112" y="409228"/>
            <a:chExt cx="648072" cy="43204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3704592-37A9-4C46-B42F-4566F4D0C4DD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3CB387C-3CDC-2045-B35A-A2310076838C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0DED42-6603-1F4D-B725-9BD1D1181A1E}"/>
              </a:ext>
            </a:extLst>
          </p:cNvPr>
          <p:cNvGrpSpPr/>
          <p:nvPr/>
        </p:nvGrpSpPr>
        <p:grpSpPr>
          <a:xfrm>
            <a:off x="7668344" y="625252"/>
            <a:ext cx="503999" cy="432048"/>
            <a:chOff x="5580112" y="409228"/>
            <a:chExt cx="648072" cy="43204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2525842-D98D-D742-9179-C204D338700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8F679D3-73E0-824C-9D2A-181CAA6D58FF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4215EA3-D36D-0B42-A0FC-E501150A046E}"/>
              </a:ext>
            </a:extLst>
          </p:cNvPr>
          <p:cNvCxnSpPr>
            <a:cxnSpLocks/>
          </p:cNvCxnSpPr>
          <p:nvPr/>
        </p:nvCxnSpPr>
        <p:spPr>
          <a:xfrm>
            <a:off x="4788024" y="625252"/>
            <a:ext cx="504056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B989095E-2A5D-E645-AB3A-E35D847DF145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4965948" y="591344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5B27ADEF-88BB-AF4B-9111-4145FA867AD6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5830044" y="519336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26A327E2-3652-A54F-B276-3CD9332A92BF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6586128" y="555340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连接符 46">
            <a:extLst>
              <a:ext uri="{FF2B5EF4-FFF2-40B4-BE49-F238E27FC236}">
                <a16:creationId xmlns:a16="http://schemas.microsoft.com/office/drawing/2014/main" id="{1C22DE27-3451-124F-9AB6-9A5A9FD029C6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7342212" y="591344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连接符 56">
            <a:extLst>
              <a:ext uri="{FF2B5EF4-FFF2-40B4-BE49-F238E27FC236}">
                <a16:creationId xmlns:a16="http://schemas.microsoft.com/office/drawing/2014/main" id="{604F46B9-DFB4-F845-A3B7-1F2E96E6EABA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796079" y="625252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连接符 61">
            <a:extLst>
              <a:ext uri="{FF2B5EF4-FFF2-40B4-BE49-F238E27FC236}">
                <a16:creationId xmlns:a16="http://schemas.microsoft.com/office/drawing/2014/main" id="{377112A0-5682-B44D-8AFD-3AAE48471DD1}"/>
              </a:ext>
            </a:extLst>
          </p:cNvPr>
          <p:cNvCxnSpPr>
            <a:cxnSpLocks/>
          </p:cNvCxnSpPr>
          <p:nvPr/>
        </p:nvCxnSpPr>
        <p:spPr>
          <a:xfrm flipV="1">
            <a:off x="6588224" y="625252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连接符 63">
            <a:extLst>
              <a:ext uri="{FF2B5EF4-FFF2-40B4-BE49-F238E27FC236}">
                <a16:creationId xmlns:a16="http://schemas.microsoft.com/office/drawing/2014/main" id="{E7FBFD27-4270-DF4A-87D2-D3A090EC2EAE}"/>
              </a:ext>
            </a:extLst>
          </p:cNvPr>
          <p:cNvCxnSpPr>
            <a:cxnSpLocks/>
          </p:cNvCxnSpPr>
          <p:nvPr/>
        </p:nvCxnSpPr>
        <p:spPr>
          <a:xfrm flipV="1">
            <a:off x="7380312" y="625252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B712964-05BD-DA4B-B9C9-EE88A13B2BAD}"/>
              </a:ext>
            </a:extLst>
          </p:cNvPr>
          <p:cNvGrpSpPr/>
          <p:nvPr/>
        </p:nvGrpSpPr>
        <p:grpSpPr>
          <a:xfrm>
            <a:off x="4211960" y="1201316"/>
            <a:ext cx="503999" cy="432048"/>
            <a:chOff x="5580112" y="409228"/>
            <a:chExt cx="648072" cy="43204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4DADE60-C5FF-D442-ACDE-73AB39960A4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6AD2D79B-7C5B-C44B-871D-EA390F922DCD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70" name="肘形连接符 69">
            <a:extLst>
              <a:ext uri="{FF2B5EF4-FFF2-40B4-BE49-F238E27FC236}">
                <a16:creationId xmlns:a16="http://schemas.microsoft.com/office/drawing/2014/main" id="{F907ABDA-15A1-0D4C-9C44-857D80236317}"/>
              </a:ext>
            </a:extLst>
          </p:cNvPr>
          <p:cNvCxnSpPr>
            <a:stCxn id="32" idx="3"/>
            <a:endCxn id="67" idx="1"/>
          </p:cNvCxnSpPr>
          <p:nvPr/>
        </p:nvCxnSpPr>
        <p:spPr>
          <a:xfrm flipH="1">
            <a:off x="4211960" y="917477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1DFB215F-3BEE-9648-9D56-35B885DB945C}"/>
              </a:ext>
            </a:extLst>
          </p:cNvPr>
          <p:cNvSpPr/>
          <p:nvPr/>
        </p:nvSpPr>
        <p:spPr>
          <a:xfrm>
            <a:off x="4211960" y="1705372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F4E7A84-7129-BD46-B78B-D1D837AB725C}"/>
              </a:ext>
            </a:extLst>
          </p:cNvPr>
          <p:cNvSpPr/>
          <p:nvPr/>
        </p:nvSpPr>
        <p:spPr>
          <a:xfrm>
            <a:off x="5004048" y="1341139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L1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E215D362-9E58-D14F-9E71-DB4CACF9CC4B}"/>
              </a:ext>
            </a:extLst>
          </p:cNvPr>
          <p:cNvCxnSpPr>
            <a:cxnSpLocks/>
            <a:stCxn id="67" idx="3"/>
            <a:endCxn id="73" idx="1"/>
          </p:cNvCxnSpPr>
          <p:nvPr/>
        </p:nvCxnSpPr>
        <p:spPr>
          <a:xfrm flipV="1">
            <a:off x="4715959" y="1413147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EE82469-73E6-774B-9365-374A03CB72D9}"/>
              </a:ext>
            </a:extLst>
          </p:cNvPr>
          <p:cNvGrpSpPr/>
          <p:nvPr/>
        </p:nvGrpSpPr>
        <p:grpSpPr>
          <a:xfrm>
            <a:off x="5292080" y="1629171"/>
            <a:ext cx="503999" cy="432048"/>
            <a:chOff x="5580112" y="409228"/>
            <a:chExt cx="648072" cy="432048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A113F0C-56D9-6D4B-8364-F28DAA95650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62FC814-2405-A841-B1AB-DF51F0BF376A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7B7C3E3-F60A-A04D-A222-C9BB180DE9FE}"/>
              </a:ext>
            </a:extLst>
          </p:cNvPr>
          <p:cNvGrpSpPr/>
          <p:nvPr/>
        </p:nvGrpSpPr>
        <p:grpSpPr>
          <a:xfrm>
            <a:off x="6084168" y="1629171"/>
            <a:ext cx="503999" cy="432048"/>
            <a:chOff x="5580112" y="409228"/>
            <a:chExt cx="648072" cy="432048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F61364B-88A2-BF47-9F49-67C7CF3D6FD1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5E1E108-AFB4-BD42-840A-410E1E8031FF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ADCA1AD-5E29-8849-B427-1AFF3CF71431}"/>
              </a:ext>
            </a:extLst>
          </p:cNvPr>
          <p:cNvGrpSpPr/>
          <p:nvPr/>
        </p:nvGrpSpPr>
        <p:grpSpPr>
          <a:xfrm>
            <a:off x="6876256" y="1629171"/>
            <a:ext cx="503999" cy="432048"/>
            <a:chOff x="5580112" y="409228"/>
            <a:chExt cx="648072" cy="432048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14D525DE-E304-DE4E-A7E4-A41FE7023588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1DFA44D-8770-DB4A-92A1-E3AB4939C57A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F5D9FFE-E3C1-F249-8904-63813BEA1C7C}"/>
              </a:ext>
            </a:extLst>
          </p:cNvPr>
          <p:cNvGrpSpPr/>
          <p:nvPr/>
        </p:nvGrpSpPr>
        <p:grpSpPr>
          <a:xfrm>
            <a:off x="7668344" y="1629171"/>
            <a:ext cx="503999" cy="432048"/>
            <a:chOff x="5580112" y="409228"/>
            <a:chExt cx="648072" cy="432048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5BCF681E-8666-9946-9EDF-9432901D8C40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A07593D2-6C0E-6949-84DD-A5BDA15245BB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88" name="肘形连接符 87">
            <a:extLst>
              <a:ext uri="{FF2B5EF4-FFF2-40B4-BE49-F238E27FC236}">
                <a16:creationId xmlns:a16="http://schemas.microsoft.com/office/drawing/2014/main" id="{47E43826-C61C-6747-84D8-1DE5978C69D4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4965948" y="1595263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连接符 88">
            <a:extLst>
              <a:ext uri="{FF2B5EF4-FFF2-40B4-BE49-F238E27FC236}">
                <a16:creationId xmlns:a16="http://schemas.microsoft.com/office/drawing/2014/main" id="{44C950FD-144D-AD43-911F-C010E28CB4E3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5830044" y="1523255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连接符 89">
            <a:extLst>
              <a:ext uri="{FF2B5EF4-FFF2-40B4-BE49-F238E27FC236}">
                <a16:creationId xmlns:a16="http://schemas.microsoft.com/office/drawing/2014/main" id="{94FFF14B-3AFF-FF4B-A0AD-2B4ED889CC61}"/>
              </a:ext>
            </a:extLst>
          </p:cNvPr>
          <p:cNvCxnSpPr>
            <a:cxnSpLocks/>
            <a:endCxn id="83" idx="1"/>
          </p:cNvCxnSpPr>
          <p:nvPr/>
        </p:nvCxnSpPr>
        <p:spPr>
          <a:xfrm rot="16200000" flipH="1">
            <a:off x="6586128" y="1559259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26BD0D0E-8904-AF44-837D-A00C57E33AA9}"/>
              </a:ext>
            </a:extLst>
          </p:cNvPr>
          <p:cNvCxnSpPr>
            <a:cxnSpLocks/>
            <a:endCxn id="86" idx="1"/>
          </p:cNvCxnSpPr>
          <p:nvPr/>
        </p:nvCxnSpPr>
        <p:spPr>
          <a:xfrm rot="16200000" flipH="1">
            <a:off x="7342212" y="1595263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8059CCD3-7040-CD4E-A913-0684A8AFEB98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5796079" y="1629171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 92">
            <a:extLst>
              <a:ext uri="{FF2B5EF4-FFF2-40B4-BE49-F238E27FC236}">
                <a16:creationId xmlns:a16="http://schemas.microsoft.com/office/drawing/2014/main" id="{C586D77E-105D-584A-A55E-C96F07880055}"/>
              </a:ext>
            </a:extLst>
          </p:cNvPr>
          <p:cNvCxnSpPr>
            <a:cxnSpLocks/>
          </p:cNvCxnSpPr>
          <p:nvPr/>
        </p:nvCxnSpPr>
        <p:spPr>
          <a:xfrm flipV="1">
            <a:off x="6588224" y="1629171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>
            <a:extLst>
              <a:ext uri="{FF2B5EF4-FFF2-40B4-BE49-F238E27FC236}">
                <a16:creationId xmlns:a16="http://schemas.microsoft.com/office/drawing/2014/main" id="{CD364062-C0FB-6B44-84A3-2307A0D993F9}"/>
              </a:ext>
            </a:extLst>
          </p:cNvPr>
          <p:cNvCxnSpPr>
            <a:cxnSpLocks/>
          </p:cNvCxnSpPr>
          <p:nvPr/>
        </p:nvCxnSpPr>
        <p:spPr>
          <a:xfrm flipV="1">
            <a:off x="7380312" y="1629171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584E9C09-5D8E-FF47-849C-BFB443E8B8A1}"/>
              </a:ext>
            </a:extLst>
          </p:cNvPr>
          <p:cNvCxnSpPr>
            <a:stCxn id="86" idx="3"/>
          </p:cNvCxnSpPr>
          <p:nvPr/>
        </p:nvCxnSpPr>
        <p:spPr>
          <a:xfrm flipH="1">
            <a:off x="4211960" y="1921396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肘形连接符 98">
            <a:extLst>
              <a:ext uri="{FF2B5EF4-FFF2-40B4-BE49-F238E27FC236}">
                <a16:creationId xmlns:a16="http://schemas.microsoft.com/office/drawing/2014/main" id="{66F90C04-F79B-924F-B861-09C60792B142}"/>
              </a:ext>
            </a:extLst>
          </p:cNvPr>
          <p:cNvCxnSpPr>
            <a:cxnSpLocks/>
          </p:cNvCxnSpPr>
          <p:nvPr/>
        </p:nvCxnSpPr>
        <p:spPr>
          <a:xfrm flipV="1">
            <a:off x="4788024" y="1633364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FC53931-0115-9442-9031-4F7C6DD384F9}"/>
              </a:ext>
            </a:extLst>
          </p:cNvPr>
          <p:cNvGrpSpPr/>
          <p:nvPr/>
        </p:nvGrpSpPr>
        <p:grpSpPr>
          <a:xfrm>
            <a:off x="4211960" y="2209428"/>
            <a:ext cx="503999" cy="432048"/>
            <a:chOff x="5580112" y="409228"/>
            <a:chExt cx="648072" cy="432048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D63B5644-ED09-9F4D-B160-866809F41DD7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99703D37-6934-AF46-933F-575E668070B1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05" name="矩形 104">
            <a:extLst>
              <a:ext uri="{FF2B5EF4-FFF2-40B4-BE49-F238E27FC236}">
                <a16:creationId xmlns:a16="http://schemas.microsoft.com/office/drawing/2014/main" id="{A15D4458-4CF9-8C4B-869E-0A619FD2AACD}"/>
              </a:ext>
            </a:extLst>
          </p:cNvPr>
          <p:cNvSpPr/>
          <p:nvPr/>
        </p:nvSpPr>
        <p:spPr>
          <a:xfrm>
            <a:off x="4211960" y="2713484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E8F704CB-8669-A044-9E01-35DBD8DFDE92}"/>
              </a:ext>
            </a:extLst>
          </p:cNvPr>
          <p:cNvSpPr/>
          <p:nvPr/>
        </p:nvSpPr>
        <p:spPr>
          <a:xfrm>
            <a:off x="5004048" y="2349251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L2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B000466-29DD-7A4F-BB8F-C961B20C5A81}"/>
              </a:ext>
            </a:extLst>
          </p:cNvPr>
          <p:cNvCxnSpPr>
            <a:cxnSpLocks/>
            <a:stCxn id="103" idx="3"/>
            <a:endCxn id="106" idx="1"/>
          </p:cNvCxnSpPr>
          <p:nvPr/>
        </p:nvCxnSpPr>
        <p:spPr>
          <a:xfrm flipV="1">
            <a:off x="4715959" y="2421259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1913362F-FB36-344D-BBCC-1619ABB29D2B}"/>
              </a:ext>
            </a:extLst>
          </p:cNvPr>
          <p:cNvGrpSpPr/>
          <p:nvPr/>
        </p:nvGrpSpPr>
        <p:grpSpPr>
          <a:xfrm>
            <a:off x="5292080" y="2637283"/>
            <a:ext cx="503999" cy="432048"/>
            <a:chOff x="5580112" y="409228"/>
            <a:chExt cx="648072" cy="432048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A7062B0-47E1-DF43-B534-AC9EB344FD26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F7B4B465-E0C4-1D41-B2FA-26FE08955C23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597CFE6-FED6-5940-8A5F-B31B53468341}"/>
              </a:ext>
            </a:extLst>
          </p:cNvPr>
          <p:cNvGrpSpPr/>
          <p:nvPr/>
        </p:nvGrpSpPr>
        <p:grpSpPr>
          <a:xfrm>
            <a:off x="6084168" y="2637283"/>
            <a:ext cx="503999" cy="432048"/>
            <a:chOff x="5580112" y="409228"/>
            <a:chExt cx="648072" cy="432048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218C1F49-3E7C-E545-92F9-C15E33DBDDF0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F4038DAA-F7C7-7441-B0A8-3B6539552FF4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874AF927-FD5A-DA42-BCBB-F3743B093339}"/>
              </a:ext>
            </a:extLst>
          </p:cNvPr>
          <p:cNvGrpSpPr/>
          <p:nvPr/>
        </p:nvGrpSpPr>
        <p:grpSpPr>
          <a:xfrm>
            <a:off x="6876256" y="2637283"/>
            <a:ext cx="503999" cy="432048"/>
            <a:chOff x="5580112" y="409228"/>
            <a:chExt cx="648072" cy="432048"/>
          </a:xfrm>
        </p:grpSpPr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4A7CC3DE-18E1-2245-997E-A5E090F1994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A999D4B7-4CFB-814A-BF0D-C6557CBEA3F6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46453BE-9CD8-B944-9029-70D3FBCA3434}"/>
              </a:ext>
            </a:extLst>
          </p:cNvPr>
          <p:cNvGrpSpPr/>
          <p:nvPr/>
        </p:nvGrpSpPr>
        <p:grpSpPr>
          <a:xfrm>
            <a:off x="7668344" y="2637283"/>
            <a:ext cx="503999" cy="432048"/>
            <a:chOff x="5580112" y="409228"/>
            <a:chExt cx="648072" cy="432048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9B96FDB-4A59-6B40-8A4B-8A97D06358E9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5F065175-EEAE-2848-98DD-C7C4F40428F7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20" name="肘形连接符 119">
            <a:extLst>
              <a:ext uri="{FF2B5EF4-FFF2-40B4-BE49-F238E27FC236}">
                <a16:creationId xmlns:a16="http://schemas.microsoft.com/office/drawing/2014/main" id="{C3D41355-BF3C-6045-8D4E-8FC1B9416D7E}"/>
              </a:ext>
            </a:extLst>
          </p:cNvPr>
          <p:cNvCxnSpPr>
            <a:cxnSpLocks/>
            <a:endCxn id="110" idx="1"/>
          </p:cNvCxnSpPr>
          <p:nvPr/>
        </p:nvCxnSpPr>
        <p:spPr>
          <a:xfrm rot="16200000" flipH="1">
            <a:off x="4965948" y="2603375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肘形连接符 120">
            <a:extLst>
              <a:ext uri="{FF2B5EF4-FFF2-40B4-BE49-F238E27FC236}">
                <a16:creationId xmlns:a16="http://schemas.microsoft.com/office/drawing/2014/main" id="{457C9C9B-DF21-E642-AA4B-D02DC3106305}"/>
              </a:ext>
            </a:extLst>
          </p:cNvPr>
          <p:cNvCxnSpPr>
            <a:cxnSpLocks/>
            <a:endCxn id="113" idx="1"/>
          </p:cNvCxnSpPr>
          <p:nvPr/>
        </p:nvCxnSpPr>
        <p:spPr>
          <a:xfrm rot="16200000" flipH="1">
            <a:off x="5830044" y="2531367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肘形连接符 121">
            <a:extLst>
              <a:ext uri="{FF2B5EF4-FFF2-40B4-BE49-F238E27FC236}">
                <a16:creationId xmlns:a16="http://schemas.microsoft.com/office/drawing/2014/main" id="{FB06C312-54EC-0F4F-B419-C201D0322A80}"/>
              </a:ext>
            </a:extLst>
          </p:cNvPr>
          <p:cNvCxnSpPr>
            <a:cxnSpLocks/>
            <a:endCxn id="116" idx="1"/>
          </p:cNvCxnSpPr>
          <p:nvPr/>
        </p:nvCxnSpPr>
        <p:spPr>
          <a:xfrm rot="16200000" flipH="1">
            <a:off x="6586128" y="2567371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肘形连接符 122">
            <a:extLst>
              <a:ext uri="{FF2B5EF4-FFF2-40B4-BE49-F238E27FC236}">
                <a16:creationId xmlns:a16="http://schemas.microsoft.com/office/drawing/2014/main" id="{CE370C52-3458-1945-8947-E75A45CDD2FE}"/>
              </a:ext>
            </a:extLst>
          </p:cNvPr>
          <p:cNvCxnSpPr>
            <a:cxnSpLocks/>
            <a:endCxn id="119" idx="1"/>
          </p:cNvCxnSpPr>
          <p:nvPr/>
        </p:nvCxnSpPr>
        <p:spPr>
          <a:xfrm rot="16200000" flipH="1">
            <a:off x="7342212" y="2603375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肘形连接符 123">
            <a:extLst>
              <a:ext uri="{FF2B5EF4-FFF2-40B4-BE49-F238E27FC236}">
                <a16:creationId xmlns:a16="http://schemas.microsoft.com/office/drawing/2014/main" id="{5CCD7560-A368-AA48-9EC0-49F05AD2AF24}"/>
              </a:ext>
            </a:extLst>
          </p:cNvPr>
          <p:cNvCxnSpPr>
            <a:cxnSpLocks/>
            <a:stCxn id="109" idx="3"/>
          </p:cNvCxnSpPr>
          <p:nvPr/>
        </p:nvCxnSpPr>
        <p:spPr>
          <a:xfrm flipV="1">
            <a:off x="5796079" y="2637283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连接符 124">
            <a:extLst>
              <a:ext uri="{FF2B5EF4-FFF2-40B4-BE49-F238E27FC236}">
                <a16:creationId xmlns:a16="http://schemas.microsoft.com/office/drawing/2014/main" id="{1EDA5255-2AEF-C745-A3F6-CEC8B073B421}"/>
              </a:ext>
            </a:extLst>
          </p:cNvPr>
          <p:cNvCxnSpPr>
            <a:cxnSpLocks/>
          </p:cNvCxnSpPr>
          <p:nvPr/>
        </p:nvCxnSpPr>
        <p:spPr>
          <a:xfrm flipV="1">
            <a:off x="6588224" y="2637283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肘形连接符 125">
            <a:extLst>
              <a:ext uri="{FF2B5EF4-FFF2-40B4-BE49-F238E27FC236}">
                <a16:creationId xmlns:a16="http://schemas.microsoft.com/office/drawing/2014/main" id="{89A3DC53-5B28-5541-B345-747E48B76C86}"/>
              </a:ext>
            </a:extLst>
          </p:cNvPr>
          <p:cNvCxnSpPr>
            <a:cxnSpLocks/>
          </p:cNvCxnSpPr>
          <p:nvPr/>
        </p:nvCxnSpPr>
        <p:spPr>
          <a:xfrm flipV="1">
            <a:off x="7380312" y="2637283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肘形连接符 126">
            <a:extLst>
              <a:ext uri="{FF2B5EF4-FFF2-40B4-BE49-F238E27FC236}">
                <a16:creationId xmlns:a16="http://schemas.microsoft.com/office/drawing/2014/main" id="{D0A0E896-6B2B-544E-B204-158B6FC2A713}"/>
              </a:ext>
            </a:extLst>
          </p:cNvPr>
          <p:cNvCxnSpPr>
            <a:stCxn id="119" idx="3"/>
          </p:cNvCxnSpPr>
          <p:nvPr/>
        </p:nvCxnSpPr>
        <p:spPr>
          <a:xfrm flipH="1">
            <a:off x="4211960" y="2929508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肘形连接符 127">
            <a:extLst>
              <a:ext uri="{FF2B5EF4-FFF2-40B4-BE49-F238E27FC236}">
                <a16:creationId xmlns:a16="http://schemas.microsoft.com/office/drawing/2014/main" id="{A5EA51CD-8850-3F4F-BCA2-00411BB17449}"/>
              </a:ext>
            </a:extLst>
          </p:cNvPr>
          <p:cNvCxnSpPr>
            <a:cxnSpLocks/>
          </p:cNvCxnSpPr>
          <p:nvPr/>
        </p:nvCxnSpPr>
        <p:spPr>
          <a:xfrm flipV="1">
            <a:off x="4788024" y="2641476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E698BCBD-8429-C74A-902F-DE80854F4F4B}"/>
              </a:ext>
            </a:extLst>
          </p:cNvPr>
          <p:cNvGrpSpPr/>
          <p:nvPr/>
        </p:nvGrpSpPr>
        <p:grpSpPr>
          <a:xfrm>
            <a:off x="4211960" y="3217540"/>
            <a:ext cx="503999" cy="432048"/>
            <a:chOff x="5580112" y="409228"/>
            <a:chExt cx="648072" cy="432048"/>
          </a:xfrm>
        </p:grpSpPr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ED09480E-19C9-0D4D-A999-105F40FBDD5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36FB11A4-4328-964D-A9E2-30FEC1D1AA7A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32" name="矩形 131">
            <a:extLst>
              <a:ext uri="{FF2B5EF4-FFF2-40B4-BE49-F238E27FC236}">
                <a16:creationId xmlns:a16="http://schemas.microsoft.com/office/drawing/2014/main" id="{BE82C75B-2239-C841-BB5A-42E7E234E4AA}"/>
              </a:ext>
            </a:extLst>
          </p:cNvPr>
          <p:cNvSpPr/>
          <p:nvPr/>
        </p:nvSpPr>
        <p:spPr>
          <a:xfrm>
            <a:off x="4211960" y="3721596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FBF57BF0-17A1-F949-BCD3-43F773607F98}"/>
              </a:ext>
            </a:extLst>
          </p:cNvPr>
          <p:cNvSpPr/>
          <p:nvPr/>
        </p:nvSpPr>
        <p:spPr>
          <a:xfrm>
            <a:off x="5004048" y="3357363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L3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DD4A4E2C-CE54-1843-B8A9-8558A99E2824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4715959" y="3429371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E4A232DA-A9A5-8148-8B67-7CA2577D7180}"/>
              </a:ext>
            </a:extLst>
          </p:cNvPr>
          <p:cNvGrpSpPr/>
          <p:nvPr/>
        </p:nvGrpSpPr>
        <p:grpSpPr>
          <a:xfrm>
            <a:off x="5292080" y="3645395"/>
            <a:ext cx="503999" cy="432048"/>
            <a:chOff x="5580112" y="409228"/>
            <a:chExt cx="648072" cy="432048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DDF21E66-9CB5-8A45-BDF1-CBF46628F8B4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67AB0C4-CE81-0F43-9D55-9A01F8F18959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9E64945B-17EA-FA4A-8634-BD4EF0239DAD}"/>
              </a:ext>
            </a:extLst>
          </p:cNvPr>
          <p:cNvGrpSpPr/>
          <p:nvPr/>
        </p:nvGrpSpPr>
        <p:grpSpPr>
          <a:xfrm>
            <a:off x="6084168" y="3645395"/>
            <a:ext cx="503999" cy="432048"/>
            <a:chOff x="5580112" y="409228"/>
            <a:chExt cx="648072" cy="432048"/>
          </a:xfrm>
        </p:grpSpPr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CBB5A2C9-39A9-6C48-9E54-A6A17A62A707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DAB2A1A5-AB67-0B4F-9144-BDCBC81ECC53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4FC5F7-5BB3-2846-9719-433A54748DDE}"/>
              </a:ext>
            </a:extLst>
          </p:cNvPr>
          <p:cNvGrpSpPr/>
          <p:nvPr/>
        </p:nvGrpSpPr>
        <p:grpSpPr>
          <a:xfrm>
            <a:off x="6876256" y="3645395"/>
            <a:ext cx="503999" cy="432048"/>
            <a:chOff x="5580112" y="409228"/>
            <a:chExt cx="648072" cy="432048"/>
          </a:xfrm>
        </p:grpSpPr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74490E8C-B29F-2043-A4CE-7341CE692EE8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20F60CDF-8F5B-3345-960B-C64C85B54764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4426A1B2-BEBE-8340-8756-967B8C9C0A1A}"/>
              </a:ext>
            </a:extLst>
          </p:cNvPr>
          <p:cNvGrpSpPr/>
          <p:nvPr/>
        </p:nvGrpSpPr>
        <p:grpSpPr>
          <a:xfrm>
            <a:off x="7668344" y="3645395"/>
            <a:ext cx="503999" cy="432048"/>
            <a:chOff x="5580112" y="409228"/>
            <a:chExt cx="648072" cy="432048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24344AA8-7547-F645-80CA-E1F41E2C9CE5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085CA1B-EB43-FB4B-B466-0CA6DBE0FEE8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47" name="肘形连接符 146">
            <a:extLst>
              <a:ext uri="{FF2B5EF4-FFF2-40B4-BE49-F238E27FC236}">
                <a16:creationId xmlns:a16="http://schemas.microsoft.com/office/drawing/2014/main" id="{F7D31755-4DB0-2E45-AA73-B49C992FE287}"/>
              </a:ext>
            </a:extLst>
          </p:cNvPr>
          <p:cNvCxnSpPr>
            <a:cxnSpLocks/>
            <a:endCxn id="137" idx="1"/>
          </p:cNvCxnSpPr>
          <p:nvPr/>
        </p:nvCxnSpPr>
        <p:spPr>
          <a:xfrm rot="16200000" flipH="1">
            <a:off x="4965948" y="3611487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肘形连接符 147">
            <a:extLst>
              <a:ext uri="{FF2B5EF4-FFF2-40B4-BE49-F238E27FC236}">
                <a16:creationId xmlns:a16="http://schemas.microsoft.com/office/drawing/2014/main" id="{83245416-6CED-0B44-8512-DF5FC94DB929}"/>
              </a:ext>
            </a:extLst>
          </p:cNvPr>
          <p:cNvCxnSpPr>
            <a:cxnSpLocks/>
            <a:endCxn id="140" idx="1"/>
          </p:cNvCxnSpPr>
          <p:nvPr/>
        </p:nvCxnSpPr>
        <p:spPr>
          <a:xfrm rot="16200000" flipH="1">
            <a:off x="5830044" y="3539479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肘形连接符 148">
            <a:extLst>
              <a:ext uri="{FF2B5EF4-FFF2-40B4-BE49-F238E27FC236}">
                <a16:creationId xmlns:a16="http://schemas.microsoft.com/office/drawing/2014/main" id="{B161E253-50E7-3D45-B3AE-C08E7D4E9B4C}"/>
              </a:ext>
            </a:extLst>
          </p:cNvPr>
          <p:cNvCxnSpPr>
            <a:cxnSpLocks/>
            <a:endCxn id="143" idx="1"/>
          </p:cNvCxnSpPr>
          <p:nvPr/>
        </p:nvCxnSpPr>
        <p:spPr>
          <a:xfrm rot="16200000" flipH="1">
            <a:off x="6586128" y="3575483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肘形连接符 149">
            <a:extLst>
              <a:ext uri="{FF2B5EF4-FFF2-40B4-BE49-F238E27FC236}">
                <a16:creationId xmlns:a16="http://schemas.microsoft.com/office/drawing/2014/main" id="{DC2BFEB8-29CC-0D43-9210-2D9F5B7F18D1}"/>
              </a:ext>
            </a:extLst>
          </p:cNvPr>
          <p:cNvCxnSpPr>
            <a:cxnSpLocks/>
            <a:endCxn id="146" idx="1"/>
          </p:cNvCxnSpPr>
          <p:nvPr/>
        </p:nvCxnSpPr>
        <p:spPr>
          <a:xfrm rot="16200000" flipH="1">
            <a:off x="7342212" y="3611487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肘形连接符 150">
            <a:extLst>
              <a:ext uri="{FF2B5EF4-FFF2-40B4-BE49-F238E27FC236}">
                <a16:creationId xmlns:a16="http://schemas.microsoft.com/office/drawing/2014/main" id="{20F276FB-5371-454D-B48A-58F2DBBAAFD1}"/>
              </a:ext>
            </a:extLst>
          </p:cNvPr>
          <p:cNvCxnSpPr>
            <a:cxnSpLocks/>
            <a:stCxn id="136" idx="3"/>
          </p:cNvCxnSpPr>
          <p:nvPr/>
        </p:nvCxnSpPr>
        <p:spPr>
          <a:xfrm flipV="1">
            <a:off x="5796079" y="3645395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肘形连接符 151">
            <a:extLst>
              <a:ext uri="{FF2B5EF4-FFF2-40B4-BE49-F238E27FC236}">
                <a16:creationId xmlns:a16="http://schemas.microsoft.com/office/drawing/2014/main" id="{C497133D-147B-A746-9BD1-1CD6A05423B5}"/>
              </a:ext>
            </a:extLst>
          </p:cNvPr>
          <p:cNvCxnSpPr>
            <a:cxnSpLocks/>
          </p:cNvCxnSpPr>
          <p:nvPr/>
        </p:nvCxnSpPr>
        <p:spPr>
          <a:xfrm flipV="1">
            <a:off x="6588224" y="3645395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肘形连接符 152">
            <a:extLst>
              <a:ext uri="{FF2B5EF4-FFF2-40B4-BE49-F238E27FC236}">
                <a16:creationId xmlns:a16="http://schemas.microsoft.com/office/drawing/2014/main" id="{12C1C0A1-84EA-1643-AD58-35EEBCF5067F}"/>
              </a:ext>
            </a:extLst>
          </p:cNvPr>
          <p:cNvCxnSpPr>
            <a:cxnSpLocks/>
          </p:cNvCxnSpPr>
          <p:nvPr/>
        </p:nvCxnSpPr>
        <p:spPr>
          <a:xfrm flipV="1">
            <a:off x="7380312" y="3645395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肘形连接符 153">
            <a:extLst>
              <a:ext uri="{FF2B5EF4-FFF2-40B4-BE49-F238E27FC236}">
                <a16:creationId xmlns:a16="http://schemas.microsoft.com/office/drawing/2014/main" id="{07E659C3-906F-1448-A854-F140CEBF1970}"/>
              </a:ext>
            </a:extLst>
          </p:cNvPr>
          <p:cNvCxnSpPr>
            <a:stCxn id="146" idx="3"/>
          </p:cNvCxnSpPr>
          <p:nvPr/>
        </p:nvCxnSpPr>
        <p:spPr>
          <a:xfrm flipH="1">
            <a:off x="4211960" y="3937620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肘形连接符 154">
            <a:extLst>
              <a:ext uri="{FF2B5EF4-FFF2-40B4-BE49-F238E27FC236}">
                <a16:creationId xmlns:a16="http://schemas.microsoft.com/office/drawing/2014/main" id="{B2394541-6375-1A44-A2A2-31EF13631CCE}"/>
              </a:ext>
            </a:extLst>
          </p:cNvPr>
          <p:cNvCxnSpPr>
            <a:cxnSpLocks/>
          </p:cNvCxnSpPr>
          <p:nvPr/>
        </p:nvCxnSpPr>
        <p:spPr>
          <a:xfrm flipV="1">
            <a:off x="4788024" y="3649588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38341CB9-D1CB-EE4E-9AB6-E2784127836A}"/>
              </a:ext>
            </a:extLst>
          </p:cNvPr>
          <p:cNvGrpSpPr/>
          <p:nvPr/>
        </p:nvGrpSpPr>
        <p:grpSpPr>
          <a:xfrm>
            <a:off x="4211960" y="4225652"/>
            <a:ext cx="503999" cy="432048"/>
            <a:chOff x="5580112" y="409228"/>
            <a:chExt cx="648072" cy="4320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8BFD436F-6125-FB45-BB5F-F90D57E192B9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04D69E17-A97C-884B-A33D-D9D77125D914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59" name="矩形 158">
            <a:extLst>
              <a:ext uri="{FF2B5EF4-FFF2-40B4-BE49-F238E27FC236}">
                <a16:creationId xmlns:a16="http://schemas.microsoft.com/office/drawing/2014/main" id="{6A0E0AC5-EFBF-404E-8634-754C12F3ECA6}"/>
              </a:ext>
            </a:extLst>
          </p:cNvPr>
          <p:cNvSpPr/>
          <p:nvPr/>
        </p:nvSpPr>
        <p:spPr>
          <a:xfrm>
            <a:off x="4211960" y="4729708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6DE898-6A43-BA4A-9DA7-B94B4415AEBE}"/>
              </a:ext>
            </a:extLst>
          </p:cNvPr>
          <p:cNvSpPr/>
          <p:nvPr/>
        </p:nvSpPr>
        <p:spPr>
          <a:xfrm>
            <a:off x="5004048" y="4365475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数据页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0274396-B4C8-4948-8A96-B897908B5388}"/>
              </a:ext>
            </a:extLst>
          </p:cNvPr>
          <p:cNvCxnSpPr>
            <a:cxnSpLocks/>
            <a:stCxn id="157" idx="3"/>
            <a:endCxn id="160" idx="1"/>
          </p:cNvCxnSpPr>
          <p:nvPr/>
        </p:nvCxnSpPr>
        <p:spPr>
          <a:xfrm flipV="1">
            <a:off x="4715959" y="4437483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2E2EB646-7586-7F4A-9465-7A499C443A0D}"/>
              </a:ext>
            </a:extLst>
          </p:cNvPr>
          <p:cNvGrpSpPr/>
          <p:nvPr/>
        </p:nvGrpSpPr>
        <p:grpSpPr>
          <a:xfrm>
            <a:off x="5292080" y="4653507"/>
            <a:ext cx="503999" cy="432048"/>
            <a:chOff x="5580112" y="409228"/>
            <a:chExt cx="648072" cy="432048"/>
          </a:xfrm>
        </p:grpSpPr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0C7F45F2-BAE1-EF43-BE21-DCB1DF1EB62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4ADB499A-84B2-CF4F-A35B-2014DBB84F57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BAC380F1-334E-2D42-BFE1-E004C84A5F19}"/>
              </a:ext>
            </a:extLst>
          </p:cNvPr>
          <p:cNvGrpSpPr/>
          <p:nvPr/>
        </p:nvGrpSpPr>
        <p:grpSpPr>
          <a:xfrm>
            <a:off x="6084168" y="4653507"/>
            <a:ext cx="503999" cy="432048"/>
            <a:chOff x="5580112" y="409228"/>
            <a:chExt cx="648072" cy="432048"/>
          </a:xfrm>
        </p:grpSpPr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10975294-7469-0141-9639-CD805BC8026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70E41D0D-B414-9A46-9ADE-03046AB547BC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06E93EB1-9E4C-9146-B54C-2CD745639A1E}"/>
              </a:ext>
            </a:extLst>
          </p:cNvPr>
          <p:cNvGrpSpPr/>
          <p:nvPr/>
        </p:nvGrpSpPr>
        <p:grpSpPr>
          <a:xfrm>
            <a:off x="6876256" y="4653507"/>
            <a:ext cx="503999" cy="432048"/>
            <a:chOff x="5580112" y="409228"/>
            <a:chExt cx="648072" cy="432048"/>
          </a:xfrm>
        </p:grpSpPr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1D5573BE-DE55-A444-A1B6-ED3DF474032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C2E79947-591B-7742-A0D9-84D4336FC176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302926A4-1AC2-A742-9D72-6292E298A646}"/>
              </a:ext>
            </a:extLst>
          </p:cNvPr>
          <p:cNvGrpSpPr/>
          <p:nvPr/>
        </p:nvGrpSpPr>
        <p:grpSpPr>
          <a:xfrm>
            <a:off x="7668344" y="4653507"/>
            <a:ext cx="503999" cy="432048"/>
            <a:chOff x="5580112" y="409228"/>
            <a:chExt cx="648072" cy="432048"/>
          </a:xfrm>
        </p:grpSpPr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03059BE9-469B-AC43-A8D8-6A06E2DC83E4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98091BBA-B622-9446-9BD1-55E4DEEECBD1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74" name="肘形连接符 173">
            <a:extLst>
              <a:ext uri="{FF2B5EF4-FFF2-40B4-BE49-F238E27FC236}">
                <a16:creationId xmlns:a16="http://schemas.microsoft.com/office/drawing/2014/main" id="{24C47902-7E5E-9849-8D94-934DF4757EAD}"/>
              </a:ext>
            </a:extLst>
          </p:cNvPr>
          <p:cNvCxnSpPr>
            <a:cxnSpLocks/>
            <a:endCxn id="164" idx="1"/>
          </p:cNvCxnSpPr>
          <p:nvPr/>
        </p:nvCxnSpPr>
        <p:spPr>
          <a:xfrm rot="16200000" flipH="1">
            <a:off x="4965948" y="4619599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肘形连接符 174">
            <a:extLst>
              <a:ext uri="{FF2B5EF4-FFF2-40B4-BE49-F238E27FC236}">
                <a16:creationId xmlns:a16="http://schemas.microsoft.com/office/drawing/2014/main" id="{8645E530-8822-1140-BFAF-66028C8940E6}"/>
              </a:ext>
            </a:extLst>
          </p:cNvPr>
          <p:cNvCxnSpPr>
            <a:cxnSpLocks/>
            <a:endCxn id="167" idx="1"/>
          </p:cNvCxnSpPr>
          <p:nvPr/>
        </p:nvCxnSpPr>
        <p:spPr>
          <a:xfrm rot="16200000" flipH="1">
            <a:off x="5830044" y="4547591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肘形连接符 175">
            <a:extLst>
              <a:ext uri="{FF2B5EF4-FFF2-40B4-BE49-F238E27FC236}">
                <a16:creationId xmlns:a16="http://schemas.microsoft.com/office/drawing/2014/main" id="{38BFB85B-841D-6C49-AB03-ACE466560A10}"/>
              </a:ext>
            </a:extLst>
          </p:cNvPr>
          <p:cNvCxnSpPr>
            <a:cxnSpLocks/>
            <a:endCxn id="170" idx="1"/>
          </p:cNvCxnSpPr>
          <p:nvPr/>
        </p:nvCxnSpPr>
        <p:spPr>
          <a:xfrm rot="16200000" flipH="1">
            <a:off x="6586128" y="4583595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肘形连接符 176">
            <a:extLst>
              <a:ext uri="{FF2B5EF4-FFF2-40B4-BE49-F238E27FC236}">
                <a16:creationId xmlns:a16="http://schemas.microsoft.com/office/drawing/2014/main" id="{6E4E20B5-A9E6-F24A-88A9-2D63E7620F43}"/>
              </a:ext>
            </a:extLst>
          </p:cNvPr>
          <p:cNvCxnSpPr>
            <a:cxnSpLocks/>
            <a:endCxn id="173" idx="1"/>
          </p:cNvCxnSpPr>
          <p:nvPr/>
        </p:nvCxnSpPr>
        <p:spPr>
          <a:xfrm rot="16200000" flipH="1">
            <a:off x="7342212" y="4619599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肘形连接符 177">
            <a:extLst>
              <a:ext uri="{FF2B5EF4-FFF2-40B4-BE49-F238E27FC236}">
                <a16:creationId xmlns:a16="http://schemas.microsoft.com/office/drawing/2014/main" id="{3ACD8DBA-EB98-B44F-82E8-9EC3D793568F}"/>
              </a:ext>
            </a:extLst>
          </p:cNvPr>
          <p:cNvCxnSpPr>
            <a:cxnSpLocks/>
            <a:stCxn id="163" idx="3"/>
          </p:cNvCxnSpPr>
          <p:nvPr/>
        </p:nvCxnSpPr>
        <p:spPr>
          <a:xfrm flipV="1">
            <a:off x="5796079" y="4653507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肘形连接符 178">
            <a:extLst>
              <a:ext uri="{FF2B5EF4-FFF2-40B4-BE49-F238E27FC236}">
                <a16:creationId xmlns:a16="http://schemas.microsoft.com/office/drawing/2014/main" id="{F9F1B051-2EE4-A94C-8C64-D669EB52268A}"/>
              </a:ext>
            </a:extLst>
          </p:cNvPr>
          <p:cNvCxnSpPr>
            <a:cxnSpLocks/>
          </p:cNvCxnSpPr>
          <p:nvPr/>
        </p:nvCxnSpPr>
        <p:spPr>
          <a:xfrm flipV="1">
            <a:off x="6588224" y="4653507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肘形连接符 179">
            <a:extLst>
              <a:ext uri="{FF2B5EF4-FFF2-40B4-BE49-F238E27FC236}">
                <a16:creationId xmlns:a16="http://schemas.microsoft.com/office/drawing/2014/main" id="{6CFC5AC6-ECAA-B84B-A7D5-A1A61F511746}"/>
              </a:ext>
            </a:extLst>
          </p:cNvPr>
          <p:cNvCxnSpPr>
            <a:cxnSpLocks/>
          </p:cNvCxnSpPr>
          <p:nvPr/>
        </p:nvCxnSpPr>
        <p:spPr>
          <a:xfrm flipV="1">
            <a:off x="7380312" y="4653507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肘形连接符 181">
            <a:extLst>
              <a:ext uri="{FF2B5EF4-FFF2-40B4-BE49-F238E27FC236}">
                <a16:creationId xmlns:a16="http://schemas.microsoft.com/office/drawing/2014/main" id="{D2D70B21-48CE-B84A-8E56-899262CBA03C}"/>
              </a:ext>
            </a:extLst>
          </p:cNvPr>
          <p:cNvCxnSpPr>
            <a:cxnSpLocks/>
          </p:cNvCxnSpPr>
          <p:nvPr/>
        </p:nvCxnSpPr>
        <p:spPr>
          <a:xfrm flipV="1">
            <a:off x="4788024" y="4657700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矩形 182">
            <a:extLst>
              <a:ext uri="{FF2B5EF4-FFF2-40B4-BE49-F238E27FC236}">
                <a16:creationId xmlns:a16="http://schemas.microsoft.com/office/drawing/2014/main" id="{E8C3F35D-DB43-2C40-95FA-FAFA0A9E74EC}"/>
              </a:ext>
            </a:extLst>
          </p:cNvPr>
          <p:cNvSpPr/>
          <p:nvPr/>
        </p:nvSpPr>
        <p:spPr>
          <a:xfrm>
            <a:off x="3563888" y="625252"/>
            <a:ext cx="288032" cy="45365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GVA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5B111A41-82B5-3E48-B260-BE2D30BB070D}"/>
              </a:ext>
            </a:extLst>
          </p:cNvPr>
          <p:cNvSpPr/>
          <p:nvPr/>
        </p:nvSpPr>
        <p:spPr>
          <a:xfrm>
            <a:off x="8567936" y="625252"/>
            <a:ext cx="288032" cy="453650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数据</a:t>
            </a:r>
          </a:p>
        </p:txBody>
      </p: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D0B9773E-8F56-0049-BCEC-871E93DB644D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8172343" y="4945731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DF507471-2C7F-CF4E-9DB3-D0FE56A844C3}"/>
              </a:ext>
            </a:extLst>
          </p:cNvPr>
          <p:cNvCxnSpPr>
            <a:cxnSpLocks/>
          </p:cNvCxnSpPr>
          <p:nvPr/>
        </p:nvCxnSpPr>
        <p:spPr>
          <a:xfrm>
            <a:off x="3851920" y="1417340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线箭头连接符 188">
            <a:extLst>
              <a:ext uri="{FF2B5EF4-FFF2-40B4-BE49-F238E27FC236}">
                <a16:creationId xmlns:a16="http://schemas.microsoft.com/office/drawing/2014/main" id="{D2BF518F-587D-D24C-9924-3D4F33095793}"/>
              </a:ext>
            </a:extLst>
          </p:cNvPr>
          <p:cNvCxnSpPr>
            <a:cxnSpLocks/>
          </p:cNvCxnSpPr>
          <p:nvPr/>
        </p:nvCxnSpPr>
        <p:spPr>
          <a:xfrm>
            <a:off x="3851920" y="2425452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436DC736-9149-8A4E-BC14-2CC08BFAE040}"/>
              </a:ext>
            </a:extLst>
          </p:cNvPr>
          <p:cNvCxnSpPr>
            <a:cxnSpLocks/>
          </p:cNvCxnSpPr>
          <p:nvPr/>
        </p:nvCxnSpPr>
        <p:spPr>
          <a:xfrm>
            <a:off x="3851920" y="3433564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箭头连接符 190">
            <a:extLst>
              <a:ext uri="{FF2B5EF4-FFF2-40B4-BE49-F238E27FC236}">
                <a16:creationId xmlns:a16="http://schemas.microsoft.com/office/drawing/2014/main" id="{15A4EF0E-68C3-0044-832A-3FF9695E59E9}"/>
              </a:ext>
            </a:extLst>
          </p:cNvPr>
          <p:cNvCxnSpPr>
            <a:cxnSpLocks/>
          </p:cNvCxnSpPr>
          <p:nvPr/>
        </p:nvCxnSpPr>
        <p:spPr>
          <a:xfrm>
            <a:off x="3851920" y="4441676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E0BFC17-4D9C-BF4C-87FA-4D7DC39BF9EA}"/>
              </a:ext>
            </a:extLst>
          </p:cNvPr>
          <p:cNvSpPr txBox="1"/>
          <p:nvPr/>
        </p:nvSpPr>
        <p:spPr>
          <a:xfrm>
            <a:off x="8100392" y="769268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5DD79C28-EE45-924F-84C6-658BFCD4AD77}"/>
              </a:ext>
            </a:extLst>
          </p:cNvPr>
          <p:cNvSpPr txBox="1"/>
          <p:nvPr/>
        </p:nvSpPr>
        <p:spPr>
          <a:xfrm>
            <a:off x="8100392" y="1777380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230B8F70-2360-5D4D-8269-5BC956353A02}"/>
              </a:ext>
            </a:extLst>
          </p:cNvPr>
          <p:cNvSpPr txBox="1"/>
          <p:nvPr/>
        </p:nvSpPr>
        <p:spPr>
          <a:xfrm>
            <a:off x="8100392" y="2785492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8FEA0FE5-7311-D040-92B0-A2C67EDD084E}"/>
              </a:ext>
            </a:extLst>
          </p:cNvPr>
          <p:cNvSpPr txBox="1"/>
          <p:nvPr/>
        </p:nvSpPr>
        <p:spPr>
          <a:xfrm>
            <a:off x="8100392" y="3793604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2" name="文本框 194">
            <a:extLst>
              <a:ext uri="{FF2B5EF4-FFF2-40B4-BE49-F238E27FC236}">
                <a16:creationId xmlns:a16="http://schemas.microsoft.com/office/drawing/2014/main" id="{C0CEC90E-7EE2-81BF-CDED-0638DC6CD81B}"/>
              </a:ext>
            </a:extLst>
          </p:cNvPr>
          <p:cNvSpPr txBox="1"/>
          <p:nvPr/>
        </p:nvSpPr>
        <p:spPr>
          <a:xfrm>
            <a:off x="8100392" y="4795504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5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72" grpId="0" animBg="1"/>
      <p:bldP spid="73" grpId="0" animBg="1"/>
      <p:bldP spid="105" grpId="0" animBg="1"/>
      <p:bldP spid="106" grpId="0" animBg="1"/>
      <p:bldP spid="132" grpId="0" animBg="1"/>
      <p:bldP spid="133" grpId="0" animBg="1"/>
      <p:bldP spid="159" grpId="0" animBg="1"/>
      <p:bldP spid="160" grpId="0" animBg="1"/>
      <p:bldP spid="184" grpId="0" animBg="1"/>
      <p:bldP spid="192" grpId="0"/>
      <p:bldP spid="193" grpId="0"/>
      <p:bldP spid="194" grpId="0"/>
      <p:bldP spid="19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63EDD-EC1E-C149-B481-084EAB3D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：缓存地址翻译结果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B4507-14FD-AB45-9F17-D0C687C14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不仅可以缓存第一阶段地址翻译结果</a:t>
            </a:r>
            <a:endParaRPr kumimoji="1" lang="en-US" altLang="zh-CN" dirty="0"/>
          </a:p>
          <a:p>
            <a:r>
              <a:rPr kumimoji="1" lang="en-US" altLang="zh-CN" dirty="0"/>
              <a:t>TLB</a:t>
            </a:r>
            <a:r>
              <a:rPr kumimoji="1" lang="zh-CN" altLang="en-US" dirty="0"/>
              <a:t>也可以第二阶段地址翻译后的结果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包括第一阶段的翻译结果</a:t>
            </a:r>
            <a:r>
              <a:rPr kumimoji="1" lang="en-US" altLang="zh-CN" dirty="0"/>
              <a:t>(GVA-&gt;GPA)</a:t>
            </a:r>
          </a:p>
          <a:p>
            <a:pPr lvl="1"/>
            <a:r>
              <a:rPr kumimoji="1" lang="zh-CN" altLang="en-US" dirty="0"/>
              <a:t>包括第二阶段的翻译结果</a:t>
            </a:r>
            <a:r>
              <a:rPr kumimoji="1" lang="en-US" altLang="zh-CN" dirty="0"/>
              <a:t>(GPA-&gt;HPA)</a:t>
            </a:r>
          </a:p>
          <a:p>
            <a:pPr lvl="1"/>
            <a:r>
              <a:rPr kumimoji="1" lang="zh-CN" altLang="en-US" dirty="0"/>
              <a:t>大大提升</a:t>
            </a:r>
            <a:r>
              <a:rPr kumimoji="1" lang="en-US" altLang="zh-CN" dirty="0"/>
              <a:t>GVA-&gt;HPA</a:t>
            </a:r>
            <a:r>
              <a:rPr kumimoji="1" lang="zh-CN" altLang="en-US" dirty="0"/>
              <a:t>的翻译性能：</a:t>
            </a:r>
            <a:r>
              <a:rPr kumimoji="1" lang="zh-CN" altLang="en-US" dirty="0">
                <a:solidFill>
                  <a:srgbClr val="BE384B"/>
                </a:solidFill>
              </a:rPr>
              <a:t>不需要</a:t>
            </a:r>
            <a:r>
              <a:rPr kumimoji="1" lang="en-US" altLang="zh-CN" dirty="0">
                <a:solidFill>
                  <a:srgbClr val="BE384B"/>
                </a:solidFill>
              </a:rPr>
              <a:t>24</a:t>
            </a:r>
            <a:r>
              <a:rPr kumimoji="1" lang="zh-CN" altLang="en-US" dirty="0">
                <a:solidFill>
                  <a:srgbClr val="BE384B"/>
                </a:solidFill>
              </a:rPr>
              <a:t>次内存访问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zh-CN" altLang="en-US" dirty="0"/>
              <a:t>切换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理论上应将前一个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项全部刷掉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01C48-0A26-3546-B99D-EA7674CE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4C4E0-786E-B140-94CF-60282F84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96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F05C5-8076-CB4C-A0A9-0EF93FC5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刷新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9475E-86D1-BD4A-9134-3B75424F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sz="2200" dirty="0"/>
              <a:t>刷</a:t>
            </a:r>
            <a:r>
              <a:rPr kumimoji="1" lang="en-US" altLang="zh-CN" sz="2200" dirty="0"/>
              <a:t>TLB</a:t>
            </a:r>
            <a:r>
              <a:rPr kumimoji="1" lang="zh-CN" altLang="en-US" sz="2200" dirty="0"/>
              <a:t>相关指令</a:t>
            </a:r>
            <a:endParaRPr kumimoji="1" lang="en-US" altLang="zh-CN" sz="22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600" dirty="0"/>
              <a:t>TLBI VMALLS12E1IS 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GVA</a:t>
            </a:r>
          </a:p>
          <a:p>
            <a:pPr lvl="2"/>
            <a:r>
              <a:rPr lang="en-US" altLang="zh-CN" sz="1600" dirty="0"/>
              <a:t>TLBI VAE1IS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GPA</a:t>
            </a:r>
          </a:p>
          <a:p>
            <a:pPr lvl="2"/>
            <a:r>
              <a:rPr kumimoji="1" lang="en-US" altLang="zh-CN" sz="1600" dirty="0"/>
              <a:t>TLBI IPAS2E1IS </a:t>
            </a:r>
          </a:p>
          <a:p>
            <a:r>
              <a:rPr kumimoji="1" lang="en-US" altLang="zh-CN" dirty="0"/>
              <a:t>VMID</a:t>
            </a:r>
            <a:r>
              <a:rPr kumimoji="1" lang="zh-CN" altLang="en-US" dirty="0"/>
              <a:t> </a:t>
            </a:r>
            <a:r>
              <a:rPr kumimoji="1" lang="en-US" altLang="zh-CN" dirty="0"/>
              <a:t>(Virtual Machine </a:t>
            </a:r>
            <a:r>
              <a:rPr kumimoji="1" lang="en-US" altLang="zh-CN" dirty="0" err="1"/>
              <a:t>IDentifier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CN" sz="1600" dirty="0"/>
              <a:t>VMM</a:t>
            </a:r>
            <a:r>
              <a:rPr lang="zh-CN" altLang="en-US" sz="1600" dirty="0"/>
              <a:t>为不同进程分配</a:t>
            </a:r>
            <a:r>
              <a:rPr lang="en-US" altLang="zh-CN" sz="1600" dirty="0"/>
              <a:t>8/16</a:t>
            </a:r>
            <a:r>
              <a:rPr lang="zh-CN" altLang="en-US" sz="1600" dirty="0"/>
              <a:t> </a:t>
            </a:r>
            <a:r>
              <a:rPr lang="en-US" altLang="zh-CN" sz="1600" dirty="0"/>
              <a:t>VMID</a:t>
            </a:r>
            <a:r>
              <a:rPr lang="zh-CN" altLang="en-US" sz="1600" dirty="0"/>
              <a:t>，将</a:t>
            </a:r>
            <a:r>
              <a:rPr lang="en-US" altLang="zh-CN" sz="1600" dirty="0"/>
              <a:t>VMID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VTTBR_EL2</a:t>
            </a:r>
            <a:r>
              <a:rPr lang="zh-CN" altLang="en-US" sz="1600" dirty="0"/>
              <a:t>的高</a:t>
            </a:r>
            <a:r>
              <a:rPr lang="en-US" altLang="zh-CN" sz="1600" dirty="0"/>
              <a:t>8/16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600" dirty="0"/>
              <a:t>VMID</a:t>
            </a:r>
            <a:r>
              <a:rPr lang="zh-CN" altLang="en-US" sz="1600" dirty="0"/>
              <a:t>位数由</a:t>
            </a:r>
            <a:r>
              <a:rPr lang="en-US" altLang="zh-CN" sz="1600" dirty="0"/>
              <a:t>VTCR_EL2</a:t>
            </a:r>
            <a:r>
              <a:rPr lang="zh-CN" altLang="en-US" sz="1600" dirty="0"/>
              <a:t>的第</a:t>
            </a:r>
            <a:r>
              <a:rPr lang="en-US" altLang="zh-CN" sz="1600" dirty="0"/>
              <a:t>19</a:t>
            </a:r>
            <a:r>
              <a:rPr lang="zh-CN" altLang="en-US" sz="1600" dirty="0"/>
              <a:t>位（</a:t>
            </a:r>
            <a:r>
              <a:rPr lang="en-US" altLang="zh-CN" sz="1600" dirty="0"/>
              <a:t>VS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1"/>
            <a:r>
              <a:rPr kumimoji="1" lang="zh-CN" altLang="en-US" sz="1600" dirty="0"/>
              <a:t>避免刷新上个</a:t>
            </a:r>
            <a:r>
              <a:rPr kumimoji="1" lang="en-US" altLang="zh-CN" sz="1600" dirty="0"/>
              <a:t>VM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TLB</a:t>
            </a:r>
          </a:p>
          <a:p>
            <a:endParaRPr kumimoji="1" lang="en-US" altLang="zh-CN" sz="2000" dirty="0"/>
          </a:p>
          <a:p>
            <a:pPr lvl="2"/>
            <a:endParaRPr kumimoji="1" lang="zh-CN" altLang="en-US" sz="1600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7483A1-3DE0-284A-9B38-FBAB2E6F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B536FF-5903-E341-8BB0-3D5CE42BD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5596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4F8D4-8711-6B43-BF91-40B45734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如何处理缺页异常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BC811-725B-064B-A9CC-B30CB5CBD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两阶段翻译的缺页异常分开处理</a:t>
            </a:r>
            <a:endParaRPr kumimoji="1" lang="en-US" altLang="zh-CN" dirty="0"/>
          </a:p>
          <a:p>
            <a:r>
              <a:rPr kumimoji="1" lang="zh-CN" altLang="en-US" dirty="0"/>
              <a:t>第一阶段缺页异常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直接调用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</a:p>
          <a:p>
            <a:pPr lvl="1"/>
            <a:r>
              <a:rPr kumimoji="1" lang="zh-CN" altLang="en-US" dirty="0"/>
              <a:t>修改第一阶段页表</a:t>
            </a:r>
            <a:r>
              <a:rPr kumimoji="1" lang="zh-CN" altLang="en-US" b="1" dirty="0"/>
              <a:t>不会</a:t>
            </a:r>
            <a:r>
              <a:rPr kumimoji="1" lang="zh-CN" altLang="en-US" dirty="0"/>
              <a:t>引起任何虚拟机下陷</a:t>
            </a:r>
            <a:endParaRPr kumimoji="1" lang="en-US" altLang="zh-CN" dirty="0"/>
          </a:p>
          <a:p>
            <a:r>
              <a:rPr kumimoji="1" lang="zh-CN" altLang="en-US" dirty="0"/>
              <a:t>第二阶段缺页异常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虚拟机下陷，直接调用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21C75E-2103-2A41-870F-2B2CA44C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FD3F8-82EF-6E42-8180-29008FFA1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6460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4E4BE-10A2-3D45-8612-52EC9C34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D1032-3FBE-9A42-AD7F-0BCF5E893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不需要捕捉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的更新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减少内存开销：每个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对应一个页表</a:t>
            </a: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  <a:r>
              <a:rPr kumimoji="1" lang="zh-CN" altLang="en-US" dirty="0"/>
              <a:t>时性能开销较大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B7686-39A1-1548-A418-0F36305F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AD5E6-F88A-5F43-8860-BCF2AA878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792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3B52-4308-54C3-BE52-E8F108F2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如何实现虚拟机级别的内存换页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7540-7B03-6879-7618-D6DF8D6D6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具体场景</a:t>
            </a:r>
            <a:r>
              <a:rPr lang="zh-CN" altLang="en-US" dirty="0"/>
              <a:t>：将虚拟机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128MB</a:t>
            </a:r>
            <a:r>
              <a:rPr lang="zh-CN" altLang="en-US" dirty="0"/>
              <a:t>内存转移到虚拟机</a:t>
            </a:r>
            <a:r>
              <a:rPr lang="en-US" altLang="zh-CN" dirty="0"/>
              <a:t>B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/>
            <a:r>
              <a:rPr lang="zh-CN" altLang="en-US" dirty="0"/>
              <a:t>虚拟机</a:t>
            </a:r>
            <a:r>
              <a:rPr lang="en-US" altLang="zh-CN" dirty="0"/>
              <a:t>A</a:t>
            </a:r>
            <a:r>
              <a:rPr lang="zh-CN" altLang="en-US" dirty="0"/>
              <a:t>对内存的使用较少</a:t>
            </a:r>
            <a:endParaRPr lang="en-US" altLang="zh-CN" dirty="0"/>
          </a:p>
          <a:p>
            <a:pPr lvl="1"/>
            <a:r>
              <a:rPr lang="zh-CN" altLang="en-US" dirty="0"/>
              <a:t>虚拟机</a:t>
            </a:r>
            <a:r>
              <a:rPr lang="en-US" altLang="zh-CN" dirty="0"/>
              <a:t>B</a:t>
            </a:r>
            <a:r>
              <a:rPr lang="zh-CN" altLang="en-US" dirty="0"/>
              <a:t>对内存需求较大</a:t>
            </a:r>
            <a:endParaRPr lang="en-US" altLang="zh-CN" dirty="0"/>
          </a:p>
          <a:p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en-US" altLang="zh-CN" dirty="0"/>
              <a:t>VMM</a:t>
            </a:r>
            <a:r>
              <a:rPr lang="zh-CN" altLang="en-US" dirty="0"/>
              <a:t>无法识别虚拟机内存的语义</a:t>
            </a:r>
            <a:endParaRPr lang="en-US" altLang="zh-CN" dirty="0"/>
          </a:p>
          <a:p>
            <a:pPr lvl="1"/>
            <a:r>
              <a:rPr lang="zh-CN" altLang="en-US" dirty="0"/>
              <a:t>两层内存换页机制</a:t>
            </a:r>
            <a:endParaRPr lang="en-US" altLang="zh-CN" dirty="0"/>
          </a:p>
          <a:p>
            <a:pPr lvl="2"/>
            <a:r>
              <a:rPr lang="en-US" altLang="zh-CN" dirty="0"/>
              <a:t>VM</a:t>
            </a:r>
            <a:r>
              <a:rPr lang="zh-CN" altLang="en-US" dirty="0"/>
              <a:t>与</a:t>
            </a:r>
            <a:r>
              <a:rPr lang="en-US" altLang="zh-CN" dirty="0"/>
              <a:t>VMM</a:t>
            </a:r>
            <a:r>
              <a:rPr lang="zh-CN" altLang="en-US" dirty="0"/>
              <a:t>的换页机制可能彼此冲突，造成开销。</a:t>
            </a:r>
            <a:endParaRPr lang="en-US" altLang="zh-CN" dirty="0"/>
          </a:p>
          <a:p>
            <a:pPr lvl="2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95224-CC7D-0535-A836-57753125D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8D65-0448-62B3-7FE3-B22AA44D9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581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46B0-BEEB-D418-F116-8DCFF3E5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内存气球机制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94870-518B-E7C4-5E5B-1DCE31DE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AD24-1A1C-8102-E2C0-A99C0660D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B1F9B719-F253-36FB-3A4D-DD3AD9B890C5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2">
            <a:extLst>
              <a:ext uri="{FF2B5EF4-FFF2-40B4-BE49-F238E27FC236}">
                <a16:creationId xmlns:a16="http://schemas.microsoft.com/office/drawing/2014/main" id="{3763A5BE-B190-72C0-9156-EFC3281FB699}"/>
              </a:ext>
            </a:extLst>
          </p:cNvPr>
          <p:cNvSpPr/>
          <p:nvPr/>
        </p:nvSpPr>
        <p:spPr>
          <a:xfrm>
            <a:off x="1187624" y="2785492"/>
            <a:ext cx="3456384" cy="86409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913E090D-213F-A437-1576-DE2241AB90F6}"/>
              </a:ext>
            </a:extLst>
          </p:cNvPr>
          <p:cNvSpPr/>
          <p:nvPr/>
        </p:nvSpPr>
        <p:spPr>
          <a:xfrm>
            <a:off x="1187624" y="2065412"/>
            <a:ext cx="1224136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BE384B"/>
                </a:solidFill>
                <a:cs typeface="Arial Narrow"/>
              </a:rPr>
              <a:t>进程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-1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0" name="圆角矩形 15">
            <a:extLst>
              <a:ext uri="{FF2B5EF4-FFF2-40B4-BE49-F238E27FC236}">
                <a16:creationId xmlns:a16="http://schemas.microsoft.com/office/drawing/2014/main" id="{FDB3BDD7-B096-ADD9-E9D7-F2D5C809C472}"/>
              </a:ext>
            </a:extLst>
          </p:cNvPr>
          <p:cNvSpPr/>
          <p:nvPr/>
        </p:nvSpPr>
        <p:spPr>
          <a:xfrm>
            <a:off x="899592" y="1489348"/>
            <a:ext cx="3960440" cy="2249099"/>
          </a:xfrm>
          <a:prstGeom prst="roundRect">
            <a:avLst>
              <a:gd name="adj" fmla="val 7310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文本框 16">
            <a:extLst>
              <a:ext uri="{FF2B5EF4-FFF2-40B4-BE49-F238E27FC236}">
                <a16:creationId xmlns:a16="http://schemas.microsoft.com/office/drawing/2014/main" id="{55A81F76-D495-1175-BB9C-8F0668E327E2}"/>
              </a:ext>
            </a:extLst>
          </p:cNvPr>
          <p:cNvSpPr txBox="1"/>
          <p:nvPr/>
        </p:nvSpPr>
        <p:spPr>
          <a:xfrm>
            <a:off x="2411760" y="148934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VM-A</a:t>
            </a:r>
            <a:endParaRPr kumimoji="1" lang="zh-CN" altLang="en-US" dirty="0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D6A757C0-A071-85DE-5A75-E0B7D26FED1A}"/>
              </a:ext>
            </a:extLst>
          </p:cNvPr>
          <p:cNvSpPr/>
          <p:nvPr/>
        </p:nvSpPr>
        <p:spPr>
          <a:xfrm>
            <a:off x="899592" y="4081636"/>
            <a:ext cx="7200800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DC5EA60B-04C5-13AA-1CB2-A0A8ED53FE40}"/>
              </a:ext>
            </a:extLst>
          </p:cNvPr>
          <p:cNvSpPr/>
          <p:nvPr/>
        </p:nvSpPr>
        <p:spPr>
          <a:xfrm>
            <a:off x="3275856" y="2065412"/>
            <a:ext cx="1224136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BE384B"/>
                </a:solidFill>
                <a:cs typeface="Arial Narrow"/>
              </a:rPr>
              <a:t>进程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-2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7B5661A8-2484-F9AF-61E5-B05DA18EF413}"/>
              </a:ext>
            </a:extLst>
          </p:cNvPr>
          <p:cNvSpPr/>
          <p:nvPr/>
        </p:nvSpPr>
        <p:spPr>
          <a:xfrm>
            <a:off x="1403648" y="3001516"/>
            <a:ext cx="1224136" cy="38804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BE384B"/>
                </a:solidFill>
                <a:cs typeface="Arial Narrow"/>
              </a:rPr>
              <a:t>内核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0E49A57-F926-75DB-23CA-D1BA1755386D}"/>
              </a:ext>
            </a:extLst>
          </p:cNvPr>
          <p:cNvSpPr/>
          <p:nvPr/>
        </p:nvSpPr>
        <p:spPr>
          <a:xfrm>
            <a:off x="3707904" y="307352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7" name="直线箭头连接符 32">
            <a:extLst>
              <a:ext uri="{FF2B5EF4-FFF2-40B4-BE49-F238E27FC236}">
                <a16:creationId xmlns:a16="http://schemas.microsoft.com/office/drawing/2014/main" id="{D2AAB09B-DA0A-0F03-47F9-2A72AB74D864}"/>
              </a:ext>
            </a:extLst>
          </p:cNvPr>
          <p:cNvCxnSpPr>
            <a:cxnSpLocks/>
          </p:cNvCxnSpPr>
          <p:nvPr/>
        </p:nvCxnSpPr>
        <p:spPr>
          <a:xfrm flipV="1">
            <a:off x="3851920" y="3217540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2">
            <a:extLst>
              <a:ext uri="{FF2B5EF4-FFF2-40B4-BE49-F238E27FC236}">
                <a16:creationId xmlns:a16="http://schemas.microsoft.com/office/drawing/2014/main" id="{67D5D109-647E-42A3-53D6-4D95ABD4371F}"/>
              </a:ext>
            </a:extLst>
          </p:cNvPr>
          <p:cNvCxnSpPr>
            <a:cxnSpLocks/>
            <a:endCxn id="35" idx="3"/>
          </p:cNvCxnSpPr>
          <p:nvPr/>
        </p:nvCxnSpPr>
        <p:spPr>
          <a:xfrm flipH="1">
            <a:off x="2627784" y="3195538"/>
            <a:ext cx="86409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11B7B9-2BA6-C276-81A8-50DB375F0F3D}"/>
              </a:ext>
            </a:extLst>
          </p:cNvPr>
          <p:cNvSpPr txBox="1"/>
          <p:nvPr/>
        </p:nvSpPr>
        <p:spPr>
          <a:xfrm>
            <a:off x="2627784" y="285750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km</a:t>
            </a:r>
            <a:r>
              <a:rPr lang="en-CN" dirty="0"/>
              <a:t>alloc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3309E8-99CB-8DF2-7FE2-51BD9C0006CD}"/>
              </a:ext>
            </a:extLst>
          </p:cNvPr>
          <p:cNvSpPr/>
          <p:nvPr/>
        </p:nvSpPr>
        <p:spPr>
          <a:xfrm>
            <a:off x="3563888" y="29295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6" name="直线箭头连接符 32">
            <a:extLst>
              <a:ext uri="{FF2B5EF4-FFF2-40B4-BE49-F238E27FC236}">
                <a16:creationId xmlns:a16="http://schemas.microsoft.com/office/drawing/2014/main" id="{CD89A71B-D8D9-5D86-FD19-78B70F10B795}"/>
              </a:ext>
            </a:extLst>
          </p:cNvPr>
          <p:cNvCxnSpPr>
            <a:cxnSpLocks/>
          </p:cNvCxnSpPr>
          <p:nvPr/>
        </p:nvCxnSpPr>
        <p:spPr>
          <a:xfrm flipV="1">
            <a:off x="3851920" y="3217540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22">
            <a:extLst>
              <a:ext uri="{FF2B5EF4-FFF2-40B4-BE49-F238E27FC236}">
                <a16:creationId xmlns:a16="http://schemas.microsoft.com/office/drawing/2014/main" id="{2EE315FD-88EF-FDD3-6508-F4F2AA7413AA}"/>
              </a:ext>
            </a:extLst>
          </p:cNvPr>
          <p:cNvSpPr/>
          <p:nvPr/>
        </p:nvSpPr>
        <p:spPr>
          <a:xfrm>
            <a:off x="5292080" y="2857500"/>
            <a:ext cx="2592288" cy="64807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sz="1600" dirty="0" err="1">
                <a:solidFill>
                  <a:srgbClr val="BE384B"/>
                </a:solidFill>
                <a:cs typeface="Arial Narrow"/>
              </a:rPr>
              <a:t>内核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D0E2D574-108E-5167-662E-577CB6BF1991}"/>
              </a:ext>
            </a:extLst>
          </p:cNvPr>
          <p:cNvSpPr/>
          <p:nvPr/>
        </p:nvSpPr>
        <p:spPr>
          <a:xfrm>
            <a:off x="5292080" y="2065412"/>
            <a:ext cx="1224136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BE384B"/>
                </a:solidFill>
                <a:cs typeface="Arial Narrow"/>
              </a:rPr>
              <a:t>进程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-1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49" name="圆角矩形 15">
            <a:extLst>
              <a:ext uri="{FF2B5EF4-FFF2-40B4-BE49-F238E27FC236}">
                <a16:creationId xmlns:a16="http://schemas.microsoft.com/office/drawing/2014/main" id="{2008EF01-07F5-0972-D6E4-17CD77517550}"/>
              </a:ext>
            </a:extLst>
          </p:cNvPr>
          <p:cNvSpPr/>
          <p:nvPr/>
        </p:nvSpPr>
        <p:spPr>
          <a:xfrm>
            <a:off x="5004048" y="1489348"/>
            <a:ext cx="3096344" cy="2249099"/>
          </a:xfrm>
          <a:prstGeom prst="roundRect">
            <a:avLst>
              <a:gd name="adj" fmla="val 7310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文本框 16">
            <a:extLst>
              <a:ext uri="{FF2B5EF4-FFF2-40B4-BE49-F238E27FC236}">
                <a16:creationId xmlns:a16="http://schemas.microsoft.com/office/drawing/2014/main" id="{2856C5A0-029D-DCF9-9034-852A6F930EB8}"/>
              </a:ext>
            </a:extLst>
          </p:cNvPr>
          <p:cNvSpPr txBox="1"/>
          <p:nvPr/>
        </p:nvSpPr>
        <p:spPr>
          <a:xfrm>
            <a:off x="6516216" y="148934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VM-B</a:t>
            </a:r>
            <a:endParaRPr kumimoji="1" lang="zh-CN" altLang="en-US" dirty="0"/>
          </a:p>
        </p:txBody>
      </p:sp>
      <p:sp>
        <p:nvSpPr>
          <p:cNvPr id="51" name="Rectangle 27">
            <a:extLst>
              <a:ext uri="{FF2B5EF4-FFF2-40B4-BE49-F238E27FC236}">
                <a16:creationId xmlns:a16="http://schemas.microsoft.com/office/drawing/2014/main" id="{66970115-CFA9-D945-B4C9-94EBCC7A9953}"/>
              </a:ext>
            </a:extLst>
          </p:cNvPr>
          <p:cNvSpPr/>
          <p:nvPr/>
        </p:nvSpPr>
        <p:spPr>
          <a:xfrm>
            <a:off x="6732240" y="2065412"/>
            <a:ext cx="1224136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BE384B"/>
                </a:solidFill>
                <a:cs typeface="Arial Narrow"/>
              </a:rPr>
              <a:t>进程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-2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57" name="直线箭头连接符 32">
            <a:extLst>
              <a:ext uri="{FF2B5EF4-FFF2-40B4-BE49-F238E27FC236}">
                <a16:creationId xmlns:a16="http://schemas.microsoft.com/office/drawing/2014/main" id="{C90C43E4-A136-F1E8-0B43-63B79FC1BC8E}"/>
              </a:ext>
            </a:extLst>
          </p:cNvPr>
          <p:cNvCxnSpPr>
            <a:cxnSpLocks/>
          </p:cNvCxnSpPr>
          <p:nvPr/>
        </p:nvCxnSpPr>
        <p:spPr>
          <a:xfrm flipV="1">
            <a:off x="5940152" y="3217540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85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I/O</a:t>
            </a:r>
            <a:r>
              <a:rPr kumimoji="1" lang="zh-CN" altLang="en-US" b="1" dirty="0"/>
              <a:t>虚拟化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Virtualization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21818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12A69-F87E-E24F-86A6-8BBF127F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为什么需要</a:t>
            </a:r>
            <a:r>
              <a:rPr kumimoji="1" lang="en-US" altLang="zh-CN" dirty="0"/>
              <a:t>IO</a:t>
            </a:r>
            <a:r>
              <a:rPr kumimoji="1" lang="zh-CN" altLang="en-US" dirty="0"/>
              <a:t>虚拟化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B8A53F-9F7E-4747-80DB-5AA3E536C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回顾：操作系统内核直接管理外部设备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PIO/MMIO</a:t>
            </a:r>
          </a:p>
          <a:p>
            <a:pPr lvl="1"/>
            <a:r>
              <a:rPr kumimoji="1" lang="en-US" altLang="zh-CN" dirty="0"/>
              <a:t>DMA</a:t>
            </a:r>
          </a:p>
          <a:p>
            <a:pPr lvl="1"/>
            <a:r>
              <a:rPr kumimoji="1" lang="en-US" altLang="zh-CN" dirty="0"/>
              <a:t>Interrupt</a:t>
            </a:r>
          </a:p>
          <a:p>
            <a:r>
              <a:rPr kumimoji="1" lang="zh-CN" altLang="en-US" dirty="0"/>
              <a:t>如果</a:t>
            </a:r>
            <a:r>
              <a:rPr kumimoji="1" lang="en-US" altLang="zh-CN" dirty="0"/>
              <a:t>VM</a:t>
            </a:r>
            <a:r>
              <a:rPr kumimoji="1" lang="zh-CN" altLang="en-US" dirty="0"/>
              <a:t>能直接管理物理设备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会发生什么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8825C9-0400-7A4A-8846-8322C521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FB615C-E0EF-3A4A-ADE7-E60A2670E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084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812A49D1-553A-FC4A-BA9B-72EEB6A15E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5936" y="4801715"/>
            <a:ext cx="576064" cy="518727"/>
          </a:xfrm>
          <a:prstGeom prst="rect">
            <a:avLst/>
          </a:prstGeom>
        </p:spPr>
      </p:pic>
      <p:sp>
        <p:nvSpPr>
          <p:cNvPr id="32" name="Rectangle 27">
            <a:extLst>
              <a:ext uri="{FF2B5EF4-FFF2-40B4-BE49-F238E27FC236}">
                <a16:creationId xmlns:a16="http://schemas.microsoft.com/office/drawing/2014/main" id="{0D6F83E9-AEEE-B64D-997E-98E7FEAEB17C}"/>
              </a:ext>
            </a:extLst>
          </p:cNvPr>
          <p:cNvSpPr/>
          <p:nvPr/>
        </p:nvSpPr>
        <p:spPr>
          <a:xfrm>
            <a:off x="4211960" y="5017740"/>
            <a:ext cx="245894" cy="144016"/>
          </a:xfrm>
          <a:prstGeom prst="rect">
            <a:avLst/>
          </a:prstGeom>
          <a:solidFill>
            <a:srgbClr val="558ED6"/>
          </a:solidFill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A1463A13-CFC9-344D-A5DA-D4E96A829AD6}"/>
              </a:ext>
            </a:extLst>
          </p:cNvPr>
          <p:cNvSpPr/>
          <p:nvPr/>
        </p:nvSpPr>
        <p:spPr>
          <a:xfrm>
            <a:off x="4211960" y="5017740"/>
            <a:ext cx="245894" cy="144016"/>
          </a:xfrm>
          <a:prstGeom prst="rect">
            <a:avLst/>
          </a:prstGeom>
          <a:solidFill>
            <a:srgbClr val="9BBC59"/>
          </a:solidFill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8C5243-ABF9-CE41-98BB-AE1FA643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如果</a:t>
            </a:r>
            <a:r>
              <a:rPr kumimoji="1" lang="en-US" altLang="zh-CN" dirty="0"/>
              <a:t>VM</a:t>
            </a:r>
            <a:r>
              <a:rPr kumimoji="1" lang="zh-CN" altLang="en-US" dirty="0"/>
              <a:t>直接管理物理网卡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3ED7B6-56EC-5B4A-9252-566E7EC3B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正确性问题：所有</a:t>
            </a:r>
            <a:r>
              <a:rPr kumimoji="1" lang="en-US" altLang="zh-CN" sz="2000" dirty="0"/>
              <a:t>VM</a:t>
            </a:r>
            <a:r>
              <a:rPr kumimoji="1" lang="zh-CN" altLang="en-US" sz="2000" dirty="0"/>
              <a:t>都直接访问网卡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所有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都有相同的</a:t>
            </a:r>
            <a:r>
              <a:rPr kumimoji="1" lang="en-US" altLang="zh-CN" sz="1800" dirty="0"/>
              <a:t>MAC</a:t>
            </a:r>
            <a:r>
              <a:rPr kumimoji="1" lang="zh-CN" altLang="en-US" sz="1800" dirty="0"/>
              <a:t>地址、</a:t>
            </a:r>
            <a:r>
              <a:rPr kumimoji="1" lang="en-US" altLang="zh-CN" sz="1800" dirty="0"/>
              <a:t>IP</a:t>
            </a:r>
            <a:r>
              <a:rPr kumimoji="1" lang="zh-CN" altLang="en-US" sz="1800" dirty="0"/>
              <a:t>地址，无法正常收发网络包</a:t>
            </a:r>
            <a:endParaRPr kumimoji="1" lang="en-US" altLang="zh-CN" sz="1800" dirty="0"/>
          </a:p>
          <a:p>
            <a:r>
              <a:rPr kumimoji="1" lang="zh-CN" altLang="en-US" sz="2000" dirty="0"/>
              <a:t>安全性问题：恶意</a:t>
            </a:r>
            <a:r>
              <a:rPr kumimoji="1" lang="en-US" altLang="zh-CN" sz="2000" dirty="0"/>
              <a:t>VM</a:t>
            </a:r>
            <a:r>
              <a:rPr kumimoji="1" lang="zh-CN" altLang="en-US" sz="2000" dirty="0"/>
              <a:t>可以直接读取其他</a:t>
            </a:r>
            <a:r>
              <a:rPr kumimoji="1" lang="en-US" altLang="zh-CN" sz="2000" dirty="0"/>
              <a:t>VM</a:t>
            </a:r>
            <a:r>
              <a:rPr kumimoji="1" lang="zh-CN" altLang="en-US" sz="2000" dirty="0"/>
              <a:t>的数据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除了直接读取所有网络包，还可能通过</a:t>
            </a:r>
            <a:r>
              <a:rPr kumimoji="1" lang="en-US" altLang="zh-CN" sz="1800" dirty="0"/>
              <a:t>DMA</a:t>
            </a:r>
            <a:r>
              <a:rPr kumimoji="1" lang="zh-CN" altLang="en-US" sz="1800" dirty="0"/>
              <a:t>访问其他内存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342CBC-F5DD-5E44-8843-C0C93F47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79E00-D1D6-254B-BC1E-57E564AB7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6E485B5B-8EFD-F946-BD2A-EF4A3EC693B8}"/>
              </a:ext>
            </a:extLst>
          </p:cNvPr>
          <p:cNvSpPr/>
          <p:nvPr/>
        </p:nvSpPr>
        <p:spPr>
          <a:xfrm>
            <a:off x="1187624" y="3865612"/>
            <a:ext cx="1800200" cy="46202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0638EDCD-5536-2847-B03F-6D99EDE4EE7B}"/>
              </a:ext>
            </a:extLst>
          </p:cNvPr>
          <p:cNvCxnSpPr>
            <a:cxnSpLocks/>
          </p:cNvCxnSpPr>
          <p:nvPr/>
        </p:nvCxnSpPr>
        <p:spPr>
          <a:xfrm>
            <a:off x="971600" y="4657700"/>
            <a:ext cx="655272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7">
            <a:extLst>
              <a:ext uri="{FF2B5EF4-FFF2-40B4-BE49-F238E27FC236}">
                <a16:creationId xmlns:a16="http://schemas.microsoft.com/office/drawing/2014/main" id="{2D2792E7-AB8E-DC48-A37F-7E068AEAB0A4}"/>
              </a:ext>
            </a:extLst>
          </p:cNvPr>
          <p:cNvSpPr/>
          <p:nvPr/>
        </p:nvSpPr>
        <p:spPr>
          <a:xfrm>
            <a:off x="1187624" y="3433564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1F3F7AF6-02B3-BC4F-9631-AFEC8BACF874}"/>
              </a:ext>
            </a:extLst>
          </p:cNvPr>
          <p:cNvSpPr/>
          <p:nvPr/>
        </p:nvSpPr>
        <p:spPr>
          <a:xfrm>
            <a:off x="2195736" y="3433564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1BA8AC-5471-694F-88B7-E9371232C566}"/>
              </a:ext>
            </a:extLst>
          </p:cNvPr>
          <p:cNvSpPr/>
          <p:nvPr/>
        </p:nvSpPr>
        <p:spPr>
          <a:xfrm>
            <a:off x="111561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9FF0A4-842F-5F48-B2DB-6D3563731DCF}"/>
              </a:ext>
            </a:extLst>
          </p:cNvPr>
          <p:cNvSpPr txBox="1"/>
          <p:nvPr/>
        </p:nvSpPr>
        <p:spPr>
          <a:xfrm>
            <a:off x="1835696" y="3217540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VM-1</a:t>
            </a:r>
            <a:endParaRPr kumimoji="1" lang="zh-CN" altLang="en-US" sz="1200" dirty="0"/>
          </a:p>
        </p:txBody>
      </p:sp>
      <p:sp>
        <p:nvSpPr>
          <p:cNvPr id="13" name="Rectangle 27">
            <a:extLst>
              <a:ext uri="{FF2B5EF4-FFF2-40B4-BE49-F238E27FC236}">
                <a16:creationId xmlns:a16="http://schemas.microsoft.com/office/drawing/2014/main" id="{80B17F76-F96C-6143-AA89-AC5178CF47EE}"/>
              </a:ext>
            </a:extLst>
          </p:cNvPr>
          <p:cNvSpPr/>
          <p:nvPr/>
        </p:nvSpPr>
        <p:spPr>
          <a:xfrm>
            <a:off x="3347864" y="3865612"/>
            <a:ext cx="1800200" cy="462028"/>
          </a:xfrm>
          <a:prstGeom prst="rect">
            <a:avLst/>
          </a:prstGeom>
          <a:solidFill>
            <a:srgbClr val="9BBC59"/>
          </a:solidFill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7ED5B280-D110-FA4A-BA10-05FEA3AEA11D}"/>
              </a:ext>
            </a:extLst>
          </p:cNvPr>
          <p:cNvSpPr/>
          <p:nvPr/>
        </p:nvSpPr>
        <p:spPr>
          <a:xfrm>
            <a:off x="3347864" y="3433564"/>
            <a:ext cx="798014" cy="321946"/>
          </a:xfrm>
          <a:prstGeom prst="rect">
            <a:avLst/>
          </a:prstGeom>
          <a:noFill/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0A4EB711-C516-C141-8CB0-39869588FAFA}"/>
              </a:ext>
            </a:extLst>
          </p:cNvPr>
          <p:cNvSpPr/>
          <p:nvPr/>
        </p:nvSpPr>
        <p:spPr>
          <a:xfrm>
            <a:off x="4355976" y="3433564"/>
            <a:ext cx="798014" cy="321946"/>
          </a:xfrm>
          <a:prstGeom prst="rect">
            <a:avLst/>
          </a:prstGeom>
          <a:noFill/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11FA0B-CCF8-6742-893C-B58C07C7BED6}"/>
              </a:ext>
            </a:extLst>
          </p:cNvPr>
          <p:cNvSpPr/>
          <p:nvPr/>
        </p:nvSpPr>
        <p:spPr>
          <a:xfrm>
            <a:off x="327585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627C417-5B91-4247-9224-E93AC2BDC5E2}"/>
              </a:ext>
            </a:extLst>
          </p:cNvPr>
          <p:cNvSpPr txBox="1"/>
          <p:nvPr/>
        </p:nvSpPr>
        <p:spPr>
          <a:xfrm>
            <a:off x="3995936" y="3217540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VM-2</a:t>
            </a:r>
            <a:endParaRPr kumimoji="1" lang="zh-CN" altLang="en-US" sz="1200" dirty="0"/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FCF9D73F-2291-5E49-8FE3-E63C3A154ABE}"/>
              </a:ext>
            </a:extLst>
          </p:cNvPr>
          <p:cNvSpPr/>
          <p:nvPr/>
        </p:nvSpPr>
        <p:spPr>
          <a:xfrm>
            <a:off x="5508104" y="3865612"/>
            <a:ext cx="1800200" cy="462028"/>
          </a:xfrm>
          <a:prstGeom prst="rect">
            <a:avLst/>
          </a:prstGeom>
          <a:solidFill>
            <a:srgbClr val="558ED6"/>
          </a:solidFill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2AB8F1D2-8B60-A140-9508-E522AFA6A22B}"/>
              </a:ext>
            </a:extLst>
          </p:cNvPr>
          <p:cNvSpPr/>
          <p:nvPr/>
        </p:nvSpPr>
        <p:spPr>
          <a:xfrm>
            <a:off x="5508104" y="3433564"/>
            <a:ext cx="798014" cy="321946"/>
          </a:xfrm>
          <a:prstGeom prst="rect">
            <a:avLst/>
          </a:prstGeom>
          <a:noFill/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B7C117F2-B9B8-644E-989C-9CB1C0113C1B}"/>
              </a:ext>
            </a:extLst>
          </p:cNvPr>
          <p:cNvSpPr/>
          <p:nvPr/>
        </p:nvSpPr>
        <p:spPr>
          <a:xfrm>
            <a:off x="6516216" y="3433564"/>
            <a:ext cx="798014" cy="321946"/>
          </a:xfrm>
          <a:prstGeom prst="rect">
            <a:avLst/>
          </a:prstGeom>
          <a:noFill/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4DAA37-59BE-BF4B-B6CB-3C338A90B23C}"/>
              </a:ext>
            </a:extLst>
          </p:cNvPr>
          <p:cNvSpPr/>
          <p:nvPr/>
        </p:nvSpPr>
        <p:spPr>
          <a:xfrm>
            <a:off x="543609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A09677-5BEA-094E-80A0-6E7B93FA0DFD}"/>
              </a:ext>
            </a:extLst>
          </p:cNvPr>
          <p:cNvSpPr txBox="1"/>
          <p:nvPr/>
        </p:nvSpPr>
        <p:spPr>
          <a:xfrm>
            <a:off x="6156176" y="3217540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VM-N</a:t>
            </a:r>
            <a:endParaRPr kumimoji="1" lang="zh-CN" altLang="en-US" sz="1200" dirty="0"/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2E7A2C11-B81A-3642-8C31-E0164752172F}"/>
              </a:ext>
            </a:extLst>
          </p:cNvPr>
          <p:cNvSpPr/>
          <p:nvPr/>
        </p:nvSpPr>
        <p:spPr>
          <a:xfrm>
            <a:off x="4211960" y="5017740"/>
            <a:ext cx="245894" cy="144016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10034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16024 4.44444E-6 C -0.23229 4.44444E-6 -0.32049 -0.03473 -0.32049 -0.06306 L -0.32049 -0.12584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24" y="-6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14844 4.44444E-6 C -0.21528 4.44444E-6 -0.29688 -0.03473 -0.29688 -0.06306 L -0.29688 -0.12584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44" y="-6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13663 4.44444E-6 C -0.19809 4.44444E-6 -0.27327 -0.03473 -0.27327 -0.06306 L -0.27327 -0.12584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63" y="-6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CEA29-09C5-0E47-B276-069588B9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虚拟化的目标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0A1B1-9DC5-7B4B-936E-8AC80BEE5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为虚拟机提供虚拟的外部设备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虚拟机正常使用设备</a:t>
            </a:r>
            <a:endParaRPr kumimoji="1" lang="en-US" altLang="zh-CN" dirty="0"/>
          </a:p>
          <a:p>
            <a:r>
              <a:rPr kumimoji="1" lang="zh-CN" altLang="en-US" dirty="0"/>
              <a:t>隔离不同虚拟机对外部设备的直接访问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实现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数据流和控制流的隔离</a:t>
            </a:r>
            <a:endParaRPr kumimoji="1" lang="en-US" altLang="zh-CN" dirty="0"/>
          </a:p>
          <a:p>
            <a:r>
              <a:rPr kumimoji="1" lang="zh-CN" altLang="en-US" dirty="0"/>
              <a:t>提高物理设备的利用资源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同时使用，可以提高物理设备的资源利用率</a:t>
            </a:r>
            <a:endParaRPr kumimoji="1" lang="en-US" altLang="zh-CN" dirty="0"/>
          </a:p>
          <a:p>
            <a:pPr lvl="2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B80975-FA49-9B43-859E-4436D413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E1DDF1-6829-FD4A-BFEF-F65BDD3DB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555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0926E-1163-3240-B916-1821B8A5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怎么实现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虚拟化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96671-2850-2B4A-8D36-241AE0790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、设备模拟（</a:t>
            </a:r>
            <a:r>
              <a:rPr kumimoji="1" lang="en-US" altLang="zh-CN" dirty="0"/>
              <a:t>Emulation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、半虚拟化方式（</a:t>
            </a:r>
            <a:r>
              <a:rPr kumimoji="1" lang="en-US" altLang="zh-CN" dirty="0"/>
              <a:t>Para-virtualization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、设备直通（</a:t>
            </a:r>
            <a:r>
              <a:rPr kumimoji="1" lang="en-US" altLang="zh-CN" dirty="0"/>
              <a:t>Pass-through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A2EFA6-D663-DB43-9A38-A9F0A5C1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55AE2-7245-6748-854F-D03D45979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9144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49F09-2683-2146-A575-083E3F77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：设备模拟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20B86-1A68-0543-9D4E-232E9BDB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806"/>
            <a:ext cx="8229600" cy="3371137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OS</a:t>
            </a:r>
            <a:r>
              <a:rPr kumimoji="1" lang="zh-CN" altLang="en-US" sz="2000" dirty="0"/>
              <a:t>与设备交互的硬件接口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模拟寄存器</a:t>
            </a:r>
            <a:r>
              <a:rPr kumimoji="1" lang="en-US" altLang="zh-CN" sz="1800" dirty="0"/>
              <a:t>(</a:t>
            </a:r>
            <a:r>
              <a:rPr kumimoji="1" lang="zh-CN" altLang="en-US" sz="1800" dirty="0"/>
              <a:t>中断等</a:t>
            </a:r>
            <a:r>
              <a:rPr kumimoji="1" lang="en-US" altLang="zh-CN" sz="1800" dirty="0"/>
              <a:t>)</a:t>
            </a:r>
          </a:p>
          <a:p>
            <a:pPr lvl="1"/>
            <a:r>
              <a:rPr kumimoji="1" lang="zh-CN" altLang="en-US" sz="1800" dirty="0"/>
              <a:t>捕捉</a:t>
            </a:r>
            <a:r>
              <a:rPr kumimoji="1" lang="en-US" altLang="zh-CN" sz="1800" dirty="0"/>
              <a:t>MMIO</a:t>
            </a:r>
            <a:r>
              <a:rPr kumimoji="1" lang="zh-CN" altLang="en-US" sz="1800" dirty="0"/>
              <a:t>操作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硬件虚拟化的方式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硬件虚拟化捕捉</a:t>
            </a:r>
            <a:r>
              <a:rPr kumimoji="1" lang="en-US" altLang="zh-CN" sz="1800" dirty="0"/>
              <a:t>PIO</a:t>
            </a:r>
            <a:r>
              <a:rPr kumimoji="1" lang="zh-CN" altLang="en-US" sz="1800" dirty="0"/>
              <a:t>指令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MMIO</a:t>
            </a:r>
            <a:r>
              <a:rPr kumimoji="1" lang="zh-CN" altLang="en-US" sz="1800" dirty="0"/>
              <a:t>对应内存在第二阶段页表中设置为</a:t>
            </a:r>
            <a:r>
              <a:rPr kumimoji="1" lang="en-US" altLang="zh-CN" sz="1800" dirty="0"/>
              <a:t>invalid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B9F0E1-7EBE-444D-9C61-9CD43271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287E2-21D2-E742-ABD8-E0BE875D5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45477CE5-B0F7-F64E-9306-4D7908FF2382}"/>
              </a:ext>
            </a:extLst>
          </p:cNvPr>
          <p:cNvSpPr/>
          <p:nvPr/>
        </p:nvSpPr>
        <p:spPr>
          <a:xfrm>
            <a:off x="4495061" y="2613780"/>
            <a:ext cx="1761832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Device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D5C16582-2DB4-C940-8EFD-8E46C79100D2}"/>
              </a:ext>
            </a:extLst>
          </p:cNvPr>
          <p:cNvSpPr/>
          <p:nvPr/>
        </p:nvSpPr>
        <p:spPr>
          <a:xfrm>
            <a:off x="4427984" y="1633364"/>
            <a:ext cx="1800200" cy="46202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OS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10" name="Straight Connector 13">
            <a:extLst>
              <a:ext uri="{FF2B5EF4-FFF2-40B4-BE49-F238E27FC236}">
                <a16:creationId xmlns:a16="http://schemas.microsoft.com/office/drawing/2014/main" id="{D3682DCC-9086-9D4D-8BD5-22264D7E2CA5}"/>
              </a:ext>
            </a:extLst>
          </p:cNvPr>
          <p:cNvCxnSpPr/>
          <p:nvPr/>
        </p:nvCxnSpPr>
        <p:spPr>
          <a:xfrm>
            <a:off x="4385699" y="2469975"/>
            <a:ext cx="198128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extLst>
              <a:ext uri="{FF2B5EF4-FFF2-40B4-BE49-F238E27FC236}">
                <a16:creationId xmlns:a16="http://schemas.microsoft.com/office/drawing/2014/main" id="{71CB81A4-7D63-1E46-926C-C3D007434A99}"/>
              </a:ext>
            </a:extLst>
          </p:cNvPr>
          <p:cNvSpPr/>
          <p:nvPr/>
        </p:nvSpPr>
        <p:spPr>
          <a:xfrm>
            <a:off x="4433396" y="1148679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B024DEEA-BB7A-C047-BDD5-13F5442C98FD}"/>
              </a:ext>
            </a:extLst>
          </p:cNvPr>
          <p:cNvSpPr/>
          <p:nvPr/>
        </p:nvSpPr>
        <p:spPr>
          <a:xfrm>
            <a:off x="5436096" y="1129308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33D7B41F-3D35-3B40-98A7-5D71BAF0A21B}"/>
              </a:ext>
            </a:extLst>
          </p:cNvPr>
          <p:cNvSpPr/>
          <p:nvPr/>
        </p:nvSpPr>
        <p:spPr>
          <a:xfrm>
            <a:off x="6975872" y="1993404"/>
            <a:ext cx="1761833" cy="32220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0D73C13C-04D6-AC4B-A8C8-DF1D0B4BE87A}"/>
              </a:ext>
            </a:extLst>
          </p:cNvPr>
          <p:cNvSpPr/>
          <p:nvPr/>
        </p:nvSpPr>
        <p:spPr>
          <a:xfrm>
            <a:off x="7907635" y="1397969"/>
            <a:ext cx="835531" cy="46202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VM-2</a:t>
            </a:r>
          </a:p>
        </p:txBody>
      </p:sp>
      <p:sp>
        <p:nvSpPr>
          <p:cNvPr id="17" name="Rectangle 24">
            <a:extLst>
              <a:ext uri="{FF2B5EF4-FFF2-40B4-BE49-F238E27FC236}">
                <a16:creationId xmlns:a16="http://schemas.microsoft.com/office/drawing/2014/main" id="{8D352E57-64D7-AD46-8996-989D86268863}"/>
              </a:ext>
            </a:extLst>
          </p:cNvPr>
          <p:cNvSpPr/>
          <p:nvPr/>
        </p:nvSpPr>
        <p:spPr>
          <a:xfrm>
            <a:off x="6975872" y="2594409"/>
            <a:ext cx="1761832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Device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512AF890-E286-BE43-893C-DA18F6992485}"/>
              </a:ext>
            </a:extLst>
          </p:cNvPr>
          <p:cNvSpPr/>
          <p:nvPr/>
        </p:nvSpPr>
        <p:spPr>
          <a:xfrm>
            <a:off x="6980803" y="1397969"/>
            <a:ext cx="835531" cy="46202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VM-1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9" name="Straight Connector 13">
            <a:extLst>
              <a:ext uri="{FF2B5EF4-FFF2-40B4-BE49-F238E27FC236}">
                <a16:creationId xmlns:a16="http://schemas.microsoft.com/office/drawing/2014/main" id="{7BD4B133-8AFA-3041-A300-8E702B37758D}"/>
              </a:ext>
            </a:extLst>
          </p:cNvPr>
          <p:cNvCxnSpPr/>
          <p:nvPr/>
        </p:nvCxnSpPr>
        <p:spPr>
          <a:xfrm>
            <a:off x="6866510" y="2450604"/>
            <a:ext cx="198128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extLst>
              <a:ext uri="{FF2B5EF4-FFF2-40B4-BE49-F238E27FC236}">
                <a16:creationId xmlns:a16="http://schemas.microsoft.com/office/drawing/2014/main" id="{70D2E657-A649-9844-A693-A426B3E2DCDA}"/>
              </a:ext>
            </a:extLst>
          </p:cNvPr>
          <p:cNvSpPr/>
          <p:nvPr/>
        </p:nvSpPr>
        <p:spPr>
          <a:xfrm>
            <a:off x="6986215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6F5FAE9F-4BC1-714E-9921-EB38BF536095}"/>
              </a:ext>
            </a:extLst>
          </p:cNvPr>
          <p:cNvSpPr/>
          <p:nvPr/>
        </p:nvSpPr>
        <p:spPr>
          <a:xfrm>
            <a:off x="7453321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F78511F3-3185-3041-8E39-186E174933F1}"/>
              </a:ext>
            </a:extLst>
          </p:cNvPr>
          <p:cNvSpPr/>
          <p:nvPr/>
        </p:nvSpPr>
        <p:spPr>
          <a:xfrm>
            <a:off x="7917977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00FA60D5-D7F8-904C-A0F2-676F3F43363B}"/>
              </a:ext>
            </a:extLst>
          </p:cNvPr>
          <p:cNvSpPr/>
          <p:nvPr/>
        </p:nvSpPr>
        <p:spPr>
          <a:xfrm>
            <a:off x="8385083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93A3D695-9B6F-144F-9703-C4C1FAFF04AB}"/>
              </a:ext>
            </a:extLst>
          </p:cNvPr>
          <p:cNvCxnSpPr>
            <a:cxnSpLocks/>
          </p:cNvCxnSpPr>
          <p:nvPr/>
        </p:nvCxnSpPr>
        <p:spPr>
          <a:xfrm>
            <a:off x="5076056" y="2137420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3FCB49E5-FA9E-4F4D-B839-7FCCC38B955A}"/>
              </a:ext>
            </a:extLst>
          </p:cNvPr>
          <p:cNvCxnSpPr/>
          <p:nvPr/>
        </p:nvCxnSpPr>
        <p:spPr>
          <a:xfrm>
            <a:off x="5868144" y="2137420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16DE2C1F-C8D8-A047-86ED-F7B05427D663}"/>
              </a:ext>
            </a:extLst>
          </p:cNvPr>
          <p:cNvSpPr txBox="1"/>
          <p:nvPr/>
        </p:nvSpPr>
        <p:spPr>
          <a:xfrm>
            <a:off x="5292080" y="213742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MMIO</a:t>
            </a:r>
            <a:endParaRPr kumimoji="1" lang="zh-CN" altLang="en-US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DDB1781-A0B5-A944-BFBB-D326C9CC3A87}"/>
              </a:ext>
            </a:extLst>
          </p:cNvPr>
          <p:cNvSpPr txBox="1"/>
          <p:nvPr/>
        </p:nvSpPr>
        <p:spPr>
          <a:xfrm>
            <a:off x="4427984" y="2137420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寄存器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B52C7A0-3CF2-924E-90D5-7EDBDCD55936}"/>
              </a:ext>
            </a:extLst>
          </p:cNvPr>
          <p:cNvCxnSpPr>
            <a:cxnSpLocks/>
          </p:cNvCxnSpPr>
          <p:nvPr/>
        </p:nvCxnSpPr>
        <p:spPr>
          <a:xfrm>
            <a:off x="7164288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2E6DBC16-98A9-BB46-87FE-84A8FB8C8D19}"/>
              </a:ext>
            </a:extLst>
          </p:cNvPr>
          <p:cNvCxnSpPr>
            <a:cxnSpLocks/>
          </p:cNvCxnSpPr>
          <p:nvPr/>
        </p:nvCxnSpPr>
        <p:spPr>
          <a:xfrm>
            <a:off x="7380312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67D758A6-5F61-C14F-8411-21B4BA5903FE}"/>
              </a:ext>
            </a:extLst>
          </p:cNvPr>
          <p:cNvCxnSpPr>
            <a:cxnSpLocks/>
          </p:cNvCxnSpPr>
          <p:nvPr/>
        </p:nvCxnSpPr>
        <p:spPr>
          <a:xfrm>
            <a:off x="7596336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E759DFC3-178A-5742-860B-339F2333AD8F}"/>
              </a:ext>
            </a:extLst>
          </p:cNvPr>
          <p:cNvCxnSpPr>
            <a:cxnSpLocks/>
          </p:cNvCxnSpPr>
          <p:nvPr/>
        </p:nvCxnSpPr>
        <p:spPr>
          <a:xfrm>
            <a:off x="8100392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4D466632-216C-B243-B3A9-6DB3DCB6B71B}"/>
              </a:ext>
            </a:extLst>
          </p:cNvPr>
          <p:cNvCxnSpPr>
            <a:cxnSpLocks/>
          </p:cNvCxnSpPr>
          <p:nvPr/>
        </p:nvCxnSpPr>
        <p:spPr>
          <a:xfrm>
            <a:off x="8316416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4588F3DA-9012-E64A-90F6-A5F14DD8E0BB}"/>
              </a:ext>
            </a:extLst>
          </p:cNvPr>
          <p:cNvCxnSpPr>
            <a:cxnSpLocks/>
          </p:cNvCxnSpPr>
          <p:nvPr/>
        </p:nvCxnSpPr>
        <p:spPr>
          <a:xfrm>
            <a:off x="8532440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446777D0-022F-8648-AFC4-91808BDD990A}"/>
              </a:ext>
            </a:extLst>
          </p:cNvPr>
          <p:cNvCxnSpPr>
            <a:cxnSpLocks/>
          </p:cNvCxnSpPr>
          <p:nvPr/>
        </p:nvCxnSpPr>
        <p:spPr>
          <a:xfrm>
            <a:off x="7596336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D23A47DC-40D5-D647-B4E8-70E480A54D92}"/>
              </a:ext>
            </a:extLst>
          </p:cNvPr>
          <p:cNvCxnSpPr>
            <a:cxnSpLocks/>
          </p:cNvCxnSpPr>
          <p:nvPr/>
        </p:nvCxnSpPr>
        <p:spPr>
          <a:xfrm>
            <a:off x="7812360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363E41C2-CD73-F94C-9DFE-A3E070BEE44A}"/>
              </a:ext>
            </a:extLst>
          </p:cNvPr>
          <p:cNvCxnSpPr>
            <a:cxnSpLocks/>
          </p:cNvCxnSpPr>
          <p:nvPr/>
        </p:nvCxnSpPr>
        <p:spPr>
          <a:xfrm>
            <a:off x="8028384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右箭头 45">
            <a:extLst>
              <a:ext uri="{FF2B5EF4-FFF2-40B4-BE49-F238E27FC236}">
                <a16:creationId xmlns:a16="http://schemas.microsoft.com/office/drawing/2014/main" id="{C72CAAB3-185A-B640-BD6A-8F4ACE88F89A}"/>
              </a:ext>
            </a:extLst>
          </p:cNvPr>
          <p:cNvSpPr/>
          <p:nvPr/>
        </p:nvSpPr>
        <p:spPr>
          <a:xfrm>
            <a:off x="6486327" y="1744778"/>
            <a:ext cx="288031" cy="36004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0F9D11-C233-DE4E-8F65-737DEF1DD58D}"/>
              </a:ext>
            </a:extLst>
          </p:cNvPr>
          <p:cNvSpPr/>
          <p:nvPr/>
        </p:nvSpPr>
        <p:spPr>
          <a:xfrm>
            <a:off x="4912682" y="52695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/>
              <a:t>非虚拟化</a:t>
            </a:r>
            <a:endParaRPr lang="zh-CN" altLang="en-US" sz="1400" b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E59599D-A6C6-1943-A01F-A913CFA8114C}"/>
              </a:ext>
            </a:extLst>
          </p:cNvPr>
          <p:cNvSpPr/>
          <p:nvPr/>
        </p:nvSpPr>
        <p:spPr>
          <a:xfrm>
            <a:off x="7495150" y="538701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/>
              <a:t>虚拟化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75635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26BD7-B885-4F46-BBBE-024F0B33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QEMU/KVM</a:t>
            </a:r>
            <a:r>
              <a:rPr kumimoji="1" lang="zh-CN" altLang="en-US" dirty="0"/>
              <a:t>设备模拟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94243-27D7-1043-AC6A-11814C23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以虚拟网卡举例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发包过程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DDE6E0-1DCD-7949-9FCD-796A71CC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C6FF35-FBEF-C14A-B470-F6FE4B1EB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E1767C7E-0AFE-FD4B-8602-A1893D443A85}"/>
              </a:ext>
            </a:extLst>
          </p:cNvPr>
          <p:cNvSpPr/>
          <p:nvPr/>
        </p:nvSpPr>
        <p:spPr>
          <a:xfrm>
            <a:off x="1114046" y="4201647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640C3AD8-7A0A-9340-AA72-25C14E201ED8}"/>
              </a:ext>
            </a:extLst>
          </p:cNvPr>
          <p:cNvSpPr/>
          <p:nvPr/>
        </p:nvSpPr>
        <p:spPr>
          <a:xfrm>
            <a:off x="1104094" y="2453454"/>
            <a:ext cx="3284547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809E3391-6343-144A-8470-B54CAB127AA3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EFD5F16-63FB-1F4B-A60C-EA06E351F572}"/>
              </a:ext>
            </a:extLst>
          </p:cNvPr>
          <p:cNvSpPr txBox="1"/>
          <p:nvPr/>
        </p:nvSpPr>
        <p:spPr>
          <a:xfrm>
            <a:off x="107504" y="328154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BEF980-5DD5-5E4D-993D-5856367B911D}"/>
              </a:ext>
            </a:extLst>
          </p:cNvPr>
          <p:cNvSpPr txBox="1"/>
          <p:nvPr/>
        </p:nvSpPr>
        <p:spPr>
          <a:xfrm>
            <a:off x="107504" y="2361444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9978EE-997C-3D47-BB70-F7A5BB4EBC1A}"/>
              </a:ext>
            </a:extLst>
          </p:cNvPr>
          <p:cNvSpPr txBox="1"/>
          <p:nvPr/>
        </p:nvSpPr>
        <p:spPr>
          <a:xfrm>
            <a:off x="107504" y="429365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3E8B95-E320-3341-8AD9-A52324795A1F}"/>
              </a:ext>
            </a:extLst>
          </p:cNvPr>
          <p:cNvSpPr txBox="1"/>
          <p:nvPr/>
        </p:nvSpPr>
        <p:spPr>
          <a:xfrm>
            <a:off x="2281882" y="1993403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C4E8D8AC-AB54-154F-A1E6-C38F24D26FD7}"/>
              </a:ext>
            </a:extLst>
          </p:cNvPr>
          <p:cNvSpPr/>
          <p:nvPr/>
        </p:nvSpPr>
        <p:spPr>
          <a:xfrm>
            <a:off x="6386816" y="309752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2905C887-43CB-1C46-9C6D-53FF47B5470B}"/>
              </a:ext>
            </a:extLst>
          </p:cNvPr>
          <p:cNvSpPr/>
          <p:nvPr/>
        </p:nvSpPr>
        <p:spPr>
          <a:xfrm>
            <a:off x="6388610" y="2453454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E114BA0-A65A-DC45-B784-B752ABA92A84}"/>
              </a:ext>
            </a:extLst>
          </p:cNvPr>
          <p:cNvSpPr/>
          <p:nvPr/>
        </p:nvSpPr>
        <p:spPr>
          <a:xfrm>
            <a:off x="4890068" y="1993403"/>
            <a:ext cx="3688484" cy="1745043"/>
          </a:xfrm>
          <a:prstGeom prst="roundRect">
            <a:avLst>
              <a:gd name="adj" fmla="val 7310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E46FE4-5037-BE43-A8A8-100CC2AE7911}"/>
              </a:ext>
            </a:extLst>
          </p:cNvPr>
          <p:cNvSpPr txBox="1"/>
          <p:nvPr/>
        </p:nvSpPr>
        <p:spPr>
          <a:xfrm>
            <a:off x="6296216" y="1993403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A1879DB-274C-1F4B-812E-100CFBCAB710}"/>
              </a:ext>
            </a:extLst>
          </p:cNvPr>
          <p:cNvSpPr/>
          <p:nvPr/>
        </p:nvSpPr>
        <p:spPr>
          <a:xfrm>
            <a:off x="950870" y="1993403"/>
            <a:ext cx="3688484" cy="2852317"/>
          </a:xfrm>
          <a:prstGeom prst="roundRect">
            <a:avLst>
              <a:gd name="adj" fmla="val 6744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7926F197-63D9-FF41-BD7C-EFC900A651A4}"/>
              </a:ext>
            </a:extLst>
          </p:cNvPr>
          <p:cNvSpPr/>
          <p:nvPr/>
        </p:nvSpPr>
        <p:spPr>
          <a:xfrm>
            <a:off x="2761089" y="4385670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CD7B5AF9-BD9A-E740-8DFC-6871165D7EC0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6349442" y="3987997"/>
            <a:ext cx="1429437" cy="654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7">
            <a:extLst>
              <a:ext uri="{FF2B5EF4-FFF2-40B4-BE49-F238E27FC236}">
                <a16:creationId xmlns:a16="http://schemas.microsoft.com/office/drawing/2014/main" id="{1F7A6FC7-C082-AF4C-A4D9-5C4A404816D1}"/>
              </a:ext>
            </a:extLst>
          </p:cNvPr>
          <p:cNvSpPr/>
          <p:nvPr/>
        </p:nvSpPr>
        <p:spPr>
          <a:xfrm>
            <a:off x="2825477" y="3741597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F78808EC-FCD1-A243-B17B-2168E211893C}"/>
              </a:ext>
            </a:extLst>
          </p:cNvPr>
          <p:cNvCxnSpPr>
            <a:cxnSpLocks/>
          </p:cNvCxnSpPr>
          <p:nvPr/>
        </p:nvCxnSpPr>
        <p:spPr>
          <a:xfrm>
            <a:off x="3487645" y="2821495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71BD70E-F834-134E-A1A3-EA93DD932AFE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3482038" y="4045905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F3176FE-0ED2-2841-A99E-11FE1B0C8D86}"/>
              </a:ext>
            </a:extLst>
          </p:cNvPr>
          <p:cNvSpPr txBox="1"/>
          <p:nvPr/>
        </p:nvSpPr>
        <p:spPr>
          <a:xfrm>
            <a:off x="6792141" y="4492856"/>
            <a:ext cx="1826141" cy="369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 </a:t>
            </a:r>
            <a:r>
              <a:rPr kumimoji="1" lang="en-US" altLang="zh-CN" dirty="0"/>
              <a:t>(MMIO)</a:t>
            </a:r>
            <a:endParaRPr kumimoji="1" lang="zh-CN" altLang="en-US" dirty="0"/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42C49016-9075-6848-8C37-AAEF2B0BBEB8}"/>
              </a:ext>
            </a:extLst>
          </p:cNvPr>
          <p:cNvSpPr/>
          <p:nvPr/>
        </p:nvSpPr>
        <p:spPr>
          <a:xfrm>
            <a:off x="2843807" y="5029742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98A66D88-6FEE-8A45-AB93-55E16F9294D7}"/>
              </a:ext>
            </a:extLst>
          </p:cNvPr>
          <p:cNvCxnSpPr>
            <a:cxnSpLocks/>
          </p:cNvCxnSpPr>
          <p:nvPr/>
        </p:nvCxnSpPr>
        <p:spPr>
          <a:xfrm>
            <a:off x="3475696" y="4661699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7">
            <a:extLst>
              <a:ext uri="{FF2B5EF4-FFF2-40B4-BE49-F238E27FC236}">
                <a16:creationId xmlns:a16="http://schemas.microsoft.com/office/drawing/2014/main" id="{9AA86F38-2D9E-334F-BC7A-0788E4766774}"/>
              </a:ext>
            </a:extLst>
          </p:cNvPr>
          <p:cNvSpPr/>
          <p:nvPr/>
        </p:nvSpPr>
        <p:spPr>
          <a:xfrm>
            <a:off x="5076056" y="256946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843517B-C44E-A549-AD7F-067822233C0E}"/>
              </a:ext>
            </a:extLst>
          </p:cNvPr>
          <p:cNvCxnSpPr>
            <a:cxnSpLocks/>
          </p:cNvCxnSpPr>
          <p:nvPr/>
        </p:nvCxnSpPr>
        <p:spPr>
          <a:xfrm>
            <a:off x="7380312" y="2857500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7">
            <a:extLst>
              <a:ext uri="{FF2B5EF4-FFF2-40B4-BE49-F238E27FC236}">
                <a16:creationId xmlns:a16="http://schemas.microsoft.com/office/drawing/2014/main" id="{DBA08416-4717-9D4C-BE50-A745151F3387}"/>
              </a:ext>
            </a:extLst>
          </p:cNvPr>
          <p:cNvSpPr/>
          <p:nvPr/>
        </p:nvSpPr>
        <p:spPr>
          <a:xfrm>
            <a:off x="1763688" y="4311642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8C203E7-5466-F542-9E5C-BD562A134B63}"/>
              </a:ext>
            </a:extLst>
          </p:cNvPr>
          <p:cNvCxnSpPr>
            <a:cxnSpLocks/>
          </p:cNvCxnSpPr>
          <p:nvPr/>
        </p:nvCxnSpPr>
        <p:spPr>
          <a:xfrm flipV="1">
            <a:off x="2195736" y="2857500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02FFD3F9-0F4F-EA44-B994-832A77B336A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0385" y="5017740"/>
            <a:ext cx="566266" cy="509904"/>
          </a:xfrm>
          <a:prstGeom prst="rect">
            <a:avLst/>
          </a:prstGeom>
        </p:spPr>
      </p:pic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AC5A12A3-0332-3C4C-9BA2-71229B4D1A3F}"/>
              </a:ext>
            </a:extLst>
          </p:cNvPr>
          <p:cNvCxnSpPr>
            <a:cxnSpLocks/>
            <a:stCxn id="39" idx="0"/>
            <a:endCxn id="37" idx="2"/>
          </p:cNvCxnSpPr>
          <p:nvPr/>
        </p:nvCxnSpPr>
        <p:spPr>
          <a:xfrm flipV="1">
            <a:off x="2233518" y="4671682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7E0FE97B-F1A4-CA40-9431-1F313D6A97DA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1302313" y="5272692"/>
            <a:ext cx="648072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8991986-AB85-C744-93B0-08A01EE0D523}"/>
              </a:ext>
            </a:extLst>
          </p:cNvPr>
          <p:cNvSpPr txBox="1"/>
          <p:nvPr/>
        </p:nvSpPr>
        <p:spPr>
          <a:xfrm>
            <a:off x="1331640" y="343356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C3153132-6B5B-A54B-A0A8-828D8A15281C}"/>
              </a:ext>
            </a:extLst>
          </p:cNvPr>
          <p:cNvCxnSpPr>
            <a:cxnSpLocks/>
          </p:cNvCxnSpPr>
          <p:nvPr/>
        </p:nvCxnSpPr>
        <p:spPr>
          <a:xfrm>
            <a:off x="4067944" y="2713484"/>
            <a:ext cx="108012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00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26BD7-B885-4F46-BBBE-024F0B33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QEMU/KVM</a:t>
            </a:r>
            <a:r>
              <a:rPr kumimoji="1" lang="zh-CN" altLang="en-US" dirty="0"/>
              <a:t>设备模拟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94243-27D7-1043-AC6A-11814C23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以虚拟网卡举例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收包过程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DDE6E0-1DCD-7949-9FCD-796A71CC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C6FF35-FBEF-C14A-B470-F6FE4B1EB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E1767C7E-0AFE-FD4B-8602-A1893D443A85}"/>
              </a:ext>
            </a:extLst>
          </p:cNvPr>
          <p:cNvSpPr/>
          <p:nvPr/>
        </p:nvSpPr>
        <p:spPr>
          <a:xfrm>
            <a:off x="1114046" y="4201647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640C3AD8-7A0A-9340-AA72-25C14E201ED8}"/>
              </a:ext>
            </a:extLst>
          </p:cNvPr>
          <p:cNvSpPr/>
          <p:nvPr/>
        </p:nvSpPr>
        <p:spPr>
          <a:xfrm>
            <a:off x="1104094" y="2453454"/>
            <a:ext cx="3284547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809E3391-6343-144A-8470-B54CAB127AA3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EFD5F16-63FB-1F4B-A60C-EA06E351F572}"/>
              </a:ext>
            </a:extLst>
          </p:cNvPr>
          <p:cNvSpPr txBox="1"/>
          <p:nvPr/>
        </p:nvSpPr>
        <p:spPr>
          <a:xfrm>
            <a:off x="107504" y="328154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BEF980-5DD5-5E4D-993D-5856367B911D}"/>
              </a:ext>
            </a:extLst>
          </p:cNvPr>
          <p:cNvSpPr txBox="1"/>
          <p:nvPr/>
        </p:nvSpPr>
        <p:spPr>
          <a:xfrm>
            <a:off x="107504" y="2361444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9978EE-997C-3D47-BB70-F7A5BB4EBC1A}"/>
              </a:ext>
            </a:extLst>
          </p:cNvPr>
          <p:cNvSpPr txBox="1"/>
          <p:nvPr/>
        </p:nvSpPr>
        <p:spPr>
          <a:xfrm>
            <a:off x="107504" y="429365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3E8B95-E320-3341-8AD9-A52324795A1F}"/>
              </a:ext>
            </a:extLst>
          </p:cNvPr>
          <p:cNvSpPr txBox="1"/>
          <p:nvPr/>
        </p:nvSpPr>
        <p:spPr>
          <a:xfrm>
            <a:off x="2281882" y="1993403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C4E8D8AC-AB54-154F-A1E6-C38F24D26FD7}"/>
              </a:ext>
            </a:extLst>
          </p:cNvPr>
          <p:cNvSpPr/>
          <p:nvPr/>
        </p:nvSpPr>
        <p:spPr>
          <a:xfrm>
            <a:off x="6386816" y="309752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2905C887-43CB-1C46-9C6D-53FF47B5470B}"/>
              </a:ext>
            </a:extLst>
          </p:cNvPr>
          <p:cNvSpPr/>
          <p:nvPr/>
        </p:nvSpPr>
        <p:spPr>
          <a:xfrm>
            <a:off x="6388610" y="2453454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E114BA0-A65A-DC45-B784-B752ABA92A84}"/>
              </a:ext>
            </a:extLst>
          </p:cNvPr>
          <p:cNvSpPr/>
          <p:nvPr/>
        </p:nvSpPr>
        <p:spPr>
          <a:xfrm>
            <a:off x="4890068" y="1993403"/>
            <a:ext cx="3688484" cy="1745043"/>
          </a:xfrm>
          <a:prstGeom prst="roundRect">
            <a:avLst>
              <a:gd name="adj" fmla="val 9181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E46FE4-5037-BE43-A8A8-100CC2AE7911}"/>
              </a:ext>
            </a:extLst>
          </p:cNvPr>
          <p:cNvSpPr txBox="1"/>
          <p:nvPr/>
        </p:nvSpPr>
        <p:spPr>
          <a:xfrm>
            <a:off x="6296216" y="1993403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A1879DB-274C-1F4B-812E-100CFBCAB710}"/>
              </a:ext>
            </a:extLst>
          </p:cNvPr>
          <p:cNvSpPr/>
          <p:nvPr/>
        </p:nvSpPr>
        <p:spPr>
          <a:xfrm>
            <a:off x="950870" y="1993403"/>
            <a:ext cx="3688484" cy="2852317"/>
          </a:xfrm>
          <a:prstGeom prst="roundRect">
            <a:avLst>
              <a:gd name="adj" fmla="val 5599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7926F197-63D9-FF41-BD7C-EFC900A651A4}"/>
              </a:ext>
            </a:extLst>
          </p:cNvPr>
          <p:cNvSpPr/>
          <p:nvPr/>
        </p:nvSpPr>
        <p:spPr>
          <a:xfrm>
            <a:off x="2761089" y="4385670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CD7B5AF9-BD9A-E740-8DFC-6871165D7EC0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6349442" y="3987997"/>
            <a:ext cx="1429437" cy="654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7">
            <a:extLst>
              <a:ext uri="{FF2B5EF4-FFF2-40B4-BE49-F238E27FC236}">
                <a16:creationId xmlns:a16="http://schemas.microsoft.com/office/drawing/2014/main" id="{1F7A6FC7-C082-AF4C-A4D9-5C4A404816D1}"/>
              </a:ext>
            </a:extLst>
          </p:cNvPr>
          <p:cNvSpPr/>
          <p:nvPr/>
        </p:nvSpPr>
        <p:spPr>
          <a:xfrm>
            <a:off x="2825477" y="3741597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F78808EC-FCD1-A243-B17B-2168E211893C}"/>
              </a:ext>
            </a:extLst>
          </p:cNvPr>
          <p:cNvCxnSpPr>
            <a:cxnSpLocks/>
          </p:cNvCxnSpPr>
          <p:nvPr/>
        </p:nvCxnSpPr>
        <p:spPr>
          <a:xfrm>
            <a:off x="3487645" y="2821495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71BD70E-F834-134E-A1A3-EA93DD932AFE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3482038" y="4045905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F3176FE-0ED2-2841-A99E-11FE1B0C8D86}"/>
              </a:ext>
            </a:extLst>
          </p:cNvPr>
          <p:cNvSpPr txBox="1"/>
          <p:nvPr/>
        </p:nvSpPr>
        <p:spPr>
          <a:xfrm>
            <a:off x="6804248" y="429766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(Interrupt)</a:t>
            </a:r>
            <a:endParaRPr kumimoji="1" lang="zh-CN" altLang="en-US" dirty="0"/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42C49016-9075-6848-8C37-AAEF2B0BBEB8}"/>
              </a:ext>
            </a:extLst>
          </p:cNvPr>
          <p:cNvSpPr/>
          <p:nvPr/>
        </p:nvSpPr>
        <p:spPr>
          <a:xfrm>
            <a:off x="2843807" y="5029742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98A66D88-6FEE-8A45-AB93-55E16F9294D7}"/>
              </a:ext>
            </a:extLst>
          </p:cNvPr>
          <p:cNvCxnSpPr>
            <a:cxnSpLocks/>
          </p:cNvCxnSpPr>
          <p:nvPr/>
        </p:nvCxnSpPr>
        <p:spPr>
          <a:xfrm>
            <a:off x="3475696" y="4661699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7">
            <a:extLst>
              <a:ext uri="{FF2B5EF4-FFF2-40B4-BE49-F238E27FC236}">
                <a16:creationId xmlns:a16="http://schemas.microsoft.com/office/drawing/2014/main" id="{9AA86F38-2D9E-334F-BC7A-0788E4766774}"/>
              </a:ext>
            </a:extLst>
          </p:cNvPr>
          <p:cNvSpPr/>
          <p:nvPr/>
        </p:nvSpPr>
        <p:spPr>
          <a:xfrm>
            <a:off x="5076056" y="256946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843517B-C44E-A549-AD7F-067822233C0E}"/>
              </a:ext>
            </a:extLst>
          </p:cNvPr>
          <p:cNvCxnSpPr>
            <a:cxnSpLocks/>
          </p:cNvCxnSpPr>
          <p:nvPr/>
        </p:nvCxnSpPr>
        <p:spPr>
          <a:xfrm>
            <a:off x="7380312" y="2857500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7">
            <a:extLst>
              <a:ext uri="{FF2B5EF4-FFF2-40B4-BE49-F238E27FC236}">
                <a16:creationId xmlns:a16="http://schemas.microsoft.com/office/drawing/2014/main" id="{DBA08416-4717-9D4C-BE50-A745151F3387}"/>
              </a:ext>
            </a:extLst>
          </p:cNvPr>
          <p:cNvSpPr/>
          <p:nvPr/>
        </p:nvSpPr>
        <p:spPr>
          <a:xfrm>
            <a:off x="1763688" y="4311642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8C203E7-5466-F542-9E5C-BD562A134B63}"/>
              </a:ext>
            </a:extLst>
          </p:cNvPr>
          <p:cNvCxnSpPr>
            <a:cxnSpLocks/>
          </p:cNvCxnSpPr>
          <p:nvPr/>
        </p:nvCxnSpPr>
        <p:spPr>
          <a:xfrm flipV="1">
            <a:off x="2195736" y="2857500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02FFD3F9-0F4F-EA44-B994-832A77B336A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0385" y="5017740"/>
            <a:ext cx="566266" cy="509904"/>
          </a:xfrm>
          <a:prstGeom prst="rect">
            <a:avLst/>
          </a:prstGeom>
        </p:spPr>
      </p:pic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AC5A12A3-0332-3C4C-9BA2-71229B4D1A3F}"/>
              </a:ext>
            </a:extLst>
          </p:cNvPr>
          <p:cNvCxnSpPr>
            <a:cxnSpLocks/>
            <a:stCxn id="39" idx="0"/>
            <a:endCxn id="37" idx="2"/>
          </p:cNvCxnSpPr>
          <p:nvPr/>
        </p:nvCxnSpPr>
        <p:spPr>
          <a:xfrm flipV="1">
            <a:off x="2233518" y="4671682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33CF38B-AB22-5B43-BE36-A26306D1B48C}"/>
              </a:ext>
            </a:extLst>
          </p:cNvPr>
          <p:cNvSpPr txBox="1"/>
          <p:nvPr/>
        </p:nvSpPr>
        <p:spPr>
          <a:xfrm>
            <a:off x="2483768" y="3001516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Inject</a:t>
            </a:r>
          </a:p>
          <a:p>
            <a:r>
              <a:rPr kumimoji="1" lang="en-US" altLang="zh-CN" dirty="0"/>
              <a:t>Interrupt</a:t>
            </a:r>
            <a:endParaRPr kumimoji="1" lang="zh-CN" altLang="en-US" dirty="0"/>
          </a:p>
        </p:txBody>
      </p:sp>
      <p:cxnSp>
        <p:nvCxnSpPr>
          <p:cNvPr id="34" name="直线箭头连接符 46">
            <a:extLst>
              <a:ext uri="{FF2B5EF4-FFF2-40B4-BE49-F238E27FC236}">
                <a16:creationId xmlns:a16="http://schemas.microsoft.com/office/drawing/2014/main" id="{0E54CD73-BAB0-7405-B328-F47FC67E49E0}"/>
              </a:ext>
            </a:extLst>
          </p:cNvPr>
          <p:cNvCxnSpPr>
            <a:cxnSpLocks/>
          </p:cNvCxnSpPr>
          <p:nvPr/>
        </p:nvCxnSpPr>
        <p:spPr>
          <a:xfrm>
            <a:off x="4067944" y="2713484"/>
            <a:ext cx="108012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8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1BF62-E919-0F4E-9162-AE5E14EF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设备模拟的优缺点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71160D-F0AB-C34E-8041-EA9EEDC6F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可以模拟任意设备</a:t>
            </a:r>
            <a:endParaRPr lang="en-US" altLang="zh-CN" dirty="0"/>
          </a:p>
          <a:p>
            <a:pPr lvl="2"/>
            <a:r>
              <a:rPr lang="zh-CN" altLang="en-US" dirty="0"/>
              <a:t>选择流行设备，支持较“久远”的</a:t>
            </a:r>
            <a:r>
              <a:rPr lang="en-US" altLang="zh-CN" dirty="0"/>
              <a:t>OS</a:t>
            </a:r>
            <a:r>
              <a:rPr lang="zh-CN" altLang="en-US" dirty="0"/>
              <a:t>（如</a:t>
            </a:r>
            <a:r>
              <a:rPr lang="en-US" altLang="zh-CN" dirty="0"/>
              <a:t>e1000</a:t>
            </a:r>
            <a:r>
              <a:rPr lang="zh-CN" altLang="en-US" dirty="0"/>
              <a:t>网卡）</a:t>
            </a:r>
            <a:endParaRPr lang="en-US" altLang="zh-CN" dirty="0"/>
          </a:p>
          <a:p>
            <a:pPr lvl="1"/>
            <a:r>
              <a:rPr lang="zh-CN" altLang="en-US" dirty="0"/>
              <a:t>允许在中间拦截（</a:t>
            </a:r>
            <a:r>
              <a:rPr lang="en-US" altLang="zh-CN" dirty="0"/>
              <a:t>Interposition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</a:p>
          <a:p>
            <a:pPr lvl="2"/>
            <a:r>
              <a:rPr lang="zh-CN" altLang="en-US" dirty="0"/>
              <a:t>例如在</a:t>
            </a:r>
            <a:r>
              <a:rPr lang="en-US" altLang="zh-CN" dirty="0"/>
              <a:t>QEMU</a:t>
            </a:r>
            <a:r>
              <a:rPr lang="zh-CN" altLang="en-US" dirty="0"/>
              <a:t>层面检查网络内容</a:t>
            </a:r>
            <a:endParaRPr lang="en-US" altLang="zh-CN" dirty="0"/>
          </a:p>
          <a:p>
            <a:pPr lvl="1"/>
            <a:r>
              <a:rPr lang="zh-CN" altLang="en-US" dirty="0"/>
              <a:t>不需要硬件修改</a:t>
            </a:r>
            <a:endParaRPr lang="en-US" altLang="zh-CN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性能不佳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C9DDDD-FC70-6241-AFC5-A1D1C2B1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B1643-D619-D44D-990F-8AB1CA545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8795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F5B94-F7EB-4449-B4E7-2B8E74FC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：半虚拟化方式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52BB36-0F86-454E-A1ED-71B98F476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协同设计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</a:t>
            </a:r>
            <a:r>
              <a:rPr kumimoji="1" lang="en-US" altLang="zh-CN" dirty="0"/>
              <a:t>“</a:t>
            </a:r>
            <a:r>
              <a:rPr kumimoji="1" lang="zh-CN" altLang="en-US" dirty="0"/>
              <a:t>知道</a:t>
            </a:r>
            <a:r>
              <a:rPr kumimoji="1" lang="en-US" altLang="zh-CN" dirty="0"/>
              <a:t>”</a:t>
            </a:r>
            <a:r>
              <a:rPr kumimoji="1" lang="zh-CN" altLang="en-US" dirty="0"/>
              <a:t>自己运行在虚拟化环境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虚拟机内运行前端</a:t>
            </a:r>
            <a:r>
              <a:rPr kumimoji="1" lang="en-US" altLang="zh-CN" dirty="0"/>
              <a:t>(front-end)</a:t>
            </a:r>
            <a:r>
              <a:rPr kumimoji="1" lang="zh-CN" altLang="en-US" dirty="0"/>
              <a:t>驱动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内运行后端</a:t>
            </a:r>
            <a:r>
              <a:rPr kumimoji="1" lang="en-US" altLang="zh-CN" dirty="0"/>
              <a:t>(back-end)</a:t>
            </a:r>
            <a:r>
              <a:rPr kumimoji="1" lang="zh-CN" altLang="en-US" dirty="0"/>
              <a:t>驱动</a:t>
            </a:r>
            <a:endParaRPr kumimoji="1" lang="en-US" altLang="zh-CN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主动提供</a:t>
            </a:r>
            <a:r>
              <a:rPr kumimoji="1" lang="en-US" altLang="zh-CN" dirty="0" err="1"/>
              <a:t>Hypercall</a:t>
            </a:r>
            <a:r>
              <a:rPr kumimoji="1" lang="zh-CN" altLang="en-US" dirty="0"/>
              <a:t>给</a:t>
            </a:r>
            <a:r>
              <a:rPr kumimoji="1" lang="en-US" altLang="zh-CN" dirty="0"/>
              <a:t>VM</a:t>
            </a:r>
          </a:p>
          <a:p>
            <a:r>
              <a:rPr kumimoji="1" lang="zh-CN" altLang="en-US" dirty="0"/>
              <a:t>通过共享内存传递指令和命令</a:t>
            </a:r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44CB8-985D-6947-8556-934A69CA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2CFD7C-D3D8-874A-BA58-93990AC8E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4933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D4957-A8A8-5B41-B6B5-96B393CD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VirtIO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Unified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Para-virtualized I/O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AA886C-FCEB-614C-95D3-468E47DFA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标准化的半虚拟化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框架</a:t>
            </a:r>
            <a:endParaRPr kumimoji="1" lang="en-US" altLang="zh-CN" dirty="0"/>
          </a:p>
          <a:p>
            <a:pPr lvl="1"/>
            <a:r>
              <a:rPr lang="zh-CN" altLang="en-US" dirty="0"/>
              <a:t>通用的前端抽象</a:t>
            </a:r>
            <a:endParaRPr lang="en-US" altLang="zh-CN" dirty="0"/>
          </a:p>
          <a:p>
            <a:pPr lvl="1"/>
            <a:r>
              <a:rPr lang="zh-CN" altLang="en-US" dirty="0"/>
              <a:t>标准化接口</a:t>
            </a:r>
            <a:endParaRPr lang="en-US" altLang="zh-CN" dirty="0"/>
          </a:p>
          <a:p>
            <a:pPr lvl="1"/>
            <a:r>
              <a:rPr lang="zh-CN" altLang="en-US" dirty="0"/>
              <a:t>增加代码的跨平台重用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ADB386-C1A2-D446-A089-6AB5C0F5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1D06C-CC8D-E24E-B428-FCF7055FB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17CC7C6C-6B41-0E47-B3B3-7EC19ABBADAC}"/>
              </a:ext>
            </a:extLst>
          </p:cNvPr>
          <p:cNvSpPr/>
          <p:nvPr/>
        </p:nvSpPr>
        <p:spPr>
          <a:xfrm>
            <a:off x="3635896" y="4801716"/>
            <a:ext cx="1761832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Device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8723F931-5487-664A-8BA2-79EEE3B64D17}"/>
              </a:ext>
            </a:extLst>
          </p:cNvPr>
          <p:cNvSpPr/>
          <p:nvPr/>
        </p:nvSpPr>
        <p:spPr>
          <a:xfrm>
            <a:off x="3353276" y="3145532"/>
            <a:ext cx="2226836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46C73C1-ADE9-D449-9328-495FF97C3F30}"/>
              </a:ext>
            </a:extLst>
          </p:cNvPr>
          <p:cNvCxnSpPr>
            <a:cxnSpLocks/>
          </p:cNvCxnSpPr>
          <p:nvPr/>
        </p:nvCxnSpPr>
        <p:spPr>
          <a:xfrm flipH="1">
            <a:off x="2987824" y="3865612"/>
            <a:ext cx="936104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7">
            <a:extLst>
              <a:ext uri="{FF2B5EF4-FFF2-40B4-BE49-F238E27FC236}">
                <a16:creationId xmlns:a16="http://schemas.microsoft.com/office/drawing/2014/main" id="{48363BD9-B144-BC47-92C1-CAA86F602DFB}"/>
              </a:ext>
            </a:extLst>
          </p:cNvPr>
          <p:cNvSpPr/>
          <p:nvPr/>
        </p:nvSpPr>
        <p:spPr>
          <a:xfrm>
            <a:off x="3563888" y="3649589"/>
            <a:ext cx="1808584" cy="21602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2673B098-AC41-BB4F-8133-E43A3D1B621E}"/>
              </a:ext>
            </a:extLst>
          </p:cNvPr>
          <p:cNvSpPr/>
          <p:nvPr/>
        </p:nvSpPr>
        <p:spPr>
          <a:xfrm>
            <a:off x="827584" y="4153644"/>
            <a:ext cx="3240360" cy="43204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   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Linux</a:t>
            </a:r>
          </a:p>
          <a:p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QEMU/KVM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0D457A61-2CA5-F14C-B6D2-19E517DD0544}"/>
              </a:ext>
            </a:extLst>
          </p:cNvPr>
          <p:cNvSpPr/>
          <p:nvPr/>
        </p:nvSpPr>
        <p:spPr>
          <a:xfrm>
            <a:off x="2339752" y="4153644"/>
            <a:ext cx="1664568" cy="21602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85B7A519-0F46-8E45-804B-BC1117E3F230}"/>
              </a:ext>
            </a:extLst>
          </p:cNvPr>
          <p:cNvSpPr/>
          <p:nvPr/>
        </p:nvSpPr>
        <p:spPr>
          <a:xfrm>
            <a:off x="4932040" y="4153644"/>
            <a:ext cx="3240360" cy="43204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Windows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1D39FD9C-80AC-6543-8D8A-17844A818A52}"/>
              </a:ext>
            </a:extLst>
          </p:cNvPr>
          <p:cNvSpPr/>
          <p:nvPr/>
        </p:nvSpPr>
        <p:spPr>
          <a:xfrm>
            <a:off x="5004048" y="4153644"/>
            <a:ext cx="1664568" cy="21602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F4C02ACF-0320-3149-B287-01236602530E}"/>
              </a:ext>
            </a:extLst>
          </p:cNvPr>
          <p:cNvCxnSpPr>
            <a:cxnSpLocks/>
          </p:cNvCxnSpPr>
          <p:nvPr/>
        </p:nvCxnSpPr>
        <p:spPr>
          <a:xfrm>
            <a:off x="5076056" y="3865612"/>
            <a:ext cx="720080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C25E48C-2B02-CF41-ADDB-B089C3B9D2B4}"/>
              </a:ext>
            </a:extLst>
          </p:cNvPr>
          <p:cNvSpPr txBox="1"/>
          <p:nvPr/>
        </p:nvSpPr>
        <p:spPr>
          <a:xfrm>
            <a:off x="4139952" y="3865612"/>
            <a:ext cx="70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Virtio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9136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6AB55-50F0-B94B-ACCB-059F9826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Virtqueue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519F2-74B8-8846-AAA6-484F14268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VMM</a:t>
            </a:r>
            <a:r>
              <a:rPr kumimoji="1" lang="zh-CN" altLang="en-US" dirty="0"/>
              <a:t>之间传递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请求的队列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个部分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Descriptor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  <a:p>
            <a:pPr lvl="2"/>
            <a:r>
              <a:rPr kumimoji="1" lang="zh-CN" altLang="en-US" dirty="0"/>
              <a:t>其中每一个</a:t>
            </a:r>
            <a:r>
              <a:rPr kumimoji="1" lang="en-US" altLang="zh-CN" dirty="0"/>
              <a:t>descriptor</a:t>
            </a:r>
            <a:r>
              <a:rPr kumimoji="1" lang="zh-CN" altLang="en-US" dirty="0"/>
              <a:t>描述了前后端共享的内存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链表组织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Available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Ring</a:t>
            </a:r>
          </a:p>
          <a:p>
            <a:pPr lvl="2"/>
            <a:r>
              <a:rPr kumimoji="1" lang="zh-CN" altLang="en-US" dirty="0"/>
              <a:t>可用</a:t>
            </a:r>
            <a:r>
              <a:rPr kumimoji="1" lang="en-US" altLang="zh-CN" dirty="0"/>
              <a:t>descriptor</a:t>
            </a:r>
            <a:r>
              <a:rPr kumimoji="1" lang="zh-CN" altLang="en-US" dirty="0"/>
              <a:t>的索引，</a:t>
            </a:r>
            <a:r>
              <a:rPr kumimoji="1" lang="en-US" altLang="zh-CN" dirty="0"/>
              <a:t>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指向一个</a:t>
            </a:r>
            <a:r>
              <a:rPr kumimoji="1" lang="en-US" altLang="zh-CN" dirty="0"/>
              <a:t>descriptor</a:t>
            </a:r>
            <a:r>
              <a:rPr kumimoji="1" lang="zh-CN" altLang="en-US" dirty="0"/>
              <a:t>链表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Ring</a:t>
            </a:r>
          </a:p>
          <a:p>
            <a:pPr lvl="2"/>
            <a:r>
              <a:rPr kumimoji="1" lang="zh-CN" altLang="en-US" dirty="0"/>
              <a:t>已用</a:t>
            </a:r>
            <a:r>
              <a:rPr kumimoji="1" lang="en-US" altLang="zh-CN" dirty="0"/>
              <a:t>descriptor</a:t>
            </a:r>
            <a:r>
              <a:rPr kumimoji="1" lang="zh-CN" altLang="en-US" dirty="0"/>
              <a:t>的索引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942D48-F70F-714A-BDA8-D545DB76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A6324A-B5A7-E542-B932-D5222A155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1663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BD791-9B5F-1447-99BA-4245553F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65212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QEMU/KVM</a:t>
            </a:r>
            <a:r>
              <a:rPr kumimoji="1" lang="zh-CN" altLang="en-US" dirty="0"/>
              <a:t>半虚拟化：发网络包</a:t>
            </a:r>
            <a:r>
              <a:rPr kumimoji="1" lang="en-US" altLang="zh-CN" dirty="0"/>
              <a:t>	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8BA1D-E613-BA4E-B984-8A34BE48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EDFD83-161F-ED4D-A6C3-DD4839857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73F793B2-0D41-8E44-98F3-825CFC410F73}"/>
              </a:ext>
            </a:extLst>
          </p:cNvPr>
          <p:cNvSpPr/>
          <p:nvPr/>
        </p:nvSpPr>
        <p:spPr>
          <a:xfrm>
            <a:off x="1134776" y="3769600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49A6A93-1A01-9E41-A551-C20966B45F81}"/>
              </a:ext>
            </a:extLst>
          </p:cNvPr>
          <p:cNvSpPr/>
          <p:nvPr/>
        </p:nvSpPr>
        <p:spPr>
          <a:xfrm>
            <a:off x="1124824" y="1849389"/>
            <a:ext cx="3284547" cy="63207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22386CDF-91A1-C547-9076-F9E914009180}"/>
              </a:ext>
            </a:extLst>
          </p:cNvPr>
          <p:cNvCxnSpPr>
            <a:cxnSpLocks/>
          </p:cNvCxnSpPr>
          <p:nvPr/>
        </p:nvCxnSpPr>
        <p:spPr>
          <a:xfrm>
            <a:off x="283345" y="3520570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5FF6992-67C2-FB42-A70B-92466339C844}"/>
              </a:ext>
            </a:extLst>
          </p:cNvPr>
          <p:cNvSpPr txBox="1"/>
          <p:nvPr/>
        </p:nvSpPr>
        <p:spPr>
          <a:xfrm>
            <a:off x="128234" y="2849499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23F310-6092-684E-A5E2-6FD5225A7830}"/>
              </a:ext>
            </a:extLst>
          </p:cNvPr>
          <p:cNvSpPr txBox="1"/>
          <p:nvPr/>
        </p:nvSpPr>
        <p:spPr>
          <a:xfrm>
            <a:off x="128234" y="1929397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F7D5A5-78C1-1044-98C1-7A81935412B7}"/>
              </a:ext>
            </a:extLst>
          </p:cNvPr>
          <p:cNvSpPr txBox="1"/>
          <p:nvPr/>
        </p:nvSpPr>
        <p:spPr>
          <a:xfrm>
            <a:off x="128234" y="3861611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63D5A8-8CE6-1C4E-A504-E8CF95884846}"/>
              </a:ext>
            </a:extLst>
          </p:cNvPr>
          <p:cNvSpPr txBox="1"/>
          <p:nvPr/>
        </p:nvSpPr>
        <p:spPr>
          <a:xfrm>
            <a:off x="2302612" y="1561356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26C4AA9-9074-8840-9E00-9553407FFB7B}"/>
              </a:ext>
            </a:extLst>
          </p:cNvPr>
          <p:cNvSpPr/>
          <p:nvPr/>
        </p:nvSpPr>
        <p:spPr>
          <a:xfrm>
            <a:off x="6407546" y="266547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4DDA61B8-E830-5A40-B188-6C979ACD8AFF}"/>
              </a:ext>
            </a:extLst>
          </p:cNvPr>
          <p:cNvSpPr/>
          <p:nvPr/>
        </p:nvSpPr>
        <p:spPr>
          <a:xfrm>
            <a:off x="6409340" y="202140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077E95E-97C1-3145-BD97-2EDF29BD13E4}"/>
              </a:ext>
            </a:extLst>
          </p:cNvPr>
          <p:cNvSpPr/>
          <p:nvPr/>
        </p:nvSpPr>
        <p:spPr>
          <a:xfrm>
            <a:off x="5868150" y="1561356"/>
            <a:ext cx="2731132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0B60A7-FD9F-7049-A42C-EA3E9CE9C73A}"/>
              </a:ext>
            </a:extLst>
          </p:cNvPr>
          <p:cNvSpPr txBox="1"/>
          <p:nvPr/>
        </p:nvSpPr>
        <p:spPr>
          <a:xfrm>
            <a:off x="6316946" y="1561356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9049005-703C-D84E-819D-12DAEF4E24A4}"/>
              </a:ext>
            </a:extLst>
          </p:cNvPr>
          <p:cNvSpPr/>
          <p:nvPr/>
        </p:nvSpPr>
        <p:spPr>
          <a:xfrm>
            <a:off x="971599" y="1561356"/>
            <a:ext cx="3744415" cy="2852317"/>
          </a:xfrm>
          <a:prstGeom prst="roundRect">
            <a:avLst>
              <a:gd name="adj" fmla="val 6744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9D03CD4F-3FFE-424C-B8A9-F03A85FEC8D4}"/>
              </a:ext>
            </a:extLst>
          </p:cNvPr>
          <p:cNvSpPr/>
          <p:nvPr/>
        </p:nvSpPr>
        <p:spPr>
          <a:xfrm>
            <a:off x="2781819" y="3953623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32066D5A-52E3-3B49-B68E-79FBCE9BB21D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6370172" y="3555950"/>
            <a:ext cx="1429437" cy="654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extLst>
              <a:ext uri="{FF2B5EF4-FFF2-40B4-BE49-F238E27FC236}">
                <a16:creationId xmlns:a16="http://schemas.microsoft.com/office/drawing/2014/main" id="{19E354E1-A45D-6A46-A88B-4C78BFC33D54}"/>
              </a:ext>
            </a:extLst>
          </p:cNvPr>
          <p:cNvSpPr/>
          <p:nvPr/>
        </p:nvSpPr>
        <p:spPr>
          <a:xfrm>
            <a:off x="2846207" y="3309550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F39B854-275B-7E4B-8776-F2A3AA455239}"/>
              </a:ext>
            </a:extLst>
          </p:cNvPr>
          <p:cNvCxnSpPr>
            <a:cxnSpLocks/>
          </p:cNvCxnSpPr>
          <p:nvPr/>
        </p:nvCxnSpPr>
        <p:spPr>
          <a:xfrm>
            <a:off x="3508375" y="2389448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CD6D26A-D916-8247-BFC8-89F517705EF9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3502768" y="3613858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6263262-9344-C942-8FDB-4FAA0B39509D}"/>
              </a:ext>
            </a:extLst>
          </p:cNvPr>
          <p:cNvSpPr txBox="1"/>
          <p:nvPr/>
        </p:nvSpPr>
        <p:spPr>
          <a:xfrm>
            <a:off x="6824978" y="3865613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Hypercall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D49F0A35-0BE2-EA44-9741-B8E0EB33D785}"/>
              </a:ext>
            </a:extLst>
          </p:cNvPr>
          <p:cNvSpPr/>
          <p:nvPr/>
        </p:nvSpPr>
        <p:spPr>
          <a:xfrm>
            <a:off x="2864537" y="4597695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4521A19-1E1E-154E-9BA3-4105F4A6F817}"/>
              </a:ext>
            </a:extLst>
          </p:cNvPr>
          <p:cNvCxnSpPr>
            <a:cxnSpLocks/>
          </p:cNvCxnSpPr>
          <p:nvPr/>
        </p:nvCxnSpPr>
        <p:spPr>
          <a:xfrm>
            <a:off x="3496426" y="4229652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C5B7F8B-1D14-BB4D-86BB-9A0429C03B1F}"/>
              </a:ext>
            </a:extLst>
          </p:cNvPr>
          <p:cNvCxnSpPr>
            <a:cxnSpLocks/>
          </p:cNvCxnSpPr>
          <p:nvPr/>
        </p:nvCxnSpPr>
        <p:spPr>
          <a:xfrm>
            <a:off x="7401042" y="2425453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439B5DD-7289-264B-B0A6-DD0EDFE0D654}"/>
              </a:ext>
            </a:extLst>
          </p:cNvPr>
          <p:cNvSpPr/>
          <p:nvPr/>
        </p:nvSpPr>
        <p:spPr>
          <a:xfrm>
            <a:off x="1784418" y="3879595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0BF0B84F-5027-464E-95CA-4A44BE376B8E}"/>
              </a:ext>
            </a:extLst>
          </p:cNvPr>
          <p:cNvCxnSpPr>
            <a:cxnSpLocks/>
          </p:cNvCxnSpPr>
          <p:nvPr/>
        </p:nvCxnSpPr>
        <p:spPr>
          <a:xfrm flipV="1">
            <a:off x="2216466" y="2425453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059DDD22-DDDB-B14D-A285-B0C0617D89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115" y="4585693"/>
            <a:ext cx="566266" cy="509904"/>
          </a:xfrm>
          <a:prstGeom prst="rect">
            <a:avLst/>
          </a:prstGeom>
        </p:spPr>
      </p:pic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65F03709-B29C-6546-9C29-21FE9E22F9B7}"/>
              </a:ext>
            </a:extLst>
          </p:cNvPr>
          <p:cNvCxnSpPr>
            <a:cxnSpLocks/>
            <a:stCxn id="30" idx="0"/>
            <a:endCxn id="28" idx="2"/>
          </p:cNvCxnSpPr>
          <p:nvPr/>
        </p:nvCxnSpPr>
        <p:spPr>
          <a:xfrm flipV="1">
            <a:off x="2254248" y="4239635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482B1EF-37CE-3A49-81DE-19CEB75EE91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1323043" y="4840645"/>
            <a:ext cx="648072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413A0CB-4BC4-F24B-A760-64CF1B02F526}"/>
              </a:ext>
            </a:extLst>
          </p:cNvPr>
          <p:cNvSpPr txBox="1"/>
          <p:nvPr/>
        </p:nvSpPr>
        <p:spPr>
          <a:xfrm>
            <a:off x="1373788" y="300151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E70B1C98-B378-DD49-9ACE-03489F5AAE12}"/>
              </a:ext>
            </a:extLst>
          </p:cNvPr>
          <p:cNvSpPr/>
          <p:nvPr/>
        </p:nvSpPr>
        <p:spPr>
          <a:xfrm>
            <a:off x="2555776" y="1993404"/>
            <a:ext cx="1721394" cy="35876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958D4C6A-E894-5C4C-9DA5-80FF0D5FA17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932040" y="2425452"/>
          <a:ext cx="720084" cy="240028"/>
        </p:xfrm>
        <a:graphic>
          <a:graphicData uri="http://schemas.openxmlformats.org/drawingml/2006/table">
            <a:tbl>
              <a:tblPr firstRow="1" bandRow="1"/>
              <a:tblGrid>
                <a:gridCol w="120014">
                  <a:extLst>
                    <a:ext uri="{9D8B030D-6E8A-4147-A177-3AD203B41FA5}">
                      <a16:colId xmlns:a16="http://schemas.microsoft.com/office/drawing/2014/main" val="2860160233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31885893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266334094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323478888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650179042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1575277169"/>
                    </a:ext>
                  </a:extLst>
                </a:gridCol>
              </a:tblGrid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211148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0879957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14F9B711-B99C-774A-A7FF-45D7CDC1F2D8}"/>
              </a:ext>
            </a:extLst>
          </p:cNvPr>
          <p:cNvSpPr txBox="1"/>
          <p:nvPr/>
        </p:nvSpPr>
        <p:spPr>
          <a:xfrm>
            <a:off x="4860032" y="2641476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Virtqueue</a:t>
            </a:r>
            <a:r>
              <a:rPr lang="en-US" altLang="zh-CN" sz="1200" dirty="0"/>
              <a:t> </a:t>
            </a:r>
          </a:p>
        </p:txBody>
      </p: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1902242D-E908-274A-BFFD-E3448ADA02AF}"/>
              </a:ext>
            </a:extLst>
          </p:cNvPr>
          <p:cNvCxnSpPr>
            <a:cxnSpLocks/>
            <a:stCxn id="13" idx="1"/>
            <a:endCxn id="36" idx="3"/>
          </p:cNvCxnSpPr>
          <p:nvPr/>
        </p:nvCxnSpPr>
        <p:spPr>
          <a:xfrm rot="10800000">
            <a:off x="5652124" y="2545467"/>
            <a:ext cx="755422" cy="37140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2F56314D-DE0C-1841-B60A-3F3CC04F97EA}"/>
              </a:ext>
            </a:extLst>
          </p:cNvPr>
          <p:cNvCxnSpPr>
            <a:cxnSpLocks/>
            <a:stCxn id="36" idx="1"/>
            <a:endCxn id="35" idx="3"/>
          </p:cNvCxnSpPr>
          <p:nvPr/>
        </p:nvCxnSpPr>
        <p:spPr>
          <a:xfrm rot="10800000">
            <a:off x="4277170" y="2172786"/>
            <a:ext cx="654870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A3BEB44-914A-EB43-92DF-47F9E24B541A}"/>
              </a:ext>
            </a:extLst>
          </p:cNvPr>
          <p:cNvGrpSpPr/>
          <p:nvPr/>
        </p:nvGrpSpPr>
        <p:grpSpPr>
          <a:xfrm>
            <a:off x="4932040" y="1201316"/>
            <a:ext cx="648072" cy="1224136"/>
            <a:chOff x="4932040" y="1201316"/>
            <a:chExt cx="648072" cy="1224136"/>
          </a:xfrm>
        </p:grpSpPr>
        <p:sp>
          <p:nvSpPr>
            <p:cNvPr id="39" name="Rectangle 27">
              <a:extLst>
                <a:ext uri="{FF2B5EF4-FFF2-40B4-BE49-F238E27FC236}">
                  <a16:creationId xmlns:a16="http://schemas.microsoft.com/office/drawing/2014/main" id="{1C67EFAA-52B7-5C44-9BAE-B83C018245E7}"/>
                </a:ext>
              </a:extLst>
            </p:cNvPr>
            <p:cNvSpPr/>
            <p:nvPr/>
          </p:nvSpPr>
          <p:spPr>
            <a:xfrm>
              <a:off x="4932040" y="1201316"/>
              <a:ext cx="648072" cy="7200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rgbClr val="BE384B"/>
                  </a:solidFill>
                  <a:cs typeface="Arial Narrow"/>
                </a:rPr>
                <a:t>Addr</a:t>
              </a:r>
              <a:endParaRPr lang="en-US" altLang="zh-CN" sz="12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Length</a:t>
              </a:r>
            </a:p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Flags</a:t>
              </a:r>
            </a:p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next</a:t>
              </a:r>
            </a:p>
          </p:txBody>
        </p: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A4BE761A-08C5-574E-97A4-A216080EF17F}"/>
                </a:ext>
              </a:extLst>
            </p:cNvPr>
            <p:cNvCxnSpPr/>
            <p:nvPr/>
          </p:nvCxnSpPr>
          <p:spPr>
            <a:xfrm flipV="1">
              <a:off x="4932040" y="1921396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C0111AE1-9F64-114F-91D8-E089BB02A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6056" y="1921396"/>
              <a:ext cx="504056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245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BD791-9B5F-1447-99BA-4245553F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65212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QEMU/KVM</a:t>
            </a:r>
            <a:r>
              <a:rPr kumimoji="1" lang="zh-CN" altLang="en-US" dirty="0"/>
              <a:t>半虚拟化：收网络包</a:t>
            </a:r>
            <a:r>
              <a:rPr kumimoji="1" lang="en-US" altLang="zh-CN" dirty="0"/>
              <a:t>	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8BA1D-E613-BA4E-B984-8A34BE48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EDFD83-161F-ED4D-A6C3-DD4839857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73F793B2-0D41-8E44-98F3-825CFC410F73}"/>
              </a:ext>
            </a:extLst>
          </p:cNvPr>
          <p:cNvSpPr/>
          <p:nvPr/>
        </p:nvSpPr>
        <p:spPr>
          <a:xfrm>
            <a:off x="1134776" y="3769600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49A6A93-1A01-9E41-A551-C20966B45F81}"/>
              </a:ext>
            </a:extLst>
          </p:cNvPr>
          <p:cNvSpPr/>
          <p:nvPr/>
        </p:nvSpPr>
        <p:spPr>
          <a:xfrm>
            <a:off x="1124824" y="1849389"/>
            <a:ext cx="3284547" cy="63207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22386CDF-91A1-C547-9076-F9E914009180}"/>
              </a:ext>
            </a:extLst>
          </p:cNvPr>
          <p:cNvCxnSpPr>
            <a:cxnSpLocks/>
          </p:cNvCxnSpPr>
          <p:nvPr/>
        </p:nvCxnSpPr>
        <p:spPr>
          <a:xfrm>
            <a:off x="283345" y="3520570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5FF6992-67C2-FB42-A70B-92466339C844}"/>
              </a:ext>
            </a:extLst>
          </p:cNvPr>
          <p:cNvSpPr txBox="1"/>
          <p:nvPr/>
        </p:nvSpPr>
        <p:spPr>
          <a:xfrm>
            <a:off x="128234" y="2849499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23F310-6092-684E-A5E2-6FD5225A7830}"/>
              </a:ext>
            </a:extLst>
          </p:cNvPr>
          <p:cNvSpPr txBox="1"/>
          <p:nvPr/>
        </p:nvSpPr>
        <p:spPr>
          <a:xfrm>
            <a:off x="128234" y="1929397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F7D5A5-78C1-1044-98C1-7A81935412B7}"/>
              </a:ext>
            </a:extLst>
          </p:cNvPr>
          <p:cNvSpPr txBox="1"/>
          <p:nvPr/>
        </p:nvSpPr>
        <p:spPr>
          <a:xfrm>
            <a:off x="128234" y="3861611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63D5A8-8CE6-1C4E-A504-E8CF95884846}"/>
              </a:ext>
            </a:extLst>
          </p:cNvPr>
          <p:cNvSpPr txBox="1"/>
          <p:nvPr/>
        </p:nvSpPr>
        <p:spPr>
          <a:xfrm>
            <a:off x="2302612" y="1561356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26C4AA9-9074-8840-9E00-9553407FFB7B}"/>
              </a:ext>
            </a:extLst>
          </p:cNvPr>
          <p:cNvSpPr/>
          <p:nvPr/>
        </p:nvSpPr>
        <p:spPr>
          <a:xfrm>
            <a:off x="6407546" y="266547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4DDA61B8-E830-5A40-B188-6C979ACD8AFF}"/>
              </a:ext>
            </a:extLst>
          </p:cNvPr>
          <p:cNvSpPr/>
          <p:nvPr/>
        </p:nvSpPr>
        <p:spPr>
          <a:xfrm>
            <a:off x="6409340" y="202140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077E95E-97C1-3145-BD97-2EDF29BD13E4}"/>
              </a:ext>
            </a:extLst>
          </p:cNvPr>
          <p:cNvSpPr/>
          <p:nvPr/>
        </p:nvSpPr>
        <p:spPr>
          <a:xfrm>
            <a:off x="5842252" y="1561356"/>
            <a:ext cx="2757030" cy="1745043"/>
          </a:xfrm>
          <a:prstGeom prst="roundRect">
            <a:avLst>
              <a:gd name="adj" fmla="val 10429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0B60A7-FD9F-7049-A42C-EA3E9CE9C73A}"/>
              </a:ext>
            </a:extLst>
          </p:cNvPr>
          <p:cNvSpPr txBox="1"/>
          <p:nvPr/>
        </p:nvSpPr>
        <p:spPr>
          <a:xfrm>
            <a:off x="6316946" y="1561356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9049005-703C-D84E-819D-12DAEF4E24A4}"/>
              </a:ext>
            </a:extLst>
          </p:cNvPr>
          <p:cNvSpPr/>
          <p:nvPr/>
        </p:nvSpPr>
        <p:spPr>
          <a:xfrm>
            <a:off x="971599" y="1561356"/>
            <a:ext cx="3770313" cy="2852317"/>
          </a:xfrm>
          <a:prstGeom prst="roundRect">
            <a:avLst>
              <a:gd name="adj" fmla="val 7126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9D03CD4F-3FFE-424C-B8A9-F03A85FEC8D4}"/>
              </a:ext>
            </a:extLst>
          </p:cNvPr>
          <p:cNvSpPr/>
          <p:nvPr/>
        </p:nvSpPr>
        <p:spPr>
          <a:xfrm>
            <a:off x="2781819" y="3953623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32066D5A-52E3-3B49-B68E-79FBCE9BB21D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6370172" y="3555950"/>
            <a:ext cx="1429437" cy="654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extLst>
              <a:ext uri="{FF2B5EF4-FFF2-40B4-BE49-F238E27FC236}">
                <a16:creationId xmlns:a16="http://schemas.microsoft.com/office/drawing/2014/main" id="{19E354E1-A45D-6A46-A88B-4C78BFC33D54}"/>
              </a:ext>
            </a:extLst>
          </p:cNvPr>
          <p:cNvSpPr/>
          <p:nvPr/>
        </p:nvSpPr>
        <p:spPr>
          <a:xfrm>
            <a:off x="2846207" y="3309550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F39B854-275B-7E4B-8776-F2A3AA455239}"/>
              </a:ext>
            </a:extLst>
          </p:cNvPr>
          <p:cNvCxnSpPr>
            <a:cxnSpLocks/>
          </p:cNvCxnSpPr>
          <p:nvPr/>
        </p:nvCxnSpPr>
        <p:spPr>
          <a:xfrm>
            <a:off x="3508375" y="2389448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CD6D26A-D916-8247-BFC8-89F517705EF9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3502768" y="3613858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6263262-9344-C942-8FDB-4FAA0B39509D}"/>
              </a:ext>
            </a:extLst>
          </p:cNvPr>
          <p:cNvSpPr txBox="1"/>
          <p:nvPr/>
        </p:nvSpPr>
        <p:spPr>
          <a:xfrm>
            <a:off x="6824978" y="3865613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(Interrupt)</a:t>
            </a:r>
            <a:endParaRPr kumimoji="1" lang="zh-CN" altLang="en-US" dirty="0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D49F0A35-0BE2-EA44-9741-B8E0EB33D785}"/>
              </a:ext>
            </a:extLst>
          </p:cNvPr>
          <p:cNvSpPr/>
          <p:nvPr/>
        </p:nvSpPr>
        <p:spPr>
          <a:xfrm>
            <a:off x="2864537" y="4597695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4521A19-1E1E-154E-9BA3-4105F4A6F817}"/>
              </a:ext>
            </a:extLst>
          </p:cNvPr>
          <p:cNvCxnSpPr>
            <a:cxnSpLocks/>
          </p:cNvCxnSpPr>
          <p:nvPr/>
        </p:nvCxnSpPr>
        <p:spPr>
          <a:xfrm>
            <a:off x="3496426" y="4229652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C5B7F8B-1D14-BB4D-86BB-9A0429C03B1F}"/>
              </a:ext>
            </a:extLst>
          </p:cNvPr>
          <p:cNvCxnSpPr>
            <a:cxnSpLocks/>
          </p:cNvCxnSpPr>
          <p:nvPr/>
        </p:nvCxnSpPr>
        <p:spPr>
          <a:xfrm>
            <a:off x="7401042" y="2425453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439B5DD-7289-264B-B0A6-DD0EDFE0D654}"/>
              </a:ext>
            </a:extLst>
          </p:cNvPr>
          <p:cNvSpPr/>
          <p:nvPr/>
        </p:nvSpPr>
        <p:spPr>
          <a:xfrm>
            <a:off x="1784418" y="3879595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0BF0B84F-5027-464E-95CA-4A44BE376B8E}"/>
              </a:ext>
            </a:extLst>
          </p:cNvPr>
          <p:cNvCxnSpPr>
            <a:cxnSpLocks/>
          </p:cNvCxnSpPr>
          <p:nvPr/>
        </p:nvCxnSpPr>
        <p:spPr>
          <a:xfrm flipV="1">
            <a:off x="2216466" y="2425453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059DDD22-DDDB-B14D-A285-B0C0617D89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115" y="4585693"/>
            <a:ext cx="566266" cy="509904"/>
          </a:xfrm>
          <a:prstGeom prst="rect">
            <a:avLst/>
          </a:prstGeom>
        </p:spPr>
      </p:pic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65F03709-B29C-6546-9C29-21FE9E22F9B7}"/>
              </a:ext>
            </a:extLst>
          </p:cNvPr>
          <p:cNvCxnSpPr>
            <a:cxnSpLocks/>
            <a:stCxn id="30" idx="0"/>
            <a:endCxn id="28" idx="2"/>
          </p:cNvCxnSpPr>
          <p:nvPr/>
        </p:nvCxnSpPr>
        <p:spPr>
          <a:xfrm flipV="1">
            <a:off x="2254248" y="4239635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2">
            <a:extLst>
              <a:ext uri="{FF2B5EF4-FFF2-40B4-BE49-F238E27FC236}">
                <a16:creationId xmlns:a16="http://schemas.microsoft.com/office/drawing/2014/main" id="{E70B1C98-B378-DD49-9ACE-03489F5AAE12}"/>
              </a:ext>
            </a:extLst>
          </p:cNvPr>
          <p:cNvSpPr/>
          <p:nvPr/>
        </p:nvSpPr>
        <p:spPr>
          <a:xfrm>
            <a:off x="2555776" y="1993404"/>
            <a:ext cx="1721394" cy="35876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958D4C6A-E894-5C4C-9DA5-80FF0D5FA17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932040" y="2425452"/>
          <a:ext cx="720084" cy="240028"/>
        </p:xfrm>
        <a:graphic>
          <a:graphicData uri="http://schemas.openxmlformats.org/drawingml/2006/table">
            <a:tbl>
              <a:tblPr firstRow="1" bandRow="1"/>
              <a:tblGrid>
                <a:gridCol w="120014">
                  <a:extLst>
                    <a:ext uri="{9D8B030D-6E8A-4147-A177-3AD203B41FA5}">
                      <a16:colId xmlns:a16="http://schemas.microsoft.com/office/drawing/2014/main" val="2860160233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31885893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266334094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323478888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650179042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1575277169"/>
                    </a:ext>
                  </a:extLst>
                </a:gridCol>
              </a:tblGrid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211148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0879957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14F9B711-B99C-774A-A7FF-45D7CDC1F2D8}"/>
              </a:ext>
            </a:extLst>
          </p:cNvPr>
          <p:cNvSpPr txBox="1"/>
          <p:nvPr/>
        </p:nvSpPr>
        <p:spPr>
          <a:xfrm>
            <a:off x="4860032" y="2137420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Virtqueue</a:t>
            </a:r>
            <a:r>
              <a:rPr lang="en-US" altLang="zh-CN" sz="1200" dirty="0"/>
              <a:t> </a:t>
            </a:r>
          </a:p>
        </p:txBody>
      </p: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1902242D-E908-274A-BFFD-E3448ADA02AF}"/>
              </a:ext>
            </a:extLst>
          </p:cNvPr>
          <p:cNvCxnSpPr>
            <a:cxnSpLocks/>
            <a:stCxn id="13" idx="1"/>
            <a:endCxn id="36" idx="3"/>
          </p:cNvCxnSpPr>
          <p:nvPr/>
        </p:nvCxnSpPr>
        <p:spPr>
          <a:xfrm rot="10800000">
            <a:off x="5652124" y="2545467"/>
            <a:ext cx="755422" cy="37140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2F56314D-DE0C-1841-B60A-3F3CC04F97EA}"/>
              </a:ext>
            </a:extLst>
          </p:cNvPr>
          <p:cNvCxnSpPr>
            <a:cxnSpLocks/>
            <a:stCxn id="36" idx="1"/>
            <a:endCxn id="35" idx="3"/>
          </p:cNvCxnSpPr>
          <p:nvPr/>
        </p:nvCxnSpPr>
        <p:spPr>
          <a:xfrm rot="10800000">
            <a:off x="4277170" y="2172786"/>
            <a:ext cx="654870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2FD5C6C-B269-8646-BA73-7A7969DEA615}"/>
              </a:ext>
            </a:extLst>
          </p:cNvPr>
          <p:cNvSpPr txBox="1"/>
          <p:nvPr/>
        </p:nvSpPr>
        <p:spPr>
          <a:xfrm>
            <a:off x="2483768" y="2569468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Inject</a:t>
            </a:r>
          </a:p>
          <a:p>
            <a:r>
              <a:rPr kumimoji="1" lang="en-US" altLang="zh-CN" dirty="0"/>
              <a:t>Interrupt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56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33D47-7F6A-1046-B69B-4902639D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半虚拟化方式的优缺点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8AF58B-F54A-254C-9DBA-53283A60D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性能优越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多个</a:t>
            </a:r>
            <a:r>
              <a:rPr kumimoji="1" lang="en-US" altLang="zh-CN" dirty="0"/>
              <a:t>MMIO/PIO</a:t>
            </a:r>
            <a:r>
              <a:rPr kumimoji="1" lang="zh-CN" altLang="en-US" dirty="0"/>
              <a:t>指令可以整合成一次</a:t>
            </a:r>
            <a:r>
              <a:rPr kumimoji="1" lang="en-US" altLang="zh-CN" dirty="0" err="1"/>
              <a:t>Hypercall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实现简单，不再需要理解物理设备接口</a:t>
            </a: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需要修改虚拟机操作系统内核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59F93C-42EB-664B-B6C0-9B805DC2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91A6E6-F3FF-B646-AA1A-B04CBA3C3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5247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F4980-52AC-A54F-99B1-AA9DB73F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：设备直通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C7AD0C-624C-2948-823B-95716C584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虚拟机直接管理物理设备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A96238-3DAA-A24C-BB35-0886517C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73A31-C0B4-DB45-9099-B0AF47231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45375D4C-8DF2-7340-8D77-E2572EB5FE1A}"/>
              </a:ext>
            </a:extLst>
          </p:cNvPr>
          <p:cNvSpPr/>
          <p:nvPr/>
        </p:nvSpPr>
        <p:spPr>
          <a:xfrm>
            <a:off x="1114046" y="4201647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55EA5B3D-4F81-884B-9C1A-06A009509517}"/>
              </a:ext>
            </a:extLst>
          </p:cNvPr>
          <p:cNvSpPr/>
          <p:nvPr/>
        </p:nvSpPr>
        <p:spPr>
          <a:xfrm>
            <a:off x="1104094" y="2453454"/>
            <a:ext cx="3284547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4EFBC5C5-81D2-6449-B660-A1CAAA5ADCCB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BF5A77A-76DF-4D4F-A8AC-E68069CB4F24}"/>
              </a:ext>
            </a:extLst>
          </p:cNvPr>
          <p:cNvSpPr txBox="1"/>
          <p:nvPr/>
        </p:nvSpPr>
        <p:spPr>
          <a:xfrm>
            <a:off x="107504" y="328154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8C30D8-9276-9E4C-B4D3-3292D59732AF}"/>
              </a:ext>
            </a:extLst>
          </p:cNvPr>
          <p:cNvSpPr txBox="1"/>
          <p:nvPr/>
        </p:nvSpPr>
        <p:spPr>
          <a:xfrm>
            <a:off x="107504" y="2361444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079A6B-055A-FC4D-9F70-98680A08AEAE}"/>
              </a:ext>
            </a:extLst>
          </p:cNvPr>
          <p:cNvSpPr txBox="1"/>
          <p:nvPr/>
        </p:nvSpPr>
        <p:spPr>
          <a:xfrm>
            <a:off x="107504" y="429365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59F1CD-013C-9645-A9D8-57D12A29B27D}"/>
              </a:ext>
            </a:extLst>
          </p:cNvPr>
          <p:cNvSpPr txBox="1"/>
          <p:nvPr/>
        </p:nvSpPr>
        <p:spPr>
          <a:xfrm>
            <a:off x="2281882" y="1993403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A7681678-3CE3-1B49-AB13-4BE0E3D2FC42}"/>
              </a:ext>
            </a:extLst>
          </p:cNvPr>
          <p:cNvSpPr/>
          <p:nvPr/>
        </p:nvSpPr>
        <p:spPr>
          <a:xfrm>
            <a:off x="6386816" y="309752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98FB37E1-1F8D-BC41-95BC-A1A9EFFF1596}"/>
              </a:ext>
            </a:extLst>
          </p:cNvPr>
          <p:cNvSpPr/>
          <p:nvPr/>
        </p:nvSpPr>
        <p:spPr>
          <a:xfrm>
            <a:off x="6388610" y="2453454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EF4DA2E-054F-B746-A1EE-89477D7B5207}"/>
              </a:ext>
            </a:extLst>
          </p:cNvPr>
          <p:cNvSpPr/>
          <p:nvPr/>
        </p:nvSpPr>
        <p:spPr>
          <a:xfrm>
            <a:off x="4890068" y="1993403"/>
            <a:ext cx="3688484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C97CC3-1E7C-CC48-945C-73B9D1B4DD37}"/>
              </a:ext>
            </a:extLst>
          </p:cNvPr>
          <p:cNvSpPr txBox="1"/>
          <p:nvPr/>
        </p:nvSpPr>
        <p:spPr>
          <a:xfrm>
            <a:off x="6296216" y="1993403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024A6A2-4B10-0A44-B57E-185D650D1545}"/>
              </a:ext>
            </a:extLst>
          </p:cNvPr>
          <p:cNvSpPr/>
          <p:nvPr/>
        </p:nvSpPr>
        <p:spPr>
          <a:xfrm>
            <a:off x="950870" y="1993403"/>
            <a:ext cx="3688484" cy="2852317"/>
          </a:xfrm>
          <a:prstGeom prst="roundRect">
            <a:avLst>
              <a:gd name="adj" fmla="val 6363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71A5B3D9-7345-284D-B47F-EC41B327753A}"/>
              </a:ext>
            </a:extLst>
          </p:cNvPr>
          <p:cNvSpPr/>
          <p:nvPr/>
        </p:nvSpPr>
        <p:spPr>
          <a:xfrm>
            <a:off x="2761089" y="4385670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81E40467-C1DA-7947-845A-071717CD95F5}"/>
              </a:ext>
            </a:extLst>
          </p:cNvPr>
          <p:cNvSpPr/>
          <p:nvPr/>
        </p:nvSpPr>
        <p:spPr>
          <a:xfrm>
            <a:off x="2825477" y="3741597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AE13CE9D-2EF4-2A46-9A07-E4C2255B0D75}"/>
              </a:ext>
            </a:extLst>
          </p:cNvPr>
          <p:cNvSpPr/>
          <p:nvPr/>
        </p:nvSpPr>
        <p:spPr>
          <a:xfrm>
            <a:off x="971600" y="5017740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F1DB64B9-E722-C44E-94D9-27091A70F525}"/>
              </a:ext>
            </a:extLst>
          </p:cNvPr>
          <p:cNvSpPr/>
          <p:nvPr/>
        </p:nvSpPr>
        <p:spPr>
          <a:xfrm>
            <a:off x="5076056" y="256946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78C494C5-64A4-8B42-A2AA-0366948202D4}"/>
              </a:ext>
            </a:extLst>
          </p:cNvPr>
          <p:cNvCxnSpPr>
            <a:cxnSpLocks/>
          </p:cNvCxnSpPr>
          <p:nvPr/>
        </p:nvCxnSpPr>
        <p:spPr>
          <a:xfrm>
            <a:off x="7380312" y="2857500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27E35D6B-CEE3-6F46-B465-BDD32E7351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0000" y="4873724"/>
            <a:ext cx="566266" cy="509904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10FC15C-A947-E14B-8AA3-0BB45FDD7EF0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7391189" y="3600306"/>
            <a:ext cx="1944" cy="127341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25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59CA2-694B-EA4A-A47F-A43BFDFA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DMA</a:t>
            </a:r>
            <a:r>
              <a:rPr kumimoji="1" lang="zh-CN" altLang="en-US" dirty="0"/>
              <a:t>恶意读写内存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574EB4-2944-7240-AB09-FBDFD46E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0CDB7-8FB7-9D4A-9AE3-C5BF6470C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4CC9FE72-D09A-0B4E-A912-42ADD0B3606C}"/>
              </a:ext>
            </a:extLst>
          </p:cNvPr>
          <p:cNvCxnSpPr>
            <a:cxnSpLocks/>
          </p:cNvCxnSpPr>
          <p:nvPr/>
        </p:nvCxnSpPr>
        <p:spPr>
          <a:xfrm>
            <a:off x="328655" y="3448559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652B68E-D7C5-7D46-B361-5C510A646FBE}"/>
              </a:ext>
            </a:extLst>
          </p:cNvPr>
          <p:cNvSpPr txBox="1"/>
          <p:nvPr/>
        </p:nvSpPr>
        <p:spPr>
          <a:xfrm>
            <a:off x="173544" y="277748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DB8648-D16D-C146-B065-827CBF28B2C2}"/>
              </a:ext>
            </a:extLst>
          </p:cNvPr>
          <p:cNvSpPr txBox="1"/>
          <p:nvPr/>
        </p:nvSpPr>
        <p:spPr>
          <a:xfrm>
            <a:off x="173544" y="185738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0489F9-0B61-DF4F-B800-E4818AE8541A}"/>
              </a:ext>
            </a:extLst>
          </p:cNvPr>
          <p:cNvSpPr txBox="1"/>
          <p:nvPr/>
        </p:nvSpPr>
        <p:spPr>
          <a:xfrm>
            <a:off x="173544" y="3789600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558F6D17-DA08-644C-B09E-EB6CAE1B965B}"/>
              </a:ext>
            </a:extLst>
          </p:cNvPr>
          <p:cNvSpPr/>
          <p:nvPr/>
        </p:nvSpPr>
        <p:spPr>
          <a:xfrm>
            <a:off x="6452856" y="2593468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642BDA9D-5FAB-0448-AEA6-48EFDBB59FE5}"/>
              </a:ext>
            </a:extLst>
          </p:cNvPr>
          <p:cNvSpPr/>
          <p:nvPr/>
        </p:nvSpPr>
        <p:spPr>
          <a:xfrm>
            <a:off x="6454650" y="1949396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A529851-A38B-BF42-9FDD-EA598BDE03E3}"/>
              </a:ext>
            </a:extLst>
          </p:cNvPr>
          <p:cNvSpPr/>
          <p:nvPr/>
        </p:nvSpPr>
        <p:spPr>
          <a:xfrm>
            <a:off x="4956108" y="1489345"/>
            <a:ext cx="3688484" cy="1745043"/>
          </a:xfrm>
          <a:prstGeom prst="roundRect">
            <a:avLst>
              <a:gd name="adj" fmla="val 9181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76ABE7-A520-3B44-B068-A7C158B6D511}"/>
              </a:ext>
            </a:extLst>
          </p:cNvPr>
          <p:cNvSpPr txBox="1"/>
          <p:nvPr/>
        </p:nvSpPr>
        <p:spPr>
          <a:xfrm>
            <a:off x="6362256" y="148934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VM-2</a:t>
            </a:r>
            <a:endParaRPr kumimoji="1" lang="zh-CN" altLang="en-US" dirty="0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3843E79C-DBBA-FC42-82BD-6FB53BDAF709}"/>
              </a:ext>
            </a:extLst>
          </p:cNvPr>
          <p:cNvSpPr/>
          <p:nvPr/>
        </p:nvSpPr>
        <p:spPr>
          <a:xfrm>
            <a:off x="5142096" y="2065410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025A76FB-2ED8-C741-8D73-31DE8DA6BA8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457229" y="3096248"/>
            <a:ext cx="1944" cy="127341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22">
            <a:extLst>
              <a:ext uri="{FF2B5EF4-FFF2-40B4-BE49-F238E27FC236}">
                <a16:creationId xmlns:a16="http://schemas.microsoft.com/office/drawing/2014/main" id="{1CF6D8C2-656A-8048-896C-00B95F96617C}"/>
              </a:ext>
            </a:extLst>
          </p:cNvPr>
          <p:cNvSpPr/>
          <p:nvPr/>
        </p:nvSpPr>
        <p:spPr>
          <a:xfrm>
            <a:off x="2534388" y="259346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Rectangle 27">
            <a:extLst>
              <a:ext uri="{FF2B5EF4-FFF2-40B4-BE49-F238E27FC236}">
                <a16:creationId xmlns:a16="http://schemas.microsoft.com/office/drawing/2014/main" id="{306A4863-7B42-2146-B66F-58FA1A1CF271}"/>
              </a:ext>
            </a:extLst>
          </p:cNvPr>
          <p:cNvSpPr/>
          <p:nvPr/>
        </p:nvSpPr>
        <p:spPr>
          <a:xfrm>
            <a:off x="2536182" y="194939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93136F3-2D1E-794A-A52B-E56ADDECF445}"/>
              </a:ext>
            </a:extLst>
          </p:cNvPr>
          <p:cNvSpPr/>
          <p:nvPr/>
        </p:nvSpPr>
        <p:spPr>
          <a:xfrm>
            <a:off x="1037640" y="1489346"/>
            <a:ext cx="3688484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ECEBD61-702A-0947-9C92-0EBFC98E9A52}"/>
              </a:ext>
            </a:extLst>
          </p:cNvPr>
          <p:cNvSpPr txBox="1"/>
          <p:nvPr/>
        </p:nvSpPr>
        <p:spPr>
          <a:xfrm>
            <a:off x="2443788" y="14893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VM-1</a:t>
            </a:r>
            <a:endParaRPr kumimoji="1" lang="zh-CN" altLang="en-US" dirty="0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2F419A3D-FE6E-3143-B8DD-07331696EFE6}"/>
              </a:ext>
            </a:extLst>
          </p:cNvPr>
          <p:cNvSpPr/>
          <p:nvPr/>
        </p:nvSpPr>
        <p:spPr>
          <a:xfrm>
            <a:off x="1223628" y="2065411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CD0DB3-C9CB-3E43-A696-2206D81860A4}"/>
              </a:ext>
            </a:extLst>
          </p:cNvPr>
          <p:cNvSpPr txBox="1"/>
          <p:nvPr/>
        </p:nvSpPr>
        <p:spPr>
          <a:xfrm>
            <a:off x="7446352" y="357757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Setup</a:t>
            </a:r>
            <a:r>
              <a:rPr kumimoji="1" lang="zh-CN" altLang="en-US" dirty="0"/>
              <a:t> </a:t>
            </a:r>
            <a:r>
              <a:rPr kumimoji="1" lang="en-US" altLang="zh-CN" dirty="0"/>
              <a:t>DMA</a:t>
            </a:r>
            <a:endParaRPr kumimoji="1" lang="zh-CN" altLang="en-US" dirty="0"/>
          </a:p>
        </p:txBody>
      </p: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754435FB-E3F7-F145-AAAC-0F7FADE8D7E1}"/>
              </a:ext>
            </a:extLst>
          </p:cNvPr>
          <p:cNvCxnSpPr>
            <a:cxnSpLocks/>
            <a:stCxn id="29" idx="1"/>
            <a:endCxn id="20" idx="2"/>
          </p:cNvCxnSpPr>
          <p:nvPr/>
        </p:nvCxnSpPr>
        <p:spPr>
          <a:xfrm rot="10800000">
            <a:off x="1691680" y="2785492"/>
            <a:ext cx="5472608" cy="183912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D716ED44-0733-7E42-AA4A-1ECD1CE6BF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6432" y="2641474"/>
            <a:ext cx="395776" cy="39577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8449E3D-5578-D34E-9AB7-03E80B04F2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4288" y="4369668"/>
            <a:ext cx="566266" cy="50990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CE0B607-ABD4-FE45-BF33-AA6A2F2414FE}"/>
              </a:ext>
            </a:extLst>
          </p:cNvPr>
          <p:cNvSpPr txBox="1"/>
          <p:nvPr/>
        </p:nvSpPr>
        <p:spPr>
          <a:xfrm>
            <a:off x="2051720" y="4297660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Secrets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104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22865-AA98-9148-8F84-38C028DE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IOMMU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BF65C7-F368-4048-9A17-72B25B2C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28E537-138F-3044-8456-F2E825FC5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7" name="Straight Connector 13">
            <a:extLst>
              <a:ext uri="{FF2B5EF4-FFF2-40B4-BE49-F238E27FC236}">
                <a16:creationId xmlns:a16="http://schemas.microsoft.com/office/drawing/2014/main" id="{46D49D7D-8DCB-3945-9D98-BE61E5BD632E}"/>
              </a:ext>
            </a:extLst>
          </p:cNvPr>
          <p:cNvCxnSpPr>
            <a:cxnSpLocks/>
          </p:cNvCxnSpPr>
          <p:nvPr/>
        </p:nvCxnSpPr>
        <p:spPr>
          <a:xfrm>
            <a:off x="328655" y="3448559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A3830F4-8B96-9B41-B818-FF5F05957683}"/>
              </a:ext>
            </a:extLst>
          </p:cNvPr>
          <p:cNvSpPr txBox="1"/>
          <p:nvPr/>
        </p:nvSpPr>
        <p:spPr>
          <a:xfrm>
            <a:off x="173544" y="277748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85DE4A-A620-7A41-9EC8-42CA170556B2}"/>
              </a:ext>
            </a:extLst>
          </p:cNvPr>
          <p:cNvSpPr txBox="1"/>
          <p:nvPr/>
        </p:nvSpPr>
        <p:spPr>
          <a:xfrm>
            <a:off x="173544" y="185738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D24E14-64AF-5B43-A762-B96A93DF0427}"/>
              </a:ext>
            </a:extLst>
          </p:cNvPr>
          <p:cNvSpPr txBox="1"/>
          <p:nvPr/>
        </p:nvSpPr>
        <p:spPr>
          <a:xfrm>
            <a:off x="173544" y="3789600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1ABA2FC7-6DF8-EC40-AE5B-B0471DF8B684}"/>
              </a:ext>
            </a:extLst>
          </p:cNvPr>
          <p:cNvSpPr/>
          <p:nvPr/>
        </p:nvSpPr>
        <p:spPr>
          <a:xfrm>
            <a:off x="6452856" y="2593468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747FF88D-B1C3-084D-AA52-41021E0EBF8D}"/>
              </a:ext>
            </a:extLst>
          </p:cNvPr>
          <p:cNvSpPr/>
          <p:nvPr/>
        </p:nvSpPr>
        <p:spPr>
          <a:xfrm>
            <a:off x="6454650" y="1949396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9ACB623-52D0-324C-BCAF-B7BDDBF571E1}"/>
              </a:ext>
            </a:extLst>
          </p:cNvPr>
          <p:cNvSpPr/>
          <p:nvPr/>
        </p:nvSpPr>
        <p:spPr>
          <a:xfrm>
            <a:off x="4956108" y="1489345"/>
            <a:ext cx="3688484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819014-DC6F-5B47-A6BC-7F7EE40A9449}"/>
              </a:ext>
            </a:extLst>
          </p:cNvPr>
          <p:cNvSpPr txBox="1"/>
          <p:nvPr/>
        </p:nvSpPr>
        <p:spPr>
          <a:xfrm>
            <a:off x="6362256" y="148934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VM-2</a:t>
            </a:r>
            <a:endParaRPr kumimoji="1" lang="zh-CN" altLang="en-US" dirty="0"/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AF769909-3232-0845-BF7E-4AC91D105E51}"/>
              </a:ext>
            </a:extLst>
          </p:cNvPr>
          <p:cNvSpPr/>
          <p:nvPr/>
        </p:nvSpPr>
        <p:spPr>
          <a:xfrm>
            <a:off x="5142096" y="2065410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9A251CAE-1A2D-9548-9849-77F0641B726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457229" y="3096248"/>
            <a:ext cx="1944" cy="127341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22">
            <a:extLst>
              <a:ext uri="{FF2B5EF4-FFF2-40B4-BE49-F238E27FC236}">
                <a16:creationId xmlns:a16="http://schemas.microsoft.com/office/drawing/2014/main" id="{2060EF30-A1F5-EE45-8A60-3309B70D2D8F}"/>
              </a:ext>
            </a:extLst>
          </p:cNvPr>
          <p:cNvSpPr/>
          <p:nvPr/>
        </p:nvSpPr>
        <p:spPr>
          <a:xfrm>
            <a:off x="2534388" y="259346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AC0262F7-0433-5E45-8080-A906CB5F613C}"/>
              </a:ext>
            </a:extLst>
          </p:cNvPr>
          <p:cNvSpPr/>
          <p:nvPr/>
        </p:nvSpPr>
        <p:spPr>
          <a:xfrm>
            <a:off x="2536182" y="194939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5407A29-BD1C-0D41-ACD0-54F7A97126F7}"/>
              </a:ext>
            </a:extLst>
          </p:cNvPr>
          <p:cNvSpPr/>
          <p:nvPr/>
        </p:nvSpPr>
        <p:spPr>
          <a:xfrm>
            <a:off x="1037640" y="1489346"/>
            <a:ext cx="3688484" cy="1745043"/>
          </a:xfrm>
          <a:prstGeom prst="roundRect">
            <a:avLst>
              <a:gd name="adj" fmla="val 9181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97F5FC-78BF-6B4C-A3AE-F10B68D5BD3A}"/>
              </a:ext>
            </a:extLst>
          </p:cNvPr>
          <p:cNvSpPr txBox="1"/>
          <p:nvPr/>
        </p:nvSpPr>
        <p:spPr>
          <a:xfrm>
            <a:off x="2443788" y="14893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VM-1</a:t>
            </a:r>
            <a:endParaRPr kumimoji="1" lang="zh-CN" altLang="en-US" dirty="0"/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95DB5886-B18F-B947-A26E-3CF5839F5393}"/>
              </a:ext>
            </a:extLst>
          </p:cNvPr>
          <p:cNvSpPr/>
          <p:nvPr/>
        </p:nvSpPr>
        <p:spPr>
          <a:xfrm>
            <a:off x="1223628" y="2065411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9D1B641-F579-D54C-B400-D62CB5433B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6040" y="4369666"/>
            <a:ext cx="566266" cy="50990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41CB50B-F5AC-CD47-9FF0-E552F5671470}"/>
              </a:ext>
            </a:extLst>
          </p:cNvPr>
          <p:cNvSpPr txBox="1"/>
          <p:nvPr/>
        </p:nvSpPr>
        <p:spPr>
          <a:xfrm>
            <a:off x="7446352" y="357757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Setup</a:t>
            </a:r>
            <a:r>
              <a:rPr kumimoji="1" lang="zh-CN" altLang="en-US" dirty="0"/>
              <a:t> </a:t>
            </a:r>
            <a:r>
              <a:rPr kumimoji="1" lang="en-US" altLang="zh-CN" dirty="0"/>
              <a:t>DMA</a:t>
            </a:r>
            <a:endParaRPr kumimoji="1" lang="zh-CN" altLang="en-US" dirty="0"/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06E5E720-DE14-2F4E-964A-F3831D672B4B}"/>
              </a:ext>
            </a:extLst>
          </p:cNvPr>
          <p:cNvCxnSpPr>
            <a:cxnSpLocks/>
            <a:stCxn id="22" idx="1"/>
            <a:endCxn id="15" idx="2"/>
          </p:cNvCxnSpPr>
          <p:nvPr/>
        </p:nvCxnSpPr>
        <p:spPr>
          <a:xfrm rot="10800000">
            <a:off x="5610148" y="2785490"/>
            <a:ext cx="1565892" cy="183912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563276D-98A4-8743-9844-80B8E7DD7F51}"/>
              </a:ext>
            </a:extLst>
          </p:cNvPr>
          <p:cNvSpPr txBox="1"/>
          <p:nvPr/>
        </p:nvSpPr>
        <p:spPr>
          <a:xfrm>
            <a:off x="5580112" y="3505572"/>
            <a:ext cx="64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HPA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381B2A2-D7E3-DB41-A44B-48827578073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6432" y="2641474"/>
            <a:ext cx="395776" cy="395776"/>
          </a:xfrm>
          <a:prstGeom prst="rect">
            <a:avLst/>
          </a:prstGeom>
        </p:spPr>
      </p:pic>
      <p:sp>
        <p:nvSpPr>
          <p:cNvPr id="27" name="Rectangle 22">
            <a:extLst>
              <a:ext uri="{FF2B5EF4-FFF2-40B4-BE49-F238E27FC236}">
                <a16:creationId xmlns:a16="http://schemas.microsoft.com/office/drawing/2014/main" id="{6358EC67-04C3-B84C-9341-7A3A91D6CF10}"/>
              </a:ext>
            </a:extLst>
          </p:cNvPr>
          <p:cNvSpPr/>
          <p:nvPr/>
        </p:nvSpPr>
        <p:spPr>
          <a:xfrm>
            <a:off x="5004048" y="4369668"/>
            <a:ext cx="1216658" cy="50278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IOMMU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444C0E6-C518-B24A-9ACB-1706CD2BBCF5}"/>
              </a:ext>
            </a:extLst>
          </p:cNvPr>
          <p:cNvSpPr txBox="1"/>
          <p:nvPr/>
        </p:nvSpPr>
        <p:spPr>
          <a:xfrm>
            <a:off x="6300192" y="4297660"/>
            <a:ext cx="847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 </a:t>
            </a:r>
            <a:r>
              <a:rPr kumimoji="1" lang="en-US" altLang="zh-CN" dirty="0"/>
              <a:t>VA</a:t>
            </a:r>
            <a:endParaRPr kumimoji="1" lang="zh-CN" altLang="en-US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8E87B454-3C49-7E41-B71F-FEFC52CE5DC4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923928" y="4621058"/>
            <a:ext cx="10801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2BB04D5-D12C-E94F-A1E3-22D835F413C3}"/>
              </a:ext>
            </a:extLst>
          </p:cNvPr>
          <p:cNvSpPr txBox="1"/>
          <p:nvPr/>
        </p:nvSpPr>
        <p:spPr>
          <a:xfrm>
            <a:off x="3275856" y="436966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E384B"/>
                </a:solidFill>
              </a:rPr>
              <a:t>Error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263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10DA7-3A6D-3E4A-A84B-C2E2ED46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IOMMU</a:t>
            </a:r>
            <a:r>
              <a:rPr kumimoji="1" lang="zh-CN" altLang="en-US" dirty="0"/>
              <a:t>与</a:t>
            </a:r>
            <a:r>
              <a:rPr kumimoji="1" lang="en-US" altLang="zh-CN" dirty="0"/>
              <a:t>MMU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E14A2A-E3E1-5440-90E4-B968F62E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1FF156-C252-1442-AACE-4479D5F2E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Picture 83">
            <a:extLst>
              <a:ext uri="{FF2B5EF4-FFF2-40B4-BE49-F238E27FC236}">
                <a16:creationId xmlns:a16="http://schemas.microsoft.com/office/drawing/2014/main" id="{E555E464-47FB-A943-AE49-F426213DB2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3888" y="3839674"/>
            <a:ext cx="2234787" cy="3165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57D28A-BB2C-9F4A-AD22-0EDC7D4EAB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626" y="2729793"/>
            <a:ext cx="648072" cy="5835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FAB58C7-B4BB-8649-92C4-0C2BBE80164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626" y="1937705"/>
            <a:ext cx="624226" cy="62498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72831FA-ACDA-7B4C-BE13-CA4734003770}"/>
              </a:ext>
            </a:extLst>
          </p:cNvPr>
          <p:cNvSpPr/>
          <p:nvPr/>
        </p:nvSpPr>
        <p:spPr>
          <a:xfrm>
            <a:off x="2812678" y="2369753"/>
            <a:ext cx="864096" cy="57606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36B232-A039-244A-BF5A-13AE421D6D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686" y="2513769"/>
            <a:ext cx="680113" cy="16701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8971D83-8602-C648-A956-6ADFDB60C0E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686" y="2729793"/>
            <a:ext cx="680113" cy="16701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FC8AC15-557E-DC45-855C-742115438AF4}"/>
              </a:ext>
            </a:extLst>
          </p:cNvPr>
          <p:cNvSpPr txBox="1"/>
          <p:nvPr/>
        </p:nvSpPr>
        <p:spPr>
          <a:xfrm>
            <a:off x="2884686" y="2153729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IOMMU</a:t>
            </a:r>
            <a:endParaRPr kumimoji="1" lang="zh-CN" altLang="en-US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157723-6B13-4740-B552-F0D87BE6D6A9}"/>
              </a:ext>
            </a:extLst>
          </p:cNvPr>
          <p:cNvSpPr/>
          <p:nvPr/>
        </p:nvSpPr>
        <p:spPr>
          <a:xfrm>
            <a:off x="5815362" y="2397199"/>
            <a:ext cx="864096" cy="576064"/>
          </a:xfrm>
          <a:prstGeom prst="rect">
            <a:avLst/>
          </a:prstGeom>
          <a:solidFill>
            <a:srgbClr val="558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5AF4B2A-BD9A-6F44-913C-6B18063E802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370" y="2541215"/>
            <a:ext cx="680113" cy="16701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BE39BB6-9599-BE49-9DE2-58612C3C591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370" y="2757239"/>
            <a:ext cx="680113" cy="16701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7F2C75F-3DF0-1949-A460-5A8B348E5626}"/>
              </a:ext>
            </a:extLst>
          </p:cNvPr>
          <p:cNvSpPr txBox="1"/>
          <p:nvPr/>
        </p:nvSpPr>
        <p:spPr>
          <a:xfrm>
            <a:off x="5959378" y="2181175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MMU</a:t>
            </a:r>
            <a:endParaRPr kumimoji="1"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62EF7B-2497-8A4C-A19B-DBE2C11846D3}"/>
              </a:ext>
            </a:extLst>
          </p:cNvPr>
          <p:cNvSpPr/>
          <p:nvPr/>
        </p:nvSpPr>
        <p:spPr>
          <a:xfrm>
            <a:off x="6823474" y="2397199"/>
            <a:ext cx="288032" cy="720080"/>
          </a:xfrm>
          <a:prstGeom prst="rect">
            <a:avLst/>
          </a:prstGeom>
          <a:solidFill>
            <a:srgbClr val="558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TLB</a:t>
            </a:r>
            <a:endParaRPr kumimoji="1" lang="zh-CN" alt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0A46C0-C6E6-5848-9D99-B9328AEA700B}"/>
              </a:ext>
            </a:extLst>
          </p:cNvPr>
          <p:cNvSpPr/>
          <p:nvPr/>
        </p:nvSpPr>
        <p:spPr>
          <a:xfrm>
            <a:off x="2020590" y="2009713"/>
            <a:ext cx="639688" cy="129614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IOTLB</a:t>
            </a:r>
            <a:endParaRPr kumimoji="1" lang="zh-CN" altLang="en-US" sz="12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28EE99B-292D-DA47-BDF7-6CA4411676B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6689" y="2325191"/>
            <a:ext cx="1098465" cy="82969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6FCAEBB-95FF-154C-A9DB-B66FDF037E6B}"/>
              </a:ext>
            </a:extLst>
          </p:cNvPr>
          <p:cNvSpPr txBox="1"/>
          <p:nvPr/>
        </p:nvSpPr>
        <p:spPr>
          <a:xfrm>
            <a:off x="7687570" y="203715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CPU</a:t>
            </a:r>
            <a:endParaRPr kumimoji="1" lang="zh-CN" altLang="en-US" sz="1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96E0C56-875C-EC46-A51C-BB3F68755D63}"/>
              </a:ext>
            </a:extLst>
          </p:cNvPr>
          <p:cNvSpPr txBox="1"/>
          <p:nvPr/>
        </p:nvSpPr>
        <p:spPr>
          <a:xfrm>
            <a:off x="3825117" y="4183661"/>
            <a:ext cx="1712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Main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Memory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(DRAM)</a:t>
            </a:r>
            <a:endParaRPr kumimoji="1" lang="zh-CN" altLang="en-US" sz="1200" dirty="0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44BB422-AD4B-C34B-A1E6-B4E42937CD60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6679458" y="2685231"/>
            <a:ext cx="64807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592410F0-37E5-E448-A0DB-ECD11F2D233C}"/>
              </a:ext>
            </a:extLst>
          </p:cNvPr>
          <p:cNvCxnSpPr>
            <a:cxnSpLocks/>
          </p:cNvCxnSpPr>
          <p:nvPr/>
        </p:nvCxnSpPr>
        <p:spPr>
          <a:xfrm flipH="1">
            <a:off x="5258772" y="2685231"/>
            <a:ext cx="484582" cy="1146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159A8E5-40C0-F24E-ADC3-D434D0F25CD1}"/>
              </a:ext>
            </a:extLst>
          </p:cNvPr>
          <p:cNvSpPr txBox="1"/>
          <p:nvPr/>
        </p:nvSpPr>
        <p:spPr>
          <a:xfrm>
            <a:off x="4859463" y="2844192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/>
              <a:t>Address</a:t>
            </a:r>
            <a:endParaRPr kumimoji="1" lang="zh-CN" altLang="en-US" sz="1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62B4E1-41D8-D147-8606-8BEAEBF97C03}"/>
              </a:ext>
            </a:extLst>
          </p:cNvPr>
          <p:cNvSpPr txBox="1"/>
          <p:nvPr/>
        </p:nvSpPr>
        <p:spPr>
          <a:xfrm>
            <a:off x="7111506" y="2757239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Virtual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/>
              <a:t>Address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8EA0F803-3635-8D43-9D0D-A53B756691D6}"/>
              </a:ext>
            </a:extLst>
          </p:cNvPr>
          <p:cNvCxnSpPr>
            <a:cxnSpLocks/>
          </p:cNvCxnSpPr>
          <p:nvPr/>
        </p:nvCxnSpPr>
        <p:spPr>
          <a:xfrm>
            <a:off x="1300510" y="2441761"/>
            <a:ext cx="158417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E6A50E26-B2D0-1848-BD41-8DF90199043B}"/>
              </a:ext>
            </a:extLst>
          </p:cNvPr>
          <p:cNvCxnSpPr>
            <a:cxnSpLocks/>
          </p:cNvCxnSpPr>
          <p:nvPr/>
        </p:nvCxnSpPr>
        <p:spPr>
          <a:xfrm>
            <a:off x="1300510" y="2873809"/>
            <a:ext cx="151216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7371DB7-807E-1540-8D2E-706E1EE87185}"/>
              </a:ext>
            </a:extLst>
          </p:cNvPr>
          <p:cNvSpPr txBox="1"/>
          <p:nvPr/>
        </p:nvSpPr>
        <p:spPr>
          <a:xfrm>
            <a:off x="1300510" y="215372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DMA</a:t>
            </a:r>
            <a:endParaRPr kumimoji="1"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DC05ED-3921-C44F-BB5C-0742D9D1A837}"/>
              </a:ext>
            </a:extLst>
          </p:cNvPr>
          <p:cNvSpPr txBox="1"/>
          <p:nvPr/>
        </p:nvSpPr>
        <p:spPr>
          <a:xfrm>
            <a:off x="1372518" y="2873809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IO</a:t>
            </a:r>
          </a:p>
          <a:p>
            <a:r>
              <a:rPr kumimoji="1" lang="en-US" altLang="zh-CN" sz="1200" dirty="0"/>
              <a:t>Virtual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/>
              <a:t>Address</a:t>
            </a:r>
            <a:endParaRPr kumimoji="1" lang="zh-CN" altLang="en-US" sz="1200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D41EEEC4-BA61-C24C-AD42-C046105D23FC}"/>
              </a:ext>
            </a:extLst>
          </p:cNvPr>
          <p:cNvCxnSpPr>
            <a:cxnSpLocks/>
          </p:cNvCxnSpPr>
          <p:nvPr/>
        </p:nvCxnSpPr>
        <p:spPr>
          <a:xfrm>
            <a:off x="3604766" y="2585777"/>
            <a:ext cx="581892" cy="122648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35EC4B4D-F18F-F042-95BE-87F1FAC13580}"/>
              </a:ext>
            </a:extLst>
          </p:cNvPr>
          <p:cNvSpPr txBox="1"/>
          <p:nvPr/>
        </p:nvSpPr>
        <p:spPr>
          <a:xfrm>
            <a:off x="3843337" y="2854231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/>
              <a:t>Address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21576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6D8FF-DBAF-6244-B67D-15F58441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SMMU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E60087-A0FB-154B-B664-787305BAC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SMMU</a:t>
            </a:r>
            <a:r>
              <a:rPr kumimoji="1" lang="zh-CN" altLang="en-US" dirty="0"/>
              <a:t>是</a:t>
            </a:r>
            <a:r>
              <a:rPr kumimoji="1" lang="en-US" altLang="zh-CN" dirty="0"/>
              <a:t>ARM</a:t>
            </a:r>
            <a:r>
              <a:rPr kumimoji="1" lang="zh-CN" altLang="en-US" dirty="0"/>
              <a:t>中</a:t>
            </a:r>
            <a:r>
              <a:rPr kumimoji="1" lang="en-US" altLang="zh-CN" dirty="0"/>
              <a:t>IOMMU</a:t>
            </a:r>
            <a:r>
              <a:rPr kumimoji="1" lang="zh-CN" altLang="en-US" dirty="0"/>
              <a:t>的实现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MMU</a:t>
            </a:r>
          </a:p>
          <a:p>
            <a:r>
              <a:rPr kumimoji="1" lang="en-US" altLang="zh-CN" dirty="0"/>
              <a:t>SMMU</a:t>
            </a:r>
            <a:r>
              <a:rPr kumimoji="1" lang="zh-CN" altLang="en-US" dirty="0"/>
              <a:t>的设计与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 </a:t>
            </a:r>
            <a:r>
              <a:rPr kumimoji="1" lang="en-US" altLang="zh-CN" dirty="0"/>
              <a:t>MMU</a:t>
            </a:r>
            <a:r>
              <a:rPr kumimoji="1" lang="zh-CN" altLang="en-US" dirty="0"/>
              <a:t>一致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也存在两阶段地址翻译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第一阶段：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为进程配置：</a:t>
            </a:r>
            <a:r>
              <a:rPr kumimoji="1" lang="en-US" altLang="zh-CN" dirty="0"/>
              <a:t>IOVA-&gt;GPA</a:t>
            </a:r>
          </a:p>
          <a:p>
            <a:pPr lvl="1"/>
            <a:r>
              <a:rPr kumimoji="1" lang="zh-CN" altLang="en-US" dirty="0"/>
              <a:t>第二阶段：第一阶段翻译完之后进行第二阶段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VMM</a:t>
            </a:r>
            <a:r>
              <a:rPr kumimoji="1" lang="zh-CN" altLang="en-US" dirty="0"/>
              <a:t>为</a:t>
            </a:r>
            <a:r>
              <a:rPr kumimoji="1" lang="en-US" altLang="zh-CN" dirty="0"/>
              <a:t>VM</a:t>
            </a:r>
            <a:r>
              <a:rPr kumimoji="1" lang="zh-CN" altLang="en-US" dirty="0"/>
              <a:t>配置：</a:t>
            </a:r>
            <a:r>
              <a:rPr kumimoji="1" lang="en-US" altLang="zh-CN" dirty="0"/>
              <a:t>GPA-&gt;HPA</a:t>
            </a:r>
            <a:r>
              <a:rPr kumimoji="1" lang="zh-CN" altLang="en-US" dirty="0"/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5C8EC-198C-914A-8CFD-4BCF26BE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F0F4E1-F0F6-D144-893F-9B6848AF3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922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9587-51AF-4746-BBCE-C302A4C6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：设备独占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66E7DA-DDE0-704C-B70B-79DFF5748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Scalability</a:t>
            </a:r>
            <a:r>
              <a:rPr kumimoji="1" lang="zh-CN" altLang="en-US" dirty="0"/>
              <a:t>不够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设备被</a:t>
            </a:r>
            <a:r>
              <a:rPr kumimoji="1" lang="en-US" altLang="zh-CN" dirty="0"/>
              <a:t>VM-1</a:t>
            </a:r>
            <a:r>
              <a:rPr kumimoji="1" lang="zh-CN" altLang="en-US" dirty="0"/>
              <a:t>独占后，就无法被</a:t>
            </a:r>
            <a:r>
              <a:rPr kumimoji="1" lang="en-US" altLang="zh-CN" dirty="0"/>
              <a:t>VM-2</a:t>
            </a:r>
            <a:r>
              <a:rPr kumimoji="1" lang="zh-CN" altLang="en-US" dirty="0"/>
              <a:t>使用</a:t>
            </a:r>
            <a:endParaRPr kumimoji="1" lang="en-US" altLang="zh-CN" dirty="0"/>
          </a:p>
          <a:p>
            <a:r>
              <a:rPr kumimoji="1" lang="zh-CN" altLang="en-US" dirty="0"/>
              <a:t>如果一台物理机上运行</a:t>
            </a:r>
            <a:r>
              <a:rPr kumimoji="1" lang="en-US" altLang="zh-CN" dirty="0"/>
              <a:t>16</a:t>
            </a:r>
            <a:r>
              <a:rPr kumimoji="1" lang="zh-CN" altLang="en-US" dirty="0"/>
              <a:t>个虚拟机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必须为这些虚拟机安装</a:t>
            </a:r>
            <a:r>
              <a:rPr kumimoji="1" lang="en-US" altLang="zh-CN" dirty="0"/>
              <a:t>16</a:t>
            </a:r>
            <a:r>
              <a:rPr kumimoji="1" lang="zh-CN" altLang="en-US" dirty="0"/>
              <a:t>个物理网卡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1FB6BE-CB41-8043-B204-3BCE38AF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197FCD-D96E-2541-B3E7-53A1973E0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2968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F7664-C53B-6C48-9995-0149B79B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Single Root I/O Virtualization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(SR-IOV)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0BE09-FE38-EE4B-A128-E9586C03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SR-IOV</a:t>
            </a:r>
            <a:r>
              <a:rPr kumimoji="1" lang="zh-CN" altLang="en-US" dirty="0"/>
              <a:t>是</a:t>
            </a:r>
            <a:r>
              <a:rPr kumimoji="1" lang="en-US" altLang="zh-CN" dirty="0"/>
              <a:t>PCI-SIG</a:t>
            </a:r>
            <a:r>
              <a:rPr kumimoji="1" lang="zh-CN" altLang="en-US" dirty="0"/>
              <a:t>组织确定的标准</a:t>
            </a:r>
          </a:p>
          <a:p>
            <a:r>
              <a:rPr kumimoji="1" lang="zh-CN" altLang="en-US" dirty="0"/>
              <a:t>满足</a:t>
            </a:r>
            <a:r>
              <a:rPr kumimoji="1" lang="en-US" altLang="zh-CN" dirty="0"/>
              <a:t>SRIOV</a:t>
            </a:r>
            <a:r>
              <a:rPr kumimoji="1" lang="zh-CN" altLang="en-US" dirty="0"/>
              <a:t>标准的设备，在设备层实现设备复用</a:t>
            </a:r>
          </a:p>
          <a:p>
            <a:pPr lvl="1"/>
            <a:r>
              <a:rPr kumimoji="1" lang="zh-CN" altLang="en-US" dirty="0"/>
              <a:t>能够创建多个</a:t>
            </a:r>
            <a:r>
              <a:rPr kumimoji="1" lang="en-US" altLang="zh-CN" dirty="0"/>
              <a:t>Virtual Function(VF)</a:t>
            </a:r>
            <a:r>
              <a:rPr kumimoji="1" lang="zh-CN" altLang="en-US" dirty="0"/>
              <a:t>，每一个</a:t>
            </a:r>
            <a:r>
              <a:rPr kumimoji="1" lang="en-US" altLang="zh-CN" dirty="0"/>
              <a:t>VF</a:t>
            </a:r>
            <a:r>
              <a:rPr kumimoji="1" lang="zh-CN" altLang="en-US" dirty="0"/>
              <a:t>分配给一个</a:t>
            </a:r>
            <a:r>
              <a:rPr kumimoji="1" lang="en-US" altLang="zh-CN" dirty="0"/>
              <a:t>VM</a:t>
            </a:r>
          </a:p>
          <a:p>
            <a:pPr lvl="2"/>
            <a:r>
              <a:rPr kumimoji="1" lang="zh-CN" altLang="en-US" dirty="0"/>
              <a:t>负责进行数据传输，属于数据面（</a:t>
            </a:r>
            <a:r>
              <a:rPr kumimoji="1" lang="en-US" altLang="zh-CN" dirty="0"/>
              <a:t>Data-plane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物理设备被称为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Function(PF)</a:t>
            </a:r>
            <a:r>
              <a:rPr kumimoji="1" lang="zh-CN" altLang="en-US" dirty="0"/>
              <a:t>，由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管理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负责进行配置和管理，属于控制面（</a:t>
            </a:r>
            <a:r>
              <a:rPr kumimoji="1" lang="en-US" altLang="zh-CN" dirty="0"/>
              <a:t>Control-plane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设备的功能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确保</a:t>
            </a:r>
            <a:r>
              <a:rPr kumimoji="1" lang="en-US" altLang="zh-CN" dirty="0"/>
              <a:t>VF</a:t>
            </a:r>
            <a:r>
              <a:rPr kumimoji="1" lang="zh-CN" altLang="en-US" dirty="0"/>
              <a:t>之间的数据流和控制流彼此不影响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CB3598-B54E-B04F-954E-5EE5C492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1AA923-541F-D74D-B239-F69C2E751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336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C9060-F188-0D46-B87F-737C59077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SR-IOV</a:t>
            </a:r>
            <a:r>
              <a:rPr kumimoji="1" lang="zh-CN" altLang="en-US" dirty="0"/>
              <a:t>的使用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AA47B2-B4E4-E849-9A2C-D120D6D9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89FDF-633E-E744-BBB4-CA4BEAC1C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72F6C12B-CAD3-6340-8061-79DEEAFB6356}"/>
              </a:ext>
            </a:extLst>
          </p:cNvPr>
          <p:cNvCxnSpPr>
            <a:cxnSpLocks/>
          </p:cNvCxnSpPr>
          <p:nvPr/>
        </p:nvCxnSpPr>
        <p:spPr>
          <a:xfrm>
            <a:off x="328655" y="3448559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1F79600-52AE-D545-809A-A7838B86ED0C}"/>
              </a:ext>
            </a:extLst>
          </p:cNvPr>
          <p:cNvSpPr txBox="1"/>
          <p:nvPr/>
        </p:nvSpPr>
        <p:spPr>
          <a:xfrm>
            <a:off x="173544" y="277748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542335-664C-F545-901C-F9E9FBFA5054}"/>
              </a:ext>
            </a:extLst>
          </p:cNvPr>
          <p:cNvSpPr txBox="1"/>
          <p:nvPr/>
        </p:nvSpPr>
        <p:spPr>
          <a:xfrm>
            <a:off x="173544" y="185738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DDE5B9-7F4C-D244-A805-EDC0559B9298}"/>
              </a:ext>
            </a:extLst>
          </p:cNvPr>
          <p:cNvSpPr txBox="1"/>
          <p:nvPr/>
        </p:nvSpPr>
        <p:spPr>
          <a:xfrm>
            <a:off x="173544" y="3789600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19B57DD1-08AC-4044-811A-F311183D49EE}"/>
              </a:ext>
            </a:extLst>
          </p:cNvPr>
          <p:cNvSpPr/>
          <p:nvPr/>
        </p:nvSpPr>
        <p:spPr>
          <a:xfrm>
            <a:off x="6452856" y="2593468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978A20BB-55D3-844B-841B-14E0EC13EB2F}"/>
              </a:ext>
            </a:extLst>
          </p:cNvPr>
          <p:cNvSpPr/>
          <p:nvPr/>
        </p:nvSpPr>
        <p:spPr>
          <a:xfrm>
            <a:off x="6454650" y="1949396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4BEDFD4-A080-6C48-9FCC-EE379F8BFB2D}"/>
              </a:ext>
            </a:extLst>
          </p:cNvPr>
          <p:cNvSpPr/>
          <p:nvPr/>
        </p:nvSpPr>
        <p:spPr>
          <a:xfrm>
            <a:off x="4956108" y="1489345"/>
            <a:ext cx="3688484" cy="1745043"/>
          </a:xfrm>
          <a:prstGeom prst="roundRect">
            <a:avLst>
              <a:gd name="adj" fmla="val 8447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088223-22C4-CF44-80CD-665D3C184DC7}"/>
              </a:ext>
            </a:extLst>
          </p:cNvPr>
          <p:cNvSpPr txBox="1"/>
          <p:nvPr/>
        </p:nvSpPr>
        <p:spPr>
          <a:xfrm>
            <a:off x="6362256" y="148934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VM-2</a:t>
            </a:r>
            <a:endParaRPr kumimoji="1" lang="zh-CN" altLang="en-US" dirty="0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DCBE8021-257E-BA4F-ACD8-2DF566C05536}"/>
              </a:ext>
            </a:extLst>
          </p:cNvPr>
          <p:cNvSpPr/>
          <p:nvPr/>
        </p:nvSpPr>
        <p:spPr>
          <a:xfrm>
            <a:off x="5148064" y="1921396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AA99FFF0-3F64-4F4D-9F8D-8B8C6D16B298}"/>
              </a:ext>
            </a:extLst>
          </p:cNvPr>
          <p:cNvSpPr/>
          <p:nvPr/>
        </p:nvSpPr>
        <p:spPr>
          <a:xfrm>
            <a:off x="2534388" y="259346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5140C7C-EF00-514C-9D4C-FDC5FDDCB2B5}"/>
              </a:ext>
            </a:extLst>
          </p:cNvPr>
          <p:cNvSpPr/>
          <p:nvPr/>
        </p:nvSpPr>
        <p:spPr>
          <a:xfrm>
            <a:off x="2536182" y="194939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D5784FC-442C-3A43-9195-549889C44431}"/>
              </a:ext>
            </a:extLst>
          </p:cNvPr>
          <p:cNvSpPr/>
          <p:nvPr/>
        </p:nvSpPr>
        <p:spPr>
          <a:xfrm>
            <a:off x="1037640" y="1489346"/>
            <a:ext cx="3688484" cy="1745043"/>
          </a:xfrm>
          <a:prstGeom prst="roundRect">
            <a:avLst>
              <a:gd name="adj" fmla="val 8447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998F852-6423-5B4A-A7EE-94C83E6A047D}"/>
              </a:ext>
            </a:extLst>
          </p:cNvPr>
          <p:cNvSpPr txBox="1"/>
          <p:nvPr/>
        </p:nvSpPr>
        <p:spPr>
          <a:xfrm>
            <a:off x="2443788" y="14893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VM-1</a:t>
            </a:r>
            <a:endParaRPr kumimoji="1" lang="zh-CN" altLang="en-US" dirty="0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7C4C3575-BEB2-694F-B255-4F39A2BB6C86}"/>
              </a:ext>
            </a:extLst>
          </p:cNvPr>
          <p:cNvSpPr/>
          <p:nvPr/>
        </p:nvSpPr>
        <p:spPr>
          <a:xfrm>
            <a:off x="1229596" y="1921397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AFB6CE6-63F3-B846-8108-35C89F14C4A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1920" y="4153644"/>
            <a:ext cx="1514122" cy="1125892"/>
          </a:xfrm>
          <a:prstGeom prst="rect">
            <a:avLst/>
          </a:prstGeom>
        </p:spPr>
      </p:pic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1D0E3420-AA0C-0E4D-8DBA-94BDF2016540}"/>
              </a:ext>
            </a:extLst>
          </p:cNvPr>
          <p:cNvCxnSpPr>
            <a:cxnSpLocks/>
            <a:endCxn id="23" idx="2"/>
          </p:cNvCxnSpPr>
          <p:nvPr/>
        </p:nvCxnSpPr>
        <p:spPr>
          <a:xfrm rot="10800000">
            <a:off x="1633638" y="3199688"/>
            <a:ext cx="2506315" cy="1602029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12B7B0D-4CEC-1A45-B0B8-DD388352074C}"/>
              </a:ext>
            </a:extLst>
          </p:cNvPr>
          <p:cNvSpPr/>
          <p:nvPr/>
        </p:nvSpPr>
        <p:spPr>
          <a:xfrm>
            <a:off x="4139952" y="4729708"/>
            <a:ext cx="375097" cy="194320"/>
          </a:xfrm>
          <a:prstGeom prst="rect">
            <a:avLst/>
          </a:prstGeom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F79B8E3-1993-DF44-9DDB-7CE9E4709C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3648" y="2785492"/>
            <a:ext cx="459977" cy="41419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588E6FE-AF3A-3D40-AC60-ED531F5B2E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6096" y="2713484"/>
            <a:ext cx="459977" cy="41419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0103FAE4-10A9-CB4F-BC3F-C7DA0530AE42}"/>
              </a:ext>
            </a:extLst>
          </p:cNvPr>
          <p:cNvSpPr/>
          <p:nvPr/>
        </p:nvSpPr>
        <p:spPr>
          <a:xfrm>
            <a:off x="4932040" y="4729708"/>
            <a:ext cx="375097" cy="194320"/>
          </a:xfrm>
          <a:prstGeom prst="rect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507C4335-E890-E544-8582-D31641D3D5D4}"/>
              </a:ext>
            </a:extLst>
          </p:cNvPr>
          <p:cNvCxnSpPr>
            <a:cxnSpLocks/>
            <a:stCxn id="25" idx="3"/>
            <a:endCxn id="24" idx="2"/>
          </p:cNvCxnSpPr>
          <p:nvPr/>
        </p:nvCxnSpPr>
        <p:spPr>
          <a:xfrm flipV="1">
            <a:off x="5307137" y="3127679"/>
            <a:ext cx="358948" cy="1699189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6F5965D3-BAED-6C4E-B49E-232A5A691F75}"/>
              </a:ext>
            </a:extLst>
          </p:cNvPr>
          <p:cNvSpPr txBox="1"/>
          <p:nvPr/>
        </p:nvSpPr>
        <p:spPr>
          <a:xfrm>
            <a:off x="1835696" y="2857500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VF</a:t>
            </a:r>
            <a:endParaRPr kumimoji="1"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8051E3-8D53-6142-AFED-F6DE3126E296}"/>
              </a:ext>
            </a:extLst>
          </p:cNvPr>
          <p:cNvSpPr txBox="1"/>
          <p:nvPr/>
        </p:nvSpPr>
        <p:spPr>
          <a:xfrm>
            <a:off x="5868144" y="2785492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VF</a:t>
            </a:r>
            <a:endParaRPr kumimoji="1" lang="zh-CN" altLang="en-US" sz="1200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AF3553DF-E7EE-1F47-B70F-C348958D3C3D}"/>
              </a:ext>
            </a:extLst>
          </p:cNvPr>
          <p:cNvSpPr/>
          <p:nvPr/>
        </p:nvSpPr>
        <p:spPr>
          <a:xfrm>
            <a:off x="1331640" y="3649588"/>
            <a:ext cx="4896544" cy="36004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负责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PF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管理，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IOMMU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配置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94B0A2-9721-9040-8CD6-76E353A4C9D5}"/>
              </a:ext>
            </a:extLst>
          </p:cNvPr>
          <p:cNvSpPr txBox="1"/>
          <p:nvPr/>
        </p:nvSpPr>
        <p:spPr>
          <a:xfrm>
            <a:off x="4139952" y="516175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NIC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543662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A4430-B688-5143-8AC7-75D5ABFF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设备直通的优缺点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EE610B-74D6-014D-BC0C-94BDC7417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性能优越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简化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的设计与实现</a:t>
            </a: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需要特定硬件功能的支持（</a:t>
            </a:r>
            <a:r>
              <a:rPr kumimoji="1" lang="en-US" altLang="zh-CN" dirty="0"/>
              <a:t>IOMMU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SRIOV</a:t>
            </a:r>
            <a:r>
              <a:rPr kumimoji="1" lang="zh-CN" altLang="en-US" dirty="0"/>
              <a:t>等）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不能实现</a:t>
            </a:r>
            <a:r>
              <a:rPr kumimoji="1" lang="en-US" altLang="zh-CN" dirty="0"/>
              <a:t>Interposition</a:t>
            </a:r>
            <a:r>
              <a:rPr kumimoji="1" lang="zh-CN" altLang="en-US" dirty="0"/>
              <a:t>：难以支持虚拟机热迁移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5DA1A3-51CB-F640-BA86-BC396DF1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8AED1-4053-5148-BCC4-969A1771D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543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259BB-9EF0-7441-A235-93B2B75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虚拟化技术对比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C701A1-0156-5A42-AEAC-8F7019DF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43FB31-102B-894A-9EAA-A3EDA51D3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2E3919-E598-BD4D-9298-B3CEBCCF2176}"/>
              </a:ext>
            </a:extLst>
          </p:cNvPr>
          <p:cNvGraphicFramePr>
            <a:graphicFrameLocks noGrp="1"/>
          </p:cNvGraphicFramePr>
          <p:nvPr/>
        </p:nvGraphicFramePr>
        <p:xfrm>
          <a:off x="467544" y="1633364"/>
          <a:ext cx="82809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563">
                  <a:extLst>
                    <a:ext uri="{9D8B030D-6E8A-4147-A177-3AD203B41FA5}">
                      <a16:colId xmlns:a16="http://schemas.microsoft.com/office/drawing/2014/main" val="1448110210"/>
                    </a:ext>
                  </a:extLst>
                </a:gridCol>
                <a:gridCol w="1865897">
                  <a:extLst>
                    <a:ext uri="{9D8B030D-6E8A-4147-A177-3AD203B41FA5}">
                      <a16:colId xmlns:a16="http://schemas.microsoft.com/office/drawing/2014/main" val="2174093866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3967562975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3146010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设备模拟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半虚拟化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设备直通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81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130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修改虚拟机内核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驱动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安装</a:t>
                      </a:r>
                      <a:r>
                        <a:rPr lang="en-US" altLang="zh-CN" dirty="0"/>
                        <a:t>VF</a:t>
                      </a:r>
                      <a:r>
                        <a:rPr lang="zh-CN" altLang="en-US" dirty="0"/>
                        <a:t>驱动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983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VMM</a:t>
                      </a:r>
                      <a:r>
                        <a:rPr lang="zh-CN" altLang="en-US" dirty="0"/>
                        <a:t>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26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Interposition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26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是否依赖硬件功能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58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支持老版本</a:t>
                      </a:r>
                      <a:r>
                        <a:rPr lang="en-US" altLang="zh-CN" dirty="0"/>
                        <a:t>OS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056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861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EEA61-0EA9-BB4D-A99A-73C82832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中断虚拟化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A9BF8-8F21-4146-BE2E-550B5CD41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VMM</a:t>
            </a:r>
            <a:r>
              <a:rPr kumimoji="1" lang="zh-CN" altLang="en-US" dirty="0"/>
              <a:t>在完成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操作后通知</a:t>
            </a:r>
            <a:r>
              <a:rPr kumimoji="1" lang="en-US" altLang="zh-CN" dirty="0"/>
              <a:t>VM</a:t>
            </a:r>
          </a:p>
          <a:p>
            <a:pPr lvl="1"/>
            <a:r>
              <a:rPr kumimoji="1" lang="zh-CN" altLang="en-US" dirty="0"/>
              <a:t>例如在</a:t>
            </a:r>
            <a:r>
              <a:rPr kumimoji="1" lang="en-US" altLang="zh-CN" dirty="0"/>
              <a:t>DMA</a:t>
            </a:r>
            <a:r>
              <a:rPr kumimoji="1" lang="zh-CN" altLang="en-US" dirty="0"/>
              <a:t>操作之后</a:t>
            </a:r>
            <a:endParaRPr kumimoji="1" lang="en-US" altLang="zh-CN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在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时插入虚拟中断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</a:t>
            </a:r>
            <a:r>
              <a:rPr kumimoji="1" lang="zh-CN" altLang="en-US" dirty="0"/>
              <a:t>的中断处理函数会被调用</a:t>
            </a:r>
            <a:endParaRPr kumimoji="1" lang="en-US" altLang="zh-CN" dirty="0"/>
          </a:p>
          <a:p>
            <a:r>
              <a:rPr kumimoji="1" lang="zh-CN" altLang="en-US" dirty="0"/>
              <a:t>虚拟中断类型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时钟中断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核间中断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外部中断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978841-E350-5743-83B6-E92DB0ED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880C03-196E-1E47-82E7-8D00CFBD8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879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04737-C783-A84D-B9F8-D53096F4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中断虚拟化的实现方法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8A0FC-7BA7-CC44-B477-CC660A767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打断虚拟机执行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插入</a:t>
            </a:r>
            <a:endParaRPr kumimoji="1" lang="en-US" altLang="zh-CN" dirty="0"/>
          </a:p>
          <a:p>
            <a:r>
              <a:rPr kumimoji="1" lang="zh-CN" altLang="en-US" dirty="0"/>
              <a:t>不打断虚拟机执行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插入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6701B-5BB7-6947-BD49-FB34712F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AEE333-DC7D-5A4D-ADC7-3FA61B7E9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65641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97334-2E97-DC47-A847-266B0B29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B96B8-6058-F149-9A49-06A2AE7A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GIC</a:t>
            </a:r>
            <a:r>
              <a:rPr kumimoji="1" lang="zh-CN" altLang="en-US" sz="2000" dirty="0"/>
              <a:t>为虚拟机提供的硬件功能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VM</a:t>
            </a:r>
            <a:r>
              <a:rPr kumimoji="1" lang="zh-CN" altLang="en-US" sz="1800" dirty="0"/>
              <a:t>通过</a:t>
            </a:r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Interface</a:t>
            </a:r>
            <a:r>
              <a:rPr kumimoji="1" lang="zh-CN" altLang="en-US" sz="1800" dirty="0"/>
              <a:t>与</a:t>
            </a:r>
            <a:r>
              <a:rPr kumimoji="1" lang="en-US" altLang="zh-CN" sz="1800" dirty="0"/>
              <a:t>GIC</a:t>
            </a:r>
            <a:r>
              <a:rPr kumimoji="1" lang="zh-CN" altLang="en-US" sz="1800" dirty="0"/>
              <a:t>交互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VMM</a:t>
            </a:r>
            <a:r>
              <a:rPr kumimoji="1" lang="zh-CN" altLang="en-US" sz="1800" dirty="0"/>
              <a:t>通过</a:t>
            </a:r>
            <a:r>
              <a:rPr kumimoji="1" lang="en-US" altLang="zh-CN" sz="1800" dirty="0"/>
              <a:t>Physical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Interface</a:t>
            </a:r>
            <a:r>
              <a:rPr kumimoji="1" lang="zh-CN" altLang="en-US" sz="1800" dirty="0"/>
              <a:t>与</a:t>
            </a:r>
            <a:r>
              <a:rPr kumimoji="1" lang="en-US" altLang="zh-CN" sz="1800" dirty="0"/>
              <a:t>GIC</a:t>
            </a:r>
            <a:r>
              <a:rPr kumimoji="1" lang="zh-CN" altLang="en-US" sz="1800" dirty="0"/>
              <a:t>交互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C76D9-7784-8041-BF1C-CBDFD1F7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CC8BE8-0CBA-F04C-955A-A3DF9DAB8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580C66-BB4E-C444-A53D-B290B6DDED58}"/>
              </a:ext>
            </a:extLst>
          </p:cNvPr>
          <p:cNvSpPr/>
          <p:nvPr/>
        </p:nvSpPr>
        <p:spPr>
          <a:xfrm>
            <a:off x="2123728" y="3721596"/>
            <a:ext cx="1440160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Virtual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CPU</a:t>
            </a:r>
          </a:p>
          <a:p>
            <a:pPr algn="ctr"/>
            <a:r>
              <a:rPr kumimoji="1" lang="en-US" altLang="zh-CN" sz="1400" dirty="0"/>
              <a:t>Interface</a:t>
            </a:r>
            <a:endParaRPr kumimoji="1"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302C63-D17D-C047-BFD5-4A0132232BED}"/>
              </a:ext>
            </a:extLst>
          </p:cNvPr>
          <p:cNvSpPr/>
          <p:nvPr/>
        </p:nvSpPr>
        <p:spPr>
          <a:xfrm>
            <a:off x="2123728" y="4657700"/>
            <a:ext cx="3384376" cy="4474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Distributor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357FDB-51FE-0B47-B326-9433BA4B2175}"/>
              </a:ext>
            </a:extLst>
          </p:cNvPr>
          <p:cNvSpPr/>
          <p:nvPr/>
        </p:nvSpPr>
        <p:spPr>
          <a:xfrm>
            <a:off x="4067944" y="3721596"/>
            <a:ext cx="1440160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Physical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CPU</a:t>
            </a:r>
          </a:p>
          <a:p>
            <a:pPr algn="ctr"/>
            <a:r>
              <a:rPr kumimoji="1" lang="en-US" altLang="zh-CN" sz="1400" dirty="0"/>
              <a:t>Interface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85B72C-2630-2047-B634-151D7685A5E0}"/>
              </a:ext>
            </a:extLst>
          </p:cNvPr>
          <p:cNvSpPr/>
          <p:nvPr/>
        </p:nvSpPr>
        <p:spPr>
          <a:xfrm>
            <a:off x="1979712" y="2857500"/>
            <a:ext cx="3672408" cy="64807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BBF0DD-772A-8F4C-8835-D7FEED013C59}"/>
              </a:ext>
            </a:extLst>
          </p:cNvPr>
          <p:cNvSpPr txBox="1"/>
          <p:nvPr/>
        </p:nvSpPr>
        <p:spPr>
          <a:xfrm>
            <a:off x="1334343" y="297988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C5E16F-B3C9-3E44-9C24-312E2929BF98}"/>
              </a:ext>
            </a:extLst>
          </p:cNvPr>
          <p:cNvSpPr/>
          <p:nvPr/>
        </p:nvSpPr>
        <p:spPr>
          <a:xfrm>
            <a:off x="2339752" y="3001516"/>
            <a:ext cx="999728" cy="2964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EBD821-7C7A-904A-B1F6-B30920AF3A65}"/>
              </a:ext>
            </a:extLst>
          </p:cNvPr>
          <p:cNvSpPr/>
          <p:nvPr/>
        </p:nvSpPr>
        <p:spPr>
          <a:xfrm>
            <a:off x="4283968" y="3001516"/>
            <a:ext cx="999728" cy="2964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E087768-3B8C-E54A-99CF-B64B505AF060}"/>
              </a:ext>
            </a:extLst>
          </p:cNvPr>
          <p:cNvCxnSpPr/>
          <p:nvPr/>
        </p:nvCxnSpPr>
        <p:spPr>
          <a:xfrm>
            <a:off x="4788024" y="328954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0B935EE1-72C5-AF49-8028-BD24EF225705}"/>
              </a:ext>
            </a:extLst>
          </p:cNvPr>
          <p:cNvCxnSpPr/>
          <p:nvPr/>
        </p:nvCxnSpPr>
        <p:spPr>
          <a:xfrm>
            <a:off x="2843808" y="328954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D14DF22E-ABD5-E643-A78E-CB7BC4AA323D}"/>
              </a:ext>
            </a:extLst>
          </p:cNvPr>
          <p:cNvCxnSpPr/>
          <p:nvPr/>
        </p:nvCxnSpPr>
        <p:spPr>
          <a:xfrm>
            <a:off x="2843808" y="436966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8FE0F8DD-6CE4-2440-8A91-35391672E85A}"/>
              </a:ext>
            </a:extLst>
          </p:cNvPr>
          <p:cNvCxnSpPr/>
          <p:nvPr/>
        </p:nvCxnSpPr>
        <p:spPr>
          <a:xfrm>
            <a:off x="4860032" y="436966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71B35DBE-0D76-CA40-AB93-D44F5D832BC9}"/>
              </a:ext>
            </a:extLst>
          </p:cNvPr>
          <p:cNvSpPr/>
          <p:nvPr/>
        </p:nvSpPr>
        <p:spPr>
          <a:xfrm>
            <a:off x="1979712" y="3649588"/>
            <a:ext cx="3672408" cy="159956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62A353-EBB7-E143-8CD9-76C59752DA0B}"/>
              </a:ext>
            </a:extLst>
          </p:cNvPr>
          <p:cNvSpPr txBox="1"/>
          <p:nvPr/>
        </p:nvSpPr>
        <p:spPr>
          <a:xfrm>
            <a:off x="1331640" y="436966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651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976D6-6C1D-FB4C-8C36-C64B8C81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插入虚拟中断：以半虚拟化举例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E7543A-49C3-C245-93D7-B10AD3D7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15BFF-4A66-A642-81DA-20F82FFD1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61A830D0-2BC2-6A46-BAAC-C62EDC1FB374}"/>
              </a:ext>
            </a:extLst>
          </p:cNvPr>
          <p:cNvSpPr/>
          <p:nvPr/>
        </p:nvSpPr>
        <p:spPr>
          <a:xfrm>
            <a:off x="1134776" y="3769600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5F1333A8-7187-7C46-A79A-274E8CE388B6}"/>
              </a:ext>
            </a:extLst>
          </p:cNvPr>
          <p:cNvSpPr/>
          <p:nvPr/>
        </p:nvSpPr>
        <p:spPr>
          <a:xfrm>
            <a:off x="1124824" y="1849389"/>
            <a:ext cx="3284547" cy="63207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AAD69BD2-D525-E144-B181-EE6D0BC1E88F}"/>
              </a:ext>
            </a:extLst>
          </p:cNvPr>
          <p:cNvCxnSpPr>
            <a:cxnSpLocks/>
          </p:cNvCxnSpPr>
          <p:nvPr/>
        </p:nvCxnSpPr>
        <p:spPr>
          <a:xfrm>
            <a:off x="283345" y="3520570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E88D475-6193-4B47-A0BA-E5EA569CDBAE}"/>
              </a:ext>
            </a:extLst>
          </p:cNvPr>
          <p:cNvSpPr txBox="1"/>
          <p:nvPr/>
        </p:nvSpPr>
        <p:spPr>
          <a:xfrm>
            <a:off x="128234" y="2849499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2B7805-2EFD-9649-A99E-31E6915FB52A}"/>
              </a:ext>
            </a:extLst>
          </p:cNvPr>
          <p:cNvSpPr txBox="1"/>
          <p:nvPr/>
        </p:nvSpPr>
        <p:spPr>
          <a:xfrm>
            <a:off x="128234" y="1929397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8559CB-91BA-FC4A-A750-7BCE44CF44AE}"/>
              </a:ext>
            </a:extLst>
          </p:cNvPr>
          <p:cNvSpPr txBox="1"/>
          <p:nvPr/>
        </p:nvSpPr>
        <p:spPr>
          <a:xfrm>
            <a:off x="128234" y="3861611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2108DB-4AB7-1D49-B6C1-1F585184401C}"/>
              </a:ext>
            </a:extLst>
          </p:cNvPr>
          <p:cNvSpPr txBox="1"/>
          <p:nvPr/>
        </p:nvSpPr>
        <p:spPr>
          <a:xfrm>
            <a:off x="2302612" y="1561356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BD27B40-0DC9-C747-87E3-D4689BE7FCC0}"/>
              </a:ext>
            </a:extLst>
          </p:cNvPr>
          <p:cNvSpPr/>
          <p:nvPr/>
        </p:nvSpPr>
        <p:spPr>
          <a:xfrm>
            <a:off x="6372200" y="192139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AD6CEF8-2592-A149-B4D9-FEED495CE83D}"/>
              </a:ext>
            </a:extLst>
          </p:cNvPr>
          <p:cNvSpPr/>
          <p:nvPr/>
        </p:nvSpPr>
        <p:spPr>
          <a:xfrm>
            <a:off x="5818475" y="1561356"/>
            <a:ext cx="2780807" cy="1745043"/>
          </a:xfrm>
          <a:prstGeom prst="roundRect">
            <a:avLst>
              <a:gd name="adj" fmla="val 947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D47D51-3CD4-A849-B9BE-26724FCF4CDC}"/>
              </a:ext>
            </a:extLst>
          </p:cNvPr>
          <p:cNvSpPr txBox="1"/>
          <p:nvPr/>
        </p:nvSpPr>
        <p:spPr>
          <a:xfrm>
            <a:off x="6316946" y="1561356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D244DE-94D1-4C49-9A8F-0D50C4F41CCB}"/>
              </a:ext>
            </a:extLst>
          </p:cNvPr>
          <p:cNvSpPr/>
          <p:nvPr/>
        </p:nvSpPr>
        <p:spPr>
          <a:xfrm>
            <a:off x="971600" y="1561356"/>
            <a:ext cx="3688484" cy="2852317"/>
          </a:xfrm>
          <a:prstGeom prst="roundRect">
            <a:avLst>
              <a:gd name="adj" fmla="val 6924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C5BF8EF2-7AEE-4640-96B7-60A556E9003B}"/>
              </a:ext>
            </a:extLst>
          </p:cNvPr>
          <p:cNvSpPr/>
          <p:nvPr/>
        </p:nvSpPr>
        <p:spPr>
          <a:xfrm>
            <a:off x="2781819" y="3953623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960A935F-061D-6742-B0D2-98F49FA68249}"/>
              </a:ext>
            </a:extLst>
          </p:cNvPr>
          <p:cNvSpPr/>
          <p:nvPr/>
        </p:nvSpPr>
        <p:spPr>
          <a:xfrm>
            <a:off x="2846207" y="3309550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D66E47BA-499E-EB4A-8C70-DE2CEED73E70}"/>
              </a:ext>
            </a:extLst>
          </p:cNvPr>
          <p:cNvCxnSpPr>
            <a:cxnSpLocks/>
          </p:cNvCxnSpPr>
          <p:nvPr/>
        </p:nvCxnSpPr>
        <p:spPr>
          <a:xfrm>
            <a:off x="3508375" y="2389448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54A522C0-312E-5A44-A944-F3FB1F162642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3502768" y="3613858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855704-8D77-DC46-BD2E-79954D02DD12}"/>
              </a:ext>
            </a:extLst>
          </p:cNvPr>
          <p:cNvSpPr txBox="1"/>
          <p:nvPr/>
        </p:nvSpPr>
        <p:spPr>
          <a:xfrm>
            <a:off x="7812360" y="386561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470AE8A6-8154-8E49-B918-D098D17FAEFF}"/>
              </a:ext>
            </a:extLst>
          </p:cNvPr>
          <p:cNvSpPr/>
          <p:nvPr/>
        </p:nvSpPr>
        <p:spPr>
          <a:xfrm>
            <a:off x="2843808" y="4585692"/>
            <a:ext cx="5744821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19E316B7-F763-6F4D-A583-3BC5ACCC0374}"/>
              </a:ext>
            </a:extLst>
          </p:cNvPr>
          <p:cNvCxnSpPr>
            <a:cxnSpLocks/>
          </p:cNvCxnSpPr>
          <p:nvPr/>
        </p:nvCxnSpPr>
        <p:spPr>
          <a:xfrm>
            <a:off x="3496426" y="4229652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D7346C8-20E4-E543-AA05-5F8F49CBA90A}"/>
              </a:ext>
            </a:extLst>
          </p:cNvPr>
          <p:cNvCxnSpPr>
            <a:cxnSpLocks/>
          </p:cNvCxnSpPr>
          <p:nvPr/>
        </p:nvCxnSpPr>
        <p:spPr>
          <a:xfrm>
            <a:off x="7401042" y="2425453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7">
            <a:extLst>
              <a:ext uri="{FF2B5EF4-FFF2-40B4-BE49-F238E27FC236}">
                <a16:creationId xmlns:a16="http://schemas.microsoft.com/office/drawing/2014/main" id="{84F94B14-7F48-1B41-81EA-72C87F0B80E7}"/>
              </a:ext>
            </a:extLst>
          </p:cNvPr>
          <p:cNvSpPr/>
          <p:nvPr/>
        </p:nvSpPr>
        <p:spPr>
          <a:xfrm>
            <a:off x="1784418" y="3879595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816D9B7-77D0-8B47-B454-1DD8ED74C030}"/>
              </a:ext>
            </a:extLst>
          </p:cNvPr>
          <p:cNvCxnSpPr>
            <a:cxnSpLocks/>
          </p:cNvCxnSpPr>
          <p:nvPr/>
        </p:nvCxnSpPr>
        <p:spPr>
          <a:xfrm flipV="1">
            <a:off x="2216466" y="2425453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4B70B016-870B-B24C-813C-C54281F7FA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115" y="4585693"/>
            <a:ext cx="566266" cy="509904"/>
          </a:xfrm>
          <a:prstGeom prst="rect">
            <a:avLst/>
          </a:prstGeom>
        </p:spPr>
      </p:pic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E78A0C0E-06D4-1347-81BB-F80CCC89AB3D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>
          <a:xfrm flipV="1">
            <a:off x="2254248" y="4239635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22">
            <a:extLst>
              <a:ext uri="{FF2B5EF4-FFF2-40B4-BE49-F238E27FC236}">
                <a16:creationId xmlns:a16="http://schemas.microsoft.com/office/drawing/2014/main" id="{2D3F0CF3-3177-A24C-8B9D-8CC136C5F8E4}"/>
              </a:ext>
            </a:extLst>
          </p:cNvPr>
          <p:cNvSpPr/>
          <p:nvPr/>
        </p:nvSpPr>
        <p:spPr>
          <a:xfrm>
            <a:off x="2555776" y="1993404"/>
            <a:ext cx="1721394" cy="35876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15EDCE5D-D317-E74D-801E-EEB986C219B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932040" y="2425452"/>
          <a:ext cx="720084" cy="240028"/>
        </p:xfrm>
        <a:graphic>
          <a:graphicData uri="http://schemas.openxmlformats.org/drawingml/2006/table">
            <a:tbl>
              <a:tblPr firstRow="1" bandRow="1"/>
              <a:tblGrid>
                <a:gridCol w="120014">
                  <a:extLst>
                    <a:ext uri="{9D8B030D-6E8A-4147-A177-3AD203B41FA5}">
                      <a16:colId xmlns:a16="http://schemas.microsoft.com/office/drawing/2014/main" val="2860160233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31885893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266334094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323478888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650179042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1575277169"/>
                    </a:ext>
                  </a:extLst>
                </a:gridCol>
              </a:tblGrid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211148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0879957"/>
                  </a:ext>
                </a:extLst>
              </a:tr>
            </a:tbl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22C53693-F0CF-0946-8ED2-5912A6F99947}"/>
              </a:ext>
            </a:extLst>
          </p:cNvPr>
          <p:cNvSpPr txBox="1"/>
          <p:nvPr/>
        </p:nvSpPr>
        <p:spPr>
          <a:xfrm>
            <a:off x="4860032" y="2137420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Virtqueue</a:t>
            </a:r>
            <a:r>
              <a:rPr lang="en-US" altLang="zh-CN" sz="1200" dirty="0"/>
              <a:t> </a:t>
            </a:r>
          </a:p>
        </p:txBody>
      </p:sp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61352F86-183F-9145-8C88-AB2607906027}"/>
              </a:ext>
            </a:extLst>
          </p:cNvPr>
          <p:cNvCxnSpPr>
            <a:cxnSpLocks/>
            <a:stCxn id="13" idx="1"/>
            <a:endCxn id="32" idx="3"/>
          </p:cNvCxnSpPr>
          <p:nvPr/>
        </p:nvCxnSpPr>
        <p:spPr>
          <a:xfrm rot="10800000" flipV="1">
            <a:off x="5652124" y="2172786"/>
            <a:ext cx="720076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1DB00BAD-B522-BC44-BBD9-ABE817652FCE}"/>
              </a:ext>
            </a:extLst>
          </p:cNvPr>
          <p:cNvCxnSpPr>
            <a:cxnSpLocks/>
            <a:stCxn id="32" idx="1"/>
            <a:endCxn id="31" idx="3"/>
          </p:cNvCxnSpPr>
          <p:nvPr/>
        </p:nvCxnSpPr>
        <p:spPr>
          <a:xfrm rot="10800000">
            <a:off x="4277170" y="2172786"/>
            <a:ext cx="654870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0105938-7E86-DA41-A805-F60EE6B2EA5C}"/>
              </a:ext>
            </a:extLst>
          </p:cNvPr>
          <p:cNvSpPr txBox="1"/>
          <p:nvPr/>
        </p:nvSpPr>
        <p:spPr>
          <a:xfrm>
            <a:off x="2464788" y="2576915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Inject</a:t>
            </a:r>
          </a:p>
          <a:p>
            <a:r>
              <a:rPr kumimoji="1" lang="en-US" altLang="zh-CN" dirty="0"/>
              <a:t>Interrupt</a:t>
            </a:r>
            <a:endParaRPr kumimoji="1" lang="zh-CN" altLang="en-US" dirty="0"/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DF586596-AC52-BC41-ADE8-BBDAC7334A69}"/>
              </a:ext>
            </a:extLst>
          </p:cNvPr>
          <p:cNvSpPr/>
          <p:nvPr/>
        </p:nvSpPr>
        <p:spPr>
          <a:xfrm>
            <a:off x="5148064" y="3952800"/>
            <a:ext cx="1584176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ICH_LR0_EL2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E211682-AF4F-B249-98FE-2C025DE218A7}"/>
              </a:ext>
            </a:extLst>
          </p:cNvPr>
          <p:cNvCxnSpPr>
            <a:cxnSpLocks/>
            <a:stCxn id="18" idx="3"/>
            <a:endCxn id="37" idx="1"/>
          </p:cNvCxnSpPr>
          <p:nvPr/>
        </p:nvCxnSpPr>
        <p:spPr>
          <a:xfrm>
            <a:off x="4223716" y="4091639"/>
            <a:ext cx="924348" cy="5177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22">
            <a:extLst>
              <a:ext uri="{FF2B5EF4-FFF2-40B4-BE49-F238E27FC236}">
                <a16:creationId xmlns:a16="http://schemas.microsoft.com/office/drawing/2014/main" id="{113FE32F-839F-0842-95EC-F4E73B303A53}"/>
              </a:ext>
            </a:extLst>
          </p:cNvPr>
          <p:cNvSpPr/>
          <p:nvPr/>
        </p:nvSpPr>
        <p:spPr>
          <a:xfrm>
            <a:off x="6372200" y="2713484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IRQ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handler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C8601250-A0E1-2B4D-90D6-EE64BB058D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5652" y="3926255"/>
            <a:ext cx="1273417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>
            <a:extLst>
              <a:ext uri="{FF2B5EF4-FFF2-40B4-BE49-F238E27FC236}">
                <a16:creationId xmlns:a16="http://schemas.microsoft.com/office/drawing/2014/main" id="{0C6F9EF5-3B2E-1F4B-94FE-4DFBB9124718}"/>
              </a:ext>
            </a:extLst>
          </p:cNvPr>
          <p:cNvCxnSpPr>
            <a:cxnSpLocks/>
            <a:stCxn id="44" idx="2"/>
            <a:endCxn id="37" idx="3"/>
          </p:cNvCxnSpPr>
          <p:nvPr/>
        </p:nvCxnSpPr>
        <p:spPr>
          <a:xfrm rot="5400000">
            <a:off x="6614131" y="3334374"/>
            <a:ext cx="880552" cy="644333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22">
            <a:extLst>
              <a:ext uri="{FF2B5EF4-FFF2-40B4-BE49-F238E27FC236}">
                <a16:creationId xmlns:a16="http://schemas.microsoft.com/office/drawing/2014/main" id="{8C8036D7-B50E-7F4A-9667-1108D055A7E8}"/>
              </a:ext>
            </a:extLst>
          </p:cNvPr>
          <p:cNvSpPr/>
          <p:nvPr/>
        </p:nvSpPr>
        <p:spPr>
          <a:xfrm>
            <a:off x="4932040" y="3865612"/>
            <a:ext cx="2088232" cy="50405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A65EE83-E531-B04F-A6DA-1283A75ED71A}"/>
              </a:ext>
            </a:extLst>
          </p:cNvPr>
          <p:cNvSpPr txBox="1"/>
          <p:nvPr/>
        </p:nvSpPr>
        <p:spPr>
          <a:xfrm>
            <a:off x="5724128" y="35775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4F23F8-373B-0C49-8D31-0F1620B2C698}"/>
              </a:ext>
            </a:extLst>
          </p:cNvPr>
          <p:cNvSpPr txBox="1"/>
          <p:nvPr/>
        </p:nvSpPr>
        <p:spPr>
          <a:xfrm>
            <a:off x="5940152" y="1057300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E384B"/>
                </a:solidFill>
              </a:rPr>
              <a:t>思考：这种方式有什么问题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23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7" grpId="0" animBg="1"/>
      <p:bldP spid="53" grpId="0" animBg="1"/>
      <p:bldP spid="54" grpId="0"/>
      <p:bldP spid="5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5F054-D7B8-7943-BDEB-68B4F27F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不打断虚拟机执行：</a:t>
            </a:r>
            <a:r>
              <a:rPr kumimoji="1" lang="en-US" altLang="zh-CN" dirty="0"/>
              <a:t>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6AD26F-5933-C942-A71D-5C241193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1800" dirty="0"/>
              <a:t>GIC</a:t>
            </a:r>
            <a:r>
              <a:rPr kumimoji="1" lang="zh-CN" altLang="en-US" sz="1800" dirty="0"/>
              <a:t>第</a:t>
            </a:r>
            <a:r>
              <a:rPr kumimoji="1" lang="en-US" altLang="zh-CN" sz="1800" dirty="0"/>
              <a:t>4</a:t>
            </a:r>
            <a:r>
              <a:rPr kumimoji="1" lang="zh-CN" altLang="en-US" sz="1800" dirty="0"/>
              <a:t>版本推出了</a:t>
            </a:r>
            <a:r>
              <a:rPr lang="en-US" altLang="zh-CN" sz="1800" dirty="0"/>
              <a:t>Direct injection of virtual interrupts </a:t>
            </a:r>
          </a:p>
          <a:p>
            <a:pPr lvl="1"/>
            <a:r>
              <a:rPr kumimoji="1" lang="zh-CN" altLang="en-US" sz="1600" dirty="0"/>
              <a:t>将物理设备的物理中断与虚拟中断绑定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物理设备直接向虚拟机发送虚拟中断</a:t>
            </a:r>
            <a:endParaRPr kumimoji="1" lang="en-US" altLang="zh-CN" sz="1600" dirty="0"/>
          </a:p>
          <a:p>
            <a:r>
              <a:rPr kumimoji="1" lang="en-US" altLang="zh-CN" sz="1800" dirty="0"/>
              <a:t>VMM</a:t>
            </a:r>
            <a:r>
              <a:rPr kumimoji="1" lang="zh-CN" altLang="en-US" sz="1800" dirty="0"/>
              <a:t>在运行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前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配置</a:t>
            </a:r>
            <a:r>
              <a:rPr kumimoji="1" lang="en-US" altLang="zh-CN" sz="1600" dirty="0"/>
              <a:t>GIC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(Interrupt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Translation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Service)</a:t>
            </a:r>
          </a:p>
          <a:p>
            <a:pPr lvl="2"/>
            <a:r>
              <a:rPr kumimoji="1" lang="zh-CN" altLang="en-US" sz="1600" dirty="0"/>
              <a:t>建立物理中断与虚拟中断的映射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映射内容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设备与物理中断的映射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分配虚拟中断号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发送给哪些物理核上的虚拟处理器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686929-4BC0-8F4C-A00D-F22D8324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71071-4AEB-6145-A645-020FD812B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466722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3389B-1A32-FE47-87BE-D504DB2B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虚拟中断的直接插入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130786-E6B0-D940-B2D1-E99B1C86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43ADD-E836-5D4A-8C1B-137789D3F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ABB92C8-952B-9A43-A69A-1F1B1212CB4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8384" y="3933868"/>
            <a:ext cx="648072" cy="583568"/>
          </a:xfrm>
          <a:prstGeom prst="rect">
            <a:avLst/>
          </a:prstGeom>
        </p:spPr>
      </p:pic>
      <p:sp>
        <p:nvSpPr>
          <p:cNvPr id="17" name="Rectangle 22">
            <a:extLst>
              <a:ext uri="{FF2B5EF4-FFF2-40B4-BE49-F238E27FC236}">
                <a16:creationId xmlns:a16="http://schemas.microsoft.com/office/drawing/2014/main" id="{20CD993E-357B-BF46-95E1-723AD8EC17DA}"/>
              </a:ext>
            </a:extLst>
          </p:cNvPr>
          <p:cNvSpPr/>
          <p:nvPr/>
        </p:nvSpPr>
        <p:spPr>
          <a:xfrm>
            <a:off x="5436096" y="3073524"/>
            <a:ext cx="1728192" cy="136815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F425F447-D57A-AE40-8FAF-5521B8DEB0E7}"/>
              </a:ext>
            </a:extLst>
          </p:cNvPr>
          <p:cNvSpPr/>
          <p:nvPr/>
        </p:nvSpPr>
        <p:spPr>
          <a:xfrm>
            <a:off x="5652120" y="4081636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ITS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1BFA3C-8090-0A4E-B555-B552039A091F}"/>
              </a:ext>
            </a:extLst>
          </p:cNvPr>
          <p:cNvSpPr/>
          <p:nvPr/>
        </p:nvSpPr>
        <p:spPr>
          <a:xfrm>
            <a:off x="5796136" y="1921396"/>
            <a:ext cx="1008112" cy="5844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CC2148-021A-7E43-9C57-EFDB710F6314}"/>
              </a:ext>
            </a:extLst>
          </p:cNvPr>
          <p:cNvSpPr txBox="1"/>
          <p:nvPr/>
        </p:nvSpPr>
        <p:spPr>
          <a:xfrm>
            <a:off x="6156176" y="451368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87AC364A-4576-014F-98F5-CA2AC3BEC95B}"/>
              </a:ext>
            </a:extLst>
          </p:cNvPr>
          <p:cNvCxnSpPr>
            <a:stCxn id="16" idx="1"/>
            <a:endCxn id="18" idx="3"/>
          </p:cNvCxnSpPr>
          <p:nvPr/>
        </p:nvCxnSpPr>
        <p:spPr>
          <a:xfrm flipH="1">
            <a:off x="6948264" y="4225652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833912FC-7B07-5648-B13F-340D83004A06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300192" y="2505844"/>
            <a:ext cx="0" cy="567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863CF49-6317-D841-A7F7-C9479C695588}"/>
              </a:ext>
            </a:extLst>
          </p:cNvPr>
          <p:cNvSpPr txBox="1"/>
          <p:nvPr/>
        </p:nvSpPr>
        <p:spPr>
          <a:xfrm>
            <a:off x="7164288" y="400962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0384D28-A667-134E-B940-7E5996B0AF5E}"/>
              </a:ext>
            </a:extLst>
          </p:cNvPr>
          <p:cNvSpPr txBox="1"/>
          <p:nvPr/>
        </p:nvSpPr>
        <p:spPr>
          <a:xfrm>
            <a:off x="6228184" y="256946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Virtual</a:t>
            </a:r>
          </a:p>
          <a:p>
            <a:r>
              <a:rPr kumimoji="1" lang="en-US" altLang="zh-CN" sz="1200" dirty="0"/>
              <a:t>Interrupt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398D20C-35F5-0A4B-B74D-5ECD999952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9872" y="4009628"/>
            <a:ext cx="648072" cy="583568"/>
          </a:xfrm>
          <a:prstGeom prst="rect">
            <a:avLst/>
          </a:prstGeom>
        </p:spPr>
      </p:pic>
      <p:sp>
        <p:nvSpPr>
          <p:cNvPr id="36" name="Rectangle 22">
            <a:extLst>
              <a:ext uri="{FF2B5EF4-FFF2-40B4-BE49-F238E27FC236}">
                <a16:creationId xmlns:a16="http://schemas.microsoft.com/office/drawing/2014/main" id="{A2DEB5A8-F659-AD40-B548-9706CAF61B4D}"/>
              </a:ext>
            </a:extLst>
          </p:cNvPr>
          <p:cNvSpPr/>
          <p:nvPr/>
        </p:nvSpPr>
        <p:spPr>
          <a:xfrm>
            <a:off x="683568" y="3649588"/>
            <a:ext cx="1728192" cy="86409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834AF-64AC-3946-92D8-7ABBCEB82EFC}"/>
              </a:ext>
            </a:extLst>
          </p:cNvPr>
          <p:cNvSpPr/>
          <p:nvPr/>
        </p:nvSpPr>
        <p:spPr>
          <a:xfrm>
            <a:off x="1043608" y="1417340"/>
            <a:ext cx="1008112" cy="5844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105DAE5-2DFF-A246-AC25-5DB7CCD3D905}"/>
              </a:ext>
            </a:extLst>
          </p:cNvPr>
          <p:cNvSpPr txBox="1"/>
          <p:nvPr/>
        </p:nvSpPr>
        <p:spPr>
          <a:xfrm>
            <a:off x="1259632" y="451368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0AE471B9-C47F-9248-AED2-949FE6FC465A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2195736" y="4301412"/>
            <a:ext cx="12241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1AF65C5E-9252-AC49-9B51-83CCAA817ADD}"/>
              </a:ext>
            </a:extLst>
          </p:cNvPr>
          <p:cNvCxnSpPr>
            <a:cxnSpLocks/>
            <a:stCxn id="55" idx="0"/>
            <a:endCxn id="46" idx="2"/>
          </p:cNvCxnSpPr>
          <p:nvPr/>
        </p:nvCxnSpPr>
        <p:spPr>
          <a:xfrm flipV="1">
            <a:off x="1547664" y="3001516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3A3E890-4991-A041-9D4D-ED0838D7074F}"/>
              </a:ext>
            </a:extLst>
          </p:cNvPr>
          <p:cNvSpPr txBox="1"/>
          <p:nvPr/>
        </p:nvSpPr>
        <p:spPr>
          <a:xfrm>
            <a:off x="2411760" y="4081636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41930579-2FEE-AC4F-B5CC-D292B2BC51C2}"/>
              </a:ext>
            </a:extLst>
          </p:cNvPr>
          <p:cNvSpPr/>
          <p:nvPr/>
        </p:nvSpPr>
        <p:spPr>
          <a:xfrm>
            <a:off x="899592" y="271348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471276-0406-5747-81FE-9BD5F301A038}"/>
              </a:ext>
            </a:extLst>
          </p:cNvPr>
          <p:cNvSpPr txBox="1"/>
          <p:nvPr/>
        </p:nvSpPr>
        <p:spPr>
          <a:xfrm>
            <a:off x="1475656" y="3073524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AA0C0590-F297-4C4B-BFAF-D7441D9B6D4B}"/>
              </a:ext>
            </a:extLst>
          </p:cNvPr>
          <p:cNvCxnSpPr>
            <a:cxnSpLocks/>
            <a:stCxn id="46" idx="0"/>
            <a:endCxn id="38" idx="2"/>
          </p:cNvCxnSpPr>
          <p:nvPr/>
        </p:nvCxnSpPr>
        <p:spPr>
          <a:xfrm flipV="1">
            <a:off x="1547664" y="2001788"/>
            <a:ext cx="0" cy="711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91A2F-5613-4A46-A989-DD25F284E159}"/>
              </a:ext>
            </a:extLst>
          </p:cNvPr>
          <p:cNvSpPr txBox="1"/>
          <p:nvPr/>
        </p:nvSpPr>
        <p:spPr>
          <a:xfrm>
            <a:off x="1475656" y="2137420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Virtual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53" name="Rectangle 22">
            <a:extLst>
              <a:ext uri="{FF2B5EF4-FFF2-40B4-BE49-F238E27FC236}">
                <a16:creationId xmlns:a16="http://schemas.microsoft.com/office/drawing/2014/main" id="{3C1CAB9D-C258-674C-87BE-26ED5685B85E}"/>
              </a:ext>
            </a:extLst>
          </p:cNvPr>
          <p:cNvSpPr/>
          <p:nvPr/>
        </p:nvSpPr>
        <p:spPr>
          <a:xfrm>
            <a:off x="899592" y="415364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Distributor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5" name="Rectangle 22">
            <a:extLst>
              <a:ext uri="{FF2B5EF4-FFF2-40B4-BE49-F238E27FC236}">
                <a16:creationId xmlns:a16="http://schemas.microsoft.com/office/drawing/2014/main" id="{6357166C-6B95-424D-8422-9FA2F71CC0DB}"/>
              </a:ext>
            </a:extLst>
          </p:cNvPr>
          <p:cNvSpPr/>
          <p:nvPr/>
        </p:nvSpPr>
        <p:spPr>
          <a:xfrm>
            <a:off x="899592" y="3649588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cs typeface="Arial Narrow"/>
              </a:rPr>
              <a:t>CPU</a:t>
            </a:r>
            <a:r>
              <a:rPr lang="zh-CN" altLang="en-US" sz="12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cs typeface="Arial Narrow"/>
              </a:rPr>
              <a:t>Interface</a:t>
            </a:r>
            <a:endParaRPr lang="en-US" sz="12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995C9D86-9396-7442-ADB1-CD320B642BA9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1547664" y="3937620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22">
            <a:extLst>
              <a:ext uri="{FF2B5EF4-FFF2-40B4-BE49-F238E27FC236}">
                <a16:creationId xmlns:a16="http://schemas.microsoft.com/office/drawing/2014/main" id="{3B77C138-2246-FA4D-9636-8F6AD5584A66}"/>
              </a:ext>
            </a:extLst>
          </p:cNvPr>
          <p:cNvSpPr/>
          <p:nvPr/>
        </p:nvSpPr>
        <p:spPr>
          <a:xfrm>
            <a:off x="5652120" y="307352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Virtual</a:t>
            </a:r>
            <a:r>
              <a:rPr lang="zh-CN" altLang="en-US" sz="10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CPU</a:t>
            </a:r>
            <a:r>
              <a:rPr lang="zh-CN" altLang="en-US" sz="10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Interface</a:t>
            </a:r>
            <a:endParaRPr lang="en-US" sz="10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63" name="Rectangle 22">
            <a:extLst>
              <a:ext uri="{FF2B5EF4-FFF2-40B4-BE49-F238E27FC236}">
                <a16:creationId xmlns:a16="http://schemas.microsoft.com/office/drawing/2014/main" id="{5864E60D-0211-A44E-8098-C8BCB1ABD827}"/>
              </a:ext>
            </a:extLst>
          </p:cNvPr>
          <p:cNvSpPr/>
          <p:nvPr/>
        </p:nvSpPr>
        <p:spPr>
          <a:xfrm>
            <a:off x="5652120" y="3577580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Redistributor</a:t>
            </a:r>
            <a:endParaRPr lang="en-US" sz="10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DA4DD63E-2B83-AD43-A072-E27EDF417519}"/>
              </a:ext>
            </a:extLst>
          </p:cNvPr>
          <p:cNvCxnSpPr>
            <a:cxnSpLocks/>
          </p:cNvCxnSpPr>
          <p:nvPr/>
        </p:nvCxnSpPr>
        <p:spPr>
          <a:xfrm flipV="1">
            <a:off x="6300192" y="3865612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77CB4471-D525-5D4F-A118-EA4824680602}"/>
              </a:ext>
            </a:extLst>
          </p:cNvPr>
          <p:cNvCxnSpPr>
            <a:cxnSpLocks/>
          </p:cNvCxnSpPr>
          <p:nvPr/>
        </p:nvCxnSpPr>
        <p:spPr>
          <a:xfrm flipV="1">
            <a:off x="6300192" y="3361556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13">
            <a:extLst>
              <a:ext uri="{FF2B5EF4-FFF2-40B4-BE49-F238E27FC236}">
                <a16:creationId xmlns:a16="http://schemas.microsoft.com/office/drawing/2014/main" id="{9E44F8DE-5A66-D749-A6BB-0B4394AF9847}"/>
              </a:ext>
            </a:extLst>
          </p:cNvPr>
          <p:cNvCxnSpPr>
            <a:cxnSpLocks/>
          </p:cNvCxnSpPr>
          <p:nvPr/>
        </p:nvCxnSpPr>
        <p:spPr>
          <a:xfrm>
            <a:off x="4644008" y="1057300"/>
            <a:ext cx="0" cy="4176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F770F25E-7A49-F847-ADA5-D6EC6B64775F}"/>
              </a:ext>
            </a:extLst>
          </p:cNvPr>
          <p:cNvSpPr txBox="1"/>
          <p:nvPr/>
        </p:nvSpPr>
        <p:spPr>
          <a:xfrm>
            <a:off x="1187624" y="5017740"/>
            <a:ext cx="266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GICv3</a:t>
            </a:r>
            <a:r>
              <a:rPr kumimoji="1" lang="zh-CN" altLang="en-US" dirty="0"/>
              <a:t>中的物理中断插入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9716956-6A2E-5548-B952-7093D6B21F84}"/>
              </a:ext>
            </a:extLst>
          </p:cNvPr>
          <p:cNvSpPr txBox="1"/>
          <p:nvPr/>
        </p:nvSpPr>
        <p:spPr>
          <a:xfrm>
            <a:off x="5292080" y="4945732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GICv4</a:t>
            </a:r>
            <a:r>
              <a:rPr kumimoji="1" lang="zh-CN" altLang="en-US" dirty="0"/>
              <a:t>中的物理中断插入</a:t>
            </a:r>
          </a:p>
        </p:txBody>
      </p:sp>
    </p:spTree>
    <p:extLst>
      <p:ext uri="{BB962C8B-B14F-4D97-AF65-F5344CB8AC3E}">
        <p14:creationId xmlns:p14="http://schemas.microsoft.com/office/powerpoint/2010/main" val="352258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55499</TotalTime>
  <Words>2978</Words>
  <Application>Microsoft Macintosh PowerPoint</Application>
  <PresentationFormat>全屏显示(16:10)</PresentationFormat>
  <Paragraphs>690</Paragraphs>
  <Slides>46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2" baseType="lpstr">
      <vt:lpstr>等线</vt:lpstr>
      <vt:lpstr>等线</vt:lpstr>
      <vt:lpstr>微软雅黑</vt:lpstr>
      <vt:lpstr>Arial</vt:lpstr>
      <vt:lpstr>Calibri</vt:lpstr>
      <vt:lpstr>Office 主题​​</vt:lpstr>
      <vt:lpstr>I/O虚拟化</vt:lpstr>
      <vt:lpstr>版权声明</vt:lpstr>
      <vt:lpstr>三种地址</vt:lpstr>
      <vt:lpstr>3、硬件虚拟化对内存翻译的支持</vt:lpstr>
      <vt:lpstr>第二阶段页表</vt:lpstr>
      <vt:lpstr>第二阶段4级页表</vt:lpstr>
      <vt:lpstr>VTTBR_EL2</vt:lpstr>
      <vt:lpstr>第二阶段页表项</vt:lpstr>
      <vt:lpstr>翻译过程</vt:lpstr>
      <vt:lpstr>TLB：缓存地址翻译结果</vt:lpstr>
      <vt:lpstr>TLB刷新</vt:lpstr>
      <vt:lpstr>如何处理缺页异常</vt:lpstr>
      <vt:lpstr>第二阶段页表的优缺点</vt:lpstr>
      <vt:lpstr>如何实现虚拟机级别的内存换页？</vt:lpstr>
      <vt:lpstr>内存气球机制</vt:lpstr>
      <vt:lpstr>I/O虚拟化</vt:lpstr>
      <vt:lpstr>为什么需要IO虚拟化</vt:lpstr>
      <vt:lpstr>如果VM直接管理物理网卡</vt:lpstr>
      <vt:lpstr>I/O虚拟化的目标</vt:lpstr>
      <vt:lpstr>怎么实现I/O虚拟化?</vt:lpstr>
      <vt:lpstr>方法1：设备模拟</vt:lpstr>
      <vt:lpstr>例：QEMU/KVM设备模拟1</vt:lpstr>
      <vt:lpstr>例：QEMU/KVM设备模拟2</vt:lpstr>
      <vt:lpstr>设备模拟的优缺点</vt:lpstr>
      <vt:lpstr>方法2：半虚拟化方式</vt:lpstr>
      <vt:lpstr>VirtIO: Unified Para-virtualized I/O</vt:lpstr>
      <vt:lpstr>Virtqueue</vt:lpstr>
      <vt:lpstr>例：QEMU/KVM半虚拟化：发网络包 </vt:lpstr>
      <vt:lpstr>例：QEMU/KVM半虚拟化：收网络包 </vt:lpstr>
      <vt:lpstr>半虚拟化方式的优缺点</vt:lpstr>
      <vt:lpstr>方法3：设备直通</vt:lpstr>
      <vt:lpstr>问题1：DMA恶意读写内存</vt:lpstr>
      <vt:lpstr>使用IOMMU</vt:lpstr>
      <vt:lpstr>IOMMU与MMU</vt:lpstr>
      <vt:lpstr>ARM SMMU</vt:lpstr>
      <vt:lpstr>问题2：设备独占</vt:lpstr>
      <vt:lpstr>Single Root I/O Virtualization (SR-IOV)</vt:lpstr>
      <vt:lpstr>SR-IOV的使用</vt:lpstr>
      <vt:lpstr>设备直通的优缺点</vt:lpstr>
      <vt:lpstr>I/O虚拟化技术对比</vt:lpstr>
      <vt:lpstr>中断虚拟化</vt:lpstr>
      <vt:lpstr>ARM中断虚拟化的实现方法</vt:lpstr>
      <vt:lpstr>Virtual CPU Interface</vt:lpstr>
      <vt:lpstr>插入虚拟中断：以半虚拟化举例</vt:lpstr>
      <vt:lpstr>不打断虚拟机执行：GIC ITS</vt:lpstr>
      <vt:lpstr>虚拟中断的直接插入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5124</cp:revision>
  <cp:lastPrinted>2016-06-13T07:55:34Z</cp:lastPrinted>
  <dcterms:created xsi:type="dcterms:W3CDTF">2017-11-24T09:35:45Z</dcterms:created>
  <dcterms:modified xsi:type="dcterms:W3CDTF">2024-06-14T15:22:59Z</dcterms:modified>
</cp:coreProperties>
</file>