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2" r:id="rId2"/>
  </p:sldMasterIdLst>
  <p:notesMasterIdLst>
    <p:notesMasterId r:id="rId88"/>
  </p:notesMasterIdLst>
  <p:handoutMasterIdLst>
    <p:handoutMasterId r:id="rId89"/>
  </p:handoutMasterIdLst>
  <p:sldIdLst>
    <p:sldId id="2241" r:id="rId3"/>
    <p:sldId id="2275" r:id="rId4"/>
    <p:sldId id="1266" r:id="rId5"/>
    <p:sldId id="1267" r:id="rId6"/>
    <p:sldId id="1268" r:id="rId7"/>
    <p:sldId id="1269" r:id="rId8"/>
    <p:sldId id="1270" r:id="rId9"/>
    <p:sldId id="1272" r:id="rId10"/>
    <p:sldId id="1273" r:id="rId11"/>
    <p:sldId id="2276" r:id="rId12"/>
    <p:sldId id="1318" r:id="rId13"/>
    <p:sldId id="1319" r:id="rId14"/>
    <p:sldId id="1271" r:id="rId15"/>
    <p:sldId id="1325" r:id="rId16"/>
    <p:sldId id="1329" r:id="rId17"/>
    <p:sldId id="1327" r:id="rId18"/>
    <p:sldId id="1328" r:id="rId19"/>
    <p:sldId id="2277" r:id="rId20"/>
    <p:sldId id="1283" r:id="rId21"/>
    <p:sldId id="1284" r:id="rId22"/>
    <p:sldId id="1285" r:id="rId23"/>
    <p:sldId id="1286" r:id="rId24"/>
    <p:sldId id="1287" r:id="rId25"/>
    <p:sldId id="1288" r:id="rId26"/>
    <p:sldId id="1289" r:id="rId27"/>
    <p:sldId id="1291" r:id="rId28"/>
    <p:sldId id="1292" r:id="rId29"/>
    <p:sldId id="1296" r:id="rId30"/>
    <p:sldId id="2278" r:id="rId31"/>
    <p:sldId id="1299" r:id="rId32"/>
    <p:sldId id="1300" r:id="rId33"/>
    <p:sldId id="1301" r:id="rId34"/>
    <p:sldId id="1302" r:id="rId35"/>
    <p:sldId id="1303" r:id="rId36"/>
    <p:sldId id="1304" r:id="rId37"/>
    <p:sldId id="2685" r:id="rId38"/>
    <p:sldId id="2612" r:id="rId39"/>
    <p:sldId id="2613" r:id="rId40"/>
    <p:sldId id="2621" r:id="rId41"/>
    <p:sldId id="2686" r:id="rId42"/>
    <p:sldId id="1367" r:id="rId43"/>
    <p:sldId id="2683" r:id="rId44"/>
    <p:sldId id="2684" r:id="rId45"/>
    <p:sldId id="2279" r:id="rId46"/>
    <p:sldId id="2262" r:id="rId47"/>
    <p:sldId id="2270" r:id="rId48"/>
    <p:sldId id="1162" r:id="rId49"/>
    <p:sldId id="1170" r:id="rId50"/>
    <p:sldId id="1171" r:id="rId51"/>
    <p:sldId id="2272" r:id="rId52"/>
    <p:sldId id="2671" r:id="rId53"/>
    <p:sldId id="1159" r:id="rId54"/>
    <p:sldId id="2271" r:id="rId55"/>
    <p:sldId id="2669" r:id="rId56"/>
    <p:sldId id="2688" r:id="rId57"/>
    <p:sldId id="2687" r:id="rId58"/>
    <p:sldId id="2691" r:id="rId59"/>
    <p:sldId id="2690" r:id="rId60"/>
    <p:sldId id="2692" r:id="rId61"/>
    <p:sldId id="2693" r:id="rId62"/>
    <p:sldId id="2694" r:id="rId63"/>
    <p:sldId id="2280" r:id="rId64"/>
    <p:sldId id="2263" r:id="rId65"/>
    <p:sldId id="2264" r:id="rId66"/>
    <p:sldId id="2265" r:id="rId67"/>
    <p:sldId id="2266" r:id="rId68"/>
    <p:sldId id="2267" r:id="rId69"/>
    <p:sldId id="2268" r:id="rId70"/>
    <p:sldId id="2681" r:id="rId71"/>
    <p:sldId id="2664" r:id="rId72"/>
    <p:sldId id="2660" r:id="rId73"/>
    <p:sldId id="820" r:id="rId74"/>
    <p:sldId id="2663" r:id="rId75"/>
    <p:sldId id="831" r:id="rId76"/>
    <p:sldId id="832" r:id="rId77"/>
    <p:sldId id="833" r:id="rId78"/>
    <p:sldId id="834" r:id="rId79"/>
    <p:sldId id="835" r:id="rId80"/>
    <p:sldId id="836" r:id="rId81"/>
    <p:sldId id="837" r:id="rId82"/>
    <p:sldId id="838" r:id="rId83"/>
    <p:sldId id="839" r:id="rId84"/>
    <p:sldId id="840" r:id="rId85"/>
    <p:sldId id="841" r:id="rId86"/>
    <p:sldId id="842" r:id="rId87"/>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104C"/>
    <a:srgbClr val="7030A0"/>
    <a:srgbClr val="A5A5E9"/>
    <a:srgbClr val="FF7F7F"/>
    <a:srgbClr val="0432FF"/>
    <a:srgbClr val="73FEFF"/>
    <a:srgbClr val="941100"/>
    <a:srgbClr val="212121"/>
    <a:srgbClr val="005493"/>
    <a:srgbClr val="FF2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55" autoAdjust="0"/>
    <p:restoredTop sz="75306" autoAdjust="0"/>
  </p:normalViewPr>
  <p:slideViewPr>
    <p:cSldViewPr>
      <p:cViewPr varScale="1">
        <p:scale>
          <a:sx n="108" d="100"/>
          <a:sy n="108" d="100"/>
        </p:scale>
        <p:origin x="1576" y="192"/>
      </p:cViewPr>
      <p:guideLst>
        <p:guide orient="horz" pos="2480"/>
        <p:guide pos="340"/>
        <p:guide pos="2880"/>
      </p:guideLst>
    </p:cSldViewPr>
  </p:slideViewPr>
  <p:outlineViewPr>
    <p:cViewPr>
      <p:scale>
        <a:sx n="33" d="100"/>
        <a:sy n="33" d="100"/>
      </p:scale>
      <p:origin x="0" y="-5720"/>
    </p:cViewPr>
  </p:outlineViewPr>
  <p:notesTextViewPr>
    <p:cViewPr>
      <p:scale>
        <a:sx n="65" d="100"/>
        <a:sy n="65" d="100"/>
      </p:scale>
      <p:origin x="0" y="0"/>
    </p:cViewPr>
  </p:notesTextViewPr>
  <p:sorterViewPr>
    <p:cViewPr>
      <p:scale>
        <a:sx n="66" d="100"/>
        <a:sy n="66" d="100"/>
      </p:scale>
      <p:origin x="0" y="0"/>
    </p:cViewPr>
  </p:sorterViewPr>
  <p:notesViewPr>
    <p:cSldViewPr>
      <p:cViewPr varScale="1">
        <p:scale>
          <a:sx n="85" d="100"/>
          <a:sy n="85" d="100"/>
        </p:scale>
        <p:origin x="2720"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handoutMaster" Target="handoutMasters/handout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7982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DB988449-CE53-40E5-B570-652DCF11BC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FA6B6E53-B49D-4586-AD96-13ADBF874C70}" type="slidenum">
              <a:rPr lang="zh-CN" altLang="en-US" sz="1200" b="0" smtClean="0">
                <a:latin typeface="Times New Roman" panose="02020603050405020304" pitchFamily="18" charset="0"/>
              </a:rPr>
              <a:pPr/>
              <a:t>3</a:t>
            </a:fld>
            <a:endParaRPr lang="en-US" altLang="zh-CN"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E9B39B53-1B32-4ED7-A634-5B4F58B810D7}"/>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95DD1476-39E7-4231-A490-E8B6759DF5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42560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5D1BC938-4F51-43A5-B500-4E2384B838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16BCCBF8-396C-4CF7-A3B4-4E44D9F50FE4}" type="slidenum">
              <a:rPr lang="zh-CN" altLang="en-US" sz="1200" b="0" smtClean="0">
                <a:latin typeface="Times New Roman" panose="02020603050405020304" pitchFamily="18" charset="0"/>
              </a:rPr>
              <a:pPr/>
              <a:t>4</a:t>
            </a:fld>
            <a:endParaRPr lang="en-US" altLang="zh-CN" sz="1200" b="0">
              <a:latin typeface="Times New Roman" panose="02020603050405020304" pitchFamily="18" charset="0"/>
            </a:endParaRPr>
          </a:p>
        </p:txBody>
      </p:sp>
      <p:sp>
        <p:nvSpPr>
          <p:cNvPr id="60419" name="Rectangle 2">
            <a:extLst>
              <a:ext uri="{FF2B5EF4-FFF2-40B4-BE49-F238E27FC236}">
                <a16:creationId xmlns:a16="http://schemas.microsoft.com/office/drawing/2014/main" id="{D636A6E8-14DC-4A70-91D2-7A4B09365F8C}"/>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4BA4CBDC-4A0A-4633-86F2-21E89B6CEA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93757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71CBAA74-C7E2-47E7-B05C-B60C926599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6BCCCB4E-83A6-450C-B0F7-4BC2B7737B0F}" type="slidenum">
              <a:rPr lang="zh-CN" altLang="en-US" sz="1200" b="0" smtClean="0">
                <a:latin typeface="Times New Roman" panose="02020603050405020304" pitchFamily="18" charset="0"/>
              </a:rPr>
              <a:pPr/>
              <a:t>5</a:t>
            </a:fld>
            <a:endParaRPr lang="en-US" altLang="zh-CN" sz="1200" b="0">
              <a:latin typeface="Times New Roman" panose="02020603050405020304" pitchFamily="18" charset="0"/>
            </a:endParaRPr>
          </a:p>
        </p:txBody>
      </p:sp>
      <p:sp>
        <p:nvSpPr>
          <p:cNvPr id="62467" name="Rectangle 2">
            <a:extLst>
              <a:ext uri="{FF2B5EF4-FFF2-40B4-BE49-F238E27FC236}">
                <a16:creationId xmlns:a16="http://schemas.microsoft.com/office/drawing/2014/main" id="{63688141-1D61-472A-ABB7-F6E5BE82EC55}"/>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44738611-87D9-4F0C-BC91-E705886E8B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262755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36242FF-F5DE-40DB-AABC-419D817716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B225A024-9DF3-4D21-B429-25618DD1A76C}" type="slidenum">
              <a:rPr lang="zh-CN" altLang="en-US" sz="1200" b="0" smtClean="0">
                <a:latin typeface="Times New Roman" panose="02020603050405020304" pitchFamily="18" charset="0"/>
              </a:rPr>
              <a:pPr/>
              <a:t>6</a:t>
            </a:fld>
            <a:endParaRPr lang="en-US" altLang="zh-CN" sz="1200" b="0">
              <a:latin typeface="Times New Roman" panose="02020603050405020304" pitchFamily="18" charset="0"/>
            </a:endParaRPr>
          </a:p>
        </p:txBody>
      </p:sp>
      <p:sp>
        <p:nvSpPr>
          <p:cNvPr id="64515" name="Rectangle 2">
            <a:extLst>
              <a:ext uri="{FF2B5EF4-FFF2-40B4-BE49-F238E27FC236}">
                <a16:creationId xmlns:a16="http://schemas.microsoft.com/office/drawing/2014/main" id="{3FB829FF-03BD-464F-B356-4BBB1D8BF655}"/>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7AFA8362-C5CF-405E-8CAC-0099A9F7DF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51311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E25F237-54DA-477E-B2CF-866A3AC48E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8D23B764-23BB-44B5-9487-F2517638E784}" type="slidenum">
              <a:rPr lang="zh-CN" altLang="en-US" sz="1200" b="0" smtClean="0">
                <a:latin typeface="Times New Roman" panose="02020603050405020304" pitchFamily="18" charset="0"/>
              </a:rPr>
              <a:pPr/>
              <a:t>7</a:t>
            </a:fld>
            <a:endParaRPr lang="en-US" altLang="zh-CN" sz="1200" b="0">
              <a:latin typeface="Times New Roman" panose="02020603050405020304" pitchFamily="18" charset="0"/>
            </a:endParaRPr>
          </a:p>
        </p:txBody>
      </p:sp>
      <p:sp>
        <p:nvSpPr>
          <p:cNvPr id="66563" name="Rectangle 2">
            <a:extLst>
              <a:ext uri="{FF2B5EF4-FFF2-40B4-BE49-F238E27FC236}">
                <a16:creationId xmlns:a16="http://schemas.microsoft.com/office/drawing/2014/main" id="{09694ED6-FD45-424A-BAE6-35C8B8D3AA0E}"/>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7A413C82-63F0-4465-A262-E82C100BA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100718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F3D5207A-E9E8-4789-9316-E1E0859713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106A9A49-9A62-4AA0-85A4-459E97C60388}" type="slidenum">
              <a:rPr lang="zh-CN" altLang="en-US" sz="1200" b="0" smtClean="0">
                <a:latin typeface="Times New Roman" panose="02020603050405020304" pitchFamily="18" charset="0"/>
              </a:rPr>
              <a:pPr/>
              <a:t>8</a:t>
            </a:fld>
            <a:endParaRPr lang="en-US" altLang="zh-CN" sz="1200" b="0">
              <a:latin typeface="Times New Roman" panose="02020603050405020304" pitchFamily="18" charset="0"/>
            </a:endParaRPr>
          </a:p>
        </p:txBody>
      </p:sp>
      <p:sp>
        <p:nvSpPr>
          <p:cNvPr id="68611" name="Rectangle 2">
            <a:extLst>
              <a:ext uri="{FF2B5EF4-FFF2-40B4-BE49-F238E27FC236}">
                <a16:creationId xmlns:a16="http://schemas.microsoft.com/office/drawing/2014/main" id="{EC7C17D8-714A-41B4-A1B6-EA4A2651A229}"/>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D6ADCCBC-E6E7-4063-B88E-CF4EB86BAE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88242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09EA147F-8515-4DDB-92B0-B36B74EC67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CC62C81E-AF79-4410-BB94-89D8206FE744}" type="slidenum">
              <a:rPr lang="zh-CN" altLang="en-US" sz="1200" b="0" smtClean="0">
                <a:latin typeface="Times New Roman" panose="02020603050405020304" pitchFamily="18" charset="0"/>
              </a:rPr>
              <a:pPr/>
              <a:t>9</a:t>
            </a:fld>
            <a:endParaRPr lang="en-US" altLang="zh-CN" sz="1200" b="0">
              <a:latin typeface="Times New Roman" panose="02020603050405020304" pitchFamily="18" charset="0"/>
            </a:endParaRPr>
          </a:p>
        </p:txBody>
      </p:sp>
      <p:sp>
        <p:nvSpPr>
          <p:cNvPr id="70659" name="Rectangle 2">
            <a:extLst>
              <a:ext uri="{FF2B5EF4-FFF2-40B4-BE49-F238E27FC236}">
                <a16:creationId xmlns:a16="http://schemas.microsoft.com/office/drawing/2014/main" id="{53878612-B7A0-4164-B195-DBA64F610B8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897A71FB-E7EF-4A99-9D6E-EBDBCE6013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462477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540A963E-5161-424F-A1B2-A439BE676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C2868BC5-4C6B-4414-A68C-2AA8115E216C}" type="slidenum">
              <a:rPr lang="zh-CN" altLang="en-US" sz="1200" b="0" smtClean="0">
                <a:latin typeface="Times New Roman" panose="02020603050405020304" pitchFamily="18" charset="0"/>
              </a:rPr>
              <a:pPr/>
              <a:t>11</a:t>
            </a:fld>
            <a:endParaRPr lang="en-US" altLang="zh-CN" sz="1200" b="0">
              <a:latin typeface="Times New Roman" panose="02020603050405020304" pitchFamily="18" charset="0"/>
            </a:endParaRPr>
          </a:p>
        </p:txBody>
      </p:sp>
      <p:sp>
        <p:nvSpPr>
          <p:cNvPr id="74755" name="Rectangle 2">
            <a:extLst>
              <a:ext uri="{FF2B5EF4-FFF2-40B4-BE49-F238E27FC236}">
                <a16:creationId xmlns:a16="http://schemas.microsoft.com/office/drawing/2014/main" id="{21BA29C9-F7A2-4A66-A36E-13B2EC5D4C5F}"/>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87C4E2E1-105C-459A-8EC9-3E89262C1B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42322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932C9022-2D18-4AF4-9153-18B1CB1CF6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FCBE44E9-780A-41C5-B96D-B825C984262F}" type="slidenum">
              <a:rPr lang="zh-CN" altLang="en-US" sz="1200" b="0" smtClean="0">
                <a:latin typeface="Times New Roman" panose="02020603050405020304" pitchFamily="18" charset="0"/>
              </a:rPr>
              <a:pPr/>
              <a:t>12</a:t>
            </a:fld>
            <a:endParaRPr lang="en-US" altLang="zh-CN" sz="1200" b="0">
              <a:latin typeface="Times New Roman" panose="02020603050405020304" pitchFamily="18" charset="0"/>
            </a:endParaRPr>
          </a:p>
        </p:txBody>
      </p:sp>
      <p:sp>
        <p:nvSpPr>
          <p:cNvPr id="76803" name="Rectangle 2">
            <a:extLst>
              <a:ext uri="{FF2B5EF4-FFF2-40B4-BE49-F238E27FC236}">
                <a16:creationId xmlns:a16="http://schemas.microsoft.com/office/drawing/2014/main" id="{029C8190-6401-4E2F-9ABB-64C9573FAEFE}"/>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BD77854D-0CA9-4D25-A9F5-4B29D32951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361412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A85D0DA9-DA8A-4576-AA09-F8A26D19AB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49FA87F3-0CB8-4820-9E01-FF09B78F73AA}" type="slidenum">
              <a:rPr lang="zh-CN" altLang="en-US" sz="1200" b="0" smtClean="0">
                <a:latin typeface="Times New Roman" panose="02020603050405020304" pitchFamily="18" charset="0"/>
              </a:rPr>
              <a:pPr/>
              <a:t>13</a:t>
            </a:fld>
            <a:endParaRPr lang="en-US" altLang="zh-CN" sz="1200" b="0">
              <a:latin typeface="Times New Roman" panose="02020603050405020304" pitchFamily="18" charset="0"/>
            </a:endParaRPr>
          </a:p>
        </p:txBody>
      </p:sp>
      <p:sp>
        <p:nvSpPr>
          <p:cNvPr id="78851" name="Rectangle 2">
            <a:extLst>
              <a:ext uri="{FF2B5EF4-FFF2-40B4-BE49-F238E27FC236}">
                <a16:creationId xmlns:a16="http://schemas.microsoft.com/office/drawing/2014/main" id="{18FE912D-0994-4F54-9E36-E180C3EA822B}"/>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BB13E13B-C218-4013-AD9A-70C4A5DFC1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240986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8690C0CB-71B7-4470-A1C9-7A64F60EBE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AE40C676-8171-4482-A802-23136CF0715A}" type="slidenum">
              <a:rPr lang="zh-CN" altLang="en-US" sz="1200" b="0" smtClean="0">
                <a:latin typeface="Times New Roman" panose="02020603050405020304" pitchFamily="18" charset="0"/>
              </a:rPr>
              <a:pPr/>
              <a:t>14</a:t>
            </a:fld>
            <a:endParaRPr lang="en-US" altLang="zh-CN" sz="1200" b="0">
              <a:latin typeface="Times New Roman" panose="02020603050405020304" pitchFamily="18" charset="0"/>
            </a:endParaRPr>
          </a:p>
        </p:txBody>
      </p:sp>
      <p:sp>
        <p:nvSpPr>
          <p:cNvPr id="80899" name="Rectangle 2">
            <a:extLst>
              <a:ext uri="{FF2B5EF4-FFF2-40B4-BE49-F238E27FC236}">
                <a16:creationId xmlns:a16="http://schemas.microsoft.com/office/drawing/2014/main" id="{88F40AEB-8976-4710-9243-80CA4AD3BD75}"/>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AB8F21-4D0F-4DD8-B2E9-CC51A8518B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954833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7DDAD1FA-1362-44CE-908D-61E93EBCF2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7A7C4456-9031-4522-9520-E1B627335B37}" type="slidenum">
              <a:rPr lang="zh-CN" altLang="en-US" sz="1200" b="0" smtClean="0">
                <a:latin typeface="Times New Roman" panose="02020603050405020304" pitchFamily="18" charset="0"/>
              </a:rPr>
              <a:pPr/>
              <a:t>15</a:t>
            </a:fld>
            <a:endParaRPr lang="en-US" altLang="zh-CN" sz="1200" b="0">
              <a:latin typeface="Times New Roman" panose="02020603050405020304" pitchFamily="18" charset="0"/>
            </a:endParaRPr>
          </a:p>
        </p:txBody>
      </p:sp>
      <p:sp>
        <p:nvSpPr>
          <p:cNvPr id="82947" name="Rectangle 2">
            <a:extLst>
              <a:ext uri="{FF2B5EF4-FFF2-40B4-BE49-F238E27FC236}">
                <a16:creationId xmlns:a16="http://schemas.microsoft.com/office/drawing/2014/main" id="{54B1EDFE-9A59-4BD7-BE04-EE68754F1840}"/>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5966E826-BBAB-4F49-80B8-F9CBE4B331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880354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9247CE53-0EBA-4061-BB5B-D80A7EF0FE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A1971D45-5678-4C60-991D-3F95C72B64F2}" type="slidenum">
              <a:rPr lang="zh-CN" altLang="en-US" sz="1200" b="0" smtClean="0">
                <a:latin typeface="Times New Roman" panose="02020603050405020304" pitchFamily="18" charset="0"/>
              </a:rPr>
              <a:pPr/>
              <a:t>16</a:t>
            </a:fld>
            <a:endParaRPr lang="en-US" altLang="zh-CN" sz="1200" b="0">
              <a:latin typeface="Times New Roman" panose="02020603050405020304" pitchFamily="18" charset="0"/>
            </a:endParaRPr>
          </a:p>
        </p:txBody>
      </p:sp>
      <p:sp>
        <p:nvSpPr>
          <p:cNvPr id="84995" name="Rectangle 2">
            <a:extLst>
              <a:ext uri="{FF2B5EF4-FFF2-40B4-BE49-F238E27FC236}">
                <a16:creationId xmlns:a16="http://schemas.microsoft.com/office/drawing/2014/main" id="{9B765D5C-2D72-4563-9F2C-D5A88066D749}"/>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05154E56-7780-4392-851F-44BB6BBA75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454740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69409B3B-E6FD-4AE6-9265-8622C5EF78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107E5372-D322-4CC5-A270-01F3020A77B3}" type="slidenum">
              <a:rPr lang="zh-CN" altLang="en-US" sz="1200" b="0" smtClean="0">
                <a:latin typeface="Times New Roman" panose="02020603050405020304" pitchFamily="18" charset="0"/>
              </a:rPr>
              <a:pPr/>
              <a:t>17</a:t>
            </a:fld>
            <a:endParaRPr lang="en-US" altLang="zh-CN" sz="1200" b="0">
              <a:latin typeface="Times New Roman" panose="02020603050405020304" pitchFamily="18" charset="0"/>
            </a:endParaRPr>
          </a:p>
        </p:txBody>
      </p:sp>
      <p:sp>
        <p:nvSpPr>
          <p:cNvPr id="87043" name="Rectangle 2">
            <a:extLst>
              <a:ext uri="{FF2B5EF4-FFF2-40B4-BE49-F238E27FC236}">
                <a16:creationId xmlns:a16="http://schemas.microsoft.com/office/drawing/2014/main" id="{6951C62A-7A07-4BA5-8669-CB238919695C}"/>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F2156D00-78B9-4087-B05F-EE2B6A495A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486980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C03FABF7-A4FE-4C08-9362-D47EBFD991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2A272E56-2D2D-482E-BDF5-6B0B2208DCB1}" type="slidenum">
              <a:rPr lang="zh-CN" altLang="en-US" sz="1200" b="0" smtClean="0">
                <a:latin typeface="Times New Roman" panose="02020603050405020304" pitchFamily="18" charset="0"/>
              </a:rPr>
              <a:pPr/>
              <a:t>19</a:t>
            </a:fld>
            <a:endParaRPr lang="en-US" altLang="zh-CN" sz="1200" b="0">
              <a:latin typeface="Times New Roman" panose="02020603050405020304" pitchFamily="18" charset="0"/>
            </a:endParaRPr>
          </a:p>
        </p:txBody>
      </p:sp>
      <p:sp>
        <p:nvSpPr>
          <p:cNvPr id="93187" name="Rectangle 2">
            <a:extLst>
              <a:ext uri="{FF2B5EF4-FFF2-40B4-BE49-F238E27FC236}">
                <a16:creationId xmlns:a16="http://schemas.microsoft.com/office/drawing/2014/main" id="{EFD609B1-9089-4A44-8CC5-7C749F9A0285}"/>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AC6BB9AA-D4E5-4CE8-9738-C5E053B5FD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147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6F888131-1A76-4765-B1A4-CB6990CF18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2FBA3C92-5C63-486E-85ED-01C0DF42C56C}" type="slidenum">
              <a:rPr lang="zh-CN" altLang="en-US" sz="1200" b="0" smtClean="0">
                <a:latin typeface="Times New Roman" panose="02020603050405020304" pitchFamily="18" charset="0"/>
              </a:rPr>
              <a:pPr/>
              <a:t>20</a:t>
            </a:fld>
            <a:endParaRPr lang="en-US" altLang="zh-CN" sz="1200" b="0">
              <a:latin typeface="Times New Roman" panose="02020603050405020304" pitchFamily="18" charset="0"/>
            </a:endParaRPr>
          </a:p>
        </p:txBody>
      </p:sp>
      <p:sp>
        <p:nvSpPr>
          <p:cNvPr id="95235" name="Rectangle 2">
            <a:extLst>
              <a:ext uri="{FF2B5EF4-FFF2-40B4-BE49-F238E27FC236}">
                <a16:creationId xmlns:a16="http://schemas.microsoft.com/office/drawing/2014/main" id="{33DD2A01-EAE6-4C8E-A453-28474F42F0DF}"/>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6D0D2632-5C74-4A8F-9AF8-606626F315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831393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8257F174-AA4F-4312-A12A-57D086E295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DB05F812-D782-439A-9F33-70BF7C45E68D}" type="slidenum">
              <a:rPr lang="zh-CN" altLang="en-US" sz="1200" b="0" smtClean="0">
                <a:latin typeface="Times New Roman" panose="02020603050405020304" pitchFamily="18" charset="0"/>
              </a:rPr>
              <a:pPr/>
              <a:t>21</a:t>
            </a:fld>
            <a:endParaRPr lang="en-US" altLang="zh-CN" sz="1200" b="0">
              <a:latin typeface="Times New Roman" panose="02020603050405020304" pitchFamily="18" charset="0"/>
            </a:endParaRPr>
          </a:p>
        </p:txBody>
      </p:sp>
      <p:sp>
        <p:nvSpPr>
          <p:cNvPr id="97283" name="Rectangle 2">
            <a:extLst>
              <a:ext uri="{FF2B5EF4-FFF2-40B4-BE49-F238E27FC236}">
                <a16:creationId xmlns:a16="http://schemas.microsoft.com/office/drawing/2014/main" id="{A55C5FAD-8DA2-4495-B10A-3F9F34B830CD}"/>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5B7DAD74-8E86-4A89-BC06-AA3792C3A2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93183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A8730396-5415-48B1-85BD-51A1A83408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312268AE-730F-43BC-9B17-25332D370D7D}" type="slidenum">
              <a:rPr lang="zh-CN" altLang="en-US" sz="1200" b="0" smtClean="0">
                <a:latin typeface="Times New Roman" panose="02020603050405020304" pitchFamily="18" charset="0"/>
              </a:rPr>
              <a:pPr/>
              <a:t>22</a:t>
            </a:fld>
            <a:endParaRPr lang="en-US" altLang="zh-CN" sz="1200" b="0">
              <a:latin typeface="Times New Roman" panose="02020603050405020304" pitchFamily="18" charset="0"/>
            </a:endParaRPr>
          </a:p>
        </p:txBody>
      </p:sp>
      <p:sp>
        <p:nvSpPr>
          <p:cNvPr id="99331" name="Rectangle 2">
            <a:extLst>
              <a:ext uri="{FF2B5EF4-FFF2-40B4-BE49-F238E27FC236}">
                <a16:creationId xmlns:a16="http://schemas.microsoft.com/office/drawing/2014/main" id="{F45AFE92-DD4B-4E28-9FDC-0C901C9E15F1}"/>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D4C5F484-5076-4B2E-9102-985BC60887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76858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BC5686E4-5D7E-44A4-A984-1442916DD9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9EC4A4BC-F520-418A-9873-E16B37AE54B1}" type="slidenum">
              <a:rPr lang="zh-CN" altLang="en-US" sz="1200" b="0" smtClean="0">
                <a:latin typeface="Times New Roman" panose="02020603050405020304" pitchFamily="18" charset="0"/>
              </a:rPr>
              <a:pPr/>
              <a:t>23</a:t>
            </a:fld>
            <a:endParaRPr lang="en-US" altLang="zh-CN" sz="1200" b="0">
              <a:latin typeface="Times New Roman" panose="02020603050405020304" pitchFamily="18" charset="0"/>
            </a:endParaRPr>
          </a:p>
        </p:txBody>
      </p:sp>
      <p:sp>
        <p:nvSpPr>
          <p:cNvPr id="101379" name="Rectangle 2">
            <a:extLst>
              <a:ext uri="{FF2B5EF4-FFF2-40B4-BE49-F238E27FC236}">
                <a16:creationId xmlns:a16="http://schemas.microsoft.com/office/drawing/2014/main" id="{5CF598FF-65BF-49A6-85E4-95C958310D4E}"/>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BEFBA4BF-0B38-4F69-BB90-D2A1CBEDFD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930024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D6378634-09EF-44DF-B0DC-D8225064DA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7D1CD94E-CBBC-4FFF-8DA0-8EF8041466B4}" type="slidenum">
              <a:rPr lang="zh-CN" altLang="en-US" sz="1200" b="0" smtClean="0">
                <a:latin typeface="Times New Roman" panose="02020603050405020304" pitchFamily="18" charset="0"/>
              </a:rPr>
              <a:pPr/>
              <a:t>24</a:t>
            </a:fld>
            <a:endParaRPr lang="en-US" altLang="zh-CN" sz="1200" b="0">
              <a:latin typeface="Times New Roman" panose="02020603050405020304" pitchFamily="18" charset="0"/>
            </a:endParaRPr>
          </a:p>
        </p:txBody>
      </p:sp>
      <p:sp>
        <p:nvSpPr>
          <p:cNvPr id="103427" name="Rectangle 2">
            <a:extLst>
              <a:ext uri="{FF2B5EF4-FFF2-40B4-BE49-F238E27FC236}">
                <a16:creationId xmlns:a16="http://schemas.microsoft.com/office/drawing/2014/main" id="{21C8BAF1-497A-4A2C-86D5-2B9E964459BB}"/>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6DE33414-BBEB-4BB6-B03A-7DA36E8135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5636878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308B604E-6C3F-4FA8-B45C-B309CD09BD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FA516E12-FF0E-444D-A1A7-5F6696264781}" type="slidenum">
              <a:rPr lang="zh-CN" altLang="en-US" sz="1200" b="0" smtClean="0">
                <a:latin typeface="Times New Roman" panose="02020603050405020304" pitchFamily="18" charset="0"/>
              </a:rPr>
              <a:pPr/>
              <a:t>25</a:t>
            </a:fld>
            <a:endParaRPr lang="en-US" altLang="zh-CN" sz="1200" b="0">
              <a:latin typeface="Times New Roman" panose="02020603050405020304" pitchFamily="18" charset="0"/>
            </a:endParaRPr>
          </a:p>
        </p:txBody>
      </p:sp>
      <p:sp>
        <p:nvSpPr>
          <p:cNvPr id="105475" name="Rectangle 2">
            <a:extLst>
              <a:ext uri="{FF2B5EF4-FFF2-40B4-BE49-F238E27FC236}">
                <a16:creationId xmlns:a16="http://schemas.microsoft.com/office/drawing/2014/main" id="{17E4446C-DA07-41A1-87AE-D215E772DE7B}"/>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6D838306-F1A3-4D59-B6E3-F76C7F1C80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089517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406E49CC-C21F-4487-9A36-4096F6B687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6E6DF935-E191-4705-A15C-705021C38F4F}" type="slidenum">
              <a:rPr lang="zh-CN" altLang="en-US" sz="1200" b="0" smtClean="0">
                <a:latin typeface="Times New Roman" panose="02020603050405020304" pitchFamily="18" charset="0"/>
              </a:rPr>
              <a:pPr/>
              <a:t>26</a:t>
            </a:fld>
            <a:endParaRPr lang="en-US" altLang="zh-CN" sz="1200" b="0">
              <a:latin typeface="Times New Roman" panose="02020603050405020304" pitchFamily="18" charset="0"/>
            </a:endParaRPr>
          </a:p>
        </p:txBody>
      </p:sp>
      <p:sp>
        <p:nvSpPr>
          <p:cNvPr id="107523" name="Rectangle 2">
            <a:extLst>
              <a:ext uri="{FF2B5EF4-FFF2-40B4-BE49-F238E27FC236}">
                <a16:creationId xmlns:a16="http://schemas.microsoft.com/office/drawing/2014/main" id="{545BC9AA-4AD6-464C-B661-13956C74CE1F}"/>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3D187452-CEA6-4193-8DC6-B19C835C33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945706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9825AFA3-80C5-40AE-9B64-1E5A1CC7AE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17D112A3-A740-47E8-B18F-584ADF3B8D62}" type="slidenum">
              <a:rPr lang="zh-CN" altLang="en-US" sz="1200" b="0" smtClean="0">
                <a:latin typeface="Times New Roman" panose="02020603050405020304" pitchFamily="18" charset="0"/>
              </a:rPr>
              <a:pPr/>
              <a:t>27</a:t>
            </a:fld>
            <a:endParaRPr lang="en-US" altLang="zh-CN" sz="1200" b="0">
              <a:latin typeface="Times New Roman" panose="02020603050405020304" pitchFamily="18" charset="0"/>
            </a:endParaRPr>
          </a:p>
        </p:txBody>
      </p:sp>
      <p:sp>
        <p:nvSpPr>
          <p:cNvPr id="109571" name="Rectangle 2">
            <a:extLst>
              <a:ext uri="{FF2B5EF4-FFF2-40B4-BE49-F238E27FC236}">
                <a16:creationId xmlns:a16="http://schemas.microsoft.com/office/drawing/2014/main" id="{22323B09-E963-45CF-9C4F-23EF1532239A}"/>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F38A15DE-D1EF-4BDB-B21C-E1948E5EF4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950964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DBCFB9A2-917F-4447-BD63-7BCB0FAAF4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6EF5CC8F-F83B-4276-8623-823749331DF8}" type="slidenum">
              <a:rPr lang="zh-CN" altLang="en-US" sz="1200" b="0" smtClean="0">
                <a:latin typeface="Times New Roman" panose="02020603050405020304" pitchFamily="18" charset="0"/>
              </a:rPr>
              <a:pPr/>
              <a:t>28</a:t>
            </a:fld>
            <a:endParaRPr lang="en-US" altLang="zh-CN" sz="1200" b="0">
              <a:latin typeface="Times New Roman" panose="02020603050405020304" pitchFamily="18" charset="0"/>
            </a:endParaRPr>
          </a:p>
        </p:txBody>
      </p:sp>
      <p:sp>
        <p:nvSpPr>
          <p:cNvPr id="111619" name="Rectangle 2">
            <a:extLst>
              <a:ext uri="{FF2B5EF4-FFF2-40B4-BE49-F238E27FC236}">
                <a16:creationId xmlns:a16="http://schemas.microsoft.com/office/drawing/2014/main" id="{9D1B8E68-F626-495C-B8EE-E1713B01DEB6}"/>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1E686289-5371-4D35-A58E-7936E6E07B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68405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7E43C47D-A59C-44EC-926A-2579B66F8F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49452E37-79A4-4E79-8F40-CD64487DDD31}" type="slidenum">
              <a:rPr lang="zh-CN" altLang="en-US" sz="1200" b="0" smtClean="0">
                <a:latin typeface="Times New Roman" panose="02020603050405020304" pitchFamily="18" charset="0"/>
              </a:rPr>
              <a:pPr/>
              <a:t>30</a:t>
            </a:fld>
            <a:endParaRPr lang="en-US" altLang="zh-CN" sz="1200" b="0">
              <a:latin typeface="Times New Roman" panose="02020603050405020304" pitchFamily="18" charset="0"/>
            </a:endParaRPr>
          </a:p>
        </p:txBody>
      </p:sp>
      <p:sp>
        <p:nvSpPr>
          <p:cNvPr id="115715" name="Rectangle 2">
            <a:extLst>
              <a:ext uri="{FF2B5EF4-FFF2-40B4-BE49-F238E27FC236}">
                <a16:creationId xmlns:a16="http://schemas.microsoft.com/office/drawing/2014/main" id="{9D35B7A8-FEA0-4236-9B86-A41C0143F1AE}"/>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27C2E57B-201E-4B0B-9E12-2DAD9F0620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2820579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B55D5C38-C10B-42E8-946F-F133111A80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57A696BB-A3B3-444F-AFF6-F2165EDADC8F}" type="slidenum">
              <a:rPr lang="zh-CN" altLang="en-US" sz="1200" b="0" smtClean="0">
                <a:latin typeface="Times New Roman" panose="02020603050405020304" pitchFamily="18" charset="0"/>
              </a:rPr>
              <a:pPr/>
              <a:t>31</a:t>
            </a:fld>
            <a:endParaRPr lang="en-US" altLang="zh-CN" sz="1200" b="0">
              <a:latin typeface="Times New Roman" panose="02020603050405020304" pitchFamily="18" charset="0"/>
            </a:endParaRPr>
          </a:p>
        </p:txBody>
      </p:sp>
      <p:sp>
        <p:nvSpPr>
          <p:cNvPr id="117763" name="Rectangle 2">
            <a:extLst>
              <a:ext uri="{FF2B5EF4-FFF2-40B4-BE49-F238E27FC236}">
                <a16:creationId xmlns:a16="http://schemas.microsoft.com/office/drawing/2014/main" id="{4C1DEC9C-216D-4345-B3FC-53A4C84BCF80}"/>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C448162-A9BC-4120-AA5B-27E2A914E6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411576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2EECA901-DB81-40B3-B452-BF21707080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18FA6F0D-2F8D-4751-B626-0F3FC3C45B60}" type="slidenum">
              <a:rPr lang="zh-CN" altLang="en-US" sz="1200" b="0" smtClean="0">
                <a:latin typeface="Times New Roman" panose="02020603050405020304" pitchFamily="18" charset="0"/>
              </a:rPr>
              <a:pPr/>
              <a:t>32</a:t>
            </a:fld>
            <a:endParaRPr lang="en-US" altLang="zh-CN" sz="1200" b="0">
              <a:latin typeface="Times New Roman" panose="02020603050405020304" pitchFamily="18" charset="0"/>
            </a:endParaRPr>
          </a:p>
        </p:txBody>
      </p:sp>
      <p:sp>
        <p:nvSpPr>
          <p:cNvPr id="119811" name="Rectangle 2">
            <a:extLst>
              <a:ext uri="{FF2B5EF4-FFF2-40B4-BE49-F238E27FC236}">
                <a16:creationId xmlns:a16="http://schemas.microsoft.com/office/drawing/2014/main" id="{9A7E9047-F453-4535-A858-290B0497BF4A}"/>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13CB2AA0-31F6-4BD4-BF15-A51A2A83A5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166143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0AAB58A9-DA77-40E8-90F8-7F1B4809EF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B160A161-3E0C-4BAE-BD87-80EE42DE9F6F}" type="slidenum">
              <a:rPr lang="zh-CN" altLang="en-US" sz="1200" b="0" smtClean="0">
                <a:latin typeface="Times New Roman" panose="02020603050405020304" pitchFamily="18" charset="0"/>
              </a:rPr>
              <a:pPr/>
              <a:t>33</a:t>
            </a:fld>
            <a:endParaRPr lang="en-US" altLang="zh-CN" sz="1200" b="0">
              <a:latin typeface="Times New Roman" panose="02020603050405020304" pitchFamily="18" charset="0"/>
            </a:endParaRPr>
          </a:p>
        </p:txBody>
      </p:sp>
      <p:sp>
        <p:nvSpPr>
          <p:cNvPr id="121859" name="Rectangle 2">
            <a:extLst>
              <a:ext uri="{FF2B5EF4-FFF2-40B4-BE49-F238E27FC236}">
                <a16:creationId xmlns:a16="http://schemas.microsoft.com/office/drawing/2014/main" id="{2499089B-B933-48B1-918A-35F116C0F911}"/>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F55DBEB9-7C08-4D64-BE64-B59D1FD0E6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1040815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9F82DA1B-740D-47C0-BA09-A5C15789B5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FC1BE368-3423-4F15-9F6A-47D125AEFFF2}" type="slidenum">
              <a:rPr lang="zh-CN" altLang="en-US" sz="1200" b="0" smtClean="0">
                <a:latin typeface="Times New Roman" panose="02020603050405020304" pitchFamily="18" charset="0"/>
              </a:rPr>
              <a:pPr/>
              <a:t>34</a:t>
            </a:fld>
            <a:endParaRPr lang="en-US" altLang="zh-CN" sz="1200" b="0">
              <a:latin typeface="Times New Roman" panose="02020603050405020304" pitchFamily="18" charset="0"/>
            </a:endParaRPr>
          </a:p>
        </p:txBody>
      </p:sp>
      <p:sp>
        <p:nvSpPr>
          <p:cNvPr id="123907" name="Rectangle 2">
            <a:extLst>
              <a:ext uri="{FF2B5EF4-FFF2-40B4-BE49-F238E27FC236}">
                <a16:creationId xmlns:a16="http://schemas.microsoft.com/office/drawing/2014/main" id="{9EEC0832-5F55-468A-8FB9-FB93E1AB3DFE}"/>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E1CE915D-3059-40BD-8452-AC5106A251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5454195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B3F165D4-F216-4BDA-9934-33997230B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fld id="{CDE7F109-AC49-494E-8315-BA0214D92A7C}" type="slidenum">
              <a:rPr lang="zh-CN" altLang="en-US" sz="1200" b="0" smtClean="0">
                <a:latin typeface="Times New Roman" panose="02020603050405020304" pitchFamily="18" charset="0"/>
              </a:rPr>
              <a:pPr/>
              <a:t>35</a:t>
            </a:fld>
            <a:endParaRPr lang="en-US" altLang="zh-CN" sz="1200" b="0">
              <a:latin typeface="Times New Roman" panose="02020603050405020304" pitchFamily="18" charset="0"/>
            </a:endParaRPr>
          </a:p>
        </p:txBody>
      </p:sp>
      <p:sp>
        <p:nvSpPr>
          <p:cNvPr id="125955" name="Rectangle 2">
            <a:extLst>
              <a:ext uri="{FF2B5EF4-FFF2-40B4-BE49-F238E27FC236}">
                <a16:creationId xmlns:a16="http://schemas.microsoft.com/office/drawing/2014/main" id="{AEA46B5C-B7F6-46F0-85A3-3D932CF07DBE}"/>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E8E65C39-5D81-4BCB-8F5C-649D857514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7831218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EL0:</a:t>
            </a:r>
            <a:r>
              <a:rPr lang="zh-CN" altLang="en-US" dirty="0"/>
              <a:t> 用户态程序</a:t>
            </a:r>
            <a:endParaRPr lang="en-US" altLang="zh-CN" dirty="0"/>
          </a:p>
          <a:p>
            <a:r>
              <a:rPr lang="en-US" altLang="zh-CN" dirty="0"/>
              <a:t>EL1: </a:t>
            </a:r>
            <a:r>
              <a:rPr lang="zh-CN" altLang="en-US" dirty="0"/>
              <a:t>内核</a:t>
            </a:r>
            <a:endParaRPr lang="en-US" altLang="zh-CN" dirty="0"/>
          </a:p>
          <a:p>
            <a:r>
              <a:rPr lang="en-US" altLang="zh-CN" dirty="0"/>
              <a:t>EL2: hypervisor</a:t>
            </a:r>
          </a:p>
          <a:p>
            <a:r>
              <a:rPr lang="en-US" altLang="zh-CN" dirty="0"/>
              <a:t>EL3: monitor</a:t>
            </a:r>
            <a:endParaRPr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41</a:t>
            </a:fld>
            <a:endParaRPr lang="zh-CN" altLang="en-US"/>
          </a:p>
        </p:txBody>
      </p:sp>
    </p:spTree>
    <p:extLst>
      <p:ext uri="{BB962C8B-B14F-4D97-AF65-F5344CB8AC3E}">
        <p14:creationId xmlns:p14="http://schemas.microsoft.com/office/powerpoint/2010/main" val="26439694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000000"/>
                </a:solidFill>
                <a:effectLst/>
                <a:latin typeface="Helvetica" pitchFamily="2" charset="0"/>
              </a:rPr>
              <a:t> 需要注意的是，对于许多 </a:t>
            </a:r>
            <a:r>
              <a:rPr lang="en" altLang="zh-CN" dirty="0">
                <a:solidFill>
                  <a:srgbClr val="000000"/>
                </a:solidFill>
                <a:effectLst/>
                <a:latin typeface="Helvetica" pitchFamily="2" charset="0"/>
              </a:rPr>
              <a:t>ISA </a:t>
            </a:r>
            <a:r>
              <a:rPr lang="zh-CN" altLang="en-US" dirty="0">
                <a:solidFill>
                  <a:srgbClr val="000000"/>
                </a:solidFill>
                <a:effectLst/>
                <a:latin typeface="Helvetica" pitchFamily="2" charset="0"/>
              </a:rPr>
              <a:t>来说，当 </a:t>
            </a:r>
            <a:r>
              <a:rPr lang="en" altLang="zh-CN" dirty="0">
                <a:solidFill>
                  <a:srgbClr val="000000"/>
                </a:solidFill>
                <a:effectLst/>
                <a:latin typeface="Helvetica" pitchFamily="2" charset="0"/>
              </a:rPr>
              <a:t>CPU </a:t>
            </a:r>
            <a:r>
              <a:rPr lang="zh-CN" altLang="en-US" dirty="0">
                <a:solidFill>
                  <a:srgbClr val="000000"/>
                </a:solidFill>
                <a:effectLst/>
                <a:latin typeface="Helvetica" pitchFamily="2" charset="0"/>
              </a:rPr>
              <a:t>在内核态运行用户 </a:t>
            </a:r>
            <a:r>
              <a:rPr lang="en" altLang="zh-CN" dirty="0">
                <a:solidFill>
                  <a:srgbClr val="000000"/>
                </a:solidFill>
                <a:effectLst/>
                <a:latin typeface="Helvetica" pitchFamily="2" charset="0"/>
              </a:rPr>
              <a:t>ISA</a:t>
            </a:r>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比</a:t>
            </a:r>
          </a:p>
          <a:p>
            <a:r>
              <a:rPr lang="zh-CN" altLang="en-US" dirty="0">
                <a:solidFill>
                  <a:srgbClr val="000000"/>
                </a:solidFill>
                <a:effectLst/>
                <a:latin typeface="Helvetica" pitchFamily="2" charset="0"/>
              </a:rPr>
              <a:t> 如函数调用）时，一般会使用用户 </a:t>
            </a:r>
            <a:r>
              <a:rPr lang="en" altLang="zh-CN" dirty="0">
                <a:solidFill>
                  <a:srgbClr val="000000"/>
                </a:solidFill>
                <a:effectLst/>
                <a:latin typeface="Helvetica" pitchFamily="2" charset="0"/>
              </a:rPr>
              <a:t>ISA </a:t>
            </a:r>
            <a:r>
              <a:rPr lang="zh-CN" altLang="en-US" dirty="0">
                <a:solidFill>
                  <a:srgbClr val="000000"/>
                </a:solidFill>
                <a:effectLst/>
                <a:latin typeface="Helvetica" pitchFamily="2" charset="0"/>
              </a:rPr>
              <a:t>的寄存器（比如</a:t>
            </a:r>
            <a:r>
              <a:rPr lang="en" altLang="zh-CN" dirty="0">
                <a:solidFill>
                  <a:srgbClr val="000000"/>
                </a:solidFill>
                <a:effectLst/>
                <a:latin typeface="Helvetica" pitchFamily="2" charset="0"/>
              </a:rPr>
              <a:t>SP</a:t>
            </a:r>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这也是为什么当</a:t>
            </a:r>
          </a:p>
          <a:p>
            <a:r>
              <a:rPr lang="zh-CN" altLang="en-US" dirty="0">
                <a:solidFill>
                  <a:srgbClr val="000000"/>
                </a:solidFill>
                <a:effectLst/>
                <a:latin typeface="Helvetica" pitchFamily="2" charset="0"/>
              </a:rPr>
              <a:t> 从用户态切换到内核态时，首先需要将用户态寄存器的值保存到内存的原因。</a:t>
            </a:r>
          </a:p>
          <a:p>
            <a:r>
              <a:rPr lang="zh-CN" altLang="en-US" dirty="0">
                <a:solidFill>
                  <a:srgbClr val="000000"/>
                </a:solidFill>
                <a:effectLst/>
                <a:latin typeface="Helvetica" pitchFamily="2" charset="0"/>
              </a:rPr>
              <a:t> </a:t>
            </a:r>
            <a:r>
              <a:rPr lang="en" altLang="zh-CN" dirty="0">
                <a:solidFill>
                  <a:srgbClr val="000000"/>
                </a:solidFill>
                <a:effectLst/>
                <a:latin typeface="Helvetica" pitchFamily="2" charset="0"/>
              </a:rPr>
              <a:t>AArch64 </a:t>
            </a:r>
            <a:r>
              <a:rPr lang="zh-CN" altLang="en-US" dirty="0">
                <a:solidFill>
                  <a:srgbClr val="000000"/>
                </a:solidFill>
                <a:effectLst/>
                <a:latin typeface="Helvetica" pitchFamily="2" charset="0"/>
              </a:rPr>
              <a:t>则采用了略微不同的方法：为一些常用的用户态寄存器在不同特权</a:t>
            </a:r>
          </a:p>
          <a:p>
            <a:r>
              <a:rPr lang="zh-CN" altLang="en-US" dirty="0">
                <a:solidFill>
                  <a:srgbClr val="000000"/>
                </a:solidFill>
                <a:effectLst/>
                <a:latin typeface="Helvetica" pitchFamily="2" charset="0"/>
              </a:rPr>
              <a:t> 级提供了不同的硬件副本。例如，对于栈寄存器</a:t>
            </a:r>
            <a:r>
              <a:rPr lang="en" altLang="zh-CN" dirty="0">
                <a:solidFill>
                  <a:srgbClr val="000000"/>
                </a:solidFill>
                <a:effectLst/>
                <a:latin typeface="Helvetica" pitchFamily="2" charset="0"/>
              </a:rPr>
              <a:t>SP</a:t>
            </a:r>
            <a:r>
              <a:rPr lang="zh-CN" altLang="en" dirty="0">
                <a:solidFill>
                  <a:srgbClr val="000000"/>
                </a:solidFill>
                <a:effectLst/>
                <a:latin typeface="Helvetica" pitchFamily="2" charset="0"/>
              </a:rPr>
              <a:t>，</a:t>
            </a:r>
            <a:r>
              <a:rPr lang="en" altLang="zh-CN" dirty="0">
                <a:solidFill>
                  <a:srgbClr val="000000"/>
                </a:solidFill>
                <a:effectLst/>
                <a:latin typeface="Helvetica" pitchFamily="2" charset="0"/>
              </a:rPr>
              <a:t>AArch64 </a:t>
            </a:r>
            <a:r>
              <a:rPr lang="zh-CN" altLang="en-US" dirty="0">
                <a:solidFill>
                  <a:srgbClr val="000000"/>
                </a:solidFill>
                <a:effectLst/>
                <a:latin typeface="Helvetica" pitchFamily="2" charset="0"/>
              </a:rPr>
              <a:t>提供了</a:t>
            </a:r>
            <a:r>
              <a:rPr lang="en" altLang="zh-CN" dirty="0">
                <a:solidFill>
                  <a:srgbClr val="000000"/>
                </a:solidFill>
                <a:effectLst/>
                <a:latin typeface="Helvetica" pitchFamily="2" charset="0"/>
              </a:rPr>
              <a:t>SP_EL0</a:t>
            </a:r>
          </a:p>
          <a:p>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用户态）与</a:t>
            </a:r>
            <a:r>
              <a:rPr lang="en" altLang="zh-CN" dirty="0">
                <a:solidFill>
                  <a:srgbClr val="000000"/>
                </a:solidFill>
                <a:effectLst/>
                <a:latin typeface="Helvetica" pitchFamily="2" charset="0"/>
              </a:rPr>
              <a:t>SP_EL1</a:t>
            </a:r>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内核态）。其中，用户态在函数调用时使用</a:t>
            </a:r>
            <a:r>
              <a:rPr lang="en" altLang="zh-CN" dirty="0">
                <a:solidFill>
                  <a:srgbClr val="000000"/>
                </a:solidFill>
                <a:effectLst/>
                <a:latin typeface="Helvetica" pitchFamily="2" charset="0"/>
              </a:rPr>
              <a:t>SP_EL0</a:t>
            </a:r>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无</a:t>
            </a:r>
          </a:p>
          <a:p>
            <a:r>
              <a:rPr lang="zh-CN" altLang="en-US" dirty="0">
                <a:solidFill>
                  <a:srgbClr val="000000"/>
                </a:solidFill>
                <a:effectLst/>
                <a:latin typeface="Helvetica" pitchFamily="2" charset="0"/>
              </a:rPr>
              <a:t> 法访问</a:t>
            </a:r>
            <a:r>
              <a:rPr lang="en" altLang="zh-CN" dirty="0">
                <a:solidFill>
                  <a:srgbClr val="000000"/>
                </a:solidFill>
                <a:effectLst/>
                <a:latin typeface="Helvetica" pitchFamily="2" charset="0"/>
              </a:rPr>
              <a:t>SP_EL1</a:t>
            </a:r>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内核态则使用</a:t>
            </a:r>
            <a:r>
              <a:rPr lang="en" altLang="zh-CN" dirty="0">
                <a:solidFill>
                  <a:srgbClr val="000000"/>
                </a:solidFill>
                <a:effectLst/>
                <a:latin typeface="Helvetica" pitchFamily="2" charset="0"/>
              </a:rPr>
              <a:t>SP_EL1</a:t>
            </a:r>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但也有权限读写</a:t>
            </a:r>
            <a:r>
              <a:rPr lang="en" altLang="zh-CN" dirty="0">
                <a:solidFill>
                  <a:srgbClr val="000000"/>
                </a:solidFill>
                <a:effectLst/>
                <a:latin typeface="Helvetica" pitchFamily="2" charset="0"/>
              </a:rPr>
              <a:t>SP_EL0</a:t>
            </a:r>
            <a:r>
              <a:rPr lang="zh-CN" altLang="en" dirty="0">
                <a:solidFill>
                  <a:srgbClr val="000000"/>
                </a:solidFill>
                <a:effectLst/>
                <a:latin typeface="Helvetica" pitchFamily="2" charset="0"/>
              </a:rPr>
              <a:t>。</a:t>
            </a:r>
            <a:r>
              <a:rPr lang="zh-CN" altLang="en-US" dirty="0">
                <a:solidFill>
                  <a:srgbClr val="000000"/>
                </a:solidFill>
                <a:effectLst/>
                <a:latin typeface="Helvetica" pitchFamily="2" charset="0"/>
              </a:rPr>
              <a:t>这么设计</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effectLst/>
                <a:latin typeface="Helvetica" pitchFamily="2" charset="0"/>
              </a:rPr>
              <a:t>的好处在于，当 </a:t>
            </a:r>
            <a:r>
              <a:rPr lang="en" altLang="zh-CN" dirty="0">
                <a:solidFill>
                  <a:srgbClr val="000000"/>
                </a:solidFill>
                <a:effectLst/>
                <a:latin typeface="Helvetica" pitchFamily="2" charset="0"/>
              </a:rPr>
              <a:t>CPU </a:t>
            </a:r>
            <a:r>
              <a:rPr lang="zh-CN" altLang="en-US" dirty="0">
                <a:solidFill>
                  <a:srgbClr val="000000"/>
                </a:solidFill>
                <a:effectLst/>
                <a:latin typeface="Helvetica" pitchFamily="2" charset="0"/>
              </a:rPr>
              <a:t>从用户态切换到内核态时，内核代码无需保存</a:t>
            </a:r>
            <a:r>
              <a:rPr lang="en" altLang="zh-CN" dirty="0">
                <a:solidFill>
                  <a:srgbClr val="000000"/>
                </a:solidFill>
                <a:effectLst/>
                <a:latin typeface="Helvetica" pitchFamily="2" charset="0"/>
              </a:rPr>
              <a:t>SP_EL0</a:t>
            </a:r>
            <a:r>
              <a:rPr lang="zh-CN" altLang="en-US" dirty="0">
                <a:solidFill>
                  <a:srgbClr val="000000"/>
                </a:solidFill>
                <a:effectLst/>
                <a:latin typeface="Helvetica" pitchFamily="2" charset="0"/>
              </a:rPr>
              <a:t>寄 存器中的值，从而可以降低切换的时延。</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42</a:t>
            </a:fld>
            <a:endParaRPr lang="zh-CN" altLang="en-US"/>
          </a:p>
        </p:txBody>
      </p:sp>
    </p:spTree>
    <p:extLst>
      <p:ext uri="{BB962C8B-B14F-4D97-AF65-F5344CB8AC3E}">
        <p14:creationId xmlns:p14="http://schemas.microsoft.com/office/powerpoint/2010/main" val="503078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Condition flags</a:t>
            </a:r>
            <a:r>
              <a:rPr lang="zh-CN" altLang="en-US" dirty="0"/>
              <a:t>：</a:t>
            </a:r>
            <a:r>
              <a:rPr lang="en-US" altLang="zh-CN" dirty="0"/>
              <a:t> N Negative Condition flag. Z Zero Condition flag. C Carry Condition flag. V Overflow Condition flag</a:t>
            </a:r>
          </a:p>
          <a:p>
            <a:endParaRPr lang="en-US" altLang="zh-CN" sz="1200" b="0" i="0" kern="1200" dirty="0">
              <a:solidFill>
                <a:schemeClr val="tx1"/>
              </a:solidFill>
              <a:effectLst/>
              <a:latin typeface="+mn-lt"/>
              <a:ea typeface="+mn-ea"/>
              <a:cs typeface="+mn-cs"/>
            </a:endParaRPr>
          </a:p>
          <a:p>
            <a:r>
              <a:rPr lang="en-US" altLang="zh-CN" dirty="0"/>
              <a:t>The Execution state control</a:t>
            </a:r>
            <a:r>
              <a:rPr lang="zh-CN" altLang="en-US" dirty="0"/>
              <a:t>： </a:t>
            </a:r>
            <a:r>
              <a:rPr lang="en-US" altLang="zh-CN" dirty="0"/>
              <a:t>Illegal Execution state bit</a:t>
            </a:r>
            <a:r>
              <a:rPr lang="zh-CN" altLang="en-US" dirty="0"/>
              <a:t>， </a:t>
            </a:r>
            <a:r>
              <a:rPr lang="en-US" altLang="zh-CN" dirty="0"/>
              <a:t>Current Execution state</a:t>
            </a:r>
            <a:r>
              <a:rPr lang="zh-CN" altLang="en-US" dirty="0"/>
              <a:t>， </a:t>
            </a:r>
            <a:r>
              <a:rPr lang="en-US" altLang="zh-CN" dirty="0"/>
              <a:t>Current Exception level</a:t>
            </a:r>
            <a:r>
              <a:rPr lang="zh-CN" altLang="en-US" dirty="0"/>
              <a:t>， </a:t>
            </a:r>
            <a:r>
              <a:rPr lang="en-US" altLang="zh-CN" dirty="0"/>
              <a:t>Stack pointer register selection bi</a:t>
            </a:r>
          </a:p>
          <a:p>
            <a:endParaRPr lang="en-US" altLang="zh-CN" sz="1200" b="0" i="0" kern="1200" dirty="0">
              <a:solidFill>
                <a:schemeClr val="tx1"/>
              </a:solidFill>
              <a:effectLst/>
              <a:latin typeface="+mn-lt"/>
              <a:ea typeface="+mn-ea"/>
              <a:cs typeface="+mn-cs"/>
            </a:endParaRPr>
          </a:p>
          <a:p>
            <a:r>
              <a:rPr lang="en-US" altLang="zh-CN" dirty="0"/>
              <a:t>The exception mask bits </a:t>
            </a:r>
            <a:r>
              <a:rPr lang="zh-CN" altLang="en-US" dirty="0"/>
              <a:t>：</a:t>
            </a:r>
            <a:r>
              <a:rPr lang="en-US" altLang="zh-CN" dirty="0"/>
              <a:t>Debug exception mask bit</a:t>
            </a:r>
            <a:r>
              <a:rPr lang="zh-CN" altLang="en-US" dirty="0"/>
              <a:t>， </a:t>
            </a:r>
            <a:r>
              <a:rPr lang="en-US" altLang="zh-CN" dirty="0"/>
              <a:t>Asynchronous exception mask bits</a:t>
            </a:r>
            <a:r>
              <a:rPr lang="zh-CN" altLang="en-US" dirty="0"/>
              <a:t>（</a:t>
            </a:r>
            <a:r>
              <a:rPr lang="en-US" altLang="zh-CN" dirty="0"/>
              <a:t>IRQ, FIQ</a:t>
            </a:r>
            <a:r>
              <a:rPr lang="zh-CN" altLang="en-US" dirty="0"/>
              <a:t>）</a:t>
            </a: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t>43</a:t>
            </a:fld>
            <a:endParaRPr lang="zh-CN" altLang="en-US"/>
          </a:p>
        </p:txBody>
      </p:sp>
    </p:spTree>
    <p:extLst>
      <p:ext uri="{BB962C8B-B14F-4D97-AF65-F5344CB8AC3E}">
        <p14:creationId xmlns:p14="http://schemas.microsoft.com/office/powerpoint/2010/main" val="18387509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0A67099C-9CB2-2149-861E-5623E21D672C}"/>
              </a:ext>
            </a:extLst>
          </p:cNvPr>
          <p:cNvSpPr>
            <a:spLocks noGrp="1" noRot="1" noChangeAspect="1" noChangeArrowheads="1" noTextEdit="1"/>
          </p:cNvSpPr>
          <p:nvPr>
            <p:ph type="sldImg"/>
          </p:nvPr>
        </p:nvSpPr>
        <p:spPr>
          <a:ln/>
        </p:spPr>
      </p:sp>
      <p:sp>
        <p:nvSpPr>
          <p:cNvPr id="94210" name="Rectangle 3">
            <a:extLst>
              <a:ext uri="{FF2B5EF4-FFF2-40B4-BE49-F238E27FC236}">
                <a16:creationId xmlns:a16="http://schemas.microsoft.com/office/drawing/2014/main" id="{EA15D230-E124-7546-91A7-73060DED4A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4905136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6779F0B9-0C76-4D4F-AF1F-3B233339D890}"/>
              </a:ext>
            </a:extLst>
          </p:cNvPr>
          <p:cNvSpPr>
            <a:spLocks noGrp="1" noRot="1" noChangeAspect="1" noChangeArrowheads="1" noTextEdit="1"/>
          </p:cNvSpPr>
          <p:nvPr>
            <p:ph type="sldImg"/>
          </p:nvPr>
        </p:nvSpPr>
        <p:spPr>
          <a:ln/>
        </p:spPr>
      </p:sp>
      <p:sp>
        <p:nvSpPr>
          <p:cNvPr id="112642" name="Rectangle 3">
            <a:extLst>
              <a:ext uri="{FF2B5EF4-FFF2-40B4-BE49-F238E27FC236}">
                <a16:creationId xmlns:a16="http://schemas.microsoft.com/office/drawing/2014/main" id="{1D42499D-9860-AE4E-AF76-3124E842B7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0794132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2AA88A38-DD73-AF41-96D1-BD0471871330}"/>
              </a:ext>
            </a:extLst>
          </p:cNvPr>
          <p:cNvSpPr>
            <a:spLocks noGrp="1" noRot="1" noChangeAspect="1" noChangeArrowheads="1" noTextEdit="1"/>
          </p:cNvSpPr>
          <p:nvPr>
            <p:ph type="sldImg"/>
          </p:nvPr>
        </p:nvSpPr>
        <p:spPr>
          <a:ln/>
        </p:spPr>
      </p:sp>
      <p:sp>
        <p:nvSpPr>
          <p:cNvPr id="114690" name="Rectangle 3">
            <a:extLst>
              <a:ext uri="{FF2B5EF4-FFF2-40B4-BE49-F238E27FC236}">
                <a16:creationId xmlns:a16="http://schemas.microsoft.com/office/drawing/2014/main" id="{0EB6F507-3E4A-EC4A-B3F3-2E5595E5A7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7777555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B6F32549-79B4-EC47-A8A4-B74320EBEC97}"/>
              </a:ext>
            </a:extLst>
          </p:cNvPr>
          <p:cNvSpPr>
            <a:spLocks noGrp="1" noRot="1" noChangeAspect="1" noChangeArrowheads="1" noTextEdit="1"/>
          </p:cNvSpPr>
          <p:nvPr>
            <p:ph type="sldImg"/>
          </p:nvPr>
        </p:nvSpPr>
        <p:spPr>
          <a:ln/>
        </p:spPr>
      </p:sp>
      <p:sp>
        <p:nvSpPr>
          <p:cNvPr id="90114" name="Rectangle 3">
            <a:extLst>
              <a:ext uri="{FF2B5EF4-FFF2-40B4-BE49-F238E27FC236}">
                <a16:creationId xmlns:a16="http://schemas.microsoft.com/office/drawing/2014/main" id="{676716CE-CFC0-484C-9E69-FB0EF7AAB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9645672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204B1265-EB53-8042-81D3-EE6A826E7FBE}"/>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BB6A2E75-D6A0-0148-8240-45D97701A4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39867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58</a:t>
            </a:fld>
            <a:endParaRPr lang="zh-CN" altLang="en-US"/>
          </a:p>
        </p:txBody>
      </p:sp>
    </p:spTree>
    <p:extLst>
      <p:ext uri="{BB962C8B-B14F-4D97-AF65-F5344CB8AC3E}">
        <p14:creationId xmlns:p14="http://schemas.microsoft.com/office/powerpoint/2010/main" val="24531620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59</a:t>
            </a:fld>
            <a:endParaRPr lang="zh-CN" altLang="en-US"/>
          </a:p>
        </p:txBody>
      </p:sp>
    </p:spTree>
    <p:extLst>
      <p:ext uri="{BB962C8B-B14F-4D97-AF65-F5344CB8AC3E}">
        <p14:creationId xmlns:p14="http://schemas.microsoft.com/office/powerpoint/2010/main" val="32576240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t>72</a:t>
            </a:fld>
            <a:endParaRPr lang="zh-CN" altLang="en-US"/>
          </a:p>
        </p:txBody>
      </p:sp>
    </p:spTree>
    <p:extLst>
      <p:ext uri="{BB962C8B-B14F-4D97-AF65-F5344CB8AC3E}">
        <p14:creationId xmlns:p14="http://schemas.microsoft.com/office/powerpoint/2010/main" val="16687523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46601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smtClean="0">
                <a:ea typeface="宋体" pitchFamily="2" charset="-122"/>
              </a:defRPr>
            </a:lvl1pPr>
          </a:lstStyle>
          <a:p>
            <a:endParaRPr kumimoji="1" lang="zh-CN" altLang="en-US"/>
          </a:p>
        </p:txBody>
      </p:sp>
      <p:sp>
        <p:nvSpPr>
          <p:cNvPr id="4" name="矩形 3">
            <a:extLst>
              <a:ext uri="{FF2B5EF4-FFF2-40B4-BE49-F238E27FC236}">
                <a16:creationId xmlns:a16="http://schemas.microsoft.com/office/drawing/2014/main" id="{D80770AA-1E1F-5B41-BE85-56AC1E4FFB05}"/>
              </a:ext>
            </a:extLst>
          </p:cNvPr>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三角形 4">
            <a:extLst>
              <a:ext uri="{FF2B5EF4-FFF2-40B4-BE49-F238E27FC236}">
                <a16:creationId xmlns:a16="http://schemas.microsoft.com/office/drawing/2014/main" id="{68EE77BA-717F-6A48-8FF3-C18D5BC57102}"/>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55604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81000"/>
            <a:ext cx="8077200"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333500"/>
            <a:ext cx="4076700" cy="3683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1333500"/>
            <a:ext cx="4076700" cy="3683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1CE0121-2FFA-4A47-843F-EBD77F7D10E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127C492-7FA7-2A43-984C-4A21FF5FBC8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B4394EF-75D2-6342-BA01-4481C70B94A5}"/>
              </a:ext>
            </a:extLst>
          </p:cNvPr>
          <p:cNvSpPr>
            <a:spLocks noGrp="1" noChangeArrowheads="1"/>
          </p:cNvSpPr>
          <p:nvPr>
            <p:ph type="sldNum" sz="quarter" idx="12"/>
          </p:nvPr>
        </p:nvSpPr>
        <p:spPr>
          <a:ln/>
        </p:spPr>
        <p:txBody>
          <a:bodyPr/>
          <a:lstStyle>
            <a:lvl1pPr>
              <a:defRPr/>
            </a:lvl1pPr>
          </a:lstStyle>
          <a:p>
            <a:pPr>
              <a:defRPr/>
            </a:pPr>
            <a:fld id="{AE894B74-F920-804F-B776-5D5D09D16500}" type="slidenum">
              <a:rPr lang="zh-CN" altLang="en-US"/>
              <a:pPr>
                <a:defRPr/>
              </a:pPr>
              <a:t>‹#›</a:t>
            </a:fld>
            <a:endParaRPr lang="en-US" altLang="zh-CN"/>
          </a:p>
        </p:txBody>
      </p:sp>
    </p:spTree>
    <p:extLst>
      <p:ext uri="{BB962C8B-B14F-4D97-AF65-F5344CB8AC3E}">
        <p14:creationId xmlns:p14="http://schemas.microsoft.com/office/powerpoint/2010/main" val="177376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941585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624512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13605760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193204"/>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6" r:id="rId4"/>
    <p:sldLayoutId id="2147483657" r:id="rId5"/>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2633814230"/>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nSpc>
                <a:spcPct val="110000"/>
              </a:lnSpc>
            </a:pPr>
            <a:r>
              <a:rPr kumimoji="1" lang="zh-CN" altLang="en-US" dirty="0"/>
              <a:t>操作系统的硬件运行环境</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dirty="0">
                <a:solidFill>
                  <a:schemeClr val="tx1">
                    <a:lumMod val="75000"/>
                    <a:lumOff val="25000"/>
                  </a:schemeClr>
                </a:solidFill>
              </a:rPr>
              <a:t>上海交通大学</a:t>
            </a:r>
            <a:endParaRPr kumimoji="1" lang="en-US" altLang="zh-CN" sz="1800" dirty="0">
              <a:solidFill>
                <a:schemeClr val="tx1">
                  <a:lumMod val="75000"/>
                  <a:lumOff val="25000"/>
                </a:schemeClr>
              </a:solidFill>
            </a:endParaRPr>
          </a:p>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www.sjtu.edu.cn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kumimoji="0" lang="zh-CN" altLang="en-US" sz="1400" b="0" i="0" u="none" strike="noStrike" kern="1200" cap="none" spc="0" normalizeH="0" baseline="0" noProof="0">
                <a:ln>
                  <a:noFill/>
                </a:ln>
                <a:solidFill>
                  <a:srgbClr val="000000">
                    <a:lumMod val="75000"/>
                    <a:lumOff val="25000"/>
                  </a:srgbClr>
                </a:solidFill>
                <a:effectLst/>
                <a:uLnTx/>
                <a:uFillTx/>
                <a:latin typeface="Arial" panose="020B0604020202020204"/>
                <a:ea typeface="微软雅黑"/>
              </a:rPr>
              <a:t>操作系统</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endParaRP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628960693"/>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74C9BC-E8E3-4B39-858B-43301FF9D737}"/>
              </a:ext>
            </a:extLst>
          </p:cNvPr>
          <p:cNvSpPr>
            <a:spLocks noGrp="1"/>
          </p:cNvSpPr>
          <p:nvPr>
            <p:ph type="title"/>
          </p:nvPr>
        </p:nvSpPr>
        <p:spPr/>
        <p:txBody>
          <a:bodyPr/>
          <a:lstStyle/>
          <a:p>
            <a:r>
              <a:rPr lang="zh-CN" altLang="en-US" dirty="0"/>
              <a:t>数组</a:t>
            </a:r>
          </a:p>
        </p:txBody>
      </p:sp>
      <p:sp>
        <p:nvSpPr>
          <p:cNvPr id="3" name="文本占位符 2">
            <a:extLst>
              <a:ext uri="{FF2B5EF4-FFF2-40B4-BE49-F238E27FC236}">
                <a16:creationId xmlns:a16="http://schemas.microsoft.com/office/drawing/2014/main" id="{5A2C3D40-C271-417F-A70E-A592120DBAA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FF1197D-0104-4C0D-8CF7-1FD51B03D2DB}"/>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4249899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a:extLst>
              <a:ext uri="{FF2B5EF4-FFF2-40B4-BE49-F238E27FC236}">
                <a16:creationId xmlns:a16="http://schemas.microsoft.com/office/drawing/2014/main" id="{B51C9B56-439A-4B3B-8C1E-475FB851B6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5C5C7FC6-40FF-49C1-9622-EAC193F1C75F}" type="slidenum">
              <a:rPr lang="zh-CN" altLang="en-US" sz="1167">
                <a:latin typeface="Times New Roman" panose="02020603050405020304" pitchFamily="18" charset="0"/>
              </a:rPr>
              <a:pPr>
                <a:spcBef>
                  <a:spcPct val="0"/>
                </a:spcBef>
                <a:buFontTx/>
                <a:buNone/>
              </a:pPr>
              <a:t>3</a:t>
            </a:fld>
            <a:endParaRPr lang="en-US" altLang="zh-CN" sz="1167">
              <a:latin typeface="Times New Roman" panose="02020603050405020304" pitchFamily="18" charset="0"/>
            </a:endParaRPr>
          </a:p>
        </p:txBody>
      </p:sp>
      <p:sp>
        <p:nvSpPr>
          <p:cNvPr id="57347" name="Rectangle 2">
            <a:extLst>
              <a:ext uri="{FF2B5EF4-FFF2-40B4-BE49-F238E27FC236}">
                <a16:creationId xmlns:a16="http://schemas.microsoft.com/office/drawing/2014/main" id="{D5185752-18ED-4CF4-99E7-F693FD0314AC}"/>
              </a:ext>
            </a:extLst>
          </p:cNvPr>
          <p:cNvSpPr>
            <a:spLocks noGrp="1" noChangeArrowheads="1"/>
          </p:cNvSpPr>
          <p:nvPr>
            <p:ph type="title"/>
          </p:nvPr>
        </p:nvSpPr>
        <p:spPr/>
        <p:txBody>
          <a:bodyPr/>
          <a:lstStyle/>
          <a:p>
            <a:r>
              <a:rPr lang="zh-CN" altLang="en-US" dirty="0"/>
              <a:t>数组的声明</a:t>
            </a:r>
            <a:endParaRPr lang="en-US" altLang="zh-CN" dirty="0">
              <a:ea typeface="方正舒体" panose="02010601030101010101" pitchFamily="2" charset="-122"/>
            </a:endParaRPr>
          </a:p>
        </p:txBody>
      </p:sp>
      <p:sp>
        <p:nvSpPr>
          <p:cNvPr id="57348" name="Rectangle 3">
            <a:extLst>
              <a:ext uri="{FF2B5EF4-FFF2-40B4-BE49-F238E27FC236}">
                <a16:creationId xmlns:a16="http://schemas.microsoft.com/office/drawing/2014/main" id="{96D6F72E-40D5-4B58-8811-1F0A60F8D94E}"/>
              </a:ext>
            </a:extLst>
          </p:cNvPr>
          <p:cNvSpPr>
            <a:spLocks noGrp="1" noChangeArrowheads="1"/>
          </p:cNvSpPr>
          <p:nvPr>
            <p:ph type="body" idx="1"/>
          </p:nvPr>
        </p:nvSpPr>
        <p:spPr/>
        <p:txBody>
          <a:bodyPr/>
          <a:lstStyle/>
          <a:p>
            <a:pPr>
              <a:lnSpc>
                <a:spcPct val="150000"/>
              </a:lnSpc>
            </a:pPr>
            <a:r>
              <a:rPr lang="en-US" altLang="zh-CN" dirty="0"/>
              <a:t>C</a:t>
            </a:r>
            <a:r>
              <a:rPr lang="zh-CN" altLang="en-US" dirty="0"/>
              <a:t>语言语法：</a:t>
            </a:r>
            <a:r>
              <a:rPr lang="en-US" altLang="zh-CN" dirty="0">
                <a:solidFill>
                  <a:srgbClr val="C00000"/>
                </a:solidFill>
                <a:ea typeface="宋体" panose="02010600030101010101" pitchFamily="2" charset="-122"/>
              </a:rPr>
              <a:t>Type Array[N] ;</a:t>
            </a:r>
          </a:p>
          <a:p>
            <a:pPr>
              <a:lnSpc>
                <a:spcPct val="150000"/>
              </a:lnSpc>
            </a:pPr>
            <a:r>
              <a:rPr lang="zh-CN" altLang="en-US" dirty="0"/>
              <a:t>数组会在内存中占用一块连续的区域</a:t>
            </a:r>
            <a:endParaRPr lang="en-US" altLang="zh-CN" dirty="0">
              <a:ea typeface="宋体" panose="02010600030101010101" pitchFamily="2" charset="-122"/>
            </a:endParaRPr>
          </a:p>
          <a:p>
            <a:pPr lvl="1">
              <a:lnSpc>
                <a:spcPct val="150000"/>
              </a:lnSpc>
            </a:pPr>
            <a:r>
              <a:rPr lang="zh-CN" altLang="en-US" dirty="0"/>
              <a:t>该区域的大小为</a:t>
            </a:r>
            <a:r>
              <a:rPr lang="en-US" altLang="zh-CN" b="1" dirty="0" err="1">
                <a:solidFill>
                  <a:srgbClr val="C00000"/>
                </a:solidFill>
                <a:latin typeface="Consolas" panose="020B0609020204030204" pitchFamily="49" charset="0"/>
                <a:ea typeface="宋体" panose="02010600030101010101" pitchFamily="2" charset="-122"/>
                <a:cs typeface="Consolas" panose="020B0609020204030204" pitchFamily="49" charset="0"/>
              </a:rPr>
              <a:t>sizeof</a:t>
            </a:r>
            <a:r>
              <a:rPr lang="en-US" altLang="zh-CN" b="1" dirty="0">
                <a:solidFill>
                  <a:srgbClr val="C00000"/>
                </a:solidFill>
                <a:latin typeface="Consolas" panose="020B0609020204030204" pitchFamily="49" charset="0"/>
                <a:ea typeface="宋体" panose="02010600030101010101" pitchFamily="2" charset="-122"/>
                <a:cs typeface="Consolas" panose="020B0609020204030204" pitchFamily="49" charset="0"/>
              </a:rPr>
              <a:t>(Type)</a:t>
            </a:r>
            <a:r>
              <a:rPr lang="en-US" altLang="zh-CN" dirty="0">
                <a:solidFill>
                  <a:srgbClr val="C00000"/>
                </a:solidFill>
                <a:latin typeface="Consolas" panose="020B0609020204030204" pitchFamily="49" charset="0"/>
                <a:ea typeface="宋体" panose="02010600030101010101" pitchFamily="2" charset="-122"/>
                <a:cs typeface="Consolas" panose="020B0609020204030204" pitchFamily="49" charset="0"/>
              </a:rPr>
              <a:t>*</a:t>
            </a:r>
            <a:r>
              <a:rPr lang="en-US" altLang="zh-CN" b="1" dirty="0">
                <a:solidFill>
                  <a:srgbClr val="C00000"/>
                </a:solidFill>
                <a:latin typeface="Consolas" panose="020B0609020204030204" pitchFamily="49" charset="0"/>
                <a:ea typeface="宋体" panose="02010600030101010101" pitchFamily="2" charset="-122"/>
                <a:cs typeface="Consolas" panose="020B0609020204030204" pitchFamily="49" charset="0"/>
              </a:rPr>
              <a:t>N</a:t>
            </a:r>
            <a:r>
              <a:rPr lang="zh-CN" altLang="en-US" dirty="0"/>
              <a:t>字节</a:t>
            </a:r>
            <a:endParaRPr lang="en-US" altLang="zh-CN" dirty="0">
              <a:ea typeface="宋体" panose="02010600030101010101" pitchFamily="2" charset="-122"/>
            </a:endParaRPr>
          </a:p>
        </p:txBody>
      </p:sp>
    </p:spTree>
    <p:extLst>
      <p:ext uri="{BB962C8B-B14F-4D97-AF65-F5344CB8AC3E}">
        <p14:creationId xmlns:p14="http://schemas.microsoft.com/office/powerpoint/2010/main" val="2478680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a:extLst>
              <a:ext uri="{FF2B5EF4-FFF2-40B4-BE49-F238E27FC236}">
                <a16:creationId xmlns:a16="http://schemas.microsoft.com/office/drawing/2014/main" id="{EC8ADCB8-779B-47D7-9DFF-A26C64E4D3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3FED85AD-330B-4A50-81DC-DAB8E0C93C24}" type="slidenum">
              <a:rPr lang="zh-CN" altLang="en-US" sz="1167">
                <a:latin typeface="Times New Roman" panose="02020603050405020304" pitchFamily="18" charset="0"/>
              </a:rPr>
              <a:pPr>
                <a:spcBef>
                  <a:spcPct val="0"/>
                </a:spcBef>
                <a:buFontTx/>
                <a:buNone/>
              </a:pPr>
              <a:t>4</a:t>
            </a:fld>
            <a:endParaRPr lang="en-US" altLang="zh-CN" sz="1167">
              <a:latin typeface="Times New Roman" panose="02020603050405020304" pitchFamily="18" charset="0"/>
            </a:endParaRPr>
          </a:p>
        </p:txBody>
      </p:sp>
      <p:sp>
        <p:nvSpPr>
          <p:cNvPr id="59395" name="Rectangle 2">
            <a:extLst>
              <a:ext uri="{FF2B5EF4-FFF2-40B4-BE49-F238E27FC236}">
                <a16:creationId xmlns:a16="http://schemas.microsoft.com/office/drawing/2014/main" id="{A81CA303-ECA3-46E9-B53F-9A2DC7C8A7F6}"/>
              </a:ext>
            </a:extLst>
          </p:cNvPr>
          <p:cNvSpPr>
            <a:spLocks noGrp="1" noChangeArrowheads="1"/>
          </p:cNvSpPr>
          <p:nvPr>
            <p:ph type="title"/>
          </p:nvPr>
        </p:nvSpPr>
        <p:spPr/>
        <p:txBody>
          <a:bodyPr/>
          <a:lstStyle/>
          <a:p>
            <a:r>
              <a:rPr lang="zh-CN" altLang="en-US" dirty="0"/>
              <a:t>数组的起始地址</a:t>
            </a:r>
            <a:endParaRPr lang="en-US" altLang="zh-CN" dirty="0">
              <a:ea typeface="方正舒体" panose="02010601030101010101" pitchFamily="2" charset="-122"/>
            </a:endParaRPr>
          </a:p>
        </p:txBody>
      </p:sp>
      <p:sp>
        <p:nvSpPr>
          <p:cNvPr id="59396" name="Rectangle 3">
            <a:extLst>
              <a:ext uri="{FF2B5EF4-FFF2-40B4-BE49-F238E27FC236}">
                <a16:creationId xmlns:a16="http://schemas.microsoft.com/office/drawing/2014/main" id="{711F22F4-2A10-4108-9B29-8887AA0E4040}"/>
              </a:ext>
            </a:extLst>
          </p:cNvPr>
          <p:cNvSpPr>
            <a:spLocks noGrp="1" noChangeArrowheads="1"/>
          </p:cNvSpPr>
          <p:nvPr>
            <p:ph type="body" idx="1"/>
          </p:nvPr>
        </p:nvSpPr>
        <p:spPr/>
        <p:txBody>
          <a:bodyPr/>
          <a:lstStyle/>
          <a:p>
            <a:pPr>
              <a:lnSpc>
                <a:spcPct val="150000"/>
              </a:lnSpc>
            </a:pPr>
            <a:r>
              <a:rPr lang="zh-CN" altLang="en-US" dirty="0"/>
              <a:t>数组 </a:t>
            </a:r>
            <a:r>
              <a:rPr lang="en-US" altLang="zh-CN" dirty="0"/>
              <a:t>Array</a:t>
            </a:r>
            <a:r>
              <a:rPr lang="zh-CN" altLang="en-US" dirty="0"/>
              <a:t> 的起始地址记为</a:t>
            </a:r>
            <a:r>
              <a:rPr lang="en-US" altLang="zh-CN" b="1" dirty="0" err="1">
                <a:solidFill>
                  <a:srgbClr val="C00000"/>
                </a:solidFill>
                <a:ea typeface="宋体" panose="02010600030101010101" pitchFamily="2" charset="-122"/>
              </a:rPr>
              <a:t>X</a:t>
            </a:r>
            <a:r>
              <a:rPr lang="en-US" altLang="zh-CN" b="1" baseline="-25000" dirty="0" err="1">
                <a:solidFill>
                  <a:srgbClr val="C00000"/>
                </a:solidFill>
                <a:ea typeface="宋体" panose="02010600030101010101" pitchFamily="2" charset="-122"/>
              </a:rPr>
              <a:t>Array</a:t>
            </a:r>
            <a:endParaRPr lang="en-US" altLang="zh-CN" b="1" dirty="0">
              <a:solidFill>
                <a:srgbClr val="C00000"/>
              </a:solidFill>
              <a:ea typeface="宋体" panose="02010600030101010101" pitchFamily="2" charset="-122"/>
            </a:endParaRPr>
          </a:p>
          <a:p>
            <a:pPr>
              <a:lnSpc>
                <a:spcPct val="150000"/>
              </a:lnSpc>
            </a:pPr>
            <a:r>
              <a:rPr lang="zh-CN" altLang="en-US" dirty="0"/>
              <a:t>标识符 </a:t>
            </a:r>
            <a:r>
              <a:rPr lang="en-US" altLang="zh-CN" dirty="0">
                <a:ea typeface="宋体" panose="02010600030101010101" pitchFamily="2" charset="-122"/>
              </a:rPr>
              <a:t>Array</a:t>
            </a:r>
            <a:r>
              <a:rPr lang="zh-CN" altLang="en-US" dirty="0">
                <a:ea typeface="宋体" panose="02010600030101010101" pitchFamily="2" charset="-122"/>
              </a:rPr>
              <a:t> </a:t>
            </a:r>
            <a:r>
              <a:rPr lang="zh-CN" altLang="en-US" dirty="0"/>
              <a:t>是一个指向数组起始位置的常量指针</a:t>
            </a:r>
            <a:endParaRPr lang="en-US" altLang="zh-CN" dirty="0">
              <a:ea typeface="宋体" panose="02010600030101010101" pitchFamily="2" charset="-122"/>
            </a:endParaRPr>
          </a:p>
          <a:p>
            <a:pPr lvl="1">
              <a:lnSpc>
                <a:spcPct val="150000"/>
              </a:lnSpc>
            </a:pPr>
            <a:r>
              <a:rPr lang="zh-CN" altLang="en-US" dirty="0"/>
              <a:t>其值为</a:t>
            </a:r>
            <a:r>
              <a:rPr lang="en-US" altLang="zh-CN" b="1" dirty="0" err="1">
                <a:solidFill>
                  <a:srgbClr val="C00000"/>
                </a:solidFill>
                <a:ea typeface="宋体" panose="02010600030101010101" pitchFamily="2" charset="-122"/>
              </a:rPr>
              <a:t>X</a:t>
            </a:r>
            <a:r>
              <a:rPr lang="en-US" altLang="zh-CN" b="1" baseline="-25000" dirty="0" err="1">
                <a:solidFill>
                  <a:srgbClr val="C00000"/>
                </a:solidFill>
                <a:ea typeface="宋体" panose="02010600030101010101" pitchFamily="2" charset="-122"/>
              </a:rPr>
              <a:t>Array</a:t>
            </a:r>
            <a:endParaRPr lang="en-US" altLang="zh-CN" b="1" dirty="0">
              <a:solidFill>
                <a:srgbClr val="C00000"/>
              </a:solidFill>
              <a:ea typeface="宋体" panose="02010600030101010101" pitchFamily="2" charset="-122"/>
            </a:endParaRPr>
          </a:p>
        </p:txBody>
      </p:sp>
    </p:spTree>
    <p:extLst>
      <p:ext uri="{BB962C8B-B14F-4D97-AF65-F5344CB8AC3E}">
        <p14:creationId xmlns:p14="http://schemas.microsoft.com/office/powerpoint/2010/main" val="1098497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a:extLst>
              <a:ext uri="{FF2B5EF4-FFF2-40B4-BE49-F238E27FC236}">
                <a16:creationId xmlns:a16="http://schemas.microsoft.com/office/drawing/2014/main" id="{419FCDC5-7C4D-4739-BF5A-AD37E09D6E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A04A9D07-D8DB-4CB8-8F0D-DF5EE6804A62}" type="slidenum">
              <a:rPr lang="zh-CN" altLang="en-US" sz="1167">
                <a:latin typeface="Times New Roman" panose="02020603050405020304" pitchFamily="18" charset="0"/>
              </a:rPr>
              <a:pPr>
                <a:spcBef>
                  <a:spcPct val="0"/>
                </a:spcBef>
                <a:buFontTx/>
                <a:buNone/>
              </a:pPr>
              <a:t>5</a:t>
            </a:fld>
            <a:endParaRPr lang="en-US" altLang="zh-CN" sz="1167">
              <a:latin typeface="Times New Roman" panose="02020603050405020304" pitchFamily="18" charset="0"/>
            </a:endParaRPr>
          </a:p>
        </p:txBody>
      </p:sp>
      <p:sp>
        <p:nvSpPr>
          <p:cNvPr id="61443" name="Rectangle 2">
            <a:extLst>
              <a:ext uri="{FF2B5EF4-FFF2-40B4-BE49-F238E27FC236}">
                <a16:creationId xmlns:a16="http://schemas.microsoft.com/office/drawing/2014/main" id="{C8C11961-CF78-4720-A3CE-37A13F88EBE4}"/>
              </a:ext>
            </a:extLst>
          </p:cNvPr>
          <p:cNvSpPr>
            <a:spLocks noGrp="1" noChangeArrowheads="1"/>
          </p:cNvSpPr>
          <p:nvPr>
            <p:ph type="title"/>
          </p:nvPr>
        </p:nvSpPr>
        <p:spPr/>
        <p:txBody>
          <a:bodyPr/>
          <a:lstStyle/>
          <a:p>
            <a:r>
              <a:rPr lang="zh-CN" altLang="en-US" dirty="0"/>
              <a:t>访问数组元素</a:t>
            </a:r>
            <a:endParaRPr lang="en-US" altLang="zh-CN" dirty="0">
              <a:ea typeface="方正舒体" panose="02010601030101010101" pitchFamily="2" charset="-122"/>
            </a:endParaRPr>
          </a:p>
        </p:txBody>
      </p:sp>
      <p:sp>
        <p:nvSpPr>
          <p:cNvPr id="61444" name="Rectangle 3">
            <a:extLst>
              <a:ext uri="{FF2B5EF4-FFF2-40B4-BE49-F238E27FC236}">
                <a16:creationId xmlns:a16="http://schemas.microsoft.com/office/drawing/2014/main" id="{81758CBC-3694-45CD-AED1-3819D7133C1B}"/>
              </a:ext>
            </a:extLst>
          </p:cNvPr>
          <p:cNvSpPr>
            <a:spLocks noGrp="1" noChangeArrowheads="1"/>
          </p:cNvSpPr>
          <p:nvPr>
            <p:ph type="body" idx="1"/>
          </p:nvPr>
        </p:nvSpPr>
        <p:spPr/>
        <p:txBody>
          <a:bodyPr/>
          <a:lstStyle/>
          <a:p>
            <a:pPr>
              <a:lnSpc>
                <a:spcPct val="170000"/>
              </a:lnSpc>
            </a:pPr>
            <a:r>
              <a:rPr lang="zh-CN" altLang="en-US" dirty="0"/>
              <a:t>在</a:t>
            </a:r>
            <a:r>
              <a:rPr lang="en-US" altLang="zh-CN" dirty="0"/>
              <a:t>C</a:t>
            </a:r>
            <a:r>
              <a:rPr lang="zh-CN" altLang="en-US" dirty="0"/>
              <a:t>语言中，数组元素可以被索引访问</a:t>
            </a:r>
            <a:endParaRPr lang="en-US" altLang="zh-CN" dirty="0">
              <a:ea typeface="宋体" panose="02010600030101010101" pitchFamily="2" charset="-122"/>
            </a:endParaRPr>
          </a:p>
          <a:p>
            <a:pPr lvl="1">
              <a:lnSpc>
                <a:spcPct val="170000"/>
              </a:lnSpc>
            </a:pPr>
            <a:r>
              <a:rPr lang="zh-CN" altLang="en-US" dirty="0"/>
              <a:t>数组索引是一个位于</a:t>
            </a:r>
            <a:r>
              <a:rPr lang="en-US" altLang="zh-CN" b="1" dirty="0">
                <a:solidFill>
                  <a:srgbClr val="C00000"/>
                </a:solidFill>
                <a:ea typeface="宋体" panose="02010600030101010101" pitchFamily="2" charset="-122"/>
              </a:rPr>
              <a:t>0</a:t>
            </a:r>
            <a:r>
              <a:rPr lang="zh-CN" altLang="en-US" dirty="0"/>
              <a:t>与</a:t>
            </a:r>
            <a:r>
              <a:rPr lang="en-US" altLang="zh-CN" b="1" dirty="0">
                <a:solidFill>
                  <a:srgbClr val="C00000"/>
                </a:solidFill>
                <a:ea typeface="宋体" panose="02010600030101010101" pitchFamily="2" charset="-122"/>
              </a:rPr>
              <a:t>N-1</a:t>
            </a:r>
            <a:r>
              <a:rPr lang="zh-CN" altLang="en-US" dirty="0"/>
              <a:t>之间的整数</a:t>
            </a:r>
            <a:endParaRPr lang="en-US" altLang="zh-CN" b="1" dirty="0">
              <a:solidFill>
                <a:srgbClr val="FF0000"/>
              </a:solidFill>
              <a:ea typeface="宋体" panose="02010600030101010101" pitchFamily="2" charset="-122"/>
            </a:endParaRPr>
          </a:p>
          <a:p>
            <a:pPr>
              <a:lnSpc>
                <a:spcPct val="170000"/>
              </a:lnSpc>
            </a:pPr>
            <a:r>
              <a:rPr lang="zh-CN" altLang="en-US" dirty="0"/>
              <a:t>第</a:t>
            </a:r>
            <a:r>
              <a:rPr lang="en-US" altLang="zh-CN" b="1" dirty="0" err="1">
                <a:solidFill>
                  <a:srgbClr val="C00000"/>
                </a:solidFill>
                <a:latin typeface="Courier New" panose="02070309020205020404" pitchFamily="49" charset="0"/>
                <a:ea typeface="宋体" panose="02010600030101010101" pitchFamily="2" charset="-122"/>
                <a:cs typeface="Courier New" panose="02070309020205020404" pitchFamily="49" charset="0"/>
              </a:rPr>
              <a:t>i</a:t>
            </a:r>
            <a:r>
              <a:rPr lang="zh-CN" altLang="en-US" dirty="0"/>
              <a:t>个数组元素被储存在</a:t>
            </a:r>
            <a:r>
              <a:rPr lang="en-US" altLang="zh-CN" dirty="0" err="1">
                <a:solidFill>
                  <a:srgbClr val="C00000"/>
                </a:solidFill>
                <a:ea typeface="宋体" panose="02010600030101010101" pitchFamily="2" charset="-122"/>
              </a:rPr>
              <a:t>X</a:t>
            </a:r>
            <a:r>
              <a:rPr lang="en-US" altLang="zh-CN" baseline="-25000" dirty="0" err="1">
                <a:solidFill>
                  <a:srgbClr val="C00000"/>
                </a:solidFill>
                <a:ea typeface="宋体" panose="02010600030101010101" pitchFamily="2" charset="-122"/>
              </a:rPr>
              <a:t>Array</a:t>
            </a:r>
            <a:r>
              <a:rPr lang="en-US" altLang="zh-CN" dirty="0">
                <a:solidFill>
                  <a:srgbClr val="C00000"/>
                </a:solidFill>
                <a:ea typeface="宋体" panose="02010600030101010101" pitchFamily="2" charset="-122"/>
              </a:rPr>
              <a:t> + </a:t>
            </a:r>
            <a:r>
              <a:rPr lang="en-US" altLang="zh-CN" dirty="0" err="1">
                <a:solidFill>
                  <a:srgbClr val="C00000"/>
                </a:solidFill>
                <a:ea typeface="宋体" panose="02010600030101010101" pitchFamily="2" charset="-122"/>
              </a:rPr>
              <a:t>sizeof</a:t>
            </a:r>
            <a:r>
              <a:rPr lang="en-US" altLang="zh-CN" dirty="0">
                <a:solidFill>
                  <a:srgbClr val="C00000"/>
                </a:solidFill>
                <a:ea typeface="宋体" panose="02010600030101010101" pitchFamily="2" charset="-122"/>
              </a:rPr>
              <a:t>(Type) * </a:t>
            </a:r>
            <a:r>
              <a:rPr lang="en-US" altLang="zh-CN" dirty="0" err="1">
                <a:solidFill>
                  <a:srgbClr val="C00000"/>
                </a:solidFill>
                <a:ea typeface="宋体" panose="02010600030101010101" pitchFamily="2" charset="-122"/>
              </a:rPr>
              <a:t>i</a:t>
            </a:r>
            <a:endParaRPr lang="en-US" altLang="zh-CN" dirty="0">
              <a:solidFill>
                <a:srgbClr val="C00000"/>
              </a:solidFill>
              <a:ea typeface="宋体" panose="02010600030101010101" pitchFamily="2" charset="-122"/>
            </a:endParaRPr>
          </a:p>
        </p:txBody>
      </p:sp>
    </p:spTree>
    <p:extLst>
      <p:ext uri="{BB962C8B-B14F-4D97-AF65-F5344CB8AC3E}">
        <p14:creationId xmlns:p14="http://schemas.microsoft.com/office/powerpoint/2010/main" val="2156219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a:extLst>
              <a:ext uri="{FF2B5EF4-FFF2-40B4-BE49-F238E27FC236}">
                <a16:creationId xmlns:a16="http://schemas.microsoft.com/office/drawing/2014/main" id="{11EA9127-B766-401D-9031-51427887B4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1C86DE48-B60F-4C4A-AEBB-05F02F677959}" type="slidenum">
              <a:rPr lang="zh-CN" altLang="en-US" sz="1167">
                <a:latin typeface="Times New Roman" panose="02020603050405020304" pitchFamily="18" charset="0"/>
              </a:rPr>
              <a:pPr>
                <a:spcBef>
                  <a:spcPct val="0"/>
                </a:spcBef>
                <a:buFontTx/>
                <a:buNone/>
              </a:pPr>
              <a:t>6</a:t>
            </a:fld>
            <a:endParaRPr lang="en-US" altLang="zh-CN" sz="1167">
              <a:latin typeface="Times New Roman" panose="02020603050405020304" pitchFamily="18" charset="0"/>
            </a:endParaRPr>
          </a:p>
        </p:txBody>
      </p:sp>
      <p:sp>
        <p:nvSpPr>
          <p:cNvPr id="63491" name="Rectangle 2">
            <a:extLst>
              <a:ext uri="{FF2B5EF4-FFF2-40B4-BE49-F238E27FC236}">
                <a16:creationId xmlns:a16="http://schemas.microsoft.com/office/drawing/2014/main" id="{E57BE464-CC73-476A-8BD3-AC34C6F1A430}"/>
              </a:ext>
            </a:extLst>
          </p:cNvPr>
          <p:cNvSpPr>
            <a:spLocks noGrp="1" noChangeArrowheads="1"/>
          </p:cNvSpPr>
          <p:nvPr>
            <p:ph type="title"/>
          </p:nvPr>
        </p:nvSpPr>
        <p:spPr/>
        <p:txBody>
          <a:bodyPr/>
          <a:lstStyle/>
          <a:p>
            <a:r>
              <a:rPr lang="zh-CN" altLang="en-US" dirty="0"/>
              <a:t>数组示例</a:t>
            </a:r>
            <a:endParaRPr lang="en-US" altLang="zh-CN" dirty="0">
              <a:ea typeface="方正舒体" panose="02010601030101010101" pitchFamily="2" charset="-122"/>
            </a:endParaRPr>
          </a:p>
        </p:txBody>
      </p:sp>
      <p:graphicFrame>
        <p:nvGraphicFramePr>
          <p:cNvPr id="1368067" name="Group 3">
            <a:extLst>
              <a:ext uri="{FF2B5EF4-FFF2-40B4-BE49-F238E27FC236}">
                <a16:creationId xmlns:a16="http://schemas.microsoft.com/office/drawing/2014/main" id="{D1394479-1382-409A-9EEF-CDF3872C9E70}"/>
              </a:ext>
            </a:extLst>
          </p:cNvPr>
          <p:cNvGraphicFramePr>
            <a:graphicFrameLocks noGrp="1"/>
          </p:cNvGraphicFramePr>
          <p:nvPr/>
        </p:nvGraphicFramePr>
        <p:xfrm>
          <a:off x="1778000" y="1714500"/>
          <a:ext cx="1778000" cy="317500"/>
        </p:xfrm>
        <a:graphic>
          <a:graphicData uri="http://schemas.openxmlformats.org/drawingml/2006/table">
            <a:tbl>
              <a:tblPr/>
              <a:tblGrid>
                <a:gridCol w="177800">
                  <a:extLst>
                    <a:ext uri="{9D8B030D-6E8A-4147-A177-3AD203B41FA5}">
                      <a16:colId xmlns:a16="http://schemas.microsoft.com/office/drawing/2014/main" val="20000"/>
                    </a:ext>
                  </a:extLst>
                </a:gridCol>
                <a:gridCol w="177800">
                  <a:extLst>
                    <a:ext uri="{9D8B030D-6E8A-4147-A177-3AD203B41FA5}">
                      <a16:colId xmlns:a16="http://schemas.microsoft.com/office/drawing/2014/main" val="20001"/>
                    </a:ext>
                  </a:extLst>
                </a:gridCol>
                <a:gridCol w="177800">
                  <a:extLst>
                    <a:ext uri="{9D8B030D-6E8A-4147-A177-3AD203B41FA5}">
                      <a16:colId xmlns:a16="http://schemas.microsoft.com/office/drawing/2014/main" val="20002"/>
                    </a:ext>
                  </a:extLst>
                </a:gridCol>
                <a:gridCol w="177800">
                  <a:extLst>
                    <a:ext uri="{9D8B030D-6E8A-4147-A177-3AD203B41FA5}">
                      <a16:colId xmlns:a16="http://schemas.microsoft.com/office/drawing/2014/main" val="20003"/>
                    </a:ext>
                  </a:extLst>
                </a:gridCol>
                <a:gridCol w="177800">
                  <a:extLst>
                    <a:ext uri="{9D8B030D-6E8A-4147-A177-3AD203B41FA5}">
                      <a16:colId xmlns:a16="http://schemas.microsoft.com/office/drawing/2014/main" val="20004"/>
                    </a:ext>
                  </a:extLst>
                </a:gridCol>
                <a:gridCol w="177800">
                  <a:extLst>
                    <a:ext uri="{9D8B030D-6E8A-4147-A177-3AD203B41FA5}">
                      <a16:colId xmlns:a16="http://schemas.microsoft.com/office/drawing/2014/main" val="20005"/>
                    </a:ext>
                  </a:extLst>
                </a:gridCol>
                <a:gridCol w="177800">
                  <a:extLst>
                    <a:ext uri="{9D8B030D-6E8A-4147-A177-3AD203B41FA5}">
                      <a16:colId xmlns:a16="http://schemas.microsoft.com/office/drawing/2014/main" val="20006"/>
                    </a:ext>
                  </a:extLst>
                </a:gridCol>
                <a:gridCol w="177800">
                  <a:extLst>
                    <a:ext uri="{9D8B030D-6E8A-4147-A177-3AD203B41FA5}">
                      <a16:colId xmlns:a16="http://schemas.microsoft.com/office/drawing/2014/main" val="20007"/>
                    </a:ext>
                  </a:extLst>
                </a:gridCol>
                <a:gridCol w="177800">
                  <a:extLst>
                    <a:ext uri="{9D8B030D-6E8A-4147-A177-3AD203B41FA5}">
                      <a16:colId xmlns:a16="http://schemas.microsoft.com/office/drawing/2014/main" val="20008"/>
                    </a:ext>
                  </a:extLst>
                </a:gridCol>
                <a:gridCol w="177800">
                  <a:extLst>
                    <a:ext uri="{9D8B030D-6E8A-4147-A177-3AD203B41FA5}">
                      <a16:colId xmlns:a16="http://schemas.microsoft.com/office/drawing/2014/main" val="20009"/>
                    </a:ext>
                  </a:extLst>
                </a:gridCol>
              </a:tblGrid>
              <a:tr h="317500">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p>
                  </a:txBody>
                  <a:tcPr marL="76200" marR="76200"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4</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5</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6</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7</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8</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rPr>
                        <a:t>9</a:t>
                      </a:r>
                      <a:endParaRPr kumimoji="0" lang="zh-CN" altLang="en-US" sz="1300" b="0"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68095" name="Group 31">
            <a:extLst>
              <a:ext uri="{FF2B5EF4-FFF2-40B4-BE49-F238E27FC236}">
                <a16:creationId xmlns:a16="http://schemas.microsoft.com/office/drawing/2014/main" id="{1C94C1AD-58DB-4420-8651-9142C8F11058}"/>
              </a:ext>
            </a:extLst>
          </p:cNvPr>
          <p:cNvGraphicFramePr>
            <a:graphicFrameLocks noGrp="1"/>
          </p:cNvGraphicFramePr>
          <p:nvPr/>
        </p:nvGraphicFramePr>
        <p:xfrm>
          <a:off x="1016000" y="3442230"/>
          <a:ext cx="7239000" cy="304271"/>
        </p:xfrm>
        <a:graphic>
          <a:graphicData uri="http://schemas.openxmlformats.org/drawingml/2006/table">
            <a:tbl>
              <a:tblPr/>
              <a:tblGrid>
                <a:gridCol w="1447271">
                  <a:extLst>
                    <a:ext uri="{9D8B030D-6E8A-4147-A177-3AD203B41FA5}">
                      <a16:colId xmlns:a16="http://schemas.microsoft.com/office/drawing/2014/main" val="20000"/>
                    </a:ext>
                  </a:extLst>
                </a:gridCol>
                <a:gridCol w="1448594">
                  <a:extLst>
                    <a:ext uri="{9D8B030D-6E8A-4147-A177-3AD203B41FA5}">
                      <a16:colId xmlns:a16="http://schemas.microsoft.com/office/drawing/2014/main" val="20001"/>
                    </a:ext>
                  </a:extLst>
                </a:gridCol>
                <a:gridCol w="1447271">
                  <a:extLst>
                    <a:ext uri="{9D8B030D-6E8A-4147-A177-3AD203B41FA5}">
                      <a16:colId xmlns:a16="http://schemas.microsoft.com/office/drawing/2014/main" val="20002"/>
                    </a:ext>
                  </a:extLst>
                </a:gridCol>
                <a:gridCol w="1448593">
                  <a:extLst>
                    <a:ext uri="{9D8B030D-6E8A-4147-A177-3AD203B41FA5}">
                      <a16:colId xmlns:a16="http://schemas.microsoft.com/office/drawing/2014/main" val="20003"/>
                    </a:ext>
                  </a:extLst>
                </a:gridCol>
                <a:gridCol w="1447271">
                  <a:extLst>
                    <a:ext uri="{9D8B030D-6E8A-4147-A177-3AD203B41FA5}">
                      <a16:colId xmlns:a16="http://schemas.microsoft.com/office/drawing/2014/main" val="20004"/>
                    </a:ext>
                  </a:extLst>
                </a:gridCol>
              </a:tblGrid>
              <a:tr h="304271">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p>
                  </a:txBody>
                  <a:tcPr marL="76200" marR="76200"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8</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16</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24</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32</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3530" name="Text Box 45">
            <a:extLst>
              <a:ext uri="{FF2B5EF4-FFF2-40B4-BE49-F238E27FC236}">
                <a16:creationId xmlns:a16="http://schemas.microsoft.com/office/drawing/2014/main" id="{CBC67374-25C7-46A0-BA09-69C2877B21B8}"/>
              </a:ext>
            </a:extLst>
          </p:cNvPr>
          <p:cNvSpPr txBox="1">
            <a:spLocks noChangeArrowheads="1"/>
          </p:cNvSpPr>
          <p:nvPr/>
        </p:nvSpPr>
        <p:spPr bwMode="auto">
          <a:xfrm>
            <a:off x="1778000" y="1304396"/>
            <a:ext cx="20313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char a[10] ;</a:t>
            </a:r>
          </a:p>
        </p:txBody>
      </p:sp>
      <p:sp>
        <p:nvSpPr>
          <p:cNvPr id="63531" name="Text Box 46">
            <a:extLst>
              <a:ext uri="{FF2B5EF4-FFF2-40B4-BE49-F238E27FC236}">
                <a16:creationId xmlns:a16="http://schemas.microsoft.com/office/drawing/2014/main" id="{5380E2AC-8D9C-4296-A8FC-354C2A951061}"/>
              </a:ext>
            </a:extLst>
          </p:cNvPr>
          <p:cNvSpPr txBox="1">
            <a:spLocks noChangeArrowheads="1"/>
          </p:cNvSpPr>
          <p:nvPr/>
        </p:nvSpPr>
        <p:spPr bwMode="auto">
          <a:xfrm>
            <a:off x="1685396" y="228143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a</a:t>
            </a:r>
          </a:p>
        </p:txBody>
      </p:sp>
      <p:sp>
        <p:nvSpPr>
          <p:cNvPr id="63532" name="Text Box 47">
            <a:extLst>
              <a:ext uri="{FF2B5EF4-FFF2-40B4-BE49-F238E27FC236}">
                <a16:creationId xmlns:a16="http://schemas.microsoft.com/office/drawing/2014/main" id="{03A24DAD-A7A9-4E9C-BF49-85A42ED56648}"/>
              </a:ext>
            </a:extLst>
          </p:cNvPr>
          <p:cNvSpPr txBox="1">
            <a:spLocks noChangeArrowheads="1"/>
          </p:cNvSpPr>
          <p:nvPr/>
        </p:nvSpPr>
        <p:spPr bwMode="auto">
          <a:xfrm>
            <a:off x="2413000" y="2281436"/>
            <a:ext cx="748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dirty="0">
                <a:solidFill>
                  <a:srgbClr val="0033CC"/>
                </a:solidFill>
                <a:latin typeface="Courier New" panose="02070309020205020404" pitchFamily="49" charset="0"/>
                <a:cs typeface="Courier New" panose="02070309020205020404" pitchFamily="49" charset="0"/>
              </a:rPr>
              <a:t>x</a:t>
            </a:r>
            <a:r>
              <a:rPr lang="en-US" altLang="zh-CN" sz="2000" baseline="-25000" dirty="0">
                <a:solidFill>
                  <a:srgbClr val="0033CC"/>
                </a:solidFill>
                <a:latin typeface="Courier New" panose="02070309020205020404" pitchFamily="49" charset="0"/>
                <a:cs typeface="Courier New" panose="02070309020205020404" pitchFamily="49" charset="0"/>
              </a:rPr>
              <a:t>a</a:t>
            </a:r>
            <a:r>
              <a:rPr lang="en-US" altLang="zh-CN" sz="2000" dirty="0">
                <a:solidFill>
                  <a:srgbClr val="0033CC"/>
                </a:solidFill>
                <a:latin typeface="Courier New" panose="02070309020205020404" pitchFamily="49" charset="0"/>
                <a:cs typeface="Courier New" panose="02070309020205020404" pitchFamily="49" charset="0"/>
              </a:rPr>
              <a:t>+4</a:t>
            </a:r>
          </a:p>
        </p:txBody>
      </p:sp>
      <p:sp>
        <p:nvSpPr>
          <p:cNvPr id="63533" name="Text Box 48">
            <a:extLst>
              <a:ext uri="{FF2B5EF4-FFF2-40B4-BE49-F238E27FC236}">
                <a16:creationId xmlns:a16="http://schemas.microsoft.com/office/drawing/2014/main" id="{37C04700-3CB5-4A8D-8DF3-C5B39B774951}"/>
              </a:ext>
            </a:extLst>
          </p:cNvPr>
          <p:cNvSpPr txBox="1">
            <a:spLocks noChangeArrowheads="1"/>
          </p:cNvSpPr>
          <p:nvPr/>
        </p:nvSpPr>
        <p:spPr bwMode="auto">
          <a:xfrm>
            <a:off x="3156479" y="2281436"/>
            <a:ext cx="748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a</a:t>
            </a:r>
            <a:r>
              <a:rPr lang="en-US" altLang="zh-CN" sz="2000">
                <a:solidFill>
                  <a:srgbClr val="0033CC"/>
                </a:solidFill>
                <a:latin typeface="Courier New" panose="02070309020205020404" pitchFamily="49" charset="0"/>
                <a:cs typeface="Courier New" panose="02070309020205020404" pitchFamily="49" charset="0"/>
              </a:rPr>
              <a:t>+8</a:t>
            </a:r>
          </a:p>
        </p:txBody>
      </p:sp>
      <p:sp>
        <p:nvSpPr>
          <p:cNvPr id="63534" name="Text Box 49">
            <a:extLst>
              <a:ext uri="{FF2B5EF4-FFF2-40B4-BE49-F238E27FC236}">
                <a16:creationId xmlns:a16="http://schemas.microsoft.com/office/drawing/2014/main" id="{FC3D3072-6B50-428E-9CA2-C637931BC40E}"/>
              </a:ext>
            </a:extLst>
          </p:cNvPr>
          <p:cNvSpPr txBox="1">
            <a:spLocks noChangeArrowheads="1"/>
          </p:cNvSpPr>
          <p:nvPr/>
        </p:nvSpPr>
        <p:spPr bwMode="auto">
          <a:xfrm>
            <a:off x="1016000" y="3044032"/>
            <a:ext cx="20313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char *b[5] ;</a:t>
            </a:r>
          </a:p>
        </p:txBody>
      </p:sp>
      <p:sp>
        <p:nvSpPr>
          <p:cNvPr id="63535" name="Text Box 50">
            <a:extLst>
              <a:ext uri="{FF2B5EF4-FFF2-40B4-BE49-F238E27FC236}">
                <a16:creationId xmlns:a16="http://schemas.microsoft.com/office/drawing/2014/main" id="{505514BA-27C4-4B18-B356-6FC712F62464}"/>
              </a:ext>
            </a:extLst>
          </p:cNvPr>
          <p:cNvSpPr txBox="1">
            <a:spLocks noChangeArrowheads="1"/>
          </p:cNvSpPr>
          <p:nvPr/>
        </p:nvSpPr>
        <p:spPr bwMode="auto">
          <a:xfrm>
            <a:off x="968375" y="3746500"/>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b</a:t>
            </a:r>
          </a:p>
        </p:txBody>
      </p:sp>
      <p:sp>
        <p:nvSpPr>
          <p:cNvPr id="63536" name="Text Box 51">
            <a:extLst>
              <a:ext uri="{FF2B5EF4-FFF2-40B4-BE49-F238E27FC236}">
                <a16:creationId xmlns:a16="http://schemas.microsoft.com/office/drawing/2014/main" id="{61B4D027-F30E-4E1B-9B70-D1F6BFC4DA38}"/>
              </a:ext>
            </a:extLst>
          </p:cNvPr>
          <p:cNvSpPr txBox="1">
            <a:spLocks noChangeArrowheads="1"/>
          </p:cNvSpPr>
          <p:nvPr/>
        </p:nvSpPr>
        <p:spPr bwMode="auto">
          <a:xfrm>
            <a:off x="2428875" y="3746500"/>
            <a:ext cx="748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b</a:t>
            </a:r>
            <a:r>
              <a:rPr lang="en-US" altLang="zh-CN" sz="2000">
                <a:solidFill>
                  <a:srgbClr val="0033CC"/>
                </a:solidFill>
                <a:latin typeface="Courier New" panose="02070309020205020404" pitchFamily="49" charset="0"/>
                <a:cs typeface="Courier New" panose="02070309020205020404" pitchFamily="49" charset="0"/>
              </a:rPr>
              <a:t>+8</a:t>
            </a:r>
          </a:p>
        </p:txBody>
      </p:sp>
      <p:sp>
        <p:nvSpPr>
          <p:cNvPr id="63537" name="Text Box 52">
            <a:extLst>
              <a:ext uri="{FF2B5EF4-FFF2-40B4-BE49-F238E27FC236}">
                <a16:creationId xmlns:a16="http://schemas.microsoft.com/office/drawing/2014/main" id="{86061444-7BF7-4128-9D8E-1AE7AE7D2D8D}"/>
              </a:ext>
            </a:extLst>
          </p:cNvPr>
          <p:cNvSpPr txBox="1">
            <a:spLocks noChangeArrowheads="1"/>
          </p:cNvSpPr>
          <p:nvPr/>
        </p:nvSpPr>
        <p:spPr bwMode="auto">
          <a:xfrm>
            <a:off x="3889375" y="3746500"/>
            <a:ext cx="902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b</a:t>
            </a:r>
            <a:r>
              <a:rPr lang="en-US" altLang="zh-CN" sz="2000">
                <a:solidFill>
                  <a:srgbClr val="0033CC"/>
                </a:solidFill>
                <a:latin typeface="Courier New" panose="02070309020205020404" pitchFamily="49" charset="0"/>
                <a:cs typeface="Courier New" panose="02070309020205020404" pitchFamily="49" charset="0"/>
              </a:rPr>
              <a:t>+16</a:t>
            </a:r>
          </a:p>
        </p:txBody>
      </p:sp>
      <p:sp>
        <p:nvSpPr>
          <p:cNvPr id="63538" name="Text Box 53">
            <a:extLst>
              <a:ext uri="{FF2B5EF4-FFF2-40B4-BE49-F238E27FC236}">
                <a16:creationId xmlns:a16="http://schemas.microsoft.com/office/drawing/2014/main" id="{63AAA608-9843-4B53-9B72-84B32373263F}"/>
              </a:ext>
            </a:extLst>
          </p:cNvPr>
          <p:cNvSpPr txBox="1">
            <a:spLocks noChangeArrowheads="1"/>
          </p:cNvSpPr>
          <p:nvPr/>
        </p:nvSpPr>
        <p:spPr bwMode="auto">
          <a:xfrm>
            <a:off x="5334000" y="3746500"/>
            <a:ext cx="902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b</a:t>
            </a:r>
            <a:r>
              <a:rPr lang="en-US" altLang="zh-CN" sz="2000">
                <a:solidFill>
                  <a:srgbClr val="0033CC"/>
                </a:solidFill>
                <a:latin typeface="Courier New" panose="02070309020205020404" pitchFamily="49" charset="0"/>
                <a:cs typeface="Courier New" panose="02070309020205020404" pitchFamily="49" charset="0"/>
              </a:rPr>
              <a:t>+24</a:t>
            </a:r>
          </a:p>
        </p:txBody>
      </p:sp>
      <p:sp>
        <p:nvSpPr>
          <p:cNvPr id="63539" name="Text Box 54">
            <a:extLst>
              <a:ext uri="{FF2B5EF4-FFF2-40B4-BE49-F238E27FC236}">
                <a16:creationId xmlns:a16="http://schemas.microsoft.com/office/drawing/2014/main" id="{B98CB637-3049-407D-BB31-DA73837EA3FB}"/>
              </a:ext>
            </a:extLst>
          </p:cNvPr>
          <p:cNvSpPr txBox="1">
            <a:spLocks noChangeArrowheads="1"/>
          </p:cNvSpPr>
          <p:nvPr/>
        </p:nvSpPr>
        <p:spPr bwMode="auto">
          <a:xfrm>
            <a:off x="6794500" y="3746500"/>
            <a:ext cx="902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b</a:t>
            </a:r>
            <a:r>
              <a:rPr lang="en-US" altLang="zh-CN" sz="2000">
                <a:solidFill>
                  <a:srgbClr val="0033CC"/>
                </a:solidFill>
                <a:latin typeface="Courier New" panose="02070309020205020404" pitchFamily="49" charset="0"/>
                <a:cs typeface="Courier New" panose="02070309020205020404" pitchFamily="49" charset="0"/>
              </a:rPr>
              <a:t>+32</a:t>
            </a:r>
          </a:p>
        </p:txBody>
      </p:sp>
      <p:cxnSp>
        <p:nvCxnSpPr>
          <p:cNvPr id="3" name="直线箭头连接符 2">
            <a:extLst>
              <a:ext uri="{FF2B5EF4-FFF2-40B4-BE49-F238E27FC236}">
                <a16:creationId xmlns:a16="http://schemas.microsoft.com/office/drawing/2014/main" id="{4C279F83-ED39-C645-A0CE-CD7556875538}"/>
              </a:ext>
            </a:extLst>
          </p:cNvPr>
          <p:cNvCxnSpPr>
            <a:cxnSpLocks/>
          </p:cNvCxnSpPr>
          <p:nvPr/>
        </p:nvCxnSpPr>
        <p:spPr>
          <a:xfrm flipV="1">
            <a:off x="1763688" y="2104008"/>
            <a:ext cx="0" cy="177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34E7A18E-9CBA-5B44-9F2E-55D68C294D47}"/>
              </a:ext>
            </a:extLst>
          </p:cNvPr>
          <p:cNvCxnSpPr>
            <a:cxnSpLocks/>
          </p:cNvCxnSpPr>
          <p:nvPr/>
        </p:nvCxnSpPr>
        <p:spPr>
          <a:xfrm flipV="1">
            <a:off x="2483768" y="2104008"/>
            <a:ext cx="0" cy="177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91C29262-43F3-7B43-869F-50222729E417}"/>
              </a:ext>
            </a:extLst>
          </p:cNvPr>
          <p:cNvCxnSpPr>
            <a:cxnSpLocks/>
          </p:cNvCxnSpPr>
          <p:nvPr/>
        </p:nvCxnSpPr>
        <p:spPr>
          <a:xfrm flipV="1">
            <a:off x="3203848" y="2104008"/>
            <a:ext cx="0" cy="177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5455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a:extLst>
              <a:ext uri="{FF2B5EF4-FFF2-40B4-BE49-F238E27FC236}">
                <a16:creationId xmlns:a16="http://schemas.microsoft.com/office/drawing/2014/main" id="{45EFE168-5D53-441F-8F3F-F919EC3E94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99266AB7-793F-4CA5-ADD9-074D39D3781E}" type="slidenum">
              <a:rPr lang="zh-CN" altLang="en-US" sz="1167">
                <a:latin typeface="Times New Roman" panose="02020603050405020304" pitchFamily="18" charset="0"/>
              </a:rPr>
              <a:pPr>
                <a:spcBef>
                  <a:spcPct val="0"/>
                </a:spcBef>
                <a:buFontTx/>
                <a:buNone/>
              </a:pPr>
              <a:t>7</a:t>
            </a:fld>
            <a:endParaRPr lang="en-US" altLang="zh-CN" sz="1167">
              <a:latin typeface="Times New Roman" panose="02020603050405020304" pitchFamily="18" charset="0"/>
            </a:endParaRPr>
          </a:p>
        </p:txBody>
      </p:sp>
      <p:sp>
        <p:nvSpPr>
          <p:cNvPr id="65539" name="Rectangle 2">
            <a:extLst>
              <a:ext uri="{FF2B5EF4-FFF2-40B4-BE49-F238E27FC236}">
                <a16:creationId xmlns:a16="http://schemas.microsoft.com/office/drawing/2014/main" id="{74D77C38-7BA5-4545-96E6-EE4CCFAC1051}"/>
              </a:ext>
            </a:extLst>
          </p:cNvPr>
          <p:cNvSpPr>
            <a:spLocks noGrp="1" noChangeArrowheads="1"/>
          </p:cNvSpPr>
          <p:nvPr>
            <p:ph type="title"/>
          </p:nvPr>
        </p:nvSpPr>
        <p:spPr/>
        <p:txBody>
          <a:bodyPr/>
          <a:lstStyle/>
          <a:p>
            <a:r>
              <a:rPr lang="zh-CN" altLang="en-US" dirty="0"/>
              <a:t>数组示例</a:t>
            </a:r>
            <a:endParaRPr lang="en-US" altLang="zh-CN" dirty="0">
              <a:ea typeface="方正舒体" panose="02010601030101010101" pitchFamily="2" charset="-122"/>
            </a:endParaRPr>
          </a:p>
        </p:txBody>
      </p:sp>
      <p:graphicFrame>
        <p:nvGraphicFramePr>
          <p:cNvPr id="1369091" name="Group 3">
            <a:extLst>
              <a:ext uri="{FF2B5EF4-FFF2-40B4-BE49-F238E27FC236}">
                <a16:creationId xmlns:a16="http://schemas.microsoft.com/office/drawing/2014/main" id="{B66A8CE6-3922-4A92-946B-3FF026211266}"/>
              </a:ext>
            </a:extLst>
          </p:cNvPr>
          <p:cNvGraphicFramePr>
            <a:graphicFrameLocks noGrp="1"/>
          </p:cNvGraphicFramePr>
          <p:nvPr/>
        </p:nvGraphicFramePr>
        <p:xfrm>
          <a:off x="1778000" y="1714500"/>
          <a:ext cx="4191000" cy="317500"/>
        </p:xfrm>
        <a:graphic>
          <a:graphicData uri="http://schemas.openxmlformats.org/drawingml/2006/table">
            <a:tbl>
              <a:tblPr/>
              <a:tblGrid>
                <a:gridCol w="698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gridCol w="698500">
                  <a:extLst>
                    <a:ext uri="{9D8B030D-6E8A-4147-A177-3AD203B41FA5}">
                      <a16:colId xmlns:a16="http://schemas.microsoft.com/office/drawing/2014/main" val="20005"/>
                    </a:ext>
                  </a:extLst>
                </a:gridCol>
              </a:tblGrid>
              <a:tr h="3175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300" b="0" i="0" u="none" strike="noStrike" cap="none" normalizeH="0" baseline="0" dirty="0">
                        <a:ln>
                          <a:noFill/>
                        </a:ln>
                        <a:solidFill>
                          <a:schemeClr val="tx1"/>
                        </a:solidFill>
                        <a:effectLst/>
                        <a:latin typeface="Comic Sans MS" pitchFamily="66" charset="0"/>
                        <a:ea typeface="宋体" pitchFamily="2" charset="-122"/>
                      </a:endParaRPr>
                    </a:p>
                  </a:txBody>
                  <a:tcPr marL="76200" marR="76200"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dirty="0">
                          <a:ln>
                            <a:noFill/>
                          </a:ln>
                          <a:solidFill>
                            <a:schemeClr val="tx1"/>
                          </a:solidFill>
                          <a:effectLst/>
                          <a:latin typeface="Comic Sans MS" pitchFamily="66" charset="0"/>
                          <a:ea typeface="宋体" pitchFamily="2" charset="-122"/>
                        </a:rPr>
                        <a:t>4</a:t>
                      </a:r>
                      <a:endParaRPr kumimoji="0" lang="zh-CN" altLang="en-US" sz="1300" b="0" i="0" u="none" strike="noStrike" cap="none" normalizeH="0" baseline="0" dirty="0">
                        <a:ln>
                          <a:noFill/>
                        </a:ln>
                        <a:solidFill>
                          <a:schemeClr val="tx1"/>
                        </a:solidFill>
                        <a:effectLst/>
                        <a:latin typeface="Comic Sans MS" pitchFamily="66" charset="0"/>
                        <a:ea typeface="宋体"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dirty="0">
                          <a:ln>
                            <a:noFill/>
                          </a:ln>
                          <a:solidFill>
                            <a:schemeClr val="tx1"/>
                          </a:solidFill>
                          <a:effectLst/>
                          <a:latin typeface="Comic Sans MS" pitchFamily="66" charset="0"/>
                          <a:ea typeface="宋体" pitchFamily="2" charset="-122"/>
                        </a:rPr>
                        <a:t>8</a:t>
                      </a:r>
                      <a:endParaRPr kumimoji="0" lang="zh-CN" altLang="en-US" sz="1300" b="0" i="0" u="none" strike="noStrike" cap="none" normalizeH="0" baseline="0" dirty="0">
                        <a:ln>
                          <a:noFill/>
                        </a:ln>
                        <a:solidFill>
                          <a:schemeClr val="tx1"/>
                        </a:solidFill>
                        <a:effectLst/>
                        <a:latin typeface="Comic Sans MS" pitchFamily="66" charset="0"/>
                        <a:ea typeface="宋体"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dirty="0">
                          <a:ln>
                            <a:noFill/>
                          </a:ln>
                          <a:solidFill>
                            <a:schemeClr val="tx1"/>
                          </a:solidFill>
                          <a:effectLst/>
                          <a:latin typeface="Comic Sans MS" pitchFamily="66" charset="0"/>
                          <a:ea typeface="宋体" pitchFamily="2" charset="-122"/>
                        </a:rPr>
                        <a:t>12</a:t>
                      </a:r>
                      <a:endParaRPr kumimoji="0" lang="zh-CN" altLang="en-US" sz="1300" b="0" i="0" u="none" strike="noStrike" cap="none" normalizeH="0" baseline="0" dirty="0">
                        <a:ln>
                          <a:noFill/>
                        </a:ln>
                        <a:solidFill>
                          <a:schemeClr val="tx1"/>
                        </a:solidFill>
                        <a:effectLst/>
                        <a:latin typeface="Comic Sans MS" pitchFamily="66" charset="0"/>
                        <a:ea typeface="宋体"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dirty="0">
                          <a:ln>
                            <a:noFill/>
                          </a:ln>
                          <a:solidFill>
                            <a:schemeClr val="tx1"/>
                          </a:solidFill>
                          <a:effectLst/>
                          <a:latin typeface="Comic Sans MS" pitchFamily="66" charset="0"/>
                          <a:ea typeface="宋体" pitchFamily="2" charset="-122"/>
                        </a:rPr>
                        <a:t>16</a:t>
                      </a:r>
                      <a:endParaRPr kumimoji="0" lang="zh-CN" altLang="en-US" sz="1300" b="0" i="0" u="none" strike="noStrike" cap="none" normalizeH="0" baseline="0" dirty="0">
                        <a:ln>
                          <a:noFill/>
                        </a:ln>
                        <a:solidFill>
                          <a:schemeClr val="tx1"/>
                        </a:solidFill>
                        <a:effectLst/>
                        <a:latin typeface="Comic Sans MS" pitchFamily="66" charset="0"/>
                        <a:ea typeface="宋体"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0" i="0" u="none" strike="noStrike" cap="none" normalizeH="0" baseline="0" dirty="0">
                          <a:ln>
                            <a:noFill/>
                          </a:ln>
                          <a:solidFill>
                            <a:schemeClr val="tx1"/>
                          </a:solidFill>
                          <a:effectLst/>
                          <a:latin typeface="Comic Sans MS" pitchFamily="66" charset="0"/>
                          <a:ea typeface="宋体" pitchFamily="2" charset="-122"/>
                        </a:rPr>
                        <a:t>20</a:t>
                      </a:r>
                      <a:endParaRPr kumimoji="0" lang="zh-CN" altLang="en-US" sz="1300" b="0" i="0" u="none" strike="noStrike" cap="none" normalizeH="0" baseline="0" dirty="0">
                        <a:ln>
                          <a:noFill/>
                        </a:ln>
                        <a:solidFill>
                          <a:schemeClr val="tx1"/>
                        </a:solidFill>
                        <a:effectLst/>
                        <a:latin typeface="Comic Sans MS" pitchFamily="66" charset="0"/>
                        <a:ea typeface="宋体" pitchFamily="2" charset="-122"/>
                      </a:endParaRPr>
                    </a:p>
                  </a:txBody>
                  <a:tcPr marL="76200" marR="76200" marT="38100" marB="381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69099" name="Group 11">
            <a:extLst>
              <a:ext uri="{FF2B5EF4-FFF2-40B4-BE49-F238E27FC236}">
                <a16:creationId xmlns:a16="http://schemas.microsoft.com/office/drawing/2014/main" id="{E70BD95D-B513-4F02-B0AF-B465648358AE}"/>
              </a:ext>
            </a:extLst>
          </p:cNvPr>
          <p:cNvGraphicFramePr>
            <a:graphicFrameLocks noGrp="1"/>
          </p:cNvGraphicFramePr>
          <p:nvPr/>
        </p:nvGraphicFramePr>
        <p:xfrm>
          <a:off x="1016000" y="3442230"/>
          <a:ext cx="7239000" cy="304271"/>
        </p:xfrm>
        <a:graphic>
          <a:graphicData uri="http://schemas.openxmlformats.org/drawingml/2006/table">
            <a:tbl>
              <a:tblPr/>
              <a:tblGrid>
                <a:gridCol w="1447271">
                  <a:extLst>
                    <a:ext uri="{9D8B030D-6E8A-4147-A177-3AD203B41FA5}">
                      <a16:colId xmlns:a16="http://schemas.microsoft.com/office/drawing/2014/main" val="20000"/>
                    </a:ext>
                  </a:extLst>
                </a:gridCol>
                <a:gridCol w="1448594">
                  <a:extLst>
                    <a:ext uri="{9D8B030D-6E8A-4147-A177-3AD203B41FA5}">
                      <a16:colId xmlns:a16="http://schemas.microsoft.com/office/drawing/2014/main" val="20001"/>
                    </a:ext>
                  </a:extLst>
                </a:gridCol>
                <a:gridCol w="1447271">
                  <a:extLst>
                    <a:ext uri="{9D8B030D-6E8A-4147-A177-3AD203B41FA5}">
                      <a16:colId xmlns:a16="http://schemas.microsoft.com/office/drawing/2014/main" val="20002"/>
                    </a:ext>
                  </a:extLst>
                </a:gridCol>
                <a:gridCol w="1448593">
                  <a:extLst>
                    <a:ext uri="{9D8B030D-6E8A-4147-A177-3AD203B41FA5}">
                      <a16:colId xmlns:a16="http://schemas.microsoft.com/office/drawing/2014/main" val="20003"/>
                    </a:ext>
                  </a:extLst>
                </a:gridCol>
                <a:gridCol w="1447271">
                  <a:extLst>
                    <a:ext uri="{9D8B030D-6E8A-4147-A177-3AD203B41FA5}">
                      <a16:colId xmlns:a16="http://schemas.microsoft.com/office/drawing/2014/main" val="20004"/>
                    </a:ext>
                  </a:extLst>
                </a:gridCol>
              </a:tblGrid>
              <a:tr h="304271">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p>
                  </a:txBody>
                  <a:tcPr marL="76200" marR="76200"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8</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16</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24</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32</a:t>
                      </a:r>
                      <a:endParaRPr kumimoji="0" lang="zh-CN" altLang="en-US" sz="13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76200" marR="76200"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5570" name="Text Box 25">
            <a:extLst>
              <a:ext uri="{FF2B5EF4-FFF2-40B4-BE49-F238E27FC236}">
                <a16:creationId xmlns:a16="http://schemas.microsoft.com/office/drawing/2014/main" id="{536B4C18-B1F3-440D-9BA4-BA646A610549}"/>
              </a:ext>
            </a:extLst>
          </p:cNvPr>
          <p:cNvSpPr txBox="1">
            <a:spLocks noChangeArrowheads="1"/>
          </p:cNvSpPr>
          <p:nvPr/>
        </p:nvSpPr>
        <p:spPr bwMode="auto">
          <a:xfrm>
            <a:off x="1785938" y="1304396"/>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int c[6] ;</a:t>
            </a:r>
          </a:p>
        </p:txBody>
      </p:sp>
      <p:sp>
        <p:nvSpPr>
          <p:cNvPr id="65571" name="Text Box 26">
            <a:extLst>
              <a:ext uri="{FF2B5EF4-FFF2-40B4-BE49-F238E27FC236}">
                <a16:creationId xmlns:a16="http://schemas.microsoft.com/office/drawing/2014/main" id="{E6A368DE-40F6-4F5F-BA81-2CC4C6092DFE}"/>
              </a:ext>
            </a:extLst>
          </p:cNvPr>
          <p:cNvSpPr txBox="1">
            <a:spLocks noChangeArrowheads="1"/>
          </p:cNvSpPr>
          <p:nvPr/>
        </p:nvSpPr>
        <p:spPr bwMode="auto">
          <a:xfrm>
            <a:off x="1666875" y="2032000"/>
            <a:ext cx="397866"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33CC"/>
                </a:solidFill>
                <a:latin typeface="Courier New" panose="02070309020205020404" pitchFamily="49" charset="0"/>
                <a:cs typeface="Courier New" panose="02070309020205020404" pitchFamily="49" charset="0"/>
              </a:rPr>
              <a:t>x</a:t>
            </a:r>
            <a:r>
              <a:rPr lang="en-US" altLang="zh-CN" sz="1667" baseline="-25000">
                <a:solidFill>
                  <a:srgbClr val="0033CC"/>
                </a:solidFill>
                <a:latin typeface="Courier New" panose="02070309020205020404" pitchFamily="49" charset="0"/>
                <a:cs typeface="Courier New" panose="02070309020205020404" pitchFamily="49" charset="0"/>
              </a:rPr>
              <a:t>c</a:t>
            </a:r>
          </a:p>
        </p:txBody>
      </p:sp>
      <p:sp>
        <p:nvSpPr>
          <p:cNvPr id="65572" name="Text Box 27">
            <a:extLst>
              <a:ext uri="{FF2B5EF4-FFF2-40B4-BE49-F238E27FC236}">
                <a16:creationId xmlns:a16="http://schemas.microsoft.com/office/drawing/2014/main" id="{761B4BF6-8EEE-4C73-A3E2-5BB3B00DE8B0}"/>
              </a:ext>
            </a:extLst>
          </p:cNvPr>
          <p:cNvSpPr txBox="1">
            <a:spLocks noChangeArrowheads="1"/>
          </p:cNvSpPr>
          <p:nvPr/>
        </p:nvSpPr>
        <p:spPr bwMode="auto">
          <a:xfrm>
            <a:off x="3111500" y="2032000"/>
            <a:ext cx="654346"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33CC"/>
                </a:solidFill>
                <a:latin typeface="Courier New" panose="02070309020205020404" pitchFamily="49" charset="0"/>
                <a:cs typeface="Courier New" panose="02070309020205020404" pitchFamily="49" charset="0"/>
              </a:rPr>
              <a:t>x</a:t>
            </a:r>
            <a:r>
              <a:rPr lang="en-US" altLang="zh-CN" sz="1667" baseline="-25000">
                <a:solidFill>
                  <a:srgbClr val="0033CC"/>
                </a:solidFill>
                <a:latin typeface="Courier New" panose="02070309020205020404" pitchFamily="49" charset="0"/>
                <a:cs typeface="Courier New" panose="02070309020205020404" pitchFamily="49" charset="0"/>
              </a:rPr>
              <a:t>c</a:t>
            </a:r>
            <a:r>
              <a:rPr lang="en-US" altLang="zh-CN" sz="1667">
                <a:solidFill>
                  <a:srgbClr val="0033CC"/>
                </a:solidFill>
                <a:latin typeface="Courier New" panose="02070309020205020404" pitchFamily="49" charset="0"/>
                <a:cs typeface="Courier New" panose="02070309020205020404" pitchFamily="49" charset="0"/>
              </a:rPr>
              <a:t>+8</a:t>
            </a:r>
          </a:p>
        </p:txBody>
      </p:sp>
      <p:sp>
        <p:nvSpPr>
          <p:cNvPr id="65573" name="Text Box 28">
            <a:extLst>
              <a:ext uri="{FF2B5EF4-FFF2-40B4-BE49-F238E27FC236}">
                <a16:creationId xmlns:a16="http://schemas.microsoft.com/office/drawing/2014/main" id="{6046BBEF-B883-492D-9855-ED617DBE64BD}"/>
              </a:ext>
            </a:extLst>
          </p:cNvPr>
          <p:cNvSpPr txBox="1">
            <a:spLocks noChangeArrowheads="1"/>
          </p:cNvSpPr>
          <p:nvPr/>
        </p:nvSpPr>
        <p:spPr bwMode="auto">
          <a:xfrm>
            <a:off x="1016000" y="3044032"/>
            <a:ext cx="23391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double *d[5] ;</a:t>
            </a:r>
          </a:p>
        </p:txBody>
      </p:sp>
      <p:sp>
        <p:nvSpPr>
          <p:cNvPr id="65574" name="Text Box 29">
            <a:extLst>
              <a:ext uri="{FF2B5EF4-FFF2-40B4-BE49-F238E27FC236}">
                <a16:creationId xmlns:a16="http://schemas.microsoft.com/office/drawing/2014/main" id="{671822D2-43B7-4CCF-8FBE-B0F07A48A545}"/>
              </a:ext>
            </a:extLst>
          </p:cNvPr>
          <p:cNvSpPr txBox="1">
            <a:spLocks noChangeArrowheads="1"/>
          </p:cNvSpPr>
          <p:nvPr/>
        </p:nvSpPr>
        <p:spPr bwMode="auto">
          <a:xfrm>
            <a:off x="968375" y="3746500"/>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d</a:t>
            </a:r>
          </a:p>
        </p:txBody>
      </p:sp>
      <p:sp>
        <p:nvSpPr>
          <p:cNvPr id="65575" name="Text Box 30">
            <a:extLst>
              <a:ext uri="{FF2B5EF4-FFF2-40B4-BE49-F238E27FC236}">
                <a16:creationId xmlns:a16="http://schemas.microsoft.com/office/drawing/2014/main" id="{0CDF4610-E8A0-4386-A368-C0AD1F2289B2}"/>
              </a:ext>
            </a:extLst>
          </p:cNvPr>
          <p:cNvSpPr txBox="1">
            <a:spLocks noChangeArrowheads="1"/>
          </p:cNvSpPr>
          <p:nvPr/>
        </p:nvSpPr>
        <p:spPr bwMode="auto">
          <a:xfrm>
            <a:off x="2428875" y="3746500"/>
            <a:ext cx="748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d</a:t>
            </a:r>
            <a:r>
              <a:rPr lang="en-US" altLang="zh-CN" sz="2000">
                <a:solidFill>
                  <a:srgbClr val="0033CC"/>
                </a:solidFill>
                <a:latin typeface="Courier New" panose="02070309020205020404" pitchFamily="49" charset="0"/>
                <a:cs typeface="Courier New" panose="02070309020205020404" pitchFamily="49" charset="0"/>
              </a:rPr>
              <a:t>+8</a:t>
            </a:r>
          </a:p>
        </p:txBody>
      </p:sp>
      <p:sp>
        <p:nvSpPr>
          <p:cNvPr id="65576" name="Text Box 31">
            <a:extLst>
              <a:ext uri="{FF2B5EF4-FFF2-40B4-BE49-F238E27FC236}">
                <a16:creationId xmlns:a16="http://schemas.microsoft.com/office/drawing/2014/main" id="{CCBED50F-EB54-4F4F-8DAC-7CF6E0289CE6}"/>
              </a:ext>
            </a:extLst>
          </p:cNvPr>
          <p:cNvSpPr txBox="1">
            <a:spLocks noChangeArrowheads="1"/>
          </p:cNvSpPr>
          <p:nvPr/>
        </p:nvSpPr>
        <p:spPr bwMode="auto">
          <a:xfrm>
            <a:off x="3889375" y="3746500"/>
            <a:ext cx="902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d</a:t>
            </a:r>
            <a:r>
              <a:rPr lang="en-US" altLang="zh-CN" sz="2000">
                <a:solidFill>
                  <a:srgbClr val="0033CC"/>
                </a:solidFill>
                <a:latin typeface="Courier New" panose="02070309020205020404" pitchFamily="49" charset="0"/>
                <a:cs typeface="Courier New" panose="02070309020205020404" pitchFamily="49" charset="0"/>
              </a:rPr>
              <a:t>+16</a:t>
            </a:r>
          </a:p>
        </p:txBody>
      </p:sp>
      <p:sp>
        <p:nvSpPr>
          <p:cNvPr id="65577" name="Text Box 32">
            <a:extLst>
              <a:ext uri="{FF2B5EF4-FFF2-40B4-BE49-F238E27FC236}">
                <a16:creationId xmlns:a16="http://schemas.microsoft.com/office/drawing/2014/main" id="{49ADD9C5-0F38-4E89-B26A-CD8222AFF0F8}"/>
              </a:ext>
            </a:extLst>
          </p:cNvPr>
          <p:cNvSpPr txBox="1">
            <a:spLocks noChangeArrowheads="1"/>
          </p:cNvSpPr>
          <p:nvPr/>
        </p:nvSpPr>
        <p:spPr bwMode="auto">
          <a:xfrm>
            <a:off x="5334000" y="3746500"/>
            <a:ext cx="902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d</a:t>
            </a:r>
            <a:r>
              <a:rPr lang="en-US" altLang="zh-CN" sz="2000">
                <a:solidFill>
                  <a:srgbClr val="0033CC"/>
                </a:solidFill>
                <a:latin typeface="Courier New" panose="02070309020205020404" pitchFamily="49" charset="0"/>
                <a:cs typeface="Courier New" panose="02070309020205020404" pitchFamily="49" charset="0"/>
              </a:rPr>
              <a:t>+24</a:t>
            </a:r>
          </a:p>
        </p:txBody>
      </p:sp>
      <p:sp>
        <p:nvSpPr>
          <p:cNvPr id="65578" name="Text Box 33">
            <a:extLst>
              <a:ext uri="{FF2B5EF4-FFF2-40B4-BE49-F238E27FC236}">
                <a16:creationId xmlns:a16="http://schemas.microsoft.com/office/drawing/2014/main" id="{00A09F90-67E9-4507-A6C5-A8FA2585CFE6}"/>
              </a:ext>
            </a:extLst>
          </p:cNvPr>
          <p:cNvSpPr txBox="1">
            <a:spLocks noChangeArrowheads="1"/>
          </p:cNvSpPr>
          <p:nvPr/>
        </p:nvSpPr>
        <p:spPr bwMode="auto">
          <a:xfrm>
            <a:off x="6794500" y="3746500"/>
            <a:ext cx="9028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2000">
                <a:solidFill>
                  <a:srgbClr val="0033CC"/>
                </a:solidFill>
                <a:latin typeface="Courier New" panose="02070309020205020404" pitchFamily="49" charset="0"/>
                <a:cs typeface="Courier New" panose="02070309020205020404" pitchFamily="49" charset="0"/>
              </a:rPr>
              <a:t>x</a:t>
            </a:r>
            <a:r>
              <a:rPr lang="en-US" altLang="zh-CN" sz="2000" baseline="-25000">
                <a:solidFill>
                  <a:srgbClr val="0033CC"/>
                </a:solidFill>
                <a:latin typeface="Courier New" panose="02070309020205020404" pitchFamily="49" charset="0"/>
                <a:cs typeface="Courier New" panose="02070309020205020404" pitchFamily="49" charset="0"/>
              </a:rPr>
              <a:t>d</a:t>
            </a:r>
            <a:r>
              <a:rPr lang="en-US" altLang="zh-CN" sz="2000">
                <a:solidFill>
                  <a:srgbClr val="0033CC"/>
                </a:solidFill>
                <a:latin typeface="Courier New" panose="02070309020205020404" pitchFamily="49" charset="0"/>
                <a:cs typeface="Courier New" panose="02070309020205020404" pitchFamily="49" charset="0"/>
              </a:rPr>
              <a:t>+32</a:t>
            </a:r>
          </a:p>
        </p:txBody>
      </p:sp>
      <p:sp>
        <p:nvSpPr>
          <p:cNvPr id="65579" name="Text Box 27">
            <a:extLst>
              <a:ext uri="{FF2B5EF4-FFF2-40B4-BE49-F238E27FC236}">
                <a16:creationId xmlns:a16="http://schemas.microsoft.com/office/drawing/2014/main" id="{A4829D75-AA60-4872-B176-1C48FB246D56}"/>
              </a:ext>
            </a:extLst>
          </p:cNvPr>
          <p:cNvSpPr txBox="1">
            <a:spLocks noChangeArrowheads="1"/>
          </p:cNvSpPr>
          <p:nvPr/>
        </p:nvSpPr>
        <p:spPr bwMode="auto">
          <a:xfrm>
            <a:off x="4517761" y="2029354"/>
            <a:ext cx="782587"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33CC"/>
                </a:solidFill>
                <a:latin typeface="Courier New" panose="02070309020205020404" pitchFamily="49" charset="0"/>
                <a:cs typeface="Courier New" panose="02070309020205020404" pitchFamily="49" charset="0"/>
              </a:rPr>
              <a:t>x</a:t>
            </a:r>
            <a:r>
              <a:rPr lang="en-US" altLang="zh-CN" sz="1667" baseline="-25000">
                <a:solidFill>
                  <a:srgbClr val="0033CC"/>
                </a:solidFill>
                <a:latin typeface="Courier New" panose="02070309020205020404" pitchFamily="49" charset="0"/>
                <a:cs typeface="Courier New" panose="02070309020205020404" pitchFamily="49" charset="0"/>
              </a:rPr>
              <a:t>c</a:t>
            </a:r>
            <a:r>
              <a:rPr lang="en-US" altLang="zh-CN" sz="1667">
                <a:solidFill>
                  <a:srgbClr val="0033CC"/>
                </a:solidFill>
                <a:latin typeface="Courier New" panose="02070309020205020404" pitchFamily="49" charset="0"/>
                <a:cs typeface="Courier New" panose="02070309020205020404" pitchFamily="49" charset="0"/>
              </a:rPr>
              <a:t>+16</a:t>
            </a:r>
          </a:p>
        </p:txBody>
      </p:sp>
      <p:sp>
        <p:nvSpPr>
          <p:cNvPr id="65580" name="Text Box 27">
            <a:extLst>
              <a:ext uri="{FF2B5EF4-FFF2-40B4-BE49-F238E27FC236}">
                <a16:creationId xmlns:a16="http://schemas.microsoft.com/office/drawing/2014/main" id="{46C2EF2C-8A03-4E51-BB07-D7B4726A5CF5}"/>
              </a:ext>
            </a:extLst>
          </p:cNvPr>
          <p:cNvSpPr txBox="1">
            <a:spLocks noChangeArrowheads="1"/>
          </p:cNvSpPr>
          <p:nvPr/>
        </p:nvSpPr>
        <p:spPr bwMode="auto">
          <a:xfrm>
            <a:off x="2389188" y="2032000"/>
            <a:ext cx="654346"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33CC"/>
                </a:solidFill>
                <a:latin typeface="Courier New" panose="02070309020205020404" pitchFamily="49" charset="0"/>
                <a:cs typeface="Courier New" panose="02070309020205020404" pitchFamily="49" charset="0"/>
              </a:rPr>
              <a:t>x</a:t>
            </a:r>
            <a:r>
              <a:rPr lang="en-US" altLang="zh-CN" sz="1667" baseline="-25000">
                <a:solidFill>
                  <a:srgbClr val="0033CC"/>
                </a:solidFill>
                <a:latin typeface="Courier New" panose="02070309020205020404" pitchFamily="49" charset="0"/>
                <a:cs typeface="Courier New" panose="02070309020205020404" pitchFamily="49" charset="0"/>
              </a:rPr>
              <a:t>c</a:t>
            </a:r>
            <a:r>
              <a:rPr lang="en-US" altLang="zh-CN" sz="1667">
                <a:solidFill>
                  <a:srgbClr val="0033CC"/>
                </a:solidFill>
                <a:latin typeface="Courier New" panose="02070309020205020404" pitchFamily="49" charset="0"/>
                <a:cs typeface="Courier New" panose="02070309020205020404" pitchFamily="49" charset="0"/>
              </a:rPr>
              <a:t>+4</a:t>
            </a:r>
          </a:p>
        </p:txBody>
      </p:sp>
      <p:sp>
        <p:nvSpPr>
          <p:cNvPr id="65581" name="Text Box 27">
            <a:extLst>
              <a:ext uri="{FF2B5EF4-FFF2-40B4-BE49-F238E27FC236}">
                <a16:creationId xmlns:a16="http://schemas.microsoft.com/office/drawing/2014/main" id="{14E054B5-C72D-4A61-8646-AFED5AD2FC87}"/>
              </a:ext>
            </a:extLst>
          </p:cNvPr>
          <p:cNvSpPr txBox="1">
            <a:spLocks noChangeArrowheads="1"/>
          </p:cNvSpPr>
          <p:nvPr/>
        </p:nvSpPr>
        <p:spPr bwMode="auto">
          <a:xfrm>
            <a:off x="3798095" y="2032000"/>
            <a:ext cx="782587"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33CC"/>
                </a:solidFill>
                <a:latin typeface="Courier New" panose="02070309020205020404" pitchFamily="49" charset="0"/>
                <a:cs typeface="Courier New" panose="02070309020205020404" pitchFamily="49" charset="0"/>
              </a:rPr>
              <a:t>x</a:t>
            </a:r>
            <a:r>
              <a:rPr lang="en-US" altLang="zh-CN" sz="1667" baseline="-25000">
                <a:solidFill>
                  <a:srgbClr val="0033CC"/>
                </a:solidFill>
                <a:latin typeface="Courier New" panose="02070309020205020404" pitchFamily="49" charset="0"/>
                <a:cs typeface="Courier New" panose="02070309020205020404" pitchFamily="49" charset="0"/>
              </a:rPr>
              <a:t>c</a:t>
            </a:r>
            <a:r>
              <a:rPr lang="en-US" altLang="zh-CN" sz="1667">
                <a:solidFill>
                  <a:srgbClr val="0033CC"/>
                </a:solidFill>
                <a:latin typeface="Courier New" panose="02070309020205020404" pitchFamily="49" charset="0"/>
                <a:cs typeface="Courier New" panose="02070309020205020404" pitchFamily="49" charset="0"/>
              </a:rPr>
              <a:t>+12</a:t>
            </a:r>
            <a:endParaRPr lang="en-US" altLang="zh-CN" sz="2000">
              <a:solidFill>
                <a:srgbClr val="0033CC"/>
              </a:solidFill>
              <a:latin typeface="Courier New" panose="02070309020205020404" pitchFamily="49" charset="0"/>
              <a:cs typeface="Courier New" panose="02070309020205020404" pitchFamily="49" charset="0"/>
            </a:endParaRPr>
          </a:p>
        </p:txBody>
      </p:sp>
      <p:sp>
        <p:nvSpPr>
          <p:cNvPr id="65582" name="Text Box 27">
            <a:extLst>
              <a:ext uri="{FF2B5EF4-FFF2-40B4-BE49-F238E27FC236}">
                <a16:creationId xmlns:a16="http://schemas.microsoft.com/office/drawing/2014/main" id="{7A173A5A-520F-43B2-A531-6F8537D76DA9}"/>
              </a:ext>
            </a:extLst>
          </p:cNvPr>
          <p:cNvSpPr txBox="1">
            <a:spLocks noChangeArrowheads="1"/>
          </p:cNvSpPr>
          <p:nvPr/>
        </p:nvSpPr>
        <p:spPr bwMode="auto">
          <a:xfrm>
            <a:off x="5216261" y="2032000"/>
            <a:ext cx="782587"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33CC"/>
                </a:solidFill>
                <a:latin typeface="Courier New" panose="02070309020205020404" pitchFamily="49" charset="0"/>
                <a:cs typeface="Courier New" panose="02070309020205020404" pitchFamily="49" charset="0"/>
              </a:rPr>
              <a:t>x</a:t>
            </a:r>
            <a:r>
              <a:rPr lang="en-US" altLang="zh-CN" sz="1667" baseline="-25000">
                <a:solidFill>
                  <a:srgbClr val="0033CC"/>
                </a:solidFill>
                <a:latin typeface="Courier New" panose="02070309020205020404" pitchFamily="49" charset="0"/>
                <a:cs typeface="Courier New" panose="02070309020205020404" pitchFamily="49" charset="0"/>
              </a:rPr>
              <a:t>c</a:t>
            </a:r>
            <a:r>
              <a:rPr lang="en-US" altLang="zh-CN" sz="1667">
                <a:solidFill>
                  <a:srgbClr val="0033CC"/>
                </a:solidFill>
                <a:latin typeface="Courier New" panose="02070309020205020404" pitchFamily="49" charset="0"/>
                <a:cs typeface="Courier New" panose="02070309020205020404" pitchFamily="49" charset="0"/>
              </a:rPr>
              <a:t>+20</a:t>
            </a:r>
          </a:p>
        </p:txBody>
      </p:sp>
    </p:spTree>
    <p:extLst>
      <p:ext uri="{BB962C8B-B14F-4D97-AF65-F5344CB8AC3E}">
        <p14:creationId xmlns:p14="http://schemas.microsoft.com/office/powerpoint/2010/main" val="172584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a:extLst>
              <a:ext uri="{FF2B5EF4-FFF2-40B4-BE49-F238E27FC236}">
                <a16:creationId xmlns:a16="http://schemas.microsoft.com/office/drawing/2014/main" id="{7EACFEC0-7899-4AF6-A20E-4B7790CE36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3947DC58-4C32-4BE8-8C69-664057199B8D}" type="slidenum">
              <a:rPr lang="zh-CN" altLang="en-US" sz="1167">
                <a:latin typeface="Times New Roman" panose="02020603050405020304" pitchFamily="18" charset="0"/>
              </a:rPr>
              <a:pPr>
                <a:spcBef>
                  <a:spcPct val="0"/>
                </a:spcBef>
                <a:buFontTx/>
                <a:buNone/>
              </a:pPr>
              <a:t>8</a:t>
            </a:fld>
            <a:endParaRPr lang="en-US" altLang="zh-CN" sz="1167">
              <a:latin typeface="Times New Roman" panose="02020603050405020304" pitchFamily="18" charset="0"/>
            </a:endParaRPr>
          </a:p>
        </p:txBody>
      </p:sp>
      <p:sp>
        <p:nvSpPr>
          <p:cNvPr id="67587" name="Rectangle 2">
            <a:extLst>
              <a:ext uri="{FF2B5EF4-FFF2-40B4-BE49-F238E27FC236}">
                <a16:creationId xmlns:a16="http://schemas.microsoft.com/office/drawing/2014/main" id="{875F42F2-AD51-4FE1-A4A5-12046FEAA199}"/>
              </a:ext>
            </a:extLst>
          </p:cNvPr>
          <p:cNvSpPr>
            <a:spLocks noGrp="1" noChangeArrowheads="1"/>
          </p:cNvSpPr>
          <p:nvPr>
            <p:ph type="title"/>
          </p:nvPr>
        </p:nvSpPr>
        <p:spPr/>
        <p:txBody>
          <a:bodyPr/>
          <a:lstStyle/>
          <a:p>
            <a:r>
              <a:rPr lang="zh-CN" altLang="en-US" dirty="0"/>
              <a:t>回顾：访存指令</a:t>
            </a:r>
            <a:endParaRPr lang="en-US" altLang="zh-CN" dirty="0">
              <a:ea typeface="宋体" panose="02010600030101010101" pitchFamily="2" charset="-122"/>
            </a:endParaRPr>
          </a:p>
        </p:txBody>
      </p:sp>
      <p:sp>
        <p:nvSpPr>
          <p:cNvPr id="67588" name="Rectangle 3">
            <a:extLst>
              <a:ext uri="{FF2B5EF4-FFF2-40B4-BE49-F238E27FC236}">
                <a16:creationId xmlns:a16="http://schemas.microsoft.com/office/drawing/2014/main" id="{B5C31348-1C03-4CD7-8EB7-4D9378B321B8}"/>
              </a:ext>
            </a:extLst>
          </p:cNvPr>
          <p:cNvSpPr>
            <a:spLocks noGrp="1" noChangeArrowheads="1"/>
          </p:cNvSpPr>
          <p:nvPr>
            <p:ph type="body" idx="1"/>
          </p:nvPr>
        </p:nvSpPr>
        <p:spPr/>
        <p:txBody>
          <a:bodyPr/>
          <a:lstStyle/>
          <a:p>
            <a:pPr>
              <a:lnSpc>
                <a:spcPct val="140000"/>
              </a:lnSpc>
            </a:pPr>
            <a:r>
              <a:rPr lang="zh-CN" altLang="en-US" dirty="0"/>
              <a:t>假设 </a:t>
            </a:r>
            <a:r>
              <a:rPr lang="en-US" altLang="zh-CN" dirty="0">
                <a:solidFill>
                  <a:srgbClr val="C00000"/>
                </a:solidFill>
                <a:ea typeface="宋体" panose="02010600030101010101" pitchFamily="2" charset="-122"/>
              </a:rPr>
              <a:t>E</a:t>
            </a:r>
            <a:r>
              <a:rPr lang="zh-CN" altLang="en-US" dirty="0">
                <a:solidFill>
                  <a:srgbClr val="C00000"/>
                </a:solidFill>
                <a:ea typeface="宋体" panose="02010600030101010101" pitchFamily="2" charset="-122"/>
              </a:rPr>
              <a:t> </a:t>
            </a:r>
            <a:r>
              <a:rPr lang="zh-CN" altLang="en-US" dirty="0"/>
              <a:t>是一个整型数组（单个元素 </a:t>
            </a:r>
            <a:r>
              <a:rPr lang="en-US" altLang="zh-CN" dirty="0"/>
              <a:t>4</a:t>
            </a:r>
            <a:r>
              <a:rPr lang="zh-CN" altLang="en-US" dirty="0"/>
              <a:t> </a:t>
            </a:r>
            <a:r>
              <a:rPr lang="en-US" altLang="zh-CN" dirty="0"/>
              <a:t>byte</a:t>
            </a:r>
            <a:r>
              <a:rPr lang="zh-CN" altLang="en-US" dirty="0"/>
              <a:t>）</a:t>
            </a:r>
            <a:endParaRPr lang="en-US" altLang="zh-CN" dirty="0">
              <a:ea typeface="宋体" panose="02010600030101010101" pitchFamily="2" charset="-122"/>
            </a:endParaRPr>
          </a:p>
          <a:p>
            <a:pPr lvl="1">
              <a:lnSpc>
                <a:spcPct val="140000"/>
              </a:lnSpc>
            </a:pPr>
            <a:r>
              <a:rPr lang="en-US" altLang="zh-CN" dirty="0">
                <a:ea typeface="宋体" panose="02010600030101010101" pitchFamily="2" charset="-122"/>
              </a:rPr>
              <a:t>E</a:t>
            </a:r>
            <a:r>
              <a:rPr lang="zh-CN" altLang="en-US" dirty="0">
                <a:ea typeface="宋体" panose="02010600030101010101" pitchFamily="2" charset="-122"/>
              </a:rPr>
              <a:t> </a:t>
            </a:r>
            <a:r>
              <a:rPr lang="zh-CN" altLang="en-US" dirty="0"/>
              <a:t>的起始地址存放在</a:t>
            </a:r>
            <a:r>
              <a:rPr lang="en-US" altLang="zh-CN" dirty="0"/>
              <a:t>x0</a:t>
            </a:r>
            <a:r>
              <a:rPr lang="zh-CN" altLang="en-US" dirty="0"/>
              <a:t>寄存器中</a:t>
            </a:r>
            <a:endParaRPr lang="en-US" altLang="zh-CN" dirty="0"/>
          </a:p>
          <a:p>
            <a:pPr lvl="1">
              <a:lnSpc>
                <a:spcPct val="140000"/>
              </a:lnSpc>
            </a:pPr>
            <a:r>
              <a:rPr lang="en-US" altLang="zh-CN" dirty="0">
                <a:ea typeface="宋体" panose="02010600030101010101" pitchFamily="2" charset="-122"/>
              </a:rPr>
              <a:t>E</a:t>
            </a:r>
            <a:r>
              <a:rPr lang="zh-CN" altLang="en-US" dirty="0">
                <a:ea typeface="宋体" panose="02010600030101010101" pitchFamily="2" charset="-122"/>
              </a:rPr>
              <a:t> </a:t>
            </a:r>
            <a:r>
              <a:rPr lang="zh-CN" altLang="en-US" dirty="0"/>
              <a:t>的索引 </a:t>
            </a:r>
            <a:r>
              <a:rPr lang="en-US" altLang="zh-CN" b="1" dirty="0" err="1">
                <a:solidFill>
                  <a:srgbClr val="C00000"/>
                </a:solidFill>
              </a:rPr>
              <a:t>i</a:t>
            </a:r>
            <a:r>
              <a:rPr lang="en-US" altLang="zh-CN" b="1" dirty="0">
                <a:solidFill>
                  <a:srgbClr val="C00000"/>
                </a:solidFill>
              </a:rPr>
              <a:t> </a:t>
            </a:r>
            <a:r>
              <a:rPr lang="zh-CN" altLang="en-US" dirty="0"/>
              <a:t>存放在</a:t>
            </a:r>
            <a:r>
              <a:rPr lang="en-US" altLang="zh-CN" dirty="0"/>
              <a:t>x1</a:t>
            </a:r>
            <a:r>
              <a:rPr lang="zh-CN" altLang="en-US" dirty="0"/>
              <a:t>寄存器中</a:t>
            </a:r>
            <a:endParaRPr lang="en-US" altLang="zh-CN" dirty="0">
              <a:ea typeface="宋体" panose="02010600030101010101" pitchFamily="2" charset="-122"/>
            </a:endParaRPr>
          </a:p>
          <a:p>
            <a:pPr>
              <a:lnSpc>
                <a:spcPct val="140000"/>
              </a:lnSpc>
            </a:pPr>
            <a:r>
              <a:rPr lang="zh-CN" altLang="en-US" dirty="0"/>
              <a:t>那么数组元素</a:t>
            </a:r>
            <a:r>
              <a:rPr lang="en-US" altLang="zh-CN" dirty="0">
                <a:ea typeface="宋体" panose="02010600030101010101" pitchFamily="2" charset="-122"/>
              </a:rPr>
              <a:t>E[</a:t>
            </a:r>
            <a:r>
              <a:rPr lang="en-US" altLang="zh-CN" dirty="0" err="1">
                <a:ea typeface="宋体" panose="02010600030101010101" pitchFamily="2" charset="-122"/>
              </a:rPr>
              <a:t>i</a:t>
            </a:r>
            <a:r>
              <a:rPr lang="en-US" altLang="zh-CN" dirty="0">
                <a:ea typeface="宋体" panose="02010600030101010101" pitchFamily="2" charset="-122"/>
              </a:rPr>
              <a:t>]</a:t>
            </a:r>
            <a:r>
              <a:rPr lang="zh-CN" altLang="en-US" dirty="0"/>
              <a:t>的访问在</a:t>
            </a:r>
            <a:r>
              <a:rPr lang="en-US" altLang="zh-CN" dirty="0"/>
              <a:t>ARM</a:t>
            </a:r>
            <a:r>
              <a:rPr lang="zh-CN" altLang="en-US" dirty="0"/>
              <a:t>汇编中为：</a:t>
            </a:r>
            <a:endParaRPr lang="en-US" altLang="zh-CN" dirty="0">
              <a:ea typeface="宋体" panose="02010600030101010101" pitchFamily="2" charset="-122"/>
            </a:endParaRPr>
          </a:p>
          <a:p>
            <a:pPr lvl="1">
              <a:lnSpc>
                <a:spcPct val="140000"/>
              </a:lnSpc>
            </a:pPr>
            <a:r>
              <a:rPr lang="en-US" altLang="zh-CN" b="1" dirty="0" err="1">
                <a:ea typeface="宋体" panose="02010600030101010101" pitchFamily="2" charset="-122"/>
              </a:rPr>
              <a:t>ldr</a:t>
            </a:r>
            <a:r>
              <a:rPr lang="en-US" altLang="zh-CN" b="1" dirty="0">
                <a:ea typeface="宋体" panose="02010600030101010101" pitchFamily="2" charset="-122"/>
              </a:rPr>
              <a:t>  x2, </a:t>
            </a:r>
            <a:r>
              <a:rPr lang="en-US" altLang="zh-CN" b="1" dirty="0">
                <a:solidFill>
                  <a:srgbClr val="C00000"/>
                </a:solidFill>
                <a:ea typeface="宋体" panose="02010600030101010101" pitchFamily="2" charset="-122"/>
              </a:rPr>
              <a:t>[x0, x1, </a:t>
            </a:r>
            <a:r>
              <a:rPr lang="en-US" altLang="zh-CN" b="1" dirty="0" err="1">
                <a:solidFill>
                  <a:srgbClr val="C00000"/>
                </a:solidFill>
                <a:ea typeface="宋体" panose="02010600030101010101" pitchFamily="2" charset="-122"/>
              </a:rPr>
              <a:t>lsl</a:t>
            </a:r>
            <a:r>
              <a:rPr lang="en-US" altLang="zh-CN" b="1" dirty="0">
                <a:solidFill>
                  <a:srgbClr val="C00000"/>
                </a:solidFill>
                <a:ea typeface="宋体" panose="02010600030101010101" pitchFamily="2" charset="-122"/>
              </a:rPr>
              <a:t> 2]</a:t>
            </a:r>
          </a:p>
        </p:txBody>
      </p:sp>
    </p:spTree>
    <p:extLst>
      <p:ext uri="{BB962C8B-B14F-4D97-AF65-F5344CB8AC3E}">
        <p14:creationId xmlns:p14="http://schemas.microsoft.com/office/powerpoint/2010/main" val="3473127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a:extLst>
              <a:ext uri="{FF2B5EF4-FFF2-40B4-BE49-F238E27FC236}">
                <a16:creationId xmlns:a16="http://schemas.microsoft.com/office/drawing/2014/main" id="{BCE97599-2706-4FAF-974C-5467549125B6}"/>
              </a:ext>
            </a:extLst>
          </p:cNvPr>
          <p:cNvSpPr>
            <a:spLocks noGrp="1" noChangeArrowheads="1"/>
          </p:cNvSpPr>
          <p:nvPr>
            <p:ph type="title"/>
          </p:nvPr>
        </p:nvSpPr>
        <p:spPr/>
        <p:txBody>
          <a:bodyPr/>
          <a:lstStyle/>
          <a:p>
            <a:r>
              <a:rPr lang="zh-CN" altLang="en-US" dirty="0"/>
              <a:t>指针运算：结果放到 </a:t>
            </a:r>
            <a:r>
              <a:rPr lang="en-US" altLang="zh-CN" dirty="0"/>
              <a:t>x2</a:t>
            </a:r>
            <a:endParaRPr lang="en-US" altLang="zh-CN" dirty="0">
              <a:ea typeface="宋体" panose="02010600030101010101" pitchFamily="2" charset="-122"/>
            </a:endParaRPr>
          </a:p>
        </p:txBody>
      </p:sp>
      <p:graphicFrame>
        <p:nvGraphicFramePr>
          <p:cNvPr id="1372163" name="Group 3">
            <a:extLst>
              <a:ext uri="{FF2B5EF4-FFF2-40B4-BE49-F238E27FC236}">
                <a16:creationId xmlns:a16="http://schemas.microsoft.com/office/drawing/2014/main" id="{E71296F2-C2B0-4377-BB67-BEB400E3E232}"/>
              </a:ext>
            </a:extLst>
          </p:cNvPr>
          <p:cNvGraphicFramePr>
            <a:graphicFrameLocks noGrp="1"/>
          </p:cNvGraphicFramePr>
          <p:nvPr>
            <p:ph idx="1"/>
            <p:extLst>
              <p:ext uri="{D42A27DB-BD31-4B8C-83A1-F6EECF244321}">
                <p14:modId xmlns:p14="http://schemas.microsoft.com/office/powerpoint/2010/main" val="958183665"/>
              </p:ext>
            </p:extLst>
          </p:nvPr>
        </p:nvGraphicFramePr>
        <p:xfrm>
          <a:off x="457200" y="1333500"/>
          <a:ext cx="8229599" cy="3460673"/>
        </p:xfrm>
        <a:graphic>
          <a:graphicData uri="http://schemas.openxmlformats.org/drawingml/2006/table">
            <a:tbl>
              <a:tblPr firstRow="1" bandRow="1">
                <a:tableStyleId>{5C22544A-7EE6-4342-B048-85BDC9FD1C3A}</a:tableStyleId>
              </a:tblPr>
              <a:tblGrid>
                <a:gridCol w="1552352">
                  <a:extLst>
                    <a:ext uri="{9D8B030D-6E8A-4147-A177-3AD203B41FA5}">
                      <a16:colId xmlns:a16="http://schemas.microsoft.com/office/drawing/2014/main" val="20000"/>
                    </a:ext>
                  </a:extLst>
                </a:gridCol>
                <a:gridCol w="1034093">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3997234">
                  <a:extLst>
                    <a:ext uri="{9D8B030D-6E8A-4147-A177-3AD203B41FA5}">
                      <a16:colId xmlns:a16="http://schemas.microsoft.com/office/drawing/2014/main" val="20003"/>
                    </a:ext>
                  </a:extLst>
                </a:gridCol>
              </a:tblGrid>
              <a:tr h="46044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zh-CN" altLang="en-US" sz="1600" b="1" dirty="0"/>
                        <a:t>表达式</a:t>
                      </a:r>
                      <a:endParaRPr kumimoji="0" lang="en-US" altLang="zh-CN" sz="1700" b="1" i="0" u="sng" strike="noStrike" cap="none" normalizeH="0" baseline="0" dirty="0">
                        <a:ln>
                          <a:noFill/>
                        </a:ln>
                        <a:solidFill>
                          <a:schemeClr val="tx1"/>
                        </a:solidFill>
                        <a:effectLst/>
                        <a:latin typeface="Comic Sans MS" pitchFamily="66" charset="0"/>
                        <a:ea typeface="宋体" pitchFamily="2" charset="-122"/>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zh-CN" altLang="en-US" sz="1600" b="1" dirty="0"/>
                        <a:t>类型</a:t>
                      </a:r>
                      <a:endParaRPr kumimoji="0" lang="en-US" altLang="zh-CN" sz="1700" b="1" i="0" u="sng" strike="noStrike" cap="none" normalizeH="0" baseline="0" dirty="0">
                        <a:ln>
                          <a:noFill/>
                        </a:ln>
                        <a:solidFill>
                          <a:schemeClr val="tx1"/>
                        </a:solidFill>
                        <a:effectLst/>
                        <a:latin typeface="Comic Sans MS" pitchFamily="66" charset="0"/>
                        <a:ea typeface="宋体" pitchFamily="2" charset="-122"/>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zh-CN" altLang="en-US" sz="1600" b="1" dirty="0"/>
                        <a:t>值</a:t>
                      </a:r>
                      <a:endParaRPr kumimoji="0" lang="en-US" altLang="zh-CN" sz="1700" b="1" i="0" u="sng" strike="noStrike" cap="none" normalizeH="0" baseline="0" dirty="0">
                        <a:ln>
                          <a:noFill/>
                        </a:ln>
                        <a:solidFill>
                          <a:schemeClr val="tx1"/>
                        </a:solidFill>
                        <a:effectLst/>
                        <a:latin typeface="Comic Sans MS" pitchFamily="66" charset="0"/>
                        <a:ea typeface="宋体" pitchFamily="2" charset="-122"/>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zh-CN" altLang="en-US" sz="1600" b="1" dirty="0"/>
                        <a:t>汇编代码</a:t>
                      </a:r>
                      <a:endParaRPr kumimoji="0" lang="en-US" altLang="zh-CN" sz="1700" b="1" i="0" u="sng" strike="noStrike" cap="none" normalizeH="0" baseline="0" dirty="0">
                        <a:ln>
                          <a:noFill/>
                        </a:ln>
                        <a:solidFill>
                          <a:schemeClr val="tx1"/>
                        </a:solidFill>
                        <a:effectLst/>
                        <a:latin typeface="Comic Sans MS" pitchFamily="66" charset="0"/>
                        <a:ea typeface="宋体" pitchFamily="2" charset="-122"/>
                      </a:endParaRPr>
                    </a:p>
                  </a:txBody>
                  <a:tcPr marL="76200" marR="76200" marT="38106" marB="38106" anchor="ctr" horzOverflow="overflow"/>
                </a:tc>
                <a:extLst>
                  <a:ext uri="{0D108BD9-81ED-4DB2-BD59-A6C34878D82A}">
                    <a16:rowId xmlns:a16="http://schemas.microsoft.com/office/drawing/2014/main" val="10000"/>
                  </a:ext>
                </a:extLst>
              </a:tr>
              <a:tr h="46044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E</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int *</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err="1">
                          <a:ln>
                            <a:noFill/>
                          </a:ln>
                          <a:solidFill>
                            <a:schemeClr val="tx1"/>
                          </a:solidFill>
                          <a:effectLst/>
                        </a:rPr>
                        <a:t>x</a:t>
                      </a:r>
                      <a:r>
                        <a:rPr kumimoji="0" lang="en-US" altLang="zh-CN" sz="1500" b="0" u="none" strike="noStrike" cap="none" normalizeH="0" baseline="-25000" dirty="0" err="1">
                          <a:ln>
                            <a:noFill/>
                          </a:ln>
                          <a:solidFill>
                            <a:schemeClr val="tx1"/>
                          </a:solidFill>
                          <a:effectLst/>
                        </a:rPr>
                        <a:t>E</a:t>
                      </a:r>
                      <a:endParaRPr kumimoji="0" lang="en-US" altLang="zh-CN" sz="1500" b="0" i="0" u="none" strike="noStrike" cap="none" normalizeH="0" baseline="-2500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mov  x2, x0</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extLst>
                  <a:ext uri="{0D108BD9-81ED-4DB2-BD59-A6C34878D82A}">
                    <a16:rowId xmlns:a16="http://schemas.microsoft.com/office/drawing/2014/main" val="10001"/>
                  </a:ext>
                </a:extLst>
              </a:tr>
              <a:tr h="46044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E[0]</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int</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M[</a:t>
                      </a:r>
                      <a:r>
                        <a:rPr kumimoji="0" lang="en-US" altLang="zh-CN" sz="1500" b="0" u="none" strike="noStrike" cap="none" normalizeH="0" baseline="0" dirty="0" err="1">
                          <a:ln>
                            <a:noFill/>
                          </a:ln>
                          <a:solidFill>
                            <a:schemeClr val="tx1"/>
                          </a:solidFill>
                          <a:effectLst/>
                        </a:rPr>
                        <a:t>x</a:t>
                      </a:r>
                      <a:r>
                        <a:rPr kumimoji="0" lang="en-US" altLang="zh-CN" sz="1500" b="0" u="none" strike="noStrike" cap="none" normalizeH="0" baseline="-25000" dirty="0" err="1">
                          <a:ln>
                            <a:noFill/>
                          </a:ln>
                          <a:solidFill>
                            <a:schemeClr val="tx1"/>
                          </a:solidFill>
                          <a:effectLst/>
                        </a:rPr>
                        <a:t>E</a:t>
                      </a:r>
                      <a:r>
                        <a:rPr kumimoji="0" lang="en-US" altLang="zh-CN" sz="1500" b="0" u="none" strike="noStrike" cap="none" normalizeH="0" baseline="0" dirty="0">
                          <a:ln>
                            <a:noFill/>
                          </a:ln>
                          <a:solidFill>
                            <a:schemeClr val="tx1"/>
                          </a:solidFill>
                          <a:effectLst/>
                        </a:rPr>
                        <a:t>]</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err="1">
                          <a:ln>
                            <a:noFill/>
                          </a:ln>
                          <a:solidFill>
                            <a:schemeClr val="tx1"/>
                          </a:solidFill>
                          <a:effectLst/>
                        </a:rPr>
                        <a:t>ldr</a:t>
                      </a:r>
                      <a:r>
                        <a:rPr kumimoji="0" lang="en-US" altLang="zh-CN" sz="1500" b="0" u="none" strike="noStrike" cap="none" normalizeH="0" baseline="0" dirty="0">
                          <a:ln>
                            <a:noFill/>
                          </a:ln>
                          <a:solidFill>
                            <a:schemeClr val="tx1"/>
                          </a:solidFill>
                          <a:effectLst/>
                        </a:rPr>
                        <a:t>  x2, </a:t>
                      </a:r>
                      <a:r>
                        <a:rPr kumimoji="0" lang="en-US" altLang="zh-CN" sz="1500" b="0" u="none" strike="noStrike" cap="none" normalizeH="0" baseline="0" dirty="0">
                          <a:ln>
                            <a:noFill/>
                          </a:ln>
                          <a:solidFill>
                            <a:srgbClr val="C00000"/>
                          </a:solidFill>
                          <a:effectLst/>
                        </a:rPr>
                        <a:t>[x0]</a:t>
                      </a:r>
                      <a:endParaRPr kumimoji="0" lang="zh-CN" altLang="en-US" sz="1500" b="0" i="0" u="none" strike="noStrike" cap="none" normalizeH="0" baseline="0" dirty="0">
                        <a:ln>
                          <a:noFill/>
                        </a:ln>
                        <a:solidFill>
                          <a:srgbClr val="C00000"/>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extLst>
                  <a:ext uri="{0D108BD9-81ED-4DB2-BD59-A6C34878D82A}">
                    <a16:rowId xmlns:a16="http://schemas.microsoft.com/office/drawing/2014/main" val="10002"/>
                  </a:ext>
                </a:extLst>
              </a:tr>
              <a:tr h="46044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a:ln>
                            <a:noFill/>
                          </a:ln>
                          <a:solidFill>
                            <a:schemeClr val="tx1"/>
                          </a:solidFill>
                          <a:effectLst/>
                        </a:rPr>
                        <a:t>E[i]</a:t>
                      </a:r>
                      <a:endParaRPr kumimoji="0" lang="zh-CN" altLang="en-US" sz="1500" b="0" i="0" u="none" strike="noStrike" cap="none" normalizeH="0" baseline="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int</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M[x</a:t>
                      </a:r>
                      <a:r>
                        <a:rPr kumimoji="0" lang="en-US" altLang="zh-CN" sz="1500" b="0" u="none" strike="noStrike" cap="none" normalizeH="0" baseline="-25000" dirty="0">
                          <a:ln>
                            <a:noFill/>
                          </a:ln>
                          <a:solidFill>
                            <a:schemeClr val="tx1"/>
                          </a:solidFill>
                          <a:effectLst/>
                        </a:rPr>
                        <a:t>E</a:t>
                      </a:r>
                      <a:r>
                        <a:rPr kumimoji="0" lang="en-US" altLang="zh-CN" sz="1500" b="0" u="none" strike="noStrike" cap="none" normalizeH="0" baseline="0" dirty="0">
                          <a:ln>
                            <a:noFill/>
                          </a:ln>
                          <a:solidFill>
                            <a:schemeClr val="tx1"/>
                          </a:solidFill>
                          <a:effectLst/>
                        </a:rPr>
                        <a:t>+4i]</a:t>
                      </a:r>
                      <a:endParaRPr kumimoji="0" lang="zh-CN" altLang="en-US"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err="1">
                          <a:ln>
                            <a:noFill/>
                          </a:ln>
                          <a:solidFill>
                            <a:schemeClr val="tx1"/>
                          </a:solidFill>
                          <a:effectLst/>
                        </a:rPr>
                        <a:t>ldr</a:t>
                      </a:r>
                      <a:r>
                        <a:rPr kumimoji="0" lang="en-US" altLang="zh-CN" sz="1500" b="0" u="none" strike="noStrike" cap="none" normalizeH="0" baseline="0" dirty="0">
                          <a:ln>
                            <a:noFill/>
                          </a:ln>
                          <a:solidFill>
                            <a:schemeClr val="tx1"/>
                          </a:solidFill>
                          <a:effectLst/>
                        </a:rPr>
                        <a:t>  x2, </a:t>
                      </a:r>
                      <a:r>
                        <a:rPr kumimoji="0" lang="en-US" altLang="zh-CN" sz="1500" b="0" u="none" strike="noStrike" cap="none" normalizeH="0" baseline="0" dirty="0">
                          <a:ln>
                            <a:noFill/>
                          </a:ln>
                          <a:solidFill>
                            <a:srgbClr val="C00000"/>
                          </a:solidFill>
                          <a:effectLst/>
                        </a:rPr>
                        <a:t>[x0, x1, </a:t>
                      </a:r>
                      <a:r>
                        <a:rPr kumimoji="0" lang="en-US" altLang="zh-CN" sz="1500" b="0" u="none" strike="noStrike" cap="none" normalizeH="0" baseline="0" dirty="0" err="1">
                          <a:ln>
                            <a:noFill/>
                          </a:ln>
                          <a:solidFill>
                            <a:srgbClr val="C00000"/>
                          </a:solidFill>
                          <a:effectLst/>
                        </a:rPr>
                        <a:t>lsl</a:t>
                      </a:r>
                      <a:r>
                        <a:rPr kumimoji="0" lang="en-US" altLang="zh-CN" sz="1500" b="0" u="none" strike="noStrike" cap="none" normalizeH="0" baseline="0" dirty="0">
                          <a:ln>
                            <a:noFill/>
                          </a:ln>
                          <a:solidFill>
                            <a:srgbClr val="C00000"/>
                          </a:solidFill>
                          <a:effectLst/>
                        </a:rPr>
                        <a:t> #2]</a:t>
                      </a:r>
                      <a:endParaRPr kumimoji="0" lang="zh-CN" altLang="en-US" sz="1500" b="0" i="0" u="none" strike="noStrike" cap="none" normalizeH="0" baseline="0" dirty="0">
                        <a:ln>
                          <a:noFill/>
                        </a:ln>
                        <a:solidFill>
                          <a:srgbClr val="C00000"/>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extLst>
                  <a:ext uri="{0D108BD9-81ED-4DB2-BD59-A6C34878D82A}">
                    <a16:rowId xmlns:a16="http://schemas.microsoft.com/office/drawing/2014/main" val="10003"/>
                  </a:ext>
                </a:extLst>
              </a:tr>
              <a:tr h="5792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E+i-1</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int *</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x</a:t>
                      </a:r>
                      <a:r>
                        <a:rPr kumimoji="0" lang="en-US" altLang="zh-CN" sz="1500" b="0" u="none" strike="noStrike" cap="none" normalizeH="0" baseline="-25000" dirty="0">
                          <a:ln>
                            <a:noFill/>
                          </a:ln>
                          <a:solidFill>
                            <a:schemeClr val="tx1"/>
                          </a:solidFill>
                          <a:effectLst/>
                        </a:rPr>
                        <a:t>E</a:t>
                      </a:r>
                      <a:r>
                        <a:rPr kumimoji="0" lang="en-US" altLang="zh-CN" sz="1500" b="0" u="none" strike="noStrike" cap="none" normalizeH="0" baseline="0" dirty="0">
                          <a:ln>
                            <a:noFill/>
                          </a:ln>
                          <a:solidFill>
                            <a:schemeClr val="tx1"/>
                          </a:solidFill>
                          <a:effectLst/>
                        </a:rPr>
                        <a:t>+4i-4</a:t>
                      </a:r>
                      <a:endParaRPr kumimoji="0" lang="zh-CN" altLang="en-US"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add  x2, </a:t>
                      </a:r>
                      <a:r>
                        <a:rPr kumimoji="0" lang="en-US" altLang="zh-CN" sz="1500" b="0" u="none" strike="noStrike" cap="none" normalizeH="0" baseline="0" dirty="0">
                          <a:ln>
                            <a:noFill/>
                          </a:ln>
                          <a:solidFill>
                            <a:srgbClr val="C00000"/>
                          </a:solidFill>
                          <a:effectLst/>
                        </a:rPr>
                        <a:t>x0, x1, </a:t>
                      </a:r>
                      <a:r>
                        <a:rPr kumimoji="0" lang="en-US" altLang="zh-CN" sz="1500" b="0" u="none" strike="noStrike" cap="none" normalizeH="0" baseline="0" dirty="0" err="1">
                          <a:ln>
                            <a:noFill/>
                          </a:ln>
                          <a:solidFill>
                            <a:srgbClr val="C00000"/>
                          </a:solidFill>
                          <a:effectLst/>
                        </a:rPr>
                        <a:t>lsl</a:t>
                      </a:r>
                      <a:r>
                        <a:rPr kumimoji="0" lang="en-US" altLang="zh-CN" sz="1500" b="0" u="none" strike="noStrike" cap="none" normalizeH="0" baseline="0" dirty="0">
                          <a:ln>
                            <a:noFill/>
                          </a:ln>
                          <a:solidFill>
                            <a:srgbClr val="C00000"/>
                          </a:solidFill>
                          <a:effectLst/>
                        </a:rPr>
                        <a:t> #2</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2"/>
                          </a:solidFill>
                          <a:effectLst/>
                        </a:rPr>
                        <a:t>sub  x2, x2, #4</a:t>
                      </a:r>
                      <a:endParaRPr kumimoji="0" lang="zh-CN" altLang="en-US" sz="1500" b="0" i="0" u="none" strike="noStrike" cap="none" normalizeH="0" baseline="0" dirty="0">
                        <a:ln>
                          <a:noFill/>
                        </a:ln>
                        <a:solidFill>
                          <a:schemeClr val="tx2"/>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extLst>
                  <a:ext uri="{0D108BD9-81ED-4DB2-BD59-A6C34878D82A}">
                    <a16:rowId xmlns:a16="http://schemas.microsoft.com/office/drawing/2014/main" val="10005"/>
                  </a:ext>
                </a:extLst>
              </a:tr>
              <a:tr h="5792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*(E+i-3) </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int</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M[x</a:t>
                      </a:r>
                      <a:r>
                        <a:rPr kumimoji="0" lang="en-US" altLang="zh-CN" sz="1500" b="0" u="none" strike="noStrike" cap="none" normalizeH="0" baseline="-25000" dirty="0">
                          <a:ln>
                            <a:noFill/>
                          </a:ln>
                          <a:solidFill>
                            <a:schemeClr val="tx1"/>
                          </a:solidFill>
                          <a:effectLst/>
                        </a:rPr>
                        <a:t>E</a:t>
                      </a:r>
                      <a:r>
                        <a:rPr kumimoji="0" lang="en-US" altLang="zh-CN" sz="1500" b="0" u="none" strike="noStrike" cap="none" normalizeH="0" baseline="0" dirty="0">
                          <a:ln>
                            <a:noFill/>
                          </a:ln>
                          <a:solidFill>
                            <a:schemeClr val="tx1"/>
                          </a:solidFill>
                          <a:effectLst/>
                        </a:rPr>
                        <a:t>+4i-12]</a:t>
                      </a:r>
                      <a:endParaRPr kumimoji="0" lang="zh-CN" altLang="en-US"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sub  x0, x0, #12</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err="1">
                          <a:ln>
                            <a:noFill/>
                          </a:ln>
                          <a:solidFill>
                            <a:schemeClr val="tx1"/>
                          </a:solidFill>
                          <a:effectLst/>
                        </a:rPr>
                        <a:t>ldr</a:t>
                      </a:r>
                      <a:r>
                        <a:rPr kumimoji="0" lang="en-US" altLang="zh-CN" sz="1500" b="0" u="none" strike="noStrike" cap="none" normalizeH="0" baseline="0" dirty="0">
                          <a:ln>
                            <a:noFill/>
                          </a:ln>
                          <a:solidFill>
                            <a:schemeClr val="tx1"/>
                          </a:solidFill>
                          <a:effectLst/>
                        </a:rPr>
                        <a:t>  x2, </a:t>
                      </a:r>
                      <a:r>
                        <a:rPr kumimoji="0" lang="en-US" altLang="zh-CN" sz="1500" b="0" u="none" strike="noStrike" cap="none" normalizeH="0" baseline="0" dirty="0">
                          <a:ln>
                            <a:noFill/>
                          </a:ln>
                          <a:solidFill>
                            <a:srgbClr val="C00000"/>
                          </a:solidFill>
                          <a:effectLst/>
                        </a:rPr>
                        <a:t>x0, x1, </a:t>
                      </a:r>
                      <a:r>
                        <a:rPr kumimoji="0" lang="en-US" altLang="zh-CN" sz="1500" b="0" u="none" strike="noStrike" cap="none" normalizeH="0" baseline="0" dirty="0" err="1">
                          <a:ln>
                            <a:noFill/>
                          </a:ln>
                          <a:solidFill>
                            <a:srgbClr val="C00000"/>
                          </a:solidFill>
                          <a:effectLst/>
                        </a:rPr>
                        <a:t>lsl</a:t>
                      </a:r>
                      <a:r>
                        <a:rPr kumimoji="0" lang="en-US" altLang="zh-CN" sz="1500" b="0" u="none" strike="noStrike" cap="none" normalizeH="0" baseline="0" dirty="0">
                          <a:ln>
                            <a:noFill/>
                          </a:ln>
                          <a:solidFill>
                            <a:srgbClr val="C00000"/>
                          </a:solidFill>
                          <a:effectLst/>
                        </a:rPr>
                        <a:t> #2</a:t>
                      </a:r>
                      <a:endParaRPr kumimoji="0" lang="zh-CN" altLang="en-US" sz="1500" b="0" i="0" u="none" strike="noStrike" cap="none" normalizeH="0" baseline="0" dirty="0">
                        <a:ln>
                          <a:noFill/>
                        </a:ln>
                        <a:solidFill>
                          <a:srgbClr val="C00000"/>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extLst>
                  <a:ext uri="{0D108BD9-81ED-4DB2-BD59-A6C34878D82A}">
                    <a16:rowId xmlns:a16="http://schemas.microsoft.com/office/drawing/2014/main" val="10006"/>
                  </a:ext>
                </a:extLst>
              </a:tr>
              <a:tr h="46044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1500" b="0" u="none" strike="noStrike" cap="none" normalizeH="0" baseline="0" dirty="0">
                          <a:ln>
                            <a:noFill/>
                          </a:ln>
                          <a:solidFill>
                            <a:schemeClr val="tx1"/>
                          </a:solidFill>
                          <a:effectLst/>
                        </a:rPr>
                        <a:t>&amp;</a:t>
                      </a:r>
                      <a:r>
                        <a:rPr kumimoji="0" lang="en-US" altLang="zh-CN" sz="1500" b="0" u="none" strike="noStrike" cap="none" normalizeH="0" baseline="0" dirty="0">
                          <a:ln>
                            <a:noFill/>
                          </a:ln>
                          <a:solidFill>
                            <a:schemeClr val="tx1"/>
                          </a:solidFill>
                          <a:effectLst/>
                        </a:rPr>
                        <a:t>E[</a:t>
                      </a:r>
                      <a:r>
                        <a:rPr kumimoji="0" lang="en-US" altLang="zh-CN" sz="1500" b="0" u="none" strike="noStrike" cap="none" normalizeH="0" baseline="0" dirty="0" err="1">
                          <a:ln>
                            <a:noFill/>
                          </a:ln>
                          <a:solidFill>
                            <a:schemeClr val="tx1"/>
                          </a:solidFill>
                          <a:effectLst/>
                        </a:rPr>
                        <a:t>i</a:t>
                      </a:r>
                      <a:r>
                        <a:rPr kumimoji="0" lang="en-US" altLang="zh-CN" sz="1500" b="0" u="none" strike="noStrike" cap="none" normalizeH="0" baseline="0" dirty="0">
                          <a:ln>
                            <a:noFill/>
                          </a:ln>
                          <a:solidFill>
                            <a:schemeClr val="tx1"/>
                          </a:solidFill>
                          <a:effectLst/>
                        </a:rPr>
                        <a:t>]-E</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long</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err="1">
                          <a:ln>
                            <a:noFill/>
                          </a:ln>
                          <a:solidFill>
                            <a:schemeClr val="tx1"/>
                          </a:solidFill>
                          <a:effectLst/>
                        </a:rPr>
                        <a:t>i</a:t>
                      </a:r>
                      <a:endParaRPr kumimoji="0" lang="en-US" altLang="zh-CN" sz="1500" b="0" i="0" u="none" strike="noStrike" cap="none" normalizeH="0" baseline="0" dirty="0">
                        <a:ln>
                          <a:noFill/>
                        </a:ln>
                        <a:solidFill>
                          <a:schemeClr val="tx1"/>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500" b="0" u="none" strike="noStrike" cap="none" normalizeH="0" baseline="0" dirty="0">
                          <a:ln>
                            <a:noFill/>
                          </a:ln>
                          <a:solidFill>
                            <a:schemeClr val="tx1"/>
                          </a:solidFill>
                          <a:effectLst/>
                        </a:rPr>
                        <a:t>mov  x2, </a:t>
                      </a:r>
                      <a:r>
                        <a:rPr kumimoji="0" lang="en-US" altLang="zh-CN" sz="1500" b="0" u="none" strike="noStrike" cap="none" normalizeH="0" baseline="0" dirty="0">
                          <a:ln>
                            <a:noFill/>
                          </a:ln>
                          <a:solidFill>
                            <a:srgbClr val="C00000"/>
                          </a:solidFill>
                          <a:effectLst/>
                        </a:rPr>
                        <a:t>x1</a:t>
                      </a:r>
                      <a:endParaRPr kumimoji="0" lang="zh-CN" altLang="en-US" sz="1500" b="0" i="0" u="none" strike="noStrike" cap="none" normalizeH="0" baseline="0" dirty="0">
                        <a:ln>
                          <a:noFill/>
                        </a:ln>
                        <a:solidFill>
                          <a:srgbClr val="C00000"/>
                        </a:solidFill>
                        <a:effectLst/>
                        <a:latin typeface="Consolas" panose="020B0609020204030204" pitchFamily="49" charset="0"/>
                        <a:ea typeface="宋体" pitchFamily="2" charset="-122"/>
                        <a:cs typeface="Consolas" panose="020B0609020204030204" pitchFamily="49" charset="0"/>
                      </a:endParaRPr>
                    </a:p>
                  </a:txBody>
                  <a:tcPr marL="76200" marR="76200" marT="38106" marB="38106" anchor="ctr" horzOverflow="overflow"/>
                </a:tc>
                <a:extLst>
                  <a:ext uri="{0D108BD9-81ED-4DB2-BD59-A6C34878D82A}">
                    <a16:rowId xmlns:a16="http://schemas.microsoft.com/office/drawing/2014/main" val="10007"/>
                  </a:ext>
                </a:extLst>
              </a:tr>
            </a:tbl>
          </a:graphicData>
        </a:graphic>
      </p:graphicFrame>
      <p:sp>
        <p:nvSpPr>
          <p:cNvPr id="69634" name="灯片编号占位符 5">
            <a:extLst>
              <a:ext uri="{FF2B5EF4-FFF2-40B4-BE49-F238E27FC236}">
                <a16:creationId xmlns:a16="http://schemas.microsoft.com/office/drawing/2014/main" id="{45B9811A-063A-47A5-8041-0495ABEE69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621F2304-3762-4E15-9003-62F043CEC334}" type="slidenum">
              <a:rPr lang="zh-CN" altLang="en-US" sz="1167">
                <a:latin typeface="Times New Roman" panose="02020603050405020304" pitchFamily="18" charset="0"/>
              </a:rPr>
              <a:pPr>
                <a:spcBef>
                  <a:spcPct val="0"/>
                </a:spcBef>
                <a:buFontTx/>
                <a:buNone/>
              </a:pPr>
              <a:t>9</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2949619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42964-50AD-4A1D-8C18-9DF9FC5AFCEF}"/>
              </a:ext>
            </a:extLst>
          </p:cNvPr>
          <p:cNvSpPr>
            <a:spLocks noGrp="1"/>
          </p:cNvSpPr>
          <p:nvPr>
            <p:ph type="title"/>
          </p:nvPr>
        </p:nvSpPr>
        <p:spPr/>
        <p:txBody>
          <a:bodyPr/>
          <a:lstStyle/>
          <a:p>
            <a:r>
              <a:rPr lang="zh-CN" altLang="en-US" dirty="0"/>
              <a:t>指针</a:t>
            </a:r>
          </a:p>
        </p:txBody>
      </p:sp>
      <p:sp>
        <p:nvSpPr>
          <p:cNvPr id="3" name="文本占位符 2">
            <a:extLst>
              <a:ext uri="{FF2B5EF4-FFF2-40B4-BE49-F238E27FC236}">
                <a16:creationId xmlns:a16="http://schemas.microsoft.com/office/drawing/2014/main" id="{CF1A0226-D793-41D4-90DA-2B43715A5E1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CCF0594-65C4-4D0C-BAD8-9D010E65A967}"/>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Tree>
    <p:extLst>
      <p:ext uri="{BB962C8B-B14F-4D97-AF65-F5344CB8AC3E}">
        <p14:creationId xmlns:p14="http://schemas.microsoft.com/office/powerpoint/2010/main" val="641094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a:extLst>
              <a:ext uri="{FF2B5EF4-FFF2-40B4-BE49-F238E27FC236}">
                <a16:creationId xmlns:a16="http://schemas.microsoft.com/office/drawing/2014/main" id="{F89CB89C-1C6B-4DB9-866B-B84E94CA9F00}"/>
              </a:ext>
            </a:extLst>
          </p:cNvPr>
          <p:cNvSpPr>
            <a:spLocks noGrp="1" noChangeArrowheads="1"/>
          </p:cNvSpPr>
          <p:nvPr>
            <p:ph type="title"/>
          </p:nvPr>
        </p:nvSpPr>
        <p:spPr/>
        <p:txBody>
          <a:bodyPr/>
          <a:lstStyle/>
          <a:p>
            <a:r>
              <a:rPr lang="zh-CN" altLang="en-US" dirty="0"/>
              <a:t>指针</a:t>
            </a:r>
            <a:endParaRPr lang="en-US" altLang="zh-CN" dirty="0">
              <a:ea typeface="宋体" panose="02010600030101010101" pitchFamily="2" charset="-122"/>
            </a:endParaRPr>
          </a:p>
        </p:txBody>
      </p:sp>
      <p:sp>
        <p:nvSpPr>
          <p:cNvPr id="73732" name="内容占位符 5">
            <a:extLst>
              <a:ext uri="{FF2B5EF4-FFF2-40B4-BE49-F238E27FC236}">
                <a16:creationId xmlns:a16="http://schemas.microsoft.com/office/drawing/2014/main" id="{CE25BA31-9F8D-4C7D-922E-DD077B1208F5}"/>
              </a:ext>
            </a:extLst>
          </p:cNvPr>
          <p:cNvSpPr>
            <a:spLocks noGrp="1" noChangeArrowheads="1"/>
          </p:cNvSpPr>
          <p:nvPr>
            <p:ph idx="1"/>
          </p:nvPr>
        </p:nvSpPr>
        <p:spPr/>
        <p:txBody>
          <a:bodyPr>
            <a:normAutofit/>
          </a:bodyPr>
          <a:lstStyle/>
          <a:p>
            <a:r>
              <a:rPr lang="zh-CN" altLang="en-US" dirty="0"/>
              <a:t>每个指针有属于自己的类型</a:t>
            </a:r>
            <a:endParaRPr lang="en-US" altLang="zh-CN" dirty="0">
              <a:ea typeface="宋体" panose="02010600030101010101" pitchFamily="2" charset="-122"/>
            </a:endParaRPr>
          </a:p>
          <a:p>
            <a:pPr lvl="1"/>
            <a:r>
              <a:rPr lang="zh-CN" altLang="en-US" dirty="0"/>
              <a:t>指向类型为</a:t>
            </a:r>
            <a:r>
              <a:rPr lang="en-US" altLang="zh-CN" b="1" dirty="0">
                <a:solidFill>
                  <a:srgbClr val="C00000"/>
                </a:solidFill>
              </a:rPr>
              <a:t>Type</a:t>
            </a:r>
            <a:r>
              <a:rPr lang="zh-CN" altLang="en-US" dirty="0"/>
              <a:t>的对象的指针类型为</a:t>
            </a:r>
            <a:r>
              <a:rPr lang="en-US" altLang="zh-CN" b="1" dirty="0">
                <a:solidFill>
                  <a:srgbClr val="C00000"/>
                </a:solidFill>
                <a:ea typeface="宋体" panose="02010600030101010101" pitchFamily="2" charset="-122"/>
              </a:rPr>
              <a:t>Type </a:t>
            </a:r>
            <a:r>
              <a:rPr lang="zh-CN" altLang="en-US" b="1" dirty="0">
                <a:solidFill>
                  <a:srgbClr val="C00000"/>
                </a:solidFill>
                <a:ea typeface="宋体" panose="02010600030101010101" pitchFamily="2" charset="-122"/>
              </a:rPr>
              <a:t>*</a:t>
            </a:r>
            <a:endParaRPr lang="en-US" altLang="zh-CN" b="1" dirty="0">
              <a:solidFill>
                <a:srgbClr val="C00000"/>
              </a:solidFill>
              <a:ea typeface="宋体" panose="02010600030101010101" pitchFamily="2" charset="-122"/>
            </a:endParaRPr>
          </a:p>
          <a:p>
            <a:pPr lvl="1"/>
            <a:r>
              <a:rPr lang="zh-CN" altLang="en-US" dirty="0"/>
              <a:t>特殊类型</a:t>
            </a:r>
            <a:r>
              <a:rPr lang="en-US" altLang="zh-CN" b="1" dirty="0">
                <a:solidFill>
                  <a:srgbClr val="C00000"/>
                </a:solidFill>
                <a:ea typeface="宋体" panose="02010600030101010101" pitchFamily="2" charset="-122"/>
              </a:rPr>
              <a:t>void *</a:t>
            </a:r>
            <a:r>
              <a:rPr lang="zh-CN" altLang="en-US" dirty="0"/>
              <a:t>表示泛型指针</a:t>
            </a:r>
            <a:endParaRPr lang="en-US" altLang="zh-CN" dirty="0">
              <a:ea typeface="宋体" panose="02010600030101010101" pitchFamily="2" charset="-122"/>
            </a:endParaRPr>
          </a:p>
          <a:p>
            <a:pPr lvl="2"/>
            <a:r>
              <a:rPr lang="zh-CN" altLang="en-US" dirty="0"/>
              <a:t>堆内存申请函数 </a:t>
            </a:r>
            <a:r>
              <a:rPr lang="en-US" altLang="zh-CN" dirty="0">
                <a:ea typeface="宋体" panose="02010600030101010101" pitchFamily="2" charset="-122"/>
              </a:rPr>
              <a:t>malloc</a:t>
            </a:r>
            <a:r>
              <a:rPr lang="zh-CN" altLang="en-US" dirty="0">
                <a:ea typeface="宋体" panose="02010600030101010101" pitchFamily="2" charset="-122"/>
              </a:rPr>
              <a:t> </a:t>
            </a:r>
            <a:r>
              <a:rPr lang="zh-CN" altLang="en-US" dirty="0"/>
              <a:t>返回的就是这样的泛型指针</a:t>
            </a:r>
            <a:endParaRPr lang="en-US" altLang="zh-CN" dirty="0">
              <a:ea typeface="宋体" panose="02010600030101010101" pitchFamily="2" charset="-122"/>
            </a:endParaRPr>
          </a:p>
          <a:p>
            <a:r>
              <a:rPr lang="zh-CN" altLang="en-US" dirty="0"/>
              <a:t>每个指针有属于自己的值</a:t>
            </a:r>
            <a:endParaRPr lang="en-US" altLang="zh-CN" dirty="0"/>
          </a:p>
          <a:p>
            <a:pPr lvl="1"/>
            <a:r>
              <a:rPr lang="zh-CN" altLang="en-US" dirty="0"/>
              <a:t>指针的值是内存地址</a:t>
            </a:r>
            <a:endParaRPr lang="en-US" altLang="zh-CN" dirty="0">
              <a:ea typeface="宋体" panose="02010600030101010101" pitchFamily="2" charset="-122"/>
            </a:endParaRPr>
          </a:p>
        </p:txBody>
      </p:sp>
      <p:sp>
        <p:nvSpPr>
          <p:cNvPr id="73730" name="灯片编号占位符 6">
            <a:extLst>
              <a:ext uri="{FF2B5EF4-FFF2-40B4-BE49-F238E27FC236}">
                <a16:creationId xmlns:a16="http://schemas.microsoft.com/office/drawing/2014/main" id="{8E0D8931-0796-4530-87A0-857B95C4FF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A039D72C-0F5F-4D8C-928E-3D65E9524E03}" type="slidenum">
              <a:rPr lang="zh-CN" altLang="en-US" sz="1167">
                <a:latin typeface="Times New Roman" panose="02020603050405020304" pitchFamily="18" charset="0"/>
              </a:rPr>
              <a:pPr>
                <a:spcBef>
                  <a:spcPct val="0"/>
                </a:spcBef>
                <a:buFontTx/>
                <a:buNone/>
              </a:pPr>
              <a:t>11</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1906807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a:extLst>
              <a:ext uri="{FF2B5EF4-FFF2-40B4-BE49-F238E27FC236}">
                <a16:creationId xmlns:a16="http://schemas.microsoft.com/office/drawing/2014/main" id="{16B5ADFF-CF86-4C65-BAE2-4926F537F547}"/>
              </a:ext>
            </a:extLst>
          </p:cNvPr>
          <p:cNvSpPr>
            <a:spLocks noGrp="1" noChangeArrowheads="1"/>
          </p:cNvSpPr>
          <p:nvPr>
            <p:ph type="title"/>
          </p:nvPr>
        </p:nvSpPr>
        <p:spPr/>
        <p:txBody>
          <a:bodyPr/>
          <a:lstStyle/>
          <a:p>
            <a:r>
              <a:rPr lang="zh-CN" altLang="en-US" dirty="0"/>
              <a:t>指针</a:t>
            </a:r>
            <a:endParaRPr lang="en-US" altLang="zh-CN" dirty="0">
              <a:ea typeface="宋体" panose="02010600030101010101" pitchFamily="2" charset="-122"/>
            </a:endParaRPr>
          </a:p>
        </p:txBody>
      </p:sp>
      <p:sp>
        <p:nvSpPr>
          <p:cNvPr id="75780" name="Rectangle 3">
            <a:extLst>
              <a:ext uri="{FF2B5EF4-FFF2-40B4-BE49-F238E27FC236}">
                <a16:creationId xmlns:a16="http://schemas.microsoft.com/office/drawing/2014/main" id="{3C888B39-8132-424A-A9F6-ADB6E976DCE8}"/>
              </a:ext>
            </a:extLst>
          </p:cNvPr>
          <p:cNvSpPr>
            <a:spLocks noGrp="1" noChangeArrowheads="1"/>
          </p:cNvSpPr>
          <p:nvPr>
            <p:ph idx="1"/>
          </p:nvPr>
        </p:nvSpPr>
        <p:spPr/>
        <p:txBody>
          <a:bodyPr>
            <a:normAutofit/>
          </a:bodyPr>
          <a:lstStyle/>
          <a:p>
            <a:pPr>
              <a:spcBef>
                <a:spcPts val="250"/>
              </a:spcBef>
            </a:pPr>
            <a:r>
              <a:rPr lang="zh-CN" altLang="en-US" dirty="0"/>
              <a:t>指针的值由取地址运算符</a:t>
            </a:r>
            <a:r>
              <a:rPr lang="en-US" altLang="zh-CN" dirty="0">
                <a:solidFill>
                  <a:srgbClr val="C00000"/>
                </a:solidFill>
                <a:ea typeface="宋体" panose="02010600030101010101" pitchFamily="2" charset="-122"/>
              </a:rPr>
              <a:t>&amp;</a:t>
            </a:r>
            <a:r>
              <a:rPr lang="zh-CN" altLang="en-US" dirty="0"/>
              <a:t>获取</a:t>
            </a:r>
            <a:endParaRPr lang="en-US" altLang="zh-CN" sz="2000" dirty="0">
              <a:ea typeface="宋体" panose="02010600030101010101" pitchFamily="2" charset="-122"/>
            </a:endParaRPr>
          </a:p>
          <a:p>
            <a:pPr>
              <a:lnSpc>
                <a:spcPct val="150000"/>
              </a:lnSpc>
              <a:spcBef>
                <a:spcPts val="250"/>
              </a:spcBef>
            </a:pPr>
            <a:r>
              <a:rPr lang="zh-CN" altLang="en-US" dirty="0"/>
              <a:t>指针可以通过运算符 </a:t>
            </a:r>
            <a:r>
              <a:rPr lang="en-US" altLang="zh-CN" dirty="0">
                <a:solidFill>
                  <a:srgbClr val="C00000"/>
                </a:solidFill>
                <a:ea typeface="宋体" panose="02010600030101010101" pitchFamily="2" charset="-122"/>
              </a:rPr>
              <a:t>* </a:t>
            </a:r>
            <a:r>
              <a:rPr lang="zh-CN" altLang="en-US" dirty="0"/>
              <a:t>进行解引用</a:t>
            </a:r>
            <a:endParaRPr lang="en-US" altLang="zh-CN" dirty="0">
              <a:ea typeface="宋体" panose="02010600030101010101" pitchFamily="2" charset="-122"/>
            </a:endParaRPr>
          </a:p>
          <a:p>
            <a:pPr lvl="1">
              <a:spcBef>
                <a:spcPts val="250"/>
              </a:spcBef>
            </a:pPr>
            <a:r>
              <a:rPr lang="zh-CN" altLang="en-US" dirty="0"/>
              <a:t>解引用的结果是指针指向的对象值</a:t>
            </a:r>
            <a:endParaRPr lang="en-US" altLang="zh-CN" dirty="0">
              <a:ea typeface="宋体" panose="02010600030101010101" pitchFamily="2" charset="-122"/>
            </a:endParaRPr>
          </a:p>
          <a:p>
            <a:pPr>
              <a:lnSpc>
                <a:spcPct val="150000"/>
              </a:lnSpc>
              <a:spcBef>
                <a:spcPts val="250"/>
              </a:spcBef>
            </a:pPr>
            <a:r>
              <a:rPr lang="zh-CN" altLang="en-US" dirty="0"/>
              <a:t>数组与指针有紧密的关联</a:t>
            </a:r>
            <a:endParaRPr lang="en-US" altLang="zh-CN" dirty="0">
              <a:ea typeface="宋体" panose="02010600030101010101" pitchFamily="2" charset="-122"/>
            </a:endParaRPr>
          </a:p>
          <a:p>
            <a:pPr lvl="1">
              <a:spcBef>
                <a:spcPts val="250"/>
              </a:spcBef>
            </a:pPr>
            <a:r>
              <a:rPr lang="zh-CN" altLang="en-US" dirty="0"/>
              <a:t>数组的名称可以被视作常量指针</a:t>
            </a:r>
            <a:endParaRPr lang="en-US" altLang="zh-CN" dirty="0">
              <a:ea typeface="宋体" panose="02010600030101010101" pitchFamily="2" charset="-122"/>
            </a:endParaRPr>
          </a:p>
          <a:p>
            <a:pPr lvl="1">
              <a:spcBef>
                <a:spcPts val="250"/>
              </a:spcBef>
            </a:pPr>
            <a:r>
              <a:rPr lang="en-US" altLang="zh-CN" b="1" dirty="0" err="1">
                <a:solidFill>
                  <a:srgbClr val="C00000"/>
                </a:solidFill>
                <a:ea typeface="宋体" panose="02010600030101010101" pitchFamily="2" charset="-122"/>
              </a:rPr>
              <a:t>ip</a:t>
            </a:r>
            <a:r>
              <a:rPr lang="en-US" altLang="zh-CN" b="1" dirty="0">
                <a:solidFill>
                  <a:srgbClr val="C00000"/>
                </a:solidFill>
                <a:ea typeface="宋体" panose="02010600030101010101" pitchFamily="2" charset="-122"/>
              </a:rPr>
              <a:t>[0]</a:t>
            </a:r>
            <a:r>
              <a:rPr lang="zh-CN" altLang="en-US" dirty="0"/>
              <a:t>与</a:t>
            </a:r>
            <a:r>
              <a:rPr lang="en-US" altLang="zh-CN" b="1" dirty="0">
                <a:solidFill>
                  <a:srgbClr val="C00000"/>
                </a:solidFill>
                <a:ea typeface="宋体" panose="02010600030101010101" pitchFamily="2" charset="-122"/>
              </a:rPr>
              <a:t>*</a:t>
            </a:r>
            <a:r>
              <a:rPr lang="en-US" altLang="zh-CN" b="1" dirty="0" err="1">
                <a:solidFill>
                  <a:srgbClr val="C00000"/>
                </a:solidFill>
                <a:ea typeface="宋体" panose="02010600030101010101" pitchFamily="2" charset="-122"/>
              </a:rPr>
              <a:t>ip</a:t>
            </a:r>
            <a:r>
              <a:rPr lang="zh-CN" altLang="en-US" dirty="0"/>
              <a:t>是等价的</a:t>
            </a:r>
            <a:endParaRPr lang="en-US" altLang="zh-CN" dirty="0">
              <a:ea typeface="宋体" panose="02010600030101010101" pitchFamily="2" charset="-122"/>
            </a:endParaRPr>
          </a:p>
        </p:txBody>
      </p:sp>
      <p:sp>
        <p:nvSpPr>
          <p:cNvPr id="75778" name="灯片编号占位符 5">
            <a:extLst>
              <a:ext uri="{FF2B5EF4-FFF2-40B4-BE49-F238E27FC236}">
                <a16:creationId xmlns:a16="http://schemas.microsoft.com/office/drawing/2014/main" id="{13A9FDAB-3DF3-413A-BF52-A9C5879B32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A45D0749-EE91-41E5-A9DD-4247675B516D}" type="slidenum">
              <a:rPr lang="zh-CN" altLang="en-US" sz="1167">
                <a:latin typeface="Times New Roman" panose="02020603050405020304" pitchFamily="18" charset="0"/>
              </a:rPr>
              <a:pPr>
                <a:spcBef>
                  <a:spcPct val="0"/>
                </a:spcBef>
                <a:buFontTx/>
                <a:buNone/>
              </a:pPr>
              <a:t>12</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3303675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a:extLst>
              <a:ext uri="{FF2B5EF4-FFF2-40B4-BE49-F238E27FC236}">
                <a16:creationId xmlns:a16="http://schemas.microsoft.com/office/drawing/2014/main" id="{A0EF4077-87F3-415F-BDC0-0ECDE2D11E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1E52391D-4098-4F43-A999-649C2BA049A3}" type="slidenum">
              <a:rPr lang="zh-CN" altLang="en-US" sz="1167">
                <a:latin typeface="Times New Roman" panose="02020603050405020304" pitchFamily="18" charset="0"/>
              </a:rPr>
              <a:pPr>
                <a:spcBef>
                  <a:spcPct val="0"/>
                </a:spcBef>
                <a:buFontTx/>
                <a:buNone/>
              </a:pPr>
              <a:t>13</a:t>
            </a:fld>
            <a:endParaRPr lang="en-US" altLang="zh-CN" sz="1167">
              <a:latin typeface="Times New Roman" panose="02020603050405020304" pitchFamily="18" charset="0"/>
            </a:endParaRPr>
          </a:p>
        </p:txBody>
      </p:sp>
      <p:sp>
        <p:nvSpPr>
          <p:cNvPr id="77827" name="Rectangle 2">
            <a:extLst>
              <a:ext uri="{FF2B5EF4-FFF2-40B4-BE49-F238E27FC236}">
                <a16:creationId xmlns:a16="http://schemas.microsoft.com/office/drawing/2014/main" id="{9B03F4B6-D82F-4336-9C43-3CFE9F6D4459}"/>
              </a:ext>
            </a:extLst>
          </p:cNvPr>
          <p:cNvSpPr>
            <a:spLocks noGrp="1" noChangeArrowheads="1"/>
          </p:cNvSpPr>
          <p:nvPr>
            <p:ph type="title"/>
          </p:nvPr>
        </p:nvSpPr>
        <p:spPr/>
        <p:txBody>
          <a:bodyPr/>
          <a:lstStyle/>
          <a:p>
            <a:r>
              <a:rPr lang="zh-CN" altLang="en-US" dirty="0"/>
              <a:t>指针运算</a:t>
            </a:r>
            <a:endParaRPr lang="en-US" altLang="zh-CN" dirty="0">
              <a:ea typeface="宋体" panose="02010600030101010101" pitchFamily="2" charset="-122"/>
            </a:endParaRPr>
          </a:p>
        </p:txBody>
      </p:sp>
      <p:sp>
        <p:nvSpPr>
          <p:cNvPr id="77828" name="Rectangle 3">
            <a:extLst>
              <a:ext uri="{FF2B5EF4-FFF2-40B4-BE49-F238E27FC236}">
                <a16:creationId xmlns:a16="http://schemas.microsoft.com/office/drawing/2014/main" id="{050A2A22-1F26-494E-838F-970FDF55C3F7}"/>
              </a:ext>
            </a:extLst>
          </p:cNvPr>
          <p:cNvSpPr>
            <a:spLocks noGrp="1" noChangeArrowheads="1"/>
          </p:cNvSpPr>
          <p:nvPr>
            <p:ph type="body" idx="1"/>
          </p:nvPr>
        </p:nvSpPr>
        <p:spPr/>
        <p:txBody>
          <a:bodyPr>
            <a:normAutofit lnSpcReduction="10000"/>
          </a:bodyPr>
          <a:lstStyle/>
          <a:p>
            <a:pPr>
              <a:lnSpc>
                <a:spcPct val="120000"/>
              </a:lnSpc>
            </a:pPr>
            <a:r>
              <a:rPr lang="zh-CN" altLang="en-US" dirty="0"/>
              <a:t>加减法</a:t>
            </a:r>
            <a:endParaRPr lang="en-US" altLang="zh-CN" dirty="0">
              <a:ea typeface="宋体" panose="02010600030101010101" pitchFamily="2" charset="-122"/>
            </a:endParaRPr>
          </a:p>
          <a:p>
            <a:pPr lvl="1">
              <a:lnSpc>
                <a:spcPct val="120000"/>
              </a:lnSpc>
            </a:pPr>
            <a:r>
              <a:rPr lang="zh-CN" altLang="en-US" dirty="0"/>
              <a:t>指针与整数相加减结果为</a:t>
            </a:r>
            <a:r>
              <a:rPr lang="zh-CN" altLang="en-US" b="1" dirty="0">
                <a:solidFill>
                  <a:srgbClr val="C00000"/>
                </a:solidFill>
              </a:rPr>
              <a:t>指针</a:t>
            </a:r>
            <a:r>
              <a:rPr lang="zh-CN" altLang="en-US" dirty="0"/>
              <a:t>：</a:t>
            </a:r>
            <a:r>
              <a:rPr lang="en-US" altLang="zh-CN" dirty="0" err="1">
                <a:ea typeface="宋体" panose="02010600030101010101" pitchFamily="2" charset="-122"/>
              </a:rPr>
              <a:t>p+i</a:t>
            </a:r>
            <a:r>
              <a:rPr lang="en-US" altLang="zh-CN" dirty="0">
                <a:ea typeface="宋体" panose="02010600030101010101" pitchFamily="2" charset="-122"/>
              </a:rPr>
              <a:t> ,  p-</a:t>
            </a:r>
            <a:r>
              <a:rPr lang="en-US" altLang="zh-CN" dirty="0" err="1">
                <a:ea typeface="宋体" panose="02010600030101010101" pitchFamily="2" charset="-122"/>
              </a:rPr>
              <a:t>i</a:t>
            </a:r>
            <a:endParaRPr lang="en-US" altLang="zh-CN" dirty="0">
              <a:ea typeface="宋体" panose="02010600030101010101" pitchFamily="2" charset="-122"/>
            </a:endParaRPr>
          </a:p>
          <a:p>
            <a:pPr lvl="1">
              <a:lnSpc>
                <a:spcPct val="120000"/>
              </a:lnSpc>
            </a:pPr>
            <a:r>
              <a:rPr lang="zh-CN" altLang="en-US" dirty="0"/>
              <a:t>指针与指针相减结果为</a:t>
            </a:r>
            <a:r>
              <a:rPr lang="zh-CN" altLang="en-US" b="1" dirty="0">
                <a:solidFill>
                  <a:srgbClr val="C00000"/>
                </a:solidFill>
              </a:rPr>
              <a:t>整数</a:t>
            </a:r>
            <a:r>
              <a:rPr lang="zh-CN" altLang="en-US" dirty="0"/>
              <a:t>：</a:t>
            </a:r>
            <a:r>
              <a:rPr lang="en-US" altLang="zh-CN" dirty="0">
                <a:ea typeface="宋体" panose="02010600030101010101" pitchFamily="2" charset="-122"/>
              </a:rPr>
              <a:t>p-q</a:t>
            </a:r>
          </a:p>
          <a:p>
            <a:pPr>
              <a:lnSpc>
                <a:spcPct val="120000"/>
              </a:lnSpc>
            </a:pPr>
            <a:r>
              <a:rPr lang="zh-CN" altLang="en-US" dirty="0"/>
              <a:t>引用（</a:t>
            </a:r>
            <a:r>
              <a:rPr lang="en-US" altLang="zh-CN" dirty="0"/>
              <a:t>&amp;</a:t>
            </a:r>
            <a:r>
              <a:rPr lang="zh-CN" altLang="en-US" dirty="0"/>
              <a:t>）与解引用（*）</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*p, &amp;E</a:t>
            </a:r>
          </a:p>
          <a:p>
            <a:pPr>
              <a:lnSpc>
                <a:spcPct val="120000"/>
              </a:lnSpc>
            </a:pPr>
            <a:r>
              <a:rPr lang="zh-CN" altLang="en-US" dirty="0"/>
              <a:t>下标索引</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A[</a:t>
            </a:r>
            <a:r>
              <a:rPr lang="en-US" altLang="zh-CN" dirty="0" err="1">
                <a:ea typeface="宋体" panose="02010600030101010101" pitchFamily="2" charset="-122"/>
              </a:rPr>
              <a:t>i</a:t>
            </a:r>
            <a:r>
              <a:rPr lang="en-US" altLang="zh-CN" dirty="0">
                <a:ea typeface="宋体" panose="02010600030101010101" pitchFamily="2" charset="-122"/>
              </a:rPr>
              <a:t>],  *(</a:t>
            </a:r>
            <a:r>
              <a:rPr lang="en-US" altLang="zh-CN" dirty="0" err="1">
                <a:ea typeface="宋体" panose="02010600030101010101" pitchFamily="2" charset="-122"/>
              </a:rPr>
              <a:t>A+i</a:t>
            </a:r>
            <a:r>
              <a:rPr lang="en-US" altLang="zh-CN" dirty="0">
                <a:ea typeface="宋体" panose="02010600030101010101" pitchFamily="2" charset="-122"/>
              </a:rPr>
              <a:t>) </a:t>
            </a:r>
          </a:p>
        </p:txBody>
      </p:sp>
    </p:spTree>
    <p:extLst>
      <p:ext uri="{BB962C8B-B14F-4D97-AF65-F5344CB8AC3E}">
        <p14:creationId xmlns:p14="http://schemas.microsoft.com/office/powerpoint/2010/main" val="3396747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D0D77E77-4910-48A7-8F3D-126597FD0EAF}"/>
              </a:ext>
            </a:extLst>
          </p:cNvPr>
          <p:cNvSpPr>
            <a:spLocks noGrp="1" noChangeArrowheads="1"/>
          </p:cNvSpPr>
          <p:nvPr>
            <p:ph type="title"/>
          </p:nvPr>
        </p:nvSpPr>
        <p:spPr/>
        <p:txBody>
          <a:bodyPr/>
          <a:lstStyle/>
          <a:p>
            <a:r>
              <a:rPr lang="zh-CN" altLang="en-US" dirty="0"/>
              <a:t>命令行参数</a:t>
            </a:r>
            <a:endParaRPr lang="en-US" altLang="zh-CN" dirty="0">
              <a:ea typeface="方正舒体" panose="02010601030101010101" pitchFamily="2" charset="-122"/>
            </a:endParaRPr>
          </a:p>
        </p:txBody>
      </p:sp>
      <p:sp>
        <p:nvSpPr>
          <p:cNvPr id="79875" name="Rectangle 3">
            <a:extLst>
              <a:ext uri="{FF2B5EF4-FFF2-40B4-BE49-F238E27FC236}">
                <a16:creationId xmlns:a16="http://schemas.microsoft.com/office/drawing/2014/main" id="{AFA3722F-270E-4F4C-955B-64F33688EF62}"/>
              </a:ext>
            </a:extLst>
          </p:cNvPr>
          <p:cNvSpPr>
            <a:spLocks noGrp="1" noChangeArrowheads="1"/>
          </p:cNvSpPr>
          <p:nvPr>
            <p:ph type="body" idx="1"/>
          </p:nvPr>
        </p:nvSpPr>
        <p:spPr>
          <a:xfrm>
            <a:off x="1143000" y="1397000"/>
            <a:ext cx="6921500" cy="4000500"/>
          </a:xfrm>
        </p:spPr>
        <p:txBody>
          <a:bodyPr>
            <a:normAutofit lnSpcReduction="10000"/>
          </a:bodyPr>
          <a:lstStyle/>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echo hello, world</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hello, world</a:t>
            </a:r>
          </a:p>
          <a:p>
            <a:pPr marL="444482" indent="-444482">
              <a:spcBef>
                <a:spcPct val="0"/>
              </a:spcBef>
              <a:buNone/>
            </a:pPr>
            <a:endParaRPr lang="en-US" altLang="zh-CN" sz="1667" dirty="0">
              <a:latin typeface="Consolas" panose="020B0609020204030204" pitchFamily="49" charset="0"/>
              <a:ea typeface="宋体" panose="02010600030101010101" pitchFamily="2" charset="-122"/>
              <a:cs typeface="Consolas" panose="020B0609020204030204" pitchFamily="49" charset="0"/>
            </a:endParaRP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#include &lt;</a:t>
            </a:r>
            <a:r>
              <a:rPr lang="en-US" altLang="zh-CN" sz="1667" dirty="0" err="1">
                <a:latin typeface="Consolas" panose="020B0609020204030204" pitchFamily="49" charset="0"/>
                <a:ea typeface="宋体" panose="02010600030101010101" pitchFamily="2" charset="-122"/>
                <a:cs typeface="Consolas" panose="020B0609020204030204" pitchFamily="49" charset="0"/>
              </a:rPr>
              <a:t>stdio.h</a:t>
            </a:r>
            <a:r>
              <a:rPr lang="en-US" altLang="zh-CN" sz="1667" dirty="0">
                <a:latin typeface="Consolas" panose="020B0609020204030204" pitchFamily="49" charset="0"/>
                <a:ea typeface="宋体" panose="02010600030101010101" pitchFamily="2" charset="-122"/>
                <a:cs typeface="Consolas" panose="020B0609020204030204" pitchFamily="49" charset="0"/>
              </a:rPr>
              <a:t>&gt;</a:t>
            </a:r>
            <a:endPar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endParaRPr>
          </a:p>
          <a:p>
            <a:pPr marL="444482" indent="-444482">
              <a:lnSpc>
                <a:spcPct val="150000"/>
              </a:lnSpc>
              <a:spcBef>
                <a:spcPct val="0"/>
              </a:spcBef>
              <a:buNone/>
            </a:pP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 echo command-line arguments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int main(int </a:t>
            </a:r>
            <a:r>
              <a:rPr lang="en-US" altLang="zh-CN" sz="1667" dirty="0" err="1">
                <a:latin typeface="Consolas" panose="020B0609020204030204" pitchFamily="49" charset="0"/>
                <a:ea typeface="宋体" panose="02010600030101010101" pitchFamily="2" charset="-122"/>
                <a:cs typeface="Consolas" panose="020B0609020204030204" pitchFamily="49" charset="0"/>
              </a:rPr>
              <a:t>argc</a:t>
            </a:r>
            <a:r>
              <a:rPr lang="en-US" altLang="zh-CN" sz="1667" dirty="0">
                <a:latin typeface="Consolas" panose="020B0609020204030204" pitchFamily="49" charset="0"/>
                <a:ea typeface="宋体" panose="02010600030101010101" pitchFamily="2" charset="-122"/>
                <a:cs typeface="Consolas" panose="020B0609020204030204" pitchFamily="49" charset="0"/>
              </a:rPr>
              <a:t>, </a:t>
            </a:r>
            <a:r>
              <a:rPr lang="en-US" altLang="zh-CN" sz="1667" dirty="0">
                <a:solidFill>
                  <a:srgbClr val="C00000"/>
                </a:solidFill>
                <a:latin typeface="Consolas" panose="020B0609020204030204" pitchFamily="49" charset="0"/>
                <a:ea typeface="宋体" panose="02010600030101010101" pitchFamily="2" charset="-122"/>
                <a:cs typeface="Consolas" panose="020B0609020204030204" pitchFamily="49" charset="0"/>
              </a:rPr>
              <a:t>char *</a:t>
            </a:r>
            <a:r>
              <a:rPr lang="en-US" altLang="zh-CN" sz="1667" dirty="0" err="1">
                <a:solidFill>
                  <a:srgbClr val="C00000"/>
                </a:solidFill>
                <a:latin typeface="Consolas" panose="020B0609020204030204" pitchFamily="49" charset="0"/>
                <a:ea typeface="宋体" panose="02010600030101010101" pitchFamily="2" charset="-122"/>
                <a:cs typeface="Consolas" panose="020B0609020204030204" pitchFamily="49" charset="0"/>
              </a:rPr>
              <a:t>argv</a:t>
            </a:r>
            <a:r>
              <a:rPr lang="en-US" altLang="zh-CN" sz="1667" dirty="0">
                <a:solidFill>
                  <a:srgbClr val="C00000"/>
                </a:solidFill>
                <a:latin typeface="Consolas" panose="020B0609020204030204" pitchFamily="49" charset="0"/>
                <a:ea typeface="宋体" panose="02010600030101010101" pitchFamily="2" charset="-122"/>
                <a:cs typeface="Consolas" panose="020B0609020204030204" pitchFamily="49" charset="0"/>
              </a:rPr>
              <a:t>[]</a:t>
            </a:r>
            <a:r>
              <a:rPr lang="en-US" altLang="zh-CN" sz="1667" dirty="0">
                <a:latin typeface="Consolas" panose="020B0609020204030204" pitchFamily="49" charset="0"/>
                <a:ea typeface="宋体" panose="02010600030101010101" pitchFamily="2" charset="-122"/>
                <a:cs typeface="Consolas" panose="020B0609020204030204" pitchFamily="49" charset="0"/>
              </a:rPr>
              <a:t>)</a:t>
            </a:r>
          </a:p>
          <a:p>
            <a:pPr marL="444482" indent="-444482">
              <a:lnSpc>
                <a:spcPct val="110000"/>
              </a:lnSpc>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a:t>
            </a:r>
          </a:p>
          <a:p>
            <a:pPr marL="444482" indent="-444482">
              <a:lnSpc>
                <a:spcPct val="110000"/>
              </a:lnSpc>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int </a:t>
            </a:r>
            <a:r>
              <a:rPr lang="en-US" altLang="zh-CN" sz="1667" dirty="0" err="1">
                <a:latin typeface="Consolas" panose="020B0609020204030204" pitchFamily="49" charset="0"/>
                <a:ea typeface="宋体" panose="02010600030101010101" pitchFamily="2" charset="-122"/>
                <a:cs typeface="Consolas" panose="020B0609020204030204" pitchFamily="49" charset="0"/>
              </a:rPr>
              <a:t>i</a:t>
            </a:r>
            <a:r>
              <a:rPr lang="en-US" altLang="zh-CN" sz="1667" dirty="0">
                <a:latin typeface="Consolas" panose="020B0609020204030204" pitchFamily="49" charset="0"/>
                <a:ea typeface="宋体" panose="02010600030101010101" pitchFamily="2" charset="-122"/>
                <a:cs typeface="Consolas" panose="020B0609020204030204" pitchFamily="49" charset="0"/>
              </a:rPr>
              <a:t> ;</a:t>
            </a:r>
          </a:p>
          <a:p>
            <a:pPr marL="444482" indent="-444482">
              <a:lnSpc>
                <a:spcPct val="110000"/>
              </a:lnSpc>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for (</a:t>
            </a:r>
            <a:r>
              <a:rPr lang="en-US" altLang="zh-CN" sz="1667" dirty="0" err="1">
                <a:latin typeface="Consolas" panose="020B0609020204030204" pitchFamily="49" charset="0"/>
                <a:ea typeface="宋体" panose="02010600030101010101" pitchFamily="2" charset="-122"/>
                <a:cs typeface="Consolas" panose="020B0609020204030204" pitchFamily="49" charset="0"/>
              </a:rPr>
              <a:t>i</a:t>
            </a:r>
            <a:r>
              <a:rPr lang="en-US" altLang="zh-CN" sz="1667" dirty="0">
                <a:latin typeface="Consolas" panose="020B0609020204030204" pitchFamily="49" charset="0"/>
                <a:ea typeface="宋体" panose="02010600030101010101" pitchFamily="2" charset="-122"/>
                <a:cs typeface="Consolas" panose="020B0609020204030204" pitchFamily="49" charset="0"/>
              </a:rPr>
              <a:t> = 1; </a:t>
            </a:r>
            <a:r>
              <a:rPr lang="en-US" altLang="zh-CN" sz="1667" dirty="0" err="1">
                <a:latin typeface="Consolas" panose="020B0609020204030204" pitchFamily="49" charset="0"/>
                <a:ea typeface="宋体" panose="02010600030101010101" pitchFamily="2" charset="-122"/>
                <a:cs typeface="Consolas" panose="020B0609020204030204" pitchFamily="49" charset="0"/>
              </a:rPr>
              <a:t>i</a:t>
            </a:r>
            <a:r>
              <a:rPr lang="en-US" altLang="zh-CN" sz="1667" dirty="0">
                <a:latin typeface="Consolas" panose="020B0609020204030204" pitchFamily="49" charset="0"/>
                <a:ea typeface="宋体" panose="02010600030101010101" pitchFamily="2" charset="-122"/>
                <a:cs typeface="Consolas" panose="020B0609020204030204" pitchFamily="49" charset="0"/>
              </a:rPr>
              <a:t> &lt; </a:t>
            </a:r>
            <a:r>
              <a:rPr lang="en-US" altLang="zh-CN" sz="1667" dirty="0" err="1">
                <a:latin typeface="Consolas" panose="020B0609020204030204" pitchFamily="49" charset="0"/>
                <a:ea typeface="宋体" panose="02010600030101010101" pitchFamily="2" charset="-122"/>
                <a:cs typeface="Consolas" panose="020B0609020204030204" pitchFamily="49" charset="0"/>
              </a:rPr>
              <a:t>argc</a:t>
            </a:r>
            <a:r>
              <a:rPr lang="en-US" altLang="zh-CN" sz="1667" dirty="0">
                <a:latin typeface="Consolas" panose="020B0609020204030204" pitchFamily="49" charset="0"/>
                <a:ea typeface="宋体" panose="02010600030101010101" pitchFamily="2" charset="-122"/>
                <a:cs typeface="Consolas" panose="020B0609020204030204" pitchFamily="49" charset="0"/>
              </a:rPr>
              <a:t> ; </a:t>
            </a:r>
            <a:r>
              <a:rPr lang="en-US" altLang="zh-CN" sz="1667" dirty="0" err="1">
                <a:latin typeface="Consolas" panose="020B0609020204030204" pitchFamily="49" charset="0"/>
                <a:ea typeface="宋体" panose="02010600030101010101" pitchFamily="2" charset="-122"/>
                <a:cs typeface="Consolas" panose="020B0609020204030204" pitchFamily="49" charset="0"/>
              </a:rPr>
              <a:t>i</a:t>
            </a:r>
            <a:r>
              <a:rPr lang="en-US" altLang="zh-CN" sz="1667" dirty="0">
                <a:latin typeface="Consolas" panose="020B0609020204030204" pitchFamily="49" charset="0"/>
                <a:ea typeface="宋体" panose="02010600030101010101" pitchFamily="2" charset="-122"/>
                <a:cs typeface="Consolas" panose="020B0609020204030204" pitchFamily="49" charset="0"/>
              </a:rPr>
              <a:t>++)</a:t>
            </a:r>
          </a:p>
          <a:p>
            <a:pPr marL="444482" indent="-444482">
              <a:lnSpc>
                <a:spcPct val="110000"/>
              </a:lnSpc>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r>
              <a:rPr lang="en-US" altLang="zh-CN" sz="1667" dirty="0" err="1">
                <a:latin typeface="Consolas" panose="020B0609020204030204" pitchFamily="49" charset="0"/>
                <a:ea typeface="宋体" panose="02010600030101010101" pitchFamily="2" charset="-122"/>
                <a:cs typeface="Consolas" panose="020B0609020204030204" pitchFamily="49" charset="0"/>
              </a:rPr>
              <a:t>printf</a:t>
            </a:r>
            <a:r>
              <a:rPr lang="en-US" altLang="zh-CN" sz="1667" dirty="0">
                <a:latin typeface="Consolas" panose="020B0609020204030204" pitchFamily="49" charset="0"/>
                <a:ea typeface="宋体" panose="02010600030101010101" pitchFamily="2" charset="-122"/>
                <a:cs typeface="Consolas" panose="020B0609020204030204" pitchFamily="49" charset="0"/>
              </a:rPr>
              <a:t>(“%</a:t>
            </a:r>
            <a:r>
              <a:rPr lang="en-US" altLang="zh-CN" sz="1667" dirty="0" err="1">
                <a:latin typeface="Consolas" panose="020B0609020204030204" pitchFamily="49" charset="0"/>
                <a:ea typeface="宋体" panose="02010600030101010101" pitchFamily="2" charset="-122"/>
                <a:cs typeface="Consolas" panose="020B0609020204030204" pitchFamily="49" charset="0"/>
              </a:rPr>
              <a:t>s%s</a:t>
            </a:r>
            <a:r>
              <a:rPr lang="en-US" altLang="zh-CN" sz="1667" dirty="0">
                <a:latin typeface="Consolas" panose="020B0609020204030204" pitchFamily="49" charset="0"/>
                <a:ea typeface="宋体" panose="02010600030101010101" pitchFamily="2" charset="-122"/>
                <a:cs typeface="Consolas" panose="020B0609020204030204" pitchFamily="49" charset="0"/>
              </a:rPr>
              <a:t>”, </a:t>
            </a:r>
            <a:r>
              <a:rPr lang="en-US" altLang="zh-CN" sz="1667" dirty="0" err="1">
                <a:latin typeface="Consolas" panose="020B0609020204030204" pitchFamily="49" charset="0"/>
                <a:ea typeface="宋体" panose="02010600030101010101" pitchFamily="2" charset="-122"/>
                <a:cs typeface="Consolas" panose="020B0609020204030204" pitchFamily="49" charset="0"/>
              </a:rPr>
              <a:t>argv</a:t>
            </a:r>
            <a:r>
              <a:rPr lang="en-US" altLang="zh-CN" sz="1667" dirty="0">
                <a:latin typeface="Consolas" panose="020B0609020204030204" pitchFamily="49" charset="0"/>
                <a:ea typeface="宋体" panose="02010600030101010101" pitchFamily="2" charset="-122"/>
                <a:cs typeface="Consolas" panose="020B0609020204030204" pitchFamily="49" charset="0"/>
              </a:rPr>
              <a:t>[</a:t>
            </a:r>
            <a:r>
              <a:rPr lang="en-US" altLang="zh-CN" sz="1667" dirty="0" err="1">
                <a:latin typeface="Consolas" panose="020B0609020204030204" pitchFamily="49" charset="0"/>
                <a:ea typeface="宋体" panose="02010600030101010101" pitchFamily="2" charset="-122"/>
                <a:cs typeface="Consolas" panose="020B0609020204030204" pitchFamily="49" charset="0"/>
              </a:rPr>
              <a:t>i</a:t>
            </a:r>
            <a:r>
              <a:rPr lang="en-US" altLang="zh-CN" sz="1667" dirty="0">
                <a:latin typeface="Consolas" panose="020B0609020204030204" pitchFamily="49" charset="0"/>
                <a:ea typeface="宋体" panose="02010600030101010101" pitchFamily="2" charset="-122"/>
                <a:cs typeface="Consolas" panose="020B0609020204030204" pitchFamily="49" charset="0"/>
              </a:rPr>
              <a:t>], </a:t>
            </a:r>
            <a:br>
              <a:rPr lang="en-US" altLang="zh-CN" sz="1667" dirty="0">
                <a:latin typeface="Consolas" panose="020B0609020204030204" pitchFamily="49" charset="0"/>
                <a:ea typeface="宋体" panose="02010600030101010101" pitchFamily="2" charset="-122"/>
                <a:cs typeface="Consolas" panose="020B0609020204030204" pitchFamily="49" charset="0"/>
              </a:rPr>
            </a:br>
            <a:r>
              <a:rPr lang="en-US" altLang="zh-CN" sz="1667" dirty="0">
                <a:latin typeface="Consolas" panose="020B0609020204030204" pitchFamily="49" charset="0"/>
                <a:ea typeface="宋体" panose="02010600030101010101" pitchFamily="2" charset="-122"/>
                <a:cs typeface="Consolas" panose="020B0609020204030204" pitchFamily="49" charset="0"/>
              </a:rPr>
              <a:t>		  (</a:t>
            </a:r>
            <a:r>
              <a:rPr lang="en-US" altLang="zh-CN" sz="1667" dirty="0" err="1">
                <a:latin typeface="Consolas" panose="020B0609020204030204" pitchFamily="49" charset="0"/>
                <a:ea typeface="宋体" panose="02010600030101010101" pitchFamily="2" charset="-122"/>
                <a:cs typeface="Consolas" panose="020B0609020204030204" pitchFamily="49" charset="0"/>
              </a:rPr>
              <a:t>i</a:t>
            </a:r>
            <a:r>
              <a:rPr lang="en-US" altLang="zh-CN" sz="1667" dirty="0">
                <a:latin typeface="Consolas" panose="020B0609020204030204" pitchFamily="49" charset="0"/>
                <a:ea typeface="宋体" panose="02010600030101010101" pitchFamily="2" charset="-122"/>
                <a:cs typeface="Consolas" panose="020B0609020204030204" pitchFamily="49" charset="0"/>
              </a:rPr>
              <a:t> &lt; argc-1) ? “ ” : “”);</a:t>
            </a:r>
          </a:p>
          <a:p>
            <a:pPr marL="444482" indent="-444482">
              <a:lnSpc>
                <a:spcPct val="110000"/>
              </a:lnSpc>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r>
              <a:rPr lang="en-US" altLang="zh-CN" sz="1667" dirty="0" err="1">
                <a:latin typeface="Consolas" panose="020B0609020204030204" pitchFamily="49" charset="0"/>
                <a:ea typeface="宋体" panose="02010600030101010101" pitchFamily="2" charset="-122"/>
                <a:cs typeface="Consolas" panose="020B0609020204030204" pitchFamily="49" charset="0"/>
              </a:rPr>
              <a:t>printf</a:t>
            </a:r>
            <a:r>
              <a:rPr lang="en-US" altLang="zh-CN" sz="1667" dirty="0">
                <a:latin typeface="Consolas" panose="020B0609020204030204" pitchFamily="49" charset="0"/>
                <a:ea typeface="宋体" panose="02010600030101010101" pitchFamily="2" charset="-122"/>
                <a:cs typeface="Consolas" panose="020B0609020204030204" pitchFamily="49" charset="0"/>
              </a:rPr>
              <a:t>(“\n”) ;</a:t>
            </a:r>
          </a:p>
          <a:p>
            <a:pPr marL="444482" indent="-444482">
              <a:lnSpc>
                <a:spcPct val="110000"/>
              </a:lnSpc>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return 0;</a:t>
            </a:r>
          </a:p>
          <a:p>
            <a:pPr marL="444482" indent="-444482">
              <a:lnSpc>
                <a:spcPct val="110000"/>
              </a:lnSpc>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a:t>
            </a:r>
          </a:p>
        </p:txBody>
      </p:sp>
      <p:graphicFrame>
        <p:nvGraphicFramePr>
          <p:cNvPr id="5" name="表格 4">
            <a:extLst>
              <a:ext uri="{FF2B5EF4-FFF2-40B4-BE49-F238E27FC236}">
                <a16:creationId xmlns:a16="http://schemas.microsoft.com/office/drawing/2014/main" id="{42988D7E-D607-4D30-88F8-910C62167D48}"/>
              </a:ext>
            </a:extLst>
          </p:cNvPr>
          <p:cNvGraphicFramePr>
            <a:graphicFrameLocks noGrp="1"/>
          </p:cNvGraphicFramePr>
          <p:nvPr/>
        </p:nvGraphicFramePr>
        <p:xfrm>
          <a:off x="5938573" y="1498865"/>
          <a:ext cx="698500" cy="1295135"/>
        </p:xfrm>
        <a:graphic>
          <a:graphicData uri="http://schemas.openxmlformats.org/drawingml/2006/table">
            <a:tbl>
              <a:tblPr/>
              <a:tblGrid>
                <a:gridCol w="698500">
                  <a:extLst>
                    <a:ext uri="{9D8B030D-6E8A-4147-A177-3AD203B41FA5}">
                      <a16:colId xmlns:a16="http://schemas.microsoft.com/office/drawing/2014/main" val="20000"/>
                    </a:ext>
                  </a:extLst>
                </a:gridCol>
              </a:tblGrid>
              <a:tr h="38094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rgbClr val="FFFFFF"/>
                        </a:solidFill>
                        <a:effectLst/>
                        <a:latin typeface="Consolas" panose="020B0609020204030204" pitchFamily="49" charset="0"/>
                        <a:ea typeface="宋体" pitchFamily="2" charset="-122"/>
                        <a:cs typeface="Consolas" panose="020B0609020204030204" pitchFamily="49" charset="0"/>
                      </a:endParaRPr>
                    </a:p>
                  </a:txBody>
                  <a:tcPr marL="76200" marR="76200" marT="38043" marB="380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0"/>
                  </a:ext>
                </a:extLst>
              </a:tr>
              <a:tr h="30473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500" b="0" i="0" u="none" strike="noStrike" cap="none" normalizeH="0" baseline="0" dirty="0">
                        <a:ln>
                          <a:noFill/>
                        </a:ln>
                        <a:solidFill>
                          <a:srgbClr val="000000"/>
                        </a:solidFill>
                        <a:effectLst/>
                        <a:latin typeface="Consolas" panose="020B0609020204030204" pitchFamily="49" charset="0"/>
                        <a:ea typeface="宋体" pitchFamily="2" charset="-122"/>
                        <a:cs typeface="Consolas" panose="020B0609020204030204" pitchFamily="49" charset="0"/>
                      </a:endParaRPr>
                    </a:p>
                  </a:txBody>
                  <a:tcPr marL="76200" marR="76200" marT="38043" marB="380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1"/>
                  </a:ext>
                </a:extLst>
              </a:tr>
              <a:tr h="30473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500" b="0" i="0" u="none" strike="noStrike" cap="none" normalizeH="0" baseline="0" dirty="0">
                        <a:ln>
                          <a:noFill/>
                        </a:ln>
                        <a:solidFill>
                          <a:srgbClr val="000000"/>
                        </a:solidFill>
                        <a:effectLst/>
                        <a:latin typeface="Consolas" panose="020B0609020204030204" pitchFamily="49" charset="0"/>
                        <a:ea typeface="宋体" pitchFamily="2" charset="-122"/>
                        <a:cs typeface="Consolas" panose="020B0609020204030204" pitchFamily="49" charset="0"/>
                      </a:endParaRPr>
                    </a:p>
                  </a:txBody>
                  <a:tcPr marL="76200" marR="76200" marT="38043" marB="380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3047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1" i="0" u="none" strike="noStrike" cap="none" normalizeH="0" baseline="0" dirty="0">
                          <a:ln>
                            <a:noFill/>
                          </a:ln>
                          <a:solidFill>
                            <a:srgbClr val="000000"/>
                          </a:solidFill>
                          <a:effectLst/>
                          <a:latin typeface="Consolas" panose="020B0609020204030204" pitchFamily="49" charset="0"/>
                          <a:ea typeface="宋体" pitchFamily="2" charset="-122"/>
                          <a:cs typeface="Consolas" panose="020B0609020204030204" pitchFamily="49" charset="0"/>
                        </a:rPr>
                        <a:t>NULL</a:t>
                      </a:r>
                      <a:endParaRPr kumimoji="0" lang="zh-CN" altLang="en-US" sz="1500" b="1" i="0" u="none" strike="noStrike" cap="none" normalizeH="0" baseline="0" dirty="0">
                        <a:ln>
                          <a:noFill/>
                        </a:ln>
                        <a:solidFill>
                          <a:srgbClr val="000000"/>
                        </a:solidFill>
                        <a:effectLst/>
                        <a:latin typeface="Consolas" panose="020B0609020204030204" pitchFamily="49" charset="0"/>
                        <a:ea typeface="宋体" pitchFamily="2" charset="-122"/>
                        <a:cs typeface="Consolas" panose="020B0609020204030204" pitchFamily="49" charset="0"/>
                      </a:endParaRPr>
                    </a:p>
                  </a:txBody>
                  <a:tcPr marL="76200" marR="76200" marT="38043" marB="380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
        <p:nvSpPr>
          <p:cNvPr id="79885" name="TextBox 5">
            <a:extLst>
              <a:ext uri="{FF2B5EF4-FFF2-40B4-BE49-F238E27FC236}">
                <a16:creationId xmlns:a16="http://schemas.microsoft.com/office/drawing/2014/main" id="{36EC4F9F-C858-488F-AEE8-7E80817D3C3C}"/>
              </a:ext>
            </a:extLst>
          </p:cNvPr>
          <p:cNvSpPr txBox="1">
            <a:spLocks noChangeArrowheads="1"/>
          </p:cNvSpPr>
          <p:nvPr/>
        </p:nvSpPr>
        <p:spPr bwMode="auto">
          <a:xfrm>
            <a:off x="6954573" y="1531938"/>
            <a:ext cx="825500" cy="29745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333">
                <a:latin typeface="Consolas" panose="020B0609020204030204" pitchFamily="49" charset="0"/>
                <a:cs typeface="Consolas" panose="020B0609020204030204" pitchFamily="49" charset="0"/>
              </a:rPr>
              <a:t>echo\0</a:t>
            </a:r>
            <a:endParaRPr lang="zh-CN" altLang="en-US" sz="1333">
              <a:latin typeface="Consolas" panose="020B0609020204030204" pitchFamily="49" charset="0"/>
              <a:cs typeface="Consolas" panose="020B0609020204030204" pitchFamily="49" charset="0"/>
            </a:endParaRPr>
          </a:p>
        </p:txBody>
      </p:sp>
      <p:sp>
        <p:nvSpPr>
          <p:cNvPr id="79886" name="TextBox 6">
            <a:extLst>
              <a:ext uri="{FF2B5EF4-FFF2-40B4-BE49-F238E27FC236}">
                <a16:creationId xmlns:a16="http://schemas.microsoft.com/office/drawing/2014/main" id="{6313CE02-F4E6-48CC-86C6-85AFE164A547}"/>
              </a:ext>
            </a:extLst>
          </p:cNvPr>
          <p:cNvSpPr txBox="1">
            <a:spLocks noChangeArrowheads="1"/>
          </p:cNvSpPr>
          <p:nvPr/>
        </p:nvSpPr>
        <p:spPr bwMode="auto">
          <a:xfrm>
            <a:off x="6954574" y="1877219"/>
            <a:ext cx="941283" cy="29745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333">
                <a:solidFill>
                  <a:srgbClr val="000000"/>
                </a:solidFill>
                <a:latin typeface="Consolas" panose="020B0609020204030204" pitchFamily="49" charset="0"/>
                <a:cs typeface="Consolas" panose="020B0609020204030204" pitchFamily="49" charset="0"/>
              </a:rPr>
              <a:t>Hello,\0</a:t>
            </a:r>
            <a:endParaRPr lang="zh-CN" altLang="en-US" sz="1333">
              <a:solidFill>
                <a:srgbClr val="000000"/>
              </a:solidFill>
              <a:latin typeface="Consolas" panose="020B0609020204030204" pitchFamily="49" charset="0"/>
              <a:cs typeface="Consolas" panose="020B0609020204030204" pitchFamily="49" charset="0"/>
            </a:endParaRPr>
          </a:p>
        </p:txBody>
      </p:sp>
      <p:sp>
        <p:nvSpPr>
          <p:cNvPr id="79887" name="TextBox 7">
            <a:extLst>
              <a:ext uri="{FF2B5EF4-FFF2-40B4-BE49-F238E27FC236}">
                <a16:creationId xmlns:a16="http://schemas.microsoft.com/office/drawing/2014/main" id="{A0F1BCB3-A362-4AF4-9C67-D909B2C9D9E0}"/>
              </a:ext>
            </a:extLst>
          </p:cNvPr>
          <p:cNvSpPr txBox="1">
            <a:spLocks noChangeArrowheads="1"/>
          </p:cNvSpPr>
          <p:nvPr/>
        </p:nvSpPr>
        <p:spPr bwMode="auto">
          <a:xfrm>
            <a:off x="6954574" y="2222500"/>
            <a:ext cx="846707" cy="29745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333">
                <a:latin typeface="Consolas" panose="020B0609020204030204" pitchFamily="49" charset="0"/>
                <a:cs typeface="Consolas" panose="020B0609020204030204" pitchFamily="49" charset="0"/>
              </a:rPr>
              <a:t>World\0</a:t>
            </a:r>
            <a:endParaRPr lang="zh-CN" altLang="en-US" sz="1333">
              <a:latin typeface="Consolas" panose="020B0609020204030204" pitchFamily="49" charset="0"/>
              <a:cs typeface="Consolas" panose="020B0609020204030204" pitchFamily="49" charset="0"/>
            </a:endParaRPr>
          </a:p>
        </p:txBody>
      </p:sp>
      <p:cxnSp>
        <p:nvCxnSpPr>
          <p:cNvPr id="79888" name="直接箭头连接符 18">
            <a:extLst>
              <a:ext uri="{FF2B5EF4-FFF2-40B4-BE49-F238E27FC236}">
                <a16:creationId xmlns:a16="http://schemas.microsoft.com/office/drawing/2014/main" id="{1EBEFD09-C553-4411-B569-AE2925F2EAF6}"/>
              </a:ext>
            </a:extLst>
          </p:cNvPr>
          <p:cNvCxnSpPr>
            <a:cxnSpLocks noChangeShapeType="1"/>
          </p:cNvCxnSpPr>
          <p:nvPr/>
        </p:nvCxnSpPr>
        <p:spPr bwMode="auto">
          <a:xfrm flipV="1">
            <a:off x="6264011" y="1703917"/>
            <a:ext cx="690563" cy="0"/>
          </a:xfrm>
          <a:prstGeom prst="straightConnector1">
            <a:avLst/>
          </a:prstGeom>
          <a:noFill/>
          <a:ln w="9525">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79889" name="直接箭头连接符 19">
            <a:extLst>
              <a:ext uri="{FF2B5EF4-FFF2-40B4-BE49-F238E27FC236}">
                <a16:creationId xmlns:a16="http://schemas.microsoft.com/office/drawing/2014/main" id="{9876950B-619F-4D93-ACA8-1CD6727847C1}"/>
              </a:ext>
            </a:extLst>
          </p:cNvPr>
          <p:cNvCxnSpPr>
            <a:cxnSpLocks noChangeShapeType="1"/>
          </p:cNvCxnSpPr>
          <p:nvPr/>
        </p:nvCxnSpPr>
        <p:spPr bwMode="auto">
          <a:xfrm flipV="1">
            <a:off x="6264011" y="2014803"/>
            <a:ext cx="690563" cy="0"/>
          </a:xfrm>
          <a:prstGeom prst="straightConnector1">
            <a:avLst/>
          </a:prstGeom>
          <a:noFill/>
          <a:ln w="9525">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79890" name="直接箭头连接符 20">
            <a:extLst>
              <a:ext uri="{FF2B5EF4-FFF2-40B4-BE49-F238E27FC236}">
                <a16:creationId xmlns:a16="http://schemas.microsoft.com/office/drawing/2014/main" id="{136ABE61-5C76-434E-A7E9-14F9E332E50A}"/>
              </a:ext>
            </a:extLst>
          </p:cNvPr>
          <p:cNvCxnSpPr>
            <a:cxnSpLocks noChangeShapeType="1"/>
          </p:cNvCxnSpPr>
          <p:nvPr/>
        </p:nvCxnSpPr>
        <p:spPr bwMode="auto">
          <a:xfrm flipV="1">
            <a:off x="6264011" y="2327011"/>
            <a:ext cx="690563" cy="0"/>
          </a:xfrm>
          <a:prstGeom prst="straightConnector1">
            <a:avLst/>
          </a:prstGeom>
          <a:noFill/>
          <a:ln w="9525">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79891" name="直接箭头连接符 33">
            <a:extLst>
              <a:ext uri="{FF2B5EF4-FFF2-40B4-BE49-F238E27FC236}">
                <a16:creationId xmlns:a16="http://schemas.microsoft.com/office/drawing/2014/main" id="{C96D3B03-369C-4E8F-937A-420B5BC4DE8A}"/>
              </a:ext>
            </a:extLst>
          </p:cNvPr>
          <p:cNvCxnSpPr>
            <a:cxnSpLocks noChangeShapeType="1"/>
          </p:cNvCxnSpPr>
          <p:nvPr/>
        </p:nvCxnSpPr>
        <p:spPr bwMode="auto">
          <a:xfrm>
            <a:off x="5494073" y="1521354"/>
            <a:ext cx="444500"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9892" name="TextBox 34">
            <a:extLst>
              <a:ext uri="{FF2B5EF4-FFF2-40B4-BE49-F238E27FC236}">
                <a16:creationId xmlns:a16="http://schemas.microsoft.com/office/drawing/2014/main" id="{6AE47834-BAE9-4F7D-9180-FD18E93B6D96}"/>
              </a:ext>
            </a:extLst>
          </p:cNvPr>
          <p:cNvSpPr txBox="1">
            <a:spLocks noChangeArrowheads="1"/>
          </p:cNvSpPr>
          <p:nvPr/>
        </p:nvSpPr>
        <p:spPr bwMode="auto">
          <a:xfrm>
            <a:off x="4762501" y="1381125"/>
            <a:ext cx="769763"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argv:</a:t>
            </a:r>
            <a:endParaRPr lang="zh-CN" altLang="en-US" sz="1667">
              <a:solidFill>
                <a:srgbClr val="000000"/>
              </a:solidFill>
              <a:latin typeface="Consolas" panose="020B0609020204030204" pitchFamily="49" charset="0"/>
              <a:cs typeface="Consolas" panose="020B0609020204030204" pitchFamily="49" charset="0"/>
            </a:endParaRPr>
          </a:p>
        </p:txBody>
      </p:sp>
      <p:cxnSp>
        <p:nvCxnSpPr>
          <p:cNvPr id="79893" name="直接箭头连接符 20">
            <a:extLst>
              <a:ext uri="{FF2B5EF4-FFF2-40B4-BE49-F238E27FC236}">
                <a16:creationId xmlns:a16="http://schemas.microsoft.com/office/drawing/2014/main" id="{2F481BC6-1D87-4A5A-8F57-3DBACF87A721}"/>
              </a:ext>
            </a:extLst>
          </p:cNvPr>
          <p:cNvCxnSpPr>
            <a:cxnSpLocks noChangeShapeType="1"/>
          </p:cNvCxnSpPr>
          <p:nvPr/>
        </p:nvCxnSpPr>
        <p:spPr bwMode="auto">
          <a:xfrm flipV="1">
            <a:off x="5946511" y="1841500"/>
            <a:ext cx="690563"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9894" name="直接箭头连接符 20">
            <a:extLst>
              <a:ext uri="{FF2B5EF4-FFF2-40B4-BE49-F238E27FC236}">
                <a16:creationId xmlns:a16="http://schemas.microsoft.com/office/drawing/2014/main" id="{398B5E21-3018-4EA0-8F23-08D9E110BD9A}"/>
              </a:ext>
            </a:extLst>
          </p:cNvPr>
          <p:cNvCxnSpPr>
            <a:cxnSpLocks noChangeShapeType="1"/>
          </p:cNvCxnSpPr>
          <p:nvPr/>
        </p:nvCxnSpPr>
        <p:spPr bwMode="auto">
          <a:xfrm flipV="1">
            <a:off x="5946511" y="2159000"/>
            <a:ext cx="690563"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9895" name="直接箭头连接符 20">
            <a:extLst>
              <a:ext uri="{FF2B5EF4-FFF2-40B4-BE49-F238E27FC236}">
                <a16:creationId xmlns:a16="http://schemas.microsoft.com/office/drawing/2014/main" id="{1AF5573D-27DB-4EB0-A509-D0504DE63B63}"/>
              </a:ext>
            </a:extLst>
          </p:cNvPr>
          <p:cNvCxnSpPr>
            <a:cxnSpLocks noChangeShapeType="1"/>
          </p:cNvCxnSpPr>
          <p:nvPr/>
        </p:nvCxnSpPr>
        <p:spPr bwMode="auto">
          <a:xfrm flipV="1">
            <a:off x="5938574" y="2476500"/>
            <a:ext cx="690563"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659802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a:extLst>
              <a:ext uri="{FF2B5EF4-FFF2-40B4-BE49-F238E27FC236}">
                <a16:creationId xmlns:a16="http://schemas.microsoft.com/office/drawing/2014/main" id="{CF27FA2C-4A4E-4FA7-898C-AEA0DA7C36C8}"/>
              </a:ext>
            </a:extLst>
          </p:cNvPr>
          <p:cNvSpPr>
            <a:spLocks noGrp="1" noChangeArrowheads="1"/>
          </p:cNvSpPr>
          <p:nvPr>
            <p:ph type="title"/>
          </p:nvPr>
        </p:nvSpPr>
        <p:spPr/>
        <p:txBody>
          <a:bodyPr/>
          <a:lstStyle/>
          <a:p>
            <a:r>
              <a:rPr lang="zh-CN" altLang="en-US" dirty="0"/>
              <a:t>函数指针</a:t>
            </a:r>
            <a:endParaRPr lang="en-US" altLang="zh-CN" dirty="0">
              <a:ea typeface="宋体" panose="02010600030101010101" pitchFamily="2" charset="-122"/>
            </a:endParaRPr>
          </a:p>
        </p:txBody>
      </p:sp>
      <p:sp>
        <p:nvSpPr>
          <p:cNvPr id="81924" name="Rectangle 3">
            <a:extLst>
              <a:ext uri="{FF2B5EF4-FFF2-40B4-BE49-F238E27FC236}">
                <a16:creationId xmlns:a16="http://schemas.microsoft.com/office/drawing/2014/main" id="{60062D6E-C493-4114-B538-735D4C2206E2}"/>
              </a:ext>
            </a:extLst>
          </p:cNvPr>
          <p:cNvSpPr>
            <a:spLocks noGrp="1" noChangeArrowheads="1"/>
          </p:cNvSpPr>
          <p:nvPr>
            <p:ph idx="1"/>
          </p:nvPr>
        </p:nvSpPr>
        <p:spPr/>
        <p:txBody>
          <a:bodyPr>
            <a:normAutofit fontScale="85000" lnSpcReduction="20000"/>
          </a:bodyPr>
          <a:lstStyle/>
          <a:p>
            <a:r>
              <a:rPr lang="zh-CN" altLang="en-US" dirty="0"/>
              <a:t>指针可以指向函数</a:t>
            </a:r>
            <a:endParaRPr lang="en-US" altLang="zh-CN" dirty="0"/>
          </a:p>
          <a:p>
            <a:r>
              <a:rPr lang="zh-CN" altLang="en-US" dirty="0"/>
              <a:t>示例：函数指针 </a:t>
            </a:r>
            <a:r>
              <a:rPr lang="en-US" altLang="zh-CN" dirty="0">
                <a:ea typeface="宋体" panose="02010600030101010101" pitchFamily="2" charset="-122"/>
              </a:rPr>
              <a:t>void (*f)(int *)</a:t>
            </a:r>
          </a:p>
          <a:p>
            <a:pPr lvl="1"/>
            <a:r>
              <a:rPr lang="en-US" altLang="zh-CN" dirty="0">
                <a:ea typeface="宋体" panose="02010600030101010101" pitchFamily="2" charset="-122"/>
              </a:rPr>
              <a:t>f </a:t>
            </a:r>
            <a:r>
              <a:rPr lang="zh-CN" altLang="en-US" dirty="0"/>
              <a:t>是该函数指针的标识符</a:t>
            </a:r>
            <a:endParaRPr lang="en-US" altLang="zh-CN" dirty="0"/>
          </a:p>
          <a:p>
            <a:pPr lvl="1"/>
            <a:r>
              <a:rPr lang="en-US" altLang="zh-CN" dirty="0">
                <a:ea typeface="宋体" panose="02010600030101010101" pitchFamily="2" charset="-122"/>
              </a:rPr>
              <a:t>f </a:t>
            </a:r>
            <a:r>
              <a:rPr lang="zh-CN" altLang="en-US" dirty="0"/>
              <a:t>指向的函数以</a:t>
            </a:r>
            <a:r>
              <a:rPr lang="en-US" altLang="zh-CN" dirty="0">
                <a:ea typeface="宋体" panose="02010600030101010101" pitchFamily="2" charset="-122"/>
              </a:rPr>
              <a:t>int *</a:t>
            </a:r>
            <a:r>
              <a:rPr lang="zh-CN" altLang="en-US" dirty="0"/>
              <a:t>为参数</a:t>
            </a:r>
            <a:endParaRPr lang="en-US" altLang="zh-CN" dirty="0"/>
          </a:p>
          <a:p>
            <a:pPr lvl="1"/>
            <a:r>
              <a:rPr lang="en-US" altLang="zh-CN" dirty="0">
                <a:ea typeface="宋体" panose="02010600030101010101" pitchFamily="2" charset="-122"/>
              </a:rPr>
              <a:t>f </a:t>
            </a:r>
            <a:r>
              <a:rPr lang="zh-CN" altLang="en-US" dirty="0"/>
              <a:t>指向的函数返回类型为</a:t>
            </a:r>
            <a:r>
              <a:rPr lang="en-US" altLang="zh-CN" dirty="0"/>
              <a:t>void</a:t>
            </a:r>
          </a:p>
          <a:p>
            <a:r>
              <a:rPr lang="zh-CN" altLang="en-US" dirty="0"/>
              <a:t>函数指针可以被赋值为函数标识符</a:t>
            </a:r>
            <a:endParaRPr lang="en-US" altLang="zh-CN" dirty="0">
              <a:ea typeface="宋体" panose="02010600030101010101" pitchFamily="2" charset="-122"/>
            </a:endParaRPr>
          </a:p>
          <a:p>
            <a:pPr lvl="1"/>
            <a:r>
              <a:rPr lang="en-US" altLang="zh-CN" dirty="0">
                <a:ea typeface="宋体" panose="02010600030101010101" pitchFamily="2" charset="-122"/>
              </a:rPr>
              <a:t>f = </a:t>
            </a:r>
            <a:r>
              <a:rPr lang="en-US" altLang="zh-CN" dirty="0" err="1">
                <a:ea typeface="宋体" panose="02010600030101010101" pitchFamily="2" charset="-122"/>
              </a:rPr>
              <a:t>func</a:t>
            </a:r>
            <a:endParaRPr lang="en-US" altLang="zh-CN" dirty="0">
              <a:ea typeface="宋体" panose="02010600030101010101" pitchFamily="2" charset="-122"/>
            </a:endParaRPr>
          </a:p>
          <a:p>
            <a:r>
              <a:rPr lang="zh-CN" altLang="en-US" dirty="0"/>
              <a:t>注意与返回类型为指针的函数区分</a:t>
            </a:r>
            <a:endParaRPr lang="en-US" altLang="zh-CN" dirty="0">
              <a:ea typeface="宋体" panose="02010600030101010101" pitchFamily="2" charset="-122"/>
            </a:endParaRPr>
          </a:p>
          <a:p>
            <a:pPr lvl="1"/>
            <a:r>
              <a:rPr lang="en-US" altLang="zh-CN" dirty="0">
                <a:ea typeface="宋体" panose="02010600030101010101" pitchFamily="2" charset="-122"/>
              </a:rPr>
              <a:t>void   *f(int *)</a:t>
            </a:r>
            <a:r>
              <a:rPr lang="zh-CN" altLang="en-US" dirty="0"/>
              <a:t>声明的是返回类型为</a:t>
            </a:r>
            <a:r>
              <a:rPr lang="en-US" altLang="zh-CN" dirty="0"/>
              <a:t>void </a:t>
            </a:r>
            <a:r>
              <a:rPr lang="zh-CN" altLang="en-US" dirty="0"/>
              <a:t>*的函数</a:t>
            </a:r>
            <a:endParaRPr lang="en-US" altLang="zh-CN" dirty="0">
              <a:ea typeface="宋体" panose="02010600030101010101" pitchFamily="2" charset="-122"/>
            </a:endParaRPr>
          </a:p>
        </p:txBody>
      </p:sp>
      <p:sp>
        <p:nvSpPr>
          <p:cNvPr id="81922" name="灯片编号占位符 5">
            <a:extLst>
              <a:ext uri="{FF2B5EF4-FFF2-40B4-BE49-F238E27FC236}">
                <a16:creationId xmlns:a16="http://schemas.microsoft.com/office/drawing/2014/main" id="{631EDD3F-C644-4F6A-99BA-AE66C14DFA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75261708-50BB-4F1F-9222-AD2CF1A4A851}" type="slidenum">
              <a:rPr lang="zh-CN" altLang="en-US" sz="1167">
                <a:latin typeface="Times New Roman" panose="02020603050405020304" pitchFamily="18" charset="0"/>
              </a:rPr>
              <a:pPr>
                <a:spcBef>
                  <a:spcPct val="0"/>
                </a:spcBef>
                <a:buFontTx/>
                <a:buNone/>
              </a:pPr>
              <a:t>15</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1754495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3C9F328F-4985-47E1-8AD7-B3D04E84E275}"/>
              </a:ext>
            </a:extLst>
          </p:cNvPr>
          <p:cNvSpPr>
            <a:spLocks noGrp="1" noChangeArrowheads="1"/>
          </p:cNvSpPr>
          <p:nvPr>
            <p:ph type="title"/>
          </p:nvPr>
        </p:nvSpPr>
        <p:spPr/>
        <p:txBody>
          <a:bodyPr/>
          <a:lstStyle/>
          <a:p>
            <a:r>
              <a:rPr lang="zh-CN" altLang="en-US" dirty="0"/>
              <a:t>函数指针</a:t>
            </a:r>
            <a:endParaRPr lang="en-US" altLang="zh-CN" dirty="0">
              <a:ea typeface="方正舒体" panose="02010601030101010101" pitchFamily="2" charset="-122"/>
            </a:endParaRPr>
          </a:p>
        </p:txBody>
      </p:sp>
      <p:sp>
        <p:nvSpPr>
          <p:cNvPr id="83971" name="Rectangle 3">
            <a:extLst>
              <a:ext uri="{FF2B5EF4-FFF2-40B4-BE49-F238E27FC236}">
                <a16:creationId xmlns:a16="http://schemas.microsoft.com/office/drawing/2014/main" id="{6DB57C1B-60B6-4E03-8E91-F78C506716B5}"/>
              </a:ext>
            </a:extLst>
          </p:cNvPr>
          <p:cNvSpPr>
            <a:spLocks noGrp="1" noChangeArrowheads="1"/>
          </p:cNvSpPr>
          <p:nvPr>
            <p:ph type="body" idx="1"/>
          </p:nvPr>
        </p:nvSpPr>
        <p:spPr>
          <a:xfrm>
            <a:off x="1143000" y="1206500"/>
            <a:ext cx="6921500" cy="4000500"/>
          </a:xfrm>
        </p:spPr>
        <p:txBody>
          <a:bodyPr/>
          <a:lstStyle/>
          <a:p>
            <a:pPr marL="444482" indent="-444482">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#include &lt;stdlib.h&gt;</a:t>
            </a:r>
          </a:p>
          <a:p>
            <a:pPr marL="444482" indent="-444482">
              <a:spcBef>
                <a:spcPct val="0"/>
              </a:spcBef>
              <a:buNone/>
            </a:pPr>
            <a:endParaRPr lang="en-US" altLang="zh-CN" sz="1667">
              <a:latin typeface="Consolas" panose="020B0609020204030204" pitchFamily="49" charset="0"/>
              <a:ea typeface="宋体" panose="02010600030101010101" pitchFamily="2" charset="-122"/>
              <a:cs typeface="Consolas" panose="020B0609020204030204" pitchFamily="49" charset="0"/>
            </a:endParaRPr>
          </a:p>
          <a:p>
            <a:pPr marL="444482" indent="-444482">
              <a:lnSpc>
                <a:spcPct val="110000"/>
              </a:lnSpc>
              <a:spcBef>
                <a:spcPct val="0"/>
              </a:spcBef>
              <a:buNone/>
            </a:pPr>
            <a:r>
              <a:rPr lang="en-US" altLang="zh-CN" sz="1667">
                <a:solidFill>
                  <a:srgbClr val="006FC0"/>
                </a:solidFill>
                <a:latin typeface="Consolas" panose="020B0609020204030204" pitchFamily="49" charset="0"/>
                <a:ea typeface="宋体" panose="02010600030101010101" pitchFamily="2" charset="-122"/>
                <a:cs typeface="Consolas" panose="020B0609020204030204" pitchFamily="49" charset="0"/>
              </a:rPr>
              <a:t>/* numcmp: compare s1 and s2 numerically */</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int numcmp(char *s1, char *s2)</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	double v1, v2;</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	</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	v1 = atof(s1);</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	v2 = atof(s2);</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	if (v1 &lt; v2) return -1;</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	else if ( v1 &gt; v2 ) return 1;</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	else return 0;</a:t>
            </a:r>
          </a:p>
          <a:p>
            <a:pPr marL="444482" indent="-444482">
              <a:lnSpc>
                <a:spcPct val="110000"/>
              </a:lnSpc>
              <a:spcBef>
                <a:spcPct val="0"/>
              </a:spcBef>
              <a:buNone/>
            </a:pPr>
            <a:r>
              <a:rPr lang="en-US" altLang="zh-CN" sz="1667">
                <a:latin typeface="Consolas" panose="020B0609020204030204" pitchFamily="49" charset="0"/>
                <a:ea typeface="宋体" panose="02010600030101010101" pitchFamily="2" charset="-122"/>
                <a:cs typeface="Consolas" panose="020B0609020204030204" pitchFamily="49" charset="0"/>
              </a:rPr>
              <a:t>}</a:t>
            </a:r>
          </a:p>
        </p:txBody>
      </p:sp>
    </p:spTree>
    <p:extLst>
      <p:ext uri="{BB962C8B-B14F-4D97-AF65-F5344CB8AC3E}">
        <p14:creationId xmlns:p14="http://schemas.microsoft.com/office/powerpoint/2010/main" val="3195288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DC946BD-0F39-4E9A-8548-03C319B52E09}"/>
              </a:ext>
            </a:extLst>
          </p:cNvPr>
          <p:cNvSpPr>
            <a:spLocks noGrp="1" noChangeArrowheads="1"/>
          </p:cNvSpPr>
          <p:nvPr>
            <p:ph type="title"/>
          </p:nvPr>
        </p:nvSpPr>
        <p:spPr/>
        <p:txBody>
          <a:bodyPr/>
          <a:lstStyle/>
          <a:p>
            <a:r>
              <a:rPr lang="zh-CN" altLang="en-US" dirty="0"/>
              <a:t>函数指针</a:t>
            </a:r>
            <a:endParaRPr lang="en-US" altLang="zh-CN" dirty="0">
              <a:ea typeface="方正舒体" panose="02010601030101010101" pitchFamily="2" charset="-122"/>
            </a:endParaRPr>
          </a:p>
        </p:txBody>
      </p:sp>
      <p:sp>
        <p:nvSpPr>
          <p:cNvPr id="86019" name="Rectangle 3">
            <a:extLst>
              <a:ext uri="{FF2B5EF4-FFF2-40B4-BE49-F238E27FC236}">
                <a16:creationId xmlns:a16="http://schemas.microsoft.com/office/drawing/2014/main" id="{0F10897D-C91A-4DE1-A1EE-1602BDAC822D}"/>
              </a:ext>
            </a:extLst>
          </p:cNvPr>
          <p:cNvSpPr>
            <a:spLocks noGrp="1" noChangeArrowheads="1"/>
          </p:cNvSpPr>
          <p:nvPr>
            <p:ph type="body" idx="1"/>
          </p:nvPr>
        </p:nvSpPr>
        <p:spPr>
          <a:xfrm>
            <a:off x="1143000" y="1206500"/>
            <a:ext cx="6921500" cy="4000500"/>
          </a:xfrm>
        </p:spPr>
        <p:txBody>
          <a:bodyPr>
            <a:normAutofit fontScale="92500" lnSpcReduction="10000"/>
          </a:bodyPr>
          <a:lstStyle/>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#include &lt;</a:t>
            </a:r>
            <a:r>
              <a:rPr lang="en-US" altLang="zh-CN" sz="1667" dirty="0" err="1">
                <a:latin typeface="Consolas" panose="020B0609020204030204" pitchFamily="49" charset="0"/>
                <a:ea typeface="宋体" panose="02010600030101010101" pitchFamily="2" charset="-122"/>
                <a:cs typeface="Consolas" panose="020B0609020204030204" pitchFamily="49" charset="0"/>
              </a:rPr>
              <a:t>stdio.h</a:t>
            </a:r>
            <a:r>
              <a:rPr lang="en-US" altLang="zh-CN" sz="1667" dirty="0">
                <a:latin typeface="Consolas" panose="020B0609020204030204" pitchFamily="49" charset="0"/>
                <a:ea typeface="宋体" panose="02010600030101010101" pitchFamily="2" charset="-122"/>
                <a:cs typeface="Consolas" panose="020B0609020204030204" pitchFamily="49" charset="0"/>
              </a:rPr>
              <a:t>&gt;</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#include &lt;</a:t>
            </a:r>
            <a:r>
              <a:rPr lang="en-US" altLang="zh-CN" sz="1667" dirty="0" err="1">
                <a:latin typeface="Consolas" panose="020B0609020204030204" pitchFamily="49" charset="0"/>
                <a:ea typeface="宋体" panose="02010600030101010101" pitchFamily="2" charset="-122"/>
                <a:cs typeface="Consolas" panose="020B0609020204030204" pitchFamily="49" charset="0"/>
              </a:rPr>
              <a:t>string.h</a:t>
            </a:r>
            <a:r>
              <a:rPr lang="en-US" altLang="zh-CN" sz="1667" dirty="0">
                <a:latin typeface="Consolas" panose="020B0609020204030204" pitchFamily="49" charset="0"/>
                <a:ea typeface="宋体" panose="02010600030101010101" pitchFamily="2" charset="-122"/>
                <a:cs typeface="Consolas" panose="020B0609020204030204" pitchFamily="49" charset="0"/>
              </a:rPr>
              <a:t>&gt;</a:t>
            </a:r>
          </a:p>
          <a:p>
            <a:pPr marL="444482" indent="-444482">
              <a:spcBef>
                <a:spcPct val="0"/>
              </a:spcBef>
              <a:buNone/>
            </a:pPr>
            <a:endParaRPr lang="en-US" altLang="zh-CN" sz="1667" dirty="0">
              <a:latin typeface="Consolas" panose="020B0609020204030204" pitchFamily="49" charset="0"/>
              <a:ea typeface="宋体" panose="02010600030101010101" pitchFamily="2" charset="-122"/>
              <a:cs typeface="Consolas" panose="020B0609020204030204" pitchFamily="49" charset="0"/>
            </a:endParaRP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int numeric = 0, </a:t>
            </a:r>
            <a:r>
              <a:rPr lang="en-US" altLang="zh-CN" sz="1667" dirty="0">
                <a:solidFill>
                  <a:srgbClr val="C00000"/>
                </a:solidFill>
                <a:latin typeface="Consolas" panose="020B0609020204030204" pitchFamily="49" charset="0"/>
                <a:ea typeface="宋体" panose="02010600030101010101" pitchFamily="2" charset="-122"/>
                <a:cs typeface="Consolas" panose="020B0609020204030204" pitchFamily="49" charset="0"/>
              </a:rPr>
              <a:t>(*</a:t>
            </a:r>
            <a:r>
              <a:rPr lang="en-US" altLang="zh-CN" sz="1667" dirty="0" err="1">
                <a:solidFill>
                  <a:srgbClr val="C00000"/>
                </a:solidFill>
                <a:latin typeface="Consolas" panose="020B0609020204030204" pitchFamily="49" charset="0"/>
                <a:ea typeface="宋体" panose="02010600030101010101" pitchFamily="2" charset="-122"/>
                <a:cs typeface="Consolas" panose="020B0609020204030204" pitchFamily="49" charset="0"/>
              </a:rPr>
              <a:t>cmp</a:t>
            </a:r>
            <a:r>
              <a:rPr lang="en-US" altLang="zh-CN" sz="1667" dirty="0">
                <a:solidFill>
                  <a:srgbClr val="C00000"/>
                </a:solidFill>
                <a:latin typeface="Consolas" panose="020B0609020204030204" pitchFamily="49" charset="0"/>
                <a:ea typeface="宋体" panose="02010600030101010101" pitchFamily="2" charset="-122"/>
                <a:cs typeface="Consolas" panose="020B0609020204030204" pitchFamily="49" charset="0"/>
              </a:rPr>
              <a:t>)(void *, void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char *s1, *s2;</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if</a:t>
            </a:r>
            <a:r>
              <a:rPr lang="en-US" altLang="zh-CN" sz="1667" dirty="0">
                <a:solidFill>
                  <a:srgbClr val="0033CC"/>
                </a:solidFill>
                <a:latin typeface="Consolas" panose="020B0609020204030204" pitchFamily="49" charset="0"/>
                <a:ea typeface="宋体" panose="02010600030101010101" pitchFamily="2" charset="-122"/>
                <a:cs typeface="Consolas" panose="020B0609020204030204" pitchFamily="49" charset="0"/>
              </a:rPr>
              <a:t> </a:t>
            </a:r>
            <a:r>
              <a:rPr lang="en-US" altLang="zh-CN" sz="1667" dirty="0">
                <a:latin typeface="Consolas" panose="020B0609020204030204" pitchFamily="49" charset="0"/>
                <a:ea typeface="宋体" panose="02010600030101010101" pitchFamily="2" charset="-122"/>
                <a:cs typeface="Consolas" panose="020B0609020204030204" pitchFamily="49" charset="0"/>
              </a:rPr>
              <a:t>(...) numeric = 1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r>
              <a:rPr lang="en-US" altLang="zh-CN" sz="1667" dirty="0" err="1">
                <a:latin typeface="Consolas" panose="020B0609020204030204" pitchFamily="49" charset="0"/>
                <a:ea typeface="宋体" panose="02010600030101010101" pitchFamily="2" charset="-122"/>
                <a:cs typeface="Consolas" panose="020B0609020204030204" pitchFamily="49" charset="0"/>
              </a:rPr>
              <a:t>cmp</a:t>
            </a:r>
            <a:r>
              <a:rPr lang="en-US" altLang="zh-CN" sz="1667" dirty="0">
                <a:latin typeface="Consolas" panose="020B0609020204030204" pitchFamily="49" charset="0"/>
                <a:ea typeface="宋体" panose="02010600030101010101" pitchFamily="2" charset="-122"/>
                <a:cs typeface="Consolas" panose="020B0609020204030204" pitchFamily="49" charset="0"/>
              </a:rPr>
              <a:t> = (int (*)(void *, void *))</a:t>
            </a:r>
            <a:br>
              <a:rPr lang="en-US" altLang="zh-CN" sz="1667" dirty="0">
                <a:latin typeface="Consolas" panose="020B0609020204030204" pitchFamily="49" charset="0"/>
                <a:ea typeface="宋体" panose="02010600030101010101" pitchFamily="2" charset="-122"/>
                <a:cs typeface="Consolas" panose="020B0609020204030204" pitchFamily="49" charset="0"/>
              </a:rPr>
            </a:br>
            <a:r>
              <a:rPr lang="en-US" altLang="zh-CN" sz="1667" dirty="0">
                <a:latin typeface="Consolas" panose="020B0609020204030204" pitchFamily="49" charset="0"/>
                <a:ea typeface="宋体" panose="02010600030101010101" pitchFamily="2" charset="-122"/>
                <a:cs typeface="Consolas" panose="020B0609020204030204" pitchFamily="49" charset="0"/>
              </a:rPr>
              <a:t>		(numeric ? </a:t>
            </a:r>
            <a:r>
              <a:rPr lang="en-US" altLang="zh-CN" sz="1667" dirty="0" err="1">
                <a:solidFill>
                  <a:srgbClr val="C00000"/>
                </a:solidFill>
                <a:latin typeface="Consolas" panose="020B0609020204030204" pitchFamily="49" charset="0"/>
                <a:ea typeface="宋体" panose="02010600030101010101" pitchFamily="2" charset="-122"/>
                <a:cs typeface="Consolas" panose="020B0609020204030204" pitchFamily="49" charset="0"/>
              </a:rPr>
              <a:t>numcmp</a:t>
            </a:r>
            <a:r>
              <a:rPr lang="en-US" altLang="zh-CN" sz="1667" dirty="0">
                <a:solidFill>
                  <a:srgbClr val="C00000"/>
                </a:solidFill>
                <a:latin typeface="Consolas" panose="020B0609020204030204" pitchFamily="49" charset="0"/>
                <a:ea typeface="宋体" panose="02010600030101010101" pitchFamily="2" charset="-122"/>
                <a:cs typeface="Consolas" panose="020B0609020204030204" pitchFamily="49" charset="0"/>
              </a:rPr>
              <a:t> : </a:t>
            </a:r>
            <a:r>
              <a:rPr lang="en-US" altLang="zh-CN" sz="1667" dirty="0" err="1">
                <a:solidFill>
                  <a:srgbClr val="C00000"/>
                </a:solidFill>
                <a:latin typeface="Consolas" panose="020B0609020204030204" pitchFamily="49" charset="0"/>
                <a:ea typeface="宋体" panose="02010600030101010101" pitchFamily="2" charset="-122"/>
                <a:cs typeface="Consolas" panose="020B0609020204030204" pitchFamily="49" charset="0"/>
              </a:rPr>
              <a:t>strcmp</a:t>
            </a:r>
            <a:r>
              <a:rPr lang="en-US" altLang="zh-CN" sz="1667" dirty="0">
                <a:latin typeface="Consolas" panose="020B0609020204030204" pitchFamily="49" charset="0"/>
                <a:ea typeface="宋体" panose="02010600030101010101" pitchFamily="2" charset="-122"/>
                <a:cs typeface="Consolas" panose="020B0609020204030204" pitchFamily="49" charset="0"/>
              </a:rPr>
              <a:t>);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r>
              <a:rPr lang="en-US" altLang="zh-CN" sz="1667" dirty="0" err="1">
                <a:latin typeface="Consolas" panose="020B0609020204030204" pitchFamily="49" charset="0"/>
                <a:ea typeface="宋体" panose="02010600030101010101" pitchFamily="2" charset="-122"/>
                <a:cs typeface="Consolas" panose="020B0609020204030204" pitchFamily="49" charset="0"/>
              </a:rPr>
              <a:t>cmp</a:t>
            </a:r>
            <a:r>
              <a:rPr lang="en-US" altLang="zh-CN" sz="1667" dirty="0">
                <a:latin typeface="Consolas" panose="020B0609020204030204" pitchFamily="49" charset="0"/>
                <a:ea typeface="宋体" panose="02010600030101010101" pitchFamily="2" charset="-122"/>
                <a:cs typeface="Consolas" panose="020B0609020204030204" pitchFamily="49" charset="0"/>
              </a:rPr>
              <a:t>)(s1, s2);</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	...</a:t>
            </a:r>
          </a:p>
          <a:p>
            <a:pPr marL="444482" indent="-444482">
              <a:spcBef>
                <a:spcPct val="0"/>
              </a:spcBef>
              <a:buNone/>
            </a:pPr>
            <a:r>
              <a:rPr lang="en-US" altLang="zh-CN" sz="1667" dirty="0">
                <a:latin typeface="Consolas" panose="020B0609020204030204" pitchFamily="49" charset="0"/>
                <a:ea typeface="宋体" panose="02010600030101010101" pitchFamily="2" charset="-122"/>
                <a:cs typeface="Consolas" panose="020B0609020204030204" pitchFamily="49" charset="0"/>
              </a:rPr>
              <a:t>}</a:t>
            </a:r>
          </a:p>
        </p:txBody>
      </p:sp>
    </p:spTree>
    <p:extLst>
      <p:ext uri="{BB962C8B-B14F-4D97-AF65-F5344CB8AC3E}">
        <p14:creationId xmlns:p14="http://schemas.microsoft.com/office/powerpoint/2010/main" val="4034078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7730C8-B696-4E37-9097-B3BD6B83A5E2}"/>
              </a:ext>
            </a:extLst>
          </p:cNvPr>
          <p:cNvSpPr>
            <a:spLocks noGrp="1"/>
          </p:cNvSpPr>
          <p:nvPr>
            <p:ph type="title"/>
          </p:nvPr>
        </p:nvSpPr>
        <p:spPr/>
        <p:txBody>
          <a:bodyPr/>
          <a:lstStyle/>
          <a:p>
            <a:r>
              <a:rPr lang="zh-CN" altLang="en-US" dirty="0"/>
              <a:t>异质数据结构</a:t>
            </a:r>
          </a:p>
        </p:txBody>
      </p:sp>
      <p:sp>
        <p:nvSpPr>
          <p:cNvPr id="6" name="文本占位符 5">
            <a:extLst>
              <a:ext uri="{FF2B5EF4-FFF2-40B4-BE49-F238E27FC236}">
                <a16:creationId xmlns:a16="http://schemas.microsoft.com/office/drawing/2014/main" id="{73ED0CBC-FF0F-4971-8370-6ED01B92BAD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D2D9D1-5210-42AC-B0C6-48AEF0929A07}"/>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Tree>
    <p:extLst>
      <p:ext uri="{BB962C8B-B14F-4D97-AF65-F5344CB8AC3E}">
        <p14:creationId xmlns:p14="http://schemas.microsoft.com/office/powerpoint/2010/main" val="3540959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a:extLst>
              <a:ext uri="{FF2B5EF4-FFF2-40B4-BE49-F238E27FC236}">
                <a16:creationId xmlns:a16="http://schemas.microsoft.com/office/drawing/2014/main" id="{1FF7EA2C-6687-46C1-BEB7-FE9E9652EEA8}"/>
              </a:ext>
            </a:extLst>
          </p:cNvPr>
          <p:cNvSpPr>
            <a:spLocks noGrp="1" noChangeArrowheads="1"/>
          </p:cNvSpPr>
          <p:nvPr>
            <p:ph type="title"/>
          </p:nvPr>
        </p:nvSpPr>
        <p:spPr/>
        <p:txBody>
          <a:bodyPr/>
          <a:lstStyle/>
          <a:p>
            <a:r>
              <a:rPr lang="zh-CN" altLang="en-US" dirty="0"/>
              <a:t>结构体（</a:t>
            </a:r>
            <a:r>
              <a:rPr lang="en-US" altLang="zh-CN" dirty="0"/>
              <a:t>struct</a:t>
            </a:r>
            <a:r>
              <a:rPr lang="zh-CN" altLang="en-US" dirty="0"/>
              <a:t>）</a:t>
            </a:r>
            <a:endParaRPr lang="en-US" altLang="zh-CN" dirty="0">
              <a:ea typeface="宋体" panose="02010600030101010101" pitchFamily="2" charset="-122"/>
            </a:endParaRPr>
          </a:p>
        </p:txBody>
      </p:sp>
      <p:sp>
        <p:nvSpPr>
          <p:cNvPr id="92164" name="Rectangle 3">
            <a:extLst>
              <a:ext uri="{FF2B5EF4-FFF2-40B4-BE49-F238E27FC236}">
                <a16:creationId xmlns:a16="http://schemas.microsoft.com/office/drawing/2014/main" id="{E190A60C-936F-4C94-AC6C-C1AF68F6A493}"/>
              </a:ext>
            </a:extLst>
          </p:cNvPr>
          <p:cNvSpPr>
            <a:spLocks noGrp="1" noChangeArrowheads="1"/>
          </p:cNvSpPr>
          <p:nvPr>
            <p:ph idx="1"/>
          </p:nvPr>
        </p:nvSpPr>
        <p:spPr/>
        <p:txBody>
          <a:bodyPr>
            <a:normAutofit/>
          </a:bodyPr>
          <a:lstStyle/>
          <a:p>
            <a:r>
              <a:rPr lang="zh-CN" altLang="en-US" dirty="0"/>
              <a:t>结构体将多个对象统合在同一个结构中</a:t>
            </a:r>
            <a:endParaRPr lang="en-US" altLang="zh-CN" sz="1667" dirty="0">
              <a:latin typeface="Courier" pitchFamily="2" charset="0"/>
              <a:ea typeface="宋体" panose="02010600030101010101" pitchFamily="2" charset="-122"/>
            </a:endParaRPr>
          </a:p>
          <a:p>
            <a:pPr>
              <a:buFontTx/>
              <a:buNone/>
            </a:pPr>
            <a:r>
              <a:rPr lang="en-US" altLang="zh-CN" sz="1667" dirty="0">
                <a:latin typeface="Courier" pitchFamily="2" charset="0"/>
                <a:ea typeface="宋体" panose="02010600030101010101" pitchFamily="2" charset="-122"/>
              </a:rPr>
              <a:t>struct </a:t>
            </a:r>
            <a:r>
              <a:rPr lang="en-US" altLang="zh-CN" sz="1667" dirty="0" err="1">
                <a:latin typeface="Courier" pitchFamily="2" charset="0"/>
                <a:ea typeface="宋体" panose="02010600030101010101" pitchFamily="2" charset="-122"/>
              </a:rPr>
              <a:t>rect</a:t>
            </a:r>
            <a:r>
              <a:rPr lang="en-US" altLang="zh-CN" sz="1667" dirty="0">
                <a:latin typeface="Courier" pitchFamily="2" charset="0"/>
                <a:ea typeface="宋体" panose="02010600030101010101" pitchFamily="2" charset="-122"/>
              </a:rPr>
              <a:t> {</a:t>
            </a:r>
          </a:p>
          <a:p>
            <a:pPr>
              <a:buFontTx/>
              <a:buNone/>
            </a:pPr>
            <a:r>
              <a:rPr lang="en-US" altLang="zh-CN" sz="1667" dirty="0">
                <a:latin typeface="Courier" pitchFamily="2" charset="0"/>
                <a:ea typeface="宋体" panose="02010600030101010101" pitchFamily="2" charset="-122"/>
              </a:rPr>
              <a:t>	long </a:t>
            </a:r>
            <a:r>
              <a:rPr lang="en-US" altLang="zh-CN" sz="1667" dirty="0" err="1">
                <a:latin typeface="Courier" pitchFamily="2" charset="0"/>
                <a:ea typeface="宋体" panose="02010600030101010101" pitchFamily="2" charset="-122"/>
              </a:rPr>
              <a:t>llx</a:t>
            </a:r>
            <a:r>
              <a:rPr lang="en-US" altLang="zh-CN" sz="1667" dirty="0">
                <a:latin typeface="Courier" pitchFamily="2" charset="0"/>
                <a:ea typeface="宋体" panose="02010600030101010101" pitchFamily="2" charset="-122"/>
              </a:rPr>
              <a:t>;   </a:t>
            </a:r>
            <a:r>
              <a:rPr lang="en-US" altLang="zh-CN" sz="1667" dirty="0">
                <a:solidFill>
                  <a:srgbClr val="006FC0"/>
                </a:solidFill>
                <a:latin typeface="Courier" pitchFamily="2" charset="0"/>
                <a:ea typeface="宋体" panose="02010600030101010101" pitchFamily="2" charset="-122"/>
              </a:rPr>
              <a:t>/* </a:t>
            </a:r>
            <a:r>
              <a:rPr lang="zh-CN" altLang="en-US" sz="1667" dirty="0">
                <a:solidFill>
                  <a:srgbClr val="006FC0"/>
                </a:solidFill>
                <a:latin typeface="+mj-ea"/>
                <a:ea typeface="+mj-ea"/>
              </a:rPr>
              <a:t>左下角的</a:t>
            </a:r>
            <a:r>
              <a:rPr lang="en-US" altLang="zh-CN" sz="1667" dirty="0">
                <a:solidFill>
                  <a:srgbClr val="006FC0"/>
                </a:solidFill>
                <a:latin typeface="+mj-ea"/>
                <a:ea typeface="+mj-ea"/>
              </a:rPr>
              <a:t>X</a:t>
            </a:r>
            <a:r>
              <a:rPr lang="zh-CN" altLang="en-US" sz="1667" dirty="0">
                <a:solidFill>
                  <a:srgbClr val="006FC0"/>
                </a:solidFill>
                <a:latin typeface="+mj-ea"/>
                <a:ea typeface="+mj-ea"/>
              </a:rPr>
              <a:t>轴坐标 </a:t>
            </a:r>
            <a:r>
              <a:rPr lang="en-US" altLang="zh-CN" sz="1667" dirty="0">
                <a:solidFill>
                  <a:srgbClr val="006FC0"/>
                </a:solidFill>
                <a:latin typeface="Courier" pitchFamily="2" charset="0"/>
                <a:ea typeface="宋体" panose="02010600030101010101" pitchFamily="2" charset="-122"/>
              </a:rPr>
              <a:t>*/</a:t>
            </a:r>
          </a:p>
          <a:p>
            <a:pPr>
              <a:buFontTx/>
              <a:buNone/>
            </a:pPr>
            <a:r>
              <a:rPr lang="en-US" altLang="zh-CN" sz="1667" dirty="0">
                <a:latin typeface="Courier" pitchFamily="2" charset="0"/>
                <a:ea typeface="宋体" panose="02010600030101010101" pitchFamily="2" charset="-122"/>
              </a:rPr>
              <a:t>	long </a:t>
            </a:r>
            <a:r>
              <a:rPr lang="en-US" altLang="zh-CN" sz="1667" dirty="0" err="1">
                <a:latin typeface="Courier" pitchFamily="2" charset="0"/>
                <a:ea typeface="宋体" panose="02010600030101010101" pitchFamily="2" charset="-122"/>
              </a:rPr>
              <a:t>lly</a:t>
            </a:r>
            <a:r>
              <a:rPr lang="en-US" altLang="zh-CN" sz="1667" dirty="0">
                <a:latin typeface="Courier" pitchFamily="2" charset="0"/>
                <a:ea typeface="宋体" panose="02010600030101010101" pitchFamily="2" charset="-122"/>
              </a:rPr>
              <a:t>;   </a:t>
            </a:r>
            <a:r>
              <a:rPr lang="en-US" altLang="zh-CN" sz="1667" dirty="0">
                <a:solidFill>
                  <a:srgbClr val="006FC0"/>
                </a:solidFill>
                <a:latin typeface="Courier" pitchFamily="2" charset="0"/>
                <a:ea typeface="宋体" panose="02010600030101010101" pitchFamily="2" charset="-122"/>
              </a:rPr>
              <a:t>/* </a:t>
            </a:r>
            <a:r>
              <a:rPr lang="zh-CN" altLang="en-US" sz="1667" dirty="0">
                <a:solidFill>
                  <a:srgbClr val="006FC0"/>
                </a:solidFill>
                <a:latin typeface="+mj-ea"/>
                <a:ea typeface="+mj-ea"/>
              </a:rPr>
              <a:t>左下角的</a:t>
            </a:r>
            <a:r>
              <a:rPr lang="en-US" altLang="zh-CN" sz="1667" dirty="0">
                <a:solidFill>
                  <a:srgbClr val="006FC0"/>
                </a:solidFill>
                <a:latin typeface="+mj-ea"/>
                <a:ea typeface="+mj-ea"/>
              </a:rPr>
              <a:t>Y</a:t>
            </a:r>
            <a:r>
              <a:rPr lang="zh-CN" altLang="en-US" sz="1667" dirty="0">
                <a:solidFill>
                  <a:srgbClr val="006FC0"/>
                </a:solidFill>
                <a:latin typeface="+mj-ea"/>
                <a:ea typeface="+mj-ea"/>
              </a:rPr>
              <a:t>轴坐标 </a:t>
            </a:r>
            <a:r>
              <a:rPr lang="en-US" altLang="zh-CN" sz="1667" dirty="0">
                <a:solidFill>
                  <a:srgbClr val="006FC0"/>
                </a:solidFill>
                <a:latin typeface="Courier" pitchFamily="2" charset="0"/>
                <a:ea typeface="宋体" panose="02010600030101010101" pitchFamily="2" charset="-122"/>
              </a:rPr>
              <a:t>*/</a:t>
            </a:r>
          </a:p>
          <a:p>
            <a:pPr>
              <a:buFontTx/>
              <a:buNone/>
            </a:pPr>
            <a:r>
              <a:rPr lang="en-US" altLang="zh-CN" sz="1667" dirty="0">
                <a:latin typeface="Courier" pitchFamily="2" charset="0"/>
                <a:ea typeface="宋体" panose="02010600030101010101" pitchFamily="2" charset="-122"/>
              </a:rPr>
              <a:t>	unsigned long width;  </a:t>
            </a:r>
            <a:r>
              <a:rPr lang="en-US" altLang="zh-CN" sz="1667" dirty="0">
                <a:solidFill>
                  <a:srgbClr val="006FC0"/>
                </a:solidFill>
                <a:latin typeface="Courier" pitchFamily="2" charset="0"/>
                <a:ea typeface="宋体" panose="02010600030101010101" pitchFamily="2" charset="-122"/>
              </a:rPr>
              <a:t>/* </a:t>
            </a:r>
            <a:r>
              <a:rPr lang="zh-CN" altLang="en-US" sz="1667" dirty="0">
                <a:solidFill>
                  <a:srgbClr val="006FC0"/>
                </a:solidFill>
                <a:latin typeface="+mj-ea"/>
                <a:ea typeface="+mj-ea"/>
              </a:rPr>
              <a:t>宽度（像素） </a:t>
            </a:r>
            <a:r>
              <a:rPr lang="en-US" altLang="zh-CN" sz="1667" dirty="0">
                <a:solidFill>
                  <a:srgbClr val="006FC0"/>
                </a:solidFill>
                <a:latin typeface="Courier" pitchFamily="2" charset="0"/>
                <a:ea typeface="宋体" panose="02010600030101010101" pitchFamily="2" charset="-122"/>
              </a:rPr>
              <a:t>*/</a:t>
            </a:r>
          </a:p>
          <a:p>
            <a:pPr>
              <a:buFontTx/>
              <a:buNone/>
            </a:pPr>
            <a:r>
              <a:rPr lang="en-US" altLang="zh-CN" sz="1667" dirty="0">
                <a:latin typeface="Courier" pitchFamily="2" charset="0"/>
                <a:ea typeface="宋体" panose="02010600030101010101" pitchFamily="2" charset="-122"/>
              </a:rPr>
              <a:t>	unsigned long height; </a:t>
            </a:r>
            <a:r>
              <a:rPr lang="en-US" altLang="zh-CN" sz="1667" dirty="0">
                <a:solidFill>
                  <a:srgbClr val="006FC0"/>
                </a:solidFill>
                <a:latin typeface="Courier" pitchFamily="2" charset="0"/>
                <a:ea typeface="宋体" panose="02010600030101010101" pitchFamily="2" charset="-122"/>
              </a:rPr>
              <a:t>/* </a:t>
            </a:r>
            <a:r>
              <a:rPr lang="zh-CN" altLang="en-US" sz="1667" dirty="0">
                <a:solidFill>
                  <a:srgbClr val="006FC0"/>
                </a:solidFill>
                <a:latin typeface="+mj-ea"/>
                <a:ea typeface="+mj-ea"/>
              </a:rPr>
              <a:t>高度（像素） </a:t>
            </a:r>
            <a:r>
              <a:rPr lang="en-US" altLang="zh-CN" sz="1667" dirty="0">
                <a:solidFill>
                  <a:srgbClr val="006FC0"/>
                </a:solidFill>
                <a:latin typeface="Courier" pitchFamily="2" charset="0"/>
                <a:ea typeface="宋体" panose="02010600030101010101" pitchFamily="2" charset="-122"/>
              </a:rPr>
              <a:t>*/</a:t>
            </a:r>
          </a:p>
          <a:p>
            <a:pPr>
              <a:buFontTx/>
              <a:buNone/>
            </a:pPr>
            <a:r>
              <a:rPr lang="en-US" altLang="zh-CN" sz="1667" dirty="0">
                <a:latin typeface="Courier" pitchFamily="2" charset="0"/>
                <a:ea typeface="宋体" panose="02010600030101010101" pitchFamily="2" charset="-122"/>
              </a:rPr>
              <a:t>	unsigned long color; </a:t>
            </a:r>
            <a:r>
              <a:rPr lang="en-US" altLang="zh-CN" sz="1667" dirty="0">
                <a:solidFill>
                  <a:srgbClr val="006FC0"/>
                </a:solidFill>
                <a:latin typeface="Courier" pitchFamily="2" charset="0"/>
                <a:ea typeface="宋体" panose="02010600030101010101" pitchFamily="2" charset="-122"/>
              </a:rPr>
              <a:t>/* </a:t>
            </a:r>
            <a:r>
              <a:rPr lang="zh-CN" altLang="en-US" sz="1667" dirty="0">
                <a:solidFill>
                  <a:srgbClr val="006FC0"/>
                </a:solidFill>
                <a:latin typeface="+mj-ea"/>
                <a:ea typeface="+mj-ea"/>
              </a:rPr>
              <a:t>颜色代码</a:t>
            </a:r>
            <a:r>
              <a:rPr lang="en-US" altLang="zh-CN" sz="1667" dirty="0">
                <a:solidFill>
                  <a:srgbClr val="006FC0"/>
                </a:solidFill>
                <a:latin typeface="Courier" pitchFamily="2" charset="0"/>
                <a:ea typeface="宋体" panose="02010600030101010101" pitchFamily="2" charset="-122"/>
              </a:rPr>
              <a:t> */</a:t>
            </a:r>
          </a:p>
          <a:p>
            <a:pPr>
              <a:buFontTx/>
              <a:buNone/>
            </a:pPr>
            <a:r>
              <a:rPr lang="en-US" altLang="zh-CN" sz="1667" dirty="0">
                <a:latin typeface="Courier" pitchFamily="2" charset="0"/>
                <a:ea typeface="宋体" panose="02010600030101010101" pitchFamily="2" charset="-122"/>
              </a:rPr>
              <a:t>};</a:t>
            </a:r>
            <a:endParaRPr lang="en-US" altLang="zh-CN" sz="1667" dirty="0">
              <a:ea typeface="宋体" panose="02010600030101010101" pitchFamily="2" charset="-122"/>
            </a:endParaRPr>
          </a:p>
        </p:txBody>
      </p:sp>
      <p:sp>
        <p:nvSpPr>
          <p:cNvPr id="92162" name="灯片编号占位符 5">
            <a:extLst>
              <a:ext uri="{FF2B5EF4-FFF2-40B4-BE49-F238E27FC236}">
                <a16:creationId xmlns:a16="http://schemas.microsoft.com/office/drawing/2014/main" id="{C7DAE3CE-2CE1-4073-A21F-5403FE1814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1B3E6564-855D-4847-BA7D-EC39673F56A4}" type="slidenum">
              <a:rPr lang="zh-CN" altLang="en-US" sz="1167">
                <a:latin typeface="Times New Roman" panose="02020603050405020304" pitchFamily="18" charset="0"/>
              </a:rPr>
              <a:pPr>
                <a:spcBef>
                  <a:spcPct val="0"/>
                </a:spcBef>
                <a:buFontTx/>
                <a:buNone/>
              </a:pPr>
              <a:t>19</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1008299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a:extLst>
              <a:ext uri="{FF2B5EF4-FFF2-40B4-BE49-F238E27FC236}">
                <a16:creationId xmlns:a16="http://schemas.microsoft.com/office/drawing/2014/main" id="{172F3FB5-A5C0-43A7-9B6B-03B2C87153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94500650-3E7B-4E41-81B1-286F58CCAE1D}" type="slidenum">
              <a:rPr lang="zh-CN" altLang="en-US" sz="1167">
                <a:latin typeface="Times New Roman" panose="02020603050405020304" pitchFamily="18" charset="0"/>
              </a:rPr>
              <a:pPr>
                <a:spcBef>
                  <a:spcPct val="0"/>
                </a:spcBef>
                <a:buFontTx/>
                <a:buNone/>
              </a:pPr>
              <a:t>20</a:t>
            </a:fld>
            <a:endParaRPr lang="en-US" altLang="zh-CN" sz="1167">
              <a:latin typeface="Times New Roman" panose="02020603050405020304" pitchFamily="18" charset="0"/>
            </a:endParaRPr>
          </a:p>
        </p:txBody>
      </p:sp>
      <p:sp>
        <p:nvSpPr>
          <p:cNvPr id="94211" name="Rectangle 2">
            <a:extLst>
              <a:ext uri="{FF2B5EF4-FFF2-40B4-BE49-F238E27FC236}">
                <a16:creationId xmlns:a16="http://schemas.microsoft.com/office/drawing/2014/main" id="{50C8F1AB-1DC0-40FA-923C-2D617E1C974B}"/>
              </a:ext>
            </a:extLst>
          </p:cNvPr>
          <p:cNvSpPr>
            <a:spLocks noGrp="1" noChangeArrowheads="1"/>
          </p:cNvSpPr>
          <p:nvPr>
            <p:ph type="title"/>
          </p:nvPr>
        </p:nvSpPr>
        <p:spPr/>
        <p:txBody>
          <a:bodyPr/>
          <a:lstStyle/>
          <a:p>
            <a:r>
              <a:rPr lang="zh-CN" altLang="en-US" dirty="0"/>
              <a:t>结构体（</a:t>
            </a:r>
            <a:r>
              <a:rPr lang="en-US" altLang="zh-CN" dirty="0"/>
              <a:t>struct</a:t>
            </a:r>
            <a:r>
              <a:rPr lang="zh-CN" altLang="en-US" dirty="0"/>
              <a:t>）</a:t>
            </a:r>
            <a:endParaRPr lang="en-US" altLang="zh-CN" dirty="0">
              <a:ea typeface="方正舒体" panose="02010601030101010101" pitchFamily="2" charset="-122"/>
            </a:endParaRPr>
          </a:p>
        </p:txBody>
      </p:sp>
      <p:sp>
        <p:nvSpPr>
          <p:cNvPr id="94212" name="Rectangle 3">
            <a:extLst>
              <a:ext uri="{FF2B5EF4-FFF2-40B4-BE49-F238E27FC236}">
                <a16:creationId xmlns:a16="http://schemas.microsoft.com/office/drawing/2014/main" id="{8239F01B-3EDE-42FF-A815-E413D26513FE}"/>
              </a:ext>
            </a:extLst>
          </p:cNvPr>
          <p:cNvSpPr>
            <a:spLocks noGrp="1" noChangeArrowheads="1"/>
          </p:cNvSpPr>
          <p:nvPr>
            <p:ph type="body" idx="1"/>
          </p:nvPr>
        </p:nvSpPr>
        <p:spPr/>
        <p:txBody>
          <a:bodyPr/>
          <a:lstStyle/>
          <a:p>
            <a:r>
              <a:rPr lang="zh-CN" altLang="en-US" dirty="0"/>
              <a:t>结构体中每个对象以其名称来索引</a:t>
            </a:r>
            <a:endParaRPr lang="en-US" altLang="zh-CN" dirty="0"/>
          </a:p>
          <a:p>
            <a:pPr>
              <a:lnSpc>
                <a:spcPct val="90000"/>
              </a:lnSpc>
              <a:buFontTx/>
              <a:buNone/>
            </a:pPr>
            <a:r>
              <a:rPr lang="en-US" altLang="zh-CN" sz="2000" dirty="0">
                <a:latin typeface="Courier" pitchFamily="2" charset="0"/>
                <a:ea typeface="宋体" panose="02010600030101010101" pitchFamily="2" charset="-122"/>
              </a:rPr>
              <a:t> struct </a:t>
            </a:r>
            <a:r>
              <a:rPr lang="en-US" altLang="zh-CN" sz="2000" dirty="0" err="1">
                <a:latin typeface="Courier" pitchFamily="2" charset="0"/>
                <a:ea typeface="宋体" panose="02010600030101010101" pitchFamily="2" charset="-122"/>
              </a:rPr>
              <a:t>rect</a:t>
            </a:r>
            <a:r>
              <a:rPr lang="en-US" altLang="zh-CN" sz="2000" dirty="0">
                <a:latin typeface="Courier" pitchFamily="2" charset="0"/>
                <a:ea typeface="宋体" panose="02010600030101010101" pitchFamily="2" charset="-122"/>
              </a:rPr>
              <a:t> r;</a:t>
            </a:r>
          </a:p>
          <a:p>
            <a:pPr>
              <a:lnSpc>
                <a:spcPct val="90000"/>
              </a:lnSpc>
              <a:buFontTx/>
              <a:buNone/>
            </a:pPr>
            <a:r>
              <a:rPr lang="en-US" altLang="zh-CN" sz="2000" dirty="0">
                <a:latin typeface="Courier" pitchFamily="2" charset="0"/>
                <a:ea typeface="宋体" panose="02010600030101010101" pitchFamily="2" charset="-122"/>
              </a:rPr>
              <a:t> </a:t>
            </a:r>
            <a:r>
              <a:rPr lang="en-US" altLang="zh-CN" sz="2000" dirty="0" err="1">
                <a:latin typeface="Courier" pitchFamily="2" charset="0"/>
                <a:ea typeface="宋体" panose="02010600030101010101" pitchFamily="2" charset="-122"/>
              </a:rPr>
              <a:t>r.llx</a:t>
            </a:r>
            <a:r>
              <a:rPr lang="en-US" altLang="zh-CN" sz="2000" dirty="0">
                <a:latin typeface="Courier" pitchFamily="2" charset="0"/>
                <a:ea typeface="宋体" panose="02010600030101010101" pitchFamily="2" charset="-122"/>
              </a:rPr>
              <a:t> = </a:t>
            </a:r>
            <a:r>
              <a:rPr lang="en-US" altLang="zh-CN" sz="2000" dirty="0" err="1">
                <a:latin typeface="Courier" pitchFamily="2" charset="0"/>
                <a:ea typeface="宋体" panose="02010600030101010101" pitchFamily="2" charset="-122"/>
              </a:rPr>
              <a:t>r.lly</a:t>
            </a:r>
            <a:r>
              <a:rPr lang="en-US" altLang="zh-CN" sz="2000" dirty="0">
                <a:latin typeface="Courier" pitchFamily="2" charset="0"/>
                <a:ea typeface="宋体" panose="02010600030101010101" pitchFamily="2" charset="-122"/>
              </a:rPr>
              <a:t> = 0;</a:t>
            </a:r>
          </a:p>
          <a:p>
            <a:pPr>
              <a:lnSpc>
                <a:spcPct val="90000"/>
              </a:lnSpc>
              <a:buFontTx/>
              <a:buNone/>
            </a:pPr>
            <a:r>
              <a:rPr lang="en-US" altLang="zh-CN" sz="2000" dirty="0">
                <a:latin typeface="Courier" pitchFamily="2" charset="0"/>
                <a:ea typeface="宋体" panose="02010600030101010101" pitchFamily="2" charset="-122"/>
              </a:rPr>
              <a:t> </a:t>
            </a:r>
            <a:r>
              <a:rPr lang="en-US" altLang="zh-CN" sz="2000" dirty="0" err="1">
                <a:latin typeface="Courier" pitchFamily="2" charset="0"/>
                <a:ea typeface="宋体" panose="02010600030101010101" pitchFamily="2" charset="-122"/>
              </a:rPr>
              <a:t>r.color</a:t>
            </a:r>
            <a:r>
              <a:rPr lang="en-US" altLang="zh-CN" sz="2000" dirty="0">
                <a:latin typeface="Courier" pitchFamily="2" charset="0"/>
                <a:ea typeface="宋体" panose="02010600030101010101" pitchFamily="2" charset="-122"/>
              </a:rPr>
              <a:t> = 0xFF00FF;</a:t>
            </a:r>
          </a:p>
          <a:p>
            <a:pPr>
              <a:lnSpc>
                <a:spcPct val="90000"/>
              </a:lnSpc>
              <a:buFontTx/>
              <a:buNone/>
            </a:pPr>
            <a:r>
              <a:rPr lang="en-US" altLang="zh-CN" sz="2000" dirty="0">
                <a:latin typeface="Courier" pitchFamily="2" charset="0"/>
                <a:ea typeface="宋体" panose="02010600030101010101" pitchFamily="2" charset="-122"/>
              </a:rPr>
              <a:t> </a:t>
            </a:r>
            <a:r>
              <a:rPr lang="en-US" altLang="zh-CN" sz="2000" dirty="0" err="1">
                <a:latin typeface="Courier" pitchFamily="2" charset="0"/>
                <a:ea typeface="宋体" panose="02010600030101010101" pitchFamily="2" charset="-122"/>
              </a:rPr>
              <a:t>r.width</a:t>
            </a:r>
            <a:r>
              <a:rPr lang="en-US" altLang="zh-CN" sz="2000" dirty="0">
                <a:latin typeface="Courier" pitchFamily="2" charset="0"/>
                <a:ea typeface="宋体" panose="02010600030101010101" pitchFamily="2" charset="-122"/>
              </a:rPr>
              <a:t> = 10;</a:t>
            </a:r>
          </a:p>
          <a:p>
            <a:pPr>
              <a:lnSpc>
                <a:spcPct val="90000"/>
              </a:lnSpc>
              <a:buFontTx/>
              <a:buNone/>
            </a:pPr>
            <a:r>
              <a:rPr lang="en-US" altLang="zh-CN" sz="2000" dirty="0">
                <a:latin typeface="Courier" pitchFamily="2" charset="0"/>
                <a:ea typeface="宋体" panose="02010600030101010101" pitchFamily="2" charset="-122"/>
              </a:rPr>
              <a:t> </a:t>
            </a:r>
            <a:r>
              <a:rPr lang="en-US" altLang="zh-CN" sz="2000" dirty="0" err="1">
                <a:latin typeface="Courier" pitchFamily="2" charset="0"/>
                <a:ea typeface="宋体" panose="02010600030101010101" pitchFamily="2" charset="-122"/>
              </a:rPr>
              <a:t>r.height</a:t>
            </a:r>
            <a:r>
              <a:rPr lang="en-US" altLang="zh-CN" sz="2000" dirty="0">
                <a:latin typeface="Courier" pitchFamily="2" charset="0"/>
                <a:ea typeface="宋体" panose="02010600030101010101" pitchFamily="2" charset="-122"/>
              </a:rPr>
              <a:t> = 20;</a:t>
            </a:r>
            <a:endParaRPr lang="en-US" altLang="zh-CN" b="1" dirty="0">
              <a:latin typeface="Courier" pitchFamily="2" charset="0"/>
              <a:ea typeface="宋体" panose="02010600030101010101" pitchFamily="2" charset="-122"/>
            </a:endParaRPr>
          </a:p>
        </p:txBody>
      </p:sp>
    </p:spTree>
    <p:extLst>
      <p:ext uri="{BB962C8B-B14F-4D97-AF65-F5344CB8AC3E}">
        <p14:creationId xmlns:p14="http://schemas.microsoft.com/office/powerpoint/2010/main" val="2197866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a:extLst>
              <a:ext uri="{FF2B5EF4-FFF2-40B4-BE49-F238E27FC236}">
                <a16:creationId xmlns:a16="http://schemas.microsoft.com/office/drawing/2014/main" id="{64426CA1-2142-4135-9177-91F454AD0F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21F19EE2-FF83-4434-B7DC-B02263F80FB2}" type="slidenum">
              <a:rPr lang="zh-CN" altLang="en-US" sz="1167">
                <a:latin typeface="Times New Roman" panose="02020603050405020304" pitchFamily="18" charset="0"/>
              </a:rPr>
              <a:pPr>
                <a:spcBef>
                  <a:spcPct val="0"/>
                </a:spcBef>
                <a:buFontTx/>
                <a:buNone/>
              </a:pPr>
              <a:t>21</a:t>
            </a:fld>
            <a:endParaRPr lang="en-US" altLang="zh-CN" sz="1167">
              <a:latin typeface="Times New Roman" panose="02020603050405020304" pitchFamily="18" charset="0"/>
            </a:endParaRPr>
          </a:p>
        </p:txBody>
      </p:sp>
      <p:sp>
        <p:nvSpPr>
          <p:cNvPr id="96259" name="Rectangle 2">
            <a:extLst>
              <a:ext uri="{FF2B5EF4-FFF2-40B4-BE49-F238E27FC236}">
                <a16:creationId xmlns:a16="http://schemas.microsoft.com/office/drawing/2014/main" id="{AC75FBCD-3D24-4425-86DE-BB23E849B71C}"/>
              </a:ext>
            </a:extLst>
          </p:cNvPr>
          <p:cNvSpPr>
            <a:spLocks noGrp="1" noChangeArrowheads="1"/>
          </p:cNvSpPr>
          <p:nvPr>
            <p:ph type="title"/>
          </p:nvPr>
        </p:nvSpPr>
        <p:spPr/>
        <p:txBody>
          <a:bodyPr/>
          <a:lstStyle/>
          <a:p>
            <a:r>
              <a:rPr lang="zh-CN" altLang="en-US" dirty="0"/>
              <a:t>结构体（</a:t>
            </a:r>
            <a:r>
              <a:rPr lang="en-US" altLang="zh-CN" dirty="0"/>
              <a:t>struct</a:t>
            </a:r>
            <a:r>
              <a:rPr lang="zh-CN" altLang="en-US" dirty="0"/>
              <a:t>）</a:t>
            </a:r>
            <a:endParaRPr lang="en-US" altLang="zh-CN" dirty="0">
              <a:ea typeface="方正舒体" panose="02010601030101010101" pitchFamily="2" charset="-122"/>
            </a:endParaRPr>
          </a:p>
        </p:txBody>
      </p:sp>
      <p:sp>
        <p:nvSpPr>
          <p:cNvPr id="96260" name="Rectangle 3">
            <a:extLst>
              <a:ext uri="{FF2B5EF4-FFF2-40B4-BE49-F238E27FC236}">
                <a16:creationId xmlns:a16="http://schemas.microsoft.com/office/drawing/2014/main" id="{0B474994-154C-4532-8176-88D0B24C6891}"/>
              </a:ext>
            </a:extLst>
          </p:cNvPr>
          <p:cNvSpPr>
            <a:spLocks noGrp="1" noChangeArrowheads="1"/>
          </p:cNvSpPr>
          <p:nvPr>
            <p:ph type="body" idx="1"/>
          </p:nvPr>
        </p:nvSpPr>
        <p:spPr/>
        <p:txBody>
          <a:bodyPr>
            <a:normAutofit fontScale="77500" lnSpcReduction="20000"/>
          </a:bodyPr>
          <a:lstStyle/>
          <a:p>
            <a:pPr>
              <a:lnSpc>
                <a:spcPct val="80000"/>
              </a:lnSpc>
              <a:buFontTx/>
              <a:buNone/>
            </a:pPr>
            <a:r>
              <a:rPr lang="en-US" altLang="zh-CN" sz="1667" dirty="0">
                <a:latin typeface="Courier" pitchFamily="2" charset="0"/>
                <a:ea typeface="宋体" panose="02010600030101010101" pitchFamily="2" charset="-122"/>
              </a:rPr>
              <a:t>long area (struct </a:t>
            </a:r>
            <a:r>
              <a:rPr lang="en-US" altLang="zh-CN" sz="1667" dirty="0" err="1">
                <a:latin typeface="Courier" pitchFamily="2" charset="0"/>
                <a:ea typeface="宋体" panose="02010600030101010101" pitchFamily="2" charset="-122"/>
              </a:rPr>
              <a:t>rect</a:t>
            </a:r>
            <a:r>
              <a:rPr lang="en-US" altLang="zh-CN" sz="1667" dirty="0">
                <a:latin typeface="Courier" pitchFamily="2" charset="0"/>
                <a:ea typeface="宋体" panose="02010600030101010101" pitchFamily="2" charset="-122"/>
              </a:rPr>
              <a:t>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a:t>
            </a:r>
          </a:p>
          <a:p>
            <a:pPr>
              <a:lnSpc>
                <a:spcPct val="80000"/>
              </a:lnSpc>
              <a:buFontTx/>
              <a:buNone/>
            </a:pPr>
            <a:r>
              <a:rPr lang="en-US" altLang="zh-CN" sz="1667" dirty="0">
                <a:latin typeface="Courier" pitchFamily="2" charset="0"/>
                <a:ea typeface="宋体" panose="02010600030101010101" pitchFamily="2" charset="-122"/>
              </a:rPr>
              <a:t>{</a:t>
            </a:r>
          </a:p>
          <a:p>
            <a:pPr>
              <a:lnSpc>
                <a:spcPct val="80000"/>
              </a:lnSpc>
              <a:buFontTx/>
              <a:buNone/>
            </a:pPr>
            <a:r>
              <a:rPr lang="en-US" altLang="zh-CN" sz="1667" dirty="0">
                <a:latin typeface="Courier" pitchFamily="2" charset="0"/>
                <a:ea typeface="宋体" panose="02010600030101010101" pitchFamily="2" charset="-122"/>
              </a:rPr>
              <a:t>	return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).width *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).height;</a:t>
            </a:r>
          </a:p>
          <a:p>
            <a:pPr>
              <a:lnSpc>
                <a:spcPct val="80000"/>
              </a:lnSpc>
              <a:buFontTx/>
              <a:buNone/>
            </a:pPr>
            <a:r>
              <a:rPr lang="en-US" altLang="zh-CN" sz="1667" dirty="0">
                <a:latin typeface="Courier" pitchFamily="2" charset="0"/>
                <a:ea typeface="宋体" panose="02010600030101010101" pitchFamily="2" charset="-122"/>
              </a:rPr>
              <a:t>}</a:t>
            </a:r>
          </a:p>
          <a:p>
            <a:pPr>
              <a:lnSpc>
                <a:spcPct val="80000"/>
              </a:lnSpc>
              <a:buFontTx/>
              <a:buNone/>
            </a:pPr>
            <a:endParaRPr lang="en-US" altLang="zh-CN" sz="1667" dirty="0">
              <a:latin typeface="Courier" pitchFamily="2" charset="0"/>
              <a:ea typeface="宋体" panose="02010600030101010101" pitchFamily="2" charset="-122"/>
            </a:endParaRPr>
          </a:p>
          <a:p>
            <a:pPr>
              <a:lnSpc>
                <a:spcPct val="80000"/>
              </a:lnSpc>
              <a:buFontTx/>
              <a:buNone/>
            </a:pPr>
            <a:r>
              <a:rPr lang="en-US" altLang="zh-CN" sz="1667" dirty="0">
                <a:latin typeface="Courier" pitchFamily="2" charset="0"/>
                <a:ea typeface="宋体" panose="02010600030101010101" pitchFamily="2" charset="-122"/>
              </a:rPr>
              <a:t>void </a:t>
            </a:r>
            <a:r>
              <a:rPr lang="en-US" altLang="zh-CN" sz="1667" dirty="0" err="1">
                <a:latin typeface="Courier" pitchFamily="2" charset="0"/>
                <a:ea typeface="宋体" panose="02010600030101010101" pitchFamily="2" charset="-122"/>
              </a:rPr>
              <a:t>rotate_left</a:t>
            </a:r>
            <a:r>
              <a:rPr lang="en-US" altLang="zh-CN" sz="1667" dirty="0">
                <a:latin typeface="Courier" pitchFamily="2" charset="0"/>
                <a:ea typeface="宋体" panose="02010600030101010101" pitchFamily="2" charset="-122"/>
              </a:rPr>
              <a:t> (struct </a:t>
            </a:r>
            <a:r>
              <a:rPr lang="en-US" altLang="zh-CN" sz="1667" dirty="0" err="1">
                <a:latin typeface="Courier" pitchFamily="2" charset="0"/>
                <a:ea typeface="宋体" panose="02010600030101010101" pitchFamily="2" charset="-122"/>
              </a:rPr>
              <a:t>rect</a:t>
            </a:r>
            <a:r>
              <a:rPr lang="en-US" altLang="zh-CN" sz="1667" dirty="0">
                <a:latin typeface="Courier" pitchFamily="2" charset="0"/>
                <a:ea typeface="宋体" panose="02010600030101010101" pitchFamily="2" charset="-122"/>
              </a:rPr>
              <a:t>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a:t>
            </a:r>
          </a:p>
          <a:p>
            <a:pPr>
              <a:lnSpc>
                <a:spcPct val="80000"/>
              </a:lnSpc>
              <a:buFontTx/>
              <a:buNone/>
            </a:pPr>
            <a:r>
              <a:rPr lang="en-US" altLang="zh-CN" sz="1667" dirty="0">
                <a:latin typeface="Courier" pitchFamily="2" charset="0"/>
                <a:ea typeface="宋体" panose="02010600030101010101" pitchFamily="2" charset="-122"/>
              </a:rPr>
              <a:t>{</a:t>
            </a:r>
          </a:p>
          <a:p>
            <a:pPr>
              <a:lnSpc>
                <a:spcPct val="80000"/>
              </a:lnSpc>
              <a:buFontTx/>
              <a:buNone/>
            </a:pPr>
            <a:r>
              <a:rPr lang="en-US" altLang="zh-CN" sz="1667" dirty="0">
                <a:solidFill>
                  <a:srgbClr val="0432FF"/>
                </a:solidFill>
                <a:latin typeface="Courier" pitchFamily="2" charset="0"/>
                <a:ea typeface="宋体" panose="02010600030101010101" pitchFamily="2" charset="-122"/>
              </a:rPr>
              <a:t>	</a:t>
            </a:r>
            <a:r>
              <a:rPr lang="en-US" altLang="zh-CN" sz="1667" dirty="0">
                <a:solidFill>
                  <a:srgbClr val="006FC0"/>
                </a:solidFill>
                <a:latin typeface="Courier" pitchFamily="2" charset="0"/>
                <a:ea typeface="宋体" panose="02010600030101010101" pitchFamily="2" charset="-122"/>
              </a:rPr>
              <a:t>/* </a:t>
            </a:r>
            <a:r>
              <a:rPr lang="zh-CN" altLang="en-US" sz="1667" dirty="0">
                <a:solidFill>
                  <a:srgbClr val="006FC0"/>
                </a:solidFill>
                <a:latin typeface="+mj-ea"/>
                <a:ea typeface="+mj-ea"/>
              </a:rPr>
              <a:t>交换宽度和高度 </a:t>
            </a:r>
            <a:r>
              <a:rPr lang="en-US" altLang="zh-CN" sz="1667" dirty="0">
                <a:solidFill>
                  <a:srgbClr val="006FC0"/>
                </a:solidFill>
                <a:latin typeface="Courier" pitchFamily="2" charset="0"/>
                <a:ea typeface="宋体" panose="02010600030101010101" pitchFamily="2" charset="-122"/>
              </a:rPr>
              <a:t>*/</a:t>
            </a:r>
          </a:p>
          <a:p>
            <a:pPr>
              <a:lnSpc>
                <a:spcPct val="80000"/>
              </a:lnSpc>
              <a:buFontTx/>
              <a:buNone/>
            </a:pPr>
            <a:r>
              <a:rPr lang="en-US" altLang="zh-CN" sz="1667" dirty="0">
                <a:solidFill>
                  <a:srgbClr val="006FC0"/>
                </a:solidFill>
                <a:latin typeface="Courier" pitchFamily="2" charset="0"/>
                <a:ea typeface="宋体" panose="02010600030101010101" pitchFamily="2" charset="-122"/>
              </a:rPr>
              <a:t>	</a:t>
            </a:r>
            <a:r>
              <a:rPr lang="en-US" altLang="zh-CN" sz="1667" dirty="0">
                <a:latin typeface="Courier" pitchFamily="2" charset="0"/>
                <a:ea typeface="宋体" panose="02010600030101010101" pitchFamily="2" charset="-122"/>
              </a:rPr>
              <a:t>long t =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-&gt;height;</a:t>
            </a:r>
          </a:p>
          <a:p>
            <a:pPr>
              <a:lnSpc>
                <a:spcPct val="80000"/>
              </a:lnSpc>
              <a:buFontTx/>
              <a:buNone/>
            </a:pPr>
            <a:r>
              <a:rPr lang="en-US" altLang="zh-CN" sz="1667" dirty="0">
                <a:latin typeface="Courier" pitchFamily="2" charset="0"/>
                <a:ea typeface="宋体" panose="02010600030101010101" pitchFamily="2" charset="-122"/>
              </a:rPr>
              <a:t>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-&gt;height =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-&gt;width;</a:t>
            </a:r>
          </a:p>
          <a:p>
            <a:pPr>
              <a:lnSpc>
                <a:spcPct val="80000"/>
              </a:lnSpc>
              <a:buFontTx/>
              <a:buNone/>
            </a:pPr>
            <a:r>
              <a:rPr lang="en-US" altLang="zh-CN" sz="1667" dirty="0">
                <a:latin typeface="Courier" pitchFamily="2" charset="0"/>
                <a:ea typeface="宋体" panose="02010600030101010101" pitchFamily="2" charset="-122"/>
              </a:rPr>
              <a:t>	</a:t>
            </a:r>
            <a:r>
              <a:rPr lang="en-US" altLang="zh-CN" sz="1667" dirty="0" err="1">
                <a:latin typeface="Courier" pitchFamily="2" charset="0"/>
                <a:ea typeface="宋体" panose="02010600030101010101" pitchFamily="2" charset="-122"/>
              </a:rPr>
              <a:t>rp</a:t>
            </a:r>
            <a:r>
              <a:rPr lang="en-US" altLang="zh-CN" sz="1667" dirty="0">
                <a:latin typeface="Courier" pitchFamily="2" charset="0"/>
                <a:ea typeface="宋体" panose="02010600030101010101" pitchFamily="2" charset="-122"/>
              </a:rPr>
              <a:t>-&gt;width = t;</a:t>
            </a:r>
          </a:p>
          <a:p>
            <a:pPr>
              <a:lnSpc>
                <a:spcPct val="80000"/>
              </a:lnSpc>
              <a:buFontTx/>
              <a:buNone/>
            </a:pPr>
            <a:r>
              <a:rPr lang="en-US" altLang="zh-CN" sz="1667" dirty="0">
                <a:solidFill>
                  <a:srgbClr val="0432FF"/>
                </a:solidFill>
                <a:latin typeface="Courier" pitchFamily="2" charset="0"/>
                <a:ea typeface="宋体" panose="02010600030101010101" pitchFamily="2" charset="-122"/>
              </a:rPr>
              <a:t>	</a:t>
            </a:r>
            <a:r>
              <a:rPr lang="en-US" altLang="zh-CN" sz="1667" dirty="0">
                <a:solidFill>
                  <a:srgbClr val="006FC0"/>
                </a:solidFill>
                <a:latin typeface="Courier" pitchFamily="2" charset="0"/>
                <a:ea typeface="宋体" panose="02010600030101010101" pitchFamily="2" charset="-122"/>
              </a:rPr>
              <a:t>/* </a:t>
            </a:r>
            <a:r>
              <a:rPr lang="zh-CN" altLang="en-US" sz="1667" dirty="0">
                <a:solidFill>
                  <a:srgbClr val="006FC0"/>
                </a:solidFill>
                <a:latin typeface="+mj-ea"/>
                <a:ea typeface="+mj-ea"/>
              </a:rPr>
              <a:t>更新左下角的坐标 </a:t>
            </a:r>
            <a:r>
              <a:rPr lang="en-US" altLang="zh-CN" sz="1667" dirty="0">
                <a:solidFill>
                  <a:srgbClr val="006FC0"/>
                </a:solidFill>
                <a:latin typeface="Courier" pitchFamily="2" charset="0"/>
                <a:ea typeface="宋体" panose="02010600030101010101" pitchFamily="2" charset="-122"/>
              </a:rPr>
              <a:t>*/</a:t>
            </a:r>
          </a:p>
          <a:p>
            <a:pPr>
              <a:lnSpc>
                <a:spcPct val="80000"/>
              </a:lnSpc>
              <a:buFontTx/>
              <a:buNone/>
            </a:pPr>
            <a:r>
              <a:rPr lang="en-US" altLang="zh-CN" sz="1667" dirty="0">
                <a:solidFill>
                  <a:srgbClr val="006FC0"/>
                </a:solidFill>
                <a:latin typeface="Courier" pitchFamily="2" charset="0"/>
                <a:ea typeface="宋体" panose="02010600030101010101" pitchFamily="2" charset="-122"/>
              </a:rPr>
              <a:t>	</a:t>
            </a:r>
            <a:r>
              <a:rPr lang="en-US" altLang="zh-CN" sz="1667" dirty="0" err="1">
                <a:latin typeface="Courier" pitchFamily="2" charset="0"/>
                <a:ea typeface="宋体" panose="02010600030101010101" pitchFamily="2" charset="-122"/>
              </a:rPr>
              <a:t>rp-llx</a:t>
            </a:r>
            <a:r>
              <a:rPr lang="en-US" altLang="zh-CN" sz="1667" dirty="0">
                <a:latin typeface="Courier" pitchFamily="2" charset="0"/>
                <a:ea typeface="宋体" panose="02010600030101010101" pitchFamily="2" charset="-122"/>
              </a:rPr>
              <a:t> -= t;</a:t>
            </a:r>
          </a:p>
          <a:p>
            <a:pPr>
              <a:lnSpc>
                <a:spcPct val="80000"/>
              </a:lnSpc>
              <a:buFontTx/>
              <a:buNone/>
            </a:pPr>
            <a:r>
              <a:rPr lang="en-US" altLang="zh-CN" sz="1667" dirty="0">
                <a:latin typeface="Courier" pitchFamily="2" charset="0"/>
                <a:ea typeface="宋体" panose="02010600030101010101" pitchFamily="2" charset="-122"/>
              </a:rPr>
              <a:t>}</a:t>
            </a:r>
            <a:endParaRPr lang="en-US" altLang="zh-CN" sz="1667" dirty="0">
              <a:ea typeface="宋体" panose="02010600030101010101" pitchFamily="2" charset="-122"/>
            </a:endParaRPr>
          </a:p>
        </p:txBody>
      </p:sp>
    </p:spTree>
    <p:extLst>
      <p:ext uri="{BB962C8B-B14F-4D97-AF65-F5344CB8AC3E}">
        <p14:creationId xmlns:p14="http://schemas.microsoft.com/office/powerpoint/2010/main" val="3112761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a:extLst>
              <a:ext uri="{FF2B5EF4-FFF2-40B4-BE49-F238E27FC236}">
                <a16:creationId xmlns:a16="http://schemas.microsoft.com/office/drawing/2014/main" id="{0A454196-A5F8-4289-BD88-894A1270E613}"/>
              </a:ext>
            </a:extLst>
          </p:cNvPr>
          <p:cNvSpPr>
            <a:spLocks noGrp="1" noChangeArrowheads="1"/>
          </p:cNvSpPr>
          <p:nvPr>
            <p:ph type="title"/>
          </p:nvPr>
        </p:nvSpPr>
        <p:spPr/>
        <p:txBody>
          <a:bodyPr/>
          <a:lstStyle/>
          <a:p>
            <a:r>
              <a:rPr lang="zh-CN" altLang="en-US" dirty="0"/>
              <a:t>结构体（</a:t>
            </a:r>
            <a:r>
              <a:rPr lang="en-US" altLang="zh-CN" dirty="0"/>
              <a:t>struct</a:t>
            </a:r>
            <a:r>
              <a:rPr lang="zh-CN" altLang="en-US" dirty="0"/>
              <a:t>）</a:t>
            </a:r>
            <a:endParaRPr lang="en-US" altLang="zh-CN" dirty="0">
              <a:ea typeface="宋体" panose="02010600030101010101" pitchFamily="2" charset="-122"/>
            </a:endParaRPr>
          </a:p>
        </p:txBody>
      </p:sp>
      <p:sp>
        <p:nvSpPr>
          <p:cNvPr id="98308" name="Rectangle 3">
            <a:extLst>
              <a:ext uri="{FF2B5EF4-FFF2-40B4-BE49-F238E27FC236}">
                <a16:creationId xmlns:a16="http://schemas.microsoft.com/office/drawing/2014/main" id="{DF719EB7-3E24-456B-A501-5DBAD323D1B0}"/>
              </a:ext>
            </a:extLst>
          </p:cNvPr>
          <p:cNvSpPr>
            <a:spLocks noGrp="1" noChangeArrowheads="1"/>
          </p:cNvSpPr>
          <p:nvPr>
            <p:ph idx="1"/>
          </p:nvPr>
        </p:nvSpPr>
        <p:spPr/>
        <p:txBody>
          <a:bodyPr/>
          <a:lstStyle/>
          <a:p>
            <a:r>
              <a:rPr lang="zh-CN" altLang="en-US" dirty="0"/>
              <a:t>结构体在内存中的布局</a:t>
            </a:r>
            <a:endParaRPr lang="en-US" altLang="zh-CN" dirty="0">
              <a:ea typeface="宋体" panose="02010600030101010101" pitchFamily="2" charset="-122"/>
            </a:endParaRPr>
          </a:p>
          <a:p>
            <a:pPr lvl="1"/>
            <a:r>
              <a:rPr lang="zh-CN" altLang="en-US" dirty="0"/>
              <a:t>结构体的所有成员被储存在</a:t>
            </a:r>
            <a:r>
              <a:rPr lang="zh-CN" altLang="en-US" b="1" dirty="0">
                <a:solidFill>
                  <a:srgbClr val="C00000"/>
                </a:solidFill>
              </a:rPr>
              <a:t>连续的</a:t>
            </a:r>
            <a:r>
              <a:rPr lang="zh-CN" altLang="en-US" dirty="0"/>
              <a:t>内存区域</a:t>
            </a:r>
            <a:endParaRPr lang="en-US" altLang="zh-CN" dirty="0"/>
          </a:p>
          <a:p>
            <a:pPr lvl="1"/>
            <a:r>
              <a:rPr lang="zh-CN" altLang="en-US" dirty="0"/>
              <a:t>结构体的指针是该区域</a:t>
            </a:r>
            <a:r>
              <a:rPr lang="zh-CN" altLang="en-US" b="1" dirty="0">
                <a:solidFill>
                  <a:srgbClr val="C00000"/>
                </a:solidFill>
              </a:rPr>
              <a:t>第一个字节</a:t>
            </a:r>
            <a:r>
              <a:rPr lang="zh-CN" altLang="en-US" dirty="0"/>
              <a:t>的地址</a:t>
            </a:r>
            <a:endParaRPr lang="en-US" altLang="zh-CN" dirty="0">
              <a:ea typeface="宋体" panose="02010600030101010101" pitchFamily="2" charset="-122"/>
            </a:endParaRPr>
          </a:p>
        </p:txBody>
      </p:sp>
      <p:sp>
        <p:nvSpPr>
          <p:cNvPr id="98306" name="灯片编号占位符 5">
            <a:extLst>
              <a:ext uri="{FF2B5EF4-FFF2-40B4-BE49-F238E27FC236}">
                <a16:creationId xmlns:a16="http://schemas.microsoft.com/office/drawing/2014/main" id="{294483AE-E1A3-402D-B1BB-5FB7BB3DCD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F28ECADB-5D11-49ED-BAD7-BE72623822EC}" type="slidenum">
              <a:rPr lang="zh-CN" altLang="en-US" sz="1167">
                <a:latin typeface="Times New Roman" panose="02020603050405020304" pitchFamily="18" charset="0"/>
              </a:rPr>
              <a:pPr>
                <a:spcBef>
                  <a:spcPct val="0"/>
                </a:spcBef>
                <a:buFontTx/>
                <a:buNone/>
              </a:pPr>
              <a:t>22</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2850333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a:extLst>
              <a:ext uri="{FF2B5EF4-FFF2-40B4-BE49-F238E27FC236}">
                <a16:creationId xmlns:a16="http://schemas.microsoft.com/office/drawing/2014/main" id="{04F1E116-AD85-40BA-9935-7DD01CFE9934}"/>
              </a:ext>
            </a:extLst>
          </p:cNvPr>
          <p:cNvSpPr>
            <a:spLocks noGrp="1" noChangeArrowheads="1"/>
          </p:cNvSpPr>
          <p:nvPr>
            <p:ph type="title"/>
          </p:nvPr>
        </p:nvSpPr>
        <p:spPr/>
        <p:txBody>
          <a:bodyPr/>
          <a:lstStyle/>
          <a:p>
            <a:r>
              <a:rPr lang="zh-CN" altLang="en-US" dirty="0"/>
              <a:t>结构体（</a:t>
            </a:r>
            <a:r>
              <a:rPr lang="en-US" altLang="zh-CN" dirty="0"/>
              <a:t>struct</a:t>
            </a:r>
            <a:r>
              <a:rPr lang="zh-CN" altLang="en-US" dirty="0"/>
              <a:t>）</a:t>
            </a:r>
            <a:endParaRPr lang="en-US" altLang="zh-CN" dirty="0">
              <a:ea typeface="方正舒体" panose="02010601030101010101" pitchFamily="2" charset="-122"/>
            </a:endParaRPr>
          </a:p>
        </p:txBody>
      </p:sp>
      <p:sp>
        <p:nvSpPr>
          <p:cNvPr id="100356" name="Rectangle 3">
            <a:extLst>
              <a:ext uri="{FF2B5EF4-FFF2-40B4-BE49-F238E27FC236}">
                <a16:creationId xmlns:a16="http://schemas.microsoft.com/office/drawing/2014/main" id="{FA0C424E-7687-4D33-BBD6-7EC12D2B648E}"/>
              </a:ext>
            </a:extLst>
          </p:cNvPr>
          <p:cNvSpPr>
            <a:spLocks noGrp="1" noChangeArrowheads="1"/>
          </p:cNvSpPr>
          <p:nvPr>
            <p:ph idx="1"/>
          </p:nvPr>
        </p:nvSpPr>
        <p:spPr/>
        <p:txBody>
          <a:bodyPr>
            <a:normAutofit/>
          </a:bodyPr>
          <a:lstStyle/>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struct rec {</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int i;</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int j;</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int a[2];</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int *p;</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*r;</a:t>
            </a:r>
          </a:p>
        </p:txBody>
      </p:sp>
      <p:sp>
        <p:nvSpPr>
          <p:cNvPr id="100354" name="灯片编号占位符 6">
            <a:extLst>
              <a:ext uri="{FF2B5EF4-FFF2-40B4-BE49-F238E27FC236}">
                <a16:creationId xmlns:a16="http://schemas.microsoft.com/office/drawing/2014/main" id="{24855070-5FF1-436B-BB15-691AEB9DB0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8403C88B-31C7-4E9A-B1B8-3B359FCE53AF}" type="slidenum">
              <a:rPr lang="zh-CN" altLang="en-US" sz="1167">
                <a:latin typeface="Times New Roman" panose="02020603050405020304" pitchFamily="18" charset="0"/>
              </a:rPr>
              <a:pPr>
                <a:spcBef>
                  <a:spcPct val="0"/>
                </a:spcBef>
                <a:buFontTx/>
                <a:buNone/>
              </a:pPr>
              <a:t>23</a:t>
            </a:fld>
            <a:endParaRPr lang="en-US" altLang="zh-CN" sz="1167">
              <a:latin typeface="Times New Roman" panose="02020603050405020304" pitchFamily="18" charset="0"/>
            </a:endParaRPr>
          </a:p>
        </p:txBody>
      </p:sp>
      <p:sp>
        <p:nvSpPr>
          <p:cNvPr id="100357" name="Rectangle 6">
            <a:extLst>
              <a:ext uri="{FF2B5EF4-FFF2-40B4-BE49-F238E27FC236}">
                <a16:creationId xmlns:a16="http://schemas.microsoft.com/office/drawing/2014/main" id="{3CB4442E-D601-4995-82EC-2ADD964DCB57}"/>
              </a:ext>
            </a:extLst>
          </p:cNvPr>
          <p:cNvSpPr>
            <a:spLocks noChangeArrowheads="1"/>
          </p:cNvSpPr>
          <p:nvPr/>
        </p:nvSpPr>
        <p:spPr bwMode="auto">
          <a:xfrm>
            <a:off x="2667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i</a:t>
            </a:r>
          </a:p>
        </p:txBody>
      </p:sp>
      <p:sp>
        <p:nvSpPr>
          <p:cNvPr id="100358" name="Rectangle 7">
            <a:extLst>
              <a:ext uri="{FF2B5EF4-FFF2-40B4-BE49-F238E27FC236}">
                <a16:creationId xmlns:a16="http://schemas.microsoft.com/office/drawing/2014/main" id="{AE483077-A5F5-46CC-B616-36D88FEF2EB4}"/>
              </a:ext>
            </a:extLst>
          </p:cNvPr>
          <p:cNvSpPr>
            <a:spLocks noChangeArrowheads="1"/>
          </p:cNvSpPr>
          <p:nvPr/>
        </p:nvSpPr>
        <p:spPr bwMode="auto">
          <a:xfrm>
            <a:off x="3429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j</a:t>
            </a:r>
          </a:p>
        </p:txBody>
      </p:sp>
      <p:sp>
        <p:nvSpPr>
          <p:cNvPr id="100359" name="Rectangle 8">
            <a:extLst>
              <a:ext uri="{FF2B5EF4-FFF2-40B4-BE49-F238E27FC236}">
                <a16:creationId xmlns:a16="http://schemas.microsoft.com/office/drawing/2014/main" id="{63280AE1-5C03-40D6-A8FE-83A81EDDC487}"/>
              </a:ext>
            </a:extLst>
          </p:cNvPr>
          <p:cNvSpPr>
            <a:spLocks noChangeArrowheads="1"/>
          </p:cNvSpPr>
          <p:nvPr/>
        </p:nvSpPr>
        <p:spPr bwMode="auto">
          <a:xfrm>
            <a:off x="4191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a[0]</a:t>
            </a:r>
          </a:p>
        </p:txBody>
      </p:sp>
      <p:sp>
        <p:nvSpPr>
          <p:cNvPr id="100360" name="Rectangle 9">
            <a:extLst>
              <a:ext uri="{FF2B5EF4-FFF2-40B4-BE49-F238E27FC236}">
                <a16:creationId xmlns:a16="http://schemas.microsoft.com/office/drawing/2014/main" id="{B42B1B7F-386E-4634-9FF9-D7CAA422524A}"/>
              </a:ext>
            </a:extLst>
          </p:cNvPr>
          <p:cNvSpPr>
            <a:spLocks noChangeArrowheads="1"/>
          </p:cNvSpPr>
          <p:nvPr/>
        </p:nvSpPr>
        <p:spPr bwMode="auto">
          <a:xfrm>
            <a:off x="4953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a[1]</a:t>
            </a:r>
          </a:p>
        </p:txBody>
      </p:sp>
      <p:sp>
        <p:nvSpPr>
          <p:cNvPr id="100361" name="Rectangle 11">
            <a:extLst>
              <a:ext uri="{FF2B5EF4-FFF2-40B4-BE49-F238E27FC236}">
                <a16:creationId xmlns:a16="http://schemas.microsoft.com/office/drawing/2014/main" id="{2FBB77D2-5258-4750-A7BC-5FD30275D001}"/>
              </a:ext>
            </a:extLst>
          </p:cNvPr>
          <p:cNvSpPr>
            <a:spLocks noChangeArrowheads="1"/>
          </p:cNvSpPr>
          <p:nvPr/>
        </p:nvSpPr>
        <p:spPr bwMode="auto">
          <a:xfrm>
            <a:off x="5715000" y="4508500"/>
            <a:ext cx="1524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p</a:t>
            </a:r>
          </a:p>
        </p:txBody>
      </p:sp>
      <p:sp>
        <p:nvSpPr>
          <p:cNvPr id="100362" name="TextBox 12">
            <a:extLst>
              <a:ext uri="{FF2B5EF4-FFF2-40B4-BE49-F238E27FC236}">
                <a16:creationId xmlns:a16="http://schemas.microsoft.com/office/drawing/2014/main" id="{3FF25C52-C777-4155-ABE8-243CD57D2DA4}"/>
              </a:ext>
            </a:extLst>
          </p:cNvPr>
          <p:cNvSpPr txBox="1">
            <a:spLocks noChangeArrowheads="1"/>
          </p:cNvSpPr>
          <p:nvPr/>
        </p:nvSpPr>
        <p:spPr bwMode="auto">
          <a:xfrm>
            <a:off x="1333500" y="4504532"/>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内容</a:t>
            </a:r>
            <a:endParaRPr lang="en-US" altLang="zh-CN" sz="1400" dirty="0">
              <a:solidFill>
                <a:srgbClr val="000000"/>
              </a:solidFill>
              <a:latin typeface="Consolas" panose="020B0609020204030204" pitchFamily="49" charset="0"/>
              <a:cs typeface="Consolas" panose="020B0609020204030204" pitchFamily="49" charset="0"/>
            </a:endParaRPr>
          </a:p>
        </p:txBody>
      </p:sp>
      <p:sp>
        <p:nvSpPr>
          <p:cNvPr id="100363" name="TextBox 13">
            <a:extLst>
              <a:ext uri="{FF2B5EF4-FFF2-40B4-BE49-F238E27FC236}">
                <a16:creationId xmlns:a16="http://schemas.microsoft.com/office/drawing/2014/main" id="{528FC1D5-2FB3-4FC3-8298-39DDD0E93181}"/>
              </a:ext>
            </a:extLst>
          </p:cNvPr>
          <p:cNvSpPr txBox="1">
            <a:spLocks noChangeArrowheads="1"/>
          </p:cNvSpPr>
          <p:nvPr/>
        </p:nvSpPr>
        <p:spPr bwMode="auto">
          <a:xfrm>
            <a:off x="1333500" y="4064000"/>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偏移量</a:t>
            </a:r>
            <a:endParaRPr lang="en-US" altLang="zh-CN" sz="1400" dirty="0">
              <a:solidFill>
                <a:srgbClr val="000000"/>
              </a:solidFill>
              <a:latin typeface="Consolas" panose="020B0609020204030204" pitchFamily="49" charset="0"/>
              <a:cs typeface="Consolas" panose="020B0609020204030204" pitchFamily="49" charset="0"/>
            </a:endParaRPr>
          </a:p>
        </p:txBody>
      </p:sp>
      <p:sp>
        <p:nvSpPr>
          <p:cNvPr id="100364" name="TextBox 14">
            <a:extLst>
              <a:ext uri="{FF2B5EF4-FFF2-40B4-BE49-F238E27FC236}">
                <a16:creationId xmlns:a16="http://schemas.microsoft.com/office/drawing/2014/main" id="{917A4F0F-DA51-4C7D-B7A2-82E7F1F2D72E}"/>
              </a:ext>
            </a:extLst>
          </p:cNvPr>
          <p:cNvSpPr txBox="1">
            <a:spLocks noChangeArrowheads="1"/>
          </p:cNvSpPr>
          <p:nvPr/>
        </p:nvSpPr>
        <p:spPr bwMode="auto">
          <a:xfrm>
            <a:off x="2540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0</a:t>
            </a:r>
          </a:p>
        </p:txBody>
      </p:sp>
      <p:sp>
        <p:nvSpPr>
          <p:cNvPr id="100365" name="TextBox 15">
            <a:extLst>
              <a:ext uri="{FF2B5EF4-FFF2-40B4-BE49-F238E27FC236}">
                <a16:creationId xmlns:a16="http://schemas.microsoft.com/office/drawing/2014/main" id="{6885F6EC-3C3E-4174-9B6B-18EA614F99C4}"/>
              </a:ext>
            </a:extLst>
          </p:cNvPr>
          <p:cNvSpPr txBox="1">
            <a:spLocks noChangeArrowheads="1"/>
          </p:cNvSpPr>
          <p:nvPr/>
        </p:nvSpPr>
        <p:spPr bwMode="auto">
          <a:xfrm>
            <a:off x="3302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4</a:t>
            </a:r>
          </a:p>
        </p:txBody>
      </p:sp>
      <p:sp>
        <p:nvSpPr>
          <p:cNvPr id="100366" name="TextBox 16">
            <a:extLst>
              <a:ext uri="{FF2B5EF4-FFF2-40B4-BE49-F238E27FC236}">
                <a16:creationId xmlns:a16="http://schemas.microsoft.com/office/drawing/2014/main" id="{60373152-0B60-4554-BD93-BA2A1AD16D43}"/>
              </a:ext>
            </a:extLst>
          </p:cNvPr>
          <p:cNvSpPr txBox="1">
            <a:spLocks noChangeArrowheads="1"/>
          </p:cNvSpPr>
          <p:nvPr/>
        </p:nvSpPr>
        <p:spPr bwMode="auto">
          <a:xfrm>
            <a:off x="4064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8</a:t>
            </a:r>
          </a:p>
        </p:txBody>
      </p:sp>
      <p:sp>
        <p:nvSpPr>
          <p:cNvPr id="100367" name="TextBox 17">
            <a:extLst>
              <a:ext uri="{FF2B5EF4-FFF2-40B4-BE49-F238E27FC236}">
                <a16:creationId xmlns:a16="http://schemas.microsoft.com/office/drawing/2014/main" id="{CDB88028-8A20-4A4E-845D-E70DB8013C08}"/>
              </a:ext>
            </a:extLst>
          </p:cNvPr>
          <p:cNvSpPr txBox="1">
            <a:spLocks noChangeArrowheads="1"/>
          </p:cNvSpPr>
          <p:nvPr/>
        </p:nvSpPr>
        <p:spPr bwMode="auto">
          <a:xfrm>
            <a:off x="55245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16</a:t>
            </a:r>
          </a:p>
        </p:txBody>
      </p:sp>
      <p:sp>
        <p:nvSpPr>
          <p:cNvPr id="100368" name="TextBox 17">
            <a:extLst>
              <a:ext uri="{FF2B5EF4-FFF2-40B4-BE49-F238E27FC236}">
                <a16:creationId xmlns:a16="http://schemas.microsoft.com/office/drawing/2014/main" id="{90C5E893-55B0-47C6-A5CD-48F3A2E87C59}"/>
              </a:ext>
            </a:extLst>
          </p:cNvPr>
          <p:cNvSpPr txBox="1">
            <a:spLocks noChangeArrowheads="1"/>
          </p:cNvSpPr>
          <p:nvPr/>
        </p:nvSpPr>
        <p:spPr bwMode="auto">
          <a:xfrm>
            <a:off x="70485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24</a:t>
            </a:r>
          </a:p>
        </p:txBody>
      </p:sp>
    </p:spTree>
    <p:extLst>
      <p:ext uri="{BB962C8B-B14F-4D97-AF65-F5344CB8AC3E}">
        <p14:creationId xmlns:p14="http://schemas.microsoft.com/office/powerpoint/2010/main" val="311269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a:extLst>
              <a:ext uri="{FF2B5EF4-FFF2-40B4-BE49-F238E27FC236}">
                <a16:creationId xmlns:a16="http://schemas.microsoft.com/office/drawing/2014/main" id="{D37E3B01-538A-4458-A90E-303E57783DF5}"/>
              </a:ext>
            </a:extLst>
          </p:cNvPr>
          <p:cNvSpPr>
            <a:spLocks noGrp="1" noChangeArrowheads="1"/>
          </p:cNvSpPr>
          <p:nvPr>
            <p:ph type="title"/>
          </p:nvPr>
        </p:nvSpPr>
        <p:spPr/>
        <p:txBody>
          <a:bodyPr/>
          <a:lstStyle/>
          <a:p>
            <a:r>
              <a:rPr lang="zh-CN" altLang="en-US" dirty="0"/>
              <a:t>结构体（</a:t>
            </a:r>
            <a:r>
              <a:rPr lang="en-US" altLang="zh-CN" dirty="0"/>
              <a:t>struct</a:t>
            </a:r>
            <a:r>
              <a:rPr lang="zh-CN" altLang="en-US" dirty="0"/>
              <a:t>）</a:t>
            </a:r>
            <a:endParaRPr lang="en-US" altLang="zh-CN" dirty="0">
              <a:ea typeface="方正舒体" panose="02010601030101010101" pitchFamily="2" charset="-122"/>
            </a:endParaRPr>
          </a:p>
        </p:txBody>
      </p:sp>
      <p:sp>
        <p:nvSpPr>
          <p:cNvPr id="102404" name="Rectangle 3">
            <a:extLst>
              <a:ext uri="{FF2B5EF4-FFF2-40B4-BE49-F238E27FC236}">
                <a16:creationId xmlns:a16="http://schemas.microsoft.com/office/drawing/2014/main" id="{34EF293E-9581-4DCF-B777-17FF11DB5ACD}"/>
              </a:ext>
            </a:extLst>
          </p:cNvPr>
          <p:cNvSpPr>
            <a:spLocks noGrp="1" noChangeArrowheads="1"/>
          </p:cNvSpPr>
          <p:nvPr>
            <p:ph idx="1"/>
          </p:nvPr>
        </p:nvSpPr>
        <p:spPr/>
        <p:txBody>
          <a:bodyPr>
            <a:normAutofit/>
          </a:bodyPr>
          <a:lstStyle/>
          <a:p>
            <a:pPr>
              <a:lnSpc>
                <a:spcPct val="90000"/>
              </a:lnSpc>
            </a:pPr>
            <a:r>
              <a:rPr lang="zh-CN" altLang="en-US" dirty="0"/>
              <a:t>对结构体成员的引用被翻译为偏移量</a:t>
            </a:r>
            <a:endParaRPr lang="en-US" altLang="zh-CN" dirty="0">
              <a:solidFill>
                <a:srgbClr val="000000"/>
              </a:solidFill>
              <a:ea typeface="宋体" panose="02010600030101010101" pitchFamily="2" charset="-122"/>
            </a:endParaRPr>
          </a:p>
          <a:p>
            <a:pPr>
              <a:lnSpc>
                <a:spcPct val="90000"/>
              </a:lnSpc>
              <a:buFontTx/>
              <a:buNone/>
            </a:pPr>
            <a:endParaRPr lang="en-US" altLang="zh-CN" sz="1667" dirty="0">
              <a:solidFill>
                <a:srgbClr val="000000"/>
              </a:solidFill>
              <a:latin typeface="Consolas" panose="020B0609020204030204" pitchFamily="49" charset="0"/>
              <a:ea typeface="宋体" panose="02010600030101010101" pitchFamily="2" charset="-122"/>
              <a:cs typeface="Consolas" panose="020B0609020204030204" pitchFamily="49" charset="0"/>
            </a:endParaRPr>
          </a:p>
          <a:p>
            <a:pPr>
              <a:lnSpc>
                <a:spcPct val="90000"/>
              </a:lnSpc>
              <a:buFontTx/>
              <a:buNone/>
            </a:pPr>
            <a:r>
              <a:rPr lang="en-US" altLang="zh-CN" sz="1667" dirty="0">
                <a:solidFill>
                  <a:srgbClr val="000000"/>
                </a:solidFill>
                <a:latin typeface="Consolas" panose="020B0609020204030204" pitchFamily="49" charset="0"/>
                <a:ea typeface="宋体" panose="02010600030101010101" pitchFamily="2" charset="-122"/>
                <a:cs typeface="Consolas" panose="020B0609020204030204" pitchFamily="49" charset="0"/>
              </a:rPr>
              <a:t>r-&gt;j = r-&gt;</a:t>
            </a:r>
            <a:r>
              <a:rPr lang="en-US" altLang="zh-CN" sz="1667" dirty="0" err="1">
                <a:solidFill>
                  <a:srgbClr val="000000"/>
                </a:solidFill>
                <a:latin typeface="Consolas" panose="020B0609020204030204" pitchFamily="49" charset="0"/>
                <a:ea typeface="宋体" panose="02010600030101010101" pitchFamily="2" charset="-122"/>
                <a:cs typeface="Consolas" panose="020B0609020204030204" pitchFamily="49" charset="0"/>
              </a:rPr>
              <a:t>i</a:t>
            </a:r>
            <a:r>
              <a:rPr lang="en-US" altLang="zh-CN" sz="1667" dirty="0">
                <a:solidFill>
                  <a:srgbClr val="000000"/>
                </a:solidFill>
                <a:latin typeface="Consolas" panose="020B0609020204030204" pitchFamily="49" charset="0"/>
                <a:ea typeface="宋体" panose="02010600030101010101" pitchFamily="2" charset="-122"/>
                <a:cs typeface="Consolas" panose="020B0609020204030204" pitchFamily="49" charset="0"/>
              </a:rPr>
              <a:t>  </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 </a:t>
            </a:r>
            <a:r>
              <a:rPr lang="zh-CN" altLang="en-US" sz="1667" dirty="0">
                <a:solidFill>
                  <a:srgbClr val="006FC0"/>
                </a:solidFill>
                <a:latin typeface="+mj-ea"/>
                <a:ea typeface="+mj-ea"/>
                <a:cs typeface="Consolas" panose="020B0609020204030204" pitchFamily="49" charset="0"/>
              </a:rPr>
              <a:t>将成员</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r-&gt;</a:t>
            </a:r>
            <a:r>
              <a:rPr lang="en-US" altLang="zh-CN" sz="1667" dirty="0" err="1">
                <a:solidFill>
                  <a:srgbClr val="006FC0"/>
                </a:solidFill>
                <a:latin typeface="Consolas" panose="020B0609020204030204" pitchFamily="49" charset="0"/>
                <a:ea typeface="宋体" panose="02010600030101010101" pitchFamily="2" charset="-122"/>
                <a:cs typeface="Consolas" panose="020B0609020204030204" pitchFamily="49" charset="0"/>
              </a:rPr>
              <a:t>i</a:t>
            </a:r>
            <a:r>
              <a:rPr lang="zh-CN" altLang="en-US" sz="1667" dirty="0">
                <a:solidFill>
                  <a:srgbClr val="006FC0"/>
                </a:solidFill>
                <a:latin typeface="+mj-ea"/>
                <a:ea typeface="+mj-ea"/>
              </a:rPr>
              <a:t>的值赋给成员</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r-&gt;j</a:t>
            </a:r>
            <a:endParaRPr lang="en-US" altLang="zh-CN" sz="1667" dirty="0">
              <a:solidFill>
                <a:srgbClr val="000000"/>
              </a:solidFill>
              <a:latin typeface="Consolas" panose="020B0609020204030204" pitchFamily="49" charset="0"/>
              <a:ea typeface="宋体" panose="02010600030101010101" pitchFamily="2" charset="-122"/>
              <a:cs typeface="Consolas" panose="020B0609020204030204" pitchFamily="49" charset="0"/>
            </a:endParaRPr>
          </a:p>
          <a:p>
            <a:pPr>
              <a:lnSpc>
                <a:spcPct val="90000"/>
              </a:lnSpc>
              <a:buFontTx/>
              <a:buNone/>
            </a:pP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 r</a:t>
            </a:r>
            <a:r>
              <a:rPr lang="zh-CN" altLang="en-US" sz="1667" dirty="0">
                <a:solidFill>
                  <a:srgbClr val="006FC0"/>
                </a:solidFill>
                <a:latin typeface="+mj-ea"/>
                <a:ea typeface="+mj-ea"/>
              </a:rPr>
              <a:t>的地址存储在</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x0 </a:t>
            </a:r>
          </a:p>
          <a:p>
            <a:pPr>
              <a:buFontTx/>
              <a:buNone/>
            </a:pPr>
            <a:r>
              <a:rPr lang="en-US" altLang="zh-CN" sz="1667" dirty="0" err="1">
                <a:latin typeface="Consolas" panose="020B0609020204030204" pitchFamily="49" charset="0"/>
                <a:ea typeface="宋体" panose="02010600030101010101" pitchFamily="2" charset="-122"/>
                <a:cs typeface="Consolas" panose="020B0609020204030204" pitchFamily="49" charset="0"/>
              </a:rPr>
              <a:t>ldr</a:t>
            </a:r>
            <a:r>
              <a:rPr lang="en-US" altLang="zh-CN" sz="1667" dirty="0">
                <a:latin typeface="Consolas" panose="020B0609020204030204" pitchFamily="49" charset="0"/>
                <a:ea typeface="宋体" panose="02010600030101010101" pitchFamily="2" charset="-122"/>
                <a:cs typeface="Consolas" panose="020B0609020204030204" pitchFamily="49" charset="0"/>
              </a:rPr>
              <a:t> 	x1, [x0] 		</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 </a:t>
            </a:r>
            <a:r>
              <a:rPr lang="zh-CN" altLang="en-US" sz="1667" dirty="0">
                <a:solidFill>
                  <a:srgbClr val="006FC0"/>
                </a:solidFill>
                <a:latin typeface="+mj-ea"/>
                <a:ea typeface="+mj-ea"/>
                <a:cs typeface="Consolas" panose="020B0609020204030204" pitchFamily="49" charset="0"/>
              </a:rPr>
              <a:t>获取</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r-&gt;</a:t>
            </a:r>
            <a:r>
              <a:rPr lang="en-US" altLang="zh-CN" sz="1667" dirty="0" err="1">
                <a:solidFill>
                  <a:srgbClr val="006FC0"/>
                </a:solidFill>
                <a:latin typeface="Consolas" panose="020B0609020204030204" pitchFamily="49" charset="0"/>
                <a:ea typeface="宋体" panose="02010600030101010101" pitchFamily="2" charset="-122"/>
                <a:cs typeface="Consolas" panose="020B0609020204030204" pitchFamily="49" charset="0"/>
              </a:rPr>
              <a:t>i</a:t>
            </a:r>
            <a:r>
              <a:rPr lang="zh-CN" altLang="en-US" sz="1667" dirty="0">
                <a:solidFill>
                  <a:srgbClr val="006FC0"/>
                </a:solidFill>
                <a:latin typeface="+mj-ea"/>
                <a:ea typeface="+mj-ea"/>
              </a:rPr>
              <a:t>的值</a:t>
            </a:r>
            <a:endPar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endParaRPr>
          </a:p>
          <a:p>
            <a:pPr>
              <a:buFontTx/>
              <a:buNone/>
            </a:pPr>
            <a:r>
              <a:rPr lang="en-US" altLang="zh-CN" sz="1667" dirty="0">
                <a:latin typeface="Consolas" panose="020B0609020204030204" pitchFamily="49" charset="0"/>
                <a:ea typeface="宋体" panose="02010600030101010101" pitchFamily="2" charset="-122"/>
                <a:cs typeface="Consolas" panose="020B0609020204030204" pitchFamily="49" charset="0"/>
              </a:rPr>
              <a:t>str 	x1, [x0, #4]  		</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 </a:t>
            </a:r>
            <a:r>
              <a:rPr lang="zh-CN" altLang="en-US" sz="1667" dirty="0">
                <a:solidFill>
                  <a:srgbClr val="006FC0"/>
                </a:solidFill>
                <a:latin typeface="+mj-ea"/>
                <a:ea typeface="+mj-ea"/>
              </a:rPr>
              <a:t>储存到</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r-&gt;j</a:t>
            </a:r>
            <a:endParaRPr lang="zh-CN" altLang="en-US" sz="1667" dirty="0">
              <a:solidFill>
                <a:srgbClr val="006FC0"/>
              </a:solidFill>
              <a:latin typeface="Consolas" panose="020B0609020204030204" pitchFamily="49" charset="0"/>
              <a:ea typeface="宋体" panose="02010600030101010101" pitchFamily="2" charset="-122"/>
              <a:cs typeface="Consolas" panose="020B0609020204030204" pitchFamily="49" charset="0"/>
            </a:endParaRPr>
          </a:p>
          <a:p>
            <a:pPr>
              <a:lnSpc>
                <a:spcPct val="90000"/>
              </a:lnSpc>
              <a:buFontTx/>
              <a:buNone/>
            </a:pPr>
            <a:endParaRPr lang="en-US" altLang="zh-CN" sz="1667" dirty="0">
              <a:solidFill>
                <a:srgbClr val="000000"/>
              </a:solidFill>
              <a:latin typeface="Consolas" panose="020B0609020204030204" pitchFamily="49" charset="0"/>
              <a:ea typeface="宋体" panose="02010600030101010101" pitchFamily="2" charset="-122"/>
              <a:cs typeface="Consolas" panose="020B0609020204030204" pitchFamily="49" charset="0"/>
            </a:endParaRPr>
          </a:p>
          <a:p>
            <a:pPr>
              <a:lnSpc>
                <a:spcPct val="90000"/>
              </a:lnSpc>
              <a:buFontTx/>
              <a:buNone/>
            </a:pPr>
            <a:endParaRPr lang="en-US" altLang="zh-CN" dirty="0">
              <a:solidFill>
                <a:srgbClr val="000000"/>
              </a:solidFill>
              <a:ea typeface="宋体" panose="02010600030101010101" pitchFamily="2" charset="-122"/>
            </a:endParaRPr>
          </a:p>
        </p:txBody>
      </p:sp>
      <p:sp>
        <p:nvSpPr>
          <p:cNvPr id="102402" name="灯片编号占位符 6">
            <a:extLst>
              <a:ext uri="{FF2B5EF4-FFF2-40B4-BE49-F238E27FC236}">
                <a16:creationId xmlns:a16="http://schemas.microsoft.com/office/drawing/2014/main" id="{0A8B20AC-9E46-4008-849B-3400B0C4FC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6229FBCF-31C5-4424-94C7-445621C8CF3A}" type="slidenum">
              <a:rPr lang="zh-CN" altLang="en-US" sz="1167">
                <a:latin typeface="Times New Roman" panose="02020603050405020304" pitchFamily="18" charset="0"/>
              </a:rPr>
              <a:pPr>
                <a:spcBef>
                  <a:spcPct val="0"/>
                </a:spcBef>
                <a:buFontTx/>
                <a:buNone/>
              </a:pPr>
              <a:t>24</a:t>
            </a:fld>
            <a:endParaRPr lang="en-US" altLang="zh-CN" sz="1167">
              <a:latin typeface="Times New Roman" panose="02020603050405020304" pitchFamily="18" charset="0"/>
            </a:endParaRPr>
          </a:p>
        </p:txBody>
      </p:sp>
      <p:sp>
        <p:nvSpPr>
          <p:cNvPr id="102405" name="Rectangle 6">
            <a:extLst>
              <a:ext uri="{FF2B5EF4-FFF2-40B4-BE49-F238E27FC236}">
                <a16:creationId xmlns:a16="http://schemas.microsoft.com/office/drawing/2014/main" id="{F17F51E1-850E-413B-8453-5F37A65D83D9}"/>
              </a:ext>
            </a:extLst>
          </p:cNvPr>
          <p:cNvSpPr>
            <a:spLocks noChangeArrowheads="1"/>
          </p:cNvSpPr>
          <p:nvPr/>
        </p:nvSpPr>
        <p:spPr bwMode="auto">
          <a:xfrm>
            <a:off x="2667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i</a:t>
            </a:r>
          </a:p>
        </p:txBody>
      </p:sp>
      <p:sp>
        <p:nvSpPr>
          <p:cNvPr id="102406" name="Rectangle 7">
            <a:extLst>
              <a:ext uri="{FF2B5EF4-FFF2-40B4-BE49-F238E27FC236}">
                <a16:creationId xmlns:a16="http://schemas.microsoft.com/office/drawing/2014/main" id="{F70BF305-5DB5-4A9C-95F1-65B034068AEA}"/>
              </a:ext>
            </a:extLst>
          </p:cNvPr>
          <p:cNvSpPr>
            <a:spLocks noChangeArrowheads="1"/>
          </p:cNvSpPr>
          <p:nvPr/>
        </p:nvSpPr>
        <p:spPr bwMode="auto">
          <a:xfrm>
            <a:off x="3429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j</a:t>
            </a:r>
          </a:p>
        </p:txBody>
      </p:sp>
      <p:sp>
        <p:nvSpPr>
          <p:cNvPr id="102407" name="Rectangle 8">
            <a:extLst>
              <a:ext uri="{FF2B5EF4-FFF2-40B4-BE49-F238E27FC236}">
                <a16:creationId xmlns:a16="http://schemas.microsoft.com/office/drawing/2014/main" id="{76FEC8A3-FA5C-44D4-B02B-41067FC4CF94}"/>
              </a:ext>
            </a:extLst>
          </p:cNvPr>
          <p:cNvSpPr>
            <a:spLocks noChangeArrowheads="1"/>
          </p:cNvSpPr>
          <p:nvPr/>
        </p:nvSpPr>
        <p:spPr bwMode="auto">
          <a:xfrm>
            <a:off x="4191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a[0]</a:t>
            </a:r>
          </a:p>
        </p:txBody>
      </p:sp>
      <p:sp>
        <p:nvSpPr>
          <p:cNvPr id="102408" name="Rectangle 9">
            <a:extLst>
              <a:ext uri="{FF2B5EF4-FFF2-40B4-BE49-F238E27FC236}">
                <a16:creationId xmlns:a16="http://schemas.microsoft.com/office/drawing/2014/main" id="{F4D90AD5-FDBA-4826-86DD-C6E207D37863}"/>
              </a:ext>
            </a:extLst>
          </p:cNvPr>
          <p:cNvSpPr>
            <a:spLocks noChangeArrowheads="1"/>
          </p:cNvSpPr>
          <p:nvPr/>
        </p:nvSpPr>
        <p:spPr bwMode="auto">
          <a:xfrm>
            <a:off x="4953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a[1]</a:t>
            </a:r>
          </a:p>
        </p:txBody>
      </p:sp>
      <p:sp>
        <p:nvSpPr>
          <p:cNvPr id="102409" name="Rectangle 11">
            <a:extLst>
              <a:ext uri="{FF2B5EF4-FFF2-40B4-BE49-F238E27FC236}">
                <a16:creationId xmlns:a16="http://schemas.microsoft.com/office/drawing/2014/main" id="{FC2D2637-0734-4494-8C51-716F169EFBFD}"/>
              </a:ext>
            </a:extLst>
          </p:cNvPr>
          <p:cNvSpPr>
            <a:spLocks noChangeArrowheads="1"/>
          </p:cNvSpPr>
          <p:nvPr/>
        </p:nvSpPr>
        <p:spPr bwMode="auto">
          <a:xfrm>
            <a:off x="5715000" y="4508500"/>
            <a:ext cx="1524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p</a:t>
            </a:r>
          </a:p>
        </p:txBody>
      </p:sp>
      <p:sp>
        <p:nvSpPr>
          <p:cNvPr id="102412" name="TextBox 14">
            <a:extLst>
              <a:ext uri="{FF2B5EF4-FFF2-40B4-BE49-F238E27FC236}">
                <a16:creationId xmlns:a16="http://schemas.microsoft.com/office/drawing/2014/main" id="{90053BF1-3C1D-4D49-9709-91796D5841AC}"/>
              </a:ext>
            </a:extLst>
          </p:cNvPr>
          <p:cNvSpPr txBox="1">
            <a:spLocks noChangeArrowheads="1"/>
          </p:cNvSpPr>
          <p:nvPr/>
        </p:nvSpPr>
        <p:spPr bwMode="auto">
          <a:xfrm>
            <a:off x="2540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0</a:t>
            </a:r>
          </a:p>
        </p:txBody>
      </p:sp>
      <p:sp>
        <p:nvSpPr>
          <p:cNvPr id="102413" name="TextBox 15">
            <a:extLst>
              <a:ext uri="{FF2B5EF4-FFF2-40B4-BE49-F238E27FC236}">
                <a16:creationId xmlns:a16="http://schemas.microsoft.com/office/drawing/2014/main" id="{9137439E-6F64-4EE9-8836-6CD0EE250433}"/>
              </a:ext>
            </a:extLst>
          </p:cNvPr>
          <p:cNvSpPr txBox="1">
            <a:spLocks noChangeArrowheads="1"/>
          </p:cNvSpPr>
          <p:nvPr/>
        </p:nvSpPr>
        <p:spPr bwMode="auto">
          <a:xfrm>
            <a:off x="3302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4</a:t>
            </a:r>
          </a:p>
        </p:txBody>
      </p:sp>
      <p:sp>
        <p:nvSpPr>
          <p:cNvPr id="102414" name="TextBox 16">
            <a:extLst>
              <a:ext uri="{FF2B5EF4-FFF2-40B4-BE49-F238E27FC236}">
                <a16:creationId xmlns:a16="http://schemas.microsoft.com/office/drawing/2014/main" id="{44EECDB6-7A3A-4F77-B205-DEED0ACD2489}"/>
              </a:ext>
            </a:extLst>
          </p:cNvPr>
          <p:cNvSpPr txBox="1">
            <a:spLocks noChangeArrowheads="1"/>
          </p:cNvSpPr>
          <p:nvPr/>
        </p:nvSpPr>
        <p:spPr bwMode="auto">
          <a:xfrm>
            <a:off x="4064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8</a:t>
            </a:r>
          </a:p>
        </p:txBody>
      </p:sp>
      <p:sp>
        <p:nvSpPr>
          <p:cNvPr id="102415" name="TextBox 17">
            <a:extLst>
              <a:ext uri="{FF2B5EF4-FFF2-40B4-BE49-F238E27FC236}">
                <a16:creationId xmlns:a16="http://schemas.microsoft.com/office/drawing/2014/main" id="{355A8772-D7FF-4DF5-833B-B5D42E1B93FE}"/>
              </a:ext>
            </a:extLst>
          </p:cNvPr>
          <p:cNvSpPr txBox="1">
            <a:spLocks noChangeArrowheads="1"/>
          </p:cNvSpPr>
          <p:nvPr/>
        </p:nvSpPr>
        <p:spPr bwMode="auto">
          <a:xfrm>
            <a:off x="55245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16</a:t>
            </a:r>
          </a:p>
        </p:txBody>
      </p:sp>
      <p:sp>
        <p:nvSpPr>
          <p:cNvPr id="102416" name="TextBox 17">
            <a:extLst>
              <a:ext uri="{FF2B5EF4-FFF2-40B4-BE49-F238E27FC236}">
                <a16:creationId xmlns:a16="http://schemas.microsoft.com/office/drawing/2014/main" id="{91FA615C-676A-4456-BF96-C3530D66F631}"/>
              </a:ext>
            </a:extLst>
          </p:cNvPr>
          <p:cNvSpPr txBox="1">
            <a:spLocks noChangeArrowheads="1"/>
          </p:cNvSpPr>
          <p:nvPr/>
        </p:nvSpPr>
        <p:spPr bwMode="auto">
          <a:xfrm>
            <a:off x="70485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24</a:t>
            </a:r>
          </a:p>
        </p:txBody>
      </p:sp>
      <p:sp>
        <p:nvSpPr>
          <p:cNvPr id="17" name="TextBox 12">
            <a:extLst>
              <a:ext uri="{FF2B5EF4-FFF2-40B4-BE49-F238E27FC236}">
                <a16:creationId xmlns:a16="http://schemas.microsoft.com/office/drawing/2014/main" id="{BC89EC9A-6249-4C27-95FE-6AB81F8B4E80}"/>
              </a:ext>
            </a:extLst>
          </p:cNvPr>
          <p:cNvSpPr txBox="1">
            <a:spLocks noChangeArrowheads="1"/>
          </p:cNvSpPr>
          <p:nvPr/>
        </p:nvSpPr>
        <p:spPr bwMode="auto">
          <a:xfrm>
            <a:off x="1333500" y="4504532"/>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内容</a:t>
            </a:r>
            <a:endParaRPr lang="en-US" altLang="zh-CN" sz="1400" dirty="0">
              <a:solidFill>
                <a:srgbClr val="000000"/>
              </a:solidFill>
              <a:latin typeface="Consolas" panose="020B0609020204030204" pitchFamily="49" charset="0"/>
              <a:cs typeface="Consolas" panose="020B0609020204030204" pitchFamily="49" charset="0"/>
            </a:endParaRPr>
          </a:p>
        </p:txBody>
      </p:sp>
      <p:sp>
        <p:nvSpPr>
          <p:cNvPr id="18" name="TextBox 13">
            <a:extLst>
              <a:ext uri="{FF2B5EF4-FFF2-40B4-BE49-F238E27FC236}">
                <a16:creationId xmlns:a16="http://schemas.microsoft.com/office/drawing/2014/main" id="{7CC237C0-9D3D-4F2E-8BE8-BE30A0187143}"/>
              </a:ext>
            </a:extLst>
          </p:cNvPr>
          <p:cNvSpPr txBox="1">
            <a:spLocks noChangeArrowheads="1"/>
          </p:cNvSpPr>
          <p:nvPr/>
        </p:nvSpPr>
        <p:spPr bwMode="auto">
          <a:xfrm>
            <a:off x="1333500" y="4064000"/>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偏移量</a:t>
            </a:r>
            <a:endParaRPr lang="en-US" altLang="zh-CN" sz="1400" dirty="0">
              <a:solidFill>
                <a:srgbClr val="0000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66242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a:extLst>
              <a:ext uri="{FF2B5EF4-FFF2-40B4-BE49-F238E27FC236}">
                <a16:creationId xmlns:a16="http://schemas.microsoft.com/office/drawing/2014/main" id="{77DE4D7E-1527-4B57-9669-9498CD9C6921}"/>
              </a:ext>
            </a:extLst>
          </p:cNvPr>
          <p:cNvSpPr>
            <a:spLocks noGrp="1" noChangeArrowheads="1"/>
          </p:cNvSpPr>
          <p:nvPr>
            <p:ph type="title"/>
          </p:nvPr>
        </p:nvSpPr>
        <p:spPr/>
        <p:txBody>
          <a:bodyPr/>
          <a:lstStyle/>
          <a:p>
            <a:r>
              <a:rPr lang="zh-CN" altLang="en-US" dirty="0"/>
              <a:t>结构体（</a:t>
            </a:r>
            <a:r>
              <a:rPr lang="en-US" altLang="zh-CN" dirty="0"/>
              <a:t>struct</a:t>
            </a:r>
            <a:r>
              <a:rPr lang="zh-CN" altLang="en-US" dirty="0"/>
              <a:t>）</a:t>
            </a:r>
            <a:endParaRPr lang="en-US" altLang="zh-CN" dirty="0">
              <a:ea typeface="方正舒体" panose="02010601030101010101" pitchFamily="2" charset="-122"/>
            </a:endParaRPr>
          </a:p>
        </p:txBody>
      </p:sp>
      <p:sp>
        <p:nvSpPr>
          <p:cNvPr id="104452" name="Rectangle 3">
            <a:extLst>
              <a:ext uri="{FF2B5EF4-FFF2-40B4-BE49-F238E27FC236}">
                <a16:creationId xmlns:a16="http://schemas.microsoft.com/office/drawing/2014/main" id="{ABAF2922-4C11-44E3-8C44-5879B8B2D0FA}"/>
              </a:ext>
            </a:extLst>
          </p:cNvPr>
          <p:cNvSpPr>
            <a:spLocks noGrp="1" noChangeArrowheads="1"/>
          </p:cNvSpPr>
          <p:nvPr>
            <p:ph idx="1"/>
          </p:nvPr>
        </p:nvSpPr>
        <p:spPr/>
        <p:txBody>
          <a:bodyPr>
            <a:normAutofit/>
          </a:bodyPr>
          <a:lstStyle/>
          <a:p>
            <a:pPr>
              <a:buFontTx/>
              <a:buNone/>
            </a:pPr>
            <a:r>
              <a:rPr lang="en-US" altLang="zh-CN" sz="1667" dirty="0">
                <a:latin typeface="Consolas" panose="020B0609020204030204" pitchFamily="49" charset="0"/>
                <a:ea typeface="宋体" panose="02010600030101010101" pitchFamily="2" charset="-122"/>
                <a:cs typeface="Consolas" panose="020B0609020204030204" pitchFamily="49" charset="0"/>
              </a:rPr>
              <a:t>&amp;(r-&gt;a[</a:t>
            </a:r>
            <a:r>
              <a:rPr lang="en-US" altLang="zh-CN" sz="1667" dirty="0" err="1">
                <a:latin typeface="Consolas" panose="020B0609020204030204" pitchFamily="49" charset="0"/>
                <a:ea typeface="宋体" panose="02010600030101010101" pitchFamily="2" charset="-122"/>
                <a:cs typeface="Consolas" panose="020B0609020204030204" pitchFamily="49" charset="0"/>
              </a:rPr>
              <a:t>i</a:t>
            </a:r>
            <a:r>
              <a:rPr lang="en-US" altLang="zh-CN" sz="1667" dirty="0">
                <a:latin typeface="Consolas" panose="020B0609020204030204" pitchFamily="49" charset="0"/>
                <a:ea typeface="宋体" panose="02010600030101010101" pitchFamily="2" charset="-122"/>
                <a:cs typeface="Consolas" panose="020B0609020204030204" pitchFamily="49" charset="0"/>
              </a:rPr>
              <a:t>])</a:t>
            </a:r>
            <a:endParaRPr lang="en-US" altLang="zh-CN" sz="1667" dirty="0">
              <a:solidFill>
                <a:srgbClr val="000000"/>
              </a:solidFill>
              <a:latin typeface="Consolas" panose="020B0609020204030204" pitchFamily="49" charset="0"/>
              <a:ea typeface="宋体" panose="02010600030101010101" pitchFamily="2" charset="-122"/>
              <a:cs typeface="Consolas" panose="020B0609020204030204" pitchFamily="49" charset="0"/>
            </a:endParaRPr>
          </a:p>
          <a:p>
            <a:pPr>
              <a:buFontTx/>
              <a:buNone/>
            </a:pPr>
            <a:endParaRPr lang="en-US" altLang="zh-CN" sz="1667" i="1" dirty="0">
              <a:solidFill>
                <a:srgbClr val="000000"/>
              </a:solidFill>
              <a:latin typeface="Consolas" panose="020B0609020204030204" pitchFamily="49" charset="0"/>
              <a:ea typeface="宋体" panose="02010600030101010101" pitchFamily="2" charset="-122"/>
              <a:cs typeface="Consolas" panose="020B0609020204030204" pitchFamily="49" charset="0"/>
            </a:endParaRPr>
          </a:p>
          <a:p>
            <a:pPr>
              <a:buFontTx/>
              <a:buNone/>
            </a:pP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 r</a:t>
            </a:r>
            <a:r>
              <a:rPr lang="zh-CN" altLang="en-US" sz="1667" dirty="0">
                <a:solidFill>
                  <a:srgbClr val="006FC0"/>
                </a:solidFill>
                <a:latin typeface="+mj-ea"/>
                <a:ea typeface="+mj-ea"/>
              </a:rPr>
              <a:t>的地址存储在</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x0, </a:t>
            </a:r>
            <a:r>
              <a:rPr lang="en-US" altLang="zh-CN" sz="1667" dirty="0" err="1">
                <a:solidFill>
                  <a:srgbClr val="006FC0"/>
                </a:solidFill>
                <a:latin typeface="Consolas" panose="020B0609020204030204" pitchFamily="49" charset="0"/>
                <a:ea typeface="宋体" panose="02010600030101010101" pitchFamily="2" charset="-122"/>
                <a:cs typeface="Consolas" panose="020B0609020204030204" pitchFamily="49" charset="0"/>
              </a:rPr>
              <a:t>i</a:t>
            </a:r>
            <a:r>
              <a:rPr lang="zh-CN" altLang="en-US" sz="1667" dirty="0">
                <a:solidFill>
                  <a:srgbClr val="006FC0"/>
                </a:solidFill>
                <a:latin typeface="+mj-ea"/>
                <a:ea typeface="+mj-ea"/>
              </a:rPr>
              <a:t>存储在</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x1</a:t>
            </a:r>
          </a:p>
          <a:p>
            <a:pPr>
              <a:buFontTx/>
              <a:buNone/>
            </a:pPr>
            <a:r>
              <a:rPr lang="en-US" altLang="zh-CN" sz="1667" dirty="0">
                <a:latin typeface="Consolas" panose="020B0609020204030204" pitchFamily="49" charset="0"/>
                <a:ea typeface="宋体" panose="02010600030101010101" pitchFamily="2" charset="-122"/>
                <a:cs typeface="Consolas" panose="020B0609020204030204" pitchFamily="49" charset="0"/>
              </a:rPr>
              <a:t>mov    x2, [x0, x1, </a:t>
            </a:r>
            <a:r>
              <a:rPr lang="en-US" altLang="zh-CN" sz="1667" dirty="0" err="1">
                <a:latin typeface="Consolas" panose="020B0609020204030204" pitchFamily="49" charset="0"/>
                <a:ea typeface="宋体" panose="02010600030101010101" pitchFamily="2" charset="-122"/>
                <a:cs typeface="Consolas" panose="020B0609020204030204" pitchFamily="49" charset="0"/>
              </a:rPr>
              <a:t>lsl</a:t>
            </a:r>
            <a:r>
              <a:rPr lang="en-US" altLang="zh-CN" sz="1667" dirty="0">
                <a:latin typeface="Consolas" panose="020B0609020204030204" pitchFamily="49" charset="0"/>
                <a:ea typeface="宋体" panose="02010600030101010101" pitchFamily="2" charset="-122"/>
                <a:cs typeface="Consolas" panose="020B0609020204030204" pitchFamily="49" charset="0"/>
              </a:rPr>
              <a:t> 2] 	</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 &amp;r-&gt;a[</a:t>
            </a:r>
            <a:r>
              <a:rPr lang="en-US" altLang="zh-CN" sz="1667" dirty="0" err="1">
                <a:solidFill>
                  <a:srgbClr val="006FC0"/>
                </a:solidFill>
                <a:latin typeface="Consolas" panose="020B0609020204030204" pitchFamily="49" charset="0"/>
                <a:ea typeface="宋体" panose="02010600030101010101" pitchFamily="2" charset="-122"/>
                <a:cs typeface="Consolas" panose="020B0609020204030204" pitchFamily="49" charset="0"/>
              </a:rPr>
              <a:t>i</a:t>
            </a:r>
            <a:r>
              <a:rPr lang="en-US" altLang="zh-CN" sz="1667" dirty="0">
                <a:solidFill>
                  <a:srgbClr val="006FC0"/>
                </a:solidFill>
                <a:latin typeface="Consolas" panose="020B0609020204030204" pitchFamily="49" charset="0"/>
                <a:ea typeface="宋体" panose="02010600030101010101" pitchFamily="2" charset="-122"/>
                <a:cs typeface="Consolas" panose="020B0609020204030204" pitchFamily="49" charset="0"/>
              </a:rPr>
              <a:t>]</a:t>
            </a:r>
          </a:p>
          <a:p>
            <a:pPr>
              <a:buFontTx/>
              <a:buNone/>
            </a:pPr>
            <a:endParaRPr lang="en-US" altLang="zh-CN" sz="1667" dirty="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04450" name="灯片编号占位符 6">
            <a:extLst>
              <a:ext uri="{FF2B5EF4-FFF2-40B4-BE49-F238E27FC236}">
                <a16:creationId xmlns:a16="http://schemas.microsoft.com/office/drawing/2014/main" id="{EA6F7C0D-AC6D-4F60-844E-2D11BAEACA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3596EC3D-0CE0-4CBB-A46C-7B0EBF8EAAA0}" type="slidenum">
              <a:rPr lang="zh-CN" altLang="en-US" sz="1167">
                <a:latin typeface="Times New Roman" panose="02020603050405020304" pitchFamily="18" charset="0"/>
              </a:rPr>
              <a:pPr>
                <a:spcBef>
                  <a:spcPct val="0"/>
                </a:spcBef>
                <a:buFontTx/>
                <a:buNone/>
              </a:pPr>
              <a:t>25</a:t>
            </a:fld>
            <a:endParaRPr lang="en-US" altLang="zh-CN" sz="1167">
              <a:latin typeface="Times New Roman" panose="02020603050405020304" pitchFamily="18" charset="0"/>
            </a:endParaRPr>
          </a:p>
        </p:txBody>
      </p:sp>
      <p:sp>
        <p:nvSpPr>
          <p:cNvPr id="104453" name="Rectangle 6">
            <a:extLst>
              <a:ext uri="{FF2B5EF4-FFF2-40B4-BE49-F238E27FC236}">
                <a16:creationId xmlns:a16="http://schemas.microsoft.com/office/drawing/2014/main" id="{7A92A736-DEA4-4719-9FC8-C1EEC27D6846}"/>
              </a:ext>
            </a:extLst>
          </p:cNvPr>
          <p:cNvSpPr>
            <a:spLocks noChangeArrowheads="1"/>
          </p:cNvSpPr>
          <p:nvPr/>
        </p:nvSpPr>
        <p:spPr bwMode="auto">
          <a:xfrm>
            <a:off x="2667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i</a:t>
            </a:r>
          </a:p>
        </p:txBody>
      </p:sp>
      <p:sp>
        <p:nvSpPr>
          <p:cNvPr id="104454" name="Rectangle 7">
            <a:extLst>
              <a:ext uri="{FF2B5EF4-FFF2-40B4-BE49-F238E27FC236}">
                <a16:creationId xmlns:a16="http://schemas.microsoft.com/office/drawing/2014/main" id="{9620EEBB-CF4F-47B3-82B1-5BEB41AD7E33}"/>
              </a:ext>
            </a:extLst>
          </p:cNvPr>
          <p:cNvSpPr>
            <a:spLocks noChangeArrowheads="1"/>
          </p:cNvSpPr>
          <p:nvPr/>
        </p:nvSpPr>
        <p:spPr bwMode="auto">
          <a:xfrm>
            <a:off x="3429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j</a:t>
            </a:r>
          </a:p>
        </p:txBody>
      </p:sp>
      <p:sp>
        <p:nvSpPr>
          <p:cNvPr id="104455" name="Rectangle 8">
            <a:extLst>
              <a:ext uri="{FF2B5EF4-FFF2-40B4-BE49-F238E27FC236}">
                <a16:creationId xmlns:a16="http://schemas.microsoft.com/office/drawing/2014/main" id="{BCB91114-1D51-4057-A00E-BD005754F501}"/>
              </a:ext>
            </a:extLst>
          </p:cNvPr>
          <p:cNvSpPr>
            <a:spLocks noChangeArrowheads="1"/>
          </p:cNvSpPr>
          <p:nvPr/>
        </p:nvSpPr>
        <p:spPr bwMode="auto">
          <a:xfrm>
            <a:off x="4191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a[0]</a:t>
            </a:r>
          </a:p>
        </p:txBody>
      </p:sp>
      <p:sp>
        <p:nvSpPr>
          <p:cNvPr id="104456" name="Rectangle 9">
            <a:extLst>
              <a:ext uri="{FF2B5EF4-FFF2-40B4-BE49-F238E27FC236}">
                <a16:creationId xmlns:a16="http://schemas.microsoft.com/office/drawing/2014/main" id="{7191FEA6-BAE9-4BC1-A74B-F74D59C45CB8}"/>
              </a:ext>
            </a:extLst>
          </p:cNvPr>
          <p:cNvSpPr>
            <a:spLocks noChangeArrowheads="1"/>
          </p:cNvSpPr>
          <p:nvPr/>
        </p:nvSpPr>
        <p:spPr bwMode="auto">
          <a:xfrm>
            <a:off x="4953000" y="4508500"/>
            <a:ext cx="762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a[1]</a:t>
            </a:r>
          </a:p>
        </p:txBody>
      </p:sp>
      <p:sp>
        <p:nvSpPr>
          <p:cNvPr id="104457" name="Rectangle 11">
            <a:extLst>
              <a:ext uri="{FF2B5EF4-FFF2-40B4-BE49-F238E27FC236}">
                <a16:creationId xmlns:a16="http://schemas.microsoft.com/office/drawing/2014/main" id="{6B250132-2F61-45B1-A27A-34CDBFC625D2}"/>
              </a:ext>
            </a:extLst>
          </p:cNvPr>
          <p:cNvSpPr>
            <a:spLocks noChangeArrowheads="1"/>
          </p:cNvSpPr>
          <p:nvPr/>
        </p:nvSpPr>
        <p:spPr bwMode="auto">
          <a:xfrm>
            <a:off x="5715000" y="4508500"/>
            <a:ext cx="1524000" cy="381000"/>
          </a:xfrm>
          <a:prstGeom prst="rect">
            <a:avLst/>
          </a:pr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buFontTx/>
              <a:buNone/>
            </a:pPr>
            <a:r>
              <a:rPr lang="en-US" altLang="zh-CN" sz="1667">
                <a:solidFill>
                  <a:srgbClr val="000000"/>
                </a:solidFill>
                <a:latin typeface="Consolas" panose="020B0609020204030204" pitchFamily="49" charset="0"/>
                <a:cs typeface="Consolas" panose="020B0609020204030204" pitchFamily="49" charset="0"/>
              </a:rPr>
              <a:t>p</a:t>
            </a:r>
          </a:p>
        </p:txBody>
      </p:sp>
      <p:sp>
        <p:nvSpPr>
          <p:cNvPr id="104460" name="TextBox 14">
            <a:extLst>
              <a:ext uri="{FF2B5EF4-FFF2-40B4-BE49-F238E27FC236}">
                <a16:creationId xmlns:a16="http://schemas.microsoft.com/office/drawing/2014/main" id="{497D1CAE-EC09-4BDD-B73F-DA5AE6A202BF}"/>
              </a:ext>
            </a:extLst>
          </p:cNvPr>
          <p:cNvSpPr txBox="1">
            <a:spLocks noChangeArrowheads="1"/>
          </p:cNvSpPr>
          <p:nvPr/>
        </p:nvSpPr>
        <p:spPr bwMode="auto">
          <a:xfrm>
            <a:off x="2540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0</a:t>
            </a:r>
          </a:p>
        </p:txBody>
      </p:sp>
      <p:sp>
        <p:nvSpPr>
          <p:cNvPr id="104461" name="TextBox 15">
            <a:extLst>
              <a:ext uri="{FF2B5EF4-FFF2-40B4-BE49-F238E27FC236}">
                <a16:creationId xmlns:a16="http://schemas.microsoft.com/office/drawing/2014/main" id="{D614573E-1197-4FA9-957B-FC04978BE1AE}"/>
              </a:ext>
            </a:extLst>
          </p:cNvPr>
          <p:cNvSpPr txBox="1">
            <a:spLocks noChangeArrowheads="1"/>
          </p:cNvSpPr>
          <p:nvPr/>
        </p:nvSpPr>
        <p:spPr bwMode="auto">
          <a:xfrm>
            <a:off x="3302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4</a:t>
            </a:r>
          </a:p>
        </p:txBody>
      </p:sp>
      <p:sp>
        <p:nvSpPr>
          <p:cNvPr id="104462" name="TextBox 16">
            <a:extLst>
              <a:ext uri="{FF2B5EF4-FFF2-40B4-BE49-F238E27FC236}">
                <a16:creationId xmlns:a16="http://schemas.microsoft.com/office/drawing/2014/main" id="{3D1C7A2D-4A3F-4BBA-BFA5-FEE5E980547F}"/>
              </a:ext>
            </a:extLst>
          </p:cNvPr>
          <p:cNvSpPr txBox="1">
            <a:spLocks noChangeArrowheads="1"/>
          </p:cNvSpPr>
          <p:nvPr/>
        </p:nvSpPr>
        <p:spPr bwMode="auto">
          <a:xfrm>
            <a:off x="40640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8</a:t>
            </a:r>
          </a:p>
        </p:txBody>
      </p:sp>
      <p:sp>
        <p:nvSpPr>
          <p:cNvPr id="104463" name="TextBox 17">
            <a:extLst>
              <a:ext uri="{FF2B5EF4-FFF2-40B4-BE49-F238E27FC236}">
                <a16:creationId xmlns:a16="http://schemas.microsoft.com/office/drawing/2014/main" id="{756F3EFB-33A5-4AFA-BA05-476652D52B81}"/>
              </a:ext>
            </a:extLst>
          </p:cNvPr>
          <p:cNvSpPr txBox="1">
            <a:spLocks noChangeArrowheads="1"/>
          </p:cNvSpPr>
          <p:nvPr/>
        </p:nvSpPr>
        <p:spPr bwMode="auto">
          <a:xfrm>
            <a:off x="55245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16</a:t>
            </a:r>
          </a:p>
        </p:txBody>
      </p:sp>
      <p:sp>
        <p:nvSpPr>
          <p:cNvPr id="104464" name="TextBox 17">
            <a:extLst>
              <a:ext uri="{FF2B5EF4-FFF2-40B4-BE49-F238E27FC236}">
                <a16:creationId xmlns:a16="http://schemas.microsoft.com/office/drawing/2014/main" id="{36C77BCA-FE14-4796-9565-5BD3024AD9D3}"/>
              </a:ext>
            </a:extLst>
          </p:cNvPr>
          <p:cNvSpPr txBox="1">
            <a:spLocks noChangeArrowheads="1"/>
          </p:cNvSpPr>
          <p:nvPr/>
        </p:nvSpPr>
        <p:spPr bwMode="auto">
          <a:xfrm>
            <a:off x="7048500" y="4064000"/>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24</a:t>
            </a:r>
          </a:p>
        </p:txBody>
      </p:sp>
      <p:sp>
        <p:nvSpPr>
          <p:cNvPr id="17" name="TextBox 12">
            <a:extLst>
              <a:ext uri="{FF2B5EF4-FFF2-40B4-BE49-F238E27FC236}">
                <a16:creationId xmlns:a16="http://schemas.microsoft.com/office/drawing/2014/main" id="{85B7DE3C-2E4F-4359-9D0D-F9D190376AE3}"/>
              </a:ext>
            </a:extLst>
          </p:cNvPr>
          <p:cNvSpPr txBox="1">
            <a:spLocks noChangeArrowheads="1"/>
          </p:cNvSpPr>
          <p:nvPr/>
        </p:nvSpPr>
        <p:spPr bwMode="auto">
          <a:xfrm>
            <a:off x="1333500" y="4504532"/>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内容</a:t>
            </a:r>
            <a:endParaRPr lang="en-US" altLang="zh-CN" sz="1400" dirty="0">
              <a:solidFill>
                <a:srgbClr val="000000"/>
              </a:solidFill>
              <a:latin typeface="Consolas" panose="020B0609020204030204" pitchFamily="49" charset="0"/>
              <a:cs typeface="Consolas" panose="020B0609020204030204" pitchFamily="49" charset="0"/>
            </a:endParaRPr>
          </a:p>
        </p:txBody>
      </p:sp>
      <p:sp>
        <p:nvSpPr>
          <p:cNvPr id="18" name="TextBox 13">
            <a:extLst>
              <a:ext uri="{FF2B5EF4-FFF2-40B4-BE49-F238E27FC236}">
                <a16:creationId xmlns:a16="http://schemas.microsoft.com/office/drawing/2014/main" id="{C01D66EA-25AB-443C-856F-2785B246C55D}"/>
              </a:ext>
            </a:extLst>
          </p:cNvPr>
          <p:cNvSpPr txBox="1">
            <a:spLocks noChangeArrowheads="1"/>
          </p:cNvSpPr>
          <p:nvPr/>
        </p:nvSpPr>
        <p:spPr bwMode="auto">
          <a:xfrm>
            <a:off x="1333500" y="4064000"/>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偏移量</a:t>
            </a:r>
            <a:endParaRPr lang="en-US" altLang="zh-CN" sz="1400" dirty="0">
              <a:solidFill>
                <a:srgbClr val="0000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90982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a:extLst>
              <a:ext uri="{FF2B5EF4-FFF2-40B4-BE49-F238E27FC236}">
                <a16:creationId xmlns:a16="http://schemas.microsoft.com/office/drawing/2014/main" id="{845C0438-B820-40D4-AE0C-2711C2A28FA9}"/>
              </a:ext>
            </a:extLst>
          </p:cNvPr>
          <p:cNvSpPr>
            <a:spLocks noGrp="1" noChangeArrowheads="1"/>
          </p:cNvSpPr>
          <p:nvPr>
            <p:ph type="title"/>
          </p:nvPr>
        </p:nvSpPr>
        <p:spPr/>
        <p:txBody>
          <a:bodyPr/>
          <a:lstStyle/>
          <a:p>
            <a:r>
              <a:rPr lang="zh-CN" altLang="en-US" dirty="0"/>
              <a:t>联合（</a:t>
            </a:r>
            <a:r>
              <a:rPr lang="en-US" altLang="zh-CN" dirty="0"/>
              <a:t>union</a:t>
            </a:r>
            <a:r>
              <a:rPr lang="zh-CN" altLang="en-US" dirty="0"/>
              <a:t>）</a:t>
            </a:r>
            <a:endParaRPr lang="en-US" altLang="zh-CN" dirty="0">
              <a:ea typeface="宋体" panose="02010600030101010101" pitchFamily="2" charset="-122"/>
            </a:endParaRPr>
          </a:p>
        </p:txBody>
      </p:sp>
      <p:sp>
        <p:nvSpPr>
          <p:cNvPr id="106500" name="Rectangle 3">
            <a:extLst>
              <a:ext uri="{FF2B5EF4-FFF2-40B4-BE49-F238E27FC236}">
                <a16:creationId xmlns:a16="http://schemas.microsoft.com/office/drawing/2014/main" id="{375FA096-3100-4DBF-A885-3F21F85A5E4D}"/>
              </a:ext>
            </a:extLst>
          </p:cNvPr>
          <p:cNvSpPr>
            <a:spLocks noGrp="1" noChangeArrowheads="1"/>
          </p:cNvSpPr>
          <p:nvPr>
            <p:ph idx="1"/>
          </p:nvPr>
        </p:nvSpPr>
        <p:spPr/>
        <p:txBody>
          <a:bodyPr>
            <a:normAutofit/>
          </a:bodyPr>
          <a:lstStyle/>
          <a:p>
            <a:r>
              <a:rPr lang="zh-CN" altLang="en-US" dirty="0"/>
              <a:t>一个联合对象可以以</a:t>
            </a:r>
            <a:r>
              <a:rPr lang="zh-CN" altLang="en-US" dirty="0">
                <a:solidFill>
                  <a:srgbClr val="C00000"/>
                </a:solidFill>
              </a:rPr>
              <a:t>不同的数据类型</a:t>
            </a:r>
            <a:r>
              <a:rPr lang="zh-CN" altLang="en-US" dirty="0"/>
              <a:t>访问</a:t>
            </a:r>
            <a:endParaRPr lang="en-US" altLang="zh-CN" dirty="0">
              <a:ea typeface="宋体" panose="02010600030101010101" pitchFamily="2" charset="-122"/>
            </a:endParaRPr>
          </a:p>
          <a:p>
            <a:r>
              <a:rPr lang="zh-CN" altLang="en-US" dirty="0"/>
              <a:t>联合的声明语法与结构体类似，但语义有很大区别</a:t>
            </a:r>
            <a:endParaRPr lang="en-US" altLang="zh-CN" dirty="0">
              <a:ea typeface="宋体" panose="02010600030101010101" pitchFamily="2" charset="-122"/>
            </a:endParaRPr>
          </a:p>
          <a:p>
            <a:r>
              <a:rPr lang="zh-CN" altLang="en-US" dirty="0"/>
              <a:t>联合中所有成员的引用都指向</a:t>
            </a:r>
            <a:r>
              <a:rPr lang="zh-CN" altLang="en-US" dirty="0">
                <a:solidFill>
                  <a:srgbClr val="C00000"/>
                </a:solidFill>
              </a:rPr>
              <a:t>同一块</a:t>
            </a:r>
            <a:r>
              <a:rPr lang="zh-CN" altLang="en-US" dirty="0"/>
              <a:t>内存区域</a:t>
            </a:r>
            <a:endParaRPr lang="en-US" altLang="zh-CN" dirty="0">
              <a:ea typeface="宋体" panose="02010600030101010101" pitchFamily="2" charset="-122"/>
            </a:endParaRPr>
          </a:p>
        </p:txBody>
      </p:sp>
      <p:sp>
        <p:nvSpPr>
          <p:cNvPr id="106498" name="灯片编号占位符 5">
            <a:extLst>
              <a:ext uri="{FF2B5EF4-FFF2-40B4-BE49-F238E27FC236}">
                <a16:creationId xmlns:a16="http://schemas.microsoft.com/office/drawing/2014/main" id="{6EF24684-CBF2-41C2-BD91-EFE2383312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027EB59F-EBD4-42D0-B9F8-5124C8BA986D}" type="slidenum">
              <a:rPr lang="zh-CN" altLang="en-US" sz="1167">
                <a:latin typeface="Times New Roman" panose="02020603050405020304" pitchFamily="18" charset="0"/>
              </a:rPr>
              <a:pPr>
                <a:spcBef>
                  <a:spcPct val="0"/>
                </a:spcBef>
                <a:buFontTx/>
                <a:buNone/>
              </a:pPr>
              <a:t>26</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36197281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5">
            <a:extLst>
              <a:ext uri="{FF2B5EF4-FFF2-40B4-BE49-F238E27FC236}">
                <a16:creationId xmlns:a16="http://schemas.microsoft.com/office/drawing/2014/main" id="{FCB28019-41FF-4C2D-B766-0B0E52252B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13C9C0C8-9B4A-4F11-91E8-773F12C95308}" type="slidenum">
              <a:rPr lang="zh-CN" altLang="en-US" sz="1167">
                <a:latin typeface="Times New Roman" panose="02020603050405020304" pitchFamily="18" charset="0"/>
              </a:rPr>
              <a:pPr>
                <a:spcBef>
                  <a:spcPct val="0"/>
                </a:spcBef>
                <a:buFontTx/>
                <a:buNone/>
              </a:pPr>
              <a:t>27</a:t>
            </a:fld>
            <a:endParaRPr lang="en-US" altLang="zh-CN" sz="1167">
              <a:latin typeface="Times New Roman" panose="02020603050405020304" pitchFamily="18" charset="0"/>
            </a:endParaRPr>
          </a:p>
        </p:txBody>
      </p:sp>
      <p:sp>
        <p:nvSpPr>
          <p:cNvPr id="108547" name="Rectangle 2">
            <a:extLst>
              <a:ext uri="{FF2B5EF4-FFF2-40B4-BE49-F238E27FC236}">
                <a16:creationId xmlns:a16="http://schemas.microsoft.com/office/drawing/2014/main" id="{742569F5-23C6-4248-AE04-0C56E678C228}"/>
              </a:ext>
            </a:extLst>
          </p:cNvPr>
          <p:cNvSpPr>
            <a:spLocks noGrp="1" noChangeArrowheads="1"/>
          </p:cNvSpPr>
          <p:nvPr>
            <p:ph type="title"/>
          </p:nvPr>
        </p:nvSpPr>
        <p:spPr/>
        <p:txBody>
          <a:bodyPr/>
          <a:lstStyle/>
          <a:p>
            <a:r>
              <a:rPr lang="zh-CN" altLang="en-US" dirty="0"/>
              <a:t>联合（</a:t>
            </a:r>
            <a:r>
              <a:rPr lang="en-US" altLang="zh-CN" dirty="0"/>
              <a:t>union</a:t>
            </a:r>
            <a:r>
              <a:rPr lang="zh-CN" altLang="en-US" dirty="0"/>
              <a:t>）</a:t>
            </a:r>
            <a:endParaRPr lang="en-US" altLang="zh-CN" dirty="0">
              <a:ea typeface="方正舒体" panose="02010601030101010101" pitchFamily="2" charset="-122"/>
            </a:endParaRPr>
          </a:p>
        </p:txBody>
      </p:sp>
      <p:sp>
        <p:nvSpPr>
          <p:cNvPr id="14340" name="Rectangle 3">
            <a:extLst>
              <a:ext uri="{FF2B5EF4-FFF2-40B4-BE49-F238E27FC236}">
                <a16:creationId xmlns:a16="http://schemas.microsoft.com/office/drawing/2014/main" id="{C1DF2131-0765-43EB-8FCF-2BA289A5A994}"/>
              </a:ext>
            </a:extLst>
          </p:cNvPr>
          <p:cNvSpPr>
            <a:spLocks noGrp="1" noChangeArrowheads="1"/>
          </p:cNvSpPr>
          <p:nvPr>
            <p:ph type="body" idx="1"/>
          </p:nvPr>
        </p:nvSpPr>
        <p:spPr>
          <a:xfrm>
            <a:off x="1333500" y="1333500"/>
            <a:ext cx="6731000" cy="3683000"/>
          </a:xfrm>
        </p:spPr>
        <p:txBody>
          <a:bodyPr>
            <a:noAutofit/>
          </a:bodyPr>
          <a:lstStyle/>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struct S3 {</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	char c;</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	int </a:t>
            </a:r>
            <a:r>
              <a:rPr lang="en-US" altLang="zh-CN" sz="1400" dirty="0" err="1">
                <a:latin typeface="Consolas" panose="020B0609020204030204" pitchFamily="49" charset="0"/>
                <a:ea typeface="宋体" panose="02010600030101010101" pitchFamily="2" charset="-122"/>
                <a:cs typeface="Consolas" panose="020B0609020204030204" pitchFamily="49" charset="0"/>
              </a:rPr>
              <a:t>i</a:t>
            </a:r>
            <a:r>
              <a:rPr lang="en-US" altLang="zh-CN" sz="1400" dirty="0">
                <a:latin typeface="Consolas" panose="020B0609020204030204" pitchFamily="49" charset="0"/>
                <a:ea typeface="宋体" panose="02010600030101010101" pitchFamily="2" charset="-122"/>
                <a:cs typeface="Consolas" panose="020B0609020204030204" pitchFamily="49" charset="0"/>
              </a:rPr>
              <a:t>[2];</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	double v;</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a:t>
            </a:r>
          </a:p>
          <a:p>
            <a:pPr>
              <a:lnSpc>
                <a:spcPct val="100000"/>
              </a:lnSpc>
              <a:buFontTx/>
              <a:buNone/>
            </a:pPr>
            <a:endParaRPr lang="en-US" altLang="zh-CN" sz="1400" dirty="0">
              <a:latin typeface="Consolas" panose="020B0609020204030204" pitchFamily="49" charset="0"/>
              <a:ea typeface="宋体" panose="02010600030101010101" pitchFamily="2" charset="-122"/>
              <a:cs typeface="Consolas" panose="020B0609020204030204" pitchFamily="49" charset="0"/>
            </a:endParaRP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union U3 {</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	char c;</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	int </a:t>
            </a:r>
            <a:r>
              <a:rPr lang="en-US" altLang="zh-CN" sz="1400" dirty="0" err="1">
                <a:latin typeface="Consolas" panose="020B0609020204030204" pitchFamily="49" charset="0"/>
                <a:ea typeface="宋体" panose="02010600030101010101" pitchFamily="2" charset="-122"/>
                <a:cs typeface="Consolas" panose="020B0609020204030204" pitchFamily="49" charset="0"/>
              </a:rPr>
              <a:t>i</a:t>
            </a:r>
            <a:r>
              <a:rPr lang="en-US" altLang="zh-CN" sz="1400" dirty="0">
                <a:latin typeface="Consolas" panose="020B0609020204030204" pitchFamily="49" charset="0"/>
                <a:ea typeface="宋体" panose="02010600030101010101" pitchFamily="2" charset="-122"/>
                <a:cs typeface="Consolas" panose="020B0609020204030204" pitchFamily="49" charset="0"/>
              </a:rPr>
              <a:t>[2];</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	double v;</a:t>
            </a:r>
          </a:p>
          <a:p>
            <a:pPr>
              <a:lnSpc>
                <a:spcPct val="100000"/>
              </a:lnSpc>
              <a:buFontTx/>
              <a:buNone/>
            </a:pPr>
            <a:r>
              <a:rPr lang="en-US" altLang="zh-CN" sz="1400" dirty="0">
                <a:latin typeface="Consolas" panose="020B0609020204030204" pitchFamily="49" charset="0"/>
                <a:ea typeface="宋体" panose="02010600030101010101" pitchFamily="2" charset="-122"/>
                <a:cs typeface="Consolas" panose="020B0609020204030204" pitchFamily="49" charset="0"/>
              </a:rPr>
              <a:t>};</a:t>
            </a:r>
          </a:p>
        </p:txBody>
      </p:sp>
      <p:graphicFrame>
        <p:nvGraphicFramePr>
          <p:cNvPr id="5" name="Group 4">
            <a:extLst>
              <a:ext uri="{FF2B5EF4-FFF2-40B4-BE49-F238E27FC236}">
                <a16:creationId xmlns:a16="http://schemas.microsoft.com/office/drawing/2014/main" id="{A0A5C3A5-B7D5-4714-B9B0-1CF872070B4A}"/>
              </a:ext>
            </a:extLst>
          </p:cNvPr>
          <p:cNvGraphicFramePr>
            <a:graphicFrameLocks noGrp="1"/>
          </p:cNvGraphicFramePr>
          <p:nvPr/>
        </p:nvGraphicFramePr>
        <p:xfrm>
          <a:off x="3492500" y="2159000"/>
          <a:ext cx="3968750" cy="1021140"/>
        </p:xfrm>
        <a:graphic>
          <a:graphicData uri="http://schemas.openxmlformats.org/drawingml/2006/table">
            <a:tbl>
              <a:tblPr/>
              <a:tblGrid>
                <a:gridCol w="793750">
                  <a:extLst>
                    <a:ext uri="{9D8B030D-6E8A-4147-A177-3AD203B41FA5}">
                      <a16:colId xmlns:a16="http://schemas.microsoft.com/office/drawing/2014/main" val="20000"/>
                    </a:ext>
                  </a:extLst>
                </a:gridCol>
                <a:gridCol w="795073">
                  <a:extLst>
                    <a:ext uri="{9D8B030D-6E8A-4147-A177-3AD203B41FA5}">
                      <a16:colId xmlns:a16="http://schemas.microsoft.com/office/drawing/2014/main" val="20001"/>
                    </a:ext>
                  </a:extLst>
                </a:gridCol>
                <a:gridCol w="791104">
                  <a:extLst>
                    <a:ext uri="{9D8B030D-6E8A-4147-A177-3AD203B41FA5}">
                      <a16:colId xmlns:a16="http://schemas.microsoft.com/office/drawing/2014/main" val="20002"/>
                    </a:ext>
                  </a:extLst>
                </a:gridCol>
                <a:gridCol w="795073">
                  <a:extLst>
                    <a:ext uri="{9D8B030D-6E8A-4147-A177-3AD203B41FA5}">
                      <a16:colId xmlns:a16="http://schemas.microsoft.com/office/drawing/2014/main" val="20003"/>
                    </a:ext>
                  </a:extLst>
                </a:gridCol>
                <a:gridCol w="793750">
                  <a:extLst>
                    <a:ext uri="{9D8B030D-6E8A-4147-A177-3AD203B41FA5}">
                      <a16:colId xmlns:a16="http://schemas.microsoft.com/office/drawing/2014/main" val="20004"/>
                    </a:ext>
                  </a:extLst>
                </a:gridCol>
              </a:tblGrid>
              <a:tr h="330288">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lang="zh-CN" altLang="en-US" sz="1800" dirty="0"/>
                        <a:t>类型</a:t>
                      </a:r>
                      <a:endParaRPr kumimoji="0" lang="en-US" altLang="zh-CN" sz="1700" b="0" i="0" u="none" strike="noStrike" cap="none" normalizeH="0" baseline="0" dirty="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endParaRPr>
                    </a:p>
                  </a:txBody>
                  <a:tcPr marL="76200" marR="76200" marT="38110" marB="381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700" b="0" i="0" u="none" strike="noStrike" cap="none" normalizeH="0" baseline="0" dirty="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c</a:t>
                      </a:r>
                    </a:p>
                  </a:txBody>
                  <a:tcPr marL="76200" marR="76200" marT="38110" marB="3811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700" b="0" i="0" u="none" strike="noStrike" cap="none" normalizeH="0" baseline="0" dirty="0" err="1">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i</a:t>
                      </a:r>
                      <a:endParaRPr kumimoji="0" lang="en-US" altLang="zh-CN" sz="1700" b="0" i="0" u="none" strike="noStrike" cap="none" normalizeH="0" baseline="0" dirty="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endParaRPr>
                    </a:p>
                  </a:txBody>
                  <a:tcPr marL="76200" marR="76200" marT="38110" marB="38110"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700" b="0" i="0" u="none" strike="noStrike" cap="none" normalizeH="0" baseline="0" dirty="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v</a:t>
                      </a:r>
                    </a:p>
                  </a:txBody>
                  <a:tcPr marL="76200" marR="76200" marT="38110" marB="3811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lang="zh-CN" altLang="en-US" sz="1800" dirty="0"/>
                        <a:t>大小</a:t>
                      </a:r>
                      <a:endParaRPr kumimoji="0" lang="en-US" altLang="zh-CN" sz="1700" b="0" i="0" u="none" strike="noStrike" cap="none" normalizeH="0" baseline="0" dirty="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endParaRPr>
                    </a:p>
                  </a:txBody>
                  <a:tcPr marL="76200" marR="76200" marT="38110" marB="381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0288">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S3 </a:t>
                      </a:r>
                    </a:p>
                  </a:txBody>
                  <a:tcPr marL="76200" marR="76200" marT="38110" marB="381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0</a:t>
                      </a:r>
                    </a:p>
                  </a:txBody>
                  <a:tcPr marL="76200" marR="76200" marT="38110" marB="3811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4</a:t>
                      </a:r>
                    </a:p>
                  </a:txBody>
                  <a:tcPr marL="76200" marR="76200" marT="38110" marB="3811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1</a:t>
                      </a:r>
                      <a:r>
                        <a:rPr kumimoji="0" lang="en-US" altLang="zh-CN"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6</a:t>
                      </a:r>
                      <a:endPar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endParaRPr>
                    </a:p>
                  </a:txBody>
                  <a:tcPr marL="76200" marR="76200" marT="38110" marB="3811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2</a:t>
                      </a:r>
                      <a:r>
                        <a:rPr kumimoji="0" lang="en-US" altLang="zh-CN"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4</a:t>
                      </a:r>
                      <a:endPar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endParaRPr>
                    </a:p>
                  </a:txBody>
                  <a:tcPr marL="76200" marR="76200" marT="38110" marB="381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30288">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U3</a:t>
                      </a:r>
                    </a:p>
                  </a:txBody>
                  <a:tcPr marL="76200" marR="76200" marT="38110" marB="381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0</a:t>
                      </a:r>
                    </a:p>
                  </a:txBody>
                  <a:tcPr marL="76200" marR="76200" marT="38110" marB="38110" horzOverflow="overflow">
                    <a:lnL w="12700"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0</a:t>
                      </a:r>
                    </a:p>
                  </a:txBody>
                  <a:tcPr marL="76200" marR="76200" marT="38110" marB="38110"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0</a:t>
                      </a:r>
                    </a:p>
                  </a:txBody>
                  <a:tcPr marL="76200" marR="76200" marT="38110" marB="38110"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Comic Sans MS" panose="030F0702030302020204" pitchFamily="66" charset="0"/>
                        </a:defRPr>
                      </a:lvl1pPr>
                      <a:lvl2pPr marL="742950" indent="-285750">
                        <a:spcBef>
                          <a:spcPct val="20000"/>
                        </a:spcBef>
                        <a:defRPr sz="2000">
                          <a:solidFill>
                            <a:schemeClr val="tx1"/>
                          </a:solidFill>
                          <a:latin typeface="Comic Sans MS" panose="030F0702030302020204" pitchFamily="66" charset="0"/>
                        </a:defRPr>
                      </a:lvl2pPr>
                      <a:lvl3pPr marL="1143000" indent="-228600">
                        <a:spcBef>
                          <a:spcPct val="20000"/>
                        </a:spcBef>
                        <a:defRPr>
                          <a:solidFill>
                            <a:schemeClr val="tx1"/>
                          </a:solidFill>
                          <a:latin typeface="Comic Sans MS" panose="030F0702030302020204" pitchFamily="66" charset="0"/>
                        </a:defRPr>
                      </a:lvl3pPr>
                      <a:lvl4pPr marL="1600200" indent="-228600">
                        <a:spcBef>
                          <a:spcPct val="20000"/>
                        </a:spcBef>
                        <a:defRPr>
                          <a:solidFill>
                            <a:schemeClr val="tx1"/>
                          </a:solidFill>
                          <a:latin typeface="Comic Sans MS" panose="030F0702030302020204" pitchFamily="66" charset="0"/>
                        </a:defRPr>
                      </a:lvl4pPr>
                      <a:lvl5pPr marL="2057400" indent="-228600">
                        <a:spcBef>
                          <a:spcPct val="20000"/>
                        </a:spcBef>
                        <a:defRPr>
                          <a:solidFill>
                            <a:schemeClr val="tx1"/>
                          </a:solidFill>
                          <a:latin typeface="Comic Sans MS" panose="030F0702030302020204" pitchFamily="66" charset="0"/>
                        </a:defRPr>
                      </a:lvl5pPr>
                      <a:lvl6pPr marL="2514600" indent="-228600" eaLnBrk="0" fontAlgn="base" hangingPunct="0">
                        <a:spcBef>
                          <a:spcPct val="20000"/>
                        </a:spcBef>
                        <a:spcAft>
                          <a:spcPct val="0"/>
                        </a:spcAft>
                        <a:defRPr>
                          <a:solidFill>
                            <a:schemeClr val="tx1"/>
                          </a:solidFill>
                          <a:latin typeface="Comic Sans MS" panose="030F0702030302020204" pitchFamily="66" charset="0"/>
                        </a:defRPr>
                      </a:lvl6pPr>
                      <a:lvl7pPr marL="2971800" indent="-228600" eaLnBrk="0" fontAlgn="base" hangingPunct="0">
                        <a:spcBef>
                          <a:spcPct val="20000"/>
                        </a:spcBef>
                        <a:spcAft>
                          <a:spcPct val="0"/>
                        </a:spcAft>
                        <a:defRPr>
                          <a:solidFill>
                            <a:schemeClr val="tx1"/>
                          </a:solidFill>
                          <a:latin typeface="Comic Sans MS" panose="030F0702030302020204" pitchFamily="66" charset="0"/>
                        </a:defRPr>
                      </a:lvl7pPr>
                      <a:lvl8pPr marL="3429000" indent="-228600" eaLnBrk="0" fontAlgn="base" hangingPunct="0">
                        <a:spcBef>
                          <a:spcPct val="20000"/>
                        </a:spcBef>
                        <a:spcAft>
                          <a:spcPct val="0"/>
                        </a:spcAft>
                        <a:defRPr>
                          <a:solidFill>
                            <a:schemeClr val="tx1"/>
                          </a:solidFill>
                          <a:latin typeface="Comic Sans MS" panose="030F0702030302020204" pitchFamily="66" charset="0"/>
                        </a:defRPr>
                      </a:lvl8pPr>
                      <a:lvl9pPr marL="3886200" indent="-228600" eaLnBrk="0" fontAlgn="base" hangingPunct="0">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700" b="0" i="0" u="none" strike="noStrike" cap="none" normalizeH="0" baseline="0" dirty="0">
                          <a:ln>
                            <a:noFill/>
                          </a:ln>
                          <a:solidFill>
                            <a:schemeClr val="tx1"/>
                          </a:solidFill>
                          <a:effectLst/>
                          <a:latin typeface="Consolas" panose="020B0609020204030204" pitchFamily="49" charset="0"/>
                          <a:ea typeface="宋体" panose="02010600030101010101" pitchFamily="2" charset="-122"/>
                          <a:cs typeface="Consolas" panose="020B0609020204030204" pitchFamily="49" charset="0"/>
                        </a:rPr>
                        <a:t>8</a:t>
                      </a:r>
                    </a:p>
                  </a:txBody>
                  <a:tcPr marL="76200" marR="76200" marT="38110" marB="381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CEA54681-69C0-448D-8C17-33042A8673C0}"/>
              </a:ext>
            </a:extLst>
          </p:cNvPr>
          <p:cNvSpPr/>
          <p:nvPr/>
        </p:nvSpPr>
        <p:spPr>
          <a:xfrm>
            <a:off x="3347864" y="1709261"/>
            <a:ext cx="5016500" cy="338554"/>
          </a:xfrm>
          <a:prstGeom prst="rect">
            <a:avLst/>
          </a:prstGeom>
        </p:spPr>
        <p:txBody>
          <a:bodyPr>
            <a:spAutoFit/>
          </a:bodyPr>
          <a:lstStyle/>
          <a:p>
            <a:pPr>
              <a:spcBef>
                <a:spcPct val="20000"/>
              </a:spcBef>
              <a:defRPr/>
            </a:pPr>
            <a:r>
              <a:rPr lang="zh-CN" altLang="en-US" sz="1600" dirty="0"/>
              <a:t>以下成员的偏移量及</a:t>
            </a:r>
            <a:r>
              <a:rPr lang="en-US" altLang="zh-CN" sz="1600" dirty="0"/>
              <a:t>S3</a:t>
            </a:r>
            <a:r>
              <a:rPr lang="zh-CN" altLang="en-US" sz="1600" dirty="0"/>
              <a:t>与</a:t>
            </a:r>
            <a:r>
              <a:rPr lang="en-US" altLang="zh-CN" sz="1600" dirty="0"/>
              <a:t>U3</a:t>
            </a:r>
            <a:r>
              <a:rPr lang="zh-CN" altLang="en-US" sz="1600" dirty="0"/>
              <a:t>占用的空间大小为</a:t>
            </a:r>
            <a:r>
              <a:rPr lang="en-US" altLang="zh-CN" sz="1500" dirty="0">
                <a:latin typeface="+mj-lt"/>
              </a:rPr>
              <a:t>:</a:t>
            </a:r>
          </a:p>
        </p:txBody>
      </p:sp>
    </p:spTree>
    <p:extLst>
      <p:ext uri="{BB962C8B-B14F-4D97-AF65-F5344CB8AC3E}">
        <p14:creationId xmlns:p14="http://schemas.microsoft.com/office/powerpoint/2010/main" val="24797547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4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4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34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34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34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40">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340">
                                            <p:txEl>
                                              <p:pRg st="10" end="1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5">
            <a:extLst>
              <a:ext uri="{FF2B5EF4-FFF2-40B4-BE49-F238E27FC236}">
                <a16:creationId xmlns:a16="http://schemas.microsoft.com/office/drawing/2014/main" id="{FA8FD809-FAA5-45CB-BBBB-F1FCFF9460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0E23A763-089D-44C3-A098-1B9675525BC0}" type="slidenum">
              <a:rPr lang="zh-CN" altLang="en-US" sz="1167">
                <a:latin typeface="Times New Roman" panose="02020603050405020304" pitchFamily="18" charset="0"/>
              </a:rPr>
              <a:pPr>
                <a:spcBef>
                  <a:spcPct val="0"/>
                </a:spcBef>
                <a:buFontTx/>
                <a:buNone/>
              </a:pPr>
              <a:t>28</a:t>
            </a:fld>
            <a:endParaRPr lang="en-US" altLang="zh-CN" sz="1167">
              <a:latin typeface="Times New Roman" panose="02020603050405020304" pitchFamily="18" charset="0"/>
            </a:endParaRPr>
          </a:p>
        </p:txBody>
      </p:sp>
      <p:sp>
        <p:nvSpPr>
          <p:cNvPr id="110595" name="Rectangle 2">
            <a:extLst>
              <a:ext uri="{FF2B5EF4-FFF2-40B4-BE49-F238E27FC236}">
                <a16:creationId xmlns:a16="http://schemas.microsoft.com/office/drawing/2014/main" id="{92C7232C-7A24-4A78-92A7-BA1D17873B35}"/>
              </a:ext>
            </a:extLst>
          </p:cNvPr>
          <p:cNvSpPr>
            <a:spLocks noGrp="1" noChangeArrowheads="1"/>
          </p:cNvSpPr>
          <p:nvPr>
            <p:ph type="title"/>
          </p:nvPr>
        </p:nvSpPr>
        <p:spPr/>
        <p:txBody>
          <a:bodyPr/>
          <a:lstStyle/>
          <a:p>
            <a:r>
              <a:rPr lang="zh-CN" altLang="en-US" dirty="0"/>
              <a:t>联合（</a:t>
            </a:r>
            <a:r>
              <a:rPr lang="en-US" altLang="zh-CN" dirty="0"/>
              <a:t>union</a:t>
            </a:r>
            <a:r>
              <a:rPr lang="zh-CN" altLang="en-US" dirty="0"/>
              <a:t>）</a:t>
            </a:r>
            <a:endParaRPr lang="en-US" altLang="zh-CN" dirty="0">
              <a:ea typeface="宋体" panose="02010600030101010101" pitchFamily="2" charset="-122"/>
            </a:endParaRPr>
          </a:p>
        </p:txBody>
      </p:sp>
      <p:sp>
        <p:nvSpPr>
          <p:cNvPr id="110596" name="Rectangle 3">
            <a:extLst>
              <a:ext uri="{FF2B5EF4-FFF2-40B4-BE49-F238E27FC236}">
                <a16:creationId xmlns:a16="http://schemas.microsoft.com/office/drawing/2014/main" id="{5E4DADFC-DD12-46AC-96E2-46614C0C8683}"/>
              </a:ext>
            </a:extLst>
          </p:cNvPr>
          <p:cNvSpPr>
            <a:spLocks noGrp="1" noChangeArrowheads="1"/>
          </p:cNvSpPr>
          <p:nvPr>
            <p:ph type="body" idx="1"/>
          </p:nvPr>
        </p:nvSpPr>
        <p:spPr>
          <a:xfrm>
            <a:off x="1143000" y="1333500"/>
            <a:ext cx="6794500" cy="3683000"/>
          </a:xfrm>
        </p:spPr>
        <p:txBody>
          <a:bodyPr>
            <a:normAutofit fontScale="92500" lnSpcReduction="20000"/>
          </a:bodyPr>
          <a:lstStyle/>
          <a:p>
            <a:pPr>
              <a:buFontTx/>
              <a:buNone/>
            </a:pPr>
            <a:r>
              <a:rPr lang="en-US" altLang="zh-CN" sz="1100" dirty="0">
                <a:solidFill>
                  <a:srgbClr val="006FC0"/>
                </a:solidFill>
                <a:latin typeface="Consolas" panose="020B0609020204030204" pitchFamily="49" charset="0"/>
                <a:ea typeface="宋体" panose="02010600030101010101" pitchFamily="2" charset="-122"/>
                <a:cs typeface="Consolas" panose="020B0609020204030204" pitchFamily="49" charset="0"/>
              </a:rPr>
              <a:t>// On a little-endian machine (e.g., ARM)</a:t>
            </a:r>
          </a:p>
          <a:p>
            <a:pPr>
              <a:buFontTx/>
              <a:buNone/>
            </a:pP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double uu2double(unsigned word0, unsigned word1) </a:t>
            </a:r>
          </a:p>
          <a:p>
            <a:pPr>
              <a:buFontTx/>
              <a:buNone/>
            </a:pP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a:t>
            </a:r>
          </a:p>
          <a:p>
            <a:pPr>
              <a:buFontTx/>
              <a:buNone/>
            </a:pPr>
            <a:r>
              <a:rPr lang="en-US" altLang="zh-CN" sz="1100" dirty="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union {</a:t>
            </a:r>
          </a:p>
          <a:p>
            <a:pPr>
              <a:buFontTx/>
              <a:buNone/>
            </a:pPr>
            <a:r>
              <a:rPr lang="en-US" altLang="zh-CN" sz="1100" dirty="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double d;</a:t>
            </a:r>
          </a:p>
          <a:p>
            <a:pPr>
              <a:buFontTx/>
              <a:buNone/>
            </a:pPr>
            <a:r>
              <a:rPr lang="en-US" altLang="zh-CN" sz="1100" dirty="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unsigned u[2];</a:t>
            </a:r>
          </a:p>
          <a:p>
            <a:pPr>
              <a:buFontTx/>
              <a:buNone/>
            </a:pPr>
            <a:r>
              <a:rPr lang="en-US" altLang="zh-CN" sz="1100" dirty="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 temp;</a:t>
            </a:r>
          </a:p>
          <a:p>
            <a:pPr>
              <a:buFontTx/>
              <a:buNone/>
            </a:pPr>
            <a:endPar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endParaRPr>
          </a:p>
          <a:p>
            <a:pPr>
              <a:buFontTx/>
              <a:buNone/>
            </a:pPr>
            <a:r>
              <a:rPr lang="en-US" altLang="zh-CN" sz="1100" dirty="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lang="en-US" altLang="zh-CN" sz="1100" dirty="0" err="1">
                <a:solidFill>
                  <a:srgbClr val="000000"/>
                </a:solidFill>
                <a:latin typeface="Consolas" panose="020B0609020204030204" pitchFamily="49" charset="0"/>
                <a:ea typeface="宋体" panose="02010600030101010101" pitchFamily="2" charset="-122"/>
                <a:cs typeface="Consolas" panose="020B0609020204030204" pitchFamily="49" charset="0"/>
              </a:rPr>
              <a:t>temp.u</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[0] = word0;</a:t>
            </a:r>
          </a:p>
          <a:p>
            <a:pPr>
              <a:buFontTx/>
              <a:buNone/>
            </a:pP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	</a:t>
            </a:r>
            <a:r>
              <a:rPr lang="en-US" altLang="zh-CN" sz="1100" dirty="0" err="1">
                <a:solidFill>
                  <a:srgbClr val="000000"/>
                </a:solidFill>
                <a:latin typeface="Consolas" panose="020B0609020204030204" pitchFamily="49" charset="0"/>
                <a:ea typeface="宋体" panose="02010600030101010101" pitchFamily="2" charset="-122"/>
                <a:cs typeface="Consolas" panose="020B0609020204030204" pitchFamily="49" charset="0"/>
              </a:rPr>
              <a:t>temp.u</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[1] = word1;</a:t>
            </a:r>
          </a:p>
          <a:p>
            <a:pPr>
              <a:buFontTx/>
              <a:buNone/>
            </a:pPr>
            <a:r>
              <a:rPr lang="en-US" altLang="zh-CN" sz="1100" dirty="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return </a:t>
            </a:r>
            <a:r>
              <a:rPr lang="en-US" altLang="zh-CN" sz="1100" dirty="0" err="1">
                <a:solidFill>
                  <a:srgbClr val="000000"/>
                </a:solidFill>
                <a:latin typeface="Consolas" panose="020B0609020204030204" pitchFamily="49" charset="0"/>
                <a:ea typeface="宋体" panose="02010600030101010101" pitchFamily="2" charset="-122"/>
                <a:cs typeface="Consolas" panose="020B0609020204030204" pitchFamily="49" charset="0"/>
              </a:rPr>
              <a:t>temp.d</a:t>
            </a: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a:t>
            </a:r>
            <a:endParaRPr lang="en-US" altLang="zh-CN" sz="1100" dirty="0">
              <a:solidFill>
                <a:srgbClr val="0432FF"/>
              </a:solidFill>
              <a:latin typeface="Consolas" panose="020B0609020204030204" pitchFamily="49" charset="0"/>
              <a:ea typeface="宋体" panose="02010600030101010101" pitchFamily="2" charset="-122"/>
              <a:cs typeface="Consolas" panose="020B0609020204030204" pitchFamily="49" charset="0"/>
            </a:endParaRPr>
          </a:p>
          <a:p>
            <a:pPr>
              <a:buFontTx/>
              <a:buNone/>
            </a:pPr>
            <a:r>
              <a:rPr lang="en-US" altLang="zh-CN" sz="1100" dirty="0">
                <a:solidFill>
                  <a:srgbClr val="000000"/>
                </a:solidFill>
                <a:latin typeface="Consolas" panose="020B0609020204030204" pitchFamily="49" charset="0"/>
                <a:ea typeface="宋体" panose="02010600030101010101" pitchFamily="2" charset="-122"/>
                <a:cs typeface="Consolas" panose="020B0609020204030204" pitchFamily="49" charset="0"/>
              </a:rPr>
              <a:t>}</a:t>
            </a:r>
          </a:p>
          <a:p>
            <a:pPr eaLnBrk="1" hangingPunct="1">
              <a:spcBef>
                <a:spcPct val="0"/>
              </a:spcBef>
              <a:buFontTx/>
              <a:buNone/>
            </a:pPr>
            <a:endParaRPr kumimoji="1" lang="zh-CN" altLang="en-US" sz="1200" dirty="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Tree>
    <p:extLst>
      <p:ext uri="{BB962C8B-B14F-4D97-AF65-F5344CB8AC3E}">
        <p14:creationId xmlns:p14="http://schemas.microsoft.com/office/powerpoint/2010/main" val="1038727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9F5E8-F86F-4F96-BC5F-2E8174E16547}"/>
              </a:ext>
            </a:extLst>
          </p:cNvPr>
          <p:cNvSpPr>
            <a:spLocks noGrp="1"/>
          </p:cNvSpPr>
          <p:nvPr>
            <p:ph type="title"/>
          </p:nvPr>
        </p:nvSpPr>
        <p:spPr/>
        <p:txBody>
          <a:bodyPr/>
          <a:lstStyle/>
          <a:p>
            <a:r>
              <a:rPr lang="zh-CN" altLang="en-US" dirty="0"/>
              <a:t>对齐</a:t>
            </a:r>
          </a:p>
        </p:txBody>
      </p:sp>
      <p:sp>
        <p:nvSpPr>
          <p:cNvPr id="3" name="文本占位符 2">
            <a:extLst>
              <a:ext uri="{FF2B5EF4-FFF2-40B4-BE49-F238E27FC236}">
                <a16:creationId xmlns:a16="http://schemas.microsoft.com/office/drawing/2014/main" id="{3E768FA3-54A6-4767-BCB7-445A716162C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FD4C584-FA30-431A-86DC-A0B6B170F927}"/>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Tree>
    <p:extLst>
      <p:ext uri="{BB962C8B-B14F-4D97-AF65-F5344CB8AC3E}">
        <p14:creationId xmlns:p14="http://schemas.microsoft.com/office/powerpoint/2010/main" val="772206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a:extLst>
              <a:ext uri="{FF2B5EF4-FFF2-40B4-BE49-F238E27FC236}">
                <a16:creationId xmlns:a16="http://schemas.microsoft.com/office/drawing/2014/main" id="{524CD9D8-9E04-4E2E-B6E3-AE07A6FDBEDB}"/>
              </a:ext>
            </a:extLst>
          </p:cNvPr>
          <p:cNvSpPr>
            <a:spLocks noGrp="1" noChangeArrowheads="1"/>
          </p:cNvSpPr>
          <p:nvPr>
            <p:ph type="title"/>
          </p:nvPr>
        </p:nvSpPr>
        <p:spPr/>
        <p:txBody>
          <a:bodyPr/>
          <a:lstStyle/>
          <a:p>
            <a:r>
              <a:rPr lang="zh-CN" altLang="en-US" dirty="0"/>
              <a:t>对齐（</a:t>
            </a:r>
            <a:r>
              <a:rPr lang="en-US" altLang="zh-CN" dirty="0"/>
              <a:t>alignment</a:t>
            </a:r>
            <a:r>
              <a:rPr lang="zh-CN" altLang="en-US" dirty="0"/>
              <a:t>）</a:t>
            </a:r>
            <a:endParaRPr lang="en-US" altLang="zh-CN" dirty="0">
              <a:ea typeface="方正舒体" panose="02010601030101010101" pitchFamily="2" charset="-122"/>
            </a:endParaRPr>
          </a:p>
        </p:txBody>
      </p:sp>
      <p:sp>
        <p:nvSpPr>
          <p:cNvPr id="114692" name="Rectangle 3">
            <a:extLst>
              <a:ext uri="{FF2B5EF4-FFF2-40B4-BE49-F238E27FC236}">
                <a16:creationId xmlns:a16="http://schemas.microsoft.com/office/drawing/2014/main" id="{0E4952EA-9C29-4F3C-B15F-9DE0E4885B43}"/>
              </a:ext>
            </a:extLst>
          </p:cNvPr>
          <p:cNvSpPr>
            <a:spLocks noGrp="1" noChangeArrowheads="1"/>
          </p:cNvSpPr>
          <p:nvPr>
            <p:ph idx="1"/>
          </p:nvPr>
        </p:nvSpPr>
        <p:spPr/>
        <p:txBody>
          <a:bodyPr>
            <a:normAutofit/>
          </a:bodyPr>
          <a:lstStyle/>
          <a:p>
            <a:pPr>
              <a:lnSpc>
                <a:spcPct val="140000"/>
              </a:lnSpc>
            </a:pPr>
            <a:r>
              <a:rPr lang="zh-CN" altLang="en-US" dirty="0"/>
              <a:t>对齐是对某些对象存储地址的限制</a:t>
            </a:r>
            <a:endParaRPr lang="en-US" altLang="zh-CN" dirty="0">
              <a:ea typeface="宋体" panose="02010600030101010101" pitchFamily="2" charset="-122"/>
            </a:endParaRPr>
          </a:p>
          <a:p>
            <a:pPr lvl="1">
              <a:lnSpc>
                <a:spcPct val="140000"/>
              </a:lnSpc>
            </a:pPr>
            <a:r>
              <a:rPr lang="zh-CN" altLang="en-US" dirty="0"/>
              <a:t>某些类型的地址必须是</a:t>
            </a:r>
            <a:r>
              <a:rPr lang="zh-CN" altLang="en-US" b="1" dirty="0">
                <a:solidFill>
                  <a:srgbClr val="C00000"/>
                </a:solidFill>
              </a:rPr>
              <a:t>某个值</a:t>
            </a:r>
            <a:r>
              <a:rPr lang="en-US" altLang="zh-CN" b="1" dirty="0">
                <a:solidFill>
                  <a:srgbClr val="C00000"/>
                </a:solidFill>
                <a:ea typeface="宋体" panose="02010600030101010101" pitchFamily="2" charset="-122"/>
              </a:rPr>
              <a:t>k</a:t>
            </a:r>
            <a:r>
              <a:rPr lang="zh-CN" altLang="en-US" dirty="0"/>
              <a:t>的倍数</a:t>
            </a:r>
            <a:endParaRPr lang="en-US" altLang="zh-CN" dirty="0"/>
          </a:p>
          <a:p>
            <a:pPr lvl="1">
              <a:lnSpc>
                <a:spcPct val="140000"/>
              </a:lnSpc>
            </a:pPr>
            <a:r>
              <a:rPr lang="en-US" altLang="zh-CN" b="1" dirty="0">
                <a:solidFill>
                  <a:srgbClr val="C00000"/>
                </a:solidFill>
                <a:ea typeface="宋体" panose="02010600030101010101" pitchFamily="2" charset="-122"/>
              </a:rPr>
              <a:t>k</a:t>
            </a:r>
            <a:r>
              <a:rPr lang="zh-CN" altLang="en-US" dirty="0"/>
              <a:t>一般为</a:t>
            </a:r>
            <a:r>
              <a:rPr lang="en-US" altLang="zh-CN" dirty="0">
                <a:ea typeface="宋体" panose="02010600030101010101" pitchFamily="2" charset="-122"/>
              </a:rPr>
              <a:t>2, 4</a:t>
            </a:r>
            <a:r>
              <a:rPr lang="zh-CN" altLang="en-US" dirty="0"/>
              <a:t>或</a:t>
            </a:r>
            <a:r>
              <a:rPr lang="en-US" altLang="zh-CN" dirty="0">
                <a:ea typeface="宋体" panose="02010600030101010101" pitchFamily="2" charset="-122"/>
              </a:rPr>
              <a:t>8</a:t>
            </a:r>
          </a:p>
          <a:p>
            <a:pPr>
              <a:lnSpc>
                <a:spcPct val="140000"/>
              </a:lnSpc>
            </a:pPr>
            <a:r>
              <a:rPr lang="zh-CN" altLang="en-US" dirty="0"/>
              <a:t>对齐简化了处理器与内存系统之间硬件接口的设计</a:t>
            </a:r>
            <a:endParaRPr lang="en-US" altLang="zh-CN" dirty="0">
              <a:ea typeface="宋体" panose="02010600030101010101" pitchFamily="2" charset="-122"/>
            </a:endParaRPr>
          </a:p>
        </p:txBody>
      </p:sp>
      <p:sp>
        <p:nvSpPr>
          <p:cNvPr id="114690" name="灯片编号占位符 5">
            <a:extLst>
              <a:ext uri="{FF2B5EF4-FFF2-40B4-BE49-F238E27FC236}">
                <a16:creationId xmlns:a16="http://schemas.microsoft.com/office/drawing/2014/main" id="{9481F979-7E50-46ED-AC41-57A519941D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AB7EA1AE-2B05-449B-BC96-EAFB6D4DA73A}" type="slidenum">
              <a:rPr lang="zh-CN" altLang="en-US" sz="1167">
                <a:latin typeface="Times New Roman" panose="02020603050405020304" pitchFamily="18" charset="0"/>
              </a:rPr>
              <a:pPr>
                <a:spcBef>
                  <a:spcPct val="0"/>
                </a:spcBef>
                <a:buFontTx/>
                <a:buNone/>
              </a:pPr>
              <a:t>30</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4196740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2">
            <a:extLst>
              <a:ext uri="{FF2B5EF4-FFF2-40B4-BE49-F238E27FC236}">
                <a16:creationId xmlns:a16="http://schemas.microsoft.com/office/drawing/2014/main" id="{0494CC09-7848-4B0D-AED3-DDDF6E65DC39}"/>
              </a:ext>
            </a:extLst>
          </p:cNvPr>
          <p:cNvSpPr>
            <a:spLocks noGrp="1" noChangeArrowheads="1"/>
          </p:cNvSpPr>
          <p:nvPr>
            <p:ph type="title"/>
          </p:nvPr>
        </p:nvSpPr>
        <p:spPr/>
        <p:txBody>
          <a:bodyPr/>
          <a:lstStyle/>
          <a:p>
            <a:r>
              <a:rPr lang="zh-CN" altLang="en-US" dirty="0"/>
              <a:t>对齐（</a:t>
            </a:r>
            <a:r>
              <a:rPr lang="en-US" altLang="zh-CN" dirty="0"/>
              <a:t>alignment</a:t>
            </a:r>
            <a:r>
              <a:rPr lang="zh-CN" altLang="en-US" dirty="0"/>
              <a:t>）</a:t>
            </a:r>
            <a:endParaRPr lang="en-US" altLang="zh-CN" dirty="0">
              <a:ea typeface="方正舒体" panose="02010601030101010101" pitchFamily="2" charset="-122"/>
            </a:endParaRPr>
          </a:p>
        </p:txBody>
      </p:sp>
      <p:sp>
        <p:nvSpPr>
          <p:cNvPr id="116740" name="Rectangle 3">
            <a:extLst>
              <a:ext uri="{FF2B5EF4-FFF2-40B4-BE49-F238E27FC236}">
                <a16:creationId xmlns:a16="http://schemas.microsoft.com/office/drawing/2014/main" id="{60404F02-5A41-4283-88C5-5AB3A34A5FFC}"/>
              </a:ext>
            </a:extLst>
          </p:cNvPr>
          <p:cNvSpPr>
            <a:spLocks noGrp="1" noChangeArrowheads="1"/>
          </p:cNvSpPr>
          <p:nvPr>
            <p:ph idx="1"/>
          </p:nvPr>
        </p:nvSpPr>
        <p:spPr/>
        <p:txBody>
          <a:bodyPr/>
          <a:lstStyle/>
          <a:p>
            <a:pPr>
              <a:lnSpc>
                <a:spcPct val="140000"/>
              </a:lnSpc>
            </a:pPr>
            <a:r>
              <a:rPr lang="en-US" altLang="zh-CN" dirty="0"/>
              <a:t>ARM</a:t>
            </a:r>
            <a:r>
              <a:rPr lang="zh-CN" altLang="en-US" dirty="0"/>
              <a:t>硬件在数据没有对齐的情况下</a:t>
            </a:r>
            <a:r>
              <a:rPr lang="zh-CN" altLang="en-US" dirty="0">
                <a:solidFill>
                  <a:srgbClr val="C00000"/>
                </a:solidFill>
              </a:rPr>
              <a:t>仍能正确地工作</a:t>
            </a:r>
            <a:endParaRPr lang="en-US" altLang="zh-CN" dirty="0">
              <a:solidFill>
                <a:srgbClr val="C00000"/>
              </a:solidFill>
            </a:endParaRPr>
          </a:p>
          <a:p>
            <a:pPr>
              <a:lnSpc>
                <a:spcPct val="140000"/>
              </a:lnSpc>
            </a:pPr>
            <a:r>
              <a:rPr lang="zh-CN" altLang="en-US" dirty="0"/>
              <a:t>数据对齐能够提高内存系统的性能</a:t>
            </a:r>
            <a:endParaRPr lang="en-US" altLang="zh-CN" dirty="0">
              <a:ea typeface="宋体" panose="02010600030101010101" pitchFamily="2" charset="-122"/>
            </a:endParaRPr>
          </a:p>
        </p:txBody>
      </p:sp>
      <p:sp>
        <p:nvSpPr>
          <p:cNvPr id="116738" name="灯片编号占位符 5">
            <a:extLst>
              <a:ext uri="{FF2B5EF4-FFF2-40B4-BE49-F238E27FC236}">
                <a16:creationId xmlns:a16="http://schemas.microsoft.com/office/drawing/2014/main" id="{534DF52A-0C59-4562-901A-1DCF62F232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36453C57-3BE8-46DB-9742-052D8126FB14}" type="slidenum">
              <a:rPr lang="zh-CN" altLang="en-US" sz="1167">
                <a:latin typeface="Times New Roman" panose="02020603050405020304" pitchFamily="18" charset="0"/>
              </a:rPr>
              <a:pPr>
                <a:spcBef>
                  <a:spcPct val="0"/>
                </a:spcBef>
                <a:buFontTx/>
                <a:buNone/>
              </a:pPr>
              <a:t>31</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3307798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2">
            <a:extLst>
              <a:ext uri="{FF2B5EF4-FFF2-40B4-BE49-F238E27FC236}">
                <a16:creationId xmlns:a16="http://schemas.microsoft.com/office/drawing/2014/main" id="{3D8F8862-34F3-41AB-8B09-63E929D493C1}"/>
              </a:ext>
            </a:extLst>
          </p:cNvPr>
          <p:cNvSpPr>
            <a:spLocks noGrp="1" noChangeArrowheads="1"/>
          </p:cNvSpPr>
          <p:nvPr>
            <p:ph type="title"/>
          </p:nvPr>
        </p:nvSpPr>
        <p:spPr/>
        <p:txBody>
          <a:bodyPr/>
          <a:lstStyle/>
          <a:p>
            <a:r>
              <a:rPr lang="zh-CN" altLang="en-US" dirty="0"/>
              <a:t>对齐（</a:t>
            </a:r>
            <a:r>
              <a:rPr lang="en-US" altLang="zh-CN" dirty="0"/>
              <a:t>alignment</a:t>
            </a:r>
            <a:r>
              <a:rPr lang="zh-CN" altLang="en-US" dirty="0"/>
              <a:t>）</a:t>
            </a:r>
            <a:endParaRPr lang="en-US" altLang="zh-CN" dirty="0">
              <a:ea typeface="方正舒体" panose="02010601030101010101" pitchFamily="2" charset="-122"/>
            </a:endParaRPr>
          </a:p>
        </p:txBody>
      </p:sp>
      <p:sp>
        <p:nvSpPr>
          <p:cNvPr id="118788" name="Rectangle 3">
            <a:extLst>
              <a:ext uri="{FF2B5EF4-FFF2-40B4-BE49-F238E27FC236}">
                <a16:creationId xmlns:a16="http://schemas.microsoft.com/office/drawing/2014/main" id="{D4CF6DC9-6F69-4A10-96F0-F630E2756617}"/>
              </a:ext>
            </a:extLst>
          </p:cNvPr>
          <p:cNvSpPr>
            <a:spLocks noGrp="1" noChangeArrowheads="1"/>
          </p:cNvSpPr>
          <p:nvPr>
            <p:ph idx="1"/>
          </p:nvPr>
        </p:nvSpPr>
        <p:spPr/>
        <p:txBody>
          <a:bodyPr>
            <a:normAutofit/>
          </a:bodyPr>
          <a:lstStyle/>
          <a:p>
            <a:pPr>
              <a:lnSpc>
                <a:spcPct val="140000"/>
              </a:lnSpc>
            </a:pPr>
            <a:r>
              <a:rPr lang="en-US" altLang="zh-CN" dirty="0">
                <a:ea typeface="宋体" panose="02010600030101010101" pitchFamily="2" charset="-122"/>
              </a:rPr>
              <a:t>Linux</a:t>
            </a:r>
            <a:r>
              <a:rPr lang="zh-CN" altLang="en-US" dirty="0"/>
              <a:t>的对齐限定</a:t>
            </a:r>
            <a:endParaRPr lang="en-US" altLang="zh-CN" dirty="0">
              <a:ea typeface="宋体" panose="02010600030101010101" pitchFamily="2" charset="-122"/>
            </a:endParaRPr>
          </a:p>
          <a:p>
            <a:pPr lvl="1">
              <a:lnSpc>
                <a:spcPct val="140000"/>
              </a:lnSpc>
            </a:pPr>
            <a:r>
              <a:rPr lang="en-US" altLang="zh-CN" dirty="0">
                <a:ea typeface="宋体" panose="02010600030101010101" pitchFamily="2" charset="-122"/>
              </a:rPr>
              <a:t>1</a:t>
            </a:r>
            <a:r>
              <a:rPr lang="zh-CN" altLang="en-US" dirty="0"/>
              <a:t>字节数据结构地址没有限制</a:t>
            </a:r>
            <a:endParaRPr lang="en-US" altLang="zh-CN" dirty="0">
              <a:ea typeface="宋体" panose="02010600030101010101" pitchFamily="2" charset="-122"/>
            </a:endParaRPr>
          </a:p>
          <a:p>
            <a:pPr lvl="1">
              <a:lnSpc>
                <a:spcPct val="140000"/>
              </a:lnSpc>
            </a:pPr>
            <a:r>
              <a:rPr lang="en-US" altLang="zh-CN" dirty="0">
                <a:ea typeface="宋体" panose="02010600030101010101" pitchFamily="2" charset="-122"/>
              </a:rPr>
              <a:t>2</a:t>
            </a:r>
            <a:r>
              <a:rPr lang="zh-CN" altLang="en-US" dirty="0"/>
              <a:t>字节数据结构地址必须是</a:t>
            </a:r>
            <a:r>
              <a:rPr lang="en-US" altLang="zh-CN" dirty="0"/>
              <a:t>2</a:t>
            </a:r>
            <a:r>
              <a:rPr lang="zh-CN" altLang="en-US" dirty="0"/>
              <a:t>的倍数</a:t>
            </a:r>
            <a:endParaRPr lang="en-US" altLang="zh-CN" dirty="0">
              <a:ea typeface="宋体" panose="02010600030101010101" pitchFamily="2" charset="-122"/>
            </a:endParaRPr>
          </a:p>
          <a:p>
            <a:pPr lvl="1">
              <a:lnSpc>
                <a:spcPct val="140000"/>
              </a:lnSpc>
            </a:pPr>
            <a:r>
              <a:rPr lang="en-US" altLang="zh-CN" dirty="0">
                <a:ea typeface="宋体" panose="02010600030101010101" pitchFamily="2" charset="-122"/>
              </a:rPr>
              <a:t>4</a:t>
            </a:r>
            <a:r>
              <a:rPr lang="zh-CN" altLang="en-US" dirty="0"/>
              <a:t>字节数据结构地址必须是</a:t>
            </a:r>
            <a:r>
              <a:rPr lang="en-US" altLang="zh-CN" dirty="0"/>
              <a:t>4</a:t>
            </a:r>
            <a:r>
              <a:rPr lang="zh-CN" altLang="en-US" dirty="0"/>
              <a:t>的倍数</a:t>
            </a:r>
            <a:endParaRPr lang="en-US" altLang="zh-CN" dirty="0">
              <a:ea typeface="宋体" panose="02010600030101010101" pitchFamily="2" charset="-122"/>
            </a:endParaRPr>
          </a:p>
          <a:p>
            <a:pPr lvl="1">
              <a:lnSpc>
                <a:spcPct val="140000"/>
              </a:lnSpc>
            </a:pPr>
            <a:r>
              <a:rPr lang="zh-CN" altLang="en-US" dirty="0"/>
              <a:t>更大的数据结构地址必须是</a:t>
            </a:r>
            <a:r>
              <a:rPr lang="en-US" altLang="zh-CN" dirty="0"/>
              <a:t>8</a:t>
            </a:r>
            <a:r>
              <a:rPr lang="zh-CN" altLang="en-US" dirty="0"/>
              <a:t>的倍数</a:t>
            </a:r>
            <a:endParaRPr lang="en-US" altLang="zh-CN" dirty="0">
              <a:ea typeface="宋体" panose="02010600030101010101" pitchFamily="2" charset="-122"/>
            </a:endParaRPr>
          </a:p>
        </p:txBody>
      </p:sp>
      <p:sp>
        <p:nvSpPr>
          <p:cNvPr id="118786" name="灯片编号占位符 5">
            <a:extLst>
              <a:ext uri="{FF2B5EF4-FFF2-40B4-BE49-F238E27FC236}">
                <a16:creationId xmlns:a16="http://schemas.microsoft.com/office/drawing/2014/main" id="{C4ACD12E-12DA-43BA-BCD4-4792F27F27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F9F5493A-78D7-41BF-BDA1-9955BBA34BEC}" type="slidenum">
              <a:rPr lang="zh-CN" altLang="en-US" sz="1167">
                <a:latin typeface="Times New Roman" panose="02020603050405020304" pitchFamily="18" charset="0"/>
              </a:rPr>
              <a:pPr>
                <a:spcBef>
                  <a:spcPct val="0"/>
                </a:spcBef>
                <a:buFontTx/>
                <a:buNone/>
              </a:pPr>
              <a:t>32</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1198114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2">
            <a:extLst>
              <a:ext uri="{FF2B5EF4-FFF2-40B4-BE49-F238E27FC236}">
                <a16:creationId xmlns:a16="http://schemas.microsoft.com/office/drawing/2014/main" id="{95E4CAD3-5F83-470E-8DC8-EAC1F5876B4F}"/>
              </a:ext>
            </a:extLst>
          </p:cNvPr>
          <p:cNvSpPr>
            <a:spLocks noGrp="1" noChangeArrowheads="1"/>
          </p:cNvSpPr>
          <p:nvPr>
            <p:ph type="title"/>
          </p:nvPr>
        </p:nvSpPr>
        <p:spPr/>
        <p:txBody>
          <a:bodyPr/>
          <a:lstStyle/>
          <a:p>
            <a:r>
              <a:rPr lang="zh-CN" altLang="en-US" dirty="0"/>
              <a:t>对齐（</a:t>
            </a:r>
            <a:r>
              <a:rPr lang="en-US" altLang="zh-CN" dirty="0"/>
              <a:t>alignment</a:t>
            </a:r>
            <a:r>
              <a:rPr lang="zh-CN" altLang="en-US" dirty="0"/>
              <a:t>）</a:t>
            </a:r>
            <a:endParaRPr lang="en-US" altLang="zh-CN" dirty="0">
              <a:ea typeface="方正舒体" panose="02010601030101010101" pitchFamily="2" charset="-122"/>
            </a:endParaRPr>
          </a:p>
        </p:txBody>
      </p:sp>
      <p:sp>
        <p:nvSpPr>
          <p:cNvPr id="120836" name="Rectangle 3">
            <a:extLst>
              <a:ext uri="{FF2B5EF4-FFF2-40B4-BE49-F238E27FC236}">
                <a16:creationId xmlns:a16="http://schemas.microsoft.com/office/drawing/2014/main" id="{A0D9C0BF-42DC-4699-9DA7-8434835DD475}"/>
              </a:ext>
            </a:extLst>
          </p:cNvPr>
          <p:cNvSpPr>
            <a:spLocks noGrp="1" noChangeArrowheads="1"/>
          </p:cNvSpPr>
          <p:nvPr>
            <p:ph idx="1"/>
          </p:nvPr>
        </p:nvSpPr>
        <p:spPr/>
        <p:txBody>
          <a:bodyPr>
            <a:normAutofit/>
          </a:bodyPr>
          <a:lstStyle/>
          <a:p>
            <a:r>
              <a:rPr lang="zh-CN" altLang="en-US" dirty="0"/>
              <a:t>通过确保每个数据类型的对象在组织与分配的时候满足对齐的要求来加强数据对齐</a:t>
            </a:r>
            <a:endParaRPr lang="en-US" altLang="zh-CN" dirty="0">
              <a:ea typeface="宋体" panose="02010600030101010101" pitchFamily="2" charset="-122"/>
            </a:endParaRPr>
          </a:p>
          <a:p>
            <a:pPr>
              <a:buFontTx/>
              <a:buNone/>
            </a:pPr>
            <a:endParaRPr lang="en-US" altLang="zh-CN" sz="2000" dirty="0">
              <a:solidFill>
                <a:srgbClr val="0432FF"/>
              </a:solidFill>
              <a:latin typeface="Courier" pitchFamily="2" charset="0"/>
              <a:ea typeface="宋体" panose="02010600030101010101" pitchFamily="2" charset="-122"/>
            </a:endParaRPr>
          </a:p>
          <a:p>
            <a:pPr>
              <a:buFontTx/>
              <a:buNone/>
            </a:pPr>
            <a:r>
              <a:rPr lang="en-US" altLang="zh-CN" sz="2000" dirty="0">
                <a:solidFill>
                  <a:srgbClr val="0432FF"/>
                </a:solidFill>
                <a:latin typeface="Courier" pitchFamily="2" charset="0"/>
                <a:ea typeface="宋体" panose="02010600030101010101" pitchFamily="2" charset="-122"/>
              </a:rPr>
              <a:t>.align 8</a:t>
            </a:r>
            <a:endParaRPr lang="en-US" altLang="zh-CN" b="1" dirty="0">
              <a:solidFill>
                <a:srgbClr val="0432FF"/>
              </a:solidFill>
              <a:latin typeface="Courier" pitchFamily="2" charset="0"/>
              <a:ea typeface="宋体" panose="02010600030101010101" pitchFamily="2" charset="-122"/>
            </a:endParaRPr>
          </a:p>
          <a:p>
            <a:endParaRPr lang="en-US" altLang="zh-CN" dirty="0">
              <a:ea typeface="宋体" panose="02010600030101010101" pitchFamily="2" charset="-122"/>
            </a:endParaRPr>
          </a:p>
          <a:p>
            <a:r>
              <a:rPr lang="en-US" altLang="zh-CN" dirty="0">
                <a:ea typeface="宋体" panose="02010600030101010101" pitchFamily="2" charset="-122"/>
              </a:rPr>
              <a:t>malloc()</a:t>
            </a:r>
            <a:r>
              <a:rPr lang="zh-CN" altLang="en-US" dirty="0"/>
              <a:t>返回的泛型指针对齐要求为</a:t>
            </a:r>
            <a:r>
              <a:rPr lang="en-US" altLang="zh-CN" dirty="0"/>
              <a:t>8</a:t>
            </a:r>
            <a:r>
              <a:rPr lang="zh-CN" altLang="en-US"/>
              <a:t>字节</a:t>
            </a:r>
            <a:endParaRPr lang="en-US" altLang="zh-CN" dirty="0">
              <a:ea typeface="宋体" panose="02010600030101010101" pitchFamily="2" charset="-122"/>
            </a:endParaRPr>
          </a:p>
        </p:txBody>
      </p:sp>
      <p:sp>
        <p:nvSpPr>
          <p:cNvPr id="120834" name="灯片编号占位符 5">
            <a:extLst>
              <a:ext uri="{FF2B5EF4-FFF2-40B4-BE49-F238E27FC236}">
                <a16:creationId xmlns:a16="http://schemas.microsoft.com/office/drawing/2014/main" id="{236E0E8F-8986-48B9-81A3-099E9037DF7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E79D5F8D-1872-4200-ACB6-A4159CA169E6}" type="slidenum">
              <a:rPr lang="zh-CN" altLang="en-US" sz="1167">
                <a:latin typeface="Times New Roman" panose="02020603050405020304" pitchFamily="18" charset="0"/>
              </a:rPr>
              <a:pPr>
                <a:spcBef>
                  <a:spcPct val="0"/>
                </a:spcBef>
                <a:buFontTx/>
                <a:buNone/>
              </a:pPr>
              <a:t>33</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80674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2">
            <a:extLst>
              <a:ext uri="{FF2B5EF4-FFF2-40B4-BE49-F238E27FC236}">
                <a16:creationId xmlns:a16="http://schemas.microsoft.com/office/drawing/2014/main" id="{9DFF72DD-18AF-46C3-B4AA-988B6C40128C}"/>
              </a:ext>
            </a:extLst>
          </p:cNvPr>
          <p:cNvSpPr>
            <a:spLocks noGrp="1" noChangeArrowheads="1"/>
          </p:cNvSpPr>
          <p:nvPr>
            <p:ph type="title"/>
          </p:nvPr>
        </p:nvSpPr>
        <p:spPr/>
        <p:txBody>
          <a:bodyPr/>
          <a:lstStyle/>
          <a:p>
            <a:r>
              <a:rPr lang="zh-CN" altLang="en-US" dirty="0"/>
              <a:t>对齐（</a:t>
            </a:r>
            <a:r>
              <a:rPr lang="en-US" altLang="zh-CN" dirty="0"/>
              <a:t>alignment</a:t>
            </a:r>
            <a:r>
              <a:rPr lang="zh-CN" altLang="en-US" dirty="0"/>
              <a:t>）</a:t>
            </a:r>
            <a:endParaRPr lang="en-US" altLang="zh-CN" dirty="0">
              <a:ea typeface="方正舒体" panose="02010601030101010101" pitchFamily="2" charset="-122"/>
            </a:endParaRPr>
          </a:p>
        </p:txBody>
      </p:sp>
      <p:sp>
        <p:nvSpPr>
          <p:cNvPr id="122884" name="Rectangle 3">
            <a:extLst>
              <a:ext uri="{FF2B5EF4-FFF2-40B4-BE49-F238E27FC236}">
                <a16:creationId xmlns:a16="http://schemas.microsoft.com/office/drawing/2014/main" id="{2DD36A13-9F01-4DEA-A503-68E90F9D9E4B}"/>
              </a:ext>
            </a:extLst>
          </p:cNvPr>
          <p:cNvSpPr>
            <a:spLocks noGrp="1" noChangeArrowheads="1"/>
          </p:cNvSpPr>
          <p:nvPr>
            <p:ph idx="1"/>
          </p:nvPr>
        </p:nvSpPr>
        <p:spPr/>
        <p:txBody>
          <a:bodyPr/>
          <a:lstStyle/>
          <a:p>
            <a:r>
              <a:rPr lang="zh-CN" altLang="en-US" dirty="0"/>
              <a:t>对齐对</a:t>
            </a:r>
            <a:r>
              <a:rPr lang="zh-CN" altLang="en-US" dirty="0">
                <a:solidFill>
                  <a:srgbClr val="C00000"/>
                </a:solidFill>
              </a:rPr>
              <a:t>结构体</a:t>
            </a:r>
            <a:r>
              <a:rPr lang="zh-CN" altLang="en-US" dirty="0"/>
              <a:t>的限制</a:t>
            </a:r>
            <a:endParaRPr lang="en-US" altLang="zh-CN" dirty="0">
              <a:ea typeface="宋体" panose="02010600030101010101" pitchFamily="2" charset="-122"/>
            </a:endParaRPr>
          </a:p>
          <a:p>
            <a:pPr lvl="1"/>
            <a:r>
              <a:rPr lang="zh-CN" altLang="en-US" dirty="0"/>
              <a:t>结构体有时需要在</a:t>
            </a:r>
            <a:r>
              <a:rPr lang="zh-CN" altLang="en-US" b="1" dirty="0">
                <a:solidFill>
                  <a:srgbClr val="C00000"/>
                </a:solidFill>
              </a:rPr>
              <a:t>成员间</a:t>
            </a:r>
            <a:r>
              <a:rPr lang="zh-CN" altLang="en-US" dirty="0"/>
              <a:t>插入空隙</a:t>
            </a:r>
            <a:endParaRPr lang="en-US" altLang="zh-CN" dirty="0">
              <a:ea typeface="宋体" panose="02010600030101010101" pitchFamily="2" charset="-122"/>
            </a:endParaRPr>
          </a:p>
          <a:p>
            <a:pPr lvl="1"/>
            <a:r>
              <a:rPr lang="zh-CN" altLang="en-US" dirty="0"/>
              <a:t>结构体有时需要在</a:t>
            </a:r>
            <a:r>
              <a:rPr lang="zh-CN" altLang="en-US" b="1" dirty="0">
                <a:solidFill>
                  <a:srgbClr val="C00000"/>
                </a:solidFill>
              </a:rPr>
              <a:t>末尾处</a:t>
            </a:r>
            <a:r>
              <a:rPr lang="zh-CN" altLang="en-US" dirty="0"/>
              <a:t>增加填充</a:t>
            </a:r>
            <a:endParaRPr lang="en-US" altLang="zh-CN" dirty="0">
              <a:ea typeface="宋体" panose="02010600030101010101" pitchFamily="2" charset="-122"/>
            </a:endParaRPr>
          </a:p>
        </p:txBody>
      </p:sp>
      <p:sp>
        <p:nvSpPr>
          <p:cNvPr id="122882" name="灯片编号占位符 5">
            <a:extLst>
              <a:ext uri="{FF2B5EF4-FFF2-40B4-BE49-F238E27FC236}">
                <a16:creationId xmlns:a16="http://schemas.microsoft.com/office/drawing/2014/main" id="{D56180ED-AE39-4C69-8A7C-B24CF4F6AF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6DD2E170-1ABA-4413-923F-43F7B9387E51}" type="slidenum">
              <a:rPr lang="zh-CN" altLang="en-US" sz="1167">
                <a:latin typeface="Times New Roman" panose="02020603050405020304" pitchFamily="18" charset="0"/>
              </a:rPr>
              <a:pPr>
                <a:spcBef>
                  <a:spcPct val="0"/>
                </a:spcBef>
                <a:buFontTx/>
                <a:buNone/>
              </a:pPr>
              <a:t>34</a:t>
            </a:fld>
            <a:endParaRPr lang="en-US" altLang="zh-CN" sz="1167">
              <a:latin typeface="Times New Roman" panose="02020603050405020304" pitchFamily="18" charset="0"/>
            </a:endParaRPr>
          </a:p>
        </p:txBody>
      </p:sp>
    </p:spTree>
    <p:extLst>
      <p:ext uri="{BB962C8B-B14F-4D97-AF65-F5344CB8AC3E}">
        <p14:creationId xmlns:p14="http://schemas.microsoft.com/office/powerpoint/2010/main" val="2709462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5">
            <a:extLst>
              <a:ext uri="{FF2B5EF4-FFF2-40B4-BE49-F238E27FC236}">
                <a16:creationId xmlns:a16="http://schemas.microsoft.com/office/drawing/2014/main" id="{A8B6B912-93E2-4B15-BF39-BAEF906561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333">
                <a:solidFill>
                  <a:schemeClr val="tx1"/>
                </a:solidFill>
                <a:latin typeface="Comic Sans MS" panose="030F0702030302020204" pitchFamily="66" charset="0"/>
              </a:defRPr>
            </a:lvl1pPr>
            <a:lvl2pPr marL="619100" indent="-238115">
              <a:spcBef>
                <a:spcPct val="20000"/>
              </a:spcBef>
              <a:buChar char="–"/>
              <a:defRPr sz="2000">
                <a:solidFill>
                  <a:schemeClr val="tx1"/>
                </a:solidFill>
                <a:latin typeface="Comic Sans MS" panose="030F0702030302020204" pitchFamily="66" charset="0"/>
              </a:defRPr>
            </a:lvl2pPr>
            <a:lvl3pPr marL="952462" indent="-190492">
              <a:spcBef>
                <a:spcPct val="20000"/>
              </a:spcBef>
              <a:buChar char="•"/>
              <a:defRPr sz="1667">
                <a:solidFill>
                  <a:schemeClr val="tx1"/>
                </a:solidFill>
                <a:latin typeface="Comic Sans MS" panose="030F0702030302020204" pitchFamily="66" charset="0"/>
              </a:defRPr>
            </a:lvl3pPr>
            <a:lvl4pPr marL="1333447" indent="-190492">
              <a:spcBef>
                <a:spcPct val="20000"/>
              </a:spcBef>
              <a:buChar char="–"/>
              <a:defRPr sz="1667">
                <a:solidFill>
                  <a:schemeClr val="tx1"/>
                </a:solidFill>
                <a:latin typeface="Comic Sans MS" panose="030F0702030302020204" pitchFamily="66" charset="0"/>
              </a:defRPr>
            </a:lvl4pPr>
            <a:lvl5pPr marL="1714431" indent="-190492">
              <a:spcBef>
                <a:spcPct val="20000"/>
              </a:spcBef>
              <a:buChar char="»"/>
              <a:defRPr sz="1667">
                <a:solidFill>
                  <a:schemeClr val="tx1"/>
                </a:solidFill>
                <a:latin typeface="Comic Sans MS" panose="030F0702030302020204" pitchFamily="66" charset="0"/>
              </a:defRPr>
            </a:lvl5pPr>
            <a:lvl6pPr marL="2095416" indent="-190492" eaLnBrk="0" fontAlgn="base" hangingPunct="0">
              <a:spcBef>
                <a:spcPct val="20000"/>
              </a:spcBef>
              <a:spcAft>
                <a:spcPct val="0"/>
              </a:spcAft>
              <a:buChar char="»"/>
              <a:defRPr sz="1667">
                <a:solidFill>
                  <a:schemeClr val="tx1"/>
                </a:solidFill>
                <a:latin typeface="Comic Sans MS" panose="030F0702030302020204" pitchFamily="66" charset="0"/>
              </a:defRPr>
            </a:lvl6pPr>
            <a:lvl7pPr marL="2476401" indent="-190492" eaLnBrk="0" fontAlgn="base" hangingPunct="0">
              <a:spcBef>
                <a:spcPct val="20000"/>
              </a:spcBef>
              <a:spcAft>
                <a:spcPct val="0"/>
              </a:spcAft>
              <a:buChar char="»"/>
              <a:defRPr sz="1667">
                <a:solidFill>
                  <a:schemeClr val="tx1"/>
                </a:solidFill>
                <a:latin typeface="Comic Sans MS" panose="030F0702030302020204" pitchFamily="66" charset="0"/>
              </a:defRPr>
            </a:lvl7pPr>
            <a:lvl8pPr marL="2857386" indent="-190492" eaLnBrk="0" fontAlgn="base" hangingPunct="0">
              <a:spcBef>
                <a:spcPct val="20000"/>
              </a:spcBef>
              <a:spcAft>
                <a:spcPct val="0"/>
              </a:spcAft>
              <a:buChar char="»"/>
              <a:defRPr sz="1667">
                <a:solidFill>
                  <a:schemeClr val="tx1"/>
                </a:solidFill>
                <a:latin typeface="Comic Sans MS" panose="030F0702030302020204" pitchFamily="66" charset="0"/>
              </a:defRPr>
            </a:lvl8pPr>
            <a:lvl9pPr marL="3238370" indent="-190492" eaLnBrk="0" fontAlgn="base" hangingPunct="0">
              <a:spcBef>
                <a:spcPct val="20000"/>
              </a:spcBef>
              <a:spcAft>
                <a:spcPct val="0"/>
              </a:spcAft>
              <a:buChar char="»"/>
              <a:defRPr sz="1667">
                <a:solidFill>
                  <a:schemeClr val="tx1"/>
                </a:solidFill>
                <a:latin typeface="Comic Sans MS" panose="030F0702030302020204" pitchFamily="66" charset="0"/>
              </a:defRPr>
            </a:lvl9pPr>
          </a:lstStyle>
          <a:p>
            <a:pPr>
              <a:spcBef>
                <a:spcPct val="0"/>
              </a:spcBef>
              <a:buFontTx/>
              <a:buNone/>
            </a:pPr>
            <a:fld id="{2478EE4C-E796-4A85-896F-240E08BAF9AF}" type="slidenum">
              <a:rPr lang="zh-CN" altLang="en-US" sz="1167">
                <a:latin typeface="Times New Roman" panose="02020603050405020304" pitchFamily="18" charset="0"/>
              </a:rPr>
              <a:pPr>
                <a:spcBef>
                  <a:spcPct val="0"/>
                </a:spcBef>
                <a:buFontTx/>
                <a:buNone/>
              </a:pPr>
              <a:t>35</a:t>
            </a:fld>
            <a:endParaRPr lang="en-US" altLang="zh-CN" sz="1167">
              <a:latin typeface="Times New Roman" panose="02020603050405020304" pitchFamily="18" charset="0"/>
            </a:endParaRPr>
          </a:p>
        </p:txBody>
      </p:sp>
      <p:sp>
        <p:nvSpPr>
          <p:cNvPr id="124931" name="Rectangle 2">
            <a:extLst>
              <a:ext uri="{FF2B5EF4-FFF2-40B4-BE49-F238E27FC236}">
                <a16:creationId xmlns:a16="http://schemas.microsoft.com/office/drawing/2014/main" id="{2049F270-E8AE-4691-A5B8-DA80049DC5C1}"/>
              </a:ext>
            </a:extLst>
          </p:cNvPr>
          <p:cNvSpPr>
            <a:spLocks noGrp="1" noChangeArrowheads="1"/>
          </p:cNvSpPr>
          <p:nvPr>
            <p:ph type="title"/>
          </p:nvPr>
        </p:nvSpPr>
        <p:spPr/>
        <p:txBody>
          <a:bodyPr/>
          <a:lstStyle/>
          <a:p>
            <a:r>
              <a:rPr lang="zh-CN" altLang="en-US" dirty="0"/>
              <a:t>对齐的例子</a:t>
            </a:r>
            <a:endParaRPr lang="en-US" altLang="zh-CN" dirty="0">
              <a:ea typeface="方正舒体" panose="02010601030101010101" pitchFamily="2" charset="-122"/>
            </a:endParaRPr>
          </a:p>
        </p:txBody>
      </p:sp>
      <p:sp>
        <p:nvSpPr>
          <p:cNvPr id="124932" name="Rectangle 3">
            <a:extLst>
              <a:ext uri="{FF2B5EF4-FFF2-40B4-BE49-F238E27FC236}">
                <a16:creationId xmlns:a16="http://schemas.microsoft.com/office/drawing/2014/main" id="{74100644-9B01-4B62-ABBD-69075176696D}"/>
              </a:ext>
            </a:extLst>
          </p:cNvPr>
          <p:cNvSpPr>
            <a:spLocks noGrp="1" noChangeArrowheads="1"/>
          </p:cNvSpPr>
          <p:nvPr>
            <p:ph type="body" idx="1"/>
          </p:nvPr>
        </p:nvSpPr>
        <p:spPr>
          <a:xfrm>
            <a:off x="1143000" y="1333500"/>
            <a:ext cx="2540000" cy="3238500"/>
          </a:xfrm>
        </p:spPr>
        <p:txBody>
          <a:bodyPr/>
          <a:lstStyle/>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struct S1 {</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int i;</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char c;</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	int j;</a:t>
            </a:r>
          </a:p>
          <a:p>
            <a:pPr>
              <a:buFontTx/>
              <a:buNone/>
            </a:pPr>
            <a:r>
              <a:rPr lang="en-US" altLang="zh-CN" sz="1667">
                <a:latin typeface="Consolas" panose="020B0609020204030204" pitchFamily="49" charset="0"/>
                <a:ea typeface="宋体" panose="02010600030101010101" pitchFamily="2" charset="-122"/>
                <a:cs typeface="Consolas" panose="020B0609020204030204" pitchFamily="49" charset="0"/>
              </a:rPr>
              <a:t>};</a:t>
            </a:r>
          </a:p>
        </p:txBody>
      </p:sp>
      <p:sp>
        <p:nvSpPr>
          <p:cNvPr id="124935" name="TextBox 14">
            <a:extLst>
              <a:ext uri="{FF2B5EF4-FFF2-40B4-BE49-F238E27FC236}">
                <a16:creationId xmlns:a16="http://schemas.microsoft.com/office/drawing/2014/main" id="{72B45B1B-233B-4E5D-B7D9-D59BD0B31B94}"/>
              </a:ext>
            </a:extLst>
          </p:cNvPr>
          <p:cNvSpPr txBox="1">
            <a:spLocks noChangeArrowheads="1"/>
          </p:cNvSpPr>
          <p:nvPr/>
        </p:nvSpPr>
        <p:spPr bwMode="auto">
          <a:xfrm>
            <a:off x="2540000" y="4111625"/>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0</a:t>
            </a:r>
          </a:p>
        </p:txBody>
      </p:sp>
      <p:sp>
        <p:nvSpPr>
          <p:cNvPr id="124936" name="TextBox 15">
            <a:extLst>
              <a:ext uri="{FF2B5EF4-FFF2-40B4-BE49-F238E27FC236}">
                <a16:creationId xmlns:a16="http://schemas.microsoft.com/office/drawing/2014/main" id="{3EF9E32D-4B96-450C-9DB4-9D3A28F76867}"/>
              </a:ext>
            </a:extLst>
          </p:cNvPr>
          <p:cNvSpPr txBox="1">
            <a:spLocks noChangeArrowheads="1"/>
          </p:cNvSpPr>
          <p:nvPr/>
        </p:nvSpPr>
        <p:spPr bwMode="auto">
          <a:xfrm>
            <a:off x="3746500" y="4111625"/>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4</a:t>
            </a:r>
          </a:p>
        </p:txBody>
      </p:sp>
      <p:sp>
        <p:nvSpPr>
          <p:cNvPr id="124937" name="TextBox 16">
            <a:extLst>
              <a:ext uri="{FF2B5EF4-FFF2-40B4-BE49-F238E27FC236}">
                <a16:creationId xmlns:a16="http://schemas.microsoft.com/office/drawing/2014/main" id="{1CE3FD49-0641-4464-9152-7D68424FE6E4}"/>
              </a:ext>
            </a:extLst>
          </p:cNvPr>
          <p:cNvSpPr txBox="1">
            <a:spLocks noChangeArrowheads="1"/>
          </p:cNvSpPr>
          <p:nvPr/>
        </p:nvSpPr>
        <p:spPr bwMode="auto">
          <a:xfrm>
            <a:off x="4953000" y="4111625"/>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8</a:t>
            </a:r>
          </a:p>
        </p:txBody>
      </p:sp>
      <p:sp>
        <p:nvSpPr>
          <p:cNvPr id="124938" name="TextBox 17">
            <a:extLst>
              <a:ext uri="{FF2B5EF4-FFF2-40B4-BE49-F238E27FC236}">
                <a16:creationId xmlns:a16="http://schemas.microsoft.com/office/drawing/2014/main" id="{0FC11AD9-C903-41EB-BAA3-D9AB63B9184E}"/>
              </a:ext>
            </a:extLst>
          </p:cNvPr>
          <p:cNvSpPr txBox="1">
            <a:spLocks noChangeArrowheads="1"/>
          </p:cNvSpPr>
          <p:nvPr/>
        </p:nvSpPr>
        <p:spPr bwMode="auto">
          <a:xfrm>
            <a:off x="6032500" y="4111625"/>
            <a:ext cx="508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buFontTx/>
              <a:buNone/>
            </a:pPr>
            <a:r>
              <a:rPr lang="en-US" altLang="zh-CN" sz="1667">
                <a:solidFill>
                  <a:srgbClr val="000000"/>
                </a:solidFill>
                <a:latin typeface="Consolas" panose="020B0609020204030204" pitchFamily="49" charset="0"/>
                <a:cs typeface="Consolas" panose="020B0609020204030204" pitchFamily="49" charset="0"/>
              </a:rPr>
              <a:t>12</a:t>
            </a:r>
          </a:p>
        </p:txBody>
      </p:sp>
      <p:graphicFrame>
        <p:nvGraphicFramePr>
          <p:cNvPr id="6" name="Table 5">
            <a:extLst>
              <a:ext uri="{FF2B5EF4-FFF2-40B4-BE49-F238E27FC236}">
                <a16:creationId xmlns:a16="http://schemas.microsoft.com/office/drawing/2014/main" id="{48E9E628-FB18-4F7C-9130-2DA0306E8C48}"/>
              </a:ext>
            </a:extLst>
          </p:cNvPr>
          <p:cNvGraphicFramePr>
            <a:graphicFrameLocks noGrp="1"/>
          </p:cNvGraphicFramePr>
          <p:nvPr/>
        </p:nvGraphicFramePr>
        <p:xfrm>
          <a:off x="2686845" y="4542896"/>
          <a:ext cx="3599657" cy="334502"/>
        </p:xfrm>
        <a:graphic>
          <a:graphicData uri="http://schemas.openxmlformats.org/drawingml/2006/table">
            <a:tbl>
              <a:tblPr/>
              <a:tblGrid>
                <a:gridCol w="1199885">
                  <a:extLst>
                    <a:ext uri="{9D8B030D-6E8A-4147-A177-3AD203B41FA5}">
                      <a16:colId xmlns:a16="http://schemas.microsoft.com/office/drawing/2014/main" val="20000"/>
                    </a:ext>
                  </a:extLst>
                </a:gridCol>
                <a:gridCol w="300303">
                  <a:extLst>
                    <a:ext uri="{9D8B030D-6E8A-4147-A177-3AD203B41FA5}">
                      <a16:colId xmlns:a16="http://schemas.microsoft.com/office/drawing/2014/main" val="20001"/>
                    </a:ext>
                  </a:extLst>
                </a:gridCol>
                <a:gridCol w="300302">
                  <a:extLst>
                    <a:ext uri="{9D8B030D-6E8A-4147-A177-3AD203B41FA5}">
                      <a16:colId xmlns:a16="http://schemas.microsoft.com/office/drawing/2014/main" val="20002"/>
                    </a:ext>
                  </a:extLst>
                </a:gridCol>
                <a:gridCol w="298979">
                  <a:extLst>
                    <a:ext uri="{9D8B030D-6E8A-4147-A177-3AD203B41FA5}">
                      <a16:colId xmlns:a16="http://schemas.microsoft.com/office/drawing/2014/main" val="20003"/>
                    </a:ext>
                  </a:extLst>
                </a:gridCol>
                <a:gridCol w="300303">
                  <a:extLst>
                    <a:ext uri="{9D8B030D-6E8A-4147-A177-3AD203B41FA5}">
                      <a16:colId xmlns:a16="http://schemas.microsoft.com/office/drawing/2014/main" val="20004"/>
                    </a:ext>
                  </a:extLst>
                </a:gridCol>
                <a:gridCol w="1199885">
                  <a:extLst>
                    <a:ext uri="{9D8B030D-6E8A-4147-A177-3AD203B41FA5}">
                      <a16:colId xmlns:a16="http://schemas.microsoft.com/office/drawing/2014/main" val="20005"/>
                    </a:ext>
                  </a:extLst>
                </a:gridCol>
              </a:tblGrid>
              <a:tr h="329422">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CN" sz="1700" b="1" i="0" u="none" strike="noStrike" cap="none" normalizeH="0" baseline="0">
                          <a:ln>
                            <a:noFill/>
                          </a:ln>
                          <a:solidFill>
                            <a:schemeClr val="tx1"/>
                          </a:solidFill>
                          <a:effectLst/>
                          <a:latin typeface="Courier" pitchFamily="2" charset="0"/>
                          <a:ea typeface="宋体" panose="02010600030101010101" pitchFamily="2" charset="-122"/>
                        </a:rPr>
                        <a:t>i</a:t>
                      </a:r>
                    </a:p>
                  </a:txBody>
                  <a:tcPr marL="76193" marR="76193" marT="37711" marB="3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CN" sz="1700" b="1" i="0" u="none" strike="noStrike" cap="none" normalizeH="0" baseline="0">
                          <a:ln>
                            <a:noFill/>
                          </a:ln>
                          <a:solidFill>
                            <a:schemeClr val="tx1"/>
                          </a:solidFill>
                          <a:effectLst/>
                          <a:latin typeface="Courier" pitchFamily="2" charset="0"/>
                          <a:ea typeface="宋体" panose="02010600030101010101" pitchFamily="2" charset="-122"/>
                        </a:rPr>
                        <a:t>c</a:t>
                      </a:r>
                    </a:p>
                  </a:txBody>
                  <a:tcPr marL="76193" marR="76193" marT="37711" marB="3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CN" altLang="en-CN" sz="1700" b="1" i="0" u="none" strike="noStrike" cap="none" normalizeH="0" baseline="0">
                        <a:ln>
                          <a:noFill/>
                        </a:ln>
                        <a:solidFill>
                          <a:schemeClr val="tx1"/>
                        </a:solidFill>
                        <a:effectLst/>
                        <a:latin typeface="Courier" pitchFamily="2" charset="0"/>
                        <a:ea typeface="宋体" panose="02010600030101010101" pitchFamily="2" charset="-122"/>
                      </a:endParaRPr>
                    </a:p>
                  </a:txBody>
                  <a:tcPr marL="76193" marR="76193" marT="37711" marB="3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432FF"/>
                    </a:solid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CN" altLang="en-CN" sz="1700" b="1" i="0" u="none" strike="noStrike" cap="none" normalizeH="0" baseline="0">
                        <a:ln>
                          <a:noFill/>
                        </a:ln>
                        <a:solidFill>
                          <a:schemeClr val="tx1"/>
                        </a:solidFill>
                        <a:effectLst/>
                        <a:latin typeface="Courier" pitchFamily="2" charset="0"/>
                        <a:ea typeface="宋体" panose="02010600030101010101" pitchFamily="2" charset="-122"/>
                      </a:endParaRPr>
                    </a:p>
                  </a:txBody>
                  <a:tcPr marL="76193" marR="76193" marT="37711" marB="3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432FF"/>
                    </a:solid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CN" altLang="en-CN" sz="1700" b="1" i="0" u="none" strike="noStrike" cap="none" normalizeH="0" baseline="0">
                        <a:ln>
                          <a:noFill/>
                        </a:ln>
                        <a:solidFill>
                          <a:schemeClr val="tx1"/>
                        </a:solidFill>
                        <a:effectLst/>
                        <a:latin typeface="Courier" pitchFamily="2" charset="0"/>
                        <a:ea typeface="宋体" panose="02010600030101010101" pitchFamily="2" charset="-122"/>
                      </a:endParaRPr>
                    </a:p>
                  </a:txBody>
                  <a:tcPr marL="76193" marR="76193" marT="37711" marB="3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432FF"/>
                    </a:solid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CN" sz="1700" b="1" i="0" u="none" strike="noStrike" cap="none" normalizeH="0" baseline="0">
                          <a:ln>
                            <a:noFill/>
                          </a:ln>
                          <a:solidFill>
                            <a:schemeClr val="tx1"/>
                          </a:solidFill>
                          <a:effectLst/>
                          <a:latin typeface="Courier" pitchFamily="2" charset="0"/>
                          <a:ea typeface="宋体" panose="02010600030101010101" pitchFamily="2" charset="-122"/>
                        </a:rPr>
                        <a:t>j</a:t>
                      </a:r>
                    </a:p>
                  </a:txBody>
                  <a:tcPr marL="76193" marR="76193" marT="37711" marB="3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12" name="TextBox 12">
            <a:extLst>
              <a:ext uri="{FF2B5EF4-FFF2-40B4-BE49-F238E27FC236}">
                <a16:creationId xmlns:a16="http://schemas.microsoft.com/office/drawing/2014/main" id="{E84F48F0-EA52-4A8D-BB26-595B90495552}"/>
              </a:ext>
            </a:extLst>
          </p:cNvPr>
          <p:cNvSpPr txBox="1">
            <a:spLocks noChangeArrowheads="1"/>
          </p:cNvSpPr>
          <p:nvPr/>
        </p:nvSpPr>
        <p:spPr bwMode="auto">
          <a:xfrm>
            <a:off x="1333500" y="4504532"/>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内容</a:t>
            </a:r>
            <a:endParaRPr lang="en-US" altLang="zh-CN" sz="1400" dirty="0">
              <a:solidFill>
                <a:srgbClr val="000000"/>
              </a:solidFill>
              <a:latin typeface="Consolas" panose="020B0609020204030204" pitchFamily="49" charset="0"/>
              <a:cs typeface="Consolas" panose="020B0609020204030204" pitchFamily="49" charset="0"/>
            </a:endParaRPr>
          </a:p>
        </p:txBody>
      </p:sp>
      <p:sp>
        <p:nvSpPr>
          <p:cNvPr id="13" name="TextBox 13">
            <a:extLst>
              <a:ext uri="{FF2B5EF4-FFF2-40B4-BE49-F238E27FC236}">
                <a16:creationId xmlns:a16="http://schemas.microsoft.com/office/drawing/2014/main" id="{C3296FC9-E602-49E7-B772-33036FF4C234}"/>
              </a:ext>
            </a:extLst>
          </p:cNvPr>
          <p:cNvSpPr txBox="1">
            <a:spLocks noChangeArrowheads="1"/>
          </p:cNvSpPr>
          <p:nvPr/>
        </p:nvSpPr>
        <p:spPr bwMode="auto">
          <a:xfrm>
            <a:off x="1333500" y="4064000"/>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r">
              <a:buFontTx/>
              <a:buNone/>
            </a:pPr>
            <a:r>
              <a:rPr lang="zh-CN" altLang="en-US" sz="1800" dirty="0"/>
              <a:t>偏移量</a:t>
            </a:r>
            <a:endParaRPr lang="en-US" altLang="zh-CN" sz="1400" dirty="0">
              <a:solidFill>
                <a:srgbClr val="0000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888781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9AF81BF-789B-3B4E-8A65-E26308EA0B5A}"/>
              </a:ext>
            </a:extLst>
          </p:cNvPr>
          <p:cNvSpPr>
            <a:spLocks noGrp="1"/>
          </p:cNvSpPr>
          <p:nvPr>
            <p:ph type="title"/>
          </p:nvPr>
        </p:nvSpPr>
        <p:spPr/>
        <p:txBody>
          <a:bodyPr/>
          <a:lstStyle/>
          <a:p>
            <a:r>
              <a:rPr lang="zh-CN" altLang="en-US" dirty="0"/>
              <a:t>特权级别与系统</a:t>
            </a:r>
            <a:r>
              <a:rPr lang="en-US" altLang="zh-CN" dirty="0"/>
              <a:t>ISA</a:t>
            </a:r>
            <a:endParaRPr lang="zh-CN" altLang="en-US" dirty="0"/>
          </a:p>
        </p:txBody>
      </p:sp>
      <p:sp>
        <p:nvSpPr>
          <p:cNvPr id="6" name="文本占位符 5">
            <a:extLst>
              <a:ext uri="{FF2B5EF4-FFF2-40B4-BE49-F238E27FC236}">
                <a16:creationId xmlns:a16="http://schemas.microsoft.com/office/drawing/2014/main" id="{C3FD2469-E0B1-FE4B-9F15-731DA3CB94D7}"/>
              </a:ext>
            </a:extLst>
          </p:cNvPr>
          <p:cNvSpPr>
            <a:spLocks noGrp="1"/>
          </p:cNvSpPr>
          <p:nvPr>
            <p:ph type="body" idx="1"/>
          </p:nvPr>
        </p:nvSpPr>
        <p:spPr/>
        <p:txBody>
          <a:bodyPr/>
          <a:lstStyle/>
          <a:p>
            <a:endParaRPr lang="zh-CN" altLang="en-US"/>
          </a:p>
        </p:txBody>
      </p:sp>
      <p:sp>
        <p:nvSpPr>
          <p:cNvPr id="7" name="灯片编号占位符 6">
            <a:extLst>
              <a:ext uri="{FF2B5EF4-FFF2-40B4-BE49-F238E27FC236}">
                <a16:creationId xmlns:a16="http://schemas.microsoft.com/office/drawing/2014/main" id="{3CF6C5AF-D2BA-0F4F-81C7-AAA045BB4DE0}"/>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Tree>
    <p:extLst>
      <p:ext uri="{BB962C8B-B14F-4D97-AF65-F5344CB8AC3E}">
        <p14:creationId xmlns:p14="http://schemas.microsoft.com/office/powerpoint/2010/main" val="7455996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CC83FF-040E-B245-9D59-3939C0180BEA}"/>
              </a:ext>
            </a:extLst>
          </p:cNvPr>
          <p:cNvSpPr>
            <a:spLocks noGrp="1"/>
          </p:cNvSpPr>
          <p:nvPr>
            <p:ph type="title"/>
          </p:nvPr>
        </p:nvSpPr>
        <p:spPr/>
        <p:txBody>
          <a:bodyPr/>
          <a:lstStyle/>
          <a:p>
            <a:r>
              <a:rPr kumimoji="1" lang="zh-CN" altLang="en-US" dirty="0"/>
              <a:t>回顾：特权级的必要性</a:t>
            </a:r>
          </a:p>
        </p:txBody>
      </p:sp>
      <p:sp>
        <p:nvSpPr>
          <p:cNvPr id="3" name="内容占位符 2">
            <a:extLst>
              <a:ext uri="{FF2B5EF4-FFF2-40B4-BE49-F238E27FC236}">
                <a16:creationId xmlns:a16="http://schemas.microsoft.com/office/drawing/2014/main" id="{7328C6D9-AAC0-5D42-B548-63B268CD4AD7}"/>
              </a:ext>
            </a:extLst>
          </p:cNvPr>
          <p:cNvSpPr>
            <a:spLocks noGrp="1"/>
          </p:cNvSpPr>
          <p:nvPr>
            <p:ph idx="1"/>
          </p:nvPr>
        </p:nvSpPr>
        <p:spPr>
          <a:xfrm>
            <a:off x="457200" y="1333500"/>
            <a:ext cx="8229600" cy="3963461"/>
          </a:xfrm>
        </p:spPr>
        <p:txBody>
          <a:bodyPr>
            <a:normAutofit lnSpcReduction="10000"/>
          </a:bodyPr>
          <a:lstStyle/>
          <a:p>
            <a:r>
              <a:rPr kumimoji="1" lang="zh-CN" altLang="en-US" sz="2000" dirty="0"/>
              <a:t>多道（</a:t>
            </a:r>
            <a:r>
              <a:rPr kumimoji="1" lang="en-US" altLang="zh-CN" sz="2000" dirty="0"/>
              <a:t>Multi-programming</a:t>
            </a:r>
            <a:r>
              <a:rPr kumimoji="1" lang="zh-CN" altLang="en-US" sz="2000" dirty="0"/>
              <a:t>）操作系统的诞生</a:t>
            </a:r>
            <a:endParaRPr kumimoji="1" lang="en-US" altLang="zh-CN" sz="2000" dirty="0"/>
          </a:p>
          <a:p>
            <a:pPr lvl="1"/>
            <a:r>
              <a:rPr kumimoji="1" lang="zh-CN" altLang="en-US" sz="1800" dirty="0"/>
              <a:t>通过时分复用计算资源的方式，在一台计算机上同时运行多个应用程序</a:t>
            </a:r>
            <a:endParaRPr kumimoji="1" lang="en-US" altLang="zh-CN" sz="1800" dirty="0"/>
          </a:p>
          <a:p>
            <a:r>
              <a:rPr kumimoji="1" lang="zh-CN" altLang="en-US" sz="2000" dirty="0"/>
              <a:t>新的问题：如何保证不同应用间的隔离？</a:t>
            </a:r>
            <a:endParaRPr kumimoji="1" lang="en-US" altLang="zh-CN" sz="2000" dirty="0"/>
          </a:p>
          <a:p>
            <a:pPr lvl="1"/>
            <a:r>
              <a:rPr kumimoji="1" lang="zh-CN" altLang="en-US" sz="1800" dirty="0"/>
              <a:t>如果所有的应用均能完全控制硬件计算资源，则会导致混乱</a:t>
            </a:r>
            <a:endParaRPr kumimoji="1" lang="en-US" altLang="zh-CN" sz="1800" dirty="0"/>
          </a:p>
          <a:p>
            <a:pPr lvl="2"/>
            <a:r>
              <a:rPr kumimoji="1" lang="zh-CN" altLang="en-US" sz="1700" dirty="0"/>
              <a:t>例如：某个应用希望关机，某个应用希望格式化硬盘</a:t>
            </a:r>
            <a:endParaRPr kumimoji="1" lang="en-US" altLang="zh-CN" sz="1700" dirty="0"/>
          </a:p>
          <a:p>
            <a:pPr lvl="1"/>
            <a:r>
              <a:rPr kumimoji="1" lang="zh-CN" altLang="en-US" sz="1800" dirty="0"/>
              <a:t>因此必须先让应用降权，不允许直接改变全局的系统状态</a:t>
            </a:r>
            <a:endParaRPr kumimoji="1" lang="en-US" altLang="zh-CN" sz="1800" dirty="0"/>
          </a:p>
          <a:p>
            <a:pPr lvl="2"/>
            <a:r>
              <a:rPr kumimoji="1" lang="zh-CN" altLang="en-US" sz="1700" dirty="0"/>
              <a:t>例如：中断是否打开</a:t>
            </a:r>
            <a:endParaRPr kumimoji="1" lang="en-US" altLang="zh-CN" sz="2200" dirty="0"/>
          </a:p>
          <a:p>
            <a:r>
              <a:rPr kumimoji="1" lang="zh-CN" altLang="en-US" sz="2000" dirty="0"/>
              <a:t>方案：必须要有不同的权限级</a:t>
            </a:r>
            <a:r>
              <a:rPr kumimoji="1" lang="en-US" altLang="zh-CN" sz="2000" dirty="0"/>
              <a:t>——</a:t>
            </a:r>
            <a:r>
              <a:rPr kumimoji="1" lang="zh-CN" altLang="en-US" sz="2000" dirty="0"/>
              <a:t>至少两种权限</a:t>
            </a:r>
            <a:endParaRPr kumimoji="1" lang="en-US" altLang="zh-CN" sz="2000" dirty="0"/>
          </a:p>
          <a:p>
            <a:pPr lvl="1"/>
            <a:r>
              <a:rPr kumimoji="1" lang="zh-CN" altLang="en-US" sz="1800" dirty="0"/>
              <a:t>低权限：不允许改变全局系统状态，用来运行应用</a:t>
            </a:r>
            <a:endParaRPr kumimoji="1" lang="en-US" altLang="zh-CN" sz="1800" dirty="0"/>
          </a:p>
          <a:p>
            <a:pPr lvl="1"/>
            <a:r>
              <a:rPr kumimoji="1" lang="zh-CN" altLang="en-US" sz="1800" dirty="0"/>
              <a:t>高权限：集中运行能改变全局系统状态的操作，形成了操作系统</a:t>
            </a:r>
            <a:endParaRPr kumimoji="1" lang="en-US" altLang="zh-CN" sz="1800" dirty="0"/>
          </a:p>
        </p:txBody>
      </p:sp>
      <p:sp>
        <p:nvSpPr>
          <p:cNvPr id="4" name="灯片编号占位符 3">
            <a:extLst>
              <a:ext uri="{FF2B5EF4-FFF2-40B4-BE49-F238E27FC236}">
                <a16:creationId xmlns:a16="http://schemas.microsoft.com/office/drawing/2014/main" id="{9737EDAF-519C-854C-ADD2-62185BDE13C2}"/>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cxnSp>
        <p:nvCxnSpPr>
          <p:cNvPr id="6" name="直线连接符 5">
            <a:extLst>
              <a:ext uri="{FF2B5EF4-FFF2-40B4-BE49-F238E27FC236}">
                <a16:creationId xmlns:a16="http://schemas.microsoft.com/office/drawing/2014/main" id="{B02DE983-1B05-D546-A5B1-70EBFB01437F}"/>
              </a:ext>
            </a:extLst>
          </p:cNvPr>
          <p:cNvCxnSpPr/>
          <p:nvPr/>
        </p:nvCxnSpPr>
        <p:spPr>
          <a:xfrm>
            <a:off x="3131840" y="5161756"/>
            <a:ext cx="2736304"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00BE77D8-6B7A-0D4D-9F11-66F160214A4A}"/>
              </a:ext>
            </a:extLst>
          </p:cNvPr>
          <p:cNvSpPr/>
          <p:nvPr/>
        </p:nvSpPr>
        <p:spPr>
          <a:xfrm>
            <a:off x="3945994" y="5161756"/>
            <a:ext cx="1107996" cy="369332"/>
          </a:xfrm>
          <a:prstGeom prst="rect">
            <a:avLst/>
          </a:prstGeom>
        </p:spPr>
        <p:txBody>
          <a:bodyPr wrap="none">
            <a:spAutoFit/>
          </a:bodyPr>
          <a:lstStyle/>
          <a:p>
            <a:r>
              <a:rPr kumimoji="1" lang="zh-CN" altLang="en-US" b="1" dirty="0">
                <a:solidFill>
                  <a:schemeClr val="accent1"/>
                </a:solidFill>
              </a:rPr>
              <a:t>特权操作</a:t>
            </a:r>
            <a:endParaRPr lang="zh-CN" altLang="en-US" b="1" dirty="0">
              <a:solidFill>
                <a:schemeClr val="accent1"/>
              </a:solidFill>
            </a:endParaRPr>
          </a:p>
        </p:txBody>
      </p:sp>
    </p:spTree>
    <p:extLst>
      <p:ext uri="{BB962C8B-B14F-4D97-AF65-F5344CB8AC3E}">
        <p14:creationId xmlns:p14="http://schemas.microsoft.com/office/powerpoint/2010/main" val="147260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53ABD-BAA6-3143-8366-381FB8FF0691}"/>
              </a:ext>
            </a:extLst>
          </p:cNvPr>
          <p:cNvSpPr>
            <a:spLocks noGrp="1"/>
          </p:cNvSpPr>
          <p:nvPr>
            <p:ph type="title"/>
          </p:nvPr>
        </p:nvSpPr>
        <p:spPr/>
        <p:txBody>
          <a:bodyPr/>
          <a:lstStyle/>
          <a:p>
            <a:r>
              <a:rPr kumimoji="1" lang="zh-CN" altLang="en-US" dirty="0"/>
              <a:t>回顾：操作系统的分化</a:t>
            </a:r>
          </a:p>
        </p:txBody>
      </p:sp>
      <p:sp>
        <p:nvSpPr>
          <p:cNvPr id="4" name="灯片编号占位符 3">
            <a:extLst>
              <a:ext uri="{FF2B5EF4-FFF2-40B4-BE49-F238E27FC236}">
                <a16:creationId xmlns:a16="http://schemas.microsoft.com/office/drawing/2014/main" id="{A5B7D10B-DBDD-6C4C-B752-498EC331CE28}"/>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圆角矩形 4">
            <a:extLst>
              <a:ext uri="{FF2B5EF4-FFF2-40B4-BE49-F238E27FC236}">
                <a16:creationId xmlns:a16="http://schemas.microsoft.com/office/drawing/2014/main" id="{7EB76F47-B51B-0749-ADD2-53423C160E20}"/>
              </a:ext>
            </a:extLst>
          </p:cNvPr>
          <p:cNvSpPr/>
          <p:nvPr/>
        </p:nvSpPr>
        <p:spPr>
          <a:xfrm>
            <a:off x="683568" y="1795845"/>
            <a:ext cx="1473324" cy="1665365"/>
          </a:xfrm>
          <a:prstGeom prst="roundRect">
            <a:avLst>
              <a:gd name="adj" fmla="val 820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软件</a:t>
            </a:r>
          </a:p>
        </p:txBody>
      </p:sp>
      <p:sp>
        <p:nvSpPr>
          <p:cNvPr id="6" name="圆角矩形 5">
            <a:extLst>
              <a:ext uri="{FF2B5EF4-FFF2-40B4-BE49-F238E27FC236}">
                <a16:creationId xmlns:a16="http://schemas.microsoft.com/office/drawing/2014/main" id="{60CF39FB-5310-8C45-9E54-935605B590C6}"/>
              </a:ext>
            </a:extLst>
          </p:cNvPr>
          <p:cNvSpPr/>
          <p:nvPr/>
        </p:nvSpPr>
        <p:spPr>
          <a:xfrm>
            <a:off x="683568"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8" name="圆角矩形 7">
            <a:extLst>
              <a:ext uri="{FF2B5EF4-FFF2-40B4-BE49-F238E27FC236}">
                <a16:creationId xmlns:a16="http://schemas.microsoft.com/office/drawing/2014/main" id="{19825525-1C84-F342-A36F-5DC362F746F5}"/>
              </a:ext>
            </a:extLst>
          </p:cNvPr>
          <p:cNvSpPr/>
          <p:nvPr/>
        </p:nvSpPr>
        <p:spPr>
          <a:xfrm>
            <a:off x="2810644" y="1795845"/>
            <a:ext cx="1473324" cy="701615"/>
          </a:xfrm>
          <a:prstGeom prst="roundRect">
            <a:avLst>
              <a:gd name="adj" fmla="val 2074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硬件无关部分</a:t>
            </a:r>
          </a:p>
        </p:txBody>
      </p:sp>
      <p:sp>
        <p:nvSpPr>
          <p:cNvPr id="9" name="圆角矩形 8">
            <a:extLst>
              <a:ext uri="{FF2B5EF4-FFF2-40B4-BE49-F238E27FC236}">
                <a16:creationId xmlns:a16="http://schemas.microsoft.com/office/drawing/2014/main" id="{8382B8DC-88B1-7E46-A175-A3A0C1F283DA}"/>
              </a:ext>
            </a:extLst>
          </p:cNvPr>
          <p:cNvSpPr/>
          <p:nvPr/>
        </p:nvSpPr>
        <p:spPr>
          <a:xfrm>
            <a:off x="2810644"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10" name="圆角矩形 9">
            <a:extLst>
              <a:ext uri="{FF2B5EF4-FFF2-40B4-BE49-F238E27FC236}">
                <a16:creationId xmlns:a16="http://schemas.microsoft.com/office/drawing/2014/main" id="{5288F513-E4DC-344F-84C3-982CED15BAF9}"/>
              </a:ext>
            </a:extLst>
          </p:cNvPr>
          <p:cNvSpPr/>
          <p:nvPr/>
        </p:nvSpPr>
        <p:spPr>
          <a:xfrm>
            <a:off x="2810644" y="2759595"/>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p>
        </p:txBody>
      </p:sp>
      <p:sp>
        <p:nvSpPr>
          <p:cNvPr id="11" name="圆角矩形 10">
            <a:extLst>
              <a:ext uri="{FF2B5EF4-FFF2-40B4-BE49-F238E27FC236}">
                <a16:creationId xmlns:a16="http://schemas.microsoft.com/office/drawing/2014/main" id="{4B73FB20-DACF-3C4B-9E6A-E68CDFB2BB4B}"/>
              </a:ext>
            </a:extLst>
          </p:cNvPr>
          <p:cNvSpPr/>
          <p:nvPr/>
        </p:nvSpPr>
        <p:spPr>
          <a:xfrm>
            <a:off x="4911840" y="1795845"/>
            <a:ext cx="1473324" cy="701615"/>
          </a:xfrm>
          <a:prstGeom prst="roundRect">
            <a:avLst>
              <a:gd name="adj" fmla="val 20743"/>
            </a:avLst>
          </a:prstGeom>
          <a:solidFill>
            <a:schemeClr val="accent4">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200" dirty="0">
                <a:solidFill>
                  <a:schemeClr val="tx1"/>
                </a:solidFill>
              </a:rPr>
              <a:t>硬件</a:t>
            </a:r>
            <a:r>
              <a:rPr kumimoji="1" lang="zh-CN" altLang="en-US" sz="1200">
                <a:solidFill>
                  <a:schemeClr val="tx1"/>
                </a:solidFill>
              </a:rPr>
              <a:t>无关部分</a:t>
            </a:r>
            <a:endParaRPr kumimoji="1" lang="en-US" altLang="zh-CN" sz="1200" dirty="0">
              <a:solidFill>
                <a:schemeClr val="tx1"/>
              </a:solidFill>
            </a:endParaRPr>
          </a:p>
          <a:p>
            <a:pPr algn="ctr"/>
            <a:r>
              <a:rPr kumimoji="1" lang="en-US" altLang="zh-CN" sz="1200">
                <a:solidFill>
                  <a:schemeClr val="tx1"/>
                </a:solidFill>
              </a:rPr>
              <a:t>+</a:t>
            </a:r>
            <a:endParaRPr kumimoji="1" lang="en-US" altLang="zh-CN" sz="1200" dirty="0">
              <a:solidFill>
                <a:schemeClr val="tx1"/>
              </a:solidFill>
            </a:endParaRPr>
          </a:p>
          <a:p>
            <a:pPr algn="ctr"/>
            <a:r>
              <a:rPr kumimoji="1" lang="zh-CN" altLang="en-US" sz="1200" dirty="0">
                <a:solidFill>
                  <a:schemeClr val="tx1"/>
                </a:solidFill>
              </a:rPr>
              <a:t>非特权操作部分</a:t>
            </a:r>
          </a:p>
        </p:txBody>
      </p:sp>
      <p:sp>
        <p:nvSpPr>
          <p:cNvPr id="12" name="圆角矩形 11">
            <a:extLst>
              <a:ext uri="{FF2B5EF4-FFF2-40B4-BE49-F238E27FC236}">
                <a16:creationId xmlns:a16="http://schemas.microsoft.com/office/drawing/2014/main" id="{8B06A5F2-9B49-EE45-94DC-07E269B45214}"/>
              </a:ext>
            </a:extLst>
          </p:cNvPr>
          <p:cNvSpPr/>
          <p:nvPr/>
        </p:nvSpPr>
        <p:spPr>
          <a:xfrm>
            <a:off x="4911840"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硬件（支持特权）</a:t>
            </a:r>
          </a:p>
        </p:txBody>
      </p:sp>
      <p:sp>
        <p:nvSpPr>
          <p:cNvPr id="13" name="圆角矩形 12">
            <a:extLst>
              <a:ext uri="{FF2B5EF4-FFF2-40B4-BE49-F238E27FC236}">
                <a16:creationId xmlns:a16="http://schemas.microsoft.com/office/drawing/2014/main" id="{6A526A3F-126C-4E48-ACFC-053261837650}"/>
              </a:ext>
            </a:extLst>
          </p:cNvPr>
          <p:cNvSpPr/>
          <p:nvPr/>
        </p:nvSpPr>
        <p:spPr>
          <a:xfrm>
            <a:off x="4911840" y="2759596"/>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endParaRPr kumimoji="1" lang="en-US" altLang="zh-CN" sz="1200" dirty="0"/>
          </a:p>
          <a:p>
            <a:pPr algn="ctr"/>
            <a:r>
              <a:rPr kumimoji="1" lang="en-US" altLang="zh-CN" sz="1200" dirty="0"/>
              <a:t>+</a:t>
            </a:r>
          </a:p>
          <a:p>
            <a:pPr algn="ctr"/>
            <a:r>
              <a:rPr kumimoji="1" lang="zh-CN" altLang="en-US" sz="1200" dirty="0"/>
              <a:t>特权操作部分</a:t>
            </a:r>
          </a:p>
        </p:txBody>
      </p:sp>
      <p:cxnSp>
        <p:nvCxnSpPr>
          <p:cNvPr id="15" name="直线箭头连接符 14">
            <a:extLst>
              <a:ext uri="{FF2B5EF4-FFF2-40B4-BE49-F238E27FC236}">
                <a16:creationId xmlns:a16="http://schemas.microsoft.com/office/drawing/2014/main" id="{4E841A3B-33E9-A742-8C43-E5312EA4A557}"/>
              </a:ext>
            </a:extLst>
          </p:cNvPr>
          <p:cNvCxnSpPr>
            <a:stCxn id="8" idx="2"/>
            <a:endCxn id="10" idx="0"/>
          </p:cNvCxnSpPr>
          <p:nvPr/>
        </p:nvCxnSpPr>
        <p:spPr>
          <a:xfrm>
            <a:off x="3547306" y="2497460"/>
            <a:ext cx="0" cy="262135"/>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7" name="直线连接符 16">
            <a:extLst>
              <a:ext uri="{FF2B5EF4-FFF2-40B4-BE49-F238E27FC236}">
                <a16:creationId xmlns:a16="http://schemas.microsoft.com/office/drawing/2014/main" id="{E049675C-6883-AE4B-BC3E-EDADB43B3A98}"/>
              </a:ext>
            </a:extLst>
          </p:cNvPr>
          <p:cNvCxnSpPr>
            <a:cxnSpLocks/>
          </p:cNvCxnSpPr>
          <p:nvPr/>
        </p:nvCxnSpPr>
        <p:spPr>
          <a:xfrm>
            <a:off x="4839832" y="2641476"/>
            <a:ext cx="1656184"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19" name="下箭头 18">
            <a:extLst>
              <a:ext uri="{FF2B5EF4-FFF2-40B4-BE49-F238E27FC236}">
                <a16:creationId xmlns:a16="http://schemas.microsoft.com/office/drawing/2014/main" id="{880CDE1A-D635-AC49-B927-6D10E08E79AF}"/>
              </a:ext>
            </a:extLst>
          </p:cNvPr>
          <p:cNvSpPr/>
          <p:nvPr/>
        </p:nvSpPr>
        <p:spPr>
          <a:xfrm>
            <a:off x="5540490" y="2497460"/>
            <a:ext cx="216024" cy="262135"/>
          </a:xfrm>
          <a:prstGeom prst="downArrow">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13ECF690-D4B3-7743-82CC-9EEA42B735AC}"/>
              </a:ext>
            </a:extLst>
          </p:cNvPr>
          <p:cNvSpPr/>
          <p:nvPr/>
        </p:nvSpPr>
        <p:spPr>
          <a:xfrm>
            <a:off x="6496016" y="2925736"/>
            <a:ext cx="1107996" cy="369332"/>
          </a:xfrm>
          <a:prstGeom prst="rect">
            <a:avLst/>
          </a:prstGeom>
        </p:spPr>
        <p:txBody>
          <a:bodyPr wrap="none">
            <a:spAutoFit/>
          </a:bodyPr>
          <a:lstStyle/>
          <a:p>
            <a:r>
              <a:rPr kumimoji="1" lang="zh-CN" altLang="en-US" b="1" dirty="0">
                <a:solidFill>
                  <a:schemeClr val="accent1"/>
                </a:solidFill>
              </a:rPr>
              <a:t>操作系统</a:t>
            </a:r>
            <a:endParaRPr lang="zh-CN" altLang="en-US" b="1" dirty="0">
              <a:solidFill>
                <a:schemeClr val="accent1"/>
              </a:solidFill>
            </a:endParaRPr>
          </a:p>
        </p:txBody>
      </p:sp>
      <p:sp>
        <p:nvSpPr>
          <p:cNvPr id="21" name="矩形 20">
            <a:extLst>
              <a:ext uri="{FF2B5EF4-FFF2-40B4-BE49-F238E27FC236}">
                <a16:creationId xmlns:a16="http://schemas.microsoft.com/office/drawing/2014/main" id="{EE3F6EDE-9A22-6641-BA99-4DF76611506F}"/>
              </a:ext>
            </a:extLst>
          </p:cNvPr>
          <p:cNvSpPr/>
          <p:nvPr/>
        </p:nvSpPr>
        <p:spPr>
          <a:xfrm>
            <a:off x="6496016" y="1961986"/>
            <a:ext cx="1107996" cy="369332"/>
          </a:xfrm>
          <a:prstGeom prst="rect">
            <a:avLst/>
          </a:prstGeom>
        </p:spPr>
        <p:txBody>
          <a:bodyPr wrap="none">
            <a:spAutoFit/>
          </a:bodyPr>
          <a:lstStyle/>
          <a:p>
            <a:r>
              <a:rPr kumimoji="1" lang="zh-CN" altLang="en-US" b="1" dirty="0">
                <a:solidFill>
                  <a:schemeClr val="accent4">
                    <a:lumMod val="75000"/>
                  </a:schemeClr>
                </a:solidFill>
              </a:rPr>
              <a:t>应用程序</a:t>
            </a:r>
            <a:endParaRPr lang="zh-CN" altLang="en-US" b="1" dirty="0">
              <a:solidFill>
                <a:schemeClr val="accent4">
                  <a:lumMod val="75000"/>
                </a:schemeClr>
              </a:solidFill>
            </a:endParaRPr>
          </a:p>
        </p:txBody>
      </p:sp>
      <p:sp>
        <p:nvSpPr>
          <p:cNvPr id="22" name="矩形 21">
            <a:extLst>
              <a:ext uri="{FF2B5EF4-FFF2-40B4-BE49-F238E27FC236}">
                <a16:creationId xmlns:a16="http://schemas.microsoft.com/office/drawing/2014/main" id="{96A316CD-15BE-6B46-A35C-4BDDF136083C}"/>
              </a:ext>
            </a:extLst>
          </p:cNvPr>
          <p:cNvSpPr/>
          <p:nvPr/>
        </p:nvSpPr>
        <p:spPr>
          <a:xfrm>
            <a:off x="7743061" y="2740567"/>
            <a:ext cx="1005403" cy="338554"/>
          </a:xfrm>
          <a:prstGeom prst="rect">
            <a:avLst/>
          </a:prstGeom>
        </p:spPr>
        <p:txBody>
          <a:bodyPr wrap="none">
            <a:spAutoFit/>
          </a:bodyPr>
          <a:lstStyle/>
          <a:p>
            <a:r>
              <a:rPr kumimoji="1" lang="zh-CN" altLang="en-US" sz="1600" dirty="0">
                <a:solidFill>
                  <a:schemeClr val="accent1"/>
                </a:solidFill>
              </a:rPr>
              <a:t>服务应用</a:t>
            </a:r>
            <a:endParaRPr lang="zh-CN" altLang="en-US" sz="1600" dirty="0">
              <a:solidFill>
                <a:schemeClr val="accent1"/>
              </a:solidFill>
            </a:endParaRPr>
          </a:p>
        </p:txBody>
      </p:sp>
      <p:sp>
        <p:nvSpPr>
          <p:cNvPr id="23" name="矩形 22">
            <a:extLst>
              <a:ext uri="{FF2B5EF4-FFF2-40B4-BE49-F238E27FC236}">
                <a16:creationId xmlns:a16="http://schemas.microsoft.com/office/drawing/2014/main" id="{C95B1862-DCB1-D646-9810-78E36BCC5C8B}"/>
              </a:ext>
            </a:extLst>
          </p:cNvPr>
          <p:cNvSpPr/>
          <p:nvPr/>
        </p:nvSpPr>
        <p:spPr>
          <a:xfrm>
            <a:off x="7743061" y="3183282"/>
            <a:ext cx="1005403" cy="338554"/>
          </a:xfrm>
          <a:prstGeom prst="rect">
            <a:avLst/>
          </a:prstGeom>
        </p:spPr>
        <p:txBody>
          <a:bodyPr wrap="none">
            <a:spAutoFit/>
          </a:bodyPr>
          <a:lstStyle/>
          <a:p>
            <a:r>
              <a:rPr kumimoji="1" lang="zh-CN" altLang="en-US" sz="1600" dirty="0">
                <a:solidFill>
                  <a:schemeClr val="accent1"/>
                </a:solidFill>
              </a:rPr>
              <a:t>管理应用</a:t>
            </a:r>
            <a:endParaRPr lang="zh-CN" altLang="en-US" sz="1600" dirty="0">
              <a:solidFill>
                <a:schemeClr val="accent1"/>
              </a:solidFill>
            </a:endParaRPr>
          </a:p>
        </p:txBody>
      </p:sp>
      <p:sp>
        <p:nvSpPr>
          <p:cNvPr id="24" name="左大括号 23">
            <a:extLst>
              <a:ext uri="{FF2B5EF4-FFF2-40B4-BE49-F238E27FC236}">
                <a16:creationId xmlns:a16="http://schemas.microsoft.com/office/drawing/2014/main" id="{ADDD5EA8-D771-954C-B3A6-2ECF3C0D7022}"/>
              </a:ext>
            </a:extLst>
          </p:cNvPr>
          <p:cNvSpPr/>
          <p:nvPr/>
        </p:nvSpPr>
        <p:spPr>
          <a:xfrm>
            <a:off x="7650677" y="2780394"/>
            <a:ext cx="92384" cy="701615"/>
          </a:xfrm>
          <a:prstGeom prst="leftBrace">
            <a:avLst>
              <a:gd name="adj1" fmla="val 9425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 name="右箭头 2">
            <a:extLst>
              <a:ext uri="{FF2B5EF4-FFF2-40B4-BE49-F238E27FC236}">
                <a16:creationId xmlns:a16="http://schemas.microsoft.com/office/drawing/2014/main" id="{F058E750-AF95-3F40-B5E9-5C511296398C}"/>
              </a:ext>
            </a:extLst>
          </p:cNvPr>
          <p:cNvSpPr/>
          <p:nvPr/>
        </p:nvSpPr>
        <p:spPr>
          <a:xfrm>
            <a:off x="2353405" y="2641476"/>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右箭头 24">
            <a:extLst>
              <a:ext uri="{FF2B5EF4-FFF2-40B4-BE49-F238E27FC236}">
                <a16:creationId xmlns:a16="http://schemas.microsoft.com/office/drawing/2014/main" id="{5CF83721-0427-F244-B275-2136DA2D36E9}"/>
              </a:ext>
            </a:extLst>
          </p:cNvPr>
          <p:cNvSpPr/>
          <p:nvPr/>
        </p:nvSpPr>
        <p:spPr>
          <a:xfrm>
            <a:off x="4452303" y="2638677"/>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79440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512D2F-A71E-D843-BEFE-4A9E44E5A1CF}"/>
              </a:ext>
            </a:extLst>
          </p:cNvPr>
          <p:cNvSpPr>
            <a:spLocks noGrp="1"/>
          </p:cNvSpPr>
          <p:nvPr>
            <p:ph type="title"/>
          </p:nvPr>
        </p:nvSpPr>
        <p:spPr/>
        <p:txBody>
          <a:bodyPr/>
          <a:lstStyle/>
          <a:p>
            <a:r>
              <a:rPr kumimoji="1" lang="zh-CN" altLang="en-US" dirty="0"/>
              <a:t>回顾：</a:t>
            </a:r>
            <a:r>
              <a:rPr kumimoji="1" lang="en-US" altLang="zh-CN" dirty="0"/>
              <a:t>CPU</a:t>
            </a:r>
            <a:r>
              <a:rPr kumimoji="1" lang="zh-CN" altLang="en-US" dirty="0"/>
              <a:t>的两种</a:t>
            </a:r>
            <a:r>
              <a:rPr kumimoji="1" lang="en-US" altLang="zh-CN" dirty="0"/>
              <a:t>ISA</a:t>
            </a:r>
            <a:endParaRPr kumimoji="1" lang="zh-CN" altLang="en-US" dirty="0"/>
          </a:p>
        </p:txBody>
      </p:sp>
      <p:sp>
        <p:nvSpPr>
          <p:cNvPr id="3" name="内容占位符 2">
            <a:extLst>
              <a:ext uri="{FF2B5EF4-FFF2-40B4-BE49-F238E27FC236}">
                <a16:creationId xmlns:a16="http://schemas.microsoft.com/office/drawing/2014/main" id="{53FBAF17-D019-DE4A-9B92-F75296B3E40A}"/>
              </a:ext>
            </a:extLst>
          </p:cNvPr>
          <p:cNvSpPr>
            <a:spLocks noGrp="1"/>
          </p:cNvSpPr>
          <p:nvPr>
            <p:ph idx="1"/>
          </p:nvPr>
        </p:nvSpPr>
        <p:spPr>
          <a:xfrm>
            <a:off x="457200" y="1333500"/>
            <a:ext cx="8229600" cy="4152634"/>
          </a:xfrm>
        </p:spPr>
        <p:txBody>
          <a:bodyPr>
            <a:normAutofit/>
          </a:bodyPr>
          <a:lstStyle/>
          <a:p>
            <a:r>
              <a:rPr kumimoji="1" lang="en-US" altLang="zh-CN" sz="2000" dirty="0"/>
              <a:t>CPU</a:t>
            </a:r>
            <a:r>
              <a:rPr kumimoji="1" lang="zh-CN" altLang="en-US" sz="2000" dirty="0"/>
              <a:t>对软件提供的接口称为</a:t>
            </a:r>
            <a:r>
              <a:rPr kumimoji="1" lang="en-US" altLang="zh-CN" sz="2000" dirty="0"/>
              <a:t>ISA</a:t>
            </a:r>
          </a:p>
          <a:p>
            <a:pPr lvl="1"/>
            <a:r>
              <a:rPr kumimoji="1" lang="en-US" altLang="zh-CN" sz="1800" dirty="0"/>
              <a:t>ISA:</a:t>
            </a:r>
            <a:r>
              <a:rPr kumimoji="1" lang="zh-CN" altLang="en-US" sz="1800" dirty="0"/>
              <a:t> </a:t>
            </a:r>
            <a:r>
              <a:rPr kumimoji="1" lang="en-US" altLang="zh-CN" sz="1800" dirty="0"/>
              <a:t>Instruction</a:t>
            </a:r>
            <a:r>
              <a:rPr kumimoji="1" lang="zh-CN" altLang="en-US" sz="1800" dirty="0"/>
              <a:t> </a:t>
            </a:r>
            <a:r>
              <a:rPr kumimoji="1" lang="en-US" altLang="zh-CN" sz="1800" dirty="0"/>
              <a:t>Set</a:t>
            </a:r>
            <a:r>
              <a:rPr kumimoji="1" lang="zh-CN" altLang="en-US" sz="1800" dirty="0"/>
              <a:t> </a:t>
            </a:r>
            <a:r>
              <a:rPr kumimoji="1" lang="en-US" altLang="zh-CN" sz="1800" dirty="0"/>
              <a:t>Architecture</a:t>
            </a:r>
          </a:p>
          <a:p>
            <a:pPr lvl="1"/>
            <a:r>
              <a:rPr kumimoji="1" lang="zh-CN" altLang="en-US" sz="1800" dirty="0"/>
              <a:t>包含指令、寄存器等软件可见、可操作的接口</a:t>
            </a:r>
            <a:endParaRPr kumimoji="1" lang="en-US" altLang="zh-CN" sz="1800" dirty="0"/>
          </a:p>
          <a:p>
            <a:r>
              <a:rPr kumimoji="1" lang="en-US" altLang="zh-CN" sz="2000" dirty="0"/>
              <a:t>CPU</a:t>
            </a:r>
            <a:r>
              <a:rPr kumimoji="1" lang="zh-CN" altLang="en-US" sz="2000" dirty="0"/>
              <a:t>的两个模式：非特权模式（用户态）和特权模式（内核态）</a:t>
            </a:r>
            <a:endParaRPr kumimoji="1" lang="en-US" altLang="zh-CN" sz="2000" dirty="0"/>
          </a:p>
          <a:p>
            <a:pPr lvl="1"/>
            <a:r>
              <a:rPr kumimoji="1" lang="zh-CN" altLang="en-US" sz="1800" b="1" dirty="0"/>
              <a:t>非特权模式</a:t>
            </a:r>
            <a:r>
              <a:rPr kumimoji="1" lang="en-US" altLang="zh-CN" sz="1800" b="1" dirty="0"/>
              <a:t>ISA</a:t>
            </a:r>
            <a:r>
              <a:rPr kumimoji="1" lang="zh-CN" altLang="en-US" sz="1800" b="1" dirty="0"/>
              <a:t>（用户</a:t>
            </a:r>
            <a:r>
              <a:rPr kumimoji="1" lang="en-US" altLang="zh-CN" sz="1800" b="1" dirty="0"/>
              <a:t>ISA</a:t>
            </a:r>
            <a:r>
              <a:rPr kumimoji="1" lang="zh-CN" altLang="en-US" sz="1800" b="1" dirty="0"/>
              <a:t>）</a:t>
            </a:r>
            <a:r>
              <a:rPr kumimoji="1" lang="zh-CN" altLang="en-US" sz="1800" dirty="0"/>
              <a:t>：应用可使用的指令和寄存器</a:t>
            </a:r>
            <a:endParaRPr kumimoji="1" lang="en-US" altLang="zh-CN" sz="1800" dirty="0"/>
          </a:p>
          <a:p>
            <a:pPr lvl="2"/>
            <a:r>
              <a:rPr kumimoji="1" lang="zh-CN" altLang="en-US" sz="1600" dirty="0"/>
              <a:t>包括各种运算指令、通用寄存器等</a:t>
            </a:r>
            <a:endParaRPr kumimoji="1" lang="en-US" altLang="zh-CN" sz="1600" dirty="0"/>
          </a:p>
          <a:p>
            <a:pPr lvl="1"/>
            <a:r>
              <a:rPr kumimoji="1" lang="zh-CN" altLang="en-US" sz="1800" b="1" dirty="0"/>
              <a:t>特权模式</a:t>
            </a:r>
            <a:r>
              <a:rPr kumimoji="1" lang="en-US" altLang="zh-CN" sz="1800" b="1" dirty="0"/>
              <a:t>ISA</a:t>
            </a:r>
            <a:r>
              <a:rPr kumimoji="1" lang="zh-CN" altLang="en-US" sz="1800" b="1" dirty="0"/>
              <a:t>（系统</a:t>
            </a:r>
            <a:r>
              <a:rPr kumimoji="1" lang="en-US" altLang="zh-CN" sz="1800" b="1" dirty="0"/>
              <a:t>ISA</a:t>
            </a:r>
            <a:r>
              <a:rPr kumimoji="1" lang="zh-CN" altLang="en-US" sz="1800" b="1" dirty="0"/>
              <a:t>）</a:t>
            </a:r>
            <a:r>
              <a:rPr kumimoji="1" lang="zh-CN" altLang="en-US" sz="1800" dirty="0"/>
              <a:t>：只有操作系统才可使用的指令和寄存器</a:t>
            </a:r>
            <a:endParaRPr kumimoji="1" lang="en-US" altLang="zh-CN" sz="1800" dirty="0"/>
          </a:p>
          <a:p>
            <a:pPr lvl="2"/>
            <a:r>
              <a:rPr kumimoji="1" lang="zh-CN" altLang="en-US" sz="1600" dirty="0"/>
              <a:t>包括各种特权指令、系统寄存器等</a:t>
            </a:r>
            <a:endParaRPr kumimoji="1" lang="en-US" altLang="zh-CN" sz="1600" dirty="0"/>
          </a:p>
          <a:p>
            <a:pPr lvl="1"/>
            <a:r>
              <a:rPr kumimoji="1" lang="zh-CN" altLang="en-US" sz="1800" dirty="0"/>
              <a:t>从上到下的切换过程通常称为陷入（</a:t>
            </a:r>
            <a:r>
              <a:rPr kumimoji="1" lang="en-US" altLang="zh-CN" sz="1800" dirty="0"/>
              <a:t>trap</a:t>
            </a:r>
            <a:r>
              <a:rPr kumimoji="1" lang="zh-CN" altLang="en-US" sz="1800" dirty="0"/>
              <a:t>）</a:t>
            </a:r>
            <a:endParaRPr kumimoji="1" lang="en-US" altLang="zh-CN" sz="1800" dirty="0"/>
          </a:p>
        </p:txBody>
      </p:sp>
      <p:sp>
        <p:nvSpPr>
          <p:cNvPr id="4" name="灯片编号占位符 3">
            <a:extLst>
              <a:ext uri="{FF2B5EF4-FFF2-40B4-BE49-F238E27FC236}">
                <a16:creationId xmlns:a16="http://schemas.microsoft.com/office/drawing/2014/main" id="{EBAEAD88-48EA-7741-A86F-D007E48A4BB2}"/>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Tree>
    <p:extLst>
      <p:ext uri="{BB962C8B-B14F-4D97-AF65-F5344CB8AC3E}">
        <p14:creationId xmlns:p14="http://schemas.microsoft.com/office/powerpoint/2010/main" val="169302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7EE76-B197-8147-BBFC-BD1D611AE5AD}"/>
              </a:ext>
            </a:extLst>
          </p:cNvPr>
          <p:cNvSpPr>
            <a:spLocks noGrp="1"/>
          </p:cNvSpPr>
          <p:nvPr>
            <p:ph type="title"/>
          </p:nvPr>
        </p:nvSpPr>
        <p:spPr/>
        <p:txBody>
          <a:bodyPr/>
          <a:lstStyle/>
          <a:p>
            <a:r>
              <a:rPr kumimoji="1" lang="zh-CN" altLang="en-US" dirty="0"/>
              <a:t>用户态与内核态</a:t>
            </a:r>
          </a:p>
        </p:txBody>
      </p:sp>
      <p:sp>
        <p:nvSpPr>
          <p:cNvPr id="3" name="内容占位符 2">
            <a:extLst>
              <a:ext uri="{FF2B5EF4-FFF2-40B4-BE49-F238E27FC236}">
                <a16:creationId xmlns:a16="http://schemas.microsoft.com/office/drawing/2014/main" id="{ED5B9DE6-E07B-AC4E-8D65-B42AC148FFC0}"/>
              </a:ext>
            </a:extLst>
          </p:cNvPr>
          <p:cNvSpPr>
            <a:spLocks noGrp="1"/>
          </p:cNvSpPr>
          <p:nvPr>
            <p:ph idx="1"/>
          </p:nvPr>
        </p:nvSpPr>
        <p:spPr/>
        <p:txBody>
          <a:bodyPr/>
          <a:lstStyle/>
          <a:p>
            <a:r>
              <a:rPr lang="zh-CN" altLang="en-US" b="1" dirty="0">
                <a:effectLst/>
                <a:latin typeface="Helvetica" pitchFamily="2" charset="0"/>
              </a:rPr>
              <a:t>用户态</a:t>
            </a:r>
            <a:r>
              <a:rPr lang="zh-CN" altLang="en-US" dirty="0">
                <a:effectLst/>
                <a:latin typeface="Helvetica" pitchFamily="2" charset="0"/>
              </a:rPr>
              <a:t>（</a:t>
            </a:r>
            <a:r>
              <a:rPr lang="en" altLang="zh-CN" dirty="0">
                <a:effectLst/>
                <a:latin typeface="Helvetica" pitchFamily="2" charset="0"/>
              </a:rPr>
              <a:t>User-mode</a:t>
            </a:r>
            <a:r>
              <a:rPr lang="zh-CN" altLang="en" dirty="0">
                <a:effectLst/>
                <a:latin typeface="Helvetica" pitchFamily="2" charset="0"/>
              </a:rPr>
              <a:t>）</a:t>
            </a:r>
            <a:endParaRPr lang="en-US" altLang="zh-CN" dirty="0">
              <a:effectLst/>
              <a:latin typeface="Helvetica" pitchFamily="2" charset="0"/>
            </a:endParaRPr>
          </a:p>
          <a:p>
            <a:pPr lvl="1"/>
            <a:r>
              <a:rPr lang="zh-CN" altLang="en-US" dirty="0">
                <a:effectLst/>
                <a:latin typeface="Helvetica" pitchFamily="2" charset="0"/>
              </a:rPr>
              <a:t>只能使用</a:t>
            </a:r>
            <a:r>
              <a:rPr lang="zh-CN" altLang="en-US" dirty="0">
                <a:effectLst/>
                <a:highlight>
                  <a:srgbClr val="FFFF00"/>
                </a:highlight>
                <a:latin typeface="Helvetica" pitchFamily="2" charset="0"/>
              </a:rPr>
              <a:t>用户 </a:t>
            </a:r>
            <a:r>
              <a:rPr lang="en" altLang="zh-CN" dirty="0">
                <a:effectLst/>
                <a:highlight>
                  <a:srgbClr val="FFFF00"/>
                </a:highlight>
                <a:latin typeface="Helvetica" pitchFamily="2" charset="0"/>
              </a:rPr>
              <a:t>ISA</a:t>
            </a:r>
            <a:endParaRPr lang="en-US" altLang="zh-CN" dirty="0">
              <a:effectLst/>
              <a:highlight>
                <a:srgbClr val="FFFF00"/>
              </a:highlight>
              <a:latin typeface="Helvetica" pitchFamily="2" charset="0"/>
            </a:endParaRPr>
          </a:p>
          <a:p>
            <a:r>
              <a:rPr lang="zh-CN" altLang="en-US" b="1" dirty="0">
                <a:effectLst/>
                <a:latin typeface="Helvetica" pitchFamily="2" charset="0"/>
              </a:rPr>
              <a:t>内核态</a:t>
            </a:r>
            <a:r>
              <a:rPr lang="zh-CN" altLang="en-US" dirty="0">
                <a:effectLst/>
                <a:latin typeface="Helvetica" pitchFamily="2" charset="0"/>
              </a:rPr>
              <a:t>（</a:t>
            </a:r>
            <a:r>
              <a:rPr lang="en" altLang="zh-CN" dirty="0">
                <a:effectLst/>
                <a:latin typeface="Helvetica" pitchFamily="2" charset="0"/>
              </a:rPr>
              <a:t>Kernel-mode</a:t>
            </a:r>
            <a:r>
              <a:rPr lang="zh-CN" altLang="en" dirty="0">
                <a:effectLst/>
                <a:latin typeface="Helvetica" pitchFamily="2" charset="0"/>
              </a:rPr>
              <a:t>）</a:t>
            </a:r>
            <a:endParaRPr lang="en-US" altLang="zh-CN" dirty="0">
              <a:effectLst/>
              <a:latin typeface="Helvetica" pitchFamily="2" charset="0"/>
            </a:endParaRPr>
          </a:p>
          <a:p>
            <a:pPr lvl="1"/>
            <a:r>
              <a:rPr lang="zh-CN" altLang="en-US" dirty="0">
                <a:effectLst/>
                <a:latin typeface="Helvetica" pitchFamily="2" charset="0"/>
              </a:rPr>
              <a:t>可以同时使用</a:t>
            </a:r>
            <a:r>
              <a:rPr lang="zh-CN" altLang="en-US" dirty="0">
                <a:effectLst/>
                <a:highlight>
                  <a:srgbClr val="FFFF00"/>
                </a:highlight>
                <a:latin typeface="Helvetica" pitchFamily="2" charset="0"/>
              </a:rPr>
              <a:t>系统 </a:t>
            </a:r>
            <a:r>
              <a:rPr lang="en" altLang="zh-CN" dirty="0">
                <a:effectLst/>
                <a:highlight>
                  <a:srgbClr val="FFFF00"/>
                </a:highlight>
                <a:latin typeface="Helvetica" pitchFamily="2" charset="0"/>
              </a:rPr>
              <a:t>ISA </a:t>
            </a:r>
            <a:r>
              <a:rPr lang="zh-CN" altLang="en-US" dirty="0">
                <a:effectLst/>
                <a:latin typeface="Helvetica" pitchFamily="2" charset="0"/>
              </a:rPr>
              <a:t>和</a:t>
            </a:r>
            <a:r>
              <a:rPr lang="zh-CN" altLang="en-US" dirty="0">
                <a:effectLst/>
                <a:highlight>
                  <a:srgbClr val="FFFF00"/>
                </a:highlight>
                <a:latin typeface="Helvetica" pitchFamily="2" charset="0"/>
              </a:rPr>
              <a:t>用户</a:t>
            </a:r>
            <a:r>
              <a:rPr lang="en" altLang="zh-CN" dirty="0">
                <a:effectLst/>
                <a:highlight>
                  <a:srgbClr val="FFFF00"/>
                </a:highlight>
                <a:latin typeface="Helvetica" pitchFamily="2" charset="0"/>
              </a:rPr>
              <a:t>ISA</a:t>
            </a:r>
          </a:p>
          <a:p>
            <a:r>
              <a:rPr lang="zh-CN" altLang="en" dirty="0">
                <a:latin typeface="Helvetica" pitchFamily="2" charset="0"/>
              </a:rPr>
              <a:t>操作系统</a:t>
            </a:r>
            <a:r>
              <a:rPr lang="zh-CN" altLang="en-US" dirty="0">
                <a:latin typeface="Helvetica" pitchFamily="2" charset="0"/>
              </a:rPr>
              <a:t>往往同时包含内核态与用户态的代码</a:t>
            </a:r>
            <a:endParaRPr lang="en-US" altLang="zh-CN" dirty="0">
              <a:latin typeface="Helvetica" pitchFamily="2" charset="0"/>
            </a:endParaRPr>
          </a:p>
          <a:p>
            <a:pPr lvl="1"/>
            <a:r>
              <a:rPr lang="zh-CN" altLang="en-US" dirty="0">
                <a:effectLst/>
                <a:latin typeface="Helvetica" pitchFamily="2" charset="0"/>
              </a:rPr>
              <a:t>如：</a:t>
            </a:r>
            <a:r>
              <a:rPr lang="en-US" altLang="zh-CN" dirty="0">
                <a:effectLst/>
                <a:latin typeface="Helvetica" pitchFamily="2" charset="0"/>
              </a:rPr>
              <a:t>Unix</a:t>
            </a:r>
            <a:r>
              <a:rPr lang="zh-CN" altLang="en-US" dirty="0">
                <a:effectLst/>
                <a:latin typeface="Helvetica" pitchFamily="2" charset="0"/>
              </a:rPr>
              <a:t>包含内核态的</a:t>
            </a:r>
            <a:r>
              <a:rPr lang="en-US" altLang="zh-CN" dirty="0">
                <a:effectLst/>
                <a:latin typeface="Helvetica" pitchFamily="2" charset="0"/>
              </a:rPr>
              <a:t>kernel</a:t>
            </a:r>
            <a:r>
              <a:rPr lang="zh-CN" altLang="en-US" dirty="0">
                <a:effectLst/>
                <a:latin typeface="Helvetica" pitchFamily="2" charset="0"/>
              </a:rPr>
              <a:t> 与 用户态的 </a:t>
            </a:r>
            <a:r>
              <a:rPr lang="en-US" altLang="zh-CN" dirty="0">
                <a:effectLst/>
                <a:latin typeface="Helvetica" pitchFamily="2" charset="0"/>
              </a:rPr>
              <a:t>shell</a:t>
            </a:r>
            <a:endParaRPr lang="zh-CN" altLang="en" dirty="0">
              <a:effectLst/>
              <a:latin typeface="Helvetica" pitchFamily="2" charset="0"/>
            </a:endParaRPr>
          </a:p>
          <a:p>
            <a:endParaRPr kumimoji="1" lang="zh-CN" altLang="en-US" dirty="0"/>
          </a:p>
        </p:txBody>
      </p:sp>
      <p:sp>
        <p:nvSpPr>
          <p:cNvPr id="4" name="灯片编号占位符 3">
            <a:extLst>
              <a:ext uri="{FF2B5EF4-FFF2-40B4-BE49-F238E27FC236}">
                <a16:creationId xmlns:a16="http://schemas.microsoft.com/office/drawing/2014/main" id="{18F100D5-5150-FB4A-8F7E-6C1EEC619158}"/>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Tree>
    <p:extLst>
      <p:ext uri="{BB962C8B-B14F-4D97-AF65-F5344CB8AC3E}">
        <p14:creationId xmlns:p14="http://schemas.microsoft.com/office/powerpoint/2010/main" val="1982841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B458F0-07CB-4ADF-AD69-31243354A30E}"/>
              </a:ext>
            </a:extLst>
          </p:cNvPr>
          <p:cNvSpPr>
            <a:spLocks noGrp="1"/>
          </p:cNvSpPr>
          <p:nvPr>
            <p:ph type="title"/>
          </p:nvPr>
        </p:nvSpPr>
        <p:spPr/>
        <p:txBody>
          <a:bodyPr/>
          <a:lstStyle/>
          <a:p>
            <a:r>
              <a:rPr lang="zh-CN" altLang="en-US" dirty="0"/>
              <a:t>特权级</a:t>
            </a:r>
            <a:r>
              <a:rPr lang="en-US" altLang="zh-CN" dirty="0"/>
              <a:t>/ARM</a:t>
            </a:r>
            <a:r>
              <a:rPr lang="zh-CN" altLang="en-US" dirty="0"/>
              <a:t> </a:t>
            </a:r>
            <a:r>
              <a:rPr lang="en-US" altLang="zh-CN" dirty="0"/>
              <a:t>(Exception</a:t>
            </a:r>
            <a:r>
              <a:rPr lang="zh-CN" altLang="en-US" dirty="0"/>
              <a:t> </a:t>
            </a:r>
            <a:r>
              <a:rPr lang="en-US" altLang="zh-CN" dirty="0"/>
              <a:t>Level)</a:t>
            </a:r>
            <a:endParaRPr lang="zh-CN" altLang="en-US" dirty="0"/>
          </a:p>
        </p:txBody>
      </p:sp>
      <p:sp>
        <p:nvSpPr>
          <p:cNvPr id="4" name="灯片编号占位符 3">
            <a:extLst>
              <a:ext uri="{FF2B5EF4-FFF2-40B4-BE49-F238E27FC236}">
                <a16:creationId xmlns:a16="http://schemas.microsoft.com/office/drawing/2014/main" id="{2BE98FDE-3C28-4842-97B2-B2C395C50F57}"/>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pic>
        <p:nvPicPr>
          <p:cNvPr id="5" name="图片 4">
            <a:extLst>
              <a:ext uri="{FF2B5EF4-FFF2-40B4-BE49-F238E27FC236}">
                <a16:creationId xmlns:a16="http://schemas.microsoft.com/office/drawing/2014/main" id="{E9B81E4E-9380-B545-BC2C-FB65FA346C13}"/>
              </a:ext>
            </a:extLst>
          </p:cNvPr>
          <p:cNvPicPr>
            <a:picLocks noChangeAspect="1"/>
          </p:cNvPicPr>
          <p:nvPr/>
        </p:nvPicPr>
        <p:blipFill>
          <a:blip r:embed="rId3"/>
          <a:stretch>
            <a:fillRect/>
          </a:stretch>
        </p:blipFill>
        <p:spPr>
          <a:xfrm>
            <a:off x="533400" y="1314335"/>
            <a:ext cx="8077200" cy="3949700"/>
          </a:xfrm>
          <a:prstGeom prst="rect">
            <a:avLst/>
          </a:prstGeom>
        </p:spPr>
      </p:pic>
      <p:sp>
        <p:nvSpPr>
          <p:cNvPr id="6" name="矩形 5">
            <a:extLst>
              <a:ext uri="{FF2B5EF4-FFF2-40B4-BE49-F238E27FC236}">
                <a16:creationId xmlns:a16="http://schemas.microsoft.com/office/drawing/2014/main" id="{E5F95EF8-67B2-524D-97A9-DBED96B9C5B5}"/>
              </a:ext>
            </a:extLst>
          </p:cNvPr>
          <p:cNvSpPr/>
          <p:nvPr/>
        </p:nvSpPr>
        <p:spPr>
          <a:xfrm>
            <a:off x="6156176" y="3865612"/>
            <a:ext cx="2088232" cy="432048"/>
          </a:xfrm>
          <a:prstGeom prst="rect">
            <a:avLst/>
          </a:prstGeom>
          <a:solidFill>
            <a:srgbClr val="001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安全虚拟机监控器</a:t>
            </a:r>
          </a:p>
        </p:txBody>
      </p:sp>
    </p:spTree>
    <p:extLst>
      <p:ext uri="{BB962C8B-B14F-4D97-AF65-F5344CB8AC3E}">
        <p14:creationId xmlns:p14="http://schemas.microsoft.com/office/powerpoint/2010/main" val="21153865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67FEA5-E582-FE47-B175-E20A13F9AAE6}"/>
              </a:ext>
            </a:extLst>
          </p:cNvPr>
          <p:cNvSpPr>
            <a:spLocks noGrp="1"/>
          </p:cNvSpPr>
          <p:nvPr>
            <p:ph type="title"/>
          </p:nvPr>
        </p:nvSpPr>
        <p:spPr/>
        <p:txBody>
          <a:bodyPr>
            <a:noAutofit/>
          </a:bodyPr>
          <a:lstStyle/>
          <a:p>
            <a:r>
              <a:rPr kumimoji="1" lang="en" altLang="zh-CN" sz="2800" dirty="0"/>
              <a:t>AArch64 </a:t>
            </a:r>
            <a:r>
              <a:rPr kumimoji="1" lang="zh-CN" altLang="en-US" sz="2800" dirty="0"/>
              <a:t>中常见寄存器在不同特权级的可见情况</a:t>
            </a:r>
          </a:p>
        </p:txBody>
      </p:sp>
      <p:sp>
        <p:nvSpPr>
          <p:cNvPr id="4" name="灯片编号占位符 3">
            <a:extLst>
              <a:ext uri="{FF2B5EF4-FFF2-40B4-BE49-F238E27FC236}">
                <a16:creationId xmlns:a16="http://schemas.microsoft.com/office/drawing/2014/main" id="{CA7E8EAC-326C-CD48-8170-5A525F76822C}"/>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pic>
        <p:nvPicPr>
          <p:cNvPr id="5" name="图片 4">
            <a:extLst>
              <a:ext uri="{FF2B5EF4-FFF2-40B4-BE49-F238E27FC236}">
                <a16:creationId xmlns:a16="http://schemas.microsoft.com/office/drawing/2014/main" id="{91275BCD-31D2-B844-9FB0-62F96B348E6F}"/>
              </a:ext>
            </a:extLst>
          </p:cNvPr>
          <p:cNvPicPr>
            <a:picLocks noChangeAspect="1"/>
          </p:cNvPicPr>
          <p:nvPr/>
        </p:nvPicPr>
        <p:blipFill>
          <a:blip r:embed="rId3"/>
          <a:stretch>
            <a:fillRect/>
          </a:stretch>
        </p:blipFill>
        <p:spPr>
          <a:xfrm>
            <a:off x="1477818" y="1245112"/>
            <a:ext cx="6188364" cy="3844636"/>
          </a:xfrm>
          <a:prstGeom prst="rect">
            <a:avLst/>
          </a:prstGeom>
        </p:spPr>
      </p:pic>
      <p:sp>
        <p:nvSpPr>
          <p:cNvPr id="6" name="文本框 5">
            <a:extLst>
              <a:ext uri="{FF2B5EF4-FFF2-40B4-BE49-F238E27FC236}">
                <a16:creationId xmlns:a16="http://schemas.microsoft.com/office/drawing/2014/main" id="{EE7DE8F1-DFD9-2E44-986A-F4E67F647D4B}"/>
              </a:ext>
            </a:extLst>
          </p:cNvPr>
          <p:cNvSpPr txBox="1"/>
          <p:nvPr/>
        </p:nvSpPr>
        <p:spPr>
          <a:xfrm>
            <a:off x="1619672" y="5117091"/>
            <a:ext cx="6208940" cy="369332"/>
          </a:xfrm>
          <a:prstGeom prst="rect">
            <a:avLst/>
          </a:prstGeom>
          <a:noFill/>
        </p:spPr>
        <p:txBody>
          <a:bodyPr wrap="square">
            <a:spAutoFit/>
          </a:bodyPr>
          <a:lstStyle/>
          <a:p>
            <a:r>
              <a:rPr lang="en" altLang="zh-CN" b="1" dirty="0">
                <a:solidFill>
                  <a:schemeClr val="accent1"/>
                </a:solidFill>
                <a:effectLst/>
                <a:latin typeface="Helvetica" pitchFamily="2" charset="0"/>
              </a:rPr>
              <a:t>PSTATE </a:t>
            </a:r>
            <a:r>
              <a:rPr lang="zh-CN" altLang="en-US" b="1" dirty="0">
                <a:solidFill>
                  <a:schemeClr val="accent1"/>
                </a:solidFill>
                <a:effectLst/>
                <a:latin typeface="Helvetica" pitchFamily="2" charset="0"/>
              </a:rPr>
              <a:t>寄存器中仅有 </a:t>
            </a:r>
            <a:r>
              <a:rPr lang="en" altLang="zh-CN" b="1" dirty="0">
                <a:solidFill>
                  <a:schemeClr val="accent1"/>
                </a:solidFill>
                <a:effectLst/>
                <a:latin typeface="Helvetica" pitchFamily="2" charset="0"/>
              </a:rPr>
              <a:t>NZCV </a:t>
            </a:r>
            <a:r>
              <a:rPr lang="zh-CN" altLang="en-US" b="1" dirty="0">
                <a:solidFill>
                  <a:schemeClr val="accent1"/>
                </a:solidFill>
                <a:effectLst/>
                <a:latin typeface="Helvetica" pitchFamily="2" charset="0"/>
              </a:rPr>
              <a:t>四个条件码在 </a:t>
            </a:r>
            <a:r>
              <a:rPr lang="en" altLang="zh-CN" b="1" dirty="0">
                <a:solidFill>
                  <a:schemeClr val="accent1"/>
                </a:solidFill>
                <a:effectLst/>
                <a:latin typeface="Helvetica" pitchFamily="2" charset="0"/>
              </a:rPr>
              <a:t>EL0 </a:t>
            </a:r>
            <a:r>
              <a:rPr lang="zh-CN" altLang="en-US" b="1" dirty="0">
                <a:solidFill>
                  <a:schemeClr val="accent1"/>
                </a:solidFill>
                <a:effectLst/>
                <a:latin typeface="Helvetica" pitchFamily="2" charset="0"/>
              </a:rPr>
              <a:t>下可见</a:t>
            </a:r>
          </a:p>
        </p:txBody>
      </p:sp>
      <p:sp>
        <p:nvSpPr>
          <p:cNvPr id="7" name="圆角矩形 6">
            <a:extLst>
              <a:ext uri="{FF2B5EF4-FFF2-40B4-BE49-F238E27FC236}">
                <a16:creationId xmlns:a16="http://schemas.microsoft.com/office/drawing/2014/main" id="{38C769A0-BBAC-2345-922D-3E315DC7855E}"/>
              </a:ext>
            </a:extLst>
          </p:cNvPr>
          <p:cNvSpPr/>
          <p:nvPr/>
        </p:nvSpPr>
        <p:spPr>
          <a:xfrm>
            <a:off x="1331640" y="1849388"/>
            <a:ext cx="6336704" cy="1728192"/>
          </a:xfrm>
          <a:prstGeom prst="roundRect">
            <a:avLst>
              <a:gd name="adj" fmla="val 7573"/>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3426989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12B498-8B1A-4E84-9C79-D1BEFEEE781B}"/>
              </a:ext>
            </a:extLst>
          </p:cNvPr>
          <p:cNvSpPr>
            <a:spLocks noGrp="1"/>
          </p:cNvSpPr>
          <p:nvPr>
            <p:ph type="title"/>
          </p:nvPr>
        </p:nvSpPr>
        <p:spPr/>
        <p:txBody>
          <a:bodyPr/>
          <a:lstStyle/>
          <a:p>
            <a:r>
              <a:rPr lang="zh-CN" altLang="en-US" dirty="0"/>
              <a:t>系统状态寄存器 </a:t>
            </a:r>
            <a:r>
              <a:rPr lang="en-US" altLang="zh-CN" dirty="0"/>
              <a:t>PSTATE</a:t>
            </a:r>
            <a:endParaRPr lang="zh-CN" altLang="en-US" dirty="0"/>
          </a:p>
        </p:txBody>
      </p:sp>
      <p:sp>
        <p:nvSpPr>
          <p:cNvPr id="3" name="内容占位符 2">
            <a:extLst>
              <a:ext uri="{FF2B5EF4-FFF2-40B4-BE49-F238E27FC236}">
                <a16:creationId xmlns:a16="http://schemas.microsoft.com/office/drawing/2014/main" id="{D6337F13-20D3-4A28-B75E-401EB227C2AB}"/>
              </a:ext>
            </a:extLst>
          </p:cNvPr>
          <p:cNvSpPr>
            <a:spLocks noGrp="1"/>
          </p:cNvSpPr>
          <p:nvPr>
            <p:ph idx="1"/>
          </p:nvPr>
        </p:nvSpPr>
        <p:spPr>
          <a:xfrm>
            <a:off x="457200" y="1333501"/>
            <a:ext cx="8867328" cy="3771636"/>
          </a:xfrm>
        </p:spPr>
        <p:txBody>
          <a:bodyPr/>
          <a:lstStyle/>
          <a:p>
            <a:r>
              <a:rPr lang="en-US" altLang="zh-CN" dirty="0"/>
              <a:t>PSTATE</a:t>
            </a:r>
            <a:r>
              <a:rPr lang="zh-CN" altLang="en-US" dirty="0"/>
              <a:t>包含进程的状态信息</a:t>
            </a:r>
            <a:endParaRPr lang="en-US" altLang="zh-CN" dirty="0"/>
          </a:p>
          <a:p>
            <a:pPr lvl="1"/>
            <a:r>
              <a:rPr lang="zh-CN" altLang="en-US" dirty="0"/>
              <a:t>条件标记 </a:t>
            </a:r>
            <a:r>
              <a:rPr lang="en-US" altLang="zh-CN" dirty="0"/>
              <a:t>(Condition flags)</a:t>
            </a:r>
          </a:p>
          <a:p>
            <a:pPr lvl="1"/>
            <a:r>
              <a:rPr lang="zh-CN" altLang="en-US" dirty="0"/>
              <a:t>执行状态 </a:t>
            </a:r>
            <a:r>
              <a:rPr lang="en-US" altLang="zh-CN" dirty="0"/>
              <a:t>(Execution state controls)</a:t>
            </a:r>
          </a:p>
          <a:p>
            <a:pPr lvl="1"/>
            <a:r>
              <a:rPr lang="zh-CN" altLang="en-US" dirty="0"/>
              <a:t>异常掩码 </a:t>
            </a:r>
            <a:r>
              <a:rPr lang="en-US" altLang="zh-CN" dirty="0"/>
              <a:t>(Exception mask bits)</a:t>
            </a:r>
          </a:p>
          <a:p>
            <a:pPr lvl="1"/>
            <a:r>
              <a:rPr lang="zh-CN" altLang="en-US" dirty="0"/>
              <a:t>访问，时钟控制 </a:t>
            </a:r>
            <a:r>
              <a:rPr lang="en-US" altLang="zh-CN" dirty="0"/>
              <a:t>(Access control bits)</a:t>
            </a:r>
          </a:p>
          <a:p>
            <a:pPr lvl="1">
              <a:defRPr/>
            </a:pPr>
            <a:endParaRPr lang="en-US" altLang="zh-CN" dirty="0">
              <a:effectLst>
                <a:outerShdw blurRad="38100" dist="38100" dir="2700000" algn="tl">
                  <a:srgbClr val="DDDDDD"/>
                </a:outerShdw>
              </a:effectLst>
              <a:latin typeface="Arial" charset="0"/>
            </a:endParaRPr>
          </a:p>
        </p:txBody>
      </p:sp>
      <p:sp>
        <p:nvSpPr>
          <p:cNvPr id="4" name="灯片编号占位符 3">
            <a:extLst>
              <a:ext uri="{FF2B5EF4-FFF2-40B4-BE49-F238E27FC236}">
                <a16:creationId xmlns:a16="http://schemas.microsoft.com/office/drawing/2014/main" id="{3E7F8984-A495-4E07-8642-54A41E5B1707}"/>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pic>
        <p:nvPicPr>
          <p:cNvPr id="6" name="图片 5">
            <a:extLst>
              <a:ext uri="{FF2B5EF4-FFF2-40B4-BE49-F238E27FC236}">
                <a16:creationId xmlns:a16="http://schemas.microsoft.com/office/drawing/2014/main" id="{15D03210-2CE2-41A9-8BDF-6BBD1B4BAE57}"/>
              </a:ext>
            </a:extLst>
          </p:cNvPr>
          <p:cNvPicPr>
            <a:picLocks noChangeAspect="1"/>
          </p:cNvPicPr>
          <p:nvPr/>
        </p:nvPicPr>
        <p:blipFill>
          <a:blip r:embed="rId3"/>
          <a:stretch>
            <a:fillRect/>
          </a:stretch>
        </p:blipFill>
        <p:spPr>
          <a:xfrm>
            <a:off x="6335222" y="1528642"/>
            <a:ext cx="2808778" cy="2448272"/>
          </a:xfrm>
          <a:prstGeom prst="rect">
            <a:avLst/>
          </a:prstGeom>
        </p:spPr>
      </p:pic>
      <p:sp>
        <p:nvSpPr>
          <p:cNvPr id="7" name="文本框 6">
            <a:extLst>
              <a:ext uri="{FF2B5EF4-FFF2-40B4-BE49-F238E27FC236}">
                <a16:creationId xmlns:a16="http://schemas.microsoft.com/office/drawing/2014/main" id="{7FED35A9-5F96-2342-AE49-EC453E1C75E6}"/>
              </a:ext>
            </a:extLst>
          </p:cNvPr>
          <p:cNvSpPr txBox="1"/>
          <p:nvPr/>
        </p:nvSpPr>
        <p:spPr>
          <a:xfrm>
            <a:off x="815592" y="4474775"/>
            <a:ext cx="7512817" cy="461665"/>
          </a:xfrm>
          <a:prstGeom prst="rect">
            <a:avLst/>
          </a:prstGeom>
          <a:noFill/>
        </p:spPr>
        <p:txBody>
          <a:bodyPr wrap="square">
            <a:spAutoFit/>
          </a:bodyPr>
          <a:lstStyle/>
          <a:p>
            <a:pPr algn="ctr"/>
            <a:r>
              <a:rPr lang="en" altLang="zh-CN" sz="2400" b="1" dirty="0">
                <a:solidFill>
                  <a:schemeClr val="accent1"/>
                </a:solidFill>
                <a:effectLst/>
                <a:latin typeface="Helvetica" pitchFamily="2" charset="0"/>
              </a:rPr>
              <a:t>PSTATE </a:t>
            </a:r>
            <a:r>
              <a:rPr lang="zh-CN" altLang="en-US" sz="2400" b="1" dirty="0">
                <a:solidFill>
                  <a:schemeClr val="accent1"/>
                </a:solidFill>
                <a:effectLst/>
                <a:latin typeface="Helvetica" pitchFamily="2" charset="0"/>
              </a:rPr>
              <a:t>寄存器在 </a:t>
            </a:r>
            <a:r>
              <a:rPr lang="en-US" altLang="zh-CN" sz="2400" b="1" dirty="0">
                <a:solidFill>
                  <a:schemeClr val="accent1"/>
                </a:solidFill>
                <a:effectLst/>
                <a:latin typeface="Helvetica" pitchFamily="2" charset="0"/>
              </a:rPr>
              <a:t>EL0</a:t>
            </a:r>
            <a:r>
              <a:rPr lang="zh-CN" altLang="en-US" sz="2400" b="1" dirty="0">
                <a:solidFill>
                  <a:schemeClr val="accent1"/>
                </a:solidFill>
                <a:effectLst/>
                <a:latin typeface="Helvetica" pitchFamily="2" charset="0"/>
              </a:rPr>
              <a:t> 和 </a:t>
            </a:r>
            <a:r>
              <a:rPr lang="en-US" altLang="zh-CN" sz="2400" b="1" dirty="0">
                <a:solidFill>
                  <a:schemeClr val="accent1"/>
                </a:solidFill>
                <a:effectLst/>
                <a:latin typeface="Helvetica" pitchFamily="2" charset="0"/>
              </a:rPr>
              <a:t>EL1</a:t>
            </a:r>
            <a:r>
              <a:rPr lang="zh-CN" altLang="en-US" sz="2400" b="1" dirty="0">
                <a:solidFill>
                  <a:schemeClr val="accent1"/>
                </a:solidFill>
                <a:effectLst/>
                <a:latin typeface="Helvetica" pitchFamily="2" charset="0"/>
              </a:rPr>
              <a:t> </a:t>
            </a:r>
            <a:r>
              <a:rPr lang="zh-CN" altLang="en-US" sz="2400" b="1" dirty="0">
                <a:solidFill>
                  <a:schemeClr val="accent1"/>
                </a:solidFill>
                <a:latin typeface="Helvetica" pitchFamily="2" charset="0"/>
              </a:rPr>
              <a:t>的</a:t>
            </a:r>
            <a:r>
              <a:rPr lang="zh-CN" altLang="en-US" sz="2400" b="1" dirty="0">
                <a:solidFill>
                  <a:schemeClr val="accent1"/>
                </a:solidFill>
                <a:effectLst/>
                <a:latin typeface="Helvetica" pitchFamily="2" charset="0"/>
              </a:rPr>
              <a:t>可见内容是不同的</a:t>
            </a:r>
          </a:p>
        </p:txBody>
      </p:sp>
    </p:spTree>
    <p:extLst>
      <p:ext uri="{BB962C8B-B14F-4D97-AF65-F5344CB8AC3E}">
        <p14:creationId xmlns:p14="http://schemas.microsoft.com/office/powerpoint/2010/main" val="1574418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9AF81BF-789B-3B4E-8A65-E26308EA0B5A}"/>
              </a:ext>
            </a:extLst>
          </p:cNvPr>
          <p:cNvSpPr>
            <a:spLocks noGrp="1"/>
          </p:cNvSpPr>
          <p:nvPr>
            <p:ph type="title"/>
          </p:nvPr>
        </p:nvSpPr>
        <p:spPr/>
        <p:txBody>
          <a:bodyPr/>
          <a:lstStyle/>
          <a:p>
            <a:r>
              <a:rPr lang="zh-CN" altLang="en-US" dirty="0"/>
              <a:t>异常机制</a:t>
            </a:r>
          </a:p>
        </p:txBody>
      </p:sp>
      <p:sp>
        <p:nvSpPr>
          <p:cNvPr id="6" name="文本占位符 5">
            <a:extLst>
              <a:ext uri="{FF2B5EF4-FFF2-40B4-BE49-F238E27FC236}">
                <a16:creationId xmlns:a16="http://schemas.microsoft.com/office/drawing/2014/main" id="{C3FD2469-E0B1-FE4B-9F15-731DA3CB94D7}"/>
              </a:ext>
            </a:extLst>
          </p:cNvPr>
          <p:cNvSpPr>
            <a:spLocks noGrp="1"/>
          </p:cNvSpPr>
          <p:nvPr>
            <p:ph type="body" idx="1"/>
          </p:nvPr>
        </p:nvSpPr>
        <p:spPr/>
        <p:txBody>
          <a:bodyPr/>
          <a:lstStyle/>
          <a:p>
            <a:endParaRPr lang="zh-CN" altLang="en-US"/>
          </a:p>
        </p:txBody>
      </p:sp>
      <p:sp>
        <p:nvSpPr>
          <p:cNvPr id="7" name="灯片编号占位符 6">
            <a:extLst>
              <a:ext uri="{FF2B5EF4-FFF2-40B4-BE49-F238E27FC236}">
                <a16:creationId xmlns:a16="http://schemas.microsoft.com/office/drawing/2014/main" id="{3CF6C5AF-D2BA-0F4F-81C7-AAA045BB4DE0}"/>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Tree>
    <p:extLst>
      <p:ext uri="{BB962C8B-B14F-4D97-AF65-F5344CB8AC3E}">
        <p14:creationId xmlns:p14="http://schemas.microsoft.com/office/powerpoint/2010/main" val="2996719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F4BE4AD-F25D-1042-AF00-2AF90CB8195D}"/>
              </a:ext>
            </a:extLst>
          </p:cNvPr>
          <p:cNvSpPr>
            <a:spLocks noGrp="1"/>
          </p:cNvSpPr>
          <p:nvPr>
            <p:ph type="title"/>
          </p:nvPr>
        </p:nvSpPr>
        <p:spPr/>
        <p:txBody>
          <a:bodyPr/>
          <a:lstStyle/>
          <a:p>
            <a:r>
              <a:rPr lang="zh-CN" altLang="en-US" dirty="0"/>
              <a:t>控制流的变化</a:t>
            </a:r>
          </a:p>
        </p:txBody>
      </p:sp>
      <p:sp>
        <p:nvSpPr>
          <p:cNvPr id="6" name="内容占位符 5">
            <a:extLst>
              <a:ext uri="{FF2B5EF4-FFF2-40B4-BE49-F238E27FC236}">
                <a16:creationId xmlns:a16="http://schemas.microsoft.com/office/drawing/2014/main" id="{D81CE6E6-54A2-4445-B0BC-7A8E163E7895}"/>
              </a:ext>
            </a:extLst>
          </p:cNvPr>
          <p:cNvSpPr>
            <a:spLocks noGrp="1"/>
          </p:cNvSpPr>
          <p:nvPr>
            <p:ph idx="1"/>
          </p:nvPr>
        </p:nvSpPr>
        <p:spPr/>
        <p:txBody>
          <a:bodyPr>
            <a:normAutofit fontScale="92500" lnSpcReduction="20000"/>
          </a:bodyPr>
          <a:lstStyle/>
          <a:p>
            <a:pPr>
              <a:lnSpc>
                <a:spcPct val="140000"/>
              </a:lnSpc>
            </a:pPr>
            <a:r>
              <a:rPr lang="zh-CN" altLang="en-US" dirty="0"/>
              <a:t>我们如何改变控制流来从用户态进入内核态？</a:t>
            </a:r>
            <a:endParaRPr lang="en-US" altLang="zh-CN" dirty="0"/>
          </a:p>
          <a:p>
            <a:pPr lvl="1">
              <a:lnSpc>
                <a:spcPct val="140000"/>
              </a:lnSpc>
            </a:pPr>
            <a:r>
              <a:rPr lang="zh-CN" altLang="en-US" dirty="0"/>
              <a:t>已知的两种改变控制流的方式：</a:t>
            </a:r>
            <a:endParaRPr lang="en-US" altLang="zh-CN" dirty="0"/>
          </a:p>
          <a:p>
            <a:pPr lvl="2">
              <a:lnSpc>
                <a:spcPct val="140000"/>
              </a:lnSpc>
            </a:pPr>
            <a:r>
              <a:rPr lang="zh-CN" altLang="en-US" dirty="0"/>
              <a:t>跳转指令，如 </a:t>
            </a:r>
            <a:r>
              <a:rPr lang="en-US" altLang="zh-CN" dirty="0"/>
              <a:t>b</a:t>
            </a:r>
          </a:p>
          <a:p>
            <a:pPr lvl="2">
              <a:lnSpc>
                <a:spcPct val="140000"/>
              </a:lnSpc>
            </a:pPr>
            <a:r>
              <a:rPr lang="zh-CN" altLang="en-US" dirty="0"/>
              <a:t>过程调用与返回指令，如 </a:t>
            </a:r>
            <a:r>
              <a:rPr lang="en-US" altLang="zh-CN" dirty="0"/>
              <a:t>bl</a:t>
            </a:r>
            <a:r>
              <a:rPr lang="zh-CN" altLang="en-US" dirty="0"/>
              <a:t> 和 </a:t>
            </a:r>
            <a:r>
              <a:rPr lang="en-US" altLang="zh-CN" dirty="0"/>
              <a:t>ret</a:t>
            </a:r>
          </a:p>
          <a:p>
            <a:pPr lvl="1">
              <a:lnSpc>
                <a:spcPct val="140000"/>
              </a:lnSpc>
            </a:pPr>
            <a:r>
              <a:rPr lang="zh-CN" altLang="en-US" dirty="0"/>
              <a:t>这两种方式只能在同一种模式之间跳转</a:t>
            </a:r>
            <a:endParaRPr lang="en-US" altLang="zh-CN" dirty="0"/>
          </a:p>
          <a:p>
            <a:pPr>
              <a:lnSpc>
                <a:spcPct val="140000"/>
              </a:lnSpc>
            </a:pPr>
            <a:r>
              <a:rPr lang="zh-CN" altLang="en-US" dirty="0"/>
              <a:t>需要一种新的方式</a:t>
            </a:r>
            <a:endParaRPr lang="en-US" altLang="zh-CN" dirty="0"/>
          </a:p>
          <a:p>
            <a:pPr lvl="1">
              <a:lnSpc>
                <a:spcPct val="140000"/>
              </a:lnSpc>
            </a:pPr>
            <a:r>
              <a:rPr lang="zh-CN" altLang="en-US" dirty="0"/>
              <a:t>同时切换运行模式和</a:t>
            </a:r>
            <a:r>
              <a:rPr lang="en-US" altLang="zh-CN" dirty="0"/>
              <a:t>PC</a:t>
            </a:r>
            <a:r>
              <a:rPr lang="zh-CN" altLang="en-US" dirty="0"/>
              <a:t>值</a:t>
            </a:r>
            <a:endParaRPr lang="en-US" altLang="zh-CN" dirty="0"/>
          </a:p>
          <a:p>
            <a:pPr lvl="1">
              <a:lnSpc>
                <a:spcPct val="140000"/>
              </a:lnSpc>
            </a:pPr>
            <a:r>
              <a:rPr lang="zh-CN" altLang="en-US" b="1" dirty="0">
                <a:solidFill>
                  <a:schemeClr val="accent1"/>
                </a:solidFill>
              </a:rPr>
              <a:t>异常机制</a:t>
            </a:r>
            <a:endParaRPr lang="en-US" altLang="zh-CN" b="1" dirty="0">
              <a:solidFill>
                <a:schemeClr val="accent1"/>
              </a:solidFill>
            </a:endParaRPr>
          </a:p>
        </p:txBody>
      </p:sp>
      <p:sp>
        <p:nvSpPr>
          <p:cNvPr id="7" name="灯片编号占位符 6">
            <a:extLst>
              <a:ext uri="{FF2B5EF4-FFF2-40B4-BE49-F238E27FC236}">
                <a16:creationId xmlns:a16="http://schemas.microsoft.com/office/drawing/2014/main" id="{887111C5-263B-C942-B241-ACD01719DCFE}"/>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Tree>
    <p:extLst>
      <p:ext uri="{BB962C8B-B14F-4D97-AF65-F5344CB8AC3E}">
        <p14:creationId xmlns:p14="http://schemas.microsoft.com/office/powerpoint/2010/main" val="22586804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99D00E-3A03-6C44-9B05-AACAA2C4A242}"/>
              </a:ext>
            </a:extLst>
          </p:cNvPr>
          <p:cNvSpPr>
            <a:spLocks noGrp="1"/>
          </p:cNvSpPr>
          <p:nvPr>
            <p:ph type="title"/>
          </p:nvPr>
        </p:nvSpPr>
        <p:spPr/>
        <p:txBody>
          <a:bodyPr/>
          <a:lstStyle/>
          <a:p>
            <a:r>
              <a:rPr kumimoji="1" lang="zh-CN" altLang="en-US" dirty="0"/>
              <a:t>事件与异常</a:t>
            </a:r>
          </a:p>
        </p:txBody>
      </p:sp>
      <p:sp>
        <p:nvSpPr>
          <p:cNvPr id="3" name="内容占位符 2">
            <a:extLst>
              <a:ext uri="{FF2B5EF4-FFF2-40B4-BE49-F238E27FC236}">
                <a16:creationId xmlns:a16="http://schemas.microsoft.com/office/drawing/2014/main" id="{0AC397AA-714B-8942-9E5D-A0381E360B2B}"/>
              </a:ext>
            </a:extLst>
          </p:cNvPr>
          <p:cNvSpPr>
            <a:spLocks noGrp="1"/>
          </p:cNvSpPr>
          <p:nvPr>
            <p:ph idx="1"/>
          </p:nvPr>
        </p:nvSpPr>
        <p:spPr>
          <a:xfrm>
            <a:off x="457200" y="3848814"/>
            <a:ext cx="8229600" cy="1761841"/>
          </a:xfrm>
        </p:spPr>
        <p:txBody>
          <a:bodyPr>
            <a:noAutofit/>
          </a:bodyPr>
          <a:lstStyle/>
          <a:p>
            <a:r>
              <a:rPr kumimoji="1" lang="zh-CN" altLang="en-US" sz="2400" dirty="0"/>
              <a:t>事件与当前正在执行的指令可以有关，也可以无关</a:t>
            </a:r>
            <a:endParaRPr kumimoji="1" lang="en-US" altLang="zh-CN" sz="2400" dirty="0"/>
          </a:p>
          <a:p>
            <a:pPr lvl="1"/>
            <a:r>
              <a:rPr kumimoji="1" lang="zh-CN" altLang="en-US" sz="2000" dirty="0"/>
              <a:t>有关：</a:t>
            </a:r>
            <a:r>
              <a:rPr kumimoji="1" lang="en-US" altLang="zh-CN" sz="2000" dirty="0"/>
              <a:t>svc</a:t>
            </a:r>
            <a:r>
              <a:rPr kumimoji="1" lang="zh-CN" altLang="en-US" sz="2000" dirty="0"/>
              <a:t>、</a:t>
            </a:r>
            <a:r>
              <a:rPr kumimoji="1" lang="en-US" altLang="zh-CN" sz="2000" dirty="0" err="1"/>
              <a:t>eret</a:t>
            </a:r>
            <a:r>
              <a:rPr kumimoji="1" lang="zh-CN" altLang="en-US" sz="2000" dirty="0"/>
              <a:t>、缺页异常等，又称为</a:t>
            </a:r>
            <a:r>
              <a:rPr kumimoji="1" lang="zh-CN" altLang="en-US" sz="2000" b="1" dirty="0">
                <a:solidFill>
                  <a:schemeClr val="accent1"/>
                </a:solidFill>
              </a:rPr>
              <a:t>同步异常</a:t>
            </a:r>
            <a:endParaRPr kumimoji="1" lang="en-US" altLang="zh-CN" sz="2000" b="1" dirty="0">
              <a:solidFill>
                <a:schemeClr val="accent1"/>
              </a:solidFill>
            </a:endParaRPr>
          </a:p>
          <a:p>
            <a:pPr lvl="1"/>
            <a:r>
              <a:rPr kumimoji="1" lang="zh-CN" altLang="en-US" sz="2000" dirty="0"/>
              <a:t>无关：定时器结束、</a:t>
            </a:r>
            <a:r>
              <a:rPr kumimoji="1" lang="en-US" altLang="zh-CN" sz="2000" dirty="0"/>
              <a:t>I/O</a:t>
            </a:r>
            <a:r>
              <a:rPr kumimoji="1" lang="zh-CN" altLang="en-US" sz="2000" dirty="0"/>
              <a:t>请求完成等，又称为</a:t>
            </a:r>
            <a:r>
              <a:rPr kumimoji="1" lang="zh-CN" altLang="en-US" sz="2000" b="1" dirty="0">
                <a:solidFill>
                  <a:schemeClr val="accent1"/>
                </a:solidFill>
              </a:rPr>
              <a:t>异步异常</a:t>
            </a:r>
          </a:p>
        </p:txBody>
      </p:sp>
      <p:sp>
        <p:nvSpPr>
          <p:cNvPr id="20" name="灯片编号占位符 19">
            <a:extLst>
              <a:ext uri="{FF2B5EF4-FFF2-40B4-BE49-F238E27FC236}">
                <a16:creationId xmlns:a16="http://schemas.microsoft.com/office/drawing/2014/main" id="{88E1B637-AFC8-094F-B61A-D6C5652E2929}"/>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pic>
        <p:nvPicPr>
          <p:cNvPr id="4" name="图片 3">
            <a:extLst>
              <a:ext uri="{FF2B5EF4-FFF2-40B4-BE49-F238E27FC236}">
                <a16:creationId xmlns:a16="http://schemas.microsoft.com/office/drawing/2014/main" id="{10A2CEFA-C4CB-9648-9595-F75008D7C158}"/>
              </a:ext>
            </a:extLst>
          </p:cNvPr>
          <p:cNvPicPr>
            <a:picLocks noChangeAspect="1"/>
          </p:cNvPicPr>
          <p:nvPr/>
        </p:nvPicPr>
        <p:blipFill>
          <a:blip r:embed="rId2"/>
          <a:stretch>
            <a:fillRect/>
          </a:stretch>
        </p:blipFill>
        <p:spPr>
          <a:xfrm>
            <a:off x="1298371" y="1129308"/>
            <a:ext cx="6300470" cy="2566289"/>
          </a:xfrm>
          <a:prstGeom prst="rect">
            <a:avLst/>
          </a:prstGeom>
        </p:spPr>
      </p:pic>
    </p:spTree>
    <p:extLst>
      <p:ext uri="{BB962C8B-B14F-4D97-AF65-F5344CB8AC3E}">
        <p14:creationId xmlns:p14="http://schemas.microsoft.com/office/powerpoint/2010/main" val="3200205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B4B06282-34B5-CC4B-968B-93D713411222}"/>
              </a:ext>
            </a:extLst>
          </p:cNvPr>
          <p:cNvSpPr>
            <a:spLocks noGrp="1" noChangeArrowheads="1"/>
          </p:cNvSpPr>
          <p:nvPr>
            <p:ph type="title"/>
          </p:nvPr>
        </p:nvSpPr>
        <p:spPr>
          <a:xfrm>
            <a:off x="457200" y="228866"/>
            <a:ext cx="8229600" cy="900442"/>
          </a:xfrm>
        </p:spPr>
        <p:txBody>
          <a:bodyPr>
            <a:normAutofit/>
          </a:bodyPr>
          <a:lstStyle/>
          <a:p>
            <a:r>
              <a:rPr lang="zh-CN" altLang="en-US" dirty="0"/>
              <a:t>同步异常：由</a:t>
            </a:r>
            <a:r>
              <a:rPr lang="en-US" altLang="zh-CN" dirty="0"/>
              <a:t>CPU</a:t>
            </a:r>
            <a:r>
              <a:rPr lang="zh-CN" altLang="en-US" dirty="0"/>
              <a:t>内部的事件导致</a:t>
            </a:r>
            <a:endParaRPr lang="en-US" altLang="zh-CN" dirty="0"/>
          </a:p>
        </p:txBody>
      </p:sp>
      <p:sp>
        <p:nvSpPr>
          <p:cNvPr id="46084" name="Rectangle 3">
            <a:extLst>
              <a:ext uri="{FF2B5EF4-FFF2-40B4-BE49-F238E27FC236}">
                <a16:creationId xmlns:a16="http://schemas.microsoft.com/office/drawing/2014/main" id="{B3A7CE70-CA41-CD41-8B24-25E9D8AA6F25}"/>
              </a:ext>
            </a:extLst>
          </p:cNvPr>
          <p:cNvSpPr>
            <a:spLocks noGrp="1" noChangeArrowheads="1"/>
          </p:cNvSpPr>
          <p:nvPr>
            <p:ph idx="1"/>
          </p:nvPr>
        </p:nvSpPr>
        <p:spPr>
          <a:xfrm>
            <a:off x="457200" y="1333501"/>
            <a:ext cx="6275040" cy="3771636"/>
          </a:xfrm>
        </p:spPr>
        <p:txBody>
          <a:bodyPr>
            <a:noAutofit/>
          </a:bodyPr>
          <a:lstStyle/>
          <a:p>
            <a:r>
              <a:rPr lang="zh-CN" altLang="en-US" sz="2400" dirty="0"/>
              <a:t>陷阱（</a:t>
            </a:r>
            <a:r>
              <a:rPr lang="en-US" altLang="zh-CN" sz="2400" dirty="0"/>
              <a:t>Trap</a:t>
            </a:r>
            <a:r>
              <a:rPr lang="zh-CN" altLang="en-US" sz="2400" dirty="0"/>
              <a:t>）</a:t>
            </a:r>
            <a:endParaRPr lang="en-US" altLang="zh-CN" sz="2400" dirty="0"/>
          </a:p>
          <a:p>
            <a:pPr lvl="1"/>
            <a:r>
              <a:rPr lang="zh-CN" altLang="en-US" sz="2000" dirty="0"/>
              <a:t>程序有意导致的异常</a:t>
            </a:r>
            <a:endParaRPr lang="en-US" altLang="zh-CN" sz="2000" dirty="0"/>
          </a:p>
          <a:p>
            <a:pPr lvl="1"/>
            <a:r>
              <a:rPr lang="zh-CN" altLang="en-US" sz="2000" dirty="0"/>
              <a:t>控制权将返回到下一条指令</a:t>
            </a:r>
            <a:endParaRPr lang="en-US" altLang="zh-CN" sz="2000" dirty="0"/>
          </a:p>
          <a:p>
            <a:pPr lvl="1"/>
            <a:r>
              <a:rPr lang="zh-CN" altLang="en-US" sz="2000" dirty="0"/>
              <a:t>如：系统调用</a:t>
            </a:r>
            <a:r>
              <a:rPr lang="en-US" altLang="zh-CN" sz="2000" dirty="0"/>
              <a:t>, </a:t>
            </a:r>
            <a:r>
              <a:rPr lang="zh-CN" altLang="en-US" sz="2000" dirty="0"/>
              <a:t>断点</a:t>
            </a:r>
            <a:endParaRPr lang="en-US" altLang="zh-CN" sz="2000" dirty="0"/>
          </a:p>
          <a:p>
            <a:r>
              <a:rPr lang="zh-CN" altLang="en-US" sz="2400" dirty="0"/>
              <a:t>故障（</a:t>
            </a:r>
            <a:r>
              <a:rPr lang="en-US" altLang="zh-CN" sz="2400" dirty="0"/>
              <a:t>Faults</a:t>
            </a:r>
            <a:r>
              <a:rPr lang="zh-CN" altLang="en-US" sz="2400" dirty="0"/>
              <a:t>）</a:t>
            </a:r>
            <a:endParaRPr lang="en-US" altLang="zh-CN" sz="2400" dirty="0"/>
          </a:p>
          <a:p>
            <a:pPr lvl="1"/>
            <a:r>
              <a:rPr lang="zh-CN" altLang="en-US" sz="2000" dirty="0"/>
              <a:t>并非有意导致；可能可以修复</a:t>
            </a:r>
            <a:endParaRPr lang="en-US" altLang="zh-CN" sz="2000" dirty="0"/>
          </a:p>
          <a:p>
            <a:pPr lvl="1"/>
            <a:r>
              <a:rPr lang="zh-CN" altLang="en-US" sz="2000" dirty="0"/>
              <a:t>重新执行上一条指令，或终止</a:t>
            </a:r>
            <a:endParaRPr lang="en-US" altLang="zh-CN" sz="2000" dirty="0"/>
          </a:p>
          <a:p>
            <a:pPr lvl="1"/>
            <a:r>
              <a:rPr lang="zh-CN" altLang="en-US" sz="2000" dirty="0"/>
              <a:t>如：缺页异常</a:t>
            </a:r>
            <a:r>
              <a:rPr lang="en-US" altLang="zh-CN" sz="2000" dirty="0"/>
              <a:t> (</a:t>
            </a:r>
            <a:r>
              <a:rPr lang="zh-CN" altLang="en-US" sz="2000" dirty="0"/>
              <a:t>可恢复</a:t>
            </a:r>
            <a:r>
              <a:rPr lang="en-US" altLang="zh-CN" sz="2000" dirty="0"/>
              <a:t>), </a:t>
            </a:r>
            <a:r>
              <a:rPr lang="zh-CN" altLang="en-US" sz="2000" dirty="0"/>
              <a:t>保护错误</a:t>
            </a:r>
            <a:r>
              <a:rPr lang="en-US" altLang="zh-CN" sz="2000" dirty="0"/>
              <a:t>(</a:t>
            </a:r>
            <a:r>
              <a:rPr lang="zh-CN" altLang="en-US" sz="2000" dirty="0"/>
              <a:t>不可恢复</a:t>
            </a:r>
            <a:r>
              <a:rPr lang="en-US" altLang="zh-CN" sz="2000" dirty="0"/>
              <a:t>)</a:t>
            </a:r>
          </a:p>
        </p:txBody>
      </p:sp>
      <p:sp>
        <p:nvSpPr>
          <p:cNvPr id="4" name="灯片编号占位符 3">
            <a:extLst>
              <a:ext uri="{FF2B5EF4-FFF2-40B4-BE49-F238E27FC236}">
                <a16:creationId xmlns:a16="http://schemas.microsoft.com/office/drawing/2014/main" id="{45440D23-23E8-BA46-B775-E5CF76D11A3C}"/>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Rectangle 3">
            <a:extLst>
              <a:ext uri="{FF2B5EF4-FFF2-40B4-BE49-F238E27FC236}">
                <a16:creationId xmlns:a16="http://schemas.microsoft.com/office/drawing/2014/main" id="{0D80D338-159C-434D-95ED-14D43EF21928}"/>
              </a:ext>
            </a:extLst>
          </p:cNvPr>
          <p:cNvSpPr txBox="1">
            <a:spLocks noChangeArrowheads="1"/>
          </p:cNvSpPr>
          <p:nvPr/>
        </p:nvSpPr>
        <p:spPr>
          <a:xfrm>
            <a:off x="4788024" y="1333501"/>
            <a:ext cx="6645424" cy="2114684"/>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终止（</a:t>
            </a:r>
            <a:r>
              <a:rPr lang="en-US" altLang="zh-CN" sz="2400" dirty="0"/>
              <a:t>Aborts</a:t>
            </a:r>
            <a:r>
              <a:rPr lang="zh-CN" altLang="en-US" sz="2400" dirty="0"/>
              <a:t>）</a:t>
            </a:r>
            <a:endParaRPr lang="en-US" altLang="zh-CN" sz="2400" dirty="0"/>
          </a:p>
          <a:p>
            <a:pPr lvl="1"/>
            <a:r>
              <a:rPr lang="zh-CN" altLang="en-US" sz="2000" dirty="0"/>
              <a:t>并非有意导致，不可恢复</a:t>
            </a:r>
            <a:endParaRPr lang="en-US" altLang="zh-CN" sz="2000" dirty="0"/>
          </a:p>
          <a:p>
            <a:pPr lvl="1"/>
            <a:r>
              <a:rPr lang="zh-CN" altLang="en-US" sz="2000" dirty="0"/>
              <a:t>终止当前进程</a:t>
            </a:r>
            <a:endParaRPr lang="en-US" altLang="zh-CN" sz="2000" dirty="0"/>
          </a:p>
          <a:p>
            <a:pPr lvl="1"/>
            <a:r>
              <a:rPr lang="zh-CN" altLang="en-US" sz="2000" dirty="0"/>
              <a:t>如：校验错误</a:t>
            </a:r>
            <a:r>
              <a:rPr lang="en-US" altLang="zh-CN" sz="2000" dirty="0"/>
              <a:t>, </a:t>
            </a:r>
            <a:r>
              <a:rPr lang="zh-CN" altLang="en-US" sz="2000" dirty="0"/>
              <a:t>机器检查</a:t>
            </a:r>
            <a:endParaRPr lang="en-US" altLang="zh-CN" sz="2000" dirty="0"/>
          </a:p>
        </p:txBody>
      </p:sp>
    </p:spTree>
    <p:extLst>
      <p:ext uri="{BB962C8B-B14F-4D97-AF65-F5344CB8AC3E}">
        <p14:creationId xmlns:p14="http://schemas.microsoft.com/office/powerpoint/2010/main" val="22048464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75D0B845-9318-614B-A448-1D58DDAA7109}"/>
              </a:ext>
            </a:extLst>
          </p:cNvPr>
          <p:cNvSpPr>
            <a:spLocks noGrp="1" noChangeArrowheads="1"/>
          </p:cNvSpPr>
          <p:nvPr>
            <p:ph type="title"/>
          </p:nvPr>
        </p:nvSpPr>
        <p:spPr>
          <a:xfrm>
            <a:off x="457200" y="228866"/>
            <a:ext cx="8229600" cy="900442"/>
          </a:xfrm>
        </p:spPr>
        <p:txBody>
          <a:bodyPr>
            <a:normAutofit fontScale="90000"/>
          </a:bodyPr>
          <a:lstStyle/>
          <a:p>
            <a:r>
              <a:rPr lang="zh-CN" altLang="en-US" dirty="0"/>
              <a:t>异步异常（中断）：由</a:t>
            </a:r>
            <a:r>
              <a:rPr lang="en-US" altLang="zh-CN" dirty="0"/>
              <a:t>CPU</a:t>
            </a:r>
            <a:r>
              <a:rPr lang="zh-CN" altLang="en-US" dirty="0"/>
              <a:t>外部的事件导致</a:t>
            </a:r>
            <a:endParaRPr lang="en-US" altLang="zh-CN" dirty="0"/>
          </a:p>
        </p:txBody>
      </p:sp>
      <p:sp>
        <p:nvSpPr>
          <p:cNvPr id="111618" name="Rectangle 3">
            <a:extLst>
              <a:ext uri="{FF2B5EF4-FFF2-40B4-BE49-F238E27FC236}">
                <a16:creationId xmlns:a16="http://schemas.microsoft.com/office/drawing/2014/main" id="{7FB6D9DD-9561-5E4B-B74E-CC70B7A9D1DF}"/>
              </a:ext>
            </a:extLst>
          </p:cNvPr>
          <p:cNvSpPr>
            <a:spLocks noGrp="1" noChangeArrowheads="1"/>
          </p:cNvSpPr>
          <p:nvPr>
            <p:ph idx="1"/>
          </p:nvPr>
        </p:nvSpPr>
        <p:spPr>
          <a:xfrm>
            <a:off x="457200" y="1333501"/>
            <a:ext cx="8229600" cy="3771636"/>
          </a:xfrm>
        </p:spPr>
        <p:txBody>
          <a:bodyPr>
            <a:normAutofit/>
          </a:bodyPr>
          <a:lstStyle/>
          <a:p>
            <a:r>
              <a:rPr lang="en-US" altLang="zh-CN" dirty="0"/>
              <a:t>CPU</a:t>
            </a:r>
            <a:r>
              <a:rPr lang="zh-CN" altLang="en-US" dirty="0"/>
              <a:t>外部事件</a:t>
            </a:r>
            <a:endParaRPr lang="en-US" altLang="zh-CN" dirty="0"/>
          </a:p>
          <a:p>
            <a:pPr lvl="1"/>
            <a:r>
              <a:rPr lang="zh-CN" altLang="en-US" dirty="0"/>
              <a:t>外部设备设置处理器的中断引脚</a:t>
            </a:r>
            <a:endParaRPr lang="en-US" altLang="zh-CN" dirty="0"/>
          </a:p>
          <a:p>
            <a:pPr lvl="1"/>
            <a:r>
              <a:rPr lang="zh-CN" altLang="en-US" dirty="0"/>
              <a:t>处理函数返回到被中断的下一条指令</a:t>
            </a:r>
            <a:endParaRPr lang="en-US" altLang="zh-CN" dirty="0"/>
          </a:p>
        </p:txBody>
      </p:sp>
      <p:grpSp>
        <p:nvGrpSpPr>
          <p:cNvPr id="111619" name="组合 1">
            <a:extLst>
              <a:ext uri="{FF2B5EF4-FFF2-40B4-BE49-F238E27FC236}">
                <a16:creationId xmlns:a16="http://schemas.microsoft.com/office/drawing/2014/main" id="{A36985B0-737C-F943-834D-67EE1E270144}"/>
              </a:ext>
            </a:extLst>
          </p:cNvPr>
          <p:cNvGrpSpPr>
            <a:grpSpLocks/>
          </p:cNvGrpSpPr>
          <p:nvPr/>
        </p:nvGrpSpPr>
        <p:grpSpPr bwMode="auto">
          <a:xfrm>
            <a:off x="1259632" y="2955474"/>
            <a:ext cx="6365875" cy="2638330"/>
            <a:chOff x="457200" y="2786569"/>
            <a:chExt cx="8509000" cy="3248520"/>
          </a:xfrm>
        </p:grpSpPr>
        <p:sp>
          <p:nvSpPr>
            <p:cNvPr id="111620" name="Line 3">
              <a:extLst>
                <a:ext uri="{FF2B5EF4-FFF2-40B4-BE49-F238E27FC236}">
                  <a16:creationId xmlns:a16="http://schemas.microsoft.com/office/drawing/2014/main" id="{5167E8A0-2710-CA43-8B42-0980D71BF579}"/>
                </a:ext>
              </a:extLst>
            </p:cNvPr>
            <p:cNvSpPr>
              <a:spLocks noChangeShapeType="1"/>
            </p:cNvSpPr>
            <p:nvPr/>
          </p:nvSpPr>
          <p:spPr bwMode="auto">
            <a:xfrm>
              <a:off x="7086600" y="3057511"/>
              <a:ext cx="0" cy="75314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1" name="Line 4">
              <a:extLst>
                <a:ext uri="{FF2B5EF4-FFF2-40B4-BE49-F238E27FC236}">
                  <a16:creationId xmlns:a16="http://schemas.microsoft.com/office/drawing/2014/main" id="{5B5BDE62-3CB5-8F40-A468-BCC869891655}"/>
                </a:ext>
              </a:extLst>
            </p:cNvPr>
            <p:cNvSpPr>
              <a:spLocks noChangeShapeType="1"/>
            </p:cNvSpPr>
            <p:nvPr/>
          </p:nvSpPr>
          <p:spPr bwMode="auto">
            <a:xfrm flipH="1">
              <a:off x="4489450" y="2927107"/>
              <a:ext cx="6350" cy="82100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2" name="Line 5">
              <a:extLst>
                <a:ext uri="{FF2B5EF4-FFF2-40B4-BE49-F238E27FC236}">
                  <a16:creationId xmlns:a16="http://schemas.microsoft.com/office/drawing/2014/main" id="{A74AA58A-109C-4E4E-8EBC-F8A3D7A78E0D}"/>
                </a:ext>
              </a:extLst>
            </p:cNvPr>
            <p:cNvSpPr>
              <a:spLocks noChangeShapeType="1"/>
            </p:cNvSpPr>
            <p:nvPr/>
          </p:nvSpPr>
          <p:spPr bwMode="auto">
            <a:xfrm>
              <a:off x="5935663" y="2993640"/>
              <a:ext cx="0" cy="75447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3" name="Line 7">
              <a:extLst>
                <a:ext uri="{FF2B5EF4-FFF2-40B4-BE49-F238E27FC236}">
                  <a16:creationId xmlns:a16="http://schemas.microsoft.com/office/drawing/2014/main" id="{D609EC22-3913-9545-8C3B-0E5D733D827D}"/>
                </a:ext>
              </a:extLst>
            </p:cNvPr>
            <p:cNvSpPr>
              <a:spLocks noChangeShapeType="1"/>
            </p:cNvSpPr>
            <p:nvPr/>
          </p:nvSpPr>
          <p:spPr bwMode="auto">
            <a:xfrm>
              <a:off x="6392863" y="3758762"/>
              <a:ext cx="0" cy="75314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4" name="Line 9">
              <a:extLst>
                <a:ext uri="{FF2B5EF4-FFF2-40B4-BE49-F238E27FC236}">
                  <a16:creationId xmlns:a16="http://schemas.microsoft.com/office/drawing/2014/main" id="{3AABA097-07E6-194A-9995-7868092EE8F1}"/>
                </a:ext>
              </a:extLst>
            </p:cNvPr>
            <p:cNvSpPr>
              <a:spLocks noChangeShapeType="1"/>
            </p:cNvSpPr>
            <p:nvPr/>
          </p:nvSpPr>
          <p:spPr bwMode="auto">
            <a:xfrm>
              <a:off x="4489450" y="3758762"/>
              <a:ext cx="6350" cy="701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5" name="Line 10">
              <a:extLst>
                <a:ext uri="{FF2B5EF4-FFF2-40B4-BE49-F238E27FC236}">
                  <a16:creationId xmlns:a16="http://schemas.microsoft.com/office/drawing/2014/main" id="{A80AF9B9-2EA9-7745-8E22-D2F7E232FBAF}"/>
                </a:ext>
              </a:extLst>
            </p:cNvPr>
            <p:cNvSpPr>
              <a:spLocks noChangeShapeType="1"/>
            </p:cNvSpPr>
            <p:nvPr/>
          </p:nvSpPr>
          <p:spPr bwMode="auto">
            <a:xfrm>
              <a:off x="2968625" y="3885173"/>
              <a:ext cx="0" cy="14344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6" name="Line 11">
              <a:extLst>
                <a:ext uri="{FF2B5EF4-FFF2-40B4-BE49-F238E27FC236}">
                  <a16:creationId xmlns:a16="http://schemas.microsoft.com/office/drawing/2014/main" id="{04938C9B-708F-6445-82C5-7300C8DB86E5}"/>
                </a:ext>
              </a:extLst>
            </p:cNvPr>
            <p:cNvSpPr>
              <a:spLocks noChangeShapeType="1"/>
            </p:cNvSpPr>
            <p:nvPr/>
          </p:nvSpPr>
          <p:spPr bwMode="auto">
            <a:xfrm>
              <a:off x="4870450" y="4419600"/>
              <a:ext cx="0" cy="11802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7" name="Line 14">
              <a:extLst>
                <a:ext uri="{FF2B5EF4-FFF2-40B4-BE49-F238E27FC236}">
                  <a16:creationId xmlns:a16="http://schemas.microsoft.com/office/drawing/2014/main" id="{04D63C28-10B4-C842-A954-DF6A231E0CD9}"/>
                </a:ext>
              </a:extLst>
            </p:cNvPr>
            <p:cNvSpPr>
              <a:spLocks noChangeShapeType="1"/>
            </p:cNvSpPr>
            <p:nvPr/>
          </p:nvSpPr>
          <p:spPr bwMode="auto">
            <a:xfrm>
              <a:off x="8370888" y="4383812"/>
              <a:ext cx="11112" cy="11787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8" name="Line 15">
              <a:extLst>
                <a:ext uri="{FF2B5EF4-FFF2-40B4-BE49-F238E27FC236}">
                  <a16:creationId xmlns:a16="http://schemas.microsoft.com/office/drawing/2014/main" id="{57C416D7-9086-984D-8872-006332830214}"/>
                </a:ext>
              </a:extLst>
            </p:cNvPr>
            <p:cNvSpPr>
              <a:spLocks noChangeShapeType="1"/>
            </p:cNvSpPr>
            <p:nvPr/>
          </p:nvSpPr>
          <p:spPr bwMode="auto">
            <a:xfrm flipH="1">
              <a:off x="6994525" y="4275210"/>
              <a:ext cx="6350" cy="12873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29" name="Line 16">
              <a:extLst>
                <a:ext uri="{FF2B5EF4-FFF2-40B4-BE49-F238E27FC236}">
                  <a16:creationId xmlns:a16="http://schemas.microsoft.com/office/drawing/2014/main" id="{028C05A4-2641-4A49-B2A5-41ECF4704A49}"/>
                </a:ext>
              </a:extLst>
            </p:cNvPr>
            <p:cNvSpPr>
              <a:spLocks noChangeShapeType="1"/>
            </p:cNvSpPr>
            <p:nvPr/>
          </p:nvSpPr>
          <p:spPr bwMode="auto">
            <a:xfrm>
              <a:off x="2968625" y="5257800"/>
              <a:ext cx="0" cy="3446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30" name="Line 17">
              <a:extLst>
                <a:ext uri="{FF2B5EF4-FFF2-40B4-BE49-F238E27FC236}">
                  <a16:creationId xmlns:a16="http://schemas.microsoft.com/office/drawing/2014/main" id="{6E99663F-3F83-A248-9E93-89F050B8AB32}"/>
                </a:ext>
              </a:extLst>
            </p:cNvPr>
            <p:cNvSpPr>
              <a:spLocks noChangeShapeType="1"/>
            </p:cNvSpPr>
            <p:nvPr/>
          </p:nvSpPr>
          <p:spPr bwMode="auto">
            <a:xfrm>
              <a:off x="1293813" y="3503278"/>
              <a:ext cx="0" cy="16579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31" name="Rectangle 18">
              <a:extLst>
                <a:ext uri="{FF2B5EF4-FFF2-40B4-BE49-F238E27FC236}">
                  <a16:creationId xmlns:a16="http://schemas.microsoft.com/office/drawing/2014/main" id="{561A0C2B-0780-6640-8B33-B931A4B28D22}"/>
                </a:ext>
              </a:extLst>
            </p:cNvPr>
            <p:cNvSpPr>
              <a:spLocks noChangeArrowheads="1"/>
            </p:cNvSpPr>
            <p:nvPr/>
          </p:nvSpPr>
          <p:spPr bwMode="auto">
            <a:xfrm>
              <a:off x="685800" y="4268399"/>
              <a:ext cx="8280400" cy="296734"/>
            </a:xfrm>
            <a:prstGeom prst="rect">
              <a:avLst/>
            </a:prstGeom>
            <a:solidFill>
              <a:srgbClr val="DDDDDD"/>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总线</a:t>
              </a:r>
              <a:endParaRPr lang="en-US" altLang="zh-CN" sz="1000" dirty="0">
                <a:latin typeface="Helvetica" pitchFamily="2" charset="0"/>
              </a:endParaRPr>
            </a:p>
          </p:txBody>
        </p:sp>
        <p:sp>
          <p:nvSpPr>
            <p:cNvPr id="111632" name="Rectangle 19">
              <a:extLst>
                <a:ext uri="{FF2B5EF4-FFF2-40B4-BE49-F238E27FC236}">
                  <a16:creationId xmlns:a16="http://schemas.microsoft.com/office/drawing/2014/main" id="{76A85CF5-5FCD-654D-A002-F9EFB9985EFF}"/>
                </a:ext>
              </a:extLst>
            </p:cNvPr>
            <p:cNvSpPr>
              <a:spLocks noChangeArrowheads="1"/>
            </p:cNvSpPr>
            <p:nvPr/>
          </p:nvSpPr>
          <p:spPr bwMode="auto">
            <a:xfrm>
              <a:off x="641350" y="4876800"/>
              <a:ext cx="1230313"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内存</a:t>
              </a:r>
              <a:endParaRPr lang="en-US" altLang="zh-CN" sz="1000" dirty="0">
                <a:latin typeface="Helvetica" pitchFamily="2" charset="0"/>
              </a:endParaRPr>
            </a:p>
          </p:txBody>
        </p:sp>
        <p:sp>
          <p:nvSpPr>
            <p:cNvPr id="111633" name="Rectangle 20">
              <a:extLst>
                <a:ext uri="{FF2B5EF4-FFF2-40B4-BE49-F238E27FC236}">
                  <a16:creationId xmlns:a16="http://schemas.microsoft.com/office/drawing/2014/main" id="{C0EBCD50-38C3-6A4D-B0D8-94719893572F}"/>
                </a:ext>
              </a:extLst>
            </p:cNvPr>
            <p:cNvSpPr>
              <a:spLocks noChangeArrowheads="1"/>
            </p:cNvSpPr>
            <p:nvPr/>
          </p:nvSpPr>
          <p:spPr bwMode="auto">
            <a:xfrm>
              <a:off x="7869238" y="4876800"/>
              <a:ext cx="1027112" cy="43512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网卡</a:t>
              </a:r>
              <a:endParaRPr lang="en-US" altLang="zh-CN" sz="1000" dirty="0">
                <a:latin typeface="Helvetica" pitchFamily="2" charset="0"/>
              </a:endParaRPr>
            </a:p>
          </p:txBody>
        </p:sp>
        <p:sp>
          <p:nvSpPr>
            <p:cNvPr id="111634" name="Rectangle 21">
              <a:extLst>
                <a:ext uri="{FF2B5EF4-FFF2-40B4-BE49-F238E27FC236}">
                  <a16:creationId xmlns:a16="http://schemas.microsoft.com/office/drawing/2014/main" id="{F711765D-89D3-1140-9228-3E55558CD997}"/>
                </a:ext>
              </a:extLst>
            </p:cNvPr>
            <p:cNvSpPr>
              <a:spLocks noChangeArrowheads="1"/>
            </p:cNvSpPr>
            <p:nvPr/>
          </p:nvSpPr>
          <p:spPr bwMode="auto">
            <a:xfrm>
              <a:off x="2466975" y="4876800"/>
              <a:ext cx="1027113"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000" dirty="0">
                  <a:latin typeface="Helvetica" pitchFamily="2" charset="0"/>
                </a:rPr>
                <a:t>SATA</a:t>
              </a:r>
              <a:r>
                <a:rPr lang="zh-CN" altLang="en-US" sz="1000" dirty="0">
                  <a:latin typeface="Helvetica" pitchFamily="2" charset="0"/>
                </a:rPr>
                <a:t>控制器</a:t>
              </a:r>
              <a:endParaRPr lang="en-US" altLang="zh-CN" sz="1000" dirty="0">
                <a:latin typeface="Helvetica" pitchFamily="2" charset="0"/>
              </a:endParaRPr>
            </a:p>
          </p:txBody>
        </p:sp>
        <p:sp>
          <p:nvSpPr>
            <p:cNvPr id="111635" name="Rectangle 22">
              <a:extLst>
                <a:ext uri="{FF2B5EF4-FFF2-40B4-BE49-F238E27FC236}">
                  <a16:creationId xmlns:a16="http://schemas.microsoft.com/office/drawing/2014/main" id="{DE21A6F4-1120-B74E-A2B9-F97C8AEF559A}"/>
                </a:ext>
              </a:extLst>
            </p:cNvPr>
            <p:cNvSpPr>
              <a:spLocks noChangeArrowheads="1"/>
            </p:cNvSpPr>
            <p:nvPr/>
          </p:nvSpPr>
          <p:spPr bwMode="auto">
            <a:xfrm>
              <a:off x="6348413" y="4876800"/>
              <a:ext cx="1230312"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显卡</a:t>
              </a:r>
              <a:endParaRPr lang="en-US" altLang="zh-CN" sz="1000" dirty="0">
                <a:latin typeface="Helvetica" pitchFamily="2" charset="0"/>
              </a:endParaRPr>
            </a:p>
          </p:txBody>
        </p:sp>
        <p:sp>
          <p:nvSpPr>
            <p:cNvPr id="111636" name="Rectangle 23">
              <a:extLst>
                <a:ext uri="{FF2B5EF4-FFF2-40B4-BE49-F238E27FC236}">
                  <a16:creationId xmlns:a16="http://schemas.microsoft.com/office/drawing/2014/main" id="{6171F56E-BEB3-7F42-AFE1-CB300F6D998E}"/>
                </a:ext>
              </a:extLst>
            </p:cNvPr>
            <p:cNvSpPr>
              <a:spLocks noChangeArrowheads="1"/>
            </p:cNvSpPr>
            <p:nvPr/>
          </p:nvSpPr>
          <p:spPr bwMode="auto">
            <a:xfrm>
              <a:off x="6389688" y="5529769"/>
              <a:ext cx="1230312"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显示器</a:t>
              </a:r>
              <a:endParaRPr lang="en-US" altLang="zh-CN" sz="1000" dirty="0">
                <a:latin typeface="Helvetica" pitchFamily="2" charset="0"/>
              </a:endParaRPr>
            </a:p>
          </p:txBody>
        </p:sp>
        <p:sp>
          <p:nvSpPr>
            <p:cNvPr id="111637" name="Rectangle 24">
              <a:extLst>
                <a:ext uri="{FF2B5EF4-FFF2-40B4-BE49-F238E27FC236}">
                  <a16:creationId xmlns:a16="http://schemas.microsoft.com/office/drawing/2014/main" id="{AE35F190-CF77-4748-B0D0-4B3FD534A5B9}"/>
                </a:ext>
              </a:extLst>
            </p:cNvPr>
            <p:cNvSpPr>
              <a:spLocks noChangeArrowheads="1"/>
            </p:cNvSpPr>
            <p:nvPr/>
          </p:nvSpPr>
          <p:spPr bwMode="auto">
            <a:xfrm>
              <a:off x="7856538" y="5562600"/>
              <a:ext cx="1039812" cy="43512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网络</a:t>
              </a:r>
              <a:endParaRPr lang="en-US" altLang="zh-CN" sz="1000" dirty="0">
                <a:latin typeface="Helvetica" pitchFamily="2" charset="0"/>
              </a:endParaRPr>
            </a:p>
          </p:txBody>
        </p:sp>
        <p:sp>
          <p:nvSpPr>
            <p:cNvPr id="111638" name="Rectangle 25">
              <a:extLst>
                <a:ext uri="{FF2B5EF4-FFF2-40B4-BE49-F238E27FC236}">
                  <a16:creationId xmlns:a16="http://schemas.microsoft.com/office/drawing/2014/main" id="{D80C7CA9-79AF-D74C-8C8B-3E788A1D319F}"/>
                </a:ext>
              </a:extLst>
            </p:cNvPr>
            <p:cNvSpPr>
              <a:spLocks noChangeArrowheads="1"/>
            </p:cNvSpPr>
            <p:nvPr/>
          </p:nvSpPr>
          <p:spPr bwMode="auto">
            <a:xfrm>
              <a:off x="457200" y="3460697"/>
              <a:ext cx="1414463"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处理器</a:t>
              </a:r>
              <a:endParaRPr lang="en-US" altLang="zh-CN" sz="1000" dirty="0">
                <a:latin typeface="Helvetica" pitchFamily="2" charset="0"/>
              </a:endParaRPr>
            </a:p>
          </p:txBody>
        </p:sp>
        <p:sp>
          <p:nvSpPr>
            <p:cNvPr id="111639" name="Rectangle 26">
              <a:extLst>
                <a:ext uri="{FF2B5EF4-FFF2-40B4-BE49-F238E27FC236}">
                  <a16:creationId xmlns:a16="http://schemas.microsoft.com/office/drawing/2014/main" id="{F3BB4987-2EA7-C244-9483-CB5DB2413805}"/>
                </a:ext>
              </a:extLst>
            </p:cNvPr>
            <p:cNvSpPr>
              <a:spLocks noChangeArrowheads="1"/>
            </p:cNvSpPr>
            <p:nvPr/>
          </p:nvSpPr>
          <p:spPr bwMode="auto">
            <a:xfrm>
              <a:off x="2352675" y="3460697"/>
              <a:ext cx="1230313"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中断控制器</a:t>
              </a:r>
              <a:endParaRPr lang="en-US" altLang="zh-CN" sz="1000" dirty="0">
                <a:latin typeface="Helvetica" pitchFamily="2" charset="0"/>
              </a:endParaRPr>
            </a:p>
          </p:txBody>
        </p:sp>
        <p:sp>
          <p:nvSpPr>
            <p:cNvPr id="111640" name="Rectangle 27">
              <a:extLst>
                <a:ext uri="{FF2B5EF4-FFF2-40B4-BE49-F238E27FC236}">
                  <a16:creationId xmlns:a16="http://schemas.microsoft.com/office/drawing/2014/main" id="{BF6237C8-CC01-9A45-A79A-6719F1E59B13}"/>
                </a:ext>
              </a:extLst>
            </p:cNvPr>
            <p:cNvSpPr>
              <a:spLocks noChangeArrowheads="1"/>
            </p:cNvSpPr>
            <p:nvPr/>
          </p:nvSpPr>
          <p:spPr bwMode="auto">
            <a:xfrm>
              <a:off x="4368800" y="4876800"/>
              <a:ext cx="1027113"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000" dirty="0">
                  <a:latin typeface="Helvetica" pitchFamily="2" charset="0"/>
                </a:rPr>
                <a:t>IDE</a:t>
              </a:r>
              <a:r>
                <a:rPr lang="zh-CN" altLang="en-US" sz="1000" dirty="0">
                  <a:latin typeface="Helvetica" pitchFamily="2" charset="0"/>
                </a:rPr>
                <a:t>控制器</a:t>
              </a:r>
              <a:endParaRPr lang="en-US" altLang="zh-CN" sz="1000" dirty="0">
                <a:latin typeface="Helvetica" pitchFamily="2" charset="0"/>
              </a:endParaRPr>
            </a:p>
          </p:txBody>
        </p:sp>
        <p:sp>
          <p:nvSpPr>
            <p:cNvPr id="111641" name="Rectangle 29">
              <a:extLst>
                <a:ext uri="{FF2B5EF4-FFF2-40B4-BE49-F238E27FC236}">
                  <a16:creationId xmlns:a16="http://schemas.microsoft.com/office/drawing/2014/main" id="{C85F5636-0023-8E46-BC56-8024A02CE39C}"/>
                </a:ext>
              </a:extLst>
            </p:cNvPr>
            <p:cNvSpPr>
              <a:spLocks noChangeArrowheads="1"/>
            </p:cNvSpPr>
            <p:nvPr/>
          </p:nvSpPr>
          <p:spPr bwMode="auto">
            <a:xfrm>
              <a:off x="5776913" y="3460697"/>
              <a:ext cx="1614487"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000" dirty="0">
                  <a:latin typeface="Helvetica" pitchFamily="2" charset="0"/>
                </a:rPr>
                <a:t>USB</a:t>
              </a:r>
              <a:r>
                <a:rPr lang="zh-CN" altLang="en-US" sz="1000" dirty="0">
                  <a:latin typeface="Helvetica" pitchFamily="2" charset="0"/>
                </a:rPr>
                <a:t>控制器</a:t>
              </a:r>
              <a:endParaRPr lang="en-US" altLang="zh-CN" sz="1000" dirty="0">
                <a:latin typeface="Helvetica" pitchFamily="2" charset="0"/>
              </a:endParaRPr>
            </a:p>
          </p:txBody>
        </p:sp>
        <p:sp>
          <p:nvSpPr>
            <p:cNvPr id="111642" name="Rectangle 31">
              <a:extLst>
                <a:ext uri="{FF2B5EF4-FFF2-40B4-BE49-F238E27FC236}">
                  <a16:creationId xmlns:a16="http://schemas.microsoft.com/office/drawing/2014/main" id="{D0AB1B6D-4ACC-FF48-AC9C-5E0176522886}"/>
                </a:ext>
              </a:extLst>
            </p:cNvPr>
            <p:cNvSpPr>
              <a:spLocks noChangeArrowheads="1"/>
            </p:cNvSpPr>
            <p:nvPr/>
          </p:nvSpPr>
          <p:spPr bwMode="auto">
            <a:xfrm>
              <a:off x="3875088" y="3460697"/>
              <a:ext cx="1230312"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键盘控制器</a:t>
              </a:r>
              <a:endParaRPr lang="en-US" altLang="zh-CN" sz="1000" dirty="0">
                <a:latin typeface="Helvetica" pitchFamily="2" charset="0"/>
              </a:endParaRPr>
            </a:p>
          </p:txBody>
        </p:sp>
        <p:sp>
          <p:nvSpPr>
            <p:cNvPr id="111643" name="Line 32">
              <a:extLst>
                <a:ext uri="{FF2B5EF4-FFF2-40B4-BE49-F238E27FC236}">
                  <a16:creationId xmlns:a16="http://schemas.microsoft.com/office/drawing/2014/main" id="{329349EC-D77C-6445-A165-7F7E0E36D68A}"/>
                </a:ext>
              </a:extLst>
            </p:cNvPr>
            <p:cNvSpPr>
              <a:spLocks noChangeShapeType="1"/>
            </p:cNvSpPr>
            <p:nvPr/>
          </p:nvSpPr>
          <p:spPr bwMode="auto">
            <a:xfrm>
              <a:off x="1909763" y="3689568"/>
              <a:ext cx="442912" cy="0"/>
            </a:xfrm>
            <a:prstGeom prst="line">
              <a:avLst/>
            </a:prstGeom>
            <a:noFill/>
            <a:ln w="635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sz="1500"/>
            </a:p>
          </p:txBody>
        </p:sp>
        <p:sp>
          <p:nvSpPr>
            <p:cNvPr id="111644" name="Rectangle 33">
              <a:extLst>
                <a:ext uri="{FF2B5EF4-FFF2-40B4-BE49-F238E27FC236}">
                  <a16:creationId xmlns:a16="http://schemas.microsoft.com/office/drawing/2014/main" id="{AA8B43E2-39B2-E04F-B12C-3355845966FA}"/>
                </a:ext>
              </a:extLst>
            </p:cNvPr>
            <p:cNvSpPr>
              <a:spLocks noChangeArrowheads="1"/>
            </p:cNvSpPr>
            <p:nvPr/>
          </p:nvSpPr>
          <p:spPr bwMode="auto">
            <a:xfrm>
              <a:off x="3875088" y="2786569"/>
              <a:ext cx="1230312"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键盘</a:t>
              </a:r>
              <a:endParaRPr lang="en-US" altLang="zh-CN" sz="1000" dirty="0">
                <a:latin typeface="Helvetica" pitchFamily="2" charset="0"/>
              </a:endParaRPr>
            </a:p>
          </p:txBody>
        </p:sp>
        <p:sp>
          <p:nvSpPr>
            <p:cNvPr id="111645" name="Rectangle 34">
              <a:extLst>
                <a:ext uri="{FF2B5EF4-FFF2-40B4-BE49-F238E27FC236}">
                  <a16:creationId xmlns:a16="http://schemas.microsoft.com/office/drawing/2014/main" id="{0173A53D-0020-0D41-9478-83BBAB3CF2C0}"/>
                </a:ext>
              </a:extLst>
            </p:cNvPr>
            <p:cNvSpPr>
              <a:spLocks noChangeArrowheads="1"/>
            </p:cNvSpPr>
            <p:nvPr/>
          </p:nvSpPr>
          <p:spPr bwMode="auto">
            <a:xfrm>
              <a:off x="5554663" y="2786569"/>
              <a:ext cx="755650"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鼠标</a:t>
              </a:r>
              <a:endParaRPr lang="en-US" altLang="zh-CN" sz="1000" dirty="0">
                <a:latin typeface="Helvetica" pitchFamily="2" charset="0"/>
              </a:endParaRPr>
            </a:p>
          </p:txBody>
        </p:sp>
        <p:sp>
          <p:nvSpPr>
            <p:cNvPr id="111646" name="Rectangle 35">
              <a:extLst>
                <a:ext uri="{FF2B5EF4-FFF2-40B4-BE49-F238E27FC236}">
                  <a16:creationId xmlns:a16="http://schemas.microsoft.com/office/drawing/2014/main" id="{9E9AE21B-97DF-F643-B562-F99CD6B72E4C}"/>
                </a:ext>
              </a:extLst>
            </p:cNvPr>
            <p:cNvSpPr>
              <a:spLocks noChangeArrowheads="1"/>
            </p:cNvSpPr>
            <p:nvPr/>
          </p:nvSpPr>
          <p:spPr bwMode="auto">
            <a:xfrm>
              <a:off x="6477000" y="2786569"/>
              <a:ext cx="1230313" cy="413831"/>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lIns="56464" tIns="27737" rIns="56464" bIns="27737" anchor="ct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打印机</a:t>
              </a:r>
              <a:endParaRPr lang="en-US" altLang="zh-CN" sz="1000" dirty="0">
                <a:latin typeface="Helvetica" pitchFamily="2" charset="0"/>
              </a:endParaRPr>
            </a:p>
          </p:txBody>
        </p:sp>
        <p:sp>
          <p:nvSpPr>
            <p:cNvPr id="111647" name="AutoShape 37">
              <a:extLst>
                <a:ext uri="{FF2B5EF4-FFF2-40B4-BE49-F238E27FC236}">
                  <a16:creationId xmlns:a16="http://schemas.microsoft.com/office/drawing/2014/main" id="{629111CA-F0B2-A143-94F2-1330CBAF5E00}"/>
                </a:ext>
              </a:extLst>
            </p:cNvPr>
            <p:cNvSpPr>
              <a:spLocks noChangeArrowheads="1"/>
            </p:cNvSpPr>
            <p:nvPr/>
          </p:nvSpPr>
          <p:spPr bwMode="auto">
            <a:xfrm>
              <a:off x="2731989" y="5489016"/>
              <a:ext cx="497083" cy="517531"/>
            </a:xfrm>
            <a:prstGeom prst="flowChartMagneticDisk">
              <a:avLst/>
            </a:pr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57144" tIns="28573" rIns="57144" bIns="28573" anchor="ctr">
              <a:spAutoFit/>
            </a:bodyP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000" dirty="0">
                  <a:latin typeface="Helvetica" pitchFamily="2" charset="0"/>
                </a:rPr>
                <a:t>磁盘</a:t>
              </a:r>
              <a:endParaRPr lang="en-US" altLang="zh-CN" sz="1000" dirty="0">
                <a:latin typeface="Helvetica" pitchFamily="2" charset="0"/>
              </a:endParaRPr>
            </a:p>
          </p:txBody>
        </p:sp>
        <p:sp>
          <p:nvSpPr>
            <p:cNvPr id="111648" name="AutoShape 39">
              <a:extLst>
                <a:ext uri="{FF2B5EF4-FFF2-40B4-BE49-F238E27FC236}">
                  <a16:creationId xmlns:a16="http://schemas.microsoft.com/office/drawing/2014/main" id="{65C131B8-A6E5-4F4F-89E6-ED67F21ECB5A}"/>
                </a:ext>
              </a:extLst>
            </p:cNvPr>
            <p:cNvSpPr>
              <a:spLocks noChangeArrowheads="1"/>
            </p:cNvSpPr>
            <p:nvPr/>
          </p:nvSpPr>
          <p:spPr bwMode="auto">
            <a:xfrm>
              <a:off x="4494901" y="5517558"/>
              <a:ext cx="803484" cy="517531"/>
            </a:xfrm>
            <a:prstGeom prst="flowChartMagneticDisk">
              <a:avLst/>
            </a:pr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57144" tIns="28573" rIns="57144" bIns="28573" anchor="ctr">
              <a:spAutoFit/>
            </a:bodyP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000">
                  <a:latin typeface="Helvetica" pitchFamily="2" charset="0"/>
                </a:rPr>
                <a:t>CDROM</a:t>
              </a:r>
            </a:p>
          </p:txBody>
        </p:sp>
      </p:grpSp>
      <p:sp>
        <p:nvSpPr>
          <p:cNvPr id="4" name="灯片编号占位符 3">
            <a:extLst>
              <a:ext uri="{FF2B5EF4-FFF2-40B4-BE49-F238E27FC236}">
                <a16:creationId xmlns:a16="http://schemas.microsoft.com/office/drawing/2014/main" id="{B00F4FF2-869A-1D4E-B28E-48E0A24A84D0}"/>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Tree>
    <p:extLst>
      <p:ext uri="{BB962C8B-B14F-4D97-AF65-F5344CB8AC3E}">
        <p14:creationId xmlns:p14="http://schemas.microsoft.com/office/powerpoint/2010/main" val="22777769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2C2E16DD-F134-4E46-B9D1-64AE3AC3C421}"/>
              </a:ext>
            </a:extLst>
          </p:cNvPr>
          <p:cNvSpPr>
            <a:spLocks noGrp="1" noChangeArrowheads="1"/>
          </p:cNvSpPr>
          <p:nvPr>
            <p:ph type="title"/>
          </p:nvPr>
        </p:nvSpPr>
        <p:spPr>
          <a:xfrm>
            <a:off x="457200" y="228866"/>
            <a:ext cx="8229600" cy="900442"/>
          </a:xfrm>
        </p:spPr>
        <p:txBody>
          <a:bodyPr>
            <a:normAutofit/>
          </a:bodyPr>
          <a:lstStyle/>
          <a:p>
            <a:r>
              <a:rPr lang="zh-CN" altLang="en-US" dirty="0"/>
              <a:t>异步异常（中断）</a:t>
            </a:r>
            <a:endParaRPr lang="en-US" altLang="zh-CN" dirty="0"/>
          </a:p>
        </p:txBody>
      </p:sp>
      <p:sp>
        <p:nvSpPr>
          <p:cNvPr id="113666" name="Rectangle 3">
            <a:extLst>
              <a:ext uri="{FF2B5EF4-FFF2-40B4-BE49-F238E27FC236}">
                <a16:creationId xmlns:a16="http://schemas.microsoft.com/office/drawing/2014/main" id="{CE3A784C-D570-BF4B-9C82-EF224A779616}"/>
              </a:ext>
            </a:extLst>
          </p:cNvPr>
          <p:cNvSpPr>
            <a:spLocks noGrp="1" noChangeArrowheads="1"/>
          </p:cNvSpPr>
          <p:nvPr>
            <p:ph idx="1"/>
          </p:nvPr>
        </p:nvSpPr>
        <p:spPr>
          <a:xfrm>
            <a:off x="457200" y="1333501"/>
            <a:ext cx="8229600" cy="3771636"/>
          </a:xfrm>
        </p:spPr>
        <p:txBody>
          <a:bodyPr>
            <a:normAutofit fontScale="92500" lnSpcReduction="10000"/>
          </a:bodyPr>
          <a:lstStyle/>
          <a:p>
            <a:r>
              <a:rPr lang="zh-CN" altLang="en-US" dirty="0"/>
              <a:t>例子</a:t>
            </a:r>
            <a:r>
              <a:rPr lang="en-US" altLang="zh-CN" dirty="0"/>
              <a:t>:</a:t>
            </a:r>
          </a:p>
          <a:p>
            <a:pPr lvl="1"/>
            <a:r>
              <a:rPr lang="en-US" altLang="zh-CN" dirty="0"/>
              <a:t>I/O </a:t>
            </a:r>
            <a:r>
              <a:rPr lang="zh-CN" altLang="en-US" dirty="0"/>
              <a:t>中断</a:t>
            </a:r>
            <a:endParaRPr lang="en-US" altLang="zh-CN" dirty="0"/>
          </a:p>
          <a:p>
            <a:pPr lvl="2"/>
            <a:r>
              <a:rPr lang="zh-CN" altLang="en-US" dirty="0"/>
              <a:t>在键盘上按下</a:t>
            </a:r>
            <a:r>
              <a:rPr lang="en-US" altLang="zh-CN" dirty="0" err="1"/>
              <a:t>ctrl+c</a:t>
            </a:r>
            <a:endParaRPr lang="en-US" altLang="zh-CN" dirty="0"/>
          </a:p>
          <a:p>
            <a:pPr lvl="2"/>
            <a:r>
              <a:rPr lang="zh-CN" altLang="en-US" dirty="0"/>
              <a:t>从网络收到数据包</a:t>
            </a:r>
            <a:endParaRPr lang="en-US" altLang="zh-CN" dirty="0"/>
          </a:p>
          <a:p>
            <a:pPr lvl="2"/>
            <a:r>
              <a:rPr lang="zh-CN" altLang="en-US" dirty="0"/>
              <a:t>磁盘从某个扇区读取完成</a:t>
            </a:r>
            <a:endParaRPr lang="en-US" altLang="zh-CN" dirty="0"/>
          </a:p>
          <a:p>
            <a:pPr lvl="1"/>
            <a:r>
              <a:rPr lang="zh-CN" altLang="en-US" dirty="0"/>
              <a:t>硬复位中断</a:t>
            </a:r>
            <a:endParaRPr lang="en-US" altLang="zh-CN" dirty="0"/>
          </a:p>
          <a:p>
            <a:pPr lvl="2"/>
            <a:r>
              <a:rPr lang="zh-CN" altLang="en-US" dirty="0"/>
              <a:t>按下重启按钮</a:t>
            </a:r>
            <a:endParaRPr lang="en-US" altLang="zh-CN" dirty="0"/>
          </a:p>
          <a:p>
            <a:pPr lvl="1"/>
            <a:r>
              <a:rPr lang="zh-CN" altLang="en-US" dirty="0"/>
              <a:t>软复位中断</a:t>
            </a:r>
            <a:endParaRPr lang="en-US" altLang="zh-CN" dirty="0"/>
          </a:p>
          <a:p>
            <a:pPr lvl="2"/>
            <a:r>
              <a:rPr lang="zh-CN" altLang="en-US" dirty="0"/>
              <a:t>按下</a:t>
            </a:r>
            <a:r>
              <a:rPr lang="en-US" altLang="zh-CN" dirty="0" err="1"/>
              <a:t>ctl</a:t>
            </a:r>
            <a:r>
              <a:rPr lang="en-US" altLang="zh-CN" dirty="0"/>
              <a:t>-alt-delete</a:t>
            </a:r>
          </a:p>
        </p:txBody>
      </p:sp>
      <p:sp>
        <p:nvSpPr>
          <p:cNvPr id="4" name="灯片编号占位符 3">
            <a:extLst>
              <a:ext uri="{FF2B5EF4-FFF2-40B4-BE49-F238E27FC236}">
                <a16:creationId xmlns:a16="http://schemas.microsoft.com/office/drawing/2014/main" id="{2DF0FC3B-585E-2D4A-AB77-340B4B2A54D0}"/>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Tree>
    <p:extLst>
      <p:ext uri="{BB962C8B-B14F-4D97-AF65-F5344CB8AC3E}">
        <p14:creationId xmlns:p14="http://schemas.microsoft.com/office/powerpoint/2010/main" val="12473515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D5B82-0F7A-DD40-8ACD-40F9E06FF7AF}"/>
              </a:ext>
            </a:extLst>
          </p:cNvPr>
          <p:cNvSpPr>
            <a:spLocks noGrp="1"/>
          </p:cNvSpPr>
          <p:nvPr>
            <p:ph type="title"/>
          </p:nvPr>
        </p:nvSpPr>
        <p:spPr/>
        <p:txBody>
          <a:bodyPr/>
          <a:lstStyle/>
          <a:p>
            <a:r>
              <a:rPr kumimoji="1" lang="zh-CN" altLang="en-US" dirty="0"/>
              <a:t>异常向量表</a:t>
            </a:r>
          </a:p>
        </p:txBody>
      </p:sp>
      <p:sp>
        <p:nvSpPr>
          <p:cNvPr id="3" name="内容占位符 2">
            <a:extLst>
              <a:ext uri="{FF2B5EF4-FFF2-40B4-BE49-F238E27FC236}">
                <a16:creationId xmlns:a16="http://schemas.microsoft.com/office/drawing/2014/main" id="{CDC638ED-2194-1547-BB31-82B1A37EAB50}"/>
              </a:ext>
            </a:extLst>
          </p:cNvPr>
          <p:cNvSpPr>
            <a:spLocks noGrp="1"/>
          </p:cNvSpPr>
          <p:nvPr>
            <p:ph idx="1"/>
          </p:nvPr>
        </p:nvSpPr>
        <p:spPr/>
        <p:txBody>
          <a:bodyPr>
            <a:normAutofit/>
          </a:bodyPr>
          <a:lstStyle/>
          <a:p>
            <a:r>
              <a:rPr kumimoji="1" lang="zh-CN" altLang="en-US" sz="2400" dirty="0"/>
              <a:t>操作系统预先在一张表中准备好不同类型异常的处理函数</a:t>
            </a:r>
            <a:endParaRPr kumimoji="1" lang="en-US" altLang="zh-CN" sz="2400" dirty="0"/>
          </a:p>
          <a:p>
            <a:pPr lvl="1"/>
            <a:r>
              <a:rPr kumimoji="1" lang="zh-CN" altLang="en-US" sz="2000" dirty="0"/>
              <a:t>异常向量表（</a:t>
            </a:r>
            <a:r>
              <a:rPr kumimoji="1" lang="en-US" altLang="zh-CN" sz="2000" dirty="0"/>
              <a:t>Exception</a:t>
            </a:r>
            <a:r>
              <a:rPr kumimoji="1" lang="zh-CN" altLang="en-US" sz="2000" dirty="0"/>
              <a:t> </a:t>
            </a:r>
            <a:r>
              <a:rPr kumimoji="1" lang="en-US" altLang="zh-CN" sz="2000" dirty="0"/>
              <a:t>Vector</a:t>
            </a:r>
            <a:r>
              <a:rPr kumimoji="1" lang="zh-CN" altLang="en-US" sz="2000" dirty="0"/>
              <a:t> </a:t>
            </a:r>
            <a:r>
              <a:rPr kumimoji="1" lang="en-US" altLang="zh-CN" sz="2000" dirty="0"/>
              <a:t>Table</a:t>
            </a:r>
            <a:r>
              <a:rPr kumimoji="1" lang="zh-CN" altLang="en-US" sz="2000" dirty="0"/>
              <a:t>）</a:t>
            </a:r>
            <a:endParaRPr kumimoji="1" lang="en-US" altLang="zh-CN" sz="2000" dirty="0"/>
          </a:p>
          <a:p>
            <a:pPr lvl="1"/>
            <a:r>
              <a:rPr kumimoji="1" lang="zh-CN" altLang="en-US" sz="2000" dirty="0"/>
              <a:t>表的格式由</a:t>
            </a:r>
            <a:r>
              <a:rPr kumimoji="1" lang="en-US" altLang="zh-CN" sz="2000" dirty="0"/>
              <a:t>CPU</a:t>
            </a:r>
            <a:r>
              <a:rPr kumimoji="1" lang="zh-CN" altLang="en-US" sz="2000" dirty="0"/>
              <a:t>规定</a:t>
            </a:r>
            <a:endParaRPr kumimoji="1" lang="en-US" altLang="zh-CN" sz="2000" dirty="0"/>
          </a:p>
          <a:p>
            <a:pPr lvl="1"/>
            <a:r>
              <a:rPr kumimoji="1" lang="zh-CN" altLang="en-US" sz="2000" dirty="0"/>
              <a:t>表的基地址存储在</a:t>
            </a:r>
            <a:r>
              <a:rPr kumimoji="1" lang="en-US" altLang="zh-CN" sz="2000" b="1" dirty="0">
                <a:solidFill>
                  <a:schemeClr val="accent1"/>
                </a:solidFill>
                <a:latin typeface="Consolas" panose="020B0609020204030204" pitchFamily="49" charset="0"/>
                <a:cs typeface="Consolas" panose="020B0609020204030204" pitchFamily="49" charset="0"/>
              </a:rPr>
              <a:t>VBAR_EL1</a:t>
            </a:r>
            <a:r>
              <a:rPr kumimoji="1" lang="zh-CN" altLang="en-US" sz="2000" dirty="0"/>
              <a:t>寄存器中</a:t>
            </a:r>
            <a:endParaRPr kumimoji="1" lang="en-US" altLang="zh-CN" sz="2000" dirty="0"/>
          </a:p>
          <a:p>
            <a:pPr lvl="1"/>
            <a:r>
              <a:rPr kumimoji="1" lang="en-US" altLang="zh-CN" sz="2000" dirty="0"/>
              <a:t>CPU</a:t>
            </a:r>
            <a:r>
              <a:rPr kumimoji="1" lang="zh-CN" altLang="en-US" sz="2000" dirty="0"/>
              <a:t>在异常发生时自动跳转到对应位置</a:t>
            </a:r>
            <a:endParaRPr kumimoji="1" lang="en-US" altLang="zh-CN" sz="2000" dirty="0"/>
          </a:p>
          <a:p>
            <a:pPr lvl="1"/>
            <a:r>
              <a:rPr kumimoji="1" lang="zh-CN" altLang="en-US" sz="2000" dirty="0"/>
              <a:t>一共</a:t>
            </a:r>
            <a:r>
              <a:rPr kumimoji="1" lang="en-US" altLang="zh-CN" sz="2000" dirty="0"/>
              <a:t>16</a:t>
            </a:r>
            <a:r>
              <a:rPr kumimoji="1" lang="zh-CN" altLang="en-US" sz="2000" dirty="0"/>
              <a:t>项，其中</a:t>
            </a:r>
            <a:r>
              <a:rPr kumimoji="1" lang="en-US" altLang="zh-CN" sz="2000" dirty="0"/>
              <a:t>4</a:t>
            </a:r>
            <a:r>
              <a:rPr kumimoji="1" lang="zh-CN" altLang="en-US" sz="2000" dirty="0"/>
              <a:t>条最为常用</a:t>
            </a:r>
          </a:p>
        </p:txBody>
      </p:sp>
      <p:grpSp>
        <p:nvGrpSpPr>
          <p:cNvPr id="5" name="组合 14">
            <a:extLst>
              <a:ext uri="{FF2B5EF4-FFF2-40B4-BE49-F238E27FC236}">
                <a16:creationId xmlns:a16="http://schemas.microsoft.com/office/drawing/2014/main" id="{8E9F481A-3EF8-094D-893C-5D7667D2F7E7}"/>
              </a:ext>
            </a:extLst>
          </p:cNvPr>
          <p:cNvGrpSpPr>
            <a:grpSpLocks/>
          </p:cNvGrpSpPr>
          <p:nvPr/>
        </p:nvGrpSpPr>
        <p:grpSpPr bwMode="auto">
          <a:xfrm>
            <a:off x="6012160" y="2281436"/>
            <a:ext cx="2835275" cy="2723153"/>
            <a:chOff x="3271727" y="3918075"/>
            <a:chExt cx="2925665" cy="2920111"/>
          </a:xfrm>
        </p:grpSpPr>
        <p:grpSp>
          <p:nvGrpSpPr>
            <p:cNvPr id="6" name="组合 12">
              <a:extLst>
                <a:ext uri="{FF2B5EF4-FFF2-40B4-BE49-F238E27FC236}">
                  <a16:creationId xmlns:a16="http://schemas.microsoft.com/office/drawing/2014/main" id="{853D375B-4740-9744-A042-6F0706683AD8}"/>
                </a:ext>
              </a:extLst>
            </p:cNvPr>
            <p:cNvGrpSpPr>
              <a:grpSpLocks/>
            </p:cNvGrpSpPr>
            <p:nvPr/>
          </p:nvGrpSpPr>
          <p:grpSpPr bwMode="auto">
            <a:xfrm>
              <a:off x="3271727" y="3918075"/>
              <a:ext cx="2925665" cy="2920111"/>
              <a:chOff x="4469218" y="3600836"/>
              <a:chExt cx="3197679" cy="3191610"/>
            </a:xfrm>
          </p:grpSpPr>
          <p:sp>
            <p:nvSpPr>
              <p:cNvPr id="8" name="Rectangle 5">
                <a:extLst>
                  <a:ext uri="{FF2B5EF4-FFF2-40B4-BE49-F238E27FC236}">
                    <a16:creationId xmlns:a16="http://schemas.microsoft.com/office/drawing/2014/main" id="{C2E6B8B5-5710-264F-823B-5E4365AA751B}"/>
                  </a:ext>
                </a:extLst>
              </p:cNvPr>
              <p:cNvSpPr>
                <a:spLocks noChangeArrowheads="1"/>
              </p:cNvSpPr>
              <p:nvPr/>
            </p:nvSpPr>
            <p:spPr bwMode="auto">
              <a:xfrm>
                <a:off x="4469218" y="3600836"/>
                <a:ext cx="3197679" cy="309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lnSpc>
                    <a:spcPts val="1460"/>
                  </a:lnSpc>
                  <a:spcBef>
                    <a:spcPct val="0"/>
                  </a:spcBef>
                  <a:buFontTx/>
                  <a:buNone/>
                </a:pPr>
                <a:r>
                  <a:rPr lang="zh-CN" altLang="en-US" sz="1800" b="1" dirty="0">
                    <a:latin typeface="Arial" panose="020B0604020202020204" pitchFamily="34" charset="0"/>
                  </a:rPr>
                  <a:t>异常向量表</a:t>
                </a:r>
                <a:endParaRPr lang="en-US" altLang="zh-CN" sz="1800" b="1" dirty="0">
                  <a:latin typeface="Arial" panose="020B0604020202020204" pitchFamily="34" charset="0"/>
                </a:endParaRPr>
              </a:p>
            </p:txBody>
          </p:sp>
          <p:sp>
            <p:nvSpPr>
              <p:cNvPr id="9" name="Rectangle 19">
                <a:extLst>
                  <a:ext uri="{FF2B5EF4-FFF2-40B4-BE49-F238E27FC236}">
                    <a16:creationId xmlns:a16="http://schemas.microsoft.com/office/drawing/2014/main" id="{DC9ECDFD-D72F-3242-92F2-E3745324319D}"/>
                  </a:ext>
                </a:extLst>
              </p:cNvPr>
              <p:cNvSpPr>
                <a:spLocks noChangeArrowheads="1"/>
              </p:cNvSpPr>
              <p:nvPr/>
            </p:nvSpPr>
            <p:spPr bwMode="auto">
              <a:xfrm>
                <a:off x="4724400" y="4160791"/>
                <a:ext cx="2687316" cy="470917"/>
              </a:xfrm>
              <a:prstGeom prst="rect">
                <a:avLst/>
              </a:prstGeom>
              <a:solidFill>
                <a:srgbClr val="FFFF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lnSpc>
                    <a:spcPts val="1460"/>
                  </a:lnSpc>
                  <a:spcBef>
                    <a:spcPct val="0"/>
                  </a:spcBef>
                  <a:buFontTx/>
                  <a:buNone/>
                </a:pPr>
                <a:r>
                  <a:rPr lang="zh-CN" altLang="en-US" sz="1500" b="1" dirty="0">
                    <a:latin typeface="Arial" panose="020B0604020202020204" pitchFamily="34" charset="0"/>
                  </a:rPr>
                  <a:t>同步异常处理函数</a:t>
                </a:r>
                <a:endParaRPr lang="en-US" altLang="zh-CN" sz="1500" b="1" dirty="0">
                  <a:latin typeface="Arial" panose="020B0604020202020204" pitchFamily="34" charset="0"/>
                </a:endParaRPr>
              </a:p>
            </p:txBody>
          </p:sp>
          <p:sp>
            <p:nvSpPr>
              <p:cNvPr id="10" name="Rectangle 23">
                <a:extLst>
                  <a:ext uri="{FF2B5EF4-FFF2-40B4-BE49-F238E27FC236}">
                    <a16:creationId xmlns:a16="http://schemas.microsoft.com/office/drawing/2014/main" id="{159B2FB9-E12E-EE4A-9DD5-4C4F545F53F1}"/>
                  </a:ext>
                </a:extLst>
              </p:cNvPr>
              <p:cNvSpPr>
                <a:spLocks noChangeArrowheads="1"/>
              </p:cNvSpPr>
              <p:nvPr/>
            </p:nvSpPr>
            <p:spPr bwMode="auto">
              <a:xfrm>
                <a:off x="4724400" y="5378971"/>
                <a:ext cx="2687316" cy="470917"/>
              </a:xfrm>
              <a:prstGeom prst="rect">
                <a:avLst/>
              </a:prstGeom>
              <a:solidFill>
                <a:srgbClr val="FFFF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lnSpc>
                    <a:spcPts val="1460"/>
                  </a:lnSpc>
                  <a:spcBef>
                    <a:spcPct val="0"/>
                  </a:spcBef>
                  <a:buFontTx/>
                  <a:buNone/>
                </a:pPr>
                <a:r>
                  <a:rPr lang="zh-CN" altLang="en-US" sz="1500" b="1" dirty="0">
                    <a:latin typeface="Arial" panose="020B0604020202020204" pitchFamily="34" charset="0"/>
                  </a:rPr>
                  <a:t>快速中断处理函数</a:t>
                </a:r>
                <a:r>
                  <a:rPr lang="en-US" altLang="zh-CN" sz="1500" b="1" dirty="0">
                    <a:latin typeface="Arial" panose="020B0604020202020204" pitchFamily="34" charset="0"/>
                  </a:rPr>
                  <a:t>(FIQ)</a:t>
                </a:r>
              </a:p>
            </p:txBody>
          </p:sp>
          <p:sp>
            <p:nvSpPr>
              <p:cNvPr id="11" name="Text Box 25">
                <a:extLst>
                  <a:ext uri="{FF2B5EF4-FFF2-40B4-BE49-F238E27FC236}">
                    <a16:creationId xmlns:a16="http://schemas.microsoft.com/office/drawing/2014/main" id="{B54F1E99-2107-714B-A09F-D18A02392EFE}"/>
                  </a:ext>
                </a:extLst>
              </p:cNvPr>
              <p:cNvSpPr txBox="1">
                <a:spLocks noChangeArrowheads="1"/>
              </p:cNvSpPr>
              <p:nvPr/>
            </p:nvSpPr>
            <p:spPr bwMode="auto">
              <a:xfrm>
                <a:off x="5903707" y="6466354"/>
                <a:ext cx="425217" cy="326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lnSpc>
                    <a:spcPts val="1460"/>
                  </a:lnSpc>
                  <a:spcBef>
                    <a:spcPct val="0"/>
                  </a:spcBef>
                  <a:buFontTx/>
                  <a:buNone/>
                </a:pPr>
                <a:r>
                  <a:rPr lang="en-US" altLang="zh-CN" sz="1800" b="1">
                    <a:latin typeface="Arial" panose="020B0604020202020204" pitchFamily="34" charset="0"/>
                  </a:rPr>
                  <a:t>...</a:t>
                </a:r>
              </a:p>
            </p:txBody>
          </p:sp>
          <p:sp>
            <p:nvSpPr>
              <p:cNvPr id="12" name="Rectangle 19">
                <a:extLst>
                  <a:ext uri="{FF2B5EF4-FFF2-40B4-BE49-F238E27FC236}">
                    <a16:creationId xmlns:a16="http://schemas.microsoft.com/office/drawing/2014/main" id="{1C0436C9-2805-E64F-A90F-015841BC03FE}"/>
                  </a:ext>
                </a:extLst>
              </p:cNvPr>
              <p:cNvSpPr>
                <a:spLocks noChangeArrowheads="1"/>
              </p:cNvSpPr>
              <p:nvPr/>
            </p:nvSpPr>
            <p:spPr bwMode="auto">
              <a:xfrm>
                <a:off x="4724400" y="4728993"/>
                <a:ext cx="2687316" cy="470917"/>
              </a:xfrm>
              <a:prstGeom prst="rect">
                <a:avLst/>
              </a:prstGeom>
              <a:solidFill>
                <a:srgbClr val="FFFF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lnSpc>
                    <a:spcPts val="1460"/>
                  </a:lnSpc>
                  <a:spcBef>
                    <a:spcPct val="0"/>
                  </a:spcBef>
                  <a:buFontTx/>
                  <a:buNone/>
                </a:pPr>
                <a:r>
                  <a:rPr lang="zh-CN" altLang="en-US" sz="1500" b="1" dirty="0">
                    <a:latin typeface="Arial" panose="020B0604020202020204" pitchFamily="34" charset="0"/>
                  </a:rPr>
                  <a:t>中断处理函数</a:t>
                </a:r>
                <a:r>
                  <a:rPr lang="en-US" altLang="zh-CN" sz="1500" b="1" dirty="0">
                    <a:latin typeface="Arial" panose="020B0604020202020204" pitchFamily="34" charset="0"/>
                  </a:rPr>
                  <a:t>(IRQ)</a:t>
                </a:r>
              </a:p>
            </p:txBody>
          </p:sp>
          <p:sp>
            <p:nvSpPr>
              <p:cNvPr id="13" name="Rectangle 23">
                <a:extLst>
                  <a:ext uri="{FF2B5EF4-FFF2-40B4-BE49-F238E27FC236}">
                    <a16:creationId xmlns:a16="http://schemas.microsoft.com/office/drawing/2014/main" id="{6DC5C571-6EC5-7A4C-9166-2014706CB8C7}"/>
                  </a:ext>
                </a:extLst>
              </p:cNvPr>
              <p:cNvSpPr>
                <a:spLocks noChangeArrowheads="1"/>
              </p:cNvSpPr>
              <p:nvPr/>
            </p:nvSpPr>
            <p:spPr bwMode="auto">
              <a:xfrm>
                <a:off x="4724400" y="6006293"/>
                <a:ext cx="2687316" cy="470917"/>
              </a:xfrm>
              <a:prstGeom prst="rect">
                <a:avLst/>
              </a:prstGeom>
              <a:solidFill>
                <a:srgbClr val="FFFF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lnSpc>
                    <a:spcPts val="1460"/>
                  </a:lnSpc>
                  <a:spcBef>
                    <a:spcPct val="0"/>
                  </a:spcBef>
                  <a:buFontTx/>
                  <a:buNone/>
                </a:pPr>
                <a:r>
                  <a:rPr lang="zh-CN" altLang="en-US" sz="1500" b="1" dirty="0">
                    <a:latin typeface="Arial" panose="020B0604020202020204" pitchFamily="34" charset="0"/>
                  </a:rPr>
                  <a:t>系统错误异常处理函数</a:t>
                </a:r>
                <a:endParaRPr lang="en-US" altLang="zh-CN" sz="1500" b="1" dirty="0">
                  <a:latin typeface="Arial" panose="020B0604020202020204" pitchFamily="34" charset="0"/>
                </a:endParaRPr>
              </a:p>
            </p:txBody>
          </p:sp>
        </p:grpSp>
        <p:sp>
          <p:nvSpPr>
            <p:cNvPr id="7" name="Text Box 25">
              <a:extLst>
                <a:ext uri="{FF2B5EF4-FFF2-40B4-BE49-F238E27FC236}">
                  <a16:creationId xmlns:a16="http://schemas.microsoft.com/office/drawing/2014/main" id="{52A1FC3E-DB8D-8D4D-99E7-F0BBEA94D9FC}"/>
                </a:ext>
              </a:extLst>
            </p:cNvPr>
            <p:cNvSpPr txBox="1">
              <a:spLocks noChangeArrowheads="1"/>
            </p:cNvSpPr>
            <p:nvPr/>
          </p:nvSpPr>
          <p:spPr bwMode="auto">
            <a:xfrm>
              <a:off x="4511444" y="4117391"/>
              <a:ext cx="410477" cy="29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lnSpc>
                  <a:spcPts val="1460"/>
                </a:lnSpc>
                <a:spcBef>
                  <a:spcPct val="0"/>
                </a:spcBef>
                <a:buFontTx/>
                <a:buNone/>
              </a:pPr>
              <a:r>
                <a:rPr lang="en-US" altLang="zh-CN" sz="1800" b="1">
                  <a:latin typeface="Arial" panose="020B0604020202020204" pitchFamily="34" charset="0"/>
                </a:rPr>
                <a:t>...</a:t>
              </a:r>
            </a:p>
          </p:txBody>
        </p:sp>
      </p:grpSp>
      <p:sp>
        <p:nvSpPr>
          <p:cNvPr id="14" name="灯片编号占位符 13">
            <a:extLst>
              <a:ext uri="{FF2B5EF4-FFF2-40B4-BE49-F238E27FC236}">
                <a16:creationId xmlns:a16="http://schemas.microsoft.com/office/drawing/2014/main" id="{D6C055EB-4DD6-F248-AE72-E7B208B67B77}"/>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Tree>
    <p:extLst>
      <p:ext uri="{BB962C8B-B14F-4D97-AF65-F5344CB8AC3E}">
        <p14:creationId xmlns:p14="http://schemas.microsoft.com/office/powerpoint/2010/main" val="27007040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00DE91C9-6F29-B74E-9609-8EE4C441EBCB}"/>
              </a:ext>
            </a:extLst>
          </p:cNvPr>
          <p:cNvSpPr>
            <a:spLocks noGrp="1" noChangeArrowheads="1"/>
          </p:cNvSpPr>
          <p:nvPr>
            <p:ph type="title"/>
          </p:nvPr>
        </p:nvSpPr>
        <p:spPr>
          <a:xfrm>
            <a:off x="457200" y="228866"/>
            <a:ext cx="8229600" cy="900442"/>
          </a:xfrm>
        </p:spPr>
        <p:txBody>
          <a:bodyPr/>
          <a:lstStyle/>
          <a:p>
            <a:r>
              <a:rPr lang="zh-CN" altLang="en-US" dirty="0"/>
              <a:t>异常处理函数</a:t>
            </a:r>
            <a:endParaRPr lang="en-US" altLang="zh-CN" dirty="0"/>
          </a:p>
        </p:txBody>
      </p:sp>
      <p:sp>
        <p:nvSpPr>
          <p:cNvPr id="89090" name="Rectangle 3">
            <a:extLst>
              <a:ext uri="{FF2B5EF4-FFF2-40B4-BE49-F238E27FC236}">
                <a16:creationId xmlns:a16="http://schemas.microsoft.com/office/drawing/2014/main" id="{0077C45F-E153-E145-B735-8B0A835BA47A}"/>
              </a:ext>
            </a:extLst>
          </p:cNvPr>
          <p:cNvSpPr>
            <a:spLocks noGrp="1" noChangeArrowheads="1"/>
          </p:cNvSpPr>
          <p:nvPr>
            <p:ph idx="1"/>
          </p:nvPr>
        </p:nvSpPr>
        <p:spPr>
          <a:xfrm>
            <a:off x="457200" y="1333501"/>
            <a:ext cx="8229600" cy="3771636"/>
          </a:xfrm>
        </p:spPr>
        <p:txBody>
          <a:bodyPr>
            <a:normAutofit/>
          </a:bodyPr>
          <a:lstStyle/>
          <a:p>
            <a:r>
              <a:rPr lang="zh-CN" altLang="en-US" dirty="0"/>
              <a:t>异常处理函数运行在内核态</a:t>
            </a:r>
            <a:endParaRPr lang="en-US" altLang="zh-CN" dirty="0"/>
          </a:p>
          <a:p>
            <a:pPr lvl="1"/>
            <a:r>
              <a:rPr lang="zh-CN" altLang="en-US" dirty="0"/>
              <a:t>可以不受限制地访问所有资源</a:t>
            </a:r>
            <a:endParaRPr lang="en-US" altLang="zh-CN" dirty="0"/>
          </a:p>
          <a:p>
            <a:endParaRPr lang="en-US" altLang="zh-CN" dirty="0"/>
          </a:p>
          <a:p>
            <a:r>
              <a:rPr lang="zh-CN" altLang="en-US" dirty="0"/>
              <a:t>处理器将异常类型存储在指定寄存器中</a:t>
            </a:r>
            <a:r>
              <a:rPr lang="en-US" altLang="zh-CN" dirty="0"/>
              <a:t> (</a:t>
            </a:r>
            <a:r>
              <a:rPr lang="en-US" altLang="zh-CN" dirty="0">
                <a:solidFill>
                  <a:schemeClr val="accent1"/>
                </a:solidFill>
              </a:rPr>
              <a:t>ESR_EL1</a:t>
            </a:r>
            <a:r>
              <a:rPr lang="en-US" altLang="zh-CN" dirty="0"/>
              <a:t>)</a:t>
            </a:r>
          </a:p>
          <a:p>
            <a:pPr lvl="1"/>
            <a:r>
              <a:rPr lang="zh-CN" altLang="en-US" dirty="0"/>
              <a:t>表明发生的是哪一种异常</a:t>
            </a:r>
            <a:endParaRPr lang="en-US" altLang="zh-CN" dirty="0"/>
          </a:p>
          <a:p>
            <a:pPr lvl="1"/>
            <a:r>
              <a:rPr lang="zh-CN" altLang="en-US" dirty="0"/>
              <a:t>异常处理函数根据异常类型执行不同逻辑</a:t>
            </a:r>
            <a:endParaRPr lang="en-US" altLang="zh-CN" dirty="0"/>
          </a:p>
          <a:p>
            <a:endParaRPr lang="en-US" altLang="zh-CN" dirty="0"/>
          </a:p>
        </p:txBody>
      </p:sp>
      <p:sp>
        <p:nvSpPr>
          <p:cNvPr id="4" name="灯片编号占位符 3">
            <a:extLst>
              <a:ext uri="{FF2B5EF4-FFF2-40B4-BE49-F238E27FC236}">
                <a16:creationId xmlns:a16="http://schemas.microsoft.com/office/drawing/2014/main" id="{56859F12-AC1A-AD45-963B-517019F14891}"/>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Tree>
    <p:extLst>
      <p:ext uri="{BB962C8B-B14F-4D97-AF65-F5344CB8AC3E}">
        <p14:creationId xmlns:p14="http://schemas.microsoft.com/office/powerpoint/2010/main" val="4106542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F4F3633A-3C00-BE4F-990E-7FC60717D3C8}"/>
              </a:ext>
            </a:extLst>
          </p:cNvPr>
          <p:cNvSpPr>
            <a:spLocks noGrp="1" noChangeArrowheads="1"/>
          </p:cNvSpPr>
          <p:nvPr>
            <p:ph type="title"/>
          </p:nvPr>
        </p:nvSpPr>
        <p:spPr>
          <a:xfrm>
            <a:off x="457200" y="193204"/>
            <a:ext cx="8229600" cy="952500"/>
          </a:xfrm>
        </p:spPr>
        <p:txBody>
          <a:bodyPr/>
          <a:lstStyle/>
          <a:p>
            <a:r>
              <a:rPr lang="zh-CN" altLang="en-US" dirty="0"/>
              <a:t>异常向量表</a:t>
            </a:r>
            <a:endParaRPr lang="en-US" altLang="zh-CN" dirty="0"/>
          </a:p>
        </p:txBody>
      </p:sp>
      <p:sp>
        <p:nvSpPr>
          <p:cNvPr id="2" name="灯片编号占位符 1">
            <a:extLst>
              <a:ext uri="{FF2B5EF4-FFF2-40B4-BE49-F238E27FC236}">
                <a16:creationId xmlns:a16="http://schemas.microsoft.com/office/drawing/2014/main" id="{1FD6D0EB-5CC6-EC47-8F00-FCF3B5BDA0E0}"/>
              </a:ext>
            </a:extLst>
          </p:cNvPr>
          <p:cNvSpPr>
            <a:spLocks noGrp="1"/>
          </p:cNvSpPr>
          <p:nvPr>
            <p:ph type="sldNum" sz="quarter" idx="4294967295"/>
          </p:nvPr>
        </p:nvSpPr>
        <p:spPr>
          <a:xfrm>
            <a:off x="7010400" y="5297488"/>
            <a:ext cx="2133600" cy="303212"/>
          </a:xfrm>
        </p:spPr>
        <p:txBody>
          <a:bodyPr/>
          <a:lstStyle/>
          <a:p>
            <a:fld id="{ADE361C3-C043-4A6E-BDCE-8DA1E7D90A3B}" type="slidenum">
              <a:rPr lang="zh-CN" altLang="en-US" smtClean="0"/>
              <a:t>52</a:t>
            </a:fld>
            <a:endParaRPr lang="zh-CN" altLang="en-US"/>
          </a:p>
        </p:txBody>
      </p:sp>
      <p:sp>
        <p:nvSpPr>
          <p:cNvPr id="87042" name="文本框 7">
            <a:extLst>
              <a:ext uri="{FF2B5EF4-FFF2-40B4-BE49-F238E27FC236}">
                <a16:creationId xmlns:a16="http://schemas.microsoft.com/office/drawing/2014/main" id="{889EEA51-6F4A-9846-9DA5-A0B1498D171D}"/>
              </a:ext>
            </a:extLst>
          </p:cNvPr>
          <p:cNvSpPr txBox="1">
            <a:spLocks noChangeArrowheads="1"/>
          </p:cNvSpPr>
          <p:nvPr/>
        </p:nvSpPr>
        <p:spPr bwMode="auto">
          <a:xfrm>
            <a:off x="2857500" y="1568979"/>
            <a:ext cx="1905000"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667" dirty="0">
                <a:latin typeface="Times New Roman" panose="02020603050405020304" pitchFamily="18" charset="0"/>
                <a:cs typeface="Times New Roman" panose="02020603050405020304" pitchFamily="18" charset="0"/>
              </a:rPr>
              <a:t>异常编号</a:t>
            </a:r>
            <a:endParaRPr lang="en-US" altLang="zh-CN" sz="1667" dirty="0">
              <a:latin typeface="Times New Roman" panose="02020603050405020304" pitchFamily="18" charset="0"/>
              <a:cs typeface="Times New Roman" panose="02020603050405020304" pitchFamily="18" charset="0"/>
            </a:endParaRPr>
          </a:p>
        </p:txBody>
      </p:sp>
      <p:sp>
        <p:nvSpPr>
          <p:cNvPr id="87043" name="文本框 10">
            <a:extLst>
              <a:ext uri="{FF2B5EF4-FFF2-40B4-BE49-F238E27FC236}">
                <a16:creationId xmlns:a16="http://schemas.microsoft.com/office/drawing/2014/main" id="{2CAD1C07-A148-C548-84CF-E980B84FA5DC}"/>
              </a:ext>
            </a:extLst>
          </p:cNvPr>
          <p:cNvSpPr txBox="1">
            <a:spLocks noChangeArrowheads="1"/>
          </p:cNvSpPr>
          <p:nvPr/>
        </p:nvSpPr>
        <p:spPr bwMode="auto">
          <a:xfrm>
            <a:off x="569933" y="2667000"/>
            <a:ext cx="2590774" cy="3488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667" dirty="0">
                <a:latin typeface="Times New Roman" panose="02020603050405020304" pitchFamily="18" charset="0"/>
                <a:cs typeface="Times New Roman" panose="02020603050405020304" pitchFamily="18" charset="0"/>
              </a:rPr>
              <a:t>异常向量表基地址寄存器</a:t>
            </a:r>
          </a:p>
        </p:txBody>
      </p:sp>
      <p:graphicFrame>
        <p:nvGraphicFramePr>
          <p:cNvPr id="12" name="表格 11">
            <a:extLst>
              <a:ext uri="{FF2B5EF4-FFF2-40B4-BE49-F238E27FC236}">
                <a16:creationId xmlns:a16="http://schemas.microsoft.com/office/drawing/2014/main" id="{774F1472-A4BC-7D47-BBFE-AFE207E5B369}"/>
              </a:ext>
            </a:extLst>
          </p:cNvPr>
          <p:cNvGraphicFramePr>
            <a:graphicFrameLocks noGrp="1"/>
          </p:cNvGraphicFramePr>
          <p:nvPr/>
        </p:nvGraphicFramePr>
        <p:xfrm>
          <a:off x="5969000" y="1841501"/>
          <a:ext cx="1905000" cy="2078568"/>
        </p:xfrm>
        <a:graphic>
          <a:graphicData uri="http://schemas.openxmlformats.org/drawingml/2006/table">
            <a:tbl>
              <a:tblPr firstRow="1" bandRow="1">
                <a:tableStyleId>{5C22544A-7EE6-4342-B048-85BDC9FD1C3A}</a:tableStyleId>
              </a:tblPr>
              <a:tblGrid>
                <a:gridCol w="368668">
                  <a:extLst>
                    <a:ext uri="{9D8B030D-6E8A-4147-A177-3AD203B41FA5}">
                      <a16:colId xmlns:a16="http://schemas.microsoft.com/office/drawing/2014/main" val="20000"/>
                    </a:ext>
                  </a:extLst>
                </a:gridCol>
                <a:gridCol w="1536332">
                  <a:extLst>
                    <a:ext uri="{9D8B030D-6E8A-4147-A177-3AD203B41FA5}">
                      <a16:colId xmlns:a16="http://schemas.microsoft.com/office/drawing/2014/main" val="20001"/>
                    </a:ext>
                  </a:extLst>
                </a:gridCol>
              </a:tblGrid>
              <a:tr h="330158">
                <a:tc gridSpan="2">
                  <a:txBody>
                    <a:bodyPr/>
                    <a:lstStyle/>
                    <a:p>
                      <a:pPr algn="ctr"/>
                      <a:r>
                        <a:rPr lang="zh-CN" altLang="en-US" sz="1700" b="1" dirty="0">
                          <a:solidFill>
                            <a:schemeClr val="tx1"/>
                          </a:solidFill>
                          <a:latin typeface="Times New Roman" panose="02020603050405020304" pitchFamily="18" charset="0"/>
                          <a:cs typeface="Times New Roman" panose="02020603050405020304" pitchFamily="18" charset="0"/>
                        </a:rPr>
                        <a:t>异常向量表</a:t>
                      </a:r>
                    </a:p>
                  </a:txBody>
                  <a:tcPr marL="76200" marR="76200" marT="38079" marB="3807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3958">
                <a:tc>
                  <a:txBody>
                    <a:bodyP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0</a:t>
                      </a:r>
                      <a:endParaRPr lang="zh-CN" altLang="en-US" sz="1200" b="1" dirty="0">
                        <a:solidFill>
                          <a:schemeClr val="tx1"/>
                        </a:solidFill>
                        <a:latin typeface="Times New Roman" panose="02020603050405020304" pitchFamily="18" charset="0"/>
                        <a:cs typeface="Times New Roman" panose="02020603050405020304" pitchFamily="18" charset="0"/>
                      </a:endParaRPr>
                    </a:p>
                  </a:txBody>
                  <a:tcPr marL="76200" marR="76200" marT="38079" marB="3807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600" dirty="0"/>
                    </a:p>
                  </a:txBody>
                  <a:tcPr marL="76200" marR="76200" marT="38079" marB="3807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3958">
                <a:tc>
                  <a:txBody>
                    <a:bodyP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1</a:t>
                      </a:r>
                      <a:endParaRPr lang="zh-CN" altLang="en-US" sz="1200" b="1" dirty="0">
                        <a:solidFill>
                          <a:schemeClr val="tx1"/>
                        </a:solidFill>
                        <a:latin typeface="Times New Roman" panose="02020603050405020304" pitchFamily="18" charset="0"/>
                        <a:cs typeface="Times New Roman" panose="02020603050405020304" pitchFamily="18" charset="0"/>
                      </a:endParaRPr>
                    </a:p>
                  </a:txBody>
                  <a:tcPr marL="76200" marR="76200" marT="38079" marB="3807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600" dirty="0"/>
                    </a:p>
                  </a:txBody>
                  <a:tcPr marL="76200" marR="76200" marT="38079" marB="3807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3958">
                <a:tc>
                  <a:txBody>
                    <a:bodyP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2</a:t>
                      </a:r>
                      <a:endParaRPr lang="zh-CN" altLang="en-US" sz="1200" b="1" dirty="0">
                        <a:solidFill>
                          <a:schemeClr val="tx1"/>
                        </a:solidFill>
                        <a:latin typeface="Times New Roman" panose="02020603050405020304" pitchFamily="18" charset="0"/>
                        <a:cs typeface="Times New Roman" panose="02020603050405020304" pitchFamily="18" charset="0"/>
                      </a:endParaRPr>
                    </a:p>
                  </a:txBody>
                  <a:tcPr marL="76200" marR="76200" marT="38079" marB="3807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600" dirty="0"/>
                    </a:p>
                  </a:txBody>
                  <a:tcPr marL="76200" marR="76200" marT="38079" marB="3807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5726">
                <a:tc>
                  <a:txBody>
                    <a:bodyPr/>
                    <a:lstStyle/>
                    <a:p>
                      <a:pPr algn="ctr"/>
                      <a:r>
                        <a:rPr lang="en-US" altLang="zh-CN" sz="1000" dirty="0">
                          <a:solidFill>
                            <a:schemeClr val="tx1"/>
                          </a:solidFill>
                          <a:latin typeface="Times New Roman" panose="02020603050405020304" pitchFamily="18" charset="0"/>
                          <a:cs typeface="Times New Roman" panose="02020603050405020304" pitchFamily="18" charset="0"/>
                        </a:rPr>
                        <a:t>.</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marL="76200" marR="76200" marT="38079" marB="3807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600" dirty="0"/>
                    </a:p>
                  </a:txBody>
                  <a:tcPr marL="76200" marR="76200" marT="38079" marB="3807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5726">
                <a:tc>
                  <a:txBody>
                    <a:bodyPr/>
                    <a:lstStyle/>
                    <a:p>
                      <a:pPr algn="ctr"/>
                      <a:r>
                        <a:rPr lang="en-US" altLang="zh-CN" sz="1000" dirty="0">
                          <a:solidFill>
                            <a:schemeClr val="tx1"/>
                          </a:solidFill>
                          <a:latin typeface="Times New Roman" panose="02020603050405020304" pitchFamily="18" charset="0"/>
                          <a:cs typeface="Times New Roman" panose="02020603050405020304" pitchFamily="18" charset="0"/>
                        </a:rPr>
                        <a:t>.</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marL="76200" marR="76200" marT="38079" marB="3807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600" dirty="0"/>
                    </a:p>
                  </a:txBody>
                  <a:tcPr marL="76200" marR="76200" marT="38079" marB="3807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5726">
                <a:tc>
                  <a:txBody>
                    <a:bodyPr/>
                    <a:lstStyle/>
                    <a:p>
                      <a:pPr algn="ctr"/>
                      <a:r>
                        <a:rPr lang="en-US" altLang="zh-CN" sz="1000" dirty="0">
                          <a:solidFill>
                            <a:schemeClr val="tx1"/>
                          </a:solidFill>
                          <a:latin typeface="Times New Roman" panose="02020603050405020304" pitchFamily="18" charset="0"/>
                          <a:cs typeface="Times New Roman" panose="02020603050405020304" pitchFamily="18" charset="0"/>
                        </a:rPr>
                        <a:t>.</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marL="76200" marR="76200" marT="38079" marB="3807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600" dirty="0"/>
                    </a:p>
                  </a:txBody>
                  <a:tcPr marL="76200" marR="76200" marT="38079" marB="3807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3958">
                <a:tc>
                  <a:txBody>
                    <a:bodyP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n-1</a:t>
                      </a:r>
                      <a:endParaRPr lang="zh-CN" altLang="en-US" sz="1200" b="1" dirty="0">
                        <a:solidFill>
                          <a:schemeClr val="tx1"/>
                        </a:solidFill>
                        <a:latin typeface="Times New Roman" panose="02020603050405020304" pitchFamily="18" charset="0"/>
                        <a:cs typeface="Times New Roman" panose="02020603050405020304" pitchFamily="18" charset="0"/>
                      </a:endParaRPr>
                    </a:p>
                  </a:txBody>
                  <a:tcPr marL="76200" marR="76200" marT="38079" marB="3807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600" dirty="0"/>
                    </a:p>
                  </a:txBody>
                  <a:tcPr marL="76200" marR="76200" marT="38079" marB="3807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87070" name="文本框 12">
            <a:extLst>
              <a:ext uri="{FF2B5EF4-FFF2-40B4-BE49-F238E27FC236}">
                <a16:creationId xmlns:a16="http://schemas.microsoft.com/office/drawing/2014/main" id="{40FB6C53-482E-0646-AB6A-584D25DA6DB4}"/>
              </a:ext>
            </a:extLst>
          </p:cNvPr>
          <p:cNvSpPr txBox="1">
            <a:spLocks noChangeArrowheads="1"/>
          </p:cNvSpPr>
          <p:nvPr/>
        </p:nvSpPr>
        <p:spPr bwMode="auto">
          <a:xfrm>
            <a:off x="3991929" y="2292598"/>
            <a:ext cx="2092239" cy="34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667" dirty="0">
                <a:latin typeface="Times New Roman" panose="02020603050405020304" pitchFamily="18" charset="0"/>
                <a:cs typeface="Times New Roman" panose="02020603050405020304" pitchFamily="18" charset="0"/>
              </a:rPr>
              <a:t>异常处理函数的地址</a:t>
            </a:r>
          </a:p>
        </p:txBody>
      </p:sp>
      <p:grpSp>
        <p:nvGrpSpPr>
          <p:cNvPr id="87071" name="组合 16">
            <a:extLst>
              <a:ext uri="{FF2B5EF4-FFF2-40B4-BE49-F238E27FC236}">
                <a16:creationId xmlns:a16="http://schemas.microsoft.com/office/drawing/2014/main" id="{A7F42479-4453-5242-AA7E-1E70BA82485A}"/>
              </a:ext>
            </a:extLst>
          </p:cNvPr>
          <p:cNvGrpSpPr>
            <a:grpSpLocks/>
          </p:cNvGrpSpPr>
          <p:nvPr/>
        </p:nvGrpSpPr>
        <p:grpSpPr bwMode="auto">
          <a:xfrm>
            <a:off x="3631407" y="2766219"/>
            <a:ext cx="381000" cy="381000"/>
            <a:chOff x="4038600" y="3442063"/>
            <a:chExt cx="457200" cy="457200"/>
          </a:xfrm>
        </p:grpSpPr>
        <p:sp>
          <p:nvSpPr>
            <p:cNvPr id="87075" name="流程图: 接点 13">
              <a:extLst>
                <a:ext uri="{FF2B5EF4-FFF2-40B4-BE49-F238E27FC236}">
                  <a16:creationId xmlns:a16="http://schemas.microsoft.com/office/drawing/2014/main" id="{2CB04404-5141-C441-A3B5-7C9A2AF10562}"/>
                </a:ext>
              </a:extLst>
            </p:cNvPr>
            <p:cNvSpPr>
              <a:spLocks noChangeArrowheads="1"/>
            </p:cNvSpPr>
            <p:nvPr/>
          </p:nvSpPr>
          <p:spPr bwMode="auto">
            <a:xfrm>
              <a:off x="4038600" y="3442063"/>
              <a:ext cx="457200" cy="457200"/>
            </a:xfrm>
            <a:prstGeom prst="flowChartConnector">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lang="zh-CN" altLang="en-US" sz="1667"/>
            </a:p>
          </p:txBody>
        </p:sp>
        <p:sp>
          <p:nvSpPr>
            <p:cNvPr id="87076" name="矩形 15">
              <a:extLst>
                <a:ext uri="{FF2B5EF4-FFF2-40B4-BE49-F238E27FC236}">
                  <a16:creationId xmlns:a16="http://schemas.microsoft.com/office/drawing/2014/main" id="{59A7082D-41AF-C343-B383-F909A6BC543A}"/>
                </a:ext>
              </a:extLst>
            </p:cNvPr>
            <p:cNvSpPr>
              <a:spLocks noChangeArrowheads="1"/>
            </p:cNvSpPr>
            <p:nvPr/>
          </p:nvSpPr>
          <p:spPr bwMode="auto">
            <a:xfrm>
              <a:off x="4043413" y="3471651"/>
              <a:ext cx="412037" cy="418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667">
                  <a:latin typeface="Times New Roman" panose="02020603050405020304" pitchFamily="18" charset="0"/>
                  <a:cs typeface="Times New Roman" panose="02020603050405020304" pitchFamily="18" charset="0"/>
                </a:rPr>
                <a:t>×</a:t>
              </a:r>
              <a:endParaRPr lang="zh-CN" altLang="en-US" sz="1667">
                <a:cs typeface="Times New Roman" panose="02020603050405020304" pitchFamily="18" charset="0"/>
              </a:endParaRPr>
            </a:p>
          </p:txBody>
        </p:sp>
      </p:grpSp>
      <p:cxnSp>
        <p:nvCxnSpPr>
          <p:cNvPr id="87072" name="直接箭头连接符 20">
            <a:extLst>
              <a:ext uri="{FF2B5EF4-FFF2-40B4-BE49-F238E27FC236}">
                <a16:creationId xmlns:a16="http://schemas.microsoft.com/office/drawing/2014/main" id="{A6160800-386A-844B-A1B4-3913D00A7143}"/>
              </a:ext>
            </a:extLst>
          </p:cNvPr>
          <p:cNvCxnSpPr>
            <a:cxnSpLocks noChangeShapeType="1"/>
            <a:stCxn id="87042" idx="2"/>
            <a:endCxn id="87075" idx="0"/>
          </p:cNvCxnSpPr>
          <p:nvPr/>
        </p:nvCxnSpPr>
        <p:spPr bwMode="auto">
          <a:xfrm>
            <a:off x="3810000" y="1917857"/>
            <a:ext cx="11907" cy="8483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7073" name="直接箭头连接符 22">
            <a:extLst>
              <a:ext uri="{FF2B5EF4-FFF2-40B4-BE49-F238E27FC236}">
                <a16:creationId xmlns:a16="http://schemas.microsoft.com/office/drawing/2014/main" id="{759187D7-7775-0D45-AF58-90D5132AD9AE}"/>
              </a:ext>
            </a:extLst>
          </p:cNvPr>
          <p:cNvCxnSpPr>
            <a:cxnSpLocks noChangeShapeType="1"/>
            <a:stCxn id="87043" idx="3"/>
            <a:endCxn id="87075" idx="2"/>
          </p:cNvCxnSpPr>
          <p:nvPr/>
        </p:nvCxnSpPr>
        <p:spPr bwMode="auto">
          <a:xfrm>
            <a:off x="3160707" y="2841439"/>
            <a:ext cx="470700" cy="11528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7074" name="肘形连接符 24">
            <a:extLst>
              <a:ext uri="{FF2B5EF4-FFF2-40B4-BE49-F238E27FC236}">
                <a16:creationId xmlns:a16="http://schemas.microsoft.com/office/drawing/2014/main" id="{5896A512-1E6D-FE4F-B97C-7C63146AE037}"/>
              </a:ext>
            </a:extLst>
          </p:cNvPr>
          <p:cNvCxnSpPr>
            <a:cxnSpLocks noChangeShapeType="1"/>
            <a:stCxn id="87076" idx="3"/>
          </p:cNvCxnSpPr>
          <p:nvPr/>
        </p:nvCxnSpPr>
        <p:spPr bwMode="auto">
          <a:xfrm flipV="1">
            <a:off x="3978782" y="2667000"/>
            <a:ext cx="2371219" cy="298315"/>
          </a:xfrm>
          <a:prstGeom prst="bentConnector3">
            <a:avLst>
              <a:gd name="adj1" fmla="val 50000"/>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 name="文本框 14">
            <a:extLst>
              <a:ext uri="{FF2B5EF4-FFF2-40B4-BE49-F238E27FC236}">
                <a16:creationId xmlns:a16="http://schemas.microsoft.com/office/drawing/2014/main" id="{926B83DA-2355-E647-AD5F-6A58A2785AF9}"/>
              </a:ext>
            </a:extLst>
          </p:cNvPr>
          <p:cNvSpPr txBox="1"/>
          <p:nvPr/>
        </p:nvSpPr>
        <p:spPr>
          <a:xfrm>
            <a:off x="569933" y="3130229"/>
            <a:ext cx="2605068" cy="369332"/>
          </a:xfrm>
          <a:prstGeom prst="rect">
            <a:avLst/>
          </a:prstGeom>
          <a:noFill/>
        </p:spPr>
        <p:txBody>
          <a:bodyPr wrap="square">
            <a:spAutoFit/>
          </a:bodyPr>
          <a:lstStyle/>
          <a:p>
            <a:pPr algn="ctr"/>
            <a:r>
              <a:rPr lang="en" altLang="zh-CN" dirty="0">
                <a:solidFill>
                  <a:schemeClr val="accent1"/>
                </a:solidFill>
                <a:effectLst/>
                <a:latin typeface="Helvetica" pitchFamily="2" charset="0"/>
              </a:rPr>
              <a:t>VBAR_EL1</a:t>
            </a:r>
          </a:p>
        </p:txBody>
      </p:sp>
      <p:sp>
        <p:nvSpPr>
          <p:cNvPr id="17" name="文本框 16">
            <a:extLst>
              <a:ext uri="{FF2B5EF4-FFF2-40B4-BE49-F238E27FC236}">
                <a16:creationId xmlns:a16="http://schemas.microsoft.com/office/drawing/2014/main" id="{F7BFFCBA-4CCB-F244-B831-8813EB3AA23D}"/>
              </a:ext>
            </a:extLst>
          </p:cNvPr>
          <p:cNvSpPr txBox="1"/>
          <p:nvPr/>
        </p:nvSpPr>
        <p:spPr>
          <a:xfrm>
            <a:off x="3131840" y="1170361"/>
            <a:ext cx="1366443" cy="369332"/>
          </a:xfrm>
          <a:prstGeom prst="rect">
            <a:avLst/>
          </a:prstGeom>
          <a:noFill/>
        </p:spPr>
        <p:txBody>
          <a:bodyPr wrap="square">
            <a:spAutoFit/>
          </a:bodyPr>
          <a:lstStyle/>
          <a:p>
            <a:r>
              <a:rPr lang="en-US" altLang="zh-CN" b="1" dirty="0">
                <a:solidFill>
                  <a:schemeClr val="accent1"/>
                </a:solidFill>
              </a:rPr>
              <a:t>ESR_EL1</a:t>
            </a:r>
            <a:endParaRPr lang="zh-CN" altLang="en-US" b="1" dirty="0"/>
          </a:p>
        </p:txBody>
      </p:sp>
    </p:spTree>
    <p:extLst>
      <p:ext uri="{BB962C8B-B14F-4D97-AF65-F5344CB8AC3E}">
        <p14:creationId xmlns:p14="http://schemas.microsoft.com/office/powerpoint/2010/main" val="3273751745"/>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DEF0A6-AD9E-DB4D-927D-0461E985CB65}"/>
              </a:ext>
            </a:extLst>
          </p:cNvPr>
          <p:cNvSpPr>
            <a:spLocks noGrp="1"/>
          </p:cNvSpPr>
          <p:nvPr>
            <p:ph type="title"/>
          </p:nvPr>
        </p:nvSpPr>
        <p:spPr/>
        <p:txBody>
          <a:bodyPr/>
          <a:lstStyle/>
          <a:p>
            <a:r>
              <a:rPr kumimoji="1" lang="zh-CN" altLang="en-US" dirty="0"/>
              <a:t>异常处理完成后</a:t>
            </a:r>
          </a:p>
        </p:txBody>
      </p:sp>
      <p:sp>
        <p:nvSpPr>
          <p:cNvPr id="3" name="内容占位符 2">
            <a:extLst>
              <a:ext uri="{FF2B5EF4-FFF2-40B4-BE49-F238E27FC236}">
                <a16:creationId xmlns:a16="http://schemas.microsoft.com/office/drawing/2014/main" id="{717E6A3C-7CD0-2442-9436-0587A75DE095}"/>
              </a:ext>
            </a:extLst>
          </p:cNvPr>
          <p:cNvSpPr>
            <a:spLocks noGrp="1"/>
          </p:cNvSpPr>
          <p:nvPr>
            <p:ph idx="1"/>
          </p:nvPr>
        </p:nvSpPr>
        <p:spPr/>
        <p:txBody>
          <a:bodyPr/>
          <a:lstStyle/>
          <a:p>
            <a:r>
              <a:rPr kumimoji="1" lang="zh-CN" altLang="en-US" dirty="0"/>
              <a:t>当异常处理函数完成异常处理后，将通过下述操作之一转移控制权：</a:t>
            </a:r>
            <a:endParaRPr kumimoji="1" lang="en-US" altLang="zh-CN" dirty="0"/>
          </a:p>
          <a:p>
            <a:pPr lvl="1"/>
            <a:r>
              <a:rPr kumimoji="1" lang="zh-CN" altLang="en-US" dirty="0"/>
              <a:t>回到发生异常时正在执行的指令</a:t>
            </a:r>
            <a:endParaRPr kumimoji="1" lang="en-US" altLang="zh-CN" dirty="0"/>
          </a:p>
          <a:p>
            <a:pPr lvl="2"/>
            <a:r>
              <a:rPr kumimoji="1" lang="zh-CN" altLang="en-US" dirty="0"/>
              <a:t>如：缺页异常</a:t>
            </a:r>
            <a:endParaRPr kumimoji="1" lang="en-US" altLang="zh-CN" dirty="0"/>
          </a:p>
          <a:p>
            <a:pPr lvl="1"/>
            <a:r>
              <a:rPr kumimoji="1" lang="zh-CN" altLang="en-US" dirty="0"/>
              <a:t>回到发生异常时的下一条指令</a:t>
            </a:r>
            <a:endParaRPr kumimoji="1" lang="en-US" altLang="zh-CN" dirty="0"/>
          </a:p>
          <a:p>
            <a:pPr lvl="2"/>
            <a:r>
              <a:rPr kumimoji="1" lang="zh-CN" altLang="en-US" dirty="0"/>
              <a:t>如：系统调用（</a:t>
            </a:r>
            <a:r>
              <a:rPr kumimoji="1" lang="en-US" altLang="zh-CN" dirty="0"/>
              <a:t>svc</a:t>
            </a:r>
            <a:r>
              <a:rPr kumimoji="1" lang="zh-CN" altLang="en-US" dirty="0"/>
              <a:t>指令）</a:t>
            </a:r>
            <a:endParaRPr kumimoji="1" lang="en-US" altLang="zh-CN" dirty="0"/>
          </a:p>
          <a:p>
            <a:pPr lvl="1"/>
            <a:r>
              <a:rPr kumimoji="1" lang="zh-CN" altLang="en-US" dirty="0"/>
              <a:t>结束当前进程</a:t>
            </a:r>
            <a:endParaRPr kumimoji="1" lang="en-US" altLang="zh-CN" dirty="0"/>
          </a:p>
          <a:p>
            <a:pPr lvl="2"/>
            <a:r>
              <a:rPr kumimoji="1" lang="zh-CN" altLang="en-US" dirty="0"/>
              <a:t>如：发生无法处理的错误</a:t>
            </a:r>
            <a:endParaRPr kumimoji="1" lang="en-US" altLang="zh-CN" dirty="0"/>
          </a:p>
        </p:txBody>
      </p:sp>
      <p:sp>
        <p:nvSpPr>
          <p:cNvPr id="5" name="灯片编号占位符 4">
            <a:extLst>
              <a:ext uri="{FF2B5EF4-FFF2-40B4-BE49-F238E27FC236}">
                <a16:creationId xmlns:a16="http://schemas.microsoft.com/office/drawing/2014/main" id="{BF4232F6-0ADC-FB47-96AF-E4EB4002EAA6}"/>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Tree>
    <p:extLst>
      <p:ext uri="{BB962C8B-B14F-4D97-AF65-F5344CB8AC3E}">
        <p14:creationId xmlns:p14="http://schemas.microsoft.com/office/powerpoint/2010/main" val="553905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F22812-95FB-F749-A3E1-733E28F93448}"/>
              </a:ext>
            </a:extLst>
          </p:cNvPr>
          <p:cNvSpPr>
            <a:spLocks noGrp="1"/>
          </p:cNvSpPr>
          <p:nvPr>
            <p:ph type="title"/>
          </p:nvPr>
        </p:nvSpPr>
        <p:spPr/>
        <p:txBody>
          <a:bodyPr/>
          <a:lstStyle/>
          <a:p>
            <a:r>
              <a:rPr kumimoji="1" lang="zh-CN" altLang="en-US" dirty="0"/>
              <a:t>操作系统的执行流可对应地分为两部分</a:t>
            </a:r>
          </a:p>
        </p:txBody>
      </p:sp>
      <p:sp>
        <p:nvSpPr>
          <p:cNvPr id="3" name="内容占位符 2">
            <a:extLst>
              <a:ext uri="{FF2B5EF4-FFF2-40B4-BE49-F238E27FC236}">
                <a16:creationId xmlns:a16="http://schemas.microsoft.com/office/drawing/2014/main" id="{4F2459F5-142E-154D-ABC3-4CF34C3AE061}"/>
              </a:ext>
            </a:extLst>
          </p:cNvPr>
          <p:cNvSpPr>
            <a:spLocks noGrp="1"/>
          </p:cNvSpPr>
          <p:nvPr>
            <p:ph idx="1"/>
          </p:nvPr>
        </p:nvSpPr>
        <p:spPr/>
        <p:txBody>
          <a:bodyPr>
            <a:normAutofit/>
          </a:bodyPr>
          <a:lstStyle/>
          <a:p>
            <a:r>
              <a:rPr kumimoji="1" lang="zh-CN" altLang="en-US" sz="2400" dirty="0"/>
              <a:t>一、实现对异常向量表的设置</a:t>
            </a:r>
            <a:endParaRPr kumimoji="1" lang="en-US" altLang="zh-CN" sz="2400" dirty="0"/>
          </a:p>
          <a:p>
            <a:pPr lvl="1"/>
            <a:r>
              <a:rPr kumimoji="1" lang="en-US" altLang="zh-CN" sz="2000" dirty="0"/>
              <a:t>CPU</a:t>
            </a:r>
            <a:r>
              <a:rPr kumimoji="1" lang="zh-CN" altLang="en-US" sz="2000" dirty="0"/>
              <a:t>上电后立即执行，是系统初始化的主要工作之一</a:t>
            </a:r>
            <a:endParaRPr kumimoji="1" lang="en-US" altLang="zh-CN" sz="2000" dirty="0"/>
          </a:p>
          <a:p>
            <a:pPr lvl="1"/>
            <a:r>
              <a:rPr kumimoji="1" lang="zh-CN" altLang="en-US" sz="2000" dirty="0"/>
              <a:t>在开启中断和启动第一个应用之前</a:t>
            </a:r>
            <a:endParaRPr kumimoji="1" lang="en-US" altLang="zh-CN" sz="2000" dirty="0"/>
          </a:p>
          <a:p>
            <a:r>
              <a:rPr kumimoji="1" lang="zh-CN" altLang="en-US" sz="2400" dirty="0"/>
              <a:t>二、实现对不同异常的处理函数</a:t>
            </a:r>
            <a:endParaRPr kumimoji="1" lang="en-US" altLang="zh-CN" sz="2400" dirty="0"/>
          </a:p>
          <a:p>
            <a:pPr lvl="1"/>
            <a:r>
              <a:rPr kumimoji="1" lang="zh-CN" altLang="en-US" sz="2000" dirty="0"/>
              <a:t>处理应用程序出错的情况：如缺页异常</a:t>
            </a:r>
            <a:endParaRPr kumimoji="1" lang="en-US" altLang="zh-CN" sz="2000" dirty="0"/>
          </a:p>
          <a:p>
            <a:pPr lvl="1"/>
            <a:r>
              <a:rPr kumimoji="1" lang="zh-CN" altLang="en-US" sz="2000" dirty="0"/>
              <a:t>一类特殊的同步异常：系统调用，由应用主动触发</a:t>
            </a:r>
            <a:endParaRPr kumimoji="1" lang="en-US" altLang="zh-CN" sz="2000" dirty="0"/>
          </a:p>
          <a:p>
            <a:pPr lvl="1"/>
            <a:r>
              <a:rPr kumimoji="1" lang="zh-CN" altLang="en-US" sz="2000" dirty="0"/>
              <a:t>处理来自外部设备的中断：如收取网络包、获取键盘输入等</a:t>
            </a:r>
          </a:p>
        </p:txBody>
      </p:sp>
      <p:sp>
        <p:nvSpPr>
          <p:cNvPr id="4" name="灯片编号占位符 3">
            <a:extLst>
              <a:ext uri="{FF2B5EF4-FFF2-40B4-BE49-F238E27FC236}">
                <a16:creationId xmlns:a16="http://schemas.microsoft.com/office/drawing/2014/main" id="{F8CAA86B-F3A4-F745-A4FC-A9FA7A65134C}"/>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Tree>
    <p:extLst>
      <p:ext uri="{BB962C8B-B14F-4D97-AF65-F5344CB8AC3E}">
        <p14:creationId xmlns:p14="http://schemas.microsoft.com/office/powerpoint/2010/main" val="3797266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9AF81BF-789B-3B4E-8A65-E26308EA0B5A}"/>
              </a:ext>
            </a:extLst>
          </p:cNvPr>
          <p:cNvSpPr>
            <a:spLocks noGrp="1"/>
          </p:cNvSpPr>
          <p:nvPr>
            <p:ph type="title"/>
          </p:nvPr>
        </p:nvSpPr>
        <p:spPr/>
        <p:txBody>
          <a:bodyPr/>
          <a:lstStyle/>
          <a:p>
            <a:r>
              <a:rPr lang="zh-CN" altLang="en-US" dirty="0"/>
              <a:t>内核态与用户态的切换</a:t>
            </a:r>
          </a:p>
        </p:txBody>
      </p:sp>
      <p:sp>
        <p:nvSpPr>
          <p:cNvPr id="6" name="文本占位符 5">
            <a:extLst>
              <a:ext uri="{FF2B5EF4-FFF2-40B4-BE49-F238E27FC236}">
                <a16:creationId xmlns:a16="http://schemas.microsoft.com/office/drawing/2014/main" id="{C3FD2469-E0B1-FE4B-9F15-731DA3CB94D7}"/>
              </a:ext>
            </a:extLst>
          </p:cNvPr>
          <p:cNvSpPr>
            <a:spLocks noGrp="1"/>
          </p:cNvSpPr>
          <p:nvPr>
            <p:ph type="body" idx="1"/>
          </p:nvPr>
        </p:nvSpPr>
        <p:spPr/>
        <p:txBody>
          <a:bodyPr/>
          <a:lstStyle/>
          <a:p>
            <a:endParaRPr lang="zh-CN" altLang="en-US"/>
          </a:p>
        </p:txBody>
      </p:sp>
      <p:sp>
        <p:nvSpPr>
          <p:cNvPr id="7" name="灯片编号占位符 6">
            <a:extLst>
              <a:ext uri="{FF2B5EF4-FFF2-40B4-BE49-F238E27FC236}">
                <a16:creationId xmlns:a16="http://schemas.microsoft.com/office/drawing/2014/main" id="{3CF6C5AF-D2BA-0F4F-81C7-AAA045BB4DE0}"/>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Tree>
    <p:extLst>
      <p:ext uri="{BB962C8B-B14F-4D97-AF65-F5344CB8AC3E}">
        <p14:creationId xmlns:p14="http://schemas.microsoft.com/office/powerpoint/2010/main" val="26137478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0D906-CE26-E846-86BD-6E973BADD453}"/>
              </a:ext>
            </a:extLst>
          </p:cNvPr>
          <p:cNvSpPr>
            <a:spLocks noGrp="1"/>
          </p:cNvSpPr>
          <p:nvPr>
            <p:ph type="title"/>
          </p:nvPr>
        </p:nvSpPr>
        <p:spPr/>
        <p:txBody>
          <a:bodyPr>
            <a:normAutofit/>
          </a:bodyPr>
          <a:lstStyle/>
          <a:p>
            <a:r>
              <a:rPr kumimoji="1" lang="zh-CN" altLang="en-US" sz="3200" dirty="0"/>
              <a:t>用户态</a:t>
            </a:r>
            <a:r>
              <a:rPr kumimoji="1" lang="en-US" altLang="zh-CN" sz="3200" dirty="0"/>
              <a:t>/</a:t>
            </a:r>
            <a:r>
              <a:rPr kumimoji="1" lang="zh-CN" altLang="en-US" sz="3200" dirty="0"/>
              <a:t>内核态切换时的处理器状态变化</a:t>
            </a:r>
          </a:p>
        </p:txBody>
      </p:sp>
      <p:pic>
        <p:nvPicPr>
          <p:cNvPr id="3" name="图片 2">
            <a:extLst>
              <a:ext uri="{FF2B5EF4-FFF2-40B4-BE49-F238E27FC236}">
                <a16:creationId xmlns:a16="http://schemas.microsoft.com/office/drawing/2014/main" id="{64BCA101-6387-C441-A0C6-68823E461DE1}"/>
              </a:ext>
            </a:extLst>
          </p:cNvPr>
          <p:cNvPicPr>
            <a:picLocks noChangeAspect="1"/>
          </p:cNvPicPr>
          <p:nvPr/>
        </p:nvPicPr>
        <p:blipFill>
          <a:blip r:embed="rId2"/>
          <a:stretch>
            <a:fillRect/>
          </a:stretch>
        </p:blipFill>
        <p:spPr>
          <a:xfrm>
            <a:off x="1403648" y="1092540"/>
            <a:ext cx="5982645" cy="4429256"/>
          </a:xfrm>
          <a:prstGeom prst="rect">
            <a:avLst/>
          </a:prstGeom>
        </p:spPr>
      </p:pic>
    </p:spTree>
    <p:extLst>
      <p:ext uri="{BB962C8B-B14F-4D97-AF65-F5344CB8AC3E}">
        <p14:creationId xmlns:p14="http://schemas.microsoft.com/office/powerpoint/2010/main" val="36855094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3AEFD0-EA9C-F243-8B1F-433114FCA781}"/>
              </a:ext>
            </a:extLst>
          </p:cNvPr>
          <p:cNvSpPr>
            <a:spLocks noGrp="1"/>
          </p:cNvSpPr>
          <p:nvPr>
            <p:ph type="title"/>
          </p:nvPr>
        </p:nvSpPr>
        <p:spPr/>
        <p:txBody>
          <a:bodyPr/>
          <a:lstStyle/>
          <a:p>
            <a:r>
              <a:rPr kumimoji="1" lang="zh-CN" altLang="en-US" dirty="0"/>
              <a:t>处理器在切换过程中的任务</a:t>
            </a:r>
          </a:p>
        </p:txBody>
      </p:sp>
      <p:sp>
        <p:nvSpPr>
          <p:cNvPr id="3" name="内容占位符 2">
            <a:extLst>
              <a:ext uri="{FF2B5EF4-FFF2-40B4-BE49-F238E27FC236}">
                <a16:creationId xmlns:a16="http://schemas.microsoft.com/office/drawing/2014/main" id="{D6ABBA26-9EB4-F848-A7BF-DE7070F78A87}"/>
              </a:ext>
            </a:extLst>
          </p:cNvPr>
          <p:cNvSpPr txBox="1">
            <a:spLocks/>
          </p:cNvSpPr>
          <p:nvPr/>
        </p:nvSpPr>
        <p:spPr>
          <a:xfrm>
            <a:off x="457200" y="1333500"/>
            <a:ext cx="8229600" cy="4044279"/>
          </a:xfrm>
          <a:prstGeom prst="rect">
            <a:avLst/>
          </a:prstGeom>
        </p:spPr>
        <p:txBody>
          <a:bodyPr>
            <a:normAutofit fontScale="85000" lnSpcReduction="10000"/>
          </a:bodyPr>
          <a:lst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a:pPr>
            <a:r>
              <a:rPr lang="zh-CN" altLang="en-US" sz="2000" dirty="0"/>
              <a:t>将发生异常事件的指令地址保存在</a:t>
            </a:r>
            <a:r>
              <a:rPr lang="en" altLang="zh-CN" sz="2000" dirty="0"/>
              <a:t>ELR_EL1</a:t>
            </a:r>
            <a:r>
              <a:rPr lang="zh-CN" altLang="en-US" sz="2000" dirty="0"/>
              <a:t>中</a:t>
            </a:r>
            <a:endParaRPr lang="en-US" altLang="zh-CN" sz="2000" dirty="0"/>
          </a:p>
          <a:p>
            <a:pPr marL="457200" indent="-457200">
              <a:buFont typeface="+mj-lt"/>
              <a:buAutoNum type="arabicPeriod"/>
            </a:pPr>
            <a:r>
              <a:rPr lang="zh-CN" altLang="en-US" sz="2000" dirty="0"/>
              <a:t>将异常事件的原因保存在</a:t>
            </a:r>
            <a:r>
              <a:rPr lang="en" altLang="zh-CN" sz="2000" dirty="0"/>
              <a:t>ESR_EL1</a:t>
            </a:r>
            <a:endParaRPr lang="en-US" altLang="zh-CN" sz="2000" dirty="0"/>
          </a:p>
          <a:p>
            <a:pPr lvl="1"/>
            <a:r>
              <a:rPr lang="zh-CN" altLang="en-US" sz="1800" dirty="0"/>
              <a:t>例如，是执行</a:t>
            </a:r>
            <a:r>
              <a:rPr lang="en" altLang="zh-CN" sz="1800" dirty="0"/>
              <a:t>svc</a:t>
            </a:r>
            <a:r>
              <a:rPr lang="zh-CN" altLang="en-US" sz="1800" dirty="0"/>
              <a:t>指令导致的，还是访存缺页导致的</a:t>
            </a:r>
            <a:endParaRPr lang="en" altLang="zh-CN" sz="1800" dirty="0"/>
          </a:p>
          <a:p>
            <a:pPr marL="457200" indent="-457200">
              <a:buFont typeface="+mj-lt"/>
              <a:buAutoNum type="arabicPeriod"/>
            </a:pPr>
            <a:r>
              <a:rPr lang="zh-CN" altLang="en-US" sz="2000" dirty="0"/>
              <a:t>将处理器的当前状态（即</a:t>
            </a:r>
            <a:r>
              <a:rPr lang="en" altLang="zh-CN" sz="2000" dirty="0"/>
              <a:t>PSTATE</a:t>
            </a:r>
            <a:r>
              <a:rPr lang="zh-CN" altLang="en-US" sz="2000" dirty="0"/>
              <a:t>）保存在</a:t>
            </a:r>
            <a:r>
              <a:rPr lang="en" altLang="zh-CN" sz="2000" dirty="0"/>
              <a:t>SPSR_EL1</a:t>
            </a:r>
          </a:p>
          <a:p>
            <a:pPr marL="457200" indent="-457200">
              <a:buFont typeface="+mj-lt"/>
              <a:buAutoNum type="arabicPeriod"/>
            </a:pPr>
            <a:r>
              <a:rPr lang="zh-CN" altLang="en-US" sz="2000" dirty="0"/>
              <a:t>将引发缺页异常的内存地址保存在</a:t>
            </a:r>
            <a:r>
              <a:rPr lang="en" altLang="zh-CN" sz="2000" dirty="0"/>
              <a:t>FAR_EL1</a:t>
            </a:r>
          </a:p>
          <a:p>
            <a:pPr marL="457200" indent="-457200">
              <a:buFont typeface="+mj-lt"/>
              <a:buAutoNum type="arabicPeriod"/>
            </a:pPr>
            <a:r>
              <a:rPr lang="zh-CN" altLang="en-US" sz="2000" dirty="0"/>
              <a:t>栈寄存器不再使用</a:t>
            </a:r>
            <a:r>
              <a:rPr lang="en" altLang="zh-CN" sz="2000" dirty="0"/>
              <a:t>SP_EL0</a:t>
            </a:r>
            <a:r>
              <a:rPr lang="zh-CN" altLang="en" sz="2000" dirty="0"/>
              <a:t>（</a:t>
            </a:r>
            <a:r>
              <a:rPr lang="zh-CN" altLang="en-US" sz="2000" dirty="0"/>
              <a:t>用户态栈寄存器），开始使用</a:t>
            </a:r>
            <a:r>
              <a:rPr lang="en" altLang="zh-CN" sz="2000" dirty="0"/>
              <a:t>SP_EL1</a:t>
            </a:r>
          </a:p>
          <a:p>
            <a:pPr lvl="1"/>
            <a:r>
              <a:rPr lang="zh-CN" altLang="en-US" sz="1800" dirty="0"/>
              <a:t>内核态栈寄存器，需要由操作系统提前设置</a:t>
            </a:r>
            <a:endParaRPr lang="en-US" altLang="zh-CN" sz="1800" dirty="0"/>
          </a:p>
          <a:p>
            <a:pPr marL="457200" indent="-457200">
              <a:buFont typeface="+mj-lt"/>
              <a:buAutoNum type="arabicPeriod"/>
            </a:pPr>
            <a:r>
              <a:rPr lang="zh-CN" altLang="en-US" sz="2000" dirty="0"/>
              <a:t>修改</a:t>
            </a:r>
            <a:r>
              <a:rPr lang="en" altLang="zh-CN" sz="2000" dirty="0"/>
              <a:t>PSTATE</a:t>
            </a:r>
            <a:r>
              <a:rPr lang="zh-CN" altLang="en-US" sz="2000" dirty="0"/>
              <a:t>寄存器中的特权级标志位，设置为内核态</a:t>
            </a:r>
            <a:endParaRPr lang="en-US" altLang="zh-CN" sz="2000" dirty="0"/>
          </a:p>
          <a:p>
            <a:pPr marL="457200" indent="-457200">
              <a:buFont typeface="+mj-lt"/>
              <a:buAutoNum type="arabicPeriod"/>
            </a:pPr>
            <a:r>
              <a:rPr lang="zh-CN" altLang="en-US" sz="2000" dirty="0"/>
              <a:t>找到异常处理函数的入口地址，并将该地址写入</a:t>
            </a:r>
            <a:r>
              <a:rPr lang="en" altLang="zh-CN" sz="2000" dirty="0"/>
              <a:t>PC</a:t>
            </a:r>
            <a:r>
              <a:rPr lang="zh-CN" altLang="en" sz="2000" dirty="0"/>
              <a:t>，</a:t>
            </a:r>
            <a:r>
              <a:rPr lang="zh-CN" altLang="en-US" sz="2000" dirty="0"/>
              <a:t>开始运行操作系统</a:t>
            </a:r>
            <a:endParaRPr lang="en-US" altLang="zh-CN" sz="2000" dirty="0"/>
          </a:p>
          <a:p>
            <a:pPr lvl="1"/>
            <a:r>
              <a:rPr lang="zh-CN" altLang="en-US" sz="1800" dirty="0"/>
              <a:t>根据</a:t>
            </a:r>
            <a:r>
              <a:rPr lang="en" altLang="zh-CN" sz="1800" dirty="0"/>
              <a:t>VBAR_EL1</a:t>
            </a:r>
            <a:r>
              <a:rPr lang="zh-CN" altLang="en-US" sz="1800" dirty="0"/>
              <a:t>寄存器中保存的异常向量表基地址，以及发生异常事件的类型确定</a:t>
            </a:r>
          </a:p>
        </p:txBody>
      </p:sp>
    </p:spTree>
    <p:extLst>
      <p:ext uri="{BB962C8B-B14F-4D97-AF65-F5344CB8AC3E}">
        <p14:creationId xmlns:p14="http://schemas.microsoft.com/office/powerpoint/2010/main" val="734113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2A85F-6EE2-B743-A20D-96CF8F2D4D1D}"/>
              </a:ext>
            </a:extLst>
          </p:cNvPr>
          <p:cNvSpPr>
            <a:spLocks noGrp="1"/>
          </p:cNvSpPr>
          <p:nvPr>
            <p:ph type="title"/>
          </p:nvPr>
        </p:nvSpPr>
        <p:spPr/>
        <p:txBody>
          <a:bodyPr/>
          <a:lstStyle/>
          <a:p>
            <a:r>
              <a:rPr kumimoji="1" lang="zh-CN" altLang="en-US" dirty="0"/>
              <a:t>思考题</a:t>
            </a:r>
          </a:p>
        </p:txBody>
      </p:sp>
      <p:sp>
        <p:nvSpPr>
          <p:cNvPr id="3" name="内容占位符 2">
            <a:extLst>
              <a:ext uri="{FF2B5EF4-FFF2-40B4-BE49-F238E27FC236}">
                <a16:creationId xmlns:a16="http://schemas.microsoft.com/office/drawing/2014/main" id="{B65EF2D9-3283-8B47-A5AC-BC8B73F5D829}"/>
              </a:ext>
            </a:extLst>
          </p:cNvPr>
          <p:cNvSpPr>
            <a:spLocks noGrp="1"/>
          </p:cNvSpPr>
          <p:nvPr>
            <p:ph idx="1"/>
          </p:nvPr>
        </p:nvSpPr>
        <p:spPr/>
        <p:txBody>
          <a:bodyPr>
            <a:normAutofit/>
          </a:bodyPr>
          <a:lstStyle/>
          <a:p>
            <a:r>
              <a:rPr lang="zh-CN" altLang="en-US" sz="2400" dirty="0"/>
              <a:t>为什么操作系统不能直接使用应用程序在用户态的栈呢？</a:t>
            </a:r>
          </a:p>
        </p:txBody>
      </p:sp>
      <p:sp>
        <p:nvSpPr>
          <p:cNvPr id="17" name="灯片编号占位符 16">
            <a:extLst>
              <a:ext uri="{FF2B5EF4-FFF2-40B4-BE49-F238E27FC236}">
                <a16:creationId xmlns:a16="http://schemas.microsoft.com/office/drawing/2014/main" id="{36789FC0-4105-BA45-BF1C-0750E85CB104}"/>
              </a:ext>
            </a:extLst>
          </p:cNvPr>
          <p:cNvSpPr>
            <a:spLocks noGrp="1"/>
          </p:cNvSpPr>
          <p:nvPr>
            <p:ph type="sldNum" sz="quarter" idx="12"/>
          </p:nvPr>
        </p:nvSpPr>
        <p:spPr/>
        <p:txBody>
          <a:bodyPr/>
          <a:lstStyle/>
          <a:p>
            <a:fld id="{ADE361C3-C043-4A6E-BDCE-8DA1E7D90A3B}" type="slidenum">
              <a:rPr lang="zh-CN" altLang="en-US" smtClean="0"/>
              <a:t>58</a:t>
            </a:fld>
            <a:endParaRPr lang="zh-CN" altLang="en-US"/>
          </a:p>
        </p:txBody>
      </p:sp>
    </p:spTree>
    <p:extLst>
      <p:ext uri="{BB962C8B-B14F-4D97-AF65-F5344CB8AC3E}">
        <p14:creationId xmlns:p14="http://schemas.microsoft.com/office/powerpoint/2010/main" val="13572785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2A85F-6EE2-B743-A20D-96CF8F2D4D1D}"/>
              </a:ext>
            </a:extLst>
          </p:cNvPr>
          <p:cNvSpPr>
            <a:spLocks noGrp="1"/>
          </p:cNvSpPr>
          <p:nvPr>
            <p:ph type="title"/>
          </p:nvPr>
        </p:nvSpPr>
        <p:spPr/>
        <p:txBody>
          <a:bodyPr/>
          <a:lstStyle/>
          <a:p>
            <a:r>
              <a:rPr lang="zh-CN" altLang="en-US" sz="3600" dirty="0"/>
              <a:t>处理器的这些操作都是必要的</a:t>
            </a:r>
            <a:endParaRPr lang="en-US" altLang="zh-CN" sz="3600" dirty="0"/>
          </a:p>
        </p:txBody>
      </p:sp>
      <p:sp>
        <p:nvSpPr>
          <p:cNvPr id="3" name="内容占位符 2">
            <a:extLst>
              <a:ext uri="{FF2B5EF4-FFF2-40B4-BE49-F238E27FC236}">
                <a16:creationId xmlns:a16="http://schemas.microsoft.com/office/drawing/2014/main" id="{B65EF2D9-3283-8B47-A5AC-BC8B73F5D829}"/>
              </a:ext>
            </a:extLst>
          </p:cNvPr>
          <p:cNvSpPr>
            <a:spLocks noGrp="1"/>
          </p:cNvSpPr>
          <p:nvPr>
            <p:ph idx="1"/>
          </p:nvPr>
        </p:nvSpPr>
        <p:spPr/>
        <p:txBody>
          <a:bodyPr>
            <a:normAutofit/>
          </a:bodyPr>
          <a:lstStyle/>
          <a:p>
            <a:r>
              <a:rPr lang="en" altLang="zh-CN" sz="2400" dirty="0"/>
              <a:t>PC</a:t>
            </a:r>
            <a:r>
              <a:rPr lang="zh-CN" altLang="en-US" sz="2400" dirty="0"/>
              <a:t>寄存器的值必须由处理器保存</a:t>
            </a:r>
            <a:endParaRPr lang="en-US" altLang="zh-CN" sz="2400" dirty="0"/>
          </a:p>
          <a:p>
            <a:pPr lvl="1"/>
            <a:r>
              <a:rPr lang="zh-CN" altLang="en-US" sz="2200" dirty="0"/>
              <a:t>否则当操作系统开始执行时，</a:t>
            </a:r>
            <a:r>
              <a:rPr lang="en" altLang="zh-CN" sz="2200" dirty="0"/>
              <a:t>PC</a:t>
            </a:r>
            <a:r>
              <a:rPr lang="zh-CN" altLang="en-US" sz="2200" dirty="0"/>
              <a:t>将被覆盖</a:t>
            </a:r>
            <a:endParaRPr lang="en-US" altLang="zh-CN" sz="2200" dirty="0"/>
          </a:p>
          <a:p>
            <a:r>
              <a:rPr lang="zh-CN" altLang="en-US" sz="2400" dirty="0"/>
              <a:t>栈的切换也必须由硬件完成</a:t>
            </a:r>
            <a:endParaRPr lang="en-US" altLang="zh-CN" sz="2400" dirty="0"/>
          </a:p>
          <a:p>
            <a:pPr lvl="1"/>
            <a:r>
              <a:rPr lang="zh-CN" altLang="en-US" sz="2200" dirty="0"/>
              <a:t>否则操作系统有可能使用用户态的栈，导致安全问题</a:t>
            </a:r>
          </a:p>
        </p:txBody>
      </p:sp>
      <p:sp>
        <p:nvSpPr>
          <p:cNvPr id="17" name="灯片编号占位符 16">
            <a:extLst>
              <a:ext uri="{FF2B5EF4-FFF2-40B4-BE49-F238E27FC236}">
                <a16:creationId xmlns:a16="http://schemas.microsoft.com/office/drawing/2014/main" id="{36789FC0-4105-BA45-BF1C-0750E85CB104}"/>
              </a:ext>
            </a:extLst>
          </p:cNvPr>
          <p:cNvSpPr>
            <a:spLocks noGrp="1"/>
          </p:cNvSpPr>
          <p:nvPr>
            <p:ph type="sldNum" sz="quarter" idx="12"/>
          </p:nvPr>
        </p:nvSpPr>
        <p:spPr/>
        <p:txBody>
          <a:bodyPr/>
          <a:lstStyle/>
          <a:p>
            <a:fld id="{ADE361C3-C043-4A6E-BDCE-8DA1E7D90A3B}" type="slidenum">
              <a:rPr lang="zh-CN" altLang="en-US" smtClean="0"/>
              <a:t>59</a:t>
            </a:fld>
            <a:endParaRPr lang="zh-CN" altLang="en-US"/>
          </a:p>
        </p:txBody>
      </p:sp>
    </p:spTree>
    <p:extLst>
      <p:ext uri="{BB962C8B-B14F-4D97-AF65-F5344CB8AC3E}">
        <p14:creationId xmlns:p14="http://schemas.microsoft.com/office/powerpoint/2010/main" val="39991982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42809B-CCBA-D34F-8839-FCA141BA87AA}"/>
              </a:ext>
            </a:extLst>
          </p:cNvPr>
          <p:cNvSpPr>
            <a:spLocks noGrp="1"/>
          </p:cNvSpPr>
          <p:nvPr>
            <p:ph type="title"/>
          </p:nvPr>
        </p:nvSpPr>
        <p:spPr/>
        <p:txBody>
          <a:bodyPr/>
          <a:lstStyle/>
          <a:p>
            <a:r>
              <a:rPr kumimoji="1" lang="en-US" altLang="zh-CN" dirty="0" err="1"/>
              <a:t>eret</a:t>
            </a:r>
            <a:r>
              <a:rPr kumimoji="1" lang="zh-CN" altLang="en-US" dirty="0"/>
              <a:t>：从内核态返回到用户态</a:t>
            </a:r>
          </a:p>
        </p:txBody>
      </p:sp>
      <p:sp>
        <p:nvSpPr>
          <p:cNvPr id="3" name="内容占位符 2">
            <a:extLst>
              <a:ext uri="{FF2B5EF4-FFF2-40B4-BE49-F238E27FC236}">
                <a16:creationId xmlns:a16="http://schemas.microsoft.com/office/drawing/2014/main" id="{79E165A4-911C-2749-89B1-35BBB2342130}"/>
              </a:ext>
            </a:extLst>
          </p:cNvPr>
          <p:cNvSpPr>
            <a:spLocks noGrp="1"/>
          </p:cNvSpPr>
          <p:nvPr>
            <p:ph idx="1"/>
          </p:nvPr>
        </p:nvSpPr>
        <p:spPr/>
        <p:txBody>
          <a:bodyPr/>
          <a:lstStyle/>
          <a:p>
            <a:pPr marL="514350" indent="-514350">
              <a:buFont typeface="+mj-lt"/>
              <a:buAutoNum type="arabicPeriod"/>
            </a:pPr>
            <a:r>
              <a:rPr kumimoji="1" lang="zh-CN" altLang="en-US" dirty="0"/>
              <a:t>将</a:t>
            </a:r>
            <a:r>
              <a:rPr kumimoji="1" lang="en" altLang="zh-CN" dirty="0"/>
              <a:t>SPSR_EL1</a:t>
            </a:r>
            <a:r>
              <a:rPr kumimoji="1" lang="zh-CN" altLang="en-US" dirty="0"/>
              <a:t>中的处理器状态写入</a:t>
            </a:r>
            <a:r>
              <a:rPr kumimoji="1" lang="en" altLang="zh-CN" dirty="0"/>
              <a:t>PSTATE</a:t>
            </a:r>
            <a:r>
              <a:rPr kumimoji="1" lang="zh-CN" altLang="en-US" dirty="0"/>
              <a:t>中</a:t>
            </a:r>
            <a:endParaRPr kumimoji="1" lang="en-US" altLang="zh-CN" dirty="0"/>
          </a:p>
          <a:p>
            <a:pPr marL="914400" lvl="1" indent="-514350"/>
            <a:r>
              <a:rPr kumimoji="1" lang="zh-CN" altLang="en-US" dirty="0"/>
              <a:t>处理器状态也从 </a:t>
            </a:r>
            <a:r>
              <a:rPr kumimoji="1" lang="en" altLang="zh-CN" dirty="0"/>
              <a:t>EL1 </a:t>
            </a:r>
            <a:r>
              <a:rPr kumimoji="1" lang="zh-CN" altLang="en-US" dirty="0"/>
              <a:t>切换到 </a:t>
            </a:r>
            <a:r>
              <a:rPr kumimoji="1" lang="en" altLang="zh-CN" dirty="0"/>
              <a:t>EL0</a:t>
            </a:r>
            <a:endParaRPr kumimoji="1" lang="en-US" altLang="zh-CN" dirty="0"/>
          </a:p>
          <a:p>
            <a:pPr marL="514350" indent="-514350">
              <a:buFont typeface="+mj-lt"/>
              <a:buAutoNum type="arabicPeriod"/>
            </a:pPr>
            <a:r>
              <a:rPr lang="zh-CN" altLang="en-US" dirty="0">
                <a:effectLst/>
                <a:latin typeface="Helvetica" pitchFamily="2" charset="0"/>
              </a:rPr>
              <a:t>栈寄存器不再使用</a:t>
            </a:r>
            <a:r>
              <a:rPr lang="en" altLang="zh-CN" dirty="0">
                <a:effectLst/>
                <a:latin typeface="Helvetica" pitchFamily="2" charset="0"/>
              </a:rPr>
              <a:t>SP_EL1</a:t>
            </a:r>
            <a:r>
              <a:rPr lang="zh-CN" altLang="en" dirty="0">
                <a:effectLst/>
                <a:latin typeface="Helvetica" pitchFamily="2" charset="0"/>
              </a:rPr>
              <a:t>，</a:t>
            </a:r>
            <a:r>
              <a:rPr lang="zh-CN" altLang="en-US" dirty="0">
                <a:effectLst/>
                <a:latin typeface="Helvetica" pitchFamily="2" charset="0"/>
              </a:rPr>
              <a:t>开始使用</a:t>
            </a:r>
            <a:r>
              <a:rPr lang="en" altLang="zh-CN" dirty="0">
                <a:effectLst/>
                <a:latin typeface="Helvetica" pitchFamily="2" charset="0"/>
              </a:rPr>
              <a:t>SP_EL0</a:t>
            </a:r>
            <a:endParaRPr lang="en-US" altLang="zh-CN" dirty="0">
              <a:latin typeface="Helvetica" pitchFamily="2" charset="0"/>
            </a:endParaRPr>
          </a:p>
          <a:p>
            <a:pPr marL="914400" lvl="1" indent="-514350"/>
            <a:r>
              <a:rPr lang="zh-CN" altLang="en-US" dirty="0">
                <a:effectLst/>
                <a:latin typeface="Helvetica" pitchFamily="2" charset="0"/>
              </a:rPr>
              <a:t>注意：</a:t>
            </a:r>
            <a:r>
              <a:rPr lang="en" altLang="zh-CN" dirty="0">
                <a:effectLst/>
                <a:latin typeface="Helvetica" pitchFamily="2" charset="0"/>
              </a:rPr>
              <a:t>SP_EL1</a:t>
            </a:r>
            <a:r>
              <a:rPr lang="zh-CN" altLang="en-US" dirty="0">
                <a:effectLst/>
                <a:latin typeface="Helvetica" pitchFamily="2" charset="0"/>
              </a:rPr>
              <a:t>的值并没有改变</a:t>
            </a:r>
            <a:endParaRPr lang="en-US" altLang="zh-CN" dirty="0">
              <a:effectLst/>
              <a:latin typeface="Helvetica" pitchFamily="2" charset="0"/>
            </a:endParaRPr>
          </a:p>
          <a:p>
            <a:pPr marL="914400" lvl="1" indent="-514350"/>
            <a:r>
              <a:rPr lang="zh-CN" altLang="en-US" dirty="0">
                <a:effectLst/>
                <a:latin typeface="Helvetica" pitchFamily="2" charset="0"/>
              </a:rPr>
              <a:t>下一次下陷时，操作系统依然会使用这个内核栈</a:t>
            </a:r>
            <a:endParaRPr lang="en-US" altLang="zh-CN" dirty="0">
              <a:effectLst/>
              <a:latin typeface="Helvetica" pitchFamily="2" charset="0"/>
            </a:endParaRPr>
          </a:p>
          <a:p>
            <a:pPr marL="514350" indent="-514350">
              <a:buFont typeface="+mj-lt"/>
              <a:buAutoNum type="arabicPeriod"/>
            </a:pPr>
            <a:r>
              <a:rPr lang="zh-CN" altLang="en-US" dirty="0">
                <a:effectLst/>
                <a:latin typeface="Helvetica" pitchFamily="2" charset="0"/>
              </a:rPr>
              <a:t>将</a:t>
            </a:r>
            <a:r>
              <a:rPr lang="en" altLang="zh-CN" dirty="0">
                <a:effectLst/>
                <a:latin typeface="Helvetica" pitchFamily="2" charset="0"/>
              </a:rPr>
              <a:t>ELR_EL1</a:t>
            </a:r>
            <a:r>
              <a:rPr lang="zh-CN" altLang="en-US" dirty="0">
                <a:effectLst/>
                <a:latin typeface="Helvetica" pitchFamily="2" charset="0"/>
              </a:rPr>
              <a:t>中的地址写入</a:t>
            </a:r>
            <a:r>
              <a:rPr lang="en" altLang="zh-CN" dirty="0">
                <a:effectLst/>
                <a:latin typeface="Helvetica" pitchFamily="2" charset="0"/>
              </a:rPr>
              <a:t>PC</a:t>
            </a:r>
            <a:r>
              <a:rPr lang="zh-CN" altLang="en-US" dirty="0">
                <a:effectLst/>
                <a:latin typeface="Helvetica" pitchFamily="2" charset="0"/>
              </a:rPr>
              <a:t>，并执行应用程序代码</a:t>
            </a:r>
          </a:p>
          <a:p>
            <a:pPr marL="514350" indent="-514350">
              <a:buFont typeface="+mj-lt"/>
              <a:buAutoNum type="arabicPeriod"/>
            </a:pPr>
            <a:endParaRPr kumimoji="1" lang="zh-CN" altLang="en" dirty="0"/>
          </a:p>
          <a:p>
            <a:pPr marL="514350" indent="-514350">
              <a:buFont typeface="+mj-lt"/>
              <a:buAutoNum type="arabicPeriod"/>
            </a:pPr>
            <a:endParaRPr kumimoji="1" lang="zh-CN" altLang="en-US" dirty="0"/>
          </a:p>
        </p:txBody>
      </p:sp>
      <p:sp>
        <p:nvSpPr>
          <p:cNvPr id="4" name="灯片编号占位符 3">
            <a:extLst>
              <a:ext uri="{FF2B5EF4-FFF2-40B4-BE49-F238E27FC236}">
                <a16:creationId xmlns:a16="http://schemas.microsoft.com/office/drawing/2014/main" id="{62B16A08-FD63-4644-BD3A-564EC001C9AC}"/>
              </a:ext>
            </a:extLst>
          </p:cNvPr>
          <p:cNvSpPr>
            <a:spLocks noGrp="1"/>
          </p:cNvSpPr>
          <p:nvPr>
            <p:ph type="sldNum" sz="quarter" idx="12"/>
          </p:nvPr>
        </p:nvSpPr>
        <p:spPr/>
        <p:txBody>
          <a:bodyPr/>
          <a:lstStyle/>
          <a:p>
            <a:fld id="{ADE361C3-C043-4A6E-BDCE-8DA1E7D90A3B}" type="slidenum">
              <a:rPr lang="zh-CN" altLang="en-US" smtClean="0"/>
              <a:t>60</a:t>
            </a:fld>
            <a:endParaRPr lang="zh-CN" altLang="en-US"/>
          </a:p>
        </p:txBody>
      </p:sp>
    </p:spTree>
    <p:extLst>
      <p:ext uri="{BB962C8B-B14F-4D97-AF65-F5344CB8AC3E}">
        <p14:creationId xmlns:p14="http://schemas.microsoft.com/office/powerpoint/2010/main" val="2298239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AA0D6-0722-784A-92BE-0BA4AA144A03}"/>
              </a:ext>
            </a:extLst>
          </p:cNvPr>
          <p:cNvSpPr>
            <a:spLocks noGrp="1"/>
          </p:cNvSpPr>
          <p:nvPr>
            <p:ph type="title"/>
          </p:nvPr>
        </p:nvSpPr>
        <p:spPr/>
        <p:txBody>
          <a:bodyPr/>
          <a:lstStyle/>
          <a:p>
            <a:r>
              <a:rPr kumimoji="1" lang="zh-CN" altLang="en-US" dirty="0"/>
              <a:t>操作系统在切换过程中的任务</a:t>
            </a:r>
          </a:p>
        </p:txBody>
      </p:sp>
      <p:sp>
        <p:nvSpPr>
          <p:cNvPr id="3" name="内容占位符 2">
            <a:extLst>
              <a:ext uri="{FF2B5EF4-FFF2-40B4-BE49-F238E27FC236}">
                <a16:creationId xmlns:a16="http://schemas.microsoft.com/office/drawing/2014/main" id="{49486EF7-8B23-3141-90F1-F24251FC4BE8}"/>
              </a:ext>
            </a:extLst>
          </p:cNvPr>
          <p:cNvSpPr>
            <a:spLocks noGrp="1"/>
          </p:cNvSpPr>
          <p:nvPr>
            <p:ph idx="1"/>
          </p:nvPr>
        </p:nvSpPr>
        <p:spPr/>
        <p:txBody>
          <a:bodyPr>
            <a:noAutofit/>
          </a:bodyPr>
          <a:lstStyle/>
          <a:p>
            <a:r>
              <a:rPr kumimoji="1" lang="zh-CN" altLang="en-US" sz="2400" dirty="0"/>
              <a:t>主要任务：将属于应用程序的 </a:t>
            </a:r>
            <a:r>
              <a:rPr kumimoji="1" lang="en" altLang="zh-CN" sz="2400" dirty="0"/>
              <a:t>CPU </a:t>
            </a:r>
            <a:r>
              <a:rPr kumimoji="1" lang="zh-CN" altLang="en-US" sz="2400" dirty="0"/>
              <a:t>状态保存到内存中</a:t>
            </a:r>
            <a:endParaRPr kumimoji="1" lang="en-US" altLang="zh-CN" sz="2400" dirty="0"/>
          </a:p>
          <a:p>
            <a:pPr lvl="1"/>
            <a:r>
              <a:rPr kumimoji="1" lang="zh-CN" altLang="en-US" sz="2000" dirty="0"/>
              <a:t>用于之后恢复应用程序继续运行</a:t>
            </a:r>
            <a:endParaRPr kumimoji="1" lang="en-US" altLang="zh-CN" sz="2000" dirty="0"/>
          </a:p>
          <a:p>
            <a:r>
              <a:rPr kumimoji="1" lang="zh-CN" altLang="en-US" sz="2400" dirty="0"/>
              <a:t>应用程序需要保存的运行状态称为处理器上下文</a:t>
            </a:r>
            <a:endParaRPr kumimoji="1" lang="en-US" altLang="zh-CN" sz="2400" dirty="0"/>
          </a:p>
          <a:p>
            <a:pPr lvl="1"/>
            <a:r>
              <a:rPr kumimoji="1" lang="zh-CN" altLang="en-US" sz="2000" dirty="0"/>
              <a:t>处理器上下文（</a:t>
            </a:r>
            <a:r>
              <a:rPr kumimoji="1" lang="en" altLang="zh-CN" sz="2000" dirty="0"/>
              <a:t>Processor Context</a:t>
            </a:r>
            <a:r>
              <a:rPr kumimoji="1" lang="zh-CN" altLang="en-US" sz="2000" dirty="0"/>
              <a:t>）：</a:t>
            </a:r>
            <a:r>
              <a:rPr kumimoji="1" lang="zh-CN" altLang="en-US" sz="2000" dirty="0">
                <a:solidFill>
                  <a:schemeClr val="accent1"/>
                </a:solidFill>
              </a:rPr>
              <a:t>应用程序在完成切换后恢复执行所需的最小处理器状态集合</a:t>
            </a:r>
            <a:endParaRPr kumimoji="1" lang="en-US" altLang="zh-CN" sz="2000" dirty="0">
              <a:solidFill>
                <a:schemeClr val="accent1"/>
              </a:solidFill>
            </a:endParaRPr>
          </a:p>
          <a:p>
            <a:pPr lvl="1"/>
            <a:r>
              <a:rPr kumimoji="1" lang="zh-CN" altLang="en-US" sz="2000" dirty="0"/>
              <a:t>处理器上下文中的寄存器具体包括：</a:t>
            </a:r>
            <a:endParaRPr kumimoji="1" lang="en-US" altLang="zh-CN" sz="2000" dirty="0"/>
          </a:p>
          <a:p>
            <a:pPr lvl="2"/>
            <a:r>
              <a:rPr lang="zh-CN" altLang="en-US" sz="1800" dirty="0">
                <a:solidFill>
                  <a:srgbClr val="000000"/>
                </a:solidFill>
                <a:effectLst/>
                <a:latin typeface="Helvetica" pitchFamily="2" charset="0"/>
              </a:rPr>
              <a:t>通用寄存器 </a:t>
            </a:r>
            <a:r>
              <a:rPr lang="en" altLang="zh-CN" sz="1800" dirty="0">
                <a:solidFill>
                  <a:srgbClr val="000000"/>
                </a:solidFill>
                <a:effectLst/>
                <a:latin typeface="Helvetica" pitchFamily="2" charset="0"/>
              </a:rPr>
              <a:t>X0-X30</a:t>
            </a:r>
          </a:p>
          <a:p>
            <a:pPr lvl="2"/>
            <a:r>
              <a:rPr lang="zh-CN" altLang="en-US" sz="1800" dirty="0">
                <a:solidFill>
                  <a:srgbClr val="000000"/>
                </a:solidFill>
                <a:effectLst/>
                <a:latin typeface="Helvetica" pitchFamily="2" charset="0"/>
              </a:rPr>
              <a:t>特殊寄存器，主要</a:t>
            </a:r>
            <a:r>
              <a:rPr lang="zh-CN" altLang="en-US" sz="1800" dirty="0">
                <a:solidFill>
                  <a:srgbClr val="000000"/>
                </a:solidFill>
                <a:latin typeface="Helvetica" pitchFamily="2" charset="0"/>
              </a:rPr>
              <a:t>包括</a:t>
            </a:r>
            <a:r>
              <a:rPr lang="en" altLang="zh-CN" sz="1800" dirty="0">
                <a:solidFill>
                  <a:srgbClr val="000000"/>
                </a:solidFill>
                <a:latin typeface="Helvetica" pitchFamily="2" charset="0"/>
              </a:rPr>
              <a:t>PC</a:t>
            </a:r>
            <a:r>
              <a:rPr lang="zh-CN" altLang="en" sz="1800" dirty="0">
                <a:solidFill>
                  <a:srgbClr val="000000"/>
                </a:solidFill>
                <a:latin typeface="Helvetica" pitchFamily="2" charset="0"/>
              </a:rPr>
              <a:t>、</a:t>
            </a:r>
            <a:r>
              <a:rPr lang="en" altLang="zh-CN" sz="1800" dirty="0">
                <a:solidFill>
                  <a:srgbClr val="000000"/>
                </a:solidFill>
                <a:latin typeface="Helvetica" pitchFamily="2" charset="0"/>
              </a:rPr>
              <a:t>SP</a:t>
            </a:r>
            <a:r>
              <a:rPr lang="zh-CN" altLang="en-US" sz="1800" dirty="0">
                <a:solidFill>
                  <a:srgbClr val="000000"/>
                </a:solidFill>
                <a:latin typeface="Helvetica" pitchFamily="2" charset="0"/>
              </a:rPr>
              <a:t>和</a:t>
            </a:r>
            <a:r>
              <a:rPr lang="en" altLang="zh-CN" sz="1800" dirty="0">
                <a:solidFill>
                  <a:srgbClr val="000000"/>
                </a:solidFill>
                <a:latin typeface="Helvetica" pitchFamily="2" charset="0"/>
              </a:rPr>
              <a:t>PSTATE</a:t>
            </a:r>
          </a:p>
          <a:p>
            <a:pPr lvl="2"/>
            <a:r>
              <a:rPr lang="zh-CN" altLang="en-US" sz="1800" dirty="0">
                <a:solidFill>
                  <a:srgbClr val="000000"/>
                </a:solidFill>
                <a:latin typeface="Helvetica" pitchFamily="2" charset="0"/>
              </a:rPr>
              <a:t>系统寄存器，包括页表基地址寄存器等</a:t>
            </a:r>
          </a:p>
          <a:p>
            <a:pPr lvl="2"/>
            <a:endParaRPr kumimoji="1" lang="zh-CN" altLang="en-US" sz="1800" dirty="0"/>
          </a:p>
          <a:p>
            <a:endParaRPr kumimoji="1" lang="zh-CN" altLang="en-US" sz="2400" dirty="0"/>
          </a:p>
        </p:txBody>
      </p:sp>
      <p:sp>
        <p:nvSpPr>
          <p:cNvPr id="4" name="灯片编号占位符 3">
            <a:extLst>
              <a:ext uri="{FF2B5EF4-FFF2-40B4-BE49-F238E27FC236}">
                <a16:creationId xmlns:a16="http://schemas.microsoft.com/office/drawing/2014/main" id="{F837FFAB-E392-D94A-B2FA-80C333A19722}"/>
              </a:ext>
            </a:extLst>
          </p:cNvPr>
          <p:cNvSpPr>
            <a:spLocks noGrp="1"/>
          </p:cNvSpPr>
          <p:nvPr>
            <p:ph type="sldNum" sz="quarter" idx="12"/>
          </p:nvPr>
        </p:nvSpPr>
        <p:spPr/>
        <p:txBody>
          <a:bodyPr/>
          <a:lstStyle/>
          <a:p>
            <a:fld id="{ADE361C3-C043-4A6E-BDCE-8DA1E7D90A3B}" type="slidenum">
              <a:rPr lang="zh-CN" altLang="en-US" smtClean="0"/>
              <a:t>61</a:t>
            </a:fld>
            <a:endParaRPr lang="zh-CN" altLang="en-US"/>
          </a:p>
        </p:txBody>
      </p:sp>
    </p:spTree>
    <p:extLst>
      <p:ext uri="{BB962C8B-B14F-4D97-AF65-F5344CB8AC3E}">
        <p14:creationId xmlns:p14="http://schemas.microsoft.com/office/powerpoint/2010/main" val="9191891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9AF81BF-789B-3B4E-8A65-E26308EA0B5A}"/>
              </a:ext>
            </a:extLst>
          </p:cNvPr>
          <p:cNvSpPr>
            <a:spLocks noGrp="1"/>
          </p:cNvSpPr>
          <p:nvPr>
            <p:ph type="title"/>
          </p:nvPr>
        </p:nvSpPr>
        <p:spPr/>
        <p:txBody>
          <a:bodyPr/>
          <a:lstStyle/>
          <a:p>
            <a:r>
              <a:rPr lang="zh-CN" altLang="en-US" dirty="0"/>
              <a:t>系统调用</a:t>
            </a:r>
          </a:p>
        </p:txBody>
      </p:sp>
      <p:sp>
        <p:nvSpPr>
          <p:cNvPr id="6" name="文本占位符 5">
            <a:extLst>
              <a:ext uri="{FF2B5EF4-FFF2-40B4-BE49-F238E27FC236}">
                <a16:creationId xmlns:a16="http://schemas.microsoft.com/office/drawing/2014/main" id="{C3FD2469-E0B1-FE4B-9F15-731DA3CB94D7}"/>
              </a:ext>
            </a:extLst>
          </p:cNvPr>
          <p:cNvSpPr>
            <a:spLocks noGrp="1"/>
          </p:cNvSpPr>
          <p:nvPr>
            <p:ph type="body" idx="1"/>
          </p:nvPr>
        </p:nvSpPr>
        <p:spPr/>
        <p:txBody>
          <a:bodyPr/>
          <a:lstStyle/>
          <a:p>
            <a:endParaRPr lang="zh-CN" altLang="en-US"/>
          </a:p>
        </p:txBody>
      </p:sp>
      <p:sp>
        <p:nvSpPr>
          <p:cNvPr id="7" name="灯片编号占位符 6">
            <a:extLst>
              <a:ext uri="{FF2B5EF4-FFF2-40B4-BE49-F238E27FC236}">
                <a16:creationId xmlns:a16="http://schemas.microsoft.com/office/drawing/2014/main" id="{3CF6C5AF-D2BA-0F4F-81C7-AAA045BB4DE0}"/>
              </a:ext>
            </a:extLst>
          </p:cNvPr>
          <p:cNvSpPr>
            <a:spLocks noGrp="1"/>
          </p:cNvSpPr>
          <p:nvPr>
            <p:ph type="sldNum" sz="quarter" idx="12"/>
          </p:nvPr>
        </p:nvSpPr>
        <p:spPr/>
        <p:txBody>
          <a:bodyPr/>
          <a:lstStyle/>
          <a:p>
            <a:fld id="{ADE361C3-C043-4A6E-BDCE-8DA1E7D90A3B}" type="slidenum">
              <a:rPr lang="zh-CN" altLang="en-US" smtClean="0"/>
              <a:t>62</a:t>
            </a:fld>
            <a:endParaRPr lang="zh-CN" altLang="en-US"/>
          </a:p>
        </p:txBody>
      </p:sp>
    </p:spTree>
    <p:extLst>
      <p:ext uri="{BB962C8B-B14F-4D97-AF65-F5344CB8AC3E}">
        <p14:creationId xmlns:p14="http://schemas.microsoft.com/office/powerpoint/2010/main" val="15302865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2A85F-6EE2-B743-A20D-96CF8F2D4D1D}"/>
              </a:ext>
            </a:extLst>
          </p:cNvPr>
          <p:cNvSpPr>
            <a:spLocks noGrp="1"/>
          </p:cNvSpPr>
          <p:nvPr>
            <p:ph type="title"/>
          </p:nvPr>
        </p:nvSpPr>
        <p:spPr/>
        <p:txBody>
          <a:bodyPr/>
          <a:lstStyle/>
          <a:p>
            <a:r>
              <a:rPr kumimoji="1" lang="zh-CN" altLang="en-US" dirty="0"/>
              <a:t>系统调用</a:t>
            </a:r>
          </a:p>
        </p:txBody>
      </p:sp>
      <p:sp>
        <p:nvSpPr>
          <p:cNvPr id="3" name="内容占位符 2">
            <a:extLst>
              <a:ext uri="{FF2B5EF4-FFF2-40B4-BE49-F238E27FC236}">
                <a16:creationId xmlns:a16="http://schemas.microsoft.com/office/drawing/2014/main" id="{B65EF2D9-3283-8B47-A5AC-BC8B73F5D829}"/>
              </a:ext>
            </a:extLst>
          </p:cNvPr>
          <p:cNvSpPr>
            <a:spLocks noGrp="1"/>
          </p:cNvSpPr>
          <p:nvPr>
            <p:ph idx="1"/>
          </p:nvPr>
        </p:nvSpPr>
        <p:spPr/>
        <p:txBody>
          <a:bodyPr>
            <a:normAutofit/>
          </a:bodyPr>
          <a:lstStyle/>
          <a:p>
            <a:r>
              <a:rPr kumimoji="1" lang="zh-CN" altLang="en-US" sz="2400" dirty="0"/>
              <a:t>硬件提供了一对指令在用户态、内核态之间切换</a:t>
            </a:r>
            <a:endParaRPr kumimoji="1" lang="en-US" altLang="zh-CN" sz="2400" dirty="0"/>
          </a:p>
          <a:p>
            <a:pPr lvl="1"/>
            <a:r>
              <a:rPr kumimoji="1" lang="en-US" altLang="zh-CN" sz="2000" dirty="0"/>
              <a:t>svc</a:t>
            </a:r>
            <a:r>
              <a:rPr kumimoji="1" lang="zh-CN" altLang="en-US" sz="2000" dirty="0"/>
              <a:t> </a:t>
            </a:r>
            <a:r>
              <a:rPr kumimoji="1" lang="en-US" altLang="zh-CN" sz="2000" dirty="0"/>
              <a:t>/</a:t>
            </a:r>
            <a:r>
              <a:rPr kumimoji="1" lang="zh-CN" altLang="en-US" sz="2000" dirty="0"/>
              <a:t> </a:t>
            </a:r>
            <a:r>
              <a:rPr kumimoji="1" lang="en-US" altLang="zh-CN" sz="2000" dirty="0" err="1"/>
              <a:t>eret</a:t>
            </a:r>
            <a:endParaRPr kumimoji="1" lang="en-US" altLang="zh-CN" sz="2200" dirty="0"/>
          </a:p>
          <a:p>
            <a:r>
              <a:rPr kumimoji="1" lang="zh-CN" altLang="en-US" sz="2400" dirty="0"/>
              <a:t>系统调用</a:t>
            </a:r>
            <a:endParaRPr kumimoji="1" lang="en-US" altLang="zh-CN" sz="2400" dirty="0"/>
          </a:p>
          <a:p>
            <a:pPr lvl="1"/>
            <a:r>
              <a:rPr kumimoji="1" lang="zh-CN" altLang="en-US" sz="2000" dirty="0"/>
              <a:t>用户与操作系统之间，类似于过程调用的接口</a:t>
            </a:r>
            <a:endParaRPr kumimoji="1" lang="en-US" altLang="zh-CN" sz="2000" dirty="0"/>
          </a:p>
          <a:p>
            <a:pPr lvl="1"/>
            <a:r>
              <a:rPr kumimoji="1" lang="zh-CN" altLang="en-US" sz="2000" dirty="0"/>
              <a:t>通过受限的方式访问内核提供的服务</a:t>
            </a:r>
          </a:p>
        </p:txBody>
      </p:sp>
      <p:grpSp>
        <p:nvGrpSpPr>
          <p:cNvPr id="5" name="组合 2">
            <a:extLst>
              <a:ext uri="{FF2B5EF4-FFF2-40B4-BE49-F238E27FC236}">
                <a16:creationId xmlns:a16="http://schemas.microsoft.com/office/drawing/2014/main" id="{CAA63033-28D2-8B41-BA8A-DDC966B66C9F}"/>
              </a:ext>
            </a:extLst>
          </p:cNvPr>
          <p:cNvGrpSpPr>
            <a:grpSpLocks/>
          </p:cNvGrpSpPr>
          <p:nvPr/>
        </p:nvGrpSpPr>
        <p:grpSpPr bwMode="auto">
          <a:xfrm>
            <a:off x="1392238" y="4053421"/>
            <a:ext cx="5160962" cy="1547812"/>
            <a:chOff x="1995126" y="4260645"/>
            <a:chExt cx="6882197" cy="2063530"/>
          </a:xfrm>
        </p:grpSpPr>
        <p:sp>
          <p:nvSpPr>
            <p:cNvPr id="6" name="Rectangle 5">
              <a:extLst>
                <a:ext uri="{FF2B5EF4-FFF2-40B4-BE49-F238E27FC236}">
                  <a16:creationId xmlns:a16="http://schemas.microsoft.com/office/drawing/2014/main" id="{59A49BE1-B378-9B44-8A3F-AD80067893F6}"/>
                </a:ext>
              </a:extLst>
            </p:cNvPr>
            <p:cNvSpPr>
              <a:spLocks noChangeArrowheads="1"/>
            </p:cNvSpPr>
            <p:nvPr/>
          </p:nvSpPr>
          <p:spPr bwMode="auto">
            <a:xfrm>
              <a:off x="1995126" y="4260645"/>
              <a:ext cx="1106202" cy="45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59" tIns="33335" rIns="67859" bIns="33335">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800" dirty="0">
                  <a:latin typeface="Arial" panose="020B0604020202020204" pitchFamily="34" charset="0"/>
                </a:rPr>
                <a:t>用户态</a:t>
              </a:r>
              <a:endParaRPr lang="en-US" altLang="zh-CN" sz="1800" dirty="0">
                <a:latin typeface="Arial" panose="020B0604020202020204" pitchFamily="34" charset="0"/>
              </a:endParaRPr>
            </a:p>
          </p:txBody>
        </p:sp>
        <p:sp>
          <p:nvSpPr>
            <p:cNvPr id="7" name="Rectangle 6">
              <a:extLst>
                <a:ext uri="{FF2B5EF4-FFF2-40B4-BE49-F238E27FC236}">
                  <a16:creationId xmlns:a16="http://schemas.microsoft.com/office/drawing/2014/main" id="{83FF82DF-EF5C-E848-93AF-44C8F98981DC}"/>
                </a:ext>
              </a:extLst>
            </p:cNvPr>
            <p:cNvSpPr>
              <a:spLocks noChangeArrowheads="1"/>
            </p:cNvSpPr>
            <p:nvPr/>
          </p:nvSpPr>
          <p:spPr bwMode="auto">
            <a:xfrm>
              <a:off x="5616574" y="4414838"/>
              <a:ext cx="1106202" cy="45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59" tIns="33335" rIns="67859" bIns="33335">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800" dirty="0">
                  <a:latin typeface="Arial" panose="020B0604020202020204" pitchFamily="34" charset="0"/>
                </a:rPr>
                <a:t>内核态</a:t>
              </a:r>
              <a:endParaRPr lang="en-US" altLang="zh-CN" sz="1800" dirty="0">
                <a:latin typeface="Arial" panose="020B0604020202020204" pitchFamily="34" charset="0"/>
              </a:endParaRPr>
            </a:p>
          </p:txBody>
        </p:sp>
        <p:sp>
          <p:nvSpPr>
            <p:cNvPr id="8" name="Line 7">
              <a:extLst>
                <a:ext uri="{FF2B5EF4-FFF2-40B4-BE49-F238E27FC236}">
                  <a16:creationId xmlns:a16="http://schemas.microsoft.com/office/drawing/2014/main" id="{C21927C0-E695-FF43-A612-C7F620A3ECC7}"/>
                </a:ext>
              </a:extLst>
            </p:cNvPr>
            <p:cNvSpPr>
              <a:spLocks noChangeShapeType="1"/>
            </p:cNvSpPr>
            <p:nvPr/>
          </p:nvSpPr>
          <p:spPr bwMode="auto">
            <a:xfrm>
              <a:off x="3125788" y="4795838"/>
              <a:ext cx="0" cy="36353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a:extLst>
                <a:ext uri="{FF2B5EF4-FFF2-40B4-BE49-F238E27FC236}">
                  <a16:creationId xmlns:a16="http://schemas.microsoft.com/office/drawing/2014/main" id="{07F1FA58-39CC-514E-B01A-0F2F4D5E58B4}"/>
                </a:ext>
              </a:extLst>
            </p:cNvPr>
            <p:cNvSpPr>
              <a:spLocks noChangeShapeType="1"/>
            </p:cNvSpPr>
            <p:nvPr/>
          </p:nvSpPr>
          <p:spPr bwMode="auto">
            <a:xfrm>
              <a:off x="3132138" y="5165725"/>
              <a:ext cx="28067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9">
              <a:extLst>
                <a:ext uri="{FF2B5EF4-FFF2-40B4-BE49-F238E27FC236}">
                  <a16:creationId xmlns:a16="http://schemas.microsoft.com/office/drawing/2014/main" id="{C9C3C3B6-FD69-1A4D-882C-73C3D2EB3046}"/>
                </a:ext>
              </a:extLst>
            </p:cNvPr>
            <p:cNvSpPr>
              <a:spLocks noChangeShapeType="1"/>
            </p:cNvSpPr>
            <p:nvPr/>
          </p:nvSpPr>
          <p:spPr bwMode="auto">
            <a:xfrm>
              <a:off x="5945188" y="5172075"/>
              <a:ext cx="0" cy="5969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0">
              <a:extLst>
                <a:ext uri="{FF2B5EF4-FFF2-40B4-BE49-F238E27FC236}">
                  <a16:creationId xmlns:a16="http://schemas.microsoft.com/office/drawing/2014/main" id="{D0B46FF2-6453-3C4F-BE89-B1FC7F72E7FE}"/>
                </a:ext>
              </a:extLst>
            </p:cNvPr>
            <p:cNvSpPr>
              <a:spLocks noChangeShapeType="1"/>
            </p:cNvSpPr>
            <p:nvPr/>
          </p:nvSpPr>
          <p:spPr bwMode="auto">
            <a:xfrm flipH="1" flipV="1">
              <a:off x="3125788" y="5329237"/>
              <a:ext cx="2825750" cy="45243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1">
              <a:extLst>
                <a:ext uri="{FF2B5EF4-FFF2-40B4-BE49-F238E27FC236}">
                  <a16:creationId xmlns:a16="http://schemas.microsoft.com/office/drawing/2014/main" id="{A53CFF04-6976-4548-AD53-4394C97E4BE4}"/>
                </a:ext>
              </a:extLst>
            </p:cNvPr>
            <p:cNvSpPr>
              <a:spLocks noChangeShapeType="1"/>
            </p:cNvSpPr>
            <p:nvPr/>
          </p:nvSpPr>
          <p:spPr bwMode="auto">
            <a:xfrm>
              <a:off x="3125788" y="5322888"/>
              <a:ext cx="6350" cy="69691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Rectangle 13">
              <a:extLst>
                <a:ext uri="{FF2B5EF4-FFF2-40B4-BE49-F238E27FC236}">
                  <a16:creationId xmlns:a16="http://schemas.microsoft.com/office/drawing/2014/main" id="{3B4995ED-42DC-1042-AD1C-AEB02DAC2249}"/>
                </a:ext>
              </a:extLst>
            </p:cNvPr>
            <p:cNvSpPr>
              <a:spLocks noChangeArrowheads="1"/>
            </p:cNvSpPr>
            <p:nvPr/>
          </p:nvSpPr>
          <p:spPr bwMode="auto">
            <a:xfrm>
              <a:off x="5943601" y="5257800"/>
              <a:ext cx="2933722" cy="459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800" b="0" i="1" dirty="0">
                  <a:latin typeface="Arial" panose="020B0604020202020204" pitchFamily="34" charset="0"/>
                </a:rPr>
                <a:t>系统调用代码</a:t>
              </a:r>
              <a:endParaRPr lang="en-US" altLang="zh-CN" sz="1800" b="0" i="1" dirty="0">
                <a:latin typeface="Arial" panose="020B0604020202020204" pitchFamily="34" charset="0"/>
              </a:endParaRPr>
            </a:p>
          </p:txBody>
        </p:sp>
        <p:sp>
          <p:nvSpPr>
            <p:cNvPr id="14" name="Rectangle 14">
              <a:extLst>
                <a:ext uri="{FF2B5EF4-FFF2-40B4-BE49-F238E27FC236}">
                  <a16:creationId xmlns:a16="http://schemas.microsoft.com/office/drawing/2014/main" id="{B030275C-013A-A34B-AF77-09D1BDB1CEAA}"/>
                </a:ext>
              </a:extLst>
            </p:cNvPr>
            <p:cNvSpPr>
              <a:spLocks noChangeArrowheads="1"/>
            </p:cNvSpPr>
            <p:nvPr/>
          </p:nvSpPr>
          <p:spPr bwMode="auto">
            <a:xfrm>
              <a:off x="5562183" y="5864908"/>
              <a:ext cx="711294" cy="459267"/>
            </a:xfrm>
            <a:prstGeom prst="rect">
              <a:avLst/>
            </a:prstGeom>
            <a:noFill/>
            <a:ln>
              <a:noFill/>
            </a:ln>
          </p:spPr>
          <p:txBody>
            <a:bodyPr wrap="none" lIns="67859" tIns="33335" rIns="67859" bIns="33335">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defRPr/>
              </a:pPr>
              <a:r>
                <a:rPr lang="en-US" altLang="zh-CN" sz="1800" b="0" dirty="0" err="1">
                  <a:latin typeface="Arial" panose="020B0604020202020204" pitchFamily="34" charset="0"/>
                </a:rPr>
                <a:t>eret</a:t>
              </a:r>
              <a:endParaRPr lang="en-US" altLang="zh-CN" sz="1350" b="0" dirty="0">
                <a:latin typeface="Arial" panose="020B0604020202020204" pitchFamily="34" charset="0"/>
              </a:endParaRPr>
            </a:p>
          </p:txBody>
        </p:sp>
        <p:sp>
          <p:nvSpPr>
            <p:cNvPr id="15" name="Text Box 16">
              <a:extLst>
                <a:ext uri="{FF2B5EF4-FFF2-40B4-BE49-F238E27FC236}">
                  <a16:creationId xmlns:a16="http://schemas.microsoft.com/office/drawing/2014/main" id="{ACF33873-25D6-2245-8B1F-9F71993CED92}"/>
                </a:ext>
              </a:extLst>
            </p:cNvPr>
            <p:cNvSpPr txBox="1">
              <a:spLocks noChangeArrowheads="1"/>
            </p:cNvSpPr>
            <p:nvPr/>
          </p:nvSpPr>
          <p:spPr bwMode="auto">
            <a:xfrm>
              <a:off x="2017790" y="4699001"/>
              <a:ext cx="707981" cy="492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b="0">
                  <a:latin typeface="Arial" panose="020B0604020202020204" pitchFamily="34" charset="0"/>
                </a:rPr>
                <a:t>svc</a:t>
              </a:r>
            </a:p>
          </p:txBody>
        </p:sp>
        <p:sp>
          <p:nvSpPr>
            <p:cNvPr id="16" name="Text Box 17">
              <a:extLst>
                <a:ext uri="{FF2B5EF4-FFF2-40B4-BE49-F238E27FC236}">
                  <a16:creationId xmlns:a16="http://schemas.microsoft.com/office/drawing/2014/main" id="{2D9355AB-3AF3-7E45-9654-277DB9D168BE}"/>
                </a:ext>
              </a:extLst>
            </p:cNvPr>
            <p:cNvSpPr txBox="1">
              <a:spLocks noChangeArrowheads="1"/>
            </p:cNvSpPr>
            <p:nvPr/>
          </p:nvSpPr>
          <p:spPr bwMode="auto">
            <a:xfrm>
              <a:off x="2165350" y="5181600"/>
              <a:ext cx="853273"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dirty="0">
                  <a:latin typeface="Times New Roman" panose="02020603050405020304" pitchFamily="18" charset="0"/>
                  <a:cs typeface="Times New Roman" panose="02020603050405020304" pitchFamily="18" charset="0"/>
                </a:rPr>
                <a:t>I</a:t>
              </a:r>
              <a:r>
                <a:rPr lang="en-US" altLang="zh-CN" sz="2000" baseline="-25000" dirty="0">
                  <a:latin typeface="Times New Roman" panose="02020603050405020304" pitchFamily="18" charset="0"/>
                  <a:cs typeface="Times New Roman" panose="02020603050405020304" pitchFamily="18" charset="0"/>
                </a:rPr>
                <a:t> next</a:t>
              </a:r>
              <a:endParaRPr lang="en-US" altLang="zh-CN" sz="1400" baseline="-25000" dirty="0">
                <a:latin typeface="Times New Roman" panose="02020603050405020304" pitchFamily="18" charset="0"/>
                <a:cs typeface="Times New Roman" panose="02020603050405020304" pitchFamily="18" charset="0"/>
              </a:endParaRPr>
            </a:p>
          </p:txBody>
        </p:sp>
      </p:grpSp>
      <p:sp>
        <p:nvSpPr>
          <p:cNvPr id="17" name="灯片编号占位符 16">
            <a:extLst>
              <a:ext uri="{FF2B5EF4-FFF2-40B4-BE49-F238E27FC236}">
                <a16:creationId xmlns:a16="http://schemas.microsoft.com/office/drawing/2014/main" id="{36789FC0-4105-BA45-BF1C-0750E85CB104}"/>
              </a:ext>
            </a:extLst>
          </p:cNvPr>
          <p:cNvSpPr>
            <a:spLocks noGrp="1"/>
          </p:cNvSpPr>
          <p:nvPr>
            <p:ph type="sldNum" sz="quarter" idx="12"/>
          </p:nvPr>
        </p:nvSpPr>
        <p:spPr/>
        <p:txBody>
          <a:bodyPr/>
          <a:lstStyle/>
          <a:p>
            <a:fld id="{ADE361C3-C043-4A6E-BDCE-8DA1E7D90A3B}" type="slidenum">
              <a:rPr lang="zh-CN" altLang="en-US" smtClean="0"/>
              <a:t>63</a:t>
            </a:fld>
            <a:endParaRPr lang="zh-CN" altLang="en-US"/>
          </a:p>
        </p:txBody>
      </p:sp>
    </p:spTree>
    <p:extLst>
      <p:ext uri="{BB962C8B-B14F-4D97-AF65-F5344CB8AC3E}">
        <p14:creationId xmlns:p14="http://schemas.microsoft.com/office/powerpoint/2010/main" val="29737143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0600C0-EE7E-5841-AD26-37820E6AE584}"/>
              </a:ext>
            </a:extLst>
          </p:cNvPr>
          <p:cNvSpPr>
            <a:spLocks noGrp="1"/>
          </p:cNvSpPr>
          <p:nvPr>
            <p:ph type="title"/>
          </p:nvPr>
        </p:nvSpPr>
        <p:spPr/>
        <p:txBody>
          <a:bodyPr/>
          <a:lstStyle/>
          <a:p>
            <a:r>
              <a:rPr kumimoji="1" lang="zh-CN" altLang="en-US" dirty="0"/>
              <a:t>系统调用例子</a:t>
            </a:r>
          </a:p>
        </p:txBody>
      </p:sp>
      <p:sp>
        <p:nvSpPr>
          <p:cNvPr id="5" name="Rectangle 3">
            <a:extLst>
              <a:ext uri="{FF2B5EF4-FFF2-40B4-BE49-F238E27FC236}">
                <a16:creationId xmlns:a16="http://schemas.microsoft.com/office/drawing/2014/main" id="{D35ECC79-5A3F-334D-96F9-6601B430E309}"/>
              </a:ext>
            </a:extLst>
          </p:cNvPr>
          <p:cNvSpPr txBox="1">
            <a:spLocks noChangeArrowheads="1"/>
          </p:cNvSpPr>
          <p:nvPr/>
        </p:nvSpPr>
        <p:spPr>
          <a:xfrm>
            <a:off x="683568" y="1771519"/>
            <a:ext cx="7562850" cy="289560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 hello world</a:t>
            </a:r>
          </a:p>
          <a:p>
            <a:pPr>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1 int main()</a:t>
            </a:r>
          </a:p>
          <a:p>
            <a:pPr>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2 {</a:t>
            </a:r>
          </a:p>
          <a:p>
            <a:pPr>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3  	write(1, "hello, world\n", 13);</a:t>
            </a:r>
          </a:p>
          <a:p>
            <a:pPr>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4 	</a:t>
            </a:r>
            <a:r>
              <a:rPr lang="zh-CN" altLang="en-US" sz="2400" dirty="0">
                <a:latin typeface="Courier New" panose="02070309020205020404" pitchFamily="49" charset="0"/>
                <a:ea typeface="宋体" panose="02010600030101010101" pitchFamily="2" charset="-122"/>
                <a:cs typeface="Courier New" panose="02070309020205020404" pitchFamily="49" charset="0"/>
              </a:rPr>
              <a:t>    </a:t>
            </a:r>
            <a:r>
              <a:rPr lang="en-US" altLang="zh-CN" sz="2400" dirty="0">
                <a:latin typeface="Courier New" panose="02070309020205020404" pitchFamily="49" charset="0"/>
                <a:ea typeface="宋体" panose="02010600030101010101" pitchFamily="2" charset="-122"/>
                <a:cs typeface="Courier New" panose="02070309020205020404" pitchFamily="49" charset="0"/>
              </a:rPr>
              <a:t>_exit(0);</a:t>
            </a:r>
          </a:p>
          <a:p>
            <a:pPr>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5 }</a:t>
            </a:r>
          </a:p>
          <a:p>
            <a:pPr>
              <a:buFontTx/>
              <a:buNone/>
            </a:pPr>
            <a:endParaRPr lang="en-US" altLang="zh-CN" sz="2400" dirty="0">
              <a:latin typeface="Courier New" panose="02070309020205020404" pitchFamily="49" charset="0"/>
              <a:ea typeface="宋体"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33637577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9BE056-F2FD-0D4A-ABEB-DB43B2FBEFD5}"/>
              </a:ext>
            </a:extLst>
          </p:cNvPr>
          <p:cNvSpPr>
            <a:spLocks noGrp="1"/>
          </p:cNvSpPr>
          <p:nvPr>
            <p:ph type="title"/>
          </p:nvPr>
        </p:nvSpPr>
        <p:spPr/>
        <p:txBody>
          <a:bodyPr>
            <a:normAutofit/>
          </a:bodyPr>
          <a:lstStyle/>
          <a:p>
            <a:r>
              <a:rPr kumimoji="1" lang="en-US" altLang="zh-CN" dirty="0"/>
              <a:t>AArch64</a:t>
            </a:r>
            <a:r>
              <a:rPr kumimoji="1" lang="zh-CN" altLang="en-US" dirty="0"/>
              <a:t>下常见的</a:t>
            </a:r>
            <a:r>
              <a:rPr kumimoji="1" lang="en-US" altLang="zh-CN" dirty="0"/>
              <a:t>Linux</a:t>
            </a:r>
            <a:r>
              <a:rPr kumimoji="1" lang="zh-CN" altLang="en-US" dirty="0"/>
              <a:t>的系统调用</a:t>
            </a:r>
          </a:p>
        </p:txBody>
      </p:sp>
      <p:graphicFrame>
        <p:nvGraphicFramePr>
          <p:cNvPr id="3" name="表格 2">
            <a:extLst>
              <a:ext uri="{FF2B5EF4-FFF2-40B4-BE49-F238E27FC236}">
                <a16:creationId xmlns:a16="http://schemas.microsoft.com/office/drawing/2014/main" id="{CA980249-4284-7748-A65E-C9B32A1B835B}"/>
              </a:ext>
            </a:extLst>
          </p:cNvPr>
          <p:cNvGraphicFramePr>
            <a:graphicFrameLocks noGrp="1"/>
          </p:cNvGraphicFramePr>
          <p:nvPr>
            <p:extLst>
              <p:ext uri="{D42A27DB-BD31-4B8C-83A1-F6EECF244321}">
                <p14:modId xmlns:p14="http://schemas.microsoft.com/office/powerpoint/2010/main" val="3740364745"/>
              </p:ext>
            </p:extLst>
          </p:nvPr>
        </p:nvGraphicFramePr>
        <p:xfrm>
          <a:off x="533400" y="1751013"/>
          <a:ext cx="7924800" cy="3168649"/>
        </p:xfrm>
        <a:graphic>
          <a:graphicData uri="http://schemas.openxmlformats.org/drawingml/2006/table">
            <a:tbl>
              <a:tblPr firstRow="1" bandRow="1">
                <a:tableStyleId>{2D5ABB26-0587-4C30-8999-92F81FD0307C}</a:tableStyleId>
              </a:tblPr>
              <a:tblGrid>
                <a:gridCol w="957023">
                  <a:extLst>
                    <a:ext uri="{9D8B030D-6E8A-4147-A177-3AD203B41FA5}">
                      <a16:colId xmlns:a16="http://schemas.microsoft.com/office/drawing/2014/main" val="20000"/>
                    </a:ext>
                  </a:extLst>
                </a:gridCol>
                <a:gridCol w="780796">
                  <a:extLst>
                    <a:ext uri="{9D8B030D-6E8A-4147-A177-3AD203B41FA5}">
                      <a16:colId xmlns:a16="http://schemas.microsoft.com/office/drawing/2014/main" val="20001"/>
                    </a:ext>
                  </a:extLst>
                </a:gridCol>
                <a:gridCol w="2072181">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981200">
                  <a:extLst>
                    <a:ext uri="{9D8B030D-6E8A-4147-A177-3AD203B41FA5}">
                      <a16:colId xmlns:a16="http://schemas.microsoft.com/office/drawing/2014/main" val="20005"/>
                    </a:ext>
                  </a:extLst>
                </a:gridCol>
              </a:tblGrid>
              <a:tr h="288059">
                <a:tc>
                  <a:txBody>
                    <a:bodyPr/>
                    <a:lstStyle/>
                    <a:p>
                      <a:pPr algn="ctr"/>
                      <a:r>
                        <a:rPr lang="zh-CN" altLang="en-US" sz="1200" b="1" dirty="0">
                          <a:latin typeface="等线 Light" panose="02010600030101010101" pitchFamily="2" charset="-122"/>
                          <a:ea typeface="等线 Light" panose="02010600030101010101" pitchFamily="2" charset="-122"/>
                        </a:rPr>
                        <a:t>编号</a:t>
                      </a: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zh-CN" altLang="en-US" sz="1200" b="1" dirty="0">
                          <a:latin typeface="等线 Light" panose="02010600030101010101" pitchFamily="2" charset="-122"/>
                          <a:ea typeface="等线 Light" panose="02010600030101010101" pitchFamily="2" charset="-122"/>
                        </a:rPr>
                        <a:t>名称</a:t>
                      </a: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zh-CN" altLang="en-US" sz="1200" b="1" dirty="0">
                          <a:latin typeface="等线 Light" panose="02010600030101010101" pitchFamily="2" charset="-122"/>
                          <a:ea typeface="等线 Light" panose="02010600030101010101" pitchFamily="2" charset="-122"/>
                        </a:rPr>
                        <a:t>描述</a:t>
                      </a:r>
                      <a:r>
                        <a:rPr lang="en-US" altLang="zh-CN" sz="1200" b="1" dirty="0">
                          <a:latin typeface="等线 Light" panose="02010600030101010101" pitchFamily="2" charset="-122"/>
                          <a:ea typeface="等线 Light" panose="02010600030101010101" pitchFamily="2" charset="-122"/>
                        </a:rPr>
                        <a:t>.</a:t>
                      </a:r>
                      <a:endParaRPr lang="zh-CN" altLang="en-US" sz="1200" b="1"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zh-CN" altLang="en-US" sz="1200" b="1" dirty="0">
                          <a:latin typeface="等线 Light" panose="02010600030101010101" pitchFamily="2" charset="-122"/>
                          <a:ea typeface="等线 Light" panose="02010600030101010101" pitchFamily="2" charset="-122"/>
                        </a:rPr>
                        <a:t>编号</a:t>
                      </a: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zh-CN" altLang="en-US" sz="1200" b="1" dirty="0">
                          <a:latin typeface="等线 Light" panose="02010600030101010101" pitchFamily="2" charset="-122"/>
                          <a:ea typeface="等线 Light" panose="02010600030101010101" pitchFamily="2" charset="-122"/>
                        </a:rPr>
                        <a:t>名称</a:t>
                      </a: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zh-CN" altLang="en-US" sz="1200" b="1" dirty="0">
                          <a:latin typeface="等线 Light" panose="02010600030101010101" pitchFamily="2" charset="-122"/>
                          <a:ea typeface="等线 Light" panose="02010600030101010101" pitchFamily="2" charset="-122"/>
                        </a:rPr>
                        <a:t>名称</a:t>
                      </a:r>
                      <a:r>
                        <a:rPr lang="en-US" altLang="zh-CN" sz="1200" b="1" dirty="0">
                          <a:latin typeface="等线 Light" panose="02010600030101010101" pitchFamily="2" charset="-122"/>
                          <a:ea typeface="等线 Light" panose="02010600030101010101" pitchFamily="2" charset="-122"/>
                        </a:rPr>
                        <a:t>.</a:t>
                      </a:r>
                      <a:endParaRPr lang="zh-CN" altLang="en-US" sz="1200" b="1"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17</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getcwd</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Get current working directory</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129</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kill</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Send signal</a:t>
                      </a:r>
                      <a:r>
                        <a:rPr lang="en-US" altLang="zh-CN" sz="1200" baseline="0" dirty="0">
                          <a:latin typeface="等线 Light" panose="02010600030101010101" pitchFamily="2" charset="-122"/>
                          <a:ea typeface="等线 Light" panose="02010600030101010101" pitchFamily="2" charset="-122"/>
                        </a:rPr>
                        <a:t> to a process</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23</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dup</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Duplicate a</a:t>
                      </a:r>
                      <a:r>
                        <a:rPr lang="en-US" altLang="zh-CN" sz="1200" baseline="0" dirty="0">
                          <a:latin typeface="等线 Light" panose="02010600030101010101" pitchFamily="2" charset="-122"/>
                          <a:ea typeface="等线 Light" panose="02010600030101010101" pitchFamily="2" charset="-122"/>
                        </a:rPr>
                        <a:t> </a:t>
                      </a:r>
                      <a:r>
                        <a:rPr lang="en-US" altLang="zh-CN" sz="1200" dirty="0">
                          <a:latin typeface="等线 Light" panose="02010600030101010101" pitchFamily="2" charset="-122"/>
                          <a:ea typeface="等线 Light" panose="02010600030101010101" pitchFamily="2" charset="-122"/>
                        </a:rPr>
                        <a:t>file descriptor</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172</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getpid</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Get</a:t>
                      </a:r>
                      <a:r>
                        <a:rPr lang="en-US" altLang="zh-CN" sz="1200" baseline="0" dirty="0">
                          <a:latin typeface="等线 Light" panose="02010600030101010101" pitchFamily="2" charset="-122"/>
                          <a:ea typeface="等线 Light" panose="02010600030101010101" pitchFamily="2" charset="-122"/>
                        </a:rPr>
                        <a:t> process ID</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56</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openat</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Open a</a:t>
                      </a:r>
                      <a:r>
                        <a:rPr lang="en-US" altLang="zh-CN" sz="1200" baseline="0" dirty="0">
                          <a:latin typeface="等线 Light" panose="02010600030101010101" pitchFamily="2" charset="-122"/>
                          <a:ea typeface="等线 Light" panose="02010600030101010101" pitchFamily="2" charset="-122"/>
                        </a:rPr>
                        <a:t> file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214</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brk</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等线 Light" panose="02010600030101010101" pitchFamily="2" charset="-122"/>
                          <a:ea typeface="等线 Light" panose="02010600030101010101" pitchFamily="2" charset="-122"/>
                        </a:rPr>
                        <a:t>Set the top of heap</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57</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close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Close a file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215</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munmap</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err="1">
                          <a:latin typeface="等线 Light" panose="02010600030101010101" pitchFamily="2" charset="-122"/>
                          <a:ea typeface="等线 Light" panose="02010600030101010101" pitchFamily="2" charset="-122"/>
                        </a:rPr>
                        <a:t>Unmap</a:t>
                      </a:r>
                      <a:r>
                        <a:rPr lang="en-US" altLang="zh-CN" sz="1200" dirty="0">
                          <a:latin typeface="等线 Light" panose="02010600030101010101" pitchFamily="2" charset="-122"/>
                          <a:ea typeface="等线 Light" panose="02010600030101010101" pitchFamily="2" charset="-122"/>
                        </a:rPr>
                        <a:t> a file from memory</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63</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read</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Read a file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220</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clone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Create a process</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64</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write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Write a file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221</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execve</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Execute a program</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80</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fstat</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Get</a:t>
                      </a:r>
                      <a:r>
                        <a:rPr lang="en-US" altLang="zh-CN" sz="1200" baseline="0" dirty="0">
                          <a:latin typeface="等线 Light" panose="02010600030101010101" pitchFamily="2" charset="-122"/>
                          <a:ea typeface="等线 Light" panose="02010600030101010101" pitchFamily="2" charset="-122"/>
                        </a:rPr>
                        <a:t> file status</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222</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err="1">
                          <a:latin typeface="等线 Light" panose="02010600030101010101" pitchFamily="2" charset="-122"/>
                          <a:ea typeface="等线 Light" panose="02010600030101010101" pitchFamily="2" charset="-122"/>
                        </a:rPr>
                        <a:t>mmap</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Map a</a:t>
                      </a:r>
                      <a:r>
                        <a:rPr lang="en-US" altLang="zh-CN" sz="1200" baseline="0" dirty="0">
                          <a:latin typeface="等线 Light" panose="02010600030101010101" pitchFamily="2" charset="-122"/>
                          <a:ea typeface="等线 Light" panose="02010600030101010101" pitchFamily="2" charset="-122"/>
                        </a:rPr>
                        <a:t> </a:t>
                      </a:r>
                      <a:r>
                        <a:rPr lang="en-US" altLang="zh-CN" sz="1200" dirty="0">
                          <a:latin typeface="等线 Light" panose="02010600030101010101" pitchFamily="2" charset="-122"/>
                          <a:ea typeface="等线 Light" panose="02010600030101010101" pitchFamily="2" charset="-122"/>
                        </a:rPr>
                        <a:t>file</a:t>
                      </a:r>
                      <a:r>
                        <a:rPr lang="en-US" altLang="zh-CN" sz="1200" baseline="0" dirty="0">
                          <a:latin typeface="等线 Light" panose="02010600030101010101" pitchFamily="2" charset="-122"/>
                          <a:ea typeface="等线 Light" panose="02010600030101010101" pitchFamily="2" charset="-122"/>
                        </a:rPr>
                        <a:t> into memory</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288059">
                <a:tc>
                  <a:txBody>
                    <a:bodyPr/>
                    <a:lstStyle/>
                    <a:p>
                      <a:pPr algn="ctr"/>
                      <a:r>
                        <a:rPr lang="en-US" altLang="zh-CN" sz="1200" dirty="0">
                          <a:latin typeface="等线 Light" panose="02010600030101010101" pitchFamily="2" charset="-122"/>
                          <a:ea typeface="等线 Light" panose="02010600030101010101" pitchFamily="2" charset="-122"/>
                        </a:rPr>
                        <a:t>93</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_exit</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Terminate</a:t>
                      </a:r>
                      <a:r>
                        <a:rPr lang="en-US" altLang="zh-CN" sz="1200" baseline="0" dirty="0">
                          <a:latin typeface="等线 Light" panose="02010600030101010101" pitchFamily="2" charset="-122"/>
                          <a:ea typeface="等线 Light" panose="02010600030101010101" pitchFamily="2" charset="-122"/>
                        </a:rPr>
                        <a:t> the process</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dirty="0">
                          <a:latin typeface="等线 Light" panose="02010600030101010101" pitchFamily="2" charset="-122"/>
                          <a:ea typeface="等线 Light" panose="02010600030101010101" pitchFamily="2" charset="-122"/>
                        </a:rPr>
                        <a:t>260</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altLang="zh-CN" sz="1200">
                          <a:latin typeface="等线 Light" panose="02010600030101010101" pitchFamily="2" charset="-122"/>
                          <a:ea typeface="等线 Light" panose="02010600030101010101" pitchFamily="2" charset="-122"/>
                        </a:rPr>
                        <a:t>wait4</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ltLang="zh-CN" sz="1200" dirty="0">
                          <a:latin typeface="等线 Light" panose="02010600030101010101" pitchFamily="2" charset="-122"/>
                          <a:ea typeface="等线 Light" panose="02010600030101010101" pitchFamily="2" charset="-122"/>
                        </a:rPr>
                        <a:t>Wait for process to stop</a:t>
                      </a: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r h="288059">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9"/>
                  </a:ext>
                </a:extLst>
              </a:tr>
              <a:tr h="288059">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zh-CN" altLang="en-US" sz="1200" dirty="0">
                        <a:latin typeface="等线 Light" panose="02010600030101010101" pitchFamily="2" charset="-122"/>
                        <a:ea typeface="等线 Light" panose="02010600030101010101" pitchFamily="2" charset="-122"/>
                      </a:endParaRPr>
                    </a:p>
                  </a:txBody>
                  <a:tcPr marL="51439" marR="51439" marT="17616" marB="17616"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093496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90CF89-8B97-9A45-ABF7-2DA8A11D0A1C}"/>
              </a:ext>
            </a:extLst>
          </p:cNvPr>
          <p:cNvSpPr>
            <a:spLocks noGrp="1"/>
          </p:cNvSpPr>
          <p:nvPr>
            <p:ph type="title"/>
          </p:nvPr>
        </p:nvSpPr>
        <p:spPr/>
        <p:txBody>
          <a:bodyPr/>
          <a:lstStyle/>
          <a:p>
            <a:r>
              <a:rPr kumimoji="1" lang="zh-CN" altLang="en-US" dirty="0"/>
              <a:t>系统调用例子</a:t>
            </a:r>
          </a:p>
        </p:txBody>
      </p:sp>
      <p:sp>
        <p:nvSpPr>
          <p:cNvPr id="4" name="Rectangle 3">
            <a:extLst>
              <a:ext uri="{FF2B5EF4-FFF2-40B4-BE49-F238E27FC236}">
                <a16:creationId xmlns:a16="http://schemas.microsoft.com/office/drawing/2014/main" id="{5702F75D-9AC5-A640-B6BA-1D523AD61EDC}"/>
              </a:ext>
            </a:extLst>
          </p:cNvPr>
          <p:cNvSpPr txBox="1">
            <a:spLocks noChangeArrowheads="1"/>
          </p:cNvSpPr>
          <p:nvPr/>
        </p:nvSpPr>
        <p:spPr>
          <a:xfrm>
            <a:off x="466725" y="1273324"/>
            <a:ext cx="8210550" cy="3429000"/>
          </a:xfrm>
          <a:prstGeom prst="rect">
            <a:avLst/>
          </a:prstGeom>
        </p:spPr>
        <p:txBody>
          <a:bodyPr/>
          <a:lst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1 	.section .rodata</a:t>
            </a:r>
          </a:p>
          <a:p>
            <a:pPr>
              <a:lnSpc>
                <a:spcPct val="100000"/>
              </a:lnSpc>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2 	.LC0:</a:t>
            </a:r>
          </a:p>
          <a:p>
            <a:pPr>
              <a:lnSpc>
                <a:spcPct val="100000"/>
              </a:lnSpc>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3 		.string "hello, world\n"</a:t>
            </a:r>
          </a:p>
          <a:p>
            <a:pPr>
              <a:lnSpc>
                <a:spcPct val="100000"/>
              </a:lnSpc>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4 	.text</a:t>
            </a:r>
          </a:p>
          <a:p>
            <a:pPr>
              <a:lnSpc>
                <a:spcPct val="100000"/>
              </a:lnSpc>
              <a:buFontTx/>
              <a:buNone/>
            </a:pPr>
            <a:r>
              <a:rPr lang="da-DK" altLang="zh-CN" sz="2400" dirty="0">
                <a:latin typeface="Courier New" panose="02070309020205020404" pitchFamily="49" charset="0"/>
                <a:ea typeface="宋体" panose="02010600030101010101" pitchFamily="2" charset="-122"/>
                <a:cs typeface="Courier New" panose="02070309020205020404" pitchFamily="49" charset="0"/>
              </a:rPr>
              <a:t>5    .</a:t>
            </a:r>
            <a:r>
              <a:rPr lang="da-DK" altLang="zh-CN" sz="2400" dirty="0" err="1">
                <a:latin typeface="Courier New" panose="02070309020205020404" pitchFamily="49" charset="0"/>
                <a:ea typeface="宋体" panose="02010600030101010101" pitchFamily="2" charset="-122"/>
                <a:cs typeface="Courier New" panose="02070309020205020404" pitchFamily="49" charset="0"/>
              </a:rPr>
              <a:t>align</a:t>
            </a:r>
            <a:r>
              <a:rPr lang="da-DK" altLang="zh-CN" sz="2400" dirty="0">
                <a:latin typeface="Courier New" panose="02070309020205020404" pitchFamily="49" charset="0"/>
                <a:ea typeface="宋体" panose="02010600030101010101" pitchFamily="2" charset="-122"/>
                <a:cs typeface="Courier New" panose="02070309020205020404" pitchFamily="49" charset="0"/>
              </a:rPr>
              <a:t> 2</a:t>
            </a:r>
          </a:p>
          <a:p>
            <a:pPr>
              <a:lnSpc>
                <a:spcPct val="100000"/>
              </a:lnSpc>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6 	.global main</a:t>
            </a:r>
          </a:p>
          <a:p>
            <a:pPr>
              <a:lnSpc>
                <a:spcPct val="100000"/>
              </a:lnSpc>
              <a:buFontTx/>
              <a:buNone/>
            </a:pPr>
            <a:r>
              <a:rPr lang="en-US" altLang="zh-CN" sz="2400" dirty="0">
                <a:latin typeface="Courier New" panose="02070309020205020404" pitchFamily="49" charset="0"/>
                <a:ea typeface="宋体" panose="02010600030101010101" pitchFamily="2" charset="-122"/>
                <a:cs typeface="Courier New" panose="02070309020205020404" pitchFamily="49" charset="0"/>
              </a:rPr>
              <a:t>7 	.type main, %function</a:t>
            </a:r>
          </a:p>
          <a:p>
            <a:pPr>
              <a:lnSpc>
                <a:spcPct val="100000"/>
              </a:lnSpc>
              <a:buFontTx/>
              <a:buAutoNum type="arabicPlain" startAt="8"/>
            </a:pPr>
            <a:r>
              <a:rPr lang="en-US" altLang="zh-CN" sz="2400" dirty="0">
                <a:latin typeface="Courier New" panose="02070309020205020404" pitchFamily="49" charset="0"/>
                <a:ea typeface="宋体" panose="02010600030101010101" pitchFamily="2" charset="-122"/>
                <a:cs typeface="Courier New" panose="02070309020205020404" pitchFamily="49" charset="0"/>
              </a:rPr>
              <a:t>main:</a:t>
            </a:r>
          </a:p>
        </p:txBody>
      </p:sp>
    </p:spTree>
    <p:extLst>
      <p:ext uri="{BB962C8B-B14F-4D97-AF65-F5344CB8AC3E}">
        <p14:creationId xmlns:p14="http://schemas.microsoft.com/office/powerpoint/2010/main" val="21481519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9A727-E218-1145-98BF-2DE93D8FE631}"/>
              </a:ext>
            </a:extLst>
          </p:cNvPr>
          <p:cNvSpPr>
            <a:spLocks noGrp="1"/>
          </p:cNvSpPr>
          <p:nvPr>
            <p:ph type="title"/>
          </p:nvPr>
        </p:nvSpPr>
        <p:spPr/>
        <p:txBody>
          <a:bodyPr/>
          <a:lstStyle/>
          <a:p>
            <a:r>
              <a:rPr kumimoji="1" lang="zh-CN" altLang="en-US" dirty="0"/>
              <a:t>系统调用例子</a:t>
            </a:r>
          </a:p>
        </p:txBody>
      </p:sp>
      <p:sp>
        <p:nvSpPr>
          <p:cNvPr id="3" name="Rectangle 3">
            <a:extLst>
              <a:ext uri="{FF2B5EF4-FFF2-40B4-BE49-F238E27FC236}">
                <a16:creationId xmlns:a16="http://schemas.microsoft.com/office/drawing/2014/main" id="{5FB2C2CE-301F-B648-9F60-853C420E41B0}"/>
              </a:ext>
            </a:extLst>
          </p:cNvPr>
          <p:cNvSpPr txBox="1">
            <a:spLocks noChangeArrowheads="1"/>
          </p:cNvSpPr>
          <p:nvPr/>
        </p:nvSpPr>
        <p:spPr>
          <a:xfrm>
            <a:off x="285750" y="1524000"/>
            <a:ext cx="8705850" cy="4038600"/>
          </a:xfrm>
          <a:prstGeom prst="rect">
            <a:avLst/>
          </a:prstGeom>
        </p:spPr>
        <p:txBody>
          <a:bodyPr/>
          <a:lst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500"/>
              </a:lnSpc>
              <a:buFontTx/>
              <a:buNone/>
              <a:defRPr/>
            </a:pPr>
            <a:r>
              <a:rPr lang="en-US" altLang="zh-CN" sz="2000" i="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First, call write(1, "hello, world\n", 13)</a:t>
            </a:r>
          </a:p>
          <a:p>
            <a:pPr>
              <a:lnSpc>
                <a:spcPts val="1500"/>
              </a:lnSpc>
              <a:buFontTx/>
              <a:buNone/>
              <a:defRPr/>
            </a:pPr>
            <a:r>
              <a:rPr lang="en-US" altLang="zh-CN" sz="2000" dirty="0">
                <a:latin typeface="Courier New" panose="02070309020205020404" pitchFamily="49" charset="0"/>
                <a:ea typeface="宋体" panose="02010600030101010101" pitchFamily="2" charset="-122"/>
                <a:cs typeface="Courier New" panose="02070309020205020404" pitchFamily="49" charset="0"/>
              </a:rPr>
              <a:t>9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movq</a:t>
            </a:r>
            <a:r>
              <a:rPr lang="en-US" altLang="zh-CN" sz="2000" dirty="0">
                <a:latin typeface="Courier New" panose="02070309020205020404" pitchFamily="49" charset="0"/>
                <a:ea typeface="宋体" panose="02010600030101010101" pitchFamily="2" charset="-122"/>
                <a:cs typeface="Courier New" panose="02070309020205020404" pitchFamily="49" charset="0"/>
              </a:rPr>
              <a:t> 	x8, #0x40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write is system call 64</a:t>
            </a:r>
          </a:p>
          <a:p>
            <a:pPr>
              <a:lnSpc>
                <a:spcPts val="1500"/>
              </a:lnSpc>
              <a:buFontTx/>
              <a:buNone/>
              <a:defRPr/>
            </a:pPr>
            <a:r>
              <a:rPr lang="en-US" altLang="zh-CN" sz="2000" dirty="0">
                <a:latin typeface="Courier New" panose="02070309020205020404" pitchFamily="49" charset="0"/>
                <a:ea typeface="宋体" panose="02010600030101010101" pitchFamily="2" charset="-122"/>
                <a:cs typeface="Courier New" panose="02070309020205020404" pitchFamily="49" charset="0"/>
              </a:rPr>
              <a:t>10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movq</a:t>
            </a:r>
            <a:r>
              <a:rPr lang="en-US" altLang="zh-CN" sz="2000" dirty="0">
                <a:latin typeface="Courier New" panose="02070309020205020404" pitchFamily="49" charset="0"/>
                <a:ea typeface="宋体" panose="02010600030101010101" pitchFamily="2" charset="-122"/>
                <a:cs typeface="Courier New" panose="02070309020205020404" pitchFamily="49" charset="0"/>
              </a:rPr>
              <a:t> 	x0, #0x1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Arg1:stdout has descriptor 1</a:t>
            </a:r>
          </a:p>
          <a:p>
            <a:pPr marL="457200" indent="-457200">
              <a:lnSpc>
                <a:spcPts val="1500"/>
              </a:lnSpc>
              <a:buFontTx/>
              <a:buAutoNum type="arabicPlain" startAt="11"/>
              <a:defRPr/>
            </a:pPr>
            <a:r>
              <a:rPr lang="zh-CN" altLang="en-US" sz="2000" dirty="0">
                <a:latin typeface="Courier New" panose="02070309020205020404" pitchFamily="49" charset="0"/>
                <a:ea typeface="宋体" panose="02010600030101010101" pitchFamily="2" charset="-122"/>
                <a:cs typeface="Courier New" panose="02070309020205020404" pitchFamily="49" charset="0"/>
              </a:rPr>
              <a:t>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adrp</a:t>
            </a:r>
            <a:r>
              <a:rPr lang="en-US" altLang="zh-CN" sz="2000" dirty="0">
                <a:latin typeface="Courier New" panose="02070309020205020404" pitchFamily="49" charset="0"/>
                <a:ea typeface="宋体" panose="02010600030101010101" pitchFamily="2" charset="-122"/>
                <a:cs typeface="Courier New" panose="02070309020205020404" pitchFamily="49" charset="0"/>
              </a:rPr>
              <a:t> 	x3, .LC0  	</a:t>
            </a:r>
            <a:endPar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marL="457200" indent="-457200">
              <a:lnSpc>
                <a:spcPts val="1500"/>
              </a:lnSpc>
              <a:buFontTx/>
              <a:buAutoNum type="arabicPlain" startAt="11"/>
              <a:defRPr/>
            </a:pPr>
            <a:r>
              <a:rPr lang="zh-CN" altLang="en-US" sz="2000" dirty="0">
                <a:latin typeface="Courier New" panose="02070309020205020404" pitchFamily="49" charset="0"/>
                <a:ea typeface="宋体" panose="02010600030101010101" pitchFamily="2" charset="-122"/>
                <a:cs typeface="Courier New" panose="02070309020205020404" pitchFamily="49" charset="0"/>
              </a:rPr>
              <a:t>   </a:t>
            </a:r>
            <a:r>
              <a:rPr lang="en-US" altLang="zh-CN" sz="2000" dirty="0">
                <a:latin typeface="Courier New" panose="02070309020205020404" pitchFamily="49" charset="0"/>
                <a:ea typeface="宋体" panose="02010600030101010101" pitchFamily="2" charset="-122"/>
                <a:cs typeface="Courier New" panose="02070309020205020404" pitchFamily="49" charset="0"/>
              </a:rPr>
              <a:t>add x1,x3,:lo12:.LC0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Arg2:Hello world string</a:t>
            </a:r>
          </a:p>
          <a:p>
            <a:pPr>
              <a:lnSpc>
                <a:spcPts val="1500"/>
              </a:lnSpc>
              <a:buFontTx/>
              <a:buNone/>
              <a:defRPr/>
            </a:pPr>
            <a:r>
              <a:rPr lang="en-US" altLang="zh-CN" sz="2000" dirty="0">
                <a:latin typeface="Courier New" panose="02070309020205020404" pitchFamily="49" charset="0"/>
                <a:ea typeface="宋体" panose="02010600030101010101" pitchFamily="2" charset="-122"/>
                <a:cs typeface="Courier New" panose="02070309020205020404" pitchFamily="49" charset="0"/>
              </a:rPr>
              <a:t>12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movq</a:t>
            </a:r>
            <a:r>
              <a:rPr lang="en-US" altLang="zh-CN" sz="2000" dirty="0">
                <a:latin typeface="Courier New" panose="02070309020205020404" pitchFamily="49" charset="0"/>
                <a:ea typeface="宋体" panose="02010600030101010101" pitchFamily="2" charset="-122"/>
                <a:cs typeface="Courier New" panose="02070309020205020404" pitchFamily="49" charset="0"/>
              </a:rPr>
              <a:t> 	x2, #0xd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Arg3:string length</a:t>
            </a:r>
            <a:endParaRPr lang="en-US" altLang="zh-CN" sz="2000" i="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a:lnSpc>
                <a:spcPts val="1500"/>
              </a:lnSpc>
              <a:buFontTx/>
              <a:buNone/>
              <a:defRPr/>
            </a:pPr>
            <a:r>
              <a:rPr lang="en-US" altLang="zh-CN" sz="2000" dirty="0">
                <a:latin typeface="Courier New" panose="02070309020205020404" pitchFamily="49" charset="0"/>
                <a:ea typeface="宋体" panose="02010600030101010101" pitchFamily="2" charset="-122"/>
                <a:cs typeface="Courier New" panose="02070309020205020404" pitchFamily="49" charset="0"/>
              </a:rPr>
              <a:t>13 	svc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Make the system call</a:t>
            </a:r>
            <a:endParaRPr lang="en-US" altLang="zh-CN" sz="2000" i="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a:lnSpc>
                <a:spcPts val="1500"/>
              </a:lnSpc>
              <a:buFontTx/>
              <a:buNone/>
              <a:defRPr/>
            </a:pPr>
            <a:r>
              <a:rPr lang="en-US" altLang="zh-CN" sz="2000" i="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Next, call exit(0)</a:t>
            </a:r>
          </a:p>
          <a:p>
            <a:pPr>
              <a:lnSpc>
                <a:spcPts val="1500"/>
              </a:lnSpc>
              <a:buFontTx/>
              <a:buNone/>
              <a:defRPr/>
            </a:pPr>
            <a:r>
              <a:rPr lang="en-US" altLang="zh-CN" sz="2000" dirty="0">
                <a:latin typeface="Courier New" panose="02070309020205020404" pitchFamily="49" charset="0"/>
                <a:ea typeface="宋体" panose="02010600030101010101" pitchFamily="2" charset="-122"/>
                <a:cs typeface="Courier New" panose="02070309020205020404" pitchFamily="49" charset="0"/>
              </a:rPr>
              <a:t>14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movq</a:t>
            </a:r>
            <a:r>
              <a:rPr lang="en-US" altLang="zh-CN" sz="2000" dirty="0">
                <a:latin typeface="Courier New" panose="02070309020205020404" pitchFamily="49" charset="0"/>
                <a:ea typeface="宋体" panose="02010600030101010101" pitchFamily="2" charset="-122"/>
                <a:cs typeface="Courier New" panose="02070309020205020404" pitchFamily="49" charset="0"/>
              </a:rPr>
              <a:t> 	x8, #0x5d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_exit is system call 93</a:t>
            </a:r>
          </a:p>
          <a:p>
            <a:pPr>
              <a:lnSpc>
                <a:spcPts val="1500"/>
              </a:lnSpc>
              <a:buFontTx/>
              <a:buNone/>
              <a:defRPr/>
            </a:pPr>
            <a:r>
              <a:rPr lang="en-US" altLang="zh-CN" sz="2000" dirty="0">
                <a:latin typeface="Courier New" panose="02070309020205020404" pitchFamily="49" charset="0"/>
                <a:ea typeface="宋体" panose="02010600030101010101" pitchFamily="2" charset="-122"/>
                <a:cs typeface="Courier New" panose="02070309020205020404" pitchFamily="49" charset="0"/>
              </a:rPr>
              <a:t>15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movq</a:t>
            </a:r>
            <a:r>
              <a:rPr lang="en-US" altLang="zh-CN" sz="2000" dirty="0">
                <a:latin typeface="Courier New" panose="02070309020205020404" pitchFamily="49" charset="0"/>
                <a:ea typeface="宋体" panose="02010600030101010101" pitchFamily="2" charset="-122"/>
                <a:cs typeface="Courier New" panose="02070309020205020404" pitchFamily="49" charset="0"/>
              </a:rPr>
              <a:t> 	x0, #0x0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Arg1:exit status is 0</a:t>
            </a:r>
          </a:p>
          <a:p>
            <a:pPr>
              <a:lnSpc>
                <a:spcPts val="1500"/>
              </a:lnSpc>
              <a:buFontTx/>
              <a:buNone/>
              <a:defRPr/>
            </a:pPr>
            <a:r>
              <a:rPr lang="en-US" altLang="zh-CN" sz="2000" dirty="0">
                <a:latin typeface="Courier New" panose="02070309020205020404" pitchFamily="49" charset="0"/>
                <a:ea typeface="宋体" panose="02010600030101010101" pitchFamily="2" charset="-122"/>
                <a:cs typeface="Courier New" panose="02070309020205020404" pitchFamily="49" charset="0"/>
              </a:rPr>
              <a:t>16 	svc 		  	   </a:t>
            </a:r>
            <a:r>
              <a:rPr lang="en-US" altLang="zh-CN" sz="1800" i="1" dirty="0">
                <a:solidFill>
                  <a:srgbClr val="00B050"/>
                </a:solidFill>
                <a:latin typeface="Courier New" panose="02070309020205020404" pitchFamily="49" charset="0"/>
                <a:ea typeface="宋体" panose="02010600030101010101" pitchFamily="2" charset="-122"/>
                <a:cs typeface="Courier New" panose="02070309020205020404" pitchFamily="49" charset="0"/>
              </a:rPr>
              <a:t>Make the system call</a:t>
            </a:r>
            <a:endParaRPr lang="en-US" altLang="zh-CN" sz="2000"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25172778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17707A-529B-D740-BE43-B947975FCF63}"/>
              </a:ext>
            </a:extLst>
          </p:cNvPr>
          <p:cNvSpPr>
            <a:spLocks noGrp="1"/>
          </p:cNvSpPr>
          <p:nvPr>
            <p:ph type="title"/>
          </p:nvPr>
        </p:nvSpPr>
        <p:spPr/>
        <p:txBody>
          <a:bodyPr/>
          <a:lstStyle/>
          <a:p>
            <a:r>
              <a:rPr kumimoji="1" lang="zh-CN" altLang="en-US" dirty="0"/>
              <a:t>系统调用的参数传递</a:t>
            </a:r>
          </a:p>
        </p:txBody>
      </p:sp>
      <p:sp>
        <p:nvSpPr>
          <p:cNvPr id="3" name="内容占位符 2">
            <a:extLst>
              <a:ext uri="{FF2B5EF4-FFF2-40B4-BE49-F238E27FC236}">
                <a16:creationId xmlns:a16="http://schemas.microsoft.com/office/drawing/2014/main" id="{92C10FC3-6776-A64E-BC46-7F249891FF78}"/>
              </a:ext>
            </a:extLst>
          </p:cNvPr>
          <p:cNvSpPr>
            <a:spLocks noGrp="1"/>
          </p:cNvSpPr>
          <p:nvPr>
            <p:ph idx="1"/>
          </p:nvPr>
        </p:nvSpPr>
        <p:spPr/>
        <p:txBody>
          <a:bodyPr/>
          <a:lstStyle/>
          <a:p>
            <a:r>
              <a:rPr lang="zh-CN" altLang="en-US" dirty="0"/>
              <a:t>最多允许</a:t>
            </a:r>
            <a:r>
              <a:rPr lang="en-US" altLang="zh-CN" dirty="0"/>
              <a:t>8</a:t>
            </a:r>
            <a:r>
              <a:rPr lang="zh-CN" altLang="en-US" dirty="0"/>
              <a:t>个参数</a:t>
            </a:r>
            <a:endParaRPr lang="en-US" altLang="zh-CN" dirty="0"/>
          </a:p>
          <a:p>
            <a:pPr lvl="1"/>
            <a:r>
              <a:rPr lang="en-US" altLang="zh-CN" dirty="0"/>
              <a:t>x0-x7</a:t>
            </a:r>
            <a:r>
              <a:rPr lang="zh-CN" altLang="en-US" dirty="0"/>
              <a:t>寄存器</a:t>
            </a:r>
            <a:endParaRPr lang="en-US" altLang="zh-CN" dirty="0"/>
          </a:p>
          <a:p>
            <a:pPr lvl="1"/>
            <a:r>
              <a:rPr lang="en-US" altLang="zh-CN" dirty="0"/>
              <a:t>x8</a:t>
            </a:r>
            <a:r>
              <a:rPr lang="zh-CN" altLang="en-US" dirty="0"/>
              <a:t>用于存放系统调用编号</a:t>
            </a:r>
            <a:endParaRPr lang="en-US" altLang="zh-CN" dirty="0"/>
          </a:p>
          <a:p>
            <a:r>
              <a:rPr lang="zh-CN" altLang="en-US" dirty="0"/>
              <a:t>调用者保存的寄存器必须在用户态保存</a:t>
            </a:r>
            <a:endParaRPr lang="en-US" altLang="zh-CN" dirty="0"/>
          </a:p>
          <a:p>
            <a:r>
              <a:rPr lang="zh-CN" altLang="en-US" dirty="0"/>
              <a:t>返回值存放于</a:t>
            </a:r>
            <a:r>
              <a:rPr lang="en-US" altLang="zh-CN" dirty="0"/>
              <a:t>x0</a:t>
            </a:r>
            <a:r>
              <a:rPr lang="zh-CN" altLang="en-US" dirty="0"/>
              <a:t>寄存器中</a:t>
            </a:r>
          </a:p>
        </p:txBody>
      </p:sp>
      <p:grpSp>
        <p:nvGrpSpPr>
          <p:cNvPr id="4" name="组合 2">
            <a:extLst>
              <a:ext uri="{FF2B5EF4-FFF2-40B4-BE49-F238E27FC236}">
                <a16:creationId xmlns:a16="http://schemas.microsoft.com/office/drawing/2014/main" id="{A6232F3D-52DE-2C42-A188-AEC073FEDFF7}"/>
              </a:ext>
            </a:extLst>
          </p:cNvPr>
          <p:cNvGrpSpPr>
            <a:grpSpLocks/>
          </p:cNvGrpSpPr>
          <p:nvPr/>
        </p:nvGrpSpPr>
        <p:grpSpPr bwMode="auto">
          <a:xfrm>
            <a:off x="1403648" y="4179206"/>
            <a:ext cx="5160962" cy="1547812"/>
            <a:chOff x="1995126" y="4260645"/>
            <a:chExt cx="6882197" cy="2063530"/>
          </a:xfrm>
        </p:grpSpPr>
        <p:sp>
          <p:nvSpPr>
            <p:cNvPr id="5" name="Rectangle 5">
              <a:extLst>
                <a:ext uri="{FF2B5EF4-FFF2-40B4-BE49-F238E27FC236}">
                  <a16:creationId xmlns:a16="http://schemas.microsoft.com/office/drawing/2014/main" id="{8FE45552-2F54-9048-AC36-D1765217F58D}"/>
                </a:ext>
              </a:extLst>
            </p:cNvPr>
            <p:cNvSpPr>
              <a:spLocks noChangeArrowheads="1"/>
            </p:cNvSpPr>
            <p:nvPr/>
          </p:nvSpPr>
          <p:spPr bwMode="auto">
            <a:xfrm>
              <a:off x="1995126" y="4260645"/>
              <a:ext cx="1106202" cy="45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59" tIns="33335" rIns="67859" bIns="33335">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800" dirty="0">
                  <a:latin typeface="Arial" panose="020B0604020202020204" pitchFamily="34" charset="0"/>
                </a:rPr>
                <a:t>用户态</a:t>
              </a:r>
              <a:endParaRPr lang="en-US" altLang="zh-CN" sz="1800" dirty="0">
                <a:latin typeface="Arial" panose="020B0604020202020204" pitchFamily="34" charset="0"/>
              </a:endParaRPr>
            </a:p>
          </p:txBody>
        </p:sp>
        <p:sp>
          <p:nvSpPr>
            <p:cNvPr id="6" name="Rectangle 6">
              <a:extLst>
                <a:ext uri="{FF2B5EF4-FFF2-40B4-BE49-F238E27FC236}">
                  <a16:creationId xmlns:a16="http://schemas.microsoft.com/office/drawing/2014/main" id="{9E3A88DE-6E8D-FF4E-ACA6-72787252E2B9}"/>
                </a:ext>
              </a:extLst>
            </p:cNvPr>
            <p:cNvSpPr>
              <a:spLocks noChangeArrowheads="1"/>
            </p:cNvSpPr>
            <p:nvPr/>
          </p:nvSpPr>
          <p:spPr bwMode="auto">
            <a:xfrm>
              <a:off x="5616574" y="4414838"/>
              <a:ext cx="1106202" cy="45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59" tIns="33335" rIns="67859" bIns="33335">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800" dirty="0">
                  <a:latin typeface="Arial" panose="020B0604020202020204" pitchFamily="34" charset="0"/>
                </a:rPr>
                <a:t>内核态</a:t>
              </a:r>
              <a:endParaRPr lang="en-US" altLang="zh-CN" sz="1800" dirty="0">
                <a:latin typeface="Arial" panose="020B0604020202020204" pitchFamily="34" charset="0"/>
              </a:endParaRPr>
            </a:p>
          </p:txBody>
        </p:sp>
        <p:sp>
          <p:nvSpPr>
            <p:cNvPr id="7" name="Line 7">
              <a:extLst>
                <a:ext uri="{FF2B5EF4-FFF2-40B4-BE49-F238E27FC236}">
                  <a16:creationId xmlns:a16="http://schemas.microsoft.com/office/drawing/2014/main" id="{6EE9D883-6409-1540-AA0C-552AA997458C}"/>
                </a:ext>
              </a:extLst>
            </p:cNvPr>
            <p:cNvSpPr>
              <a:spLocks noChangeShapeType="1"/>
            </p:cNvSpPr>
            <p:nvPr/>
          </p:nvSpPr>
          <p:spPr bwMode="auto">
            <a:xfrm>
              <a:off x="3125788" y="4795838"/>
              <a:ext cx="0" cy="36353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8">
              <a:extLst>
                <a:ext uri="{FF2B5EF4-FFF2-40B4-BE49-F238E27FC236}">
                  <a16:creationId xmlns:a16="http://schemas.microsoft.com/office/drawing/2014/main" id="{0EC68EC2-0B15-D34C-81D1-7A7E4444695F}"/>
                </a:ext>
              </a:extLst>
            </p:cNvPr>
            <p:cNvSpPr>
              <a:spLocks noChangeShapeType="1"/>
            </p:cNvSpPr>
            <p:nvPr/>
          </p:nvSpPr>
          <p:spPr bwMode="auto">
            <a:xfrm>
              <a:off x="3132138" y="5165725"/>
              <a:ext cx="28067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9">
              <a:extLst>
                <a:ext uri="{FF2B5EF4-FFF2-40B4-BE49-F238E27FC236}">
                  <a16:creationId xmlns:a16="http://schemas.microsoft.com/office/drawing/2014/main" id="{26812408-75D8-404D-B817-3A0D58C9AFC3}"/>
                </a:ext>
              </a:extLst>
            </p:cNvPr>
            <p:cNvSpPr>
              <a:spLocks noChangeShapeType="1"/>
            </p:cNvSpPr>
            <p:nvPr/>
          </p:nvSpPr>
          <p:spPr bwMode="auto">
            <a:xfrm>
              <a:off x="5945188" y="5172075"/>
              <a:ext cx="0" cy="5969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0">
              <a:extLst>
                <a:ext uri="{FF2B5EF4-FFF2-40B4-BE49-F238E27FC236}">
                  <a16:creationId xmlns:a16="http://schemas.microsoft.com/office/drawing/2014/main" id="{B41F6D40-6456-4E45-8195-25371F2A1962}"/>
                </a:ext>
              </a:extLst>
            </p:cNvPr>
            <p:cNvSpPr>
              <a:spLocks noChangeShapeType="1"/>
            </p:cNvSpPr>
            <p:nvPr/>
          </p:nvSpPr>
          <p:spPr bwMode="auto">
            <a:xfrm flipH="1" flipV="1">
              <a:off x="3125788" y="5329237"/>
              <a:ext cx="2825750" cy="45243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1">
              <a:extLst>
                <a:ext uri="{FF2B5EF4-FFF2-40B4-BE49-F238E27FC236}">
                  <a16:creationId xmlns:a16="http://schemas.microsoft.com/office/drawing/2014/main" id="{B60CF470-9072-4C48-91DE-97DB1F5773FD}"/>
                </a:ext>
              </a:extLst>
            </p:cNvPr>
            <p:cNvSpPr>
              <a:spLocks noChangeShapeType="1"/>
            </p:cNvSpPr>
            <p:nvPr/>
          </p:nvSpPr>
          <p:spPr bwMode="auto">
            <a:xfrm>
              <a:off x="3125788" y="5322888"/>
              <a:ext cx="6350" cy="69691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Rectangle 13">
              <a:extLst>
                <a:ext uri="{FF2B5EF4-FFF2-40B4-BE49-F238E27FC236}">
                  <a16:creationId xmlns:a16="http://schemas.microsoft.com/office/drawing/2014/main" id="{61CD1B7F-5E26-D24C-BEF0-BC0BEAE34222}"/>
                </a:ext>
              </a:extLst>
            </p:cNvPr>
            <p:cNvSpPr>
              <a:spLocks noChangeArrowheads="1"/>
            </p:cNvSpPr>
            <p:nvPr/>
          </p:nvSpPr>
          <p:spPr bwMode="auto">
            <a:xfrm>
              <a:off x="5943601" y="5257800"/>
              <a:ext cx="2933722" cy="459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800" b="0" i="1" dirty="0">
                  <a:latin typeface="Arial" panose="020B0604020202020204" pitchFamily="34" charset="0"/>
                </a:rPr>
                <a:t>系统调用代码</a:t>
              </a:r>
              <a:endParaRPr lang="en-US" altLang="zh-CN" sz="1800" b="0" i="1" dirty="0">
                <a:latin typeface="Arial" panose="020B0604020202020204" pitchFamily="34" charset="0"/>
              </a:endParaRPr>
            </a:p>
          </p:txBody>
        </p:sp>
        <p:sp>
          <p:nvSpPr>
            <p:cNvPr id="13" name="Rectangle 14">
              <a:extLst>
                <a:ext uri="{FF2B5EF4-FFF2-40B4-BE49-F238E27FC236}">
                  <a16:creationId xmlns:a16="http://schemas.microsoft.com/office/drawing/2014/main" id="{67DAE1D5-24A5-1243-91C2-8028ECD12E50}"/>
                </a:ext>
              </a:extLst>
            </p:cNvPr>
            <p:cNvSpPr>
              <a:spLocks noChangeArrowheads="1"/>
            </p:cNvSpPr>
            <p:nvPr/>
          </p:nvSpPr>
          <p:spPr bwMode="auto">
            <a:xfrm>
              <a:off x="5562183" y="5864908"/>
              <a:ext cx="711294" cy="459267"/>
            </a:xfrm>
            <a:prstGeom prst="rect">
              <a:avLst/>
            </a:prstGeom>
            <a:noFill/>
            <a:ln>
              <a:noFill/>
            </a:ln>
          </p:spPr>
          <p:txBody>
            <a:bodyPr wrap="none" lIns="67859" tIns="33335" rIns="67859" bIns="33335">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defRPr/>
              </a:pPr>
              <a:r>
                <a:rPr lang="en-US" altLang="zh-CN" sz="1800" b="0" dirty="0" err="1">
                  <a:latin typeface="Arial" panose="020B0604020202020204" pitchFamily="34" charset="0"/>
                </a:rPr>
                <a:t>eret</a:t>
              </a:r>
              <a:endParaRPr lang="en-US" altLang="zh-CN" sz="1350" b="0" dirty="0">
                <a:latin typeface="Arial" panose="020B0604020202020204" pitchFamily="34" charset="0"/>
              </a:endParaRPr>
            </a:p>
          </p:txBody>
        </p:sp>
        <p:sp>
          <p:nvSpPr>
            <p:cNvPr id="14" name="Text Box 16">
              <a:extLst>
                <a:ext uri="{FF2B5EF4-FFF2-40B4-BE49-F238E27FC236}">
                  <a16:creationId xmlns:a16="http://schemas.microsoft.com/office/drawing/2014/main" id="{06ACBF27-656F-4942-B8FE-03618D30DD10}"/>
                </a:ext>
              </a:extLst>
            </p:cNvPr>
            <p:cNvSpPr txBox="1">
              <a:spLocks noChangeArrowheads="1"/>
            </p:cNvSpPr>
            <p:nvPr/>
          </p:nvSpPr>
          <p:spPr bwMode="auto">
            <a:xfrm>
              <a:off x="2017790" y="4699001"/>
              <a:ext cx="707981" cy="492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b="0">
                  <a:latin typeface="Arial" panose="020B0604020202020204" pitchFamily="34" charset="0"/>
                </a:rPr>
                <a:t>svc</a:t>
              </a:r>
            </a:p>
          </p:txBody>
        </p:sp>
        <p:sp>
          <p:nvSpPr>
            <p:cNvPr id="15" name="Text Box 17">
              <a:extLst>
                <a:ext uri="{FF2B5EF4-FFF2-40B4-BE49-F238E27FC236}">
                  <a16:creationId xmlns:a16="http://schemas.microsoft.com/office/drawing/2014/main" id="{73CF394E-29EF-DE4A-852B-983677512451}"/>
                </a:ext>
              </a:extLst>
            </p:cNvPr>
            <p:cNvSpPr txBox="1">
              <a:spLocks noChangeArrowheads="1"/>
            </p:cNvSpPr>
            <p:nvPr/>
          </p:nvSpPr>
          <p:spPr bwMode="auto">
            <a:xfrm>
              <a:off x="2165350" y="5181600"/>
              <a:ext cx="853273"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dirty="0">
                  <a:latin typeface="Times New Roman" panose="02020603050405020304" pitchFamily="18" charset="0"/>
                  <a:cs typeface="Times New Roman" panose="02020603050405020304" pitchFamily="18" charset="0"/>
                </a:rPr>
                <a:t>I</a:t>
              </a:r>
              <a:r>
                <a:rPr lang="en-US" altLang="zh-CN" sz="2000" baseline="-25000" dirty="0">
                  <a:latin typeface="Times New Roman" panose="02020603050405020304" pitchFamily="18" charset="0"/>
                  <a:cs typeface="Times New Roman" panose="02020603050405020304" pitchFamily="18" charset="0"/>
                </a:rPr>
                <a:t> next</a:t>
              </a:r>
              <a:endParaRPr lang="en-US" altLang="zh-CN" sz="1400" baseline="-25000" dirty="0">
                <a:latin typeface="Times New Roman" panose="02020603050405020304" pitchFamily="18" charset="0"/>
                <a:cs typeface="Times New Roman" panose="02020603050405020304" pitchFamily="18" charset="0"/>
              </a:endParaRPr>
            </a:p>
          </p:txBody>
        </p:sp>
      </p:grpSp>
      <p:sp>
        <p:nvSpPr>
          <p:cNvPr id="16" name="灯片编号占位符 15">
            <a:extLst>
              <a:ext uri="{FF2B5EF4-FFF2-40B4-BE49-F238E27FC236}">
                <a16:creationId xmlns:a16="http://schemas.microsoft.com/office/drawing/2014/main" id="{86628819-021F-A646-A639-2F6FDF22AFD7}"/>
              </a:ext>
            </a:extLst>
          </p:cNvPr>
          <p:cNvSpPr>
            <a:spLocks noGrp="1"/>
          </p:cNvSpPr>
          <p:nvPr>
            <p:ph type="sldNum" sz="quarter" idx="12"/>
          </p:nvPr>
        </p:nvSpPr>
        <p:spPr/>
        <p:txBody>
          <a:bodyPr/>
          <a:lstStyle/>
          <a:p>
            <a:fld id="{ADE361C3-C043-4A6E-BDCE-8DA1E7D90A3B}" type="slidenum">
              <a:rPr lang="zh-CN" altLang="en-US" smtClean="0"/>
              <a:t>68</a:t>
            </a:fld>
            <a:endParaRPr lang="zh-CN" altLang="en-US"/>
          </a:p>
        </p:txBody>
      </p:sp>
    </p:spTree>
    <p:extLst>
      <p:ext uri="{BB962C8B-B14F-4D97-AF65-F5344CB8AC3E}">
        <p14:creationId xmlns:p14="http://schemas.microsoft.com/office/powerpoint/2010/main" val="5454857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A79BD1-26D1-EE4D-A28B-038035C9BD90}"/>
              </a:ext>
            </a:extLst>
          </p:cNvPr>
          <p:cNvSpPr>
            <a:spLocks noGrp="1"/>
          </p:cNvSpPr>
          <p:nvPr>
            <p:ph type="title"/>
          </p:nvPr>
        </p:nvSpPr>
        <p:spPr/>
        <p:txBody>
          <a:bodyPr/>
          <a:lstStyle/>
          <a:p>
            <a:r>
              <a:rPr kumimoji="1" lang="zh-CN" altLang="en-US" dirty="0"/>
              <a:t>系统调用返回值与</a:t>
            </a:r>
            <a:r>
              <a:rPr kumimoji="1" lang="en-US" altLang="zh-CN" dirty="0" err="1"/>
              <a:t>errno</a:t>
            </a:r>
            <a:endParaRPr kumimoji="1" lang="zh-CN" altLang="en-US" dirty="0"/>
          </a:p>
        </p:txBody>
      </p:sp>
      <p:sp>
        <p:nvSpPr>
          <p:cNvPr id="3" name="内容占位符 2">
            <a:extLst>
              <a:ext uri="{FF2B5EF4-FFF2-40B4-BE49-F238E27FC236}">
                <a16:creationId xmlns:a16="http://schemas.microsoft.com/office/drawing/2014/main" id="{82A98E72-A554-1743-BC96-44ED228E0065}"/>
              </a:ext>
            </a:extLst>
          </p:cNvPr>
          <p:cNvSpPr>
            <a:spLocks noGrp="1"/>
          </p:cNvSpPr>
          <p:nvPr>
            <p:ph idx="1"/>
          </p:nvPr>
        </p:nvSpPr>
        <p:spPr/>
        <p:txBody>
          <a:bodyPr/>
          <a:lstStyle/>
          <a:p>
            <a:r>
              <a:rPr kumimoji="1" lang="zh-CN" altLang="en-US" dirty="0"/>
              <a:t>一般库函数</a:t>
            </a:r>
            <a:endParaRPr kumimoji="1" lang="en-US" altLang="zh-CN" dirty="0"/>
          </a:p>
          <a:p>
            <a:pPr lvl="1"/>
            <a:r>
              <a:rPr kumimoji="1" lang="zh-CN" altLang="en-US" dirty="0"/>
              <a:t>出错时返回</a:t>
            </a:r>
            <a:r>
              <a:rPr kumimoji="1" lang="en-US" altLang="zh-CN" dirty="0"/>
              <a:t>-1</a:t>
            </a:r>
            <a:r>
              <a:rPr kumimoji="1" lang="zh-CN" altLang="en-US" dirty="0"/>
              <a:t>，并设置全局变量</a:t>
            </a:r>
            <a:r>
              <a:rPr kumimoji="1" lang="en-US" altLang="zh-CN" dirty="0" err="1"/>
              <a:t>errno</a:t>
            </a:r>
            <a:r>
              <a:rPr kumimoji="1" lang="zh-CN" altLang="en-US" dirty="0"/>
              <a:t>为具体的错误值</a:t>
            </a:r>
            <a:endParaRPr kumimoji="1" lang="en-US" altLang="zh-CN" dirty="0"/>
          </a:p>
          <a:p>
            <a:r>
              <a:rPr kumimoji="1" lang="zh-CN" altLang="en-US" dirty="0"/>
              <a:t>系统调用通过寄存器向应用传递返回值</a:t>
            </a:r>
            <a:endParaRPr kumimoji="1" lang="en-US" altLang="zh-CN" dirty="0"/>
          </a:p>
          <a:p>
            <a:pPr lvl="1"/>
            <a:r>
              <a:rPr kumimoji="1" lang="zh-CN" altLang="en-US" dirty="0"/>
              <a:t>一般设置为 </a:t>
            </a:r>
            <a:r>
              <a:rPr kumimoji="1" lang="en-US" altLang="zh-CN" dirty="0"/>
              <a:t>-</a:t>
            </a:r>
            <a:r>
              <a:rPr kumimoji="1" lang="en-US" altLang="zh-CN" dirty="0" err="1"/>
              <a:t>errno</a:t>
            </a:r>
            <a:endParaRPr kumimoji="1" lang="en-US" altLang="zh-CN" dirty="0"/>
          </a:p>
          <a:p>
            <a:pPr lvl="1"/>
            <a:r>
              <a:rPr kumimoji="1" lang="zh-CN" altLang="en-US" dirty="0"/>
              <a:t>库对系统调用的 </a:t>
            </a:r>
            <a:r>
              <a:rPr kumimoji="1" lang="en-US" altLang="zh-CN" dirty="0"/>
              <a:t>wrapper</a:t>
            </a:r>
            <a:r>
              <a:rPr kumimoji="1" lang="zh-CN" altLang="en-US" dirty="0"/>
              <a:t> </a:t>
            </a:r>
            <a:r>
              <a:rPr kumimoji="1" lang="en-US" altLang="zh-CN" dirty="0"/>
              <a:t>code</a:t>
            </a:r>
            <a:r>
              <a:rPr kumimoji="1" lang="zh-CN" altLang="en-US" dirty="0"/>
              <a:t> 会将系统调用的返回值转换为库函数形式的返回值</a:t>
            </a:r>
          </a:p>
        </p:txBody>
      </p:sp>
      <p:sp>
        <p:nvSpPr>
          <p:cNvPr id="4" name="灯片编号占位符 3">
            <a:extLst>
              <a:ext uri="{FF2B5EF4-FFF2-40B4-BE49-F238E27FC236}">
                <a16:creationId xmlns:a16="http://schemas.microsoft.com/office/drawing/2014/main" id="{B16EBD6E-31AE-5E49-A7E6-4EEEEA580B4B}"/>
              </a:ext>
            </a:extLst>
          </p:cNvPr>
          <p:cNvSpPr>
            <a:spLocks noGrp="1"/>
          </p:cNvSpPr>
          <p:nvPr>
            <p:ph type="sldNum" sz="quarter" idx="12"/>
          </p:nvPr>
        </p:nvSpPr>
        <p:spPr/>
        <p:txBody>
          <a:bodyPr/>
          <a:lstStyle/>
          <a:p>
            <a:fld id="{ADE361C3-C043-4A6E-BDCE-8DA1E7D90A3B}" type="slidenum">
              <a:rPr lang="zh-CN" altLang="en-US" smtClean="0"/>
              <a:t>69</a:t>
            </a:fld>
            <a:endParaRPr lang="zh-CN" altLang="en-US"/>
          </a:p>
        </p:txBody>
      </p:sp>
    </p:spTree>
    <p:extLst>
      <p:ext uri="{BB962C8B-B14F-4D97-AF65-F5344CB8AC3E}">
        <p14:creationId xmlns:p14="http://schemas.microsoft.com/office/powerpoint/2010/main" val="1294577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337514-7389-5A46-972A-E4990EE696D9}"/>
              </a:ext>
            </a:extLst>
          </p:cNvPr>
          <p:cNvSpPr>
            <a:spLocks noGrp="1"/>
          </p:cNvSpPr>
          <p:nvPr>
            <p:ph type="title"/>
          </p:nvPr>
        </p:nvSpPr>
        <p:spPr/>
        <p:txBody>
          <a:bodyPr/>
          <a:lstStyle/>
          <a:p>
            <a:r>
              <a:rPr kumimoji="1" lang="en-US" altLang="zh-CN" dirty="0"/>
              <a:t>Q:</a:t>
            </a:r>
            <a:r>
              <a:rPr kumimoji="1" lang="zh-CN" altLang="en-US" dirty="0"/>
              <a:t> 如果寄存器放不下参数怎么办？</a:t>
            </a:r>
          </a:p>
        </p:txBody>
      </p:sp>
      <p:sp>
        <p:nvSpPr>
          <p:cNvPr id="3" name="内容占位符 2">
            <a:extLst>
              <a:ext uri="{FF2B5EF4-FFF2-40B4-BE49-F238E27FC236}">
                <a16:creationId xmlns:a16="http://schemas.microsoft.com/office/drawing/2014/main" id="{AE468689-2ACB-2F45-B093-53777F58CE2F}"/>
              </a:ext>
            </a:extLst>
          </p:cNvPr>
          <p:cNvSpPr>
            <a:spLocks noGrp="1"/>
          </p:cNvSpPr>
          <p:nvPr>
            <p:ph idx="1"/>
          </p:nvPr>
        </p:nvSpPr>
        <p:spPr/>
        <p:txBody>
          <a:bodyPr>
            <a:normAutofit/>
          </a:bodyPr>
          <a:lstStyle/>
          <a:p>
            <a:r>
              <a:rPr kumimoji="1" lang="zh-CN" altLang="en-US" sz="2400" dirty="0"/>
              <a:t>寄存器放不下，只能通过内存传参</a:t>
            </a:r>
            <a:endParaRPr kumimoji="1" lang="en-US" altLang="zh-CN" sz="2400" dirty="0"/>
          </a:p>
          <a:p>
            <a:pPr lvl="1"/>
            <a:r>
              <a:rPr kumimoji="1" lang="zh-CN" altLang="en-US" sz="2000" dirty="0"/>
              <a:t>将参数放在内存中，将指针放在寄存器中传给内核</a:t>
            </a:r>
            <a:endParaRPr kumimoji="1" lang="en-US" altLang="zh-CN" sz="2000" dirty="0"/>
          </a:p>
          <a:p>
            <a:pPr lvl="1"/>
            <a:r>
              <a:rPr kumimoji="1" lang="zh-CN" altLang="en-US" sz="2000" dirty="0"/>
              <a:t>内核通过指针访问相关参数</a:t>
            </a:r>
            <a:endParaRPr kumimoji="1" lang="en-US" altLang="zh-CN" sz="2000" dirty="0"/>
          </a:p>
        </p:txBody>
      </p:sp>
      <p:sp>
        <p:nvSpPr>
          <p:cNvPr id="4" name="灯片编号占位符 3">
            <a:extLst>
              <a:ext uri="{FF2B5EF4-FFF2-40B4-BE49-F238E27FC236}">
                <a16:creationId xmlns:a16="http://schemas.microsoft.com/office/drawing/2014/main" id="{AA395E8F-1D90-C94E-AE15-B85743630EFF}"/>
              </a:ext>
            </a:extLst>
          </p:cNvPr>
          <p:cNvSpPr>
            <a:spLocks noGrp="1"/>
          </p:cNvSpPr>
          <p:nvPr>
            <p:ph type="sldNum" sz="quarter" idx="12"/>
          </p:nvPr>
        </p:nvSpPr>
        <p:spPr/>
        <p:txBody>
          <a:bodyPr/>
          <a:lstStyle/>
          <a:p>
            <a:fld id="{ADE361C3-C043-4A6E-BDCE-8DA1E7D90A3B}" type="slidenum">
              <a:rPr lang="zh-CN" altLang="en-US" smtClean="0"/>
              <a:t>70</a:t>
            </a:fld>
            <a:endParaRPr lang="zh-CN" altLang="en-US"/>
          </a:p>
        </p:txBody>
      </p:sp>
    </p:spTree>
    <p:extLst>
      <p:ext uri="{BB962C8B-B14F-4D97-AF65-F5344CB8AC3E}">
        <p14:creationId xmlns:p14="http://schemas.microsoft.com/office/powerpoint/2010/main" val="2416182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4B1194-6EB9-6D47-B0A3-2D66C22BEA80}"/>
              </a:ext>
            </a:extLst>
          </p:cNvPr>
          <p:cNvSpPr>
            <a:spLocks noGrp="1"/>
          </p:cNvSpPr>
          <p:nvPr>
            <p:ph type="title"/>
          </p:nvPr>
        </p:nvSpPr>
        <p:spPr/>
        <p:txBody>
          <a:bodyPr/>
          <a:lstStyle/>
          <a:p>
            <a:r>
              <a:rPr kumimoji="1" lang="zh-CN" altLang="en-US" dirty="0"/>
              <a:t>如何跟踪系统调用？</a:t>
            </a:r>
          </a:p>
        </p:txBody>
      </p:sp>
      <p:sp>
        <p:nvSpPr>
          <p:cNvPr id="4" name="灯片编号占位符 3">
            <a:extLst>
              <a:ext uri="{FF2B5EF4-FFF2-40B4-BE49-F238E27FC236}">
                <a16:creationId xmlns:a16="http://schemas.microsoft.com/office/drawing/2014/main" id="{FCFC9842-3476-8F4C-9FBF-B98D243B41B8}"/>
              </a:ext>
            </a:extLst>
          </p:cNvPr>
          <p:cNvSpPr>
            <a:spLocks noGrp="1"/>
          </p:cNvSpPr>
          <p:nvPr>
            <p:ph type="sldNum" sz="quarter" idx="12"/>
          </p:nvPr>
        </p:nvSpPr>
        <p:spPr/>
        <p:txBody>
          <a:bodyPr/>
          <a:lstStyle/>
          <a:p>
            <a:fld id="{ADE361C3-C043-4A6E-BDCE-8DA1E7D90A3B}" type="slidenum">
              <a:rPr lang="zh-CN" altLang="en-US" smtClean="0"/>
              <a:t>71</a:t>
            </a:fld>
            <a:endParaRPr lang="zh-CN" altLang="en-US"/>
          </a:p>
        </p:txBody>
      </p:sp>
      <p:sp>
        <p:nvSpPr>
          <p:cNvPr id="5" name="内容占位符 2">
            <a:extLst>
              <a:ext uri="{FF2B5EF4-FFF2-40B4-BE49-F238E27FC236}">
                <a16:creationId xmlns:a16="http://schemas.microsoft.com/office/drawing/2014/main" id="{B34BE084-1540-884B-9E4C-7339A66A2F02}"/>
              </a:ext>
            </a:extLst>
          </p:cNvPr>
          <p:cNvSpPr>
            <a:spLocks noGrp="1"/>
          </p:cNvSpPr>
          <p:nvPr>
            <p:ph idx="1"/>
          </p:nvPr>
        </p:nvSpPr>
        <p:spPr>
          <a:xfrm>
            <a:off x="1187624" y="2653477"/>
            <a:ext cx="6688523" cy="2940327"/>
          </a:xfrm>
        </p:spPr>
        <p:txBody>
          <a:bodyPr>
            <a:noAutofit/>
          </a:bodyPr>
          <a:lstStyle/>
          <a:p>
            <a:pPr marL="0" indent="0">
              <a:lnSpc>
                <a:spcPct val="100000"/>
              </a:lnSpc>
              <a:spcBef>
                <a:spcPts val="600"/>
              </a:spcBef>
              <a:buNone/>
            </a:pPr>
            <a:r>
              <a:rPr kumimoji="1" lang="en-US" altLang="zh-CN" sz="1400" dirty="0" err="1">
                <a:latin typeface="Consolas" charset="0"/>
                <a:ea typeface="Consolas" charset="0"/>
                <a:cs typeface="Consolas" charset="0"/>
              </a:rPr>
              <a:t>execve</a:t>
            </a:r>
            <a:r>
              <a:rPr kumimoji="1" lang="en-US" altLang="zh-CN" sz="1400" dirty="0">
                <a:latin typeface="Consolas" charset="0"/>
                <a:ea typeface="Consolas" charset="0"/>
                <a:cs typeface="Consolas" charset="0"/>
              </a:rPr>
              <a:t>("./hello2", ["./hello2"], [/* 59 </a:t>
            </a:r>
            <a:r>
              <a:rPr kumimoji="1" lang="en-US" altLang="zh-CN" sz="1400" dirty="0" err="1">
                <a:latin typeface="Consolas" charset="0"/>
                <a:ea typeface="Consolas" charset="0"/>
                <a:cs typeface="Consolas" charset="0"/>
              </a:rPr>
              <a:t>vars</a:t>
            </a:r>
            <a:r>
              <a:rPr kumimoji="1" lang="en-US" altLang="zh-CN" sz="1400" dirty="0">
                <a:latin typeface="Consolas" charset="0"/>
                <a:ea typeface="Consolas" charset="0"/>
                <a:cs typeface="Consolas" charset="0"/>
              </a:rPr>
              <a:t> */]) = 0</a:t>
            </a:r>
            <a:endParaRPr kumimoji="1" lang="zh-CN" altLang="en-US" sz="1400" dirty="0">
              <a:latin typeface="Consolas" charset="0"/>
              <a:ea typeface="Consolas" charset="0"/>
              <a:cs typeface="Consolas" charset="0"/>
            </a:endParaRPr>
          </a:p>
          <a:p>
            <a:pPr marL="0" indent="0">
              <a:lnSpc>
                <a:spcPct val="100000"/>
              </a:lnSpc>
              <a:spcBef>
                <a:spcPts val="600"/>
              </a:spcBef>
              <a:buNone/>
            </a:pPr>
            <a:r>
              <a:rPr kumimoji="1" lang="en-US" altLang="zh-CN" sz="1400" dirty="0" err="1">
                <a:latin typeface="Consolas" charset="0"/>
                <a:ea typeface="Consolas" charset="0"/>
                <a:cs typeface="Consolas" charset="0"/>
              </a:rPr>
              <a:t>uname</a:t>
            </a:r>
            <a:r>
              <a:rPr kumimoji="1" lang="en-US" altLang="zh-CN" sz="1400" dirty="0">
                <a:latin typeface="Consolas" charset="0"/>
                <a:ea typeface="Consolas" charset="0"/>
                <a:cs typeface="Consolas" charset="0"/>
              </a:rPr>
              <a:t>({sys="Linux", node="kiwi", ...}) = 0 </a:t>
            </a:r>
            <a:endParaRPr kumimoji="1" lang="zh-CN" altLang="en-US" sz="1400" dirty="0">
              <a:latin typeface="Consolas" charset="0"/>
              <a:ea typeface="Consolas" charset="0"/>
              <a:cs typeface="Consolas" charset="0"/>
            </a:endParaRPr>
          </a:p>
          <a:p>
            <a:pPr marL="0" indent="0">
              <a:lnSpc>
                <a:spcPct val="100000"/>
              </a:lnSpc>
              <a:spcBef>
                <a:spcPts val="600"/>
              </a:spcBef>
              <a:buNone/>
            </a:pPr>
            <a:r>
              <a:rPr kumimoji="1" lang="en-US" altLang="zh-CN" sz="1400" dirty="0" err="1">
                <a:latin typeface="Consolas" charset="0"/>
                <a:ea typeface="Consolas" charset="0"/>
                <a:cs typeface="Consolas" charset="0"/>
              </a:rPr>
              <a:t>brk</a:t>
            </a:r>
            <a:r>
              <a:rPr kumimoji="1" lang="en-US" altLang="zh-CN" sz="1400" dirty="0">
                <a:latin typeface="Consolas" charset="0"/>
                <a:ea typeface="Consolas" charset="0"/>
                <a:cs typeface="Consolas" charset="0"/>
              </a:rPr>
              <a:t>(0) = 0xca9000 </a:t>
            </a:r>
            <a:endParaRPr kumimoji="1" lang="zh-CN" altLang="en-US" sz="1400" dirty="0">
              <a:latin typeface="Consolas" charset="0"/>
              <a:ea typeface="Consolas" charset="0"/>
              <a:cs typeface="Consolas" charset="0"/>
            </a:endParaRPr>
          </a:p>
          <a:p>
            <a:pPr marL="0" indent="0">
              <a:lnSpc>
                <a:spcPct val="100000"/>
              </a:lnSpc>
              <a:spcBef>
                <a:spcPts val="600"/>
              </a:spcBef>
              <a:buNone/>
            </a:pPr>
            <a:r>
              <a:rPr kumimoji="1" lang="en-US" altLang="zh-CN" sz="1400" dirty="0" err="1">
                <a:latin typeface="Consolas" charset="0"/>
                <a:ea typeface="Consolas" charset="0"/>
                <a:cs typeface="Consolas" charset="0"/>
              </a:rPr>
              <a:t>brk</a:t>
            </a:r>
            <a:r>
              <a:rPr kumimoji="1" lang="en-US" altLang="zh-CN" sz="1400" dirty="0">
                <a:latin typeface="Consolas" charset="0"/>
                <a:ea typeface="Consolas" charset="0"/>
                <a:cs typeface="Consolas" charset="0"/>
              </a:rPr>
              <a:t>(0xcaa1c0) = 0xcaa1c0</a:t>
            </a:r>
            <a:endParaRPr kumimoji="1" lang="zh-CN" altLang="en-US" sz="1400" dirty="0">
              <a:latin typeface="Consolas" charset="0"/>
              <a:ea typeface="Consolas" charset="0"/>
              <a:cs typeface="Consolas" charset="0"/>
            </a:endParaRPr>
          </a:p>
          <a:p>
            <a:pPr marL="0" indent="0">
              <a:lnSpc>
                <a:spcPct val="100000"/>
              </a:lnSpc>
              <a:spcBef>
                <a:spcPts val="600"/>
              </a:spcBef>
              <a:buNone/>
            </a:pPr>
            <a:r>
              <a:rPr kumimoji="1" lang="en-US" altLang="zh-CN" sz="1400" dirty="0" err="1">
                <a:latin typeface="Consolas" charset="0"/>
                <a:ea typeface="Consolas" charset="0"/>
                <a:cs typeface="Consolas" charset="0"/>
              </a:rPr>
              <a:t>arch_prctl</a:t>
            </a:r>
            <a:r>
              <a:rPr kumimoji="1" lang="en-US" altLang="zh-CN" sz="1400" dirty="0">
                <a:latin typeface="Consolas" charset="0"/>
                <a:ea typeface="Consolas" charset="0"/>
                <a:cs typeface="Consolas" charset="0"/>
              </a:rPr>
              <a:t>(ARCH_SET_FS, 0xca9880) = 0 </a:t>
            </a:r>
            <a:endParaRPr kumimoji="1" lang="zh-CN" altLang="en-US" sz="1400" dirty="0">
              <a:latin typeface="Consolas" charset="0"/>
              <a:ea typeface="Consolas" charset="0"/>
              <a:cs typeface="Consolas" charset="0"/>
            </a:endParaRPr>
          </a:p>
          <a:p>
            <a:pPr marL="0" indent="0">
              <a:lnSpc>
                <a:spcPct val="100000"/>
              </a:lnSpc>
              <a:spcBef>
                <a:spcPts val="600"/>
              </a:spcBef>
              <a:buNone/>
            </a:pPr>
            <a:r>
              <a:rPr kumimoji="1" lang="en-US" altLang="zh-CN" sz="1400" dirty="0" err="1">
                <a:latin typeface="Consolas" charset="0"/>
                <a:ea typeface="Consolas" charset="0"/>
                <a:cs typeface="Consolas" charset="0"/>
              </a:rPr>
              <a:t>brk</a:t>
            </a:r>
            <a:r>
              <a:rPr kumimoji="1" lang="en-US" altLang="zh-CN" sz="1400" dirty="0">
                <a:latin typeface="Consolas" charset="0"/>
                <a:ea typeface="Consolas" charset="0"/>
                <a:cs typeface="Consolas" charset="0"/>
              </a:rPr>
              <a:t>(0xccb1c0) = 0xccb1c0 </a:t>
            </a:r>
            <a:endParaRPr kumimoji="1" lang="zh-CN" altLang="en-US" sz="1400" dirty="0">
              <a:latin typeface="Consolas" charset="0"/>
              <a:ea typeface="Consolas" charset="0"/>
              <a:cs typeface="Consolas" charset="0"/>
            </a:endParaRPr>
          </a:p>
          <a:p>
            <a:pPr marL="0" indent="0">
              <a:lnSpc>
                <a:spcPct val="100000"/>
              </a:lnSpc>
              <a:spcBef>
                <a:spcPts val="600"/>
              </a:spcBef>
              <a:buNone/>
            </a:pPr>
            <a:r>
              <a:rPr kumimoji="1" lang="en-US" altLang="zh-CN" sz="1400" dirty="0" err="1">
                <a:latin typeface="Consolas" charset="0"/>
                <a:ea typeface="Consolas" charset="0"/>
                <a:cs typeface="Consolas" charset="0"/>
              </a:rPr>
              <a:t>brk</a:t>
            </a:r>
            <a:r>
              <a:rPr kumimoji="1" lang="en-US" altLang="zh-CN" sz="1400" dirty="0">
                <a:latin typeface="Consolas" charset="0"/>
                <a:ea typeface="Consolas" charset="0"/>
                <a:cs typeface="Consolas" charset="0"/>
              </a:rPr>
              <a:t>(0xccc000) = 0xccc000 </a:t>
            </a:r>
            <a:endParaRPr kumimoji="1" lang="zh-CN" altLang="en-US" sz="1400" dirty="0">
              <a:latin typeface="Consolas" charset="0"/>
              <a:ea typeface="Consolas" charset="0"/>
              <a:cs typeface="Consolas" charset="0"/>
            </a:endParaRPr>
          </a:p>
          <a:p>
            <a:pPr marL="0" indent="0">
              <a:lnSpc>
                <a:spcPct val="100000"/>
              </a:lnSpc>
              <a:spcBef>
                <a:spcPts val="600"/>
              </a:spcBef>
              <a:buNone/>
            </a:pPr>
            <a:r>
              <a:rPr kumimoji="1" lang="en-US" altLang="zh-CN" sz="1400" dirty="0">
                <a:solidFill>
                  <a:srgbClr val="FF0000"/>
                </a:solidFill>
                <a:latin typeface="Consolas" charset="0"/>
                <a:ea typeface="Consolas" charset="0"/>
                <a:cs typeface="Consolas" charset="0"/>
              </a:rPr>
              <a:t>write(1, "Hello world!\n", 13) = 13 </a:t>
            </a:r>
            <a:endParaRPr kumimoji="1" lang="zh-CN" altLang="en-US" sz="1400" dirty="0">
              <a:solidFill>
                <a:srgbClr val="FF0000"/>
              </a:solidFill>
              <a:latin typeface="Consolas" charset="0"/>
              <a:ea typeface="Consolas" charset="0"/>
              <a:cs typeface="Consolas" charset="0"/>
            </a:endParaRPr>
          </a:p>
          <a:p>
            <a:pPr marL="0" indent="0">
              <a:lnSpc>
                <a:spcPct val="100000"/>
              </a:lnSpc>
              <a:spcBef>
                <a:spcPts val="600"/>
              </a:spcBef>
              <a:buNone/>
            </a:pPr>
            <a:r>
              <a:rPr kumimoji="1" lang="en-US" altLang="zh-CN" sz="1400" dirty="0" err="1">
                <a:latin typeface="Consolas" charset="0"/>
                <a:ea typeface="Consolas" charset="0"/>
                <a:cs typeface="Consolas" charset="0"/>
              </a:rPr>
              <a:t>exit_group</a:t>
            </a:r>
            <a:r>
              <a:rPr kumimoji="1" lang="en-US" altLang="zh-CN" sz="1400" dirty="0">
                <a:latin typeface="Consolas" charset="0"/>
                <a:ea typeface="Consolas" charset="0"/>
                <a:cs typeface="Consolas" charset="0"/>
              </a:rPr>
              <a:t>(13) = ?</a:t>
            </a:r>
            <a:endParaRPr kumimoji="1" lang="zh-CN" altLang="en-US" sz="1400" dirty="0">
              <a:latin typeface="Consolas" charset="0"/>
              <a:ea typeface="Consolas" charset="0"/>
              <a:cs typeface="Consolas" charset="0"/>
            </a:endParaRPr>
          </a:p>
        </p:txBody>
      </p:sp>
      <p:sp>
        <p:nvSpPr>
          <p:cNvPr id="6" name="矩形 5">
            <a:extLst>
              <a:ext uri="{FF2B5EF4-FFF2-40B4-BE49-F238E27FC236}">
                <a16:creationId xmlns:a16="http://schemas.microsoft.com/office/drawing/2014/main" id="{79D025A4-26CB-EA47-A2D5-1E5D3C176704}"/>
              </a:ext>
            </a:extLst>
          </p:cNvPr>
          <p:cNvSpPr/>
          <p:nvPr/>
        </p:nvSpPr>
        <p:spPr>
          <a:xfrm>
            <a:off x="1187625" y="2173424"/>
            <a:ext cx="6180687" cy="307777"/>
          </a:xfrm>
          <a:prstGeom prst="rect">
            <a:avLst/>
          </a:prstGeom>
          <a:solidFill>
            <a:schemeClr val="tx1">
              <a:lumMod val="65000"/>
              <a:lumOff val="35000"/>
            </a:schemeClr>
          </a:solidFill>
        </p:spPr>
        <p:txBody>
          <a:bodyPr wrap="square">
            <a:spAutoFit/>
          </a:bodyPr>
          <a:lstStyle/>
          <a:p>
            <a:r>
              <a:rPr lang="en-US" altLang="zh-CN" sz="1400" dirty="0">
                <a:solidFill>
                  <a:schemeClr val="bg1">
                    <a:lumMod val="95000"/>
                  </a:schemeClr>
                </a:solidFill>
                <a:latin typeface="Consolas" charset="0"/>
                <a:ea typeface="Consolas" charset="0"/>
                <a:cs typeface="Consolas" charset="0"/>
              </a:rPr>
              <a:t>$</a:t>
            </a:r>
            <a:r>
              <a:rPr lang="zh-CN" altLang="en-US" sz="1400" dirty="0">
                <a:solidFill>
                  <a:schemeClr val="bg1">
                    <a:lumMod val="95000"/>
                  </a:schemeClr>
                </a:solidFill>
                <a:latin typeface="Consolas" charset="0"/>
                <a:ea typeface="Consolas" charset="0"/>
                <a:cs typeface="Consolas" charset="0"/>
              </a:rPr>
              <a:t> </a:t>
            </a:r>
            <a:r>
              <a:rPr lang="en-US" altLang="zh-CN" sz="1400" dirty="0" err="1">
                <a:solidFill>
                  <a:schemeClr val="bg1">
                    <a:lumMod val="95000"/>
                  </a:schemeClr>
                </a:solidFill>
                <a:latin typeface="Consolas" charset="0"/>
                <a:ea typeface="Consolas" charset="0"/>
                <a:cs typeface="Consolas" charset="0"/>
              </a:rPr>
              <a:t>strace</a:t>
            </a:r>
            <a:r>
              <a:rPr lang="en-US" altLang="zh-CN" sz="1400" dirty="0">
                <a:solidFill>
                  <a:schemeClr val="bg1">
                    <a:lumMod val="95000"/>
                  </a:schemeClr>
                </a:solidFill>
                <a:latin typeface="Consolas" charset="0"/>
                <a:ea typeface="Consolas" charset="0"/>
                <a:cs typeface="Consolas" charset="0"/>
              </a:rPr>
              <a:t> -o </a:t>
            </a:r>
            <a:r>
              <a:rPr lang="en-US" altLang="zh-CN" sz="1400" dirty="0" err="1">
                <a:solidFill>
                  <a:schemeClr val="bg1">
                    <a:lumMod val="95000"/>
                  </a:schemeClr>
                </a:solidFill>
                <a:latin typeface="Consolas" charset="0"/>
                <a:ea typeface="Consolas" charset="0"/>
                <a:cs typeface="Consolas" charset="0"/>
              </a:rPr>
              <a:t>hello.out</a:t>
            </a:r>
            <a:r>
              <a:rPr lang="en-US" altLang="zh-CN" sz="1400" dirty="0">
                <a:solidFill>
                  <a:schemeClr val="bg1">
                    <a:lumMod val="95000"/>
                  </a:schemeClr>
                </a:solidFill>
                <a:latin typeface="Consolas" charset="0"/>
                <a:ea typeface="Consolas" charset="0"/>
                <a:cs typeface="Consolas" charset="0"/>
              </a:rPr>
              <a:t> ./hello</a:t>
            </a:r>
            <a:endParaRPr lang="zh-CN" altLang="en-US" sz="1400" dirty="0">
              <a:solidFill>
                <a:schemeClr val="bg1">
                  <a:lumMod val="95000"/>
                </a:schemeClr>
              </a:solidFill>
              <a:latin typeface="Consolas" charset="0"/>
              <a:ea typeface="Consolas" charset="0"/>
              <a:cs typeface="Consolas" charset="0"/>
            </a:endParaRPr>
          </a:p>
        </p:txBody>
      </p:sp>
      <p:sp>
        <p:nvSpPr>
          <p:cNvPr id="7" name="矩形 6">
            <a:extLst>
              <a:ext uri="{FF2B5EF4-FFF2-40B4-BE49-F238E27FC236}">
                <a16:creationId xmlns:a16="http://schemas.microsoft.com/office/drawing/2014/main" id="{9FE28517-94CB-344E-A989-3BA4F0F0D952}"/>
              </a:ext>
            </a:extLst>
          </p:cNvPr>
          <p:cNvSpPr/>
          <p:nvPr/>
        </p:nvSpPr>
        <p:spPr>
          <a:xfrm>
            <a:off x="1187625" y="1246906"/>
            <a:ext cx="6180687" cy="738664"/>
          </a:xfrm>
          <a:prstGeom prst="rect">
            <a:avLst/>
          </a:prstGeom>
          <a:ln>
            <a:solidFill>
              <a:schemeClr val="tx1">
                <a:lumMod val="50000"/>
                <a:lumOff val="50000"/>
              </a:schemeClr>
            </a:solidFill>
          </a:ln>
        </p:spPr>
        <p:txBody>
          <a:bodyPr wrap="square">
            <a:spAutoFit/>
          </a:bodyPr>
          <a:lstStyle/>
          <a:p>
            <a:r>
              <a:rPr lang="en-US" altLang="zh-CN" sz="1400" dirty="0" err="1">
                <a:solidFill>
                  <a:srgbClr val="1A1A1A"/>
                </a:solidFill>
                <a:latin typeface="Consolas" charset="0"/>
                <a:ea typeface="Consolas" charset="0"/>
                <a:cs typeface="Consolas" charset="0"/>
              </a:rPr>
              <a:t>int</a:t>
            </a:r>
            <a:r>
              <a:rPr lang="en-US" altLang="zh-CN" sz="1400" dirty="0">
                <a:solidFill>
                  <a:srgbClr val="1A1A1A"/>
                </a:solidFill>
                <a:latin typeface="Consolas" charset="0"/>
                <a:ea typeface="Consolas" charset="0"/>
                <a:cs typeface="Consolas" charset="0"/>
              </a:rPr>
              <a:t> main() { </a:t>
            </a:r>
            <a:endParaRPr lang="zh-CN" altLang="en-US" sz="1400" dirty="0">
              <a:solidFill>
                <a:srgbClr val="1A1A1A"/>
              </a:solidFill>
              <a:latin typeface="Consolas" charset="0"/>
              <a:ea typeface="Consolas" charset="0"/>
              <a:cs typeface="Consolas" charset="0"/>
            </a:endParaRPr>
          </a:p>
          <a:p>
            <a:r>
              <a:rPr lang="zh-CN" altLang="en-US" sz="1400" dirty="0">
                <a:solidFill>
                  <a:srgbClr val="1A1A1A"/>
                </a:solidFill>
                <a:latin typeface="Consolas" charset="0"/>
                <a:ea typeface="Consolas" charset="0"/>
                <a:cs typeface="Consolas" charset="0"/>
              </a:rPr>
              <a:t>  </a:t>
            </a:r>
            <a:r>
              <a:rPr lang="en-US" altLang="zh-CN" sz="1400" dirty="0">
                <a:solidFill>
                  <a:srgbClr val="1A1A1A"/>
                </a:solidFill>
                <a:latin typeface="Consolas" charset="0"/>
                <a:ea typeface="Consolas" charset="0"/>
                <a:cs typeface="Consolas" charset="0"/>
              </a:rPr>
              <a:t>write(1, "Hello world!\n", 13); </a:t>
            </a:r>
            <a:endParaRPr lang="zh-CN" altLang="en-US" sz="1400" dirty="0">
              <a:solidFill>
                <a:srgbClr val="1A1A1A"/>
              </a:solidFill>
              <a:latin typeface="Consolas" charset="0"/>
              <a:ea typeface="Consolas" charset="0"/>
              <a:cs typeface="Consolas" charset="0"/>
            </a:endParaRPr>
          </a:p>
          <a:p>
            <a:r>
              <a:rPr lang="en-US" altLang="zh-CN" sz="1400" dirty="0">
                <a:solidFill>
                  <a:srgbClr val="1A1A1A"/>
                </a:solidFill>
                <a:latin typeface="Consolas" charset="0"/>
                <a:ea typeface="Consolas" charset="0"/>
                <a:cs typeface="Consolas" charset="0"/>
              </a:rPr>
              <a:t>}</a:t>
            </a:r>
            <a:endParaRPr lang="zh-CN" altLang="en-US" sz="1400" dirty="0">
              <a:latin typeface="Consolas" charset="0"/>
              <a:ea typeface="Consolas" charset="0"/>
              <a:cs typeface="Consolas" charset="0"/>
            </a:endParaRPr>
          </a:p>
        </p:txBody>
      </p:sp>
    </p:spTree>
    <p:extLst>
      <p:ext uri="{BB962C8B-B14F-4D97-AF65-F5344CB8AC3E}">
        <p14:creationId xmlns:p14="http://schemas.microsoft.com/office/powerpoint/2010/main" val="15964283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168763" y="3369545"/>
            <a:ext cx="446436" cy="928115"/>
          </a:xfrm>
          <a:prstGeom prst="roundRect">
            <a:avLst>
              <a:gd name="adj" fmla="val 1988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kumimoji="1" lang="zh-CN" altLang="en-US" sz="1667" dirty="0">
              <a:solidFill>
                <a:schemeClr val="accent1">
                  <a:lumMod val="50000"/>
                </a:schemeClr>
              </a:solidFill>
              <a:latin typeface="+mn-ea"/>
              <a:cs typeface="Arial" panose="020B0604020202020204" pitchFamily="34" charset="0"/>
            </a:endParaRPr>
          </a:p>
        </p:txBody>
      </p:sp>
      <p:sp>
        <p:nvSpPr>
          <p:cNvPr id="32" name="圆角矩形 31"/>
          <p:cNvSpPr/>
          <p:nvPr/>
        </p:nvSpPr>
        <p:spPr>
          <a:xfrm>
            <a:off x="2565392" y="2368335"/>
            <a:ext cx="446436" cy="1929325"/>
          </a:xfrm>
          <a:prstGeom prst="roundRect">
            <a:avLst>
              <a:gd name="adj" fmla="val 1988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kumimoji="1" lang="zh-CN" altLang="en-US" sz="1667" dirty="0">
              <a:solidFill>
                <a:schemeClr val="accent1">
                  <a:lumMod val="50000"/>
                </a:schemeClr>
              </a:solidFill>
              <a:latin typeface="+mn-ea"/>
              <a:cs typeface="Arial" panose="020B0604020202020204" pitchFamily="34" charset="0"/>
            </a:endParaRPr>
          </a:p>
        </p:txBody>
      </p:sp>
      <p:sp>
        <p:nvSpPr>
          <p:cNvPr id="2" name="标题 1"/>
          <p:cNvSpPr>
            <a:spLocks noGrp="1"/>
          </p:cNvSpPr>
          <p:nvPr>
            <p:ph type="title"/>
          </p:nvPr>
        </p:nvSpPr>
        <p:spPr/>
        <p:txBody>
          <a:bodyPr>
            <a:normAutofit/>
          </a:bodyPr>
          <a:lstStyle/>
          <a:p>
            <a:r>
              <a:rPr kumimoji="1" lang="zh-CN" altLang="en-US" dirty="0"/>
              <a:t>程序员角度看系统调用</a:t>
            </a:r>
          </a:p>
        </p:txBody>
      </p:sp>
      <p:cxnSp>
        <p:nvCxnSpPr>
          <p:cNvPr id="6" name="直线连接符 5"/>
          <p:cNvCxnSpPr/>
          <p:nvPr/>
        </p:nvCxnSpPr>
        <p:spPr>
          <a:xfrm>
            <a:off x="1571667" y="3937620"/>
            <a:ext cx="37804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线连接符 6"/>
          <p:cNvCxnSpPr/>
          <p:nvPr/>
        </p:nvCxnSpPr>
        <p:spPr>
          <a:xfrm>
            <a:off x="1571667" y="2857500"/>
            <a:ext cx="186020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线连接符 8"/>
          <p:cNvCxnSpPr/>
          <p:nvPr/>
        </p:nvCxnSpPr>
        <p:spPr>
          <a:xfrm>
            <a:off x="3431873" y="2857500"/>
            <a:ext cx="0" cy="108012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571667" y="3157534"/>
            <a:ext cx="1620180" cy="400110"/>
          </a:xfrm>
          <a:prstGeom prst="rect">
            <a:avLst/>
          </a:prstGeom>
          <a:noFill/>
        </p:spPr>
        <p:txBody>
          <a:bodyPr wrap="square" rtlCol="0">
            <a:spAutoFit/>
          </a:bodyPr>
          <a:lstStyle/>
          <a:p>
            <a:r>
              <a:rPr kumimoji="1" lang="zh-CN" altLang="en-US" sz="2000" dirty="0">
                <a:solidFill>
                  <a:schemeClr val="accent1">
                    <a:lumMod val="75000"/>
                  </a:schemeClr>
                </a:solidFill>
                <a:latin typeface="+mn-ea"/>
                <a:cs typeface="Arial" panose="020B0604020202020204" pitchFamily="34" charset="0"/>
              </a:rPr>
              <a:t>库</a:t>
            </a:r>
          </a:p>
        </p:txBody>
      </p:sp>
      <p:sp>
        <p:nvSpPr>
          <p:cNvPr id="13" name="文本框 12"/>
          <p:cNvSpPr txBox="1"/>
          <p:nvPr/>
        </p:nvSpPr>
        <p:spPr>
          <a:xfrm>
            <a:off x="1571667" y="4237653"/>
            <a:ext cx="1620180" cy="400110"/>
          </a:xfrm>
          <a:prstGeom prst="rect">
            <a:avLst/>
          </a:prstGeom>
          <a:noFill/>
        </p:spPr>
        <p:txBody>
          <a:bodyPr wrap="square" rtlCol="0">
            <a:spAutoFit/>
          </a:bodyPr>
          <a:lstStyle/>
          <a:p>
            <a:r>
              <a:rPr kumimoji="1" lang="zh-CN" altLang="en-US" sz="2000" dirty="0">
                <a:solidFill>
                  <a:schemeClr val="accent1">
                    <a:lumMod val="75000"/>
                  </a:schemeClr>
                </a:solidFill>
                <a:latin typeface="+mn-ea"/>
                <a:cs typeface="Arial" panose="020B0604020202020204" pitchFamily="34" charset="0"/>
              </a:rPr>
              <a:t>内核</a:t>
            </a:r>
          </a:p>
        </p:txBody>
      </p:sp>
      <p:sp>
        <p:nvSpPr>
          <p:cNvPr id="15" name="文本框 14"/>
          <p:cNvSpPr txBox="1"/>
          <p:nvPr/>
        </p:nvSpPr>
        <p:spPr>
          <a:xfrm>
            <a:off x="1571667" y="1932720"/>
            <a:ext cx="1620180" cy="400110"/>
          </a:xfrm>
          <a:prstGeom prst="rect">
            <a:avLst/>
          </a:prstGeom>
          <a:noFill/>
        </p:spPr>
        <p:txBody>
          <a:bodyPr wrap="square" rtlCol="0">
            <a:spAutoFit/>
          </a:bodyPr>
          <a:lstStyle/>
          <a:p>
            <a:r>
              <a:rPr kumimoji="1" lang="zh-CN" altLang="en-US" sz="2000" dirty="0">
                <a:solidFill>
                  <a:schemeClr val="accent1">
                    <a:lumMod val="75000"/>
                  </a:schemeClr>
                </a:solidFill>
                <a:latin typeface="+mn-ea"/>
                <a:cs typeface="Arial" panose="020B0604020202020204" pitchFamily="34" charset="0"/>
              </a:rPr>
              <a:t>应用</a:t>
            </a:r>
          </a:p>
        </p:txBody>
      </p:sp>
      <p:sp>
        <p:nvSpPr>
          <p:cNvPr id="20" name="下箭头 19"/>
          <p:cNvSpPr/>
          <p:nvPr/>
        </p:nvSpPr>
        <p:spPr>
          <a:xfrm>
            <a:off x="2651787" y="3808429"/>
            <a:ext cx="240027" cy="3646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500">
              <a:latin typeface="+mn-ea"/>
              <a:cs typeface="Arial" panose="020B0604020202020204" pitchFamily="34" charset="0"/>
            </a:endParaRPr>
          </a:p>
        </p:txBody>
      </p:sp>
      <p:sp>
        <p:nvSpPr>
          <p:cNvPr id="21" name="下箭头 20"/>
          <p:cNvSpPr/>
          <p:nvPr/>
        </p:nvSpPr>
        <p:spPr>
          <a:xfrm>
            <a:off x="4271967" y="3813019"/>
            <a:ext cx="240027" cy="3646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500">
              <a:latin typeface="+mn-ea"/>
              <a:cs typeface="Arial" panose="020B0604020202020204" pitchFamily="34" charset="0"/>
            </a:endParaRPr>
          </a:p>
        </p:txBody>
      </p:sp>
      <p:sp>
        <p:nvSpPr>
          <p:cNvPr id="31" name="下箭头 30"/>
          <p:cNvSpPr/>
          <p:nvPr/>
        </p:nvSpPr>
        <p:spPr>
          <a:xfrm>
            <a:off x="2651787" y="2735194"/>
            <a:ext cx="240027" cy="3646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500">
              <a:latin typeface="+mn-ea"/>
              <a:cs typeface="Arial" panose="020B0604020202020204" pitchFamily="34" charset="0"/>
            </a:endParaRPr>
          </a:p>
        </p:txBody>
      </p:sp>
      <p:sp>
        <p:nvSpPr>
          <p:cNvPr id="34" name="文本框 33"/>
          <p:cNvSpPr txBox="1"/>
          <p:nvPr/>
        </p:nvSpPr>
        <p:spPr>
          <a:xfrm>
            <a:off x="2569368" y="2374883"/>
            <a:ext cx="420047" cy="323165"/>
          </a:xfrm>
          <a:prstGeom prst="rect">
            <a:avLst/>
          </a:prstGeom>
          <a:noFill/>
        </p:spPr>
        <p:txBody>
          <a:bodyPr wrap="square" rtlCol="0">
            <a:spAutoFit/>
          </a:bodyPr>
          <a:lstStyle/>
          <a:p>
            <a:pPr algn="ctr"/>
            <a:r>
              <a:rPr kumimoji="1" lang="en-US" altLang="zh-CN" sz="1500" b="1" dirty="0">
                <a:solidFill>
                  <a:schemeClr val="accent1">
                    <a:lumMod val="75000"/>
                  </a:schemeClr>
                </a:solidFill>
                <a:latin typeface="+mn-ea"/>
                <a:cs typeface="Arial" panose="020B0604020202020204" pitchFamily="34" charset="0"/>
              </a:rPr>
              <a:t>1</a:t>
            </a:r>
            <a:endParaRPr kumimoji="1" lang="zh-CN" altLang="en-US" sz="1500" b="1" dirty="0">
              <a:solidFill>
                <a:schemeClr val="accent1">
                  <a:lumMod val="75000"/>
                </a:schemeClr>
              </a:solidFill>
              <a:latin typeface="+mn-ea"/>
              <a:cs typeface="Arial" panose="020B0604020202020204" pitchFamily="34" charset="0"/>
            </a:endParaRPr>
          </a:p>
        </p:txBody>
      </p:sp>
      <p:sp>
        <p:nvSpPr>
          <p:cNvPr id="35" name="文本框 34"/>
          <p:cNvSpPr txBox="1"/>
          <p:nvPr/>
        </p:nvSpPr>
        <p:spPr>
          <a:xfrm>
            <a:off x="4185571" y="3388366"/>
            <a:ext cx="420047" cy="323165"/>
          </a:xfrm>
          <a:prstGeom prst="rect">
            <a:avLst/>
          </a:prstGeom>
          <a:noFill/>
        </p:spPr>
        <p:txBody>
          <a:bodyPr wrap="square" rtlCol="0">
            <a:spAutoFit/>
          </a:bodyPr>
          <a:lstStyle/>
          <a:p>
            <a:pPr algn="ctr"/>
            <a:r>
              <a:rPr kumimoji="1" lang="en-US" altLang="zh-CN" sz="1500" b="1" dirty="0">
                <a:solidFill>
                  <a:schemeClr val="accent1">
                    <a:lumMod val="75000"/>
                  </a:schemeClr>
                </a:solidFill>
                <a:latin typeface="+mn-ea"/>
                <a:cs typeface="Arial" panose="020B0604020202020204" pitchFamily="34" charset="0"/>
              </a:rPr>
              <a:t>2</a:t>
            </a:r>
            <a:endParaRPr kumimoji="1" lang="zh-CN" altLang="en-US" sz="1500" b="1" dirty="0">
              <a:solidFill>
                <a:schemeClr val="accent1">
                  <a:lumMod val="75000"/>
                </a:schemeClr>
              </a:solidFill>
              <a:latin typeface="+mn-ea"/>
              <a:cs typeface="Arial" panose="020B0604020202020204" pitchFamily="34" charset="0"/>
            </a:endParaRPr>
          </a:p>
        </p:txBody>
      </p:sp>
      <p:sp>
        <p:nvSpPr>
          <p:cNvPr id="36" name="圆角矩形 35"/>
          <p:cNvSpPr/>
          <p:nvPr/>
        </p:nvSpPr>
        <p:spPr>
          <a:xfrm>
            <a:off x="3718713" y="1500019"/>
            <a:ext cx="1625783" cy="874863"/>
          </a:xfrm>
          <a:prstGeom prst="roundRect">
            <a:avLst>
              <a:gd name="adj" fmla="val 733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zh-CN" altLang="en-US" sz="1667" dirty="0">
                <a:solidFill>
                  <a:schemeClr val="accent1"/>
                </a:solidFill>
                <a:latin typeface="+mn-ea"/>
                <a:cs typeface="Arial" panose="020B0604020202020204" pitchFamily="34" charset="0"/>
              </a:rPr>
              <a:t>使用 </a:t>
            </a:r>
            <a:r>
              <a:rPr kumimoji="1" lang="en-US" altLang="zh-CN" sz="1667" dirty="0">
                <a:solidFill>
                  <a:schemeClr val="accent1"/>
                </a:solidFill>
                <a:latin typeface="+mn-ea"/>
                <a:cs typeface="Arial" panose="020B0604020202020204" pitchFamily="34" charset="0"/>
              </a:rPr>
              <a:t>C</a:t>
            </a:r>
            <a:r>
              <a:rPr kumimoji="1" lang="zh-CN" altLang="en-US" sz="1667" dirty="0">
                <a:solidFill>
                  <a:schemeClr val="accent1"/>
                </a:solidFill>
                <a:latin typeface="+mn-ea"/>
                <a:cs typeface="Arial" panose="020B0604020202020204" pitchFamily="34" charset="0"/>
              </a:rPr>
              <a:t> </a:t>
            </a:r>
            <a:r>
              <a:rPr kumimoji="1" lang="en-US" altLang="zh-CN" sz="1667" dirty="0">
                <a:solidFill>
                  <a:schemeClr val="accent1"/>
                </a:solidFill>
                <a:latin typeface="+mn-ea"/>
                <a:cs typeface="Arial" panose="020B0604020202020204" pitchFamily="34" charset="0"/>
              </a:rPr>
              <a:t>(</a:t>
            </a:r>
            <a:r>
              <a:rPr kumimoji="1" lang="en-US" altLang="zh-CN" sz="1667" dirty="0" err="1">
                <a:solidFill>
                  <a:schemeClr val="accent1"/>
                </a:solidFill>
                <a:latin typeface="+mn-ea"/>
                <a:cs typeface="Arial" panose="020B0604020202020204" pitchFamily="34" charset="0"/>
              </a:rPr>
              <a:t>glibc</a:t>
            </a:r>
            <a:r>
              <a:rPr kumimoji="1" lang="en-US" altLang="zh-CN" sz="1667" dirty="0">
                <a:solidFill>
                  <a:schemeClr val="accent1"/>
                </a:solidFill>
                <a:latin typeface="+mn-ea"/>
                <a:cs typeface="Arial" panose="020B0604020202020204" pitchFamily="34" charset="0"/>
              </a:rPr>
              <a:t>)</a:t>
            </a:r>
            <a:endParaRPr kumimoji="1" lang="zh-CN" altLang="en-US" sz="1667" baseline="30000" dirty="0">
              <a:solidFill>
                <a:schemeClr val="accent1"/>
              </a:solidFill>
              <a:latin typeface="+mn-ea"/>
              <a:cs typeface="Arial" panose="020B0604020202020204" pitchFamily="34" charset="0"/>
            </a:endParaRPr>
          </a:p>
          <a:p>
            <a:pPr>
              <a:lnSpc>
                <a:spcPct val="150000"/>
              </a:lnSpc>
            </a:pPr>
            <a:r>
              <a:rPr kumimoji="1" lang="en-US" altLang="zh-CN" sz="1667" dirty="0">
                <a:solidFill>
                  <a:schemeClr val="accent1"/>
                </a:solidFill>
                <a:latin typeface="+mn-ea"/>
                <a:cs typeface="Arial" panose="020B0604020202020204" pitchFamily="34" charset="0"/>
              </a:rPr>
              <a:t>E.g.,</a:t>
            </a:r>
            <a:r>
              <a:rPr kumimoji="1" lang="zh-CN" altLang="en-US" sz="1667" dirty="0">
                <a:solidFill>
                  <a:schemeClr val="accent1"/>
                </a:solidFill>
                <a:latin typeface="+mn-ea"/>
                <a:cs typeface="Arial" panose="020B0604020202020204" pitchFamily="34" charset="0"/>
              </a:rPr>
              <a:t> </a:t>
            </a:r>
            <a:r>
              <a:rPr kumimoji="1" lang="en-US" altLang="zh-CN" sz="1667" dirty="0">
                <a:solidFill>
                  <a:schemeClr val="accent1"/>
                </a:solidFill>
                <a:latin typeface="+mn-ea"/>
                <a:cs typeface="Arial" panose="020B0604020202020204" pitchFamily="34" charset="0"/>
              </a:rPr>
              <a:t>open()</a:t>
            </a:r>
            <a:endParaRPr kumimoji="1" lang="zh-CN" altLang="en-US" sz="1667" dirty="0">
              <a:solidFill>
                <a:schemeClr val="accent1"/>
              </a:solidFill>
              <a:latin typeface="+mn-ea"/>
              <a:cs typeface="Arial" panose="020B0604020202020204" pitchFamily="34" charset="0"/>
            </a:endParaRPr>
          </a:p>
        </p:txBody>
      </p:sp>
      <p:cxnSp>
        <p:nvCxnSpPr>
          <p:cNvPr id="37" name="直线连接符 36"/>
          <p:cNvCxnSpPr>
            <a:stCxn id="34" idx="3"/>
            <a:endCxn id="36" idx="1"/>
          </p:cNvCxnSpPr>
          <p:nvPr/>
        </p:nvCxnSpPr>
        <p:spPr>
          <a:xfrm flipV="1">
            <a:off x="2989415" y="1937451"/>
            <a:ext cx="729298" cy="59901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5352085" y="2504587"/>
            <a:ext cx="1380152" cy="874863"/>
          </a:xfrm>
          <a:prstGeom prst="roundRect">
            <a:avLst>
              <a:gd name="adj" fmla="val 733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zh-CN" altLang="en-US" sz="1667" dirty="0">
                <a:solidFill>
                  <a:schemeClr val="accent1"/>
                </a:solidFill>
                <a:latin typeface="+mn-ea"/>
                <a:cs typeface="Arial" panose="020B0604020202020204" pitchFamily="34" charset="0"/>
              </a:rPr>
              <a:t>使用汇编</a:t>
            </a:r>
          </a:p>
          <a:p>
            <a:pPr>
              <a:lnSpc>
                <a:spcPct val="150000"/>
              </a:lnSpc>
            </a:pPr>
            <a:r>
              <a:rPr kumimoji="1" lang="en-US" altLang="zh-CN" sz="1667" dirty="0">
                <a:solidFill>
                  <a:schemeClr val="accent1"/>
                </a:solidFill>
                <a:latin typeface="+mn-ea"/>
                <a:cs typeface="Arial" panose="020B0604020202020204" pitchFamily="34" charset="0"/>
              </a:rPr>
              <a:t>E.g.,</a:t>
            </a:r>
            <a:r>
              <a:rPr kumimoji="1" lang="zh-CN" altLang="en-US" sz="1667" dirty="0">
                <a:solidFill>
                  <a:schemeClr val="accent1"/>
                </a:solidFill>
                <a:latin typeface="+mn-ea"/>
                <a:cs typeface="Arial" panose="020B0604020202020204" pitchFamily="34" charset="0"/>
              </a:rPr>
              <a:t> </a:t>
            </a:r>
            <a:r>
              <a:rPr kumimoji="1" lang="en-US" altLang="zh-CN" sz="1667" dirty="0">
                <a:solidFill>
                  <a:schemeClr val="accent1"/>
                </a:solidFill>
                <a:latin typeface="+mn-ea"/>
                <a:cs typeface="Arial" panose="020B0604020202020204" pitchFamily="34" charset="0"/>
              </a:rPr>
              <a:t>"svc"</a:t>
            </a:r>
            <a:endParaRPr kumimoji="1" lang="zh-CN" altLang="en-US" sz="1667" dirty="0">
              <a:solidFill>
                <a:schemeClr val="accent1"/>
              </a:solidFill>
              <a:latin typeface="+mn-ea"/>
              <a:cs typeface="Arial" panose="020B0604020202020204" pitchFamily="34" charset="0"/>
            </a:endParaRPr>
          </a:p>
        </p:txBody>
      </p:sp>
      <p:cxnSp>
        <p:nvCxnSpPr>
          <p:cNvPr id="41" name="直线连接符 40"/>
          <p:cNvCxnSpPr/>
          <p:nvPr/>
        </p:nvCxnSpPr>
        <p:spPr>
          <a:xfrm flipV="1">
            <a:off x="4615199" y="2938146"/>
            <a:ext cx="729298" cy="5913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8874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5A8C-9D69-5645-9B34-A0FDAD39B4BD}"/>
              </a:ext>
            </a:extLst>
          </p:cNvPr>
          <p:cNvSpPr>
            <a:spLocks noGrp="1"/>
          </p:cNvSpPr>
          <p:nvPr>
            <p:ph type="title"/>
          </p:nvPr>
        </p:nvSpPr>
        <p:spPr/>
        <p:txBody>
          <a:bodyPr/>
          <a:lstStyle/>
          <a:p>
            <a:r>
              <a:rPr kumimoji="1" lang="en-US" altLang="zh-CN" dirty="0"/>
              <a:t>Questions</a:t>
            </a:r>
            <a:endParaRPr kumimoji="1" lang="zh-CN" altLang="en-US" dirty="0"/>
          </a:p>
        </p:txBody>
      </p:sp>
      <p:sp>
        <p:nvSpPr>
          <p:cNvPr id="3" name="内容占位符 2">
            <a:extLst>
              <a:ext uri="{FF2B5EF4-FFF2-40B4-BE49-F238E27FC236}">
                <a16:creationId xmlns:a16="http://schemas.microsoft.com/office/drawing/2014/main" id="{17F7D90E-E49F-3946-9551-B6E217018271}"/>
              </a:ext>
            </a:extLst>
          </p:cNvPr>
          <p:cNvSpPr>
            <a:spLocks noGrp="1"/>
          </p:cNvSpPr>
          <p:nvPr>
            <p:ph idx="1"/>
          </p:nvPr>
        </p:nvSpPr>
        <p:spPr/>
        <p:txBody>
          <a:bodyPr/>
          <a:lstStyle/>
          <a:p>
            <a:r>
              <a:rPr kumimoji="1" lang="zh-CN" altLang="en-US" dirty="0"/>
              <a:t>内核自己是否可以调用</a:t>
            </a:r>
            <a:r>
              <a:rPr kumimoji="1" lang="en-US" altLang="zh-CN" dirty="0" err="1"/>
              <a:t>syscall</a:t>
            </a:r>
            <a:r>
              <a:rPr kumimoji="1" lang="zh-CN" altLang="en-US" dirty="0"/>
              <a:t>？</a:t>
            </a:r>
            <a:endParaRPr kumimoji="1" lang="en-US" altLang="zh-CN" dirty="0"/>
          </a:p>
          <a:p>
            <a:pPr lvl="1"/>
            <a:r>
              <a:rPr kumimoji="1" lang="zh-CN" altLang="en-US" dirty="0"/>
              <a:t>如果可以，是否需要换栈？</a:t>
            </a:r>
          </a:p>
        </p:txBody>
      </p:sp>
      <p:sp>
        <p:nvSpPr>
          <p:cNvPr id="4" name="灯片编号占位符 3">
            <a:extLst>
              <a:ext uri="{FF2B5EF4-FFF2-40B4-BE49-F238E27FC236}">
                <a16:creationId xmlns:a16="http://schemas.microsoft.com/office/drawing/2014/main" id="{8870D966-B9FC-8241-94F8-58785836182D}"/>
              </a:ext>
            </a:extLst>
          </p:cNvPr>
          <p:cNvSpPr>
            <a:spLocks noGrp="1"/>
          </p:cNvSpPr>
          <p:nvPr>
            <p:ph type="sldNum" sz="quarter" idx="12"/>
          </p:nvPr>
        </p:nvSpPr>
        <p:spPr/>
        <p:txBody>
          <a:bodyPr/>
          <a:lstStyle/>
          <a:p>
            <a:fld id="{ADE361C3-C043-4A6E-BDCE-8DA1E7D90A3B}" type="slidenum">
              <a:rPr lang="zh-CN" altLang="en-US" smtClean="0"/>
              <a:t>73</a:t>
            </a:fld>
            <a:endParaRPr lang="zh-CN" altLang="en-US"/>
          </a:p>
        </p:txBody>
      </p:sp>
    </p:spTree>
    <p:extLst>
      <p:ext uri="{BB962C8B-B14F-4D97-AF65-F5344CB8AC3E}">
        <p14:creationId xmlns:p14="http://schemas.microsoft.com/office/powerpoint/2010/main" val="21437019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err="1"/>
              <a:t>vDSO</a:t>
            </a:r>
            <a:endParaRPr kumimoji="1" lang="zh-CN" altLang="en-US" dirty="0"/>
          </a:p>
        </p:txBody>
      </p:sp>
      <p:sp>
        <p:nvSpPr>
          <p:cNvPr id="5" name="文本占位符 4"/>
          <p:cNvSpPr>
            <a:spLocks noGrp="1"/>
          </p:cNvSpPr>
          <p:nvPr>
            <p:ph type="body" idx="1"/>
          </p:nvPr>
        </p:nvSpPr>
        <p:spPr/>
        <p:txBody>
          <a:bodyPr/>
          <a:lstStyle/>
          <a:p>
            <a:r>
              <a:rPr kumimoji="1" lang="en-US" altLang="zh-CN" b="0" dirty="0"/>
              <a:t>Virtual</a:t>
            </a:r>
            <a:r>
              <a:rPr kumimoji="1" lang="zh-CN" altLang="en-US" b="0" dirty="0"/>
              <a:t> </a:t>
            </a:r>
            <a:r>
              <a:rPr kumimoji="1" lang="en-US" altLang="zh-CN" b="0" dirty="0"/>
              <a:t>Dynamic</a:t>
            </a:r>
            <a:r>
              <a:rPr kumimoji="1" lang="zh-CN" altLang="en-US" b="0" dirty="0"/>
              <a:t> </a:t>
            </a:r>
            <a:r>
              <a:rPr kumimoji="1" lang="en-US" altLang="zh-CN" b="0" dirty="0"/>
              <a:t>Shared</a:t>
            </a:r>
            <a:r>
              <a:rPr kumimoji="1" lang="zh-CN" altLang="en-US" b="0" dirty="0"/>
              <a:t> </a:t>
            </a:r>
            <a:r>
              <a:rPr kumimoji="1" lang="en-US" altLang="zh-CN" b="0" dirty="0"/>
              <a:t>Object</a:t>
            </a:r>
            <a:endParaRPr kumimoji="1" lang="zh-CN" altLang="en-US" b="0" dirty="0"/>
          </a:p>
        </p:txBody>
      </p:sp>
    </p:spTree>
    <p:extLst>
      <p:ext uri="{BB962C8B-B14F-4D97-AF65-F5344CB8AC3E}">
        <p14:creationId xmlns:p14="http://schemas.microsoft.com/office/powerpoint/2010/main" val="9614395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Motivation</a:t>
            </a:r>
            <a:endParaRPr kumimoji="1" lang="zh-CN" altLang="en-US" dirty="0"/>
          </a:p>
        </p:txBody>
      </p:sp>
      <p:sp>
        <p:nvSpPr>
          <p:cNvPr id="5" name="内容占位符 4"/>
          <p:cNvSpPr>
            <a:spLocks noGrp="1"/>
          </p:cNvSpPr>
          <p:nvPr>
            <p:ph idx="1"/>
          </p:nvPr>
        </p:nvSpPr>
        <p:spPr/>
        <p:txBody>
          <a:bodyPr/>
          <a:lstStyle/>
          <a:p>
            <a:r>
              <a:rPr kumimoji="1" lang="zh-CN" altLang="en-US" dirty="0"/>
              <a:t>系统调用的时延不可忽略</a:t>
            </a:r>
          </a:p>
          <a:p>
            <a:pPr lvl="1"/>
            <a:r>
              <a:rPr kumimoji="1" lang="zh-CN" altLang="en-US" dirty="0"/>
              <a:t>尤其是调用非常频繁的那些</a:t>
            </a:r>
          </a:p>
          <a:p>
            <a:pPr lvl="2"/>
            <a:r>
              <a:rPr kumimoji="1" lang="zh-CN" altLang="en-US" sz="2400" dirty="0"/>
              <a:t>如 </a:t>
            </a:r>
            <a:r>
              <a:rPr kumimoji="1" lang="en-US" altLang="zh-CN" sz="2400" dirty="0" err="1"/>
              <a:t>gettimeofday</a:t>
            </a:r>
            <a:r>
              <a:rPr kumimoji="1" lang="en-US" altLang="zh-CN" sz="2400" dirty="0"/>
              <a:t>()</a:t>
            </a:r>
            <a:endParaRPr kumimoji="1" lang="zh-CN" altLang="en-US" sz="2400" dirty="0"/>
          </a:p>
          <a:p>
            <a:r>
              <a:rPr kumimoji="1" lang="zh-CN" altLang="en-US" dirty="0"/>
              <a:t>如何降低系统调用的时延？</a:t>
            </a:r>
          </a:p>
          <a:p>
            <a:pPr lvl="1"/>
            <a:r>
              <a:rPr kumimoji="1" lang="zh-CN" altLang="en-US" dirty="0"/>
              <a:t>大部分时延都是由于</a:t>
            </a:r>
            <a:r>
              <a:rPr kumimoji="1" lang="en-US" altLang="zh-CN" dirty="0"/>
              <a:t>U-&gt;K</a:t>
            </a:r>
            <a:r>
              <a:rPr kumimoji="1" lang="zh-CN" altLang="en-US" dirty="0"/>
              <a:t>的模式切换带来的</a:t>
            </a:r>
          </a:p>
          <a:p>
            <a:pPr lvl="1"/>
            <a:r>
              <a:rPr kumimoji="1" lang="zh-CN" altLang="en-US" dirty="0"/>
              <a:t>如果没有模式切换，那么就不需要保存回复状态</a:t>
            </a:r>
          </a:p>
        </p:txBody>
      </p:sp>
    </p:spTree>
    <p:extLst>
      <p:ext uri="{BB962C8B-B14F-4D97-AF65-F5344CB8AC3E}">
        <p14:creationId xmlns:p14="http://schemas.microsoft.com/office/powerpoint/2010/main" val="39169800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The</a:t>
            </a:r>
            <a:r>
              <a:rPr kumimoji="1" lang="zh-CN" altLang="en-US" dirty="0"/>
              <a:t> </a:t>
            </a:r>
            <a:r>
              <a:rPr kumimoji="1" lang="en-US" altLang="zh-CN" dirty="0"/>
              <a:t>Code</a:t>
            </a:r>
            <a:r>
              <a:rPr kumimoji="1" lang="zh-CN" altLang="en-US" dirty="0"/>
              <a:t> </a:t>
            </a:r>
            <a:r>
              <a:rPr kumimoji="1" lang="en-US" altLang="zh-CN" dirty="0"/>
              <a:t>of</a:t>
            </a:r>
            <a:r>
              <a:rPr kumimoji="1" lang="zh-CN" altLang="en-US" dirty="0"/>
              <a:t> </a:t>
            </a:r>
            <a:r>
              <a:rPr kumimoji="1" lang="en-US" altLang="zh-CN" i="1" dirty="0" err="1"/>
              <a:t>gettimeofday</a:t>
            </a:r>
            <a:r>
              <a:rPr kumimoji="1" lang="en-US" altLang="zh-CN" i="1" dirty="0"/>
              <a:t>()</a:t>
            </a:r>
            <a:endParaRPr kumimoji="1" lang="zh-CN" altLang="en-US" i="1" dirty="0"/>
          </a:p>
        </p:txBody>
      </p:sp>
      <p:sp>
        <p:nvSpPr>
          <p:cNvPr id="3" name="内容占位符 2"/>
          <p:cNvSpPr>
            <a:spLocks noGrp="1"/>
          </p:cNvSpPr>
          <p:nvPr>
            <p:ph idx="1"/>
          </p:nvPr>
        </p:nvSpPr>
        <p:spPr>
          <a:xfrm>
            <a:off x="457200" y="1268394"/>
            <a:ext cx="6858000" cy="4037378"/>
          </a:xfrm>
        </p:spPr>
        <p:txBody>
          <a:bodyPr>
            <a:normAutofit/>
          </a:bodyPr>
          <a:lstStyle/>
          <a:p>
            <a:r>
              <a:rPr kumimoji="1" lang="zh-CN" altLang="en-US" sz="2400" dirty="0"/>
              <a:t>内核定义</a:t>
            </a:r>
          </a:p>
          <a:p>
            <a:pPr lvl="1"/>
            <a:r>
              <a:rPr kumimoji="1" lang="zh-CN" altLang="en-US" sz="1800" dirty="0"/>
              <a:t>在编译时作为内核的一部分</a:t>
            </a:r>
          </a:p>
          <a:p>
            <a:r>
              <a:rPr kumimoji="1" lang="zh-CN" altLang="en-US" sz="2400" dirty="0"/>
              <a:t>用户态运行</a:t>
            </a:r>
          </a:p>
          <a:p>
            <a:pPr lvl="1"/>
            <a:r>
              <a:rPr kumimoji="1" lang="zh-CN" altLang="en-US" sz="1800" dirty="0"/>
              <a:t>将</a:t>
            </a:r>
            <a:r>
              <a:rPr kumimoji="1" lang="en-US" altLang="zh-CN" sz="1800" dirty="0" err="1"/>
              <a:t>gettimeofday</a:t>
            </a:r>
            <a:r>
              <a:rPr kumimoji="1" lang="zh-CN" altLang="en-US" sz="1800" dirty="0"/>
              <a:t>的代码加载到一块与应用共享的内存页</a:t>
            </a:r>
          </a:p>
          <a:p>
            <a:pPr lvl="1"/>
            <a:r>
              <a:rPr kumimoji="1" lang="zh-CN" altLang="en-US" sz="1800" dirty="0"/>
              <a:t>这个页称为：</a:t>
            </a:r>
            <a:r>
              <a:rPr kumimoji="1" lang="en-US" altLang="zh-CN" sz="1800" dirty="0" err="1"/>
              <a:t>vDSO</a:t>
            </a:r>
            <a:endParaRPr kumimoji="1" lang="zh-CN" altLang="en-US" sz="1800" dirty="0"/>
          </a:p>
          <a:p>
            <a:pPr lvl="2"/>
            <a:r>
              <a:rPr kumimoji="1" lang="en-US" altLang="zh-CN" sz="1800" dirty="0"/>
              <a:t>Virtual</a:t>
            </a:r>
            <a:r>
              <a:rPr kumimoji="1" lang="zh-CN" altLang="en-US" sz="1800" dirty="0"/>
              <a:t> </a:t>
            </a:r>
            <a:r>
              <a:rPr kumimoji="1" lang="en-US" altLang="zh-CN" sz="1800" dirty="0"/>
              <a:t>Dynamic</a:t>
            </a:r>
            <a:r>
              <a:rPr kumimoji="1" lang="zh-CN" altLang="en-US" sz="1800" dirty="0"/>
              <a:t> </a:t>
            </a:r>
            <a:r>
              <a:rPr kumimoji="1" lang="en-US" altLang="zh-CN" sz="1800" dirty="0"/>
              <a:t>Shared</a:t>
            </a:r>
            <a:r>
              <a:rPr kumimoji="1" lang="zh-CN" altLang="en-US" sz="1800" dirty="0"/>
              <a:t> </a:t>
            </a:r>
            <a:r>
              <a:rPr kumimoji="1" lang="en-US" altLang="zh-CN" sz="1800" dirty="0"/>
              <a:t>Object</a:t>
            </a:r>
            <a:endParaRPr kumimoji="1" lang="zh-CN" altLang="en-US" sz="1800" dirty="0"/>
          </a:p>
          <a:p>
            <a:pPr lvl="1"/>
            <a:r>
              <a:rPr kumimoji="1" lang="en-US" altLang="zh-CN" sz="1800" dirty="0"/>
              <a:t>Time</a:t>
            </a:r>
            <a:r>
              <a:rPr kumimoji="1" lang="zh-CN" altLang="en-US" sz="1800" dirty="0"/>
              <a:t> 的值同样映射到用户态空间（只读）</a:t>
            </a:r>
          </a:p>
          <a:p>
            <a:pPr lvl="2"/>
            <a:r>
              <a:rPr kumimoji="1" lang="zh-CN" altLang="en-US" sz="1800" dirty="0"/>
              <a:t>只有在内核态才能更新这个值</a:t>
            </a:r>
            <a:endParaRPr kumimoji="1" lang="en-US" altLang="zh-CN" sz="1800" dirty="0"/>
          </a:p>
          <a:p>
            <a:r>
              <a:rPr kumimoji="1" lang="en-US" altLang="zh-CN" sz="2400" dirty="0"/>
              <a:t>Q</a:t>
            </a:r>
            <a:r>
              <a:rPr kumimoji="1" lang="zh-CN" altLang="en-US" sz="2400" dirty="0"/>
              <a:t>：和以前的</a:t>
            </a:r>
            <a:r>
              <a:rPr kumimoji="1" lang="en-US" altLang="zh-CN" sz="2400" dirty="0" err="1"/>
              <a:t>gettimeofday</a:t>
            </a:r>
            <a:r>
              <a:rPr kumimoji="1" lang="zh-CN" altLang="en-US" sz="2400" dirty="0"/>
              <a:t>相比有什么区别？</a:t>
            </a:r>
          </a:p>
        </p:txBody>
      </p:sp>
    </p:spTree>
    <p:extLst>
      <p:ext uri="{BB962C8B-B14F-4D97-AF65-F5344CB8AC3E}">
        <p14:creationId xmlns:p14="http://schemas.microsoft.com/office/powerpoint/2010/main" val="9366868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err="1"/>
              <a:t>vDSO</a:t>
            </a:r>
            <a:r>
              <a:rPr kumimoji="1" lang="zh-CN" altLang="en-US" dirty="0"/>
              <a:t>的共享页在哪儿？</a:t>
            </a:r>
          </a:p>
        </p:txBody>
      </p:sp>
      <p:sp>
        <p:nvSpPr>
          <p:cNvPr id="3" name="内容占位符 2"/>
          <p:cNvSpPr>
            <a:spLocks noGrp="1"/>
          </p:cNvSpPr>
          <p:nvPr>
            <p:ph idx="1"/>
          </p:nvPr>
        </p:nvSpPr>
        <p:spPr>
          <a:xfrm>
            <a:off x="457200" y="1587501"/>
            <a:ext cx="8435280" cy="3143030"/>
          </a:xfrm>
        </p:spPr>
        <p:txBody>
          <a:bodyPr>
            <a:normAutofit/>
          </a:bodyPr>
          <a:lstStyle/>
          <a:p>
            <a:pPr marL="0" indent="0">
              <a:buNone/>
            </a:pPr>
            <a:r>
              <a:rPr lang="en-US" altLang="zh-CN" sz="1600" dirty="0">
                <a:solidFill>
                  <a:schemeClr val="accent1"/>
                </a:solidFill>
                <a:latin typeface="Consolas" charset="0"/>
                <a:ea typeface="Consolas" charset="0"/>
                <a:cs typeface="Consolas" charset="0"/>
              </a:rPr>
              <a:t>$</a:t>
            </a:r>
            <a:r>
              <a:rPr lang="en-US" altLang="zh-CN" sz="1600" dirty="0">
                <a:latin typeface="Consolas" charset="0"/>
                <a:ea typeface="Consolas" charset="0"/>
                <a:cs typeface="Consolas" charset="0"/>
              </a:rPr>
              <a:t> </a:t>
            </a:r>
            <a:r>
              <a:rPr lang="en-US" altLang="zh-CN" sz="1600" dirty="0" err="1">
                <a:latin typeface="Consolas" charset="0"/>
                <a:ea typeface="Consolas" charset="0"/>
                <a:cs typeface="Consolas" charset="0"/>
              </a:rPr>
              <a:t>ldd</a:t>
            </a:r>
            <a:r>
              <a:rPr lang="en-US" altLang="zh-CN" sz="1600" dirty="0">
                <a:latin typeface="Consolas" charset="0"/>
                <a:ea typeface="Consolas" charset="0"/>
                <a:cs typeface="Consolas" charset="0"/>
              </a:rPr>
              <a:t> `which bash` </a:t>
            </a:r>
            <a:endParaRPr lang="zh-CN" altLang="en-US" sz="1600" dirty="0">
              <a:latin typeface="Consolas" charset="0"/>
              <a:ea typeface="Consolas" charset="0"/>
              <a:cs typeface="Consolas" charset="0"/>
            </a:endParaRPr>
          </a:p>
          <a:p>
            <a:pPr marL="0" indent="0">
              <a:buNone/>
            </a:pPr>
            <a:r>
              <a:rPr lang="zh-CN" altLang="en-US" sz="1600" dirty="0">
                <a:solidFill>
                  <a:schemeClr val="accent1"/>
                </a:solidFill>
                <a:latin typeface="Consolas" charset="0"/>
                <a:ea typeface="Consolas" charset="0"/>
                <a:cs typeface="Consolas" charset="0"/>
              </a:rPr>
              <a:t>  </a:t>
            </a:r>
            <a:r>
              <a:rPr lang="en-US" altLang="zh-CN" sz="1600" dirty="0">
                <a:solidFill>
                  <a:schemeClr val="accent1"/>
                </a:solidFill>
                <a:latin typeface="Consolas" charset="0"/>
                <a:ea typeface="Consolas" charset="0"/>
                <a:cs typeface="Consolas" charset="0"/>
              </a:rPr>
              <a:t>linux-vdso.so.1 =&gt; (0x00007fff667ff000) </a:t>
            </a:r>
            <a:endParaRPr lang="zh-CN" altLang="en-US" sz="1600" dirty="0">
              <a:solidFill>
                <a:schemeClr val="accent1"/>
              </a:solidFill>
              <a:latin typeface="Consolas" charset="0"/>
              <a:ea typeface="Consolas" charset="0"/>
              <a:cs typeface="Consolas" charset="0"/>
            </a:endParaRPr>
          </a:p>
          <a:p>
            <a:pPr marL="0" indent="0">
              <a:buNone/>
            </a:pPr>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libtinfo.so.5 =&gt; /lib/x86_64-linux-gnu/libtinfo.so.5 (0x00007f623df7d000) </a:t>
            </a:r>
            <a:endParaRPr lang="zh-CN" altLang="en-US" sz="1600" dirty="0">
              <a:latin typeface="Consolas" charset="0"/>
              <a:ea typeface="Consolas" charset="0"/>
              <a:cs typeface="Consolas" charset="0"/>
            </a:endParaRPr>
          </a:p>
          <a:p>
            <a:pPr marL="0" indent="0">
              <a:buNone/>
            </a:pPr>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libdl.so.2 =&gt; /lib/x86_64-linux-gnu/libdl.so.2 (0x00007f623dd79000) </a:t>
            </a:r>
            <a:endParaRPr lang="zh-CN" altLang="en-US" sz="1600" dirty="0">
              <a:latin typeface="Consolas" charset="0"/>
              <a:ea typeface="Consolas" charset="0"/>
              <a:cs typeface="Consolas" charset="0"/>
            </a:endParaRPr>
          </a:p>
          <a:p>
            <a:pPr marL="0" indent="0">
              <a:buNone/>
            </a:pPr>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libc.so.6 =&gt; /lib/x86_64-linux-gnu/libc.so.6 (0x00007f623d9ba000) </a:t>
            </a:r>
            <a:endParaRPr lang="zh-CN" altLang="en-US" sz="1600" dirty="0">
              <a:latin typeface="Consolas" charset="0"/>
              <a:ea typeface="Consolas" charset="0"/>
              <a:cs typeface="Consolas" charset="0"/>
            </a:endParaRPr>
          </a:p>
          <a:p>
            <a:pPr marL="0" indent="0">
              <a:buNone/>
            </a:pPr>
            <a:r>
              <a:rPr lang="zh-CN" altLang="en-US" sz="1600" dirty="0">
                <a:latin typeface="Consolas" charset="0"/>
                <a:ea typeface="Consolas" charset="0"/>
                <a:cs typeface="Consolas" charset="0"/>
              </a:rPr>
              <a:t>  </a:t>
            </a:r>
            <a:r>
              <a:rPr lang="en-US" altLang="zh-CN" sz="1600" dirty="0">
                <a:latin typeface="Consolas" charset="0"/>
                <a:ea typeface="Consolas" charset="0"/>
                <a:cs typeface="Consolas" charset="0"/>
              </a:rPr>
              <a:t>/lib64/ld-linux-x86-64.so.2 (0x00007f623e1ae000)</a:t>
            </a:r>
            <a:endParaRPr kumimoji="1" lang="zh-CN" altLang="en-US" sz="1600" dirty="0">
              <a:latin typeface="Consolas" charset="0"/>
              <a:ea typeface="Consolas" charset="0"/>
              <a:cs typeface="Consolas" charset="0"/>
            </a:endParaRPr>
          </a:p>
        </p:txBody>
      </p:sp>
      <p:sp>
        <p:nvSpPr>
          <p:cNvPr id="4" name="文本框 3">
            <a:extLst>
              <a:ext uri="{FF2B5EF4-FFF2-40B4-BE49-F238E27FC236}">
                <a16:creationId xmlns:a16="http://schemas.microsoft.com/office/drawing/2014/main" id="{77DF046C-E196-8942-834E-80F58288DD38}"/>
              </a:ext>
            </a:extLst>
          </p:cNvPr>
          <p:cNvSpPr txBox="1"/>
          <p:nvPr/>
        </p:nvSpPr>
        <p:spPr>
          <a:xfrm>
            <a:off x="2651787" y="4897727"/>
            <a:ext cx="5349213" cy="3231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The</a:t>
            </a:r>
            <a:r>
              <a:rPr kumimoji="1" lang="zh-CN" altLang="en-US"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 </a:t>
            </a: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source</a:t>
            </a:r>
            <a:r>
              <a:rPr kumimoji="1" lang="zh-CN" altLang="en-US"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 </a:t>
            </a: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can</a:t>
            </a:r>
            <a:r>
              <a:rPr kumimoji="1" lang="zh-CN" altLang="en-US"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 </a:t>
            </a: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be</a:t>
            </a:r>
            <a:r>
              <a:rPr kumimoji="1" lang="zh-CN" altLang="en-US"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 </a:t>
            </a: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found</a:t>
            </a:r>
            <a:r>
              <a:rPr kumimoji="1" lang="zh-CN" altLang="en-US"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 </a:t>
            </a: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in</a:t>
            </a:r>
            <a:r>
              <a:rPr kumimoji="1" lang="zh-CN" altLang="en-US"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 </a:t>
            </a: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arch/x86/</a:t>
            </a:r>
            <a:r>
              <a:rPr kumimoji="1" lang="en-US" altLang="zh-CN" sz="1500" b="0" i="0" u="none" strike="noStrike" kern="1200" cap="none" spc="0" normalizeH="0" baseline="0" noProof="0" dirty="0" err="1">
                <a:ln>
                  <a:noFill/>
                </a:ln>
                <a:solidFill>
                  <a:srgbClr val="FFFFFF">
                    <a:lumMod val="75000"/>
                  </a:srgbClr>
                </a:solidFill>
                <a:effectLst/>
                <a:uLnTx/>
                <a:uFillTx/>
                <a:latin typeface="Arial" panose="020B0604020202020204"/>
                <a:ea typeface="微软雅黑"/>
                <a:cs typeface="+mn-cs"/>
              </a:rPr>
              <a:t>vdso</a:t>
            </a:r>
            <a:r>
              <a:rPr kumimoji="1" lang="en-US" altLang="zh-CN"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rPr>
              <a:t>/</a:t>
            </a:r>
            <a:r>
              <a:rPr kumimoji="1" lang="en-US" altLang="zh-CN" sz="1500" b="0" i="0" u="none" strike="noStrike" kern="1200" cap="none" spc="0" normalizeH="0" baseline="0" noProof="0" dirty="0" err="1">
                <a:ln>
                  <a:noFill/>
                </a:ln>
                <a:solidFill>
                  <a:srgbClr val="FFFFFF">
                    <a:lumMod val="75000"/>
                  </a:srgbClr>
                </a:solidFill>
                <a:effectLst/>
                <a:uLnTx/>
                <a:uFillTx/>
                <a:latin typeface="Arial" panose="020B0604020202020204"/>
                <a:ea typeface="微软雅黑"/>
                <a:cs typeface="+mn-cs"/>
              </a:rPr>
              <a:t>vclock_gettime.c</a:t>
            </a:r>
            <a:endParaRPr kumimoji="1" lang="zh-CN" altLang="en-US" sz="15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cs"/>
            </a:endParaRPr>
          </a:p>
        </p:txBody>
      </p:sp>
    </p:spTree>
    <p:extLst>
      <p:ext uri="{BB962C8B-B14F-4D97-AF65-F5344CB8AC3E}">
        <p14:creationId xmlns:p14="http://schemas.microsoft.com/office/powerpoint/2010/main" val="22039386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Flex-SC</a:t>
            </a:r>
            <a:endParaRPr kumimoji="1" lang="zh-CN" altLang="en-US" dirty="0"/>
          </a:p>
        </p:txBody>
      </p:sp>
      <p:sp>
        <p:nvSpPr>
          <p:cNvPr id="5" name="文本占位符 4"/>
          <p:cNvSpPr>
            <a:spLocks noGrp="1"/>
          </p:cNvSpPr>
          <p:nvPr>
            <p:ph type="body" idx="1"/>
          </p:nvPr>
        </p:nvSpPr>
        <p:spPr/>
        <p:txBody>
          <a:bodyPr/>
          <a:lstStyle/>
          <a:p>
            <a:pPr marL="0" lvl="1">
              <a:spcBef>
                <a:spcPts val="1000"/>
              </a:spcBef>
            </a:pPr>
            <a:r>
              <a:rPr lang="en-US" altLang="zh-CN" dirty="0"/>
              <a:t>Flexible System Call Scheduling with Exception-Less System Calls,</a:t>
            </a:r>
            <a:r>
              <a:rPr lang="zh-CN" altLang="en-US" dirty="0"/>
              <a:t> </a:t>
            </a:r>
            <a:r>
              <a:rPr lang="en-US" altLang="zh-CN" dirty="0"/>
              <a:t>OSDI’10</a:t>
            </a:r>
          </a:p>
        </p:txBody>
      </p:sp>
    </p:spTree>
    <p:extLst>
      <p:ext uri="{BB962C8B-B14F-4D97-AF65-F5344CB8AC3E}">
        <p14:creationId xmlns:p14="http://schemas.microsoft.com/office/powerpoint/2010/main" val="18404916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Motivation</a:t>
            </a:r>
            <a:endParaRPr kumimoji="1" lang="zh-CN" altLang="en-US" dirty="0"/>
          </a:p>
        </p:txBody>
      </p:sp>
      <p:sp>
        <p:nvSpPr>
          <p:cNvPr id="5" name="内容占位符 4"/>
          <p:cNvSpPr>
            <a:spLocks noGrp="1"/>
          </p:cNvSpPr>
          <p:nvPr>
            <p:ph idx="1"/>
          </p:nvPr>
        </p:nvSpPr>
        <p:spPr>
          <a:xfrm>
            <a:off x="457200" y="1489348"/>
            <a:ext cx="7775207" cy="3528392"/>
          </a:xfrm>
        </p:spPr>
        <p:txBody>
          <a:bodyPr>
            <a:noAutofit/>
          </a:bodyPr>
          <a:lstStyle/>
          <a:p>
            <a:r>
              <a:rPr kumimoji="1" lang="zh-CN" altLang="en-US" sz="2400" dirty="0"/>
              <a:t>如何进一步降低系统调用的时延？</a:t>
            </a:r>
          </a:p>
          <a:p>
            <a:pPr lvl="1"/>
            <a:r>
              <a:rPr kumimoji="1" lang="zh-CN" altLang="en-US" sz="2000" dirty="0"/>
              <a:t>不仅仅是 </a:t>
            </a:r>
            <a:r>
              <a:rPr kumimoji="1" lang="en-US" altLang="zh-CN" sz="2000" dirty="0" err="1"/>
              <a:t>gettimeofday</a:t>
            </a:r>
            <a:r>
              <a:rPr kumimoji="1" lang="en-US" altLang="zh-CN" sz="2000" dirty="0"/>
              <a:t>()</a:t>
            </a:r>
            <a:endParaRPr kumimoji="1" lang="zh-CN" altLang="en-US" sz="2000" dirty="0"/>
          </a:p>
          <a:p>
            <a:r>
              <a:rPr kumimoji="1" lang="en-US" altLang="zh-CN" sz="2400" dirty="0"/>
              <a:t>"</a:t>
            </a:r>
            <a:r>
              <a:rPr kumimoji="1" lang="zh-CN" altLang="en-US" sz="2400" dirty="0"/>
              <a:t>时间都去哪儿了？</a:t>
            </a:r>
            <a:r>
              <a:rPr kumimoji="1" lang="en-US" altLang="zh-CN" sz="2400" dirty="0"/>
              <a:t>"</a:t>
            </a:r>
            <a:endParaRPr kumimoji="1" lang="zh-CN" altLang="en-US" sz="2400" dirty="0"/>
          </a:p>
          <a:p>
            <a:pPr lvl="1"/>
            <a:r>
              <a:rPr kumimoji="1" lang="zh-CN" altLang="en-US" sz="2000" dirty="0"/>
              <a:t>大部分是用来做状态的切换</a:t>
            </a:r>
          </a:p>
          <a:p>
            <a:pPr lvl="2"/>
            <a:r>
              <a:rPr kumimoji="1" lang="zh-CN" altLang="en-US" sz="1800" dirty="0"/>
              <a:t>保存和恢复状态 </a:t>
            </a:r>
            <a:r>
              <a:rPr kumimoji="1" lang="en-US" altLang="zh-CN" sz="1800" dirty="0"/>
              <a:t>+</a:t>
            </a:r>
            <a:r>
              <a:rPr kumimoji="1" lang="zh-CN" altLang="en-US" sz="1800" dirty="0"/>
              <a:t> 权限的切换</a:t>
            </a:r>
          </a:p>
          <a:p>
            <a:pPr lvl="1"/>
            <a:r>
              <a:rPr kumimoji="1" lang="en-US" altLang="zh-CN" sz="2000" dirty="0"/>
              <a:t>Cache</a:t>
            </a:r>
            <a:r>
              <a:rPr kumimoji="1" lang="zh-CN" altLang="en-US" sz="2000" dirty="0"/>
              <a:t> </a:t>
            </a:r>
            <a:r>
              <a:rPr kumimoji="1" lang="en-US" altLang="zh-CN" sz="2000" dirty="0"/>
              <a:t>pollution</a:t>
            </a:r>
            <a:endParaRPr kumimoji="1" lang="zh-CN" altLang="en-US" sz="2000" dirty="0"/>
          </a:p>
          <a:p>
            <a:r>
              <a:rPr kumimoji="1" lang="zh-CN" altLang="en-US" sz="2400" dirty="0"/>
              <a:t>是否有可能在不切换状态的情况下实现系统调用？</a:t>
            </a:r>
          </a:p>
        </p:txBody>
      </p:sp>
    </p:spTree>
    <p:extLst>
      <p:ext uri="{BB962C8B-B14F-4D97-AF65-F5344CB8AC3E}">
        <p14:creationId xmlns:p14="http://schemas.microsoft.com/office/powerpoint/2010/main" val="11792471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Flexible System Call</a:t>
            </a:r>
            <a:endParaRPr lang="zh-CN" altLang="en-US" dirty="0"/>
          </a:p>
        </p:txBody>
      </p:sp>
      <p:sp>
        <p:nvSpPr>
          <p:cNvPr id="3" name="内容占位符 2"/>
          <p:cNvSpPr>
            <a:spLocks noGrp="1"/>
          </p:cNvSpPr>
          <p:nvPr>
            <p:ph idx="1"/>
          </p:nvPr>
        </p:nvSpPr>
        <p:spPr/>
        <p:txBody>
          <a:bodyPr>
            <a:normAutofit/>
          </a:bodyPr>
          <a:lstStyle/>
          <a:p>
            <a:r>
              <a:rPr lang="zh-CN" altLang="en-US" sz="2000" dirty="0"/>
              <a:t>一种新的</a:t>
            </a:r>
            <a:r>
              <a:rPr lang="en-US" altLang="zh-CN" sz="2000" dirty="0" err="1"/>
              <a:t>syscall</a:t>
            </a:r>
            <a:r>
              <a:rPr lang="zh-CN" altLang="en-US" sz="2000" dirty="0"/>
              <a:t>机制</a:t>
            </a:r>
            <a:endParaRPr lang="en-US" altLang="zh-CN" sz="2000" dirty="0">
              <a:solidFill>
                <a:schemeClr val="accent2"/>
              </a:solidFill>
            </a:endParaRPr>
          </a:p>
          <a:p>
            <a:pPr lvl="1"/>
            <a:r>
              <a:rPr lang="zh-CN" altLang="en-US" sz="1667" dirty="0"/>
              <a:t>引入 </a:t>
            </a:r>
            <a:r>
              <a:rPr lang="en-US" altLang="zh-CN" sz="1667" b="1" dirty="0">
                <a:solidFill>
                  <a:srgbClr val="0070C0"/>
                </a:solidFill>
              </a:rPr>
              <a:t>system call page</a:t>
            </a:r>
            <a:r>
              <a:rPr lang="zh-CN" altLang="en-US" sz="1667" b="1" dirty="0"/>
              <a:t> </a:t>
            </a:r>
            <a:r>
              <a:rPr lang="zh-CN" altLang="en-US" sz="1667" dirty="0"/>
              <a:t>，由 </a:t>
            </a:r>
            <a:r>
              <a:rPr lang="en-US" altLang="zh-CN" sz="1667" dirty="0"/>
              <a:t>user</a:t>
            </a:r>
            <a:r>
              <a:rPr lang="zh-CN" altLang="en-US" sz="1667" dirty="0"/>
              <a:t> </a:t>
            </a:r>
            <a:r>
              <a:rPr lang="en-US" altLang="zh-CN" sz="1667" dirty="0"/>
              <a:t>&amp;</a:t>
            </a:r>
            <a:r>
              <a:rPr lang="zh-CN" altLang="en-US" sz="1667" dirty="0"/>
              <a:t> </a:t>
            </a:r>
            <a:r>
              <a:rPr lang="en-US" altLang="zh-CN" sz="1667" dirty="0"/>
              <a:t>kernel</a:t>
            </a:r>
            <a:r>
              <a:rPr lang="zh-CN" altLang="en-US" sz="1667" dirty="0"/>
              <a:t> 共享</a:t>
            </a:r>
            <a:endParaRPr lang="en-US" altLang="zh-CN" sz="1667" dirty="0"/>
          </a:p>
          <a:p>
            <a:pPr lvl="1"/>
            <a:r>
              <a:rPr lang="en-US" altLang="zh-CN" sz="1667" dirty="0"/>
              <a:t>User threads </a:t>
            </a:r>
            <a:r>
              <a:rPr lang="zh-CN" altLang="en-US" sz="1667" dirty="0"/>
              <a:t>可以将系统调用的请求</a:t>
            </a:r>
            <a:r>
              <a:rPr lang="en-US" altLang="zh-CN" sz="1667" dirty="0"/>
              <a:t> </a:t>
            </a:r>
            <a:r>
              <a:rPr lang="en-US" altLang="zh-CN" sz="1667" b="1" dirty="0">
                <a:solidFill>
                  <a:srgbClr val="0070C0"/>
                </a:solidFill>
              </a:rPr>
              <a:t>push</a:t>
            </a:r>
            <a:r>
              <a:rPr lang="en-US" altLang="zh-CN" sz="1667" dirty="0">
                <a:solidFill>
                  <a:srgbClr val="0070C0"/>
                </a:solidFill>
              </a:rPr>
              <a:t> </a:t>
            </a:r>
            <a:r>
              <a:rPr lang="zh-CN" altLang="en-US" sz="1667" dirty="0"/>
              <a:t>到</a:t>
            </a:r>
            <a:r>
              <a:rPr lang="en-US" altLang="zh-CN" sz="1667" dirty="0"/>
              <a:t> system call page</a:t>
            </a:r>
          </a:p>
          <a:p>
            <a:pPr lvl="1"/>
            <a:r>
              <a:rPr lang="en-US" altLang="zh-CN" sz="1667" dirty="0"/>
              <a:t>kernel threads </a:t>
            </a:r>
            <a:r>
              <a:rPr lang="zh-CN" altLang="en-US" sz="1667" dirty="0"/>
              <a:t>会从</a:t>
            </a:r>
            <a:r>
              <a:rPr lang="en-US" altLang="zh-CN" sz="1667" dirty="0"/>
              <a:t>system call page </a:t>
            </a:r>
            <a:r>
              <a:rPr lang="en-US" altLang="zh-CN" sz="1667" b="1" dirty="0">
                <a:solidFill>
                  <a:srgbClr val="0070C0"/>
                </a:solidFill>
              </a:rPr>
              <a:t>poll</a:t>
            </a:r>
            <a:r>
              <a:rPr lang="en-US" altLang="zh-CN" sz="1667" dirty="0"/>
              <a:t> system call </a:t>
            </a:r>
            <a:r>
              <a:rPr lang="zh-CN" altLang="en-US" sz="1667" dirty="0"/>
              <a:t>请求</a:t>
            </a:r>
          </a:p>
          <a:p>
            <a:r>
              <a:rPr lang="en-US" altLang="zh-CN" sz="2000" dirty="0"/>
              <a:t>Exception-less </a:t>
            </a:r>
            <a:r>
              <a:rPr lang="en-US" altLang="zh-CN" sz="2000" dirty="0" err="1"/>
              <a:t>syscall</a:t>
            </a:r>
            <a:endParaRPr lang="zh-CN" altLang="en-US" sz="2000" dirty="0"/>
          </a:p>
          <a:p>
            <a:pPr lvl="1"/>
            <a:r>
              <a:rPr lang="zh-CN" altLang="en-US" sz="1667" dirty="0"/>
              <a:t>将系统调用的调用和执行解耦，可分布到不同的</a:t>
            </a:r>
            <a:r>
              <a:rPr lang="en-US" altLang="zh-CN" sz="1667" dirty="0"/>
              <a:t>CPU</a:t>
            </a:r>
            <a:r>
              <a:rPr lang="zh-CN" altLang="en-US" sz="1667" dirty="0"/>
              <a:t>核</a:t>
            </a:r>
            <a:endParaRPr lang="en-US" altLang="zh-CN" sz="1667" dirty="0"/>
          </a:p>
          <a:p>
            <a:pPr lvl="1"/>
            <a:endParaRPr lang="en-US" altLang="zh-CN" sz="1667" dirty="0"/>
          </a:p>
        </p:txBody>
      </p:sp>
    </p:spTree>
    <p:extLst>
      <p:ext uri="{BB962C8B-B14F-4D97-AF65-F5344CB8AC3E}">
        <p14:creationId xmlns:p14="http://schemas.microsoft.com/office/powerpoint/2010/main" val="1581264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3667" dirty="0"/>
              <a:t>System Call</a:t>
            </a:r>
            <a:r>
              <a:rPr kumimoji="1" lang="zh-CN" altLang="en-US" sz="3667" dirty="0"/>
              <a:t>的另一种方法</a:t>
            </a:r>
          </a:p>
        </p:txBody>
      </p:sp>
      <p:pic>
        <p:nvPicPr>
          <p:cNvPr id="4" name="图片 3"/>
          <p:cNvPicPr>
            <a:picLocks noChangeAspect="1"/>
          </p:cNvPicPr>
          <p:nvPr/>
        </p:nvPicPr>
        <p:blipFill>
          <a:blip r:embed="rId2"/>
          <a:stretch>
            <a:fillRect/>
          </a:stretch>
        </p:blipFill>
        <p:spPr>
          <a:xfrm>
            <a:off x="1391647" y="1657368"/>
            <a:ext cx="6360707" cy="3196596"/>
          </a:xfrm>
          <a:prstGeom prst="rect">
            <a:avLst/>
          </a:prstGeom>
        </p:spPr>
      </p:pic>
    </p:spTree>
    <p:extLst>
      <p:ext uri="{BB962C8B-B14F-4D97-AF65-F5344CB8AC3E}">
        <p14:creationId xmlns:p14="http://schemas.microsoft.com/office/powerpoint/2010/main" val="20501734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Exception-less System Call</a:t>
            </a:r>
            <a:endParaRPr kumimoji="1" lang="zh-CN" altLang="en-US" dirty="0"/>
          </a:p>
        </p:txBody>
      </p:sp>
      <p:pic>
        <p:nvPicPr>
          <p:cNvPr id="4" name="图片 3"/>
          <p:cNvPicPr>
            <a:picLocks noChangeAspect="1"/>
          </p:cNvPicPr>
          <p:nvPr/>
        </p:nvPicPr>
        <p:blipFill>
          <a:blip r:embed="rId2"/>
          <a:stretch>
            <a:fillRect/>
          </a:stretch>
        </p:blipFill>
        <p:spPr>
          <a:xfrm>
            <a:off x="1391647" y="1477347"/>
            <a:ext cx="6189307" cy="3625078"/>
          </a:xfrm>
          <a:prstGeom prst="rect">
            <a:avLst/>
          </a:prstGeom>
        </p:spPr>
      </p:pic>
    </p:spTree>
    <p:extLst>
      <p:ext uri="{BB962C8B-B14F-4D97-AF65-F5344CB8AC3E}">
        <p14:creationId xmlns:p14="http://schemas.microsoft.com/office/powerpoint/2010/main" val="20141398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Kernel</a:t>
            </a:r>
            <a:r>
              <a:rPr kumimoji="1" lang="zh-CN" altLang="en-US" dirty="0"/>
              <a:t>填充</a:t>
            </a:r>
            <a:r>
              <a:rPr kumimoji="1" lang="en-US" altLang="zh-CN" dirty="0" err="1"/>
              <a:t>syscall</a:t>
            </a:r>
            <a:r>
              <a:rPr kumimoji="1" lang="zh-CN" altLang="en-US" dirty="0"/>
              <a:t>的返回值</a:t>
            </a:r>
          </a:p>
        </p:txBody>
      </p:sp>
      <p:pic>
        <p:nvPicPr>
          <p:cNvPr id="4" name="图片 3"/>
          <p:cNvPicPr>
            <a:picLocks noChangeAspect="1"/>
          </p:cNvPicPr>
          <p:nvPr/>
        </p:nvPicPr>
        <p:blipFill>
          <a:blip r:embed="rId2"/>
          <a:stretch>
            <a:fillRect/>
          </a:stretch>
        </p:blipFill>
        <p:spPr>
          <a:xfrm>
            <a:off x="1346824" y="1467696"/>
            <a:ext cx="6240693" cy="3622264"/>
          </a:xfrm>
          <a:prstGeom prst="rect">
            <a:avLst/>
          </a:prstGeom>
        </p:spPr>
      </p:pic>
    </p:spTree>
    <p:extLst>
      <p:ext uri="{BB962C8B-B14F-4D97-AF65-F5344CB8AC3E}">
        <p14:creationId xmlns:p14="http://schemas.microsoft.com/office/powerpoint/2010/main" val="30347535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单核上：</a:t>
            </a:r>
            <a:r>
              <a:rPr lang="en-US" altLang="zh-CN" dirty="0"/>
              <a:t>Single</a:t>
            </a:r>
            <a:r>
              <a:rPr lang="zh-CN" altLang="en-US" dirty="0"/>
              <a:t> </a:t>
            </a:r>
            <a:r>
              <a:rPr lang="en-US" altLang="zh-CN" dirty="0"/>
              <a:t>Threads</a:t>
            </a:r>
            <a:endParaRPr lang="zh-CN" altLang="en-US" dirty="0"/>
          </a:p>
        </p:txBody>
      </p:sp>
      <p:sp>
        <p:nvSpPr>
          <p:cNvPr id="16" name="Straight Connector 19"/>
          <p:cNvSpPr>
            <a:spLocks noChangeShapeType="1"/>
          </p:cNvSpPr>
          <p:nvPr/>
        </p:nvSpPr>
        <p:spPr bwMode="auto">
          <a:xfrm>
            <a:off x="1901704" y="3169913"/>
            <a:ext cx="5250583" cy="0"/>
          </a:xfrm>
          <a:prstGeom prst="line">
            <a:avLst/>
          </a:prstGeom>
          <a:noFill/>
          <a:ln w="25400">
            <a:solidFill>
              <a:srgbClr val="000000"/>
            </a:solidFill>
            <a:prstDash val="dash"/>
            <a:round/>
            <a:headEnd/>
            <a:tailEnd/>
          </a:ln>
          <a:effectLst>
            <a:outerShdw dist="20000" dir="5400000" rotWithShape="0">
              <a:srgbClr val="808080">
                <a:alpha val="37999"/>
              </a:srgbClr>
            </a:outerShdw>
          </a:effectLst>
          <a:extLst>
            <a:ext uri="{909E8E84-426E-40dd-AFC4-6F175D3DCCD1}">
              <a14:hiddenFill xmlns:a14="http://schemas.microsoft.com/office/drawing/2010/main" xmlns="">
                <a:noFill/>
              </a14:hiddenFill>
            </a:ext>
          </a:extLst>
        </p:spPr>
        <p:txBody>
          <a:bodyPr vert="horz" wrap="square" lIns="63500" tIns="31750" rIns="63500" bIns="3175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000000"/>
              </a:solidFill>
              <a:effectLst/>
              <a:uLnTx/>
              <a:uFillTx/>
              <a:latin typeface="Arial" panose="020B0604020202020204"/>
              <a:ea typeface="微软雅黑"/>
              <a:cs typeface="+mn-cs"/>
            </a:endParaRPr>
          </a:p>
        </p:txBody>
      </p:sp>
      <p:sp>
        <p:nvSpPr>
          <p:cNvPr id="17" name="Text Box 34"/>
          <p:cNvSpPr txBox="1">
            <a:spLocks noChangeArrowheads="1"/>
          </p:cNvSpPr>
          <p:nvPr/>
        </p:nvSpPr>
        <p:spPr bwMode="auto">
          <a:xfrm>
            <a:off x="2051721" y="2583981"/>
            <a:ext cx="1250139" cy="11314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31750" rIns="63500" bIns="31750" numCol="1" anchor="t" anchorCtr="0" compatLnSpc="1">
            <a:prstTxWarp prst="textNoShape">
              <a:avLst/>
            </a:prstTxWarp>
          </a:bodyPr>
          <a:lstStyle/>
          <a:p>
            <a:pPr marL="0" marR="0" lvl="0" indent="0" algn="just"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rPr>
              <a:t>User</a:t>
            </a:r>
          </a:p>
          <a:p>
            <a:pPr marL="0" marR="0" lvl="0" indent="0" algn="just" defTabSz="634950" rtl="0" eaLnBrk="1" fontAlgn="base" latinLnBrk="0" hangingPunct="1">
              <a:lnSpc>
                <a:spcPct val="100000"/>
              </a:lnSpc>
              <a:spcBef>
                <a:spcPct val="0"/>
              </a:spcBef>
              <a:spcAft>
                <a:spcPct val="0"/>
              </a:spcAft>
              <a:buClrTx/>
              <a:buSzTx/>
              <a:buFontTx/>
              <a:buNone/>
              <a:tabLst/>
              <a:defRPr/>
            </a:pPr>
            <a:endParaRPr kumimoji="0" lang="en-US" altLang="zh-CN" sz="1389"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endParaRPr>
          </a:p>
          <a:p>
            <a:pPr marL="0" marR="0" lvl="0" indent="0" algn="just" defTabSz="634950" rtl="0" eaLnBrk="1" fontAlgn="base" latinLnBrk="0" hangingPunct="1">
              <a:lnSpc>
                <a:spcPct val="100000"/>
              </a:lnSpc>
              <a:spcBef>
                <a:spcPct val="0"/>
              </a:spcBef>
              <a:spcAft>
                <a:spcPct val="0"/>
              </a:spcAft>
              <a:buClrTx/>
              <a:buSzTx/>
              <a:buFontTx/>
              <a:buNone/>
              <a:tabLst/>
              <a:defRPr/>
            </a:pPr>
            <a:endParaRPr kumimoji="0" lang="en-US" altLang="zh-CN" sz="1389"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endParaRPr>
          </a:p>
          <a:p>
            <a:pPr marL="0" marR="0" lvl="0" indent="0" algn="just" defTabSz="634950" rtl="0" eaLnBrk="1" fontAlgn="base" latinLnBrk="0" hangingPunct="1">
              <a:lnSpc>
                <a:spcPct val="100000"/>
              </a:lnSpc>
              <a:spcBef>
                <a:spcPct val="0"/>
              </a:spcBef>
              <a:spcAft>
                <a:spcPct val="0"/>
              </a:spcAft>
              <a:buClrTx/>
              <a:buSzTx/>
              <a:buFontTx/>
              <a:buNone/>
              <a:tabLst/>
              <a:defRPr/>
            </a:pPr>
            <a:endParaRPr kumimoji="0" lang="en-US" altLang="zh-CN" sz="1389"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endParaRPr>
          </a:p>
          <a:p>
            <a:pPr marL="0" marR="0" lvl="0" indent="0" algn="just"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rPr>
              <a:t>Kernel</a:t>
            </a:r>
            <a:endParaRPr kumimoji="0" lang="zh-CN" altLang="zh-CN" sz="2222" b="0" i="0" u="none" strike="noStrike" kern="1200" cap="none" spc="0" normalizeH="0" baseline="0" noProof="0" dirty="0">
              <a:ln>
                <a:noFill/>
              </a:ln>
              <a:solidFill>
                <a:srgbClr val="000000"/>
              </a:solidFill>
              <a:effectLst/>
              <a:uLnTx/>
              <a:uFillTx/>
              <a:latin typeface="Arial" pitchFamily="34" charset="0"/>
              <a:ea typeface="宋体" pitchFamily="2" charset="-122"/>
              <a:cs typeface="宋体" pitchFamily="2" charset="-122"/>
            </a:endParaRPr>
          </a:p>
        </p:txBody>
      </p:sp>
      <p:sp>
        <p:nvSpPr>
          <p:cNvPr id="18" name="圆角矩形 17"/>
          <p:cNvSpPr/>
          <p:nvPr/>
        </p:nvSpPr>
        <p:spPr>
          <a:xfrm>
            <a:off x="5598178" y="2592215"/>
            <a:ext cx="700078" cy="97995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Sys call page</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19" name="圆角矩形 18"/>
          <p:cNvSpPr/>
          <p:nvPr/>
        </p:nvSpPr>
        <p:spPr>
          <a:xfrm>
            <a:off x="5698189" y="2680047"/>
            <a:ext cx="700078" cy="97995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Sys call page</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20" name="圆角矩形 19"/>
          <p:cNvSpPr/>
          <p:nvPr/>
        </p:nvSpPr>
        <p:spPr>
          <a:xfrm>
            <a:off x="5798200" y="2801071"/>
            <a:ext cx="700078" cy="97995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Sys call page</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21" name="圆角矩形 20"/>
          <p:cNvSpPr/>
          <p:nvPr/>
        </p:nvSpPr>
        <p:spPr>
          <a:xfrm>
            <a:off x="3101838" y="2069842"/>
            <a:ext cx="1850206" cy="400044"/>
          </a:xfrm>
          <a:prstGeom prst="roundRect">
            <a:avLst/>
          </a:prstGeom>
          <a:solidFill>
            <a:schemeClr val="accent1">
              <a:alpha val="70000"/>
            </a:schemeClr>
          </a:solidFill>
          <a:ln>
            <a:solidFill>
              <a:schemeClr val="accent1">
                <a:shade val="50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Application</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23" name="右箭头 22"/>
          <p:cNvSpPr/>
          <p:nvPr/>
        </p:nvSpPr>
        <p:spPr>
          <a:xfrm rot="1162316">
            <a:off x="4997192" y="2492047"/>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24" name="TextBox 23"/>
          <p:cNvSpPr txBox="1"/>
          <p:nvPr/>
        </p:nvSpPr>
        <p:spPr>
          <a:xfrm>
            <a:off x="5245475" y="2236442"/>
            <a:ext cx="1390124"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Push system call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25" name="右箭头 24"/>
          <p:cNvSpPr/>
          <p:nvPr/>
        </p:nvSpPr>
        <p:spPr>
          <a:xfrm rot="1162316">
            <a:off x="4997192" y="2492046"/>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26" name="右箭头 25"/>
          <p:cNvSpPr/>
          <p:nvPr/>
        </p:nvSpPr>
        <p:spPr>
          <a:xfrm rot="1162316">
            <a:off x="4997192" y="2492045"/>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27" name="右箭头 26"/>
          <p:cNvSpPr/>
          <p:nvPr/>
        </p:nvSpPr>
        <p:spPr>
          <a:xfrm rot="1162316">
            <a:off x="4997192" y="2492047"/>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29" name="圆角矩形 28"/>
          <p:cNvSpPr/>
          <p:nvPr/>
        </p:nvSpPr>
        <p:spPr>
          <a:xfrm>
            <a:off x="5898985" y="2875182"/>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a</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33" name="圆角矩形 32"/>
          <p:cNvSpPr/>
          <p:nvPr/>
        </p:nvSpPr>
        <p:spPr>
          <a:xfrm>
            <a:off x="6188963" y="2875182"/>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b</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34" name="圆角矩形 33"/>
          <p:cNvSpPr/>
          <p:nvPr/>
        </p:nvSpPr>
        <p:spPr>
          <a:xfrm>
            <a:off x="5914511" y="3170026"/>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c</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35" name="圆角矩形 34"/>
          <p:cNvSpPr/>
          <p:nvPr/>
        </p:nvSpPr>
        <p:spPr>
          <a:xfrm>
            <a:off x="6194224" y="3177343"/>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d</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36" name="右箭头 35"/>
          <p:cNvSpPr/>
          <p:nvPr/>
        </p:nvSpPr>
        <p:spPr>
          <a:xfrm rot="5400000">
            <a:off x="4313902" y="2968877"/>
            <a:ext cx="1011293" cy="1420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37" name="圆角矩形 36"/>
          <p:cNvSpPr/>
          <p:nvPr/>
        </p:nvSpPr>
        <p:spPr>
          <a:xfrm>
            <a:off x="3142132" y="3581001"/>
            <a:ext cx="1850206" cy="400044"/>
          </a:xfrm>
          <a:prstGeom prst="roundRect">
            <a:avLst/>
          </a:prstGeom>
          <a:solidFill>
            <a:schemeClr val="accent1">
              <a:alpha val="70000"/>
            </a:schemeClr>
          </a:solidFill>
          <a:ln>
            <a:solidFill>
              <a:schemeClr val="accent1">
                <a:shade val="50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Kernel threads</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38" name="TextBox 37"/>
          <p:cNvSpPr txBox="1"/>
          <p:nvPr/>
        </p:nvSpPr>
        <p:spPr>
          <a:xfrm>
            <a:off x="3626712" y="2860646"/>
            <a:ext cx="1319592"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Switch to kernel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1" name="右箭头 40"/>
          <p:cNvSpPr/>
          <p:nvPr/>
        </p:nvSpPr>
        <p:spPr>
          <a:xfrm rot="9521914">
            <a:off x="5038137" y="3530763"/>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3" name="TextBox 42"/>
          <p:cNvSpPr txBox="1"/>
          <p:nvPr/>
        </p:nvSpPr>
        <p:spPr>
          <a:xfrm>
            <a:off x="5186261" y="3728324"/>
            <a:ext cx="1273105"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pull system call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4" name="右箭头 43"/>
          <p:cNvSpPr/>
          <p:nvPr/>
        </p:nvSpPr>
        <p:spPr>
          <a:xfrm rot="9521914">
            <a:off x="5038137" y="3530762"/>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6" name="右箭头 45"/>
          <p:cNvSpPr/>
          <p:nvPr/>
        </p:nvSpPr>
        <p:spPr>
          <a:xfrm rot="9521914">
            <a:off x="5038137" y="3530762"/>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7" name="右箭头 46"/>
          <p:cNvSpPr/>
          <p:nvPr/>
        </p:nvSpPr>
        <p:spPr>
          <a:xfrm rot="9521914">
            <a:off x="5038139" y="3533933"/>
            <a:ext cx="796152"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8" name="右箭头 47"/>
          <p:cNvSpPr/>
          <p:nvPr/>
        </p:nvSpPr>
        <p:spPr>
          <a:xfrm rot="16200000">
            <a:off x="2940229" y="2962000"/>
            <a:ext cx="1011293" cy="1420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9" name="TextBox 48"/>
          <p:cNvSpPr txBox="1"/>
          <p:nvPr/>
        </p:nvSpPr>
        <p:spPr>
          <a:xfrm>
            <a:off x="3478543" y="2854784"/>
            <a:ext cx="1194558"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Switch to user</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Tree>
    <p:extLst>
      <p:ext uri="{BB962C8B-B14F-4D97-AF65-F5344CB8AC3E}">
        <p14:creationId xmlns:p14="http://schemas.microsoft.com/office/powerpoint/2010/main" val="45653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0" dur="10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1000"/>
                                        <p:tgtEl>
                                          <p:spTgt spid="29"/>
                                        </p:tgtEl>
                                      </p:cBhvr>
                                    </p:animEffect>
                                  </p:childTnLst>
                                </p:cTn>
                              </p:par>
                            </p:childTnLst>
                          </p:cTn>
                        </p:par>
                        <p:par>
                          <p:cTn id="14" fill="hold">
                            <p:stCondLst>
                              <p:cond delay="1000"/>
                            </p:stCondLst>
                            <p:childTnLst>
                              <p:par>
                                <p:cTn id="15" presetID="1" presetClass="exit" presetSubtype="0" fill="hold" grpId="1" nodeType="afterEffect">
                                  <p:stCondLst>
                                    <p:cond delay="0"/>
                                  </p:stCondLst>
                                  <p:childTnLst>
                                    <p:set>
                                      <p:cBhvr>
                                        <p:cTn id="16" dur="1" fill="hold">
                                          <p:stCondLst>
                                            <p:cond delay="0"/>
                                          </p:stCondLst>
                                        </p:cTn>
                                        <p:tgtEl>
                                          <p:spTgt spid="23"/>
                                        </p:tgtEl>
                                        <p:attrNameLst>
                                          <p:attrName>style.visibility</p:attrName>
                                        </p:attrNameLst>
                                      </p:cBhvr>
                                      <p:to>
                                        <p:strVal val="hidden"/>
                                      </p:to>
                                    </p:set>
                                  </p:childTnLst>
                                </p:cTn>
                              </p:par>
                            </p:childTnLst>
                          </p:cTn>
                        </p:par>
                        <p:par>
                          <p:cTn id="17" fill="hold">
                            <p:stCondLst>
                              <p:cond delay="1000"/>
                            </p:stCondLst>
                            <p:childTnLst>
                              <p:par>
                                <p:cTn id="18" presetID="22" presetClass="entr" presetSubtype="8" fill="hold" grpId="0" nodeType="afterEffect">
                                  <p:stCondLst>
                                    <p:cond delay="50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1000"/>
                                        <p:tgtEl>
                                          <p:spTgt spid="25"/>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1000"/>
                                        <p:tgtEl>
                                          <p:spTgt spid="33"/>
                                        </p:tgtEl>
                                      </p:cBhvr>
                                    </p:animEffect>
                                  </p:childTnLst>
                                </p:cTn>
                              </p:par>
                            </p:childTnLst>
                          </p:cTn>
                        </p:par>
                        <p:par>
                          <p:cTn id="24" fill="hold">
                            <p:stCondLst>
                              <p:cond delay="2500"/>
                            </p:stCondLst>
                            <p:childTnLst>
                              <p:par>
                                <p:cTn id="25" presetID="1" presetClass="exit" presetSubtype="0" fill="hold" grpId="1" nodeType="afterEffect">
                                  <p:stCondLst>
                                    <p:cond delay="0"/>
                                  </p:stCondLst>
                                  <p:childTnLst>
                                    <p:set>
                                      <p:cBhvr>
                                        <p:cTn id="26" dur="1" fill="hold">
                                          <p:stCondLst>
                                            <p:cond delay="0"/>
                                          </p:stCondLst>
                                        </p:cTn>
                                        <p:tgtEl>
                                          <p:spTgt spid="25"/>
                                        </p:tgtEl>
                                        <p:attrNameLst>
                                          <p:attrName>style.visibility</p:attrName>
                                        </p:attrNameLst>
                                      </p:cBhvr>
                                      <p:to>
                                        <p:strVal val="hidden"/>
                                      </p:to>
                                    </p:set>
                                  </p:childTnLst>
                                </p:cTn>
                              </p:par>
                            </p:childTnLst>
                          </p:cTn>
                        </p:par>
                        <p:par>
                          <p:cTn id="27" fill="hold">
                            <p:stCondLst>
                              <p:cond delay="2500"/>
                            </p:stCondLst>
                            <p:childTnLst>
                              <p:par>
                                <p:cTn id="28" presetID="22" presetClass="entr" presetSubtype="8" fill="hold" grpId="0" nodeType="afterEffect">
                                  <p:stCondLst>
                                    <p:cond delay="50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1000"/>
                                        <p:tgtEl>
                                          <p:spTgt spid="26"/>
                                        </p:tgtEl>
                                      </p:cBhvr>
                                    </p:animEffect>
                                  </p:childTnLst>
                                </p:cTn>
                              </p:par>
                              <p:par>
                                <p:cTn id="31" presetID="10" presetClass="entr" presetSubtype="0" fill="hold" grpId="0" nodeType="withEffect">
                                  <p:stCondLst>
                                    <p:cond delay="50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1000"/>
                                        <p:tgtEl>
                                          <p:spTgt spid="34"/>
                                        </p:tgtEl>
                                      </p:cBhvr>
                                    </p:animEffect>
                                  </p:childTnLst>
                                </p:cTn>
                              </p:par>
                            </p:childTnLst>
                          </p:cTn>
                        </p:par>
                        <p:par>
                          <p:cTn id="34" fill="hold">
                            <p:stCondLst>
                              <p:cond delay="4000"/>
                            </p:stCondLst>
                            <p:childTnLst>
                              <p:par>
                                <p:cTn id="35" presetID="1" presetClass="exit" presetSubtype="0" fill="hold" grpId="1" nodeType="afterEffect">
                                  <p:stCondLst>
                                    <p:cond delay="0"/>
                                  </p:stCondLst>
                                  <p:childTnLst>
                                    <p:set>
                                      <p:cBhvr>
                                        <p:cTn id="36" dur="1" fill="hold">
                                          <p:stCondLst>
                                            <p:cond delay="0"/>
                                          </p:stCondLst>
                                        </p:cTn>
                                        <p:tgtEl>
                                          <p:spTgt spid="26"/>
                                        </p:tgtEl>
                                        <p:attrNameLst>
                                          <p:attrName>style.visibility</p:attrName>
                                        </p:attrNameLst>
                                      </p:cBhvr>
                                      <p:to>
                                        <p:strVal val="hidden"/>
                                      </p:to>
                                    </p:set>
                                  </p:childTnLst>
                                </p:cTn>
                              </p:par>
                            </p:childTnLst>
                          </p:cTn>
                        </p:par>
                        <p:par>
                          <p:cTn id="37" fill="hold">
                            <p:stCondLst>
                              <p:cond delay="4000"/>
                            </p:stCondLst>
                            <p:childTnLst>
                              <p:par>
                                <p:cTn id="38" presetID="22" presetClass="entr" presetSubtype="8" fill="hold" grpId="0" nodeType="afterEffect">
                                  <p:stCondLst>
                                    <p:cond delay="50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1000"/>
                                        <p:tgtEl>
                                          <p:spTgt spid="27"/>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1000"/>
                                        <p:tgtEl>
                                          <p:spTgt spid="35"/>
                                        </p:tgtEl>
                                      </p:cBhvr>
                                    </p:animEffect>
                                  </p:childTnLst>
                                </p:cTn>
                              </p:par>
                            </p:childTnLst>
                          </p:cTn>
                        </p:par>
                        <p:par>
                          <p:cTn id="44" fill="hold">
                            <p:stCondLst>
                              <p:cond delay="5500"/>
                            </p:stCondLst>
                            <p:childTnLst>
                              <p:par>
                                <p:cTn id="45" presetID="1" presetClass="exit" presetSubtype="0" fill="hold" grpId="1" nodeType="afterEffect">
                                  <p:stCondLst>
                                    <p:cond delay="0"/>
                                  </p:stCondLst>
                                  <p:childTnLst>
                                    <p:set>
                                      <p:cBhvr>
                                        <p:cTn id="46" dur="1" fill="hold">
                                          <p:stCondLst>
                                            <p:cond delay="0"/>
                                          </p:stCondLst>
                                        </p:cTn>
                                        <p:tgtEl>
                                          <p:spTgt spid="27"/>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24">
                                            <p:txEl>
                                              <p:pRg st="0" end="0"/>
                                            </p:txEl>
                                          </p:spTgt>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wipe(up)">
                                      <p:cBhvr>
                                        <p:cTn id="53" dur="1000"/>
                                        <p:tgtEl>
                                          <p:spTgt spid="36"/>
                                        </p:tgtEl>
                                      </p:cBhvr>
                                    </p:animEffect>
                                  </p:childTnLst>
                                </p:cTn>
                              </p:par>
                              <p:par>
                                <p:cTn id="54" presetID="10" presetClass="entr" presetSubtype="0" fill="hold" nodeType="withEffect">
                                  <p:stCondLst>
                                    <p:cond delay="500"/>
                                  </p:stCondLst>
                                  <p:childTnLst>
                                    <p:set>
                                      <p:cBhvr>
                                        <p:cTn id="55" dur="1" fill="hold">
                                          <p:stCondLst>
                                            <p:cond delay="0"/>
                                          </p:stCondLst>
                                        </p:cTn>
                                        <p:tgtEl>
                                          <p:spTgt spid="38">
                                            <p:txEl>
                                              <p:pRg st="0" end="0"/>
                                            </p:txEl>
                                          </p:spTgt>
                                        </p:tgtEl>
                                        <p:attrNameLst>
                                          <p:attrName>style.visibility</p:attrName>
                                        </p:attrNameLst>
                                      </p:cBhvr>
                                      <p:to>
                                        <p:strVal val="visible"/>
                                      </p:to>
                                    </p:set>
                                    <p:animEffect transition="in" filter="fade">
                                      <p:cBhvr>
                                        <p:cTn id="56" dur="750"/>
                                        <p:tgtEl>
                                          <p:spTgt spid="38">
                                            <p:txEl>
                                              <p:pRg st="0" end="0"/>
                                            </p:txEl>
                                          </p:spTgt>
                                        </p:tgtEl>
                                      </p:cBhvr>
                                    </p:animEffect>
                                  </p:childTnLst>
                                </p:cTn>
                              </p:par>
                            </p:childTnLst>
                          </p:cTn>
                        </p:par>
                        <p:par>
                          <p:cTn id="57" fill="hold">
                            <p:stCondLst>
                              <p:cond delay="1250"/>
                            </p:stCondLst>
                            <p:childTnLst>
                              <p:par>
                                <p:cTn id="58" presetID="1" presetClass="exit" presetSubtype="0" fill="hold" grpId="1" nodeType="afterEffect">
                                  <p:stCondLst>
                                    <p:cond delay="1000"/>
                                  </p:stCondLst>
                                  <p:childTnLst>
                                    <p:set>
                                      <p:cBhvr>
                                        <p:cTn id="59" dur="1" fill="hold">
                                          <p:stCondLst>
                                            <p:cond delay="0"/>
                                          </p:stCondLst>
                                        </p:cTn>
                                        <p:tgtEl>
                                          <p:spTgt spid="36"/>
                                        </p:tgtEl>
                                        <p:attrNameLst>
                                          <p:attrName>style.visibility</p:attrName>
                                        </p:attrNameLst>
                                      </p:cBhvr>
                                      <p:to>
                                        <p:strVal val="hidden"/>
                                      </p:to>
                                    </p:set>
                                  </p:childTnLst>
                                </p:cTn>
                              </p:par>
                            </p:childTnLst>
                          </p:cTn>
                        </p:par>
                        <p:par>
                          <p:cTn id="60" fill="hold">
                            <p:stCondLst>
                              <p:cond delay="2250"/>
                            </p:stCondLst>
                            <p:childTnLst>
                              <p:par>
                                <p:cTn id="61" presetID="1" presetClass="exit" presetSubtype="0" fill="hold" grpId="0" nodeType="afterEffect">
                                  <p:stCondLst>
                                    <p:cond delay="0"/>
                                  </p:stCondLst>
                                  <p:childTnLst>
                                    <p:set>
                                      <p:cBhvr>
                                        <p:cTn id="62" dur="1" fill="hold">
                                          <p:stCondLst>
                                            <p:cond delay="0"/>
                                          </p:stCondLst>
                                        </p:cTn>
                                        <p:tgtEl>
                                          <p:spTgt spid="38">
                                            <p:txEl>
                                              <p:pRg st="0" end="0"/>
                                            </p:txEl>
                                          </p:spTgt>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3">
                                            <p:txEl>
                                              <p:pRg st="0" end="0"/>
                                            </p:txEl>
                                          </p:spTgt>
                                        </p:tgtEl>
                                        <p:attrNameLst>
                                          <p:attrName>style.visibility</p:attrName>
                                        </p:attrNameLst>
                                      </p:cBhvr>
                                      <p:to>
                                        <p:strVal val="visible"/>
                                      </p:to>
                                    </p:set>
                                    <p:animEffect transition="in" filter="fade">
                                      <p:cBhvr>
                                        <p:cTn id="67" dur="500"/>
                                        <p:tgtEl>
                                          <p:spTgt spid="43">
                                            <p:txEl>
                                              <p:pRg st="0" end="0"/>
                                            </p:txEl>
                                          </p:spTgt>
                                        </p:tgtEl>
                                      </p:cBhvr>
                                    </p:animEffect>
                                  </p:childTnLst>
                                </p:cTn>
                              </p:par>
                              <p:par>
                                <p:cTn id="68" presetID="22" presetClass="entr" presetSubtype="2"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wipe(right)">
                                      <p:cBhvr>
                                        <p:cTn id="70" dur="1000"/>
                                        <p:tgtEl>
                                          <p:spTgt spid="41"/>
                                        </p:tgtEl>
                                      </p:cBhvr>
                                    </p:animEffect>
                                  </p:childTnLst>
                                </p:cTn>
                              </p:par>
                              <p:par>
                                <p:cTn id="71" presetID="10" presetClass="exit" presetSubtype="0" fill="hold" grpId="1" nodeType="withEffect">
                                  <p:stCondLst>
                                    <p:cond delay="0"/>
                                  </p:stCondLst>
                                  <p:childTnLst>
                                    <p:animEffect transition="out" filter="fade">
                                      <p:cBhvr>
                                        <p:cTn id="72" dur="1000"/>
                                        <p:tgtEl>
                                          <p:spTgt spid="29"/>
                                        </p:tgtEl>
                                      </p:cBhvr>
                                    </p:animEffect>
                                    <p:set>
                                      <p:cBhvr>
                                        <p:cTn id="73" dur="1" fill="hold">
                                          <p:stCondLst>
                                            <p:cond delay="999"/>
                                          </p:stCondLst>
                                        </p:cTn>
                                        <p:tgtEl>
                                          <p:spTgt spid="29"/>
                                        </p:tgtEl>
                                        <p:attrNameLst>
                                          <p:attrName>style.visibility</p:attrName>
                                        </p:attrNameLst>
                                      </p:cBhvr>
                                      <p:to>
                                        <p:strVal val="hidden"/>
                                      </p:to>
                                    </p:set>
                                  </p:childTnLst>
                                </p:cTn>
                              </p:par>
                            </p:childTnLst>
                          </p:cTn>
                        </p:par>
                        <p:par>
                          <p:cTn id="74" fill="hold">
                            <p:stCondLst>
                              <p:cond delay="1000"/>
                            </p:stCondLst>
                            <p:childTnLst>
                              <p:par>
                                <p:cTn id="75" presetID="1" presetClass="exit" presetSubtype="0" fill="hold" grpId="1" nodeType="afterEffect">
                                  <p:stCondLst>
                                    <p:cond delay="0"/>
                                  </p:stCondLst>
                                  <p:childTnLst>
                                    <p:set>
                                      <p:cBhvr>
                                        <p:cTn id="76" dur="1" fill="hold">
                                          <p:stCondLst>
                                            <p:cond delay="0"/>
                                          </p:stCondLst>
                                        </p:cTn>
                                        <p:tgtEl>
                                          <p:spTgt spid="41"/>
                                        </p:tgtEl>
                                        <p:attrNameLst>
                                          <p:attrName>style.visibility</p:attrName>
                                        </p:attrNameLst>
                                      </p:cBhvr>
                                      <p:to>
                                        <p:strVal val="hidden"/>
                                      </p:to>
                                    </p:set>
                                  </p:childTnLst>
                                </p:cTn>
                              </p:par>
                            </p:childTnLst>
                          </p:cTn>
                        </p:par>
                        <p:par>
                          <p:cTn id="77" fill="hold">
                            <p:stCondLst>
                              <p:cond delay="1000"/>
                            </p:stCondLst>
                            <p:childTnLst>
                              <p:par>
                                <p:cTn id="78" presetID="22" presetClass="entr" presetSubtype="2" fill="hold" grpId="0" nodeType="after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wipe(right)">
                                      <p:cBhvr>
                                        <p:cTn id="80" dur="1000"/>
                                        <p:tgtEl>
                                          <p:spTgt spid="44"/>
                                        </p:tgtEl>
                                      </p:cBhvr>
                                    </p:animEffect>
                                  </p:childTnLst>
                                </p:cTn>
                              </p:par>
                              <p:par>
                                <p:cTn id="81" presetID="10" presetClass="exit" presetSubtype="0" fill="hold" grpId="1" nodeType="withEffect">
                                  <p:stCondLst>
                                    <p:cond delay="0"/>
                                  </p:stCondLst>
                                  <p:childTnLst>
                                    <p:animEffect transition="out" filter="fade">
                                      <p:cBhvr>
                                        <p:cTn id="82" dur="1000"/>
                                        <p:tgtEl>
                                          <p:spTgt spid="33"/>
                                        </p:tgtEl>
                                      </p:cBhvr>
                                    </p:animEffect>
                                    <p:set>
                                      <p:cBhvr>
                                        <p:cTn id="83" dur="1" fill="hold">
                                          <p:stCondLst>
                                            <p:cond delay="999"/>
                                          </p:stCondLst>
                                        </p:cTn>
                                        <p:tgtEl>
                                          <p:spTgt spid="33"/>
                                        </p:tgtEl>
                                        <p:attrNameLst>
                                          <p:attrName>style.visibility</p:attrName>
                                        </p:attrNameLst>
                                      </p:cBhvr>
                                      <p:to>
                                        <p:strVal val="hidden"/>
                                      </p:to>
                                    </p:set>
                                  </p:childTnLst>
                                </p:cTn>
                              </p:par>
                            </p:childTnLst>
                          </p:cTn>
                        </p:par>
                        <p:par>
                          <p:cTn id="84" fill="hold">
                            <p:stCondLst>
                              <p:cond delay="2000"/>
                            </p:stCondLst>
                            <p:childTnLst>
                              <p:par>
                                <p:cTn id="85" presetID="1" presetClass="exit" presetSubtype="0" fill="hold" grpId="1" nodeType="afterEffect">
                                  <p:stCondLst>
                                    <p:cond delay="0"/>
                                  </p:stCondLst>
                                  <p:childTnLst>
                                    <p:set>
                                      <p:cBhvr>
                                        <p:cTn id="86" dur="1" fill="hold">
                                          <p:stCondLst>
                                            <p:cond delay="0"/>
                                          </p:stCondLst>
                                        </p:cTn>
                                        <p:tgtEl>
                                          <p:spTgt spid="44"/>
                                        </p:tgtEl>
                                        <p:attrNameLst>
                                          <p:attrName>style.visibility</p:attrName>
                                        </p:attrNameLst>
                                      </p:cBhvr>
                                      <p:to>
                                        <p:strVal val="hidden"/>
                                      </p:to>
                                    </p:set>
                                  </p:childTnLst>
                                </p:cTn>
                              </p:par>
                            </p:childTnLst>
                          </p:cTn>
                        </p:par>
                        <p:par>
                          <p:cTn id="87" fill="hold">
                            <p:stCondLst>
                              <p:cond delay="2000"/>
                            </p:stCondLst>
                            <p:childTnLst>
                              <p:par>
                                <p:cTn id="88" presetID="22" presetClass="entr" presetSubtype="2" fill="hold" grpId="0" nodeType="after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wipe(right)">
                                      <p:cBhvr>
                                        <p:cTn id="90" dur="1000"/>
                                        <p:tgtEl>
                                          <p:spTgt spid="46"/>
                                        </p:tgtEl>
                                      </p:cBhvr>
                                    </p:animEffect>
                                  </p:childTnLst>
                                </p:cTn>
                              </p:par>
                              <p:par>
                                <p:cTn id="91" presetID="10" presetClass="exit" presetSubtype="0" fill="hold" grpId="1" nodeType="withEffect">
                                  <p:stCondLst>
                                    <p:cond delay="0"/>
                                  </p:stCondLst>
                                  <p:childTnLst>
                                    <p:animEffect transition="out" filter="fade">
                                      <p:cBhvr>
                                        <p:cTn id="92" dur="1000"/>
                                        <p:tgtEl>
                                          <p:spTgt spid="34"/>
                                        </p:tgtEl>
                                      </p:cBhvr>
                                    </p:animEffect>
                                    <p:set>
                                      <p:cBhvr>
                                        <p:cTn id="93" dur="1" fill="hold">
                                          <p:stCondLst>
                                            <p:cond delay="999"/>
                                          </p:stCondLst>
                                        </p:cTn>
                                        <p:tgtEl>
                                          <p:spTgt spid="34"/>
                                        </p:tgtEl>
                                        <p:attrNameLst>
                                          <p:attrName>style.visibility</p:attrName>
                                        </p:attrNameLst>
                                      </p:cBhvr>
                                      <p:to>
                                        <p:strVal val="hidden"/>
                                      </p:to>
                                    </p:set>
                                  </p:childTnLst>
                                </p:cTn>
                              </p:par>
                            </p:childTnLst>
                          </p:cTn>
                        </p:par>
                        <p:par>
                          <p:cTn id="94" fill="hold">
                            <p:stCondLst>
                              <p:cond delay="3000"/>
                            </p:stCondLst>
                            <p:childTnLst>
                              <p:par>
                                <p:cTn id="95" presetID="1" presetClass="exit" presetSubtype="0" fill="hold" grpId="1" nodeType="afterEffect">
                                  <p:stCondLst>
                                    <p:cond delay="0"/>
                                  </p:stCondLst>
                                  <p:childTnLst>
                                    <p:set>
                                      <p:cBhvr>
                                        <p:cTn id="96" dur="1" fill="hold">
                                          <p:stCondLst>
                                            <p:cond delay="0"/>
                                          </p:stCondLst>
                                        </p:cTn>
                                        <p:tgtEl>
                                          <p:spTgt spid="46"/>
                                        </p:tgtEl>
                                        <p:attrNameLst>
                                          <p:attrName>style.visibility</p:attrName>
                                        </p:attrNameLst>
                                      </p:cBhvr>
                                      <p:to>
                                        <p:strVal val="hidden"/>
                                      </p:to>
                                    </p:set>
                                  </p:childTnLst>
                                </p:cTn>
                              </p:par>
                            </p:childTnLst>
                          </p:cTn>
                        </p:par>
                        <p:par>
                          <p:cTn id="97" fill="hold">
                            <p:stCondLst>
                              <p:cond delay="3000"/>
                            </p:stCondLst>
                            <p:childTnLst>
                              <p:par>
                                <p:cTn id="98" presetID="22" presetClass="entr" presetSubtype="2" fill="hold" grpId="0" nodeType="after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wipe(right)">
                                      <p:cBhvr>
                                        <p:cTn id="100" dur="1000"/>
                                        <p:tgtEl>
                                          <p:spTgt spid="47"/>
                                        </p:tgtEl>
                                      </p:cBhvr>
                                    </p:animEffect>
                                  </p:childTnLst>
                                </p:cTn>
                              </p:par>
                              <p:par>
                                <p:cTn id="101" presetID="10" presetClass="exit" presetSubtype="0" fill="hold" grpId="1" nodeType="withEffect">
                                  <p:stCondLst>
                                    <p:cond delay="0"/>
                                  </p:stCondLst>
                                  <p:childTnLst>
                                    <p:animEffect transition="out" filter="fade">
                                      <p:cBhvr>
                                        <p:cTn id="102" dur="1000"/>
                                        <p:tgtEl>
                                          <p:spTgt spid="35"/>
                                        </p:tgtEl>
                                      </p:cBhvr>
                                    </p:animEffect>
                                    <p:set>
                                      <p:cBhvr>
                                        <p:cTn id="103" dur="1" fill="hold">
                                          <p:stCondLst>
                                            <p:cond delay="999"/>
                                          </p:stCondLst>
                                        </p:cTn>
                                        <p:tgtEl>
                                          <p:spTgt spid="35"/>
                                        </p:tgtEl>
                                        <p:attrNameLst>
                                          <p:attrName>style.visibility</p:attrName>
                                        </p:attrNameLst>
                                      </p:cBhvr>
                                      <p:to>
                                        <p:strVal val="hidden"/>
                                      </p:to>
                                    </p:set>
                                  </p:childTnLst>
                                </p:cTn>
                              </p:par>
                            </p:childTnLst>
                          </p:cTn>
                        </p:par>
                        <p:par>
                          <p:cTn id="104" fill="hold">
                            <p:stCondLst>
                              <p:cond delay="4000"/>
                            </p:stCondLst>
                            <p:childTnLst>
                              <p:par>
                                <p:cTn id="105" presetID="1" presetClass="exit" presetSubtype="0" fill="hold" grpId="1" nodeType="afterEffect">
                                  <p:stCondLst>
                                    <p:cond delay="0"/>
                                  </p:stCondLst>
                                  <p:childTnLst>
                                    <p:set>
                                      <p:cBhvr>
                                        <p:cTn id="106" dur="1" fill="hold">
                                          <p:stCondLst>
                                            <p:cond delay="0"/>
                                          </p:stCondLst>
                                        </p:cTn>
                                        <p:tgtEl>
                                          <p:spTgt spid="47"/>
                                        </p:tgtEl>
                                        <p:attrNameLst>
                                          <p:attrName>style.visibility</p:attrName>
                                        </p:attrNameLst>
                                      </p:cBhvr>
                                      <p:to>
                                        <p:strVal val="hidden"/>
                                      </p:to>
                                    </p:set>
                                  </p:childTnLst>
                                </p:cTn>
                              </p:par>
                            </p:childTnLst>
                          </p:cTn>
                        </p:par>
                        <p:par>
                          <p:cTn id="107" fill="hold">
                            <p:stCondLst>
                              <p:cond delay="4000"/>
                            </p:stCondLst>
                            <p:childTnLst>
                              <p:par>
                                <p:cTn id="108" presetID="1" presetClass="exit" presetSubtype="0" fill="hold" grpId="0" nodeType="afterEffect">
                                  <p:stCondLst>
                                    <p:cond delay="0"/>
                                  </p:stCondLst>
                                  <p:childTnLst>
                                    <p:set>
                                      <p:cBhvr>
                                        <p:cTn id="109" dur="1" fill="hold">
                                          <p:stCondLst>
                                            <p:cond delay="0"/>
                                          </p:stCondLst>
                                        </p:cTn>
                                        <p:tgtEl>
                                          <p:spTgt spid="43">
                                            <p:txEl>
                                              <p:pRg st="0" end="0"/>
                                            </p:txEl>
                                          </p:spTgt>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grpId="0" nodeType="click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wipe(down)">
                                      <p:cBhvr>
                                        <p:cTn id="114" dur="1000"/>
                                        <p:tgtEl>
                                          <p:spTgt spid="48"/>
                                        </p:tgtEl>
                                      </p:cBhvr>
                                    </p:animEffect>
                                  </p:childTnLst>
                                </p:cTn>
                              </p:par>
                              <p:par>
                                <p:cTn id="115" presetID="10" presetClass="entr" presetSubtype="0" fill="hold" nodeType="withEffect">
                                  <p:stCondLst>
                                    <p:cond delay="500"/>
                                  </p:stCondLst>
                                  <p:childTnLst>
                                    <p:set>
                                      <p:cBhvr>
                                        <p:cTn id="116" dur="1" fill="hold">
                                          <p:stCondLst>
                                            <p:cond delay="0"/>
                                          </p:stCondLst>
                                        </p:cTn>
                                        <p:tgtEl>
                                          <p:spTgt spid="49">
                                            <p:txEl>
                                              <p:pRg st="0" end="0"/>
                                            </p:txEl>
                                          </p:spTgt>
                                        </p:tgtEl>
                                        <p:attrNameLst>
                                          <p:attrName>style.visibility</p:attrName>
                                        </p:attrNameLst>
                                      </p:cBhvr>
                                      <p:to>
                                        <p:strVal val="visible"/>
                                      </p:to>
                                    </p:set>
                                    <p:animEffect transition="in" filter="fade">
                                      <p:cBhvr>
                                        <p:cTn id="117" dur="750"/>
                                        <p:tgtEl>
                                          <p:spTgt spid="49">
                                            <p:txEl>
                                              <p:pRg st="0" end="0"/>
                                            </p:txEl>
                                          </p:spTgt>
                                        </p:tgtEl>
                                      </p:cBhvr>
                                    </p:animEffect>
                                  </p:childTnLst>
                                </p:cTn>
                              </p:par>
                            </p:childTnLst>
                          </p:cTn>
                        </p:par>
                        <p:par>
                          <p:cTn id="118" fill="hold">
                            <p:stCondLst>
                              <p:cond delay="1250"/>
                            </p:stCondLst>
                            <p:childTnLst>
                              <p:par>
                                <p:cTn id="119" presetID="1" presetClass="exit" presetSubtype="0" fill="hold" grpId="1" nodeType="afterEffect">
                                  <p:stCondLst>
                                    <p:cond delay="1000"/>
                                  </p:stCondLst>
                                  <p:childTnLst>
                                    <p:set>
                                      <p:cBhvr>
                                        <p:cTn id="120" dur="1" fill="hold">
                                          <p:stCondLst>
                                            <p:cond delay="0"/>
                                          </p:stCondLst>
                                        </p:cTn>
                                        <p:tgtEl>
                                          <p:spTgt spid="48"/>
                                        </p:tgtEl>
                                        <p:attrNameLst>
                                          <p:attrName>style.visibility</p:attrName>
                                        </p:attrNameLst>
                                      </p:cBhvr>
                                      <p:to>
                                        <p:strVal val="hidden"/>
                                      </p:to>
                                    </p:set>
                                  </p:childTnLst>
                                </p:cTn>
                              </p:par>
                            </p:childTnLst>
                          </p:cTn>
                        </p:par>
                        <p:par>
                          <p:cTn id="121" fill="hold">
                            <p:stCondLst>
                              <p:cond delay="2250"/>
                            </p:stCondLst>
                            <p:childTnLst>
                              <p:par>
                                <p:cTn id="122" presetID="1" presetClass="exit" presetSubtype="0" fill="hold" grpId="0" nodeType="afterEffect">
                                  <p:stCondLst>
                                    <p:cond delay="0"/>
                                  </p:stCondLst>
                                  <p:childTnLst>
                                    <p:set>
                                      <p:cBhvr>
                                        <p:cTn id="123" dur="1" fill="hold">
                                          <p:stCondLst>
                                            <p:cond delay="0"/>
                                          </p:stCondLst>
                                        </p:cTn>
                                        <p:tgtEl>
                                          <p:spTgt spid="49">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build="allAtOnce"/>
      <p:bldP spid="25" grpId="0" animBg="1"/>
      <p:bldP spid="25" grpId="1" animBg="1"/>
      <p:bldP spid="26" grpId="0" animBg="1"/>
      <p:bldP spid="26" grpId="1" animBg="1"/>
      <p:bldP spid="27" grpId="0" animBg="1"/>
      <p:bldP spid="27" grpId="1" animBg="1"/>
      <p:bldP spid="29" grpId="0" animBg="1"/>
      <p:bldP spid="29" grpId="1" animBg="1"/>
      <p:bldP spid="33" grpId="0" animBg="1"/>
      <p:bldP spid="33" grpId="1" animBg="1"/>
      <p:bldP spid="34" grpId="0" animBg="1"/>
      <p:bldP spid="34" grpId="1" animBg="1"/>
      <p:bldP spid="35" grpId="0" animBg="1"/>
      <p:bldP spid="35" grpId="1" animBg="1"/>
      <p:bldP spid="36" grpId="0" animBg="1"/>
      <p:bldP spid="36" grpId="1" animBg="1"/>
      <p:bldP spid="38" grpId="0" build="allAtOnce"/>
      <p:bldP spid="41" grpId="0" animBg="1"/>
      <p:bldP spid="41" grpId="1" animBg="1"/>
      <p:bldP spid="43" grpId="0" build="allAtOnce"/>
      <p:bldP spid="44" grpId="0" animBg="1"/>
      <p:bldP spid="44" grpId="1" animBg="1"/>
      <p:bldP spid="46" grpId="0" animBg="1"/>
      <p:bldP spid="46" grpId="1" animBg="1"/>
      <p:bldP spid="47" grpId="0" animBg="1"/>
      <p:bldP spid="47" grpId="1" animBg="1"/>
      <p:bldP spid="48" grpId="0" animBg="1"/>
      <p:bldP spid="48" grpId="1" animBg="1"/>
      <p:bldP spid="49" grpId="0" build="allAtOnce"/>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单核上：</a:t>
            </a:r>
            <a:r>
              <a:rPr lang="en-US" altLang="zh-CN" dirty="0"/>
              <a:t>Multiple</a:t>
            </a:r>
            <a:r>
              <a:rPr lang="zh-CN" altLang="en-US" dirty="0"/>
              <a:t> </a:t>
            </a:r>
            <a:r>
              <a:rPr lang="en-US" altLang="zh-CN" dirty="0"/>
              <a:t>Threads</a:t>
            </a:r>
            <a:endParaRPr lang="zh-CN" altLang="en-US" dirty="0"/>
          </a:p>
        </p:txBody>
      </p:sp>
      <p:sp>
        <p:nvSpPr>
          <p:cNvPr id="4" name="Text Box 18"/>
          <p:cNvSpPr txBox="1">
            <a:spLocks noChangeArrowheads="1"/>
          </p:cNvSpPr>
          <p:nvPr/>
        </p:nvSpPr>
        <p:spPr bwMode="auto">
          <a:xfrm>
            <a:off x="2599232" y="2258934"/>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5" name="Straight Connector 19"/>
          <p:cNvSpPr>
            <a:spLocks noChangeShapeType="1"/>
          </p:cNvSpPr>
          <p:nvPr/>
        </p:nvSpPr>
        <p:spPr bwMode="auto">
          <a:xfrm>
            <a:off x="2371757" y="4095500"/>
            <a:ext cx="4900544" cy="0"/>
          </a:xfrm>
          <a:prstGeom prst="line">
            <a:avLst/>
          </a:prstGeom>
          <a:noFill/>
          <a:ln w="25400">
            <a:solidFill>
              <a:srgbClr val="000000"/>
            </a:solidFill>
            <a:prstDash val="dash"/>
            <a:round/>
            <a:headEnd/>
            <a:tailEnd/>
          </a:ln>
          <a:effectLst>
            <a:outerShdw dist="20000" dir="5400000" rotWithShape="0">
              <a:srgbClr val="808080">
                <a:alpha val="37999"/>
              </a:srgbClr>
            </a:outerShdw>
          </a:effectLst>
          <a:extLst>
            <a:ext uri="{909E8E84-426E-40dd-AFC4-6F175D3DCCD1}">
              <a14:hiddenFill xmlns:a14="http://schemas.microsoft.com/office/drawing/2010/main" xmlns="">
                <a:noFill/>
              </a14:hiddenFill>
            </a:ext>
          </a:extLst>
        </p:spPr>
        <p:txBody>
          <a:bodyPr vert="horz" wrap="square" lIns="63500" tIns="31750" rIns="63500" bIns="3175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000000"/>
              </a:solidFill>
              <a:effectLst/>
              <a:uLnTx/>
              <a:uFillTx/>
              <a:latin typeface="Arial" panose="020B0604020202020204"/>
              <a:ea typeface="微软雅黑"/>
              <a:cs typeface="+mn-cs"/>
            </a:endParaRPr>
          </a:p>
        </p:txBody>
      </p:sp>
      <p:sp>
        <p:nvSpPr>
          <p:cNvPr id="7" name="Text Box 24"/>
          <p:cNvSpPr txBox="1">
            <a:spLocks noChangeArrowheads="1"/>
          </p:cNvSpPr>
          <p:nvPr/>
        </p:nvSpPr>
        <p:spPr bwMode="auto">
          <a:xfrm>
            <a:off x="2708651" y="4226605"/>
            <a:ext cx="1750194" cy="3500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horz"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667"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kernel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endParaRPr>
          </a:p>
        </p:txBody>
      </p:sp>
      <p:sp>
        <p:nvSpPr>
          <p:cNvPr id="8" name="Text Box 34"/>
          <p:cNvSpPr txBox="1">
            <a:spLocks noChangeArrowheads="1"/>
          </p:cNvSpPr>
          <p:nvPr/>
        </p:nvSpPr>
        <p:spPr bwMode="auto">
          <a:xfrm>
            <a:off x="5972155" y="3645209"/>
            <a:ext cx="1058850" cy="9005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31750" rIns="63500" bIns="31750" numCol="1" anchor="t" anchorCtr="0" compatLnSpc="1">
            <a:prstTxWarp prst="textNoShape">
              <a:avLst/>
            </a:prstTxWarp>
          </a:bodyPr>
          <a:lstStyle/>
          <a:p>
            <a:pPr marL="0" marR="0" lvl="0" indent="0" algn="just" defTabSz="634950" rtl="0" eaLnBrk="1" fontAlgn="base" latinLnBrk="0" hangingPunct="1">
              <a:lnSpc>
                <a:spcPct val="100000"/>
              </a:lnSpc>
              <a:spcBef>
                <a:spcPct val="0"/>
              </a:spcBef>
              <a:spcAft>
                <a:spcPct val="0"/>
              </a:spcAft>
              <a:buClrTx/>
              <a:buSzTx/>
              <a:buFontTx/>
              <a:buNone/>
              <a:tabLst/>
              <a:defRPr/>
            </a:pPr>
            <a:r>
              <a:rPr kumimoji="0" lang="en-US" altLang="zh-CN" sz="1111"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rPr>
              <a:t>User mode</a:t>
            </a:r>
          </a:p>
          <a:p>
            <a:pPr marL="0" marR="0" lvl="0" indent="0" algn="just" defTabSz="634950" rtl="0" eaLnBrk="1" fontAlgn="base" latinLnBrk="0" hangingPunct="1">
              <a:lnSpc>
                <a:spcPct val="100000"/>
              </a:lnSpc>
              <a:spcBef>
                <a:spcPct val="0"/>
              </a:spcBef>
              <a:spcAft>
                <a:spcPct val="0"/>
              </a:spcAft>
              <a:buClrTx/>
              <a:buSzTx/>
              <a:buFontTx/>
              <a:buNone/>
              <a:tabLst/>
              <a:defRPr/>
            </a:pPr>
            <a:endParaRPr kumimoji="0" lang="en-US" altLang="zh-CN" sz="1111"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endParaRPr>
          </a:p>
          <a:p>
            <a:pPr marL="0" marR="0" lvl="0" indent="0" algn="just" defTabSz="634950" rtl="0" eaLnBrk="1" fontAlgn="base" latinLnBrk="0" hangingPunct="1">
              <a:lnSpc>
                <a:spcPct val="100000"/>
              </a:lnSpc>
              <a:spcBef>
                <a:spcPct val="0"/>
              </a:spcBef>
              <a:spcAft>
                <a:spcPct val="0"/>
              </a:spcAft>
              <a:buClrTx/>
              <a:buSzTx/>
              <a:buFontTx/>
              <a:buNone/>
              <a:tabLst/>
              <a:defRPr/>
            </a:pPr>
            <a:endParaRPr kumimoji="0" lang="en-US" altLang="zh-CN" sz="1111"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endParaRPr>
          </a:p>
          <a:p>
            <a:pPr marL="0" marR="0" lvl="0" indent="0" algn="just" defTabSz="634950" rtl="0" eaLnBrk="1" fontAlgn="base" latinLnBrk="0" hangingPunct="1">
              <a:lnSpc>
                <a:spcPct val="100000"/>
              </a:lnSpc>
              <a:spcBef>
                <a:spcPct val="0"/>
              </a:spcBef>
              <a:spcAft>
                <a:spcPct val="0"/>
              </a:spcAft>
              <a:buClrTx/>
              <a:buSzTx/>
              <a:buFontTx/>
              <a:buNone/>
              <a:tabLst/>
              <a:defRPr/>
            </a:pPr>
            <a:endParaRPr kumimoji="0" lang="en-US" altLang="zh-CN" sz="1111"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endParaRPr>
          </a:p>
          <a:p>
            <a:pPr marL="0" marR="0" lvl="0" indent="0" algn="just" defTabSz="634950" rtl="0" eaLnBrk="1" fontAlgn="base" latinLnBrk="0" hangingPunct="1">
              <a:lnSpc>
                <a:spcPct val="100000"/>
              </a:lnSpc>
              <a:spcBef>
                <a:spcPct val="0"/>
              </a:spcBef>
              <a:spcAft>
                <a:spcPct val="0"/>
              </a:spcAft>
              <a:buClrTx/>
              <a:buSzTx/>
              <a:buFontTx/>
              <a:buNone/>
              <a:tabLst/>
              <a:defRPr/>
            </a:pPr>
            <a:r>
              <a:rPr kumimoji="0" lang="en-US" altLang="zh-CN" sz="1111" b="0" i="0" u="none" strike="noStrike" kern="1200" cap="none" spc="0" normalizeH="0" baseline="0" noProof="0" dirty="0">
                <a:ln>
                  <a:noFill/>
                </a:ln>
                <a:solidFill>
                  <a:srgbClr val="000000"/>
                </a:solidFill>
                <a:effectLst/>
                <a:uLnTx/>
                <a:uFillTx/>
                <a:latin typeface="Calibri" pitchFamily="34" charset="0"/>
                <a:ea typeface="宋体" pitchFamily="2" charset="-122"/>
                <a:cs typeface="宋体" pitchFamily="2" charset="-122"/>
              </a:rPr>
              <a:t>Kernel mode</a:t>
            </a:r>
            <a:endParaRPr kumimoji="0" lang="zh-CN" altLang="zh-CN" sz="1667" b="0" i="0" u="none" strike="noStrike" kern="1200" cap="none" spc="0" normalizeH="0" baseline="0" noProof="0" dirty="0">
              <a:ln>
                <a:noFill/>
              </a:ln>
              <a:solidFill>
                <a:srgbClr val="000000"/>
              </a:solidFill>
              <a:effectLst/>
              <a:uLnTx/>
              <a:uFillTx/>
              <a:latin typeface="Arial" pitchFamily="34" charset="0"/>
              <a:ea typeface="宋体" pitchFamily="2" charset="-122"/>
              <a:cs typeface="宋体" pitchFamily="2" charset="-122"/>
            </a:endParaRPr>
          </a:p>
        </p:txBody>
      </p:sp>
      <p:sp>
        <p:nvSpPr>
          <p:cNvPr id="10" name="Text Box 18"/>
          <p:cNvSpPr txBox="1">
            <a:spLocks noChangeArrowheads="1"/>
          </p:cNvSpPr>
          <p:nvPr/>
        </p:nvSpPr>
        <p:spPr bwMode="auto">
          <a:xfrm>
            <a:off x="3062599" y="2265860"/>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11" name="Text Box 18"/>
          <p:cNvSpPr txBox="1">
            <a:spLocks noChangeArrowheads="1"/>
          </p:cNvSpPr>
          <p:nvPr/>
        </p:nvSpPr>
        <p:spPr bwMode="auto">
          <a:xfrm>
            <a:off x="3531064" y="2265860"/>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12" name="圆角矩形 11"/>
          <p:cNvSpPr/>
          <p:nvPr/>
        </p:nvSpPr>
        <p:spPr>
          <a:xfrm>
            <a:off x="4922040" y="3308836"/>
            <a:ext cx="700078" cy="979952"/>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Sys call page</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13" name="圆角矩形 12"/>
          <p:cNvSpPr/>
          <p:nvPr/>
        </p:nvSpPr>
        <p:spPr>
          <a:xfrm>
            <a:off x="5022051" y="3396668"/>
            <a:ext cx="700078" cy="97995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Sys call page</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14" name="圆角矩形 13"/>
          <p:cNvSpPr/>
          <p:nvPr/>
        </p:nvSpPr>
        <p:spPr>
          <a:xfrm>
            <a:off x="5122062" y="3517691"/>
            <a:ext cx="700078" cy="979952"/>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Sys call page</a:t>
            </a:r>
            <a:endParaRPr kumimoji="0" lang="zh-CN" altLang="en-US" sz="1389" b="0" i="0" u="none" strike="noStrike" kern="1200" cap="none" spc="0" normalizeH="0" baseline="0" noProof="0" dirty="0">
              <a:ln>
                <a:noFill/>
              </a:ln>
              <a:solidFill>
                <a:srgbClr val="000000"/>
              </a:solidFill>
              <a:effectLst/>
              <a:uLnTx/>
              <a:uFillTx/>
              <a:latin typeface="Verdana" pitchFamily="34" charset="0"/>
              <a:ea typeface="微软雅黑"/>
              <a:cs typeface="Verdana" pitchFamily="34" charset="0"/>
            </a:endParaRPr>
          </a:p>
        </p:txBody>
      </p:sp>
      <p:sp>
        <p:nvSpPr>
          <p:cNvPr id="15" name="Text Box 18"/>
          <p:cNvSpPr txBox="1">
            <a:spLocks noChangeArrowheads="1"/>
          </p:cNvSpPr>
          <p:nvPr/>
        </p:nvSpPr>
        <p:spPr bwMode="auto">
          <a:xfrm>
            <a:off x="3981114" y="2263016"/>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17" name="右箭头 16"/>
          <p:cNvSpPr/>
          <p:nvPr/>
        </p:nvSpPr>
        <p:spPr>
          <a:xfrm rot="696842">
            <a:off x="2911882" y="3376414"/>
            <a:ext cx="2260273" cy="1539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18" name="圆角矩形 17"/>
          <p:cNvSpPr/>
          <p:nvPr/>
        </p:nvSpPr>
        <p:spPr>
          <a:xfrm>
            <a:off x="5230957" y="3617534"/>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a</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16" name="TextBox 15"/>
          <p:cNvSpPr txBox="1"/>
          <p:nvPr/>
        </p:nvSpPr>
        <p:spPr>
          <a:xfrm>
            <a:off x="3509802" y="3470068"/>
            <a:ext cx="1390124"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Push system call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19" name="环形箭头 18"/>
          <p:cNvSpPr/>
          <p:nvPr/>
        </p:nvSpPr>
        <p:spPr>
          <a:xfrm>
            <a:off x="2713789" y="1976354"/>
            <a:ext cx="558068" cy="548883"/>
          </a:xfrm>
          <a:prstGeom prst="circularArrow">
            <a:avLst>
              <a:gd name="adj1" fmla="val 6804"/>
              <a:gd name="adj2" fmla="val 1142319"/>
              <a:gd name="adj3" fmla="val 20366430"/>
              <a:gd name="adj4" fmla="val 10800000"/>
              <a:gd name="adj5" fmla="val 121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000000"/>
              </a:solidFill>
              <a:effectLst/>
              <a:uLnTx/>
              <a:uFillTx/>
              <a:latin typeface="Arial" panose="020B0604020202020204"/>
              <a:ea typeface="微软雅黑"/>
              <a:cs typeface="+mn-cs"/>
            </a:endParaRPr>
          </a:p>
        </p:txBody>
      </p:sp>
      <p:sp>
        <p:nvSpPr>
          <p:cNvPr id="20" name="TextBox 19"/>
          <p:cNvSpPr txBox="1"/>
          <p:nvPr/>
        </p:nvSpPr>
        <p:spPr>
          <a:xfrm>
            <a:off x="3038593" y="1848115"/>
            <a:ext cx="630301"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switch</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28" name="右箭头 27"/>
          <p:cNvSpPr/>
          <p:nvPr/>
        </p:nvSpPr>
        <p:spPr>
          <a:xfrm rot="701574">
            <a:off x="3268532" y="3414873"/>
            <a:ext cx="1933451" cy="165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29" name="圆角矩形 28"/>
          <p:cNvSpPr/>
          <p:nvPr/>
        </p:nvSpPr>
        <p:spPr>
          <a:xfrm>
            <a:off x="5535699" y="3617534"/>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b</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27" name="TextBox 26"/>
          <p:cNvSpPr txBox="1"/>
          <p:nvPr/>
        </p:nvSpPr>
        <p:spPr>
          <a:xfrm>
            <a:off x="3685739" y="3361054"/>
            <a:ext cx="1390124"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Push system call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33" name="环形箭头 32"/>
          <p:cNvSpPr/>
          <p:nvPr/>
        </p:nvSpPr>
        <p:spPr>
          <a:xfrm>
            <a:off x="3119581" y="1970890"/>
            <a:ext cx="558068" cy="548883"/>
          </a:xfrm>
          <a:prstGeom prst="circularArrow">
            <a:avLst>
              <a:gd name="adj1" fmla="val 6804"/>
              <a:gd name="adj2" fmla="val 1142319"/>
              <a:gd name="adj3" fmla="val 20366430"/>
              <a:gd name="adj4" fmla="val 10800000"/>
              <a:gd name="adj5" fmla="val 121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000000"/>
              </a:solidFill>
              <a:effectLst/>
              <a:uLnTx/>
              <a:uFillTx/>
              <a:latin typeface="Arial" panose="020B0604020202020204"/>
              <a:ea typeface="微软雅黑"/>
              <a:cs typeface="+mn-cs"/>
            </a:endParaRPr>
          </a:p>
        </p:txBody>
      </p:sp>
      <p:sp>
        <p:nvSpPr>
          <p:cNvPr id="34" name="TextBox 33"/>
          <p:cNvSpPr txBox="1"/>
          <p:nvPr/>
        </p:nvSpPr>
        <p:spPr>
          <a:xfrm>
            <a:off x="3444385" y="1842651"/>
            <a:ext cx="630301"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switch</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37" name="右箭头 36"/>
          <p:cNvSpPr/>
          <p:nvPr/>
        </p:nvSpPr>
        <p:spPr>
          <a:xfrm rot="701574">
            <a:off x="3668465" y="3462093"/>
            <a:ext cx="1527751" cy="1497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38" name="圆角矩形 37"/>
          <p:cNvSpPr/>
          <p:nvPr/>
        </p:nvSpPr>
        <p:spPr>
          <a:xfrm>
            <a:off x="5230956" y="3981796"/>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c</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39" name="TextBox 38"/>
          <p:cNvSpPr txBox="1"/>
          <p:nvPr/>
        </p:nvSpPr>
        <p:spPr>
          <a:xfrm>
            <a:off x="3804495" y="3389453"/>
            <a:ext cx="1390124"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Push system call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0" name="环形箭头 39"/>
          <p:cNvSpPr/>
          <p:nvPr/>
        </p:nvSpPr>
        <p:spPr>
          <a:xfrm>
            <a:off x="3589815" y="1959984"/>
            <a:ext cx="558068" cy="548883"/>
          </a:xfrm>
          <a:prstGeom prst="circularArrow">
            <a:avLst>
              <a:gd name="adj1" fmla="val 6804"/>
              <a:gd name="adj2" fmla="val 1142319"/>
              <a:gd name="adj3" fmla="val 20366430"/>
              <a:gd name="adj4" fmla="val 10800000"/>
              <a:gd name="adj5" fmla="val 121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000000"/>
              </a:solidFill>
              <a:effectLst/>
              <a:uLnTx/>
              <a:uFillTx/>
              <a:latin typeface="Arial" panose="020B0604020202020204"/>
              <a:ea typeface="微软雅黑"/>
              <a:cs typeface="+mn-cs"/>
            </a:endParaRPr>
          </a:p>
        </p:txBody>
      </p:sp>
      <p:sp>
        <p:nvSpPr>
          <p:cNvPr id="41" name="TextBox 40"/>
          <p:cNvSpPr txBox="1"/>
          <p:nvPr/>
        </p:nvSpPr>
        <p:spPr>
          <a:xfrm>
            <a:off x="3914619" y="1831745"/>
            <a:ext cx="630301"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switch</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2" name="右箭头 41"/>
          <p:cNvSpPr/>
          <p:nvPr/>
        </p:nvSpPr>
        <p:spPr>
          <a:xfrm rot="701574">
            <a:off x="4121839" y="3502009"/>
            <a:ext cx="1054782" cy="1489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3" name="圆角矩形 42"/>
          <p:cNvSpPr/>
          <p:nvPr/>
        </p:nvSpPr>
        <p:spPr>
          <a:xfrm>
            <a:off x="5535699" y="3976577"/>
            <a:ext cx="191138" cy="227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FFFFFF"/>
                </a:solidFill>
                <a:effectLst/>
                <a:uLnTx/>
                <a:uFillTx/>
                <a:latin typeface="Arial" panose="020B0604020202020204"/>
                <a:ea typeface="微软雅黑"/>
                <a:cs typeface="+mn-cs"/>
              </a:rPr>
              <a:t>d</a:t>
            </a:r>
            <a:endParaRPr kumimoji="0" lang="zh-CN" altLang="en-US" sz="1250" b="0" i="0" u="none" strike="noStrike" kern="1200" cap="none" spc="0" normalizeH="0" baseline="0" noProof="0" dirty="0">
              <a:ln>
                <a:noFill/>
              </a:ln>
              <a:solidFill>
                <a:srgbClr val="FFFFFF"/>
              </a:solidFill>
              <a:effectLst/>
              <a:uLnTx/>
              <a:uFillTx/>
              <a:latin typeface="Arial" panose="020B0604020202020204"/>
              <a:ea typeface="微软雅黑"/>
              <a:cs typeface="+mn-cs"/>
            </a:endParaRPr>
          </a:p>
        </p:txBody>
      </p:sp>
      <p:sp>
        <p:nvSpPr>
          <p:cNvPr id="44" name="TextBox 43"/>
          <p:cNvSpPr txBox="1"/>
          <p:nvPr/>
        </p:nvSpPr>
        <p:spPr>
          <a:xfrm>
            <a:off x="3788806" y="3396671"/>
            <a:ext cx="1390124"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Push system call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5" name="右箭头 44"/>
          <p:cNvSpPr/>
          <p:nvPr/>
        </p:nvSpPr>
        <p:spPr>
          <a:xfrm rot="5400000">
            <a:off x="3867606" y="3840607"/>
            <a:ext cx="754290" cy="1420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6" name="TextBox 45"/>
          <p:cNvSpPr txBox="1"/>
          <p:nvPr/>
        </p:nvSpPr>
        <p:spPr>
          <a:xfrm>
            <a:off x="3051913" y="3860877"/>
            <a:ext cx="1319592"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Switch to kernel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7" name="TextBox 46"/>
          <p:cNvSpPr txBox="1"/>
          <p:nvPr/>
        </p:nvSpPr>
        <p:spPr>
          <a:xfrm>
            <a:off x="4566065" y="4448404"/>
            <a:ext cx="1273105"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pull system call</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48" name="右箭头 47"/>
          <p:cNvSpPr/>
          <p:nvPr/>
        </p:nvSpPr>
        <p:spPr>
          <a:xfrm rot="9817356">
            <a:off x="4443370" y="4230365"/>
            <a:ext cx="761320" cy="175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49" name="右箭头 48"/>
          <p:cNvSpPr/>
          <p:nvPr/>
        </p:nvSpPr>
        <p:spPr>
          <a:xfrm rot="9817356">
            <a:off x="4441368" y="4230368"/>
            <a:ext cx="761320" cy="175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50" name="右箭头 49"/>
          <p:cNvSpPr/>
          <p:nvPr/>
        </p:nvSpPr>
        <p:spPr>
          <a:xfrm rot="9817356">
            <a:off x="4443370" y="4230369"/>
            <a:ext cx="761320" cy="175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51" name="右箭头 50"/>
          <p:cNvSpPr/>
          <p:nvPr/>
        </p:nvSpPr>
        <p:spPr>
          <a:xfrm rot="9817356">
            <a:off x="4441368" y="4230252"/>
            <a:ext cx="761320" cy="175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52" name="右箭头 51"/>
          <p:cNvSpPr/>
          <p:nvPr/>
        </p:nvSpPr>
        <p:spPr>
          <a:xfrm rot="16200000">
            <a:off x="2456764" y="3835810"/>
            <a:ext cx="763878" cy="1420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50" b="0" i="0" u="none" strike="noStrike" kern="1200" cap="none" spc="0" normalizeH="0" baseline="0" noProof="0">
              <a:ln>
                <a:noFill/>
              </a:ln>
              <a:solidFill>
                <a:srgbClr val="FFFFFF"/>
              </a:solidFill>
              <a:effectLst/>
              <a:uLnTx/>
              <a:uFillTx/>
              <a:latin typeface="Arial" panose="020B0604020202020204"/>
              <a:ea typeface="微软雅黑"/>
              <a:cs typeface="+mn-cs"/>
            </a:endParaRPr>
          </a:p>
        </p:txBody>
      </p:sp>
      <p:sp>
        <p:nvSpPr>
          <p:cNvPr id="53" name="TextBox 52"/>
          <p:cNvSpPr txBox="1"/>
          <p:nvPr/>
        </p:nvSpPr>
        <p:spPr>
          <a:xfrm>
            <a:off x="2866161" y="3871961"/>
            <a:ext cx="1048458" cy="4770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50" b="0" i="0" u="none" strike="noStrike" kern="1200" cap="none" spc="0" normalizeH="0" baseline="0" noProof="0" dirty="0">
                <a:ln>
                  <a:noFill/>
                </a:ln>
                <a:solidFill>
                  <a:srgbClr val="000000"/>
                </a:solidFill>
                <a:effectLst/>
                <a:uLnTx/>
                <a:uFillTx/>
                <a:latin typeface="Arial" panose="020B0604020202020204"/>
                <a:ea typeface="微软雅黑"/>
                <a:cs typeface="+mn-cs"/>
              </a:rPr>
              <a:t>Switch to user</a:t>
            </a:r>
            <a:endParaRPr kumimoji="0" lang="zh-CN" altLang="en-US" sz="1250" b="0" i="0" u="none" strike="noStrike" kern="1200" cap="none" spc="0" normalizeH="0" baseline="0" noProof="0" dirty="0">
              <a:ln>
                <a:noFill/>
              </a:ln>
              <a:solidFill>
                <a:srgbClr val="000000"/>
              </a:solidFill>
              <a:effectLst/>
              <a:uLnTx/>
              <a:uFillTx/>
              <a:latin typeface="Arial" panose="020B0604020202020204"/>
              <a:ea typeface="微软雅黑"/>
              <a:cs typeface="+mn-cs"/>
            </a:endParaRPr>
          </a:p>
        </p:txBody>
      </p:sp>
      <p:sp>
        <p:nvSpPr>
          <p:cNvPr id="54" name="Text Box 18"/>
          <p:cNvSpPr txBox="1">
            <a:spLocks noChangeArrowheads="1"/>
          </p:cNvSpPr>
          <p:nvPr/>
        </p:nvSpPr>
        <p:spPr bwMode="auto">
          <a:xfrm>
            <a:off x="2599232" y="2258934"/>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55" name="Text Box 18"/>
          <p:cNvSpPr txBox="1">
            <a:spLocks noChangeArrowheads="1"/>
          </p:cNvSpPr>
          <p:nvPr/>
        </p:nvSpPr>
        <p:spPr bwMode="auto">
          <a:xfrm>
            <a:off x="3062599" y="2265860"/>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56" name="Text Box 18"/>
          <p:cNvSpPr txBox="1">
            <a:spLocks noChangeArrowheads="1"/>
          </p:cNvSpPr>
          <p:nvPr/>
        </p:nvSpPr>
        <p:spPr bwMode="auto">
          <a:xfrm>
            <a:off x="3531063" y="2265860"/>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59" name="Text Box 18"/>
          <p:cNvSpPr txBox="1">
            <a:spLocks noChangeArrowheads="1"/>
          </p:cNvSpPr>
          <p:nvPr/>
        </p:nvSpPr>
        <p:spPr bwMode="auto">
          <a:xfrm>
            <a:off x="3979450" y="2263330"/>
            <a:ext cx="336862" cy="1250139"/>
          </a:xfrm>
          <a:prstGeom prst="rect">
            <a:avLst/>
          </a:prstGeom>
          <a:noFill/>
          <a:ln w="19050">
            <a:solidFill>
              <a:srgbClr val="000000"/>
            </a:solidFill>
            <a:prstDash val="dash"/>
            <a:miter lim="800000"/>
            <a:headEnd/>
            <a:tailEnd/>
          </a:ln>
          <a:extLst>
            <a:ext uri="{909E8E84-426E-40dd-AFC4-6F175D3DCCD1}">
              <a14:hiddenFill xmlns:a14="http://schemas.microsoft.com/office/drawing/2010/main" xmlns="">
                <a:solidFill>
                  <a:srgbClr val="FFFFFF"/>
                </a:solidFill>
              </a14:hiddenFill>
            </a:ext>
          </a:extLst>
        </p:spPr>
        <p:txBody>
          <a:bodyPr vert="eaVert" wrap="square" lIns="63500" tIns="31750" rIns="63500" bIns="31750" numCol="1" anchor="t" anchorCtr="0" compatLnSpc="1">
            <a:prstTxWarp prst="textNoShape">
              <a:avLst/>
            </a:prstTxWarp>
          </a:bodyPr>
          <a:lstStyle/>
          <a:p>
            <a:pPr marL="0" marR="0" lvl="0" indent="0" algn="ctr" defTabSz="634950" rtl="0" eaLnBrk="1" fontAlgn="base" latinLnBrk="0" hangingPunct="1">
              <a:lnSpc>
                <a:spcPct val="100000"/>
              </a:lnSpc>
              <a:spcBef>
                <a:spcPct val="0"/>
              </a:spcBef>
              <a:spcAft>
                <a:spcPct val="0"/>
              </a:spcAft>
              <a:buClrTx/>
              <a:buSzTx/>
              <a:buFontTx/>
              <a:buNone/>
              <a:tabLst/>
              <a:defRPr/>
            </a:pPr>
            <a:r>
              <a:rPr kumimoji="0" lang="en-US" altLang="zh-CN" sz="1389" b="0" i="0" u="none" strike="noStrike" kern="1200" cap="none" spc="0" normalizeH="0" baseline="0" noProof="0" dirty="0">
                <a:ln>
                  <a:noFill/>
                </a:ln>
                <a:solidFill>
                  <a:srgbClr val="000000"/>
                </a:solidFill>
                <a:effectLst/>
                <a:uLnTx/>
                <a:uFillTx/>
                <a:latin typeface="Verdana" pitchFamily="34" charset="0"/>
                <a:ea typeface="Verdana" pitchFamily="34" charset="0"/>
                <a:cs typeface="Verdana" pitchFamily="34" charset="0"/>
              </a:rPr>
              <a:t>user thread</a:t>
            </a:r>
            <a:endParaRPr kumimoji="0" lang="zh-CN" altLang="zh-CN" sz="1667" b="0" i="0" u="none" strike="noStrike" kern="1200" cap="none" spc="0" normalizeH="0" baseline="0" noProof="0" dirty="0">
              <a:ln>
                <a:noFill/>
              </a:ln>
              <a:solidFill>
                <a:srgbClr val="000000"/>
              </a:solidFill>
              <a:effectLst/>
              <a:uLnTx/>
              <a:uFillTx/>
              <a:latin typeface="Verdana" pitchFamily="34" charset="0"/>
              <a:ea typeface="宋体" pitchFamily="2" charset="-122"/>
              <a:cs typeface="Verdana" pitchFamily="34" charset="0"/>
            </a:endParaRPr>
          </a:p>
        </p:txBody>
      </p:sp>
      <p:sp>
        <p:nvSpPr>
          <p:cNvPr id="9" name="矩形 8"/>
          <p:cNvSpPr/>
          <p:nvPr/>
        </p:nvSpPr>
        <p:spPr>
          <a:xfrm>
            <a:off x="1503040" y="4837720"/>
            <a:ext cx="6669360" cy="297454"/>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333" b="0" i="0" u="none" strike="noStrike" kern="1200" cap="none" spc="0" normalizeH="0" baseline="0" noProof="0" dirty="0" err="1">
                <a:ln>
                  <a:noFill/>
                </a:ln>
                <a:solidFill>
                  <a:srgbClr val="FFFFFF">
                    <a:lumMod val="75000"/>
                  </a:srgbClr>
                </a:solidFill>
                <a:effectLst/>
                <a:uLnTx/>
                <a:uFillTx/>
                <a:latin typeface="Microsoft YaHei Light" charset="0"/>
                <a:ea typeface="Microsoft YaHei Light" charset="0"/>
                <a:cs typeface="Microsoft YaHei Light" charset="0"/>
              </a:rPr>
              <a:t>FlexSC</a:t>
            </a:r>
            <a:r>
              <a:rPr kumimoji="0" lang="en-US" altLang="zh-CN" sz="1333" b="0" i="0" u="none" strike="noStrike" kern="1200" cap="none" spc="0" normalizeH="0" baseline="0" noProof="0" dirty="0">
                <a:ln>
                  <a:noFill/>
                </a:ln>
                <a:solidFill>
                  <a:srgbClr val="FFFFFF">
                    <a:lumMod val="75000"/>
                  </a:srgbClr>
                </a:solidFill>
                <a:effectLst/>
                <a:uLnTx/>
                <a:uFillTx/>
                <a:latin typeface="Microsoft YaHei Light" charset="0"/>
                <a:ea typeface="Microsoft YaHei Light" charset="0"/>
                <a:cs typeface="Microsoft YaHei Light" charset="0"/>
              </a:rPr>
              <a:t>: Flexible System Call Scheduling with Exception-Less System Calls </a:t>
            </a:r>
          </a:p>
        </p:txBody>
      </p:sp>
    </p:spTree>
    <p:extLst>
      <p:ext uri="{BB962C8B-B14F-4D97-AF65-F5344CB8AC3E}">
        <p14:creationId xmlns:p14="http://schemas.microsoft.com/office/powerpoint/2010/main" val="212835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10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childTnLst>
                          </p:cTn>
                        </p:par>
                        <p:par>
                          <p:cTn id="14" fill="hold">
                            <p:stCondLst>
                              <p:cond delay="1000"/>
                            </p:stCondLst>
                            <p:childTnLst>
                              <p:par>
                                <p:cTn id="15" presetID="1" presetClass="exit" presetSubtype="0" fill="hold" grpId="1" nodeType="afterEffect">
                                  <p:stCondLst>
                                    <p:cond delay="500"/>
                                  </p:stCondLst>
                                  <p:childTnLst>
                                    <p:set>
                                      <p:cBhvr>
                                        <p:cTn id="16" dur="1" fill="hold">
                                          <p:stCondLst>
                                            <p:cond delay="0"/>
                                          </p:stCondLst>
                                        </p:cTn>
                                        <p:tgtEl>
                                          <p:spTgt spid="17"/>
                                        </p:tgtEl>
                                        <p:attrNameLst>
                                          <p:attrName>style.visibility</p:attrName>
                                        </p:attrNameLst>
                                      </p:cBhvr>
                                      <p:to>
                                        <p:strVal val="hidden"/>
                                      </p:to>
                                    </p:set>
                                  </p:childTnLst>
                                </p:cTn>
                              </p:par>
                            </p:childTnLst>
                          </p:cTn>
                        </p:par>
                        <p:par>
                          <p:cTn id="17" fill="hold">
                            <p:stCondLst>
                              <p:cond delay="1500"/>
                            </p:stCondLst>
                            <p:childTnLst>
                              <p:par>
                                <p:cTn id="18" presetID="1" presetClass="exit" presetSubtype="0" fill="hold" grpId="0" nodeType="afterEffect">
                                  <p:stCondLst>
                                    <p:cond delay="0"/>
                                  </p:stCondLst>
                                  <p:childTnLst>
                                    <p:set>
                                      <p:cBhvr>
                                        <p:cTn id="19" dur="1" fill="hold">
                                          <p:stCondLst>
                                            <p:cond delay="0"/>
                                          </p:stCondLst>
                                        </p:cTn>
                                        <p:tgtEl>
                                          <p:spTgt spid="16">
                                            <p:txEl>
                                              <p:pRg st="0" end="0"/>
                                            </p:txEl>
                                          </p:spTgt>
                                        </p:tgtEl>
                                        <p:attrNameLst>
                                          <p:attrName>style.visibility</p:attrName>
                                        </p:attrNameLst>
                                      </p:cBhvr>
                                      <p:to>
                                        <p:strVal val="hidden"/>
                                      </p:to>
                                    </p:set>
                                  </p:childTnLst>
                                </p:cTn>
                              </p:par>
                            </p:childTnLst>
                          </p:cTn>
                        </p:par>
                        <p:par>
                          <p:cTn id="20" fill="hold">
                            <p:stCondLst>
                              <p:cond delay="1500"/>
                            </p:stCondLst>
                            <p:childTnLst>
                              <p:par>
                                <p:cTn id="21" presetID="9" presetClass="emph" presetSubtype="0" grpId="0" nodeType="afterEffect">
                                  <p:stCondLst>
                                    <p:cond delay="250"/>
                                  </p:stCondLst>
                                  <p:childTnLst>
                                    <p:set>
                                      <p:cBhvr rctx="PPT">
                                        <p:cTn id="22" dur="indefinite"/>
                                        <p:tgtEl>
                                          <p:spTgt spid="4"/>
                                        </p:tgtEl>
                                        <p:attrNameLst>
                                          <p:attrName>style.opacity</p:attrName>
                                        </p:attrNameLst>
                                      </p:cBhvr>
                                      <p:to>
                                        <p:strVal val="0.5"/>
                                      </p:to>
                                    </p:set>
                                    <p:animEffect filter="image" prLst="opacity: 0.5">
                                      <p:cBhvr rctx="IE">
                                        <p:cTn id="23" dur="indefinite"/>
                                        <p:tgtEl>
                                          <p:spTgt spid="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childTnLst>
                                </p:cTn>
                              </p:par>
                              <p:par>
                                <p:cTn id="27" presetID="10" presetClass="entr" presetSubtype="0" fill="hold" nodeType="withEffect">
                                  <p:stCondLst>
                                    <p:cond delay="0"/>
                                  </p:stCondLst>
                                  <p:childTnLst>
                                    <p:set>
                                      <p:cBhvr>
                                        <p:cTn id="28" dur="1" fill="hold">
                                          <p:stCondLst>
                                            <p:cond delay="0"/>
                                          </p:stCondLst>
                                        </p:cTn>
                                        <p:tgtEl>
                                          <p:spTgt spid="20">
                                            <p:txEl>
                                              <p:pRg st="0" end="0"/>
                                            </p:txEl>
                                          </p:spTgt>
                                        </p:tgtEl>
                                        <p:attrNameLst>
                                          <p:attrName>style.visibility</p:attrName>
                                        </p:attrNameLst>
                                      </p:cBhvr>
                                      <p:to>
                                        <p:strVal val="visible"/>
                                      </p:to>
                                    </p:set>
                                    <p:animEffect transition="in" filter="fade">
                                      <p:cBhvr>
                                        <p:cTn id="29" dur="750"/>
                                        <p:tgtEl>
                                          <p:spTgt spid="20">
                                            <p:txEl>
                                              <p:pRg st="0" end="0"/>
                                            </p:txEl>
                                          </p:spTgt>
                                        </p:tgtEl>
                                      </p:cBhvr>
                                    </p:animEffect>
                                  </p:childTnLst>
                                </p:cTn>
                              </p:par>
                            </p:childTnLst>
                          </p:cTn>
                        </p:par>
                        <p:par>
                          <p:cTn id="30" fill="hold">
                            <p:stCondLst>
                              <p:cond delay="2500"/>
                            </p:stCondLst>
                            <p:childTnLst>
                              <p:par>
                                <p:cTn id="31" presetID="1" presetClass="exit" presetSubtype="0" fill="hold" grpId="0" nodeType="afterEffect">
                                  <p:stCondLst>
                                    <p:cond delay="500"/>
                                  </p:stCondLst>
                                  <p:childTnLst>
                                    <p:set>
                                      <p:cBhvr>
                                        <p:cTn id="32" dur="1" fill="hold">
                                          <p:stCondLst>
                                            <p:cond delay="0"/>
                                          </p:stCondLst>
                                        </p:cTn>
                                        <p:tgtEl>
                                          <p:spTgt spid="20">
                                            <p:txEl>
                                              <p:pRg st="0" end="0"/>
                                            </p:txEl>
                                          </p:spTgt>
                                        </p:tgtEl>
                                        <p:attrNameLst>
                                          <p:attrName>style.visibility</p:attrName>
                                        </p:attrNameLst>
                                      </p:cBhvr>
                                      <p:to>
                                        <p:strVal val="hidden"/>
                                      </p:to>
                                    </p:set>
                                  </p:childTnLst>
                                </p:cTn>
                              </p:par>
                            </p:childTnLst>
                          </p:cTn>
                        </p:par>
                        <p:par>
                          <p:cTn id="33" fill="hold">
                            <p:stCondLst>
                              <p:cond delay="3000"/>
                            </p:stCondLst>
                            <p:childTnLst>
                              <p:par>
                                <p:cTn id="34" presetID="10" presetClass="exit" presetSubtype="0" fill="hold" grpId="1" nodeType="afterEffect">
                                  <p:stCondLst>
                                    <p:cond delay="0"/>
                                  </p:stCondLst>
                                  <p:childTnLst>
                                    <p:animEffect transition="out" filter="fade">
                                      <p:cBhvr>
                                        <p:cTn id="35" dur="500"/>
                                        <p:tgtEl>
                                          <p:spTgt spid="19"/>
                                        </p:tgtEl>
                                      </p:cBhvr>
                                    </p:animEffect>
                                    <p:set>
                                      <p:cBhvr>
                                        <p:cTn id="36" dur="1" fill="hold">
                                          <p:stCondLst>
                                            <p:cond delay="499"/>
                                          </p:stCondLst>
                                        </p:cTn>
                                        <p:tgtEl>
                                          <p:spTgt spid="1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7">
                                            <p:txEl>
                                              <p:pRg st="0" end="0"/>
                                            </p:txEl>
                                          </p:spTgt>
                                        </p:tgtEl>
                                        <p:attrNameLst>
                                          <p:attrName>style.visibility</p:attrName>
                                        </p:attrNameLst>
                                      </p:cBhvr>
                                      <p:to>
                                        <p:strVal val="visible"/>
                                      </p:to>
                                    </p:set>
                                    <p:animEffect transition="in" filter="fade">
                                      <p:cBhvr>
                                        <p:cTn id="41" dur="500"/>
                                        <p:tgtEl>
                                          <p:spTgt spid="27">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1000"/>
                                        <p:tgtEl>
                                          <p:spTgt spid="29"/>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left)">
                                      <p:cBhvr>
                                        <p:cTn id="47" dur="1000"/>
                                        <p:tgtEl>
                                          <p:spTgt spid="28"/>
                                        </p:tgtEl>
                                      </p:cBhvr>
                                    </p:animEffect>
                                  </p:childTnLst>
                                </p:cTn>
                              </p:par>
                            </p:childTnLst>
                          </p:cTn>
                        </p:par>
                        <p:par>
                          <p:cTn id="48" fill="hold">
                            <p:stCondLst>
                              <p:cond delay="1000"/>
                            </p:stCondLst>
                            <p:childTnLst>
                              <p:par>
                                <p:cTn id="49" presetID="1" presetClass="exit" presetSubtype="0" fill="hold" grpId="1" nodeType="afterEffect">
                                  <p:stCondLst>
                                    <p:cond delay="500"/>
                                  </p:stCondLst>
                                  <p:childTnLst>
                                    <p:set>
                                      <p:cBhvr>
                                        <p:cTn id="50" dur="1" fill="hold">
                                          <p:stCondLst>
                                            <p:cond delay="0"/>
                                          </p:stCondLst>
                                        </p:cTn>
                                        <p:tgtEl>
                                          <p:spTgt spid="28"/>
                                        </p:tgtEl>
                                        <p:attrNameLst>
                                          <p:attrName>style.visibility</p:attrName>
                                        </p:attrNameLst>
                                      </p:cBhvr>
                                      <p:to>
                                        <p:strVal val="hidden"/>
                                      </p:to>
                                    </p:set>
                                  </p:childTnLst>
                                </p:cTn>
                              </p:par>
                            </p:childTnLst>
                          </p:cTn>
                        </p:par>
                        <p:par>
                          <p:cTn id="51" fill="hold">
                            <p:stCondLst>
                              <p:cond delay="1500"/>
                            </p:stCondLst>
                            <p:childTnLst>
                              <p:par>
                                <p:cTn id="52" presetID="1" presetClass="exit" presetSubtype="0" fill="hold" grpId="0" nodeType="afterEffect">
                                  <p:stCondLst>
                                    <p:cond delay="0"/>
                                  </p:stCondLst>
                                  <p:childTnLst>
                                    <p:set>
                                      <p:cBhvr>
                                        <p:cTn id="53" dur="1" fill="hold">
                                          <p:stCondLst>
                                            <p:cond delay="0"/>
                                          </p:stCondLst>
                                        </p:cTn>
                                        <p:tgtEl>
                                          <p:spTgt spid="27">
                                            <p:txEl>
                                              <p:pRg st="0" end="0"/>
                                            </p:txEl>
                                          </p:spTgt>
                                        </p:tgtEl>
                                        <p:attrNameLst>
                                          <p:attrName>style.visibility</p:attrName>
                                        </p:attrNameLst>
                                      </p:cBhvr>
                                      <p:to>
                                        <p:strVal val="hidden"/>
                                      </p:to>
                                    </p:set>
                                  </p:childTnLst>
                                </p:cTn>
                              </p:par>
                            </p:childTnLst>
                          </p:cTn>
                        </p:par>
                        <p:par>
                          <p:cTn id="54" fill="hold">
                            <p:stCondLst>
                              <p:cond delay="1500"/>
                            </p:stCondLst>
                            <p:childTnLst>
                              <p:par>
                                <p:cTn id="55" presetID="9" presetClass="emph" presetSubtype="0" grpId="0" nodeType="afterEffect">
                                  <p:stCondLst>
                                    <p:cond delay="250"/>
                                  </p:stCondLst>
                                  <p:childTnLst>
                                    <p:set>
                                      <p:cBhvr rctx="PPT">
                                        <p:cTn id="56" dur="indefinite"/>
                                        <p:tgtEl>
                                          <p:spTgt spid="10"/>
                                        </p:tgtEl>
                                        <p:attrNameLst>
                                          <p:attrName>style.opacity</p:attrName>
                                        </p:attrNameLst>
                                      </p:cBhvr>
                                      <p:to>
                                        <p:strVal val="0.5"/>
                                      </p:to>
                                    </p:set>
                                    <p:animEffect filter="image" prLst="opacity: 0.5">
                                      <p:cBhvr rctx="IE">
                                        <p:cTn id="57" dur="indefinite"/>
                                        <p:tgtEl>
                                          <p:spTgt spid="10"/>
                                        </p:tgtEl>
                                      </p:cBhvr>
                                    </p:animEffect>
                                  </p:childTnLst>
                                </p:cTn>
                              </p:par>
                            </p:childTnLst>
                          </p:cTn>
                        </p:par>
                        <p:par>
                          <p:cTn id="58" fill="hold">
                            <p:stCondLst>
                              <p:cond delay="1750"/>
                            </p:stCondLst>
                            <p:childTnLst>
                              <p:par>
                                <p:cTn id="59" presetID="10" presetClass="entr" presetSubtype="0" fill="hold" grpId="0" nodeType="after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1000"/>
                                        <p:tgtEl>
                                          <p:spTgt spid="33"/>
                                        </p:tgtEl>
                                      </p:cBhvr>
                                    </p:animEffect>
                                  </p:childTnLst>
                                </p:cTn>
                              </p:par>
                              <p:par>
                                <p:cTn id="62" presetID="10" presetClass="entr" presetSubtype="0" fill="hold" nodeType="withEffect">
                                  <p:stCondLst>
                                    <p:cond delay="0"/>
                                  </p:stCondLst>
                                  <p:childTnLst>
                                    <p:set>
                                      <p:cBhvr>
                                        <p:cTn id="63" dur="1" fill="hold">
                                          <p:stCondLst>
                                            <p:cond delay="0"/>
                                          </p:stCondLst>
                                        </p:cTn>
                                        <p:tgtEl>
                                          <p:spTgt spid="34">
                                            <p:txEl>
                                              <p:pRg st="0" end="0"/>
                                            </p:txEl>
                                          </p:spTgt>
                                        </p:tgtEl>
                                        <p:attrNameLst>
                                          <p:attrName>style.visibility</p:attrName>
                                        </p:attrNameLst>
                                      </p:cBhvr>
                                      <p:to>
                                        <p:strVal val="visible"/>
                                      </p:to>
                                    </p:set>
                                    <p:animEffect transition="in" filter="fade">
                                      <p:cBhvr>
                                        <p:cTn id="64" dur="750"/>
                                        <p:tgtEl>
                                          <p:spTgt spid="34">
                                            <p:txEl>
                                              <p:pRg st="0" end="0"/>
                                            </p:txEl>
                                          </p:spTgt>
                                        </p:tgtEl>
                                      </p:cBhvr>
                                    </p:animEffect>
                                  </p:childTnLst>
                                </p:cTn>
                              </p:par>
                            </p:childTnLst>
                          </p:cTn>
                        </p:par>
                        <p:par>
                          <p:cTn id="65" fill="hold">
                            <p:stCondLst>
                              <p:cond delay="2750"/>
                            </p:stCondLst>
                            <p:childTnLst>
                              <p:par>
                                <p:cTn id="66" presetID="1" presetClass="exit" presetSubtype="0" fill="hold" grpId="0" nodeType="afterEffect">
                                  <p:stCondLst>
                                    <p:cond delay="500"/>
                                  </p:stCondLst>
                                  <p:childTnLst>
                                    <p:set>
                                      <p:cBhvr>
                                        <p:cTn id="67" dur="1" fill="hold">
                                          <p:stCondLst>
                                            <p:cond delay="0"/>
                                          </p:stCondLst>
                                        </p:cTn>
                                        <p:tgtEl>
                                          <p:spTgt spid="34">
                                            <p:txEl>
                                              <p:pRg st="0" end="0"/>
                                            </p:txEl>
                                          </p:spTgt>
                                        </p:tgtEl>
                                        <p:attrNameLst>
                                          <p:attrName>style.visibility</p:attrName>
                                        </p:attrNameLst>
                                      </p:cBhvr>
                                      <p:to>
                                        <p:strVal val="hidden"/>
                                      </p:to>
                                    </p:set>
                                  </p:childTnLst>
                                </p:cTn>
                              </p:par>
                            </p:childTnLst>
                          </p:cTn>
                        </p:par>
                        <p:par>
                          <p:cTn id="68" fill="hold">
                            <p:stCondLst>
                              <p:cond delay="3250"/>
                            </p:stCondLst>
                            <p:childTnLst>
                              <p:par>
                                <p:cTn id="69" presetID="10" presetClass="exit" presetSubtype="0" fill="hold" grpId="1" nodeType="afterEffect">
                                  <p:stCondLst>
                                    <p:cond delay="0"/>
                                  </p:stCondLst>
                                  <p:childTnLst>
                                    <p:animEffect transition="out" filter="fade">
                                      <p:cBhvr>
                                        <p:cTn id="70" dur="500"/>
                                        <p:tgtEl>
                                          <p:spTgt spid="33"/>
                                        </p:tgtEl>
                                      </p:cBhvr>
                                    </p:animEffect>
                                    <p:set>
                                      <p:cBhvr>
                                        <p:cTn id="71" dur="1" fill="hold">
                                          <p:stCondLst>
                                            <p:cond delay="499"/>
                                          </p:stCondLst>
                                        </p:cTn>
                                        <p:tgtEl>
                                          <p:spTgt spid="33"/>
                                        </p:tgtEl>
                                        <p:attrNameLst>
                                          <p:attrName>style.visibility</p:attrName>
                                        </p:attrNameLst>
                                      </p:cBhvr>
                                      <p:to>
                                        <p:strVal val="hidden"/>
                                      </p:to>
                                    </p:set>
                                  </p:childTnLst>
                                </p:cTn>
                              </p:par>
                            </p:childTnLst>
                          </p:cTn>
                        </p:par>
                        <p:par>
                          <p:cTn id="72" fill="hold">
                            <p:stCondLst>
                              <p:cond delay="4250"/>
                            </p:stCondLst>
                            <p:childTnLst>
                              <p:par>
                                <p:cTn id="73" presetID="10" presetClass="entr" presetSubtype="0" fill="hold" nodeType="afterEffect">
                                  <p:stCondLst>
                                    <p:cond delay="500"/>
                                  </p:stCondLst>
                                  <p:childTnLst>
                                    <p:set>
                                      <p:cBhvr>
                                        <p:cTn id="74" dur="1" fill="hold">
                                          <p:stCondLst>
                                            <p:cond delay="0"/>
                                          </p:stCondLst>
                                        </p:cTn>
                                        <p:tgtEl>
                                          <p:spTgt spid="39">
                                            <p:txEl>
                                              <p:pRg st="0" end="0"/>
                                            </p:txEl>
                                          </p:spTgt>
                                        </p:tgtEl>
                                        <p:attrNameLst>
                                          <p:attrName>style.visibility</p:attrName>
                                        </p:attrNameLst>
                                      </p:cBhvr>
                                      <p:to>
                                        <p:strVal val="visible"/>
                                      </p:to>
                                    </p:set>
                                    <p:animEffect transition="in" filter="fade">
                                      <p:cBhvr>
                                        <p:cTn id="75" dur="500"/>
                                        <p:tgtEl>
                                          <p:spTgt spid="39">
                                            <p:txEl>
                                              <p:pRg st="0" end="0"/>
                                            </p:txEl>
                                          </p:spTgt>
                                        </p:tgtEl>
                                      </p:cBhvr>
                                    </p:animEffect>
                                  </p:childTnLst>
                                </p:cTn>
                              </p:par>
                              <p:par>
                                <p:cTn id="76" presetID="10" presetClass="entr" presetSubtype="0" fill="hold" grpId="0" nodeType="withEffect">
                                  <p:stCondLst>
                                    <p:cond delay="50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1000"/>
                                        <p:tgtEl>
                                          <p:spTgt spid="38"/>
                                        </p:tgtEl>
                                      </p:cBhvr>
                                    </p:animEffect>
                                  </p:childTnLst>
                                </p:cTn>
                              </p:par>
                              <p:par>
                                <p:cTn id="79" presetID="22" presetClass="entr" presetSubtype="8" fill="hold" grpId="0" nodeType="withEffect">
                                  <p:stCondLst>
                                    <p:cond delay="500"/>
                                  </p:stCondLst>
                                  <p:childTnLst>
                                    <p:set>
                                      <p:cBhvr>
                                        <p:cTn id="80" dur="1" fill="hold">
                                          <p:stCondLst>
                                            <p:cond delay="0"/>
                                          </p:stCondLst>
                                        </p:cTn>
                                        <p:tgtEl>
                                          <p:spTgt spid="37"/>
                                        </p:tgtEl>
                                        <p:attrNameLst>
                                          <p:attrName>style.visibility</p:attrName>
                                        </p:attrNameLst>
                                      </p:cBhvr>
                                      <p:to>
                                        <p:strVal val="visible"/>
                                      </p:to>
                                    </p:set>
                                    <p:animEffect transition="in" filter="wipe(left)">
                                      <p:cBhvr>
                                        <p:cTn id="81" dur="1000"/>
                                        <p:tgtEl>
                                          <p:spTgt spid="37"/>
                                        </p:tgtEl>
                                      </p:cBhvr>
                                    </p:animEffect>
                                  </p:childTnLst>
                                </p:cTn>
                              </p:par>
                            </p:childTnLst>
                          </p:cTn>
                        </p:par>
                        <p:par>
                          <p:cTn id="82" fill="hold">
                            <p:stCondLst>
                              <p:cond delay="5750"/>
                            </p:stCondLst>
                            <p:childTnLst>
                              <p:par>
                                <p:cTn id="83" presetID="1" presetClass="exit" presetSubtype="0" fill="hold" grpId="1" nodeType="afterEffect">
                                  <p:stCondLst>
                                    <p:cond delay="500"/>
                                  </p:stCondLst>
                                  <p:childTnLst>
                                    <p:set>
                                      <p:cBhvr>
                                        <p:cTn id="84" dur="1" fill="hold">
                                          <p:stCondLst>
                                            <p:cond delay="0"/>
                                          </p:stCondLst>
                                        </p:cTn>
                                        <p:tgtEl>
                                          <p:spTgt spid="37"/>
                                        </p:tgtEl>
                                        <p:attrNameLst>
                                          <p:attrName>style.visibility</p:attrName>
                                        </p:attrNameLst>
                                      </p:cBhvr>
                                      <p:to>
                                        <p:strVal val="hidden"/>
                                      </p:to>
                                    </p:set>
                                  </p:childTnLst>
                                </p:cTn>
                              </p:par>
                            </p:childTnLst>
                          </p:cTn>
                        </p:par>
                        <p:par>
                          <p:cTn id="85" fill="hold">
                            <p:stCondLst>
                              <p:cond delay="6250"/>
                            </p:stCondLst>
                            <p:childTnLst>
                              <p:par>
                                <p:cTn id="86" presetID="1" presetClass="exit" presetSubtype="0" fill="hold" grpId="0" nodeType="afterEffect">
                                  <p:stCondLst>
                                    <p:cond delay="0"/>
                                  </p:stCondLst>
                                  <p:childTnLst>
                                    <p:set>
                                      <p:cBhvr>
                                        <p:cTn id="87" dur="1" fill="hold">
                                          <p:stCondLst>
                                            <p:cond delay="0"/>
                                          </p:stCondLst>
                                        </p:cTn>
                                        <p:tgtEl>
                                          <p:spTgt spid="39">
                                            <p:txEl>
                                              <p:pRg st="0" end="0"/>
                                            </p:txEl>
                                          </p:spTgt>
                                        </p:tgtEl>
                                        <p:attrNameLst>
                                          <p:attrName>style.visibility</p:attrName>
                                        </p:attrNameLst>
                                      </p:cBhvr>
                                      <p:to>
                                        <p:strVal val="hidden"/>
                                      </p:to>
                                    </p:set>
                                  </p:childTnLst>
                                </p:cTn>
                              </p:par>
                            </p:childTnLst>
                          </p:cTn>
                        </p:par>
                        <p:par>
                          <p:cTn id="88" fill="hold">
                            <p:stCondLst>
                              <p:cond delay="6250"/>
                            </p:stCondLst>
                            <p:childTnLst>
                              <p:par>
                                <p:cTn id="89" presetID="9" presetClass="emph" presetSubtype="0" grpId="0" nodeType="afterEffect">
                                  <p:stCondLst>
                                    <p:cond delay="250"/>
                                  </p:stCondLst>
                                  <p:childTnLst>
                                    <p:set>
                                      <p:cBhvr rctx="PPT">
                                        <p:cTn id="90" dur="indefinite"/>
                                        <p:tgtEl>
                                          <p:spTgt spid="11"/>
                                        </p:tgtEl>
                                        <p:attrNameLst>
                                          <p:attrName>style.opacity</p:attrName>
                                        </p:attrNameLst>
                                      </p:cBhvr>
                                      <p:to>
                                        <p:strVal val="0.5"/>
                                      </p:to>
                                    </p:set>
                                    <p:animEffect filter="image" prLst="opacity: 0.5">
                                      <p:cBhvr rctx="IE">
                                        <p:cTn id="91" dur="indefinite"/>
                                        <p:tgtEl>
                                          <p:spTgt spid="11"/>
                                        </p:tgtEl>
                                      </p:cBhvr>
                                    </p:animEffect>
                                  </p:childTnLst>
                                </p:cTn>
                              </p:par>
                            </p:childTnLst>
                          </p:cTn>
                        </p:par>
                        <p:par>
                          <p:cTn id="92" fill="hold">
                            <p:stCondLst>
                              <p:cond delay="6500"/>
                            </p:stCondLst>
                            <p:childTnLst>
                              <p:par>
                                <p:cTn id="93" presetID="10" presetClass="entr" presetSubtype="0" fill="hold" grpId="0" nodeType="after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1000"/>
                                        <p:tgtEl>
                                          <p:spTgt spid="40"/>
                                        </p:tgtEl>
                                      </p:cBhvr>
                                    </p:animEffect>
                                  </p:childTnLst>
                                </p:cTn>
                              </p:par>
                              <p:par>
                                <p:cTn id="96" presetID="10" presetClass="entr" presetSubtype="0" fill="hold" nodeType="withEffect">
                                  <p:stCondLst>
                                    <p:cond delay="0"/>
                                  </p:stCondLst>
                                  <p:childTnLst>
                                    <p:set>
                                      <p:cBhvr>
                                        <p:cTn id="97" dur="1" fill="hold">
                                          <p:stCondLst>
                                            <p:cond delay="0"/>
                                          </p:stCondLst>
                                        </p:cTn>
                                        <p:tgtEl>
                                          <p:spTgt spid="41">
                                            <p:txEl>
                                              <p:pRg st="0" end="0"/>
                                            </p:txEl>
                                          </p:spTgt>
                                        </p:tgtEl>
                                        <p:attrNameLst>
                                          <p:attrName>style.visibility</p:attrName>
                                        </p:attrNameLst>
                                      </p:cBhvr>
                                      <p:to>
                                        <p:strVal val="visible"/>
                                      </p:to>
                                    </p:set>
                                    <p:animEffect transition="in" filter="fade">
                                      <p:cBhvr>
                                        <p:cTn id="98" dur="750"/>
                                        <p:tgtEl>
                                          <p:spTgt spid="41">
                                            <p:txEl>
                                              <p:pRg st="0" end="0"/>
                                            </p:txEl>
                                          </p:spTgt>
                                        </p:tgtEl>
                                      </p:cBhvr>
                                    </p:animEffect>
                                  </p:childTnLst>
                                </p:cTn>
                              </p:par>
                            </p:childTnLst>
                          </p:cTn>
                        </p:par>
                        <p:par>
                          <p:cTn id="99" fill="hold">
                            <p:stCondLst>
                              <p:cond delay="7500"/>
                            </p:stCondLst>
                            <p:childTnLst>
                              <p:par>
                                <p:cTn id="100" presetID="1" presetClass="exit" presetSubtype="0" fill="hold" grpId="0" nodeType="afterEffect">
                                  <p:stCondLst>
                                    <p:cond delay="500"/>
                                  </p:stCondLst>
                                  <p:childTnLst>
                                    <p:set>
                                      <p:cBhvr>
                                        <p:cTn id="101" dur="1" fill="hold">
                                          <p:stCondLst>
                                            <p:cond delay="0"/>
                                          </p:stCondLst>
                                        </p:cTn>
                                        <p:tgtEl>
                                          <p:spTgt spid="41">
                                            <p:txEl>
                                              <p:pRg st="0" end="0"/>
                                            </p:txEl>
                                          </p:spTgt>
                                        </p:tgtEl>
                                        <p:attrNameLst>
                                          <p:attrName>style.visibility</p:attrName>
                                        </p:attrNameLst>
                                      </p:cBhvr>
                                      <p:to>
                                        <p:strVal val="hidden"/>
                                      </p:to>
                                    </p:set>
                                  </p:childTnLst>
                                </p:cTn>
                              </p:par>
                            </p:childTnLst>
                          </p:cTn>
                        </p:par>
                        <p:par>
                          <p:cTn id="102" fill="hold">
                            <p:stCondLst>
                              <p:cond delay="8000"/>
                            </p:stCondLst>
                            <p:childTnLst>
                              <p:par>
                                <p:cTn id="103" presetID="10" presetClass="exit" presetSubtype="0" fill="hold" grpId="1" nodeType="afterEffect">
                                  <p:stCondLst>
                                    <p:cond delay="0"/>
                                  </p:stCondLst>
                                  <p:childTnLst>
                                    <p:animEffect transition="out" filter="fade">
                                      <p:cBhvr>
                                        <p:cTn id="104" dur="500"/>
                                        <p:tgtEl>
                                          <p:spTgt spid="40"/>
                                        </p:tgtEl>
                                      </p:cBhvr>
                                    </p:animEffect>
                                    <p:set>
                                      <p:cBhvr>
                                        <p:cTn id="105" dur="1" fill="hold">
                                          <p:stCondLst>
                                            <p:cond delay="499"/>
                                          </p:stCondLst>
                                        </p:cTn>
                                        <p:tgtEl>
                                          <p:spTgt spid="40"/>
                                        </p:tgtEl>
                                        <p:attrNameLst>
                                          <p:attrName>style.visibility</p:attrName>
                                        </p:attrNameLst>
                                      </p:cBhvr>
                                      <p:to>
                                        <p:strVal val="hidden"/>
                                      </p:to>
                                    </p:set>
                                  </p:childTnLst>
                                </p:cTn>
                              </p:par>
                            </p:childTnLst>
                          </p:cTn>
                        </p:par>
                        <p:par>
                          <p:cTn id="106" fill="hold">
                            <p:stCondLst>
                              <p:cond delay="8500"/>
                            </p:stCondLst>
                            <p:childTnLst>
                              <p:par>
                                <p:cTn id="107" presetID="10" presetClass="entr" presetSubtype="0" fill="hold" nodeType="afterEffect">
                                  <p:stCondLst>
                                    <p:cond delay="500"/>
                                  </p:stCondLst>
                                  <p:childTnLst>
                                    <p:set>
                                      <p:cBhvr>
                                        <p:cTn id="108" dur="1" fill="hold">
                                          <p:stCondLst>
                                            <p:cond delay="0"/>
                                          </p:stCondLst>
                                        </p:cTn>
                                        <p:tgtEl>
                                          <p:spTgt spid="44">
                                            <p:txEl>
                                              <p:pRg st="0" end="0"/>
                                            </p:txEl>
                                          </p:spTgt>
                                        </p:tgtEl>
                                        <p:attrNameLst>
                                          <p:attrName>style.visibility</p:attrName>
                                        </p:attrNameLst>
                                      </p:cBhvr>
                                      <p:to>
                                        <p:strVal val="visible"/>
                                      </p:to>
                                    </p:set>
                                    <p:animEffect transition="in" filter="fade">
                                      <p:cBhvr>
                                        <p:cTn id="109" dur="500"/>
                                        <p:tgtEl>
                                          <p:spTgt spid="44">
                                            <p:txEl>
                                              <p:pRg st="0" end="0"/>
                                            </p:txEl>
                                          </p:spTgt>
                                        </p:tgtEl>
                                      </p:cBhvr>
                                    </p:animEffect>
                                  </p:childTnLst>
                                </p:cTn>
                              </p:par>
                            </p:childTnLst>
                          </p:cTn>
                        </p:par>
                        <p:par>
                          <p:cTn id="110" fill="hold">
                            <p:stCondLst>
                              <p:cond delay="9500"/>
                            </p:stCondLst>
                            <p:childTnLst>
                              <p:par>
                                <p:cTn id="111" presetID="10" presetClass="entr" presetSubtype="0" fill="hold" grpId="0" nodeType="after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1000"/>
                                        <p:tgtEl>
                                          <p:spTgt spid="43"/>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wipe(left)">
                                      <p:cBhvr>
                                        <p:cTn id="116" dur="1000"/>
                                        <p:tgtEl>
                                          <p:spTgt spid="42"/>
                                        </p:tgtEl>
                                      </p:cBhvr>
                                    </p:animEffect>
                                  </p:childTnLst>
                                </p:cTn>
                              </p:par>
                            </p:childTnLst>
                          </p:cTn>
                        </p:par>
                        <p:par>
                          <p:cTn id="117" fill="hold">
                            <p:stCondLst>
                              <p:cond delay="10500"/>
                            </p:stCondLst>
                            <p:childTnLst>
                              <p:par>
                                <p:cTn id="118" presetID="1" presetClass="exit" presetSubtype="0" fill="hold" grpId="1" nodeType="afterEffect">
                                  <p:stCondLst>
                                    <p:cond delay="0"/>
                                  </p:stCondLst>
                                  <p:childTnLst>
                                    <p:set>
                                      <p:cBhvr>
                                        <p:cTn id="119" dur="1" fill="hold">
                                          <p:stCondLst>
                                            <p:cond delay="0"/>
                                          </p:stCondLst>
                                        </p:cTn>
                                        <p:tgtEl>
                                          <p:spTgt spid="42"/>
                                        </p:tgtEl>
                                        <p:attrNameLst>
                                          <p:attrName>style.visibility</p:attrName>
                                        </p:attrNameLst>
                                      </p:cBhvr>
                                      <p:to>
                                        <p:strVal val="hidden"/>
                                      </p:to>
                                    </p:set>
                                  </p:childTnLst>
                                </p:cTn>
                              </p:par>
                            </p:childTnLst>
                          </p:cTn>
                        </p:par>
                        <p:par>
                          <p:cTn id="120" fill="hold">
                            <p:stCondLst>
                              <p:cond delay="10500"/>
                            </p:stCondLst>
                            <p:childTnLst>
                              <p:par>
                                <p:cTn id="121" presetID="1" presetClass="exit" presetSubtype="0" fill="hold" grpId="0" nodeType="afterEffect">
                                  <p:stCondLst>
                                    <p:cond delay="0"/>
                                  </p:stCondLst>
                                  <p:childTnLst>
                                    <p:set>
                                      <p:cBhvr>
                                        <p:cTn id="122" dur="1" fill="hold">
                                          <p:stCondLst>
                                            <p:cond delay="0"/>
                                          </p:stCondLst>
                                        </p:cTn>
                                        <p:tgtEl>
                                          <p:spTgt spid="44">
                                            <p:txEl>
                                              <p:pRg st="0" end="0"/>
                                            </p:txEl>
                                          </p:spTgt>
                                        </p:tgtEl>
                                        <p:attrNameLst>
                                          <p:attrName>style.visibility</p:attrName>
                                        </p:attrNameLst>
                                      </p:cBhvr>
                                      <p:to>
                                        <p:strVal val="hidden"/>
                                      </p:to>
                                    </p:set>
                                  </p:childTnLst>
                                </p:cTn>
                              </p:par>
                            </p:childTnLst>
                          </p:cTn>
                        </p:par>
                        <p:par>
                          <p:cTn id="123" fill="hold">
                            <p:stCondLst>
                              <p:cond delay="10500"/>
                            </p:stCondLst>
                            <p:childTnLst>
                              <p:par>
                                <p:cTn id="124" presetID="9" presetClass="emph" presetSubtype="0" grpId="0" nodeType="afterEffect">
                                  <p:stCondLst>
                                    <p:cond delay="250"/>
                                  </p:stCondLst>
                                  <p:childTnLst>
                                    <p:set>
                                      <p:cBhvr rctx="PPT">
                                        <p:cTn id="125" dur="indefinite"/>
                                        <p:tgtEl>
                                          <p:spTgt spid="15"/>
                                        </p:tgtEl>
                                        <p:attrNameLst>
                                          <p:attrName>style.opacity</p:attrName>
                                        </p:attrNameLst>
                                      </p:cBhvr>
                                      <p:to>
                                        <p:strVal val="0.5"/>
                                      </p:to>
                                    </p:set>
                                    <p:animEffect filter="image" prLst="opacity: 0.5">
                                      <p:cBhvr rctx="IE">
                                        <p:cTn id="126" dur="indefinite"/>
                                        <p:tgtEl>
                                          <p:spTgt spid="15"/>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wipe(up)">
                                      <p:cBhvr>
                                        <p:cTn id="131" dur="1000"/>
                                        <p:tgtEl>
                                          <p:spTgt spid="45"/>
                                        </p:tgtEl>
                                      </p:cBhvr>
                                    </p:animEffect>
                                  </p:childTnLst>
                                </p:cTn>
                              </p:par>
                              <p:par>
                                <p:cTn id="132" presetID="10" presetClass="entr" presetSubtype="0" fill="hold" nodeType="withEffect">
                                  <p:stCondLst>
                                    <p:cond delay="500"/>
                                  </p:stCondLst>
                                  <p:childTnLst>
                                    <p:set>
                                      <p:cBhvr>
                                        <p:cTn id="133" dur="1" fill="hold">
                                          <p:stCondLst>
                                            <p:cond delay="0"/>
                                          </p:stCondLst>
                                        </p:cTn>
                                        <p:tgtEl>
                                          <p:spTgt spid="46">
                                            <p:txEl>
                                              <p:pRg st="0" end="0"/>
                                            </p:txEl>
                                          </p:spTgt>
                                        </p:tgtEl>
                                        <p:attrNameLst>
                                          <p:attrName>style.visibility</p:attrName>
                                        </p:attrNameLst>
                                      </p:cBhvr>
                                      <p:to>
                                        <p:strVal val="visible"/>
                                      </p:to>
                                    </p:set>
                                    <p:animEffect transition="in" filter="fade">
                                      <p:cBhvr>
                                        <p:cTn id="134" dur="750"/>
                                        <p:tgtEl>
                                          <p:spTgt spid="46">
                                            <p:txEl>
                                              <p:pRg st="0" end="0"/>
                                            </p:txEl>
                                          </p:spTgt>
                                        </p:tgtEl>
                                      </p:cBhvr>
                                    </p:animEffect>
                                  </p:childTnLst>
                                </p:cTn>
                              </p:par>
                            </p:childTnLst>
                          </p:cTn>
                        </p:par>
                        <p:par>
                          <p:cTn id="135" fill="hold">
                            <p:stCondLst>
                              <p:cond delay="1250"/>
                            </p:stCondLst>
                            <p:childTnLst>
                              <p:par>
                                <p:cTn id="136" presetID="1" presetClass="exit" presetSubtype="0" fill="hold" grpId="1" nodeType="afterEffect">
                                  <p:stCondLst>
                                    <p:cond delay="1000"/>
                                  </p:stCondLst>
                                  <p:childTnLst>
                                    <p:set>
                                      <p:cBhvr>
                                        <p:cTn id="137" dur="1" fill="hold">
                                          <p:stCondLst>
                                            <p:cond delay="0"/>
                                          </p:stCondLst>
                                        </p:cTn>
                                        <p:tgtEl>
                                          <p:spTgt spid="45"/>
                                        </p:tgtEl>
                                        <p:attrNameLst>
                                          <p:attrName>style.visibility</p:attrName>
                                        </p:attrNameLst>
                                      </p:cBhvr>
                                      <p:to>
                                        <p:strVal val="hidden"/>
                                      </p:to>
                                    </p:set>
                                  </p:childTnLst>
                                </p:cTn>
                              </p:par>
                            </p:childTnLst>
                          </p:cTn>
                        </p:par>
                        <p:par>
                          <p:cTn id="138" fill="hold">
                            <p:stCondLst>
                              <p:cond delay="2250"/>
                            </p:stCondLst>
                            <p:childTnLst>
                              <p:par>
                                <p:cTn id="139" presetID="1" presetClass="exit" presetSubtype="0" fill="hold" grpId="0" nodeType="afterEffect">
                                  <p:stCondLst>
                                    <p:cond delay="0"/>
                                  </p:stCondLst>
                                  <p:childTnLst>
                                    <p:set>
                                      <p:cBhvr>
                                        <p:cTn id="140" dur="1" fill="hold">
                                          <p:stCondLst>
                                            <p:cond delay="0"/>
                                          </p:stCondLst>
                                        </p:cTn>
                                        <p:tgtEl>
                                          <p:spTgt spid="46">
                                            <p:txEl>
                                              <p:pRg st="0" end="0"/>
                                            </p:txEl>
                                          </p:spTgt>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nodeType="clickEffect">
                                  <p:stCondLst>
                                    <p:cond delay="0"/>
                                  </p:stCondLst>
                                  <p:childTnLst>
                                    <p:set>
                                      <p:cBhvr>
                                        <p:cTn id="144" dur="1" fill="hold">
                                          <p:stCondLst>
                                            <p:cond delay="0"/>
                                          </p:stCondLst>
                                        </p:cTn>
                                        <p:tgtEl>
                                          <p:spTgt spid="47">
                                            <p:txEl>
                                              <p:pRg st="0" end="0"/>
                                            </p:txEl>
                                          </p:spTgt>
                                        </p:tgtEl>
                                        <p:attrNameLst>
                                          <p:attrName>style.visibility</p:attrName>
                                        </p:attrNameLst>
                                      </p:cBhvr>
                                      <p:to>
                                        <p:strVal val="visible"/>
                                      </p:to>
                                    </p:set>
                                    <p:animEffect transition="in" filter="fade">
                                      <p:cBhvr>
                                        <p:cTn id="145" dur="500"/>
                                        <p:tgtEl>
                                          <p:spTgt spid="47">
                                            <p:txEl>
                                              <p:pRg st="0" end="0"/>
                                            </p:txEl>
                                          </p:spTgt>
                                        </p:tgtEl>
                                      </p:cBhvr>
                                    </p:animEffect>
                                  </p:childTnLst>
                                </p:cTn>
                              </p:par>
                            </p:childTnLst>
                          </p:cTn>
                        </p:par>
                        <p:par>
                          <p:cTn id="146" fill="hold">
                            <p:stCondLst>
                              <p:cond delay="500"/>
                            </p:stCondLst>
                            <p:childTnLst>
                              <p:par>
                                <p:cTn id="147" presetID="22" presetClass="entr" presetSubtype="2" fill="hold" grpId="0" nodeType="afterEffect">
                                  <p:stCondLst>
                                    <p:cond delay="0"/>
                                  </p:stCondLst>
                                  <p:childTnLst>
                                    <p:set>
                                      <p:cBhvr>
                                        <p:cTn id="148" dur="1" fill="hold">
                                          <p:stCondLst>
                                            <p:cond delay="0"/>
                                          </p:stCondLst>
                                        </p:cTn>
                                        <p:tgtEl>
                                          <p:spTgt spid="48"/>
                                        </p:tgtEl>
                                        <p:attrNameLst>
                                          <p:attrName>style.visibility</p:attrName>
                                        </p:attrNameLst>
                                      </p:cBhvr>
                                      <p:to>
                                        <p:strVal val="visible"/>
                                      </p:to>
                                    </p:set>
                                    <p:animEffect transition="in" filter="wipe(right)">
                                      <p:cBhvr>
                                        <p:cTn id="149" dur="1000"/>
                                        <p:tgtEl>
                                          <p:spTgt spid="48"/>
                                        </p:tgtEl>
                                      </p:cBhvr>
                                    </p:animEffect>
                                  </p:childTnLst>
                                </p:cTn>
                              </p:par>
                              <p:par>
                                <p:cTn id="150" presetID="10" presetClass="exit" presetSubtype="0" fill="hold" grpId="1" nodeType="withEffect">
                                  <p:stCondLst>
                                    <p:cond delay="0"/>
                                  </p:stCondLst>
                                  <p:childTnLst>
                                    <p:animEffect transition="out" filter="fade">
                                      <p:cBhvr>
                                        <p:cTn id="151" dur="1000"/>
                                        <p:tgtEl>
                                          <p:spTgt spid="18"/>
                                        </p:tgtEl>
                                      </p:cBhvr>
                                    </p:animEffect>
                                    <p:set>
                                      <p:cBhvr>
                                        <p:cTn id="152" dur="1" fill="hold">
                                          <p:stCondLst>
                                            <p:cond delay="999"/>
                                          </p:stCondLst>
                                        </p:cTn>
                                        <p:tgtEl>
                                          <p:spTgt spid="18"/>
                                        </p:tgtEl>
                                        <p:attrNameLst>
                                          <p:attrName>style.visibility</p:attrName>
                                        </p:attrNameLst>
                                      </p:cBhvr>
                                      <p:to>
                                        <p:strVal val="hidden"/>
                                      </p:to>
                                    </p:set>
                                  </p:childTnLst>
                                </p:cTn>
                              </p:par>
                            </p:childTnLst>
                          </p:cTn>
                        </p:par>
                        <p:par>
                          <p:cTn id="153" fill="hold">
                            <p:stCondLst>
                              <p:cond delay="1500"/>
                            </p:stCondLst>
                            <p:childTnLst>
                              <p:par>
                                <p:cTn id="154" presetID="1" presetClass="exit" presetSubtype="0" fill="hold" grpId="1" nodeType="afterEffect">
                                  <p:stCondLst>
                                    <p:cond delay="0"/>
                                  </p:stCondLst>
                                  <p:childTnLst>
                                    <p:set>
                                      <p:cBhvr>
                                        <p:cTn id="155" dur="1" fill="hold">
                                          <p:stCondLst>
                                            <p:cond delay="0"/>
                                          </p:stCondLst>
                                        </p:cTn>
                                        <p:tgtEl>
                                          <p:spTgt spid="48"/>
                                        </p:tgtEl>
                                        <p:attrNameLst>
                                          <p:attrName>style.visibility</p:attrName>
                                        </p:attrNameLst>
                                      </p:cBhvr>
                                      <p:to>
                                        <p:strVal val="hidden"/>
                                      </p:to>
                                    </p:set>
                                  </p:childTnLst>
                                </p:cTn>
                              </p:par>
                            </p:childTnLst>
                          </p:cTn>
                        </p:par>
                        <p:par>
                          <p:cTn id="156" fill="hold">
                            <p:stCondLst>
                              <p:cond delay="1500"/>
                            </p:stCondLst>
                            <p:childTnLst>
                              <p:par>
                                <p:cTn id="157" presetID="22" presetClass="entr" presetSubtype="2" fill="hold" grpId="0" nodeType="afterEffect">
                                  <p:stCondLst>
                                    <p:cond delay="250"/>
                                  </p:stCondLst>
                                  <p:childTnLst>
                                    <p:set>
                                      <p:cBhvr>
                                        <p:cTn id="158" dur="1" fill="hold">
                                          <p:stCondLst>
                                            <p:cond delay="0"/>
                                          </p:stCondLst>
                                        </p:cTn>
                                        <p:tgtEl>
                                          <p:spTgt spid="49"/>
                                        </p:tgtEl>
                                        <p:attrNameLst>
                                          <p:attrName>style.visibility</p:attrName>
                                        </p:attrNameLst>
                                      </p:cBhvr>
                                      <p:to>
                                        <p:strVal val="visible"/>
                                      </p:to>
                                    </p:set>
                                    <p:animEffect transition="in" filter="wipe(right)">
                                      <p:cBhvr>
                                        <p:cTn id="159" dur="1000"/>
                                        <p:tgtEl>
                                          <p:spTgt spid="49"/>
                                        </p:tgtEl>
                                      </p:cBhvr>
                                    </p:animEffect>
                                  </p:childTnLst>
                                </p:cTn>
                              </p:par>
                              <p:par>
                                <p:cTn id="160" presetID="10" presetClass="exit" presetSubtype="0" fill="hold" grpId="1" nodeType="withEffect">
                                  <p:stCondLst>
                                    <p:cond delay="250"/>
                                  </p:stCondLst>
                                  <p:childTnLst>
                                    <p:animEffect transition="out" filter="fade">
                                      <p:cBhvr>
                                        <p:cTn id="161" dur="1000"/>
                                        <p:tgtEl>
                                          <p:spTgt spid="29"/>
                                        </p:tgtEl>
                                      </p:cBhvr>
                                    </p:animEffect>
                                    <p:set>
                                      <p:cBhvr>
                                        <p:cTn id="162" dur="1" fill="hold">
                                          <p:stCondLst>
                                            <p:cond delay="999"/>
                                          </p:stCondLst>
                                        </p:cTn>
                                        <p:tgtEl>
                                          <p:spTgt spid="29"/>
                                        </p:tgtEl>
                                        <p:attrNameLst>
                                          <p:attrName>style.visibility</p:attrName>
                                        </p:attrNameLst>
                                      </p:cBhvr>
                                      <p:to>
                                        <p:strVal val="hidden"/>
                                      </p:to>
                                    </p:set>
                                  </p:childTnLst>
                                </p:cTn>
                              </p:par>
                            </p:childTnLst>
                          </p:cTn>
                        </p:par>
                        <p:par>
                          <p:cTn id="163" fill="hold">
                            <p:stCondLst>
                              <p:cond delay="2750"/>
                            </p:stCondLst>
                            <p:childTnLst>
                              <p:par>
                                <p:cTn id="164" presetID="1" presetClass="exit" presetSubtype="0" fill="hold" grpId="1" nodeType="afterEffect">
                                  <p:stCondLst>
                                    <p:cond delay="0"/>
                                  </p:stCondLst>
                                  <p:childTnLst>
                                    <p:set>
                                      <p:cBhvr>
                                        <p:cTn id="165" dur="1" fill="hold">
                                          <p:stCondLst>
                                            <p:cond delay="0"/>
                                          </p:stCondLst>
                                        </p:cTn>
                                        <p:tgtEl>
                                          <p:spTgt spid="49"/>
                                        </p:tgtEl>
                                        <p:attrNameLst>
                                          <p:attrName>style.visibility</p:attrName>
                                        </p:attrNameLst>
                                      </p:cBhvr>
                                      <p:to>
                                        <p:strVal val="hidden"/>
                                      </p:to>
                                    </p:set>
                                  </p:childTnLst>
                                </p:cTn>
                              </p:par>
                            </p:childTnLst>
                          </p:cTn>
                        </p:par>
                        <p:par>
                          <p:cTn id="166" fill="hold">
                            <p:stCondLst>
                              <p:cond delay="2750"/>
                            </p:stCondLst>
                            <p:childTnLst>
                              <p:par>
                                <p:cTn id="167" presetID="22" presetClass="entr" presetSubtype="2" fill="hold" grpId="0" nodeType="afterEffect">
                                  <p:stCondLst>
                                    <p:cond delay="250"/>
                                  </p:stCondLst>
                                  <p:childTnLst>
                                    <p:set>
                                      <p:cBhvr>
                                        <p:cTn id="168" dur="1" fill="hold">
                                          <p:stCondLst>
                                            <p:cond delay="0"/>
                                          </p:stCondLst>
                                        </p:cTn>
                                        <p:tgtEl>
                                          <p:spTgt spid="50"/>
                                        </p:tgtEl>
                                        <p:attrNameLst>
                                          <p:attrName>style.visibility</p:attrName>
                                        </p:attrNameLst>
                                      </p:cBhvr>
                                      <p:to>
                                        <p:strVal val="visible"/>
                                      </p:to>
                                    </p:set>
                                    <p:animEffect transition="in" filter="wipe(right)">
                                      <p:cBhvr>
                                        <p:cTn id="169" dur="1000"/>
                                        <p:tgtEl>
                                          <p:spTgt spid="50"/>
                                        </p:tgtEl>
                                      </p:cBhvr>
                                    </p:animEffect>
                                  </p:childTnLst>
                                </p:cTn>
                              </p:par>
                              <p:par>
                                <p:cTn id="170" presetID="10" presetClass="exit" presetSubtype="0" fill="hold" grpId="1" nodeType="withEffect">
                                  <p:stCondLst>
                                    <p:cond delay="250"/>
                                  </p:stCondLst>
                                  <p:childTnLst>
                                    <p:animEffect transition="out" filter="fade">
                                      <p:cBhvr>
                                        <p:cTn id="171" dur="1000"/>
                                        <p:tgtEl>
                                          <p:spTgt spid="38"/>
                                        </p:tgtEl>
                                      </p:cBhvr>
                                    </p:animEffect>
                                    <p:set>
                                      <p:cBhvr>
                                        <p:cTn id="172" dur="1" fill="hold">
                                          <p:stCondLst>
                                            <p:cond delay="999"/>
                                          </p:stCondLst>
                                        </p:cTn>
                                        <p:tgtEl>
                                          <p:spTgt spid="38"/>
                                        </p:tgtEl>
                                        <p:attrNameLst>
                                          <p:attrName>style.visibility</p:attrName>
                                        </p:attrNameLst>
                                      </p:cBhvr>
                                      <p:to>
                                        <p:strVal val="hidden"/>
                                      </p:to>
                                    </p:set>
                                  </p:childTnLst>
                                </p:cTn>
                              </p:par>
                            </p:childTnLst>
                          </p:cTn>
                        </p:par>
                        <p:par>
                          <p:cTn id="173" fill="hold">
                            <p:stCondLst>
                              <p:cond delay="4000"/>
                            </p:stCondLst>
                            <p:childTnLst>
                              <p:par>
                                <p:cTn id="174" presetID="1" presetClass="exit" presetSubtype="0" fill="hold" grpId="1" nodeType="afterEffect">
                                  <p:stCondLst>
                                    <p:cond delay="0"/>
                                  </p:stCondLst>
                                  <p:childTnLst>
                                    <p:set>
                                      <p:cBhvr>
                                        <p:cTn id="175" dur="1" fill="hold">
                                          <p:stCondLst>
                                            <p:cond delay="0"/>
                                          </p:stCondLst>
                                        </p:cTn>
                                        <p:tgtEl>
                                          <p:spTgt spid="50"/>
                                        </p:tgtEl>
                                        <p:attrNameLst>
                                          <p:attrName>style.visibility</p:attrName>
                                        </p:attrNameLst>
                                      </p:cBhvr>
                                      <p:to>
                                        <p:strVal val="hidden"/>
                                      </p:to>
                                    </p:set>
                                  </p:childTnLst>
                                </p:cTn>
                              </p:par>
                            </p:childTnLst>
                          </p:cTn>
                        </p:par>
                        <p:par>
                          <p:cTn id="176" fill="hold">
                            <p:stCondLst>
                              <p:cond delay="4000"/>
                            </p:stCondLst>
                            <p:childTnLst>
                              <p:par>
                                <p:cTn id="177" presetID="22" presetClass="entr" presetSubtype="2" fill="hold" grpId="0" nodeType="afterEffect">
                                  <p:stCondLst>
                                    <p:cond delay="250"/>
                                  </p:stCondLst>
                                  <p:childTnLst>
                                    <p:set>
                                      <p:cBhvr>
                                        <p:cTn id="178" dur="1" fill="hold">
                                          <p:stCondLst>
                                            <p:cond delay="0"/>
                                          </p:stCondLst>
                                        </p:cTn>
                                        <p:tgtEl>
                                          <p:spTgt spid="51"/>
                                        </p:tgtEl>
                                        <p:attrNameLst>
                                          <p:attrName>style.visibility</p:attrName>
                                        </p:attrNameLst>
                                      </p:cBhvr>
                                      <p:to>
                                        <p:strVal val="visible"/>
                                      </p:to>
                                    </p:set>
                                    <p:animEffect transition="in" filter="wipe(right)">
                                      <p:cBhvr>
                                        <p:cTn id="179" dur="1000"/>
                                        <p:tgtEl>
                                          <p:spTgt spid="51"/>
                                        </p:tgtEl>
                                      </p:cBhvr>
                                    </p:animEffect>
                                  </p:childTnLst>
                                </p:cTn>
                              </p:par>
                              <p:par>
                                <p:cTn id="180" presetID="10" presetClass="exit" presetSubtype="0" fill="hold" grpId="1" nodeType="withEffect">
                                  <p:stCondLst>
                                    <p:cond delay="250"/>
                                  </p:stCondLst>
                                  <p:childTnLst>
                                    <p:animEffect transition="out" filter="fade">
                                      <p:cBhvr>
                                        <p:cTn id="181" dur="1000"/>
                                        <p:tgtEl>
                                          <p:spTgt spid="43"/>
                                        </p:tgtEl>
                                      </p:cBhvr>
                                    </p:animEffect>
                                    <p:set>
                                      <p:cBhvr>
                                        <p:cTn id="182" dur="1" fill="hold">
                                          <p:stCondLst>
                                            <p:cond delay="999"/>
                                          </p:stCondLst>
                                        </p:cTn>
                                        <p:tgtEl>
                                          <p:spTgt spid="43"/>
                                        </p:tgtEl>
                                        <p:attrNameLst>
                                          <p:attrName>style.visibility</p:attrName>
                                        </p:attrNameLst>
                                      </p:cBhvr>
                                      <p:to>
                                        <p:strVal val="hidden"/>
                                      </p:to>
                                    </p:set>
                                  </p:childTnLst>
                                </p:cTn>
                              </p:par>
                            </p:childTnLst>
                          </p:cTn>
                        </p:par>
                        <p:par>
                          <p:cTn id="183" fill="hold">
                            <p:stCondLst>
                              <p:cond delay="5250"/>
                            </p:stCondLst>
                            <p:childTnLst>
                              <p:par>
                                <p:cTn id="184" presetID="1" presetClass="exit" presetSubtype="0" fill="hold" grpId="1" nodeType="afterEffect">
                                  <p:stCondLst>
                                    <p:cond delay="0"/>
                                  </p:stCondLst>
                                  <p:childTnLst>
                                    <p:set>
                                      <p:cBhvr>
                                        <p:cTn id="185" dur="1" fill="hold">
                                          <p:stCondLst>
                                            <p:cond delay="0"/>
                                          </p:stCondLst>
                                        </p:cTn>
                                        <p:tgtEl>
                                          <p:spTgt spid="51"/>
                                        </p:tgtEl>
                                        <p:attrNameLst>
                                          <p:attrName>style.visibility</p:attrName>
                                        </p:attrNameLst>
                                      </p:cBhvr>
                                      <p:to>
                                        <p:strVal val="hidden"/>
                                      </p:to>
                                    </p:set>
                                  </p:childTnLst>
                                </p:cTn>
                              </p:par>
                            </p:childTnLst>
                          </p:cTn>
                        </p:par>
                        <p:par>
                          <p:cTn id="186" fill="hold">
                            <p:stCondLst>
                              <p:cond delay="5250"/>
                            </p:stCondLst>
                            <p:childTnLst>
                              <p:par>
                                <p:cTn id="187" presetID="1" presetClass="exit" presetSubtype="0" fill="hold" grpId="0" nodeType="afterEffect">
                                  <p:stCondLst>
                                    <p:cond delay="0"/>
                                  </p:stCondLst>
                                  <p:childTnLst>
                                    <p:set>
                                      <p:cBhvr>
                                        <p:cTn id="188" dur="1" fill="hold">
                                          <p:stCondLst>
                                            <p:cond delay="0"/>
                                          </p:stCondLst>
                                        </p:cTn>
                                        <p:tgtEl>
                                          <p:spTgt spid="47">
                                            <p:txEl>
                                              <p:pRg st="0" end="0"/>
                                            </p:txEl>
                                          </p:spTgt>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22" presetClass="entr" presetSubtype="4" fill="hold" grpId="0" nodeType="clickEffect">
                                  <p:stCondLst>
                                    <p:cond delay="0"/>
                                  </p:stCondLst>
                                  <p:childTnLst>
                                    <p:set>
                                      <p:cBhvr>
                                        <p:cTn id="192" dur="1" fill="hold">
                                          <p:stCondLst>
                                            <p:cond delay="0"/>
                                          </p:stCondLst>
                                        </p:cTn>
                                        <p:tgtEl>
                                          <p:spTgt spid="52"/>
                                        </p:tgtEl>
                                        <p:attrNameLst>
                                          <p:attrName>style.visibility</p:attrName>
                                        </p:attrNameLst>
                                      </p:cBhvr>
                                      <p:to>
                                        <p:strVal val="visible"/>
                                      </p:to>
                                    </p:set>
                                    <p:animEffect transition="in" filter="wipe(down)">
                                      <p:cBhvr>
                                        <p:cTn id="193" dur="1000"/>
                                        <p:tgtEl>
                                          <p:spTgt spid="52"/>
                                        </p:tgtEl>
                                      </p:cBhvr>
                                    </p:animEffect>
                                  </p:childTnLst>
                                </p:cTn>
                              </p:par>
                              <p:par>
                                <p:cTn id="194" presetID="10" presetClass="entr" presetSubtype="0" fill="hold" nodeType="withEffect">
                                  <p:stCondLst>
                                    <p:cond delay="500"/>
                                  </p:stCondLst>
                                  <p:childTnLst>
                                    <p:set>
                                      <p:cBhvr>
                                        <p:cTn id="195" dur="1" fill="hold">
                                          <p:stCondLst>
                                            <p:cond delay="0"/>
                                          </p:stCondLst>
                                        </p:cTn>
                                        <p:tgtEl>
                                          <p:spTgt spid="53">
                                            <p:txEl>
                                              <p:pRg st="0" end="0"/>
                                            </p:txEl>
                                          </p:spTgt>
                                        </p:tgtEl>
                                        <p:attrNameLst>
                                          <p:attrName>style.visibility</p:attrName>
                                        </p:attrNameLst>
                                      </p:cBhvr>
                                      <p:to>
                                        <p:strVal val="visible"/>
                                      </p:to>
                                    </p:set>
                                    <p:animEffect transition="in" filter="fade">
                                      <p:cBhvr>
                                        <p:cTn id="196" dur="750"/>
                                        <p:tgtEl>
                                          <p:spTgt spid="53">
                                            <p:txEl>
                                              <p:pRg st="0" end="0"/>
                                            </p:txEl>
                                          </p:spTgt>
                                        </p:tgtEl>
                                      </p:cBhvr>
                                    </p:animEffect>
                                  </p:childTnLst>
                                </p:cTn>
                              </p:par>
                              <p:par>
                                <p:cTn id="197" presetID="10" presetClass="entr" presetSubtype="0" fill="hold" grpId="0" nodeType="withEffect">
                                  <p:stCondLst>
                                    <p:cond delay="500"/>
                                  </p:stCondLst>
                                  <p:childTnLst>
                                    <p:set>
                                      <p:cBhvr>
                                        <p:cTn id="198" dur="1" fill="hold">
                                          <p:stCondLst>
                                            <p:cond delay="0"/>
                                          </p:stCondLst>
                                        </p:cTn>
                                        <p:tgtEl>
                                          <p:spTgt spid="54"/>
                                        </p:tgtEl>
                                        <p:attrNameLst>
                                          <p:attrName>style.visibility</p:attrName>
                                        </p:attrNameLst>
                                      </p:cBhvr>
                                      <p:to>
                                        <p:strVal val="visible"/>
                                      </p:to>
                                    </p:set>
                                    <p:animEffect transition="in" filter="fade">
                                      <p:cBhvr>
                                        <p:cTn id="199" dur="500"/>
                                        <p:tgtEl>
                                          <p:spTgt spid="54"/>
                                        </p:tgtEl>
                                      </p:cBhvr>
                                    </p:animEffect>
                                  </p:childTnLst>
                                </p:cTn>
                              </p:par>
                              <p:par>
                                <p:cTn id="200" presetID="10" presetClass="entr" presetSubtype="0" fill="hold" grpId="0" nodeType="withEffect">
                                  <p:stCondLst>
                                    <p:cond delay="500"/>
                                  </p:stCondLst>
                                  <p:childTnLst>
                                    <p:set>
                                      <p:cBhvr>
                                        <p:cTn id="201" dur="1" fill="hold">
                                          <p:stCondLst>
                                            <p:cond delay="0"/>
                                          </p:stCondLst>
                                        </p:cTn>
                                        <p:tgtEl>
                                          <p:spTgt spid="55"/>
                                        </p:tgtEl>
                                        <p:attrNameLst>
                                          <p:attrName>style.visibility</p:attrName>
                                        </p:attrNameLst>
                                      </p:cBhvr>
                                      <p:to>
                                        <p:strVal val="visible"/>
                                      </p:to>
                                    </p:set>
                                    <p:animEffect transition="in" filter="fade">
                                      <p:cBhvr>
                                        <p:cTn id="202" dur="500"/>
                                        <p:tgtEl>
                                          <p:spTgt spid="55"/>
                                        </p:tgtEl>
                                      </p:cBhvr>
                                    </p:animEffect>
                                  </p:childTnLst>
                                </p:cTn>
                              </p:par>
                              <p:par>
                                <p:cTn id="203" presetID="10" presetClass="entr" presetSubtype="0" fill="hold" grpId="0" nodeType="withEffect">
                                  <p:stCondLst>
                                    <p:cond delay="500"/>
                                  </p:stCondLst>
                                  <p:childTnLst>
                                    <p:set>
                                      <p:cBhvr>
                                        <p:cTn id="204" dur="1" fill="hold">
                                          <p:stCondLst>
                                            <p:cond delay="0"/>
                                          </p:stCondLst>
                                        </p:cTn>
                                        <p:tgtEl>
                                          <p:spTgt spid="56"/>
                                        </p:tgtEl>
                                        <p:attrNameLst>
                                          <p:attrName>style.visibility</p:attrName>
                                        </p:attrNameLst>
                                      </p:cBhvr>
                                      <p:to>
                                        <p:strVal val="visible"/>
                                      </p:to>
                                    </p:set>
                                    <p:animEffect transition="in" filter="fade">
                                      <p:cBhvr>
                                        <p:cTn id="205" dur="500"/>
                                        <p:tgtEl>
                                          <p:spTgt spid="56"/>
                                        </p:tgtEl>
                                      </p:cBhvr>
                                    </p:animEffect>
                                  </p:childTnLst>
                                </p:cTn>
                              </p:par>
                              <p:par>
                                <p:cTn id="206" presetID="10" presetClass="entr" presetSubtype="0" fill="hold" grpId="0" nodeType="withEffect">
                                  <p:stCondLst>
                                    <p:cond delay="500"/>
                                  </p:stCondLst>
                                  <p:childTnLst>
                                    <p:set>
                                      <p:cBhvr>
                                        <p:cTn id="207" dur="1" fill="hold">
                                          <p:stCondLst>
                                            <p:cond delay="0"/>
                                          </p:stCondLst>
                                        </p:cTn>
                                        <p:tgtEl>
                                          <p:spTgt spid="59"/>
                                        </p:tgtEl>
                                        <p:attrNameLst>
                                          <p:attrName>style.visibility</p:attrName>
                                        </p:attrNameLst>
                                      </p:cBhvr>
                                      <p:to>
                                        <p:strVal val="visible"/>
                                      </p:to>
                                    </p:set>
                                    <p:animEffect transition="in" filter="fade">
                                      <p:cBhvr>
                                        <p:cTn id="208" dur="500"/>
                                        <p:tgtEl>
                                          <p:spTgt spid="59"/>
                                        </p:tgtEl>
                                      </p:cBhvr>
                                    </p:animEffect>
                                  </p:childTnLst>
                                </p:cTn>
                              </p:par>
                            </p:childTnLst>
                          </p:cTn>
                        </p:par>
                        <p:par>
                          <p:cTn id="209" fill="hold">
                            <p:stCondLst>
                              <p:cond delay="1250"/>
                            </p:stCondLst>
                            <p:childTnLst>
                              <p:par>
                                <p:cTn id="210" presetID="1" presetClass="exit" presetSubtype="0" fill="hold" grpId="1" nodeType="afterEffect">
                                  <p:stCondLst>
                                    <p:cond delay="1000"/>
                                  </p:stCondLst>
                                  <p:childTnLst>
                                    <p:set>
                                      <p:cBhvr>
                                        <p:cTn id="211" dur="1" fill="hold">
                                          <p:stCondLst>
                                            <p:cond delay="0"/>
                                          </p:stCondLst>
                                        </p:cTn>
                                        <p:tgtEl>
                                          <p:spTgt spid="52"/>
                                        </p:tgtEl>
                                        <p:attrNameLst>
                                          <p:attrName>style.visibility</p:attrName>
                                        </p:attrNameLst>
                                      </p:cBhvr>
                                      <p:to>
                                        <p:strVal val="hidden"/>
                                      </p:to>
                                    </p:set>
                                  </p:childTnLst>
                                </p:cTn>
                              </p:par>
                            </p:childTnLst>
                          </p:cTn>
                        </p:par>
                        <p:par>
                          <p:cTn id="212" fill="hold">
                            <p:stCondLst>
                              <p:cond delay="2250"/>
                            </p:stCondLst>
                            <p:childTnLst>
                              <p:par>
                                <p:cTn id="213" presetID="1" presetClass="exit" presetSubtype="0" fill="hold" grpId="0" nodeType="afterEffect">
                                  <p:stCondLst>
                                    <p:cond delay="0"/>
                                  </p:stCondLst>
                                  <p:childTnLst>
                                    <p:set>
                                      <p:cBhvr>
                                        <p:cTn id="214" dur="1" fill="hold">
                                          <p:stCondLst>
                                            <p:cond delay="0"/>
                                          </p:stCondLst>
                                        </p:cTn>
                                        <p:tgtEl>
                                          <p:spTgt spid="5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5" grpId="0" animBg="1"/>
      <p:bldP spid="17" grpId="0" animBg="1"/>
      <p:bldP spid="17" grpId="1" animBg="1"/>
      <p:bldP spid="18" grpId="0" animBg="1"/>
      <p:bldP spid="18" grpId="1" animBg="1"/>
      <p:bldP spid="16" grpId="0" build="allAtOnce"/>
      <p:bldP spid="19" grpId="0" animBg="1"/>
      <p:bldP spid="19" grpId="1" animBg="1"/>
      <p:bldP spid="20" grpId="0" build="allAtOnce"/>
      <p:bldP spid="28" grpId="0" animBg="1"/>
      <p:bldP spid="28" grpId="1" animBg="1"/>
      <p:bldP spid="29" grpId="0" animBg="1"/>
      <p:bldP spid="29" grpId="1" animBg="1"/>
      <p:bldP spid="27" grpId="0" build="allAtOnce"/>
      <p:bldP spid="33" grpId="0" animBg="1"/>
      <p:bldP spid="33" grpId="1" animBg="1"/>
      <p:bldP spid="34" grpId="0" build="allAtOnce"/>
      <p:bldP spid="37" grpId="0" animBg="1"/>
      <p:bldP spid="37" grpId="1" animBg="1"/>
      <p:bldP spid="38" grpId="0" animBg="1"/>
      <p:bldP spid="38" grpId="1" animBg="1"/>
      <p:bldP spid="39" grpId="0" build="allAtOnce"/>
      <p:bldP spid="40" grpId="0" animBg="1"/>
      <p:bldP spid="40" grpId="1" animBg="1"/>
      <p:bldP spid="41" grpId="0" build="allAtOnce"/>
      <p:bldP spid="42" grpId="0" animBg="1"/>
      <p:bldP spid="42" grpId="1" animBg="1"/>
      <p:bldP spid="43" grpId="0" animBg="1"/>
      <p:bldP spid="43" grpId="1" animBg="1"/>
      <p:bldP spid="44" grpId="0" build="allAtOnce"/>
      <p:bldP spid="45" grpId="0" animBg="1"/>
      <p:bldP spid="45" grpId="1" animBg="1"/>
      <p:bldP spid="46" grpId="0" build="allAtOnce"/>
      <p:bldP spid="47" grpId="0" build="allAtOnce"/>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build="allAtOnce"/>
      <p:bldP spid="54" grpId="0" animBg="1"/>
      <p:bldP spid="55" grpId="0" animBg="1"/>
      <p:bldP spid="56" grpId="0" animBg="1"/>
      <p:bldP spid="59" grpId="0" animBg="1"/>
    </p:bldLst>
  </p:timing>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33836</TotalTime>
  <Words>4861</Words>
  <Application>Microsoft Macintosh PowerPoint</Application>
  <PresentationFormat>全屏显示(16:10)</PresentationFormat>
  <Paragraphs>926</Paragraphs>
  <Slides>85</Slides>
  <Notes>43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85</vt:i4>
      </vt:variant>
    </vt:vector>
  </HeadingPairs>
  <TitlesOfParts>
    <vt:vector size="100" baseType="lpstr">
      <vt:lpstr>DengXian</vt:lpstr>
      <vt:lpstr>等线 Light</vt:lpstr>
      <vt:lpstr>微软雅黑</vt:lpstr>
      <vt:lpstr>Microsoft YaHei Light</vt:lpstr>
      <vt:lpstr>Arial</vt:lpstr>
      <vt:lpstr>Calibri</vt:lpstr>
      <vt:lpstr>Comic Sans MS</vt:lpstr>
      <vt:lpstr>Consolas</vt:lpstr>
      <vt:lpstr>Courier</vt:lpstr>
      <vt:lpstr>Courier New</vt:lpstr>
      <vt:lpstr>Helvetica</vt:lpstr>
      <vt:lpstr>Times New Roman</vt:lpstr>
      <vt:lpstr>Verdana</vt:lpstr>
      <vt:lpstr>Office 主题​​</vt:lpstr>
      <vt:lpstr>1_Office 主题​​</vt:lpstr>
      <vt:lpstr>操作系统的硬件运行环境</vt:lpstr>
      <vt:lpstr>数组</vt:lpstr>
      <vt:lpstr>数组的声明</vt:lpstr>
      <vt:lpstr>数组的起始地址</vt:lpstr>
      <vt:lpstr>访问数组元素</vt:lpstr>
      <vt:lpstr>数组示例</vt:lpstr>
      <vt:lpstr>数组示例</vt:lpstr>
      <vt:lpstr>回顾：访存指令</vt:lpstr>
      <vt:lpstr>指针运算：结果放到 x2</vt:lpstr>
      <vt:lpstr>指针</vt:lpstr>
      <vt:lpstr>指针</vt:lpstr>
      <vt:lpstr>指针</vt:lpstr>
      <vt:lpstr>指针运算</vt:lpstr>
      <vt:lpstr>命令行参数</vt:lpstr>
      <vt:lpstr>函数指针</vt:lpstr>
      <vt:lpstr>函数指针</vt:lpstr>
      <vt:lpstr>函数指针</vt:lpstr>
      <vt:lpstr>异质数据结构</vt:lpstr>
      <vt:lpstr>结构体（struct）</vt:lpstr>
      <vt:lpstr>结构体（struct）</vt:lpstr>
      <vt:lpstr>结构体（struct）</vt:lpstr>
      <vt:lpstr>结构体（struct）</vt:lpstr>
      <vt:lpstr>结构体（struct）</vt:lpstr>
      <vt:lpstr>结构体（struct）</vt:lpstr>
      <vt:lpstr>结构体（struct）</vt:lpstr>
      <vt:lpstr>联合（union）</vt:lpstr>
      <vt:lpstr>联合（union）</vt:lpstr>
      <vt:lpstr>联合（union）</vt:lpstr>
      <vt:lpstr>对齐</vt:lpstr>
      <vt:lpstr>对齐（alignment）</vt:lpstr>
      <vt:lpstr>对齐（alignment）</vt:lpstr>
      <vt:lpstr>对齐（alignment）</vt:lpstr>
      <vt:lpstr>对齐（alignment）</vt:lpstr>
      <vt:lpstr>对齐（alignment）</vt:lpstr>
      <vt:lpstr>对齐的例子</vt:lpstr>
      <vt:lpstr>特权级别与系统ISA</vt:lpstr>
      <vt:lpstr>回顾：特权级的必要性</vt:lpstr>
      <vt:lpstr>回顾：操作系统的分化</vt:lpstr>
      <vt:lpstr>回顾：CPU的两种ISA</vt:lpstr>
      <vt:lpstr>用户态与内核态</vt:lpstr>
      <vt:lpstr>特权级/ARM (Exception Level)</vt:lpstr>
      <vt:lpstr>AArch64 中常见寄存器在不同特权级的可见情况</vt:lpstr>
      <vt:lpstr>系统状态寄存器 PSTATE</vt:lpstr>
      <vt:lpstr>异常机制</vt:lpstr>
      <vt:lpstr>控制流的变化</vt:lpstr>
      <vt:lpstr>事件与异常</vt:lpstr>
      <vt:lpstr>同步异常：由CPU内部的事件导致</vt:lpstr>
      <vt:lpstr>异步异常（中断）：由CPU外部的事件导致</vt:lpstr>
      <vt:lpstr>异步异常（中断）</vt:lpstr>
      <vt:lpstr>异常向量表</vt:lpstr>
      <vt:lpstr>异常处理函数</vt:lpstr>
      <vt:lpstr>异常向量表</vt:lpstr>
      <vt:lpstr>异常处理完成后</vt:lpstr>
      <vt:lpstr>操作系统的执行流可对应地分为两部分</vt:lpstr>
      <vt:lpstr>内核态与用户态的切换</vt:lpstr>
      <vt:lpstr>用户态/内核态切换时的处理器状态变化</vt:lpstr>
      <vt:lpstr>处理器在切换过程中的任务</vt:lpstr>
      <vt:lpstr>思考题</vt:lpstr>
      <vt:lpstr>处理器的这些操作都是必要的</vt:lpstr>
      <vt:lpstr>eret：从内核态返回到用户态</vt:lpstr>
      <vt:lpstr>操作系统在切换过程中的任务</vt:lpstr>
      <vt:lpstr>系统调用</vt:lpstr>
      <vt:lpstr>系统调用</vt:lpstr>
      <vt:lpstr>系统调用例子</vt:lpstr>
      <vt:lpstr>AArch64下常见的Linux的系统调用</vt:lpstr>
      <vt:lpstr>系统调用例子</vt:lpstr>
      <vt:lpstr>系统调用例子</vt:lpstr>
      <vt:lpstr>系统调用的参数传递</vt:lpstr>
      <vt:lpstr>系统调用返回值与errno</vt:lpstr>
      <vt:lpstr>Q: 如果寄存器放不下参数怎么办？</vt:lpstr>
      <vt:lpstr>如何跟踪系统调用？</vt:lpstr>
      <vt:lpstr>程序员角度看系统调用</vt:lpstr>
      <vt:lpstr>Questions</vt:lpstr>
      <vt:lpstr>vDSO</vt:lpstr>
      <vt:lpstr>Motivation</vt:lpstr>
      <vt:lpstr>The Code of gettimeofday()</vt:lpstr>
      <vt:lpstr>vDSO的共享页在哪儿？</vt:lpstr>
      <vt:lpstr>Flex-SC</vt:lpstr>
      <vt:lpstr>Motivation</vt:lpstr>
      <vt:lpstr>Flexible System Call</vt:lpstr>
      <vt:lpstr>System Call的另一种方法</vt:lpstr>
      <vt:lpstr>Exception-less System Call</vt:lpstr>
      <vt:lpstr>Kernel填充syscall的返回值</vt:lpstr>
      <vt:lpstr>单核上：Single Threads</vt:lpstr>
      <vt:lpstr>单核上：Multiple Threads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1295</cp:revision>
  <cp:lastPrinted>2020-03-02T13:38:09Z</cp:lastPrinted>
  <dcterms:created xsi:type="dcterms:W3CDTF">2017-11-24T09:35:45Z</dcterms:created>
  <dcterms:modified xsi:type="dcterms:W3CDTF">2024-06-14T15:18:38Z</dcterms:modified>
</cp:coreProperties>
</file>