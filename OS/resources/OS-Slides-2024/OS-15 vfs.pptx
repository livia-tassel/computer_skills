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1306" r:id="rId2"/>
    <p:sldId id="1359" r:id="rId3"/>
    <p:sldId id="2459" r:id="rId4"/>
    <p:sldId id="2552" r:id="rId5"/>
    <p:sldId id="2358" r:id="rId6"/>
    <p:sldId id="2420" r:id="rId7"/>
    <p:sldId id="2418" r:id="rId8"/>
    <p:sldId id="2423" r:id="rId9"/>
    <p:sldId id="2428" r:id="rId10"/>
    <p:sldId id="2430" r:id="rId11"/>
    <p:sldId id="2424" r:id="rId12"/>
    <p:sldId id="2581" r:id="rId13"/>
    <p:sldId id="2432" r:id="rId14"/>
    <p:sldId id="2553" r:id="rId15"/>
    <p:sldId id="2554" r:id="rId16"/>
    <p:sldId id="2470" r:id="rId17"/>
    <p:sldId id="2392" r:id="rId18"/>
    <p:sldId id="2560" r:id="rId19"/>
    <p:sldId id="2561" r:id="rId20"/>
    <p:sldId id="2419" r:id="rId21"/>
    <p:sldId id="2550" r:id="rId22"/>
    <p:sldId id="2471" r:id="rId23"/>
    <p:sldId id="2458" r:id="rId24"/>
    <p:sldId id="2511" r:id="rId25"/>
    <p:sldId id="2526" r:id="rId26"/>
    <p:sldId id="2527" r:id="rId27"/>
    <p:sldId id="2524" r:id="rId28"/>
    <p:sldId id="2525" r:id="rId29"/>
    <p:sldId id="2523" r:id="rId30"/>
    <p:sldId id="2513" r:id="rId31"/>
    <p:sldId id="2528" r:id="rId32"/>
    <p:sldId id="2530" r:id="rId33"/>
    <p:sldId id="2514" r:id="rId34"/>
    <p:sldId id="2555" r:id="rId35"/>
    <p:sldId id="2532" r:id="rId36"/>
    <p:sldId id="2542" r:id="rId37"/>
    <p:sldId id="2544" r:id="rId38"/>
    <p:sldId id="2531" r:id="rId39"/>
    <p:sldId id="2536" r:id="rId40"/>
    <p:sldId id="2551" r:id="rId41"/>
    <p:sldId id="2516" r:id="rId42"/>
    <p:sldId id="2507" r:id="rId43"/>
    <p:sldId id="2545" r:id="rId44"/>
    <p:sldId id="2519" r:id="rId45"/>
    <p:sldId id="2546" r:id="rId46"/>
    <p:sldId id="2547" r:id="rId47"/>
    <p:sldId id="2520" r:id="rId48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orient="horz" pos="8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0FB92"/>
    <a:srgbClr val="941100"/>
    <a:srgbClr val="212121"/>
    <a:srgbClr val="005493"/>
    <a:srgbClr val="FF2F92"/>
    <a:srgbClr val="9437FF"/>
    <a:srgbClr val="73FEFF"/>
    <a:srgbClr val="ED3C64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75034" autoAdjust="0"/>
  </p:normalViewPr>
  <p:slideViewPr>
    <p:cSldViewPr>
      <p:cViewPr varScale="1">
        <p:scale>
          <a:sx n="108" d="100"/>
          <a:sy n="108" d="100"/>
        </p:scale>
        <p:origin x="2560" y="184"/>
      </p:cViewPr>
      <p:guideLst>
        <p:guide orient="horz" pos="2480"/>
        <p:guide pos="2880"/>
        <p:guide orient="horz" pos="893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14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45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不同结构的大小和使用方式不同</a:t>
            </a:r>
            <a:r>
              <a:rPr lang="zh-CN" altLang="en-US" dirty="0"/>
              <a:t>，单独的所以能够更加高效（在内存利用率和性能上）</a:t>
            </a:r>
            <a:endParaRPr lang="en-US" altLang="zh-CN" dirty="0"/>
          </a:p>
          <a:p>
            <a:r>
              <a:rPr lang="zh-CN" altLang="en-US" dirty="0"/>
              <a:t>比如 </a:t>
            </a:r>
            <a:r>
              <a:rPr lang="en-US" altLang="zh-CN" dirty="0" err="1"/>
              <a:t>inode</a:t>
            </a:r>
            <a:r>
              <a:rPr lang="zh-CN" altLang="en-US" dirty="0"/>
              <a:t> 小于 </a:t>
            </a:r>
            <a:r>
              <a:rPr lang="en-US" altLang="zh-CN" dirty="0"/>
              <a:t>4K</a:t>
            </a:r>
            <a:r>
              <a:rPr lang="zh-CN" altLang="en-US" dirty="0"/>
              <a:t>，一个页面里有多个 </a:t>
            </a:r>
            <a:r>
              <a:rPr lang="en-US" altLang="zh-CN" dirty="0" err="1"/>
              <a:t>inode</a:t>
            </a:r>
            <a:r>
              <a:rPr lang="zh-CN" altLang="en-US" dirty="0"/>
              <a:t>，如果其中只有一个 </a:t>
            </a:r>
            <a:r>
              <a:rPr lang="en-US" altLang="zh-CN" dirty="0" err="1"/>
              <a:t>inode</a:t>
            </a:r>
            <a:r>
              <a:rPr lang="zh-CN" altLang="en-US" dirty="0"/>
              <a:t> 被使用，整个页面都存在内存，浪费了。</a:t>
            </a:r>
            <a:endParaRPr lang="en-US" altLang="zh-CN" dirty="0"/>
          </a:p>
          <a:p>
            <a:r>
              <a:rPr lang="zh-CN" altLang="en-US" dirty="0"/>
              <a:t>比如分配器，一些文件系统可以在内存中通过链表等方式，加速分配，而在磁盘上保存 </a:t>
            </a:r>
            <a:r>
              <a:rPr lang="en-US" altLang="zh-CN" dirty="0"/>
              <a:t>bitmap</a:t>
            </a:r>
            <a:r>
              <a:rPr lang="zh-CN" altLang="en-US"/>
              <a:t>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16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87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672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0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008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547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311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RoW</a:t>
            </a:r>
            <a:r>
              <a:rPr lang="zh-CN" altLang="en-US" dirty="0"/>
              <a:t>：与</a:t>
            </a:r>
            <a:r>
              <a:rPr lang="en-US" altLang="zh-CN" dirty="0" err="1"/>
              <a:t>CoW</a:t>
            </a:r>
            <a:r>
              <a:rPr lang="zh-CN" altLang="en-US" dirty="0"/>
              <a:t>区别在于，</a:t>
            </a:r>
            <a:r>
              <a:rPr lang="en-US" altLang="zh-CN" dirty="0"/>
              <a:t>copy</a:t>
            </a:r>
            <a:r>
              <a:rPr lang="zh-CN" altLang="en-US" dirty="0"/>
              <a:t>之后在哪一份数据上修改</a:t>
            </a:r>
            <a:endParaRPr lang="en-US" altLang="zh-CN" dirty="0"/>
          </a:p>
          <a:p>
            <a:r>
              <a:rPr lang="en-US" altLang="zh-CN" dirty="0" err="1"/>
              <a:t>UnionFS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35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b="0" dirty="0"/>
              <a:t>子卷</a:t>
            </a:r>
            <a:r>
              <a:rPr lang="zh-CN" altLang="en-US" b="0" dirty="0"/>
              <a:t>（把文件系统中的一部分变成完整的子文件系统）</a:t>
            </a:r>
            <a:endParaRPr lang="en-US" altLang="zh-CN" b="0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59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/second</a:t>
            </a:r>
          </a:p>
          <a:p>
            <a:r>
              <a:rPr kumimoji="1" lang="en-US" altLang="zh-CN" dirty="0"/>
              <a:t>/first,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dir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dir</a:t>
            </a:r>
            <a:r>
              <a:rPr kumimoji="1" lang="en-US" altLang="zh-CN" dirty="0"/>
              <a:t>/second</a:t>
            </a:r>
          </a:p>
          <a:p>
            <a:r>
              <a:rPr kumimoji="1" lang="en-US" altLang="zh-CN" dirty="0"/>
              <a:t>/first(new),</a:t>
            </a:r>
            <a:r>
              <a:rPr kumimoji="1" lang="zh-CN" altLang="en-US" dirty="0"/>
              <a:t> </a:t>
            </a:r>
            <a:r>
              <a:rPr kumimoji="1" lang="en-US" altLang="zh-CN" dirty="0"/>
              <a:t>/second(new),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dir</a:t>
            </a:r>
            <a:r>
              <a:rPr kumimoji="1" lang="en-US" altLang="zh-CN" dirty="0"/>
              <a:t>/second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547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CN" dirty="0"/>
              <a:t>打开时间</a:t>
            </a:r>
            <a:r>
              <a:rPr lang="zh-CN" altLang="en-US" dirty="0"/>
              <a:t>慢</a:t>
            </a:r>
            <a:r>
              <a:rPr lang="en-US" altLang="zh-CN" dirty="0"/>
              <a:t>=&gt;</a:t>
            </a:r>
            <a:r>
              <a:rPr lang="zh-CN" altLang="en-US" dirty="0"/>
              <a:t>查找时间慢</a:t>
            </a:r>
            <a:r>
              <a:rPr lang="en-US" altLang="zh-CN" dirty="0"/>
              <a:t>=&gt;</a:t>
            </a:r>
            <a:r>
              <a:rPr lang="zh-CN" altLang="en-US" dirty="0"/>
              <a:t>目录结构效率不高、目录太深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优化目录结构、用</a:t>
            </a:r>
            <a:r>
              <a:rPr lang="en-US" altLang="zh-CN" dirty="0" err="1"/>
              <a:t>db</a:t>
            </a:r>
            <a:r>
              <a:rPr lang="zh-CN" altLang="en-US" dirty="0"/>
              <a:t>做</a:t>
            </a:r>
            <a:r>
              <a:rPr lang="en-US" altLang="zh-CN" dirty="0"/>
              <a:t>fs</a:t>
            </a:r>
            <a:r>
              <a:rPr lang="zh-CN" altLang="en-US" dirty="0"/>
              <a:t>的索引、或者在</a:t>
            </a:r>
            <a:r>
              <a:rPr lang="en-US" altLang="zh-CN" dirty="0"/>
              <a:t>fs</a:t>
            </a:r>
            <a:r>
              <a:rPr lang="zh-CN" altLang="en-US" dirty="0"/>
              <a:t>中内置一个</a:t>
            </a:r>
            <a:r>
              <a:rPr lang="en-US" altLang="zh-CN" dirty="0" err="1"/>
              <a:t>db</a:t>
            </a:r>
            <a:r>
              <a:rPr lang="zh-CN" altLang="en-US" dirty="0"/>
              <a:t>专门存小文件。</a:t>
            </a:r>
            <a:endParaRPr lang="en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CN" dirty="0"/>
              <a:t>HTML</a:t>
            </a:r>
            <a:r>
              <a:rPr lang="zh-CN" altLang="en-CN" dirty="0"/>
              <a:t>里面</a:t>
            </a:r>
            <a:r>
              <a:rPr lang="zh-CN" altLang="en-US" dirty="0"/>
              <a:t>小图片都是拼在一起，用</a:t>
            </a:r>
            <a:r>
              <a:rPr lang="en-US" altLang="zh-CN" dirty="0" err="1"/>
              <a:t>css</a:t>
            </a:r>
            <a:r>
              <a:rPr lang="zh-CN" altLang="en-US" dirty="0"/>
              <a:t>切图（页面加载速度、网络传输）</a:t>
            </a:r>
            <a:endParaRPr lang="en-US" altLang="zh-CN" dirty="0"/>
          </a:p>
          <a:p>
            <a:r>
              <a:rPr lang="zh-CN" altLang="en-US" dirty="0"/>
              <a:t>传文件到远端或优盘，先打包再传输</a:t>
            </a:r>
            <a:endParaRPr lang="en-US" altLang="zh-CN" dirty="0"/>
          </a:p>
          <a:p>
            <a:r>
              <a:rPr lang="en-US" altLang="zh-CN" dirty="0"/>
              <a:t>Git</a:t>
            </a:r>
            <a:r>
              <a:rPr lang="zh-CN" altLang="en-US" dirty="0"/>
              <a:t>的</a:t>
            </a:r>
            <a:r>
              <a:rPr lang="en-US" altLang="zh-CN" dirty="0"/>
              <a:t>push/pull</a:t>
            </a:r>
            <a:r>
              <a:rPr lang="zh-CN" altLang="en-US" dirty="0"/>
              <a:t>是先打包再传输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272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慢！考虑</a:t>
            </a:r>
            <a:r>
              <a:rPr lang="en-US" altLang="zh-CN" dirty="0"/>
              <a:t>copy</a:t>
            </a:r>
            <a:r>
              <a:rPr lang="zh-CN" altLang="en-US" dirty="0"/>
              <a:t>个</a:t>
            </a:r>
            <a:r>
              <a:rPr lang="en-US" altLang="zh-CN" dirty="0"/>
              <a:t>10G</a:t>
            </a:r>
            <a:r>
              <a:rPr lang="zh-CN" altLang="en-US" dirty="0"/>
              <a:t>的文件？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862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902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文件系统结构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ABCC2C0E-E1DD-7306-5EC7-B20CD3F59F96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B7F-73A6-BE48-AEBC-3DC5B30A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虚拟文件系统</a:t>
            </a:r>
            <a:r>
              <a:rPr lang="zh-CN" altLang="en-US" dirty="0"/>
              <a:t>（</a:t>
            </a:r>
            <a:r>
              <a:rPr lang="en-US" altLang="zh-CN" dirty="0"/>
              <a:t>VFS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C9938-839D-1948-9190-30750279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缓存、多文件系统、</a:t>
            </a:r>
            <a:r>
              <a:rPr lang="en-US" altLang="zh-CN" dirty="0"/>
              <a:t>FUSE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2423-FBC2-E644-888E-8A13388B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9667-E0C4-3D4B-BC5F-87C8064E8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459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981FA8D-AF3D-1B49-8E03-889B13CE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如何在一个系统中同时支持多个文件系统？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E1CE9C5-C2F9-6B4B-A739-5DB877182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计算机中的异构文件系统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双启动，两个分区有各自的文件系统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Mac</a:t>
            </a:r>
            <a:r>
              <a:rPr kumimoji="1" lang="zh-CN" altLang="en-US" dirty="0"/>
              <a:t>用</a:t>
            </a:r>
            <a:r>
              <a:rPr kumimoji="1" lang="en-US" altLang="zh-CN" dirty="0"/>
              <a:t>APFS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U</a:t>
            </a:r>
            <a:r>
              <a:rPr kumimoji="1" lang="zh-CN" altLang="en-US" dirty="0"/>
              <a:t>盘一般用</a:t>
            </a:r>
            <a:r>
              <a:rPr kumimoji="1" lang="en-US" altLang="zh-CN" dirty="0"/>
              <a:t>FAT/</a:t>
            </a:r>
            <a:r>
              <a:rPr kumimoji="1" lang="en-US" altLang="zh-CN" dirty="0" err="1"/>
              <a:t>exFAT</a:t>
            </a:r>
            <a:r>
              <a:rPr kumimoji="1" lang="zh-CN" altLang="en-US" dirty="0"/>
              <a:t>，移动硬盘用</a:t>
            </a:r>
            <a:r>
              <a:rPr kumimoji="1" lang="en-US" altLang="zh-CN" dirty="0"/>
              <a:t>NTFS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如何对用户屏蔽文件系统的异构性？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VFS</a:t>
            </a:r>
            <a:r>
              <a:rPr kumimoji="1" lang="zh-CN" altLang="en-US" dirty="0"/>
              <a:t>：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</a:p>
          <a:p>
            <a:pPr lvl="1"/>
            <a:r>
              <a:rPr kumimoji="1" lang="zh-CN" altLang="en-US" dirty="0"/>
              <a:t>中间层，对上提供</a:t>
            </a:r>
            <a:r>
              <a:rPr kumimoji="1" lang="en-US" altLang="zh-CN" dirty="0"/>
              <a:t>POSIX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，对下对接不同的文件系统驱动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125E5-F1BA-0C4C-AAEE-C03A9AB5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0A4D58-4240-D648-BEDA-28349DDA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555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8375-E15A-FD46-87E7-0E1A0B91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中的虚拟文件系统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B39C-D790-BA42-81EE-F1E5D6B6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800" dirty="0"/>
              <a:t>Linux</a:t>
            </a:r>
            <a:r>
              <a:rPr lang="zh-CN" altLang="en-US" sz="1800" dirty="0"/>
              <a:t>的</a:t>
            </a:r>
            <a:r>
              <a:rPr lang="en-US" altLang="zh-CN" sz="1800" dirty="0"/>
              <a:t>VFS</a:t>
            </a:r>
            <a:r>
              <a:rPr lang="zh-CN" altLang="en-US" sz="1800" dirty="0"/>
              <a:t>定义了一些系列接口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b="0" dirty="0"/>
              <a:t>具体的文件系统实现这些接口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dirty="0"/>
              <a:t>例如：在读取一个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的文件时</a:t>
            </a:r>
            <a:endParaRPr lang="en-US" altLang="zh-CN" sz="1800" dirty="0"/>
          </a:p>
          <a:p>
            <a:r>
              <a:rPr lang="en-US" altLang="zh-CN" sz="1600" b="0" dirty="0"/>
              <a:t>VFS</a:t>
            </a:r>
            <a:r>
              <a:rPr lang="zh-CN" altLang="en-US" sz="1600" b="0" dirty="0"/>
              <a:t>先找到该</a:t>
            </a:r>
            <a:r>
              <a:rPr lang="en-US" altLang="zh-CN" sz="1600" b="0" dirty="0" err="1"/>
              <a:t>inode</a:t>
            </a:r>
            <a:r>
              <a:rPr lang="zh-CN" altLang="en-US" sz="1600" b="0" dirty="0"/>
              <a:t>所属文件系统</a:t>
            </a:r>
            <a:endParaRPr lang="en-US" altLang="zh-CN" sz="1600" b="0" dirty="0"/>
          </a:p>
          <a:p>
            <a:r>
              <a:rPr lang="zh-CN" altLang="en-US" sz="1600" b="0" dirty="0"/>
              <a:t>再调用该文件系统的读取接口</a:t>
            </a:r>
            <a:endParaRPr lang="en-US" altLang="zh-CN" sz="1600" b="0" dirty="0"/>
          </a:p>
          <a:p>
            <a:endParaRPr lang="en-US" altLang="zh-CN" sz="1600" b="0" dirty="0"/>
          </a:p>
          <a:p>
            <a:pPr marL="0" indent="0">
              <a:buNone/>
            </a:pPr>
            <a:r>
              <a:rPr lang="en-US" altLang="zh-CN" sz="1800" dirty="0"/>
              <a:t>Windows</a:t>
            </a:r>
            <a:r>
              <a:rPr lang="zh-CN" altLang="en-US" sz="1800" dirty="0"/>
              <a:t>的类似机制</a:t>
            </a:r>
            <a:endParaRPr lang="en-US" altLang="zh-CN" sz="1800" dirty="0"/>
          </a:p>
          <a:p>
            <a:r>
              <a:rPr lang="en-US" altLang="zh-CN" sz="1600" b="0" dirty="0"/>
              <a:t>Installable</a:t>
            </a:r>
            <a:r>
              <a:rPr lang="zh-CN" altLang="en-US" sz="1600" b="0" dirty="0"/>
              <a:t> </a:t>
            </a:r>
            <a:r>
              <a:rPr lang="en-US" altLang="zh-CN" sz="1600" b="0" dirty="0"/>
              <a:t>File</a:t>
            </a:r>
            <a:r>
              <a:rPr lang="zh-CN" altLang="en-US" sz="1600" b="0" dirty="0"/>
              <a:t> </a:t>
            </a:r>
            <a:r>
              <a:rPr lang="en-US" altLang="zh-CN" sz="1600" b="0" dirty="0"/>
              <a:t>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5289A-17DF-A749-8B3A-2B352B9FC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F3BF8E-CDAB-3D46-B7E6-45F4B97B2ED5}"/>
              </a:ext>
            </a:extLst>
          </p:cNvPr>
          <p:cNvSpPr/>
          <p:nvPr/>
        </p:nvSpPr>
        <p:spPr>
          <a:xfrm>
            <a:off x="5277072" y="1741638"/>
            <a:ext cx="3183360" cy="9004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VFS</a:t>
            </a:r>
          </a:p>
          <a:p>
            <a:pPr algn="ctr"/>
            <a:endParaRPr lang="en-C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6A5C68-F501-A14C-98F7-2FB8708E231C}"/>
              </a:ext>
            </a:extLst>
          </p:cNvPr>
          <p:cNvSpPr/>
          <p:nvPr/>
        </p:nvSpPr>
        <p:spPr>
          <a:xfrm>
            <a:off x="5426978" y="3153790"/>
            <a:ext cx="84908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Ext4</a:t>
            </a:r>
            <a:endParaRPr lang="en-CN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E3E731-5D83-7A4E-9E6B-DB2B29739BB9}"/>
              </a:ext>
            </a:extLst>
          </p:cNvPr>
          <p:cNvSpPr/>
          <p:nvPr/>
        </p:nvSpPr>
        <p:spPr>
          <a:xfrm>
            <a:off x="6467870" y="3144928"/>
            <a:ext cx="84908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XFS</a:t>
            </a:r>
            <a:endParaRPr lang="en-CN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EE6BE3-4BB2-3C47-8AC1-D5BF69B86359}"/>
              </a:ext>
            </a:extLst>
          </p:cNvPr>
          <p:cNvSpPr/>
          <p:nvPr/>
        </p:nvSpPr>
        <p:spPr>
          <a:xfrm>
            <a:off x="7457221" y="3144928"/>
            <a:ext cx="84908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FAT</a:t>
            </a:r>
            <a:endParaRPr lang="en-CN" dirty="0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86B45F17-E45E-4940-B08D-018BD27CB679}"/>
              </a:ext>
            </a:extLst>
          </p:cNvPr>
          <p:cNvSpPr/>
          <p:nvPr/>
        </p:nvSpPr>
        <p:spPr>
          <a:xfrm rot="16200000">
            <a:off x="5588057" y="2962473"/>
            <a:ext cx="526937" cy="288035"/>
          </a:xfrm>
          <a:prstGeom prst="homePlate">
            <a:avLst/>
          </a:prstGeom>
          <a:solidFill>
            <a:srgbClr val="BE384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232B46D0-F855-A147-ADDA-882F591357BD}"/>
              </a:ext>
            </a:extLst>
          </p:cNvPr>
          <p:cNvSpPr/>
          <p:nvPr/>
        </p:nvSpPr>
        <p:spPr>
          <a:xfrm rot="16200000">
            <a:off x="6628945" y="2931761"/>
            <a:ext cx="526937" cy="288035"/>
          </a:xfrm>
          <a:prstGeom prst="homePlate">
            <a:avLst/>
          </a:prstGeom>
          <a:solidFill>
            <a:srgbClr val="BE384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B16EB309-3BAC-CE4F-801D-063E4EBACFB8}"/>
              </a:ext>
            </a:extLst>
          </p:cNvPr>
          <p:cNvSpPr/>
          <p:nvPr/>
        </p:nvSpPr>
        <p:spPr>
          <a:xfrm rot="16200000">
            <a:off x="7618296" y="2928292"/>
            <a:ext cx="526937" cy="288035"/>
          </a:xfrm>
          <a:prstGeom prst="homePlate">
            <a:avLst/>
          </a:prstGeom>
          <a:solidFill>
            <a:srgbClr val="BE384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9DBC4B-FB83-FE40-8383-C14F2696D2CA}"/>
              </a:ext>
            </a:extLst>
          </p:cNvPr>
          <p:cNvGrpSpPr/>
          <p:nvPr/>
        </p:nvGrpSpPr>
        <p:grpSpPr>
          <a:xfrm>
            <a:off x="5707508" y="1963860"/>
            <a:ext cx="288036" cy="783050"/>
            <a:chOff x="5707502" y="2015916"/>
            <a:chExt cx="288036" cy="7830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103557-A25C-1647-AD7F-62A3A9040C4E}"/>
                </a:ext>
              </a:extLst>
            </p:cNvPr>
            <p:cNvSpPr/>
            <p:nvPr/>
          </p:nvSpPr>
          <p:spPr>
            <a:xfrm>
              <a:off x="5707502" y="2150894"/>
              <a:ext cx="288036" cy="6480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AC41ACBA-0C1C-494E-9E9F-367398E268CD}"/>
                </a:ext>
              </a:extLst>
            </p:cNvPr>
            <p:cNvSpPr/>
            <p:nvPr/>
          </p:nvSpPr>
          <p:spPr>
            <a:xfrm rot="16200000">
              <a:off x="5610750" y="2112672"/>
              <a:ext cx="481544" cy="288032"/>
            </a:xfrm>
            <a:prstGeom prst="chevron">
              <a:avLst/>
            </a:prstGeom>
            <a:solidFill>
              <a:srgbClr val="BE384B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F50FD2-E0AC-3D44-9AD2-37EDD722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B3C225-093A-2042-8DBF-DC568905F8FD}"/>
              </a:ext>
            </a:extLst>
          </p:cNvPr>
          <p:cNvGrpSpPr/>
          <p:nvPr/>
        </p:nvGrpSpPr>
        <p:grpSpPr>
          <a:xfrm>
            <a:off x="6748396" y="2137420"/>
            <a:ext cx="288036" cy="606388"/>
            <a:chOff x="5707502" y="2180614"/>
            <a:chExt cx="288036" cy="60638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59CFE9-EF0F-164B-AC84-60FB34A5A39D}"/>
                </a:ext>
              </a:extLst>
            </p:cNvPr>
            <p:cNvSpPr/>
            <p:nvPr/>
          </p:nvSpPr>
          <p:spPr>
            <a:xfrm>
              <a:off x="5707502" y="2324630"/>
              <a:ext cx="288036" cy="4623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48157C39-1629-6844-AFB5-EB61B65FBBB4}"/>
                </a:ext>
              </a:extLst>
            </p:cNvPr>
            <p:cNvSpPr/>
            <p:nvPr/>
          </p:nvSpPr>
          <p:spPr>
            <a:xfrm rot="16200000">
              <a:off x="5693099" y="2195021"/>
              <a:ext cx="316846" cy="288032"/>
            </a:xfrm>
            <a:prstGeom prst="chevron">
              <a:avLst/>
            </a:prstGeom>
            <a:solidFill>
              <a:srgbClr val="BE384B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D30F0A-FB85-CD4B-BA31-4ABE1D1BCCC3}"/>
              </a:ext>
            </a:extLst>
          </p:cNvPr>
          <p:cNvGrpSpPr/>
          <p:nvPr/>
        </p:nvGrpSpPr>
        <p:grpSpPr>
          <a:xfrm>
            <a:off x="7737746" y="1959997"/>
            <a:ext cx="288036" cy="783048"/>
            <a:chOff x="5707502" y="2015916"/>
            <a:chExt cx="288036" cy="78304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D2A53E-E3E9-614F-9F34-54CE7911E189}"/>
                </a:ext>
              </a:extLst>
            </p:cNvPr>
            <p:cNvSpPr/>
            <p:nvPr/>
          </p:nvSpPr>
          <p:spPr>
            <a:xfrm>
              <a:off x="5707502" y="2150893"/>
              <a:ext cx="288036" cy="6480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A3C46A39-F787-8B4E-9A7D-8CBCC7AC5CD8}"/>
                </a:ext>
              </a:extLst>
            </p:cNvPr>
            <p:cNvSpPr/>
            <p:nvPr/>
          </p:nvSpPr>
          <p:spPr>
            <a:xfrm rot="16200000">
              <a:off x="5610750" y="2112672"/>
              <a:ext cx="481544" cy="288032"/>
            </a:xfrm>
            <a:prstGeom prst="chevron">
              <a:avLst/>
            </a:prstGeom>
            <a:solidFill>
              <a:srgbClr val="BE384B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36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757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0" dirty="0"/>
              <a:t>操作系统同时使用多个文件系统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虚拟文件系统提供统一的管理，对应用程序提供统一的视图和抽象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dirty="0"/>
              <a:t>问题：每个文件系统都有自己的根节点，它们如何配合在一起？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b="0" dirty="0"/>
          </a:p>
          <a:p>
            <a:pPr marL="0" indent="0">
              <a:buNone/>
            </a:pPr>
            <a:endParaRPr lang="en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4C9290-3626-0144-8516-C2A159D426D6}"/>
              </a:ext>
            </a:extLst>
          </p:cNvPr>
          <p:cNvGrpSpPr/>
          <p:nvPr/>
        </p:nvGrpSpPr>
        <p:grpSpPr>
          <a:xfrm>
            <a:off x="692141" y="3091012"/>
            <a:ext cx="2602632" cy="2035301"/>
            <a:chOff x="4218630" y="861490"/>
            <a:chExt cx="4819069" cy="376859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21E551-16A1-5843-B044-DE5212BD5215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CD10FC5-8D64-CD41-8A8D-821A6A48E06D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CB004D9-2D7D-0445-A317-ECF74C2FB7A9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BECE92-D6A5-BD45-9C88-9DBACEB75024}"/>
                </a:ext>
              </a:extLst>
            </p:cNvPr>
            <p:cNvCxnSpPr>
              <a:cxnSpLocks/>
              <a:stCxn id="30" idx="3"/>
              <a:endCxn id="6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49BBE2-AA41-5B47-B5AD-26A59A5A70A9}"/>
                </a:ext>
              </a:extLst>
            </p:cNvPr>
            <p:cNvCxnSpPr>
              <a:cxnSpLocks/>
              <a:stCxn id="31" idx="4"/>
              <a:endCxn id="7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A58F409-2C4F-E849-96E0-AA2869717A32}"/>
                </a:ext>
              </a:extLst>
            </p:cNvPr>
            <p:cNvCxnSpPr>
              <a:cxnSpLocks/>
              <a:stCxn id="29" idx="5"/>
              <a:endCxn id="8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378EA4-A736-9A4B-AF81-FBAE7FA908C0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E7860F-0A8B-804D-B05A-CE554F00619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799574-F5E3-BD40-A1D2-74D9F24E2157}"/>
                </a:ext>
              </a:extLst>
            </p:cNvPr>
            <p:cNvSpPr txBox="1"/>
            <p:nvPr/>
          </p:nvSpPr>
          <p:spPr>
            <a:xfrm>
              <a:off x="7621411" y="861490"/>
              <a:ext cx="966861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C2C64E3-F8C8-134D-95A6-1C3BE4CDFBA5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1E64B75-25EC-EF49-ADC5-5F6D6A2C9CDC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94672EC-DE8E-2B45-A991-9A1C05503EAC}"/>
                </a:ext>
              </a:extLst>
            </p:cNvPr>
            <p:cNvCxnSpPr>
              <a:cxnSpLocks/>
              <a:stCxn id="30" idx="4"/>
              <a:endCxn id="15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AF377B3-16A2-E04B-B609-0D3633324D6C}"/>
                </a:ext>
              </a:extLst>
            </p:cNvPr>
            <p:cNvCxnSpPr>
              <a:cxnSpLocks/>
              <a:stCxn id="30" idx="5"/>
              <a:endCxn id="16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6BCF10-5F1F-574B-ACC6-14EE1B3317DA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984105-8A5C-DD4A-BB77-EABB4E61CEE3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EAD545-1A59-6C4F-AF3B-2872A83A524F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98396A-8A8A-5342-B932-5FB20F6DA213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9308A3-D8CF-7946-A08F-BD63873F0E51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DD9240-A73D-804E-970B-5288CDE00829}"/>
                </a:ext>
              </a:extLst>
            </p:cNvPr>
            <p:cNvSpPr/>
            <p:nvPr/>
          </p:nvSpPr>
          <p:spPr>
            <a:xfrm>
              <a:off x="5484188" y="1302143"/>
              <a:ext cx="3489077" cy="120482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5CFF7A-65DD-2041-8BF1-AB6971C6A34E}"/>
                </a:ext>
              </a:extLst>
            </p:cNvPr>
            <p:cNvCxnSpPr>
              <a:cxnSpLocks/>
              <a:stCxn id="29" idx="4"/>
              <a:endCxn id="31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32DA226-FD33-B643-A5AA-E7AB0481BBE4}"/>
                </a:ext>
              </a:extLst>
            </p:cNvPr>
            <p:cNvCxnSpPr>
              <a:cxnSpLocks/>
              <a:stCxn id="29" idx="3"/>
              <a:endCxn id="30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267A90-B0FA-E741-90F0-86693FD5CA0F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570AEB-9B86-5E46-891D-A6646E4692F0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A132DC4-5B97-1A46-94E4-27CC9674FD16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47F1E60-2C23-F744-A48A-A8A00305620C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1F026EA-C5D9-4841-AADC-99B471BCD6D3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8B49BEF-3053-A84F-B40B-C0AFD856AE25}"/>
              </a:ext>
            </a:extLst>
          </p:cNvPr>
          <p:cNvGrpSpPr/>
          <p:nvPr/>
        </p:nvGrpSpPr>
        <p:grpSpPr>
          <a:xfrm>
            <a:off x="5200538" y="3149227"/>
            <a:ext cx="2867938" cy="2108666"/>
            <a:chOff x="3576270" y="3170153"/>
            <a:chExt cx="2867938" cy="210866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8BC99F5-3266-CD46-B881-16314231D4EC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4F94565-974B-F54C-80C1-3D21E8FFA731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F46133A-BD03-8047-9F5D-30A731E76ECB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13E15A4-5019-114B-8D07-FE5BB706219D}"/>
                </a:ext>
              </a:extLst>
            </p:cNvPr>
            <p:cNvCxnSpPr>
              <a:cxnSpLocks/>
              <a:stCxn id="59" idx="3"/>
              <a:endCxn id="35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7BD347-25F5-7C46-BBB3-F0D4026AFB4D}"/>
                </a:ext>
              </a:extLst>
            </p:cNvPr>
            <p:cNvCxnSpPr>
              <a:cxnSpLocks/>
              <a:stCxn id="60" idx="4"/>
              <a:endCxn id="36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4DF391D-F345-1A42-B6C7-5D6088A62DCB}"/>
                </a:ext>
              </a:extLst>
            </p:cNvPr>
            <p:cNvCxnSpPr>
              <a:cxnSpLocks/>
              <a:stCxn id="58" idx="5"/>
              <a:endCxn id="37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A73FCB3-C0F2-8343-BA6E-EC3B9BC33109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8A353C1-7539-6C4E-B31F-15323DFF11CE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2CCC33-A38F-004F-94EA-AC329C7A0EAD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840414C-386B-E54A-B9E4-6FB27029EB53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C18F889-6A46-1748-8D06-EFB2FA2D17D8}"/>
                </a:ext>
              </a:extLst>
            </p:cNvPr>
            <p:cNvCxnSpPr>
              <a:cxnSpLocks/>
              <a:stCxn id="59" idx="4"/>
              <a:endCxn id="44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5697903-D525-A646-8324-010DC53ED9BF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527DA3-4AAC-6745-B4E2-90E9D47EEB3D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21FA43-BE0F-214B-8726-3561BAF8D169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C0C112B-73EB-6B47-A4DE-2DF5C3DE71C2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5197CE3-5D8C-DC44-B189-77CFA37F891E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43148EB-D979-BE43-9A48-B2F54AED701A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A402A83-A74A-4148-BD6E-7D7E9FA515CB}"/>
                </a:ext>
              </a:extLst>
            </p:cNvPr>
            <p:cNvCxnSpPr>
              <a:cxnSpLocks/>
              <a:stCxn id="58" idx="4"/>
              <a:endCxn id="60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4403563-7415-9B46-B47E-9E2E5F81A940}"/>
                </a:ext>
              </a:extLst>
            </p:cNvPr>
            <p:cNvCxnSpPr>
              <a:cxnSpLocks/>
              <a:stCxn id="58" idx="3"/>
              <a:endCxn id="59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A35FFC1-5C26-8A46-8D6F-B957125E6A34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E21BFEE-069F-D947-9811-7B6EA1A4CB42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9F98251-67C5-4444-BD22-703C9F9CE3E4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40FAE1F-7181-484F-AA73-7E82642CFAE8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44E360D-E417-B240-B634-4CF998D7EFAE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F49E372-ABC6-7148-81EA-EEA60A94C18A}"/>
                </a:ext>
              </a:extLst>
            </p:cNvPr>
            <p:cNvSpPr/>
            <p:nvPr/>
          </p:nvSpPr>
          <p:spPr>
            <a:xfrm>
              <a:off x="4944423" y="500959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6</a:t>
              </a:r>
              <a:endParaRPr lang="en-CN" sz="1100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AEF4ABD-3E1E-D840-9E37-911292F99E2B}"/>
                </a:ext>
              </a:extLst>
            </p:cNvPr>
            <p:cNvCxnSpPr>
              <a:cxnSpLocks/>
              <a:stCxn id="60" idx="4"/>
              <a:endCxn id="63" idx="7"/>
            </p:cNvCxnSpPr>
            <p:nvPr/>
          </p:nvCxnSpPr>
          <p:spPr>
            <a:xfrm flipH="1">
              <a:off x="5174217" y="4564079"/>
              <a:ext cx="163480" cy="48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C093EF-49AD-F442-BD43-20B72F9D3AE5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1BA4993-C634-A344-8219-B1C71D3D622D}"/>
              </a:ext>
            </a:extLst>
          </p:cNvPr>
          <p:cNvSpPr txBox="1"/>
          <p:nvPr/>
        </p:nvSpPr>
        <p:spPr>
          <a:xfrm>
            <a:off x="311840" y="2800951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62EAD1-C53A-C548-9540-9727B7D17624}"/>
              </a:ext>
            </a:extLst>
          </p:cNvPr>
          <p:cNvSpPr txBox="1"/>
          <p:nvPr/>
        </p:nvSpPr>
        <p:spPr>
          <a:xfrm>
            <a:off x="5095683" y="2800951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endParaRPr lang="en-CN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7AD4A6-8D32-5142-9DBC-98B783FAF4C5}"/>
              </a:ext>
            </a:extLst>
          </p:cNvPr>
          <p:cNvSpPr/>
          <p:nvPr/>
        </p:nvSpPr>
        <p:spPr>
          <a:xfrm>
            <a:off x="6516217" y="4868696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5FE39B0-E146-5845-914D-0F18DCE812CE}"/>
              </a:ext>
            </a:extLst>
          </p:cNvPr>
          <p:cNvSpPr/>
          <p:nvPr/>
        </p:nvSpPr>
        <p:spPr>
          <a:xfrm>
            <a:off x="7098326" y="4864736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D0B7E6D-448D-FF4E-88F3-D07CBEF8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1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altLang="zh-CN" sz="1800" b="0" dirty="0"/>
              <a:t>VFS</a:t>
            </a:r>
            <a:r>
              <a:rPr lang="zh-CN" altLang="en-US" sz="1800" b="0" dirty="0"/>
              <a:t>维护一个统一的文件系统树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操作系统内核启动时会挂载一个根文件系统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其他文件系统可以</a:t>
            </a:r>
            <a:r>
              <a:rPr lang="zh-CN" altLang="en-US" sz="1800" dirty="0"/>
              <a:t>挂载</a:t>
            </a:r>
            <a:r>
              <a:rPr lang="zh-CN" altLang="en-US" sz="1800" b="0" dirty="0"/>
              <a:t>在文件系统树的目录上</a:t>
            </a:r>
            <a:endParaRPr lang="en-US" altLang="zh-CN" sz="1800" b="0" dirty="0"/>
          </a:p>
          <a:p>
            <a:pPr marL="0" indent="0">
              <a:buNone/>
            </a:pPr>
            <a:endParaRPr lang="en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90F869-A00F-C54E-8E49-718581374540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108666"/>
            <a:chOff x="3576270" y="3170153"/>
            <a:chExt cx="2867938" cy="2108666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8722E29-CDF6-0943-AB89-AC7F64834EC5}"/>
                </a:ext>
              </a:extLst>
            </p:cNvPr>
            <p:cNvSpPr/>
            <p:nvPr/>
          </p:nvSpPr>
          <p:spPr>
            <a:xfrm>
              <a:off x="4944423" y="500959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6</a:t>
              </a:r>
              <a:endParaRPr lang="en-CN" sz="11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114" idx="7"/>
            </p:cNvCxnSpPr>
            <p:nvPr/>
          </p:nvCxnSpPr>
          <p:spPr>
            <a:xfrm flipH="1">
              <a:off x="5174217" y="4564079"/>
              <a:ext cx="163480" cy="48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0768479-6635-5A46-B53D-E3BF95C585B7}"/>
              </a:ext>
            </a:extLst>
          </p:cNvPr>
          <p:cNvSpPr/>
          <p:nvPr/>
        </p:nvSpPr>
        <p:spPr>
          <a:xfrm>
            <a:off x="6904295" y="229105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BE9B7-E4A4-C049-8746-B6DDE033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95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altLang="zh-CN" sz="1800" b="0" dirty="0"/>
              <a:t>VFS</a:t>
            </a:r>
            <a:r>
              <a:rPr lang="zh-CN" altLang="en-US" sz="1800" b="0" dirty="0"/>
              <a:t>维护一个统一的文件系统树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操作系统内核启动时会挂载一个根文件系统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其他文件系统可以</a:t>
            </a:r>
            <a:r>
              <a:rPr lang="zh-CN" altLang="en-US" sz="1800" dirty="0"/>
              <a:t>挂载</a:t>
            </a:r>
            <a:r>
              <a:rPr lang="zh-CN" altLang="en-US" sz="1800" b="0" dirty="0"/>
              <a:t>在文件系统树的目录上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602028"/>
            <a:chOff x="3576270" y="3170153"/>
            <a:chExt cx="2867938" cy="260202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86" idx="0"/>
            </p:cNvCxnSpPr>
            <p:nvPr/>
          </p:nvCxnSpPr>
          <p:spPr>
            <a:xfrm flipH="1">
              <a:off x="4705871" y="4564079"/>
              <a:ext cx="631826" cy="120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46665-B0E3-AD4A-8B3B-DA2E1CF0732B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E2A7B-BD4E-F249-9896-E7CF31355262}"/>
              </a:ext>
            </a:extLst>
          </p:cNvPr>
          <p:cNvSpPr txBox="1"/>
          <p:nvPr/>
        </p:nvSpPr>
        <p:spPr>
          <a:xfrm>
            <a:off x="4393941" y="3544332"/>
            <a:ext cx="1686680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挂载点：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"/home/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小红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68210-5C7A-654D-95B1-4CDEE4C7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96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VFS</a:t>
            </a: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维护所有的挂载信息</a:t>
            </a: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查找文件时的每一步，检查当前目录是否为挂载点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若是，则使用被挂载的文件系统继续进行访问</a:t>
            </a: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lvl="0" indent="0">
              <a:buNone/>
            </a:pP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文件系统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"/OS/OS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笔记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1"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通过操作系统中</a:t>
            </a:r>
            <a:b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</a:b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"/home/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小红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/OS/OS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笔记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1"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访问</a:t>
            </a: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602028"/>
            <a:chOff x="3576270" y="3170153"/>
            <a:chExt cx="2867938" cy="260202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86" idx="0"/>
            </p:cNvCxnSpPr>
            <p:nvPr/>
          </p:nvCxnSpPr>
          <p:spPr>
            <a:xfrm flipH="1">
              <a:off x="4705871" y="4564079"/>
              <a:ext cx="631826" cy="120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46665-B0E3-AD4A-8B3B-DA2E1CF0732B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E2A7B-BD4E-F249-9896-E7CF31355262}"/>
              </a:ext>
            </a:extLst>
          </p:cNvPr>
          <p:cNvSpPr txBox="1"/>
          <p:nvPr/>
        </p:nvSpPr>
        <p:spPr>
          <a:xfrm>
            <a:off x="4393941" y="3544332"/>
            <a:ext cx="1686680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挂载点：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"/home/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小红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F60D6-B974-274D-A1C5-2F88B817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36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CN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挂载</a:t>
            </a: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在逻辑上覆盖挂载点原有的结构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无法访问文件系统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"/home/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小红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endParaRPr lang="en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lvl="0" indent="0">
              <a:buNone/>
            </a:pP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602028"/>
            <a:chOff x="3576270" y="3170153"/>
            <a:chExt cx="2867938" cy="260202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86" idx="0"/>
            </p:cNvCxnSpPr>
            <p:nvPr/>
          </p:nvCxnSpPr>
          <p:spPr>
            <a:xfrm flipH="1">
              <a:off x="4705871" y="4564079"/>
              <a:ext cx="631826" cy="120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46665-B0E3-AD4A-8B3B-DA2E1CF0732B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E2A7B-BD4E-F249-9896-E7CF31355262}"/>
              </a:ext>
            </a:extLst>
          </p:cNvPr>
          <p:cNvSpPr txBox="1"/>
          <p:nvPr/>
        </p:nvSpPr>
        <p:spPr>
          <a:xfrm>
            <a:off x="4393941" y="3544332"/>
            <a:ext cx="1686680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挂载点：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"/home/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小红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7D0D6-6C25-794F-BD6C-5FE49B0D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7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CN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挂载</a:t>
            </a: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在逻辑上覆盖挂载点原有的结构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无法访问文件系统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"/home/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小红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endParaRPr lang="en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r>
              <a:rPr lang="zh-CN" altLang="en-US" sz="1800" b="0" dirty="0"/>
              <a:t>挂载点下的数据在卸载后依然可以访问</a:t>
            </a: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108666"/>
            <a:chOff x="3576270" y="3170153"/>
            <a:chExt cx="2867938" cy="2108666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8722E29-CDF6-0943-AB89-AC7F64834EC5}"/>
                </a:ext>
              </a:extLst>
            </p:cNvPr>
            <p:cNvSpPr/>
            <p:nvPr/>
          </p:nvSpPr>
          <p:spPr>
            <a:xfrm>
              <a:off x="4944423" y="500959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6</a:t>
              </a:r>
              <a:endParaRPr lang="en-CN" sz="11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114" idx="7"/>
            </p:cNvCxnSpPr>
            <p:nvPr/>
          </p:nvCxnSpPr>
          <p:spPr>
            <a:xfrm flipH="1">
              <a:off x="5174217" y="4564079"/>
              <a:ext cx="163480" cy="48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0768479-6635-5A46-B53D-E3BF95C585B7}"/>
              </a:ext>
            </a:extLst>
          </p:cNvPr>
          <p:cNvSpPr/>
          <p:nvPr/>
        </p:nvSpPr>
        <p:spPr>
          <a:xfrm>
            <a:off x="6904295" y="229105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CF6B9C-9BF5-5F44-8EEF-64D561AA0080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46A4E-62CE-2E4B-8196-BF56A1E6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77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4A68E-C3A9-2948-83BF-55FB9360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VFS</a:t>
            </a:r>
            <a:r>
              <a:rPr kumimoji="1" lang="zh-CN" altLang="en-US" dirty="0"/>
              <a:t>对接</a:t>
            </a:r>
            <a:r>
              <a:rPr kumimoji="1" lang="en-US" altLang="zh-CN" dirty="0"/>
              <a:t>FAT32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98E3F7-0154-9C44-844A-2A4EF2DA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5ECA7E-2453-5843-87A5-F2787D5D2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B82FD4-3521-5043-B911-509409A88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165411"/>
            <a:ext cx="3935401" cy="4058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31762E-913F-314D-BF3C-519BC4F5B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7" y="1195838"/>
            <a:ext cx="3004451" cy="19714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6A9E78-D84D-5C4B-AEB2-E67E1AF2B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64" y="3259839"/>
            <a:ext cx="4519295" cy="194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5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8375-E15A-FD46-87E7-0E1A0B91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中的虚拟文件系统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B39C-D790-BA42-81EE-F1E5D6B6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159396"/>
            <a:ext cx="8229600" cy="803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400" b="0" dirty="0"/>
              <a:t>Linux</a:t>
            </a:r>
            <a:r>
              <a:rPr lang="zh-CN" altLang="en-US" sz="1400" b="0" dirty="0"/>
              <a:t>的</a:t>
            </a:r>
            <a:r>
              <a:rPr lang="en-US" altLang="zh-CN" sz="1400" b="0" dirty="0"/>
              <a:t>VFS</a:t>
            </a:r>
            <a:r>
              <a:rPr lang="zh-CN" altLang="en-US" sz="1400" b="0" dirty="0"/>
              <a:t>定义的一些</a:t>
            </a:r>
            <a:r>
              <a:rPr lang="en-US" altLang="zh-CN" sz="1400" b="0" dirty="0" err="1"/>
              <a:t>inode</a:t>
            </a:r>
            <a:r>
              <a:rPr lang="zh-CN" altLang="en-US" sz="1400" b="0" dirty="0"/>
              <a:t>上的操作接口（注意：这里的</a:t>
            </a:r>
            <a:r>
              <a:rPr lang="en-US" altLang="zh-CN" sz="1400" b="0" dirty="0" err="1"/>
              <a:t>inode</a:t>
            </a:r>
            <a:r>
              <a:rPr lang="zh-CN" altLang="en-US" sz="1400" b="0" dirty="0"/>
              <a:t>就是</a:t>
            </a:r>
            <a:r>
              <a:rPr lang="en-US" altLang="zh-CN" sz="1400" b="0" dirty="0" err="1"/>
              <a:t>vnode</a:t>
            </a:r>
            <a:r>
              <a:rPr lang="zh-CN" altLang="en-US" sz="1400" b="0" dirty="0"/>
              <a:t>）</a:t>
            </a:r>
            <a:endParaRPr lang="en-US" altLang="zh-CN" sz="14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5289A-17DF-A749-8B3A-2B352B9FC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773BE-987C-9A4D-BB09-2B220F01FC21}"/>
              </a:ext>
            </a:extLst>
          </p:cNvPr>
          <p:cNvSpPr txBox="1"/>
          <p:nvPr/>
        </p:nvSpPr>
        <p:spPr>
          <a:xfrm>
            <a:off x="1557278" y="1504444"/>
            <a:ext cx="595547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struct </a:t>
            </a:r>
            <a:r>
              <a:rPr lang="en-US" sz="1000" dirty="0" err="1">
                <a:latin typeface="Courier" pitchFamily="2" charset="0"/>
              </a:rPr>
              <a:t>inode_operations</a:t>
            </a:r>
            <a:r>
              <a:rPr lang="en-US" sz="1000" dirty="0">
                <a:latin typeface="Courier" pitchFamily="2" charset="0"/>
              </a:rPr>
              <a:t> {</a:t>
            </a:r>
          </a:p>
          <a:p>
            <a:r>
              <a:rPr lang="en-US" sz="1000" dirty="0">
                <a:latin typeface="Courier" pitchFamily="2" charset="0"/>
              </a:rPr>
              <a:t>  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 (*lookup)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 unsigned int);</a:t>
            </a:r>
          </a:p>
          <a:p>
            <a:r>
              <a:rPr 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  int (*create)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 </a:t>
            </a:r>
            <a:r>
              <a:rPr lang="en-US" sz="1000" dirty="0" err="1">
                <a:latin typeface="Courier" pitchFamily="2" charset="0"/>
              </a:rPr>
              <a:t>umode_t</a:t>
            </a:r>
            <a:r>
              <a:rPr lang="en-US" sz="1000" dirty="0">
                <a:latin typeface="Courier" pitchFamily="2" charset="0"/>
              </a:rPr>
              <a:t>, bool);</a:t>
            </a:r>
          </a:p>
          <a:p>
            <a:r>
              <a:rPr lang="en-US" sz="1000" dirty="0">
                <a:latin typeface="Courier" pitchFamily="2" charset="0"/>
              </a:rPr>
              <a:t>  int (*link) (struct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*);</a:t>
            </a:r>
          </a:p>
          <a:p>
            <a:r>
              <a:rPr lang="en-US" sz="1000" dirty="0">
                <a:latin typeface="Courier" pitchFamily="2" charset="0"/>
              </a:rPr>
              <a:t>  int (*unlink)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*);</a:t>
            </a:r>
          </a:p>
          <a:p>
            <a:r>
              <a:rPr lang="en-US" sz="1000" dirty="0">
                <a:latin typeface="Courier" pitchFamily="2" charset="0"/>
              </a:rPr>
              <a:t>  int (*</a:t>
            </a:r>
            <a:r>
              <a:rPr lang="en-US" sz="1000" dirty="0" err="1">
                <a:latin typeface="Courier" pitchFamily="2" charset="0"/>
              </a:rPr>
              <a:t>symlink</a:t>
            </a:r>
            <a:r>
              <a:rPr lang="en-US" sz="1000" dirty="0">
                <a:latin typeface="Courier" pitchFamily="2" charset="0"/>
              </a:rPr>
              <a:t>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*,const char *);</a:t>
            </a:r>
          </a:p>
          <a:p>
            <a:r>
              <a:rPr lang="en-US" sz="1000" dirty="0">
                <a:latin typeface="Courier" pitchFamily="2" charset="0"/>
              </a:rPr>
              <a:t>  int (*</a:t>
            </a:r>
            <a:r>
              <a:rPr lang="en-US" sz="1000" dirty="0" err="1">
                <a:latin typeface="Courier" pitchFamily="2" charset="0"/>
              </a:rPr>
              <a:t>mkdir</a:t>
            </a:r>
            <a:r>
              <a:rPr lang="en-US" sz="1000" dirty="0">
                <a:latin typeface="Courier" pitchFamily="2" charset="0"/>
              </a:rPr>
              <a:t>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</a:t>
            </a:r>
            <a:r>
              <a:rPr lang="en-US" sz="1000" dirty="0" err="1">
                <a:latin typeface="Courier" pitchFamily="2" charset="0"/>
              </a:rPr>
              <a:t>umode_t</a:t>
            </a:r>
            <a:r>
              <a:rPr lang="en-US" sz="1000" dirty="0">
                <a:latin typeface="Courier" pitchFamily="2" charset="0"/>
              </a:rPr>
              <a:t>);</a:t>
            </a:r>
          </a:p>
          <a:p>
            <a:r>
              <a:rPr lang="en-US" sz="1000" dirty="0">
                <a:latin typeface="Courier" pitchFamily="2" charset="0"/>
              </a:rPr>
              <a:t>  int (*</a:t>
            </a:r>
            <a:r>
              <a:rPr lang="en-US" sz="1000" dirty="0" err="1">
                <a:latin typeface="Courier" pitchFamily="2" charset="0"/>
              </a:rPr>
              <a:t>rmdir</a:t>
            </a:r>
            <a:r>
              <a:rPr lang="en-US" sz="1000" dirty="0">
                <a:latin typeface="Courier" pitchFamily="2" charset="0"/>
              </a:rPr>
              <a:t>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br>
              <a:rPr lang="en-US" sz="1000" dirty="0">
                <a:latin typeface="Courier" pitchFamily="2" charset="0"/>
              </a:rPr>
            </a:br>
            <a:r>
              <a:rPr lang="en-US" sz="1000" dirty="0">
                <a:latin typeface="Courier" pitchFamily="2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58A2E-9DBC-BF4E-BCE7-9FA038710BBF}"/>
              </a:ext>
            </a:extLst>
          </p:cNvPr>
          <p:cNvSpPr txBox="1"/>
          <p:nvPr/>
        </p:nvSpPr>
        <p:spPr>
          <a:xfrm>
            <a:off x="2172831" y="3674556"/>
            <a:ext cx="4724370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const struct </a:t>
            </a:r>
            <a:r>
              <a:rPr lang="en-US" sz="1000" dirty="0" err="1">
                <a:latin typeface="Courier" pitchFamily="2" charset="0"/>
              </a:rPr>
              <a:t>inode_operations</a:t>
            </a:r>
            <a:r>
              <a:rPr lang="en-US" sz="1000" dirty="0">
                <a:latin typeface="Courier" pitchFamily="2" charset="0"/>
              </a:rPr>
              <a:t> ext2_dir_inode_operations = {</a:t>
            </a:r>
          </a:p>
          <a:p>
            <a:r>
              <a:rPr lang="en-US" sz="1000" dirty="0">
                <a:latin typeface="Courier" pitchFamily="2" charset="0"/>
              </a:rPr>
              <a:t>  .create   = ext2_create,</a:t>
            </a:r>
          </a:p>
          <a:p>
            <a:r>
              <a:rPr lang="en-US" sz="1000" dirty="0">
                <a:latin typeface="Courier" pitchFamily="2" charset="0"/>
              </a:rPr>
              <a:t>  .lookup   = ext2_lookup,</a:t>
            </a:r>
          </a:p>
          <a:p>
            <a:r>
              <a:rPr lang="en-US" sz="1000" dirty="0">
                <a:latin typeface="Courier" pitchFamily="2" charset="0"/>
              </a:rPr>
              <a:t>  .link	= ext2_link,</a:t>
            </a:r>
          </a:p>
          <a:p>
            <a:r>
              <a:rPr lang="en-US" sz="1000" dirty="0">
                <a:latin typeface="Courier" pitchFamily="2" charset="0"/>
              </a:rPr>
              <a:t>  .unlink	= ext2_unlink,</a:t>
            </a:r>
          </a:p>
          <a:p>
            <a:r>
              <a:rPr lang="en-US" sz="1000" dirty="0">
                <a:latin typeface="Courier" pitchFamily="2" charset="0"/>
              </a:rPr>
              <a:t>  .</a:t>
            </a:r>
            <a:r>
              <a:rPr lang="en-US" sz="1000" dirty="0" err="1">
                <a:latin typeface="Courier" pitchFamily="2" charset="0"/>
              </a:rPr>
              <a:t>symlink</a:t>
            </a:r>
            <a:r>
              <a:rPr lang="en-US" sz="1000" dirty="0">
                <a:latin typeface="Courier" pitchFamily="2" charset="0"/>
              </a:rPr>
              <a:t>	= ext2_symlink,</a:t>
            </a:r>
          </a:p>
          <a:p>
            <a:r>
              <a:rPr lang="en-US" sz="1000" dirty="0">
                <a:latin typeface="Courier" pitchFamily="2" charset="0"/>
              </a:rPr>
              <a:t>  .</a:t>
            </a:r>
            <a:r>
              <a:rPr lang="en-US" sz="1000" dirty="0" err="1">
                <a:latin typeface="Courier" pitchFamily="2" charset="0"/>
              </a:rPr>
              <a:t>mkdir</a:t>
            </a:r>
            <a:r>
              <a:rPr lang="en-US" sz="1000" dirty="0">
                <a:latin typeface="Courier" pitchFamily="2" charset="0"/>
              </a:rPr>
              <a:t>	= ext2_mkdir,</a:t>
            </a:r>
          </a:p>
          <a:p>
            <a:r>
              <a:rPr lang="en-US" sz="1000" dirty="0">
                <a:latin typeface="Courier" pitchFamily="2" charset="0"/>
              </a:rPr>
              <a:t>  .</a:t>
            </a:r>
            <a:r>
              <a:rPr lang="en-US" sz="1000" dirty="0" err="1">
                <a:latin typeface="Courier" pitchFamily="2" charset="0"/>
              </a:rPr>
              <a:t>rmdir</a:t>
            </a:r>
            <a:r>
              <a:rPr lang="en-US" sz="1000" dirty="0">
                <a:latin typeface="Courier" pitchFamily="2" charset="0"/>
              </a:rPr>
              <a:t>	= ext2_rmdir,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};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C9B5481-42F4-FD4F-B557-93CD18DB693B}"/>
              </a:ext>
            </a:extLst>
          </p:cNvPr>
          <p:cNvSpPr txBox="1">
            <a:spLocks/>
          </p:cNvSpPr>
          <p:nvPr/>
        </p:nvSpPr>
        <p:spPr>
          <a:xfrm>
            <a:off x="457200" y="3408596"/>
            <a:ext cx="8229600" cy="38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CN" altLang="zh-CN" sz="1400" b="0" dirty="0"/>
              <a:t>Ext</a:t>
            </a:r>
            <a:r>
              <a:rPr lang="en-US" altLang="zh-CN" sz="1400" b="0" dirty="0"/>
              <a:t>2</a:t>
            </a:r>
            <a:r>
              <a:rPr lang="zh-CN" altLang="en-US" sz="1400" b="0" dirty="0"/>
              <a:t>对这些接口的实现</a:t>
            </a:r>
            <a:endParaRPr lang="en-US" altLang="zh-CN" sz="14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4EBE8-2404-3748-8C6D-CA0B67DF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572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19127-24F1-944D-A81E-FA352EBE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696BC-BAE8-724C-B3CA-B54309C2A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FAT</a:t>
            </a:r>
            <a:r>
              <a:rPr kumimoji="1" lang="zh-CN" altLang="en-US" dirty="0"/>
              <a:t>没有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，如何挂载到</a:t>
            </a:r>
            <a:r>
              <a:rPr kumimoji="1" lang="en-US" altLang="zh-CN" dirty="0"/>
              <a:t>VFS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VFS</a:t>
            </a:r>
            <a:r>
              <a:rPr kumimoji="1" lang="zh-CN" altLang="en-US" dirty="0"/>
              <a:t>层对上提供的接口，每个文件都有一个</a:t>
            </a:r>
            <a:r>
              <a:rPr kumimoji="1" lang="en-US" altLang="zh-CN" dirty="0" err="1"/>
              <a:t>inode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FAT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从哪里来？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FAT</a:t>
            </a:r>
            <a:r>
              <a:rPr kumimoji="1" lang="zh-CN" altLang="en-US" dirty="0"/>
              <a:t>的驱动需要提供</a:t>
            </a:r>
            <a:r>
              <a:rPr kumimoji="1" lang="en-US" altLang="zh-CN" dirty="0" err="1"/>
              <a:t>inode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磁盘上的</a:t>
            </a:r>
            <a:r>
              <a:rPr kumimoji="1" lang="en-US" altLang="zh-CN" dirty="0"/>
              <a:t>FAT</a:t>
            </a:r>
            <a:r>
              <a:rPr kumimoji="1" lang="zh-CN" altLang="en-US" dirty="0"/>
              <a:t>并没有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：硬盘上的数据结构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内存中的</a:t>
            </a:r>
            <a:r>
              <a:rPr kumimoji="1" lang="en-US" altLang="zh-CN" dirty="0"/>
              <a:t>VFS</a:t>
            </a:r>
            <a:r>
              <a:rPr kumimoji="1" lang="zh-CN" altLang="en-US" dirty="0"/>
              <a:t>需要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：只在内存中的数据结构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38F6D-5F39-E645-BBD6-0AEDED3B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BA2DDC-3442-BD46-AD1E-9CDDB6481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68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C2A09B11-384A-6B4E-A5FB-C70A6B2F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存储结构与缓存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E3E83D4-7116-DA44-A1F5-E7BE53CDF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72811-93B4-2947-9AE9-58C2F811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2FFA-1FE3-C345-BA4B-162CCA441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9538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85376AD-3E78-5441-BA4D-2C57C747854C}"/>
              </a:ext>
            </a:extLst>
          </p:cNvPr>
          <p:cNvSpPr/>
          <p:nvPr/>
        </p:nvSpPr>
        <p:spPr>
          <a:xfrm>
            <a:off x="1547664" y="1985712"/>
            <a:ext cx="2808312" cy="14186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CC9367-C018-BE00-A314-570DB8512E09}"/>
              </a:ext>
            </a:extLst>
          </p:cNvPr>
          <p:cNvSpPr txBox="1"/>
          <p:nvPr/>
        </p:nvSpPr>
        <p:spPr>
          <a:xfrm>
            <a:off x="556476" y="2046141"/>
            <a:ext cx="4662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虚拟文件系统</a:t>
            </a:r>
            <a:endParaRPr lang="en-CN" altLang="zh-CN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D5D6F31-78CF-6361-F3F7-19021B56C07C}"/>
              </a:ext>
            </a:extLst>
          </p:cNvPr>
          <p:cNvSpPr/>
          <p:nvPr/>
        </p:nvSpPr>
        <p:spPr>
          <a:xfrm>
            <a:off x="1691681" y="2390296"/>
            <a:ext cx="2736304" cy="7552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8E4F7-68B0-E64E-A9CB-F14E73C8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宏内核</a:t>
            </a:r>
            <a:r>
              <a:rPr lang="zh-CN" altLang="en-US" dirty="0"/>
              <a:t>（如</a:t>
            </a:r>
            <a:r>
              <a:rPr lang="en-US" altLang="zh-CN" dirty="0"/>
              <a:t>Linux</a:t>
            </a:r>
            <a:r>
              <a:rPr lang="zh-CN" altLang="en-US" dirty="0"/>
              <a:t>）中的存储栈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1679D-0569-8447-ACC9-2C7967C51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2CE3-EB4E-4F4E-AA3A-663FAC670BD7}"/>
              </a:ext>
            </a:extLst>
          </p:cNvPr>
          <p:cNvSpPr/>
          <p:nvPr/>
        </p:nvSpPr>
        <p:spPr>
          <a:xfrm>
            <a:off x="1547664" y="1197175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应用</a:t>
            </a:r>
            <a:r>
              <a:rPr lang="zh-CN" altLang="en-US" dirty="0"/>
              <a:t>程序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C71F31-20C7-EB43-AD3D-E045E2AE33D3}"/>
              </a:ext>
            </a:extLst>
          </p:cNvPr>
          <p:cNvSpPr/>
          <p:nvPr/>
        </p:nvSpPr>
        <p:spPr>
          <a:xfrm>
            <a:off x="1547664" y="4369668"/>
            <a:ext cx="2808312" cy="3421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设备驱动</a:t>
            </a:r>
            <a:endParaRPr lang="en-C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EE3542-1315-864E-BA6F-A899AA2C257E}"/>
              </a:ext>
            </a:extLst>
          </p:cNvPr>
          <p:cNvCxnSpPr>
            <a:cxnSpLocks/>
          </p:cNvCxnSpPr>
          <p:nvPr/>
        </p:nvCxnSpPr>
        <p:spPr>
          <a:xfrm>
            <a:off x="858587" y="1791155"/>
            <a:ext cx="3779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8CD26B5-E541-FE40-94C9-531BAC999971}"/>
              </a:ext>
            </a:extLst>
          </p:cNvPr>
          <p:cNvSpPr/>
          <p:nvPr/>
        </p:nvSpPr>
        <p:spPr>
          <a:xfrm>
            <a:off x="1843631" y="2572638"/>
            <a:ext cx="712145" cy="4139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Ext4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CCBA9E-688F-F946-8352-6003E1F5E291}"/>
              </a:ext>
            </a:extLst>
          </p:cNvPr>
          <p:cNvSpPr/>
          <p:nvPr/>
        </p:nvSpPr>
        <p:spPr>
          <a:xfrm>
            <a:off x="2658167" y="2572638"/>
            <a:ext cx="712145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XFS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E44587-E1D2-C24B-97EC-EE5E90B061DE}"/>
              </a:ext>
            </a:extLst>
          </p:cNvPr>
          <p:cNvSpPr/>
          <p:nvPr/>
        </p:nvSpPr>
        <p:spPr>
          <a:xfrm>
            <a:off x="3442321" y="2572638"/>
            <a:ext cx="769639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F2FS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610BD7-7A18-594B-9972-C835CA6DAC24}"/>
              </a:ext>
            </a:extLst>
          </p:cNvPr>
          <p:cNvSpPr/>
          <p:nvPr/>
        </p:nvSpPr>
        <p:spPr>
          <a:xfrm>
            <a:off x="1547664" y="3523497"/>
            <a:ext cx="2808312" cy="3421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块抽象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D0489F-B37B-064E-AB6B-51658D096981}"/>
              </a:ext>
            </a:extLst>
          </p:cNvPr>
          <p:cNvSpPr/>
          <p:nvPr/>
        </p:nvSpPr>
        <p:spPr>
          <a:xfrm>
            <a:off x="1547664" y="3955545"/>
            <a:ext cx="2808312" cy="3421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I/O</a:t>
            </a:r>
            <a:r>
              <a:rPr lang="zh-CN" altLang="en-US" dirty="0"/>
              <a:t>调度</a:t>
            </a:r>
            <a:endParaRPr lang="en-C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30FC87-468D-D24B-A270-5382044B82E2}"/>
              </a:ext>
            </a:extLst>
          </p:cNvPr>
          <p:cNvCxnSpPr>
            <a:cxnSpLocks/>
          </p:cNvCxnSpPr>
          <p:nvPr/>
        </p:nvCxnSpPr>
        <p:spPr>
          <a:xfrm>
            <a:off x="858587" y="4801716"/>
            <a:ext cx="3779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A85CF9C-E81F-A044-A251-2C5183E9899C}"/>
              </a:ext>
            </a:extLst>
          </p:cNvPr>
          <p:cNvSpPr txBox="1"/>
          <p:nvPr/>
        </p:nvSpPr>
        <p:spPr>
          <a:xfrm>
            <a:off x="720566" y="4936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硬件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A5F5E-329C-3F4A-8958-0A49A69C752B}"/>
              </a:ext>
            </a:extLst>
          </p:cNvPr>
          <p:cNvSpPr txBox="1"/>
          <p:nvPr/>
        </p:nvSpPr>
        <p:spPr>
          <a:xfrm>
            <a:off x="743088" y="30200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内核</a:t>
            </a:r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10E90B-3301-2043-814A-501640B9740F}"/>
              </a:ext>
            </a:extLst>
          </p:cNvPr>
          <p:cNvSpPr txBox="1"/>
          <p:nvPr/>
        </p:nvSpPr>
        <p:spPr>
          <a:xfrm>
            <a:off x="754239" y="11491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应用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779C85-C6B6-A74D-BA04-334F6B4F9051}"/>
              </a:ext>
            </a:extLst>
          </p:cNvPr>
          <p:cNvSpPr txBox="1"/>
          <p:nvPr/>
        </p:nvSpPr>
        <p:spPr>
          <a:xfrm>
            <a:off x="4821306" y="4373229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负责</a:t>
            </a:r>
            <a:r>
              <a:rPr lang="zh-CN" altLang="en-US" sz="1600" dirty="0"/>
              <a:t>与设备进行通信</a:t>
            </a:r>
            <a:endParaRPr lang="en-CN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7246FC-F2AD-D041-9CF9-3529D7406E14}"/>
              </a:ext>
            </a:extLst>
          </p:cNvPr>
          <p:cNvSpPr txBox="1"/>
          <p:nvPr/>
        </p:nvSpPr>
        <p:spPr>
          <a:xfrm>
            <a:off x="4821306" y="3943844"/>
            <a:ext cx="2512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将</a:t>
            </a:r>
            <a:r>
              <a:rPr lang="en-US" altLang="zh-CN" sz="1600" dirty="0"/>
              <a:t>I/O</a:t>
            </a:r>
            <a:r>
              <a:rPr lang="zh-CN" altLang="en-US" sz="1600" dirty="0"/>
              <a:t>请求进行合并和调度</a:t>
            </a:r>
            <a:endParaRPr lang="en-CN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CFE13A-1E3A-E34E-9687-74EE67EB4BDE}"/>
              </a:ext>
            </a:extLst>
          </p:cNvPr>
          <p:cNvSpPr txBox="1"/>
          <p:nvPr/>
        </p:nvSpPr>
        <p:spPr>
          <a:xfrm>
            <a:off x="4821306" y="353691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提供</a:t>
            </a:r>
            <a:r>
              <a:rPr lang="zh-CN" altLang="en-US" sz="1600" dirty="0"/>
              <a:t>和管理块抽象</a:t>
            </a:r>
            <a:endParaRPr lang="en-CN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F507E8-3862-B14A-9061-FE6B36456AF2}"/>
              </a:ext>
            </a:extLst>
          </p:cNvPr>
          <p:cNvSpPr txBox="1"/>
          <p:nvPr/>
        </p:nvSpPr>
        <p:spPr>
          <a:xfrm>
            <a:off x="4821306" y="2617362"/>
            <a:ext cx="3574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具体的文件系统实现，管理存储上的文件系统格式和数据</a:t>
            </a:r>
            <a:endParaRPr lang="en-CN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05386F-39CA-C143-AA1D-DBC3B19F3FD1}"/>
              </a:ext>
            </a:extLst>
          </p:cNvPr>
          <p:cNvSpPr txBox="1"/>
          <p:nvPr/>
        </p:nvSpPr>
        <p:spPr>
          <a:xfrm>
            <a:off x="4820978" y="1897651"/>
            <a:ext cx="3865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</a:rPr>
              <a:t>管理多个文件系统，提供统一抽象、</a:t>
            </a:r>
            <a:r>
              <a:rPr lang="en-US" altLang="zh-CN" sz="1600" b="1" dirty="0">
                <a:solidFill>
                  <a:schemeClr val="accent1"/>
                </a:solidFill>
              </a:rPr>
              <a:t>inode</a:t>
            </a:r>
            <a:r>
              <a:rPr lang="zh-CN" altLang="en-US" sz="1600" b="1" dirty="0">
                <a:solidFill>
                  <a:schemeClr val="accent1"/>
                </a:solidFill>
              </a:rPr>
              <a:t> </a:t>
            </a:r>
            <a:r>
              <a:rPr lang="en-US" altLang="zh-CN" sz="1600" b="1" dirty="0">
                <a:solidFill>
                  <a:schemeClr val="accent1"/>
                </a:solidFill>
              </a:rPr>
              <a:t>cache</a:t>
            </a:r>
            <a:r>
              <a:rPr lang="zh-CN" altLang="en-US" sz="1600" b="1" dirty="0">
                <a:solidFill>
                  <a:schemeClr val="accent1"/>
                </a:solidFill>
              </a:rPr>
              <a:t>、</a:t>
            </a:r>
            <a:r>
              <a:rPr lang="en-US" altLang="zh-CN" sz="1600" b="1" dirty="0" err="1">
                <a:solidFill>
                  <a:schemeClr val="accent1"/>
                </a:solidFill>
              </a:rPr>
              <a:t>dentry</a:t>
            </a:r>
            <a:r>
              <a:rPr lang="zh-CN" altLang="en-US" sz="1600" b="1" dirty="0">
                <a:solidFill>
                  <a:schemeClr val="accent1"/>
                </a:solidFill>
              </a:rPr>
              <a:t> </a:t>
            </a:r>
            <a:r>
              <a:rPr lang="en-US" altLang="zh-CN" sz="1600" b="1" dirty="0">
                <a:solidFill>
                  <a:schemeClr val="accent1"/>
                </a:solidFill>
              </a:rPr>
              <a:t>cache</a:t>
            </a:r>
            <a:r>
              <a:rPr lang="zh-CN" altLang="en-US" sz="1600" b="1" dirty="0">
                <a:solidFill>
                  <a:schemeClr val="accent1"/>
                </a:solidFill>
              </a:rPr>
              <a:t>、页缓存等</a:t>
            </a:r>
            <a:endParaRPr lang="en-CN" sz="1600" b="1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E112C-40F2-104D-BDE5-39711222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0D4CF6-88AF-1348-A835-FDDB64C31CCD}"/>
              </a:ext>
            </a:extLst>
          </p:cNvPr>
          <p:cNvSpPr/>
          <p:nvPr/>
        </p:nvSpPr>
        <p:spPr>
          <a:xfrm>
            <a:off x="1547664" y="4931715"/>
            <a:ext cx="1152128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机械硬盘</a:t>
            </a:r>
            <a:endParaRPr lang="en-C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CCBE13-E109-AF45-8C53-3F1D7AD51B2A}"/>
              </a:ext>
            </a:extLst>
          </p:cNvPr>
          <p:cNvSpPr/>
          <p:nvPr/>
        </p:nvSpPr>
        <p:spPr>
          <a:xfrm>
            <a:off x="2887719" y="4920859"/>
            <a:ext cx="1152128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固态硬盘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1F3DB-A005-654C-AF64-92EABA56635E}"/>
              </a:ext>
            </a:extLst>
          </p:cNvPr>
          <p:cNvSpPr txBox="1"/>
          <p:nvPr/>
        </p:nvSpPr>
        <p:spPr>
          <a:xfrm>
            <a:off x="4108367" y="4877392"/>
            <a:ext cx="43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D42D1D3-0401-AE67-736A-5221EF66F7E1}"/>
              </a:ext>
            </a:extLst>
          </p:cNvPr>
          <p:cNvSpPr/>
          <p:nvPr/>
        </p:nvSpPr>
        <p:spPr>
          <a:xfrm>
            <a:off x="4388164" y="2369326"/>
            <a:ext cx="284423" cy="83076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94760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5E9049-C54D-6E41-8752-7F40A98A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1129308"/>
            <a:ext cx="4885476" cy="3294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1851F1-F032-7141-B079-A34FD92D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</a:t>
            </a:r>
            <a:r>
              <a:rPr lang="zh-CN" altLang="en-CN" dirty="0"/>
              <a:t>缓存</a:t>
            </a:r>
            <a:r>
              <a:rPr lang="zh-CN" altLang="en-US" dirty="0"/>
              <a:t>（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988B-33FD-F341-9677-9776F2E52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2000" b="0" dirty="0"/>
          </a:p>
          <a:p>
            <a:r>
              <a:rPr lang="zh-CN" altLang="en-US" sz="2000" b="0" dirty="0"/>
              <a:t>存储访问非常耗时</a:t>
            </a:r>
            <a:endParaRPr lang="en-US" altLang="zh-CN" sz="2000" b="0" dirty="0"/>
          </a:p>
          <a:p>
            <a:pPr marL="0" indent="0">
              <a:buNone/>
            </a:pPr>
            <a:endParaRPr lang="en-US" altLang="zh-CN" sz="2000" b="0" dirty="0"/>
          </a:p>
          <a:p>
            <a:endParaRPr lang="en-US" altLang="zh-CN" sz="2000" b="0" dirty="0"/>
          </a:p>
          <a:p>
            <a:pPr marL="0" indent="0">
              <a:buNone/>
            </a:pPr>
            <a:endParaRPr lang="en-US" altLang="zh-CN" sz="2000" b="0" dirty="0"/>
          </a:p>
          <a:p>
            <a:r>
              <a:rPr lang="zh-CN" altLang="en-US" sz="2000" b="0" dirty="0"/>
              <a:t>文件访问具有时间局部性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一些目录</a:t>
            </a:r>
            <a:r>
              <a:rPr lang="en-US" altLang="zh-CN" sz="1600" dirty="0"/>
              <a:t>/</a:t>
            </a:r>
            <a:r>
              <a:rPr lang="zh-CN" altLang="en-US" sz="1600" dirty="0"/>
              <a:t>文件的数据块会被频繁的读取或写入</a:t>
            </a:r>
            <a:endParaRPr lang="en-US" altLang="zh-CN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75407-ED19-EB46-AF7F-74B81D84D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E9B99-39E9-3E4E-9C3D-E2946C7C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70EFAF-B8A1-AE42-AD9D-382171E8B6A0}"/>
              </a:ext>
            </a:extLst>
          </p:cNvPr>
          <p:cNvSpPr txBox="1"/>
          <p:nvPr/>
        </p:nvSpPr>
        <p:spPr>
          <a:xfrm>
            <a:off x="2010927" y="5033827"/>
            <a:ext cx="50481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colin-scott.github.io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personal_website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/research/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interactive_latency.html</a:t>
            </a:r>
            <a:endParaRPr lang="en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6407D27-40F3-6A4B-A52B-B30045648104}"/>
              </a:ext>
            </a:extLst>
          </p:cNvPr>
          <p:cNvSpPr/>
          <p:nvPr/>
        </p:nvSpPr>
        <p:spPr>
          <a:xfrm>
            <a:off x="3923928" y="1129308"/>
            <a:ext cx="1584176" cy="43204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D83C5D6-F840-F445-8C60-0F9E6C55FFFE}"/>
              </a:ext>
            </a:extLst>
          </p:cNvPr>
          <p:cNvSpPr/>
          <p:nvPr/>
        </p:nvSpPr>
        <p:spPr>
          <a:xfrm>
            <a:off x="6300192" y="1602127"/>
            <a:ext cx="1584176" cy="43204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2533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51F1-F032-7141-B079-A34FD92D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</a:t>
            </a:r>
            <a:r>
              <a:rPr lang="zh-CN" altLang="en-CN" dirty="0"/>
              <a:t>缓存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988B-33FD-F341-9677-9776F2E52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通过</a:t>
            </a:r>
            <a:r>
              <a:rPr lang="zh-CN" altLang="en-US" sz="2000" dirty="0"/>
              <a:t>缓存</a:t>
            </a:r>
            <a:r>
              <a:rPr lang="zh-CN" altLang="en-US" sz="2000" b="0" dirty="0"/>
              <a:t>提升文件系统性能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在一个块被读入内存并被访问完成后，并不立即回收内存</a:t>
            </a:r>
            <a:endParaRPr lang="en-US" altLang="zh-CN" sz="1600" dirty="0"/>
          </a:p>
          <a:p>
            <a:pPr lvl="2"/>
            <a:r>
              <a:rPr lang="zh-CN" altLang="en-US" sz="1600" b="0" dirty="0"/>
              <a:t>将块数据暂时缓存在内存中，下一次被访问时可以避免磁盘读取</a:t>
            </a:r>
            <a:endParaRPr lang="en-US" altLang="zh-CN" sz="1600" b="0" dirty="0"/>
          </a:p>
          <a:p>
            <a:pPr lvl="1"/>
            <a:r>
              <a:rPr lang="zh-CN" altLang="en-US" sz="1600" dirty="0"/>
              <a:t>在一个块被修改后，并不立即</a:t>
            </a:r>
            <a:r>
              <a:rPr lang="zh-CN" altLang="en-CN" sz="1600" dirty="0"/>
              <a:t>将</a:t>
            </a:r>
            <a:r>
              <a:rPr lang="zh-CN" altLang="en-US" sz="1600" dirty="0"/>
              <a:t>其写回设备</a:t>
            </a:r>
            <a:endParaRPr lang="en-US" altLang="zh-CN" sz="1600" dirty="0"/>
          </a:p>
          <a:p>
            <a:pPr lvl="2"/>
            <a:r>
              <a:rPr lang="zh-CN" altLang="en-US" sz="1600" dirty="0"/>
              <a:t>将块数据暂时留在内存中，此后对于该数据块的写可直接修改在此内存中</a:t>
            </a:r>
            <a:endParaRPr lang="en-US" altLang="zh-CN" sz="1600" dirty="0"/>
          </a:p>
          <a:p>
            <a:pPr lvl="1"/>
            <a:r>
              <a:rPr lang="zh-CN" altLang="en-US" sz="1600" dirty="0"/>
              <a:t>定期或在用户要求时才将数据写回设备</a:t>
            </a:r>
            <a:endParaRPr lang="en-CN" sz="16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75407-ED19-EB46-AF7F-74B81D84D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E9B99-39E9-3E4E-9C3D-E2946C7C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BAC7C0-8D91-9C44-A2CB-3739F13221A4}"/>
              </a:ext>
            </a:extLst>
          </p:cNvPr>
          <p:cNvGrpSpPr/>
          <p:nvPr/>
        </p:nvGrpSpPr>
        <p:grpSpPr>
          <a:xfrm>
            <a:off x="4258033" y="3528487"/>
            <a:ext cx="4394447" cy="1706023"/>
            <a:chOff x="3601849" y="3096037"/>
            <a:chExt cx="5218623" cy="202598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615266-BD78-E04D-B222-23A3FACBAE75}"/>
                </a:ext>
              </a:extLst>
            </p:cNvPr>
            <p:cNvSpPr/>
            <p:nvPr/>
          </p:nvSpPr>
          <p:spPr>
            <a:xfrm>
              <a:off x="5364088" y="3687490"/>
              <a:ext cx="1296144" cy="79208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400" dirty="0"/>
                <a:t>干净</a:t>
              </a:r>
              <a:r>
                <a:rPr lang="zh-CN" altLang="en-US" sz="1400" dirty="0"/>
                <a:t>页</a:t>
              </a:r>
              <a:endParaRPr lang="en-CN" sz="14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E586D8-CD66-4E42-A107-9BAB13A3665B}"/>
                </a:ext>
              </a:extLst>
            </p:cNvPr>
            <p:cNvSpPr/>
            <p:nvPr/>
          </p:nvSpPr>
          <p:spPr>
            <a:xfrm>
              <a:off x="7524328" y="3687490"/>
              <a:ext cx="1296144" cy="79208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400" dirty="0"/>
                <a:t>脏</a:t>
              </a:r>
              <a:r>
                <a:rPr lang="zh-CN" altLang="en-US" sz="1400" dirty="0"/>
                <a:t>页</a:t>
              </a:r>
              <a:endParaRPr lang="en-CN" sz="14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5E7C82A-6D3B-3243-9B10-4CAA5486AFA1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4442068" y="3527394"/>
              <a:ext cx="1111836" cy="276095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9F4D41-2840-6E41-B977-BD32D14BD37D}"/>
                </a:ext>
              </a:extLst>
            </p:cNvPr>
            <p:cNvSpPr txBox="1"/>
            <p:nvPr/>
          </p:nvSpPr>
          <p:spPr>
            <a:xfrm>
              <a:off x="3601849" y="3105963"/>
              <a:ext cx="2351382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块</a:t>
              </a:r>
              <a:r>
                <a:rPr lang="zh-CN" altLang="en-US" sz="1400" dirty="0"/>
                <a:t>数据被从设备中读取</a:t>
              </a:r>
              <a:endParaRPr lang="en-CN" sz="1400" dirty="0"/>
            </a:p>
          </p:txBody>
        </p:sp>
        <p:cxnSp>
          <p:nvCxnSpPr>
            <p:cNvPr id="10" name="Straight Arrow Connector 14">
              <a:extLst>
                <a:ext uri="{FF2B5EF4-FFF2-40B4-BE49-F238E27FC236}">
                  <a16:creationId xmlns:a16="http://schemas.microsoft.com/office/drawing/2014/main" id="{9921ACA9-11B6-CE46-BF79-023D1042FE29}"/>
                </a:ext>
              </a:extLst>
            </p:cNvPr>
            <p:cNvCxnSpPr>
              <a:cxnSpLocks/>
              <a:stCxn id="6" idx="7"/>
              <a:endCxn id="7" idx="1"/>
            </p:cNvCxnSpPr>
            <p:nvPr/>
          </p:nvCxnSpPr>
          <p:spPr>
            <a:xfrm rot="5400000" flipH="1" flipV="1">
              <a:off x="7092280" y="3181625"/>
              <a:ext cx="12700" cy="1243728"/>
            </a:xfrm>
            <a:prstGeom prst="curvedConnector3">
              <a:avLst>
                <a:gd name="adj1" fmla="val 2713378"/>
              </a:avLst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D3204B-1E80-9242-A20E-FAFD66E57B2F}"/>
                </a:ext>
              </a:extLst>
            </p:cNvPr>
            <p:cNvSpPr txBox="1"/>
            <p:nvPr/>
          </p:nvSpPr>
          <p:spPr>
            <a:xfrm>
              <a:off x="6429217" y="3096037"/>
              <a:ext cx="1285342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数据被修改</a:t>
              </a:r>
              <a:endParaRPr lang="en-CN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3F7414-517E-F24F-898D-939D0170CF50}"/>
                </a:ext>
              </a:extLst>
            </p:cNvPr>
            <p:cNvSpPr txBox="1"/>
            <p:nvPr/>
          </p:nvSpPr>
          <p:spPr>
            <a:xfrm>
              <a:off x="6377955" y="4756524"/>
              <a:ext cx="1711757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数据</a:t>
              </a:r>
              <a:r>
                <a:rPr lang="zh-CN" altLang="en-US" sz="1400" dirty="0"/>
                <a:t>被写回设备</a:t>
              </a:r>
              <a:endParaRPr lang="en-CN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CDB204-BAD6-544E-8582-3594C0F88952}"/>
                </a:ext>
              </a:extLst>
            </p:cNvPr>
            <p:cNvSpPr txBox="1"/>
            <p:nvPr/>
          </p:nvSpPr>
          <p:spPr>
            <a:xfrm>
              <a:off x="3832681" y="4720953"/>
              <a:ext cx="2138174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页被回收，空间释放</a:t>
              </a:r>
              <a:endParaRPr lang="en-CN" sz="1400" dirty="0"/>
            </a:p>
          </p:txBody>
        </p:sp>
        <p:cxnSp>
          <p:nvCxnSpPr>
            <p:cNvPr id="14" name="Straight Arrow Connector 14">
              <a:extLst>
                <a:ext uri="{FF2B5EF4-FFF2-40B4-BE49-F238E27FC236}">
                  <a16:creationId xmlns:a16="http://schemas.microsoft.com/office/drawing/2014/main" id="{A07E89DF-FD66-4D40-B33C-BB79E07032CE}"/>
                </a:ext>
              </a:extLst>
            </p:cNvPr>
            <p:cNvCxnSpPr>
              <a:cxnSpLocks/>
              <a:stCxn id="7" idx="3"/>
              <a:endCxn id="6" idx="5"/>
            </p:cNvCxnSpPr>
            <p:nvPr/>
          </p:nvCxnSpPr>
          <p:spPr>
            <a:xfrm rot="5400000">
              <a:off x="7092280" y="3741715"/>
              <a:ext cx="12700" cy="1243728"/>
            </a:xfrm>
            <a:prstGeom prst="curvedConnector3">
              <a:avLst>
                <a:gd name="adj1" fmla="val 2713378"/>
              </a:avLst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92B83E7-D445-E648-AC10-7E808BE0B4F4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499992" y="4363579"/>
              <a:ext cx="1053912" cy="283295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054561-8C37-374F-A61B-CADDE16407C7}"/>
              </a:ext>
            </a:extLst>
          </p:cNvPr>
          <p:cNvSpPr txBox="1"/>
          <p:nvPr/>
        </p:nvSpPr>
        <p:spPr>
          <a:xfrm>
            <a:off x="443850" y="4195324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问题：数据不及时写回，会造成什么问题？</a:t>
            </a:r>
          </a:p>
        </p:txBody>
      </p:sp>
    </p:spTree>
    <p:extLst>
      <p:ext uri="{BB962C8B-B14F-4D97-AF65-F5344CB8AC3E}">
        <p14:creationId xmlns:p14="http://schemas.microsoft.com/office/powerpoint/2010/main" val="304397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4903-B09F-9A4B-828F-F712498C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页缓存之外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2ECD1-9ECE-D849-BC22-DBE713195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7549AB39-4036-1743-8C24-082300C95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存储中的每个数据结构，在内存中均有对应的结构</a:t>
            </a:r>
            <a:endParaRPr lang="en-US" altLang="zh-CN" sz="2000" b="0" dirty="0"/>
          </a:p>
          <a:p>
            <a:r>
              <a:rPr lang="zh-CN" altLang="en-US" sz="1800" b="0" dirty="0"/>
              <a:t>存储的数据页：页缓存中的内存页</a:t>
            </a:r>
            <a:endParaRPr lang="en-US" altLang="zh-CN" sz="1800" b="0" dirty="0"/>
          </a:p>
          <a:p>
            <a:r>
              <a:rPr lang="zh-CN" altLang="en-US" sz="1800" b="0" dirty="0"/>
              <a:t>存储中的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：</a:t>
            </a:r>
            <a:r>
              <a:rPr lang="en-US" altLang="zh-CN" sz="1800" b="0" dirty="0" err="1"/>
              <a:t>icache</a:t>
            </a:r>
            <a:r>
              <a:rPr lang="zh-CN" altLang="en-US" sz="1800" b="0" dirty="0"/>
              <a:t>中的</a:t>
            </a:r>
            <a:r>
              <a:rPr lang="en-US" altLang="zh-CN" sz="1800" b="0" dirty="0" err="1"/>
              <a:t>inode</a:t>
            </a:r>
            <a:endParaRPr lang="en-US" altLang="zh-CN" sz="1800" b="0" dirty="0"/>
          </a:p>
          <a:p>
            <a:r>
              <a:rPr lang="zh-CN" altLang="en-US" sz="1800" b="0" dirty="0"/>
              <a:t>存储中的目录项：</a:t>
            </a:r>
            <a:r>
              <a:rPr lang="en-US" altLang="zh-CN" sz="1800" b="0" dirty="0" err="1"/>
              <a:t>dcache</a:t>
            </a:r>
            <a:r>
              <a:rPr lang="zh-CN" altLang="en-US" sz="1800" b="0" dirty="0"/>
              <a:t>中的目录项</a:t>
            </a:r>
            <a:endParaRPr lang="en-US" altLang="zh-CN" sz="1800" b="0" dirty="0"/>
          </a:p>
          <a:p>
            <a:r>
              <a:rPr lang="zh-CN" altLang="en-US" sz="1800" b="0" dirty="0"/>
              <a:t>存储中的超级块：内存中的超级块结构</a:t>
            </a:r>
            <a:endParaRPr lang="en-US" altLang="zh-CN" sz="1800" b="0" dirty="0"/>
          </a:p>
          <a:p>
            <a:r>
              <a:rPr lang="zh-CN" altLang="en-US" sz="1800" b="0" dirty="0"/>
              <a:t>存储中的分配表：内存中的分配器</a:t>
            </a:r>
            <a:endParaRPr lang="en-US" altLang="zh-CN" sz="18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C017DA-30A8-1A4C-9F58-656DF29F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2B771-52A5-DA42-AE1F-77966DDDE6CF}"/>
              </a:ext>
            </a:extLst>
          </p:cNvPr>
          <p:cNvSpPr txBox="1"/>
          <p:nvPr/>
        </p:nvSpPr>
        <p:spPr>
          <a:xfrm>
            <a:off x="3885486" y="4212315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问题：为什么要为每个结构设计单独的缓存？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能否只使用页缓存？</a:t>
            </a:r>
          </a:p>
        </p:txBody>
      </p:sp>
    </p:spTree>
    <p:extLst>
      <p:ext uri="{BB962C8B-B14F-4D97-AF65-F5344CB8AC3E}">
        <p14:creationId xmlns:p14="http://schemas.microsoft.com/office/powerpoint/2010/main" val="75981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4903-B09F-9A4B-828F-F712498C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内存</a:t>
            </a:r>
            <a:r>
              <a:rPr lang="zh-CN" altLang="en-US" dirty="0"/>
              <a:t>与存储结构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2ECD1-9ECE-D849-BC22-DBE713195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31F82-7D59-DD4A-8AE4-3EB28D943546}"/>
              </a:ext>
            </a:extLst>
          </p:cNvPr>
          <p:cNvGrpSpPr/>
          <p:nvPr/>
        </p:nvGrpSpPr>
        <p:grpSpPr>
          <a:xfrm>
            <a:off x="1820924" y="3694099"/>
            <a:ext cx="6208325" cy="1611671"/>
            <a:chOff x="1571562" y="3379096"/>
            <a:chExt cx="7104198" cy="18442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FA417D-A5E7-E247-A747-7AA3E729C18A}"/>
                </a:ext>
              </a:extLst>
            </p:cNvPr>
            <p:cNvSpPr/>
            <p:nvPr/>
          </p:nvSpPr>
          <p:spPr>
            <a:xfrm>
              <a:off x="3601631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6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AAEDC6-FB89-704C-AB91-5FC3E976DBB5}"/>
                </a:ext>
              </a:extLst>
            </p:cNvPr>
            <p:cNvSpPr/>
            <p:nvPr/>
          </p:nvSpPr>
          <p:spPr>
            <a:xfrm>
              <a:off x="4026233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E896F4-93B6-4A4F-A562-6381047D9052}"/>
                </a:ext>
              </a:extLst>
            </p:cNvPr>
            <p:cNvSpPr/>
            <p:nvPr/>
          </p:nvSpPr>
          <p:spPr>
            <a:xfrm>
              <a:off x="4450835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20D690-6856-3E40-9EC0-0A42588BC1E1}"/>
                </a:ext>
              </a:extLst>
            </p:cNvPr>
            <p:cNvSpPr/>
            <p:nvPr/>
          </p:nvSpPr>
          <p:spPr>
            <a:xfrm>
              <a:off x="233228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9F936B-FECC-3649-84AF-42450451AC23}"/>
                </a:ext>
              </a:extLst>
            </p:cNvPr>
            <p:cNvSpPr/>
            <p:nvPr/>
          </p:nvSpPr>
          <p:spPr>
            <a:xfrm>
              <a:off x="27568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CBD544-333A-074F-AA3D-8D3A1927A060}"/>
                </a:ext>
              </a:extLst>
            </p:cNvPr>
            <p:cNvSpPr/>
            <p:nvPr/>
          </p:nvSpPr>
          <p:spPr>
            <a:xfrm>
              <a:off x="318148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91257A-6B36-684B-9F2A-30ED28216C3A}"/>
                </a:ext>
              </a:extLst>
            </p:cNvPr>
            <p:cNvSpPr/>
            <p:nvPr/>
          </p:nvSpPr>
          <p:spPr>
            <a:xfrm>
              <a:off x="1912133" y="4024896"/>
              <a:ext cx="424602" cy="4857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734A67-BF23-E940-9759-E69237581315}"/>
                </a:ext>
              </a:extLst>
            </p:cNvPr>
            <p:cNvSpPr/>
            <p:nvPr/>
          </p:nvSpPr>
          <p:spPr>
            <a:xfrm>
              <a:off x="615716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BE8CA2-A056-2943-B0B0-745CCC1AD660}"/>
                </a:ext>
              </a:extLst>
            </p:cNvPr>
            <p:cNvSpPr/>
            <p:nvPr/>
          </p:nvSpPr>
          <p:spPr>
            <a:xfrm>
              <a:off x="740195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55FCB7-73F5-C94E-8263-32B919E4FEBC}"/>
                </a:ext>
              </a:extLst>
            </p:cNvPr>
            <p:cNvSpPr/>
            <p:nvPr/>
          </p:nvSpPr>
          <p:spPr>
            <a:xfrm>
              <a:off x="7826556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5948A0-05FB-1146-BE60-F3D7CDD91880}"/>
                </a:ext>
              </a:extLst>
            </p:cNvPr>
            <p:cNvSpPr/>
            <p:nvPr/>
          </p:nvSpPr>
          <p:spPr>
            <a:xfrm>
              <a:off x="825115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84B6E2-AFBB-F340-BC46-EC78CFAD850C}"/>
                </a:ext>
              </a:extLst>
            </p:cNvPr>
            <p:cNvSpPr/>
            <p:nvPr/>
          </p:nvSpPr>
          <p:spPr>
            <a:xfrm>
              <a:off x="487937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FD8DC9-2297-DD4C-A7A5-FD1996915DF4}"/>
                </a:ext>
              </a:extLst>
            </p:cNvPr>
            <p:cNvSpPr/>
            <p:nvPr/>
          </p:nvSpPr>
          <p:spPr>
            <a:xfrm>
              <a:off x="57285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5B879B-A8BD-F04B-ADB8-5B3BAA53A995}"/>
                </a:ext>
              </a:extLst>
            </p:cNvPr>
            <p:cNvSpPr txBox="1"/>
            <p:nvPr/>
          </p:nvSpPr>
          <p:spPr>
            <a:xfrm>
              <a:off x="6741237" y="4018081"/>
              <a:ext cx="504804" cy="45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en-CN" sz="2000" b="1" dirty="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00D644A9-A1A5-2B47-8078-1D202792BAA8}"/>
                </a:ext>
              </a:extLst>
            </p:cNvPr>
            <p:cNvSpPr/>
            <p:nvPr/>
          </p:nvSpPr>
          <p:spPr>
            <a:xfrm rot="5400000">
              <a:off x="4716599" y="3457517"/>
              <a:ext cx="311115" cy="2538755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D1FF28BF-F60B-BD4C-B9F3-C8B8D7B3AD80}"/>
                </a:ext>
              </a:extLst>
            </p:cNvPr>
            <p:cNvSpPr/>
            <p:nvPr/>
          </p:nvSpPr>
          <p:spPr>
            <a:xfrm rot="5400000">
              <a:off x="7258407" y="3470091"/>
              <a:ext cx="311115" cy="2513612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A9BFB7-F494-D543-990A-B9927C571990}"/>
                </a:ext>
              </a:extLst>
            </p:cNvPr>
            <p:cNvSpPr txBox="1"/>
            <p:nvPr/>
          </p:nvSpPr>
          <p:spPr>
            <a:xfrm>
              <a:off x="4513645" y="4879512"/>
              <a:ext cx="81480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表</a:t>
              </a:r>
              <a:endParaRPr lang="en-CN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0E7FA6-FBB0-A74A-9381-81071EAA0D80}"/>
                </a:ext>
              </a:extLst>
            </p:cNvPr>
            <p:cNvSpPr txBox="1"/>
            <p:nvPr/>
          </p:nvSpPr>
          <p:spPr>
            <a:xfrm>
              <a:off x="1571562" y="4906365"/>
              <a:ext cx="116699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分配表</a:t>
              </a:r>
              <a:endParaRPr lang="en-CN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2A9424-A12F-B349-916C-EE54A72413D2}"/>
                </a:ext>
              </a:extLst>
            </p:cNvPr>
            <p:cNvSpPr txBox="1"/>
            <p:nvPr/>
          </p:nvSpPr>
          <p:spPr>
            <a:xfrm>
              <a:off x="2812815" y="4902439"/>
              <a:ext cx="915692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块分配表</a:t>
              </a:r>
              <a:endParaRPr lang="en-CN" sz="1200" dirty="0"/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02ADD920-2F31-A845-B20E-CFA8B31CCD25}"/>
                </a:ext>
              </a:extLst>
            </p:cNvPr>
            <p:cNvSpPr/>
            <p:nvPr/>
          </p:nvSpPr>
          <p:spPr>
            <a:xfrm rot="5400000">
              <a:off x="3023698" y="4314434"/>
              <a:ext cx="311115" cy="844749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2170C4B-A7F9-7644-AFEA-7A74426C2792}"/>
                </a:ext>
              </a:extLst>
            </p:cNvPr>
            <p:cNvSpPr/>
            <p:nvPr/>
          </p:nvSpPr>
          <p:spPr>
            <a:xfrm rot="5400000">
              <a:off x="2385081" y="4521450"/>
              <a:ext cx="311115" cy="424603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9D78A7-A1B1-994F-918A-6478D76209D1}"/>
                </a:ext>
              </a:extLst>
            </p:cNvPr>
            <p:cNvSpPr txBox="1"/>
            <p:nvPr/>
          </p:nvSpPr>
          <p:spPr>
            <a:xfrm>
              <a:off x="7045171" y="4880710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数据区</a:t>
              </a:r>
              <a:endParaRPr lang="en-CN" sz="1200" dirty="0"/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96AD9D6A-8D90-3543-877B-EED2E6268611}"/>
                </a:ext>
              </a:extLst>
            </p:cNvPr>
            <p:cNvSpPr/>
            <p:nvPr/>
          </p:nvSpPr>
          <p:spPr>
            <a:xfrm rot="5400000" flipH="1">
              <a:off x="1980015" y="3661361"/>
              <a:ext cx="302764" cy="410675"/>
            </a:xfrm>
            <a:prstGeom prst="rightBrace">
              <a:avLst>
                <a:gd name="adj1" fmla="val 34720"/>
                <a:gd name="adj2" fmla="val 44902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090BF7-0548-C745-817C-5469BEC9F78B}"/>
                </a:ext>
              </a:extLst>
            </p:cNvPr>
            <p:cNvSpPr txBox="1"/>
            <p:nvPr/>
          </p:nvSpPr>
          <p:spPr>
            <a:xfrm>
              <a:off x="1938049" y="3379096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超级块</a:t>
              </a:r>
              <a:endParaRPr lang="en-CN" sz="12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B27FA58-91EC-124B-A804-76599B8E23B2}"/>
              </a:ext>
            </a:extLst>
          </p:cNvPr>
          <p:cNvSpPr txBox="1"/>
          <p:nvPr/>
        </p:nvSpPr>
        <p:spPr>
          <a:xfrm>
            <a:off x="5093765" y="42525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…</a:t>
            </a:r>
            <a:endParaRPr lang="en-CN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F7D1F-082B-AF41-BF3F-34CBF65EC5FC}"/>
              </a:ext>
            </a:extLst>
          </p:cNvPr>
          <p:cNvSpPr txBox="1"/>
          <p:nvPr/>
        </p:nvSpPr>
        <p:spPr>
          <a:xfrm>
            <a:off x="795647" y="26365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内存</a:t>
            </a:r>
            <a:endParaRPr lang="en-CN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08C517-EA7D-F74B-83F4-76492BA5D24C}"/>
              </a:ext>
            </a:extLst>
          </p:cNvPr>
          <p:cNvCxnSpPr/>
          <p:nvPr/>
        </p:nvCxnSpPr>
        <p:spPr>
          <a:xfrm>
            <a:off x="557639" y="3658983"/>
            <a:ext cx="814705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E721E4C-65E8-F945-ACA5-721EAFDE0707}"/>
              </a:ext>
            </a:extLst>
          </p:cNvPr>
          <p:cNvSpPr txBox="1"/>
          <p:nvPr/>
        </p:nvSpPr>
        <p:spPr>
          <a:xfrm>
            <a:off x="1534444" y="21854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超级块</a:t>
            </a:r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7EB638-2BB3-1146-8F79-71FDB93F0091}"/>
              </a:ext>
            </a:extLst>
          </p:cNvPr>
          <p:cNvSpPr txBox="1"/>
          <p:nvPr/>
        </p:nvSpPr>
        <p:spPr>
          <a:xfrm>
            <a:off x="2410936" y="22583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分配器</a:t>
            </a:r>
            <a:endParaRPr lang="en-C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8C324C-CD45-374A-9B03-A3004A7ABA72}"/>
              </a:ext>
            </a:extLst>
          </p:cNvPr>
          <p:cNvSpPr txBox="1"/>
          <p:nvPr/>
        </p:nvSpPr>
        <p:spPr>
          <a:xfrm>
            <a:off x="5265079" y="214342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F0D350-D76A-7947-8BFA-37FE7AEA7712}"/>
              </a:ext>
            </a:extLst>
          </p:cNvPr>
          <p:cNvSpPr txBox="1"/>
          <p:nvPr/>
        </p:nvSpPr>
        <p:spPr>
          <a:xfrm>
            <a:off x="3805796" y="136467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目录项</a:t>
            </a:r>
            <a:endParaRPr lang="en-C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0776DC-5AE5-9844-B413-3288129952A1}"/>
              </a:ext>
            </a:extLst>
          </p:cNvPr>
          <p:cNvSpPr/>
          <p:nvPr/>
        </p:nvSpPr>
        <p:spPr>
          <a:xfrm>
            <a:off x="1852687" y="2679581"/>
            <a:ext cx="371058" cy="3318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9E6583-964C-F945-B5AD-11B26A092B9B}"/>
              </a:ext>
            </a:extLst>
          </p:cNvPr>
          <p:cNvSpPr/>
          <p:nvPr/>
        </p:nvSpPr>
        <p:spPr>
          <a:xfrm>
            <a:off x="2687470" y="2764630"/>
            <a:ext cx="483353" cy="5528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1E531A-D3C4-6742-AA51-5E576500DA5D}"/>
              </a:ext>
            </a:extLst>
          </p:cNvPr>
          <p:cNvSpPr/>
          <p:nvPr/>
        </p:nvSpPr>
        <p:spPr>
          <a:xfrm>
            <a:off x="4248033" y="3083379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942EAF-E025-0E46-9DDD-460252D83576}"/>
              </a:ext>
            </a:extLst>
          </p:cNvPr>
          <p:cNvSpPr/>
          <p:nvPr/>
        </p:nvSpPr>
        <p:spPr>
          <a:xfrm>
            <a:off x="5295346" y="2548225"/>
            <a:ext cx="492457" cy="881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971AFB-87D3-CC43-8E4C-93D60D3DB275}"/>
              </a:ext>
            </a:extLst>
          </p:cNvPr>
          <p:cNvGrpSpPr/>
          <p:nvPr/>
        </p:nvGrpSpPr>
        <p:grpSpPr>
          <a:xfrm>
            <a:off x="6169416" y="2857045"/>
            <a:ext cx="408273" cy="550295"/>
            <a:chOff x="5930406" y="2352287"/>
            <a:chExt cx="585810" cy="78959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9644E6-2C5E-6241-8CAD-865CAAF8860E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1964A8-441D-8C41-B224-D88882FD438B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2BE0D5F-3EEA-924F-82EB-A6AC46FEFEF0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DD18F05-9B6A-E249-93BD-0FF7C31F8745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7A36BA6-BCD5-4643-B992-1A66BE6204F3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62250EE-A820-0F4A-BD00-4B0C5BE69533}"/>
              </a:ext>
            </a:extLst>
          </p:cNvPr>
          <p:cNvGrpSpPr/>
          <p:nvPr/>
        </p:nvGrpSpPr>
        <p:grpSpPr>
          <a:xfrm>
            <a:off x="6878066" y="3045431"/>
            <a:ext cx="408273" cy="550295"/>
            <a:chOff x="5930406" y="2352287"/>
            <a:chExt cx="585810" cy="78959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AC2A2B-748A-6848-9B8E-49342CC65A4B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FF230A-A44E-7E4D-BCA1-FBA702A9B9CE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1F7C33B-BA39-F34C-B885-EEFA0AEFEB1E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6251DB-A3CB-3A4A-B908-843E625D5A4D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D441771-933A-504F-84D8-7530C2A8BAFC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642D420-9FEE-D243-85D6-09B57E3C789F}"/>
              </a:ext>
            </a:extLst>
          </p:cNvPr>
          <p:cNvSpPr/>
          <p:nvPr/>
        </p:nvSpPr>
        <p:spPr>
          <a:xfrm>
            <a:off x="5300291" y="3158729"/>
            <a:ext cx="492457" cy="111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3D726F-3553-A342-B70D-095AFEB27A93}"/>
              </a:ext>
            </a:extLst>
          </p:cNvPr>
          <p:cNvGrpSpPr/>
          <p:nvPr/>
        </p:nvGrpSpPr>
        <p:grpSpPr>
          <a:xfrm>
            <a:off x="6867570" y="2335804"/>
            <a:ext cx="408273" cy="550295"/>
            <a:chOff x="5930406" y="2352287"/>
            <a:chExt cx="585810" cy="78959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2AD7656-A12B-474C-9C6F-72D38BB271EA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0383222-FAF1-3F4A-B7CB-D63AD6197891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956416C-0655-0545-8677-E8F7C4E79E43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0876EC3-4FDA-244F-B42F-E5F11ECB6DAF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B4C028A-F441-F947-A0C5-CA3612983299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48CD127-E2DC-864F-8036-C91D41654F64}"/>
              </a:ext>
            </a:extLst>
          </p:cNvPr>
          <p:cNvCxnSpPr>
            <a:stCxn id="58" idx="3"/>
            <a:endCxn id="45" idx="1"/>
          </p:cNvCxnSpPr>
          <p:nvPr/>
        </p:nvCxnSpPr>
        <p:spPr>
          <a:xfrm flipV="1">
            <a:off x="5792748" y="2912702"/>
            <a:ext cx="376668" cy="30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DB9FA54-E710-DB46-B392-43DDA2E419F7}"/>
              </a:ext>
            </a:extLst>
          </p:cNvPr>
          <p:cNvCxnSpPr>
            <a:cxnSpLocks/>
            <a:stCxn id="45" idx="3"/>
            <a:endCxn id="60" idx="1"/>
          </p:cNvCxnSpPr>
          <p:nvPr/>
        </p:nvCxnSpPr>
        <p:spPr>
          <a:xfrm flipV="1">
            <a:off x="6577689" y="2391461"/>
            <a:ext cx="289881" cy="52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4132820-73F5-F547-A227-AA748DECF172}"/>
              </a:ext>
            </a:extLst>
          </p:cNvPr>
          <p:cNvCxnSpPr>
            <a:cxnSpLocks/>
            <a:stCxn id="46" idx="3"/>
            <a:endCxn id="53" idx="1"/>
          </p:cNvCxnSpPr>
          <p:nvPr/>
        </p:nvCxnSpPr>
        <p:spPr>
          <a:xfrm>
            <a:off x="6577689" y="3026468"/>
            <a:ext cx="300377" cy="7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E1A650F-8C8D-F045-BCA4-93683ED6EC8F}"/>
              </a:ext>
            </a:extLst>
          </p:cNvPr>
          <p:cNvSpPr/>
          <p:nvPr/>
        </p:nvSpPr>
        <p:spPr>
          <a:xfrm>
            <a:off x="7610780" y="1764384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047FBA5-8C8D-7F4D-B06F-38AF8C81D016}"/>
              </a:ext>
            </a:extLst>
          </p:cNvPr>
          <p:cNvSpPr/>
          <p:nvPr/>
        </p:nvSpPr>
        <p:spPr>
          <a:xfrm>
            <a:off x="7958864" y="2285150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6B7C9F7-DE25-2B4A-9CAF-1EC839D58B38}"/>
              </a:ext>
            </a:extLst>
          </p:cNvPr>
          <p:cNvSpPr/>
          <p:nvPr/>
        </p:nvSpPr>
        <p:spPr>
          <a:xfrm>
            <a:off x="8259231" y="2897316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AF4DEA7-CF68-D440-9131-2CC4DC3402CD}"/>
              </a:ext>
            </a:extLst>
          </p:cNvPr>
          <p:cNvCxnSpPr>
            <a:cxnSpLocks/>
            <a:stCxn id="60" idx="3"/>
            <a:endCxn id="74" idx="1"/>
          </p:cNvCxnSpPr>
          <p:nvPr/>
        </p:nvCxnSpPr>
        <p:spPr>
          <a:xfrm flipV="1">
            <a:off x="7275843" y="1976645"/>
            <a:ext cx="334937" cy="414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42BB9FE-3526-644C-A794-547205060042}"/>
              </a:ext>
            </a:extLst>
          </p:cNvPr>
          <p:cNvCxnSpPr>
            <a:cxnSpLocks/>
            <a:stCxn id="61" idx="3"/>
            <a:endCxn id="75" idx="1"/>
          </p:cNvCxnSpPr>
          <p:nvPr/>
        </p:nvCxnSpPr>
        <p:spPr>
          <a:xfrm flipV="1">
            <a:off x="7275843" y="2497411"/>
            <a:ext cx="683021" cy="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5D59BFB-4499-5449-9589-5922C529E850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>
            <a:off x="7275843" y="2616540"/>
            <a:ext cx="983388" cy="49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E7BFD1C-C0CD-CE41-90A2-EA0B08283319}"/>
              </a:ext>
            </a:extLst>
          </p:cNvPr>
          <p:cNvSpPr txBox="1"/>
          <p:nvPr/>
        </p:nvSpPr>
        <p:spPr>
          <a:xfrm>
            <a:off x="7112113" y="123627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页缓存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93ECBAF-888D-E843-8273-657450D01F05}"/>
              </a:ext>
            </a:extLst>
          </p:cNvPr>
          <p:cNvCxnSpPr>
            <a:cxnSpLocks/>
            <a:stCxn id="42" idx="2"/>
            <a:endCxn id="9" idx="0"/>
          </p:cNvCxnSpPr>
          <p:nvPr/>
        </p:nvCxnSpPr>
        <p:spPr>
          <a:xfrm flipH="1">
            <a:off x="2671241" y="3317486"/>
            <a:ext cx="257906" cy="94097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8B511A3-30B0-CF49-BB0D-B5405E5C6FA3}"/>
              </a:ext>
            </a:extLst>
          </p:cNvPr>
          <p:cNvCxnSpPr>
            <a:cxnSpLocks/>
            <a:stCxn id="44" idx="2"/>
            <a:endCxn id="7" idx="0"/>
          </p:cNvCxnSpPr>
          <p:nvPr/>
        </p:nvCxnSpPr>
        <p:spPr>
          <a:xfrm flipH="1">
            <a:off x="4151579" y="3429756"/>
            <a:ext cx="1389996" cy="82870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7FFE852-5510-3A42-AE59-6C4B9ED28264}"/>
              </a:ext>
            </a:extLst>
          </p:cNvPr>
          <p:cNvCxnSpPr>
            <a:cxnSpLocks/>
            <a:stCxn id="74" idx="2"/>
            <a:endCxn id="14" idx="0"/>
          </p:cNvCxnSpPr>
          <p:nvPr/>
        </p:nvCxnSpPr>
        <p:spPr>
          <a:xfrm flipH="1">
            <a:off x="7101605" y="2188906"/>
            <a:ext cx="694704" cy="206955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4D5ADE7-5CEE-884E-A8F3-7FFFEF63D567}"/>
              </a:ext>
            </a:extLst>
          </p:cNvPr>
          <p:cNvCxnSpPr>
            <a:cxnSpLocks/>
            <a:stCxn id="75" idx="2"/>
            <a:endCxn id="15" idx="0"/>
          </p:cNvCxnSpPr>
          <p:nvPr/>
        </p:nvCxnSpPr>
        <p:spPr>
          <a:xfrm flipH="1">
            <a:off x="7472663" y="2709672"/>
            <a:ext cx="671730" cy="1548789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DBCB81C-63F9-A04A-AEB6-3F4CBA2FAC76}"/>
              </a:ext>
            </a:extLst>
          </p:cNvPr>
          <p:cNvCxnSpPr>
            <a:cxnSpLocks/>
            <a:stCxn id="76" idx="2"/>
            <a:endCxn id="16" idx="0"/>
          </p:cNvCxnSpPr>
          <p:nvPr/>
        </p:nvCxnSpPr>
        <p:spPr>
          <a:xfrm flipH="1">
            <a:off x="7843720" y="3321838"/>
            <a:ext cx="601040" cy="9366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C21176C-5182-A14D-A0EA-0F871BA11D79}"/>
              </a:ext>
            </a:extLst>
          </p:cNvPr>
          <p:cNvCxnSpPr>
            <a:cxnSpLocks/>
            <a:stCxn id="41" idx="2"/>
            <a:endCxn id="12" idx="0"/>
          </p:cNvCxnSpPr>
          <p:nvPr/>
        </p:nvCxnSpPr>
        <p:spPr>
          <a:xfrm>
            <a:off x="2038216" y="3011460"/>
            <a:ext cx="265861" cy="124700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7F16F56-9BB9-CA43-898E-AAEC532977CD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4853983" y="2679581"/>
            <a:ext cx="446308" cy="499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06E43D5-FE1F-1C4E-B716-A031C7E6CEE3}"/>
              </a:ext>
            </a:extLst>
          </p:cNvPr>
          <p:cNvSpPr/>
          <p:nvPr/>
        </p:nvSpPr>
        <p:spPr>
          <a:xfrm>
            <a:off x="3812472" y="1869882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6A9B613-7BDE-B64C-9878-084C66B0A8CA}"/>
              </a:ext>
            </a:extLst>
          </p:cNvPr>
          <p:cNvSpPr/>
          <p:nvPr/>
        </p:nvSpPr>
        <p:spPr>
          <a:xfrm>
            <a:off x="3643236" y="2299179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ECB0CBC-4BBE-D44A-A5B7-525FFEF63483}"/>
              </a:ext>
            </a:extLst>
          </p:cNvPr>
          <p:cNvSpPr/>
          <p:nvPr/>
        </p:nvSpPr>
        <p:spPr>
          <a:xfrm>
            <a:off x="4354614" y="2293310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28A98DA-B365-FB43-8E97-A532C368AAA7}"/>
              </a:ext>
            </a:extLst>
          </p:cNvPr>
          <p:cNvCxnSpPr>
            <a:cxnSpLocks/>
            <a:stCxn id="114" idx="2"/>
            <a:endCxn id="115" idx="0"/>
          </p:cNvCxnSpPr>
          <p:nvPr/>
        </p:nvCxnSpPr>
        <p:spPr>
          <a:xfrm flipH="1">
            <a:off x="3946211" y="2060561"/>
            <a:ext cx="169236" cy="238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BEBFBC1-D0F9-A842-8BED-12C95184B5C2}"/>
              </a:ext>
            </a:extLst>
          </p:cNvPr>
          <p:cNvCxnSpPr>
            <a:cxnSpLocks/>
            <a:stCxn id="114" idx="2"/>
            <a:endCxn id="116" idx="0"/>
          </p:cNvCxnSpPr>
          <p:nvPr/>
        </p:nvCxnSpPr>
        <p:spPr>
          <a:xfrm>
            <a:off x="4115447" y="2060561"/>
            <a:ext cx="542142" cy="232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CE91487-D725-9F4C-B2A0-9F021DF477FA}"/>
              </a:ext>
            </a:extLst>
          </p:cNvPr>
          <p:cNvCxnSpPr>
            <a:cxnSpLocks/>
            <a:stCxn id="115" idx="2"/>
            <a:endCxn id="43" idx="0"/>
          </p:cNvCxnSpPr>
          <p:nvPr/>
        </p:nvCxnSpPr>
        <p:spPr>
          <a:xfrm>
            <a:off x="3946211" y="2489858"/>
            <a:ext cx="604797" cy="59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8239619-4F89-DE43-881D-18325BE82668}"/>
              </a:ext>
            </a:extLst>
          </p:cNvPr>
          <p:cNvSpPr/>
          <p:nvPr/>
        </p:nvSpPr>
        <p:spPr>
          <a:xfrm>
            <a:off x="5365425" y="1028363"/>
            <a:ext cx="492457" cy="881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AC5D921-CE8C-5C4D-A8F1-8D10DDA5A907}"/>
              </a:ext>
            </a:extLst>
          </p:cNvPr>
          <p:cNvSpPr/>
          <p:nvPr/>
        </p:nvSpPr>
        <p:spPr>
          <a:xfrm>
            <a:off x="5370370" y="1638867"/>
            <a:ext cx="492457" cy="111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38D656E-53F5-8143-B990-5D1232214977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418422" y="1114158"/>
            <a:ext cx="951948" cy="85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44FEB97-28F0-3F4A-AFCD-87929C6E7EDD}"/>
              </a:ext>
            </a:extLst>
          </p:cNvPr>
          <p:cNvSpPr txBox="1"/>
          <p:nvPr/>
        </p:nvSpPr>
        <p:spPr>
          <a:xfrm>
            <a:off x="5257818" y="62540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C083C0C-8960-3E4D-A5D2-7D3E5614E0E4}"/>
              </a:ext>
            </a:extLst>
          </p:cNvPr>
          <p:cNvCxnSpPr>
            <a:cxnSpLocks/>
            <a:stCxn id="130" idx="3"/>
            <a:endCxn id="138" idx="2"/>
          </p:cNvCxnSpPr>
          <p:nvPr/>
        </p:nvCxnSpPr>
        <p:spPr>
          <a:xfrm flipV="1">
            <a:off x="5862827" y="1313974"/>
            <a:ext cx="488676" cy="38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82897B2C-9828-284C-878B-2992F5BEEEF4}"/>
              </a:ext>
            </a:extLst>
          </p:cNvPr>
          <p:cNvSpPr txBox="1"/>
          <p:nvPr/>
        </p:nvSpPr>
        <p:spPr>
          <a:xfrm>
            <a:off x="6143754" y="9446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04FAA54-4923-8F4E-AC89-3DB7480F5CDD}"/>
              </a:ext>
            </a:extLst>
          </p:cNvPr>
          <p:cNvSpPr txBox="1"/>
          <p:nvPr/>
        </p:nvSpPr>
        <p:spPr>
          <a:xfrm>
            <a:off x="3657131" y="88721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dcache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AF4F0D0-4A0E-BB42-A832-6FF448230381}"/>
              </a:ext>
            </a:extLst>
          </p:cNvPr>
          <p:cNvSpPr txBox="1"/>
          <p:nvPr/>
        </p:nvSpPr>
        <p:spPr>
          <a:xfrm>
            <a:off x="5357776" y="18558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icache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AF4CE-69AF-B04E-A7D1-CBB97A82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E8026-1307-0C48-9290-0874726A4C14}"/>
              </a:ext>
            </a:extLst>
          </p:cNvPr>
          <p:cNvSpPr txBox="1"/>
          <p:nvPr/>
        </p:nvSpPr>
        <p:spPr>
          <a:xfrm>
            <a:off x="6332420" y="19802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radix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CADA2BD-BAC2-5A42-9C7D-51489DFEF9A7}"/>
              </a:ext>
            </a:extLst>
          </p:cNvPr>
          <p:cNvSpPr txBox="1"/>
          <p:nvPr/>
        </p:nvSpPr>
        <p:spPr>
          <a:xfrm>
            <a:off x="503373" y="43756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块存储设备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80101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FBBA-9524-314B-BDAE-CA8BD60A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</a:t>
            </a:r>
            <a:r>
              <a:rPr lang="zh-CN" altLang="en-CN" dirty="0"/>
              <a:t>缓存</a:t>
            </a:r>
            <a:r>
              <a:rPr lang="zh-CN" altLang="en-US" dirty="0"/>
              <a:t>情况下的文件查找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55E7-4CED-A84B-AB08-76A919A7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由于内存大小限制，内存中缓存的数据是存储中数据的子集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lvl="0" indent="0">
              <a:buNone/>
            </a:pP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当要访问的数据不在内存中时，会从存储中读取并构造内存中相应的对象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889EF-196C-D84E-BA80-0AFC24846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4779F-0DF5-2744-B76C-CB15FDCD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5250515-5FEC-2247-BEB8-74F73316E3FF}"/>
              </a:ext>
            </a:extLst>
          </p:cNvPr>
          <p:cNvGrpSpPr/>
          <p:nvPr/>
        </p:nvGrpSpPr>
        <p:grpSpPr>
          <a:xfrm>
            <a:off x="899592" y="2466378"/>
            <a:ext cx="6077715" cy="2638759"/>
            <a:chOff x="984964" y="2477268"/>
            <a:chExt cx="6077715" cy="2638759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D50BFBBF-7ECA-344D-85B1-F7B4F744E5EA}"/>
                </a:ext>
              </a:extLst>
            </p:cNvPr>
            <p:cNvSpPr/>
            <p:nvPr/>
          </p:nvSpPr>
          <p:spPr>
            <a:xfrm>
              <a:off x="2727379" y="2477268"/>
              <a:ext cx="1463459" cy="679463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zh-CN" altLang="en-CN" sz="1200" dirty="0"/>
                <a:t>在</a:t>
              </a:r>
              <a:r>
                <a:rPr lang="zh-CN" altLang="en-US" sz="1200" dirty="0"/>
                <a:t>内存缓存中？</a:t>
              </a:r>
              <a:endParaRPr lang="en-CN" sz="1200" dirty="0"/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6D4B5B18-F279-B34B-AC1B-88F9AAF18A5D}"/>
                </a:ext>
              </a:extLst>
            </p:cNvPr>
            <p:cNvSpPr/>
            <p:nvPr/>
          </p:nvSpPr>
          <p:spPr>
            <a:xfrm>
              <a:off x="4215854" y="3032930"/>
              <a:ext cx="1463459" cy="679463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zh-CN" altLang="en-CN" sz="1200" dirty="0"/>
                <a:t>在</a:t>
              </a:r>
              <a:r>
                <a:rPr lang="zh-CN" altLang="en-US" sz="1200" dirty="0"/>
                <a:t>存储设备中？</a:t>
              </a:r>
              <a:endParaRPr lang="en-CN" sz="12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311021-962D-4540-B579-DC06EFD4633C}"/>
                </a:ext>
              </a:extLst>
            </p:cNvPr>
            <p:cNvCxnSpPr>
              <a:cxnSpLocks/>
              <a:stCxn id="6" idx="2"/>
              <a:endCxn id="35" idx="0"/>
            </p:cNvCxnSpPr>
            <p:nvPr/>
          </p:nvCxnSpPr>
          <p:spPr>
            <a:xfrm flipH="1">
              <a:off x="3459108" y="3156731"/>
              <a:ext cx="1" cy="13652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4F2349-9AE9-044A-9EE2-330EA9ED4AB0}"/>
                </a:ext>
              </a:extLst>
            </p:cNvPr>
            <p:cNvSpPr txBox="1"/>
            <p:nvPr/>
          </p:nvSpPr>
          <p:spPr>
            <a:xfrm>
              <a:off x="3120554" y="329972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00" dirty="0"/>
                <a:t>在</a:t>
              </a:r>
              <a:endParaRPr lang="en-CN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CD25E2-6B88-DF43-857B-DE7AE044BB47}"/>
                </a:ext>
              </a:extLst>
            </p:cNvPr>
            <p:cNvSpPr txBox="1"/>
            <p:nvPr/>
          </p:nvSpPr>
          <p:spPr>
            <a:xfrm>
              <a:off x="4306228" y="257694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不</a:t>
              </a:r>
              <a:r>
                <a:rPr lang="zh-CN" altLang="en-CN" sz="1200" dirty="0"/>
                <a:t>在</a:t>
              </a:r>
              <a:endParaRPr lang="en-CN" sz="12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78BC328-3E6D-D142-8BB0-29B9046F912F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4190838" y="2817000"/>
              <a:ext cx="756746" cy="215930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16">
              <a:extLst>
                <a:ext uri="{FF2B5EF4-FFF2-40B4-BE49-F238E27FC236}">
                  <a16:creationId xmlns:a16="http://schemas.microsoft.com/office/drawing/2014/main" id="{AD5D3EEC-21C4-7445-AA94-EEDF518ED882}"/>
                </a:ext>
              </a:extLst>
            </p:cNvPr>
            <p:cNvCxnSpPr>
              <a:cxnSpLocks/>
              <a:stCxn id="7" idx="3"/>
              <a:endCxn id="33" idx="0"/>
            </p:cNvCxnSpPr>
            <p:nvPr/>
          </p:nvCxnSpPr>
          <p:spPr>
            <a:xfrm>
              <a:off x="5679313" y="3372662"/>
              <a:ext cx="873887" cy="1008837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73E1EF-ACC7-C040-87DA-8B7675341459}"/>
                </a:ext>
              </a:extLst>
            </p:cNvPr>
            <p:cNvSpPr txBox="1"/>
            <p:nvPr/>
          </p:nvSpPr>
          <p:spPr>
            <a:xfrm>
              <a:off x="5722986" y="313020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不</a:t>
              </a:r>
              <a:r>
                <a:rPr lang="zh-CN" altLang="en-CN" sz="1200" dirty="0"/>
                <a:t>在</a:t>
              </a:r>
              <a:endParaRPr lang="en-CN" sz="12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16B282-8AEC-0346-80E3-A39CE602E075}"/>
                </a:ext>
              </a:extLst>
            </p:cNvPr>
            <p:cNvSpPr/>
            <p:nvPr/>
          </p:nvSpPr>
          <p:spPr>
            <a:xfrm>
              <a:off x="4308762" y="3981423"/>
              <a:ext cx="1277641" cy="4172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dk1"/>
                  </a:solidFill>
                </a:rPr>
                <a:t>读取到内存缓存中</a:t>
              </a:r>
              <a:endParaRPr lang="en-CN" sz="1200" dirty="0">
                <a:solidFill>
                  <a:schemeClr val="dk1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273F300-F95B-D846-A061-B38444894E5D}"/>
                </a:ext>
              </a:extLst>
            </p:cNvPr>
            <p:cNvSpPr/>
            <p:nvPr/>
          </p:nvSpPr>
          <p:spPr>
            <a:xfrm>
              <a:off x="6043721" y="4381499"/>
              <a:ext cx="1018958" cy="59407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CN" sz="1200" dirty="0">
                  <a:solidFill>
                    <a:schemeClr val="dk1"/>
                  </a:solidFill>
                </a:rPr>
                <a:t>文件</a:t>
              </a:r>
              <a:r>
                <a:rPr lang="zh-CN" altLang="en-US" sz="1200" dirty="0">
                  <a:solidFill>
                    <a:schemeClr val="dk1"/>
                  </a:solidFill>
                </a:rPr>
                <a:t>不存在</a:t>
              </a:r>
              <a:endParaRPr lang="en-CN" sz="1200" dirty="0">
                <a:solidFill>
                  <a:schemeClr val="dk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05F1942-BF36-4243-9ACF-02E12DC510BE}"/>
                </a:ext>
              </a:extLst>
            </p:cNvPr>
            <p:cNvSpPr/>
            <p:nvPr/>
          </p:nvSpPr>
          <p:spPr>
            <a:xfrm>
              <a:off x="2949629" y="4521951"/>
              <a:ext cx="1018958" cy="59407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dk1"/>
                  </a:solidFill>
                </a:rPr>
                <a:t>找到文件</a:t>
              </a:r>
              <a:endParaRPr lang="en-CN" sz="1200" dirty="0">
                <a:solidFill>
                  <a:schemeClr val="dk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329434-A5CA-724E-BFC0-6E2E06BA0AB6}"/>
                </a:ext>
              </a:extLst>
            </p:cNvPr>
            <p:cNvSpPr txBox="1"/>
            <p:nvPr/>
          </p:nvSpPr>
          <p:spPr>
            <a:xfrm>
              <a:off x="4569211" y="3673342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00" dirty="0"/>
                <a:t>在</a:t>
              </a:r>
              <a:endParaRPr lang="en-CN" sz="12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EDE177B-B2D5-EF48-A5C1-628E46E706DD}"/>
                </a:ext>
              </a:extLst>
            </p:cNvPr>
            <p:cNvCxnSpPr>
              <a:cxnSpLocks/>
              <a:stCxn id="7" idx="2"/>
              <a:endCxn id="32" idx="0"/>
            </p:cNvCxnSpPr>
            <p:nvPr/>
          </p:nvCxnSpPr>
          <p:spPr>
            <a:xfrm flipH="1">
              <a:off x="4947583" y="3712393"/>
              <a:ext cx="1" cy="2690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69D7EFD-51C9-B842-8CD9-4B97A9BA909B}"/>
                </a:ext>
              </a:extLst>
            </p:cNvPr>
            <p:cNvCxnSpPr>
              <a:cxnSpLocks/>
              <a:stCxn id="32" idx="2"/>
              <a:endCxn id="35" idx="6"/>
            </p:cNvCxnSpPr>
            <p:nvPr/>
          </p:nvCxnSpPr>
          <p:spPr>
            <a:xfrm rot="5400000">
              <a:off x="4247925" y="4119330"/>
              <a:ext cx="420321" cy="978996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2CFAE45-FE82-0F49-87B9-CE5B882FA963}"/>
                </a:ext>
              </a:extLst>
            </p:cNvPr>
            <p:cNvSpPr txBox="1"/>
            <p:nvPr/>
          </p:nvSpPr>
          <p:spPr>
            <a:xfrm>
              <a:off x="984964" y="2647722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查找文件数据</a:t>
              </a:r>
              <a:endParaRPr lang="en-CN" sz="1600" dirty="0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2779A41-8F51-D645-B663-698741816AB0}"/>
                </a:ext>
              </a:extLst>
            </p:cNvPr>
            <p:cNvCxnSpPr>
              <a:cxnSpLocks/>
              <a:stCxn id="52" idx="3"/>
              <a:endCxn id="6" idx="1"/>
            </p:cNvCxnSpPr>
            <p:nvPr/>
          </p:nvCxnSpPr>
          <p:spPr>
            <a:xfrm>
              <a:off x="2400736" y="2816999"/>
              <a:ext cx="326643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7647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FBBE-4277-D24A-9C9D-98DBAF33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中的文件与存储结构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1ECDA-46A8-EF46-831E-4B116FD4E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5B046B-8634-DE48-9F47-CD1DAFA28512}"/>
              </a:ext>
            </a:extLst>
          </p:cNvPr>
          <p:cNvCxnSpPr>
            <a:cxnSpLocks/>
          </p:cNvCxnSpPr>
          <p:nvPr/>
        </p:nvCxnSpPr>
        <p:spPr>
          <a:xfrm>
            <a:off x="899592" y="3649588"/>
            <a:ext cx="75608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F1ADF58-39BC-6C47-81AB-E4D7961893BC}"/>
              </a:ext>
            </a:extLst>
          </p:cNvPr>
          <p:cNvSpPr/>
          <p:nvPr/>
        </p:nvSpPr>
        <p:spPr>
          <a:xfrm>
            <a:off x="1385156" y="3811692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ChCore</a:t>
            </a:r>
            <a:r>
              <a:rPr lang="zh-CN" altLang="en-US" sz="1600" dirty="0"/>
              <a:t> 微内核</a:t>
            </a:r>
            <a:endParaRPr lang="en-CN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9A099-12F2-9646-AB9A-E5257886EAC4}"/>
              </a:ext>
            </a:extLst>
          </p:cNvPr>
          <p:cNvSpPr/>
          <p:nvPr/>
        </p:nvSpPr>
        <p:spPr>
          <a:xfrm>
            <a:off x="2627784" y="2561965"/>
            <a:ext cx="1349660" cy="7110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N" altLang="zh-CN" sz="1600" dirty="0"/>
              <a:t>FS</a:t>
            </a:r>
            <a:r>
              <a:rPr lang="zh-CN" altLang="en-CN" sz="1600" dirty="0"/>
              <a:t>管理器</a:t>
            </a:r>
            <a:endParaRPr lang="en-US" altLang="zh-CN" sz="1600" dirty="0"/>
          </a:p>
          <a:p>
            <a:pPr algn="ctr"/>
            <a:r>
              <a:rPr lang="zh-CN" altLang="en-US" sz="1600" dirty="0"/>
              <a:t>（类</a:t>
            </a:r>
            <a:r>
              <a:rPr lang="en-US" altLang="zh-CN" sz="1600" dirty="0"/>
              <a:t>VFS</a:t>
            </a:r>
            <a:r>
              <a:rPr lang="zh-CN" altLang="en-US" sz="1600" dirty="0"/>
              <a:t>）</a:t>
            </a:r>
            <a:endParaRPr lang="en-CN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0D109-A548-CB4F-BC64-3FD0BA04B843}"/>
              </a:ext>
            </a:extLst>
          </p:cNvPr>
          <p:cNvSpPr/>
          <p:nvPr/>
        </p:nvSpPr>
        <p:spPr>
          <a:xfrm>
            <a:off x="861629" y="2120860"/>
            <a:ext cx="1190091" cy="6390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600" dirty="0"/>
              <a:t>应用</a:t>
            </a:r>
            <a:r>
              <a:rPr lang="zh-CN" altLang="en-US" sz="1600" dirty="0"/>
              <a:t>程序</a:t>
            </a:r>
            <a:endParaRPr lang="en-CN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B8F03-8A77-F041-85F2-19EBB03C56A0}"/>
              </a:ext>
            </a:extLst>
          </p:cNvPr>
          <p:cNvSpPr/>
          <p:nvPr/>
        </p:nvSpPr>
        <p:spPr>
          <a:xfrm>
            <a:off x="4908167" y="1905416"/>
            <a:ext cx="1190091" cy="551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88CDA-DB26-0940-953E-A3D35C11619E}"/>
              </a:ext>
            </a:extLst>
          </p:cNvPr>
          <p:cNvSpPr/>
          <p:nvPr/>
        </p:nvSpPr>
        <p:spPr>
          <a:xfrm>
            <a:off x="6850596" y="2398405"/>
            <a:ext cx="154817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设备驱动</a:t>
            </a:r>
            <a:endParaRPr lang="en-CN" sz="1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D2741-EE1A-7F44-8CC1-1A00CCF3F805}"/>
              </a:ext>
            </a:extLst>
          </p:cNvPr>
          <p:cNvCxnSpPr>
            <a:cxnSpLocks/>
          </p:cNvCxnSpPr>
          <p:nvPr/>
        </p:nvCxnSpPr>
        <p:spPr>
          <a:xfrm>
            <a:off x="899592" y="4369668"/>
            <a:ext cx="75608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FF26C-145F-D542-9542-9FBECB764AB8}"/>
              </a:ext>
            </a:extLst>
          </p:cNvPr>
          <p:cNvSpPr/>
          <p:nvPr/>
        </p:nvSpPr>
        <p:spPr>
          <a:xfrm>
            <a:off x="5038093" y="2713642"/>
            <a:ext cx="1190091" cy="551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endParaRPr lang="en-CN" sz="16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66D2FA-BB29-4C49-9E0F-191DA0D46C3D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2051720" y="2440372"/>
            <a:ext cx="576064" cy="4771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EE9249-0C39-9E4F-9EF7-4985A85AC44C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977444" y="2917475"/>
            <a:ext cx="1060649" cy="720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1389F6-0937-5F4B-85A5-5962D5CA525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3977444" y="2181256"/>
            <a:ext cx="930723" cy="7362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677880-2CA5-D44A-B4D3-BBE30BE3607C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flipH="1">
            <a:off x="7620000" y="2812365"/>
            <a:ext cx="4682" cy="19385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09A2D2-3306-FF49-BBD9-6B9EC08A6378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 flipV="1">
            <a:off x="6228184" y="2605385"/>
            <a:ext cx="622412" cy="3840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CBB711-9DD4-A042-9F79-F4F79F8DA00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098258" y="2181256"/>
            <a:ext cx="752338" cy="4241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06DCF4D-8727-3F41-88C8-8F4FB08F054F}"/>
              </a:ext>
            </a:extLst>
          </p:cNvPr>
          <p:cNvSpPr txBox="1"/>
          <p:nvPr/>
        </p:nvSpPr>
        <p:spPr>
          <a:xfrm>
            <a:off x="2144578" y="2285011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IPC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F59C3-C844-E241-B54E-7090C8905FF5}"/>
              </a:ext>
            </a:extLst>
          </p:cNvPr>
          <p:cNvSpPr txBox="1"/>
          <p:nvPr/>
        </p:nvSpPr>
        <p:spPr>
          <a:xfrm>
            <a:off x="3960854" y="2179062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IPC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F66A0D-8A6E-0948-8184-8FA0037ACDE5}"/>
              </a:ext>
            </a:extLst>
          </p:cNvPr>
          <p:cNvSpPr txBox="1"/>
          <p:nvPr/>
        </p:nvSpPr>
        <p:spPr>
          <a:xfrm>
            <a:off x="4232934" y="2913779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IPC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7A4D8-E822-F147-A104-980C1A820935}"/>
              </a:ext>
            </a:extLst>
          </p:cNvPr>
          <p:cNvSpPr txBox="1"/>
          <p:nvPr/>
        </p:nvSpPr>
        <p:spPr>
          <a:xfrm>
            <a:off x="6159401" y="1940666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IPC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85B2A8-6D30-D24A-881A-D17591E65D8E}"/>
              </a:ext>
            </a:extLst>
          </p:cNvPr>
          <p:cNvSpPr txBox="1"/>
          <p:nvPr/>
        </p:nvSpPr>
        <p:spPr>
          <a:xfrm>
            <a:off x="6336057" y="2797686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IPC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C5270D-4E82-2F42-9063-728C777A1AD0}"/>
              </a:ext>
            </a:extLst>
          </p:cNvPr>
          <p:cNvSpPr txBox="1"/>
          <p:nvPr/>
        </p:nvSpPr>
        <p:spPr>
          <a:xfrm>
            <a:off x="7595479" y="3167018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MMIO</a:t>
            </a:r>
            <a:endParaRPr lang="en-CN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B849C-9EC6-CA47-8AB9-22E01C64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4314F-4A1A-5646-BB4A-4DDD372E44BA}"/>
              </a:ext>
            </a:extLst>
          </p:cNvPr>
          <p:cNvSpPr txBox="1"/>
          <p:nvPr/>
        </p:nvSpPr>
        <p:spPr>
          <a:xfrm>
            <a:off x="2307435" y="1439554"/>
            <a:ext cx="1868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400" dirty="0"/>
              <a:t>负责</a:t>
            </a:r>
            <a:r>
              <a:rPr lang="zh-CN" altLang="en-US" sz="1400" dirty="0"/>
              <a:t>管理多文件系统</a:t>
            </a:r>
            <a:endParaRPr lang="en-CN" altLang="zh-CN" sz="1400" dirty="0"/>
          </a:p>
          <a:p>
            <a:r>
              <a:rPr lang="zh-CN" altLang="en-CN" sz="1400" dirty="0"/>
              <a:t>挂载</a:t>
            </a:r>
            <a:r>
              <a:rPr lang="zh-CN" altLang="en-US" sz="1400" dirty="0"/>
              <a:t>、文件系统树、请求转发等</a:t>
            </a:r>
            <a:endParaRPr lang="en-US" altLang="zh-CN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9CCBF0-D3D9-FB4E-8242-C5D5A5667BDC}"/>
              </a:ext>
            </a:extLst>
          </p:cNvPr>
          <p:cNvSpPr txBox="1"/>
          <p:nvPr/>
        </p:nvSpPr>
        <p:spPr>
          <a:xfrm>
            <a:off x="4572000" y="1246637"/>
            <a:ext cx="2529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400" dirty="0"/>
              <a:t>负责</a:t>
            </a:r>
            <a:r>
              <a:rPr lang="zh-CN" altLang="en-US" sz="1400" dirty="0"/>
              <a:t>管理页缓存、</a:t>
            </a:r>
            <a:r>
              <a:rPr lang="en-US" altLang="zh-CN" sz="1400" dirty="0" err="1"/>
              <a:t>icache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dcache</a:t>
            </a:r>
            <a:r>
              <a:rPr lang="zh-CN" altLang="en-US" sz="1400" dirty="0"/>
              <a:t>、文件系统数据管理</a:t>
            </a:r>
            <a:endParaRPr lang="en-US" altLang="zh-C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A3F9F-2A56-814F-98C3-F62B83413043}"/>
              </a:ext>
            </a:extLst>
          </p:cNvPr>
          <p:cNvSpPr txBox="1"/>
          <p:nvPr/>
        </p:nvSpPr>
        <p:spPr>
          <a:xfrm>
            <a:off x="6877642" y="1951895"/>
            <a:ext cx="2266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400" dirty="0"/>
              <a:t>负责块</a:t>
            </a:r>
            <a:r>
              <a:rPr lang="zh-CN" altLang="en-US" sz="1400" dirty="0"/>
              <a:t>抽象、调度、驱动</a:t>
            </a:r>
            <a:endParaRPr lang="en-US" altLang="zh-CN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500629-3BA5-C141-9EA4-811013AA18CF}"/>
              </a:ext>
            </a:extLst>
          </p:cNvPr>
          <p:cNvSpPr/>
          <p:nvPr/>
        </p:nvSpPr>
        <p:spPr>
          <a:xfrm>
            <a:off x="7043936" y="4750907"/>
            <a:ext cx="1152128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存储设备</a:t>
            </a:r>
            <a:endParaRPr lang="en-CN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17B8D7-F13D-2F53-924A-9764235A1BC3}"/>
              </a:ext>
            </a:extLst>
          </p:cNvPr>
          <p:cNvSpPr txBox="1"/>
          <p:nvPr/>
        </p:nvSpPr>
        <p:spPr>
          <a:xfrm>
            <a:off x="6894508" y="12500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739789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64E6-2D9B-7E47-9511-5560B027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文件系统</a:t>
            </a:r>
            <a:r>
              <a:rPr lang="zh-CN" altLang="en-US" dirty="0"/>
              <a:t>高级功能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AD6D4-E74B-2340-A1EF-C8265E8AE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6379-B30A-034A-B76D-83321BB3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FEB32-4F62-B84C-8692-B5D5F2D81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029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3B0B1-62AE-D547-BE8F-04E792C3C081}"/>
              </a:ext>
            </a:extLst>
          </p:cNvPr>
          <p:cNvSpPr txBox="1"/>
          <p:nvPr/>
        </p:nvSpPr>
        <p:spPr>
          <a:xfrm>
            <a:off x="0" y="5471543"/>
            <a:ext cx="454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</a:t>
            </a:r>
            <a:r>
              <a:rPr lang="en-US" sz="1200" dirty="0" err="1"/>
              <a:t>www.audiobar.cn</a:t>
            </a:r>
            <a:r>
              <a:rPr lang="en-US" sz="1200" dirty="0"/>
              <a:t>/</a:t>
            </a:r>
            <a:r>
              <a:rPr lang="en-US" sz="1200" dirty="0" err="1"/>
              <a:t>forum.php?mod</a:t>
            </a:r>
            <a:r>
              <a:rPr lang="en-US" sz="1200" dirty="0"/>
              <a:t>=</a:t>
            </a:r>
            <a:r>
              <a:rPr lang="en-US" sz="1200" dirty="0" err="1"/>
              <a:t>viewthread&amp;tid</a:t>
            </a:r>
            <a:r>
              <a:rPr lang="en-US" sz="1200" dirty="0"/>
              <a:t>=523830</a:t>
            </a:r>
            <a:endParaRPr lang="en-CN" sz="1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F6FC45-0BF4-DC40-938C-836A4C70663F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7881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F503B-4E5A-154D-842C-FBDD00842544}"/>
              </a:ext>
            </a:extLst>
          </p:cNvPr>
          <p:cNvSpPr txBox="1"/>
          <p:nvPr/>
        </p:nvSpPr>
        <p:spPr>
          <a:xfrm>
            <a:off x="2063244" y="3066377"/>
            <a:ext cx="2372011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从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中读出数据到</a:t>
            </a:r>
            <a:r>
              <a:rPr lang="en-US" altLang="zh-CN" sz="1200" dirty="0">
                <a:latin typeface="Courier" pitchFamily="2" charset="0"/>
              </a:rPr>
              <a:t>buffer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将</a:t>
            </a:r>
            <a:r>
              <a:rPr lang="en-US" altLang="zh-CN" sz="1200" dirty="0">
                <a:latin typeface="Courier" pitchFamily="2" charset="0"/>
              </a:rPr>
              <a:t>buffer</a:t>
            </a:r>
            <a:r>
              <a:rPr lang="zh-CN" altLang="en-US" sz="1200" dirty="0">
                <a:latin typeface="Courier" pitchFamily="2" charset="0"/>
              </a:rPr>
              <a:t>中的数据写入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重复</a:t>
            </a:r>
            <a:r>
              <a:rPr lang="en-US" altLang="zh-CN" sz="1200" dirty="0">
                <a:latin typeface="Courier" pitchFamily="2" charset="0"/>
              </a:rPr>
              <a:t>3</a:t>
            </a:r>
            <a:r>
              <a:rPr lang="zh-CN" altLang="en-US" sz="1200" dirty="0">
                <a:latin typeface="Courier" pitchFamily="2" charset="0"/>
              </a:rPr>
              <a:t>、</a:t>
            </a:r>
            <a:r>
              <a:rPr lang="en-US" altLang="zh-CN" sz="1200" dirty="0">
                <a:latin typeface="Courier" pitchFamily="2" charset="0"/>
              </a:rPr>
              <a:t>4</a:t>
            </a:r>
            <a:r>
              <a:rPr lang="zh-CN" altLang="en-US" sz="1200" dirty="0">
                <a:latin typeface="Courier" pitchFamily="2" charset="0"/>
              </a:rPr>
              <a:t>直到文件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被读完</a:t>
            </a:r>
            <a:endParaRPr lang="en-US" altLang="zh-CN" sz="1200" dirty="0"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3B0B1-62AE-D547-BE8F-04E792C3C081}"/>
              </a:ext>
            </a:extLst>
          </p:cNvPr>
          <p:cNvSpPr txBox="1"/>
          <p:nvPr/>
        </p:nvSpPr>
        <p:spPr>
          <a:xfrm>
            <a:off x="0" y="5299502"/>
            <a:ext cx="22765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www.audiobar.cn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forum.php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mod=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viewthread&amp;tid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=523830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6D1F3-655D-8846-9717-D808C28EF749}"/>
              </a:ext>
            </a:extLst>
          </p:cNvPr>
          <p:cNvSpPr txBox="1"/>
          <p:nvPr/>
        </p:nvSpPr>
        <p:spPr>
          <a:xfrm>
            <a:off x="4779888" y="3072140"/>
            <a:ext cx="347265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获取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改变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X(</a:t>
            </a:r>
            <a:r>
              <a:rPr lang="en-US" altLang="zh-CN" sz="1200" dirty="0" err="1">
                <a:latin typeface="Courier" pitchFamily="2" charset="0"/>
              </a:rPr>
              <a:t>fallocate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en-US" altLang="zh-CN" sz="1200" dirty="0" err="1">
                <a:latin typeface="Courier" pitchFamily="2" charset="0"/>
              </a:rPr>
              <a:t>ftruncate</a:t>
            </a:r>
            <a:r>
              <a:rPr lang="en-US" altLang="zh-CN" sz="1200" dirty="0">
                <a:latin typeface="Courier" pitchFamily="2" charset="0"/>
              </a:rPr>
              <a:t>)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zh-CN" altLang="en-CN" sz="1200" dirty="0">
                <a:latin typeface="Courier" pitchFamily="2" charset="0"/>
              </a:rPr>
              <a:t>将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和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分别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zh-CN" altLang="en-US" sz="1200" dirty="0">
                <a:latin typeface="Courier" pitchFamily="2" charset="0"/>
              </a:rPr>
              <a:t>到内存空间</a:t>
            </a:r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6.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memcpy</a:t>
            </a:r>
            <a:endParaRPr lang="en-US" altLang="zh-CN" sz="12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01D39-13CD-634C-817D-66DE107FE424}"/>
              </a:ext>
            </a:extLst>
          </p:cNvPr>
          <p:cNvSpPr txBox="1"/>
          <p:nvPr/>
        </p:nvSpPr>
        <p:spPr>
          <a:xfrm>
            <a:off x="2063244" y="2720688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read/write</a:t>
            </a:r>
            <a:endParaRPr lang="en-C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DAC7-6292-2A41-8A6E-03B221D171FE}"/>
              </a:ext>
            </a:extLst>
          </p:cNvPr>
          <p:cNvSpPr txBox="1"/>
          <p:nvPr/>
        </p:nvSpPr>
        <p:spPr>
          <a:xfrm>
            <a:off x="4731864" y="2671680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mmap</a:t>
            </a:r>
            <a:endParaRPr lang="en-CN" sz="20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BEF1C5-35FB-A146-B151-6688A517867A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366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F503B-4E5A-154D-842C-FBDD00842544}"/>
              </a:ext>
            </a:extLst>
          </p:cNvPr>
          <p:cNvSpPr txBox="1"/>
          <p:nvPr/>
        </p:nvSpPr>
        <p:spPr>
          <a:xfrm>
            <a:off x="2063244" y="3066377"/>
            <a:ext cx="2372011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从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中读出数据到</a:t>
            </a:r>
            <a:r>
              <a:rPr lang="en-US" altLang="zh-CN" sz="1200" dirty="0">
                <a:latin typeface="Courier" pitchFamily="2" charset="0"/>
              </a:rPr>
              <a:t>buffer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将</a:t>
            </a:r>
            <a:r>
              <a:rPr lang="en-US" altLang="zh-CN" sz="1200" dirty="0">
                <a:latin typeface="Courier" pitchFamily="2" charset="0"/>
              </a:rPr>
              <a:t>buffer</a:t>
            </a:r>
            <a:r>
              <a:rPr lang="zh-CN" altLang="en-US" sz="1200" dirty="0">
                <a:latin typeface="Courier" pitchFamily="2" charset="0"/>
              </a:rPr>
              <a:t>中的数据写入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重复</a:t>
            </a:r>
            <a:r>
              <a:rPr lang="en-US" altLang="zh-CN" sz="1200" dirty="0">
                <a:latin typeface="Courier" pitchFamily="2" charset="0"/>
              </a:rPr>
              <a:t>3</a:t>
            </a:r>
            <a:r>
              <a:rPr lang="zh-CN" altLang="en-US" sz="1200" dirty="0">
                <a:latin typeface="Courier" pitchFamily="2" charset="0"/>
              </a:rPr>
              <a:t>、</a:t>
            </a:r>
            <a:r>
              <a:rPr lang="en-US" altLang="zh-CN" sz="1200" dirty="0">
                <a:latin typeface="Courier" pitchFamily="2" charset="0"/>
              </a:rPr>
              <a:t>4</a:t>
            </a:r>
            <a:r>
              <a:rPr lang="zh-CN" altLang="en-US" sz="1200" dirty="0">
                <a:latin typeface="Courier" pitchFamily="2" charset="0"/>
              </a:rPr>
              <a:t>直到文件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被读完</a:t>
            </a:r>
            <a:endParaRPr lang="en-US" altLang="zh-CN" sz="1200" dirty="0"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76D1F3-655D-8846-9717-D808C28EF749}"/>
              </a:ext>
            </a:extLst>
          </p:cNvPr>
          <p:cNvSpPr txBox="1"/>
          <p:nvPr/>
        </p:nvSpPr>
        <p:spPr>
          <a:xfrm>
            <a:off x="4779888" y="3072140"/>
            <a:ext cx="347265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获取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改变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X(</a:t>
            </a:r>
            <a:r>
              <a:rPr lang="en-US" altLang="zh-CN" sz="1200" dirty="0" err="1">
                <a:latin typeface="Courier" pitchFamily="2" charset="0"/>
              </a:rPr>
              <a:t>fallocate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en-US" altLang="zh-CN" sz="1200" dirty="0" err="1">
                <a:latin typeface="Courier" pitchFamily="2" charset="0"/>
              </a:rPr>
              <a:t>ftruncate</a:t>
            </a:r>
            <a:r>
              <a:rPr lang="en-US" altLang="zh-CN" sz="1200" dirty="0">
                <a:latin typeface="Courier" pitchFamily="2" charset="0"/>
              </a:rPr>
              <a:t>)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zh-CN" altLang="en-CN" sz="1200" dirty="0">
                <a:latin typeface="Courier" pitchFamily="2" charset="0"/>
              </a:rPr>
              <a:t>将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和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分别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zh-CN" altLang="en-US" sz="1200" dirty="0">
                <a:latin typeface="Courier" pitchFamily="2" charset="0"/>
              </a:rPr>
              <a:t>到内存空间</a:t>
            </a:r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6.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memcpy</a:t>
            </a:r>
            <a:endParaRPr lang="en-US" altLang="zh-CN" sz="12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C1D84-36BD-E943-9C57-2C467E69601D}"/>
              </a:ext>
            </a:extLst>
          </p:cNvPr>
          <p:cNvSpPr txBox="1"/>
          <p:nvPr/>
        </p:nvSpPr>
        <p:spPr>
          <a:xfrm>
            <a:off x="1551496" y="4725301"/>
            <a:ext cx="636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400" dirty="0">
                <a:solidFill>
                  <a:srgbClr val="C00000"/>
                </a:solidFill>
              </a:rPr>
              <a:t>文件越慢</a:t>
            </a:r>
            <a:r>
              <a:rPr lang="zh-CN" altLang="en-US" sz="2400" dirty="0">
                <a:solidFill>
                  <a:srgbClr val="C00000"/>
                </a:solidFill>
              </a:rPr>
              <a:t>，耗时越长！如何做到秒复制？</a:t>
            </a:r>
            <a:endParaRPr lang="en-CN" sz="2400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01D39-13CD-634C-817D-66DE107FE424}"/>
              </a:ext>
            </a:extLst>
          </p:cNvPr>
          <p:cNvSpPr txBox="1"/>
          <p:nvPr/>
        </p:nvSpPr>
        <p:spPr>
          <a:xfrm>
            <a:off x="2063244" y="2720688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read/write</a:t>
            </a:r>
            <a:endParaRPr lang="en-C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DAC7-6292-2A41-8A6E-03B221D171FE}"/>
              </a:ext>
            </a:extLst>
          </p:cNvPr>
          <p:cNvSpPr txBox="1"/>
          <p:nvPr/>
        </p:nvSpPr>
        <p:spPr>
          <a:xfrm>
            <a:off x="4731864" y="2671680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mmap</a:t>
            </a:r>
            <a:endParaRPr lang="en-CN" sz="20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309220-E1B1-AB42-9A80-01C61EF622E1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544F14A3-4806-2B44-9333-FA9A2694A8A8}"/>
              </a:ext>
            </a:extLst>
          </p:cNvPr>
          <p:cNvSpPr txBox="1"/>
          <p:nvPr/>
        </p:nvSpPr>
        <p:spPr>
          <a:xfrm>
            <a:off x="0" y="5299502"/>
            <a:ext cx="22765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www.audiobar.cn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forum.php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mod=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viewthread&amp;tid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=523830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68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克隆（</a:t>
            </a:r>
            <a:r>
              <a:rPr lang="en-US" altLang="zh-CN" dirty="0"/>
              <a:t>Clone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03EBB36-4250-AD40-929C-845BC24C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文件系统层面上的复制</a:t>
            </a:r>
            <a:endParaRPr lang="en-US" altLang="zh-CN" b="0" dirty="0"/>
          </a:p>
          <a:p>
            <a:r>
              <a:rPr lang="zh-CN" altLang="en-CN" b="0" dirty="0"/>
              <a:t>只</a:t>
            </a:r>
            <a:r>
              <a:rPr lang="zh-CN" altLang="en-US" b="0" dirty="0"/>
              <a:t>复制关键元数据</a:t>
            </a:r>
            <a:endParaRPr lang="en-US" altLang="zh-CN" b="0" dirty="0"/>
          </a:p>
          <a:p>
            <a:r>
              <a:rPr lang="zh-CN" altLang="en-CN" b="0" dirty="0"/>
              <a:t>其他部分</a:t>
            </a:r>
            <a:r>
              <a:rPr lang="en-US" altLang="zh-CN" b="0" dirty="0" err="1"/>
              <a:t>CoW</a:t>
            </a:r>
            <a:r>
              <a:rPr lang="zh-CN" altLang="en-US" b="0" dirty="0"/>
              <a:t>共享</a:t>
            </a:r>
            <a:endParaRPr lang="en-CN" b="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99E982-97AE-6C40-A0A1-868C5501B6BB}"/>
              </a:ext>
            </a:extLst>
          </p:cNvPr>
          <p:cNvGrpSpPr/>
          <p:nvPr/>
        </p:nvGrpSpPr>
        <p:grpSpPr>
          <a:xfrm>
            <a:off x="3832096" y="803797"/>
            <a:ext cx="4717130" cy="4419090"/>
            <a:chOff x="3832096" y="803797"/>
            <a:chExt cx="4717130" cy="441909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B5557E-E853-9A4C-A3A9-3FD62FA6E4D8}"/>
                </a:ext>
              </a:extLst>
            </p:cNvPr>
            <p:cNvSpPr/>
            <p:nvPr/>
          </p:nvSpPr>
          <p:spPr>
            <a:xfrm>
              <a:off x="4590325" y="1192577"/>
              <a:ext cx="584732" cy="6333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C16F64-ADBA-3540-9857-F135102F443F}"/>
                </a:ext>
              </a:extLst>
            </p:cNvPr>
            <p:cNvSpPr/>
            <p:nvPr/>
          </p:nvSpPr>
          <p:spPr>
            <a:xfrm>
              <a:off x="4590325" y="1825937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20236D-FC90-7D43-8BF5-8D0FA122BFA2}"/>
                </a:ext>
              </a:extLst>
            </p:cNvPr>
            <p:cNvSpPr/>
            <p:nvPr/>
          </p:nvSpPr>
          <p:spPr>
            <a:xfrm>
              <a:off x="4590325" y="198614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FAF219C-B018-8F44-8495-90C7E953A090}"/>
                </a:ext>
              </a:extLst>
            </p:cNvPr>
            <p:cNvSpPr/>
            <p:nvPr/>
          </p:nvSpPr>
          <p:spPr>
            <a:xfrm>
              <a:off x="4590325" y="2146344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F13AA1-B6B3-5D4B-B9E9-17B34037A343}"/>
                </a:ext>
              </a:extLst>
            </p:cNvPr>
            <p:cNvSpPr/>
            <p:nvPr/>
          </p:nvSpPr>
          <p:spPr>
            <a:xfrm>
              <a:off x="4590324" y="243665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cxnSp>
          <p:nvCxnSpPr>
            <p:cNvPr id="21" name="Curved Connector 15">
              <a:extLst>
                <a:ext uri="{FF2B5EF4-FFF2-40B4-BE49-F238E27FC236}">
                  <a16:creationId xmlns:a16="http://schemas.microsoft.com/office/drawing/2014/main" id="{DC4720F8-F164-774D-959E-E9CF84E89645}"/>
                </a:ext>
              </a:extLst>
            </p:cNvPr>
            <p:cNvCxnSpPr>
              <a:cxnSpLocks/>
              <a:stCxn id="17" idx="3"/>
              <a:endCxn id="27" idx="1"/>
            </p:cNvCxnSpPr>
            <p:nvPr/>
          </p:nvCxnSpPr>
          <p:spPr>
            <a:xfrm flipV="1">
              <a:off x="5175057" y="993400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16">
              <a:extLst>
                <a:ext uri="{FF2B5EF4-FFF2-40B4-BE49-F238E27FC236}">
                  <a16:creationId xmlns:a16="http://schemas.microsoft.com/office/drawing/2014/main" id="{71FA5ED1-C235-A54C-A3D5-3ECFB6A6F943}"/>
                </a:ext>
              </a:extLst>
            </p:cNvPr>
            <p:cNvCxnSpPr>
              <a:cxnSpLocks/>
              <a:stCxn id="18" idx="3"/>
              <a:endCxn id="28" idx="1"/>
            </p:cNvCxnSpPr>
            <p:nvPr/>
          </p:nvCxnSpPr>
          <p:spPr>
            <a:xfrm flipV="1">
              <a:off x="5175057" y="1457441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urved Connector 22">
              <a:extLst>
                <a:ext uri="{FF2B5EF4-FFF2-40B4-BE49-F238E27FC236}">
                  <a16:creationId xmlns:a16="http://schemas.microsoft.com/office/drawing/2014/main" id="{0214E3FD-F959-734C-A424-39239C70A3C5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>
              <a:off x="5175057" y="2832351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DA27593-4D8F-1A4E-BEB4-847DA9818EB1}"/>
                </a:ext>
              </a:extLst>
            </p:cNvPr>
            <p:cNvSpPr/>
            <p:nvPr/>
          </p:nvSpPr>
          <p:spPr>
            <a:xfrm>
              <a:off x="4590325" y="259096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A3132D-868B-4147-BD7B-C34C930ABECD}"/>
                </a:ext>
              </a:extLst>
            </p:cNvPr>
            <p:cNvSpPr/>
            <p:nvPr/>
          </p:nvSpPr>
          <p:spPr>
            <a:xfrm>
              <a:off x="4590325" y="2752249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557CAE-2BE5-EF42-A303-FB08D0498658}"/>
                </a:ext>
              </a:extLst>
            </p:cNvPr>
            <p:cNvSpPr/>
            <p:nvPr/>
          </p:nvSpPr>
          <p:spPr>
            <a:xfrm>
              <a:off x="4590324" y="291168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EEDAD63-F1E6-0A4A-B1D0-B9306BB2619A}"/>
                </a:ext>
              </a:extLst>
            </p:cNvPr>
            <p:cNvSpPr/>
            <p:nvPr/>
          </p:nvSpPr>
          <p:spPr>
            <a:xfrm>
              <a:off x="5728254" y="803797"/>
              <a:ext cx="489698" cy="3792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2F3336-6597-0C45-9E54-EACEDE16F622}"/>
                </a:ext>
              </a:extLst>
            </p:cNvPr>
            <p:cNvSpPr/>
            <p:nvPr/>
          </p:nvSpPr>
          <p:spPr>
            <a:xfrm>
              <a:off x="5720561" y="1267838"/>
              <a:ext cx="489698" cy="3792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BED18E-4EBC-F947-BAEC-65803749AE47}"/>
                </a:ext>
              </a:extLst>
            </p:cNvPr>
            <p:cNvSpPr/>
            <p:nvPr/>
          </p:nvSpPr>
          <p:spPr>
            <a:xfrm>
              <a:off x="8059528" y="1688295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D382E7-D778-9F46-9683-0FEDD7A94036}"/>
                </a:ext>
              </a:extLst>
            </p:cNvPr>
            <p:cNvSpPr txBox="1"/>
            <p:nvPr/>
          </p:nvSpPr>
          <p:spPr>
            <a:xfrm>
              <a:off x="7130951" y="3813483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DB3DB3-CB24-2D41-AE13-721C06292AC5}"/>
                </a:ext>
              </a:extLst>
            </p:cNvPr>
            <p:cNvSpPr txBox="1"/>
            <p:nvPr/>
          </p:nvSpPr>
          <p:spPr>
            <a:xfrm>
              <a:off x="5535979" y="3802137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二级间接索引块</a:t>
              </a:r>
              <a:endParaRPr lang="en-CN" sz="11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15FA92-EE55-C248-930C-6CDAA50A05B3}"/>
                </a:ext>
              </a:extLst>
            </p:cNvPr>
            <p:cNvSpPr/>
            <p:nvPr/>
          </p:nvSpPr>
          <p:spPr>
            <a:xfrm>
              <a:off x="5761140" y="3213191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5B67A1-9A3E-4B4E-8C2B-581F4B08D6CC}"/>
                </a:ext>
              </a:extLst>
            </p:cNvPr>
            <p:cNvSpPr/>
            <p:nvPr/>
          </p:nvSpPr>
          <p:spPr>
            <a:xfrm>
              <a:off x="5761140" y="3347358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878F16-21B6-BA44-9B17-46288E6E259D}"/>
                </a:ext>
              </a:extLst>
            </p:cNvPr>
            <p:cNvSpPr/>
            <p:nvPr/>
          </p:nvSpPr>
          <p:spPr>
            <a:xfrm>
              <a:off x="5761140" y="348152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0B52478-0E85-504E-9664-C4EFB5B5D292}"/>
                </a:ext>
              </a:extLst>
            </p:cNvPr>
            <p:cNvSpPr/>
            <p:nvPr/>
          </p:nvSpPr>
          <p:spPr>
            <a:xfrm>
              <a:off x="5761140" y="3616596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B1EBBE68-B7E5-174B-895D-0C6C81EEBF7A}"/>
                </a:ext>
              </a:extLst>
            </p:cNvPr>
            <p:cNvCxnSpPr>
              <a:cxnSpLocks/>
              <a:stCxn id="32" idx="3"/>
              <a:endCxn id="78" idx="1"/>
            </p:cNvCxnSpPr>
            <p:nvPr/>
          </p:nvCxnSpPr>
          <p:spPr>
            <a:xfrm flipV="1">
              <a:off x="6250838" y="2727247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5A568260-71D3-3D46-9FEB-971C77ABF0B2}"/>
                </a:ext>
              </a:extLst>
            </p:cNvPr>
            <p:cNvCxnSpPr>
              <a:cxnSpLocks/>
              <a:stCxn id="33" idx="3"/>
              <a:endCxn id="74" idx="1"/>
            </p:cNvCxnSpPr>
            <p:nvPr/>
          </p:nvCxnSpPr>
          <p:spPr>
            <a:xfrm flipV="1">
              <a:off x="6250838" y="3380403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07B8F7C0-CDC8-544E-A5B4-A28575E8CE8F}"/>
                </a:ext>
              </a:extLst>
            </p:cNvPr>
            <p:cNvCxnSpPr>
              <a:cxnSpLocks/>
              <a:stCxn id="35" idx="3"/>
              <a:endCxn id="70" idx="1"/>
            </p:cNvCxnSpPr>
            <p:nvPr/>
          </p:nvCxnSpPr>
          <p:spPr>
            <a:xfrm>
              <a:off x="6250838" y="3683680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E55330E-EF7D-B143-83F9-59361C27ED12}"/>
                </a:ext>
              </a:extLst>
            </p:cNvPr>
            <p:cNvGrpSpPr/>
            <p:nvPr/>
          </p:nvGrpSpPr>
          <p:grpSpPr>
            <a:xfrm>
              <a:off x="7056813" y="2660163"/>
              <a:ext cx="489698" cy="537572"/>
              <a:chOff x="7298430" y="2380870"/>
              <a:chExt cx="489698" cy="537572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CF03C11-29D0-174D-82CB-45EEDFFCD1B8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1949A09-D415-564E-99E3-11A14DEFBB4D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59FB557-B4C4-7B49-A23B-0064AFC32EFC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F5BE4D1-2F6B-0549-8B55-4F4ED93C2463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40" name="Curved Connector 35">
              <a:extLst>
                <a:ext uri="{FF2B5EF4-FFF2-40B4-BE49-F238E27FC236}">
                  <a16:creationId xmlns:a16="http://schemas.microsoft.com/office/drawing/2014/main" id="{95FBE216-615D-2B4A-9F33-6493B341E6C2}"/>
                </a:ext>
              </a:extLst>
            </p:cNvPr>
            <p:cNvCxnSpPr>
              <a:cxnSpLocks/>
              <a:stCxn id="78" idx="3"/>
              <a:endCxn id="29" idx="1"/>
            </p:cNvCxnSpPr>
            <p:nvPr/>
          </p:nvCxnSpPr>
          <p:spPr>
            <a:xfrm flipV="1">
              <a:off x="7546511" y="1877898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65F2FF8-DBAB-ED43-BA92-B9CF08608055}"/>
                </a:ext>
              </a:extLst>
            </p:cNvPr>
            <p:cNvSpPr/>
            <p:nvPr/>
          </p:nvSpPr>
          <p:spPr>
            <a:xfrm>
              <a:off x="8058193" y="2231784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4D2A12-EEA6-284A-A3C9-34853041A600}"/>
                </a:ext>
              </a:extLst>
            </p:cNvPr>
            <p:cNvSpPr/>
            <p:nvPr/>
          </p:nvSpPr>
          <p:spPr>
            <a:xfrm>
              <a:off x="8058193" y="290106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5F0883-0B7A-D148-A0A9-B4FBB7335E4D}"/>
                </a:ext>
              </a:extLst>
            </p:cNvPr>
            <p:cNvSpPr txBox="1"/>
            <p:nvPr/>
          </p:nvSpPr>
          <p:spPr>
            <a:xfrm>
              <a:off x="8172974" y="2632737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44" name="Curved Connector 39">
              <a:extLst>
                <a:ext uri="{FF2B5EF4-FFF2-40B4-BE49-F238E27FC236}">
                  <a16:creationId xmlns:a16="http://schemas.microsoft.com/office/drawing/2014/main" id="{081E6004-2C94-B145-8DFF-D288E3074DBD}"/>
                </a:ext>
              </a:extLst>
            </p:cNvPr>
            <p:cNvCxnSpPr>
              <a:cxnSpLocks/>
              <a:stCxn id="79" idx="3"/>
              <a:endCxn id="41" idx="1"/>
            </p:cNvCxnSpPr>
            <p:nvPr/>
          </p:nvCxnSpPr>
          <p:spPr>
            <a:xfrm flipV="1">
              <a:off x="7546511" y="2421387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urved Connector 40">
              <a:extLst>
                <a:ext uri="{FF2B5EF4-FFF2-40B4-BE49-F238E27FC236}">
                  <a16:creationId xmlns:a16="http://schemas.microsoft.com/office/drawing/2014/main" id="{E8BFAB72-F80E-0547-B432-4B4E7DEB7EC6}"/>
                </a:ext>
              </a:extLst>
            </p:cNvPr>
            <p:cNvCxnSpPr>
              <a:cxnSpLocks/>
              <a:stCxn id="81" idx="3"/>
              <a:endCxn id="42" idx="1"/>
            </p:cNvCxnSpPr>
            <p:nvPr/>
          </p:nvCxnSpPr>
          <p:spPr>
            <a:xfrm flipV="1">
              <a:off x="7546511" y="3090672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2E152B-5948-0443-A651-7A0820B3969E}"/>
                </a:ext>
              </a:extLst>
            </p:cNvPr>
            <p:cNvSpPr txBox="1"/>
            <p:nvPr/>
          </p:nvSpPr>
          <p:spPr>
            <a:xfrm>
              <a:off x="6856668" y="4623623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FFAB66-3BB7-D343-B258-4E52807062E4}"/>
                </a:ext>
              </a:extLst>
            </p:cNvPr>
            <p:cNvSpPr/>
            <p:nvPr/>
          </p:nvSpPr>
          <p:spPr>
            <a:xfrm>
              <a:off x="6539380" y="114300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F828DD5-943B-7F49-AA8A-8E2690F12821}"/>
                </a:ext>
              </a:extLst>
            </p:cNvPr>
            <p:cNvSpPr/>
            <p:nvPr/>
          </p:nvSpPr>
          <p:spPr>
            <a:xfrm>
              <a:off x="5736124" y="1986490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73BE036-E7EB-8448-AF28-78EE6F0838B9}"/>
                </a:ext>
              </a:extLst>
            </p:cNvPr>
            <p:cNvSpPr/>
            <p:nvPr/>
          </p:nvSpPr>
          <p:spPr>
            <a:xfrm>
              <a:off x="5736124" y="2120657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347CBBB-EB22-D440-8307-3D1CCB452D88}"/>
                </a:ext>
              </a:extLst>
            </p:cNvPr>
            <p:cNvSpPr/>
            <p:nvPr/>
          </p:nvSpPr>
          <p:spPr>
            <a:xfrm>
              <a:off x="5736124" y="2254824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D292A2-FD9E-7944-87F3-58F64C18DEB8}"/>
                </a:ext>
              </a:extLst>
            </p:cNvPr>
            <p:cNvSpPr/>
            <p:nvPr/>
          </p:nvSpPr>
          <p:spPr>
            <a:xfrm>
              <a:off x="5736124" y="238989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52" name="Curved Connector 59">
              <a:extLst>
                <a:ext uri="{FF2B5EF4-FFF2-40B4-BE49-F238E27FC236}">
                  <a16:creationId xmlns:a16="http://schemas.microsoft.com/office/drawing/2014/main" id="{6FAF9EB9-978E-D94A-A1B8-7482D46781EA}"/>
                </a:ext>
              </a:extLst>
            </p:cNvPr>
            <p:cNvCxnSpPr>
              <a:cxnSpLocks/>
              <a:stCxn id="48" idx="3"/>
              <a:endCxn id="47" idx="1"/>
            </p:cNvCxnSpPr>
            <p:nvPr/>
          </p:nvCxnSpPr>
          <p:spPr>
            <a:xfrm flipV="1">
              <a:off x="6225822" y="1332612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015473D-918A-4446-AB28-17B1E3ACEAFA}"/>
                </a:ext>
              </a:extLst>
            </p:cNvPr>
            <p:cNvSpPr/>
            <p:nvPr/>
          </p:nvSpPr>
          <p:spPr>
            <a:xfrm>
              <a:off x="6547250" y="161364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54" name="Curved Connector 62">
              <a:extLst>
                <a:ext uri="{FF2B5EF4-FFF2-40B4-BE49-F238E27FC236}">
                  <a16:creationId xmlns:a16="http://schemas.microsoft.com/office/drawing/2014/main" id="{D6A1CD45-C0AF-9045-BB69-124558283607}"/>
                </a:ext>
              </a:extLst>
            </p:cNvPr>
            <p:cNvCxnSpPr>
              <a:cxnSpLocks/>
              <a:stCxn id="49" idx="3"/>
              <a:endCxn id="53" idx="1"/>
            </p:cNvCxnSpPr>
            <p:nvPr/>
          </p:nvCxnSpPr>
          <p:spPr>
            <a:xfrm flipV="1">
              <a:off x="6225822" y="1803251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2C13C706-F624-8848-89A3-FDAB057A52E7}"/>
                </a:ext>
              </a:extLst>
            </p:cNvPr>
            <p:cNvCxnSpPr>
              <a:cxnSpLocks/>
              <a:stCxn id="24" idx="3"/>
              <a:endCxn id="48" idx="1"/>
            </p:cNvCxnSpPr>
            <p:nvPr/>
          </p:nvCxnSpPr>
          <p:spPr>
            <a:xfrm flipV="1">
              <a:off x="5175057" y="2053574"/>
              <a:ext cx="561067" cy="61749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D96F8D-876F-954D-9895-74ABB3BC0A04}"/>
                </a:ext>
              </a:extLst>
            </p:cNvPr>
            <p:cNvSpPr txBox="1"/>
            <p:nvPr/>
          </p:nvSpPr>
          <p:spPr>
            <a:xfrm>
              <a:off x="5528109" y="253503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74F11C-D1D0-BD4E-8CF6-A8D2BE096378}"/>
                </a:ext>
              </a:extLst>
            </p:cNvPr>
            <p:cNvSpPr/>
            <p:nvPr/>
          </p:nvSpPr>
          <p:spPr>
            <a:xfrm>
              <a:off x="6547250" y="217022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58" name="Curved Connector 62">
              <a:extLst>
                <a:ext uri="{FF2B5EF4-FFF2-40B4-BE49-F238E27FC236}">
                  <a16:creationId xmlns:a16="http://schemas.microsoft.com/office/drawing/2014/main" id="{A56D60C1-68A0-EF49-8A6D-02ECAB533A5E}"/>
                </a:ext>
              </a:extLst>
            </p:cNvPr>
            <p:cNvCxnSpPr>
              <a:cxnSpLocks/>
              <a:stCxn id="51" idx="3"/>
              <a:endCxn id="57" idx="1"/>
            </p:cNvCxnSpPr>
            <p:nvPr/>
          </p:nvCxnSpPr>
          <p:spPr>
            <a:xfrm flipV="1">
              <a:off x="6225822" y="2359826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B55123-33B7-6749-A04C-B449EA105976}"/>
                </a:ext>
              </a:extLst>
            </p:cNvPr>
            <p:cNvSpPr txBox="1"/>
            <p:nvPr/>
          </p:nvSpPr>
          <p:spPr>
            <a:xfrm>
              <a:off x="5563694" y="4961277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三级间接索引块</a:t>
              </a:r>
              <a:endParaRPr lang="en-CN" sz="11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8C28018-70DA-D249-83A7-1485A96B9451}"/>
                </a:ext>
              </a:extLst>
            </p:cNvPr>
            <p:cNvSpPr/>
            <p:nvPr/>
          </p:nvSpPr>
          <p:spPr>
            <a:xfrm>
              <a:off x="5788855" y="4372331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4A1B9B3-CEE5-3848-8A4F-2467935408F7}"/>
                </a:ext>
              </a:extLst>
            </p:cNvPr>
            <p:cNvSpPr/>
            <p:nvPr/>
          </p:nvSpPr>
          <p:spPr>
            <a:xfrm>
              <a:off x="5788855" y="4506498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8CB433-B39C-3D4A-8AFB-DE03EC71FBC0}"/>
                </a:ext>
              </a:extLst>
            </p:cNvPr>
            <p:cNvSpPr/>
            <p:nvPr/>
          </p:nvSpPr>
          <p:spPr>
            <a:xfrm>
              <a:off x="5788855" y="464066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1CFDA9-11E2-834F-84A6-4797190C50E1}"/>
                </a:ext>
              </a:extLst>
            </p:cNvPr>
            <p:cNvSpPr/>
            <p:nvPr/>
          </p:nvSpPr>
          <p:spPr>
            <a:xfrm>
              <a:off x="5788855" y="4775736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39C34116-A6F0-4948-9B9A-5B9793425895}"/>
                </a:ext>
              </a:extLst>
            </p:cNvPr>
            <p:cNvCxnSpPr>
              <a:cxnSpLocks/>
              <a:stCxn id="26" idx="3"/>
              <a:endCxn id="60" idx="1"/>
            </p:cNvCxnSpPr>
            <p:nvPr/>
          </p:nvCxnSpPr>
          <p:spPr>
            <a:xfrm>
              <a:off x="5175056" y="2991786"/>
              <a:ext cx="613799" cy="144762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7DE0899-452B-694D-A5D4-E77377C2EEB3}"/>
                </a:ext>
              </a:extLst>
            </p:cNvPr>
            <p:cNvSpPr txBox="1"/>
            <p:nvPr/>
          </p:nvSpPr>
          <p:spPr>
            <a:xfrm>
              <a:off x="6653825" y="1939732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9A5CA6A1-F7C9-764F-BA8C-D6A2C8EB4EB6}"/>
                </a:ext>
              </a:extLst>
            </p:cNvPr>
            <p:cNvGrpSpPr/>
            <p:nvPr/>
          </p:nvGrpSpPr>
          <p:grpSpPr>
            <a:xfrm>
              <a:off x="7056813" y="3313319"/>
              <a:ext cx="489698" cy="537572"/>
              <a:chOff x="7298430" y="2380870"/>
              <a:chExt cx="489698" cy="537572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75F1F13-0216-5B47-8D4A-A7365B4ABC43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991A007-C17F-C945-8B56-1FB992A6CF9A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150D156-B43C-9D45-8CEA-9FE0E9306D27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C06671F-98E8-8A49-A915-9C1E6395C6B5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9E6C485-8F82-3A4B-9001-30255A0FD5E5}"/>
                </a:ext>
              </a:extLst>
            </p:cNvPr>
            <p:cNvGrpSpPr/>
            <p:nvPr/>
          </p:nvGrpSpPr>
          <p:grpSpPr>
            <a:xfrm>
              <a:off x="7056813" y="4079290"/>
              <a:ext cx="489698" cy="537572"/>
              <a:chOff x="7298430" y="2380870"/>
              <a:chExt cx="489698" cy="53757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5B35D0D-08D3-6F43-9B44-02C1FC1D222C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666DBE5-AD5F-DA41-AFEC-D5C4ADCEFDF7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235FB92-DF25-5D45-88EF-4EB251E50394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A385CDA-FEB8-6440-91FE-D51282EE7350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68" name="Curved Connector 40">
              <a:extLst>
                <a:ext uri="{FF2B5EF4-FFF2-40B4-BE49-F238E27FC236}">
                  <a16:creationId xmlns:a16="http://schemas.microsoft.com/office/drawing/2014/main" id="{931A429F-74B7-CA48-9A84-2514438416D2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>
              <a:off x="7546511" y="3380403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6CECB08-088F-C64D-87CF-CA3106FC9E5F}"/>
                </a:ext>
              </a:extLst>
            </p:cNvPr>
            <p:cNvSpPr/>
            <p:nvPr/>
          </p:nvSpPr>
          <p:spPr>
            <a:xfrm>
              <a:off x="8051841" y="341670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12DF936-3BBC-854D-AEB9-B2A115925727}"/>
                </a:ext>
              </a:extLst>
            </p:cNvPr>
            <p:cNvSpPr txBox="1"/>
            <p:nvPr/>
          </p:nvSpPr>
          <p:spPr>
            <a:xfrm>
              <a:off x="3832096" y="1038357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</a:t>
              </a:r>
              <a:r>
                <a:rPr lang="en-US" altLang="zh-CN" dirty="0"/>
                <a:t>A</a:t>
              </a:r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897161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克隆（</a:t>
            </a:r>
            <a:r>
              <a:rPr lang="en-US" altLang="zh-CN" dirty="0"/>
              <a:t>Clone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5557E-E853-9A4C-A3A9-3FD62FA6E4D8}"/>
              </a:ext>
            </a:extLst>
          </p:cNvPr>
          <p:cNvSpPr/>
          <p:nvPr/>
        </p:nvSpPr>
        <p:spPr>
          <a:xfrm>
            <a:off x="4590325" y="1192577"/>
            <a:ext cx="584732" cy="633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常用</a:t>
            </a:r>
            <a:r>
              <a:rPr lang="zh-CN" altLang="en-US" sz="1000" dirty="0"/>
              <a:t>元数据</a:t>
            </a:r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C16F64-ADBA-3540-9857-F135102F443F}"/>
              </a:ext>
            </a:extLst>
          </p:cNvPr>
          <p:cNvSpPr/>
          <p:nvPr/>
        </p:nvSpPr>
        <p:spPr>
          <a:xfrm>
            <a:off x="4590325" y="1825937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20236D-FC90-7D43-8BF5-8D0FA122BFA2}"/>
              </a:ext>
            </a:extLst>
          </p:cNvPr>
          <p:cNvSpPr/>
          <p:nvPr/>
        </p:nvSpPr>
        <p:spPr>
          <a:xfrm>
            <a:off x="4590325" y="1986141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AF219C-B018-8F44-8495-90C7E953A090}"/>
              </a:ext>
            </a:extLst>
          </p:cNvPr>
          <p:cNvSpPr/>
          <p:nvPr/>
        </p:nvSpPr>
        <p:spPr>
          <a:xfrm>
            <a:off x="4590325" y="2146344"/>
            <a:ext cx="584732" cy="290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13AA1-B6B3-5D4B-B9E9-17B34037A343}"/>
              </a:ext>
            </a:extLst>
          </p:cNvPr>
          <p:cNvSpPr/>
          <p:nvPr/>
        </p:nvSpPr>
        <p:spPr>
          <a:xfrm>
            <a:off x="4590324" y="2436654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</a:t>
            </a:r>
            <a:endParaRPr lang="en-CN" sz="1000" dirty="0"/>
          </a:p>
        </p:txBody>
      </p:sp>
      <p:cxnSp>
        <p:nvCxnSpPr>
          <p:cNvPr id="21" name="Curved Connector 15">
            <a:extLst>
              <a:ext uri="{FF2B5EF4-FFF2-40B4-BE49-F238E27FC236}">
                <a16:creationId xmlns:a16="http://schemas.microsoft.com/office/drawing/2014/main" id="{DC4720F8-F164-774D-959E-E9CF84E89645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 flipV="1">
            <a:off x="5175057" y="993400"/>
            <a:ext cx="553197" cy="912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16">
            <a:extLst>
              <a:ext uri="{FF2B5EF4-FFF2-40B4-BE49-F238E27FC236}">
                <a16:creationId xmlns:a16="http://schemas.microsoft.com/office/drawing/2014/main" id="{71FA5ED1-C235-A54C-A3D5-3ECFB6A6F943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5175057" y="1457441"/>
            <a:ext cx="545504" cy="6088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214E3FD-F959-734C-A424-39239C70A3C5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5175057" y="2832351"/>
            <a:ext cx="586083" cy="4479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DA27593-4D8F-1A4E-BEB4-847DA9818EB1}"/>
              </a:ext>
            </a:extLst>
          </p:cNvPr>
          <p:cNvSpPr/>
          <p:nvPr/>
        </p:nvSpPr>
        <p:spPr>
          <a:xfrm>
            <a:off x="4590325" y="2590965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13</a:t>
            </a:r>
            <a:endParaRPr lang="en-CN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A3132D-868B-4147-BD7B-C34C930ABECD}"/>
              </a:ext>
            </a:extLst>
          </p:cNvPr>
          <p:cNvSpPr/>
          <p:nvPr/>
        </p:nvSpPr>
        <p:spPr>
          <a:xfrm>
            <a:off x="4590325" y="2752249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14</a:t>
            </a:r>
            <a:endParaRPr lang="en-CN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557CAE-2BE5-EF42-A303-FB08D0498658}"/>
              </a:ext>
            </a:extLst>
          </p:cNvPr>
          <p:cNvSpPr/>
          <p:nvPr/>
        </p:nvSpPr>
        <p:spPr>
          <a:xfrm>
            <a:off x="4590324" y="2911684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15</a:t>
            </a:r>
            <a:endParaRPr lang="en-CN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EDAD63-F1E6-0A4A-B1D0-B9306BB2619A}"/>
              </a:ext>
            </a:extLst>
          </p:cNvPr>
          <p:cNvSpPr/>
          <p:nvPr/>
        </p:nvSpPr>
        <p:spPr>
          <a:xfrm>
            <a:off x="5728254" y="803797"/>
            <a:ext cx="489698" cy="379205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2F3336-6597-0C45-9E54-EACEDE16F622}"/>
              </a:ext>
            </a:extLst>
          </p:cNvPr>
          <p:cNvSpPr/>
          <p:nvPr/>
        </p:nvSpPr>
        <p:spPr>
          <a:xfrm>
            <a:off x="5720561" y="1267838"/>
            <a:ext cx="489698" cy="379205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BED18E-4EBC-F947-BAEC-65803749AE47}"/>
              </a:ext>
            </a:extLst>
          </p:cNvPr>
          <p:cNvSpPr/>
          <p:nvPr/>
        </p:nvSpPr>
        <p:spPr>
          <a:xfrm>
            <a:off x="8059528" y="1688295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D382E7-D778-9F46-9683-0FEDD7A94036}"/>
              </a:ext>
            </a:extLst>
          </p:cNvPr>
          <p:cNvSpPr txBox="1"/>
          <p:nvPr/>
        </p:nvSpPr>
        <p:spPr>
          <a:xfrm>
            <a:off x="7130951" y="3813483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DB3DB3-CB24-2D41-AE13-721C06292AC5}"/>
              </a:ext>
            </a:extLst>
          </p:cNvPr>
          <p:cNvSpPr txBox="1"/>
          <p:nvPr/>
        </p:nvSpPr>
        <p:spPr>
          <a:xfrm>
            <a:off x="5535979" y="380213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二级间接索引块</a:t>
            </a:r>
            <a:endParaRPr lang="en-CN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15FA92-EE55-C248-930C-6CDAA50A05B3}"/>
              </a:ext>
            </a:extLst>
          </p:cNvPr>
          <p:cNvSpPr/>
          <p:nvPr/>
        </p:nvSpPr>
        <p:spPr>
          <a:xfrm>
            <a:off x="5761140" y="3213191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5B67A1-9A3E-4B4E-8C2B-581F4B08D6CC}"/>
              </a:ext>
            </a:extLst>
          </p:cNvPr>
          <p:cNvSpPr/>
          <p:nvPr/>
        </p:nvSpPr>
        <p:spPr>
          <a:xfrm>
            <a:off x="5761140" y="3347358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878F16-21B6-BA44-9B17-46288E6E259D}"/>
              </a:ext>
            </a:extLst>
          </p:cNvPr>
          <p:cNvSpPr/>
          <p:nvPr/>
        </p:nvSpPr>
        <p:spPr>
          <a:xfrm>
            <a:off x="5761140" y="348152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B52478-0E85-504E-9664-C4EFB5B5D292}"/>
              </a:ext>
            </a:extLst>
          </p:cNvPr>
          <p:cNvSpPr/>
          <p:nvPr/>
        </p:nvSpPr>
        <p:spPr>
          <a:xfrm>
            <a:off x="5761140" y="3616596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B1EBBE68-B7E5-174B-895D-0C6C81EEBF7A}"/>
              </a:ext>
            </a:extLst>
          </p:cNvPr>
          <p:cNvCxnSpPr>
            <a:cxnSpLocks/>
            <a:stCxn id="32" idx="3"/>
            <a:endCxn id="78" idx="1"/>
          </p:cNvCxnSpPr>
          <p:nvPr/>
        </p:nvCxnSpPr>
        <p:spPr>
          <a:xfrm flipV="1">
            <a:off x="6250838" y="2727247"/>
            <a:ext cx="805975" cy="55302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5A568260-71D3-3D46-9FEB-971C77ABF0B2}"/>
              </a:ext>
            </a:extLst>
          </p:cNvPr>
          <p:cNvCxnSpPr>
            <a:cxnSpLocks/>
            <a:stCxn id="33" idx="3"/>
            <a:endCxn id="74" idx="1"/>
          </p:cNvCxnSpPr>
          <p:nvPr/>
        </p:nvCxnSpPr>
        <p:spPr>
          <a:xfrm flipV="1">
            <a:off x="6250838" y="3380403"/>
            <a:ext cx="805975" cy="3403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7B8F7C0-CDC8-544E-A5B4-A28575E8CE8F}"/>
              </a:ext>
            </a:extLst>
          </p:cNvPr>
          <p:cNvCxnSpPr>
            <a:cxnSpLocks/>
            <a:stCxn id="35" idx="3"/>
            <a:endCxn id="70" idx="1"/>
          </p:cNvCxnSpPr>
          <p:nvPr/>
        </p:nvCxnSpPr>
        <p:spPr>
          <a:xfrm>
            <a:off x="6250838" y="3683680"/>
            <a:ext cx="805975" cy="46269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55330E-EF7D-B143-83F9-59361C27ED12}"/>
              </a:ext>
            </a:extLst>
          </p:cNvPr>
          <p:cNvGrpSpPr/>
          <p:nvPr/>
        </p:nvGrpSpPr>
        <p:grpSpPr>
          <a:xfrm>
            <a:off x="7056813" y="2660163"/>
            <a:ext cx="489698" cy="537572"/>
            <a:chOff x="7298430" y="2380870"/>
            <a:chExt cx="489698" cy="53757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CF03C11-29D0-174D-82CB-45EEDFFCD1B8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1949A09-D415-564E-99E3-11A14DEFBB4D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59FB557-B4C4-7B49-A23B-0064AFC32EFC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F5BE4D1-2F6B-0549-8B55-4F4ED93C2463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cxnSp>
        <p:nvCxnSpPr>
          <p:cNvPr id="40" name="Curved Connector 35">
            <a:extLst>
              <a:ext uri="{FF2B5EF4-FFF2-40B4-BE49-F238E27FC236}">
                <a16:creationId xmlns:a16="http://schemas.microsoft.com/office/drawing/2014/main" id="{95FBE216-615D-2B4A-9F33-6493B341E6C2}"/>
              </a:ext>
            </a:extLst>
          </p:cNvPr>
          <p:cNvCxnSpPr>
            <a:cxnSpLocks/>
            <a:stCxn id="78" idx="3"/>
            <a:endCxn id="29" idx="1"/>
          </p:cNvCxnSpPr>
          <p:nvPr/>
        </p:nvCxnSpPr>
        <p:spPr>
          <a:xfrm flipV="1">
            <a:off x="7546511" y="1877898"/>
            <a:ext cx="513017" cy="849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65F2FF8-DBAB-ED43-BA92-B9CF08608055}"/>
              </a:ext>
            </a:extLst>
          </p:cNvPr>
          <p:cNvSpPr/>
          <p:nvPr/>
        </p:nvSpPr>
        <p:spPr>
          <a:xfrm>
            <a:off x="8058193" y="2231784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4D2A12-EEA6-284A-A3C9-34853041A600}"/>
              </a:ext>
            </a:extLst>
          </p:cNvPr>
          <p:cNvSpPr/>
          <p:nvPr/>
        </p:nvSpPr>
        <p:spPr>
          <a:xfrm>
            <a:off x="8058193" y="2901069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5F0883-0B7A-D148-A0A9-B4FBB7335E4D}"/>
              </a:ext>
            </a:extLst>
          </p:cNvPr>
          <p:cNvSpPr txBox="1"/>
          <p:nvPr/>
        </p:nvSpPr>
        <p:spPr>
          <a:xfrm>
            <a:off x="8172974" y="2632737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cxnSp>
        <p:nvCxnSpPr>
          <p:cNvPr id="44" name="Curved Connector 39">
            <a:extLst>
              <a:ext uri="{FF2B5EF4-FFF2-40B4-BE49-F238E27FC236}">
                <a16:creationId xmlns:a16="http://schemas.microsoft.com/office/drawing/2014/main" id="{081E6004-2C94-B145-8DFF-D288E3074DBD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 flipV="1">
            <a:off x="7546511" y="2421387"/>
            <a:ext cx="511682" cy="4400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0">
            <a:extLst>
              <a:ext uri="{FF2B5EF4-FFF2-40B4-BE49-F238E27FC236}">
                <a16:creationId xmlns:a16="http://schemas.microsoft.com/office/drawing/2014/main" id="{E8BFAB72-F80E-0547-B432-4B4E7DEB7EC6}"/>
              </a:ext>
            </a:extLst>
          </p:cNvPr>
          <p:cNvCxnSpPr>
            <a:cxnSpLocks/>
            <a:stCxn id="81" idx="3"/>
            <a:endCxn id="42" idx="1"/>
          </p:cNvCxnSpPr>
          <p:nvPr/>
        </p:nvCxnSpPr>
        <p:spPr>
          <a:xfrm flipV="1">
            <a:off x="7546511" y="3090672"/>
            <a:ext cx="511682" cy="399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72E152B-5948-0443-A651-7A0820B3969E}"/>
              </a:ext>
            </a:extLst>
          </p:cNvPr>
          <p:cNvSpPr txBox="1"/>
          <p:nvPr/>
        </p:nvSpPr>
        <p:spPr>
          <a:xfrm>
            <a:off x="6856668" y="4623623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间接索引块</a:t>
            </a:r>
            <a:endParaRPr lang="en-CN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FFAB66-3BB7-D343-B258-4E52807062E4}"/>
              </a:ext>
            </a:extLst>
          </p:cNvPr>
          <p:cNvSpPr/>
          <p:nvPr/>
        </p:nvSpPr>
        <p:spPr>
          <a:xfrm>
            <a:off x="6539380" y="1143009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828DD5-943B-7F49-AA8A-8E2690F12821}"/>
              </a:ext>
            </a:extLst>
          </p:cNvPr>
          <p:cNvSpPr/>
          <p:nvPr/>
        </p:nvSpPr>
        <p:spPr>
          <a:xfrm>
            <a:off x="5736124" y="1986490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3BE036-E7EB-8448-AF28-78EE6F0838B9}"/>
              </a:ext>
            </a:extLst>
          </p:cNvPr>
          <p:cNvSpPr/>
          <p:nvPr/>
        </p:nvSpPr>
        <p:spPr>
          <a:xfrm>
            <a:off x="5736124" y="2120657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47CBBB-EB22-D440-8307-3D1CCB452D88}"/>
              </a:ext>
            </a:extLst>
          </p:cNvPr>
          <p:cNvSpPr/>
          <p:nvPr/>
        </p:nvSpPr>
        <p:spPr>
          <a:xfrm>
            <a:off x="5736124" y="2254824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D292A2-FD9E-7944-87F3-58F64C18DEB8}"/>
              </a:ext>
            </a:extLst>
          </p:cNvPr>
          <p:cNvSpPr/>
          <p:nvPr/>
        </p:nvSpPr>
        <p:spPr>
          <a:xfrm>
            <a:off x="5736124" y="238989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52" name="Curved Connector 59">
            <a:extLst>
              <a:ext uri="{FF2B5EF4-FFF2-40B4-BE49-F238E27FC236}">
                <a16:creationId xmlns:a16="http://schemas.microsoft.com/office/drawing/2014/main" id="{6FAF9EB9-978E-D94A-A1B8-7482D46781EA}"/>
              </a:ext>
            </a:extLst>
          </p:cNvPr>
          <p:cNvCxnSpPr>
            <a:cxnSpLocks/>
            <a:stCxn id="48" idx="3"/>
            <a:endCxn id="47" idx="1"/>
          </p:cNvCxnSpPr>
          <p:nvPr/>
        </p:nvCxnSpPr>
        <p:spPr>
          <a:xfrm flipV="1">
            <a:off x="6225822" y="1332612"/>
            <a:ext cx="313558" cy="720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015473D-918A-4446-AB28-17B1E3ACEAFA}"/>
              </a:ext>
            </a:extLst>
          </p:cNvPr>
          <p:cNvSpPr/>
          <p:nvPr/>
        </p:nvSpPr>
        <p:spPr>
          <a:xfrm>
            <a:off x="6547250" y="1613648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cxnSp>
        <p:nvCxnSpPr>
          <p:cNvPr id="54" name="Curved Connector 62">
            <a:extLst>
              <a:ext uri="{FF2B5EF4-FFF2-40B4-BE49-F238E27FC236}">
                <a16:creationId xmlns:a16="http://schemas.microsoft.com/office/drawing/2014/main" id="{D6A1CD45-C0AF-9045-BB69-124558283607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6225822" y="1803251"/>
            <a:ext cx="321428" cy="384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2C13C706-F624-8848-89A3-FDAB057A52E7}"/>
              </a:ext>
            </a:extLst>
          </p:cNvPr>
          <p:cNvCxnSpPr>
            <a:cxnSpLocks/>
            <a:stCxn id="24" idx="3"/>
            <a:endCxn id="48" idx="1"/>
          </p:cNvCxnSpPr>
          <p:nvPr/>
        </p:nvCxnSpPr>
        <p:spPr>
          <a:xfrm flipV="1">
            <a:off x="5175057" y="2053574"/>
            <a:ext cx="561067" cy="61749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2D96F8D-876F-954D-9895-74ABB3BC0A04}"/>
              </a:ext>
            </a:extLst>
          </p:cNvPr>
          <p:cNvSpPr txBox="1"/>
          <p:nvPr/>
        </p:nvSpPr>
        <p:spPr>
          <a:xfrm>
            <a:off x="5528109" y="253503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间接索引块</a:t>
            </a:r>
            <a:endParaRPr lang="en-CN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74F11C-D1D0-BD4E-8CF6-A8D2BE096378}"/>
              </a:ext>
            </a:extLst>
          </p:cNvPr>
          <p:cNvSpPr/>
          <p:nvPr/>
        </p:nvSpPr>
        <p:spPr>
          <a:xfrm>
            <a:off x="6547250" y="2170223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cxnSp>
        <p:nvCxnSpPr>
          <p:cNvPr id="58" name="Curved Connector 62">
            <a:extLst>
              <a:ext uri="{FF2B5EF4-FFF2-40B4-BE49-F238E27FC236}">
                <a16:creationId xmlns:a16="http://schemas.microsoft.com/office/drawing/2014/main" id="{A56D60C1-68A0-EF49-8A6D-02ECAB533A5E}"/>
              </a:ext>
            </a:extLst>
          </p:cNvPr>
          <p:cNvCxnSpPr>
            <a:cxnSpLocks/>
            <a:stCxn id="51" idx="3"/>
            <a:endCxn id="57" idx="1"/>
          </p:cNvCxnSpPr>
          <p:nvPr/>
        </p:nvCxnSpPr>
        <p:spPr>
          <a:xfrm flipV="1">
            <a:off x="6225822" y="2359826"/>
            <a:ext cx="321428" cy="97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CB55123-33B7-6749-A04C-B449EA105976}"/>
              </a:ext>
            </a:extLst>
          </p:cNvPr>
          <p:cNvSpPr txBox="1"/>
          <p:nvPr/>
        </p:nvSpPr>
        <p:spPr>
          <a:xfrm>
            <a:off x="5563694" y="496127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三级间接索引块</a:t>
            </a:r>
            <a:endParaRPr lang="en-CN" sz="11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C28018-70DA-D249-83A7-1485A96B9451}"/>
              </a:ext>
            </a:extLst>
          </p:cNvPr>
          <p:cNvSpPr/>
          <p:nvPr/>
        </p:nvSpPr>
        <p:spPr>
          <a:xfrm>
            <a:off x="5788855" y="4372331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A1B9B3-CEE5-3848-8A4F-2467935408F7}"/>
              </a:ext>
            </a:extLst>
          </p:cNvPr>
          <p:cNvSpPr/>
          <p:nvPr/>
        </p:nvSpPr>
        <p:spPr>
          <a:xfrm>
            <a:off x="5788855" y="4506498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8CB433-B39C-3D4A-8AFB-DE03EC71FBC0}"/>
              </a:ext>
            </a:extLst>
          </p:cNvPr>
          <p:cNvSpPr/>
          <p:nvPr/>
        </p:nvSpPr>
        <p:spPr>
          <a:xfrm>
            <a:off x="5788855" y="464066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1CFDA9-11E2-834F-84A6-4797190C50E1}"/>
              </a:ext>
            </a:extLst>
          </p:cNvPr>
          <p:cNvSpPr/>
          <p:nvPr/>
        </p:nvSpPr>
        <p:spPr>
          <a:xfrm>
            <a:off x="5788855" y="4775736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39C34116-A6F0-4948-9B9A-5B9793425895}"/>
              </a:ext>
            </a:extLst>
          </p:cNvPr>
          <p:cNvCxnSpPr>
            <a:cxnSpLocks/>
            <a:stCxn id="26" idx="3"/>
            <a:endCxn id="60" idx="1"/>
          </p:cNvCxnSpPr>
          <p:nvPr/>
        </p:nvCxnSpPr>
        <p:spPr>
          <a:xfrm>
            <a:off x="5175056" y="2991786"/>
            <a:ext cx="613799" cy="144762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7DE0899-452B-694D-A5D4-E77377C2EEB3}"/>
              </a:ext>
            </a:extLst>
          </p:cNvPr>
          <p:cNvSpPr txBox="1"/>
          <p:nvPr/>
        </p:nvSpPr>
        <p:spPr>
          <a:xfrm>
            <a:off x="6653825" y="1939732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A5CA6A1-F7C9-764F-BA8C-D6A2C8EB4EB6}"/>
              </a:ext>
            </a:extLst>
          </p:cNvPr>
          <p:cNvGrpSpPr/>
          <p:nvPr/>
        </p:nvGrpSpPr>
        <p:grpSpPr>
          <a:xfrm>
            <a:off x="7056813" y="3313319"/>
            <a:ext cx="489698" cy="537572"/>
            <a:chOff x="7298430" y="2380870"/>
            <a:chExt cx="489698" cy="53757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75F1F13-0216-5B47-8D4A-A7365B4ABC43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91A007-C17F-C945-8B56-1FB992A6CF9A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50D156-B43C-9D45-8CEA-9FE0E9306D27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C06671F-98E8-8A49-A915-9C1E6395C6B5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9E6C485-8F82-3A4B-9001-30255A0FD5E5}"/>
              </a:ext>
            </a:extLst>
          </p:cNvPr>
          <p:cNvGrpSpPr/>
          <p:nvPr/>
        </p:nvGrpSpPr>
        <p:grpSpPr>
          <a:xfrm>
            <a:off x="7056813" y="4079290"/>
            <a:ext cx="489698" cy="537572"/>
            <a:chOff x="7298430" y="2380870"/>
            <a:chExt cx="489698" cy="53757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5B35D0D-08D3-6F43-9B44-02C1FC1D222C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666DBE5-AD5F-DA41-AFEC-D5C4ADCEFDF7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235FB92-DF25-5D45-88EF-4EB251E50394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A385CDA-FEB8-6440-91FE-D51282EE7350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cxnSp>
        <p:nvCxnSpPr>
          <p:cNvPr id="68" name="Curved Connector 40">
            <a:extLst>
              <a:ext uri="{FF2B5EF4-FFF2-40B4-BE49-F238E27FC236}">
                <a16:creationId xmlns:a16="http://schemas.microsoft.com/office/drawing/2014/main" id="{931A429F-74B7-CA48-9A84-2514438416D2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7546511" y="3380403"/>
            <a:ext cx="511682" cy="1079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D6CECB08-088F-C64D-87CF-CA3106FC9E5F}"/>
              </a:ext>
            </a:extLst>
          </p:cNvPr>
          <p:cNvSpPr/>
          <p:nvPr/>
        </p:nvSpPr>
        <p:spPr>
          <a:xfrm>
            <a:off x="8051841" y="3416702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03EBB36-4250-AD40-929C-845BC24C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文件系统层面上的复制</a:t>
            </a:r>
            <a:endParaRPr lang="en-US" altLang="zh-CN" b="0" dirty="0"/>
          </a:p>
          <a:p>
            <a:r>
              <a:rPr lang="zh-CN" altLang="en-CN" b="0" dirty="0"/>
              <a:t>只</a:t>
            </a:r>
            <a:r>
              <a:rPr lang="zh-CN" altLang="en-US" b="0" dirty="0"/>
              <a:t>复制关键元数据</a:t>
            </a:r>
            <a:endParaRPr lang="en-US" altLang="zh-CN" b="0" dirty="0"/>
          </a:p>
          <a:p>
            <a:r>
              <a:rPr lang="zh-CN" altLang="en-CN" b="0" dirty="0"/>
              <a:t>其他部分</a:t>
            </a:r>
            <a:r>
              <a:rPr lang="en-US" altLang="zh-CN" b="0" dirty="0" err="1"/>
              <a:t>CoW</a:t>
            </a:r>
            <a:r>
              <a:rPr lang="zh-CN" altLang="en-US" b="0" dirty="0"/>
              <a:t>共享</a:t>
            </a:r>
            <a:endParaRPr lang="en-CN" b="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E226F5-4286-874B-A485-6754E8CD0034}"/>
              </a:ext>
            </a:extLst>
          </p:cNvPr>
          <p:cNvGrpSpPr/>
          <p:nvPr/>
        </p:nvGrpSpPr>
        <p:grpSpPr>
          <a:xfrm>
            <a:off x="3295581" y="3285510"/>
            <a:ext cx="584733" cy="1879311"/>
            <a:chOff x="3642830" y="2940428"/>
            <a:chExt cx="584733" cy="187931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DD23EE-F85B-D245-A9D0-00A785B28BF6}"/>
                </a:ext>
              </a:extLst>
            </p:cNvPr>
            <p:cNvSpPr/>
            <p:nvPr/>
          </p:nvSpPr>
          <p:spPr>
            <a:xfrm>
              <a:off x="3642831" y="2940428"/>
              <a:ext cx="584732" cy="63336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3C55F3B-9374-6548-BF2D-D3B72EC9ED69}"/>
                </a:ext>
              </a:extLst>
            </p:cNvPr>
            <p:cNvSpPr/>
            <p:nvPr/>
          </p:nvSpPr>
          <p:spPr>
            <a:xfrm>
              <a:off x="3642831" y="3573788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7A600AD-AA50-AE42-B16C-258A78A89350}"/>
                </a:ext>
              </a:extLst>
            </p:cNvPr>
            <p:cNvSpPr/>
            <p:nvPr/>
          </p:nvSpPr>
          <p:spPr>
            <a:xfrm>
              <a:off x="3642831" y="3733992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755C321-7118-094E-8391-8C185A09FA1E}"/>
                </a:ext>
              </a:extLst>
            </p:cNvPr>
            <p:cNvSpPr/>
            <p:nvPr/>
          </p:nvSpPr>
          <p:spPr>
            <a:xfrm>
              <a:off x="3642831" y="3894195"/>
              <a:ext cx="584732" cy="290309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EC282EF-C429-094C-9017-08B51B5829BA}"/>
                </a:ext>
              </a:extLst>
            </p:cNvPr>
            <p:cNvSpPr/>
            <p:nvPr/>
          </p:nvSpPr>
          <p:spPr>
            <a:xfrm>
              <a:off x="3642830" y="4184505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48F8871-D7D1-F545-A5CA-3D113CBFEF46}"/>
                </a:ext>
              </a:extLst>
            </p:cNvPr>
            <p:cNvSpPr/>
            <p:nvPr/>
          </p:nvSpPr>
          <p:spPr>
            <a:xfrm>
              <a:off x="3642831" y="4338816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27F0BE7-87A0-654A-B677-ED57E86370E6}"/>
                </a:ext>
              </a:extLst>
            </p:cNvPr>
            <p:cNvSpPr/>
            <p:nvPr/>
          </p:nvSpPr>
          <p:spPr>
            <a:xfrm>
              <a:off x="3642831" y="4500100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4E02D3-1FDE-2F4C-931A-E8470684B02A}"/>
                </a:ext>
              </a:extLst>
            </p:cNvPr>
            <p:cNvSpPr/>
            <p:nvPr/>
          </p:nvSpPr>
          <p:spPr>
            <a:xfrm>
              <a:off x="3642830" y="4659535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</p:grpSp>
      <p:cxnSp>
        <p:nvCxnSpPr>
          <p:cNvPr id="91" name="Curved Connector 15">
            <a:extLst>
              <a:ext uri="{FF2B5EF4-FFF2-40B4-BE49-F238E27FC236}">
                <a16:creationId xmlns:a16="http://schemas.microsoft.com/office/drawing/2014/main" id="{801D0514-2D9C-4047-9330-7B0C0EF617AA}"/>
              </a:ext>
            </a:extLst>
          </p:cNvPr>
          <p:cNvCxnSpPr>
            <a:cxnSpLocks/>
            <a:stCxn id="84" idx="3"/>
            <a:endCxn id="27" idx="1"/>
          </p:cNvCxnSpPr>
          <p:nvPr/>
        </p:nvCxnSpPr>
        <p:spPr>
          <a:xfrm flipV="1">
            <a:off x="3880314" y="993400"/>
            <a:ext cx="1847940" cy="300557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16">
            <a:extLst>
              <a:ext uri="{FF2B5EF4-FFF2-40B4-BE49-F238E27FC236}">
                <a16:creationId xmlns:a16="http://schemas.microsoft.com/office/drawing/2014/main" id="{EAF703EF-0C41-7F4F-B837-5E9E531455EC}"/>
              </a:ext>
            </a:extLst>
          </p:cNvPr>
          <p:cNvCxnSpPr>
            <a:cxnSpLocks/>
            <a:stCxn id="85" idx="3"/>
            <a:endCxn id="28" idx="1"/>
          </p:cNvCxnSpPr>
          <p:nvPr/>
        </p:nvCxnSpPr>
        <p:spPr>
          <a:xfrm flipV="1">
            <a:off x="3880314" y="1457441"/>
            <a:ext cx="1840247" cy="27017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29846FB0-4A04-1B44-BCB8-38F3A9D5CA41}"/>
              </a:ext>
            </a:extLst>
          </p:cNvPr>
          <p:cNvCxnSpPr>
            <a:cxnSpLocks/>
            <a:stCxn id="89" idx="3"/>
            <a:endCxn id="32" idx="1"/>
          </p:cNvCxnSpPr>
          <p:nvPr/>
        </p:nvCxnSpPr>
        <p:spPr>
          <a:xfrm flipV="1">
            <a:off x="3880314" y="3280275"/>
            <a:ext cx="1880826" cy="1645009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urved Connector 93">
            <a:extLst>
              <a:ext uri="{FF2B5EF4-FFF2-40B4-BE49-F238E27FC236}">
                <a16:creationId xmlns:a16="http://schemas.microsoft.com/office/drawing/2014/main" id="{F3567589-89D5-E04C-8D02-A505BB276DA5}"/>
              </a:ext>
            </a:extLst>
          </p:cNvPr>
          <p:cNvCxnSpPr>
            <a:cxnSpLocks/>
            <a:stCxn id="88" idx="3"/>
            <a:endCxn id="48" idx="1"/>
          </p:cNvCxnSpPr>
          <p:nvPr/>
        </p:nvCxnSpPr>
        <p:spPr>
          <a:xfrm flipV="1">
            <a:off x="3880314" y="2053574"/>
            <a:ext cx="1855810" cy="2710426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94">
            <a:extLst>
              <a:ext uri="{FF2B5EF4-FFF2-40B4-BE49-F238E27FC236}">
                <a16:creationId xmlns:a16="http://schemas.microsoft.com/office/drawing/2014/main" id="{E00EE86E-8B45-6C4A-A5A1-7E73B57E6796}"/>
              </a:ext>
            </a:extLst>
          </p:cNvPr>
          <p:cNvCxnSpPr>
            <a:cxnSpLocks/>
            <a:stCxn id="90" idx="3"/>
            <a:endCxn id="60" idx="1"/>
          </p:cNvCxnSpPr>
          <p:nvPr/>
        </p:nvCxnSpPr>
        <p:spPr>
          <a:xfrm flipV="1">
            <a:off x="3880313" y="4439415"/>
            <a:ext cx="1908542" cy="645304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FBBCBA7-28BE-7E47-A278-BC5A24259F87}"/>
              </a:ext>
            </a:extLst>
          </p:cNvPr>
          <p:cNvSpPr txBox="1"/>
          <p:nvPr/>
        </p:nvSpPr>
        <p:spPr>
          <a:xfrm>
            <a:off x="5965410" y="6007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A00CAA-B215-634A-A08E-68C6B83024EF}"/>
              </a:ext>
            </a:extLst>
          </p:cNvPr>
          <p:cNvSpPr txBox="1"/>
          <p:nvPr/>
        </p:nvSpPr>
        <p:spPr>
          <a:xfrm>
            <a:off x="5870596" y="113543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8605C2-0826-E24D-9200-EDEB591E5926}"/>
              </a:ext>
            </a:extLst>
          </p:cNvPr>
          <p:cNvSpPr txBox="1"/>
          <p:nvPr/>
        </p:nvSpPr>
        <p:spPr>
          <a:xfrm>
            <a:off x="5724918" y="177873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E5C5B2-5502-2842-9295-1BDD7B6DAA55}"/>
              </a:ext>
            </a:extLst>
          </p:cNvPr>
          <p:cNvSpPr txBox="1"/>
          <p:nvPr/>
        </p:nvSpPr>
        <p:spPr>
          <a:xfrm>
            <a:off x="5821724" y="298082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37BBE66-C0F3-D34B-AB3E-B266603ED2A7}"/>
              </a:ext>
            </a:extLst>
          </p:cNvPr>
          <p:cNvSpPr txBox="1"/>
          <p:nvPr/>
        </p:nvSpPr>
        <p:spPr>
          <a:xfrm>
            <a:off x="5878892" y="41587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12DF936-3BBC-854D-AEB9-B2A115925727}"/>
              </a:ext>
            </a:extLst>
          </p:cNvPr>
          <p:cNvSpPr txBox="1"/>
          <p:nvPr/>
        </p:nvSpPr>
        <p:spPr>
          <a:xfrm>
            <a:off x="3832096" y="103835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文件</a:t>
            </a:r>
            <a:r>
              <a:rPr lang="en-US" altLang="zh-CN" dirty="0"/>
              <a:t>A</a:t>
            </a:r>
            <a:endParaRPr lang="en-CN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2499E6B-E4F1-0D4A-BC1A-1C911B83541D}"/>
              </a:ext>
            </a:extLst>
          </p:cNvPr>
          <p:cNvSpPr txBox="1"/>
          <p:nvPr/>
        </p:nvSpPr>
        <p:spPr>
          <a:xfrm>
            <a:off x="2898801" y="290901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文件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650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71FF-7C20-CD43-B96C-8F50183D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快照</a:t>
            </a:r>
            <a:r>
              <a:rPr lang="zh-CN" altLang="en-US" dirty="0"/>
              <a:t>（</a:t>
            </a:r>
            <a:r>
              <a:rPr lang="en-US" altLang="zh-CN" dirty="0"/>
              <a:t>Snapshot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4159-A6EE-4D4F-A7B7-43A97D7B0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同样使用</a:t>
            </a:r>
            <a:r>
              <a:rPr lang="en-US" altLang="zh-CN" b="0" dirty="0" err="1"/>
              <a:t>CoW</a:t>
            </a:r>
            <a:endParaRPr lang="en-US" altLang="zh-CN" b="0" dirty="0"/>
          </a:p>
          <a:p>
            <a:r>
              <a:rPr lang="zh-CN" altLang="en-US" b="0" dirty="0"/>
              <a:t>对于基于</a:t>
            </a:r>
            <a:r>
              <a:rPr lang="en-US" altLang="zh-CN" b="0" dirty="0" err="1"/>
              <a:t>inode</a:t>
            </a:r>
            <a:r>
              <a:rPr lang="zh-CN" altLang="en-US" b="0" dirty="0"/>
              <a:t>表的文件系统</a:t>
            </a:r>
            <a:endParaRPr lang="en-US" altLang="zh-CN" b="0" dirty="0"/>
          </a:p>
          <a:p>
            <a:pPr lvl="1"/>
            <a:r>
              <a:rPr lang="zh-CN" altLang="en-CN" b="0" dirty="0"/>
              <a:t>将</a:t>
            </a:r>
            <a:r>
              <a:rPr lang="en-US" altLang="zh-CN" b="0" dirty="0" err="1"/>
              <a:t>inode</a:t>
            </a:r>
            <a:r>
              <a:rPr lang="zh-CN" altLang="en-US" b="0" dirty="0"/>
              <a:t>表拷贝一份作为快照保存</a:t>
            </a:r>
            <a:endParaRPr lang="en-US" altLang="zh-CN" b="0" dirty="0"/>
          </a:p>
          <a:p>
            <a:pPr lvl="1"/>
            <a:r>
              <a:rPr lang="zh-CN" altLang="en-US" dirty="0"/>
              <a:t>标记已用数据区为</a:t>
            </a:r>
            <a:r>
              <a:rPr lang="en-US" altLang="zh-CN" dirty="0" err="1"/>
              <a:t>CoW</a:t>
            </a:r>
            <a:endParaRPr lang="en-US" altLang="zh-CN" b="0" dirty="0"/>
          </a:p>
          <a:p>
            <a:r>
              <a:rPr lang="zh-CN" altLang="en-US" b="0" dirty="0"/>
              <a:t>对于树状结构的文件系统</a:t>
            </a:r>
            <a:endParaRPr lang="en-US" altLang="zh-CN" b="0" dirty="0"/>
          </a:p>
          <a:p>
            <a:pPr lvl="1"/>
            <a:r>
              <a:rPr lang="zh-CN" altLang="en-US" dirty="0"/>
              <a:t>将树根拷贝一份作为快照保存</a:t>
            </a:r>
            <a:endParaRPr lang="en-US" altLang="zh-CN" dirty="0"/>
          </a:p>
          <a:p>
            <a:pPr lvl="1"/>
            <a:r>
              <a:rPr lang="zh-CN" altLang="en-US" b="0" dirty="0"/>
              <a:t>树根以下的节点标记为</a:t>
            </a:r>
            <a:r>
              <a:rPr lang="en-US" altLang="zh-CN" b="0" dirty="0" err="1"/>
              <a:t>CoW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1B455-F051-E445-A2CB-CD28645F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6BF15-6590-6846-9099-DEF983E3C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113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B96E-B839-4242-9CFB-EAB2CF594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一个</a:t>
            </a:r>
            <a:r>
              <a:rPr lang="zh-CN" altLang="en-US" b="0" dirty="0"/>
              <a:t>文件大部分数据为</a:t>
            </a:r>
            <a:r>
              <a:rPr lang="en-US" altLang="zh-CN" b="0" dirty="0"/>
              <a:t>0</a:t>
            </a:r>
            <a:r>
              <a:rPr lang="zh-CN" altLang="en-US" b="0" dirty="0"/>
              <a:t>，则为稀疏文件</a:t>
            </a:r>
            <a:endParaRPr lang="en-US" altLang="zh-CN" b="0" dirty="0"/>
          </a:p>
          <a:p>
            <a:pPr lvl="1"/>
            <a:r>
              <a:rPr lang="zh-CN" altLang="en-US" b="0" dirty="0"/>
              <a:t>如</a:t>
            </a:r>
            <a:r>
              <a:rPr lang="zh-CN" altLang="en-CN" b="0" dirty="0"/>
              <a:t>虚拟机</a:t>
            </a:r>
            <a:r>
              <a:rPr lang="zh-CN" altLang="en-US" b="0" dirty="0"/>
              <a:t>镜像文件</a:t>
            </a:r>
            <a:endParaRPr lang="en-US" altLang="zh-CN" b="0" dirty="0"/>
          </a:p>
          <a:p>
            <a:r>
              <a:rPr lang="zh-CN" altLang="en-US" b="0" dirty="0"/>
              <a:t>稀疏文件中大量的</a:t>
            </a:r>
            <a:r>
              <a:rPr lang="en-US" altLang="zh-CN" b="0" dirty="0"/>
              <a:t>0</a:t>
            </a:r>
            <a:r>
              <a:rPr lang="zh-CN" altLang="en-US" b="0" dirty="0"/>
              <a:t>数据，浪费存储空间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584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33146D6-A6CB-F546-B3DC-E5244CF1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在索引中增加标记</a:t>
            </a:r>
            <a:endParaRPr lang="en-US" altLang="zh-CN" b="0" dirty="0"/>
          </a:p>
          <a:p>
            <a:r>
              <a:rPr lang="zh-CN" altLang="en-CN" b="0" dirty="0"/>
              <a:t>删除</a:t>
            </a:r>
            <a:r>
              <a:rPr lang="zh-CN" altLang="en-US" b="0" dirty="0"/>
              <a:t>全</a:t>
            </a:r>
            <a:r>
              <a:rPr lang="en-US" altLang="zh-CN" b="0" dirty="0"/>
              <a:t>0</a:t>
            </a:r>
            <a:r>
              <a:rPr lang="zh-CN" altLang="en-US" b="0" dirty="0"/>
              <a:t>块</a:t>
            </a:r>
            <a:endParaRPr lang="en-CN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E2242F-3A86-7C4F-AC4F-C258B978B0C3}"/>
              </a:ext>
            </a:extLst>
          </p:cNvPr>
          <p:cNvGrpSpPr/>
          <p:nvPr/>
        </p:nvGrpSpPr>
        <p:grpSpPr>
          <a:xfrm>
            <a:off x="2843808" y="696103"/>
            <a:ext cx="5633032" cy="4640560"/>
            <a:chOff x="3261229" y="597933"/>
            <a:chExt cx="5633032" cy="46405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935E4A-4C10-8143-A1BE-F89E6F46508A}"/>
                </a:ext>
              </a:extLst>
            </p:cNvPr>
            <p:cNvSpPr/>
            <p:nvPr/>
          </p:nvSpPr>
          <p:spPr>
            <a:xfrm>
              <a:off x="3261229" y="1742949"/>
              <a:ext cx="671659" cy="727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常用</a:t>
              </a:r>
              <a:r>
                <a:rPr lang="zh-CN" altLang="en-US" sz="1100" dirty="0"/>
                <a:t>元数据</a:t>
              </a:r>
              <a:endParaRPr lang="en-CN" sz="11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329C1-55C2-2244-8038-A611EA6C5BBD}"/>
                </a:ext>
              </a:extLst>
            </p:cNvPr>
            <p:cNvSpPr/>
            <p:nvPr/>
          </p:nvSpPr>
          <p:spPr>
            <a:xfrm>
              <a:off x="3261229" y="2470466"/>
              <a:ext cx="671659" cy="1840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树</a:t>
              </a:r>
              <a:r>
                <a:rPr lang="zh-CN" altLang="en-US" sz="1100" dirty="0"/>
                <a:t>根</a:t>
              </a:r>
              <a:endParaRPr lang="en-CN" sz="11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90064DF8-C625-8743-A97E-45CABD95F903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 flipV="1">
              <a:off x="3932888" y="2266686"/>
              <a:ext cx="403491" cy="29579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D0D9A4F-F4EC-7A4B-A63F-60A650F06B79}"/>
                </a:ext>
              </a:extLst>
            </p:cNvPr>
            <p:cNvSpPr/>
            <p:nvPr/>
          </p:nvSpPr>
          <p:spPr>
            <a:xfrm>
              <a:off x="4336379" y="21746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偏移量</a:t>
              </a:r>
              <a:endParaRPr lang="en-CN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55C0D2-936E-C14A-A8DC-1A9073B3FE05}"/>
                </a:ext>
              </a:extLst>
            </p:cNvPr>
            <p:cNvSpPr/>
            <p:nvPr/>
          </p:nvSpPr>
          <p:spPr>
            <a:xfrm>
              <a:off x="4336379" y="2358697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子节点</a:t>
              </a:r>
              <a:endParaRPr lang="en-CN" sz="11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30E7C58-8572-6741-9910-197E24B25DF1}"/>
                </a:ext>
              </a:extLst>
            </p:cNvPr>
            <p:cNvSpPr/>
            <p:nvPr/>
          </p:nvSpPr>
          <p:spPr>
            <a:xfrm>
              <a:off x="4336379" y="254395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>
                  <a:solidFill>
                    <a:srgbClr val="000000"/>
                  </a:solidFill>
                </a:rPr>
                <a:t>偏移量</a:t>
              </a:r>
              <a:endParaRPr lang="en-CN" sz="11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52196F-3419-7E49-B182-2649735049BD}"/>
                </a:ext>
              </a:extLst>
            </p:cNvPr>
            <p:cNvSpPr txBox="1"/>
            <p:nvPr/>
          </p:nvSpPr>
          <p:spPr>
            <a:xfrm>
              <a:off x="4202756" y="3748947"/>
              <a:ext cx="861020" cy="29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索引节点</a:t>
              </a:r>
              <a:endParaRPr lang="en-CN" sz="1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5A53824-CD19-4445-BFC6-D922E7E789C7}"/>
                </a:ext>
              </a:extLst>
            </p:cNvPr>
            <p:cNvSpPr/>
            <p:nvPr/>
          </p:nvSpPr>
          <p:spPr>
            <a:xfrm>
              <a:off x="4336378" y="27265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2D2177-86F2-D840-871D-291A15668FC7}"/>
                </a:ext>
              </a:extLst>
            </p:cNvPr>
            <p:cNvSpPr/>
            <p:nvPr/>
          </p:nvSpPr>
          <p:spPr>
            <a:xfrm>
              <a:off x="4336378" y="292950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zh-CN" altLang="en-US" sz="1050" dirty="0">
                  <a:solidFill>
                    <a:srgbClr val="000000"/>
                  </a:solidFill>
                </a:rPr>
                <a:t>偏移量</a:t>
              </a:r>
              <a:endParaRPr lang="en-CN" sz="1050" dirty="0"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3B8FD-B4F5-DB46-8418-36CDE18E7F0A}"/>
                </a:ext>
              </a:extLst>
            </p:cNvPr>
            <p:cNvSpPr/>
            <p:nvPr/>
          </p:nvSpPr>
          <p:spPr>
            <a:xfrm>
              <a:off x="4336378" y="311352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E04EB8E-972E-324C-89CB-83BF11E91669}"/>
                </a:ext>
              </a:extLst>
            </p:cNvPr>
            <p:cNvSpPr/>
            <p:nvPr/>
          </p:nvSpPr>
          <p:spPr>
            <a:xfrm>
              <a:off x="7264966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449A6AC-F483-5145-B20B-7BDF72AA46ED}"/>
                </a:ext>
              </a:extLst>
            </p:cNvPr>
            <p:cNvSpPr/>
            <p:nvPr/>
          </p:nvSpPr>
          <p:spPr>
            <a:xfrm>
              <a:off x="7264965" y="169933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9F3AB97-0D1C-6E4A-A9BF-E655F4BC66FD}"/>
                </a:ext>
              </a:extLst>
            </p:cNvPr>
            <p:cNvSpPr/>
            <p:nvPr/>
          </p:nvSpPr>
          <p:spPr>
            <a:xfrm>
              <a:off x="7264965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87" name="Curved Connector 86">
              <a:extLst>
                <a:ext uri="{FF2B5EF4-FFF2-40B4-BE49-F238E27FC236}">
                  <a16:creationId xmlns:a16="http://schemas.microsoft.com/office/drawing/2014/main" id="{8FB23CD4-BFCB-264D-8D41-56295DC9D847}"/>
                </a:ext>
              </a:extLst>
            </p:cNvPr>
            <p:cNvCxnSpPr>
              <a:cxnSpLocks/>
              <a:stCxn id="125" idx="3"/>
              <a:endCxn id="84" idx="1"/>
            </p:cNvCxnSpPr>
            <p:nvPr/>
          </p:nvCxnSpPr>
          <p:spPr>
            <a:xfrm flipV="1">
              <a:off x="6495554" y="1271151"/>
              <a:ext cx="769412" cy="328403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urved Connector 87">
              <a:extLst>
                <a:ext uri="{FF2B5EF4-FFF2-40B4-BE49-F238E27FC236}">
                  <a16:creationId xmlns:a16="http://schemas.microsoft.com/office/drawing/2014/main" id="{8FA5CE38-F6F7-3549-91E4-CF908FA5CC1C}"/>
                </a:ext>
              </a:extLst>
            </p:cNvPr>
            <p:cNvCxnSpPr>
              <a:cxnSpLocks/>
              <a:stCxn id="123" idx="3"/>
              <a:endCxn id="85" idx="1"/>
            </p:cNvCxnSpPr>
            <p:nvPr/>
          </p:nvCxnSpPr>
          <p:spPr>
            <a:xfrm flipV="1">
              <a:off x="6496751" y="1909617"/>
              <a:ext cx="768214" cy="243747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A41D63F5-0710-F340-A570-5F186FBACBC5}"/>
                </a:ext>
              </a:extLst>
            </p:cNvPr>
            <p:cNvCxnSpPr>
              <a:cxnSpLocks/>
              <a:stCxn id="115" idx="3"/>
              <a:endCxn id="86" idx="1"/>
            </p:cNvCxnSpPr>
            <p:nvPr/>
          </p:nvCxnSpPr>
          <p:spPr>
            <a:xfrm flipV="1">
              <a:off x="6495553" y="3389195"/>
              <a:ext cx="769412" cy="2618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1C1A835-C660-CA46-A350-2801DB3B2E63}"/>
                </a:ext>
              </a:extLst>
            </p:cNvPr>
            <p:cNvSpPr/>
            <p:nvPr/>
          </p:nvSpPr>
          <p:spPr>
            <a:xfrm>
              <a:off x="7808064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895E7DD-65CB-DD4A-A5D4-56F9B600695A}"/>
                </a:ext>
              </a:extLst>
            </p:cNvPr>
            <p:cNvSpPr/>
            <p:nvPr/>
          </p:nvSpPr>
          <p:spPr>
            <a:xfrm>
              <a:off x="7808063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B3A66D3-F535-C64E-A511-41CE50E29DDF}"/>
                </a:ext>
              </a:extLst>
            </p:cNvPr>
            <p:cNvSpPr/>
            <p:nvPr/>
          </p:nvSpPr>
          <p:spPr>
            <a:xfrm>
              <a:off x="8351162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3" name="Right Brace 92">
              <a:extLst>
                <a:ext uri="{FF2B5EF4-FFF2-40B4-BE49-F238E27FC236}">
                  <a16:creationId xmlns:a16="http://schemas.microsoft.com/office/drawing/2014/main" id="{6214B17A-6FC0-0748-9734-36EE9CE16A2C}"/>
                </a:ext>
              </a:extLst>
            </p:cNvPr>
            <p:cNvSpPr/>
            <p:nvPr/>
          </p:nvSpPr>
          <p:spPr>
            <a:xfrm rot="5400000" flipH="1">
              <a:off x="8001376" y="167990"/>
              <a:ext cx="156474" cy="1629295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F1811B-F763-214E-8215-83E8E1FB6912}"/>
                </a:ext>
              </a:extLst>
            </p:cNvPr>
            <p:cNvSpPr txBox="1"/>
            <p:nvPr/>
          </p:nvSpPr>
          <p:spPr>
            <a:xfrm>
              <a:off x="7776584" y="597933"/>
              <a:ext cx="87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400" dirty="0"/>
                <a:t>Extent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8E2ADD4-0291-B347-AECD-B7F0B13162E4}"/>
                </a:ext>
              </a:extLst>
            </p:cNvPr>
            <p:cNvSpPr/>
            <p:nvPr/>
          </p:nvSpPr>
          <p:spPr>
            <a:xfrm>
              <a:off x="4336378" y="2164716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8DF54D-E6EA-934B-AE3B-A23ABE41869B}"/>
                </a:ext>
              </a:extLst>
            </p:cNvPr>
            <p:cNvSpPr/>
            <p:nvPr/>
          </p:nvSpPr>
          <p:spPr>
            <a:xfrm>
              <a:off x="4336378" y="2541314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D65C97-E83E-B844-A850-E92B3DD7A490}"/>
                </a:ext>
              </a:extLst>
            </p:cNvPr>
            <p:cNvSpPr/>
            <p:nvPr/>
          </p:nvSpPr>
          <p:spPr>
            <a:xfrm>
              <a:off x="4334103" y="3307348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F1060D-A0F7-794D-BD81-8647D2C3E5FD}"/>
                </a:ext>
              </a:extLst>
            </p:cNvPr>
            <p:cNvSpPr/>
            <p:nvPr/>
          </p:nvSpPr>
          <p:spPr>
            <a:xfrm>
              <a:off x="4334104" y="2922311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7139D39-2A3B-0B4D-9744-2332F14A3F90}"/>
                </a:ext>
              </a:extLst>
            </p:cNvPr>
            <p:cNvGrpSpPr/>
            <p:nvPr/>
          </p:nvGrpSpPr>
          <p:grpSpPr>
            <a:xfrm>
              <a:off x="5640814" y="1321774"/>
              <a:ext cx="896399" cy="1865233"/>
              <a:chOff x="5228230" y="1391624"/>
              <a:chExt cx="896399" cy="1865233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2987014-DB3E-3543-9560-EBBB9135F6F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087407A-4C26-5A4C-9A94-557352DB25C2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E52E5E-93FB-3548-91DB-735108239FC3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17532B6-FE6E-1146-968A-7CC9DC4E343C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EFB7584-9C9A-884D-B3FE-0C6ACEC47E39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AEDCB39-EE8F-7F47-BA06-25CE9778CC50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715EF76-B7FF-9D46-8BEC-00F13AC209CF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1EA391F-BEE8-DC4F-9632-523AF81451FC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D2ECBCF-088A-C543-B29F-245B108C4BB9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9F384D4-2F53-CB4A-8FDE-8DECBF4AEFA6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024195E-4543-DA40-B343-089EC7203D08}"/>
                </a:ext>
              </a:extLst>
            </p:cNvPr>
            <p:cNvGrpSpPr/>
            <p:nvPr/>
          </p:nvGrpSpPr>
          <p:grpSpPr>
            <a:xfrm>
              <a:off x="5640813" y="3373260"/>
              <a:ext cx="896399" cy="1865233"/>
              <a:chOff x="5228230" y="1391624"/>
              <a:chExt cx="896399" cy="1865233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BAEC2B-8161-A84F-9CEA-31B58EB45E7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066881-61E2-3A47-9196-A6DD0B70DBF9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6468D5A-708D-3045-A853-7E88BE512048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D72BF2C-0DAF-2C49-97EF-45316C3DB459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95251EA-2F92-8141-970C-05AD0990D36A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EC77BEB-7676-554F-965D-1AD3988C247E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683F6F5-3FBC-204F-B20A-BD934F51C615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BF77CDC-EAE6-AA4E-9A74-94EDE00F9C67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7C6DA7D-8927-4840-AB07-0D1B85C9B371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A7FF630-D6BC-9C43-A2A7-9A9A21A9BC52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cxnSp>
          <p:nvCxnSpPr>
            <p:cNvPr id="101" name="Curved Connector 100">
              <a:extLst>
                <a:ext uri="{FF2B5EF4-FFF2-40B4-BE49-F238E27FC236}">
                  <a16:creationId xmlns:a16="http://schemas.microsoft.com/office/drawing/2014/main" id="{AC3C9EA2-DCC3-2C48-8378-CD73F6392048}"/>
                </a:ext>
              </a:extLst>
            </p:cNvPr>
            <p:cNvCxnSpPr>
              <a:cxnSpLocks/>
              <a:stCxn id="78" idx="3"/>
              <a:endCxn id="118" idx="1"/>
            </p:cNvCxnSpPr>
            <p:nvPr/>
          </p:nvCxnSpPr>
          <p:spPr>
            <a:xfrm flipV="1">
              <a:off x="5008038" y="1417444"/>
              <a:ext cx="700838" cy="103326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A1747E8B-469B-DD4B-9664-FDA94F4F19B2}"/>
                </a:ext>
              </a:extLst>
            </p:cNvPr>
            <p:cNvCxnSpPr>
              <a:cxnSpLocks/>
              <a:stCxn id="81" idx="3"/>
              <a:endCxn id="108" idx="1"/>
            </p:cNvCxnSpPr>
            <p:nvPr/>
          </p:nvCxnSpPr>
          <p:spPr>
            <a:xfrm>
              <a:off x="5008037" y="2818586"/>
              <a:ext cx="700838" cy="65034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29D660-5CF9-4340-B572-9169F1897404}"/>
                </a:ext>
              </a:extLst>
            </p:cNvPr>
            <p:cNvSpPr txBox="1"/>
            <p:nvPr/>
          </p:nvSpPr>
          <p:spPr>
            <a:xfrm>
              <a:off x="7328765" y="24814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B71974E-6607-EB42-BA8B-7F5E22D6A333}"/>
                </a:ext>
              </a:extLst>
            </p:cNvPr>
            <p:cNvSpPr/>
            <p:nvPr/>
          </p:nvSpPr>
          <p:spPr>
            <a:xfrm>
              <a:off x="7264965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01935A-C4EA-AE4C-82B2-1CFC76D18E50}"/>
                </a:ext>
              </a:extLst>
            </p:cNvPr>
            <p:cNvSpPr/>
            <p:nvPr/>
          </p:nvSpPr>
          <p:spPr>
            <a:xfrm>
              <a:off x="7808063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9A2E244-208B-BB47-A6B5-8E1932583703}"/>
                </a:ext>
              </a:extLst>
            </p:cNvPr>
            <p:cNvSpPr/>
            <p:nvPr/>
          </p:nvSpPr>
          <p:spPr>
            <a:xfrm>
              <a:off x="8351161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ECDC2629-3A1E-CB49-81E7-F9D1D73F2C13}"/>
                </a:ext>
              </a:extLst>
            </p:cNvPr>
            <p:cNvCxnSpPr>
              <a:cxnSpLocks/>
              <a:stCxn id="113" idx="3"/>
              <a:endCxn id="104" idx="1"/>
            </p:cNvCxnSpPr>
            <p:nvPr/>
          </p:nvCxnSpPr>
          <p:spPr>
            <a:xfrm>
              <a:off x="6496750" y="4204850"/>
              <a:ext cx="768215" cy="55372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FEF24FC-3528-A04E-B43B-7B37FCAB2BDD}"/>
              </a:ext>
            </a:extLst>
          </p:cNvPr>
          <p:cNvSpPr/>
          <p:nvPr/>
        </p:nvSpPr>
        <p:spPr>
          <a:xfrm>
            <a:off x="4932040" y="553244"/>
            <a:ext cx="3888432" cy="247443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4EB0B2-9078-A34C-9F20-726D6ED505A2}"/>
              </a:ext>
            </a:extLst>
          </p:cNvPr>
          <p:cNvSpPr txBox="1"/>
          <p:nvPr/>
        </p:nvSpPr>
        <p:spPr>
          <a:xfrm>
            <a:off x="5139257" y="6022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全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4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33146D6-A6CB-F546-B3DC-E5244CF1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在索引中增加标记</a:t>
            </a:r>
            <a:endParaRPr lang="en-US" altLang="zh-CN" b="0" dirty="0"/>
          </a:p>
          <a:p>
            <a:r>
              <a:rPr lang="zh-CN" altLang="en-CN" b="0" dirty="0"/>
              <a:t>删除</a:t>
            </a:r>
            <a:r>
              <a:rPr lang="zh-CN" altLang="en-US" b="0" dirty="0"/>
              <a:t>全</a:t>
            </a:r>
            <a:r>
              <a:rPr lang="en-US" altLang="zh-CN" b="0" dirty="0"/>
              <a:t>0</a:t>
            </a:r>
            <a:r>
              <a:rPr lang="zh-CN" altLang="en-US" b="0" dirty="0"/>
              <a:t>块</a:t>
            </a:r>
            <a:endParaRPr lang="en-CN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E2242F-3A86-7C4F-AC4F-C258B978B0C3}"/>
              </a:ext>
            </a:extLst>
          </p:cNvPr>
          <p:cNvGrpSpPr/>
          <p:nvPr/>
        </p:nvGrpSpPr>
        <p:grpSpPr>
          <a:xfrm>
            <a:off x="2843808" y="1841119"/>
            <a:ext cx="5633031" cy="3495544"/>
            <a:chOff x="3261229" y="1742949"/>
            <a:chExt cx="5633031" cy="349554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935E4A-4C10-8143-A1BE-F89E6F46508A}"/>
                </a:ext>
              </a:extLst>
            </p:cNvPr>
            <p:cNvSpPr/>
            <p:nvPr/>
          </p:nvSpPr>
          <p:spPr>
            <a:xfrm>
              <a:off x="3261229" y="1742949"/>
              <a:ext cx="671659" cy="727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常用</a:t>
              </a:r>
              <a:r>
                <a:rPr lang="zh-CN" altLang="en-US" sz="1100" dirty="0"/>
                <a:t>元数据</a:t>
              </a:r>
              <a:endParaRPr lang="en-CN" sz="11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329C1-55C2-2244-8038-A611EA6C5BBD}"/>
                </a:ext>
              </a:extLst>
            </p:cNvPr>
            <p:cNvSpPr/>
            <p:nvPr/>
          </p:nvSpPr>
          <p:spPr>
            <a:xfrm>
              <a:off x="3261229" y="2470466"/>
              <a:ext cx="671659" cy="1840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树</a:t>
              </a:r>
              <a:r>
                <a:rPr lang="zh-CN" altLang="en-US" sz="1100" dirty="0"/>
                <a:t>根</a:t>
              </a:r>
              <a:endParaRPr lang="en-CN" sz="11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90064DF8-C625-8743-A97E-45CABD95F903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 flipV="1">
              <a:off x="3932888" y="2266686"/>
              <a:ext cx="403491" cy="29579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D0D9A4F-F4EC-7A4B-A63F-60A650F06B79}"/>
                </a:ext>
              </a:extLst>
            </p:cNvPr>
            <p:cNvSpPr/>
            <p:nvPr/>
          </p:nvSpPr>
          <p:spPr>
            <a:xfrm>
              <a:off x="4336379" y="21746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偏移量</a:t>
              </a:r>
              <a:endParaRPr lang="en-CN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55C0D2-936E-C14A-A8DC-1A9073B3FE05}"/>
                </a:ext>
              </a:extLst>
            </p:cNvPr>
            <p:cNvSpPr/>
            <p:nvPr/>
          </p:nvSpPr>
          <p:spPr>
            <a:xfrm>
              <a:off x="4336379" y="2358697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子节点</a:t>
              </a:r>
              <a:endParaRPr lang="en-CN" sz="11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30E7C58-8572-6741-9910-197E24B25DF1}"/>
                </a:ext>
              </a:extLst>
            </p:cNvPr>
            <p:cNvSpPr/>
            <p:nvPr/>
          </p:nvSpPr>
          <p:spPr>
            <a:xfrm>
              <a:off x="4336379" y="254395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>
                  <a:solidFill>
                    <a:srgbClr val="000000"/>
                  </a:solidFill>
                </a:rPr>
                <a:t>偏移量</a:t>
              </a:r>
              <a:endParaRPr lang="en-CN" sz="11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52196F-3419-7E49-B182-2649735049BD}"/>
                </a:ext>
              </a:extLst>
            </p:cNvPr>
            <p:cNvSpPr txBox="1"/>
            <p:nvPr/>
          </p:nvSpPr>
          <p:spPr>
            <a:xfrm>
              <a:off x="4202756" y="3748947"/>
              <a:ext cx="861020" cy="29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索引节点</a:t>
              </a:r>
              <a:endParaRPr lang="en-CN" sz="1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5A53824-CD19-4445-BFC6-D922E7E789C7}"/>
                </a:ext>
              </a:extLst>
            </p:cNvPr>
            <p:cNvSpPr/>
            <p:nvPr/>
          </p:nvSpPr>
          <p:spPr>
            <a:xfrm>
              <a:off x="4336378" y="27265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2D2177-86F2-D840-871D-291A15668FC7}"/>
                </a:ext>
              </a:extLst>
            </p:cNvPr>
            <p:cNvSpPr/>
            <p:nvPr/>
          </p:nvSpPr>
          <p:spPr>
            <a:xfrm>
              <a:off x="4336378" y="292950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zh-CN" altLang="en-US" sz="1050" dirty="0">
                  <a:solidFill>
                    <a:srgbClr val="000000"/>
                  </a:solidFill>
                </a:rPr>
                <a:t>偏移量</a:t>
              </a:r>
              <a:endParaRPr lang="en-CN" sz="1050" dirty="0"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3B8FD-B4F5-DB46-8418-36CDE18E7F0A}"/>
                </a:ext>
              </a:extLst>
            </p:cNvPr>
            <p:cNvSpPr/>
            <p:nvPr/>
          </p:nvSpPr>
          <p:spPr>
            <a:xfrm>
              <a:off x="4336378" y="311352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9F3AB97-0D1C-6E4A-A9BF-E655F4BC66FD}"/>
                </a:ext>
              </a:extLst>
            </p:cNvPr>
            <p:cNvSpPr/>
            <p:nvPr/>
          </p:nvSpPr>
          <p:spPr>
            <a:xfrm>
              <a:off x="7264965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A41D63F5-0710-F340-A570-5F186FBACBC5}"/>
                </a:ext>
              </a:extLst>
            </p:cNvPr>
            <p:cNvCxnSpPr>
              <a:cxnSpLocks/>
              <a:stCxn id="115" idx="3"/>
              <a:endCxn id="86" idx="1"/>
            </p:cNvCxnSpPr>
            <p:nvPr/>
          </p:nvCxnSpPr>
          <p:spPr>
            <a:xfrm flipV="1">
              <a:off x="6495553" y="3389195"/>
              <a:ext cx="769412" cy="2618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895E7DD-65CB-DD4A-A5D4-56F9B600695A}"/>
                </a:ext>
              </a:extLst>
            </p:cNvPr>
            <p:cNvSpPr/>
            <p:nvPr/>
          </p:nvSpPr>
          <p:spPr>
            <a:xfrm>
              <a:off x="7808063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8DF54D-E6EA-934B-AE3B-A23ABE41869B}"/>
                </a:ext>
              </a:extLst>
            </p:cNvPr>
            <p:cNvSpPr/>
            <p:nvPr/>
          </p:nvSpPr>
          <p:spPr>
            <a:xfrm>
              <a:off x="4336378" y="2541314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D65C97-E83E-B844-A850-E92B3DD7A490}"/>
                </a:ext>
              </a:extLst>
            </p:cNvPr>
            <p:cNvSpPr/>
            <p:nvPr/>
          </p:nvSpPr>
          <p:spPr>
            <a:xfrm>
              <a:off x="4334103" y="3307348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F1060D-A0F7-794D-BD81-8647D2C3E5FD}"/>
                </a:ext>
              </a:extLst>
            </p:cNvPr>
            <p:cNvSpPr/>
            <p:nvPr/>
          </p:nvSpPr>
          <p:spPr>
            <a:xfrm>
              <a:off x="4334104" y="2922311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024195E-4543-DA40-B343-089EC7203D08}"/>
                </a:ext>
              </a:extLst>
            </p:cNvPr>
            <p:cNvGrpSpPr/>
            <p:nvPr/>
          </p:nvGrpSpPr>
          <p:grpSpPr>
            <a:xfrm>
              <a:off x="5640813" y="3373260"/>
              <a:ext cx="896399" cy="1865233"/>
              <a:chOff x="5228230" y="1391624"/>
              <a:chExt cx="896399" cy="1865233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BAEC2B-8161-A84F-9CEA-31B58EB45E7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066881-61E2-3A47-9196-A6DD0B70DBF9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6468D5A-708D-3045-A853-7E88BE512048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D72BF2C-0DAF-2C49-97EF-45316C3DB459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95251EA-2F92-8141-970C-05AD0990D36A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EC77BEB-7676-554F-965D-1AD3988C247E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683F6F5-3FBC-204F-B20A-BD934F51C615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BF77CDC-EAE6-AA4E-9A74-94EDE00F9C67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7C6DA7D-8927-4840-AB07-0D1B85C9B371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A7FF630-D6BC-9C43-A2A7-9A9A21A9BC52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A1747E8B-469B-DD4B-9664-FDA94F4F19B2}"/>
                </a:ext>
              </a:extLst>
            </p:cNvPr>
            <p:cNvCxnSpPr>
              <a:cxnSpLocks/>
              <a:stCxn id="81" idx="3"/>
              <a:endCxn id="108" idx="1"/>
            </p:cNvCxnSpPr>
            <p:nvPr/>
          </p:nvCxnSpPr>
          <p:spPr>
            <a:xfrm>
              <a:off x="5008037" y="2818586"/>
              <a:ext cx="700838" cy="65034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B71974E-6607-EB42-BA8B-7F5E22D6A333}"/>
                </a:ext>
              </a:extLst>
            </p:cNvPr>
            <p:cNvSpPr/>
            <p:nvPr/>
          </p:nvSpPr>
          <p:spPr>
            <a:xfrm>
              <a:off x="7264965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01935A-C4EA-AE4C-82B2-1CFC76D18E50}"/>
                </a:ext>
              </a:extLst>
            </p:cNvPr>
            <p:cNvSpPr/>
            <p:nvPr/>
          </p:nvSpPr>
          <p:spPr>
            <a:xfrm>
              <a:off x="7808063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9A2E244-208B-BB47-A6B5-8E1932583703}"/>
                </a:ext>
              </a:extLst>
            </p:cNvPr>
            <p:cNvSpPr/>
            <p:nvPr/>
          </p:nvSpPr>
          <p:spPr>
            <a:xfrm>
              <a:off x="8351161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ECDC2629-3A1E-CB49-81E7-F9D1D73F2C13}"/>
                </a:ext>
              </a:extLst>
            </p:cNvPr>
            <p:cNvCxnSpPr>
              <a:cxnSpLocks/>
              <a:stCxn id="113" idx="3"/>
              <a:endCxn id="104" idx="1"/>
            </p:cNvCxnSpPr>
            <p:nvPr/>
          </p:nvCxnSpPr>
          <p:spPr>
            <a:xfrm>
              <a:off x="6496750" y="4204850"/>
              <a:ext cx="768215" cy="55372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8E2ADD4-0291-B347-AECD-B7F0B13162E4}"/>
                </a:ext>
              </a:extLst>
            </p:cNvPr>
            <p:cNvSpPr/>
            <p:nvPr/>
          </p:nvSpPr>
          <p:spPr>
            <a:xfrm>
              <a:off x="4336378" y="2164716"/>
              <a:ext cx="671659" cy="377840"/>
            </a:xfrm>
            <a:prstGeom prst="rect">
              <a:avLst/>
            </a:prstGeom>
            <a:noFill/>
            <a:ln>
              <a:solidFill>
                <a:srgbClr val="FF93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>
                <a:solidFill>
                  <a:srgbClr val="FF9300"/>
                </a:solidFill>
              </a:endParaRPr>
            </a:p>
          </p:txBody>
        </p:sp>
      </p:grp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FEF24FC-3528-A04E-B43B-7B37FCAB2BDD}"/>
              </a:ext>
            </a:extLst>
          </p:cNvPr>
          <p:cNvSpPr/>
          <p:nvPr/>
        </p:nvSpPr>
        <p:spPr>
          <a:xfrm>
            <a:off x="4932040" y="553244"/>
            <a:ext cx="3888432" cy="247443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4EB0B2-9078-A34C-9F20-726D6ED505A2}"/>
              </a:ext>
            </a:extLst>
          </p:cNvPr>
          <p:cNvSpPr txBox="1"/>
          <p:nvPr/>
        </p:nvSpPr>
        <p:spPr>
          <a:xfrm>
            <a:off x="5139257" y="6022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全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182C4F-24A9-3841-AD85-62804D77B3CE}"/>
              </a:ext>
            </a:extLst>
          </p:cNvPr>
          <p:cNvSpPr txBox="1"/>
          <p:nvPr/>
        </p:nvSpPr>
        <p:spPr>
          <a:xfrm>
            <a:off x="4032314" y="194484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9300"/>
                </a:solidFill>
              </a:rPr>
              <a:t>此段</a:t>
            </a:r>
            <a:r>
              <a:rPr lang="zh-CN" altLang="en-CN" b="1" dirty="0">
                <a:solidFill>
                  <a:srgbClr val="FF9300"/>
                </a:solidFill>
              </a:rPr>
              <a:t>全</a:t>
            </a:r>
            <a:r>
              <a:rPr lang="en-US" altLang="zh-CN" b="1" dirty="0">
                <a:solidFill>
                  <a:srgbClr val="FF9300"/>
                </a:solidFill>
              </a:rPr>
              <a:t>0</a:t>
            </a:r>
            <a:endParaRPr lang="en-CN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92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0F05-888C-F24D-8E72-B60DDBEB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文件系统的一些其他高级功能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5394-56DF-064F-96A1-3CFECB778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b="0" dirty="0"/>
              <a:t>加密</a:t>
            </a:r>
            <a:endParaRPr lang="en-US" altLang="zh-CN" b="0" dirty="0"/>
          </a:p>
          <a:p>
            <a:r>
              <a:rPr lang="zh-CN" altLang="en-US" b="0" dirty="0"/>
              <a:t>压缩</a:t>
            </a:r>
            <a:endParaRPr lang="en-US" altLang="zh-CN" b="0" dirty="0"/>
          </a:p>
          <a:p>
            <a:r>
              <a:rPr lang="zh-CN" altLang="en-US" b="0" dirty="0"/>
              <a:t>去重</a:t>
            </a:r>
            <a:endParaRPr lang="en-US" altLang="zh-CN" b="0" dirty="0"/>
          </a:p>
          <a:p>
            <a:r>
              <a:rPr lang="zh-CN" altLang="en-US" b="0" dirty="0"/>
              <a:t>数据和元数据校验</a:t>
            </a:r>
            <a:endParaRPr lang="en-US" altLang="zh-CN" b="0" dirty="0"/>
          </a:p>
          <a:p>
            <a:r>
              <a:rPr lang="zh-CN" altLang="en-US" b="0" dirty="0"/>
              <a:t>配额管理（</a:t>
            </a:r>
            <a:r>
              <a:rPr lang="en-US" altLang="zh-CN" b="0" dirty="0"/>
              <a:t>QoS</a:t>
            </a:r>
            <a:r>
              <a:rPr lang="zh-CN" altLang="en-US" b="0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D12E7-EF97-6745-AD9E-F6A1E861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9515A-1B60-D943-988B-BEFE8FB65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6EC687-3798-A14E-869D-1C56006C015D}"/>
              </a:ext>
            </a:extLst>
          </p:cNvPr>
          <p:cNvSpPr txBox="1">
            <a:spLocks/>
          </p:cNvSpPr>
          <p:nvPr/>
        </p:nvSpPr>
        <p:spPr>
          <a:xfrm>
            <a:off x="4571999" y="1335243"/>
            <a:ext cx="4214125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软件</a:t>
            </a:r>
            <a:r>
              <a:rPr lang="en-US" altLang="zh-CN" b="0" dirty="0"/>
              <a:t>RAID</a:t>
            </a:r>
          </a:p>
          <a:p>
            <a:r>
              <a:rPr lang="zh-CN" altLang="en-US" b="0" dirty="0"/>
              <a:t>多设备管理</a:t>
            </a:r>
            <a:endParaRPr lang="en-US" altLang="zh-CN" b="0" dirty="0"/>
          </a:p>
          <a:p>
            <a:r>
              <a:rPr lang="zh-CN" altLang="en-CN" b="0" dirty="0"/>
              <a:t>子卷</a:t>
            </a:r>
            <a:endParaRPr lang="en-US" altLang="zh-CN" b="0" dirty="0"/>
          </a:p>
          <a:p>
            <a:r>
              <a:rPr lang="zh-CN" altLang="en-CN" b="0" dirty="0"/>
              <a:t>事务</a:t>
            </a:r>
            <a:r>
              <a:rPr lang="zh-CN" altLang="en-US" b="0" dirty="0"/>
              <a:t>（</a:t>
            </a:r>
            <a:r>
              <a:rPr lang="en-US" altLang="zh-CN" b="0" dirty="0"/>
              <a:t>Transaction</a:t>
            </a:r>
            <a:r>
              <a:rPr lang="zh-CN" altLang="en-US" b="0" dirty="0"/>
              <a:t>）</a:t>
            </a:r>
            <a:endParaRPr lang="en-CN" b="0" dirty="0"/>
          </a:p>
        </p:txBody>
      </p:sp>
    </p:spTree>
    <p:extLst>
      <p:ext uri="{BB962C8B-B14F-4D97-AF65-F5344CB8AC3E}">
        <p14:creationId xmlns:p14="http://schemas.microsoft.com/office/powerpoint/2010/main" val="3095876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7C28856-2D90-CE46-836D-017828F0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文件系统的多种形式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13B7186-859B-AB4A-BB7F-2FD303FB7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DCA9B2-4AB5-854C-9F91-49BAA838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82379-D86E-0049-B5A3-A4256E2F8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621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09EE-CEE5-034D-8F4A-EB1E5750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：内容寻址文件系统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08BE-0F67-B04F-854D-3362D91E6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CN" b="0" dirty="0"/>
              <a:t>表面上</a:t>
            </a:r>
            <a:r>
              <a:rPr lang="en-US" altLang="zh-CN" b="0" dirty="0"/>
              <a:t>GIT</a:t>
            </a:r>
            <a:r>
              <a:rPr lang="zh-CN" altLang="en-US" b="0" dirty="0"/>
              <a:t>是一个版本控制软件</a:t>
            </a:r>
            <a:endParaRPr lang="en-US" altLang="zh-CN" b="0" dirty="0"/>
          </a:p>
          <a:p>
            <a:r>
              <a:rPr lang="zh-CN" altLang="en-US" b="0" dirty="0"/>
              <a:t>但实际上</a:t>
            </a:r>
            <a:r>
              <a:rPr lang="en-US" altLang="zh-CN" b="0" dirty="0"/>
              <a:t>GIT</a:t>
            </a:r>
            <a:r>
              <a:rPr lang="zh-CN" altLang="en-US" b="0" dirty="0"/>
              <a:t>可以被看做是一个</a:t>
            </a:r>
            <a:r>
              <a:rPr lang="zh-CN" altLang="en-US" b="0" dirty="0">
                <a:solidFill>
                  <a:schemeClr val="accent1"/>
                </a:solidFill>
              </a:rPr>
              <a:t>内容寻址</a:t>
            </a:r>
            <a:r>
              <a:rPr lang="zh-CN" altLang="en-US" b="0" dirty="0"/>
              <a:t>的文件系统</a:t>
            </a:r>
            <a:endParaRPr lang="en-US" altLang="zh-CN" b="0" dirty="0"/>
          </a:p>
          <a:p>
            <a:r>
              <a:rPr lang="zh-CN" altLang="en-US" b="0" dirty="0"/>
              <a:t>其核心是一个键值存储（</a:t>
            </a:r>
            <a:r>
              <a:rPr lang="en-US" altLang="zh-CN" b="0" dirty="0"/>
              <a:t>KV</a:t>
            </a:r>
            <a:r>
              <a:rPr lang="zh-CN" altLang="en-US" b="0" dirty="0"/>
              <a:t> </a:t>
            </a:r>
            <a:r>
              <a:rPr lang="en-US" altLang="zh-CN" b="0" dirty="0"/>
              <a:t>Store</a:t>
            </a:r>
            <a:r>
              <a:rPr lang="zh-CN" altLang="en-US" b="0" dirty="0"/>
              <a:t>）</a:t>
            </a:r>
            <a:endParaRPr lang="en-US" altLang="zh-CN" b="0" dirty="0"/>
          </a:p>
          <a:p>
            <a:pPr lvl="1"/>
            <a:r>
              <a:rPr lang="zh-CN" altLang="en-US" dirty="0">
                <a:latin typeface="Courier" pitchFamily="2" charset="0"/>
              </a:rPr>
              <a:t>值：</a:t>
            </a:r>
            <a:r>
              <a:rPr lang="zh-CN" altLang="en-CN" dirty="0">
                <a:latin typeface="Courier" pitchFamily="2" charset="0"/>
              </a:rPr>
              <a:t>加入</a:t>
            </a:r>
            <a:r>
              <a:rPr lang="en-US" altLang="zh-CN" dirty="0"/>
              <a:t>GIT</a:t>
            </a:r>
            <a:r>
              <a:rPr lang="zh-CN" altLang="en-US" dirty="0">
                <a:latin typeface="Courier" pitchFamily="2" charset="0"/>
              </a:rPr>
              <a:t>的数据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键：</a:t>
            </a:r>
            <a:r>
              <a:rPr lang="zh-CN" altLang="en-US" dirty="0"/>
              <a:t>通过数据内容算出的</a:t>
            </a:r>
            <a:r>
              <a:rPr lang="en-US" altLang="zh-CN" dirty="0"/>
              <a:t>40</a:t>
            </a:r>
            <a:r>
              <a:rPr lang="zh-CN" altLang="en-US" dirty="0"/>
              <a:t>个字符</a:t>
            </a:r>
            <a:r>
              <a:rPr lang="en-US" altLang="zh-CN" dirty="0"/>
              <a:t>SHA-1</a:t>
            </a:r>
            <a:r>
              <a:rPr lang="zh-CN" altLang="en-US" dirty="0"/>
              <a:t>校验和</a:t>
            </a:r>
            <a:endParaRPr lang="en-US" altLang="zh-CN" dirty="0"/>
          </a:p>
          <a:p>
            <a:pPr lvl="2"/>
            <a:r>
              <a:rPr lang="zh-CN" altLang="en-US" dirty="0"/>
              <a:t>前</a:t>
            </a:r>
            <a:r>
              <a:rPr lang="en-US" altLang="zh-CN" dirty="0"/>
              <a:t>2</a:t>
            </a:r>
            <a:r>
              <a:rPr lang="zh-CN" altLang="en-US" dirty="0"/>
              <a:t>个字符作为子目录名，后</a:t>
            </a:r>
            <a:r>
              <a:rPr lang="en-US" altLang="zh-CN" dirty="0"/>
              <a:t>38</a:t>
            </a:r>
            <a:r>
              <a:rPr lang="zh-CN" altLang="en-US" dirty="0"/>
              <a:t>个字符作为文件名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所有对象均保存在</a:t>
            </a:r>
            <a:r>
              <a:rPr lang="en-US" altLang="zh-CN" dirty="0">
                <a:latin typeface="Courier" pitchFamily="2" charset="0"/>
              </a:rPr>
              <a:t>.git/objects</a:t>
            </a:r>
            <a:r>
              <a:rPr lang="zh-CN" altLang="en-US" dirty="0">
                <a:latin typeface="Courier" pitchFamily="2" charset="0"/>
              </a:rPr>
              <a:t>目录中</a:t>
            </a:r>
            <a:r>
              <a:rPr lang="zh-CN" altLang="en-US" dirty="0"/>
              <a:t>（文件内容会被压缩）</a:t>
            </a:r>
            <a:endParaRPr lang="en-US" altLang="zh-CN" dirty="0"/>
          </a:p>
          <a:p>
            <a:r>
              <a:rPr lang="zh-CN" altLang="en-US" b="0" dirty="0"/>
              <a:t>是一个</a:t>
            </a:r>
            <a:r>
              <a:rPr lang="en-US" altLang="zh-CN" b="0" dirty="0"/>
              <a:t>“</a:t>
            </a:r>
            <a:r>
              <a:rPr lang="zh-CN" altLang="en-US" b="0" dirty="0">
                <a:solidFill>
                  <a:schemeClr val="accent1"/>
                </a:solidFill>
              </a:rPr>
              <a:t>文件系统之上的文件系统</a:t>
            </a:r>
            <a:r>
              <a:rPr lang="en-US" altLang="zh-CN" b="0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06506-B241-944E-8470-7800C72C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F59-BED2-954F-BACB-9E46804F3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050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3C79-AAB1-E840-A7E1-3E72ACCB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GIT</a:t>
            </a:r>
            <a:r>
              <a:rPr lang="zh-CN" altLang="en-CN" dirty="0"/>
              <a:t>对象</a:t>
            </a:r>
            <a:r>
              <a:rPr lang="zh-CN" altLang="en-US" dirty="0"/>
              <a:t>与文件系统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FE3D4-0D4F-2848-A953-B0C957F3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BLOB</a:t>
            </a:r>
            <a:r>
              <a:rPr lang="zh-CN" altLang="en-US" sz="2000" dirty="0"/>
              <a:t>对象</a:t>
            </a:r>
            <a:r>
              <a:rPr lang="zh-CN" altLang="en-US" sz="2000" b="0" dirty="0"/>
              <a:t>：对应文件系统中的文件</a:t>
            </a:r>
            <a:br>
              <a:rPr lang="en-US" altLang="zh-CN" sz="2000" b="0" dirty="0"/>
            </a:br>
            <a:endParaRPr lang="en-US" altLang="zh-CN" sz="2000" b="0" dirty="0"/>
          </a:p>
          <a:p>
            <a:r>
              <a:rPr lang="zh-CN" altLang="en-CN" sz="2000" dirty="0"/>
              <a:t>树</a:t>
            </a:r>
            <a:r>
              <a:rPr lang="zh-CN" altLang="en-US" sz="2000" dirty="0"/>
              <a:t>对象</a:t>
            </a:r>
            <a:r>
              <a:rPr lang="zh-CN" altLang="en-US" sz="2000" b="0" dirty="0"/>
              <a:t>：对应文件系统中的目录</a:t>
            </a:r>
            <a:endParaRPr lang="en-US" altLang="zh-CN" sz="2000" b="0" dirty="0"/>
          </a:p>
          <a:p>
            <a:endParaRPr lang="en-US" sz="2000" b="0" dirty="0"/>
          </a:p>
          <a:p>
            <a:r>
              <a:rPr lang="zh-CN" altLang="en-US" sz="2000" dirty="0"/>
              <a:t>提交对象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21CE4-807B-4A4E-AC63-E7C0A836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F1B5D-1769-A34D-8894-1F8178B1F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92410-BC0A-3D46-91C9-2EB7BD837A7F}"/>
              </a:ext>
            </a:extLst>
          </p:cNvPr>
          <p:cNvSpPr txBox="1"/>
          <p:nvPr/>
        </p:nvSpPr>
        <p:spPr>
          <a:xfrm>
            <a:off x="744223" y="2628991"/>
            <a:ext cx="4567276" cy="5078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" pitchFamily="2" charset="0"/>
              </a:rPr>
              <a:t>040000 tree f0b50bef52478d42d68ff21914c430d8148f23cd	</a:t>
            </a:r>
            <a:r>
              <a:rPr lang="en-US" sz="900" dirty="0" err="1">
                <a:latin typeface="Courier" pitchFamily="2" charset="0"/>
              </a:rPr>
              <a:t>dir</a:t>
            </a:r>
            <a:endParaRPr lang="en-US" sz="900" dirty="0">
              <a:latin typeface="Courier" pitchFamily="2" charset="0"/>
            </a:endParaRPr>
          </a:p>
          <a:p>
            <a:r>
              <a:rPr lang="en-US" sz="900" dirty="0">
                <a:latin typeface="Courier" pitchFamily="2" charset="0"/>
              </a:rPr>
              <a:t>100644 blob eea465ab73dfb5cd24379efd61da949b3b5138ea	</a:t>
            </a:r>
            <a:r>
              <a:rPr lang="en-US" sz="900" dirty="0" err="1">
                <a:latin typeface="Courier" pitchFamily="2" charset="0"/>
              </a:rPr>
              <a:t>first.txt</a:t>
            </a:r>
            <a:endParaRPr lang="en-US" sz="900" dirty="0">
              <a:latin typeface="Courier" pitchFamily="2" charset="0"/>
            </a:endParaRPr>
          </a:p>
          <a:p>
            <a:r>
              <a:rPr lang="en-US" sz="900" dirty="0">
                <a:latin typeface="Courier" pitchFamily="2" charset="0"/>
              </a:rPr>
              <a:t>100644 blob 09511ef0b04fb20dd32f3cb090f9c6de49cd2627	</a:t>
            </a:r>
            <a:r>
              <a:rPr lang="en-US" sz="900" dirty="0" err="1">
                <a:latin typeface="Courier" pitchFamily="2" charset="0"/>
              </a:rPr>
              <a:t>second.txt</a:t>
            </a:r>
            <a:endParaRPr lang="en-US" sz="9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F2F88-DE74-364C-B72B-A33A286F8477}"/>
              </a:ext>
            </a:extLst>
          </p:cNvPr>
          <p:cNvSpPr txBox="1"/>
          <p:nvPr/>
        </p:nvSpPr>
        <p:spPr>
          <a:xfrm>
            <a:off x="755576" y="1811969"/>
            <a:ext cx="1976823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" pitchFamily="2" charset="0"/>
              </a:rPr>
              <a:t>first file with more words</a:t>
            </a:r>
            <a:endParaRPr lang="en-CN" sz="900" dirty="0">
              <a:latin typeface="Courier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A98AC-831A-6543-8C75-72D4A8527FF3}"/>
              </a:ext>
            </a:extLst>
          </p:cNvPr>
          <p:cNvSpPr txBox="1"/>
          <p:nvPr/>
        </p:nvSpPr>
        <p:spPr>
          <a:xfrm>
            <a:off x="725966" y="3727302"/>
            <a:ext cx="4389343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" pitchFamily="2" charset="0"/>
              </a:rPr>
              <a:t>tree befb5f375306393e542026391d95104579da48ce</a:t>
            </a:r>
          </a:p>
          <a:p>
            <a:r>
              <a:rPr lang="en-US" sz="900" dirty="0">
                <a:latin typeface="Courier" pitchFamily="2" charset="0"/>
              </a:rPr>
              <a:t>parent b2b1eda3c44d0a2cb10ad7f522ae78f9ded7e95e</a:t>
            </a:r>
          </a:p>
          <a:p>
            <a:r>
              <a:rPr lang="en-US" sz="900" dirty="0">
                <a:latin typeface="Courier" pitchFamily="2" charset="0"/>
              </a:rPr>
              <a:t>author </a:t>
            </a:r>
            <a:r>
              <a:rPr lang="en-US" altLang="zh-CN" sz="900" dirty="0">
                <a:latin typeface="Courier" pitchFamily="2" charset="0"/>
              </a:rPr>
              <a:t>IPADS</a:t>
            </a:r>
            <a:r>
              <a:rPr lang="zh-CN" altLang="en-US" sz="900" dirty="0">
                <a:latin typeface="Courier" pitchFamily="2" charset="0"/>
              </a:rPr>
              <a:t> </a:t>
            </a:r>
            <a:r>
              <a:rPr lang="en-US" sz="900" dirty="0">
                <a:latin typeface="Courier" pitchFamily="2" charset="0"/>
              </a:rPr>
              <a:t>&lt;</a:t>
            </a:r>
            <a:r>
              <a:rPr lang="en-US" altLang="zh-CN" sz="900" dirty="0" err="1">
                <a:latin typeface="Courier" pitchFamily="2" charset="0"/>
              </a:rPr>
              <a:t>ipads</a:t>
            </a:r>
            <a:r>
              <a:rPr lang="en-US" sz="900" dirty="0" err="1">
                <a:latin typeface="Courier" pitchFamily="2" charset="0"/>
              </a:rPr>
              <a:t>@</a:t>
            </a:r>
            <a:r>
              <a:rPr lang="en-US" altLang="zh-CN" sz="900" dirty="0" err="1">
                <a:latin typeface="Courier" pitchFamily="2" charset="0"/>
              </a:rPr>
              <a:t>ipads.se.sjtu</a:t>
            </a:r>
            <a:r>
              <a:rPr lang="en-US" sz="900" dirty="0" err="1">
                <a:latin typeface="Courier" pitchFamily="2" charset="0"/>
              </a:rPr>
              <a:t>.</a:t>
            </a:r>
            <a:r>
              <a:rPr lang="en-US" altLang="zh-CN" sz="900" dirty="0" err="1">
                <a:latin typeface="Courier" pitchFamily="2" charset="0"/>
              </a:rPr>
              <a:t>edu.cn</a:t>
            </a:r>
            <a:r>
              <a:rPr lang="en-US" sz="900" dirty="0">
                <a:latin typeface="Courier" pitchFamily="2" charset="0"/>
              </a:rPr>
              <a:t>&gt; 1587414317 +0800</a:t>
            </a:r>
          </a:p>
          <a:p>
            <a:r>
              <a:rPr lang="en-US" sz="900" dirty="0">
                <a:latin typeface="Courier" pitchFamily="2" charset="0"/>
              </a:rPr>
              <a:t>committer </a:t>
            </a:r>
            <a:r>
              <a:rPr lang="en-US" altLang="zh-CN" sz="900" dirty="0">
                <a:latin typeface="Courier" pitchFamily="2" charset="0"/>
              </a:rPr>
              <a:t>IPADS</a:t>
            </a:r>
            <a:r>
              <a:rPr lang="zh-CN" altLang="en-US" sz="900" dirty="0">
                <a:latin typeface="Courier" pitchFamily="2" charset="0"/>
              </a:rPr>
              <a:t> </a:t>
            </a:r>
            <a:r>
              <a:rPr lang="en-US" sz="900" dirty="0">
                <a:latin typeface="Courier" pitchFamily="2" charset="0"/>
              </a:rPr>
              <a:t>&lt;</a:t>
            </a:r>
            <a:r>
              <a:rPr lang="en-US" altLang="zh-CN" sz="900" dirty="0" err="1">
                <a:latin typeface="Courier" pitchFamily="2" charset="0"/>
              </a:rPr>
              <a:t>ipads</a:t>
            </a:r>
            <a:r>
              <a:rPr lang="en-US" sz="900" dirty="0" err="1">
                <a:latin typeface="Courier" pitchFamily="2" charset="0"/>
              </a:rPr>
              <a:t>@</a:t>
            </a:r>
            <a:r>
              <a:rPr lang="en-US" altLang="zh-CN" sz="900" dirty="0" err="1">
                <a:latin typeface="Courier" pitchFamily="2" charset="0"/>
              </a:rPr>
              <a:t>ipads.se.sjtu</a:t>
            </a:r>
            <a:r>
              <a:rPr lang="en-US" sz="900" dirty="0" err="1">
                <a:latin typeface="Courier" pitchFamily="2" charset="0"/>
              </a:rPr>
              <a:t>.</a:t>
            </a:r>
            <a:r>
              <a:rPr lang="en-US" altLang="zh-CN" sz="900" dirty="0" err="1">
                <a:latin typeface="Courier" pitchFamily="2" charset="0"/>
              </a:rPr>
              <a:t>edu.cn</a:t>
            </a:r>
            <a:r>
              <a:rPr lang="en-US" sz="900" dirty="0">
                <a:latin typeface="Courier" pitchFamily="2" charset="0"/>
              </a:rPr>
              <a:t>&gt; 1587414317 +0800</a:t>
            </a:r>
          </a:p>
          <a:p>
            <a:endParaRPr lang="en-US" sz="900" dirty="0">
              <a:latin typeface="Courier" pitchFamily="2" charset="0"/>
            </a:endParaRPr>
          </a:p>
          <a:p>
            <a:r>
              <a:rPr lang="en-US" sz="900" dirty="0">
                <a:latin typeface="Courier" pitchFamily="2" charset="0"/>
              </a:rPr>
              <a:t>third commit</a:t>
            </a:r>
            <a:endParaRPr lang="en-CN" sz="900" dirty="0">
              <a:latin typeface="Courier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311982-8CA0-8B46-938F-39D37FEA86A2}"/>
              </a:ext>
            </a:extLst>
          </p:cNvPr>
          <p:cNvGrpSpPr/>
          <p:nvPr/>
        </p:nvGrpSpPr>
        <p:grpSpPr>
          <a:xfrm>
            <a:off x="5055969" y="2061087"/>
            <a:ext cx="3690171" cy="2779346"/>
            <a:chOff x="464031" y="2175016"/>
            <a:chExt cx="3690171" cy="2779346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A6DB510-6E8A-CA48-ABF6-2DCC78049AE3}"/>
                </a:ext>
              </a:extLst>
            </p:cNvPr>
            <p:cNvSpPr/>
            <p:nvPr/>
          </p:nvSpPr>
          <p:spPr>
            <a:xfrm>
              <a:off x="2656855" y="3175630"/>
              <a:ext cx="1224339" cy="54401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f0b50b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US" altLang="zh-CN" sz="1200" dirty="0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3E5F7B04-3EE4-4747-AAD6-9F41C31CCA15}"/>
                </a:ext>
              </a:extLst>
            </p:cNvPr>
            <p:cNvSpPr/>
            <p:nvPr/>
          </p:nvSpPr>
          <p:spPr>
            <a:xfrm>
              <a:off x="1403648" y="2175016"/>
              <a:ext cx="1224339" cy="5052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befb5f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52E96A2-B35E-AF4C-8BF2-BBD4FA45B232}"/>
                </a:ext>
              </a:extLst>
            </p:cNvPr>
            <p:cNvCxnSpPr>
              <a:cxnSpLocks/>
              <a:stCxn id="27" idx="2"/>
              <a:endCxn id="26" idx="0"/>
            </p:cNvCxnSpPr>
            <p:nvPr/>
          </p:nvCxnSpPr>
          <p:spPr>
            <a:xfrm>
              <a:off x="2015818" y="2680303"/>
              <a:ext cx="1253207" cy="4953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05F6F4-5DCB-BE4C-B321-DF34AF2B8564}"/>
                </a:ext>
              </a:extLst>
            </p:cNvPr>
            <p:cNvSpPr txBox="1"/>
            <p:nvPr/>
          </p:nvSpPr>
          <p:spPr>
            <a:xfrm>
              <a:off x="2558963" y="2842674"/>
              <a:ext cx="354584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dir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FFF4377-CB19-9045-B707-8AFB583D5F3F}"/>
                </a:ext>
              </a:extLst>
            </p:cNvPr>
            <p:cNvSpPr/>
            <p:nvPr/>
          </p:nvSpPr>
          <p:spPr>
            <a:xfrm>
              <a:off x="1257813" y="3851584"/>
              <a:ext cx="1655734" cy="4389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eea465</a:t>
              </a:r>
            </a:p>
            <a:p>
              <a:pPr algn="ctr"/>
              <a:r>
                <a:rPr lang="en-US" sz="1000" dirty="0"/>
                <a:t>first file with more words</a:t>
              </a:r>
              <a:endParaRPr lang="en-CN" sz="10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1009E74-D9AB-3E43-955A-409F6DE5B138}"/>
                </a:ext>
              </a:extLst>
            </p:cNvPr>
            <p:cNvCxnSpPr>
              <a:cxnSpLocks/>
              <a:stCxn id="27" idx="2"/>
              <a:endCxn id="30" idx="0"/>
            </p:cNvCxnSpPr>
            <p:nvPr/>
          </p:nvCxnSpPr>
          <p:spPr>
            <a:xfrm>
              <a:off x="2015818" y="2680303"/>
              <a:ext cx="69862" cy="11712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B97D4793-7645-3F44-8973-025CCDE0DE24}"/>
                </a:ext>
              </a:extLst>
            </p:cNvPr>
            <p:cNvSpPr/>
            <p:nvPr/>
          </p:nvSpPr>
          <p:spPr>
            <a:xfrm>
              <a:off x="464031" y="3311734"/>
              <a:ext cx="1224339" cy="43893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09511e</a:t>
              </a:r>
            </a:p>
            <a:p>
              <a:pPr algn="ctr"/>
              <a:r>
                <a:rPr lang="en-US" sz="1000" dirty="0"/>
                <a:t>a new second file</a:t>
              </a:r>
              <a:endParaRPr lang="en-CN" sz="1000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554007E-466E-AB49-B334-07789540EAF6}"/>
                </a:ext>
              </a:extLst>
            </p:cNvPr>
            <p:cNvCxnSpPr>
              <a:cxnSpLocks/>
              <a:stCxn id="27" idx="2"/>
              <a:endCxn id="32" idx="0"/>
            </p:cNvCxnSpPr>
            <p:nvPr/>
          </p:nvCxnSpPr>
          <p:spPr>
            <a:xfrm flipH="1">
              <a:off x="1076201" y="2680303"/>
              <a:ext cx="939617" cy="6314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AF9EC70-6194-E64C-B889-FC80348B3B55}"/>
                </a:ext>
              </a:extLst>
            </p:cNvPr>
            <p:cNvSpPr/>
            <p:nvPr/>
          </p:nvSpPr>
          <p:spPr>
            <a:xfrm>
              <a:off x="1803707" y="3079258"/>
              <a:ext cx="639919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DD064F2-B060-2D4A-8B56-CF07E73709E9}"/>
                </a:ext>
              </a:extLst>
            </p:cNvPr>
            <p:cNvSpPr/>
            <p:nvPr/>
          </p:nvSpPr>
          <p:spPr>
            <a:xfrm>
              <a:off x="856024" y="2883508"/>
              <a:ext cx="885178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A1D1FFB8-8872-844A-B7B6-94883AD4DCF1}"/>
                </a:ext>
              </a:extLst>
            </p:cNvPr>
            <p:cNvSpPr/>
            <p:nvPr/>
          </p:nvSpPr>
          <p:spPr>
            <a:xfrm>
              <a:off x="3269024" y="4515423"/>
              <a:ext cx="885178" cy="43893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da2068</a:t>
              </a:r>
            </a:p>
            <a:p>
              <a:pPr algn="ctr"/>
              <a:r>
                <a:rPr lang="en-US" sz="1000" dirty="0"/>
                <a:t>second file</a:t>
              </a:r>
              <a:endParaRPr lang="en-CN" sz="10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797CB18-C179-6F47-855F-D4E1097B5F1F}"/>
                </a:ext>
              </a:extLst>
            </p:cNvPr>
            <p:cNvCxnSpPr>
              <a:cxnSpLocks/>
              <a:stCxn id="26" idx="2"/>
              <a:endCxn id="36" idx="0"/>
            </p:cNvCxnSpPr>
            <p:nvPr/>
          </p:nvCxnSpPr>
          <p:spPr>
            <a:xfrm>
              <a:off x="3269025" y="3719645"/>
              <a:ext cx="442588" cy="7957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6EFD555-3E61-AB44-A926-5EE49F9D6AFB}"/>
                </a:ext>
              </a:extLst>
            </p:cNvPr>
            <p:cNvSpPr/>
            <p:nvPr/>
          </p:nvSpPr>
          <p:spPr>
            <a:xfrm>
              <a:off x="3078836" y="3937000"/>
              <a:ext cx="885178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723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4EFF-5EA3-CA41-B91B-2AB0CCCC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GIT</a:t>
            </a:r>
            <a:r>
              <a:rPr lang="zh-CN" altLang="en-US" dirty="0"/>
              <a:t>的提交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7D090-8673-5345-8B1A-F5B7484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58BD4-C33C-9344-94F9-76888661B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EC21CA0-77F0-2440-B0A7-F5BC28B556AC}"/>
              </a:ext>
            </a:extLst>
          </p:cNvPr>
          <p:cNvGrpSpPr/>
          <p:nvPr/>
        </p:nvGrpSpPr>
        <p:grpSpPr>
          <a:xfrm>
            <a:off x="1835696" y="913284"/>
            <a:ext cx="6580745" cy="3641718"/>
            <a:chOff x="885346" y="1038086"/>
            <a:chExt cx="6580745" cy="364171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968D853-C122-DD4B-8F37-278812AF8671}"/>
                </a:ext>
              </a:extLst>
            </p:cNvPr>
            <p:cNvSpPr/>
            <p:nvPr/>
          </p:nvSpPr>
          <p:spPr>
            <a:xfrm>
              <a:off x="5299313" y="2448501"/>
              <a:ext cx="1165865" cy="51803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f0b50b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US" altLang="zh-CN" sz="1200" dirty="0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29CF7CF-34FA-ED41-9887-F4371D6564EA}"/>
                </a:ext>
              </a:extLst>
            </p:cNvPr>
            <p:cNvSpPr/>
            <p:nvPr/>
          </p:nvSpPr>
          <p:spPr>
            <a:xfrm>
              <a:off x="2699222" y="1617227"/>
              <a:ext cx="1165865" cy="48115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befb5f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1E1E2D-8006-FE44-A0B3-2113970D6021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>
              <a:off x="3865087" y="1857804"/>
              <a:ext cx="1434226" cy="8497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0B2F57-7994-F347-82B0-40DA32903C61}"/>
                </a:ext>
              </a:extLst>
            </p:cNvPr>
            <p:cNvSpPr txBox="1"/>
            <p:nvPr/>
          </p:nvSpPr>
          <p:spPr>
            <a:xfrm>
              <a:off x="4466258" y="2152594"/>
              <a:ext cx="345876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dir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A204703-72B7-3143-82D2-73FBCC86CF64}"/>
                </a:ext>
              </a:extLst>
            </p:cNvPr>
            <p:cNvSpPr/>
            <p:nvPr/>
          </p:nvSpPr>
          <p:spPr>
            <a:xfrm>
              <a:off x="5192568" y="1824939"/>
              <a:ext cx="1567932" cy="4179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200" dirty="0"/>
                <a:t>eea465</a:t>
              </a:r>
            </a:p>
            <a:p>
              <a:pPr algn="ctr"/>
              <a:r>
                <a:rPr lang="en-US" sz="1000" dirty="0"/>
                <a:t>first file with more words</a:t>
              </a:r>
              <a:endParaRPr lang="en-CN" sz="10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67AE9AA-9DA0-8140-9AF5-1AC1BD69870E}"/>
                </a:ext>
              </a:extLst>
            </p:cNvPr>
            <p:cNvCxnSpPr>
              <a:cxnSpLocks/>
              <a:stCxn id="8" idx="3"/>
              <a:endCxn id="14" idx="1"/>
            </p:cNvCxnSpPr>
            <p:nvPr/>
          </p:nvCxnSpPr>
          <p:spPr>
            <a:xfrm>
              <a:off x="3865087" y="1857804"/>
              <a:ext cx="1327481" cy="1761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BF75AFA-0B9B-584E-A5C1-0416944A07DD}"/>
                </a:ext>
              </a:extLst>
            </p:cNvPr>
            <p:cNvSpPr/>
            <p:nvPr/>
          </p:nvSpPr>
          <p:spPr>
            <a:xfrm>
              <a:off x="5192568" y="1038086"/>
              <a:ext cx="1567933" cy="417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09511e</a:t>
              </a:r>
            </a:p>
            <a:p>
              <a:pPr algn="ctr"/>
              <a:r>
                <a:rPr lang="en-US" sz="1000" dirty="0"/>
                <a:t>a new second file</a:t>
              </a:r>
              <a:endParaRPr lang="en-CN" sz="10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9EAE59A-9307-4B47-BB3E-0F9B8BAC4BEF}"/>
                </a:ext>
              </a:extLst>
            </p:cNvPr>
            <p:cNvCxnSpPr>
              <a:cxnSpLocks/>
              <a:stCxn id="8" idx="3"/>
              <a:endCxn id="20" idx="1"/>
            </p:cNvCxnSpPr>
            <p:nvPr/>
          </p:nvCxnSpPr>
          <p:spPr>
            <a:xfrm flipV="1">
              <a:off x="3865087" y="1247074"/>
              <a:ext cx="1327481" cy="6107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1841D8-3259-3043-A2FD-29B6B413B08D}"/>
                </a:ext>
              </a:extLst>
            </p:cNvPr>
            <p:cNvSpPr/>
            <p:nvPr/>
          </p:nvSpPr>
          <p:spPr>
            <a:xfrm>
              <a:off x="4308680" y="1809302"/>
              <a:ext cx="624205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0B3379-B656-5E4E-A3CE-BBE239E18855}"/>
                </a:ext>
              </a:extLst>
            </p:cNvPr>
            <p:cNvSpPr/>
            <p:nvPr/>
          </p:nvSpPr>
          <p:spPr>
            <a:xfrm>
              <a:off x="4207475" y="1244315"/>
              <a:ext cx="863442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9CB96E5-8C13-E94E-A261-CD2770F0DAB5}"/>
                </a:ext>
              </a:extLst>
            </p:cNvPr>
            <p:cNvSpPr/>
            <p:nvPr/>
          </p:nvSpPr>
          <p:spPr>
            <a:xfrm>
              <a:off x="5192569" y="4261829"/>
              <a:ext cx="1567933" cy="417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da2068</a:t>
              </a:r>
            </a:p>
            <a:p>
              <a:pPr algn="ctr"/>
              <a:r>
                <a:rPr lang="en-US" sz="1000" dirty="0"/>
                <a:t>second file</a:t>
              </a:r>
              <a:endParaRPr lang="en-CN" sz="1000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1BF0067-9512-E548-8D45-663021731EEE}"/>
                </a:ext>
              </a:extLst>
            </p:cNvPr>
            <p:cNvCxnSpPr>
              <a:cxnSpLocks/>
              <a:stCxn id="7" idx="3"/>
              <a:endCxn id="34" idx="3"/>
            </p:cNvCxnSpPr>
            <p:nvPr/>
          </p:nvCxnSpPr>
          <p:spPr>
            <a:xfrm>
              <a:off x="6465178" y="2707518"/>
              <a:ext cx="295324" cy="1763299"/>
            </a:xfrm>
            <a:prstGeom prst="bentConnector3">
              <a:avLst>
                <a:gd name="adj1" fmla="val 35931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79C9DEC-E28E-6648-85FB-780E738996B7}"/>
                </a:ext>
              </a:extLst>
            </p:cNvPr>
            <p:cNvSpPr/>
            <p:nvPr/>
          </p:nvSpPr>
          <p:spPr>
            <a:xfrm>
              <a:off x="6602649" y="2562661"/>
              <a:ext cx="863442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B3AF8B3-BD2D-3F42-A656-AB5724BB32B9}"/>
                </a:ext>
              </a:extLst>
            </p:cNvPr>
            <p:cNvSpPr/>
            <p:nvPr/>
          </p:nvSpPr>
          <p:spPr>
            <a:xfrm>
              <a:off x="5190823" y="3402755"/>
              <a:ext cx="1567933" cy="417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7fbf76</a:t>
              </a:r>
            </a:p>
            <a:p>
              <a:pPr algn="ctr"/>
              <a:r>
                <a:rPr lang="en-US" sz="1000" dirty="0"/>
                <a:t>first file</a:t>
              </a:r>
              <a:endParaRPr lang="en-CN" sz="1000" dirty="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ED1AA03C-CB4C-584D-8C89-3369F3FE9721}"/>
                </a:ext>
              </a:extLst>
            </p:cNvPr>
            <p:cNvSpPr/>
            <p:nvPr/>
          </p:nvSpPr>
          <p:spPr>
            <a:xfrm>
              <a:off x="2699223" y="3841993"/>
              <a:ext cx="1165865" cy="48115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9a7c4a</a:t>
              </a:r>
              <a:endParaRPr lang="en-US" altLang="zh-CN" sz="1200" dirty="0"/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42DF481-0A5D-4144-B8E2-F806781B0F99}"/>
                </a:ext>
              </a:extLst>
            </p:cNvPr>
            <p:cNvCxnSpPr>
              <a:cxnSpLocks/>
              <a:stCxn id="22" idx="3"/>
              <a:endCxn id="18" idx="1"/>
            </p:cNvCxnSpPr>
            <p:nvPr/>
          </p:nvCxnSpPr>
          <p:spPr>
            <a:xfrm flipV="1">
              <a:off x="3865088" y="3611743"/>
              <a:ext cx="1325735" cy="4708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ABC869-FE99-834F-B099-A98AD2C55B8A}"/>
                </a:ext>
              </a:extLst>
            </p:cNvPr>
            <p:cNvCxnSpPr>
              <a:cxnSpLocks/>
              <a:stCxn id="22" idx="3"/>
              <a:endCxn id="34" idx="1"/>
            </p:cNvCxnSpPr>
            <p:nvPr/>
          </p:nvCxnSpPr>
          <p:spPr>
            <a:xfrm>
              <a:off x="3865088" y="4082570"/>
              <a:ext cx="1327481" cy="3882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2410F1-9740-484B-936D-4330E3C26435}"/>
                </a:ext>
              </a:extLst>
            </p:cNvPr>
            <p:cNvSpPr/>
            <p:nvPr/>
          </p:nvSpPr>
          <p:spPr>
            <a:xfrm>
              <a:off x="4165380" y="3998250"/>
              <a:ext cx="863442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18FCD4F8-63A8-7A46-BC6C-D71BCA1756A0}"/>
                </a:ext>
              </a:extLst>
            </p:cNvPr>
            <p:cNvSpPr/>
            <p:nvPr/>
          </p:nvSpPr>
          <p:spPr>
            <a:xfrm>
              <a:off x="2699223" y="2730834"/>
              <a:ext cx="1165865" cy="48115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9eabf4</a:t>
              </a:r>
              <a:endParaRPr lang="en-US" altLang="zh-CN" sz="1200" dirty="0"/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47E27B7-721E-6240-8810-A01E1DF06452}"/>
                </a:ext>
              </a:extLst>
            </p:cNvPr>
            <p:cNvCxnSpPr>
              <a:cxnSpLocks/>
              <a:stCxn id="36" idx="3"/>
              <a:endCxn id="7" idx="1"/>
            </p:cNvCxnSpPr>
            <p:nvPr/>
          </p:nvCxnSpPr>
          <p:spPr>
            <a:xfrm flipV="1">
              <a:off x="3865088" y="2707518"/>
              <a:ext cx="1434225" cy="2638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209918E-E96E-7944-8456-E49D21D86FC6}"/>
                </a:ext>
              </a:extLst>
            </p:cNvPr>
            <p:cNvCxnSpPr>
              <a:cxnSpLocks/>
              <a:stCxn id="36" idx="3"/>
              <a:endCxn id="18" idx="1"/>
            </p:cNvCxnSpPr>
            <p:nvPr/>
          </p:nvCxnSpPr>
          <p:spPr>
            <a:xfrm>
              <a:off x="3865088" y="2971411"/>
              <a:ext cx="1325735" cy="640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47A9D7CB-A95F-BF47-BAF0-A9CE48177871}"/>
                </a:ext>
              </a:extLst>
            </p:cNvPr>
            <p:cNvSpPr/>
            <p:nvPr/>
          </p:nvSpPr>
          <p:spPr>
            <a:xfrm>
              <a:off x="885347" y="3842909"/>
              <a:ext cx="1165865" cy="4811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373534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first commit</a:t>
              </a:r>
              <a:endParaRPr lang="en-CN" sz="1200" dirty="0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C960025-5690-2C48-9B01-E0928EE43E85}"/>
                </a:ext>
              </a:extLst>
            </p:cNvPr>
            <p:cNvSpPr/>
            <p:nvPr/>
          </p:nvSpPr>
          <p:spPr>
            <a:xfrm>
              <a:off x="885347" y="2733264"/>
              <a:ext cx="1165865" cy="4811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200" dirty="0"/>
                <a:t>b2b1ed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second commit</a:t>
              </a:r>
              <a:endParaRPr lang="en-CN" sz="1200" dirty="0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1057961B-F07E-E641-940C-E258C8A5A3D5}"/>
                </a:ext>
              </a:extLst>
            </p:cNvPr>
            <p:cNvSpPr/>
            <p:nvPr/>
          </p:nvSpPr>
          <p:spPr>
            <a:xfrm>
              <a:off x="885346" y="1621334"/>
              <a:ext cx="1165865" cy="4811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200" dirty="0"/>
                <a:t>108103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third commit</a:t>
              </a:r>
              <a:endParaRPr lang="en-CN" sz="12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955739A-B8DF-0144-9FBE-6860A47433D3}"/>
                </a:ext>
              </a:extLst>
            </p:cNvPr>
            <p:cNvCxnSpPr>
              <a:cxnSpLocks/>
              <a:stCxn id="45" idx="2"/>
              <a:endCxn id="43" idx="0"/>
            </p:cNvCxnSpPr>
            <p:nvPr/>
          </p:nvCxnSpPr>
          <p:spPr>
            <a:xfrm>
              <a:off x="1468280" y="3214418"/>
              <a:ext cx="0" cy="6284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EB0B6FB-1622-8040-97C3-0AFB34FD317F}"/>
                </a:ext>
              </a:extLst>
            </p:cNvPr>
            <p:cNvCxnSpPr>
              <a:cxnSpLocks/>
              <a:stCxn id="46" idx="2"/>
              <a:endCxn id="45" idx="0"/>
            </p:cNvCxnSpPr>
            <p:nvPr/>
          </p:nvCxnSpPr>
          <p:spPr>
            <a:xfrm>
              <a:off x="1468279" y="2102488"/>
              <a:ext cx="1" cy="630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A9CC051-93F3-A44C-BCF7-2D7962DA289C}"/>
                </a:ext>
              </a:extLst>
            </p:cNvPr>
            <p:cNvCxnSpPr>
              <a:cxnSpLocks/>
              <a:stCxn id="45" idx="3"/>
              <a:endCxn id="36" idx="1"/>
            </p:cNvCxnSpPr>
            <p:nvPr/>
          </p:nvCxnSpPr>
          <p:spPr>
            <a:xfrm flipV="1">
              <a:off x="2051212" y="2971411"/>
              <a:ext cx="648011" cy="2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3E1D253-BA29-C640-97AA-720269E66BF7}"/>
                </a:ext>
              </a:extLst>
            </p:cNvPr>
            <p:cNvCxnSpPr>
              <a:cxnSpLocks/>
              <a:stCxn id="43" idx="3"/>
              <a:endCxn id="22" idx="1"/>
            </p:cNvCxnSpPr>
            <p:nvPr/>
          </p:nvCxnSpPr>
          <p:spPr>
            <a:xfrm flipV="1">
              <a:off x="2051212" y="4082570"/>
              <a:ext cx="648011" cy="9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65B02BE-E8F2-0A47-9817-D7BCBC4DFFC9}"/>
                </a:ext>
              </a:extLst>
            </p:cNvPr>
            <p:cNvCxnSpPr>
              <a:cxnSpLocks/>
              <a:stCxn id="46" idx="3"/>
              <a:endCxn id="8" idx="1"/>
            </p:cNvCxnSpPr>
            <p:nvPr/>
          </p:nvCxnSpPr>
          <p:spPr>
            <a:xfrm flipV="1">
              <a:off x="2051211" y="1857804"/>
              <a:ext cx="648011" cy="41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D6CD783-7102-4548-90B1-E5B5AF54F7B7}"/>
                </a:ext>
              </a:extLst>
            </p:cNvPr>
            <p:cNvSpPr txBox="1"/>
            <p:nvPr/>
          </p:nvSpPr>
          <p:spPr>
            <a:xfrm>
              <a:off x="4469320" y="2728895"/>
              <a:ext cx="345876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dir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48BE80A-7ACD-C547-9049-E3360B5850B2}"/>
                </a:ext>
              </a:extLst>
            </p:cNvPr>
            <p:cNvSpPr/>
            <p:nvPr/>
          </p:nvSpPr>
          <p:spPr>
            <a:xfrm>
              <a:off x="4199107" y="3258466"/>
              <a:ext cx="624205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25F7D11-EC48-9B42-9511-7DF8B2E82BEC}"/>
                </a:ext>
              </a:extLst>
            </p:cNvPr>
            <p:cNvSpPr/>
            <p:nvPr/>
          </p:nvSpPr>
          <p:spPr>
            <a:xfrm>
              <a:off x="4284998" y="3740569"/>
              <a:ext cx="624205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1B50C94-ACD1-B74D-8347-A00AF3A61769}"/>
              </a:ext>
            </a:extLst>
          </p:cNvPr>
          <p:cNvSpPr txBox="1"/>
          <p:nvPr/>
        </p:nvSpPr>
        <p:spPr>
          <a:xfrm>
            <a:off x="561325" y="4673684"/>
            <a:ext cx="673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小问题</a:t>
            </a:r>
            <a:r>
              <a:rPr lang="zh-CN" altLang="en-US" dirty="0"/>
              <a:t>：在执行 </a:t>
            </a:r>
            <a:r>
              <a:rPr lang="en-US" altLang="zh-CN" u="sng" dirty="0"/>
              <a:t>git checkout</a:t>
            </a:r>
            <a:r>
              <a:rPr lang="zh-CN" altLang="en-US" u="sng" dirty="0"/>
              <a:t> </a:t>
            </a:r>
            <a:r>
              <a:rPr lang="en-US" u="sng" dirty="0"/>
              <a:t>b2b1ed</a:t>
            </a:r>
            <a:r>
              <a:rPr lang="en-US" altLang="zh-CN" u="sng" dirty="0"/>
              <a:t> -- </a:t>
            </a:r>
            <a:r>
              <a:rPr lang="en-US" altLang="zh-CN" u="sng" dirty="0" err="1"/>
              <a:t>first.txt</a:t>
            </a:r>
            <a:r>
              <a:rPr lang="zh-CN" altLang="en-US" dirty="0"/>
              <a:t> 时都发生了什么？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06720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BA0A-4E7A-A543-9AB3-FF623F6D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</a:t>
            </a:r>
            <a:r>
              <a:rPr lang="zh-CN" altLang="en-US" dirty="0"/>
              <a:t>：文件系统的竞争者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496C-B2EF-CA4B-9488-749FE3E6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29AD-9559-A24F-A7A1-027DDE515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C7226-11BB-EF4C-ADA6-77D813BB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4132"/>
            <a:ext cx="9144000" cy="3026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E60322-B397-0541-83E9-B53537518C15}"/>
              </a:ext>
            </a:extLst>
          </p:cNvPr>
          <p:cNvSpPr txBox="1"/>
          <p:nvPr/>
        </p:nvSpPr>
        <p:spPr>
          <a:xfrm>
            <a:off x="5202" y="5447344"/>
            <a:ext cx="26003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www.sqlite.org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fasterthanfs.html</a:t>
            </a:r>
            <a:endParaRPr lang="en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F97D04-2627-C443-A422-D6E4A886824F}"/>
              </a:ext>
            </a:extLst>
          </p:cNvPr>
          <p:cNvSpPr/>
          <p:nvPr/>
        </p:nvSpPr>
        <p:spPr>
          <a:xfrm>
            <a:off x="179512" y="3398046"/>
            <a:ext cx="8605507" cy="111439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3767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BA0A-4E7A-A543-9AB3-FF623F6D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</a:t>
            </a:r>
            <a:r>
              <a:rPr lang="zh-CN" altLang="en-US" dirty="0"/>
              <a:t>：文件系统的竞争者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496C-B2EF-CA4B-9488-749FE3E6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29AD-9559-A24F-A7A1-027DDE515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1E004B-03B7-7149-B3D3-BADFF2D16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CN" b="0" dirty="0"/>
              <a:t>表面上</a:t>
            </a:r>
            <a:r>
              <a:rPr lang="en-US" altLang="zh-CN" b="0" dirty="0"/>
              <a:t>SQLite</a:t>
            </a:r>
            <a:r>
              <a:rPr lang="zh-CN" altLang="en-US" b="0" dirty="0"/>
              <a:t>是一个数据库</a:t>
            </a:r>
            <a:endParaRPr lang="en-US" altLang="zh-CN" b="0" dirty="0"/>
          </a:p>
          <a:p>
            <a:r>
              <a:rPr lang="zh-CN" altLang="en-US" b="0" dirty="0"/>
              <a:t>但实际上</a:t>
            </a:r>
            <a:r>
              <a:rPr lang="en-US" altLang="zh-CN" b="0" dirty="0"/>
              <a:t>SQLite</a:t>
            </a:r>
            <a:r>
              <a:rPr lang="zh-CN" altLang="en-US" b="0" dirty="0"/>
              <a:t>也可以是一个文件系统！</a:t>
            </a:r>
            <a:endParaRPr lang="en-US" altLang="zh-CN" b="0" dirty="0"/>
          </a:p>
          <a:p>
            <a:r>
              <a:rPr lang="zh-CN" altLang="en-US" b="0" dirty="0"/>
              <a:t>其核心还是一个数据库</a:t>
            </a:r>
            <a:r>
              <a:rPr lang="en-US" altLang="zh-CN" b="0" dirty="0"/>
              <a:t>...</a:t>
            </a:r>
          </a:p>
          <a:p>
            <a:pPr lvl="1"/>
            <a:r>
              <a:rPr lang="zh-CN" altLang="en-CN" dirty="0">
                <a:latin typeface="Courier" pitchFamily="2" charset="0"/>
              </a:rPr>
              <a:t>在</a:t>
            </a:r>
            <a:r>
              <a:rPr lang="zh-CN" altLang="en-US" dirty="0">
                <a:latin typeface="Courier" pitchFamily="2" charset="0"/>
              </a:rPr>
              <a:t>关系型数据库的表中，记录文件名和</a:t>
            </a:r>
            <a:r>
              <a:rPr lang="en-US" altLang="zh-CN" dirty="0">
                <a:latin typeface="Courier" pitchFamily="2" charset="0"/>
              </a:rPr>
              <a:t>BLOB</a:t>
            </a:r>
            <a:r>
              <a:rPr lang="zh-CN" altLang="en-US" dirty="0">
                <a:latin typeface="Courier" pitchFamily="2" charset="0"/>
              </a:rPr>
              <a:t>类型文件数据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通过查找文件名，获取对应文件数据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存储大量小文件</a:t>
            </a:r>
            <a:endParaRPr lang="en-US" altLang="zh-CN" dirty="0">
              <a:latin typeface="Courier" pitchFamily="2" charset="0"/>
            </a:endParaRPr>
          </a:p>
          <a:p>
            <a:r>
              <a:rPr lang="zh-CN" altLang="en-CN" b="0" dirty="0">
                <a:latin typeface="Courier" pitchFamily="2" charset="0"/>
              </a:rPr>
              <a:t>文件系统</a:t>
            </a:r>
            <a:r>
              <a:rPr lang="zh-CN" altLang="en-US" b="0" dirty="0">
                <a:latin typeface="Courier" pitchFamily="2" charset="0"/>
              </a:rPr>
              <a:t>里的文件里的文件系统里的文件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741772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EC9D-60EF-B043-89C6-69CDA864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SQLite</a:t>
            </a:r>
            <a:r>
              <a:rPr lang="zh-CN" altLang="en-CN" dirty="0"/>
              <a:t>引发</a:t>
            </a:r>
            <a:r>
              <a:rPr lang="zh-CN" altLang="en-US" dirty="0"/>
              <a:t>的思考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D221E-DA9D-7E40-BAFA-A7E39A2CA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对于小文件，为何一般文件系统不如</a:t>
            </a:r>
            <a:r>
              <a:rPr lang="en-US" altLang="zh-CN" b="0" dirty="0"/>
              <a:t>SQLite</a:t>
            </a:r>
            <a:r>
              <a:rPr lang="zh-CN" altLang="en-US" b="0" dirty="0"/>
              <a:t>效率高？</a:t>
            </a:r>
            <a:endParaRPr lang="en-US" altLang="zh-CN" b="0" dirty="0"/>
          </a:p>
          <a:p>
            <a:r>
              <a:rPr lang="zh-CN" altLang="en-US" b="0" dirty="0"/>
              <a:t>文件系统如何针对小文件进行改进？</a:t>
            </a:r>
            <a:endParaRPr lang="en-US" altLang="zh-CN" b="0" dirty="0"/>
          </a:p>
          <a:p>
            <a:r>
              <a:rPr lang="zh-CN" altLang="en-US" b="0" dirty="0"/>
              <a:t>还有哪些针对小文件特殊处理的场景？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3D7E1-6E4E-6948-B5DF-1EDC8BC7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5E9F1-30D2-304E-A7F5-74DC6D4AE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246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F834C2-FC9F-6940-A2F1-0F1494EC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5194-DA3A-1A41-AB30-3F21573C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873B3-411D-7E4E-B146-AE70ADE18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5">
            <a:extLst>
              <a:ext uri="{FF2B5EF4-FFF2-40B4-BE49-F238E27FC236}">
                <a16:creationId xmlns:a16="http://schemas.microsoft.com/office/drawing/2014/main" id="{3F702E7A-BF99-B246-856C-68F00A51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FUSE</a:t>
            </a:r>
            <a:r>
              <a:rPr lang="zh-CN" altLang="en-US" dirty="0"/>
              <a:t>：</a:t>
            </a:r>
            <a:r>
              <a:rPr lang="zh-CN" altLang="en-CN" dirty="0"/>
              <a:t>用户态</a:t>
            </a:r>
            <a:r>
              <a:rPr lang="zh-CN" altLang="en-US" dirty="0"/>
              <a:t>文件系统框架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25492354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9663-5531-AC44-9C41-2C851DE5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用户态文件系统框架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D52E-F8DB-1740-B85F-6813C1AC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DAC8-1B1A-FE4D-8D80-E3F871911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7FBA5A0-66B0-344A-990E-6C56EA01121D}"/>
              </a:ext>
            </a:extLst>
          </p:cNvPr>
          <p:cNvGrpSpPr/>
          <p:nvPr/>
        </p:nvGrpSpPr>
        <p:grpSpPr>
          <a:xfrm>
            <a:off x="3417350" y="2209428"/>
            <a:ext cx="5440106" cy="1884243"/>
            <a:chOff x="777752" y="2209427"/>
            <a:chExt cx="6895398" cy="23883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A22CCC-B6C8-7E4C-B8A1-A924EA4AA50B}"/>
                </a:ext>
              </a:extLst>
            </p:cNvPr>
            <p:cNvSpPr/>
            <p:nvPr/>
          </p:nvSpPr>
          <p:spPr>
            <a:xfrm>
              <a:off x="1864624" y="2209428"/>
              <a:ext cx="2347336" cy="8917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应用</a:t>
              </a:r>
              <a:r>
                <a:rPr lang="zh-CN" altLang="en-US" sz="1050" dirty="0"/>
                <a:t>程序</a:t>
              </a:r>
              <a:endParaRPr lang="en-CN" sz="1050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7EA1985-376F-C84E-9353-56EA44785E3C}"/>
                </a:ext>
              </a:extLst>
            </p:cNvPr>
            <p:cNvCxnSpPr>
              <a:cxnSpLocks/>
            </p:cNvCxnSpPr>
            <p:nvPr/>
          </p:nvCxnSpPr>
          <p:spPr>
            <a:xfrm>
              <a:off x="777752" y="3281164"/>
              <a:ext cx="689539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0DE6E5-67DB-E348-917C-A04DB6075A1B}"/>
                </a:ext>
              </a:extLst>
            </p:cNvPr>
            <p:cNvSpPr/>
            <p:nvPr/>
          </p:nvSpPr>
          <p:spPr>
            <a:xfrm>
              <a:off x="1854228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Ext4</a:t>
              </a:r>
              <a:endParaRPr lang="en-CN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59445-8A3C-6645-BC54-CF8069FF1B56}"/>
                </a:ext>
              </a:extLst>
            </p:cNvPr>
            <p:cNvSpPr/>
            <p:nvPr/>
          </p:nvSpPr>
          <p:spPr>
            <a:xfrm>
              <a:off x="2767884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XFS</a:t>
              </a:r>
              <a:endParaRPr lang="en-CN" sz="105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BAAD2C-5E02-744B-8BF5-C1F88D1D68C0}"/>
                </a:ext>
              </a:extLst>
            </p:cNvPr>
            <p:cNvSpPr/>
            <p:nvPr/>
          </p:nvSpPr>
          <p:spPr>
            <a:xfrm>
              <a:off x="3681540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F2FS</a:t>
              </a:r>
              <a:endParaRPr lang="en-CN" sz="105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57762-73D8-7E43-8214-B0105D0AAF6D}"/>
                </a:ext>
              </a:extLst>
            </p:cNvPr>
            <p:cNvSpPr/>
            <p:nvPr/>
          </p:nvSpPr>
          <p:spPr>
            <a:xfrm>
              <a:off x="1864624" y="3475722"/>
              <a:ext cx="2808312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虚拟文件系统</a:t>
              </a:r>
              <a:endParaRPr lang="en-CN" sz="10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75CE90-5C12-7B45-B00F-035697A57B98}"/>
                </a:ext>
              </a:extLst>
            </p:cNvPr>
            <p:cNvSpPr txBox="1"/>
            <p:nvPr/>
          </p:nvSpPr>
          <p:spPr>
            <a:xfrm>
              <a:off x="1008585" y="3520350"/>
              <a:ext cx="698432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内核</a:t>
              </a:r>
              <a:endParaRPr lang="en-CN" sz="105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D1F095-A7FD-084B-BB1A-D335F51925BA}"/>
                </a:ext>
              </a:extLst>
            </p:cNvPr>
            <p:cNvSpPr/>
            <p:nvPr/>
          </p:nvSpPr>
          <p:spPr>
            <a:xfrm>
              <a:off x="5112654" y="3750020"/>
              <a:ext cx="1691594" cy="8477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驱动</a:t>
              </a:r>
              <a:endParaRPr lang="en-CN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51CFE6-1B72-6F43-A804-354AA8400AB7}"/>
                </a:ext>
              </a:extLst>
            </p:cNvPr>
            <p:cNvSpPr txBox="1"/>
            <p:nvPr/>
          </p:nvSpPr>
          <p:spPr>
            <a:xfrm>
              <a:off x="777752" y="2731812"/>
              <a:ext cx="909497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用户态</a:t>
              </a:r>
              <a:endParaRPr lang="en-CN" sz="105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D119DF-0509-B34D-BCA2-CDB276B3FF91}"/>
                </a:ext>
              </a:extLst>
            </p:cNvPr>
            <p:cNvSpPr/>
            <p:nvPr/>
          </p:nvSpPr>
          <p:spPr>
            <a:xfrm>
              <a:off x="4742828" y="2672647"/>
              <a:ext cx="2709492" cy="369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库</a:t>
              </a:r>
              <a:endParaRPr lang="en-CN" sz="105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5ECC8A-A9ED-5743-B721-D6AECAA039A0}"/>
                </a:ext>
              </a:extLst>
            </p:cNvPr>
            <p:cNvSpPr/>
            <p:nvPr/>
          </p:nvSpPr>
          <p:spPr>
            <a:xfrm>
              <a:off x="4742828" y="2209427"/>
              <a:ext cx="2709492" cy="4632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文件系统</a:t>
              </a:r>
              <a:endParaRPr lang="en-CN" sz="105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85A5305-E882-144C-906E-C43F510F3AE9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38292" y="3101144"/>
              <a:ext cx="0" cy="3648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CA3756B-A1B7-E04F-B0B7-F5F30F878B50}"/>
                </a:ext>
              </a:extLst>
            </p:cNvPr>
            <p:cNvCxnSpPr>
              <a:cxnSpLocks/>
            </p:cNvCxnSpPr>
            <p:nvPr/>
          </p:nvCxnSpPr>
          <p:spPr>
            <a:xfrm>
              <a:off x="2245908" y="3899439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D95057F-8AB6-A646-8C60-8C248CDBBA93}"/>
                </a:ext>
              </a:extLst>
            </p:cNvPr>
            <p:cNvCxnSpPr>
              <a:cxnSpLocks/>
            </p:cNvCxnSpPr>
            <p:nvPr/>
          </p:nvCxnSpPr>
          <p:spPr>
            <a:xfrm>
              <a:off x="3159564" y="3889682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D350525-881F-9C4F-8DEF-A9881C4B7E7A}"/>
                </a:ext>
              </a:extLst>
            </p:cNvPr>
            <p:cNvCxnSpPr>
              <a:cxnSpLocks/>
            </p:cNvCxnSpPr>
            <p:nvPr/>
          </p:nvCxnSpPr>
          <p:spPr>
            <a:xfrm>
              <a:off x="4073220" y="3889681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B076494-93BB-E64E-B443-24D49F35C22A}"/>
                </a:ext>
              </a:extLst>
            </p:cNvPr>
            <p:cNvCxnSpPr>
              <a:cxnSpLocks/>
              <a:stCxn id="15" idx="3"/>
              <a:endCxn id="20" idx="1"/>
            </p:cNvCxnSpPr>
            <p:nvPr/>
          </p:nvCxnSpPr>
          <p:spPr>
            <a:xfrm>
              <a:off x="4672936" y="3682702"/>
              <a:ext cx="439718" cy="491172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47">
              <a:extLst>
                <a:ext uri="{FF2B5EF4-FFF2-40B4-BE49-F238E27FC236}">
                  <a16:creationId xmlns:a16="http://schemas.microsoft.com/office/drawing/2014/main" id="{D4E6DDA4-270B-8448-B7BC-656CECA89014}"/>
                </a:ext>
              </a:extLst>
            </p:cNvPr>
            <p:cNvCxnSpPr>
              <a:cxnSpLocks/>
              <a:stCxn id="20" idx="0"/>
              <a:endCxn id="23" idx="2"/>
            </p:cNvCxnSpPr>
            <p:nvPr/>
          </p:nvCxnSpPr>
          <p:spPr>
            <a:xfrm rot="5400000" flipH="1" flipV="1">
              <a:off x="5673990" y="3326437"/>
              <a:ext cx="708045" cy="139123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F0C50FC0-48AB-964D-9BFC-A71AD02C9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CN" sz="2000" b="0" dirty="0"/>
              <a:t>为什么</a:t>
            </a:r>
            <a:r>
              <a:rPr lang="zh-CN" altLang="en-US" sz="2000" b="0" dirty="0"/>
              <a:t>要用户态文件系统？</a:t>
            </a:r>
            <a:endParaRPr lang="en-US" altLang="zh-CN" sz="2000" b="0" dirty="0"/>
          </a:p>
          <a:p>
            <a:r>
              <a:rPr lang="zh-CN" altLang="en-US" sz="1800" b="0" dirty="0"/>
              <a:t>快速试验文件系统新设计</a:t>
            </a:r>
            <a:endParaRPr lang="en-US" altLang="zh-CN" sz="1800" b="0" dirty="0"/>
          </a:p>
          <a:p>
            <a:r>
              <a:rPr lang="zh-CN" altLang="en-US" sz="1800" b="0" dirty="0"/>
              <a:t>大量第三方库可以使用</a:t>
            </a:r>
            <a:endParaRPr lang="en-US" altLang="zh-CN" sz="1800" b="0" dirty="0"/>
          </a:p>
          <a:p>
            <a:r>
              <a:rPr lang="zh-CN" altLang="en-US" sz="1800" b="0" dirty="0"/>
              <a:t>方便调试</a:t>
            </a:r>
            <a:endParaRPr lang="en-US" altLang="zh-CN" sz="1800" b="0" dirty="0"/>
          </a:p>
          <a:p>
            <a:r>
              <a:rPr lang="zh-CN" altLang="en-US" sz="1800" b="0" dirty="0"/>
              <a:t>无需担心把内核搞崩溃</a:t>
            </a:r>
            <a:endParaRPr lang="en-US" altLang="zh-CN" sz="1800" b="0" dirty="0"/>
          </a:p>
          <a:p>
            <a:r>
              <a:rPr lang="zh-CN" altLang="en-US" sz="1800" b="0" dirty="0"/>
              <a:t>实现新功能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11472521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9663-5531-AC44-9C41-2C851DE5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基本流程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D52E-F8DB-1740-B85F-6813C1AC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DAC8-1B1A-FE4D-8D80-E3F871911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7FBA5A0-66B0-344A-990E-6C56EA01121D}"/>
              </a:ext>
            </a:extLst>
          </p:cNvPr>
          <p:cNvGrpSpPr/>
          <p:nvPr/>
        </p:nvGrpSpPr>
        <p:grpSpPr>
          <a:xfrm>
            <a:off x="4738459" y="2052757"/>
            <a:ext cx="4170196" cy="1884243"/>
            <a:chOff x="965702" y="2209427"/>
            <a:chExt cx="5285773" cy="23883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A22CCC-B6C8-7E4C-B8A1-A924EA4AA50B}"/>
                </a:ext>
              </a:extLst>
            </p:cNvPr>
            <p:cNvSpPr/>
            <p:nvPr/>
          </p:nvSpPr>
          <p:spPr>
            <a:xfrm>
              <a:off x="1864624" y="2209428"/>
              <a:ext cx="2347336" cy="8917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应用</a:t>
              </a:r>
              <a:r>
                <a:rPr lang="zh-CN" altLang="en-US" sz="1050" dirty="0"/>
                <a:t>程序</a:t>
              </a:r>
              <a:endParaRPr lang="en-CN" sz="1050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7EA1985-376F-C84E-9353-56EA44785E3C}"/>
                </a:ext>
              </a:extLst>
            </p:cNvPr>
            <p:cNvCxnSpPr>
              <a:cxnSpLocks/>
            </p:cNvCxnSpPr>
            <p:nvPr/>
          </p:nvCxnSpPr>
          <p:spPr>
            <a:xfrm>
              <a:off x="1097557" y="3281164"/>
              <a:ext cx="515391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0DE6E5-67DB-E348-917C-A04DB6075A1B}"/>
                </a:ext>
              </a:extLst>
            </p:cNvPr>
            <p:cNvSpPr/>
            <p:nvPr/>
          </p:nvSpPr>
          <p:spPr>
            <a:xfrm>
              <a:off x="1854228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Ext4</a:t>
              </a:r>
              <a:endParaRPr lang="en-CN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59445-8A3C-6645-BC54-CF8069FF1B56}"/>
                </a:ext>
              </a:extLst>
            </p:cNvPr>
            <p:cNvSpPr/>
            <p:nvPr/>
          </p:nvSpPr>
          <p:spPr>
            <a:xfrm>
              <a:off x="2767884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XFS</a:t>
              </a:r>
              <a:endParaRPr lang="en-CN" sz="105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BAAD2C-5E02-744B-8BF5-C1F88D1D68C0}"/>
                </a:ext>
              </a:extLst>
            </p:cNvPr>
            <p:cNvSpPr/>
            <p:nvPr/>
          </p:nvSpPr>
          <p:spPr>
            <a:xfrm>
              <a:off x="3681540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F2FS</a:t>
              </a:r>
              <a:endParaRPr lang="en-CN" sz="105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57762-73D8-7E43-8214-B0105D0AAF6D}"/>
                </a:ext>
              </a:extLst>
            </p:cNvPr>
            <p:cNvSpPr/>
            <p:nvPr/>
          </p:nvSpPr>
          <p:spPr>
            <a:xfrm>
              <a:off x="1864624" y="3475722"/>
              <a:ext cx="2808312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虚拟文件系统</a:t>
              </a:r>
              <a:endParaRPr lang="en-CN" sz="10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75CE90-5C12-7B45-B00F-035697A57B98}"/>
                </a:ext>
              </a:extLst>
            </p:cNvPr>
            <p:cNvSpPr txBox="1"/>
            <p:nvPr/>
          </p:nvSpPr>
          <p:spPr>
            <a:xfrm>
              <a:off x="1196535" y="3539592"/>
              <a:ext cx="698432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内核</a:t>
              </a:r>
              <a:endParaRPr lang="en-CN" sz="105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D1F095-A7FD-084B-BB1A-D335F51925BA}"/>
                </a:ext>
              </a:extLst>
            </p:cNvPr>
            <p:cNvSpPr/>
            <p:nvPr/>
          </p:nvSpPr>
          <p:spPr>
            <a:xfrm>
              <a:off x="5112654" y="3700693"/>
              <a:ext cx="1138821" cy="8477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驱动</a:t>
              </a:r>
              <a:endParaRPr lang="en-CN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51CFE6-1B72-6F43-A804-354AA8400AB7}"/>
                </a:ext>
              </a:extLst>
            </p:cNvPr>
            <p:cNvSpPr txBox="1"/>
            <p:nvPr/>
          </p:nvSpPr>
          <p:spPr>
            <a:xfrm>
              <a:off x="965702" y="2751054"/>
              <a:ext cx="909497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用户态</a:t>
              </a:r>
              <a:endParaRPr lang="en-CN" sz="105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D119DF-0509-B34D-BCA2-CDB276B3FF91}"/>
                </a:ext>
              </a:extLst>
            </p:cNvPr>
            <p:cNvSpPr/>
            <p:nvPr/>
          </p:nvSpPr>
          <p:spPr>
            <a:xfrm>
              <a:off x="4742829" y="2672647"/>
              <a:ext cx="1508646" cy="369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库</a:t>
              </a:r>
              <a:endParaRPr lang="en-CN" sz="105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5ECC8A-A9ED-5743-B721-D6AECAA039A0}"/>
                </a:ext>
              </a:extLst>
            </p:cNvPr>
            <p:cNvSpPr/>
            <p:nvPr/>
          </p:nvSpPr>
          <p:spPr>
            <a:xfrm>
              <a:off x="4742829" y="2209427"/>
              <a:ext cx="1508646" cy="4632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文件系统</a:t>
              </a:r>
              <a:endParaRPr lang="en-CN" sz="105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85A5305-E882-144C-906E-C43F510F3AE9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38292" y="3101144"/>
              <a:ext cx="0" cy="3648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CA3756B-A1B7-E04F-B0B7-F5F30F878B50}"/>
                </a:ext>
              </a:extLst>
            </p:cNvPr>
            <p:cNvCxnSpPr>
              <a:cxnSpLocks/>
            </p:cNvCxnSpPr>
            <p:nvPr/>
          </p:nvCxnSpPr>
          <p:spPr>
            <a:xfrm>
              <a:off x="2245908" y="3899439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D95057F-8AB6-A646-8C60-8C248CDBBA93}"/>
                </a:ext>
              </a:extLst>
            </p:cNvPr>
            <p:cNvCxnSpPr>
              <a:cxnSpLocks/>
            </p:cNvCxnSpPr>
            <p:nvPr/>
          </p:nvCxnSpPr>
          <p:spPr>
            <a:xfrm>
              <a:off x="3159564" y="3889682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D350525-881F-9C4F-8DEF-A9881C4B7E7A}"/>
                </a:ext>
              </a:extLst>
            </p:cNvPr>
            <p:cNvCxnSpPr>
              <a:cxnSpLocks/>
            </p:cNvCxnSpPr>
            <p:nvPr/>
          </p:nvCxnSpPr>
          <p:spPr>
            <a:xfrm>
              <a:off x="4073220" y="3889681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B076494-93BB-E64E-B443-24D49F35C22A}"/>
                </a:ext>
              </a:extLst>
            </p:cNvPr>
            <p:cNvCxnSpPr>
              <a:cxnSpLocks/>
              <a:stCxn id="15" idx="3"/>
              <a:endCxn id="20" idx="1"/>
            </p:cNvCxnSpPr>
            <p:nvPr/>
          </p:nvCxnSpPr>
          <p:spPr>
            <a:xfrm>
              <a:off x="4672936" y="3682703"/>
              <a:ext cx="439718" cy="441843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47">
              <a:extLst>
                <a:ext uri="{FF2B5EF4-FFF2-40B4-BE49-F238E27FC236}">
                  <a16:creationId xmlns:a16="http://schemas.microsoft.com/office/drawing/2014/main" id="{D4E6DDA4-270B-8448-B7BC-656CECA89014}"/>
                </a:ext>
              </a:extLst>
            </p:cNvPr>
            <p:cNvCxnSpPr>
              <a:cxnSpLocks/>
              <a:stCxn id="20" idx="0"/>
              <a:endCxn id="23" idx="2"/>
            </p:cNvCxnSpPr>
            <p:nvPr/>
          </p:nvCxnSpPr>
          <p:spPr>
            <a:xfrm rot="16200000" flipV="1">
              <a:off x="5260249" y="3278877"/>
              <a:ext cx="658718" cy="184912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F0C50FC0-48AB-964D-9BFC-A71AD02C9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33501"/>
            <a:ext cx="4281261" cy="3771636"/>
          </a:xfrm>
        </p:spPr>
        <p:txBody>
          <a:bodyPr>
            <a:normAutofit/>
          </a:bodyPr>
          <a:lstStyle/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文件系统向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驱动注册（挂载）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zh-CN" altLang="en-US" sz="1600" b="0" dirty="0"/>
              <a:t>应用程序发起文件请求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zh-CN" altLang="en-US" sz="1600" b="0" dirty="0"/>
              <a:t>根据挂载点，</a:t>
            </a:r>
            <a:r>
              <a:rPr lang="en-US" altLang="zh-CN" sz="1600" b="0" dirty="0"/>
              <a:t>VFS</a:t>
            </a:r>
            <a:r>
              <a:rPr lang="zh-CN" altLang="en-US" sz="1600" b="0" dirty="0"/>
              <a:t>将请求转发给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驱动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驱动通过中断、共享内存等方式将请求发给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文件系统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文件系统处理请求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文件系统通知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驱动请求结果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驱动通过</a:t>
            </a:r>
            <a:r>
              <a:rPr lang="en-US" altLang="zh-CN" sz="1600" b="0" dirty="0"/>
              <a:t>VFS</a:t>
            </a:r>
            <a:r>
              <a:rPr lang="zh-CN" altLang="en-US" sz="1600" b="0" dirty="0"/>
              <a:t>返回结果给应用程序</a:t>
            </a:r>
            <a:endParaRPr lang="en-US" altLang="zh-CN" sz="1600" b="0" dirty="0"/>
          </a:p>
          <a:p>
            <a:pPr marL="271463" indent="-271463">
              <a:buAutoNum type="arabicPeriod"/>
            </a:pPr>
            <a:endParaRPr lang="en-US" altLang="zh-CN" sz="1600" b="0" dirty="0"/>
          </a:p>
          <a:p>
            <a:pPr marL="271463" indent="-271463">
              <a:buNone/>
            </a:pPr>
            <a:endParaRPr lang="en-US" altLang="zh-CN" sz="14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D877BD-F1EF-2740-B853-1733B9E276F1}"/>
              </a:ext>
            </a:extLst>
          </p:cNvPr>
          <p:cNvSpPr txBox="1"/>
          <p:nvPr/>
        </p:nvSpPr>
        <p:spPr>
          <a:xfrm>
            <a:off x="3960182" y="4636975"/>
            <a:ext cx="5186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问题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zh-CN" altLang="en-CN" dirty="0">
                <a:solidFill>
                  <a:srgbClr val="C00000"/>
                </a:solidFill>
              </a:rPr>
              <a:t>从</a:t>
            </a:r>
            <a:r>
              <a:rPr lang="zh-CN" altLang="en-US" dirty="0">
                <a:solidFill>
                  <a:srgbClr val="C00000"/>
                </a:solidFill>
              </a:rPr>
              <a:t>这个流程中可以看出</a:t>
            </a:r>
            <a:r>
              <a:rPr lang="en-US" altLang="zh-CN" dirty="0">
                <a:solidFill>
                  <a:srgbClr val="C00000"/>
                </a:solidFill>
              </a:rPr>
              <a:t>FUSE</a:t>
            </a:r>
            <a:r>
              <a:rPr lang="zh-CN" altLang="en-US" dirty="0">
                <a:solidFill>
                  <a:srgbClr val="C00000"/>
                </a:solidFill>
              </a:rPr>
              <a:t>有什么问题？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05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uiExpand="1" build="p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5622-8CB7-824C-9D73-D9206770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FF4BA-D71A-484E-A4C1-BB415D9F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底层</a:t>
            </a:r>
            <a:r>
              <a:rPr lang="en-US" altLang="zh-CN" dirty="0"/>
              <a:t>API</a:t>
            </a:r>
          </a:p>
          <a:p>
            <a:pPr lvl="1"/>
            <a:r>
              <a:rPr lang="zh-CN" altLang="en-US" dirty="0"/>
              <a:t>直接与内核交互</a:t>
            </a:r>
            <a:endParaRPr lang="en-US" altLang="zh-CN" dirty="0"/>
          </a:p>
          <a:p>
            <a:pPr lvl="1"/>
            <a:r>
              <a:rPr lang="zh-CN" altLang="en-US" dirty="0"/>
              <a:t>需要负责处理</a:t>
            </a:r>
            <a:r>
              <a:rPr lang="en-US" altLang="zh-CN" dirty="0" err="1"/>
              <a:t>inode</a:t>
            </a:r>
            <a:r>
              <a:rPr lang="zh-CN" altLang="en-US" dirty="0"/>
              <a:t>和查找等操作</a:t>
            </a:r>
            <a:endParaRPr lang="en-US" altLang="zh-CN" dirty="0"/>
          </a:p>
          <a:p>
            <a:pPr lvl="1"/>
            <a:r>
              <a:rPr lang="zh-CN" altLang="en-US" dirty="0"/>
              <a:t>需要处理内核版本等差异</a:t>
            </a:r>
            <a:endParaRPr lang="en-US" altLang="zh-CN" dirty="0"/>
          </a:p>
          <a:p>
            <a:r>
              <a:rPr lang="zh-CN" altLang="en-US" dirty="0"/>
              <a:t>高层</a:t>
            </a:r>
            <a:r>
              <a:rPr lang="en-US" altLang="zh-CN" dirty="0"/>
              <a:t>API</a:t>
            </a:r>
          </a:p>
          <a:p>
            <a:pPr lvl="1"/>
            <a:r>
              <a:rPr lang="zh-CN" altLang="en-US" dirty="0"/>
              <a:t>构建于底层</a:t>
            </a:r>
            <a:r>
              <a:rPr lang="en-US" altLang="zh-CN" dirty="0"/>
              <a:t>API</a:t>
            </a:r>
            <a:r>
              <a:rPr lang="zh-CN" altLang="en-US" dirty="0"/>
              <a:t>之上</a:t>
            </a:r>
            <a:endParaRPr lang="en-US" altLang="zh-CN" dirty="0"/>
          </a:p>
          <a:p>
            <a:pPr lvl="1"/>
            <a:r>
              <a:rPr lang="zh-CN" altLang="en-US" dirty="0"/>
              <a:t>以路径名为参数</a:t>
            </a:r>
            <a:endParaRPr lang="en-US" altLang="zh-CN" dirty="0"/>
          </a:p>
          <a:p>
            <a:pPr lvl="1"/>
            <a:r>
              <a:rPr lang="zh-CN" altLang="en-US" dirty="0"/>
              <a:t>无需关注</a:t>
            </a:r>
            <a:r>
              <a:rPr lang="en-US" altLang="zh-CN" dirty="0" err="1"/>
              <a:t>inode</a:t>
            </a:r>
            <a:r>
              <a:rPr lang="zh-CN" altLang="en-US" dirty="0"/>
              <a:t>、路径和查找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0D9C5-3DFF-E14D-A3A4-96BE3788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0B60F-2516-B949-9C14-97A246FC7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174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65FB-C9CF-B54C-A23A-EE1D5A6D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CN" dirty="0"/>
              <a:t>底层</a:t>
            </a:r>
            <a:r>
              <a:rPr lang="en-US" altLang="zh-CN" dirty="0"/>
              <a:t>API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8FEA-F363-D044-BAFA-6BDCE852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7600-9855-174B-93E6-F0C14AF33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2502F-E470-4D4D-9050-F58811DE685E}"/>
              </a:ext>
            </a:extLst>
          </p:cNvPr>
          <p:cNvSpPr txBox="1"/>
          <p:nvPr/>
        </p:nvSpPr>
        <p:spPr>
          <a:xfrm>
            <a:off x="934616" y="904567"/>
            <a:ext cx="7021760" cy="4401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static void </a:t>
            </a:r>
            <a:r>
              <a:rPr lang="en-US" sz="1000" dirty="0" err="1">
                <a:latin typeface="Courier" pitchFamily="2" charset="0"/>
              </a:rPr>
              <a:t>hello_ll_lookup</a:t>
            </a:r>
            <a:r>
              <a:rPr lang="en-US" sz="1000" b="1" dirty="0">
                <a:latin typeface="Courier" pitchFamily="2" charset="0"/>
              </a:rPr>
              <a:t>(</a:t>
            </a:r>
            <a:r>
              <a:rPr lang="en-US" sz="1000" b="1" dirty="0" err="1">
                <a:latin typeface="Courier" pitchFamily="2" charset="0"/>
              </a:rPr>
              <a:t>fuse_req_t</a:t>
            </a:r>
            <a:r>
              <a:rPr lang="en-US" sz="1000" b="1" dirty="0">
                <a:latin typeface="Courier" pitchFamily="2" charset="0"/>
              </a:rPr>
              <a:t> req, </a:t>
            </a:r>
            <a:r>
              <a:rPr lang="en-US" sz="1000" b="1" dirty="0" err="1">
                <a:latin typeface="Courier" pitchFamily="2" charset="0"/>
              </a:rPr>
              <a:t>fuse_ino_t</a:t>
            </a:r>
            <a:r>
              <a:rPr lang="en-US" sz="1000" b="1" dirty="0">
                <a:latin typeface="Courier" pitchFamily="2" charset="0"/>
              </a:rPr>
              <a:t> parent, const char *name)</a:t>
            </a:r>
          </a:p>
          <a:p>
            <a:r>
              <a:rPr lang="en-US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struct </a:t>
            </a:r>
            <a:r>
              <a:rPr lang="en-US" sz="1000" dirty="0" err="1">
                <a:latin typeface="Courier" pitchFamily="2" charset="0"/>
              </a:rPr>
              <a:t>fuse_entry_param</a:t>
            </a:r>
            <a:r>
              <a:rPr lang="en-US" sz="1000" dirty="0">
                <a:latin typeface="Courier" pitchFamily="2" charset="0"/>
              </a:rPr>
              <a:t> e;</a:t>
            </a:r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e.ino</a:t>
            </a:r>
            <a:r>
              <a:rPr lang="en-US" sz="1000" dirty="0">
                <a:latin typeface="Courier" pitchFamily="2" charset="0"/>
              </a:rPr>
              <a:t> = 2;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hello_stat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e.ino</a:t>
            </a:r>
            <a:r>
              <a:rPr lang="en-US" sz="1000" dirty="0">
                <a:latin typeface="Courier" pitchFamily="2" charset="0"/>
              </a:rPr>
              <a:t>, &amp;</a:t>
            </a:r>
            <a:r>
              <a:rPr lang="en-US" sz="1000" dirty="0" err="1">
                <a:latin typeface="Courier" pitchFamily="2" charset="0"/>
              </a:rPr>
              <a:t>e.attr</a:t>
            </a:r>
            <a:r>
              <a:rPr lang="en-US" sz="1000" dirty="0">
                <a:latin typeface="Courier" pitchFamily="2" charset="0"/>
              </a:rPr>
              <a:t>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fuse_reply_entry</a:t>
            </a:r>
            <a:r>
              <a:rPr lang="en-US" sz="1000" dirty="0">
                <a:latin typeface="Courier" pitchFamily="2" charset="0"/>
              </a:rPr>
              <a:t>(req, &amp;e);</a:t>
            </a:r>
          </a:p>
          <a:p>
            <a:r>
              <a:rPr lang="en-US" sz="1000" dirty="0">
                <a:latin typeface="Courier" pitchFamily="2" charset="0"/>
              </a:rPr>
              <a:t>}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lookup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：根据父目录</a:t>
            </a:r>
            <a:r>
              <a:rPr lang="en-US" altLang="zh-CN" sz="1000" b="1" dirty="0" err="1">
                <a:solidFill>
                  <a:srgbClr val="C00000"/>
                </a:solidFill>
                <a:latin typeface="Courier" pitchFamily="2" charset="0"/>
              </a:rPr>
              <a:t>ino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和文件名，返回查找结果</a:t>
            </a:r>
            <a:br>
              <a:rPr lang="en-US" sz="1000" dirty="0">
                <a:latin typeface="Courier" pitchFamily="2" charset="0"/>
              </a:rPr>
            </a:br>
            <a:r>
              <a:rPr lang="en-US" sz="1000" dirty="0">
                <a:latin typeface="Courier" pitchFamily="2" charset="0"/>
              </a:rPr>
              <a:t>static void </a:t>
            </a:r>
            <a:r>
              <a:rPr lang="en-US" sz="1000" dirty="0" err="1">
                <a:latin typeface="Courier" pitchFamily="2" charset="0"/>
              </a:rPr>
              <a:t>hello_ll_read</a:t>
            </a:r>
            <a:r>
              <a:rPr lang="en-US" sz="1000" b="1" dirty="0">
                <a:latin typeface="Courier" pitchFamily="2" charset="0"/>
              </a:rPr>
              <a:t>(</a:t>
            </a:r>
            <a:r>
              <a:rPr lang="en-US" sz="1000" b="1" dirty="0" err="1">
                <a:latin typeface="Courier" pitchFamily="2" charset="0"/>
              </a:rPr>
              <a:t>fuse_req_t</a:t>
            </a:r>
            <a:r>
              <a:rPr lang="en-US" sz="1000" b="1" dirty="0">
                <a:latin typeface="Courier" pitchFamily="2" charset="0"/>
              </a:rPr>
              <a:t> req, </a:t>
            </a:r>
            <a:r>
              <a:rPr lang="en-US" sz="1000" b="1" dirty="0" err="1">
                <a:latin typeface="Courier" pitchFamily="2" charset="0"/>
              </a:rPr>
              <a:t>fuse_ino_t</a:t>
            </a:r>
            <a:r>
              <a:rPr lang="en-US" sz="1000" b="1" dirty="0">
                <a:latin typeface="Courier" pitchFamily="2" charset="0"/>
              </a:rPr>
              <a:t> </a:t>
            </a:r>
            <a:r>
              <a:rPr lang="en-US" sz="1000" b="1" dirty="0" err="1">
                <a:latin typeface="Courier" pitchFamily="2" charset="0"/>
              </a:rPr>
              <a:t>ino</a:t>
            </a:r>
            <a:r>
              <a:rPr lang="en-US" sz="1000" b="1" dirty="0">
                <a:latin typeface="Courier" pitchFamily="2" charset="0"/>
              </a:rPr>
              <a:t>, </a:t>
            </a:r>
            <a:r>
              <a:rPr lang="en-US" sz="1000" b="1" dirty="0" err="1">
                <a:latin typeface="Courier" pitchFamily="2" charset="0"/>
              </a:rPr>
              <a:t>size_t</a:t>
            </a:r>
            <a:r>
              <a:rPr lang="en-US" sz="1000" b="1" dirty="0">
                <a:latin typeface="Courier" pitchFamily="2" charset="0"/>
              </a:rPr>
              <a:t> size,</a:t>
            </a:r>
          </a:p>
          <a:p>
            <a:r>
              <a:rPr lang="zh-CN" altLang="en-US" sz="1000" b="1" dirty="0">
                <a:latin typeface="Courier" pitchFamily="2" charset="0"/>
              </a:rPr>
              <a:t>                          </a:t>
            </a:r>
            <a:r>
              <a:rPr lang="en-US" sz="1000" b="1" dirty="0" err="1">
                <a:latin typeface="Courier" pitchFamily="2" charset="0"/>
              </a:rPr>
              <a:t>off_t</a:t>
            </a:r>
            <a:r>
              <a:rPr lang="en-US" sz="1000" b="1" dirty="0">
                <a:latin typeface="Courier" pitchFamily="2" charset="0"/>
              </a:rPr>
              <a:t> off, struct </a:t>
            </a:r>
            <a:r>
              <a:rPr lang="en-US" sz="1000" b="1" dirty="0" err="1">
                <a:latin typeface="Courier" pitchFamily="2" charset="0"/>
              </a:rPr>
              <a:t>fuse_file_info</a:t>
            </a:r>
            <a:r>
              <a:rPr lang="en-US" sz="1000" b="1" dirty="0">
                <a:latin typeface="Courier" pitchFamily="2" charset="0"/>
              </a:rPr>
              <a:t> *fi)</a:t>
            </a:r>
          </a:p>
          <a:p>
            <a:r>
              <a:rPr lang="en-US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assert(</a:t>
            </a:r>
            <a:r>
              <a:rPr lang="en-US" sz="1000" dirty="0" err="1">
                <a:latin typeface="Courier" pitchFamily="2" charset="0"/>
              </a:rPr>
              <a:t>ino</a:t>
            </a:r>
            <a:r>
              <a:rPr lang="en-US" sz="1000" dirty="0">
                <a:latin typeface="Courier" pitchFamily="2" charset="0"/>
              </a:rPr>
              <a:t> == 2);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reply_buf_limited</a:t>
            </a:r>
            <a:r>
              <a:rPr lang="en-US" sz="1000" dirty="0">
                <a:latin typeface="Courier" pitchFamily="2" charset="0"/>
              </a:rPr>
              <a:t>(req, </a:t>
            </a:r>
            <a:r>
              <a:rPr lang="en-US" sz="1000" dirty="0" err="1">
                <a:latin typeface="Courier" pitchFamily="2" charset="0"/>
              </a:rPr>
              <a:t>hello_str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sz="1000" dirty="0" err="1">
                <a:latin typeface="Courier" pitchFamily="2" charset="0"/>
              </a:rPr>
              <a:t>strlen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hello_str</a:t>
            </a:r>
            <a:r>
              <a:rPr lang="en-US" sz="1000" dirty="0">
                <a:latin typeface="Courier" pitchFamily="2" charset="0"/>
              </a:rPr>
              <a:t>), off, size);</a:t>
            </a:r>
          </a:p>
          <a:p>
            <a:r>
              <a:rPr lang="en-US" sz="1000" dirty="0">
                <a:latin typeface="Courier" pitchFamily="2" charset="0"/>
              </a:rPr>
              <a:t>}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read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：根据</a:t>
            </a:r>
            <a:r>
              <a:rPr lang="en-US" altLang="zh-CN" sz="1000" b="1" dirty="0" err="1">
                <a:solidFill>
                  <a:srgbClr val="C00000"/>
                </a:solidFill>
                <a:latin typeface="Courier" pitchFamily="2" charset="0"/>
              </a:rPr>
              <a:t>ino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，返回请求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static const struct </a:t>
            </a:r>
            <a:r>
              <a:rPr lang="en-US" sz="1000" dirty="0" err="1">
                <a:latin typeface="Courier" pitchFamily="2" charset="0"/>
              </a:rPr>
              <a:t>fuse_lowlevel_ops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hello_ll_oper</a:t>
            </a:r>
            <a:r>
              <a:rPr lang="en-US" sz="1000" dirty="0">
                <a:latin typeface="Courier" pitchFamily="2" charset="0"/>
              </a:rPr>
              <a:t> = {</a:t>
            </a:r>
          </a:p>
          <a:p>
            <a:r>
              <a:rPr lang="zh-CN" altLang="en-US" sz="1000" b="1" dirty="0">
                <a:latin typeface="Courier" pitchFamily="2" charset="0"/>
              </a:rPr>
              <a:t>  </a:t>
            </a:r>
            <a:r>
              <a:rPr lang="en-US" sz="1000" b="1" dirty="0">
                <a:latin typeface="Courier" pitchFamily="2" charset="0"/>
              </a:rPr>
              <a:t>.lookup = </a:t>
            </a:r>
            <a:r>
              <a:rPr lang="en-US" sz="1000" b="1" dirty="0" err="1">
                <a:latin typeface="Courier" pitchFamily="2" charset="0"/>
              </a:rPr>
              <a:t>hello_ll_lookup</a:t>
            </a:r>
            <a:r>
              <a:rPr lang="en-US" sz="1000" b="1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getattr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hello_ll_getattr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readdir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hello_ll_readdir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.open = </a:t>
            </a:r>
            <a:r>
              <a:rPr lang="en-US" sz="1000" dirty="0" err="1">
                <a:latin typeface="Courier" pitchFamily="2" charset="0"/>
              </a:rPr>
              <a:t>hello_ll_open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b="1" dirty="0">
                <a:latin typeface="Courier" pitchFamily="2" charset="0"/>
              </a:rPr>
              <a:t>  </a:t>
            </a:r>
            <a:r>
              <a:rPr lang="en-US" sz="1000" b="1" dirty="0">
                <a:latin typeface="Courier" pitchFamily="2" charset="0"/>
              </a:rPr>
              <a:t>.read = </a:t>
            </a:r>
            <a:r>
              <a:rPr lang="en-US" sz="1000" b="1" dirty="0" err="1">
                <a:latin typeface="Courier" pitchFamily="2" charset="0"/>
              </a:rPr>
              <a:t>hello_ll_read</a:t>
            </a:r>
            <a:r>
              <a:rPr lang="en-US" sz="1000" b="1" dirty="0">
                <a:latin typeface="Courier" pitchFamily="2" charset="0"/>
              </a:rPr>
              <a:t>,</a:t>
            </a:r>
          </a:p>
          <a:p>
            <a:r>
              <a:rPr lang="en-US" sz="1000" dirty="0">
                <a:latin typeface="Courier" pitchFamily="2" charset="0"/>
              </a:rPr>
              <a:t>};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提供函数指针作为回调函数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int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main()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se = </a:t>
            </a:r>
            <a:r>
              <a:rPr lang="en-US" altLang="zh-CN" sz="1000" dirty="0" err="1">
                <a:latin typeface="Courier" pitchFamily="2" charset="0"/>
              </a:rPr>
              <a:t>fuse_session_new</a:t>
            </a:r>
            <a:r>
              <a:rPr lang="en-US" altLang="zh-CN" sz="1000" dirty="0">
                <a:latin typeface="Courier" pitchFamily="2" charset="0"/>
              </a:rPr>
              <a:t>(&amp;</a:t>
            </a:r>
            <a:r>
              <a:rPr lang="en-US" altLang="zh-CN" sz="1000" dirty="0" err="1">
                <a:latin typeface="Courier" pitchFamily="2" charset="0"/>
              </a:rPr>
              <a:t>args</a:t>
            </a:r>
            <a:r>
              <a:rPr lang="en-US" altLang="zh-CN" sz="1000" dirty="0">
                <a:latin typeface="Courier" pitchFamily="2" charset="0"/>
              </a:rPr>
              <a:t>, </a:t>
            </a:r>
            <a:r>
              <a:rPr lang="en-US" altLang="zh-CN" sz="1000" b="1" dirty="0">
                <a:latin typeface="Courier" pitchFamily="2" charset="0"/>
              </a:rPr>
              <a:t>&amp;</a:t>
            </a:r>
            <a:r>
              <a:rPr lang="en-US" altLang="zh-CN" sz="1000" b="1" dirty="0" err="1">
                <a:latin typeface="Courier" pitchFamily="2" charset="0"/>
              </a:rPr>
              <a:t>hello_ll_oper</a:t>
            </a:r>
            <a:r>
              <a:rPr lang="en-US" altLang="zh-CN" sz="1000" dirty="0">
                <a:latin typeface="Courier" pitchFamily="2" charset="0"/>
              </a:rPr>
              <a:t>,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 err="1">
                <a:latin typeface="Courier" pitchFamily="2" charset="0"/>
              </a:rPr>
              <a:t>sizeof</a:t>
            </a:r>
            <a:r>
              <a:rPr lang="en-US" altLang="zh-CN" sz="1000" dirty="0">
                <a:latin typeface="Courier" pitchFamily="2" charset="0"/>
              </a:rPr>
              <a:t>(</a:t>
            </a:r>
            <a:r>
              <a:rPr lang="en-US" altLang="zh-CN" sz="1000" dirty="0" err="1">
                <a:latin typeface="Courier" pitchFamily="2" charset="0"/>
              </a:rPr>
              <a:t>hello_ll_oper</a:t>
            </a:r>
            <a:r>
              <a:rPr lang="en-US" altLang="zh-CN" sz="1000" dirty="0">
                <a:latin typeface="Courier" pitchFamily="2" charset="0"/>
              </a:rPr>
              <a:t>), NULL);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建立连接</a:t>
            </a:r>
            <a:endParaRPr lang="en-US" sz="1000" b="1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 err="1">
                <a:latin typeface="Courier" pitchFamily="2" charset="0"/>
              </a:rPr>
              <a:t>fuse_session_mount</a:t>
            </a:r>
            <a:r>
              <a:rPr lang="en-US" altLang="zh-CN" sz="1000" dirty="0">
                <a:latin typeface="Courier" pitchFamily="2" charset="0"/>
              </a:rPr>
              <a:t>(se, </a:t>
            </a:r>
            <a:r>
              <a:rPr lang="en-US" altLang="zh-CN" sz="1000" dirty="0" err="1">
                <a:latin typeface="Courier" pitchFamily="2" charset="0"/>
              </a:rPr>
              <a:t>opts.mountpoint</a:t>
            </a:r>
            <a:r>
              <a:rPr lang="en-US" altLang="zh-CN" sz="1000" dirty="0">
                <a:latin typeface="Courier" pitchFamily="2" charset="0"/>
              </a:rPr>
              <a:t>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挂载</a:t>
            </a:r>
            <a:endParaRPr lang="en-US" altLang="zh-CN" sz="1000" dirty="0"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ret = </a:t>
            </a:r>
            <a:r>
              <a:rPr lang="en-US" altLang="zh-CN" sz="1000" dirty="0" err="1">
                <a:latin typeface="Courier" pitchFamily="2" charset="0"/>
              </a:rPr>
              <a:t>fuse_session_loop</a:t>
            </a:r>
            <a:r>
              <a:rPr lang="en-US" altLang="zh-CN" sz="1000" dirty="0">
                <a:latin typeface="Courier" pitchFamily="2" charset="0"/>
              </a:rPr>
              <a:t>(se);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等待请求和回调</a:t>
            </a:r>
            <a:endParaRPr lang="en-US" sz="1000" b="1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}</a:t>
            </a:r>
            <a:endParaRPr lang="en-US" sz="1000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68FCF9-80DA-B44E-9CB0-C54DD8F255A9}"/>
              </a:ext>
            </a:extLst>
          </p:cNvPr>
          <p:cNvSpPr/>
          <p:nvPr/>
        </p:nvSpPr>
        <p:spPr>
          <a:xfrm>
            <a:off x="61447" y="529696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http://libfuse.github.io</a:t>
            </a:r>
            <a:r>
              <a:rPr lang="en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/doxygen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example_2hello__ll_8c.html</a:t>
            </a:r>
          </a:p>
        </p:txBody>
      </p:sp>
    </p:spTree>
    <p:extLst>
      <p:ext uri="{BB962C8B-B14F-4D97-AF65-F5344CB8AC3E}">
        <p14:creationId xmlns:p14="http://schemas.microsoft.com/office/powerpoint/2010/main" val="3456573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65FB-C9CF-B54C-A23A-EE1D5A6D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高</a:t>
            </a:r>
            <a:r>
              <a:rPr lang="zh-CN" altLang="en-CN" dirty="0"/>
              <a:t>层</a:t>
            </a:r>
            <a:r>
              <a:rPr lang="en-US" altLang="zh-CN" dirty="0"/>
              <a:t>API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8FEA-F363-D044-BAFA-6BDCE852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7600-9855-174B-93E6-F0C14AF33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2502F-E470-4D4D-9050-F58811DE685E}"/>
              </a:ext>
            </a:extLst>
          </p:cNvPr>
          <p:cNvSpPr txBox="1"/>
          <p:nvPr/>
        </p:nvSpPr>
        <p:spPr>
          <a:xfrm>
            <a:off x="851248" y="1386776"/>
            <a:ext cx="6768752" cy="3477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br>
              <a:rPr lang="en-US" sz="1000" dirty="0">
                <a:latin typeface="Courier" pitchFamily="2" charset="0"/>
              </a:rPr>
            </a:br>
            <a:r>
              <a:rPr lang="en-US" sz="1000" dirty="0">
                <a:latin typeface="Courier" pitchFamily="2" charset="0"/>
              </a:rPr>
              <a:t>static int </a:t>
            </a:r>
            <a:r>
              <a:rPr lang="en-US" sz="1000" dirty="0" err="1">
                <a:latin typeface="Courier" pitchFamily="2" charset="0"/>
              </a:rPr>
              <a:t>hello_read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b="1" dirty="0">
                <a:latin typeface="Courier" pitchFamily="2" charset="0"/>
              </a:rPr>
              <a:t>const char *path, char *</a:t>
            </a:r>
            <a:r>
              <a:rPr lang="en-US" sz="1000" b="1" dirty="0" err="1">
                <a:latin typeface="Courier" pitchFamily="2" charset="0"/>
              </a:rPr>
              <a:t>buf</a:t>
            </a:r>
            <a:r>
              <a:rPr lang="en-US" sz="1000" b="1" dirty="0">
                <a:latin typeface="Courier" pitchFamily="2" charset="0"/>
              </a:rPr>
              <a:t>, </a:t>
            </a:r>
            <a:r>
              <a:rPr lang="en-US" sz="1000" b="1" dirty="0" err="1">
                <a:latin typeface="Courier" pitchFamily="2" charset="0"/>
              </a:rPr>
              <a:t>size_t</a:t>
            </a:r>
            <a:r>
              <a:rPr lang="en-US" sz="1000" b="1" dirty="0">
                <a:latin typeface="Courier" pitchFamily="2" charset="0"/>
              </a:rPr>
              <a:t> size, </a:t>
            </a:r>
            <a:r>
              <a:rPr lang="en-US" sz="1000" b="1" dirty="0" err="1">
                <a:latin typeface="Courier" pitchFamily="2" charset="0"/>
              </a:rPr>
              <a:t>off_t</a:t>
            </a:r>
            <a:r>
              <a:rPr lang="en-US" sz="1000" b="1" dirty="0">
                <a:latin typeface="Courier" pitchFamily="2" charset="0"/>
              </a:rPr>
              <a:t> offset,</a:t>
            </a:r>
          </a:p>
          <a:p>
            <a:r>
              <a:rPr lang="zh-CN" altLang="en-US" sz="1000" b="1" dirty="0">
                <a:latin typeface="Courier" pitchFamily="2" charset="0"/>
              </a:rPr>
              <a:t>                      </a:t>
            </a:r>
            <a:r>
              <a:rPr lang="en-US" sz="1000" b="1" dirty="0">
                <a:latin typeface="Courier" pitchFamily="2" charset="0"/>
              </a:rPr>
              <a:t>struct </a:t>
            </a:r>
            <a:r>
              <a:rPr lang="en-US" sz="1000" b="1" dirty="0" err="1">
                <a:latin typeface="Courier" pitchFamily="2" charset="0"/>
              </a:rPr>
              <a:t>fuse_file_info</a:t>
            </a:r>
            <a:r>
              <a:rPr lang="en-US" sz="1000" b="1" dirty="0">
                <a:latin typeface="Courier" pitchFamily="2" charset="0"/>
              </a:rPr>
              <a:t> *fi)</a:t>
            </a:r>
          </a:p>
          <a:p>
            <a:r>
              <a:rPr lang="en-US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const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char</a:t>
            </a:r>
            <a:r>
              <a:rPr lang="zh-CN" altLang="en-US" sz="1000" dirty="0">
                <a:latin typeface="Courier" pitchFamily="2" charset="0"/>
              </a:rPr>
              <a:t> *</a:t>
            </a:r>
            <a:r>
              <a:rPr lang="en-US" altLang="zh-CN" sz="1000" dirty="0">
                <a:latin typeface="Courier" pitchFamily="2" charset="0"/>
              </a:rPr>
              <a:t>content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=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"Hello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World!\n";</a:t>
            </a:r>
            <a:endParaRPr lang="en-US" sz="1000" dirty="0"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memcpy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buf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altLang="zh-CN" sz="1000" dirty="0">
                <a:latin typeface="Courier" pitchFamily="2" charset="0"/>
              </a:rPr>
              <a:t>content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sz="1000" dirty="0">
                <a:latin typeface="Courier" pitchFamily="2" charset="0"/>
              </a:rPr>
              <a:t>+ offset, </a:t>
            </a:r>
            <a:r>
              <a:rPr lang="en-US" altLang="zh-CN" sz="1000" dirty="0">
                <a:latin typeface="Courier" pitchFamily="2" charset="0"/>
              </a:rPr>
              <a:t>MIN(</a:t>
            </a:r>
            <a:r>
              <a:rPr lang="en-US" sz="1000" dirty="0">
                <a:latin typeface="Courier" pitchFamily="2" charset="0"/>
              </a:rPr>
              <a:t>size</a:t>
            </a:r>
            <a:r>
              <a:rPr lang="en-US" altLang="zh-CN" sz="1000" dirty="0">
                <a:latin typeface="Courier" pitchFamily="2" charset="0"/>
              </a:rPr>
              <a:t>,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 err="1">
                <a:latin typeface="Courier" pitchFamily="2" charset="0"/>
              </a:rPr>
              <a:t>strlen</a:t>
            </a:r>
            <a:r>
              <a:rPr lang="en-US" altLang="zh-CN" sz="1000" dirty="0">
                <a:latin typeface="Courier" pitchFamily="2" charset="0"/>
              </a:rPr>
              <a:t>(content)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–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offset)</a:t>
            </a:r>
            <a:r>
              <a:rPr lang="en-US" sz="1000" dirty="0">
                <a:latin typeface="Courier" pitchFamily="2" charset="0"/>
              </a:rPr>
              <a:t>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return size;</a:t>
            </a:r>
          </a:p>
          <a:p>
            <a:r>
              <a:rPr lang="en-US" sz="1000" dirty="0">
                <a:latin typeface="Courier" pitchFamily="2" charset="0"/>
              </a:rPr>
              <a:t>}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read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：根据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path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，在</a:t>
            </a:r>
            <a:r>
              <a:rPr lang="en-US" altLang="zh-CN" sz="1000" b="1" dirty="0" err="1">
                <a:solidFill>
                  <a:srgbClr val="C00000"/>
                </a:solidFill>
                <a:latin typeface="Courier" pitchFamily="2" charset="0"/>
              </a:rPr>
              <a:t>buf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中填入数据，返回写入字节数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static const struct </a:t>
            </a:r>
            <a:r>
              <a:rPr lang="en-US" sz="1000" dirty="0" err="1">
                <a:latin typeface="Courier" pitchFamily="2" charset="0"/>
              </a:rPr>
              <a:t>fuse_operations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hello_oper</a:t>
            </a:r>
            <a:r>
              <a:rPr lang="en-US" sz="1000" dirty="0">
                <a:latin typeface="Courier" pitchFamily="2" charset="0"/>
              </a:rPr>
              <a:t> = 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init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hello_init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getattr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hello_getattr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readdir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hello_readdir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.open = </a:t>
            </a:r>
            <a:r>
              <a:rPr lang="en-US" sz="1000" dirty="0" err="1">
                <a:latin typeface="Courier" pitchFamily="2" charset="0"/>
              </a:rPr>
              <a:t>hello_open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b="1" dirty="0">
                <a:latin typeface="Courier" pitchFamily="2" charset="0"/>
              </a:rPr>
              <a:t>  </a:t>
            </a:r>
            <a:r>
              <a:rPr lang="en-US" sz="1000" b="1" dirty="0">
                <a:latin typeface="Courier" pitchFamily="2" charset="0"/>
              </a:rPr>
              <a:t>.read = </a:t>
            </a:r>
            <a:r>
              <a:rPr lang="en-US" sz="1000" b="1" dirty="0" err="1">
                <a:latin typeface="Courier" pitchFamily="2" charset="0"/>
              </a:rPr>
              <a:t>hello_read</a:t>
            </a:r>
            <a:r>
              <a:rPr lang="en-US" sz="1000" b="1" dirty="0">
                <a:latin typeface="Courier" pitchFamily="2" charset="0"/>
              </a:rPr>
              <a:t>,</a:t>
            </a:r>
          </a:p>
          <a:p>
            <a:r>
              <a:rPr lang="en-US" sz="1000" dirty="0">
                <a:latin typeface="Courier" pitchFamily="2" charset="0"/>
              </a:rPr>
              <a:t>};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提供函数指针作为回调函数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int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main()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ret = </a:t>
            </a:r>
            <a:r>
              <a:rPr lang="en-US" sz="1000" dirty="0" err="1">
                <a:latin typeface="Courier" pitchFamily="2" charset="0"/>
              </a:rPr>
              <a:t>fuse_main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args.argc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sz="1000" dirty="0" err="1">
                <a:latin typeface="Courier" pitchFamily="2" charset="0"/>
              </a:rPr>
              <a:t>args.argv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sz="1000" b="1" dirty="0">
                <a:latin typeface="Courier" pitchFamily="2" charset="0"/>
              </a:rPr>
              <a:t>&amp;</a:t>
            </a:r>
            <a:r>
              <a:rPr lang="en-US" sz="1000" b="1" dirty="0" err="1">
                <a:latin typeface="Courier" pitchFamily="2" charset="0"/>
              </a:rPr>
              <a:t>hello_oper</a:t>
            </a:r>
            <a:r>
              <a:rPr lang="en-US" sz="1000" dirty="0">
                <a:latin typeface="Courier" pitchFamily="2" charset="0"/>
              </a:rPr>
              <a:t>, NULL);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挂载、注册并等待请求和回调</a:t>
            </a:r>
            <a:endParaRPr lang="en-US" sz="1000" b="1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}</a:t>
            </a:r>
            <a:endParaRPr lang="en-US" sz="1000" dirty="0">
              <a:latin typeface="Couri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871B-C9BC-824A-9307-9A5F389D7FD9}"/>
              </a:ext>
            </a:extLst>
          </p:cNvPr>
          <p:cNvSpPr txBox="1"/>
          <p:nvPr/>
        </p:nvSpPr>
        <p:spPr>
          <a:xfrm>
            <a:off x="107504" y="5254491"/>
            <a:ext cx="1903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libfuse.github.io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doxygen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/example_2hello_8c.html</a:t>
            </a:r>
            <a:endParaRPr lang="en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9926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23A-4EC6-3B4E-968D-67DA0482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现实中，</a:t>
            </a:r>
            <a:r>
              <a:rPr lang="en-US" altLang="zh-CN" dirty="0"/>
              <a:t>FUSE</a:t>
            </a:r>
            <a:r>
              <a:rPr lang="zh-CN" altLang="en-US" dirty="0"/>
              <a:t>能用来做什么？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8853B-1822-2645-B3E7-E8C39CF9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b="0" dirty="0"/>
              <a:t>出</a:t>
            </a:r>
            <a:r>
              <a:rPr lang="en-US" altLang="zh-CN" b="0" dirty="0"/>
              <a:t>Lab</a:t>
            </a:r>
            <a:r>
              <a:rPr lang="zh-CN" altLang="en-US" b="0" dirty="0"/>
              <a:t>！</a:t>
            </a:r>
            <a:endParaRPr lang="en-US" altLang="zh-CN" b="0" dirty="0"/>
          </a:p>
          <a:p>
            <a:r>
              <a:rPr lang="en-US" altLang="zh-CN" b="0" dirty="0"/>
              <a:t>SSHFS</a:t>
            </a:r>
            <a:r>
              <a:rPr lang="zh-CN" altLang="en-US" b="0" dirty="0"/>
              <a:t>（用</a:t>
            </a:r>
            <a:r>
              <a:rPr lang="en-US" altLang="zh-CN" b="0" dirty="0" err="1"/>
              <a:t>ssh</a:t>
            </a:r>
            <a:r>
              <a:rPr lang="zh-CN" altLang="en-US" b="0" dirty="0"/>
              <a:t>挂载远端目录到本地）</a:t>
            </a:r>
            <a:endParaRPr lang="en-US" altLang="zh-CN" b="0" dirty="0"/>
          </a:p>
          <a:p>
            <a:r>
              <a:rPr lang="en-US" altLang="zh-CN" b="0" dirty="0"/>
              <a:t>Android Sandbox</a:t>
            </a:r>
          </a:p>
          <a:p>
            <a:r>
              <a:rPr lang="en-US" altLang="zh-CN" b="0" dirty="0" err="1"/>
              <a:t>GMailFs</a:t>
            </a:r>
            <a:r>
              <a:rPr lang="zh-CN" altLang="en-US" b="0" dirty="0"/>
              <a:t>（以文件接口收发邮件）</a:t>
            </a:r>
            <a:endParaRPr lang="en-US" altLang="zh-CN" b="0" dirty="0"/>
          </a:p>
          <a:p>
            <a:r>
              <a:rPr lang="en-US" altLang="zh-CN" b="0" dirty="0" err="1"/>
              <a:t>WikipediaFS</a:t>
            </a:r>
            <a:r>
              <a:rPr lang="zh-CN" altLang="en-US" b="0" dirty="0"/>
              <a:t>（用文件查看和编辑</a:t>
            </a:r>
            <a:r>
              <a:rPr lang="en-US" altLang="zh-CN" b="0" dirty="0"/>
              <a:t>Wikipedia</a:t>
            </a:r>
            <a:r>
              <a:rPr lang="zh-CN" altLang="en-US" b="0" dirty="0"/>
              <a:t>）</a:t>
            </a:r>
            <a:endParaRPr lang="en-US" altLang="zh-CN" b="0" dirty="0"/>
          </a:p>
          <a:p>
            <a:r>
              <a:rPr lang="zh-CN" altLang="en-US" b="0" dirty="0"/>
              <a:t>网盘同步</a:t>
            </a:r>
            <a:endParaRPr lang="en-US" altLang="zh-CN" b="0" dirty="0"/>
          </a:p>
          <a:p>
            <a:r>
              <a:rPr lang="zh-CN" altLang="en-US" b="0" dirty="0"/>
              <a:t>分布式文件系统（</a:t>
            </a:r>
            <a:r>
              <a:rPr lang="en-US" b="0" dirty="0" err="1"/>
              <a:t>Lustre</a:t>
            </a:r>
            <a:r>
              <a:rPr lang="zh-CN" altLang="en-US" b="0" dirty="0"/>
              <a:t>、</a:t>
            </a:r>
            <a:r>
              <a:rPr lang="en-US" altLang="zh-CN" b="0" dirty="0" err="1"/>
              <a:t>GlusterFS</a:t>
            </a:r>
            <a:r>
              <a:rPr lang="zh-CN" altLang="en-US" b="0" dirty="0"/>
              <a:t>等）</a:t>
            </a:r>
            <a:endParaRPr lang="en-US" altLang="zh-CN" b="0" dirty="0"/>
          </a:p>
          <a:p>
            <a:r>
              <a:rPr lang="en-US" altLang="zh-CN" b="0" dirty="0"/>
              <a:t>Since</a:t>
            </a:r>
            <a:r>
              <a:rPr lang="zh-CN" altLang="en-US" b="0" i="1" dirty="0"/>
              <a:t> </a:t>
            </a:r>
            <a:r>
              <a:rPr lang="en-US" altLang="zh-CN" b="0" i="1" dirty="0"/>
              <a:t>everything</a:t>
            </a:r>
            <a:r>
              <a:rPr lang="zh-CN" altLang="en-US" b="0" i="1" dirty="0"/>
              <a:t> </a:t>
            </a:r>
            <a:r>
              <a:rPr lang="en-US" altLang="zh-CN" b="0" i="1" dirty="0"/>
              <a:t>is</a:t>
            </a:r>
            <a:r>
              <a:rPr lang="zh-CN" altLang="en-US" b="0" i="1" dirty="0"/>
              <a:t> </a:t>
            </a:r>
            <a:r>
              <a:rPr lang="en-US" altLang="zh-CN" b="0" i="1" dirty="0"/>
              <a:t>a</a:t>
            </a:r>
            <a:r>
              <a:rPr lang="zh-CN" altLang="en-US" b="0" i="1" dirty="0"/>
              <a:t> </a:t>
            </a:r>
            <a:r>
              <a:rPr lang="en-US" altLang="zh-CN" b="0" i="1" dirty="0"/>
              <a:t>file,</a:t>
            </a:r>
            <a:r>
              <a:rPr lang="zh-CN" altLang="en-US" b="0" i="1" dirty="0"/>
              <a:t> </a:t>
            </a:r>
            <a:r>
              <a:rPr lang="en-US" altLang="zh-CN" b="0" dirty="0"/>
              <a:t>can</a:t>
            </a:r>
            <a:r>
              <a:rPr lang="zh-CN" altLang="en-US" b="0" dirty="0"/>
              <a:t> </a:t>
            </a:r>
            <a:r>
              <a:rPr lang="en-US" altLang="zh-CN" b="0" dirty="0"/>
              <a:t>everything</a:t>
            </a:r>
            <a:r>
              <a:rPr lang="zh-CN" altLang="en-US" b="0" dirty="0"/>
              <a:t> </a:t>
            </a:r>
            <a:r>
              <a:rPr lang="en-US" altLang="zh-CN" b="0" dirty="0"/>
              <a:t>be</a:t>
            </a:r>
            <a:r>
              <a:rPr lang="zh-CN" altLang="en-US" b="0" dirty="0"/>
              <a:t> </a:t>
            </a:r>
            <a:r>
              <a:rPr lang="en-US" altLang="zh-CN" b="0" dirty="0"/>
              <a:t>done</a:t>
            </a:r>
            <a:r>
              <a:rPr lang="zh-CN" altLang="en-US" b="0" dirty="0"/>
              <a:t> </a:t>
            </a:r>
            <a:r>
              <a:rPr lang="en-US" altLang="zh-CN" b="0" dirty="0"/>
              <a:t>with</a:t>
            </a:r>
            <a:r>
              <a:rPr lang="zh-CN" altLang="en-US" b="0" dirty="0"/>
              <a:t> </a:t>
            </a:r>
            <a:r>
              <a:rPr lang="en-US" altLang="zh-CN" b="0" dirty="0"/>
              <a:t>a</a:t>
            </a:r>
            <a:r>
              <a:rPr lang="zh-CN" altLang="en-US" b="0" dirty="0"/>
              <a:t> </a:t>
            </a:r>
            <a:r>
              <a:rPr lang="en-US" altLang="zh-CN" b="0" dirty="0"/>
              <a:t>filesystem?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035D-999C-2C4D-9DAF-E9F7FC7D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BF7DF-092C-5440-8B3B-9E2AB5E15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14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47563</TotalTime>
  <Words>4560</Words>
  <Application>Microsoft Macintosh PowerPoint</Application>
  <PresentationFormat>全屏显示(16:10)</PresentationFormat>
  <Paragraphs>966</Paragraphs>
  <Slides>47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3" baseType="lpstr">
      <vt:lpstr>DengXian</vt:lpstr>
      <vt:lpstr>微软雅黑</vt:lpstr>
      <vt:lpstr>Arial</vt:lpstr>
      <vt:lpstr>Calibri</vt:lpstr>
      <vt:lpstr>Courier</vt:lpstr>
      <vt:lpstr>Office 主题​​</vt:lpstr>
      <vt:lpstr>文件系统结构</vt:lpstr>
      <vt:lpstr>版权声明</vt:lpstr>
      <vt:lpstr>虚拟文件系统（VFS）</vt:lpstr>
      <vt:lpstr>如何在一个系统中同时支持多个文件系统？</vt:lpstr>
      <vt:lpstr>Linux中的虚拟文件系统VFS</vt:lpstr>
      <vt:lpstr>虚拟文件系统 VFS</vt:lpstr>
      <vt:lpstr>虚拟文件系统 VFS</vt:lpstr>
      <vt:lpstr>虚拟文件系统 VFS</vt:lpstr>
      <vt:lpstr>虚拟文件系统 VFS</vt:lpstr>
      <vt:lpstr>虚拟文件系统 VFS</vt:lpstr>
      <vt:lpstr>虚拟文件系统 VFS</vt:lpstr>
      <vt:lpstr>VFS对接FAT32</vt:lpstr>
      <vt:lpstr>Linux中的虚拟文件系统VFS</vt:lpstr>
      <vt:lpstr>问题</vt:lpstr>
      <vt:lpstr>存储结构与缓存</vt:lpstr>
      <vt:lpstr>宏内核（如Linux）中的存储栈</vt:lpstr>
      <vt:lpstr>页缓存（Page Cache）</vt:lpstr>
      <vt:lpstr>页缓存</vt:lpstr>
      <vt:lpstr>页缓存之外</vt:lpstr>
      <vt:lpstr>内存与存储结构</vt:lpstr>
      <vt:lpstr>有缓存情况下的文件查找</vt:lpstr>
      <vt:lpstr>ChCore中的文件与存储结构</vt:lpstr>
      <vt:lpstr>文件系统高级功能</vt:lpstr>
      <vt:lpstr>文件复制</vt:lpstr>
      <vt:lpstr>文件复制</vt:lpstr>
      <vt:lpstr>文件复制</vt:lpstr>
      <vt:lpstr>克隆（Clone）</vt:lpstr>
      <vt:lpstr>克隆（Clone）</vt:lpstr>
      <vt:lpstr>快照（Snapshot）</vt:lpstr>
      <vt:lpstr>稀疏文件</vt:lpstr>
      <vt:lpstr>稀疏文件</vt:lpstr>
      <vt:lpstr>稀疏文件</vt:lpstr>
      <vt:lpstr>文件系统的一些其他高级功能</vt:lpstr>
      <vt:lpstr>文件系统的多种形式</vt:lpstr>
      <vt:lpstr>GIT：内容寻址文件系统</vt:lpstr>
      <vt:lpstr>GIT对象与文件系统</vt:lpstr>
      <vt:lpstr>GIT的提交</vt:lpstr>
      <vt:lpstr>SQLite：文件系统的竞争者</vt:lpstr>
      <vt:lpstr>SQLite：文件系统的竞争者</vt:lpstr>
      <vt:lpstr>SQLite引发的思考🤔</vt:lpstr>
      <vt:lpstr>FUSE：用户态文件系统框架</vt:lpstr>
      <vt:lpstr>FUSE用户态文件系统框架</vt:lpstr>
      <vt:lpstr>FUSE基本流程</vt:lpstr>
      <vt:lpstr>FUSE API</vt:lpstr>
      <vt:lpstr>FUSE底层API</vt:lpstr>
      <vt:lpstr>FUSE高层API</vt:lpstr>
      <vt:lpstr>现实中，FUSE能用来做什么？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3561</cp:revision>
  <cp:lastPrinted>2016-06-13T07:55:34Z</cp:lastPrinted>
  <dcterms:created xsi:type="dcterms:W3CDTF">2017-11-24T09:35:45Z</dcterms:created>
  <dcterms:modified xsi:type="dcterms:W3CDTF">2024-06-14T15:21:41Z</dcterms:modified>
</cp:coreProperties>
</file>