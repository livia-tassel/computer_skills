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1306" r:id="rId2"/>
    <p:sldId id="1359" r:id="rId3"/>
    <p:sldId id="2766" r:id="rId4"/>
    <p:sldId id="2736" r:id="rId5"/>
    <p:sldId id="2737" r:id="rId6"/>
    <p:sldId id="2738" r:id="rId7"/>
    <p:sldId id="2739" r:id="rId8"/>
    <p:sldId id="2767" r:id="rId9"/>
    <p:sldId id="2740" r:id="rId10"/>
    <p:sldId id="2741" r:id="rId11"/>
    <p:sldId id="2742" r:id="rId12"/>
    <p:sldId id="2743" r:id="rId13"/>
    <p:sldId id="2749" r:id="rId14"/>
    <p:sldId id="2769" r:id="rId15"/>
    <p:sldId id="2760" r:id="rId16"/>
    <p:sldId id="2764" r:id="rId17"/>
    <p:sldId id="2772" r:id="rId18"/>
    <p:sldId id="2763" r:id="rId19"/>
    <p:sldId id="2754" r:id="rId20"/>
    <p:sldId id="2756" r:id="rId21"/>
    <p:sldId id="2759" r:id="rId22"/>
    <p:sldId id="2758" r:id="rId23"/>
    <p:sldId id="2751" r:id="rId24"/>
    <p:sldId id="2761" r:id="rId25"/>
    <p:sldId id="2811" r:id="rId26"/>
    <p:sldId id="2770" r:id="rId27"/>
    <p:sldId id="2824" r:id="rId28"/>
    <p:sldId id="2812" r:id="rId29"/>
    <p:sldId id="2825" r:id="rId30"/>
    <p:sldId id="512" r:id="rId31"/>
    <p:sldId id="513" r:id="rId32"/>
    <p:sldId id="514" r:id="rId33"/>
    <p:sldId id="541" r:id="rId34"/>
    <p:sldId id="539" r:id="rId35"/>
    <p:sldId id="598" r:id="rId36"/>
    <p:sldId id="540" r:id="rId37"/>
    <p:sldId id="516" r:id="rId38"/>
    <p:sldId id="517" r:id="rId39"/>
    <p:sldId id="2774" r:id="rId40"/>
    <p:sldId id="2826" r:id="rId41"/>
    <p:sldId id="2820" r:id="rId42"/>
    <p:sldId id="2821" r:id="rId43"/>
    <p:sldId id="2822" r:id="rId44"/>
    <p:sldId id="2776" r:id="rId45"/>
    <p:sldId id="2777" r:id="rId46"/>
    <p:sldId id="2840" r:id="rId47"/>
    <p:sldId id="2778" r:id="rId48"/>
    <p:sldId id="2827" r:id="rId49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878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384B"/>
    <a:srgbClr val="404040"/>
    <a:srgbClr val="FFFF99"/>
    <a:srgbClr val="515151"/>
    <a:srgbClr val="941100"/>
    <a:srgbClr val="FF2F92"/>
    <a:srgbClr val="0432FF"/>
    <a:srgbClr val="FF9300"/>
    <a:srgbClr val="00FB92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71" autoAdjust="0"/>
    <p:restoredTop sz="90068" autoAdjust="0"/>
  </p:normalViewPr>
  <p:slideViewPr>
    <p:cSldViewPr>
      <p:cViewPr varScale="1">
        <p:scale>
          <a:sx n="132" d="100"/>
          <a:sy n="132" d="100"/>
        </p:scale>
        <p:origin x="1040" y="176"/>
      </p:cViewPr>
      <p:guideLst>
        <p:guide orient="horz" pos="1800"/>
        <p:guide pos="387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386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721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190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 for interrupt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，进入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lowpower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340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291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633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370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215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内存虚拟化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0EEFD766-EFD7-395D-3730-8585EC44F90A}"/>
              </a:ext>
            </a:extLst>
          </p:cNvPr>
          <p:cNvSpPr txBox="1">
            <a:spLocks/>
          </p:cNvSpPr>
          <p:nvPr/>
        </p:nvSpPr>
        <p:spPr>
          <a:xfrm>
            <a:off x="685800" y="3412362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AE022DA8-3F91-CD39-9A07-77BF7412551E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操作系统</a:t>
            </a:r>
          </a:p>
        </p:txBody>
      </p:sp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4DB58-9478-0845-B9D0-F1002C2E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02C3FEF5-F933-1349-B56E-0C6158F22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的虚拟化技术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F73DB188-D648-D641-A0C1-233898237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9EE4C-EAB2-B743-8E82-87DAE4F03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D54148-2DC2-D948-8ECD-0A7F1104C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9532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795A4D-C2D3-3B4D-8C73-8E78137DD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的处理器虚拟化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B12819-9064-A140-9948-FA587A70E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623507-52D7-0043-AFE4-211C109AC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1869896-D5C2-B542-93D4-D5DCDD7FE510}"/>
              </a:ext>
            </a:extLst>
          </p:cNvPr>
          <p:cNvGrpSpPr/>
          <p:nvPr/>
        </p:nvGrpSpPr>
        <p:grpSpPr>
          <a:xfrm>
            <a:off x="1003343" y="1416110"/>
            <a:ext cx="7137313" cy="3656844"/>
            <a:chOff x="3785670" y="2131558"/>
            <a:chExt cx="5259347" cy="2694657"/>
          </a:xfrm>
        </p:grpSpPr>
        <p:sp>
          <p:nvSpPr>
            <p:cNvPr id="6" name="Rectangle 22">
              <a:extLst>
                <a:ext uri="{FF2B5EF4-FFF2-40B4-BE49-F238E27FC236}">
                  <a16:creationId xmlns:a16="http://schemas.microsoft.com/office/drawing/2014/main" id="{A42FEE01-01C5-9D4F-946E-BD221A3C77EF}"/>
                </a:ext>
              </a:extLst>
            </p:cNvPr>
            <p:cNvSpPr/>
            <p:nvPr/>
          </p:nvSpPr>
          <p:spPr>
            <a:xfrm>
              <a:off x="4357605" y="3109194"/>
              <a:ext cx="1942588" cy="4938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操作系统内核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7" name="Rectangle 24">
              <a:extLst>
                <a:ext uri="{FF2B5EF4-FFF2-40B4-BE49-F238E27FC236}">
                  <a16:creationId xmlns:a16="http://schemas.microsoft.com/office/drawing/2014/main" id="{48CA7806-AA2F-3141-B67D-2AB395B5306A}"/>
                </a:ext>
              </a:extLst>
            </p:cNvPr>
            <p:cNvSpPr/>
            <p:nvPr/>
          </p:nvSpPr>
          <p:spPr>
            <a:xfrm>
              <a:off x="4355954" y="4482275"/>
              <a:ext cx="4287673" cy="3439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硬件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8" name="Rectangle 27">
              <a:extLst>
                <a:ext uri="{FF2B5EF4-FFF2-40B4-BE49-F238E27FC236}">
                  <a16:creationId xmlns:a16="http://schemas.microsoft.com/office/drawing/2014/main" id="{185CBD85-9B21-0F4D-83A7-34508808F55B}"/>
                </a:ext>
              </a:extLst>
            </p:cNvPr>
            <p:cNvSpPr/>
            <p:nvPr/>
          </p:nvSpPr>
          <p:spPr>
            <a:xfrm>
              <a:off x="4355952" y="2439397"/>
              <a:ext cx="1942588" cy="4938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进程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cxnSp>
          <p:nvCxnSpPr>
            <p:cNvPr id="9" name="Straight Connector 13">
              <a:extLst>
                <a:ext uri="{FF2B5EF4-FFF2-40B4-BE49-F238E27FC236}">
                  <a16:creationId xmlns:a16="http://schemas.microsoft.com/office/drawing/2014/main" id="{9AB3EEE8-C7F4-5A40-8B8F-1C778A67A5CF}"/>
                </a:ext>
              </a:extLst>
            </p:cNvPr>
            <p:cNvCxnSpPr>
              <a:cxnSpLocks/>
            </p:cNvCxnSpPr>
            <p:nvPr/>
          </p:nvCxnSpPr>
          <p:spPr>
            <a:xfrm>
              <a:off x="4032925" y="4341956"/>
              <a:ext cx="5012092" cy="0"/>
            </a:xfrm>
            <a:prstGeom prst="line">
              <a:avLst/>
            </a:prstGeom>
            <a:ln>
              <a:solidFill>
                <a:srgbClr val="BE384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105D18A-9F34-914E-B666-71AAED8D0156}"/>
                </a:ext>
              </a:extLst>
            </p:cNvPr>
            <p:cNvSpPr txBox="1"/>
            <p:nvPr/>
          </p:nvSpPr>
          <p:spPr>
            <a:xfrm>
              <a:off x="3785670" y="3181571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EL1</a:t>
              </a:r>
              <a:endParaRPr kumimoji="1"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D49E7E8-E3F5-F54D-AA8A-64474296D2F6}"/>
                </a:ext>
              </a:extLst>
            </p:cNvPr>
            <p:cNvSpPr txBox="1"/>
            <p:nvPr/>
          </p:nvSpPr>
          <p:spPr>
            <a:xfrm>
              <a:off x="3785670" y="2537822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EL0</a:t>
              </a:r>
              <a:endParaRPr kumimoji="1" lang="zh-CN" altLang="en-US" dirty="0"/>
            </a:p>
          </p:txBody>
        </p:sp>
        <p:sp>
          <p:nvSpPr>
            <p:cNvPr id="12" name="Rectangle 22">
              <a:extLst>
                <a:ext uri="{FF2B5EF4-FFF2-40B4-BE49-F238E27FC236}">
                  <a16:creationId xmlns:a16="http://schemas.microsoft.com/office/drawing/2014/main" id="{7F49D29B-D10B-274E-8827-815531C6EBD9}"/>
                </a:ext>
              </a:extLst>
            </p:cNvPr>
            <p:cNvSpPr/>
            <p:nvPr/>
          </p:nvSpPr>
          <p:spPr>
            <a:xfrm>
              <a:off x="4345922" y="3777937"/>
              <a:ext cx="4297705" cy="493860"/>
            </a:xfrm>
            <a:prstGeom prst="rect">
              <a:avLst/>
            </a:prstGeom>
            <a:solidFill>
              <a:srgbClr val="BE384B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r"/>
              <a:r>
                <a:rPr lang="zh-CN" altLang="en-US" sz="1600" dirty="0">
                  <a:solidFill>
                    <a:schemeClr val="bg1"/>
                  </a:solidFill>
                  <a:cs typeface="Arial Narrow"/>
                </a:rPr>
                <a:t>虚拟机监控器</a:t>
              </a:r>
              <a:endParaRPr lang="en-US" sz="1600" dirty="0">
                <a:solidFill>
                  <a:schemeClr val="bg1"/>
                </a:solidFill>
                <a:cs typeface="Arial Narrow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93E36288-1AA9-F946-8916-65D5C3DB2DCB}"/>
                </a:ext>
              </a:extLst>
            </p:cNvPr>
            <p:cNvSpPr txBox="1"/>
            <p:nvPr/>
          </p:nvSpPr>
          <p:spPr>
            <a:xfrm>
              <a:off x="3785670" y="3826181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EL2</a:t>
              </a:r>
              <a:endParaRPr kumimoji="1" lang="zh-CN" altLang="en-US" dirty="0"/>
            </a:p>
          </p:txBody>
        </p:sp>
        <p:sp>
          <p:nvSpPr>
            <p:cNvPr id="14" name="圆角矩形 13">
              <a:extLst>
                <a:ext uri="{FF2B5EF4-FFF2-40B4-BE49-F238E27FC236}">
                  <a16:creationId xmlns:a16="http://schemas.microsoft.com/office/drawing/2014/main" id="{30494FAA-C263-3D4F-AD88-1D16563C49A2}"/>
                </a:ext>
              </a:extLst>
            </p:cNvPr>
            <p:cNvSpPr/>
            <p:nvPr/>
          </p:nvSpPr>
          <p:spPr>
            <a:xfrm>
              <a:off x="4255104" y="2135645"/>
              <a:ext cx="2160240" cy="1572133"/>
            </a:xfrm>
            <a:prstGeom prst="roundRect">
              <a:avLst>
                <a:gd name="adj" fmla="val 7612"/>
              </a:avLst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71DD093-3D7A-804C-AA62-E7A33E31DBEA}"/>
                </a:ext>
              </a:extLst>
            </p:cNvPr>
            <p:cNvSpPr txBox="1"/>
            <p:nvPr/>
          </p:nvSpPr>
          <p:spPr>
            <a:xfrm>
              <a:off x="5028292" y="2154867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虚拟机</a:t>
              </a:r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  <p:sp>
          <p:nvSpPr>
            <p:cNvPr id="16" name="Rectangle 22">
              <a:extLst>
                <a:ext uri="{FF2B5EF4-FFF2-40B4-BE49-F238E27FC236}">
                  <a16:creationId xmlns:a16="http://schemas.microsoft.com/office/drawing/2014/main" id="{B2609B38-A75C-EE48-BA72-B827EDAABB31}"/>
                </a:ext>
              </a:extLst>
            </p:cNvPr>
            <p:cNvSpPr/>
            <p:nvPr/>
          </p:nvSpPr>
          <p:spPr>
            <a:xfrm>
              <a:off x="6702691" y="3094993"/>
              <a:ext cx="1942588" cy="4938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操作系统内核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0E206E98-6C17-C648-A820-E7A67799074E}"/>
                </a:ext>
              </a:extLst>
            </p:cNvPr>
            <p:cNvSpPr/>
            <p:nvPr/>
          </p:nvSpPr>
          <p:spPr>
            <a:xfrm>
              <a:off x="6701038" y="2425196"/>
              <a:ext cx="1942588" cy="4938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进程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8850F2EE-E293-A04D-9E92-4C8683D0C53D}"/>
                </a:ext>
              </a:extLst>
            </p:cNvPr>
            <p:cNvSpPr/>
            <p:nvPr/>
          </p:nvSpPr>
          <p:spPr>
            <a:xfrm>
              <a:off x="6592212" y="2131558"/>
              <a:ext cx="2160240" cy="1572133"/>
            </a:xfrm>
            <a:prstGeom prst="roundRect">
              <a:avLst>
                <a:gd name="adj" fmla="val 5801"/>
              </a:avLst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FE2106D-577B-DB4D-B66A-A2233468940B}"/>
                </a:ext>
              </a:extLst>
            </p:cNvPr>
            <p:cNvSpPr txBox="1"/>
            <p:nvPr/>
          </p:nvSpPr>
          <p:spPr>
            <a:xfrm>
              <a:off x="7326060" y="2156298"/>
              <a:ext cx="1043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虚拟机</a:t>
              </a:r>
              <a:r>
                <a:rPr kumimoji="1" lang="en-US" altLang="zh-CN" dirty="0"/>
                <a:t>N</a:t>
              </a:r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7449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EA400-56D1-7944-9A70-02D15A2B0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r>
              <a:rPr kumimoji="1" lang="zh-CN" altLang="en-US" dirty="0"/>
              <a:t>和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5A407D-4005-8046-98F5-860F1CBEE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ERET</a:t>
            </a:r>
            <a:r>
              <a:rPr kumimoji="1" lang="zh-CN" altLang="en-US" dirty="0"/>
              <a:t>指令从</a:t>
            </a:r>
            <a:r>
              <a:rPr kumimoji="1" lang="en-US" altLang="zh-CN" dirty="0"/>
              <a:t>VMM</a:t>
            </a:r>
            <a:r>
              <a:rPr kumimoji="1" lang="zh-CN" altLang="en-US" dirty="0"/>
              <a:t>进入</a:t>
            </a:r>
            <a:r>
              <a:rPr kumimoji="1" lang="en-US" altLang="zh-CN" dirty="0"/>
              <a:t>VM</a:t>
            </a:r>
          </a:p>
          <a:p>
            <a:pPr lvl="1"/>
            <a:r>
              <a:rPr kumimoji="1" lang="zh-CN" altLang="en-US" dirty="0"/>
              <a:t>在进入</a:t>
            </a:r>
            <a:r>
              <a:rPr kumimoji="1" lang="en-US" altLang="zh-CN" dirty="0"/>
              <a:t>VM</a:t>
            </a:r>
            <a:r>
              <a:rPr kumimoji="1" lang="zh-CN" altLang="en-US" dirty="0"/>
              <a:t>之前，</a:t>
            </a:r>
            <a:r>
              <a:rPr kumimoji="1" lang="en-US" altLang="zh-CN" dirty="0"/>
              <a:t>VMM</a:t>
            </a:r>
            <a:r>
              <a:rPr kumimoji="1" lang="zh-CN" altLang="en-US" dirty="0"/>
              <a:t>需要</a:t>
            </a:r>
            <a:r>
              <a:rPr kumimoji="1" lang="zh-CN" altLang="en-US" dirty="0">
                <a:solidFill>
                  <a:srgbClr val="BE384B"/>
                </a:solidFill>
              </a:rPr>
              <a:t>主动</a:t>
            </a:r>
            <a:r>
              <a:rPr kumimoji="1" lang="zh-CN" altLang="en-US" dirty="0"/>
              <a:t>加载</a:t>
            </a:r>
            <a:r>
              <a:rPr kumimoji="1" lang="en-US" altLang="zh-CN" dirty="0"/>
              <a:t>VM</a:t>
            </a:r>
            <a:r>
              <a:rPr kumimoji="1" lang="zh-CN" altLang="en-US" dirty="0"/>
              <a:t>状态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VM</a:t>
            </a:r>
            <a:r>
              <a:rPr kumimoji="1" lang="zh-CN" altLang="en-US" dirty="0"/>
              <a:t>内状态：通用寄存器、系统寄存器、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VM</a:t>
            </a:r>
            <a:r>
              <a:rPr kumimoji="1" lang="zh-CN" altLang="en-US" dirty="0"/>
              <a:t>的控制状态：</a:t>
            </a:r>
            <a:r>
              <a:rPr kumimoji="1" lang="en-US" altLang="zh-CN" dirty="0"/>
              <a:t>HCR_EL2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VTTBR_EL2</a:t>
            </a:r>
            <a:r>
              <a:rPr kumimoji="1" lang="zh-CN" altLang="en-US" dirty="0"/>
              <a:t>等</a:t>
            </a:r>
            <a:endParaRPr kumimoji="1" lang="en-US" altLang="zh-CN" dirty="0"/>
          </a:p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</a:p>
          <a:p>
            <a:pPr lvl="1"/>
            <a:r>
              <a:rPr kumimoji="1" lang="zh-CN" altLang="en-US" dirty="0"/>
              <a:t>虚拟机执行敏感指令或收到中断等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</a:t>
            </a:r>
            <a:r>
              <a:rPr kumimoji="1" lang="en-US" altLang="zh-CN" dirty="0"/>
              <a:t>Exception</a:t>
            </a:r>
            <a:r>
              <a:rPr kumimoji="1" lang="zh-CN" altLang="en-US" dirty="0"/>
              <a:t>、</a:t>
            </a:r>
            <a:r>
              <a:rPr kumimoji="1" lang="en-US" altLang="zh-CN" dirty="0"/>
              <a:t>IRQ</a:t>
            </a:r>
            <a:r>
              <a:rPr kumimoji="1" lang="zh-CN" altLang="en-US" dirty="0"/>
              <a:t>、</a:t>
            </a:r>
            <a:r>
              <a:rPr kumimoji="1" lang="en-US" altLang="zh-CN" dirty="0"/>
              <a:t>FIQ</a:t>
            </a:r>
            <a:r>
              <a:rPr kumimoji="1" lang="zh-CN" altLang="en-US" dirty="0"/>
              <a:t>的形式回到</a:t>
            </a:r>
            <a:r>
              <a:rPr kumimoji="1" lang="en-US" altLang="zh-CN" dirty="0"/>
              <a:t>VMM</a:t>
            </a:r>
          </a:p>
          <a:p>
            <a:pPr lvl="2"/>
            <a:r>
              <a:rPr kumimoji="1" lang="zh-CN" altLang="en-US" dirty="0"/>
              <a:t>调用</a:t>
            </a:r>
            <a:r>
              <a:rPr kumimoji="1" lang="en-US" altLang="zh-CN" dirty="0"/>
              <a:t>VMM</a:t>
            </a:r>
            <a:r>
              <a:rPr kumimoji="1" lang="zh-CN" altLang="en-US" dirty="0"/>
              <a:t>记录在</a:t>
            </a:r>
            <a:r>
              <a:rPr kumimoji="1" lang="en-US" altLang="zh-CN" dirty="0"/>
              <a:t>vbar_el2</a:t>
            </a:r>
            <a:r>
              <a:rPr kumimoji="1" lang="zh-CN" altLang="en-US" dirty="0"/>
              <a:t>中的相关处理函数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下陷第一步：</a:t>
            </a:r>
            <a:r>
              <a:rPr kumimoji="1" lang="en-US" altLang="zh-CN" dirty="0"/>
              <a:t>VMM</a:t>
            </a:r>
            <a:r>
              <a:rPr kumimoji="1" lang="zh-CN" altLang="en-US" dirty="0">
                <a:solidFill>
                  <a:srgbClr val="BE384B"/>
                </a:solidFill>
              </a:rPr>
              <a:t>主动</a:t>
            </a:r>
            <a:r>
              <a:rPr kumimoji="1" lang="zh-CN" altLang="en-US" dirty="0"/>
              <a:t>保存所有</a:t>
            </a:r>
            <a:r>
              <a:rPr kumimoji="1" lang="en-US" altLang="zh-CN" dirty="0"/>
              <a:t>VM</a:t>
            </a:r>
            <a:r>
              <a:rPr kumimoji="1" lang="zh-CN" altLang="en-US" dirty="0"/>
              <a:t>的状态</a:t>
            </a:r>
            <a:endParaRPr kumimoji="1" lang="en-US" altLang="zh-CN" dirty="0"/>
          </a:p>
          <a:p>
            <a:pPr lvl="2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2D340D-63D6-8843-A0D3-50B23A6FA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F2F736-4719-3840-92FB-FB5DE3981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B94A576-69CF-4647-B2FF-E42A3B09DE61}"/>
              </a:ext>
            </a:extLst>
          </p:cNvPr>
          <p:cNvGrpSpPr/>
          <p:nvPr/>
        </p:nvGrpSpPr>
        <p:grpSpPr>
          <a:xfrm>
            <a:off x="6301295" y="1166310"/>
            <a:ext cx="2788674" cy="2309737"/>
            <a:chOff x="3379899" y="2131558"/>
            <a:chExt cx="5665118" cy="2694657"/>
          </a:xfrm>
        </p:grpSpPr>
        <p:sp>
          <p:nvSpPr>
            <p:cNvPr id="7" name="Rectangle 22">
              <a:extLst>
                <a:ext uri="{FF2B5EF4-FFF2-40B4-BE49-F238E27FC236}">
                  <a16:creationId xmlns:a16="http://schemas.microsoft.com/office/drawing/2014/main" id="{29D35EB8-E93E-CD47-B6C4-146A29700FD2}"/>
                </a:ext>
              </a:extLst>
            </p:cNvPr>
            <p:cNvSpPr/>
            <p:nvPr/>
          </p:nvSpPr>
          <p:spPr>
            <a:xfrm>
              <a:off x="4357605" y="3109194"/>
              <a:ext cx="1942588" cy="4938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zh-CN" altLang="en-US" sz="1200" dirty="0">
                  <a:solidFill>
                    <a:srgbClr val="BE384B"/>
                  </a:solidFill>
                  <a:cs typeface="Arial Narrow"/>
                </a:rPr>
                <a:t>操作系统</a:t>
              </a:r>
              <a:endParaRPr lang="en-US" altLang="zh-CN" sz="1200" dirty="0">
                <a:solidFill>
                  <a:srgbClr val="BE384B"/>
                </a:solidFill>
                <a:cs typeface="Arial Narrow"/>
              </a:endParaRPr>
            </a:p>
            <a:p>
              <a:pPr algn="ctr"/>
              <a:r>
                <a:rPr lang="zh-CN" altLang="en-US" sz="1200" dirty="0">
                  <a:solidFill>
                    <a:srgbClr val="BE384B"/>
                  </a:solidFill>
                  <a:cs typeface="Arial Narrow"/>
                </a:rPr>
                <a:t>内核</a:t>
              </a:r>
              <a:endParaRPr lang="en-US" sz="12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8" name="Rectangle 24">
              <a:extLst>
                <a:ext uri="{FF2B5EF4-FFF2-40B4-BE49-F238E27FC236}">
                  <a16:creationId xmlns:a16="http://schemas.microsoft.com/office/drawing/2014/main" id="{61703E68-0D11-264D-A9D4-0DBF559A3EF2}"/>
                </a:ext>
              </a:extLst>
            </p:cNvPr>
            <p:cNvSpPr/>
            <p:nvPr/>
          </p:nvSpPr>
          <p:spPr>
            <a:xfrm>
              <a:off x="4355954" y="4482275"/>
              <a:ext cx="4433342" cy="3439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BE384B"/>
                  </a:solidFill>
                  <a:cs typeface="Arial Narrow"/>
                </a:rPr>
                <a:t>硬件</a:t>
              </a:r>
              <a:endParaRPr lang="en-US" sz="12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9" name="Rectangle 27">
              <a:extLst>
                <a:ext uri="{FF2B5EF4-FFF2-40B4-BE49-F238E27FC236}">
                  <a16:creationId xmlns:a16="http://schemas.microsoft.com/office/drawing/2014/main" id="{8EDCEE82-462C-244C-B4CF-B3B50D71F5EE}"/>
                </a:ext>
              </a:extLst>
            </p:cNvPr>
            <p:cNvSpPr/>
            <p:nvPr/>
          </p:nvSpPr>
          <p:spPr>
            <a:xfrm>
              <a:off x="4355952" y="2439397"/>
              <a:ext cx="1942588" cy="4938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BE384B"/>
                  </a:solidFill>
                  <a:cs typeface="Arial Narrow"/>
                </a:rPr>
                <a:t>进程</a:t>
              </a:r>
              <a:endParaRPr lang="en-US" sz="1200" dirty="0">
                <a:solidFill>
                  <a:srgbClr val="BE384B"/>
                </a:solidFill>
                <a:cs typeface="Arial Narrow"/>
              </a:endParaRPr>
            </a:p>
          </p:txBody>
        </p:sp>
        <p:cxnSp>
          <p:nvCxnSpPr>
            <p:cNvPr id="10" name="Straight Connector 13">
              <a:extLst>
                <a:ext uri="{FF2B5EF4-FFF2-40B4-BE49-F238E27FC236}">
                  <a16:creationId xmlns:a16="http://schemas.microsoft.com/office/drawing/2014/main" id="{CFF153BE-8A3C-3D4E-BFEA-ACE57BEF919D}"/>
                </a:ext>
              </a:extLst>
            </p:cNvPr>
            <p:cNvCxnSpPr>
              <a:cxnSpLocks/>
            </p:cNvCxnSpPr>
            <p:nvPr/>
          </p:nvCxnSpPr>
          <p:spPr>
            <a:xfrm>
              <a:off x="4032925" y="4341956"/>
              <a:ext cx="5012092" cy="0"/>
            </a:xfrm>
            <a:prstGeom prst="line">
              <a:avLst/>
            </a:prstGeom>
            <a:ln>
              <a:solidFill>
                <a:srgbClr val="BE384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EA2F06D-CCBC-2C44-A027-F099C6A1E795}"/>
                </a:ext>
              </a:extLst>
            </p:cNvPr>
            <p:cNvSpPr txBox="1"/>
            <p:nvPr/>
          </p:nvSpPr>
          <p:spPr>
            <a:xfrm>
              <a:off x="3379899" y="3176896"/>
              <a:ext cx="595035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EL1</a:t>
              </a:r>
              <a:endParaRPr kumimoji="1" lang="zh-CN" altLang="en-US" sz="12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8B80B00-1DAF-7747-97F1-70151564DDD3}"/>
                </a:ext>
              </a:extLst>
            </p:cNvPr>
            <p:cNvSpPr txBox="1"/>
            <p:nvPr/>
          </p:nvSpPr>
          <p:spPr>
            <a:xfrm>
              <a:off x="3379899" y="2533147"/>
              <a:ext cx="595035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EL0</a:t>
              </a:r>
              <a:endParaRPr kumimoji="1" lang="zh-CN" altLang="en-US" sz="1200" dirty="0"/>
            </a:p>
          </p:txBody>
        </p:sp>
        <p:sp>
          <p:nvSpPr>
            <p:cNvPr id="13" name="Rectangle 22">
              <a:extLst>
                <a:ext uri="{FF2B5EF4-FFF2-40B4-BE49-F238E27FC236}">
                  <a16:creationId xmlns:a16="http://schemas.microsoft.com/office/drawing/2014/main" id="{28AB3515-B50D-AC47-8804-63E5451F0590}"/>
                </a:ext>
              </a:extLst>
            </p:cNvPr>
            <p:cNvSpPr/>
            <p:nvPr/>
          </p:nvSpPr>
          <p:spPr>
            <a:xfrm>
              <a:off x="4345922" y="3777937"/>
              <a:ext cx="4443373" cy="493860"/>
            </a:xfrm>
            <a:prstGeom prst="rect">
              <a:avLst/>
            </a:prstGeom>
            <a:solidFill>
              <a:srgbClr val="BE384B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r"/>
              <a:r>
                <a:rPr lang="zh-CN" altLang="en-US" sz="1200" dirty="0">
                  <a:solidFill>
                    <a:schemeClr val="bg1"/>
                  </a:solidFill>
                  <a:cs typeface="Arial Narrow"/>
                </a:rPr>
                <a:t>虚拟机监控器</a:t>
              </a:r>
              <a:endParaRPr lang="en-US" sz="1200" dirty="0">
                <a:solidFill>
                  <a:schemeClr val="bg1"/>
                </a:solidFill>
                <a:cs typeface="Arial Narrow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8CFFEBA-0871-434A-B3B4-07CD43AD3DCD}"/>
                </a:ext>
              </a:extLst>
            </p:cNvPr>
            <p:cNvSpPr txBox="1"/>
            <p:nvPr/>
          </p:nvSpPr>
          <p:spPr>
            <a:xfrm>
              <a:off x="3379899" y="3821506"/>
              <a:ext cx="595035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EL2</a:t>
              </a:r>
              <a:endParaRPr kumimoji="1" lang="zh-CN" altLang="en-US" sz="1200" dirty="0"/>
            </a:p>
          </p:txBody>
        </p:sp>
        <p:sp>
          <p:nvSpPr>
            <p:cNvPr id="15" name="圆角矩形 14">
              <a:extLst>
                <a:ext uri="{FF2B5EF4-FFF2-40B4-BE49-F238E27FC236}">
                  <a16:creationId xmlns:a16="http://schemas.microsoft.com/office/drawing/2014/main" id="{8C471E18-3CF4-BE48-9310-3FC82ED25E2D}"/>
                </a:ext>
              </a:extLst>
            </p:cNvPr>
            <p:cNvSpPr/>
            <p:nvPr/>
          </p:nvSpPr>
          <p:spPr>
            <a:xfrm>
              <a:off x="4255104" y="2135645"/>
              <a:ext cx="2160240" cy="1572133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BC81670-114D-DF41-892A-93669A095FFA}"/>
                </a:ext>
              </a:extLst>
            </p:cNvPr>
            <p:cNvSpPr txBox="1"/>
            <p:nvPr/>
          </p:nvSpPr>
          <p:spPr>
            <a:xfrm>
              <a:off x="4625282" y="2154504"/>
              <a:ext cx="951309" cy="3603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dirty="0"/>
                <a:t>虚拟机</a:t>
              </a:r>
              <a:r>
                <a:rPr kumimoji="1" lang="en-US" altLang="zh-CN" sz="1200" dirty="0"/>
                <a:t>1</a:t>
              </a:r>
              <a:endParaRPr kumimoji="1" lang="zh-CN" altLang="en-US" sz="1200" dirty="0"/>
            </a:p>
          </p:txBody>
        </p:sp>
        <p:sp>
          <p:nvSpPr>
            <p:cNvPr id="17" name="Rectangle 22">
              <a:extLst>
                <a:ext uri="{FF2B5EF4-FFF2-40B4-BE49-F238E27FC236}">
                  <a16:creationId xmlns:a16="http://schemas.microsoft.com/office/drawing/2014/main" id="{C47ECB7D-8649-5C4D-A466-332F9604F421}"/>
                </a:ext>
              </a:extLst>
            </p:cNvPr>
            <p:cNvSpPr/>
            <p:nvPr/>
          </p:nvSpPr>
          <p:spPr>
            <a:xfrm>
              <a:off x="6702691" y="3094993"/>
              <a:ext cx="1942588" cy="4938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zh-CN" altLang="en-US" sz="1200" dirty="0">
                  <a:solidFill>
                    <a:srgbClr val="BE384B"/>
                  </a:solidFill>
                  <a:cs typeface="Arial Narrow"/>
                </a:rPr>
                <a:t>操作系统</a:t>
              </a:r>
              <a:endParaRPr lang="en-US" altLang="zh-CN" sz="1200" dirty="0">
                <a:solidFill>
                  <a:srgbClr val="BE384B"/>
                </a:solidFill>
                <a:cs typeface="Arial Narrow"/>
              </a:endParaRPr>
            </a:p>
            <a:p>
              <a:pPr algn="ctr"/>
              <a:r>
                <a:rPr lang="zh-CN" altLang="en-US" sz="1200" dirty="0">
                  <a:solidFill>
                    <a:srgbClr val="BE384B"/>
                  </a:solidFill>
                  <a:cs typeface="Arial Narrow"/>
                </a:rPr>
                <a:t>内核</a:t>
              </a:r>
              <a:endParaRPr lang="en-US" sz="12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0DD68828-FCC7-4841-8A10-6FC2ABAB0BFB}"/>
                </a:ext>
              </a:extLst>
            </p:cNvPr>
            <p:cNvSpPr/>
            <p:nvPr/>
          </p:nvSpPr>
          <p:spPr>
            <a:xfrm>
              <a:off x="6701038" y="2425196"/>
              <a:ext cx="1942588" cy="4938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BE384B"/>
                  </a:solidFill>
                  <a:cs typeface="Arial Narrow"/>
                </a:rPr>
                <a:t>进程</a:t>
              </a:r>
              <a:endParaRPr lang="en-US" sz="12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9" name="圆角矩形 18">
              <a:extLst>
                <a:ext uri="{FF2B5EF4-FFF2-40B4-BE49-F238E27FC236}">
                  <a16:creationId xmlns:a16="http://schemas.microsoft.com/office/drawing/2014/main" id="{8312F9A0-59A0-4B44-8939-4F62510C2839}"/>
                </a:ext>
              </a:extLst>
            </p:cNvPr>
            <p:cNvSpPr/>
            <p:nvPr/>
          </p:nvSpPr>
          <p:spPr>
            <a:xfrm>
              <a:off x="6592212" y="2131558"/>
              <a:ext cx="2160240" cy="1572133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EE3BF1E-DB6C-E64C-8E60-9D0AC36B595F}"/>
                </a:ext>
              </a:extLst>
            </p:cNvPr>
            <p:cNvSpPr txBox="1"/>
            <p:nvPr/>
          </p:nvSpPr>
          <p:spPr>
            <a:xfrm>
              <a:off x="6957798" y="2141753"/>
              <a:ext cx="984674" cy="3603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dirty="0"/>
                <a:t>虚拟机</a:t>
              </a:r>
              <a:r>
                <a:rPr kumimoji="1" lang="en-US" altLang="zh-CN" sz="1200" dirty="0"/>
                <a:t>N</a:t>
              </a:r>
              <a:endParaRPr kumimoji="1" lang="zh-CN" altLang="en-US" sz="1200" dirty="0"/>
            </a:p>
          </p:txBody>
        </p:sp>
      </p:grpSp>
      <p:sp>
        <p:nvSpPr>
          <p:cNvPr id="21" name="Line 140">
            <a:extLst>
              <a:ext uri="{FF2B5EF4-FFF2-40B4-BE49-F238E27FC236}">
                <a16:creationId xmlns:a16="http://schemas.microsoft.com/office/drawing/2014/main" id="{522D1D40-1FAD-124F-9CA4-501AD549CC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6433" y="2293096"/>
            <a:ext cx="9245" cy="43976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/>
          </a:p>
        </p:txBody>
      </p:sp>
      <p:sp>
        <p:nvSpPr>
          <p:cNvPr id="22" name="Line 140">
            <a:extLst>
              <a:ext uri="{FF2B5EF4-FFF2-40B4-BE49-F238E27FC236}">
                <a16:creationId xmlns:a16="http://schemas.microsoft.com/office/drawing/2014/main" id="{FFB91230-6D7A-A04E-BC3F-33F563964A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2320" y="2244803"/>
            <a:ext cx="0" cy="43976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5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48B7D16-8B3D-7C4F-87BD-F92C0814D527}"/>
              </a:ext>
            </a:extLst>
          </p:cNvPr>
          <p:cNvSpPr txBox="1"/>
          <p:nvPr/>
        </p:nvSpPr>
        <p:spPr>
          <a:xfrm>
            <a:off x="6753629" y="2684565"/>
            <a:ext cx="6254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VM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Exit</a:t>
            </a:r>
            <a:endParaRPr kumimoji="1" lang="zh-CN" altLang="en-US" sz="1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2FC580D-8340-FB47-95F7-04FD745EBEEB}"/>
              </a:ext>
            </a:extLst>
          </p:cNvPr>
          <p:cNvSpPr txBox="1"/>
          <p:nvPr/>
        </p:nvSpPr>
        <p:spPr>
          <a:xfrm>
            <a:off x="7440278" y="2526974"/>
            <a:ext cx="7104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VM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Entry</a:t>
            </a:r>
            <a:endParaRPr kumimoji="1"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83663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5F5F00-2593-834A-BE6D-397788AA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硬件虚拟化的新功能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0B8DD3-993A-E443-82C2-8533E4EFB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中没有</a:t>
            </a:r>
            <a:r>
              <a:rPr kumimoji="1" lang="en-US" altLang="zh-CN" dirty="0"/>
              <a:t>VMCS</a:t>
            </a:r>
          </a:p>
          <a:p>
            <a:r>
              <a:rPr kumimoji="1" lang="en-US" altLang="zh-CN" dirty="0"/>
              <a:t>VM</a:t>
            </a:r>
            <a:r>
              <a:rPr kumimoji="1" lang="zh-CN" altLang="en-US" dirty="0"/>
              <a:t>能直接控制</a:t>
            </a:r>
            <a:r>
              <a:rPr kumimoji="1" lang="en-US" altLang="zh-CN" dirty="0"/>
              <a:t>EL1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EL0</a:t>
            </a:r>
            <a:r>
              <a:rPr kumimoji="1" lang="zh-CN" altLang="en-US" dirty="0"/>
              <a:t>的状态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自由地修改</a:t>
            </a:r>
            <a:r>
              <a:rPr kumimoji="1" lang="en-US" altLang="zh-CN" dirty="0"/>
              <a:t>PSTATE(VMM</a:t>
            </a:r>
            <a:r>
              <a:rPr kumimoji="1" lang="zh-CN" altLang="en-US" dirty="0"/>
              <a:t>不需要捕捉</a:t>
            </a:r>
            <a:r>
              <a:rPr kumimoji="1" lang="en-US" altLang="zh-CN" dirty="0"/>
              <a:t>CPS</a:t>
            </a:r>
            <a:r>
              <a:rPr kumimoji="1" lang="zh-CN" altLang="en-US" dirty="0"/>
              <a:t>指令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可以读写</a:t>
            </a:r>
            <a:r>
              <a:rPr kumimoji="1" lang="en-US" altLang="zh-CN" dirty="0"/>
              <a:t>TTBR0_EL1/SCTRL_EL1/TCR_EL1</a:t>
            </a:r>
            <a:r>
              <a:rPr kumimoji="1" lang="zh-CN" altLang="en-US" dirty="0"/>
              <a:t>等寄存器</a:t>
            </a:r>
            <a:endParaRPr kumimoji="1" lang="en-US" altLang="zh-CN" dirty="0"/>
          </a:p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时</a:t>
            </a:r>
            <a:r>
              <a:rPr kumimoji="1" lang="en-US" altLang="zh-CN" dirty="0"/>
              <a:t>VMM</a:t>
            </a:r>
            <a:r>
              <a:rPr kumimoji="1" lang="zh-CN" altLang="en-US" dirty="0"/>
              <a:t>仍然可以直接访问</a:t>
            </a:r>
            <a:r>
              <a:rPr kumimoji="1" lang="en-US" altLang="zh-CN" dirty="0"/>
              <a:t>VM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EL0</a:t>
            </a:r>
            <a:r>
              <a:rPr kumimoji="1" lang="zh-CN" altLang="en-US" dirty="0"/>
              <a:t>和</a:t>
            </a:r>
            <a:r>
              <a:rPr kumimoji="1" lang="en-US" altLang="zh-CN" dirty="0"/>
              <a:t>EL1</a:t>
            </a:r>
            <a:r>
              <a:rPr kumimoji="1" lang="zh-CN" altLang="en-US" dirty="0"/>
              <a:t>寄存器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>
                <a:solidFill>
                  <a:srgbClr val="BE384B"/>
                </a:solidFill>
              </a:rPr>
              <a:t>思考题</a:t>
            </a:r>
            <a:r>
              <a:rPr kumimoji="1" lang="en-US" altLang="zh-CN" dirty="0">
                <a:solidFill>
                  <a:srgbClr val="BE384B"/>
                </a:solidFill>
              </a:rPr>
              <a:t>1</a:t>
            </a:r>
            <a:r>
              <a:rPr kumimoji="1" lang="zh-CN" altLang="en-US" dirty="0">
                <a:solidFill>
                  <a:srgbClr val="BE384B"/>
                </a:solidFill>
              </a:rPr>
              <a:t>：为什么</a:t>
            </a:r>
            <a:r>
              <a:rPr kumimoji="1" lang="en-US" altLang="zh-CN" dirty="0">
                <a:solidFill>
                  <a:srgbClr val="BE384B"/>
                </a:solidFill>
              </a:rPr>
              <a:t>ARM</a:t>
            </a:r>
            <a:r>
              <a:rPr kumimoji="1" lang="zh-CN" altLang="en-US" dirty="0">
                <a:solidFill>
                  <a:srgbClr val="BE384B"/>
                </a:solidFill>
              </a:rPr>
              <a:t>中可以不需要</a:t>
            </a:r>
            <a:r>
              <a:rPr kumimoji="1" lang="en-US" altLang="zh-CN" dirty="0">
                <a:solidFill>
                  <a:srgbClr val="BE384B"/>
                </a:solidFill>
              </a:rPr>
              <a:t>VMCS</a:t>
            </a:r>
            <a:r>
              <a:rPr kumimoji="1" lang="zh-CN" altLang="en-US" dirty="0">
                <a:solidFill>
                  <a:srgbClr val="BE384B"/>
                </a:solidFill>
              </a:rPr>
              <a:t>？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r>
              <a:rPr kumimoji="1" lang="zh-CN" altLang="en-US" dirty="0">
                <a:solidFill>
                  <a:srgbClr val="BE384B"/>
                </a:solidFill>
              </a:rPr>
              <a:t>思考题</a:t>
            </a:r>
            <a:r>
              <a:rPr kumimoji="1" lang="en-US" altLang="zh-CN" dirty="0">
                <a:solidFill>
                  <a:srgbClr val="BE384B"/>
                </a:solidFill>
              </a:rPr>
              <a:t>2</a:t>
            </a:r>
            <a:r>
              <a:rPr kumimoji="1" lang="zh-CN" altLang="en-US" dirty="0">
                <a:solidFill>
                  <a:srgbClr val="BE384B"/>
                </a:solidFill>
              </a:rPr>
              <a:t>：</a:t>
            </a:r>
            <a:r>
              <a:rPr kumimoji="1" lang="en-US" altLang="zh-CN" dirty="0">
                <a:solidFill>
                  <a:srgbClr val="BE384B"/>
                </a:solidFill>
              </a:rPr>
              <a:t>ARM</a:t>
            </a:r>
            <a:r>
              <a:rPr kumimoji="1" lang="zh-CN" altLang="en-US" dirty="0">
                <a:solidFill>
                  <a:srgbClr val="BE384B"/>
                </a:solidFill>
              </a:rPr>
              <a:t>中没有</a:t>
            </a:r>
            <a:r>
              <a:rPr kumimoji="1" lang="en-US" altLang="zh-CN" dirty="0">
                <a:solidFill>
                  <a:srgbClr val="BE384B"/>
                </a:solidFill>
              </a:rPr>
              <a:t>VMCS</a:t>
            </a:r>
            <a:r>
              <a:rPr kumimoji="1" lang="zh-CN" altLang="en-US" dirty="0">
                <a:solidFill>
                  <a:srgbClr val="BE384B"/>
                </a:solidFill>
              </a:rPr>
              <a:t>，对于</a:t>
            </a:r>
            <a:r>
              <a:rPr kumimoji="1" lang="en-US" altLang="zh-CN" dirty="0">
                <a:solidFill>
                  <a:srgbClr val="BE384B"/>
                </a:solidFill>
              </a:rPr>
              <a:t>VMM</a:t>
            </a:r>
            <a:r>
              <a:rPr kumimoji="1" lang="zh-CN" altLang="en-US" dirty="0">
                <a:solidFill>
                  <a:srgbClr val="BE384B"/>
                </a:solidFill>
              </a:rPr>
              <a:t>的设计和实现来说有什么优缺点？</a:t>
            </a:r>
            <a:endParaRPr kumimoji="1" lang="en-US" altLang="zh-CN" dirty="0">
              <a:solidFill>
                <a:srgbClr val="BE384B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945CA7-C988-5A47-99C4-C0B4ED56E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E0B4A3-4FFC-3F4D-B266-8E0561217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2994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24D36-9A63-804A-BBE0-361FB2272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HCR_EL2</a:t>
            </a:r>
            <a:r>
              <a:rPr kumimoji="1" lang="zh-CN" altLang="en-US" dirty="0"/>
              <a:t>寄存器简介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BA3899-B3D0-2249-A1AB-424D349E2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dirty="0">
                <a:solidFill>
                  <a:srgbClr val="404040"/>
                </a:solidFill>
              </a:rPr>
              <a:t>HCR_EL2</a:t>
            </a:r>
            <a:r>
              <a:rPr kumimoji="1" lang="zh-CN" altLang="en-US" dirty="0">
                <a:solidFill>
                  <a:srgbClr val="404040"/>
                </a:solidFill>
              </a:rPr>
              <a:t>：</a:t>
            </a:r>
            <a:r>
              <a:rPr kumimoji="1" lang="en-US" altLang="zh-CN" dirty="0">
                <a:solidFill>
                  <a:srgbClr val="404040"/>
                </a:solidFill>
              </a:rPr>
              <a:t>VMM</a:t>
            </a:r>
            <a:r>
              <a:rPr kumimoji="1" lang="zh-CN" altLang="en-US" dirty="0">
                <a:solidFill>
                  <a:srgbClr val="404040"/>
                </a:solidFill>
              </a:rPr>
              <a:t>控制</a:t>
            </a:r>
            <a:r>
              <a:rPr kumimoji="1" lang="en-US" altLang="zh-CN" dirty="0">
                <a:solidFill>
                  <a:srgbClr val="404040"/>
                </a:solidFill>
              </a:rPr>
              <a:t>VM</a:t>
            </a:r>
            <a:r>
              <a:rPr kumimoji="1" lang="zh-CN" altLang="en-US" dirty="0">
                <a:solidFill>
                  <a:srgbClr val="404040"/>
                </a:solidFill>
              </a:rPr>
              <a:t>行为的系统寄存器</a:t>
            </a:r>
            <a:endParaRPr kumimoji="1" lang="en-US" altLang="zh-CN" dirty="0">
              <a:solidFill>
                <a:srgbClr val="404040"/>
              </a:solidFill>
            </a:endParaRPr>
          </a:p>
          <a:p>
            <a:pPr lvl="1"/>
            <a:r>
              <a:rPr kumimoji="1" lang="en-US" altLang="zh-CN" dirty="0">
                <a:solidFill>
                  <a:srgbClr val="404040"/>
                </a:solidFill>
              </a:rPr>
              <a:t>VMM</a:t>
            </a:r>
            <a:r>
              <a:rPr kumimoji="1" lang="zh-CN" altLang="en-US" dirty="0">
                <a:solidFill>
                  <a:srgbClr val="BE384B"/>
                </a:solidFill>
              </a:rPr>
              <a:t>有选择地</a:t>
            </a:r>
            <a:r>
              <a:rPr kumimoji="1" lang="zh-CN" altLang="en-US" dirty="0"/>
              <a:t>决定</a:t>
            </a:r>
            <a:r>
              <a:rPr kumimoji="1" lang="en-US" altLang="zh-CN" dirty="0"/>
              <a:t>VM</a:t>
            </a:r>
            <a:r>
              <a:rPr kumimoji="1" lang="zh-CN" altLang="en-US" dirty="0"/>
              <a:t>在某些情况时下陷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和</a:t>
            </a:r>
            <a:r>
              <a:rPr kumimoji="1" lang="en-US" altLang="zh-CN" dirty="0"/>
              <a:t>VT-x</a:t>
            </a:r>
            <a:r>
              <a:rPr kumimoji="1" lang="zh-CN" altLang="en-US" dirty="0"/>
              <a:t> </a:t>
            </a:r>
            <a:r>
              <a:rPr kumimoji="1" lang="en-US" altLang="zh-CN" dirty="0"/>
              <a:t>VMCS</a:t>
            </a:r>
            <a:r>
              <a:rPr kumimoji="1" lang="zh-CN" altLang="en-US" dirty="0"/>
              <a:t>中</a:t>
            </a:r>
            <a:r>
              <a:rPr kumimoji="1" lang="en-US" altLang="zh-CN" dirty="0"/>
              <a:t>VM-execution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control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area</a:t>
            </a:r>
            <a:r>
              <a:rPr kumimoji="1" lang="zh-CN" altLang="en-US" dirty="0"/>
              <a:t>类似</a:t>
            </a:r>
            <a:endParaRPr kumimoji="1" lang="en-US" altLang="zh-CN" dirty="0"/>
          </a:p>
          <a:p>
            <a:r>
              <a:rPr kumimoji="1" lang="zh-CN" altLang="en-US" dirty="0"/>
              <a:t>在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r>
              <a:rPr kumimoji="1" lang="zh-CN" altLang="en-US" dirty="0"/>
              <a:t>之前设置相关位，控制虚拟机行为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TRVM(32</a:t>
            </a:r>
            <a:r>
              <a:rPr kumimoji="1" lang="zh-CN" altLang="en-US" dirty="0"/>
              <a:t>位</a:t>
            </a:r>
            <a:r>
              <a:rPr kumimoji="1" lang="en-US" altLang="zh-CN" dirty="0"/>
              <a:t>)</a:t>
            </a:r>
            <a:r>
              <a:rPr kumimoji="1" lang="zh-CN" altLang="en-US" dirty="0"/>
              <a:t>和</a:t>
            </a:r>
            <a:r>
              <a:rPr kumimoji="1" lang="en-US" altLang="zh-CN" dirty="0"/>
              <a:t>TVM(26</a:t>
            </a:r>
            <a:r>
              <a:rPr kumimoji="1" lang="zh-CN" altLang="en-US" dirty="0"/>
              <a:t>位</a:t>
            </a:r>
            <a:r>
              <a:rPr kumimoji="1" lang="en-US" altLang="zh-CN" dirty="0"/>
              <a:t>):</a:t>
            </a:r>
            <a:r>
              <a:rPr kumimoji="1" lang="zh-CN" altLang="en-US" dirty="0"/>
              <a:t> </a:t>
            </a:r>
            <a:r>
              <a:rPr kumimoji="1" lang="en-US" altLang="zh-CN" dirty="0"/>
              <a:t>VM</a:t>
            </a:r>
            <a:r>
              <a:rPr kumimoji="1" lang="zh-CN" altLang="en-US" dirty="0"/>
              <a:t>读写内存控制寄存器是否下陷，例如</a:t>
            </a:r>
            <a:r>
              <a:rPr kumimoji="1" lang="en-US" altLang="zh-CN" dirty="0"/>
              <a:t>SCTRL_EL1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TTBR0_EL1</a:t>
            </a:r>
          </a:p>
          <a:p>
            <a:pPr lvl="1"/>
            <a:r>
              <a:rPr kumimoji="1" lang="en-US" altLang="zh-CN" dirty="0"/>
              <a:t>TWE(14</a:t>
            </a:r>
            <a:r>
              <a:rPr kumimoji="1" lang="zh-CN" altLang="en-US" dirty="0"/>
              <a:t>位</a:t>
            </a:r>
            <a:r>
              <a:rPr kumimoji="1" lang="en-US" altLang="zh-CN" dirty="0"/>
              <a:t>)</a:t>
            </a:r>
            <a:r>
              <a:rPr kumimoji="1" lang="zh-CN" altLang="en-US" dirty="0"/>
              <a:t>和</a:t>
            </a:r>
            <a:r>
              <a:rPr kumimoji="1" lang="en-US" altLang="zh-CN" dirty="0"/>
              <a:t>TWI(13</a:t>
            </a:r>
            <a:r>
              <a:rPr kumimoji="1" lang="zh-CN" altLang="en-US" dirty="0"/>
              <a:t>位</a:t>
            </a:r>
            <a:r>
              <a:rPr kumimoji="1" lang="en-US" altLang="zh-CN" dirty="0"/>
              <a:t>)</a:t>
            </a:r>
            <a:r>
              <a:rPr kumimoji="1" lang="zh-CN" altLang="en-US" dirty="0"/>
              <a:t>：执行</a:t>
            </a:r>
            <a:r>
              <a:rPr kumimoji="1" lang="en-US" altLang="zh-CN" dirty="0"/>
              <a:t>WFE</a:t>
            </a:r>
            <a:r>
              <a:rPr kumimoji="1" lang="zh-CN" altLang="en-US" dirty="0"/>
              <a:t>和</a:t>
            </a:r>
            <a:r>
              <a:rPr kumimoji="1" lang="en-US" altLang="zh-CN" dirty="0"/>
              <a:t>WFI</a:t>
            </a:r>
            <a:r>
              <a:rPr kumimoji="1" lang="zh-CN" altLang="en-US" dirty="0"/>
              <a:t>指令是否下陷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AMO(6</a:t>
            </a:r>
            <a:r>
              <a:rPr kumimoji="1" lang="zh-CN" altLang="en-US" dirty="0"/>
              <a:t>位</a:t>
            </a:r>
            <a:r>
              <a:rPr kumimoji="1" lang="en-US" altLang="zh-CN" dirty="0"/>
              <a:t>)/IMO(5</a:t>
            </a:r>
            <a:r>
              <a:rPr kumimoji="1" lang="zh-CN" altLang="en-US" dirty="0"/>
              <a:t>位</a:t>
            </a:r>
            <a:r>
              <a:rPr kumimoji="1" lang="en-US" altLang="zh-CN" dirty="0"/>
              <a:t>)/FMO(4</a:t>
            </a:r>
            <a:r>
              <a:rPr kumimoji="1" lang="zh-CN" altLang="en-US" dirty="0"/>
              <a:t>位</a:t>
            </a:r>
            <a:r>
              <a:rPr kumimoji="1" lang="en-US" altLang="zh-CN" dirty="0"/>
              <a:t>)</a:t>
            </a:r>
            <a:r>
              <a:rPr kumimoji="1" lang="zh-CN" altLang="en-US" dirty="0"/>
              <a:t>：</a:t>
            </a:r>
            <a:r>
              <a:rPr kumimoji="1" lang="en-US" altLang="zh-CN" dirty="0"/>
              <a:t>Exception/IRQ/FIQ</a:t>
            </a:r>
            <a:r>
              <a:rPr kumimoji="1" lang="zh-CN" altLang="en-US" dirty="0"/>
              <a:t>是否下陷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VM(0</a:t>
            </a:r>
            <a:r>
              <a:rPr kumimoji="1" lang="zh-CN" altLang="en-US" dirty="0"/>
              <a:t>位</a:t>
            </a:r>
            <a:r>
              <a:rPr kumimoji="1" lang="en-US" altLang="zh-CN" dirty="0"/>
              <a:t>):</a:t>
            </a:r>
            <a:r>
              <a:rPr kumimoji="1" lang="zh-CN" altLang="en-US" dirty="0"/>
              <a:t> 是否打开第二阶段地址翻译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919C51-C12D-C543-9725-322CCB19E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ECEB12-99D2-3B4C-8349-C962CC85C5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3395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627665-2F26-F94E-B76B-10C0327B6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HCR_EL2</a:t>
            </a:r>
            <a:r>
              <a:rPr kumimoji="1" lang="zh-CN" altLang="en-US" dirty="0"/>
              <a:t>寄存器简介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A1AC7A-E4A7-4D41-8AC1-A65C4284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085620-F55B-6B44-8770-18283F713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4DF0356-88D6-D44D-946F-BE93B72082D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592" y="1417340"/>
            <a:ext cx="7625826" cy="361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14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113949-97E0-A747-BA06-2A699C819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硬件虚拟化发展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CA607F-583F-1043-8BFC-2352CE878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dirty="0"/>
              <a:t>ARMv8.0</a:t>
            </a:r>
          </a:p>
          <a:p>
            <a:pPr lvl="1"/>
            <a:r>
              <a:rPr kumimoji="1" lang="zh-CN" altLang="en-US" dirty="0"/>
              <a:t>增加</a:t>
            </a:r>
            <a:r>
              <a:rPr kumimoji="1" lang="en-US" altLang="zh-CN" dirty="0"/>
              <a:t>EL2</a:t>
            </a:r>
            <a:r>
              <a:rPr kumimoji="1" lang="en-US" altLang="zh-CN" baseline="30000" dirty="0"/>
              <a:t>1</a:t>
            </a:r>
            <a:r>
              <a:rPr kumimoji="1" lang="zh-CN" altLang="en-US" dirty="0"/>
              <a:t>特权级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EL2</a:t>
            </a:r>
            <a:r>
              <a:rPr kumimoji="1" lang="zh-CN" altLang="en-US" dirty="0"/>
              <a:t>只能运行</a:t>
            </a:r>
            <a:r>
              <a:rPr kumimoji="1" lang="en-US" altLang="zh-CN" dirty="0"/>
              <a:t>VMM</a:t>
            </a:r>
            <a:r>
              <a:rPr kumimoji="1" lang="zh-CN" altLang="en-US" dirty="0"/>
              <a:t>，不能运行一般操作系统内核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OS</a:t>
            </a:r>
            <a:r>
              <a:rPr kumimoji="1" lang="zh-CN" altLang="en-US" dirty="0"/>
              <a:t>一般只使用</a:t>
            </a:r>
            <a:r>
              <a:rPr kumimoji="1" lang="en-US" altLang="zh-CN" dirty="0"/>
              <a:t>EL1</a:t>
            </a:r>
            <a:r>
              <a:rPr kumimoji="1" lang="zh-CN" altLang="en-US" dirty="0"/>
              <a:t>的寄存器，在</a:t>
            </a:r>
            <a:r>
              <a:rPr kumimoji="1" lang="en-US" altLang="zh-CN" dirty="0"/>
              <a:t>EL2</a:t>
            </a:r>
            <a:r>
              <a:rPr kumimoji="1" lang="zh-CN" altLang="en-US" dirty="0"/>
              <a:t>中不存在对应的寄存器</a:t>
            </a:r>
            <a:endParaRPr kumimoji="1" lang="en-US" altLang="zh-CN" dirty="0"/>
          </a:p>
          <a:p>
            <a:pPr lvl="3"/>
            <a:r>
              <a:rPr kumimoji="1" lang="en-US" altLang="zh-CN" dirty="0"/>
              <a:t>EL1</a:t>
            </a:r>
            <a:r>
              <a:rPr kumimoji="1" lang="zh-CN" altLang="en-US" dirty="0"/>
              <a:t>：</a:t>
            </a:r>
            <a:r>
              <a:rPr kumimoji="1" lang="en-US" altLang="zh-CN" dirty="0"/>
              <a:t>TTBR0_EL1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TTBR1_EL1</a:t>
            </a:r>
          </a:p>
          <a:p>
            <a:pPr lvl="3"/>
            <a:r>
              <a:rPr kumimoji="1" lang="en-US" altLang="zh-CN" dirty="0"/>
              <a:t>EL2</a:t>
            </a:r>
            <a:r>
              <a:rPr kumimoji="1" lang="zh-CN" altLang="en-US" dirty="0"/>
              <a:t>：</a:t>
            </a:r>
            <a:r>
              <a:rPr kumimoji="1" lang="en-US" altLang="zh-CN" dirty="0"/>
              <a:t>TTBR_EL2</a:t>
            </a:r>
          </a:p>
          <a:p>
            <a:pPr lvl="2"/>
            <a:r>
              <a:rPr kumimoji="1" lang="en-US" altLang="zh-CN" dirty="0"/>
              <a:t>EL2</a:t>
            </a:r>
            <a:r>
              <a:rPr kumimoji="1" lang="zh-CN" altLang="en-US" dirty="0"/>
              <a:t>不能与</a:t>
            </a:r>
            <a:r>
              <a:rPr kumimoji="1" lang="en-US" altLang="zh-CN" dirty="0"/>
              <a:t>EL0</a:t>
            </a:r>
            <a:r>
              <a:rPr kumimoji="1" lang="zh-CN" altLang="en-US" dirty="0"/>
              <a:t>共享内存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rgbClr val="BE384B"/>
                </a:solidFill>
              </a:rPr>
              <a:t>因此：无法在</a:t>
            </a:r>
            <a:r>
              <a:rPr kumimoji="1" lang="en-US" altLang="zh-CN" dirty="0">
                <a:solidFill>
                  <a:srgbClr val="BE384B"/>
                </a:solidFill>
              </a:rPr>
              <a:t>EL2</a:t>
            </a:r>
            <a:r>
              <a:rPr kumimoji="1" lang="zh-CN" altLang="en-US" dirty="0">
                <a:solidFill>
                  <a:srgbClr val="BE384B"/>
                </a:solidFill>
              </a:rPr>
              <a:t>中运行</a:t>
            </a:r>
            <a:r>
              <a:rPr kumimoji="1" lang="en-US" altLang="zh-CN" dirty="0">
                <a:solidFill>
                  <a:srgbClr val="BE384B"/>
                </a:solidFill>
              </a:rPr>
              <a:t>Type-2</a:t>
            </a:r>
            <a:r>
              <a:rPr kumimoji="1" lang="zh-CN" altLang="en-US" dirty="0">
                <a:solidFill>
                  <a:srgbClr val="BE384B"/>
                </a:solidFill>
              </a:rPr>
              <a:t>虚拟机监控器的</a:t>
            </a:r>
            <a:r>
              <a:rPr kumimoji="1" lang="en-US" altLang="zh-CN" dirty="0">
                <a:solidFill>
                  <a:srgbClr val="BE384B"/>
                </a:solidFill>
              </a:rPr>
              <a:t>Host</a:t>
            </a:r>
            <a:r>
              <a:rPr kumimoji="1" lang="zh-CN" altLang="en-US" dirty="0">
                <a:solidFill>
                  <a:srgbClr val="BE384B"/>
                </a:solidFill>
              </a:rPr>
              <a:t> </a:t>
            </a:r>
            <a:r>
              <a:rPr kumimoji="1" lang="en-US" altLang="zh-CN" dirty="0">
                <a:solidFill>
                  <a:srgbClr val="BE384B"/>
                </a:solidFill>
              </a:rPr>
              <a:t>OS</a:t>
            </a:r>
          </a:p>
          <a:p>
            <a:pPr lvl="2"/>
            <a:r>
              <a:rPr kumimoji="1" lang="zh-CN" altLang="en-US" sz="1800" dirty="0"/>
              <a:t>或者说，</a:t>
            </a:r>
            <a:r>
              <a:rPr kumimoji="1" lang="en-US" altLang="zh-CN" sz="1800" dirty="0"/>
              <a:t>Host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OS</a:t>
            </a:r>
            <a:r>
              <a:rPr kumimoji="1" lang="zh-CN" altLang="en-US" sz="1800" dirty="0"/>
              <a:t>需要大量修改才能运行在</a:t>
            </a:r>
            <a:r>
              <a:rPr kumimoji="1" lang="en-US" altLang="zh-CN" sz="1800" dirty="0"/>
              <a:t>EL2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A72711-36D4-6649-95D5-4A49DE153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E10382-ABDD-1649-8B2C-22AE8257F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B4418D-104A-254E-9F46-7DB577F022A2}"/>
              </a:ext>
            </a:extLst>
          </p:cNvPr>
          <p:cNvSpPr txBox="1"/>
          <p:nvPr/>
        </p:nvSpPr>
        <p:spPr>
          <a:xfrm>
            <a:off x="0" y="5438001"/>
            <a:ext cx="1680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rgbClr val="404040"/>
                </a:solidFill>
              </a:rPr>
              <a:t>1:</a:t>
            </a:r>
            <a:r>
              <a:rPr kumimoji="1" lang="zh-CN" altLang="en-US" sz="1200" dirty="0">
                <a:solidFill>
                  <a:srgbClr val="404040"/>
                </a:solidFill>
              </a:rPr>
              <a:t> 实际上名为</a:t>
            </a:r>
            <a:r>
              <a:rPr kumimoji="1" lang="en-US" altLang="zh-CN" sz="1200" dirty="0" err="1">
                <a:solidFill>
                  <a:srgbClr val="404040"/>
                </a:solidFill>
              </a:rPr>
              <a:t>hyp</a:t>
            </a:r>
            <a:r>
              <a:rPr kumimoji="1" lang="zh-CN" altLang="en-US" sz="1200" dirty="0">
                <a:solidFill>
                  <a:srgbClr val="404040"/>
                </a:solidFill>
              </a:rPr>
              <a:t>模式</a:t>
            </a:r>
          </a:p>
        </p:txBody>
      </p:sp>
    </p:spTree>
    <p:extLst>
      <p:ext uri="{BB962C8B-B14F-4D97-AF65-F5344CB8AC3E}">
        <p14:creationId xmlns:p14="http://schemas.microsoft.com/office/powerpoint/2010/main" val="248744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23E471-AB76-E447-9676-A31B72505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ARMv8.0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Type-2</a:t>
            </a:r>
            <a:r>
              <a:rPr kumimoji="1" lang="zh-CN" altLang="en-US" dirty="0"/>
              <a:t> </a:t>
            </a:r>
            <a:r>
              <a:rPr kumimoji="1" lang="en-US" altLang="zh-CN" dirty="0"/>
              <a:t>VMM</a:t>
            </a:r>
            <a:r>
              <a:rPr kumimoji="1" lang="zh-CN" altLang="en-US" dirty="0"/>
              <a:t>架构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119BDE-CCF5-AB43-A5A1-08E351A0B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778045-0284-1542-99F7-212D68374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Rectangle 22">
            <a:extLst>
              <a:ext uri="{FF2B5EF4-FFF2-40B4-BE49-F238E27FC236}">
                <a16:creationId xmlns:a16="http://schemas.microsoft.com/office/drawing/2014/main" id="{EAB256EA-18F1-5D45-8DFB-6BE76844916A}"/>
              </a:ext>
            </a:extLst>
          </p:cNvPr>
          <p:cNvSpPr/>
          <p:nvPr/>
        </p:nvSpPr>
        <p:spPr>
          <a:xfrm>
            <a:off x="1790025" y="2456032"/>
            <a:ext cx="2636232" cy="67020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Host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OS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318D4375-44F2-BB44-B568-10CFB4A5A886}"/>
              </a:ext>
            </a:extLst>
          </p:cNvPr>
          <p:cNvSpPr/>
          <p:nvPr/>
        </p:nvSpPr>
        <p:spPr>
          <a:xfrm>
            <a:off x="1787782" y="1547069"/>
            <a:ext cx="2636232" cy="670202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Processes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10" name="Straight Connector 13">
            <a:extLst>
              <a:ext uri="{FF2B5EF4-FFF2-40B4-BE49-F238E27FC236}">
                <a16:creationId xmlns:a16="http://schemas.microsoft.com/office/drawing/2014/main" id="{72A1F924-3A9C-2F4F-B69D-F57E3E89E4CF}"/>
              </a:ext>
            </a:extLst>
          </p:cNvPr>
          <p:cNvCxnSpPr>
            <a:cxnSpLocks/>
          </p:cNvCxnSpPr>
          <p:nvPr/>
        </p:nvCxnSpPr>
        <p:spPr>
          <a:xfrm>
            <a:off x="1144656" y="3382686"/>
            <a:ext cx="6801770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090FFF94-E997-8144-9615-4839EF00023A}"/>
              </a:ext>
            </a:extLst>
          </p:cNvPr>
          <p:cNvSpPr txBox="1"/>
          <p:nvPr/>
        </p:nvSpPr>
        <p:spPr>
          <a:xfrm>
            <a:off x="1013868" y="2554252"/>
            <a:ext cx="807505" cy="501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EA182B-73FE-A141-936E-2F1B63AF2A46}"/>
              </a:ext>
            </a:extLst>
          </p:cNvPr>
          <p:cNvSpPr txBox="1"/>
          <p:nvPr/>
        </p:nvSpPr>
        <p:spPr>
          <a:xfrm>
            <a:off x="1013868" y="1680639"/>
            <a:ext cx="807505" cy="501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3" name="Rectangle 22">
            <a:extLst>
              <a:ext uri="{FF2B5EF4-FFF2-40B4-BE49-F238E27FC236}">
                <a16:creationId xmlns:a16="http://schemas.microsoft.com/office/drawing/2014/main" id="{F464D9E1-6E8A-6E4A-9B3C-6C3BB04E1771}"/>
              </a:ext>
            </a:extLst>
          </p:cNvPr>
          <p:cNvSpPr/>
          <p:nvPr/>
        </p:nvSpPr>
        <p:spPr>
          <a:xfrm>
            <a:off x="1774170" y="3499181"/>
            <a:ext cx="2649844" cy="670204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  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 </a:t>
            </a:r>
            <a:endParaRPr lang="en-US" altLang="zh-CN" sz="1600" dirty="0">
              <a:solidFill>
                <a:schemeClr val="bg1"/>
              </a:solidFill>
              <a:cs typeface="Arial Narrow"/>
            </a:endParaRPr>
          </a:p>
          <a:p>
            <a:r>
              <a:rPr lang="en-US" altLang="zh-CN" sz="1600" dirty="0" err="1">
                <a:solidFill>
                  <a:schemeClr val="bg1"/>
                </a:solidFill>
                <a:cs typeface="Arial Narrow"/>
              </a:rPr>
              <a:t>Lowvisor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6EC19BF-D40B-0E4D-BB96-29A9818150C4}"/>
              </a:ext>
            </a:extLst>
          </p:cNvPr>
          <p:cNvSpPr txBox="1"/>
          <p:nvPr/>
        </p:nvSpPr>
        <p:spPr>
          <a:xfrm>
            <a:off x="1013867" y="3564652"/>
            <a:ext cx="807505" cy="501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FB131DD-3DE8-3645-AAB9-C235F4756E4B}"/>
              </a:ext>
            </a:extLst>
          </p:cNvPr>
          <p:cNvSpPr txBox="1"/>
          <p:nvPr/>
        </p:nvSpPr>
        <p:spPr>
          <a:xfrm>
            <a:off x="2700196" y="1160941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VMM</a:t>
            </a:r>
            <a:endParaRPr kumimoji="1" lang="zh-CN" altLang="en-US" dirty="0"/>
          </a:p>
        </p:txBody>
      </p:sp>
      <p:sp>
        <p:nvSpPr>
          <p:cNvPr id="17" name="Rectangle 22">
            <a:extLst>
              <a:ext uri="{FF2B5EF4-FFF2-40B4-BE49-F238E27FC236}">
                <a16:creationId xmlns:a16="http://schemas.microsoft.com/office/drawing/2014/main" id="{93457CC6-5207-4441-9E18-E04A2661A4DD}"/>
              </a:ext>
            </a:extLst>
          </p:cNvPr>
          <p:cNvSpPr/>
          <p:nvPr/>
        </p:nvSpPr>
        <p:spPr>
          <a:xfrm>
            <a:off x="4972476" y="2436760"/>
            <a:ext cx="2636232" cy="67020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OS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Kernel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63D5D3A1-ACDD-7B49-9954-E9799E06AE77}"/>
              </a:ext>
            </a:extLst>
          </p:cNvPr>
          <p:cNvSpPr/>
          <p:nvPr/>
        </p:nvSpPr>
        <p:spPr>
          <a:xfrm>
            <a:off x="4970233" y="1527797"/>
            <a:ext cx="2636232" cy="670202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Processes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98928C1F-51A6-8C4F-A32B-09FD375611F3}"/>
              </a:ext>
            </a:extLst>
          </p:cNvPr>
          <p:cNvSpPr/>
          <p:nvPr/>
        </p:nvSpPr>
        <p:spPr>
          <a:xfrm>
            <a:off x="4822548" y="1129309"/>
            <a:ext cx="2931601" cy="2085766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0D478E4-0884-7B4E-AAE9-EE164EC799DA}"/>
              </a:ext>
            </a:extLst>
          </p:cNvPr>
          <p:cNvSpPr txBox="1"/>
          <p:nvPr/>
        </p:nvSpPr>
        <p:spPr>
          <a:xfrm>
            <a:off x="5995826" y="115028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C702FFDE-691B-7C40-A1F6-BD4E4B8E45DC}"/>
              </a:ext>
            </a:extLst>
          </p:cNvPr>
          <p:cNvSpPr/>
          <p:nvPr/>
        </p:nvSpPr>
        <p:spPr>
          <a:xfrm>
            <a:off x="1691680" y="1129308"/>
            <a:ext cx="2931601" cy="3313593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7B7FCC12-C741-B94E-B87F-A97741388C31}"/>
              </a:ext>
            </a:extLst>
          </p:cNvPr>
          <p:cNvSpPr/>
          <p:nvPr/>
        </p:nvSpPr>
        <p:spPr>
          <a:xfrm>
            <a:off x="3099092" y="2525045"/>
            <a:ext cx="1146017" cy="53659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</a:p>
          <a:p>
            <a:pPr algn="ctr"/>
            <a:r>
              <a:rPr lang="en-US" altLang="zh-CN" sz="1600" dirty="0" err="1">
                <a:solidFill>
                  <a:schemeClr val="bg1"/>
                </a:solidFill>
                <a:cs typeface="Arial Narrow"/>
              </a:rPr>
              <a:t>Highvisor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24" name="肘形连接符 23">
            <a:extLst>
              <a:ext uri="{FF2B5EF4-FFF2-40B4-BE49-F238E27FC236}">
                <a16:creationId xmlns:a16="http://schemas.microsoft.com/office/drawing/2014/main" id="{FE20E9B1-B03A-0749-AFAE-45A913BFEA07}"/>
              </a:ext>
            </a:extLst>
          </p:cNvPr>
          <p:cNvCxnSpPr>
            <a:cxnSpLocks/>
          </p:cNvCxnSpPr>
          <p:nvPr/>
        </p:nvCxnSpPr>
        <p:spPr>
          <a:xfrm rot="5400000">
            <a:off x="5135119" y="2408642"/>
            <a:ext cx="525874" cy="194808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肘形连接符 25">
            <a:extLst>
              <a:ext uri="{FF2B5EF4-FFF2-40B4-BE49-F238E27FC236}">
                <a16:creationId xmlns:a16="http://schemas.microsoft.com/office/drawing/2014/main" id="{5445CA85-69AD-7A40-88D2-0A9A5F961847}"/>
              </a:ext>
            </a:extLst>
          </p:cNvPr>
          <p:cNvCxnSpPr>
            <a:cxnSpLocks/>
            <a:endCxn id="13" idx="3"/>
          </p:cNvCxnSpPr>
          <p:nvPr/>
        </p:nvCxnSpPr>
        <p:spPr>
          <a:xfrm rot="10800000" flipV="1">
            <a:off x="4424014" y="3135979"/>
            <a:ext cx="2343940" cy="698304"/>
          </a:xfrm>
          <a:prstGeom prst="bentConnector3">
            <a:avLst>
              <a:gd name="adj1" fmla="val 409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A547885A-D51D-DD44-8B14-44FB3B0E0AE2}"/>
              </a:ext>
            </a:extLst>
          </p:cNvPr>
          <p:cNvCxnSpPr/>
          <p:nvPr/>
        </p:nvCxnSpPr>
        <p:spPr>
          <a:xfrm flipV="1">
            <a:off x="3934453" y="3055462"/>
            <a:ext cx="0" cy="4437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96A7D8E0-8324-AC4D-BF36-9E34C586951B}"/>
              </a:ext>
            </a:extLst>
          </p:cNvPr>
          <p:cNvCxnSpPr/>
          <p:nvPr/>
        </p:nvCxnSpPr>
        <p:spPr>
          <a:xfrm flipV="1">
            <a:off x="3423471" y="3069042"/>
            <a:ext cx="0" cy="44371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249B9C26-7ACC-CA43-A212-314D175EBDEF}"/>
              </a:ext>
            </a:extLst>
          </p:cNvPr>
          <p:cNvSpPr/>
          <p:nvPr/>
        </p:nvSpPr>
        <p:spPr>
          <a:xfrm>
            <a:off x="5199164" y="3279980"/>
            <a:ext cx="353318" cy="3600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10E8D67C-83BA-9E44-9889-D902DD4F871B}"/>
              </a:ext>
            </a:extLst>
          </p:cNvPr>
          <p:cNvSpPr/>
          <p:nvPr/>
        </p:nvSpPr>
        <p:spPr>
          <a:xfrm>
            <a:off x="3980113" y="3097301"/>
            <a:ext cx="353318" cy="3600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31378F70-B8E8-2C48-8FCD-FC33277B6A01}"/>
              </a:ext>
            </a:extLst>
          </p:cNvPr>
          <p:cNvSpPr/>
          <p:nvPr/>
        </p:nvSpPr>
        <p:spPr>
          <a:xfrm>
            <a:off x="2992000" y="3082974"/>
            <a:ext cx="353318" cy="3600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8BCCC4CD-5D20-9344-A161-57B1A0258656}"/>
              </a:ext>
            </a:extLst>
          </p:cNvPr>
          <p:cNvSpPr/>
          <p:nvPr/>
        </p:nvSpPr>
        <p:spPr>
          <a:xfrm>
            <a:off x="5199164" y="3894655"/>
            <a:ext cx="353318" cy="3600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1AC907F-50AC-B341-B110-6429065C9D5D}"/>
              </a:ext>
            </a:extLst>
          </p:cNvPr>
          <p:cNvSpPr txBox="1"/>
          <p:nvPr/>
        </p:nvSpPr>
        <p:spPr>
          <a:xfrm>
            <a:off x="5375823" y="4382708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E384B"/>
                </a:solidFill>
              </a:rPr>
              <a:t>思考：这种架构有什么缺点？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63113B-E5D2-A64F-B159-8528121DBDA5}"/>
              </a:ext>
            </a:extLst>
          </p:cNvPr>
          <p:cNvSpPr txBox="1"/>
          <p:nvPr/>
        </p:nvSpPr>
        <p:spPr>
          <a:xfrm>
            <a:off x="3287747" y="3620203"/>
            <a:ext cx="1005403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chemeClr val="bg1"/>
                </a:solidFill>
              </a:rPr>
              <a:t>切换状态</a:t>
            </a:r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7987C6C2-951C-BC4E-BFAF-05345763D76A}"/>
              </a:ext>
            </a:extLst>
          </p:cNvPr>
          <p:cNvGraphicFramePr>
            <a:graphicFrameLocks noGrp="1"/>
          </p:cNvGraphicFramePr>
          <p:nvPr/>
        </p:nvGraphicFramePr>
        <p:xfrm>
          <a:off x="0" y="4585692"/>
          <a:ext cx="2711624" cy="1008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490510203"/>
                    </a:ext>
                  </a:extLst>
                </a:gridCol>
                <a:gridCol w="839416">
                  <a:extLst>
                    <a:ext uri="{9D8B030D-6E8A-4147-A177-3AD203B41FA5}">
                      <a16:colId xmlns:a16="http://schemas.microsoft.com/office/drawing/2014/main" val="1598031696"/>
                    </a:ext>
                  </a:extLst>
                </a:gridCol>
              </a:tblGrid>
              <a:tr h="34207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部件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代码行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592137"/>
                  </a:ext>
                </a:extLst>
              </a:tr>
              <a:tr h="3239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404040"/>
                          </a:solidFill>
                        </a:rPr>
                        <a:t>KVM/ARM</a:t>
                      </a:r>
                      <a:r>
                        <a:rPr lang="zh-CN" altLang="en-US" sz="14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en-US" altLang="zh-CN" sz="1400" dirty="0" err="1">
                          <a:solidFill>
                            <a:srgbClr val="404040"/>
                          </a:solidFill>
                        </a:rPr>
                        <a:t>Highvisor</a:t>
                      </a:r>
                      <a:endParaRPr lang="zh-CN" altLang="en-US" sz="1400" dirty="0">
                        <a:solidFill>
                          <a:srgbClr val="40404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404040"/>
                          </a:solidFill>
                        </a:rPr>
                        <a:t>5094</a:t>
                      </a:r>
                      <a:endParaRPr lang="zh-CN" altLang="en-US" sz="1400" dirty="0">
                        <a:solidFill>
                          <a:srgbClr val="40404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708669"/>
                  </a:ext>
                </a:extLst>
              </a:tr>
              <a:tr h="3420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404040"/>
                          </a:solidFill>
                        </a:rPr>
                        <a:t>KVM/ARM</a:t>
                      </a:r>
                      <a:r>
                        <a:rPr lang="zh-CN" altLang="en-US" sz="14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en-US" altLang="zh-CN" sz="1400" dirty="0" err="1">
                          <a:solidFill>
                            <a:srgbClr val="404040"/>
                          </a:solidFill>
                        </a:rPr>
                        <a:t>Lowvisor</a:t>
                      </a:r>
                      <a:endParaRPr lang="zh-CN" altLang="en-US" sz="1400" dirty="0">
                        <a:solidFill>
                          <a:srgbClr val="40404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404040"/>
                          </a:solidFill>
                        </a:rPr>
                        <a:t>718</a:t>
                      </a:r>
                      <a:endParaRPr lang="zh-CN" altLang="en-US" sz="1400" dirty="0">
                        <a:solidFill>
                          <a:srgbClr val="40404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16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6037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 animBg="1"/>
      <p:bldP spid="36" grpId="0" animBg="1"/>
      <p:bldP spid="37" grpId="0" animBg="1"/>
      <p:bldP spid="38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685C6-3350-7A43-824B-C72B68A18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ARMv8.1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Type-2</a:t>
            </a:r>
            <a:r>
              <a:rPr kumimoji="1" lang="zh-CN" altLang="en-US" dirty="0"/>
              <a:t> </a:t>
            </a:r>
            <a:r>
              <a:rPr kumimoji="1" lang="en-US" altLang="zh-CN" dirty="0"/>
              <a:t>VMM</a:t>
            </a:r>
            <a:r>
              <a:rPr kumimoji="1" lang="zh-CN" altLang="en-US" dirty="0"/>
              <a:t>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544612-1F63-404D-A51C-FB5942B44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ARMv8.1</a:t>
            </a:r>
          </a:p>
          <a:p>
            <a:pPr lvl="1"/>
            <a:r>
              <a:rPr kumimoji="1" lang="zh-CN" altLang="en-US" dirty="0"/>
              <a:t>推出</a:t>
            </a:r>
            <a:r>
              <a:rPr kumimoji="1" lang="en-US" altLang="zh-CN" dirty="0"/>
              <a:t>Virtualization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Host</a:t>
            </a:r>
            <a:r>
              <a:rPr kumimoji="1" lang="zh-CN" altLang="en-US" dirty="0"/>
              <a:t> </a:t>
            </a:r>
            <a:r>
              <a:rPr kumimoji="1" lang="en-US" altLang="zh-CN" dirty="0"/>
              <a:t>Extensions(VHE)</a:t>
            </a:r>
            <a:r>
              <a:rPr kumimoji="1" lang="zh-CN" altLang="en-US" dirty="0"/>
              <a:t>，在</a:t>
            </a:r>
            <a:r>
              <a:rPr kumimoji="1" lang="en-US" altLang="zh-CN" dirty="0"/>
              <a:t>HCR_EL2.E2H</a:t>
            </a:r>
            <a:r>
              <a:rPr kumimoji="1" lang="zh-CN" altLang="en-US" dirty="0"/>
              <a:t>打开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寄存器映射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允许与</a:t>
            </a:r>
            <a:r>
              <a:rPr kumimoji="1" lang="en-US" altLang="zh-CN" dirty="0"/>
              <a:t>EL0</a:t>
            </a:r>
            <a:r>
              <a:rPr kumimoji="1" lang="zh-CN" altLang="en-US" dirty="0"/>
              <a:t>共享内存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</a:t>
            </a:r>
            <a:r>
              <a:rPr kumimoji="1" lang="en-US" altLang="zh-CN" dirty="0"/>
              <a:t>EL2</a:t>
            </a:r>
            <a:r>
              <a:rPr kumimoji="1" lang="zh-CN" altLang="en-US" dirty="0"/>
              <a:t>中可直接运行未修改的操作系统内核（</a:t>
            </a:r>
            <a:r>
              <a:rPr kumimoji="1" lang="en-US" altLang="zh-CN" dirty="0"/>
              <a:t>Host</a:t>
            </a:r>
            <a:r>
              <a:rPr kumimoji="1" lang="zh-CN" altLang="en-US" dirty="0"/>
              <a:t> </a:t>
            </a:r>
            <a:r>
              <a:rPr kumimoji="1" lang="en-US" altLang="zh-CN" dirty="0"/>
              <a:t>OS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69478A-097B-5444-9933-E1AFA1AE1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192988-2588-FF4A-A683-4513AF8B0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238AD4D-44AD-A046-815A-04883ED2609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592" y="3865612"/>
            <a:ext cx="7668344" cy="117750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D0F0B31-A8F7-DB41-846C-AC891200A5EF}"/>
              </a:ext>
            </a:extLst>
          </p:cNvPr>
          <p:cNvSpPr txBox="1"/>
          <p:nvPr/>
        </p:nvSpPr>
        <p:spPr>
          <a:xfrm>
            <a:off x="-22516" y="5438001"/>
            <a:ext cx="2765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图片来自于</a:t>
            </a: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https://</a:t>
            </a:r>
            <a:r>
              <a:rPr kumimoji="1"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developer.arm.com</a:t>
            </a: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endParaRPr kumimoji="1"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273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685C6-3350-7A43-824B-C72B68A18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ARMv8.1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Type-2</a:t>
            </a:r>
            <a:r>
              <a:rPr kumimoji="1" lang="zh-CN" altLang="en-US" dirty="0"/>
              <a:t> </a:t>
            </a:r>
            <a:r>
              <a:rPr kumimoji="1" lang="en-US" altLang="zh-CN" dirty="0"/>
              <a:t>VMM</a:t>
            </a:r>
            <a:r>
              <a:rPr kumimoji="1" lang="zh-CN" altLang="en-US" dirty="0"/>
              <a:t>架构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69478A-097B-5444-9933-E1AFA1AE1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192988-2588-FF4A-A683-4513AF8B0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Rectangle 22">
            <a:extLst>
              <a:ext uri="{FF2B5EF4-FFF2-40B4-BE49-F238E27FC236}">
                <a16:creationId xmlns:a16="http://schemas.microsoft.com/office/drawing/2014/main" id="{ED0CFC21-A66D-AA45-A201-05E3AEBC4B10}"/>
              </a:ext>
            </a:extLst>
          </p:cNvPr>
          <p:cNvSpPr/>
          <p:nvPr/>
        </p:nvSpPr>
        <p:spPr>
          <a:xfrm>
            <a:off x="1810847" y="3741374"/>
            <a:ext cx="2636232" cy="67020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Host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OS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D87BD6A2-09EC-714D-A0C8-618560403424}"/>
              </a:ext>
            </a:extLst>
          </p:cNvPr>
          <p:cNvSpPr/>
          <p:nvPr/>
        </p:nvSpPr>
        <p:spPr>
          <a:xfrm>
            <a:off x="1777257" y="1833870"/>
            <a:ext cx="2636232" cy="670202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Processes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10" name="Straight Connector 13">
            <a:extLst>
              <a:ext uri="{FF2B5EF4-FFF2-40B4-BE49-F238E27FC236}">
                <a16:creationId xmlns:a16="http://schemas.microsoft.com/office/drawing/2014/main" id="{A9836340-78EC-C14F-9325-7627D3246CC6}"/>
              </a:ext>
            </a:extLst>
          </p:cNvPr>
          <p:cNvCxnSpPr>
            <a:cxnSpLocks/>
          </p:cNvCxnSpPr>
          <p:nvPr/>
        </p:nvCxnSpPr>
        <p:spPr>
          <a:xfrm>
            <a:off x="1134131" y="3669487"/>
            <a:ext cx="6801770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A43794A-090C-A640-8423-A7EC15C00428}"/>
              </a:ext>
            </a:extLst>
          </p:cNvPr>
          <p:cNvSpPr txBox="1"/>
          <p:nvPr/>
        </p:nvSpPr>
        <p:spPr>
          <a:xfrm>
            <a:off x="1003343" y="2841053"/>
            <a:ext cx="807505" cy="501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9C5242-F020-4D4C-99F1-51A356683269}"/>
              </a:ext>
            </a:extLst>
          </p:cNvPr>
          <p:cNvSpPr txBox="1"/>
          <p:nvPr/>
        </p:nvSpPr>
        <p:spPr>
          <a:xfrm>
            <a:off x="1003343" y="1967440"/>
            <a:ext cx="807505" cy="501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2467E5C-738B-A940-B672-F82BE0C879EE}"/>
              </a:ext>
            </a:extLst>
          </p:cNvPr>
          <p:cNvSpPr txBox="1"/>
          <p:nvPr/>
        </p:nvSpPr>
        <p:spPr>
          <a:xfrm>
            <a:off x="1003342" y="3851453"/>
            <a:ext cx="807505" cy="501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20C1F04-C251-8145-A264-1D282DD5FCC1}"/>
              </a:ext>
            </a:extLst>
          </p:cNvPr>
          <p:cNvSpPr txBox="1"/>
          <p:nvPr/>
        </p:nvSpPr>
        <p:spPr>
          <a:xfrm>
            <a:off x="2689671" y="144774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VMM</a:t>
            </a:r>
            <a:endParaRPr kumimoji="1" lang="zh-CN" altLang="en-US" dirty="0"/>
          </a:p>
        </p:txBody>
      </p:sp>
      <p:sp>
        <p:nvSpPr>
          <p:cNvPr id="16" name="Rectangle 22">
            <a:extLst>
              <a:ext uri="{FF2B5EF4-FFF2-40B4-BE49-F238E27FC236}">
                <a16:creationId xmlns:a16="http://schemas.microsoft.com/office/drawing/2014/main" id="{DE1EAA50-3EE7-BD48-A5A5-CE58DC99FF01}"/>
              </a:ext>
            </a:extLst>
          </p:cNvPr>
          <p:cNvSpPr/>
          <p:nvPr/>
        </p:nvSpPr>
        <p:spPr>
          <a:xfrm>
            <a:off x="4961951" y="2723561"/>
            <a:ext cx="2636232" cy="67020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OS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Kernel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7" name="Rectangle 27">
            <a:extLst>
              <a:ext uri="{FF2B5EF4-FFF2-40B4-BE49-F238E27FC236}">
                <a16:creationId xmlns:a16="http://schemas.microsoft.com/office/drawing/2014/main" id="{6B78C15D-9092-ED4E-9535-43F24F67DD44}"/>
              </a:ext>
            </a:extLst>
          </p:cNvPr>
          <p:cNvSpPr/>
          <p:nvPr/>
        </p:nvSpPr>
        <p:spPr>
          <a:xfrm>
            <a:off x="4959708" y="1814598"/>
            <a:ext cx="2636232" cy="670202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Processes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A2D00EBB-6D41-2E48-9A46-A80B1865242A}"/>
              </a:ext>
            </a:extLst>
          </p:cNvPr>
          <p:cNvSpPr/>
          <p:nvPr/>
        </p:nvSpPr>
        <p:spPr>
          <a:xfrm>
            <a:off x="4812023" y="1416110"/>
            <a:ext cx="2931601" cy="2085766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F21322D-728B-8545-8A9F-25CD67A08D77}"/>
              </a:ext>
            </a:extLst>
          </p:cNvPr>
          <p:cNvSpPr txBox="1"/>
          <p:nvPr/>
        </p:nvSpPr>
        <p:spPr>
          <a:xfrm>
            <a:off x="5985301" y="143708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2417631C-4531-CF46-A268-F184A61B558A}"/>
              </a:ext>
            </a:extLst>
          </p:cNvPr>
          <p:cNvSpPr/>
          <p:nvPr/>
        </p:nvSpPr>
        <p:spPr>
          <a:xfrm>
            <a:off x="1681155" y="1416109"/>
            <a:ext cx="2931601" cy="3313593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Rectangle 22">
            <a:extLst>
              <a:ext uri="{FF2B5EF4-FFF2-40B4-BE49-F238E27FC236}">
                <a16:creationId xmlns:a16="http://schemas.microsoft.com/office/drawing/2014/main" id="{7D135709-8991-8243-A064-BD810FB353FE}"/>
              </a:ext>
            </a:extLst>
          </p:cNvPr>
          <p:cNvSpPr/>
          <p:nvPr/>
        </p:nvSpPr>
        <p:spPr>
          <a:xfrm>
            <a:off x="3119914" y="3810387"/>
            <a:ext cx="1146017" cy="53659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22" name="肘形连接符 21">
            <a:extLst>
              <a:ext uri="{FF2B5EF4-FFF2-40B4-BE49-F238E27FC236}">
                <a16:creationId xmlns:a16="http://schemas.microsoft.com/office/drawing/2014/main" id="{432664A4-2563-9344-9D25-9325ABCA84D7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27948" y="3406551"/>
            <a:ext cx="2133629" cy="563286"/>
          </a:xfrm>
          <a:prstGeom prst="bentConnector3">
            <a:avLst>
              <a:gd name="adj1" fmla="val 102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连接符 22">
            <a:extLst>
              <a:ext uri="{FF2B5EF4-FFF2-40B4-BE49-F238E27FC236}">
                <a16:creationId xmlns:a16="http://schemas.microsoft.com/office/drawing/2014/main" id="{B6B892BF-C988-5849-8C2C-FA341F3DA2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65931" y="3422779"/>
            <a:ext cx="2491498" cy="805179"/>
          </a:xfrm>
          <a:prstGeom prst="bentConnector3">
            <a:avLst>
              <a:gd name="adj1" fmla="val -47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248A811C-7648-4947-BCA9-5627AB36398A}"/>
              </a:ext>
            </a:extLst>
          </p:cNvPr>
          <p:cNvSpPr/>
          <p:nvPr/>
        </p:nvSpPr>
        <p:spPr>
          <a:xfrm>
            <a:off x="5188639" y="3566781"/>
            <a:ext cx="353318" cy="3600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82C915F6-6FF1-E948-A647-C2ADDEFB3786}"/>
              </a:ext>
            </a:extLst>
          </p:cNvPr>
          <p:cNvSpPr/>
          <p:nvPr/>
        </p:nvSpPr>
        <p:spPr>
          <a:xfrm>
            <a:off x="5221680" y="4289828"/>
            <a:ext cx="353318" cy="3600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927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D93F89-5272-5B4B-87F8-7F4E6773B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VT-x</a:t>
            </a:r>
            <a:r>
              <a:rPr kumimoji="1" lang="zh-CN" altLang="en-US" dirty="0"/>
              <a:t>和</a:t>
            </a:r>
            <a:r>
              <a:rPr kumimoji="1" lang="en-US" altLang="zh-CN" dirty="0"/>
              <a:t>VHE</a:t>
            </a:r>
            <a:r>
              <a:rPr kumimoji="1" lang="zh-CN" altLang="en-US" dirty="0"/>
              <a:t>对比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F43F8C97-4360-9D40-A53A-85710D651E4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333500"/>
          <a:ext cx="8229600" cy="368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4760">
                  <a:extLst>
                    <a:ext uri="{9D8B030D-6E8A-4147-A177-3AD203B41FA5}">
                      <a16:colId xmlns:a16="http://schemas.microsoft.com/office/drawing/2014/main" val="447630312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1639899835"/>
                    </a:ext>
                  </a:extLst>
                </a:gridCol>
                <a:gridCol w="2242592">
                  <a:extLst>
                    <a:ext uri="{9D8B030D-6E8A-4147-A177-3AD203B41FA5}">
                      <a16:colId xmlns:a16="http://schemas.microsoft.com/office/drawing/2014/main" val="569973888"/>
                    </a:ext>
                  </a:extLst>
                </a:gridCol>
              </a:tblGrid>
              <a:tr h="52632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VT-x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VHE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035186"/>
                  </a:ext>
                </a:extLst>
              </a:tr>
              <a:tr h="526320">
                <a:tc>
                  <a:txBody>
                    <a:bodyPr/>
                    <a:lstStyle/>
                    <a:p>
                      <a:r>
                        <a:rPr lang="zh-CN" altLang="en-US" dirty="0"/>
                        <a:t>新特权级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Root</a:t>
                      </a:r>
                      <a:r>
                        <a:rPr lang="zh-CN" altLang="en-US" dirty="0"/>
                        <a:t>和</a:t>
                      </a:r>
                      <a:r>
                        <a:rPr lang="en-US" altLang="zh-CN" dirty="0"/>
                        <a:t>Non-root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EL2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50146"/>
                  </a:ext>
                </a:extLst>
              </a:tr>
              <a:tr h="526320"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是否有</a:t>
                      </a:r>
                      <a:r>
                        <a:rPr lang="en-US" altLang="zh-CN" dirty="0"/>
                        <a:t>VMCS</a:t>
                      </a:r>
                      <a:r>
                        <a:rPr lang="zh-CN" altLang="en-US" dirty="0"/>
                        <a:t>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081217"/>
                  </a:ext>
                </a:extLst>
              </a:tr>
              <a:tr h="526320">
                <a:tc>
                  <a:txBody>
                    <a:bodyPr/>
                    <a:lstStyle/>
                    <a:p>
                      <a:r>
                        <a:rPr lang="en-US" altLang="zh-CN" dirty="0"/>
                        <a:t>VM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Entry/Exit</a:t>
                      </a:r>
                      <a:r>
                        <a:rPr lang="zh-CN" altLang="en-US" dirty="0"/>
                        <a:t>时硬件自动保存状态？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241866"/>
                  </a:ext>
                </a:extLst>
              </a:tr>
              <a:tr h="526320"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是否引入新的指令？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多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少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867358"/>
                  </a:ext>
                </a:extLst>
              </a:tr>
              <a:tr h="526320"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是否引入新的系统寄存器</a:t>
                      </a:r>
                      <a:r>
                        <a:rPr lang="en-US" altLang="zh-CN" dirty="0"/>
                        <a:t>?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是</a:t>
                      </a:r>
                      <a:r>
                        <a:rPr lang="en-US" altLang="zh-CN"/>
                        <a:t>(</a:t>
                      </a:r>
                      <a:r>
                        <a:rPr lang="zh-CN" altLang="en-US"/>
                        <a:t>多</a:t>
                      </a:r>
                      <a:r>
                        <a:rPr lang="en-US" altLang="zh-CN"/>
                        <a:t>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366084"/>
                  </a:ext>
                </a:extLst>
              </a:tr>
              <a:tr h="526320"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是否有扩展页表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第二阶段页表</a:t>
                      </a:r>
                      <a:r>
                        <a:rPr lang="en-US" altLang="zh-CN" dirty="0"/>
                        <a:t>)?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33554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46F43F-280A-EA45-A37B-E24074A90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46A49E-0EFB-5E45-BDC8-1F117F82C1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3989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5F014-419B-5942-8893-BFF6158E5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Type-1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Type-2</a:t>
            </a:r>
            <a:r>
              <a:rPr kumimoji="1" lang="zh-CN" altLang="en-US" dirty="0"/>
              <a:t>在</a:t>
            </a:r>
            <a:r>
              <a:rPr kumimoji="1" lang="en-US" altLang="zh-CN" dirty="0"/>
              <a:t>VT-x</a:t>
            </a:r>
            <a:r>
              <a:rPr kumimoji="1" lang="zh-CN" altLang="en-US" dirty="0"/>
              <a:t>和</a:t>
            </a:r>
            <a:r>
              <a:rPr kumimoji="1" lang="en-US" altLang="zh-CN" dirty="0"/>
              <a:t>VHE</a:t>
            </a:r>
            <a:r>
              <a:rPr kumimoji="1" lang="zh-CN" altLang="en-US" dirty="0"/>
              <a:t>下架构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58250A-0745-2044-A079-58E6348DA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65779D-DCB0-9C4B-A3E7-4CBDCE5D1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22">
            <a:extLst>
              <a:ext uri="{FF2B5EF4-FFF2-40B4-BE49-F238E27FC236}">
                <a16:creationId xmlns:a16="http://schemas.microsoft.com/office/drawing/2014/main" id="{516CA86F-8F60-3741-9600-4761F85DA985}"/>
              </a:ext>
            </a:extLst>
          </p:cNvPr>
          <p:cNvSpPr/>
          <p:nvPr/>
        </p:nvSpPr>
        <p:spPr>
          <a:xfrm>
            <a:off x="2411760" y="2785492"/>
            <a:ext cx="1761833" cy="216024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BD129CE6-84DC-FB45-BFE5-70B593F9B0E0}"/>
              </a:ext>
            </a:extLst>
          </p:cNvPr>
          <p:cNvSpPr/>
          <p:nvPr/>
        </p:nvSpPr>
        <p:spPr>
          <a:xfrm>
            <a:off x="3343523" y="2093108"/>
            <a:ext cx="835531" cy="462028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VM-2</a:t>
            </a: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3465EED1-ABC6-9E4D-BC38-7797267EE4AB}"/>
              </a:ext>
            </a:extLst>
          </p:cNvPr>
          <p:cNvSpPr/>
          <p:nvPr/>
        </p:nvSpPr>
        <p:spPr>
          <a:xfrm>
            <a:off x="2416691" y="2093108"/>
            <a:ext cx="835531" cy="462028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VM-1</a:t>
            </a:r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11" name="Rectangle 22">
            <a:extLst>
              <a:ext uri="{FF2B5EF4-FFF2-40B4-BE49-F238E27FC236}">
                <a16:creationId xmlns:a16="http://schemas.microsoft.com/office/drawing/2014/main" id="{27EC1224-A952-6F40-A8CE-6177AB42B325}"/>
              </a:ext>
            </a:extLst>
          </p:cNvPr>
          <p:cNvSpPr/>
          <p:nvPr/>
        </p:nvSpPr>
        <p:spPr>
          <a:xfrm>
            <a:off x="5724129" y="2713484"/>
            <a:ext cx="1761833" cy="322200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rgbClr val="404040"/>
                </a:solidFill>
                <a:cs typeface="Arial Narrow"/>
              </a:rPr>
              <a:t>  </a:t>
            </a:r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Host</a:t>
            </a:r>
            <a:r>
              <a:rPr lang="zh-CN" altLang="en-US" sz="1600" dirty="0">
                <a:solidFill>
                  <a:srgbClr val="404040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OS</a:t>
            </a:r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BAEE7F2E-F253-C24C-8913-45BBDD1FE00B}"/>
              </a:ext>
            </a:extLst>
          </p:cNvPr>
          <p:cNvSpPr/>
          <p:nvPr/>
        </p:nvSpPr>
        <p:spPr>
          <a:xfrm>
            <a:off x="6655892" y="2118049"/>
            <a:ext cx="835531" cy="462028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VM-2</a:t>
            </a:r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CAB49CB3-D1AD-D445-AA20-CBF3CCFCE1B7}"/>
              </a:ext>
            </a:extLst>
          </p:cNvPr>
          <p:cNvSpPr/>
          <p:nvPr/>
        </p:nvSpPr>
        <p:spPr>
          <a:xfrm>
            <a:off x="5729060" y="2118049"/>
            <a:ext cx="835531" cy="462028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VM-1</a:t>
            </a:r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FE61F048-DAB9-4045-9E24-8AF8876B9C74}"/>
              </a:ext>
            </a:extLst>
          </p:cNvPr>
          <p:cNvSpPr/>
          <p:nvPr/>
        </p:nvSpPr>
        <p:spPr>
          <a:xfrm>
            <a:off x="2422103" y="1608423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F440C695-1171-8945-A835-A74C53BE5017}"/>
              </a:ext>
            </a:extLst>
          </p:cNvPr>
          <p:cNvSpPr/>
          <p:nvPr/>
        </p:nvSpPr>
        <p:spPr>
          <a:xfrm>
            <a:off x="2889209" y="1608423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A0151E6A-244C-5749-AC28-7E97C26ED655}"/>
              </a:ext>
            </a:extLst>
          </p:cNvPr>
          <p:cNvSpPr/>
          <p:nvPr/>
        </p:nvSpPr>
        <p:spPr>
          <a:xfrm>
            <a:off x="3353865" y="1608423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0B67558C-EEA8-1148-8B72-C29AE1D402C9}"/>
              </a:ext>
            </a:extLst>
          </p:cNvPr>
          <p:cNvSpPr/>
          <p:nvPr/>
        </p:nvSpPr>
        <p:spPr>
          <a:xfrm>
            <a:off x="3820971" y="1608423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60C554B7-180C-924A-B58A-23BBB576D6F0}"/>
              </a:ext>
            </a:extLst>
          </p:cNvPr>
          <p:cNvSpPr/>
          <p:nvPr/>
        </p:nvSpPr>
        <p:spPr>
          <a:xfrm>
            <a:off x="5724128" y="1633364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4C05BABF-7316-3F4C-9BAB-3953AEF9753D}"/>
              </a:ext>
            </a:extLst>
          </p:cNvPr>
          <p:cNvSpPr/>
          <p:nvPr/>
        </p:nvSpPr>
        <p:spPr>
          <a:xfrm>
            <a:off x="6191234" y="1633364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7A354850-6018-4C46-ABA8-3884233494F6}"/>
              </a:ext>
            </a:extLst>
          </p:cNvPr>
          <p:cNvSpPr/>
          <p:nvPr/>
        </p:nvSpPr>
        <p:spPr>
          <a:xfrm>
            <a:off x="6655890" y="1633364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989BAB-1361-FE42-AF31-34A3E3A2956E}"/>
              </a:ext>
            </a:extLst>
          </p:cNvPr>
          <p:cNvSpPr/>
          <p:nvPr/>
        </p:nvSpPr>
        <p:spPr>
          <a:xfrm>
            <a:off x="7122996" y="1633364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35" name="Rectangle 27">
            <a:extLst>
              <a:ext uri="{FF2B5EF4-FFF2-40B4-BE49-F238E27FC236}">
                <a16:creationId xmlns:a16="http://schemas.microsoft.com/office/drawing/2014/main" id="{F958C350-FBB7-5146-9354-3C281F4D16A8}"/>
              </a:ext>
            </a:extLst>
          </p:cNvPr>
          <p:cNvSpPr/>
          <p:nvPr/>
        </p:nvSpPr>
        <p:spPr>
          <a:xfrm>
            <a:off x="6745304" y="2769057"/>
            <a:ext cx="691543" cy="217303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937B459-39CE-1343-A0AE-C9456413C398}"/>
              </a:ext>
            </a:extLst>
          </p:cNvPr>
          <p:cNvSpPr txBox="1"/>
          <p:nvPr/>
        </p:nvSpPr>
        <p:spPr>
          <a:xfrm>
            <a:off x="1691680" y="1057300"/>
            <a:ext cx="2314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rgbClr val="404040"/>
                </a:solidFill>
                <a:latin typeface="DengXian" charset="0"/>
                <a:ea typeface="DengXian" charset="0"/>
                <a:cs typeface="DengXian" charset="0"/>
              </a:rPr>
              <a:t>Type-1</a:t>
            </a:r>
            <a:endParaRPr kumimoji="1" lang="zh-CN" altLang="en-US" b="1" dirty="0">
              <a:solidFill>
                <a:srgbClr val="404040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cxnSp>
        <p:nvCxnSpPr>
          <p:cNvPr id="40" name="Straight Connector 13">
            <a:extLst>
              <a:ext uri="{FF2B5EF4-FFF2-40B4-BE49-F238E27FC236}">
                <a16:creationId xmlns:a16="http://schemas.microsoft.com/office/drawing/2014/main" id="{813447C9-2048-3F4B-A1C5-C60DFD454E16}"/>
              </a:ext>
            </a:extLst>
          </p:cNvPr>
          <p:cNvCxnSpPr>
            <a:cxnSpLocks/>
          </p:cNvCxnSpPr>
          <p:nvPr/>
        </p:nvCxnSpPr>
        <p:spPr>
          <a:xfrm>
            <a:off x="4932040" y="2641476"/>
            <a:ext cx="2697018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7BDFB596-E851-BE47-8C1D-5F5619273814}"/>
              </a:ext>
            </a:extLst>
          </p:cNvPr>
          <p:cNvSpPr txBox="1"/>
          <p:nvPr/>
        </p:nvSpPr>
        <p:spPr>
          <a:xfrm>
            <a:off x="4932040" y="2641476"/>
            <a:ext cx="631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/>
              <a:t>Root</a:t>
            </a:r>
            <a:r>
              <a:rPr kumimoji="1" lang="zh-CN" altLang="en-US" sz="1400" dirty="0"/>
              <a:t> 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Mode</a:t>
            </a:r>
            <a:endParaRPr kumimoji="1" lang="zh-CN" altLang="en-US" sz="14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74DBA0A-837D-1149-9460-E34163643C35}"/>
              </a:ext>
            </a:extLst>
          </p:cNvPr>
          <p:cNvSpPr txBox="1"/>
          <p:nvPr/>
        </p:nvSpPr>
        <p:spPr>
          <a:xfrm>
            <a:off x="4788024" y="1849388"/>
            <a:ext cx="930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/>
              <a:t>Non-root</a:t>
            </a:r>
            <a:r>
              <a:rPr kumimoji="1" lang="zh-CN" altLang="en-US" sz="1400" dirty="0"/>
              <a:t> 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Mode</a:t>
            </a:r>
            <a:endParaRPr kumimoji="1" lang="zh-CN" altLang="en-US" sz="1400" dirty="0"/>
          </a:p>
        </p:txBody>
      </p:sp>
      <p:cxnSp>
        <p:nvCxnSpPr>
          <p:cNvPr id="45" name="Straight Connector 13">
            <a:extLst>
              <a:ext uri="{FF2B5EF4-FFF2-40B4-BE49-F238E27FC236}">
                <a16:creationId xmlns:a16="http://schemas.microsoft.com/office/drawing/2014/main" id="{F0C4ED27-A218-FA41-AA07-A547F23EC19A}"/>
              </a:ext>
            </a:extLst>
          </p:cNvPr>
          <p:cNvCxnSpPr>
            <a:cxnSpLocks/>
          </p:cNvCxnSpPr>
          <p:nvPr/>
        </p:nvCxnSpPr>
        <p:spPr>
          <a:xfrm>
            <a:off x="1763688" y="2641476"/>
            <a:ext cx="2485336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162C3C2C-BE9A-C448-9896-A4CDE9D11852}"/>
              </a:ext>
            </a:extLst>
          </p:cNvPr>
          <p:cNvSpPr txBox="1"/>
          <p:nvPr/>
        </p:nvSpPr>
        <p:spPr>
          <a:xfrm>
            <a:off x="1691680" y="2641476"/>
            <a:ext cx="631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/>
              <a:t>Root</a:t>
            </a:r>
            <a:r>
              <a:rPr kumimoji="1" lang="zh-CN" altLang="en-US" sz="1400" dirty="0"/>
              <a:t> 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Mode</a:t>
            </a:r>
            <a:endParaRPr kumimoji="1" lang="zh-CN" altLang="en-US" sz="14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06CC55C-4C20-B048-8638-E365C0AD665C}"/>
              </a:ext>
            </a:extLst>
          </p:cNvPr>
          <p:cNvSpPr txBox="1"/>
          <p:nvPr/>
        </p:nvSpPr>
        <p:spPr>
          <a:xfrm>
            <a:off x="1547664" y="1777380"/>
            <a:ext cx="930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/>
              <a:t>Non-root</a:t>
            </a:r>
            <a:r>
              <a:rPr kumimoji="1" lang="zh-CN" altLang="en-US" sz="1400" dirty="0"/>
              <a:t> 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Mode</a:t>
            </a:r>
            <a:endParaRPr kumimoji="1" lang="zh-CN" altLang="en-US" sz="14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9A4FAB6-7ABC-FC49-9A96-498A7B01BE47}"/>
              </a:ext>
            </a:extLst>
          </p:cNvPr>
          <p:cNvSpPr txBox="1"/>
          <p:nvPr/>
        </p:nvSpPr>
        <p:spPr>
          <a:xfrm>
            <a:off x="1722396" y="4657700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/>
              <a:t>EL2</a:t>
            </a:r>
            <a:endParaRPr kumimoji="1" lang="zh-CN" altLang="en-US" sz="14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407BACC5-7776-FF4E-9175-2CA109305348}"/>
              </a:ext>
            </a:extLst>
          </p:cNvPr>
          <p:cNvSpPr txBox="1"/>
          <p:nvPr/>
        </p:nvSpPr>
        <p:spPr>
          <a:xfrm>
            <a:off x="1506372" y="3865612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/>
              <a:t>EL0&amp;EL1</a:t>
            </a:r>
            <a:endParaRPr kumimoji="1" lang="zh-CN" altLang="en-US" sz="1400" dirty="0"/>
          </a:p>
        </p:txBody>
      </p:sp>
      <p:sp>
        <p:nvSpPr>
          <p:cNvPr id="59" name="Rectangle 22">
            <a:extLst>
              <a:ext uri="{FF2B5EF4-FFF2-40B4-BE49-F238E27FC236}">
                <a16:creationId xmlns:a16="http://schemas.microsoft.com/office/drawing/2014/main" id="{22DE1FD9-D3BF-644A-89D7-A9C8EA7149DE}"/>
              </a:ext>
            </a:extLst>
          </p:cNvPr>
          <p:cNvSpPr/>
          <p:nvPr/>
        </p:nvSpPr>
        <p:spPr>
          <a:xfrm>
            <a:off x="5724128" y="4657700"/>
            <a:ext cx="1761833" cy="322200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rgbClr val="404040"/>
                </a:solidFill>
                <a:cs typeface="Arial Narrow"/>
              </a:rPr>
              <a:t>  </a:t>
            </a:r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Host</a:t>
            </a:r>
            <a:r>
              <a:rPr lang="zh-CN" altLang="en-US" sz="1600" dirty="0">
                <a:solidFill>
                  <a:srgbClr val="404040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OS</a:t>
            </a:r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60" name="Rectangle 23">
            <a:extLst>
              <a:ext uri="{FF2B5EF4-FFF2-40B4-BE49-F238E27FC236}">
                <a16:creationId xmlns:a16="http://schemas.microsoft.com/office/drawing/2014/main" id="{069DC9FD-1A07-EB40-93C2-43D1B45A4BCB}"/>
              </a:ext>
            </a:extLst>
          </p:cNvPr>
          <p:cNvSpPr/>
          <p:nvPr/>
        </p:nvSpPr>
        <p:spPr>
          <a:xfrm>
            <a:off x="6655891" y="4062265"/>
            <a:ext cx="835531" cy="462028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VM-2</a:t>
            </a:r>
          </a:p>
        </p:txBody>
      </p:sp>
      <p:sp>
        <p:nvSpPr>
          <p:cNvPr id="61" name="Rectangle 27">
            <a:extLst>
              <a:ext uri="{FF2B5EF4-FFF2-40B4-BE49-F238E27FC236}">
                <a16:creationId xmlns:a16="http://schemas.microsoft.com/office/drawing/2014/main" id="{171008F9-3490-9E43-B1DE-8D571CD2F5CB}"/>
              </a:ext>
            </a:extLst>
          </p:cNvPr>
          <p:cNvSpPr/>
          <p:nvPr/>
        </p:nvSpPr>
        <p:spPr>
          <a:xfrm>
            <a:off x="5729059" y="4062265"/>
            <a:ext cx="835531" cy="462028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VM-1</a:t>
            </a:r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62" name="Rectangle 27">
            <a:extLst>
              <a:ext uri="{FF2B5EF4-FFF2-40B4-BE49-F238E27FC236}">
                <a16:creationId xmlns:a16="http://schemas.microsoft.com/office/drawing/2014/main" id="{7040E2BA-20C1-BF41-B882-1791ECD759AD}"/>
              </a:ext>
            </a:extLst>
          </p:cNvPr>
          <p:cNvSpPr/>
          <p:nvPr/>
        </p:nvSpPr>
        <p:spPr>
          <a:xfrm>
            <a:off x="5724127" y="3577580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63" name="Rectangle 27">
            <a:extLst>
              <a:ext uri="{FF2B5EF4-FFF2-40B4-BE49-F238E27FC236}">
                <a16:creationId xmlns:a16="http://schemas.microsoft.com/office/drawing/2014/main" id="{EFAE4218-B782-3E4C-B160-53D1026FAF41}"/>
              </a:ext>
            </a:extLst>
          </p:cNvPr>
          <p:cNvSpPr/>
          <p:nvPr/>
        </p:nvSpPr>
        <p:spPr>
          <a:xfrm>
            <a:off x="6191233" y="3577580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64" name="Rectangle 27">
            <a:extLst>
              <a:ext uri="{FF2B5EF4-FFF2-40B4-BE49-F238E27FC236}">
                <a16:creationId xmlns:a16="http://schemas.microsoft.com/office/drawing/2014/main" id="{1CD96825-8BA9-1948-A6A1-E761A2258983}"/>
              </a:ext>
            </a:extLst>
          </p:cNvPr>
          <p:cNvSpPr/>
          <p:nvPr/>
        </p:nvSpPr>
        <p:spPr>
          <a:xfrm>
            <a:off x="6655889" y="3577580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65" name="Rectangle 27">
            <a:extLst>
              <a:ext uri="{FF2B5EF4-FFF2-40B4-BE49-F238E27FC236}">
                <a16:creationId xmlns:a16="http://schemas.microsoft.com/office/drawing/2014/main" id="{68E14584-F017-C24C-8B6E-74D6A1FF7DEC}"/>
              </a:ext>
            </a:extLst>
          </p:cNvPr>
          <p:cNvSpPr/>
          <p:nvPr/>
        </p:nvSpPr>
        <p:spPr>
          <a:xfrm>
            <a:off x="7122995" y="3577580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66" name="Rectangle 27">
            <a:extLst>
              <a:ext uri="{FF2B5EF4-FFF2-40B4-BE49-F238E27FC236}">
                <a16:creationId xmlns:a16="http://schemas.microsoft.com/office/drawing/2014/main" id="{6D2CFCDD-990B-F14B-AD3F-96B5B9D45615}"/>
              </a:ext>
            </a:extLst>
          </p:cNvPr>
          <p:cNvSpPr/>
          <p:nvPr/>
        </p:nvSpPr>
        <p:spPr>
          <a:xfrm>
            <a:off x="6745303" y="4713273"/>
            <a:ext cx="691543" cy="217303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67" name="Straight Connector 13">
            <a:extLst>
              <a:ext uri="{FF2B5EF4-FFF2-40B4-BE49-F238E27FC236}">
                <a16:creationId xmlns:a16="http://schemas.microsoft.com/office/drawing/2014/main" id="{DF9EBC74-2736-7F4B-A7BE-E18656A3AFB4}"/>
              </a:ext>
            </a:extLst>
          </p:cNvPr>
          <p:cNvCxnSpPr>
            <a:cxnSpLocks/>
          </p:cNvCxnSpPr>
          <p:nvPr/>
        </p:nvCxnSpPr>
        <p:spPr>
          <a:xfrm>
            <a:off x="4932039" y="4585692"/>
            <a:ext cx="2697018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0CCB9E86-4728-A844-8A7E-4337254BCA3F}"/>
              </a:ext>
            </a:extLst>
          </p:cNvPr>
          <p:cNvSpPr txBox="1"/>
          <p:nvPr/>
        </p:nvSpPr>
        <p:spPr>
          <a:xfrm>
            <a:off x="5004048" y="4657700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/>
              <a:t>EL2</a:t>
            </a:r>
            <a:endParaRPr kumimoji="1" lang="zh-CN" altLang="en-US" sz="14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8D1DEC6-EC4C-CC45-ACC1-5FABCD64541E}"/>
              </a:ext>
            </a:extLst>
          </p:cNvPr>
          <p:cNvSpPr txBox="1"/>
          <p:nvPr/>
        </p:nvSpPr>
        <p:spPr>
          <a:xfrm>
            <a:off x="4860032" y="3865612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/>
              <a:t>EL0&amp;EL1</a:t>
            </a:r>
            <a:endParaRPr kumimoji="1" lang="zh-CN" altLang="en-US" sz="1400" dirty="0"/>
          </a:p>
        </p:txBody>
      </p:sp>
      <p:cxnSp>
        <p:nvCxnSpPr>
          <p:cNvPr id="71" name="Straight Connector 13">
            <a:extLst>
              <a:ext uri="{FF2B5EF4-FFF2-40B4-BE49-F238E27FC236}">
                <a16:creationId xmlns:a16="http://schemas.microsoft.com/office/drawing/2014/main" id="{AB370ED3-2120-1144-9943-CEC50D090175}"/>
              </a:ext>
            </a:extLst>
          </p:cNvPr>
          <p:cNvCxnSpPr>
            <a:cxnSpLocks/>
          </p:cNvCxnSpPr>
          <p:nvPr/>
        </p:nvCxnSpPr>
        <p:spPr>
          <a:xfrm>
            <a:off x="467544" y="3361556"/>
            <a:ext cx="7992888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13">
            <a:extLst>
              <a:ext uri="{FF2B5EF4-FFF2-40B4-BE49-F238E27FC236}">
                <a16:creationId xmlns:a16="http://schemas.microsoft.com/office/drawing/2014/main" id="{C12EFA4C-9F8C-3D46-BD65-E31E8643A7B3}"/>
              </a:ext>
            </a:extLst>
          </p:cNvPr>
          <p:cNvCxnSpPr>
            <a:cxnSpLocks/>
          </p:cNvCxnSpPr>
          <p:nvPr/>
        </p:nvCxnSpPr>
        <p:spPr>
          <a:xfrm>
            <a:off x="4644008" y="1057300"/>
            <a:ext cx="0" cy="417646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9E661C52-A044-C34F-8D29-A22A47F3CB7C}"/>
              </a:ext>
            </a:extLst>
          </p:cNvPr>
          <p:cNvSpPr txBox="1"/>
          <p:nvPr/>
        </p:nvSpPr>
        <p:spPr>
          <a:xfrm>
            <a:off x="5292080" y="1057300"/>
            <a:ext cx="2314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rgbClr val="404040"/>
                </a:solidFill>
                <a:latin typeface="DengXian" charset="0"/>
                <a:ea typeface="DengXian" charset="0"/>
                <a:cs typeface="DengXian" charset="0"/>
              </a:rPr>
              <a:t>Type-2</a:t>
            </a:r>
            <a:endParaRPr kumimoji="1" lang="zh-CN" altLang="en-US" b="1" dirty="0">
              <a:solidFill>
                <a:srgbClr val="404040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099BB94A-B350-0245-BCA8-D51493935DC3}"/>
              </a:ext>
            </a:extLst>
          </p:cNvPr>
          <p:cNvSpPr txBox="1"/>
          <p:nvPr/>
        </p:nvSpPr>
        <p:spPr>
          <a:xfrm>
            <a:off x="-396552" y="2209428"/>
            <a:ext cx="2314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rgbClr val="404040"/>
                </a:solidFill>
                <a:latin typeface="DengXian" charset="0"/>
                <a:ea typeface="DengXian" charset="0"/>
                <a:cs typeface="DengXian" charset="0"/>
              </a:rPr>
              <a:t>VT-x</a:t>
            </a:r>
            <a:endParaRPr kumimoji="1" lang="zh-CN" altLang="en-US" b="1" dirty="0">
              <a:solidFill>
                <a:srgbClr val="404040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3E7C4618-5800-D845-B028-E59DF467DE39}"/>
              </a:ext>
            </a:extLst>
          </p:cNvPr>
          <p:cNvSpPr txBox="1"/>
          <p:nvPr/>
        </p:nvSpPr>
        <p:spPr>
          <a:xfrm>
            <a:off x="-396552" y="4153644"/>
            <a:ext cx="2314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rgbClr val="404040"/>
                </a:solidFill>
                <a:latin typeface="DengXian" charset="0"/>
                <a:ea typeface="DengXian" charset="0"/>
                <a:cs typeface="DengXian" charset="0"/>
              </a:rPr>
              <a:t>VHE</a:t>
            </a:r>
            <a:endParaRPr kumimoji="1" lang="zh-CN" altLang="en-US" b="1" dirty="0">
              <a:solidFill>
                <a:srgbClr val="404040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cxnSp>
        <p:nvCxnSpPr>
          <p:cNvPr id="84" name="Straight Connector 13">
            <a:extLst>
              <a:ext uri="{FF2B5EF4-FFF2-40B4-BE49-F238E27FC236}">
                <a16:creationId xmlns:a16="http://schemas.microsoft.com/office/drawing/2014/main" id="{DEC4325F-0D09-4E46-A1BF-90F7D8217BCA}"/>
              </a:ext>
            </a:extLst>
          </p:cNvPr>
          <p:cNvCxnSpPr>
            <a:cxnSpLocks/>
          </p:cNvCxnSpPr>
          <p:nvPr/>
        </p:nvCxnSpPr>
        <p:spPr>
          <a:xfrm>
            <a:off x="467544" y="5233764"/>
            <a:ext cx="7992888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13">
            <a:extLst>
              <a:ext uri="{FF2B5EF4-FFF2-40B4-BE49-F238E27FC236}">
                <a16:creationId xmlns:a16="http://schemas.microsoft.com/office/drawing/2014/main" id="{A3D42C55-2E8D-9F43-B5C0-8EC5113AC1B2}"/>
              </a:ext>
            </a:extLst>
          </p:cNvPr>
          <p:cNvCxnSpPr>
            <a:cxnSpLocks/>
          </p:cNvCxnSpPr>
          <p:nvPr/>
        </p:nvCxnSpPr>
        <p:spPr>
          <a:xfrm>
            <a:off x="1259632" y="1057300"/>
            <a:ext cx="0" cy="417646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13">
            <a:extLst>
              <a:ext uri="{FF2B5EF4-FFF2-40B4-BE49-F238E27FC236}">
                <a16:creationId xmlns:a16="http://schemas.microsoft.com/office/drawing/2014/main" id="{48AC6149-6122-A547-B2D8-9AF6ED65200C}"/>
              </a:ext>
            </a:extLst>
          </p:cNvPr>
          <p:cNvCxnSpPr>
            <a:cxnSpLocks/>
          </p:cNvCxnSpPr>
          <p:nvPr/>
        </p:nvCxnSpPr>
        <p:spPr>
          <a:xfrm>
            <a:off x="467544" y="1489348"/>
            <a:ext cx="8424936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22">
            <a:extLst>
              <a:ext uri="{FF2B5EF4-FFF2-40B4-BE49-F238E27FC236}">
                <a16:creationId xmlns:a16="http://schemas.microsoft.com/office/drawing/2014/main" id="{C456793D-2103-5D4E-B557-C24B1AE47FD3}"/>
              </a:ext>
            </a:extLst>
          </p:cNvPr>
          <p:cNvSpPr/>
          <p:nvPr/>
        </p:nvSpPr>
        <p:spPr>
          <a:xfrm>
            <a:off x="2416101" y="4702012"/>
            <a:ext cx="1761833" cy="216024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96" name="Rectangle 23">
            <a:extLst>
              <a:ext uri="{FF2B5EF4-FFF2-40B4-BE49-F238E27FC236}">
                <a16:creationId xmlns:a16="http://schemas.microsoft.com/office/drawing/2014/main" id="{377EAACF-AE24-274A-B8EC-BD3E39CA6244}"/>
              </a:ext>
            </a:extLst>
          </p:cNvPr>
          <p:cNvSpPr/>
          <p:nvPr/>
        </p:nvSpPr>
        <p:spPr>
          <a:xfrm>
            <a:off x="3347864" y="4009628"/>
            <a:ext cx="835531" cy="462028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VM-2</a:t>
            </a:r>
          </a:p>
        </p:txBody>
      </p:sp>
      <p:sp>
        <p:nvSpPr>
          <p:cNvPr id="97" name="Rectangle 27">
            <a:extLst>
              <a:ext uri="{FF2B5EF4-FFF2-40B4-BE49-F238E27FC236}">
                <a16:creationId xmlns:a16="http://schemas.microsoft.com/office/drawing/2014/main" id="{34ABF703-DC32-E24C-95E6-456FD84FDDB5}"/>
              </a:ext>
            </a:extLst>
          </p:cNvPr>
          <p:cNvSpPr/>
          <p:nvPr/>
        </p:nvSpPr>
        <p:spPr>
          <a:xfrm>
            <a:off x="2421032" y="4009628"/>
            <a:ext cx="835531" cy="462028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404040"/>
                </a:solidFill>
                <a:cs typeface="Arial Narrow"/>
              </a:rPr>
              <a:t>VM-1</a:t>
            </a:r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98" name="Rectangle 27">
            <a:extLst>
              <a:ext uri="{FF2B5EF4-FFF2-40B4-BE49-F238E27FC236}">
                <a16:creationId xmlns:a16="http://schemas.microsoft.com/office/drawing/2014/main" id="{E1ED052F-D660-BE46-B609-67D06B4A6EE8}"/>
              </a:ext>
            </a:extLst>
          </p:cNvPr>
          <p:cNvSpPr/>
          <p:nvPr/>
        </p:nvSpPr>
        <p:spPr>
          <a:xfrm>
            <a:off x="2426444" y="3524943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99" name="Rectangle 27">
            <a:extLst>
              <a:ext uri="{FF2B5EF4-FFF2-40B4-BE49-F238E27FC236}">
                <a16:creationId xmlns:a16="http://schemas.microsoft.com/office/drawing/2014/main" id="{456B770C-203F-0A45-A645-0266B1435A8F}"/>
              </a:ext>
            </a:extLst>
          </p:cNvPr>
          <p:cNvSpPr/>
          <p:nvPr/>
        </p:nvSpPr>
        <p:spPr>
          <a:xfrm>
            <a:off x="2893550" y="3524943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100" name="Rectangle 27">
            <a:extLst>
              <a:ext uri="{FF2B5EF4-FFF2-40B4-BE49-F238E27FC236}">
                <a16:creationId xmlns:a16="http://schemas.microsoft.com/office/drawing/2014/main" id="{82E08288-BBE5-F843-A64E-E47346B970D9}"/>
              </a:ext>
            </a:extLst>
          </p:cNvPr>
          <p:cNvSpPr/>
          <p:nvPr/>
        </p:nvSpPr>
        <p:spPr>
          <a:xfrm>
            <a:off x="3358206" y="3524943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sp>
        <p:nvSpPr>
          <p:cNvPr id="101" name="Rectangle 27">
            <a:extLst>
              <a:ext uri="{FF2B5EF4-FFF2-40B4-BE49-F238E27FC236}">
                <a16:creationId xmlns:a16="http://schemas.microsoft.com/office/drawing/2014/main" id="{45F3A112-B2A5-344D-BE2E-AD192B7C1992}"/>
              </a:ext>
            </a:extLst>
          </p:cNvPr>
          <p:cNvSpPr/>
          <p:nvPr/>
        </p:nvSpPr>
        <p:spPr>
          <a:xfrm>
            <a:off x="3825312" y="3524943"/>
            <a:ext cx="370384" cy="321946"/>
          </a:xfrm>
          <a:prstGeom prst="rect">
            <a:avLst/>
          </a:prstGeom>
          <a:noFill/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404040"/>
              </a:solidFill>
              <a:cs typeface="Arial Narrow"/>
            </a:endParaRPr>
          </a:p>
        </p:txBody>
      </p:sp>
      <p:cxnSp>
        <p:nvCxnSpPr>
          <p:cNvPr id="102" name="Straight Connector 13">
            <a:extLst>
              <a:ext uri="{FF2B5EF4-FFF2-40B4-BE49-F238E27FC236}">
                <a16:creationId xmlns:a16="http://schemas.microsoft.com/office/drawing/2014/main" id="{E38A2C9D-240F-2342-A3EB-421E31DB3050}"/>
              </a:ext>
            </a:extLst>
          </p:cNvPr>
          <p:cNvCxnSpPr>
            <a:cxnSpLocks/>
          </p:cNvCxnSpPr>
          <p:nvPr/>
        </p:nvCxnSpPr>
        <p:spPr>
          <a:xfrm>
            <a:off x="1768029" y="4557996"/>
            <a:ext cx="2485336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266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案例：</a:t>
            </a:r>
            <a:r>
              <a:rPr kumimoji="1" lang="en-US" altLang="zh-CN" b="1" dirty="0"/>
              <a:t>QEMU/KVM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692809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D4E22-1181-B94C-9188-78BCFD56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QEMU</a:t>
            </a:r>
            <a:r>
              <a:rPr kumimoji="1" lang="zh-CN" altLang="en-US" dirty="0"/>
              <a:t>发展历史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84D3CE-A106-C847-868A-0688C5499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2003</a:t>
            </a:r>
            <a:r>
              <a:rPr kumimoji="1" lang="zh-CN" altLang="en-US" sz="2000" dirty="0"/>
              <a:t>年，法国程序员</a:t>
            </a:r>
            <a:r>
              <a:rPr lang="en-US" altLang="zh-CN" sz="2000" dirty="0"/>
              <a:t>Fabrice </a:t>
            </a:r>
            <a:r>
              <a:rPr lang="en-US" altLang="zh-CN" sz="2000" dirty="0" err="1"/>
              <a:t>Bellard</a:t>
            </a:r>
            <a:r>
              <a:rPr lang="zh-CN" altLang="en-US" sz="2000" dirty="0"/>
              <a:t>发布了</a:t>
            </a:r>
            <a:r>
              <a:rPr lang="en-US" altLang="zh-CN" sz="2000" dirty="0"/>
              <a:t>QEMU</a:t>
            </a:r>
            <a:r>
              <a:rPr lang="zh-CN" altLang="en-US" sz="2000" dirty="0"/>
              <a:t> </a:t>
            </a:r>
            <a:r>
              <a:rPr lang="en-US" altLang="zh-CN" sz="2000" dirty="0"/>
              <a:t>0.1</a:t>
            </a:r>
            <a:r>
              <a:rPr lang="zh-CN" altLang="en-US" sz="2000" dirty="0"/>
              <a:t>版本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目标是在非</a:t>
            </a:r>
            <a:r>
              <a:rPr kumimoji="1" lang="en-US" altLang="zh-CN" sz="1800" dirty="0"/>
              <a:t>x86</a:t>
            </a:r>
            <a:r>
              <a:rPr kumimoji="1" lang="zh-CN" altLang="en-US" sz="1800" dirty="0"/>
              <a:t>机器上使用动态二进制翻译技术模拟</a:t>
            </a:r>
            <a:r>
              <a:rPr kumimoji="1" lang="en-US" altLang="zh-CN" sz="1800" dirty="0"/>
              <a:t>x86</a:t>
            </a:r>
            <a:r>
              <a:rPr kumimoji="1" lang="zh-CN" altLang="en-US" sz="1800" dirty="0"/>
              <a:t>机器</a:t>
            </a:r>
            <a:endParaRPr kumimoji="1" lang="en-US" altLang="zh-CN" sz="1800" dirty="0"/>
          </a:p>
          <a:p>
            <a:r>
              <a:rPr kumimoji="1" lang="en-US" altLang="zh-CN" sz="2000" dirty="0"/>
              <a:t>2003-2006</a:t>
            </a:r>
            <a:r>
              <a:rPr kumimoji="1" lang="zh-CN" altLang="en-US" sz="2000" dirty="0"/>
              <a:t>年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能模拟出多种不同架构的虚拟机，包括</a:t>
            </a:r>
            <a:r>
              <a:rPr kumimoji="1" lang="en-US" altLang="zh-CN" sz="1800" dirty="0"/>
              <a:t>S390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ARM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MIPS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SPARC</a:t>
            </a:r>
            <a:r>
              <a:rPr kumimoji="1" lang="zh-CN" altLang="en-US" sz="1800" dirty="0"/>
              <a:t>等</a:t>
            </a:r>
            <a:endParaRPr kumimoji="1" lang="en-US" altLang="zh-CN" sz="1800" dirty="0"/>
          </a:p>
          <a:p>
            <a:pPr lvl="1"/>
            <a:r>
              <a:rPr lang="zh-CN" altLang="en-US" sz="1800" dirty="0"/>
              <a:t>在这阶段，</a:t>
            </a:r>
            <a:r>
              <a:rPr lang="en-US" altLang="zh-CN" sz="1800" dirty="0"/>
              <a:t>QEMU</a:t>
            </a:r>
            <a:r>
              <a:rPr lang="zh-CN" altLang="en-US" sz="1800" dirty="0"/>
              <a:t>一直使用</a:t>
            </a:r>
            <a:r>
              <a:rPr lang="zh-CN" altLang="en-US" sz="1800" dirty="0">
                <a:solidFill>
                  <a:srgbClr val="C00000"/>
                </a:solidFill>
              </a:rPr>
              <a:t>软件方法</a:t>
            </a:r>
            <a:r>
              <a:rPr lang="zh-CN" altLang="en-US" sz="1800" dirty="0"/>
              <a:t>进行模拟</a:t>
            </a:r>
            <a:endParaRPr lang="en-US" altLang="zh-CN" sz="1800" dirty="0"/>
          </a:p>
          <a:p>
            <a:pPr lvl="2"/>
            <a:r>
              <a:rPr lang="zh-CN" altLang="en-US" sz="1800" dirty="0"/>
              <a:t>如二进制翻译技术</a:t>
            </a: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EEE470-0AC2-034F-B86B-AB48AB26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89CFB9-FB62-484E-876B-A21C687BC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4EF0AF0C-BAEC-7E44-A8F5-C19B0F869E4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5884" y="172201"/>
            <a:ext cx="2088232" cy="66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09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1B0D6-8CC3-A144-84B8-B39EA9256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QEMU</a:t>
            </a:r>
            <a:r>
              <a:rPr kumimoji="1" lang="zh-CN" altLang="en-US" dirty="0"/>
              <a:t>发展历史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1828A5-BB47-1D45-A920-A2BFAEF4B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F9C36D-F1A6-2947-93C5-63BC7727E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91AE578-D8B9-C64D-A37B-A1439CB8746E}"/>
              </a:ext>
            </a:extLst>
          </p:cNvPr>
          <p:cNvGrpSpPr/>
          <p:nvPr/>
        </p:nvGrpSpPr>
        <p:grpSpPr>
          <a:xfrm>
            <a:off x="1691680" y="1547408"/>
            <a:ext cx="6194642" cy="3377915"/>
            <a:chOff x="1835696" y="1345332"/>
            <a:chExt cx="5188483" cy="2829260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294DE91-5D3B-3447-B66C-93BCE71A6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35696" y="1345332"/>
              <a:ext cx="5188483" cy="2829260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2354A56-9957-7A49-87F9-7EC6B59047C8}"/>
                </a:ext>
              </a:extLst>
            </p:cNvPr>
            <p:cNvSpPr/>
            <p:nvPr/>
          </p:nvSpPr>
          <p:spPr>
            <a:xfrm>
              <a:off x="1835696" y="3505572"/>
              <a:ext cx="4608512" cy="288032"/>
            </a:xfrm>
            <a:prstGeom prst="rect">
              <a:avLst/>
            </a:prstGeom>
            <a:noFill/>
            <a:ln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427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EC8D5-2836-7443-9AA8-67CE8CA9A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KVM</a:t>
            </a:r>
            <a:r>
              <a:rPr kumimoji="1" lang="zh-CN" altLang="en-US" dirty="0"/>
              <a:t>发展历史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23B456-72AE-D74E-870C-8736E8986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b="0" dirty="0"/>
              <a:t>2005</a:t>
            </a:r>
            <a:r>
              <a:rPr kumimoji="1" lang="zh-CN" altLang="en-US" sz="2000" b="0" dirty="0"/>
              <a:t>年</a:t>
            </a:r>
            <a:r>
              <a:rPr kumimoji="1" lang="en-US" altLang="zh-CN" sz="2000" b="0" dirty="0"/>
              <a:t>11</a:t>
            </a:r>
            <a:r>
              <a:rPr kumimoji="1" lang="zh-CN" altLang="en-US" sz="2000" b="0" dirty="0"/>
              <a:t>月，</a:t>
            </a:r>
            <a:r>
              <a:rPr kumimoji="1" lang="en-US" altLang="zh-CN" sz="2000" b="0" dirty="0"/>
              <a:t>Intel</a:t>
            </a:r>
            <a:r>
              <a:rPr kumimoji="1" lang="zh-CN" altLang="en-US" sz="2000" b="0" dirty="0"/>
              <a:t>发布带有</a:t>
            </a:r>
            <a:r>
              <a:rPr kumimoji="1" lang="en-US" altLang="zh-CN" sz="2000" b="0" dirty="0"/>
              <a:t>VT-x</a:t>
            </a:r>
            <a:r>
              <a:rPr kumimoji="1" lang="zh-CN" altLang="en-US" sz="2000" b="0" dirty="0"/>
              <a:t>的两款</a:t>
            </a:r>
            <a:r>
              <a:rPr kumimoji="1" lang="en-US" altLang="zh-CN" sz="2000" b="0" dirty="0"/>
              <a:t>Pentium 4</a:t>
            </a:r>
            <a:r>
              <a:rPr kumimoji="1" lang="zh-CN" altLang="en-US" sz="2000" b="0" dirty="0"/>
              <a:t>处理器</a:t>
            </a:r>
            <a:endParaRPr kumimoji="1" lang="en-US" altLang="zh-CN" sz="2000" b="0" dirty="0"/>
          </a:p>
          <a:p>
            <a:r>
              <a:rPr kumimoji="1" lang="en-US" altLang="zh-CN" sz="2000" b="0" dirty="0"/>
              <a:t>2006</a:t>
            </a:r>
            <a:r>
              <a:rPr kumimoji="1" lang="zh-CN" altLang="en-US" sz="2000" b="0" dirty="0"/>
              <a:t>年中期，</a:t>
            </a:r>
            <a:r>
              <a:rPr kumimoji="1" lang="en-US" altLang="zh-CN" sz="2000" b="0" dirty="0"/>
              <a:t> </a:t>
            </a:r>
            <a:r>
              <a:rPr kumimoji="1" lang="en-US" altLang="zh-CN" sz="2000" b="0" dirty="0" err="1"/>
              <a:t>Qumranet</a:t>
            </a:r>
            <a:r>
              <a:rPr kumimoji="1" lang="zh-CN" altLang="en-US" sz="2000" b="0" dirty="0"/>
              <a:t>公司在内部开发</a:t>
            </a:r>
            <a:r>
              <a:rPr kumimoji="1" lang="en-US" altLang="zh-CN" sz="2000" b="0" dirty="0"/>
              <a:t>KVM(Kernel-based Virtual Machine)</a:t>
            </a:r>
            <a:r>
              <a:rPr kumimoji="1" lang="zh-CN" altLang="en-US" sz="2000" b="0" dirty="0"/>
              <a:t>，并于</a:t>
            </a:r>
            <a:r>
              <a:rPr kumimoji="1" lang="en-US" altLang="zh-CN" sz="2000" b="0" dirty="0"/>
              <a:t>11</a:t>
            </a:r>
            <a:r>
              <a:rPr kumimoji="1" lang="zh-CN" altLang="en-US" sz="2000" b="0" dirty="0"/>
              <a:t>月发布</a:t>
            </a:r>
            <a:endParaRPr kumimoji="1" lang="en-US" altLang="zh-CN" sz="2000" b="0" dirty="0"/>
          </a:p>
          <a:p>
            <a:r>
              <a:rPr kumimoji="1" lang="en-US" altLang="zh-CN" sz="2000" b="0" dirty="0"/>
              <a:t>2007</a:t>
            </a:r>
            <a:r>
              <a:rPr kumimoji="1" lang="zh-CN" altLang="en-US" sz="2000" b="0" dirty="0"/>
              <a:t>年，</a:t>
            </a:r>
            <a:r>
              <a:rPr kumimoji="1" lang="en-US" altLang="zh-CN" sz="2000" b="0" dirty="0"/>
              <a:t>KVM</a:t>
            </a:r>
            <a:r>
              <a:rPr kumimoji="1" lang="zh-CN" altLang="en-US" sz="2000" b="0" dirty="0"/>
              <a:t>被整合进</a:t>
            </a:r>
            <a:r>
              <a:rPr kumimoji="1" lang="en-US" altLang="zh-CN" sz="2000" b="0" dirty="0"/>
              <a:t>Linux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2.6.20</a:t>
            </a:r>
          </a:p>
          <a:p>
            <a:r>
              <a:rPr kumimoji="1" lang="en-US" altLang="zh-CN" sz="2000" b="0" dirty="0"/>
              <a:t>2008</a:t>
            </a:r>
            <a:r>
              <a:rPr kumimoji="1" lang="zh-CN" altLang="en-US" sz="2000" b="0" dirty="0"/>
              <a:t>年</a:t>
            </a:r>
            <a:r>
              <a:rPr kumimoji="1" lang="en-US" altLang="zh-CN" sz="2000" b="0" dirty="0"/>
              <a:t>9</a:t>
            </a:r>
            <a:r>
              <a:rPr kumimoji="1" lang="zh-CN" altLang="en-US" sz="2000" b="0" dirty="0"/>
              <a:t>月，</a:t>
            </a:r>
            <a:r>
              <a:rPr kumimoji="1" lang="en-US" altLang="zh-CN" sz="2000" b="0" dirty="0" err="1"/>
              <a:t>Redhat</a:t>
            </a:r>
            <a:r>
              <a:rPr kumimoji="1" lang="zh-CN" altLang="en-US" sz="2000" b="0" dirty="0"/>
              <a:t>出资</a:t>
            </a:r>
            <a:r>
              <a:rPr kumimoji="1" lang="en-US" altLang="zh-CN" sz="2000" b="0" dirty="0"/>
              <a:t>1</a:t>
            </a:r>
            <a:r>
              <a:rPr kumimoji="1" lang="zh-CN" altLang="en-US" sz="2000" b="0" dirty="0"/>
              <a:t>亿多美元收购</a:t>
            </a:r>
            <a:r>
              <a:rPr kumimoji="1" lang="en-US" altLang="zh-CN" sz="2000" b="0" dirty="0" err="1"/>
              <a:t>Qumranet</a:t>
            </a:r>
            <a:endParaRPr kumimoji="1" lang="en-US" altLang="zh-CN" sz="2000" b="0" dirty="0"/>
          </a:p>
          <a:p>
            <a:r>
              <a:rPr kumimoji="1" lang="en-US" altLang="zh-CN" sz="2000" b="0" dirty="0"/>
              <a:t>2009</a:t>
            </a:r>
            <a:r>
              <a:rPr kumimoji="1" lang="zh-CN" altLang="en-US" sz="2000" b="0" dirty="0"/>
              <a:t>年，</a:t>
            </a:r>
            <a:r>
              <a:rPr kumimoji="1" lang="en-US" altLang="zh-CN" sz="2000" b="0" dirty="0"/>
              <a:t>QEMU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0.10.1</a:t>
            </a:r>
            <a:r>
              <a:rPr kumimoji="1" lang="zh-CN" altLang="en-US" sz="2000" b="0" dirty="0"/>
              <a:t>开始使用</a:t>
            </a:r>
            <a:r>
              <a:rPr kumimoji="1" lang="en-US" altLang="zh-CN" sz="2000" b="0" dirty="0"/>
              <a:t>KVM</a:t>
            </a:r>
            <a:r>
              <a:rPr kumimoji="1" lang="zh-CN" altLang="en-US" sz="2000" b="0" dirty="0"/>
              <a:t>，以替代其软件模拟的方案</a:t>
            </a:r>
          </a:p>
          <a:p>
            <a:endParaRPr kumimoji="1" lang="zh-CN" altLang="en-US" sz="2000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5C1E94-8A0C-784C-AE27-6DE03E86F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7EAD0C-306D-CE48-8AF9-090FE8110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7293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964B1-AFAF-0840-8F26-4606FCF4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QEMU/KVM</a:t>
            </a:r>
            <a:r>
              <a:rPr kumimoji="1" lang="zh-CN" altLang="en-US" dirty="0"/>
              <a:t>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782EA1-7F6A-6B48-BF7E-866F3CD82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QEMU</a:t>
            </a:r>
            <a:r>
              <a:rPr kumimoji="1" lang="zh-CN" altLang="en-US" dirty="0"/>
              <a:t>运行在用户态，负责实现</a:t>
            </a:r>
            <a:r>
              <a:rPr kumimoji="1" lang="zh-CN" altLang="en-US" dirty="0">
                <a:solidFill>
                  <a:srgbClr val="BE384B"/>
                </a:solidFill>
              </a:rPr>
              <a:t>策略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pPr lvl="1"/>
            <a:r>
              <a:rPr kumimoji="1" lang="zh-CN" altLang="en-US" dirty="0">
                <a:solidFill>
                  <a:srgbClr val="404040"/>
                </a:solidFill>
              </a:rPr>
              <a:t>也提供虚拟设备的支持</a:t>
            </a:r>
            <a:endParaRPr kumimoji="1" lang="en-US" altLang="zh-CN" dirty="0">
              <a:solidFill>
                <a:srgbClr val="404040"/>
              </a:solidFill>
            </a:endParaRPr>
          </a:p>
          <a:p>
            <a:r>
              <a:rPr kumimoji="1" lang="en-US" altLang="zh-CN" dirty="0"/>
              <a:t>KVM</a:t>
            </a:r>
            <a:r>
              <a:rPr kumimoji="1" lang="zh-CN" altLang="en-US" dirty="0"/>
              <a:t>以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内核模块运行，负责实现</a:t>
            </a:r>
            <a:r>
              <a:rPr kumimoji="1" lang="zh-CN" altLang="en-US" dirty="0">
                <a:solidFill>
                  <a:srgbClr val="BE384B"/>
                </a:solidFill>
              </a:rPr>
              <a:t>机制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pPr lvl="1"/>
            <a:r>
              <a:rPr kumimoji="1" lang="zh-CN" altLang="en-US" dirty="0"/>
              <a:t>可以直接使用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的功能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例如内存管理、进程调度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使用硬件虚拟化功能</a:t>
            </a:r>
            <a:endParaRPr kumimoji="1" lang="en-US" altLang="zh-CN" dirty="0"/>
          </a:p>
          <a:p>
            <a:r>
              <a:rPr kumimoji="1" lang="zh-CN" altLang="en-US" dirty="0"/>
              <a:t>两部分合作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KVM</a:t>
            </a:r>
            <a:r>
              <a:rPr kumimoji="1" lang="zh-CN" altLang="en-US" dirty="0"/>
              <a:t>捕捉所有敏感指令和事件，传递给</a:t>
            </a:r>
            <a:r>
              <a:rPr kumimoji="1" lang="en-US" altLang="zh-CN" dirty="0"/>
              <a:t>QEMU</a:t>
            </a:r>
          </a:p>
          <a:p>
            <a:pPr lvl="1"/>
            <a:r>
              <a:rPr kumimoji="1" lang="en-US" altLang="zh-CN" dirty="0"/>
              <a:t>KVM</a:t>
            </a:r>
            <a:r>
              <a:rPr kumimoji="1" lang="zh-CN" altLang="en-US" dirty="0"/>
              <a:t>不提供设备的虚拟化，需要使用</a:t>
            </a:r>
            <a:r>
              <a:rPr kumimoji="1" lang="en-US" altLang="zh-CN" dirty="0"/>
              <a:t>QEMU</a:t>
            </a:r>
            <a:r>
              <a:rPr kumimoji="1" lang="zh-CN" altLang="en-US" dirty="0"/>
              <a:t>的虚拟设备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9D2D0C-413F-A346-8DF6-0AD74E3AB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4D392A-CBCE-DF40-9D93-0D38B2644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4255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C4963C-174F-FC47-87FA-82EC9C82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QEMU</a:t>
            </a:r>
            <a:r>
              <a:rPr kumimoji="1" lang="zh-CN" altLang="en-US" dirty="0"/>
              <a:t>使用</a:t>
            </a:r>
            <a:r>
              <a:rPr kumimoji="1" lang="en-US" altLang="zh-CN" dirty="0"/>
              <a:t>KVM</a:t>
            </a:r>
            <a:r>
              <a:rPr kumimoji="1" lang="zh-CN" altLang="en-US" dirty="0"/>
              <a:t>的用户态接口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4E443A-0996-AE42-8F99-EBCD487B9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QEMU</a:t>
            </a:r>
            <a:r>
              <a:rPr kumimoji="1" lang="zh-CN" altLang="en-US" sz="2000" dirty="0"/>
              <a:t>使用</a:t>
            </a:r>
            <a:r>
              <a:rPr kumimoji="1" lang="en-US" altLang="zh-CN" sz="2000" dirty="0"/>
              <a:t>/dev/</a:t>
            </a:r>
            <a:r>
              <a:rPr kumimoji="1" lang="en-US" altLang="zh-CN" sz="2000" dirty="0" err="1"/>
              <a:t>kvm</a:t>
            </a:r>
            <a:r>
              <a:rPr kumimoji="1" lang="zh-CN" altLang="en-US" sz="2000" dirty="0"/>
              <a:t>与内核态的</a:t>
            </a:r>
            <a:r>
              <a:rPr kumimoji="1" lang="en-US" altLang="zh-CN" sz="2000" dirty="0"/>
              <a:t>KVM</a:t>
            </a:r>
            <a:r>
              <a:rPr kumimoji="1" lang="zh-CN" altLang="en-US" sz="2000" dirty="0"/>
              <a:t>通信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使用</a:t>
            </a:r>
            <a:r>
              <a:rPr kumimoji="1" lang="en-US" altLang="zh-CN" sz="1800" dirty="0" err="1"/>
              <a:t>ioctl</a:t>
            </a:r>
            <a:r>
              <a:rPr kumimoji="1" lang="zh-CN" altLang="en-US" sz="1800" dirty="0"/>
              <a:t>向</a:t>
            </a:r>
            <a:r>
              <a:rPr kumimoji="1" lang="en-US" altLang="zh-CN" sz="1800" dirty="0"/>
              <a:t>KVM</a:t>
            </a:r>
            <a:r>
              <a:rPr kumimoji="1" lang="zh-CN" altLang="en-US" sz="1800" dirty="0"/>
              <a:t>传递不同的命令：</a:t>
            </a:r>
            <a:r>
              <a:rPr kumimoji="1" lang="en-US" altLang="zh-CN" sz="1800" dirty="0"/>
              <a:t>CREATE_VM,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CREATE_VCPU,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KVM_RUN</a:t>
            </a:r>
            <a:r>
              <a:rPr kumimoji="1" lang="zh-CN" altLang="en-US" sz="1800" dirty="0"/>
              <a:t>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05ACDE-C4F4-BE49-8BA0-CDE7442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5CF0E1-F772-4C47-B4BD-17F5F0A67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0" name="矩形 5">
            <a:extLst>
              <a:ext uri="{FF2B5EF4-FFF2-40B4-BE49-F238E27FC236}">
                <a16:creationId xmlns:a16="http://schemas.microsoft.com/office/drawing/2014/main" id="{3737C549-FFBB-ACED-5229-AB58591CBCFD}"/>
              </a:ext>
            </a:extLst>
          </p:cNvPr>
          <p:cNvSpPr/>
          <p:nvPr/>
        </p:nvSpPr>
        <p:spPr>
          <a:xfrm>
            <a:off x="1619672" y="2425453"/>
            <a:ext cx="5688632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open("/dev/</a:t>
            </a:r>
            <a:r>
              <a:rPr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kvm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ioctl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(KVM_CREATE_VM)</a:t>
            </a:r>
          </a:p>
          <a:p>
            <a:r>
              <a:rPr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ioctl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(KVM_CREATE_VCPU)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ioctl</a:t>
            </a:r>
            <a:r>
              <a:rPr lang="en-US" altLang="zh-CN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(KVM_RUN)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exit_reason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get_exit_reason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switch (</a:t>
            </a:r>
            <a:r>
              <a:rPr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exit_reason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case KVM_EXIT_IO:  /* ... */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break;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case KVM_EXIT_MMIO: /* ... */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break;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400" dirty="0"/>
          </a:p>
        </p:txBody>
      </p:sp>
      <p:sp>
        <p:nvSpPr>
          <p:cNvPr id="31" name="矩形 6">
            <a:extLst>
              <a:ext uri="{FF2B5EF4-FFF2-40B4-BE49-F238E27FC236}">
                <a16:creationId xmlns:a16="http://schemas.microsoft.com/office/drawing/2014/main" id="{F3D92E1E-C152-B833-5F53-8424DE06FA42}"/>
              </a:ext>
            </a:extLst>
          </p:cNvPr>
          <p:cNvSpPr/>
          <p:nvPr/>
        </p:nvSpPr>
        <p:spPr>
          <a:xfrm>
            <a:off x="5317202" y="2991646"/>
            <a:ext cx="17560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Invoke VMENTRY</a:t>
            </a:r>
            <a:endParaRPr lang="zh-CN" altLang="en-US" sz="1400" b="1" dirty="0">
              <a:solidFill>
                <a:srgbClr val="0070C0"/>
              </a:solidFill>
            </a:endParaRPr>
          </a:p>
        </p:txBody>
      </p:sp>
      <p:cxnSp>
        <p:nvCxnSpPr>
          <p:cNvPr id="32" name="直接连接符 6">
            <a:extLst>
              <a:ext uri="{FF2B5EF4-FFF2-40B4-BE49-F238E27FC236}">
                <a16:creationId xmlns:a16="http://schemas.microsoft.com/office/drawing/2014/main" id="{B0D6F9AE-0E90-6AB3-F238-CACBA02C74D9}"/>
              </a:ext>
            </a:extLst>
          </p:cNvPr>
          <p:cNvCxnSpPr>
            <a:cxnSpLocks/>
          </p:cNvCxnSpPr>
          <p:nvPr/>
        </p:nvCxnSpPr>
        <p:spPr>
          <a:xfrm flipV="1">
            <a:off x="3707904" y="3145532"/>
            <a:ext cx="1728192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543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C94484-CF98-3048-8CDB-4789FA2C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ioctl</a:t>
            </a:r>
            <a:r>
              <a:rPr kumimoji="1" lang="en-US" altLang="zh-CN" dirty="0"/>
              <a:t>(KVM_RUN)</a:t>
            </a:r>
            <a:r>
              <a:rPr kumimoji="1" lang="zh-CN" altLang="en-US" dirty="0"/>
              <a:t>时发生了什么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D62FBD-80F2-9747-BD6E-B864060A2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1379983"/>
          </a:xfrm>
        </p:spPr>
        <p:txBody>
          <a:bodyPr>
            <a:normAutofit fontScale="70000" lnSpcReduction="20000"/>
          </a:bodyPr>
          <a:lstStyle/>
          <a:p>
            <a:r>
              <a:rPr kumimoji="1" lang="en-US" altLang="zh-CN" dirty="0"/>
              <a:t>x86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KVM</a:t>
            </a:r>
            <a:r>
              <a:rPr kumimoji="1" lang="zh-CN" altLang="en-US" dirty="0"/>
              <a:t>加载</a:t>
            </a:r>
            <a:r>
              <a:rPr kumimoji="1" lang="en-US" altLang="zh-CN" dirty="0"/>
              <a:t>vCPU</a:t>
            </a:r>
            <a:r>
              <a:rPr kumimoji="1" lang="zh-CN" altLang="en-US" dirty="0"/>
              <a:t>对应的</a:t>
            </a:r>
            <a:r>
              <a:rPr kumimoji="1" lang="en-US" altLang="zh-CN" dirty="0"/>
              <a:t>VMCS</a:t>
            </a:r>
            <a:r>
              <a:rPr kumimoji="1" lang="zh-CN" altLang="en-US" dirty="0"/>
              <a:t>，</a:t>
            </a:r>
            <a:r>
              <a:rPr kumimoji="1" lang="en-US" altLang="zh-CN" dirty="0"/>
              <a:t>VMLAUNCH/VMRESUME</a:t>
            </a:r>
            <a:r>
              <a:rPr kumimoji="1" lang="zh-CN" altLang="en-US" dirty="0"/>
              <a:t>进入</a:t>
            </a:r>
            <a:r>
              <a:rPr kumimoji="1" lang="en-US" altLang="zh-CN" dirty="0"/>
              <a:t>Non-root</a:t>
            </a:r>
            <a:r>
              <a:rPr kumimoji="1" lang="zh-CN" altLang="en-US" dirty="0"/>
              <a:t>模式</a:t>
            </a:r>
            <a:endParaRPr kumimoji="1" lang="en-US" altLang="zh-CN" dirty="0"/>
          </a:p>
          <a:p>
            <a:r>
              <a:rPr kumimoji="1" lang="en-US" altLang="zh-CN" dirty="0"/>
              <a:t>ARM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KVM</a:t>
            </a:r>
            <a:r>
              <a:rPr kumimoji="1" lang="zh-CN" altLang="en-US" dirty="0"/>
              <a:t>主动加载</a:t>
            </a:r>
            <a:r>
              <a:rPr kumimoji="1" lang="en-US" altLang="zh-CN" dirty="0"/>
              <a:t>VCPU</a:t>
            </a:r>
            <a:r>
              <a:rPr kumimoji="1" lang="zh-CN" altLang="en-US" dirty="0"/>
              <a:t>对应的所有状态，使用</a:t>
            </a:r>
            <a:r>
              <a:rPr kumimoji="1" lang="en-US" altLang="zh-CN" dirty="0" err="1"/>
              <a:t>eret</a:t>
            </a:r>
            <a:r>
              <a:rPr kumimoji="1" lang="zh-CN" altLang="en-US" dirty="0"/>
              <a:t>指令进入虚拟机，开始执行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A49097-027F-4541-BF3F-711834E6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F4F84B-059D-5346-91E0-725957D7A7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823A112-5651-6007-1D9A-DCBAB13E928B}"/>
              </a:ext>
            </a:extLst>
          </p:cNvPr>
          <p:cNvGrpSpPr/>
          <p:nvPr/>
        </p:nvGrpSpPr>
        <p:grpSpPr>
          <a:xfrm>
            <a:off x="949366" y="2713484"/>
            <a:ext cx="6925052" cy="2592288"/>
            <a:chOff x="949366" y="2713484"/>
            <a:chExt cx="6925052" cy="2592288"/>
          </a:xfrm>
        </p:grpSpPr>
        <p:sp>
          <p:nvSpPr>
            <p:cNvPr id="7" name="Rectangle 22">
              <a:extLst>
                <a:ext uri="{FF2B5EF4-FFF2-40B4-BE49-F238E27FC236}">
                  <a16:creationId xmlns:a16="http://schemas.microsoft.com/office/drawing/2014/main" id="{E9DD3468-B55B-6450-3A26-8FA88D75066A}"/>
                </a:ext>
              </a:extLst>
            </p:cNvPr>
            <p:cNvSpPr/>
            <p:nvPr/>
          </p:nvSpPr>
          <p:spPr>
            <a:xfrm>
              <a:off x="1749364" y="4441675"/>
              <a:ext cx="2636232" cy="4320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en-US" altLang="zh-CN" sz="1600" dirty="0">
                  <a:solidFill>
                    <a:srgbClr val="BE384B"/>
                  </a:solidFill>
                  <a:cs typeface="Arial Narrow"/>
                </a:rPr>
                <a:t>Linux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8" name="Rectangle 27">
              <a:extLst>
                <a:ext uri="{FF2B5EF4-FFF2-40B4-BE49-F238E27FC236}">
                  <a16:creationId xmlns:a16="http://schemas.microsoft.com/office/drawing/2014/main" id="{18B23C13-F752-0168-7D83-E2B10DEEA14D}"/>
                </a:ext>
              </a:extLst>
            </p:cNvPr>
            <p:cNvSpPr/>
            <p:nvPr/>
          </p:nvSpPr>
          <p:spPr>
            <a:xfrm>
              <a:off x="1741454" y="3073524"/>
              <a:ext cx="2610552" cy="3600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rgbClr val="BE384B"/>
                  </a:solidFill>
                  <a:cs typeface="Arial Narrow"/>
                </a:rPr>
                <a:t>QEMU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cxnSp>
          <p:nvCxnSpPr>
            <p:cNvPr id="9" name="Straight Connector 13">
              <a:extLst>
                <a:ext uri="{FF2B5EF4-FFF2-40B4-BE49-F238E27FC236}">
                  <a16:creationId xmlns:a16="http://schemas.microsoft.com/office/drawing/2014/main" id="{40BA4E2F-17AE-FFB6-8A8D-6E1A23A4571D}"/>
                </a:ext>
              </a:extLst>
            </p:cNvPr>
            <p:cNvCxnSpPr>
              <a:cxnSpLocks/>
            </p:cNvCxnSpPr>
            <p:nvPr/>
          </p:nvCxnSpPr>
          <p:spPr>
            <a:xfrm>
              <a:off x="1072648" y="4246782"/>
              <a:ext cx="6801770" cy="0"/>
            </a:xfrm>
            <a:prstGeom prst="line">
              <a:avLst/>
            </a:prstGeom>
            <a:ln>
              <a:solidFill>
                <a:srgbClr val="BE384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C50FF42-BD7C-C98C-4088-8C7C02B686D5}"/>
                </a:ext>
              </a:extLst>
            </p:cNvPr>
            <p:cNvSpPr txBox="1"/>
            <p:nvPr/>
          </p:nvSpPr>
          <p:spPr>
            <a:xfrm>
              <a:off x="949366" y="3721596"/>
              <a:ext cx="807505" cy="50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EL1</a:t>
              </a:r>
              <a:endParaRPr kumimoji="1"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B58BB8C-02DA-39A4-0F08-DCA371EDDBFD}"/>
                </a:ext>
              </a:extLst>
            </p:cNvPr>
            <p:cNvSpPr txBox="1"/>
            <p:nvPr/>
          </p:nvSpPr>
          <p:spPr>
            <a:xfrm>
              <a:off x="949366" y="3001516"/>
              <a:ext cx="807505" cy="50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EL0</a:t>
              </a:r>
              <a:endParaRPr kumimoji="1"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1009122-565F-06D7-0620-0872D888AF3D}"/>
                </a:ext>
              </a:extLst>
            </p:cNvPr>
            <p:cNvSpPr txBox="1"/>
            <p:nvPr/>
          </p:nvSpPr>
          <p:spPr>
            <a:xfrm>
              <a:off x="949366" y="4513684"/>
              <a:ext cx="807505" cy="50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EL2</a:t>
              </a:r>
              <a:endParaRPr kumimoji="1"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23CE38A-F99F-1AAD-FAE6-A544D2E185E3}"/>
                </a:ext>
              </a:extLst>
            </p:cNvPr>
            <p:cNvSpPr txBox="1"/>
            <p:nvPr/>
          </p:nvSpPr>
          <p:spPr>
            <a:xfrm>
              <a:off x="2677558" y="2713484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VMM</a:t>
              </a:r>
              <a:endParaRPr kumimoji="1" lang="zh-CN" altLang="en-US" dirty="0"/>
            </a:p>
          </p:txBody>
        </p:sp>
        <p:sp>
          <p:nvSpPr>
            <p:cNvPr id="14" name="Rectangle 22">
              <a:extLst>
                <a:ext uri="{FF2B5EF4-FFF2-40B4-BE49-F238E27FC236}">
                  <a16:creationId xmlns:a16="http://schemas.microsoft.com/office/drawing/2014/main" id="{314169D7-B1F3-B62D-DCA8-DE62C55D65C8}"/>
                </a:ext>
              </a:extLst>
            </p:cNvPr>
            <p:cNvSpPr/>
            <p:nvPr/>
          </p:nvSpPr>
          <p:spPr>
            <a:xfrm>
              <a:off x="4900468" y="3577580"/>
              <a:ext cx="2636232" cy="3934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r"/>
              <a:r>
                <a:rPr lang="en-US" altLang="zh-CN" sz="1600" dirty="0">
                  <a:solidFill>
                    <a:srgbClr val="BE384B"/>
                  </a:solidFill>
                  <a:cs typeface="Arial Narrow"/>
                </a:rPr>
                <a:t>OS</a:t>
              </a:r>
              <a:r>
                <a:rPr lang="zh-CN" altLang="en-US" sz="1600" dirty="0">
                  <a:solidFill>
                    <a:srgbClr val="BE384B"/>
                  </a:solidFill>
                  <a:cs typeface="Arial Narrow"/>
                </a:rPr>
                <a:t> </a:t>
              </a:r>
              <a:r>
                <a:rPr lang="en-US" altLang="zh-CN" sz="1600" dirty="0">
                  <a:solidFill>
                    <a:srgbClr val="BE384B"/>
                  </a:solidFill>
                  <a:cs typeface="Arial Narrow"/>
                </a:rPr>
                <a:t>Kernel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1B42CBE3-31DF-05BE-3D49-838B0E61A661}"/>
                </a:ext>
              </a:extLst>
            </p:cNvPr>
            <p:cNvSpPr/>
            <p:nvPr/>
          </p:nvSpPr>
          <p:spPr>
            <a:xfrm>
              <a:off x="4909806" y="3073524"/>
              <a:ext cx="2636232" cy="34861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rgbClr val="BE384B"/>
                  </a:solidFill>
                  <a:cs typeface="Arial Narrow"/>
                </a:rPr>
                <a:t>Processes</a:t>
              </a:r>
              <a:endParaRPr lang="en-US" sz="1600" dirty="0">
                <a:solidFill>
                  <a:srgbClr val="BE384B"/>
                </a:solidFill>
                <a:cs typeface="Arial Narrow"/>
              </a:endParaRPr>
            </a:p>
          </p:txBody>
        </p:sp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45A1E8A7-30A3-72C4-C57C-ADF3520E621A}"/>
                </a:ext>
              </a:extLst>
            </p:cNvPr>
            <p:cNvSpPr/>
            <p:nvPr/>
          </p:nvSpPr>
          <p:spPr>
            <a:xfrm>
              <a:off x="4750540" y="2713484"/>
              <a:ext cx="2931601" cy="136568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28CA0FA-CFCA-61DE-6E68-C0735B9BD3A8}"/>
                </a:ext>
              </a:extLst>
            </p:cNvPr>
            <p:cNvSpPr txBox="1"/>
            <p:nvPr/>
          </p:nvSpPr>
          <p:spPr>
            <a:xfrm>
              <a:off x="5917918" y="2785492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VM</a:t>
              </a:r>
              <a:endParaRPr kumimoji="1" lang="zh-CN" altLang="en-US" dirty="0"/>
            </a:p>
          </p:txBody>
        </p:sp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F0A1FD4B-C172-CA4C-BA4B-6315B7CBAF78}"/>
                </a:ext>
              </a:extLst>
            </p:cNvPr>
            <p:cNvSpPr/>
            <p:nvPr/>
          </p:nvSpPr>
          <p:spPr>
            <a:xfrm>
              <a:off x="1619672" y="2713484"/>
              <a:ext cx="2931601" cy="2232248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9" name="Rectangle 22">
              <a:extLst>
                <a:ext uri="{FF2B5EF4-FFF2-40B4-BE49-F238E27FC236}">
                  <a16:creationId xmlns:a16="http://schemas.microsoft.com/office/drawing/2014/main" id="{E3BF73E5-6061-103E-1BFB-34D0C5B558F2}"/>
                </a:ext>
              </a:extLst>
            </p:cNvPr>
            <p:cNvSpPr/>
            <p:nvPr/>
          </p:nvSpPr>
          <p:spPr>
            <a:xfrm>
              <a:off x="3058431" y="4585693"/>
              <a:ext cx="1146017" cy="216024"/>
            </a:xfrm>
            <a:prstGeom prst="rect">
              <a:avLst/>
            </a:prstGeom>
            <a:solidFill>
              <a:srgbClr val="BE384B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Arial Narrow"/>
                </a:rPr>
                <a:t>KVM</a:t>
              </a:r>
              <a:endParaRPr lang="en-US" sz="1600" dirty="0">
                <a:solidFill>
                  <a:schemeClr val="bg1"/>
                </a:solidFill>
                <a:cs typeface="Arial Narrow"/>
              </a:endParaRPr>
            </a:p>
          </p:txBody>
        </p:sp>
        <p:cxnSp>
          <p:nvCxnSpPr>
            <p:cNvPr id="20" name="肘形连接符 20">
              <a:extLst>
                <a:ext uri="{FF2B5EF4-FFF2-40B4-BE49-F238E27FC236}">
                  <a16:creationId xmlns:a16="http://schemas.microsoft.com/office/drawing/2014/main" id="{4B5987F9-88CC-2813-9A11-724D8A35977B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rot="16200000" flipH="1">
              <a:off x="5659239" y="4530404"/>
              <a:ext cx="1118690" cy="1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7">
              <a:extLst>
                <a:ext uri="{FF2B5EF4-FFF2-40B4-BE49-F238E27FC236}">
                  <a16:creationId xmlns:a16="http://schemas.microsoft.com/office/drawing/2014/main" id="{23F57F54-C84A-3647-D082-82EBAE23644D}"/>
                </a:ext>
              </a:extLst>
            </p:cNvPr>
            <p:cNvSpPr/>
            <p:nvPr/>
          </p:nvSpPr>
          <p:spPr>
            <a:xfrm>
              <a:off x="3109606" y="4081636"/>
              <a:ext cx="1052056" cy="23815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rgbClr val="BE384B"/>
                  </a:solidFill>
                  <a:cs typeface="Arial Narrow"/>
                </a:rPr>
                <a:t>/dev/</a:t>
              </a:r>
              <a:r>
                <a:rPr lang="en-US" altLang="zh-CN" sz="1200" dirty="0" err="1">
                  <a:solidFill>
                    <a:srgbClr val="BE384B"/>
                  </a:solidFill>
                  <a:cs typeface="Arial Narrow"/>
                </a:rPr>
                <a:t>kvm</a:t>
              </a:r>
              <a:endParaRPr lang="en-US" sz="1200" dirty="0">
                <a:solidFill>
                  <a:srgbClr val="BE384B"/>
                </a:solidFill>
                <a:cs typeface="Arial Narrow"/>
              </a:endParaRPr>
            </a:p>
          </p:txBody>
        </p:sp>
        <p:cxnSp>
          <p:nvCxnSpPr>
            <p:cNvPr id="22" name="直线箭头连接符 25">
              <a:extLst>
                <a:ext uri="{FF2B5EF4-FFF2-40B4-BE49-F238E27FC236}">
                  <a16:creationId xmlns:a16="http://schemas.microsoft.com/office/drawing/2014/main" id="{A5D65DBE-55A1-DA4D-7442-516E77DD2CB3}"/>
                </a:ext>
              </a:extLst>
            </p:cNvPr>
            <p:cNvCxnSpPr>
              <a:cxnSpLocks/>
            </p:cNvCxnSpPr>
            <p:nvPr/>
          </p:nvCxnSpPr>
          <p:spPr>
            <a:xfrm>
              <a:off x="3635896" y="3361556"/>
              <a:ext cx="0" cy="7920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线箭头连接符 27">
              <a:extLst>
                <a:ext uri="{FF2B5EF4-FFF2-40B4-BE49-F238E27FC236}">
                  <a16:creationId xmlns:a16="http://schemas.microsoft.com/office/drawing/2014/main" id="{CFD66AF2-756A-6D0D-3564-4A717E6E0B5E}"/>
                </a:ext>
              </a:extLst>
            </p:cNvPr>
            <p:cNvCxnSpPr>
              <a:cxnSpLocks/>
              <a:stCxn id="21" idx="2"/>
              <a:endCxn id="19" idx="0"/>
            </p:cNvCxnSpPr>
            <p:nvPr/>
          </p:nvCxnSpPr>
          <p:spPr>
            <a:xfrm flipH="1">
              <a:off x="3631440" y="4319790"/>
              <a:ext cx="4194" cy="26590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8">
              <a:extLst>
                <a:ext uri="{FF2B5EF4-FFF2-40B4-BE49-F238E27FC236}">
                  <a16:creationId xmlns:a16="http://schemas.microsoft.com/office/drawing/2014/main" id="{7E3F0ABD-F6A1-B768-1504-A68CB6937AE7}"/>
                </a:ext>
              </a:extLst>
            </p:cNvPr>
            <p:cNvSpPr txBox="1"/>
            <p:nvPr/>
          </p:nvSpPr>
          <p:spPr>
            <a:xfrm>
              <a:off x="3635896" y="3577580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err="1"/>
                <a:t>ioctl</a:t>
              </a:r>
              <a:endParaRPr kumimoji="1" lang="zh-CN" altLang="en-US" dirty="0"/>
            </a:p>
          </p:txBody>
        </p:sp>
        <p:sp>
          <p:nvSpPr>
            <p:cNvPr id="25" name="文本框 32">
              <a:extLst>
                <a:ext uri="{FF2B5EF4-FFF2-40B4-BE49-F238E27FC236}">
                  <a16:creationId xmlns:a16="http://schemas.microsoft.com/office/drawing/2014/main" id="{7FE3B792-8F72-45DC-0B61-EA1BA6C18C5F}"/>
                </a:ext>
              </a:extLst>
            </p:cNvPr>
            <p:cNvSpPr txBox="1"/>
            <p:nvPr/>
          </p:nvSpPr>
          <p:spPr>
            <a:xfrm>
              <a:off x="6214493" y="4441676"/>
              <a:ext cx="1133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VM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Entry</a:t>
              </a:r>
              <a:endParaRPr kumimoji="1" lang="zh-CN" altLang="en-US" dirty="0"/>
            </a:p>
          </p:txBody>
        </p:sp>
        <p:sp>
          <p:nvSpPr>
            <p:cNvPr id="26" name="Rectangle 22">
              <a:extLst>
                <a:ext uri="{FF2B5EF4-FFF2-40B4-BE49-F238E27FC236}">
                  <a16:creationId xmlns:a16="http://schemas.microsoft.com/office/drawing/2014/main" id="{066E1EDF-553C-F033-7800-C0F89902BA8A}"/>
                </a:ext>
              </a:extLst>
            </p:cNvPr>
            <p:cNvSpPr/>
            <p:nvPr/>
          </p:nvSpPr>
          <p:spPr>
            <a:xfrm>
              <a:off x="1749997" y="5089748"/>
              <a:ext cx="5940152" cy="216024"/>
            </a:xfrm>
            <a:prstGeom prst="rect">
              <a:avLst/>
            </a:prstGeom>
            <a:solidFill>
              <a:srgbClr val="BE384B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Arial Narrow"/>
                </a:rPr>
                <a:t>Hardware</a:t>
              </a:r>
              <a:r>
                <a:rPr lang="zh-CN" altLang="en-US" sz="1600" dirty="0">
                  <a:solidFill>
                    <a:schemeClr val="bg1"/>
                  </a:solidFill>
                  <a:cs typeface="Arial Narrow"/>
                </a:rPr>
                <a:t> </a:t>
              </a:r>
              <a:r>
                <a:rPr lang="en-US" altLang="zh-CN" sz="1600" dirty="0">
                  <a:solidFill>
                    <a:schemeClr val="bg1"/>
                  </a:solidFill>
                  <a:cs typeface="Arial Narrow"/>
                </a:rPr>
                <a:t>Virtualization</a:t>
              </a:r>
              <a:endParaRPr lang="en-US" sz="1600" dirty="0">
                <a:solidFill>
                  <a:schemeClr val="bg1"/>
                </a:solidFill>
                <a:cs typeface="Arial Narrow"/>
              </a:endParaRPr>
            </a:p>
          </p:txBody>
        </p:sp>
        <p:cxnSp>
          <p:nvCxnSpPr>
            <p:cNvPr id="27" name="直线箭头连接符 41">
              <a:extLst>
                <a:ext uri="{FF2B5EF4-FFF2-40B4-BE49-F238E27FC236}">
                  <a16:creationId xmlns:a16="http://schemas.microsoft.com/office/drawing/2014/main" id="{766C4779-FD30-9437-7C62-B3FE05F684D7}"/>
                </a:ext>
              </a:extLst>
            </p:cNvPr>
            <p:cNvCxnSpPr>
              <a:cxnSpLocks/>
            </p:cNvCxnSpPr>
            <p:nvPr/>
          </p:nvCxnSpPr>
          <p:spPr>
            <a:xfrm>
              <a:off x="3626399" y="4801716"/>
              <a:ext cx="0" cy="3600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207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CA1F9-B070-6243-90B9-D05189CD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QEMU/KVM</a:t>
            </a:r>
            <a:r>
              <a:rPr kumimoji="1" lang="zh-CN" altLang="en-US" dirty="0"/>
              <a:t>的流程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C809B9-663C-CE42-9563-0EFE412A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50CA32-0CC2-CC4C-BBF8-E396A2661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2331E0-5827-CC4E-B2C9-FB843B8E4BF1}"/>
              </a:ext>
            </a:extLst>
          </p:cNvPr>
          <p:cNvSpPr/>
          <p:nvPr/>
        </p:nvSpPr>
        <p:spPr>
          <a:xfrm>
            <a:off x="971600" y="1705372"/>
            <a:ext cx="1584176" cy="648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ioctl</a:t>
            </a:r>
            <a:endParaRPr kumimoji="1" lang="zh-CN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3C712A-B9A1-EE41-9A94-4017CDDE1562}"/>
              </a:ext>
            </a:extLst>
          </p:cNvPr>
          <p:cNvSpPr/>
          <p:nvPr/>
        </p:nvSpPr>
        <p:spPr>
          <a:xfrm>
            <a:off x="971600" y="4081636"/>
            <a:ext cx="1656184" cy="648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QEMU</a:t>
            </a:r>
          </a:p>
          <a:p>
            <a:pPr algn="ctr"/>
            <a:r>
              <a:rPr kumimoji="1" lang="en-US" altLang="zh-CN" sz="1400" dirty="0"/>
              <a:t>Exit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handler</a:t>
            </a:r>
            <a:endParaRPr kumimoji="1"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29BFFD-1ADC-6B4C-9EAE-5CECA9B2E84F}"/>
              </a:ext>
            </a:extLst>
          </p:cNvPr>
          <p:cNvSpPr/>
          <p:nvPr/>
        </p:nvSpPr>
        <p:spPr>
          <a:xfrm>
            <a:off x="3419872" y="2281436"/>
            <a:ext cx="1656184" cy="64807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rgbClr val="404040"/>
                </a:solidFill>
              </a:rPr>
              <a:t>KVM_VCPU_RUN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A8D7EF-DBDA-BF4A-AB80-7D83ACCA2557}"/>
              </a:ext>
            </a:extLst>
          </p:cNvPr>
          <p:cNvSpPr/>
          <p:nvPr/>
        </p:nvSpPr>
        <p:spPr>
          <a:xfrm>
            <a:off x="3419872" y="3433564"/>
            <a:ext cx="1656184" cy="64807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rgbClr val="404040"/>
                </a:solidFill>
              </a:rPr>
              <a:t>KVM</a:t>
            </a:r>
          </a:p>
          <a:p>
            <a:pPr algn="ctr"/>
            <a:r>
              <a:rPr kumimoji="1" lang="en-US" altLang="zh-CN" sz="1400" dirty="0">
                <a:solidFill>
                  <a:srgbClr val="404040"/>
                </a:solidFill>
              </a:rPr>
              <a:t>Exit</a:t>
            </a:r>
            <a:r>
              <a:rPr kumimoji="1" lang="zh-CN" altLang="en-US" sz="1400" dirty="0">
                <a:solidFill>
                  <a:srgbClr val="404040"/>
                </a:solidFill>
              </a:rPr>
              <a:t> </a:t>
            </a:r>
            <a:r>
              <a:rPr kumimoji="1" lang="en-US" altLang="zh-CN" sz="1400" dirty="0">
                <a:solidFill>
                  <a:srgbClr val="404040"/>
                </a:solidFill>
              </a:rPr>
              <a:t>handler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60BBB6-73A7-5E4B-8478-F670E9781440}"/>
              </a:ext>
            </a:extLst>
          </p:cNvPr>
          <p:cNvSpPr/>
          <p:nvPr/>
        </p:nvSpPr>
        <p:spPr>
          <a:xfrm>
            <a:off x="6156176" y="2785492"/>
            <a:ext cx="1656184" cy="6480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rgbClr val="404040"/>
                </a:solidFill>
              </a:rPr>
              <a:t>VM</a:t>
            </a:r>
          </a:p>
          <a:p>
            <a:pPr algn="ctr"/>
            <a:r>
              <a:rPr kumimoji="1" lang="en-US" altLang="zh-CN" sz="1400" dirty="0">
                <a:solidFill>
                  <a:srgbClr val="404040"/>
                </a:solidFill>
              </a:rPr>
              <a:t>Execution</a:t>
            </a:r>
          </a:p>
        </p:txBody>
      </p:sp>
      <p:cxnSp>
        <p:nvCxnSpPr>
          <p:cNvPr id="12" name="肘形连接符 11">
            <a:extLst>
              <a:ext uri="{FF2B5EF4-FFF2-40B4-BE49-F238E27FC236}">
                <a16:creationId xmlns:a16="http://schemas.microsoft.com/office/drawing/2014/main" id="{7AD0293F-F733-9642-9B47-AAC1B4E9E4C3}"/>
              </a:ext>
            </a:extLst>
          </p:cNvPr>
          <p:cNvCxnSpPr>
            <a:stCxn id="3" idx="3"/>
            <a:endCxn id="8" idx="0"/>
          </p:cNvCxnSpPr>
          <p:nvPr/>
        </p:nvCxnSpPr>
        <p:spPr>
          <a:xfrm>
            <a:off x="2555776" y="2029408"/>
            <a:ext cx="1692188" cy="25202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12">
            <a:extLst>
              <a:ext uri="{FF2B5EF4-FFF2-40B4-BE49-F238E27FC236}">
                <a16:creationId xmlns:a16="http://schemas.microsoft.com/office/drawing/2014/main" id="{E2439EE5-1EC4-8343-9808-B772991E844C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5076056" y="2605472"/>
            <a:ext cx="1080120" cy="504056"/>
          </a:xfrm>
          <a:prstGeom prst="bentConnector3">
            <a:avLst>
              <a:gd name="adj1" fmla="val 3139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>
            <a:extLst>
              <a:ext uri="{FF2B5EF4-FFF2-40B4-BE49-F238E27FC236}">
                <a16:creationId xmlns:a16="http://schemas.microsoft.com/office/drawing/2014/main" id="{607C1F1B-E22E-FE40-A633-EE0CD4426747}"/>
              </a:ext>
            </a:extLst>
          </p:cNvPr>
          <p:cNvCxnSpPr>
            <a:cxnSpLocks/>
            <a:stCxn id="10" idx="2"/>
            <a:endCxn id="9" idx="3"/>
          </p:cNvCxnSpPr>
          <p:nvPr/>
        </p:nvCxnSpPr>
        <p:spPr>
          <a:xfrm rot="5400000">
            <a:off x="5868144" y="2641476"/>
            <a:ext cx="324036" cy="190821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连接符 18">
            <a:extLst>
              <a:ext uri="{FF2B5EF4-FFF2-40B4-BE49-F238E27FC236}">
                <a16:creationId xmlns:a16="http://schemas.microsoft.com/office/drawing/2014/main" id="{83DDDB54-C6EF-7048-A676-434CDC9D28C0}"/>
              </a:ext>
            </a:extLst>
          </p:cNvPr>
          <p:cNvCxnSpPr>
            <a:cxnSpLocks/>
            <a:stCxn id="9" idx="1"/>
            <a:endCxn id="8" idx="1"/>
          </p:cNvCxnSpPr>
          <p:nvPr/>
        </p:nvCxnSpPr>
        <p:spPr>
          <a:xfrm rot="10800000">
            <a:off x="3419872" y="2605472"/>
            <a:ext cx="12700" cy="1152128"/>
          </a:xfrm>
          <a:prstGeom prst="bent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肘形连接符 21">
            <a:extLst>
              <a:ext uri="{FF2B5EF4-FFF2-40B4-BE49-F238E27FC236}">
                <a16:creationId xmlns:a16="http://schemas.microsoft.com/office/drawing/2014/main" id="{6A7942FD-8AEB-6541-9273-3CDC0F64D592}"/>
              </a:ext>
            </a:extLst>
          </p:cNvPr>
          <p:cNvCxnSpPr>
            <a:cxnSpLocks/>
            <a:stCxn id="9" idx="2"/>
            <a:endCxn id="7" idx="3"/>
          </p:cNvCxnSpPr>
          <p:nvPr/>
        </p:nvCxnSpPr>
        <p:spPr>
          <a:xfrm rot="5400000">
            <a:off x="3275856" y="3433564"/>
            <a:ext cx="324036" cy="1620180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>
            <a:extLst>
              <a:ext uri="{FF2B5EF4-FFF2-40B4-BE49-F238E27FC236}">
                <a16:creationId xmlns:a16="http://schemas.microsoft.com/office/drawing/2014/main" id="{092B6A78-F362-8E4D-A27B-4E6173DF1AA8}"/>
              </a:ext>
            </a:extLst>
          </p:cNvPr>
          <p:cNvCxnSpPr>
            <a:cxnSpLocks/>
            <a:stCxn id="7" idx="1"/>
            <a:endCxn id="3" idx="1"/>
          </p:cNvCxnSpPr>
          <p:nvPr/>
        </p:nvCxnSpPr>
        <p:spPr>
          <a:xfrm rot="10800000">
            <a:off x="971600" y="2029408"/>
            <a:ext cx="12700" cy="2376264"/>
          </a:xfrm>
          <a:prstGeom prst="bent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C339FE0D-F682-1A42-A9FC-6F52D41B2479}"/>
              </a:ext>
            </a:extLst>
          </p:cNvPr>
          <p:cNvSpPr txBox="1"/>
          <p:nvPr/>
        </p:nvSpPr>
        <p:spPr>
          <a:xfrm>
            <a:off x="5184000" y="228143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endParaRPr kumimoji="1"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E78F3F8-E32E-7047-BBBB-15EBD8F7D20B}"/>
              </a:ext>
            </a:extLst>
          </p:cNvPr>
          <p:cNvSpPr txBox="1"/>
          <p:nvPr/>
        </p:nvSpPr>
        <p:spPr>
          <a:xfrm>
            <a:off x="5184000" y="3865612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0D86516-A1E4-3D45-84DD-15C509C049DA}"/>
              </a:ext>
            </a:extLst>
          </p:cNvPr>
          <p:cNvSpPr txBox="1"/>
          <p:nvPr/>
        </p:nvSpPr>
        <p:spPr>
          <a:xfrm>
            <a:off x="2987824" y="170537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endParaRPr kumimoji="1"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9E20566-E7F0-3B49-8D78-811DEC01FD88}"/>
              </a:ext>
            </a:extLst>
          </p:cNvPr>
          <p:cNvSpPr txBox="1"/>
          <p:nvPr/>
        </p:nvSpPr>
        <p:spPr>
          <a:xfrm>
            <a:off x="3059832" y="451368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Return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user</a:t>
            </a:r>
            <a:endParaRPr kumimoji="1" lang="zh-CN" altLang="en-US" dirty="0"/>
          </a:p>
        </p:txBody>
      </p: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1A55BB45-FFAA-7740-9558-7FECBBFD35B9}"/>
              </a:ext>
            </a:extLst>
          </p:cNvPr>
          <p:cNvCxnSpPr>
            <a:cxnSpLocks/>
          </p:cNvCxnSpPr>
          <p:nvPr/>
        </p:nvCxnSpPr>
        <p:spPr>
          <a:xfrm>
            <a:off x="2915816" y="985292"/>
            <a:ext cx="0" cy="4176464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3357811B-B090-DC43-AE8C-27A0997A5BC6}"/>
              </a:ext>
            </a:extLst>
          </p:cNvPr>
          <p:cNvCxnSpPr>
            <a:cxnSpLocks/>
          </p:cNvCxnSpPr>
          <p:nvPr/>
        </p:nvCxnSpPr>
        <p:spPr>
          <a:xfrm>
            <a:off x="5652120" y="1057300"/>
            <a:ext cx="0" cy="4176464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98148BAB-CE09-AC43-8817-1C59B8B93B26}"/>
              </a:ext>
            </a:extLst>
          </p:cNvPr>
          <p:cNvCxnSpPr/>
          <p:nvPr/>
        </p:nvCxnSpPr>
        <p:spPr>
          <a:xfrm>
            <a:off x="2195736" y="1201316"/>
            <a:ext cx="720080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D44DE887-1B1B-F643-A690-1A3782EBD786}"/>
              </a:ext>
            </a:extLst>
          </p:cNvPr>
          <p:cNvCxnSpPr>
            <a:cxnSpLocks/>
          </p:cNvCxnSpPr>
          <p:nvPr/>
        </p:nvCxnSpPr>
        <p:spPr>
          <a:xfrm flipH="1">
            <a:off x="683568" y="1201316"/>
            <a:ext cx="728464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FA735F01-6343-F141-85C5-744CD6BBCAE8}"/>
              </a:ext>
            </a:extLst>
          </p:cNvPr>
          <p:cNvSpPr txBox="1"/>
          <p:nvPr/>
        </p:nvSpPr>
        <p:spPr>
          <a:xfrm>
            <a:off x="1368000" y="10080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QEMU</a:t>
            </a:r>
            <a:endParaRPr kumimoji="1" lang="zh-CN" altLang="en-US" dirty="0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ECB68EC9-B6BB-FA43-89E2-2F58473FB59F}"/>
              </a:ext>
            </a:extLst>
          </p:cNvPr>
          <p:cNvCxnSpPr>
            <a:cxnSpLocks/>
          </p:cNvCxnSpPr>
          <p:nvPr/>
        </p:nvCxnSpPr>
        <p:spPr>
          <a:xfrm>
            <a:off x="4572000" y="1201316"/>
            <a:ext cx="1008112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085C2AB8-757B-6D4D-BD54-E08EE1E61FDD}"/>
              </a:ext>
            </a:extLst>
          </p:cNvPr>
          <p:cNvCxnSpPr>
            <a:cxnSpLocks/>
          </p:cNvCxnSpPr>
          <p:nvPr/>
        </p:nvCxnSpPr>
        <p:spPr>
          <a:xfrm flipH="1">
            <a:off x="2987824" y="1201316"/>
            <a:ext cx="800472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E2351D05-89E6-0A43-AC88-0CB3AD6748E0}"/>
              </a:ext>
            </a:extLst>
          </p:cNvPr>
          <p:cNvSpPr txBox="1"/>
          <p:nvPr/>
        </p:nvSpPr>
        <p:spPr>
          <a:xfrm>
            <a:off x="3888000" y="100800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KVM</a:t>
            </a:r>
            <a:endParaRPr kumimoji="1" lang="zh-CN" altLang="en-US" dirty="0"/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0FE1BCE9-C974-6642-8994-F907F057DAE3}"/>
              </a:ext>
            </a:extLst>
          </p:cNvPr>
          <p:cNvCxnSpPr>
            <a:cxnSpLocks/>
          </p:cNvCxnSpPr>
          <p:nvPr/>
        </p:nvCxnSpPr>
        <p:spPr>
          <a:xfrm>
            <a:off x="6732240" y="1201316"/>
            <a:ext cx="1008112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8E5251E9-A8D4-404F-B440-B051C36DBF31}"/>
              </a:ext>
            </a:extLst>
          </p:cNvPr>
          <p:cNvCxnSpPr>
            <a:cxnSpLocks/>
          </p:cNvCxnSpPr>
          <p:nvPr/>
        </p:nvCxnSpPr>
        <p:spPr>
          <a:xfrm flipH="1">
            <a:off x="5652120" y="1201316"/>
            <a:ext cx="576064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A1F68F72-FB63-534A-9DE3-0ECC2896CE52}"/>
              </a:ext>
            </a:extLst>
          </p:cNvPr>
          <p:cNvSpPr txBox="1"/>
          <p:nvPr/>
        </p:nvSpPr>
        <p:spPr>
          <a:xfrm>
            <a:off x="6228000" y="100800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8823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例：</a:t>
            </a:r>
            <a:r>
              <a:rPr kumimoji="1" lang="en-US" altLang="zh-CN" dirty="0"/>
              <a:t>WFI</a:t>
            </a:r>
            <a:r>
              <a:rPr kumimoji="1" lang="zh-CN" altLang="en-US" dirty="0"/>
              <a:t>指令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的处理流程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CE0AA5-CA98-1741-8F2F-8FC03B649F7D}"/>
              </a:ext>
            </a:extLst>
          </p:cNvPr>
          <p:cNvSpPr/>
          <p:nvPr/>
        </p:nvSpPr>
        <p:spPr>
          <a:xfrm>
            <a:off x="982910" y="1633364"/>
            <a:ext cx="1665624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BE384B"/>
                </a:solidFill>
              </a:rPr>
              <a:t>VCPU</a:t>
            </a:r>
            <a:r>
              <a:rPr kumimoji="1" lang="zh-CN" altLang="en-US" dirty="0">
                <a:solidFill>
                  <a:srgbClr val="BE384B"/>
                </a:solidFill>
              </a:rPr>
              <a:t> </a:t>
            </a:r>
            <a:r>
              <a:rPr kumimoji="1" lang="en-US" altLang="zh-CN" dirty="0">
                <a:solidFill>
                  <a:srgbClr val="BE384B"/>
                </a:solidFill>
              </a:rPr>
              <a:t>1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23B7711A-C620-1D48-AA4E-5E967FD2BA33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>
            <a:off x="1782410" y="2497460"/>
            <a:ext cx="359" cy="100811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06A5300-F1BE-F847-B279-8B2FC6440AFA}"/>
              </a:ext>
            </a:extLst>
          </p:cNvPr>
          <p:cNvSpPr txBox="1"/>
          <p:nvPr/>
        </p:nvSpPr>
        <p:spPr>
          <a:xfrm>
            <a:off x="1835696" y="2785492"/>
            <a:ext cx="906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DB9534-F719-A44D-89AF-11E6F12139A2}"/>
              </a:ext>
            </a:extLst>
          </p:cNvPr>
          <p:cNvSpPr/>
          <p:nvPr/>
        </p:nvSpPr>
        <p:spPr>
          <a:xfrm>
            <a:off x="1382660" y="2209428"/>
            <a:ext cx="799500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WFI</a:t>
            </a:r>
            <a:endParaRPr kumimoji="1" lang="zh-CN" altLang="en-US" sz="12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00CE4A-87BE-2743-9E7C-B31198768F1F}"/>
              </a:ext>
            </a:extLst>
          </p:cNvPr>
          <p:cNvSpPr/>
          <p:nvPr/>
        </p:nvSpPr>
        <p:spPr>
          <a:xfrm>
            <a:off x="982910" y="3289548"/>
            <a:ext cx="366437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r"/>
            <a:r>
              <a:rPr kumimoji="1" lang="en-US" altLang="zh-CN" dirty="0">
                <a:solidFill>
                  <a:srgbClr val="BE384B"/>
                </a:solidFill>
              </a:rPr>
              <a:t>KVM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A25FB28-BFD1-4543-92BD-A66FBD493521}"/>
              </a:ext>
            </a:extLst>
          </p:cNvPr>
          <p:cNvSpPr/>
          <p:nvPr/>
        </p:nvSpPr>
        <p:spPr>
          <a:xfrm>
            <a:off x="1149832" y="3505572"/>
            <a:ext cx="1265875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保存</a:t>
            </a:r>
            <a:endParaRPr kumimoji="1" lang="en-US" altLang="zh-CN" sz="1600" dirty="0"/>
          </a:p>
          <a:p>
            <a:pPr algn="ctr"/>
            <a:r>
              <a:rPr kumimoji="1" lang="en-US" altLang="zh-CN" sz="1600" dirty="0"/>
              <a:t>VCPU</a:t>
            </a:r>
            <a:r>
              <a:rPr kumimoji="1" lang="zh-CN" altLang="en-US" sz="1600" dirty="0"/>
              <a:t>状态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AC8ACC9-314D-4A4D-BF24-BA0ADE7207B7}"/>
              </a:ext>
            </a:extLst>
          </p:cNvPr>
          <p:cNvSpPr/>
          <p:nvPr/>
        </p:nvSpPr>
        <p:spPr>
          <a:xfrm>
            <a:off x="3181535" y="3505572"/>
            <a:ext cx="1365453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handle_wfx</a:t>
            </a:r>
            <a:endParaRPr kumimoji="1" lang="en-US" altLang="zh-CN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C150C70F-468F-AD4F-A587-2C512F087185}"/>
              </a:ext>
            </a:extLst>
          </p:cNvPr>
          <p:cNvCxnSpPr>
            <a:cxnSpLocks/>
          </p:cNvCxnSpPr>
          <p:nvPr/>
        </p:nvCxnSpPr>
        <p:spPr>
          <a:xfrm>
            <a:off x="2448660" y="3793604"/>
            <a:ext cx="73287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1E960ECB-18CC-964E-96C6-774898D0F9C1}"/>
              </a:ext>
            </a:extLst>
          </p:cNvPr>
          <p:cNvSpPr/>
          <p:nvPr/>
        </p:nvSpPr>
        <p:spPr>
          <a:xfrm>
            <a:off x="4847159" y="3289548"/>
            <a:ext cx="2131999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r"/>
            <a:r>
              <a:rPr kumimoji="1" lang="en-US" altLang="zh-CN" dirty="0">
                <a:solidFill>
                  <a:srgbClr val="BE384B"/>
                </a:solidFill>
              </a:rPr>
              <a:t>Linux</a:t>
            </a:r>
            <a:r>
              <a:rPr kumimoji="1" lang="zh-CN" altLang="en-US" dirty="0">
                <a:solidFill>
                  <a:srgbClr val="BE384B"/>
                </a:solidFill>
              </a:rPr>
              <a:t> </a:t>
            </a:r>
            <a:r>
              <a:rPr kumimoji="1" lang="en-US" altLang="zh-CN" dirty="0">
                <a:solidFill>
                  <a:srgbClr val="BE384B"/>
                </a:solidFill>
              </a:rPr>
              <a:t>Kernel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D4D167C-4AE6-CE4E-8652-7DFBA3A492D2}"/>
              </a:ext>
            </a:extLst>
          </p:cNvPr>
          <p:cNvSpPr/>
          <p:nvPr/>
        </p:nvSpPr>
        <p:spPr>
          <a:xfrm>
            <a:off x="5246909" y="3505572"/>
            <a:ext cx="1365453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reschedule</a:t>
            </a: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86B1FE98-87AB-2449-B003-7047A9010444}"/>
              </a:ext>
            </a:extLst>
          </p:cNvPr>
          <p:cNvCxnSpPr>
            <a:cxnSpLocks/>
          </p:cNvCxnSpPr>
          <p:nvPr/>
        </p:nvCxnSpPr>
        <p:spPr>
          <a:xfrm>
            <a:off x="4514034" y="3793604"/>
            <a:ext cx="73287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118F5CEF-F8DD-A641-881D-E3BFFD5CFEC6}"/>
              </a:ext>
            </a:extLst>
          </p:cNvPr>
          <p:cNvSpPr/>
          <p:nvPr/>
        </p:nvSpPr>
        <p:spPr>
          <a:xfrm>
            <a:off x="7179033" y="3289548"/>
            <a:ext cx="153237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r"/>
            <a:r>
              <a:rPr kumimoji="1" lang="en-US" altLang="zh-CN" dirty="0">
                <a:solidFill>
                  <a:srgbClr val="BE384B"/>
                </a:solidFill>
              </a:rPr>
              <a:t>KVM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0010CA4-84B5-1840-A48F-0D2193570653}"/>
              </a:ext>
            </a:extLst>
          </p:cNvPr>
          <p:cNvSpPr/>
          <p:nvPr/>
        </p:nvSpPr>
        <p:spPr>
          <a:xfrm>
            <a:off x="7312283" y="3433564"/>
            <a:ext cx="1265875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恢复</a:t>
            </a:r>
            <a:endParaRPr kumimoji="1" lang="en-US" altLang="zh-CN" sz="1600" dirty="0"/>
          </a:p>
          <a:p>
            <a:pPr algn="ctr"/>
            <a:r>
              <a:rPr kumimoji="1" lang="en-US" altLang="zh-CN" sz="1600" dirty="0"/>
              <a:t>VCPU</a:t>
            </a:r>
            <a:r>
              <a:rPr kumimoji="1" lang="zh-CN" altLang="en-US" sz="1600" dirty="0"/>
              <a:t>状态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4113D68F-110D-F847-A0E4-DEE3A4A32436}"/>
              </a:ext>
            </a:extLst>
          </p:cNvPr>
          <p:cNvCxnSpPr>
            <a:cxnSpLocks/>
          </p:cNvCxnSpPr>
          <p:nvPr/>
        </p:nvCxnSpPr>
        <p:spPr>
          <a:xfrm>
            <a:off x="6579408" y="3793604"/>
            <a:ext cx="73287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B02A2B2D-0DE3-9647-9A31-C2966793C51D}"/>
              </a:ext>
            </a:extLst>
          </p:cNvPr>
          <p:cNvSpPr/>
          <p:nvPr/>
        </p:nvSpPr>
        <p:spPr>
          <a:xfrm>
            <a:off x="7045783" y="1705372"/>
            <a:ext cx="1665624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BE384B"/>
                </a:solidFill>
              </a:rPr>
              <a:t>VCPU</a:t>
            </a:r>
            <a:r>
              <a:rPr kumimoji="1" lang="zh-CN" altLang="en-US" dirty="0">
                <a:solidFill>
                  <a:srgbClr val="BE384B"/>
                </a:solidFill>
              </a:rPr>
              <a:t> </a:t>
            </a:r>
            <a:r>
              <a:rPr kumimoji="1" lang="en-US" altLang="zh-CN" dirty="0">
                <a:solidFill>
                  <a:srgbClr val="BE384B"/>
                </a:solidFill>
              </a:rPr>
              <a:t>2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91B87027-58F1-CB47-A994-449517836096}"/>
              </a:ext>
            </a:extLst>
          </p:cNvPr>
          <p:cNvCxnSpPr>
            <a:cxnSpLocks/>
          </p:cNvCxnSpPr>
          <p:nvPr/>
        </p:nvCxnSpPr>
        <p:spPr>
          <a:xfrm>
            <a:off x="7911908" y="2209428"/>
            <a:ext cx="0" cy="1152128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F366FF41-5679-9945-852D-3D7F40ACC385}"/>
              </a:ext>
            </a:extLst>
          </p:cNvPr>
          <p:cNvSpPr txBox="1"/>
          <p:nvPr/>
        </p:nvSpPr>
        <p:spPr>
          <a:xfrm>
            <a:off x="7911908" y="2713484"/>
            <a:ext cx="104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endParaRPr kumimoji="1" lang="zh-CN" altLang="en-US" dirty="0"/>
          </a:p>
        </p:txBody>
      </p: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09C4B836-45CA-C64A-B3D7-D2B4312CCCAD}"/>
              </a:ext>
            </a:extLst>
          </p:cNvPr>
          <p:cNvCxnSpPr/>
          <p:nvPr/>
        </p:nvCxnSpPr>
        <p:spPr>
          <a:xfrm>
            <a:off x="683568" y="2641476"/>
            <a:ext cx="8460432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C062021-0190-C14A-9CC9-B6D2606A8425}"/>
              </a:ext>
            </a:extLst>
          </p:cNvPr>
          <p:cNvSpPr txBox="1"/>
          <p:nvPr/>
        </p:nvSpPr>
        <p:spPr>
          <a:xfrm>
            <a:off x="0" y="170537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EL0&amp;1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80313D7-DE95-8F4D-88B1-BD5A0B3DFE6B}"/>
              </a:ext>
            </a:extLst>
          </p:cNvPr>
          <p:cNvSpPr txBox="1"/>
          <p:nvPr/>
        </p:nvSpPr>
        <p:spPr>
          <a:xfrm>
            <a:off x="107504" y="3505572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120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3" grpId="0" animBg="1"/>
      <p:bldP spid="17" grpId="0" animBg="1"/>
      <p:bldP spid="22" grpId="0" animBg="1"/>
      <p:bldP spid="25" grpId="0" animBg="1"/>
      <p:bldP spid="26" grpId="0" animBg="1"/>
      <p:bldP spid="29" grpId="0" animBg="1"/>
      <p:bldP spid="30" grpId="0" animBg="1"/>
      <p:bldP spid="32" grpId="0" animBg="1"/>
      <p:bldP spid="3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例：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指令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的处理流程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CE0AA5-CA98-1741-8F2F-8FC03B649F7D}"/>
              </a:ext>
            </a:extLst>
          </p:cNvPr>
          <p:cNvSpPr/>
          <p:nvPr/>
        </p:nvSpPr>
        <p:spPr>
          <a:xfrm>
            <a:off x="2195736" y="1345332"/>
            <a:ext cx="1800200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BE384B"/>
                </a:solidFill>
              </a:rPr>
              <a:t>VCPU</a:t>
            </a:r>
            <a:r>
              <a:rPr kumimoji="1" lang="zh-CN" altLang="en-US" dirty="0">
                <a:solidFill>
                  <a:srgbClr val="BE384B"/>
                </a:solidFill>
              </a:rPr>
              <a:t> </a:t>
            </a:r>
            <a:r>
              <a:rPr kumimoji="1" lang="en-US" altLang="zh-CN" dirty="0">
                <a:solidFill>
                  <a:srgbClr val="BE384B"/>
                </a:solidFill>
              </a:rPr>
              <a:t>1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23B7711A-C620-1D48-AA4E-5E967FD2BA33}"/>
              </a:ext>
            </a:extLst>
          </p:cNvPr>
          <p:cNvCxnSpPr>
            <a:cxnSpLocks/>
          </p:cNvCxnSpPr>
          <p:nvPr/>
        </p:nvCxnSpPr>
        <p:spPr>
          <a:xfrm>
            <a:off x="2843808" y="2209428"/>
            <a:ext cx="0" cy="100811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06A5300-F1BE-F847-B279-8B2FC6440AFA}"/>
              </a:ext>
            </a:extLst>
          </p:cNvPr>
          <p:cNvSpPr txBox="1"/>
          <p:nvPr/>
        </p:nvSpPr>
        <p:spPr>
          <a:xfrm>
            <a:off x="1872208" y="2641476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DB9534-F719-A44D-89AF-11E6F12139A2}"/>
              </a:ext>
            </a:extLst>
          </p:cNvPr>
          <p:cNvSpPr/>
          <p:nvPr/>
        </p:nvSpPr>
        <p:spPr>
          <a:xfrm>
            <a:off x="2411760" y="1921396"/>
            <a:ext cx="648072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MMIO</a:t>
            </a:r>
            <a:endParaRPr kumimoji="1" lang="zh-CN" altLang="en-US" sz="12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00CE4A-87BE-2743-9E7C-B31198768F1F}"/>
              </a:ext>
            </a:extLst>
          </p:cNvPr>
          <p:cNvSpPr/>
          <p:nvPr/>
        </p:nvSpPr>
        <p:spPr>
          <a:xfrm>
            <a:off x="2195736" y="3001516"/>
            <a:ext cx="1872208" cy="21602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r"/>
            <a:r>
              <a:rPr kumimoji="1" lang="en-US" altLang="zh-CN" dirty="0">
                <a:solidFill>
                  <a:srgbClr val="BE384B"/>
                </a:solidFill>
              </a:rPr>
              <a:t>KVM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A25FB28-BFD1-4543-92BD-A66FBD493521}"/>
              </a:ext>
            </a:extLst>
          </p:cNvPr>
          <p:cNvSpPr/>
          <p:nvPr/>
        </p:nvSpPr>
        <p:spPr>
          <a:xfrm>
            <a:off x="2376144" y="3217540"/>
            <a:ext cx="1368152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保存</a:t>
            </a:r>
            <a:r>
              <a:rPr kumimoji="1" lang="en-US" altLang="zh-CN" dirty="0"/>
              <a:t>/</a:t>
            </a:r>
            <a:r>
              <a:rPr kumimoji="1" lang="zh-CN" altLang="en-US" dirty="0"/>
              <a:t>恢复</a:t>
            </a:r>
            <a:endParaRPr kumimoji="1" lang="en-US" altLang="zh-CN" dirty="0"/>
          </a:p>
          <a:p>
            <a:pPr algn="ctr"/>
            <a:r>
              <a:rPr kumimoji="1" lang="en-US" altLang="zh-CN" dirty="0"/>
              <a:t>VCPU</a:t>
            </a:r>
            <a:r>
              <a:rPr kumimoji="1" lang="zh-CN" altLang="en-US" dirty="0"/>
              <a:t>状态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AC8ACC9-314D-4A4D-BF24-BA0ADE7207B7}"/>
              </a:ext>
            </a:extLst>
          </p:cNvPr>
          <p:cNvSpPr/>
          <p:nvPr/>
        </p:nvSpPr>
        <p:spPr>
          <a:xfrm>
            <a:off x="2376208" y="4166765"/>
            <a:ext cx="1368152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handle_io</a:t>
            </a:r>
            <a:endParaRPr kumimoji="1" lang="en-US" altLang="zh-CN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C150C70F-468F-AD4F-A587-2C512F087185}"/>
              </a:ext>
            </a:extLst>
          </p:cNvPr>
          <p:cNvCxnSpPr>
            <a:cxnSpLocks/>
            <a:stCxn id="17" idx="2"/>
            <a:endCxn id="22" idx="0"/>
          </p:cNvCxnSpPr>
          <p:nvPr/>
        </p:nvCxnSpPr>
        <p:spPr>
          <a:xfrm>
            <a:off x="3060220" y="3793604"/>
            <a:ext cx="64" cy="37316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1E960ECB-18CC-964E-96C6-774898D0F9C1}"/>
              </a:ext>
            </a:extLst>
          </p:cNvPr>
          <p:cNvSpPr/>
          <p:nvPr/>
        </p:nvSpPr>
        <p:spPr>
          <a:xfrm>
            <a:off x="5004048" y="1273324"/>
            <a:ext cx="2304256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algn="r"/>
            <a:r>
              <a:rPr kumimoji="1" lang="en-US" altLang="zh-CN" dirty="0">
                <a:solidFill>
                  <a:srgbClr val="BE384B"/>
                </a:solidFill>
              </a:rPr>
              <a:t>QEMU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D4D167C-4AE6-CE4E-8652-7DFBA3A492D2}"/>
              </a:ext>
            </a:extLst>
          </p:cNvPr>
          <p:cNvSpPr/>
          <p:nvPr/>
        </p:nvSpPr>
        <p:spPr>
          <a:xfrm>
            <a:off x="5508104" y="1489348"/>
            <a:ext cx="1475776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处理</a:t>
            </a:r>
            <a:r>
              <a:rPr kumimoji="1" lang="en-US" altLang="zh-CN" dirty="0"/>
              <a:t>IO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366FF41-5679-9945-852D-3D7F40ACC385}"/>
              </a:ext>
            </a:extLst>
          </p:cNvPr>
          <p:cNvSpPr txBox="1"/>
          <p:nvPr/>
        </p:nvSpPr>
        <p:spPr>
          <a:xfrm>
            <a:off x="3203848" y="264147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endParaRPr kumimoji="1" lang="zh-CN" altLang="en-US" dirty="0"/>
          </a:p>
        </p:txBody>
      </p:sp>
      <p:cxnSp>
        <p:nvCxnSpPr>
          <p:cNvPr id="19" name="肘形连接符 18">
            <a:extLst>
              <a:ext uri="{FF2B5EF4-FFF2-40B4-BE49-F238E27FC236}">
                <a16:creationId xmlns:a16="http://schemas.microsoft.com/office/drawing/2014/main" id="{997CACC6-1B46-B847-8FC1-E7F7E0D25B98}"/>
              </a:ext>
            </a:extLst>
          </p:cNvPr>
          <p:cNvCxnSpPr>
            <a:cxnSpLocks/>
            <a:stCxn id="22" idx="3"/>
            <a:endCxn id="26" idx="3"/>
          </p:cNvCxnSpPr>
          <p:nvPr/>
        </p:nvCxnSpPr>
        <p:spPr>
          <a:xfrm flipV="1">
            <a:off x="3744360" y="1777380"/>
            <a:ext cx="3239520" cy="2677417"/>
          </a:xfrm>
          <a:prstGeom prst="bentConnector3">
            <a:avLst>
              <a:gd name="adj1" fmla="val 107057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71F9722A-3E5E-8C45-927D-B75FB08CD623}"/>
              </a:ext>
            </a:extLst>
          </p:cNvPr>
          <p:cNvCxnSpPr>
            <a:cxnSpLocks/>
          </p:cNvCxnSpPr>
          <p:nvPr/>
        </p:nvCxnSpPr>
        <p:spPr>
          <a:xfrm>
            <a:off x="1259632" y="2641476"/>
            <a:ext cx="6696744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连接符 35">
            <a:extLst>
              <a:ext uri="{FF2B5EF4-FFF2-40B4-BE49-F238E27FC236}">
                <a16:creationId xmlns:a16="http://schemas.microsoft.com/office/drawing/2014/main" id="{B8991A87-BD50-FF44-840A-9984591E6915}"/>
              </a:ext>
            </a:extLst>
          </p:cNvPr>
          <p:cNvCxnSpPr>
            <a:cxnSpLocks/>
            <a:stCxn id="26" idx="1"/>
            <a:endCxn id="17" idx="3"/>
          </p:cNvCxnSpPr>
          <p:nvPr/>
        </p:nvCxnSpPr>
        <p:spPr>
          <a:xfrm rot="10800000" flipV="1">
            <a:off x="3744296" y="1777380"/>
            <a:ext cx="1763808" cy="172819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AEE96793-4F9F-9948-95B4-1C062F6AE842}"/>
              </a:ext>
            </a:extLst>
          </p:cNvPr>
          <p:cNvCxnSpPr>
            <a:cxnSpLocks/>
          </p:cNvCxnSpPr>
          <p:nvPr/>
        </p:nvCxnSpPr>
        <p:spPr>
          <a:xfrm>
            <a:off x="3203848" y="1849388"/>
            <a:ext cx="0" cy="1368152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2EE0001D-4C98-3C45-AE07-FB112C6319F0}"/>
              </a:ext>
            </a:extLst>
          </p:cNvPr>
          <p:cNvSpPr txBox="1"/>
          <p:nvPr/>
        </p:nvSpPr>
        <p:spPr>
          <a:xfrm>
            <a:off x="1152128" y="17773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EL0&amp;1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E0EDE41-36FB-0D4A-BB84-DD79F8B5B8EB}"/>
              </a:ext>
            </a:extLst>
          </p:cNvPr>
          <p:cNvSpPr txBox="1"/>
          <p:nvPr/>
        </p:nvSpPr>
        <p:spPr>
          <a:xfrm>
            <a:off x="1259632" y="357758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811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3" grpId="0" animBg="1"/>
      <p:bldP spid="17" grpId="0" animBg="1"/>
      <p:bldP spid="22" grpId="0" animBg="1"/>
      <p:bldP spid="25" grpId="0" animBg="1"/>
      <p:bldP spid="26" grpId="0" animBg="1"/>
      <p:bldP spid="3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</a:t>
            </a:r>
            <a:r>
              <a:rPr kumimoji="1" lang="zh-CN" altLang="en-US" b="1" dirty="0"/>
              <a:t>虚拟化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Virtualization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320270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E7F60-9B62-7445-9D2D-2EF7CAA69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为什么需要内存虚拟化</a:t>
            </a:r>
            <a:r>
              <a:rPr kumimoji="1" lang="en-US" altLang="zh-CN" dirty="0"/>
              <a:t>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643B9F-9D8F-2642-8B7F-FE7DD94BD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操作系统内核直接管理物理内存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物理地址从</a:t>
            </a:r>
            <a:r>
              <a:rPr kumimoji="1" lang="en-US" altLang="zh-CN" sz="1800" dirty="0"/>
              <a:t>0</a:t>
            </a:r>
            <a:r>
              <a:rPr kumimoji="1" lang="zh-CN" altLang="en-US" sz="1800" dirty="0"/>
              <a:t>开始连续增长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向上层进程提供虚拟内存的抽象</a:t>
            </a:r>
            <a:endParaRPr kumimoji="1" lang="en-US" altLang="zh-CN" sz="1800" dirty="0"/>
          </a:p>
          <a:p>
            <a:r>
              <a:rPr kumimoji="1" lang="zh-CN" altLang="en-US" sz="2000" dirty="0"/>
              <a:t>如果</a:t>
            </a:r>
            <a:r>
              <a:rPr kumimoji="1" lang="en-US" altLang="zh-CN" sz="2000" dirty="0"/>
              <a:t>VM</a:t>
            </a:r>
            <a:r>
              <a:rPr kumimoji="1" lang="zh-CN" altLang="en-US" sz="2000" dirty="0"/>
              <a:t>使用的是真实物理地址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A898D7-CDA9-CD44-92BD-2291D9FDC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AD7939-81F3-DF4F-AD4E-69B72F1632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6" name="Rectangle 24">
            <a:extLst>
              <a:ext uri="{FF2B5EF4-FFF2-40B4-BE49-F238E27FC236}">
                <a16:creationId xmlns:a16="http://schemas.microsoft.com/office/drawing/2014/main" id="{3E64C4DD-090B-C346-BE35-5942885564F7}"/>
              </a:ext>
            </a:extLst>
          </p:cNvPr>
          <p:cNvSpPr/>
          <p:nvPr/>
        </p:nvSpPr>
        <p:spPr>
          <a:xfrm>
            <a:off x="1115616" y="4801716"/>
            <a:ext cx="6336704" cy="38546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47" name="Rectangle 27">
            <a:extLst>
              <a:ext uri="{FF2B5EF4-FFF2-40B4-BE49-F238E27FC236}">
                <a16:creationId xmlns:a16="http://schemas.microsoft.com/office/drawing/2014/main" id="{1AB40DE7-AB61-A64C-BE83-9029A602FF37}"/>
              </a:ext>
            </a:extLst>
          </p:cNvPr>
          <p:cNvSpPr/>
          <p:nvPr/>
        </p:nvSpPr>
        <p:spPr>
          <a:xfrm>
            <a:off x="1187624" y="3865612"/>
            <a:ext cx="1800200" cy="462028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Kernel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48" name="Straight Connector 13">
            <a:extLst>
              <a:ext uri="{FF2B5EF4-FFF2-40B4-BE49-F238E27FC236}">
                <a16:creationId xmlns:a16="http://schemas.microsoft.com/office/drawing/2014/main" id="{282DCD65-96D9-AD44-A344-3FC5C3DA90C3}"/>
              </a:ext>
            </a:extLst>
          </p:cNvPr>
          <p:cNvCxnSpPr>
            <a:cxnSpLocks/>
          </p:cNvCxnSpPr>
          <p:nvPr/>
        </p:nvCxnSpPr>
        <p:spPr>
          <a:xfrm>
            <a:off x="971600" y="4657700"/>
            <a:ext cx="6552728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27">
            <a:extLst>
              <a:ext uri="{FF2B5EF4-FFF2-40B4-BE49-F238E27FC236}">
                <a16:creationId xmlns:a16="http://schemas.microsoft.com/office/drawing/2014/main" id="{0B66DD2C-0B4C-0745-A25D-756691BC4543}"/>
              </a:ext>
            </a:extLst>
          </p:cNvPr>
          <p:cNvSpPr/>
          <p:nvPr/>
        </p:nvSpPr>
        <p:spPr>
          <a:xfrm>
            <a:off x="1187624" y="3433564"/>
            <a:ext cx="79801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50" name="Rectangle 27">
            <a:extLst>
              <a:ext uri="{FF2B5EF4-FFF2-40B4-BE49-F238E27FC236}">
                <a16:creationId xmlns:a16="http://schemas.microsoft.com/office/drawing/2014/main" id="{50B7244C-B0C3-1546-A1A6-9008E6F210DC}"/>
              </a:ext>
            </a:extLst>
          </p:cNvPr>
          <p:cNvSpPr/>
          <p:nvPr/>
        </p:nvSpPr>
        <p:spPr>
          <a:xfrm>
            <a:off x="2195736" y="3433564"/>
            <a:ext cx="79801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6A38F49-0565-494B-835B-5046131DBF22}"/>
              </a:ext>
            </a:extLst>
          </p:cNvPr>
          <p:cNvSpPr/>
          <p:nvPr/>
        </p:nvSpPr>
        <p:spPr>
          <a:xfrm>
            <a:off x="1115616" y="3217540"/>
            <a:ext cx="1944216" cy="1224136"/>
          </a:xfrm>
          <a:prstGeom prst="rect">
            <a:avLst/>
          </a:prstGeom>
          <a:noFill/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D9453A05-9553-F142-B5A7-0D308AB48855}"/>
              </a:ext>
            </a:extLst>
          </p:cNvPr>
          <p:cNvSpPr txBox="1"/>
          <p:nvPr/>
        </p:nvSpPr>
        <p:spPr>
          <a:xfrm>
            <a:off x="1835696" y="3217540"/>
            <a:ext cx="5517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VM-1</a:t>
            </a:r>
            <a:endParaRPr kumimoji="1" lang="zh-CN" altLang="en-US" sz="1200" dirty="0"/>
          </a:p>
        </p:txBody>
      </p:sp>
      <p:sp>
        <p:nvSpPr>
          <p:cNvPr id="78" name="Rectangle 27">
            <a:extLst>
              <a:ext uri="{FF2B5EF4-FFF2-40B4-BE49-F238E27FC236}">
                <a16:creationId xmlns:a16="http://schemas.microsoft.com/office/drawing/2014/main" id="{4DD7D1ED-B4A4-EF44-A1B6-CDE4DBB22AB8}"/>
              </a:ext>
            </a:extLst>
          </p:cNvPr>
          <p:cNvSpPr/>
          <p:nvPr/>
        </p:nvSpPr>
        <p:spPr>
          <a:xfrm>
            <a:off x="3347864" y="3865612"/>
            <a:ext cx="1800200" cy="462028"/>
          </a:xfrm>
          <a:prstGeom prst="rect">
            <a:avLst/>
          </a:prstGeom>
          <a:solidFill>
            <a:srgbClr val="9BBC59"/>
          </a:solidFill>
          <a:ln>
            <a:solidFill>
              <a:srgbClr val="9BB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Kernel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79" name="Rectangle 27">
            <a:extLst>
              <a:ext uri="{FF2B5EF4-FFF2-40B4-BE49-F238E27FC236}">
                <a16:creationId xmlns:a16="http://schemas.microsoft.com/office/drawing/2014/main" id="{874E1D58-86E3-EB4F-85AB-449F5B553135}"/>
              </a:ext>
            </a:extLst>
          </p:cNvPr>
          <p:cNvSpPr/>
          <p:nvPr/>
        </p:nvSpPr>
        <p:spPr>
          <a:xfrm>
            <a:off x="3347864" y="3433564"/>
            <a:ext cx="798014" cy="321946"/>
          </a:xfrm>
          <a:prstGeom prst="rect">
            <a:avLst/>
          </a:prstGeom>
          <a:noFill/>
          <a:ln>
            <a:solidFill>
              <a:srgbClr val="9BB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80" name="Rectangle 27">
            <a:extLst>
              <a:ext uri="{FF2B5EF4-FFF2-40B4-BE49-F238E27FC236}">
                <a16:creationId xmlns:a16="http://schemas.microsoft.com/office/drawing/2014/main" id="{795F6E4C-4F8B-9A42-BDA8-B2D3612BC7FC}"/>
              </a:ext>
            </a:extLst>
          </p:cNvPr>
          <p:cNvSpPr/>
          <p:nvPr/>
        </p:nvSpPr>
        <p:spPr>
          <a:xfrm>
            <a:off x="4355976" y="3433564"/>
            <a:ext cx="798014" cy="321946"/>
          </a:xfrm>
          <a:prstGeom prst="rect">
            <a:avLst/>
          </a:prstGeom>
          <a:noFill/>
          <a:ln>
            <a:solidFill>
              <a:srgbClr val="9BB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FD0B344-A9EF-5F49-A31F-70C8050A9C21}"/>
              </a:ext>
            </a:extLst>
          </p:cNvPr>
          <p:cNvSpPr/>
          <p:nvPr/>
        </p:nvSpPr>
        <p:spPr>
          <a:xfrm>
            <a:off x="3275856" y="3217540"/>
            <a:ext cx="1944216" cy="1224136"/>
          </a:xfrm>
          <a:prstGeom prst="rect">
            <a:avLst/>
          </a:prstGeom>
          <a:noFill/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758C4B3C-653B-2A4B-A5B3-11A83189C89A}"/>
              </a:ext>
            </a:extLst>
          </p:cNvPr>
          <p:cNvSpPr txBox="1"/>
          <p:nvPr/>
        </p:nvSpPr>
        <p:spPr>
          <a:xfrm>
            <a:off x="3995936" y="3217540"/>
            <a:ext cx="5517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VM-2</a:t>
            </a:r>
            <a:endParaRPr kumimoji="1" lang="zh-CN" altLang="en-US" sz="1200" dirty="0"/>
          </a:p>
        </p:txBody>
      </p:sp>
      <p:sp>
        <p:nvSpPr>
          <p:cNvPr id="83" name="Rectangle 27">
            <a:extLst>
              <a:ext uri="{FF2B5EF4-FFF2-40B4-BE49-F238E27FC236}">
                <a16:creationId xmlns:a16="http://schemas.microsoft.com/office/drawing/2014/main" id="{F7ED1A10-1C8A-9341-B6D4-8CD789FFC8FA}"/>
              </a:ext>
            </a:extLst>
          </p:cNvPr>
          <p:cNvSpPr/>
          <p:nvPr/>
        </p:nvSpPr>
        <p:spPr>
          <a:xfrm>
            <a:off x="5508104" y="3865612"/>
            <a:ext cx="1800200" cy="462028"/>
          </a:xfrm>
          <a:prstGeom prst="rect">
            <a:avLst/>
          </a:prstGeom>
          <a:solidFill>
            <a:srgbClr val="558ED6"/>
          </a:solidFill>
          <a:ln>
            <a:solidFill>
              <a:srgbClr val="558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Kernel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84" name="Rectangle 27">
            <a:extLst>
              <a:ext uri="{FF2B5EF4-FFF2-40B4-BE49-F238E27FC236}">
                <a16:creationId xmlns:a16="http://schemas.microsoft.com/office/drawing/2014/main" id="{58B2BEBD-F2FA-1249-9D93-76F4F740D22F}"/>
              </a:ext>
            </a:extLst>
          </p:cNvPr>
          <p:cNvSpPr/>
          <p:nvPr/>
        </p:nvSpPr>
        <p:spPr>
          <a:xfrm>
            <a:off x="5508104" y="3433564"/>
            <a:ext cx="798014" cy="321946"/>
          </a:xfrm>
          <a:prstGeom prst="rect">
            <a:avLst/>
          </a:prstGeom>
          <a:noFill/>
          <a:ln>
            <a:solidFill>
              <a:srgbClr val="558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85" name="Rectangle 27">
            <a:extLst>
              <a:ext uri="{FF2B5EF4-FFF2-40B4-BE49-F238E27FC236}">
                <a16:creationId xmlns:a16="http://schemas.microsoft.com/office/drawing/2014/main" id="{77B675FB-1995-B340-92E5-B68D3833DECD}"/>
              </a:ext>
            </a:extLst>
          </p:cNvPr>
          <p:cNvSpPr/>
          <p:nvPr/>
        </p:nvSpPr>
        <p:spPr>
          <a:xfrm>
            <a:off x="6516216" y="3433564"/>
            <a:ext cx="798014" cy="321946"/>
          </a:xfrm>
          <a:prstGeom prst="rect">
            <a:avLst/>
          </a:prstGeom>
          <a:noFill/>
          <a:ln>
            <a:solidFill>
              <a:srgbClr val="558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B310716C-6245-8E4D-8EEB-5181C4B931C2}"/>
              </a:ext>
            </a:extLst>
          </p:cNvPr>
          <p:cNvSpPr/>
          <p:nvPr/>
        </p:nvSpPr>
        <p:spPr>
          <a:xfrm>
            <a:off x="5436096" y="3217540"/>
            <a:ext cx="1944216" cy="1224136"/>
          </a:xfrm>
          <a:prstGeom prst="rect">
            <a:avLst/>
          </a:prstGeom>
          <a:noFill/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8A9549DF-ADDB-694A-86C4-EBF2BAB32AB4}"/>
              </a:ext>
            </a:extLst>
          </p:cNvPr>
          <p:cNvSpPr txBox="1"/>
          <p:nvPr/>
        </p:nvSpPr>
        <p:spPr>
          <a:xfrm>
            <a:off x="6156176" y="3217540"/>
            <a:ext cx="5774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VM-N</a:t>
            </a:r>
            <a:endParaRPr kumimoji="1" lang="zh-CN" altLang="en-US" sz="1200" dirty="0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D52FE2E6-F4A4-884A-9D1A-8F265FC0CD2C}"/>
              </a:ext>
            </a:extLst>
          </p:cNvPr>
          <p:cNvSpPr/>
          <p:nvPr/>
        </p:nvSpPr>
        <p:spPr>
          <a:xfrm>
            <a:off x="1259632" y="4801716"/>
            <a:ext cx="1584176" cy="396000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899B6D3-6F14-C240-B5F4-82D32E09E18B}"/>
              </a:ext>
            </a:extLst>
          </p:cNvPr>
          <p:cNvSpPr/>
          <p:nvPr/>
        </p:nvSpPr>
        <p:spPr>
          <a:xfrm>
            <a:off x="3419872" y="4801716"/>
            <a:ext cx="1656184" cy="396000"/>
          </a:xfrm>
          <a:prstGeom prst="rect">
            <a:avLst/>
          </a:prstGeom>
          <a:solidFill>
            <a:srgbClr val="9BBC59"/>
          </a:solidFill>
          <a:ln>
            <a:solidFill>
              <a:srgbClr val="9BBC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8B83953B-7D94-DF49-9A51-8DD5340EAF4D}"/>
              </a:ext>
            </a:extLst>
          </p:cNvPr>
          <p:cNvSpPr/>
          <p:nvPr/>
        </p:nvSpPr>
        <p:spPr>
          <a:xfrm>
            <a:off x="5724128" y="4801716"/>
            <a:ext cx="1512168" cy="396000"/>
          </a:xfrm>
          <a:prstGeom prst="rect">
            <a:avLst/>
          </a:prstGeom>
          <a:solidFill>
            <a:srgbClr val="558ED6"/>
          </a:solidFill>
          <a:ln>
            <a:solidFill>
              <a:srgbClr val="558E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540BEE10-7CE9-4047-B37A-E7D6D8994B12}"/>
              </a:ext>
            </a:extLst>
          </p:cNvPr>
          <p:cNvSpPr txBox="1"/>
          <p:nvPr/>
        </p:nvSpPr>
        <p:spPr>
          <a:xfrm>
            <a:off x="3635896" y="5161756"/>
            <a:ext cx="13532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Physical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Memory</a:t>
            </a:r>
            <a:endParaRPr kumimoji="1" lang="zh-CN" altLang="en-US" sz="1200" dirty="0"/>
          </a:p>
        </p:txBody>
      </p: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A009CECF-5FD6-3242-8537-062347C96586}"/>
              </a:ext>
            </a:extLst>
          </p:cNvPr>
          <p:cNvCxnSpPr>
            <a:stCxn id="47" idx="2"/>
            <a:endCxn id="91" idx="0"/>
          </p:cNvCxnSpPr>
          <p:nvPr/>
        </p:nvCxnSpPr>
        <p:spPr>
          <a:xfrm rot="16200000" flipH="1">
            <a:off x="2930806" y="3484558"/>
            <a:ext cx="474076" cy="21602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肘形连接符 95">
            <a:extLst>
              <a:ext uri="{FF2B5EF4-FFF2-40B4-BE49-F238E27FC236}">
                <a16:creationId xmlns:a16="http://schemas.microsoft.com/office/drawing/2014/main" id="{1545F30E-E5F5-984A-B4E3-C80086F118C2}"/>
              </a:ext>
            </a:extLst>
          </p:cNvPr>
          <p:cNvCxnSpPr>
            <a:cxnSpLocks/>
            <a:stCxn id="47" idx="2"/>
            <a:endCxn id="92" idx="0"/>
          </p:cNvCxnSpPr>
          <p:nvPr/>
        </p:nvCxnSpPr>
        <p:spPr>
          <a:xfrm rot="16200000" flipH="1">
            <a:off x="4046930" y="2368434"/>
            <a:ext cx="474076" cy="43924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565729B-0D3A-BE41-AB33-D6147A13FCA8}"/>
              </a:ext>
            </a:extLst>
          </p:cNvPr>
          <p:cNvSpPr txBox="1"/>
          <p:nvPr/>
        </p:nvSpPr>
        <p:spPr>
          <a:xfrm>
            <a:off x="2627784" y="4369668"/>
            <a:ext cx="949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Read/Write</a:t>
            </a:r>
            <a:endParaRPr kumimoji="1"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21617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63430A-0BCB-8240-A7A5-AFCF0DF3D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内存虚拟化的目标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99255F-2BE5-6C42-84D9-F35D5F63E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为虚拟机提供虚拟的物理地址空间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物理地址从</a:t>
            </a:r>
            <a:r>
              <a:rPr kumimoji="1" lang="en-US" altLang="zh-CN" dirty="0"/>
              <a:t>0</a:t>
            </a:r>
            <a:r>
              <a:rPr kumimoji="1" lang="zh-CN" altLang="en-US" dirty="0"/>
              <a:t>开始连续增长</a:t>
            </a:r>
            <a:endParaRPr kumimoji="1" lang="en-US" altLang="zh-CN" dirty="0"/>
          </a:p>
          <a:p>
            <a:r>
              <a:rPr kumimoji="1" lang="zh-CN" altLang="en-US" dirty="0"/>
              <a:t>隔离不同虚拟机的物理地址空间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VM-1</a:t>
            </a:r>
            <a:r>
              <a:rPr kumimoji="1" lang="zh-CN" altLang="en-US" dirty="0"/>
              <a:t>无法访问其他的内存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E30624-876E-BE4C-994E-7222D1493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BB68DC-785D-4E47-AB32-293BEAF6F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95656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3006B7-7069-E847-9A77-48C769AEE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三种地址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D63901-7864-1040-9A21-B5D40BA88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客户虚拟地址</a:t>
            </a:r>
            <a:r>
              <a:rPr kumimoji="1" lang="en-US" altLang="zh-CN" dirty="0"/>
              <a:t>(Guest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Virtual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Address,</a:t>
            </a:r>
            <a:r>
              <a:rPr kumimoji="1" lang="zh-CN" altLang="en-US" dirty="0"/>
              <a:t> </a:t>
            </a:r>
            <a:r>
              <a:rPr kumimoji="1" lang="en-US" altLang="zh-CN" dirty="0"/>
              <a:t>GVA)</a:t>
            </a:r>
          </a:p>
          <a:p>
            <a:pPr lvl="1"/>
            <a:r>
              <a:rPr kumimoji="1" lang="zh-CN" altLang="en-US" dirty="0"/>
              <a:t>虚拟机内进程使用的虚拟地址</a:t>
            </a:r>
            <a:endParaRPr kumimoji="1" lang="en-US" altLang="zh-CN" dirty="0"/>
          </a:p>
          <a:p>
            <a:r>
              <a:rPr kumimoji="1" lang="zh-CN" altLang="en-US" dirty="0">
                <a:highlight>
                  <a:srgbClr val="FFFF00"/>
                </a:highlight>
              </a:rPr>
              <a:t>客户物理地址</a:t>
            </a:r>
            <a:r>
              <a:rPr kumimoji="1" lang="en-US" altLang="zh-CN" dirty="0">
                <a:highlight>
                  <a:srgbClr val="FFFF00"/>
                </a:highlight>
              </a:rPr>
              <a:t>(Guest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Physical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Address,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GPA)</a:t>
            </a:r>
          </a:p>
          <a:p>
            <a:pPr lvl="1"/>
            <a:r>
              <a:rPr kumimoji="1" lang="zh-CN" altLang="en-US" dirty="0"/>
              <a:t>虚拟机内使用的</a:t>
            </a:r>
            <a:r>
              <a:rPr kumimoji="1" lang="en-US" altLang="zh-CN" dirty="0"/>
              <a:t>“</a:t>
            </a:r>
            <a:r>
              <a:rPr kumimoji="1" lang="zh-CN" altLang="en-US" dirty="0"/>
              <a:t>假</a:t>
            </a:r>
            <a:r>
              <a:rPr kumimoji="1" lang="en-US" altLang="zh-CN" dirty="0"/>
              <a:t>”</a:t>
            </a:r>
            <a:r>
              <a:rPr kumimoji="1" lang="zh-CN" altLang="en-US" dirty="0"/>
              <a:t>物理地址</a:t>
            </a:r>
            <a:endParaRPr kumimoji="1" lang="en-US" altLang="zh-CN" dirty="0"/>
          </a:p>
          <a:p>
            <a:r>
              <a:rPr kumimoji="1" lang="zh-CN" altLang="en-US" dirty="0"/>
              <a:t>主机物理地址</a:t>
            </a:r>
            <a:r>
              <a:rPr kumimoji="1" lang="en-US" altLang="zh-CN" dirty="0"/>
              <a:t>(Host</a:t>
            </a:r>
            <a:r>
              <a:rPr kumimoji="1" lang="zh-CN" altLang="en-US" dirty="0"/>
              <a:t> </a:t>
            </a:r>
            <a:r>
              <a:rPr kumimoji="1" lang="en-US" altLang="zh-CN" dirty="0"/>
              <a:t>Physical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Address,</a:t>
            </a:r>
            <a:r>
              <a:rPr kumimoji="1" lang="zh-CN" altLang="en-US" dirty="0"/>
              <a:t> </a:t>
            </a:r>
            <a:r>
              <a:rPr kumimoji="1" lang="en-US" altLang="zh-CN" dirty="0"/>
              <a:t>HPA)</a:t>
            </a:r>
          </a:p>
          <a:p>
            <a:pPr lvl="1"/>
            <a:r>
              <a:rPr kumimoji="1" lang="zh-CN" altLang="en-US" dirty="0"/>
              <a:t>真实寻址的物理地址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GPA</a:t>
            </a:r>
            <a:r>
              <a:rPr kumimoji="1" lang="zh-CN" altLang="en-US" dirty="0"/>
              <a:t>需要翻译成</a:t>
            </a:r>
            <a:r>
              <a:rPr kumimoji="1" lang="en-US" altLang="zh-CN" dirty="0"/>
              <a:t>HPA</a:t>
            </a:r>
            <a:r>
              <a:rPr kumimoji="1" lang="zh-CN" altLang="en-US" dirty="0"/>
              <a:t>才能访存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D0C91B-FD4F-3A41-AD26-114C5EE3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44" name="右大括号 43">
            <a:extLst>
              <a:ext uri="{FF2B5EF4-FFF2-40B4-BE49-F238E27FC236}">
                <a16:creationId xmlns:a16="http://schemas.microsoft.com/office/drawing/2014/main" id="{1D34257C-2E2A-184F-BE48-6B60FA168999}"/>
              </a:ext>
            </a:extLst>
          </p:cNvPr>
          <p:cNvSpPr/>
          <p:nvPr/>
        </p:nvSpPr>
        <p:spPr>
          <a:xfrm>
            <a:off x="7357844" y="2353444"/>
            <a:ext cx="144016" cy="2380910"/>
          </a:xfrm>
          <a:prstGeom prst="rightBrace">
            <a:avLst>
              <a:gd name="adj1" fmla="val 7258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54052EE-2AE0-C442-AC17-910BE15BB8D1}"/>
              </a:ext>
            </a:extLst>
          </p:cNvPr>
          <p:cNvSpPr txBox="1"/>
          <p:nvPr/>
        </p:nvSpPr>
        <p:spPr>
          <a:xfrm>
            <a:off x="7501860" y="3359233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BE384B"/>
                </a:solidFill>
              </a:rPr>
              <a:t>VMM</a:t>
            </a:r>
            <a:r>
              <a:rPr kumimoji="1" lang="zh-CN" altLang="en-US" dirty="0">
                <a:solidFill>
                  <a:srgbClr val="BE384B"/>
                </a:solidFill>
              </a:rPr>
              <a:t>管理</a:t>
            </a:r>
          </a:p>
        </p:txBody>
      </p:sp>
    </p:spTree>
    <p:extLst>
      <p:ext uri="{BB962C8B-B14F-4D97-AF65-F5344CB8AC3E}">
        <p14:creationId xmlns:p14="http://schemas.microsoft.com/office/powerpoint/2010/main" val="38756128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7EA33-758D-FD46-A427-1FED07CF6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怎么实现内存虚拟化</a:t>
            </a:r>
            <a:r>
              <a:rPr kumimoji="1" lang="en-US" altLang="zh-CN" dirty="0"/>
              <a:t>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001AC1-6C2C-F642-B001-BED88A8E9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、影子页表</a:t>
            </a:r>
            <a:r>
              <a:rPr kumimoji="1" lang="en-US" altLang="zh-CN" dirty="0"/>
              <a:t>(Shadow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Table)</a:t>
            </a:r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、直接页表</a:t>
            </a:r>
            <a:r>
              <a:rPr kumimoji="1" lang="en-US" altLang="zh-CN" dirty="0"/>
              <a:t>(Direct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Table)</a:t>
            </a:r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、硬件虚拟化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6E03A9-01A4-1A4A-809D-9FF9F124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D67354-7F4B-C24B-8871-00B6217FEC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38332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、影子页表</a:t>
            </a:r>
            <a:endParaRPr kumimoji="1" lang="zh-CN" altLang="en-US" dirty="0"/>
          </a:p>
        </p:txBody>
      </p:sp>
      <p:cxnSp>
        <p:nvCxnSpPr>
          <p:cNvPr id="106" name="直接连接符 55">
            <a:extLst>
              <a:ext uri="{FF2B5EF4-FFF2-40B4-BE49-F238E27FC236}">
                <a16:creationId xmlns:a16="http://schemas.microsoft.com/office/drawing/2014/main" id="{D9C24ABE-F1DB-5C46-A6D0-BAA49A913A46}"/>
              </a:ext>
            </a:extLst>
          </p:cNvPr>
          <p:cNvCxnSpPr/>
          <p:nvPr/>
        </p:nvCxnSpPr>
        <p:spPr>
          <a:xfrm>
            <a:off x="849982" y="3369615"/>
            <a:ext cx="7620000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dash"/>
          </a:ln>
          <a:effectLst/>
        </p:spPr>
      </p:cxnSp>
      <p:cxnSp>
        <p:nvCxnSpPr>
          <p:cNvPr id="107" name="直接连接符 2">
            <a:extLst>
              <a:ext uri="{FF2B5EF4-FFF2-40B4-BE49-F238E27FC236}">
                <a16:creationId xmlns:a16="http://schemas.microsoft.com/office/drawing/2014/main" id="{2E1C92AF-2199-1049-8E0D-5CA7D25674A3}"/>
              </a:ext>
            </a:extLst>
          </p:cNvPr>
          <p:cNvCxnSpPr/>
          <p:nvPr/>
        </p:nvCxnSpPr>
        <p:spPr>
          <a:xfrm>
            <a:off x="856409" y="2343502"/>
            <a:ext cx="7620000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dash"/>
          </a:ln>
          <a:effectLst/>
        </p:spPr>
      </p:cxnSp>
      <p:cxnSp>
        <p:nvCxnSpPr>
          <p:cNvPr id="108" name="Elbow Connector 116">
            <a:extLst>
              <a:ext uri="{FF2B5EF4-FFF2-40B4-BE49-F238E27FC236}">
                <a16:creationId xmlns:a16="http://schemas.microsoft.com/office/drawing/2014/main" id="{7C1290C7-B3EF-1540-B54E-44E1A7BC04CB}"/>
              </a:ext>
            </a:extLst>
          </p:cNvPr>
          <p:cNvCxnSpPr/>
          <p:nvPr/>
        </p:nvCxnSpPr>
        <p:spPr>
          <a:xfrm>
            <a:off x="2386156" y="1901246"/>
            <a:ext cx="12700" cy="2080471"/>
          </a:xfrm>
          <a:prstGeom prst="bentConnector3">
            <a:avLst>
              <a:gd name="adj1" fmla="val 1800000"/>
            </a:avLst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9" name="Elbow Connector 116">
            <a:extLst>
              <a:ext uri="{FF2B5EF4-FFF2-40B4-BE49-F238E27FC236}">
                <a16:creationId xmlns:a16="http://schemas.microsoft.com/office/drawing/2014/main" id="{F208DBC6-3CF1-454F-A841-08C5D8277891}"/>
              </a:ext>
            </a:extLst>
          </p:cNvPr>
          <p:cNvCxnSpPr/>
          <p:nvPr/>
        </p:nvCxnSpPr>
        <p:spPr>
          <a:xfrm rot="10800000" flipV="1">
            <a:off x="1606069" y="1901245"/>
            <a:ext cx="12700" cy="2080471"/>
          </a:xfrm>
          <a:prstGeom prst="bentConnector3">
            <a:avLst>
              <a:gd name="adj1" fmla="val 1800000"/>
            </a:avLst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0" name="Straight Connector 146">
            <a:extLst>
              <a:ext uri="{FF2B5EF4-FFF2-40B4-BE49-F238E27FC236}">
                <a16:creationId xmlns:a16="http://schemas.microsoft.com/office/drawing/2014/main" id="{551B0065-A65F-E341-A39F-B8F23CCE5DD7}"/>
              </a:ext>
            </a:extLst>
          </p:cNvPr>
          <p:cNvCxnSpPr/>
          <p:nvPr/>
        </p:nvCxnSpPr>
        <p:spPr>
          <a:xfrm>
            <a:off x="5986558" y="3031576"/>
            <a:ext cx="133038" cy="726390"/>
          </a:xfrm>
          <a:prstGeom prst="line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pic>
        <p:nvPicPr>
          <p:cNvPr id="111" name="Picture 83">
            <a:extLst>
              <a:ext uri="{FF2B5EF4-FFF2-40B4-BE49-F238E27FC236}">
                <a16:creationId xmlns:a16="http://schemas.microsoft.com/office/drawing/2014/main" id="{9C643D37-29B0-FE4C-9D2A-4D68633BB1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008" b="43755"/>
          <a:stretch/>
        </p:blipFill>
        <p:spPr>
          <a:xfrm>
            <a:off x="3706303" y="3781662"/>
            <a:ext cx="4320480" cy="598401"/>
          </a:xfrm>
          <a:prstGeom prst="rect">
            <a:avLst/>
          </a:prstGeom>
        </p:spPr>
      </p:pic>
      <p:sp>
        <p:nvSpPr>
          <p:cNvPr id="112" name="Rectangle 5">
            <a:extLst>
              <a:ext uri="{FF2B5EF4-FFF2-40B4-BE49-F238E27FC236}">
                <a16:creationId xmlns:a16="http://schemas.microsoft.com/office/drawing/2014/main" id="{6AFBBF83-64B0-7749-9A0D-2F4A5060B9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96343" y="3757969"/>
            <a:ext cx="546540" cy="294029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3" name="Rectangle 5">
            <a:extLst>
              <a:ext uri="{FF2B5EF4-FFF2-40B4-BE49-F238E27FC236}">
                <a16:creationId xmlns:a16="http://schemas.microsoft.com/office/drawing/2014/main" id="{61937217-FC8F-D248-AC52-2004F248CA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7000" y="1734966"/>
            <a:ext cx="546540" cy="294029"/>
          </a:xfrm>
          <a:prstGeom prst="rect">
            <a:avLst/>
          </a:prstGeom>
          <a:solidFill>
            <a:srgbClr val="558ED5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3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4" name="Rectangle 5">
            <a:extLst>
              <a:ext uri="{FF2B5EF4-FFF2-40B4-BE49-F238E27FC236}">
                <a16:creationId xmlns:a16="http://schemas.microsoft.com/office/drawing/2014/main" id="{58D5F878-309F-9047-8E0C-A4903EEC14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93540" y="1734966"/>
            <a:ext cx="546540" cy="294029"/>
          </a:xfrm>
          <a:prstGeom prst="rect">
            <a:avLst/>
          </a:prstGeom>
          <a:solidFill>
            <a:srgbClr val="558ED5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3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5" name="Rectangle 5">
            <a:extLst>
              <a:ext uri="{FF2B5EF4-FFF2-40B4-BE49-F238E27FC236}">
                <a16:creationId xmlns:a16="http://schemas.microsoft.com/office/drawing/2014/main" id="{F039C4C5-A91D-7143-989F-C2EB34F941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40080" y="1734966"/>
            <a:ext cx="546540" cy="294029"/>
          </a:xfrm>
          <a:prstGeom prst="rect">
            <a:avLst/>
          </a:prstGeom>
          <a:solidFill>
            <a:srgbClr val="558ED5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3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6" name="Rectangle 5">
            <a:extLst>
              <a:ext uri="{FF2B5EF4-FFF2-40B4-BE49-F238E27FC236}">
                <a16:creationId xmlns:a16="http://schemas.microsoft.com/office/drawing/2014/main" id="{7B3D778E-CADD-8346-AB50-336A0DEF7E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7000" y="2732166"/>
            <a:ext cx="546540" cy="294029"/>
          </a:xfrm>
          <a:prstGeom prst="rect">
            <a:avLst/>
          </a:prstGeom>
          <a:solidFill>
            <a:srgbClr val="558ED5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3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7" name="Rectangle 5">
            <a:extLst>
              <a:ext uri="{FF2B5EF4-FFF2-40B4-BE49-F238E27FC236}">
                <a16:creationId xmlns:a16="http://schemas.microsoft.com/office/drawing/2014/main" id="{23D67FD4-A3D1-B547-9446-0B0830CFCE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7000" y="2738567"/>
            <a:ext cx="546540" cy="294029"/>
          </a:xfrm>
          <a:prstGeom prst="rect">
            <a:avLst/>
          </a:prstGeom>
          <a:noFill/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8" name="Rectangle 11">
            <a:extLst>
              <a:ext uri="{FF2B5EF4-FFF2-40B4-BE49-F238E27FC236}">
                <a16:creationId xmlns:a16="http://schemas.microsoft.com/office/drawing/2014/main" id="{9B6DE5DB-F48A-BB4C-93DB-FDE4CEA73C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93540" y="2738567"/>
            <a:ext cx="546540" cy="294029"/>
          </a:xfrm>
          <a:prstGeom prst="rect">
            <a:avLst/>
          </a:prstGeom>
          <a:solidFill>
            <a:srgbClr val="558ED5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3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9" name="Rectangle 5">
            <a:extLst>
              <a:ext uri="{FF2B5EF4-FFF2-40B4-BE49-F238E27FC236}">
                <a16:creationId xmlns:a16="http://schemas.microsoft.com/office/drawing/2014/main" id="{6B4781DB-1D4B-AD44-9595-87AED70466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40080" y="2738567"/>
            <a:ext cx="546540" cy="294029"/>
          </a:xfrm>
          <a:prstGeom prst="rect">
            <a:avLst/>
          </a:prstGeom>
          <a:noFill/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20" name="Rectangle 5">
            <a:extLst>
              <a:ext uri="{FF2B5EF4-FFF2-40B4-BE49-F238E27FC236}">
                <a16:creationId xmlns:a16="http://schemas.microsoft.com/office/drawing/2014/main" id="{B5C178E9-698E-4048-BFB0-A70D23FB16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6620" y="2738567"/>
            <a:ext cx="546540" cy="294029"/>
          </a:xfrm>
          <a:prstGeom prst="rect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cxnSp>
        <p:nvCxnSpPr>
          <p:cNvPr id="121" name="Straight Connector 15">
            <a:extLst>
              <a:ext uri="{FF2B5EF4-FFF2-40B4-BE49-F238E27FC236}">
                <a16:creationId xmlns:a16="http://schemas.microsoft.com/office/drawing/2014/main" id="{A4118C66-C944-DC48-A518-DFF6FE629AB3}"/>
              </a:ext>
            </a:extLst>
          </p:cNvPr>
          <p:cNvCxnSpPr/>
          <p:nvPr/>
        </p:nvCxnSpPr>
        <p:spPr>
          <a:xfrm>
            <a:off x="4347000" y="2028993"/>
            <a:ext cx="546540" cy="70957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2" name="Straight Connector 16">
            <a:extLst>
              <a:ext uri="{FF2B5EF4-FFF2-40B4-BE49-F238E27FC236}">
                <a16:creationId xmlns:a16="http://schemas.microsoft.com/office/drawing/2014/main" id="{0FB0964D-6D43-B548-8F3C-8D58FBA37BC1}"/>
              </a:ext>
            </a:extLst>
          </p:cNvPr>
          <p:cNvCxnSpPr/>
          <p:nvPr/>
        </p:nvCxnSpPr>
        <p:spPr>
          <a:xfrm>
            <a:off x="4893540" y="2028993"/>
            <a:ext cx="546540" cy="70957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3" name="Straight Connector 17">
            <a:extLst>
              <a:ext uri="{FF2B5EF4-FFF2-40B4-BE49-F238E27FC236}">
                <a16:creationId xmlns:a16="http://schemas.microsoft.com/office/drawing/2014/main" id="{6508D21A-9BED-6645-A0BF-A3CC7D23B4C9}"/>
              </a:ext>
            </a:extLst>
          </p:cNvPr>
          <p:cNvCxnSpPr/>
          <p:nvPr/>
        </p:nvCxnSpPr>
        <p:spPr>
          <a:xfrm flipH="1">
            <a:off x="5986620" y="2028993"/>
            <a:ext cx="546540" cy="709572"/>
          </a:xfrm>
          <a:prstGeom prst="line">
            <a:avLst/>
          </a:prstGeom>
          <a:noFill/>
          <a:ln w="25400" cap="flat" cmpd="sng" algn="ctr">
            <a:solidFill>
              <a:srgbClr val="9BBB59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4" name="Straight Connector 20">
            <a:extLst>
              <a:ext uri="{FF2B5EF4-FFF2-40B4-BE49-F238E27FC236}">
                <a16:creationId xmlns:a16="http://schemas.microsoft.com/office/drawing/2014/main" id="{3C860F4C-68BD-EB4B-AB2E-83DFE105C00A}"/>
              </a:ext>
            </a:extLst>
          </p:cNvPr>
          <p:cNvCxnSpPr/>
          <p:nvPr/>
        </p:nvCxnSpPr>
        <p:spPr>
          <a:xfrm flipH="1">
            <a:off x="6533160" y="2028993"/>
            <a:ext cx="546540" cy="709572"/>
          </a:xfrm>
          <a:prstGeom prst="line">
            <a:avLst/>
          </a:prstGeom>
          <a:noFill/>
          <a:ln w="25400" cap="flat" cmpd="sng" algn="ctr">
            <a:solidFill>
              <a:srgbClr val="9BBB59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25" name="Rectangle 5">
            <a:extLst>
              <a:ext uri="{FF2B5EF4-FFF2-40B4-BE49-F238E27FC236}">
                <a16:creationId xmlns:a16="http://schemas.microsoft.com/office/drawing/2014/main" id="{3F266C12-3842-6A4B-9A93-CBC4BC8A4A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33160" y="1734966"/>
            <a:ext cx="546540" cy="294029"/>
          </a:xfrm>
          <a:prstGeom prst="rect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26" name="Rectangle 5">
            <a:extLst>
              <a:ext uri="{FF2B5EF4-FFF2-40B4-BE49-F238E27FC236}">
                <a16:creationId xmlns:a16="http://schemas.microsoft.com/office/drawing/2014/main" id="{C9C3C58E-A3AE-5C4A-B11F-3D470359EC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33160" y="2738567"/>
            <a:ext cx="546540" cy="29402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cxnSp>
        <p:nvCxnSpPr>
          <p:cNvPr id="127" name="Straight Connector 25">
            <a:extLst>
              <a:ext uri="{FF2B5EF4-FFF2-40B4-BE49-F238E27FC236}">
                <a16:creationId xmlns:a16="http://schemas.microsoft.com/office/drawing/2014/main" id="{D0A965C9-8A78-FD49-9B73-B4BEF3ABD28C}"/>
              </a:ext>
            </a:extLst>
          </p:cNvPr>
          <p:cNvCxnSpPr/>
          <p:nvPr/>
        </p:nvCxnSpPr>
        <p:spPr>
          <a:xfrm flipH="1">
            <a:off x="4356450" y="2028993"/>
            <a:ext cx="1083630" cy="70957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8" name="Straight Connector 27">
            <a:extLst>
              <a:ext uri="{FF2B5EF4-FFF2-40B4-BE49-F238E27FC236}">
                <a16:creationId xmlns:a16="http://schemas.microsoft.com/office/drawing/2014/main" id="{0BC431C6-648D-FD41-806A-F4D9BBC56D95}"/>
              </a:ext>
            </a:extLst>
          </p:cNvPr>
          <p:cNvCxnSpPr/>
          <p:nvPr/>
        </p:nvCxnSpPr>
        <p:spPr>
          <a:xfrm flipH="1">
            <a:off x="4893540" y="2028993"/>
            <a:ext cx="1093080" cy="70957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29" name="Rectangle 5">
            <a:extLst>
              <a:ext uri="{FF2B5EF4-FFF2-40B4-BE49-F238E27FC236}">
                <a16:creationId xmlns:a16="http://schemas.microsoft.com/office/drawing/2014/main" id="{3D57A556-B427-8146-B856-C3004E8432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35963" y="3763519"/>
            <a:ext cx="546540" cy="294029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0" name="Rectangle 5">
            <a:extLst>
              <a:ext uri="{FF2B5EF4-FFF2-40B4-BE49-F238E27FC236}">
                <a16:creationId xmlns:a16="http://schemas.microsoft.com/office/drawing/2014/main" id="{857B3131-AD86-0048-A14F-3014CB400D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73053" y="3763519"/>
            <a:ext cx="546540" cy="29402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1" name="Rectangle 31">
            <a:extLst>
              <a:ext uri="{FF2B5EF4-FFF2-40B4-BE49-F238E27FC236}">
                <a16:creationId xmlns:a16="http://schemas.microsoft.com/office/drawing/2014/main" id="{A08FAABD-E18E-D648-AFCC-178454EBB5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19593" y="3763519"/>
            <a:ext cx="546540" cy="29402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2" name="Rectangle 5">
            <a:extLst>
              <a:ext uri="{FF2B5EF4-FFF2-40B4-BE49-F238E27FC236}">
                <a16:creationId xmlns:a16="http://schemas.microsoft.com/office/drawing/2014/main" id="{7592F547-B819-BF4E-8254-7F1402D960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66133" y="3763519"/>
            <a:ext cx="546540" cy="294029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3" name="Rectangle 5">
            <a:extLst>
              <a:ext uri="{FF2B5EF4-FFF2-40B4-BE49-F238E27FC236}">
                <a16:creationId xmlns:a16="http://schemas.microsoft.com/office/drawing/2014/main" id="{90B2792A-2F7E-0142-BC64-CD26C0B4C7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79700" y="1734966"/>
            <a:ext cx="546540" cy="294029"/>
          </a:xfrm>
          <a:prstGeom prst="rect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4" name="Rectangle 5">
            <a:extLst>
              <a:ext uri="{FF2B5EF4-FFF2-40B4-BE49-F238E27FC236}">
                <a16:creationId xmlns:a16="http://schemas.microsoft.com/office/drawing/2014/main" id="{90B1EC54-9F16-B747-A301-D184B75648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7000" y="2734956"/>
            <a:ext cx="2732700" cy="294029"/>
          </a:xfrm>
          <a:prstGeom prst="rect">
            <a:avLst/>
          </a:prstGeom>
          <a:noFill/>
          <a:ln w="38100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5" name="Rectangle 5">
            <a:extLst>
              <a:ext uri="{FF2B5EF4-FFF2-40B4-BE49-F238E27FC236}">
                <a16:creationId xmlns:a16="http://schemas.microsoft.com/office/drawing/2014/main" id="{1BC60A9A-0F49-4E48-B8B1-D3DB8B14F9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79973" y="3763519"/>
            <a:ext cx="546540" cy="29402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6" name="Rectangle 5">
            <a:extLst>
              <a:ext uri="{FF2B5EF4-FFF2-40B4-BE49-F238E27FC236}">
                <a16:creationId xmlns:a16="http://schemas.microsoft.com/office/drawing/2014/main" id="{A838FF0F-5E94-EB42-AC40-AD8D10701C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3433" y="3763519"/>
            <a:ext cx="546540" cy="29402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cxnSp>
        <p:nvCxnSpPr>
          <p:cNvPr id="137" name="Straight Connector 50">
            <a:extLst>
              <a:ext uri="{FF2B5EF4-FFF2-40B4-BE49-F238E27FC236}">
                <a16:creationId xmlns:a16="http://schemas.microsoft.com/office/drawing/2014/main" id="{A3D38E8E-5D7A-A744-900E-279A48619357}"/>
              </a:ext>
            </a:extLst>
          </p:cNvPr>
          <p:cNvCxnSpPr/>
          <p:nvPr/>
        </p:nvCxnSpPr>
        <p:spPr>
          <a:xfrm flipH="1">
            <a:off x="4479974" y="3031576"/>
            <a:ext cx="966522" cy="708160"/>
          </a:xfrm>
          <a:prstGeom prst="line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8" name="Straight Connector 53">
            <a:extLst>
              <a:ext uri="{FF2B5EF4-FFF2-40B4-BE49-F238E27FC236}">
                <a16:creationId xmlns:a16="http://schemas.microsoft.com/office/drawing/2014/main" id="{778C20F3-1A60-D24B-B343-798F44ED8C15}"/>
              </a:ext>
            </a:extLst>
          </p:cNvPr>
          <p:cNvCxnSpPr/>
          <p:nvPr/>
        </p:nvCxnSpPr>
        <p:spPr>
          <a:xfrm flipH="1">
            <a:off x="3933434" y="3031578"/>
            <a:ext cx="973002" cy="723755"/>
          </a:xfrm>
          <a:prstGeom prst="line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39" name="Rectangle 5">
            <a:extLst>
              <a:ext uri="{FF2B5EF4-FFF2-40B4-BE49-F238E27FC236}">
                <a16:creationId xmlns:a16="http://schemas.microsoft.com/office/drawing/2014/main" id="{1AE0B3D9-B713-D844-ADCC-DC598700F3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19593" y="3763519"/>
            <a:ext cx="546540" cy="29402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40" name="TextBox 71">
            <a:extLst>
              <a:ext uri="{FF2B5EF4-FFF2-40B4-BE49-F238E27FC236}">
                <a16:creationId xmlns:a16="http://schemas.microsoft.com/office/drawing/2014/main" id="{576CC279-51EF-6C4E-A326-FBA53A8A2AA9}"/>
              </a:ext>
            </a:extLst>
          </p:cNvPr>
          <p:cNvSpPr txBox="1"/>
          <p:nvPr/>
        </p:nvSpPr>
        <p:spPr>
          <a:xfrm>
            <a:off x="1606070" y="3781661"/>
            <a:ext cx="780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HPA</a:t>
            </a:r>
          </a:p>
        </p:txBody>
      </p:sp>
      <p:sp>
        <p:nvSpPr>
          <p:cNvPr id="141" name="Rectangle 10">
            <a:extLst>
              <a:ext uri="{FF2B5EF4-FFF2-40B4-BE49-F238E27FC236}">
                <a16:creationId xmlns:a16="http://schemas.microsoft.com/office/drawing/2014/main" id="{DD731605-D5C3-7145-9B79-9E5807E922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86356" y="1481404"/>
            <a:ext cx="3620552" cy="1887380"/>
          </a:xfrm>
          <a:prstGeom prst="rect">
            <a:avLst/>
          </a:prstGeom>
          <a:noFill/>
          <a:ln w="3175" cap="flat" cmpd="sng" algn="ctr">
            <a:solidFill>
              <a:srgbClr val="C0504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3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42" name="TextBox 74">
            <a:extLst>
              <a:ext uri="{FF2B5EF4-FFF2-40B4-BE49-F238E27FC236}">
                <a16:creationId xmlns:a16="http://schemas.microsoft.com/office/drawing/2014/main" id="{9F0CD2F9-F576-C940-AC27-55FDDDD13AF3}"/>
              </a:ext>
            </a:extLst>
          </p:cNvPr>
          <p:cNvSpPr txBox="1"/>
          <p:nvPr/>
        </p:nvSpPr>
        <p:spPr>
          <a:xfrm>
            <a:off x="4030338" y="1033110"/>
            <a:ext cx="14363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Guest VM</a:t>
            </a:r>
            <a:endParaRPr kumimoji="1" lang="en-US" sz="2000" dirty="0">
              <a:solidFill>
                <a:srgbClr val="000000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43" name="Rectangle 106">
            <a:extLst>
              <a:ext uri="{FF2B5EF4-FFF2-40B4-BE49-F238E27FC236}">
                <a16:creationId xmlns:a16="http://schemas.microsoft.com/office/drawing/2014/main" id="{F7552869-5240-3F41-A1C5-A2C9A9BE11C9}"/>
              </a:ext>
            </a:extLst>
          </p:cNvPr>
          <p:cNvSpPr/>
          <p:nvPr/>
        </p:nvSpPr>
        <p:spPr>
          <a:xfrm>
            <a:off x="1006004" y="2208257"/>
            <a:ext cx="610468" cy="248663"/>
          </a:xfrm>
          <a:prstGeom prst="rect">
            <a:avLst/>
          </a:prstGeom>
          <a:solidFill>
            <a:srgbClr val="4F81BD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ngXian" charset="0"/>
                <a:ea typeface="DengXian" charset="0"/>
                <a:cs typeface="DengXian" charset="0"/>
              </a:rPr>
              <a:t>GPT</a:t>
            </a:r>
          </a:p>
        </p:txBody>
      </p:sp>
      <p:pic>
        <p:nvPicPr>
          <p:cNvPr id="144" name="Picture 113">
            <a:extLst>
              <a:ext uri="{FF2B5EF4-FFF2-40B4-BE49-F238E27FC236}">
                <a16:creationId xmlns:a16="http://schemas.microsoft.com/office/drawing/2014/main" id="{B7E1E56D-2AC2-524A-A637-6896416F6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587" y="4643369"/>
            <a:ext cx="839219" cy="681778"/>
          </a:xfrm>
          <a:prstGeom prst="rect">
            <a:avLst/>
          </a:prstGeom>
        </p:spPr>
      </p:pic>
      <p:cxnSp>
        <p:nvCxnSpPr>
          <p:cNvPr id="145" name="Elbow Connector 116">
            <a:extLst>
              <a:ext uri="{FF2B5EF4-FFF2-40B4-BE49-F238E27FC236}">
                <a16:creationId xmlns:a16="http://schemas.microsoft.com/office/drawing/2014/main" id="{B4C6A4FB-32A2-9D4D-BA6C-BC94E423E683}"/>
              </a:ext>
            </a:extLst>
          </p:cNvPr>
          <p:cNvCxnSpPr/>
          <p:nvPr/>
        </p:nvCxnSpPr>
        <p:spPr>
          <a:xfrm rot="10800000">
            <a:off x="2806202" y="3341872"/>
            <a:ext cx="2576382" cy="1642387"/>
          </a:xfrm>
          <a:prstGeom prst="bentConnector3">
            <a:avLst>
              <a:gd name="adj1" fmla="val 87390"/>
            </a:avLst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6" name="Straight Connector 143">
            <a:extLst>
              <a:ext uri="{FF2B5EF4-FFF2-40B4-BE49-F238E27FC236}">
                <a16:creationId xmlns:a16="http://schemas.microsoft.com/office/drawing/2014/main" id="{DFD78D38-D90A-5849-A1E4-36548A489BBE}"/>
              </a:ext>
            </a:extLst>
          </p:cNvPr>
          <p:cNvCxnSpPr/>
          <p:nvPr/>
        </p:nvCxnSpPr>
        <p:spPr>
          <a:xfrm>
            <a:off x="6526618" y="3031576"/>
            <a:ext cx="139518" cy="708160"/>
          </a:xfrm>
          <a:prstGeom prst="line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47" name="TextBox 69">
            <a:extLst>
              <a:ext uri="{FF2B5EF4-FFF2-40B4-BE49-F238E27FC236}">
                <a16:creationId xmlns:a16="http://schemas.microsoft.com/office/drawing/2014/main" id="{1709BCEE-6D4D-B04F-8D34-F51DE24050D7}"/>
              </a:ext>
            </a:extLst>
          </p:cNvPr>
          <p:cNvSpPr txBox="1"/>
          <p:nvPr/>
        </p:nvSpPr>
        <p:spPr>
          <a:xfrm>
            <a:off x="1606070" y="1701190"/>
            <a:ext cx="780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GVA</a:t>
            </a:r>
          </a:p>
        </p:txBody>
      </p:sp>
      <p:sp>
        <p:nvSpPr>
          <p:cNvPr id="148" name="Rectangle 107">
            <a:extLst>
              <a:ext uri="{FF2B5EF4-FFF2-40B4-BE49-F238E27FC236}">
                <a16:creationId xmlns:a16="http://schemas.microsoft.com/office/drawing/2014/main" id="{D9FB6D75-5527-5042-81FC-65DD964258E5}"/>
              </a:ext>
            </a:extLst>
          </p:cNvPr>
          <p:cNvSpPr/>
          <p:nvPr/>
        </p:nvSpPr>
        <p:spPr>
          <a:xfrm>
            <a:off x="2195736" y="3217540"/>
            <a:ext cx="610468" cy="248663"/>
          </a:xfrm>
          <a:prstGeom prst="rect">
            <a:avLst/>
          </a:prstGeom>
          <a:solidFill>
            <a:srgbClr val="C0504D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ngXian" charset="0"/>
                <a:ea typeface="DengXian" charset="0"/>
                <a:cs typeface="DengXian" charset="0"/>
              </a:rPr>
              <a:t>SPT</a:t>
            </a:r>
          </a:p>
        </p:txBody>
      </p:sp>
      <p:sp>
        <p:nvSpPr>
          <p:cNvPr id="149" name="Rectangle 107">
            <a:extLst>
              <a:ext uri="{FF2B5EF4-FFF2-40B4-BE49-F238E27FC236}">
                <a16:creationId xmlns:a16="http://schemas.microsoft.com/office/drawing/2014/main" id="{A4E6693C-C046-BF49-B165-E26F76741806}"/>
              </a:ext>
            </a:extLst>
          </p:cNvPr>
          <p:cNvSpPr/>
          <p:nvPr/>
        </p:nvSpPr>
        <p:spPr>
          <a:xfrm>
            <a:off x="1006004" y="3220295"/>
            <a:ext cx="610468" cy="248663"/>
          </a:xfrm>
          <a:prstGeom prst="rect">
            <a:avLst/>
          </a:prstGeom>
          <a:solidFill>
            <a:srgbClr val="8064A2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ngXian" charset="0"/>
                <a:ea typeface="DengXian" charset="0"/>
                <a:cs typeface="DengXian" charset="0"/>
              </a:rPr>
              <a:t>HPT</a:t>
            </a:r>
          </a:p>
        </p:txBody>
      </p:sp>
      <p:sp>
        <p:nvSpPr>
          <p:cNvPr id="150" name="TextBox 70">
            <a:extLst>
              <a:ext uri="{FF2B5EF4-FFF2-40B4-BE49-F238E27FC236}">
                <a16:creationId xmlns:a16="http://schemas.microsoft.com/office/drawing/2014/main" id="{EEC0A0F8-3888-D14F-834E-83D4132E08E7}"/>
              </a:ext>
            </a:extLst>
          </p:cNvPr>
          <p:cNvSpPr txBox="1"/>
          <p:nvPr/>
        </p:nvSpPr>
        <p:spPr>
          <a:xfrm>
            <a:off x="945997" y="2731544"/>
            <a:ext cx="758053" cy="40011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GPA</a:t>
            </a:r>
          </a:p>
        </p:txBody>
      </p:sp>
      <p:sp>
        <p:nvSpPr>
          <p:cNvPr id="151" name="Rectangle 5">
            <a:extLst>
              <a:ext uri="{FF2B5EF4-FFF2-40B4-BE49-F238E27FC236}">
                <a16:creationId xmlns:a16="http://schemas.microsoft.com/office/drawing/2014/main" id="{0E5F9935-0153-544D-BCC0-3DCDEEFE51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86689" y="3754267"/>
            <a:ext cx="1080120" cy="294029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52" name="Rectangle 5">
            <a:extLst>
              <a:ext uri="{FF2B5EF4-FFF2-40B4-BE49-F238E27FC236}">
                <a16:creationId xmlns:a16="http://schemas.microsoft.com/office/drawing/2014/main" id="{FDC14543-86FD-454A-808E-9DAE980A7C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96343" y="3755333"/>
            <a:ext cx="4909410" cy="294029"/>
          </a:xfrm>
          <a:prstGeom prst="rect">
            <a:avLst/>
          </a:prstGeom>
          <a:noFill/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53" name="TextBox 69">
            <a:extLst>
              <a:ext uri="{FF2B5EF4-FFF2-40B4-BE49-F238E27FC236}">
                <a16:creationId xmlns:a16="http://schemas.microsoft.com/office/drawing/2014/main" id="{BE50EDDD-5083-6C48-A7D3-CE523590F9E4}"/>
              </a:ext>
            </a:extLst>
          </p:cNvPr>
          <p:cNvSpPr txBox="1"/>
          <p:nvPr/>
        </p:nvSpPr>
        <p:spPr>
          <a:xfrm>
            <a:off x="7768682" y="1689618"/>
            <a:ext cx="780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GVA</a:t>
            </a:r>
          </a:p>
        </p:txBody>
      </p:sp>
      <p:sp>
        <p:nvSpPr>
          <p:cNvPr id="154" name="TextBox 70">
            <a:extLst>
              <a:ext uri="{FF2B5EF4-FFF2-40B4-BE49-F238E27FC236}">
                <a16:creationId xmlns:a16="http://schemas.microsoft.com/office/drawing/2014/main" id="{C39AFDFE-5855-C044-9ECD-1BB156CCE238}"/>
              </a:ext>
            </a:extLst>
          </p:cNvPr>
          <p:cNvSpPr txBox="1"/>
          <p:nvPr/>
        </p:nvSpPr>
        <p:spPr>
          <a:xfrm>
            <a:off x="7141458" y="2693218"/>
            <a:ext cx="758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GPA</a:t>
            </a:r>
          </a:p>
        </p:txBody>
      </p:sp>
      <p:sp>
        <p:nvSpPr>
          <p:cNvPr id="155" name="TextBox 71">
            <a:extLst>
              <a:ext uri="{FF2B5EF4-FFF2-40B4-BE49-F238E27FC236}">
                <a16:creationId xmlns:a16="http://schemas.microsoft.com/office/drawing/2014/main" id="{5FB4994A-3DED-F642-ACE8-5BA3C7413D20}"/>
              </a:ext>
            </a:extLst>
          </p:cNvPr>
          <p:cNvSpPr txBox="1"/>
          <p:nvPr/>
        </p:nvSpPr>
        <p:spPr>
          <a:xfrm>
            <a:off x="7574545" y="3706139"/>
            <a:ext cx="780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HPA</a:t>
            </a: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CCDDC9C8-A67F-BB41-A25A-28304DA3251C}"/>
              </a:ext>
            </a:extLst>
          </p:cNvPr>
          <p:cNvSpPr txBox="1"/>
          <p:nvPr/>
        </p:nvSpPr>
        <p:spPr>
          <a:xfrm>
            <a:off x="4697166" y="4984258"/>
            <a:ext cx="685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prstClr val="black"/>
                </a:solidFill>
                <a:latin typeface="DengXian" charset="0"/>
                <a:ea typeface="DengXian" charset="0"/>
                <a:cs typeface="DengXian" charset="0"/>
              </a:rPr>
              <a:t>CR3</a:t>
            </a:r>
            <a:endParaRPr kumimoji="1" lang="zh-CN" altLang="en-US" dirty="0">
              <a:solidFill>
                <a:prstClr val="black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8741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个页表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个页表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57159" indent="-357159">
              <a:buFont typeface="+mj-lt"/>
              <a:buAutoNum type="arabicPeriod"/>
            </a:pPr>
            <a:r>
              <a:rPr lang="en-US" altLang="zh-CN" sz="1667" dirty="0"/>
              <a:t>VMM intercepts guest OS setting the virtual CR3</a:t>
            </a:r>
          </a:p>
          <a:p>
            <a:pPr marL="357159" indent="-357159">
              <a:buFont typeface="+mj-lt"/>
              <a:buAutoNum type="arabicPeriod"/>
            </a:pPr>
            <a:r>
              <a:rPr lang="en-US" altLang="zh-CN" sz="1667" dirty="0"/>
              <a:t>VMM iterates over the guest page table, constructs a corresponding shadow page</a:t>
            </a:r>
            <a:r>
              <a:rPr lang="zh-CN" altLang="en-US" sz="1667" dirty="0"/>
              <a:t> </a:t>
            </a:r>
            <a:r>
              <a:rPr lang="en-US" altLang="zh-CN" sz="1667" dirty="0"/>
              <a:t>table</a:t>
            </a:r>
          </a:p>
          <a:p>
            <a:pPr marL="357159" indent="-357159">
              <a:buFont typeface="+mj-lt"/>
              <a:buAutoNum type="arabicPeriod"/>
            </a:pPr>
            <a:r>
              <a:rPr lang="en-US" altLang="zh-CN" sz="1667" dirty="0"/>
              <a:t>In shadow PT, every guest physical address is translated into host physical address</a:t>
            </a:r>
          </a:p>
          <a:p>
            <a:pPr marL="357159" indent="-357159">
              <a:buFont typeface="+mj-lt"/>
              <a:buAutoNum type="arabicPeriod"/>
            </a:pPr>
            <a:r>
              <a:rPr lang="en-US" altLang="zh-CN" sz="1667" dirty="0"/>
              <a:t>Finally, VMM loads the host physical address of the shadow page</a:t>
            </a:r>
            <a:r>
              <a:rPr lang="zh-CN" altLang="en-US" sz="1667" dirty="0"/>
              <a:t> </a:t>
            </a:r>
            <a:r>
              <a:rPr lang="en-US" altLang="zh-CN" sz="1667" dirty="0"/>
              <a:t>table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5471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Shadow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 设置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541663" y="1597360"/>
            <a:ext cx="6459337" cy="31788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5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set_cr3 (</a:t>
            </a:r>
            <a:r>
              <a:rPr kumimoji="1" lang="en-US" altLang="zh-CN" sz="1500" b="1" dirty="0" err="1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guest_page_table</a:t>
            </a:r>
            <a:r>
              <a:rPr kumimoji="1" lang="en-US" altLang="zh-CN" sz="15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kumimoji="1" lang="zh-CN" altLang="en-US" sz="1500" b="1" dirty="0">
              <a:solidFill>
                <a:srgbClr val="0096FF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for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GVA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in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0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to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2</a:t>
            </a:r>
            <a:r>
              <a:rPr kumimoji="1" lang="en-US" altLang="zh-CN" sz="1500" baseline="30000" dirty="0">
                <a:latin typeface="Courier" charset="0"/>
                <a:ea typeface="Courier" charset="0"/>
                <a:cs typeface="Courier" charset="0"/>
              </a:rPr>
              <a:t>20</a:t>
            </a:r>
            <a:endParaRPr kumimoji="1" lang="zh-CN" altLang="en-US" sz="1500" baseline="300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if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 err="1">
                <a:latin typeface="Courier" charset="0"/>
                <a:ea typeface="Courier" charset="0"/>
                <a:cs typeface="Courier" charset="0"/>
              </a:rPr>
              <a:t>guest_page_table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[GVA]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&amp;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PTE_P:</a:t>
            </a:r>
            <a:endParaRPr kumimoji="1" lang="zh-CN" altLang="en-US" sz="15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GPA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 err="1">
                <a:latin typeface="Courier" charset="0"/>
                <a:ea typeface="Courier" charset="0"/>
                <a:cs typeface="Courier" charset="0"/>
              </a:rPr>
              <a:t>guest_page_table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[GVA]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&gt;&gt;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12</a:t>
            </a:r>
            <a:endParaRPr kumimoji="1" lang="zh-CN" altLang="en-US" sz="15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HPA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 err="1">
                <a:latin typeface="Courier" charset="0"/>
                <a:ea typeface="Courier" charset="0"/>
                <a:cs typeface="Courier" charset="0"/>
              </a:rPr>
              <a:t>host_page_table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[GPA]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&gt;&gt;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12</a:t>
            </a:r>
            <a:endParaRPr kumimoji="1" lang="zh-CN" altLang="en-US" sz="15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kumimoji="1" lang="en-US" altLang="zh-CN" sz="1500" dirty="0" err="1">
                <a:latin typeface="Courier" charset="0"/>
                <a:ea typeface="Courier" charset="0"/>
                <a:cs typeface="Courier" charset="0"/>
              </a:rPr>
              <a:t>shadow_page_table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[GVA]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(HPA&lt;&lt;12)|PTE_P</a:t>
            </a:r>
            <a:endParaRPr kumimoji="1" lang="zh-CN" altLang="en-US" sz="15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else</a:t>
            </a:r>
            <a:endParaRPr kumimoji="1" lang="zh-CN" altLang="en-US" sz="15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kumimoji="1" lang="en-US" altLang="zh-CN" sz="1500" dirty="0" err="1">
                <a:latin typeface="Courier" charset="0"/>
                <a:ea typeface="Courier" charset="0"/>
                <a:cs typeface="Courier" charset="0"/>
              </a:rPr>
              <a:t>shadow_page_table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[GVA]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0</a:t>
            </a:r>
            <a:endParaRPr kumimoji="1" lang="zh-CN" altLang="en-US" sz="1500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CR3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kumimoji="1" lang="zh-CN" altLang="en-US" sz="15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PHYSICAL_ADDR(</a:t>
            </a:r>
            <a:r>
              <a:rPr kumimoji="1" lang="en-US" altLang="zh-CN" sz="1500" dirty="0" err="1">
                <a:latin typeface="Courier" charset="0"/>
                <a:ea typeface="Courier" charset="0"/>
                <a:cs typeface="Courier" charset="0"/>
              </a:rPr>
              <a:t>shadow_page_table</a:t>
            </a:r>
            <a:r>
              <a:rPr kumimoji="1" lang="en-US" altLang="zh-CN" sz="1500" dirty="0">
                <a:latin typeface="Courier" charset="0"/>
                <a:ea typeface="Courier" charset="0"/>
                <a:cs typeface="Courier" charset="0"/>
              </a:rPr>
              <a:t>)</a:t>
            </a:r>
            <a:endParaRPr kumimoji="1" lang="zh-CN" altLang="en-US" sz="1500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3922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Guest OS</a:t>
            </a:r>
            <a:r>
              <a:rPr lang="zh-CN" altLang="en-US" dirty="0"/>
              <a:t>修改页表，如何生效？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273324"/>
            <a:ext cx="7920880" cy="3600400"/>
          </a:xfrm>
        </p:spPr>
        <p:txBody>
          <a:bodyPr>
            <a:normAutofit/>
          </a:bodyPr>
          <a:lstStyle/>
          <a:p>
            <a:r>
              <a:rPr lang="en-US" altLang="zh-CN" sz="1800" dirty="0"/>
              <a:t>Real hardware would start using the new page table's mappings</a:t>
            </a:r>
          </a:p>
          <a:p>
            <a:pPr lvl="1"/>
            <a:r>
              <a:rPr lang="en-US" altLang="zh-CN" sz="1400" dirty="0"/>
              <a:t>Virtual machine monitor has a separate shadow page table</a:t>
            </a:r>
          </a:p>
          <a:p>
            <a:r>
              <a:rPr lang="en-US" altLang="zh-CN" sz="1800" dirty="0"/>
              <a:t>Goal: </a:t>
            </a:r>
          </a:p>
          <a:p>
            <a:pPr lvl="1"/>
            <a:r>
              <a:rPr lang="en-US" altLang="zh-CN" sz="1400" dirty="0"/>
              <a:t>VMM needs to intercept when guest OS modifies page table, update shadow page table accordingly</a:t>
            </a:r>
          </a:p>
          <a:p>
            <a:r>
              <a:rPr lang="en-US" altLang="zh-CN" sz="1800" dirty="0"/>
              <a:t>Technique: </a:t>
            </a:r>
          </a:p>
          <a:p>
            <a:pPr lvl="1"/>
            <a:r>
              <a:rPr lang="en-US" altLang="zh-CN" sz="1400" dirty="0"/>
              <a:t>Use the read/write bit in the PTE to mark those pages read-only</a:t>
            </a:r>
          </a:p>
          <a:p>
            <a:pPr lvl="1"/>
            <a:r>
              <a:rPr lang="en-US" altLang="zh-CN" sz="1400" dirty="0"/>
              <a:t>If guest OS tries to modify them, hardware triggers page fault</a:t>
            </a:r>
          </a:p>
          <a:p>
            <a:pPr lvl="1"/>
            <a:r>
              <a:rPr lang="en-US" altLang="zh-CN" sz="1400" dirty="0"/>
              <a:t>Page fault handled by VMM: update shadow page table &amp; restart guest</a:t>
            </a: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3304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Guest</a:t>
            </a:r>
            <a:r>
              <a:rPr lang="zh-CN" altLang="en-US" dirty="0"/>
              <a:t>内核如何与</a:t>
            </a:r>
            <a:r>
              <a:rPr lang="en-US" altLang="zh-CN" dirty="0"/>
              <a:t>Guest</a:t>
            </a:r>
            <a:r>
              <a:rPr lang="zh-CN" altLang="en-US" dirty="0"/>
              <a:t>应用隔离？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262" y="1273324"/>
            <a:ext cx="7993178" cy="3771636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How do we selectively allow / deny access to kernel-only pages in guest PT? </a:t>
            </a:r>
          </a:p>
          <a:p>
            <a:pPr lvl="1"/>
            <a:r>
              <a:rPr lang="en-US" altLang="zh-CN" sz="1800" dirty="0"/>
              <a:t>Hardware doesn't know about the virtual U/K bit </a:t>
            </a:r>
          </a:p>
          <a:p>
            <a:r>
              <a:rPr lang="en-US" altLang="zh-CN" sz="2000" dirty="0"/>
              <a:t>Idea: </a:t>
            </a:r>
          </a:p>
          <a:p>
            <a:pPr lvl="1"/>
            <a:r>
              <a:rPr lang="en-US" altLang="zh-CN" sz="1800" dirty="0"/>
              <a:t>Generate </a:t>
            </a:r>
            <a:r>
              <a:rPr lang="en-US" altLang="zh-CN" sz="1800" dirty="0">
                <a:solidFill>
                  <a:srgbClr val="00B0F0"/>
                </a:solidFill>
              </a:rPr>
              <a:t>two</a:t>
            </a:r>
            <a:r>
              <a:rPr lang="en-US" altLang="zh-CN" sz="1800" dirty="0"/>
              <a:t> shadow page tables, one for U, one for K</a:t>
            </a:r>
          </a:p>
          <a:p>
            <a:pPr lvl="1"/>
            <a:r>
              <a:rPr lang="en-US" altLang="zh-CN" sz="1800" dirty="0"/>
              <a:t>When guest OS switches to U mode, VMM must invoke </a:t>
            </a:r>
            <a:r>
              <a:rPr lang="en-US" altLang="zh-CN" sz="1800" dirty="0" err="1"/>
              <a:t>set_ptp</a:t>
            </a:r>
            <a:r>
              <a:rPr lang="en-US" altLang="zh-CN" sz="1800" dirty="0"/>
              <a:t>(current, 0)</a:t>
            </a:r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89709D-CAF0-9E40-A0C2-A97247373D54}"/>
              </a:ext>
            </a:extLst>
          </p:cNvPr>
          <p:cNvSpPr/>
          <p:nvPr/>
        </p:nvSpPr>
        <p:spPr>
          <a:xfrm>
            <a:off x="2901429" y="4647741"/>
            <a:ext cx="32688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solidFill>
                  <a:schemeClr val="accent1"/>
                </a:solidFill>
              </a:rPr>
              <a:t>1</a:t>
            </a:r>
            <a:r>
              <a:rPr kumimoji="1" lang="zh-CN" altLang="en-US" sz="2800" b="1" dirty="0">
                <a:solidFill>
                  <a:schemeClr val="accent1"/>
                </a:solidFill>
              </a:rPr>
              <a:t>个页表 </a:t>
            </a:r>
            <a:r>
              <a:rPr kumimoji="1" lang="en-US" altLang="zh-CN" sz="2800" b="1" dirty="0">
                <a:solidFill>
                  <a:schemeClr val="accent1"/>
                </a:solidFill>
              </a:rPr>
              <a:t>-&gt;</a:t>
            </a:r>
            <a:r>
              <a:rPr kumimoji="1" lang="zh-CN" altLang="en-US" sz="2800" b="1" dirty="0">
                <a:solidFill>
                  <a:schemeClr val="accent1"/>
                </a:solidFill>
              </a:rPr>
              <a:t> </a:t>
            </a:r>
            <a:r>
              <a:rPr kumimoji="1" lang="en-US" altLang="zh-CN" sz="2800" b="1" dirty="0">
                <a:solidFill>
                  <a:schemeClr val="accent1"/>
                </a:solidFill>
              </a:rPr>
              <a:t>2</a:t>
            </a:r>
            <a:r>
              <a:rPr kumimoji="1" lang="zh-CN" altLang="en-US" sz="2800" b="1" dirty="0">
                <a:solidFill>
                  <a:schemeClr val="accent1"/>
                </a:solidFill>
              </a:rPr>
              <a:t>个页表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8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构建</a:t>
            </a:r>
            <a:r>
              <a:rPr lang="en-US" altLang="zh-CN" dirty="0"/>
              <a:t>2</a:t>
            </a:r>
            <a:r>
              <a:rPr lang="zh-CN" altLang="en-US" dirty="0"/>
              <a:t>个不同的</a:t>
            </a:r>
            <a:r>
              <a:rPr lang="en-US" altLang="zh-CN" dirty="0"/>
              <a:t>Guest Pages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700" y="1457345"/>
            <a:ext cx="5340593" cy="3393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04656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Two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Views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867810" y="1993404"/>
            <a:ext cx="1320147" cy="4200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/>
          </a:p>
        </p:txBody>
      </p:sp>
      <p:sp>
        <p:nvSpPr>
          <p:cNvPr id="5" name="矩形 4"/>
          <p:cNvSpPr/>
          <p:nvPr/>
        </p:nvSpPr>
        <p:spPr>
          <a:xfrm>
            <a:off x="2867810" y="2473457"/>
            <a:ext cx="1320147" cy="10801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/>
          </a:p>
        </p:txBody>
      </p:sp>
      <p:sp>
        <p:nvSpPr>
          <p:cNvPr id="6" name="文本框 5"/>
          <p:cNvSpPr txBox="1"/>
          <p:nvPr/>
        </p:nvSpPr>
        <p:spPr>
          <a:xfrm>
            <a:off x="1187624" y="2045668"/>
            <a:ext cx="13575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engXian" charset="0"/>
                <a:ea typeface="DengXian" charset="0"/>
                <a:cs typeface="DengXian" charset="0"/>
              </a:rPr>
              <a:t>Kernel</a:t>
            </a:r>
            <a:r>
              <a:rPr kumimoji="1" lang="zh-CN" alt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engXian" charset="0"/>
                <a:ea typeface="DengXian" charset="0"/>
                <a:cs typeface="DengXian" charset="0"/>
              </a:rPr>
              <a:t>space</a:t>
            </a:r>
            <a:endParaRPr kumimoji="1" lang="zh-CN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24355" y="2825754"/>
            <a:ext cx="112082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engXian" charset="0"/>
                <a:ea typeface="DengXian" charset="0"/>
                <a:cs typeface="DengXian" charset="0"/>
              </a:rPr>
              <a:t>User</a:t>
            </a:r>
            <a:r>
              <a:rPr kumimoji="1" lang="zh-CN" alt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engXian" charset="0"/>
                <a:ea typeface="DengXian" charset="0"/>
                <a:cs typeface="DengXian" charset="0"/>
              </a:rPr>
              <a:t>space</a:t>
            </a:r>
            <a:endParaRPr kumimoji="1" lang="zh-CN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148064" y="1993404"/>
            <a:ext cx="1320147" cy="420047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/>
          </a:p>
        </p:txBody>
      </p:sp>
      <p:sp>
        <p:nvSpPr>
          <p:cNvPr id="9" name="矩形 8"/>
          <p:cNvSpPr/>
          <p:nvPr/>
        </p:nvSpPr>
        <p:spPr>
          <a:xfrm>
            <a:off x="5148064" y="2473457"/>
            <a:ext cx="1320147" cy="10801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/>
          </a:p>
        </p:txBody>
      </p:sp>
      <p:sp>
        <p:nvSpPr>
          <p:cNvPr id="10" name="文本框 9"/>
          <p:cNvSpPr txBox="1"/>
          <p:nvPr/>
        </p:nvSpPr>
        <p:spPr>
          <a:xfrm>
            <a:off x="2458972" y="1334782"/>
            <a:ext cx="21885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When</a:t>
            </a:r>
            <a:r>
              <a:rPr kumimoji="1" lang="zh-CN" altLang="en-US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guest</a:t>
            </a:r>
            <a:r>
              <a:rPr kumimoji="1" lang="zh-CN" altLang="en-US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OS</a:t>
            </a:r>
            <a:endParaRPr kumimoji="1" lang="zh-CN" altLang="en-US" sz="1500" b="1" dirty="0">
              <a:solidFill>
                <a:srgbClr val="0096FF"/>
              </a:solidFill>
              <a:latin typeface="DengXian" charset="0"/>
              <a:ea typeface="DengXian" charset="0"/>
              <a:cs typeface="DengXian" charset="0"/>
            </a:endParaRPr>
          </a:p>
          <a:p>
            <a:pPr algn="ctr"/>
            <a:r>
              <a:rPr kumimoji="1" lang="en-US" altLang="zh-CN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is</a:t>
            </a:r>
            <a:r>
              <a:rPr kumimoji="1" lang="zh-CN" altLang="en-US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running</a:t>
            </a:r>
            <a:endParaRPr kumimoji="1" lang="zh-CN" altLang="en-US" sz="1500" b="1" dirty="0">
              <a:solidFill>
                <a:srgbClr val="0096FF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84034" y="1334782"/>
            <a:ext cx="184820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When</a:t>
            </a:r>
            <a:r>
              <a:rPr kumimoji="1" lang="zh-CN" altLang="en-US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application</a:t>
            </a:r>
            <a:r>
              <a:rPr kumimoji="1" lang="zh-CN" altLang="en-US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</a:p>
          <a:p>
            <a:pPr algn="ctr"/>
            <a:r>
              <a:rPr kumimoji="1" lang="en-US" altLang="zh-CN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is</a:t>
            </a:r>
            <a:r>
              <a:rPr kumimoji="1" lang="zh-CN" altLang="en-US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500" b="1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running</a:t>
            </a:r>
            <a:endParaRPr kumimoji="1" lang="zh-CN" altLang="en-US" sz="1500" b="1" dirty="0">
              <a:solidFill>
                <a:srgbClr val="0096FF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948264" y="2309216"/>
            <a:ext cx="8400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500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No</a:t>
            </a:r>
            <a:r>
              <a:rPr kumimoji="1" lang="zh-CN" altLang="en-US" sz="1500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500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user</a:t>
            </a:r>
            <a:r>
              <a:rPr kumimoji="1" lang="zh-CN" altLang="en-US" sz="1500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500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access</a:t>
            </a:r>
            <a:endParaRPr kumimoji="1" lang="zh-CN" altLang="en-US" sz="1500" dirty="0">
              <a:solidFill>
                <a:srgbClr val="0096FF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827917" y="3553577"/>
            <a:ext cx="168018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500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User</a:t>
            </a:r>
            <a:r>
              <a:rPr kumimoji="1" lang="zh-CN" altLang="en-US" sz="1500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endParaRPr kumimoji="1" lang="en-US" altLang="zh-CN" sz="1500" dirty="0">
              <a:solidFill>
                <a:srgbClr val="0096FF"/>
              </a:solidFill>
              <a:latin typeface="DengXian" charset="0"/>
              <a:ea typeface="DengXian" charset="0"/>
              <a:cs typeface="DengXian" charset="0"/>
            </a:endParaRPr>
          </a:p>
          <a:p>
            <a:pPr algn="ctr"/>
            <a:r>
              <a:rPr kumimoji="1" lang="en-US" altLang="zh-CN" sz="1500" dirty="0">
                <a:solidFill>
                  <a:srgbClr val="0096FF"/>
                </a:solidFill>
                <a:latin typeface="DengXian" charset="0"/>
                <a:ea typeface="DengXian" charset="0"/>
                <a:cs typeface="DengXian" charset="0"/>
              </a:rPr>
              <a:t>accessible</a:t>
            </a:r>
            <a:endParaRPr kumimoji="1" lang="zh-CN" altLang="en-US" sz="1500" dirty="0">
              <a:solidFill>
                <a:srgbClr val="0096FF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cxnSp>
        <p:nvCxnSpPr>
          <p:cNvPr id="15" name="直线连接符 14"/>
          <p:cNvCxnSpPr>
            <a:stCxn id="4" idx="3"/>
            <a:endCxn id="13" idx="0"/>
          </p:cNvCxnSpPr>
          <p:nvPr/>
        </p:nvCxnSpPr>
        <p:spPr>
          <a:xfrm>
            <a:off x="4187957" y="2203428"/>
            <a:ext cx="480054" cy="1350149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/>
          <p:cNvCxnSpPr>
            <a:stCxn id="5" idx="3"/>
            <a:endCxn id="13" idx="0"/>
          </p:cNvCxnSpPr>
          <p:nvPr/>
        </p:nvCxnSpPr>
        <p:spPr>
          <a:xfrm>
            <a:off x="4187957" y="3013517"/>
            <a:ext cx="480054" cy="54006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/>
          <p:cNvCxnSpPr>
            <a:stCxn id="9" idx="1"/>
            <a:endCxn id="13" idx="0"/>
          </p:cNvCxnSpPr>
          <p:nvPr/>
        </p:nvCxnSpPr>
        <p:spPr>
          <a:xfrm flipH="1">
            <a:off x="4668011" y="3013517"/>
            <a:ext cx="480053" cy="54006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/>
          <p:cNvCxnSpPr>
            <a:stCxn id="8" idx="3"/>
            <a:endCxn id="12" idx="1"/>
          </p:cNvCxnSpPr>
          <p:nvPr/>
        </p:nvCxnSpPr>
        <p:spPr>
          <a:xfrm>
            <a:off x="6468211" y="2203428"/>
            <a:ext cx="480053" cy="3827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7F560058-A311-3D4B-A562-025B33745F03}"/>
              </a:ext>
            </a:extLst>
          </p:cNvPr>
          <p:cNvSpPr/>
          <p:nvPr/>
        </p:nvSpPr>
        <p:spPr>
          <a:xfrm>
            <a:off x="3383867" y="4300809"/>
            <a:ext cx="288032" cy="43204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AFDA832-A0EB-474E-894D-C0DAD889419B}"/>
              </a:ext>
            </a:extLst>
          </p:cNvPr>
          <p:cNvSpPr/>
          <p:nvPr/>
        </p:nvSpPr>
        <p:spPr>
          <a:xfrm>
            <a:off x="2867809" y="4297660"/>
            <a:ext cx="288032" cy="43204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6E50C0F-FF35-4B48-BDD8-BC9A15B09648}"/>
              </a:ext>
            </a:extLst>
          </p:cNvPr>
          <p:cNvSpPr/>
          <p:nvPr/>
        </p:nvSpPr>
        <p:spPr>
          <a:xfrm>
            <a:off x="3899925" y="4297660"/>
            <a:ext cx="288032" cy="43204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5524D3-0F60-CD44-886B-9447D8973DC0}"/>
              </a:ext>
            </a:extLst>
          </p:cNvPr>
          <p:cNvSpPr/>
          <p:nvPr/>
        </p:nvSpPr>
        <p:spPr>
          <a:xfrm>
            <a:off x="3383867" y="4361284"/>
            <a:ext cx="288032" cy="72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7CCC712-529E-8F42-AD3F-810004ED9116}"/>
              </a:ext>
            </a:extLst>
          </p:cNvPr>
          <p:cNvSpPr/>
          <p:nvPr/>
        </p:nvSpPr>
        <p:spPr>
          <a:xfrm>
            <a:off x="3899925" y="4577308"/>
            <a:ext cx="288032" cy="72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139C060-22BF-7649-8349-3F7308138629}"/>
              </a:ext>
            </a:extLst>
          </p:cNvPr>
          <p:cNvSpPr/>
          <p:nvPr/>
        </p:nvSpPr>
        <p:spPr>
          <a:xfrm>
            <a:off x="2867809" y="4477680"/>
            <a:ext cx="288032" cy="72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7" name="肘形连接符 26">
            <a:extLst>
              <a:ext uri="{FF2B5EF4-FFF2-40B4-BE49-F238E27FC236}">
                <a16:creationId xmlns:a16="http://schemas.microsoft.com/office/drawing/2014/main" id="{73F66A99-DDE4-1743-B909-46DAC6A8B905}"/>
              </a:ext>
            </a:extLst>
          </p:cNvPr>
          <p:cNvCxnSpPr>
            <a:stCxn id="26" idx="3"/>
            <a:endCxn id="24" idx="1"/>
          </p:cNvCxnSpPr>
          <p:nvPr/>
        </p:nvCxnSpPr>
        <p:spPr>
          <a:xfrm flipV="1">
            <a:off x="3155841" y="4397288"/>
            <a:ext cx="228026" cy="116396"/>
          </a:xfrm>
          <a:prstGeom prst="bentConnector3">
            <a:avLst/>
          </a:prstGeom>
          <a:ln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>
            <a:extLst>
              <a:ext uri="{FF2B5EF4-FFF2-40B4-BE49-F238E27FC236}">
                <a16:creationId xmlns:a16="http://schemas.microsoft.com/office/drawing/2014/main" id="{AA63AF50-0F80-5E48-950F-97E975A4CED9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3671899" y="4397288"/>
            <a:ext cx="228026" cy="216024"/>
          </a:xfrm>
          <a:prstGeom prst="bentConnector3">
            <a:avLst/>
          </a:prstGeom>
          <a:ln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1308AD1F-BBBC-3846-ACD7-37CC0BCADB8A}"/>
              </a:ext>
            </a:extLst>
          </p:cNvPr>
          <p:cNvSpPr/>
          <p:nvPr/>
        </p:nvSpPr>
        <p:spPr>
          <a:xfrm>
            <a:off x="5664121" y="4300809"/>
            <a:ext cx="288032" cy="43204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8A423FA-13AB-A544-B6AB-0F87F361A837}"/>
              </a:ext>
            </a:extLst>
          </p:cNvPr>
          <p:cNvSpPr/>
          <p:nvPr/>
        </p:nvSpPr>
        <p:spPr>
          <a:xfrm>
            <a:off x="5148063" y="4297660"/>
            <a:ext cx="288032" cy="43204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D219224-28A3-544B-B883-D56D7C2A3BC9}"/>
              </a:ext>
            </a:extLst>
          </p:cNvPr>
          <p:cNvSpPr/>
          <p:nvPr/>
        </p:nvSpPr>
        <p:spPr>
          <a:xfrm>
            <a:off x="6180179" y="4297660"/>
            <a:ext cx="288032" cy="432048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ED14F62-A024-A343-9582-60D7FA38F8B5}"/>
              </a:ext>
            </a:extLst>
          </p:cNvPr>
          <p:cNvSpPr/>
          <p:nvPr/>
        </p:nvSpPr>
        <p:spPr>
          <a:xfrm>
            <a:off x="5664121" y="4361284"/>
            <a:ext cx="288032" cy="72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B09A766-ABC1-B146-8736-0D1E58FFBAF1}"/>
              </a:ext>
            </a:extLst>
          </p:cNvPr>
          <p:cNvSpPr/>
          <p:nvPr/>
        </p:nvSpPr>
        <p:spPr>
          <a:xfrm>
            <a:off x="6180179" y="4577308"/>
            <a:ext cx="288032" cy="7200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3F95300-1957-6A4B-8D48-E76009ECCA42}"/>
              </a:ext>
            </a:extLst>
          </p:cNvPr>
          <p:cNvSpPr/>
          <p:nvPr/>
        </p:nvSpPr>
        <p:spPr>
          <a:xfrm>
            <a:off x="5148063" y="4477680"/>
            <a:ext cx="288032" cy="72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7" name="肘形连接符 36">
            <a:extLst>
              <a:ext uri="{FF2B5EF4-FFF2-40B4-BE49-F238E27FC236}">
                <a16:creationId xmlns:a16="http://schemas.microsoft.com/office/drawing/2014/main" id="{197992A5-C18C-FF42-ADB0-BEC9EE378A81}"/>
              </a:ext>
            </a:extLst>
          </p:cNvPr>
          <p:cNvCxnSpPr>
            <a:stCxn id="36" idx="3"/>
            <a:endCxn id="34" idx="1"/>
          </p:cNvCxnSpPr>
          <p:nvPr/>
        </p:nvCxnSpPr>
        <p:spPr>
          <a:xfrm flipV="1">
            <a:off x="5436095" y="4397288"/>
            <a:ext cx="228026" cy="116396"/>
          </a:xfrm>
          <a:prstGeom prst="bentConnector3">
            <a:avLst/>
          </a:prstGeom>
          <a:ln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D31EAB4-ABC1-4B42-8AF7-1640C485979E}"/>
              </a:ext>
            </a:extLst>
          </p:cNvPr>
          <p:cNvSpPr txBox="1"/>
          <p:nvPr/>
        </p:nvSpPr>
        <p:spPr>
          <a:xfrm>
            <a:off x="2979989" y="4829336"/>
            <a:ext cx="1146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Shadow</a:t>
            </a:r>
            <a:r>
              <a:rPr kumimoji="1" lang="zh-CN" altLang="en-US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PT</a:t>
            </a:r>
            <a:r>
              <a:rPr kumimoji="1" lang="zh-CN" altLang="en-US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endParaRPr kumimoji="1" lang="en-US" altLang="zh-CN" sz="1200" b="1" dirty="0">
              <a:solidFill>
                <a:schemeClr val="accent1"/>
              </a:solidFill>
              <a:latin typeface="DengXian" charset="0"/>
              <a:ea typeface="DengXian" charset="0"/>
              <a:cs typeface="DengXian" charset="0"/>
            </a:endParaRPr>
          </a:p>
          <a:p>
            <a:pPr algn="ctr"/>
            <a:r>
              <a:rPr kumimoji="1" lang="en-US" altLang="zh-CN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(guest</a:t>
            </a:r>
            <a:r>
              <a:rPr kumimoji="1" lang="zh-CN" altLang="en-US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kernel)</a:t>
            </a:r>
            <a:endParaRPr kumimoji="1" lang="zh-CN" altLang="en-US" sz="1200" b="1" dirty="0">
              <a:solidFill>
                <a:schemeClr val="accent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E41AAF8-071D-D745-BDF4-E81F93F7054B}"/>
              </a:ext>
            </a:extLst>
          </p:cNvPr>
          <p:cNvSpPr txBox="1"/>
          <p:nvPr/>
        </p:nvSpPr>
        <p:spPr>
          <a:xfrm>
            <a:off x="5303031" y="4814527"/>
            <a:ext cx="101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Shadow</a:t>
            </a:r>
            <a:r>
              <a:rPr kumimoji="1" lang="zh-CN" altLang="en-US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PT</a:t>
            </a:r>
            <a:r>
              <a:rPr kumimoji="1" lang="zh-CN" altLang="en-US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endParaRPr kumimoji="1" lang="en-US" altLang="zh-CN" sz="1200" b="1" dirty="0">
              <a:solidFill>
                <a:schemeClr val="accent1"/>
              </a:solidFill>
              <a:latin typeface="DengXian" charset="0"/>
              <a:ea typeface="DengXian" charset="0"/>
              <a:cs typeface="DengXian" charset="0"/>
            </a:endParaRPr>
          </a:p>
          <a:p>
            <a:pPr algn="ctr"/>
            <a:r>
              <a:rPr kumimoji="1" lang="en-US" altLang="zh-CN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(guest</a:t>
            </a:r>
            <a:r>
              <a:rPr kumimoji="1" lang="zh-CN" altLang="en-US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 </a:t>
            </a:r>
            <a:r>
              <a:rPr kumimoji="1" lang="en-US" altLang="zh-CN" sz="1200" b="1" dirty="0">
                <a:solidFill>
                  <a:schemeClr val="accent1"/>
                </a:solidFill>
                <a:latin typeface="DengXian" charset="0"/>
                <a:ea typeface="DengXian" charset="0"/>
                <a:cs typeface="DengXian" charset="0"/>
              </a:rPr>
              <a:t>user)</a:t>
            </a:r>
            <a:endParaRPr kumimoji="1" lang="zh-CN" altLang="en-US" sz="1200" b="1" dirty="0">
              <a:solidFill>
                <a:schemeClr val="accent1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58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Direct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(Para-virtualization)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Modify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OS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No</a:t>
            </a:r>
            <a:r>
              <a:rPr kumimoji="1" lang="zh-CN" altLang="en-US" dirty="0"/>
              <a:t> </a:t>
            </a:r>
            <a:r>
              <a:rPr kumimoji="1" lang="en-US" altLang="zh-CN" dirty="0"/>
              <a:t>GPA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needed,</a:t>
            </a:r>
            <a:r>
              <a:rPr kumimoji="1" lang="zh-CN" altLang="en-US" dirty="0"/>
              <a:t> </a:t>
            </a:r>
            <a:r>
              <a:rPr kumimoji="1" lang="en-US" altLang="zh-CN" dirty="0"/>
              <a:t>just</a:t>
            </a:r>
            <a:r>
              <a:rPr kumimoji="1" lang="zh-CN" altLang="en-US" dirty="0"/>
              <a:t> </a:t>
            </a:r>
            <a:r>
              <a:rPr kumimoji="1" lang="en-US" altLang="zh-CN" dirty="0"/>
              <a:t>GVA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HPA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OS</a:t>
            </a:r>
            <a:r>
              <a:rPr kumimoji="1" lang="zh-CN" altLang="en-US" dirty="0"/>
              <a:t> </a:t>
            </a:r>
            <a:r>
              <a:rPr kumimoji="1" lang="en-US" altLang="zh-CN" dirty="0"/>
              <a:t>directly</a:t>
            </a:r>
            <a:r>
              <a:rPr kumimoji="1" lang="zh-CN" altLang="en-US" dirty="0"/>
              <a:t> </a:t>
            </a:r>
            <a:r>
              <a:rPr kumimoji="1" lang="en-US" altLang="zh-CN" dirty="0"/>
              <a:t>manages</a:t>
            </a:r>
            <a:r>
              <a:rPr kumimoji="1" lang="zh-CN" altLang="en-US" dirty="0"/>
              <a:t> </a:t>
            </a:r>
            <a:r>
              <a:rPr kumimoji="1" lang="en-US" altLang="zh-CN" dirty="0"/>
              <a:t>its</a:t>
            </a:r>
            <a:r>
              <a:rPr kumimoji="1" lang="zh-CN" altLang="en-US" dirty="0"/>
              <a:t> </a:t>
            </a:r>
            <a:r>
              <a:rPr kumimoji="1" lang="en-US" altLang="zh-CN" dirty="0"/>
              <a:t>HPA</a:t>
            </a:r>
            <a:r>
              <a:rPr kumimoji="1" lang="zh-CN" altLang="en-US" dirty="0"/>
              <a:t> </a:t>
            </a:r>
            <a:r>
              <a:rPr kumimoji="1" lang="en-US" altLang="zh-CN" dirty="0"/>
              <a:t>space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i="1" dirty="0" err="1"/>
              <a:t>hypercall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let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VMM</a:t>
            </a:r>
            <a:r>
              <a:rPr kumimoji="1" lang="zh-CN" altLang="en-US" dirty="0"/>
              <a:t> </a:t>
            </a:r>
            <a:r>
              <a:rPr kumimoji="1" lang="en-US" altLang="zh-CN" dirty="0"/>
              <a:t>update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hardware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CR3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point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endParaRPr kumimoji="1" lang="zh-CN" altLang="en-US" dirty="0"/>
          </a:p>
          <a:p>
            <a:r>
              <a:rPr kumimoji="1" lang="en-US" altLang="zh-CN" dirty="0"/>
              <a:t>VMM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check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operations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read-only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guest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82003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Direct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(Para-virtualization)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Positive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Easy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implement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clear</a:t>
            </a:r>
            <a:r>
              <a:rPr kumimoji="1" lang="zh-CN" altLang="en-US" dirty="0"/>
              <a:t> </a:t>
            </a:r>
            <a:r>
              <a:rPr kumimoji="1" lang="en-US" altLang="zh-CN" dirty="0"/>
              <a:t>architecture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Better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performance:</a:t>
            </a:r>
            <a:r>
              <a:rPr kumimoji="1" lang="zh-CN" altLang="en-US" dirty="0"/>
              <a:t> 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batch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reduce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trap</a:t>
            </a:r>
            <a:endParaRPr kumimoji="1" lang="zh-CN" altLang="en-US" dirty="0"/>
          </a:p>
          <a:p>
            <a:r>
              <a:rPr kumimoji="1" lang="en-US" altLang="zh-CN" dirty="0"/>
              <a:t>Negatives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transparent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OS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now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knows</a:t>
            </a:r>
            <a:r>
              <a:rPr kumimoji="1" lang="zh-CN" altLang="en-US" dirty="0"/>
              <a:t> </a:t>
            </a:r>
            <a:r>
              <a:rPr kumimoji="1" lang="en-US" altLang="zh-CN" dirty="0"/>
              <a:t>much</a:t>
            </a:r>
            <a:r>
              <a:rPr kumimoji="1" lang="zh-CN" altLang="en-US" dirty="0"/>
              <a:t> </a:t>
            </a:r>
            <a:r>
              <a:rPr kumimoji="1" lang="en-US" altLang="zh-CN" dirty="0"/>
              <a:t>info,</a:t>
            </a:r>
            <a:r>
              <a:rPr kumimoji="1" lang="zh-CN" altLang="en-US" dirty="0"/>
              <a:t> </a:t>
            </a:r>
            <a:r>
              <a:rPr kumimoji="1" lang="en-US" altLang="zh-CN" dirty="0"/>
              <a:t>e.g.,</a:t>
            </a:r>
            <a:r>
              <a:rPr kumimoji="1" lang="zh-CN" altLang="en-US" dirty="0"/>
              <a:t> </a:t>
            </a:r>
            <a:r>
              <a:rPr kumimoji="1" lang="en-US" altLang="zh-CN" dirty="0"/>
              <a:t>HPA</a:t>
            </a:r>
            <a:endParaRPr kumimoji="1" lang="zh-CN" altLang="en-US" dirty="0"/>
          </a:p>
          <a:p>
            <a:pPr lvl="2"/>
            <a:r>
              <a:rPr kumimoji="1" lang="en-US" altLang="zh-CN" dirty="0"/>
              <a:t>May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such</a:t>
            </a:r>
            <a:r>
              <a:rPr kumimoji="1" lang="zh-CN" altLang="en-US" dirty="0"/>
              <a:t> </a:t>
            </a:r>
            <a:r>
              <a:rPr kumimoji="1" lang="en-US" altLang="zh-CN" dirty="0"/>
              <a:t>info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trigger</a:t>
            </a:r>
            <a:r>
              <a:rPr kumimoji="1" lang="zh-CN" altLang="en-US" dirty="0"/>
              <a:t> </a:t>
            </a:r>
            <a:r>
              <a:rPr kumimoji="1" lang="en-US" altLang="zh-CN" i="1" dirty="0" err="1">
                <a:solidFill>
                  <a:srgbClr val="FF0000"/>
                </a:solidFill>
              </a:rPr>
              <a:t>rowhammer</a:t>
            </a:r>
            <a:r>
              <a:rPr kumimoji="1" lang="zh-CN" altLang="en-US" dirty="0"/>
              <a:t> </a:t>
            </a:r>
            <a:r>
              <a:rPr kumimoji="1" lang="en-US" altLang="zh-CN" dirty="0"/>
              <a:t>attacks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57949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40A6F1-E99C-2B48-8887-EF38D3A4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、硬件虚拟化对内存翻译的支持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2489A7-CC3D-6F4A-99FC-6828E52FC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Intel</a:t>
            </a:r>
            <a:r>
              <a:rPr kumimoji="1" lang="zh-CN" altLang="en-US" dirty="0"/>
              <a:t> </a:t>
            </a:r>
            <a:r>
              <a:rPr kumimoji="1" lang="en-US" altLang="zh-CN" dirty="0"/>
              <a:t>VT-x</a:t>
            </a:r>
            <a:r>
              <a:rPr kumimoji="1" lang="zh-CN" altLang="en-US" dirty="0"/>
              <a:t>和</a:t>
            </a:r>
            <a:r>
              <a:rPr kumimoji="1" lang="en-US" altLang="zh-CN" dirty="0"/>
              <a:t>ARM</a:t>
            </a:r>
            <a:r>
              <a:rPr kumimoji="1" lang="zh-CN" altLang="en-US" dirty="0"/>
              <a:t>硬件虚拟化都有对应的内存虚拟化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Intel</a:t>
            </a:r>
            <a:r>
              <a:rPr kumimoji="1" lang="zh-CN" altLang="en-US" dirty="0"/>
              <a:t> </a:t>
            </a:r>
            <a:r>
              <a:rPr kumimoji="1" lang="en-US" altLang="zh-CN" dirty="0"/>
              <a:t>Extended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(EPT)</a:t>
            </a:r>
          </a:p>
          <a:p>
            <a:pPr lvl="1"/>
            <a:r>
              <a:rPr kumimoji="1" lang="en-US" altLang="zh-CN" dirty="0"/>
              <a:t>ARM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Stage-2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(</a:t>
            </a:r>
            <a:r>
              <a:rPr kumimoji="1" lang="zh-CN" altLang="en-US" dirty="0"/>
              <a:t>第二阶段页表</a:t>
            </a:r>
            <a:r>
              <a:rPr kumimoji="1" lang="en-US" altLang="zh-CN" dirty="0"/>
              <a:t>)</a:t>
            </a:r>
          </a:p>
          <a:p>
            <a:r>
              <a:rPr kumimoji="1" lang="zh-CN" altLang="en-US" dirty="0"/>
              <a:t>新的页表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</a:t>
            </a:r>
            <a:r>
              <a:rPr kumimoji="1" lang="en-US" altLang="zh-CN" dirty="0"/>
              <a:t>GPA</a:t>
            </a:r>
            <a:r>
              <a:rPr kumimoji="1" lang="zh-CN" altLang="en-US" dirty="0"/>
              <a:t>翻译成</a:t>
            </a:r>
            <a:r>
              <a:rPr kumimoji="1" lang="en-US" altLang="zh-CN" dirty="0"/>
              <a:t>HPA</a:t>
            </a:r>
          </a:p>
          <a:p>
            <a:pPr lvl="1"/>
            <a:r>
              <a:rPr kumimoji="1" lang="zh-CN" altLang="en-US" dirty="0"/>
              <a:t>此表被</a:t>
            </a:r>
            <a:r>
              <a:rPr kumimoji="1" lang="en-US" altLang="zh-CN" dirty="0"/>
              <a:t>VMM</a:t>
            </a:r>
            <a:r>
              <a:rPr kumimoji="1" lang="zh-CN" altLang="en-US" dirty="0"/>
              <a:t>直接控制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每一个</a:t>
            </a:r>
            <a:r>
              <a:rPr kumimoji="1" lang="en-US" altLang="zh-CN" dirty="0"/>
              <a:t>VM</a:t>
            </a:r>
            <a:r>
              <a:rPr kumimoji="1" lang="zh-CN" altLang="en-US" dirty="0"/>
              <a:t>有一个对应的页表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64B11C-8D73-F543-AFC6-3DB21F8D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D1F155-DB47-6D43-8FA4-D81908CF1E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30324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E995C-D995-3E42-902C-0B671ED00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第二阶段页表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0997AA-B8E1-1048-9B62-60456A14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第一阶段页表：虚拟机内虚拟地址翻译（</a:t>
            </a:r>
            <a:r>
              <a:rPr kumimoji="1" lang="en-US" altLang="zh-CN" dirty="0"/>
              <a:t>GVA-&gt;GPA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第二阶段页表：虚拟机客户物理地址翻译（</a:t>
            </a:r>
            <a:r>
              <a:rPr kumimoji="1" lang="en-US" altLang="zh-CN" dirty="0"/>
              <a:t>GPA-&gt;HPA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C9E3B4-D398-794B-BE5A-53933A03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99556D-1E09-F54B-A22F-C3D6B30A3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920009B-105A-D04E-BD34-028B3CFA035E}"/>
              </a:ext>
            </a:extLst>
          </p:cNvPr>
          <p:cNvGrpSpPr/>
          <p:nvPr/>
        </p:nvGrpSpPr>
        <p:grpSpPr>
          <a:xfrm>
            <a:off x="755576" y="2281436"/>
            <a:ext cx="7488832" cy="3049100"/>
            <a:chOff x="475924" y="70274"/>
            <a:chExt cx="8360384" cy="5239165"/>
          </a:xfrm>
        </p:grpSpPr>
        <p:cxnSp>
          <p:nvCxnSpPr>
            <p:cNvPr id="7" name="Straight Connector 146">
              <a:extLst>
                <a:ext uri="{FF2B5EF4-FFF2-40B4-BE49-F238E27FC236}">
                  <a16:creationId xmlns:a16="http://schemas.microsoft.com/office/drawing/2014/main" id="{1AE110D6-C335-C740-9833-E0C28518777A}"/>
                </a:ext>
              </a:extLst>
            </p:cNvPr>
            <p:cNvCxnSpPr/>
            <p:nvPr/>
          </p:nvCxnSpPr>
          <p:spPr>
            <a:xfrm>
              <a:off x="3632968" y="2504742"/>
              <a:ext cx="1311696" cy="924083"/>
            </a:xfrm>
            <a:prstGeom prst="line">
              <a:avLst/>
            </a:prstGeom>
            <a:ln>
              <a:solidFill>
                <a:srgbClr val="BE38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83">
              <a:extLst>
                <a:ext uri="{FF2B5EF4-FFF2-40B4-BE49-F238E27FC236}">
                  <a16:creationId xmlns:a16="http://schemas.microsoft.com/office/drawing/2014/main" id="{081229DF-1E5B-5F48-96D1-5E6782A4EC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72652" y="3457256"/>
              <a:ext cx="6318029" cy="718081"/>
            </a:xfrm>
            <a:prstGeom prst="rect">
              <a:avLst/>
            </a:prstGeom>
          </p:spPr>
        </p:pic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0E164BDA-81FD-DC4E-BF2A-279AA737D72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910355" y="3428824"/>
              <a:ext cx="655848" cy="352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673A9FC0-24A0-2247-B933-9178EA47B4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76764" y="3428824"/>
              <a:ext cx="655848" cy="352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FB7A246F-CB54-F14F-9140-30BA4404509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65424" y="979591"/>
              <a:ext cx="655848" cy="352835"/>
            </a:xfrm>
            <a:prstGeom prst="rect">
              <a:avLst/>
            </a:prstGeom>
            <a:solidFill>
              <a:srgbClr val="558ED5"/>
            </a:solidFill>
            <a:ln>
              <a:solidFill>
                <a:srgbClr val="385D8A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039BCCAC-566A-E943-AE81-E3740FCD16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21272" y="979591"/>
              <a:ext cx="655848" cy="352835"/>
            </a:xfrm>
            <a:prstGeom prst="rect">
              <a:avLst/>
            </a:prstGeom>
            <a:solidFill>
              <a:srgbClr val="558ED5"/>
            </a:solidFill>
            <a:ln>
              <a:solidFill>
                <a:srgbClr val="385D8A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1F55AD9C-AAA1-5F4E-A725-5C76F18FB3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7120" y="979591"/>
              <a:ext cx="655848" cy="352835"/>
            </a:xfrm>
            <a:prstGeom prst="rect">
              <a:avLst/>
            </a:prstGeom>
            <a:solidFill>
              <a:srgbClr val="558ED5"/>
            </a:solidFill>
            <a:ln>
              <a:solidFill>
                <a:srgbClr val="385D8A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ACC4EE90-59BC-D744-8B57-C3B60F6F029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65424" y="2176230"/>
              <a:ext cx="655848" cy="352835"/>
            </a:xfrm>
            <a:prstGeom prst="rect">
              <a:avLst/>
            </a:prstGeom>
            <a:solidFill>
              <a:srgbClr val="558ED5"/>
            </a:solidFill>
            <a:ln>
              <a:solidFill>
                <a:srgbClr val="385D8A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2FCFDE0B-DE4C-414B-909E-9E584E5C1C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65424" y="2183912"/>
              <a:ext cx="655848" cy="352835"/>
            </a:xfrm>
            <a:prstGeom prst="rect">
              <a:avLst/>
            </a:prstGeom>
            <a:noFill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6" name="Rectangle 11">
              <a:extLst>
                <a:ext uri="{FF2B5EF4-FFF2-40B4-BE49-F238E27FC236}">
                  <a16:creationId xmlns:a16="http://schemas.microsoft.com/office/drawing/2014/main" id="{7C21F957-FC21-914F-9D3C-3B8912076CA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21272" y="2183912"/>
              <a:ext cx="655848" cy="352835"/>
            </a:xfrm>
            <a:prstGeom prst="rect">
              <a:avLst/>
            </a:prstGeom>
            <a:solidFill>
              <a:srgbClr val="558ED5"/>
            </a:solidFill>
            <a:ln>
              <a:solidFill>
                <a:srgbClr val="385D8A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6546AB6F-130E-7C45-B24C-7CFD6BD4DB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7120" y="2183912"/>
              <a:ext cx="655848" cy="352835"/>
            </a:xfrm>
            <a:prstGeom prst="rect">
              <a:avLst/>
            </a:prstGeom>
            <a:noFill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15B39B1A-8990-E041-B93E-9492E99ECD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32968" y="2183912"/>
              <a:ext cx="655848" cy="352835"/>
            </a:xfrm>
            <a:prstGeom prst="rect">
              <a:avLst/>
            </a:prstGeom>
            <a:solidFill>
              <a:srgbClr val="9BBC59"/>
            </a:solidFill>
            <a:ln>
              <a:solidFill>
                <a:srgbClr val="72893E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cxnSp>
          <p:nvCxnSpPr>
            <p:cNvPr id="19" name="Straight Connector 15">
              <a:extLst>
                <a:ext uri="{FF2B5EF4-FFF2-40B4-BE49-F238E27FC236}">
                  <a16:creationId xmlns:a16="http://schemas.microsoft.com/office/drawing/2014/main" id="{9609828E-1781-BD44-969E-93DAB7F0C9D5}"/>
                </a:ext>
              </a:extLst>
            </p:cNvPr>
            <p:cNvCxnSpPr/>
            <p:nvPr/>
          </p:nvCxnSpPr>
          <p:spPr>
            <a:xfrm>
              <a:off x="1665424" y="1332426"/>
              <a:ext cx="655848" cy="851486"/>
            </a:xfrm>
            <a:prstGeom prst="line">
              <a:avLst/>
            </a:prstGeom>
            <a:ln>
              <a:solidFill>
                <a:srgbClr val="385D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6">
              <a:extLst>
                <a:ext uri="{FF2B5EF4-FFF2-40B4-BE49-F238E27FC236}">
                  <a16:creationId xmlns:a16="http://schemas.microsoft.com/office/drawing/2014/main" id="{7F7D681C-A90A-674D-A1F9-9EE50B8AC3F2}"/>
                </a:ext>
              </a:extLst>
            </p:cNvPr>
            <p:cNvCxnSpPr/>
            <p:nvPr/>
          </p:nvCxnSpPr>
          <p:spPr>
            <a:xfrm>
              <a:off x="2321272" y="1332426"/>
              <a:ext cx="655848" cy="851486"/>
            </a:xfrm>
            <a:prstGeom prst="line">
              <a:avLst/>
            </a:prstGeom>
            <a:ln>
              <a:solidFill>
                <a:srgbClr val="385D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17">
              <a:extLst>
                <a:ext uri="{FF2B5EF4-FFF2-40B4-BE49-F238E27FC236}">
                  <a16:creationId xmlns:a16="http://schemas.microsoft.com/office/drawing/2014/main" id="{F688F64A-8968-6A40-99B2-0E905EC301E0}"/>
                </a:ext>
              </a:extLst>
            </p:cNvPr>
            <p:cNvCxnSpPr/>
            <p:nvPr/>
          </p:nvCxnSpPr>
          <p:spPr>
            <a:xfrm flipH="1">
              <a:off x="3632968" y="1332426"/>
              <a:ext cx="655848" cy="851486"/>
            </a:xfrm>
            <a:prstGeom prst="line">
              <a:avLst/>
            </a:prstGeom>
            <a:ln>
              <a:solidFill>
                <a:srgbClr val="72893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0">
              <a:extLst>
                <a:ext uri="{FF2B5EF4-FFF2-40B4-BE49-F238E27FC236}">
                  <a16:creationId xmlns:a16="http://schemas.microsoft.com/office/drawing/2014/main" id="{AC889F1C-00A3-B640-8D6A-6E28B1B59093}"/>
                </a:ext>
              </a:extLst>
            </p:cNvPr>
            <p:cNvCxnSpPr/>
            <p:nvPr/>
          </p:nvCxnSpPr>
          <p:spPr>
            <a:xfrm flipH="1">
              <a:off x="4288816" y="1332426"/>
              <a:ext cx="655848" cy="851486"/>
            </a:xfrm>
            <a:prstGeom prst="line">
              <a:avLst/>
            </a:prstGeom>
            <a:ln>
              <a:solidFill>
                <a:srgbClr val="72893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5">
              <a:extLst>
                <a:ext uri="{FF2B5EF4-FFF2-40B4-BE49-F238E27FC236}">
                  <a16:creationId xmlns:a16="http://schemas.microsoft.com/office/drawing/2014/main" id="{6B0C7A8A-89AF-A94C-91DC-B4DABB97FC8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8816" y="979591"/>
              <a:ext cx="655848" cy="352835"/>
            </a:xfrm>
            <a:prstGeom prst="rect">
              <a:avLst/>
            </a:prstGeom>
            <a:solidFill>
              <a:srgbClr val="9BBC59"/>
            </a:solidFill>
            <a:ln>
              <a:solidFill>
                <a:srgbClr val="72893E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76AB5DCA-74F7-8E41-A274-3CC081501D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8816" y="2183912"/>
              <a:ext cx="655848" cy="352835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cxnSp>
          <p:nvCxnSpPr>
            <p:cNvPr id="25" name="Straight Connector 25">
              <a:extLst>
                <a:ext uri="{FF2B5EF4-FFF2-40B4-BE49-F238E27FC236}">
                  <a16:creationId xmlns:a16="http://schemas.microsoft.com/office/drawing/2014/main" id="{1DFC766A-A04A-1241-AE9B-40DE08FDDADC}"/>
                </a:ext>
              </a:extLst>
            </p:cNvPr>
            <p:cNvCxnSpPr/>
            <p:nvPr/>
          </p:nvCxnSpPr>
          <p:spPr>
            <a:xfrm flipH="1">
              <a:off x="1676764" y="1332426"/>
              <a:ext cx="1300356" cy="851486"/>
            </a:xfrm>
            <a:prstGeom prst="line">
              <a:avLst/>
            </a:prstGeom>
            <a:ln>
              <a:solidFill>
                <a:srgbClr val="385D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7">
              <a:extLst>
                <a:ext uri="{FF2B5EF4-FFF2-40B4-BE49-F238E27FC236}">
                  <a16:creationId xmlns:a16="http://schemas.microsoft.com/office/drawing/2014/main" id="{C69E5FF5-E0DF-C943-81F8-E2A4AB1BC248}"/>
                </a:ext>
              </a:extLst>
            </p:cNvPr>
            <p:cNvCxnSpPr/>
            <p:nvPr/>
          </p:nvCxnSpPr>
          <p:spPr>
            <a:xfrm flipH="1">
              <a:off x="2321272" y="1332426"/>
              <a:ext cx="1311696" cy="851486"/>
            </a:xfrm>
            <a:prstGeom prst="line">
              <a:avLst/>
            </a:prstGeom>
            <a:ln>
              <a:solidFill>
                <a:srgbClr val="385D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5">
              <a:extLst>
                <a:ext uri="{FF2B5EF4-FFF2-40B4-BE49-F238E27FC236}">
                  <a16:creationId xmlns:a16="http://schemas.microsoft.com/office/drawing/2014/main" id="{46CE1484-D1ED-3B40-8445-A26BF6BACB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44308" y="3435484"/>
              <a:ext cx="655848" cy="352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3E3E8DE0-DED1-E641-AFE9-DC37C19FE4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8816" y="3435484"/>
              <a:ext cx="655848" cy="352835"/>
            </a:xfrm>
            <a:prstGeom prst="rect">
              <a:avLst/>
            </a:prstGeom>
            <a:solidFill>
              <a:srgbClr val="BE384B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29" name="Rectangle 31">
              <a:extLst>
                <a:ext uri="{FF2B5EF4-FFF2-40B4-BE49-F238E27FC236}">
                  <a16:creationId xmlns:a16="http://schemas.microsoft.com/office/drawing/2014/main" id="{068F2896-6E3D-6944-848A-6E9080DE99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44664" y="3435484"/>
              <a:ext cx="655848" cy="3528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0" name="Rectangle 5">
              <a:extLst>
                <a:ext uri="{FF2B5EF4-FFF2-40B4-BE49-F238E27FC236}">
                  <a16:creationId xmlns:a16="http://schemas.microsoft.com/office/drawing/2014/main" id="{B1601F76-99DC-E447-AF27-06FD3C1F53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600512" y="3435484"/>
              <a:ext cx="655848" cy="3528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999B7A61-F08C-0347-90B1-BCEDC3B066A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56360" y="3435484"/>
              <a:ext cx="655848" cy="35283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0627418E-DE60-8D47-A105-A7E4810E36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56360" y="3435484"/>
              <a:ext cx="655848" cy="3528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3" name="Rectangle 5">
              <a:extLst>
                <a:ext uri="{FF2B5EF4-FFF2-40B4-BE49-F238E27FC236}">
                  <a16:creationId xmlns:a16="http://schemas.microsoft.com/office/drawing/2014/main" id="{7DB612F2-9650-C64C-8ADE-3121BBF4958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44664" y="979591"/>
              <a:ext cx="655848" cy="352835"/>
            </a:xfrm>
            <a:prstGeom prst="rect">
              <a:avLst/>
            </a:prstGeom>
            <a:solidFill>
              <a:srgbClr val="9BBC59"/>
            </a:solidFill>
            <a:ln>
              <a:solidFill>
                <a:srgbClr val="72893E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8835C851-6A80-574D-A319-7FE8A0215A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56360" y="2183912"/>
              <a:ext cx="655848" cy="352835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5" name="Rectangle 5">
              <a:extLst>
                <a:ext uri="{FF2B5EF4-FFF2-40B4-BE49-F238E27FC236}">
                  <a16:creationId xmlns:a16="http://schemas.microsoft.com/office/drawing/2014/main" id="{BC47905B-3858-1D4E-B962-16B33E85481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912208" y="2183912"/>
              <a:ext cx="655848" cy="35283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6" name="Rectangle 5">
              <a:extLst>
                <a:ext uri="{FF2B5EF4-FFF2-40B4-BE49-F238E27FC236}">
                  <a16:creationId xmlns:a16="http://schemas.microsoft.com/office/drawing/2014/main" id="{F125C589-BF92-974A-BB89-B67D7BA18A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65424" y="2179579"/>
              <a:ext cx="3279240" cy="352835"/>
            </a:xfrm>
            <a:prstGeom prst="rect">
              <a:avLst/>
            </a:prstGeom>
            <a:noFill/>
            <a:ln w="38100" cmpd="sng">
              <a:solidFill>
                <a:srgbClr val="BE384B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7" name="Rectangle 5">
              <a:extLst>
                <a:ext uri="{FF2B5EF4-FFF2-40B4-BE49-F238E27FC236}">
                  <a16:creationId xmlns:a16="http://schemas.microsoft.com/office/drawing/2014/main" id="{5BB2A7DF-0B03-9A42-9B38-1C0AF90E9AF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7120" y="3435484"/>
              <a:ext cx="655848" cy="352835"/>
            </a:xfrm>
            <a:prstGeom prst="rect">
              <a:avLst/>
            </a:prstGeom>
            <a:solidFill>
              <a:srgbClr val="BE384B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8" name="Rectangle 5">
              <a:extLst>
                <a:ext uri="{FF2B5EF4-FFF2-40B4-BE49-F238E27FC236}">
                  <a16:creationId xmlns:a16="http://schemas.microsoft.com/office/drawing/2014/main" id="{DE182014-3C80-6646-B073-1BBEAB1B3C2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21272" y="3435484"/>
              <a:ext cx="655848" cy="352835"/>
            </a:xfrm>
            <a:prstGeom prst="rect">
              <a:avLst/>
            </a:prstGeom>
            <a:solidFill>
              <a:srgbClr val="BE384B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cxnSp>
          <p:nvCxnSpPr>
            <p:cNvPr id="39" name="Straight Connector 50">
              <a:extLst>
                <a:ext uri="{FF2B5EF4-FFF2-40B4-BE49-F238E27FC236}">
                  <a16:creationId xmlns:a16="http://schemas.microsoft.com/office/drawing/2014/main" id="{F3D65767-0B28-224C-9D5C-D195503A60AD}"/>
                </a:ext>
              </a:extLst>
            </p:cNvPr>
            <p:cNvCxnSpPr/>
            <p:nvPr/>
          </p:nvCxnSpPr>
          <p:spPr>
            <a:xfrm>
              <a:off x="2321272" y="2542542"/>
              <a:ext cx="655848" cy="864406"/>
            </a:xfrm>
            <a:prstGeom prst="line">
              <a:avLst/>
            </a:prstGeom>
            <a:ln>
              <a:solidFill>
                <a:srgbClr val="BE38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53">
              <a:extLst>
                <a:ext uri="{FF2B5EF4-FFF2-40B4-BE49-F238E27FC236}">
                  <a16:creationId xmlns:a16="http://schemas.microsoft.com/office/drawing/2014/main" id="{353B8BD4-A5EC-CE47-AC76-7255683C2905}"/>
                </a:ext>
              </a:extLst>
            </p:cNvPr>
            <p:cNvCxnSpPr/>
            <p:nvPr/>
          </p:nvCxnSpPr>
          <p:spPr>
            <a:xfrm>
              <a:off x="1665424" y="2529065"/>
              <a:ext cx="655848" cy="896597"/>
            </a:xfrm>
            <a:prstGeom prst="line">
              <a:avLst/>
            </a:prstGeom>
            <a:ln>
              <a:solidFill>
                <a:srgbClr val="BE38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62">
              <a:extLst>
                <a:ext uri="{FF2B5EF4-FFF2-40B4-BE49-F238E27FC236}">
                  <a16:creationId xmlns:a16="http://schemas.microsoft.com/office/drawing/2014/main" id="{6D72707E-A1C2-7349-BCAD-ADC1FDDFAE65}"/>
                </a:ext>
              </a:extLst>
            </p:cNvPr>
            <p:cNvCxnSpPr/>
            <p:nvPr/>
          </p:nvCxnSpPr>
          <p:spPr>
            <a:xfrm flipH="1">
              <a:off x="6256360" y="2536747"/>
              <a:ext cx="655848" cy="888915"/>
            </a:xfrm>
            <a:prstGeom prst="line">
              <a:avLst/>
            </a:prstGeom>
            <a:ln>
              <a:solidFill>
                <a:srgbClr val="D5C88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64">
              <a:extLst>
                <a:ext uri="{FF2B5EF4-FFF2-40B4-BE49-F238E27FC236}">
                  <a16:creationId xmlns:a16="http://schemas.microsoft.com/office/drawing/2014/main" id="{6E08895B-645A-B241-B957-D3EFED4DCA3E}"/>
                </a:ext>
              </a:extLst>
            </p:cNvPr>
            <p:cNvCxnSpPr/>
            <p:nvPr/>
          </p:nvCxnSpPr>
          <p:spPr>
            <a:xfrm flipH="1">
              <a:off x="6912208" y="2536747"/>
              <a:ext cx="655848" cy="870201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5">
              <a:extLst>
                <a:ext uri="{FF2B5EF4-FFF2-40B4-BE49-F238E27FC236}">
                  <a16:creationId xmlns:a16="http://schemas.microsoft.com/office/drawing/2014/main" id="{A8E54B0C-92A3-1E42-9A5F-E9E4D5DA5B6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44664" y="3435484"/>
              <a:ext cx="655848" cy="352835"/>
            </a:xfrm>
            <a:prstGeom prst="rect">
              <a:avLst/>
            </a:prstGeom>
            <a:solidFill>
              <a:srgbClr val="BE384B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44" name="Rectangle 5">
              <a:extLst>
                <a:ext uri="{FF2B5EF4-FFF2-40B4-BE49-F238E27FC236}">
                  <a16:creationId xmlns:a16="http://schemas.microsoft.com/office/drawing/2014/main" id="{638B4A23-2102-1449-9B36-E2DDE42E2A0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76764" y="3425662"/>
              <a:ext cx="5891292" cy="352835"/>
            </a:xfrm>
            <a:prstGeom prst="rect">
              <a:avLst/>
            </a:prstGeom>
            <a:noFill/>
            <a:ln w="57150" cmpd="sng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45" name="TextBox 69">
              <a:extLst>
                <a:ext uri="{FF2B5EF4-FFF2-40B4-BE49-F238E27FC236}">
                  <a16:creationId xmlns:a16="http://schemas.microsoft.com/office/drawing/2014/main" id="{A717D2AB-0127-7F47-BFBF-5A52DA0D3079}"/>
                </a:ext>
              </a:extLst>
            </p:cNvPr>
            <p:cNvSpPr txBox="1"/>
            <p:nvPr/>
          </p:nvSpPr>
          <p:spPr>
            <a:xfrm>
              <a:off x="475924" y="317732"/>
              <a:ext cx="9096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GVA</a:t>
              </a:r>
            </a:p>
          </p:txBody>
        </p:sp>
        <p:sp>
          <p:nvSpPr>
            <p:cNvPr id="46" name="TextBox 70">
              <a:extLst>
                <a:ext uri="{FF2B5EF4-FFF2-40B4-BE49-F238E27FC236}">
                  <a16:creationId xmlns:a16="http://schemas.microsoft.com/office/drawing/2014/main" id="{BB737759-FE23-F045-ABAE-227ADB0AFD03}"/>
                </a:ext>
              </a:extLst>
            </p:cNvPr>
            <p:cNvSpPr txBox="1"/>
            <p:nvPr/>
          </p:nvSpPr>
          <p:spPr>
            <a:xfrm>
              <a:off x="475924" y="1926208"/>
              <a:ext cx="9096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GPA</a:t>
              </a:r>
            </a:p>
          </p:txBody>
        </p:sp>
        <p:sp>
          <p:nvSpPr>
            <p:cNvPr id="47" name="TextBox 71">
              <a:extLst>
                <a:ext uri="{FF2B5EF4-FFF2-40B4-BE49-F238E27FC236}">
                  <a16:creationId xmlns:a16="http://schemas.microsoft.com/office/drawing/2014/main" id="{BDFFAA24-AF18-CA4B-BFD1-ECFE07E8620F}"/>
                </a:ext>
              </a:extLst>
            </p:cNvPr>
            <p:cNvSpPr txBox="1"/>
            <p:nvPr/>
          </p:nvSpPr>
          <p:spPr>
            <a:xfrm>
              <a:off x="475924" y="3410954"/>
              <a:ext cx="9096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HPA</a:t>
              </a:r>
            </a:p>
          </p:txBody>
        </p:sp>
        <p:sp>
          <p:nvSpPr>
            <p:cNvPr id="48" name="Rectangle 10">
              <a:extLst>
                <a:ext uri="{FF2B5EF4-FFF2-40B4-BE49-F238E27FC236}">
                  <a16:creationId xmlns:a16="http://schemas.microsoft.com/office/drawing/2014/main" id="{C42984D7-4EF9-9A4F-8F44-567AD0657D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72652" y="702453"/>
              <a:ext cx="4309061" cy="2264856"/>
            </a:xfrm>
            <a:prstGeom prst="rect">
              <a:avLst/>
            </a:prstGeom>
            <a:noFill/>
            <a:ln w="3175" cmpd="sng">
              <a:prstDash val="dash"/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49" name="Rectangle 10">
              <a:extLst>
                <a:ext uri="{FF2B5EF4-FFF2-40B4-BE49-F238E27FC236}">
                  <a16:creationId xmlns:a16="http://schemas.microsoft.com/office/drawing/2014/main" id="{CA03A7BD-9F04-054F-8D10-13F641FCD0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53864" y="702453"/>
              <a:ext cx="1723625" cy="2264856"/>
            </a:xfrm>
            <a:prstGeom prst="rect">
              <a:avLst/>
            </a:prstGeom>
            <a:noFill/>
            <a:ln w="3175" cmpd="sng">
              <a:solidFill>
                <a:srgbClr val="8064A2"/>
              </a:solidFill>
              <a:prstDash val="dash"/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50" name="TextBox 74">
              <a:extLst>
                <a:ext uri="{FF2B5EF4-FFF2-40B4-BE49-F238E27FC236}">
                  <a16:creationId xmlns:a16="http://schemas.microsoft.com/office/drawing/2014/main" id="{16B67F9C-0026-C040-8727-4EE7D3081C47}"/>
                </a:ext>
              </a:extLst>
            </p:cNvPr>
            <p:cNvSpPr txBox="1"/>
            <p:nvPr/>
          </p:nvSpPr>
          <p:spPr>
            <a:xfrm>
              <a:off x="2726797" y="70274"/>
              <a:ext cx="17236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Guest VM</a:t>
              </a:r>
              <a:endParaRPr 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51" name="TextBox 75">
              <a:extLst>
                <a:ext uri="{FF2B5EF4-FFF2-40B4-BE49-F238E27FC236}">
                  <a16:creationId xmlns:a16="http://schemas.microsoft.com/office/drawing/2014/main" id="{C7907F6F-86F4-A946-8694-BD53A5EA1B50}"/>
                </a:ext>
              </a:extLst>
            </p:cNvPr>
            <p:cNvSpPr txBox="1"/>
            <p:nvPr/>
          </p:nvSpPr>
          <p:spPr>
            <a:xfrm>
              <a:off x="6424659" y="70274"/>
              <a:ext cx="17236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VMM</a:t>
              </a:r>
              <a:endParaRPr 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52" name="TextBox 76">
              <a:extLst>
                <a:ext uri="{FF2B5EF4-FFF2-40B4-BE49-F238E27FC236}">
                  <a16:creationId xmlns:a16="http://schemas.microsoft.com/office/drawing/2014/main" id="{63E2CEC3-902C-A14C-8335-4869C972EA2F}"/>
                </a:ext>
              </a:extLst>
            </p:cNvPr>
            <p:cNvSpPr txBox="1"/>
            <p:nvPr/>
          </p:nvSpPr>
          <p:spPr>
            <a:xfrm>
              <a:off x="7871648" y="1678750"/>
              <a:ext cx="9096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VA</a:t>
              </a:r>
            </a:p>
          </p:txBody>
        </p:sp>
        <p:sp>
          <p:nvSpPr>
            <p:cNvPr id="53" name="TextBox 77">
              <a:extLst>
                <a:ext uri="{FF2B5EF4-FFF2-40B4-BE49-F238E27FC236}">
                  <a16:creationId xmlns:a16="http://schemas.microsoft.com/office/drawing/2014/main" id="{31C83834-B69A-1045-942A-3B286AD7BEB9}"/>
                </a:ext>
              </a:extLst>
            </p:cNvPr>
            <p:cNvSpPr txBox="1"/>
            <p:nvPr/>
          </p:nvSpPr>
          <p:spPr>
            <a:xfrm>
              <a:off x="7884368" y="3361556"/>
              <a:ext cx="909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PA</a:t>
              </a:r>
            </a:p>
          </p:txBody>
        </p:sp>
        <p:cxnSp>
          <p:nvCxnSpPr>
            <p:cNvPr id="54" name="Straight Arrow Connector 79">
              <a:extLst>
                <a:ext uri="{FF2B5EF4-FFF2-40B4-BE49-F238E27FC236}">
                  <a16:creationId xmlns:a16="http://schemas.microsoft.com/office/drawing/2014/main" id="{71BE3C40-7744-0246-A5F2-129C6F88CC8D}"/>
                </a:ext>
              </a:extLst>
            </p:cNvPr>
            <p:cNvCxnSpPr>
              <a:cxnSpLocks/>
            </p:cNvCxnSpPr>
            <p:nvPr/>
          </p:nvCxnSpPr>
          <p:spPr>
            <a:xfrm>
              <a:off x="958254" y="936376"/>
              <a:ext cx="0" cy="111539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80">
              <a:extLst>
                <a:ext uri="{FF2B5EF4-FFF2-40B4-BE49-F238E27FC236}">
                  <a16:creationId xmlns:a16="http://schemas.microsoft.com/office/drawing/2014/main" id="{750E2F10-219D-F641-A3C5-B0B9A2298126}"/>
                </a:ext>
              </a:extLst>
            </p:cNvPr>
            <p:cNvCxnSpPr>
              <a:cxnSpLocks/>
            </p:cNvCxnSpPr>
            <p:nvPr/>
          </p:nvCxnSpPr>
          <p:spPr>
            <a:xfrm>
              <a:off x="958254" y="2544852"/>
              <a:ext cx="0" cy="100477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99">
              <a:extLst>
                <a:ext uri="{FF2B5EF4-FFF2-40B4-BE49-F238E27FC236}">
                  <a16:creationId xmlns:a16="http://schemas.microsoft.com/office/drawing/2014/main" id="{B3D30F1D-EFCC-F44D-9A24-086E6142CF9B}"/>
                </a:ext>
              </a:extLst>
            </p:cNvPr>
            <p:cNvCxnSpPr>
              <a:cxnSpLocks/>
            </p:cNvCxnSpPr>
            <p:nvPr/>
          </p:nvCxnSpPr>
          <p:spPr>
            <a:xfrm>
              <a:off x="8316416" y="2281436"/>
              <a:ext cx="0" cy="111063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tangle 106">
              <a:extLst>
                <a:ext uri="{FF2B5EF4-FFF2-40B4-BE49-F238E27FC236}">
                  <a16:creationId xmlns:a16="http://schemas.microsoft.com/office/drawing/2014/main" id="{7EFCF76C-E2D8-0842-BC0C-D3C913B256D3}"/>
                </a:ext>
              </a:extLst>
            </p:cNvPr>
            <p:cNvSpPr/>
            <p:nvPr/>
          </p:nvSpPr>
          <p:spPr>
            <a:xfrm>
              <a:off x="475924" y="1098768"/>
              <a:ext cx="964660" cy="594243"/>
            </a:xfrm>
            <a:prstGeom prst="rect">
              <a:avLst/>
            </a:prstGeom>
            <a:solidFill>
              <a:srgbClr val="558ED6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Stage1</a:t>
              </a:r>
            </a:p>
            <a:p>
              <a:pPr algn="ctr"/>
              <a:r>
                <a:rPr lang="en-US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PT</a:t>
              </a:r>
            </a:p>
          </p:txBody>
        </p:sp>
        <p:sp>
          <p:nvSpPr>
            <p:cNvPr id="58" name="Rectangle 107">
              <a:extLst>
                <a:ext uri="{FF2B5EF4-FFF2-40B4-BE49-F238E27FC236}">
                  <a16:creationId xmlns:a16="http://schemas.microsoft.com/office/drawing/2014/main" id="{244E8ADB-2F49-BD44-8CA0-7B23A4624DBA}"/>
                </a:ext>
              </a:extLst>
            </p:cNvPr>
            <p:cNvSpPr/>
            <p:nvPr/>
          </p:nvSpPr>
          <p:spPr>
            <a:xfrm>
              <a:off x="475924" y="2668581"/>
              <a:ext cx="964660" cy="576001"/>
            </a:xfrm>
            <a:prstGeom prst="rect">
              <a:avLst/>
            </a:prstGeom>
            <a:solidFill>
              <a:srgbClr val="BE384B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Stage2</a:t>
              </a:r>
              <a:r>
                <a:rPr lang="zh-CN" altLang="en-US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 </a:t>
              </a:r>
              <a:endParaRPr lang="en-US" altLang="zh-CN" sz="12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pPr algn="ctr"/>
              <a:r>
                <a:rPr lang="en-US" altLang="zh-CN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PT</a:t>
              </a:r>
              <a:endParaRPr lang="en-US" sz="12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59" name="Rectangle 108">
              <a:extLst>
                <a:ext uri="{FF2B5EF4-FFF2-40B4-BE49-F238E27FC236}">
                  <a16:creationId xmlns:a16="http://schemas.microsoft.com/office/drawing/2014/main" id="{3D7A4DE5-DA97-914A-A337-AFBCAB99D7A7}"/>
                </a:ext>
              </a:extLst>
            </p:cNvPr>
            <p:cNvSpPr/>
            <p:nvPr/>
          </p:nvSpPr>
          <p:spPr>
            <a:xfrm>
              <a:off x="7740352" y="2425452"/>
              <a:ext cx="1095956" cy="616475"/>
            </a:xfrm>
            <a:prstGeom prst="rect">
              <a:avLst/>
            </a:prstGeom>
            <a:solidFill>
              <a:schemeClr val="accent4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Stage1</a:t>
              </a:r>
            </a:p>
            <a:p>
              <a:pPr algn="ctr"/>
              <a:r>
                <a:rPr lang="en-US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PT</a:t>
              </a:r>
            </a:p>
          </p:txBody>
        </p:sp>
        <p:pic>
          <p:nvPicPr>
            <p:cNvPr id="60" name="Picture 113">
              <a:extLst>
                <a:ext uri="{FF2B5EF4-FFF2-40B4-BE49-F238E27FC236}">
                  <a16:creationId xmlns:a16="http://schemas.microsoft.com/office/drawing/2014/main" id="{F441721F-6A1D-A841-A4D2-553CB6B06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60254" y="4491306"/>
              <a:ext cx="1007063" cy="818133"/>
            </a:xfrm>
            <a:prstGeom prst="rect">
              <a:avLst/>
            </a:prstGeom>
          </p:spPr>
        </p:pic>
        <p:cxnSp>
          <p:nvCxnSpPr>
            <p:cNvPr id="61" name="Elbow Connector 115">
              <a:extLst>
                <a:ext uri="{FF2B5EF4-FFF2-40B4-BE49-F238E27FC236}">
                  <a16:creationId xmlns:a16="http://schemas.microsoft.com/office/drawing/2014/main" id="{A6C15E3A-1030-FE4D-AE48-FA0327EEE051}"/>
                </a:ext>
              </a:extLst>
            </p:cNvPr>
            <p:cNvCxnSpPr>
              <a:cxnSpLocks/>
              <a:stCxn id="60" idx="1"/>
              <a:endCxn id="57" idx="1"/>
            </p:cNvCxnSpPr>
            <p:nvPr/>
          </p:nvCxnSpPr>
          <p:spPr>
            <a:xfrm rot="10800000">
              <a:off x="475925" y="1395890"/>
              <a:ext cx="3584330" cy="3504483"/>
            </a:xfrm>
            <a:prstGeom prst="bentConnector3">
              <a:avLst>
                <a:gd name="adj1" fmla="val 107120"/>
              </a:avLst>
            </a:prstGeom>
            <a:ln>
              <a:solidFill>
                <a:srgbClr val="558ED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Elbow Connector 116">
              <a:extLst>
                <a:ext uri="{FF2B5EF4-FFF2-40B4-BE49-F238E27FC236}">
                  <a16:creationId xmlns:a16="http://schemas.microsoft.com/office/drawing/2014/main" id="{2E36C8E3-2154-874A-9261-2C8396E12C45}"/>
                </a:ext>
              </a:extLst>
            </p:cNvPr>
            <p:cNvCxnSpPr>
              <a:cxnSpLocks/>
              <a:endCxn id="58" idx="1"/>
            </p:cNvCxnSpPr>
            <p:nvPr/>
          </p:nvCxnSpPr>
          <p:spPr>
            <a:xfrm rot="10800000">
              <a:off x="475924" y="2956581"/>
              <a:ext cx="3520713" cy="2014323"/>
            </a:xfrm>
            <a:prstGeom prst="bentConnector3">
              <a:avLst>
                <a:gd name="adj1" fmla="val 109479"/>
              </a:avLst>
            </a:prstGeom>
            <a:ln>
              <a:solidFill>
                <a:srgbClr val="BE384B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lbow Connector 125">
              <a:extLst>
                <a:ext uri="{FF2B5EF4-FFF2-40B4-BE49-F238E27FC236}">
                  <a16:creationId xmlns:a16="http://schemas.microsoft.com/office/drawing/2014/main" id="{50B04859-A2C6-B147-950D-6B425AF94249}"/>
                </a:ext>
              </a:extLst>
            </p:cNvPr>
            <p:cNvCxnSpPr>
              <a:cxnSpLocks/>
              <a:stCxn id="60" idx="3"/>
              <a:endCxn id="59" idx="3"/>
            </p:cNvCxnSpPr>
            <p:nvPr/>
          </p:nvCxnSpPr>
          <p:spPr>
            <a:xfrm flipV="1">
              <a:off x="5067317" y="2733690"/>
              <a:ext cx="3768991" cy="2166683"/>
            </a:xfrm>
            <a:prstGeom prst="bentConnector3">
              <a:avLst>
                <a:gd name="adj1" fmla="val 106065"/>
              </a:avLst>
            </a:prstGeom>
            <a:ln>
              <a:solidFill>
                <a:schemeClr val="accent4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43">
              <a:extLst>
                <a:ext uri="{FF2B5EF4-FFF2-40B4-BE49-F238E27FC236}">
                  <a16:creationId xmlns:a16="http://schemas.microsoft.com/office/drawing/2014/main" id="{DEAB8A96-63D0-5942-A350-DA4FAB3B5729}"/>
                </a:ext>
              </a:extLst>
            </p:cNvPr>
            <p:cNvCxnSpPr/>
            <p:nvPr/>
          </p:nvCxnSpPr>
          <p:spPr>
            <a:xfrm>
              <a:off x="4300156" y="2531615"/>
              <a:ext cx="1300356" cy="875333"/>
            </a:xfrm>
            <a:prstGeom prst="line">
              <a:avLst/>
            </a:prstGeom>
            <a:ln>
              <a:solidFill>
                <a:srgbClr val="BE38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160">
              <a:extLst>
                <a:ext uri="{FF2B5EF4-FFF2-40B4-BE49-F238E27FC236}">
                  <a16:creationId xmlns:a16="http://schemas.microsoft.com/office/drawing/2014/main" id="{75985FBE-57E4-8D44-8643-93FC391794E9}"/>
                </a:ext>
              </a:extLst>
            </p:cNvPr>
            <p:cNvSpPr txBox="1"/>
            <p:nvPr/>
          </p:nvSpPr>
          <p:spPr>
            <a:xfrm>
              <a:off x="5520902" y="4522302"/>
              <a:ext cx="29256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EL2</a:t>
              </a:r>
              <a:endParaRPr 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66" name="TextBox 161">
              <a:extLst>
                <a:ext uri="{FF2B5EF4-FFF2-40B4-BE49-F238E27FC236}">
                  <a16:creationId xmlns:a16="http://schemas.microsoft.com/office/drawing/2014/main" id="{FCF9EF41-7247-2F4A-9316-550B8597CEFB}"/>
                </a:ext>
              </a:extLst>
            </p:cNvPr>
            <p:cNvSpPr txBox="1"/>
            <p:nvPr/>
          </p:nvSpPr>
          <p:spPr>
            <a:xfrm>
              <a:off x="877866" y="4277057"/>
              <a:ext cx="29256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EL0</a:t>
              </a:r>
              <a:r>
                <a:rPr lang="zh-CN" alt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 </a:t>
              </a:r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&amp;</a:t>
              </a:r>
              <a:r>
                <a:rPr lang="zh-CN" alt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 </a:t>
              </a:r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EL1</a:t>
              </a:r>
              <a:endParaRPr 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67" name="Rectangle 5">
              <a:extLst>
                <a:ext uri="{FF2B5EF4-FFF2-40B4-BE49-F238E27FC236}">
                  <a16:creationId xmlns:a16="http://schemas.microsoft.com/office/drawing/2014/main" id="{693584AD-1348-AE45-8A85-0C3C44D1B28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56360" y="2189707"/>
              <a:ext cx="655848" cy="35283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cxnSp>
          <p:nvCxnSpPr>
            <p:cNvPr id="68" name="Straight Connector 163">
              <a:extLst>
                <a:ext uri="{FF2B5EF4-FFF2-40B4-BE49-F238E27FC236}">
                  <a16:creationId xmlns:a16="http://schemas.microsoft.com/office/drawing/2014/main" id="{E49DBC03-F6CD-AD44-A85E-5C6D50A11909}"/>
                </a:ext>
              </a:extLst>
            </p:cNvPr>
            <p:cNvCxnSpPr/>
            <p:nvPr/>
          </p:nvCxnSpPr>
          <p:spPr>
            <a:xfrm flipH="1">
              <a:off x="4944664" y="2548953"/>
              <a:ext cx="1311696" cy="876709"/>
            </a:xfrm>
            <a:prstGeom prst="line">
              <a:avLst/>
            </a:prstGeom>
            <a:ln>
              <a:solidFill>
                <a:srgbClr val="D5C88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65">
              <a:extLst>
                <a:ext uri="{FF2B5EF4-FFF2-40B4-BE49-F238E27FC236}">
                  <a16:creationId xmlns:a16="http://schemas.microsoft.com/office/drawing/2014/main" id="{6423C01A-74C5-E249-882E-ED7F11D39571}"/>
                </a:ext>
              </a:extLst>
            </p:cNvPr>
            <p:cNvCxnSpPr/>
            <p:nvPr/>
          </p:nvCxnSpPr>
          <p:spPr>
            <a:xfrm flipH="1">
              <a:off x="5598659" y="2542542"/>
              <a:ext cx="1311696" cy="886283"/>
            </a:xfrm>
            <a:prstGeom prst="line">
              <a:avLst/>
            </a:prstGeom>
            <a:ln>
              <a:solidFill>
                <a:srgbClr val="D5C88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63227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89D8BC-CF51-D640-B33E-A035CD2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第二阶段</a:t>
            </a:r>
            <a:r>
              <a:rPr kumimoji="1" lang="en-US" altLang="zh-CN" dirty="0"/>
              <a:t>4</a:t>
            </a:r>
            <a:r>
              <a:rPr kumimoji="1" lang="zh-CN" altLang="en-US" dirty="0"/>
              <a:t>级页表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270E39-FD5C-C94B-B36C-4037A2157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915C4C-322A-2C4C-AAD5-2638DA0D8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F7AB3D3-7918-BF49-8CB7-30A9CCE81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5616" y="1129308"/>
            <a:ext cx="6316146" cy="406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2216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5228FB-B8D2-E948-8477-BC0475160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VTTBR_EL2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ACCEA8-49D4-2446-84CD-5ABE194B8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存储虚拟机第二阶段页表基地址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只有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个寄存器：</a:t>
            </a:r>
            <a:r>
              <a:rPr kumimoji="1" lang="en-US" altLang="zh-CN" dirty="0"/>
              <a:t>VTTBR_EL2</a:t>
            </a:r>
          </a:p>
          <a:p>
            <a:r>
              <a:rPr kumimoji="1" lang="zh-CN" altLang="en-US" dirty="0"/>
              <a:t>对比第一阶段页表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有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个页表基地址寄存器：</a:t>
            </a:r>
            <a:r>
              <a:rPr kumimoji="1" lang="en-US" altLang="zh-CN" dirty="0"/>
              <a:t>TTBR0_EL1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TTBR1_EL1</a:t>
            </a:r>
          </a:p>
          <a:p>
            <a:r>
              <a:rPr kumimoji="1" lang="en-US" altLang="zh-CN" dirty="0"/>
              <a:t>VMM</a:t>
            </a:r>
            <a:r>
              <a:rPr kumimoji="1" lang="zh-CN" altLang="en-US" dirty="0"/>
              <a:t>在调度</a:t>
            </a:r>
            <a:r>
              <a:rPr kumimoji="1" lang="en-US" altLang="zh-CN" dirty="0"/>
              <a:t>VM</a:t>
            </a:r>
            <a:r>
              <a:rPr kumimoji="1" lang="zh-CN" altLang="en-US" dirty="0"/>
              <a:t>之前需要在</a:t>
            </a:r>
            <a:r>
              <a:rPr kumimoji="1" lang="en-US" altLang="zh-CN" dirty="0"/>
              <a:t>VTTBR_EL2</a:t>
            </a:r>
            <a:r>
              <a:rPr kumimoji="1" lang="zh-CN" altLang="en-US" dirty="0"/>
              <a:t>中写入此</a:t>
            </a:r>
            <a:r>
              <a:rPr kumimoji="1" lang="en-US" altLang="zh-CN" dirty="0"/>
              <a:t>VM</a:t>
            </a:r>
            <a:r>
              <a:rPr kumimoji="1" lang="zh-CN" altLang="en-US" dirty="0"/>
              <a:t>的第二阶段页表基地址</a:t>
            </a:r>
          </a:p>
          <a:p>
            <a:r>
              <a:rPr kumimoji="1" lang="zh-CN" altLang="en-US" dirty="0"/>
              <a:t>第二阶段页表使能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HCR_EL2</a:t>
            </a:r>
            <a:r>
              <a:rPr kumimoji="1" lang="zh-CN" altLang="en-US" dirty="0"/>
              <a:t>第</a:t>
            </a:r>
            <a:r>
              <a:rPr kumimoji="1" lang="en-US" altLang="zh-CN" dirty="0"/>
              <a:t>0</a:t>
            </a:r>
            <a:r>
              <a:rPr kumimoji="1" lang="zh-CN" altLang="en-US" dirty="0"/>
              <a:t>位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BE1F36-A463-9B4B-85D3-14162DE09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7252B8-17A3-534E-B54A-276BA6DA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37913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D4017-8BC0-D44C-BC88-EA8695142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第二阶段页表项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69AA50-5A9B-5D4B-8A47-E2E8604E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3</a:t>
            </a:r>
            <a:r>
              <a:rPr kumimoji="1" lang="zh-CN" altLang="en-US" dirty="0"/>
              <a:t>级页表页中的页表项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与第一阶段页表完全一致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 第</a:t>
            </a:r>
            <a:r>
              <a:rPr kumimoji="1" lang="en-US" altLang="zh-CN" dirty="0"/>
              <a:t>0-2</a:t>
            </a:r>
            <a:r>
              <a:rPr kumimoji="1" lang="zh-CN" altLang="en-US" dirty="0"/>
              <a:t>级页表页中的页表项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与第一阶段在高位有不同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0374C1-2E4A-F242-B945-4F3176EF2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950E68-C0C2-5843-839E-F259FEF4E5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12DEAC-EFA5-104C-939A-6F890DA5051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2209428"/>
            <a:ext cx="8326685" cy="6515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D7489CC-AD16-1C4F-AB82-15E66357A7F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4" y="3937620"/>
            <a:ext cx="7812360" cy="1384283"/>
          </a:xfrm>
          <a:prstGeom prst="rect">
            <a:avLst/>
          </a:prstGeom>
        </p:spPr>
      </p:pic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C05A11E6-D186-AD42-9DD9-9DEC1F167B88}"/>
              </a:ext>
            </a:extLst>
          </p:cNvPr>
          <p:cNvSpPr txBox="1">
            <a:spLocks/>
          </p:cNvSpPr>
          <p:nvPr/>
        </p:nvSpPr>
        <p:spPr>
          <a:xfrm>
            <a:off x="4860032" y="3001516"/>
            <a:ext cx="4104456" cy="1724536"/>
          </a:xfrm>
          <a:prstGeom prst="rect">
            <a:avLst/>
          </a:prstGeom>
          <a:ln w="25400">
            <a:solidFill>
              <a:srgbClr val="BE384B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600" dirty="0" err="1"/>
              <a:t>NSTable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与</a:t>
            </a:r>
            <a:r>
              <a:rPr kumimoji="1" lang="en-US" altLang="zh-CN" sz="1600" dirty="0" err="1"/>
              <a:t>TrustZone</a:t>
            </a:r>
            <a:r>
              <a:rPr kumimoji="1" lang="zh-CN" altLang="en-US" sz="1600" dirty="0"/>
              <a:t>有关</a:t>
            </a:r>
            <a:endParaRPr kumimoji="1" lang="en-US" altLang="zh-CN" sz="1600" dirty="0"/>
          </a:p>
          <a:p>
            <a:r>
              <a:rPr kumimoji="1" lang="en-US" altLang="zh-CN" sz="1600" dirty="0" err="1"/>
              <a:t>APTable</a:t>
            </a:r>
            <a:r>
              <a:rPr kumimoji="1" lang="zh-CN" altLang="en-US" sz="1600" dirty="0"/>
              <a:t>：读写权限</a:t>
            </a:r>
            <a:endParaRPr kumimoji="1" lang="en-US" altLang="zh-CN" sz="1600" dirty="0"/>
          </a:p>
          <a:p>
            <a:r>
              <a:rPr kumimoji="1" lang="en-US" altLang="zh-CN" sz="1600" dirty="0" err="1"/>
              <a:t>XNTable</a:t>
            </a:r>
            <a:r>
              <a:rPr kumimoji="1" lang="zh-CN" altLang="en-US" sz="1600" dirty="0"/>
              <a:t>：执行权限</a:t>
            </a:r>
            <a:endParaRPr kumimoji="1" lang="en-US" altLang="zh-CN" sz="1600" dirty="0"/>
          </a:p>
          <a:p>
            <a:r>
              <a:rPr kumimoji="1" lang="en-US" altLang="zh-CN" sz="1600" dirty="0" err="1"/>
              <a:t>PXNTable</a:t>
            </a:r>
            <a:r>
              <a:rPr kumimoji="1" lang="zh-CN" altLang="en-US" sz="1600" dirty="0"/>
              <a:t>：特权级别软件的执行权限</a:t>
            </a:r>
            <a:endParaRPr kumimoji="1" lang="en-US" altLang="zh-CN" sz="1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F7483B-EE34-9448-9503-54FEEC4CECC6}"/>
              </a:ext>
            </a:extLst>
          </p:cNvPr>
          <p:cNvSpPr/>
          <p:nvPr/>
        </p:nvSpPr>
        <p:spPr>
          <a:xfrm>
            <a:off x="467544" y="3937620"/>
            <a:ext cx="2952328" cy="864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01774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D7B1FD-EFD7-E946-88B5-FC12B0DEA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5AA4FE-518B-4F4D-8B90-724ECC543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BD2028A8-E3F4-8F42-9102-A2F55771A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翻译过程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4BB001F5-09F8-354C-9F0A-E5288ABC1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3034623" cy="3771636"/>
          </a:xfrm>
        </p:spPr>
        <p:txBody>
          <a:bodyPr/>
          <a:lstStyle/>
          <a:p>
            <a:r>
              <a:rPr kumimoji="1" lang="zh-CN" altLang="en-US" dirty="0"/>
              <a:t>总共</a:t>
            </a:r>
            <a:r>
              <a:rPr kumimoji="1" lang="en-US" altLang="zh-CN" dirty="0"/>
              <a:t>24</a:t>
            </a:r>
            <a:r>
              <a:rPr kumimoji="1" lang="zh-CN" altLang="en-US" dirty="0"/>
              <a:t>次内存访问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rgbClr val="BE384B"/>
                </a:solidFill>
              </a:rPr>
              <a:t>为什么</a:t>
            </a:r>
            <a:r>
              <a:rPr kumimoji="1" lang="en-US" altLang="zh-CN" dirty="0">
                <a:solidFill>
                  <a:srgbClr val="BE384B"/>
                </a:solidFill>
              </a:rPr>
              <a:t>?</a:t>
            </a:r>
          </a:p>
          <a:p>
            <a:pPr lvl="1"/>
            <a:r>
              <a:rPr kumimoji="1" lang="en-US" altLang="zh-CN" dirty="0">
                <a:solidFill>
                  <a:srgbClr val="BE384B"/>
                </a:solidFill>
              </a:rPr>
              <a:t>25-1</a:t>
            </a:r>
          </a:p>
          <a:p>
            <a:pPr lvl="1"/>
            <a:r>
              <a:rPr kumimoji="1" lang="zh-CN" altLang="en-US" dirty="0">
                <a:solidFill>
                  <a:srgbClr val="BE384B"/>
                </a:solidFill>
              </a:rPr>
              <a:t>第一次访问寄存器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pPr lvl="1"/>
            <a:endParaRPr kumimoji="1" lang="zh-CN" altLang="en-US" dirty="0">
              <a:solidFill>
                <a:srgbClr val="BE384B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CD20F9-02D4-654A-9D13-BD5AB1821D9C}"/>
              </a:ext>
            </a:extLst>
          </p:cNvPr>
          <p:cNvSpPr/>
          <p:nvPr/>
        </p:nvSpPr>
        <p:spPr>
          <a:xfrm>
            <a:off x="4211960" y="337220"/>
            <a:ext cx="576064" cy="21602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TTBR0_EL1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EE1833-46A8-0A41-9842-0E457FCB17DA}"/>
              </a:ext>
            </a:extLst>
          </p:cNvPr>
          <p:cNvSpPr/>
          <p:nvPr/>
        </p:nvSpPr>
        <p:spPr>
          <a:xfrm>
            <a:off x="5004048" y="337220"/>
            <a:ext cx="3168352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L0</a:t>
            </a:r>
            <a:r>
              <a: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rPr>
              <a:t>页表页</a:t>
            </a:r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GPA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E14542-3DCB-194B-968D-304D5A533339}"/>
              </a:ext>
            </a:extLst>
          </p:cNvPr>
          <p:cNvSpPr/>
          <p:nvPr/>
        </p:nvSpPr>
        <p:spPr>
          <a:xfrm>
            <a:off x="4211960" y="625252"/>
            <a:ext cx="576064" cy="21602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VTTBR0_EL2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67C637FA-9B1A-964C-A619-B3295F690445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788024" y="409228"/>
            <a:ext cx="216024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8078FA6-B981-CF42-9C60-C91BE0F34296}"/>
              </a:ext>
            </a:extLst>
          </p:cNvPr>
          <p:cNvGrpSpPr/>
          <p:nvPr/>
        </p:nvGrpSpPr>
        <p:grpSpPr>
          <a:xfrm>
            <a:off x="5292080" y="625252"/>
            <a:ext cx="503999" cy="432048"/>
            <a:chOff x="5580112" y="409228"/>
            <a:chExt cx="648072" cy="432048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255503D-0069-AC4D-AA54-537E5F70CBFE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BAB48D1-EF92-034E-9F54-DAB97E766721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251284A-C74E-5C40-8EC6-09749C7D2E0B}"/>
              </a:ext>
            </a:extLst>
          </p:cNvPr>
          <p:cNvGrpSpPr/>
          <p:nvPr/>
        </p:nvGrpSpPr>
        <p:grpSpPr>
          <a:xfrm>
            <a:off x="6084168" y="625252"/>
            <a:ext cx="503999" cy="432048"/>
            <a:chOff x="5580112" y="409228"/>
            <a:chExt cx="648072" cy="432048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FA9B59-D1C4-974A-BD4F-4638495F0D72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581C655-EED4-F149-9BAA-0AC2B24251B3}"/>
                </a:ext>
              </a:extLst>
            </p:cNvPr>
            <p:cNvSpPr/>
            <p:nvPr/>
          </p:nvSpPr>
          <p:spPr>
            <a:xfrm>
              <a:off x="5580112" y="481236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707C91C-C448-D546-8675-6C5CEB785F72}"/>
              </a:ext>
            </a:extLst>
          </p:cNvPr>
          <p:cNvGrpSpPr/>
          <p:nvPr/>
        </p:nvGrpSpPr>
        <p:grpSpPr>
          <a:xfrm>
            <a:off x="6876256" y="625252"/>
            <a:ext cx="503999" cy="432048"/>
            <a:chOff x="5580112" y="409228"/>
            <a:chExt cx="648072" cy="432048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83704592-37A9-4C46-B42F-4566F4D0C4DD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43CB387C-3CDC-2045-B35A-A2310076838C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90DED42-6603-1F4D-B725-9BD1D1181A1E}"/>
              </a:ext>
            </a:extLst>
          </p:cNvPr>
          <p:cNvGrpSpPr/>
          <p:nvPr/>
        </p:nvGrpSpPr>
        <p:grpSpPr>
          <a:xfrm>
            <a:off x="7668344" y="625252"/>
            <a:ext cx="503999" cy="432048"/>
            <a:chOff x="5580112" y="409228"/>
            <a:chExt cx="648072" cy="432048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2525842-D98D-D742-9179-C204D338700F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8F679D3-73E0-824C-9D2A-181CAA6D58FF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04215EA3-D36D-0B42-A0FC-E501150A046E}"/>
              </a:ext>
            </a:extLst>
          </p:cNvPr>
          <p:cNvCxnSpPr>
            <a:cxnSpLocks/>
          </p:cNvCxnSpPr>
          <p:nvPr/>
        </p:nvCxnSpPr>
        <p:spPr>
          <a:xfrm>
            <a:off x="4788024" y="625252"/>
            <a:ext cx="504056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B989095E-2A5D-E645-AB3A-E35D847DF145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4965948" y="591344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连接符 40">
            <a:extLst>
              <a:ext uri="{FF2B5EF4-FFF2-40B4-BE49-F238E27FC236}">
                <a16:creationId xmlns:a16="http://schemas.microsoft.com/office/drawing/2014/main" id="{5B27ADEF-88BB-AF4B-9111-4145FA867AD6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5830044" y="519336"/>
            <a:ext cx="292224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肘形连接符 44">
            <a:extLst>
              <a:ext uri="{FF2B5EF4-FFF2-40B4-BE49-F238E27FC236}">
                <a16:creationId xmlns:a16="http://schemas.microsoft.com/office/drawing/2014/main" id="{26A327E2-3652-A54F-B276-3CD9332A92BF}"/>
              </a:ext>
            </a:extLst>
          </p:cNvPr>
          <p:cNvCxnSpPr>
            <a:cxnSpLocks/>
            <a:endCxn id="28" idx="1"/>
          </p:cNvCxnSpPr>
          <p:nvPr/>
        </p:nvCxnSpPr>
        <p:spPr>
          <a:xfrm rot="16200000" flipH="1">
            <a:off x="6586128" y="555340"/>
            <a:ext cx="364232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肘形连接符 46">
            <a:extLst>
              <a:ext uri="{FF2B5EF4-FFF2-40B4-BE49-F238E27FC236}">
                <a16:creationId xmlns:a16="http://schemas.microsoft.com/office/drawing/2014/main" id="{1C22DE27-3451-124F-9AB6-9A5A9FD029C6}"/>
              </a:ext>
            </a:extLst>
          </p:cNvPr>
          <p:cNvCxnSpPr>
            <a:cxnSpLocks/>
            <a:endCxn id="32" idx="1"/>
          </p:cNvCxnSpPr>
          <p:nvPr/>
        </p:nvCxnSpPr>
        <p:spPr>
          <a:xfrm rot="16200000" flipH="1">
            <a:off x="7342212" y="591344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肘形连接符 56">
            <a:extLst>
              <a:ext uri="{FF2B5EF4-FFF2-40B4-BE49-F238E27FC236}">
                <a16:creationId xmlns:a16="http://schemas.microsoft.com/office/drawing/2014/main" id="{604F46B9-DFB4-F845-A3B7-1F2E96E6EABA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5796079" y="625252"/>
            <a:ext cx="288089" cy="288000"/>
          </a:xfrm>
          <a:prstGeom prst="bentConnector3">
            <a:avLst>
              <a:gd name="adj1" fmla="val 37877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肘形连接符 61">
            <a:extLst>
              <a:ext uri="{FF2B5EF4-FFF2-40B4-BE49-F238E27FC236}">
                <a16:creationId xmlns:a16="http://schemas.microsoft.com/office/drawing/2014/main" id="{377112A0-5682-B44D-8AFD-3AAE48471DD1}"/>
              </a:ext>
            </a:extLst>
          </p:cNvPr>
          <p:cNvCxnSpPr>
            <a:cxnSpLocks/>
          </p:cNvCxnSpPr>
          <p:nvPr/>
        </p:nvCxnSpPr>
        <p:spPr>
          <a:xfrm flipV="1">
            <a:off x="6588224" y="625252"/>
            <a:ext cx="288032" cy="143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肘形连接符 63">
            <a:extLst>
              <a:ext uri="{FF2B5EF4-FFF2-40B4-BE49-F238E27FC236}">
                <a16:creationId xmlns:a16="http://schemas.microsoft.com/office/drawing/2014/main" id="{E7FBFD27-4270-DF4A-87D2-D3A090EC2EAE}"/>
              </a:ext>
            </a:extLst>
          </p:cNvPr>
          <p:cNvCxnSpPr>
            <a:cxnSpLocks/>
          </p:cNvCxnSpPr>
          <p:nvPr/>
        </p:nvCxnSpPr>
        <p:spPr>
          <a:xfrm flipV="1">
            <a:off x="7380312" y="625252"/>
            <a:ext cx="288032" cy="2159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1B712964-05BD-DA4B-B9C9-EE88A13B2BAD}"/>
              </a:ext>
            </a:extLst>
          </p:cNvPr>
          <p:cNvGrpSpPr/>
          <p:nvPr/>
        </p:nvGrpSpPr>
        <p:grpSpPr>
          <a:xfrm>
            <a:off x="4211960" y="1201316"/>
            <a:ext cx="503999" cy="432048"/>
            <a:chOff x="5580112" y="409228"/>
            <a:chExt cx="648072" cy="432048"/>
          </a:xfrm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14DADE60-C5FF-D442-ACDE-73AB39960A4A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6AD2D79B-7C5B-C44B-871D-EA390F922DCD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70" name="肘形连接符 69">
            <a:extLst>
              <a:ext uri="{FF2B5EF4-FFF2-40B4-BE49-F238E27FC236}">
                <a16:creationId xmlns:a16="http://schemas.microsoft.com/office/drawing/2014/main" id="{F907ABDA-15A1-0D4C-9C44-857D80236317}"/>
              </a:ext>
            </a:extLst>
          </p:cNvPr>
          <p:cNvCxnSpPr>
            <a:stCxn id="32" idx="3"/>
            <a:endCxn id="67" idx="1"/>
          </p:cNvCxnSpPr>
          <p:nvPr/>
        </p:nvCxnSpPr>
        <p:spPr>
          <a:xfrm flipH="1">
            <a:off x="4211960" y="917477"/>
            <a:ext cx="3960383" cy="288000"/>
          </a:xfrm>
          <a:prstGeom prst="bentConnector5">
            <a:avLst>
              <a:gd name="adj1" fmla="val -5772"/>
              <a:gd name="adj2" fmla="val 72933"/>
              <a:gd name="adj3" fmla="val 105772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>
            <a:extLst>
              <a:ext uri="{FF2B5EF4-FFF2-40B4-BE49-F238E27FC236}">
                <a16:creationId xmlns:a16="http://schemas.microsoft.com/office/drawing/2014/main" id="{1DFB215F-3BEE-9648-9D56-35B885DB945C}"/>
              </a:ext>
            </a:extLst>
          </p:cNvPr>
          <p:cNvSpPr/>
          <p:nvPr/>
        </p:nvSpPr>
        <p:spPr>
          <a:xfrm>
            <a:off x="4211960" y="1705372"/>
            <a:ext cx="576064" cy="21602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VTTBR0_EL2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F4E7A84-7129-BD46-B78B-D1D837AB725C}"/>
              </a:ext>
            </a:extLst>
          </p:cNvPr>
          <p:cNvSpPr/>
          <p:nvPr/>
        </p:nvSpPr>
        <p:spPr>
          <a:xfrm>
            <a:off x="5004048" y="1341139"/>
            <a:ext cx="3168352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L1</a:t>
            </a:r>
            <a:r>
              <a: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rPr>
              <a:t>页表页</a:t>
            </a:r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GPA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E215D362-9E58-D14F-9E71-DB4CACF9CC4B}"/>
              </a:ext>
            </a:extLst>
          </p:cNvPr>
          <p:cNvCxnSpPr>
            <a:cxnSpLocks/>
            <a:stCxn id="67" idx="3"/>
            <a:endCxn id="73" idx="1"/>
          </p:cNvCxnSpPr>
          <p:nvPr/>
        </p:nvCxnSpPr>
        <p:spPr>
          <a:xfrm flipV="1">
            <a:off x="4715959" y="1413147"/>
            <a:ext cx="288089" cy="4193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BEE82469-73E6-774B-9365-374A03CB72D9}"/>
              </a:ext>
            </a:extLst>
          </p:cNvPr>
          <p:cNvGrpSpPr/>
          <p:nvPr/>
        </p:nvGrpSpPr>
        <p:grpSpPr>
          <a:xfrm>
            <a:off x="5292080" y="1629171"/>
            <a:ext cx="503999" cy="432048"/>
            <a:chOff x="5580112" y="409228"/>
            <a:chExt cx="648072" cy="432048"/>
          </a:xfrm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7A113F0C-56D9-6D4B-8364-F28DAA95650F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062FC814-2405-A841-B1AB-DF51F0BF376A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B7B7C3E3-F60A-A04D-A222-C9BB180DE9FE}"/>
              </a:ext>
            </a:extLst>
          </p:cNvPr>
          <p:cNvGrpSpPr/>
          <p:nvPr/>
        </p:nvGrpSpPr>
        <p:grpSpPr>
          <a:xfrm>
            <a:off x="6084168" y="1629171"/>
            <a:ext cx="503999" cy="432048"/>
            <a:chOff x="5580112" y="409228"/>
            <a:chExt cx="648072" cy="432048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DF61364B-88A2-BF47-9F49-67C7CF3D6FD1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95E1E108-AFB4-BD42-840A-410E1E8031FF}"/>
                </a:ext>
              </a:extLst>
            </p:cNvPr>
            <p:cNvSpPr/>
            <p:nvPr/>
          </p:nvSpPr>
          <p:spPr>
            <a:xfrm>
              <a:off x="5580112" y="481236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4ADCA1AD-5E29-8849-B427-1AFF3CF71431}"/>
              </a:ext>
            </a:extLst>
          </p:cNvPr>
          <p:cNvGrpSpPr/>
          <p:nvPr/>
        </p:nvGrpSpPr>
        <p:grpSpPr>
          <a:xfrm>
            <a:off x="6876256" y="1629171"/>
            <a:ext cx="503999" cy="432048"/>
            <a:chOff x="5580112" y="409228"/>
            <a:chExt cx="648072" cy="432048"/>
          </a:xfrm>
        </p:grpSpPr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14D525DE-E304-DE4E-A7E4-A41FE7023588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A1DFA44D-8770-DB4A-92A1-E3AB4939C57A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4F5D9FFE-E3C1-F249-8904-63813BEA1C7C}"/>
              </a:ext>
            </a:extLst>
          </p:cNvPr>
          <p:cNvGrpSpPr/>
          <p:nvPr/>
        </p:nvGrpSpPr>
        <p:grpSpPr>
          <a:xfrm>
            <a:off x="7668344" y="1629171"/>
            <a:ext cx="503999" cy="432048"/>
            <a:chOff x="5580112" y="409228"/>
            <a:chExt cx="648072" cy="432048"/>
          </a:xfrm>
        </p:grpSpPr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5BCF681E-8666-9946-9EDF-9432901D8C40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A07593D2-6C0E-6949-84DD-A5BDA15245BB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88" name="肘形连接符 87">
            <a:extLst>
              <a:ext uri="{FF2B5EF4-FFF2-40B4-BE49-F238E27FC236}">
                <a16:creationId xmlns:a16="http://schemas.microsoft.com/office/drawing/2014/main" id="{47E43826-C61C-6747-84D8-1DE5978C69D4}"/>
              </a:ext>
            </a:extLst>
          </p:cNvPr>
          <p:cNvCxnSpPr>
            <a:cxnSpLocks/>
            <a:endCxn id="77" idx="1"/>
          </p:cNvCxnSpPr>
          <p:nvPr/>
        </p:nvCxnSpPr>
        <p:spPr>
          <a:xfrm rot="16200000" flipH="1">
            <a:off x="4965948" y="1595263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肘形连接符 88">
            <a:extLst>
              <a:ext uri="{FF2B5EF4-FFF2-40B4-BE49-F238E27FC236}">
                <a16:creationId xmlns:a16="http://schemas.microsoft.com/office/drawing/2014/main" id="{44C950FD-144D-AD43-911F-C010E28CB4E3}"/>
              </a:ext>
            </a:extLst>
          </p:cNvPr>
          <p:cNvCxnSpPr>
            <a:cxnSpLocks/>
            <a:endCxn id="80" idx="1"/>
          </p:cNvCxnSpPr>
          <p:nvPr/>
        </p:nvCxnSpPr>
        <p:spPr>
          <a:xfrm rot="16200000" flipH="1">
            <a:off x="5830044" y="1523255"/>
            <a:ext cx="292224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肘形连接符 89">
            <a:extLst>
              <a:ext uri="{FF2B5EF4-FFF2-40B4-BE49-F238E27FC236}">
                <a16:creationId xmlns:a16="http://schemas.microsoft.com/office/drawing/2014/main" id="{94FFF14B-3AFF-FF4B-A0AD-2B4ED889CC61}"/>
              </a:ext>
            </a:extLst>
          </p:cNvPr>
          <p:cNvCxnSpPr>
            <a:cxnSpLocks/>
            <a:endCxn id="83" idx="1"/>
          </p:cNvCxnSpPr>
          <p:nvPr/>
        </p:nvCxnSpPr>
        <p:spPr>
          <a:xfrm rot="16200000" flipH="1">
            <a:off x="6586128" y="1559259"/>
            <a:ext cx="364232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肘形连接符 90">
            <a:extLst>
              <a:ext uri="{FF2B5EF4-FFF2-40B4-BE49-F238E27FC236}">
                <a16:creationId xmlns:a16="http://schemas.microsoft.com/office/drawing/2014/main" id="{26BD0D0E-8904-AF44-837D-A00C57E33AA9}"/>
              </a:ext>
            </a:extLst>
          </p:cNvPr>
          <p:cNvCxnSpPr>
            <a:cxnSpLocks/>
            <a:endCxn id="86" idx="1"/>
          </p:cNvCxnSpPr>
          <p:nvPr/>
        </p:nvCxnSpPr>
        <p:spPr>
          <a:xfrm rot="16200000" flipH="1">
            <a:off x="7342212" y="1595263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肘形连接符 91">
            <a:extLst>
              <a:ext uri="{FF2B5EF4-FFF2-40B4-BE49-F238E27FC236}">
                <a16:creationId xmlns:a16="http://schemas.microsoft.com/office/drawing/2014/main" id="{8059CCD3-7040-CD4E-A913-0684A8AFEB98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5796079" y="1629171"/>
            <a:ext cx="288089" cy="288000"/>
          </a:xfrm>
          <a:prstGeom prst="bentConnector3">
            <a:avLst>
              <a:gd name="adj1" fmla="val 37877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肘形连接符 92">
            <a:extLst>
              <a:ext uri="{FF2B5EF4-FFF2-40B4-BE49-F238E27FC236}">
                <a16:creationId xmlns:a16="http://schemas.microsoft.com/office/drawing/2014/main" id="{C586D77E-105D-584A-A55E-C96F07880055}"/>
              </a:ext>
            </a:extLst>
          </p:cNvPr>
          <p:cNvCxnSpPr>
            <a:cxnSpLocks/>
          </p:cNvCxnSpPr>
          <p:nvPr/>
        </p:nvCxnSpPr>
        <p:spPr>
          <a:xfrm flipV="1">
            <a:off x="6588224" y="1629171"/>
            <a:ext cx="288032" cy="143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肘形连接符 93">
            <a:extLst>
              <a:ext uri="{FF2B5EF4-FFF2-40B4-BE49-F238E27FC236}">
                <a16:creationId xmlns:a16="http://schemas.microsoft.com/office/drawing/2014/main" id="{CD364062-C0FB-6B44-84A3-2307A0D993F9}"/>
              </a:ext>
            </a:extLst>
          </p:cNvPr>
          <p:cNvCxnSpPr>
            <a:cxnSpLocks/>
          </p:cNvCxnSpPr>
          <p:nvPr/>
        </p:nvCxnSpPr>
        <p:spPr>
          <a:xfrm flipV="1">
            <a:off x="7380312" y="1629171"/>
            <a:ext cx="288032" cy="2159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584E9C09-5D8E-FF47-849C-BFB443E8B8A1}"/>
              </a:ext>
            </a:extLst>
          </p:cNvPr>
          <p:cNvCxnSpPr>
            <a:stCxn id="86" idx="3"/>
          </p:cNvCxnSpPr>
          <p:nvPr/>
        </p:nvCxnSpPr>
        <p:spPr>
          <a:xfrm flipH="1">
            <a:off x="4211960" y="1921396"/>
            <a:ext cx="3960383" cy="288000"/>
          </a:xfrm>
          <a:prstGeom prst="bentConnector5">
            <a:avLst>
              <a:gd name="adj1" fmla="val -5772"/>
              <a:gd name="adj2" fmla="val 72933"/>
              <a:gd name="adj3" fmla="val 105772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肘形连接符 98">
            <a:extLst>
              <a:ext uri="{FF2B5EF4-FFF2-40B4-BE49-F238E27FC236}">
                <a16:creationId xmlns:a16="http://schemas.microsoft.com/office/drawing/2014/main" id="{66F90C04-F79B-924F-B861-09C60792B142}"/>
              </a:ext>
            </a:extLst>
          </p:cNvPr>
          <p:cNvCxnSpPr>
            <a:cxnSpLocks/>
          </p:cNvCxnSpPr>
          <p:nvPr/>
        </p:nvCxnSpPr>
        <p:spPr>
          <a:xfrm flipV="1">
            <a:off x="4788024" y="1633364"/>
            <a:ext cx="504056" cy="215992"/>
          </a:xfrm>
          <a:prstGeom prst="bentConnector3">
            <a:avLst>
              <a:gd name="adj1" fmla="val 19211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7FC53931-0115-9442-9031-4F7C6DD384F9}"/>
              </a:ext>
            </a:extLst>
          </p:cNvPr>
          <p:cNvGrpSpPr/>
          <p:nvPr/>
        </p:nvGrpSpPr>
        <p:grpSpPr>
          <a:xfrm>
            <a:off x="4211960" y="2209428"/>
            <a:ext cx="503999" cy="432048"/>
            <a:chOff x="5580112" y="409228"/>
            <a:chExt cx="648072" cy="432048"/>
          </a:xfrm>
        </p:grpSpPr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D63B5644-ED09-9F4D-B160-866809F41DD7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99703D37-6934-AF46-933F-575E668070B1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sp>
        <p:nvSpPr>
          <p:cNvPr id="105" name="矩形 104">
            <a:extLst>
              <a:ext uri="{FF2B5EF4-FFF2-40B4-BE49-F238E27FC236}">
                <a16:creationId xmlns:a16="http://schemas.microsoft.com/office/drawing/2014/main" id="{A15D4458-4CF9-8C4B-869E-0A619FD2AACD}"/>
              </a:ext>
            </a:extLst>
          </p:cNvPr>
          <p:cNvSpPr/>
          <p:nvPr/>
        </p:nvSpPr>
        <p:spPr>
          <a:xfrm>
            <a:off x="4211960" y="2713484"/>
            <a:ext cx="576064" cy="21602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VTTBR0_EL2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E8F704CB-8669-A044-9E01-35DBD8DFDE92}"/>
              </a:ext>
            </a:extLst>
          </p:cNvPr>
          <p:cNvSpPr/>
          <p:nvPr/>
        </p:nvSpPr>
        <p:spPr>
          <a:xfrm>
            <a:off x="5004048" y="2349251"/>
            <a:ext cx="3168352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L2</a:t>
            </a:r>
            <a:r>
              <a: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rPr>
              <a:t>页表页</a:t>
            </a:r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GPA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0B000466-29DD-7A4F-BB8F-C961B20C5A81}"/>
              </a:ext>
            </a:extLst>
          </p:cNvPr>
          <p:cNvCxnSpPr>
            <a:cxnSpLocks/>
            <a:stCxn id="103" idx="3"/>
            <a:endCxn id="106" idx="1"/>
          </p:cNvCxnSpPr>
          <p:nvPr/>
        </p:nvCxnSpPr>
        <p:spPr>
          <a:xfrm flipV="1">
            <a:off x="4715959" y="2421259"/>
            <a:ext cx="288089" cy="4193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1913362F-FB36-344D-BBCC-1619ABB29D2B}"/>
              </a:ext>
            </a:extLst>
          </p:cNvPr>
          <p:cNvGrpSpPr/>
          <p:nvPr/>
        </p:nvGrpSpPr>
        <p:grpSpPr>
          <a:xfrm>
            <a:off x="5292080" y="2637283"/>
            <a:ext cx="503999" cy="432048"/>
            <a:chOff x="5580112" y="409228"/>
            <a:chExt cx="648072" cy="432048"/>
          </a:xfrm>
        </p:grpSpPr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FA7062B0-47E1-DF43-B534-AC9EB344FD26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F7B4B465-E0C4-1D41-B2FA-26FE08955C23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E597CFE6-FED6-5940-8A5F-B31B53468341}"/>
              </a:ext>
            </a:extLst>
          </p:cNvPr>
          <p:cNvGrpSpPr/>
          <p:nvPr/>
        </p:nvGrpSpPr>
        <p:grpSpPr>
          <a:xfrm>
            <a:off x="6084168" y="2637283"/>
            <a:ext cx="503999" cy="432048"/>
            <a:chOff x="5580112" y="409228"/>
            <a:chExt cx="648072" cy="432048"/>
          </a:xfrm>
        </p:grpSpPr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218C1F49-3E7C-E545-92F9-C15E33DBDDF0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F4038DAA-F7C7-7441-B0A8-3B6539552FF4}"/>
                </a:ext>
              </a:extLst>
            </p:cNvPr>
            <p:cNvSpPr/>
            <p:nvPr/>
          </p:nvSpPr>
          <p:spPr>
            <a:xfrm>
              <a:off x="5580112" y="481236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874AF927-FD5A-DA42-BCBB-F3743B093339}"/>
              </a:ext>
            </a:extLst>
          </p:cNvPr>
          <p:cNvGrpSpPr/>
          <p:nvPr/>
        </p:nvGrpSpPr>
        <p:grpSpPr>
          <a:xfrm>
            <a:off x="6876256" y="2637283"/>
            <a:ext cx="503999" cy="432048"/>
            <a:chOff x="5580112" y="409228"/>
            <a:chExt cx="648072" cy="432048"/>
          </a:xfrm>
        </p:grpSpPr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4A7CC3DE-18E1-2245-997E-A5E090F19942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A999D4B7-4CFB-814A-BF0D-C6557CBEA3F6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346453BE-9CD8-B944-9029-70D3FBCA3434}"/>
              </a:ext>
            </a:extLst>
          </p:cNvPr>
          <p:cNvGrpSpPr/>
          <p:nvPr/>
        </p:nvGrpSpPr>
        <p:grpSpPr>
          <a:xfrm>
            <a:off x="7668344" y="2637283"/>
            <a:ext cx="503999" cy="432048"/>
            <a:chOff x="5580112" y="409228"/>
            <a:chExt cx="648072" cy="432048"/>
          </a:xfrm>
        </p:grpSpPr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C9B96FDB-4A59-6B40-8A4B-8A97D06358E9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5F065175-EEAE-2848-98DD-C7C4F40428F7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120" name="肘形连接符 119">
            <a:extLst>
              <a:ext uri="{FF2B5EF4-FFF2-40B4-BE49-F238E27FC236}">
                <a16:creationId xmlns:a16="http://schemas.microsoft.com/office/drawing/2014/main" id="{C3D41355-BF3C-6045-8D4E-8FC1B9416D7E}"/>
              </a:ext>
            </a:extLst>
          </p:cNvPr>
          <p:cNvCxnSpPr>
            <a:cxnSpLocks/>
            <a:endCxn id="110" idx="1"/>
          </p:cNvCxnSpPr>
          <p:nvPr/>
        </p:nvCxnSpPr>
        <p:spPr>
          <a:xfrm rot="16200000" flipH="1">
            <a:off x="4965948" y="2603375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肘形连接符 120">
            <a:extLst>
              <a:ext uri="{FF2B5EF4-FFF2-40B4-BE49-F238E27FC236}">
                <a16:creationId xmlns:a16="http://schemas.microsoft.com/office/drawing/2014/main" id="{457C9C9B-DF21-E642-AA4B-D02DC3106305}"/>
              </a:ext>
            </a:extLst>
          </p:cNvPr>
          <p:cNvCxnSpPr>
            <a:cxnSpLocks/>
            <a:endCxn id="113" idx="1"/>
          </p:cNvCxnSpPr>
          <p:nvPr/>
        </p:nvCxnSpPr>
        <p:spPr>
          <a:xfrm rot="16200000" flipH="1">
            <a:off x="5830044" y="2531367"/>
            <a:ext cx="292224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肘形连接符 121">
            <a:extLst>
              <a:ext uri="{FF2B5EF4-FFF2-40B4-BE49-F238E27FC236}">
                <a16:creationId xmlns:a16="http://schemas.microsoft.com/office/drawing/2014/main" id="{FB06C312-54EC-0F4F-B419-C201D0322A80}"/>
              </a:ext>
            </a:extLst>
          </p:cNvPr>
          <p:cNvCxnSpPr>
            <a:cxnSpLocks/>
            <a:endCxn id="116" idx="1"/>
          </p:cNvCxnSpPr>
          <p:nvPr/>
        </p:nvCxnSpPr>
        <p:spPr>
          <a:xfrm rot="16200000" flipH="1">
            <a:off x="6586128" y="2567371"/>
            <a:ext cx="364232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肘形连接符 122">
            <a:extLst>
              <a:ext uri="{FF2B5EF4-FFF2-40B4-BE49-F238E27FC236}">
                <a16:creationId xmlns:a16="http://schemas.microsoft.com/office/drawing/2014/main" id="{CE370C52-3458-1945-8947-E75A45CDD2FE}"/>
              </a:ext>
            </a:extLst>
          </p:cNvPr>
          <p:cNvCxnSpPr>
            <a:cxnSpLocks/>
            <a:endCxn id="119" idx="1"/>
          </p:cNvCxnSpPr>
          <p:nvPr/>
        </p:nvCxnSpPr>
        <p:spPr>
          <a:xfrm rot="16200000" flipH="1">
            <a:off x="7342212" y="2603375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肘形连接符 123">
            <a:extLst>
              <a:ext uri="{FF2B5EF4-FFF2-40B4-BE49-F238E27FC236}">
                <a16:creationId xmlns:a16="http://schemas.microsoft.com/office/drawing/2014/main" id="{5CCD7560-A368-AA48-9EC0-49F05AD2AF24}"/>
              </a:ext>
            </a:extLst>
          </p:cNvPr>
          <p:cNvCxnSpPr>
            <a:cxnSpLocks/>
            <a:stCxn id="109" idx="3"/>
          </p:cNvCxnSpPr>
          <p:nvPr/>
        </p:nvCxnSpPr>
        <p:spPr>
          <a:xfrm flipV="1">
            <a:off x="5796079" y="2637283"/>
            <a:ext cx="288089" cy="288000"/>
          </a:xfrm>
          <a:prstGeom prst="bentConnector3">
            <a:avLst>
              <a:gd name="adj1" fmla="val 37877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肘形连接符 124">
            <a:extLst>
              <a:ext uri="{FF2B5EF4-FFF2-40B4-BE49-F238E27FC236}">
                <a16:creationId xmlns:a16="http://schemas.microsoft.com/office/drawing/2014/main" id="{1EDA5255-2AEF-C745-A3F6-CEC8B073B421}"/>
              </a:ext>
            </a:extLst>
          </p:cNvPr>
          <p:cNvCxnSpPr>
            <a:cxnSpLocks/>
          </p:cNvCxnSpPr>
          <p:nvPr/>
        </p:nvCxnSpPr>
        <p:spPr>
          <a:xfrm flipV="1">
            <a:off x="6588224" y="2637283"/>
            <a:ext cx="288032" cy="143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肘形连接符 125">
            <a:extLst>
              <a:ext uri="{FF2B5EF4-FFF2-40B4-BE49-F238E27FC236}">
                <a16:creationId xmlns:a16="http://schemas.microsoft.com/office/drawing/2014/main" id="{89A3DC53-5B28-5541-B345-747E48B76C86}"/>
              </a:ext>
            </a:extLst>
          </p:cNvPr>
          <p:cNvCxnSpPr>
            <a:cxnSpLocks/>
          </p:cNvCxnSpPr>
          <p:nvPr/>
        </p:nvCxnSpPr>
        <p:spPr>
          <a:xfrm flipV="1">
            <a:off x="7380312" y="2637283"/>
            <a:ext cx="288032" cy="2159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肘形连接符 126">
            <a:extLst>
              <a:ext uri="{FF2B5EF4-FFF2-40B4-BE49-F238E27FC236}">
                <a16:creationId xmlns:a16="http://schemas.microsoft.com/office/drawing/2014/main" id="{D0A0E896-6B2B-544E-B204-158B6FC2A713}"/>
              </a:ext>
            </a:extLst>
          </p:cNvPr>
          <p:cNvCxnSpPr>
            <a:stCxn id="119" idx="3"/>
          </p:cNvCxnSpPr>
          <p:nvPr/>
        </p:nvCxnSpPr>
        <p:spPr>
          <a:xfrm flipH="1">
            <a:off x="4211960" y="2929508"/>
            <a:ext cx="3960383" cy="288000"/>
          </a:xfrm>
          <a:prstGeom prst="bentConnector5">
            <a:avLst>
              <a:gd name="adj1" fmla="val -5772"/>
              <a:gd name="adj2" fmla="val 72933"/>
              <a:gd name="adj3" fmla="val 105772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肘形连接符 127">
            <a:extLst>
              <a:ext uri="{FF2B5EF4-FFF2-40B4-BE49-F238E27FC236}">
                <a16:creationId xmlns:a16="http://schemas.microsoft.com/office/drawing/2014/main" id="{A5EA51CD-8850-3F4F-BCA2-00411BB17449}"/>
              </a:ext>
            </a:extLst>
          </p:cNvPr>
          <p:cNvCxnSpPr>
            <a:cxnSpLocks/>
          </p:cNvCxnSpPr>
          <p:nvPr/>
        </p:nvCxnSpPr>
        <p:spPr>
          <a:xfrm flipV="1">
            <a:off x="4788024" y="2641476"/>
            <a:ext cx="504056" cy="215992"/>
          </a:xfrm>
          <a:prstGeom prst="bentConnector3">
            <a:avLst>
              <a:gd name="adj1" fmla="val 19211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E698BCBD-8429-C74A-902F-DE80854F4F4B}"/>
              </a:ext>
            </a:extLst>
          </p:cNvPr>
          <p:cNvGrpSpPr/>
          <p:nvPr/>
        </p:nvGrpSpPr>
        <p:grpSpPr>
          <a:xfrm>
            <a:off x="4211960" y="3217540"/>
            <a:ext cx="503999" cy="432048"/>
            <a:chOff x="5580112" y="409228"/>
            <a:chExt cx="648072" cy="432048"/>
          </a:xfrm>
        </p:grpSpPr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ED09480E-19C9-0D4D-A999-105F40FBDD5A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36FB11A4-4328-964D-A9E2-30FEC1D1AA7A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sp>
        <p:nvSpPr>
          <p:cNvPr id="132" name="矩形 131">
            <a:extLst>
              <a:ext uri="{FF2B5EF4-FFF2-40B4-BE49-F238E27FC236}">
                <a16:creationId xmlns:a16="http://schemas.microsoft.com/office/drawing/2014/main" id="{BE82C75B-2239-C841-BB5A-42E7E234E4AA}"/>
              </a:ext>
            </a:extLst>
          </p:cNvPr>
          <p:cNvSpPr/>
          <p:nvPr/>
        </p:nvSpPr>
        <p:spPr>
          <a:xfrm>
            <a:off x="4211960" y="3721596"/>
            <a:ext cx="576064" cy="21602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VTTBR0_EL2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FBF57BF0-17A1-F949-BCD3-43F773607F98}"/>
              </a:ext>
            </a:extLst>
          </p:cNvPr>
          <p:cNvSpPr/>
          <p:nvPr/>
        </p:nvSpPr>
        <p:spPr>
          <a:xfrm>
            <a:off x="5004048" y="3357363"/>
            <a:ext cx="3168352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L3</a:t>
            </a:r>
            <a:r>
              <a: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rPr>
              <a:t>页表页</a:t>
            </a:r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GPA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34" name="直线箭头连接符 133">
            <a:extLst>
              <a:ext uri="{FF2B5EF4-FFF2-40B4-BE49-F238E27FC236}">
                <a16:creationId xmlns:a16="http://schemas.microsoft.com/office/drawing/2014/main" id="{DD4A4E2C-CE54-1843-B8A9-8558A99E2824}"/>
              </a:ext>
            </a:extLst>
          </p:cNvPr>
          <p:cNvCxnSpPr>
            <a:cxnSpLocks/>
            <a:stCxn id="130" idx="3"/>
            <a:endCxn id="133" idx="1"/>
          </p:cNvCxnSpPr>
          <p:nvPr/>
        </p:nvCxnSpPr>
        <p:spPr>
          <a:xfrm flipV="1">
            <a:off x="4715959" y="3429371"/>
            <a:ext cx="288089" cy="4193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E4A232DA-A9A5-8148-8B67-7CA2577D7180}"/>
              </a:ext>
            </a:extLst>
          </p:cNvPr>
          <p:cNvGrpSpPr/>
          <p:nvPr/>
        </p:nvGrpSpPr>
        <p:grpSpPr>
          <a:xfrm>
            <a:off x="5292080" y="3645395"/>
            <a:ext cx="503999" cy="432048"/>
            <a:chOff x="5580112" y="409228"/>
            <a:chExt cx="648072" cy="432048"/>
          </a:xfrm>
        </p:grpSpPr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DDF21E66-9CB5-8A45-BDF1-CBF46628F8B4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A67AB0C4-CE81-0F43-9D55-9A01F8F18959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9E64945B-17EA-FA4A-8634-BD4EF0239DAD}"/>
              </a:ext>
            </a:extLst>
          </p:cNvPr>
          <p:cNvGrpSpPr/>
          <p:nvPr/>
        </p:nvGrpSpPr>
        <p:grpSpPr>
          <a:xfrm>
            <a:off x="6084168" y="3645395"/>
            <a:ext cx="503999" cy="432048"/>
            <a:chOff x="5580112" y="409228"/>
            <a:chExt cx="648072" cy="432048"/>
          </a:xfrm>
        </p:grpSpPr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CBB5A2C9-39A9-6C48-9E54-A6A17A62A707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DAB2A1A5-AB67-0B4F-9144-BDCBC81ECC53}"/>
                </a:ext>
              </a:extLst>
            </p:cNvPr>
            <p:cNvSpPr/>
            <p:nvPr/>
          </p:nvSpPr>
          <p:spPr>
            <a:xfrm>
              <a:off x="5580112" y="481236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734FC5F7-5BB3-2846-9719-433A54748DDE}"/>
              </a:ext>
            </a:extLst>
          </p:cNvPr>
          <p:cNvGrpSpPr/>
          <p:nvPr/>
        </p:nvGrpSpPr>
        <p:grpSpPr>
          <a:xfrm>
            <a:off x="6876256" y="3645395"/>
            <a:ext cx="503999" cy="432048"/>
            <a:chOff x="5580112" y="409228"/>
            <a:chExt cx="648072" cy="432048"/>
          </a:xfrm>
        </p:grpSpPr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74490E8C-B29F-2043-A4CE-7341CE692EE8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20F60CDF-8F5B-3345-960B-C64C85B54764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4426A1B2-BEBE-8340-8756-967B8C9C0A1A}"/>
              </a:ext>
            </a:extLst>
          </p:cNvPr>
          <p:cNvGrpSpPr/>
          <p:nvPr/>
        </p:nvGrpSpPr>
        <p:grpSpPr>
          <a:xfrm>
            <a:off x="7668344" y="3645395"/>
            <a:ext cx="503999" cy="432048"/>
            <a:chOff x="5580112" y="409228"/>
            <a:chExt cx="648072" cy="432048"/>
          </a:xfrm>
        </p:grpSpPr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24344AA8-7547-F645-80CA-E1F41E2C9CE5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7085CA1B-EB43-FB4B-B466-0CA6DBE0FEE8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147" name="肘形连接符 146">
            <a:extLst>
              <a:ext uri="{FF2B5EF4-FFF2-40B4-BE49-F238E27FC236}">
                <a16:creationId xmlns:a16="http://schemas.microsoft.com/office/drawing/2014/main" id="{F7D31755-4DB0-2E45-AA73-B49C992FE287}"/>
              </a:ext>
            </a:extLst>
          </p:cNvPr>
          <p:cNvCxnSpPr>
            <a:cxnSpLocks/>
            <a:endCxn id="137" idx="1"/>
          </p:cNvCxnSpPr>
          <p:nvPr/>
        </p:nvCxnSpPr>
        <p:spPr>
          <a:xfrm rot="16200000" flipH="1">
            <a:off x="4965948" y="3611487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肘形连接符 147">
            <a:extLst>
              <a:ext uri="{FF2B5EF4-FFF2-40B4-BE49-F238E27FC236}">
                <a16:creationId xmlns:a16="http://schemas.microsoft.com/office/drawing/2014/main" id="{83245416-6CED-0B44-8512-DF5FC94DB929}"/>
              </a:ext>
            </a:extLst>
          </p:cNvPr>
          <p:cNvCxnSpPr>
            <a:cxnSpLocks/>
            <a:endCxn id="140" idx="1"/>
          </p:cNvCxnSpPr>
          <p:nvPr/>
        </p:nvCxnSpPr>
        <p:spPr>
          <a:xfrm rot="16200000" flipH="1">
            <a:off x="5830044" y="3539479"/>
            <a:ext cx="292224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肘形连接符 148">
            <a:extLst>
              <a:ext uri="{FF2B5EF4-FFF2-40B4-BE49-F238E27FC236}">
                <a16:creationId xmlns:a16="http://schemas.microsoft.com/office/drawing/2014/main" id="{B161E253-50E7-3D45-B3AE-C08E7D4E9B4C}"/>
              </a:ext>
            </a:extLst>
          </p:cNvPr>
          <p:cNvCxnSpPr>
            <a:cxnSpLocks/>
            <a:endCxn id="143" idx="1"/>
          </p:cNvCxnSpPr>
          <p:nvPr/>
        </p:nvCxnSpPr>
        <p:spPr>
          <a:xfrm rot="16200000" flipH="1">
            <a:off x="6586128" y="3575483"/>
            <a:ext cx="364232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肘形连接符 149">
            <a:extLst>
              <a:ext uri="{FF2B5EF4-FFF2-40B4-BE49-F238E27FC236}">
                <a16:creationId xmlns:a16="http://schemas.microsoft.com/office/drawing/2014/main" id="{DC2BFEB8-29CC-0D43-9210-2D9F5B7F18D1}"/>
              </a:ext>
            </a:extLst>
          </p:cNvPr>
          <p:cNvCxnSpPr>
            <a:cxnSpLocks/>
            <a:endCxn id="146" idx="1"/>
          </p:cNvCxnSpPr>
          <p:nvPr/>
        </p:nvCxnSpPr>
        <p:spPr>
          <a:xfrm rot="16200000" flipH="1">
            <a:off x="7342212" y="3611487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肘形连接符 150">
            <a:extLst>
              <a:ext uri="{FF2B5EF4-FFF2-40B4-BE49-F238E27FC236}">
                <a16:creationId xmlns:a16="http://schemas.microsoft.com/office/drawing/2014/main" id="{20F276FB-5371-454D-B48A-58F2DBBAAFD1}"/>
              </a:ext>
            </a:extLst>
          </p:cNvPr>
          <p:cNvCxnSpPr>
            <a:cxnSpLocks/>
            <a:stCxn id="136" idx="3"/>
          </p:cNvCxnSpPr>
          <p:nvPr/>
        </p:nvCxnSpPr>
        <p:spPr>
          <a:xfrm flipV="1">
            <a:off x="5796079" y="3645395"/>
            <a:ext cx="288089" cy="288000"/>
          </a:xfrm>
          <a:prstGeom prst="bentConnector3">
            <a:avLst>
              <a:gd name="adj1" fmla="val 37877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肘形连接符 151">
            <a:extLst>
              <a:ext uri="{FF2B5EF4-FFF2-40B4-BE49-F238E27FC236}">
                <a16:creationId xmlns:a16="http://schemas.microsoft.com/office/drawing/2014/main" id="{C497133D-147B-A746-9BD1-1CD6A05423B5}"/>
              </a:ext>
            </a:extLst>
          </p:cNvPr>
          <p:cNvCxnSpPr>
            <a:cxnSpLocks/>
          </p:cNvCxnSpPr>
          <p:nvPr/>
        </p:nvCxnSpPr>
        <p:spPr>
          <a:xfrm flipV="1">
            <a:off x="6588224" y="3645395"/>
            <a:ext cx="288032" cy="143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肘形连接符 152">
            <a:extLst>
              <a:ext uri="{FF2B5EF4-FFF2-40B4-BE49-F238E27FC236}">
                <a16:creationId xmlns:a16="http://schemas.microsoft.com/office/drawing/2014/main" id="{12C1C0A1-84EA-1643-AD58-35EEBCF5067F}"/>
              </a:ext>
            </a:extLst>
          </p:cNvPr>
          <p:cNvCxnSpPr>
            <a:cxnSpLocks/>
          </p:cNvCxnSpPr>
          <p:nvPr/>
        </p:nvCxnSpPr>
        <p:spPr>
          <a:xfrm flipV="1">
            <a:off x="7380312" y="3645395"/>
            <a:ext cx="288032" cy="2159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肘形连接符 153">
            <a:extLst>
              <a:ext uri="{FF2B5EF4-FFF2-40B4-BE49-F238E27FC236}">
                <a16:creationId xmlns:a16="http://schemas.microsoft.com/office/drawing/2014/main" id="{07E659C3-906F-1448-A854-F140CEBF1970}"/>
              </a:ext>
            </a:extLst>
          </p:cNvPr>
          <p:cNvCxnSpPr>
            <a:stCxn id="146" idx="3"/>
          </p:cNvCxnSpPr>
          <p:nvPr/>
        </p:nvCxnSpPr>
        <p:spPr>
          <a:xfrm flipH="1">
            <a:off x="4211960" y="3937620"/>
            <a:ext cx="3960383" cy="288000"/>
          </a:xfrm>
          <a:prstGeom prst="bentConnector5">
            <a:avLst>
              <a:gd name="adj1" fmla="val -5772"/>
              <a:gd name="adj2" fmla="val 72933"/>
              <a:gd name="adj3" fmla="val 105772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肘形连接符 154">
            <a:extLst>
              <a:ext uri="{FF2B5EF4-FFF2-40B4-BE49-F238E27FC236}">
                <a16:creationId xmlns:a16="http://schemas.microsoft.com/office/drawing/2014/main" id="{B2394541-6375-1A44-A2A2-31EF13631CCE}"/>
              </a:ext>
            </a:extLst>
          </p:cNvPr>
          <p:cNvCxnSpPr>
            <a:cxnSpLocks/>
          </p:cNvCxnSpPr>
          <p:nvPr/>
        </p:nvCxnSpPr>
        <p:spPr>
          <a:xfrm flipV="1">
            <a:off x="4788024" y="3649588"/>
            <a:ext cx="504056" cy="215992"/>
          </a:xfrm>
          <a:prstGeom prst="bentConnector3">
            <a:avLst>
              <a:gd name="adj1" fmla="val 19211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38341CB9-D1CB-EE4E-9AB6-E2784127836A}"/>
              </a:ext>
            </a:extLst>
          </p:cNvPr>
          <p:cNvGrpSpPr/>
          <p:nvPr/>
        </p:nvGrpSpPr>
        <p:grpSpPr>
          <a:xfrm>
            <a:off x="4211960" y="4225652"/>
            <a:ext cx="503999" cy="432048"/>
            <a:chOff x="5580112" y="409228"/>
            <a:chExt cx="648072" cy="432048"/>
          </a:xfrm>
        </p:grpSpPr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8BFD436F-6125-FB45-BB5F-F90D57E192B9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04D69E17-A97C-884B-A33D-D9D77125D914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sp>
        <p:nvSpPr>
          <p:cNvPr id="159" name="矩形 158">
            <a:extLst>
              <a:ext uri="{FF2B5EF4-FFF2-40B4-BE49-F238E27FC236}">
                <a16:creationId xmlns:a16="http://schemas.microsoft.com/office/drawing/2014/main" id="{6A0E0AC5-EFBF-404E-8634-754C12F3ECA6}"/>
              </a:ext>
            </a:extLst>
          </p:cNvPr>
          <p:cNvSpPr/>
          <p:nvPr/>
        </p:nvSpPr>
        <p:spPr>
          <a:xfrm>
            <a:off x="4211960" y="4729708"/>
            <a:ext cx="576064" cy="21602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VTTBR0_EL2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F26DE898-6A43-BA4A-9DA7-B94B4415AEBE}"/>
              </a:ext>
            </a:extLst>
          </p:cNvPr>
          <p:cNvSpPr/>
          <p:nvPr/>
        </p:nvSpPr>
        <p:spPr>
          <a:xfrm>
            <a:off x="5004048" y="4365475"/>
            <a:ext cx="3168352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rPr>
              <a:t>数据页</a:t>
            </a:r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GPA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61" name="直线箭头连接符 160">
            <a:extLst>
              <a:ext uri="{FF2B5EF4-FFF2-40B4-BE49-F238E27FC236}">
                <a16:creationId xmlns:a16="http://schemas.microsoft.com/office/drawing/2014/main" id="{80274396-B4C8-4948-8A96-B897908B5388}"/>
              </a:ext>
            </a:extLst>
          </p:cNvPr>
          <p:cNvCxnSpPr>
            <a:cxnSpLocks/>
            <a:stCxn id="157" idx="3"/>
            <a:endCxn id="160" idx="1"/>
          </p:cNvCxnSpPr>
          <p:nvPr/>
        </p:nvCxnSpPr>
        <p:spPr>
          <a:xfrm flipV="1">
            <a:off x="4715959" y="4437483"/>
            <a:ext cx="288089" cy="4193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2E2EB646-7586-7F4A-9465-7A499C443A0D}"/>
              </a:ext>
            </a:extLst>
          </p:cNvPr>
          <p:cNvGrpSpPr/>
          <p:nvPr/>
        </p:nvGrpSpPr>
        <p:grpSpPr>
          <a:xfrm>
            <a:off x="5292080" y="4653507"/>
            <a:ext cx="503999" cy="432048"/>
            <a:chOff x="5580112" y="409228"/>
            <a:chExt cx="648072" cy="432048"/>
          </a:xfrm>
        </p:grpSpPr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0C7F45F2-BAE1-EF43-BE21-DCB1DF1EB622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4ADB499A-84B2-CF4F-A35B-2014DBB84F57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BAC380F1-334E-2D42-BFE1-E004C84A5F19}"/>
              </a:ext>
            </a:extLst>
          </p:cNvPr>
          <p:cNvGrpSpPr/>
          <p:nvPr/>
        </p:nvGrpSpPr>
        <p:grpSpPr>
          <a:xfrm>
            <a:off x="6084168" y="4653507"/>
            <a:ext cx="503999" cy="432048"/>
            <a:chOff x="5580112" y="409228"/>
            <a:chExt cx="648072" cy="432048"/>
          </a:xfrm>
        </p:grpSpPr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10975294-7469-0141-9639-CD805BC8026F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70E41D0D-B414-9A46-9ADE-03046AB547BC}"/>
                </a:ext>
              </a:extLst>
            </p:cNvPr>
            <p:cNvSpPr/>
            <p:nvPr/>
          </p:nvSpPr>
          <p:spPr>
            <a:xfrm>
              <a:off x="5580112" y="481236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06E93EB1-9E4C-9146-B54C-2CD745639A1E}"/>
              </a:ext>
            </a:extLst>
          </p:cNvPr>
          <p:cNvGrpSpPr/>
          <p:nvPr/>
        </p:nvGrpSpPr>
        <p:grpSpPr>
          <a:xfrm>
            <a:off x="6876256" y="4653507"/>
            <a:ext cx="503999" cy="432048"/>
            <a:chOff x="5580112" y="409228"/>
            <a:chExt cx="648072" cy="432048"/>
          </a:xfrm>
        </p:grpSpPr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1D5573BE-DE55-A444-A1B6-ED3DF474032A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C2E79947-591B-7742-A0D9-84D4336FC176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302926A4-1AC2-A742-9D72-6292E298A646}"/>
              </a:ext>
            </a:extLst>
          </p:cNvPr>
          <p:cNvGrpSpPr/>
          <p:nvPr/>
        </p:nvGrpSpPr>
        <p:grpSpPr>
          <a:xfrm>
            <a:off x="7668344" y="4653507"/>
            <a:ext cx="503999" cy="432048"/>
            <a:chOff x="5580112" y="409228"/>
            <a:chExt cx="648072" cy="432048"/>
          </a:xfrm>
        </p:grpSpPr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03059BE9-469B-AC43-A8D8-6A06E2DC83E4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98091BBA-B622-9446-9BD1-55E4DEEECBD1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174" name="肘形连接符 173">
            <a:extLst>
              <a:ext uri="{FF2B5EF4-FFF2-40B4-BE49-F238E27FC236}">
                <a16:creationId xmlns:a16="http://schemas.microsoft.com/office/drawing/2014/main" id="{24C47902-7E5E-9849-8D94-934DF4757EAD}"/>
              </a:ext>
            </a:extLst>
          </p:cNvPr>
          <p:cNvCxnSpPr>
            <a:cxnSpLocks/>
            <a:endCxn id="164" idx="1"/>
          </p:cNvCxnSpPr>
          <p:nvPr/>
        </p:nvCxnSpPr>
        <p:spPr>
          <a:xfrm rot="16200000" flipH="1">
            <a:off x="4965948" y="4619599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肘形连接符 174">
            <a:extLst>
              <a:ext uri="{FF2B5EF4-FFF2-40B4-BE49-F238E27FC236}">
                <a16:creationId xmlns:a16="http://schemas.microsoft.com/office/drawing/2014/main" id="{8645E530-8822-1140-BFAF-66028C8940E6}"/>
              </a:ext>
            </a:extLst>
          </p:cNvPr>
          <p:cNvCxnSpPr>
            <a:cxnSpLocks/>
            <a:endCxn id="167" idx="1"/>
          </p:cNvCxnSpPr>
          <p:nvPr/>
        </p:nvCxnSpPr>
        <p:spPr>
          <a:xfrm rot="16200000" flipH="1">
            <a:off x="5830044" y="4547591"/>
            <a:ext cx="292224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肘形连接符 175">
            <a:extLst>
              <a:ext uri="{FF2B5EF4-FFF2-40B4-BE49-F238E27FC236}">
                <a16:creationId xmlns:a16="http://schemas.microsoft.com/office/drawing/2014/main" id="{38BFB85B-841D-6C49-AB03-ACE466560A10}"/>
              </a:ext>
            </a:extLst>
          </p:cNvPr>
          <p:cNvCxnSpPr>
            <a:cxnSpLocks/>
            <a:endCxn id="170" idx="1"/>
          </p:cNvCxnSpPr>
          <p:nvPr/>
        </p:nvCxnSpPr>
        <p:spPr>
          <a:xfrm rot="16200000" flipH="1">
            <a:off x="6586128" y="4583595"/>
            <a:ext cx="364232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肘形连接符 176">
            <a:extLst>
              <a:ext uri="{FF2B5EF4-FFF2-40B4-BE49-F238E27FC236}">
                <a16:creationId xmlns:a16="http://schemas.microsoft.com/office/drawing/2014/main" id="{6E4E20B5-A9E6-F24A-88A9-2D63E7620F43}"/>
              </a:ext>
            </a:extLst>
          </p:cNvPr>
          <p:cNvCxnSpPr>
            <a:cxnSpLocks/>
            <a:endCxn id="173" idx="1"/>
          </p:cNvCxnSpPr>
          <p:nvPr/>
        </p:nvCxnSpPr>
        <p:spPr>
          <a:xfrm rot="16200000" flipH="1">
            <a:off x="7342212" y="4619599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肘形连接符 177">
            <a:extLst>
              <a:ext uri="{FF2B5EF4-FFF2-40B4-BE49-F238E27FC236}">
                <a16:creationId xmlns:a16="http://schemas.microsoft.com/office/drawing/2014/main" id="{3ACD8DBA-EB98-B44F-82E8-9EC3D793568F}"/>
              </a:ext>
            </a:extLst>
          </p:cNvPr>
          <p:cNvCxnSpPr>
            <a:cxnSpLocks/>
            <a:stCxn id="163" idx="3"/>
          </p:cNvCxnSpPr>
          <p:nvPr/>
        </p:nvCxnSpPr>
        <p:spPr>
          <a:xfrm flipV="1">
            <a:off x="5796079" y="4653507"/>
            <a:ext cx="288089" cy="288000"/>
          </a:xfrm>
          <a:prstGeom prst="bentConnector3">
            <a:avLst>
              <a:gd name="adj1" fmla="val 37877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肘形连接符 178">
            <a:extLst>
              <a:ext uri="{FF2B5EF4-FFF2-40B4-BE49-F238E27FC236}">
                <a16:creationId xmlns:a16="http://schemas.microsoft.com/office/drawing/2014/main" id="{F9F1B051-2EE4-A94C-8C64-D669EB52268A}"/>
              </a:ext>
            </a:extLst>
          </p:cNvPr>
          <p:cNvCxnSpPr>
            <a:cxnSpLocks/>
          </p:cNvCxnSpPr>
          <p:nvPr/>
        </p:nvCxnSpPr>
        <p:spPr>
          <a:xfrm flipV="1">
            <a:off x="6588224" y="4653507"/>
            <a:ext cx="288032" cy="143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肘形连接符 179">
            <a:extLst>
              <a:ext uri="{FF2B5EF4-FFF2-40B4-BE49-F238E27FC236}">
                <a16:creationId xmlns:a16="http://schemas.microsoft.com/office/drawing/2014/main" id="{6CFC5AC6-ECAA-B84B-A7D5-A1A61F511746}"/>
              </a:ext>
            </a:extLst>
          </p:cNvPr>
          <p:cNvCxnSpPr>
            <a:cxnSpLocks/>
          </p:cNvCxnSpPr>
          <p:nvPr/>
        </p:nvCxnSpPr>
        <p:spPr>
          <a:xfrm flipV="1">
            <a:off x="7380312" y="4653507"/>
            <a:ext cx="288032" cy="2159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肘形连接符 181">
            <a:extLst>
              <a:ext uri="{FF2B5EF4-FFF2-40B4-BE49-F238E27FC236}">
                <a16:creationId xmlns:a16="http://schemas.microsoft.com/office/drawing/2014/main" id="{D2D70B21-48CE-B84A-8E56-899262CBA03C}"/>
              </a:ext>
            </a:extLst>
          </p:cNvPr>
          <p:cNvCxnSpPr>
            <a:cxnSpLocks/>
          </p:cNvCxnSpPr>
          <p:nvPr/>
        </p:nvCxnSpPr>
        <p:spPr>
          <a:xfrm flipV="1">
            <a:off x="4788024" y="4657700"/>
            <a:ext cx="504056" cy="215992"/>
          </a:xfrm>
          <a:prstGeom prst="bentConnector3">
            <a:avLst>
              <a:gd name="adj1" fmla="val 19211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矩形 182">
            <a:extLst>
              <a:ext uri="{FF2B5EF4-FFF2-40B4-BE49-F238E27FC236}">
                <a16:creationId xmlns:a16="http://schemas.microsoft.com/office/drawing/2014/main" id="{E8C3F35D-DB43-2C40-95FA-FAFA0A9E74EC}"/>
              </a:ext>
            </a:extLst>
          </p:cNvPr>
          <p:cNvSpPr/>
          <p:nvPr/>
        </p:nvSpPr>
        <p:spPr>
          <a:xfrm>
            <a:off x="3563888" y="625252"/>
            <a:ext cx="288032" cy="453650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GVA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5B111A41-82B5-3E48-B260-BE2D30BB070D}"/>
              </a:ext>
            </a:extLst>
          </p:cNvPr>
          <p:cNvSpPr/>
          <p:nvPr/>
        </p:nvSpPr>
        <p:spPr>
          <a:xfrm>
            <a:off x="8567936" y="625252"/>
            <a:ext cx="288032" cy="4536504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HPA</a:t>
            </a:r>
            <a:endParaRPr kumimoji="1" lang="zh-CN" altLang="en-US" dirty="0"/>
          </a:p>
        </p:txBody>
      </p: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D0B9773E-8F56-0049-BCEC-871E93DB644D}"/>
              </a:ext>
            </a:extLst>
          </p:cNvPr>
          <p:cNvCxnSpPr>
            <a:cxnSpLocks/>
            <a:stCxn id="173" idx="3"/>
          </p:cNvCxnSpPr>
          <p:nvPr/>
        </p:nvCxnSpPr>
        <p:spPr>
          <a:xfrm>
            <a:off x="8172343" y="4945731"/>
            <a:ext cx="395593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线箭头连接符 187">
            <a:extLst>
              <a:ext uri="{FF2B5EF4-FFF2-40B4-BE49-F238E27FC236}">
                <a16:creationId xmlns:a16="http://schemas.microsoft.com/office/drawing/2014/main" id="{DF507471-2C7F-CF4E-9DB3-D0FE56A844C3}"/>
              </a:ext>
            </a:extLst>
          </p:cNvPr>
          <p:cNvCxnSpPr>
            <a:cxnSpLocks/>
          </p:cNvCxnSpPr>
          <p:nvPr/>
        </p:nvCxnSpPr>
        <p:spPr>
          <a:xfrm>
            <a:off x="3851920" y="1417340"/>
            <a:ext cx="395593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线箭头连接符 188">
            <a:extLst>
              <a:ext uri="{FF2B5EF4-FFF2-40B4-BE49-F238E27FC236}">
                <a16:creationId xmlns:a16="http://schemas.microsoft.com/office/drawing/2014/main" id="{D2BF518F-587D-D24C-9924-3D4F33095793}"/>
              </a:ext>
            </a:extLst>
          </p:cNvPr>
          <p:cNvCxnSpPr>
            <a:cxnSpLocks/>
          </p:cNvCxnSpPr>
          <p:nvPr/>
        </p:nvCxnSpPr>
        <p:spPr>
          <a:xfrm>
            <a:off x="3851920" y="2425452"/>
            <a:ext cx="395593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箭头连接符 189">
            <a:extLst>
              <a:ext uri="{FF2B5EF4-FFF2-40B4-BE49-F238E27FC236}">
                <a16:creationId xmlns:a16="http://schemas.microsoft.com/office/drawing/2014/main" id="{436DC736-9149-8A4E-BC14-2CC08BFAE040}"/>
              </a:ext>
            </a:extLst>
          </p:cNvPr>
          <p:cNvCxnSpPr>
            <a:cxnSpLocks/>
          </p:cNvCxnSpPr>
          <p:nvPr/>
        </p:nvCxnSpPr>
        <p:spPr>
          <a:xfrm>
            <a:off x="3851920" y="3433564"/>
            <a:ext cx="395593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箭头连接符 190">
            <a:extLst>
              <a:ext uri="{FF2B5EF4-FFF2-40B4-BE49-F238E27FC236}">
                <a16:creationId xmlns:a16="http://schemas.microsoft.com/office/drawing/2014/main" id="{15A4EF0E-68C3-0044-832A-3FF9695E59E9}"/>
              </a:ext>
            </a:extLst>
          </p:cNvPr>
          <p:cNvCxnSpPr>
            <a:cxnSpLocks/>
          </p:cNvCxnSpPr>
          <p:nvPr/>
        </p:nvCxnSpPr>
        <p:spPr>
          <a:xfrm>
            <a:off x="3851920" y="4441676"/>
            <a:ext cx="395593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文本框 191">
            <a:extLst>
              <a:ext uri="{FF2B5EF4-FFF2-40B4-BE49-F238E27FC236}">
                <a16:creationId xmlns:a16="http://schemas.microsoft.com/office/drawing/2014/main" id="{EE0BFC17-4D9C-BF4C-87FA-4D7DC39BF9EA}"/>
              </a:ext>
            </a:extLst>
          </p:cNvPr>
          <p:cNvSpPr txBox="1"/>
          <p:nvPr/>
        </p:nvSpPr>
        <p:spPr>
          <a:xfrm>
            <a:off x="8100392" y="769268"/>
            <a:ext cx="432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cs typeface="Times New Roman" panose="02020603050405020304" pitchFamily="18" charset="0"/>
              </a:rPr>
              <a:t>HPA</a:t>
            </a:r>
            <a:endParaRPr kumimoji="1" lang="zh-CN" altLang="en-US" sz="800" b="1" dirty="0">
              <a:cs typeface="Times New Roman" panose="02020603050405020304" pitchFamily="18" charset="0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5DD79C28-EE45-924F-84C6-658BFCD4AD77}"/>
              </a:ext>
            </a:extLst>
          </p:cNvPr>
          <p:cNvSpPr txBox="1"/>
          <p:nvPr/>
        </p:nvSpPr>
        <p:spPr>
          <a:xfrm>
            <a:off x="8100392" y="1777380"/>
            <a:ext cx="432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cs typeface="Times New Roman" panose="02020603050405020304" pitchFamily="18" charset="0"/>
              </a:rPr>
              <a:t>HPA</a:t>
            </a:r>
            <a:endParaRPr kumimoji="1" lang="zh-CN" altLang="en-US" sz="800" b="1" dirty="0">
              <a:cs typeface="Times New Roman" panose="02020603050405020304" pitchFamily="18" charset="0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230B8F70-2360-5D4D-8269-5BC956353A02}"/>
              </a:ext>
            </a:extLst>
          </p:cNvPr>
          <p:cNvSpPr txBox="1"/>
          <p:nvPr/>
        </p:nvSpPr>
        <p:spPr>
          <a:xfrm>
            <a:off x="8100392" y="2785492"/>
            <a:ext cx="432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cs typeface="Times New Roman" panose="02020603050405020304" pitchFamily="18" charset="0"/>
              </a:rPr>
              <a:t>HPA</a:t>
            </a:r>
            <a:endParaRPr kumimoji="1" lang="zh-CN" altLang="en-US" sz="800" b="1" dirty="0">
              <a:cs typeface="Times New Roman" panose="02020603050405020304" pitchFamily="18" charset="0"/>
            </a:endParaRP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8FEA0FE5-7311-D040-92B0-A2C67EDD084E}"/>
              </a:ext>
            </a:extLst>
          </p:cNvPr>
          <p:cNvSpPr txBox="1"/>
          <p:nvPr/>
        </p:nvSpPr>
        <p:spPr>
          <a:xfrm>
            <a:off x="8100392" y="3793604"/>
            <a:ext cx="432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cs typeface="Times New Roman" panose="02020603050405020304" pitchFamily="18" charset="0"/>
              </a:rPr>
              <a:t>HPA</a:t>
            </a:r>
            <a:endParaRPr kumimoji="1" lang="zh-CN" altLang="en-US" sz="8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752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72" grpId="0" animBg="1"/>
      <p:bldP spid="73" grpId="0" animBg="1"/>
      <p:bldP spid="105" grpId="0" animBg="1"/>
      <p:bldP spid="106" grpId="0" animBg="1"/>
      <p:bldP spid="132" grpId="0" animBg="1"/>
      <p:bldP spid="133" grpId="0" animBg="1"/>
      <p:bldP spid="159" grpId="0" animBg="1"/>
      <p:bldP spid="160" grpId="0" animBg="1"/>
      <p:bldP spid="184" grpId="0" animBg="1"/>
      <p:bldP spid="192" grpId="0"/>
      <p:bldP spid="193" grpId="0"/>
      <p:bldP spid="194" grpId="0"/>
      <p:bldP spid="19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63EDD-EC1E-C149-B481-084EAB3D3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：缓存地址翻译结果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2B4507-14FD-AB45-9F17-D0C687C14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回顾：</a:t>
            </a:r>
            <a:r>
              <a:rPr kumimoji="1" lang="en-US" altLang="zh-CN" dirty="0"/>
              <a:t>TLB</a:t>
            </a:r>
            <a:r>
              <a:rPr kumimoji="1" lang="zh-CN" altLang="en-US" dirty="0"/>
              <a:t>不仅可以缓存第一阶段地址翻译结果</a:t>
            </a:r>
            <a:endParaRPr kumimoji="1" lang="en-US" altLang="zh-CN" dirty="0"/>
          </a:p>
          <a:p>
            <a:r>
              <a:rPr kumimoji="1" lang="en-US" altLang="zh-CN" dirty="0"/>
              <a:t>TLB</a:t>
            </a:r>
            <a:r>
              <a:rPr kumimoji="1" lang="zh-CN" altLang="en-US" dirty="0"/>
              <a:t>也可以第二阶段地址翻译后的结果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包括第一阶段的翻译结果</a:t>
            </a:r>
            <a:r>
              <a:rPr kumimoji="1" lang="en-US" altLang="zh-CN" dirty="0"/>
              <a:t>(GVA-&gt;GPA)</a:t>
            </a:r>
          </a:p>
          <a:p>
            <a:pPr lvl="1"/>
            <a:r>
              <a:rPr kumimoji="1" lang="zh-CN" altLang="en-US" dirty="0"/>
              <a:t>包括第二阶段的翻译结果</a:t>
            </a:r>
            <a:r>
              <a:rPr kumimoji="1" lang="en-US" altLang="zh-CN" dirty="0"/>
              <a:t>(GPA-&gt;HPA)</a:t>
            </a:r>
          </a:p>
          <a:p>
            <a:pPr lvl="1"/>
            <a:r>
              <a:rPr kumimoji="1" lang="zh-CN" altLang="en-US" dirty="0"/>
              <a:t>大大提升</a:t>
            </a:r>
            <a:r>
              <a:rPr kumimoji="1" lang="en-US" altLang="zh-CN" dirty="0"/>
              <a:t>GVA-&gt;HPA</a:t>
            </a:r>
            <a:r>
              <a:rPr kumimoji="1" lang="zh-CN" altLang="en-US" dirty="0"/>
              <a:t>的翻译性能：</a:t>
            </a:r>
            <a:r>
              <a:rPr kumimoji="1" lang="zh-CN" altLang="en-US" dirty="0">
                <a:solidFill>
                  <a:srgbClr val="BE384B"/>
                </a:solidFill>
              </a:rPr>
              <a:t>不需要</a:t>
            </a:r>
            <a:r>
              <a:rPr kumimoji="1" lang="en-US" altLang="zh-CN" dirty="0">
                <a:solidFill>
                  <a:srgbClr val="BE384B"/>
                </a:solidFill>
              </a:rPr>
              <a:t>24</a:t>
            </a:r>
            <a:r>
              <a:rPr kumimoji="1" lang="zh-CN" altLang="en-US" dirty="0">
                <a:solidFill>
                  <a:srgbClr val="BE384B"/>
                </a:solidFill>
              </a:rPr>
              <a:t>次内存访问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r>
              <a:rPr kumimoji="1" lang="zh-CN" altLang="en-US" dirty="0"/>
              <a:t>切换</a:t>
            </a:r>
            <a:r>
              <a:rPr kumimoji="1" lang="en-US" altLang="zh-CN" dirty="0"/>
              <a:t>VTTBR_EL2</a:t>
            </a:r>
            <a:r>
              <a:rPr kumimoji="1" lang="zh-CN" altLang="en-US" dirty="0"/>
              <a:t>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理论上应将前一个</a:t>
            </a:r>
            <a:r>
              <a:rPr kumimoji="1" lang="en-US" altLang="zh-CN" dirty="0"/>
              <a:t>VM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TLB</a:t>
            </a:r>
            <a:r>
              <a:rPr kumimoji="1" lang="zh-CN" altLang="en-US" dirty="0"/>
              <a:t>项全部刷掉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201C48-0A26-3546-B99D-EA7674CEF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04C4E0-786E-B140-94CF-60282F844F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9603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F05C5-8076-CB4C-A0A9-0EF93FC56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刷新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C9475E-86D1-BD4A-9134-3B75424FF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sz="2200" dirty="0"/>
              <a:t>刷</a:t>
            </a:r>
            <a:r>
              <a:rPr kumimoji="1" lang="en-US" altLang="zh-CN" sz="2200" dirty="0"/>
              <a:t>TLB</a:t>
            </a:r>
            <a:r>
              <a:rPr kumimoji="1" lang="zh-CN" altLang="en-US" sz="2200" dirty="0"/>
              <a:t>相关指令</a:t>
            </a:r>
            <a:endParaRPr kumimoji="1" lang="en-US" altLang="zh-CN" sz="2200" dirty="0"/>
          </a:p>
          <a:p>
            <a:pPr lvl="1"/>
            <a:r>
              <a:rPr kumimoji="1" lang="zh-CN" altLang="en-US" sz="1600" dirty="0"/>
              <a:t>清空全部</a:t>
            </a:r>
            <a:endParaRPr kumimoji="1" lang="en-US" altLang="zh-CN" sz="1600" dirty="0"/>
          </a:p>
          <a:p>
            <a:pPr lvl="2"/>
            <a:r>
              <a:rPr kumimoji="1" lang="en-US" altLang="zh-CN" sz="1600" dirty="0"/>
              <a:t>TLBI VMALLS12E1IS </a:t>
            </a:r>
          </a:p>
          <a:p>
            <a:pPr lvl="1"/>
            <a:r>
              <a:rPr kumimoji="1" lang="zh-CN" altLang="en-US" sz="1600" dirty="0"/>
              <a:t>清空指定</a:t>
            </a:r>
            <a:r>
              <a:rPr kumimoji="1" lang="en-US" altLang="zh-CN" sz="1600" dirty="0"/>
              <a:t>GVA</a:t>
            </a:r>
          </a:p>
          <a:p>
            <a:pPr lvl="2"/>
            <a:r>
              <a:rPr lang="en-US" altLang="zh-CN" sz="1600" dirty="0"/>
              <a:t>TLBI VAE1IS</a:t>
            </a:r>
          </a:p>
          <a:p>
            <a:pPr lvl="1"/>
            <a:r>
              <a:rPr kumimoji="1" lang="zh-CN" altLang="en-US" sz="1600" dirty="0"/>
              <a:t>清空指定</a:t>
            </a:r>
            <a:r>
              <a:rPr kumimoji="1" lang="en-US" altLang="zh-CN" sz="1600" dirty="0"/>
              <a:t>GPA</a:t>
            </a:r>
          </a:p>
          <a:p>
            <a:pPr lvl="2"/>
            <a:r>
              <a:rPr kumimoji="1" lang="en-US" altLang="zh-CN" sz="1600" dirty="0"/>
              <a:t>TLBI IPAS2E1IS </a:t>
            </a:r>
          </a:p>
          <a:p>
            <a:r>
              <a:rPr kumimoji="1" lang="en-US" altLang="zh-CN" dirty="0"/>
              <a:t>VMID</a:t>
            </a:r>
            <a:r>
              <a:rPr kumimoji="1" lang="zh-CN" altLang="en-US" dirty="0"/>
              <a:t> </a:t>
            </a:r>
            <a:r>
              <a:rPr kumimoji="1" lang="en-US" altLang="zh-CN" dirty="0"/>
              <a:t>(Virtual Machine </a:t>
            </a:r>
            <a:r>
              <a:rPr kumimoji="1" lang="en-US" altLang="zh-CN" dirty="0" err="1"/>
              <a:t>IDentifier</a:t>
            </a:r>
            <a:r>
              <a:rPr kumimoji="1" lang="en-US" altLang="zh-CN" dirty="0"/>
              <a:t>)</a:t>
            </a:r>
          </a:p>
          <a:p>
            <a:pPr lvl="1"/>
            <a:r>
              <a:rPr lang="en-US" altLang="zh-CN" sz="1600" dirty="0"/>
              <a:t>VMM</a:t>
            </a:r>
            <a:r>
              <a:rPr lang="zh-CN" altLang="en-US" sz="1600" dirty="0"/>
              <a:t>为不同进程分配</a:t>
            </a:r>
            <a:r>
              <a:rPr lang="en-US" altLang="zh-CN" sz="1600" dirty="0"/>
              <a:t>8/16</a:t>
            </a:r>
            <a:r>
              <a:rPr lang="zh-CN" altLang="en-US" sz="1600" dirty="0"/>
              <a:t> </a:t>
            </a:r>
            <a:r>
              <a:rPr lang="en-US" altLang="zh-CN" sz="1600" dirty="0"/>
              <a:t>VMID</a:t>
            </a:r>
            <a:r>
              <a:rPr lang="zh-CN" altLang="en-US" sz="1600" dirty="0"/>
              <a:t>，将</a:t>
            </a:r>
            <a:r>
              <a:rPr lang="en-US" altLang="zh-CN" sz="1600" dirty="0"/>
              <a:t>VMID</a:t>
            </a:r>
            <a:r>
              <a:rPr lang="zh-CN" altLang="en-US" sz="1600" dirty="0"/>
              <a:t>填写在</a:t>
            </a:r>
            <a:r>
              <a:rPr lang="en-US" altLang="zh-CN" sz="1600" dirty="0"/>
              <a:t>VTTBR_EL2</a:t>
            </a:r>
            <a:r>
              <a:rPr lang="zh-CN" altLang="en-US" sz="1600" dirty="0"/>
              <a:t>的高</a:t>
            </a:r>
            <a:r>
              <a:rPr lang="en-US" altLang="zh-CN" sz="1600" dirty="0"/>
              <a:t>8/16</a:t>
            </a:r>
            <a:r>
              <a:rPr lang="zh-CN" altLang="en-US" sz="1600" dirty="0"/>
              <a:t>位</a:t>
            </a:r>
            <a:endParaRPr lang="en-US" altLang="zh-CN" sz="1600" dirty="0"/>
          </a:p>
          <a:p>
            <a:pPr lvl="1"/>
            <a:r>
              <a:rPr lang="en-US" altLang="zh-CN" sz="1600" dirty="0"/>
              <a:t>VMID</a:t>
            </a:r>
            <a:r>
              <a:rPr lang="zh-CN" altLang="en-US" sz="1600" dirty="0"/>
              <a:t>位数由</a:t>
            </a:r>
            <a:r>
              <a:rPr lang="en-US" altLang="zh-CN" sz="1600" dirty="0"/>
              <a:t>VTCR_EL2</a:t>
            </a:r>
            <a:r>
              <a:rPr lang="zh-CN" altLang="en-US" sz="1600" dirty="0"/>
              <a:t>的第</a:t>
            </a:r>
            <a:r>
              <a:rPr lang="en-US" altLang="zh-CN" sz="1600" dirty="0"/>
              <a:t>19</a:t>
            </a:r>
            <a:r>
              <a:rPr lang="zh-CN" altLang="en-US" sz="1600" dirty="0"/>
              <a:t>位（</a:t>
            </a:r>
            <a:r>
              <a:rPr lang="en-US" altLang="zh-CN" sz="1600" dirty="0"/>
              <a:t>VS</a:t>
            </a:r>
            <a:r>
              <a:rPr lang="zh-CN" altLang="en-US" sz="1600" dirty="0"/>
              <a:t>位）决定</a:t>
            </a:r>
            <a:endParaRPr lang="en-US" altLang="zh-CN" sz="1600" dirty="0"/>
          </a:p>
          <a:p>
            <a:pPr lvl="1"/>
            <a:r>
              <a:rPr kumimoji="1" lang="zh-CN" altLang="en-US" sz="1600" dirty="0"/>
              <a:t>避免刷新上个</a:t>
            </a:r>
            <a:r>
              <a:rPr kumimoji="1" lang="en-US" altLang="zh-CN" sz="1600" dirty="0"/>
              <a:t>VM</a:t>
            </a:r>
            <a:r>
              <a:rPr kumimoji="1" lang="zh-CN" altLang="en-US" sz="1600" dirty="0"/>
              <a:t>的</a:t>
            </a:r>
            <a:r>
              <a:rPr kumimoji="1" lang="en-US" altLang="zh-CN" sz="1600" dirty="0"/>
              <a:t>TLB</a:t>
            </a:r>
          </a:p>
          <a:p>
            <a:endParaRPr kumimoji="1" lang="en-US" altLang="zh-CN" sz="2000" dirty="0"/>
          </a:p>
          <a:p>
            <a:pPr lvl="2"/>
            <a:endParaRPr kumimoji="1" lang="zh-CN" altLang="en-US" sz="1600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7483A1-3DE0-284A-9B38-FBAB2E6FE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B536FF-5903-E341-8BB0-3D5CE42BD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55965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4F8D4-8711-6B43-BF91-40B45734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如何处理缺页异常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5BC811-725B-064B-A9CC-B30CB5CBD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两阶段翻译的缺页异常分开处理</a:t>
            </a:r>
            <a:endParaRPr kumimoji="1" lang="en-US" altLang="zh-CN" dirty="0"/>
          </a:p>
          <a:p>
            <a:r>
              <a:rPr kumimoji="1" lang="zh-CN" altLang="en-US" dirty="0"/>
              <a:t>第一阶段缺页异常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直接调用</a:t>
            </a:r>
            <a:r>
              <a:rPr kumimoji="1" lang="en-US" altLang="zh-CN" dirty="0"/>
              <a:t>VM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  <a:r>
              <a:rPr kumimoji="1" lang="zh-CN" altLang="en-US" dirty="0"/>
              <a:t> </a:t>
            </a:r>
            <a:r>
              <a:rPr kumimoji="1" lang="en-US" altLang="zh-CN" dirty="0"/>
              <a:t>handler</a:t>
            </a:r>
          </a:p>
          <a:p>
            <a:pPr lvl="1"/>
            <a:r>
              <a:rPr kumimoji="1" lang="zh-CN" altLang="en-US" dirty="0"/>
              <a:t>修改第一阶段页表</a:t>
            </a:r>
            <a:r>
              <a:rPr kumimoji="1" lang="zh-CN" altLang="en-US" b="1" dirty="0"/>
              <a:t>不会</a:t>
            </a:r>
            <a:r>
              <a:rPr kumimoji="1" lang="zh-CN" altLang="en-US" dirty="0"/>
              <a:t>引起任何虚拟机下陷</a:t>
            </a:r>
            <a:endParaRPr kumimoji="1" lang="en-US" altLang="zh-CN" dirty="0"/>
          </a:p>
          <a:p>
            <a:r>
              <a:rPr kumimoji="1" lang="zh-CN" altLang="en-US" dirty="0"/>
              <a:t>第二阶段缺页异常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虚拟机下陷，直接调用</a:t>
            </a:r>
            <a:r>
              <a:rPr kumimoji="1" lang="en-US" altLang="zh-CN" dirty="0"/>
              <a:t>VMM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  <a:r>
              <a:rPr kumimoji="1" lang="zh-CN" altLang="en-US" dirty="0"/>
              <a:t> </a:t>
            </a:r>
            <a:r>
              <a:rPr kumimoji="1" lang="en-US" altLang="zh-CN" dirty="0"/>
              <a:t>handler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21C75E-2103-2A41-870F-2B2CA44CE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FD3F8-82EF-6E42-8180-29008FFA1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64600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C4E4BE-10A2-3D45-8612-52EC9C342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第二阶段页表的优缺点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9D1032-3FBE-9A42-AD7F-0BCF5E893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优点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VMM</a:t>
            </a:r>
            <a:r>
              <a:rPr kumimoji="1" lang="zh-CN" altLang="en-US" dirty="0"/>
              <a:t>实现简单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不需要捕捉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的更新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减少内存开销：每个</a:t>
            </a:r>
            <a:r>
              <a:rPr kumimoji="1" lang="en-US" altLang="zh-CN" dirty="0"/>
              <a:t>VM</a:t>
            </a:r>
            <a:r>
              <a:rPr kumimoji="1" lang="zh-CN" altLang="en-US" dirty="0"/>
              <a:t>对应一个页表</a:t>
            </a:r>
            <a:endParaRPr kumimoji="1" lang="en-US" altLang="zh-CN" dirty="0"/>
          </a:p>
          <a:p>
            <a:r>
              <a:rPr kumimoji="1" lang="zh-CN" altLang="en-US" dirty="0"/>
              <a:t>缺点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TLB</a:t>
            </a:r>
            <a:r>
              <a:rPr kumimoji="1" lang="zh-CN" altLang="en-US" dirty="0"/>
              <a:t> </a:t>
            </a:r>
            <a:r>
              <a:rPr kumimoji="1" lang="en-US" altLang="zh-CN" dirty="0"/>
              <a:t>miss</a:t>
            </a:r>
            <a:r>
              <a:rPr kumimoji="1" lang="zh-CN" altLang="en-US" dirty="0"/>
              <a:t>时性能开销较大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CB7686-39A1-1548-A418-0F36305FB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8AD5E6-F88A-5F43-8860-BCF2AA8785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2792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53708</TotalTime>
  <Words>3288</Words>
  <Application>Microsoft Macintosh PowerPoint</Application>
  <PresentationFormat>全屏显示(16:10)</PresentationFormat>
  <Paragraphs>634</Paragraphs>
  <Slides>48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6" baseType="lpstr">
      <vt:lpstr>等线</vt:lpstr>
      <vt:lpstr>等线</vt:lpstr>
      <vt:lpstr>微软雅黑</vt:lpstr>
      <vt:lpstr>Arial</vt:lpstr>
      <vt:lpstr>Calibri</vt:lpstr>
      <vt:lpstr>Courier</vt:lpstr>
      <vt:lpstr>Courier New</vt:lpstr>
      <vt:lpstr>Office 主题​​</vt:lpstr>
      <vt:lpstr>内存虚拟化</vt:lpstr>
      <vt:lpstr>版权声明</vt:lpstr>
      <vt:lpstr>ARM的虚拟化技术</vt:lpstr>
      <vt:lpstr>ARM的处理器虚拟化</vt:lpstr>
      <vt:lpstr>ARM的VM Entry和VM Exit</vt:lpstr>
      <vt:lpstr>ARM硬件虚拟化的新功能</vt:lpstr>
      <vt:lpstr>HCR_EL2寄存器简介</vt:lpstr>
      <vt:lpstr>HCR_EL2寄存器简介</vt:lpstr>
      <vt:lpstr>ARM硬件虚拟化发展</vt:lpstr>
      <vt:lpstr>ARMv8.0中的Type-2 VMM架构</vt:lpstr>
      <vt:lpstr>ARMv8.1中的Type-2 VMM架构</vt:lpstr>
      <vt:lpstr>ARMv8.1中的Type-2 VMM架构</vt:lpstr>
      <vt:lpstr>VT-x和VHE对比</vt:lpstr>
      <vt:lpstr>Type-1和Type-2在VT-x和VHE下架构</vt:lpstr>
      <vt:lpstr>案例：QEMU/KVM</vt:lpstr>
      <vt:lpstr>QEMU发展历史</vt:lpstr>
      <vt:lpstr>QEMU发展历史</vt:lpstr>
      <vt:lpstr>KVM发展历史</vt:lpstr>
      <vt:lpstr>QEMU/KVM架构</vt:lpstr>
      <vt:lpstr>QEMU使用KVM的用户态接口</vt:lpstr>
      <vt:lpstr>ioctl(KVM_RUN)时发生了什么</vt:lpstr>
      <vt:lpstr>QEMU/KVM的流程</vt:lpstr>
      <vt:lpstr>例：WFI指令VM Exit的处理流程</vt:lpstr>
      <vt:lpstr>例：I/O指令VM Exit的处理流程</vt:lpstr>
      <vt:lpstr>内存虚拟化</vt:lpstr>
      <vt:lpstr>为什么需要内存虚拟化?</vt:lpstr>
      <vt:lpstr>内存虚拟化的目标</vt:lpstr>
      <vt:lpstr>三种地址</vt:lpstr>
      <vt:lpstr>怎么实现内存虚拟化?</vt:lpstr>
      <vt:lpstr>1、影子页表</vt:lpstr>
      <vt:lpstr>2个页表 -&gt; 1个页表</vt:lpstr>
      <vt:lpstr>Shadow Page Table 设置</vt:lpstr>
      <vt:lpstr>Guest OS修改页表，如何生效？</vt:lpstr>
      <vt:lpstr>Guest内核如何与Guest应用隔离？</vt:lpstr>
      <vt:lpstr>构建2个不同的Guest Pages</vt:lpstr>
      <vt:lpstr>Two Memory Views of Guest VM</vt:lpstr>
      <vt:lpstr>2、Direct Paging (Para-virtualization)</vt:lpstr>
      <vt:lpstr>2、Direct Paging (Para-virtualization)</vt:lpstr>
      <vt:lpstr>3、硬件虚拟化对内存翻译的支持</vt:lpstr>
      <vt:lpstr>第二阶段页表</vt:lpstr>
      <vt:lpstr>第二阶段4级页表</vt:lpstr>
      <vt:lpstr>VTTBR_EL2</vt:lpstr>
      <vt:lpstr>第二阶段页表项</vt:lpstr>
      <vt:lpstr>翻译过程</vt:lpstr>
      <vt:lpstr>TLB：缓存地址翻译结果</vt:lpstr>
      <vt:lpstr>TLB刷新</vt:lpstr>
      <vt:lpstr>如何处理缺页异常</vt:lpstr>
      <vt:lpstr>第二阶段页表的优缺点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5152</cp:revision>
  <cp:lastPrinted>2016-06-13T07:55:34Z</cp:lastPrinted>
  <dcterms:created xsi:type="dcterms:W3CDTF">2017-11-24T09:35:45Z</dcterms:created>
  <dcterms:modified xsi:type="dcterms:W3CDTF">2024-06-14T15:22:45Z</dcterms:modified>
</cp:coreProperties>
</file>