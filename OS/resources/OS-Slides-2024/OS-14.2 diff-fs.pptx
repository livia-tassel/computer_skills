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1306" r:id="rId2"/>
    <p:sldId id="1359" r:id="rId3"/>
    <p:sldId id="2561" r:id="rId4"/>
    <p:sldId id="2440" r:id="rId5"/>
    <p:sldId id="2460" r:id="rId6"/>
    <p:sldId id="2242" r:id="rId7"/>
    <p:sldId id="2243" r:id="rId8"/>
    <p:sldId id="2244" r:id="rId9"/>
    <p:sldId id="2245" r:id="rId10"/>
    <p:sldId id="2246" r:id="rId11"/>
    <p:sldId id="2247" r:id="rId12"/>
    <p:sldId id="2248" r:id="rId13"/>
    <p:sldId id="2249" r:id="rId14"/>
    <p:sldId id="2250" r:id="rId15"/>
    <p:sldId id="2251" r:id="rId16"/>
    <p:sldId id="2260" r:id="rId17"/>
    <p:sldId id="2261" r:id="rId18"/>
    <p:sldId id="2256" r:id="rId19"/>
    <p:sldId id="2416" r:id="rId20"/>
    <p:sldId id="2415" r:id="rId21"/>
    <p:sldId id="2482" r:id="rId22"/>
    <p:sldId id="2484" r:id="rId23"/>
    <p:sldId id="2556" r:id="rId24"/>
    <p:sldId id="2560" r:id="rId25"/>
    <p:sldId id="2461" r:id="rId26"/>
    <p:sldId id="2462" r:id="rId27"/>
    <p:sldId id="2480" r:id="rId28"/>
    <p:sldId id="2559" r:id="rId29"/>
    <p:sldId id="2463" r:id="rId30"/>
    <p:sldId id="2469" r:id="rId31"/>
    <p:sldId id="2557" r:id="rId32"/>
    <p:sldId id="2472" r:id="rId33"/>
    <p:sldId id="2475" r:id="rId34"/>
    <p:sldId id="2477" r:id="rId35"/>
    <p:sldId id="2457" r:id="rId36"/>
    <p:sldId id="2436" r:id="rId37"/>
    <p:sldId id="2522" r:id="rId38"/>
    <p:sldId id="2537" r:id="rId39"/>
    <p:sldId id="2455" r:id="rId40"/>
    <p:sldId id="2562" r:id="rId41"/>
    <p:sldId id="2563" r:id="rId42"/>
    <p:sldId id="2509" r:id="rId43"/>
    <p:sldId id="2566" r:id="rId44"/>
    <p:sldId id="2549" r:id="rId45"/>
    <p:sldId id="2564" r:id="rId46"/>
    <p:sldId id="2450" r:id="rId47"/>
    <p:sldId id="2565" r:id="rId48"/>
    <p:sldId id="2451" r:id="rId49"/>
    <p:sldId id="2539" r:id="rId50"/>
    <p:sldId id="2540" r:id="rId51"/>
    <p:sldId id="2567" r:id="rId52"/>
    <p:sldId id="2568" r:id="rId53"/>
    <p:sldId id="2452" r:id="rId54"/>
    <p:sldId id="2510" r:id="rId55"/>
    <p:sldId id="2573" r:id="rId56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orient="horz" pos="8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0FB92"/>
    <a:srgbClr val="941100"/>
    <a:srgbClr val="212121"/>
    <a:srgbClr val="005493"/>
    <a:srgbClr val="FF2F92"/>
    <a:srgbClr val="9437FF"/>
    <a:srgbClr val="73FEFF"/>
    <a:srgbClr val="ED3C64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60" autoAdjust="0"/>
    <p:restoredTop sz="88095" autoAdjust="0"/>
  </p:normalViewPr>
  <p:slideViewPr>
    <p:cSldViewPr>
      <p:cViewPr varScale="1">
        <p:scale>
          <a:sx n="129" d="100"/>
          <a:sy n="129" d="100"/>
        </p:scale>
        <p:origin x="2024" y="192"/>
      </p:cViewPr>
      <p:guideLst>
        <p:guide orient="horz" pos="2480"/>
        <p:guide pos="2880"/>
        <p:guide orient="horz" pos="893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sdfir.blogspot.com/2020/04/parsing-mft-ntfs-metadata-file.html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55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452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9641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412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" dirty="0"/>
              <a:t>需要</a:t>
            </a:r>
            <a:r>
              <a:rPr kumimoji="1" lang="en" altLang="zh-CN" dirty="0"/>
              <a:t>256K</a:t>
            </a:r>
            <a:r>
              <a:rPr kumimoji="1" lang="zh-CN" altLang="en-US" dirty="0"/>
              <a:t>个</a:t>
            </a:r>
            <a:r>
              <a:rPr kumimoji="1" lang="en-US" altLang="zh-CN" dirty="0"/>
              <a:t>4</a:t>
            </a:r>
            <a:r>
              <a:rPr kumimoji="1" lang="en" altLang="zh-CN" dirty="0"/>
              <a:t>K</a:t>
            </a:r>
            <a:r>
              <a:rPr kumimoji="1" lang="zh-CN" altLang="en-US" dirty="0"/>
              <a:t>数据块，元数据需要</a:t>
            </a:r>
            <a:r>
              <a:rPr kumimoji="1" lang="en-US" altLang="zh-CN" dirty="0"/>
              <a:t>512</a:t>
            </a:r>
            <a:r>
              <a:rPr kumimoji="1" lang="zh-CN" altLang="en-US" dirty="0"/>
              <a:t>个</a:t>
            </a:r>
            <a:r>
              <a:rPr kumimoji="1" lang="en" altLang="zh-CN" dirty="0"/>
              <a:t>indirect block</a:t>
            </a:r>
            <a:r>
              <a:rPr kumimoji="1" lang="zh-CN" altLang="en" dirty="0"/>
              <a:t>，</a:t>
            </a:r>
            <a:r>
              <a:rPr kumimoji="1" lang="zh-CN" altLang="en-US" dirty="0"/>
              <a:t>和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</a:t>
            </a:r>
            <a:r>
              <a:rPr kumimoji="1" lang="en" altLang="zh-CN" dirty="0"/>
              <a:t>double indirect block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187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Courier" pitchFamily="2" charset="0"/>
              </a:rPr>
              <a:t>基数树：</a:t>
            </a:r>
            <a:r>
              <a:rPr lang="en-US" altLang="zh-CN" sz="1200" dirty="0">
                <a:latin typeface="Courier" pitchFamily="2" charset="0"/>
              </a:rPr>
              <a:t>radix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579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679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944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目录项中的文件大小用</a:t>
            </a:r>
            <a:r>
              <a:rPr lang="en-US" altLang="zh-CN" dirty="0"/>
              <a:t>4</a:t>
            </a:r>
            <a:r>
              <a:rPr lang="zh-CN" altLang="en-US" dirty="0"/>
              <a:t>字节</a:t>
            </a:r>
            <a:endParaRPr lang="en-US" altLang="zh-CN" dirty="0"/>
          </a:p>
          <a:p>
            <a:r>
              <a:rPr lang="zh-CN" altLang="en-US" dirty="0"/>
              <a:t>用更多字节保存</a:t>
            </a:r>
            <a:endParaRPr lang="en-US" altLang="zh-CN" dirty="0"/>
          </a:p>
          <a:p>
            <a:r>
              <a:rPr lang="zh-CN" altLang="en-US" dirty="0"/>
              <a:t>日志问题，没有日志，减少写；简单</a:t>
            </a:r>
            <a:endParaRPr lang="en-US" altLang="zh-CN" dirty="0"/>
          </a:p>
          <a:p>
            <a:r>
              <a:rPr lang="zh-CN" altLang="en-US" dirty="0"/>
              <a:t>无法统计</a:t>
            </a:r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count</a:t>
            </a:r>
          </a:p>
          <a:p>
            <a:r>
              <a:rPr lang="zh-CN" altLang="en-US" dirty="0"/>
              <a:t>目录项对比和顺序存储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949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读取</a:t>
            </a:r>
            <a:r>
              <a:rPr lang="en-US" altLang="zh-CN" b="0" dirty="0"/>
              <a:t>MFT</a:t>
            </a:r>
            <a:r>
              <a:rPr lang="zh-CN" altLang="en-US" b="0" dirty="0"/>
              <a:t>，生成索引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直接放在</a:t>
            </a:r>
            <a:r>
              <a:rPr lang="en-US" b="0" dirty="0"/>
              <a:t>MFT</a:t>
            </a:r>
            <a:r>
              <a:rPr lang="zh-CN" altLang="en-US" b="0" dirty="0"/>
              <a:t>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067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>
                <a:hlinkClick r:id="rId3"/>
              </a:rPr>
              <a:t>Parsing the $MFT NTFS metadata file (osdfir.blogspot.com)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53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不同的文件系统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96B5774C-BD68-85B6-4C3F-BB4FBD2F394C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A90BA-3EFB-4146-AA8E-4546C133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理解一个文件系统的</a:t>
            </a:r>
            <a:r>
              <a:rPr kumimoji="1" lang="en-US" altLang="zh-CN" dirty="0"/>
              <a:t>11</a:t>
            </a:r>
            <a:r>
              <a:rPr kumimoji="1" lang="zh-CN" altLang="en-US" dirty="0"/>
              <a:t>个问题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37055-1395-1F42-95B3-41B635AD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39620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文件系统使用硬盘块的基本单位是什么？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一个文件在硬盘上的组织方式是什么？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硬盘上空闲空间的组织方式是什么？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硬盘上目录的结构是什么？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是否支持硬链接？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是否支持软链接？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硬盘存储的整体布局是什么？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4596CF-F270-E947-9AF8-74265907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12FA7-40A3-C744-81DC-E252AD648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D82C277-C85A-2B4B-8549-7592F2526E6C}"/>
              </a:ext>
            </a:extLst>
          </p:cNvPr>
          <p:cNvSpPr txBox="1">
            <a:spLocks/>
          </p:cNvSpPr>
          <p:nvPr/>
        </p:nvSpPr>
        <p:spPr>
          <a:xfrm>
            <a:off x="4860032" y="2785492"/>
            <a:ext cx="4283968" cy="2016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0" dirty="0"/>
              <a:t>8.</a:t>
            </a:r>
            <a:r>
              <a:rPr lang="zh-CN" altLang="en-US" sz="1800" b="0" dirty="0"/>
              <a:t>  如何根据文件名查找到一个文件？</a:t>
            </a:r>
            <a:endParaRPr lang="en-US" altLang="zh-CN" sz="1800" b="0" dirty="0"/>
          </a:p>
          <a:p>
            <a:pPr marL="0" indent="0">
              <a:buNone/>
            </a:pPr>
            <a:r>
              <a:rPr lang="en-US" altLang="zh-CN" sz="1800" b="0" dirty="0"/>
              <a:t>9.</a:t>
            </a:r>
            <a:r>
              <a:rPr lang="zh-CN" altLang="en-US" sz="1800" b="0" dirty="0"/>
              <a:t>  如何读取一个文件？</a:t>
            </a:r>
            <a:endParaRPr lang="en-US" altLang="zh-CN" sz="1800" b="0" dirty="0"/>
          </a:p>
          <a:p>
            <a:pPr marL="0" indent="0">
              <a:buNone/>
            </a:pPr>
            <a:r>
              <a:rPr lang="en-US" altLang="zh-CN" sz="1800" b="0" dirty="0"/>
              <a:t>10.</a:t>
            </a:r>
            <a:r>
              <a:rPr lang="zh-CN" altLang="en-US" sz="1800" b="0" dirty="0"/>
              <a:t> 如何为一个文件分配新的硬盘空间？</a:t>
            </a:r>
          </a:p>
          <a:p>
            <a:pPr marL="0" indent="0">
              <a:buNone/>
            </a:pPr>
            <a:r>
              <a:rPr lang="en-US" altLang="zh-CN" sz="1800" b="0" dirty="0"/>
              <a:t>11.</a:t>
            </a:r>
            <a:r>
              <a:rPr lang="zh-CN" altLang="en-US" sz="1800" b="0" dirty="0"/>
              <a:t> 如何挂载一个文件系统？</a:t>
            </a:r>
          </a:p>
        </p:txBody>
      </p:sp>
    </p:spTree>
    <p:extLst>
      <p:ext uri="{BB962C8B-B14F-4D97-AF65-F5344CB8AC3E}">
        <p14:creationId xmlns:p14="http://schemas.microsoft.com/office/powerpoint/2010/main" val="237152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C0CB0D-F0FE-4C45-AD0F-E07BE3F0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回顾：</a:t>
            </a:r>
            <a:r>
              <a:rPr lang="en-US" altLang="zh-CN" dirty="0"/>
              <a:t>UNIX</a:t>
            </a:r>
            <a:r>
              <a:rPr lang="zh-CN" altLang="en-US" dirty="0"/>
              <a:t> </a:t>
            </a:r>
            <a:r>
              <a:rPr lang="en-US" altLang="zh-CN" dirty="0"/>
              <a:t>v6</a:t>
            </a:r>
            <a:r>
              <a:rPr lang="zh-CN" altLang="en-US" dirty="0"/>
              <a:t> 文件系统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936246-8C0C-D74E-87BC-6DB06718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27704-9D7D-FA41-B1D9-71B3C084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78A08-8359-4843-B8DE-7AB9BCDC0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43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79A7-C740-8847-96D7-811DD9CE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文件的索引节</a:t>
            </a:r>
            <a:r>
              <a:rPr lang="zh-CN" altLang="en-CN" dirty="0"/>
              <a:t>点</a:t>
            </a:r>
            <a:r>
              <a:rPr lang="zh-CN" altLang="en-US" dirty="0"/>
              <a:t>：</a:t>
            </a:r>
            <a:r>
              <a:rPr lang="en-CN" dirty="0"/>
              <a:t>inode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767CA-7095-8442-A3B9-9E06ABE89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常用的元数据</a:t>
            </a:r>
            <a:endParaRPr lang="en-US" altLang="zh-CN" dirty="0"/>
          </a:p>
          <a:p>
            <a:pPr lvl="1"/>
            <a:r>
              <a:rPr lang="zh-CN" altLang="en-US" dirty="0"/>
              <a:t>文件类型</a:t>
            </a:r>
            <a:endParaRPr lang="en-US" altLang="zh-CN" dirty="0"/>
          </a:p>
          <a:p>
            <a:pPr lvl="1"/>
            <a:r>
              <a:rPr lang="zh-CN" altLang="en-US" dirty="0"/>
              <a:t>文件大小</a:t>
            </a:r>
            <a:endParaRPr lang="en-US" altLang="zh-CN" dirty="0"/>
          </a:p>
          <a:p>
            <a:pPr lvl="1"/>
            <a:r>
              <a:rPr lang="zh-CN" altLang="en-US" dirty="0"/>
              <a:t>链接数</a:t>
            </a:r>
            <a:endParaRPr lang="en-US" altLang="zh-CN" dirty="0"/>
          </a:p>
          <a:p>
            <a:pPr lvl="1"/>
            <a:r>
              <a:rPr lang="zh-CN" altLang="en-US" dirty="0"/>
              <a:t>文件权限</a:t>
            </a:r>
            <a:endParaRPr lang="en-US" altLang="zh-CN" dirty="0"/>
          </a:p>
          <a:p>
            <a:pPr lvl="1"/>
            <a:r>
              <a:rPr lang="zh-CN" altLang="en-US" dirty="0"/>
              <a:t>拥有用户</a:t>
            </a:r>
            <a:r>
              <a:rPr lang="en-US" altLang="zh-CN" dirty="0"/>
              <a:t>/</a:t>
            </a:r>
            <a:r>
              <a:rPr lang="zh-CN" altLang="en-US" dirty="0"/>
              <a:t>组</a:t>
            </a:r>
            <a:endParaRPr lang="en-US" altLang="zh-CN" dirty="0"/>
          </a:p>
          <a:p>
            <a:pPr lvl="1"/>
            <a:r>
              <a:rPr lang="zh-CN" altLang="en-CN" dirty="0"/>
              <a:t>时间</a:t>
            </a:r>
            <a:r>
              <a:rPr lang="zh-CN" altLang="en-US" dirty="0"/>
              <a:t>（创建、修改、访问时间）</a:t>
            </a:r>
            <a:endParaRPr lang="en-US" altLang="zh-CN" dirty="0"/>
          </a:p>
          <a:p>
            <a:r>
              <a:rPr lang="zh-CN" altLang="en-US" dirty="0"/>
              <a:t>具体文件数据的位置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11EDD-B3EF-9543-A967-C3BB37B9E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204686-76EC-5542-8D08-37B01973362B}"/>
              </a:ext>
            </a:extLst>
          </p:cNvPr>
          <p:cNvSpPr/>
          <p:nvPr/>
        </p:nvSpPr>
        <p:spPr>
          <a:xfrm>
            <a:off x="5292080" y="1129308"/>
            <a:ext cx="1008112" cy="1091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dirty="0"/>
              <a:t>常用</a:t>
            </a:r>
            <a:r>
              <a:rPr lang="zh-CN" altLang="en-US" dirty="0"/>
              <a:t>元数据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D3F2E4-AB2B-814C-ADA2-F0D6591D2115}"/>
              </a:ext>
            </a:extLst>
          </p:cNvPr>
          <p:cNvSpPr/>
          <p:nvPr/>
        </p:nvSpPr>
        <p:spPr>
          <a:xfrm>
            <a:off x="5292080" y="2221259"/>
            <a:ext cx="1008112" cy="2762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1:</a:t>
            </a:r>
            <a:r>
              <a:rPr lang="zh-CN" altLang="en-US" sz="1400" dirty="0"/>
              <a:t> </a:t>
            </a:r>
            <a:r>
              <a:rPr lang="en-US" altLang="zh-CN" sz="1400" dirty="0"/>
              <a:t>block34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54038-3E19-BC45-80F9-1C0E69049383}"/>
              </a:ext>
            </a:extLst>
          </p:cNvPr>
          <p:cNvSpPr/>
          <p:nvPr/>
        </p:nvSpPr>
        <p:spPr>
          <a:xfrm>
            <a:off x="5292080" y="2497460"/>
            <a:ext cx="1008112" cy="2762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2:</a:t>
            </a:r>
            <a:r>
              <a:rPr lang="zh-CN" altLang="en-US" sz="1400" dirty="0"/>
              <a:t> </a:t>
            </a:r>
            <a:r>
              <a:rPr lang="en-US" altLang="zh-CN" sz="1400" dirty="0"/>
              <a:t>block35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1A53C4-E95D-E142-89AE-5693558C6E46}"/>
              </a:ext>
            </a:extLst>
          </p:cNvPr>
          <p:cNvSpPr/>
          <p:nvPr/>
        </p:nvSpPr>
        <p:spPr>
          <a:xfrm>
            <a:off x="5292080" y="2773661"/>
            <a:ext cx="1008112" cy="2762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3:</a:t>
            </a:r>
            <a:r>
              <a:rPr lang="zh-CN" altLang="en-US" sz="1400" dirty="0"/>
              <a:t> </a:t>
            </a:r>
            <a:r>
              <a:rPr lang="en-US" altLang="zh-CN" sz="1400" dirty="0"/>
              <a:t>block59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5AA1A-A692-204E-A8F8-E662800E1C58}"/>
              </a:ext>
            </a:extLst>
          </p:cNvPr>
          <p:cNvSpPr/>
          <p:nvPr/>
        </p:nvSpPr>
        <p:spPr>
          <a:xfrm>
            <a:off x="5292080" y="3051724"/>
            <a:ext cx="1008112" cy="2762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4:</a:t>
            </a:r>
            <a:r>
              <a:rPr lang="zh-CN" altLang="en-US" sz="1400" dirty="0"/>
              <a:t> </a:t>
            </a:r>
            <a:r>
              <a:rPr lang="en-US" altLang="zh-CN" sz="1400" dirty="0"/>
              <a:t>block78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370860-046F-CC4D-91AF-02A2F9FA13D9}"/>
              </a:ext>
            </a:extLst>
          </p:cNvPr>
          <p:cNvSpPr/>
          <p:nvPr/>
        </p:nvSpPr>
        <p:spPr>
          <a:xfrm>
            <a:off x="7236296" y="1418739"/>
            <a:ext cx="1008112" cy="780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数据块</a:t>
            </a:r>
            <a:endParaRPr lang="en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992E9-27B1-6B49-BD96-EBD5EF691029}"/>
              </a:ext>
            </a:extLst>
          </p:cNvPr>
          <p:cNvSpPr/>
          <p:nvPr/>
        </p:nvSpPr>
        <p:spPr>
          <a:xfrm>
            <a:off x="7236296" y="2481291"/>
            <a:ext cx="1008112" cy="780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数据块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222C31-43AA-2D44-8BF5-754280AA1EC6}"/>
              </a:ext>
            </a:extLst>
          </p:cNvPr>
          <p:cNvSpPr/>
          <p:nvPr/>
        </p:nvSpPr>
        <p:spPr>
          <a:xfrm>
            <a:off x="7236296" y="3490602"/>
            <a:ext cx="1008112" cy="780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数据块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31F119-808D-FD41-9B15-0248C1E48AB7}"/>
              </a:ext>
            </a:extLst>
          </p:cNvPr>
          <p:cNvSpPr/>
          <p:nvPr/>
        </p:nvSpPr>
        <p:spPr>
          <a:xfrm>
            <a:off x="7236296" y="4553154"/>
            <a:ext cx="1008112" cy="780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数据块</a:t>
            </a:r>
            <a:endParaRPr lang="en-CN" dirty="0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736D46AE-727D-F948-802C-F23CCD069BD2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6300192" y="1809063"/>
            <a:ext cx="936104" cy="550297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90F7F1A4-2006-EA41-B0F8-6E0B1734D029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6300192" y="2635561"/>
            <a:ext cx="936104" cy="236054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4D0E87E4-3BE4-FC4F-999E-EF90DD9C812C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6300192" y="2911762"/>
            <a:ext cx="936104" cy="969164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A31ED506-31F8-454B-95EB-036A8FBDCDF9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6300192" y="3189825"/>
            <a:ext cx="936104" cy="1753653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A9D8E-FB66-284F-B4BB-E71C5997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22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2852FC-C57B-6547-B7EE-A419481C7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182" y="3433564"/>
            <a:ext cx="6765636" cy="150090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3009AA3-C0D6-3647-852E-DFFB2FDB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inode</a:t>
            </a:r>
            <a:r>
              <a:rPr kumimoji="1" lang="zh-CN" altLang="en-US" dirty="0"/>
              <a:t>之前：一个简单的文件系统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51728-7331-7C4D-BF40-F1C4A6CD1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文件系统的特性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文件数量固定：</a:t>
            </a:r>
            <a:r>
              <a:rPr kumimoji="1" lang="en-US" altLang="zh-CN" sz="1800" dirty="0"/>
              <a:t>10 </a:t>
            </a:r>
            <a:r>
              <a:rPr kumimoji="1" lang="zh-CN" altLang="en-US" sz="1800" dirty="0"/>
              <a:t>个文件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文件名固定：从 “</a:t>
            </a:r>
            <a:r>
              <a:rPr kumimoji="1" lang="en-US" altLang="zh-CN" sz="1800" dirty="0"/>
              <a:t>0”</a:t>
            </a:r>
            <a:r>
              <a:rPr kumimoji="1" lang="zh-CN" altLang="en-US" sz="1800" dirty="0"/>
              <a:t>到“</a:t>
            </a:r>
            <a:r>
              <a:rPr kumimoji="1" lang="en-US" altLang="zh-CN" sz="1800" dirty="0"/>
              <a:t>9”</a:t>
            </a:r>
          </a:p>
          <a:p>
            <a:pPr lvl="1"/>
            <a:r>
              <a:rPr kumimoji="1" lang="zh-CN" altLang="en-US" sz="1800" dirty="0"/>
              <a:t>每个文件的大小固定为 </a:t>
            </a:r>
            <a:r>
              <a:rPr kumimoji="1" lang="en-US" altLang="zh-CN" sz="1800" dirty="0"/>
              <a:t>4 </a:t>
            </a:r>
            <a:r>
              <a:rPr kumimoji="1" lang="en" altLang="zh-CN" sz="1800" dirty="0"/>
              <a:t>KB</a:t>
            </a:r>
          </a:p>
          <a:p>
            <a:pPr lvl="1"/>
            <a:r>
              <a:rPr kumimoji="1" lang="en-US" altLang="zh-CN" sz="1800" dirty="0"/>
              <a:t>10</a:t>
            </a:r>
            <a:r>
              <a:rPr kumimoji="1" lang="zh-CN" altLang="en-US" sz="1800" dirty="0"/>
              <a:t>个文件在磁盘上是连续的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993FF-8761-0942-B6F2-18920DCE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4D43B1B-0898-B043-9E9C-B81016902026}"/>
              </a:ext>
            </a:extLst>
          </p:cNvPr>
          <p:cNvSpPr txBox="1">
            <a:spLocks/>
          </p:cNvSpPr>
          <p:nvPr/>
        </p:nvSpPr>
        <p:spPr>
          <a:xfrm>
            <a:off x="4572000" y="1333501"/>
            <a:ext cx="4536504" cy="37716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000" dirty="0"/>
              <a:t>文件系统的操作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文件查找：文件名就是磁盘块号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文件读写：即对相应磁盘块的读写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文件删除：不支持</a:t>
            </a:r>
            <a:endParaRPr kumimoji="1" lang="en-US" altLang="zh-CN" sz="1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DB688C-2FA4-DF48-81E4-482E0B9A5A17}"/>
              </a:ext>
            </a:extLst>
          </p:cNvPr>
          <p:cNvSpPr txBox="1"/>
          <p:nvPr/>
        </p:nvSpPr>
        <p:spPr>
          <a:xfrm>
            <a:off x="539552" y="5124664"/>
            <a:ext cx="8064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solidFill>
                  <a:schemeClr val="accent3"/>
                </a:solidFill>
              </a:rPr>
              <a:t>把磁盘抽象为一个大数组，块号就是磁盘的索引，每个块大小为</a:t>
            </a:r>
            <a:r>
              <a:rPr kumimoji="1" lang="en-US" altLang="zh-CN" sz="1800" dirty="0">
                <a:solidFill>
                  <a:schemeClr val="accent3"/>
                </a:solidFill>
              </a:rPr>
              <a:t>4KB</a:t>
            </a:r>
            <a:endParaRPr lang="zh-CN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64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09AA3-C0D6-3647-852E-DFFB2FDB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简单文件系统的改进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51728-7331-7C4D-BF40-F1C4A6CD1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Autofit/>
          </a:bodyPr>
          <a:lstStyle/>
          <a:p>
            <a:r>
              <a:rPr kumimoji="1" lang="zh-CN" altLang="en-US" sz="2000" dirty="0"/>
              <a:t>增加文件的数量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假设使用一个容量为 </a:t>
            </a:r>
            <a:r>
              <a:rPr kumimoji="1" lang="en-US" altLang="zh-CN" sz="1800" dirty="0"/>
              <a:t>1 G</a:t>
            </a:r>
            <a:r>
              <a:rPr kumimoji="1" lang="en" altLang="zh-CN" sz="1800" dirty="0"/>
              <a:t>B </a:t>
            </a:r>
            <a:r>
              <a:rPr kumimoji="1" lang="zh-CN" altLang="en-US" sz="1800" dirty="0"/>
              <a:t>的磁盘，最多保存 </a:t>
            </a:r>
            <a:r>
              <a:rPr kumimoji="1" lang="en-US" altLang="zh-CN" sz="1800" dirty="0"/>
              <a:t>1 G</a:t>
            </a:r>
            <a:r>
              <a:rPr kumimoji="1" lang="en" altLang="zh-CN" sz="1800" dirty="0"/>
              <a:t>B / 4 KB = 256 </a:t>
            </a:r>
            <a:r>
              <a:rPr kumimoji="1" lang="en-US" altLang="zh-CN" sz="1800" dirty="0"/>
              <a:t>K</a:t>
            </a:r>
            <a:r>
              <a:rPr kumimoji="1" lang="zh-CN" altLang="en-US" sz="1800" dirty="0"/>
              <a:t>个文件</a:t>
            </a:r>
            <a:endParaRPr kumimoji="1" lang="en-US" altLang="zh-CN" sz="1800" dirty="0"/>
          </a:p>
          <a:p>
            <a:r>
              <a:rPr kumimoji="1" lang="zh-CN" altLang="en-US" sz="2000" dirty="0"/>
              <a:t>支持文件删除操作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引入文件位图（</a:t>
            </a:r>
            <a:r>
              <a:rPr kumimoji="1" lang="en-US" altLang="zh-CN" sz="1800" dirty="0"/>
              <a:t>bitmap</a:t>
            </a:r>
            <a:r>
              <a:rPr kumimoji="1" lang="zh-CN" altLang="en-US" sz="1800" dirty="0"/>
              <a:t>），大小为</a:t>
            </a:r>
            <a:r>
              <a:rPr kumimoji="1" lang="en-US" altLang="zh-CN" sz="1800" dirty="0"/>
              <a:t>256 × 1024 × 1b 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8 × 4KB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32KB</a:t>
            </a:r>
          </a:p>
          <a:p>
            <a:pPr lvl="1"/>
            <a:r>
              <a:rPr kumimoji="1" lang="zh-CN" altLang="en-US" sz="1800" dirty="0"/>
              <a:t>每个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对应一个文件，若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为</a:t>
            </a:r>
            <a:r>
              <a:rPr kumimoji="1" lang="en-US" altLang="zh-CN" sz="1800" dirty="0"/>
              <a:t>0</a:t>
            </a:r>
            <a:r>
              <a:rPr kumimoji="1" lang="zh-CN" altLang="en-US" sz="1800" dirty="0"/>
              <a:t>表示不存在，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为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表示存在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删除文件时，将该文件对应的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  <a:p>
            <a:pPr lvl="1"/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993FF-8761-0942-B6F2-18920DCE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387807-EC6E-BF43-B59C-D8B9FDD9E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2" y="4019729"/>
            <a:ext cx="6245475" cy="158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74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E758E-B41D-5A46-99FE-36FA975B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简单文件系统的限制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CBB097-41B1-604E-B6DD-9BDDFB052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文件大小固定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无法支持大于一个磁盘块（</a:t>
            </a:r>
            <a:r>
              <a:rPr kumimoji="1" lang="en-US" altLang="zh-CN" sz="2000" dirty="0"/>
              <a:t>4KB</a:t>
            </a:r>
            <a:r>
              <a:rPr kumimoji="1" lang="zh-CN" altLang="en-US" sz="2000" dirty="0"/>
              <a:t>）的文件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文件系统依赖文件数据存储的连续性</a:t>
            </a:r>
            <a:endParaRPr kumimoji="1" lang="en-US" altLang="zh-CN" sz="2000" dirty="0"/>
          </a:p>
          <a:p>
            <a:r>
              <a:rPr kumimoji="1" lang="zh-CN" altLang="en-US" sz="2400" dirty="0"/>
              <a:t>文件名固定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只能用磁盘块号来表示文件名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64B9DC-A135-C841-980A-37536233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310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：记录文件多个磁盘块的位置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3389E2-1B5B-2341-AD0A-8FFD754E1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引入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：</a:t>
            </a:r>
            <a:r>
              <a:rPr kumimoji="1" lang="en-US" altLang="zh-CN" sz="2000" dirty="0"/>
              <a:t>index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node</a:t>
            </a:r>
          </a:p>
          <a:p>
            <a:pPr lvl="1"/>
            <a:r>
              <a:rPr kumimoji="1" lang="zh-CN" altLang="en-US" sz="1800" dirty="0"/>
              <a:t>记录多个磁盘块号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头部记录文件</a:t>
            </a:r>
            <a:r>
              <a:rPr kumimoji="1" lang="en-US" altLang="zh-CN" sz="1800" dirty="0"/>
              <a:t>size</a:t>
            </a:r>
            <a:r>
              <a:rPr kumimoji="1" lang="zh-CN" altLang="en-US" sz="1800" dirty="0"/>
              <a:t>信息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每个文件对应一个</a:t>
            </a:r>
            <a:r>
              <a:rPr kumimoji="1" lang="en-US" altLang="zh-CN" sz="1800" dirty="0"/>
              <a:t>inode</a:t>
            </a:r>
          </a:p>
          <a:p>
            <a:pPr lvl="1"/>
            <a:r>
              <a:rPr kumimoji="1" lang="zh-CN" altLang="en-US" sz="1800" dirty="0"/>
              <a:t>称为文件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元数据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Metadata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2000" dirty="0"/>
              <a:t>文件读写操作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给定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和文件内偏移（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根据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计算出对应的磁盘块号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若</a:t>
            </a:r>
            <a:r>
              <a:rPr kumimoji="1" lang="en-US" altLang="zh-CN" sz="1800" dirty="0"/>
              <a:t>offset</a:t>
            </a:r>
            <a:r>
              <a:rPr kumimoji="1" lang="zh-CN" altLang="en-US" sz="1800" dirty="0"/>
              <a:t>超出</a:t>
            </a:r>
            <a:r>
              <a:rPr kumimoji="1" lang="en-US" altLang="zh-CN" sz="1800" dirty="0"/>
              <a:t>size</a:t>
            </a:r>
            <a:r>
              <a:rPr kumimoji="1" lang="zh-CN" altLang="en-US" sz="1800" dirty="0"/>
              <a:t>则返回错误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D89145-34EE-2646-B466-5076FBC1A01C}"/>
              </a:ext>
            </a:extLst>
          </p:cNvPr>
          <p:cNvSpPr/>
          <p:nvPr/>
        </p:nvSpPr>
        <p:spPr bwMode="auto">
          <a:xfrm>
            <a:off x="6546864" y="2077581"/>
            <a:ext cx="533400" cy="39687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en-US" altLang="zh-CN" sz="1100" dirty="0">
                <a:solidFill>
                  <a:schemeClr val="tx1"/>
                </a:solidFill>
                <a:cs typeface="宋体" charset="0"/>
              </a:rPr>
              <a:t>size</a:t>
            </a:r>
            <a:endParaRPr lang="zh-CN" altLang="en-US" sz="1100" dirty="0">
              <a:solidFill>
                <a:schemeClr val="tx1"/>
              </a:solidFill>
              <a:cs typeface="宋体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BAB58E-AA9F-304F-B185-5997D3EE41AA}"/>
              </a:ext>
            </a:extLst>
          </p:cNvPr>
          <p:cNvSpPr/>
          <p:nvPr/>
        </p:nvSpPr>
        <p:spPr bwMode="auto">
          <a:xfrm>
            <a:off x="6546864" y="2474455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08081B-05C9-CF43-8167-C7C848038679}"/>
              </a:ext>
            </a:extLst>
          </p:cNvPr>
          <p:cNvSpPr/>
          <p:nvPr/>
        </p:nvSpPr>
        <p:spPr bwMode="auto">
          <a:xfrm>
            <a:off x="6546864" y="2664955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5B4BC9-454A-2049-8A9E-889F4BECBA39}"/>
              </a:ext>
            </a:extLst>
          </p:cNvPr>
          <p:cNvSpPr/>
          <p:nvPr/>
        </p:nvSpPr>
        <p:spPr bwMode="auto">
          <a:xfrm>
            <a:off x="6546864" y="28475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E7F903-450C-A643-85CD-6C6BE348E2FF}"/>
              </a:ext>
            </a:extLst>
          </p:cNvPr>
          <p:cNvSpPr/>
          <p:nvPr/>
        </p:nvSpPr>
        <p:spPr bwMode="auto">
          <a:xfrm>
            <a:off x="6546864" y="30380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6588EA-86C0-E240-8DC9-3A475A68B3E5}"/>
              </a:ext>
            </a:extLst>
          </p:cNvPr>
          <p:cNvSpPr/>
          <p:nvPr/>
        </p:nvSpPr>
        <p:spPr bwMode="auto">
          <a:xfrm>
            <a:off x="6546864" y="3228518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118D4DE-11A3-CA4A-AC60-8525D3F9575C}"/>
              </a:ext>
            </a:extLst>
          </p:cNvPr>
          <p:cNvSpPr/>
          <p:nvPr/>
        </p:nvSpPr>
        <p:spPr bwMode="auto">
          <a:xfrm>
            <a:off x="6546864" y="3416372"/>
            <a:ext cx="533400" cy="1905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0" hangingPunct="0"/>
            <a:r>
              <a:rPr lang="zh-CN" altLang="en-US" sz="1100" dirty="0">
                <a:solidFill>
                  <a:schemeClr val="tx1"/>
                </a:solidFill>
                <a:cs typeface="宋体" charset="0"/>
              </a:rPr>
              <a:t>块号</a:t>
            </a: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1ADBF1FF-59A1-AF4A-83FD-118BC82C049C}"/>
              </a:ext>
            </a:extLst>
          </p:cNvPr>
          <p:cNvSpPr/>
          <p:nvPr/>
        </p:nvSpPr>
        <p:spPr>
          <a:xfrm>
            <a:off x="6333544" y="2077581"/>
            <a:ext cx="144016" cy="1529291"/>
          </a:xfrm>
          <a:prstGeom prst="leftBrace">
            <a:avLst>
              <a:gd name="adj1" fmla="val 84288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sz="11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3ADED3-B29B-A442-BE47-EB79CE3E8FE6}"/>
              </a:ext>
            </a:extLst>
          </p:cNvPr>
          <p:cNvSpPr/>
          <p:nvPr/>
        </p:nvSpPr>
        <p:spPr bwMode="auto">
          <a:xfrm>
            <a:off x="8061736" y="1679257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1241EC-90BD-BB4F-B91B-1AE2DD38AFED}"/>
              </a:ext>
            </a:extLst>
          </p:cNvPr>
          <p:cNvSpPr/>
          <p:nvPr/>
        </p:nvSpPr>
        <p:spPr bwMode="auto">
          <a:xfrm>
            <a:off x="8061736" y="2377934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214F37-EEDF-3C4F-85D1-D972BE3B6655}"/>
              </a:ext>
            </a:extLst>
          </p:cNvPr>
          <p:cNvSpPr/>
          <p:nvPr/>
        </p:nvSpPr>
        <p:spPr bwMode="auto">
          <a:xfrm>
            <a:off x="8061736" y="3145484"/>
            <a:ext cx="533400" cy="550333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F1EC2D-2374-724F-BB48-CCCC693442F6}"/>
              </a:ext>
            </a:extLst>
          </p:cNvPr>
          <p:cNvSpPr/>
          <p:nvPr/>
        </p:nvSpPr>
        <p:spPr bwMode="auto">
          <a:xfrm>
            <a:off x="8061736" y="3906697"/>
            <a:ext cx="533400" cy="549010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eaLnBrk="0" hangingPunct="0"/>
            <a:r>
              <a:rPr lang="zh-CN" altLang="en-US" sz="1200" dirty="0">
                <a:solidFill>
                  <a:schemeClr val="tx1"/>
                </a:solidFill>
                <a:cs typeface="宋体" charset="0"/>
              </a:rPr>
              <a:t>数据</a:t>
            </a:r>
          </a:p>
        </p:txBody>
      </p:sp>
      <p:cxnSp>
        <p:nvCxnSpPr>
          <p:cNvPr id="19" name="肘形连接符 110">
            <a:extLst>
              <a:ext uri="{FF2B5EF4-FFF2-40B4-BE49-F238E27FC236}">
                <a16:creationId xmlns:a16="http://schemas.microsoft.com/office/drawing/2014/main" id="{CF49F586-F0A1-8145-BA47-54860EE4638E}"/>
              </a:ext>
            </a:extLst>
          </p:cNvPr>
          <p:cNvCxnSpPr>
            <a:cxnSpLocks noChangeShapeType="1"/>
            <a:stCxn id="11" idx="3"/>
            <a:endCxn id="18" idx="1"/>
          </p:cNvCxnSpPr>
          <p:nvPr/>
        </p:nvCxnSpPr>
        <p:spPr bwMode="auto">
          <a:xfrm>
            <a:off x="7080264" y="3511622"/>
            <a:ext cx="981472" cy="66958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1" name="肘形连接符 110">
            <a:extLst>
              <a:ext uri="{FF2B5EF4-FFF2-40B4-BE49-F238E27FC236}">
                <a16:creationId xmlns:a16="http://schemas.microsoft.com/office/drawing/2014/main" id="{30732D6B-0371-244F-9F43-ADC300D1340B}"/>
              </a:ext>
            </a:extLst>
          </p:cNvPr>
          <p:cNvCxnSpPr>
            <a:cxnSpLocks noChangeShapeType="1"/>
            <a:stCxn id="6" idx="3"/>
            <a:endCxn id="15" idx="1"/>
          </p:cNvCxnSpPr>
          <p:nvPr/>
        </p:nvCxnSpPr>
        <p:spPr bwMode="auto">
          <a:xfrm flipV="1">
            <a:off x="7080264" y="1953762"/>
            <a:ext cx="981472" cy="61594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4" name="肘形连接符 110">
            <a:extLst>
              <a:ext uri="{FF2B5EF4-FFF2-40B4-BE49-F238E27FC236}">
                <a16:creationId xmlns:a16="http://schemas.microsoft.com/office/drawing/2014/main" id="{F22B7DAC-1788-2E40-9FFB-69B8C2ECD5AF}"/>
              </a:ext>
            </a:extLst>
          </p:cNvPr>
          <p:cNvCxnSpPr>
            <a:cxnSpLocks noChangeShapeType="1"/>
            <a:stCxn id="7" idx="3"/>
            <a:endCxn id="16" idx="1"/>
          </p:cNvCxnSpPr>
          <p:nvPr/>
        </p:nvCxnSpPr>
        <p:spPr bwMode="auto">
          <a:xfrm flipV="1">
            <a:off x="7080264" y="2652439"/>
            <a:ext cx="981472" cy="10776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" name="肘形连接符 110">
            <a:extLst>
              <a:ext uri="{FF2B5EF4-FFF2-40B4-BE49-F238E27FC236}">
                <a16:creationId xmlns:a16="http://schemas.microsoft.com/office/drawing/2014/main" id="{ED59072C-72EE-C845-9E0C-DEF37A3144E8}"/>
              </a:ext>
            </a:extLst>
          </p:cNvPr>
          <p:cNvCxnSpPr>
            <a:cxnSpLocks noChangeShapeType="1"/>
            <a:stCxn id="10" idx="3"/>
            <a:endCxn id="17" idx="1"/>
          </p:cNvCxnSpPr>
          <p:nvPr/>
        </p:nvCxnSpPr>
        <p:spPr bwMode="auto">
          <a:xfrm>
            <a:off x="7080264" y="3323768"/>
            <a:ext cx="981472" cy="9688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283E575-F5BD-4446-9DEA-AC6C47AEFBEA}"/>
              </a:ext>
            </a:extLst>
          </p:cNvPr>
          <p:cNvSpPr txBox="1"/>
          <p:nvPr/>
        </p:nvSpPr>
        <p:spPr>
          <a:xfrm>
            <a:off x="7944948" y="2787764"/>
            <a:ext cx="766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dirty="0"/>
              <a:t>...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A06473B-0E0C-3743-9C35-FC33421485D3}"/>
              </a:ext>
            </a:extLst>
          </p:cNvPr>
          <p:cNvSpPr txBox="1"/>
          <p:nvPr/>
        </p:nvSpPr>
        <p:spPr>
          <a:xfrm>
            <a:off x="5508104" y="2646719"/>
            <a:ext cx="915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inode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1104272-47BD-E847-9E98-61707F7FC713}"/>
              </a:ext>
            </a:extLst>
          </p:cNvPr>
          <p:cNvSpPr txBox="1"/>
          <p:nvPr/>
        </p:nvSpPr>
        <p:spPr>
          <a:xfrm>
            <a:off x="5004048" y="4576400"/>
            <a:ext cx="3995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kumimoji="1" lang="zh-CN" altLang="en-US" dirty="0">
                <a:solidFill>
                  <a:schemeClr val="accent3"/>
                </a:solidFill>
              </a:rPr>
              <a:t>最简</a:t>
            </a:r>
            <a:r>
              <a:rPr kumimoji="1" lang="en-US" altLang="zh-CN" dirty="0">
                <a:solidFill>
                  <a:schemeClr val="accent3"/>
                </a:solidFill>
              </a:rPr>
              <a:t>inode</a:t>
            </a:r>
            <a:r>
              <a:rPr kumimoji="1" lang="zh-CN" altLang="en-US" dirty="0">
                <a:solidFill>
                  <a:schemeClr val="accent3"/>
                </a:solidFill>
              </a:rPr>
              <a:t>，接下来进一步扩展</a:t>
            </a:r>
          </a:p>
        </p:txBody>
      </p:sp>
    </p:spTree>
    <p:extLst>
      <p:ext uri="{BB962C8B-B14F-4D97-AF65-F5344CB8AC3E}">
        <p14:creationId xmlns:p14="http://schemas.microsoft.com/office/powerpoint/2010/main" val="542873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文件系统的存储布局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1185257"/>
            <a:ext cx="7432040" cy="431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026" y="1201316"/>
            <a:ext cx="4395478" cy="255301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文件系统的存储布局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0E6CA3B-4653-1B4B-9D37-823476A0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inode</a:t>
            </a:r>
            <a:r>
              <a:rPr kumimoji="1" lang="zh-CN" altLang="en-US" sz="2000" dirty="0"/>
              <a:t>表：记录所有</a:t>
            </a:r>
            <a:r>
              <a:rPr kumimoji="1" lang="en-US" altLang="zh-CN" sz="2000" dirty="0"/>
              <a:t>inode</a:t>
            </a:r>
          </a:p>
          <a:p>
            <a:pPr lvl="1"/>
            <a:r>
              <a:rPr kumimoji="1" lang="zh-CN" altLang="en-US" sz="1800" dirty="0"/>
              <a:t>可以看成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的大数组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每个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使用作为索引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此时，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号即为文件名</a:t>
            </a:r>
            <a:endParaRPr kumimoji="1" lang="en-US" altLang="zh-CN" sz="1800" dirty="0"/>
          </a:p>
          <a:p>
            <a:r>
              <a:rPr kumimoji="1" lang="en-US" altLang="zh-CN" sz="2000" dirty="0"/>
              <a:t>inode</a:t>
            </a:r>
            <a:r>
              <a:rPr kumimoji="1" lang="zh-CN" altLang="en-US" sz="2000" dirty="0"/>
              <a:t>分配信息（位图）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记录哪些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已分配，哪些空闲</a:t>
            </a:r>
            <a:endParaRPr kumimoji="1" lang="en-US" altLang="zh-CN" sz="1800" dirty="0"/>
          </a:p>
          <a:p>
            <a:r>
              <a:rPr kumimoji="1" lang="zh-CN" altLang="en-US" sz="2000" dirty="0"/>
              <a:t>超级块：</a:t>
            </a:r>
            <a:r>
              <a:rPr kumimoji="1" lang="en-US" altLang="zh-CN" sz="2000" dirty="0"/>
              <a:t>Super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Block</a:t>
            </a:r>
          </a:p>
          <a:p>
            <a:pPr lvl="1"/>
            <a:r>
              <a:rPr kumimoji="1" lang="zh-CN" altLang="en-US" sz="1800" dirty="0"/>
              <a:t>记录磁盘块的大小、其他信息的起始磁盘块位置，等等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是整个文件系统的元数据</a:t>
            </a:r>
            <a:endParaRPr kumimoji="1" lang="en-US" altLang="zh-CN" sz="1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0135EF-4428-7945-9887-A6AE65EC4CCD}"/>
              </a:ext>
            </a:extLst>
          </p:cNvPr>
          <p:cNvSpPr/>
          <p:nvPr/>
        </p:nvSpPr>
        <p:spPr>
          <a:xfrm>
            <a:off x="5004048" y="2569468"/>
            <a:ext cx="288032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847EAF-3DBD-9C4B-A161-2F7EB7533F9F}"/>
              </a:ext>
            </a:extLst>
          </p:cNvPr>
          <p:cNvSpPr/>
          <p:nvPr/>
        </p:nvSpPr>
        <p:spPr>
          <a:xfrm>
            <a:off x="5940152" y="2569468"/>
            <a:ext cx="576064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21B8C4-9FFA-944D-B160-1760842826F1}"/>
              </a:ext>
            </a:extLst>
          </p:cNvPr>
          <p:cNvSpPr/>
          <p:nvPr/>
        </p:nvSpPr>
        <p:spPr>
          <a:xfrm>
            <a:off x="6553200" y="2569468"/>
            <a:ext cx="899120" cy="5040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1114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27A1C22B-B6CD-6F48-A4BE-5E047B46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74345"/>
            <a:ext cx="3632626" cy="21099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CEF19D0-E259-274B-84DA-B711046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inode</a:t>
            </a:r>
            <a:r>
              <a:rPr kumimoji="1" lang="zh-CN" altLang="en-US" dirty="0"/>
              <a:t>文件系统的基本操作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678F9C-0129-7A49-BA3A-45F8729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0E6CA3B-4653-1B4B-9D37-823476A0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499176" cy="4152633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加载文件系统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首先读取超级块，然后找到其他信息</a:t>
            </a:r>
            <a:endParaRPr kumimoji="1" lang="en-US" altLang="zh-CN" sz="1800" dirty="0"/>
          </a:p>
          <a:p>
            <a:r>
              <a:rPr kumimoji="1" lang="zh-CN" altLang="en-US" sz="2000" dirty="0"/>
              <a:t>创建新文件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根据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分配信息找到空闲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，将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1</a:t>
            </a:r>
          </a:p>
          <a:p>
            <a:pPr lvl="1"/>
            <a:r>
              <a:rPr kumimoji="1" lang="zh-CN" altLang="en-US" sz="1800" dirty="0"/>
              <a:t>返回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表中的索引，作为文件名</a:t>
            </a:r>
            <a:endParaRPr kumimoji="1" lang="en-US" altLang="zh-CN" sz="1800" dirty="0"/>
          </a:p>
          <a:p>
            <a:r>
              <a:rPr kumimoji="1" lang="zh-CN" altLang="en-US" sz="2000" dirty="0"/>
              <a:t>查找文件（根据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号）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表中根据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号定位该</a:t>
            </a:r>
            <a:r>
              <a:rPr kumimoji="1" lang="en-US" altLang="zh-CN" sz="1800" dirty="0"/>
              <a:t>inode</a:t>
            </a:r>
          </a:p>
          <a:p>
            <a:r>
              <a:rPr kumimoji="1" lang="zh-CN" altLang="en-US" sz="2000" dirty="0"/>
              <a:t>删除文件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分配表中，将该</a:t>
            </a:r>
            <a:r>
              <a:rPr kumimoji="1" lang="en-US" altLang="zh-CN" sz="1800" dirty="0"/>
              <a:t>inode</a:t>
            </a:r>
            <a:r>
              <a:rPr kumimoji="1" lang="zh-CN" altLang="en-US" sz="1800" dirty="0"/>
              <a:t>对应的</a:t>
            </a:r>
            <a:r>
              <a:rPr kumimoji="1" lang="en-US" altLang="zh-CN" sz="1800" dirty="0"/>
              <a:t>bit</a:t>
            </a:r>
            <a:r>
              <a:rPr kumimoji="1" lang="zh-CN" altLang="en-US" sz="1800" dirty="0"/>
              <a:t>设置为</a:t>
            </a:r>
            <a:r>
              <a:rPr kumimoji="1" lang="en-US" altLang="zh-CN" sz="1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35012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单级</a:t>
            </a:r>
            <a:r>
              <a:rPr kumimoji="1" lang="en-US" altLang="zh-CN" dirty="0"/>
              <a:t>inode</a:t>
            </a:r>
            <a:r>
              <a:rPr kumimoji="1" lang="zh-CN" altLang="en-US" dirty="0"/>
              <a:t>过大的问题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3FA5FE-B197-AB44-B729-802D1655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</a:t>
            </a:r>
            <a:r>
              <a:rPr kumimoji="1" lang="en-US" altLang="zh-CN" sz="2400" dirty="0"/>
              <a:t>4GB</a:t>
            </a:r>
            <a:r>
              <a:rPr kumimoji="1" lang="zh-CN" altLang="en-US" sz="2400" dirty="0"/>
              <a:t>的文件，对应</a:t>
            </a:r>
            <a:r>
              <a:rPr kumimoji="1" lang="en-US" altLang="zh-CN" sz="2400" dirty="0"/>
              <a:t>inode</a:t>
            </a:r>
            <a:r>
              <a:rPr kumimoji="1" lang="zh-CN" altLang="en-US" sz="2400" dirty="0"/>
              <a:t>有多大？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假设磁盘块号（块指针）为</a:t>
            </a:r>
            <a:r>
              <a:rPr kumimoji="1" lang="en-US" altLang="zh-CN" sz="2000" dirty="0"/>
              <a:t>8-Byte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64-bit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1"/>
            <a:r>
              <a:rPr kumimoji="1" lang="en-US" altLang="zh-CN" sz="2000" dirty="0"/>
              <a:t>inode</a:t>
            </a:r>
            <a:r>
              <a:rPr kumimoji="1" lang="zh-CN" altLang="en-US" sz="2000" dirty="0"/>
              <a:t>大小：</a:t>
            </a:r>
            <a:r>
              <a:rPr kumimoji="1" lang="en-US" altLang="zh-CN" sz="2000" dirty="0"/>
              <a:t>4GB/4KB</a:t>
            </a:r>
            <a:r>
              <a:rPr kumimoji="1" lang="zh-CN" altLang="en-US" sz="2000" dirty="0"/>
              <a:t> * </a:t>
            </a:r>
            <a:r>
              <a:rPr kumimoji="1" lang="en-US" altLang="zh-CN" sz="2000" dirty="0"/>
              <a:t>8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=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8MB</a:t>
            </a:r>
          </a:p>
          <a:p>
            <a:pPr lvl="1"/>
            <a:r>
              <a:rPr kumimoji="1" lang="zh-CN" altLang="en-US" sz="2000" dirty="0"/>
              <a:t>若文件大小为</a:t>
            </a:r>
            <a:r>
              <a:rPr kumimoji="1" lang="en-US" altLang="zh-CN" sz="2000" dirty="0"/>
              <a:t>4TB</a:t>
            </a:r>
            <a:r>
              <a:rPr kumimoji="1" lang="zh-CN" altLang="en-US" sz="2000" dirty="0"/>
              <a:t>，则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大小为</a:t>
            </a:r>
            <a:r>
              <a:rPr kumimoji="1" lang="en-US" altLang="zh-CN" sz="2000" dirty="0"/>
              <a:t>8GB</a:t>
            </a:r>
            <a:r>
              <a:rPr kumimoji="1" lang="zh-CN" altLang="en-US" sz="2000" dirty="0"/>
              <a:t>！</a:t>
            </a:r>
            <a:endParaRPr kumimoji="1" lang="en-US" altLang="zh-CN" sz="2000" dirty="0"/>
          </a:p>
          <a:p>
            <a:r>
              <a:rPr kumimoji="1" lang="en-US" altLang="zh-CN" sz="2400" dirty="0"/>
              <a:t>inode</a:t>
            </a:r>
            <a:r>
              <a:rPr kumimoji="1" lang="zh-CN" altLang="en-US" sz="2400" dirty="0"/>
              <a:t>表的假设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一个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记录的所有块指针在磁盘上的空间是连续的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多个</a:t>
            </a:r>
            <a:r>
              <a:rPr kumimoji="1" lang="en-US" altLang="zh-CN" sz="2000" dirty="0"/>
              <a:t>inode</a:t>
            </a:r>
            <a:r>
              <a:rPr kumimoji="1" lang="zh-CN" altLang="en-US" sz="2000" dirty="0"/>
              <a:t>在磁盘上的空间是连续的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3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</a:t>
            </a:r>
            <a:r>
              <a:rPr kumimoji="1" lang="en-US" altLang="zh-CN" dirty="0"/>
              <a:t>inode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30FF1D-FC8B-714B-AC5C-D4AE93C57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041347"/>
            <a:ext cx="5171600" cy="30151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58273C8-9606-A74B-976E-CE53F28D6B2E}"/>
              </a:ext>
            </a:extLst>
          </p:cNvPr>
          <p:cNvSpPr txBox="1"/>
          <p:nvPr/>
        </p:nvSpPr>
        <p:spPr>
          <a:xfrm>
            <a:off x="457200" y="1256164"/>
            <a:ext cx="8229600" cy="77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zh-CN" altLang="en-US" sz="1800" dirty="0"/>
              <a:t>引入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索引块</a:t>
            </a:r>
            <a:r>
              <a:rPr kumimoji="1" lang="zh-CN" altLang="en-US" sz="1800" dirty="0"/>
              <a:t>：指向数据块</a:t>
            </a:r>
            <a:r>
              <a:rPr kumimoji="1" lang="zh-CN" altLang="en-US" dirty="0"/>
              <a:t>；以及</a:t>
            </a:r>
            <a:r>
              <a:rPr kumimoji="1" lang="zh-CN" altLang="en-US" b="1" dirty="0">
                <a:solidFill>
                  <a:schemeClr val="accent1"/>
                </a:solidFill>
              </a:rPr>
              <a:t>二级索引块</a:t>
            </a:r>
            <a:r>
              <a:rPr kumimoji="1" lang="zh-CN" altLang="en-US" dirty="0"/>
              <a:t>：指向索引块；</a:t>
            </a:r>
            <a:r>
              <a:rPr kumimoji="1" lang="en-US" altLang="zh-CN" dirty="0"/>
              <a:t>...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索引块（包括二级索引块）不在</a:t>
            </a:r>
            <a:r>
              <a:rPr lang="en-US" altLang="zh-CN" dirty="0"/>
              <a:t>inode</a:t>
            </a:r>
            <a:r>
              <a:rPr lang="zh-CN" altLang="en-US" dirty="0"/>
              <a:t>表的存储区域，而是在数据区域</a:t>
            </a:r>
          </a:p>
        </p:txBody>
      </p: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E91291BB-2476-244F-AFB1-902E2CBA784E}"/>
              </a:ext>
            </a:extLst>
          </p:cNvPr>
          <p:cNvSpPr/>
          <p:nvPr/>
        </p:nvSpPr>
        <p:spPr>
          <a:xfrm rot="5400000">
            <a:off x="4735408" y="3308940"/>
            <a:ext cx="177240" cy="3672408"/>
          </a:xfrm>
          <a:prstGeom prst="rightBrace">
            <a:avLst>
              <a:gd name="adj1" fmla="val 56532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8C23E2-6C4E-FE4F-ADC8-99B91345C8C2}"/>
              </a:ext>
            </a:extLst>
          </p:cNvPr>
          <p:cNvSpPr txBox="1"/>
          <p:nvPr/>
        </p:nvSpPr>
        <p:spPr>
          <a:xfrm>
            <a:off x="3923928" y="5332245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磁盘的数据区域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29F3D2-862B-F84B-B6DE-C855A62FE802}"/>
              </a:ext>
            </a:extLst>
          </p:cNvPr>
          <p:cNvSpPr txBox="1"/>
          <p:nvPr/>
        </p:nvSpPr>
        <p:spPr>
          <a:xfrm>
            <a:off x="1272018" y="5304172"/>
            <a:ext cx="19442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磁盘的</a:t>
            </a:r>
            <a:r>
              <a:rPr lang="en-US" altLang="zh-CN" sz="1400" b="1" dirty="0">
                <a:solidFill>
                  <a:schemeClr val="accent1"/>
                </a:solidFill>
              </a:rPr>
              <a:t>inode</a:t>
            </a:r>
            <a:r>
              <a:rPr lang="zh-CN" altLang="en-US" sz="1400" b="1" dirty="0">
                <a:solidFill>
                  <a:schemeClr val="accent1"/>
                </a:solidFill>
              </a:rPr>
              <a:t>表</a:t>
            </a:r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E554F885-A208-0E47-A254-60051D00478E}"/>
              </a:ext>
            </a:extLst>
          </p:cNvPr>
          <p:cNvSpPr/>
          <p:nvPr/>
        </p:nvSpPr>
        <p:spPr>
          <a:xfrm rot="5400000">
            <a:off x="2155506" y="4699723"/>
            <a:ext cx="177240" cy="925016"/>
          </a:xfrm>
          <a:prstGeom prst="rightBrace">
            <a:avLst>
              <a:gd name="adj1" fmla="val 37890"/>
              <a:gd name="adj2" fmla="val 50000"/>
            </a:avLst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36335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4EDC0-7066-804F-9EAC-8DC87A6E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</a:t>
            </a:r>
            <a:r>
              <a:rPr kumimoji="1" lang="en-US" altLang="zh-CN" dirty="0"/>
              <a:t>inode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48C18-941E-3743-B1B1-3D0ACA5B4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ECBE3CA-8806-A344-AB1B-BB0FFB9EB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200" dirty="0"/>
              <a:t>一个多级</a:t>
            </a:r>
            <a:r>
              <a:rPr kumimoji="1" lang="en-US" altLang="zh-CN" sz="2200" dirty="0"/>
              <a:t>inode</a:t>
            </a:r>
            <a:r>
              <a:rPr kumimoji="1" lang="zh-CN" altLang="en-US" sz="2200" dirty="0"/>
              <a:t>占用的空间很少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一共只有</a:t>
            </a:r>
            <a:r>
              <a:rPr kumimoji="1" lang="en-US" altLang="zh-CN" sz="1800" dirty="0"/>
              <a:t>15</a:t>
            </a:r>
            <a:r>
              <a:rPr kumimoji="1" lang="zh-CN" altLang="en-US" sz="1800" dirty="0"/>
              <a:t>个指针（即记录磁盘块），这些指针占用</a:t>
            </a:r>
            <a:r>
              <a:rPr kumimoji="1" lang="en-US" altLang="zh-CN" sz="1800" dirty="0"/>
              <a:t>120-Byte</a:t>
            </a:r>
          </a:p>
          <a:p>
            <a:pPr lvl="1"/>
            <a:r>
              <a:rPr kumimoji="1" lang="zh-CN" altLang="en-US" sz="1800" dirty="0"/>
              <a:t>包含</a:t>
            </a:r>
            <a:r>
              <a:rPr kumimoji="1" lang="en-US" altLang="zh-CN" sz="1800" dirty="0"/>
              <a:t>12</a:t>
            </a:r>
            <a:r>
              <a:rPr kumimoji="1" lang="zh-CN" altLang="en-US" sz="1800" dirty="0"/>
              <a:t>个直接指针，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个间接指针，</a:t>
            </a:r>
            <a:r>
              <a:rPr kumimoji="1" lang="en-US" altLang="zh-CN" sz="1800" dirty="0"/>
              <a:t>1</a:t>
            </a:r>
            <a:r>
              <a:rPr kumimoji="1" lang="zh-CN" altLang="en-US" sz="1800" dirty="0"/>
              <a:t>个二级间接指针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文件最大为：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3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x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512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48K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6M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1G</a:t>
            </a:r>
          </a:p>
          <a:p>
            <a:r>
              <a:rPr kumimoji="1" lang="zh-CN" altLang="en-US" sz="2200" dirty="0"/>
              <a:t>如何支持更大的文件？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可以启用三级索引，甚至四级索引</a:t>
            </a:r>
            <a:endParaRPr kumimoji="1" lang="en-US" altLang="zh-CN" sz="1800" dirty="0"/>
          </a:p>
          <a:p>
            <a:endParaRPr kumimoji="1" lang="en-US" altLang="zh-CN" sz="2000" dirty="0"/>
          </a:p>
          <a:p>
            <a:r>
              <a:rPr kumimoji="1" lang="zh-CN" altLang="en-US" sz="2200" dirty="0"/>
              <a:t>思考：多级</a:t>
            </a:r>
            <a:r>
              <a:rPr kumimoji="1" lang="en-US" altLang="zh-CN" sz="2200" dirty="0"/>
              <a:t>inode</a:t>
            </a:r>
            <a:r>
              <a:rPr kumimoji="1" lang="zh-CN" altLang="en-US" sz="2200" dirty="0"/>
              <a:t>和多级页表有什么相似和不同？</a:t>
            </a:r>
            <a:endParaRPr kumimoji="1" lang="en-US" altLang="zh-CN" sz="2200" dirty="0"/>
          </a:p>
          <a:p>
            <a:pPr lvl="1"/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2478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4A3BB-14D2-1F49-93B2-17049E508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思考：为什么格式化后可用空间变小了？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6DEE01-137D-574F-A943-32CCE418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5F4FBD-BC58-BB49-8BDB-03E4EA704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1185257"/>
            <a:ext cx="7432040" cy="431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62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772F7-B624-9646-A860-2023ACC6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目录文件与目录项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AD5FE8-7C3A-2E4D-ACD6-62AF4EBE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887F61-F744-254B-A521-50C713C93F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06"/>
          <a:stretch/>
        </p:blipFill>
        <p:spPr>
          <a:xfrm>
            <a:off x="4427985" y="2269854"/>
            <a:ext cx="4608512" cy="212373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EAF46C-2A89-DE40-8C1A-86CAB599C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7313"/>
            <a:ext cx="5915000" cy="4308821"/>
          </a:xfrm>
        </p:spPr>
        <p:txBody>
          <a:bodyPr>
            <a:noAutofit/>
          </a:bodyPr>
          <a:lstStyle/>
          <a:p>
            <a:r>
              <a:rPr lang="zh-CN" altLang="en-US" sz="2000" dirty="0">
                <a:ea typeface="Microsoft YaHei" panose="020B0503020204020204" pitchFamily="34" charset="-122"/>
              </a:rPr>
              <a:t>目录中的每条映射称为一个</a:t>
            </a:r>
            <a:r>
              <a:rPr lang="zh-CN" altLang="en-US" sz="2000" dirty="0">
                <a:solidFill>
                  <a:schemeClr val="accent1"/>
                </a:solidFill>
                <a:ea typeface="Microsoft YaHei" panose="020B0503020204020204" pitchFamily="34" charset="-122"/>
              </a:rPr>
              <a:t>目录项</a:t>
            </a:r>
            <a:endParaRPr lang="en-US" altLang="zh-CN" sz="2000" dirty="0">
              <a:solidFill>
                <a:schemeClr val="accent1"/>
              </a:solidFill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每一条目录项记录了一个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  <a:r>
              <a:rPr lang="zh-CN" altLang="en-US" sz="1600" dirty="0">
                <a:ea typeface="Microsoft YaHei" panose="020B0503020204020204" pitchFamily="34" charset="-122"/>
              </a:rPr>
              <a:t>号与文件名字符串的映射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一个目录可以记录很多目录项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ea typeface="Microsoft YaHei" panose="020B0503020204020204" pitchFamily="34" charset="-122"/>
              </a:rPr>
              <a:t>目录文件的大小（占用空间）</a:t>
            </a:r>
            <a:endParaRPr lang="en-US" altLang="zh-CN" sz="20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与其记录的文件大小无关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2"/>
            <a:r>
              <a:rPr lang="en-US" altLang="zh-CN" sz="1600" dirty="0">
                <a:ea typeface="Microsoft YaHei" panose="020B0503020204020204" pitchFamily="34" charset="-122"/>
              </a:rPr>
              <a:t>Q</a:t>
            </a:r>
            <a:r>
              <a:rPr lang="zh-CN" altLang="en-US" sz="1600" dirty="0">
                <a:ea typeface="Microsoft YaHei" panose="020B0503020204020204" pitchFamily="34" charset="-122"/>
              </a:rPr>
              <a:t>：与什么因素有关？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“目录” </a:t>
            </a:r>
            <a:r>
              <a:rPr lang="en-US" altLang="zh-CN" sz="1600" dirty="0">
                <a:ea typeface="Microsoft YaHei" panose="020B0503020204020204" pitchFamily="34" charset="-122"/>
              </a:rPr>
              <a:t>VS.</a:t>
            </a:r>
            <a:r>
              <a:rPr lang="zh-CN" altLang="en-US" sz="1600" dirty="0">
                <a:ea typeface="Microsoft YaHei" panose="020B0503020204020204" pitchFamily="34" charset="-122"/>
              </a:rPr>
              <a:t> “文件夹”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r>
              <a:rPr lang="zh-CN" altLang="en-US" sz="1800" dirty="0">
                <a:ea typeface="Microsoft YaHei" panose="020B0503020204020204" pitchFamily="34" charset="-122"/>
              </a:rPr>
              <a:t>目录支持查找操作</a:t>
            </a:r>
            <a:endParaRPr lang="en-US" altLang="zh-CN" sz="18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给定一个目录文件和字符串</a:t>
            </a:r>
            <a:endParaRPr lang="en-US" altLang="zh-CN" sz="1600" dirty="0">
              <a:ea typeface="Microsoft YaHei" panose="020B0503020204020204" pitchFamily="34" charset="-122"/>
            </a:endParaRPr>
          </a:p>
          <a:p>
            <a:pPr lvl="1"/>
            <a:r>
              <a:rPr lang="zh-CN" altLang="en-US" sz="1600" dirty="0">
                <a:ea typeface="Microsoft YaHei" panose="020B0503020204020204" pitchFamily="34" charset="-122"/>
              </a:rPr>
              <a:t>在目录文件中查找字符串，并返回对应的</a:t>
            </a:r>
            <a:r>
              <a:rPr lang="en-US" altLang="zh-CN" sz="1600" dirty="0">
                <a:ea typeface="Microsoft YaHei" panose="020B0503020204020204" pitchFamily="34" charset="-122"/>
              </a:rPr>
              <a:t>inode</a:t>
            </a:r>
          </a:p>
        </p:txBody>
      </p:sp>
    </p:spTree>
    <p:extLst>
      <p:ext uri="{BB962C8B-B14F-4D97-AF65-F5344CB8AC3E}">
        <p14:creationId xmlns:p14="http://schemas.microsoft.com/office/powerpoint/2010/main" val="1539789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0EF6C-D4CA-434A-BEFD-4B67821EE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目录的递归与根目录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FA19DC-DC23-2F46-9212-E235725FF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sz="2000" dirty="0"/>
              <a:t>目录中可以记录子目录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因为目录本身也是一个文件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通过“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”来分割父目录和子目录</a:t>
            </a:r>
            <a:endParaRPr kumimoji="1" lang="en-US" altLang="zh-CN" sz="1800" dirty="0"/>
          </a:p>
          <a:p>
            <a:r>
              <a:rPr kumimoji="1" lang="zh-CN" altLang="en-US" sz="2000" dirty="0"/>
              <a:t>最顶端的目录没有目录名（文件名）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被称为“根目录”（</a:t>
            </a:r>
            <a:r>
              <a:rPr kumimoji="1" lang="en-US" altLang="zh-CN" sz="1800" dirty="0"/>
              <a:t>root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根目录没有文件名，在“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”的前面什么都没有</a:t>
            </a:r>
            <a:endParaRPr kumimoji="1" lang="en-US" altLang="zh-CN" sz="1800" dirty="0"/>
          </a:p>
          <a:p>
            <a:r>
              <a:rPr kumimoji="1" lang="zh-CN" altLang="en-US" sz="2000" dirty="0"/>
              <a:t>绝对路径和相对路径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绝对路径：如“</a:t>
            </a:r>
            <a:r>
              <a:rPr kumimoji="1" lang="en-US" altLang="zh-CN" sz="1800" dirty="0"/>
              <a:t>/home/</a:t>
            </a:r>
            <a:r>
              <a:rPr kumimoji="1" lang="en-US" altLang="zh-CN" sz="1800" dirty="0" err="1"/>
              <a:t>xiayb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相对路径：如“</a:t>
            </a:r>
            <a:r>
              <a:rPr kumimoji="1" lang="en-US" altLang="zh-CN" sz="1800" dirty="0"/>
              <a:t>./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”或“</a:t>
            </a:r>
            <a:r>
              <a:rPr kumimoji="1" lang="en-US" altLang="zh-CN" sz="1800" dirty="0" err="1"/>
              <a:t>xiayb</a:t>
            </a:r>
            <a:r>
              <a:rPr kumimoji="1" lang="en-US" altLang="zh-CN" sz="1800" dirty="0"/>
              <a:t>/</a:t>
            </a:r>
            <a:r>
              <a:rPr kumimoji="1" lang="en-US" altLang="zh-CN" sz="1800" dirty="0" err="1"/>
              <a:t>test.md</a:t>
            </a:r>
            <a:r>
              <a:rPr kumimoji="1" lang="zh-CN" altLang="en-US" sz="1800" dirty="0"/>
              <a:t>”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17793A-52D1-9B4D-A66A-B4FEC648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034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71F52-3EFA-124C-A7BC-035134A5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文件的查找过程：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os</a:t>
            </a:r>
            <a:r>
              <a:rPr kumimoji="1" lang="en" altLang="zh-CN" dirty="0"/>
              <a:t>-book/</a:t>
            </a:r>
            <a:r>
              <a:rPr kumimoji="1" lang="en" altLang="zh-CN" dirty="0" err="1"/>
              <a:t>fs.tex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870C3-F8F0-CA43-9CA9-C4E63738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1CA7A2-3499-744F-866C-9C6706299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1201316"/>
            <a:ext cx="6870023" cy="34536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EBB761-6A02-C647-BE70-8DF21B5273D8}"/>
              </a:ext>
            </a:extLst>
          </p:cNvPr>
          <p:cNvSpPr txBox="1"/>
          <p:nvPr/>
        </p:nvSpPr>
        <p:spPr>
          <a:xfrm>
            <a:off x="107504" y="5123714"/>
            <a:ext cx="7632848" cy="5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200" dirty="0"/>
              <a:t>注意：</a:t>
            </a:r>
            <a:r>
              <a:rPr kumimoji="1" lang="en-US" altLang="zh-CN" sz="1200" dirty="0"/>
              <a:t>inode</a:t>
            </a:r>
            <a:r>
              <a:rPr kumimoji="1" lang="zh-CN" altLang="en-US" sz="1200" dirty="0"/>
              <a:t>在这里并没有</a:t>
            </a:r>
            <a:r>
              <a:rPr kumimoji="1" lang="en-US" altLang="zh-CN" sz="1200" dirty="0"/>
              <a:t>size</a:t>
            </a:r>
            <a:r>
              <a:rPr kumimoji="1" lang="zh-CN" altLang="en-US" sz="1200" dirty="0"/>
              <a:t>等其他信息，只记录了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number</a:t>
            </a:r>
            <a:r>
              <a:rPr kumimoji="1" lang="zh-CN" altLang="en-US" sz="1200" dirty="0"/>
              <a:t>（最后一个指向索引块）；</a:t>
            </a:r>
            <a:r>
              <a:rPr kumimoji="1" lang="zh-CN" altLang="en-US" sz="1200" dirty="0">
                <a:latin typeface="+mn-ea"/>
              </a:rPr>
              <a:t>根目录是</a:t>
            </a:r>
            <a:r>
              <a:rPr kumimoji="1" lang="en-US" altLang="zh-CN" sz="1200" dirty="0">
                <a:latin typeface="+mn-ea"/>
              </a:rPr>
              <a:t>1</a:t>
            </a:r>
            <a:r>
              <a:rPr kumimoji="1" lang="zh-CN" altLang="en-US" sz="1200" dirty="0">
                <a:latin typeface="+mn-ea"/>
              </a:rPr>
              <a:t>号</a:t>
            </a:r>
            <a:r>
              <a:rPr kumimoji="1" lang="en-US" altLang="zh-CN" sz="1200" dirty="0" err="1">
                <a:latin typeface="+mn-ea"/>
              </a:rPr>
              <a:t>inode</a:t>
            </a:r>
            <a:r>
              <a:rPr kumimoji="1" lang="zh-CN" altLang="en-US" sz="1200" dirty="0">
                <a:latin typeface="+mn-ea"/>
              </a:rPr>
              <a:t>；</a:t>
            </a:r>
            <a:r>
              <a:rPr kumimoji="1" lang="zh-CN" altLang="en-US" sz="1200" dirty="0"/>
              <a:t>块分配信息是从</a:t>
            </a:r>
            <a:r>
              <a:rPr kumimoji="1" lang="en-US" altLang="zh-CN" sz="1200" dirty="0"/>
              <a:t>29</a:t>
            </a:r>
            <a:r>
              <a:rPr kumimoji="1" lang="zh-CN" altLang="en-US" sz="1200" dirty="0"/>
              <a:t>号块开始计算，即只考虑数据块；没有画出来的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可忽略。</a:t>
            </a:r>
          </a:p>
        </p:txBody>
      </p:sp>
    </p:spTree>
    <p:extLst>
      <p:ext uri="{BB962C8B-B14F-4D97-AF65-F5344CB8AC3E}">
        <p14:creationId xmlns:p14="http://schemas.microsoft.com/office/powerpoint/2010/main" val="1281625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71F52-3EFA-124C-A7BC-035134A5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文件的查找过程：</a:t>
            </a:r>
            <a:r>
              <a:rPr kumimoji="1" lang="en" altLang="zh-CN" dirty="0"/>
              <a:t>/</a:t>
            </a:r>
            <a:r>
              <a:rPr kumimoji="1" lang="en" altLang="zh-CN" dirty="0" err="1"/>
              <a:t>os</a:t>
            </a:r>
            <a:r>
              <a:rPr kumimoji="1" lang="en" altLang="zh-CN" dirty="0"/>
              <a:t>-book/</a:t>
            </a:r>
            <a:r>
              <a:rPr kumimoji="1" lang="en" altLang="zh-CN" dirty="0" err="1"/>
              <a:t>fs.tex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870C3-F8F0-CA43-9CA9-C4E63738B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1CA7A2-3499-744F-866C-9C6706299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89" y="1201316"/>
            <a:ext cx="6870023" cy="345368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7EBB761-6A02-C647-BE70-8DF21B5273D8}"/>
              </a:ext>
            </a:extLst>
          </p:cNvPr>
          <p:cNvSpPr txBox="1"/>
          <p:nvPr/>
        </p:nvSpPr>
        <p:spPr>
          <a:xfrm>
            <a:off x="107504" y="5123714"/>
            <a:ext cx="7632848" cy="5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1200" dirty="0"/>
              <a:t>注意：</a:t>
            </a:r>
            <a:r>
              <a:rPr kumimoji="1" lang="en-US" altLang="zh-CN" sz="1200" dirty="0"/>
              <a:t>inode</a:t>
            </a:r>
            <a:r>
              <a:rPr kumimoji="1" lang="zh-CN" altLang="en-US" sz="1200" dirty="0"/>
              <a:t>在这里并没有</a:t>
            </a:r>
            <a:r>
              <a:rPr kumimoji="1" lang="en-US" altLang="zh-CN" sz="1200" dirty="0"/>
              <a:t>size</a:t>
            </a:r>
            <a:r>
              <a:rPr kumimoji="1" lang="zh-CN" altLang="en-US" sz="1200" dirty="0"/>
              <a:t>等其他信息，只记录了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 </a:t>
            </a:r>
            <a:r>
              <a:rPr kumimoji="1" lang="en-US" altLang="zh-CN" sz="1200" dirty="0"/>
              <a:t>number</a:t>
            </a:r>
            <a:r>
              <a:rPr kumimoji="1" lang="zh-CN" altLang="en-US" sz="1200" dirty="0"/>
              <a:t>（最后一个指向索引块）；</a:t>
            </a:r>
            <a:r>
              <a:rPr kumimoji="1" lang="zh-CN" altLang="en-US" sz="1200" dirty="0">
                <a:latin typeface="+mn-ea"/>
              </a:rPr>
              <a:t>根目录是</a:t>
            </a:r>
            <a:r>
              <a:rPr kumimoji="1" lang="en-US" altLang="zh-CN" sz="1200" dirty="0">
                <a:latin typeface="+mn-ea"/>
              </a:rPr>
              <a:t>1</a:t>
            </a:r>
            <a:r>
              <a:rPr kumimoji="1" lang="zh-CN" altLang="en-US" sz="1200" dirty="0">
                <a:latin typeface="+mn-ea"/>
              </a:rPr>
              <a:t>号</a:t>
            </a:r>
            <a:r>
              <a:rPr kumimoji="1" lang="en-US" altLang="zh-CN" sz="1200" dirty="0" err="1">
                <a:latin typeface="+mn-ea"/>
              </a:rPr>
              <a:t>inode</a:t>
            </a:r>
            <a:r>
              <a:rPr kumimoji="1" lang="zh-CN" altLang="en-US" sz="1200" dirty="0">
                <a:latin typeface="+mn-ea"/>
              </a:rPr>
              <a:t>；</a:t>
            </a:r>
            <a:r>
              <a:rPr kumimoji="1" lang="zh-CN" altLang="en-US" sz="1200" dirty="0"/>
              <a:t>块分配信息是从</a:t>
            </a:r>
            <a:r>
              <a:rPr kumimoji="1" lang="en-US" altLang="zh-CN" sz="1200" dirty="0"/>
              <a:t>29</a:t>
            </a:r>
            <a:r>
              <a:rPr kumimoji="1" lang="zh-CN" altLang="en-US" sz="1200" dirty="0"/>
              <a:t>号块开始计算，即只考虑数据块；没有画出来的</a:t>
            </a:r>
            <a:r>
              <a:rPr kumimoji="1" lang="en-US" altLang="zh-CN" sz="1200" dirty="0"/>
              <a:t>block</a:t>
            </a:r>
            <a:r>
              <a:rPr kumimoji="1" lang="zh-CN" altLang="en-US" sz="1200" dirty="0"/>
              <a:t>可忽略。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66AB17A-046F-BC4B-B1C7-D2DC91B51F39}"/>
              </a:ext>
            </a:extLst>
          </p:cNvPr>
          <p:cNvSpPr/>
          <p:nvPr/>
        </p:nvSpPr>
        <p:spPr>
          <a:xfrm>
            <a:off x="4257762" y="2813723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2</a:t>
            </a:r>
            <a:endParaRPr kumimoji="1" lang="zh-CN" altLang="en-US" sz="1000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05CAEC-35A3-9046-AC15-3CCFA74B23E5}"/>
              </a:ext>
            </a:extLst>
          </p:cNvPr>
          <p:cNvSpPr/>
          <p:nvPr/>
        </p:nvSpPr>
        <p:spPr>
          <a:xfrm>
            <a:off x="4256207" y="1417340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1</a:t>
            </a:r>
            <a:endParaRPr kumimoji="1" lang="zh-CN" altLang="en-US" sz="10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E047DDA-3D99-BD4F-BEA1-31553FB4CC86}"/>
              </a:ext>
            </a:extLst>
          </p:cNvPr>
          <p:cNvSpPr/>
          <p:nvPr/>
        </p:nvSpPr>
        <p:spPr>
          <a:xfrm>
            <a:off x="6084168" y="463698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3</a:t>
            </a:r>
            <a:endParaRPr kumimoji="1" lang="zh-CN" altLang="en-US" sz="10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BAE565E-E918-7642-B1B0-24580682584C}"/>
              </a:ext>
            </a:extLst>
          </p:cNvPr>
          <p:cNvSpPr/>
          <p:nvPr/>
        </p:nvSpPr>
        <p:spPr>
          <a:xfrm>
            <a:off x="5999318" y="356473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4</a:t>
            </a:r>
            <a:endParaRPr kumimoji="1" lang="zh-CN" altLang="en-US" sz="10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027BF84-180D-6343-AE6F-505022A9595E}"/>
              </a:ext>
            </a:extLst>
          </p:cNvPr>
          <p:cNvSpPr/>
          <p:nvPr/>
        </p:nvSpPr>
        <p:spPr>
          <a:xfrm>
            <a:off x="4283968" y="464485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5</a:t>
            </a:r>
            <a:endParaRPr kumimoji="1" lang="zh-CN" altLang="en-US" sz="1000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F02ACDB-60D3-2D40-82DE-DE94AAAAA4A0}"/>
              </a:ext>
            </a:extLst>
          </p:cNvPr>
          <p:cNvSpPr/>
          <p:nvPr/>
        </p:nvSpPr>
        <p:spPr>
          <a:xfrm>
            <a:off x="4716016" y="414080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6</a:t>
            </a:r>
            <a:endParaRPr kumimoji="1" lang="zh-CN" altLang="en-US" sz="1000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EAC6E3E-22D0-094F-B44C-2675796F4262}"/>
              </a:ext>
            </a:extLst>
          </p:cNvPr>
          <p:cNvSpPr/>
          <p:nvPr/>
        </p:nvSpPr>
        <p:spPr>
          <a:xfrm>
            <a:off x="6647390" y="1417340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7</a:t>
            </a:r>
            <a:endParaRPr kumimoji="1" lang="zh-CN" altLang="en-US" sz="10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78C2505-963D-944A-B356-C40B443D75A0}"/>
              </a:ext>
            </a:extLst>
          </p:cNvPr>
          <p:cNvSpPr/>
          <p:nvPr/>
        </p:nvSpPr>
        <p:spPr>
          <a:xfrm>
            <a:off x="6948264" y="2209428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8</a:t>
            </a:r>
            <a:endParaRPr kumimoji="1" lang="zh-CN" altLang="en-US" sz="1000" dirty="0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F07AAB7-21D4-9B41-9E5C-D8648C6B6DCD}"/>
              </a:ext>
            </a:extLst>
          </p:cNvPr>
          <p:cNvSpPr/>
          <p:nvPr/>
        </p:nvSpPr>
        <p:spPr>
          <a:xfrm>
            <a:off x="2415304" y="4636982"/>
            <a:ext cx="228866" cy="228866"/>
          </a:xfrm>
          <a:prstGeom prst="ellipse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9</a:t>
            </a:r>
            <a:endParaRPr kumimoji="1" lang="zh-CN" altLang="en-US" sz="10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063AF44-9758-3A4F-BA16-CBF68282E5D8}"/>
              </a:ext>
            </a:extLst>
          </p:cNvPr>
          <p:cNvGrpSpPr/>
          <p:nvPr/>
        </p:nvGrpSpPr>
        <p:grpSpPr>
          <a:xfrm>
            <a:off x="1763688" y="3778796"/>
            <a:ext cx="520805" cy="230832"/>
            <a:chOff x="1763688" y="3778796"/>
            <a:chExt cx="520805" cy="230832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2127A8C-6FDF-B94E-A10E-6826AB1A816F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1E4811D-86C7-F24A-BD8D-0B0727C96109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10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6CFB26C-1DE2-C84A-91F4-AA2DA46DF95B}"/>
              </a:ext>
            </a:extLst>
          </p:cNvPr>
          <p:cNvGrpSpPr/>
          <p:nvPr/>
        </p:nvGrpSpPr>
        <p:grpSpPr>
          <a:xfrm>
            <a:off x="5353623" y="1474540"/>
            <a:ext cx="520805" cy="230832"/>
            <a:chOff x="1763688" y="3778796"/>
            <a:chExt cx="520805" cy="230832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7F21783D-999F-344C-AD16-70CBA32A6F0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8E8700E-054C-0746-85D6-4E83D955FC00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4274843-D7AE-1B42-9F9E-AD9A4FB59C8A}"/>
              </a:ext>
            </a:extLst>
          </p:cNvPr>
          <p:cNvGrpSpPr/>
          <p:nvPr/>
        </p:nvGrpSpPr>
        <p:grpSpPr>
          <a:xfrm>
            <a:off x="5580112" y="1906588"/>
            <a:ext cx="520805" cy="230832"/>
            <a:chOff x="1763688" y="3778796"/>
            <a:chExt cx="520805" cy="230832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3DC4E8B-7313-CD48-99C7-BC29A36BC26E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46B52C7-1B52-EC4B-A4F8-DBD4927CF19D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12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19B37D5-A656-634A-A14B-22871F70B23E}"/>
              </a:ext>
            </a:extLst>
          </p:cNvPr>
          <p:cNvGrpSpPr/>
          <p:nvPr/>
        </p:nvGrpSpPr>
        <p:grpSpPr>
          <a:xfrm>
            <a:off x="5059307" y="4642892"/>
            <a:ext cx="520805" cy="230832"/>
            <a:chOff x="1763688" y="3778796"/>
            <a:chExt cx="520805" cy="230832"/>
          </a:xfrm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42E803F3-8170-D64C-B918-F82A84168C89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554E9B9-09CB-3946-861D-878E88959606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13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3DDA47E-D34C-C53B-EE38-AB94BA19F307}"/>
              </a:ext>
            </a:extLst>
          </p:cNvPr>
          <p:cNvGrpSpPr/>
          <p:nvPr/>
        </p:nvGrpSpPr>
        <p:grpSpPr>
          <a:xfrm>
            <a:off x="5563363" y="2567551"/>
            <a:ext cx="520805" cy="230832"/>
            <a:chOff x="1748893" y="3778796"/>
            <a:chExt cx="520805" cy="230832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7E75245D-9FF1-4CDD-9B10-518C38864F2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33EDD86-C7ED-FF45-0527-9F4899307E9C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14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BB0CFA3-792D-953F-C633-BD9B49D52BBE}"/>
              </a:ext>
            </a:extLst>
          </p:cNvPr>
          <p:cNvGrpSpPr/>
          <p:nvPr/>
        </p:nvGrpSpPr>
        <p:grpSpPr>
          <a:xfrm>
            <a:off x="3203666" y="4644858"/>
            <a:ext cx="520805" cy="230832"/>
            <a:chOff x="1748893" y="3778796"/>
            <a:chExt cx="520805" cy="230832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046CF97C-C33B-0F23-2AAC-7EFF9D408034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35005E3-5048-4C8F-9943-C97B6E3112C6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15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2DDAE7D-18DD-33BE-DB36-CAEB9EBFCC02}"/>
              </a:ext>
            </a:extLst>
          </p:cNvPr>
          <p:cNvGrpSpPr/>
          <p:nvPr/>
        </p:nvGrpSpPr>
        <p:grpSpPr>
          <a:xfrm>
            <a:off x="3331115" y="4009628"/>
            <a:ext cx="520805" cy="230832"/>
            <a:chOff x="1748893" y="3778796"/>
            <a:chExt cx="520805" cy="230832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4A187298-5F6C-79F8-3A77-EA158F9BDA86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CABDFDF6-5E09-A3DE-269D-C157FB4DEFD7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16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B335E6A-0AAD-71F8-ADF0-0DCEF4C256F3}"/>
              </a:ext>
            </a:extLst>
          </p:cNvPr>
          <p:cNvGrpSpPr/>
          <p:nvPr/>
        </p:nvGrpSpPr>
        <p:grpSpPr>
          <a:xfrm>
            <a:off x="6855095" y="4642892"/>
            <a:ext cx="520805" cy="230832"/>
            <a:chOff x="1748893" y="3778796"/>
            <a:chExt cx="520805" cy="230832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83D6BC46-B475-EBCD-A144-697EFF4B046A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698C2F1-2416-A7B5-DC5E-09E2143FE2AA}"/>
                </a:ext>
              </a:extLst>
            </p:cNvPr>
            <p:cNvSpPr txBox="1"/>
            <p:nvPr/>
          </p:nvSpPr>
          <p:spPr>
            <a:xfrm>
              <a:off x="1748893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17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6D636BF6-3A48-491E-2BB4-F212CC458B86}"/>
              </a:ext>
            </a:extLst>
          </p:cNvPr>
          <p:cNvSpPr txBox="1"/>
          <p:nvPr/>
        </p:nvSpPr>
        <p:spPr>
          <a:xfrm>
            <a:off x="-7109" y="4496516"/>
            <a:ext cx="21210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    </a:t>
            </a:r>
            <a:r>
              <a:rPr kumimoji="1" lang="en-US" altLang="zh-CN" sz="1400" dirty="0"/>
              <a:t>~ </a:t>
            </a:r>
            <a:r>
              <a:rPr kumimoji="1" lang="zh-CN" altLang="en-US" sz="1400" dirty="0"/>
              <a:t>     找到文件的</a:t>
            </a:r>
            <a:r>
              <a:rPr kumimoji="1" lang="en-US" altLang="zh-CN" sz="1400" dirty="0" err="1"/>
              <a:t>inode</a:t>
            </a:r>
            <a:endParaRPr kumimoji="1" lang="en-US" altLang="zh-CN" sz="1400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13B42DF-2477-2BBA-AB02-DBA0ECE6F798}"/>
              </a:ext>
            </a:extLst>
          </p:cNvPr>
          <p:cNvGrpSpPr/>
          <p:nvPr/>
        </p:nvGrpSpPr>
        <p:grpSpPr>
          <a:xfrm>
            <a:off x="245474" y="4517625"/>
            <a:ext cx="520805" cy="230832"/>
            <a:chOff x="1763688" y="3778796"/>
            <a:chExt cx="520805" cy="230832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6C399C31-71D7-7C12-4364-0CD79A3B8F00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2F4BBF2-56F0-34A5-3080-2B721C8D7F0C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65D5BFAC-F372-9055-2CB2-B06989EF60E8}"/>
              </a:ext>
            </a:extLst>
          </p:cNvPr>
          <p:cNvGrpSpPr/>
          <p:nvPr/>
        </p:nvGrpSpPr>
        <p:grpSpPr>
          <a:xfrm>
            <a:off x="-104533" y="4517625"/>
            <a:ext cx="520805" cy="230832"/>
            <a:chOff x="1763688" y="3778796"/>
            <a:chExt cx="520805" cy="230832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C547554-5ED0-A06F-D9E9-6893A15DEFB5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AC8D7E1-E4B4-8662-4A15-E9C1CE791AB0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421B830A-CBD2-494C-6021-D3CC894C7913}"/>
              </a:ext>
            </a:extLst>
          </p:cNvPr>
          <p:cNvSpPr txBox="1"/>
          <p:nvPr/>
        </p:nvSpPr>
        <p:spPr>
          <a:xfrm>
            <a:off x="0" y="4824156"/>
            <a:ext cx="1863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    </a:t>
            </a:r>
            <a:r>
              <a:rPr kumimoji="1" lang="en-US" altLang="zh-CN" sz="1400" dirty="0"/>
              <a:t>~ </a:t>
            </a:r>
            <a:r>
              <a:rPr kumimoji="1" lang="zh-CN" altLang="en-US" sz="1400" dirty="0"/>
              <a:t>     读取文件内容</a:t>
            </a:r>
            <a:endParaRPr kumimoji="1" lang="en-US" altLang="zh-CN" sz="1400" dirty="0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890472C-0508-3B31-3E6C-7C65CA44C8D5}"/>
              </a:ext>
            </a:extLst>
          </p:cNvPr>
          <p:cNvGrpSpPr/>
          <p:nvPr/>
        </p:nvGrpSpPr>
        <p:grpSpPr>
          <a:xfrm>
            <a:off x="252583" y="4845265"/>
            <a:ext cx="520805" cy="230832"/>
            <a:chOff x="1763688" y="3778796"/>
            <a:chExt cx="520805" cy="230832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CA787842-798A-1581-3964-C9E5726E8BDD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0F939F5-6784-2AB3-E997-A19620838FA4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17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EDAD4F3-0832-7C0C-46A4-0A90AA705D9E}"/>
              </a:ext>
            </a:extLst>
          </p:cNvPr>
          <p:cNvGrpSpPr/>
          <p:nvPr/>
        </p:nvGrpSpPr>
        <p:grpSpPr>
          <a:xfrm>
            <a:off x="-97424" y="4845265"/>
            <a:ext cx="520805" cy="230832"/>
            <a:chOff x="1763688" y="3778796"/>
            <a:chExt cx="520805" cy="230832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551F3990-FF7F-FB57-99BD-28362F809524}"/>
                </a:ext>
              </a:extLst>
            </p:cNvPr>
            <p:cNvSpPr/>
            <p:nvPr/>
          </p:nvSpPr>
          <p:spPr>
            <a:xfrm>
              <a:off x="1907704" y="3780762"/>
              <a:ext cx="228866" cy="228866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 dirty="0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52839BA-D039-0405-0EDC-595A7E897C4E}"/>
                </a:ext>
              </a:extLst>
            </p:cNvPr>
            <p:cNvSpPr txBox="1"/>
            <p:nvPr/>
          </p:nvSpPr>
          <p:spPr>
            <a:xfrm>
              <a:off x="1763688" y="3778796"/>
              <a:ext cx="520805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900" dirty="0">
                  <a:solidFill>
                    <a:schemeClr val="bg1"/>
                  </a:solidFill>
                </a:rPr>
                <a:t>12</a:t>
              </a:r>
              <a:endParaRPr kumimoji="1" lang="zh-CN" altLang="en-US" sz="9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29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0" grpId="0"/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6C8C18A-3236-054D-B104-38051A811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8075241" cy="3771636"/>
          </a:xfrm>
        </p:spPr>
        <p:txBody>
          <a:bodyPr>
            <a:normAutofit/>
          </a:bodyPr>
          <a:lstStyle/>
          <a:p>
            <a:r>
              <a:rPr lang="zh-CN" altLang="en-CN" sz="2000" b="0" dirty="0"/>
              <a:t>打开</a:t>
            </a:r>
            <a:r>
              <a:rPr lang="zh-CN" altLang="en-US" sz="2000" b="0" dirty="0"/>
              <a:t>文件</a:t>
            </a:r>
            <a:endParaRPr lang="en-US" altLang="zh-CN" sz="2000" b="0" dirty="0"/>
          </a:p>
          <a:p>
            <a:pPr lvl="1"/>
            <a:r>
              <a:rPr lang="zh-CN" altLang="en-US" sz="1800" b="0" dirty="0"/>
              <a:t>查找目标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，分配新的</a:t>
            </a:r>
            <a:r>
              <a:rPr lang="en-US" altLang="zh-CN" sz="1800" b="0" dirty="0" err="1"/>
              <a:t>fd</a:t>
            </a:r>
            <a:r>
              <a:rPr lang="zh-CN" altLang="en-US" sz="1800" b="0" dirty="0"/>
              <a:t>结构保存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，返回</a:t>
            </a:r>
            <a:r>
              <a:rPr lang="en-US" altLang="zh-CN" sz="1800" b="0" dirty="0" err="1"/>
              <a:t>fd</a:t>
            </a:r>
            <a:r>
              <a:rPr lang="zh-CN" altLang="en-US" sz="1800" b="0" dirty="0"/>
              <a:t>号</a:t>
            </a:r>
            <a:endParaRPr lang="en-US" altLang="zh-CN" sz="1800" b="0" dirty="0"/>
          </a:p>
          <a:p>
            <a:r>
              <a:rPr lang="zh-CN" altLang="en-US" sz="2000" b="0" dirty="0"/>
              <a:t>读写文件</a:t>
            </a:r>
            <a:endParaRPr lang="en-US" altLang="zh-CN" sz="2000" b="0" dirty="0"/>
          </a:p>
          <a:p>
            <a:pPr lvl="1"/>
            <a:r>
              <a:rPr lang="zh-CN" altLang="en-US" sz="1800" b="0" dirty="0"/>
              <a:t>默认从</a:t>
            </a:r>
            <a:r>
              <a:rPr lang="en-US" altLang="zh-CN" sz="1800" b="0" dirty="0" err="1"/>
              <a:t>fd</a:t>
            </a:r>
            <a:r>
              <a:rPr lang="zh-CN" altLang="en-US" sz="1800" b="0" dirty="0"/>
              <a:t>结构中记录的</a:t>
            </a:r>
            <a:r>
              <a:rPr lang="zh-CN" altLang="en-US" sz="1800" dirty="0"/>
              <a:t>位置开始读写，读写位置向文件尾移动</a:t>
            </a:r>
            <a:endParaRPr lang="en-US" altLang="zh-CN" sz="1800" dirty="0"/>
          </a:p>
          <a:p>
            <a:pPr lvl="1"/>
            <a:r>
              <a:rPr lang="zh-CN" altLang="en-US" sz="1800" dirty="0"/>
              <a:t>可通过</a:t>
            </a:r>
            <a:r>
              <a:rPr lang="en-US" altLang="zh-CN" sz="1800" dirty="0" err="1"/>
              <a:t>lseek</a:t>
            </a:r>
            <a:r>
              <a:rPr lang="zh-CN" altLang="en-US" sz="1800" dirty="0"/>
              <a:t>调整</a:t>
            </a:r>
            <a:r>
              <a:rPr lang="en-US" altLang="zh-CN" sz="1800" dirty="0" err="1"/>
              <a:t>fd</a:t>
            </a:r>
            <a:r>
              <a:rPr lang="zh-CN" altLang="en-US" sz="1800" dirty="0"/>
              <a:t>结构中记录的读写位置</a:t>
            </a:r>
            <a:endParaRPr lang="en-US" altLang="zh-CN" sz="1800" b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2C0EB-490F-7541-A1AB-CA765CAD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打开和读写文件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E76A1-D179-EC4D-8A08-F647CB14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CE820-4209-214D-B1D7-9D27BDBF8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B1426-3F13-1D4A-8D1D-406DEC4AE0D3}"/>
              </a:ext>
            </a:extLst>
          </p:cNvPr>
          <p:cNvSpPr txBox="1"/>
          <p:nvPr/>
        </p:nvSpPr>
        <p:spPr>
          <a:xfrm>
            <a:off x="756493" y="3768563"/>
            <a:ext cx="4151053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int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open(“/OS/</a:t>
            </a:r>
            <a:r>
              <a:rPr lang="zh-CN" altLang="en-US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”,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O_CREAT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|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O_RDWR);</a:t>
            </a:r>
          </a:p>
          <a:p>
            <a:r>
              <a:rPr lang="en-US" altLang="zh-CN" sz="1200" dirty="0">
                <a:latin typeface="Courier" pitchFamily="2" charset="0"/>
              </a:rPr>
              <a:t>write(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buf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5000);</a:t>
            </a:r>
          </a:p>
          <a:p>
            <a:r>
              <a:rPr lang="en-US" altLang="zh-CN" sz="1200" dirty="0">
                <a:latin typeface="Courier" pitchFamily="2" charset="0"/>
              </a:rPr>
              <a:t>write(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buf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5000);</a:t>
            </a:r>
          </a:p>
          <a:p>
            <a:r>
              <a:rPr lang="en-US" altLang="zh-CN" sz="1200" dirty="0" err="1">
                <a:latin typeface="Courier" pitchFamily="2" charset="0"/>
              </a:rPr>
              <a:t>lseek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0, SEEK_SET);</a:t>
            </a:r>
          </a:p>
          <a:p>
            <a:r>
              <a:rPr lang="en-US" altLang="zh-CN" sz="1200" dirty="0">
                <a:latin typeface="Courier" pitchFamily="2" charset="0"/>
              </a:rPr>
              <a:t>read(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buf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5000);</a:t>
            </a:r>
          </a:p>
          <a:p>
            <a:r>
              <a:rPr lang="en-US" altLang="zh-CN" sz="1200" dirty="0">
                <a:latin typeface="Courier" pitchFamily="2" charset="0"/>
              </a:rPr>
              <a:t>write(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buf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5000);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34E97E-CE31-7A4B-BFD3-D3D9E257AE4A}"/>
              </a:ext>
            </a:extLst>
          </p:cNvPr>
          <p:cNvSpPr txBox="1"/>
          <p:nvPr/>
        </p:nvSpPr>
        <p:spPr>
          <a:xfrm>
            <a:off x="5868144" y="3133693"/>
            <a:ext cx="2519363" cy="21236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typedef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struct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b="1" dirty="0">
                <a:latin typeface="Courier" pitchFamily="2" charset="0"/>
              </a:rPr>
              <a:t>  </a:t>
            </a:r>
            <a:r>
              <a:rPr lang="en-US" altLang="zh-CN" sz="1200" b="1" dirty="0" err="1">
                <a:latin typeface="Courier" pitchFamily="2" charset="0"/>
              </a:rPr>
              <a:t>off_t</a:t>
            </a:r>
            <a:r>
              <a:rPr lang="zh-CN" altLang="en-US" sz="1200" b="1" dirty="0">
                <a:latin typeface="Courier" pitchFamily="2" charset="0"/>
              </a:rPr>
              <a:t> </a:t>
            </a:r>
            <a:r>
              <a:rPr lang="en-US" altLang="zh-CN" sz="1200" b="1" dirty="0">
                <a:latin typeface="Courier" pitchFamily="2" charset="0"/>
              </a:rPr>
              <a:t>pos;</a:t>
            </a:r>
          </a:p>
          <a:p>
            <a:r>
              <a:rPr lang="zh-CN" altLang="en-US" sz="1200" b="1" dirty="0">
                <a:latin typeface="Courier" pitchFamily="2" charset="0"/>
              </a:rPr>
              <a:t>  </a:t>
            </a:r>
            <a:r>
              <a:rPr lang="en-US" altLang="zh-CN" sz="1200" b="1" dirty="0">
                <a:latin typeface="Courier" pitchFamily="2" charset="0"/>
              </a:rPr>
              <a:t>struct</a:t>
            </a:r>
            <a:r>
              <a:rPr lang="zh-CN" altLang="en-US" sz="1200" b="1" dirty="0">
                <a:latin typeface="Courier" pitchFamily="2" charset="0"/>
              </a:rPr>
              <a:t> </a:t>
            </a:r>
            <a:r>
              <a:rPr lang="en-US" altLang="zh-CN" sz="1200" b="1" dirty="0" err="1">
                <a:latin typeface="Courier" pitchFamily="2" charset="0"/>
              </a:rPr>
              <a:t>inode</a:t>
            </a:r>
            <a:r>
              <a:rPr lang="zh-CN" altLang="en-US" sz="1200" b="1" dirty="0">
                <a:latin typeface="Courier" pitchFamily="2" charset="0"/>
              </a:rPr>
              <a:t> *</a:t>
            </a:r>
            <a:r>
              <a:rPr lang="en-US" altLang="zh-CN" sz="1200" b="1" dirty="0" err="1">
                <a:latin typeface="Courier" pitchFamily="2" charset="0"/>
              </a:rPr>
              <a:t>inode</a:t>
            </a:r>
            <a:r>
              <a:rPr lang="en-US" altLang="zh-CN" sz="1200" b="1" dirty="0">
                <a:latin typeface="Courier" pitchFamily="2" charset="0"/>
              </a:rPr>
              <a:t>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fd_t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struct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task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fd_t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fd_table</a:t>
            </a:r>
            <a:r>
              <a:rPr lang="en-US" altLang="zh-CN" sz="1200" dirty="0">
                <a:latin typeface="Courier" pitchFamily="2" charset="0"/>
              </a:rPr>
              <a:t>[MAX_FD];</a:t>
            </a:r>
          </a:p>
          <a:p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08055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D2C0EB-490F-7541-A1AB-CA765CAD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mmap()</a:t>
            </a:r>
            <a:r>
              <a:rPr lang="zh-CN" altLang="en-US" dirty="0"/>
              <a:t>：用内存接口来访问文件</a:t>
            </a:r>
            <a:endParaRPr lang="en-C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10A75B-5D1F-804D-822F-90387F976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m</a:t>
            </a:r>
            <a:r>
              <a:rPr lang="en-CN" sz="2000" b="0" dirty="0"/>
              <a:t>map</a:t>
            </a:r>
            <a:r>
              <a:rPr lang="zh-CN" altLang="en-CN" sz="2000" b="0" dirty="0"/>
              <a:t>可</a:t>
            </a:r>
            <a:r>
              <a:rPr lang="zh-CN" altLang="en-US" sz="2000" b="0" dirty="0"/>
              <a:t>将文件映射到虚拟内存空间中</a:t>
            </a:r>
            <a:endParaRPr lang="en-US" altLang="zh-CN" sz="2000" b="0" dirty="0"/>
          </a:p>
          <a:p>
            <a:pPr marL="800100" lvl="1" indent="-342900">
              <a:buAutoNum type="arabicPeriod"/>
            </a:pPr>
            <a:r>
              <a:rPr lang="en-US" altLang="zh-CN" sz="1600" dirty="0" err="1"/>
              <a:t>m</a:t>
            </a:r>
            <a:r>
              <a:rPr lang="en-US" sz="1600" b="0" dirty="0" err="1"/>
              <a:t>map</a:t>
            </a:r>
            <a:r>
              <a:rPr lang="zh-CN" altLang="en-US" sz="1600" b="0" dirty="0"/>
              <a:t>时分配虚拟地址，并标记此段虚拟地址与该文件的</a:t>
            </a:r>
            <a:r>
              <a:rPr lang="en-US" altLang="zh-CN" sz="1600" b="0" dirty="0" err="1"/>
              <a:t>inode</a:t>
            </a:r>
            <a:r>
              <a:rPr lang="zh-CN" altLang="en-US" sz="1600" b="0" dirty="0"/>
              <a:t>绑定</a:t>
            </a:r>
            <a:endParaRPr lang="en-US" altLang="zh-CN" sz="1600" b="0" dirty="0"/>
          </a:p>
          <a:p>
            <a:pPr marL="800100" lvl="1" indent="-342900">
              <a:buAutoNum type="arabicPeriod"/>
            </a:pPr>
            <a:r>
              <a:rPr lang="zh-CN" altLang="en-US" sz="1600" dirty="0"/>
              <a:t>访问</a:t>
            </a:r>
            <a:r>
              <a:rPr lang="en-US" altLang="zh-CN" sz="1600" dirty="0" err="1"/>
              <a:t>mmap</a:t>
            </a:r>
            <a:r>
              <a:rPr lang="zh-CN" altLang="en-US" sz="1600" dirty="0"/>
              <a:t>返回的虚拟地址时，触发缺页中断（</a:t>
            </a:r>
            <a:r>
              <a:rPr lang="en-US" altLang="zh-CN" sz="1600" dirty="0"/>
              <a:t>page</a:t>
            </a:r>
            <a:r>
              <a:rPr lang="zh-CN" altLang="en-US" sz="1600" dirty="0"/>
              <a:t> </a:t>
            </a:r>
            <a:r>
              <a:rPr lang="en-US" altLang="zh-CN" sz="1600" dirty="0"/>
              <a:t>fault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800100" lvl="1" indent="-342900">
              <a:buAutoNum type="arabicPeriod"/>
            </a:pPr>
            <a:r>
              <a:rPr lang="zh-CN" altLang="en-US" sz="1600" b="0" dirty="0"/>
              <a:t>缺页中断处理函数，通过虚拟地址，找到该文件的</a:t>
            </a:r>
            <a:r>
              <a:rPr lang="en-US" altLang="zh-CN" sz="1600" b="0" dirty="0" err="1"/>
              <a:t>inode</a:t>
            </a:r>
            <a:endParaRPr lang="en-US" altLang="zh-CN" sz="1600" b="0" dirty="0"/>
          </a:p>
          <a:p>
            <a:pPr marL="800100" lvl="1" indent="-342900">
              <a:buAutoNum type="arabicPeriod"/>
            </a:pPr>
            <a:r>
              <a:rPr lang="zh-CN" altLang="en-US" sz="1600" dirty="0"/>
              <a:t>从磁盘中将</a:t>
            </a:r>
            <a:r>
              <a:rPr lang="en-US" altLang="zh-CN" sz="1600" dirty="0" err="1"/>
              <a:t>inode</a:t>
            </a:r>
            <a:r>
              <a:rPr lang="zh-CN" altLang="en-US" sz="1600" dirty="0"/>
              <a:t>中对应的数据读到内存页中</a:t>
            </a:r>
            <a:endParaRPr lang="en-US" altLang="zh-CN" sz="1600" dirty="0"/>
          </a:p>
          <a:p>
            <a:pPr marL="800100" lvl="1" indent="-342900">
              <a:buAutoNum type="arabicPeriod"/>
            </a:pPr>
            <a:r>
              <a:rPr lang="zh-CN" altLang="en-US" sz="1600" b="0" dirty="0"/>
              <a:t>将内存页映射添加到页表中</a:t>
            </a:r>
            <a:endParaRPr lang="en-CN" sz="16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E76A1-D179-EC4D-8A08-F647CB14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CE820-4209-214D-B1D7-9D27BDBF8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72DE0-4662-FC4F-81B8-746DFD14D1A5}"/>
              </a:ext>
            </a:extLst>
          </p:cNvPr>
          <p:cNvSpPr txBox="1"/>
          <p:nvPr/>
        </p:nvSpPr>
        <p:spPr>
          <a:xfrm>
            <a:off x="539750" y="3937000"/>
            <a:ext cx="3528194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open("/OS/</a:t>
            </a:r>
            <a:r>
              <a:rPr lang="zh-CN" altLang="en-US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",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O_RDWR);</a:t>
            </a:r>
          </a:p>
          <a:p>
            <a:r>
              <a:rPr lang="en-US" altLang="zh-CN" sz="1200" dirty="0" err="1">
                <a:latin typeface="Courier" pitchFamily="2" charset="0"/>
              </a:rPr>
              <a:t>addr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mmap</a:t>
            </a:r>
            <a:r>
              <a:rPr lang="en-US" altLang="zh-CN" sz="1200" dirty="0">
                <a:latin typeface="Courier" pitchFamily="2" charset="0"/>
              </a:rPr>
              <a:t>(NULL,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length,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PROT_WRITE,</a:t>
            </a:r>
          </a:p>
          <a:p>
            <a:r>
              <a:rPr lang="zh-CN" altLang="en-US" sz="1200" dirty="0">
                <a:latin typeface="Courier" pitchFamily="2" charset="0"/>
              </a:rPr>
              <a:t>            </a:t>
            </a:r>
            <a:r>
              <a:rPr lang="en-US" altLang="zh-CN" sz="1200" dirty="0">
                <a:latin typeface="Courier" pitchFamily="2" charset="0"/>
              </a:rPr>
              <a:t>MAP_SHARED,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0);</a:t>
            </a:r>
          </a:p>
          <a:p>
            <a:r>
              <a:rPr lang="en-US" altLang="zh-CN" sz="1200" dirty="0" err="1">
                <a:latin typeface="Courier" pitchFamily="2" charset="0"/>
              </a:rPr>
              <a:t>memset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addr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0,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length);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FB9E98F-151A-2C47-8CB2-3916E64AC6A8}"/>
              </a:ext>
            </a:extLst>
          </p:cNvPr>
          <p:cNvGrpSpPr/>
          <p:nvPr/>
        </p:nvGrpSpPr>
        <p:grpSpPr>
          <a:xfrm>
            <a:off x="4377682" y="3279162"/>
            <a:ext cx="698376" cy="1827475"/>
            <a:chOff x="4675306" y="2020679"/>
            <a:chExt cx="801501" cy="266429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ABDCADE-DCB5-F440-8623-BEE3DE1F68CC}"/>
                </a:ext>
              </a:extLst>
            </p:cNvPr>
            <p:cNvSpPr/>
            <p:nvPr/>
          </p:nvSpPr>
          <p:spPr>
            <a:xfrm>
              <a:off x="4675306" y="2020679"/>
              <a:ext cx="801501" cy="26642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6C39404-BB1C-A846-AC13-3548DB34F700}"/>
                </a:ext>
              </a:extLst>
            </p:cNvPr>
            <p:cNvSpPr/>
            <p:nvPr/>
          </p:nvSpPr>
          <p:spPr>
            <a:xfrm>
              <a:off x="4675306" y="2864716"/>
              <a:ext cx="801501" cy="6408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900" dirty="0"/>
                <a:t>文件</a:t>
              </a:r>
              <a:r>
                <a:rPr lang="zh-CN" altLang="en-US" sz="900" dirty="0"/>
                <a:t>映射区域</a:t>
              </a:r>
              <a:endParaRPr lang="en-CN" sz="900" dirty="0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8CFD938-DA20-494E-A55C-454B762E4254}"/>
              </a:ext>
            </a:extLst>
          </p:cNvPr>
          <p:cNvSpPr/>
          <p:nvPr/>
        </p:nvSpPr>
        <p:spPr>
          <a:xfrm>
            <a:off x="5608346" y="3186352"/>
            <a:ext cx="1008112" cy="7117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050" dirty="0"/>
              <a:t>起始虚拟地址</a:t>
            </a:r>
            <a:endParaRPr lang="en-US" altLang="zh-CN" sz="1050" dirty="0"/>
          </a:p>
          <a:p>
            <a:r>
              <a:rPr lang="zh-CN" altLang="en-US" sz="1050" dirty="0"/>
              <a:t>长度</a:t>
            </a:r>
            <a:endParaRPr lang="en-US" altLang="zh-CN" sz="1050" dirty="0"/>
          </a:p>
          <a:p>
            <a:r>
              <a:rPr lang="zh-CN" altLang="en-US" sz="1050" dirty="0"/>
              <a:t>访问权限</a:t>
            </a:r>
            <a:endParaRPr lang="en-US" altLang="zh-CN" sz="1050" dirty="0"/>
          </a:p>
          <a:p>
            <a:r>
              <a:rPr lang="zh-CN" altLang="en-US" sz="1050" dirty="0"/>
              <a:t>文件</a:t>
            </a:r>
            <a:endParaRPr lang="en-CN" sz="105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35150-9B09-1143-AE4E-F035A186754C}"/>
              </a:ext>
            </a:extLst>
          </p:cNvPr>
          <p:cNvSpPr txBox="1"/>
          <p:nvPr/>
        </p:nvSpPr>
        <p:spPr>
          <a:xfrm>
            <a:off x="5602657" y="2892174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</a:t>
            </a:r>
            <a:r>
              <a:rPr lang="en-CN" sz="1200" dirty="0"/>
              <a:t>m</a:t>
            </a:r>
            <a:r>
              <a:rPr lang="en-US" altLang="zh-CN" sz="1200" dirty="0"/>
              <a:t>_area</a:t>
            </a:r>
            <a:endParaRPr lang="en-CN" sz="1200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0DA7775-3590-D649-92E6-797A17FA45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76060" y="3289547"/>
            <a:ext cx="591592" cy="5685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AC7F8DE-8419-3149-83E9-E083965D03E1}"/>
              </a:ext>
            </a:extLst>
          </p:cNvPr>
          <p:cNvGrpSpPr/>
          <p:nvPr/>
        </p:nvGrpSpPr>
        <p:grpSpPr>
          <a:xfrm>
            <a:off x="7145180" y="3465701"/>
            <a:ext cx="1602797" cy="1663935"/>
            <a:chOff x="3851920" y="679087"/>
            <a:chExt cx="2422875" cy="2515295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F33ED1E-8D3C-3D41-880B-DA85E2EAB62F}"/>
                </a:ext>
              </a:extLst>
            </p:cNvPr>
            <p:cNvSpPr/>
            <p:nvPr/>
          </p:nvSpPr>
          <p:spPr>
            <a:xfrm>
              <a:off x="3851921" y="1701227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A167B1F-FD58-894F-BC0D-2FA93BBE3A1F}"/>
                </a:ext>
              </a:extLst>
            </p:cNvPr>
            <p:cNvSpPr/>
            <p:nvPr/>
          </p:nvSpPr>
          <p:spPr>
            <a:xfrm>
              <a:off x="3851921" y="1861431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8FDC776-37B8-164C-BA82-B3C55FC45965}"/>
                </a:ext>
              </a:extLst>
            </p:cNvPr>
            <p:cNvSpPr/>
            <p:nvPr/>
          </p:nvSpPr>
          <p:spPr>
            <a:xfrm>
              <a:off x="3851921" y="2021634"/>
              <a:ext cx="584732" cy="290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…</a:t>
              </a:r>
              <a:endParaRPr lang="en-CN" sz="600" dirty="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9A4C8F6-1ECC-C34F-8F18-ADEA60E18032}"/>
                </a:ext>
              </a:extLst>
            </p:cNvPr>
            <p:cNvSpPr/>
            <p:nvPr/>
          </p:nvSpPr>
          <p:spPr>
            <a:xfrm>
              <a:off x="3851920" y="231194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cxnSp>
          <p:nvCxnSpPr>
            <p:cNvPr id="122" name="Curved Connector 15">
              <a:extLst>
                <a:ext uri="{FF2B5EF4-FFF2-40B4-BE49-F238E27FC236}">
                  <a16:creationId xmlns:a16="http://schemas.microsoft.com/office/drawing/2014/main" id="{C2D1AF6C-C6D7-0B4F-8B86-151B63ACE0C8}"/>
                </a:ext>
              </a:extLst>
            </p:cNvPr>
            <p:cNvCxnSpPr>
              <a:cxnSpLocks/>
              <a:stCxn id="118" idx="3"/>
              <a:endCxn id="127" idx="1"/>
            </p:cNvCxnSpPr>
            <p:nvPr/>
          </p:nvCxnSpPr>
          <p:spPr>
            <a:xfrm flipV="1">
              <a:off x="4436653" y="868690"/>
              <a:ext cx="553197" cy="912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urved Connector 16">
              <a:extLst>
                <a:ext uri="{FF2B5EF4-FFF2-40B4-BE49-F238E27FC236}">
                  <a16:creationId xmlns:a16="http://schemas.microsoft.com/office/drawing/2014/main" id="{8FE7AB09-54F4-0C42-A89B-16D565E69935}"/>
                </a:ext>
              </a:extLst>
            </p:cNvPr>
            <p:cNvCxnSpPr>
              <a:cxnSpLocks/>
              <a:stCxn id="119" idx="3"/>
              <a:endCxn id="128" idx="1"/>
            </p:cNvCxnSpPr>
            <p:nvPr/>
          </p:nvCxnSpPr>
          <p:spPr>
            <a:xfrm flipV="1">
              <a:off x="4436653" y="1332731"/>
              <a:ext cx="545504" cy="608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382FF0E-0012-8244-BB84-9BEFA401D9D0}"/>
                </a:ext>
              </a:extLst>
            </p:cNvPr>
            <p:cNvSpPr/>
            <p:nvPr/>
          </p:nvSpPr>
          <p:spPr>
            <a:xfrm>
              <a:off x="3851921" y="2466255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13</a:t>
              </a:r>
              <a:endParaRPr lang="en-CN" sz="6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0C77BF64-9CD5-BD42-8EFF-CC27EDC88A03}"/>
                </a:ext>
              </a:extLst>
            </p:cNvPr>
            <p:cNvSpPr/>
            <p:nvPr/>
          </p:nvSpPr>
          <p:spPr>
            <a:xfrm>
              <a:off x="4989850" y="679087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35E8B9E-DFA9-724A-83C8-872A3DAE731C}"/>
                </a:ext>
              </a:extLst>
            </p:cNvPr>
            <p:cNvSpPr/>
            <p:nvPr/>
          </p:nvSpPr>
          <p:spPr>
            <a:xfrm>
              <a:off x="4982157" y="1143128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7B4C98A-7AFF-DC4A-BB5D-9A716E928876}"/>
                </a:ext>
              </a:extLst>
            </p:cNvPr>
            <p:cNvSpPr/>
            <p:nvPr/>
          </p:nvSpPr>
          <p:spPr>
            <a:xfrm>
              <a:off x="5777227" y="178796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0DA7BA7-122B-A44E-B9D7-F3BB806FFB2E}"/>
                </a:ext>
              </a:extLst>
            </p:cNvPr>
            <p:cNvSpPr/>
            <p:nvPr/>
          </p:nvSpPr>
          <p:spPr>
            <a:xfrm>
              <a:off x="4973971" y="263144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1</a:t>
              </a:r>
              <a:endParaRPr lang="en-CN" sz="600" dirty="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B2D7446-3991-0942-8F34-4C5931752CC6}"/>
                </a:ext>
              </a:extLst>
            </p:cNvPr>
            <p:cNvSpPr/>
            <p:nvPr/>
          </p:nvSpPr>
          <p:spPr>
            <a:xfrm>
              <a:off x="4973971" y="2765611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2</a:t>
              </a:r>
              <a:endParaRPr lang="en-CN" sz="600" dirty="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E68D9CA-338D-5941-BA7B-ECF1A824D01E}"/>
                </a:ext>
              </a:extLst>
            </p:cNvPr>
            <p:cNvSpPr/>
            <p:nvPr/>
          </p:nvSpPr>
          <p:spPr>
            <a:xfrm>
              <a:off x="4973971" y="2899778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…</a:t>
              </a:r>
              <a:endParaRPr lang="en-CN" sz="600" dirty="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CC9F60F-926F-6240-AB5B-04EF8F00D129}"/>
                </a:ext>
              </a:extLst>
            </p:cNvPr>
            <p:cNvSpPr/>
            <p:nvPr/>
          </p:nvSpPr>
          <p:spPr>
            <a:xfrm>
              <a:off x="4973971" y="3034849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128</a:t>
              </a:r>
              <a:endParaRPr lang="en-CN" sz="600" dirty="0"/>
            </a:p>
          </p:txBody>
        </p:sp>
        <p:cxnSp>
          <p:nvCxnSpPr>
            <p:cNvPr id="134" name="Curved Connector 59">
              <a:extLst>
                <a:ext uri="{FF2B5EF4-FFF2-40B4-BE49-F238E27FC236}">
                  <a16:creationId xmlns:a16="http://schemas.microsoft.com/office/drawing/2014/main" id="{E3C9729F-A8B6-1A48-9D94-3436A14095B1}"/>
                </a:ext>
              </a:extLst>
            </p:cNvPr>
            <p:cNvCxnSpPr>
              <a:cxnSpLocks/>
              <a:stCxn id="130" idx="3"/>
              <a:endCxn id="129" idx="1"/>
            </p:cNvCxnSpPr>
            <p:nvPr/>
          </p:nvCxnSpPr>
          <p:spPr>
            <a:xfrm flipV="1">
              <a:off x="5463669" y="1977566"/>
              <a:ext cx="313558" cy="7209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BB9835F-E66E-374B-AA3B-691209316904}"/>
                </a:ext>
              </a:extLst>
            </p:cNvPr>
            <p:cNvSpPr/>
            <p:nvPr/>
          </p:nvSpPr>
          <p:spPr>
            <a:xfrm>
              <a:off x="5785097" y="225860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cxnSp>
          <p:nvCxnSpPr>
            <p:cNvPr id="136" name="Curved Connector 62">
              <a:extLst>
                <a:ext uri="{FF2B5EF4-FFF2-40B4-BE49-F238E27FC236}">
                  <a16:creationId xmlns:a16="http://schemas.microsoft.com/office/drawing/2014/main" id="{027AD344-9271-804A-89FA-EF2853C936A7}"/>
                </a:ext>
              </a:extLst>
            </p:cNvPr>
            <p:cNvCxnSpPr>
              <a:cxnSpLocks/>
              <a:stCxn id="131" idx="3"/>
              <a:endCxn id="135" idx="1"/>
            </p:cNvCxnSpPr>
            <p:nvPr/>
          </p:nvCxnSpPr>
          <p:spPr>
            <a:xfrm flipV="1">
              <a:off x="5463669" y="2448205"/>
              <a:ext cx="321428" cy="3844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urved Connector 136">
              <a:extLst>
                <a:ext uri="{FF2B5EF4-FFF2-40B4-BE49-F238E27FC236}">
                  <a16:creationId xmlns:a16="http://schemas.microsoft.com/office/drawing/2014/main" id="{D504C4B9-9F67-8C46-A11F-19A5C7259A22}"/>
                </a:ext>
              </a:extLst>
            </p:cNvPr>
            <p:cNvCxnSpPr>
              <a:cxnSpLocks/>
              <a:stCxn id="124" idx="3"/>
              <a:endCxn id="130" idx="1"/>
            </p:cNvCxnSpPr>
            <p:nvPr/>
          </p:nvCxnSpPr>
          <p:spPr>
            <a:xfrm>
              <a:off x="4436653" y="2546357"/>
              <a:ext cx="537318" cy="152171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CB5895A-C9CB-654F-86E8-4E5095179DE8}"/>
                </a:ext>
              </a:extLst>
            </p:cNvPr>
            <p:cNvSpPr/>
            <p:nvPr/>
          </p:nvSpPr>
          <p:spPr>
            <a:xfrm>
              <a:off x="5785097" y="2815177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cxnSp>
          <p:nvCxnSpPr>
            <p:cNvPr id="140" name="Curved Connector 62">
              <a:extLst>
                <a:ext uri="{FF2B5EF4-FFF2-40B4-BE49-F238E27FC236}">
                  <a16:creationId xmlns:a16="http://schemas.microsoft.com/office/drawing/2014/main" id="{7EC04362-B29F-774A-A9D5-5C5F4FC179BA}"/>
                </a:ext>
              </a:extLst>
            </p:cNvPr>
            <p:cNvCxnSpPr>
              <a:cxnSpLocks/>
              <a:stCxn id="133" idx="3"/>
              <a:endCxn id="139" idx="1"/>
            </p:cNvCxnSpPr>
            <p:nvPr/>
          </p:nvCxnSpPr>
          <p:spPr>
            <a:xfrm flipV="1">
              <a:off x="5463669" y="3004780"/>
              <a:ext cx="321428" cy="971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AA81AEA-1C4F-B84B-958C-79C1BC3191DF}"/>
                </a:ext>
              </a:extLst>
            </p:cNvPr>
            <p:cNvSpPr txBox="1"/>
            <p:nvPr/>
          </p:nvSpPr>
          <p:spPr>
            <a:xfrm>
              <a:off x="5840126" y="2480978"/>
              <a:ext cx="434235" cy="325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/>
                <a:t>…</a:t>
              </a:r>
              <a:endParaRPr lang="en-CN" sz="800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758B9A5-4B67-B94B-A851-11E65ABFE30F}"/>
                </a:ext>
              </a:extLst>
            </p:cNvPr>
            <p:cNvSpPr/>
            <p:nvPr/>
          </p:nvSpPr>
          <p:spPr>
            <a:xfrm>
              <a:off x="4966100" y="1774225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cxnSp>
          <p:nvCxnSpPr>
            <p:cNvPr id="143" name="Curved Connector 16">
              <a:extLst>
                <a:ext uri="{FF2B5EF4-FFF2-40B4-BE49-F238E27FC236}">
                  <a16:creationId xmlns:a16="http://schemas.microsoft.com/office/drawing/2014/main" id="{D2CA8AD6-08A6-244D-9F46-960CBD40697C}"/>
                </a:ext>
              </a:extLst>
            </p:cNvPr>
            <p:cNvCxnSpPr>
              <a:cxnSpLocks/>
              <a:stCxn id="121" idx="3"/>
              <a:endCxn id="142" idx="1"/>
            </p:cNvCxnSpPr>
            <p:nvPr/>
          </p:nvCxnSpPr>
          <p:spPr>
            <a:xfrm flipV="1">
              <a:off x="4436652" y="1963828"/>
              <a:ext cx="529448" cy="4282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A8434C0-DBDE-2644-9D6D-4A70767C3638}"/>
                </a:ext>
              </a:extLst>
            </p:cNvPr>
            <p:cNvSpPr/>
            <p:nvPr/>
          </p:nvSpPr>
          <p:spPr>
            <a:xfrm>
              <a:off x="3851922" y="1265645"/>
              <a:ext cx="584732" cy="136081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900" dirty="0" err="1"/>
                <a:t>inode</a:t>
              </a:r>
              <a:endParaRPr lang="en-CN" sz="900" dirty="0"/>
            </a:p>
          </p:txBody>
        </p:sp>
      </p:grpSp>
      <p:cxnSp>
        <p:nvCxnSpPr>
          <p:cNvPr id="144" name="Straight Arrow Connector 112">
            <a:extLst>
              <a:ext uri="{FF2B5EF4-FFF2-40B4-BE49-F238E27FC236}">
                <a16:creationId xmlns:a16="http://schemas.microsoft.com/office/drawing/2014/main" id="{CB23F0D4-8089-8142-98F6-66D780680659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5991599" y="3797772"/>
            <a:ext cx="1153582" cy="506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786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8982-FBFD-184E-A45C-322454E3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mmap()</a:t>
            </a:r>
            <a:r>
              <a:rPr lang="zh-CN" altLang="en-US" dirty="0"/>
              <a:t>：</a:t>
            </a:r>
            <a:r>
              <a:rPr lang="zh-CN" altLang="en-CN" dirty="0"/>
              <a:t>文件</a:t>
            </a:r>
            <a:r>
              <a:rPr lang="zh-CN" altLang="en-US" dirty="0"/>
              <a:t>内存</a:t>
            </a:r>
            <a:r>
              <a:rPr lang="zh-CN" altLang="en-CN" dirty="0"/>
              <a:t>映射</a:t>
            </a:r>
            <a:r>
              <a:rPr lang="zh-CN" altLang="en-US" dirty="0"/>
              <a:t>的优势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3E02F-AECE-0349-85ED-97C3E5F55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对于随机访问，不用频繁</a:t>
            </a:r>
            <a:r>
              <a:rPr lang="en-US" sz="2000" b="0" dirty="0" err="1"/>
              <a:t>lseek</a:t>
            </a:r>
            <a:endParaRPr lang="en-US" sz="2000" b="0" dirty="0"/>
          </a:p>
          <a:p>
            <a:r>
              <a:rPr lang="zh-CN" altLang="en-US" sz="2000" b="0" dirty="0"/>
              <a:t>减少系统调用次数</a:t>
            </a:r>
            <a:endParaRPr lang="en-US" sz="2000" b="0" dirty="0"/>
          </a:p>
          <a:p>
            <a:r>
              <a:rPr lang="zh-CN" altLang="en-US" sz="2000" b="0" dirty="0"/>
              <a:t>可以减少数据</a:t>
            </a:r>
            <a:r>
              <a:rPr lang="en-US" sz="2000" b="0" dirty="0"/>
              <a:t>copy</a:t>
            </a:r>
            <a:endParaRPr lang="en-US" altLang="zh-CN" sz="2000" b="0" dirty="0"/>
          </a:p>
          <a:p>
            <a:pPr lvl="1"/>
            <a:r>
              <a:rPr lang="zh-CN" altLang="en-US" sz="1600" b="0" dirty="0"/>
              <a:t>如拷贝文件，数据无需经过中间</a:t>
            </a:r>
            <a:r>
              <a:rPr lang="en-US" altLang="zh-CN" sz="1600" b="0" dirty="0"/>
              <a:t>buffer</a:t>
            </a:r>
            <a:endParaRPr lang="en-US" sz="1600" b="0" dirty="0"/>
          </a:p>
          <a:p>
            <a:r>
              <a:rPr lang="zh-CN" altLang="en-US" sz="2000" b="0" dirty="0"/>
              <a:t>访问的局部性更好</a:t>
            </a:r>
            <a:endParaRPr lang="en-US" altLang="zh-CN" sz="2000" b="0" dirty="0"/>
          </a:p>
          <a:p>
            <a:r>
              <a:rPr lang="zh-CN" altLang="en-US" sz="2000" b="0" dirty="0"/>
              <a:t>可以用 </a:t>
            </a:r>
            <a:r>
              <a:rPr lang="en-US" sz="2000" b="0" dirty="0" err="1"/>
              <a:t>madvice</a:t>
            </a:r>
            <a:r>
              <a:rPr lang="en-US" altLang="zh-CN" sz="2000" b="0" dirty="0"/>
              <a:t>()</a:t>
            </a:r>
            <a:r>
              <a:rPr lang="zh-CN" altLang="en-US" sz="2000" b="0" dirty="0"/>
              <a:t> 系统调用为内核提供访问提示，提高性能</a:t>
            </a:r>
            <a:endParaRPr lang="en-CN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1606D-9F67-6B48-BEF0-67FDF4C7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26EEF-3AAB-E64E-A654-C01B4F3A8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648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C0CB0D-F0FE-4C45-AD0F-E07BE3F0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Ext2</a:t>
            </a:r>
            <a:r>
              <a:rPr lang="zh-CN" altLang="en-US" dirty="0"/>
              <a:t> 文件系统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936246-8C0C-D74E-87BC-6DB06718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27704-9D7D-FA41-B1D9-71B3C084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78A08-8359-4843-B8DE-7AB9BCDC0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9447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Ext2</a:t>
            </a:r>
            <a:r>
              <a:rPr lang="zh-CN" altLang="en-US" dirty="0"/>
              <a:t>文件系统的存储布局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CF951C-DE8D-EC46-9153-C87CBA2295A7}"/>
              </a:ext>
            </a:extLst>
          </p:cNvPr>
          <p:cNvSpPr/>
          <p:nvPr/>
        </p:nvSpPr>
        <p:spPr>
          <a:xfrm>
            <a:off x="899790" y="3981416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DA3BC-30AE-5F48-BA21-9C7B4E849A3E}"/>
              </a:ext>
            </a:extLst>
          </p:cNvPr>
          <p:cNvSpPr/>
          <p:nvPr/>
        </p:nvSpPr>
        <p:spPr>
          <a:xfrm>
            <a:off x="1475656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块</a:t>
            </a:r>
            <a:r>
              <a:rPr lang="zh-CN" altLang="en-US" sz="1400" dirty="0"/>
              <a:t>组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BEDC5-F220-4449-B6F6-6565149AB744}"/>
              </a:ext>
            </a:extLst>
          </p:cNvPr>
          <p:cNvSpPr/>
          <p:nvPr/>
        </p:nvSpPr>
        <p:spPr>
          <a:xfrm>
            <a:off x="3635896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D8B3C7-B3C9-0D46-A2B5-8318254EE8D0}"/>
              </a:ext>
            </a:extLst>
          </p:cNvPr>
          <p:cNvSpPr/>
          <p:nvPr/>
        </p:nvSpPr>
        <p:spPr>
          <a:xfrm>
            <a:off x="6660232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5CF96C-E7A9-FA4C-A873-4D6EEE0B3101}"/>
              </a:ext>
            </a:extLst>
          </p:cNvPr>
          <p:cNvSpPr/>
          <p:nvPr/>
        </p:nvSpPr>
        <p:spPr>
          <a:xfrm>
            <a:off x="75557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超级块</a:t>
            </a:r>
            <a:endParaRPr lang="en-C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EC3191-DC2C-AF40-861C-D4729E098BA9}"/>
              </a:ext>
            </a:extLst>
          </p:cNvPr>
          <p:cNvSpPr/>
          <p:nvPr/>
        </p:nvSpPr>
        <p:spPr>
          <a:xfrm>
            <a:off x="219573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</a:t>
            </a:r>
            <a:endParaRPr lang="en-US" altLang="zh-CN" sz="1400" dirty="0"/>
          </a:p>
          <a:p>
            <a:pPr algn="ctr"/>
            <a:r>
              <a:rPr lang="en-US" altLang="zh-CN" sz="1400" dirty="0"/>
              <a:t>bitmap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E4962-A8D5-954C-872D-C4B1741E0F6F}"/>
              </a:ext>
            </a:extLst>
          </p:cNvPr>
          <p:cNvSpPr/>
          <p:nvPr/>
        </p:nvSpPr>
        <p:spPr>
          <a:xfrm>
            <a:off x="291581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</a:t>
            </a:r>
            <a:r>
              <a:rPr lang="en-CN" altLang="zh-CN" sz="1400" dirty="0"/>
              <a:t>node</a:t>
            </a:r>
          </a:p>
          <a:p>
            <a:pPr algn="ctr"/>
            <a:r>
              <a:rPr lang="en-US" altLang="zh-CN" sz="1400" dirty="0"/>
              <a:t>bitmap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76BA93-AB4A-B948-92C2-C7D809539D83}"/>
              </a:ext>
            </a:extLst>
          </p:cNvPr>
          <p:cNvSpPr/>
          <p:nvPr/>
        </p:nvSpPr>
        <p:spPr>
          <a:xfrm>
            <a:off x="363589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inode</a:t>
            </a:r>
            <a:r>
              <a:rPr lang="zh-CN" altLang="en-US" sz="1400" dirty="0"/>
              <a:t>表</a:t>
            </a:r>
            <a:endParaRPr lang="en-US" altLang="zh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2EAEF-0799-FB41-94A2-F6A7991399F1}"/>
              </a:ext>
            </a:extLst>
          </p:cNvPr>
          <p:cNvSpPr/>
          <p:nvPr/>
        </p:nvSpPr>
        <p:spPr>
          <a:xfrm>
            <a:off x="4355976" y="2929508"/>
            <a:ext cx="2088232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数据</a:t>
            </a:r>
            <a:r>
              <a:rPr lang="zh-CN" altLang="en-US" sz="1400" dirty="0"/>
              <a:t>块</a:t>
            </a:r>
            <a:endParaRPr lang="en-US" altLang="zh-CN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C91C44-D778-EF4B-85B3-F299F876ED14}"/>
              </a:ext>
            </a:extLst>
          </p:cNvPr>
          <p:cNvCxnSpPr>
            <a:cxnSpLocks/>
          </p:cNvCxnSpPr>
          <p:nvPr/>
        </p:nvCxnSpPr>
        <p:spPr>
          <a:xfrm flipH="1" flipV="1">
            <a:off x="755576" y="3433564"/>
            <a:ext cx="720080" cy="547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EB9F50-4B21-C24B-9507-E48C11991B46}"/>
              </a:ext>
            </a:extLst>
          </p:cNvPr>
          <p:cNvCxnSpPr>
            <a:cxnSpLocks/>
          </p:cNvCxnSpPr>
          <p:nvPr/>
        </p:nvCxnSpPr>
        <p:spPr>
          <a:xfrm flipV="1">
            <a:off x="3635896" y="3433564"/>
            <a:ext cx="2808312" cy="547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E64BC9C-8AA9-A144-AC5A-8A1C2002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将磁盘分为多个块组，每个块组中都有超级块，互为备份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超级块（</a:t>
            </a:r>
            <a:r>
              <a:rPr lang="en-US" altLang="zh-CN" sz="2000" b="0" dirty="0"/>
              <a:t>Super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Block</a:t>
            </a:r>
            <a:r>
              <a:rPr lang="zh-CN" altLang="en-US" sz="2000" b="0" dirty="0"/>
              <a:t>）记录了整个文件系统的元数据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块组描述表记录了块组中各个区域的位置和大小</a:t>
            </a:r>
            <a:endParaRPr lang="en-CN" sz="2000" b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34E703-87AF-1346-83DB-4105AAC93376}"/>
              </a:ext>
            </a:extLst>
          </p:cNvPr>
          <p:cNvSpPr/>
          <p:nvPr/>
        </p:nvSpPr>
        <p:spPr>
          <a:xfrm>
            <a:off x="147565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块组描述表</a:t>
            </a:r>
            <a:endParaRPr lang="en-C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DA50C-2CA2-124A-A442-CF074B6CFF5F}"/>
              </a:ext>
            </a:extLst>
          </p:cNvPr>
          <p:cNvSpPr txBox="1"/>
          <p:nvPr/>
        </p:nvSpPr>
        <p:spPr>
          <a:xfrm>
            <a:off x="6012160" y="40252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8908AB4-84A6-044C-8C12-1039673127D8}"/>
              </a:ext>
            </a:extLst>
          </p:cNvPr>
          <p:cNvSpPr/>
          <p:nvPr/>
        </p:nvSpPr>
        <p:spPr>
          <a:xfrm rot="5400000">
            <a:off x="4704573" y="747074"/>
            <a:ext cx="311115" cy="7920682"/>
          </a:xfrm>
          <a:prstGeom prst="rightBrace">
            <a:avLst>
              <a:gd name="adj1" fmla="val 3472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5043A-3C1D-6B43-B5E2-7951AD8C531E}"/>
              </a:ext>
            </a:extLst>
          </p:cNvPr>
          <p:cNvSpPr txBox="1"/>
          <p:nvPr/>
        </p:nvSpPr>
        <p:spPr>
          <a:xfrm>
            <a:off x="3491880" y="489433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存储设备上的</a:t>
            </a:r>
            <a:r>
              <a:rPr lang="en-US" altLang="zh-CN" sz="1600" dirty="0"/>
              <a:t>Ext2</a:t>
            </a:r>
            <a:r>
              <a:rPr lang="zh-CN" altLang="en-US" sz="1600" dirty="0"/>
              <a:t>文件系统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67784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Ext2</a:t>
            </a:r>
            <a:r>
              <a:rPr lang="zh-CN" altLang="en-US" dirty="0"/>
              <a:t>的常规文件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08E4E3A-3930-5548-BF62-A3DEE5C835CC}"/>
              </a:ext>
            </a:extLst>
          </p:cNvPr>
          <p:cNvGrpSpPr/>
          <p:nvPr/>
        </p:nvGrpSpPr>
        <p:grpSpPr>
          <a:xfrm>
            <a:off x="4491324" y="669511"/>
            <a:ext cx="3958902" cy="4419090"/>
            <a:chOff x="4491324" y="669511"/>
            <a:chExt cx="3958902" cy="441909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E24764-62EA-B247-8819-F5559A90BB03}"/>
                </a:ext>
              </a:extLst>
            </p:cNvPr>
            <p:cNvSpPr/>
            <p:nvPr/>
          </p:nvSpPr>
          <p:spPr>
            <a:xfrm>
              <a:off x="4491325" y="1058291"/>
              <a:ext cx="584732" cy="6333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00" dirty="0"/>
                <a:t>常用</a:t>
              </a:r>
              <a:r>
                <a:rPr lang="zh-CN" altLang="en-US" sz="1000" dirty="0"/>
                <a:t>元数据</a:t>
              </a:r>
              <a:endParaRPr lang="en-CN" sz="10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6F3CD0-7B5F-474D-AA69-FFA734409567}"/>
                </a:ext>
              </a:extLst>
            </p:cNvPr>
            <p:cNvSpPr/>
            <p:nvPr/>
          </p:nvSpPr>
          <p:spPr>
            <a:xfrm>
              <a:off x="4491325" y="1691651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AA6E90-10DF-D743-8513-8CDA194E8D9A}"/>
                </a:ext>
              </a:extLst>
            </p:cNvPr>
            <p:cNvSpPr/>
            <p:nvPr/>
          </p:nvSpPr>
          <p:spPr>
            <a:xfrm>
              <a:off x="4491325" y="1851855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A73495-812A-A942-89ED-16B94DB81310}"/>
                </a:ext>
              </a:extLst>
            </p:cNvPr>
            <p:cNvSpPr/>
            <p:nvPr/>
          </p:nvSpPr>
          <p:spPr>
            <a:xfrm>
              <a:off x="4491325" y="2012058"/>
              <a:ext cx="584732" cy="290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5636AD-E9AB-9B4F-9995-300E800979AF}"/>
                </a:ext>
              </a:extLst>
            </p:cNvPr>
            <p:cNvSpPr/>
            <p:nvPr/>
          </p:nvSpPr>
          <p:spPr>
            <a:xfrm>
              <a:off x="4491324" y="2302368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endParaRPr lang="en-CN" sz="1000" dirty="0"/>
            </a:p>
          </p:txBody>
        </p:sp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2BD0275E-933E-D242-9310-BD1E62D7359D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 flipV="1">
              <a:off x="5076057" y="859114"/>
              <a:ext cx="553197" cy="912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61226B8E-734C-1943-85D7-997134C274FD}"/>
                </a:ext>
              </a:extLst>
            </p:cNvPr>
            <p:cNvCxnSpPr>
              <a:cxnSpLocks/>
              <a:stCxn id="10" idx="3"/>
              <a:endCxn id="14" idx="1"/>
            </p:cNvCxnSpPr>
            <p:nvPr/>
          </p:nvCxnSpPr>
          <p:spPr>
            <a:xfrm flipV="1">
              <a:off x="5076057" y="1323155"/>
              <a:ext cx="545504" cy="608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0DEFCD45-2BD7-1245-94EF-7A5A242201B4}"/>
                </a:ext>
              </a:extLst>
            </p:cNvPr>
            <p:cNvCxnSpPr>
              <a:cxnSpLocks/>
              <a:stCxn id="44" idx="3"/>
              <a:endCxn id="25" idx="1"/>
            </p:cNvCxnSpPr>
            <p:nvPr/>
          </p:nvCxnSpPr>
          <p:spPr>
            <a:xfrm>
              <a:off x="5076057" y="2698065"/>
              <a:ext cx="586083" cy="44792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19A9845-5310-1842-8EE3-7BD59A41320E}"/>
                </a:ext>
              </a:extLst>
            </p:cNvPr>
            <p:cNvSpPr/>
            <p:nvPr/>
          </p:nvSpPr>
          <p:spPr>
            <a:xfrm>
              <a:off x="4491325" y="2456679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13</a:t>
              </a:r>
              <a:endParaRPr lang="en-CN" sz="1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008376D-4511-064C-9446-BFE42D4506FC}"/>
                </a:ext>
              </a:extLst>
            </p:cNvPr>
            <p:cNvSpPr/>
            <p:nvPr/>
          </p:nvSpPr>
          <p:spPr>
            <a:xfrm>
              <a:off x="4491325" y="2617963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14</a:t>
              </a:r>
              <a:endParaRPr lang="en-CN" sz="1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07F7D35-1D86-D241-8924-151246340868}"/>
                </a:ext>
              </a:extLst>
            </p:cNvPr>
            <p:cNvSpPr/>
            <p:nvPr/>
          </p:nvSpPr>
          <p:spPr>
            <a:xfrm>
              <a:off x="4491324" y="2777398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15</a:t>
              </a:r>
              <a:endParaRPr lang="en-CN" sz="1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189FF0-AA6F-624D-A5C2-98A9889C06D2}"/>
                </a:ext>
              </a:extLst>
            </p:cNvPr>
            <p:cNvSpPr/>
            <p:nvPr/>
          </p:nvSpPr>
          <p:spPr>
            <a:xfrm>
              <a:off x="5629254" y="669511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24EED7-7F52-5F42-9404-35515D77F7D5}"/>
                </a:ext>
              </a:extLst>
            </p:cNvPr>
            <p:cNvSpPr/>
            <p:nvPr/>
          </p:nvSpPr>
          <p:spPr>
            <a:xfrm>
              <a:off x="5621561" y="113355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A1D38BA-A032-CD4B-9707-DDF82286FEFB}"/>
                </a:ext>
              </a:extLst>
            </p:cNvPr>
            <p:cNvSpPr/>
            <p:nvPr/>
          </p:nvSpPr>
          <p:spPr>
            <a:xfrm>
              <a:off x="7960528" y="155400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5B9471-F61E-B340-88EB-0AA9CCE6C427}"/>
                </a:ext>
              </a:extLst>
            </p:cNvPr>
            <p:cNvSpPr txBox="1"/>
            <p:nvPr/>
          </p:nvSpPr>
          <p:spPr>
            <a:xfrm>
              <a:off x="7031951" y="3679197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CEC525-85A1-A440-90FF-CD1E9517A963}"/>
                </a:ext>
              </a:extLst>
            </p:cNvPr>
            <p:cNvSpPr txBox="1"/>
            <p:nvPr/>
          </p:nvSpPr>
          <p:spPr>
            <a:xfrm>
              <a:off x="5436979" y="3667851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二级间接索引块</a:t>
              </a:r>
              <a:endParaRPr lang="en-CN" sz="11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E60FB90-6F01-7D4A-9E11-0F9A19A7FB9E}"/>
                </a:ext>
              </a:extLst>
            </p:cNvPr>
            <p:cNvSpPr/>
            <p:nvPr/>
          </p:nvSpPr>
          <p:spPr>
            <a:xfrm>
              <a:off x="5662140" y="307890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D3B504-B354-3146-819A-1DE061211F4A}"/>
                </a:ext>
              </a:extLst>
            </p:cNvPr>
            <p:cNvSpPr/>
            <p:nvPr/>
          </p:nvSpPr>
          <p:spPr>
            <a:xfrm>
              <a:off x="5662140" y="3213072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AEF790-D2BF-6E43-9D45-8CCFAC926820}"/>
                </a:ext>
              </a:extLst>
            </p:cNvPr>
            <p:cNvSpPr/>
            <p:nvPr/>
          </p:nvSpPr>
          <p:spPr>
            <a:xfrm>
              <a:off x="5662140" y="3347239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684405-7E50-CD44-AF74-FF36520F3664}"/>
                </a:ext>
              </a:extLst>
            </p:cNvPr>
            <p:cNvSpPr/>
            <p:nvPr/>
          </p:nvSpPr>
          <p:spPr>
            <a:xfrm>
              <a:off x="5662140" y="348231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5E16B6EE-A824-5340-BF41-D2032E3E60CF}"/>
                </a:ext>
              </a:extLst>
            </p:cNvPr>
            <p:cNvCxnSpPr>
              <a:cxnSpLocks/>
              <a:stCxn id="25" idx="3"/>
              <a:endCxn id="32" idx="1"/>
            </p:cNvCxnSpPr>
            <p:nvPr/>
          </p:nvCxnSpPr>
          <p:spPr>
            <a:xfrm flipV="1">
              <a:off x="6151838" y="2592961"/>
              <a:ext cx="805975" cy="553028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>
              <a:extLst>
                <a:ext uri="{FF2B5EF4-FFF2-40B4-BE49-F238E27FC236}">
                  <a16:creationId xmlns:a16="http://schemas.microsoft.com/office/drawing/2014/main" id="{628CE414-A587-794C-BCE5-7BB2257249EF}"/>
                </a:ext>
              </a:extLst>
            </p:cNvPr>
            <p:cNvCxnSpPr>
              <a:cxnSpLocks/>
              <a:stCxn id="26" idx="3"/>
              <a:endCxn id="111" idx="1"/>
            </p:cNvCxnSpPr>
            <p:nvPr/>
          </p:nvCxnSpPr>
          <p:spPr>
            <a:xfrm flipV="1">
              <a:off x="6151838" y="3246117"/>
              <a:ext cx="805975" cy="3403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AD5005D5-7E7E-C84B-92E1-9E999AF73215}"/>
                </a:ext>
              </a:extLst>
            </p:cNvPr>
            <p:cNvCxnSpPr>
              <a:cxnSpLocks/>
              <a:stCxn id="28" idx="3"/>
              <a:endCxn id="116" idx="1"/>
            </p:cNvCxnSpPr>
            <p:nvPr/>
          </p:nvCxnSpPr>
          <p:spPr>
            <a:xfrm>
              <a:off x="6151838" y="3549394"/>
              <a:ext cx="805975" cy="46269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F6EDF88-6307-D044-B80A-37A36810EE91}"/>
                </a:ext>
              </a:extLst>
            </p:cNvPr>
            <p:cNvGrpSpPr/>
            <p:nvPr/>
          </p:nvGrpSpPr>
          <p:grpSpPr>
            <a:xfrm>
              <a:off x="6957813" y="2525877"/>
              <a:ext cx="489698" cy="537572"/>
              <a:chOff x="7298430" y="2380870"/>
              <a:chExt cx="489698" cy="53757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59843E0-B7ED-F242-AC3E-909A99A02E6B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D4F5F5C-1476-A040-91D0-4B71327E77A5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A42FC3B-7CEA-9946-A525-4F04A4399C9E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A7643B0-A751-054A-8C3C-064226AC07FD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9840B6D0-5AF5-CD45-82C1-6D60169A8FC0}"/>
                </a:ext>
              </a:extLst>
            </p:cNvPr>
            <p:cNvCxnSpPr>
              <a:cxnSpLocks/>
              <a:stCxn id="32" idx="3"/>
              <a:endCxn id="20" idx="1"/>
            </p:cNvCxnSpPr>
            <p:nvPr/>
          </p:nvCxnSpPr>
          <p:spPr>
            <a:xfrm flipV="1">
              <a:off x="7447511" y="1743612"/>
              <a:ext cx="513017" cy="8493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BB0139E-03D6-CB46-90FA-7D50A74E0FC9}"/>
                </a:ext>
              </a:extLst>
            </p:cNvPr>
            <p:cNvSpPr/>
            <p:nvPr/>
          </p:nvSpPr>
          <p:spPr>
            <a:xfrm>
              <a:off x="7959193" y="2097498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C2E48A6-234E-4747-8707-3E9754D6239E}"/>
                </a:ext>
              </a:extLst>
            </p:cNvPr>
            <p:cNvSpPr/>
            <p:nvPr/>
          </p:nvSpPr>
          <p:spPr>
            <a:xfrm>
              <a:off x="7959193" y="276678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84A3FF-781E-FE43-97B8-3059DBE88E90}"/>
                </a:ext>
              </a:extLst>
            </p:cNvPr>
            <p:cNvSpPr txBox="1"/>
            <p:nvPr/>
          </p:nvSpPr>
          <p:spPr>
            <a:xfrm>
              <a:off x="8073974" y="2498451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08EF0D2C-BB9A-6A49-A21F-506E892535C3}"/>
                </a:ext>
              </a:extLst>
            </p:cNvPr>
            <p:cNvCxnSpPr>
              <a:cxnSpLocks/>
              <a:stCxn id="33" idx="3"/>
              <a:endCxn id="37" idx="1"/>
            </p:cNvCxnSpPr>
            <p:nvPr/>
          </p:nvCxnSpPr>
          <p:spPr>
            <a:xfrm flipV="1">
              <a:off x="7447511" y="2287101"/>
              <a:ext cx="511682" cy="440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3167C3B4-78DC-6346-A8F7-2B405A1E9FD1}"/>
                </a:ext>
              </a:extLst>
            </p:cNvPr>
            <p:cNvCxnSpPr>
              <a:cxnSpLocks/>
              <a:stCxn id="35" idx="3"/>
              <a:endCxn id="38" idx="1"/>
            </p:cNvCxnSpPr>
            <p:nvPr/>
          </p:nvCxnSpPr>
          <p:spPr>
            <a:xfrm flipV="1">
              <a:off x="7447511" y="2956386"/>
              <a:ext cx="511682" cy="399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C8048E-D0C6-D84F-B608-F9D285C602A1}"/>
                </a:ext>
              </a:extLst>
            </p:cNvPr>
            <p:cNvSpPr txBox="1"/>
            <p:nvPr/>
          </p:nvSpPr>
          <p:spPr>
            <a:xfrm>
              <a:off x="6757668" y="4489337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3903DD4-8032-394A-8A91-6228F441883C}"/>
                </a:ext>
              </a:extLst>
            </p:cNvPr>
            <p:cNvSpPr/>
            <p:nvPr/>
          </p:nvSpPr>
          <p:spPr>
            <a:xfrm>
              <a:off x="6440380" y="100872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0F7105D-93A6-7042-964D-C37216C05579}"/>
                </a:ext>
              </a:extLst>
            </p:cNvPr>
            <p:cNvSpPr/>
            <p:nvPr/>
          </p:nvSpPr>
          <p:spPr>
            <a:xfrm>
              <a:off x="5637124" y="1852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744235A-9F4E-9F41-8F9E-D1DC70A9E933}"/>
                </a:ext>
              </a:extLst>
            </p:cNvPr>
            <p:cNvSpPr/>
            <p:nvPr/>
          </p:nvSpPr>
          <p:spPr>
            <a:xfrm>
              <a:off x="5637124" y="1986371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4E28813-E359-0F47-BFF0-D766E7F1EE58}"/>
                </a:ext>
              </a:extLst>
            </p:cNvPr>
            <p:cNvSpPr/>
            <p:nvPr/>
          </p:nvSpPr>
          <p:spPr>
            <a:xfrm>
              <a:off x="5637124" y="2120538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8B5766D-9067-B54E-8ED1-628E59A8B8FF}"/>
                </a:ext>
              </a:extLst>
            </p:cNvPr>
            <p:cNvSpPr/>
            <p:nvPr/>
          </p:nvSpPr>
          <p:spPr>
            <a:xfrm>
              <a:off x="5637124" y="2255609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60" name="Curved Connector 59">
              <a:extLst>
                <a:ext uri="{FF2B5EF4-FFF2-40B4-BE49-F238E27FC236}">
                  <a16:creationId xmlns:a16="http://schemas.microsoft.com/office/drawing/2014/main" id="{891319AD-FE0B-6E42-BF42-DE793EE77CB5}"/>
                </a:ext>
              </a:extLst>
            </p:cNvPr>
            <p:cNvCxnSpPr>
              <a:cxnSpLocks/>
              <a:stCxn id="56" idx="3"/>
              <a:endCxn id="55" idx="1"/>
            </p:cNvCxnSpPr>
            <p:nvPr/>
          </p:nvCxnSpPr>
          <p:spPr>
            <a:xfrm flipV="1">
              <a:off x="6126822" y="1198326"/>
              <a:ext cx="313558" cy="7209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F4DB0A5-7C52-294A-8FC2-30EE17FBBB08}"/>
                </a:ext>
              </a:extLst>
            </p:cNvPr>
            <p:cNvSpPr/>
            <p:nvPr/>
          </p:nvSpPr>
          <p:spPr>
            <a:xfrm>
              <a:off x="6448250" y="147936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607A2042-3704-3D40-BE65-B0E02867C055}"/>
                </a:ext>
              </a:extLst>
            </p:cNvPr>
            <p:cNvCxnSpPr>
              <a:cxnSpLocks/>
              <a:stCxn id="57" idx="3"/>
              <a:endCxn id="61" idx="1"/>
            </p:cNvCxnSpPr>
            <p:nvPr/>
          </p:nvCxnSpPr>
          <p:spPr>
            <a:xfrm flipV="1">
              <a:off x="6126822" y="1668965"/>
              <a:ext cx="321428" cy="3844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urved Connector 63">
              <a:extLst>
                <a:ext uri="{FF2B5EF4-FFF2-40B4-BE49-F238E27FC236}">
                  <a16:creationId xmlns:a16="http://schemas.microsoft.com/office/drawing/2014/main" id="{ED0E929A-6A68-6C45-BB86-70CC2164ED0A}"/>
                </a:ext>
              </a:extLst>
            </p:cNvPr>
            <p:cNvCxnSpPr>
              <a:cxnSpLocks/>
              <a:stCxn id="43" idx="3"/>
              <a:endCxn id="56" idx="1"/>
            </p:cNvCxnSpPr>
            <p:nvPr/>
          </p:nvCxnSpPr>
          <p:spPr>
            <a:xfrm flipV="1">
              <a:off x="5076057" y="1919288"/>
              <a:ext cx="561067" cy="61749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A64A05F-7D6D-DE41-A99F-D6B8E90239D9}"/>
                </a:ext>
              </a:extLst>
            </p:cNvPr>
            <p:cNvSpPr txBox="1"/>
            <p:nvPr/>
          </p:nvSpPr>
          <p:spPr>
            <a:xfrm>
              <a:off x="5429109" y="2400748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E368ACA-6355-0049-A91F-6FBB9D911231}"/>
                </a:ext>
              </a:extLst>
            </p:cNvPr>
            <p:cNvSpPr/>
            <p:nvPr/>
          </p:nvSpPr>
          <p:spPr>
            <a:xfrm>
              <a:off x="6448250" y="2035937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94" name="Curved Connector 62">
              <a:extLst>
                <a:ext uri="{FF2B5EF4-FFF2-40B4-BE49-F238E27FC236}">
                  <a16:creationId xmlns:a16="http://schemas.microsoft.com/office/drawing/2014/main" id="{55F53395-F63E-704B-9846-B36BECF770F0}"/>
                </a:ext>
              </a:extLst>
            </p:cNvPr>
            <p:cNvCxnSpPr>
              <a:cxnSpLocks/>
              <a:stCxn id="59" idx="3"/>
              <a:endCxn id="93" idx="1"/>
            </p:cNvCxnSpPr>
            <p:nvPr/>
          </p:nvCxnSpPr>
          <p:spPr>
            <a:xfrm flipV="1">
              <a:off x="6126822" y="2225540"/>
              <a:ext cx="321428" cy="971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515FE2B-B063-2142-892E-8897E845EE3D}"/>
                </a:ext>
              </a:extLst>
            </p:cNvPr>
            <p:cNvSpPr txBox="1"/>
            <p:nvPr/>
          </p:nvSpPr>
          <p:spPr>
            <a:xfrm>
              <a:off x="5464694" y="4826991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三级间接索引块</a:t>
              </a:r>
              <a:endParaRPr lang="en-CN" sz="11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766A8AA-5090-AC4F-A9FA-014DC2FB9069}"/>
                </a:ext>
              </a:extLst>
            </p:cNvPr>
            <p:cNvSpPr/>
            <p:nvPr/>
          </p:nvSpPr>
          <p:spPr>
            <a:xfrm>
              <a:off x="5689855" y="423804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2B3C46E-D3FA-7449-951A-D54AB784FBAE}"/>
                </a:ext>
              </a:extLst>
            </p:cNvPr>
            <p:cNvSpPr/>
            <p:nvPr/>
          </p:nvSpPr>
          <p:spPr>
            <a:xfrm>
              <a:off x="5689855" y="4372212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3EBCBE3-6BE9-8348-AB3F-308EA6C2BA00}"/>
                </a:ext>
              </a:extLst>
            </p:cNvPr>
            <p:cNvSpPr/>
            <p:nvPr/>
          </p:nvSpPr>
          <p:spPr>
            <a:xfrm>
              <a:off x="5689855" y="4506379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BFFB844-1CBE-8A48-9314-14D6E20235D3}"/>
                </a:ext>
              </a:extLst>
            </p:cNvPr>
            <p:cNvSpPr/>
            <p:nvPr/>
          </p:nvSpPr>
          <p:spPr>
            <a:xfrm>
              <a:off x="5689855" y="464145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D41EFAC5-04FB-AD4C-ADED-39DBEE541255}"/>
                </a:ext>
              </a:extLst>
            </p:cNvPr>
            <p:cNvCxnSpPr>
              <a:cxnSpLocks/>
              <a:stCxn id="45" idx="3"/>
              <a:endCxn id="100" idx="1"/>
            </p:cNvCxnSpPr>
            <p:nvPr/>
          </p:nvCxnSpPr>
          <p:spPr>
            <a:xfrm>
              <a:off x="5076056" y="2857500"/>
              <a:ext cx="613799" cy="144762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45C2FC3-8AC9-CA44-B882-A498F39B2CE4}"/>
                </a:ext>
              </a:extLst>
            </p:cNvPr>
            <p:cNvSpPr txBox="1"/>
            <p:nvPr/>
          </p:nvSpPr>
          <p:spPr>
            <a:xfrm>
              <a:off x="6554825" y="1805446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8678615-B419-144E-B29E-8D6E22841125}"/>
                </a:ext>
              </a:extLst>
            </p:cNvPr>
            <p:cNvGrpSpPr/>
            <p:nvPr/>
          </p:nvGrpSpPr>
          <p:grpSpPr>
            <a:xfrm>
              <a:off x="6957813" y="3179033"/>
              <a:ext cx="489698" cy="537572"/>
              <a:chOff x="7298430" y="2380870"/>
              <a:chExt cx="489698" cy="537572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12152A7F-802E-D04C-926B-2168003EC349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3B4FDEAA-8BA9-534F-87E2-AD130E2FFF44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95D6D75-B9B7-A245-9A15-4A277FECAAE0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7BA9AD0-32D5-5740-80F9-2C5DCFEF6B3D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160BB9A-7F11-264C-8EBC-F4702672BD64}"/>
                </a:ext>
              </a:extLst>
            </p:cNvPr>
            <p:cNvGrpSpPr/>
            <p:nvPr/>
          </p:nvGrpSpPr>
          <p:grpSpPr>
            <a:xfrm>
              <a:off x="6957813" y="3945004"/>
              <a:ext cx="489698" cy="537572"/>
              <a:chOff x="7298430" y="2380870"/>
              <a:chExt cx="489698" cy="537572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5B1EEF63-769D-5647-AE1C-7C17F663E056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2DE29E46-4F00-4A42-A9FE-0C8F8BECAB78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5AEB051-D387-9440-9A20-38B3D7D8A77B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D73479DE-FB34-7E4A-8A69-6841316E3298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126" name="Curved Connector 40">
              <a:extLst>
                <a:ext uri="{FF2B5EF4-FFF2-40B4-BE49-F238E27FC236}">
                  <a16:creationId xmlns:a16="http://schemas.microsoft.com/office/drawing/2014/main" id="{BC2C11D6-31E7-FD43-A0FE-69658E294F23}"/>
                </a:ext>
              </a:extLst>
            </p:cNvPr>
            <p:cNvCxnSpPr>
              <a:cxnSpLocks/>
              <a:stCxn id="111" idx="3"/>
            </p:cNvCxnSpPr>
            <p:nvPr/>
          </p:nvCxnSpPr>
          <p:spPr>
            <a:xfrm>
              <a:off x="7447511" y="3246117"/>
              <a:ext cx="511682" cy="1079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E0D722E-5C4B-2A45-9992-ED59425DDCE0}"/>
                </a:ext>
              </a:extLst>
            </p:cNvPr>
            <p:cNvSpPr/>
            <p:nvPr/>
          </p:nvSpPr>
          <p:spPr>
            <a:xfrm>
              <a:off x="7952841" y="3282416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</p:grp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E2096D42-C982-D04D-B92B-0C8776903986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 dirty="0"/>
              <a:t>Ext2</a:t>
            </a:r>
            <a:r>
              <a:rPr lang="zh-CN" altLang="en-US" b="0" dirty="0"/>
              <a:t>的</a:t>
            </a:r>
            <a:r>
              <a:rPr lang="en-US" altLang="zh-CN" b="0" dirty="0" err="1"/>
              <a:t>inode</a:t>
            </a:r>
            <a:r>
              <a:rPr lang="zh-CN" altLang="en-US" b="0" dirty="0"/>
              <a:t>中</a:t>
            </a:r>
            <a:endParaRPr lang="en-US" altLang="zh-CN" b="0" dirty="0"/>
          </a:p>
          <a:p>
            <a:pPr lvl="1"/>
            <a:r>
              <a:rPr lang="en-US" altLang="zh-CN" dirty="0"/>
              <a:t>12</a:t>
            </a:r>
            <a:r>
              <a:rPr lang="zh-CN" altLang="en-US" dirty="0"/>
              <a:t>个直接指针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个间接指针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个二级间接指针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个三级间接指针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04741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使用区段（</a:t>
            </a:r>
            <a:r>
              <a:rPr lang="en-US" altLang="zh-CN" dirty="0"/>
              <a:t>Extent</a:t>
            </a:r>
            <a:r>
              <a:rPr lang="zh-CN" altLang="en-US" dirty="0"/>
              <a:t>）来优化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2F9A28F8-0EDD-6D49-A660-41A9F1923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74" y="1322310"/>
            <a:ext cx="7482309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0" dirty="0"/>
              <a:t>问题：在</a:t>
            </a:r>
            <a:r>
              <a:rPr lang="en-US" altLang="zh-CN" sz="1800" b="0" dirty="0"/>
              <a:t>Ext2</a:t>
            </a:r>
            <a:r>
              <a:rPr lang="zh-CN" altLang="en-US" sz="1800" b="0" dirty="0"/>
              <a:t>的设计中，保存一个</a:t>
            </a:r>
            <a:r>
              <a:rPr lang="en-US" altLang="zh-CN" sz="1800" b="0" dirty="0"/>
              <a:t>1GB</a:t>
            </a:r>
            <a:r>
              <a:rPr lang="zh-CN" altLang="en-US" sz="1800" b="0" dirty="0"/>
              <a:t>的视频文件，文件被拆成多少数据块？需要多少元数据来维护这些数据块？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如果这些数据块物理上连续，只需要保存</a:t>
            </a:r>
            <a:r>
              <a:rPr lang="zh-CN" altLang="en-US" sz="1800" dirty="0"/>
              <a:t>起始块地址和长度</a:t>
            </a:r>
            <a:r>
              <a:rPr lang="zh-CN" altLang="en-US" sz="1800" b="0" dirty="0"/>
              <a:t>即可！</a:t>
            </a:r>
            <a:endParaRPr lang="en-US" altLang="zh-CN" sz="1800" b="0" dirty="0"/>
          </a:p>
          <a:p>
            <a:pPr marL="0" indent="0">
              <a:buNone/>
            </a:pP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区段（</a:t>
            </a:r>
            <a:r>
              <a:rPr lang="en-US" altLang="zh-CN" sz="1800" b="0" dirty="0"/>
              <a:t>Extent</a:t>
            </a:r>
            <a:r>
              <a:rPr lang="zh-CN" altLang="en-US" sz="1800" b="0" dirty="0"/>
              <a:t>）是由</a:t>
            </a:r>
            <a:r>
              <a:rPr lang="zh-CN" altLang="en-US" sz="1800" dirty="0"/>
              <a:t>物理上连续的多个数据块</a:t>
            </a:r>
            <a:r>
              <a:rPr lang="zh-CN" altLang="en-US" sz="1800" b="0" dirty="0"/>
              <a:t>组成</a:t>
            </a:r>
            <a:endParaRPr lang="en-US" altLang="zh-CN" sz="1800" b="0" dirty="0"/>
          </a:p>
          <a:p>
            <a:r>
              <a:rPr lang="zh-CN" altLang="en-US" sz="1800" b="0" dirty="0"/>
              <a:t>一个区段内的数据可以连续访问，无需按</a:t>
            </a:r>
            <a:r>
              <a:rPr lang="en-US" altLang="zh-CN" sz="1800" b="0" dirty="0"/>
              <a:t>4KB</a:t>
            </a:r>
            <a:r>
              <a:rPr lang="zh-CN" altLang="en-US" sz="1800" b="0" dirty="0"/>
              <a:t>数据块访问</a:t>
            </a:r>
            <a:endParaRPr lang="en-US" altLang="zh-CN" sz="1800" b="0" dirty="0"/>
          </a:p>
          <a:p>
            <a:r>
              <a:rPr lang="zh-CN" altLang="en-US" sz="1800" b="0" dirty="0"/>
              <a:t>可以减少元数据的数量</a:t>
            </a:r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116182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Ext4</a:t>
            </a:r>
            <a:r>
              <a:rPr lang="zh-CN" altLang="en-US" dirty="0"/>
              <a:t>文件存储 </a:t>
            </a:r>
            <a:r>
              <a:rPr lang="en-US" altLang="zh-CN" dirty="0"/>
              <a:t>–</a:t>
            </a:r>
            <a:r>
              <a:rPr lang="zh-CN" altLang="en-US" dirty="0"/>
              <a:t> 区段树（</a:t>
            </a:r>
            <a:r>
              <a:rPr lang="en-US" altLang="zh-CN" dirty="0"/>
              <a:t>Extent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72ECF9-93B8-B641-A967-56BB2B916F83}"/>
              </a:ext>
            </a:extLst>
          </p:cNvPr>
          <p:cNvGrpSpPr/>
          <p:nvPr/>
        </p:nvGrpSpPr>
        <p:grpSpPr>
          <a:xfrm>
            <a:off x="1187624" y="820247"/>
            <a:ext cx="7271011" cy="4605516"/>
            <a:chOff x="1187624" y="820247"/>
            <a:chExt cx="7271011" cy="46055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E9BB34E-B4E7-5844-A56A-A5CC87724041}"/>
                </a:ext>
              </a:extLst>
            </p:cNvPr>
            <p:cNvGrpSpPr/>
            <p:nvPr/>
          </p:nvGrpSpPr>
          <p:grpSpPr>
            <a:xfrm>
              <a:off x="1187624" y="820247"/>
              <a:ext cx="7254124" cy="4605516"/>
              <a:chOff x="3261229" y="632977"/>
              <a:chExt cx="7254124" cy="4605516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3EF2FD8-CF2A-5449-956C-6D8DCFD8BA66}"/>
                  </a:ext>
                </a:extLst>
              </p:cNvPr>
              <p:cNvSpPr/>
              <p:nvPr/>
            </p:nvSpPr>
            <p:spPr>
              <a:xfrm>
                <a:off x="3261229" y="1742949"/>
                <a:ext cx="671659" cy="72751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100" dirty="0"/>
                  <a:t>常用</a:t>
                </a:r>
                <a:r>
                  <a:rPr lang="zh-CN" altLang="en-US" sz="1100" dirty="0"/>
                  <a:t>元数据</a:t>
                </a:r>
                <a:endParaRPr lang="en-CN" sz="1100" dirty="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0837114-FFBB-F644-B2B1-76F591888650}"/>
                  </a:ext>
                </a:extLst>
              </p:cNvPr>
              <p:cNvSpPr/>
              <p:nvPr/>
            </p:nvSpPr>
            <p:spPr>
              <a:xfrm>
                <a:off x="3261229" y="2470466"/>
                <a:ext cx="671659" cy="184020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100" dirty="0"/>
                  <a:t>树</a:t>
                </a:r>
                <a:r>
                  <a:rPr lang="zh-CN" altLang="en-US" sz="1100" dirty="0"/>
                  <a:t>根</a:t>
                </a:r>
                <a:endParaRPr lang="en-CN" sz="1100" dirty="0"/>
              </a:p>
            </p:txBody>
          </p:sp>
          <p:cxnSp>
            <p:nvCxnSpPr>
              <p:cNvPr id="81" name="Curved Connector 80">
                <a:extLst>
                  <a:ext uri="{FF2B5EF4-FFF2-40B4-BE49-F238E27FC236}">
                    <a16:creationId xmlns:a16="http://schemas.microsoft.com/office/drawing/2014/main" id="{2C0C1E34-E343-C54E-976F-BD7CCAF8DFFF}"/>
                  </a:ext>
                </a:extLst>
              </p:cNvPr>
              <p:cNvCxnSpPr>
                <a:cxnSpLocks/>
                <a:stCxn id="74" idx="3"/>
                <a:endCxn id="83" idx="1"/>
              </p:cNvCxnSpPr>
              <p:nvPr/>
            </p:nvCxnSpPr>
            <p:spPr>
              <a:xfrm flipV="1">
                <a:off x="3932888" y="2266686"/>
                <a:ext cx="403491" cy="295790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D5DD225D-A175-9248-A597-1FE1A30140EE}"/>
                  </a:ext>
                </a:extLst>
              </p:cNvPr>
              <p:cNvSpPr/>
              <p:nvPr/>
            </p:nvSpPr>
            <p:spPr>
              <a:xfrm>
                <a:off x="4336379" y="2174676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87EB537-19CB-754E-AEE6-606340D65ED2}"/>
                  </a:ext>
                </a:extLst>
              </p:cNvPr>
              <p:cNvSpPr/>
              <p:nvPr/>
            </p:nvSpPr>
            <p:spPr>
              <a:xfrm>
                <a:off x="4336379" y="2358697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子节点</a:t>
                </a:r>
                <a:endParaRPr lang="en-CN" sz="110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B39BCB74-EE59-0C4A-9489-D378189EF76A}"/>
                  </a:ext>
                </a:extLst>
              </p:cNvPr>
              <p:cNvSpPr/>
              <p:nvPr/>
            </p:nvSpPr>
            <p:spPr>
              <a:xfrm>
                <a:off x="4336379" y="2543958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050" dirty="0">
                    <a:solidFill>
                      <a:srgbClr val="000000"/>
                    </a:solidFill>
                  </a:rPr>
                  <a:t>偏移量</a:t>
                </a:r>
                <a:endParaRPr lang="en-CN" sz="1100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508997E-2B60-7340-B8B8-B9C06057DFA6}"/>
                  </a:ext>
                </a:extLst>
              </p:cNvPr>
              <p:cNvSpPr txBox="1"/>
              <p:nvPr/>
            </p:nvSpPr>
            <p:spPr>
              <a:xfrm>
                <a:off x="4202756" y="3748947"/>
                <a:ext cx="861020" cy="293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索引节点</a:t>
                </a:r>
                <a:endParaRPr lang="en-CN" sz="1400" dirty="0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F0DE8195-7BC1-0E4F-AFCE-AD1B90BC90F5}"/>
                  </a:ext>
                </a:extLst>
              </p:cNvPr>
              <p:cNvSpPr/>
              <p:nvPr/>
            </p:nvSpPr>
            <p:spPr>
              <a:xfrm>
                <a:off x="4336378" y="2726576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050" dirty="0"/>
                  <a:t>子节点</a:t>
                </a:r>
                <a:endParaRPr lang="en-CN" sz="1050" dirty="0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CEFD593A-2D82-AE4C-AE11-FC392A07919F}"/>
                  </a:ext>
                </a:extLst>
              </p:cNvPr>
              <p:cNvSpPr/>
              <p:nvPr/>
            </p:nvSpPr>
            <p:spPr>
              <a:xfrm>
                <a:off x="4336378" y="2929508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偏移量</a:t>
                </a:r>
                <a:endParaRPr lang="en-CN" sz="105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46B1403-9E9D-654C-BE94-F49CF6CD4D44}"/>
                  </a:ext>
                </a:extLst>
              </p:cNvPr>
              <p:cNvSpPr/>
              <p:nvPr/>
            </p:nvSpPr>
            <p:spPr>
              <a:xfrm>
                <a:off x="4336378" y="3113528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050" dirty="0"/>
                  <a:t>子节点</a:t>
                </a:r>
                <a:endParaRPr lang="en-CN" sz="1050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FB458DA-BB9A-B141-81F9-9047F6E3FB71}"/>
                  </a:ext>
                </a:extLst>
              </p:cNvPr>
              <p:cNvSpPr/>
              <p:nvPr/>
            </p:nvSpPr>
            <p:spPr>
              <a:xfrm>
                <a:off x="7264966" y="1060873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A48E1B3-2F33-EF4E-BB03-B716FA36FE50}"/>
                  </a:ext>
                </a:extLst>
              </p:cNvPr>
              <p:cNvSpPr/>
              <p:nvPr/>
            </p:nvSpPr>
            <p:spPr>
              <a:xfrm>
                <a:off x="7264965" y="1699339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E4D05BB-3D6A-7440-9616-38CC2D27978A}"/>
                  </a:ext>
                </a:extLst>
              </p:cNvPr>
              <p:cNvSpPr/>
              <p:nvPr/>
            </p:nvSpPr>
            <p:spPr>
              <a:xfrm>
                <a:off x="7264965" y="3178917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cxnSp>
            <p:nvCxnSpPr>
              <p:cNvPr id="78" name="Curved Connector 77">
                <a:extLst>
                  <a:ext uri="{FF2B5EF4-FFF2-40B4-BE49-F238E27FC236}">
                    <a16:creationId xmlns:a16="http://schemas.microsoft.com/office/drawing/2014/main" id="{45927EE9-76AA-F741-BF8E-052ABF014DCC}"/>
                  </a:ext>
                </a:extLst>
              </p:cNvPr>
              <p:cNvCxnSpPr>
                <a:cxnSpLocks/>
                <a:stCxn id="152" idx="3"/>
                <a:endCxn id="75" idx="1"/>
              </p:cNvCxnSpPr>
              <p:nvPr/>
            </p:nvCxnSpPr>
            <p:spPr>
              <a:xfrm flipV="1">
                <a:off x="6495554" y="1271151"/>
                <a:ext cx="769412" cy="328403"/>
              </a:xfrm>
              <a:prstGeom prst="curvedConnector3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urved Connector 78">
                <a:extLst>
                  <a:ext uri="{FF2B5EF4-FFF2-40B4-BE49-F238E27FC236}">
                    <a16:creationId xmlns:a16="http://schemas.microsoft.com/office/drawing/2014/main" id="{CA51F6E8-4CEF-A845-8B05-9B6C85B46A9B}"/>
                  </a:ext>
                </a:extLst>
              </p:cNvPr>
              <p:cNvCxnSpPr>
                <a:cxnSpLocks/>
                <a:stCxn id="144" idx="3"/>
                <a:endCxn id="76" idx="1"/>
              </p:cNvCxnSpPr>
              <p:nvPr/>
            </p:nvCxnSpPr>
            <p:spPr>
              <a:xfrm flipV="1">
                <a:off x="6496751" y="1909617"/>
                <a:ext cx="768214" cy="243747"/>
              </a:xfrm>
              <a:prstGeom prst="curvedConnector3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urved Connector 79">
                <a:extLst>
                  <a:ext uri="{FF2B5EF4-FFF2-40B4-BE49-F238E27FC236}">
                    <a16:creationId xmlns:a16="http://schemas.microsoft.com/office/drawing/2014/main" id="{5F980D62-BC34-D448-B5D2-A857004426DA}"/>
                  </a:ext>
                </a:extLst>
              </p:cNvPr>
              <p:cNvCxnSpPr>
                <a:cxnSpLocks/>
                <a:stCxn id="163" idx="3"/>
                <a:endCxn id="77" idx="1"/>
              </p:cNvCxnSpPr>
              <p:nvPr/>
            </p:nvCxnSpPr>
            <p:spPr>
              <a:xfrm flipV="1">
                <a:off x="6495553" y="3389195"/>
                <a:ext cx="769412" cy="261845"/>
              </a:xfrm>
              <a:prstGeom prst="curvedConnector3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CD16A34-FA47-724D-9283-78AA46D94B5B}"/>
                  </a:ext>
                </a:extLst>
              </p:cNvPr>
              <p:cNvSpPr/>
              <p:nvPr/>
            </p:nvSpPr>
            <p:spPr>
              <a:xfrm>
                <a:off x="7808064" y="1060873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66B733F8-6E66-7B46-9E07-9CCD9D1BBF51}"/>
                  </a:ext>
                </a:extLst>
              </p:cNvPr>
              <p:cNvSpPr/>
              <p:nvPr/>
            </p:nvSpPr>
            <p:spPr>
              <a:xfrm>
                <a:off x="7808063" y="3178917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B9D560A1-D1ED-F542-BD89-3843FC0F348B}"/>
                  </a:ext>
                </a:extLst>
              </p:cNvPr>
              <p:cNvSpPr/>
              <p:nvPr/>
            </p:nvSpPr>
            <p:spPr>
              <a:xfrm>
                <a:off x="8351162" y="1060873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96" name="Right Brace 95">
                <a:extLst>
                  <a:ext uri="{FF2B5EF4-FFF2-40B4-BE49-F238E27FC236}">
                    <a16:creationId xmlns:a16="http://schemas.microsoft.com/office/drawing/2014/main" id="{954B4663-9DCB-E146-A437-D786B13C8DFA}"/>
                  </a:ext>
                </a:extLst>
              </p:cNvPr>
              <p:cNvSpPr/>
              <p:nvPr/>
            </p:nvSpPr>
            <p:spPr>
              <a:xfrm rot="5400000" flipH="1">
                <a:off x="8811922" y="-642556"/>
                <a:ext cx="156474" cy="3250388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E47FA96-4DEC-0E44-B9CD-C937D9A10F75}"/>
                  </a:ext>
                </a:extLst>
              </p:cNvPr>
              <p:cNvSpPr txBox="1"/>
              <p:nvPr/>
            </p:nvSpPr>
            <p:spPr>
              <a:xfrm>
                <a:off x="8557628" y="632977"/>
                <a:ext cx="8715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400" dirty="0"/>
                  <a:t>Extent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3506B632-9468-CE4D-9732-1F72BCB15B86}"/>
                  </a:ext>
                </a:extLst>
              </p:cNvPr>
              <p:cNvSpPr/>
              <p:nvPr/>
            </p:nvSpPr>
            <p:spPr>
              <a:xfrm>
                <a:off x="4336378" y="2164716"/>
                <a:ext cx="671659" cy="37784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6D19856B-A83E-D645-80FB-BF6ECD41C7C2}"/>
                  </a:ext>
                </a:extLst>
              </p:cNvPr>
              <p:cNvSpPr/>
              <p:nvPr/>
            </p:nvSpPr>
            <p:spPr>
              <a:xfrm>
                <a:off x="4336378" y="2541314"/>
                <a:ext cx="671659" cy="37784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6A60BE1-F20E-FD47-9435-C6C3C57DEF85}"/>
                  </a:ext>
                </a:extLst>
              </p:cNvPr>
              <p:cNvSpPr/>
              <p:nvPr/>
            </p:nvSpPr>
            <p:spPr>
              <a:xfrm>
                <a:off x="4334103" y="3307348"/>
                <a:ext cx="671659" cy="37784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5B2EA451-7E29-8049-9EE9-7C654225CF2F}"/>
                  </a:ext>
                </a:extLst>
              </p:cNvPr>
              <p:cNvSpPr/>
              <p:nvPr/>
            </p:nvSpPr>
            <p:spPr>
              <a:xfrm>
                <a:off x="4334104" y="2922311"/>
                <a:ext cx="671659" cy="37784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0B58DC1-1D25-5E42-875C-1CB777BCCAA7}"/>
                  </a:ext>
                </a:extLst>
              </p:cNvPr>
              <p:cNvGrpSpPr/>
              <p:nvPr/>
            </p:nvGrpSpPr>
            <p:grpSpPr>
              <a:xfrm>
                <a:off x="5640814" y="1321774"/>
                <a:ext cx="896399" cy="1865233"/>
                <a:chOff x="5228230" y="1391624"/>
                <a:chExt cx="896399" cy="1865233"/>
              </a:xfrm>
            </p:grpSpPr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86FA9659-B0DE-E04D-A4C1-809FA5CE9138}"/>
                    </a:ext>
                  </a:extLst>
                </p:cNvPr>
                <p:cNvSpPr/>
                <p:nvPr/>
              </p:nvSpPr>
              <p:spPr>
                <a:xfrm>
                  <a:off x="5296292" y="139528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CN" sz="1050" dirty="0"/>
                    <a:t>偏移量</a:t>
                  </a:r>
                  <a:endParaRPr lang="en-CN" sz="1100" dirty="0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A18A6D05-E081-9C47-A43F-E3DF11AA591F}"/>
                    </a:ext>
                  </a:extLst>
                </p:cNvPr>
                <p:cNvSpPr/>
                <p:nvPr/>
              </p:nvSpPr>
              <p:spPr>
                <a:xfrm>
                  <a:off x="5296292" y="1579305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100" dirty="0"/>
                    <a:t>起始块号</a:t>
                  </a:r>
                  <a:endParaRPr lang="en-CN" sz="1100" dirty="0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CAFDA33C-0C7A-9C49-BA97-89FD3316DC9F}"/>
                    </a:ext>
                  </a:extLst>
                </p:cNvPr>
                <p:cNvSpPr/>
                <p:nvPr/>
              </p:nvSpPr>
              <p:spPr>
                <a:xfrm>
                  <a:off x="5296292" y="1764566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050" dirty="0">
                      <a:solidFill>
                        <a:srgbClr val="000000"/>
                      </a:solidFill>
                    </a:rPr>
                    <a:t>长度</a:t>
                  </a:r>
                  <a:endParaRPr lang="en-CN" sz="1100" dirty="0"/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398AE844-AB3D-6549-BAB4-C9D8150493BF}"/>
                    </a:ext>
                  </a:extLst>
                </p:cNvPr>
                <p:cNvSpPr txBox="1"/>
                <p:nvPr/>
              </p:nvSpPr>
              <p:spPr>
                <a:xfrm>
                  <a:off x="5228230" y="2949080"/>
                  <a:ext cx="8963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/>
                    <a:t>叶子节点</a:t>
                  </a:r>
                  <a:endParaRPr lang="en-CN" sz="1400" dirty="0"/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47524A-DF52-6D42-B004-8CF8F1C1C85B}"/>
                    </a:ext>
                  </a:extLst>
                </p:cNvPr>
                <p:cNvSpPr/>
                <p:nvPr/>
              </p:nvSpPr>
              <p:spPr>
                <a:xfrm>
                  <a:off x="5296291" y="194718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/>
                    <a:t>偏移量</a:t>
                  </a:r>
                  <a:endParaRPr lang="en-CN" sz="1100" dirty="0"/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3596E44B-E301-C04A-BF0E-76B7EAA47256}"/>
                    </a:ext>
                  </a:extLst>
                </p:cNvPr>
                <p:cNvSpPr/>
                <p:nvPr/>
              </p:nvSpPr>
              <p:spPr>
                <a:xfrm>
                  <a:off x="5296291" y="213120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lvl="0" algn="ctr"/>
                  <a:r>
                    <a:rPr lang="zh-CN" altLang="en-US" sz="1050" dirty="0">
                      <a:solidFill>
                        <a:srgbClr val="000000"/>
                      </a:solidFill>
                    </a:rPr>
                    <a:t>起始块号</a:t>
                  </a:r>
                  <a:endParaRPr lang="en-CN" sz="11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7F5C8F31-28F9-3640-B89F-7B4FBC2D4C39}"/>
                    </a:ext>
                  </a:extLst>
                </p:cNvPr>
                <p:cNvSpPr/>
                <p:nvPr/>
              </p:nvSpPr>
              <p:spPr>
                <a:xfrm>
                  <a:off x="5296291" y="231522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100" dirty="0"/>
                    <a:t>长度</a:t>
                  </a:r>
                  <a:endParaRPr lang="en-CN" sz="1100" dirty="0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BB9CCFA1-B4B9-354C-8A3F-C2EF1D5F0DA5}"/>
                    </a:ext>
                  </a:extLst>
                </p:cNvPr>
                <p:cNvSpPr/>
                <p:nvPr/>
              </p:nvSpPr>
              <p:spPr>
                <a:xfrm>
                  <a:off x="5295094" y="1391624"/>
                  <a:ext cx="787876" cy="5555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endParaRPr lang="en-CN" sz="1100" dirty="0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12BAC1E-4295-EE41-AA54-A7C325DFEBFF}"/>
                    </a:ext>
                  </a:extLst>
                </p:cNvPr>
                <p:cNvSpPr/>
                <p:nvPr/>
              </p:nvSpPr>
              <p:spPr>
                <a:xfrm>
                  <a:off x="5293896" y="1947183"/>
                  <a:ext cx="787876" cy="5555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endParaRPr lang="en-CN" sz="1100" dirty="0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D89047FE-CACF-D249-A936-F584D466685A}"/>
                    </a:ext>
                  </a:extLst>
                </p:cNvPr>
                <p:cNvSpPr/>
                <p:nvPr/>
              </p:nvSpPr>
              <p:spPr>
                <a:xfrm>
                  <a:off x="5293896" y="2510958"/>
                  <a:ext cx="787876" cy="438121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1100" dirty="0"/>
                    <a:t>…</a:t>
                  </a:r>
                  <a:endParaRPr lang="en-CN" sz="1100" dirty="0"/>
                </a:p>
              </p:txBody>
            </p:sp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0F63A9E2-2257-2941-B0EB-1C3A8E5D332D}"/>
                  </a:ext>
                </a:extLst>
              </p:cNvPr>
              <p:cNvGrpSpPr/>
              <p:nvPr/>
            </p:nvGrpSpPr>
            <p:grpSpPr>
              <a:xfrm>
                <a:off x="5640813" y="3373260"/>
                <a:ext cx="896399" cy="1865233"/>
                <a:chOff x="5228230" y="1391624"/>
                <a:chExt cx="896399" cy="1865233"/>
              </a:xfrm>
            </p:grpSpPr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2507C0D8-1357-4D41-8EB8-C72FD952CAA1}"/>
                    </a:ext>
                  </a:extLst>
                </p:cNvPr>
                <p:cNvSpPr/>
                <p:nvPr/>
              </p:nvSpPr>
              <p:spPr>
                <a:xfrm>
                  <a:off x="5296292" y="139528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CN" sz="1050" dirty="0"/>
                    <a:t>偏移量</a:t>
                  </a:r>
                  <a:endParaRPr lang="en-CN" sz="1100" dirty="0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EBFF99F3-5D4D-D24C-8C42-6F5F37A6E8F2}"/>
                    </a:ext>
                  </a:extLst>
                </p:cNvPr>
                <p:cNvSpPr/>
                <p:nvPr/>
              </p:nvSpPr>
              <p:spPr>
                <a:xfrm>
                  <a:off x="5296292" y="1579305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100" dirty="0"/>
                    <a:t>起始块号</a:t>
                  </a:r>
                  <a:endParaRPr lang="en-CN" sz="1100" dirty="0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74A60234-CF03-C144-9B8C-36C8C3DD1221}"/>
                    </a:ext>
                  </a:extLst>
                </p:cNvPr>
                <p:cNvSpPr/>
                <p:nvPr/>
              </p:nvSpPr>
              <p:spPr>
                <a:xfrm>
                  <a:off x="5296292" y="1764566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050" dirty="0">
                      <a:solidFill>
                        <a:srgbClr val="000000"/>
                      </a:solidFill>
                    </a:rPr>
                    <a:t>长度</a:t>
                  </a:r>
                  <a:endParaRPr lang="en-CN" sz="1100" dirty="0"/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87F6DE00-6010-D147-9558-8063332774D4}"/>
                    </a:ext>
                  </a:extLst>
                </p:cNvPr>
                <p:cNvSpPr txBox="1"/>
                <p:nvPr/>
              </p:nvSpPr>
              <p:spPr>
                <a:xfrm>
                  <a:off x="5228230" y="2949080"/>
                  <a:ext cx="8963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/>
                    <a:t>叶子节点</a:t>
                  </a:r>
                  <a:endParaRPr lang="en-CN" sz="1400" dirty="0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F206BA2F-B4D3-F44B-B86E-BC08A57010AB}"/>
                    </a:ext>
                  </a:extLst>
                </p:cNvPr>
                <p:cNvSpPr/>
                <p:nvPr/>
              </p:nvSpPr>
              <p:spPr>
                <a:xfrm>
                  <a:off x="5296291" y="194718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/>
                    <a:t>偏移量</a:t>
                  </a:r>
                  <a:endParaRPr lang="en-CN" sz="1100" dirty="0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F0E92B68-8048-5F43-B577-F6396A3CB890}"/>
                    </a:ext>
                  </a:extLst>
                </p:cNvPr>
                <p:cNvSpPr/>
                <p:nvPr/>
              </p:nvSpPr>
              <p:spPr>
                <a:xfrm>
                  <a:off x="5296291" y="213120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lvl="0" algn="ctr"/>
                  <a:r>
                    <a:rPr lang="zh-CN" altLang="en-US" sz="1050" dirty="0">
                      <a:solidFill>
                        <a:srgbClr val="000000"/>
                      </a:solidFill>
                    </a:rPr>
                    <a:t>起始块号</a:t>
                  </a:r>
                  <a:endParaRPr lang="en-CN" sz="11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74207A35-961F-9A4A-9A10-8511A12D8ED1}"/>
                    </a:ext>
                  </a:extLst>
                </p:cNvPr>
                <p:cNvSpPr/>
                <p:nvPr/>
              </p:nvSpPr>
              <p:spPr>
                <a:xfrm>
                  <a:off x="5296291" y="231522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100" dirty="0"/>
                    <a:t>长度</a:t>
                  </a:r>
                  <a:endParaRPr lang="en-CN" sz="1100" dirty="0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B4CCF6F7-9E7D-E540-AC01-1F43F5E96699}"/>
                    </a:ext>
                  </a:extLst>
                </p:cNvPr>
                <p:cNvSpPr/>
                <p:nvPr/>
              </p:nvSpPr>
              <p:spPr>
                <a:xfrm>
                  <a:off x="5295094" y="1391624"/>
                  <a:ext cx="787876" cy="5555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endParaRPr lang="en-CN" sz="1100" dirty="0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66269361-629F-704B-8021-6DC9B4687D43}"/>
                    </a:ext>
                  </a:extLst>
                </p:cNvPr>
                <p:cNvSpPr/>
                <p:nvPr/>
              </p:nvSpPr>
              <p:spPr>
                <a:xfrm>
                  <a:off x="5293896" y="1947183"/>
                  <a:ext cx="787876" cy="5555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endParaRPr lang="en-CN" sz="1100" dirty="0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A79602EB-574B-884D-9C7D-6FC089B34B79}"/>
                    </a:ext>
                  </a:extLst>
                </p:cNvPr>
                <p:cNvSpPr/>
                <p:nvPr/>
              </p:nvSpPr>
              <p:spPr>
                <a:xfrm>
                  <a:off x="5293896" y="2510958"/>
                  <a:ext cx="787876" cy="438121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1100" dirty="0"/>
                    <a:t>…</a:t>
                  </a:r>
                  <a:endParaRPr lang="en-CN" sz="1100" dirty="0"/>
                </a:p>
              </p:txBody>
            </p:sp>
          </p:grpSp>
          <p:cxnSp>
            <p:nvCxnSpPr>
              <p:cNvPr id="166" name="Curved Connector 165">
                <a:extLst>
                  <a:ext uri="{FF2B5EF4-FFF2-40B4-BE49-F238E27FC236}">
                    <a16:creationId xmlns:a16="http://schemas.microsoft.com/office/drawing/2014/main" id="{54BF6B9A-87E0-8742-B69B-9BEFD963774B}"/>
                  </a:ext>
                </a:extLst>
              </p:cNvPr>
              <p:cNvCxnSpPr>
                <a:cxnSpLocks/>
                <a:stCxn id="84" idx="3"/>
                <a:endCxn id="139" idx="1"/>
              </p:cNvCxnSpPr>
              <p:nvPr/>
            </p:nvCxnSpPr>
            <p:spPr>
              <a:xfrm flipV="1">
                <a:off x="5008038" y="1417444"/>
                <a:ext cx="700838" cy="1033263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urved Connector 166">
                <a:extLst>
                  <a:ext uri="{FF2B5EF4-FFF2-40B4-BE49-F238E27FC236}">
                    <a16:creationId xmlns:a16="http://schemas.microsoft.com/office/drawing/2014/main" id="{78C72028-2144-DD43-AFFF-FA3EAFE088B0}"/>
                  </a:ext>
                </a:extLst>
              </p:cNvPr>
              <p:cNvCxnSpPr>
                <a:cxnSpLocks/>
                <a:stCxn id="87" idx="3"/>
                <a:endCxn id="156" idx="1"/>
              </p:cNvCxnSpPr>
              <p:nvPr/>
            </p:nvCxnSpPr>
            <p:spPr>
              <a:xfrm>
                <a:off x="5008037" y="2818586"/>
                <a:ext cx="700838" cy="650344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A2C5F42-C0E4-C745-ABE2-8EF5604BAD78}"/>
                  </a:ext>
                </a:extLst>
              </p:cNvPr>
              <p:cNvSpPr txBox="1"/>
              <p:nvPr/>
            </p:nvSpPr>
            <p:spPr>
              <a:xfrm>
                <a:off x="7328765" y="2481475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en-CN" dirty="0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2A8A658C-322B-E848-8156-7FB767AF4BFF}"/>
                  </a:ext>
                </a:extLst>
              </p:cNvPr>
              <p:cNvSpPr/>
              <p:nvPr/>
            </p:nvSpPr>
            <p:spPr>
              <a:xfrm>
                <a:off x="7264965" y="4548295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EAB124F-01D8-7541-B42F-361A932A35C0}"/>
                  </a:ext>
                </a:extLst>
              </p:cNvPr>
              <p:cNvSpPr/>
              <p:nvPr/>
            </p:nvSpPr>
            <p:spPr>
              <a:xfrm>
                <a:off x="7808063" y="4548295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AE368C5-65B2-084E-924F-B7DFBD35A9DB}"/>
                  </a:ext>
                </a:extLst>
              </p:cNvPr>
              <p:cNvSpPr/>
              <p:nvPr/>
            </p:nvSpPr>
            <p:spPr>
              <a:xfrm>
                <a:off x="8351161" y="4548295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cxnSp>
            <p:nvCxnSpPr>
              <p:cNvPr id="176" name="Curved Connector 175">
                <a:extLst>
                  <a:ext uri="{FF2B5EF4-FFF2-40B4-BE49-F238E27FC236}">
                    <a16:creationId xmlns:a16="http://schemas.microsoft.com/office/drawing/2014/main" id="{76276B9B-4062-8E4C-8ACC-0F83CDB00EDB}"/>
                  </a:ext>
                </a:extLst>
              </p:cNvPr>
              <p:cNvCxnSpPr>
                <a:cxnSpLocks/>
                <a:stCxn id="161" idx="3"/>
                <a:endCxn id="172" idx="1"/>
              </p:cNvCxnSpPr>
              <p:nvPr/>
            </p:nvCxnSpPr>
            <p:spPr>
              <a:xfrm>
                <a:off x="6496750" y="4204850"/>
                <a:ext cx="768215" cy="553723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9CA008-0FA3-ED43-BBF1-6E85CA04DBE3}"/>
                </a:ext>
              </a:extLst>
            </p:cNvPr>
            <p:cNvSpPr/>
            <p:nvPr/>
          </p:nvSpPr>
          <p:spPr>
            <a:xfrm>
              <a:off x="5200045" y="4726782"/>
              <a:ext cx="1612028" cy="4381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4F8F1AF-70E2-4047-A91E-E39935BC2ADC}"/>
                </a:ext>
              </a:extLst>
            </p:cNvPr>
            <p:cNvSpPr/>
            <p:nvPr/>
          </p:nvSpPr>
          <p:spPr>
            <a:xfrm>
              <a:off x="6812452" y="124814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B2F8124-54E5-7D4F-AB9E-776C58881345}"/>
                </a:ext>
              </a:extLst>
            </p:cNvPr>
            <p:cNvSpPr/>
            <p:nvPr/>
          </p:nvSpPr>
          <p:spPr>
            <a:xfrm>
              <a:off x="7355550" y="124814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9FC759F-BB4A-3745-96B0-AB229EE4BCB1}"/>
                </a:ext>
              </a:extLst>
            </p:cNvPr>
            <p:cNvSpPr/>
            <p:nvPr/>
          </p:nvSpPr>
          <p:spPr>
            <a:xfrm>
              <a:off x="7898648" y="124814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652BC48-CBD8-5744-82F2-B12006122F93}"/>
                </a:ext>
              </a:extLst>
            </p:cNvPr>
            <p:cNvSpPr/>
            <p:nvPr/>
          </p:nvSpPr>
          <p:spPr>
            <a:xfrm>
              <a:off x="5200045" y="1234530"/>
              <a:ext cx="3258590" cy="4381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05BD11-4795-B045-8BC9-B80CF4345CBE}"/>
                </a:ext>
              </a:extLst>
            </p:cNvPr>
            <p:cNvSpPr/>
            <p:nvPr/>
          </p:nvSpPr>
          <p:spPr>
            <a:xfrm>
              <a:off x="5734458" y="188925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FCB7E8B-93A8-DB42-BC76-FD84303B72BD}"/>
                </a:ext>
              </a:extLst>
            </p:cNvPr>
            <p:cNvSpPr/>
            <p:nvPr/>
          </p:nvSpPr>
          <p:spPr>
            <a:xfrm>
              <a:off x="6277556" y="188925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A7CCEB8-D65F-1248-9C5F-7090026CBF6B}"/>
                </a:ext>
              </a:extLst>
            </p:cNvPr>
            <p:cNvSpPr/>
            <p:nvPr/>
          </p:nvSpPr>
          <p:spPr>
            <a:xfrm>
              <a:off x="6820654" y="188925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B6D164D-6DCA-0640-A321-BF09F9F2F027}"/>
                </a:ext>
              </a:extLst>
            </p:cNvPr>
            <p:cNvSpPr/>
            <p:nvPr/>
          </p:nvSpPr>
          <p:spPr>
            <a:xfrm>
              <a:off x="5183142" y="1891712"/>
              <a:ext cx="2179645" cy="4381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8FC91D7-6FD2-264A-95F2-D60BC82A3820}"/>
                </a:ext>
              </a:extLst>
            </p:cNvPr>
            <p:cNvSpPr/>
            <p:nvPr/>
          </p:nvSpPr>
          <p:spPr>
            <a:xfrm>
              <a:off x="6273455" y="336618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80DB188-ADD2-2843-B57A-1C32F78F7C3A}"/>
                </a:ext>
              </a:extLst>
            </p:cNvPr>
            <p:cNvSpPr/>
            <p:nvPr/>
          </p:nvSpPr>
          <p:spPr>
            <a:xfrm>
              <a:off x="6816553" y="336618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25C03F2-043B-DB4D-A3F2-1F8A7DFC0F5B}"/>
                </a:ext>
              </a:extLst>
            </p:cNvPr>
            <p:cNvSpPr/>
            <p:nvPr/>
          </p:nvSpPr>
          <p:spPr>
            <a:xfrm>
              <a:off x="7359651" y="336618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198F3D6-AD9A-7341-8AEE-108D684DBAB8}"/>
                </a:ext>
              </a:extLst>
            </p:cNvPr>
            <p:cNvSpPr/>
            <p:nvPr/>
          </p:nvSpPr>
          <p:spPr>
            <a:xfrm>
              <a:off x="5197507" y="3357404"/>
              <a:ext cx="2701141" cy="4381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6426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Ext2</a:t>
            </a:r>
            <a:r>
              <a:rPr lang="zh-CN" altLang="en-US" dirty="0"/>
              <a:t>的</a:t>
            </a:r>
            <a:r>
              <a:rPr lang="zh-CN" altLang="en-CN" dirty="0"/>
              <a:t>目录</a:t>
            </a:r>
            <a:r>
              <a:rPr lang="zh-CN" altLang="en-US" dirty="0"/>
              <a:t>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93077-CAC4-D343-801D-D0335D0925A2}"/>
              </a:ext>
            </a:extLst>
          </p:cNvPr>
          <p:cNvSpPr txBox="1"/>
          <p:nvPr/>
        </p:nvSpPr>
        <p:spPr>
          <a:xfrm>
            <a:off x="5434954" y="2070964"/>
            <a:ext cx="3251846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struct ext2_dir_entry {</a:t>
            </a:r>
          </a:p>
          <a:p>
            <a:r>
              <a:rPr lang="en-US" sz="1100" dirty="0">
                <a:latin typeface="Courier" pitchFamily="2" charset="0"/>
              </a:rPr>
              <a:t>  __le32 </a:t>
            </a:r>
            <a:r>
              <a:rPr lang="en-US" sz="1100" dirty="0" err="1">
                <a:latin typeface="Courier" pitchFamily="2" charset="0"/>
              </a:rPr>
              <a:t>inode</a:t>
            </a:r>
            <a:r>
              <a:rPr lang="en-US" sz="1100" dirty="0">
                <a:latin typeface="Courier" pitchFamily="2" charset="0"/>
              </a:rPr>
              <a:t>;	/* </a:t>
            </a:r>
            <a:r>
              <a:rPr lang="en-US" altLang="zh-CN" sz="1100" dirty="0" err="1">
                <a:latin typeface="Courier" pitchFamily="2" charset="0"/>
              </a:rPr>
              <a:t>i</a:t>
            </a:r>
            <a:r>
              <a:rPr lang="en-US" sz="1100" dirty="0" err="1">
                <a:latin typeface="Courier" pitchFamily="2" charset="0"/>
              </a:rPr>
              <a:t>node</a:t>
            </a:r>
            <a:r>
              <a:rPr lang="zh-CN" altLang="en-US" sz="1100" dirty="0">
                <a:latin typeface="Courier" pitchFamily="2" charset="0"/>
              </a:rPr>
              <a:t> 号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en-US" sz="1100" dirty="0">
                <a:latin typeface="Courier" pitchFamily="2" charset="0"/>
              </a:rPr>
              <a:t>  __le16 </a:t>
            </a:r>
            <a:r>
              <a:rPr lang="en-US" sz="1100" dirty="0" err="1">
                <a:latin typeface="Courier" pitchFamily="2" charset="0"/>
              </a:rPr>
              <a:t>rec_len</a:t>
            </a:r>
            <a:r>
              <a:rPr lang="en-US" sz="1100" dirty="0">
                <a:latin typeface="Courier" pitchFamily="2" charset="0"/>
              </a:rPr>
              <a:t>;	/* </a:t>
            </a:r>
            <a:r>
              <a:rPr lang="zh-CN" altLang="en-US" sz="1100" dirty="0">
                <a:latin typeface="Courier" pitchFamily="2" charset="0"/>
              </a:rPr>
              <a:t>目录项长度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en-US" sz="1100" dirty="0">
                <a:latin typeface="Courier" pitchFamily="2" charset="0"/>
              </a:rPr>
              <a:t>  __le16 </a:t>
            </a:r>
            <a:r>
              <a:rPr lang="en-US" sz="1100" dirty="0" err="1">
                <a:latin typeface="Courier" pitchFamily="2" charset="0"/>
              </a:rPr>
              <a:t>name_len</a:t>
            </a:r>
            <a:r>
              <a:rPr lang="en-US" sz="1100" dirty="0">
                <a:latin typeface="Courier" pitchFamily="2" charset="0"/>
              </a:rPr>
              <a:t>;	/* </a:t>
            </a:r>
            <a:r>
              <a:rPr lang="zh-CN" altLang="en-US" sz="1100" dirty="0">
                <a:latin typeface="Courier" pitchFamily="2" charset="0"/>
              </a:rPr>
              <a:t>文件名长度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en-US" sz="1100" dirty="0">
                <a:latin typeface="Courier" pitchFamily="2" charset="0"/>
              </a:rPr>
              <a:t>  char   name[];	/* </a:t>
            </a:r>
            <a:r>
              <a:rPr lang="zh-CN" altLang="en-US" sz="1100" dirty="0">
                <a:latin typeface="Courier" pitchFamily="2" charset="0"/>
              </a:rPr>
              <a:t>文件名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en-US" sz="1100" dirty="0">
                <a:latin typeface="Courier" pitchFamily="2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86484-453D-9743-AFE0-E5461E825E6F}"/>
              </a:ext>
            </a:extLst>
          </p:cNvPr>
          <p:cNvSpPr txBox="1"/>
          <p:nvPr/>
        </p:nvSpPr>
        <p:spPr>
          <a:xfrm>
            <a:off x="6250398" y="319492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/>
              <a:t>Ext2</a:t>
            </a:r>
            <a:r>
              <a:rPr lang="zh-CN" altLang="en-US" sz="1400" dirty="0"/>
              <a:t>的</a:t>
            </a:r>
            <a:r>
              <a:rPr lang="zh-CN" altLang="en-CN" sz="1400" dirty="0"/>
              <a:t>目录项</a:t>
            </a:r>
            <a:r>
              <a:rPr lang="zh-CN" altLang="en-US" sz="1400" dirty="0"/>
              <a:t>结构</a:t>
            </a:r>
            <a:endParaRPr lang="en-CN" sz="14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89F296F-4F1D-3242-B8A8-47736A969927}"/>
              </a:ext>
            </a:extLst>
          </p:cNvPr>
          <p:cNvGrpSpPr/>
          <p:nvPr/>
        </p:nvGrpSpPr>
        <p:grpSpPr>
          <a:xfrm>
            <a:off x="539750" y="4535050"/>
            <a:ext cx="3021349" cy="270185"/>
            <a:chOff x="461955" y="4029856"/>
            <a:chExt cx="3021349" cy="27018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9DEF92-E683-F640-87F7-B84A4D32AFE5}"/>
                </a:ext>
              </a:extLst>
            </p:cNvPr>
            <p:cNvSpPr/>
            <p:nvPr/>
          </p:nvSpPr>
          <p:spPr>
            <a:xfrm>
              <a:off x="461955" y="4029856"/>
              <a:ext cx="388253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/>
                <a:t>ino</a:t>
              </a:r>
              <a:endParaRPr lang="en-CN" sz="9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4F27431-27D6-8D46-8D22-C58B9E79A040}"/>
                </a:ext>
              </a:extLst>
            </p:cNvPr>
            <p:cNvSpPr/>
            <p:nvPr/>
          </p:nvSpPr>
          <p:spPr>
            <a:xfrm>
              <a:off x="1364971" y="4029856"/>
              <a:ext cx="1367906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900" dirty="0"/>
                <a:t>文件名</a:t>
              </a:r>
              <a:endParaRPr lang="en-CN" sz="9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7BACE2F-2C99-2843-B533-7092B2BBD245}"/>
                </a:ext>
              </a:extLst>
            </p:cNvPr>
            <p:cNvSpPr/>
            <p:nvPr/>
          </p:nvSpPr>
          <p:spPr>
            <a:xfrm>
              <a:off x="850208" y="4029856"/>
              <a:ext cx="259819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CN" sz="900" dirty="0"/>
                <a:t>rl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9C74785-BDC0-AF4F-98E7-908753BB7F90}"/>
                </a:ext>
              </a:extLst>
            </p:cNvPr>
            <p:cNvSpPr/>
            <p:nvPr/>
          </p:nvSpPr>
          <p:spPr>
            <a:xfrm>
              <a:off x="1106234" y="4029856"/>
              <a:ext cx="259820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900" dirty="0" err="1"/>
                <a:t>nl</a:t>
              </a:r>
              <a:endParaRPr lang="en-CN" sz="9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D24069-3D68-9344-A805-FAECD58CA46F}"/>
                </a:ext>
              </a:extLst>
            </p:cNvPr>
            <p:cNvSpPr/>
            <p:nvPr/>
          </p:nvSpPr>
          <p:spPr>
            <a:xfrm>
              <a:off x="2732877" y="4029856"/>
              <a:ext cx="750427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 dirty="0"/>
            </a:p>
          </p:txBody>
        </p:sp>
      </p:grpSp>
      <p:sp>
        <p:nvSpPr>
          <p:cNvPr id="41" name="Right Brace 40">
            <a:extLst>
              <a:ext uri="{FF2B5EF4-FFF2-40B4-BE49-F238E27FC236}">
                <a16:creationId xmlns:a16="http://schemas.microsoft.com/office/drawing/2014/main" id="{6A157428-DA2C-CF4E-B11F-52A85E22C9DE}"/>
              </a:ext>
            </a:extLst>
          </p:cNvPr>
          <p:cNvSpPr/>
          <p:nvPr/>
        </p:nvSpPr>
        <p:spPr>
          <a:xfrm rot="5400000">
            <a:off x="1950295" y="3423706"/>
            <a:ext cx="200260" cy="3021349"/>
          </a:xfrm>
          <a:prstGeom prst="rightBrace">
            <a:avLst>
              <a:gd name="adj1" fmla="val 3472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9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D10451-5EE3-BF4C-8F51-205838A25BC3}"/>
              </a:ext>
            </a:extLst>
          </p:cNvPr>
          <p:cNvSpPr txBox="1"/>
          <p:nvPr/>
        </p:nvSpPr>
        <p:spPr>
          <a:xfrm>
            <a:off x="1637491" y="510408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目录项长度</a:t>
            </a:r>
            <a:endParaRPr lang="en-CN" sz="10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7582AD-DCA8-E94B-AA68-E06CFB5D3E48}"/>
              </a:ext>
            </a:extLst>
          </p:cNvPr>
          <p:cNvSpPr/>
          <p:nvPr/>
        </p:nvSpPr>
        <p:spPr>
          <a:xfrm>
            <a:off x="3561099" y="4535049"/>
            <a:ext cx="388253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ino</a:t>
            </a:r>
            <a:endParaRPr lang="en-CN" sz="9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F22530-D46B-7C45-91C2-CDBE53D3286F}"/>
              </a:ext>
            </a:extLst>
          </p:cNvPr>
          <p:cNvSpPr/>
          <p:nvPr/>
        </p:nvSpPr>
        <p:spPr>
          <a:xfrm>
            <a:off x="4464115" y="4535049"/>
            <a:ext cx="684767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900" dirty="0"/>
              <a:t>文件名</a:t>
            </a:r>
            <a:endParaRPr lang="en-CN" sz="9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C8EFFE5-E24D-1645-A61D-ECBD88CDB40C}"/>
              </a:ext>
            </a:extLst>
          </p:cNvPr>
          <p:cNvSpPr/>
          <p:nvPr/>
        </p:nvSpPr>
        <p:spPr>
          <a:xfrm>
            <a:off x="3949352" y="4535049"/>
            <a:ext cx="259819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900" dirty="0"/>
              <a:t>rl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43C1BBA-03EE-B948-BA4A-18E39EB2F74E}"/>
              </a:ext>
            </a:extLst>
          </p:cNvPr>
          <p:cNvSpPr/>
          <p:nvPr/>
        </p:nvSpPr>
        <p:spPr>
          <a:xfrm>
            <a:off x="4205378" y="4535049"/>
            <a:ext cx="259820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900" dirty="0" err="1"/>
              <a:t>nl</a:t>
            </a:r>
            <a:endParaRPr lang="en-CN" sz="9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607928-1207-6E42-8C49-6F968310CA02}"/>
              </a:ext>
            </a:extLst>
          </p:cNvPr>
          <p:cNvSpPr/>
          <p:nvPr/>
        </p:nvSpPr>
        <p:spPr>
          <a:xfrm>
            <a:off x="5148882" y="4536324"/>
            <a:ext cx="388253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ino</a:t>
            </a:r>
            <a:endParaRPr lang="en-CN" sz="9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161579-CCCC-E44B-BCED-2B8B70E08C2B}"/>
              </a:ext>
            </a:extLst>
          </p:cNvPr>
          <p:cNvSpPr/>
          <p:nvPr/>
        </p:nvSpPr>
        <p:spPr>
          <a:xfrm>
            <a:off x="6051898" y="4536324"/>
            <a:ext cx="1211525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E34EDC-383F-1E48-AC3D-EF7D0BF83BC9}"/>
              </a:ext>
            </a:extLst>
          </p:cNvPr>
          <p:cNvSpPr/>
          <p:nvPr/>
        </p:nvSpPr>
        <p:spPr>
          <a:xfrm>
            <a:off x="5537135" y="4536324"/>
            <a:ext cx="259819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900" dirty="0"/>
              <a:t>rl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1FC6C9-CA02-DF4A-855E-3D6322A86D43}"/>
              </a:ext>
            </a:extLst>
          </p:cNvPr>
          <p:cNvSpPr/>
          <p:nvPr/>
        </p:nvSpPr>
        <p:spPr>
          <a:xfrm>
            <a:off x="5793161" y="4536324"/>
            <a:ext cx="259820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900" dirty="0" err="1"/>
              <a:t>nl</a:t>
            </a:r>
            <a:endParaRPr lang="en-CN" sz="9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E64369-1AE4-4246-BAFA-E21A1860804B}"/>
              </a:ext>
            </a:extLst>
          </p:cNvPr>
          <p:cNvSpPr/>
          <p:nvPr/>
        </p:nvSpPr>
        <p:spPr>
          <a:xfrm>
            <a:off x="7266132" y="4535049"/>
            <a:ext cx="388253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ino</a:t>
            </a:r>
            <a:endParaRPr lang="en-CN" sz="9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810E780-3380-F846-A988-0995CDDC7A59}"/>
              </a:ext>
            </a:extLst>
          </p:cNvPr>
          <p:cNvSpPr/>
          <p:nvPr/>
        </p:nvSpPr>
        <p:spPr>
          <a:xfrm>
            <a:off x="8169148" y="4535049"/>
            <a:ext cx="837167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900" dirty="0"/>
              <a:t>文件名</a:t>
            </a:r>
            <a:endParaRPr lang="en-CN" sz="9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C6378DC-2E5F-B245-9C0B-86B7B6F4BC41}"/>
              </a:ext>
            </a:extLst>
          </p:cNvPr>
          <p:cNvSpPr/>
          <p:nvPr/>
        </p:nvSpPr>
        <p:spPr>
          <a:xfrm>
            <a:off x="7654385" y="4535049"/>
            <a:ext cx="259819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900" dirty="0"/>
              <a:t>rl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403144-6045-C24E-B63D-68ED2981E769}"/>
              </a:ext>
            </a:extLst>
          </p:cNvPr>
          <p:cNvSpPr/>
          <p:nvPr/>
        </p:nvSpPr>
        <p:spPr>
          <a:xfrm>
            <a:off x="7910411" y="4535049"/>
            <a:ext cx="259820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900" dirty="0" err="1"/>
              <a:t>nl</a:t>
            </a:r>
            <a:endParaRPr lang="en-CN" sz="9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B2D02DB-2F1B-CE4F-9A43-1DE276802C23}"/>
              </a:ext>
            </a:extLst>
          </p:cNvPr>
          <p:cNvSpPr/>
          <p:nvPr/>
        </p:nvSpPr>
        <p:spPr>
          <a:xfrm>
            <a:off x="539000" y="4532669"/>
            <a:ext cx="3019390" cy="27018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1A23D94-302F-814C-98D0-ABD86375EB31}"/>
              </a:ext>
            </a:extLst>
          </p:cNvPr>
          <p:cNvSpPr/>
          <p:nvPr/>
        </p:nvSpPr>
        <p:spPr>
          <a:xfrm>
            <a:off x="7266131" y="4530622"/>
            <a:ext cx="1740183" cy="27018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1AAB529-C5FA-144E-ABDD-0F8D095C65BA}"/>
              </a:ext>
            </a:extLst>
          </p:cNvPr>
          <p:cNvSpPr/>
          <p:nvPr/>
        </p:nvSpPr>
        <p:spPr>
          <a:xfrm>
            <a:off x="3555885" y="4530622"/>
            <a:ext cx="1590288" cy="27018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4B5A2E-1A63-DE43-8293-2001FCEAF50D}"/>
              </a:ext>
            </a:extLst>
          </p:cNvPr>
          <p:cNvSpPr/>
          <p:nvPr/>
        </p:nvSpPr>
        <p:spPr>
          <a:xfrm>
            <a:off x="5142854" y="4530622"/>
            <a:ext cx="2123278" cy="27018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14A6DE-9C51-5C4B-9BC3-53C7C6D77D59}"/>
              </a:ext>
            </a:extLst>
          </p:cNvPr>
          <p:cNvSpPr txBox="1"/>
          <p:nvPr/>
        </p:nvSpPr>
        <p:spPr>
          <a:xfrm>
            <a:off x="493197" y="3916121"/>
            <a:ext cx="5113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Ext2</a:t>
            </a:r>
            <a:r>
              <a:rPr lang="zh-CN" altLang="en-US" dirty="0"/>
              <a:t>的目录</a:t>
            </a:r>
            <a:r>
              <a:rPr lang="zh-CN" altLang="en-CN" dirty="0"/>
              <a:t>复用</a:t>
            </a:r>
            <a:r>
              <a:rPr lang="zh-CN" altLang="en-US" dirty="0"/>
              <a:t>常规文件格式，目录项连续存放</a:t>
            </a:r>
            <a:endParaRPr lang="en-CN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180DB09-16EF-8446-9C59-32CC9C280C63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目录：内容为一组</a:t>
            </a:r>
            <a:r>
              <a:rPr lang="zh-CN" altLang="en-US" dirty="0"/>
              <a:t>目录项</a:t>
            </a:r>
            <a:r>
              <a:rPr lang="zh-CN" altLang="en-US" b="0" dirty="0"/>
              <a:t>的</a:t>
            </a:r>
            <a:r>
              <a:rPr lang="zh-CN" altLang="en-CN" b="0" dirty="0"/>
              <a:t>特殊</a:t>
            </a:r>
            <a:r>
              <a:rPr lang="zh-CN" altLang="en-US" b="0" dirty="0"/>
              <a:t>文件</a:t>
            </a:r>
            <a:endParaRPr lang="en-US" altLang="zh-CN" b="0" dirty="0"/>
          </a:p>
          <a:p>
            <a:r>
              <a:rPr lang="zh-CN" altLang="en-US" b="0" dirty="0"/>
              <a:t>目录项</a:t>
            </a:r>
            <a:endParaRPr lang="en-US" altLang="zh-CN" b="0" dirty="0"/>
          </a:p>
          <a:p>
            <a:pPr lvl="1"/>
            <a:r>
              <a:rPr lang="zh-CN" altLang="en-US" dirty="0"/>
              <a:t>文件名</a:t>
            </a:r>
            <a:r>
              <a:rPr lang="en-US" altLang="zh-CN" dirty="0"/>
              <a:t>+</a:t>
            </a:r>
            <a:r>
              <a:rPr lang="zh-CN" altLang="en-US" dirty="0"/>
              <a:t>对应文件的</a:t>
            </a:r>
            <a:r>
              <a:rPr lang="en-US" altLang="zh-CN" dirty="0" err="1"/>
              <a:t>inode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“</a:t>
            </a:r>
            <a:r>
              <a:rPr lang="en-US" altLang="zh-CN" dirty="0"/>
              <a:t>.</a:t>
            </a:r>
            <a:r>
              <a:rPr lang="zh-CN" altLang="en-US" dirty="0"/>
              <a:t>”表示当前目录</a:t>
            </a:r>
            <a:endParaRPr lang="en-US" altLang="zh-CN" dirty="0"/>
          </a:p>
          <a:p>
            <a:pPr lvl="1"/>
            <a:r>
              <a:rPr lang="zh-CN" altLang="en-US" dirty="0"/>
              <a:t>“</a:t>
            </a:r>
            <a:r>
              <a:rPr lang="en-US" altLang="zh-CN" dirty="0"/>
              <a:t>..</a:t>
            </a:r>
            <a:r>
              <a:rPr lang="zh-CN" altLang="en-US" dirty="0"/>
              <a:t>”表示父目录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222356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C315-ABF5-1742-B519-6BD6C097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其他</a:t>
            </a:r>
            <a:r>
              <a:rPr lang="zh-CN" altLang="en-US" dirty="0"/>
              <a:t>常见的</a:t>
            </a:r>
            <a:r>
              <a:rPr lang="zh-CN" altLang="en-CN" dirty="0"/>
              <a:t>文件</a:t>
            </a:r>
            <a:r>
              <a:rPr lang="zh-CN" altLang="en-US" dirty="0"/>
              <a:t>类型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ADCDB-7AFC-DF48-B098-02A234608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字符</a:t>
            </a:r>
            <a:r>
              <a:rPr lang="en-US" altLang="zh-CN" dirty="0"/>
              <a:t>/</a:t>
            </a:r>
            <a:r>
              <a:rPr lang="zh-CN" altLang="en-US" dirty="0"/>
              <a:t>块</a:t>
            </a:r>
            <a:r>
              <a:rPr lang="zh-CN" altLang="en-CN" dirty="0"/>
              <a:t>设备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主要记录设备的</a:t>
            </a:r>
            <a:r>
              <a:rPr lang="en-US" altLang="zh-CN" dirty="0"/>
              <a:t>Major</a:t>
            </a:r>
            <a:r>
              <a:rPr lang="zh-CN" altLang="en-US" dirty="0"/>
              <a:t>和</a:t>
            </a:r>
            <a:r>
              <a:rPr lang="en-US" altLang="zh-CN" dirty="0"/>
              <a:t>Minor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en-US" altLang="zh-CN" dirty="0"/>
              <a:t>Major</a:t>
            </a:r>
            <a:r>
              <a:rPr lang="zh-CN" altLang="en-US" dirty="0"/>
              <a:t>表示设备类型</a:t>
            </a:r>
            <a:endParaRPr lang="en-US" altLang="zh-CN" dirty="0"/>
          </a:p>
          <a:p>
            <a:pPr lvl="1"/>
            <a:r>
              <a:rPr lang="en-US" altLang="zh-CN" dirty="0"/>
              <a:t>Minor</a:t>
            </a:r>
            <a:r>
              <a:rPr lang="zh-CN" altLang="en-US" dirty="0"/>
              <a:t>表示设备编号</a:t>
            </a:r>
            <a:endParaRPr lang="en-US" altLang="zh-CN" dirty="0"/>
          </a:p>
          <a:p>
            <a:r>
              <a:rPr lang="en-US" altLang="zh-CN" dirty="0"/>
              <a:t>FIFO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sz="1800" dirty="0"/>
              <a:t>即命名管道，用于进程间通讯</a:t>
            </a:r>
            <a:endParaRPr lang="en-US" altLang="zh-CN" sz="1800" b="0" dirty="0"/>
          </a:p>
          <a:p>
            <a:r>
              <a:rPr lang="en-US" altLang="zh-CN" dirty="0"/>
              <a:t>SOCK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en-US" altLang="zh-CN" sz="1800" dirty="0"/>
              <a:t>UNIX</a:t>
            </a:r>
            <a:r>
              <a:rPr lang="zh-CN" altLang="en-US" sz="1800" dirty="0"/>
              <a:t>域套接字</a:t>
            </a:r>
            <a:r>
              <a:rPr lang="zh-CN" altLang="en-US" sz="1800" b="0" dirty="0"/>
              <a:t>，用于进程间通讯</a:t>
            </a: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801EF-10C0-284B-9177-EBEDBBDC1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C62AB-57E5-B943-9D24-E0A1D355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431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C0CB0D-F0FE-4C45-AD0F-E07BE3F0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ChCore</a:t>
            </a:r>
            <a:r>
              <a:rPr lang="zh-CN" altLang="en-US" dirty="0"/>
              <a:t>的文件系统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936246-8C0C-D74E-87BC-6DB06718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</a:t>
            </a:r>
            <a:r>
              <a:rPr lang="en-CN" altLang="zh-CN" dirty="0"/>
              <a:t>node</a:t>
            </a:r>
            <a:r>
              <a:rPr lang="zh-CN" altLang="en-US" dirty="0"/>
              <a:t>、文件、目录、链接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27704-9D7D-FA41-B1D9-71B3C084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78A08-8359-4843-B8DE-7AB9BCDC0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439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0BD9-E297-A945-85BE-705CDD40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ChCore</a:t>
            </a:r>
            <a:r>
              <a:rPr lang="zh-CN" altLang="en-US" dirty="0"/>
              <a:t>中的文件系统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38041-A2BE-FF45-A3CB-E97D09287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 err="1"/>
              <a:t>ChCore</a:t>
            </a:r>
            <a:r>
              <a:rPr lang="zh-CN" altLang="en-US" b="0" dirty="0"/>
              <a:t>中实现了一个</a:t>
            </a:r>
            <a:r>
              <a:rPr lang="zh-CN" altLang="en-CN" b="0" dirty="0"/>
              <a:t>内存</a:t>
            </a:r>
            <a:r>
              <a:rPr lang="zh-CN" altLang="en-US" b="0" dirty="0"/>
              <a:t>文件系统</a:t>
            </a:r>
            <a:endParaRPr lang="en-US" altLang="zh-CN" b="0" dirty="0"/>
          </a:p>
          <a:p>
            <a:pPr lvl="1"/>
            <a:r>
              <a:rPr lang="zh-CN" altLang="en-US" dirty="0"/>
              <a:t>数据存在内存中，无持久化和存储格式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DAFF1-A0EC-6F4F-B245-8EE7CCC5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DAFD-8FD8-674C-9B09-48ED680CF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A5347-D426-B347-B1CB-0E19E34BA217}"/>
              </a:ext>
            </a:extLst>
          </p:cNvPr>
          <p:cNvSpPr txBox="1"/>
          <p:nvPr/>
        </p:nvSpPr>
        <p:spPr>
          <a:xfrm>
            <a:off x="1912452" y="3129086"/>
            <a:ext cx="4891796" cy="1615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struct </a:t>
            </a:r>
            <a:r>
              <a:rPr lang="en-US" sz="1100" dirty="0" err="1">
                <a:latin typeface="Courier" pitchFamily="2" charset="0"/>
              </a:rPr>
              <a:t>inode</a:t>
            </a:r>
            <a:r>
              <a:rPr lang="en-US" sz="1100" dirty="0">
                <a:latin typeface="Courier" pitchFamily="2" charset="0"/>
              </a:rPr>
              <a:t> {</a:t>
            </a: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int </a:t>
            </a:r>
            <a:r>
              <a:rPr lang="en-US" sz="1100" dirty="0" err="1">
                <a:latin typeface="Courier" pitchFamily="2" charset="0"/>
              </a:rPr>
              <a:t>nlinks</a:t>
            </a:r>
            <a:r>
              <a:rPr lang="en-US" sz="1100" dirty="0">
                <a:latin typeface="Courier" pitchFamily="2" charset="0"/>
              </a:rPr>
              <a:t>;		/* </a:t>
            </a:r>
            <a:r>
              <a:rPr lang="zh-CN" altLang="en-US" sz="1100" dirty="0">
                <a:latin typeface="Courier" pitchFamily="2" charset="0"/>
              </a:rPr>
              <a:t>链接数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u64 type;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altLang="zh-CN" sz="1100" dirty="0">
                <a:latin typeface="Courier" pitchFamily="2" charset="0"/>
              </a:rPr>
              <a:t>		/</a:t>
            </a:r>
            <a:r>
              <a:rPr lang="zh-CN" altLang="en-US" sz="1100" dirty="0">
                <a:latin typeface="Courier" pitchFamily="2" charset="0"/>
              </a:rPr>
              <a:t>* 文件类型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</a:t>
            </a:r>
            <a:r>
              <a:rPr lang="en-US" sz="1100" dirty="0" err="1">
                <a:latin typeface="Courier" pitchFamily="2" charset="0"/>
              </a:rPr>
              <a:t>size_t</a:t>
            </a:r>
            <a:r>
              <a:rPr lang="en-US" sz="1100" dirty="0">
                <a:latin typeface="Courier" pitchFamily="2" charset="0"/>
              </a:rPr>
              <a:t> size;	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文件大小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union {</a:t>
            </a:r>
          </a:p>
          <a:p>
            <a:r>
              <a:rPr lang="en-US" sz="1100" dirty="0">
                <a:latin typeface="Courier" pitchFamily="2" charset="0"/>
              </a:rPr>
              <a:t>        struct </a:t>
            </a:r>
            <a:r>
              <a:rPr lang="en-US" sz="1100" dirty="0" err="1">
                <a:latin typeface="Courier" pitchFamily="2" charset="0"/>
              </a:rPr>
              <a:t>htable</a:t>
            </a:r>
            <a:r>
              <a:rPr lang="en-US" sz="1100" dirty="0">
                <a:latin typeface="Courier" pitchFamily="2" charset="0"/>
              </a:rPr>
              <a:t> </a:t>
            </a:r>
            <a:r>
              <a:rPr lang="en-US" sz="1100" dirty="0" err="1">
                <a:latin typeface="Courier" pitchFamily="2" charset="0"/>
              </a:rPr>
              <a:t>dentries</a:t>
            </a:r>
            <a:r>
              <a:rPr lang="en-US" sz="1100" dirty="0">
                <a:latin typeface="Courier" pitchFamily="2" charset="0"/>
              </a:rPr>
              <a:t>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目录文件的哈希表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zh-CN" altLang="en-US" sz="1100" dirty="0">
                <a:latin typeface="Courier" pitchFamily="2" charset="0"/>
              </a:rPr>
              <a:t>        </a:t>
            </a:r>
            <a:r>
              <a:rPr lang="en-US" sz="1100" dirty="0">
                <a:latin typeface="Courier" pitchFamily="2" charset="0"/>
              </a:rPr>
              <a:t>struct radix data;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常规文件的基数树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};</a:t>
            </a:r>
          </a:p>
          <a:p>
            <a:r>
              <a:rPr lang="en-US" sz="1100" dirty="0">
                <a:latin typeface="Courier" pitchFamily="2" charset="0"/>
              </a:rPr>
              <a:t>};</a:t>
            </a:r>
            <a:endParaRPr lang="en-CN" sz="1100" dirty="0">
              <a:latin typeface="Courier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BF37C-5082-1B4F-BB09-1DC36975F05D}"/>
              </a:ext>
            </a:extLst>
          </p:cNvPr>
          <p:cNvSpPr txBox="1"/>
          <p:nvPr/>
        </p:nvSpPr>
        <p:spPr>
          <a:xfrm>
            <a:off x="1697653" y="2768862"/>
            <a:ext cx="17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altLang="zh-CN" sz="1400" dirty="0"/>
              <a:t>ChCore</a:t>
            </a:r>
            <a:r>
              <a:rPr lang="zh-CN" altLang="en-US" sz="1600" dirty="0"/>
              <a:t>中的</a:t>
            </a:r>
            <a:r>
              <a:rPr lang="en-US" altLang="zh-CN" sz="1600" dirty="0" err="1"/>
              <a:t>inode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738658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D8D4-835A-BE4F-95AF-AE599DE0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ChCore</a:t>
            </a:r>
            <a:r>
              <a:rPr lang="zh-CN" altLang="en-CN" dirty="0"/>
              <a:t>的</a:t>
            </a:r>
            <a:r>
              <a:rPr lang="zh-CN" altLang="en-US" dirty="0"/>
              <a:t>常规文件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9133-6FA9-5A49-9485-9E45127D2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基数树 </a:t>
            </a:r>
            <a:r>
              <a:rPr lang="en-US" altLang="zh-CN" b="0" dirty="0"/>
              <a:t>(Radix</a:t>
            </a:r>
            <a:r>
              <a:rPr lang="zh-CN" altLang="en-US" b="0" dirty="0"/>
              <a:t> </a:t>
            </a:r>
            <a:r>
              <a:rPr lang="en-US" altLang="zh-CN" b="0" dirty="0"/>
              <a:t>Tree)</a:t>
            </a:r>
          </a:p>
          <a:p>
            <a:pPr lvl="1"/>
            <a:r>
              <a:rPr lang="zh-CN" altLang="en-US" dirty="0"/>
              <a:t>提供</a:t>
            </a:r>
            <a:r>
              <a:rPr lang="en-US" altLang="zh-CN" dirty="0"/>
              <a:t>&lt;</a:t>
            </a:r>
            <a:r>
              <a:rPr lang="zh-CN" altLang="en-US" dirty="0"/>
              <a:t>键</a:t>
            </a:r>
            <a:r>
              <a:rPr lang="en-US" altLang="zh-CN" dirty="0"/>
              <a:t>,</a:t>
            </a:r>
            <a:r>
              <a:rPr lang="zh-CN" altLang="en-US" dirty="0"/>
              <a:t>值</a:t>
            </a:r>
            <a:r>
              <a:rPr lang="en-US" altLang="zh-CN" dirty="0"/>
              <a:t>&gt;</a:t>
            </a:r>
            <a:r>
              <a:rPr lang="zh-CN" altLang="en-US" dirty="0"/>
              <a:t>索引</a:t>
            </a:r>
            <a:endParaRPr lang="en-US" altLang="zh-CN" dirty="0"/>
          </a:p>
          <a:p>
            <a:pPr lvl="1"/>
            <a:r>
              <a:rPr lang="zh-CN" altLang="en-US" dirty="0"/>
              <a:t>如前述</a:t>
            </a:r>
            <a:r>
              <a:rPr lang="en-US" altLang="zh-CN" dirty="0" err="1"/>
              <a:t>inode</a:t>
            </a:r>
            <a:r>
              <a:rPr lang="zh-CN" altLang="en-US" dirty="0"/>
              <a:t>中的多级间接指针</a:t>
            </a:r>
            <a:endParaRPr lang="en-US" altLang="zh-CN" dirty="0"/>
          </a:p>
          <a:p>
            <a:pPr lvl="1"/>
            <a:r>
              <a:rPr lang="zh-CN" altLang="en-US" dirty="0"/>
              <a:t>类似内存页表的结构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b="0" dirty="0" err="1"/>
              <a:t>ChCore</a:t>
            </a:r>
            <a:r>
              <a:rPr lang="zh-CN" altLang="en-US" b="0" dirty="0"/>
              <a:t>中的基数树</a:t>
            </a:r>
            <a:endParaRPr lang="en-US" altLang="zh-CN" b="0" dirty="0"/>
          </a:p>
          <a:p>
            <a:pPr lvl="1"/>
            <a:r>
              <a:rPr lang="zh-CN" altLang="en-US" b="0" dirty="0"/>
              <a:t>保存</a:t>
            </a:r>
            <a:r>
              <a:rPr lang="en-US" altLang="zh-CN" b="0" dirty="0"/>
              <a:t>&lt;</a:t>
            </a:r>
            <a:r>
              <a:rPr lang="zh-CN" altLang="en-US" b="0" dirty="0"/>
              <a:t>逻辑块号，块指针</a:t>
            </a:r>
            <a:r>
              <a:rPr lang="en-US" altLang="zh-CN" b="0" dirty="0"/>
              <a:t>&gt;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06BD-21D9-B24E-8966-DE313CD9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B57A1-B8FF-CD4E-BAF3-2FE5E3B39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473E139-AB4F-B448-BA24-64B8822EF310}"/>
              </a:ext>
            </a:extLst>
          </p:cNvPr>
          <p:cNvGrpSpPr/>
          <p:nvPr/>
        </p:nvGrpSpPr>
        <p:grpSpPr>
          <a:xfrm>
            <a:off x="3897393" y="797071"/>
            <a:ext cx="4707055" cy="4652717"/>
            <a:chOff x="3833464" y="557897"/>
            <a:chExt cx="4707055" cy="4652717"/>
          </a:xfrm>
        </p:grpSpPr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A10E31D8-278C-1946-8257-95B10BF35922}"/>
                </a:ext>
              </a:extLst>
            </p:cNvPr>
            <p:cNvCxnSpPr>
              <a:cxnSpLocks/>
              <a:stCxn id="16" idx="3"/>
              <a:endCxn id="23" idx="1"/>
            </p:cNvCxnSpPr>
            <p:nvPr/>
          </p:nvCxnSpPr>
          <p:spPr>
            <a:xfrm>
              <a:off x="5166350" y="3057636"/>
              <a:ext cx="586083" cy="44792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1E8918-73A8-3541-BFDA-E361BFBCE01A}"/>
                </a:ext>
              </a:extLst>
            </p:cNvPr>
            <p:cNvSpPr/>
            <p:nvPr/>
          </p:nvSpPr>
          <p:spPr>
            <a:xfrm>
              <a:off x="4581618" y="297753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根节点</a:t>
              </a:r>
              <a:endParaRPr lang="en-CN" sz="1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3DBBB6-F8C6-384A-8EA5-11350A2F8896}"/>
                </a:ext>
              </a:extLst>
            </p:cNvPr>
            <p:cNvSpPr/>
            <p:nvPr/>
          </p:nvSpPr>
          <p:spPr>
            <a:xfrm>
              <a:off x="8050821" y="1913580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数据页</a:t>
              </a:r>
              <a:endParaRPr lang="en-CN" sz="1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5EB1C5-21F5-C14F-B5FF-1D7B5A7824CF}"/>
                </a:ext>
              </a:extLst>
            </p:cNvPr>
            <p:cNvSpPr txBox="1"/>
            <p:nvPr/>
          </p:nvSpPr>
          <p:spPr>
            <a:xfrm>
              <a:off x="7122244" y="4038768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45F189-15AF-3241-AAB7-81B83BC9CE95}"/>
                </a:ext>
              </a:extLst>
            </p:cNvPr>
            <p:cNvSpPr txBox="1"/>
            <p:nvPr/>
          </p:nvSpPr>
          <p:spPr>
            <a:xfrm>
              <a:off x="5687670" y="4084666"/>
              <a:ext cx="6158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索引页</a:t>
              </a:r>
              <a:endParaRPr lang="en-CN" sz="11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BC63EE-29CE-F549-8C56-1DF1180046F9}"/>
                </a:ext>
              </a:extLst>
            </p:cNvPr>
            <p:cNvSpPr/>
            <p:nvPr/>
          </p:nvSpPr>
          <p:spPr>
            <a:xfrm>
              <a:off x="5752433" y="3438476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0</a:t>
              </a:r>
              <a:endParaRPr lang="en-CN" sz="10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13741F9-5D9E-7341-B841-79B05A44044A}"/>
                </a:ext>
              </a:extLst>
            </p:cNvPr>
            <p:cNvSpPr/>
            <p:nvPr/>
          </p:nvSpPr>
          <p:spPr>
            <a:xfrm>
              <a:off x="5752433" y="3572643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A64209A-B4F9-544F-A20A-F3E84060AB95}"/>
                </a:ext>
              </a:extLst>
            </p:cNvPr>
            <p:cNvSpPr/>
            <p:nvPr/>
          </p:nvSpPr>
          <p:spPr>
            <a:xfrm>
              <a:off x="5752433" y="370681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6C04F79-62DD-A441-8126-7D7E247A6B08}"/>
                </a:ext>
              </a:extLst>
            </p:cNvPr>
            <p:cNvSpPr/>
            <p:nvPr/>
          </p:nvSpPr>
          <p:spPr>
            <a:xfrm>
              <a:off x="5752433" y="3841881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511</a:t>
              </a:r>
              <a:endParaRPr lang="en-CN" sz="1000" dirty="0"/>
            </a:p>
          </p:txBody>
        </p: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0457AF5F-D7AE-0E4A-BCE8-232883DEBA3F}"/>
                </a:ext>
              </a:extLst>
            </p:cNvPr>
            <p:cNvCxnSpPr>
              <a:cxnSpLocks/>
              <a:stCxn id="23" idx="3"/>
              <a:endCxn id="69" idx="1"/>
            </p:cNvCxnSpPr>
            <p:nvPr/>
          </p:nvCxnSpPr>
          <p:spPr>
            <a:xfrm flipV="1">
              <a:off x="6242131" y="2952532"/>
              <a:ext cx="805975" cy="553028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C3474A86-A36A-F44C-A0D5-EB39D6214D77}"/>
                </a:ext>
              </a:extLst>
            </p:cNvPr>
            <p:cNvCxnSpPr>
              <a:cxnSpLocks/>
              <a:stCxn id="24" idx="3"/>
              <a:endCxn id="65" idx="1"/>
            </p:cNvCxnSpPr>
            <p:nvPr/>
          </p:nvCxnSpPr>
          <p:spPr>
            <a:xfrm flipV="1">
              <a:off x="6242131" y="3605688"/>
              <a:ext cx="805975" cy="3403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3FCA55C5-A6E1-B140-A49E-581C52448A75}"/>
                </a:ext>
              </a:extLst>
            </p:cNvPr>
            <p:cNvCxnSpPr>
              <a:cxnSpLocks/>
              <a:stCxn id="26" idx="3"/>
              <a:endCxn id="61" idx="1"/>
            </p:cNvCxnSpPr>
            <p:nvPr/>
          </p:nvCxnSpPr>
          <p:spPr>
            <a:xfrm>
              <a:off x="6242131" y="3908965"/>
              <a:ext cx="805975" cy="46269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61143C6-F142-9C42-9068-31CB523627A9}"/>
                </a:ext>
              </a:extLst>
            </p:cNvPr>
            <p:cNvGrpSpPr/>
            <p:nvPr/>
          </p:nvGrpSpPr>
          <p:grpSpPr>
            <a:xfrm>
              <a:off x="7048106" y="2885448"/>
              <a:ext cx="489698" cy="537572"/>
              <a:chOff x="7298430" y="2380870"/>
              <a:chExt cx="489698" cy="537572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41AD8B7-5D80-9846-A10F-FAC416091795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0</a:t>
                </a:r>
                <a:endParaRPr lang="en-CN" sz="1000" dirty="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28F32B7-8767-A748-83DB-6C26B9E4A0DE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EC18F51-547A-EF44-9ABA-90A3C345D7DE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3BFE20D-8643-1F4E-BD26-DD00612A78CF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511</a:t>
                </a:r>
                <a:endParaRPr lang="en-CN" sz="1000" dirty="0"/>
              </a:p>
            </p:txBody>
          </p:sp>
        </p:grpSp>
        <p:cxnSp>
          <p:nvCxnSpPr>
            <p:cNvPr id="31" name="Curved Connector 35">
              <a:extLst>
                <a:ext uri="{FF2B5EF4-FFF2-40B4-BE49-F238E27FC236}">
                  <a16:creationId xmlns:a16="http://schemas.microsoft.com/office/drawing/2014/main" id="{54ADABA3-2D1D-1040-A494-F2660818AEA2}"/>
                </a:ext>
              </a:extLst>
            </p:cNvPr>
            <p:cNvCxnSpPr>
              <a:cxnSpLocks/>
              <a:stCxn id="69" idx="3"/>
              <a:endCxn id="20" idx="1"/>
            </p:cNvCxnSpPr>
            <p:nvPr/>
          </p:nvCxnSpPr>
          <p:spPr>
            <a:xfrm flipV="1">
              <a:off x="7537804" y="2103183"/>
              <a:ext cx="513017" cy="8493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9473DB-EF69-8343-848A-1F28670CEF36}"/>
                </a:ext>
              </a:extLst>
            </p:cNvPr>
            <p:cNvSpPr/>
            <p:nvPr/>
          </p:nvSpPr>
          <p:spPr>
            <a:xfrm>
              <a:off x="8049486" y="245706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数据页</a:t>
              </a:r>
              <a:endParaRPr lang="en-CN" sz="10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7562220-8654-A04E-BBDD-34D1C085AC5F}"/>
                </a:ext>
              </a:extLst>
            </p:cNvPr>
            <p:cNvSpPr/>
            <p:nvPr/>
          </p:nvSpPr>
          <p:spPr>
            <a:xfrm>
              <a:off x="8049486" y="3126354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数据页</a:t>
              </a:r>
              <a:endParaRPr lang="en-CN" sz="10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4A9E8A2-F81F-4640-A503-CF91461C34ED}"/>
                </a:ext>
              </a:extLst>
            </p:cNvPr>
            <p:cNvSpPr txBox="1"/>
            <p:nvPr/>
          </p:nvSpPr>
          <p:spPr>
            <a:xfrm>
              <a:off x="8164267" y="2858022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cxnSp>
          <p:nvCxnSpPr>
            <p:cNvPr id="35" name="Curved Connector 39">
              <a:extLst>
                <a:ext uri="{FF2B5EF4-FFF2-40B4-BE49-F238E27FC236}">
                  <a16:creationId xmlns:a16="http://schemas.microsoft.com/office/drawing/2014/main" id="{E1D4C844-8CCE-C249-B68E-015B44CDF23E}"/>
                </a:ext>
              </a:extLst>
            </p:cNvPr>
            <p:cNvCxnSpPr>
              <a:cxnSpLocks/>
              <a:stCxn id="70" idx="3"/>
              <a:endCxn id="32" idx="1"/>
            </p:cNvCxnSpPr>
            <p:nvPr/>
          </p:nvCxnSpPr>
          <p:spPr>
            <a:xfrm flipV="1">
              <a:off x="7537804" y="2646672"/>
              <a:ext cx="511682" cy="440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40">
              <a:extLst>
                <a:ext uri="{FF2B5EF4-FFF2-40B4-BE49-F238E27FC236}">
                  <a16:creationId xmlns:a16="http://schemas.microsoft.com/office/drawing/2014/main" id="{F8C9EA07-6D9B-2747-990B-1AD557878072}"/>
                </a:ext>
              </a:extLst>
            </p:cNvPr>
            <p:cNvCxnSpPr>
              <a:cxnSpLocks/>
              <a:stCxn id="72" idx="3"/>
              <a:endCxn id="33" idx="1"/>
            </p:cNvCxnSpPr>
            <p:nvPr/>
          </p:nvCxnSpPr>
          <p:spPr>
            <a:xfrm flipV="1">
              <a:off x="7537804" y="3315957"/>
              <a:ext cx="511682" cy="399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6A9609-8669-0A4C-8FC7-F9BA95EC4271}"/>
                </a:ext>
              </a:extLst>
            </p:cNvPr>
            <p:cNvSpPr txBox="1"/>
            <p:nvPr/>
          </p:nvSpPr>
          <p:spPr>
            <a:xfrm>
              <a:off x="7014280" y="4949004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索引页</a:t>
              </a:r>
              <a:endParaRPr lang="en-CN" sz="1100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0285FE1-756E-FE4C-92A1-1A789621CF48}"/>
                </a:ext>
              </a:extLst>
            </p:cNvPr>
            <p:cNvGrpSpPr/>
            <p:nvPr/>
          </p:nvGrpSpPr>
          <p:grpSpPr>
            <a:xfrm>
              <a:off x="7048106" y="3538604"/>
              <a:ext cx="489698" cy="537572"/>
              <a:chOff x="7298430" y="2380870"/>
              <a:chExt cx="489698" cy="537572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18C049A-DA0A-F54C-AF8E-172C15A133C3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0</a:t>
                </a:r>
                <a:endParaRPr lang="en-CN" sz="1000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726150F-AB88-FB43-9151-80433C40E957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D5F2B9A-3F37-1243-B903-BA4DEDFEF0A9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47B7B72-91B6-6D45-9328-78399C796F19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511</a:t>
                </a:r>
                <a:endParaRPr lang="en-CN" sz="10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58D0B1B-B856-124D-860F-EAB2F6D8CE66}"/>
                </a:ext>
              </a:extLst>
            </p:cNvPr>
            <p:cNvGrpSpPr/>
            <p:nvPr/>
          </p:nvGrpSpPr>
          <p:grpSpPr>
            <a:xfrm>
              <a:off x="7048106" y="4304575"/>
              <a:ext cx="489698" cy="537572"/>
              <a:chOff x="7298430" y="2380870"/>
              <a:chExt cx="489698" cy="537572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DCA1E40-B8A2-0048-99CD-60596929D56E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0</a:t>
                </a:r>
                <a:endParaRPr lang="en-CN" sz="1000"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37B455D-553C-8244-85CB-F7DAC6441D19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5803B3E-8D98-B849-9B0C-4C065A5D9E1A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C0EB77F-C299-F946-8B03-4127BE525EE0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511</a:t>
                </a:r>
                <a:endParaRPr lang="en-CN" sz="1000" dirty="0"/>
              </a:p>
            </p:txBody>
          </p:sp>
        </p:grpSp>
        <p:cxnSp>
          <p:nvCxnSpPr>
            <p:cNvPr id="59" name="Curved Connector 40">
              <a:extLst>
                <a:ext uri="{FF2B5EF4-FFF2-40B4-BE49-F238E27FC236}">
                  <a16:creationId xmlns:a16="http://schemas.microsoft.com/office/drawing/2014/main" id="{8550E1CB-72B3-6746-B6FA-5D5AFD9E3B73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>
              <a:off x="7537804" y="3605688"/>
              <a:ext cx="511682" cy="1079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02C863A-CC4C-A341-83A1-2798E8DF029D}"/>
                </a:ext>
              </a:extLst>
            </p:cNvPr>
            <p:cNvSpPr/>
            <p:nvPr/>
          </p:nvSpPr>
          <p:spPr>
            <a:xfrm>
              <a:off x="8043134" y="3641987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数据页</a:t>
              </a:r>
              <a:endParaRPr lang="en-CN" sz="10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1220596-F8F4-514D-90FC-35291F21318B}"/>
                </a:ext>
              </a:extLst>
            </p:cNvPr>
            <p:cNvSpPr/>
            <p:nvPr/>
          </p:nvSpPr>
          <p:spPr>
            <a:xfrm>
              <a:off x="5572982" y="1120844"/>
              <a:ext cx="648072" cy="2686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8</a:t>
              </a:r>
              <a:r>
                <a:rPr lang="zh-CN" altLang="en-US" sz="1000" dirty="0"/>
                <a:t>位</a:t>
              </a:r>
              <a:endParaRPr lang="en-CN" sz="10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DFB6C1A-9604-4944-9C46-51A5AC612210}"/>
                </a:ext>
              </a:extLst>
            </p:cNvPr>
            <p:cNvSpPr/>
            <p:nvPr/>
          </p:nvSpPr>
          <p:spPr>
            <a:xfrm>
              <a:off x="6221054" y="1120844"/>
              <a:ext cx="648072" cy="2686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8</a:t>
              </a:r>
              <a:r>
                <a:rPr lang="zh-CN" altLang="en-US" sz="1000" dirty="0"/>
                <a:t>位</a:t>
              </a:r>
              <a:endParaRPr lang="en-CN" sz="10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F377773-E3D5-2648-A8EB-2991339937E7}"/>
                </a:ext>
              </a:extLst>
            </p:cNvPr>
            <p:cNvSpPr/>
            <p:nvPr/>
          </p:nvSpPr>
          <p:spPr>
            <a:xfrm>
              <a:off x="6870482" y="1120844"/>
              <a:ext cx="998388" cy="2686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r>
                <a:rPr lang="zh-CN" altLang="en-US" sz="1000" dirty="0"/>
                <a:t>位</a:t>
              </a:r>
              <a:endParaRPr lang="en-CN" sz="1000" dirty="0"/>
            </a:p>
          </p:txBody>
        </p:sp>
        <p:sp>
          <p:nvSpPr>
            <p:cNvPr id="77" name="Right Brace 76">
              <a:extLst>
                <a:ext uri="{FF2B5EF4-FFF2-40B4-BE49-F238E27FC236}">
                  <a16:creationId xmlns:a16="http://schemas.microsoft.com/office/drawing/2014/main" id="{3004F334-857C-6547-92FF-94BDB9981E85}"/>
                </a:ext>
              </a:extLst>
            </p:cNvPr>
            <p:cNvSpPr/>
            <p:nvPr/>
          </p:nvSpPr>
          <p:spPr>
            <a:xfrm rot="5400000">
              <a:off x="5796888" y="1281959"/>
              <a:ext cx="200260" cy="648072"/>
            </a:xfrm>
            <a:prstGeom prst="rightBrace">
              <a:avLst>
                <a:gd name="adj1" fmla="val 3472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F413DC3-04CA-6A4D-AC20-4C7DEB39FABF}"/>
                </a:ext>
              </a:extLst>
            </p:cNvPr>
            <p:cNvSpPr txBox="1"/>
            <p:nvPr/>
          </p:nvSpPr>
          <p:spPr>
            <a:xfrm>
              <a:off x="3833464" y="107237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文件内</a:t>
              </a:r>
              <a:r>
                <a:rPr lang="zh-CN" altLang="en-US" dirty="0"/>
                <a:t>偏移量</a:t>
              </a:r>
              <a:endParaRPr lang="en-CN" dirty="0"/>
            </a:p>
          </p:txBody>
        </p:sp>
        <p:sp>
          <p:nvSpPr>
            <p:cNvPr id="79" name="Right Brace 78">
              <a:extLst>
                <a:ext uri="{FF2B5EF4-FFF2-40B4-BE49-F238E27FC236}">
                  <a16:creationId xmlns:a16="http://schemas.microsoft.com/office/drawing/2014/main" id="{EF6359E0-910E-7843-B732-4EF632789A7C}"/>
                </a:ext>
              </a:extLst>
            </p:cNvPr>
            <p:cNvSpPr/>
            <p:nvPr/>
          </p:nvSpPr>
          <p:spPr>
            <a:xfrm rot="5400000">
              <a:off x="6444960" y="1291216"/>
              <a:ext cx="200260" cy="648072"/>
            </a:xfrm>
            <a:prstGeom prst="rightBrace">
              <a:avLst>
                <a:gd name="adj1" fmla="val 3472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92580FE0-0746-8D4E-9F26-509D9CBC73C9}"/>
                </a:ext>
              </a:extLst>
            </p:cNvPr>
            <p:cNvSpPr/>
            <p:nvPr/>
          </p:nvSpPr>
          <p:spPr>
            <a:xfrm rot="5400000">
              <a:off x="7277445" y="1132448"/>
              <a:ext cx="200260" cy="982589"/>
            </a:xfrm>
            <a:prstGeom prst="rightBrace">
              <a:avLst>
                <a:gd name="adj1" fmla="val 3472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2185036-72F6-2C47-B235-6231AE4752A0}"/>
                </a:ext>
              </a:extLst>
            </p:cNvPr>
            <p:cNvSpPr txBox="1"/>
            <p:nvPr/>
          </p:nvSpPr>
          <p:spPr>
            <a:xfrm>
              <a:off x="6978883" y="1711490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页</a:t>
              </a:r>
              <a:r>
                <a:rPr lang="zh-CN" altLang="en-CN" sz="1100" dirty="0"/>
                <a:t>内</a:t>
              </a:r>
              <a:r>
                <a:rPr lang="zh-CN" altLang="en-US" sz="1100" dirty="0"/>
                <a:t>偏移量</a:t>
              </a:r>
              <a:endParaRPr lang="en-CN" sz="1100" dirty="0"/>
            </a:p>
          </p:txBody>
        </p:sp>
        <p:sp>
          <p:nvSpPr>
            <p:cNvPr id="82" name="Right Brace 81">
              <a:extLst>
                <a:ext uri="{FF2B5EF4-FFF2-40B4-BE49-F238E27FC236}">
                  <a16:creationId xmlns:a16="http://schemas.microsoft.com/office/drawing/2014/main" id="{4DB35CC6-1045-A34A-9766-4D1B264C742F}"/>
                </a:ext>
              </a:extLst>
            </p:cNvPr>
            <p:cNvSpPr/>
            <p:nvPr/>
          </p:nvSpPr>
          <p:spPr>
            <a:xfrm rot="5400000" flipH="1">
              <a:off x="6125514" y="310149"/>
              <a:ext cx="191080" cy="1296144"/>
            </a:xfrm>
            <a:prstGeom prst="rightBrace">
              <a:avLst>
                <a:gd name="adj1" fmla="val 3472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F3922C7-D014-7B40-8312-3D3AF9E31AD6}"/>
                </a:ext>
              </a:extLst>
            </p:cNvPr>
            <p:cNvSpPr txBox="1"/>
            <p:nvPr/>
          </p:nvSpPr>
          <p:spPr>
            <a:xfrm>
              <a:off x="5867669" y="557897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逻辑块号</a:t>
              </a:r>
              <a:endParaRPr lang="en-CN" sz="1100" dirty="0"/>
            </a:p>
          </p:txBody>
        </p:sp>
        <p:cxnSp>
          <p:nvCxnSpPr>
            <p:cNvPr id="84" name="Curved Connector 83">
              <a:extLst>
                <a:ext uri="{FF2B5EF4-FFF2-40B4-BE49-F238E27FC236}">
                  <a16:creationId xmlns:a16="http://schemas.microsoft.com/office/drawing/2014/main" id="{4895DED8-B8D9-4648-B441-7D5F18E9338A}"/>
                </a:ext>
              </a:extLst>
            </p:cNvPr>
            <p:cNvCxnSpPr>
              <a:cxnSpLocks/>
            </p:cNvCxnSpPr>
            <p:nvPr/>
          </p:nvCxnSpPr>
          <p:spPr>
            <a:xfrm>
              <a:off x="5897018" y="1949814"/>
              <a:ext cx="37366" cy="1288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urved Connector 83">
              <a:extLst>
                <a:ext uri="{FF2B5EF4-FFF2-40B4-BE49-F238E27FC236}">
                  <a16:creationId xmlns:a16="http://schemas.microsoft.com/office/drawing/2014/main" id="{AFC08ACB-0757-3E4F-9511-5C1F11DB3A8C}"/>
                </a:ext>
              </a:extLst>
            </p:cNvPr>
            <p:cNvCxnSpPr>
              <a:cxnSpLocks/>
            </p:cNvCxnSpPr>
            <p:nvPr/>
          </p:nvCxnSpPr>
          <p:spPr>
            <a:xfrm>
              <a:off x="6559744" y="1875390"/>
              <a:ext cx="650605" cy="9057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8705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D8D4-835A-BE4F-95AF-AE599DE0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ChCore</a:t>
            </a:r>
            <a:r>
              <a:rPr lang="zh-CN" altLang="en-CN" dirty="0"/>
              <a:t>的</a:t>
            </a:r>
            <a:r>
              <a:rPr lang="zh-CN" altLang="en-US" dirty="0"/>
              <a:t>目录文件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9133-6FA9-5A49-9485-9E45127D2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b="0" dirty="0"/>
              <a:t>哈希表</a:t>
            </a:r>
            <a:endParaRPr lang="en-US" altLang="zh-CN" b="0" dirty="0"/>
          </a:p>
          <a:p>
            <a:pPr lvl="1"/>
            <a:r>
              <a:rPr lang="zh-CN" altLang="en-US" dirty="0"/>
              <a:t>保存目录项</a:t>
            </a:r>
            <a:endParaRPr lang="en-US" altLang="zh-CN" dirty="0"/>
          </a:p>
          <a:p>
            <a:pPr lvl="1"/>
            <a:r>
              <a:rPr lang="zh-CN" altLang="en-US" dirty="0"/>
              <a:t>使用链表解决冲突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06BD-21D9-B24E-8966-DE313CD9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B57A1-B8FF-CD4E-BAF3-2FE5E3B39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DBBB6-F8C6-384A-8EA5-11350A2F8896}"/>
              </a:ext>
            </a:extLst>
          </p:cNvPr>
          <p:cNvSpPr/>
          <p:nvPr/>
        </p:nvSpPr>
        <p:spPr>
          <a:xfrm>
            <a:off x="5531237" y="2432713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45F189-15AF-3241-AAB7-81B83BC9CE95}"/>
              </a:ext>
            </a:extLst>
          </p:cNvPr>
          <p:cNvSpPr txBox="1"/>
          <p:nvPr/>
        </p:nvSpPr>
        <p:spPr>
          <a:xfrm>
            <a:off x="4437360" y="4430146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哈希表</a:t>
            </a:r>
            <a:endParaRPr lang="en-CN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BC63EE-29CE-F549-8C56-1DF1180046F9}"/>
              </a:ext>
            </a:extLst>
          </p:cNvPr>
          <p:cNvSpPr/>
          <p:nvPr/>
        </p:nvSpPr>
        <p:spPr>
          <a:xfrm>
            <a:off x="4555521" y="3781634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4</a:t>
            </a:r>
            <a:endParaRPr lang="en-CN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3741F9-5D9E-7341-B841-79B05A44044A}"/>
              </a:ext>
            </a:extLst>
          </p:cNvPr>
          <p:cNvSpPr/>
          <p:nvPr/>
        </p:nvSpPr>
        <p:spPr>
          <a:xfrm>
            <a:off x="4555521" y="3915801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5</a:t>
            </a:r>
            <a:endParaRPr lang="en-CN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64209A-B4F9-544F-A20A-F3E84060AB95}"/>
              </a:ext>
            </a:extLst>
          </p:cNvPr>
          <p:cNvSpPr/>
          <p:nvPr/>
        </p:nvSpPr>
        <p:spPr>
          <a:xfrm>
            <a:off x="4555521" y="4049968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C04F79-62DD-A441-8126-7D7E247A6B08}"/>
              </a:ext>
            </a:extLst>
          </p:cNvPr>
          <p:cNvSpPr/>
          <p:nvPr/>
        </p:nvSpPr>
        <p:spPr>
          <a:xfrm>
            <a:off x="4555521" y="4185039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511</a:t>
            </a:r>
            <a:endParaRPr lang="en-CN" sz="1000" dirty="0"/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0457AF5F-D7AE-0E4A-BCE8-232883DEBA3F}"/>
              </a:ext>
            </a:extLst>
          </p:cNvPr>
          <p:cNvCxnSpPr>
            <a:cxnSpLocks/>
            <a:stCxn id="85" idx="3"/>
            <a:endCxn id="20" idx="1"/>
          </p:cNvCxnSpPr>
          <p:nvPr/>
        </p:nvCxnSpPr>
        <p:spPr>
          <a:xfrm flipV="1">
            <a:off x="5045219" y="2576034"/>
            <a:ext cx="486018" cy="728857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C3474A86-A36A-F44C-A0D5-EB39D6214D77}"/>
              </a:ext>
            </a:extLst>
          </p:cNvPr>
          <p:cNvCxnSpPr>
            <a:cxnSpLocks/>
            <a:stCxn id="87" idx="3"/>
            <a:endCxn id="90" idx="1"/>
          </p:cNvCxnSpPr>
          <p:nvPr/>
        </p:nvCxnSpPr>
        <p:spPr>
          <a:xfrm flipV="1">
            <a:off x="5045219" y="3358243"/>
            <a:ext cx="482579" cy="214982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3FCA55C5-A6E1-B140-A49E-581C52448A75}"/>
              </a:ext>
            </a:extLst>
          </p:cNvPr>
          <p:cNvCxnSpPr>
            <a:cxnSpLocks/>
            <a:stCxn id="26" idx="3"/>
            <a:endCxn id="94" idx="1"/>
          </p:cNvCxnSpPr>
          <p:nvPr/>
        </p:nvCxnSpPr>
        <p:spPr>
          <a:xfrm>
            <a:off x="5045219" y="4252123"/>
            <a:ext cx="482579" cy="10331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5">
            <a:extLst>
              <a:ext uri="{FF2B5EF4-FFF2-40B4-BE49-F238E27FC236}">
                <a16:creationId xmlns:a16="http://schemas.microsoft.com/office/drawing/2014/main" id="{54ADABA3-2D1D-1040-A494-F2660818AEA2}"/>
              </a:ext>
            </a:extLst>
          </p:cNvPr>
          <p:cNvCxnSpPr>
            <a:cxnSpLocks/>
            <a:stCxn id="20" idx="3"/>
            <a:endCxn id="73" idx="1"/>
          </p:cNvCxnSpPr>
          <p:nvPr/>
        </p:nvCxnSpPr>
        <p:spPr>
          <a:xfrm flipV="1">
            <a:off x="6171151" y="2575130"/>
            <a:ext cx="264694" cy="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85F52FF-6DA2-A84C-816E-80DC16503DBD}"/>
              </a:ext>
            </a:extLst>
          </p:cNvPr>
          <p:cNvSpPr txBox="1"/>
          <p:nvPr/>
        </p:nvSpPr>
        <p:spPr>
          <a:xfrm>
            <a:off x="532035" y="3255878"/>
            <a:ext cx="3962400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struct string {</a:t>
            </a: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char *str;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文件名字符串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</a:t>
            </a:r>
            <a:r>
              <a:rPr lang="en-US" sz="1100" dirty="0" err="1">
                <a:latin typeface="Courier" pitchFamily="2" charset="0"/>
              </a:rPr>
              <a:t>size_t</a:t>
            </a:r>
            <a:r>
              <a:rPr lang="en-US" sz="1100" dirty="0">
                <a:latin typeface="Courier" pitchFamily="2" charset="0"/>
              </a:rPr>
              <a:t> </a:t>
            </a:r>
            <a:r>
              <a:rPr lang="en-US" sz="1100" dirty="0" err="1">
                <a:latin typeface="Courier" pitchFamily="2" charset="0"/>
              </a:rPr>
              <a:t>len</a:t>
            </a:r>
            <a:r>
              <a:rPr lang="en-US" sz="1100" dirty="0">
                <a:latin typeface="Courier" pitchFamily="2" charset="0"/>
              </a:rPr>
              <a:t>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文件名长度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u64 hash;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文件名的哈希值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};</a:t>
            </a:r>
          </a:p>
          <a:p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struct </a:t>
            </a:r>
            <a:r>
              <a:rPr lang="en-US" sz="1100" dirty="0" err="1">
                <a:latin typeface="Courier" pitchFamily="2" charset="0"/>
              </a:rPr>
              <a:t>dentry</a:t>
            </a:r>
            <a:r>
              <a:rPr lang="en-US" sz="1100" dirty="0">
                <a:latin typeface="Courier" pitchFamily="2" charset="0"/>
              </a:rPr>
              <a:t> {</a:t>
            </a: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struct string name;</a:t>
            </a:r>
            <a:r>
              <a:rPr lang="zh-CN" altLang="en-US" sz="1100" dirty="0">
                <a:latin typeface="Courier" pitchFamily="2" charset="0"/>
              </a:rPr>
              <a:t>  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文件名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sz="1100" dirty="0">
                <a:latin typeface="Courier" pitchFamily="2" charset="0"/>
              </a:rPr>
              <a:t>struct </a:t>
            </a:r>
            <a:r>
              <a:rPr lang="en-US" sz="1100" dirty="0" err="1">
                <a:latin typeface="Courier" pitchFamily="2" charset="0"/>
              </a:rPr>
              <a:t>inode</a:t>
            </a:r>
            <a:r>
              <a:rPr lang="en-US" sz="1100" dirty="0">
                <a:latin typeface="Courier" pitchFamily="2" charset="0"/>
              </a:rPr>
              <a:t> *</a:t>
            </a:r>
            <a:r>
              <a:rPr lang="en-US" sz="1100" dirty="0" err="1">
                <a:latin typeface="Courier" pitchFamily="2" charset="0"/>
              </a:rPr>
              <a:t>inode</a:t>
            </a:r>
            <a:r>
              <a:rPr lang="en-US" sz="1100" dirty="0">
                <a:latin typeface="Courier" pitchFamily="2" charset="0"/>
              </a:rPr>
              <a:t>;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文件对应的</a:t>
            </a:r>
            <a:r>
              <a:rPr lang="en-US" altLang="zh-CN" sz="1100" dirty="0" err="1">
                <a:latin typeface="Courier" pitchFamily="2" charset="0"/>
              </a:rPr>
              <a:t>inode</a:t>
            </a:r>
            <a:r>
              <a:rPr lang="zh-CN" altLang="en-US" sz="1100" dirty="0">
                <a:latin typeface="Courier" pitchFamily="2" charset="0"/>
              </a:rPr>
              <a:t>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sz="1100" dirty="0">
                <a:latin typeface="Courier" pitchFamily="2" charset="0"/>
              </a:rPr>
              <a:t>struct </a:t>
            </a:r>
            <a:r>
              <a:rPr lang="en-US" sz="1100" dirty="0" err="1">
                <a:latin typeface="Courier" pitchFamily="2" charset="0"/>
              </a:rPr>
              <a:t>dentr</a:t>
            </a:r>
            <a:r>
              <a:rPr lang="en-US" altLang="zh-CN" sz="1100" dirty="0" err="1">
                <a:latin typeface="Courier" pitchFamily="2" charset="0"/>
              </a:rPr>
              <a:t>y</a:t>
            </a:r>
            <a:r>
              <a:rPr lang="zh-CN" altLang="en-US" sz="1100" dirty="0">
                <a:latin typeface="Courier" pitchFamily="2" charset="0"/>
              </a:rPr>
              <a:t> *</a:t>
            </a:r>
            <a:r>
              <a:rPr lang="en-US" sz="1100" dirty="0">
                <a:latin typeface="Courier" pitchFamily="2" charset="0"/>
              </a:rPr>
              <a:t>n</a:t>
            </a:r>
            <a:r>
              <a:rPr lang="en-US" altLang="zh-CN" sz="1100" dirty="0">
                <a:latin typeface="Courier" pitchFamily="2" charset="0"/>
              </a:rPr>
              <a:t>ext</a:t>
            </a:r>
            <a:r>
              <a:rPr lang="en-US" sz="1100" dirty="0">
                <a:latin typeface="Courier" pitchFamily="2" charset="0"/>
              </a:rPr>
              <a:t>;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下一个目录项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};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30C60A4-F7F0-284A-9789-539034AED9D0}"/>
              </a:ext>
            </a:extLst>
          </p:cNvPr>
          <p:cNvSpPr/>
          <p:nvPr/>
        </p:nvSpPr>
        <p:spPr>
          <a:xfrm>
            <a:off x="6435845" y="2431809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F2853C7-CB5B-4543-AD17-B23AA6FB1EF0}"/>
              </a:ext>
            </a:extLst>
          </p:cNvPr>
          <p:cNvSpPr/>
          <p:nvPr/>
        </p:nvSpPr>
        <p:spPr>
          <a:xfrm>
            <a:off x="4555521" y="3237807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0</a:t>
            </a:r>
            <a:endParaRPr lang="en-CN" sz="10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3F22B58-0E77-2944-A778-BAF3C5DF35F9}"/>
              </a:ext>
            </a:extLst>
          </p:cNvPr>
          <p:cNvSpPr/>
          <p:nvPr/>
        </p:nvSpPr>
        <p:spPr>
          <a:xfrm>
            <a:off x="4555521" y="3371974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27D3C67-479C-4F40-AB8A-1055DB2217F7}"/>
              </a:ext>
            </a:extLst>
          </p:cNvPr>
          <p:cNvSpPr/>
          <p:nvPr/>
        </p:nvSpPr>
        <p:spPr>
          <a:xfrm>
            <a:off x="4555521" y="3506141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F2381ED-6DB4-DA40-A019-089E34870061}"/>
              </a:ext>
            </a:extLst>
          </p:cNvPr>
          <p:cNvSpPr/>
          <p:nvPr/>
        </p:nvSpPr>
        <p:spPr>
          <a:xfrm>
            <a:off x="4555521" y="3641212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3</a:t>
            </a:r>
            <a:endParaRPr lang="en-CN" sz="10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9ACAF5B-20ED-B640-8C78-4B1CA6B0BDD9}"/>
              </a:ext>
            </a:extLst>
          </p:cNvPr>
          <p:cNvSpPr/>
          <p:nvPr/>
        </p:nvSpPr>
        <p:spPr>
          <a:xfrm>
            <a:off x="5527798" y="3214922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cxnSp>
        <p:nvCxnSpPr>
          <p:cNvPr id="91" name="Curved Connector 35">
            <a:extLst>
              <a:ext uri="{FF2B5EF4-FFF2-40B4-BE49-F238E27FC236}">
                <a16:creationId xmlns:a16="http://schemas.microsoft.com/office/drawing/2014/main" id="{7023068D-54E3-8C47-91B7-ACA1711E6C52}"/>
              </a:ext>
            </a:extLst>
          </p:cNvPr>
          <p:cNvCxnSpPr>
            <a:cxnSpLocks/>
            <a:stCxn id="90" idx="3"/>
            <a:endCxn id="93" idx="1"/>
          </p:cNvCxnSpPr>
          <p:nvPr/>
        </p:nvCxnSpPr>
        <p:spPr>
          <a:xfrm>
            <a:off x="6167712" y="3358243"/>
            <a:ext cx="2646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015DE2BE-7102-0141-BD4C-A6C91F91E8B4}"/>
              </a:ext>
            </a:extLst>
          </p:cNvPr>
          <p:cNvSpPr/>
          <p:nvPr/>
        </p:nvSpPr>
        <p:spPr>
          <a:xfrm>
            <a:off x="6432406" y="3214922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5015741-43CC-F643-AA0B-B5FDBEAE988E}"/>
              </a:ext>
            </a:extLst>
          </p:cNvPr>
          <p:cNvSpPr/>
          <p:nvPr/>
        </p:nvSpPr>
        <p:spPr>
          <a:xfrm>
            <a:off x="5527798" y="4212113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cxnSp>
        <p:nvCxnSpPr>
          <p:cNvPr id="95" name="Curved Connector 35">
            <a:extLst>
              <a:ext uri="{FF2B5EF4-FFF2-40B4-BE49-F238E27FC236}">
                <a16:creationId xmlns:a16="http://schemas.microsoft.com/office/drawing/2014/main" id="{98D60983-F18D-8B46-9D98-602C470B8A43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 flipV="1">
            <a:off x="6167712" y="4354530"/>
            <a:ext cx="264694" cy="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A91029B-D854-5F4F-8E90-2ACA8205EEF5}"/>
              </a:ext>
            </a:extLst>
          </p:cNvPr>
          <p:cNvSpPr/>
          <p:nvPr/>
        </p:nvSpPr>
        <p:spPr>
          <a:xfrm>
            <a:off x="6432406" y="4211209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CEED534-070E-9646-AFBF-19432FEA394A}"/>
              </a:ext>
            </a:extLst>
          </p:cNvPr>
          <p:cNvSpPr/>
          <p:nvPr/>
        </p:nvSpPr>
        <p:spPr>
          <a:xfrm>
            <a:off x="7332292" y="3214922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cxnSp>
        <p:nvCxnSpPr>
          <p:cNvPr id="98" name="Curved Connector 35">
            <a:extLst>
              <a:ext uri="{FF2B5EF4-FFF2-40B4-BE49-F238E27FC236}">
                <a16:creationId xmlns:a16="http://schemas.microsoft.com/office/drawing/2014/main" id="{A20FE150-8420-9446-A6B8-4C410EC623B0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>
            <a:off x="7972206" y="3358243"/>
            <a:ext cx="2646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79A060A6-48BC-E04E-A402-72EF96625A51}"/>
              </a:ext>
            </a:extLst>
          </p:cNvPr>
          <p:cNvSpPr/>
          <p:nvPr/>
        </p:nvSpPr>
        <p:spPr>
          <a:xfrm>
            <a:off x="8236900" y="3214922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cxnSp>
        <p:nvCxnSpPr>
          <p:cNvPr id="100" name="Curved Connector 35">
            <a:extLst>
              <a:ext uri="{FF2B5EF4-FFF2-40B4-BE49-F238E27FC236}">
                <a16:creationId xmlns:a16="http://schemas.microsoft.com/office/drawing/2014/main" id="{6A1F9B7B-E9E8-3F44-8B95-835C76A3A2E1}"/>
              </a:ext>
            </a:extLst>
          </p:cNvPr>
          <p:cNvCxnSpPr>
            <a:cxnSpLocks/>
            <a:stCxn id="93" idx="3"/>
            <a:endCxn id="97" idx="1"/>
          </p:cNvCxnSpPr>
          <p:nvPr/>
        </p:nvCxnSpPr>
        <p:spPr>
          <a:xfrm>
            <a:off x="7072320" y="3358243"/>
            <a:ext cx="259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DC23295-2C33-C341-B82B-1FB747932282}"/>
              </a:ext>
            </a:extLst>
          </p:cNvPr>
          <p:cNvSpPr txBox="1"/>
          <p:nvPr/>
        </p:nvSpPr>
        <p:spPr>
          <a:xfrm>
            <a:off x="473483" y="2917324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altLang="zh-CN" sz="1400" dirty="0"/>
              <a:t>ChCore</a:t>
            </a:r>
            <a:r>
              <a:rPr lang="zh-CN" altLang="en-US" sz="1600" dirty="0"/>
              <a:t>中的目录项结构</a:t>
            </a:r>
            <a:endParaRPr lang="en-US" altLang="zh-CN" sz="1600" dirty="0"/>
          </a:p>
        </p:txBody>
      </p:sp>
      <p:cxnSp>
        <p:nvCxnSpPr>
          <p:cNvPr id="102" name="Curved Connector 83">
            <a:extLst>
              <a:ext uri="{FF2B5EF4-FFF2-40B4-BE49-F238E27FC236}">
                <a16:creationId xmlns:a16="http://schemas.microsoft.com/office/drawing/2014/main" id="{355A9B5B-8CE8-EA4F-9B8F-F83D4A74E3CB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4707791" y="1754373"/>
            <a:ext cx="0" cy="11629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E62A3D9-3183-D94D-8D1A-86FB1AC86440}"/>
              </a:ext>
            </a:extLst>
          </p:cNvPr>
          <p:cNvSpPr txBox="1"/>
          <p:nvPr/>
        </p:nvSpPr>
        <p:spPr>
          <a:xfrm>
            <a:off x="3563888" y="1385041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Hash(</a:t>
            </a:r>
            <a:r>
              <a:rPr lang="zh-CN" altLang="en-US" dirty="0"/>
              <a:t>文件名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%</a:t>
            </a:r>
            <a:r>
              <a:rPr lang="zh-CN" altLang="en-US" dirty="0"/>
              <a:t> </a:t>
            </a:r>
            <a:r>
              <a:rPr lang="en-US" altLang="zh-CN" dirty="0"/>
              <a:t>512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70362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C159-C637-7E46-962B-7B79476E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基于</a:t>
            </a:r>
            <a:r>
              <a:rPr lang="en-US" altLang="zh-CN" dirty="0"/>
              <a:t>Table</a:t>
            </a:r>
            <a:r>
              <a:rPr lang="zh-CN" altLang="en-US" dirty="0"/>
              <a:t>的文件系统：</a:t>
            </a:r>
            <a:r>
              <a:rPr lang="en-US" altLang="zh-CN" dirty="0"/>
              <a:t>FAT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89376-0627-6E4A-97E9-89BE05328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1DAE4-9434-7B40-8F7A-2B3ECB0F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3240-9E12-874A-95F3-412791820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90593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23E5-CCB3-754E-A633-D0C74294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en-US" altLang="zh-CN" dirty="0"/>
              <a:t>32</a:t>
            </a:r>
            <a:r>
              <a:rPr lang="zh-CN" altLang="en-US" dirty="0"/>
              <a:t>存储布局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D6128-5B68-084B-994A-B7CAB649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D7289-FB46-BF45-AE77-1F1E48239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917C3-324B-EE4A-97C9-FB62758A5F38}"/>
              </a:ext>
            </a:extLst>
          </p:cNvPr>
          <p:cNvSpPr/>
          <p:nvPr/>
        </p:nvSpPr>
        <p:spPr>
          <a:xfrm>
            <a:off x="558006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1FB3D7-6939-0C41-984A-A102E456E2D1}"/>
              </a:ext>
            </a:extLst>
          </p:cNvPr>
          <p:cNvSpPr/>
          <p:nvPr/>
        </p:nvSpPr>
        <p:spPr>
          <a:xfrm>
            <a:off x="1133872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FAT1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19E70A-C69B-B44E-B31C-B1E2A23CA73E}"/>
              </a:ext>
            </a:extLst>
          </p:cNvPr>
          <p:cNvSpPr/>
          <p:nvPr/>
        </p:nvSpPr>
        <p:spPr>
          <a:xfrm>
            <a:off x="2430016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FAT2</a:t>
            </a:r>
            <a:r>
              <a:rPr lang="zh-CN" altLang="en-US" sz="1400" dirty="0"/>
              <a:t>（备份）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2EBB5-7CC7-D444-ACCC-0C7DD1ED2818}"/>
              </a:ext>
            </a:extLst>
          </p:cNvPr>
          <p:cNvSpPr/>
          <p:nvPr/>
        </p:nvSpPr>
        <p:spPr>
          <a:xfrm>
            <a:off x="3726160" y="1410882"/>
            <a:ext cx="384882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数据区（文件和目录）</a:t>
            </a:r>
            <a:endParaRPr lang="en-CN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A607B3B-978E-4945-9660-A411F4716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709765"/>
            <a:ext cx="4648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400" b="1" dirty="0">
                <a:latin typeface="+mn-ea"/>
              </a:rPr>
              <a:t>Default FAT Cluster Sizes</a:t>
            </a:r>
            <a:r>
              <a:rPr lang="zh-CN" altLang="en-US" sz="1400" b="1" dirty="0">
                <a:latin typeface="+mn-ea"/>
              </a:rPr>
              <a:t> （簇）</a:t>
            </a:r>
            <a:endParaRPr lang="en-US" altLang="zh-CN" sz="1400" b="1" dirty="0">
              <a:latin typeface="+mn-ea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3616721-1CB3-FE44-ACB6-4A4CCE82E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347565"/>
            <a:ext cx="586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Courier New" pitchFamily="49" charset="0"/>
                <a:ea typeface="MS PGothic" pitchFamily="34" charset="-128"/>
                <a:cs typeface="Courier New" pitchFamily="49" charset="0"/>
              </a:rPr>
              <a:t>Volume Size	    FAT32 Cluster Size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5E130859-FFEA-2E46-B2E5-4D47E0278B90}"/>
              </a:ext>
            </a:extLst>
          </p:cNvPr>
          <p:cNvSpPr txBox="1"/>
          <p:nvPr/>
        </p:nvSpPr>
        <p:spPr>
          <a:xfrm>
            <a:off x="1524000" y="2652365"/>
            <a:ext cx="5867400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&lt;32MB		    Not Supported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32MB ~ 64MB	    512 bytes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65MB ~ 128MB	    1KB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129MB ~ 256MB	    2KB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257MB ~ 8GB	    4KB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8GB ~ 16GB	       8KB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16GB ~ 32GB	    16KB</a:t>
            </a:r>
            <a:endParaRPr lang="en-US" altLang="zh-CN" b="1" dirty="0">
              <a:latin typeface="Courier New" pitchFamily="49" charset="0"/>
              <a:ea typeface="MS PGothic" pitchFamily="34" charset="-128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964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23E5-CCB3-754E-A633-D0C74294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zh-CN" altLang="en-US" dirty="0"/>
              <a:t>：文件分配表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D6128-5B68-084B-994A-B7CAB649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D7289-FB46-BF45-AE77-1F1E48239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917C3-324B-EE4A-97C9-FB62758A5F38}"/>
              </a:ext>
            </a:extLst>
          </p:cNvPr>
          <p:cNvSpPr/>
          <p:nvPr/>
        </p:nvSpPr>
        <p:spPr>
          <a:xfrm>
            <a:off x="558006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1FB3D7-6939-0C41-984A-A102E456E2D1}"/>
              </a:ext>
            </a:extLst>
          </p:cNvPr>
          <p:cNvSpPr/>
          <p:nvPr/>
        </p:nvSpPr>
        <p:spPr>
          <a:xfrm>
            <a:off x="1133872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FAT1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19E70A-C69B-B44E-B31C-B1E2A23CA73E}"/>
              </a:ext>
            </a:extLst>
          </p:cNvPr>
          <p:cNvSpPr/>
          <p:nvPr/>
        </p:nvSpPr>
        <p:spPr>
          <a:xfrm>
            <a:off x="2430016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FAT2</a:t>
            </a:r>
            <a:r>
              <a:rPr lang="zh-CN" altLang="en-US" sz="1400" dirty="0"/>
              <a:t>（备份）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2EBB5-7CC7-D444-ACCC-0C7DD1ED2818}"/>
              </a:ext>
            </a:extLst>
          </p:cNvPr>
          <p:cNvSpPr/>
          <p:nvPr/>
        </p:nvSpPr>
        <p:spPr>
          <a:xfrm>
            <a:off x="3726160" y="1410882"/>
            <a:ext cx="384882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数据区（文件和目录）</a:t>
            </a:r>
            <a:endParaRPr lang="en-C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E2B30-026A-C74D-AE67-25A30ADFBF2B}"/>
              </a:ext>
            </a:extLst>
          </p:cNvPr>
          <p:cNvSpPr txBox="1"/>
          <p:nvPr/>
        </p:nvSpPr>
        <p:spPr>
          <a:xfrm>
            <a:off x="701185" y="4643645"/>
            <a:ext cx="656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</a:t>
            </a:r>
            <a:r>
              <a:rPr lang="zh-CN" altLang="en-US" dirty="0"/>
              <a:t>为每个数据簇增加了一个</a:t>
            </a:r>
            <a:r>
              <a:rPr lang="en-US" altLang="zh-CN" b="1" dirty="0"/>
              <a:t>next</a:t>
            </a:r>
            <a:r>
              <a:rPr lang="zh-CN" altLang="en-US" dirty="0"/>
              <a:t>指针，让簇可以串联在一起</a:t>
            </a:r>
            <a:endParaRPr lang="en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536133-D4E7-C642-9036-38F313F7C64A}"/>
              </a:ext>
            </a:extLst>
          </p:cNvPr>
          <p:cNvSpPr/>
          <p:nvPr/>
        </p:nvSpPr>
        <p:spPr>
          <a:xfrm>
            <a:off x="1545935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44CC98-02D7-3B40-9992-53591BC39A03}"/>
              </a:ext>
            </a:extLst>
          </p:cNvPr>
          <p:cNvSpPr/>
          <p:nvPr/>
        </p:nvSpPr>
        <p:spPr>
          <a:xfrm>
            <a:off x="2245602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570E25-CEFA-D344-9F16-04BF536D8D03}"/>
              </a:ext>
            </a:extLst>
          </p:cNvPr>
          <p:cNvSpPr/>
          <p:nvPr/>
        </p:nvSpPr>
        <p:spPr>
          <a:xfrm>
            <a:off x="2945269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0007</a:t>
            </a:r>
            <a:endParaRPr lang="en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92250C-A39D-954C-8D80-898C1B86EF43}"/>
              </a:ext>
            </a:extLst>
          </p:cNvPr>
          <p:cNvSpPr/>
          <p:nvPr/>
        </p:nvSpPr>
        <p:spPr>
          <a:xfrm>
            <a:off x="3644936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0005</a:t>
            </a:r>
            <a:endParaRPr lang="en-CN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491EC-B36B-164F-99CF-CD95A2B79349}"/>
              </a:ext>
            </a:extLst>
          </p:cNvPr>
          <p:cNvSpPr/>
          <p:nvPr/>
        </p:nvSpPr>
        <p:spPr>
          <a:xfrm>
            <a:off x="4344603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E0905C-2120-FF49-A5D1-6AFF3B6DE84B}"/>
              </a:ext>
            </a:extLst>
          </p:cNvPr>
          <p:cNvSpPr/>
          <p:nvPr/>
        </p:nvSpPr>
        <p:spPr>
          <a:xfrm>
            <a:off x="5044270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0006</a:t>
            </a:r>
            <a:endParaRPr lang="en-C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440829-A5C5-2145-8194-EABDE4055887}"/>
              </a:ext>
            </a:extLst>
          </p:cNvPr>
          <p:cNvSpPr/>
          <p:nvPr/>
        </p:nvSpPr>
        <p:spPr>
          <a:xfrm>
            <a:off x="5743937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FFFF</a:t>
            </a:r>
            <a:endParaRPr lang="en-CN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B973BF-89E1-5943-9B74-192C34737EEC}"/>
              </a:ext>
            </a:extLst>
          </p:cNvPr>
          <p:cNvSpPr/>
          <p:nvPr/>
        </p:nvSpPr>
        <p:spPr>
          <a:xfrm>
            <a:off x="6443604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FFFF</a:t>
            </a:r>
            <a:endParaRPr lang="en-CN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6B93DE-1ECB-124E-8664-2738528B3FB8}"/>
              </a:ext>
            </a:extLst>
          </p:cNvPr>
          <p:cNvSpPr/>
          <p:nvPr/>
        </p:nvSpPr>
        <p:spPr>
          <a:xfrm>
            <a:off x="1545935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47B493-8223-1749-B147-A5156DAFA436}"/>
              </a:ext>
            </a:extLst>
          </p:cNvPr>
          <p:cNvSpPr/>
          <p:nvPr/>
        </p:nvSpPr>
        <p:spPr>
          <a:xfrm>
            <a:off x="2245602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DBB5D-21DD-3540-A785-3DADE4557D74}"/>
              </a:ext>
            </a:extLst>
          </p:cNvPr>
          <p:cNvSpPr/>
          <p:nvPr/>
        </p:nvSpPr>
        <p:spPr>
          <a:xfrm>
            <a:off x="2945269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2809BD-3364-3942-8041-657ED9FFF9B6}"/>
              </a:ext>
            </a:extLst>
          </p:cNvPr>
          <p:cNvSpPr/>
          <p:nvPr/>
        </p:nvSpPr>
        <p:spPr>
          <a:xfrm>
            <a:off x="3644936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BC9E1B-071D-714D-9F7C-FA67A639FBA7}"/>
              </a:ext>
            </a:extLst>
          </p:cNvPr>
          <p:cNvSpPr/>
          <p:nvPr/>
        </p:nvSpPr>
        <p:spPr>
          <a:xfrm>
            <a:off x="4344603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6A7535-271D-6B49-8267-57640999136A}"/>
              </a:ext>
            </a:extLst>
          </p:cNvPr>
          <p:cNvSpPr/>
          <p:nvPr/>
        </p:nvSpPr>
        <p:spPr>
          <a:xfrm>
            <a:off x="5044270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31A33E-F77F-5140-B39E-A1CF2A776397}"/>
              </a:ext>
            </a:extLst>
          </p:cNvPr>
          <p:cNvSpPr/>
          <p:nvPr/>
        </p:nvSpPr>
        <p:spPr>
          <a:xfrm>
            <a:off x="5743937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E1F2AE-37A4-5848-B16A-04F5029BE954}"/>
              </a:ext>
            </a:extLst>
          </p:cNvPr>
          <p:cNvSpPr/>
          <p:nvPr/>
        </p:nvSpPr>
        <p:spPr>
          <a:xfrm>
            <a:off x="6443604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CF015A-7C05-D844-9F5B-6B93F1862FB8}"/>
              </a:ext>
            </a:extLst>
          </p:cNvPr>
          <p:cNvSpPr/>
          <p:nvPr/>
        </p:nvSpPr>
        <p:spPr>
          <a:xfrm>
            <a:off x="7143271" y="2866792"/>
            <a:ext cx="1317161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</a:t>
            </a:r>
            <a:endParaRPr lang="en-CN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B33798-ECEE-8341-BD8A-922C1119A0C4}"/>
              </a:ext>
            </a:extLst>
          </p:cNvPr>
          <p:cNvSpPr/>
          <p:nvPr/>
        </p:nvSpPr>
        <p:spPr>
          <a:xfrm>
            <a:off x="7143271" y="4122513"/>
            <a:ext cx="1317161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</a:t>
            </a:r>
            <a:endParaRPr lang="en-C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C9086-5EA9-5A4C-A5C9-27F476FDC1BA}"/>
              </a:ext>
            </a:extLst>
          </p:cNvPr>
          <p:cNvSpPr txBox="1"/>
          <p:nvPr/>
        </p:nvSpPr>
        <p:spPr>
          <a:xfrm>
            <a:off x="558006" y="30252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数据</a:t>
            </a:r>
            <a:r>
              <a:rPr lang="zh-CN" altLang="en-US" dirty="0"/>
              <a:t>簇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6CF519-9AD5-D649-B8D4-5E09F1B0D026}"/>
              </a:ext>
            </a:extLst>
          </p:cNvPr>
          <p:cNvSpPr txBox="1"/>
          <p:nvPr/>
        </p:nvSpPr>
        <p:spPr>
          <a:xfrm>
            <a:off x="701185" y="4095868"/>
            <a:ext cx="590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</a:t>
            </a:r>
            <a:endParaRPr lang="en-CN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6308D9-CBEF-0F44-AC6B-A1EE7CAE0690}"/>
              </a:ext>
            </a:extLst>
          </p:cNvPr>
          <p:cNvCxnSpPr>
            <a:cxnSpLocks/>
          </p:cNvCxnSpPr>
          <p:nvPr/>
        </p:nvCxnSpPr>
        <p:spPr>
          <a:xfrm flipH="1">
            <a:off x="1569020" y="1914938"/>
            <a:ext cx="2157141" cy="95185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C38ECE-3262-F644-9C1D-1C8FCF487903}"/>
              </a:ext>
            </a:extLst>
          </p:cNvPr>
          <p:cNvCxnSpPr>
            <a:cxnSpLocks/>
          </p:cNvCxnSpPr>
          <p:nvPr/>
        </p:nvCxnSpPr>
        <p:spPr>
          <a:xfrm>
            <a:off x="7574980" y="1914938"/>
            <a:ext cx="867835" cy="95185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2683B46-0ABF-9745-B634-4C1091E5F3E2}"/>
              </a:ext>
            </a:extLst>
          </p:cNvPr>
          <p:cNvCxnSpPr>
            <a:cxnSpLocks/>
            <a:stCxn id="7" idx="2"/>
            <a:endCxn id="31" idx="1"/>
          </p:cNvCxnSpPr>
          <p:nvPr/>
        </p:nvCxnSpPr>
        <p:spPr>
          <a:xfrm rot="5400000">
            <a:off x="58767" y="2557357"/>
            <a:ext cx="2365596" cy="1080759"/>
          </a:xfrm>
          <a:prstGeom prst="bentConnector4">
            <a:avLst>
              <a:gd name="adj1" fmla="val 19979"/>
              <a:gd name="adj2" fmla="val 121152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FA32A9-9578-C045-9E06-D80AF5E76A08}"/>
              </a:ext>
            </a:extLst>
          </p:cNvPr>
          <p:cNvSpPr txBox="1"/>
          <p:nvPr/>
        </p:nvSpPr>
        <p:spPr>
          <a:xfrm>
            <a:off x="1542776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0B8E34-F459-CE48-9B1D-BE3F65090F6E}"/>
              </a:ext>
            </a:extLst>
          </p:cNvPr>
          <p:cNvSpPr txBox="1"/>
          <p:nvPr/>
        </p:nvSpPr>
        <p:spPr>
          <a:xfrm>
            <a:off x="2247825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ABC0E4-A7EF-F343-BB42-A565D7F0ACE5}"/>
              </a:ext>
            </a:extLst>
          </p:cNvPr>
          <p:cNvSpPr txBox="1"/>
          <p:nvPr/>
        </p:nvSpPr>
        <p:spPr>
          <a:xfrm>
            <a:off x="2948590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40F2B8-B3CB-134C-B320-C42A525D0A95}"/>
              </a:ext>
            </a:extLst>
          </p:cNvPr>
          <p:cNvSpPr txBox="1"/>
          <p:nvPr/>
        </p:nvSpPr>
        <p:spPr>
          <a:xfrm>
            <a:off x="3653639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en-C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924623-CF20-F54C-850F-C176211158E2}"/>
              </a:ext>
            </a:extLst>
          </p:cNvPr>
          <p:cNvSpPr txBox="1"/>
          <p:nvPr/>
        </p:nvSpPr>
        <p:spPr>
          <a:xfrm>
            <a:off x="4362051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C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E7B0DD-DFD6-7743-84A9-439C1818B265}"/>
              </a:ext>
            </a:extLst>
          </p:cNvPr>
          <p:cNvSpPr txBox="1"/>
          <p:nvPr/>
        </p:nvSpPr>
        <p:spPr>
          <a:xfrm>
            <a:off x="5067100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0762D2-5993-3142-BB50-55576997297F}"/>
              </a:ext>
            </a:extLst>
          </p:cNvPr>
          <p:cNvSpPr txBox="1"/>
          <p:nvPr/>
        </p:nvSpPr>
        <p:spPr>
          <a:xfrm>
            <a:off x="5738555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en-C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C8BBDC-6DEB-5445-B19B-DBAA445A2F4D}"/>
              </a:ext>
            </a:extLst>
          </p:cNvPr>
          <p:cNvSpPr txBox="1"/>
          <p:nvPr/>
        </p:nvSpPr>
        <p:spPr>
          <a:xfrm>
            <a:off x="6443604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en-C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B541A0-B06F-264E-BC7C-C5ED6C601F58}"/>
              </a:ext>
            </a:extLst>
          </p:cNvPr>
          <p:cNvSpPr txBox="1"/>
          <p:nvPr/>
        </p:nvSpPr>
        <p:spPr>
          <a:xfrm>
            <a:off x="7143271" y="24974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48D424-CF10-2F44-9A91-7B2EB36161CC}"/>
              </a:ext>
            </a:extLst>
          </p:cNvPr>
          <p:cNvSpPr txBox="1"/>
          <p:nvPr/>
        </p:nvSpPr>
        <p:spPr>
          <a:xfrm>
            <a:off x="1042757" y="255097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簇号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2858020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23E5-CCB3-754E-A633-D0C74294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zh-CN" altLang="en-US" dirty="0"/>
              <a:t>：文件分配表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D6128-5B68-084B-994A-B7CAB649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D7289-FB46-BF45-AE77-1F1E48239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E2B30-026A-C74D-AE67-25A30ADFBF2B}"/>
              </a:ext>
            </a:extLst>
          </p:cNvPr>
          <p:cNvSpPr txBox="1"/>
          <p:nvPr/>
        </p:nvSpPr>
        <p:spPr>
          <a:xfrm>
            <a:off x="701185" y="4631344"/>
            <a:ext cx="656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</a:t>
            </a:r>
            <a:r>
              <a:rPr lang="zh-CN" altLang="en-US" dirty="0"/>
              <a:t>为每个数据簇增加了一个</a:t>
            </a:r>
            <a:r>
              <a:rPr lang="en-US" altLang="zh-CN" b="1" dirty="0"/>
              <a:t>next</a:t>
            </a:r>
            <a:r>
              <a:rPr lang="zh-CN" altLang="en-US" dirty="0"/>
              <a:t>指针，让簇可以串联在一起</a:t>
            </a:r>
            <a:endParaRPr lang="en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536133-D4E7-C642-9036-38F313F7C64A}"/>
              </a:ext>
            </a:extLst>
          </p:cNvPr>
          <p:cNvSpPr/>
          <p:nvPr/>
        </p:nvSpPr>
        <p:spPr>
          <a:xfrm>
            <a:off x="1545935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44CC98-02D7-3B40-9992-53591BC39A03}"/>
              </a:ext>
            </a:extLst>
          </p:cNvPr>
          <p:cNvSpPr/>
          <p:nvPr/>
        </p:nvSpPr>
        <p:spPr>
          <a:xfrm>
            <a:off x="2245602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570E25-CEFA-D344-9F16-04BF536D8D03}"/>
              </a:ext>
            </a:extLst>
          </p:cNvPr>
          <p:cNvSpPr/>
          <p:nvPr/>
        </p:nvSpPr>
        <p:spPr>
          <a:xfrm>
            <a:off x="2945269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0007</a:t>
            </a:r>
            <a:endParaRPr lang="en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92250C-A39D-954C-8D80-898C1B86EF43}"/>
              </a:ext>
            </a:extLst>
          </p:cNvPr>
          <p:cNvSpPr/>
          <p:nvPr/>
        </p:nvSpPr>
        <p:spPr>
          <a:xfrm>
            <a:off x="3644936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0005</a:t>
            </a:r>
            <a:endParaRPr lang="en-CN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491EC-B36B-164F-99CF-CD95A2B79349}"/>
              </a:ext>
            </a:extLst>
          </p:cNvPr>
          <p:cNvSpPr/>
          <p:nvPr/>
        </p:nvSpPr>
        <p:spPr>
          <a:xfrm>
            <a:off x="4344603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E0905C-2120-FF49-A5D1-6AFF3B6DE84B}"/>
              </a:ext>
            </a:extLst>
          </p:cNvPr>
          <p:cNvSpPr/>
          <p:nvPr/>
        </p:nvSpPr>
        <p:spPr>
          <a:xfrm>
            <a:off x="5044270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0006</a:t>
            </a:r>
            <a:endParaRPr lang="en-C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440829-A5C5-2145-8194-EABDE4055887}"/>
              </a:ext>
            </a:extLst>
          </p:cNvPr>
          <p:cNvSpPr/>
          <p:nvPr/>
        </p:nvSpPr>
        <p:spPr>
          <a:xfrm>
            <a:off x="5743937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FFFF</a:t>
            </a:r>
            <a:endParaRPr lang="en-CN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B973BF-89E1-5943-9B74-192C34737EEC}"/>
              </a:ext>
            </a:extLst>
          </p:cNvPr>
          <p:cNvSpPr/>
          <p:nvPr/>
        </p:nvSpPr>
        <p:spPr>
          <a:xfrm>
            <a:off x="6443604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FFFF</a:t>
            </a:r>
            <a:endParaRPr lang="en-CN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6B93DE-1ECB-124E-8664-2738528B3FB8}"/>
              </a:ext>
            </a:extLst>
          </p:cNvPr>
          <p:cNvSpPr/>
          <p:nvPr/>
        </p:nvSpPr>
        <p:spPr>
          <a:xfrm>
            <a:off x="1545935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47B493-8223-1749-B147-A5156DAFA436}"/>
              </a:ext>
            </a:extLst>
          </p:cNvPr>
          <p:cNvSpPr/>
          <p:nvPr/>
        </p:nvSpPr>
        <p:spPr>
          <a:xfrm>
            <a:off x="2245602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DBB5D-21DD-3540-A785-3DADE4557D74}"/>
              </a:ext>
            </a:extLst>
          </p:cNvPr>
          <p:cNvSpPr/>
          <p:nvPr/>
        </p:nvSpPr>
        <p:spPr>
          <a:xfrm>
            <a:off x="2945269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2809BD-3364-3942-8041-657ED9FFF9B6}"/>
              </a:ext>
            </a:extLst>
          </p:cNvPr>
          <p:cNvSpPr/>
          <p:nvPr/>
        </p:nvSpPr>
        <p:spPr>
          <a:xfrm>
            <a:off x="3644936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BC9E1B-071D-714D-9F7C-FA67A639FBA7}"/>
              </a:ext>
            </a:extLst>
          </p:cNvPr>
          <p:cNvSpPr/>
          <p:nvPr/>
        </p:nvSpPr>
        <p:spPr>
          <a:xfrm>
            <a:off x="4344603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6A7535-271D-6B49-8267-57640999136A}"/>
              </a:ext>
            </a:extLst>
          </p:cNvPr>
          <p:cNvSpPr/>
          <p:nvPr/>
        </p:nvSpPr>
        <p:spPr>
          <a:xfrm>
            <a:off x="5044270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31A33E-F77F-5140-B39E-A1CF2A776397}"/>
              </a:ext>
            </a:extLst>
          </p:cNvPr>
          <p:cNvSpPr/>
          <p:nvPr/>
        </p:nvSpPr>
        <p:spPr>
          <a:xfrm>
            <a:off x="5743937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E1F2AE-37A4-5848-B16A-04F5029BE954}"/>
              </a:ext>
            </a:extLst>
          </p:cNvPr>
          <p:cNvSpPr/>
          <p:nvPr/>
        </p:nvSpPr>
        <p:spPr>
          <a:xfrm>
            <a:off x="6443604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CF015A-7C05-D844-9F5B-6B93F1862FB8}"/>
              </a:ext>
            </a:extLst>
          </p:cNvPr>
          <p:cNvSpPr/>
          <p:nvPr/>
        </p:nvSpPr>
        <p:spPr>
          <a:xfrm>
            <a:off x="7143271" y="2854491"/>
            <a:ext cx="1317161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</a:t>
            </a:r>
            <a:endParaRPr lang="en-CN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B33798-ECEE-8341-BD8A-922C1119A0C4}"/>
              </a:ext>
            </a:extLst>
          </p:cNvPr>
          <p:cNvSpPr/>
          <p:nvPr/>
        </p:nvSpPr>
        <p:spPr>
          <a:xfrm>
            <a:off x="7143271" y="4110212"/>
            <a:ext cx="1317161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</a:t>
            </a:r>
            <a:endParaRPr lang="en-C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C9086-5EA9-5A4C-A5C9-27F476FDC1BA}"/>
              </a:ext>
            </a:extLst>
          </p:cNvPr>
          <p:cNvSpPr txBox="1"/>
          <p:nvPr/>
        </p:nvSpPr>
        <p:spPr>
          <a:xfrm>
            <a:off x="558006" y="30129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数据</a:t>
            </a:r>
            <a:r>
              <a:rPr lang="zh-CN" altLang="en-US" dirty="0"/>
              <a:t>簇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6CF519-9AD5-D649-B8D4-5E09F1B0D026}"/>
              </a:ext>
            </a:extLst>
          </p:cNvPr>
          <p:cNvSpPr txBox="1"/>
          <p:nvPr/>
        </p:nvSpPr>
        <p:spPr>
          <a:xfrm>
            <a:off x="701185" y="4083567"/>
            <a:ext cx="590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</a:t>
            </a:r>
            <a:endParaRPr lang="en-C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FA32A9-9578-C045-9E06-D80AF5E76A08}"/>
              </a:ext>
            </a:extLst>
          </p:cNvPr>
          <p:cNvSpPr txBox="1"/>
          <p:nvPr/>
        </p:nvSpPr>
        <p:spPr>
          <a:xfrm>
            <a:off x="1542776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0B8E34-F459-CE48-9B1D-BE3F65090F6E}"/>
              </a:ext>
            </a:extLst>
          </p:cNvPr>
          <p:cNvSpPr txBox="1"/>
          <p:nvPr/>
        </p:nvSpPr>
        <p:spPr>
          <a:xfrm>
            <a:off x="2247825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ABC0E4-A7EF-F343-BB42-A565D7F0ACE5}"/>
              </a:ext>
            </a:extLst>
          </p:cNvPr>
          <p:cNvSpPr txBox="1"/>
          <p:nvPr/>
        </p:nvSpPr>
        <p:spPr>
          <a:xfrm>
            <a:off x="2948590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40F2B8-B3CB-134C-B320-C42A525D0A95}"/>
              </a:ext>
            </a:extLst>
          </p:cNvPr>
          <p:cNvSpPr txBox="1"/>
          <p:nvPr/>
        </p:nvSpPr>
        <p:spPr>
          <a:xfrm>
            <a:off x="3653639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en-C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924623-CF20-F54C-850F-C176211158E2}"/>
              </a:ext>
            </a:extLst>
          </p:cNvPr>
          <p:cNvSpPr txBox="1"/>
          <p:nvPr/>
        </p:nvSpPr>
        <p:spPr>
          <a:xfrm>
            <a:off x="4362051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C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E7B0DD-DFD6-7743-84A9-439C1818B265}"/>
              </a:ext>
            </a:extLst>
          </p:cNvPr>
          <p:cNvSpPr txBox="1"/>
          <p:nvPr/>
        </p:nvSpPr>
        <p:spPr>
          <a:xfrm>
            <a:off x="5067100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0762D2-5993-3142-BB50-55576997297F}"/>
              </a:ext>
            </a:extLst>
          </p:cNvPr>
          <p:cNvSpPr txBox="1"/>
          <p:nvPr/>
        </p:nvSpPr>
        <p:spPr>
          <a:xfrm>
            <a:off x="5738555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en-C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C8BBDC-6DEB-5445-B19B-DBAA445A2F4D}"/>
              </a:ext>
            </a:extLst>
          </p:cNvPr>
          <p:cNvSpPr txBox="1"/>
          <p:nvPr/>
        </p:nvSpPr>
        <p:spPr>
          <a:xfrm>
            <a:off x="6443604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en-C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B541A0-B06F-264E-BC7C-C5ED6C601F58}"/>
              </a:ext>
            </a:extLst>
          </p:cNvPr>
          <p:cNvSpPr txBox="1"/>
          <p:nvPr/>
        </p:nvSpPr>
        <p:spPr>
          <a:xfrm>
            <a:off x="7143271" y="24851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48D424-CF10-2F44-9A91-7B2EB36161CC}"/>
              </a:ext>
            </a:extLst>
          </p:cNvPr>
          <p:cNvSpPr txBox="1"/>
          <p:nvPr/>
        </p:nvSpPr>
        <p:spPr>
          <a:xfrm>
            <a:off x="1042757" y="25386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簇号</a:t>
            </a:r>
            <a:endParaRPr lang="en-CN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2374F8-6191-9945-984B-CA6EF4D9198A}"/>
              </a:ext>
            </a:extLst>
          </p:cNvPr>
          <p:cNvSpPr/>
          <p:nvPr/>
        </p:nvSpPr>
        <p:spPr>
          <a:xfrm>
            <a:off x="1542776" y="1816832"/>
            <a:ext cx="1157016" cy="2729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OSHW.TXT</a:t>
            </a:r>
            <a:endParaRPr lang="en-CN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D26235C-AFFF-8846-A3C8-6D5183902EAB}"/>
              </a:ext>
            </a:extLst>
          </p:cNvPr>
          <p:cNvSpPr/>
          <p:nvPr/>
        </p:nvSpPr>
        <p:spPr>
          <a:xfrm>
            <a:off x="2699792" y="1816831"/>
            <a:ext cx="699667" cy="2729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0003</a:t>
            </a:r>
            <a:endParaRPr lang="en-CN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517AA9-55EB-5346-844A-994CC36D1ED0}"/>
              </a:ext>
            </a:extLst>
          </p:cNvPr>
          <p:cNvSpPr txBox="1"/>
          <p:nvPr/>
        </p:nvSpPr>
        <p:spPr>
          <a:xfrm>
            <a:off x="690989" y="1777380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目录项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D2FF70-5B66-6341-83DE-FA18224CB4F1}"/>
              </a:ext>
            </a:extLst>
          </p:cNvPr>
          <p:cNvCxnSpPr>
            <a:cxnSpLocks/>
            <a:stCxn id="54" idx="3"/>
            <a:endCxn id="24" idx="0"/>
          </p:cNvCxnSpPr>
          <p:nvPr/>
        </p:nvCxnSpPr>
        <p:spPr>
          <a:xfrm>
            <a:off x="3399459" y="1953285"/>
            <a:ext cx="595311" cy="90120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11">
            <a:extLst>
              <a:ext uri="{FF2B5EF4-FFF2-40B4-BE49-F238E27FC236}">
                <a16:creationId xmlns:a16="http://schemas.microsoft.com/office/drawing/2014/main" id="{A72A394E-204E-CA4E-9CAB-8C2D10D40F13}"/>
              </a:ext>
            </a:extLst>
          </p:cNvPr>
          <p:cNvCxnSpPr>
            <a:cxnSpLocks/>
            <a:stCxn id="16" idx="0"/>
            <a:endCxn id="26" idx="2"/>
          </p:cNvCxnSpPr>
          <p:nvPr/>
        </p:nvCxnSpPr>
        <p:spPr>
          <a:xfrm rot="5400000" flipH="1" flipV="1">
            <a:off x="4409719" y="3125827"/>
            <a:ext cx="569437" cy="1399334"/>
          </a:xfrm>
          <a:prstGeom prst="bentConnector3">
            <a:avLst>
              <a:gd name="adj1" fmla="val 6396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11">
            <a:extLst>
              <a:ext uri="{FF2B5EF4-FFF2-40B4-BE49-F238E27FC236}">
                <a16:creationId xmlns:a16="http://schemas.microsoft.com/office/drawing/2014/main" id="{8E6643BE-0F91-3A45-9D19-A28E5A45DD7E}"/>
              </a:ext>
            </a:extLst>
          </p:cNvPr>
          <p:cNvCxnSpPr>
            <a:cxnSpLocks/>
            <a:stCxn id="18" idx="0"/>
            <a:endCxn id="27" idx="2"/>
          </p:cNvCxnSpPr>
          <p:nvPr/>
        </p:nvCxnSpPr>
        <p:spPr>
          <a:xfrm rot="5400000" flipH="1" flipV="1">
            <a:off x="5459219" y="3475661"/>
            <a:ext cx="569437" cy="699667"/>
          </a:xfrm>
          <a:prstGeom prst="bentConnector3">
            <a:avLst>
              <a:gd name="adj1" fmla="val 3138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11">
            <a:extLst>
              <a:ext uri="{FF2B5EF4-FFF2-40B4-BE49-F238E27FC236}">
                <a16:creationId xmlns:a16="http://schemas.microsoft.com/office/drawing/2014/main" id="{4728514E-B2D5-DF4C-8024-34435634B0A9}"/>
              </a:ext>
            </a:extLst>
          </p:cNvPr>
          <p:cNvCxnSpPr>
            <a:cxnSpLocks/>
          </p:cNvCxnSpPr>
          <p:nvPr/>
        </p:nvCxnSpPr>
        <p:spPr>
          <a:xfrm>
            <a:off x="3851920" y="3540775"/>
            <a:ext cx="0" cy="569437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1">
            <a:extLst>
              <a:ext uri="{FF2B5EF4-FFF2-40B4-BE49-F238E27FC236}">
                <a16:creationId xmlns:a16="http://schemas.microsoft.com/office/drawing/2014/main" id="{D678F558-B613-8041-8E6A-AFFD64DDDD5C}"/>
              </a:ext>
            </a:extLst>
          </p:cNvPr>
          <p:cNvCxnSpPr>
            <a:cxnSpLocks/>
          </p:cNvCxnSpPr>
          <p:nvPr/>
        </p:nvCxnSpPr>
        <p:spPr>
          <a:xfrm>
            <a:off x="5292080" y="3540775"/>
            <a:ext cx="0" cy="569437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11">
            <a:extLst>
              <a:ext uri="{FF2B5EF4-FFF2-40B4-BE49-F238E27FC236}">
                <a16:creationId xmlns:a16="http://schemas.microsoft.com/office/drawing/2014/main" id="{7B18EDDD-2F3F-434F-AC96-EAABF6FC4BD8}"/>
              </a:ext>
            </a:extLst>
          </p:cNvPr>
          <p:cNvCxnSpPr>
            <a:cxnSpLocks/>
          </p:cNvCxnSpPr>
          <p:nvPr/>
        </p:nvCxnSpPr>
        <p:spPr>
          <a:xfrm>
            <a:off x="5940152" y="3540775"/>
            <a:ext cx="0" cy="569437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676A5D0-50E2-4E4F-A38E-4C6067DC9107}"/>
              </a:ext>
            </a:extLst>
          </p:cNvPr>
          <p:cNvSpPr txBox="1"/>
          <p:nvPr/>
        </p:nvSpPr>
        <p:spPr>
          <a:xfrm>
            <a:off x="4233071" y="1810778"/>
            <a:ext cx="431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OSHW.TXT</a:t>
            </a:r>
            <a:r>
              <a:rPr lang="zh-CN" altLang="en-US" dirty="0"/>
              <a:t>文件的数据保存在簇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36306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75C0-EDD5-A846-9EB6-137D2AE1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en-US" altLang="zh-CN" dirty="0"/>
              <a:t>32</a:t>
            </a:r>
            <a:r>
              <a:rPr lang="zh-CN" altLang="en-US" dirty="0"/>
              <a:t>中的目录项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26B05-E452-A744-ACC5-F0488EE4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EC68-0C42-E74C-A80D-20E4A5D3A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72C062E-8904-6B41-B787-7505476882CF}"/>
              </a:ext>
            </a:extLst>
          </p:cNvPr>
          <p:cNvGrpSpPr/>
          <p:nvPr/>
        </p:nvGrpSpPr>
        <p:grpSpPr>
          <a:xfrm>
            <a:off x="579112" y="3510213"/>
            <a:ext cx="7985775" cy="1197214"/>
            <a:chOff x="742221" y="1476524"/>
            <a:chExt cx="7985775" cy="119721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8CFCEA4-507F-3947-A37E-5D414D6067B9}"/>
                </a:ext>
              </a:extLst>
            </p:cNvPr>
            <p:cNvSpPr/>
            <p:nvPr/>
          </p:nvSpPr>
          <p:spPr>
            <a:xfrm>
              <a:off x="75204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CA68B9-4F37-1845-B687-EE17E32B8940}"/>
                </a:ext>
              </a:extLst>
            </p:cNvPr>
            <p:cNvSpPr/>
            <p:nvPr/>
          </p:nvSpPr>
          <p:spPr>
            <a:xfrm>
              <a:off x="981788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08669A-5F6D-4942-9381-90AA765758E7}"/>
                </a:ext>
              </a:extLst>
            </p:cNvPr>
            <p:cNvSpPr/>
            <p:nvPr/>
          </p:nvSpPr>
          <p:spPr>
            <a:xfrm>
              <a:off x="1211534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9B3CEEF-4F5C-4B4A-8782-3DD270560997}"/>
                </a:ext>
              </a:extLst>
            </p:cNvPr>
            <p:cNvSpPr/>
            <p:nvPr/>
          </p:nvSpPr>
          <p:spPr>
            <a:xfrm>
              <a:off x="144128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33A499-B9DA-9346-809E-B122EB0EB2D0}"/>
                </a:ext>
              </a:extLst>
            </p:cNvPr>
            <p:cNvSpPr/>
            <p:nvPr/>
          </p:nvSpPr>
          <p:spPr>
            <a:xfrm>
              <a:off x="1671027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5044B4-F4E0-E649-8CF9-BD80F4FEADA3}"/>
                </a:ext>
              </a:extLst>
            </p:cNvPr>
            <p:cNvSpPr/>
            <p:nvPr/>
          </p:nvSpPr>
          <p:spPr>
            <a:xfrm>
              <a:off x="190077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8B11478-6FB4-CD42-8016-CD29215328CB}"/>
                </a:ext>
              </a:extLst>
            </p:cNvPr>
            <p:cNvSpPr/>
            <p:nvPr/>
          </p:nvSpPr>
          <p:spPr>
            <a:xfrm>
              <a:off x="213051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BD9454-976F-9B4D-ACF3-96D45DAEB91C}"/>
                </a:ext>
              </a:extLst>
            </p:cNvPr>
            <p:cNvSpPr/>
            <p:nvPr/>
          </p:nvSpPr>
          <p:spPr>
            <a:xfrm>
              <a:off x="2360266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AAE853D-B9BA-D248-B338-E22373A20AF3}"/>
                </a:ext>
              </a:extLst>
            </p:cNvPr>
            <p:cNvSpPr/>
            <p:nvPr/>
          </p:nvSpPr>
          <p:spPr>
            <a:xfrm>
              <a:off x="259001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0468D18-3DE3-3B49-B1AE-552EFC3935E3}"/>
                </a:ext>
              </a:extLst>
            </p:cNvPr>
            <p:cNvSpPr/>
            <p:nvPr/>
          </p:nvSpPr>
          <p:spPr>
            <a:xfrm>
              <a:off x="281975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B3D5EB-0E84-A749-97B9-1D9A00B56F13}"/>
                </a:ext>
              </a:extLst>
            </p:cNvPr>
            <p:cNvSpPr/>
            <p:nvPr/>
          </p:nvSpPr>
          <p:spPr>
            <a:xfrm>
              <a:off x="3049506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70CCDD3-92BD-3B45-B136-61A2D65B4F9C}"/>
                </a:ext>
              </a:extLst>
            </p:cNvPr>
            <p:cNvSpPr/>
            <p:nvPr/>
          </p:nvSpPr>
          <p:spPr>
            <a:xfrm>
              <a:off x="3279252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D6254C-7B2F-7044-8C80-E0D88E2DE6B2}"/>
                </a:ext>
              </a:extLst>
            </p:cNvPr>
            <p:cNvSpPr/>
            <p:nvPr/>
          </p:nvSpPr>
          <p:spPr>
            <a:xfrm>
              <a:off x="350899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E750273-CFE7-5D4D-B62D-C606052B9389}"/>
                </a:ext>
              </a:extLst>
            </p:cNvPr>
            <p:cNvSpPr/>
            <p:nvPr/>
          </p:nvSpPr>
          <p:spPr>
            <a:xfrm>
              <a:off x="3738744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42E2865-A00C-2246-A3E4-EC3A08E20ECC}"/>
                </a:ext>
              </a:extLst>
            </p:cNvPr>
            <p:cNvSpPr/>
            <p:nvPr/>
          </p:nvSpPr>
          <p:spPr>
            <a:xfrm>
              <a:off x="396849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C0EF98B-C2F6-4C4B-981B-920F65AB66AF}"/>
                </a:ext>
              </a:extLst>
            </p:cNvPr>
            <p:cNvSpPr/>
            <p:nvPr/>
          </p:nvSpPr>
          <p:spPr>
            <a:xfrm>
              <a:off x="4198237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19429B0-7BB0-954A-8331-142441924C11}"/>
                </a:ext>
              </a:extLst>
            </p:cNvPr>
            <p:cNvSpPr/>
            <p:nvPr/>
          </p:nvSpPr>
          <p:spPr>
            <a:xfrm>
              <a:off x="442798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F67D8F2-B74E-BF4A-BC32-655AE4E38885}"/>
                </a:ext>
              </a:extLst>
            </p:cNvPr>
            <p:cNvSpPr/>
            <p:nvPr/>
          </p:nvSpPr>
          <p:spPr>
            <a:xfrm>
              <a:off x="4657730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BAA5652-F11E-8944-A170-A2ED4FD0D9B6}"/>
                </a:ext>
              </a:extLst>
            </p:cNvPr>
            <p:cNvSpPr/>
            <p:nvPr/>
          </p:nvSpPr>
          <p:spPr>
            <a:xfrm>
              <a:off x="4887476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429F2E-B9F7-FB49-AE1D-886FE3073B69}"/>
                </a:ext>
              </a:extLst>
            </p:cNvPr>
            <p:cNvSpPr/>
            <p:nvPr/>
          </p:nvSpPr>
          <p:spPr>
            <a:xfrm>
              <a:off x="511722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EFA0C63-BE5B-7C49-B6E7-4AA9A59A03E4}"/>
                </a:ext>
              </a:extLst>
            </p:cNvPr>
            <p:cNvSpPr/>
            <p:nvPr/>
          </p:nvSpPr>
          <p:spPr>
            <a:xfrm>
              <a:off x="534696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F3AB41F-8001-8644-903C-31A69F6D503F}"/>
                </a:ext>
              </a:extLst>
            </p:cNvPr>
            <p:cNvSpPr/>
            <p:nvPr/>
          </p:nvSpPr>
          <p:spPr>
            <a:xfrm>
              <a:off x="5576715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B53CF1F-C3E4-BD47-A52D-C9662E91D209}"/>
                </a:ext>
              </a:extLst>
            </p:cNvPr>
            <p:cNvSpPr/>
            <p:nvPr/>
          </p:nvSpPr>
          <p:spPr>
            <a:xfrm>
              <a:off x="580646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E491C79-84F2-B340-8CDE-A55F17C6A229}"/>
                </a:ext>
              </a:extLst>
            </p:cNvPr>
            <p:cNvSpPr/>
            <p:nvPr/>
          </p:nvSpPr>
          <p:spPr>
            <a:xfrm>
              <a:off x="6036208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6183C3A-A5FB-1645-830C-5AF9BF1AF5A9}"/>
                </a:ext>
              </a:extLst>
            </p:cNvPr>
            <p:cNvSpPr/>
            <p:nvPr/>
          </p:nvSpPr>
          <p:spPr>
            <a:xfrm>
              <a:off x="6265955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2A585BF-5924-1F48-B95D-F08AC800B204}"/>
                </a:ext>
              </a:extLst>
            </p:cNvPr>
            <p:cNvSpPr/>
            <p:nvPr/>
          </p:nvSpPr>
          <p:spPr>
            <a:xfrm>
              <a:off x="649570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565613D-84AF-C445-8107-E0A68D405EF3}"/>
                </a:ext>
              </a:extLst>
            </p:cNvPr>
            <p:cNvSpPr/>
            <p:nvPr/>
          </p:nvSpPr>
          <p:spPr>
            <a:xfrm>
              <a:off x="6725448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6523017-91D9-4344-A206-5FD241498A2F}"/>
                </a:ext>
              </a:extLst>
            </p:cNvPr>
            <p:cNvSpPr/>
            <p:nvPr/>
          </p:nvSpPr>
          <p:spPr>
            <a:xfrm>
              <a:off x="6955194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6AEF30F-5C1D-4D48-9060-3576AF3683F4}"/>
                </a:ext>
              </a:extLst>
            </p:cNvPr>
            <p:cNvSpPr/>
            <p:nvPr/>
          </p:nvSpPr>
          <p:spPr>
            <a:xfrm>
              <a:off x="718494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3106507-3E47-0544-B489-023800605B18}"/>
                </a:ext>
              </a:extLst>
            </p:cNvPr>
            <p:cNvSpPr/>
            <p:nvPr/>
          </p:nvSpPr>
          <p:spPr>
            <a:xfrm>
              <a:off x="7414686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42AFC15-5AA6-6044-8504-5C0DA91AA798}"/>
                </a:ext>
              </a:extLst>
            </p:cNvPr>
            <p:cNvSpPr/>
            <p:nvPr/>
          </p:nvSpPr>
          <p:spPr>
            <a:xfrm>
              <a:off x="764443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0D18EA9-F5B5-ED44-9228-052A43F35B6C}"/>
                </a:ext>
              </a:extLst>
            </p:cNvPr>
            <p:cNvSpPr/>
            <p:nvPr/>
          </p:nvSpPr>
          <p:spPr>
            <a:xfrm>
              <a:off x="787417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10D4687-0811-7C46-86C9-DAC8AE4680C5}"/>
                </a:ext>
              </a:extLst>
            </p:cNvPr>
            <p:cNvSpPr/>
            <p:nvPr/>
          </p:nvSpPr>
          <p:spPr>
            <a:xfrm>
              <a:off x="742221" y="1845856"/>
              <a:ext cx="2527211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BE5380C-9751-2C40-BC1A-83BB580E951F}"/>
                </a:ext>
              </a:extLst>
            </p:cNvPr>
            <p:cNvSpPr txBox="1"/>
            <p:nvPr/>
          </p:nvSpPr>
          <p:spPr>
            <a:xfrm>
              <a:off x="1397687" y="147917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短文件名</a:t>
              </a:r>
              <a:endParaRPr lang="en-CN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EC313EB-9C28-2847-B281-6C95EA91478A}"/>
                </a:ext>
              </a:extLst>
            </p:cNvPr>
            <p:cNvSpPr/>
            <p:nvPr/>
          </p:nvSpPr>
          <p:spPr>
            <a:xfrm>
              <a:off x="7184941" y="1848505"/>
              <a:ext cx="918985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4412B6-49AA-2541-A161-70A7B9DB4DD7}"/>
                </a:ext>
              </a:extLst>
            </p:cNvPr>
            <p:cNvSpPr txBox="1"/>
            <p:nvPr/>
          </p:nvSpPr>
          <p:spPr>
            <a:xfrm>
              <a:off x="7620000" y="147885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文件</a:t>
              </a:r>
              <a:r>
                <a:rPr lang="zh-CN" altLang="en-US" dirty="0"/>
                <a:t>大小</a:t>
              </a:r>
              <a:endParaRPr lang="en-CN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BC8FB2-076E-AA45-90EF-1D08FFF44BE3}"/>
                </a:ext>
              </a:extLst>
            </p:cNvPr>
            <p:cNvSpPr/>
            <p:nvPr/>
          </p:nvSpPr>
          <p:spPr>
            <a:xfrm>
              <a:off x="6728018" y="1847622"/>
              <a:ext cx="459493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D13ECC1-42F0-EE4E-93D7-1721A4793F99}"/>
                </a:ext>
              </a:extLst>
            </p:cNvPr>
            <p:cNvSpPr txBox="1"/>
            <p:nvPr/>
          </p:nvSpPr>
          <p:spPr>
            <a:xfrm>
              <a:off x="6268621" y="230440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簇号</a:t>
              </a:r>
              <a:r>
                <a:rPr lang="zh-CN" altLang="en-US" dirty="0"/>
                <a:t>（低位）</a:t>
              </a:r>
              <a:endParaRPr lang="en-CN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A3EC66-57C0-3D42-8325-BEEFDFA4293A}"/>
                </a:ext>
              </a:extLst>
            </p:cNvPr>
            <p:cNvSpPr/>
            <p:nvPr/>
          </p:nvSpPr>
          <p:spPr>
            <a:xfrm>
              <a:off x="5344396" y="1847622"/>
              <a:ext cx="459493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908242F-9FFB-8047-A39B-251633CDB9BC}"/>
                </a:ext>
              </a:extLst>
            </p:cNvPr>
            <p:cNvSpPr txBox="1"/>
            <p:nvPr/>
          </p:nvSpPr>
          <p:spPr>
            <a:xfrm>
              <a:off x="4977448" y="1476524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簇号</a:t>
              </a:r>
              <a:r>
                <a:rPr lang="zh-CN" altLang="en-US" dirty="0"/>
                <a:t>（高位）</a:t>
              </a:r>
              <a:endParaRPr lang="en-CN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E99D41C-75F4-9D46-B82F-F950A2599430}"/>
                </a:ext>
              </a:extLst>
            </p:cNvPr>
            <p:cNvSpPr/>
            <p:nvPr/>
          </p:nvSpPr>
          <p:spPr>
            <a:xfrm>
              <a:off x="3274755" y="1845856"/>
              <a:ext cx="233601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074D69C-9EC5-C741-A01B-7561BEC002F7}"/>
                </a:ext>
              </a:extLst>
            </p:cNvPr>
            <p:cNvSpPr txBox="1"/>
            <p:nvPr/>
          </p:nvSpPr>
          <p:spPr>
            <a:xfrm>
              <a:off x="3131851" y="147652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属性</a:t>
              </a:r>
              <a:endParaRPr lang="en-CN" dirty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4482158-E7F4-A049-BA54-DA013CA25B23}"/>
              </a:ext>
            </a:extLst>
          </p:cNvPr>
          <p:cNvSpPr txBox="1"/>
          <p:nvPr/>
        </p:nvSpPr>
        <p:spPr>
          <a:xfrm>
            <a:off x="539552" y="2079030"/>
            <a:ext cx="7167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四种</a:t>
            </a:r>
            <a:r>
              <a:rPr lang="zh-CN" altLang="en-US" dirty="0"/>
              <a:t>目录项：</a:t>
            </a:r>
            <a:endParaRPr lang="en-US" altLang="zh-CN" dirty="0"/>
          </a:p>
          <a:p>
            <a:pPr lvl="1"/>
            <a:r>
              <a:rPr lang="zh-CN" altLang="en-US" dirty="0"/>
              <a:t>短文件名目录项、长文件名目录项、卷标目录项、</a:t>
            </a:r>
            <a:r>
              <a:rPr lang="en-US" altLang="zh-CN" dirty="0"/>
              <a:t>"."</a:t>
            </a:r>
            <a:r>
              <a:rPr lang="zh-CN" altLang="en-US" dirty="0"/>
              <a:t>和</a:t>
            </a:r>
            <a:r>
              <a:rPr lang="en-US" altLang="zh-CN" dirty="0"/>
              <a:t>".."</a:t>
            </a:r>
            <a:r>
              <a:rPr lang="zh-CN" altLang="en-US" dirty="0"/>
              <a:t>目录项</a:t>
            </a:r>
            <a:endParaRPr lang="en-US" altLang="zh-C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9AC904-3956-D248-B2D4-415D40A7C8F2}"/>
              </a:ext>
            </a:extLst>
          </p:cNvPr>
          <p:cNvSpPr txBox="1"/>
          <p:nvPr/>
        </p:nvSpPr>
        <p:spPr>
          <a:xfrm>
            <a:off x="539739" y="1201316"/>
            <a:ext cx="6878806" cy="873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目录同样是一种（特殊的）文件 </a:t>
            </a:r>
            <a:r>
              <a:rPr lang="en-US" altLang="zh-CN" dirty="0"/>
              <a:t>——</a:t>
            </a:r>
            <a:r>
              <a:rPr lang="zh-CN" altLang="en-US" dirty="0"/>
              <a:t> 与基于</a:t>
            </a:r>
            <a:r>
              <a:rPr lang="en-US" altLang="zh-CN" dirty="0" err="1"/>
              <a:t>inode</a:t>
            </a:r>
            <a:r>
              <a:rPr lang="zh-CN" altLang="en-US" dirty="0"/>
              <a:t>的文件系统一样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目录文件包含若干个目录项，每个目录项记录</a:t>
            </a:r>
            <a:r>
              <a:rPr lang="en-US" altLang="zh-CN" dirty="0"/>
              <a:t>32</a:t>
            </a:r>
            <a:r>
              <a:rPr lang="zh-CN" altLang="en-US" dirty="0"/>
              <a:t>个字节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9497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75C0-EDD5-A846-9EB6-137D2AE1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en-US" altLang="zh-CN" dirty="0"/>
              <a:t>32</a:t>
            </a:r>
            <a:r>
              <a:rPr lang="zh-CN" altLang="en-US" dirty="0"/>
              <a:t>中的目录项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26B05-E452-A744-ACC5-F0488EE4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EC68-0C42-E74C-A80D-20E4A5D3A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0" name="Picture 2" descr="D:\Work\TA\OS\OS-SS07\slides\fat.gif">
            <a:extLst>
              <a:ext uri="{FF2B5EF4-FFF2-40B4-BE49-F238E27FC236}">
                <a16:creationId xmlns:a16="http://schemas.microsoft.com/office/drawing/2014/main" id="{F991AAB4-A9CA-684C-BE7C-8EB0B5FEF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0" y="1606021"/>
            <a:ext cx="5969000" cy="3546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" name="Rectangle 5">
            <a:extLst>
              <a:ext uri="{FF2B5EF4-FFF2-40B4-BE49-F238E27FC236}">
                <a16:creationId xmlns:a16="http://schemas.microsoft.com/office/drawing/2014/main" id="{FB3624CB-7AFC-C540-AA66-E7102419ABB4}"/>
              </a:ext>
            </a:extLst>
          </p:cNvPr>
          <p:cNvSpPr/>
          <p:nvPr/>
        </p:nvSpPr>
        <p:spPr>
          <a:xfrm>
            <a:off x="5080000" y="1860021"/>
            <a:ext cx="381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zh-CN" sz="1500">
              <a:solidFill>
                <a:srgbClr val="FFFFFF"/>
              </a:solidFill>
              <a:ea typeface="MS PGothic" pitchFamily="34" charset="-128"/>
            </a:endParaRP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F9A905A1-260D-E145-B5F0-0497B05023E1}"/>
              </a:ext>
            </a:extLst>
          </p:cNvPr>
          <p:cNvSpPr/>
          <p:nvPr/>
        </p:nvSpPr>
        <p:spPr>
          <a:xfrm>
            <a:off x="5080000" y="2803261"/>
            <a:ext cx="381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zh-CN" sz="1500">
              <a:solidFill>
                <a:srgbClr val="FFFFFF"/>
              </a:solidFill>
              <a:ea typeface="MS PGothic" pitchFamily="34" charset="-128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DA690202-EBBE-2346-ACBF-CECC7A31A883}"/>
              </a:ext>
            </a:extLst>
          </p:cNvPr>
          <p:cNvSpPr/>
          <p:nvPr/>
        </p:nvSpPr>
        <p:spPr>
          <a:xfrm>
            <a:off x="5080000" y="3755761"/>
            <a:ext cx="381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zh-CN" sz="1500">
              <a:solidFill>
                <a:srgbClr val="FFFFFF"/>
              </a:solidFill>
              <a:ea typeface="MS PGothic" pitchFamily="34" charset="-128"/>
            </a:endParaRPr>
          </a:p>
        </p:txBody>
      </p:sp>
      <p:cxnSp>
        <p:nvCxnSpPr>
          <p:cNvPr id="66" name="Straight Arrow Connector 9">
            <a:extLst>
              <a:ext uri="{FF2B5EF4-FFF2-40B4-BE49-F238E27FC236}">
                <a16:creationId xmlns:a16="http://schemas.microsoft.com/office/drawing/2014/main" id="{1300ABBC-B083-414D-9F32-DC9E349FA99A}"/>
              </a:ext>
            </a:extLst>
          </p:cNvPr>
          <p:cNvCxnSpPr>
            <a:endCxn id="68" idx="0"/>
          </p:cNvCxnSpPr>
          <p:nvPr/>
        </p:nvCxnSpPr>
        <p:spPr>
          <a:xfrm flipH="1">
            <a:off x="3619500" y="3374761"/>
            <a:ext cx="1460500" cy="1651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0">
            <a:extLst>
              <a:ext uri="{FF2B5EF4-FFF2-40B4-BE49-F238E27FC236}">
                <a16:creationId xmlns:a16="http://schemas.microsoft.com/office/drawing/2014/main" id="{7AD2ABFD-B886-834B-9D11-0C20F8468F4E}"/>
              </a:ext>
            </a:extLst>
          </p:cNvPr>
          <p:cNvCxnSpPr>
            <a:endCxn id="68" idx="0"/>
          </p:cNvCxnSpPr>
          <p:nvPr/>
        </p:nvCxnSpPr>
        <p:spPr>
          <a:xfrm flipH="1">
            <a:off x="3619500" y="2422261"/>
            <a:ext cx="1460500" cy="26035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13">
            <a:extLst>
              <a:ext uri="{FF2B5EF4-FFF2-40B4-BE49-F238E27FC236}">
                <a16:creationId xmlns:a16="http://schemas.microsoft.com/office/drawing/2014/main" id="{BAA01040-1A12-954E-B25C-5F94B34F5C1D}"/>
              </a:ext>
            </a:extLst>
          </p:cNvPr>
          <p:cNvSpPr txBox="1"/>
          <p:nvPr/>
        </p:nvSpPr>
        <p:spPr>
          <a:xfrm>
            <a:off x="2436241" y="5025761"/>
            <a:ext cx="2366518" cy="55399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5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long file name</a:t>
            </a: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BACF23FD-CA96-A048-84CF-1A93D5FD61D6}"/>
              </a:ext>
            </a:extLst>
          </p:cNvPr>
          <p:cNvSpPr txBox="1"/>
          <p:nvPr/>
        </p:nvSpPr>
        <p:spPr>
          <a:xfrm>
            <a:off x="4934204" y="5025761"/>
            <a:ext cx="2704592" cy="32316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500" b="1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short file name</a:t>
            </a:r>
          </a:p>
        </p:txBody>
      </p:sp>
      <p:cxnSp>
        <p:nvCxnSpPr>
          <p:cNvPr id="70" name="Straight Arrow Connector 19">
            <a:extLst>
              <a:ext uri="{FF2B5EF4-FFF2-40B4-BE49-F238E27FC236}">
                <a16:creationId xmlns:a16="http://schemas.microsoft.com/office/drawing/2014/main" id="{A22BEA27-9B5C-5C4A-9A77-F34FA6B6E7EF}"/>
              </a:ext>
            </a:extLst>
          </p:cNvPr>
          <p:cNvCxnSpPr/>
          <p:nvPr/>
        </p:nvCxnSpPr>
        <p:spPr>
          <a:xfrm rot="16200000" flipH="1">
            <a:off x="5365750" y="4422511"/>
            <a:ext cx="762000" cy="5715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22">
            <a:extLst>
              <a:ext uri="{FF2B5EF4-FFF2-40B4-BE49-F238E27FC236}">
                <a16:creationId xmlns:a16="http://schemas.microsoft.com/office/drawing/2014/main" id="{C81E956A-3DA8-014B-A021-428C3439EC02}"/>
              </a:ext>
            </a:extLst>
          </p:cNvPr>
          <p:cNvSpPr txBox="1"/>
          <p:nvPr/>
        </p:nvSpPr>
        <p:spPr>
          <a:xfrm>
            <a:off x="1016000" y="1079501"/>
            <a:ext cx="6731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e.g. file with </a:t>
            </a:r>
            <a:r>
              <a:rPr lang="ja-JP" alt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“</a:t>
            </a:r>
            <a:r>
              <a:rPr lang="en-US" altLang="zh-CN" sz="1500" b="1" u="sng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The quick brown.fox</a:t>
            </a:r>
            <a:r>
              <a:rPr lang="ja-JP" alt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”</a:t>
            </a:r>
            <a:r>
              <a:rPr lang="en-US" altLang="zh-CN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 and </a:t>
            </a:r>
            <a:r>
              <a:rPr lang="ja-JP" alt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“</a:t>
            </a:r>
            <a:r>
              <a:rPr lang="en-US" altLang="zh-CN" sz="1500" b="1" u="sng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Thequi~1.fox</a:t>
            </a:r>
            <a:r>
              <a:rPr lang="ja-JP" alt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”</a:t>
            </a:r>
            <a:endParaRPr lang="en-US" altLang="zh-CN" sz="1500" b="1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ea typeface="MS PGothic" pitchFamily="34" charset="-128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2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FA59F-E557-0346-B556-783E41ED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如何生成短文件名？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1DBA7-E617-9747-8169-D2360A272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"The quick </a:t>
            </a:r>
            <a:r>
              <a:rPr lang="en-US" altLang="zh-CN" dirty="0" err="1"/>
              <a:t>brown.fox</a:t>
            </a:r>
            <a:r>
              <a:rPr lang="en-US" altLang="zh-CN" dirty="0"/>
              <a:t>"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"Thequi~1.fox"</a:t>
            </a:r>
          </a:p>
          <a:p>
            <a:r>
              <a:rPr lang="zh-CN" altLang="en-US" dirty="0"/>
              <a:t>如果后一个文件已经存在，怎么办？</a:t>
            </a:r>
            <a:endParaRPr lang="en-US" altLang="zh-CN" dirty="0"/>
          </a:p>
          <a:p>
            <a:pPr lvl="1"/>
            <a:r>
              <a:rPr lang="zh-CN" altLang="en-US" dirty="0"/>
              <a:t>尝试：</a:t>
            </a:r>
            <a:r>
              <a:rPr lang="en-US" altLang="zh-CN" dirty="0"/>
              <a:t>THEQUI~2FOX</a:t>
            </a:r>
          </a:p>
          <a:p>
            <a:pPr lvl="1"/>
            <a:r>
              <a:rPr lang="zh-CN" altLang="en-US" dirty="0"/>
              <a:t>若还冲突，则尝试：</a:t>
            </a:r>
            <a:r>
              <a:rPr lang="en-US" altLang="zh-CN" dirty="0"/>
              <a:t>THEQUI~3FOX</a:t>
            </a:r>
          </a:p>
          <a:p>
            <a:pPr lvl="1"/>
            <a:r>
              <a:rPr lang="zh-CN" altLang="en-US" dirty="0"/>
              <a:t>若还冲突，则尝试：</a:t>
            </a:r>
            <a:r>
              <a:rPr lang="en-US" altLang="zh-CN" dirty="0"/>
              <a:t> …</a:t>
            </a:r>
          </a:p>
          <a:p>
            <a:pPr lvl="1"/>
            <a:r>
              <a:rPr lang="zh-CN" altLang="en-US" dirty="0"/>
              <a:t>若还冲突，则尝试：</a:t>
            </a:r>
            <a:r>
              <a:rPr lang="en-US" altLang="zh-CN" dirty="0"/>
              <a:t>T~999999FOX</a:t>
            </a:r>
          </a:p>
          <a:p>
            <a:pPr lvl="1"/>
            <a:r>
              <a:rPr lang="zh-CN" altLang="en-US" dirty="0"/>
              <a:t>若还冲突，则报错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1D910D-A5DF-894F-81FE-72F08DD7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A36BF-F786-BB49-8EB0-C410C09C2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36764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3116-9587-0443-AFFE-8BA188D7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思考时间</a:t>
            </a:r>
            <a:r>
              <a:rPr lang="en-US" altLang="zh-CN" dirty="0"/>
              <a:t>🤔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E8ED3-2B1A-1646-A483-15482E30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lang="en-US" sz="2000" b="0" dirty="0"/>
              <a:t>FAT</a:t>
            </a:r>
            <a:r>
              <a:rPr lang="en-US" altLang="zh-CN" sz="2000" b="0" dirty="0"/>
              <a:t>32</a:t>
            </a:r>
            <a:r>
              <a:rPr lang="zh-CN" altLang="en-US" sz="2000" b="0" dirty="0"/>
              <a:t>最大支持多大的单个文件？为什么？</a:t>
            </a:r>
            <a:endParaRPr lang="en-US" altLang="zh-CN" sz="2000" b="0" dirty="0"/>
          </a:p>
          <a:p>
            <a:r>
              <a:rPr lang="zh-CN" altLang="en-US" sz="2000" b="0" dirty="0"/>
              <a:t>应该如何扩展</a:t>
            </a:r>
            <a:r>
              <a:rPr lang="en-US" sz="2000" b="0" dirty="0"/>
              <a:t>FAT，</a:t>
            </a:r>
            <a:r>
              <a:rPr lang="zh-CN" altLang="en-US" sz="2000" b="0" dirty="0"/>
              <a:t>使其能支持更大的文件？</a:t>
            </a:r>
          </a:p>
          <a:p>
            <a:r>
              <a:rPr lang="zh-CN" altLang="en-US" sz="2000" b="0" dirty="0"/>
              <a:t>为什么</a:t>
            </a:r>
            <a:r>
              <a:rPr lang="en-US" sz="2000" b="0" dirty="0"/>
              <a:t>U</a:t>
            </a:r>
            <a:r>
              <a:rPr lang="zh-CN" altLang="en-US" sz="2000" b="0" dirty="0"/>
              <a:t>盘一般用</a:t>
            </a:r>
            <a:r>
              <a:rPr lang="en-US" sz="2000" b="0" dirty="0"/>
              <a:t>FAT？</a:t>
            </a:r>
          </a:p>
          <a:p>
            <a:r>
              <a:rPr lang="zh-CN" altLang="en-US" sz="2000" b="0" dirty="0"/>
              <a:t>为什么</a:t>
            </a:r>
            <a:r>
              <a:rPr lang="en-US" sz="2000" b="0" dirty="0"/>
              <a:t>FAT</a:t>
            </a:r>
            <a:r>
              <a:rPr lang="zh-CN" altLang="en-US" sz="2000" b="0" dirty="0"/>
              <a:t>不支持</a:t>
            </a:r>
            <a:r>
              <a:rPr lang="en-US" sz="2000" b="0" dirty="0"/>
              <a:t>link</a:t>
            </a:r>
            <a:r>
              <a:rPr lang="zh-CN" altLang="en-US" sz="2000" b="0" dirty="0"/>
              <a:t>（硬链接）</a:t>
            </a:r>
            <a:r>
              <a:rPr lang="en-US" sz="2000" b="0" dirty="0"/>
              <a:t>？</a:t>
            </a:r>
          </a:p>
          <a:p>
            <a:r>
              <a:rPr lang="zh-CN" altLang="en-US" sz="2000" b="0" dirty="0"/>
              <a:t>为什么有时候会出现这样的错误？</a:t>
            </a:r>
            <a:endParaRPr lang="en-US" altLang="zh-CN" sz="2000" b="0" dirty="0"/>
          </a:p>
          <a:p>
            <a:r>
              <a:rPr lang="zh-CN" altLang="en-US" sz="2000" b="0" dirty="0"/>
              <a:t>为什么</a:t>
            </a:r>
            <a:r>
              <a:rPr lang="en-US" altLang="zh-CN" sz="2000" b="0" dirty="0"/>
              <a:t>FAT</a:t>
            </a:r>
            <a:r>
              <a:rPr lang="zh-CN" altLang="en-US" sz="2000" b="0" dirty="0"/>
              <a:t>会有大量的随机读写？</a:t>
            </a:r>
            <a:endParaRPr lang="en-US" altLang="zh-CN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72C4-8B7C-104B-AEEC-505125FE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5B81-5665-C949-A303-D8E7D88F9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1026" name="Picture 2" descr="corrupted image example">
            <a:extLst>
              <a:ext uri="{FF2B5EF4-FFF2-40B4-BE49-F238E27FC236}">
                <a16:creationId xmlns:a16="http://schemas.microsoft.com/office/drawing/2014/main" id="{20C39393-EA22-B044-BF3D-D1F1EED7E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155" y="2689659"/>
            <a:ext cx="2702645" cy="169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6127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AA1A-86CD-A649-AEB1-C9E75DED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思考：磁盘碎片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49B6B-334F-604B-9A50-CDBDFD535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dirty="0"/>
              <a:t>磁盘碎片是如何产生的？</a:t>
            </a:r>
            <a:endParaRPr lang="en-US" altLang="zh-CN" dirty="0"/>
          </a:p>
          <a:p>
            <a:pPr lvl="1"/>
            <a:r>
              <a:rPr lang="zh-CN" altLang="en-US" dirty="0"/>
              <a:t>思考场景：增大一个文件</a:t>
            </a:r>
            <a:endParaRPr lang="en-US" altLang="zh-CN" b="0" dirty="0"/>
          </a:p>
          <a:p>
            <a:pPr lvl="1"/>
            <a:r>
              <a:rPr lang="zh-CN" altLang="en-US" b="0" dirty="0"/>
              <a:t>表现形式：磁盘使用块不连续</a:t>
            </a:r>
            <a:endParaRPr lang="en-US" altLang="zh-CN" b="0" dirty="0"/>
          </a:p>
          <a:p>
            <a:pPr lvl="1"/>
            <a:r>
              <a:rPr lang="zh-CN" altLang="en-US" b="0" dirty="0"/>
              <a:t>磁盘碎片会导致什么问题？</a:t>
            </a:r>
            <a:endParaRPr lang="en-US" altLang="zh-CN" b="0" dirty="0"/>
          </a:p>
          <a:p>
            <a:r>
              <a:rPr lang="zh-CN" altLang="en-US" dirty="0"/>
              <a:t>如何避免磁盘碎片？</a:t>
            </a:r>
            <a:endParaRPr lang="en-US" altLang="zh-CN" dirty="0"/>
          </a:p>
          <a:p>
            <a:pPr lvl="1"/>
            <a:r>
              <a:rPr lang="zh-CN" altLang="en-US" b="0" dirty="0"/>
              <a:t>做好磁盘的预留</a:t>
            </a:r>
            <a:endParaRPr lang="en-US" altLang="zh-CN" b="0" dirty="0"/>
          </a:p>
          <a:p>
            <a:pPr lvl="1"/>
            <a:r>
              <a:rPr lang="zh-CN" altLang="en-US" dirty="0"/>
              <a:t>利用内存缓存延迟写入磁盘</a:t>
            </a:r>
            <a:endParaRPr lang="en-US" altLang="zh-CN" dirty="0"/>
          </a:p>
          <a:p>
            <a:pPr lvl="2"/>
            <a:r>
              <a:rPr lang="zh-CN" altLang="en-US" b="0" dirty="0"/>
              <a:t>写入时尽可能整合在一起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4361-0DBE-AE43-8E8C-45F36883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0C30B-CD4D-F44B-B34A-5259FA4D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2" descr="Windows优化大师之磁盘碎片整理_多特软件">
            <a:extLst>
              <a:ext uri="{FF2B5EF4-FFF2-40B4-BE49-F238E27FC236}">
                <a16:creationId xmlns:a16="http://schemas.microsoft.com/office/drawing/2014/main" id="{1ED07124-9D71-E846-B41F-A234C3356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1" t="1979" b="4641"/>
          <a:stretch/>
        </p:blipFill>
        <p:spPr bwMode="auto">
          <a:xfrm>
            <a:off x="6084168" y="1993404"/>
            <a:ext cx="2737573" cy="221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A844F71-5224-A542-A31E-79778150A690}"/>
              </a:ext>
            </a:extLst>
          </p:cNvPr>
          <p:cNvSpPr txBox="1"/>
          <p:nvPr/>
        </p:nvSpPr>
        <p:spPr>
          <a:xfrm>
            <a:off x="6005138" y="4287934"/>
            <a:ext cx="2895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/>
              <a:t>早期</a:t>
            </a:r>
            <a:r>
              <a:rPr lang="en-US" altLang="zh-CN" b="0" dirty="0"/>
              <a:t>Windows</a:t>
            </a:r>
            <a:r>
              <a:rPr lang="zh-CN" altLang="en-US" b="0" dirty="0"/>
              <a:t>的磁盘整理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973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AA1A-86CD-A649-AEB1-C9E75DED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exFAT</a:t>
            </a:r>
            <a:r>
              <a:rPr lang="zh-CN" altLang="en-US" dirty="0"/>
              <a:t> </a:t>
            </a:r>
            <a:r>
              <a:rPr lang="en-US" altLang="zh-CN" dirty="0"/>
              <a:t>Highlights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49B6B-334F-604B-9A50-CDBDFD535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/>
          </a:bodyPr>
          <a:lstStyle/>
          <a:p>
            <a:r>
              <a:rPr lang="zh-CN" altLang="en-US" sz="1800" b="0" dirty="0"/>
              <a:t>与</a:t>
            </a:r>
            <a:r>
              <a:rPr lang="en-US" altLang="zh-CN" sz="1800" b="0" dirty="0"/>
              <a:t>FAT32</a:t>
            </a:r>
            <a:r>
              <a:rPr lang="zh-CN" altLang="en-US" sz="1800" b="0" dirty="0"/>
              <a:t>并不兼容</a:t>
            </a:r>
            <a:endParaRPr lang="en-US" altLang="zh-CN" sz="1800" b="0" dirty="0"/>
          </a:p>
          <a:p>
            <a:r>
              <a:rPr lang="zh-CN" altLang="en-US" sz="1800" b="0" dirty="0"/>
              <a:t>使用</a:t>
            </a:r>
            <a:r>
              <a:rPr lang="en-US" altLang="zh-CN" sz="1800" b="0" dirty="0"/>
              <a:t>Bitmap</a:t>
            </a:r>
            <a:r>
              <a:rPr lang="zh-CN" altLang="en-US" sz="1800" b="0" dirty="0"/>
              <a:t>加快空间分配</a:t>
            </a:r>
            <a:endParaRPr lang="en-US" altLang="zh-CN" sz="1800" b="0" dirty="0"/>
          </a:p>
          <a:p>
            <a:r>
              <a:rPr lang="en-US" altLang="zh-CN" sz="1800" b="0" dirty="0"/>
              <a:t>Unicode</a:t>
            </a:r>
            <a:r>
              <a:rPr lang="zh-CN" altLang="en-US" sz="1800" b="0" dirty="0"/>
              <a:t>保存长文件名</a:t>
            </a:r>
            <a:endParaRPr lang="en-US" altLang="zh-CN" sz="1800" b="0" dirty="0"/>
          </a:p>
          <a:p>
            <a:r>
              <a:rPr lang="zh-CN" altLang="en-US" sz="1800" b="0" dirty="0"/>
              <a:t>允许</a:t>
            </a:r>
            <a:r>
              <a:rPr lang="en-US" altLang="zh-CN" sz="1800" b="0" dirty="0"/>
              <a:t>4GB</a:t>
            </a:r>
            <a:r>
              <a:rPr lang="zh-CN" altLang="en-US" sz="1800" b="0" dirty="0"/>
              <a:t>以上文件（新的目录项格式、文件大小用</a:t>
            </a:r>
            <a:r>
              <a:rPr lang="en-US" altLang="zh-CN" sz="1800" b="0" dirty="0"/>
              <a:t>8</a:t>
            </a:r>
            <a:r>
              <a:rPr lang="zh-CN" altLang="en-US" sz="1800" b="0" dirty="0"/>
              <a:t>个字节）</a:t>
            </a:r>
            <a:endParaRPr lang="en-US" altLang="zh-CN" sz="1800" b="0" dirty="0"/>
          </a:p>
          <a:p>
            <a:r>
              <a:rPr lang="zh-CN" altLang="en-US" sz="1800" b="0" dirty="0"/>
              <a:t>目录中查找文件时使用哈希对比</a:t>
            </a:r>
            <a:endParaRPr lang="en-US" altLang="zh-CN" sz="1800" b="0" dirty="0"/>
          </a:p>
          <a:p>
            <a:pPr lvl="1"/>
            <a:r>
              <a:rPr lang="zh-CN" altLang="en-US" sz="1400" dirty="0"/>
              <a:t>对文件名的大写形式做哈希</a:t>
            </a:r>
            <a:endParaRPr lang="en-US" altLang="zh-CN" sz="1400" dirty="0"/>
          </a:p>
          <a:p>
            <a:pPr lvl="1"/>
            <a:r>
              <a:rPr lang="zh-CN" altLang="en-US" sz="1400" b="0" dirty="0"/>
              <a:t>先匹配</a:t>
            </a:r>
            <a:r>
              <a:rPr lang="zh-CN" altLang="en-US" sz="1400" dirty="0"/>
              <a:t>哈希值</a:t>
            </a:r>
            <a:r>
              <a:rPr lang="zh-CN" altLang="en-US" sz="1400" b="0" dirty="0"/>
              <a:t>，再检查文件名防止冲突</a:t>
            </a:r>
            <a:endParaRPr lang="en-US" altLang="zh-CN" sz="1400" b="0" dirty="0"/>
          </a:p>
          <a:p>
            <a:endParaRPr lang="en-C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4361-0DBE-AE43-8E8C-45F36883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0C30B-CD4D-F44B-B34A-5259FA4D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5E9C92-8DF0-3049-8A82-D4C11A688819}"/>
              </a:ext>
            </a:extLst>
          </p:cNvPr>
          <p:cNvSpPr txBox="1">
            <a:spLocks/>
          </p:cNvSpPr>
          <p:nvPr/>
        </p:nvSpPr>
        <p:spPr>
          <a:xfrm>
            <a:off x="4644008" y="1417638"/>
            <a:ext cx="4241842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0" dirty="0"/>
              <a:t>使用校验码保证元数据完整性</a:t>
            </a:r>
            <a:endParaRPr lang="en-US" altLang="zh-CN" sz="2000" b="0" dirty="0"/>
          </a:p>
          <a:p>
            <a:r>
              <a:rPr lang="zh-CN" altLang="en-US" sz="2000" b="0" dirty="0"/>
              <a:t>为闪存做优化</a:t>
            </a:r>
            <a:endParaRPr lang="en-US" altLang="zh-CN" sz="2000" b="0" dirty="0"/>
          </a:p>
          <a:p>
            <a:pPr lvl="1"/>
            <a:r>
              <a:rPr lang="zh-CN" altLang="en-US" sz="1800" dirty="0"/>
              <a:t>可调参数，与存储单元边界对齐</a:t>
            </a:r>
            <a:endParaRPr lang="en-US" altLang="zh-CN" sz="1800" dirty="0"/>
          </a:p>
          <a:p>
            <a:pPr lvl="1"/>
            <a:r>
              <a:rPr lang="en-US" altLang="zh-CN" sz="1800" dirty="0"/>
              <a:t>OEM</a:t>
            </a:r>
            <a:r>
              <a:rPr lang="zh-CN" altLang="en-US" sz="1800" dirty="0"/>
              <a:t>域</a:t>
            </a:r>
            <a:endParaRPr lang="en-US" altLang="zh-CN" sz="1800" dirty="0"/>
          </a:p>
          <a:p>
            <a:pPr lvl="1"/>
            <a:r>
              <a:rPr lang="zh-CN" altLang="en-US" sz="1800" dirty="0"/>
              <a:t>没有日志</a:t>
            </a:r>
            <a:endParaRPr lang="en-CN" sz="1800" dirty="0"/>
          </a:p>
        </p:txBody>
      </p:sp>
    </p:spTree>
    <p:extLst>
      <p:ext uri="{BB962C8B-B14F-4D97-AF65-F5344CB8AC3E}">
        <p14:creationId xmlns:p14="http://schemas.microsoft.com/office/powerpoint/2010/main" val="29093920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C159-C637-7E46-962B-7B79476E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CN" dirty="0"/>
              <a:t>基于</a:t>
            </a:r>
            <a:r>
              <a:rPr lang="zh-CN" altLang="en-US" dirty="0"/>
              <a:t>数据库的文件系统：</a:t>
            </a:r>
            <a:r>
              <a:rPr lang="en-US" altLang="zh-CN" dirty="0"/>
              <a:t>NTFS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89376-0627-6E4A-97E9-89BE05328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1DAE4-9434-7B40-8F7A-2B3ECB0F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3240-9E12-874A-95F3-412791820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25473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AC2A-F8D1-FC44-9385-BFBEEC33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NTFS</a:t>
            </a:r>
            <a:r>
              <a:rPr lang="zh-CN" altLang="en-CN" dirty="0"/>
              <a:t>存储</a:t>
            </a:r>
            <a:r>
              <a:rPr lang="zh-CN" altLang="en-US" dirty="0"/>
              <a:t>布局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A1A2-4EAC-9742-810E-8F99B2CE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9A32-C8B9-054B-9833-298542710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171F1A-48FF-8241-A433-09F1C28B61C3}"/>
              </a:ext>
            </a:extLst>
          </p:cNvPr>
          <p:cNvSpPr/>
          <p:nvPr/>
        </p:nvSpPr>
        <p:spPr>
          <a:xfrm>
            <a:off x="523068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D3F700-34EF-1845-9F42-ABF83E6547E2}"/>
              </a:ext>
            </a:extLst>
          </p:cNvPr>
          <p:cNvSpPr/>
          <p:nvPr/>
        </p:nvSpPr>
        <p:spPr>
          <a:xfrm>
            <a:off x="1098934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21185-6B3B-AD43-93F1-48DD68C5A510}"/>
              </a:ext>
            </a:extLst>
          </p:cNvPr>
          <p:cNvSpPr/>
          <p:nvPr/>
        </p:nvSpPr>
        <p:spPr>
          <a:xfrm>
            <a:off x="4791730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r>
              <a:rPr lang="zh-CN" altLang="en-US" sz="1400" dirty="0"/>
              <a:t>（镜像）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A3B0B-68F1-8A49-B6D4-2ED3B6F3FBC2}"/>
              </a:ext>
            </a:extLst>
          </p:cNvPr>
          <p:cNvSpPr/>
          <p:nvPr/>
        </p:nvSpPr>
        <p:spPr>
          <a:xfrm>
            <a:off x="6087875" y="1410882"/>
            <a:ext cx="196460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33080-5E1C-9E4F-8B04-9FF0F54A78E6}"/>
              </a:ext>
            </a:extLst>
          </p:cNvPr>
          <p:cNvSpPr/>
          <p:nvPr/>
        </p:nvSpPr>
        <p:spPr>
          <a:xfrm>
            <a:off x="2199443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BCDF28-7969-D24E-ABA5-5D13E06FD733}"/>
              </a:ext>
            </a:extLst>
          </p:cNvPr>
          <p:cNvSpPr/>
          <p:nvPr/>
        </p:nvSpPr>
        <p:spPr>
          <a:xfrm>
            <a:off x="3299952" y="1410882"/>
            <a:ext cx="1491778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ACD2C536-ADD0-A643-B180-FAF24C469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384104"/>
            <a:ext cx="4648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400" b="1">
                <a:latin typeface="Verdana" pitchFamily="34" charset="0"/>
                <a:ea typeface="MS PGothic" pitchFamily="34" charset="-128"/>
              </a:rPr>
              <a:t>Default NTFS Cluster Sizes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17D53C43-8D97-BF49-9158-B4E986BA8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785492"/>
            <a:ext cx="5867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Courier New" pitchFamily="49" charset="0"/>
                <a:ea typeface="MS PGothic" pitchFamily="34" charset="-128"/>
                <a:cs typeface="Courier New" pitchFamily="49" charset="0"/>
              </a:rPr>
              <a:t>Volume Size	    NTFS Cluster Size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DFF9D51E-5128-A949-92BE-9422A17F05F6}"/>
              </a:ext>
            </a:extLst>
          </p:cNvPr>
          <p:cNvSpPr txBox="1"/>
          <p:nvPr/>
        </p:nvSpPr>
        <p:spPr>
          <a:xfrm>
            <a:off x="1828800" y="3090292"/>
            <a:ext cx="5867400" cy="12001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7MB ~ 512MB	    512 bytes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513MB ~ 1GB	    1KB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1GB ~ 2GB	    2KB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2GB ~ 2TB	    4KB</a:t>
            </a:r>
          </a:p>
        </p:txBody>
      </p: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3BCDA657-20EE-F040-9A10-AE66ABA5FE88}"/>
              </a:ext>
            </a:extLst>
          </p:cNvPr>
          <p:cNvCxnSpPr/>
          <p:nvPr/>
        </p:nvCxnSpPr>
        <p:spPr>
          <a:xfrm>
            <a:off x="1828800" y="3090292"/>
            <a:ext cx="50292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9">
            <a:extLst>
              <a:ext uri="{FF2B5EF4-FFF2-40B4-BE49-F238E27FC236}">
                <a16:creationId xmlns:a16="http://schemas.microsoft.com/office/drawing/2014/main" id="{E28EE41C-9D7B-414A-BBEB-F2A61E724C23}"/>
              </a:ext>
            </a:extLst>
          </p:cNvPr>
          <p:cNvCxnSpPr/>
          <p:nvPr/>
        </p:nvCxnSpPr>
        <p:spPr>
          <a:xfrm>
            <a:off x="1828800" y="4309492"/>
            <a:ext cx="50292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0">
            <a:extLst>
              <a:ext uri="{FF2B5EF4-FFF2-40B4-BE49-F238E27FC236}">
                <a16:creationId xmlns:a16="http://schemas.microsoft.com/office/drawing/2014/main" id="{1E155E47-E38C-D343-9EFD-843F7C90BE8D}"/>
              </a:ext>
            </a:extLst>
          </p:cNvPr>
          <p:cNvCxnSpPr/>
          <p:nvPr/>
        </p:nvCxnSpPr>
        <p:spPr>
          <a:xfrm rot="5400000">
            <a:off x="3048794" y="3546698"/>
            <a:ext cx="152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836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B9ADA-A642-1848-A32A-26838EF7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/>
              <a:t>NTFS</a:t>
            </a:r>
            <a:r>
              <a:rPr lang="zh-CN" altLang="en-US" dirty="0"/>
              <a:t>主文件表</a:t>
            </a:r>
            <a:r>
              <a:rPr lang="en-US" altLang="zh-CN" dirty="0"/>
              <a:t>MFT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176640-1D88-EF40-AFA1-C4473CFBC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1800" dirty="0"/>
              <a:t>MFT</a:t>
            </a:r>
            <a:r>
              <a:rPr kumimoji="1" lang="zh-CN" altLang="en-US" sz="1800" dirty="0"/>
              <a:t>是一个</a:t>
            </a:r>
            <a:r>
              <a:rPr kumimoji="1" lang="zh-CN" altLang="en-US" sz="1800" dirty="0">
                <a:highlight>
                  <a:srgbClr val="FFFF00"/>
                </a:highlight>
              </a:rPr>
              <a:t>关系型数据库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from</a:t>
            </a:r>
            <a:r>
              <a:rPr kumimoji="1" lang="zh-CN" altLang="en-US" sz="1800" dirty="0"/>
              <a:t> 微软文档）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MFT</a:t>
            </a:r>
            <a:r>
              <a:rPr kumimoji="1" lang="zh-CN" altLang="en-US" sz="1600" dirty="0"/>
              <a:t>：</a:t>
            </a:r>
            <a:r>
              <a:rPr kumimoji="1" lang="en" altLang="zh-CN" sz="1600" dirty="0"/>
              <a:t>Master File Table</a:t>
            </a:r>
          </a:p>
          <a:p>
            <a:pPr lvl="1"/>
            <a:r>
              <a:rPr kumimoji="1" lang="en" altLang="zh-CN" sz="1600" dirty="0"/>
              <a:t>MFT</a:t>
            </a:r>
            <a:r>
              <a:rPr kumimoji="1" lang="zh-CN" altLang="en-US" sz="1600" dirty="0"/>
              <a:t>中的每一行对应着一个文件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每一列为这个文件的某个元数据</a:t>
            </a:r>
            <a:endParaRPr kumimoji="1" lang="en-US" altLang="zh-CN" sz="1600" dirty="0"/>
          </a:p>
          <a:p>
            <a:pPr lvl="1"/>
            <a:r>
              <a:rPr kumimoji="1" lang="en" altLang="zh-CN" sz="1600" dirty="0"/>
              <a:t>NTFS </a:t>
            </a:r>
            <a:r>
              <a:rPr kumimoji="1" lang="zh-CN" altLang="en-US" sz="1600" dirty="0"/>
              <a:t>中所有的文件均在 </a:t>
            </a:r>
            <a:r>
              <a:rPr kumimoji="1" lang="en" altLang="zh-CN" sz="1600" dirty="0"/>
              <a:t>MFT </a:t>
            </a:r>
            <a:r>
              <a:rPr kumimoji="1" lang="zh-CN" altLang="en-US" sz="1600" dirty="0"/>
              <a:t>中有记录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一般会预留整个文件系统存储空间的</a:t>
            </a:r>
            <a:r>
              <a:rPr kumimoji="1" lang="en-US" altLang="zh-CN" sz="1600" dirty="0"/>
              <a:t>12.5%</a:t>
            </a:r>
            <a:r>
              <a:rPr kumimoji="1" lang="zh-CN" altLang="en-US" sz="1600" dirty="0"/>
              <a:t>，专门保存</a:t>
            </a:r>
            <a:r>
              <a:rPr kumimoji="1" lang="en-US" altLang="zh-CN" sz="1600" dirty="0"/>
              <a:t>MFT</a:t>
            </a:r>
          </a:p>
          <a:p>
            <a:r>
              <a:rPr kumimoji="1" lang="zh-CN" altLang="en" sz="1800" dirty="0"/>
              <a:t>一切</a:t>
            </a:r>
            <a:r>
              <a:rPr kumimoji="1" lang="zh-CN" altLang="en-US" sz="1800" dirty="0"/>
              <a:t>皆文件</a:t>
            </a:r>
            <a:endParaRPr kumimoji="1" lang="en" altLang="zh-CN" sz="1800" dirty="0"/>
          </a:p>
          <a:p>
            <a:pPr lvl="1"/>
            <a:r>
              <a:rPr kumimoji="1" lang="en" altLang="zh-CN" sz="1600" dirty="0"/>
              <a:t>NTFS </a:t>
            </a:r>
            <a:r>
              <a:rPr kumimoji="1" lang="zh-CN" altLang="en-US" sz="1600" dirty="0"/>
              <a:t>中的所有被分配使用的空间均被某个文件所使用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用于存放文件系统元数据的空间，也会属于某个保留的元数据文件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如：</a:t>
            </a:r>
            <a:r>
              <a:rPr kumimoji="1" lang="en-US" altLang="zh-CN" sz="1600" dirty="0"/>
              <a:t>MFT</a:t>
            </a:r>
            <a:r>
              <a:rPr kumimoji="1" lang="zh-CN" altLang="en-US" sz="1600" dirty="0"/>
              <a:t>本身，也是一个文件，其元数据保存在</a:t>
            </a:r>
            <a:r>
              <a:rPr kumimoji="1" lang="en-US" altLang="zh-CN" sz="1600" dirty="0"/>
              <a:t>MFT</a:t>
            </a:r>
            <a:r>
              <a:rPr kumimoji="1" lang="zh-CN" altLang="en-US" sz="1600" dirty="0"/>
              <a:t>中（递归了？）</a:t>
            </a:r>
            <a:endParaRPr kumimoji="1" lang="en-US" altLang="zh-CN" sz="1600" dirty="0"/>
          </a:p>
          <a:p>
            <a:pPr lvl="1"/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229336-B895-DC4F-8F0F-371AC0E6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7EA45E-F535-944D-84B7-95BD28CA3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32362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AC2A-F8D1-FC44-9385-BFBEEC33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NTFS</a:t>
            </a:r>
            <a:r>
              <a:rPr lang="zh-CN" altLang="en-US" dirty="0"/>
              <a:t>主文件表</a:t>
            </a:r>
            <a:r>
              <a:rPr lang="en-US" altLang="zh-CN" dirty="0"/>
              <a:t>MFT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A1A2-4EAC-9742-810E-8F99B2CE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9A32-C8B9-054B-9833-298542710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43CB14-B4F0-DC45-8506-8DE2634A2D93}"/>
              </a:ext>
            </a:extLst>
          </p:cNvPr>
          <p:cNvSpPr/>
          <p:nvPr/>
        </p:nvSpPr>
        <p:spPr>
          <a:xfrm>
            <a:off x="523068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6DA39-14BD-064D-8D8A-7C46A3B3CA75}"/>
              </a:ext>
            </a:extLst>
          </p:cNvPr>
          <p:cNvSpPr/>
          <p:nvPr/>
        </p:nvSpPr>
        <p:spPr>
          <a:xfrm>
            <a:off x="1098934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BB6CF-ED8E-CE4C-B53F-465DD48D09F9}"/>
              </a:ext>
            </a:extLst>
          </p:cNvPr>
          <p:cNvSpPr/>
          <p:nvPr/>
        </p:nvSpPr>
        <p:spPr>
          <a:xfrm>
            <a:off x="4791730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r>
              <a:rPr lang="zh-CN" altLang="en-US" sz="1400" dirty="0"/>
              <a:t>（镜像）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B2957-F13C-CA49-B41E-209EFBA5D0CB}"/>
              </a:ext>
            </a:extLst>
          </p:cNvPr>
          <p:cNvSpPr/>
          <p:nvPr/>
        </p:nvSpPr>
        <p:spPr>
          <a:xfrm>
            <a:off x="6087875" y="1410882"/>
            <a:ext cx="196460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3DE9E2-5DB5-F746-B6E0-F8AB3A4BC6E0}"/>
              </a:ext>
            </a:extLst>
          </p:cNvPr>
          <p:cNvSpPr/>
          <p:nvPr/>
        </p:nvSpPr>
        <p:spPr>
          <a:xfrm>
            <a:off x="2199443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146AE-A08E-6642-98F3-7DF9FD059BB5}"/>
              </a:ext>
            </a:extLst>
          </p:cNvPr>
          <p:cNvSpPr/>
          <p:nvPr/>
        </p:nvSpPr>
        <p:spPr>
          <a:xfrm>
            <a:off x="3299952" y="1410882"/>
            <a:ext cx="1491778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E77028-3819-E54D-904B-74D60FDF7F58}"/>
              </a:ext>
            </a:extLst>
          </p:cNvPr>
          <p:cNvSpPr/>
          <p:nvPr/>
        </p:nvSpPr>
        <p:spPr>
          <a:xfrm>
            <a:off x="2111095" y="2196512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E8F0AE-FBD6-B040-A42D-9C2FD1D347CD}"/>
              </a:ext>
            </a:extLst>
          </p:cNvPr>
          <p:cNvSpPr/>
          <p:nvPr/>
        </p:nvSpPr>
        <p:spPr>
          <a:xfrm>
            <a:off x="2111095" y="2449928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r>
              <a:rPr lang="zh-CN" altLang="en-US" sz="1400" dirty="0"/>
              <a:t>（镜像）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4769AF-C66E-4E4B-9764-867B1CDA700E}"/>
              </a:ext>
            </a:extLst>
          </p:cNvPr>
          <p:cNvSpPr/>
          <p:nvPr/>
        </p:nvSpPr>
        <p:spPr>
          <a:xfrm>
            <a:off x="2111095" y="2709854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日志</a:t>
            </a:r>
            <a:r>
              <a:rPr lang="zh-CN" altLang="en-US" sz="1400" dirty="0"/>
              <a:t>文件</a:t>
            </a:r>
            <a:endParaRPr lang="en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C7D6E1-6F5F-344C-AEB9-3C647632F970}"/>
              </a:ext>
            </a:extLst>
          </p:cNvPr>
          <p:cNvSpPr/>
          <p:nvPr/>
        </p:nvSpPr>
        <p:spPr>
          <a:xfrm>
            <a:off x="2111095" y="3540770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A7B490-0E6A-6041-907F-F5AFD4F84D11}"/>
              </a:ext>
            </a:extLst>
          </p:cNvPr>
          <p:cNvSpPr/>
          <p:nvPr/>
        </p:nvSpPr>
        <p:spPr>
          <a:xfrm>
            <a:off x="2111095" y="3802345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目录记录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FCCCB6-9EC4-EC4E-9BAC-52EF441A3666}"/>
              </a:ext>
            </a:extLst>
          </p:cNvPr>
          <p:cNvSpPr/>
          <p:nvPr/>
        </p:nvSpPr>
        <p:spPr>
          <a:xfrm>
            <a:off x="2111095" y="4055692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394A9C-4383-6E48-97B4-07A10C19BF97}"/>
              </a:ext>
            </a:extLst>
          </p:cNvPr>
          <p:cNvSpPr/>
          <p:nvPr/>
        </p:nvSpPr>
        <p:spPr>
          <a:xfrm>
            <a:off x="2111095" y="4323289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E0603F-F900-E142-B76B-5AD60E1A72D0}"/>
              </a:ext>
            </a:extLst>
          </p:cNvPr>
          <p:cNvSpPr/>
          <p:nvPr/>
        </p:nvSpPr>
        <p:spPr>
          <a:xfrm>
            <a:off x="2111095" y="2971428"/>
            <a:ext cx="1274362" cy="5676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……</a:t>
            </a:r>
            <a:endParaRPr lang="en-CN" sz="1400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FC21141-7A7E-FA4C-B756-613ABEC1D0B0}"/>
              </a:ext>
            </a:extLst>
          </p:cNvPr>
          <p:cNvSpPr/>
          <p:nvPr/>
        </p:nvSpPr>
        <p:spPr>
          <a:xfrm rot="10800000">
            <a:off x="1808157" y="2208949"/>
            <a:ext cx="265772" cy="1330172"/>
          </a:xfrm>
          <a:prstGeom prst="rightBrace">
            <a:avLst>
              <a:gd name="adj1" fmla="val 3472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4179A6-2031-5146-AE23-683AAF0AEB1C}"/>
              </a:ext>
            </a:extLst>
          </p:cNvPr>
          <p:cNvSpPr txBox="1"/>
          <p:nvPr/>
        </p:nvSpPr>
        <p:spPr>
          <a:xfrm>
            <a:off x="509676" y="2579891"/>
            <a:ext cx="13260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 sz="1600" dirty="0"/>
              <a:t>前</a:t>
            </a:r>
            <a:r>
              <a:rPr lang="en-US" altLang="zh-CN" sz="1600" dirty="0"/>
              <a:t>16</a:t>
            </a:r>
            <a:r>
              <a:rPr lang="zh-CN" altLang="en-US" sz="1600" dirty="0"/>
              <a:t>个为保留记录</a:t>
            </a:r>
            <a:endParaRPr lang="en-US" altLang="zh-CN" sz="1600" dirty="0"/>
          </a:p>
          <a:p>
            <a:pPr algn="ctr"/>
            <a:r>
              <a:rPr lang="zh-CN" altLang="en-US" sz="1600" dirty="0"/>
              <a:t>（即元数据）</a:t>
            </a:r>
            <a:endParaRPr lang="en-CN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3D0A6A-736C-7145-BDAE-E6A50C21FD51}"/>
              </a:ext>
            </a:extLst>
          </p:cNvPr>
          <p:cNvSpPr/>
          <p:nvPr/>
        </p:nvSpPr>
        <p:spPr>
          <a:xfrm>
            <a:off x="2111095" y="4581181"/>
            <a:ext cx="1274362" cy="341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……</a:t>
            </a:r>
            <a:endParaRPr lang="en-CN" sz="1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DF6ACD-66AC-0A47-B70D-EC2E88B7CC24}"/>
              </a:ext>
            </a:extLst>
          </p:cNvPr>
          <p:cNvCxnSpPr>
            <a:cxnSpLocks/>
          </p:cNvCxnSpPr>
          <p:nvPr/>
        </p:nvCxnSpPr>
        <p:spPr>
          <a:xfrm flipH="1">
            <a:off x="2111095" y="1912655"/>
            <a:ext cx="88348" cy="2838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BF916AB-F2AF-494A-A61C-E488E94509E0}"/>
              </a:ext>
            </a:extLst>
          </p:cNvPr>
          <p:cNvCxnSpPr>
            <a:cxnSpLocks/>
          </p:cNvCxnSpPr>
          <p:nvPr/>
        </p:nvCxnSpPr>
        <p:spPr>
          <a:xfrm>
            <a:off x="3299953" y="1912655"/>
            <a:ext cx="85504" cy="2838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6696CA9-828E-5A46-9FC1-CB969C0C7F70}"/>
              </a:ext>
            </a:extLst>
          </p:cNvPr>
          <p:cNvSpPr txBox="1"/>
          <p:nvPr/>
        </p:nvSpPr>
        <p:spPr>
          <a:xfrm>
            <a:off x="4130221" y="2460189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</a:t>
            </a:r>
            <a:r>
              <a:rPr lang="en-US" altLang="zh-CN" dirty="0"/>
              <a:t>+</a:t>
            </a:r>
            <a:r>
              <a:rPr lang="zh-CN" altLang="en-CN" dirty="0"/>
              <a:t>树</a:t>
            </a:r>
            <a:endParaRPr lang="en-CN" dirty="0"/>
          </a:p>
        </p:txBody>
      </p:sp>
      <p:cxnSp>
        <p:nvCxnSpPr>
          <p:cNvPr id="61" name="Straight Arrow Connector 39">
            <a:extLst>
              <a:ext uri="{FF2B5EF4-FFF2-40B4-BE49-F238E27FC236}">
                <a16:creationId xmlns:a16="http://schemas.microsoft.com/office/drawing/2014/main" id="{746DEC7F-6D78-054F-9E84-83EC40416522}"/>
              </a:ext>
            </a:extLst>
          </p:cNvPr>
          <p:cNvCxnSpPr>
            <a:cxnSpLocks/>
            <a:stCxn id="13" idx="3"/>
            <a:endCxn id="60" idx="1"/>
          </p:cNvCxnSpPr>
          <p:nvPr/>
        </p:nvCxnSpPr>
        <p:spPr>
          <a:xfrm>
            <a:off x="3385457" y="2326475"/>
            <a:ext cx="744764" cy="318380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4AA480-7926-2140-9D08-BBDABBCB0916}"/>
              </a:ext>
            </a:extLst>
          </p:cNvPr>
          <p:cNvGrpSpPr/>
          <p:nvPr/>
        </p:nvGrpSpPr>
        <p:grpSpPr>
          <a:xfrm>
            <a:off x="4834260" y="2069114"/>
            <a:ext cx="1561248" cy="1738440"/>
            <a:chOff x="4836076" y="2069113"/>
            <a:chExt cx="2001399" cy="22285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D752C37-7A40-D940-BF35-82B9ADF607DD}"/>
                </a:ext>
              </a:extLst>
            </p:cNvPr>
            <p:cNvGrpSpPr/>
            <p:nvPr/>
          </p:nvGrpSpPr>
          <p:grpSpPr>
            <a:xfrm>
              <a:off x="5338272" y="2069113"/>
              <a:ext cx="1499203" cy="745691"/>
              <a:chOff x="4902518" y="2111809"/>
              <a:chExt cx="1499203" cy="745691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B70DEAB-EF22-184E-82AD-B22D941A3384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9F29356-7BB5-EC43-A74F-09893A1DFC6A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41A5E4E-88DC-7A47-A757-020F28209A55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5" name="Right Brace 34">
                <a:extLst>
                  <a:ext uri="{FF2B5EF4-FFF2-40B4-BE49-F238E27FC236}">
                    <a16:creationId xmlns:a16="http://schemas.microsoft.com/office/drawing/2014/main" id="{6278639D-F396-8241-90B9-F6F0E21E4CF1}"/>
                  </a:ext>
                </a:extLst>
              </p:cNvPr>
              <p:cNvSpPr/>
              <p:nvPr/>
            </p:nvSpPr>
            <p:spPr>
              <a:xfrm rot="5400000" flipH="1">
                <a:off x="5588310" y="1701095"/>
                <a:ext cx="127617" cy="1499202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6392345-699D-3D45-B90B-B586C474D582}"/>
                  </a:ext>
                </a:extLst>
              </p:cNvPr>
              <p:cNvSpPr txBox="1"/>
              <p:nvPr/>
            </p:nvSpPr>
            <p:spPr>
              <a:xfrm>
                <a:off x="5292080" y="2111809"/>
                <a:ext cx="802249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B355873-E85B-8848-A08E-18D0ADCBDF36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F09C587-82B1-4B42-8229-DD09B6E1079F}"/>
                  </a:ext>
                </a:extLst>
              </p:cNvPr>
              <p:cNvSpPr/>
              <p:nvPr/>
            </p:nvSpPr>
            <p:spPr>
              <a:xfrm>
                <a:off x="5901987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5D0F77D-DEBB-1449-9019-E95C6869FF50}"/>
                  </a:ext>
                </a:extLst>
              </p:cNvPr>
              <p:cNvSpPr/>
              <p:nvPr/>
            </p:nvSpPr>
            <p:spPr>
              <a:xfrm>
                <a:off x="6151854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6AA1F31-BA27-6A48-AD5B-408CDE11FFD8}"/>
                </a:ext>
              </a:extLst>
            </p:cNvPr>
            <p:cNvGrpSpPr/>
            <p:nvPr/>
          </p:nvGrpSpPr>
          <p:grpSpPr>
            <a:xfrm>
              <a:off x="5338271" y="2848910"/>
              <a:ext cx="999469" cy="742967"/>
              <a:chOff x="4902518" y="2114533"/>
              <a:chExt cx="999469" cy="74296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C2617B5-55E1-234C-B561-025920F8CA40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9E7FCAF-17F9-C947-BA07-4F0D8F64ED88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546CA80-D48D-DF4A-A25C-8900FF78713F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6" name="Right Brace 45">
                <a:extLst>
                  <a:ext uri="{FF2B5EF4-FFF2-40B4-BE49-F238E27FC236}">
                    <a16:creationId xmlns:a16="http://schemas.microsoft.com/office/drawing/2014/main" id="{1A0E3CA9-9C76-CF46-8105-80822FFA1D6C}"/>
                  </a:ext>
                </a:extLst>
              </p:cNvPr>
              <p:cNvSpPr/>
              <p:nvPr/>
            </p:nvSpPr>
            <p:spPr>
              <a:xfrm rot="5400000" flipH="1">
                <a:off x="5338443" y="1950962"/>
                <a:ext cx="127617" cy="999468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6FF7A6-75E1-DF4A-9A77-0A1151702D06}"/>
                  </a:ext>
                </a:extLst>
              </p:cNvPr>
              <p:cNvSpPr txBox="1"/>
              <p:nvPr/>
            </p:nvSpPr>
            <p:spPr>
              <a:xfrm>
                <a:off x="5032588" y="2114533"/>
                <a:ext cx="802249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9D5F6B4-9C68-BF4C-99AE-13B506F35B39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94CB4BA-227F-4F48-ACEF-D45122C98E07}"/>
                </a:ext>
              </a:extLst>
            </p:cNvPr>
            <p:cNvGrpSpPr/>
            <p:nvPr/>
          </p:nvGrpSpPr>
          <p:grpSpPr>
            <a:xfrm>
              <a:off x="5338270" y="3555454"/>
              <a:ext cx="1249336" cy="742206"/>
              <a:chOff x="4902518" y="2115294"/>
              <a:chExt cx="1249336" cy="742206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731D59C-9238-DD40-89DB-DD2A20DB87CD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36DF800-604D-1942-A6A8-A5F70B0C6DFB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FCE89A-7ADD-D141-9786-1CCBEE810605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5" name="Right Brace 54">
                <a:extLst>
                  <a:ext uri="{FF2B5EF4-FFF2-40B4-BE49-F238E27FC236}">
                    <a16:creationId xmlns:a16="http://schemas.microsoft.com/office/drawing/2014/main" id="{5F5F96BE-BF41-0F4A-ABA1-FC283976FAE4}"/>
                  </a:ext>
                </a:extLst>
              </p:cNvPr>
              <p:cNvSpPr/>
              <p:nvPr/>
            </p:nvSpPr>
            <p:spPr>
              <a:xfrm rot="5400000" flipH="1">
                <a:off x="5463377" y="1826028"/>
                <a:ext cx="127617" cy="1249336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C8B836-FDE5-DF4A-9455-19C5FE878345}"/>
                  </a:ext>
                </a:extLst>
              </p:cNvPr>
              <p:cNvSpPr txBox="1"/>
              <p:nvPr/>
            </p:nvSpPr>
            <p:spPr>
              <a:xfrm>
                <a:off x="5205433" y="2115294"/>
                <a:ext cx="802248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1F84276-652E-4C4C-B4B5-7884D7AB379C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8EC12F7-1636-034D-B7A7-4EE957C61331}"/>
                  </a:ext>
                </a:extLst>
              </p:cNvPr>
              <p:cNvSpPr/>
              <p:nvPr/>
            </p:nvSpPr>
            <p:spPr>
              <a:xfrm>
                <a:off x="5901987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cxnSp>
          <p:nvCxnSpPr>
            <p:cNvPr id="64" name="Straight Arrow Connector 39">
              <a:extLst>
                <a:ext uri="{FF2B5EF4-FFF2-40B4-BE49-F238E27FC236}">
                  <a16:creationId xmlns:a16="http://schemas.microsoft.com/office/drawing/2014/main" id="{2C5BC76C-38AE-8B43-8747-62A01312E6E6}"/>
                </a:ext>
              </a:extLst>
            </p:cNvPr>
            <p:cNvCxnSpPr>
              <a:cxnSpLocks/>
              <a:stCxn id="60" idx="3"/>
              <a:endCxn id="32" idx="1"/>
            </p:cNvCxnSpPr>
            <p:nvPr/>
          </p:nvCxnSpPr>
          <p:spPr>
            <a:xfrm flipV="1">
              <a:off x="4836076" y="2643306"/>
              <a:ext cx="502197" cy="163863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39">
              <a:extLst>
                <a:ext uri="{FF2B5EF4-FFF2-40B4-BE49-F238E27FC236}">
                  <a16:creationId xmlns:a16="http://schemas.microsoft.com/office/drawing/2014/main" id="{B2E500F7-0E39-1947-AAD3-8095277F8CED}"/>
                </a:ext>
              </a:extLst>
            </p:cNvPr>
            <p:cNvCxnSpPr>
              <a:cxnSpLocks/>
              <a:stCxn id="60" idx="3"/>
              <a:endCxn id="52" idx="1"/>
            </p:cNvCxnSpPr>
            <p:nvPr/>
          </p:nvCxnSpPr>
          <p:spPr>
            <a:xfrm>
              <a:off x="4836077" y="2807169"/>
              <a:ext cx="502195" cy="1318994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39">
              <a:extLst>
                <a:ext uri="{FF2B5EF4-FFF2-40B4-BE49-F238E27FC236}">
                  <a16:creationId xmlns:a16="http://schemas.microsoft.com/office/drawing/2014/main" id="{321ECD52-0929-4446-AFFF-E96937BBB3BF}"/>
                </a:ext>
              </a:extLst>
            </p:cNvPr>
            <p:cNvCxnSpPr>
              <a:cxnSpLocks/>
              <a:stCxn id="60" idx="3"/>
              <a:endCxn id="43" idx="1"/>
            </p:cNvCxnSpPr>
            <p:nvPr/>
          </p:nvCxnSpPr>
          <p:spPr>
            <a:xfrm>
              <a:off x="4836076" y="2807169"/>
              <a:ext cx="502197" cy="613209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84905319-8531-2A4D-8C03-82C75C723864}"/>
              </a:ext>
            </a:extLst>
          </p:cNvPr>
          <p:cNvSpPr/>
          <p:nvPr/>
        </p:nvSpPr>
        <p:spPr>
          <a:xfrm>
            <a:off x="3851920" y="2069113"/>
            <a:ext cx="4834880" cy="30797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FA3790-E493-B845-86B9-362673C529D8}"/>
              </a:ext>
            </a:extLst>
          </p:cNvPr>
          <p:cNvSpPr txBox="1"/>
          <p:nvPr/>
        </p:nvSpPr>
        <p:spPr>
          <a:xfrm>
            <a:off x="7837851" y="215512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数据区</a:t>
            </a:r>
            <a:endParaRPr lang="en-CN" sz="16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476DFD-8725-FD4A-800D-0C9C94355C7A}"/>
              </a:ext>
            </a:extLst>
          </p:cNvPr>
          <p:cNvSpPr txBox="1"/>
          <p:nvPr/>
        </p:nvSpPr>
        <p:spPr>
          <a:xfrm>
            <a:off x="4619428" y="420491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</a:t>
            </a:r>
            <a:r>
              <a:rPr lang="en-US" altLang="zh-CN" dirty="0"/>
              <a:t>+</a:t>
            </a:r>
            <a:r>
              <a:rPr lang="zh-CN" altLang="en-CN" dirty="0"/>
              <a:t>树</a:t>
            </a:r>
            <a:endParaRPr lang="en-CN" dirty="0"/>
          </a:p>
        </p:txBody>
      </p:sp>
      <p:cxnSp>
        <p:nvCxnSpPr>
          <p:cNvPr id="77" name="Straight Arrow Connector 39">
            <a:extLst>
              <a:ext uri="{FF2B5EF4-FFF2-40B4-BE49-F238E27FC236}">
                <a16:creationId xmlns:a16="http://schemas.microsoft.com/office/drawing/2014/main" id="{26EF5EB4-D136-3645-B978-9EB872FDAAE6}"/>
              </a:ext>
            </a:extLst>
          </p:cNvPr>
          <p:cNvCxnSpPr>
            <a:cxnSpLocks/>
            <a:stCxn id="18" idx="3"/>
            <a:endCxn id="76" idx="1"/>
          </p:cNvCxnSpPr>
          <p:nvPr/>
        </p:nvCxnSpPr>
        <p:spPr>
          <a:xfrm>
            <a:off x="3385457" y="4185655"/>
            <a:ext cx="1233971" cy="203928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91E795B-D883-5746-AFE4-98EBFB10BBF0}"/>
              </a:ext>
            </a:extLst>
          </p:cNvPr>
          <p:cNvGrpSpPr/>
          <p:nvPr/>
        </p:nvGrpSpPr>
        <p:grpSpPr>
          <a:xfrm>
            <a:off x="6777899" y="4290748"/>
            <a:ext cx="974580" cy="578978"/>
            <a:chOff x="4902518" y="2115294"/>
            <a:chExt cx="1249336" cy="742206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D3E5CCA-C422-3A43-95A3-94F2FD5C13A1}"/>
                </a:ext>
              </a:extLst>
            </p:cNvPr>
            <p:cNvSpPr/>
            <p:nvPr/>
          </p:nvSpPr>
          <p:spPr>
            <a:xfrm>
              <a:off x="4902519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740F2E9-AF8A-A54D-B880-EFAC7C9C06F5}"/>
                </a:ext>
              </a:extLst>
            </p:cNvPr>
            <p:cNvSpPr/>
            <p:nvPr/>
          </p:nvSpPr>
          <p:spPr>
            <a:xfrm>
              <a:off x="5152386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4090E70-8148-E24D-B3D7-402C75A65CF2}"/>
                </a:ext>
              </a:extLst>
            </p:cNvPr>
            <p:cNvSpPr/>
            <p:nvPr/>
          </p:nvSpPr>
          <p:spPr>
            <a:xfrm>
              <a:off x="5402253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8" name="Right Brace 87">
              <a:extLst>
                <a:ext uri="{FF2B5EF4-FFF2-40B4-BE49-F238E27FC236}">
                  <a16:creationId xmlns:a16="http://schemas.microsoft.com/office/drawing/2014/main" id="{AEABEE98-8B0E-5846-BF6E-A9717F52E753}"/>
                </a:ext>
              </a:extLst>
            </p:cNvPr>
            <p:cNvSpPr/>
            <p:nvPr/>
          </p:nvSpPr>
          <p:spPr>
            <a:xfrm rot="5400000" flipH="1">
              <a:off x="5463377" y="1826028"/>
              <a:ext cx="127617" cy="1249336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C861F4C-66DB-664E-A5C5-C8D7DF6BC19E}"/>
                </a:ext>
              </a:extLst>
            </p:cNvPr>
            <p:cNvSpPr txBox="1"/>
            <p:nvPr/>
          </p:nvSpPr>
          <p:spPr>
            <a:xfrm>
              <a:off x="5205433" y="2115294"/>
              <a:ext cx="802248" cy="335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100" dirty="0"/>
                <a:t>Extent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77586B3-625E-AF4A-A2F6-6C96A36C4CC8}"/>
                </a:ext>
              </a:extLst>
            </p:cNvPr>
            <p:cNvSpPr/>
            <p:nvPr/>
          </p:nvSpPr>
          <p:spPr>
            <a:xfrm>
              <a:off x="5652120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F47246E-AC22-4A4F-AC20-9BC66244045D}"/>
                </a:ext>
              </a:extLst>
            </p:cNvPr>
            <p:cNvSpPr/>
            <p:nvPr/>
          </p:nvSpPr>
          <p:spPr>
            <a:xfrm>
              <a:off x="5901987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</p:grpSp>
      <p:cxnSp>
        <p:nvCxnSpPr>
          <p:cNvPr id="82" name="Straight Arrow Connector 39">
            <a:extLst>
              <a:ext uri="{FF2B5EF4-FFF2-40B4-BE49-F238E27FC236}">
                <a16:creationId xmlns:a16="http://schemas.microsoft.com/office/drawing/2014/main" id="{0E452438-E3B4-004C-811B-815AA433FA58}"/>
              </a:ext>
            </a:extLst>
          </p:cNvPr>
          <p:cNvCxnSpPr>
            <a:cxnSpLocks/>
            <a:stCxn id="76" idx="3"/>
            <a:endCxn id="98" idx="1"/>
          </p:cNvCxnSpPr>
          <p:nvPr/>
        </p:nvCxnSpPr>
        <p:spPr>
          <a:xfrm flipV="1">
            <a:off x="5323467" y="4127005"/>
            <a:ext cx="1454434" cy="262578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39">
            <a:extLst>
              <a:ext uri="{FF2B5EF4-FFF2-40B4-BE49-F238E27FC236}">
                <a16:creationId xmlns:a16="http://schemas.microsoft.com/office/drawing/2014/main" id="{4698A3CB-F056-3543-94D2-347F1AAF23AC}"/>
              </a:ext>
            </a:extLst>
          </p:cNvPr>
          <p:cNvCxnSpPr>
            <a:cxnSpLocks/>
            <a:stCxn id="76" idx="3"/>
            <a:endCxn id="85" idx="1"/>
          </p:cNvCxnSpPr>
          <p:nvPr/>
        </p:nvCxnSpPr>
        <p:spPr>
          <a:xfrm>
            <a:off x="5323467" y="4389583"/>
            <a:ext cx="1454433" cy="346362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ECD880E-4113-FF45-A241-26F7E8B86645}"/>
              </a:ext>
            </a:extLst>
          </p:cNvPr>
          <p:cNvGrpSpPr/>
          <p:nvPr/>
        </p:nvGrpSpPr>
        <p:grpSpPr>
          <a:xfrm>
            <a:off x="6777899" y="3679090"/>
            <a:ext cx="1364410" cy="581697"/>
            <a:chOff x="6858574" y="3312861"/>
            <a:chExt cx="1364410" cy="58169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1745A14-11B1-B545-AA7E-80D23B02F203}"/>
                </a:ext>
              </a:extLst>
            </p:cNvPr>
            <p:cNvSpPr/>
            <p:nvPr/>
          </p:nvSpPr>
          <p:spPr>
            <a:xfrm>
              <a:off x="6858576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8E518A3-5BC2-8F48-8DFE-D7718212A9B1}"/>
                </a:ext>
              </a:extLst>
            </p:cNvPr>
            <p:cNvSpPr/>
            <p:nvPr/>
          </p:nvSpPr>
          <p:spPr>
            <a:xfrm>
              <a:off x="7053491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C3B4F2A-A62A-1049-BBF6-6A0DA761333F}"/>
                </a:ext>
              </a:extLst>
            </p:cNvPr>
            <p:cNvSpPr/>
            <p:nvPr/>
          </p:nvSpPr>
          <p:spPr>
            <a:xfrm>
              <a:off x="7248407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4DED1203-DAC0-F145-8D52-2B94E060040D}"/>
                </a:ext>
              </a:extLst>
            </p:cNvPr>
            <p:cNvSpPr/>
            <p:nvPr/>
          </p:nvSpPr>
          <p:spPr>
            <a:xfrm rot="5400000" flipH="1">
              <a:off x="7491003" y="2895014"/>
              <a:ext cx="99551" cy="1364409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653C68C-00B9-E64B-AFDB-E93F6993D964}"/>
                </a:ext>
              </a:extLst>
            </p:cNvPr>
            <p:cNvSpPr txBox="1"/>
            <p:nvPr/>
          </p:nvSpPr>
          <p:spPr>
            <a:xfrm>
              <a:off x="7162463" y="3312861"/>
              <a:ext cx="6258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100" dirty="0"/>
                <a:t>Extent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B6A2A42-68C8-244E-8095-7569E5AD68FB}"/>
                </a:ext>
              </a:extLst>
            </p:cNvPr>
            <p:cNvSpPr/>
            <p:nvPr/>
          </p:nvSpPr>
          <p:spPr>
            <a:xfrm>
              <a:off x="7443323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C3F9884-115B-FD48-A021-B37A9387C1E0}"/>
                </a:ext>
              </a:extLst>
            </p:cNvPr>
            <p:cNvSpPr/>
            <p:nvPr/>
          </p:nvSpPr>
          <p:spPr>
            <a:xfrm>
              <a:off x="7638238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FEE4B9E-CAEB-8642-B30C-C1997F021D1B}"/>
                </a:ext>
              </a:extLst>
            </p:cNvPr>
            <p:cNvSpPr/>
            <p:nvPr/>
          </p:nvSpPr>
          <p:spPr>
            <a:xfrm>
              <a:off x="7833154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1A65586-F804-AF4D-ADC0-9625A87AE8FB}"/>
                </a:ext>
              </a:extLst>
            </p:cNvPr>
            <p:cNvSpPr/>
            <p:nvPr/>
          </p:nvSpPr>
          <p:spPr>
            <a:xfrm>
              <a:off x="8028068" y="3626993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2F8CDE7D-9E54-2E4E-A075-956ECF32C20C}"/>
              </a:ext>
            </a:extLst>
          </p:cNvPr>
          <p:cNvSpPr txBox="1"/>
          <p:nvPr/>
        </p:nvSpPr>
        <p:spPr>
          <a:xfrm>
            <a:off x="35496" y="4977180"/>
            <a:ext cx="3536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MFT</a:t>
            </a:r>
            <a:r>
              <a:rPr lang="zh-CN" altLang="en-CN" sz="1600" dirty="0"/>
              <a:t>保存</a:t>
            </a:r>
            <a:r>
              <a:rPr lang="zh-CN" altLang="en-US" sz="1600" dirty="0"/>
              <a:t>了所有文件和目录的元数据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6478046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D204-4D73-C34C-B11D-072D595A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主文件表包含的文件（</a:t>
            </a:r>
            <a:r>
              <a:rPr lang="zh-CN" altLang="en-CN" dirty="0"/>
              <a:t>保留</a:t>
            </a:r>
            <a:r>
              <a:rPr lang="zh-CN" altLang="en-US" dirty="0"/>
              <a:t>文件）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F5D5F-91E9-A54E-8736-5E8BBE20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DDB68-BF6E-BB4B-A01B-0742EBE63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CDBCC9-C6EC-5541-8275-6B6F1CE65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07" y="1100274"/>
            <a:ext cx="5763186" cy="410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227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38F2-D6A5-D94F-A06F-F8789B2A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主文件表</a:t>
            </a:r>
            <a:r>
              <a:rPr lang="zh-CN" altLang="en-US" dirty="0"/>
              <a:t>记录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4DDA-319A-4448-B357-763B12B0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E6E6-D726-C54A-A0EB-4DB1D8895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CD0B24-DA91-AF44-A445-5FD523531150}"/>
              </a:ext>
            </a:extLst>
          </p:cNvPr>
          <p:cNvGrpSpPr/>
          <p:nvPr/>
        </p:nvGrpSpPr>
        <p:grpSpPr>
          <a:xfrm>
            <a:off x="2771800" y="1563978"/>
            <a:ext cx="2172874" cy="2958429"/>
            <a:chOff x="1281863" y="1666557"/>
            <a:chExt cx="2172874" cy="295842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C051F1-A325-B346-9317-FE007B00C881}"/>
                </a:ext>
              </a:extLst>
            </p:cNvPr>
            <p:cNvSpPr/>
            <p:nvPr/>
          </p:nvSpPr>
          <p:spPr>
            <a:xfrm>
              <a:off x="1281863" y="1666557"/>
              <a:ext cx="2172874" cy="44695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文件记录头</a:t>
              </a:r>
              <a:endParaRPr lang="en-CN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C1C846-7DEB-9143-8037-A01451713B33}"/>
                </a:ext>
              </a:extLst>
            </p:cNvPr>
            <p:cNvSpPr/>
            <p:nvPr/>
          </p:nvSpPr>
          <p:spPr>
            <a:xfrm>
              <a:off x="1281863" y="2113512"/>
              <a:ext cx="2172874" cy="5585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属性</a:t>
              </a:r>
              <a:endParaRPr lang="en-CN" sz="14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57E9E7-F214-974E-9ECE-A70740201AE7}"/>
                </a:ext>
              </a:extLst>
            </p:cNvPr>
            <p:cNvSpPr/>
            <p:nvPr/>
          </p:nvSpPr>
          <p:spPr>
            <a:xfrm>
              <a:off x="1281863" y="2672108"/>
              <a:ext cx="2172874" cy="5585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属性</a:t>
              </a:r>
              <a:endParaRPr lang="en-CN" sz="14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3AF784-0398-BF45-8C72-72803097B05B}"/>
                </a:ext>
              </a:extLst>
            </p:cNvPr>
            <p:cNvSpPr/>
            <p:nvPr/>
          </p:nvSpPr>
          <p:spPr>
            <a:xfrm>
              <a:off x="1281863" y="3230704"/>
              <a:ext cx="2172874" cy="5585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……</a:t>
              </a:r>
              <a:endParaRPr lang="en-CN" sz="14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382A3B-7327-E848-A12F-6DBD07CBA4E3}"/>
                </a:ext>
              </a:extLst>
            </p:cNvPr>
            <p:cNvSpPr/>
            <p:nvPr/>
          </p:nvSpPr>
          <p:spPr>
            <a:xfrm>
              <a:off x="1281863" y="3771655"/>
              <a:ext cx="2172874" cy="5585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属性</a:t>
              </a:r>
              <a:endParaRPr lang="en-CN" sz="14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D34321-61F6-DD45-9792-40874035BF1E}"/>
                </a:ext>
              </a:extLst>
            </p:cNvPr>
            <p:cNvSpPr/>
            <p:nvPr/>
          </p:nvSpPr>
          <p:spPr>
            <a:xfrm>
              <a:off x="1281863" y="4320714"/>
              <a:ext cx="2172874" cy="30427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文件记录结束</a:t>
              </a:r>
              <a:endParaRPr lang="en-CN" sz="1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3DBDBE-C100-E34A-8C43-994C9CD8A4B2}"/>
              </a:ext>
            </a:extLst>
          </p:cNvPr>
          <p:cNvGrpSpPr/>
          <p:nvPr/>
        </p:nvGrpSpPr>
        <p:grpSpPr>
          <a:xfrm>
            <a:off x="539750" y="1787455"/>
            <a:ext cx="1274362" cy="2952361"/>
            <a:chOff x="2111095" y="2196512"/>
            <a:chExt cx="1274362" cy="295236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7818EA-EB21-A74E-AE73-D7F6DED8AD9A}"/>
                </a:ext>
              </a:extLst>
            </p:cNvPr>
            <p:cNvSpPr/>
            <p:nvPr/>
          </p:nvSpPr>
          <p:spPr>
            <a:xfrm>
              <a:off x="2111095" y="2196512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MFT</a:t>
              </a:r>
              <a:endParaRPr lang="en-CN" sz="1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67ECCF4-14E4-C949-8357-3633271B1874}"/>
                </a:ext>
              </a:extLst>
            </p:cNvPr>
            <p:cNvSpPr/>
            <p:nvPr/>
          </p:nvSpPr>
          <p:spPr>
            <a:xfrm>
              <a:off x="2111095" y="2449928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MFT</a:t>
              </a:r>
              <a:r>
                <a:rPr lang="zh-CN" altLang="en-US" sz="1400" dirty="0"/>
                <a:t>（镜像）</a:t>
              </a:r>
              <a:endParaRPr lang="en-CN" sz="14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19428AF-B7CC-5B41-9C0D-1C0C84B0F979}"/>
                </a:ext>
              </a:extLst>
            </p:cNvPr>
            <p:cNvSpPr/>
            <p:nvPr/>
          </p:nvSpPr>
          <p:spPr>
            <a:xfrm>
              <a:off x="2111095" y="2709854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400" dirty="0"/>
                <a:t>日志</a:t>
              </a:r>
              <a:r>
                <a:rPr lang="zh-CN" altLang="en-US" sz="1400" dirty="0"/>
                <a:t>文件</a:t>
              </a:r>
              <a:endParaRPr lang="en-CN" sz="14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5B8855-FC8F-ED4D-89B4-58069B14E669}"/>
                </a:ext>
              </a:extLst>
            </p:cNvPr>
            <p:cNvSpPr/>
            <p:nvPr/>
          </p:nvSpPr>
          <p:spPr>
            <a:xfrm>
              <a:off x="2111095" y="3540770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</a:t>
              </a:r>
              <a:endParaRPr lang="en-CN" sz="14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3CAB52E-05C8-CA47-98E1-88519F51C1EF}"/>
                </a:ext>
              </a:extLst>
            </p:cNvPr>
            <p:cNvSpPr/>
            <p:nvPr/>
          </p:nvSpPr>
          <p:spPr>
            <a:xfrm>
              <a:off x="2111095" y="3802345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目录记录</a:t>
              </a:r>
              <a:endParaRPr lang="en-CN" sz="14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2CE55A-BE32-9346-82D6-F9A19A3852DE}"/>
                </a:ext>
              </a:extLst>
            </p:cNvPr>
            <p:cNvSpPr/>
            <p:nvPr/>
          </p:nvSpPr>
          <p:spPr>
            <a:xfrm>
              <a:off x="2111095" y="4055692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</a:t>
              </a:r>
              <a:endParaRPr lang="en-CN" sz="14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21F7F12-F674-A248-9DE5-5E3B5E263E46}"/>
                </a:ext>
              </a:extLst>
            </p:cNvPr>
            <p:cNvSpPr/>
            <p:nvPr/>
          </p:nvSpPr>
          <p:spPr>
            <a:xfrm>
              <a:off x="2111095" y="4323289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</a:t>
              </a:r>
              <a:endParaRPr lang="en-CN" sz="1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0DCAC2-793E-6143-AEAE-1D126FC953E3}"/>
                </a:ext>
              </a:extLst>
            </p:cNvPr>
            <p:cNvSpPr/>
            <p:nvPr/>
          </p:nvSpPr>
          <p:spPr>
            <a:xfrm>
              <a:off x="2111095" y="2971428"/>
              <a:ext cx="1274362" cy="56769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……</a:t>
              </a:r>
              <a:endParaRPr lang="en-CN" sz="14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164893A-D961-BF48-961C-5A0A188BE6C6}"/>
                </a:ext>
              </a:extLst>
            </p:cNvPr>
            <p:cNvSpPr/>
            <p:nvPr/>
          </p:nvSpPr>
          <p:spPr>
            <a:xfrm>
              <a:off x="2111095" y="4581180"/>
              <a:ext cx="1274362" cy="56769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……</a:t>
              </a:r>
              <a:endParaRPr lang="en-CN" sz="1400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88ABF3-46D3-9844-9E40-F53013108ADF}"/>
              </a:ext>
            </a:extLst>
          </p:cNvPr>
          <p:cNvCxnSpPr>
            <a:cxnSpLocks/>
          </p:cNvCxnSpPr>
          <p:nvPr/>
        </p:nvCxnSpPr>
        <p:spPr>
          <a:xfrm flipV="1">
            <a:off x="1814112" y="1563978"/>
            <a:ext cx="957688" cy="156414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53F986-CCF7-BD49-B05A-DB8C0EDA54F7}"/>
              </a:ext>
            </a:extLst>
          </p:cNvPr>
          <p:cNvCxnSpPr>
            <a:cxnSpLocks/>
          </p:cNvCxnSpPr>
          <p:nvPr/>
        </p:nvCxnSpPr>
        <p:spPr>
          <a:xfrm>
            <a:off x="1814112" y="3387955"/>
            <a:ext cx="957688" cy="113445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B845B8-61CC-9840-B684-851D08FBF3AB}"/>
              </a:ext>
            </a:extLst>
          </p:cNvPr>
          <p:cNvSpPr txBox="1"/>
          <p:nvPr/>
        </p:nvSpPr>
        <p:spPr>
          <a:xfrm>
            <a:off x="5206223" y="1647155"/>
            <a:ext cx="3935693" cy="2580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常用</a:t>
            </a:r>
            <a:r>
              <a:rPr lang="zh-CN" altLang="en-CN" sz="2000" b="1" dirty="0"/>
              <a:t>属性</a:t>
            </a:r>
            <a:r>
              <a:rPr lang="zh-CN" altLang="en-US" sz="2000" b="1" dirty="0"/>
              <a:t>包括：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文件</a:t>
            </a:r>
            <a:r>
              <a:rPr lang="zh-CN" altLang="en-US" dirty="0"/>
              <a:t>标准元数据（大小、时间等）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文件名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数据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索引根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023692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1C8C2-7786-AB9F-B59D-80C3C2BC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MFT</a:t>
            </a:r>
            <a:r>
              <a:rPr kumimoji="1" lang="zh-CN" altLang="en-US" dirty="0"/>
              <a:t>记录及属性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E268A3-F92E-A65C-AE9D-4EFB6F3B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6DFC9-A4CB-268B-F153-5DBC806B6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611742-BB9E-BD97-5E2D-6E86558B6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40"/>
            <a:ext cx="7772400" cy="362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83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42932-1E0D-9B66-9030-117DCA95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NTFS</a:t>
            </a:r>
            <a:r>
              <a:rPr kumimoji="1" lang="zh-CN" altLang="en-US" dirty="0"/>
              <a:t>的硬链接支持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7B283D-FF82-7D4D-CD3D-DFE4CB065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NTFS</a:t>
            </a:r>
            <a:r>
              <a:rPr kumimoji="1" lang="zh-CN" altLang="en-US" dirty="0"/>
              <a:t>中，每个硬链接拥有一个单独的目录项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其中保存的文件 </a:t>
            </a:r>
            <a:r>
              <a:rPr kumimoji="1" lang="en" altLang="zh-CN" dirty="0"/>
              <a:t>ID </a:t>
            </a:r>
            <a:r>
              <a:rPr kumimoji="1" lang="zh-CN" altLang="en-US" dirty="0"/>
              <a:t>指向了相同的 </a:t>
            </a:r>
            <a:r>
              <a:rPr kumimoji="1" lang="en" altLang="zh-CN" dirty="0"/>
              <a:t>MFT </a:t>
            </a:r>
            <a:r>
              <a:rPr kumimoji="1" lang="zh-CN" altLang="en-US" dirty="0"/>
              <a:t>记录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该 </a:t>
            </a:r>
            <a:r>
              <a:rPr kumimoji="1" lang="en" altLang="zh-CN" dirty="0"/>
              <a:t>MFT </a:t>
            </a:r>
            <a:r>
              <a:rPr kumimoji="1" lang="zh-CN" altLang="en-US" dirty="0"/>
              <a:t>记录中，为每一个硬链接记录一个单独的文件名属性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34F3B0-2292-A4B9-B24B-149AF101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C958E5-3CA8-78A0-ECF3-A3EB8F82C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87906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AC2A-F8D1-FC44-9385-BFBEEC33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NTFS</a:t>
            </a:r>
            <a:r>
              <a:rPr lang="zh-CN" altLang="en-US" dirty="0"/>
              <a:t>数据保存位置和目录项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7849-C3F7-0C4D-B2D7-20B81AFB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非常驻文件（</a:t>
            </a:r>
            <a:r>
              <a:rPr lang="zh-CN" altLang="en-CN" dirty="0"/>
              <a:t>大文件</a:t>
            </a:r>
            <a:r>
              <a:rPr lang="en-US" altLang="zh-CN" dirty="0"/>
              <a:t>/</a:t>
            </a:r>
            <a:r>
              <a:rPr lang="zh-CN" altLang="en-US" dirty="0"/>
              <a:t>目录）</a:t>
            </a:r>
            <a:endParaRPr lang="en-US" altLang="zh-CN" dirty="0"/>
          </a:p>
          <a:p>
            <a:pPr lvl="1"/>
            <a:r>
              <a:rPr lang="zh-CN" altLang="en-US" dirty="0"/>
              <a:t>数据区的</a:t>
            </a:r>
            <a:r>
              <a:rPr lang="en-US" altLang="zh-CN" dirty="0"/>
              <a:t>B+</a:t>
            </a:r>
            <a:r>
              <a:rPr lang="zh-CN" altLang="en-US" dirty="0"/>
              <a:t>树和</a:t>
            </a:r>
            <a:r>
              <a:rPr lang="zh-CN" altLang="en-CN" dirty="0"/>
              <a:t>区段</a:t>
            </a:r>
            <a:endParaRPr lang="en-US" altLang="zh-CN" dirty="0"/>
          </a:p>
          <a:p>
            <a:r>
              <a:rPr lang="zh-CN" altLang="en-US" dirty="0"/>
              <a:t>常驻文件（小文件</a:t>
            </a:r>
            <a:r>
              <a:rPr lang="en-US" altLang="zh-CN" dirty="0"/>
              <a:t>/</a:t>
            </a:r>
            <a:r>
              <a:rPr lang="zh-CN" altLang="en-US" dirty="0"/>
              <a:t>目录）</a:t>
            </a:r>
          </a:p>
          <a:p>
            <a:pPr lvl="1"/>
            <a:r>
              <a:rPr lang="zh-CN" altLang="en-US" dirty="0"/>
              <a:t>大小不超过</a:t>
            </a:r>
            <a:r>
              <a:rPr lang="en-US" altLang="zh-CN" dirty="0"/>
              <a:t>MFT</a:t>
            </a:r>
            <a:r>
              <a:rPr lang="zh-CN" altLang="en-US" dirty="0"/>
              <a:t>记录的最大值（</a:t>
            </a:r>
            <a:r>
              <a:rPr lang="en-US" dirty="0"/>
              <a:t>1KB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内嵌在</a:t>
            </a:r>
            <a:r>
              <a:rPr lang="en-US" altLang="zh-CN" dirty="0"/>
              <a:t>MFT</a:t>
            </a:r>
            <a:r>
              <a:rPr lang="zh-CN" altLang="en-US" dirty="0"/>
              <a:t>中保存（在</a:t>
            </a:r>
            <a:r>
              <a:rPr lang="en-US" altLang="zh-CN" dirty="0"/>
              <a:t>"</a:t>
            </a:r>
            <a:r>
              <a:rPr lang="zh-CN" altLang="en-US" dirty="0"/>
              <a:t>数据</a:t>
            </a:r>
            <a:r>
              <a:rPr lang="en-US" altLang="zh-CN" dirty="0"/>
              <a:t>"</a:t>
            </a:r>
            <a:r>
              <a:rPr lang="zh-CN" altLang="en-US" dirty="0"/>
              <a:t>属性中）</a:t>
            </a:r>
            <a:endParaRPr lang="en-US" altLang="zh-CN" dirty="0"/>
          </a:p>
          <a:p>
            <a:r>
              <a:rPr lang="zh-CN" altLang="en-US" dirty="0"/>
              <a:t>目录项与硬链接</a:t>
            </a:r>
            <a:endParaRPr lang="en-US" altLang="zh-CN" dirty="0"/>
          </a:p>
          <a:p>
            <a:pPr lvl="1"/>
            <a:r>
              <a:rPr lang="zh-CN" altLang="en-US" dirty="0"/>
              <a:t>包含</a:t>
            </a:r>
            <a:r>
              <a:rPr lang="zh-CN" altLang="en-CN" dirty="0"/>
              <a:t>文件</a:t>
            </a:r>
            <a:r>
              <a:rPr lang="zh-CN" altLang="en-US" dirty="0"/>
              <a:t>名、文件</a:t>
            </a:r>
            <a:r>
              <a:rPr lang="en-US" altLang="zh-CN" dirty="0"/>
              <a:t>ID</a:t>
            </a:r>
            <a:r>
              <a:rPr lang="zh-CN" altLang="en-US" dirty="0"/>
              <a:t>（在</a:t>
            </a:r>
            <a:r>
              <a:rPr lang="en-US" altLang="zh-CN" dirty="0"/>
              <a:t>MFT</a:t>
            </a:r>
            <a:r>
              <a:rPr lang="zh-CN" altLang="en-US" dirty="0"/>
              <a:t>中的序号）</a:t>
            </a:r>
            <a:endParaRPr lang="en-US" altLang="zh-CN" dirty="0"/>
          </a:p>
          <a:p>
            <a:pPr lvl="1"/>
            <a:r>
              <a:rPr lang="zh-CN" altLang="en-US" dirty="0"/>
              <a:t>支持硬链接：每个硬链接拥有一个单独的目录项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A1A2-4EAC-9742-810E-8F99B2CE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9A32-C8B9-054B-9833-298542710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14788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7164-1D26-9C4E-B385-A98B826E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思考时间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6CED0-E197-2F4B-B7EE-41D620827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为什么</a:t>
            </a:r>
            <a:r>
              <a:rPr lang="en-US" b="0" dirty="0"/>
              <a:t>Everything</a:t>
            </a:r>
            <a:r>
              <a:rPr lang="zh-CN" altLang="en-US" b="0" dirty="0"/>
              <a:t>查找文件这么快？</a:t>
            </a:r>
          </a:p>
          <a:p>
            <a:endParaRPr lang="en-US" altLang="zh-CN" b="0" dirty="0"/>
          </a:p>
          <a:p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r>
              <a:rPr lang="zh-CN" altLang="en-US" b="0" dirty="0"/>
              <a:t>为什么</a:t>
            </a:r>
            <a:r>
              <a:rPr lang="en-US" b="0" dirty="0"/>
              <a:t>NTFS</a:t>
            </a:r>
            <a:r>
              <a:rPr lang="zh-CN" altLang="en-US" b="0" dirty="0"/>
              <a:t>存取小文件很高效？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36D4A-5D9B-AD43-818D-54D2AA88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2D82F-AA67-544D-B551-97B8A461B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9F66D-1579-BB4D-8788-B26CE4C587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370" b="5648"/>
          <a:stretch/>
        </p:blipFill>
        <p:spPr>
          <a:xfrm>
            <a:off x="1835696" y="1849388"/>
            <a:ext cx="5004048" cy="1692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F3B77E-3B82-2043-9619-CC7FEA4147F7}"/>
              </a:ext>
            </a:extLst>
          </p:cNvPr>
          <p:cNvSpPr txBox="1"/>
          <p:nvPr/>
        </p:nvSpPr>
        <p:spPr>
          <a:xfrm>
            <a:off x="17022" y="5263670"/>
            <a:ext cx="22669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www.voidtools.com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/support/</a:t>
            </a:r>
            <a:b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everything/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using_everything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endParaRPr lang="en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8892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D75DB-182B-7A44-8157-271C19D6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7BC26F-E119-DF47-8ECD-650FEB70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9C4AD-116F-BD4D-8BAC-802ACBDA5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5B6D9E-C03B-6642-8D77-F76A797AB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-11528"/>
            <a:ext cx="656243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95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47970</TotalTime>
  <Words>4414</Words>
  <Application>Microsoft Macintosh PowerPoint</Application>
  <PresentationFormat>全屏显示(16:10)</PresentationFormat>
  <Paragraphs>835</Paragraphs>
  <Slides>55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3" baseType="lpstr">
      <vt:lpstr>DengXian</vt:lpstr>
      <vt:lpstr>微软雅黑</vt:lpstr>
      <vt:lpstr>Arial</vt:lpstr>
      <vt:lpstr>Calibri</vt:lpstr>
      <vt:lpstr>Courier</vt:lpstr>
      <vt:lpstr>Courier New</vt:lpstr>
      <vt:lpstr>Verdana</vt:lpstr>
      <vt:lpstr>Office 主题​​</vt:lpstr>
      <vt:lpstr>不同的文件系统</vt:lpstr>
      <vt:lpstr>版权声明</vt:lpstr>
      <vt:lpstr>理解一个文件系统的11个问题</vt:lpstr>
      <vt:lpstr>回顾：UNIX v6 文件系统</vt:lpstr>
      <vt:lpstr>文件的索引节点：inode</vt:lpstr>
      <vt:lpstr>在inode之前：一个简单的文件系统</vt:lpstr>
      <vt:lpstr>简单文件系统的改进</vt:lpstr>
      <vt:lpstr>简单文件系统的限制</vt:lpstr>
      <vt:lpstr>inode：记录文件多个磁盘块的位置</vt:lpstr>
      <vt:lpstr>inode文件系统的存储布局</vt:lpstr>
      <vt:lpstr>inode文件系统的存储布局</vt:lpstr>
      <vt:lpstr>inode文件系统的基本操作</vt:lpstr>
      <vt:lpstr>单级inode过大的问题</vt:lpstr>
      <vt:lpstr>多级inode</vt:lpstr>
      <vt:lpstr>多级inode</vt:lpstr>
      <vt:lpstr>思考：为什么格式化后可用空间变小了？</vt:lpstr>
      <vt:lpstr>目录文件与目录项</vt:lpstr>
      <vt:lpstr>目录的递归与根目录</vt:lpstr>
      <vt:lpstr>文件的查找过程：/os-book/fs.tex</vt:lpstr>
      <vt:lpstr>文件的查找过程：/os-book/fs.tex</vt:lpstr>
      <vt:lpstr>打开和读写文件</vt:lpstr>
      <vt:lpstr>mmap()：用内存接口来访问文件</vt:lpstr>
      <vt:lpstr>mmap()：文件内存映射的优势</vt:lpstr>
      <vt:lpstr>Ext2 文件系统</vt:lpstr>
      <vt:lpstr>Ext2文件系统的存储布局</vt:lpstr>
      <vt:lpstr>Ext2的常规文件</vt:lpstr>
      <vt:lpstr>使用区段（Extent）来优化</vt:lpstr>
      <vt:lpstr>Ext4文件存储 – 区段树（Extent）</vt:lpstr>
      <vt:lpstr>Ext2的目录文件</vt:lpstr>
      <vt:lpstr>其他常见的文件类型</vt:lpstr>
      <vt:lpstr>ChCore的文件系统</vt:lpstr>
      <vt:lpstr>ChCore中的文件系统</vt:lpstr>
      <vt:lpstr>ChCore的常规文件</vt:lpstr>
      <vt:lpstr>ChCore的目录文件</vt:lpstr>
      <vt:lpstr>基于Table的文件系统：FAT</vt:lpstr>
      <vt:lpstr>FAT32存储布局</vt:lpstr>
      <vt:lpstr>FAT：文件分配表</vt:lpstr>
      <vt:lpstr>FAT：文件分配表</vt:lpstr>
      <vt:lpstr>FAT32中的目录项</vt:lpstr>
      <vt:lpstr>FAT32中的目录项</vt:lpstr>
      <vt:lpstr>如何生成短文件名？</vt:lpstr>
      <vt:lpstr>思考时间🤔</vt:lpstr>
      <vt:lpstr>思考：磁盘碎片</vt:lpstr>
      <vt:lpstr>exFAT Highlights</vt:lpstr>
      <vt:lpstr>基于数据库的文件系统：NTFS</vt:lpstr>
      <vt:lpstr>NTFS存储布局</vt:lpstr>
      <vt:lpstr>NTFS主文件表MFT</vt:lpstr>
      <vt:lpstr>NTFS主文件表MFT</vt:lpstr>
      <vt:lpstr>主文件表包含的文件（保留文件）</vt:lpstr>
      <vt:lpstr>主文件表记录</vt:lpstr>
      <vt:lpstr>MFT记录及属性</vt:lpstr>
      <vt:lpstr>NTFS的硬链接支持</vt:lpstr>
      <vt:lpstr>NTFS数据保存位置和目录项</vt:lpstr>
      <vt:lpstr>思考时间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3560</cp:revision>
  <cp:lastPrinted>2016-06-13T07:55:34Z</cp:lastPrinted>
  <dcterms:created xsi:type="dcterms:W3CDTF">2017-11-24T09:35:45Z</dcterms:created>
  <dcterms:modified xsi:type="dcterms:W3CDTF">2024-06-14T15:21:33Z</dcterms:modified>
</cp:coreProperties>
</file>