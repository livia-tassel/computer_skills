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241" r:id="rId2"/>
    <p:sldId id="1420" r:id="rId3"/>
    <p:sldId id="2831" r:id="rId4"/>
    <p:sldId id="2273" r:id="rId5"/>
    <p:sldId id="2797" r:id="rId6"/>
    <p:sldId id="2798" r:id="rId7"/>
    <p:sldId id="2799" r:id="rId8"/>
    <p:sldId id="2807" r:id="rId9"/>
    <p:sldId id="2806" r:id="rId10"/>
    <p:sldId id="1383" r:id="rId11"/>
    <p:sldId id="1406" r:id="rId12"/>
    <p:sldId id="1489" r:id="rId13"/>
    <p:sldId id="1491" r:id="rId14"/>
    <p:sldId id="2827" r:id="rId15"/>
    <p:sldId id="2811" r:id="rId16"/>
    <p:sldId id="2812" r:id="rId17"/>
    <p:sldId id="2813" r:id="rId18"/>
    <p:sldId id="2814" r:id="rId19"/>
    <p:sldId id="2815" r:id="rId20"/>
    <p:sldId id="2816" r:id="rId21"/>
    <p:sldId id="2817" r:id="rId22"/>
    <p:sldId id="2818" r:id="rId23"/>
    <p:sldId id="2819" r:id="rId24"/>
    <p:sldId id="2821" r:id="rId25"/>
    <p:sldId id="2822" r:id="rId26"/>
    <p:sldId id="2823" r:id="rId27"/>
    <p:sldId id="2824" r:id="rId28"/>
    <p:sldId id="2825" r:id="rId29"/>
    <p:sldId id="1416" r:id="rId30"/>
    <p:sldId id="1493" r:id="rId31"/>
    <p:sldId id="1468" r:id="rId32"/>
    <p:sldId id="1361" r:id="rId33"/>
    <p:sldId id="1469" r:id="rId34"/>
    <p:sldId id="1470" r:id="rId35"/>
    <p:sldId id="1471" r:id="rId36"/>
    <p:sldId id="1472" r:id="rId37"/>
    <p:sldId id="2268" r:id="rId38"/>
    <p:sldId id="1473" r:id="rId39"/>
    <p:sldId id="1474" r:id="rId40"/>
    <p:sldId id="1475" r:id="rId41"/>
    <p:sldId id="1476" r:id="rId42"/>
    <p:sldId id="1477" r:id="rId43"/>
    <p:sldId id="1478" r:id="rId44"/>
    <p:sldId id="1479" r:id="rId45"/>
    <p:sldId id="1480" r:id="rId46"/>
    <p:sldId id="1481" r:id="rId47"/>
    <p:sldId id="1482" r:id="rId48"/>
    <p:sldId id="1483" r:id="rId49"/>
    <p:sldId id="1484" r:id="rId50"/>
    <p:sldId id="1485" r:id="rId51"/>
    <p:sldId id="1486" r:id="rId52"/>
    <p:sldId id="1487" r:id="rId53"/>
    <p:sldId id="1380" r:id="rId54"/>
    <p:sldId id="2828" r:id="rId55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BD374B"/>
    <a:srgbClr val="941100"/>
    <a:srgbClr val="005493"/>
    <a:srgbClr val="FF2F92"/>
    <a:srgbClr val="9437FF"/>
    <a:srgbClr val="73FE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32" autoAdjust="0"/>
    <p:restoredTop sz="90952" autoAdjust="0"/>
  </p:normalViewPr>
  <p:slideViewPr>
    <p:cSldViewPr>
      <p:cViewPr varScale="1">
        <p:scale>
          <a:sx n="134" d="100"/>
          <a:sy n="134" d="100"/>
        </p:scale>
        <p:origin x="1400" y="1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748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/>
              <a:t>（外部碎片能避免吗？）</a:t>
            </a:r>
            <a:endParaRPr kumimoji="1" lang="en-US" altLang="zh-CN" sz="120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900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合适的大小是 </a:t>
            </a:r>
            <a:r>
              <a:rPr kumimoji="1" lang="en-US" altLang="zh-CN" dirty="0"/>
              <a:t>16</a:t>
            </a:r>
            <a:r>
              <a:rPr kumimoji="1" lang="en" altLang="zh-CN" dirty="0"/>
              <a:t>K</a:t>
            </a:r>
            <a:r>
              <a:rPr kumimoji="1" lang="zh-CN" altLang="en" dirty="0"/>
              <a:t>，</a:t>
            </a:r>
            <a:r>
              <a:rPr kumimoji="1" lang="zh-CN" altLang="en-US" dirty="0"/>
              <a:t>因此首先查找第</a:t>
            </a:r>
            <a:r>
              <a:rPr kumimoji="1" lang="en-US" altLang="zh-CN" dirty="0"/>
              <a:t>2</a:t>
            </a:r>
            <a:r>
              <a:rPr kumimoji="1" lang="zh-CN" altLang="en-US" dirty="0"/>
              <a:t>条（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2</a:t>
            </a:r>
            <a:r>
              <a:rPr kumimoji="1" lang="zh-CN" altLang="en-US" dirty="0"/>
              <a:t>）空闲链表，如果链表不为空， 则可以直接从链表头取出空闲块进行分配。但是，在这个例子中，该链表为空， 分配器就会依次向存储更大块的链表去查找。由于第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条链表不为空，分配器就从该链表头取出空闲块（</a:t>
            </a:r>
            <a:r>
              <a:rPr kumimoji="1" lang="en-US" altLang="zh-CN" dirty="0"/>
              <a:t>32</a:t>
            </a:r>
            <a:r>
              <a:rPr kumimoji="1" lang="en" altLang="zh-CN" dirty="0"/>
              <a:t>K</a:t>
            </a:r>
            <a:r>
              <a:rPr kumimoji="1" lang="zh-CN" altLang="en" dirty="0"/>
              <a:t>）</a:t>
            </a:r>
            <a:r>
              <a:rPr kumimoji="1" lang="zh-CN" altLang="en-US" dirty="0"/>
              <a:t>进行分裂操作，从而获得两个 </a:t>
            </a:r>
            <a:r>
              <a:rPr kumimoji="1" lang="en-US" altLang="zh-CN" dirty="0"/>
              <a:t>16</a:t>
            </a:r>
            <a:r>
              <a:rPr kumimoji="1" lang="en" altLang="zh-CN" dirty="0"/>
              <a:t>K </a:t>
            </a:r>
            <a:r>
              <a:rPr kumimoji="1" lang="zh-CN" altLang="en-US" dirty="0"/>
              <a:t>大小的 块，将其中一个用于服务请求（这里不再需要继续向下分裂），另一个依然作 为空闲块插入到第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条链表中。若再接收到一个大小为 </a:t>
            </a:r>
            <a:r>
              <a:rPr kumimoji="1" lang="en-US" altLang="zh-CN" dirty="0"/>
              <a:t>8</a:t>
            </a:r>
            <a:r>
              <a:rPr kumimoji="1" lang="en" altLang="zh-CN" dirty="0"/>
              <a:t>K </a:t>
            </a:r>
            <a:r>
              <a:rPr kumimoji="1" lang="zh-CN" altLang="en-US" dirty="0"/>
              <a:t>的分配请求，分配 器则会直接从第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条链表中取出空闲块服务请求。之后，继续接收到一个大小 为 </a:t>
            </a:r>
            <a:r>
              <a:rPr kumimoji="1" lang="en-US" altLang="zh-CN" dirty="0"/>
              <a:t>4</a:t>
            </a:r>
            <a:r>
              <a:rPr kumimoji="1" lang="en" altLang="zh-CN" dirty="0"/>
              <a:t>K </a:t>
            </a:r>
            <a:r>
              <a:rPr kumimoji="1" lang="zh-CN" altLang="en-US" dirty="0"/>
              <a:t>的分配请求，分配器则会取出第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条链表中大小为 </a:t>
            </a:r>
            <a:r>
              <a:rPr kumimoji="1" lang="en-US" altLang="zh-CN" dirty="0"/>
              <a:t>16</a:t>
            </a:r>
            <a:r>
              <a:rPr kumimoji="1" lang="en" altLang="zh-CN" dirty="0"/>
              <a:t>K </a:t>
            </a:r>
            <a:r>
              <a:rPr kumimoji="1" lang="zh-CN" altLang="en-US" dirty="0"/>
              <a:t>的空闲块进行 连续分裂，从而服务请求。读者可以思考并画出此时空闲链表数组的内容。释 放块的过程与分配块的过程相反，分配器首先找到被释放的块的伙伴块，如果 伙伴块处于非空闲状态，则将被释放的块直接插入对应大小的空闲链表中，即 完成释放；如果伙伴块处于空闲状态，则将它们两个块进行合并，当成一个完整的块释放，并重复该过程。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097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规则：虚拟页（虚拟地址）先分配后使用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988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在选择被换出的页面时，优先选择未来不会再访问的页面，或者在最长时间内不会再访问的页面。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418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+mn-ea"/>
              </a:rPr>
              <a:t>需要排序的内存页可能有非常多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500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若选择的替换策略与实际的工作负载不匹配，则有可能造成颠簸现象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048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虚拟地址空间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923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物理内存管理</a:t>
            </a:r>
            <a:r>
              <a:rPr kumimoji="1" lang="en-US" altLang="zh-CN" sz="4800" dirty="0"/>
              <a:t>-2</a:t>
            </a:r>
            <a:endParaRPr kumimoji="1" lang="zh-CN" altLang="en-US" sz="4800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B664D35-B3CE-CD48-BFE6-D8CF4E53090D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/>
              <a:t>资</a:t>
            </a:r>
            <a:r>
              <a:rPr lang="zh-CN" altLang="en-US" sz="1600" b="0"/>
              <a:t>料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0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0AEBA-E447-A249-BC05-BAF45602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E6ADC6-EE17-4B40-A1A0-C3ABF04BE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AEF73-2272-A24A-BB94-6D7FB572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16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1B477-41D1-B940-8675-CA586966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负责分配物理内存资源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F446C-97F6-F34F-B88C-070FA5995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引入虚拟内存后，物理内存分配主要在以下四个场景出现：</a:t>
            </a:r>
            <a:endParaRPr kumimoji="1"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用户态应用程序触发</a:t>
            </a:r>
            <a:r>
              <a:rPr kumimoji="1" lang="en-US" altLang="zh-CN" sz="2000" dirty="0"/>
              <a:t>on-demand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paging</a:t>
            </a:r>
            <a:r>
              <a:rPr kumimoji="1" lang="zh-CN" altLang="en-US" sz="2000" dirty="0"/>
              <a:t>（延迟映射）时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此时内核需要分配物理内存页，映射到对应的虚拟页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内核自己申请内存并使用时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如用于内核自身的数据结构，通常通过</a:t>
            </a:r>
            <a:r>
              <a:rPr kumimoji="1" lang="en-US" altLang="zh-CN" sz="1800" dirty="0" err="1"/>
              <a:t>kmalloc</a:t>
            </a:r>
            <a:r>
              <a:rPr kumimoji="1" lang="en-US" altLang="zh-CN" sz="1800" dirty="0"/>
              <a:t>()</a:t>
            </a:r>
            <a:r>
              <a:rPr kumimoji="1" lang="zh-CN" altLang="en-US" sz="1800" dirty="0"/>
              <a:t>完成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内核申请用于设备的</a:t>
            </a:r>
            <a:r>
              <a:rPr kumimoji="1" lang="en-US" altLang="zh-CN" sz="2000" dirty="0"/>
              <a:t>DMA</a:t>
            </a:r>
            <a:r>
              <a:rPr kumimoji="1" lang="zh-CN" altLang="en-US" sz="2000" dirty="0"/>
              <a:t>缓存时</a:t>
            </a:r>
            <a:endParaRPr kumimoji="1" lang="en-US" altLang="zh-CN" sz="2000" dirty="0"/>
          </a:p>
          <a:p>
            <a:pPr lvl="2"/>
            <a:r>
              <a:rPr kumimoji="1" lang="en-US" altLang="zh-CN" sz="1800" dirty="0"/>
              <a:t>DMA</a:t>
            </a:r>
            <a:r>
              <a:rPr kumimoji="1" lang="zh-CN" altLang="en-US" sz="1800" dirty="0"/>
              <a:t>缓存通常需要连续的物理页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发生换页（</a:t>
            </a:r>
            <a:r>
              <a:rPr kumimoji="1" lang="en-US" altLang="zh-CN" sz="2000" dirty="0"/>
              <a:t>swapping</a:t>
            </a:r>
            <a:r>
              <a:rPr kumimoji="1" lang="zh-CN" altLang="en-US" sz="2000" dirty="0"/>
              <a:t>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通过磁盘来扩展物理内存的容量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E981EE-79CF-2347-A146-5320ACD5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989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D7805-A665-2345-9718-0F80B477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：伙伴系统（</a:t>
            </a:r>
            <a:r>
              <a:rPr kumimoji="1" lang="en-US" altLang="zh-CN" dirty="0"/>
              <a:t>buddy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A0460-6C7D-194F-ABB8-DCEFBB8C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伙伴系统：分裂与合并（避免外部碎片）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DEE49-C68F-3F42-AC19-C624BC60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F55250-4DAB-674C-8303-EF5511C44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0" y="2076850"/>
            <a:ext cx="7226300" cy="3124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57997D-6212-724F-AD0C-119356B5C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24" y="3793604"/>
            <a:ext cx="2151923" cy="4937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229F1AE-B55F-9340-92F5-2191158E7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24" y="4530486"/>
            <a:ext cx="2151923" cy="4937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D68F55-C0DE-2C4D-B951-279EB2B64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587" y="4541525"/>
            <a:ext cx="971051" cy="47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78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C8DE2-D403-A64D-B98A-98ADB7F4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：伙伴系统例子：分配</a:t>
            </a:r>
            <a:r>
              <a:rPr kumimoji="1" lang="en-US" altLang="zh-CN" dirty="0"/>
              <a:t>15K</a:t>
            </a:r>
            <a:r>
              <a:rPr kumimoji="1" lang="zh-CN" altLang="en-US" dirty="0"/>
              <a:t>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21286-35A2-9B41-9A6B-659D5E90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126964-DB78-574C-8531-DF99BE9F66D9}"/>
              </a:ext>
            </a:extLst>
          </p:cNvPr>
          <p:cNvSpPr txBox="1"/>
          <p:nvPr/>
        </p:nvSpPr>
        <p:spPr>
          <a:xfrm>
            <a:off x="717999" y="1561803"/>
            <a:ext cx="767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当一个请求需要分配 m 个物理页时，伙伴系统将寻找一个大小合适的块， 该块包含 2</a:t>
            </a:r>
            <a:r>
              <a:rPr lang="zh-CN" altLang="en-US" baseline="30000" dirty="0"/>
              <a:t>n</a:t>
            </a:r>
            <a:r>
              <a:rPr lang="zh-CN" altLang="en-US" dirty="0"/>
              <a:t>个物理页，且满足 2</a:t>
            </a:r>
            <a:r>
              <a:rPr lang="zh-CN" altLang="en-US" baseline="30000" dirty="0"/>
              <a:t>n−1</a:t>
            </a:r>
            <a:r>
              <a:rPr lang="zh-CN" altLang="en-US" dirty="0"/>
              <a:t>&lt; m ⩽ 2</a:t>
            </a:r>
            <a:r>
              <a:rPr lang="zh-CN" altLang="en-US" baseline="30000" dirty="0"/>
              <a:t>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C5DBC2-E2C5-8844-B0C2-A396AFEAD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404973"/>
            <a:ext cx="8166100" cy="28575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F920066-E98E-B21D-25E4-6B2AB2D5C0B7}"/>
              </a:ext>
            </a:extLst>
          </p:cNvPr>
          <p:cNvSpPr txBox="1"/>
          <p:nvPr/>
        </p:nvSpPr>
        <p:spPr>
          <a:xfrm>
            <a:off x="539552" y="5262679"/>
            <a:ext cx="3467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highlight>
                  <a:srgbClr val="FFFF00"/>
                </a:highlight>
              </a:rPr>
              <a:t>把空闲块按照大小放在相应的链表中</a:t>
            </a:r>
          </a:p>
        </p:txBody>
      </p:sp>
    </p:spTree>
    <p:extLst>
      <p:ext uri="{BB962C8B-B14F-4D97-AF65-F5344CB8AC3E}">
        <p14:creationId xmlns:p14="http://schemas.microsoft.com/office/powerpoint/2010/main" val="1239173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7BF90-6D68-6546-9869-0C22BBBDE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：合并过程如何定位伙伴块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9491C-3511-C64A-8CBB-70CF4B59C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高效地找到伙伴块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互为伙伴的两个块的物理地址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仅有一位</a:t>
            </a:r>
            <a:r>
              <a:rPr kumimoji="1" lang="zh-CN" altLang="en-US" sz="2000" dirty="0"/>
              <a:t>不同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而且块的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大小决定</a:t>
            </a:r>
            <a:r>
              <a:rPr kumimoji="1" lang="zh-CN" altLang="en-US" sz="2000" dirty="0"/>
              <a:t>是哪一位</a:t>
            </a:r>
            <a:endParaRPr kumimoji="1" lang="en-US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例如：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块</a:t>
            </a:r>
            <a:r>
              <a:rPr kumimoji="1" lang="en" altLang="zh-CN" sz="2000" dirty="0"/>
              <a:t>A</a:t>
            </a:r>
            <a:r>
              <a:rPr kumimoji="1" lang="zh-CN" altLang="en" sz="2000" dirty="0"/>
              <a:t>（</a:t>
            </a:r>
            <a:r>
              <a:rPr kumimoji="1" lang="en" altLang="zh-CN" sz="2000" dirty="0"/>
              <a:t>0-8K</a:t>
            </a:r>
            <a:r>
              <a:rPr kumimoji="1" lang="zh-CN" altLang="en" sz="2000" dirty="0"/>
              <a:t>）</a:t>
            </a:r>
            <a:r>
              <a:rPr kumimoji="1" lang="zh-CN" altLang="en-US" sz="2000" dirty="0"/>
              <a:t>和块</a:t>
            </a:r>
            <a:r>
              <a:rPr kumimoji="1" lang="en" altLang="zh-CN" sz="2000" dirty="0"/>
              <a:t>B</a:t>
            </a:r>
            <a:r>
              <a:rPr kumimoji="1" lang="zh-CN" altLang="en" sz="2000" dirty="0"/>
              <a:t>（</a:t>
            </a:r>
            <a:r>
              <a:rPr kumimoji="1" lang="en" altLang="zh-CN" sz="2000" dirty="0"/>
              <a:t>8-16K</a:t>
            </a:r>
            <a:r>
              <a:rPr kumimoji="1" lang="zh-CN" altLang="en" sz="2000" dirty="0"/>
              <a:t>）</a:t>
            </a:r>
            <a:r>
              <a:rPr kumimoji="1" lang="zh-CN" altLang="en-US" sz="2000" dirty="0"/>
              <a:t>互为伙伴块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块</a:t>
            </a:r>
            <a:r>
              <a:rPr kumimoji="1" lang="en-US" altLang="zh-CN" sz="2000" dirty="0"/>
              <a:t>A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B</a:t>
            </a:r>
            <a:r>
              <a:rPr kumimoji="1" lang="zh-CN" altLang="en-US" sz="2000" dirty="0"/>
              <a:t>的物理地址分别是 </a:t>
            </a:r>
            <a:r>
              <a:rPr kumimoji="1" lang="en-US" altLang="zh-CN" sz="2000" dirty="0"/>
              <a:t>0</a:t>
            </a:r>
            <a:r>
              <a:rPr kumimoji="1" lang="en" altLang="zh-CN" sz="2000" dirty="0"/>
              <a:t>x0 </a:t>
            </a:r>
            <a:r>
              <a:rPr kumimoji="1" lang="zh-CN" altLang="en-US" sz="2000" dirty="0"/>
              <a:t>和 </a:t>
            </a:r>
            <a:r>
              <a:rPr kumimoji="1" lang="en-US" altLang="zh-CN" sz="2000" dirty="0"/>
              <a:t>0</a:t>
            </a:r>
            <a:r>
              <a:rPr kumimoji="1" lang="en" altLang="zh-CN" sz="2000" dirty="0"/>
              <a:t>x2000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仅有第</a:t>
            </a:r>
            <a:r>
              <a:rPr kumimoji="1" lang="en-US" altLang="zh-CN" dirty="0">
                <a:highlight>
                  <a:srgbClr val="FFFF00"/>
                </a:highlight>
              </a:rPr>
              <a:t>13</a:t>
            </a:r>
            <a:r>
              <a:rPr kumimoji="1" lang="zh-CN" altLang="en-US" dirty="0"/>
              <a:t>位不同，块大小是</a:t>
            </a:r>
            <a:r>
              <a:rPr kumimoji="1" lang="en-US" altLang="zh-CN" dirty="0"/>
              <a:t>8</a:t>
            </a:r>
            <a:r>
              <a:rPr kumimoji="1" lang="en" altLang="zh-CN" dirty="0"/>
              <a:t>K</a:t>
            </a:r>
            <a:r>
              <a:rPr kumimoji="1" lang="zh-CN" altLang="en" dirty="0"/>
              <a:t>（</a:t>
            </a:r>
            <a:r>
              <a:rPr kumimoji="1" lang="en" altLang="zh-CN" dirty="0"/>
              <a:t>2</a:t>
            </a:r>
            <a:r>
              <a:rPr kumimoji="1" lang="en" altLang="zh-CN" baseline="30000" dirty="0">
                <a:highlight>
                  <a:srgbClr val="FFFF00"/>
                </a:highlight>
              </a:rPr>
              <a:t>13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9A4695-F708-624C-91EA-0F8EE93E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667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6E4CF-0024-C369-A722-060164BC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：伙伴系统的代码实现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8D9A527-2E8E-4227-D2DA-07BA4F245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9" b="4818"/>
          <a:stretch/>
        </p:blipFill>
        <p:spPr>
          <a:xfrm>
            <a:off x="1651000" y="1840337"/>
            <a:ext cx="5842000" cy="237626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66BDA1-2E6B-C39C-8780-66213A2A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4EAC39-7C15-F823-6558-FDDFB040F78D}"/>
              </a:ext>
            </a:extLst>
          </p:cNvPr>
          <p:cNvSpPr txBox="1"/>
          <p:nvPr/>
        </p:nvSpPr>
        <p:spPr>
          <a:xfrm>
            <a:off x="3325505" y="147100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描述物理页的数据结构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51E4DC-5843-320C-84D8-9D9137C03E77}"/>
              </a:ext>
            </a:extLst>
          </p:cNvPr>
          <p:cNvSpPr txBox="1"/>
          <p:nvPr/>
        </p:nvSpPr>
        <p:spPr>
          <a:xfrm>
            <a:off x="2504767" y="4585933"/>
            <a:ext cx="413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  <a:highlight>
                  <a:srgbClr val="FFFF00"/>
                </a:highlight>
              </a:rPr>
              <a:t>操作系统维护</a:t>
            </a:r>
            <a:r>
              <a:rPr kumimoji="1" lang="en-US" altLang="zh-CN" dirty="0">
                <a:solidFill>
                  <a:srgbClr val="BD374B"/>
                </a:solidFill>
                <a:highlight>
                  <a:srgbClr val="FFFF00"/>
                </a:highlight>
              </a:rPr>
              <a:t>struct</a:t>
            </a:r>
            <a:r>
              <a:rPr kumimoji="1" lang="zh-CN" altLang="en-US" dirty="0">
                <a:solidFill>
                  <a:srgbClr val="BD374B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dirty="0" err="1">
                <a:solidFill>
                  <a:srgbClr val="BD374B"/>
                </a:solidFill>
                <a:highlight>
                  <a:srgbClr val="FFFF00"/>
                </a:highlight>
              </a:rPr>
              <a:t>physical_page</a:t>
            </a:r>
            <a:r>
              <a:rPr kumimoji="1" lang="zh-CN" altLang="en-US" dirty="0">
                <a:solidFill>
                  <a:srgbClr val="BD374B"/>
                </a:solidFill>
                <a:highlight>
                  <a:srgbClr val="FFFF00"/>
                </a:highlight>
              </a:rPr>
              <a:t>数组</a:t>
            </a:r>
          </a:p>
        </p:txBody>
      </p:sp>
    </p:spTree>
    <p:extLst>
      <p:ext uri="{BB962C8B-B14F-4D97-AF65-F5344CB8AC3E}">
        <p14:creationId xmlns:p14="http://schemas.microsoft.com/office/powerpoint/2010/main" val="205783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FFF5A-3050-5658-DD20-58380725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突破物理内存容量限制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8AB22A-DA70-4300-EA40-E840B772C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1C84B9-B342-E00F-49FE-A920A115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040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9024A-72C6-3242-B102-716094E0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-4</a:t>
            </a:r>
            <a:r>
              <a:rPr kumimoji="1" lang="zh-CN" altLang="en-US" dirty="0"/>
              <a:t>：物理内存容量</a:t>
            </a:r>
            <a:r>
              <a:rPr kumimoji="1" lang="en-US" altLang="zh-CN" dirty="0"/>
              <a:t>&lt;</a:t>
            </a:r>
            <a:r>
              <a:rPr kumimoji="1" lang="zh-CN" altLang="en-US" dirty="0"/>
              <a:t>应用进程需求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ED4D-073F-BC45-B8C3-BBCB09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9568819-7EF1-3F2F-4048-333393CA2E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30"/>
          <a:stretch/>
        </p:blipFill>
        <p:spPr>
          <a:xfrm>
            <a:off x="273665" y="3156675"/>
            <a:ext cx="4634272" cy="22367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26568E-4827-A496-61A5-20C32A852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033" y="1368288"/>
            <a:ext cx="4422507" cy="204115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61C460-3D06-A16A-2DFE-DAF65B5B23B7}"/>
              </a:ext>
            </a:extLst>
          </p:cNvPr>
          <p:cNvSpPr txBox="1"/>
          <p:nvPr/>
        </p:nvSpPr>
        <p:spPr>
          <a:xfrm>
            <a:off x="1575138" y="278734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腾讯会议占用</a:t>
            </a:r>
            <a:r>
              <a:rPr kumimoji="1" lang="en-US" altLang="zh-CN" dirty="0">
                <a:latin typeface="+mn-ea"/>
              </a:rPr>
              <a:t>2GB</a:t>
            </a:r>
            <a:endParaRPr kumimoji="1" lang="zh-CN" altLang="en-US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FAD6DF-F190-6479-31D9-63646500DFEC}"/>
              </a:ext>
            </a:extLst>
          </p:cNvPr>
          <p:cNvSpPr txBox="1"/>
          <p:nvPr/>
        </p:nvSpPr>
        <p:spPr>
          <a:xfrm>
            <a:off x="5781706" y="344423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王者荣耀占用</a:t>
            </a:r>
            <a:r>
              <a:rPr kumimoji="1" lang="en-US" altLang="zh-CN" dirty="0">
                <a:latin typeface="+mn-ea"/>
              </a:rPr>
              <a:t>6GB</a:t>
            </a:r>
            <a:endParaRPr kumimoji="1" lang="zh-CN" altLang="en-US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38AF8D-DFFB-7F88-018D-D6F86AFC487F}"/>
              </a:ext>
            </a:extLst>
          </p:cNvPr>
          <p:cNvSpPr txBox="1"/>
          <p:nvPr/>
        </p:nvSpPr>
        <p:spPr>
          <a:xfrm>
            <a:off x="483704" y="133915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手机总内存大小</a:t>
            </a:r>
            <a:r>
              <a:rPr kumimoji="1" lang="en-US" altLang="zh-CN" dirty="0">
                <a:latin typeface="+mn-ea"/>
              </a:rPr>
              <a:t>6GB</a:t>
            </a:r>
            <a:endParaRPr kumimoji="1"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7187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F3F26-DD44-8E42-90F0-3315C1C4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换页机制（</a:t>
            </a:r>
            <a:r>
              <a:rPr kumimoji="1" lang="en-US" altLang="zh-CN" dirty="0"/>
              <a:t>Swapping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9AF3CD-FC6F-EA43-9972-8A501FCE5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换页的基本思想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用磁盘作为物理内存的补充，且对上层应用透明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应用对虚拟内存的使用，不受物理内存大小限制</a:t>
            </a:r>
            <a:endParaRPr kumimoji="1" lang="en-US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如何实现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磁盘上划分专门的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分区，或专门的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在处理缺页异常时，触发物理内存页的换入换出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B49A0C-3E3F-A14C-A5BD-E7E71611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896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84600-E16E-C045-9A09-89F57BF8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换页示例：换出与换入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DDE630-238C-8C43-BF7B-3D35A413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296E06-1FD1-F24E-9986-592A5E4CB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1356"/>
            <a:ext cx="8686800" cy="34711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B7F1AB-2E32-9F4A-8F67-CCE9E63C3D8A}"/>
              </a:ext>
            </a:extLst>
          </p:cNvPr>
          <p:cNvSpPr txBox="1"/>
          <p:nvPr/>
        </p:nvSpPr>
        <p:spPr>
          <a:xfrm>
            <a:off x="1306766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A5148E-6EE6-984A-8222-8227551802BD}"/>
              </a:ext>
            </a:extLst>
          </p:cNvPr>
          <p:cNvSpPr txBox="1"/>
          <p:nvPr/>
        </p:nvSpPr>
        <p:spPr>
          <a:xfrm>
            <a:off x="4354022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23EB8C-D644-8C48-B8C5-298B97C9A699}"/>
              </a:ext>
            </a:extLst>
          </p:cNvPr>
          <p:cNvSpPr txBox="1"/>
          <p:nvPr/>
        </p:nvSpPr>
        <p:spPr>
          <a:xfrm>
            <a:off x="7620000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9D44AD-3DDB-2029-7508-AAB863ACF5B5}"/>
              </a:ext>
            </a:extLst>
          </p:cNvPr>
          <p:cNvSpPr/>
          <p:nvPr/>
        </p:nvSpPr>
        <p:spPr>
          <a:xfrm>
            <a:off x="2699792" y="1129308"/>
            <a:ext cx="3096344" cy="4167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A39F02-81AB-60A4-D37A-35C6C7D5B9D5}"/>
              </a:ext>
            </a:extLst>
          </p:cNvPr>
          <p:cNvSpPr/>
          <p:nvPr/>
        </p:nvSpPr>
        <p:spPr>
          <a:xfrm>
            <a:off x="5890353" y="1099592"/>
            <a:ext cx="3096344" cy="4167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895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7C5A-AC6D-C842-BA02-2B5ADD75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1.</a:t>
            </a:r>
            <a:r>
              <a:rPr kumimoji="1" lang="zh-CN" altLang="en-US" dirty="0"/>
              <a:t> 如何判断缺页异常是由于换页引起的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429B1-7CFD-1F49-983E-A4485D8AF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导致缺页异常的三种可能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访问非法虚拟地址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按需分配（尚未分配真正的物理页）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内存页数据被换出到磁盘上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BD374B"/>
                </a:solidFill>
                <a:latin typeface="+mn-ea"/>
                <a:ea typeface="+mn-ea"/>
              </a:rPr>
              <a:t>OS</a:t>
            </a:r>
            <a:r>
              <a:rPr kumimoji="1" lang="zh-CN" altLang="en-US" dirty="0">
                <a:solidFill>
                  <a:srgbClr val="BD374B"/>
                </a:solidFill>
                <a:latin typeface="+mn-ea"/>
                <a:ea typeface="+mn-ea"/>
              </a:rPr>
              <a:t>如何区分？</a:t>
            </a:r>
            <a:endParaRPr kumimoji="1" lang="en-US" altLang="zh-CN" dirty="0">
              <a:solidFill>
                <a:srgbClr val="BD374B"/>
              </a:solidFill>
              <a:latin typeface="+mn-ea"/>
              <a:ea typeface="+mn-ea"/>
            </a:endParaRPr>
          </a:p>
          <a:p>
            <a:pPr lvl="1"/>
            <a:r>
              <a:rPr kumimoji="1" lang="zh-CN" altLang="en-US" dirty="0"/>
              <a:t>利用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区分是否为合法虚拟地址（合法缺页异常）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利用页表项内容区分是按需分配还是需要换入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02996-5648-1843-9564-0B455B70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57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BB783-BAC3-EE9D-2576-CA237B98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CA774E-B519-8F22-1A72-2BF7AC4A7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zh-CN" altLang="en-US" dirty="0">
                <a:latin typeface="+mn-ea"/>
                <a:ea typeface="+mn-ea"/>
              </a:rPr>
              <a:t>应用进程地址空间中的虚拟页可能存在四种状态</a:t>
            </a:r>
            <a:r>
              <a:rPr kumimoji="1" lang="zh-CN" altLang="en-US" b="0" dirty="0">
                <a:latin typeface="+mn-ea"/>
                <a:ea typeface="+mn-ea"/>
              </a:rPr>
              <a:t>，分别是：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1. </a:t>
            </a:r>
            <a:r>
              <a:rPr kumimoji="1" lang="zh-CN" altLang="en-US" b="0" dirty="0">
                <a:latin typeface="+mn-ea"/>
                <a:ea typeface="+mn-ea"/>
              </a:rPr>
              <a:t>未分配；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2. </a:t>
            </a:r>
            <a:r>
              <a:rPr kumimoji="1" lang="zh-CN" altLang="en-US" b="0" dirty="0">
                <a:latin typeface="+mn-ea"/>
                <a:ea typeface="+mn-ea"/>
              </a:rPr>
              <a:t>已分配但尚未为其分配物理页；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3. </a:t>
            </a:r>
            <a:r>
              <a:rPr kumimoji="1" lang="zh-CN" altLang="en-US" b="0" dirty="0">
                <a:latin typeface="+mn-ea"/>
                <a:ea typeface="+mn-ea"/>
              </a:rPr>
              <a:t>已分配且映射到物理页；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4. </a:t>
            </a:r>
            <a:r>
              <a:rPr kumimoji="1" lang="zh-CN" altLang="en-US" b="0" dirty="0">
                <a:latin typeface="+mn-ea"/>
                <a:ea typeface="+mn-ea"/>
              </a:rPr>
              <a:t>已分配但对应物理页被换出。</a:t>
            </a:r>
            <a:endParaRPr kumimoji="1" lang="en-US" altLang="zh-CN" b="0" dirty="0">
              <a:latin typeface="+mn-ea"/>
              <a:ea typeface="+mn-ea"/>
            </a:endParaRPr>
          </a:p>
          <a:p>
            <a:pPr marL="0" indent="0">
              <a:buNone/>
            </a:pPr>
            <a:endParaRPr kumimoji="1" lang="en-US" altLang="zh-CN" b="0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kumimoji="1" lang="zh-CN" altLang="en-US" b="0" dirty="0">
                <a:latin typeface="+mn-ea"/>
                <a:ea typeface="+mn-ea"/>
              </a:rPr>
              <a:t>请问当应用进程访问某虚拟页时，在上述四种状态下，操作系统会分别做什么？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C2411-2871-1C26-C10D-ADDE25F1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679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48D31-0427-1118-7CF3-E92284E6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：何时进行换出操作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9ECEA1-8B4D-47E5-13E6-EDE8491C3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策略</a:t>
            </a:r>
            <a:r>
              <a:rPr kumimoji="1" lang="en-US" altLang="zh-CN" dirty="0"/>
              <a:t>A</a:t>
            </a: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当用完所有物理页后，再按需换出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回顾：</a:t>
            </a:r>
            <a:r>
              <a:rPr kumimoji="1" lang="en-US" altLang="zh-CN" sz="2000" dirty="0" err="1">
                <a:latin typeface="+mn-ea"/>
                <a:ea typeface="+mn-ea"/>
              </a:rPr>
              <a:t>alloc_page</a:t>
            </a:r>
            <a:r>
              <a:rPr kumimoji="1" lang="zh-CN" altLang="en-US" sz="2000" dirty="0">
                <a:latin typeface="+mn-ea"/>
                <a:ea typeface="+mn-ea"/>
              </a:rPr>
              <a:t>，通过伙伴系统进行内存分配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问题：当内存资源紧张时，大部分物理页分配操作都需要触发换出，造成分配时延高</a:t>
            </a:r>
            <a:endParaRPr kumimoji="1" lang="en-US" altLang="zh-CN" sz="2000" dirty="0">
              <a:latin typeface="+mn-ea"/>
              <a:ea typeface="+mn-ea"/>
            </a:endParaRPr>
          </a:p>
          <a:p>
            <a:r>
              <a:rPr kumimoji="1" lang="zh-CN" altLang="en-US" sz="2200" dirty="0">
                <a:latin typeface="+mn-ea"/>
                <a:ea typeface="+mn-ea"/>
              </a:rPr>
              <a:t>策略</a:t>
            </a:r>
            <a:r>
              <a:rPr kumimoji="1" lang="en-US" altLang="zh-CN" sz="2200" dirty="0">
                <a:latin typeface="+mn-ea"/>
                <a:ea typeface="+mn-ea"/>
              </a:rPr>
              <a:t>B</a:t>
            </a: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设立阈值，在空闲的物理页数量低于阈值时，操作系统择机（如系统空闲时） 换出部分页，直到空闲页数量超过阈值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en-US" altLang="zh-CN" sz="2000" dirty="0">
                <a:latin typeface="+mn-ea"/>
                <a:ea typeface="+mn-ea"/>
              </a:rPr>
              <a:t>Linux</a:t>
            </a:r>
            <a:r>
              <a:rPr kumimoji="1" lang="zh-CN" altLang="en-US" sz="2000" dirty="0">
                <a:latin typeface="+mn-ea"/>
                <a:ea typeface="+mn-ea"/>
              </a:rPr>
              <a:t> </a:t>
            </a:r>
            <a:r>
              <a:rPr kumimoji="1" lang="en-US" altLang="zh-CN" sz="2000" dirty="0">
                <a:latin typeface="+mn-ea"/>
                <a:ea typeface="+mn-ea"/>
              </a:rPr>
              <a:t>Watermark</a:t>
            </a:r>
            <a:r>
              <a:rPr kumimoji="1" lang="zh-CN" altLang="en-US" sz="2000" dirty="0">
                <a:latin typeface="+mn-ea"/>
                <a:ea typeface="+mn-ea"/>
              </a:rPr>
              <a:t>：高水位线、低水位线、</a:t>
            </a:r>
            <a:r>
              <a:rPr kumimoji="1" lang="en-US" altLang="zh-CN" sz="2000" dirty="0">
                <a:latin typeface="+mn-ea"/>
                <a:ea typeface="+mn-ea"/>
              </a:rPr>
              <a:t> </a:t>
            </a:r>
            <a:r>
              <a:rPr kumimoji="1" lang="zh-CN" altLang="en-US" sz="2000" dirty="0">
                <a:latin typeface="+mn-ea"/>
                <a:ea typeface="+mn-ea"/>
              </a:rPr>
              <a:t>最小水位线</a:t>
            </a:r>
            <a:endParaRPr kumimoji="1" lang="en-US" altLang="zh-CN" sz="2000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253C99-0E55-7121-9C00-F0D75E69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7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62928-8215-F017-A0D8-9A980995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600" dirty="0"/>
              <a:t>回顾：延迟映射 </a:t>
            </a:r>
            <a:r>
              <a:rPr kumimoji="1" lang="en-US" altLang="zh-CN" sz="3600" dirty="0"/>
              <a:t>vs.</a:t>
            </a:r>
            <a:r>
              <a:rPr kumimoji="1" lang="zh-CN" altLang="en-US" sz="3600" dirty="0"/>
              <a:t> 立即映射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542AC-1379-420C-AB09-6E3AC182C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优势：节约内存资源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劣势：缺页异常导致访问延迟增加（</a:t>
            </a:r>
            <a:r>
              <a:rPr kumimoji="1" lang="zh-CN" altLang="en-US" sz="2400" dirty="0">
                <a:highlight>
                  <a:srgbClr val="FFFF00"/>
                </a:highlight>
              </a:rPr>
              <a:t>换页面临相似问题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>
                <a:solidFill>
                  <a:srgbClr val="C00000"/>
                </a:solidFill>
              </a:rPr>
              <a:t>应用程序访存具有时空局部性（</a:t>
            </a:r>
            <a:r>
              <a:rPr kumimoji="1" lang="en-US" altLang="zh-CN" sz="2000" dirty="0">
                <a:solidFill>
                  <a:srgbClr val="C00000"/>
                </a:solidFill>
              </a:rPr>
              <a:t>Locality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在缺页异常处理函数中采用</a:t>
            </a:r>
            <a:r>
              <a:rPr kumimoji="1" lang="zh-CN" altLang="en-US" sz="2000" dirty="0">
                <a:solidFill>
                  <a:srgbClr val="C00000"/>
                </a:solidFill>
              </a:rPr>
              <a:t>预先映射</a:t>
            </a:r>
            <a:r>
              <a:rPr kumimoji="1" lang="zh-CN" altLang="en-US" sz="2000" dirty="0"/>
              <a:t>的策略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sz="1600" dirty="0"/>
              <a:t>即节约内存又能减少缺页异常次数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E047B9-06B4-7E06-F81D-0F54DC7F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858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62928-8215-F017-A0D8-9A980995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：换页机制的代价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542AC-1379-420C-AB09-6E3AC182C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优势：突破物理内存容量限制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劣势：缺页异常</a:t>
            </a:r>
            <a:r>
              <a:rPr kumimoji="1" lang="en-US" altLang="zh-CN" sz="2400" dirty="0"/>
              <a:t>+</a:t>
            </a:r>
            <a:r>
              <a:rPr kumimoji="1" lang="zh-CN" altLang="en-US" sz="2400" dirty="0"/>
              <a:t>磁盘操作导致访问延迟增加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>
                <a:solidFill>
                  <a:srgbClr val="C00000"/>
                </a:solidFill>
              </a:rPr>
              <a:t>预取机制 （</a:t>
            </a:r>
            <a:r>
              <a:rPr kumimoji="1" lang="en-US" altLang="zh-CN" sz="2000" dirty="0">
                <a:solidFill>
                  <a:srgbClr val="C00000"/>
                </a:solidFill>
              </a:rPr>
              <a:t>Prefetching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2">
              <a:lnSpc>
                <a:spcPct val="150000"/>
              </a:lnSpc>
            </a:pPr>
            <a:r>
              <a:rPr kumimoji="1" lang="zh-CN" altLang="en-US" sz="1800" dirty="0">
                <a:latin typeface="+mn-ea"/>
                <a:ea typeface="+mn-ea"/>
              </a:rPr>
              <a:t>预测接卸来进程要使用的页，提前换入</a:t>
            </a:r>
            <a:endParaRPr kumimoji="1" lang="en-US" altLang="zh-CN" sz="2400" dirty="0">
              <a:solidFill>
                <a:srgbClr val="C0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/>
                </a:solidFill>
              </a:rPr>
              <a:t>在缺页异常处理函数中，根据应用程序访存具有的空间本地性进行预取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E047B9-06B4-7E06-F81D-0F54DC7F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015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CBF36-836A-A8BB-B4F1-D783C53A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4</a:t>
            </a:r>
            <a:r>
              <a:rPr kumimoji="1" lang="zh-CN" altLang="en-US" dirty="0"/>
              <a:t>：如何选择换出的页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6A2915-6E22-A840-FF20-3EBDC7985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页替换策略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选择一些物理页换出到磁盘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猜测哪些页面</a:t>
            </a:r>
            <a:r>
              <a:rPr kumimoji="1" lang="zh-CN" altLang="en-US" b="1" dirty="0"/>
              <a:t>应该</a:t>
            </a:r>
            <a:r>
              <a:rPr kumimoji="1" lang="zh-CN" altLang="en-US" dirty="0"/>
              <a:t>被换出（短期内大概率不会被访问）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策略实现的开销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5D2094-D320-6766-EB72-0839605B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442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03C28-A504-0343-9DF6-3FE1C64E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理想的换页策略（</a:t>
            </a:r>
            <a:r>
              <a:rPr kumimoji="1" lang="en-US" altLang="zh-CN" dirty="0"/>
              <a:t>OPT</a:t>
            </a:r>
            <a:r>
              <a:rPr kumimoji="1" lang="zh-CN" altLang="en-US" dirty="0"/>
              <a:t>策略）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D819CB5-2F0D-5F41-99EF-028DA77FE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23" y="3044816"/>
            <a:ext cx="8817354" cy="210632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0AB3B-A95C-C440-932B-DF0557EB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0A2E6A-7A1C-2D46-ADC1-3317641510BE}"/>
              </a:ext>
            </a:extLst>
          </p:cNvPr>
          <p:cNvSpPr txBox="1"/>
          <p:nvPr/>
        </p:nvSpPr>
        <p:spPr>
          <a:xfrm>
            <a:off x="322920" y="1248096"/>
            <a:ext cx="5827236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假设物理内存中可以存放三个物理页，初始为空，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某应用程序一共需要访问物理页面 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～</a:t>
            </a:r>
            <a:r>
              <a:rPr kumimoji="1" lang="en-US" altLang="zh-CN" sz="2000" dirty="0">
                <a:latin typeface="+mn-ea"/>
              </a:rPr>
              <a:t>5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+mn-ea"/>
              </a:rPr>
              <a:t>OPT</a:t>
            </a:r>
            <a:r>
              <a:rPr kumimoji="1" lang="zh-CN" altLang="en-US" sz="2000" dirty="0">
                <a:latin typeface="+mn-ea"/>
              </a:rPr>
              <a:t>：优先换出未来最长时间内不会再访问的页面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F40A5D7-A487-AC49-987A-D2F10F35E202}"/>
              </a:ext>
            </a:extLst>
          </p:cNvPr>
          <p:cNvCxnSpPr>
            <a:cxnSpLocks/>
          </p:cNvCxnSpPr>
          <p:nvPr/>
        </p:nvCxnSpPr>
        <p:spPr>
          <a:xfrm>
            <a:off x="323528" y="2929508"/>
            <a:ext cx="849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530832F2-5FCF-0ACF-3991-56A50A79C662}"/>
              </a:ext>
            </a:extLst>
          </p:cNvPr>
          <p:cNvSpPr/>
          <p:nvPr/>
        </p:nvSpPr>
        <p:spPr>
          <a:xfrm>
            <a:off x="2771800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C4A117-EBE0-81F4-BCDF-984EFACDE68C}"/>
              </a:ext>
            </a:extLst>
          </p:cNvPr>
          <p:cNvSpPr/>
          <p:nvPr/>
        </p:nvSpPr>
        <p:spPr>
          <a:xfrm>
            <a:off x="3266219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3EACB4-2D67-64B4-F606-07A13A70CFA7}"/>
              </a:ext>
            </a:extLst>
          </p:cNvPr>
          <p:cNvSpPr/>
          <p:nvPr/>
        </p:nvSpPr>
        <p:spPr>
          <a:xfrm>
            <a:off x="3760638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9DFC85-7C6A-1F47-1B2B-551E779798D3}"/>
              </a:ext>
            </a:extLst>
          </p:cNvPr>
          <p:cNvSpPr/>
          <p:nvPr/>
        </p:nvSpPr>
        <p:spPr>
          <a:xfrm>
            <a:off x="4255057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74EF92-B2CB-6F16-1E01-432CEF97ED8F}"/>
              </a:ext>
            </a:extLst>
          </p:cNvPr>
          <p:cNvSpPr/>
          <p:nvPr/>
        </p:nvSpPr>
        <p:spPr>
          <a:xfrm>
            <a:off x="4749476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8D11B7-0363-66B1-5AA9-C81BB778F8E3}"/>
              </a:ext>
            </a:extLst>
          </p:cNvPr>
          <p:cNvSpPr/>
          <p:nvPr/>
        </p:nvSpPr>
        <p:spPr>
          <a:xfrm>
            <a:off x="5243893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219E2B-BAE6-7C2F-995C-694F07FA4886}"/>
              </a:ext>
            </a:extLst>
          </p:cNvPr>
          <p:cNvSpPr/>
          <p:nvPr/>
        </p:nvSpPr>
        <p:spPr>
          <a:xfrm>
            <a:off x="5854667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F60676-B231-AD93-41E0-CCBF1B037775}"/>
              </a:ext>
            </a:extLst>
          </p:cNvPr>
          <p:cNvSpPr/>
          <p:nvPr/>
        </p:nvSpPr>
        <p:spPr>
          <a:xfrm>
            <a:off x="6349086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B54519-E16F-A039-CA7F-24EA0F923864}"/>
              </a:ext>
            </a:extLst>
          </p:cNvPr>
          <p:cNvSpPr/>
          <p:nvPr/>
        </p:nvSpPr>
        <p:spPr>
          <a:xfrm>
            <a:off x="6843505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1164C0-4FF7-699E-E408-A056EF31E2C4}"/>
              </a:ext>
            </a:extLst>
          </p:cNvPr>
          <p:cNvSpPr/>
          <p:nvPr/>
        </p:nvSpPr>
        <p:spPr>
          <a:xfrm>
            <a:off x="7337924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CB3E4E-6142-8413-C090-F57129B1CA00}"/>
              </a:ext>
            </a:extLst>
          </p:cNvPr>
          <p:cNvSpPr/>
          <p:nvPr/>
        </p:nvSpPr>
        <p:spPr>
          <a:xfrm>
            <a:off x="7832343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D1B1AE-3BB8-6C57-BE76-975DB0F3B08C}"/>
              </a:ext>
            </a:extLst>
          </p:cNvPr>
          <p:cNvSpPr/>
          <p:nvPr/>
        </p:nvSpPr>
        <p:spPr>
          <a:xfrm>
            <a:off x="8326760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068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FIFO</a:t>
            </a:r>
            <a:r>
              <a:rPr kumimoji="1" lang="zh-CN" altLang="en-US" dirty="0"/>
              <a:t>策略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D0E10B5-FD62-7448-B0B9-D5D7424C8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7" y="2980703"/>
            <a:ext cx="8976485" cy="2253061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2926482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76140" y="1205154"/>
            <a:ext cx="6340197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操作系统维护一个队列用于记录换入内存的物理页号，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每换入一个物理页就把其页号加到队尾，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因此最先换进的物理页号总是处于队头位置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22D6D2-D49B-D6ED-365E-48447FB9FABD}"/>
              </a:ext>
            </a:extLst>
          </p:cNvPr>
          <p:cNvSpPr/>
          <p:nvPr/>
        </p:nvSpPr>
        <p:spPr>
          <a:xfrm>
            <a:off x="2771800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6CD1B9-44A4-89A4-FEC3-A6AB83DC0FBB}"/>
              </a:ext>
            </a:extLst>
          </p:cNvPr>
          <p:cNvSpPr/>
          <p:nvPr/>
        </p:nvSpPr>
        <p:spPr>
          <a:xfrm>
            <a:off x="3266219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C6E5D5-AB04-2D46-3A9E-BB7BB096D571}"/>
              </a:ext>
            </a:extLst>
          </p:cNvPr>
          <p:cNvSpPr/>
          <p:nvPr/>
        </p:nvSpPr>
        <p:spPr>
          <a:xfrm>
            <a:off x="3760638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162E5C-386E-8B63-85D0-0D6198F3DFAA}"/>
              </a:ext>
            </a:extLst>
          </p:cNvPr>
          <p:cNvSpPr/>
          <p:nvPr/>
        </p:nvSpPr>
        <p:spPr>
          <a:xfrm>
            <a:off x="4255057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713DD5-9393-00AA-A54B-6048BA0B9333}"/>
              </a:ext>
            </a:extLst>
          </p:cNvPr>
          <p:cNvSpPr/>
          <p:nvPr/>
        </p:nvSpPr>
        <p:spPr>
          <a:xfrm>
            <a:off x="4749476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02D393-51E4-A103-3226-4631ECC7CBB1}"/>
              </a:ext>
            </a:extLst>
          </p:cNvPr>
          <p:cNvSpPr/>
          <p:nvPr/>
        </p:nvSpPr>
        <p:spPr>
          <a:xfrm>
            <a:off x="5243893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D4C7D8-183E-B860-1D61-1350AD863FC1}"/>
              </a:ext>
            </a:extLst>
          </p:cNvPr>
          <p:cNvSpPr/>
          <p:nvPr/>
        </p:nvSpPr>
        <p:spPr>
          <a:xfrm>
            <a:off x="5854667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1F65C34-E4BA-7F27-577B-B510D42EC066}"/>
              </a:ext>
            </a:extLst>
          </p:cNvPr>
          <p:cNvSpPr/>
          <p:nvPr/>
        </p:nvSpPr>
        <p:spPr>
          <a:xfrm>
            <a:off x="6349086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2E03C7-EC0B-8C12-1226-6CE0F3049599}"/>
              </a:ext>
            </a:extLst>
          </p:cNvPr>
          <p:cNvSpPr/>
          <p:nvPr/>
        </p:nvSpPr>
        <p:spPr>
          <a:xfrm>
            <a:off x="6843505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A8C6EC-CA16-6B45-4FCC-B834E776BD7D}"/>
              </a:ext>
            </a:extLst>
          </p:cNvPr>
          <p:cNvSpPr/>
          <p:nvPr/>
        </p:nvSpPr>
        <p:spPr>
          <a:xfrm>
            <a:off x="7337924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934ED3-CBDC-90E5-0937-693329DC5A1A}"/>
              </a:ext>
            </a:extLst>
          </p:cNvPr>
          <p:cNvSpPr/>
          <p:nvPr/>
        </p:nvSpPr>
        <p:spPr>
          <a:xfrm>
            <a:off x="7832343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E97000-006B-C7F2-6749-E9AEC074B9DE}"/>
              </a:ext>
            </a:extLst>
          </p:cNvPr>
          <p:cNvSpPr/>
          <p:nvPr/>
        </p:nvSpPr>
        <p:spPr>
          <a:xfrm>
            <a:off x="8326760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616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29B1E-7915-A845-8D58-8000DB09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Belady’s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Anomaly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3B951E-4CC2-334F-851C-007ACC990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访问顺序：</a:t>
            </a:r>
            <a:r>
              <a:rPr kumimoji="1" lang="en-US" altLang="zh-CN" dirty="0"/>
              <a:t>1, 2, 3, 4, 1, 2, 5, 1, 2, 3, 4, 5</a:t>
            </a:r>
          </a:p>
          <a:p>
            <a:pPr lvl="1"/>
            <a:r>
              <a:rPr kumimoji="1" lang="en" altLang="zh-CN" dirty="0"/>
              <a:t>3</a:t>
            </a:r>
            <a:r>
              <a:rPr kumimoji="1" lang="zh-CN" altLang="en" dirty="0"/>
              <a:t>个物理</a:t>
            </a:r>
            <a:r>
              <a:rPr kumimoji="1" lang="zh-CN" altLang="en-US" dirty="0"/>
              <a:t>页：几次缺页异常？</a:t>
            </a:r>
            <a:endParaRPr kumimoji="1" lang="en" altLang="zh-CN" dirty="0"/>
          </a:p>
          <a:p>
            <a:pPr lvl="1"/>
            <a:r>
              <a:rPr kumimoji="1" lang="en" altLang="zh-CN" dirty="0"/>
              <a:t>4</a:t>
            </a:r>
            <a:r>
              <a:rPr kumimoji="1" lang="zh-CN" altLang="en" dirty="0"/>
              <a:t>个物理页</a:t>
            </a:r>
            <a:r>
              <a:rPr kumimoji="1" lang="zh-CN" altLang="en-US" dirty="0"/>
              <a:t>：几次缺页异常？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3DE149-5FEC-1F46-BA87-549C33DD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5CE9FC-CA46-8740-99C1-B60072684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3060761"/>
            <a:ext cx="4023828" cy="26414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215259-9EB7-32F3-B0BC-B06D456B7D64}"/>
              </a:ext>
            </a:extLst>
          </p:cNvPr>
          <p:cNvSpPr txBox="1"/>
          <p:nvPr/>
        </p:nvSpPr>
        <p:spPr>
          <a:xfrm>
            <a:off x="5295412" y="1935448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9</a:t>
            </a:r>
            <a:r>
              <a:rPr kumimoji="1"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BA628B-748E-3942-80D9-61C907EF8B1F}"/>
              </a:ext>
            </a:extLst>
          </p:cNvPr>
          <p:cNvSpPr txBox="1"/>
          <p:nvPr/>
        </p:nvSpPr>
        <p:spPr>
          <a:xfrm>
            <a:off x="5220072" y="2463662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10</a:t>
            </a:r>
            <a:r>
              <a:rPr kumimoji="1"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次</a:t>
            </a:r>
          </a:p>
        </p:txBody>
      </p:sp>
    </p:spTree>
    <p:extLst>
      <p:ext uri="{BB962C8B-B14F-4D97-AF65-F5344CB8AC3E}">
        <p14:creationId xmlns:p14="http://schemas.microsoft.com/office/powerpoint/2010/main" val="348603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Chance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51520" y="1417340"/>
            <a:ext cx="8949886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+mn-ea"/>
              </a:rPr>
              <a:t>FIFO </a:t>
            </a:r>
            <a:r>
              <a:rPr kumimoji="1" lang="zh-CN" altLang="en-US" sz="2000" dirty="0">
                <a:latin typeface="+mn-ea"/>
              </a:rPr>
              <a:t>策略的一种改进版本：为每一个物理页号维护一个访问标志位。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如果访问的页面号已经处在队列中，则置上其访问标志位。</a:t>
            </a:r>
            <a:endParaRPr kumimoji="1"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换页时查看队头：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）无标志则换出；</a:t>
            </a:r>
            <a:r>
              <a:rPr kumimoji="1" lang="en-US" altLang="zh-CN" sz="2000" dirty="0">
                <a:latin typeface="+mn-ea"/>
              </a:rPr>
              <a:t>2</a:t>
            </a:r>
            <a:r>
              <a:rPr kumimoji="1" lang="zh-CN" altLang="en-US" sz="2000" dirty="0">
                <a:latin typeface="+mn-ea"/>
              </a:rPr>
              <a:t>）有标志则去除并放入队尾，继续寻找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5E2AB98-B7F0-D64A-9EE5-0AFDC9F16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156916"/>
            <a:ext cx="8712968" cy="206095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462C25A2-F33B-6092-8D1B-AC2BE720D1A6}"/>
              </a:ext>
            </a:extLst>
          </p:cNvPr>
          <p:cNvSpPr/>
          <p:nvPr/>
        </p:nvSpPr>
        <p:spPr>
          <a:xfrm>
            <a:off x="2787419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2950409-1EA5-8A52-405D-19B7848C4B43}"/>
              </a:ext>
            </a:extLst>
          </p:cNvPr>
          <p:cNvSpPr/>
          <p:nvPr/>
        </p:nvSpPr>
        <p:spPr>
          <a:xfrm>
            <a:off x="3281838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A8A64C-36AF-55E1-A5E7-E22C4935ADC4}"/>
              </a:ext>
            </a:extLst>
          </p:cNvPr>
          <p:cNvSpPr/>
          <p:nvPr/>
        </p:nvSpPr>
        <p:spPr>
          <a:xfrm>
            <a:off x="3776257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0257BD-CCCD-7338-266F-81B1064F47EE}"/>
              </a:ext>
            </a:extLst>
          </p:cNvPr>
          <p:cNvSpPr/>
          <p:nvPr/>
        </p:nvSpPr>
        <p:spPr>
          <a:xfrm>
            <a:off x="4270676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6DC389-5B1D-6D14-F448-85B0622EF7D7}"/>
              </a:ext>
            </a:extLst>
          </p:cNvPr>
          <p:cNvSpPr/>
          <p:nvPr/>
        </p:nvSpPr>
        <p:spPr>
          <a:xfrm>
            <a:off x="4765095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6344A2A-F2E6-A248-0433-5D600835EBF0}"/>
              </a:ext>
            </a:extLst>
          </p:cNvPr>
          <p:cNvSpPr/>
          <p:nvPr/>
        </p:nvSpPr>
        <p:spPr>
          <a:xfrm>
            <a:off x="5259512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7269919-4CDE-FF59-747E-348F0C373779}"/>
              </a:ext>
            </a:extLst>
          </p:cNvPr>
          <p:cNvSpPr/>
          <p:nvPr/>
        </p:nvSpPr>
        <p:spPr>
          <a:xfrm>
            <a:off x="5870286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7674633-C7E3-EB9F-7AC7-84F9459DA870}"/>
              </a:ext>
            </a:extLst>
          </p:cNvPr>
          <p:cNvSpPr/>
          <p:nvPr/>
        </p:nvSpPr>
        <p:spPr>
          <a:xfrm>
            <a:off x="6364705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535A2DF-0153-CE48-0A05-E096E93B45AE}"/>
              </a:ext>
            </a:extLst>
          </p:cNvPr>
          <p:cNvSpPr/>
          <p:nvPr/>
        </p:nvSpPr>
        <p:spPr>
          <a:xfrm>
            <a:off x="6859124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6704842-48C1-4F7E-20F7-DD0282C0E83E}"/>
              </a:ext>
            </a:extLst>
          </p:cNvPr>
          <p:cNvSpPr/>
          <p:nvPr/>
        </p:nvSpPr>
        <p:spPr>
          <a:xfrm>
            <a:off x="7353543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E57AE7-4E32-6350-D3EB-80C62ADC8645}"/>
              </a:ext>
            </a:extLst>
          </p:cNvPr>
          <p:cNvSpPr/>
          <p:nvPr/>
        </p:nvSpPr>
        <p:spPr>
          <a:xfrm>
            <a:off x="7847962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2D8BD-FD26-630B-CC0B-D2D17831BACE}"/>
              </a:ext>
            </a:extLst>
          </p:cNvPr>
          <p:cNvSpPr/>
          <p:nvPr/>
        </p:nvSpPr>
        <p:spPr>
          <a:xfrm>
            <a:off x="8342379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011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LRU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41377" y="1035479"/>
            <a:ext cx="8424936" cy="188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维护一个链表，在每次内存访问后，</a:t>
            </a:r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把刚刚访问的内存页调整到链表尾端；每次都选择换出位于链表头部的页面</a:t>
            </a:r>
            <a:endParaRPr kumimoji="1"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-1</a:t>
            </a:r>
            <a:r>
              <a:rPr kumimoji="1" lang="zh-CN" altLang="en-US" sz="2000" dirty="0">
                <a:latin typeface="+mn-ea"/>
              </a:rPr>
              <a:t>：对于特定的序列，效果可能非常差，如循环访问内存</a:t>
            </a:r>
            <a:endParaRPr kumimoji="1"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-2</a:t>
            </a:r>
            <a:r>
              <a:rPr kumimoji="1" lang="zh-CN" altLang="en-US" sz="2000" dirty="0">
                <a:latin typeface="+mn-ea"/>
              </a:rPr>
              <a:t>：需要排序的内存页可能非常多，导致很高的额外负载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DCF50BA-A1D9-2F45-9268-E0D960ABA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40" y="3215757"/>
            <a:ext cx="8509624" cy="194599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10A732A-09C3-E7A0-EB93-782DF1161F01}"/>
              </a:ext>
            </a:extLst>
          </p:cNvPr>
          <p:cNvSpPr/>
          <p:nvPr/>
        </p:nvSpPr>
        <p:spPr>
          <a:xfrm>
            <a:off x="2713269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855FD0-2AF0-061E-8D81-ED1FCAF7CE19}"/>
              </a:ext>
            </a:extLst>
          </p:cNvPr>
          <p:cNvSpPr/>
          <p:nvPr/>
        </p:nvSpPr>
        <p:spPr>
          <a:xfrm>
            <a:off x="3207688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A9E61B-5B42-D2E5-40D4-DF7354BEFC2B}"/>
              </a:ext>
            </a:extLst>
          </p:cNvPr>
          <p:cNvSpPr/>
          <p:nvPr/>
        </p:nvSpPr>
        <p:spPr>
          <a:xfrm>
            <a:off x="3702107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E06021-F62D-E027-44B4-397E9FBCB62F}"/>
              </a:ext>
            </a:extLst>
          </p:cNvPr>
          <p:cNvSpPr/>
          <p:nvPr/>
        </p:nvSpPr>
        <p:spPr>
          <a:xfrm>
            <a:off x="4196526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33F845-F1ED-D116-F384-DAF53B514861}"/>
              </a:ext>
            </a:extLst>
          </p:cNvPr>
          <p:cNvSpPr/>
          <p:nvPr/>
        </p:nvSpPr>
        <p:spPr>
          <a:xfrm>
            <a:off x="4690945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DA5634-DCAF-7E38-BD9C-770175B95460}"/>
              </a:ext>
            </a:extLst>
          </p:cNvPr>
          <p:cNvSpPr/>
          <p:nvPr/>
        </p:nvSpPr>
        <p:spPr>
          <a:xfrm>
            <a:off x="5185362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4F3480-4BDF-EFD9-A16A-823DFF15BC8B}"/>
              </a:ext>
            </a:extLst>
          </p:cNvPr>
          <p:cNvSpPr/>
          <p:nvPr/>
        </p:nvSpPr>
        <p:spPr>
          <a:xfrm>
            <a:off x="5796136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5E7AA4-2164-1F76-0741-920D2C48EC2E}"/>
              </a:ext>
            </a:extLst>
          </p:cNvPr>
          <p:cNvSpPr/>
          <p:nvPr/>
        </p:nvSpPr>
        <p:spPr>
          <a:xfrm>
            <a:off x="6290555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2265DE-7974-9529-DD5F-9816C896A759}"/>
              </a:ext>
            </a:extLst>
          </p:cNvPr>
          <p:cNvSpPr/>
          <p:nvPr/>
        </p:nvSpPr>
        <p:spPr>
          <a:xfrm>
            <a:off x="6784974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982EFD-9230-8724-53B4-6FB9ED3CA5AF}"/>
              </a:ext>
            </a:extLst>
          </p:cNvPr>
          <p:cNvSpPr/>
          <p:nvPr/>
        </p:nvSpPr>
        <p:spPr>
          <a:xfrm>
            <a:off x="7279393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36205A-6501-C7CF-BD84-39BABC5E3091}"/>
              </a:ext>
            </a:extLst>
          </p:cNvPr>
          <p:cNvSpPr/>
          <p:nvPr/>
        </p:nvSpPr>
        <p:spPr>
          <a:xfrm>
            <a:off x="7773812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34E383-9BDA-C76C-5E89-9A0A212E7779}"/>
              </a:ext>
            </a:extLst>
          </p:cNvPr>
          <p:cNvSpPr/>
          <p:nvPr/>
        </p:nvSpPr>
        <p:spPr>
          <a:xfrm>
            <a:off x="8268229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714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08939-330F-9045-AB94-CA0BF9AF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时钟算法策略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35C21E-7F72-ED47-8A42-5CEF97F22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70" y="1527963"/>
            <a:ext cx="8229600" cy="377163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精准的</a:t>
            </a:r>
            <a:r>
              <a:rPr kumimoji="1" lang="en-US" altLang="zh-CN" sz="2400" dirty="0"/>
              <a:t>LRU</a:t>
            </a:r>
            <a:r>
              <a:rPr kumimoji="1" lang="zh-CN" altLang="en-US" sz="2400" dirty="0"/>
              <a:t>策略难以实现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物理页环形排列（类似时钟）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为每个物理页维护一个访问位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当物理页被访问时，</a:t>
            </a:r>
            <a:r>
              <a:rPr kumimoji="1" lang="en-US" altLang="zh-CN" sz="2000" dirty="0"/>
              <a:t> </a:t>
            </a:r>
            <a:r>
              <a:rPr kumimoji="1" lang="zh-CN" altLang="en-US" sz="2000" dirty="0"/>
              <a:t>把访问位设成</a:t>
            </a:r>
            <a:r>
              <a:rPr kumimoji="1" lang="en-US" altLang="zh-CN" sz="2000" dirty="0"/>
              <a:t>T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OS</a:t>
            </a:r>
            <a:r>
              <a:rPr kumimoji="1" lang="zh-CN" altLang="en-US" sz="2000" dirty="0"/>
              <a:t>依次（如顺时针）查看每个页的“访问位”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T</a:t>
            </a:r>
            <a:r>
              <a:rPr kumimoji="1" lang="zh-CN" altLang="en-US" sz="1800" dirty="0"/>
              <a:t>，则置成</a:t>
            </a:r>
            <a:r>
              <a:rPr kumimoji="1" lang="en-US" altLang="zh-CN" sz="1800" dirty="0"/>
              <a:t>F</a:t>
            </a:r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F</a:t>
            </a:r>
            <a:r>
              <a:rPr kumimoji="1" lang="zh-CN" altLang="en-US" sz="1800" dirty="0"/>
              <a:t>，则驱逐该页</a:t>
            </a:r>
            <a:endParaRPr kumimoji="1" lang="en-US" altLang="zh-CN" sz="1800" dirty="0"/>
          </a:p>
          <a:p>
            <a:pPr lvl="1">
              <a:lnSpc>
                <a:spcPct val="150000"/>
              </a:lnSpc>
            </a:pP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8E430A-2169-C14A-973C-7E58F068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465FE93-388E-E741-AF2E-9D0D4BEC7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310" y="690381"/>
            <a:ext cx="3909120" cy="2522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9165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A9D19-98A3-0240-A54F-663CF820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实现时钟算法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90A140-7A2B-2A43-9FB2-5E85A197E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每个</a:t>
            </a:r>
            <a:r>
              <a:rPr kumimoji="1" lang="zh-CN" altLang="en-US" dirty="0">
                <a:solidFill>
                  <a:srgbClr val="C00000"/>
                </a:solidFill>
              </a:rPr>
              <a:t>物理页</a:t>
            </a:r>
            <a:r>
              <a:rPr kumimoji="1" lang="zh-CN" altLang="en-US" dirty="0"/>
              <a:t>需要有一个“访问位”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MMU</a:t>
            </a:r>
            <a:r>
              <a:rPr kumimoji="1" lang="zh-CN" altLang="en-US" dirty="0"/>
              <a:t>在页表项里面为</a:t>
            </a:r>
            <a:r>
              <a:rPr kumimoji="1" lang="zh-CN" altLang="en-US" b="1" dirty="0">
                <a:solidFill>
                  <a:srgbClr val="C00000"/>
                </a:solidFill>
              </a:rPr>
              <a:t>虚拟页</a:t>
            </a:r>
            <a:r>
              <a:rPr kumimoji="1" lang="zh-CN" altLang="en-US" dirty="0"/>
              <a:t>打上“访问位”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回顾：页表项中的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Flag</a:t>
            </a:r>
          </a:p>
          <a:p>
            <a:r>
              <a:rPr kumimoji="1" lang="zh-CN" altLang="en-US" dirty="0"/>
              <a:t>如何实现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OS</a:t>
            </a:r>
            <a:r>
              <a:rPr kumimoji="1" lang="zh-CN" altLang="en-US" dirty="0"/>
              <a:t>在描述物理页的结构体里面记录页表项位置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当物理页被填写到某张页表中时，把页表项的位置记录在元数据中（在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中称为“反向映射”：</a:t>
            </a:r>
            <a:r>
              <a:rPr kumimoji="1" lang="en-US" altLang="zh-CN" b="1" dirty="0">
                <a:solidFill>
                  <a:srgbClr val="C00000"/>
                </a:solidFill>
              </a:rPr>
              <a:t>reverse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mapping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根据物理页对应的页表项中的“访问位”判断是否驱逐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驱逐某页时应该清空其对应的所有页表项（例如共享内存）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4A2E0-2463-0F47-9E60-DD56BA69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BF3791-8A63-2AD0-A41E-004B009E8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226" y="65955"/>
            <a:ext cx="4496296" cy="12262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C40B129-CDFE-F6EA-42E0-86C6C499C174}"/>
              </a:ext>
            </a:extLst>
          </p:cNvPr>
          <p:cNvSpPr/>
          <p:nvPr/>
        </p:nvSpPr>
        <p:spPr>
          <a:xfrm>
            <a:off x="4545226" y="679086"/>
            <a:ext cx="4496296" cy="6131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6868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9024A-72C6-3242-B102-716094E0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页替换策略小结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C04AE-AF7E-5F4B-A300-70232DF1C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0026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常见的替换策略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FIFO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LRU/MRU</a:t>
            </a:r>
            <a:r>
              <a:rPr kumimoji="1" lang="zh-CN" altLang="en-US" sz="2000" dirty="0"/>
              <a:t>、时钟算法、随机替换 </a:t>
            </a:r>
            <a:r>
              <a:rPr kumimoji="1" lang="en-US" altLang="zh-CN" sz="2000" dirty="0"/>
              <a:t>…</a:t>
            </a:r>
          </a:p>
          <a:p>
            <a:r>
              <a:rPr kumimoji="1" lang="zh-CN" altLang="en-US" sz="2400" dirty="0"/>
              <a:t>替换策略评价标准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缺页发生的概率 （参照理想但不能实现的</a:t>
            </a:r>
            <a:r>
              <a:rPr kumimoji="1" lang="en-US" altLang="zh-CN" sz="2000" b="1" dirty="0"/>
              <a:t>OPT</a:t>
            </a:r>
            <a:r>
              <a:rPr kumimoji="1" lang="zh-CN" altLang="en-US" sz="2000" b="1" dirty="0"/>
              <a:t>策略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策略本身的性能开销</a:t>
            </a:r>
            <a:endParaRPr kumimoji="1" lang="en-US" altLang="zh-CN" sz="2000" dirty="0"/>
          </a:p>
          <a:p>
            <a:pPr lvl="2"/>
            <a:r>
              <a:rPr kumimoji="1" lang="zh-CN" altLang="en-US" sz="1800" dirty="0">
                <a:solidFill>
                  <a:srgbClr val="C00000"/>
                </a:solidFill>
              </a:rPr>
              <a:t>如何高效地记录物理页的使用情况？</a:t>
            </a:r>
            <a:endParaRPr kumimoji="1" lang="en-US" altLang="zh-CN" sz="1800" dirty="0">
              <a:solidFill>
                <a:srgbClr val="C00000"/>
              </a:solidFill>
            </a:endParaRPr>
          </a:p>
          <a:p>
            <a:pPr lvl="3"/>
            <a:r>
              <a:rPr kumimoji="1" lang="zh-CN" altLang="en-US" dirty="0">
                <a:solidFill>
                  <a:srgbClr val="C00000"/>
                </a:solidFill>
              </a:rPr>
              <a:t>页表项中</a:t>
            </a:r>
            <a:r>
              <a:rPr kumimoji="1" lang="en-US" altLang="zh-CN" dirty="0">
                <a:solidFill>
                  <a:srgbClr val="C00000"/>
                </a:solidFill>
              </a:rPr>
              <a:t>Access/Dirty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Bits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sz="2400" dirty="0"/>
              <a:t>小知识：颠簸现象 </a:t>
            </a:r>
            <a:r>
              <a:rPr kumimoji="1" lang="en-US" altLang="zh-CN" sz="2400" dirty="0"/>
              <a:t>Thrashing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Problem</a:t>
            </a:r>
          </a:p>
          <a:p>
            <a:endParaRPr kumimoji="1" lang="en-US" altLang="zh-CN" sz="2400" dirty="0"/>
          </a:p>
          <a:p>
            <a:pPr lvl="1"/>
            <a:endParaRPr kumimoji="1" lang="zh-CN" altLang="en-US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ED4D-073F-BC45-B8C3-BBCB09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364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56EBB-C989-2344-831F-54C3FE4E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Thrashing Problem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EF1081-DB6E-F541-89D6-85EBACE8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4363"/>
            <a:ext cx="8229600" cy="3771636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直接原因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过于频繁的缺页异常（物理内存总需求过大）</a:t>
            </a:r>
            <a:endParaRPr kumimoji="1" lang="en-US" altLang="zh-CN" sz="2000" dirty="0"/>
          </a:p>
          <a:p>
            <a:r>
              <a:rPr kumimoji="1" lang="zh-CN" altLang="en-US" sz="2400" dirty="0"/>
              <a:t>大部分 </a:t>
            </a:r>
            <a:r>
              <a:rPr kumimoji="1" lang="en-US" altLang="zh-CN" sz="2400" dirty="0"/>
              <a:t>CPU </a:t>
            </a:r>
            <a:r>
              <a:rPr kumimoji="1" lang="zh-CN" altLang="en-US" sz="2400" dirty="0"/>
              <a:t>时间都被用来处理缺页异常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等待缓慢的磁盘 </a:t>
            </a:r>
            <a:r>
              <a:rPr kumimoji="1" lang="en-US" altLang="zh-CN" sz="2000" dirty="0"/>
              <a:t>I/O </a:t>
            </a:r>
            <a:r>
              <a:rPr kumimoji="1" lang="zh-CN" altLang="en-US" sz="2000" dirty="0"/>
              <a:t>操作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仅剩小部分的时间用于执行真正有意义的工作</a:t>
            </a:r>
            <a:endParaRPr kumimoji="1" lang="en-US" altLang="zh-CN" sz="2000" dirty="0"/>
          </a:p>
          <a:p>
            <a:r>
              <a:rPr kumimoji="1" lang="zh-CN" altLang="en-US" sz="2400" dirty="0"/>
              <a:t>调度器造成问题加剧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等待磁盘 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导致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利用率下降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调度器载入更多的进程以期提高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触发更多的缺页异常、进一步降低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利用率、导致连锁反应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3724CF-22FA-B941-AA0E-4AE95E09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24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B6E9F-2A13-0046-A197-6BA255CE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工作集模型（有效避免</a:t>
            </a:r>
            <a:r>
              <a:rPr kumimoji="1" lang="en-US" altLang="zh-CN" dirty="0"/>
              <a:t>Thrashing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E9348-6A3B-5443-89FA-38B1C2A82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一个进程在时间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的工作集</a:t>
            </a:r>
            <a:r>
              <a:rPr kumimoji="1" lang="en-US" altLang="zh-CN" sz="2400" dirty="0"/>
              <a:t>W(t, x)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其在时间段（</a:t>
            </a:r>
            <a:r>
              <a:rPr kumimoji="1" lang="en-US" altLang="zh-CN" sz="2000" dirty="0"/>
              <a:t>t - x, t)</a:t>
            </a:r>
            <a:r>
              <a:rPr kumimoji="1" lang="zh-CN" altLang="en-US" sz="2000" dirty="0"/>
              <a:t>内使用的内存页集合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也被视为其在未来（下一个</a:t>
            </a:r>
            <a:r>
              <a:rPr kumimoji="1" lang="en-US" altLang="zh-CN" sz="2000" dirty="0"/>
              <a:t>x</a:t>
            </a:r>
            <a:r>
              <a:rPr kumimoji="1" lang="zh-CN" altLang="en-US" sz="2000" dirty="0"/>
              <a:t>时间内）会访问的页集合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如果希望进程能够顺利进展，则需要将该集合保持在内存中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lang="zh-CN" altLang="en-US" sz="2400" dirty="0"/>
              <a:t>工作集模型：</a:t>
            </a:r>
            <a:r>
              <a:rPr lang="en-US" altLang="zh-CN" sz="2400" dirty="0"/>
              <a:t>All-or-nothing</a:t>
            </a:r>
          </a:p>
          <a:p>
            <a:pPr lvl="1"/>
            <a:r>
              <a:rPr lang="zh-CN" altLang="en-US" sz="2000" dirty="0"/>
              <a:t>进程工作集要么都在内存中，要么全都换出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避免</a:t>
            </a:r>
            <a:r>
              <a:rPr kumimoji="1" lang="en-US" altLang="zh-CN" sz="2000" dirty="0"/>
              <a:t>thrashing</a:t>
            </a:r>
            <a:r>
              <a:rPr kumimoji="1" lang="zh-CN" altLang="en-US" sz="2000" dirty="0"/>
              <a:t>，提高系统整体性能表现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93FE9-5A36-AF46-AED4-7EA15E6E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161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37ABE-BFF3-CE49-A15C-C8419C9C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案例分析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675D44-1414-9849-90EF-AC952C97E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D1F962-0CC0-A54A-BB67-A8F80EA5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763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F0485-E01E-B34A-B326-35B67AE0D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内核启动时启用虚拟内存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A1A142-4D76-3F4C-9BEC-2F9715582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BCFD528-9368-3343-A430-BBF709AD6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6" y="1453635"/>
            <a:ext cx="8964488" cy="384332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E322DA6-05A4-2949-85FE-5F7C68A0A344}"/>
              </a:ext>
            </a:extLst>
          </p:cNvPr>
          <p:cNvSpPr txBox="1"/>
          <p:nvPr/>
        </p:nvSpPr>
        <p:spPr>
          <a:xfrm>
            <a:off x="1259632" y="112001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B0B768D-688A-AF4C-82B7-D65AD93FEC5D}"/>
              </a:ext>
            </a:extLst>
          </p:cNvPr>
          <p:cNvSpPr txBox="1"/>
          <p:nvPr/>
        </p:nvSpPr>
        <p:spPr>
          <a:xfrm>
            <a:off x="3995936" y="112001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818F30-657D-E649-8129-4B9CEA334828}"/>
              </a:ext>
            </a:extLst>
          </p:cNvPr>
          <p:cNvSpPr txBox="1"/>
          <p:nvPr/>
        </p:nvSpPr>
        <p:spPr>
          <a:xfrm>
            <a:off x="7463547" y="112001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272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9056E-E4CC-7D45-9B6B-E20F3E131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虚拟内存抽象的核心数据结构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7B6ECA-8970-C74C-B046-57118EE2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CEC147-CB33-6342-8FE6-D6B6A9EFE7CD}"/>
              </a:ext>
            </a:extLst>
          </p:cNvPr>
          <p:cNvSpPr txBox="1"/>
          <p:nvPr/>
        </p:nvSpPr>
        <p:spPr>
          <a:xfrm>
            <a:off x="466990" y="1417340"/>
            <a:ext cx="2880320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虚拟地址空间</a:t>
            </a:r>
            <a:r>
              <a:rPr kumimoji="1" lang="en-US" altLang="zh-CN" dirty="0" err="1"/>
              <a:t>vmspace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虚拟地址区域</a:t>
            </a:r>
            <a:r>
              <a:rPr kumimoji="1" lang="en-US" altLang="zh-CN" dirty="0" err="1"/>
              <a:t>vmregion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物理内存对象</a:t>
            </a:r>
            <a:r>
              <a:rPr kumimoji="1" lang="en-US" altLang="zh-CN" dirty="0" err="1"/>
              <a:t>pmobject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E7DDA5-9072-324C-8062-22D7AAFDC934}"/>
              </a:ext>
            </a:extLst>
          </p:cNvPr>
          <p:cNvSpPr/>
          <p:nvPr/>
        </p:nvSpPr>
        <p:spPr>
          <a:xfrm>
            <a:off x="4460930" y="1426150"/>
            <a:ext cx="1152128" cy="35195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8C5AB7-97FD-894D-8BE0-1E5DCE4BB079}"/>
              </a:ext>
            </a:extLst>
          </p:cNvPr>
          <p:cNvSpPr txBox="1"/>
          <p:nvPr/>
        </p:nvSpPr>
        <p:spPr>
          <a:xfrm>
            <a:off x="4208902" y="955675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 err="1"/>
              <a:t>vmspace</a:t>
            </a:r>
            <a:endParaRPr kumimoji="1" lang="zh-CN" altLang="en-US" sz="20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685979-6203-2F45-ACA1-F5CEF38F2B91}"/>
              </a:ext>
            </a:extLst>
          </p:cNvPr>
          <p:cNvSpPr/>
          <p:nvPr/>
        </p:nvSpPr>
        <p:spPr>
          <a:xfrm>
            <a:off x="4460930" y="1692421"/>
            <a:ext cx="1152128" cy="641343"/>
          </a:xfrm>
          <a:prstGeom prst="rect">
            <a:avLst/>
          </a:prstGeom>
          <a:ln w="2222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57A1E6-6455-CF42-9959-5239801F0391}"/>
              </a:ext>
            </a:extLst>
          </p:cNvPr>
          <p:cNvSpPr/>
          <p:nvPr/>
        </p:nvSpPr>
        <p:spPr>
          <a:xfrm>
            <a:off x="4460930" y="2796027"/>
            <a:ext cx="1152128" cy="493521"/>
          </a:xfrm>
          <a:prstGeom prst="rect">
            <a:avLst/>
          </a:prstGeom>
          <a:ln w="190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587CE1-F768-794E-9908-C3D87CED07E7}"/>
              </a:ext>
            </a:extLst>
          </p:cNvPr>
          <p:cNvSpPr/>
          <p:nvPr/>
        </p:nvSpPr>
        <p:spPr>
          <a:xfrm>
            <a:off x="4460930" y="3721596"/>
            <a:ext cx="1152128" cy="641343"/>
          </a:xfrm>
          <a:prstGeom prst="rect">
            <a:avLst/>
          </a:prstGeom>
          <a:ln w="2222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上下箭头 16">
            <a:extLst>
              <a:ext uri="{FF2B5EF4-FFF2-40B4-BE49-F238E27FC236}">
                <a16:creationId xmlns:a16="http://schemas.microsoft.com/office/drawing/2014/main" id="{0B5E4D60-4ED1-6D44-ACDC-EAD897350FEE}"/>
              </a:ext>
            </a:extLst>
          </p:cNvPr>
          <p:cNvSpPr/>
          <p:nvPr/>
        </p:nvSpPr>
        <p:spPr>
          <a:xfrm>
            <a:off x="4981459" y="2353444"/>
            <a:ext cx="111070" cy="40648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上下箭头 17">
            <a:extLst>
              <a:ext uri="{FF2B5EF4-FFF2-40B4-BE49-F238E27FC236}">
                <a16:creationId xmlns:a16="http://schemas.microsoft.com/office/drawing/2014/main" id="{6143596E-00DA-6E42-893B-6BCB3E66CA95}"/>
              </a:ext>
            </a:extLst>
          </p:cNvPr>
          <p:cNvSpPr/>
          <p:nvPr/>
        </p:nvSpPr>
        <p:spPr>
          <a:xfrm>
            <a:off x="4981459" y="3315111"/>
            <a:ext cx="111070" cy="40648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7B2B5BB-0D23-D242-BEA5-88ADE5FA4F21}"/>
              </a:ext>
            </a:extLst>
          </p:cNvPr>
          <p:cNvSpPr txBox="1"/>
          <p:nvPr/>
        </p:nvSpPr>
        <p:spPr>
          <a:xfrm>
            <a:off x="4353408" y="1828426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vmregion</a:t>
            </a:r>
            <a:endParaRPr kumimoji="1" lang="zh-CN" altLang="en-US" b="1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791A6CB-05AE-7F47-8DB3-3D52A2E576B2}"/>
              </a:ext>
            </a:extLst>
          </p:cNvPr>
          <p:cNvSpPr txBox="1"/>
          <p:nvPr/>
        </p:nvSpPr>
        <p:spPr>
          <a:xfrm>
            <a:off x="4353408" y="2843803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vmregion</a:t>
            </a:r>
            <a:endParaRPr kumimoji="1"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9AEA9C-2E35-CD42-BFF9-13FA63CE36A4}"/>
              </a:ext>
            </a:extLst>
          </p:cNvPr>
          <p:cNvSpPr txBox="1"/>
          <p:nvPr/>
        </p:nvSpPr>
        <p:spPr>
          <a:xfrm>
            <a:off x="4368554" y="3857601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vmregion</a:t>
            </a:r>
            <a:endParaRPr kumimoji="1" lang="zh-CN" altLang="en-US" b="1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247345-147D-A84B-8980-9A5C5CA9A92E}"/>
              </a:ext>
            </a:extLst>
          </p:cNvPr>
          <p:cNvSpPr/>
          <p:nvPr/>
        </p:nvSpPr>
        <p:spPr>
          <a:xfrm>
            <a:off x="6876256" y="769268"/>
            <a:ext cx="1224136" cy="45276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989BC2-3266-4D43-B5B2-C575973C0FEE}"/>
              </a:ext>
            </a:extLst>
          </p:cNvPr>
          <p:cNvSpPr/>
          <p:nvPr/>
        </p:nvSpPr>
        <p:spPr>
          <a:xfrm>
            <a:off x="6876256" y="1155730"/>
            <a:ext cx="1224136" cy="6726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0E8BF9D-3ECA-2144-8454-E5D80D3C1E6A}"/>
              </a:ext>
            </a:extLst>
          </p:cNvPr>
          <p:cNvSpPr txBox="1"/>
          <p:nvPr/>
        </p:nvSpPr>
        <p:spPr>
          <a:xfrm>
            <a:off x="6804738" y="1300378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pmobject</a:t>
            </a:r>
            <a:endParaRPr kumimoji="1" lang="zh-CN" altLang="en-US" b="1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EAC4B0B-9C87-3341-ADAA-F9DD7349565F}"/>
              </a:ext>
            </a:extLst>
          </p:cNvPr>
          <p:cNvSpPr/>
          <p:nvPr/>
        </p:nvSpPr>
        <p:spPr>
          <a:xfrm>
            <a:off x="6876256" y="2423581"/>
            <a:ext cx="1224136" cy="51397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90D3A7E-8FE2-E246-AC46-50EEFA6677C9}"/>
              </a:ext>
            </a:extLst>
          </p:cNvPr>
          <p:cNvSpPr txBox="1"/>
          <p:nvPr/>
        </p:nvSpPr>
        <p:spPr>
          <a:xfrm>
            <a:off x="6799143" y="2475763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pmobject</a:t>
            </a:r>
            <a:endParaRPr kumimoji="1" lang="zh-CN" altLang="en-US" b="1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D282394-3B9D-2F42-99FF-61352935B339}"/>
              </a:ext>
            </a:extLst>
          </p:cNvPr>
          <p:cNvSpPr/>
          <p:nvPr/>
        </p:nvSpPr>
        <p:spPr>
          <a:xfrm>
            <a:off x="6876256" y="3780913"/>
            <a:ext cx="1224136" cy="6726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5ACF0E6-FE8C-F849-8092-48A50B0C5B0E}"/>
              </a:ext>
            </a:extLst>
          </p:cNvPr>
          <p:cNvSpPr txBox="1"/>
          <p:nvPr/>
        </p:nvSpPr>
        <p:spPr>
          <a:xfrm>
            <a:off x="6816348" y="3925561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pmobject</a:t>
            </a:r>
            <a:endParaRPr kumimoji="1" lang="zh-CN" altLang="en-US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8E5FE4B-D63D-9340-A100-8E946CAAD4CB}"/>
              </a:ext>
            </a:extLst>
          </p:cNvPr>
          <p:cNvSpPr txBox="1"/>
          <p:nvPr/>
        </p:nvSpPr>
        <p:spPr>
          <a:xfrm>
            <a:off x="6671842" y="29830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/>
              <a:t>物理内存</a:t>
            </a: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3D1B695C-4E19-D74F-8FD7-8054936AA529}"/>
              </a:ext>
            </a:extLst>
          </p:cNvPr>
          <p:cNvCxnSpPr/>
          <p:nvPr/>
        </p:nvCxnSpPr>
        <p:spPr>
          <a:xfrm flipV="1">
            <a:off x="5613058" y="1485044"/>
            <a:ext cx="1263198" cy="577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443BEFC2-89C4-224B-9CDE-A353EAD98DBC}"/>
              </a:ext>
            </a:extLst>
          </p:cNvPr>
          <p:cNvCxnSpPr>
            <a:cxnSpLocks/>
          </p:cNvCxnSpPr>
          <p:nvPr/>
        </p:nvCxnSpPr>
        <p:spPr>
          <a:xfrm flipV="1">
            <a:off x="5613058" y="2628912"/>
            <a:ext cx="1293607" cy="417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9EA90137-84D4-204D-8FD0-98CD4ACED9ED}"/>
              </a:ext>
            </a:extLst>
          </p:cNvPr>
          <p:cNvCxnSpPr>
            <a:cxnSpLocks/>
          </p:cNvCxnSpPr>
          <p:nvPr/>
        </p:nvCxnSpPr>
        <p:spPr>
          <a:xfrm>
            <a:off x="5591054" y="4079199"/>
            <a:ext cx="1285202" cy="31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918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177F2-3824-F54A-BFDF-BBBF4DC9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进程虚拟地址空间 </a:t>
            </a:r>
            <a:r>
              <a:rPr kumimoji="1" lang="en-US" altLang="zh-CN" dirty="0" err="1"/>
              <a:t>vmspace</a:t>
            </a:r>
            <a:r>
              <a:rPr kumimoji="1" lang="zh-CN" altLang="en-US" dirty="0"/>
              <a:t> （图）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5BA1E2-73DE-F341-A974-4E7F339AA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 err="1"/>
              <a:t>vmr_list</a:t>
            </a:r>
            <a:endParaRPr kumimoji="1" lang="en-US" altLang="zh-CN" sz="2000" b="0" dirty="0"/>
          </a:p>
          <a:p>
            <a:pPr lvl="1"/>
            <a:r>
              <a:rPr kumimoji="1" lang="en-US" altLang="zh-CN" sz="1800" dirty="0" err="1"/>
              <a:t>v</a:t>
            </a:r>
            <a:r>
              <a:rPr kumimoji="1" lang="en-US" altLang="zh-CN" sz="1800" b="0" dirty="0" err="1"/>
              <a:t>mregion</a:t>
            </a:r>
            <a:r>
              <a:rPr kumimoji="1" lang="zh-CN" altLang="en-US" sz="1800" b="0" dirty="0"/>
              <a:t>链表头</a:t>
            </a:r>
            <a:endParaRPr kumimoji="1" lang="en-US" altLang="zh-CN" sz="1800" b="0" dirty="0"/>
          </a:p>
          <a:p>
            <a:pPr lvl="1"/>
            <a:r>
              <a:rPr kumimoji="1" lang="en-US" altLang="zh-CN" sz="1800" dirty="0" err="1"/>
              <a:t>vmspace</a:t>
            </a:r>
            <a:r>
              <a:rPr kumimoji="1" lang="zh-CN" altLang="en-US" sz="1800" dirty="0"/>
              <a:t>包含多个</a:t>
            </a:r>
            <a:r>
              <a:rPr kumimoji="1" lang="en-US" altLang="zh-CN" sz="1800" dirty="0" err="1"/>
              <a:t>vmregion</a:t>
            </a:r>
            <a:endParaRPr kumimoji="1" lang="en-US" altLang="zh-CN" sz="1800" b="0" dirty="0"/>
          </a:p>
          <a:p>
            <a:r>
              <a:rPr kumimoji="1" lang="en-US" altLang="zh-CN" sz="2000" dirty="0" err="1"/>
              <a:t>pgtbl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页表基地址 （虚拟地址）</a:t>
            </a:r>
            <a:endParaRPr kumimoji="1" lang="en-US" altLang="zh-CN" sz="1800" dirty="0"/>
          </a:p>
          <a:p>
            <a:r>
              <a:rPr kumimoji="1" lang="en-US" altLang="zh-CN" sz="2000" dirty="0"/>
              <a:t>locks</a:t>
            </a:r>
          </a:p>
          <a:p>
            <a:pPr lvl="1"/>
            <a:r>
              <a:rPr kumimoji="1" lang="zh-CN" altLang="en-US" sz="1800" dirty="0"/>
              <a:t>多线程并发控制</a:t>
            </a:r>
            <a:endParaRPr kumimoji="1" lang="en-US" altLang="zh-CN" sz="180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C223E-25E2-4541-8828-6C3CD38CD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2D528973-4F63-494D-B032-04F5731C4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018" y="1189221"/>
            <a:ext cx="3828364" cy="391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388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8C79E-03BD-FD48-B1B0-C3DF8268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进程虚拟地址区域 </a:t>
            </a:r>
            <a:r>
              <a:rPr kumimoji="1" lang="en-US" altLang="zh-CN" dirty="0" err="1"/>
              <a:t>vmregion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3D271A-FBAD-C44F-BCA3-BE489009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BB238EC-10E9-B547-AC3C-AAE6D8F4B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node</a:t>
            </a:r>
            <a:r>
              <a:rPr kumimoji="1" lang="zh-CN" altLang="en-US" sz="2000" dirty="0"/>
              <a:t>：连接前后</a:t>
            </a:r>
            <a:r>
              <a:rPr kumimoji="1" lang="en-US" altLang="zh-CN" sz="2000" dirty="0" err="1"/>
              <a:t>vmregion</a:t>
            </a:r>
            <a:endParaRPr kumimoji="1" lang="en-US" altLang="zh-CN" sz="1800" dirty="0"/>
          </a:p>
          <a:p>
            <a:r>
              <a:rPr kumimoji="1" lang="en-US" altLang="zh-CN" sz="2000" dirty="0"/>
              <a:t>start</a:t>
            </a:r>
            <a:r>
              <a:rPr kumimoji="1" lang="zh-CN" altLang="en-US" sz="2000" dirty="0"/>
              <a:t>：区域起始位置</a:t>
            </a:r>
            <a:endParaRPr kumimoji="1" lang="en-US" altLang="zh-CN" sz="2000" dirty="0"/>
          </a:p>
          <a:p>
            <a:r>
              <a:rPr kumimoji="1" lang="en-US" altLang="zh-CN" sz="2000" dirty="0"/>
              <a:t>size</a:t>
            </a:r>
            <a:r>
              <a:rPr kumimoji="1" lang="zh-CN" altLang="en-US" sz="2000" dirty="0"/>
              <a:t> ：区域大小</a:t>
            </a:r>
            <a:endParaRPr kumimoji="1" lang="en-US" altLang="zh-CN" sz="2000" dirty="0"/>
          </a:p>
          <a:p>
            <a:r>
              <a:rPr kumimoji="1" lang="en-US" altLang="zh-CN" sz="2000" dirty="0"/>
              <a:t>perm</a:t>
            </a:r>
            <a:r>
              <a:rPr kumimoji="1" lang="zh-CN" altLang="en-US" sz="2000" dirty="0"/>
              <a:t>：区域读写执行权限</a:t>
            </a:r>
            <a:endParaRPr kumimoji="1" lang="en-US" altLang="zh-CN" sz="2000" dirty="0"/>
          </a:p>
          <a:p>
            <a:r>
              <a:rPr kumimoji="1" lang="en-US" altLang="zh-CN" sz="2000" dirty="0" err="1"/>
              <a:t>pmo</a:t>
            </a:r>
            <a:r>
              <a:rPr kumimoji="1" lang="zh-CN" altLang="en-US" sz="2000" dirty="0"/>
              <a:t>：对应的物理内存</a:t>
            </a:r>
            <a:endParaRPr kumimoji="1" lang="en-US" altLang="zh-CN" dirty="0"/>
          </a:p>
        </p:txBody>
      </p:sp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04DECF4F-1D68-E24C-8C7B-A807B8963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115" y="1333501"/>
            <a:ext cx="49403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83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6DAFA-8AEC-9B45-AC63-4568A92E4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物理内存对象</a:t>
            </a:r>
            <a:r>
              <a:rPr kumimoji="1" lang="en-US" altLang="zh-CN" dirty="0" err="1"/>
              <a:t>pmobject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48CA30-D25F-694B-B268-6AD20FAA3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E23426C-02DD-804D-8419-E93F75533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物理内存资源以对象的形式进行分配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映射给</a:t>
            </a:r>
            <a:r>
              <a:rPr kumimoji="1" lang="en-US" altLang="zh-CN" sz="1800" dirty="0" err="1"/>
              <a:t>vmregion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79D97A4-9524-7B4E-8F37-3E0978147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991" y="2200913"/>
            <a:ext cx="6455345" cy="31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777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589D9C-6BFC-4B4B-A2CD-5C3228DA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物理内存对象</a:t>
            </a:r>
            <a:r>
              <a:rPr kumimoji="1" lang="en-US" altLang="zh-CN" dirty="0" err="1"/>
              <a:t>pmobject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9A53C9-C4BB-8645-AA95-427A4F6FF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每个类型的作用不同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PMO_ANONYM</a:t>
            </a:r>
            <a:r>
              <a:rPr kumimoji="1" lang="zh-CN" altLang="en-US" sz="2000" dirty="0"/>
              <a:t>：按需分配，一般用于堆的分配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PMO_DATA</a:t>
            </a:r>
            <a:r>
              <a:rPr kumimoji="1" lang="zh-CN" altLang="en-US" sz="2000" dirty="0"/>
              <a:t>：立即分配，比如用于加载代码和数据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PMO_FILE</a:t>
            </a:r>
            <a:r>
              <a:rPr kumimoji="1" lang="zh-CN" altLang="en-US" sz="2000" dirty="0"/>
              <a:t>：访问文件，支持</a:t>
            </a:r>
            <a:r>
              <a:rPr kumimoji="1" lang="en-US" altLang="zh-CN" sz="2000" dirty="0"/>
              <a:t>POSIX</a:t>
            </a:r>
            <a:r>
              <a:rPr kumimoji="1" lang="zh-CN" altLang="en-US" sz="2000" dirty="0"/>
              <a:t>标准中的</a:t>
            </a:r>
            <a:r>
              <a:rPr kumimoji="1" lang="en-US" altLang="zh-CN" sz="2000" dirty="0" err="1"/>
              <a:t>mmap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PMO_SHM</a:t>
            </a:r>
            <a:r>
              <a:rPr kumimoji="1" lang="zh-CN" altLang="en-US" sz="2000" dirty="0"/>
              <a:t>：共享内存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PMO_USER_PAGER</a:t>
            </a:r>
            <a:r>
              <a:rPr kumimoji="1" lang="zh-CN" altLang="en-US" sz="2000" dirty="0"/>
              <a:t>：支持用户态虚拟内存管理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PMO_DEVICE</a:t>
            </a:r>
            <a:r>
              <a:rPr kumimoji="1" lang="zh-CN" altLang="en-US" sz="2000" dirty="0"/>
              <a:t>：访问设备，如</a:t>
            </a:r>
            <a:r>
              <a:rPr kumimoji="1" lang="en-US" altLang="zh-CN" sz="2000" dirty="0"/>
              <a:t>MMIO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DMA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7241BB-1258-B640-BFF4-5EC07B224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337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E85A3-6E0B-C146-AFFE-5C7C3AB8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进程创建流程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2B0970-7E1B-0E45-AEA5-B13D6B490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第一步：创建虚拟地址空间</a:t>
            </a:r>
            <a:r>
              <a:rPr kumimoji="1" lang="en-US" altLang="zh-CN" dirty="0" err="1"/>
              <a:t>vmspace</a:t>
            </a:r>
            <a:endParaRPr kumimoji="1" lang="en-US" altLang="zh-CN" dirty="0"/>
          </a:p>
          <a:p>
            <a:r>
              <a:rPr kumimoji="1" lang="zh-CN" altLang="en-US" dirty="0"/>
              <a:t>第二步：加载代码和数据</a:t>
            </a:r>
            <a:endParaRPr kumimoji="1" lang="en-US" altLang="zh-CN" dirty="0"/>
          </a:p>
          <a:p>
            <a:r>
              <a:rPr kumimoji="1" lang="zh-CN" altLang="en-US" dirty="0"/>
              <a:t>第三步：创建堆</a:t>
            </a:r>
            <a:endParaRPr kumimoji="1" lang="en-US" altLang="zh-CN" dirty="0"/>
          </a:p>
          <a:p>
            <a:r>
              <a:rPr kumimoji="1" lang="zh-CN" altLang="en-US" dirty="0"/>
              <a:t>第四步：创建主线程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分配栈空间 （栈的</a:t>
            </a:r>
            <a:r>
              <a:rPr kumimoji="1" lang="en-US" altLang="zh-CN" dirty="0" err="1"/>
              <a:t>vmregion</a:t>
            </a:r>
            <a:r>
              <a:rPr kumimoji="1" lang="zh-CN" altLang="en-US" dirty="0"/>
              <a:t>和相应的</a:t>
            </a:r>
            <a:r>
              <a:rPr kumimoji="1" lang="en-US" altLang="zh-CN" dirty="0" err="1"/>
              <a:t>pmobject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B93197-F15D-B840-9F35-FBBF21F2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9788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DF8F0-7BED-7746-93F9-FC1A95D0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进程地址空间创建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B519B-7E67-D542-ABAC-035EC024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82337D-71B6-6743-A0C0-1F725354D30A}"/>
              </a:ext>
            </a:extLst>
          </p:cNvPr>
          <p:cNvSpPr/>
          <p:nvPr/>
        </p:nvSpPr>
        <p:spPr>
          <a:xfrm>
            <a:off x="3023828" y="1633460"/>
            <a:ext cx="1152128" cy="36778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150D7B-7FAE-2E4A-9308-B78B2CF3FDA0}"/>
              </a:ext>
            </a:extLst>
          </p:cNvPr>
          <p:cNvSpPr txBox="1"/>
          <p:nvPr/>
        </p:nvSpPr>
        <p:spPr>
          <a:xfrm>
            <a:off x="2771800" y="1162985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 err="1"/>
              <a:t>vmspace</a:t>
            </a:r>
            <a:endParaRPr kumimoji="1" lang="zh-CN" altLang="en-US" sz="20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D30632-637C-D047-973F-B36CA45DA173}"/>
              </a:ext>
            </a:extLst>
          </p:cNvPr>
          <p:cNvSpPr/>
          <p:nvPr/>
        </p:nvSpPr>
        <p:spPr>
          <a:xfrm>
            <a:off x="3023828" y="1899731"/>
            <a:ext cx="1152128" cy="382529"/>
          </a:xfrm>
          <a:prstGeom prst="rect">
            <a:avLst/>
          </a:prstGeom>
          <a:ln w="2222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vmregion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F30D43-86DD-A34D-91F2-F655A0ABB186}"/>
              </a:ext>
            </a:extLst>
          </p:cNvPr>
          <p:cNvSpPr/>
          <p:nvPr/>
        </p:nvSpPr>
        <p:spPr>
          <a:xfrm>
            <a:off x="3023828" y="3003337"/>
            <a:ext cx="1152128" cy="493521"/>
          </a:xfrm>
          <a:prstGeom prst="rect">
            <a:avLst/>
          </a:prstGeom>
          <a:ln w="190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vmregion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B98D63-5251-3949-BDD6-EA09277B1636}"/>
              </a:ext>
            </a:extLst>
          </p:cNvPr>
          <p:cNvSpPr/>
          <p:nvPr/>
        </p:nvSpPr>
        <p:spPr>
          <a:xfrm>
            <a:off x="3023828" y="4529868"/>
            <a:ext cx="1152128" cy="428925"/>
          </a:xfrm>
          <a:prstGeom prst="rect">
            <a:avLst/>
          </a:prstGeom>
          <a:ln w="2222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vmregion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28E048-55A2-834C-B674-13A65CB5CE71}"/>
              </a:ext>
            </a:extLst>
          </p:cNvPr>
          <p:cNvSpPr/>
          <p:nvPr/>
        </p:nvSpPr>
        <p:spPr>
          <a:xfrm>
            <a:off x="5439154" y="976578"/>
            <a:ext cx="1224136" cy="45276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3C3BEE-5F47-4244-A6DD-1277ACA3A008}"/>
              </a:ext>
            </a:extLst>
          </p:cNvPr>
          <p:cNvSpPr/>
          <p:nvPr/>
        </p:nvSpPr>
        <p:spPr>
          <a:xfrm>
            <a:off x="5439154" y="1363040"/>
            <a:ext cx="1224136" cy="6726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865944-DCBF-BE4E-9EE7-A0A0DBD140C8}"/>
              </a:ext>
            </a:extLst>
          </p:cNvPr>
          <p:cNvSpPr txBox="1"/>
          <p:nvPr/>
        </p:nvSpPr>
        <p:spPr>
          <a:xfrm>
            <a:off x="5438500" y="1396243"/>
            <a:ext cx="1224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</a:t>
            </a:r>
            <a:endParaRPr kumimoji="1" lang="en-US" altLang="zh-CN" b="1" dirty="0"/>
          </a:p>
          <a:p>
            <a:pPr algn="ctr"/>
            <a:r>
              <a:rPr kumimoji="1" lang="en-US" altLang="zh-CN" b="1" dirty="0"/>
              <a:t>anonym</a:t>
            </a:r>
            <a:endParaRPr kumimoji="1" lang="zh-CN" altLang="en-US" b="1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4F912C3-D5D9-C74C-B300-3755758C5480}"/>
              </a:ext>
            </a:extLst>
          </p:cNvPr>
          <p:cNvSpPr/>
          <p:nvPr/>
        </p:nvSpPr>
        <p:spPr>
          <a:xfrm>
            <a:off x="5439154" y="3741138"/>
            <a:ext cx="1224136" cy="51397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1BB4D68-4AEB-0E49-B1BC-DBE835344D71}"/>
              </a:ext>
            </a:extLst>
          </p:cNvPr>
          <p:cNvSpPr txBox="1"/>
          <p:nvPr/>
        </p:nvSpPr>
        <p:spPr>
          <a:xfrm>
            <a:off x="5365068" y="3793604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pmo_data</a:t>
            </a:r>
            <a:endParaRPr kumimoji="1" lang="zh-CN" altLang="en-US" b="1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DA152B2-10AF-4C4B-8066-08EEA0AAFA88}"/>
              </a:ext>
            </a:extLst>
          </p:cNvPr>
          <p:cNvSpPr/>
          <p:nvPr/>
        </p:nvSpPr>
        <p:spPr>
          <a:xfrm>
            <a:off x="5439154" y="4691407"/>
            <a:ext cx="1224136" cy="6726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1E77B7-EB29-A94E-8CBF-5108727C03AA}"/>
              </a:ext>
            </a:extLst>
          </p:cNvPr>
          <p:cNvSpPr txBox="1"/>
          <p:nvPr/>
        </p:nvSpPr>
        <p:spPr>
          <a:xfrm>
            <a:off x="5234740" y="50561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/>
              <a:t>物理内存</a:t>
            </a: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322CCCE-076D-EC40-8128-AD524FE607C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175956" y="1692354"/>
            <a:ext cx="1263198" cy="398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672D1EBA-9DE6-C645-99DE-928974CA4845}"/>
              </a:ext>
            </a:extLst>
          </p:cNvPr>
          <p:cNvCxnSpPr>
            <a:cxnSpLocks/>
          </p:cNvCxnSpPr>
          <p:nvPr/>
        </p:nvCxnSpPr>
        <p:spPr>
          <a:xfrm flipV="1">
            <a:off x="4115593" y="3998128"/>
            <a:ext cx="1293607" cy="417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089F9A03-A480-7A4E-818A-00613E9E7A4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175956" y="4744331"/>
            <a:ext cx="1293607" cy="259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1604B78-865A-D14B-A7AA-C416FD5B19B0}"/>
              </a:ext>
            </a:extLst>
          </p:cNvPr>
          <p:cNvSpPr txBox="1"/>
          <p:nvPr/>
        </p:nvSpPr>
        <p:spPr>
          <a:xfrm>
            <a:off x="1687942" y="1171197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/>
              <a:t>第一步：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49A8E17-A215-CC4D-B721-3D157BA3E85B}"/>
              </a:ext>
            </a:extLst>
          </p:cNvPr>
          <p:cNvSpPr/>
          <p:nvPr/>
        </p:nvSpPr>
        <p:spPr>
          <a:xfrm>
            <a:off x="3024482" y="4156767"/>
            <a:ext cx="1152128" cy="428925"/>
          </a:xfrm>
          <a:prstGeom prst="rect">
            <a:avLst/>
          </a:prstGeom>
          <a:ln w="2222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vmregion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2339300-6879-9F46-8DCB-4921F6C77DC2}"/>
              </a:ext>
            </a:extLst>
          </p:cNvPr>
          <p:cNvSpPr txBox="1"/>
          <p:nvPr/>
        </p:nvSpPr>
        <p:spPr>
          <a:xfrm>
            <a:off x="821762" y="4219601"/>
            <a:ext cx="2172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/>
              <a:t>第二步：</a:t>
            </a:r>
            <a:endParaRPr kumimoji="1" lang="en-US" altLang="zh-CN" sz="2000" b="1" dirty="0"/>
          </a:p>
          <a:p>
            <a:pPr algn="ctr"/>
            <a:r>
              <a:rPr kumimoji="1" lang="zh-CN" altLang="en-US" sz="2000" b="1" dirty="0"/>
              <a:t>加载代码和数据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4737439-0E32-7F41-B486-8442294A279B}"/>
              </a:ext>
            </a:extLst>
          </p:cNvPr>
          <p:cNvSpPr txBox="1"/>
          <p:nvPr/>
        </p:nvSpPr>
        <p:spPr>
          <a:xfrm>
            <a:off x="674574" y="1835681"/>
            <a:ext cx="2172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/>
              <a:t>第三步：创建堆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BCA14FF-C765-214D-9134-35275B8AB456}"/>
              </a:ext>
            </a:extLst>
          </p:cNvPr>
          <p:cNvSpPr txBox="1"/>
          <p:nvPr/>
        </p:nvSpPr>
        <p:spPr>
          <a:xfrm>
            <a:off x="674574" y="3024469"/>
            <a:ext cx="2172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/>
              <a:t>第四步：创建栈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A13140A-EF12-1B4F-9419-479BB76642B4}"/>
              </a:ext>
            </a:extLst>
          </p:cNvPr>
          <p:cNvSpPr txBox="1"/>
          <p:nvPr/>
        </p:nvSpPr>
        <p:spPr>
          <a:xfrm>
            <a:off x="5359206" y="4830669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pmo_data</a:t>
            </a:r>
            <a:endParaRPr kumimoji="1" lang="zh-CN" altLang="en-US" b="1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9699FA9-809E-EC49-BF21-DCEA4A53A095}"/>
              </a:ext>
            </a:extLst>
          </p:cNvPr>
          <p:cNvSpPr/>
          <p:nvPr/>
        </p:nvSpPr>
        <p:spPr>
          <a:xfrm>
            <a:off x="5439956" y="2512048"/>
            <a:ext cx="1224136" cy="6726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1FE99893-7CEA-F448-B786-8DE036239369}"/>
              </a:ext>
            </a:extLst>
          </p:cNvPr>
          <p:cNvCxnSpPr>
            <a:cxnSpLocks/>
          </p:cNvCxnSpPr>
          <p:nvPr/>
        </p:nvCxnSpPr>
        <p:spPr>
          <a:xfrm flipV="1">
            <a:off x="4160979" y="2863321"/>
            <a:ext cx="1263198" cy="398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857B6319-429E-BD4C-AC98-B2521D6C8104}"/>
              </a:ext>
            </a:extLst>
          </p:cNvPr>
          <p:cNvSpPr txBox="1"/>
          <p:nvPr/>
        </p:nvSpPr>
        <p:spPr>
          <a:xfrm>
            <a:off x="3260562" y="2687584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6BBE31-91FC-7E40-9E95-F4F1578D0EBF}"/>
              </a:ext>
            </a:extLst>
          </p:cNvPr>
          <p:cNvSpPr txBox="1"/>
          <p:nvPr/>
        </p:nvSpPr>
        <p:spPr>
          <a:xfrm>
            <a:off x="3238254" y="160922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heap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CC48A83-F8D7-5348-8429-F663326A827E}"/>
              </a:ext>
            </a:extLst>
          </p:cNvPr>
          <p:cNvSpPr txBox="1"/>
          <p:nvPr/>
        </p:nvSpPr>
        <p:spPr>
          <a:xfrm>
            <a:off x="3270313" y="381346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data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EF29384-5B83-BE40-B56B-845E9E35860D}"/>
              </a:ext>
            </a:extLst>
          </p:cNvPr>
          <p:cNvSpPr txBox="1"/>
          <p:nvPr/>
        </p:nvSpPr>
        <p:spPr>
          <a:xfrm>
            <a:off x="3278361" y="4942012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code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83A9BAF-6583-3946-92A1-AF6515396403}"/>
              </a:ext>
            </a:extLst>
          </p:cNvPr>
          <p:cNvSpPr txBox="1"/>
          <p:nvPr/>
        </p:nvSpPr>
        <p:spPr>
          <a:xfrm>
            <a:off x="5359206" y="2636378"/>
            <a:ext cx="136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err="1"/>
              <a:t>pmo_data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2235369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66712-7215-C249-9782-F13132A8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示例：为用户进程创建地址空间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B9B98-27FF-7A4B-8DAF-AC4A1A541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87361B-FCA1-5D4D-8028-F5C86D19C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创建并且初始化</a:t>
            </a:r>
            <a:r>
              <a:rPr kumimoji="1" lang="en-US" altLang="zh-CN" dirty="0" err="1"/>
              <a:t>vmspace</a:t>
            </a:r>
            <a:r>
              <a:rPr kumimoji="1" lang="zh-CN" altLang="en-US" dirty="0"/>
              <a:t>对象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9" name="内容占位符 4">
            <a:extLst>
              <a:ext uri="{FF2B5EF4-FFF2-40B4-BE49-F238E27FC236}">
                <a16:creationId xmlns:a16="http://schemas.microsoft.com/office/drawing/2014/main" id="{7E52BEEC-4005-C445-BB2A-4FE61B2E8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50" y="2489069"/>
            <a:ext cx="7251700" cy="1460500"/>
          </a:xfrm>
          <a:prstGeom prst="rect">
            <a:avLst/>
          </a:prstGeom>
        </p:spPr>
      </p:pic>
      <p:sp>
        <p:nvSpPr>
          <p:cNvPr id="11" name="燕尾形箭头 10">
            <a:extLst>
              <a:ext uri="{FF2B5EF4-FFF2-40B4-BE49-F238E27FC236}">
                <a16:creationId xmlns:a16="http://schemas.microsoft.com/office/drawing/2014/main" id="{3E8E840B-12B5-C64A-8DC6-4D388E93C0EA}"/>
              </a:ext>
            </a:extLst>
          </p:cNvPr>
          <p:cNvSpPr/>
          <p:nvPr/>
        </p:nvSpPr>
        <p:spPr>
          <a:xfrm>
            <a:off x="611560" y="2569468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燕尾形箭头 11">
            <a:extLst>
              <a:ext uri="{FF2B5EF4-FFF2-40B4-BE49-F238E27FC236}">
                <a16:creationId xmlns:a16="http://schemas.microsoft.com/office/drawing/2014/main" id="{E33A3412-56A8-E44E-A577-77664C780552}"/>
              </a:ext>
            </a:extLst>
          </p:cNvPr>
          <p:cNvSpPr/>
          <p:nvPr/>
        </p:nvSpPr>
        <p:spPr>
          <a:xfrm>
            <a:off x="611560" y="3707451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67252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99145A01-93C8-354F-81BA-734C027E88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04"/>
          <a:stretch/>
        </p:blipFill>
        <p:spPr>
          <a:xfrm>
            <a:off x="4499790" y="1085346"/>
            <a:ext cx="4644210" cy="462965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55C6934-F3E2-5146-AC85-0F81D04D7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初始化</a:t>
            </a:r>
            <a:r>
              <a:rPr kumimoji="1" lang="en-US" altLang="zh-CN" dirty="0" err="1"/>
              <a:t>vmspace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0CE1AD-2430-C94A-91B2-E9BF0F279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C96A5A5-F0BE-364E-AEA2-8CD77EE35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初始化</a:t>
            </a:r>
            <a:r>
              <a:rPr kumimoji="1" lang="en-US" altLang="zh-CN" sz="2000" dirty="0" err="1"/>
              <a:t>vmregion</a:t>
            </a:r>
            <a:r>
              <a:rPr kumimoji="1" lang="zh-CN" altLang="en-US" sz="2000" dirty="0"/>
              <a:t>的链表</a:t>
            </a:r>
            <a:endParaRPr kumimoji="1" lang="en-US" altLang="zh-CN" sz="2000" dirty="0"/>
          </a:p>
          <a:p>
            <a:r>
              <a:rPr kumimoji="1" lang="zh-CN" altLang="en-US" sz="2000" dirty="0"/>
              <a:t>分配顶层页表页</a:t>
            </a:r>
            <a:endParaRPr kumimoji="1" lang="en-US" altLang="zh-CN" sz="2000" dirty="0"/>
          </a:p>
          <a:p>
            <a:r>
              <a:rPr kumimoji="1" lang="zh-CN" altLang="en-US" sz="2000" dirty="0"/>
              <a:t>体系结构相关的初始化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</a:t>
            </a:r>
            <a:r>
              <a:rPr kumimoji="1" lang="en-US" altLang="zh-CN" sz="2000" dirty="0"/>
              <a:t>aarch64</a:t>
            </a:r>
            <a:r>
              <a:rPr kumimoji="1" lang="zh-CN" altLang="en-US" sz="2000" dirty="0"/>
              <a:t>上可设置</a:t>
            </a:r>
            <a:r>
              <a:rPr kumimoji="1" lang="en-US" altLang="zh-CN" sz="2000" dirty="0"/>
              <a:t>ASID</a:t>
            </a:r>
          </a:p>
          <a:p>
            <a:r>
              <a:rPr kumimoji="1" lang="zh-CN" altLang="en-US" sz="2000" dirty="0"/>
              <a:t>其它域的初始化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9" name="燕尾形箭头 8">
            <a:extLst>
              <a:ext uri="{FF2B5EF4-FFF2-40B4-BE49-F238E27FC236}">
                <a16:creationId xmlns:a16="http://schemas.microsoft.com/office/drawing/2014/main" id="{C110600A-C32D-5A47-B7F6-CEC455EBBC53}"/>
              </a:ext>
            </a:extLst>
          </p:cNvPr>
          <p:cNvSpPr/>
          <p:nvPr/>
        </p:nvSpPr>
        <p:spPr>
          <a:xfrm>
            <a:off x="4094001" y="141734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AF8A0389-495E-2C4B-93BF-D99522978459}"/>
              </a:ext>
            </a:extLst>
          </p:cNvPr>
          <p:cNvSpPr/>
          <p:nvPr/>
        </p:nvSpPr>
        <p:spPr>
          <a:xfrm>
            <a:off x="4095795" y="1765514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燕尾形箭头 10">
            <a:extLst>
              <a:ext uri="{FF2B5EF4-FFF2-40B4-BE49-F238E27FC236}">
                <a16:creationId xmlns:a16="http://schemas.microsoft.com/office/drawing/2014/main" id="{B1E4E7C5-FB24-AC41-8003-EC556874BDB4}"/>
              </a:ext>
            </a:extLst>
          </p:cNvPr>
          <p:cNvSpPr/>
          <p:nvPr/>
        </p:nvSpPr>
        <p:spPr>
          <a:xfrm>
            <a:off x="4094001" y="2536637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69502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66712-7215-C249-9782-F13132A8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示例：为第一个用户线程创建栈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B9B98-27FF-7A4B-8DAF-AC4A1A541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80A282D1-5DFE-604A-BEC1-19371B977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4189"/>
            <a:ext cx="8229600" cy="3771636"/>
          </a:xfrm>
        </p:spPr>
        <p:txBody>
          <a:bodyPr/>
          <a:lstStyle/>
          <a:p>
            <a:r>
              <a:rPr lang="zh-CN" altLang="en-US" sz="2400" dirty="0"/>
              <a:t>分配并初始化物理内存对象，然后映射到地址空间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137512F-411B-B349-96FF-3E1155972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951628"/>
            <a:ext cx="7710884" cy="3763372"/>
          </a:xfrm>
          <a:prstGeom prst="rect">
            <a:avLst/>
          </a:prstGeom>
        </p:spPr>
      </p:pic>
      <p:sp>
        <p:nvSpPr>
          <p:cNvPr id="13" name="燕尾形箭头 12">
            <a:extLst>
              <a:ext uri="{FF2B5EF4-FFF2-40B4-BE49-F238E27FC236}">
                <a16:creationId xmlns:a16="http://schemas.microsoft.com/office/drawing/2014/main" id="{93ECAD28-7C7F-374E-A3BE-634F78CC01A4}"/>
              </a:ext>
            </a:extLst>
          </p:cNvPr>
          <p:cNvSpPr/>
          <p:nvPr/>
        </p:nvSpPr>
        <p:spPr>
          <a:xfrm>
            <a:off x="241176" y="383198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燕尾形箭头 13">
            <a:extLst>
              <a:ext uri="{FF2B5EF4-FFF2-40B4-BE49-F238E27FC236}">
                <a16:creationId xmlns:a16="http://schemas.microsoft.com/office/drawing/2014/main" id="{353E3C37-4006-2E4E-BA21-5AC884AE2B24}"/>
              </a:ext>
            </a:extLst>
          </p:cNvPr>
          <p:cNvSpPr/>
          <p:nvPr/>
        </p:nvSpPr>
        <p:spPr>
          <a:xfrm>
            <a:off x="241176" y="5099592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燕尾形箭头 14">
            <a:extLst>
              <a:ext uri="{FF2B5EF4-FFF2-40B4-BE49-F238E27FC236}">
                <a16:creationId xmlns:a16="http://schemas.microsoft.com/office/drawing/2014/main" id="{B9A4408B-C6D2-5242-8A55-57482EA4C757}"/>
              </a:ext>
            </a:extLst>
          </p:cNvPr>
          <p:cNvSpPr/>
          <p:nvPr/>
        </p:nvSpPr>
        <p:spPr>
          <a:xfrm>
            <a:off x="241176" y="2812938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2480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99B88822-D30C-6349-B6F3-BEBD5BF8C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826" y="1330161"/>
            <a:ext cx="4973001" cy="438149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B6A3D27-AEDE-C042-9F62-32AEBD8A1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初始化</a:t>
            </a:r>
            <a:r>
              <a:rPr kumimoji="1" lang="en-US" altLang="zh-CN" dirty="0" err="1"/>
              <a:t>pmobject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736EE4-F1DE-0743-BEC4-142ACCFF3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A0D02DF4-2FAC-AC4C-A45C-73F2FC595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26" y="1336024"/>
            <a:ext cx="8229600" cy="4381499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设置类型和大小</a:t>
            </a:r>
            <a:endParaRPr kumimoji="1" lang="en-US" altLang="zh-CN" sz="2000" dirty="0"/>
          </a:p>
          <a:p>
            <a:r>
              <a:rPr kumimoji="1" lang="zh-CN" altLang="en-US" sz="2000" dirty="0"/>
              <a:t>根据类型执行具体初始化：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对于</a:t>
            </a:r>
            <a:r>
              <a:rPr kumimoji="1" lang="en-US" altLang="zh-CN" sz="1800" dirty="0"/>
              <a:t>PMO_DATA</a:t>
            </a:r>
            <a:r>
              <a:rPr kumimoji="1" lang="zh-CN" altLang="en-US" sz="1800" dirty="0"/>
              <a:t>类型，</a:t>
            </a:r>
            <a:br>
              <a:rPr kumimoji="1" lang="en-US" altLang="zh-CN" sz="1800" dirty="0"/>
            </a:br>
            <a:r>
              <a:rPr kumimoji="1" lang="zh-CN" altLang="en-US" sz="1800" dirty="0"/>
              <a:t>直接分配物理内存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对于</a:t>
            </a:r>
            <a:r>
              <a:rPr kumimoji="1" lang="en-US" altLang="zh-CN" sz="1800" dirty="0"/>
              <a:t>PMO_ANONYM</a:t>
            </a:r>
            <a:r>
              <a:rPr kumimoji="1" lang="zh-CN" altLang="en-US" sz="1800" dirty="0"/>
              <a:t>和</a:t>
            </a:r>
            <a:br>
              <a:rPr kumimoji="1" lang="en-US" altLang="zh-CN" sz="1800" dirty="0"/>
            </a:br>
            <a:r>
              <a:rPr kumimoji="1" lang="en-US" altLang="zh-CN" sz="1800" dirty="0"/>
              <a:t>PMO_SHM</a:t>
            </a:r>
            <a:r>
              <a:rPr kumimoji="1" lang="zh-CN" altLang="en-US" sz="1800" dirty="0"/>
              <a:t>类型，不会立</a:t>
            </a:r>
            <a:br>
              <a:rPr kumimoji="1" lang="en-US" altLang="zh-CN" sz="1800" dirty="0"/>
            </a:br>
            <a:r>
              <a:rPr kumimoji="1" lang="zh-CN" altLang="en-US" sz="1800" dirty="0"/>
              <a:t>即分配物理内存，而只是</a:t>
            </a:r>
            <a:br>
              <a:rPr kumimoji="1" lang="en-US" altLang="zh-CN" sz="1800" dirty="0"/>
            </a:br>
            <a:r>
              <a:rPr kumimoji="1" lang="zh-CN" altLang="en-US" sz="1800" dirty="0"/>
              <a:t>创建</a:t>
            </a:r>
            <a:r>
              <a:rPr kumimoji="1" lang="en-US" altLang="zh-CN" sz="1800" dirty="0" err="1"/>
              <a:t>radix_tree</a:t>
            </a:r>
            <a:r>
              <a:rPr kumimoji="1" lang="zh-CN" altLang="en-US" sz="1800" dirty="0"/>
              <a:t>。将来按需</a:t>
            </a:r>
            <a:br>
              <a:rPr kumimoji="1" lang="en-US" altLang="zh-CN" sz="1800" dirty="0"/>
            </a:br>
            <a:r>
              <a:rPr kumimoji="1" lang="zh-CN" altLang="en-US" sz="1800" dirty="0"/>
              <a:t>分配的物理内存将被记录</a:t>
            </a:r>
            <a:br>
              <a:rPr kumimoji="1" lang="en-US" altLang="zh-CN" sz="1800" dirty="0"/>
            </a:br>
            <a:r>
              <a:rPr kumimoji="1" lang="zh-CN" altLang="en-US" sz="1800" dirty="0"/>
              <a:t>在这个树中。</a:t>
            </a:r>
            <a:br>
              <a:rPr kumimoji="1" lang="en-US" altLang="zh-CN" sz="1800" dirty="0"/>
            </a:br>
            <a:br>
              <a:rPr kumimoji="1" lang="en-US" altLang="zh-CN" sz="1800" dirty="0"/>
            </a:br>
            <a:endParaRPr kumimoji="1" lang="en-US" altLang="zh-CN" sz="1800" dirty="0"/>
          </a:p>
        </p:txBody>
      </p:sp>
      <p:sp>
        <p:nvSpPr>
          <p:cNvPr id="9" name="燕尾形箭头 8">
            <a:extLst>
              <a:ext uri="{FF2B5EF4-FFF2-40B4-BE49-F238E27FC236}">
                <a16:creationId xmlns:a16="http://schemas.microsoft.com/office/drawing/2014/main" id="{F684C01D-BB96-A848-B000-622163892A4F}"/>
              </a:ext>
            </a:extLst>
          </p:cNvPr>
          <p:cNvSpPr/>
          <p:nvPr/>
        </p:nvSpPr>
        <p:spPr>
          <a:xfrm>
            <a:off x="3767778" y="3145532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BBE8E28E-DDEC-5247-B187-4C8578BE7195}"/>
              </a:ext>
            </a:extLst>
          </p:cNvPr>
          <p:cNvSpPr/>
          <p:nvPr/>
        </p:nvSpPr>
        <p:spPr>
          <a:xfrm>
            <a:off x="3767778" y="4378976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91019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5">
            <a:extLst>
              <a:ext uri="{FF2B5EF4-FFF2-40B4-BE49-F238E27FC236}">
                <a16:creationId xmlns:a16="http://schemas.microsoft.com/office/drawing/2014/main" id="{6B9C70D0-1773-9849-A41F-498950F74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596" y="1390488"/>
            <a:ext cx="5334404" cy="409564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6D09B95-B3F8-9347-8294-B3E8DFE4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将</a:t>
            </a:r>
            <a:r>
              <a:rPr kumimoji="1" lang="en-US" altLang="zh-CN" dirty="0" err="1"/>
              <a:t>pmobject</a:t>
            </a:r>
            <a:r>
              <a:rPr kumimoji="1" lang="zh-CN" altLang="en-US" dirty="0"/>
              <a:t>映射到地址空间中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70B54-3E3E-5A43-9A93-72910F2D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FF578057-0C2E-3C47-9662-0B61A2D54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352745"/>
            <a:ext cx="822960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zh-CN" sz="2000" dirty="0"/>
          </a:p>
          <a:p>
            <a:r>
              <a:rPr kumimoji="1" lang="en-US" altLang="zh-CN" sz="2000" dirty="0" err="1"/>
              <a:t>vmspace_map_range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分配</a:t>
            </a:r>
            <a:r>
              <a:rPr kumimoji="1" lang="en-US" altLang="zh-CN" sz="1800" dirty="0" err="1"/>
              <a:t>vmregion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初始化</a:t>
            </a:r>
            <a:r>
              <a:rPr kumimoji="1" lang="en-US" altLang="zh-CN" sz="1800" dirty="0" err="1"/>
              <a:t>vmregion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将</a:t>
            </a:r>
            <a:r>
              <a:rPr kumimoji="1" lang="en-US" altLang="zh-CN" sz="1800" dirty="0" err="1"/>
              <a:t>vmregion</a:t>
            </a:r>
            <a:r>
              <a:rPr kumimoji="1" lang="zh-CN" altLang="en-US" sz="1800" dirty="0"/>
              <a:t>加入</a:t>
            </a:r>
            <a:r>
              <a:rPr kumimoji="1" lang="en-US" altLang="zh-CN" sz="1800" dirty="0" err="1"/>
              <a:t>vmspace</a:t>
            </a:r>
            <a:endParaRPr kumimoji="1" lang="en-US" altLang="zh-CN" sz="1800" dirty="0"/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1C14506E-8578-F246-95E0-D2712B07C92C}"/>
              </a:ext>
            </a:extLst>
          </p:cNvPr>
          <p:cNvSpPr/>
          <p:nvPr/>
        </p:nvSpPr>
        <p:spPr>
          <a:xfrm>
            <a:off x="3419872" y="249746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燕尾形箭头 10">
            <a:extLst>
              <a:ext uri="{FF2B5EF4-FFF2-40B4-BE49-F238E27FC236}">
                <a16:creationId xmlns:a16="http://schemas.microsoft.com/office/drawing/2014/main" id="{E2169DDA-12F6-D64C-9AF8-860AF9B2D076}"/>
              </a:ext>
            </a:extLst>
          </p:cNvPr>
          <p:cNvSpPr/>
          <p:nvPr/>
        </p:nvSpPr>
        <p:spPr>
          <a:xfrm>
            <a:off x="3419872" y="5165314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60109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E5679-BBD6-8144-BE37-804437A4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将</a:t>
            </a:r>
            <a:r>
              <a:rPr kumimoji="1" lang="en-US" altLang="zh-CN" dirty="0" err="1"/>
              <a:t>vmregion</a:t>
            </a:r>
            <a:r>
              <a:rPr kumimoji="1" lang="zh-CN" altLang="en-US" dirty="0"/>
              <a:t>加入到</a:t>
            </a:r>
            <a:r>
              <a:rPr kumimoji="1" lang="en-US" altLang="zh-CN" dirty="0" err="1"/>
              <a:t>vmspace</a:t>
            </a:r>
            <a:r>
              <a:rPr kumimoji="1" lang="zh-CN" altLang="en-US" dirty="0"/>
              <a:t>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184A25-85E2-804D-8F44-3BBB28B24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9BD7FCF-9203-0E45-B6BB-D1AC88584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检查</a:t>
            </a:r>
            <a:r>
              <a:rPr kumimoji="1" lang="en-US" altLang="zh-CN" sz="2400" dirty="0" err="1"/>
              <a:t>vmregion</a:t>
            </a:r>
            <a:r>
              <a:rPr kumimoji="1" lang="zh-CN" altLang="en-US" sz="2400" dirty="0"/>
              <a:t>是否合法，然后加入链表</a:t>
            </a:r>
            <a:endParaRPr kumimoji="1" lang="zh-CN" altLang="en-US" dirty="0"/>
          </a:p>
        </p:txBody>
      </p:sp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335CE59A-72DB-934B-8F70-5DAF8C352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135802"/>
            <a:ext cx="7287380" cy="3065248"/>
          </a:xfrm>
          <a:prstGeom prst="rect">
            <a:avLst/>
          </a:prstGeom>
        </p:spPr>
      </p:pic>
      <p:sp>
        <p:nvSpPr>
          <p:cNvPr id="9" name="燕尾形箭头 8">
            <a:extLst>
              <a:ext uri="{FF2B5EF4-FFF2-40B4-BE49-F238E27FC236}">
                <a16:creationId xmlns:a16="http://schemas.microsoft.com/office/drawing/2014/main" id="{5BD7B5A1-012A-5944-B762-A705DAC60E6E}"/>
              </a:ext>
            </a:extLst>
          </p:cNvPr>
          <p:cNvSpPr/>
          <p:nvPr/>
        </p:nvSpPr>
        <p:spPr>
          <a:xfrm>
            <a:off x="611560" y="357758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ADF3055F-367E-F04A-B989-3414B7CCFDB7}"/>
              </a:ext>
            </a:extLst>
          </p:cNvPr>
          <p:cNvSpPr/>
          <p:nvPr/>
        </p:nvSpPr>
        <p:spPr>
          <a:xfrm>
            <a:off x="611560" y="465770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33417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09B95-B3F8-9347-8294-B3E8DFE4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Cont. </a:t>
            </a:r>
            <a:r>
              <a:rPr kumimoji="1" lang="zh-CN" altLang="en-US" dirty="0"/>
              <a:t>将</a:t>
            </a:r>
            <a:r>
              <a:rPr kumimoji="1" lang="en-US" altLang="zh-CN" dirty="0" err="1"/>
              <a:t>pmobject</a:t>
            </a:r>
            <a:r>
              <a:rPr kumimoji="1" lang="zh-CN" altLang="en-US" dirty="0"/>
              <a:t>映射到地址空间中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970B54-3E3E-5A43-9A93-72910F2D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FF578057-0C2E-3C47-9662-0B61A2D54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352745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sz="2000" dirty="0" err="1"/>
              <a:t>vmspace_map_range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>
                <a:solidFill>
                  <a:schemeClr val="bg1">
                    <a:lumMod val="65000"/>
                  </a:schemeClr>
                </a:solidFill>
              </a:rPr>
              <a:t>分配</a:t>
            </a:r>
            <a:r>
              <a:rPr kumimoji="1" lang="en-US" altLang="zh-CN" sz="1800" dirty="0" err="1">
                <a:solidFill>
                  <a:schemeClr val="bg1">
                    <a:lumMod val="65000"/>
                  </a:schemeClr>
                </a:solidFill>
              </a:rPr>
              <a:t>vmregion</a:t>
            </a:r>
            <a:endParaRPr kumimoji="1" lang="en-US" altLang="zh-CN" sz="1800" dirty="0">
              <a:solidFill>
                <a:schemeClr val="bg1">
                  <a:lumMod val="65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>
                <a:solidFill>
                  <a:schemeClr val="bg1">
                    <a:lumMod val="65000"/>
                  </a:schemeClr>
                </a:solidFill>
              </a:rPr>
              <a:t>初始化</a:t>
            </a:r>
            <a:r>
              <a:rPr kumimoji="1" lang="en-US" altLang="zh-CN" sz="1800" dirty="0" err="1">
                <a:solidFill>
                  <a:schemeClr val="bg1">
                    <a:lumMod val="65000"/>
                  </a:schemeClr>
                </a:solidFill>
              </a:rPr>
              <a:t>vmregion</a:t>
            </a:r>
            <a:endParaRPr kumimoji="1" lang="en-US" altLang="zh-CN" sz="1800" dirty="0">
              <a:solidFill>
                <a:schemeClr val="bg1">
                  <a:lumMod val="65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>
                <a:solidFill>
                  <a:schemeClr val="bg1">
                    <a:lumMod val="65000"/>
                  </a:schemeClr>
                </a:solidFill>
              </a:rPr>
              <a:t>将</a:t>
            </a:r>
            <a:r>
              <a:rPr kumimoji="1" lang="en-US" altLang="zh-CN" sz="1800" dirty="0" err="1">
                <a:solidFill>
                  <a:schemeClr val="bg1">
                    <a:lumMod val="65000"/>
                  </a:schemeClr>
                </a:solidFill>
              </a:rPr>
              <a:t>vmregion</a:t>
            </a:r>
            <a:r>
              <a:rPr kumimoji="1" lang="zh-CN" altLang="en-US" sz="1800" dirty="0">
                <a:solidFill>
                  <a:schemeClr val="bg1">
                    <a:lumMod val="65000"/>
                  </a:schemeClr>
                </a:solidFill>
              </a:rPr>
              <a:t>加入</a:t>
            </a:r>
            <a:br>
              <a:rPr kumimoji="1" lang="en-US" altLang="zh-CN" sz="1800" dirty="0">
                <a:solidFill>
                  <a:schemeClr val="bg1">
                    <a:lumMod val="65000"/>
                  </a:schemeClr>
                </a:solidFill>
              </a:rPr>
            </a:br>
            <a:r>
              <a:rPr kumimoji="1" lang="en-US" altLang="zh-CN" sz="1800" dirty="0" err="1">
                <a:solidFill>
                  <a:schemeClr val="bg1">
                    <a:lumMod val="65000"/>
                  </a:schemeClr>
                </a:solidFill>
              </a:rPr>
              <a:t>vmspace</a:t>
            </a:r>
            <a:endParaRPr kumimoji="1" lang="en-US" altLang="zh-CN" sz="1800" dirty="0">
              <a:solidFill>
                <a:schemeClr val="bg1">
                  <a:lumMod val="65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当</a:t>
            </a:r>
            <a:r>
              <a:rPr kumimoji="1" lang="en-US" altLang="zh-CN" sz="1800" dirty="0" err="1"/>
              <a:t>pmobject</a:t>
            </a:r>
            <a:r>
              <a:rPr kumimoji="1" lang="zh-CN" altLang="en-US" sz="1800" dirty="0"/>
              <a:t>已经分配好</a:t>
            </a:r>
            <a:br>
              <a:rPr kumimoji="1" lang="en-US" altLang="zh-CN" sz="1800" dirty="0"/>
            </a:br>
            <a:r>
              <a:rPr kumimoji="1" lang="zh-CN" altLang="en-US" sz="1800" dirty="0"/>
              <a:t>物理内存了，</a:t>
            </a:r>
            <a:br>
              <a:rPr kumimoji="1" lang="en-US" altLang="zh-CN" sz="1800" dirty="0"/>
            </a:br>
            <a:r>
              <a:rPr kumimoji="1" lang="zh-CN" altLang="en-US" sz="1800" dirty="0"/>
              <a:t>那么就直接填写页表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endParaRPr kumimoji="1" lang="en-US" altLang="zh-CN" sz="1800" dirty="0"/>
          </a:p>
        </p:txBody>
      </p:sp>
      <p:sp>
        <p:nvSpPr>
          <p:cNvPr id="12" name="燕尾形箭头 11">
            <a:extLst>
              <a:ext uri="{FF2B5EF4-FFF2-40B4-BE49-F238E27FC236}">
                <a16:creationId xmlns:a16="http://schemas.microsoft.com/office/drawing/2014/main" id="{02F1F403-5E32-DA4D-9E74-9FCF92005452}"/>
              </a:ext>
            </a:extLst>
          </p:cNvPr>
          <p:cNvSpPr/>
          <p:nvPr/>
        </p:nvSpPr>
        <p:spPr>
          <a:xfrm>
            <a:off x="3131840" y="3793604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DE71ED7-88B2-9E4C-A0BB-9D40A33E8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7" y="1585079"/>
            <a:ext cx="5580113" cy="235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973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3A91F-DA4F-4C48-993D-B95FBC37D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示例：如何填写页表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F15B3E-BF04-434D-9588-76B2CB91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8" name="燕尾形箭头 7">
            <a:extLst>
              <a:ext uri="{FF2B5EF4-FFF2-40B4-BE49-F238E27FC236}">
                <a16:creationId xmlns:a16="http://schemas.microsoft.com/office/drawing/2014/main" id="{076D1EA1-64E3-7E4C-B698-4136C3C1F2DC}"/>
              </a:ext>
            </a:extLst>
          </p:cNvPr>
          <p:cNvSpPr/>
          <p:nvPr/>
        </p:nvSpPr>
        <p:spPr>
          <a:xfrm>
            <a:off x="548227" y="429766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694E45BF-B370-8242-BCF0-E6D294BCC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调用体系结构相关的页表填写函数</a:t>
            </a:r>
            <a:endParaRPr kumimoji="1" lang="zh-CN" altLang="en-US" dirty="0"/>
          </a:p>
        </p:txBody>
      </p:sp>
      <p:pic>
        <p:nvPicPr>
          <p:cNvPr id="10" name="内容占位符 6">
            <a:extLst>
              <a:ext uri="{FF2B5EF4-FFF2-40B4-BE49-F238E27FC236}">
                <a16:creationId xmlns:a16="http://schemas.microsoft.com/office/drawing/2014/main" id="{4B54B7DB-1C7A-0F4C-96F5-D316C1E30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84" y="1905300"/>
            <a:ext cx="7797552" cy="339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7110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2FF9B-8C99-8C4A-BB02-1B8F536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填写页表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E29FA3-29B4-7046-B799-59A10BE7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516D7E97-E88F-1F4B-8B82-E311D52CD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拿到页表基地址、计算映射多少内存页；</a:t>
            </a:r>
            <a:r>
              <a:rPr kumimoji="1" lang="en-US" altLang="zh-CN" sz="2000" dirty="0" err="1"/>
              <a:t>ptp_t</a:t>
            </a:r>
            <a:r>
              <a:rPr kumimoji="1" lang="en-US" altLang="zh-CN" sz="2000" dirty="0"/>
              <a:t> </a:t>
            </a:r>
            <a:r>
              <a:rPr kumimoji="1" lang="zh-CN" altLang="en-US" sz="2000" dirty="0"/>
              <a:t>是页表页类型</a:t>
            </a:r>
            <a:endParaRPr kumimoji="1" lang="en-US" altLang="zh-CN" sz="2000" dirty="0"/>
          </a:p>
        </p:txBody>
      </p:sp>
      <p:pic>
        <p:nvPicPr>
          <p:cNvPr id="12" name="内容占位符 9">
            <a:extLst>
              <a:ext uri="{FF2B5EF4-FFF2-40B4-BE49-F238E27FC236}">
                <a16:creationId xmlns:a16="http://schemas.microsoft.com/office/drawing/2014/main" id="{DEBF6D35-5F3C-E34A-8F83-52774126C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846" y="2156877"/>
            <a:ext cx="6260308" cy="316512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99BC6BC-CAC9-C04C-B58E-0F58E9396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488650"/>
            <a:ext cx="2699792" cy="827356"/>
          </a:xfrm>
          <a:prstGeom prst="rect">
            <a:avLst/>
          </a:prstGeom>
        </p:spPr>
      </p:pic>
      <p:sp>
        <p:nvSpPr>
          <p:cNvPr id="17" name="燕尾形箭头 16">
            <a:extLst>
              <a:ext uri="{FF2B5EF4-FFF2-40B4-BE49-F238E27FC236}">
                <a16:creationId xmlns:a16="http://schemas.microsoft.com/office/drawing/2014/main" id="{FEE96389-FC45-5446-A877-E191F5F771CD}"/>
              </a:ext>
            </a:extLst>
          </p:cNvPr>
          <p:cNvSpPr/>
          <p:nvPr/>
        </p:nvSpPr>
        <p:spPr>
          <a:xfrm>
            <a:off x="1009798" y="2929508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燕尾形箭头 17">
            <a:extLst>
              <a:ext uri="{FF2B5EF4-FFF2-40B4-BE49-F238E27FC236}">
                <a16:creationId xmlns:a16="http://schemas.microsoft.com/office/drawing/2014/main" id="{FC8F5796-16A5-EB4B-8D73-B022BDB4B425}"/>
              </a:ext>
            </a:extLst>
          </p:cNvPr>
          <p:cNvSpPr/>
          <p:nvPr/>
        </p:nvSpPr>
        <p:spPr>
          <a:xfrm>
            <a:off x="1009798" y="3873306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燕尾形箭头 18">
            <a:extLst>
              <a:ext uri="{FF2B5EF4-FFF2-40B4-BE49-F238E27FC236}">
                <a16:creationId xmlns:a16="http://schemas.microsoft.com/office/drawing/2014/main" id="{DEDA13A9-719A-C54B-BE00-B5EA38AF312A}"/>
              </a:ext>
            </a:extLst>
          </p:cNvPr>
          <p:cNvSpPr/>
          <p:nvPr/>
        </p:nvSpPr>
        <p:spPr>
          <a:xfrm>
            <a:off x="1009798" y="4209228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29767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69939D2-FC66-904E-910C-BE6902B94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735988"/>
            <a:ext cx="4932040" cy="497901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232FF9B-8C99-8C4A-BB02-1B8F536A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Cont. </a:t>
            </a:r>
            <a:r>
              <a:rPr kumimoji="1" lang="zh-CN" altLang="en-US" dirty="0"/>
              <a:t>填写页表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E29FA3-29B4-7046-B799-59A10BE7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516D7E97-E88F-1F4B-8B82-E311D52CD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 err="1"/>
              <a:t>get_next_ptp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逐级遍历页表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true</a:t>
            </a:r>
            <a:r>
              <a:rPr kumimoji="1" lang="zh-CN" altLang="en-US" sz="1800" dirty="0"/>
              <a:t>表示如果没有相应的</a:t>
            </a:r>
            <a:br>
              <a:rPr kumimoji="1" lang="en-US" altLang="zh-CN" sz="1800" dirty="0"/>
            </a:br>
            <a:r>
              <a:rPr kumimoji="1" lang="zh-CN" altLang="en-US" sz="1800" dirty="0"/>
              <a:t>页表页，则分配之</a:t>
            </a:r>
            <a:endParaRPr kumimoji="1" lang="en-US" altLang="zh-CN" sz="1800" dirty="0"/>
          </a:p>
          <a:p>
            <a:r>
              <a:rPr kumimoji="1" lang="zh-CN" altLang="en-US" sz="1800" dirty="0"/>
              <a:t>在第</a:t>
            </a:r>
            <a:r>
              <a:rPr kumimoji="1" lang="en-US" altLang="zh-CN" sz="1800" dirty="0"/>
              <a:t>3</a:t>
            </a:r>
            <a:r>
              <a:rPr kumimoji="1" lang="zh-CN" altLang="en-US" sz="1800" dirty="0"/>
              <a:t>级页表页中填写</a:t>
            </a:r>
            <a:br>
              <a:rPr kumimoji="1" lang="en-US" altLang="zh-CN" sz="1800" dirty="0"/>
            </a:br>
            <a:r>
              <a:rPr kumimoji="1" lang="zh-CN" altLang="en-US" sz="1800" dirty="0"/>
              <a:t>页表项（地址映射和权限）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每项代表一个</a:t>
            </a:r>
            <a:r>
              <a:rPr kumimoji="1" lang="en-US" altLang="zh-CN" sz="1800" dirty="0"/>
              <a:t>4K</a:t>
            </a:r>
            <a:r>
              <a:rPr kumimoji="1" lang="zh-CN" altLang="en-US" sz="1800" dirty="0"/>
              <a:t>页</a:t>
            </a:r>
            <a:endParaRPr kumimoji="1" lang="en-US" altLang="zh-CN" sz="1800" dirty="0"/>
          </a:p>
          <a:p>
            <a:endParaRPr kumimoji="1" lang="en-US" altLang="zh-CN" sz="2000" dirty="0"/>
          </a:p>
        </p:txBody>
      </p:sp>
      <p:sp>
        <p:nvSpPr>
          <p:cNvPr id="9" name="燕尾形箭头 8">
            <a:extLst>
              <a:ext uri="{FF2B5EF4-FFF2-40B4-BE49-F238E27FC236}">
                <a16:creationId xmlns:a16="http://schemas.microsoft.com/office/drawing/2014/main" id="{03285D10-E5D4-7846-A604-7F41CD439610}"/>
              </a:ext>
            </a:extLst>
          </p:cNvPr>
          <p:cNvSpPr/>
          <p:nvPr/>
        </p:nvSpPr>
        <p:spPr>
          <a:xfrm>
            <a:off x="3779912" y="105730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A01E5991-53DD-FE47-9630-8FA4B92413DD}"/>
              </a:ext>
            </a:extLst>
          </p:cNvPr>
          <p:cNvSpPr/>
          <p:nvPr/>
        </p:nvSpPr>
        <p:spPr>
          <a:xfrm>
            <a:off x="3779912" y="1599927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燕尾形箭头 12">
            <a:extLst>
              <a:ext uri="{FF2B5EF4-FFF2-40B4-BE49-F238E27FC236}">
                <a16:creationId xmlns:a16="http://schemas.microsoft.com/office/drawing/2014/main" id="{36A7878B-C4E6-694A-B7E1-1A3AB8B1E34A}"/>
              </a:ext>
            </a:extLst>
          </p:cNvPr>
          <p:cNvSpPr/>
          <p:nvPr/>
        </p:nvSpPr>
        <p:spPr>
          <a:xfrm>
            <a:off x="3779912" y="2179057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燕尾形箭头 13">
            <a:extLst>
              <a:ext uri="{FF2B5EF4-FFF2-40B4-BE49-F238E27FC236}">
                <a16:creationId xmlns:a16="http://schemas.microsoft.com/office/drawing/2014/main" id="{EFA22003-746A-8D4A-BAC3-845A47F9AD00}"/>
              </a:ext>
            </a:extLst>
          </p:cNvPr>
          <p:cNvSpPr/>
          <p:nvPr/>
        </p:nvSpPr>
        <p:spPr>
          <a:xfrm>
            <a:off x="3779912" y="3978516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燕尾形箭头 14">
            <a:extLst>
              <a:ext uri="{FF2B5EF4-FFF2-40B4-BE49-F238E27FC236}">
                <a16:creationId xmlns:a16="http://schemas.microsoft.com/office/drawing/2014/main" id="{3248A6EE-98DC-5B44-BB8E-E631604DED13}"/>
              </a:ext>
            </a:extLst>
          </p:cNvPr>
          <p:cNvSpPr/>
          <p:nvPr/>
        </p:nvSpPr>
        <p:spPr>
          <a:xfrm>
            <a:off x="3779912" y="4146436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04463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20A08796-2E75-EE4C-B2BF-8FF30BD96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007" y="1032482"/>
            <a:ext cx="5098993" cy="445365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37A9C2A-F37D-0E4A-95AA-34EC0EFAF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设置页表项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CB63CD-2D2A-F54C-B08A-0CB8B16C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9EC63BC-1D10-8046-B9BA-0665A442E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altLang="zh-CN" dirty="0"/>
              <a:t>AP</a:t>
            </a:r>
          </a:p>
          <a:p>
            <a:pPr lvl="1"/>
            <a:r>
              <a:rPr kumimoji="1" lang="zh-CN" altLang="en-US" dirty="0"/>
              <a:t>标记读写权限</a:t>
            </a:r>
            <a:endParaRPr kumimoji="1" lang="en-US" altLang="zh-CN" dirty="0"/>
          </a:p>
          <a:p>
            <a:r>
              <a:rPr kumimoji="1" lang="en-US" altLang="zh-CN" dirty="0"/>
              <a:t>UXN/PXN</a:t>
            </a:r>
          </a:p>
          <a:p>
            <a:pPr lvl="1"/>
            <a:r>
              <a:rPr kumimoji="1" lang="zh-CN" altLang="en-US" dirty="0"/>
              <a:t>标记执行权限</a:t>
            </a:r>
            <a:endParaRPr kumimoji="1" lang="en-US" altLang="zh-CN" dirty="0"/>
          </a:p>
          <a:p>
            <a:r>
              <a:rPr kumimoji="1" lang="en-US" altLang="zh-CN" dirty="0"/>
              <a:t>AF</a:t>
            </a:r>
          </a:p>
          <a:p>
            <a:pPr lvl="1"/>
            <a:r>
              <a:rPr kumimoji="1" lang="zh-CN" altLang="en-US" dirty="0"/>
              <a:t>标记是否访问过</a:t>
            </a:r>
            <a:endParaRPr kumimoji="1" lang="en-US" altLang="zh-CN" dirty="0"/>
          </a:p>
          <a:p>
            <a:r>
              <a:rPr kumimoji="1" lang="en-US" altLang="zh-CN" dirty="0"/>
              <a:t>SH</a:t>
            </a:r>
          </a:p>
          <a:p>
            <a:pPr lvl="1"/>
            <a:r>
              <a:rPr kumimoji="1" lang="zh-CN" altLang="en-US" dirty="0"/>
              <a:t>标记内存一致性</a:t>
            </a:r>
            <a:endParaRPr kumimoji="1" lang="en-US" altLang="zh-CN" dirty="0"/>
          </a:p>
          <a:p>
            <a:r>
              <a:rPr kumimoji="1" lang="en-US" altLang="zh-CN" dirty="0" err="1"/>
              <a:t>Attr_index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标记内存类型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13096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6D286-4042-8849-BAFC-1B86D458B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L3</a:t>
            </a:r>
            <a:r>
              <a:rPr kumimoji="1" lang="zh-CN" altLang="en-US" dirty="0"/>
              <a:t>页表项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E0F1B79-1F91-D648-AD93-E75E76724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31" y="1333500"/>
            <a:ext cx="7357938" cy="37719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DCFDDE-1B3C-E94C-9EC5-C6026FDD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3757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32D18-A1AE-184F-AF81-89138438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缺页异常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1CB0A8-269B-AC42-8BD9-8E00F3FCC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基于缺页异常，实现按需分配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例如，访问</a:t>
            </a:r>
            <a:r>
              <a:rPr kumimoji="1" lang="en-US" altLang="zh-CN" dirty="0"/>
              <a:t>PMO_ANONYM</a:t>
            </a:r>
            <a:r>
              <a:rPr kumimoji="1" lang="zh-CN" altLang="en-US" dirty="0"/>
              <a:t>映射的区域会触发缺页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位）用户态程序发生缺页时下陷到内核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aarch64</a:t>
            </a:r>
            <a:r>
              <a:rPr kumimoji="1" lang="zh-CN" altLang="en-US" dirty="0"/>
              <a:t>上，触发</a:t>
            </a:r>
            <a:r>
              <a:rPr kumimoji="1" lang="en-US" altLang="zh-CN" dirty="0"/>
              <a:t>64</a:t>
            </a:r>
            <a:r>
              <a:rPr kumimoji="1" lang="zh-CN" altLang="en-US" dirty="0"/>
              <a:t>位</a:t>
            </a:r>
            <a:r>
              <a:rPr kumimoji="1" lang="en-US" altLang="zh-CN" dirty="0"/>
              <a:t>EL0</a:t>
            </a:r>
            <a:r>
              <a:rPr kumimoji="1" lang="zh-CN" altLang="en-US" dirty="0"/>
              <a:t>同步异常 （异常号</a:t>
            </a:r>
            <a:r>
              <a:rPr kumimoji="1" lang="en-US" altLang="zh-CN" dirty="0"/>
              <a:t>8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同时错误状态寄存器（</a:t>
            </a:r>
            <a:r>
              <a:rPr kumimoji="1" lang="en-US" altLang="zh-CN" dirty="0"/>
              <a:t>ESR</a:t>
            </a:r>
            <a:r>
              <a:rPr kumimoji="1" lang="zh-CN" altLang="en-US" dirty="0"/>
              <a:t>）中的错误代码（</a:t>
            </a:r>
            <a:r>
              <a:rPr kumimoji="1" lang="en-US" altLang="zh-CN" dirty="0"/>
              <a:t>EC</a:t>
            </a:r>
            <a:r>
              <a:rPr kumimoji="1" lang="zh-CN" altLang="en-US" dirty="0"/>
              <a:t>）是</a:t>
            </a:r>
            <a:br>
              <a:rPr kumimoji="1" lang="en-US" altLang="zh-CN" dirty="0"/>
            </a:br>
            <a:r>
              <a:rPr kumimoji="1" lang="en-US" altLang="zh-CN" dirty="0"/>
              <a:t>ESR_EL1_EC_DABT_LEL</a:t>
            </a:r>
            <a:r>
              <a:rPr kumimoji="1" lang="zh-CN" altLang="en-US" dirty="0"/>
              <a:t> 或 </a:t>
            </a:r>
            <a:r>
              <a:rPr kumimoji="1" lang="en-US" altLang="zh-CN" dirty="0"/>
              <a:t>ESR_EL1_EC_IABT_LEL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491030-E5EC-2B48-BCC6-761CBBBEC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42A840-D915-FA4E-9784-17164250A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3" y="5017751"/>
            <a:ext cx="8871654" cy="36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718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2A93B8-F964-FC47-91B7-87313E60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缺页异常处理函数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43FA74-DBFE-D240-A82D-93A29022A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获取触发缺页的地址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aarch64: far_el1</a:t>
            </a:r>
          </a:p>
          <a:p>
            <a:r>
              <a:rPr kumimoji="1" lang="zh-CN" altLang="en-US" sz="2000" dirty="0"/>
              <a:t>根据</a:t>
            </a:r>
            <a:r>
              <a:rPr kumimoji="1" lang="en-US" altLang="zh-CN" sz="2000" dirty="0"/>
              <a:t>ESR</a:t>
            </a:r>
            <a:r>
              <a:rPr kumimoji="1" lang="zh-CN" altLang="en-US" sz="2000" dirty="0"/>
              <a:t>中错误状态码</a:t>
            </a:r>
            <a:br>
              <a:rPr kumimoji="1" lang="en-US" altLang="zh-CN" sz="2000" dirty="0"/>
            </a:br>
            <a:r>
              <a:rPr kumimoji="1" lang="zh-CN" altLang="en-US" sz="2000" dirty="0"/>
              <a:t>具体处理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翻译错误 （无映射）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权限错误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F37C91-0651-9441-AAF2-9902CD70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F15256-ECAE-F64A-9833-7BBEA76C8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170" y="1250509"/>
            <a:ext cx="5270830" cy="393762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70AC1F2-D2DF-AB49-AF5B-4DA51E782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25340"/>
            <a:ext cx="4355976" cy="992390"/>
          </a:xfrm>
          <a:prstGeom prst="rect">
            <a:avLst/>
          </a:prstGeom>
        </p:spPr>
      </p:pic>
      <p:sp>
        <p:nvSpPr>
          <p:cNvPr id="9" name="燕尾形箭头 8">
            <a:extLst>
              <a:ext uri="{FF2B5EF4-FFF2-40B4-BE49-F238E27FC236}">
                <a16:creationId xmlns:a16="http://schemas.microsoft.com/office/drawing/2014/main" id="{5CC4F1FD-B9DE-6A40-83E6-79D02AE5F364}"/>
              </a:ext>
            </a:extLst>
          </p:cNvPr>
          <p:cNvSpPr/>
          <p:nvPr/>
        </p:nvSpPr>
        <p:spPr>
          <a:xfrm>
            <a:off x="3491880" y="1921396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4EFE1B21-5B66-7B43-9C10-3086CE9C94C6}"/>
              </a:ext>
            </a:extLst>
          </p:cNvPr>
          <p:cNvSpPr/>
          <p:nvPr/>
        </p:nvSpPr>
        <p:spPr>
          <a:xfrm>
            <a:off x="3494883" y="2235625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85056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D1FB756-21A3-2545-BD9F-4F321981E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501" y="1360658"/>
            <a:ext cx="5781499" cy="434719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5B64BA8-6BBC-9C4F-BFE4-316F3BB3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处理按需分配导致的翻译错误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16510D-4306-4F4C-A4DD-C494DC7E3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找到出错地址属于的</a:t>
            </a:r>
            <a:br>
              <a:rPr kumimoji="1" lang="en-US" altLang="zh-CN" sz="2000" dirty="0"/>
            </a:br>
            <a:r>
              <a:rPr kumimoji="1" lang="en-US" altLang="zh-CN" sz="2000" dirty="0" err="1"/>
              <a:t>vmregion</a:t>
            </a:r>
            <a:endParaRPr kumimoji="1" lang="en-US" altLang="zh-CN" sz="2000" dirty="0"/>
          </a:p>
          <a:p>
            <a:r>
              <a:rPr kumimoji="1" lang="zh-CN" altLang="en-US" sz="2000" dirty="0"/>
              <a:t>拿到</a:t>
            </a:r>
            <a:r>
              <a:rPr kumimoji="1" lang="en-US" altLang="zh-CN" sz="2000" dirty="0" err="1"/>
              <a:t>vmregion</a:t>
            </a:r>
            <a:r>
              <a:rPr kumimoji="1" lang="zh-CN" altLang="en-US" sz="2000" dirty="0"/>
              <a:t>关联</a:t>
            </a:r>
            <a:br>
              <a:rPr kumimoji="1" lang="en-US" altLang="zh-CN" sz="2000" dirty="0"/>
            </a:br>
            <a:r>
              <a:rPr kumimoji="1" lang="zh-CN" altLang="en-US" sz="2000" dirty="0"/>
              <a:t>的</a:t>
            </a:r>
            <a:r>
              <a:rPr kumimoji="1" lang="en-US" altLang="zh-CN" sz="2000" dirty="0" err="1"/>
              <a:t>pmo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0A2655-AFF6-BD4F-8E84-6F93674B9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8" name="燕尾形箭头 7">
            <a:extLst>
              <a:ext uri="{FF2B5EF4-FFF2-40B4-BE49-F238E27FC236}">
                <a16:creationId xmlns:a16="http://schemas.microsoft.com/office/drawing/2014/main" id="{3967F623-F930-854B-B5C2-33442E77F099}"/>
              </a:ext>
            </a:extLst>
          </p:cNvPr>
          <p:cNvSpPr/>
          <p:nvPr/>
        </p:nvSpPr>
        <p:spPr>
          <a:xfrm>
            <a:off x="2963172" y="3937620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燕尾形箭头 8">
            <a:extLst>
              <a:ext uri="{FF2B5EF4-FFF2-40B4-BE49-F238E27FC236}">
                <a16:creationId xmlns:a16="http://schemas.microsoft.com/office/drawing/2014/main" id="{F99CB55E-ED9B-D042-B5F0-9B760B1D6D83}"/>
              </a:ext>
            </a:extLst>
          </p:cNvPr>
          <p:cNvSpPr/>
          <p:nvPr/>
        </p:nvSpPr>
        <p:spPr>
          <a:xfrm>
            <a:off x="2961947" y="5529225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006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64BA8-6BBC-9C4F-BFE4-316F3BB3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处理按需分配导致的翻译错误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16510D-4306-4F4C-A4DD-C494DC7E3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分配物理页</a:t>
            </a:r>
            <a:endParaRPr kumimoji="1" lang="en-US" altLang="zh-CN" sz="2000" dirty="0"/>
          </a:p>
          <a:p>
            <a:r>
              <a:rPr kumimoji="1" lang="zh-CN" altLang="en-US" sz="2000" dirty="0"/>
              <a:t>在</a:t>
            </a:r>
            <a:r>
              <a:rPr kumimoji="1" lang="en-US" altLang="zh-CN" sz="2000" dirty="0" err="1"/>
              <a:t>radix_tree</a:t>
            </a:r>
            <a:r>
              <a:rPr kumimoji="1" lang="zh-CN" altLang="en-US" sz="2000" dirty="0"/>
              <a:t>中记录</a:t>
            </a:r>
            <a:br>
              <a:rPr kumimoji="1" lang="en-US" altLang="zh-CN" sz="2000" dirty="0"/>
            </a:br>
            <a:r>
              <a:rPr kumimoji="1" lang="zh-CN" altLang="en-US" sz="2000" dirty="0"/>
              <a:t>物理页信息</a:t>
            </a:r>
            <a:endParaRPr kumimoji="1" lang="en-US" altLang="zh-CN" sz="2000" dirty="0"/>
          </a:p>
          <a:p>
            <a:r>
              <a:rPr kumimoji="1" lang="zh-CN" altLang="en-US" sz="2000" dirty="0"/>
              <a:t>在页表中添加映射</a:t>
            </a:r>
            <a:endParaRPr kumimoji="1" lang="en-US" altLang="zh-CN" sz="2000" dirty="0"/>
          </a:p>
          <a:p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0A2655-AFF6-BD4F-8E84-6F93674B9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29619C9-2B5B-2142-94CA-60B832186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249" y="1429708"/>
            <a:ext cx="5297751" cy="3675429"/>
          </a:xfrm>
          <a:prstGeom prst="rect">
            <a:avLst/>
          </a:prstGeom>
        </p:spPr>
      </p:pic>
      <p:sp>
        <p:nvSpPr>
          <p:cNvPr id="12" name="燕尾形箭头 11">
            <a:extLst>
              <a:ext uri="{FF2B5EF4-FFF2-40B4-BE49-F238E27FC236}">
                <a16:creationId xmlns:a16="http://schemas.microsoft.com/office/drawing/2014/main" id="{35ADDE22-8EE2-1543-8F26-99A4AFA91EAE}"/>
              </a:ext>
            </a:extLst>
          </p:cNvPr>
          <p:cNvSpPr/>
          <p:nvPr/>
        </p:nvSpPr>
        <p:spPr>
          <a:xfrm>
            <a:off x="3441240" y="2425452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燕尾形箭头 12">
            <a:extLst>
              <a:ext uri="{FF2B5EF4-FFF2-40B4-BE49-F238E27FC236}">
                <a16:creationId xmlns:a16="http://schemas.microsoft.com/office/drawing/2014/main" id="{28CD8796-E51A-DC40-B5FE-C47AEB08A8A9}"/>
              </a:ext>
            </a:extLst>
          </p:cNvPr>
          <p:cNvSpPr/>
          <p:nvPr/>
        </p:nvSpPr>
        <p:spPr>
          <a:xfrm>
            <a:off x="3435733" y="3589411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燕尾形箭头 13">
            <a:extLst>
              <a:ext uri="{FF2B5EF4-FFF2-40B4-BE49-F238E27FC236}">
                <a16:creationId xmlns:a16="http://schemas.microsoft.com/office/drawing/2014/main" id="{4AF82D1B-B53B-7145-9A7B-5DA7937BD2D0}"/>
              </a:ext>
            </a:extLst>
          </p:cNvPr>
          <p:cNvSpPr/>
          <p:nvPr/>
        </p:nvSpPr>
        <p:spPr>
          <a:xfrm>
            <a:off x="3435733" y="4381499"/>
            <a:ext cx="432048" cy="144016"/>
          </a:xfrm>
          <a:prstGeom prst="notch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19421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690480"/>
            <a:ext cx="568863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2DAE0F-646E-1454-4CEF-5897E12A133B}"/>
              </a:ext>
            </a:extLst>
          </p:cNvPr>
          <p:cNvSpPr txBox="1"/>
          <p:nvPr/>
        </p:nvSpPr>
        <p:spPr>
          <a:xfrm>
            <a:off x="7153247" y="44014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页表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D39186-87DA-5DBF-6870-EECA562C4127}"/>
              </a:ext>
            </a:extLst>
          </p:cNvPr>
          <p:cNvSpPr txBox="1"/>
          <p:nvPr/>
        </p:nvSpPr>
        <p:spPr>
          <a:xfrm>
            <a:off x="6674748" y="326365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虚拟内存区域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4B232E-3A3F-8B22-503A-4BA1070268D9}"/>
              </a:ext>
            </a:extLst>
          </p:cNvPr>
          <p:cNvSpPr txBox="1"/>
          <p:nvPr/>
        </p:nvSpPr>
        <p:spPr>
          <a:xfrm>
            <a:off x="2538941" y="326365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物理页结构体：实现分配、换页策略</a:t>
            </a:r>
          </a:p>
        </p:txBody>
      </p:sp>
    </p:spTree>
    <p:extLst>
      <p:ext uri="{BB962C8B-B14F-4D97-AF65-F5344CB8AC3E}">
        <p14:creationId xmlns:p14="http://schemas.microsoft.com/office/powerpoint/2010/main" val="650773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44061</TotalTime>
  <Words>3005</Words>
  <Application>Microsoft Macintosh PowerPoint</Application>
  <PresentationFormat>全屏显示(16:10)</PresentationFormat>
  <Paragraphs>379</Paragraphs>
  <Slides>54</Slides>
  <Notes>9</Notes>
  <HiddenSlides>1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59" baseType="lpstr">
      <vt:lpstr>DengXian</vt:lpstr>
      <vt:lpstr>微软雅黑</vt:lpstr>
      <vt:lpstr>Arial</vt:lpstr>
      <vt:lpstr>Calibri</vt:lpstr>
      <vt:lpstr>Office 主题​​</vt:lpstr>
      <vt:lpstr>物理内存管理-2</vt:lpstr>
      <vt:lpstr>版权声明</vt:lpstr>
      <vt:lpstr>物理内存管理</vt:lpstr>
      <vt:lpstr>Review：OS负责分配物理内存资源</vt:lpstr>
      <vt:lpstr>Review：伙伴系统（buddy system）</vt:lpstr>
      <vt:lpstr>Review：伙伴系统例子：分配15K内存</vt:lpstr>
      <vt:lpstr>Review：合并过程如何定位伙伴块</vt:lpstr>
      <vt:lpstr>Review：伙伴系统的代码实现</vt:lpstr>
      <vt:lpstr>突破物理内存容量限制</vt:lpstr>
      <vt:lpstr>场景-4：物理内存容量&lt;应用进程需求</vt:lpstr>
      <vt:lpstr>换页机制（Swapping）</vt:lpstr>
      <vt:lpstr>换页示例：换出与换入</vt:lpstr>
      <vt:lpstr>问题1. 如何判断缺页异常是由于换页引起的</vt:lpstr>
      <vt:lpstr>练习</vt:lpstr>
      <vt:lpstr>问题2：何时进行换出操作</vt:lpstr>
      <vt:lpstr>回顾：延迟映射 vs. 立即映射</vt:lpstr>
      <vt:lpstr>问题3：换页机制的代价</vt:lpstr>
      <vt:lpstr>问题4：如何选择换出的页</vt:lpstr>
      <vt:lpstr>理想的换页策略（OPT策略）</vt:lpstr>
      <vt:lpstr>FIFO策略</vt:lpstr>
      <vt:lpstr>Belady’s Anomaly</vt:lpstr>
      <vt:lpstr>Second Chance策略</vt:lpstr>
      <vt:lpstr>LRU策略</vt:lpstr>
      <vt:lpstr>时钟算法策略</vt:lpstr>
      <vt:lpstr>实现时钟算法</vt:lpstr>
      <vt:lpstr>页替换策略小结</vt:lpstr>
      <vt:lpstr>Thrashing Problem</vt:lpstr>
      <vt:lpstr>工作集模型（有效避免Thrashing）</vt:lpstr>
      <vt:lpstr>ChCore案例分析</vt:lpstr>
      <vt:lpstr>内核启动时启用虚拟内存</vt:lpstr>
      <vt:lpstr>虚拟内存抽象的核心数据结构</vt:lpstr>
      <vt:lpstr>进程虚拟地址空间 vmspace （图）</vt:lpstr>
      <vt:lpstr>进程虚拟地址区域 vmregion</vt:lpstr>
      <vt:lpstr>物理内存对象pmobject</vt:lpstr>
      <vt:lpstr>物理内存对象pmobject</vt:lpstr>
      <vt:lpstr>进程创建流程</vt:lpstr>
      <vt:lpstr>进程地址空间创建</vt:lpstr>
      <vt:lpstr>示例：为用户进程创建地址空间</vt:lpstr>
      <vt:lpstr>初始化vmspace</vt:lpstr>
      <vt:lpstr>示例：为第一个用户线程创建栈</vt:lpstr>
      <vt:lpstr>初始化pmobject</vt:lpstr>
      <vt:lpstr>将pmobject映射到地址空间中</vt:lpstr>
      <vt:lpstr>将vmregion加入到vmspace中</vt:lpstr>
      <vt:lpstr>Cont. 将pmobject映射到地址空间中</vt:lpstr>
      <vt:lpstr>示例：如何填写页表</vt:lpstr>
      <vt:lpstr>填写页表</vt:lpstr>
      <vt:lpstr>Cont. 填写页表</vt:lpstr>
      <vt:lpstr>设置页表项</vt:lpstr>
      <vt:lpstr>L3页表项</vt:lpstr>
      <vt:lpstr>缺页异常</vt:lpstr>
      <vt:lpstr>缺页异常处理函数</vt:lpstr>
      <vt:lpstr>处理按需分配导致的翻译错误</vt:lpstr>
      <vt:lpstr>处理按需分配导致的翻译错误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1752</cp:revision>
  <cp:lastPrinted>2016-06-13T07:55:34Z</cp:lastPrinted>
  <dcterms:created xsi:type="dcterms:W3CDTF">2017-11-24T09:35:45Z</dcterms:created>
  <dcterms:modified xsi:type="dcterms:W3CDTF">2024-06-14T15:19:41Z</dcterms:modified>
</cp:coreProperties>
</file>