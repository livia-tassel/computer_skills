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2" r:id="rId2"/>
  </p:sldMasterIdLst>
  <p:notesMasterIdLst>
    <p:notesMasterId r:id="rId63"/>
  </p:notesMasterIdLst>
  <p:handoutMasterIdLst>
    <p:handoutMasterId r:id="rId64"/>
  </p:handoutMasterIdLst>
  <p:sldIdLst>
    <p:sldId id="2604" r:id="rId3"/>
    <p:sldId id="1359" r:id="rId4"/>
    <p:sldId id="2611" r:id="rId5"/>
    <p:sldId id="2610" r:id="rId6"/>
    <p:sldId id="2613" r:id="rId7"/>
    <p:sldId id="2614" r:id="rId8"/>
    <p:sldId id="2590" r:id="rId9"/>
    <p:sldId id="2240" r:id="rId10"/>
    <p:sldId id="1371" r:id="rId11"/>
    <p:sldId id="2632" r:id="rId12"/>
    <p:sldId id="2633" r:id="rId13"/>
    <p:sldId id="2634" r:id="rId14"/>
    <p:sldId id="2233" r:id="rId15"/>
    <p:sldId id="2635" r:id="rId16"/>
    <p:sldId id="2251" r:id="rId17"/>
    <p:sldId id="2636" r:id="rId18"/>
    <p:sldId id="2637" r:id="rId19"/>
    <p:sldId id="2236" r:id="rId20"/>
    <p:sldId id="2250" r:id="rId21"/>
    <p:sldId id="2638" r:id="rId22"/>
    <p:sldId id="2639" r:id="rId23"/>
    <p:sldId id="2640" r:id="rId24"/>
    <p:sldId id="2263" r:id="rId25"/>
    <p:sldId id="2267" r:id="rId26"/>
    <p:sldId id="2264" r:id="rId27"/>
    <p:sldId id="2274" r:id="rId28"/>
    <p:sldId id="2265" r:id="rId29"/>
    <p:sldId id="2266" r:id="rId30"/>
    <p:sldId id="2641" r:id="rId31"/>
    <p:sldId id="2275" r:id="rId32"/>
    <p:sldId id="2278" r:id="rId33"/>
    <p:sldId id="2642" r:id="rId34"/>
    <p:sldId id="2643" r:id="rId35"/>
    <p:sldId id="2644" r:id="rId36"/>
    <p:sldId id="2645" r:id="rId37"/>
    <p:sldId id="2646" r:id="rId38"/>
    <p:sldId id="2647" r:id="rId39"/>
    <p:sldId id="2247" r:id="rId40"/>
    <p:sldId id="2242" r:id="rId41"/>
    <p:sldId id="2648" r:id="rId42"/>
    <p:sldId id="2256" r:id="rId43"/>
    <p:sldId id="2257" r:id="rId44"/>
    <p:sldId id="2259" r:id="rId45"/>
    <p:sldId id="2261" r:id="rId46"/>
    <p:sldId id="2262" r:id="rId47"/>
    <p:sldId id="2649" r:id="rId48"/>
    <p:sldId id="2271" r:id="rId49"/>
    <p:sldId id="2260" r:id="rId50"/>
    <p:sldId id="2650" r:id="rId51"/>
    <p:sldId id="2253" r:id="rId52"/>
    <p:sldId id="2248" r:id="rId53"/>
    <p:sldId id="2651" r:id="rId54"/>
    <p:sldId id="2652" r:id="rId55"/>
    <p:sldId id="2653" r:id="rId56"/>
    <p:sldId id="2654" r:id="rId57"/>
    <p:sldId id="2280" r:id="rId58"/>
    <p:sldId id="2249" r:id="rId59"/>
    <p:sldId id="2655" r:id="rId60"/>
    <p:sldId id="2625" r:id="rId61"/>
    <p:sldId id="2631" r:id="rId62"/>
  </p:sldIdLst>
  <p:sldSz cx="9144000" cy="5715000" type="screen16x1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80" userDrawn="1">
          <p15:clr>
            <a:srgbClr val="A4A3A4"/>
          </p15:clr>
        </p15:guide>
        <p15:guide id="2" pos="340" userDrawn="1">
          <p15:clr>
            <a:srgbClr val="A4A3A4"/>
          </p15:clr>
        </p15:guide>
        <p15:guide id="3"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0432FF"/>
    <a:srgbClr val="73FEFF"/>
    <a:srgbClr val="941100"/>
    <a:srgbClr val="212121"/>
    <a:srgbClr val="005493"/>
    <a:srgbClr val="FF2F92"/>
    <a:srgbClr val="9437FF"/>
    <a:srgbClr val="ED3C64"/>
    <a:srgbClr val="00FB92"/>
    <a:srgbClr val="FF9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1EBBBCC-DAD2-459C-BE2E-F6DE35CF9A28}" styleName="深色样式 2 - 强调 3/强调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5202B0CA-FC54-4496-8BCA-5EF66A818D29}" styleName="深色样式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8D230F3-CF80-4859-8CE7-A43EE81993B5}" styleName="浅色样式 1 - 强调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602" autoAdjust="0"/>
    <p:restoredTop sz="87415" autoAdjust="0"/>
  </p:normalViewPr>
  <p:slideViewPr>
    <p:cSldViewPr>
      <p:cViewPr varScale="1">
        <p:scale>
          <a:sx n="128" d="100"/>
          <a:sy n="128" d="100"/>
        </p:scale>
        <p:origin x="1160" y="176"/>
      </p:cViewPr>
      <p:guideLst>
        <p:guide orient="horz" pos="2480"/>
        <p:guide pos="340"/>
        <p:guide pos="2880"/>
      </p:guideLst>
    </p:cSldViewPr>
  </p:slideViewPr>
  <p:outlineViewPr>
    <p:cViewPr>
      <p:scale>
        <a:sx n="33" d="100"/>
        <a:sy n="33" d="100"/>
      </p:scale>
      <p:origin x="0" y="-5720"/>
    </p:cViewPr>
  </p:outlineViewPr>
  <p:notesTextViewPr>
    <p:cViewPr>
      <p:scale>
        <a:sx n="20" d="100"/>
        <a:sy n="20" d="100"/>
      </p:scale>
      <p:origin x="0" y="0"/>
    </p:cViewPr>
  </p:notesTextViewPr>
  <p:sorterViewPr>
    <p:cViewPr>
      <p:scale>
        <a:sx n="66" d="100"/>
        <a:sy n="66" d="100"/>
      </p:scale>
      <p:origin x="0" y="0"/>
    </p:cViewPr>
  </p:sorterViewPr>
  <p:notesViewPr>
    <p:cSldViewPr>
      <p:cViewPr varScale="1">
        <p:scale>
          <a:sx n="85" d="100"/>
          <a:sy n="85" d="100"/>
        </p:scale>
        <p:origin x="2720" y="16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handoutMaster" Target="handoutMasters/handoutMaster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___.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CPU时间消耗</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7A72-E04F-8106-BFDC8BE6A5BF}"/>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7A72-E04F-8106-BFDC8BE6A5BF}"/>
              </c:ext>
            </c:extLst>
          </c:dPt>
          <c:cat>
            <c:strRef>
              <c:f>Sheet1!$A$2:$A$3</c:f>
              <c:strCache>
                <c:ptCount val="2"/>
                <c:pt idx="0">
                  <c:v>通信开销</c:v>
                </c:pt>
                <c:pt idx="1">
                  <c:v>应用逻辑</c:v>
                </c:pt>
              </c:strCache>
            </c:strRef>
          </c:cat>
          <c:val>
            <c:numRef>
              <c:f>Sheet1!$B$2:$B$3</c:f>
              <c:numCache>
                <c:formatCode>General</c:formatCode>
                <c:ptCount val="2"/>
                <c:pt idx="0">
                  <c:v>30</c:v>
                </c:pt>
                <c:pt idx="1">
                  <c:v>70</c:v>
                </c:pt>
              </c:numCache>
            </c:numRef>
          </c:val>
          <c:extLst>
            <c:ext xmlns:c16="http://schemas.microsoft.com/office/drawing/2014/chart" uri="{C3380CC4-5D6E-409C-BE32-E72D297353CC}">
              <c16:uniqueId val="{00000004-7A72-E04F-8106-BFDC8BE6A5BF}"/>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D384E5B-0B7C-A143-A087-04B582FC4BEF}" type="datetimeFigureOut">
              <a:rPr kumimoji="1" lang="zh-CN" altLang="en-US" smtClean="0"/>
              <a:t>2024/6/14</a:t>
            </a:fld>
            <a:endParaRPr kumimoji="1"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zh-CN" altLang="en-US"/>
          </a:p>
        </p:txBody>
      </p:sp>
      <p:sp>
        <p:nvSpPr>
          <p:cNvPr id="5" name="幻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78370ED-3FEA-E543-9D41-DF20FAD761C7}" type="slidenum">
              <a:rPr kumimoji="1" lang="zh-CN" altLang="en-US" smtClean="0"/>
              <a:t>‹#›</a:t>
            </a:fld>
            <a:endParaRPr kumimoji="1" lang="zh-CN" altLang="en-US"/>
          </a:p>
        </p:txBody>
      </p:sp>
    </p:spTree>
    <p:extLst>
      <p:ext uri="{BB962C8B-B14F-4D97-AF65-F5344CB8AC3E}">
        <p14:creationId xmlns:p14="http://schemas.microsoft.com/office/powerpoint/2010/main" val="35551917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2D7DB94-E0DE-4F0F-A9B7-54654CD8C8B1}" type="datetimeFigureOut">
              <a:rPr lang="zh-CN" altLang="en-US" smtClean="0"/>
              <a:t>2024/6/14</a:t>
            </a:fld>
            <a:endParaRPr lang="zh-CN" altLang="en-US"/>
          </a:p>
        </p:txBody>
      </p:sp>
      <p:sp>
        <p:nvSpPr>
          <p:cNvPr id="4" name="幻灯片图像占位符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A84A077-83E9-49A7-9F59-234D78BD6949}" type="slidenum">
              <a:rPr lang="zh-CN" altLang="en-US" smtClean="0"/>
              <a:t>‹#›</a:t>
            </a:fld>
            <a:endParaRPr lang="zh-CN" altLang="en-US"/>
          </a:p>
        </p:txBody>
      </p:sp>
    </p:spTree>
    <p:extLst>
      <p:ext uri="{BB962C8B-B14F-4D97-AF65-F5344CB8AC3E}">
        <p14:creationId xmlns:p14="http://schemas.microsoft.com/office/powerpoint/2010/main" val="24302659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685800"/>
            <a:ext cx="5486400" cy="3429000"/>
          </a:xfrm>
        </p:spPr>
      </p:sp>
      <p:sp>
        <p:nvSpPr>
          <p:cNvPr id="3" name="备注占位符 2"/>
          <p:cNvSpPr>
            <a:spLocks noGrp="1"/>
          </p:cNvSpPr>
          <p:nvPr>
            <p:ph type="body" idx="1"/>
          </p:nvPr>
        </p:nvSpPr>
        <p:spPr/>
        <p:txBody>
          <a:bodyPr/>
          <a:lstStyle/>
          <a:p>
            <a:endParaRPr kumimoji="1" lang="en-US" altLang="zh-CN" baseline="0"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84A077-83E9-49A7-9F59-234D78BD6949}"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7179826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sz="3600" dirty="0"/>
              <a:t>2. </a:t>
            </a:r>
            <a:r>
              <a:rPr kumimoji="1" lang="zh-CN" altLang="en-US" sz="3600" dirty="0"/>
              <a:t>硬件分区</a:t>
            </a:r>
            <a:r>
              <a:rPr kumimoji="1" lang="en-US" altLang="zh-CN" sz="3600" dirty="0"/>
              <a:t>, </a:t>
            </a:r>
            <a:r>
              <a:rPr kumimoji="1" lang="zh-CN" altLang="en-US" sz="3600" dirty="0"/>
              <a:t>数据库</a:t>
            </a:r>
          </a:p>
        </p:txBody>
      </p:sp>
      <p:sp>
        <p:nvSpPr>
          <p:cNvPr id="4" name="灯片编号占位符 3"/>
          <p:cNvSpPr>
            <a:spLocks noGrp="1"/>
          </p:cNvSpPr>
          <p:nvPr>
            <p:ph type="sldNum" sz="quarter" idx="5"/>
          </p:nvPr>
        </p:nvSpPr>
        <p:spPr/>
        <p:txBody>
          <a:bodyPr/>
          <a:lstStyle/>
          <a:p>
            <a:fld id="{3A84A077-83E9-49A7-9F59-234D78BD6949}" type="slidenum">
              <a:rPr lang="zh-CN" altLang="en-US" smtClean="0"/>
              <a:t>6</a:t>
            </a:fld>
            <a:endParaRPr lang="zh-CN" altLang="en-US"/>
          </a:p>
        </p:txBody>
      </p:sp>
    </p:spTree>
    <p:extLst>
      <p:ext uri="{BB962C8B-B14F-4D97-AF65-F5344CB8AC3E}">
        <p14:creationId xmlns:p14="http://schemas.microsoft.com/office/powerpoint/2010/main" val="4779231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sz="3600" dirty="0"/>
              <a:t>2. </a:t>
            </a:r>
            <a:r>
              <a:rPr kumimoji="1" lang="zh-CN" altLang="en-US" sz="3600" dirty="0"/>
              <a:t>硬件分区</a:t>
            </a:r>
            <a:r>
              <a:rPr kumimoji="1" lang="en-US" altLang="zh-CN" sz="3600" dirty="0"/>
              <a:t>, </a:t>
            </a:r>
            <a:r>
              <a:rPr kumimoji="1" lang="zh-CN" altLang="en-US" sz="3600" dirty="0"/>
              <a:t>数据库</a:t>
            </a:r>
          </a:p>
        </p:txBody>
      </p:sp>
      <p:sp>
        <p:nvSpPr>
          <p:cNvPr id="4" name="灯片编号占位符 3"/>
          <p:cNvSpPr>
            <a:spLocks noGrp="1"/>
          </p:cNvSpPr>
          <p:nvPr>
            <p:ph type="sldNum" sz="quarter" idx="5"/>
          </p:nvPr>
        </p:nvSpPr>
        <p:spPr/>
        <p:txBody>
          <a:bodyPr/>
          <a:lstStyle/>
          <a:p>
            <a:fld id="{3A84A077-83E9-49A7-9F59-234D78BD6949}" type="slidenum">
              <a:rPr lang="zh-CN" altLang="en-US" smtClean="0"/>
              <a:t>7</a:t>
            </a:fld>
            <a:endParaRPr lang="zh-CN" altLang="en-US"/>
          </a:p>
        </p:txBody>
      </p:sp>
    </p:spTree>
    <p:extLst>
      <p:ext uri="{BB962C8B-B14F-4D97-AF65-F5344CB8AC3E}">
        <p14:creationId xmlns:p14="http://schemas.microsoft.com/office/powerpoint/2010/main" val="15872664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33</a:t>
            </a:fld>
            <a:endParaRPr lang="zh-CN" altLang="en-US"/>
          </a:p>
        </p:txBody>
      </p:sp>
    </p:spTree>
    <p:extLst>
      <p:ext uri="{BB962C8B-B14F-4D97-AF65-F5344CB8AC3E}">
        <p14:creationId xmlns:p14="http://schemas.microsoft.com/office/powerpoint/2010/main" val="25395483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34</a:t>
            </a:fld>
            <a:endParaRPr lang="zh-CN" altLang="en-US"/>
          </a:p>
        </p:txBody>
      </p:sp>
    </p:spTree>
    <p:extLst>
      <p:ext uri="{BB962C8B-B14F-4D97-AF65-F5344CB8AC3E}">
        <p14:creationId xmlns:p14="http://schemas.microsoft.com/office/powerpoint/2010/main" val="9367312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35</a:t>
            </a:fld>
            <a:endParaRPr lang="zh-CN" altLang="en-US"/>
          </a:p>
        </p:txBody>
      </p:sp>
    </p:spTree>
    <p:extLst>
      <p:ext uri="{BB962C8B-B14F-4D97-AF65-F5344CB8AC3E}">
        <p14:creationId xmlns:p14="http://schemas.microsoft.com/office/powerpoint/2010/main" val="17721804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39</a:t>
            </a:fld>
            <a:endParaRPr lang="zh-CN" altLang="en-US"/>
          </a:p>
        </p:txBody>
      </p:sp>
    </p:spTree>
    <p:extLst>
      <p:ext uri="{BB962C8B-B14F-4D97-AF65-F5344CB8AC3E}">
        <p14:creationId xmlns:p14="http://schemas.microsoft.com/office/powerpoint/2010/main" val="33558282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5358"/>
            <a:ext cx="7772400" cy="1225021"/>
          </a:xfrm>
        </p:spPr>
        <p:txBody>
          <a:bodyPr>
            <a:normAutofit/>
          </a:bodyPr>
          <a:lstStyle>
            <a:lvl1pPr algn="ctr">
              <a:defRPr sz="4400">
                <a:latin typeface="+mj-lt"/>
              </a:defRPr>
            </a:lvl1pPr>
          </a:lstStyle>
          <a:p>
            <a:r>
              <a:rPr lang="zh-CN" altLang="en-US" dirty="0"/>
              <a:t>单击此处编辑母版标题样式</a:t>
            </a:r>
          </a:p>
        </p:txBody>
      </p:sp>
      <p:sp>
        <p:nvSpPr>
          <p:cNvPr id="3" name="副标题 2"/>
          <p:cNvSpPr>
            <a:spLocks noGrp="1"/>
          </p:cNvSpPr>
          <p:nvPr>
            <p:ph type="subTitle" idx="1"/>
          </p:nvPr>
        </p:nvSpPr>
        <p:spPr>
          <a:xfrm>
            <a:off x="1371600" y="3238500"/>
            <a:ext cx="6400800" cy="14605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4" name="日期占位符 3"/>
          <p:cNvSpPr>
            <a:spLocks noGrp="1"/>
          </p:cNvSpPr>
          <p:nvPr>
            <p:ph type="dt" sz="half" idx="10"/>
          </p:nvPr>
        </p:nvSpPr>
        <p:spPr/>
        <p:txBody>
          <a:bodyPr/>
          <a:lstStyle/>
          <a:p>
            <a:endParaRPr lang="zh-CN" altLang="en-US" dirty="0"/>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Tree>
    <p:extLst>
      <p:ext uri="{BB962C8B-B14F-4D97-AF65-F5344CB8AC3E}">
        <p14:creationId xmlns:p14="http://schemas.microsoft.com/office/powerpoint/2010/main" val="21461422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6"/>
            <a:ext cx="8229600" cy="900442"/>
          </a:xfrm>
        </p:spPr>
        <p:txBody>
          <a:bodyPr/>
          <a:lstStyle>
            <a:lvl1pPr>
              <a:defRPr b="1">
                <a:solidFill>
                  <a:schemeClr val="accent1"/>
                </a:solidFill>
                <a:latin typeface="+mj-lt"/>
                <a:ea typeface="+mj-ea"/>
                <a:cs typeface="微软雅黑 Light" panose="020B0502040204020203" pitchFamily="34" charset="-122"/>
              </a:defRPr>
            </a:lvl1pPr>
          </a:lstStyle>
          <a:p>
            <a:r>
              <a:rPr lang="zh-CN" altLang="en-US" dirty="0"/>
              <a:t>单击此处编辑母版标题样式</a:t>
            </a:r>
          </a:p>
        </p:txBody>
      </p:sp>
      <p:sp>
        <p:nvSpPr>
          <p:cNvPr id="3" name="内容占位符 2"/>
          <p:cNvSpPr>
            <a:spLocks noGrp="1"/>
          </p:cNvSpPr>
          <p:nvPr>
            <p:ph idx="1"/>
          </p:nvPr>
        </p:nvSpPr>
        <p:spPr/>
        <p:txBody>
          <a:bodyPr>
            <a:normAutofit/>
          </a:bodyPr>
          <a:lstStyle>
            <a:lvl1pPr>
              <a:lnSpc>
                <a:spcPct val="120000"/>
              </a:lnSpc>
              <a:defRPr sz="2600" b="1" i="0">
                <a:latin typeface="+mn-lt"/>
                <a:ea typeface="微软雅黑" panose="020B0503020204020204" pitchFamily="34" charset="-122"/>
                <a:cs typeface="微软雅黑" panose="020B0503020204020204" pitchFamily="34" charset="-122"/>
              </a:defRPr>
            </a:lvl1pPr>
            <a:lvl2pPr>
              <a:lnSpc>
                <a:spcPct val="120000"/>
              </a:lnSpc>
              <a:defRPr sz="2400" b="0" i="0">
                <a:latin typeface="+mn-lt"/>
                <a:ea typeface="微软雅黑" panose="020B0503020204020204" pitchFamily="34" charset="-122"/>
                <a:cs typeface="微软雅黑" panose="020B0503020204020204" pitchFamily="34" charset="-122"/>
              </a:defRPr>
            </a:lvl2pPr>
            <a:lvl3pPr>
              <a:lnSpc>
                <a:spcPct val="120000"/>
              </a:lnSpc>
              <a:defRPr sz="2000" b="0" i="0">
                <a:latin typeface="+mn-lt"/>
                <a:ea typeface="微软雅黑" panose="020B0503020204020204" pitchFamily="34" charset="-122"/>
                <a:cs typeface="微软雅黑" panose="020B0503020204020204" pitchFamily="34" charset="-122"/>
              </a:defRPr>
            </a:lvl3pPr>
            <a:lvl4pPr>
              <a:lnSpc>
                <a:spcPct val="120000"/>
              </a:lnSpc>
              <a:defRPr sz="1800" b="0" i="0">
                <a:latin typeface="+mn-lt"/>
                <a:ea typeface="微软雅黑" panose="020B0503020204020204" pitchFamily="34" charset="-122"/>
                <a:cs typeface="微软雅黑" panose="020B0503020204020204" pitchFamily="34" charset="-122"/>
              </a:defRPr>
            </a:lvl4pPr>
            <a:lvl5pPr>
              <a:lnSpc>
                <a:spcPct val="120000"/>
              </a:lnSpc>
              <a:defRPr sz="1800" b="0" i="0">
                <a:latin typeface="+mn-lt"/>
                <a:ea typeface="微软雅黑" panose="020B0503020204020204" pitchFamily="34" charset="-122"/>
                <a:cs typeface="微软雅黑" panose="020B0503020204020204" pitchFamily="3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
        <p:nvSpPr>
          <p:cNvPr id="7" name="矩形 6"/>
          <p:cNvSpPr/>
          <p:nvPr userDrawn="1"/>
        </p:nvSpPr>
        <p:spPr>
          <a:xfrm>
            <a:off x="-180527" y="439062"/>
            <a:ext cx="164581" cy="4800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8" name="三角形 7">
            <a:extLst>
              <a:ext uri="{FF2B5EF4-FFF2-40B4-BE49-F238E27FC236}">
                <a16:creationId xmlns:a16="http://schemas.microsoft.com/office/drawing/2014/main" id="{066DE83E-C489-9340-8A6C-F2C63F8574DC}"/>
              </a:ext>
            </a:extLst>
          </p:cNvPr>
          <p:cNvSpPr/>
          <p:nvPr userDrawn="1"/>
        </p:nvSpPr>
        <p:spPr>
          <a:xfrm rot="5400000">
            <a:off x="-160702" y="599536"/>
            <a:ext cx="480280" cy="1588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a:p>
        </p:txBody>
      </p:sp>
    </p:spTree>
    <p:extLst>
      <p:ext uri="{BB962C8B-B14F-4D97-AF65-F5344CB8AC3E}">
        <p14:creationId xmlns:p14="http://schemas.microsoft.com/office/powerpoint/2010/main" val="3949560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2418"/>
            <a:ext cx="7772400" cy="1135062"/>
          </a:xfrm>
        </p:spPr>
        <p:txBody>
          <a:bodyPr anchor="t"/>
          <a:lstStyle>
            <a:lvl1pPr algn="l">
              <a:defRPr sz="4000" b="1" cap="all">
                <a:latin typeface="+mj-lt"/>
              </a:defRPr>
            </a:lvl1pPr>
          </a:lstStyle>
          <a:p>
            <a:r>
              <a:rPr lang="zh-CN" altLang="en-US" dirty="0"/>
              <a:t>单击此处编辑母版标题样式</a:t>
            </a:r>
          </a:p>
        </p:txBody>
      </p:sp>
      <p:sp>
        <p:nvSpPr>
          <p:cNvPr id="3" name="文本占位符 2"/>
          <p:cNvSpPr>
            <a:spLocks noGrp="1"/>
          </p:cNvSpPr>
          <p:nvPr>
            <p:ph type="body" idx="1"/>
          </p:nvPr>
        </p:nvSpPr>
        <p:spPr>
          <a:xfrm>
            <a:off x="722313" y="2422261"/>
            <a:ext cx="7772400" cy="1250156"/>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
        <p:nvSpPr>
          <p:cNvPr id="8" name="三角形 7">
            <a:extLst>
              <a:ext uri="{FF2B5EF4-FFF2-40B4-BE49-F238E27FC236}">
                <a16:creationId xmlns:a16="http://schemas.microsoft.com/office/drawing/2014/main" id="{A8EE614D-B549-154F-943F-0F3919AB5939}"/>
              </a:ext>
            </a:extLst>
          </p:cNvPr>
          <p:cNvSpPr/>
          <p:nvPr userDrawn="1"/>
        </p:nvSpPr>
        <p:spPr>
          <a:xfrm rot="5400000">
            <a:off x="-160703" y="3920373"/>
            <a:ext cx="480280" cy="1588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a:p>
        </p:txBody>
      </p:sp>
    </p:spTree>
    <p:extLst>
      <p:ext uri="{BB962C8B-B14F-4D97-AF65-F5344CB8AC3E}">
        <p14:creationId xmlns:p14="http://schemas.microsoft.com/office/powerpoint/2010/main" val="6146946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smtClean="0">
                <a:ea typeface="宋体" pitchFamily="2" charset="-122"/>
              </a:defRPr>
            </a:lvl1pPr>
          </a:lstStyle>
          <a:p>
            <a:fld id="{54F3100C-EB21-4948-BC96-CAC85E4C60BF}" type="datetimeFigureOut">
              <a:rPr kumimoji="1" lang="zh-CN" altLang="en-US" smtClean="0"/>
              <a:t>2024/6/14</a:t>
            </a:fld>
            <a:endParaRPr kumimoji="1" lang="zh-CN" altLang="en-US"/>
          </a:p>
        </p:txBody>
      </p:sp>
    </p:spTree>
    <p:extLst>
      <p:ext uri="{BB962C8B-B14F-4D97-AF65-F5344CB8AC3E}">
        <p14:creationId xmlns:p14="http://schemas.microsoft.com/office/powerpoint/2010/main" val="35560443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5358"/>
            <a:ext cx="7772400" cy="1225021"/>
          </a:xfrm>
        </p:spPr>
        <p:txBody>
          <a:bodyPr>
            <a:normAutofit/>
          </a:bodyPr>
          <a:lstStyle>
            <a:lvl1pPr algn="ctr">
              <a:defRPr sz="4400">
                <a:latin typeface="+mj-lt"/>
              </a:defRPr>
            </a:lvl1pPr>
          </a:lstStyle>
          <a:p>
            <a:r>
              <a:rPr lang="zh-CN" altLang="en-US" dirty="0"/>
              <a:t>单击此处编辑母版标题样式</a:t>
            </a:r>
          </a:p>
        </p:txBody>
      </p:sp>
      <p:sp>
        <p:nvSpPr>
          <p:cNvPr id="3" name="副标题 2"/>
          <p:cNvSpPr>
            <a:spLocks noGrp="1"/>
          </p:cNvSpPr>
          <p:nvPr>
            <p:ph type="subTitle" idx="1"/>
          </p:nvPr>
        </p:nvSpPr>
        <p:spPr>
          <a:xfrm>
            <a:off x="1371600" y="3238500"/>
            <a:ext cx="6400800" cy="14605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4" name="日期占位符 3"/>
          <p:cNvSpPr>
            <a:spLocks noGrp="1"/>
          </p:cNvSpPr>
          <p:nvPr>
            <p:ph type="dt" sz="half" idx="10"/>
          </p:nvPr>
        </p:nvSpPr>
        <p:spPr/>
        <p:txBody>
          <a:bodyPr/>
          <a:lstStyle/>
          <a:p>
            <a:endParaRPr lang="zh-CN" altLang="en-US" dirty="0"/>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Tree>
    <p:extLst>
      <p:ext uri="{BB962C8B-B14F-4D97-AF65-F5344CB8AC3E}">
        <p14:creationId xmlns:p14="http://schemas.microsoft.com/office/powerpoint/2010/main" val="29415857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6"/>
            <a:ext cx="8229600" cy="900442"/>
          </a:xfrm>
        </p:spPr>
        <p:txBody>
          <a:bodyPr/>
          <a:lstStyle>
            <a:lvl1pPr>
              <a:defRPr b="1">
                <a:solidFill>
                  <a:schemeClr val="accent1"/>
                </a:solidFill>
                <a:latin typeface="+mj-lt"/>
                <a:ea typeface="+mj-ea"/>
                <a:cs typeface="微软雅黑 Light" panose="020B0502040204020203" pitchFamily="34" charset="-122"/>
              </a:defRPr>
            </a:lvl1pPr>
          </a:lstStyle>
          <a:p>
            <a:r>
              <a:rPr lang="zh-CN" altLang="en-US" dirty="0"/>
              <a:t>单击此处编辑母版标题样式</a:t>
            </a:r>
          </a:p>
        </p:txBody>
      </p:sp>
      <p:sp>
        <p:nvSpPr>
          <p:cNvPr id="3" name="内容占位符 2"/>
          <p:cNvSpPr>
            <a:spLocks noGrp="1"/>
          </p:cNvSpPr>
          <p:nvPr>
            <p:ph idx="1"/>
          </p:nvPr>
        </p:nvSpPr>
        <p:spPr/>
        <p:txBody>
          <a:bodyPr>
            <a:normAutofit/>
          </a:bodyPr>
          <a:lstStyle>
            <a:lvl1pPr>
              <a:lnSpc>
                <a:spcPct val="120000"/>
              </a:lnSpc>
              <a:defRPr sz="2600" b="1" i="0">
                <a:latin typeface="+mn-lt"/>
                <a:ea typeface="微软雅黑" panose="020B0503020204020204" pitchFamily="34" charset="-122"/>
                <a:cs typeface="微软雅黑" panose="020B0503020204020204" pitchFamily="34" charset="-122"/>
              </a:defRPr>
            </a:lvl1pPr>
            <a:lvl2pPr>
              <a:lnSpc>
                <a:spcPct val="120000"/>
              </a:lnSpc>
              <a:defRPr sz="2400" b="0" i="0">
                <a:latin typeface="+mn-lt"/>
                <a:ea typeface="微软雅黑" panose="020B0503020204020204" pitchFamily="34" charset="-122"/>
                <a:cs typeface="微软雅黑" panose="020B0503020204020204" pitchFamily="34" charset="-122"/>
              </a:defRPr>
            </a:lvl2pPr>
            <a:lvl3pPr>
              <a:lnSpc>
                <a:spcPct val="120000"/>
              </a:lnSpc>
              <a:defRPr sz="2000" b="0" i="0">
                <a:latin typeface="+mn-lt"/>
                <a:ea typeface="微软雅黑" panose="020B0503020204020204" pitchFamily="34" charset="-122"/>
                <a:cs typeface="微软雅黑" panose="020B0503020204020204" pitchFamily="34" charset="-122"/>
              </a:defRPr>
            </a:lvl3pPr>
            <a:lvl4pPr>
              <a:lnSpc>
                <a:spcPct val="120000"/>
              </a:lnSpc>
              <a:defRPr sz="1800" b="0" i="0">
                <a:latin typeface="+mn-lt"/>
                <a:ea typeface="微软雅黑" panose="020B0503020204020204" pitchFamily="34" charset="-122"/>
                <a:cs typeface="微软雅黑" panose="020B0503020204020204" pitchFamily="34" charset="-122"/>
              </a:defRPr>
            </a:lvl4pPr>
            <a:lvl5pPr>
              <a:lnSpc>
                <a:spcPct val="120000"/>
              </a:lnSpc>
              <a:defRPr sz="1800" b="0" i="0">
                <a:latin typeface="+mn-lt"/>
                <a:ea typeface="微软雅黑" panose="020B0503020204020204" pitchFamily="34" charset="-122"/>
                <a:cs typeface="微软雅黑" panose="020B0503020204020204" pitchFamily="3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
        <p:nvSpPr>
          <p:cNvPr id="7" name="矩形 6"/>
          <p:cNvSpPr/>
          <p:nvPr userDrawn="1"/>
        </p:nvSpPr>
        <p:spPr>
          <a:xfrm>
            <a:off x="-180527" y="439062"/>
            <a:ext cx="164581" cy="4800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8" name="三角形 7">
            <a:extLst>
              <a:ext uri="{FF2B5EF4-FFF2-40B4-BE49-F238E27FC236}">
                <a16:creationId xmlns:a16="http://schemas.microsoft.com/office/drawing/2014/main" id="{066DE83E-C489-9340-8A6C-F2C63F8574DC}"/>
              </a:ext>
            </a:extLst>
          </p:cNvPr>
          <p:cNvSpPr/>
          <p:nvPr userDrawn="1"/>
        </p:nvSpPr>
        <p:spPr>
          <a:xfrm rot="5400000">
            <a:off x="-160702" y="599536"/>
            <a:ext cx="480280" cy="1588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a:p>
        </p:txBody>
      </p:sp>
    </p:spTree>
    <p:extLst>
      <p:ext uri="{BB962C8B-B14F-4D97-AF65-F5344CB8AC3E}">
        <p14:creationId xmlns:p14="http://schemas.microsoft.com/office/powerpoint/2010/main" val="36245122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2418"/>
            <a:ext cx="7772400" cy="1135062"/>
          </a:xfrm>
        </p:spPr>
        <p:txBody>
          <a:bodyPr anchor="t"/>
          <a:lstStyle>
            <a:lvl1pPr algn="l">
              <a:defRPr sz="4000" b="1" cap="all">
                <a:latin typeface="+mj-lt"/>
              </a:defRPr>
            </a:lvl1pPr>
          </a:lstStyle>
          <a:p>
            <a:r>
              <a:rPr lang="zh-CN" altLang="en-US" dirty="0"/>
              <a:t>单击此处编辑母版标题样式</a:t>
            </a:r>
          </a:p>
        </p:txBody>
      </p:sp>
      <p:sp>
        <p:nvSpPr>
          <p:cNvPr id="3" name="文本占位符 2"/>
          <p:cNvSpPr>
            <a:spLocks noGrp="1"/>
          </p:cNvSpPr>
          <p:nvPr>
            <p:ph type="body" idx="1"/>
          </p:nvPr>
        </p:nvSpPr>
        <p:spPr>
          <a:xfrm>
            <a:off x="722313" y="2422261"/>
            <a:ext cx="7772400" cy="1250156"/>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
        <p:nvSpPr>
          <p:cNvPr id="8" name="三角形 7">
            <a:extLst>
              <a:ext uri="{FF2B5EF4-FFF2-40B4-BE49-F238E27FC236}">
                <a16:creationId xmlns:a16="http://schemas.microsoft.com/office/drawing/2014/main" id="{A8EE614D-B549-154F-943F-0F3919AB5939}"/>
              </a:ext>
            </a:extLst>
          </p:cNvPr>
          <p:cNvSpPr/>
          <p:nvPr userDrawn="1"/>
        </p:nvSpPr>
        <p:spPr>
          <a:xfrm rot="5400000">
            <a:off x="-160703" y="3920373"/>
            <a:ext cx="480280" cy="1588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a:p>
        </p:txBody>
      </p:sp>
    </p:spTree>
    <p:extLst>
      <p:ext uri="{BB962C8B-B14F-4D97-AF65-F5344CB8AC3E}">
        <p14:creationId xmlns:p14="http://schemas.microsoft.com/office/powerpoint/2010/main" val="136057603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193204"/>
            <a:ext cx="8229600" cy="952500"/>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457200" y="1333501"/>
            <a:ext cx="8229600" cy="3771636"/>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p:cNvSpPr>
            <a:spLocks noGrp="1"/>
          </p:cNvSpPr>
          <p:nvPr>
            <p:ph type="dt" sz="half" idx="2"/>
          </p:nvPr>
        </p:nvSpPr>
        <p:spPr>
          <a:xfrm>
            <a:off x="457201" y="5296962"/>
            <a:ext cx="2133600" cy="304271"/>
          </a:xfrm>
          <a:prstGeom prst="rect">
            <a:avLst/>
          </a:prstGeom>
        </p:spPr>
        <p:txBody>
          <a:bodyPr vert="horz" lIns="91440" tIns="45720" rIns="91440" bIns="45720" rtlCol="0" anchor="ctr"/>
          <a:lstStyle>
            <a:lvl1pPr algn="l">
              <a:defRPr sz="1200">
                <a:solidFill>
                  <a:schemeClr val="tx1">
                    <a:tint val="75000"/>
                  </a:schemeClr>
                </a:solidFill>
                <a:latin typeface="DengXian" charset="0"/>
                <a:ea typeface="DengXian" charset="0"/>
                <a:cs typeface="DengXian" charset="0"/>
              </a:defRPr>
            </a:lvl1pPr>
          </a:lstStyle>
          <a:p>
            <a:endParaRPr lang="zh-CN" altLang="en-US" dirty="0"/>
          </a:p>
        </p:txBody>
      </p:sp>
      <p:sp>
        <p:nvSpPr>
          <p:cNvPr id="5" name="页脚占位符 4"/>
          <p:cNvSpPr>
            <a:spLocks noGrp="1"/>
          </p:cNvSpPr>
          <p:nvPr>
            <p:ph type="ftr" sz="quarter" idx="3"/>
          </p:nvPr>
        </p:nvSpPr>
        <p:spPr>
          <a:xfrm>
            <a:off x="3124201" y="5296962"/>
            <a:ext cx="2895600" cy="304271"/>
          </a:xfrm>
          <a:prstGeom prst="rect">
            <a:avLst/>
          </a:prstGeom>
        </p:spPr>
        <p:txBody>
          <a:bodyPr vert="horz" lIns="91440" tIns="45720" rIns="91440" bIns="45720" rtlCol="0" anchor="ctr"/>
          <a:lstStyle>
            <a:lvl1pPr algn="ctr">
              <a:defRPr sz="1200">
                <a:solidFill>
                  <a:schemeClr val="tx1">
                    <a:tint val="75000"/>
                  </a:schemeClr>
                </a:solidFill>
                <a:latin typeface="DengXian" charset="0"/>
                <a:ea typeface="DengXian" charset="0"/>
                <a:cs typeface="DengXian" charset="0"/>
              </a:defRPr>
            </a:lvl1pPr>
          </a:lstStyle>
          <a:p>
            <a:endParaRPr lang="zh-CN" altLang="en-US"/>
          </a:p>
        </p:txBody>
      </p:sp>
      <p:sp>
        <p:nvSpPr>
          <p:cNvPr id="6" name="灯片编号占位符 5"/>
          <p:cNvSpPr>
            <a:spLocks noGrp="1"/>
          </p:cNvSpPr>
          <p:nvPr>
            <p:ph type="sldNum" sz="quarter" idx="4"/>
          </p:nvPr>
        </p:nvSpPr>
        <p:spPr>
          <a:xfrm>
            <a:off x="6553200" y="5296962"/>
            <a:ext cx="2133600" cy="304271"/>
          </a:xfrm>
          <a:prstGeom prst="rect">
            <a:avLst/>
          </a:prstGeom>
        </p:spPr>
        <p:txBody>
          <a:bodyPr vert="horz" lIns="91440" tIns="45720" rIns="91440" bIns="45720" rtlCol="0" anchor="ctr"/>
          <a:lstStyle>
            <a:lvl1pPr algn="r">
              <a:defRPr sz="1200">
                <a:solidFill>
                  <a:schemeClr val="tx1">
                    <a:tint val="75000"/>
                  </a:schemeClr>
                </a:solidFill>
                <a:latin typeface="DengXian" charset="0"/>
                <a:ea typeface="DengXian" charset="0"/>
                <a:cs typeface="DengXian" charset="0"/>
              </a:defRPr>
            </a:lvl1pPr>
          </a:lstStyle>
          <a:p>
            <a:fld id="{ADE361C3-C043-4A6E-BDCE-8DA1E7D90A3B}" type="slidenum">
              <a:rPr lang="zh-CN" altLang="en-US" smtClean="0"/>
              <a:pPr/>
              <a:t>‹#›</a:t>
            </a:fld>
            <a:endParaRPr lang="zh-CN" altLang="en-US"/>
          </a:p>
        </p:txBody>
      </p:sp>
    </p:spTree>
    <p:extLst>
      <p:ext uri="{BB962C8B-B14F-4D97-AF65-F5344CB8AC3E}">
        <p14:creationId xmlns:p14="http://schemas.microsoft.com/office/powerpoint/2010/main" val="38909056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6" r:id="rId4"/>
  </p:sldLayoutIdLst>
  <p:hf hdr="0" ftr="0" dt="0"/>
  <p:txStyles>
    <p:titleStyle>
      <a:lvl1pPr algn="l" defTabSz="914400" rtl="0" eaLnBrk="1" latinLnBrk="0" hangingPunct="1">
        <a:spcBef>
          <a:spcPct val="0"/>
        </a:spcBef>
        <a:buNone/>
        <a:defRPr sz="3600" b="1" kern="1200">
          <a:solidFill>
            <a:schemeClr val="accent1"/>
          </a:solidFill>
          <a:latin typeface="+mj-lt"/>
          <a:ea typeface="+mj-ea"/>
          <a:cs typeface="微软雅黑 Light" panose="020B0502040204020203" pitchFamily="34" charset="-122"/>
        </a:defRPr>
      </a:lvl1pPr>
    </p:titleStyle>
    <p:bodyStyle>
      <a:lvl1pPr marL="342900" indent="-342900" algn="l" defTabSz="914400" rtl="0" eaLnBrk="1" latinLnBrk="0" hangingPunct="1">
        <a:lnSpc>
          <a:spcPct val="120000"/>
        </a:lnSpc>
        <a:spcBef>
          <a:spcPts val="1200"/>
        </a:spcBef>
        <a:buFont typeface="Arial" pitchFamily="34" charset="0"/>
        <a:buChar char="•"/>
        <a:defRPr sz="2600" b="1" kern="1200">
          <a:solidFill>
            <a:schemeClr val="tx1">
              <a:lumMod val="75000"/>
              <a:lumOff val="25000"/>
            </a:schemeClr>
          </a:solidFill>
          <a:latin typeface="+mn-lt"/>
          <a:ea typeface="+mn-ea"/>
          <a:cs typeface="DengXian" charset="0"/>
        </a:defRPr>
      </a:lvl1pPr>
      <a:lvl2pPr marL="742950" indent="-285750" algn="l" defTabSz="914400" rtl="0" eaLnBrk="1" latinLnBrk="0" hangingPunct="1">
        <a:lnSpc>
          <a:spcPct val="120000"/>
        </a:lnSpc>
        <a:spcBef>
          <a:spcPct val="20000"/>
        </a:spcBef>
        <a:buFont typeface="Arial" pitchFamily="34" charset="0"/>
        <a:buChar char="–"/>
        <a:defRPr sz="2400" kern="1200">
          <a:solidFill>
            <a:schemeClr val="tx1">
              <a:lumMod val="75000"/>
              <a:lumOff val="25000"/>
            </a:schemeClr>
          </a:solidFill>
          <a:latin typeface="+mn-lt"/>
          <a:ea typeface="+mn-ea"/>
          <a:cs typeface="DengXian" charset="0"/>
        </a:defRPr>
      </a:lvl2pPr>
      <a:lvl3pPr marL="1143000" indent="-228600" algn="l" defTabSz="914400" rtl="0" eaLnBrk="1" latinLnBrk="0" hangingPunct="1">
        <a:lnSpc>
          <a:spcPct val="120000"/>
        </a:lnSpc>
        <a:spcBef>
          <a:spcPct val="20000"/>
        </a:spcBef>
        <a:buFont typeface="Arial" pitchFamily="34" charset="0"/>
        <a:buChar char="•"/>
        <a:defRPr sz="2000" kern="1200">
          <a:solidFill>
            <a:schemeClr val="tx1">
              <a:lumMod val="75000"/>
              <a:lumOff val="25000"/>
            </a:schemeClr>
          </a:solidFill>
          <a:latin typeface="+mn-lt"/>
          <a:ea typeface="+mn-ea"/>
          <a:cs typeface="DengXian" charset="0"/>
        </a:defRPr>
      </a:lvl3pPr>
      <a:lvl4pPr marL="1600200" indent="-228600" algn="l" defTabSz="914400" rtl="0" eaLnBrk="1" latinLnBrk="0" hangingPunct="1">
        <a:lnSpc>
          <a:spcPct val="120000"/>
        </a:lnSpc>
        <a:spcBef>
          <a:spcPct val="20000"/>
        </a:spcBef>
        <a:buFont typeface="Arial" pitchFamily="34" charset="0"/>
        <a:buChar char="–"/>
        <a:defRPr sz="1800" kern="1200">
          <a:solidFill>
            <a:schemeClr val="tx1">
              <a:lumMod val="75000"/>
              <a:lumOff val="25000"/>
            </a:schemeClr>
          </a:solidFill>
          <a:latin typeface="+mn-lt"/>
          <a:ea typeface="+mn-ea"/>
          <a:cs typeface="DengXian" charset="0"/>
        </a:defRPr>
      </a:lvl4pPr>
      <a:lvl5pPr marL="2057400" indent="-228600" algn="l" defTabSz="914400" rtl="0" eaLnBrk="1" latinLnBrk="0" hangingPunct="1">
        <a:lnSpc>
          <a:spcPct val="120000"/>
        </a:lnSpc>
        <a:spcBef>
          <a:spcPct val="20000"/>
        </a:spcBef>
        <a:buFont typeface="Arial" pitchFamily="34" charset="0"/>
        <a:buChar char="»"/>
        <a:defRPr sz="1800" kern="1200">
          <a:solidFill>
            <a:schemeClr val="tx1">
              <a:lumMod val="75000"/>
              <a:lumOff val="25000"/>
            </a:schemeClr>
          </a:solidFill>
          <a:latin typeface="+mn-lt"/>
          <a:ea typeface="+mn-ea"/>
          <a:cs typeface="DengXian"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28866"/>
            <a:ext cx="8229600" cy="952500"/>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457200" y="1333501"/>
            <a:ext cx="8229600" cy="3771636"/>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457201" y="5296962"/>
            <a:ext cx="2133600" cy="304271"/>
          </a:xfrm>
          <a:prstGeom prst="rect">
            <a:avLst/>
          </a:prstGeom>
        </p:spPr>
        <p:txBody>
          <a:bodyPr vert="horz" lIns="91440" tIns="45720" rIns="91440" bIns="45720" rtlCol="0" anchor="ctr"/>
          <a:lstStyle>
            <a:lvl1pPr algn="l">
              <a:defRPr sz="1200">
                <a:solidFill>
                  <a:schemeClr val="tx1">
                    <a:tint val="75000"/>
                  </a:schemeClr>
                </a:solidFill>
                <a:latin typeface="DengXian" charset="0"/>
                <a:ea typeface="DengXian" charset="0"/>
                <a:cs typeface="DengXian" charset="0"/>
              </a:defRPr>
            </a:lvl1pPr>
          </a:lstStyle>
          <a:p>
            <a:endParaRPr lang="zh-CN" altLang="en-US" dirty="0"/>
          </a:p>
        </p:txBody>
      </p:sp>
      <p:sp>
        <p:nvSpPr>
          <p:cNvPr id="5" name="页脚占位符 4"/>
          <p:cNvSpPr>
            <a:spLocks noGrp="1"/>
          </p:cNvSpPr>
          <p:nvPr>
            <p:ph type="ftr" sz="quarter" idx="3"/>
          </p:nvPr>
        </p:nvSpPr>
        <p:spPr>
          <a:xfrm>
            <a:off x="3124201" y="5296962"/>
            <a:ext cx="2895600" cy="304271"/>
          </a:xfrm>
          <a:prstGeom prst="rect">
            <a:avLst/>
          </a:prstGeom>
        </p:spPr>
        <p:txBody>
          <a:bodyPr vert="horz" lIns="91440" tIns="45720" rIns="91440" bIns="45720" rtlCol="0" anchor="ctr"/>
          <a:lstStyle>
            <a:lvl1pPr algn="ctr">
              <a:defRPr sz="1200">
                <a:solidFill>
                  <a:schemeClr val="tx1">
                    <a:tint val="75000"/>
                  </a:schemeClr>
                </a:solidFill>
                <a:latin typeface="DengXian" charset="0"/>
                <a:ea typeface="DengXian" charset="0"/>
                <a:cs typeface="DengXian" charset="0"/>
              </a:defRPr>
            </a:lvl1pPr>
          </a:lstStyle>
          <a:p>
            <a:endParaRPr lang="zh-CN" altLang="en-US"/>
          </a:p>
        </p:txBody>
      </p:sp>
      <p:sp>
        <p:nvSpPr>
          <p:cNvPr id="6" name="灯片编号占位符 5"/>
          <p:cNvSpPr>
            <a:spLocks noGrp="1"/>
          </p:cNvSpPr>
          <p:nvPr>
            <p:ph type="sldNum" sz="quarter" idx="4"/>
          </p:nvPr>
        </p:nvSpPr>
        <p:spPr>
          <a:xfrm>
            <a:off x="6553200" y="5296962"/>
            <a:ext cx="2133600" cy="304271"/>
          </a:xfrm>
          <a:prstGeom prst="rect">
            <a:avLst/>
          </a:prstGeom>
        </p:spPr>
        <p:txBody>
          <a:bodyPr vert="horz" lIns="91440" tIns="45720" rIns="91440" bIns="45720" rtlCol="0" anchor="ctr"/>
          <a:lstStyle>
            <a:lvl1pPr algn="r">
              <a:defRPr sz="1200">
                <a:solidFill>
                  <a:schemeClr val="tx1">
                    <a:tint val="75000"/>
                  </a:schemeClr>
                </a:solidFill>
                <a:latin typeface="DengXian" charset="0"/>
                <a:ea typeface="DengXian" charset="0"/>
                <a:cs typeface="DengXian" charset="0"/>
              </a:defRPr>
            </a:lvl1pPr>
          </a:lstStyle>
          <a:p>
            <a:fld id="{ADE361C3-C043-4A6E-BDCE-8DA1E7D90A3B}" type="slidenum">
              <a:rPr lang="zh-CN" altLang="en-US" smtClean="0"/>
              <a:pPr/>
              <a:t>‹#›</a:t>
            </a:fld>
            <a:endParaRPr lang="zh-CN" altLang="en-US"/>
          </a:p>
        </p:txBody>
      </p:sp>
    </p:spTree>
    <p:extLst>
      <p:ext uri="{BB962C8B-B14F-4D97-AF65-F5344CB8AC3E}">
        <p14:creationId xmlns:p14="http://schemas.microsoft.com/office/powerpoint/2010/main" val="2633814230"/>
      </p:ext>
    </p:extLst>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Lst>
  <p:hf hdr="0" ftr="0" dt="0"/>
  <p:txStyles>
    <p:titleStyle>
      <a:lvl1pPr algn="l" defTabSz="914400" rtl="0" eaLnBrk="1" latinLnBrk="0" hangingPunct="1">
        <a:spcBef>
          <a:spcPct val="0"/>
        </a:spcBef>
        <a:buNone/>
        <a:defRPr sz="3600" b="1" kern="1200">
          <a:solidFill>
            <a:schemeClr val="accent1"/>
          </a:solidFill>
          <a:latin typeface="+mj-lt"/>
          <a:ea typeface="+mj-ea"/>
          <a:cs typeface="微软雅黑 Light" panose="020B0502040204020203" pitchFamily="34" charset="-122"/>
        </a:defRPr>
      </a:lvl1pPr>
    </p:titleStyle>
    <p:bodyStyle>
      <a:lvl1pPr marL="342900" indent="-342900" algn="l" defTabSz="914400" rtl="0" eaLnBrk="1" latinLnBrk="0" hangingPunct="1">
        <a:lnSpc>
          <a:spcPct val="120000"/>
        </a:lnSpc>
        <a:spcBef>
          <a:spcPts val="1200"/>
        </a:spcBef>
        <a:buFont typeface="Arial" pitchFamily="34" charset="0"/>
        <a:buChar char="•"/>
        <a:defRPr sz="2600" b="0" kern="1200">
          <a:solidFill>
            <a:schemeClr val="tx1">
              <a:lumMod val="75000"/>
              <a:lumOff val="25000"/>
            </a:schemeClr>
          </a:solidFill>
          <a:latin typeface="+mn-lt"/>
          <a:ea typeface="+mn-ea"/>
          <a:cs typeface="DengXian" charset="0"/>
        </a:defRPr>
      </a:lvl1pPr>
      <a:lvl2pPr marL="742950" indent="-285750" algn="l" defTabSz="914400" rtl="0" eaLnBrk="1" latinLnBrk="0" hangingPunct="1">
        <a:lnSpc>
          <a:spcPct val="120000"/>
        </a:lnSpc>
        <a:spcBef>
          <a:spcPct val="20000"/>
        </a:spcBef>
        <a:buFont typeface="Arial" pitchFamily="34" charset="0"/>
        <a:buChar char="–"/>
        <a:defRPr sz="2400" kern="1200">
          <a:solidFill>
            <a:schemeClr val="tx1">
              <a:lumMod val="75000"/>
              <a:lumOff val="25000"/>
            </a:schemeClr>
          </a:solidFill>
          <a:latin typeface="+mn-lt"/>
          <a:ea typeface="+mn-ea"/>
          <a:cs typeface="DengXian" charset="0"/>
        </a:defRPr>
      </a:lvl2pPr>
      <a:lvl3pPr marL="1143000" indent="-228600" algn="l" defTabSz="914400" rtl="0" eaLnBrk="1" latinLnBrk="0" hangingPunct="1">
        <a:lnSpc>
          <a:spcPct val="120000"/>
        </a:lnSpc>
        <a:spcBef>
          <a:spcPct val="20000"/>
        </a:spcBef>
        <a:buFont typeface="Arial" pitchFamily="34" charset="0"/>
        <a:buChar char="•"/>
        <a:defRPr sz="2000" kern="1200">
          <a:solidFill>
            <a:schemeClr val="tx1">
              <a:lumMod val="75000"/>
              <a:lumOff val="25000"/>
            </a:schemeClr>
          </a:solidFill>
          <a:latin typeface="+mn-lt"/>
          <a:ea typeface="+mn-ea"/>
          <a:cs typeface="DengXian" charset="0"/>
        </a:defRPr>
      </a:lvl3pPr>
      <a:lvl4pPr marL="1600200" indent="-228600" algn="l" defTabSz="914400" rtl="0" eaLnBrk="1" latinLnBrk="0" hangingPunct="1">
        <a:lnSpc>
          <a:spcPct val="120000"/>
        </a:lnSpc>
        <a:spcBef>
          <a:spcPct val="20000"/>
        </a:spcBef>
        <a:buFont typeface="Arial" pitchFamily="34" charset="0"/>
        <a:buChar char="–"/>
        <a:defRPr sz="1800" kern="1200">
          <a:solidFill>
            <a:schemeClr val="tx1">
              <a:lumMod val="75000"/>
              <a:lumOff val="25000"/>
            </a:schemeClr>
          </a:solidFill>
          <a:latin typeface="+mn-lt"/>
          <a:ea typeface="+mn-ea"/>
          <a:cs typeface="DengXian" charset="0"/>
        </a:defRPr>
      </a:lvl4pPr>
      <a:lvl5pPr marL="2057400" indent="-228600" algn="l" defTabSz="914400" rtl="0" eaLnBrk="1" latinLnBrk="0" hangingPunct="1">
        <a:lnSpc>
          <a:spcPct val="120000"/>
        </a:lnSpc>
        <a:spcBef>
          <a:spcPct val="20000"/>
        </a:spcBef>
        <a:buFont typeface="Arial" pitchFamily="34" charset="0"/>
        <a:buChar char="»"/>
        <a:defRPr sz="1800" kern="1200">
          <a:solidFill>
            <a:schemeClr val="tx1">
              <a:lumMod val="75000"/>
              <a:lumOff val="25000"/>
            </a:schemeClr>
          </a:solidFill>
          <a:latin typeface="+mn-lt"/>
          <a:ea typeface="+mn-ea"/>
          <a:cs typeface="DengXian"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hyperlink" Target="https://creativecommons.org/licenses/by/4.0/legalcode"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www.semanticscholar.org/paper/A-large-semaphore-based-operating-system-Lauesen/f028001d7426f7ae6a71f8deee9935a66cba4e04" TargetMode="External"/><Relationship Id="rId2" Type="http://schemas.openxmlformats.org/officeDocument/2006/relationships/image" Target="../media/image6.tif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www.researchgate.net/publication/262350163_Comprehensive_Formal_Verification_of_an_OS_Microkernel" TargetMode="External"/><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www.qnx.com/" TargetMode="External"/><Relationship Id="rId2" Type="http://schemas.openxmlformats.org/officeDocument/2006/relationships/image" Target="../media/image11.tif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tiff"/><Relationship Id="rId1" Type="http://schemas.openxmlformats.org/officeDocument/2006/relationships/slideLayout" Target="../slideLayouts/slideLayout2.xml"/><Relationship Id="rId4" Type="http://schemas.openxmlformats.org/officeDocument/2006/relationships/hyperlink" Target="https://www.zdnet.com/article/minix-intels-hidden-in-chip-operating-system/" TargetMode="Externa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hyperlink" Target="https://zh.wikipedia.org/wiki/%E5%BE%AE%E5%85%A7%E6%A0%B8" TargetMode="External"/></Relationships>
</file>

<file path=ppt/slides/_rels/slide36.xml.rels><?xml version="1.0" encoding="UTF-8" standalone="yes"?>
<Relationships xmlns="http://schemas.openxmlformats.org/package/2006/relationships"><Relationship Id="rId2" Type="http://schemas.openxmlformats.org/officeDocument/2006/relationships/image" Target="../media/image16.tif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7.tif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hyperlink" Target="https://github.com/lkl"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2.tiff"/><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hyperlink" Target="http://www.barrelfish.org/documentation.html" TargetMode="External"/><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4.tiff"/><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C7C6228-E47F-EA4B-8DD8-28647C76DDD6}"/>
              </a:ext>
            </a:extLst>
          </p:cNvPr>
          <p:cNvSpPr>
            <a:spLocks noGrp="1"/>
          </p:cNvSpPr>
          <p:nvPr>
            <p:ph type="ctrTitle"/>
          </p:nvPr>
        </p:nvSpPr>
        <p:spPr>
          <a:xfrm>
            <a:off x="685800" y="1720996"/>
            <a:ext cx="7772400" cy="1225021"/>
          </a:xfrm>
        </p:spPr>
        <p:txBody>
          <a:bodyPr>
            <a:normAutofit/>
          </a:bodyPr>
          <a:lstStyle/>
          <a:p>
            <a:pPr>
              <a:lnSpc>
                <a:spcPct val="110000"/>
              </a:lnSpc>
            </a:pPr>
            <a:r>
              <a:rPr kumimoji="1" lang="zh-CN" altLang="en-US" sz="4800" dirty="0"/>
              <a:t>操作系统架构</a:t>
            </a:r>
          </a:p>
        </p:txBody>
      </p:sp>
      <p:sp>
        <p:nvSpPr>
          <p:cNvPr id="6" name="副标题 5">
            <a:extLst>
              <a:ext uri="{FF2B5EF4-FFF2-40B4-BE49-F238E27FC236}">
                <a16:creationId xmlns:a16="http://schemas.microsoft.com/office/drawing/2014/main" id="{A89EB2B2-D46F-2643-A072-954E7921BC30}"/>
              </a:ext>
            </a:extLst>
          </p:cNvPr>
          <p:cNvSpPr>
            <a:spLocks noGrp="1"/>
          </p:cNvSpPr>
          <p:nvPr>
            <p:ph type="subTitle" idx="1"/>
          </p:nvPr>
        </p:nvSpPr>
        <p:spPr>
          <a:xfrm>
            <a:off x="685800" y="3412362"/>
            <a:ext cx="7772400" cy="1225020"/>
          </a:xfrm>
        </p:spPr>
        <p:txBody>
          <a:bodyPr>
            <a:noAutofit/>
          </a:bodyPr>
          <a:lstStyle/>
          <a:p>
            <a:pPr>
              <a:lnSpc>
                <a:spcPct val="150000"/>
              </a:lnSpc>
              <a:spcBef>
                <a:spcPts val="0"/>
              </a:spcBef>
            </a:pPr>
            <a:r>
              <a:rPr kumimoji="1" lang="en-US" altLang="zh-CN" sz="1800" dirty="0">
                <a:solidFill>
                  <a:schemeClr val="tx1">
                    <a:lumMod val="50000"/>
                    <a:lumOff val="50000"/>
                  </a:schemeClr>
                </a:solidFill>
              </a:rPr>
              <a:t>https://</a:t>
            </a:r>
            <a:r>
              <a:rPr kumimoji="1" lang="en-US" altLang="zh-CN" sz="1800" dirty="0" err="1">
                <a:solidFill>
                  <a:schemeClr val="tx1">
                    <a:lumMod val="50000"/>
                    <a:lumOff val="50000"/>
                  </a:schemeClr>
                </a:solidFill>
              </a:rPr>
              <a:t>ipads.se.sjtu.edu.cn</a:t>
            </a:r>
            <a:endParaRPr kumimoji="1" lang="en" altLang="zh-CN" sz="1800" dirty="0">
              <a:solidFill>
                <a:schemeClr val="tx1">
                  <a:lumMod val="50000"/>
                  <a:lumOff val="50000"/>
                </a:schemeClr>
              </a:solidFill>
            </a:endParaRPr>
          </a:p>
        </p:txBody>
      </p:sp>
      <p:pic>
        <p:nvPicPr>
          <p:cNvPr id="9" name="图片 8">
            <a:extLst>
              <a:ext uri="{FF2B5EF4-FFF2-40B4-BE49-F238E27FC236}">
                <a16:creationId xmlns:a16="http://schemas.microsoft.com/office/drawing/2014/main" id="{23A70DCB-3E4D-4449-82B8-441C200ABD69}"/>
              </a:ext>
            </a:extLst>
          </p:cNvPr>
          <p:cNvPicPr>
            <a:picLocks noChangeAspect="1"/>
          </p:cNvPicPr>
          <p:nvPr/>
        </p:nvPicPr>
        <p:blipFill>
          <a:blip r:embed="rId3" cstate="screen">
            <a:duotone>
              <a:schemeClr val="accent1">
                <a:shade val="45000"/>
                <a:satMod val="135000"/>
              </a:schemeClr>
              <a:prstClr val="white"/>
            </a:duotone>
            <a:extLst>
              <a:ext uri="{28A0092B-C50C-407E-A947-70E740481C1C}">
                <a14:useLocalDpi xmlns:a14="http://schemas.microsoft.com/office/drawing/2010/main"/>
              </a:ext>
            </a:extLst>
          </a:blip>
          <a:stretch>
            <a:fillRect/>
          </a:stretch>
        </p:blipFill>
        <p:spPr>
          <a:xfrm>
            <a:off x="5652120" y="252561"/>
            <a:ext cx="1362088" cy="492009"/>
          </a:xfrm>
          <a:prstGeom prst="rect">
            <a:avLst/>
          </a:prstGeom>
        </p:spPr>
      </p:pic>
      <p:sp>
        <p:nvSpPr>
          <p:cNvPr id="7" name="副标题 2">
            <a:extLst>
              <a:ext uri="{FF2B5EF4-FFF2-40B4-BE49-F238E27FC236}">
                <a16:creationId xmlns:a16="http://schemas.microsoft.com/office/drawing/2014/main" id="{E2120B98-7095-B94B-B13B-75606426BFB4}"/>
              </a:ext>
            </a:extLst>
          </p:cNvPr>
          <p:cNvSpPr txBox="1">
            <a:spLocks/>
          </p:cNvSpPr>
          <p:nvPr/>
        </p:nvSpPr>
        <p:spPr>
          <a:xfrm>
            <a:off x="467544" y="252559"/>
            <a:ext cx="3240360" cy="504056"/>
          </a:xfrm>
          <a:prstGeom prst="rect">
            <a:avLst/>
          </a:prstGeom>
        </p:spPr>
        <p:txBody>
          <a:bodyPr vert="horz" lIns="91440" tIns="45720" rIns="91440" bIns="45720" rtlCol="0">
            <a:normAutofit/>
          </a:bodyPr>
          <a:lstStyle>
            <a:lvl1pPr marL="0" indent="0" algn="ctr" defTabSz="914400" rtl="0" eaLnBrk="1" latinLnBrk="0" hangingPunct="1">
              <a:lnSpc>
                <a:spcPct val="120000"/>
              </a:lnSpc>
              <a:spcBef>
                <a:spcPts val="1200"/>
              </a:spcBef>
              <a:buFont typeface="Arial" pitchFamily="34" charset="0"/>
              <a:buNone/>
              <a:defRPr sz="2600" b="0" kern="1200">
                <a:solidFill>
                  <a:schemeClr val="tx1">
                    <a:tint val="75000"/>
                  </a:schemeClr>
                </a:solidFill>
                <a:latin typeface="+mn-ea"/>
                <a:ea typeface="+mn-ea"/>
                <a:cs typeface="DengXian" charset="0"/>
              </a:defRPr>
            </a:lvl1pPr>
            <a:lvl2pPr marL="457200" indent="0" algn="ctr" defTabSz="914400" rtl="0" eaLnBrk="1" latinLnBrk="0" hangingPunct="1">
              <a:lnSpc>
                <a:spcPct val="120000"/>
              </a:lnSpc>
              <a:spcBef>
                <a:spcPct val="20000"/>
              </a:spcBef>
              <a:buFont typeface="Arial" pitchFamily="34" charset="0"/>
              <a:buNone/>
              <a:defRPr sz="2400" kern="1200">
                <a:solidFill>
                  <a:schemeClr val="tx1">
                    <a:tint val="75000"/>
                  </a:schemeClr>
                </a:solidFill>
                <a:latin typeface="+mn-ea"/>
                <a:ea typeface="+mn-ea"/>
                <a:cs typeface="DengXian" charset="0"/>
              </a:defRPr>
            </a:lvl2pPr>
            <a:lvl3pPr marL="914400" indent="0" algn="ctr" defTabSz="914400" rtl="0" eaLnBrk="1" latinLnBrk="0" hangingPunct="1">
              <a:lnSpc>
                <a:spcPct val="120000"/>
              </a:lnSpc>
              <a:spcBef>
                <a:spcPct val="20000"/>
              </a:spcBef>
              <a:buFont typeface="Arial" pitchFamily="34" charset="0"/>
              <a:buNone/>
              <a:defRPr sz="2000" kern="1200">
                <a:solidFill>
                  <a:schemeClr val="tx1">
                    <a:tint val="75000"/>
                  </a:schemeClr>
                </a:solidFill>
                <a:latin typeface="+mn-ea"/>
                <a:ea typeface="+mn-ea"/>
                <a:cs typeface="DengXian" charset="0"/>
              </a:defRPr>
            </a:lvl3pPr>
            <a:lvl4pPr marL="1371600" indent="0" algn="ctr" defTabSz="914400" rtl="0" eaLnBrk="1" latinLnBrk="0" hangingPunct="1">
              <a:lnSpc>
                <a:spcPct val="120000"/>
              </a:lnSpc>
              <a:spcBef>
                <a:spcPct val="20000"/>
              </a:spcBef>
              <a:buFont typeface="Arial" pitchFamily="34" charset="0"/>
              <a:buNone/>
              <a:defRPr sz="1800" kern="1200">
                <a:solidFill>
                  <a:schemeClr val="tx1">
                    <a:tint val="75000"/>
                  </a:schemeClr>
                </a:solidFill>
                <a:latin typeface="+mn-ea"/>
                <a:ea typeface="+mn-ea"/>
                <a:cs typeface="DengXian" charset="0"/>
              </a:defRPr>
            </a:lvl4pPr>
            <a:lvl5pPr marL="1828800" indent="0" algn="ctr" defTabSz="914400" rtl="0" eaLnBrk="1" latinLnBrk="0" hangingPunct="1">
              <a:lnSpc>
                <a:spcPct val="120000"/>
              </a:lnSpc>
              <a:spcBef>
                <a:spcPct val="20000"/>
              </a:spcBef>
              <a:buFont typeface="Arial" pitchFamily="34" charset="0"/>
              <a:buNone/>
              <a:defRPr sz="1800" kern="1200">
                <a:solidFill>
                  <a:schemeClr val="tx1">
                    <a:tint val="75000"/>
                  </a:schemeClr>
                </a:solidFill>
                <a:latin typeface="+mn-ea"/>
                <a:ea typeface="+mn-ea"/>
                <a:cs typeface="DengXian"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defRPr/>
            </a:pPr>
            <a:r>
              <a:rPr kumimoji="0" lang="zh-CN" altLang="en-US" sz="1400" b="0" i="0" u="none" strike="noStrike" kern="1200" cap="none" spc="0" normalizeH="0" baseline="0" noProof="0">
                <a:ln>
                  <a:noFill/>
                </a:ln>
                <a:solidFill>
                  <a:srgbClr val="000000">
                    <a:lumMod val="75000"/>
                    <a:lumOff val="25000"/>
                  </a:srgbClr>
                </a:solidFill>
                <a:effectLst/>
                <a:uLnTx/>
                <a:uFillTx/>
                <a:latin typeface="Arial" panose="020B0604020202020204"/>
                <a:ea typeface="微软雅黑"/>
              </a:rPr>
              <a:t>操作系统</a:t>
            </a:r>
            <a:endParaRPr kumimoji="0" lang="zh-CN" altLang="en-US" sz="14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a:endParaRPr>
          </a:p>
        </p:txBody>
      </p:sp>
      <p:pic>
        <p:nvPicPr>
          <p:cNvPr id="8" name="Picture 6" descr="http://korean.onlinesjtu.com/%E6%A0%A1%E5%BE%BD%E7%B3%BB%E5%88%97/%E7%BC%A9%E5%B0%8F%E7%89%88/%E8%93%9D%E8%89%B2%E7%B3%BB%20%E5%B0%8F%E5%B0%BA%E5%AF%B8%E6%A0%A1%E5%BE%BD%E5%B1%95%E5%BC%80%E5%BC%8F%20(10mm%E4%BB%A5%E4%B8%8B%E4%BD%BF%E7%94%A8)%20%5b%E8%BD%AC%E6%8D%A2%5d.png">
            <a:extLst>
              <a:ext uri="{FF2B5EF4-FFF2-40B4-BE49-F238E27FC236}">
                <a16:creationId xmlns:a16="http://schemas.microsoft.com/office/drawing/2014/main" id="{9D0C1772-9C9E-534B-9410-16BA28CA6EB4}"/>
              </a:ext>
            </a:extLst>
          </p:cNvPr>
          <p:cNvPicPr>
            <a:picLocks noChangeAspect="1" noChangeArrowheads="1"/>
          </p:cNvPicPr>
          <p:nvPr/>
        </p:nvPicPr>
        <p:blipFill>
          <a:blip r:embed="rId4" cstate="screen">
            <a:duotone>
              <a:schemeClr val="accent1">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7164288" y="282539"/>
            <a:ext cx="1642840" cy="432048"/>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954759439"/>
      </p:ext>
    </p:extLst>
  </p:cSld>
  <p:clrMapOvr>
    <a:masterClrMapping/>
  </p:clrMapOvr>
  <mc:AlternateContent xmlns:mc="http://schemas.openxmlformats.org/markup-compatibility/2006" xmlns:p14="http://schemas.microsoft.com/office/powerpoint/2010/main">
    <mc:Choice Requires="p14">
      <p:transition spd="slow" p14:dur="2000" advTm="11626"/>
    </mc:Choice>
    <mc:Fallback xmlns="">
      <p:transition spd="slow" advTm="11626"/>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BE39C2-86D1-9B45-B569-48F1570E518D}"/>
              </a:ext>
            </a:extLst>
          </p:cNvPr>
          <p:cNvSpPr>
            <a:spLocks noGrp="1"/>
          </p:cNvSpPr>
          <p:nvPr>
            <p:ph type="title"/>
          </p:nvPr>
        </p:nvSpPr>
        <p:spPr/>
        <p:txBody>
          <a:bodyPr/>
          <a:lstStyle/>
          <a:p>
            <a:r>
              <a:rPr kumimoji="1" lang="zh-CN" altLang="en-US" dirty="0"/>
              <a:t>版权声明</a:t>
            </a:r>
          </a:p>
        </p:txBody>
      </p:sp>
      <p:sp>
        <p:nvSpPr>
          <p:cNvPr id="3" name="内容占位符 2">
            <a:extLst>
              <a:ext uri="{FF2B5EF4-FFF2-40B4-BE49-F238E27FC236}">
                <a16:creationId xmlns:a16="http://schemas.microsoft.com/office/drawing/2014/main" id="{695B3383-B219-984C-8D0C-BCF076655903}"/>
              </a:ext>
            </a:extLst>
          </p:cNvPr>
          <p:cNvSpPr>
            <a:spLocks noGrp="1"/>
          </p:cNvSpPr>
          <p:nvPr>
            <p:ph idx="1"/>
          </p:nvPr>
        </p:nvSpPr>
        <p:spPr/>
        <p:txBody>
          <a:bodyPr>
            <a:noAutofit/>
          </a:bodyPr>
          <a:lstStyle/>
          <a:p>
            <a:r>
              <a:rPr lang="zh-CN" altLang="en-US" sz="2000" b="0" dirty="0"/>
              <a:t>本内容版权归</a:t>
            </a:r>
            <a:r>
              <a:rPr lang="zh-CN" altLang="en-US" sz="2000" dirty="0"/>
              <a:t>上海交通大学并行与分布式系统研究所</a:t>
            </a:r>
            <a:r>
              <a:rPr lang="zh-CN" altLang="en-US" sz="2000" b="0" dirty="0"/>
              <a:t>所有</a:t>
            </a:r>
            <a:endParaRPr lang="en-US" altLang="zh-CN" sz="2000" b="0" dirty="0"/>
          </a:p>
          <a:p>
            <a:r>
              <a:rPr lang="zh-CN" altLang="en-US" sz="2000" b="0" dirty="0"/>
              <a:t>使用者可以将全部或部分本内容免费用于非商业用途</a:t>
            </a:r>
            <a:endParaRPr lang="en-US" altLang="zh-CN" sz="2000" b="0" dirty="0"/>
          </a:p>
          <a:p>
            <a:r>
              <a:rPr lang="zh-CN" altLang="en-US" sz="2000" b="0" dirty="0"/>
              <a:t>使用者在使用全部或部分本内容时请注明来源</a:t>
            </a:r>
            <a:endParaRPr lang="en-US" altLang="zh-CN" sz="2000" b="0" dirty="0"/>
          </a:p>
          <a:p>
            <a:pPr lvl="1"/>
            <a:r>
              <a:rPr lang="zh-CN" altLang="en-US" sz="1600" dirty="0"/>
              <a:t>内容</a:t>
            </a:r>
            <a:r>
              <a:rPr lang="zh-CN" altLang="en-US" sz="1600" b="0" dirty="0"/>
              <a:t>来自</a:t>
            </a:r>
            <a:r>
              <a:rPr lang="zh-CN" altLang="en-US" sz="1600" dirty="0"/>
              <a:t>：上海交通大学并行与分布式系统研究所</a:t>
            </a:r>
            <a:r>
              <a:rPr lang="en-US" altLang="zh-CN" sz="1600" dirty="0"/>
              <a:t>+</a:t>
            </a:r>
            <a:r>
              <a:rPr lang="zh-CN" altLang="en-US" sz="1600" dirty="0"/>
              <a:t>材料名字</a:t>
            </a:r>
            <a:endParaRPr lang="en-US" altLang="zh-CN" sz="1600" b="0" dirty="0"/>
          </a:p>
          <a:p>
            <a:r>
              <a:rPr lang="zh-CN" altLang="en-US" sz="2000" b="0" dirty="0"/>
              <a:t>对于不遵守此声明或者其他违法使用本内容者，将依法保留追究权</a:t>
            </a:r>
            <a:endParaRPr lang="en-US" altLang="zh-CN" sz="2000" b="0" dirty="0"/>
          </a:p>
          <a:p>
            <a:r>
              <a:rPr lang="zh-CN" altLang="en-US" sz="2000" b="0" dirty="0"/>
              <a:t>本内容的发布采用 </a:t>
            </a:r>
            <a:r>
              <a:rPr lang="en-US" altLang="zh-CN" sz="2000" b="0" dirty="0"/>
              <a:t>Creative Commons</a:t>
            </a:r>
            <a:r>
              <a:rPr lang="zh-CN" altLang="en-US" sz="2000" b="0" dirty="0"/>
              <a:t> </a:t>
            </a:r>
            <a:r>
              <a:rPr lang="en-US" altLang="zh-CN" sz="2000" b="0" dirty="0"/>
              <a:t>Attribution</a:t>
            </a:r>
            <a:r>
              <a:rPr lang="zh-CN" altLang="en-US" sz="2000" b="0" dirty="0"/>
              <a:t> </a:t>
            </a:r>
            <a:r>
              <a:rPr lang="en-US" altLang="zh-CN" sz="2000" b="0" dirty="0"/>
              <a:t>4.0</a:t>
            </a:r>
            <a:r>
              <a:rPr lang="zh-CN" altLang="en-US" sz="2000" b="0" dirty="0"/>
              <a:t> </a:t>
            </a:r>
            <a:r>
              <a:rPr lang="en-US" altLang="zh-CN" sz="2000" b="0" dirty="0"/>
              <a:t>License</a:t>
            </a:r>
            <a:endParaRPr lang="en-US" altLang="zh-CN" sz="2400" b="0" dirty="0"/>
          </a:p>
          <a:p>
            <a:pPr lvl="1"/>
            <a:r>
              <a:rPr lang="zh-CN" altLang="en-US" sz="1600" dirty="0"/>
              <a:t>完整文本：</a:t>
            </a:r>
            <a:r>
              <a:rPr lang="en-US" altLang="zh-CN" sz="1600" dirty="0">
                <a:hlinkClick r:id="rId2"/>
              </a:rPr>
              <a:t>https://creativecommons.org/licenses/by/4.0/legalcode</a:t>
            </a:r>
            <a:endParaRPr lang="en-US" altLang="zh-CN" sz="1800" b="0" dirty="0"/>
          </a:p>
          <a:p>
            <a:endParaRPr kumimoji="1" lang="zh-CN" altLang="en-US" sz="2000" dirty="0"/>
          </a:p>
        </p:txBody>
      </p:sp>
      <p:sp>
        <p:nvSpPr>
          <p:cNvPr id="4" name="灯片编号占位符 3">
            <a:extLst>
              <a:ext uri="{FF2B5EF4-FFF2-40B4-BE49-F238E27FC236}">
                <a16:creationId xmlns:a16="http://schemas.microsoft.com/office/drawing/2014/main" id="{70D6275D-0E58-1C46-BA79-C46B2D55F355}"/>
              </a:ext>
            </a:extLst>
          </p:cNvPr>
          <p:cNvSpPr>
            <a:spLocks noGrp="1"/>
          </p:cNvSpPr>
          <p:nvPr>
            <p:ph type="sldNum" sz="quarter" idx="12"/>
          </p:nvPr>
        </p:nvSpPr>
        <p:spPr/>
        <p:txBody>
          <a:bodyPr/>
          <a:lstStyle/>
          <a:p>
            <a:fld id="{ADE361C3-C043-4A6E-BDCE-8DA1E7D90A3B}" type="slidenum">
              <a:rPr lang="zh-CN" altLang="en-US" smtClean="0"/>
              <a:t>2</a:t>
            </a:fld>
            <a:endParaRPr lang="zh-CN" altLang="en-US"/>
          </a:p>
        </p:txBody>
      </p:sp>
    </p:spTree>
    <p:extLst>
      <p:ext uri="{BB962C8B-B14F-4D97-AF65-F5344CB8AC3E}">
        <p14:creationId xmlns:p14="http://schemas.microsoft.com/office/powerpoint/2010/main" val="1615226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7C3CFBB2-29A4-9845-909C-D2C6211C1301}"/>
              </a:ext>
            </a:extLst>
          </p:cNvPr>
          <p:cNvSpPr>
            <a:spLocks noGrp="1"/>
          </p:cNvSpPr>
          <p:nvPr>
            <p:ph type="title"/>
          </p:nvPr>
        </p:nvSpPr>
        <p:spPr/>
        <p:txBody>
          <a:bodyPr/>
          <a:lstStyle/>
          <a:p>
            <a:r>
              <a:rPr kumimoji="1" lang="zh-CN" altLang="en-US" b="1" dirty="0"/>
              <a:t>为什么要有操作系统？</a:t>
            </a:r>
          </a:p>
        </p:txBody>
      </p:sp>
      <p:sp>
        <p:nvSpPr>
          <p:cNvPr id="6" name="文本占位符 5">
            <a:extLst>
              <a:ext uri="{FF2B5EF4-FFF2-40B4-BE49-F238E27FC236}">
                <a16:creationId xmlns:a16="http://schemas.microsoft.com/office/drawing/2014/main" id="{88326478-0DD6-F849-B334-5BDB7DEEC82C}"/>
              </a:ext>
            </a:extLst>
          </p:cNvPr>
          <p:cNvSpPr>
            <a:spLocks noGrp="1"/>
          </p:cNvSpPr>
          <p:nvPr>
            <p:ph type="body" idx="1"/>
          </p:nvPr>
        </p:nvSpPr>
        <p:spPr/>
        <p:txBody>
          <a:bodyPr/>
          <a:lstStyle/>
          <a:p>
            <a:endParaRPr kumimoji="1" lang="zh-CN" altLang="en-US"/>
          </a:p>
        </p:txBody>
      </p:sp>
    </p:spTree>
    <p:extLst>
      <p:ext uri="{BB962C8B-B14F-4D97-AF65-F5344CB8AC3E}">
        <p14:creationId xmlns:p14="http://schemas.microsoft.com/office/powerpoint/2010/main" val="10254186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BB417F-525C-7D4D-8DAC-129D8194BACA}"/>
              </a:ext>
            </a:extLst>
          </p:cNvPr>
          <p:cNvSpPr>
            <a:spLocks noGrp="1"/>
          </p:cNvSpPr>
          <p:nvPr>
            <p:ph type="title"/>
          </p:nvPr>
        </p:nvSpPr>
        <p:spPr/>
        <p:txBody>
          <a:bodyPr/>
          <a:lstStyle/>
          <a:p>
            <a:r>
              <a:rPr kumimoji="1" lang="zh-CN" altLang="en-US" dirty="0"/>
              <a:t>应用与操作系统的解耦</a:t>
            </a:r>
          </a:p>
        </p:txBody>
      </p:sp>
      <p:sp>
        <p:nvSpPr>
          <p:cNvPr id="3" name="内容占位符 2">
            <a:extLst>
              <a:ext uri="{FF2B5EF4-FFF2-40B4-BE49-F238E27FC236}">
                <a16:creationId xmlns:a16="http://schemas.microsoft.com/office/drawing/2014/main" id="{E55384EB-E3D1-4044-A981-C479F0ED1978}"/>
              </a:ext>
            </a:extLst>
          </p:cNvPr>
          <p:cNvSpPr>
            <a:spLocks noGrp="1"/>
          </p:cNvSpPr>
          <p:nvPr>
            <p:ph idx="1"/>
          </p:nvPr>
        </p:nvSpPr>
        <p:spPr/>
        <p:txBody>
          <a:bodyPr>
            <a:normAutofit/>
          </a:bodyPr>
          <a:lstStyle/>
          <a:p>
            <a:r>
              <a:rPr kumimoji="1" lang="zh-CN" altLang="en-US" sz="2000" dirty="0"/>
              <a:t>在最早的时候，并不区分应用与操作系统</a:t>
            </a:r>
            <a:endParaRPr kumimoji="1" lang="en-US" altLang="zh-CN" sz="2000" dirty="0"/>
          </a:p>
          <a:p>
            <a:pPr lvl="1"/>
            <a:r>
              <a:rPr kumimoji="1" lang="zh-CN" altLang="en-US" sz="1800" dirty="0"/>
              <a:t>所有功能都在一起，负责开发的也是同一批人</a:t>
            </a:r>
            <a:endParaRPr kumimoji="1" lang="en-US" altLang="zh-CN" sz="1800" dirty="0"/>
          </a:p>
          <a:p>
            <a:r>
              <a:rPr kumimoji="1" lang="zh-CN" altLang="en-US" sz="2000" dirty="0"/>
              <a:t>随着功能越来越多，开始出现分化和分工</a:t>
            </a:r>
            <a:endParaRPr kumimoji="1" lang="en-US" altLang="zh-CN" sz="2000" dirty="0"/>
          </a:p>
          <a:p>
            <a:pPr lvl="1"/>
            <a:r>
              <a:rPr kumimoji="1" lang="zh-CN" altLang="en-US" sz="1800" dirty="0"/>
              <a:t>有些底层功能被频繁复用，如对存储设备的操作</a:t>
            </a:r>
            <a:endParaRPr kumimoji="1" lang="en-US" altLang="zh-CN" sz="1800" dirty="0"/>
          </a:p>
          <a:p>
            <a:pPr lvl="1"/>
            <a:r>
              <a:rPr kumimoji="1" lang="zh-CN" altLang="en-US" sz="1800" dirty="0"/>
              <a:t>这些常用的功能形成了特定的模块，通过接口与其他模块交互</a:t>
            </a:r>
            <a:endParaRPr kumimoji="1" lang="en-US" altLang="zh-CN" sz="1800" dirty="0"/>
          </a:p>
          <a:p>
            <a:pPr lvl="2"/>
            <a:r>
              <a:rPr kumimoji="1" lang="zh-CN" altLang="en-US" sz="1600" dirty="0"/>
              <a:t>例如：存储模块，可将存储抽象成一个大数组</a:t>
            </a:r>
            <a:endParaRPr kumimoji="1" lang="en-US" altLang="zh-CN" sz="1600" dirty="0"/>
          </a:p>
          <a:p>
            <a:pPr lvl="1"/>
            <a:r>
              <a:rPr kumimoji="1" lang="zh-CN" altLang="en-US" sz="1800" dirty="0"/>
              <a:t>但这并不一定需要操作系统</a:t>
            </a:r>
            <a:r>
              <a:rPr kumimoji="1" lang="en-US" altLang="zh-CN" sz="1800" dirty="0"/>
              <a:t>——</a:t>
            </a:r>
            <a:r>
              <a:rPr kumimoji="1" lang="zh-CN" altLang="en-US" sz="1800" dirty="0"/>
              <a:t>比如，可以以库的方式存在</a:t>
            </a:r>
            <a:endParaRPr kumimoji="1" lang="en-US" altLang="zh-CN" sz="1800" dirty="0"/>
          </a:p>
          <a:p>
            <a:r>
              <a:rPr kumimoji="1" lang="zh-CN" altLang="en-US" sz="2000" dirty="0"/>
              <a:t>那么，为什么不能把操作系统作为一个库呢？</a:t>
            </a:r>
          </a:p>
        </p:txBody>
      </p:sp>
      <p:sp>
        <p:nvSpPr>
          <p:cNvPr id="4" name="灯片编号占位符 3">
            <a:extLst>
              <a:ext uri="{FF2B5EF4-FFF2-40B4-BE49-F238E27FC236}">
                <a16:creationId xmlns:a16="http://schemas.microsoft.com/office/drawing/2014/main" id="{B883EBD4-B249-E54D-B2EF-703318B73F19}"/>
              </a:ext>
            </a:extLst>
          </p:cNvPr>
          <p:cNvSpPr>
            <a:spLocks noGrp="1"/>
          </p:cNvSpPr>
          <p:nvPr>
            <p:ph type="sldNum" sz="quarter" idx="12"/>
          </p:nvPr>
        </p:nvSpPr>
        <p:spPr/>
        <p:txBody>
          <a:bodyPr/>
          <a:lstStyle/>
          <a:p>
            <a:fld id="{ADE361C3-C043-4A6E-BDCE-8DA1E7D90A3B}" type="slidenum">
              <a:rPr lang="zh-CN" altLang="en-US" smtClean="0"/>
              <a:t>4</a:t>
            </a:fld>
            <a:endParaRPr lang="zh-CN" altLang="en-US"/>
          </a:p>
        </p:txBody>
      </p:sp>
      <p:sp>
        <p:nvSpPr>
          <p:cNvPr id="6" name="文本框 5">
            <a:extLst>
              <a:ext uri="{FF2B5EF4-FFF2-40B4-BE49-F238E27FC236}">
                <a16:creationId xmlns:a16="http://schemas.microsoft.com/office/drawing/2014/main" id="{472C443A-08AD-ECE0-06C1-6C8C6F411E1E}"/>
              </a:ext>
            </a:extLst>
          </p:cNvPr>
          <p:cNvSpPr txBox="1"/>
          <p:nvPr/>
        </p:nvSpPr>
        <p:spPr>
          <a:xfrm>
            <a:off x="5796136" y="253876"/>
            <a:ext cx="3077763" cy="1060931"/>
          </a:xfrm>
          <a:prstGeom prst="rect">
            <a:avLst/>
          </a:prstGeom>
          <a:noFill/>
          <a:ln>
            <a:solidFill>
              <a:schemeClr val="accent3"/>
            </a:solidFill>
          </a:ln>
        </p:spPr>
        <p:txBody>
          <a:bodyPr wrap="square">
            <a:spAutoFit/>
          </a:bodyPr>
          <a:lstStyle/>
          <a:p>
            <a:pPr>
              <a:lnSpc>
                <a:spcPct val="120000"/>
              </a:lnSpc>
            </a:pPr>
            <a:r>
              <a:rPr kumimoji="1" lang="zh-CN" altLang="en-US" sz="1800" b="1" dirty="0">
                <a:solidFill>
                  <a:schemeClr val="accent3"/>
                </a:solidFill>
                <a:latin typeface="KaiTi" panose="02010609060101010101" pitchFamily="49" charset="-122"/>
                <a:ea typeface="KaiTi" panose="02010609060101010101" pitchFamily="49" charset="-122"/>
              </a:rPr>
              <a:t>康威定律：设计系统的架构受制于产生这些设计的组织的沟通结构。</a:t>
            </a:r>
            <a:endParaRPr lang="zh-CN" altLang="en-US" b="1" dirty="0">
              <a:solidFill>
                <a:schemeClr val="accent3"/>
              </a:solidFill>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5494544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953ABD-BAA6-3143-8366-381FB8FF0691}"/>
              </a:ext>
            </a:extLst>
          </p:cNvPr>
          <p:cNvSpPr>
            <a:spLocks noGrp="1"/>
          </p:cNvSpPr>
          <p:nvPr>
            <p:ph type="title"/>
          </p:nvPr>
        </p:nvSpPr>
        <p:spPr/>
        <p:txBody>
          <a:bodyPr/>
          <a:lstStyle/>
          <a:p>
            <a:r>
              <a:rPr kumimoji="1" lang="zh-CN" altLang="en-US" dirty="0"/>
              <a:t>操作系统的分化</a:t>
            </a:r>
          </a:p>
        </p:txBody>
      </p:sp>
      <p:sp>
        <p:nvSpPr>
          <p:cNvPr id="4" name="灯片编号占位符 3">
            <a:extLst>
              <a:ext uri="{FF2B5EF4-FFF2-40B4-BE49-F238E27FC236}">
                <a16:creationId xmlns:a16="http://schemas.microsoft.com/office/drawing/2014/main" id="{A5B7D10B-DBDD-6C4C-B752-498EC331CE28}"/>
              </a:ext>
            </a:extLst>
          </p:cNvPr>
          <p:cNvSpPr>
            <a:spLocks noGrp="1"/>
          </p:cNvSpPr>
          <p:nvPr>
            <p:ph type="sldNum" sz="quarter" idx="12"/>
          </p:nvPr>
        </p:nvSpPr>
        <p:spPr/>
        <p:txBody>
          <a:bodyPr/>
          <a:lstStyle/>
          <a:p>
            <a:fld id="{ADE361C3-C043-4A6E-BDCE-8DA1E7D90A3B}" type="slidenum">
              <a:rPr lang="zh-CN" altLang="en-US" smtClean="0"/>
              <a:t>5</a:t>
            </a:fld>
            <a:endParaRPr lang="zh-CN" altLang="en-US"/>
          </a:p>
        </p:txBody>
      </p:sp>
      <p:sp>
        <p:nvSpPr>
          <p:cNvPr id="5" name="圆角矩形 4">
            <a:extLst>
              <a:ext uri="{FF2B5EF4-FFF2-40B4-BE49-F238E27FC236}">
                <a16:creationId xmlns:a16="http://schemas.microsoft.com/office/drawing/2014/main" id="{7EB76F47-B51B-0749-ADD2-53423C160E20}"/>
              </a:ext>
            </a:extLst>
          </p:cNvPr>
          <p:cNvSpPr/>
          <p:nvPr/>
        </p:nvSpPr>
        <p:spPr>
          <a:xfrm>
            <a:off x="683568" y="1795845"/>
            <a:ext cx="1473324" cy="1665365"/>
          </a:xfrm>
          <a:prstGeom prst="roundRect">
            <a:avLst>
              <a:gd name="adj" fmla="val 8201"/>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t>软件</a:t>
            </a:r>
          </a:p>
        </p:txBody>
      </p:sp>
      <p:sp>
        <p:nvSpPr>
          <p:cNvPr id="6" name="圆角矩形 5">
            <a:extLst>
              <a:ext uri="{FF2B5EF4-FFF2-40B4-BE49-F238E27FC236}">
                <a16:creationId xmlns:a16="http://schemas.microsoft.com/office/drawing/2014/main" id="{60CF39FB-5310-8C45-9E54-935605B590C6}"/>
              </a:ext>
            </a:extLst>
          </p:cNvPr>
          <p:cNvSpPr/>
          <p:nvPr/>
        </p:nvSpPr>
        <p:spPr>
          <a:xfrm>
            <a:off x="683568" y="3723347"/>
            <a:ext cx="1473324" cy="541964"/>
          </a:xfrm>
          <a:prstGeom prst="roundRect">
            <a:avLst>
              <a:gd name="adj" fmla="val 16635"/>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t>硬件</a:t>
            </a:r>
          </a:p>
        </p:txBody>
      </p:sp>
      <p:sp>
        <p:nvSpPr>
          <p:cNvPr id="8" name="圆角矩形 7">
            <a:extLst>
              <a:ext uri="{FF2B5EF4-FFF2-40B4-BE49-F238E27FC236}">
                <a16:creationId xmlns:a16="http://schemas.microsoft.com/office/drawing/2014/main" id="{19825525-1C84-F342-A36F-5DC362F746F5}"/>
              </a:ext>
            </a:extLst>
          </p:cNvPr>
          <p:cNvSpPr/>
          <p:nvPr/>
        </p:nvSpPr>
        <p:spPr>
          <a:xfrm>
            <a:off x="2810644" y="1795845"/>
            <a:ext cx="1473324" cy="701615"/>
          </a:xfrm>
          <a:prstGeom prst="roundRect">
            <a:avLst>
              <a:gd name="adj" fmla="val 20743"/>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t>硬件无关部分</a:t>
            </a:r>
          </a:p>
        </p:txBody>
      </p:sp>
      <p:sp>
        <p:nvSpPr>
          <p:cNvPr id="9" name="圆角矩形 8">
            <a:extLst>
              <a:ext uri="{FF2B5EF4-FFF2-40B4-BE49-F238E27FC236}">
                <a16:creationId xmlns:a16="http://schemas.microsoft.com/office/drawing/2014/main" id="{8382B8DC-88B1-7E46-A175-A3A0C1F283DA}"/>
              </a:ext>
            </a:extLst>
          </p:cNvPr>
          <p:cNvSpPr/>
          <p:nvPr/>
        </p:nvSpPr>
        <p:spPr>
          <a:xfrm>
            <a:off x="2810644" y="3723347"/>
            <a:ext cx="1473324" cy="541964"/>
          </a:xfrm>
          <a:prstGeom prst="roundRect">
            <a:avLst>
              <a:gd name="adj" fmla="val 16635"/>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t>硬件</a:t>
            </a:r>
          </a:p>
        </p:txBody>
      </p:sp>
      <p:sp>
        <p:nvSpPr>
          <p:cNvPr id="10" name="圆角矩形 9">
            <a:extLst>
              <a:ext uri="{FF2B5EF4-FFF2-40B4-BE49-F238E27FC236}">
                <a16:creationId xmlns:a16="http://schemas.microsoft.com/office/drawing/2014/main" id="{5288F513-E4DC-344F-84C3-982CED15BAF9}"/>
              </a:ext>
            </a:extLst>
          </p:cNvPr>
          <p:cNvSpPr/>
          <p:nvPr/>
        </p:nvSpPr>
        <p:spPr>
          <a:xfrm>
            <a:off x="2810644" y="2759595"/>
            <a:ext cx="1473324" cy="701615"/>
          </a:xfrm>
          <a:prstGeom prst="roundRect">
            <a:avLst>
              <a:gd name="adj" fmla="val 17607"/>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t>硬件抽象部分</a:t>
            </a:r>
          </a:p>
        </p:txBody>
      </p:sp>
      <p:sp>
        <p:nvSpPr>
          <p:cNvPr id="11" name="圆角矩形 10">
            <a:extLst>
              <a:ext uri="{FF2B5EF4-FFF2-40B4-BE49-F238E27FC236}">
                <a16:creationId xmlns:a16="http://schemas.microsoft.com/office/drawing/2014/main" id="{4B73FB20-DACF-3C4B-9E6A-E68CDFB2BB4B}"/>
              </a:ext>
            </a:extLst>
          </p:cNvPr>
          <p:cNvSpPr/>
          <p:nvPr/>
        </p:nvSpPr>
        <p:spPr>
          <a:xfrm>
            <a:off x="4911840" y="1795845"/>
            <a:ext cx="1473324" cy="701615"/>
          </a:xfrm>
          <a:prstGeom prst="roundRect">
            <a:avLst>
              <a:gd name="adj" fmla="val 20743"/>
            </a:avLst>
          </a:prstGeom>
          <a:solidFill>
            <a:schemeClr val="accent4">
              <a:lumMod val="40000"/>
              <a:lumOff val="6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zh-CN" altLang="en-US" sz="1200" dirty="0">
                <a:solidFill>
                  <a:schemeClr val="tx1"/>
                </a:solidFill>
              </a:rPr>
              <a:t>硬件</a:t>
            </a:r>
            <a:r>
              <a:rPr kumimoji="1" lang="zh-CN" altLang="en-US" sz="1200">
                <a:solidFill>
                  <a:schemeClr val="tx1"/>
                </a:solidFill>
              </a:rPr>
              <a:t>无关部分</a:t>
            </a:r>
            <a:endParaRPr kumimoji="1" lang="en-US" altLang="zh-CN" sz="1200" dirty="0">
              <a:solidFill>
                <a:schemeClr val="tx1"/>
              </a:solidFill>
            </a:endParaRPr>
          </a:p>
          <a:p>
            <a:pPr algn="ctr"/>
            <a:r>
              <a:rPr kumimoji="1" lang="en-US" altLang="zh-CN" sz="1200">
                <a:solidFill>
                  <a:schemeClr val="tx1"/>
                </a:solidFill>
              </a:rPr>
              <a:t>+</a:t>
            </a:r>
            <a:endParaRPr kumimoji="1" lang="en-US" altLang="zh-CN" sz="1200" dirty="0">
              <a:solidFill>
                <a:schemeClr val="tx1"/>
              </a:solidFill>
            </a:endParaRPr>
          </a:p>
          <a:p>
            <a:pPr algn="ctr"/>
            <a:r>
              <a:rPr kumimoji="1" lang="zh-CN" altLang="en-US" sz="1200" dirty="0">
                <a:solidFill>
                  <a:schemeClr val="tx1"/>
                </a:solidFill>
              </a:rPr>
              <a:t>非特权操作部分</a:t>
            </a:r>
          </a:p>
        </p:txBody>
      </p:sp>
      <p:sp>
        <p:nvSpPr>
          <p:cNvPr id="12" name="圆角矩形 11">
            <a:extLst>
              <a:ext uri="{FF2B5EF4-FFF2-40B4-BE49-F238E27FC236}">
                <a16:creationId xmlns:a16="http://schemas.microsoft.com/office/drawing/2014/main" id="{8B06A5F2-9B49-EE45-94DC-07E269B45214}"/>
              </a:ext>
            </a:extLst>
          </p:cNvPr>
          <p:cNvSpPr/>
          <p:nvPr/>
        </p:nvSpPr>
        <p:spPr>
          <a:xfrm>
            <a:off x="4911840" y="3723347"/>
            <a:ext cx="1473324" cy="541964"/>
          </a:xfrm>
          <a:prstGeom prst="roundRect">
            <a:avLst>
              <a:gd name="adj" fmla="val 16635"/>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t>硬件（支持特权）</a:t>
            </a:r>
          </a:p>
        </p:txBody>
      </p:sp>
      <p:sp>
        <p:nvSpPr>
          <p:cNvPr id="13" name="圆角矩形 12">
            <a:extLst>
              <a:ext uri="{FF2B5EF4-FFF2-40B4-BE49-F238E27FC236}">
                <a16:creationId xmlns:a16="http://schemas.microsoft.com/office/drawing/2014/main" id="{6A526A3F-126C-4E48-ACFC-053261837650}"/>
              </a:ext>
            </a:extLst>
          </p:cNvPr>
          <p:cNvSpPr/>
          <p:nvPr/>
        </p:nvSpPr>
        <p:spPr>
          <a:xfrm>
            <a:off x="4911840" y="2759596"/>
            <a:ext cx="1473324" cy="701615"/>
          </a:xfrm>
          <a:prstGeom prst="roundRect">
            <a:avLst>
              <a:gd name="adj" fmla="val 17607"/>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t>硬件抽象部分</a:t>
            </a:r>
            <a:endParaRPr kumimoji="1" lang="en-US" altLang="zh-CN" sz="1200" dirty="0"/>
          </a:p>
          <a:p>
            <a:pPr algn="ctr"/>
            <a:r>
              <a:rPr kumimoji="1" lang="en-US" altLang="zh-CN" sz="1200" dirty="0"/>
              <a:t>+</a:t>
            </a:r>
          </a:p>
          <a:p>
            <a:pPr algn="ctr"/>
            <a:r>
              <a:rPr kumimoji="1" lang="zh-CN" altLang="en-US" sz="1200" dirty="0"/>
              <a:t>特权操作部分</a:t>
            </a:r>
          </a:p>
        </p:txBody>
      </p:sp>
      <p:cxnSp>
        <p:nvCxnSpPr>
          <p:cNvPr id="15" name="直线箭头连接符 14">
            <a:extLst>
              <a:ext uri="{FF2B5EF4-FFF2-40B4-BE49-F238E27FC236}">
                <a16:creationId xmlns:a16="http://schemas.microsoft.com/office/drawing/2014/main" id="{4E841A3B-33E9-A742-8C43-E5312EA4A557}"/>
              </a:ext>
            </a:extLst>
          </p:cNvPr>
          <p:cNvCxnSpPr>
            <a:stCxn id="8" idx="2"/>
            <a:endCxn id="10" idx="0"/>
          </p:cNvCxnSpPr>
          <p:nvPr/>
        </p:nvCxnSpPr>
        <p:spPr>
          <a:xfrm>
            <a:off x="3547306" y="2497460"/>
            <a:ext cx="0" cy="262135"/>
          </a:xfrm>
          <a:prstGeom prst="straightConnector1">
            <a:avLst/>
          </a:prstGeom>
          <a:ln>
            <a:solidFill>
              <a:schemeClr val="accent1"/>
            </a:solidFill>
            <a:tailEnd type="triangle"/>
          </a:ln>
        </p:spPr>
        <p:style>
          <a:lnRef idx="1">
            <a:schemeClr val="dk1"/>
          </a:lnRef>
          <a:fillRef idx="0">
            <a:schemeClr val="dk1"/>
          </a:fillRef>
          <a:effectRef idx="0">
            <a:schemeClr val="dk1"/>
          </a:effectRef>
          <a:fontRef idx="minor">
            <a:schemeClr val="tx1"/>
          </a:fontRef>
        </p:style>
      </p:cxnSp>
      <p:cxnSp>
        <p:nvCxnSpPr>
          <p:cNvPr id="17" name="直线连接符 16">
            <a:extLst>
              <a:ext uri="{FF2B5EF4-FFF2-40B4-BE49-F238E27FC236}">
                <a16:creationId xmlns:a16="http://schemas.microsoft.com/office/drawing/2014/main" id="{E049675C-6883-AE4B-BC3E-EDADB43B3A98}"/>
              </a:ext>
            </a:extLst>
          </p:cNvPr>
          <p:cNvCxnSpPr>
            <a:cxnSpLocks/>
          </p:cNvCxnSpPr>
          <p:nvPr/>
        </p:nvCxnSpPr>
        <p:spPr>
          <a:xfrm>
            <a:off x="4839832" y="2641476"/>
            <a:ext cx="1656184" cy="0"/>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sp>
        <p:nvSpPr>
          <p:cNvPr id="19" name="下箭头 18">
            <a:extLst>
              <a:ext uri="{FF2B5EF4-FFF2-40B4-BE49-F238E27FC236}">
                <a16:creationId xmlns:a16="http://schemas.microsoft.com/office/drawing/2014/main" id="{880CDE1A-D635-AC49-B927-6D10E08E79AF}"/>
              </a:ext>
            </a:extLst>
          </p:cNvPr>
          <p:cNvSpPr/>
          <p:nvPr/>
        </p:nvSpPr>
        <p:spPr>
          <a:xfrm>
            <a:off x="5540490" y="2497460"/>
            <a:ext cx="216024" cy="262135"/>
          </a:xfrm>
          <a:prstGeom prst="downArrow">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矩形 19">
            <a:extLst>
              <a:ext uri="{FF2B5EF4-FFF2-40B4-BE49-F238E27FC236}">
                <a16:creationId xmlns:a16="http://schemas.microsoft.com/office/drawing/2014/main" id="{13ECF690-D4B3-7743-82CC-9EEA42B735AC}"/>
              </a:ext>
            </a:extLst>
          </p:cNvPr>
          <p:cNvSpPr/>
          <p:nvPr/>
        </p:nvSpPr>
        <p:spPr>
          <a:xfrm>
            <a:off x="6496016" y="2925736"/>
            <a:ext cx="1107996" cy="369332"/>
          </a:xfrm>
          <a:prstGeom prst="rect">
            <a:avLst/>
          </a:prstGeom>
        </p:spPr>
        <p:txBody>
          <a:bodyPr wrap="none">
            <a:spAutoFit/>
          </a:bodyPr>
          <a:lstStyle/>
          <a:p>
            <a:r>
              <a:rPr kumimoji="1" lang="zh-CN" altLang="en-US" b="1" dirty="0">
                <a:solidFill>
                  <a:schemeClr val="accent1"/>
                </a:solidFill>
              </a:rPr>
              <a:t>操作系统</a:t>
            </a:r>
            <a:endParaRPr lang="zh-CN" altLang="en-US" b="1" dirty="0">
              <a:solidFill>
                <a:schemeClr val="accent1"/>
              </a:solidFill>
            </a:endParaRPr>
          </a:p>
        </p:txBody>
      </p:sp>
      <p:sp>
        <p:nvSpPr>
          <p:cNvPr id="21" name="矩形 20">
            <a:extLst>
              <a:ext uri="{FF2B5EF4-FFF2-40B4-BE49-F238E27FC236}">
                <a16:creationId xmlns:a16="http://schemas.microsoft.com/office/drawing/2014/main" id="{EE3F6EDE-9A22-6641-BA99-4DF76611506F}"/>
              </a:ext>
            </a:extLst>
          </p:cNvPr>
          <p:cNvSpPr/>
          <p:nvPr/>
        </p:nvSpPr>
        <p:spPr>
          <a:xfrm>
            <a:off x="6496016" y="1961986"/>
            <a:ext cx="1107996" cy="369332"/>
          </a:xfrm>
          <a:prstGeom prst="rect">
            <a:avLst/>
          </a:prstGeom>
        </p:spPr>
        <p:txBody>
          <a:bodyPr wrap="none">
            <a:spAutoFit/>
          </a:bodyPr>
          <a:lstStyle/>
          <a:p>
            <a:r>
              <a:rPr kumimoji="1" lang="zh-CN" altLang="en-US" b="1" dirty="0">
                <a:solidFill>
                  <a:schemeClr val="accent4">
                    <a:lumMod val="75000"/>
                  </a:schemeClr>
                </a:solidFill>
              </a:rPr>
              <a:t>应用程序</a:t>
            </a:r>
            <a:endParaRPr lang="zh-CN" altLang="en-US" b="1" dirty="0">
              <a:solidFill>
                <a:schemeClr val="accent4">
                  <a:lumMod val="75000"/>
                </a:schemeClr>
              </a:solidFill>
            </a:endParaRPr>
          </a:p>
        </p:txBody>
      </p:sp>
      <p:sp>
        <p:nvSpPr>
          <p:cNvPr id="22" name="矩形 21">
            <a:extLst>
              <a:ext uri="{FF2B5EF4-FFF2-40B4-BE49-F238E27FC236}">
                <a16:creationId xmlns:a16="http://schemas.microsoft.com/office/drawing/2014/main" id="{96A316CD-15BE-6B46-A35C-4BDDF136083C}"/>
              </a:ext>
            </a:extLst>
          </p:cNvPr>
          <p:cNvSpPr/>
          <p:nvPr/>
        </p:nvSpPr>
        <p:spPr>
          <a:xfrm>
            <a:off x="7743061" y="2740567"/>
            <a:ext cx="1005403" cy="338554"/>
          </a:xfrm>
          <a:prstGeom prst="rect">
            <a:avLst/>
          </a:prstGeom>
        </p:spPr>
        <p:txBody>
          <a:bodyPr wrap="none">
            <a:spAutoFit/>
          </a:bodyPr>
          <a:lstStyle/>
          <a:p>
            <a:r>
              <a:rPr kumimoji="1" lang="zh-CN" altLang="en-US" sz="1600" dirty="0">
                <a:solidFill>
                  <a:schemeClr val="accent1"/>
                </a:solidFill>
              </a:rPr>
              <a:t>服务应用</a:t>
            </a:r>
            <a:endParaRPr lang="zh-CN" altLang="en-US" sz="1600" dirty="0">
              <a:solidFill>
                <a:schemeClr val="accent1"/>
              </a:solidFill>
            </a:endParaRPr>
          </a:p>
        </p:txBody>
      </p:sp>
      <p:sp>
        <p:nvSpPr>
          <p:cNvPr id="23" name="矩形 22">
            <a:extLst>
              <a:ext uri="{FF2B5EF4-FFF2-40B4-BE49-F238E27FC236}">
                <a16:creationId xmlns:a16="http://schemas.microsoft.com/office/drawing/2014/main" id="{C95B1862-DCB1-D646-9810-78E36BCC5C8B}"/>
              </a:ext>
            </a:extLst>
          </p:cNvPr>
          <p:cNvSpPr/>
          <p:nvPr/>
        </p:nvSpPr>
        <p:spPr>
          <a:xfrm>
            <a:off x="7743061" y="3183282"/>
            <a:ext cx="1005403" cy="338554"/>
          </a:xfrm>
          <a:prstGeom prst="rect">
            <a:avLst/>
          </a:prstGeom>
        </p:spPr>
        <p:txBody>
          <a:bodyPr wrap="none">
            <a:spAutoFit/>
          </a:bodyPr>
          <a:lstStyle/>
          <a:p>
            <a:r>
              <a:rPr kumimoji="1" lang="zh-CN" altLang="en-US" sz="1600" dirty="0">
                <a:solidFill>
                  <a:schemeClr val="accent1"/>
                </a:solidFill>
              </a:rPr>
              <a:t>管理应用</a:t>
            </a:r>
            <a:endParaRPr lang="zh-CN" altLang="en-US" sz="1600" dirty="0">
              <a:solidFill>
                <a:schemeClr val="accent1"/>
              </a:solidFill>
            </a:endParaRPr>
          </a:p>
        </p:txBody>
      </p:sp>
      <p:sp>
        <p:nvSpPr>
          <p:cNvPr id="24" name="左大括号 23">
            <a:extLst>
              <a:ext uri="{FF2B5EF4-FFF2-40B4-BE49-F238E27FC236}">
                <a16:creationId xmlns:a16="http://schemas.microsoft.com/office/drawing/2014/main" id="{ADDD5EA8-D771-954C-B3A6-2ECF3C0D7022}"/>
              </a:ext>
            </a:extLst>
          </p:cNvPr>
          <p:cNvSpPr/>
          <p:nvPr/>
        </p:nvSpPr>
        <p:spPr>
          <a:xfrm>
            <a:off x="7650677" y="2780394"/>
            <a:ext cx="92384" cy="701615"/>
          </a:xfrm>
          <a:prstGeom prst="leftBrace">
            <a:avLst>
              <a:gd name="adj1" fmla="val 94251"/>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3" name="右箭头 2">
            <a:extLst>
              <a:ext uri="{FF2B5EF4-FFF2-40B4-BE49-F238E27FC236}">
                <a16:creationId xmlns:a16="http://schemas.microsoft.com/office/drawing/2014/main" id="{F058E750-AF95-3F40-B5E9-5C511296398C}"/>
              </a:ext>
            </a:extLst>
          </p:cNvPr>
          <p:cNvSpPr/>
          <p:nvPr/>
        </p:nvSpPr>
        <p:spPr>
          <a:xfrm>
            <a:off x="2353405" y="2641476"/>
            <a:ext cx="300988" cy="437645"/>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右箭头 24">
            <a:extLst>
              <a:ext uri="{FF2B5EF4-FFF2-40B4-BE49-F238E27FC236}">
                <a16:creationId xmlns:a16="http://schemas.microsoft.com/office/drawing/2014/main" id="{5CF83721-0427-F244-B275-2136DA2D36E9}"/>
              </a:ext>
            </a:extLst>
          </p:cNvPr>
          <p:cNvSpPr/>
          <p:nvPr/>
        </p:nvSpPr>
        <p:spPr>
          <a:xfrm>
            <a:off x="4452303" y="2638677"/>
            <a:ext cx="300988" cy="437645"/>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33794408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B38C87-7DB3-854A-B53C-DF8204BCC3A1}"/>
              </a:ext>
            </a:extLst>
          </p:cNvPr>
          <p:cNvSpPr>
            <a:spLocks noGrp="1"/>
          </p:cNvSpPr>
          <p:nvPr>
            <p:ph type="title"/>
          </p:nvPr>
        </p:nvSpPr>
        <p:spPr/>
        <p:txBody>
          <a:bodyPr/>
          <a:lstStyle/>
          <a:p>
            <a:r>
              <a:rPr kumimoji="1" lang="zh-CN" altLang="en-US" dirty="0"/>
              <a:t>问题</a:t>
            </a:r>
          </a:p>
        </p:txBody>
      </p:sp>
      <p:sp>
        <p:nvSpPr>
          <p:cNvPr id="3" name="内容占位符 2">
            <a:extLst>
              <a:ext uri="{FF2B5EF4-FFF2-40B4-BE49-F238E27FC236}">
                <a16:creationId xmlns:a16="http://schemas.microsoft.com/office/drawing/2014/main" id="{92EBCF6E-8726-2B47-BF3F-5EFB1D926F4A}"/>
              </a:ext>
            </a:extLst>
          </p:cNvPr>
          <p:cNvSpPr>
            <a:spLocks noGrp="1"/>
          </p:cNvSpPr>
          <p:nvPr>
            <p:ph idx="1"/>
          </p:nvPr>
        </p:nvSpPr>
        <p:spPr/>
        <p:txBody>
          <a:bodyPr/>
          <a:lstStyle/>
          <a:p>
            <a:r>
              <a:rPr kumimoji="1" lang="zh-CN" altLang="en-US" dirty="0"/>
              <a:t>问题一：</a:t>
            </a:r>
            <a:r>
              <a:rPr kumimoji="1" lang="zh-CN" altLang="en-US" b="0" dirty="0"/>
              <a:t>如果一台机器有且只有一个应用程序，开机后自动运行且不会退出，是否还需要操作系统？</a:t>
            </a:r>
            <a:endParaRPr kumimoji="1" lang="en-US" altLang="zh-CN" b="0" dirty="0"/>
          </a:p>
        </p:txBody>
      </p:sp>
      <p:sp>
        <p:nvSpPr>
          <p:cNvPr id="4" name="灯片编号占位符 3">
            <a:extLst>
              <a:ext uri="{FF2B5EF4-FFF2-40B4-BE49-F238E27FC236}">
                <a16:creationId xmlns:a16="http://schemas.microsoft.com/office/drawing/2014/main" id="{9343B5C9-6657-1245-B4A4-3F6C94323BDA}"/>
              </a:ext>
            </a:extLst>
          </p:cNvPr>
          <p:cNvSpPr>
            <a:spLocks noGrp="1"/>
          </p:cNvSpPr>
          <p:nvPr>
            <p:ph type="sldNum" sz="quarter" idx="12"/>
          </p:nvPr>
        </p:nvSpPr>
        <p:spPr/>
        <p:txBody>
          <a:bodyPr/>
          <a:lstStyle/>
          <a:p>
            <a:fld id="{ADE361C3-C043-4A6E-BDCE-8DA1E7D90A3B}" type="slidenum">
              <a:rPr lang="zh-CN" altLang="en-US" smtClean="0"/>
              <a:t>6</a:t>
            </a:fld>
            <a:endParaRPr lang="zh-CN" altLang="en-US"/>
          </a:p>
        </p:txBody>
      </p:sp>
    </p:spTree>
    <p:extLst>
      <p:ext uri="{BB962C8B-B14F-4D97-AF65-F5344CB8AC3E}">
        <p14:creationId xmlns:p14="http://schemas.microsoft.com/office/powerpoint/2010/main" val="13140012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B38C87-7DB3-854A-B53C-DF8204BCC3A1}"/>
              </a:ext>
            </a:extLst>
          </p:cNvPr>
          <p:cNvSpPr>
            <a:spLocks noGrp="1"/>
          </p:cNvSpPr>
          <p:nvPr>
            <p:ph type="title"/>
          </p:nvPr>
        </p:nvSpPr>
        <p:spPr/>
        <p:txBody>
          <a:bodyPr/>
          <a:lstStyle/>
          <a:p>
            <a:r>
              <a:rPr kumimoji="1" lang="zh-CN" altLang="en-US" dirty="0"/>
              <a:t>问题</a:t>
            </a:r>
          </a:p>
        </p:txBody>
      </p:sp>
      <p:sp>
        <p:nvSpPr>
          <p:cNvPr id="3" name="内容占位符 2">
            <a:extLst>
              <a:ext uri="{FF2B5EF4-FFF2-40B4-BE49-F238E27FC236}">
                <a16:creationId xmlns:a16="http://schemas.microsoft.com/office/drawing/2014/main" id="{92EBCF6E-8726-2B47-BF3F-5EFB1D926F4A}"/>
              </a:ext>
            </a:extLst>
          </p:cNvPr>
          <p:cNvSpPr>
            <a:spLocks noGrp="1"/>
          </p:cNvSpPr>
          <p:nvPr>
            <p:ph idx="1"/>
          </p:nvPr>
        </p:nvSpPr>
        <p:spPr/>
        <p:txBody>
          <a:bodyPr/>
          <a:lstStyle/>
          <a:p>
            <a:r>
              <a:rPr kumimoji="1" lang="zh-CN" altLang="en-US" dirty="0"/>
              <a:t>问题二：</a:t>
            </a:r>
            <a:r>
              <a:rPr kumimoji="1" lang="zh-CN" altLang="en-US" b="0" dirty="0"/>
              <a:t>如果一个应用希望自己完全控制硬件而不是使用操作系统提供的抽象，是否还需要操作系统？</a:t>
            </a:r>
          </a:p>
        </p:txBody>
      </p:sp>
      <p:sp>
        <p:nvSpPr>
          <p:cNvPr id="4" name="灯片编号占位符 3">
            <a:extLst>
              <a:ext uri="{FF2B5EF4-FFF2-40B4-BE49-F238E27FC236}">
                <a16:creationId xmlns:a16="http://schemas.microsoft.com/office/drawing/2014/main" id="{9343B5C9-6657-1245-B4A4-3F6C94323BDA}"/>
              </a:ext>
            </a:extLst>
          </p:cNvPr>
          <p:cNvSpPr>
            <a:spLocks noGrp="1"/>
          </p:cNvSpPr>
          <p:nvPr>
            <p:ph type="sldNum" sz="quarter" idx="12"/>
          </p:nvPr>
        </p:nvSpPr>
        <p:spPr/>
        <p:txBody>
          <a:bodyPr/>
          <a:lstStyle/>
          <a:p>
            <a:fld id="{ADE361C3-C043-4A6E-BDCE-8DA1E7D90A3B}" type="slidenum">
              <a:rPr lang="zh-CN" altLang="en-US" smtClean="0"/>
              <a:t>7</a:t>
            </a:fld>
            <a:endParaRPr lang="zh-CN" altLang="en-US"/>
          </a:p>
        </p:txBody>
      </p:sp>
    </p:spTree>
    <p:extLst>
      <p:ext uri="{BB962C8B-B14F-4D97-AF65-F5344CB8AC3E}">
        <p14:creationId xmlns:p14="http://schemas.microsoft.com/office/powerpoint/2010/main" val="4094507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a:extLst>
              <a:ext uri="{FF2B5EF4-FFF2-40B4-BE49-F238E27FC236}">
                <a16:creationId xmlns:a16="http://schemas.microsoft.com/office/drawing/2014/main" id="{48D149A8-9973-8543-A77F-3AE34E740C73}"/>
              </a:ext>
            </a:extLst>
          </p:cNvPr>
          <p:cNvSpPr>
            <a:spLocks noGrp="1"/>
          </p:cNvSpPr>
          <p:nvPr>
            <p:ph idx="1"/>
          </p:nvPr>
        </p:nvSpPr>
        <p:spPr/>
        <p:txBody>
          <a:bodyPr>
            <a:normAutofit/>
          </a:bodyPr>
          <a:lstStyle/>
          <a:p>
            <a:r>
              <a:rPr kumimoji="1" lang="zh-CN" altLang="en-US" sz="2400" dirty="0"/>
              <a:t>结构的重要性</a:t>
            </a:r>
            <a:endParaRPr kumimoji="1" lang="en-US" altLang="zh-CN" sz="2400" dirty="0"/>
          </a:p>
          <a:p>
            <a:r>
              <a:rPr kumimoji="1" lang="zh-CN" altLang="en-US" sz="2400" dirty="0"/>
              <a:t>宏内核</a:t>
            </a:r>
            <a:endParaRPr kumimoji="1" lang="en-US" altLang="zh-CN" sz="2400" dirty="0"/>
          </a:p>
          <a:p>
            <a:r>
              <a:rPr kumimoji="1" lang="zh-CN" altLang="en-US" sz="2400" dirty="0"/>
              <a:t>微内核</a:t>
            </a:r>
            <a:endParaRPr kumimoji="1" lang="en-US" altLang="zh-CN" sz="2400" dirty="0"/>
          </a:p>
          <a:p>
            <a:r>
              <a:rPr kumimoji="1" lang="zh-CN" altLang="en-US" sz="2400" dirty="0"/>
              <a:t>外核</a:t>
            </a:r>
            <a:r>
              <a:rPr kumimoji="1" lang="en-US" altLang="zh-CN" sz="2400" dirty="0"/>
              <a:t>+</a:t>
            </a:r>
            <a:r>
              <a:rPr kumimoji="1" lang="zh-CN" altLang="en-US" sz="2400" dirty="0"/>
              <a:t>库</a:t>
            </a:r>
            <a:r>
              <a:rPr kumimoji="1" lang="en-US" altLang="zh-CN" sz="2400" dirty="0"/>
              <a:t>OS</a:t>
            </a:r>
          </a:p>
          <a:p>
            <a:r>
              <a:rPr kumimoji="1" lang="zh-CN" altLang="en-US" sz="2400" dirty="0"/>
              <a:t>多内核</a:t>
            </a:r>
            <a:r>
              <a:rPr kumimoji="1" lang="en-US" altLang="zh-CN" sz="2400" dirty="0"/>
              <a:t>/</a:t>
            </a:r>
            <a:r>
              <a:rPr kumimoji="1" lang="zh-CN" altLang="en-US" sz="2400" dirty="0"/>
              <a:t>复内核</a:t>
            </a:r>
            <a:endParaRPr kumimoji="1" lang="en-US" altLang="zh-CN" sz="2400" dirty="0"/>
          </a:p>
          <a:p>
            <a:r>
              <a:rPr kumimoji="1" lang="zh-CN" altLang="en-US" sz="2400" dirty="0"/>
              <a:t>不同架构的对比</a:t>
            </a:r>
            <a:endParaRPr kumimoji="1" lang="en-US" altLang="zh-CN" sz="2400" dirty="0"/>
          </a:p>
        </p:txBody>
      </p:sp>
      <p:sp>
        <p:nvSpPr>
          <p:cNvPr id="4" name="标题 3">
            <a:extLst>
              <a:ext uri="{FF2B5EF4-FFF2-40B4-BE49-F238E27FC236}">
                <a16:creationId xmlns:a16="http://schemas.microsoft.com/office/drawing/2014/main" id="{3B5A8429-BCF6-164C-98F4-27E970C4897E}"/>
              </a:ext>
            </a:extLst>
          </p:cNvPr>
          <p:cNvSpPr>
            <a:spLocks noGrp="1"/>
          </p:cNvSpPr>
          <p:nvPr>
            <p:ph type="title"/>
          </p:nvPr>
        </p:nvSpPr>
        <p:spPr/>
        <p:txBody>
          <a:bodyPr/>
          <a:lstStyle/>
          <a:p>
            <a:r>
              <a:rPr kumimoji="1" lang="zh-CN" altLang="en-US" dirty="0"/>
              <a:t>大纲</a:t>
            </a:r>
          </a:p>
        </p:txBody>
      </p:sp>
    </p:spTree>
    <p:extLst>
      <p:ext uri="{BB962C8B-B14F-4D97-AF65-F5344CB8AC3E}">
        <p14:creationId xmlns:p14="http://schemas.microsoft.com/office/powerpoint/2010/main" val="5865929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7C3CFBB2-29A4-9845-909C-D2C6211C1301}"/>
              </a:ext>
            </a:extLst>
          </p:cNvPr>
          <p:cNvSpPr>
            <a:spLocks noGrp="1"/>
          </p:cNvSpPr>
          <p:nvPr>
            <p:ph type="title"/>
          </p:nvPr>
        </p:nvSpPr>
        <p:spPr/>
        <p:txBody>
          <a:bodyPr/>
          <a:lstStyle/>
          <a:p>
            <a:r>
              <a:rPr kumimoji="1" lang="zh-CN" altLang="en-US" b="1" dirty="0"/>
              <a:t>结构的重要性</a:t>
            </a:r>
          </a:p>
        </p:txBody>
      </p:sp>
      <p:sp>
        <p:nvSpPr>
          <p:cNvPr id="6" name="文本占位符 5">
            <a:extLst>
              <a:ext uri="{FF2B5EF4-FFF2-40B4-BE49-F238E27FC236}">
                <a16:creationId xmlns:a16="http://schemas.microsoft.com/office/drawing/2014/main" id="{88326478-0DD6-F849-B334-5BDB7DEEC82C}"/>
              </a:ext>
            </a:extLst>
          </p:cNvPr>
          <p:cNvSpPr>
            <a:spLocks noGrp="1"/>
          </p:cNvSpPr>
          <p:nvPr>
            <p:ph type="body" idx="1"/>
          </p:nvPr>
        </p:nvSpPr>
        <p:spPr/>
        <p:txBody>
          <a:bodyPr/>
          <a:lstStyle/>
          <a:p>
            <a:endParaRPr kumimoji="1" lang="zh-CN" altLang="en-US"/>
          </a:p>
        </p:txBody>
      </p:sp>
      <p:sp>
        <p:nvSpPr>
          <p:cNvPr id="4" name="灯片编号占位符 3">
            <a:extLst>
              <a:ext uri="{FF2B5EF4-FFF2-40B4-BE49-F238E27FC236}">
                <a16:creationId xmlns:a16="http://schemas.microsoft.com/office/drawing/2014/main" id="{45F61D95-77C6-4F44-A6A2-DDF144D592FE}"/>
              </a:ext>
            </a:extLst>
          </p:cNvPr>
          <p:cNvSpPr>
            <a:spLocks noGrp="1"/>
          </p:cNvSpPr>
          <p:nvPr>
            <p:ph type="sldNum" sz="quarter" idx="12"/>
          </p:nvPr>
        </p:nvSpPr>
        <p:spPr/>
        <p:txBody>
          <a:bodyPr/>
          <a:lstStyle/>
          <a:p>
            <a:fld id="{ADE361C3-C043-4A6E-BDCE-8DA1E7D90A3B}" type="slidenum">
              <a:rPr lang="zh-CN" altLang="en-US" smtClean="0"/>
              <a:t>9</a:t>
            </a:fld>
            <a:endParaRPr lang="zh-CN" altLang="en-US"/>
          </a:p>
        </p:txBody>
      </p:sp>
    </p:spTree>
    <p:extLst>
      <p:ext uri="{BB962C8B-B14F-4D97-AF65-F5344CB8AC3E}">
        <p14:creationId xmlns:p14="http://schemas.microsoft.com/office/powerpoint/2010/main" val="20384933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A6B8DC4C-1698-BE42-B56F-B6FF425F8768}"/>
              </a:ext>
            </a:extLst>
          </p:cNvPr>
          <p:cNvSpPr>
            <a:spLocks noGrp="1"/>
          </p:cNvSpPr>
          <p:nvPr>
            <p:ph type="title"/>
          </p:nvPr>
        </p:nvSpPr>
        <p:spPr/>
        <p:txBody>
          <a:bodyPr/>
          <a:lstStyle/>
          <a:p>
            <a:endParaRPr kumimoji="1" lang="zh-CN" altLang="en-US"/>
          </a:p>
        </p:txBody>
      </p:sp>
      <p:sp>
        <p:nvSpPr>
          <p:cNvPr id="6" name="内容占位符 5">
            <a:extLst>
              <a:ext uri="{FF2B5EF4-FFF2-40B4-BE49-F238E27FC236}">
                <a16:creationId xmlns:a16="http://schemas.microsoft.com/office/drawing/2014/main" id="{FC77A20E-7A0C-1F45-AAF6-0A09FCC313C8}"/>
              </a:ext>
            </a:extLst>
          </p:cNvPr>
          <p:cNvSpPr>
            <a:spLocks noGrp="1"/>
          </p:cNvSpPr>
          <p:nvPr>
            <p:ph idx="1"/>
          </p:nvPr>
        </p:nvSpPr>
        <p:spPr/>
        <p:txBody>
          <a:bodyPr/>
          <a:lstStyle/>
          <a:p>
            <a:endParaRPr kumimoji="1" lang="zh-CN" altLang="en-US"/>
          </a:p>
        </p:txBody>
      </p:sp>
      <p:sp>
        <p:nvSpPr>
          <p:cNvPr id="4" name="灯片编号占位符 3">
            <a:extLst>
              <a:ext uri="{FF2B5EF4-FFF2-40B4-BE49-F238E27FC236}">
                <a16:creationId xmlns:a16="http://schemas.microsoft.com/office/drawing/2014/main" id="{5615FADA-39C6-9249-898E-4BA1DFA0C38E}"/>
              </a:ext>
            </a:extLst>
          </p:cNvPr>
          <p:cNvSpPr>
            <a:spLocks noGrp="1"/>
          </p:cNvSpPr>
          <p:nvPr>
            <p:ph type="sldNum" sz="quarter" idx="12"/>
          </p:nvPr>
        </p:nvSpPr>
        <p:spPr/>
        <p:txBody>
          <a:bodyPr/>
          <a:lstStyle/>
          <a:p>
            <a:fld id="{ADE361C3-C043-4A6E-BDCE-8DA1E7D90A3B}" type="slidenum">
              <a:rPr lang="zh-CN" altLang="en-US" smtClean="0"/>
              <a:t>10</a:t>
            </a:fld>
            <a:endParaRPr lang="zh-CN" altLang="en-US"/>
          </a:p>
        </p:txBody>
      </p:sp>
      <p:pic>
        <p:nvPicPr>
          <p:cNvPr id="8" name="图片 7">
            <a:extLst>
              <a:ext uri="{FF2B5EF4-FFF2-40B4-BE49-F238E27FC236}">
                <a16:creationId xmlns:a16="http://schemas.microsoft.com/office/drawing/2014/main" id="{E43EC051-4FAE-5544-B655-3C8972FE416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190500"/>
            <a:ext cx="9216516" cy="6144344"/>
          </a:xfrm>
          <a:prstGeom prst="rect">
            <a:avLst/>
          </a:prstGeom>
        </p:spPr>
      </p:pic>
      <p:sp>
        <p:nvSpPr>
          <p:cNvPr id="9" name="矩形 8">
            <a:extLst>
              <a:ext uri="{FF2B5EF4-FFF2-40B4-BE49-F238E27FC236}">
                <a16:creationId xmlns:a16="http://schemas.microsoft.com/office/drawing/2014/main" id="{FF6E6399-5574-3F4C-AF09-F6B7D92D8C3D}"/>
              </a:ext>
            </a:extLst>
          </p:cNvPr>
          <p:cNvSpPr/>
          <p:nvPr/>
        </p:nvSpPr>
        <p:spPr>
          <a:xfrm>
            <a:off x="3203848" y="2881672"/>
            <a:ext cx="5940152" cy="2697983"/>
          </a:xfrm>
          <a:prstGeom prst="rect">
            <a:avLst/>
          </a:prstGeom>
          <a:solidFill>
            <a:srgbClr val="000000">
              <a:alpha val="50196"/>
            </a:srgbClr>
          </a:solidFill>
        </p:spPr>
        <p:txBody>
          <a:bodyPr wrap="square">
            <a:spAutoFit/>
          </a:bodyPr>
          <a:lstStyle/>
          <a:p>
            <a:pPr>
              <a:lnSpc>
                <a:spcPct val="130000"/>
              </a:lnSpc>
            </a:pPr>
            <a:r>
              <a:rPr lang="zh-CN" altLang="en-US" sz="2400" b="1" dirty="0">
                <a:solidFill>
                  <a:schemeClr val="bg1"/>
                </a:solidFill>
                <a:latin typeface="+mn-ea"/>
              </a:rPr>
              <a:t>瓦萨沉船</a:t>
            </a:r>
            <a:r>
              <a:rPr lang="zh-CN" altLang="en-US" dirty="0">
                <a:solidFill>
                  <a:schemeClr val="bg1"/>
                </a:solidFill>
                <a:latin typeface="+mn-ea"/>
              </a:rPr>
              <a:t>：</a:t>
            </a:r>
            <a:r>
              <a:rPr lang="en-US" altLang="zh-CN" dirty="0">
                <a:solidFill>
                  <a:schemeClr val="bg1"/>
                </a:solidFill>
                <a:latin typeface="+mn-ea"/>
              </a:rPr>
              <a:t>1626</a:t>
            </a:r>
            <a:r>
              <a:rPr lang="zh-CN" altLang="en-US" dirty="0">
                <a:solidFill>
                  <a:schemeClr val="bg1"/>
                </a:solidFill>
                <a:latin typeface="+mn-ea"/>
              </a:rPr>
              <a:t>年到</a:t>
            </a:r>
            <a:r>
              <a:rPr lang="en-US" altLang="zh-CN" dirty="0">
                <a:solidFill>
                  <a:schemeClr val="bg1"/>
                </a:solidFill>
                <a:latin typeface="+mn-ea"/>
              </a:rPr>
              <a:t>1628</a:t>
            </a:r>
            <a:r>
              <a:rPr lang="zh-CN" altLang="en-US" dirty="0">
                <a:solidFill>
                  <a:schemeClr val="bg1"/>
                </a:solidFill>
                <a:latin typeface="+mn-ea"/>
              </a:rPr>
              <a:t>年间，瑞典国王下令建造的一艘军舰，由于追求极致的续航力、容量、火力及防护力，整船被建成不合乎物理常规地高大笨重，再加上在建造时没有填入足够的压舱物，瓦萨号即便在港口停靠时也不能依靠自身保持平衡。尽管有着严重的结构缺陷，瓦萨号依然被允许起航：不出所料的是，在出海航行不到几分钟后，瓦萨号便被一阵微风吹倒，继而全船倾覆。</a:t>
            </a:r>
          </a:p>
        </p:txBody>
      </p:sp>
    </p:spTree>
    <p:extLst>
      <p:ext uri="{BB962C8B-B14F-4D97-AF65-F5344CB8AC3E}">
        <p14:creationId xmlns:p14="http://schemas.microsoft.com/office/powerpoint/2010/main" val="14295114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9D361F-62D0-2144-95EE-E157CA91BE4F}"/>
              </a:ext>
            </a:extLst>
          </p:cNvPr>
          <p:cNvSpPr>
            <a:spLocks noGrp="1"/>
          </p:cNvSpPr>
          <p:nvPr>
            <p:ph type="title"/>
          </p:nvPr>
        </p:nvSpPr>
        <p:spPr/>
        <p:txBody>
          <a:bodyPr/>
          <a:lstStyle/>
          <a:p>
            <a:r>
              <a:rPr kumimoji="1" lang="zh-CN" altLang="en-US" dirty="0"/>
              <a:t>操作系统复杂性与结构</a:t>
            </a:r>
          </a:p>
        </p:txBody>
      </p:sp>
      <p:sp>
        <p:nvSpPr>
          <p:cNvPr id="3" name="内容占位符 2">
            <a:extLst>
              <a:ext uri="{FF2B5EF4-FFF2-40B4-BE49-F238E27FC236}">
                <a16:creationId xmlns:a16="http://schemas.microsoft.com/office/drawing/2014/main" id="{599A9AC1-30CA-6D4B-9D3E-0D7E5C772638}"/>
              </a:ext>
            </a:extLst>
          </p:cNvPr>
          <p:cNvSpPr>
            <a:spLocks noGrp="1"/>
          </p:cNvSpPr>
          <p:nvPr>
            <p:ph idx="1"/>
          </p:nvPr>
        </p:nvSpPr>
        <p:spPr/>
        <p:txBody>
          <a:bodyPr>
            <a:normAutofit/>
          </a:bodyPr>
          <a:lstStyle/>
          <a:p>
            <a:r>
              <a:rPr kumimoji="1" lang="zh-CN" altLang="en-US" sz="2400" dirty="0"/>
              <a:t>操作系统中的</a:t>
            </a:r>
            <a:r>
              <a:rPr kumimoji="1" lang="en-US" altLang="zh-CN" sz="2400" dirty="0"/>
              <a:t>"</a:t>
            </a:r>
            <a:r>
              <a:rPr kumimoji="1" lang="zh-CN" altLang="en-US" sz="2400" dirty="0"/>
              <a:t>瓦萨号</a:t>
            </a:r>
            <a:r>
              <a:rPr kumimoji="1" lang="en-US" altLang="zh-CN" sz="2400" dirty="0"/>
              <a:t>"</a:t>
            </a:r>
          </a:p>
          <a:p>
            <a:pPr lvl="1"/>
            <a:r>
              <a:rPr kumimoji="1" lang="en-US" altLang="zh-CN" sz="2000" dirty="0"/>
              <a:t>1991-1995</a:t>
            </a:r>
            <a:r>
              <a:rPr kumimoji="1" lang="zh-CN" altLang="en-US" sz="2000" dirty="0"/>
              <a:t>年，</a:t>
            </a:r>
            <a:r>
              <a:rPr kumimoji="1" lang="en-US" altLang="zh-CN" sz="2000" dirty="0"/>
              <a:t>IBM</a:t>
            </a:r>
            <a:r>
              <a:rPr kumimoji="1" lang="zh-CN" altLang="en-US" sz="2000" dirty="0"/>
              <a:t>投入</a:t>
            </a:r>
            <a:r>
              <a:rPr kumimoji="1" lang="en-US" altLang="zh-CN" sz="2000" dirty="0"/>
              <a:t>20</a:t>
            </a:r>
            <a:r>
              <a:rPr kumimoji="1" lang="zh-CN" altLang="en-US" sz="2000" dirty="0"/>
              <a:t>亿美元打造</a:t>
            </a:r>
            <a:r>
              <a:rPr kumimoji="1" lang="en-US" altLang="zh-CN" sz="2000"/>
              <a:t>Workplace</a:t>
            </a:r>
            <a:r>
              <a:rPr kumimoji="1" lang="zh-CN" altLang="en-US" sz="2000"/>
              <a:t>操作系统</a:t>
            </a:r>
            <a:endParaRPr kumimoji="1" lang="en-US" altLang="zh-CN" sz="2000" dirty="0"/>
          </a:p>
          <a:p>
            <a:pPr lvl="1"/>
            <a:r>
              <a:rPr kumimoji="1" lang="zh-CN" altLang="en-US" sz="2000" dirty="0"/>
              <a:t>目标过于宏伟，系统过于复杂，导致项目失败</a:t>
            </a:r>
            <a:endParaRPr kumimoji="1" lang="en-US" altLang="zh-CN" sz="2000" dirty="0"/>
          </a:p>
          <a:p>
            <a:pPr lvl="1"/>
            <a:r>
              <a:rPr kumimoji="1" lang="zh-CN" altLang="en-US" sz="2000" dirty="0"/>
              <a:t>间接导致</a:t>
            </a:r>
            <a:r>
              <a:rPr kumimoji="1" lang="en-US" altLang="zh-CN" sz="2000" dirty="0"/>
              <a:t>IBM</a:t>
            </a:r>
            <a:r>
              <a:rPr kumimoji="1" lang="zh-CN" altLang="en-US" sz="2000" dirty="0"/>
              <a:t>全力投入扶植</a:t>
            </a:r>
            <a:r>
              <a:rPr kumimoji="1" lang="en-US" altLang="zh-CN" sz="2000" dirty="0"/>
              <a:t>Linux</a:t>
            </a:r>
            <a:r>
              <a:rPr kumimoji="1" lang="zh-CN" altLang="en-US" sz="2000" dirty="0"/>
              <a:t>操作系统</a:t>
            </a:r>
          </a:p>
          <a:p>
            <a:r>
              <a:rPr kumimoji="1" lang="zh-CN" altLang="en-US" sz="2400" dirty="0"/>
              <a:t>复杂系统的构建必须考虑其内部结构</a:t>
            </a:r>
            <a:endParaRPr kumimoji="1" lang="en-US" altLang="zh-CN" sz="2400" dirty="0"/>
          </a:p>
          <a:p>
            <a:pPr lvl="1"/>
            <a:r>
              <a:rPr kumimoji="1" lang="zh-CN" altLang="en-US" sz="2000" dirty="0"/>
              <a:t>不同目标之间往往存在冲突</a:t>
            </a:r>
            <a:endParaRPr kumimoji="1" lang="en-US" altLang="zh-CN" sz="2000" dirty="0"/>
          </a:p>
          <a:p>
            <a:pPr lvl="1"/>
            <a:r>
              <a:rPr kumimoji="1" lang="zh-CN" altLang="en-US" sz="2000" dirty="0"/>
              <a:t>不同需求之间需要进行权衡</a:t>
            </a:r>
            <a:endParaRPr kumimoji="1" lang="en-US" altLang="zh-CN" sz="2000" dirty="0"/>
          </a:p>
          <a:p>
            <a:pPr lvl="1"/>
            <a:endParaRPr kumimoji="1" lang="zh-CN" altLang="en-US" sz="2000" dirty="0"/>
          </a:p>
        </p:txBody>
      </p:sp>
      <p:sp>
        <p:nvSpPr>
          <p:cNvPr id="4" name="灯片编号占位符 3">
            <a:extLst>
              <a:ext uri="{FF2B5EF4-FFF2-40B4-BE49-F238E27FC236}">
                <a16:creationId xmlns:a16="http://schemas.microsoft.com/office/drawing/2014/main" id="{7327FF43-403C-6045-85A1-3096FCC8A152}"/>
              </a:ext>
            </a:extLst>
          </p:cNvPr>
          <p:cNvSpPr>
            <a:spLocks noGrp="1"/>
          </p:cNvSpPr>
          <p:nvPr>
            <p:ph type="sldNum" sz="quarter" idx="12"/>
          </p:nvPr>
        </p:nvSpPr>
        <p:spPr/>
        <p:txBody>
          <a:bodyPr/>
          <a:lstStyle/>
          <a:p>
            <a:fld id="{ADE361C3-C043-4A6E-BDCE-8DA1E7D90A3B}" type="slidenum">
              <a:rPr lang="zh-CN" altLang="en-US" smtClean="0"/>
              <a:t>11</a:t>
            </a:fld>
            <a:endParaRPr lang="zh-CN" altLang="en-US"/>
          </a:p>
        </p:txBody>
      </p:sp>
    </p:spTree>
    <p:extLst>
      <p:ext uri="{BB962C8B-B14F-4D97-AF65-F5344CB8AC3E}">
        <p14:creationId xmlns:p14="http://schemas.microsoft.com/office/powerpoint/2010/main" val="136518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EBA7DD-3B72-F34E-8D03-9C4230113990}"/>
              </a:ext>
            </a:extLst>
          </p:cNvPr>
          <p:cNvSpPr>
            <a:spLocks noGrp="1"/>
          </p:cNvSpPr>
          <p:nvPr>
            <p:ph type="title"/>
          </p:nvPr>
        </p:nvSpPr>
        <p:spPr/>
        <p:txBody>
          <a:bodyPr/>
          <a:lstStyle/>
          <a:p>
            <a:r>
              <a:rPr kumimoji="1" lang="zh-CN" altLang="en-US" dirty="0"/>
              <a:t>操作系统的目标并不一致</a:t>
            </a:r>
          </a:p>
        </p:txBody>
      </p:sp>
      <p:sp>
        <p:nvSpPr>
          <p:cNvPr id="3" name="内容占位符 2">
            <a:extLst>
              <a:ext uri="{FF2B5EF4-FFF2-40B4-BE49-F238E27FC236}">
                <a16:creationId xmlns:a16="http://schemas.microsoft.com/office/drawing/2014/main" id="{7A411D63-06F8-4348-B42A-42B7989383AC}"/>
              </a:ext>
            </a:extLst>
          </p:cNvPr>
          <p:cNvSpPr>
            <a:spLocks noGrp="1"/>
          </p:cNvSpPr>
          <p:nvPr>
            <p:ph idx="1"/>
          </p:nvPr>
        </p:nvSpPr>
        <p:spPr>
          <a:xfrm>
            <a:off x="457200" y="1333501"/>
            <a:ext cx="4114800" cy="3771636"/>
          </a:xfrm>
        </p:spPr>
        <p:txBody>
          <a:bodyPr/>
          <a:lstStyle/>
          <a:p>
            <a:r>
              <a:rPr kumimoji="1" lang="zh-CN" altLang="en-US" dirty="0"/>
              <a:t>用户目标</a:t>
            </a:r>
            <a:endParaRPr kumimoji="1" lang="en-US" altLang="zh-CN" dirty="0"/>
          </a:p>
          <a:p>
            <a:pPr lvl="1"/>
            <a:r>
              <a:rPr kumimoji="1" lang="zh-CN" altLang="en-US" dirty="0"/>
              <a:t>方便使用</a:t>
            </a:r>
            <a:endParaRPr kumimoji="1" lang="en-US" altLang="zh-CN" dirty="0"/>
          </a:p>
          <a:p>
            <a:pPr lvl="1"/>
            <a:r>
              <a:rPr kumimoji="1" lang="zh-CN" altLang="en-US" dirty="0"/>
              <a:t>容易学习</a:t>
            </a:r>
            <a:endParaRPr kumimoji="1" lang="en-US" altLang="zh-CN" dirty="0"/>
          </a:p>
          <a:p>
            <a:pPr lvl="1"/>
            <a:r>
              <a:rPr kumimoji="1" lang="zh-CN" altLang="en-US" dirty="0"/>
              <a:t>功能齐全</a:t>
            </a:r>
            <a:endParaRPr kumimoji="1" lang="en-US" altLang="zh-CN" dirty="0"/>
          </a:p>
          <a:p>
            <a:pPr lvl="1"/>
            <a:r>
              <a:rPr kumimoji="1" lang="zh-CN" altLang="en-US" dirty="0"/>
              <a:t>安全</a:t>
            </a:r>
            <a:endParaRPr kumimoji="1" lang="en-US" altLang="zh-CN" dirty="0"/>
          </a:p>
          <a:p>
            <a:pPr lvl="1"/>
            <a:r>
              <a:rPr kumimoji="1" lang="zh-CN" altLang="en-US" dirty="0"/>
              <a:t>流畅</a:t>
            </a:r>
            <a:endParaRPr kumimoji="1" lang="en-US" altLang="zh-CN" dirty="0"/>
          </a:p>
          <a:p>
            <a:pPr lvl="1"/>
            <a:r>
              <a:rPr kumimoji="1" lang="en-US" altLang="zh-CN" dirty="0"/>
              <a:t>……</a:t>
            </a:r>
            <a:endParaRPr kumimoji="1" lang="zh-CN" altLang="en-US" dirty="0"/>
          </a:p>
        </p:txBody>
      </p:sp>
      <p:sp>
        <p:nvSpPr>
          <p:cNvPr id="4" name="灯片编号占位符 3">
            <a:extLst>
              <a:ext uri="{FF2B5EF4-FFF2-40B4-BE49-F238E27FC236}">
                <a16:creationId xmlns:a16="http://schemas.microsoft.com/office/drawing/2014/main" id="{FE27942B-ACE7-A74D-B45A-9C077079E5AC}"/>
              </a:ext>
            </a:extLst>
          </p:cNvPr>
          <p:cNvSpPr>
            <a:spLocks noGrp="1"/>
          </p:cNvSpPr>
          <p:nvPr>
            <p:ph type="sldNum" sz="quarter" idx="12"/>
          </p:nvPr>
        </p:nvSpPr>
        <p:spPr/>
        <p:txBody>
          <a:bodyPr/>
          <a:lstStyle/>
          <a:p>
            <a:fld id="{ADE361C3-C043-4A6E-BDCE-8DA1E7D90A3B}" type="slidenum">
              <a:rPr lang="zh-CN" altLang="en-US" smtClean="0"/>
              <a:t>12</a:t>
            </a:fld>
            <a:endParaRPr lang="zh-CN" altLang="en-US"/>
          </a:p>
        </p:txBody>
      </p:sp>
      <p:sp>
        <p:nvSpPr>
          <p:cNvPr id="5" name="内容占位符 2">
            <a:extLst>
              <a:ext uri="{FF2B5EF4-FFF2-40B4-BE49-F238E27FC236}">
                <a16:creationId xmlns:a16="http://schemas.microsoft.com/office/drawing/2014/main" id="{0B8C0B12-AF68-7E49-B13B-E98CF547D54B}"/>
              </a:ext>
            </a:extLst>
          </p:cNvPr>
          <p:cNvSpPr txBox="1">
            <a:spLocks/>
          </p:cNvSpPr>
          <p:nvPr/>
        </p:nvSpPr>
        <p:spPr>
          <a:xfrm>
            <a:off x="4572000" y="1327317"/>
            <a:ext cx="4114800" cy="3771636"/>
          </a:xfrm>
          <a:prstGeom prst="rect">
            <a:avLst/>
          </a:prstGeom>
        </p:spPr>
        <p:txBody>
          <a:bodyPr vert="horz" lIns="91440" tIns="45720" rIns="91440" bIns="45720" rtlCol="0">
            <a:normAutofit/>
          </a:bodyPr>
          <a:lstStyle>
            <a:lvl1pPr marL="342900" indent="-342900" algn="l" defTabSz="914400" rtl="0" eaLnBrk="1" latinLnBrk="0" hangingPunct="1">
              <a:lnSpc>
                <a:spcPct val="120000"/>
              </a:lnSpc>
              <a:spcBef>
                <a:spcPts val="1200"/>
              </a:spcBef>
              <a:buFont typeface="Arial" pitchFamily="34" charset="0"/>
              <a:buChar char="•"/>
              <a:defRPr sz="2600" b="1"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1pPr>
            <a:lvl2pPr marL="742950" indent="-285750" algn="l" defTabSz="914400" rtl="0" eaLnBrk="1" latinLnBrk="0" hangingPunct="1">
              <a:lnSpc>
                <a:spcPct val="120000"/>
              </a:lnSpc>
              <a:spcBef>
                <a:spcPct val="20000"/>
              </a:spcBef>
              <a:buFont typeface="Arial" pitchFamily="34" charset="0"/>
              <a:buChar char="–"/>
              <a:defRPr sz="24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2pPr>
            <a:lvl3pPr marL="1143000" indent="-22860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3pPr>
            <a:lvl4pPr marL="16002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4pPr>
            <a:lvl5pPr marL="20574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kumimoji="1" lang="zh-CN" altLang="en-US" dirty="0"/>
              <a:t>系统目标</a:t>
            </a:r>
            <a:endParaRPr kumimoji="1" lang="en-US" altLang="zh-CN" dirty="0"/>
          </a:p>
          <a:p>
            <a:pPr lvl="1"/>
            <a:r>
              <a:rPr kumimoji="1" lang="zh-CN" altLang="en-US" dirty="0"/>
              <a:t>容易设计、实现</a:t>
            </a:r>
            <a:endParaRPr kumimoji="1" lang="en-US" altLang="zh-CN" dirty="0"/>
          </a:p>
          <a:p>
            <a:pPr lvl="1"/>
            <a:r>
              <a:rPr kumimoji="1" lang="zh-CN" altLang="en-US" dirty="0"/>
              <a:t>容易维护</a:t>
            </a:r>
            <a:endParaRPr kumimoji="1" lang="en-US" altLang="zh-CN" dirty="0"/>
          </a:p>
          <a:p>
            <a:pPr lvl="1"/>
            <a:r>
              <a:rPr kumimoji="1" lang="zh-CN" altLang="en-US" dirty="0"/>
              <a:t>灵活性</a:t>
            </a:r>
            <a:endParaRPr kumimoji="1" lang="en-US" altLang="zh-CN" dirty="0"/>
          </a:p>
          <a:p>
            <a:pPr lvl="1"/>
            <a:r>
              <a:rPr kumimoji="1" lang="zh-CN" altLang="en-US" dirty="0"/>
              <a:t>可靠性</a:t>
            </a:r>
            <a:endParaRPr kumimoji="1" lang="en-US" altLang="zh-CN" dirty="0"/>
          </a:p>
          <a:p>
            <a:pPr lvl="1"/>
            <a:r>
              <a:rPr kumimoji="1" lang="zh-CN" altLang="en-US" dirty="0"/>
              <a:t>高效性</a:t>
            </a:r>
            <a:endParaRPr kumimoji="1" lang="en-US" altLang="zh-CN" dirty="0"/>
          </a:p>
          <a:p>
            <a:pPr lvl="1"/>
            <a:r>
              <a:rPr kumimoji="1" lang="en-US" altLang="zh-CN" dirty="0"/>
              <a:t>……</a:t>
            </a:r>
          </a:p>
        </p:txBody>
      </p:sp>
    </p:spTree>
    <p:extLst>
      <p:ext uri="{BB962C8B-B14F-4D97-AF65-F5344CB8AC3E}">
        <p14:creationId xmlns:p14="http://schemas.microsoft.com/office/powerpoint/2010/main" val="9727864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F1F518-7C0B-C047-9547-35E3F1E8BAD7}"/>
              </a:ext>
            </a:extLst>
          </p:cNvPr>
          <p:cNvSpPr>
            <a:spLocks noGrp="1"/>
          </p:cNvSpPr>
          <p:nvPr>
            <p:ph type="title"/>
          </p:nvPr>
        </p:nvSpPr>
        <p:spPr/>
        <p:txBody>
          <a:bodyPr/>
          <a:lstStyle/>
          <a:p>
            <a:r>
              <a:rPr kumimoji="1" lang="zh-CN" altLang="en-US" dirty="0"/>
              <a:t>降低操作系统复杂性</a:t>
            </a:r>
          </a:p>
        </p:txBody>
      </p:sp>
      <p:sp>
        <p:nvSpPr>
          <p:cNvPr id="3" name="内容占位符 2">
            <a:extLst>
              <a:ext uri="{FF2B5EF4-FFF2-40B4-BE49-F238E27FC236}">
                <a16:creationId xmlns:a16="http://schemas.microsoft.com/office/drawing/2014/main" id="{055B23DC-E1C3-3D45-AC48-7C6C37F0825F}"/>
              </a:ext>
            </a:extLst>
          </p:cNvPr>
          <p:cNvSpPr>
            <a:spLocks noGrp="1"/>
          </p:cNvSpPr>
          <p:nvPr>
            <p:ph idx="1"/>
          </p:nvPr>
        </p:nvSpPr>
        <p:spPr/>
        <p:txBody>
          <a:bodyPr>
            <a:normAutofit/>
          </a:bodyPr>
          <a:lstStyle/>
          <a:p>
            <a:r>
              <a:rPr kumimoji="1" lang="zh-CN" altLang="en-US" sz="2400" dirty="0"/>
              <a:t>重要设计原则：策略与机制的分离</a:t>
            </a:r>
            <a:endParaRPr kumimoji="1" lang="en-US" altLang="zh-CN" sz="2400" dirty="0"/>
          </a:p>
          <a:p>
            <a:pPr lvl="1"/>
            <a:r>
              <a:rPr kumimoji="1" lang="zh-CN" altLang="en-US" sz="2000" dirty="0"/>
              <a:t>策略（</a:t>
            </a:r>
            <a:r>
              <a:rPr kumimoji="1" lang="en-US" altLang="zh-CN" sz="2000" dirty="0"/>
              <a:t>Policy</a:t>
            </a:r>
            <a:r>
              <a:rPr kumimoji="1" lang="zh-CN" altLang="en-US" sz="2000" dirty="0"/>
              <a:t>）：要做什么 </a:t>
            </a:r>
            <a:r>
              <a:rPr kumimoji="1" lang="en-US" altLang="zh-CN" sz="2000" dirty="0"/>
              <a:t>——</a:t>
            </a:r>
            <a:r>
              <a:rPr kumimoji="1" lang="zh-CN" altLang="en-US" sz="2000" dirty="0"/>
              <a:t> 相对动态</a:t>
            </a:r>
            <a:endParaRPr kumimoji="1" lang="en-US" altLang="zh-CN" sz="2000" dirty="0"/>
          </a:p>
          <a:p>
            <a:pPr lvl="1"/>
            <a:r>
              <a:rPr kumimoji="1" lang="zh-CN" altLang="en-US" sz="2000" dirty="0"/>
              <a:t>机制（</a:t>
            </a:r>
            <a:r>
              <a:rPr kumimoji="1" lang="en-US" altLang="zh-CN" sz="2000" dirty="0"/>
              <a:t>Mechanism</a:t>
            </a:r>
            <a:r>
              <a:rPr kumimoji="1" lang="zh-CN" altLang="en-US" sz="2000" dirty="0"/>
              <a:t>）：该怎么做 </a:t>
            </a:r>
            <a:r>
              <a:rPr kumimoji="1" lang="en-US" altLang="zh-CN" sz="2000" dirty="0"/>
              <a:t>——</a:t>
            </a:r>
            <a:r>
              <a:rPr kumimoji="1" lang="zh-CN" altLang="en-US" sz="2000" dirty="0"/>
              <a:t> 相对静态</a:t>
            </a:r>
            <a:endParaRPr kumimoji="1" lang="en-US" altLang="zh-CN" sz="2000" dirty="0"/>
          </a:p>
          <a:p>
            <a:pPr lvl="1"/>
            <a:r>
              <a:rPr kumimoji="1" lang="zh-CN" altLang="en-US" sz="2000" dirty="0">
                <a:highlight>
                  <a:srgbClr val="FFFF00"/>
                </a:highlight>
              </a:rPr>
              <a:t>操作系统可仅通过调整策略来适应不同应用的需求</a:t>
            </a:r>
          </a:p>
        </p:txBody>
      </p:sp>
      <p:sp>
        <p:nvSpPr>
          <p:cNvPr id="4" name="灯片编号占位符 3">
            <a:extLst>
              <a:ext uri="{FF2B5EF4-FFF2-40B4-BE49-F238E27FC236}">
                <a16:creationId xmlns:a16="http://schemas.microsoft.com/office/drawing/2014/main" id="{3D061DFC-38A3-9E41-BC24-4B925E2C803E}"/>
              </a:ext>
            </a:extLst>
          </p:cNvPr>
          <p:cNvSpPr>
            <a:spLocks noGrp="1"/>
          </p:cNvSpPr>
          <p:nvPr>
            <p:ph type="sldNum" sz="quarter" idx="12"/>
          </p:nvPr>
        </p:nvSpPr>
        <p:spPr/>
        <p:txBody>
          <a:bodyPr/>
          <a:lstStyle/>
          <a:p>
            <a:fld id="{ADE361C3-C043-4A6E-BDCE-8DA1E7D90A3B}" type="slidenum">
              <a:rPr lang="zh-CN" altLang="en-US" smtClean="0"/>
              <a:t>13</a:t>
            </a:fld>
            <a:endParaRPr lang="zh-CN" altLang="en-US"/>
          </a:p>
        </p:txBody>
      </p:sp>
      <p:graphicFrame>
        <p:nvGraphicFramePr>
          <p:cNvPr id="5" name="表格 4">
            <a:extLst>
              <a:ext uri="{FF2B5EF4-FFF2-40B4-BE49-F238E27FC236}">
                <a16:creationId xmlns:a16="http://schemas.microsoft.com/office/drawing/2014/main" id="{7E501EA1-CCB1-C44D-B79F-8F20F28907C3}"/>
              </a:ext>
            </a:extLst>
          </p:cNvPr>
          <p:cNvGraphicFramePr>
            <a:graphicFrameLocks noGrp="1"/>
          </p:cNvGraphicFramePr>
          <p:nvPr/>
        </p:nvGraphicFramePr>
        <p:xfrm>
          <a:off x="863587" y="3319844"/>
          <a:ext cx="7416825" cy="2123310"/>
        </p:xfrm>
        <a:graphic>
          <a:graphicData uri="http://schemas.openxmlformats.org/drawingml/2006/table">
            <a:tbl>
              <a:tblPr firstRow="1" bandRow="1">
                <a:tableStyleId>{5C22544A-7EE6-4342-B048-85BDC9FD1C3A}</a:tableStyleId>
              </a:tblPr>
              <a:tblGrid>
                <a:gridCol w="1008112">
                  <a:extLst>
                    <a:ext uri="{9D8B030D-6E8A-4147-A177-3AD203B41FA5}">
                      <a16:colId xmlns:a16="http://schemas.microsoft.com/office/drawing/2014/main" val="3927898969"/>
                    </a:ext>
                  </a:extLst>
                </a:gridCol>
                <a:gridCol w="3168352">
                  <a:extLst>
                    <a:ext uri="{9D8B030D-6E8A-4147-A177-3AD203B41FA5}">
                      <a16:colId xmlns:a16="http://schemas.microsoft.com/office/drawing/2014/main" val="499159156"/>
                    </a:ext>
                  </a:extLst>
                </a:gridCol>
                <a:gridCol w="3240361">
                  <a:extLst>
                    <a:ext uri="{9D8B030D-6E8A-4147-A177-3AD203B41FA5}">
                      <a16:colId xmlns:a16="http://schemas.microsoft.com/office/drawing/2014/main" val="1431793350"/>
                    </a:ext>
                  </a:extLst>
                </a:gridCol>
              </a:tblGrid>
              <a:tr h="453872">
                <a:tc>
                  <a:txBody>
                    <a:bodyPr/>
                    <a:lstStyle/>
                    <a:p>
                      <a:pPr>
                        <a:lnSpc>
                          <a:spcPct val="120000"/>
                        </a:lnSpc>
                      </a:pPr>
                      <a:r>
                        <a:rPr lang="zh-CN" altLang="en-US" dirty="0"/>
                        <a:t>例子</a:t>
                      </a:r>
                    </a:p>
                  </a:txBody>
                  <a:tcPr/>
                </a:tc>
                <a:tc>
                  <a:txBody>
                    <a:bodyPr/>
                    <a:lstStyle/>
                    <a:p>
                      <a:pPr algn="ctr">
                        <a:lnSpc>
                          <a:spcPct val="120000"/>
                        </a:lnSpc>
                      </a:pPr>
                      <a:r>
                        <a:rPr lang="zh-CN" altLang="en-US" dirty="0"/>
                        <a:t>策略</a:t>
                      </a:r>
                    </a:p>
                  </a:txBody>
                  <a:tcPr/>
                </a:tc>
                <a:tc>
                  <a:txBody>
                    <a:bodyPr/>
                    <a:lstStyle/>
                    <a:p>
                      <a:pPr algn="ctr">
                        <a:lnSpc>
                          <a:spcPct val="120000"/>
                        </a:lnSpc>
                      </a:pPr>
                      <a:r>
                        <a:rPr lang="zh-CN" altLang="en-US" dirty="0"/>
                        <a:t>机制</a:t>
                      </a:r>
                    </a:p>
                  </a:txBody>
                  <a:tcPr/>
                </a:tc>
                <a:extLst>
                  <a:ext uri="{0D108BD9-81ED-4DB2-BD59-A6C34878D82A}">
                    <a16:rowId xmlns:a16="http://schemas.microsoft.com/office/drawing/2014/main" val="2653214914"/>
                  </a:ext>
                </a:extLst>
              </a:tr>
              <a:tr h="834719">
                <a:tc>
                  <a:txBody>
                    <a:bodyPr/>
                    <a:lstStyle/>
                    <a:p>
                      <a:pPr>
                        <a:lnSpc>
                          <a:spcPct val="120000"/>
                        </a:lnSpc>
                      </a:pPr>
                      <a:r>
                        <a:rPr lang="zh-CN" altLang="en-US" dirty="0"/>
                        <a:t>登录</a:t>
                      </a:r>
                    </a:p>
                  </a:txBody>
                  <a:tcPr anchor="ctr"/>
                </a:tc>
                <a:tc>
                  <a:txBody>
                    <a:bodyPr/>
                    <a:lstStyle/>
                    <a:p>
                      <a:pPr>
                        <a:lnSpc>
                          <a:spcPct val="120000"/>
                        </a:lnSpc>
                      </a:pPr>
                      <a:r>
                        <a:rPr lang="zh-CN" altLang="en-US" dirty="0"/>
                        <a:t>什么用户、以什么权限登录</a:t>
                      </a:r>
                    </a:p>
                  </a:txBody>
                  <a:tcPr anchor="ctr"/>
                </a:tc>
                <a:tc>
                  <a:txBody>
                    <a:bodyPr/>
                    <a:lstStyle/>
                    <a:p>
                      <a:pPr>
                        <a:lnSpc>
                          <a:spcPct val="120000"/>
                        </a:lnSpc>
                      </a:pPr>
                      <a:r>
                        <a:rPr lang="zh-CN" altLang="en-US" dirty="0"/>
                        <a:t>输入处理、策略文件管理、桌面启动加载 </a:t>
                      </a:r>
                      <a:r>
                        <a:rPr lang="en-US" altLang="zh-CN" dirty="0"/>
                        <a:t>...</a:t>
                      </a:r>
                      <a:endParaRPr lang="zh-CN" altLang="en-US" dirty="0"/>
                    </a:p>
                  </a:txBody>
                  <a:tcPr anchor="ctr"/>
                </a:tc>
                <a:extLst>
                  <a:ext uri="{0D108BD9-81ED-4DB2-BD59-A6C34878D82A}">
                    <a16:rowId xmlns:a16="http://schemas.microsoft.com/office/drawing/2014/main" val="505443459"/>
                  </a:ext>
                </a:extLst>
              </a:tr>
              <a:tr h="834719">
                <a:tc>
                  <a:txBody>
                    <a:bodyPr/>
                    <a:lstStyle/>
                    <a:p>
                      <a:pPr>
                        <a:lnSpc>
                          <a:spcPct val="120000"/>
                        </a:lnSpc>
                      </a:pPr>
                      <a:r>
                        <a:rPr lang="zh-CN" altLang="en-US" dirty="0"/>
                        <a:t>调度</a:t>
                      </a:r>
                    </a:p>
                  </a:txBody>
                  <a:tcPr anchor="ctr"/>
                </a:tc>
                <a:tc>
                  <a:txBody>
                    <a:bodyPr/>
                    <a:lstStyle/>
                    <a:p>
                      <a:pPr>
                        <a:lnSpc>
                          <a:spcPct val="120000"/>
                        </a:lnSpc>
                      </a:pPr>
                      <a:r>
                        <a:rPr lang="zh-CN" altLang="en-US" dirty="0"/>
                        <a:t>调度算法：</a:t>
                      </a:r>
                      <a:r>
                        <a:rPr lang="en-US" altLang="zh-CN" dirty="0"/>
                        <a:t>Round-robin</a:t>
                      </a:r>
                      <a:r>
                        <a:rPr lang="zh-CN" altLang="en-US" dirty="0"/>
                        <a:t>、</a:t>
                      </a:r>
                      <a:r>
                        <a:rPr lang="en-US" altLang="zh-CN" dirty="0"/>
                        <a:t>Earliest</a:t>
                      </a:r>
                      <a:r>
                        <a:rPr lang="zh-CN" altLang="en-US" dirty="0"/>
                        <a:t> </a:t>
                      </a:r>
                      <a:r>
                        <a:rPr lang="en-US" altLang="zh-CN" dirty="0"/>
                        <a:t>Deadline</a:t>
                      </a:r>
                      <a:r>
                        <a:rPr lang="zh-CN" altLang="en-US" dirty="0"/>
                        <a:t> </a:t>
                      </a:r>
                      <a:r>
                        <a:rPr lang="en-US" altLang="zh-CN" dirty="0"/>
                        <a:t>First</a:t>
                      </a:r>
                      <a:r>
                        <a:rPr lang="zh-CN" altLang="en-US" dirty="0"/>
                        <a:t> </a:t>
                      </a:r>
                      <a:r>
                        <a:rPr lang="en-US" altLang="zh-CN" dirty="0"/>
                        <a:t>...</a:t>
                      </a:r>
                      <a:endParaRPr lang="zh-CN" altLang="en-US" dirty="0"/>
                    </a:p>
                  </a:txBody>
                  <a:tcPr anchor="ctr"/>
                </a:tc>
                <a:tc>
                  <a:txBody>
                    <a:bodyPr/>
                    <a:lstStyle/>
                    <a:p>
                      <a:pPr>
                        <a:lnSpc>
                          <a:spcPct val="120000"/>
                        </a:lnSpc>
                      </a:pPr>
                      <a:r>
                        <a:rPr lang="zh-CN" altLang="en-US" dirty="0"/>
                        <a:t>调度队列、调度实体（如线程）的表示、调度中断处理 </a:t>
                      </a:r>
                      <a:r>
                        <a:rPr lang="en-US" altLang="zh-CN" dirty="0"/>
                        <a:t>...</a:t>
                      </a:r>
                      <a:endParaRPr lang="zh-CN" altLang="en-US" dirty="0"/>
                    </a:p>
                  </a:txBody>
                  <a:tcPr anchor="ctr"/>
                </a:tc>
                <a:extLst>
                  <a:ext uri="{0D108BD9-81ED-4DB2-BD59-A6C34878D82A}">
                    <a16:rowId xmlns:a16="http://schemas.microsoft.com/office/drawing/2014/main" val="337798577"/>
                  </a:ext>
                </a:extLst>
              </a:tr>
            </a:tbl>
          </a:graphicData>
        </a:graphic>
      </p:graphicFrame>
    </p:spTree>
    <p:extLst>
      <p:ext uri="{BB962C8B-B14F-4D97-AF65-F5344CB8AC3E}">
        <p14:creationId xmlns:p14="http://schemas.microsoft.com/office/powerpoint/2010/main" val="451476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A4D0FE-AC4B-9F4F-9799-8172787D041A}"/>
              </a:ext>
            </a:extLst>
          </p:cNvPr>
          <p:cNvSpPr>
            <a:spLocks noGrp="1"/>
          </p:cNvSpPr>
          <p:nvPr>
            <p:ph type="title"/>
          </p:nvPr>
        </p:nvSpPr>
        <p:spPr/>
        <p:txBody>
          <a:bodyPr/>
          <a:lstStyle/>
          <a:p>
            <a:r>
              <a:rPr kumimoji="1" lang="zh-CN" altLang="en-US" dirty="0"/>
              <a:t>操作系统的架构及演进</a:t>
            </a:r>
          </a:p>
        </p:txBody>
      </p:sp>
      <p:sp>
        <p:nvSpPr>
          <p:cNvPr id="4" name="灯片编号占位符 3">
            <a:extLst>
              <a:ext uri="{FF2B5EF4-FFF2-40B4-BE49-F238E27FC236}">
                <a16:creationId xmlns:a16="http://schemas.microsoft.com/office/drawing/2014/main" id="{4BF4D826-58B4-E543-B5CB-A3665D5A829C}"/>
              </a:ext>
            </a:extLst>
          </p:cNvPr>
          <p:cNvSpPr>
            <a:spLocks noGrp="1"/>
          </p:cNvSpPr>
          <p:nvPr>
            <p:ph type="sldNum" sz="quarter" idx="12"/>
          </p:nvPr>
        </p:nvSpPr>
        <p:spPr/>
        <p:txBody>
          <a:bodyPr/>
          <a:lstStyle/>
          <a:p>
            <a:fld id="{ADE361C3-C043-4A6E-BDCE-8DA1E7D90A3B}" type="slidenum">
              <a:rPr lang="zh-CN" altLang="en-US" smtClean="0"/>
              <a:t>14</a:t>
            </a:fld>
            <a:endParaRPr lang="zh-CN" altLang="en-US"/>
          </a:p>
        </p:txBody>
      </p:sp>
      <p:pic>
        <p:nvPicPr>
          <p:cNvPr id="5" name="图片 4">
            <a:extLst>
              <a:ext uri="{FF2B5EF4-FFF2-40B4-BE49-F238E27FC236}">
                <a16:creationId xmlns:a16="http://schemas.microsoft.com/office/drawing/2014/main" id="{5F586F7B-4425-F946-9041-B56E820168EE}"/>
              </a:ext>
            </a:extLst>
          </p:cNvPr>
          <p:cNvPicPr>
            <a:picLocks noChangeAspect="1"/>
          </p:cNvPicPr>
          <p:nvPr/>
        </p:nvPicPr>
        <p:blipFill>
          <a:blip r:embed="rId2"/>
          <a:stretch>
            <a:fillRect/>
          </a:stretch>
        </p:blipFill>
        <p:spPr>
          <a:xfrm>
            <a:off x="0" y="1351518"/>
            <a:ext cx="9144000" cy="3945444"/>
          </a:xfrm>
          <a:prstGeom prst="rect">
            <a:avLst/>
          </a:prstGeom>
        </p:spPr>
      </p:pic>
    </p:spTree>
    <p:extLst>
      <p:ext uri="{BB962C8B-B14F-4D97-AF65-F5344CB8AC3E}">
        <p14:creationId xmlns:p14="http://schemas.microsoft.com/office/powerpoint/2010/main" val="3449463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4C0A7DEF-A184-6A4D-9D47-A4F645DC0D25}"/>
              </a:ext>
            </a:extLst>
          </p:cNvPr>
          <p:cNvSpPr>
            <a:spLocks noGrp="1"/>
          </p:cNvSpPr>
          <p:nvPr>
            <p:ph type="title"/>
          </p:nvPr>
        </p:nvSpPr>
        <p:spPr/>
        <p:txBody>
          <a:bodyPr/>
          <a:lstStyle/>
          <a:p>
            <a:r>
              <a:rPr kumimoji="1" lang="zh-CN" altLang="en-US" dirty="0"/>
              <a:t>宏内核（</a:t>
            </a:r>
            <a:r>
              <a:rPr kumimoji="1" lang="en-US" altLang="zh-CN" dirty="0"/>
              <a:t>Monolithic-</a:t>
            </a:r>
            <a:r>
              <a:rPr kumimoji="1" lang="en-US" altLang="zh-CN" dirty="0" err="1"/>
              <a:t>KerneL</a:t>
            </a:r>
            <a:r>
              <a:rPr kumimoji="1" lang="zh-CN" altLang="en-US" dirty="0"/>
              <a:t>）</a:t>
            </a:r>
          </a:p>
        </p:txBody>
      </p:sp>
      <p:sp>
        <p:nvSpPr>
          <p:cNvPr id="6" name="文本占位符 5">
            <a:extLst>
              <a:ext uri="{FF2B5EF4-FFF2-40B4-BE49-F238E27FC236}">
                <a16:creationId xmlns:a16="http://schemas.microsoft.com/office/drawing/2014/main" id="{0D84F601-F979-0D46-8748-B59E09268F5F}"/>
              </a:ext>
            </a:extLst>
          </p:cNvPr>
          <p:cNvSpPr>
            <a:spLocks noGrp="1"/>
          </p:cNvSpPr>
          <p:nvPr>
            <p:ph type="body" idx="1"/>
          </p:nvPr>
        </p:nvSpPr>
        <p:spPr/>
        <p:txBody>
          <a:bodyPr/>
          <a:lstStyle/>
          <a:p>
            <a:endParaRPr kumimoji="1" lang="zh-CN" altLang="en-US"/>
          </a:p>
        </p:txBody>
      </p:sp>
      <p:sp>
        <p:nvSpPr>
          <p:cNvPr id="4" name="灯片编号占位符 3">
            <a:extLst>
              <a:ext uri="{FF2B5EF4-FFF2-40B4-BE49-F238E27FC236}">
                <a16:creationId xmlns:a16="http://schemas.microsoft.com/office/drawing/2014/main" id="{4948FC59-BED5-9A4C-A1B5-00F0F03507F1}"/>
              </a:ext>
            </a:extLst>
          </p:cNvPr>
          <p:cNvSpPr>
            <a:spLocks noGrp="1"/>
          </p:cNvSpPr>
          <p:nvPr>
            <p:ph type="sldNum" sz="quarter" idx="12"/>
          </p:nvPr>
        </p:nvSpPr>
        <p:spPr/>
        <p:txBody>
          <a:bodyPr/>
          <a:lstStyle/>
          <a:p>
            <a:fld id="{ADE361C3-C043-4A6E-BDCE-8DA1E7D90A3B}" type="slidenum">
              <a:rPr lang="zh-CN" altLang="en-US" smtClean="0"/>
              <a:t>15</a:t>
            </a:fld>
            <a:endParaRPr lang="zh-CN" altLang="en-US"/>
          </a:p>
        </p:txBody>
      </p:sp>
    </p:spTree>
    <p:extLst>
      <p:ext uri="{BB962C8B-B14F-4D97-AF65-F5344CB8AC3E}">
        <p14:creationId xmlns:p14="http://schemas.microsoft.com/office/powerpoint/2010/main" val="3400011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D9FD10-DBF5-1A42-998E-5469C6776E7B}"/>
              </a:ext>
            </a:extLst>
          </p:cNvPr>
          <p:cNvSpPr>
            <a:spLocks noGrp="1"/>
          </p:cNvSpPr>
          <p:nvPr>
            <p:ph type="title"/>
          </p:nvPr>
        </p:nvSpPr>
        <p:spPr/>
        <p:txBody>
          <a:bodyPr/>
          <a:lstStyle/>
          <a:p>
            <a:r>
              <a:rPr kumimoji="1" lang="zh-CN" altLang="en-US" dirty="0"/>
              <a:t>宏内核（</a:t>
            </a:r>
            <a:r>
              <a:rPr kumimoji="1" lang="en-US" altLang="zh-CN" dirty="0"/>
              <a:t>Monolithic</a:t>
            </a:r>
            <a:r>
              <a:rPr kumimoji="1" lang="zh-CN" altLang="en-US" dirty="0"/>
              <a:t> </a:t>
            </a:r>
            <a:r>
              <a:rPr kumimoji="1" lang="en-US" altLang="zh-CN" dirty="0"/>
              <a:t>Kernel</a:t>
            </a:r>
            <a:r>
              <a:rPr kumimoji="1" lang="zh-CN" altLang="en-US" dirty="0"/>
              <a:t>）</a:t>
            </a:r>
          </a:p>
        </p:txBody>
      </p:sp>
      <p:sp>
        <p:nvSpPr>
          <p:cNvPr id="3" name="内容占位符 2">
            <a:extLst>
              <a:ext uri="{FF2B5EF4-FFF2-40B4-BE49-F238E27FC236}">
                <a16:creationId xmlns:a16="http://schemas.microsoft.com/office/drawing/2014/main" id="{7C82E858-4D97-A141-B503-434CF2677C52}"/>
              </a:ext>
            </a:extLst>
          </p:cNvPr>
          <p:cNvSpPr>
            <a:spLocks noGrp="1"/>
          </p:cNvSpPr>
          <p:nvPr>
            <p:ph idx="1"/>
          </p:nvPr>
        </p:nvSpPr>
        <p:spPr/>
        <p:txBody>
          <a:bodyPr>
            <a:normAutofit/>
          </a:bodyPr>
          <a:lstStyle/>
          <a:p>
            <a:r>
              <a:rPr kumimoji="1" lang="zh-CN" altLang="en-US" sz="2400" dirty="0"/>
              <a:t>整个系统分为内核与应用两层</a:t>
            </a:r>
            <a:endParaRPr kumimoji="1" lang="en-US" altLang="zh-CN" sz="2400" dirty="0"/>
          </a:p>
          <a:p>
            <a:pPr lvl="1"/>
            <a:r>
              <a:rPr kumimoji="1" lang="zh-CN" altLang="en-US" sz="2000" dirty="0"/>
              <a:t>内核：运行在特权级，集中控制所有计算资源</a:t>
            </a:r>
            <a:endParaRPr kumimoji="1" lang="en-US" altLang="zh-CN" sz="2000" dirty="0"/>
          </a:p>
          <a:p>
            <a:pPr lvl="1"/>
            <a:r>
              <a:rPr kumimoji="1" lang="zh-CN" altLang="en-US" sz="2000" dirty="0"/>
              <a:t>应用：运行在非特权级，受内核管理，使用内核服务</a:t>
            </a:r>
          </a:p>
        </p:txBody>
      </p:sp>
      <p:sp>
        <p:nvSpPr>
          <p:cNvPr id="4" name="灯片编号占位符 3">
            <a:extLst>
              <a:ext uri="{FF2B5EF4-FFF2-40B4-BE49-F238E27FC236}">
                <a16:creationId xmlns:a16="http://schemas.microsoft.com/office/drawing/2014/main" id="{D2AC26B2-598A-1449-9AD9-C72BF17F4C85}"/>
              </a:ext>
            </a:extLst>
          </p:cNvPr>
          <p:cNvSpPr>
            <a:spLocks noGrp="1"/>
          </p:cNvSpPr>
          <p:nvPr>
            <p:ph type="sldNum" sz="quarter" idx="12"/>
          </p:nvPr>
        </p:nvSpPr>
        <p:spPr/>
        <p:txBody>
          <a:bodyPr/>
          <a:lstStyle/>
          <a:p>
            <a:fld id="{ADE361C3-C043-4A6E-BDCE-8DA1E7D90A3B}" type="slidenum">
              <a:rPr lang="zh-CN" altLang="en-US" smtClean="0"/>
              <a:t>16</a:t>
            </a:fld>
            <a:endParaRPr lang="zh-CN" altLang="en-US"/>
          </a:p>
        </p:txBody>
      </p:sp>
      <p:grpSp>
        <p:nvGrpSpPr>
          <p:cNvPr id="6" name="Group 4">
            <a:extLst>
              <a:ext uri="{FF2B5EF4-FFF2-40B4-BE49-F238E27FC236}">
                <a16:creationId xmlns:a16="http://schemas.microsoft.com/office/drawing/2014/main" id="{BD6C0750-2241-5241-A719-A32BFD2777E5}"/>
              </a:ext>
            </a:extLst>
          </p:cNvPr>
          <p:cNvGrpSpPr>
            <a:grpSpLocks/>
          </p:cNvGrpSpPr>
          <p:nvPr/>
        </p:nvGrpSpPr>
        <p:grpSpPr bwMode="auto">
          <a:xfrm>
            <a:off x="3347864" y="3219319"/>
            <a:ext cx="2448272" cy="2210761"/>
            <a:chOff x="2936294" y="4217778"/>
            <a:chExt cx="2683038" cy="2368323"/>
          </a:xfrm>
        </p:grpSpPr>
        <p:grpSp>
          <p:nvGrpSpPr>
            <p:cNvPr id="7" name="Group 3">
              <a:extLst>
                <a:ext uri="{FF2B5EF4-FFF2-40B4-BE49-F238E27FC236}">
                  <a16:creationId xmlns:a16="http://schemas.microsoft.com/office/drawing/2014/main" id="{E9AC587B-F43D-E342-8120-9C78E07ACB3F}"/>
                </a:ext>
              </a:extLst>
            </p:cNvPr>
            <p:cNvGrpSpPr>
              <a:grpSpLocks/>
            </p:cNvGrpSpPr>
            <p:nvPr/>
          </p:nvGrpSpPr>
          <p:grpSpPr bwMode="auto">
            <a:xfrm>
              <a:off x="2936294" y="4217778"/>
              <a:ext cx="2683038" cy="2368323"/>
              <a:chOff x="2585006" y="2562157"/>
              <a:chExt cx="3657166" cy="4092829"/>
            </a:xfrm>
          </p:grpSpPr>
          <p:sp>
            <p:nvSpPr>
              <p:cNvPr id="9" name="Text Box 3">
                <a:extLst>
                  <a:ext uri="{FF2B5EF4-FFF2-40B4-BE49-F238E27FC236}">
                    <a16:creationId xmlns:a16="http://schemas.microsoft.com/office/drawing/2014/main" id="{23C7378F-FC8A-DD46-9C9E-1BC2DE8D1578}"/>
                  </a:ext>
                </a:extLst>
              </p:cNvPr>
              <p:cNvSpPr txBox="1">
                <a:spLocks noChangeArrowheads="1"/>
              </p:cNvSpPr>
              <p:nvPr/>
            </p:nvSpPr>
            <p:spPr bwMode="auto">
              <a:xfrm>
                <a:off x="2585006" y="2562157"/>
                <a:ext cx="1685925" cy="626772"/>
              </a:xfrm>
              <a:prstGeom prst="rect">
                <a:avLst/>
              </a:prstGeom>
              <a:solidFill>
                <a:schemeClr val="accent3"/>
              </a:solidFill>
              <a:ln>
                <a:noFill/>
                <a:headEnd type="none" w="sm" len="sm"/>
                <a:tailEnd type="none" w="sm" len="sm"/>
              </a:ln>
            </p:spPr>
            <p:style>
              <a:lnRef idx="1">
                <a:schemeClr val="accent3"/>
              </a:lnRef>
              <a:fillRef idx="2">
                <a:schemeClr val="accent3"/>
              </a:fillRef>
              <a:effectRef idx="1">
                <a:schemeClr val="accent3"/>
              </a:effectRef>
              <a:fontRef idx="minor">
                <a:schemeClr val="dk1"/>
              </a:fontRef>
            </p:style>
            <p:txBody>
              <a:bodyPr>
                <a:spAutoFit/>
              </a:bodyPr>
              <a:lstStyle>
                <a:defPPr>
                  <a:defRPr lang="zh-CN"/>
                </a:defPPr>
                <a:lvl1pPr algn="ctr" eaLnBrk="0" fontAlgn="auto" hangingPunct="0">
                  <a:spcBef>
                    <a:spcPts val="0"/>
                  </a:spcBef>
                  <a:spcAft>
                    <a:spcPts val="0"/>
                  </a:spcAft>
                  <a:defRPr>
                    <a:solidFill>
                      <a:schemeClr val="bg1"/>
                    </a:solidFill>
                    <a:latin typeface="Arial Narrow" pitchFamily="32" charset="0"/>
                  </a:defRPr>
                </a:lvl1pPr>
              </a:lstStyle>
              <a:p>
                <a:r>
                  <a:rPr lang="zh-CN" altLang="en-US" sz="1600" dirty="0">
                    <a:latin typeface="等线" panose="02010600030101010101" pitchFamily="2" charset="-122"/>
                    <a:ea typeface="等线" panose="02010600030101010101" pitchFamily="2" charset="-122"/>
                  </a:rPr>
                  <a:t>用户进程</a:t>
                </a:r>
                <a:endParaRPr lang="en-US" altLang="ko-KR" sz="1600" dirty="0">
                  <a:latin typeface="等线" panose="02010600030101010101" pitchFamily="2" charset="-122"/>
                  <a:ea typeface="等线" panose="02010600030101010101" pitchFamily="2" charset="-122"/>
                </a:endParaRPr>
              </a:p>
            </p:txBody>
          </p:sp>
          <p:sp>
            <p:nvSpPr>
              <p:cNvPr id="10" name="Rectangle 4">
                <a:extLst>
                  <a:ext uri="{FF2B5EF4-FFF2-40B4-BE49-F238E27FC236}">
                    <a16:creationId xmlns:a16="http://schemas.microsoft.com/office/drawing/2014/main" id="{C125F82E-2BAF-FB48-97BF-7CFA4291F356}"/>
                  </a:ext>
                </a:extLst>
              </p:cNvPr>
              <p:cNvSpPr>
                <a:spLocks noChangeArrowheads="1"/>
              </p:cNvSpPr>
              <p:nvPr/>
            </p:nvSpPr>
            <p:spPr bwMode="auto">
              <a:xfrm>
                <a:off x="2585006" y="4227791"/>
                <a:ext cx="3657165" cy="2427195"/>
              </a:xfrm>
              <a:prstGeom prst="rect">
                <a:avLst/>
              </a:prstGeom>
              <a:solidFill>
                <a:schemeClr val="accent1"/>
              </a:solidFill>
              <a:ln>
                <a:noFill/>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eaLnBrk="0" fontAlgn="auto" hangingPunct="0">
                  <a:spcBef>
                    <a:spcPts val="0"/>
                  </a:spcBef>
                  <a:spcAft>
                    <a:spcPts val="0"/>
                  </a:spcAft>
                  <a:defRPr/>
                </a:pPr>
                <a:r>
                  <a:rPr lang="zh-CN" altLang="en-US" sz="1600" dirty="0">
                    <a:solidFill>
                      <a:srgbClr val="FFFFFF"/>
                    </a:solidFill>
                    <a:latin typeface="等线" panose="02010600030101010101" pitchFamily="2" charset="-122"/>
                    <a:ea typeface="等线" panose="02010600030101010101" pitchFamily="2" charset="-122"/>
                  </a:rPr>
                  <a:t>内核</a:t>
                </a:r>
                <a:br>
                  <a:rPr lang="en-US" altLang="zh-CN" sz="1600" dirty="0">
                    <a:solidFill>
                      <a:srgbClr val="FFFFFF"/>
                    </a:solidFill>
                    <a:latin typeface="等线" panose="02010600030101010101" pitchFamily="2" charset="-122"/>
                    <a:ea typeface="等线" panose="02010600030101010101" pitchFamily="2" charset="-122"/>
                  </a:rPr>
                </a:br>
                <a:r>
                  <a:rPr lang="zh-CN" altLang="en-US" sz="1600" dirty="0">
                    <a:solidFill>
                      <a:srgbClr val="FFFFFF"/>
                    </a:solidFill>
                    <a:latin typeface="等线" panose="02010600030101010101" pitchFamily="2" charset="-122"/>
                    <a:ea typeface="等线" panose="02010600030101010101" pitchFamily="2" charset="-122"/>
                  </a:rPr>
                  <a:t>（整合了文件系统、内存</a:t>
                </a:r>
                <a:br>
                  <a:rPr lang="en-US" altLang="zh-CN" sz="1600" dirty="0">
                    <a:solidFill>
                      <a:srgbClr val="FFFFFF"/>
                    </a:solidFill>
                    <a:latin typeface="等线" panose="02010600030101010101" pitchFamily="2" charset="-122"/>
                    <a:ea typeface="等线" panose="02010600030101010101" pitchFamily="2" charset="-122"/>
                  </a:rPr>
                </a:br>
                <a:r>
                  <a:rPr lang="zh-CN" altLang="en-US" sz="1600" dirty="0">
                    <a:solidFill>
                      <a:srgbClr val="FFFFFF"/>
                    </a:solidFill>
                    <a:latin typeface="等线" panose="02010600030101010101" pitchFamily="2" charset="-122"/>
                    <a:ea typeface="等线" panose="02010600030101010101" pitchFamily="2" charset="-122"/>
                  </a:rPr>
                  <a:t>管理、设备驱动、进程</a:t>
                </a:r>
                <a:br>
                  <a:rPr lang="en-US" altLang="zh-CN" sz="1600" dirty="0">
                    <a:solidFill>
                      <a:srgbClr val="FFFFFF"/>
                    </a:solidFill>
                    <a:latin typeface="等线" panose="02010600030101010101" pitchFamily="2" charset="-122"/>
                    <a:ea typeface="等线" panose="02010600030101010101" pitchFamily="2" charset="-122"/>
                  </a:rPr>
                </a:br>
                <a:r>
                  <a:rPr lang="zh-CN" altLang="en-US" sz="1600" dirty="0">
                    <a:solidFill>
                      <a:srgbClr val="FFFFFF"/>
                    </a:solidFill>
                    <a:latin typeface="等线" panose="02010600030101010101" pitchFamily="2" charset="-122"/>
                    <a:ea typeface="等线" panose="02010600030101010101" pitchFamily="2" charset="-122"/>
                  </a:rPr>
                  <a:t>调度、同步原语、</a:t>
                </a:r>
                <a:r>
                  <a:rPr lang="en-US" altLang="zh-CN" sz="1600" dirty="0">
                    <a:solidFill>
                      <a:srgbClr val="FFFFFF"/>
                    </a:solidFill>
                    <a:latin typeface="等线" panose="02010600030101010101" pitchFamily="2" charset="-122"/>
                    <a:ea typeface="等线" panose="02010600030101010101" pitchFamily="2" charset="-122"/>
                  </a:rPr>
                  <a:t>IPC</a:t>
                </a:r>
                <a:r>
                  <a:rPr lang="zh-CN" altLang="en-US" sz="1600" dirty="0">
                    <a:solidFill>
                      <a:srgbClr val="FFFFFF"/>
                    </a:solidFill>
                    <a:latin typeface="等线" panose="02010600030101010101" pitchFamily="2" charset="-122"/>
                    <a:ea typeface="等线" panose="02010600030101010101" pitchFamily="2" charset="-122"/>
                  </a:rPr>
                  <a:t>等）</a:t>
                </a:r>
                <a:endParaRPr lang="en-US" altLang="ko-KR" sz="1600" dirty="0">
                  <a:solidFill>
                    <a:srgbClr val="FFFFFF"/>
                  </a:solidFill>
                  <a:latin typeface="等线" panose="02010600030101010101" pitchFamily="2" charset="-122"/>
                  <a:ea typeface="等线" panose="02010600030101010101" pitchFamily="2" charset="-122"/>
                </a:endParaRPr>
              </a:p>
            </p:txBody>
          </p:sp>
          <p:sp>
            <p:nvSpPr>
              <p:cNvPr id="11" name="Text Box 5">
                <a:extLst>
                  <a:ext uri="{FF2B5EF4-FFF2-40B4-BE49-F238E27FC236}">
                    <a16:creationId xmlns:a16="http://schemas.microsoft.com/office/drawing/2014/main" id="{0947D709-9F2B-9240-8C72-8E30E014F53D}"/>
                  </a:ext>
                </a:extLst>
              </p:cNvPr>
              <p:cNvSpPr txBox="1">
                <a:spLocks noChangeArrowheads="1"/>
              </p:cNvSpPr>
              <p:nvPr/>
            </p:nvSpPr>
            <p:spPr bwMode="auto">
              <a:xfrm>
                <a:off x="4556247" y="2562157"/>
                <a:ext cx="1685925" cy="626772"/>
              </a:xfrm>
              <a:prstGeom prst="rect">
                <a:avLst/>
              </a:prstGeom>
              <a:solidFill>
                <a:schemeClr val="accent3"/>
              </a:solidFill>
              <a:ln>
                <a:noFill/>
                <a:headEnd type="none" w="sm" len="sm"/>
                <a:tailEnd type="none" w="sm" len="sm"/>
              </a:ln>
            </p:spPr>
            <p:style>
              <a:lnRef idx="1">
                <a:schemeClr val="accent3"/>
              </a:lnRef>
              <a:fillRef idx="2">
                <a:schemeClr val="accent3"/>
              </a:fillRef>
              <a:effectRef idx="1">
                <a:schemeClr val="accent3"/>
              </a:effectRef>
              <a:fontRef idx="minor">
                <a:schemeClr val="dk1"/>
              </a:fontRef>
            </p:style>
            <p:txBody>
              <a:bodyPr>
                <a:spAutoFit/>
              </a:bodyPr>
              <a:lstStyle/>
              <a:p>
                <a:pPr algn="ctr" eaLnBrk="0" fontAlgn="auto" hangingPunct="0">
                  <a:spcBef>
                    <a:spcPts val="0"/>
                  </a:spcBef>
                  <a:spcAft>
                    <a:spcPts val="0"/>
                  </a:spcAft>
                  <a:defRPr/>
                </a:pPr>
                <a:r>
                  <a:rPr lang="zh-CN" altLang="en-US" sz="1600" dirty="0">
                    <a:solidFill>
                      <a:schemeClr val="bg1"/>
                    </a:solidFill>
                    <a:latin typeface="等线" panose="02010600030101010101" pitchFamily="2" charset="-122"/>
                    <a:ea typeface="等线" panose="02010600030101010101" pitchFamily="2" charset="-122"/>
                  </a:rPr>
                  <a:t>用户进程</a:t>
                </a:r>
                <a:endParaRPr lang="en-US" altLang="ko-KR" sz="1600" dirty="0">
                  <a:solidFill>
                    <a:schemeClr val="bg1"/>
                  </a:solidFill>
                  <a:latin typeface="等线" panose="02010600030101010101" pitchFamily="2" charset="-122"/>
                  <a:ea typeface="等线" panose="02010600030101010101" pitchFamily="2" charset="-122"/>
                </a:endParaRPr>
              </a:p>
            </p:txBody>
          </p:sp>
          <p:sp>
            <p:nvSpPr>
              <p:cNvPr id="12" name="AutoShape 15">
                <a:extLst>
                  <a:ext uri="{FF2B5EF4-FFF2-40B4-BE49-F238E27FC236}">
                    <a16:creationId xmlns:a16="http://schemas.microsoft.com/office/drawing/2014/main" id="{C6B022C8-F374-4547-9FB5-733DD043D78C}"/>
                  </a:ext>
                </a:extLst>
              </p:cNvPr>
              <p:cNvSpPr>
                <a:spLocks noChangeArrowheads="1"/>
              </p:cNvSpPr>
              <p:nvPr/>
            </p:nvSpPr>
            <p:spPr bwMode="auto">
              <a:xfrm>
                <a:off x="5166535" y="3188927"/>
                <a:ext cx="485775" cy="941665"/>
              </a:xfrm>
              <a:prstGeom prst="upDownArrow">
                <a:avLst>
                  <a:gd name="adj1" fmla="val 50000"/>
                  <a:gd name="adj2" fmla="val 23728"/>
                </a:avLst>
              </a:prstGeom>
              <a:solidFill>
                <a:schemeClr val="bg1"/>
              </a:solidFill>
              <a:ln w="9525">
                <a:solidFill>
                  <a:schemeClr val="tx1">
                    <a:lumMod val="50000"/>
                    <a:lumOff val="50000"/>
                  </a:schemeClr>
                </a:solidFill>
                <a:miter lim="800000"/>
                <a:headEnd/>
                <a:tailEnd/>
              </a:ln>
            </p:spPr>
            <p:txBody>
              <a:bodyPr vert="eaVert" wrap="none" anchor="ctr"/>
              <a:lstStyle/>
              <a:p>
                <a:endParaRPr lang="ko-KR" altLang="en-US" sz="1600">
                  <a:latin typeface="等线" panose="02010600030101010101" pitchFamily="2" charset="-122"/>
                  <a:ea typeface="휴먼매직체" charset="0"/>
                  <a:cs typeface="휴먼매직체" charset="0"/>
                </a:endParaRPr>
              </a:p>
            </p:txBody>
          </p:sp>
          <p:sp>
            <p:nvSpPr>
              <p:cNvPr id="13" name="AutoShape 14">
                <a:extLst>
                  <a:ext uri="{FF2B5EF4-FFF2-40B4-BE49-F238E27FC236}">
                    <a16:creationId xmlns:a16="http://schemas.microsoft.com/office/drawing/2014/main" id="{CA5985F4-7AAC-A641-8438-FD9FFB4C2DE8}"/>
                  </a:ext>
                </a:extLst>
              </p:cNvPr>
              <p:cNvSpPr>
                <a:spLocks noChangeArrowheads="1"/>
              </p:cNvSpPr>
              <p:nvPr/>
            </p:nvSpPr>
            <p:spPr bwMode="auto">
              <a:xfrm>
                <a:off x="3230388" y="3216543"/>
                <a:ext cx="485775" cy="941665"/>
              </a:xfrm>
              <a:prstGeom prst="upDownArrow">
                <a:avLst>
                  <a:gd name="adj1" fmla="val 50000"/>
                  <a:gd name="adj2" fmla="val 23728"/>
                </a:avLst>
              </a:prstGeom>
              <a:solidFill>
                <a:schemeClr val="bg1"/>
              </a:solidFill>
              <a:ln w="9525">
                <a:solidFill>
                  <a:schemeClr val="tx1">
                    <a:lumMod val="50000"/>
                    <a:lumOff val="50000"/>
                  </a:schemeClr>
                </a:solidFill>
                <a:miter lim="800000"/>
                <a:headEnd/>
                <a:tailEnd/>
              </a:ln>
            </p:spPr>
            <p:txBody>
              <a:bodyPr vert="eaVert" wrap="none" anchor="ctr"/>
              <a:lstStyle/>
              <a:p>
                <a:endParaRPr lang="ko-KR" altLang="en-US" sz="1600">
                  <a:latin typeface="等线" panose="02010600030101010101" pitchFamily="2" charset="-122"/>
                  <a:ea typeface="휴먼매직체" charset="0"/>
                  <a:cs typeface="휴먼매직체" charset="0"/>
                </a:endParaRPr>
              </a:p>
            </p:txBody>
          </p:sp>
        </p:grpSp>
        <p:sp>
          <p:nvSpPr>
            <p:cNvPr id="8" name="Text Box 8">
              <a:extLst>
                <a:ext uri="{FF2B5EF4-FFF2-40B4-BE49-F238E27FC236}">
                  <a16:creationId xmlns:a16="http://schemas.microsoft.com/office/drawing/2014/main" id="{C3ED15A7-41A9-C143-A85B-71D761518860}"/>
                </a:ext>
              </a:extLst>
            </p:cNvPr>
            <p:cNvSpPr txBox="1">
              <a:spLocks noChangeArrowheads="1"/>
            </p:cNvSpPr>
            <p:nvPr/>
          </p:nvSpPr>
          <p:spPr bwMode="auto">
            <a:xfrm>
              <a:off x="3587963" y="4682270"/>
              <a:ext cx="1499345" cy="362683"/>
            </a:xfrm>
            <a:prstGeom prst="rect">
              <a:avLst/>
            </a:prstGeom>
            <a:noFill/>
            <a:ln>
              <a:noFill/>
              <a:headEnd type="none" w="sm" len="sm"/>
              <a:tailEnd type="none" w="sm" len="sm"/>
            </a:ln>
          </p:spPr>
          <p:style>
            <a:lnRef idx="1">
              <a:schemeClr val="dk1"/>
            </a:lnRef>
            <a:fillRef idx="2">
              <a:schemeClr val="dk1"/>
            </a:fillRef>
            <a:effectRef idx="1">
              <a:schemeClr val="dk1"/>
            </a:effectRef>
            <a:fontRef idx="minor">
              <a:schemeClr val="dk1"/>
            </a:fontRef>
          </p:style>
          <p:txBody>
            <a:bodyPr wrap="square">
              <a:spAutoFit/>
            </a:bodyPr>
            <a:lstStyle/>
            <a:p>
              <a:pPr algn="ctr" eaLnBrk="0" fontAlgn="auto" hangingPunct="0">
                <a:spcBef>
                  <a:spcPts val="0"/>
                </a:spcBef>
                <a:spcAft>
                  <a:spcPts val="0"/>
                </a:spcAft>
                <a:defRPr/>
              </a:pPr>
              <a:r>
                <a:rPr lang="zh-CN" altLang="en-US" sz="1600" dirty="0">
                  <a:solidFill>
                    <a:srgbClr val="170D01"/>
                  </a:solidFill>
                  <a:latin typeface="等线" panose="02010600030101010101" pitchFamily="2" charset="-122"/>
                  <a:ea typeface="等线" panose="02010600030101010101" pitchFamily="2" charset="-122"/>
                  <a:cs typeface="Arial Narrow"/>
                </a:rPr>
                <a:t>系统调用</a:t>
              </a:r>
              <a:endParaRPr lang="en-US" altLang="ko-KR" sz="1600" dirty="0">
                <a:solidFill>
                  <a:srgbClr val="170D01"/>
                </a:solidFill>
                <a:latin typeface="等线" panose="02010600030101010101" pitchFamily="2" charset="-122"/>
                <a:ea typeface="等线" panose="02010600030101010101" pitchFamily="2" charset="-122"/>
                <a:cs typeface="Arial Narrow"/>
              </a:endParaRPr>
            </a:p>
          </p:txBody>
        </p:sp>
      </p:grpSp>
    </p:spTree>
    <p:extLst>
      <p:ext uri="{BB962C8B-B14F-4D97-AF65-F5344CB8AC3E}">
        <p14:creationId xmlns:p14="http://schemas.microsoft.com/office/powerpoint/2010/main" val="8836780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F53F4C-5D88-0D4E-A116-E789782AF224}"/>
              </a:ext>
            </a:extLst>
          </p:cNvPr>
          <p:cNvSpPr>
            <a:spLocks noGrp="1"/>
          </p:cNvSpPr>
          <p:nvPr>
            <p:ph type="title"/>
          </p:nvPr>
        </p:nvSpPr>
        <p:spPr/>
        <p:txBody>
          <a:bodyPr/>
          <a:lstStyle/>
          <a:p>
            <a:r>
              <a:rPr kumimoji="1" lang="zh-CN" altLang="en-US" dirty="0"/>
              <a:t>宏内核的优缺点分析</a:t>
            </a:r>
          </a:p>
        </p:txBody>
      </p:sp>
      <p:sp>
        <p:nvSpPr>
          <p:cNvPr id="3" name="内容占位符 2">
            <a:extLst>
              <a:ext uri="{FF2B5EF4-FFF2-40B4-BE49-F238E27FC236}">
                <a16:creationId xmlns:a16="http://schemas.microsoft.com/office/drawing/2014/main" id="{D515C0E6-3D91-7949-9D58-354D19740055}"/>
              </a:ext>
            </a:extLst>
          </p:cNvPr>
          <p:cNvSpPr>
            <a:spLocks noGrp="1"/>
          </p:cNvSpPr>
          <p:nvPr>
            <p:ph idx="1"/>
          </p:nvPr>
        </p:nvSpPr>
        <p:spPr/>
        <p:txBody>
          <a:bodyPr>
            <a:normAutofit/>
          </a:bodyPr>
          <a:lstStyle/>
          <a:p>
            <a:r>
              <a:rPr kumimoji="1" lang="zh-CN" altLang="en-US" sz="2400" dirty="0"/>
              <a:t>宏内核拥有丰富的沉淀和积累</a:t>
            </a:r>
            <a:endParaRPr kumimoji="1" lang="en-US" altLang="zh-CN" sz="2400" dirty="0"/>
          </a:p>
          <a:p>
            <a:pPr lvl="1"/>
            <a:r>
              <a:rPr kumimoji="1" lang="zh-CN" altLang="en-US" sz="2000" dirty="0"/>
              <a:t>拥有巨大的统一的社区和生态</a:t>
            </a:r>
            <a:endParaRPr kumimoji="1" lang="en-US" altLang="zh-CN" sz="2000" dirty="0"/>
          </a:p>
          <a:p>
            <a:pPr lvl="1"/>
            <a:r>
              <a:rPr kumimoji="1" lang="zh-CN" altLang="en-US" sz="2000" dirty="0"/>
              <a:t>针对不同场景优化了</a:t>
            </a:r>
            <a:r>
              <a:rPr kumimoji="1" lang="en-US" altLang="zh-CN" sz="2000" dirty="0"/>
              <a:t>30</a:t>
            </a:r>
            <a:r>
              <a:rPr kumimoji="1" lang="zh-CN" altLang="en-US" sz="2000" dirty="0"/>
              <a:t>年</a:t>
            </a:r>
            <a:endParaRPr kumimoji="1" lang="en-US" altLang="zh-CN" sz="2000" dirty="0"/>
          </a:p>
          <a:p>
            <a:r>
              <a:rPr kumimoji="1" lang="zh-CN" altLang="en-US" sz="2400" dirty="0"/>
              <a:t>宏内核的结构性缺陷</a:t>
            </a:r>
            <a:endParaRPr kumimoji="1" lang="en-US" altLang="zh-CN" sz="2400" dirty="0"/>
          </a:p>
          <a:p>
            <a:pPr lvl="1"/>
            <a:r>
              <a:rPr kumimoji="1" lang="zh-CN" altLang="en-US" sz="2000" dirty="0"/>
              <a:t>安全性与可靠性问题：模块之间没有很强的隔离机制</a:t>
            </a:r>
            <a:endParaRPr kumimoji="1" lang="en-US" altLang="zh-CN" sz="2000" dirty="0"/>
          </a:p>
          <a:p>
            <a:pPr lvl="1"/>
            <a:r>
              <a:rPr kumimoji="1" lang="zh-CN" altLang="en-US" sz="2000" dirty="0"/>
              <a:t>实时性支持：系统太复杂导致无法做最坏情况时延分析</a:t>
            </a:r>
            <a:endParaRPr kumimoji="1" lang="en-US" altLang="zh-CN" sz="2000" dirty="0"/>
          </a:p>
          <a:p>
            <a:pPr lvl="1"/>
            <a:r>
              <a:rPr kumimoji="1" lang="zh-CN" altLang="en-US" sz="2000" dirty="0"/>
              <a:t>系统过于庞大而阻碍了创新：</a:t>
            </a:r>
            <a:r>
              <a:rPr kumimoji="1" lang="en-US" altLang="zh-CN" sz="2000" dirty="0"/>
              <a:t>Linux</a:t>
            </a:r>
            <a:r>
              <a:rPr kumimoji="1" lang="zh-CN" altLang="en-US" sz="2000" dirty="0"/>
              <a:t>代码行数已经过</a:t>
            </a:r>
            <a:r>
              <a:rPr kumimoji="1" lang="en-US" altLang="zh-CN" sz="2000" dirty="0"/>
              <a:t>2</a:t>
            </a:r>
            <a:r>
              <a:rPr kumimoji="1" lang="zh-CN" altLang="en-US" sz="2000" dirty="0"/>
              <a:t>千万</a:t>
            </a:r>
          </a:p>
        </p:txBody>
      </p:sp>
      <p:sp>
        <p:nvSpPr>
          <p:cNvPr id="4" name="灯片编号占位符 3">
            <a:extLst>
              <a:ext uri="{FF2B5EF4-FFF2-40B4-BE49-F238E27FC236}">
                <a16:creationId xmlns:a16="http://schemas.microsoft.com/office/drawing/2014/main" id="{E55974DA-52FA-2740-B232-E074250FDA3C}"/>
              </a:ext>
            </a:extLst>
          </p:cNvPr>
          <p:cNvSpPr>
            <a:spLocks noGrp="1"/>
          </p:cNvSpPr>
          <p:nvPr>
            <p:ph type="sldNum" sz="quarter" idx="12"/>
          </p:nvPr>
        </p:nvSpPr>
        <p:spPr/>
        <p:txBody>
          <a:bodyPr/>
          <a:lstStyle/>
          <a:p>
            <a:fld id="{ADE361C3-C043-4A6E-BDCE-8DA1E7D90A3B}" type="slidenum">
              <a:rPr lang="zh-CN" altLang="en-US" smtClean="0"/>
              <a:t>17</a:t>
            </a:fld>
            <a:endParaRPr lang="zh-CN" altLang="en-US"/>
          </a:p>
        </p:txBody>
      </p:sp>
    </p:spTree>
    <p:extLst>
      <p:ext uri="{BB962C8B-B14F-4D97-AF65-F5344CB8AC3E}">
        <p14:creationId xmlns:p14="http://schemas.microsoft.com/office/powerpoint/2010/main" val="8872550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AA4BAE-49D4-9849-973D-39D170438E1B}"/>
              </a:ext>
            </a:extLst>
          </p:cNvPr>
          <p:cNvSpPr>
            <a:spLocks noGrp="1"/>
          </p:cNvSpPr>
          <p:nvPr>
            <p:ph type="title"/>
          </p:nvPr>
        </p:nvSpPr>
        <p:spPr/>
        <p:txBody>
          <a:bodyPr/>
          <a:lstStyle/>
          <a:p>
            <a:r>
              <a:rPr kumimoji="1" lang="zh-CN" altLang="en-US" dirty="0"/>
              <a:t>宏内核难以满足的场景</a:t>
            </a:r>
          </a:p>
        </p:txBody>
      </p:sp>
      <p:sp>
        <p:nvSpPr>
          <p:cNvPr id="3" name="内容占位符 2">
            <a:extLst>
              <a:ext uri="{FF2B5EF4-FFF2-40B4-BE49-F238E27FC236}">
                <a16:creationId xmlns:a16="http://schemas.microsoft.com/office/drawing/2014/main" id="{626AC304-5764-1E45-8B48-71D90EA69E0E}"/>
              </a:ext>
            </a:extLst>
          </p:cNvPr>
          <p:cNvSpPr>
            <a:spLocks noGrp="1"/>
          </p:cNvSpPr>
          <p:nvPr>
            <p:ph idx="1"/>
          </p:nvPr>
        </p:nvSpPr>
        <p:spPr/>
        <p:txBody>
          <a:bodyPr>
            <a:normAutofit fontScale="85000" lnSpcReduction="20000"/>
          </a:bodyPr>
          <a:lstStyle/>
          <a:p>
            <a:r>
              <a:rPr kumimoji="1" lang="zh-CN" altLang="en-US" sz="2200" dirty="0"/>
              <a:t>向上向下的扩展</a:t>
            </a:r>
            <a:endParaRPr kumimoji="1" lang="en-US" altLang="zh-CN" sz="2200" dirty="0"/>
          </a:p>
          <a:p>
            <a:pPr lvl="1"/>
            <a:r>
              <a:rPr kumimoji="1" lang="zh-CN" altLang="en-US" sz="2000" dirty="0"/>
              <a:t>很难去剪裁</a:t>
            </a:r>
            <a:r>
              <a:rPr kumimoji="1" lang="en-US" altLang="zh-CN" sz="2000" dirty="0"/>
              <a:t>/</a:t>
            </a:r>
            <a:r>
              <a:rPr kumimoji="1" lang="zh-CN" altLang="en-US" sz="2000" dirty="0"/>
              <a:t>扩展一个宏内核系统支持从</a:t>
            </a:r>
            <a:r>
              <a:rPr kumimoji="1" lang="en-US" altLang="zh-CN" sz="2000" dirty="0"/>
              <a:t>KB</a:t>
            </a:r>
            <a:r>
              <a:rPr kumimoji="1" lang="zh-CN" altLang="en-US" sz="2000" dirty="0"/>
              <a:t>级别到</a:t>
            </a:r>
            <a:r>
              <a:rPr kumimoji="1" lang="en-US" altLang="zh-CN" sz="2000" dirty="0"/>
              <a:t>TB</a:t>
            </a:r>
            <a:r>
              <a:rPr kumimoji="1" lang="zh-CN" altLang="en-US" sz="2000" dirty="0"/>
              <a:t>级别的场景</a:t>
            </a:r>
            <a:endParaRPr kumimoji="1" lang="en-US" altLang="zh-CN" sz="2000" dirty="0"/>
          </a:p>
          <a:p>
            <a:r>
              <a:rPr kumimoji="1" lang="zh-CN" altLang="en-US" sz="2200" dirty="0"/>
              <a:t>硬件异构性</a:t>
            </a:r>
            <a:endParaRPr kumimoji="1" lang="en-US" altLang="zh-CN" sz="2200" dirty="0"/>
          </a:p>
          <a:p>
            <a:pPr lvl="1"/>
            <a:r>
              <a:rPr kumimoji="1" lang="zh-CN" altLang="en-US" sz="2000" dirty="0"/>
              <a:t>很难长期支持一些定制化的方式去解决一些特定问题</a:t>
            </a:r>
            <a:endParaRPr kumimoji="1" lang="en-US" altLang="zh-CN" sz="2000" dirty="0"/>
          </a:p>
          <a:p>
            <a:r>
              <a:rPr kumimoji="1" lang="zh-CN" altLang="en-US" sz="2200" dirty="0"/>
              <a:t>功能安全</a:t>
            </a:r>
            <a:endParaRPr kumimoji="1" lang="en-US" altLang="zh-CN" sz="2200" dirty="0"/>
          </a:p>
          <a:p>
            <a:pPr lvl="1"/>
            <a:r>
              <a:rPr kumimoji="1" lang="zh-CN" altLang="en-US" sz="2000" dirty="0"/>
              <a:t>一个广泛共识：</a:t>
            </a:r>
            <a:r>
              <a:rPr kumimoji="1" lang="en-US" altLang="zh-CN" sz="2000" dirty="0"/>
              <a:t>Linux</a:t>
            </a:r>
            <a:r>
              <a:rPr kumimoji="1" lang="zh-CN" altLang="en-US" sz="2000" dirty="0"/>
              <a:t>无法通过汽车安全完整性认证（</a:t>
            </a:r>
            <a:r>
              <a:rPr kumimoji="1" lang="en-US" altLang="zh-CN" sz="2000" dirty="0"/>
              <a:t>ASIL-D</a:t>
            </a:r>
            <a:r>
              <a:rPr kumimoji="1" lang="zh-CN" altLang="en-US" sz="2000" dirty="0"/>
              <a:t>）</a:t>
            </a:r>
            <a:endParaRPr kumimoji="1" lang="en-US" altLang="zh-CN" sz="2000" dirty="0"/>
          </a:p>
          <a:p>
            <a:r>
              <a:rPr kumimoji="1" lang="zh-CN" altLang="en-US" sz="2200" dirty="0"/>
              <a:t>信息安全</a:t>
            </a:r>
            <a:endParaRPr kumimoji="1" lang="en-US" altLang="zh-CN" sz="2200" dirty="0"/>
          </a:p>
          <a:p>
            <a:pPr lvl="1"/>
            <a:r>
              <a:rPr kumimoji="1" lang="zh-CN" altLang="en-US" sz="2000" dirty="0"/>
              <a:t>单点错误会导致整个系统出错，而现在有数百个安全问题（</a:t>
            </a:r>
            <a:r>
              <a:rPr kumimoji="1" lang="en-US" altLang="zh-CN" sz="2000" dirty="0"/>
              <a:t>CVE</a:t>
            </a:r>
            <a:r>
              <a:rPr kumimoji="1" lang="zh-CN" altLang="en-US" sz="2000" dirty="0"/>
              <a:t>）</a:t>
            </a:r>
            <a:endParaRPr kumimoji="1" lang="en-US" altLang="zh-CN" sz="2000" dirty="0"/>
          </a:p>
          <a:p>
            <a:r>
              <a:rPr kumimoji="1" lang="zh-CN" altLang="en-US" sz="2200" dirty="0"/>
              <a:t>确定性时延</a:t>
            </a:r>
            <a:endParaRPr kumimoji="1" lang="en-US" altLang="zh-CN" sz="2200" dirty="0"/>
          </a:p>
          <a:p>
            <a:pPr lvl="1"/>
            <a:r>
              <a:rPr kumimoji="1" lang="en-US" altLang="zh-CN" sz="2000" dirty="0"/>
              <a:t>Linux</a:t>
            </a:r>
            <a:r>
              <a:rPr kumimoji="1" lang="zh-CN" altLang="en-US" sz="2000" dirty="0"/>
              <a:t>花费</a:t>
            </a:r>
            <a:r>
              <a:rPr kumimoji="1" lang="en-US" altLang="zh-CN" sz="2000" dirty="0"/>
              <a:t>10+</a:t>
            </a:r>
            <a:r>
              <a:rPr kumimoji="1" lang="zh-CN" altLang="en-US" sz="2000" dirty="0"/>
              <a:t>年合并实时补丁，目前依然不确定是否能支持确定性时延</a:t>
            </a:r>
          </a:p>
        </p:txBody>
      </p:sp>
      <p:sp>
        <p:nvSpPr>
          <p:cNvPr id="4" name="灯片编号占位符 3">
            <a:extLst>
              <a:ext uri="{FF2B5EF4-FFF2-40B4-BE49-F238E27FC236}">
                <a16:creationId xmlns:a16="http://schemas.microsoft.com/office/drawing/2014/main" id="{94A388F7-018B-5B40-B9DB-882F594E6231}"/>
              </a:ext>
            </a:extLst>
          </p:cNvPr>
          <p:cNvSpPr>
            <a:spLocks noGrp="1"/>
          </p:cNvSpPr>
          <p:nvPr>
            <p:ph type="sldNum" sz="quarter" idx="12"/>
          </p:nvPr>
        </p:nvSpPr>
        <p:spPr/>
        <p:txBody>
          <a:bodyPr/>
          <a:lstStyle/>
          <a:p>
            <a:fld id="{ADE361C3-C043-4A6E-BDCE-8DA1E7D90A3B}" type="slidenum">
              <a:rPr lang="zh-CN" altLang="en-US" smtClean="0"/>
              <a:t>18</a:t>
            </a:fld>
            <a:endParaRPr lang="zh-CN" altLang="en-US"/>
          </a:p>
        </p:txBody>
      </p:sp>
    </p:spTree>
    <p:extLst>
      <p:ext uri="{BB962C8B-B14F-4D97-AF65-F5344CB8AC3E}">
        <p14:creationId xmlns:p14="http://schemas.microsoft.com/office/powerpoint/2010/main" val="5430556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4C0A7DEF-A184-6A4D-9D47-A4F645DC0D25}"/>
              </a:ext>
            </a:extLst>
          </p:cNvPr>
          <p:cNvSpPr>
            <a:spLocks noGrp="1"/>
          </p:cNvSpPr>
          <p:nvPr>
            <p:ph type="title"/>
          </p:nvPr>
        </p:nvSpPr>
        <p:spPr/>
        <p:txBody>
          <a:bodyPr/>
          <a:lstStyle/>
          <a:p>
            <a:r>
              <a:rPr kumimoji="1" lang="zh-CN" altLang="en-US" dirty="0"/>
              <a:t>微内核（</a:t>
            </a:r>
            <a:r>
              <a:rPr kumimoji="1" lang="en-US" altLang="zh-CN" dirty="0"/>
              <a:t>Micro-Kernel</a:t>
            </a:r>
            <a:r>
              <a:rPr kumimoji="1" lang="zh-CN" altLang="en-US" dirty="0"/>
              <a:t>）</a:t>
            </a:r>
          </a:p>
        </p:txBody>
      </p:sp>
      <p:sp>
        <p:nvSpPr>
          <p:cNvPr id="6" name="文本占位符 5">
            <a:extLst>
              <a:ext uri="{FF2B5EF4-FFF2-40B4-BE49-F238E27FC236}">
                <a16:creationId xmlns:a16="http://schemas.microsoft.com/office/drawing/2014/main" id="{0D84F601-F979-0D46-8748-B59E09268F5F}"/>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4948FC59-BED5-9A4C-A1B5-00F0F03507F1}"/>
              </a:ext>
            </a:extLst>
          </p:cNvPr>
          <p:cNvSpPr>
            <a:spLocks noGrp="1"/>
          </p:cNvSpPr>
          <p:nvPr>
            <p:ph type="sldNum" sz="quarter" idx="12"/>
          </p:nvPr>
        </p:nvSpPr>
        <p:spPr/>
        <p:txBody>
          <a:bodyPr/>
          <a:lstStyle/>
          <a:p>
            <a:fld id="{ADE361C3-C043-4A6E-BDCE-8DA1E7D90A3B}" type="slidenum">
              <a:rPr lang="zh-CN" altLang="en-US" smtClean="0"/>
              <a:t>19</a:t>
            </a:fld>
            <a:endParaRPr lang="zh-CN" altLang="en-US"/>
          </a:p>
        </p:txBody>
      </p:sp>
    </p:spTree>
    <p:extLst>
      <p:ext uri="{BB962C8B-B14F-4D97-AF65-F5344CB8AC3E}">
        <p14:creationId xmlns:p14="http://schemas.microsoft.com/office/powerpoint/2010/main" val="15693616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C7D507-088D-074C-8092-C8A15312C5FD}"/>
              </a:ext>
            </a:extLst>
          </p:cNvPr>
          <p:cNvSpPr>
            <a:spLocks noGrp="1"/>
          </p:cNvSpPr>
          <p:nvPr>
            <p:ph type="title"/>
          </p:nvPr>
        </p:nvSpPr>
        <p:spPr/>
        <p:txBody>
          <a:bodyPr/>
          <a:lstStyle/>
          <a:p>
            <a:r>
              <a:rPr kumimoji="1" lang="zh-CN" altLang="en-US" dirty="0"/>
              <a:t>微内核架构</a:t>
            </a:r>
          </a:p>
        </p:txBody>
      </p:sp>
      <p:sp>
        <p:nvSpPr>
          <p:cNvPr id="3" name="内容占位符 2">
            <a:extLst>
              <a:ext uri="{FF2B5EF4-FFF2-40B4-BE49-F238E27FC236}">
                <a16:creationId xmlns:a16="http://schemas.microsoft.com/office/drawing/2014/main" id="{927F5600-7BCF-5C46-9762-CE435E8E2650}"/>
              </a:ext>
            </a:extLst>
          </p:cNvPr>
          <p:cNvSpPr>
            <a:spLocks noGrp="1"/>
          </p:cNvSpPr>
          <p:nvPr>
            <p:ph idx="1"/>
          </p:nvPr>
        </p:nvSpPr>
        <p:spPr/>
        <p:txBody>
          <a:bodyPr>
            <a:normAutofit/>
          </a:bodyPr>
          <a:lstStyle/>
          <a:p>
            <a:r>
              <a:rPr kumimoji="1" lang="zh-CN" altLang="en-US" sz="2400" dirty="0"/>
              <a:t>设计原则：最小化内核功能</a:t>
            </a:r>
            <a:endParaRPr kumimoji="1" lang="en-US" altLang="zh-CN" sz="2400" dirty="0"/>
          </a:p>
          <a:p>
            <a:pPr lvl="1"/>
            <a:r>
              <a:rPr kumimoji="1" lang="zh-CN" altLang="en-US" sz="2000" dirty="0"/>
              <a:t>将操作系统功能移到用户态，称为</a:t>
            </a:r>
            <a:r>
              <a:rPr kumimoji="1" lang="en-US" altLang="zh-CN" sz="2000" dirty="0"/>
              <a:t>"</a:t>
            </a:r>
            <a:r>
              <a:rPr kumimoji="1" lang="zh-CN" altLang="en-US" sz="2000" dirty="0"/>
              <a:t>服务</a:t>
            </a:r>
            <a:r>
              <a:rPr kumimoji="1" lang="en-US" altLang="zh-CN" sz="2000" dirty="0"/>
              <a:t>"</a:t>
            </a:r>
            <a:r>
              <a:rPr kumimoji="1" lang="zh-CN" altLang="en-US" sz="2000" dirty="0"/>
              <a:t>（</a:t>
            </a:r>
            <a:r>
              <a:rPr kumimoji="1" lang="en-US" altLang="zh-CN" sz="2000" dirty="0"/>
              <a:t>Server</a:t>
            </a:r>
            <a:r>
              <a:rPr kumimoji="1" lang="zh-CN" altLang="en-US" sz="2000" dirty="0"/>
              <a:t>）</a:t>
            </a:r>
            <a:endParaRPr kumimoji="1" lang="en-US" altLang="zh-CN" sz="2000" dirty="0"/>
          </a:p>
          <a:p>
            <a:pPr lvl="1"/>
            <a:r>
              <a:rPr kumimoji="1" lang="zh-CN" altLang="en-US" sz="2000" dirty="0"/>
              <a:t>在用户模块之间，使用消息传递机制通信</a:t>
            </a:r>
            <a:endParaRPr kumimoji="1" lang="en-US" altLang="zh-CN" sz="2000" dirty="0"/>
          </a:p>
        </p:txBody>
      </p:sp>
      <p:sp>
        <p:nvSpPr>
          <p:cNvPr id="4" name="灯片编号占位符 3">
            <a:extLst>
              <a:ext uri="{FF2B5EF4-FFF2-40B4-BE49-F238E27FC236}">
                <a16:creationId xmlns:a16="http://schemas.microsoft.com/office/drawing/2014/main" id="{796B2BE5-BD51-A04C-BD1B-AD727AE40D98}"/>
              </a:ext>
            </a:extLst>
          </p:cNvPr>
          <p:cNvSpPr>
            <a:spLocks noGrp="1"/>
          </p:cNvSpPr>
          <p:nvPr>
            <p:ph type="sldNum" sz="quarter" idx="12"/>
          </p:nvPr>
        </p:nvSpPr>
        <p:spPr/>
        <p:txBody>
          <a:bodyPr/>
          <a:lstStyle/>
          <a:p>
            <a:fld id="{ADE361C3-C043-4A6E-BDCE-8DA1E7D90A3B}" type="slidenum">
              <a:rPr lang="zh-CN" altLang="en-US" smtClean="0"/>
              <a:t>20</a:t>
            </a:fld>
            <a:endParaRPr lang="zh-CN" altLang="en-US"/>
          </a:p>
        </p:txBody>
      </p:sp>
      <p:grpSp>
        <p:nvGrpSpPr>
          <p:cNvPr id="7" name="组合 6">
            <a:extLst>
              <a:ext uri="{FF2B5EF4-FFF2-40B4-BE49-F238E27FC236}">
                <a16:creationId xmlns:a16="http://schemas.microsoft.com/office/drawing/2014/main" id="{8741507C-3392-4D48-9EBF-DA84998D1DD9}"/>
              </a:ext>
            </a:extLst>
          </p:cNvPr>
          <p:cNvGrpSpPr/>
          <p:nvPr/>
        </p:nvGrpSpPr>
        <p:grpSpPr>
          <a:xfrm>
            <a:off x="2771800" y="2859317"/>
            <a:ext cx="2952328" cy="2638454"/>
            <a:chOff x="2699792" y="2958104"/>
            <a:chExt cx="2952328" cy="2638454"/>
          </a:xfrm>
        </p:grpSpPr>
        <p:pic>
          <p:nvPicPr>
            <p:cNvPr id="5" name="图片 4">
              <a:extLst>
                <a:ext uri="{FF2B5EF4-FFF2-40B4-BE49-F238E27FC236}">
                  <a16:creationId xmlns:a16="http://schemas.microsoft.com/office/drawing/2014/main" id="{8E8F8275-5185-904C-BDC6-CF860B54B7A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699792" y="2958104"/>
              <a:ext cx="2808312" cy="2638454"/>
            </a:xfrm>
            <a:prstGeom prst="rect">
              <a:avLst/>
            </a:prstGeom>
          </p:spPr>
        </p:pic>
        <p:sp>
          <p:nvSpPr>
            <p:cNvPr id="6" name="矩形 5">
              <a:extLst>
                <a:ext uri="{FF2B5EF4-FFF2-40B4-BE49-F238E27FC236}">
                  <a16:creationId xmlns:a16="http://schemas.microsoft.com/office/drawing/2014/main" id="{5218210D-92EF-F747-AF05-CD94780B997F}"/>
                </a:ext>
              </a:extLst>
            </p:cNvPr>
            <p:cNvSpPr/>
            <p:nvPr/>
          </p:nvSpPr>
          <p:spPr>
            <a:xfrm>
              <a:off x="5364088" y="4729708"/>
              <a:ext cx="288032" cy="216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Tree>
    <p:extLst>
      <p:ext uri="{BB962C8B-B14F-4D97-AF65-F5344CB8AC3E}">
        <p14:creationId xmlns:p14="http://schemas.microsoft.com/office/powerpoint/2010/main" val="37960065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282CE3-40B1-CF4A-9E18-64DB4729CF9C}"/>
              </a:ext>
            </a:extLst>
          </p:cNvPr>
          <p:cNvSpPr>
            <a:spLocks noGrp="1"/>
          </p:cNvSpPr>
          <p:nvPr>
            <p:ph type="title"/>
          </p:nvPr>
        </p:nvSpPr>
        <p:spPr/>
        <p:txBody>
          <a:bodyPr/>
          <a:lstStyle/>
          <a:p>
            <a:r>
              <a:rPr kumimoji="1" lang="zh-CN" altLang="en-US" dirty="0"/>
              <a:t>例：文件的创建</a:t>
            </a:r>
          </a:p>
        </p:txBody>
      </p:sp>
      <p:sp>
        <p:nvSpPr>
          <p:cNvPr id="4" name="灯片编号占位符 3">
            <a:extLst>
              <a:ext uri="{FF2B5EF4-FFF2-40B4-BE49-F238E27FC236}">
                <a16:creationId xmlns:a16="http://schemas.microsoft.com/office/drawing/2014/main" id="{A6280FFC-DC1F-8042-93C5-C3B7AE51B0AC}"/>
              </a:ext>
            </a:extLst>
          </p:cNvPr>
          <p:cNvSpPr>
            <a:spLocks noGrp="1"/>
          </p:cNvSpPr>
          <p:nvPr>
            <p:ph type="sldNum" sz="quarter" idx="12"/>
          </p:nvPr>
        </p:nvSpPr>
        <p:spPr/>
        <p:txBody>
          <a:bodyPr/>
          <a:lstStyle/>
          <a:p>
            <a:fld id="{ADE361C3-C043-4A6E-BDCE-8DA1E7D90A3B}" type="slidenum">
              <a:rPr lang="zh-CN" altLang="en-US" smtClean="0"/>
              <a:t>21</a:t>
            </a:fld>
            <a:endParaRPr lang="zh-CN" altLang="en-US"/>
          </a:p>
        </p:txBody>
      </p:sp>
      <p:sp>
        <p:nvSpPr>
          <p:cNvPr id="39" name="矩形 38">
            <a:extLst>
              <a:ext uri="{FF2B5EF4-FFF2-40B4-BE49-F238E27FC236}">
                <a16:creationId xmlns:a16="http://schemas.microsoft.com/office/drawing/2014/main" id="{29E1E810-295D-7A4B-9EC3-1187E57D4858}"/>
              </a:ext>
            </a:extLst>
          </p:cNvPr>
          <p:cNvSpPr/>
          <p:nvPr/>
        </p:nvSpPr>
        <p:spPr>
          <a:xfrm>
            <a:off x="1472529" y="1488668"/>
            <a:ext cx="1584176" cy="504056"/>
          </a:xfrm>
          <a:prstGeom prst="rect">
            <a:avLst/>
          </a:prstGeom>
          <a:solidFill>
            <a:srgbClr val="C8FFC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Application</a:t>
            </a:r>
            <a:endParaRPr kumimoji="1" lang="zh-CN" altLang="en-US" dirty="0">
              <a:solidFill>
                <a:schemeClr val="tx1"/>
              </a:solidFill>
            </a:endParaRPr>
          </a:p>
        </p:txBody>
      </p:sp>
      <p:sp>
        <p:nvSpPr>
          <p:cNvPr id="40" name="矩形 39">
            <a:extLst>
              <a:ext uri="{FF2B5EF4-FFF2-40B4-BE49-F238E27FC236}">
                <a16:creationId xmlns:a16="http://schemas.microsoft.com/office/drawing/2014/main" id="{F2B6117B-098E-674F-B2FA-2C9573E4B1FF}"/>
              </a:ext>
            </a:extLst>
          </p:cNvPr>
          <p:cNvSpPr/>
          <p:nvPr/>
        </p:nvSpPr>
        <p:spPr>
          <a:xfrm>
            <a:off x="1472529" y="2268656"/>
            <a:ext cx="1584176" cy="2364164"/>
          </a:xfrm>
          <a:prstGeom prst="rect">
            <a:avLst/>
          </a:prstGeom>
          <a:solidFill>
            <a:srgbClr val="FFB8B9"/>
          </a:solidFill>
        </p:spPr>
        <p:style>
          <a:lnRef idx="1">
            <a:schemeClr val="accent1"/>
          </a:lnRef>
          <a:fillRef idx="2">
            <a:schemeClr val="accent1"/>
          </a:fillRef>
          <a:effectRef idx="1">
            <a:schemeClr val="accent1"/>
          </a:effectRef>
          <a:fontRef idx="minor">
            <a:schemeClr val="dk1"/>
          </a:fontRef>
        </p:style>
        <p:txBody>
          <a:bodyPr rtlCol="0" anchor="ctr"/>
          <a:lstStyle/>
          <a:p>
            <a:pPr algn="ctr"/>
            <a:endParaRPr kumimoji="1" lang="zh-CN" altLang="en-US" dirty="0"/>
          </a:p>
        </p:txBody>
      </p:sp>
      <p:sp>
        <p:nvSpPr>
          <p:cNvPr id="41" name="矩形 40">
            <a:extLst>
              <a:ext uri="{FF2B5EF4-FFF2-40B4-BE49-F238E27FC236}">
                <a16:creationId xmlns:a16="http://schemas.microsoft.com/office/drawing/2014/main" id="{34046787-DBC7-CC4E-ADEB-56ECFAC11178}"/>
              </a:ext>
            </a:extLst>
          </p:cNvPr>
          <p:cNvSpPr/>
          <p:nvPr/>
        </p:nvSpPr>
        <p:spPr>
          <a:xfrm>
            <a:off x="1616545" y="2535596"/>
            <a:ext cx="1296144" cy="61647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File</a:t>
            </a:r>
          </a:p>
          <a:p>
            <a:pPr algn="ctr"/>
            <a:r>
              <a:rPr kumimoji="1" lang="en-US" altLang="zh-CN" dirty="0"/>
              <a:t>System</a:t>
            </a:r>
            <a:endParaRPr kumimoji="1" lang="zh-CN" altLang="en-US" dirty="0"/>
          </a:p>
        </p:txBody>
      </p:sp>
      <p:sp>
        <p:nvSpPr>
          <p:cNvPr id="42" name="矩形 41">
            <a:extLst>
              <a:ext uri="{FF2B5EF4-FFF2-40B4-BE49-F238E27FC236}">
                <a16:creationId xmlns:a16="http://schemas.microsoft.com/office/drawing/2014/main" id="{F957F5C1-7C82-C345-BFC2-39183D33E760}"/>
              </a:ext>
            </a:extLst>
          </p:cNvPr>
          <p:cNvSpPr/>
          <p:nvPr/>
        </p:nvSpPr>
        <p:spPr>
          <a:xfrm>
            <a:off x="1616545" y="3727214"/>
            <a:ext cx="1296145" cy="64807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Disk</a:t>
            </a:r>
          </a:p>
          <a:p>
            <a:pPr algn="ctr"/>
            <a:r>
              <a:rPr kumimoji="1" lang="en-US" altLang="zh-CN" dirty="0"/>
              <a:t>Driver</a:t>
            </a:r>
          </a:p>
        </p:txBody>
      </p:sp>
      <p:sp>
        <p:nvSpPr>
          <p:cNvPr id="43" name="矩形 42">
            <a:extLst>
              <a:ext uri="{FF2B5EF4-FFF2-40B4-BE49-F238E27FC236}">
                <a16:creationId xmlns:a16="http://schemas.microsoft.com/office/drawing/2014/main" id="{87BB0D24-C410-284A-98AF-B33F2D6B8082}"/>
              </a:ext>
            </a:extLst>
          </p:cNvPr>
          <p:cNvSpPr/>
          <p:nvPr/>
        </p:nvSpPr>
        <p:spPr>
          <a:xfrm>
            <a:off x="1472529" y="4851328"/>
            <a:ext cx="1584176" cy="48015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kumimoji="1" lang="en-US" altLang="zh-CN" sz="2000" dirty="0">
                <a:solidFill>
                  <a:schemeClr val="tx1"/>
                </a:solidFill>
              </a:rPr>
              <a:t>Disk</a:t>
            </a:r>
            <a:endParaRPr kumimoji="1" lang="zh-CN" altLang="en-US" sz="2000" dirty="0">
              <a:solidFill>
                <a:schemeClr val="tx1"/>
              </a:solidFill>
            </a:endParaRPr>
          </a:p>
        </p:txBody>
      </p:sp>
      <p:cxnSp>
        <p:nvCxnSpPr>
          <p:cNvPr id="44" name="直线箭头连接符 43">
            <a:extLst>
              <a:ext uri="{FF2B5EF4-FFF2-40B4-BE49-F238E27FC236}">
                <a16:creationId xmlns:a16="http://schemas.microsoft.com/office/drawing/2014/main" id="{A24DABBC-CCCC-BF48-9FA3-1C9AA3FE24BF}"/>
              </a:ext>
            </a:extLst>
          </p:cNvPr>
          <p:cNvCxnSpPr>
            <a:cxnSpLocks/>
          </p:cNvCxnSpPr>
          <p:nvPr/>
        </p:nvCxnSpPr>
        <p:spPr>
          <a:xfrm>
            <a:off x="2048593" y="1992724"/>
            <a:ext cx="0" cy="542872"/>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45" name="直线箭头连接符 44">
            <a:extLst>
              <a:ext uri="{FF2B5EF4-FFF2-40B4-BE49-F238E27FC236}">
                <a16:creationId xmlns:a16="http://schemas.microsoft.com/office/drawing/2014/main" id="{5568BEDB-331B-3241-A131-9F18198F0BAA}"/>
              </a:ext>
            </a:extLst>
          </p:cNvPr>
          <p:cNvCxnSpPr>
            <a:cxnSpLocks/>
          </p:cNvCxnSpPr>
          <p:nvPr/>
        </p:nvCxnSpPr>
        <p:spPr>
          <a:xfrm>
            <a:off x="2048593" y="3152070"/>
            <a:ext cx="1" cy="575144"/>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46" name="直线箭头连接符 45">
            <a:extLst>
              <a:ext uri="{FF2B5EF4-FFF2-40B4-BE49-F238E27FC236}">
                <a16:creationId xmlns:a16="http://schemas.microsoft.com/office/drawing/2014/main" id="{2A5B2563-D87A-8248-BF9A-8DE36360FF7D}"/>
              </a:ext>
            </a:extLst>
          </p:cNvPr>
          <p:cNvCxnSpPr>
            <a:cxnSpLocks/>
          </p:cNvCxnSpPr>
          <p:nvPr/>
        </p:nvCxnSpPr>
        <p:spPr>
          <a:xfrm>
            <a:off x="2048593" y="4381712"/>
            <a:ext cx="5270" cy="46961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47" name="直线箭头连接符 46">
            <a:extLst>
              <a:ext uri="{FF2B5EF4-FFF2-40B4-BE49-F238E27FC236}">
                <a16:creationId xmlns:a16="http://schemas.microsoft.com/office/drawing/2014/main" id="{F4E5F55F-3D6C-6742-8CF4-726E34D0C2B9}"/>
              </a:ext>
            </a:extLst>
          </p:cNvPr>
          <p:cNvCxnSpPr>
            <a:cxnSpLocks/>
          </p:cNvCxnSpPr>
          <p:nvPr/>
        </p:nvCxnSpPr>
        <p:spPr>
          <a:xfrm>
            <a:off x="2408633" y="1988228"/>
            <a:ext cx="0" cy="542872"/>
          </a:xfrm>
          <a:prstGeom prst="straightConnector1">
            <a:avLst/>
          </a:prstGeom>
          <a:ln w="38100">
            <a:solidFill>
              <a:schemeClr val="tx1">
                <a:lumMod val="50000"/>
                <a:lumOff val="50000"/>
              </a:schemeClr>
            </a:solidFill>
            <a:headEnd type="triangle" w="med" len="med"/>
            <a:tailEnd type="none" w="med" len="med"/>
          </a:ln>
        </p:spPr>
        <p:style>
          <a:lnRef idx="1">
            <a:schemeClr val="dk1"/>
          </a:lnRef>
          <a:fillRef idx="0">
            <a:schemeClr val="dk1"/>
          </a:fillRef>
          <a:effectRef idx="0">
            <a:schemeClr val="dk1"/>
          </a:effectRef>
          <a:fontRef idx="minor">
            <a:schemeClr val="tx1"/>
          </a:fontRef>
        </p:style>
      </p:cxnSp>
      <p:cxnSp>
        <p:nvCxnSpPr>
          <p:cNvPr id="48" name="直线箭头连接符 47">
            <a:extLst>
              <a:ext uri="{FF2B5EF4-FFF2-40B4-BE49-F238E27FC236}">
                <a16:creationId xmlns:a16="http://schemas.microsoft.com/office/drawing/2014/main" id="{3ADEFCFE-E126-4F41-B7BC-C95EF4E184C3}"/>
              </a:ext>
            </a:extLst>
          </p:cNvPr>
          <p:cNvCxnSpPr>
            <a:cxnSpLocks/>
          </p:cNvCxnSpPr>
          <p:nvPr/>
        </p:nvCxnSpPr>
        <p:spPr>
          <a:xfrm>
            <a:off x="2408633" y="3147574"/>
            <a:ext cx="1" cy="575144"/>
          </a:xfrm>
          <a:prstGeom prst="straightConnector1">
            <a:avLst/>
          </a:prstGeom>
          <a:ln w="38100">
            <a:solidFill>
              <a:schemeClr val="tx1">
                <a:lumMod val="50000"/>
                <a:lumOff val="50000"/>
              </a:schemeClr>
            </a:solidFill>
            <a:headEnd type="triangle" w="med" len="med"/>
            <a:tailEnd type="none" w="med" len="med"/>
          </a:ln>
        </p:spPr>
        <p:style>
          <a:lnRef idx="1">
            <a:schemeClr val="dk1"/>
          </a:lnRef>
          <a:fillRef idx="0">
            <a:schemeClr val="dk1"/>
          </a:fillRef>
          <a:effectRef idx="0">
            <a:schemeClr val="dk1"/>
          </a:effectRef>
          <a:fontRef idx="minor">
            <a:schemeClr val="tx1"/>
          </a:fontRef>
        </p:style>
      </p:cxnSp>
      <p:cxnSp>
        <p:nvCxnSpPr>
          <p:cNvPr id="49" name="直线箭头连接符 48">
            <a:extLst>
              <a:ext uri="{FF2B5EF4-FFF2-40B4-BE49-F238E27FC236}">
                <a16:creationId xmlns:a16="http://schemas.microsoft.com/office/drawing/2014/main" id="{5C8CC02C-F6E9-D14D-8BEF-0C478032D848}"/>
              </a:ext>
            </a:extLst>
          </p:cNvPr>
          <p:cNvCxnSpPr>
            <a:cxnSpLocks/>
          </p:cNvCxnSpPr>
          <p:nvPr/>
        </p:nvCxnSpPr>
        <p:spPr>
          <a:xfrm>
            <a:off x="2408633" y="4377216"/>
            <a:ext cx="5270" cy="469616"/>
          </a:xfrm>
          <a:prstGeom prst="straightConnector1">
            <a:avLst/>
          </a:prstGeom>
          <a:ln w="38100">
            <a:solidFill>
              <a:schemeClr val="tx1">
                <a:lumMod val="50000"/>
                <a:lumOff val="50000"/>
              </a:schemeClr>
            </a:solidFill>
            <a:headEnd type="triangle" w="med" len="med"/>
            <a:tailEnd type="none" w="med" len="med"/>
          </a:ln>
        </p:spPr>
        <p:style>
          <a:lnRef idx="1">
            <a:schemeClr val="dk1"/>
          </a:lnRef>
          <a:fillRef idx="0">
            <a:schemeClr val="dk1"/>
          </a:fillRef>
          <a:effectRef idx="0">
            <a:schemeClr val="dk1"/>
          </a:effectRef>
          <a:fontRef idx="minor">
            <a:schemeClr val="tx1"/>
          </a:fontRef>
        </p:style>
      </p:cxnSp>
      <p:sp>
        <p:nvSpPr>
          <p:cNvPr id="50" name="矩形 49">
            <a:extLst>
              <a:ext uri="{FF2B5EF4-FFF2-40B4-BE49-F238E27FC236}">
                <a16:creationId xmlns:a16="http://schemas.microsoft.com/office/drawing/2014/main" id="{BBAF6665-62D2-674C-A32D-4BA43042AF47}"/>
              </a:ext>
            </a:extLst>
          </p:cNvPr>
          <p:cNvSpPr/>
          <p:nvPr/>
        </p:nvSpPr>
        <p:spPr>
          <a:xfrm>
            <a:off x="4013239" y="2195999"/>
            <a:ext cx="921928" cy="616474"/>
          </a:xfrm>
          <a:prstGeom prst="rect">
            <a:avLst/>
          </a:prstGeom>
          <a:solidFill>
            <a:srgbClr val="C8FFC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App</a:t>
            </a:r>
            <a:endParaRPr kumimoji="1" lang="zh-CN" altLang="en-US" dirty="0">
              <a:solidFill>
                <a:schemeClr val="tx1"/>
              </a:solidFill>
            </a:endParaRPr>
          </a:p>
        </p:txBody>
      </p:sp>
      <p:sp>
        <p:nvSpPr>
          <p:cNvPr id="51" name="矩形 50">
            <a:extLst>
              <a:ext uri="{FF2B5EF4-FFF2-40B4-BE49-F238E27FC236}">
                <a16:creationId xmlns:a16="http://schemas.microsoft.com/office/drawing/2014/main" id="{1B9E5CDB-B7FC-7E4F-B50E-3C5CCB2E118F}"/>
              </a:ext>
            </a:extLst>
          </p:cNvPr>
          <p:cNvSpPr/>
          <p:nvPr/>
        </p:nvSpPr>
        <p:spPr>
          <a:xfrm>
            <a:off x="5295207" y="2200494"/>
            <a:ext cx="1296144" cy="61647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File</a:t>
            </a:r>
          </a:p>
          <a:p>
            <a:pPr algn="ctr"/>
            <a:r>
              <a:rPr kumimoji="1" lang="en-US" altLang="zh-CN" dirty="0"/>
              <a:t>System</a:t>
            </a:r>
            <a:endParaRPr kumimoji="1" lang="zh-CN" altLang="en-US" dirty="0"/>
          </a:p>
        </p:txBody>
      </p:sp>
      <p:sp>
        <p:nvSpPr>
          <p:cNvPr id="52" name="矩形 51">
            <a:extLst>
              <a:ext uri="{FF2B5EF4-FFF2-40B4-BE49-F238E27FC236}">
                <a16:creationId xmlns:a16="http://schemas.microsoft.com/office/drawing/2014/main" id="{5F86258E-CE92-434A-8205-22B5778AA7D4}"/>
              </a:ext>
            </a:extLst>
          </p:cNvPr>
          <p:cNvSpPr/>
          <p:nvPr/>
        </p:nvSpPr>
        <p:spPr>
          <a:xfrm>
            <a:off x="6879383" y="2200494"/>
            <a:ext cx="1296145" cy="61647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Disk</a:t>
            </a:r>
          </a:p>
          <a:p>
            <a:pPr algn="ctr"/>
            <a:r>
              <a:rPr kumimoji="1" lang="en-US" altLang="zh-CN" dirty="0"/>
              <a:t>Driver</a:t>
            </a:r>
          </a:p>
        </p:txBody>
      </p:sp>
      <p:sp>
        <p:nvSpPr>
          <p:cNvPr id="53" name="矩形 52">
            <a:extLst>
              <a:ext uri="{FF2B5EF4-FFF2-40B4-BE49-F238E27FC236}">
                <a16:creationId xmlns:a16="http://schemas.microsoft.com/office/drawing/2014/main" id="{C6D7DFDF-0E37-B347-91F5-F2963C59CB32}"/>
              </a:ext>
            </a:extLst>
          </p:cNvPr>
          <p:cNvSpPr/>
          <p:nvPr/>
        </p:nvSpPr>
        <p:spPr>
          <a:xfrm>
            <a:off x="4013239" y="3371961"/>
            <a:ext cx="4162290" cy="561670"/>
          </a:xfrm>
          <a:prstGeom prst="rect">
            <a:avLst/>
          </a:prstGeom>
          <a:solidFill>
            <a:srgbClr val="FFB8B9"/>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kumimoji="1" lang="en-US" altLang="zh-CN" dirty="0"/>
              <a:t>Microkernel</a:t>
            </a:r>
            <a:endParaRPr kumimoji="1" lang="zh-CN" altLang="en-US" dirty="0"/>
          </a:p>
        </p:txBody>
      </p:sp>
      <p:sp>
        <p:nvSpPr>
          <p:cNvPr id="54" name="矩形 53">
            <a:extLst>
              <a:ext uri="{FF2B5EF4-FFF2-40B4-BE49-F238E27FC236}">
                <a16:creationId xmlns:a16="http://schemas.microsoft.com/office/drawing/2014/main" id="{EE65171D-CB4A-AF4D-BD69-A1370F1FF832}"/>
              </a:ext>
            </a:extLst>
          </p:cNvPr>
          <p:cNvSpPr/>
          <p:nvPr/>
        </p:nvSpPr>
        <p:spPr>
          <a:xfrm>
            <a:off x="6735367" y="4392744"/>
            <a:ext cx="1584176" cy="48015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kumimoji="1" lang="en-US" altLang="zh-CN" sz="2000" dirty="0">
                <a:solidFill>
                  <a:schemeClr val="tx1"/>
                </a:solidFill>
              </a:rPr>
              <a:t>Disk</a:t>
            </a:r>
            <a:endParaRPr kumimoji="1" lang="zh-CN" altLang="en-US" sz="2000" dirty="0">
              <a:solidFill>
                <a:schemeClr val="tx1"/>
              </a:solidFill>
            </a:endParaRPr>
          </a:p>
        </p:txBody>
      </p:sp>
      <p:grpSp>
        <p:nvGrpSpPr>
          <p:cNvPr id="55" name="组合 54">
            <a:extLst>
              <a:ext uri="{FF2B5EF4-FFF2-40B4-BE49-F238E27FC236}">
                <a16:creationId xmlns:a16="http://schemas.microsoft.com/office/drawing/2014/main" id="{DE81520B-8218-724F-895B-5988C242F361}"/>
              </a:ext>
            </a:extLst>
          </p:cNvPr>
          <p:cNvGrpSpPr/>
          <p:nvPr/>
        </p:nvGrpSpPr>
        <p:grpSpPr>
          <a:xfrm>
            <a:off x="4301271" y="2771176"/>
            <a:ext cx="1368152" cy="738268"/>
            <a:chOff x="5004048" y="2479272"/>
            <a:chExt cx="1368152" cy="738268"/>
          </a:xfrm>
        </p:grpSpPr>
        <p:cxnSp>
          <p:nvCxnSpPr>
            <p:cNvPr id="56" name="直线箭头连接符 55">
              <a:extLst>
                <a:ext uri="{FF2B5EF4-FFF2-40B4-BE49-F238E27FC236}">
                  <a16:creationId xmlns:a16="http://schemas.microsoft.com/office/drawing/2014/main" id="{F9818356-7B28-F448-B73A-D14ED3AD2C2A}"/>
                </a:ext>
              </a:extLst>
            </p:cNvPr>
            <p:cNvCxnSpPr>
              <a:cxnSpLocks/>
            </p:cNvCxnSpPr>
            <p:nvPr/>
          </p:nvCxnSpPr>
          <p:spPr>
            <a:xfrm>
              <a:off x="5004048" y="2479272"/>
              <a:ext cx="0" cy="738268"/>
            </a:xfrm>
            <a:prstGeom prst="straightConnector1">
              <a:avLst/>
            </a:prstGeom>
            <a:ln w="38100">
              <a:solidFill>
                <a:srgbClr val="0070C0"/>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7" name="直线箭头连接符 56">
              <a:extLst>
                <a:ext uri="{FF2B5EF4-FFF2-40B4-BE49-F238E27FC236}">
                  <a16:creationId xmlns:a16="http://schemas.microsoft.com/office/drawing/2014/main" id="{F49551F5-AD7A-6541-A85A-6DC3110E12F5}"/>
                </a:ext>
              </a:extLst>
            </p:cNvPr>
            <p:cNvCxnSpPr>
              <a:cxnSpLocks/>
            </p:cNvCxnSpPr>
            <p:nvPr/>
          </p:nvCxnSpPr>
          <p:spPr>
            <a:xfrm>
              <a:off x="6372200" y="2520569"/>
              <a:ext cx="0" cy="696971"/>
            </a:xfrm>
            <a:prstGeom prst="straightConnector1">
              <a:avLst/>
            </a:prstGeom>
            <a:ln w="38100">
              <a:solidFill>
                <a:srgbClr val="0070C0"/>
              </a:solidFill>
              <a:headEnd type="triangle" w="med" len="med"/>
              <a:tailEnd type="none" w="med" len="med"/>
            </a:ln>
          </p:spPr>
          <p:style>
            <a:lnRef idx="1">
              <a:schemeClr val="dk1"/>
            </a:lnRef>
            <a:fillRef idx="0">
              <a:schemeClr val="dk1"/>
            </a:fillRef>
            <a:effectRef idx="0">
              <a:schemeClr val="dk1"/>
            </a:effectRef>
            <a:fontRef idx="minor">
              <a:schemeClr val="tx1"/>
            </a:fontRef>
          </p:style>
        </p:cxnSp>
        <p:cxnSp>
          <p:nvCxnSpPr>
            <p:cNvPr id="58" name="直线连接符 57">
              <a:extLst>
                <a:ext uri="{FF2B5EF4-FFF2-40B4-BE49-F238E27FC236}">
                  <a16:creationId xmlns:a16="http://schemas.microsoft.com/office/drawing/2014/main" id="{E28FDE72-C6D2-2A43-AF99-4FABF895A8B7}"/>
                </a:ext>
              </a:extLst>
            </p:cNvPr>
            <p:cNvCxnSpPr/>
            <p:nvPr/>
          </p:nvCxnSpPr>
          <p:spPr>
            <a:xfrm>
              <a:off x="5004048" y="3203227"/>
              <a:ext cx="1368152" cy="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grpSp>
      <p:grpSp>
        <p:nvGrpSpPr>
          <p:cNvPr id="59" name="组合 58">
            <a:extLst>
              <a:ext uri="{FF2B5EF4-FFF2-40B4-BE49-F238E27FC236}">
                <a16:creationId xmlns:a16="http://schemas.microsoft.com/office/drawing/2014/main" id="{B6046E35-86FA-F446-B842-6A49CCE9AE1A}"/>
              </a:ext>
            </a:extLst>
          </p:cNvPr>
          <p:cNvGrpSpPr/>
          <p:nvPr/>
        </p:nvGrpSpPr>
        <p:grpSpPr>
          <a:xfrm>
            <a:off x="6317495" y="2812473"/>
            <a:ext cx="1368152" cy="696971"/>
            <a:chOff x="7020272" y="2520569"/>
            <a:chExt cx="1368152" cy="696971"/>
          </a:xfrm>
        </p:grpSpPr>
        <p:cxnSp>
          <p:nvCxnSpPr>
            <p:cNvPr id="60" name="直线箭头连接符 59">
              <a:extLst>
                <a:ext uri="{FF2B5EF4-FFF2-40B4-BE49-F238E27FC236}">
                  <a16:creationId xmlns:a16="http://schemas.microsoft.com/office/drawing/2014/main" id="{17B8580B-8C96-D740-B4DA-A930252BB2DA}"/>
                </a:ext>
              </a:extLst>
            </p:cNvPr>
            <p:cNvCxnSpPr>
              <a:cxnSpLocks/>
            </p:cNvCxnSpPr>
            <p:nvPr/>
          </p:nvCxnSpPr>
          <p:spPr>
            <a:xfrm>
              <a:off x="7020272" y="2520569"/>
              <a:ext cx="0" cy="696971"/>
            </a:xfrm>
            <a:prstGeom prst="straightConnector1">
              <a:avLst/>
            </a:prstGeom>
            <a:ln w="38100">
              <a:solidFill>
                <a:srgbClr val="0070C0"/>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1" name="直线箭头连接符 60">
              <a:extLst>
                <a:ext uri="{FF2B5EF4-FFF2-40B4-BE49-F238E27FC236}">
                  <a16:creationId xmlns:a16="http://schemas.microsoft.com/office/drawing/2014/main" id="{0523031D-1607-6A4E-9BA8-95C6245D14C8}"/>
                </a:ext>
              </a:extLst>
            </p:cNvPr>
            <p:cNvCxnSpPr>
              <a:cxnSpLocks/>
            </p:cNvCxnSpPr>
            <p:nvPr/>
          </p:nvCxnSpPr>
          <p:spPr>
            <a:xfrm>
              <a:off x="8388424" y="2520569"/>
              <a:ext cx="0" cy="696971"/>
            </a:xfrm>
            <a:prstGeom prst="straightConnector1">
              <a:avLst/>
            </a:prstGeom>
            <a:ln w="38100">
              <a:solidFill>
                <a:srgbClr val="0070C0"/>
              </a:solidFill>
              <a:headEnd type="triangle" w="med" len="med"/>
              <a:tailEnd type="none" w="med" len="med"/>
            </a:ln>
          </p:spPr>
          <p:style>
            <a:lnRef idx="1">
              <a:schemeClr val="dk1"/>
            </a:lnRef>
            <a:fillRef idx="0">
              <a:schemeClr val="dk1"/>
            </a:fillRef>
            <a:effectRef idx="0">
              <a:schemeClr val="dk1"/>
            </a:effectRef>
            <a:fontRef idx="minor">
              <a:schemeClr val="tx1"/>
            </a:fontRef>
          </p:style>
        </p:cxnSp>
        <p:cxnSp>
          <p:nvCxnSpPr>
            <p:cNvPr id="62" name="直线连接符 61">
              <a:extLst>
                <a:ext uri="{FF2B5EF4-FFF2-40B4-BE49-F238E27FC236}">
                  <a16:creationId xmlns:a16="http://schemas.microsoft.com/office/drawing/2014/main" id="{D04F8136-FB72-9448-993F-A7B28C6791D4}"/>
                </a:ext>
              </a:extLst>
            </p:cNvPr>
            <p:cNvCxnSpPr>
              <a:cxnSpLocks/>
            </p:cNvCxnSpPr>
            <p:nvPr/>
          </p:nvCxnSpPr>
          <p:spPr>
            <a:xfrm>
              <a:off x="7020272" y="3203227"/>
              <a:ext cx="1368152" cy="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grpSp>
      <p:cxnSp>
        <p:nvCxnSpPr>
          <p:cNvPr id="63" name="直线箭头连接符 62">
            <a:extLst>
              <a:ext uri="{FF2B5EF4-FFF2-40B4-BE49-F238E27FC236}">
                <a16:creationId xmlns:a16="http://schemas.microsoft.com/office/drawing/2014/main" id="{CB8F7B07-7E6E-6E46-B892-DDC04B1B84FC}"/>
              </a:ext>
            </a:extLst>
          </p:cNvPr>
          <p:cNvCxnSpPr>
            <a:cxnSpLocks/>
          </p:cNvCxnSpPr>
          <p:nvPr/>
        </p:nvCxnSpPr>
        <p:spPr>
          <a:xfrm>
            <a:off x="7829663" y="2812473"/>
            <a:ext cx="0" cy="1580271"/>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64" name="直线箭头连接符 63">
            <a:extLst>
              <a:ext uri="{FF2B5EF4-FFF2-40B4-BE49-F238E27FC236}">
                <a16:creationId xmlns:a16="http://schemas.microsoft.com/office/drawing/2014/main" id="{D773A4D2-28EC-8A46-B6DB-09589269D10C}"/>
              </a:ext>
            </a:extLst>
          </p:cNvPr>
          <p:cNvCxnSpPr>
            <a:cxnSpLocks/>
          </p:cNvCxnSpPr>
          <p:nvPr/>
        </p:nvCxnSpPr>
        <p:spPr>
          <a:xfrm>
            <a:off x="7984023" y="2829089"/>
            <a:ext cx="0" cy="1563655"/>
          </a:xfrm>
          <a:prstGeom prst="straightConnector1">
            <a:avLst/>
          </a:prstGeom>
          <a:ln w="38100">
            <a:solidFill>
              <a:schemeClr val="tx1">
                <a:lumMod val="50000"/>
                <a:lumOff val="50000"/>
              </a:schemeClr>
            </a:solidFill>
            <a:headEnd type="triangle" w="med" len="med"/>
            <a:tailEnd type="none" w="med" len="med"/>
          </a:ln>
        </p:spPr>
        <p:style>
          <a:lnRef idx="1">
            <a:schemeClr val="dk1"/>
          </a:lnRef>
          <a:fillRef idx="0">
            <a:schemeClr val="dk1"/>
          </a:fillRef>
          <a:effectRef idx="0">
            <a:schemeClr val="dk1"/>
          </a:effectRef>
          <a:fontRef idx="minor">
            <a:schemeClr val="tx1"/>
          </a:fontRef>
        </p:style>
      </p:cxnSp>
      <p:grpSp>
        <p:nvGrpSpPr>
          <p:cNvPr id="65" name="组合 64">
            <a:extLst>
              <a:ext uri="{FF2B5EF4-FFF2-40B4-BE49-F238E27FC236}">
                <a16:creationId xmlns:a16="http://schemas.microsoft.com/office/drawing/2014/main" id="{3CB74271-3EC5-7740-A19C-341F21C2ECC1}"/>
              </a:ext>
            </a:extLst>
          </p:cNvPr>
          <p:cNvGrpSpPr/>
          <p:nvPr/>
        </p:nvGrpSpPr>
        <p:grpSpPr>
          <a:xfrm>
            <a:off x="4647852" y="2761096"/>
            <a:ext cx="805547" cy="676340"/>
            <a:chOff x="5350629" y="2469192"/>
            <a:chExt cx="805547" cy="676340"/>
          </a:xfrm>
        </p:grpSpPr>
        <p:cxnSp>
          <p:nvCxnSpPr>
            <p:cNvPr id="66" name="直线箭头连接符 65">
              <a:extLst>
                <a:ext uri="{FF2B5EF4-FFF2-40B4-BE49-F238E27FC236}">
                  <a16:creationId xmlns:a16="http://schemas.microsoft.com/office/drawing/2014/main" id="{5AA93FE2-0096-D047-88DB-B5B7D0348AA7}"/>
                </a:ext>
              </a:extLst>
            </p:cNvPr>
            <p:cNvCxnSpPr>
              <a:cxnSpLocks/>
            </p:cNvCxnSpPr>
            <p:nvPr/>
          </p:nvCxnSpPr>
          <p:spPr>
            <a:xfrm>
              <a:off x="5364088" y="2469192"/>
              <a:ext cx="0" cy="666672"/>
            </a:xfrm>
            <a:prstGeom prst="straightConnector1">
              <a:avLst/>
            </a:prstGeom>
            <a:ln w="38100">
              <a:solidFill>
                <a:srgbClr val="0070C0"/>
              </a:solidFill>
              <a:headEnd type="triangle" w="med" len="med"/>
              <a:tailEnd type="none" w="med" len="med"/>
            </a:ln>
          </p:spPr>
          <p:style>
            <a:lnRef idx="1">
              <a:schemeClr val="dk1"/>
            </a:lnRef>
            <a:fillRef idx="0">
              <a:schemeClr val="dk1"/>
            </a:fillRef>
            <a:effectRef idx="0">
              <a:schemeClr val="dk1"/>
            </a:effectRef>
            <a:fontRef idx="minor">
              <a:schemeClr val="tx1"/>
            </a:fontRef>
          </p:style>
        </p:cxnSp>
        <p:cxnSp>
          <p:nvCxnSpPr>
            <p:cNvPr id="67" name="直线连接符 66">
              <a:extLst>
                <a:ext uri="{FF2B5EF4-FFF2-40B4-BE49-F238E27FC236}">
                  <a16:creationId xmlns:a16="http://schemas.microsoft.com/office/drawing/2014/main" id="{0188E2B7-B536-EA4A-8033-D43303025EC3}"/>
                </a:ext>
              </a:extLst>
            </p:cNvPr>
            <p:cNvCxnSpPr>
              <a:cxnSpLocks/>
            </p:cNvCxnSpPr>
            <p:nvPr/>
          </p:nvCxnSpPr>
          <p:spPr>
            <a:xfrm>
              <a:off x="5350629" y="3129352"/>
              <a:ext cx="805547" cy="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68" name="直线箭头连接符 67">
              <a:extLst>
                <a:ext uri="{FF2B5EF4-FFF2-40B4-BE49-F238E27FC236}">
                  <a16:creationId xmlns:a16="http://schemas.microsoft.com/office/drawing/2014/main" id="{2EB61017-52C2-3745-A48F-69F5917DE24F}"/>
                </a:ext>
              </a:extLst>
            </p:cNvPr>
            <p:cNvCxnSpPr>
              <a:cxnSpLocks/>
            </p:cNvCxnSpPr>
            <p:nvPr/>
          </p:nvCxnSpPr>
          <p:spPr>
            <a:xfrm>
              <a:off x="6156176" y="2537185"/>
              <a:ext cx="0" cy="608347"/>
            </a:xfrm>
            <a:prstGeom prst="straightConnector1">
              <a:avLst/>
            </a:prstGeom>
            <a:ln w="38100">
              <a:solidFill>
                <a:srgbClr val="0070C0"/>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9" name="组合 68">
            <a:extLst>
              <a:ext uri="{FF2B5EF4-FFF2-40B4-BE49-F238E27FC236}">
                <a16:creationId xmlns:a16="http://schemas.microsoft.com/office/drawing/2014/main" id="{110E3A98-C0BD-8545-A750-6561AFED4104}"/>
              </a:ext>
            </a:extLst>
          </p:cNvPr>
          <p:cNvGrpSpPr/>
          <p:nvPr/>
        </p:nvGrpSpPr>
        <p:grpSpPr>
          <a:xfrm>
            <a:off x="6448052" y="2829089"/>
            <a:ext cx="805547" cy="615394"/>
            <a:chOff x="7150829" y="2537185"/>
            <a:chExt cx="805547" cy="615394"/>
          </a:xfrm>
        </p:grpSpPr>
        <p:cxnSp>
          <p:nvCxnSpPr>
            <p:cNvPr id="70" name="直线箭头连接符 69">
              <a:extLst>
                <a:ext uri="{FF2B5EF4-FFF2-40B4-BE49-F238E27FC236}">
                  <a16:creationId xmlns:a16="http://schemas.microsoft.com/office/drawing/2014/main" id="{8BD65877-0E11-2844-A949-4179D69047F3}"/>
                </a:ext>
              </a:extLst>
            </p:cNvPr>
            <p:cNvCxnSpPr>
              <a:cxnSpLocks/>
            </p:cNvCxnSpPr>
            <p:nvPr/>
          </p:nvCxnSpPr>
          <p:spPr>
            <a:xfrm>
              <a:off x="7164288" y="2537185"/>
              <a:ext cx="0" cy="605726"/>
            </a:xfrm>
            <a:prstGeom prst="straightConnector1">
              <a:avLst/>
            </a:prstGeom>
            <a:ln w="38100">
              <a:solidFill>
                <a:srgbClr val="0070C0"/>
              </a:solidFill>
              <a:headEnd type="triangle" w="med" len="med"/>
              <a:tailEnd type="none" w="med" len="med"/>
            </a:ln>
          </p:spPr>
          <p:style>
            <a:lnRef idx="1">
              <a:schemeClr val="dk1"/>
            </a:lnRef>
            <a:fillRef idx="0">
              <a:schemeClr val="dk1"/>
            </a:fillRef>
            <a:effectRef idx="0">
              <a:schemeClr val="dk1"/>
            </a:effectRef>
            <a:fontRef idx="minor">
              <a:schemeClr val="tx1"/>
            </a:fontRef>
          </p:style>
        </p:cxnSp>
        <p:cxnSp>
          <p:nvCxnSpPr>
            <p:cNvPr id="71" name="直线连接符 70">
              <a:extLst>
                <a:ext uri="{FF2B5EF4-FFF2-40B4-BE49-F238E27FC236}">
                  <a16:creationId xmlns:a16="http://schemas.microsoft.com/office/drawing/2014/main" id="{B0427133-CD86-8C4E-9BA8-8525E5253362}"/>
                </a:ext>
              </a:extLst>
            </p:cNvPr>
            <p:cNvCxnSpPr>
              <a:cxnSpLocks/>
            </p:cNvCxnSpPr>
            <p:nvPr/>
          </p:nvCxnSpPr>
          <p:spPr>
            <a:xfrm>
              <a:off x="7150829" y="3136399"/>
              <a:ext cx="805547" cy="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72" name="直线箭头连接符 71">
              <a:extLst>
                <a:ext uri="{FF2B5EF4-FFF2-40B4-BE49-F238E27FC236}">
                  <a16:creationId xmlns:a16="http://schemas.microsoft.com/office/drawing/2014/main" id="{5BD48986-5628-FC47-8C70-C6D811C85F5C}"/>
                </a:ext>
              </a:extLst>
            </p:cNvPr>
            <p:cNvCxnSpPr>
              <a:cxnSpLocks/>
            </p:cNvCxnSpPr>
            <p:nvPr/>
          </p:nvCxnSpPr>
          <p:spPr>
            <a:xfrm>
              <a:off x="7956376" y="2544232"/>
              <a:ext cx="0" cy="608347"/>
            </a:xfrm>
            <a:prstGeom prst="straightConnector1">
              <a:avLst/>
            </a:prstGeom>
            <a:ln w="38100">
              <a:solidFill>
                <a:srgbClr val="0070C0"/>
              </a:solidFill>
              <a:headEnd type="none" w="med" len="med"/>
              <a:tailEnd type="none" w="med" len="med"/>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25160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7349BC-F535-9947-8B1C-44A332445911}"/>
              </a:ext>
            </a:extLst>
          </p:cNvPr>
          <p:cNvSpPr>
            <a:spLocks noGrp="1"/>
          </p:cNvSpPr>
          <p:nvPr>
            <p:ph type="title"/>
          </p:nvPr>
        </p:nvSpPr>
        <p:spPr/>
        <p:txBody>
          <a:bodyPr/>
          <a:lstStyle/>
          <a:p>
            <a:r>
              <a:rPr kumimoji="1" lang="zh-CN" altLang="en-US" dirty="0"/>
              <a:t>微内核的历史</a:t>
            </a:r>
          </a:p>
        </p:txBody>
      </p:sp>
      <p:sp>
        <p:nvSpPr>
          <p:cNvPr id="3" name="内容占位符 2">
            <a:extLst>
              <a:ext uri="{FF2B5EF4-FFF2-40B4-BE49-F238E27FC236}">
                <a16:creationId xmlns:a16="http://schemas.microsoft.com/office/drawing/2014/main" id="{4FFBAF91-A743-784C-97F4-67301733B030}"/>
              </a:ext>
            </a:extLst>
          </p:cNvPr>
          <p:cNvSpPr>
            <a:spLocks noGrp="1"/>
          </p:cNvSpPr>
          <p:nvPr>
            <p:ph idx="1"/>
          </p:nvPr>
        </p:nvSpPr>
        <p:spPr/>
        <p:txBody>
          <a:bodyPr>
            <a:normAutofit/>
          </a:bodyPr>
          <a:lstStyle/>
          <a:p>
            <a:r>
              <a:rPr kumimoji="1" lang="en-US" altLang="zh-CN" sz="2400" dirty="0"/>
              <a:t>1969</a:t>
            </a:r>
            <a:r>
              <a:rPr kumimoji="1" lang="zh-CN" altLang="en-US" sz="2400" dirty="0"/>
              <a:t>年，</a:t>
            </a:r>
            <a:r>
              <a:rPr kumimoji="1" lang="en-US" altLang="zh-CN" sz="2400" dirty="0"/>
              <a:t>RC</a:t>
            </a:r>
            <a:r>
              <a:rPr kumimoji="1" lang="zh-CN" altLang="en-US" sz="2400" dirty="0"/>
              <a:t> </a:t>
            </a:r>
            <a:r>
              <a:rPr kumimoji="1" lang="en-US" altLang="zh-CN" sz="2400" dirty="0"/>
              <a:t>4000</a:t>
            </a:r>
            <a:r>
              <a:rPr kumimoji="1" lang="zh-CN" altLang="en-US" sz="2400" dirty="0"/>
              <a:t>多路编程系统</a:t>
            </a:r>
            <a:endParaRPr kumimoji="1" lang="en-US" altLang="zh-CN" sz="2400" dirty="0"/>
          </a:p>
          <a:p>
            <a:pPr lvl="1"/>
            <a:r>
              <a:rPr kumimoji="1" lang="zh-CN" altLang="en-US" sz="2000" dirty="0"/>
              <a:t>提出模块化设计，允许模块间交互</a:t>
            </a:r>
            <a:endParaRPr kumimoji="1" lang="en-US" altLang="zh-CN" sz="2000" dirty="0"/>
          </a:p>
          <a:p>
            <a:pPr lvl="1"/>
            <a:r>
              <a:rPr kumimoji="1" lang="zh-CN" altLang="en-US" sz="2000" dirty="0"/>
              <a:t>提出复杂消息通信机制用于交互</a:t>
            </a:r>
            <a:endParaRPr kumimoji="1" lang="en-US" altLang="zh-CN" sz="2000" dirty="0"/>
          </a:p>
          <a:p>
            <a:pPr lvl="1"/>
            <a:r>
              <a:rPr kumimoji="1" lang="zh-CN" altLang="en-US" sz="2000" dirty="0"/>
              <a:t>提出</a:t>
            </a:r>
            <a:r>
              <a:rPr kumimoji="1" lang="en-US" altLang="zh-CN" sz="2000" dirty="0"/>
              <a:t>"</a:t>
            </a:r>
            <a:r>
              <a:rPr kumimoji="1" lang="zh-CN" altLang="en-US" sz="2000" dirty="0"/>
              <a:t>分离策略与机制</a:t>
            </a:r>
            <a:r>
              <a:rPr kumimoji="1" lang="en-US" altLang="zh-CN" sz="2000" dirty="0"/>
              <a:t>"</a:t>
            </a:r>
            <a:r>
              <a:rPr kumimoji="1" lang="zh-CN" altLang="en-US" sz="2000" dirty="0"/>
              <a:t>的原则</a:t>
            </a:r>
            <a:endParaRPr kumimoji="1" lang="en-US" altLang="zh-CN" sz="2000" dirty="0"/>
          </a:p>
          <a:p>
            <a:pPr lvl="1"/>
            <a:r>
              <a:rPr kumimoji="1" lang="zh-CN" altLang="en-US" sz="2000" dirty="0"/>
              <a:t>提出</a:t>
            </a:r>
            <a:r>
              <a:rPr kumimoji="1" lang="en-US" altLang="zh-CN" sz="2000" dirty="0"/>
              <a:t>"</a:t>
            </a:r>
            <a:r>
              <a:rPr kumimoji="1" lang="zh-CN" altLang="en-US" sz="2000" dirty="0"/>
              <a:t>管程</a:t>
            </a:r>
            <a:r>
              <a:rPr kumimoji="1" lang="en-US" altLang="zh-CN" sz="2000" dirty="0"/>
              <a:t>"</a:t>
            </a:r>
            <a:r>
              <a:rPr kumimoji="1" lang="zh-CN" altLang="en-US" sz="2000" dirty="0"/>
              <a:t>（</a:t>
            </a:r>
            <a:r>
              <a:rPr kumimoji="1" lang="en-US" altLang="zh-CN" sz="2000" dirty="0"/>
              <a:t>Monitor</a:t>
            </a:r>
            <a:r>
              <a:rPr kumimoji="1" lang="zh-CN" altLang="en-US" sz="2000" dirty="0"/>
              <a:t>）的概念</a:t>
            </a:r>
            <a:endParaRPr kumimoji="1" lang="en-US" altLang="zh-CN" sz="2000" dirty="0"/>
          </a:p>
          <a:p>
            <a:pPr lvl="1"/>
            <a:r>
              <a:rPr kumimoji="1" lang="en-US" altLang="zh-CN" sz="2000" dirty="0"/>
              <a:t>Per</a:t>
            </a:r>
            <a:r>
              <a:rPr kumimoji="1" lang="zh-CN" altLang="en-US" sz="2000" dirty="0"/>
              <a:t> </a:t>
            </a:r>
            <a:r>
              <a:rPr kumimoji="1" lang="en-US" altLang="zh-CN" sz="2000" dirty="0" err="1"/>
              <a:t>Brinch</a:t>
            </a:r>
            <a:r>
              <a:rPr kumimoji="1" lang="zh-CN" altLang="en-US" sz="2000" dirty="0"/>
              <a:t> </a:t>
            </a:r>
            <a:r>
              <a:rPr kumimoji="1" lang="en-US" altLang="zh-CN" sz="2000" dirty="0"/>
              <a:t>Hansen</a:t>
            </a:r>
            <a:r>
              <a:rPr kumimoji="1" lang="zh-CN" altLang="en-US" sz="2000" dirty="0"/>
              <a:t>等开发者</a:t>
            </a:r>
            <a:endParaRPr kumimoji="1" lang="en-US" altLang="zh-CN" sz="2000" dirty="0"/>
          </a:p>
          <a:p>
            <a:pPr lvl="1"/>
            <a:r>
              <a:rPr kumimoji="1" lang="zh-CN" altLang="en-US" sz="2000" dirty="0"/>
              <a:t>启发了后来的微内核</a:t>
            </a:r>
            <a:endParaRPr kumimoji="1" lang="en-US" altLang="zh-CN" sz="2000" dirty="0"/>
          </a:p>
        </p:txBody>
      </p:sp>
      <p:sp>
        <p:nvSpPr>
          <p:cNvPr id="4" name="灯片编号占位符 3">
            <a:extLst>
              <a:ext uri="{FF2B5EF4-FFF2-40B4-BE49-F238E27FC236}">
                <a16:creationId xmlns:a16="http://schemas.microsoft.com/office/drawing/2014/main" id="{EEBEFF75-024C-E642-887F-31CEEE33EF8F}"/>
              </a:ext>
            </a:extLst>
          </p:cNvPr>
          <p:cNvSpPr>
            <a:spLocks noGrp="1"/>
          </p:cNvSpPr>
          <p:nvPr>
            <p:ph type="sldNum" sz="quarter" idx="12"/>
          </p:nvPr>
        </p:nvSpPr>
        <p:spPr/>
        <p:txBody>
          <a:bodyPr/>
          <a:lstStyle/>
          <a:p>
            <a:fld id="{ADE361C3-C043-4A6E-BDCE-8DA1E7D90A3B}" type="slidenum">
              <a:rPr lang="zh-CN" altLang="en-US" smtClean="0"/>
              <a:t>22</a:t>
            </a:fld>
            <a:endParaRPr lang="zh-CN" altLang="en-US"/>
          </a:p>
        </p:txBody>
      </p:sp>
      <p:pic>
        <p:nvPicPr>
          <p:cNvPr id="5" name="图片 4">
            <a:extLst>
              <a:ext uri="{FF2B5EF4-FFF2-40B4-BE49-F238E27FC236}">
                <a16:creationId xmlns:a16="http://schemas.microsoft.com/office/drawing/2014/main" id="{B853444E-F7DC-DD40-A3AD-1719BE9E497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220072" y="2497460"/>
            <a:ext cx="3648033" cy="2514309"/>
          </a:xfrm>
          <a:prstGeom prst="rect">
            <a:avLst/>
          </a:prstGeom>
          <a:ln>
            <a:solidFill>
              <a:schemeClr val="bg2">
                <a:lumMod val="75000"/>
              </a:schemeClr>
            </a:solidFill>
          </a:ln>
        </p:spPr>
      </p:pic>
      <p:sp>
        <p:nvSpPr>
          <p:cNvPr id="6" name="矩形 5">
            <a:extLst>
              <a:ext uri="{FF2B5EF4-FFF2-40B4-BE49-F238E27FC236}">
                <a16:creationId xmlns:a16="http://schemas.microsoft.com/office/drawing/2014/main" id="{19076CB0-B71D-F548-BC5D-DFDF5662CD46}"/>
              </a:ext>
            </a:extLst>
          </p:cNvPr>
          <p:cNvSpPr/>
          <p:nvPr/>
        </p:nvSpPr>
        <p:spPr>
          <a:xfrm>
            <a:off x="369201" y="5486134"/>
            <a:ext cx="8642920" cy="253916"/>
          </a:xfrm>
          <a:prstGeom prst="rect">
            <a:avLst/>
          </a:prstGeom>
        </p:spPr>
        <p:txBody>
          <a:bodyPr wrap="square">
            <a:spAutoFit/>
          </a:bodyPr>
          <a:lstStyle/>
          <a:p>
            <a:r>
              <a:rPr lang="en" altLang="zh-CN" sz="1050" dirty="0">
                <a:solidFill>
                  <a:schemeClr val="tx1">
                    <a:lumMod val="50000"/>
                    <a:lumOff val="50000"/>
                  </a:schemeClr>
                </a:solidFill>
                <a:hlinkClick r:id="rId3">
                  <a:extLst>
                    <a:ext uri="{A12FA001-AC4F-418D-AE19-62706E023703}">
                      <ahyp:hlinkClr xmlns:ahyp="http://schemas.microsoft.com/office/drawing/2018/hyperlinkcolor" val="tx"/>
                    </a:ext>
                  </a:extLst>
                </a:hlinkClick>
              </a:rPr>
              <a:t>https://www.semanticscholar.org/paper/A-large-semaphore-based-operating-system-Lauesen/f028001d7426f7ae6a71f8deee9935a66cba4e04</a:t>
            </a:r>
            <a:endParaRPr lang="zh-CN" altLang="en-US" sz="1050" dirty="0">
              <a:solidFill>
                <a:schemeClr val="tx1">
                  <a:lumMod val="50000"/>
                  <a:lumOff val="50000"/>
                </a:schemeClr>
              </a:solidFill>
            </a:endParaRPr>
          </a:p>
        </p:txBody>
      </p:sp>
    </p:spTree>
    <p:extLst>
      <p:ext uri="{BB962C8B-B14F-4D97-AF65-F5344CB8AC3E}">
        <p14:creationId xmlns:p14="http://schemas.microsoft.com/office/powerpoint/2010/main" val="19084279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AB3E13-25D4-1F40-A827-50D6F143D2EF}"/>
              </a:ext>
            </a:extLst>
          </p:cNvPr>
          <p:cNvSpPr>
            <a:spLocks noGrp="1"/>
          </p:cNvSpPr>
          <p:nvPr>
            <p:ph type="title"/>
          </p:nvPr>
        </p:nvSpPr>
        <p:spPr>
          <a:xfrm>
            <a:off x="457200" y="228866"/>
            <a:ext cx="8229600" cy="900442"/>
          </a:xfrm>
        </p:spPr>
        <p:txBody>
          <a:bodyPr/>
          <a:lstStyle/>
          <a:p>
            <a:r>
              <a:rPr kumimoji="1" lang="en-US" altLang="zh-CN" dirty="0"/>
              <a:t>Mach</a:t>
            </a:r>
            <a:r>
              <a:rPr kumimoji="1" lang="zh-CN" altLang="en-US" dirty="0"/>
              <a:t>微内核</a:t>
            </a:r>
          </a:p>
        </p:txBody>
      </p:sp>
      <p:sp>
        <p:nvSpPr>
          <p:cNvPr id="3" name="内容占位符 2">
            <a:extLst>
              <a:ext uri="{FF2B5EF4-FFF2-40B4-BE49-F238E27FC236}">
                <a16:creationId xmlns:a16="http://schemas.microsoft.com/office/drawing/2014/main" id="{ACF4339C-C60D-5A4A-A1D6-89FD795DF523}"/>
              </a:ext>
            </a:extLst>
          </p:cNvPr>
          <p:cNvSpPr>
            <a:spLocks noGrp="1"/>
          </p:cNvSpPr>
          <p:nvPr>
            <p:ph idx="1"/>
          </p:nvPr>
        </p:nvSpPr>
        <p:spPr>
          <a:xfrm>
            <a:off x="457200" y="1333500"/>
            <a:ext cx="8229600" cy="3963461"/>
          </a:xfrm>
        </p:spPr>
        <p:txBody>
          <a:bodyPr>
            <a:noAutofit/>
          </a:bodyPr>
          <a:lstStyle/>
          <a:p>
            <a:r>
              <a:rPr kumimoji="1" lang="en-US" altLang="zh-CN" sz="1800" dirty="0"/>
              <a:t>1985</a:t>
            </a:r>
            <a:r>
              <a:rPr kumimoji="1" lang="zh-CN" altLang="en-US" sz="1800" dirty="0"/>
              <a:t>年，</a:t>
            </a:r>
            <a:r>
              <a:rPr kumimoji="1" lang="en-US" altLang="zh-CN" sz="1800" dirty="0"/>
              <a:t>Mach</a:t>
            </a:r>
            <a:r>
              <a:rPr kumimoji="1" lang="zh-CN" altLang="en-US" sz="1800" dirty="0"/>
              <a:t> 发布</a:t>
            </a:r>
            <a:endParaRPr kumimoji="1" lang="en-US" altLang="zh-CN" sz="1800" dirty="0"/>
          </a:p>
          <a:p>
            <a:pPr lvl="1"/>
            <a:r>
              <a:rPr kumimoji="1" lang="zh-CN" altLang="en-US" sz="1600" dirty="0"/>
              <a:t>由</a:t>
            </a:r>
            <a:r>
              <a:rPr kumimoji="1" lang="en-US" altLang="zh-CN" sz="1600" dirty="0"/>
              <a:t>CMU</a:t>
            </a:r>
            <a:r>
              <a:rPr kumimoji="1" lang="zh-CN" altLang="en-US" sz="1600" dirty="0"/>
              <a:t>开发，</a:t>
            </a:r>
            <a:r>
              <a:rPr kumimoji="1" lang="en-US" altLang="zh-CN" sz="1600" dirty="0"/>
              <a:t>Rick</a:t>
            </a:r>
            <a:r>
              <a:rPr kumimoji="1" lang="zh-CN" altLang="en-US" sz="1600" dirty="0"/>
              <a:t> </a:t>
            </a:r>
            <a:r>
              <a:rPr kumimoji="1" lang="en-US" altLang="zh-CN" sz="1600" dirty="0"/>
              <a:t>Rashid</a:t>
            </a:r>
            <a:r>
              <a:rPr kumimoji="1" lang="zh-CN" altLang="en-US" sz="1600" dirty="0"/>
              <a:t>领导</a:t>
            </a:r>
            <a:endParaRPr kumimoji="1" lang="en-US" altLang="zh-CN" sz="1600" dirty="0"/>
          </a:p>
          <a:p>
            <a:pPr lvl="1"/>
            <a:r>
              <a:rPr kumimoji="1" lang="zh-CN" altLang="en-US" sz="1600" dirty="0"/>
              <a:t>对操作系统发展产生了重大影响</a:t>
            </a:r>
            <a:endParaRPr kumimoji="1" lang="en-US" altLang="zh-CN" sz="1600" dirty="0"/>
          </a:p>
          <a:p>
            <a:r>
              <a:rPr kumimoji="1" lang="en-US" altLang="zh-CN" sz="1800" dirty="0"/>
              <a:t>1986</a:t>
            </a:r>
            <a:r>
              <a:rPr kumimoji="1" lang="zh-CN" altLang="en-US" sz="1800" dirty="0"/>
              <a:t>年，</a:t>
            </a:r>
            <a:r>
              <a:rPr kumimoji="1" lang="en-US" altLang="zh-CN" sz="1800" dirty="0"/>
              <a:t>Mach</a:t>
            </a:r>
            <a:r>
              <a:rPr kumimoji="1" lang="zh-CN" altLang="en-US" sz="1800" dirty="0"/>
              <a:t> </a:t>
            </a:r>
            <a:r>
              <a:rPr kumimoji="1" lang="en-US" altLang="zh-CN" sz="1800" dirty="0"/>
              <a:t>2.5</a:t>
            </a:r>
            <a:r>
              <a:rPr kumimoji="1" lang="zh-CN" altLang="en-US" sz="1400" b="0" dirty="0">
                <a:solidFill>
                  <a:srgbClr val="000000">
                    <a:lumMod val="75000"/>
                    <a:lumOff val="25000"/>
                  </a:srgbClr>
                </a:solidFill>
              </a:rPr>
              <a:t> （性能比</a:t>
            </a:r>
            <a:r>
              <a:rPr kumimoji="1" lang="en-US" altLang="zh-CN" sz="1400" b="0" dirty="0">
                <a:solidFill>
                  <a:srgbClr val="000000">
                    <a:lumMod val="75000"/>
                    <a:lumOff val="25000"/>
                  </a:srgbClr>
                </a:solidFill>
              </a:rPr>
              <a:t>UNIX</a:t>
            </a:r>
            <a:r>
              <a:rPr kumimoji="1" lang="zh-CN" altLang="en-US" sz="1400" b="0" dirty="0">
                <a:solidFill>
                  <a:srgbClr val="000000">
                    <a:lumMod val="75000"/>
                    <a:lumOff val="25000"/>
                  </a:srgbClr>
                </a:solidFill>
              </a:rPr>
              <a:t>差</a:t>
            </a:r>
            <a:r>
              <a:rPr kumimoji="1" lang="en-US" altLang="zh-CN" sz="1400" b="0" dirty="0">
                <a:solidFill>
                  <a:srgbClr val="000000">
                    <a:lumMod val="75000"/>
                    <a:lumOff val="25000"/>
                  </a:srgbClr>
                </a:solidFill>
              </a:rPr>
              <a:t>25%</a:t>
            </a:r>
            <a:r>
              <a:rPr kumimoji="1" lang="zh-CN" altLang="en-US" sz="1400" b="0" dirty="0">
                <a:solidFill>
                  <a:srgbClr val="000000">
                    <a:lumMod val="75000"/>
                    <a:lumOff val="25000"/>
                  </a:srgbClr>
                </a:solidFill>
              </a:rPr>
              <a:t>）</a:t>
            </a:r>
            <a:endParaRPr kumimoji="1" lang="en-US" altLang="zh-CN" sz="1800" dirty="0"/>
          </a:p>
          <a:p>
            <a:pPr lvl="1"/>
            <a:r>
              <a:rPr kumimoji="1" lang="zh-CN" altLang="en-US" sz="1600" dirty="0"/>
              <a:t>包含大量</a:t>
            </a:r>
            <a:r>
              <a:rPr kumimoji="1" lang="en-US" altLang="zh-CN" sz="1600" dirty="0"/>
              <a:t>BSD</a:t>
            </a:r>
            <a:r>
              <a:rPr kumimoji="1" lang="zh-CN" altLang="en-US" sz="1600" dirty="0"/>
              <a:t>的代码，如</a:t>
            </a:r>
            <a:r>
              <a:rPr kumimoji="1" lang="en-US" altLang="zh-CN" sz="1600" dirty="0"/>
              <a:t>1:1</a:t>
            </a:r>
            <a:r>
              <a:rPr kumimoji="1" lang="zh-CN" altLang="en-US" sz="1600" dirty="0"/>
              <a:t>的</a:t>
            </a:r>
            <a:r>
              <a:rPr kumimoji="1" lang="en-US" altLang="zh-CN" sz="1600" dirty="0"/>
              <a:t>task</a:t>
            </a:r>
            <a:r>
              <a:rPr kumimoji="1" lang="zh-CN" altLang="en-US" sz="1600" dirty="0"/>
              <a:t>与</a:t>
            </a:r>
            <a:r>
              <a:rPr kumimoji="1" lang="en-US" altLang="zh-CN" sz="1600" dirty="0"/>
              <a:t>process</a:t>
            </a:r>
            <a:r>
              <a:rPr kumimoji="1" lang="zh-CN" altLang="en-US" sz="1600" dirty="0"/>
              <a:t>映射，导致内核比</a:t>
            </a:r>
            <a:r>
              <a:rPr kumimoji="1" lang="en-US" altLang="zh-CN" sz="1600" dirty="0"/>
              <a:t>UNIX</a:t>
            </a:r>
            <a:r>
              <a:rPr kumimoji="1" lang="zh-CN" altLang="en-US" sz="1600" dirty="0"/>
              <a:t>更大</a:t>
            </a:r>
            <a:endParaRPr kumimoji="1" lang="en-US" altLang="zh-CN" sz="1600" dirty="0"/>
          </a:p>
          <a:p>
            <a:pPr lvl="1"/>
            <a:r>
              <a:rPr kumimoji="1" lang="zh-CN" altLang="en-US" sz="1600" dirty="0"/>
              <a:t>取得了商业成功，用于</a:t>
            </a:r>
            <a:r>
              <a:rPr kumimoji="1" lang="en-US" altLang="zh-CN" sz="1600" dirty="0"/>
              <a:t>NeXT</a:t>
            </a:r>
            <a:r>
              <a:rPr kumimoji="1" lang="zh-CN" altLang="en-US" sz="1600" dirty="0"/>
              <a:t>，最终被苹果收购</a:t>
            </a:r>
            <a:endParaRPr kumimoji="1" lang="en-US" altLang="zh-CN" sz="1600" dirty="0"/>
          </a:p>
          <a:p>
            <a:r>
              <a:rPr kumimoji="1" lang="en-US" altLang="zh-CN" sz="1800" dirty="0"/>
              <a:t>1990</a:t>
            </a:r>
            <a:r>
              <a:rPr kumimoji="1" lang="zh-CN" altLang="en-US" sz="1800" dirty="0"/>
              <a:t>年，</a:t>
            </a:r>
            <a:r>
              <a:rPr kumimoji="1" lang="en-US" altLang="zh-CN" sz="1800" dirty="0"/>
              <a:t>Mach</a:t>
            </a:r>
            <a:r>
              <a:rPr kumimoji="1" lang="zh-CN" altLang="en-US" sz="1800" dirty="0"/>
              <a:t> </a:t>
            </a:r>
            <a:r>
              <a:rPr kumimoji="1" lang="en-US" altLang="zh-CN" sz="1800" dirty="0"/>
              <a:t>3.0</a:t>
            </a:r>
            <a:r>
              <a:rPr kumimoji="1" lang="zh-CN" altLang="en-US" sz="1400" b="0" dirty="0"/>
              <a:t>（性能比</a:t>
            </a:r>
            <a:r>
              <a:rPr kumimoji="1" lang="en-US" altLang="zh-CN" sz="1400" b="0" dirty="0"/>
              <a:t>UNIX</a:t>
            </a:r>
            <a:r>
              <a:rPr kumimoji="1" lang="zh-CN" altLang="en-US" sz="1400" b="0" dirty="0"/>
              <a:t>差</a:t>
            </a:r>
            <a:r>
              <a:rPr kumimoji="1" lang="en-US" altLang="zh-CN" sz="1400" b="0" dirty="0"/>
              <a:t>67%</a:t>
            </a:r>
            <a:r>
              <a:rPr kumimoji="1" lang="zh-CN" altLang="en-US" sz="1400" b="0" dirty="0"/>
              <a:t>）</a:t>
            </a:r>
            <a:endParaRPr kumimoji="1" lang="en-US" altLang="zh-CN" sz="1800" b="0" dirty="0"/>
          </a:p>
          <a:p>
            <a:pPr lvl="1"/>
            <a:r>
              <a:rPr kumimoji="1" lang="zh-CN" altLang="en-US" sz="1600" dirty="0"/>
              <a:t>规避法律风险，去掉了</a:t>
            </a:r>
            <a:r>
              <a:rPr kumimoji="1" lang="en-US" altLang="zh-CN" sz="1600" dirty="0"/>
              <a:t>BSD</a:t>
            </a:r>
            <a:r>
              <a:rPr kumimoji="1" lang="zh-CN" altLang="en-US" sz="1600" dirty="0"/>
              <a:t>的代码，重写了</a:t>
            </a:r>
            <a:r>
              <a:rPr kumimoji="1" lang="en-US" altLang="zh-CN" sz="1600" dirty="0"/>
              <a:t>IPC</a:t>
            </a:r>
            <a:r>
              <a:rPr kumimoji="1" lang="zh-CN" altLang="en-US" sz="1600" dirty="0"/>
              <a:t>以提高性能</a:t>
            </a:r>
            <a:endParaRPr kumimoji="1" lang="en-US" altLang="zh-CN" sz="1600" dirty="0"/>
          </a:p>
          <a:p>
            <a:pPr lvl="1"/>
            <a:r>
              <a:rPr kumimoji="1" lang="zh-CN" altLang="en-US" sz="1600" dirty="0"/>
              <a:t>提出</a:t>
            </a:r>
            <a:r>
              <a:rPr kumimoji="1" lang="en-US" altLang="zh-CN" sz="1600" b="1" dirty="0">
                <a:solidFill>
                  <a:schemeClr val="accent1"/>
                </a:solidFill>
              </a:rPr>
              <a:t>"continuation"</a:t>
            </a:r>
            <a:r>
              <a:rPr kumimoji="1" lang="zh-CN" altLang="en-US" sz="1600" dirty="0"/>
              <a:t>，为用户态应用提供了更多控制</a:t>
            </a:r>
            <a:endParaRPr kumimoji="1" lang="en-US" altLang="zh-CN" sz="1600" dirty="0"/>
          </a:p>
          <a:p>
            <a:pPr lvl="2"/>
            <a:r>
              <a:rPr kumimoji="1" lang="zh-CN" altLang="en-US" sz="1400" dirty="0"/>
              <a:t>允许应用自己在切换的时候保存</a:t>
            </a:r>
            <a:r>
              <a:rPr kumimoji="1" lang="en-US" altLang="zh-CN" sz="1400" dirty="0"/>
              <a:t>/</a:t>
            </a:r>
            <a:r>
              <a:rPr kumimoji="1" lang="zh-CN" altLang="en-US" sz="1400" dirty="0"/>
              <a:t>恢复上下文，进一步减小</a:t>
            </a:r>
            <a:r>
              <a:rPr kumimoji="1" lang="en-US" altLang="zh-CN" sz="1400" dirty="0"/>
              <a:t>microkernel</a:t>
            </a:r>
          </a:p>
        </p:txBody>
      </p:sp>
      <p:sp>
        <p:nvSpPr>
          <p:cNvPr id="4" name="灯片编号占位符 3">
            <a:extLst>
              <a:ext uri="{FF2B5EF4-FFF2-40B4-BE49-F238E27FC236}">
                <a16:creationId xmlns:a16="http://schemas.microsoft.com/office/drawing/2014/main" id="{CCA016C9-789E-6941-B926-8631394E6B79}"/>
              </a:ext>
            </a:extLst>
          </p:cNvPr>
          <p:cNvSpPr>
            <a:spLocks noGrp="1"/>
          </p:cNvSpPr>
          <p:nvPr>
            <p:ph type="sldNum" sz="quarter" idx="12"/>
          </p:nvPr>
        </p:nvSpPr>
        <p:spPr/>
        <p:txBody>
          <a:bodyPr/>
          <a:lstStyle/>
          <a:p>
            <a:fld id="{ADE361C3-C043-4A6E-BDCE-8DA1E7D90A3B}" type="slidenum">
              <a:rPr lang="zh-CN" altLang="en-US" smtClean="0"/>
              <a:t>23</a:t>
            </a:fld>
            <a:endParaRPr lang="zh-CN" altLang="en-US"/>
          </a:p>
        </p:txBody>
      </p:sp>
      <p:pic>
        <p:nvPicPr>
          <p:cNvPr id="5" name="Picture 3">
            <a:extLst>
              <a:ext uri="{FF2B5EF4-FFF2-40B4-BE49-F238E27FC236}">
                <a16:creationId xmlns:a16="http://schemas.microsoft.com/office/drawing/2014/main" id="{894867AF-C228-824A-BFC4-B224A1A123D0}"/>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t="-248"/>
          <a:stretch/>
        </p:blipFill>
        <p:spPr>
          <a:xfrm>
            <a:off x="6553259" y="465697"/>
            <a:ext cx="1723607" cy="1735604"/>
          </a:xfrm>
          <a:prstGeom prst="ellipse">
            <a:avLst/>
          </a:prstGeom>
        </p:spPr>
      </p:pic>
      <p:sp>
        <p:nvSpPr>
          <p:cNvPr id="6" name="TextBox 4">
            <a:extLst>
              <a:ext uri="{FF2B5EF4-FFF2-40B4-BE49-F238E27FC236}">
                <a16:creationId xmlns:a16="http://schemas.microsoft.com/office/drawing/2014/main" id="{549B7BE2-2487-1B49-906A-710CCA8CF5FB}"/>
              </a:ext>
            </a:extLst>
          </p:cNvPr>
          <p:cNvSpPr txBox="1"/>
          <p:nvPr/>
        </p:nvSpPr>
        <p:spPr>
          <a:xfrm>
            <a:off x="6736030" y="2236217"/>
            <a:ext cx="1358064" cy="338554"/>
          </a:xfrm>
          <a:prstGeom prst="rect">
            <a:avLst/>
          </a:prstGeom>
          <a:noFill/>
        </p:spPr>
        <p:txBody>
          <a:bodyPr wrap="none" rtlCol="0">
            <a:spAutoFit/>
          </a:bodyPr>
          <a:lstStyle/>
          <a:p>
            <a:pPr algn="ctr"/>
            <a:r>
              <a:rPr lang="en-US" sz="1600" b="1" dirty="0">
                <a:cs typeface="Helvetica Neue "/>
              </a:rPr>
              <a:t>Rick Rashid</a:t>
            </a:r>
          </a:p>
        </p:txBody>
      </p:sp>
    </p:spTree>
    <p:extLst>
      <p:ext uri="{BB962C8B-B14F-4D97-AF65-F5344CB8AC3E}">
        <p14:creationId xmlns:p14="http://schemas.microsoft.com/office/powerpoint/2010/main" val="15685807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79C176-40BA-BD40-9CA4-2CEA6BE2B833}"/>
              </a:ext>
            </a:extLst>
          </p:cNvPr>
          <p:cNvSpPr>
            <a:spLocks noGrp="1"/>
          </p:cNvSpPr>
          <p:nvPr>
            <p:ph type="title"/>
          </p:nvPr>
        </p:nvSpPr>
        <p:spPr/>
        <p:txBody>
          <a:bodyPr/>
          <a:lstStyle/>
          <a:p>
            <a:r>
              <a:rPr kumimoji="1" lang="en-US" altLang="zh-CN" dirty="0"/>
              <a:t>Mach</a:t>
            </a:r>
            <a:r>
              <a:rPr kumimoji="1" lang="zh-CN" altLang="en-US" dirty="0"/>
              <a:t>实现了哪些功能？</a:t>
            </a:r>
          </a:p>
        </p:txBody>
      </p:sp>
      <p:sp>
        <p:nvSpPr>
          <p:cNvPr id="3" name="内容占位符 2">
            <a:extLst>
              <a:ext uri="{FF2B5EF4-FFF2-40B4-BE49-F238E27FC236}">
                <a16:creationId xmlns:a16="http://schemas.microsoft.com/office/drawing/2014/main" id="{A22179B4-F65E-E848-9970-D4E245E23734}"/>
              </a:ext>
            </a:extLst>
          </p:cNvPr>
          <p:cNvSpPr>
            <a:spLocks noGrp="1"/>
          </p:cNvSpPr>
          <p:nvPr>
            <p:ph idx="1"/>
          </p:nvPr>
        </p:nvSpPr>
        <p:spPr/>
        <p:txBody>
          <a:bodyPr>
            <a:noAutofit/>
          </a:bodyPr>
          <a:lstStyle/>
          <a:p>
            <a:r>
              <a:rPr kumimoji="1" lang="zh-CN" altLang="en-US" sz="2400" dirty="0"/>
              <a:t>任务和线程管理</a:t>
            </a:r>
            <a:endParaRPr kumimoji="1" lang="en-US" altLang="zh-CN" sz="2400" dirty="0"/>
          </a:p>
          <a:p>
            <a:pPr lvl="1"/>
            <a:r>
              <a:rPr kumimoji="1" lang="zh-CN" altLang="en-US" sz="2000" dirty="0"/>
              <a:t>任务，是资源分配的基本单位；线程，是执行的基本单位</a:t>
            </a:r>
            <a:endParaRPr kumimoji="1" lang="en-US" altLang="zh-CN" sz="2000" dirty="0"/>
          </a:p>
          <a:p>
            <a:pPr lvl="1"/>
            <a:r>
              <a:rPr kumimoji="1" lang="zh-CN" altLang="en-US" sz="2000" dirty="0"/>
              <a:t>对应用提供调度接口，应用程序可实现其自定义的调度策略</a:t>
            </a:r>
            <a:endParaRPr kumimoji="1" lang="en-US" altLang="zh-CN" sz="2000" dirty="0"/>
          </a:p>
          <a:p>
            <a:r>
              <a:rPr kumimoji="1" lang="zh-CN" altLang="en-US" sz="2400" dirty="0"/>
              <a:t>进程间通信（</a:t>
            </a:r>
            <a:r>
              <a:rPr kumimoji="1" lang="en-US" altLang="zh-CN" sz="2400" dirty="0"/>
              <a:t>IPC</a:t>
            </a:r>
            <a:r>
              <a:rPr kumimoji="1" lang="zh-CN" altLang="en-US" sz="2400" dirty="0"/>
              <a:t>）</a:t>
            </a:r>
            <a:r>
              <a:rPr kumimoji="1" lang="zh-CN" altLang="en-US" sz="2400" b="0" dirty="0"/>
              <a:t>：</a:t>
            </a:r>
            <a:r>
              <a:rPr kumimoji="1" lang="zh-CN" altLang="en-US" sz="2000" b="0" dirty="0"/>
              <a:t>通过端口（</a:t>
            </a:r>
            <a:r>
              <a:rPr kumimoji="1" lang="en-US" altLang="zh-CN" sz="2000" b="0" dirty="0"/>
              <a:t>port</a:t>
            </a:r>
            <a:r>
              <a:rPr kumimoji="1" lang="zh-CN" altLang="en-US" sz="2000" b="0" dirty="0"/>
              <a:t>）进行通信</a:t>
            </a:r>
            <a:endParaRPr kumimoji="1" lang="en-US" altLang="zh-CN" sz="2000" b="0" dirty="0"/>
          </a:p>
          <a:p>
            <a:r>
              <a:rPr kumimoji="1" lang="zh-CN" altLang="en-US" sz="2400" dirty="0"/>
              <a:t>内存对象管理</a:t>
            </a:r>
            <a:r>
              <a:rPr kumimoji="1" lang="zh-CN" altLang="en-US" sz="2400" b="0" dirty="0"/>
              <a:t>：</a:t>
            </a:r>
            <a:r>
              <a:rPr kumimoji="1" lang="zh-CN" altLang="en-US" sz="2000" b="0" dirty="0"/>
              <a:t>虚拟内存</a:t>
            </a:r>
            <a:endParaRPr kumimoji="1" lang="en-US" altLang="zh-CN" sz="2000" b="0" dirty="0"/>
          </a:p>
          <a:p>
            <a:r>
              <a:rPr kumimoji="1" lang="zh-CN" altLang="en-US" sz="2400" dirty="0"/>
              <a:t>系统调用重定向</a:t>
            </a:r>
            <a:r>
              <a:rPr kumimoji="1" lang="zh-CN" altLang="en-US" sz="2400" b="0" dirty="0"/>
              <a:t>：</a:t>
            </a:r>
            <a:r>
              <a:rPr kumimoji="1" lang="zh-CN" altLang="en-US" sz="2000" b="0" dirty="0"/>
              <a:t>允许用户态处理系统调用</a:t>
            </a:r>
            <a:endParaRPr kumimoji="1" lang="en-US" altLang="zh-CN" sz="2000" b="0" dirty="0"/>
          </a:p>
          <a:p>
            <a:pPr lvl="1"/>
            <a:r>
              <a:rPr kumimoji="1" lang="zh-CN" altLang="en-US" sz="2000" dirty="0"/>
              <a:t>支持对系统调用的功能扩展，例如，二进制翻译、跟踪、调试等</a:t>
            </a:r>
          </a:p>
        </p:txBody>
      </p:sp>
      <p:sp>
        <p:nvSpPr>
          <p:cNvPr id="4" name="灯片编号占位符 3">
            <a:extLst>
              <a:ext uri="{FF2B5EF4-FFF2-40B4-BE49-F238E27FC236}">
                <a16:creationId xmlns:a16="http://schemas.microsoft.com/office/drawing/2014/main" id="{1D26838B-E34B-3344-942B-513F125EE4BE}"/>
              </a:ext>
            </a:extLst>
          </p:cNvPr>
          <p:cNvSpPr>
            <a:spLocks noGrp="1"/>
          </p:cNvSpPr>
          <p:nvPr>
            <p:ph type="sldNum" sz="quarter" idx="12"/>
          </p:nvPr>
        </p:nvSpPr>
        <p:spPr/>
        <p:txBody>
          <a:bodyPr/>
          <a:lstStyle/>
          <a:p>
            <a:fld id="{ADE361C3-C043-4A6E-BDCE-8DA1E7D90A3B}" type="slidenum">
              <a:rPr lang="zh-CN" altLang="en-US" smtClean="0"/>
              <a:t>24</a:t>
            </a:fld>
            <a:endParaRPr lang="zh-CN" altLang="en-US"/>
          </a:p>
        </p:txBody>
      </p:sp>
    </p:spTree>
    <p:extLst>
      <p:ext uri="{BB962C8B-B14F-4D97-AF65-F5344CB8AC3E}">
        <p14:creationId xmlns:p14="http://schemas.microsoft.com/office/powerpoint/2010/main" val="7796275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D75EE2-864F-A44D-AE40-0AE7A2CC9D73}"/>
              </a:ext>
            </a:extLst>
          </p:cNvPr>
          <p:cNvSpPr>
            <a:spLocks noGrp="1"/>
          </p:cNvSpPr>
          <p:nvPr>
            <p:ph type="title"/>
          </p:nvPr>
        </p:nvSpPr>
        <p:spPr/>
        <p:txBody>
          <a:bodyPr/>
          <a:lstStyle/>
          <a:p>
            <a:r>
              <a:rPr kumimoji="1" lang="en-US" altLang="zh-CN" dirty="0"/>
              <a:t>Mach</a:t>
            </a:r>
            <a:r>
              <a:rPr kumimoji="1" lang="zh-CN" altLang="en-US" dirty="0"/>
              <a:t>还实现了哪些功能？</a:t>
            </a:r>
          </a:p>
        </p:txBody>
      </p:sp>
      <p:sp>
        <p:nvSpPr>
          <p:cNvPr id="3" name="内容占位符 2">
            <a:extLst>
              <a:ext uri="{FF2B5EF4-FFF2-40B4-BE49-F238E27FC236}">
                <a16:creationId xmlns:a16="http://schemas.microsoft.com/office/drawing/2014/main" id="{C4698DD4-7323-4544-80DA-65C0813A4E10}"/>
              </a:ext>
            </a:extLst>
          </p:cNvPr>
          <p:cNvSpPr>
            <a:spLocks noGrp="1"/>
          </p:cNvSpPr>
          <p:nvPr>
            <p:ph idx="1"/>
          </p:nvPr>
        </p:nvSpPr>
        <p:spPr/>
        <p:txBody>
          <a:bodyPr>
            <a:noAutofit/>
          </a:bodyPr>
          <a:lstStyle/>
          <a:p>
            <a:r>
              <a:rPr kumimoji="1" lang="zh-CN" altLang="en-US" sz="2400" dirty="0"/>
              <a:t>设备支持</a:t>
            </a:r>
            <a:endParaRPr kumimoji="1" lang="en-US" altLang="zh-CN" sz="2400" dirty="0"/>
          </a:p>
          <a:p>
            <a:pPr lvl="1"/>
            <a:r>
              <a:rPr kumimoji="1" lang="zh-CN" altLang="en-US" sz="2000" dirty="0"/>
              <a:t>通过</a:t>
            </a:r>
            <a:r>
              <a:rPr kumimoji="1" lang="en-US" altLang="zh-CN" sz="2000" dirty="0"/>
              <a:t>IPC</a:t>
            </a:r>
            <a:r>
              <a:rPr kumimoji="1" lang="zh-CN" altLang="en-US" sz="2000" dirty="0"/>
              <a:t>实现（通过</a:t>
            </a:r>
            <a:r>
              <a:rPr kumimoji="1" lang="en-US" altLang="zh-CN" sz="2000" dirty="0"/>
              <a:t>port</a:t>
            </a:r>
            <a:r>
              <a:rPr kumimoji="1" lang="zh-CN" altLang="en-US" sz="2000" dirty="0"/>
              <a:t>来连接设备）</a:t>
            </a:r>
            <a:endParaRPr kumimoji="1" lang="en-US" altLang="zh-CN" sz="2000" dirty="0"/>
          </a:p>
          <a:p>
            <a:pPr lvl="1"/>
            <a:r>
              <a:rPr kumimoji="1" lang="zh-CN" altLang="en-US" sz="2000" dirty="0"/>
              <a:t>支持同步设备和异步设备</a:t>
            </a:r>
            <a:endParaRPr kumimoji="1" lang="en-US" altLang="zh-CN" sz="2000" dirty="0"/>
          </a:p>
          <a:p>
            <a:r>
              <a:rPr kumimoji="1" lang="zh-CN" altLang="en-US" sz="2400" dirty="0"/>
              <a:t>用户态的多进程</a:t>
            </a:r>
            <a:endParaRPr kumimoji="1" lang="en-US" altLang="zh-CN" sz="2400" dirty="0"/>
          </a:p>
          <a:p>
            <a:pPr lvl="1"/>
            <a:r>
              <a:rPr kumimoji="1" lang="zh-CN" altLang="en-US" sz="2000" dirty="0"/>
              <a:t>类似用户态的线程库，支持</a:t>
            </a:r>
            <a:r>
              <a:rPr kumimoji="1" lang="en-US" altLang="zh-CN" sz="2000" dirty="0"/>
              <a:t>wait()/signal()</a:t>
            </a:r>
            <a:r>
              <a:rPr kumimoji="1" lang="zh-CN" altLang="en-US" sz="2000" dirty="0"/>
              <a:t>等原语</a:t>
            </a:r>
            <a:endParaRPr kumimoji="1" lang="en-US" altLang="zh-CN" sz="2000" dirty="0"/>
          </a:p>
          <a:p>
            <a:pPr lvl="1"/>
            <a:r>
              <a:rPr kumimoji="1" lang="zh-CN" altLang="en-US" sz="2000" dirty="0"/>
              <a:t>一个或多个用户态线程可映射到同一个内核线程</a:t>
            </a:r>
            <a:endParaRPr kumimoji="1" lang="en-US" altLang="zh-CN" sz="2000" dirty="0"/>
          </a:p>
          <a:p>
            <a:r>
              <a:rPr kumimoji="1" lang="zh-CN" altLang="en-US" sz="2400" dirty="0"/>
              <a:t>分布式支持</a:t>
            </a:r>
            <a:endParaRPr kumimoji="1" lang="en-US" altLang="zh-CN" sz="2400" dirty="0"/>
          </a:p>
          <a:p>
            <a:pPr lvl="1"/>
            <a:r>
              <a:rPr kumimoji="1" lang="zh-CN" altLang="en-US" sz="2000" dirty="0"/>
              <a:t>可透明地将任务与资源映射到集群中的不同节点</a:t>
            </a:r>
          </a:p>
        </p:txBody>
      </p:sp>
      <p:sp>
        <p:nvSpPr>
          <p:cNvPr id="4" name="灯片编号占位符 3">
            <a:extLst>
              <a:ext uri="{FF2B5EF4-FFF2-40B4-BE49-F238E27FC236}">
                <a16:creationId xmlns:a16="http://schemas.microsoft.com/office/drawing/2014/main" id="{6B6E2E9A-6356-D545-833F-88C200468488}"/>
              </a:ext>
            </a:extLst>
          </p:cNvPr>
          <p:cNvSpPr>
            <a:spLocks noGrp="1"/>
          </p:cNvSpPr>
          <p:nvPr>
            <p:ph type="sldNum" sz="quarter" idx="12"/>
          </p:nvPr>
        </p:nvSpPr>
        <p:spPr/>
        <p:txBody>
          <a:bodyPr/>
          <a:lstStyle/>
          <a:p>
            <a:fld id="{ADE361C3-C043-4A6E-BDCE-8DA1E7D90A3B}" type="slidenum">
              <a:rPr lang="zh-CN" altLang="en-US" smtClean="0"/>
              <a:t>25</a:t>
            </a:fld>
            <a:endParaRPr lang="zh-CN" altLang="en-US"/>
          </a:p>
        </p:txBody>
      </p:sp>
    </p:spTree>
    <p:extLst>
      <p:ext uri="{BB962C8B-B14F-4D97-AF65-F5344CB8AC3E}">
        <p14:creationId xmlns:p14="http://schemas.microsoft.com/office/powerpoint/2010/main" val="25826547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5B5B23-1F5C-7A43-ABA4-F874CF4C48C1}"/>
              </a:ext>
            </a:extLst>
          </p:cNvPr>
          <p:cNvSpPr>
            <a:spLocks noGrp="1"/>
          </p:cNvSpPr>
          <p:nvPr>
            <p:ph type="title"/>
          </p:nvPr>
        </p:nvSpPr>
        <p:spPr/>
        <p:txBody>
          <a:bodyPr/>
          <a:lstStyle/>
          <a:p>
            <a:r>
              <a:rPr kumimoji="1" lang="en-US" altLang="zh-CN" dirty="0"/>
              <a:t>Mach</a:t>
            </a:r>
            <a:r>
              <a:rPr kumimoji="1" lang="zh-CN" altLang="en-US" dirty="0"/>
              <a:t>：用户态与内核态的分工</a:t>
            </a:r>
          </a:p>
        </p:txBody>
      </p:sp>
      <p:sp>
        <p:nvSpPr>
          <p:cNvPr id="3" name="内容占位符 2">
            <a:extLst>
              <a:ext uri="{FF2B5EF4-FFF2-40B4-BE49-F238E27FC236}">
                <a16:creationId xmlns:a16="http://schemas.microsoft.com/office/drawing/2014/main" id="{C77C684F-5BCC-1649-A267-59F9FE85044A}"/>
              </a:ext>
            </a:extLst>
          </p:cNvPr>
          <p:cNvSpPr>
            <a:spLocks noGrp="1"/>
          </p:cNvSpPr>
          <p:nvPr>
            <p:ph idx="1"/>
          </p:nvPr>
        </p:nvSpPr>
        <p:spPr/>
        <p:txBody>
          <a:bodyPr>
            <a:normAutofit/>
          </a:bodyPr>
          <a:lstStyle/>
          <a:p>
            <a:r>
              <a:rPr kumimoji="1" lang="en-US" altLang="zh-CN" sz="2400" dirty="0"/>
              <a:t>Mach</a:t>
            </a:r>
            <a:r>
              <a:rPr kumimoji="1" lang="zh-CN" altLang="en-US" sz="2400" dirty="0"/>
              <a:t>允许用户态代码实现</a:t>
            </a:r>
            <a:r>
              <a:rPr kumimoji="1" lang="en-US" altLang="zh-CN" sz="2400" dirty="0"/>
              <a:t>Paging</a:t>
            </a:r>
          </a:p>
          <a:p>
            <a:pPr lvl="1"/>
            <a:r>
              <a:rPr kumimoji="1" lang="zh-CN" altLang="en-US" sz="2000" dirty="0"/>
              <a:t>应用可自己管理自己的虚拟内存</a:t>
            </a:r>
            <a:endParaRPr kumimoji="1" lang="en-US" altLang="zh-CN" sz="2000" dirty="0"/>
          </a:p>
          <a:p>
            <a:r>
              <a:rPr kumimoji="1" lang="zh-CN" altLang="en-US" sz="2400" dirty="0"/>
              <a:t>重定向功能（</a:t>
            </a:r>
            <a:r>
              <a:rPr kumimoji="1" lang="en-US" altLang="zh-CN" sz="2400" dirty="0"/>
              <a:t>Redirection</a:t>
            </a:r>
            <a:r>
              <a:rPr kumimoji="1" lang="zh-CN" altLang="en-US" sz="2400" dirty="0"/>
              <a:t>）</a:t>
            </a:r>
            <a:endParaRPr kumimoji="1" lang="en-US" altLang="zh-CN" sz="2400" dirty="0"/>
          </a:p>
          <a:p>
            <a:pPr lvl="1"/>
            <a:r>
              <a:rPr kumimoji="1" lang="zh-CN" altLang="en-US" sz="2000" dirty="0"/>
              <a:t>允许发生中断</a:t>
            </a:r>
            <a:r>
              <a:rPr kumimoji="1" lang="en-US" altLang="zh-CN" sz="2000" dirty="0"/>
              <a:t>/</a:t>
            </a:r>
            <a:r>
              <a:rPr kumimoji="1" lang="zh-CN" altLang="en-US" sz="2000" dirty="0"/>
              <a:t>异常时，直接执行用户的二进制</a:t>
            </a:r>
            <a:endParaRPr kumimoji="1" lang="en-US" altLang="zh-CN" sz="2000" dirty="0"/>
          </a:p>
          <a:p>
            <a:pPr lvl="1"/>
            <a:r>
              <a:rPr kumimoji="1" lang="zh-CN" altLang="en-US" sz="2000" dirty="0"/>
              <a:t>这种连接不需要对内核做修改</a:t>
            </a:r>
            <a:endParaRPr kumimoji="1" lang="en-US" altLang="zh-CN" sz="2000" dirty="0"/>
          </a:p>
        </p:txBody>
      </p:sp>
      <p:sp>
        <p:nvSpPr>
          <p:cNvPr id="4" name="灯片编号占位符 3">
            <a:extLst>
              <a:ext uri="{FF2B5EF4-FFF2-40B4-BE49-F238E27FC236}">
                <a16:creationId xmlns:a16="http://schemas.microsoft.com/office/drawing/2014/main" id="{4A45041B-7CB9-4840-A3DD-868D4C785D5D}"/>
              </a:ext>
            </a:extLst>
          </p:cNvPr>
          <p:cNvSpPr>
            <a:spLocks noGrp="1"/>
          </p:cNvSpPr>
          <p:nvPr>
            <p:ph type="sldNum" sz="quarter" idx="12"/>
          </p:nvPr>
        </p:nvSpPr>
        <p:spPr/>
        <p:txBody>
          <a:bodyPr/>
          <a:lstStyle/>
          <a:p>
            <a:fld id="{ADE361C3-C043-4A6E-BDCE-8DA1E7D90A3B}" type="slidenum">
              <a:rPr lang="zh-CN" altLang="en-US" smtClean="0"/>
              <a:t>26</a:t>
            </a:fld>
            <a:endParaRPr lang="zh-CN" altLang="en-US"/>
          </a:p>
        </p:txBody>
      </p:sp>
    </p:spTree>
    <p:extLst>
      <p:ext uri="{BB962C8B-B14F-4D97-AF65-F5344CB8AC3E}">
        <p14:creationId xmlns:p14="http://schemas.microsoft.com/office/powerpoint/2010/main" val="15529549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815641-AC99-F349-8D67-6BB200EB1B5E}"/>
              </a:ext>
            </a:extLst>
          </p:cNvPr>
          <p:cNvSpPr>
            <a:spLocks noGrp="1"/>
          </p:cNvSpPr>
          <p:nvPr>
            <p:ph type="title"/>
          </p:nvPr>
        </p:nvSpPr>
        <p:spPr/>
        <p:txBody>
          <a:bodyPr/>
          <a:lstStyle/>
          <a:p>
            <a:r>
              <a:rPr kumimoji="1" lang="en-US" altLang="zh-CN" dirty="0"/>
              <a:t>L3/L4</a:t>
            </a:r>
            <a:r>
              <a:rPr kumimoji="1" lang="zh-CN" altLang="en-US" dirty="0"/>
              <a:t>：极大提升</a:t>
            </a:r>
            <a:r>
              <a:rPr kumimoji="1" lang="en-US" altLang="zh-CN" dirty="0"/>
              <a:t>IPC</a:t>
            </a:r>
            <a:r>
              <a:rPr kumimoji="1" lang="zh-CN" altLang="en-US" dirty="0"/>
              <a:t>的性能</a:t>
            </a:r>
          </a:p>
        </p:txBody>
      </p:sp>
      <p:sp>
        <p:nvSpPr>
          <p:cNvPr id="3" name="内容占位符 2">
            <a:extLst>
              <a:ext uri="{FF2B5EF4-FFF2-40B4-BE49-F238E27FC236}">
                <a16:creationId xmlns:a16="http://schemas.microsoft.com/office/drawing/2014/main" id="{4CC1BF33-BC6A-704A-94A5-72088F9DB732}"/>
              </a:ext>
            </a:extLst>
          </p:cNvPr>
          <p:cNvSpPr>
            <a:spLocks noGrp="1"/>
          </p:cNvSpPr>
          <p:nvPr>
            <p:ph idx="1"/>
          </p:nvPr>
        </p:nvSpPr>
        <p:spPr/>
        <p:txBody>
          <a:bodyPr>
            <a:normAutofit/>
          </a:bodyPr>
          <a:lstStyle/>
          <a:p>
            <a:r>
              <a:rPr kumimoji="1" lang="en-US" altLang="zh-CN" sz="2400" dirty="0"/>
              <a:t>L4</a:t>
            </a:r>
            <a:r>
              <a:rPr kumimoji="1" lang="zh-CN" altLang="en-US" sz="2400" dirty="0"/>
              <a:t>的</a:t>
            </a:r>
            <a:r>
              <a:rPr kumimoji="1" lang="en-US" altLang="zh-CN" sz="2400" dirty="0"/>
              <a:t>IPC</a:t>
            </a:r>
            <a:r>
              <a:rPr kumimoji="1" lang="zh-CN" altLang="en-US" sz="2400" dirty="0"/>
              <a:t>性能比</a:t>
            </a:r>
            <a:r>
              <a:rPr kumimoji="1" lang="en-US" altLang="zh-CN" sz="2400" dirty="0"/>
              <a:t>Mach</a:t>
            </a:r>
            <a:r>
              <a:rPr kumimoji="1" lang="zh-CN" altLang="en-US" sz="2400" dirty="0"/>
              <a:t>快</a:t>
            </a:r>
            <a:r>
              <a:rPr kumimoji="1" lang="en-US" altLang="zh-CN" sz="2400" dirty="0"/>
              <a:t>20</a:t>
            </a:r>
            <a:r>
              <a:rPr kumimoji="1" lang="zh-CN" altLang="en-US" sz="2400" dirty="0"/>
              <a:t>倍</a:t>
            </a:r>
            <a:endParaRPr kumimoji="1" lang="en-US" altLang="zh-CN" sz="2400" dirty="0"/>
          </a:p>
          <a:p>
            <a:pPr lvl="1"/>
            <a:r>
              <a:rPr kumimoji="1" lang="en-US" altLang="zh-CN" sz="2000" dirty="0"/>
              <a:t>IPC</a:t>
            </a:r>
            <a:r>
              <a:rPr kumimoji="1" lang="zh-CN" altLang="en-US" sz="2000" dirty="0"/>
              <a:t>仅传递信息</a:t>
            </a:r>
            <a:endParaRPr kumimoji="1" lang="en-US" altLang="zh-CN" sz="2000" dirty="0"/>
          </a:p>
          <a:p>
            <a:pPr lvl="1"/>
            <a:r>
              <a:rPr kumimoji="1" lang="zh-CN" altLang="en-US" sz="2000" dirty="0"/>
              <a:t>使用寄存器传参，限制消息长度</a:t>
            </a:r>
            <a:endParaRPr kumimoji="1" lang="en-US" altLang="zh-CN" sz="2000" dirty="0"/>
          </a:p>
          <a:p>
            <a:pPr lvl="1"/>
            <a:r>
              <a:rPr kumimoji="1" lang="zh-CN" altLang="en-US" sz="2000" dirty="0"/>
              <a:t>内核去掉了</a:t>
            </a:r>
            <a:r>
              <a:rPr kumimoji="1" lang="en-US" altLang="zh-CN" sz="2000" dirty="0"/>
              <a:t>IPC</a:t>
            </a:r>
            <a:r>
              <a:rPr kumimoji="1" lang="zh-CN" altLang="en-US" sz="2000" dirty="0"/>
              <a:t>的权限检查等功能，交给用户态判断</a:t>
            </a:r>
            <a:endParaRPr kumimoji="1" lang="en-US" altLang="zh-CN" sz="2000" dirty="0"/>
          </a:p>
          <a:p>
            <a:pPr lvl="1"/>
            <a:r>
              <a:rPr kumimoji="1" lang="zh-CN" altLang="en-US" sz="2000" dirty="0"/>
              <a:t>系统服务的接口直接暴露给用户态，可能导致</a:t>
            </a:r>
            <a:r>
              <a:rPr kumimoji="1" lang="en-US" altLang="zh-CN" sz="2000" dirty="0"/>
              <a:t>DoS</a:t>
            </a:r>
            <a:r>
              <a:rPr kumimoji="1" lang="zh-CN" altLang="en-US" sz="2000" dirty="0"/>
              <a:t>攻击</a:t>
            </a:r>
            <a:endParaRPr kumimoji="1" lang="en-US" altLang="zh-CN" sz="2000" dirty="0"/>
          </a:p>
          <a:p>
            <a:r>
              <a:rPr kumimoji="1" lang="zh-CN" altLang="en-US" sz="2400" dirty="0"/>
              <a:t>启发了大量相关系统</a:t>
            </a:r>
            <a:endParaRPr kumimoji="1" lang="en-US" altLang="zh-CN" sz="2400" dirty="0"/>
          </a:p>
          <a:p>
            <a:pPr lvl="1"/>
            <a:r>
              <a:rPr kumimoji="1" lang="en-US" altLang="zh-CN" sz="2000" dirty="0"/>
              <a:t>Pistachio</a:t>
            </a:r>
            <a:r>
              <a:rPr kumimoji="1" lang="zh-CN" altLang="en-US" sz="2000" dirty="0"/>
              <a:t>、</a:t>
            </a:r>
            <a:r>
              <a:rPr kumimoji="1" lang="en-US" altLang="zh-CN" sz="2000" dirty="0"/>
              <a:t>L4/MIPS</a:t>
            </a:r>
            <a:r>
              <a:rPr kumimoji="1" lang="zh-CN" altLang="en-US" sz="2000" dirty="0"/>
              <a:t>、</a:t>
            </a:r>
            <a:r>
              <a:rPr kumimoji="1" lang="en-US" altLang="zh-CN" sz="2000" dirty="0"/>
              <a:t>Fiasco</a:t>
            </a:r>
            <a:r>
              <a:rPr kumimoji="1" lang="zh-CN" altLang="en-US" sz="2000" dirty="0"/>
              <a:t>等</a:t>
            </a:r>
            <a:endParaRPr kumimoji="1" lang="en-US" altLang="zh-CN" sz="2000" dirty="0"/>
          </a:p>
        </p:txBody>
      </p:sp>
      <p:sp>
        <p:nvSpPr>
          <p:cNvPr id="4" name="灯片编号占位符 3">
            <a:extLst>
              <a:ext uri="{FF2B5EF4-FFF2-40B4-BE49-F238E27FC236}">
                <a16:creationId xmlns:a16="http://schemas.microsoft.com/office/drawing/2014/main" id="{C002B570-D248-DE41-8274-9000EBED931F}"/>
              </a:ext>
            </a:extLst>
          </p:cNvPr>
          <p:cNvSpPr>
            <a:spLocks noGrp="1"/>
          </p:cNvSpPr>
          <p:nvPr>
            <p:ph type="sldNum" sz="quarter" idx="12"/>
          </p:nvPr>
        </p:nvSpPr>
        <p:spPr/>
        <p:txBody>
          <a:bodyPr/>
          <a:lstStyle/>
          <a:p>
            <a:fld id="{ADE361C3-C043-4A6E-BDCE-8DA1E7D90A3B}" type="slidenum">
              <a:rPr lang="zh-CN" altLang="en-US" smtClean="0"/>
              <a:t>27</a:t>
            </a:fld>
            <a:endParaRPr lang="zh-CN" altLang="en-US"/>
          </a:p>
        </p:txBody>
      </p:sp>
      <p:pic>
        <p:nvPicPr>
          <p:cNvPr id="5" name="Picture 3">
            <a:extLst>
              <a:ext uri="{FF2B5EF4-FFF2-40B4-BE49-F238E27FC236}">
                <a16:creationId xmlns:a16="http://schemas.microsoft.com/office/drawing/2014/main" id="{510BF5F1-8B88-CD41-8C16-20A933819097}"/>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7029593" y="435319"/>
            <a:ext cx="1679553" cy="1679553"/>
          </a:xfrm>
          <a:prstGeom prst="ellipse">
            <a:avLst/>
          </a:prstGeom>
        </p:spPr>
      </p:pic>
      <p:sp>
        <p:nvSpPr>
          <p:cNvPr id="6" name="TextBox 4">
            <a:extLst>
              <a:ext uri="{FF2B5EF4-FFF2-40B4-BE49-F238E27FC236}">
                <a16:creationId xmlns:a16="http://schemas.microsoft.com/office/drawing/2014/main" id="{86E76F80-F3AA-9444-BF14-B76A9F16B997}"/>
              </a:ext>
            </a:extLst>
          </p:cNvPr>
          <p:cNvSpPr txBox="1"/>
          <p:nvPr/>
        </p:nvSpPr>
        <p:spPr>
          <a:xfrm>
            <a:off x="7013694" y="2137420"/>
            <a:ext cx="1734770" cy="338554"/>
          </a:xfrm>
          <a:prstGeom prst="rect">
            <a:avLst/>
          </a:prstGeom>
          <a:noFill/>
        </p:spPr>
        <p:txBody>
          <a:bodyPr wrap="none" rtlCol="0">
            <a:spAutoFit/>
          </a:bodyPr>
          <a:lstStyle/>
          <a:p>
            <a:pPr algn="ctr"/>
            <a:r>
              <a:rPr lang="en-US" sz="1600" b="1" dirty="0" err="1">
                <a:cs typeface="Helvetica Neue Light"/>
              </a:rPr>
              <a:t>Jochen</a:t>
            </a:r>
            <a:r>
              <a:rPr lang="en-US" sz="1600" b="1" dirty="0">
                <a:cs typeface="Helvetica Neue Light"/>
              </a:rPr>
              <a:t> </a:t>
            </a:r>
            <a:r>
              <a:rPr lang="en-US" sz="1600" b="1" dirty="0" err="1">
                <a:cs typeface="Helvetica Neue Light"/>
              </a:rPr>
              <a:t>Liedtke</a:t>
            </a:r>
            <a:r>
              <a:rPr lang="en-US" sz="1600" b="1" dirty="0">
                <a:cs typeface="Helvetica Neue Light"/>
              </a:rPr>
              <a:t> </a:t>
            </a:r>
          </a:p>
        </p:txBody>
      </p:sp>
    </p:spTree>
    <p:extLst>
      <p:ext uri="{BB962C8B-B14F-4D97-AF65-F5344CB8AC3E}">
        <p14:creationId xmlns:p14="http://schemas.microsoft.com/office/powerpoint/2010/main" val="13439687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9C5BC4-712E-E14B-A4F5-2D77CD8FA1C2}"/>
              </a:ext>
            </a:extLst>
          </p:cNvPr>
          <p:cNvSpPr>
            <a:spLocks noGrp="1"/>
          </p:cNvSpPr>
          <p:nvPr>
            <p:ph type="title"/>
          </p:nvPr>
        </p:nvSpPr>
        <p:spPr/>
        <p:txBody>
          <a:bodyPr>
            <a:normAutofit/>
          </a:bodyPr>
          <a:lstStyle/>
          <a:p>
            <a:pPr algn="just"/>
            <a:r>
              <a:rPr kumimoji="1" lang="en-US" altLang="zh-CN" dirty="0"/>
              <a:t>seL4</a:t>
            </a:r>
            <a:r>
              <a:rPr kumimoji="1" lang="zh-CN" altLang="en-US" dirty="0"/>
              <a:t>：被形式化证明的微内核</a:t>
            </a:r>
          </a:p>
        </p:txBody>
      </p:sp>
      <p:sp>
        <p:nvSpPr>
          <p:cNvPr id="3" name="内容占位符 2">
            <a:extLst>
              <a:ext uri="{FF2B5EF4-FFF2-40B4-BE49-F238E27FC236}">
                <a16:creationId xmlns:a16="http://schemas.microsoft.com/office/drawing/2014/main" id="{FD72B2F4-4B9B-A341-9E07-9A4F00DF3EB0}"/>
              </a:ext>
            </a:extLst>
          </p:cNvPr>
          <p:cNvSpPr>
            <a:spLocks noGrp="1"/>
          </p:cNvSpPr>
          <p:nvPr>
            <p:ph idx="1"/>
          </p:nvPr>
        </p:nvSpPr>
        <p:spPr>
          <a:xfrm>
            <a:off x="457200" y="1333500"/>
            <a:ext cx="8229600" cy="3963461"/>
          </a:xfrm>
        </p:spPr>
        <p:txBody>
          <a:bodyPr>
            <a:normAutofit/>
          </a:bodyPr>
          <a:lstStyle/>
          <a:p>
            <a:r>
              <a:rPr kumimoji="1" lang="zh-CN" altLang="en-US" sz="2400" dirty="0"/>
              <a:t>基于</a:t>
            </a:r>
            <a:r>
              <a:rPr kumimoji="1" lang="en-US" altLang="zh-CN" sz="2400" dirty="0"/>
              <a:t>L4</a:t>
            </a:r>
            <a:r>
              <a:rPr kumimoji="1" lang="zh-CN" altLang="en-US" sz="2400" dirty="0"/>
              <a:t>的微内核</a:t>
            </a:r>
            <a:endParaRPr kumimoji="1" lang="en-US" altLang="zh-CN" sz="2400" dirty="0"/>
          </a:p>
          <a:p>
            <a:r>
              <a:rPr kumimoji="1" lang="en-US" altLang="zh-CN" sz="2400" dirty="0"/>
              <a:t>IPC</a:t>
            </a:r>
            <a:r>
              <a:rPr kumimoji="1" lang="zh-CN" altLang="en-US" sz="2400" dirty="0"/>
              <a:t>机制：端点（</a:t>
            </a:r>
            <a:r>
              <a:rPr kumimoji="1" lang="en-US" altLang="zh-CN" sz="2400" dirty="0"/>
              <a:t>endpoint</a:t>
            </a:r>
            <a:r>
              <a:rPr kumimoji="1" lang="zh-CN" altLang="en-US" sz="2400" dirty="0"/>
              <a:t>）</a:t>
            </a:r>
            <a:endParaRPr kumimoji="1" lang="en-US" altLang="zh-CN" sz="2400" dirty="0"/>
          </a:p>
          <a:p>
            <a:pPr lvl="1"/>
            <a:r>
              <a:rPr kumimoji="1" lang="zh-CN" altLang="en-US" sz="2000" dirty="0"/>
              <a:t>通过</a:t>
            </a:r>
            <a:r>
              <a:rPr kumimoji="1" lang="en-US" altLang="zh-CN" sz="2000" dirty="0"/>
              <a:t>Capability</a:t>
            </a:r>
            <a:r>
              <a:rPr kumimoji="1" lang="zh-CN" altLang="en-US" sz="2000" dirty="0"/>
              <a:t>进行</a:t>
            </a:r>
            <a:r>
              <a:rPr kumimoji="1" lang="en-US" altLang="zh-CN" sz="2000" dirty="0"/>
              <a:t>IPC</a:t>
            </a:r>
            <a:r>
              <a:rPr kumimoji="1" lang="zh-CN" altLang="en-US" sz="2000" dirty="0"/>
              <a:t>的权限判断</a:t>
            </a:r>
            <a:endParaRPr kumimoji="1" lang="en-US" altLang="zh-CN" sz="2000" dirty="0"/>
          </a:p>
          <a:p>
            <a:pPr lvl="1"/>
            <a:r>
              <a:rPr kumimoji="1" lang="en-US" altLang="zh-CN" sz="2000" dirty="0"/>
              <a:t>Capability</a:t>
            </a:r>
            <a:r>
              <a:rPr kumimoji="1" lang="zh-CN" altLang="en-US" sz="2000" dirty="0"/>
              <a:t>可被复制和传输</a:t>
            </a:r>
            <a:endParaRPr kumimoji="1" lang="en-US" altLang="zh-CN" sz="2000" dirty="0"/>
          </a:p>
          <a:p>
            <a:r>
              <a:rPr kumimoji="1" lang="zh-CN" altLang="en-US" sz="2400" dirty="0"/>
              <a:t>第一个完成形式化验证的内核</a:t>
            </a:r>
            <a:endParaRPr kumimoji="1" lang="en-US" altLang="zh-CN" sz="2400" dirty="0"/>
          </a:p>
          <a:p>
            <a:pPr lvl="1"/>
            <a:r>
              <a:rPr kumimoji="1" lang="en-US" altLang="zh-CN" sz="2000" dirty="0"/>
              <a:t>8700</a:t>
            </a:r>
            <a:r>
              <a:rPr kumimoji="1" lang="zh-CN" altLang="en-US" sz="2000" dirty="0"/>
              <a:t>行</a:t>
            </a:r>
            <a:r>
              <a:rPr kumimoji="1" lang="en-US" altLang="zh-CN" sz="2000" dirty="0"/>
              <a:t>C</a:t>
            </a:r>
            <a:r>
              <a:rPr kumimoji="1" lang="zh-CN" altLang="en-US" sz="2000" dirty="0"/>
              <a:t>，</a:t>
            </a:r>
            <a:r>
              <a:rPr kumimoji="1" lang="en-US" altLang="zh-CN" sz="2000" dirty="0">
                <a:highlight>
                  <a:srgbClr val="FFFF00"/>
                </a:highlight>
              </a:rPr>
              <a:t>bug-free!</a:t>
            </a:r>
            <a:r>
              <a:rPr kumimoji="1" lang="zh-CN" altLang="en-US" sz="2000" dirty="0">
                <a:highlight>
                  <a:srgbClr val="FFFF00"/>
                </a:highlight>
              </a:rPr>
              <a:t> </a:t>
            </a:r>
            <a:endParaRPr kumimoji="1" lang="en-US" altLang="zh-CN" sz="2000" dirty="0"/>
          </a:p>
          <a:p>
            <a:pPr lvl="1"/>
            <a:r>
              <a:rPr kumimoji="1" lang="zh-CN" altLang="en-US" sz="2000" dirty="0"/>
              <a:t>没有缓冲区溢出、空指针等错误</a:t>
            </a:r>
            <a:endParaRPr kumimoji="1" lang="en-US" altLang="zh-CN" sz="2000" dirty="0"/>
          </a:p>
          <a:p>
            <a:pPr lvl="1"/>
            <a:r>
              <a:rPr kumimoji="1" lang="en-US" altLang="zh-CN" sz="2000" dirty="0"/>
              <a:t>bug</a:t>
            </a:r>
            <a:r>
              <a:rPr kumimoji="1" lang="zh-CN" altLang="en-US" sz="2000" dirty="0"/>
              <a:t>的定义：取决于</a:t>
            </a:r>
            <a:r>
              <a:rPr kumimoji="1" lang="en-US" altLang="zh-CN" sz="2000" dirty="0"/>
              <a:t>specification</a:t>
            </a:r>
            <a:endParaRPr kumimoji="1" lang="zh-CN" altLang="en-US" sz="2000" dirty="0"/>
          </a:p>
        </p:txBody>
      </p:sp>
      <p:sp>
        <p:nvSpPr>
          <p:cNvPr id="4" name="灯片编号占位符 3">
            <a:extLst>
              <a:ext uri="{FF2B5EF4-FFF2-40B4-BE49-F238E27FC236}">
                <a16:creationId xmlns:a16="http://schemas.microsoft.com/office/drawing/2014/main" id="{5B9F53E8-6230-7A42-BB17-B4C0BFAACE27}"/>
              </a:ext>
            </a:extLst>
          </p:cNvPr>
          <p:cNvSpPr>
            <a:spLocks noGrp="1"/>
          </p:cNvSpPr>
          <p:nvPr>
            <p:ph type="sldNum" sz="quarter" idx="12"/>
          </p:nvPr>
        </p:nvSpPr>
        <p:spPr/>
        <p:txBody>
          <a:bodyPr/>
          <a:lstStyle/>
          <a:p>
            <a:fld id="{ADE361C3-C043-4A6E-BDCE-8DA1E7D90A3B}" type="slidenum">
              <a:rPr lang="zh-CN" altLang="en-US" smtClean="0"/>
              <a:t>28</a:t>
            </a:fld>
            <a:endParaRPr lang="zh-CN" altLang="en-US"/>
          </a:p>
        </p:txBody>
      </p:sp>
      <p:pic>
        <p:nvPicPr>
          <p:cNvPr id="5" name="图片 4">
            <a:extLst>
              <a:ext uri="{FF2B5EF4-FFF2-40B4-BE49-F238E27FC236}">
                <a16:creationId xmlns:a16="http://schemas.microsoft.com/office/drawing/2014/main" id="{573BF179-BA21-FF4A-9EBB-9E308A530DD9}"/>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7080680" y="492060"/>
            <a:ext cx="1597546" cy="1597546"/>
          </a:xfrm>
          <a:prstGeom prst="ellipse">
            <a:avLst/>
          </a:prstGeom>
        </p:spPr>
      </p:pic>
      <p:sp>
        <p:nvSpPr>
          <p:cNvPr id="6" name="TextBox 4">
            <a:extLst>
              <a:ext uri="{FF2B5EF4-FFF2-40B4-BE49-F238E27FC236}">
                <a16:creationId xmlns:a16="http://schemas.microsoft.com/office/drawing/2014/main" id="{2529CBE3-55A0-9F4E-8357-F5AFAB08C7A4}"/>
              </a:ext>
            </a:extLst>
          </p:cNvPr>
          <p:cNvSpPr txBox="1"/>
          <p:nvPr/>
        </p:nvSpPr>
        <p:spPr>
          <a:xfrm>
            <a:off x="7109876" y="2137420"/>
            <a:ext cx="1542410" cy="338554"/>
          </a:xfrm>
          <a:prstGeom prst="rect">
            <a:avLst/>
          </a:prstGeom>
          <a:noFill/>
        </p:spPr>
        <p:txBody>
          <a:bodyPr wrap="none" rtlCol="0">
            <a:spAutoFit/>
          </a:bodyPr>
          <a:lstStyle/>
          <a:p>
            <a:pPr algn="ctr"/>
            <a:r>
              <a:rPr lang="en-US" altLang="zh-CN" sz="1600" b="1" dirty="0">
                <a:cs typeface="Helvetica Neue Light"/>
              </a:rPr>
              <a:t>Gernot</a:t>
            </a:r>
            <a:r>
              <a:rPr lang="zh-CN" altLang="en-US" sz="1600" b="1" dirty="0">
                <a:cs typeface="Helvetica Neue Light"/>
              </a:rPr>
              <a:t> </a:t>
            </a:r>
            <a:r>
              <a:rPr lang="en-US" altLang="zh-CN" sz="1600" b="1" dirty="0" err="1">
                <a:cs typeface="Helvetica Neue Light"/>
              </a:rPr>
              <a:t>Heiser</a:t>
            </a:r>
            <a:endParaRPr lang="en-US" sz="1600" b="1" dirty="0">
              <a:cs typeface="Helvetica Neue Light"/>
            </a:endParaRPr>
          </a:p>
        </p:txBody>
      </p:sp>
    </p:spTree>
    <p:extLst>
      <p:ext uri="{BB962C8B-B14F-4D97-AF65-F5344CB8AC3E}">
        <p14:creationId xmlns:p14="http://schemas.microsoft.com/office/powerpoint/2010/main" val="23532685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6567867-42DF-814E-8EF3-2364094408F0}"/>
              </a:ext>
            </a:extLst>
          </p:cNvPr>
          <p:cNvSpPr>
            <a:spLocks noGrp="1"/>
          </p:cNvSpPr>
          <p:nvPr>
            <p:ph type="title"/>
          </p:nvPr>
        </p:nvSpPr>
        <p:spPr/>
        <p:txBody>
          <a:bodyPr/>
          <a:lstStyle/>
          <a:p>
            <a:r>
              <a:rPr kumimoji="1" lang="en-US" altLang="zh-CN" dirty="0"/>
              <a:t>seL4</a:t>
            </a:r>
            <a:r>
              <a:rPr kumimoji="1" lang="zh-CN" altLang="en-US" dirty="0"/>
              <a:t>：被形式化证明的微内核</a:t>
            </a:r>
          </a:p>
        </p:txBody>
      </p:sp>
      <p:sp>
        <p:nvSpPr>
          <p:cNvPr id="4" name="灯片编号占位符 3">
            <a:extLst>
              <a:ext uri="{FF2B5EF4-FFF2-40B4-BE49-F238E27FC236}">
                <a16:creationId xmlns:a16="http://schemas.microsoft.com/office/drawing/2014/main" id="{AE506BD7-03C9-F147-A7AB-3187D4FA0D35}"/>
              </a:ext>
            </a:extLst>
          </p:cNvPr>
          <p:cNvSpPr>
            <a:spLocks noGrp="1"/>
          </p:cNvSpPr>
          <p:nvPr>
            <p:ph type="sldNum" sz="quarter" idx="12"/>
          </p:nvPr>
        </p:nvSpPr>
        <p:spPr/>
        <p:txBody>
          <a:bodyPr/>
          <a:lstStyle/>
          <a:p>
            <a:fld id="{ADE361C3-C043-4A6E-BDCE-8DA1E7D90A3B}" type="slidenum">
              <a:rPr lang="zh-CN" altLang="en-US" smtClean="0"/>
              <a:t>29</a:t>
            </a:fld>
            <a:endParaRPr lang="zh-CN" altLang="en-US"/>
          </a:p>
        </p:txBody>
      </p:sp>
      <p:pic>
        <p:nvPicPr>
          <p:cNvPr id="5" name="图片 4">
            <a:extLst>
              <a:ext uri="{FF2B5EF4-FFF2-40B4-BE49-F238E27FC236}">
                <a16:creationId xmlns:a16="http://schemas.microsoft.com/office/drawing/2014/main" id="{2EE565D2-8E6C-D64E-9A00-5A24D7C8F36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760625" y="1617124"/>
            <a:ext cx="5203863" cy="3076317"/>
          </a:xfrm>
          <a:prstGeom prst="rect">
            <a:avLst/>
          </a:prstGeom>
        </p:spPr>
      </p:pic>
      <p:sp>
        <p:nvSpPr>
          <p:cNvPr id="6" name="矩形 5">
            <a:extLst>
              <a:ext uri="{FF2B5EF4-FFF2-40B4-BE49-F238E27FC236}">
                <a16:creationId xmlns:a16="http://schemas.microsoft.com/office/drawing/2014/main" id="{222F2B94-FE94-1047-B96E-C3AFAEDC7D1C}"/>
              </a:ext>
            </a:extLst>
          </p:cNvPr>
          <p:cNvSpPr/>
          <p:nvPr/>
        </p:nvSpPr>
        <p:spPr>
          <a:xfrm>
            <a:off x="3951827" y="5296962"/>
            <a:ext cx="4572000" cy="276999"/>
          </a:xfrm>
          <a:prstGeom prst="rect">
            <a:avLst/>
          </a:prstGeom>
        </p:spPr>
        <p:txBody>
          <a:bodyPr>
            <a:spAutoFit/>
          </a:bodyPr>
          <a:lstStyle/>
          <a:p>
            <a:pPr algn="ctr"/>
            <a:r>
              <a:rPr lang="en" altLang="zh-CN" sz="1200" dirty="0">
                <a:solidFill>
                  <a:schemeClr val="tx1">
                    <a:lumMod val="50000"/>
                    <a:lumOff val="50000"/>
                  </a:schemeClr>
                </a:solidFill>
                <a:hlinkClick r:id="rId3">
                  <a:extLst>
                    <a:ext uri="{A12FA001-AC4F-418D-AE19-62706E023703}">
                      <ahyp:hlinkClr xmlns:ahyp="http://schemas.microsoft.com/office/drawing/2018/hyperlinkcolor" val="tx"/>
                    </a:ext>
                  </a:extLst>
                </a:hlinkClick>
              </a:rPr>
              <a:t>Comprehensive Formal Verification of an OS Microkernel</a:t>
            </a:r>
            <a:r>
              <a:rPr lang="en-US" altLang="zh-CN" sz="1200" dirty="0">
                <a:solidFill>
                  <a:schemeClr val="tx1">
                    <a:lumMod val="50000"/>
                    <a:lumOff val="50000"/>
                  </a:schemeClr>
                </a:solidFill>
              </a:rPr>
              <a:t>,</a:t>
            </a:r>
            <a:r>
              <a:rPr lang="zh-CN" altLang="en-US" sz="1200" dirty="0">
                <a:solidFill>
                  <a:schemeClr val="tx1">
                    <a:lumMod val="50000"/>
                    <a:lumOff val="50000"/>
                  </a:schemeClr>
                </a:solidFill>
              </a:rPr>
              <a:t> </a:t>
            </a:r>
            <a:r>
              <a:rPr lang="en-US" altLang="zh-CN" sz="1200" dirty="0">
                <a:solidFill>
                  <a:schemeClr val="tx1">
                    <a:lumMod val="50000"/>
                    <a:lumOff val="50000"/>
                  </a:schemeClr>
                </a:solidFill>
              </a:rPr>
              <a:t>2004</a:t>
            </a:r>
            <a:endParaRPr lang="zh-CN" altLang="en-US" sz="1200" dirty="0">
              <a:solidFill>
                <a:schemeClr val="tx1">
                  <a:lumMod val="50000"/>
                  <a:lumOff val="50000"/>
                </a:schemeClr>
              </a:solidFill>
            </a:endParaRPr>
          </a:p>
        </p:txBody>
      </p:sp>
      <p:sp>
        <p:nvSpPr>
          <p:cNvPr id="7" name="内容占位符 2">
            <a:extLst>
              <a:ext uri="{FF2B5EF4-FFF2-40B4-BE49-F238E27FC236}">
                <a16:creationId xmlns:a16="http://schemas.microsoft.com/office/drawing/2014/main" id="{8821BFFD-D59F-1248-8C9C-260EAEC831F9}"/>
              </a:ext>
            </a:extLst>
          </p:cNvPr>
          <p:cNvSpPr>
            <a:spLocks noGrp="1"/>
          </p:cNvSpPr>
          <p:nvPr>
            <p:ph idx="1"/>
          </p:nvPr>
        </p:nvSpPr>
        <p:spPr>
          <a:xfrm>
            <a:off x="457200" y="1333501"/>
            <a:ext cx="8229600" cy="3771636"/>
          </a:xfrm>
        </p:spPr>
        <p:txBody>
          <a:bodyPr>
            <a:normAutofit/>
          </a:bodyPr>
          <a:lstStyle/>
          <a:p>
            <a:r>
              <a:rPr kumimoji="1" lang="zh-CN" altLang="en-US" sz="2400" dirty="0"/>
              <a:t>对</a:t>
            </a:r>
            <a:r>
              <a:rPr kumimoji="1" lang="en-US" altLang="zh-CN" sz="2400" dirty="0"/>
              <a:t>C</a:t>
            </a:r>
            <a:r>
              <a:rPr kumimoji="1" lang="zh-CN" altLang="en-US" sz="2400" dirty="0"/>
              <a:t>的限制，以方便验证</a:t>
            </a:r>
            <a:endParaRPr kumimoji="1" lang="en-US" altLang="zh-CN" sz="2400" dirty="0"/>
          </a:p>
          <a:p>
            <a:pPr lvl="1"/>
            <a:r>
              <a:rPr kumimoji="1" lang="zh-CN" altLang="en-US" sz="2000" dirty="0"/>
              <a:t>栈变量不得取引用</a:t>
            </a:r>
            <a:br>
              <a:rPr kumimoji="1" lang="en-US" altLang="zh-CN" sz="2000" dirty="0"/>
            </a:br>
            <a:r>
              <a:rPr kumimoji="1" lang="zh-CN" altLang="en-US" sz="2000" dirty="0"/>
              <a:t>必要时用全局变量</a:t>
            </a:r>
            <a:endParaRPr kumimoji="1" lang="en-US" altLang="zh-CN" sz="2000" dirty="0"/>
          </a:p>
          <a:p>
            <a:pPr lvl="1"/>
            <a:r>
              <a:rPr kumimoji="1" lang="zh-CN" altLang="en-US" sz="2000" dirty="0"/>
              <a:t>不使用函数指针</a:t>
            </a:r>
            <a:endParaRPr kumimoji="1" lang="en-US" altLang="zh-CN" sz="2000" dirty="0"/>
          </a:p>
          <a:p>
            <a:pPr lvl="1"/>
            <a:r>
              <a:rPr kumimoji="1" lang="zh-CN" altLang="en-US" sz="2000" dirty="0"/>
              <a:t>不使用</a:t>
            </a:r>
            <a:r>
              <a:rPr kumimoji="1" lang="en-US" altLang="zh-CN" sz="2000" dirty="0"/>
              <a:t>union</a:t>
            </a:r>
          </a:p>
          <a:p>
            <a:r>
              <a:rPr kumimoji="1" lang="zh-CN" altLang="en-US" sz="2200" dirty="0"/>
              <a:t>用</a:t>
            </a:r>
            <a:r>
              <a:rPr kumimoji="1" lang="en-US" altLang="zh-CN" sz="2200" dirty="0"/>
              <a:t>Haskell</a:t>
            </a:r>
            <a:r>
              <a:rPr kumimoji="1" lang="zh-CN" altLang="en-US" sz="2200" dirty="0"/>
              <a:t>构造原型</a:t>
            </a:r>
            <a:endParaRPr kumimoji="1" lang="en-US" altLang="zh-CN" sz="2200" dirty="0"/>
          </a:p>
          <a:p>
            <a:pPr lvl="1"/>
            <a:r>
              <a:rPr kumimoji="1" lang="zh-CN" altLang="en-US" sz="2000" dirty="0"/>
              <a:t>用于验证</a:t>
            </a:r>
            <a:endParaRPr kumimoji="1" lang="en-US" altLang="zh-CN" sz="2000" dirty="0"/>
          </a:p>
          <a:p>
            <a:pPr lvl="1"/>
            <a:r>
              <a:rPr kumimoji="1" lang="zh-CN" altLang="en-US" sz="2000" dirty="0"/>
              <a:t>再手动转换为</a:t>
            </a:r>
            <a:r>
              <a:rPr kumimoji="1" lang="en-US" altLang="zh-CN" sz="2000" dirty="0"/>
              <a:t>C</a:t>
            </a:r>
          </a:p>
        </p:txBody>
      </p:sp>
    </p:spTree>
    <p:extLst>
      <p:ext uri="{BB962C8B-B14F-4D97-AF65-F5344CB8AC3E}">
        <p14:creationId xmlns:p14="http://schemas.microsoft.com/office/powerpoint/2010/main" val="31306390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8A9ECE-24F4-4E40-BDF9-DA8428BECCA5}"/>
              </a:ext>
            </a:extLst>
          </p:cNvPr>
          <p:cNvSpPr>
            <a:spLocks noGrp="1"/>
          </p:cNvSpPr>
          <p:nvPr>
            <p:ph type="title"/>
          </p:nvPr>
        </p:nvSpPr>
        <p:spPr/>
        <p:txBody>
          <a:bodyPr/>
          <a:lstStyle/>
          <a:p>
            <a:r>
              <a:rPr kumimoji="1" lang="en-US" altLang="zh-CN" dirty="0"/>
              <a:t>QNX</a:t>
            </a:r>
            <a:r>
              <a:rPr kumimoji="1" lang="zh-CN" altLang="en-US" dirty="0"/>
              <a:t> </a:t>
            </a:r>
            <a:r>
              <a:rPr kumimoji="1" lang="en-US" altLang="zh-CN" dirty="0"/>
              <a:t>Neutrino</a:t>
            </a:r>
            <a:endParaRPr kumimoji="1" lang="zh-CN" altLang="en-US" dirty="0"/>
          </a:p>
        </p:txBody>
      </p:sp>
      <p:sp>
        <p:nvSpPr>
          <p:cNvPr id="3" name="内容占位符 2">
            <a:extLst>
              <a:ext uri="{FF2B5EF4-FFF2-40B4-BE49-F238E27FC236}">
                <a16:creationId xmlns:a16="http://schemas.microsoft.com/office/drawing/2014/main" id="{F86ED430-66E0-5147-8D94-4460F2790341}"/>
              </a:ext>
            </a:extLst>
          </p:cNvPr>
          <p:cNvSpPr>
            <a:spLocks noGrp="1"/>
          </p:cNvSpPr>
          <p:nvPr>
            <p:ph idx="1"/>
          </p:nvPr>
        </p:nvSpPr>
        <p:spPr/>
        <p:txBody>
          <a:bodyPr>
            <a:normAutofit/>
          </a:bodyPr>
          <a:lstStyle/>
          <a:p>
            <a:r>
              <a:rPr kumimoji="1" lang="en-US" altLang="zh-CN" sz="2400" dirty="0"/>
              <a:t>QNX</a:t>
            </a:r>
            <a:r>
              <a:rPr kumimoji="1" lang="zh-CN" altLang="en-US" sz="2400" dirty="0"/>
              <a:t>：</a:t>
            </a:r>
            <a:r>
              <a:rPr kumimoji="1" lang="en-US" altLang="zh-CN" sz="2400" dirty="0"/>
              <a:t>Quick</a:t>
            </a:r>
            <a:r>
              <a:rPr kumimoji="1" lang="zh-CN" altLang="en-US" sz="2400" dirty="0"/>
              <a:t> </a:t>
            </a:r>
            <a:r>
              <a:rPr kumimoji="1" lang="en-US" altLang="zh-CN" sz="2400" dirty="0"/>
              <a:t>UNIX</a:t>
            </a:r>
          </a:p>
          <a:p>
            <a:pPr lvl="1"/>
            <a:r>
              <a:rPr kumimoji="1" lang="zh-CN" altLang="en-US" sz="2000" dirty="0"/>
              <a:t>使用</a:t>
            </a:r>
            <a:r>
              <a:rPr kumimoji="1" lang="en-US" altLang="zh-CN" sz="2000" dirty="0"/>
              <a:t>Neutrino</a:t>
            </a:r>
            <a:r>
              <a:rPr kumimoji="1" lang="zh-CN" altLang="en-US" sz="2000" dirty="0"/>
              <a:t>微内核</a:t>
            </a:r>
            <a:endParaRPr kumimoji="1" lang="en-US" altLang="zh-CN" sz="2000" dirty="0"/>
          </a:p>
          <a:p>
            <a:pPr lvl="1"/>
            <a:r>
              <a:rPr kumimoji="1" lang="en-US" altLang="zh-CN" sz="2000" dirty="0"/>
              <a:t>1980</a:t>
            </a:r>
            <a:r>
              <a:rPr kumimoji="1" lang="zh-CN" altLang="en-US" sz="2000" dirty="0"/>
              <a:t>年发布</a:t>
            </a:r>
            <a:endParaRPr kumimoji="1" lang="en-US" altLang="zh-CN" sz="2000" dirty="0"/>
          </a:p>
          <a:p>
            <a:pPr lvl="1"/>
            <a:r>
              <a:rPr kumimoji="1" lang="en-US" altLang="zh-CN" sz="2000" dirty="0"/>
              <a:t>2004</a:t>
            </a:r>
            <a:r>
              <a:rPr kumimoji="1" lang="zh-CN" altLang="en-US" sz="2000" dirty="0"/>
              <a:t>年被</a:t>
            </a:r>
            <a:r>
              <a:rPr kumimoji="1" lang="en-US" altLang="zh-CN" sz="2000" dirty="0"/>
              <a:t>Harman</a:t>
            </a:r>
            <a:r>
              <a:rPr kumimoji="1" lang="zh-CN" altLang="en-US" sz="2000" dirty="0"/>
              <a:t>国际收购</a:t>
            </a:r>
            <a:endParaRPr kumimoji="1" lang="en-US" altLang="zh-CN" sz="2000" dirty="0"/>
          </a:p>
          <a:p>
            <a:pPr lvl="1"/>
            <a:r>
              <a:rPr kumimoji="1" lang="en-US" altLang="zh-CN" sz="2000" dirty="0"/>
              <a:t>2010</a:t>
            </a:r>
            <a:r>
              <a:rPr kumimoji="1" lang="zh-CN" altLang="en-US" sz="2000" dirty="0"/>
              <a:t>被黑莓收购</a:t>
            </a:r>
            <a:endParaRPr kumimoji="1" lang="en-US" altLang="zh-CN" sz="2000" dirty="0"/>
          </a:p>
          <a:p>
            <a:r>
              <a:rPr kumimoji="1" lang="zh-CN" altLang="en-US" sz="2400" dirty="0"/>
              <a:t>满足实时要求</a:t>
            </a:r>
            <a:endParaRPr kumimoji="1" lang="en-US" altLang="zh-CN" sz="2400" dirty="0"/>
          </a:p>
          <a:p>
            <a:pPr lvl="1"/>
            <a:r>
              <a:rPr kumimoji="1" lang="zh-CN" altLang="en-US" sz="2000" dirty="0"/>
              <a:t>广泛用于交通、能源、医疗、航天航空领域，如波音</a:t>
            </a:r>
          </a:p>
        </p:txBody>
      </p:sp>
      <p:sp>
        <p:nvSpPr>
          <p:cNvPr id="4" name="灯片编号占位符 3">
            <a:extLst>
              <a:ext uri="{FF2B5EF4-FFF2-40B4-BE49-F238E27FC236}">
                <a16:creationId xmlns:a16="http://schemas.microsoft.com/office/drawing/2014/main" id="{B669E4BF-B437-AF46-9519-3F484E2D4BC7}"/>
              </a:ext>
            </a:extLst>
          </p:cNvPr>
          <p:cNvSpPr>
            <a:spLocks noGrp="1"/>
          </p:cNvSpPr>
          <p:nvPr>
            <p:ph type="sldNum" sz="quarter" idx="12"/>
          </p:nvPr>
        </p:nvSpPr>
        <p:spPr/>
        <p:txBody>
          <a:bodyPr/>
          <a:lstStyle/>
          <a:p>
            <a:fld id="{ADE361C3-C043-4A6E-BDCE-8DA1E7D90A3B}" type="slidenum">
              <a:rPr lang="zh-CN" altLang="en-US" smtClean="0"/>
              <a:t>30</a:t>
            </a:fld>
            <a:endParaRPr lang="zh-CN" altLang="en-US"/>
          </a:p>
        </p:txBody>
      </p:sp>
      <p:pic>
        <p:nvPicPr>
          <p:cNvPr id="5" name="图片 4">
            <a:extLst>
              <a:ext uri="{FF2B5EF4-FFF2-40B4-BE49-F238E27FC236}">
                <a16:creationId xmlns:a16="http://schemas.microsoft.com/office/drawing/2014/main" id="{F460C978-DF77-CA47-BBD3-2DAE27F1EFE4}"/>
              </a:ext>
            </a:extLst>
          </p:cNvPr>
          <p:cNvPicPr>
            <a:picLocks noChangeAspect="1"/>
          </p:cNvPicPr>
          <p:nvPr/>
        </p:nvPicPr>
        <p:blipFill>
          <a:blip r:embed="rId2"/>
          <a:stretch>
            <a:fillRect/>
          </a:stretch>
        </p:blipFill>
        <p:spPr>
          <a:xfrm>
            <a:off x="5004048" y="696867"/>
            <a:ext cx="3682752" cy="3078403"/>
          </a:xfrm>
          <a:prstGeom prst="rect">
            <a:avLst/>
          </a:prstGeom>
        </p:spPr>
      </p:pic>
      <p:sp>
        <p:nvSpPr>
          <p:cNvPr id="6" name="矩形 5">
            <a:extLst>
              <a:ext uri="{FF2B5EF4-FFF2-40B4-BE49-F238E27FC236}">
                <a16:creationId xmlns:a16="http://schemas.microsoft.com/office/drawing/2014/main" id="{54F75805-3ADB-FF44-B02E-9E2084BD3B36}"/>
              </a:ext>
            </a:extLst>
          </p:cNvPr>
          <p:cNvSpPr/>
          <p:nvPr/>
        </p:nvSpPr>
        <p:spPr>
          <a:xfrm>
            <a:off x="6168964" y="5286027"/>
            <a:ext cx="1787412" cy="307777"/>
          </a:xfrm>
          <a:prstGeom prst="rect">
            <a:avLst/>
          </a:prstGeom>
        </p:spPr>
        <p:txBody>
          <a:bodyPr wrap="none">
            <a:spAutoFit/>
          </a:bodyPr>
          <a:lstStyle/>
          <a:p>
            <a:pPr algn="ctr"/>
            <a:r>
              <a:rPr lang="en" altLang="zh-CN" sz="1400" dirty="0">
                <a:solidFill>
                  <a:schemeClr val="tx1">
                    <a:lumMod val="50000"/>
                    <a:lumOff val="50000"/>
                  </a:schemeClr>
                </a:solidFill>
                <a:hlinkClick r:id="rId3">
                  <a:extLst>
                    <a:ext uri="{A12FA001-AC4F-418D-AE19-62706E023703}">
                      <ahyp:hlinkClr xmlns:ahyp="http://schemas.microsoft.com/office/drawing/2018/hyperlinkcolor" val="tx"/>
                    </a:ext>
                  </a:extLst>
                </a:hlinkClick>
              </a:rPr>
              <a:t>http://www.qnx.com/</a:t>
            </a:r>
            <a:endParaRPr lang="zh-CN" altLang="en-US" sz="1400" dirty="0">
              <a:solidFill>
                <a:schemeClr val="tx1">
                  <a:lumMod val="50000"/>
                  <a:lumOff val="50000"/>
                </a:schemeClr>
              </a:solidFill>
            </a:endParaRPr>
          </a:p>
        </p:txBody>
      </p:sp>
    </p:spTree>
    <p:extLst>
      <p:ext uri="{BB962C8B-B14F-4D97-AF65-F5344CB8AC3E}">
        <p14:creationId xmlns:p14="http://schemas.microsoft.com/office/powerpoint/2010/main" val="27833524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473970-C605-904F-B20B-CCA669687E68}"/>
              </a:ext>
            </a:extLst>
          </p:cNvPr>
          <p:cNvSpPr>
            <a:spLocks noGrp="1"/>
          </p:cNvSpPr>
          <p:nvPr>
            <p:ph type="title"/>
          </p:nvPr>
        </p:nvSpPr>
        <p:spPr/>
        <p:txBody>
          <a:bodyPr/>
          <a:lstStyle/>
          <a:p>
            <a:r>
              <a:rPr kumimoji="1" lang="en-US" altLang="zh-CN" dirty="0"/>
              <a:t>Google</a:t>
            </a:r>
            <a:r>
              <a:rPr kumimoji="1" lang="zh-CN" altLang="en-US" dirty="0"/>
              <a:t> </a:t>
            </a:r>
            <a:r>
              <a:rPr kumimoji="1" lang="en-US" altLang="zh-CN" dirty="0"/>
              <a:t>Fuchsia</a:t>
            </a:r>
            <a:endParaRPr kumimoji="1" lang="zh-CN" altLang="en-US" dirty="0"/>
          </a:p>
        </p:txBody>
      </p:sp>
      <p:sp>
        <p:nvSpPr>
          <p:cNvPr id="3" name="内容占位符 2">
            <a:extLst>
              <a:ext uri="{FF2B5EF4-FFF2-40B4-BE49-F238E27FC236}">
                <a16:creationId xmlns:a16="http://schemas.microsoft.com/office/drawing/2014/main" id="{F46CC603-B2A4-F146-B0C7-E32C3D303794}"/>
              </a:ext>
            </a:extLst>
          </p:cNvPr>
          <p:cNvSpPr>
            <a:spLocks noGrp="1"/>
          </p:cNvSpPr>
          <p:nvPr>
            <p:ph idx="1"/>
          </p:nvPr>
        </p:nvSpPr>
        <p:spPr/>
        <p:txBody>
          <a:bodyPr>
            <a:normAutofit/>
          </a:bodyPr>
          <a:lstStyle/>
          <a:p>
            <a:r>
              <a:rPr kumimoji="1" lang="en-US" altLang="zh-CN" sz="2400" dirty="0"/>
              <a:t>Google</a:t>
            </a:r>
            <a:r>
              <a:rPr kumimoji="1" lang="zh-CN" altLang="en-US" sz="2400" dirty="0"/>
              <a:t>开发的全新</a:t>
            </a:r>
            <a:r>
              <a:rPr kumimoji="1" lang="en-US" altLang="zh-CN" sz="2400" dirty="0"/>
              <a:t>OS</a:t>
            </a:r>
          </a:p>
          <a:p>
            <a:pPr lvl="1"/>
            <a:r>
              <a:rPr kumimoji="1" lang="zh-CN" altLang="en-US" sz="2000" dirty="0"/>
              <a:t>试图覆盖多个领域，</a:t>
            </a:r>
            <a:br>
              <a:rPr kumimoji="1" lang="en-US" altLang="zh-CN" sz="2000" dirty="0"/>
            </a:br>
            <a:r>
              <a:rPr kumimoji="1" lang="zh-CN" altLang="en-US" sz="2000" dirty="0"/>
              <a:t>用途尚未完全宣布</a:t>
            </a:r>
            <a:endParaRPr kumimoji="1" lang="en-US" altLang="zh-CN" sz="2000" dirty="0"/>
          </a:p>
          <a:p>
            <a:r>
              <a:rPr kumimoji="1" lang="zh-CN" altLang="en-US" sz="2400" dirty="0"/>
              <a:t>使用</a:t>
            </a:r>
            <a:r>
              <a:rPr kumimoji="1" lang="en-US" altLang="zh-CN" sz="2400" dirty="0"/>
              <a:t>Zircon</a:t>
            </a:r>
            <a:r>
              <a:rPr kumimoji="1" lang="zh-CN" altLang="en-US" sz="2400" dirty="0"/>
              <a:t>微内核</a:t>
            </a:r>
            <a:endParaRPr kumimoji="1" lang="en-US" altLang="zh-CN" sz="2400" dirty="0"/>
          </a:p>
          <a:p>
            <a:pPr lvl="1"/>
            <a:r>
              <a:rPr kumimoji="1" lang="zh-CN" altLang="en-US" sz="2000" dirty="0"/>
              <a:t>仅提供</a:t>
            </a:r>
            <a:r>
              <a:rPr kumimoji="1" lang="en-US" altLang="zh-CN" sz="2000" dirty="0"/>
              <a:t>IPC</a:t>
            </a:r>
            <a:r>
              <a:rPr kumimoji="1" lang="zh-CN" altLang="en-US" sz="2000" dirty="0"/>
              <a:t>、进程管理、</a:t>
            </a:r>
            <a:br>
              <a:rPr kumimoji="1" lang="en-US" altLang="zh-CN" sz="2000" dirty="0"/>
            </a:br>
            <a:r>
              <a:rPr kumimoji="1" lang="zh-CN" altLang="en-US" sz="2000" dirty="0"/>
              <a:t>地址空间管理等功能</a:t>
            </a:r>
            <a:endParaRPr kumimoji="1" lang="en-US" altLang="zh-CN" sz="2000" dirty="0"/>
          </a:p>
          <a:p>
            <a:pPr lvl="1"/>
            <a:endParaRPr kumimoji="1" lang="zh-CN" altLang="en-US" sz="2000" dirty="0"/>
          </a:p>
        </p:txBody>
      </p:sp>
      <p:sp>
        <p:nvSpPr>
          <p:cNvPr id="4" name="灯片编号占位符 3">
            <a:extLst>
              <a:ext uri="{FF2B5EF4-FFF2-40B4-BE49-F238E27FC236}">
                <a16:creationId xmlns:a16="http://schemas.microsoft.com/office/drawing/2014/main" id="{2E3869EF-3F4B-5141-8A34-29581190D5E5}"/>
              </a:ext>
            </a:extLst>
          </p:cNvPr>
          <p:cNvSpPr>
            <a:spLocks noGrp="1"/>
          </p:cNvSpPr>
          <p:nvPr>
            <p:ph type="sldNum" sz="quarter" idx="12"/>
          </p:nvPr>
        </p:nvSpPr>
        <p:spPr/>
        <p:txBody>
          <a:bodyPr/>
          <a:lstStyle/>
          <a:p>
            <a:fld id="{ADE361C3-C043-4A6E-BDCE-8DA1E7D90A3B}" type="slidenum">
              <a:rPr lang="zh-CN" altLang="en-US" smtClean="0"/>
              <a:t>31</a:t>
            </a:fld>
            <a:endParaRPr lang="zh-CN" altLang="en-US"/>
          </a:p>
        </p:txBody>
      </p:sp>
      <p:pic>
        <p:nvPicPr>
          <p:cNvPr id="2050" name="Picture 2" descr="Google Fuchsia OS - Everything We Know So Far | VT Netzwelt">
            <a:extLst>
              <a:ext uri="{FF2B5EF4-FFF2-40B4-BE49-F238E27FC236}">
                <a16:creationId xmlns:a16="http://schemas.microsoft.com/office/drawing/2014/main" id="{2AE1FD0B-D7EB-344E-92AC-F18B00E24BFA}"/>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4256348" y="1444864"/>
            <a:ext cx="4593704" cy="24865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52944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F43E49A-9369-B348-A3D5-58CDC6908344}"/>
              </a:ext>
            </a:extLst>
          </p:cNvPr>
          <p:cNvSpPr>
            <a:spLocks noGrp="1"/>
          </p:cNvSpPr>
          <p:nvPr>
            <p:ph type="title"/>
          </p:nvPr>
        </p:nvSpPr>
        <p:spPr/>
        <p:txBody>
          <a:bodyPr/>
          <a:lstStyle/>
          <a:p>
            <a:r>
              <a:rPr kumimoji="1" lang="en-US" altLang="zh-CN" dirty="0"/>
              <a:t>MINIX</a:t>
            </a:r>
            <a:endParaRPr kumimoji="1" lang="zh-CN" altLang="en-US" dirty="0"/>
          </a:p>
        </p:txBody>
      </p:sp>
      <p:sp>
        <p:nvSpPr>
          <p:cNvPr id="3" name="内容占位符 2">
            <a:extLst>
              <a:ext uri="{FF2B5EF4-FFF2-40B4-BE49-F238E27FC236}">
                <a16:creationId xmlns:a16="http://schemas.microsoft.com/office/drawing/2014/main" id="{B4396D4A-D258-9A43-A689-7C65E968E7C9}"/>
              </a:ext>
            </a:extLst>
          </p:cNvPr>
          <p:cNvSpPr>
            <a:spLocks noGrp="1"/>
          </p:cNvSpPr>
          <p:nvPr>
            <p:ph idx="1"/>
          </p:nvPr>
        </p:nvSpPr>
        <p:spPr/>
        <p:txBody>
          <a:bodyPr>
            <a:normAutofit/>
          </a:bodyPr>
          <a:lstStyle/>
          <a:p>
            <a:r>
              <a:rPr kumimoji="1" lang="zh-CN" altLang="en-US" sz="2400" dirty="0"/>
              <a:t>教学用的微内核</a:t>
            </a:r>
            <a:endParaRPr kumimoji="1" lang="en-US" altLang="zh-CN" sz="2400" dirty="0"/>
          </a:p>
          <a:p>
            <a:pPr lvl="1"/>
            <a:r>
              <a:rPr kumimoji="1" lang="zh-CN" altLang="en-US" sz="2000" dirty="0"/>
              <a:t>阿姆斯特丹自由大学，</a:t>
            </a:r>
            <a:r>
              <a:rPr kumimoji="1" lang="en-US" altLang="zh-CN" sz="2000" dirty="0"/>
              <a:t>Andrew</a:t>
            </a:r>
            <a:r>
              <a:rPr kumimoji="1" lang="zh-CN" altLang="en-US" sz="2000" dirty="0"/>
              <a:t> </a:t>
            </a:r>
            <a:r>
              <a:rPr kumimoji="1" lang="en-US" altLang="zh-CN" sz="2000" dirty="0"/>
              <a:t>Tanenbaum</a:t>
            </a:r>
            <a:r>
              <a:rPr kumimoji="1" lang="zh-CN" altLang="en-US" sz="2000" dirty="0"/>
              <a:t>教授</a:t>
            </a:r>
            <a:endParaRPr kumimoji="1" lang="en-US" altLang="zh-CN" sz="2000" dirty="0"/>
          </a:p>
          <a:p>
            <a:r>
              <a:rPr kumimoji="1" lang="zh-CN" altLang="en-US" sz="2400" dirty="0"/>
              <a:t>被用于</a:t>
            </a:r>
            <a:r>
              <a:rPr kumimoji="1" lang="en-US" altLang="zh-CN" sz="2400" dirty="0"/>
              <a:t>Intel</a:t>
            </a:r>
            <a:r>
              <a:rPr kumimoji="1" lang="zh-CN" altLang="en-US" sz="2400" dirty="0"/>
              <a:t>的</a:t>
            </a:r>
            <a:r>
              <a:rPr kumimoji="1" lang="en-US" altLang="zh-CN" sz="2400" dirty="0"/>
              <a:t>ME</a:t>
            </a:r>
            <a:r>
              <a:rPr kumimoji="1" lang="zh-CN" altLang="en-US" sz="2400" dirty="0"/>
              <a:t>模块</a:t>
            </a:r>
            <a:endParaRPr kumimoji="1" lang="en-US" altLang="zh-CN" sz="2400" dirty="0"/>
          </a:p>
          <a:p>
            <a:pPr lvl="1"/>
            <a:r>
              <a:rPr kumimoji="1" lang="zh-CN" altLang="en-US" sz="2000" dirty="0"/>
              <a:t>也许是世界上用的最多的操作系统</a:t>
            </a:r>
            <a:r>
              <a:rPr kumimoji="1" lang="en-US" altLang="zh-CN" sz="2000" dirty="0"/>
              <a:t>...</a:t>
            </a:r>
            <a:endParaRPr kumimoji="1" lang="zh-CN" altLang="en-US" sz="2000" dirty="0"/>
          </a:p>
        </p:txBody>
      </p:sp>
      <p:sp>
        <p:nvSpPr>
          <p:cNvPr id="4" name="灯片编号占位符 3">
            <a:extLst>
              <a:ext uri="{FF2B5EF4-FFF2-40B4-BE49-F238E27FC236}">
                <a16:creationId xmlns:a16="http://schemas.microsoft.com/office/drawing/2014/main" id="{74E40803-EE7D-0945-88AA-7839F0A9301F}"/>
              </a:ext>
            </a:extLst>
          </p:cNvPr>
          <p:cNvSpPr>
            <a:spLocks noGrp="1"/>
          </p:cNvSpPr>
          <p:nvPr>
            <p:ph type="sldNum" sz="quarter" idx="12"/>
          </p:nvPr>
        </p:nvSpPr>
        <p:spPr/>
        <p:txBody>
          <a:bodyPr/>
          <a:lstStyle/>
          <a:p>
            <a:fld id="{ADE361C3-C043-4A6E-BDCE-8DA1E7D90A3B}" type="slidenum">
              <a:rPr lang="zh-CN" altLang="en-US" smtClean="0"/>
              <a:t>32</a:t>
            </a:fld>
            <a:endParaRPr lang="zh-CN" altLang="en-US"/>
          </a:p>
        </p:txBody>
      </p:sp>
      <p:pic>
        <p:nvPicPr>
          <p:cNvPr id="5" name="图片 4">
            <a:extLst>
              <a:ext uri="{FF2B5EF4-FFF2-40B4-BE49-F238E27FC236}">
                <a16:creationId xmlns:a16="http://schemas.microsoft.com/office/drawing/2014/main" id="{A4FD23F8-90F4-A44A-9CEA-999F6D6CE547}"/>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6795170" y="677838"/>
            <a:ext cx="1623021" cy="1623021"/>
          </a:xfrm>
          <a:prstGeom prst="ellipse">
            <a:avLst/>
          </a:prstGeom>
        </p:spPr>
      </p:pic>
      <p:sp>
        <p:nvSpPr>
          <p:cNvPr id="6" name="矩形 5">
            <a:extLst>
              <a:ext uri="{FF2B5EF4-FFF2-40B4-BE49-F238E27FC236}">
                <a16:creationId xmlns:a16="http://schemas.microsoft.com/office/drawing/2014/main" id="{188D5153-9A74-854B-B709-E07695C2C3FF}"/>
              </a:ext>
            </a:extLst>
          </p:cNvPr>
          <p:cNvSpPr/>
          <p:nvPr/>
        </p:nvSpPr>
        <p:spPr>
          <a:xfrm>
            <a:off x="6420041" y="2416160"/>
            <a:ext cx="2373278" cy="369332"/>
          </a:xfrm>
          <a:prstGeom prst="rect">
            <a:avLst/>
          </a:prstGeom>
        </p:spPr>
        <p:txBody>
          <a:bodyPr wrap="none">
            <a:spAutoFit/>
          </a:bodyPr>
          <a:lstStyle/>
          <a:p>
            <a:pPr algn="ctr"/>
            <a:r>
              <a:rPr kumimoji="1" lang="en-US" altLang="zh-CN" b="1" dirty="0"/>
              <a:t>Andrew</a:t>
            </a:r>
            <a:r>
              <a:rPr kumimoji="1" lang="zh-CN" altLang="en-US" b="1" dirty="0"/>
              <a:t> </a:t>
            </a:r>
            <a:r>
              <a:rPr kumimoji="1" lang="en-US" altLang="zh-CN" b="1" dirty="0"/>
              <a:t>Tanenbaum</a:t>
            </a:r>
            <a:endParaRPr lang="zh-CN" altLang="en-US" b="1" dirty="0"/>
          </a:p>
        </p:txBody>
      </p:sp>
      <p:pic>
        <p:nvPicPr>
          <p:cNvPr id="7" name="图片 6">
            <a:extLst>
              <a:ext uri="{FF2B5EF4-FFF2-40B4-BE49-F238E27FC236}">
                <a16:creationId xmlns:a16="http://schemas.microsoft.com/office/drawing/2014/main" id="{D4D0DAA0-ECAA-2340-8F5E-91CDD4702C9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31286" y="3491127"/>
            <a:ext cx="7281428" cy="1678910"/>
          </a:xfrm>
          <a:prstGeom prst="rect">
            <a:avLst/>
          </a:prstGeom>
        </p:spPr>
      </p:pic>
      <p:sp>
        <p:nvSpPr>
          <p:cNvPr id="8" name="矩形 7">
            <a:extLst>
              <a:ext uri="{FF2B5EF4-FFF2-40B4-BE49-F238E27FC236}">
                <a16:creationId xmlns:a16="http://schemas.microsoft.com/office/drawing/2014/main" id="{3DE95891-02B1-F04C-BB6F-EAA5B472E8E7}"/>
              </a:ext>
            </a:extLst>
          </p:cNvPr>
          <p:cNvSpPr/>
          <p:nvPr/>
        </p:nvSpPr>
        <p:spPr>
          <a:xfrm>
            <a:off x="1025629" y="5305772"/>
            <a:ext cx="6606480" cy="307777"/>
          </a:xfrm>
          <a:prstGeom prst="rect">
            <a:avLst/>
          </a:prstGeom>
        </p:spPr>
        <p:txBody>
          <a:bodyPr wrap="square">
            <a:spAutoFit/>
          </a:bodyPr>
          <a:lstStyle/>
          <a:p>
            <a:pPr algn="ctr"/>
            <a:r>
              <a:rPr lang="en" altLang="zh-CN" sz="1400" dirty="0">
                <a:solidFill>
                  <a:schemeClr val="tx1">
                    <a:lumMod val="50000"/>
                    <a:lumOff val="50000"/>
                  </a:schemeClr>
                </a:solidFill>
                <a:hlinkClick r:id="rId4">
                  <a:extLst>
                    <a:ext uri="{A12FA001-AC4F-418D-AE19-62706E023703}">
                      <ahyp:hlinkClr xmlns:ahyp="http://schemas.microsoft.com/office/drawing/2018/hyperlinkcolor" val="tx"/>
                    </a:ext>
                  </a:extLst>
                </a:hlinkClick>
              </a:rPr>
              <a:t>https://www.zdnet.com/article/minix-intels-hidden-in-chip-operating-system/</a:t>
            </a:r>
            <a:endParaRPr lang="zh-CN" altLang="en-US" sz="1400" dirty="0">
              <a:solidFill>
                <a:schemeClr val="tx1">
                  <a:lumMod val="50000"/>
                  <a:lumOff val="50000"/>
                </a:schemeClr>
              </a:solidFill>
            </a:endParaRPr>
          </a:p>
        </p:txBody>
      </p:sp>
    </p:spTree>
    <p:extLst>
      <p:ext uri="{BB962C8B-B14F-4D97-AF65-F5344CB8AC3E}">
        <p14:creationId xmlns:p14="http://schemas.microsoft.com/office/powerpoint/2010/main" val="7806250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C7D507-088D-074C-8092-C8A15312C5FD}"/>
              </a:ext>
            </a:extLst>
          </p:cNvPr>
          <p:cNvSpPr>
            <a:spLocks noGrp="1"/>
          </p:cNvSpPr>
          <p:nvPr>
            <p:ph type="title"/>
          </p:nvPr>
        </p:nvSpPr>
        <p:spPr/>
        <p:txBody>
          <a:bodyPr/>
          <a:lstStyle/>
          <a:p>
            <a:r>
              <a:rPr kumimoji="1" lang="zh-CN" altLang="en-US" dirty="0"/>
              <a:t>微内核的优缺点分析</a:t>
            </a:r>
          </a:p>
        </p:txBody>
      </p:sp>
      <p:sp>
        <p:nvSpPr>
          <p:cNvPr id="3" name="内容占位符 2">
            <a:extLst>
              <a:ext uri="{FF2B5EF4-FFF2-40B4-BE49-F238E27FC236}">
                <a16:creationId xmlns:a16="http://schemas.microsoft.com/office/drawing/2014/main" id="{927F5600-7BCF-5C46-9762-CE435E8E2650}"/>
              </a:ext>
            </a:extLst>
          </p:cNvPr>
          <p:cNvSpPr>
            <a:spLocks noGrp="1"/>
          </p:cNvSpPr>
          <p:nvPr>
            <p:ph idx="1"/>
          </p:nvPr>
        </p:nvSpPr>
        <p:spPr/>
        <p:txBody>
          <a:bodyPr>
            <a:normAutofit/>
          </a:bodyPr>
          <a:lstStyle/>
          <a:p>
            <a:r>
              <a:rPr kumimoji="1" lang="zh-CN" altLang="en-US" sz="2400" dirty="0"/>
              <a:t>优点</a:t>
            </a:r>
            <a:endParaRPr kumimoji="1" lang="en-US" altLang="zh-CN" sz="2400" dirty="0"/>
          </a:p>
          <a:p>
            <a:pPr lvl="1"/>
            <a:r>
              <a:rPr kumimoji="1" lang="zh-CN" altLang="en-US" sz="2000" dirty="0"/>
              <a:t>易于扩展：直接添加一个用户进程即可为操作系统增加服务</a:t>
            </a:r>
            <a:endParaRPr kumimoji="1" lang="en-US" altLang="zh-CN" sz="2000" dirty="0"/>
          </a:p>
          <a:p>
            <a:pPr lvl="1"/>
            <a:r>
              <a:rPr kumimoji="1" lang="zh-CN" altLang="en-US" sz="2000" dirty="0"/>
              <a:t>易于移植：大部分模块与底层硬件无关</a:t>
            </a:r>
            <a:endParaRPr kumimoji="1" lang="en-US" altLang="zh-CN" sz="2000" dirty="0"/>
          </a:p>
          <a:p>
            <a:pPr lvl="1"/>
            <a:r>
              <a:rPr kumimoji="1" lang="zh-CN" altLang="en-US" sz="2000" dirty="0"/>
              <a:t>更加可靠：在内核模式运行的代码量大大减少</a:t>
            </a:r>
            <a:endParaRPr kumimoji="1" lang="en-US" altLang="zh-CN" sz="2000" dirty="0"/>
          </a:p>
          <a:p>
            <a:pPr lvl="1"/>
            <a:r>
              <a:rPr kumimoji="1" lang="zh-CN" altLang="en-US" sz="2000" dirty="0"/>
              <a:t>更加安全：即使存在漏洞，服务与服务之间存在进程粒度隔离</a:t>
            </a:r>
            <a:endParaRPr kumimoji="1" lang="en-US" altLang="zh-CN" sz="2000" dirty="0"/>
          </a:p>
          <a:p>
            <a:pPr lvl="1"/>
            <a:r>
              <a:rPr kumimoji="1" lang="zh-CN" altLang="en-US" sz="2000" dirty="0"/>
              <a:t>更加健壮：单个模块出现问题不会影响到系统整体</a:t>
            </a:r>
            <a:endParaRPr kumimoji="1" lang="en-US" altLang="zh-CN" sz="2000" dirty="0"/>
          </a:p>
          <a:p>
            <a:pPr lvl="1"/>
            <a:endParaRPr kumimoji="1" lang="en-US" altLang="zh-CN" sz="2000" dirty="0"/>
          </a:p>
          <a:p>
            <a:r>
              <a:rPr kumimoji="1" lang="zh-CN" altLang="en-US" sz="2200" dirty="0"/>
              <a:t>上世纪</a:t>
            </a:r>
            <a:r>
              <a:rPr kumimoji="1" lang="en-US" altLang="zh-CN" sz="2200" dirty="0"/>
              <a:t>80/90</a:t>
            </a:r>
            <a:r>
              <a:rPr kumimoji="1" lang="zh-CN" altLang="en-US" sz="2200" dirty="0"/>
              <a:t>年代，</a:t>
            </a:r>
            <a:r>
              <a:rPr kumimoji="1" lang="en-US" altLang="zh-CN" sz="2200" dirty="0"/>
              <a:t>"</a:t>
            </a:r>
            <a:r>
              <a:rPr kumimoji="1" lang="zh-CN" altLang="en-US" sz="2200" dirty="0"/>
              <a:t>微内核</a:t>
            </a:r>
            <a:r>
              <a:rPr kumimoji="1" lang="en-US" altLang="zh-CN" sz="2200" dirty="0"/>
              <a:t>"</a:t>
            </a:r>
            <a:r>
              <a:rPr kumimoji="1" lang="zh-CN" altLang="en-US" sz="2200" dirty="0"/>
              <a:t>一度成为下一代操作系统的代名词</a:t>
            </a:r>
            <a:endParaRPr kumimoji="1" lang="en-US" altLang="zh-CN" sz="2200" dirty="0"/>
          </a:p>
        </p:txBody>
      </p:sp>
      <p:sp>
        <p:nvSpPr>
          <p:cNvPr id="4" name="灯片编号占位符 3">
            <a:extLst>
              <a:ext uri="{FF2B5EF4-FFF2-40B4-BE49-F238E27FC236}">
                <a16:creationId xmlns:a16="http://schemas.microsoft.com/office/drawing/2014/main" id="{796B2BE5-BD51-A04C-BD1B-AD727AE40D98}"/>
              </a:ext>
            </a:extLst>
          </p:cNvPr>
          <p:cNvSpPr>
            <a:spLocks noGrp="1"/>
          </p:cNvSpPr>
          <p:nvPr>
            <p:ph type="sldNum" sz="quarter" idx="12"/>
          </p:nvPr>
        </p:nvSpPr>
        <p:spPr/>
        <p:txBody>
          <a:bodyPr/>
          <a:lstStyle/>
          <a:p>
            <a:fld id="{ADE361C3-C043-4A6E-BDCE-8DA1E7D90A3B}" type="slidenum">
              <a:rPr lang="zh-CN" altLang="en-US" smtClean="0"/>
              <a:t>33</a:t>
            </a:fld>
            <a:endParaRPr lang="zh-CN" altLang="en-US"/>
          </a:p>
        </p:txBody>
      </p:sp>
    </p:spTree>
    <p:extLst>
      <p:ext uri="{BB962C8B-B14F-4D97-AF65-F5344CB8AC3E}">
        <p14:creationId xmlns:p14="http://schemas.microsoft.com/office/powerpoint/2010/main" val="13114839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0BD09A-EDBD-B945-B81C-C1CA71873383}"/>
              </a:ext>
            </a:extLst>
          </p:cNvPr>
          <p:cNvSpPr>
            <a:spLocks noGrp="1"/>
          </p:cNvSpPr>
          <p:nvPr>
            <p:ph type="title"/>
          </p:nvPr>
        </p:nvSpPr>
        <p:spPr/>
        <p:txBody>
          <a:bodyPr/>
          <a:lstStyle/>
          <a:p>
            <a:r>
              <a:rPr kumimoji="1" lang="zh-CN" altLang="en-US" dirty="0"/>
              <a:t>微内核的优缺点分析</a:t>
            </a:r>
          </a:p>
        </p:txBody>
      </p:sp>
      <p:sp>
        <p:nvSpPr>
          <p:cNvPr id="3" name="内容占位符 2">
            <a:extLst>
              <a:ext uri="{FF2B5EF4-FFF2-40B4-BE49-F238E27FC236}">
                <a16:creationId xmlns:a16="http://schemas.microsoft.com/office/drawing/2014/main" id="{0FCCDE1B-7449-9041-BD70-188F891503DE}"/>
              </a:ext>
            </a:extLst>
          </p:cNvPr>
          <p:cNvSpPr>
            <a:spLocks noGrp="1"/>
          </p:cNvSpPr>
          <p:nvPr>
            <p:ph idx="1"/>
          </p:nvPr>
        </p:nvSpPr>
        <p:spPr/>
        <p:txBody>
          <a:bodyPr>
            <a:normAutofit/>
          </a:bodyPr>
          <a:lstStyle/>
          <a:p>
            <a:r>
              <a:rPr kumimoji="1" lang="zh-CN" altLang="en-US" sz="2400" dirty="0"/>
              <a:t>缺点</a:t>
            </a:r>
            <a:endParaRPr kumimoji="1" lang="en-US" altLang="zh-CN" sz="2400" dirty="0"/>
          </a:p>
          <a:p>
            <a:pPr lvl="1"/>
            <a:r>
              <a:rPr kumimoji="1" lang="zh-CN" altLang="en-US" sz="2000" dirty="0"/>
              <a:t>性能较差：内核中的模块交互由函数调用变成了进程间通信</a:t>
            </a:r>
            <a:endParaRPr kumimoji="1" lang="en-US" altLang="zh-CN" sz="2000" dirty="0"/>
          </a:p>
          <a:p>
            <a:pPr lvl="1"/>
            <a:r>
              <a:rPr kumimoji="1" lang="zh-CN" altLang="en-US" sz="2000" dirty="0"/>
              <a:t>生态欠缺：尚未形成像</a:t>
            </a:r>
            <a:r>
              <a:rPr kumimoji="1" lang="en-US" altLang="zh-CN" sz="2000" dirty="0"/>
              <a:t>Linux</a:t>
            </a:r>
            <a:r>
              <a:rPr kumimoji="1" lang="zh-CN" altLang="en-US" sz="2000" dirty="0"/>
              <a:t>一样具有广泛开发者的社区</a:t>
            </a:r>
            <a:endParaRPr kumimoji="1" lang="en-US" altLang="zh-CN" sz="2000" dirty="0"/>
          </a:p>
          <a:p>
            <a:pPr lvl="1"/>
            <a:r>
              <a:rPr kumimoji="1" lang="zh-CN" altLang="en-US" sz="2000" dirty="0"/>
              <a:t>重用问题：重用宏内核操作系统提供兼容性，带来新问题</a:t>
            </a:r>
          </a:p>
          <a:p>
            <a:endParaRPr kumimoji="1" lang="zh-CN" altLang="en-US" sz="3200" dirty="0"/>
          </a:p>
        </p:txBody>
      </p:sp>
      <p:sp>
        <p:nvSpPr>
          <p:cNvPr id="4" name="灯片编号占位符 3">
            <a:extLst>
              <a:ext uri="{FF2B5EF4-FFF2-40B4-BE49-F238E27FC236}">
                <a16:creationId xmlns:a16="http://schemas.microsoft.com/office/drawing/2014/main" id="{A53D6CD9-9115-BA43-95A3-AD4AED522404}"/>
              </a:ext>
            </a:extLst>
          </p:cNvPr>
          <p:cNvSpPr>
            <a:spLocks noGrp="1"/>
          </p:cNvSpPr>
          <p:nvPr>
            <p:ph type="sldNum" sz="quarter" idx="12"/>
          </p:nvPr>
        </p:nvSpPr>
        <p:spPr/>
        <p:txBody>
          <a:bodyPr/>
          <a:lstStyle/>
          <a:p>
            <a:fld id="{ADE361C3-C043-4A6E-BDCE-8DA1E7D90A3B}" type="slidenum">
              <a:rPr lang="zh-CN" altLang="en-US" smtClean="0"/>
              <a:t>34</a:t>
            </a:fld>
            <a:endParaRPr lang="zh-CN" altLang="en-US"/>
          </a:p>
        </p:txBody>
      </p:sp>
      <p:sp>
        <p:nvSpPr>
          <p:cNvPr id="5" name="矩形 4">
            <a:extLst>
              <a:ext uri="{FF2B5EF4-FFF2-40B4-BE49-F238E27FC236}">
                <a16:creationId xmlns:a16="http://schemas.microsoft.com/office/drawing/2014/main" id="{CD133DC1-2B9C-8C44-8AAA-75AE0236C551}"/>
              </a:ext>
            </a:extLst>
          </p:cNvPr>
          <p:cNvSpPr/>
          <p:nvPr/>
        </p:nvSpPr>
        <p:spPr>
          <a:xfrm>
            <a:off x="4974750" y="3989882"/>
            <a:ext cx="809738" cy="467343"/>
          </a:xfrm>
          <a:prstGeom prst="rect">
            <a:avLst/>
          </a:prstGeom>
          <a:solidFill>
            <a:schemeClr val="accent6">
              <a:lumMod val="20000"/>
              <a:lumOff val="80000"/>
            </a:schemeClr>
          </a:solidFill>
          <a:effectLst/>
        </p:spPr>
        <p:style>
          <a:lnRef idx="1">
            <a:schemeClr val="accent6"/>
          </a:lnRef>
          <a:fillRef idx="2">
            <a:schemeClr val="accent6"/>
          </a:fillRef>
          <a:effectRef idx="1">
            <a:schemeClr val="accent6"/>
          </a:effectRef>
          <a:fontRef idx="minor">
            <a:schemeClr val="dk1"/>
          </a:fontRef>
        </p:style>
        <p:txBody>
          <a:bodyPr rtlCol="0" anchor="t" anchorCtr="0"/>
          <a:lstStyle/>
          <a:p>
            <a:pPr algn="ctr"/>
            <a:r>
              <a:rPr kumimoji="1" lang="zh-CN" altLang="en-US" sz="1200" dirty="0">
                <a:solidFill>
                  <a:srgbClr val="000000">
                    <a:lumMod val="75000"/>
                    <a:lumOff val="25000"/>
                  </a:srgbClr>
                </a:solidFill>
              </a:rPr>
              <a:t>服务</a:t>
            </a:r>
            <a:r>
              <a:rPr kumimoji="1" lang="en-US" altLang="zh-CN" sz="1200" dirty="0">
                <a:solidFill>
                  <a:srgbClr val="000000">
                    <a:lumMod val="75000"/>
                    <a:lumOff val="25000"/>
                  </a:srgbClr>
                </a:solidFill>
              </a:rPr>
              <a:t>-B</a:t>
            </a:r>
            <a:endParaRPr kumimoji="1" lang="zh-CN" altLang="en-US" sz="1200" dirty="0">
              <a:solidFill>
                <a:srgbClr val="000000">
                  <a:lumMod val="75000"/>
                  <a:lumOff val="25000"/>
                </a:srgbClr>
              </a:solidFill>
            </a:endParaRPr>
          </a:p>
        </p:txBody>
      </p:sp>
      <p:sp>
        <p:nvSpPr>
          <p:cNvPr id="6" name="矩形 5">
            <a:extLst>
              <a:ext uri="{FF2B5EF4-FFF2-40B4-BE49-F238E27FC236}">
                <a16:creationId xmlns:a16="http://schemas.microsoft.com/office/drawing/2014/main" id="{C35E1A0C-07FD-7545-ADEF-A4EB59142D25}"/>
              </a:ext>
            </a:extLst>
          </p:cNvPr>
          <p:cNvSpPr/>
          <p:nvPr/>
        </p:nvSpPr>
        <p:spPr>
          <a:xfrm>
            <a:off x="879863" y="3991850"/>
            <a:ext cx="1835845" cy="927635"/>
          </a:xfrm>
          <a:prstGeom prst="rect">
            <a:avLst/>
          </a:prstGeom>
          <a:solidFill>
            <a:schemeClr val="accent6">
              <a:lumMod val="20000"/>
              <a:lumOff val="80000"/>
            </a:schemeClr>
          </a:solidFill>
          <a:effectLst/>
        </p:spPr>
        <p:style>
          <a:lnRef idx="1">
            <a:schemeClr val="accent6"/>
          </a:lnRef>
          <a:fillRef idx="2">
            <a:schemeClr val="accent6"/>
          </a:fillRef>
          <a:effectRef idx="1">
            <a:schemeClr val="accent6"/>
          </a:effectRef>
          <a:fontRef idx="minor">
            <a:schemeClr val="dk1"/>
          </a:fontRef>
        </p:style>
        <p:txBody>
          <a:bodyPr rtlCol="0" anchor="t" anchorCtr="0"/>
          <a:lstStyle/>
          <a:p>
            <a:pPr algn="ctr"/>
            <a:endParaRPr kumimoji="1" lang="zh-CN" altLang="en-US" sz="1400" dirty="0">
              <a:solidFill>
                <a:srgbClr val="000000">
                  <a:lumMod val="75000"/>
                  <a:lumOff val="25000"/>
                </a:srgbClr>
              </a:solidFill>
            </a:endParaRPr>
          </a:p>
        </p:txBody>
      </p:sp>
      <p:sp>
        <p:nvSpPr>
          <p:cNvPr id="7" name="矩形 6">
            <a:extLst>
              <a:ext uri="{FF2B5EF4-FFF2-40B4-BE49-F238E27FC236}">
                <a16:creationId xmlns:a16="http://schemas.microsoft.com/office/drawing/2014/main" id="{232D0ADB-23B6-5841-94DA-882C78AD37B9}"/>
              </a:ext>
            </a:extLst>
          </p:cNvPr>
          <p:cNvSpPr/>
          <p:nvPr/>
        </p:nvSpPr>
        <p:spPr>
          <a:xfrm>
            <a:off x="879863" y="3653297"/>
            <a:ext cx="1835845" cy="307777"/>
          </a:xfrm>
          <a:prstGeom prst="rect">
            <a:avLst/>
          </a:prstGeom>
        </p:spPr>
        <p:txBody>
          <a:bodyPr wrap="square">
            <a:spAutoFit/>
          </a:bodyPr>
          <a:lstStyle/>
          <a:p>
            <a:pPr algn="ctr"/>
            <a:r>
              <a:rPr lang="zh-CN" altLang="en-US" sz="1400" b="1" dirty="0">
                <a:solidFill>
                  <a:schemeClr val="accent1"/>
                </a:solidFill>
              </a:rPr>
              <a:t>函数调用</a:t>
            </a:r>
            <a:endParaRPr lang="en-US" altLang="zh-CN" sz="1400" b="1" dirty="0">
              <a:solidFill>
                <a:schemeClr val="accent1"/>
              </a:solidFill>
            </a:endParaRPr>
          </a:p>
        </p:txBody>
      </p:sp>
      <p:sp>
        <p:nvSpPr>
          <p:cNvPr id="8" name="椭圆 7">
            <a:extLst>
              <a:ext uri="{FF2B5EF4-FFF2-40B4-BE49-F238E27FC236}">
                <a16:creationId xmlns:a16="http://schemas.microsoft.com/office/drawing/2014/main" id="{25FF2914-CCD6-1F42-851E-43D2CCB72A24}"/>
              </a:ext>
            </a:extLst>
          </p:cNvPr>
          <p:cNvSpPr/>
          <p:nvPr/>
        </p:nvSpPr>
        <p:spPr>
          <a:xfrm>
            <a:off x="1081212" y="4279882"/>
            <a:ext cx="144016" cy="1440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FFFFFF"/>
              </a:solidFill>
            </a:endParaRPr>
          </a:p>
        </p:txBody>
      </p:sp>
      <p:sp>
        <p:nvSpPr>
          <p:cNvPr id="9" name="椭圆 8">
            <a:extLst>
              <a:ext uri="{FF2B5EF4-FFF2-40B4-BE49-F238E27FC236}">
                <a16:creationId xmlns:a16="http://schemas.microsoft.com/office/drawing/2014/main" id="{3DFC513C-4C01-7349-AE92-272202D85968}"/>
              </a:ext>
            </a:extLst>
          </p:cNvPr>
          <p:cNvSpPr/>
          <p:nvPr/>
        </p:nvSpPr>
        <p:spPr>
          <a:xfrm>
            <a:off x="2392031" y="4279882"/>
            <a:ext cx="144016" cy="1440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FFFFFF"/>
              </a:solidFill>
            </a:endParaRPr>
          </a:p>
        </p:txBody>
      </p:sp>
      <p:sp>
        <p:nvSpPr>
          <p:cNvPr id="10" name="矩形 9">
            <a:extLst>
              <a:ext uri="{FF2B5EF4-FFF2-40B4-BE49-F238E27FC236}">
                <a16:creationId xmlns:a16="http://schemas.microsoft.com/office/drawing/2014/main" id="{4E0D7907-D580-8549-9122-8719E01BD6ED}"/>
              </a:ext>
            </a:extLst>
          </p:cNvPr>
          <p:cNvSpPr/>
          <p:nvPr/>
        </p:nvSpPr>
        <p:spPr>
          <a:xfrm>
            <a:off x="3333173" y="3991849"/>
            <a:ext cx="809737" cy="451100"/>
          </a:xfrm>
          <a:prstGeom prst="rect">
            <a:avLst/>
          </a:prstGeom>
          <a:solidFill>
            <a:schemeClr val="accent6">
              <a:lumMod val="20000"/>
              <a:lumOff val="80000"/>
            </a:schemeClr>
          </a:solidFill>
          <a:effectLst/>
        </p:spPr>
        <p:style>
          <a:lnRef idx="1">
            <a:schemeClr val="accent6"/>
          </a:lnRef>
          <a:fillRef idx="2">
            <a:schemeClr val="accent6"/>
          </a:fillRef>
          <a:effectRef idx="1">
            <a:schemeClr val="accent6"/>
          </a:effectRef>
          <a:fontRef idx="minor">
            <a:schemeClr val="dk1"/>
          </a:fontRef>
        </p:style>
        <p:txBody>
          <a:bodyPr rtlCol="0" anchor="t" anchorCtr="0"/>
          <a:lstStyle/>
          <a:p>
            <a:pPr algn="ctr"/>
            <a:r>
              <a:rPr kumimoji="1" lang="zh-CN" altLang="en-US" sz="1200" dirty="0">
                <a:solidFill>
                  <a:srgbClr val="000000">
                    <a:lumMod val="75000"/>
                    <a:lumOff val="25000"/>
                  </a:srgbClr>
                </a:solidFill>
              </a:rPr>
              <a:t>服务</a:t>
            </a:r>
            <a:r>
              <a:rPr kumimoji="1" lang="en-US" altLang="zh-CN" sz="1200" dirty="0">
                <a:solidFill>
                  <a:srgbClr val="000000">
                    <a:lumMod val="75000"/>
                    <a:lumOff val="25000"/>
                  </a:srgbClr>
                </a:solidFill>
              </a:rPr>
              <a:t>-A</a:t>
            </a:r>
            <a:endParaRPr kumimoji="1" lang="zh-CN" altLang="en-US" sz="1200" dirty="0">
              <a:solidFill>
                <a:srgbClr val="000000">
                  <a:lumMod val="75000"/>
                  <a:lumOff val="25000"/>
                </a:srgbClr>
              </a:solidFill>
            </a:endParaRPr>
          </a:p>
        </p:txBody>
      </p:sp>
      <p:cxnSp>
        <p:nvCxnSpPr>
          <p:cNvPr id="11" name="曲线连接符 10">
            <a:extLst>
              <a:ext uri="{FF2B5EF4-FFF2-40B4-BE49-F238E27FC236}">
                <a16:creationId xmlns:a16="http://schemas.microsoft.com/office/drawing/2014/main" id="{948011AB-EAEC-1E47-9F7F-165945A05AF3}"/>
              </a:ext>
            </a:extLst>
          </p:cNvPr>
          <p:cNvCxnSpPr>
            <a:stCxn id="8" idx="4"/>
            <a:endCxn id="9" idx="4"/>
          </p:cNvCxnSpPr>
          <p:nvPr/>
        </p:nvCxnSpPr>
        <p:spPr>
          <a:xfrm rot="16200000" flipH="1">
            <a:off x="1808629" y="3768488"/>
            <a:ext cx="12700" cy="1310819"/>
          </a:xfrm>
          <a:prstGeom prst="curved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椭圆 11">
            <a:extLst>
              <a:ext uri="{FF2B5EF4-FFF2-40B4-BE49-F238E27FC236}">
                <a16:creationId xmlns:a16="http://schemas.microsoft.com/office/drawing/2014/main" id="{9BFEBCA0-94E4-C54F-A3C6-75E0CDD09283}"/>
              </a:ext>
            </a:extLst>
          </p:cNvPr>
          <p:cNvSpPr/>
          <p:nvPr/>
        </p:nvSpPr>
        <p:spPr>
          <a:xfrm>
            <a:off x="3840203" y="4292583"/>
            <a:ext cx="144016" cy="1440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FFFFFF"/>
              </a:solidFill>
            </a:endParaRPr>
          </a:p>
        </p:txBody>
      </p:sp>
      <p:sp>
        <p:nvSpPr>
          <p:cNvPr id="13" name="椭圆 12">
            <a:extLst>
              <a:ext uri="{FF2B5EF4-FFF2-40B4-BE49-F238E27FC236}">
                <a16:creationId xmlns:a16="http://schemas.microsoft.com/office/drawing/2014/main" id="{5FF3C640-5854-424F-9564-490E273F0C73}"/>
              </a:ext>
            </a:extLst>
          </p:cNvPr>
          <p:cNvSpPr/>
          <p:nvPr/>
        </p:nvSpPr>
        <p:spPr>
          <a:xfrm>
            <a:off x="5151022" y="4292583"/>
            <a:ext cx="144016" cy="1440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FFFFFF"/>
              </a:solidFill>
            </a:endParaRPr>
          </a:p>
        </p:txBody>
      </p:sp>
      <p:sp>
        <p:nvSpPr>
          <p:cNvPr id="14" name="矩形 13">
            <a:extLst>
              <a:ext uri="{FF2B5EF4-FFF2-40B4-BE49-F238E27FC236}">
                <a16:creationId xmlns:a16="http://schemas.microsoft.com/office/drawing/2014/main" id="{939CA583-DFAA-DC46-9BA5-C3CD4110EC0C}"/>
              </a:ext>
            </a:extLst>
          </p:cNvPr>
          <p:cNvSpPr/>
          <p:nvPr/>
        </p:nvSpPr>
        <p:spPr>
          <a:xfrm>
            <a:off x="3333174" y="3649588"/>
            <a:ext cx="2451314" cy="307777"/>
          </a:xfrm>
          <a:prstGeom prst="rect">
            <a:avLst/>
          </a:prstGeom>
        </p:spPr>
        <p:txBody>
          <a:bodyPr wrap="square">
            <a:spAutoFit/>
          </a:bodyPr>
          <a:lstStyle/>
          <a:p>
            <a:pPr algn="ctr"/>
            <a:r>
              <a:rPr lang="zh-CN" altLang="en-US" sz="1400" b="1" dirty="0">
                <a:solidFill>
                  <a:schemeClr val="accent1"/>
                </a:solidFill>
              </a:rPr>
              <a:t>同步进程间调用</a:t>
            </a:r>
            <a:endParaRPr lang="en-US" altLang="zh-CN" sz="1400" b="1" dirty="0">
              <a:solidFill>
                <a:schemeClr val="accent1"/>
              </a:solidFill>
            </a:endParaRPr>
          </a:p>
        </p:txBody>
      </p:sp>
      <p:sp>
        <p:nvSpPr>
          <p:cNvPr id="15" name="矩形 14">
            <a:extLst>
              <a:ext uri="{FF2B5EF4-FFF2-40B4-BE49-F238E27FC236}">
                <a16:creationId xmlns:a16="http://schemas.microsoft.com/office/drawing/2014/main" id="{E934DE84-17BD-D540-AC59-54477FCCEE9C}"/>
              </a:ext>
            </a:extLst>
          </p:cNvPr>
          <p:cNvSpPr/>
          <p:nvPr/>
        </p:nvSpPr>
        <p:spPr>
          <a:xfrm>
            <a:off x="3336781" y="4499970"/>
            <a:ext cx="2447707" cy="400291"/>
          </a:xfrm>
          <a:prstGeom prst="rect">
            <a:avLst/>
          </a:prstGeom>
          <a:solidFill>
            <a:schemeClr val="accent6">
              <a:lumMod val="20000"/>
              <a:lumOff val="80000"/>
            </a:schemeClr>
          </a:solidFill>
          <a:effectLst/>
        </p:spPr>
        <p:style>
          <a:lnRef idx="1">
            <a:schemeClr val="accent6"/>
          </a:lnRef>
          <a:fillRef idx="2">
            <a:schemeClr val="accent6"/>
          </a:fillRef>
          <a:effectRef idx="1">
            <a:schemeClr val="accent6"/>
          </a:effectRef>
          <a:fontRef idx="minor">
            <a:schemeClr val="dk1"/>
          </a:fontRef>
        </p:style>
        <p:txBody>
          <a:bodyPr rtlCol="0" anchor="t" anchorCtr="0"/>
          <a:lstStyle/>
          <a:p>
            <a:pPr algn="ctr"/>
            <a:endParaRPr kumimoji="1" lang="zh-CN" altLang="en-US" sz="1400" dirty="0">
              <a:solidFill>
                <a:srgbClr val="000000">
                  <a:lumMod val="75000"/>
                  <a:lumOff val="25000"/>
                </a:srgbClr>
              </a:solidFill>
            </a:endParaRPr>
          </a:p>
        </p:txBody>
      </p:sp>
      <p:cxnSp>
        <p:nvCxnSpPr>
          <p:cNvPr id="16" name="曲线连接符 15">
            <a:extLst>
              <a:ext uri="{FF2B5EF4-FFF2-40B4-BE49-F238E27FC236}">
                <a16:creationId xmlns:a16="http://schemas.microsoft.com/office/drawing/2014/main" id="{B2EE8041-196F-E446-83CE-573F8C946F53}"/>
              </a:ext>
            </a:extLst>
          </p:cNvPr>
          <p:cNvCxnSpPr>
            <a:cxnSpLocks/>
          </p:cNvCxnSpPr>
          <p:nvPr/>
        </p:nvCxnSpPr>
        <p:spPr>
          <a:xfrm rot="16200000" flipH="1">
            <a:off x="4567620" y="3781189"/>
            <a:ext cx="12700" cy="1310819"/>
          </a:xfrm>
          <a:prstGeom prst="curved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矩形 16">
            <a:extLst>
              <a:ext uri="{FF2B5EF4-FFF2-40B4-BE49-F238E27FC236}">
                <a16:creationId xmlns:a16="http://schemas.microsoft.com/office/drawing/2014/main" id="{6CA3F5CF-51AC-D543-B6FB-5DD283759AFB}"/>
              </a:ext>
            </a:extLst>
          </p:cNvPr>
          <p:cNvSpPr/>
          <p:nvPr/>
        </p:nvSpPr>
        <p:spPr>
          <a:xfrm>
            <a:off x="897056" y="4257445"/>
            <a:ext cx="1835845" cy="276999"/>
          </a:xfrm>
          <a:prstGeom prst="rect">
            <a:avLst/>
          </a:prstGeom>
        </p:spPr>
        <p:txBody>
          <a:bodyPr wrap="square">
            <a:spAutoFit/>
          </a:bodyPr>
          <a:lstStyle/>
          <a:p>
            <a:pPr algn="ctr"/>
            <a:r>
              <a:rPr lang="en-US" altLang="zh-CN" sz="1200" b="1" dirty="0">
                <a:solidFill>
                  <a:schemeClr val="accent1"/>
                </a:solidFill>
              </a:rPr>
              <a:t>~30</a:t>
            </a:r>
            <a:r>
              <a:rPr lang="zh-CN" altLang="en-US" sz="1200" b="1" dirty="0">
                <a:solidFill>
                  <a:schemeClr val="accent1"/>
                </a:solidFill>
              </a:rPr>
              <a:t> </a:t>
            </a:r>
            <a:r>
              <a:rPr lang="en-US" altLang="zh-CN" sz="1200" b="1" dirty="0">
                <a:solidFill>
                  <a:schemeClr val="accent1"/>
                </a:solidFill>
              </a:rPr>
              <a:t>cycles</a:t>
            </a:r>
          </a:p>
        </p:txBody>
      </p:sp>
      <p:sp>
        <p:nvSpPr>
          <p:cNvPr id="18" name="矩形 17">
            <a:extLst>
              <a:ext uri="{FF2B5EF4-FFF2-40B4-BE49-F238E27FC236}">
                <a16:creationId xmlns:a16="http://schemas.microsoft.com/office/drawing/2014/main" id="{7FF5F0DB-DC19-8A4D-8952-B410982C938A}"/>
              </a:ext>
            </a:extLst>
          </p:cNvPr>
          <p:cNvSpPr/>
          <p:nvPr/>
        </p:nvSpPr>
        <p:spPr>
          <a:xfrm>
            <a:off x="3638928" y="3996461"/>
            <a:ext cx="1835845" cy="461665"/>
          </a:xfrm>
          <a:prstGeom prst="rect">
            <a:avLst/>
          </a:prstGeom>
        </p:spPr>
        <p:txBody>
          <a:bodyPr wrap="square">
            <a:spAutoFit/>
          </a:bodyPr>
          <a:lstStyle/>
          <a:p>
            <a:pPr algn="ctr"/>
            <a:r>
              <a:rPr lang="en-US" altLang="zh-CN" sz="1200" b="1" dirty="0">
                <a:solidFill>
                  <a:schemeClr val="accent1"/>
                </a:solidFill>
              </a:rPr>
              <a:t>~4500</a:t>
            </a:r>
            <a:br>
              <a:rPr lang="en-US" altLang="zh-CN" sz="1200" b="1" dirty="0">
                <a:solidFill>
                  <a:schemeClr val="accent1"/>
                </a:solidFill>
              </a:rPr>
            </a:br>
            <a:r>
              <a:rPr lang="zh-CN" altLang="en-US" sz="1200" b="1" dirty="0">
                <a:solidFill>
                  <a:schemeClr val="accent1"/>
                </a:solidFill>
              </a:rPr>
              <a:t> </a:t>
            </a:r>
            <a:r>
              <a:rPr lang="en-US" altLang="zh-CN" sz="1200" b="1" dirty="0">
                <a:solidFill>
                  <a:schemeClr val="accent1"/>
                </a:solidFill>
              </a:rPr>
              <a:t>cycles</a:t>
            </a:r>
          </a:p>
        </p:txBody>
      </p:sp>
      <p:sp>
        <p:nvSpPr>
          <p:cNvPr id="19" name="矩形 18">
            <a:extLst>
              <a:ext uri="{FF2B5EF4-FFF2-40B4-BE49-F238E27FC236}">
                <a16:creationId xmlns:a16="http://schemas.microsoft.com/office/drawing/2014/main" id="{7831D00B-1F52-7447-8CCB-6F92D08C6D97}"/>
              </a:ext>
            </a:extLst>
          </p:cNvPr>
          <p:cNvSpPr/>
          <p:nvPr/>
        </p:nvSpPr>
        <p:spPr>
          <a:xfrm>
            <a:off x="4250804" y="4649521"/>
            <a:ext cx="646331" cy="276999"/>
          </a:xfrm>
          <a:prstGeom prst="rect">
            <a:avLst/>
          </a:prstGeom>
        </p:spPr>
        <p:txBody>
          <a:bodyPr wrap="none">
            <a:spAutoFit/>
          </a:bodyPr>
          <a:lstStyle/>
          <a:p>
            <a:pPr lvl="0" algn="ctr"/>
            <a:r>
              <a:rPr kumimoji="1" lang="zh-CN" altLang="en-US" sz="1200" dirty="0">
                <a:solidFill>
                  <a:srgbClr val="000000">
                    <a:lumMod val="75000"/>
                    <a:lumOff val="25000"/>
                  </a:srgbClr>
                </a:solidFill>
              </a:rPr>
              <a:t>微内核</a:t>
            </a:r>
          </a:p>
        </p:txBody>
      </p:sp>
      <p:sp>
        <p:nvSpPr>
          <p:cNvPr id="20" name="矩形 19">
            <a:extLst>
              <a:ext uri="{FF2B5EF4-FFF2-40B4-BE49-F238E27FC236}">
                <a16:creationId xmlns:a16="http://schemas.microsoft.com/office/drawing/2014/main" id="{D9F99A5C-0331-FA42-AFB8-F529C7FAB772}"/>
              </a:ext>
            </a:extLst>
          </p:cNvPr>
          <p:cNvSpPr/>
          <p:nvPr/>
        </p:nvSpPr>
        <p:spPr>
          <a:xfrm>
            <a:off x="1474621" y="4646149"/>
            <a:ext cx="646331" cy="276999"/>
          </a:xfrm>
          <a:prstGeom prst="rect">
            <a:avLst/>
          </a:prstGeom>
        </p:spPr>
        <p:txBody>
          <a:bodyPr wrap="none">
            <a:spAutoFit/>
          </a:bodyPr>
          <a:lstStyle/>
          <a:p>
            <a:pPr lvl="0" algn="ctr"/>
            <a:r>
              <a:rPr kumimoji="1" lang="zh-CN" altLang="en-US" sz="1200" dirty="0">
                <a:solidFill>
                  <a:srgbClr val="000000">
                    <a:lumMod val="75000"/>
                    <a:lumOff val="25000"/>
                  </a:srgbClr>
                </a:solidFill>
              </a:rPr>
              <a:t>宏内核</a:t>
            </a:r>
          </a:p>
        </p:txBody>
      </p:sp>
      <p:grpSp>
        <p:nvGrpSpPr>
          <p:cNvPr id="24" name="组合 23">
            <a:extLst>
              <a:ext uri="{FF2B5EF4-FFF2-40B4-BE49-F238E27FC236}">
                <a16:creationId xmlns:a16="http://schemas.microsoft.com/office/drawing/2014/main" id="{B44C2E39-A74D-E749-9502-C4C7BD05B8B1}"/>
              </a:ext>
            </a:extLst>
          </p:cNvPr>
          <p:cNvGrpSpPr/>
          <p:nvPr/>
        </p:nvGrpSpPr>
        <p:grpSpPr>
          <a:xfrm>
            <a:off x="5985763" y="3737004"/>
            <a:ext cx="2746475" cy="1361086"/>
            <a:chOff x="3203848" y="4081636"/>
            <a:chExt cx="2746475" cy="1361086"/>
          </a:xfrm>
        </p:grpSpPr>
        <p:graphicFrame>
          <p:nvGraphicFramePr>
            <p:cNvPr id="21" name="图表 20">
              <a:extLst>
                <a:ext uri="{FF2B5EF4-FFF2-40B4-BE49-F238E27FC236}">
                  <a16:creationId xmlns:a16="http://schemas.microsoft.com/office/drawing/2014/main" id="{FB0B400E-6AEF-8C48-BA20-1887BC64EC2D}"/>
                </a:ext>
              </a:extLst>
            </p:cNvPr>
            <p:cNvGraphicFramePr/>
            <p:nvPr/>
          </p:nvGraphicFramePr>
          <p:xfrm>
            <a:off x="3203848" y="4081636"/>
            <a:ext cx="2447707" cy="1361086"/>
          </p:xfrm>
          <a:graphic>
            <a:graphicData uri="http://schemas.openxmlformats.org/drawingml/2006/chart">
              <c:chart xmlns:c="http://schemas.openxmlformats.org/drawingml/2006/chart" xmlns:r="http://schemas.openxmlformats.org/officeDocument/2006/relationships" r:id="rId3"/>
            </a:graphicData>
          </a:graphic>
        </p:graphicFrame>
        <p:sp>
          <p:nvSpPr>
            <p:cNvPr id="22" name="矩形 21">
              <a:extLst>
                <a:ext uri="{FF2B5EF4-FFF2-40B4-BE49-F238E27FC236}">
                  <a16:creationId xmlns:a16="http://schemas.microsoft.com/office/drawing/2014/main" id="{37BD29CB-0DDB-714F-B2AD-9D09BB246214}"/>
                </a:ext>
              </a:extLst>
            </p:cNvPr>
            <p:cNvSpPr/>
            <p:nvPr/>
          </p:nvSpPr>
          <p:spPr>
            <a:xfrm>
              <a:off x="4466581" y="4444971"/>
              <a:ext cx="466794" cy="261610"/>
            </a:xfrm>
            <a:prstGeom prst="rect">
              <a:avLst/>
            </a:prstGeom>
          </p:spPr>
          <p:txBody>
            <a:bodyPr wrap="none">
              <a:spAutoFit/>
            </a:bodyPr>
            <a:lstStyle/>
            <a:p>
              <a:pPr lvl="0" algn="ctr"/>
              <a:r>
                <a:rPr kumimoji="1" lang="en-US" altLang="zh-CN" sz="1100" b="1" dirty="0">
                  <a:solidFill>
                    <a:schemeClr val="bg1"/>
                  </a:solidFill>
                </a:rPr>
                <a:t>30%</a:t>
              </a:r>
              <a:endParaRPr kumimoji="1" lang="zh-CN" altLang="en-US" sz="1100" b="1" dirty="0">
                <a:solidFill>
                  <a:schemeClr val="bg1"/>
                </a:solidFill>
              </a:endParaRPr>
            </a:p>
          </p:txBody>
        </p:sp>
        <p:sp>
          <p:nvSpPr>
            <p:cNvPr id="23" name="矩形 22">
              <a:extLst>
                <a:ext uri="{FF2B5EF4-FFF2-40B4-BE49-F238E27FC236}">
                  <a16:creationId xmlns:a16="http://schemas.microsoft.com/office/drawing/2014/main" id="{D501ABB3-3BED-BC4A-A3EF-B1EC79F2FB20}"/>
                </a:ext>
              </a:extLst>
            </p:cNvPr>
            <p:cNvSpPr/>
            <p:nvPr/>
          </p:nvSpPr>
          <p:spPr>
            <a:xfrm>
              <a:off x="4919272" y="4137194"/>
              <a:ext cx="1031051" cy="624786"/>
            </a:xfrm>
            <a:prstGeom prst="rect">
              <a:avLst/>
            </a:prstGeom>
          </p:spPr>
          <p:txBody>
            <a:bodyPr wrap="none">
              <a:spAutoFit/>
            </a:bodyPr>
            <a:lstStyle/>
            <a:p>
              <a:pPr lvl="0" algn="ctr">
                <a:lnSpc>
                  <a:spcPct val="130000"/>
                </a:lnSpc>
              </a:pPr>
              <a:r>
                <a:rPr kumimoji="1" lang="en-US" altLang="zh-CN" sz="1400" b="1" dirty="0" err="1">
                  <a:solidFill>
                    <a:schemeClr val="accent1"/>
                  </a:solidFill>
                </a:rPr>
                <a:t>Sqlite</a:t>
              </a:r>
              <a:r>
                <a:rPr kumimoji="1" lang="zh-CN" altLang="en-US" sz="1400" b="1" dirty="0">
                  <a:solidFill>
                    <a:schemeClr val="accent1"/>
                  </a:solidFill>
                </a:rPr>
                <a:t>中的</a:t>
              </a:r>
              <a:br>
                <a:rPr kumimoji="1" lang="en-US" altLang="zh-CN" sz="1400" b="1" dirty="0">
                  <a:solidFill>
                    <a:schemeClr val="accent1"/>
                  </a:solidFill>
                </a:rPr>
              </a:br>
              <a:r>
                <a:rPr kumimoji="1" lang="zh-CN" altLang="en-US" sz="1400" b="1" dirty="0">
                  <a:solidFill>
                    <a:schemeClr val="accent1"/>
                  </a:solidFill>
                </a:rPr>
                <a:t>通信开销</a:t>
              </a:r>
            </a:p>
          </p:txBody>
        </p:sp>
      </p:grpSp>
    </p:spTree>
    <p:extLst>
      <p:ext uri="{BB962C8B-B14F-4D97-AF65-F5344CB8AC3E}">
        <p14:creationId xmlns:p14="http://schemas.microsoft.com/office/powerpoint/2010/main" val="28385487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389083-71E3-2E43-AB80-71C63023C5A4}"/>
              </a:ext>
            </a:extLst>
          </p:cNvPr>
          <p:cNvSpPr>
            <a:spLocks noGrp="1"/>
          </p:cNvSpPr>
          <p:nvPr>
            <p:ph type="title"/>
          </p:nvPr>
        </p:nvSpPr>
        <p:spPr/>
        <p:txBody>
          <a:bodyPr/>
          <a:lstStyle/>
          <a:p>
            <a:r>
              <a:rPr kumimoji="1" lang="zh-CN" altLang="en-US" dirty="0"/>
              <a:t>混合内核架构</a:t>
            </a:r>
          </a:p>
        </p:txBody>
      </p:sp>
      <p:sp>
        <p:nvSpPr>
          <p:cNvPr id="3" name="内容占位符 2">
            <a:extLst>
              <a:ext uri="{FF2B5EF4-FFF2-40B4-BE49-F238E27FC236}">
                <a16:creationId xmlns:a16="http://schemas.microsoft.com/office/drawing/2014/main" id="{285225E6-0E46-3540-90CA-2EAA2CFEC163}"/>
              </a:ext>
            </a:extLst>
          </p:cNvPr>
          <p:cNvSpPr>
            <a:spLocks noGrp="1"/>
          </p:cNvSpPr>
          <p:nvPr>
            <p:ph idx="1"/>
          </p:nvPr>
        </p:nvSpPr>
        <p:spPr/>
        <p:txBody>
          <a:bodyPr>
            <a:normAutofit/>
          </a:bodyPr>
          <a:lstStyle/>
          <a:p>
            <a:r>
              <a:rPr kumimoji="1" lang="zh-CN" altLang="en-US" sz="2400" dirty="0"/>
              <a:t>宏内核与微内核的结合</a:t>
            </a:r>
            <a:endParaRPr kumimoji="1" lang="en-US" altLang="zh-CN" sz="2400" dirty="0"/>
          </a:p>
          <a:p>
            <a:pPr lvl="1"/>
            <a:r>
              <a:rPr kumimoji="1" lang="zh-CN" altLang="en-US" sz="2000" dirty="0"/>
              <a:t>将需要性能的模块重新放回内核态</a:t>
            </a:r>
            <a:endParaRPr kumimoji="1" lang="en-US" altLang="zh-CN" sz="2000" dirty="0"/>
          </a:p>
          <a:p>
            <a:pPr lvl="1"/>
            <a:r>
              <a:rPr kumimoji="1" lang="en-US" altLang="zh-CN" sz="2000" dirty="0"/>
              <a:t>macOS</a:t>
            </a:r>
            <a:r>
              <a:rPr kumimoji="1" lang="zh-CN" altLang="en-US" sz="2000" dirty="0"/>
              <a:t> </a:t>
            </a:r>
            <a:r>
              <a:rPr kumimoji="1" lang="en-US" altLang="zh-CN" sz="2000" dirty="0"/>
              <a:t>/</a:t>
            </a:r>
            <a:r>
              <a:rPr kumimoji="1" lang="zh-CN" altLang="en-US" sz="2000" dirty="0"/>
              <a:t> </a:t>
            </a:r>
            <a:r>
              <a:rPr kumimoji="1" lang="en-US" altLang="zh-CN" sz="2000" dirty="0"/>
              <a:t>iOS</a:t>
            </a:r>
            <a:r>
              <a:rPr kumimoji="1" lang="zh-CN" altLang="en-US" sz="2000" dirty="0"/>
              <a:t>：</a:t>
            </a:r>
            <a:r>
              <a:rPr kumimoji="1" lang="en-US" altLang="zh-CN" sz="2000" dirty="0"/>
              <a:t>Mach</a:t>
            </a:r>
            <a:r>
              <a:rPr kumimoji="1" lang="zh-CN" altLang="en-US" sz="2000" dirty="0"/>
              <a:t>微内核 </a:t>
            </a:r>
            <a:r>
              <a:rPr kumimoji="1" lang="en-US" altLang="zh-CN" sz="2000" dirty="0"/>
              <a:t>+</a:t>
            </a:r>
            <a:r>
              <a:rPr kumimoji="1" lang="zh-CN" altLang="en-US" sz="2000" dirty="0"/>
              <a:t> </a:t>
            </a:r>
            <a:r>
              <a:rPr kumimoji="1" lang="en-US" altLang="zh-CN" sz="2000" dirty="0"/>
              <a:t>BSD</a:t>
            </a:r>
            <a:r>
              <a:rPr kumimoji="1" lang="zh-CN" altLang="en-US" sz="2000" dirty="0"/>
              <a:t> </a:t>
            </a:r>
            <a:r>
              <a:rPr kumimoji="1" lang="en-US" altLang="zh-CN" sz="2000" dirty="0"/>
              <a:t>4.3</a:t>
            </a:r>
            <a:r>
              <a:rPr kumimoji="1" lang="zh-CN" altLang="en-US" sz="2000" dirty="0"/>
              <a:t> </a:t>
            </a:r>
            <a:r>
              <a:rPr kumimoji="1" lang="en-US" altLang="zh-CN" sz="2000" dirty="0"/>
              <a:t>+</a:t>
            </a:r>
            <a:r>
              <a:rPr kumimoji="1" lang="zh-CN" altLang="en-US" sz="2000" dirty="0"/>
              <a:t> 系统框架</a:t>
            </a:r>
            <a:endParaRPr kumimoji="1" lang="en-US" altLang="zh-CN" sz="2000" dirty="0"/>
          </a:p>
          <a:p>
            <a:pPr lvl="1"/>
            <a:r>
              <a:rPr kumimoji="1" lang="en-US" altLang="zh-CN" sz="2000" dirty="0"/>
              <a:t>Windows</a:t>
            </a:r>
            <a:r>
              <a:rPr kumimoji="1" lang="zh-CN" altLang="en-US" sz="2000" dirty="0"/>
              <a:t> </a:t>
            </a:r>
            <a:r>
              <a:rPr kumimoji="1" lang="en-US" altLang="zh-CN" sz="2000" dirty="0"/>
              <a:t>NT</a:t>
            </a:r>
            <a:r>
              <a:rPr kumimoji="1" lang="zh-CN" altLang="en-US" sz="2000" dirty="0"/>
              <a:t>：微内核 </a:t>
            </a:r>
            <a:r>
              <a:rPr kumimoji="1" lang="en-US" altLang="zh-CN" sz="2000" dirty="0"/>
              <a:t>+</a:t>
            </a:r>
            <a:r>
              <a:rPr kumimoji="1" lang="zh-CN" altLang="en-US" sz="2000" dirty="0"/>
              <a:t> 内核态的系统服务 </a:t>
            </a:r>
            <a:r>
              <a:rPr kumimoji="1" lang="en-US" altLang="zh-CN" sz="2000" dirty="0"/>
              <a:t>+</a:t>
            </a:r>
            <a:r>
              <a:rPr kumimoji="1" lang="zh-CN" altLang="en-US" sz="2000" dirty="0"/>
              <a:t> 系统框架</a:t>
            </a:r>
          </a:p>
        </p:txBody>
      </p:sp>
      <p:sp>
        <p:nvSpPr>
          <p:cNvPr id="4" name="灯片编号占位符 3">
            <a:extLst>
              <a:ext uri="{FF2B5EF4-FFF2-40B4-BE49-F238E27FC236}">
                <a16:creationId xmlns:a16="http://schemas.microsoft.com/office/drawing/2014/main" id="{F8A1F969-4A93-6941-9232-DF84B6A9E803}"/>
              </a:ext>
            </a:extLst>
          </p:cNvPr>
          <p:cNvSpPr>
            <a:spLocks noGrp="1"/>
          </p:cNvSpPr>
          <p:nvPr>
            <p:ph type="sldNum" sz="quarter" idx="12"/>
          </p:nvPr>
        </p:nvSpPr>
        <p:spPr/>
        <p:txBody>
          <a:bodyPr/>
          <a:lstStyle/>
          <a:p>
            <a:fld id="{ADE361C3-C043-4A6E-BDCE-8DA1E7D90A3B}" type="slidenum">
              <a:rPr lang="zh-CN" altLang="en-US" smtClean="0"/>
              <a:t>35</a:t>
            </a:fld>
            <a:endParaRPr lang="zh-CN" altLang="en-US"/>
          </a:p>
        </p:txBody>
      </p:sp>
      <p:pic>
        <p:nvPicPr>
          <p:cNvPr id="5" name="Picture 2" descr="http://upload.wikimedia.org/wikipedia/commons/thumb/d/d0/OS-structure2.svg/2000px-OS-structure2.svg.png">
            <a:extLst>
              <a:ext uri="{FF2B5EF4-FFF2-40B4-BE49-F238E27FC236}">
                <a16:creationId xmlns:a16="http://schemas.microsoft.com/office/drawing/2014/main" id="{CB44F062-881B-2743-8DCB-D1F99218AA7A}"/>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1115616" y="3345649"/>
            <a:ext cx="6912768" cy="2071699"/>
          </a:xfrm>
          <a:prstGeom prst="rect">
            <a:avLst/>
          </a:prstGeom>
          <a:noFill/>
          <a:extLst>
            <a:ext uri="{909E8E84-426E-40dd-AFC4-6F175D3DCCD1}">
              <a14:hiddenFill xmlns:a14="http://schemas.microsoft.com/office/drawing/2010/main" xmlns="">
                <a:solidFill>
                  <a:srgbClr val="FFFFFF"/>
                </a:solidFill>
              </a14:hiddenFill>
            </a:ext>
          </a:extLst>
        </p:spPr>
      </p:pic>
      <p:sp>
        <p:nvSpPr>
          <p:cNvPr id="6" name="矩形 5">
            <a:extLst>
              <a:ext uri="{FF2B5EF4-FFF2-40B4-BE49-F238E27FC236}">
                <a16:creationId xmlns:a16="http://schemas.microsoft.com/office/drawing/2014/main" id="{B92BC0D4-7A73-BC46-9540-16EEE35C3076}"/>
              </a:ext>
            </a:extLst>
          </p:cNvPr>
          <p:cNvSpPr/>
          <p:nvPr/>
        </p:nvSpPr>
        <p:spPr>
          <a:xfrm>
            <a:off x="2286000" y="5427546"/>
            <a:ext cx="4572000" cy="261610"/>
          </a:xfrm>
          <a:prstGeom prst="rect">
            <a:avLst/>
          </a:prstGeom>
        </p:spPr>
        <p:txBody>
          <a:bodyPr>
            <a:spAutoFit/>
          </a:bodyPr>
          <a:lstStyle/>
          <a:p>
            <a:pPr algn="ctr"/>
            <a:r>
              <a:rPr lang="en" altLang="zh-CN" sz="1100" dirty="0">
                <a:solidFill>
                  <a:schemeClr val="bg2">
                    <a:lumMod val="75000"/>
                  </a:schemeClr>
                </a:solidFill>
                <a:hlinkClick r:id="rId4">
                  <a:extLst>
                    <a:ext uri="{A12FA001-AC4F-418D-AE19-62706E023703}">
                      <ahyp:hlinkClr xmlns:ahyp="http://schemas.microsoft.com/office/drawing/2018/hyperlinkcolor" val="tx"/>
                    </a:ext>
                  </a:extLst>
                </a:hlinkClick>
              </a:rPr>
              <a:t>https://zh.wikipedia.org/wiki</a:t>
            </a:r>
            <a:r>
              <a:rPr lang="en-US" altLang="zh-CN" sz="1100" dirty="0">
                <a:solidFill>
                  <a:schemeClr val="bg2">
                    <a:lumMod val="75000"/>
                  </a:schemeClr>
                </a:solidFill>
                <a:hlinkClick r:id="rId4">
                  <a:extLst>
                    <a:ext uri="{A12FA001-AC4F-418D-AE19-62706E023703}">
                      <ahyp:hlinkClr xmlns:ahyp="http://schemas.microsoft.com/office/drawing/2018/hyperlinkcolor" val="tx"/>
                    </a:ext>
                  </a:extLst>
                </a:hlinkClick>
              </a:rPr>
              <a:t>/</a:t>
            </a:r>
            <a:r>
              <a:rPr lang="zh-CN" altLang="en-US" sz="1100" dirty="0">
                <a:solidFill>
                  <a:schemeClr val="bg2">
                    <a:lumMod val="75000"/>
                  </a:schemeClr>
                </a:solidFill>
                <a:hlinkClick r:id="rId4">
                  <a:extLst>
                    <a:ext uri="{A12FA001-AC4F-418D-AE19-62706E023703}">
                      <ahyp:hlinkClr xmlns:ahyp="http://schemas.microsoft.com/office/drawing/2018/hyperlinkcolor" val="tx"/>
                    </a:ext>
                  </a:extLst>
                </a:hlinkClick>
              </a:rPr>
              <a:t>微内核</a:t>
            </a:r>
            <a:endParaRPr lang="zh-CN" altLang="en-US" sz="1100" dirty="0">
              <a:solidFill>
                <a:schemeClr val="bg2">
                  <a:lumMod val="75000"/>
                </a:schemeClr>
              </a:solidFill>
            </a:endParaRPr>
          </a:p>
        </p:txBody>
      </p:sp>
    </p:spTree>
    <p:extLst>
      <p:ext uri="{BB962C8B-B14F-4D97-AF65-F5344CB8AC3E}">
        <p14:creationId xmlns:p14="http://schemas.microsoft.com/office/powerpoint/2010/main" val="24668079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4E8D18-5C42-A04D-A9C3-00D272E06DF9}"/>
              </a:ext>
            </a:extLst>
          </p:cNvPr>
          <p:cNvSpPr>
            <a:spLocks noGrp="1"/>
          </p:cNvSpPr>
          <p:nvPr>
            <p:ph type="title"/>
          </p:nvPr>
        </p:nvSpPr>
        <p:spPr/>
        <p:txBody>
          <a:bodyPr/>
          <a:lstStyle/>
          <a:p>
            <a:r>
              <a:rPr kumimoji="1" lang="en-US" altLang="zh-CN" dirty="0"/>
              <a:t>Windows</a:t>
            </a:r>
            <a:r>
              <a:rPr kumimoji="1" lang="zh-CN" altLang="en-US" dirty="0"/>
              <a:t> </a:t>
            </a:r>
            <a:r>
              <a:rPr kumimoji="1" lang="en-US" altLang="zh-CN" dirty="0"/>
              <a:t>NT</a:t>
            </a:r>
            <a:endParaRPr kumimoji="1" lang="zh-CN" altLang="en-US" dirty="0"/>
          </a:p>
        </p:txBody>
      </p:sp>
      <p:sp>
        <p:nvSpPr>
          <p:cNvPr id="4" name="灯片编号占位符 3">
            <a:extLst>
              <a:ext uri="{FF2B5EF4-FFF2-40B4-BE49-F238E27FC236}">
                <a16:creationId xmlns:a16="http://schemas.microsoft.com/office/drawing/2014/main" id="{2534ACE3-DFF1-F749-A5D0-3919353E4ADD}"/>
              </a:ext>
            </a:extLst>
          </p:cNvPr>
          <p:cNvSpPr>
            <a:spLocks noGrp="1"/>
          </p:cNvSpPr>
          <p:nvPr>
            <p:ph type="sldNum" sz="quarter" idx="12"/>
          </p:nvPr>
        </p:nvSpPr>
        <p:spPr/>
        <p:txBody>
          <a:bodyPr/>
          <a:lstStyle/>
          <a:p>
            <a:fld id="{ADE361C3-C043-4A6E-BDCE-8DA1E7D90A3B}" type="slidenum">
              <a:rPr lang="zh-CN" altLang="en-US" smtClean="0"/>
              <a:t>36</a:t>
            </a:fld>
            <a:endParaRPr lang="zh-CN" altLang="en-US"/>
          </a:p>
        </p:txBody>
      </p:sp>
      <p:sp>
        <p:nvSpPr>
          <p:cNvPr id="5" name="矩形 4">
            <a:extLst>
              <a:ext uri="{FF2B5EF4-FFF2-40B4-BE49-F238E27FC236}">
                <a16:creationId xmlns:a16="http://schemas.microsoft.com/office/drawing/2014/main" id="{2BB4DEB8-441C-8644-B587-8C9DDB1169F8}"/>
              </a:ext>
            </a:extLst>
          </p:cNvPr>
          <p:cNvSpPr/>
          <p:nvPr/>
        </p:nvSpPr>
        <p:spPr>
          <a:xfrm>
            <a:off x="179512" y="5318292"/>
            <a:ext cx="7902624" cy="261610"/>
          </a:xfrm>
          <a:prstGeom prst="rect">
            <a:avLst/>
          </a:prstGeom>
        </p:spPr>
        <p:txBody>
          <a:bodyPr wrap="square">
            <a:spAutoFit/>
          </a:bodyPr>
          <a:lstStyle/>
          <a:p>
            <a:r>
              <a:rPr lang="en-US" altLang="zh-CN" sz="1100" dirty="0">
                <a:solidFill>
                  <a:schemeClr val="tx2"/>
                </a:solidFill>
              </a:rPr>
              <a:t>https://</a:t>
            </a:r>
            <a:r>
              <a:rPr lang="en-US" altLang="zh-CN" sz="1100" dirty="0" err="1">
                <a:solidFill>
                  <a:schemeClr val="tx2"/>
                </a:solidFill>
              </a:rPr>
              <a:t>en.wikipedia.org</a:t>
            </a:r>
            <a:r>
              <a:rPr lang="en-US" altLang="zh-CN" sz="1100" dirty="0">
                <a:solidFill>
                  <a:schemeClr val="tx2"/>
                </a:solidFill>
              </a:rPr>
              <a:t>/wiki/</a:t>
            </a:r>
            <a:r>
              <a:rPr lang="en-US" altLang="zh-CN" sz="1100" dirty="0" err="1">
                <a:solidFill>
                  <a:schemeClr val="tx2"/>
                </a:solidFill>
              </a:rPr>
              <a:t>Architecture_of_Windows_NT</a:t>
            </a:r>
            <a:endParaRPr lang="zh-CN" altLang="en-US" sz="1100" dirty="0">
              <a:solidFill>
                <a:schemeClr val="tx2"/>
              </a:solidFill>
            </a:endParaRPr>
          </a:p>
        </p:txBody>
      </p:sp>
      <p:pic>
        <p:nvPicPr>
          <p:cNvPr id="6" name="图片 5">
            <a:extLst>
              <a:ext uri="{FF2B5EF4-FFF2-40B4-BE49-F238E27FC236}">
                <a16:creationId xmlns:a16="http://schemas.microsoft.com/office/drawing/2014/main" id="{C3A903F9-FA08-9940-AFD2-2AD7B069398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499992" y="-10589"/>
            <a:ext cx="4456864" cy="5715000"/>
          </a:xfrm>
          <a:prstGeom prst="rect">
            <a:avLst/>
          </a:prstGeom>
        </p:spPr>
      </p:pic>
      <p:sp>
        <p:nvSpPr>
          <p:cNvPr id="7" name="内容占位符 2">
            <a:extLst>
              <a:ext uri="{FF2B5EF4-FFF2-40B4-BE49-F238E27FC236}">
                <a16:creationId xmlns:a16="http://schemas.microsoft.com/office/drawing/2014/main" id="{DB537EF6-06AA-E847-9CA7-03867F746CBA}"/>
              </a:ext>
            </a:extLst>
          </p:cNvPr>
          <p:cNvSpPr>
            <a:spLocks noGrp="1"/>
          </p:cNvSpPr>
          <p:nvPr>
            <p:ph idx="1"/>
          </p:nvPr>
        </p:nvSpPr>
        <p:spPr>
          <a:xfrm>
            <a:off x="457200" y="1333501"/>
            <a:ext cx="8229600" cy="3771636"/>
          </a:xfrm>
        </p:spPr>
        <p:txBody>
          <a:bodyPr>
            <a:normAutofit lnSpcReduction="10000"/>
          </a:bodyPr>
          <a:lstStyle/>
          <a:p>
            <a:r>
              <a:rPr kumimoji="1" lang="en-US" altLang="zh-CN" sz="2000" dirty="0"/>
              <a:t>Integral</a:t>
            </a:r>
            <a:r>
              <a:rPr kumimoji="1" lang="zh-CN" altLang="en-US" sz="2000" dirty="0"/>
              <a:t>子系统（用户态）</a:t>
            </a:r>
            <a:endParaRPr kumimoji="1" lang="en-US" altLang="zh-CN" sz="2000" dirty="0"/>
          </a:p>
          <a:p>
            <a:pPr lvl="1"/>
            <a:r>
              <a:rPr kumimoji="1" lang="zh-CN" altLang="en-US" sz="1800" dirty="0"/>
              <a:t>负责处理</a:t>
            </a:r>
            <a:r>
              <a:rPr kumimoji="1" lang="en-US" altLang="zh-CN" sz="1800" dirty="0"/>
              <a:t>I/O</a:t>
            </a:r>
            <a:r>
              <a:rPr kumimoji="1" lang="zh-CN" altLang="en-US" sz="1800" dirty="0"/>
              <a:t>、对象</a:t>
            </a:r>
            <a:br>
              <a:rPr kumimoji="1" lang="en-US" altLang="zh-CN" sz="1800" dirty="0"/>
            </a:br>
            <a:r>
              <a:rPr kumimoji="1" lang="zh-CN" altLang="en-US" sz="1800" dirty="0"/>
              <a:t>管理、安全、进程等</a:t>
            </a:r>
            <a:endParaRPr kumimoji="1" lang="en-US" altLang="zh-CN" sz="1800" dirty="0"/>
          </a:p>
          <a:p>
            <a:r>
              <a:rPr kumimoji="1" lang="zh-CN" altLang="en-US" sz="2000" dirty="0"/>
              <a:t>环境子系统（用户态）</a:t>
            </a:r>
            <a:endParaRPr kumimoji="1" lang="en-US" altLang="zh-CN" sz="2000" dirty="0"/>
          </a:p>
          <a:p>
            <a:pPr lvl="1"/>
            <a:r>
              <a:rPr kumimoji="1" lang="en-US" altLang="zh-CN" sz="1800" dirty="0"/>
              <a:t>POSIX</a:t>
            </a:r>
          </a:p>
          <a:p>
            <a:r>
              <a:rPr kumimoji="1" lang="en-US" altLang="zh-CN" sz="2000" dirty="0"/>
              <a:t>Executive</a:t>
            </a:r>
            <a:r>
              <a:rPr kumimoji="1" lang="zh-CN" altLang="en-US" sz="2000" dirty="0"/>
              <a:t>（内核态）</a:t>
            </a:r>
            <a:endParaRPr kumimoji="1" lang="en-US" altLang="zh-CN" sz="2000" dirty="0"/>
          </a:p>
          <a:p>
            <a:pPr lvl="1"/>
            <a:r>
              <a:rPr kumimoji="1" lang="zh-CN" altLang="en-US" sz="1800" dirty="0"/>
              <a:t>为用户态子系统提供服务</a:t>
            </a:r>
            <a:endParaRPr kumimoji="1" lang="en-US" altLang="zh-CN" sz="1800" dirty="0"/>
          </a:p>
          <a:p>
            <a:r>
              <a:rPr kumimoji="1" lang="en-US" altLang="zh-CN" sz="2000" dirty="0"/>
              <a:t>Microkernel</a:t>
            </a:r>
          </a:p>
          <a:p>
            <a:pPr lvl="1"/>
            <a:r>
              <a:rPr kumimoji="1" lang="zh-CN" altLang="en-US" sz="1800" dirty="0"/>
              <a:t>提供进程间同步等功能</a:t>
            </a:r>
            <a:endParaRPr kumimoji="1" lang="en-US" altLang="zh-CN" sz="1800" dirty="0"/>
          </a:p>
          <a:p>
            <a:pPr lvl="1"/>
            <a:endParaRPr kumimoji="1" lang="en-US" altLang="zh-CN" sz="1800" dirty="0"/>
          </a:p>
          <a:p>
            <a:pPr lvl="1"/>
            <a:endParaRPr kumimoji="1" lang="zh-CN" altLang="en-US" sz="1800" dirty="0"/>
          </a:p>
        </p:txBody>
      </p:sp>
    </p:spTree>
    <p:extLst>
      <p:ext uri="{BB962C8B-B14F-4D97-AF65-F5344CB8AC3E}">
        <p14:creationId xmlns:p14="http://schemas.microsoft.com/office/powerpoint/2010/main" val="35318830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88329B-127C-934F-8732-865E88FB619E}"/>
              </a:ext>
            </a:extLst>
          </p:cNvPr>
          <p:cNvSpPr>
            <a:spLocks noGrp="1"/>
          </p:cNvSpPr>
          <p:nvPr>
            <p:ph type="title"/>
          </p:nvPr>
        </p:nvSpPr>
        <p:spPr/>
        <p:txBody>
          <a:bodyPr/>
          <a:lstStyle/>
          <a:p>
            <a:r>
              <a:rPr kumimoji="1" lang="en-US" altLang="zh-CN" dirty="0"/>
              <a:t>macOS</a:t>
            </a:r>
            <a:endParaRPr kumimoji="1" lang="zh-CN" altLang="en-US" dirty="0"/>
          </a:p>
        </p:txBody>
      </p:sp>
      <p:sp>
        <p:nvSpPr>
          <p:cNvPr id="3" name="内容占位符 2">
            <a:extLst>
              <a:ext uri="{FF2B5EF4-FFF2-40B4-BE49-F238E27FC236}">
                <a16:creationId xmlns:a16="http://schemas.microsoft.com/office/drawing/2014/main" id="{E144D3AF-AADF-B14C-B6CC-1E2D2AA252D0}"/>
              </a:ext>
            </a:extLst>
          </p:cNvPr>
          <p:cNvSpPr>
            <a:spLocks noGrp="1"/>
          </p:cNvSpPr>
          <p:nvPr>
            <p:ph idx="1"/>
          </p:nvPr>
        </p:nvSpPr>
        <p:spPr/>
        <p:txBody>
          <a:bodyPr>
            <a:normAutofit/>
          </a:bodyPr>
          <a:lstStyle/>
          <a:p>
            <a:r>
              <a:rPr kumimoji="1" lang="en-US" altLang="zh-CN" sz="2000" dirty="0"/>
              <a:t>XNU</a:t>
            </a:r>
            <a:r>
              <a:rPr kumimoji="1" lang="zh-CN" altLang="en-US" sz="2000" dirty="0"/>
              <a:t>内核</a:t>
            </a:r>
            <a:endParaRPr kumimoji="1" lang="en-US" altLang="zh-CN" sz="2000" dirty="0"/>
          </a:p>
          <a:p>
            <a:pPr lvl="1"/>
            <a:r>
              <a:rPr kumimoji="1" lang="zh-CN" altLang="en-US" sz="1800" dirty="0"/>
              <a:t>基于</a:t>
            </a:r>
            <a:r>
              <a:rPr kumimoji="1" lang="en-US" altLang="zh-CN" sz="1800" dirty="0"/>
              <a:t>Mach-2.5</a:t>
            </a:r>
            <a:r>
              <a:rPr kumimoji="1" lang="zh-CN" altLang="en-US" sz="1800" dirty="0"/>
              <a:t>打造</a:t>
            </a:r>
            <a:endParaRPr kumimoji="1" lang="en-US" altLang="zh-CN" sz="1800" dirty="0"/>
          </a:p>
          <a:p>
            <a:pPr lvl="1"/>
            <a:r>
              <a:rPr kumimoji="1" lang="en-US" altLang="zh-CN" sz="1800" dirty="0"/>
              <a:t>BSD</a:t>
            </a:r>
            <a:r>
              <a:rPr kumimoji="1" lang="zh-CN" altLang="en-US" sz="1800" dirty="0"/>
              <a:t>代码提供文件系统、</a:t>
            </a:r>
            <a:br>
              <a:rPr kumimoji="1" lang="en-US" altLang="zh-CN" sz="1800" dirty="0"/>
            </a:br>
            <a:r>
              <a:rPr kumimoji="1" lang="zh-CN" altLang="en-US" sz="1800" dirty="0"/>
              <a:t>网络、</a:t>
            </a:r>
            <a:r>
              <a:rPr kumimoji="1" lang="en-US" altLang="zh-CN" sz="1800" dirty="0"/>
              <a:t>POSIX</a:t>
            </a:r>
            <a:r>
              <a:rPr kumimoji="1" lang="zh-CN" altLang="en-US" sz="1800" dirty="0"/>
              <a:t>接口等</a:t>
            </a:r>
            <a:endParaRPr kumimoji="1" lang="en-US" altLang="zh-CN" sz="1800" dirty="0"/>
          </a:p>
          <a:p>
            <a:r>
              <a:rPr kumimoji="1" lang="en-US" altLang="zh-CN" sz="2000" dirty="0"/>
              <a:t>macOS</a:t>
            </a:r>
            <a:r>
              <a:rPr kumimoji="1" lang="zh-CN" altLang="en-US" sz="2000" dirty="0"/>
              <a:t>与</a:t>
            </a:r>
            <a:r>
              <a:rPr kumimoji="1" lang="en-US" altLang="zh-CN" sz="2000" dirty="0"/>
              <a:t>iOS</a:t>
            </a:r>
            <a:endParaRPr kumimoji="1" lang="zh-CN" altLang="en-US" sz="2000" dirty="0"/>
          </a:p>
        </p:txBody>
      </p:sp>
      <p:sp>
        <p:nvSpPr>
          <p:cNvPr id="4" name="灯片编号占位符 3">
            <a:extLst>
              <a:ext uri="{FF2B5EF4-FFF2-40B4-BE49-F238E27FC236}">
                <a16:creationId xmlns:a16="http://schemas.microsoft.com/office/drawing/2014/main" id="{A9B18DE7-FDC9-3B4A-A9F8-E5F02F1FB2D5}"/>
              </a:ext>
            </a:extLst>
          </p:cNvPr>
          <p:cNvSpPr>
            <a:spLocks noGrp="1"/>
          </p:cNvSpPr>
          <p:nvPr>
            <p:ph type="sldNum" sz="quarter" idx="12"/>
          </p:nvPr>
        </p:nvSpPr>
        <p:spPr/>
        <p:txBody>
          <a:bodyPr/>
          <a:lstStyle/>
          <a:p>
            <a:fld id="{ADE361C3-C043-4A6E-BDCE-8DA1E7D90A3B}" type="slidenum">
              <a:rPr lang="zh-CN" altLang="en-US" smtClean="0"/>
              <a:t>37</a:t>
            </a:fld>
            <a:endParaRPr lang="zh-CN" altLang="en-US"/>
          </a:p>
        </p:txBody>
      </p:sp>
      <p:pic>
        <p:nvPicPr>
          <p:cNvPr id="5" name="图片 4">
            <a:extLst>
              <a:ext uri="{FF2B5EF4-FFF2-40B4-BE49-F238E27FC236}">
                <a16:creationId xmlns:a16="http://schemas.microsoft.com/office/drawing/2014/main" id="{A721A19E-0129-994D-AE45-CF625DFC4487}"/>
              </a:ext>
            </a:extLst>
          </p:cNvPr>
          <p:cNvPicPr>
            <a:picLocks noChangeAspect="1"/>
          </p:cNvPicPr>
          <p:nvPr/>
        </p:nvPicPr>
        <p:blipFill>
          <a:blip r:embed="rId2"/>
          <a:stretch>
            <a:fillRect/>
          </a:stretch>
        </p:blipFill>
        <p:spPr>
          <a:xfrm>
            <a:off x="3923928" y="657143"/>
            <a:ext cx="5080000" cy="4787900"/>
          </a:xfrm>
          <a:prstGeom prst="rect">
            <a:avLst/>
          </a:prstGeom>
        </p:spPr>
      </p:pic>
      <p:sp>
        <p:nvSpPr>
          <p:cNvPr id="6" name="矩形 5">
            <a:extLst>
              <a:ext uri="{FF2B5EF4-FFF2-40B4-BE49-F238E27FC236}">
                <a16:creationId xmlns:a16="http://schemas.microsoft.com/office/drawing/2014/main" id="{B7D97257-6235-7C4F-9A3A-B54D1E19D2C4}"/>
              </a:ext>
            </a:extLst>
          </p:cNvPr>
          <p:cNvSpPr/>
          <p:nvPr/>
        </p:nvSpPr>
        <p:spPr>
          <a:xfrm>
            <a:off x="179512" y="5318292"/>
            <a:ext cx="7902624" cy="261610"/>
          </a:xfrm>
          <a:prstGeom prst="rect">
            <a:avLst/>
          </a:prstGeom>
        </p:spPr>
        <p:txBody>
          <a:bodyPr wrap="square">
            <a:spAutoFit/>
          </a:bodyPr>
          <a:lstStyle/>
          <a:p>
            <a:r>
              <a:rPr lang="en-US" altLang="zh-CN" sz="1100" dirty="0">
                <a:solidFill>
                  <a:schemeClr val="tx2"/>
                </a:solidFill>
              </a:rPr>
              <a:t>https://</a:t>
            </a:r>
            <a:r>
              <a:rPr lang="en-US" altLang="zh-CN" sz="1100" dirty="0" err="1">
                <a:solidFill>
                  <a:schemeClr val="tx2"/>
                </a:solidFill>
              </a:rPr>
              <a:t>en.wikipedia.org</a:t>
            </a:r>
            <a:r>
              <a:rPr lang="en-US" altLang="zh-CN" sz="1100" dirty="0">
                <a:solidFill>
                  <a:schemeClr val="tx2"/>
                </a:solidFill>
              </a:rPr>
              <a:t>/wiki/</a:t>
            </a:r>
            <a:r>
              <a:rPr lang="en-US" altLang="zh-CN" sz="1100" dirty="0" err="1">
                <a:solidFill>
                  <a:schemeClr val="tx2"/>
                </a:solidFill>
              </a:rPr>
              <a:t>Architecture_of_macOS</a:t>
            </a:r>
            <a:endParaRPr lang="zh-CN" altLang="en-US" sz="1100" dirty="0">
              <a:solidFill>
                <a:schemeClr val="tx2"/>
              </a:solidFill>
            </a:endParaRPr>
          </a:p>
        </p:txBody>
      </p:sp>
    </p:spTree>
    <p:extLst>
      <p:ext uri="{BB962C8B-B14F-4D97-AF65-F5344CB8AC3E}">
        <p14:creationId xmlns:p14="http://schemas.microsoft.com/office/powerpoint/2010/main" val="14022173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4C0A7DEF-A184-6A4D-9D47-A4F645DC0D25}"/>
              </a:ext>
            </a:extLst>
          </p:cNvPr>
          <p:cNvSpPr>
            <a:spLocks noGrp="1"/>
          </p:cNvSpPr>
          <p:nvPr>
            <p:ph type="title"/>
          </p:nvPr>
        </p:nvSpPr>
        <p:spPr/>
        <p:txBody>
          <a:bodyPr>
            <a:noAutofit/>
          </a:bodyPr>
          <a:lstStyle/>
          <a:p>
            <a:r>
              <a:rPr kumimoji="1" lang="zh-CN" altLang="en-US" sz="3200" dirty="0"/>
              <a:t>外核</a:t>
            </a:r>
            <a:r>
              <a:rPr kumimoji="1" lang="en-US" altLang="zh-CN" sz="3200" dirty="0"/>
              <a:t>+</a:t>
            </a:r>
            <a:r>
              <a:rPr kumimoji="1" lang="zh-CN" altLang="en-US" sz="3200" dirty="0"/>
              <a:t>库</a:t>
            </a:r>
            <a:r>
              <a:rPr kumimoji="1" lang="en-US" altLang="zh-CN" sz="3200" dirty="0"/>
              <a:t>OS</a:t>
            </a:r>
            <a:r>
              <a:rPr kumimoji="1" lang="zh-CN" altLang="en-US" sz="3200" dirty="0"/>
              <a:t>（</a:t>
            </a:r>
            <a:r>
              <a:rPr kumimoji="1" lang="en-US" altLang="zh-CN" sz="3200" dirty="0"/>
              <a:t>Exokernel</a:t>
            </a:r>
            <a:r>
              <a:rPr kumimoji="1" lang="zh-CN" altLang="en-US" sz="3200" dirty="0"/>
              <a:t> </a:t>
            </a:r>
            <a:r>
              <a:rPr kumimoji="1" lang="en-US" altLang="zh-CN" sz="3200" dirty="0"/>
              <a:t>+</a:t>
            </a:r>
            <a:r>
              <a:rPr kumimoji="1" lang="zh-CN" altLang="en-US" sz="3200" dirty="0"/>
              <a:t> </a:t>
            </a:r>
            <a:r>
              <a:rPr kumimoji="1" lang="en-US" altLang="zh-CN" sz="3200" dirty="0" err="1"/>
              <a:t>LibOS</a:t>
            </a:r>
            <a:r>
              <a:rPr kumimoji="1" lang="zh-CN" altLang="en-US" sz="3200" dirty="0"/>
              <a:t>）</a:t>
            </a:r>
          </a:p>
        </p:txBody>
      </p:sp>
      <p:sp>
        <p:nvSpPr>
          <p:cNvPr id="6" name="文本占位符 5">
            <a:extLst>
              <a:ext uri="{FF2B5EF4-FFF2-40B4-BE49-F238E27FC236}">
                <a16:creationId xmlns:a16="http://schemas.microsoft.com/office/drawing/2014/main" id="{0D84F601-F979-0D46-8748-B59E09268F5F}"/>
              </a:ext>
            </a:extLst>
          </p:cNvPr>
          <p:cNvSpPr>
            <a:spLocks noGrp="1"/>
          </p:cNvSpPr>
          <p:nvPr>
            <p:ph type="body" idx="1"/>
          </p:nvPr>
        </p:nvSpPr>
        <p:spPr/>
        <p:txBody>
          <a:bodyPr/>
          <a:lstStyle/>
          <a:p>
            <a:endParaRPr kumimoji="1" lang="zh-CN" altLang="en-US"/>
          </a:p>
        </p:txBody>
      </p:sp>
      <p:sp>
        <p:nvSpPr>
          <p:cNvPr id="4" name="灯片编号占位符 3">
            <a:extLst>
              <a:ext uri="{FF2B5EF4-FFF2-40B4-BE49-F238E27FC236}">
                <a16:creationId xmlns:a16="http://schemas.microsoft.com/office/drawing/2014/main" id="{4948FC59-BED5-9A4C-A1B5-00F0F03507F1}"/>
              </a:ext>
            </a:extLst>
          </p:cNvPr>
          <p:cNvSpPr>
            <a:spLocks noGrp="1"/>
          </p:cNvSpPr>
          <p:nvPr>
            <p:ph type="sldNum" sz="quarter" idx="12"/>
          </p:nvPr>
        </p:nvSpPr>
        <p:spPr/>
        <p:txBody>
          <a:bodyPr/>
          <a:lstStyle/>
          <a:p>
            <a:fld id="{ADE361C3-C043-4A6E-BDCE-8DA1E7D90A3B}" type="slidenum">
              <a:rPr lang="zh-CN" altLang="en-US" smtClean="0"/>
              <a:t>38</a:t>
            </a:fld>
            <a:endParaRPr lang="zh-CN" altLang="en-US"/>
          </a:p>
        </p:txBody>
      </p:sp>
    </p:spTree>
    <p:extLst>
      <p:ext uri="{BB962C8B-B14F-4D97-AF65-F5344CB8AC3E}">
        <p14:creationId xmlns:p14="http://schemas.microsoft.com/office/powerpoint/2010/main" val="5756524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D40134-FF72-CB48-91EB-8FFE41D0E612}"/>
              </a:ext>
            </a:extLst>
          </p:cNvPr>
          <p:cNvSpPr>
            <a:spLocks noGrp="1"/>
          </p:cNvSpPr>
          <p:nvPr>
            <p:ph type="title"/>
          </p:nvPr>
        </p:nvSpPr>
        <p:spPr/>
        <p:txBody>
          <a:bodyPr/>
          <a:lstStyle/>
          <a:p>
            <a:r>
              <a:rPr kumimoji="1" lang="zh-CN" altLang="en-US" dirty="0"/>
              <a:t>外核架构（</a:t>
            </a:r>
            <a:r>
              <a:rPr kumimoji="1" lang="en-US" altLang="zh-CN" dirty="0"/>
              <a:t>Exokernel</a:t>
            </a:r>
            <a:r>
              <a:rPr kumimoji="1" lang="zh-CN" altLang="en-US" dirty="0"/>
              <a:t>）</a:t>
            </a:r>
          </a:p>
        </p:txBody>
      </p:sp>
      <p:sp>
        <p:nvSpPr>
          <p:cNvPr id="3" name="内容占位符 2">
            <a:extLst>
              <a:ext uri="{FF2B5EF4-FFF2-40B4-BE49-F238E27FC236}">
                <a16:creationId xmlns:a16="http://schemas.microsoft.com/office/drawing/2014/main" id="{F1016709-C4D6-5346-91BB-DB8C7C4F3520}"/>
              </a:ext>
            </a:extLst>
          </p:cNvPr>
          <p:cNvSpPr>
            <a:spLocks noGrp="1"/>
          </p:cNvSpPr>
          <p:nvPr>
            <p:ph idx="1"/>
          </p:nvPr>
        </p:nvSpPr>
        <p:spPr/>
        <p:txBody>
          <a:bodyPr>
            <a:normAutofit/>
          </a:bodyPr>
          <a:lstStyle/>
          <a:p>
            <a:r>
              <a:rPr kumimoji="1" lang="en-US" altLang="zh-CN" sz="2000" dirty="0"/>
              <a:t>Exokernel</a:t>
            </a:r>
            <a:r>
              <a:rPr kumimoji="1" lang="zh-CN" altLang="en-US" sz="2000" dirty="0"/>
              <a:t> 不提供硬件抽象</a:t>
            </a:r>
            <a:endParaRPr kumimoji="1" lang="en-US" altLang="zh-CN" sz="2000" dirty="0"/>
          </a:p>
          <a:p>
            <a:pPr lvl="1"/>
            <a:r>
              <a:rPr kumimoji="1" lang="en-US" altLang="zh-CN" sz="1800" dirty="0"/>
              <a:t>"</a:t>
            </a:r>
            <a:r>
              <a:rPr kumimoji="1" lang="zh-CN" altLang="en-US" sz="1800" dirty="0"/>
              <a:t>只要内核提供抽象，就不能实现性能最大化</a:t>
            </a:r>
            <a:r>
              <a:rPr kumimoji="1" lang="en-US" altLang="zh-CN" sz="1800" dirty="0"/>
              <a:t>"</a:t>
            </a:r>
          </a:p>
          <a:p>
            <a:pPr lvl="1"/>
            <a:r>
              <a:rPr kumimoji="1" lang="zh-CN" altLang="en-US" sz="1800" dirty="0"/>
              <a:t>只有应用才知道最适合的抽象（</a:t>
            </a:r>
            <a:r>
              <a:rPr kumimoji="1" lang="en-US" altLang="zh-CN" sz="1800" dirty="0"/>
              <a:t>end-to-end</a:t>
            </a:r>
            <a:r>
              <a:rPr kumimoji="1" lang="zh-CN" altLang="en-US" sz="1800" dirty="0"/>
              <a:t>原则）</a:t>
            </a:r>
            <a:endParaRPr kumimoji="1" lang="en-US" altLang="zh-CN" sz="1800" dirty="0"/>
          </a:p>
          <a:p>
            <a:r>
              <a:rPr kumimoji="1" lang="en-US" altLang="zh-CN" sz="2000" dirty="0"/>
              <a:t>Exokernel</a:t>
            </a:r>
            <a:r>
              <a:rPr kumimoji="1" lang="zh-CN" altLang="en-US" sz="2000" dirty="0"/>
              <a:t> 不管理资源，只管理应用</a:t>
            </a:r>
            <a:endParaRPr kumimoji="1" lang="en-US" altLang="zh-CN" sz="2000" dirty="0"/>
          </a:p>
          <a:p>
            <a:pPr lvl="1"/>
            <a:r>
              <a:rPr kumimoji="1" lang="zh-CN" altLang="en-US" sz="1800" dirty="0"/>
              <a:t>负责将计算资源与应用的绑定，以及资源的回收</a:t>
            </a:r>
            <a:endParaRPr kumimoji="1" lang="en-US" altLang="zh-CN" sz="1800" dirty="0"/>
          </a:p>
          <a:p>
            <a:pPr lvl="1"/>
            <a:r>
              <a:rPr kumimoji="1" lang="zh-CN" altLang="en-US" sz="1800" dirty="0"/>
              <a:t>保证多个应用之间的隔离</a:t>
            </a:r>
            <a:endParaRPr kumimoji="1" lang="en-US" altLang="zh-CN" sz="1800" dirty="0"/>
          </a:p>
          <a:p>
            <a:endParaRPr kumimoji="1" lang="en-US" altLang="zh-CN" sz="2000" dirty="0"/>
          </a:p>
          <a:p>
            <a:r>
              <a:rPr kumimoji="1" lang="zh-CN" altLang="en-US" sz="2000" dirty="0"/>
              <a:t>回顾：</a:t>
            </a:r>
            <a:r>
              <a:rPr kumimoji="1" lang="zh-CN" altLang="en-US" sz="2000" dirty="0">
                <a:solidFill>
                  <a:schemeClr val="accent1"/>
                </a:solidFill>
              </a:rPr>
              <a:t>操作系统 </a:t>
            </a:r>
            <a:r>
              <a:rPr kumimoji="1" lang="en-US" altLang="zh-CN" sz="2000" dirty="0">
                <a:solidFill>
                  <a:schemeClr val="accent1"/>
                </a:solidFill>
              </a:rPr>
              <a:t>=</a:t>
            </a:r>
            <a:r>
              <a:rPr kumimoji="1" lang="zh-CN" altLang="en-US" sz="2000" dirty="0">
                <a:solidFill>
                  <a:schemeClr val="accent1"/>
                </a:solidFill>
              </a:rPr>
              <a:t> 服务应用 </a:t>
            </a:r>
            <a:r>
              <a:rPr kumimoji="1" lang="en-US" altLang="zh-CN" sz="2000" dirty="0">
                <a:solidFill>
                  <a:schemeClr val="accent1"/>
                </a:solidFill>
              </a:rPr>
              <a:t>+</a:t>
            </a:r>
            <a:r>
              <a:rPr kumimoji="1" lang="zh-CN" altLang="en-US" sz="2000" dirty="0">
                <a:solidFill>
                  <a:schemeClr val="accent1"/>
                </a:solidFill>
              </a:rPr>
              <a:t> 管理应用</a:t>
            </a:r>
          </a:p>
        </p:txBody>
      </p:sp>
      <p:sp>
        <p:nvSpPr>
          <p:cNvPr id="4" name="灯片编号占位符 3">
            <a:extLst>
              <a:ext uri="{FF2B5EF4-FFF2-40B4-BE49-F238E27FC236}">
                <a16:creationId xmlns:a16="http://schemas.microsoft.com/office/drawing/2014/main" id="{C0AD89FD-8A0B-AE4A-9F30-03CFCF483F92}"/>
              </a:ext>
            </a:extLst>
          </p:cNvPr>
          <p:cNvSpPr>
            <a:spLocks noGrp="1"/>
          </p:cNvSpPr>
          <p:nvPr>
            <p:ph type="sldNum" sz="quarter" idx="12"/>
          </p:nvPr>
        </p:nvSpPr>
        <p:spPr/>
        <p:txBody>
          <a:bodyPr/>
          <a:lstStyle/>
          <a:p>
            <a:fld id="{ADE361C3-C043-4A6E-BDCE-8DA1E7D90A3B}" type="slidenum">
              <a:rPr lang="zh-CN" altLang="en-US" smtClean="0"/>
              <a:t>39</a:t>
            </a:fld>
            <a:endParaRPr lang="zh-CN" altLang="en-US"/>
          </a:p>
        </p:txBody>
      </p:sp>
      <p:cxnSp>
        <p:nvCxnSpPr>
          <p:cNvPr id="6" name="直线连接符 5">
            <a:extLst>
              <a:ext uri="{FF2B5EF4-FFF2-40B4-BE49-F238E27FC236}">
                <a16:creationId xmlns:a16="http://schemas.microsoft.com/office/drawing/2014/main" id="{5C844446-D38C-7948-9D7B-7EDE3F473305}"/>
              </a:ext>
            </a:extLst>
          </p:cNvPr>
          <p:cNvCxnSpPr/>
          <p:nvPr/>
        </p:nvCxnSpPr>
        <p:spPr>
          <a:xfrm flipV="1">
            <a:off x="4534694" y="4029741"/>
            <a:ext cx="360040" cy="360040"/>
          </a:xfrm>
          <a:prstGeom prst="line">
            <a:avLst/>
          </a:prstGeom>
          <a:ln>
            <a:solidFill>
              <a:schemeClr val="tx1">
                <a:lumMod val="50000"/>
                <a:lumOff val="50000"/>
              </a:schemeClr>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7" name="直线连接符 6">
            <a:extLst>
              <a:ext uri="{FF2B5EF4-FFF2-40B4-BE49-F238E27FC236}">
                <a16:creationId xmlns:a16="http://schemas.microsoft.com/office/drawing/2014/main" id="{726B672B-F45B-0B43-80CC-2BD8211F75FB}"/>
              </a:ext>
            </a:extLst>
          </p:cNvPr>
          <p:cNvCxnSpPr>
            <a:cxnSpLocks/>
          </p:cNvCxnSpPr>
          <p:nvPr/>
        </p:nvCxnSpPr>
        <p:spPr>
          <a:xfrm>
            <a:off x="3635896" y="4873725"/>
            <a:ext cx="288032" cy="231412"/>
          </a:xfrm>
          <a:prstGeom prst="line">
            <a:avLst/>
          </a:prstGeom>
          <a:ln>
            <a:solidFill>
              <a:schemeClr val="tx1">
                <a:lumMod val="50000"/>
                <a:lumOff val="50000"/>
              </a:schemeClr>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11" name="直线连接符 10">
            <a:extLst>
              <a:ext uri="{FF2B5EF4-FFF2-40B4-BE49-F238E27FC236}">
                <a16:creationId xmlns:a16="http://schemas.microsoft.com/office/drawing/2014/main" id="{B9BE56FC-DDD5-1245-A515-48B2DE64EBA4}"/>
              </a:ext>
            </a:extLst>
          </p:cNvPr>
          <p:cNvCxnSpPr>
            <a:cxnSpLocks/>
          </p:cNvCxnSpPr>
          <p:nvPr/>
        </p:nvCxnSpPr>
        <p:spPr>
          <a:xfrm>
            <a:off x="3923928" y="5105137"/>
            <a:ext cx="1224138" cy="0"/>
          </a:xfrm>
          <a:prstGeom prst="line">
            <a:avLst/>
          </a:prstGeom>
          <a:ln>
            <a:solidFill>
              <a:schemeClr val="tx1">
                <a:lumMod val="50000"/>
                <a:lumOff val="5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直线连接符 14">
            <a:extLst>
              <a:ext uri="{FF2B5EF4-FFF2-40B4-BE49-F238E27FC236}">
                <a16:creationId xmlns:a16="http://schemas.microsoft.com/office/drawing/2014/main" id="{28FA833B-7562-0C4A-9E91-DB271C36131F}"/>
              </a:ext>
            </a:extLst>
          </p:cNvPr>
          <p:cNvCxnSpPr>
            <a:cxnSpLocks/>
          </p:cNvCxnSpPr>
          <p:nvPr/>
        </p:nvCxnSpPr>
        <p:spPr>
          <a:xfrm>
            <a:off x="4894734" y="4029741"/>
            <a:ext cx="288034" cy="1"/>
          </a:xfrm>
          <a:prstGeom prst="line">
            <a:avLst/>
          </a:prstGeom>
          <a:ln>
            <a:solidFill>
              <a:schemeClr val="tx1">
                <a:lumMod val="50000"/>
                <a:lumOff val="50000"/>
              </a:schemeClr>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21" name="矩形 20">
            <a:extLst>
              <a:ext uri="{FF2B5EF4-FFF2-40B4-BE49-F238E27FC236}">
                <a16:creationId xmlns:a16="http://schemas.microsoft.com/office/drawing/2014/main" id="{2165B157-F0FF-7142-94B7-4597926E90B3}"/>
              </a:ext>
            </a:extLst>
          </p:cNvPr>
          <p:cNvSpPr/>
          <p:nvPr/>
        </p:nvSpPr>
        <p:spPr>
          <a:xfrm>
            <a:off x="5174386" y="3840429"/>
            <a:ext cx="2133918" cy="369332"/>
          </a:xfrm>
          <a:prstGeom prst="rect">
            <a:avLst/>
          </a:prstGeom>
        </p:spPr>
        <p:txBody>
          <a:bodyPr wrap="none">
            <a:spAutoFit/>
          </a:bodyPr>
          <a:lstStyle/>
          <a:p>
            <a:r>
              <a:rPr kumimoji="1" lang="zh-CN" altLang="en-US" dirty="0">
                <a:solidFill>
                  <a:schemeClr val="accent1"/>
                </a:solidFill>
              </a:rPr>
              <a:t>内核态：</a:t>
            </a:r>
            <a:r>
              <a:rPr kumimoji="1" lang="en-US" altLang="zh-CN" dirty="0">
                <a:solidFill>
                  <a:schemeClr val="accent1"/>
                </a:solidFill>
              </a:rPr>
              <a:t>Exokernel</a:t>
            </a:r>
            <a:endParaRPr lang="zh-CN" altLang="en-US" dirty="0"/>
          </a:p>
        </p:txBody>
      </p:sp>
      <p:sp>
        <p:nvSpPr>
          <p:cNvPr id="22" name="矩形 21">
            <a:extLst>
              <a:ext uri="{FF2B5EF4-FFF2-40B4-BE49-F238E27FC236}">
                <a16:creationId xmlns:a16="http://schemas.microsoft.com/office/drawing/2014/main" id="{5FDE8A43-A716-F040-9E5A-2459FC67FC9D}"/>
              </a:ext>
            </a:extLst>
          </p:cNvPr>
          <p:cNvSpPr/>
          <p:nvPr/>
        </p:nvSpPr>
        <p:spPr>
          <a:xfrm>
            <a:off x="5148066" y="4920472"/>
            <a:ext cx="1672253" cy="369332"/>
          </a:xfrm>
          <a:prstGeom prst="rect">
            <a:avLst/>
          </a:prstGeom>
        </p:spPr>
        <p:txBody>
          <a:bodyPr wrap="none">
            <a:spAutoFit/>
          </a:bodyPr>
          <a:lstStyle/>
          <a:p>
            <a:r>
              <a:rPr kumimoji="1" lang="zh-CN" altLang="en-US" dirty="0">
                <a:solidFill>
                  <a:schemeClr val="accent1"/>
                </a:solidFill>
              </a:rPr>
              <a:t>用户态：</a:t>
            </a:r>
            <a:r>
              <a:rPr kumimoji="1" lang="en-US" altLang="zh-CN" dirty="0" err="1">
                <a:solidFill>
                  <a:schemeClr val="accent1"/>
                </a:solidFill>
              </a:rPr>
              <a:t>libOS</a:t>
            </a:r>
            <a:endParaRPr lang="zh-CN" altLang="en-US" dirty="0"/>
          </a:p>
        </p:txBody>
      </p:sp>
    </p:spTree>
    <p:extLst>
      <p:ext uri="{BB962C8B-B14F-4D97-AF65-F5344CB8AC3E}">
        <p14:creationId xmlns:p14="http://schemas.microsoft.com/office/powerpoint/2010/main" val="3105510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662099-1C25-B049-A89B-DFD356FCB14C}"/>
              </a:ext>
            </a:extLst>
          </p:cNvPr>
          <p:cNvSpPr>
            <a:spLocks noGrp="1"/>
          </p:cNvSpPr>
          <p:nvPr>
            <p:ph type="title"/>
          </p:nvPr>
        </p:nvSpPr>
        <p:spPr/>
        <p:txBody>
          <a:bodyPr/>
          <a:lstStyle/>
          <a:p>
            <a:r>
              <a:rPr kumimoji="1" lang="en-US" altLang="zh-CN" dirty="0"/>
              <a:t>Exokernel</a:t>
            </a:r>
            <a:r>
              <a:rPr kumimoji="1" lang="zh-CN" altLang="en-US" dirty="0"/>
              <a:t> </a:t>
            </a:r>
            <a:r>
              <a:rPr kumimoji="1" lang="en-US" altLang="zh-CN" dirty="0"/>
              <a:t>+</a:t>
            </a:r>
            <a:r>
              <a:rPr kumimoji="1" lang="zh-CN" altLang="en-US" dirty="0"/>
              <a:t> </a:t>
            </a:r>
            <a:r>
              <a:rPr kumimoji="1" lang="en-US" altLang="zh-CN" dirty="0" err="1"/>
              <a:t>LibOS</a:t>
            </a:r>
            <a:endParaRPr kumimoji="1" lang="zh-CN" altLang="en-US" dirty="0"/>
          </a:p>
        </p:txBody>
      </p:sp>
      <p:sp>
        <p:nvSpPr>
          <p:cNvPr id="3" name="内容占位符 2">
            <a:extLst>
              <a:ext uri="{FF2B5EF4-FFF2-40B4-BE49-F238E27FC236}">
                <a16:creationId xmlns:a16="http://schemas.microsoft.com/office/drawing/2014/main" id="{131472E8-AFF2-4F4E-BA99-B585F55DFDAE}"/>
              </a:ext>
            </a:extLst>
          </p:cNvPr>
          <p:cNvSpPr>
            <a:spLocks noGrp="1"/>
          </p:cNvSpPr>
          <p:nvPr>
            <p:ph idx="1"/>
          </p:nvPr>
        </p:nvSpPr>
        <p:spPr/>
        <p:txBody>
          <a:bodyPr>
            <a:normAutofit/>
          </a:bodyPr>
          <a:lstStyle/>
          <a:p>
            <a:r>
              <a:rPr kumimoji="1" lang="zh-CN" altLang="en-US" sz="2400" dirty="0"/>
              <a:t>库</a:t>
            </a:r>
            <a:r>
              <a:rPr kumimoji="1" lang="en-US" altLang="zh-CN" sz="2400" dirty="0"/>
              <a:t>OS</a:t>
            </a:r>
            <a:r>
              <a:rPr kumimoji="1" lang="zh-CN" altLang="en-US" sz="2400" dirty="0"/>
              <a:t>（</a:t>
            </a:r>
            <a:r>
              <a:rPr kumimoji="1" lang="en-US" altLang="zh-CN" sz="2400" dirty="0" err="1"/>
              <a:t>LibOS</a:t>
            </a:r>
            <a:r>
              <a:rPr kumimoji="1" lang="zh-CN" altLang="en-US" sz="2400" dirty="0"/>
              <a:t>）</a:t>
            </a:r>
            <a:endParaRPr kumimoji="1" lang="en-US" altLang="zh-CN" sz="2400" dirty="0"/>
          </a:p>
          <a:p>
            <a:pPr lvl="1"/>
            <a:r>
              <a:rPr kumimoji="1" lang="zh-CN" altLang="en-US" sz="2000" dirty="0"/>
              <a:t>策略与机制分离：将对硬件的抽象以库的形式提供</a:t>
            </a:r>
            <a:endParaRPr kumimoji="1" lang="en-US" altLang="zh-CN" sz="2000" dirty="0"/>
          </a:p>
          <a:p>
            <a:pPr lvl="1"/>
            <a:r>
              <a:rPr kumimoji="1" lang="zh-CN" altLang="en-US" sz="2000" dirty="0"/>
              <a:t>高度定制化：不同应用可使用不同的</a:t>
            </a:r>
            <a:r>
              <a:rPr kumimoji="1" lang="en-US" altLang="zh-CN" sz="2000" dirty="0" err="1"/>
              <a:t>LibOS</a:t>
            </a:r>
            <a:r>
              <a:rPr kumimoji="1" lang="zh-CN" altLang="en-US" sz="2000" dirty="0"/>
              <a:t>，或完全自定义</a:t>
            </a:r>
            <a:endParaRPr kumimoji="1" lang="en-US" altLang="zh-CN" sz="2000" dirty="0"/>
          </a:p>
          <a:p>
            <a:pPr lvl="1"/>
            <a:r>
              <a:rPr kumimoji="1" lang="zh-CN" altLang="en-US" sz="2000" dirty="0"/>
              <a:t>更高性能：</a:t>
            </a:r>
            <a:r>
              <a:rPr kumimoji="1" lang="en-US" altLang="zh-CN" sz="2000" dirty="0" err="1"/>
              <a:t>LibOS</a:t>
            </a:r>
            <a:r>
              <a:rPr kumimoji="1" lang="zh-CN" altLang="en-US" sz="2000" dirty="0"/>
              <a:t>与应用其他代码之间通过函数调用直接交互</a:t>
            </a:r>
          </a:p>
        </p:txBody>
      </p:sp>
      <p:sp>
        <p:nvSpPr>
          <p:cNvPr id="4" name="灯片编号占位符 3">
            <a:extLst>
              <a:ext uri="{FF2B5EF4-FFF2-40B4-BE49-F238E27FC236}">
                <a16:creationId xmlns:a16="http://schemas.microsoft.com/office/drawing/2014/main" id="{1EDD5CE0-B6C1-4647-B349-4DA115BF4E41}"/>
              </a:ext>
            </a:extLst>
          </p:cNvPr>
          <p:cNvSpPr>
            <a:spLocks noGrp="1"/>
          </p:cNvSpPr>
          <p:nvPr>
            <p:ph type="sldNum" sz="quarter" idx="12"/>
          </p:nvPr>
        </p:nvSpPr>
        <p:spPr/>
        <p:txBody>
          <a:bodyPr/>
          <a:lstStyle/>
          <a:p>
            <a:fld id="{ADE361C3-C043-4A6E-BDCE-8DA1E7D90A3B}" type="slidenum">
              <a:rPr lang="zh-CN" altLang="en-US" smtClean="0"/>
              <a:t>40</a:t>
            </a:fld>
            <a:endParaRPr lang="zh-CN" altLang="en-US"/>
          </a:p>
        </p:txBody>
      </p:sp>
      <p:pic>
        <p:nvPicPr>
          <p:cNvPr id="5" name="图片 4">
            <a:extLst>
              <a:ext uri="{FF2B5EF4-FFF2-40B4-BE49-F238E27FC236}">
                <a16:creationId xmlns:a16="http://schemas.microsoft.com/office/drawing/2014/main" id="{8557BA1E-B0E7-8548-B2EB-AEBD366AC274}"/>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044165" y="3368315"/>
            <a:ext cx="5055669" cy="2121148"/>
          </a:xfrm>
          <a:prstGeom prst="rect">
            <a:avLst/>
          </a:prstGeom>
        </p:spPr>
      </p:pic>
    </p:spTree>
    <p:extLst>
      <p:ext uri="{BB962C8B-B14F-4D97-AF65-F5344CB8AC3E}">
        <p14:creationId xmlns:p14="http://schemas.microsoft.com/office/powerpoint/2010/main" val="25935876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E6DF8E-5140-7041-A4EC-68B84EB455F1}"/>
              </a:ext>
            </a:extLst>
          </p:cNvPr>
          <p:cNvSpPr>
            <a:spLocks noGrp="1"/>
          </p:cNvSpPr>
          <p:nvPr>
            <p:ph type="title"/>
          </p:nvPr>
        </p:nvSpPr>
        <p:spPr/>
        <p:txBody>
          <a:bodyPr/>
          <a:lstStyle/>
          <a:p>
            <a:r>
              <a:rPr kumimoji="1" lang="en-US" altLang="zh-CN" dirty="0"/>
              <a:t>Exokernel</a:t>
            </a:r>
            <a:r>
              <a:rPr kumimoji="1" lang="zh-CN" altLang="en-US" dirty="0"/>
              <a:t>架构的设计</a:t>
            </a:r>
          </a:p>
        </p:txBody>
      </p:sp>
      <p:sp>
        <p:nvSpPr>
          <p:cNvPr id="3" name="内容占位符 2">
            <a:extLst>
              <a:ext uri="{FF2B5EF4-FFF2-40B4-BE49-F238E27FC236}">
                <a16:creationId xmlns:a16="http://schemas.microsoft.com/office/drawing/2014/main" id="{F17B31F0-B181-F741-AAF0-3862C4CA675B}"/>
              </a:ext>
            </a:extLst>
          </p:cNvPr>
          <p:cNvSpPr>
            <a:spLocks noGrp="1"/>
          </p:cNvSpPr>
          <p:nvPr>
            <p:ph idx="1"/>
          </p:nvPr>
        </p:nvSpPr>
        <p:spPr>
          <a:xfrm>
            <a:off x="457200" y="1417340"/>
            <a:ext cx="8229600" cy="3615789"/>
          </a:xfrm>
        </p:spPr>
        <p:txBody>
          <a:bodyPr>
            <a:normAutofit/>
          </a:bodyPr>
          <a:lstStyle/>
          <a:p>
            <a:r>
              <a:rPr kumimoji="1" lang="zh-CN" altLang="en-US" sz="2200" dirty="0"/>
              <a:t>外核的功能</a:t>
            </a:r>
            <a:endParaRPr kumimoji="1" lang="en-US" altLang="zh-CN" sz="2200" dirty="0"/>
          </a:p>
          <a:p>
            <a:pPr lvl="1"/>
            <a:r>
              <a:rPr kumimoji="1" lang="zh-CN" altLang="en-US" sz="2000" dirty="0"/>
              <a:t>追踪计算资源的拥有权</a:t>
            </a:r>
            <a:endParaRPr kumimoji="1" lang="en-US" altLang="zh-CN" sz="2000" dirty="0"/>
          </a:p>
          <a:p>
            <a:pPr lvl="1"/>
            <a:r>
              <a:rPr kumimoji="1" lang="zh-CN" altLang="en-US" sz="2000" dirty="0"/>
              <a:t>保证资源的保护</a:t>
            </a:r>
            <a:endParaRPr kumimoji="1" lang="en-US" altLang="zh-CN" sz="2000" dirty="0"/>
          </a:p>
          <a:p>
            <a:pPr lvl="1"/>
            <a:r>
              <a:rPr kumimoji="1" lang="zh-CN" altLang="en-US" sz="2000" dirty="0"/>
              <a:t>回收对资源的访问权</a:t>
            </a:r>
            <a:endParaRPr kumimoji="1" lang="en-US" altLang="zh-CN" sz="2000" dirty="0"/>
          </a:p>
        </p:txBody>
      </p:sp>
      <p:sp>
        <p:nvSpPr>
          <p:cNvPr id="4" name="灯片编号占位符 3">
            <a:extLst>
              <a:ext uri="{FF2B5EF4-FFF2-40B4-BE49-F238E27FC236}">
                <a16:creationId xmlns:a16="http://schemas.microsoft.com/office/drawing/2014/main" id="{1A62407C-BBE7-554A-8F44-ADDB9368C237}"/>
              </a:ext>
            </a:extLst>
          </p:cNvPr>
          <p:cNvSpPr>
            <a:spLocks noGrp="1"/>
          </p:cNvSpPr>
          <p:nvPr>
            <p:ph type="sldNum" sz="quarter" idx="12"/>
          </p:nvPr>
        </p:nvSpPr>
        <p:spPr/>
        <p:txBody>
          <a:bodyPr/>
          <a:lstStyle/>
          <a:p>
            <a:fld id="{ADE361C3-C043-4A6E-BDCE-8DA1E7D90A3B}" type="slidenum">
              <a:rPr lang="zh-CN" altLang="en-US" smtClean="0"/>
              <a:t>41</a:t>
            </a:fld>
            <a:endParaRPr lang="zh-CN" altLang="en-US"/>
          </a:p>
        </p:txBody>
      </p:sp>
      <p:sp>
        <p:nvSpPr>
          <p:cNvPr id="5" name="矩形 4">
            <a:extLst>
              <a:ext uri="{FF2B5EF4-FFF2-40B4-BE49-F238E27FC236}">
                <a16:creationId xmlns:a16="http://schemas.microsoft.com/office/drawing/2014/main" id="{9418A63B-3AA5-4B48-8E18-F6B7D33C3168}"/>
              </a:ext>
            </a:extLst>
          </p:cNvPr>
          <p:cNvSpPr/>
          <p:nvPr/>
        </p:nvSpPr>
        <p:spPr>
          <a:xfrm>
            <a:off x="1997968" y="4181444"/>
            <a:ext cx="4572000" cy="400110"/>
          </a:xfrm>
          <a:prstGeom prst="rect">
            <a:avLst/>
          </a:prstGeom>
        </p:spPr>
        <p:txBody>
          <a:bodyPr>
            <a:spAutoFit/>
          </a:bodyPr>
          <a:lstStyle/>
          <a:p>
            <a:pPr lvl="1"/>
            <a:r>
              <a:rPr kumimoji="1" lang="zh-CN" altLang="en-US" sz="2000" b="1" dirty="0">
                <a:highlight>
                  <a:srgbClr val="FFFF00"/>
                </a:highlight>
              </a:rPr>
              <a:t>设计原则：</a:t>
            </a:r>
            <a:r>
              <a:rPr kumimoji="1" lang="en-US" altLang="zh-CN" sz="2000" b="1" dirty="0">
                <a:highlight>
                  <a:srgbClr val="FFFF00"/>
                </a:highlight>
              </a:rPr>
              <a:t>"</a:t>
            </a:r>
            <a:r>
              <a:rPr kumimoji="1" lang="zh-CN" altLang="en-US" sz="2000" b="1" dirty="0">
                <a:highlight>
                  <a:srgbClr val="FFFF00"/>
                </a:highlight>
              </a:rPr>
              <a:t>将管理与保护分离</a:t>
            </a:r>
            <a:r>
              <a:rPr kumimoji="1" lang="en-US" altLang="zh-CN" sz="2000" b="1" dirty="0">
                <a:highlight>
                  <a:srgbClr val="FFFF00"/>
                </a:highlight>
              </a:rPr>
              <a:t>"</a:t>
            </a:r>
          </a:p>
        </p:txBody>
      </p:sp>
      <p:sp>
        <p:nvSpPr>
          <p:cNvPr id="6" name="内容占位符 2">
            <a:extLst>
              <a:ext uri="{FF2B5EF4-FFF2-40B4-BE49-F238E27FC236}">
                <a16:creationId xmlns:a16="http://schemas.microsoft.com/office/drawing/2014/main" id="{E5EC928B-8A77-334C-AD84-FD0F1BFE14AD}"/>
              </a:ext>
            </a:extLst>
          </p:cNvPr>
          <p:cNvSpPr txBox="1">
            <a:spLocks/>
          </p:cNvSpPr>
          <p:nvPr/>
        </p:nvSpPr>
        <p:spPr>
          <a:xfrm>
            <a:off x="4283968" y="1417340"/>
            <a:ext cx="4186808" cy="3615789"/>
          </a:xfrm>
          <a:prstGeom prst="rect">
            <a:avLst/>
          </a:prstGeom>
        </p:spPr>
        <p:txBody>
          <a:bodyPr vert="horz" lIns="91440" tIns="45720" rIns="91440" bIns="45720" rtlCol="0">
            <a:normAutofit/>
          </a:bodyPr>
          <a:lstStyle>
            <a:lvl1pPr marL="342900" indent="-342900" algn="l" defTabSz="914400" rtl="0" eaLnBrk="1" latinLnBrk="0" hangingPunct="1">
              <a:lnSpc>
                <a:spcPct val="120000"/>
              </a:lnSpc>
              <a:spcBef>
                <a:spcPts val="1200"/>
              </a:spcBef>
              <a:buFont typeface="Arial" pitchFamily="34" charset="0"/>
              <a:buChar char="•"/>
              <a:defRPr sz="2600" b="1"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1pPr>
            <a:lvl2pPr marL="742950" indent="-285750" algn="l" defTabSz="914400" rtl="0" eaLnBrk="1" latinLnBrk="0" hangingPunct="1">
              <a:lnSpc>
                <a:spcPct val="120000"/>
              </a:lnSpc>
              <a:spcBef>
                <a:spcPct val="20000"/>
              </a:spcBef>
              <a:buFont typeface="Arial" pitchFamily="34" charset="0"/>
              <a:buChar char="–"/>
              <a:defRPr sz="24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2pPr>
            <a:lvl3pPr marL="1143000" indent="-22860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3pPr>
            <a:lvl4pPr marL="16002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4pPr>
            <a:lvl5pPr marL="20574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kumimoji="1" lang="zh-CN" altLang="en-US" sz="2200" dirty="0"/>
              <a:t>对应的三个技术</a:t>
            </a:r>
            <a:endParaRPr kumimoji="1" lang="en-US" altLang="zh-CN" sz="2200" dirty="0"/>
          </a:p>
          <a:p>
            <a:pPr lvl="1"/>
            <a:r>
              <a:rPr kumimoji="1" lang="zh-CN" altLang="en-US" sz="2000" dirty="0"/>
              <a:t>安全绑定（</a:t>
            </a:r>
            <a:r>
              <a:rPr kumimoji="1" lang="en-US" altLang="zh-CN" sz="2000" dirty="0"/>
              <a:t>Secure</a:t>
            </a:r>
            <a:r>
              <a:rPr kumimoji="1" lang="zh-CN" altLang="en-US" sz="2000" dirty="0"/>
              <a:t> </a:t>
            </a:r>
            <a:r>
              <a:rPr kumimoji="1" lang="en-US" altLang="zh-CN" sz="2000" dirty="0"/>
              <a:t>binding</a:t>
            </a:r>
            <a:r>
              <a:rPr kumimoji="1" lang="zh-CN" altLang="en-US" sz="2000" dirty="0"/>
              <a:t>）</a:t>
            </a:r>
            <a:endParaRPr kumimoji="1" lang="en-US" altLang="zh-CN" sz="2000" dirty="0"/>
          </a:p>
          <a:p>
            <a:pPr lvl="1"/>
            <a:r>
              <a:rPr kumimoji="1" lang="zh-CN" altLang="en-US" sz="2000" dirty="0"/>
              <a:t>显式回收（</a:t>
            </a:r>
            <a:r>
              <a:rPr kumimoji="1" lang="en-US" altLang="zh-CN" sz="2000" dirty="0"/>
              <a:t>Visible</a:t>
            </a:r>
            <a:r>
              <a:rPr kumimoji="1" lang="zh-CN" altLang="en-US" sz="2000" dirty="0"/>
              <a:t> </a:t>
            </a:r>
            <a:r>
              <a:rPr kumimoji="1" lang="en-US" altLang="zh-CN" sz="2000" dirty="0"/>
              <a:t>revocation</a:t>
            </a:r>
            <a:r>
              <a:rPr kumimoji="1" lang="zh-CN" altLang="en-US" sz="2000" dirty="0"/>
              <a:t>）</a:t>
            </a:r>
            <a:endParaRPr kumimoji="1" lang="en-US" altLang="zh-CN" sz="2000" dirty="0"/>
          </a:p>
          <a:p>
            <a:pPr lvl="1"/>
            <a:r>
              <a:rPr kumimoji="1" lang="zh-CN" altLang="en-US" sz="2000" dirty="0"/>
              <a:t>中止协议（</a:t>
            </a:r>
            <a:r>
              <a:rPr kumimoji="1" lang="en-US" altLang="zh-CN" sz="2000" dirty="0"/>
              <a:t>Abort</a:t>
            </a:r>
            <a:r>
              <a:rPr kumimoji="1" lang="zh-CN" altLang="en-US" sz="2000" dirty="0"/>
              <a:t> </a:t>
            </a:r>
            <a:r>
              <a:rPr kumimoji="1" lang="en-US" altLang="zh-CN" sz="2000" dirty="0"/>
              <a:t>protocol</a:t>
            </a:r>
            <a:r>
              <a:rPr kumimoji="1" lang="zh-CN" altLang="en-US" sz="2000" dirty="0"/>
              <a:t>）</a:t>
            </a:r>
          </a:p>
        </p:txBody>
      </p:sp>
    </p:spTree>
    <p:extLst>
      <p:ext uri="{BB962C8B-B14F-4D97-AF65-F5344CB8AC3E}">
        <p14:creationId xmlns:p14="http://schemas.microsoft.com/office/powerpoint/2010/main" val="485889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63ECCF-BB3D-E34E-8529-D871D5B2DC1B}"/>
              </a:ext>
            </a:extLst>
          </p:cNvPr>
          <p:cNvSpPr>
            <a:spLocks noGrp="1"/>
          </p:cNvSpPr>
          <p:nvPr>
            <p:ph type="title"/>
          </p:nvPr>
        </p:nvSpPr>
        <p:spPr/>
        <p:txBody>
          <a:bodyPr/>
          <a:lstStyle/>
          <a:p>
            <a:r>
              <a:rPr kumimoji="1" lang="zh-CN" altLang="en-US" dirty="0"/>
              <a:t>安全绑定</a:t>
            </a:r>
          </a:p>
        </p:txBody>
      </p:sp>
      <p:sp>
        <p:nvSpPr>
          <p:cNvPr id="3" name="内容占位符 2">
            <a:extLst>
              <a:ext uri="{FF2B5EF4-FFF2-40B4-BE49-F238E27FC236}">
                <a16:creationId xmlns:a16="http://schemas.microsoft.com/office/drawing/2014/main" id="{2074BE05-7071-A04B-8E97-BF431AE0502D}"/>
              </a:ext>
            </a:extLst>
          </p:cNvPr>
          <p:cNvSpPr>
            <a:spLocks noGrp="1"/>
          </p:cNvSpPr>
          <p:nvPr>
            <p:ph idx="1"/>
          </p:nvPr>
        </p:nvSpPr>
        <p:spPr/>
        <p:txBody>
          <a:bodyPr>
            <a:normAutofit/>
          </a:bodyPr>
          <a:lstStyle/>
          <a:p>
            <a:r>
              <a:rPr kumimoji="1" lang="zh-CN" altLang="en-US" sz="2000" dirty="0"/>
              <a:t>将</a:t>
            </a:r>
            <a:r>
              <a:rPr kumimoji="1" lang="en-US" altLang="zh-CN" sz="2000" dirty="0" err="1"/>
              <a:t>LibOS</a:t>
            </a:r>
            <a:r>
              <a:rPr kumimoji="1" lang="zh-CN" altLang="en-US" sz="2000" dirty="0"/>
              <a:t>与计算资源绑定</a:t>
            </a:r>
            <a:endParaRPr kumimoji="1" lang="en-US" altLang="zh-CN" sz="2000" dirty="0"/>
          </a:p>
          <a:p>
            <a:pPr lvl="1"/>
            <a:r>
              <a:rPr kumimoji="1" lang="zh-CN" altLang="en-US" sz="1800" dirty="0"/>
              <a:t>可用性：允许某个</a:t>
            </a:r>
            <a:r>
              <a:rPr kumimoji="1" lang="en-US" altLang="zh-CN" sz="1800" dirty="0" err="1"/>
              <a:t>LibOS</a:t>
            </a:r>
            <a:r>
              <a:rPr kumimoji="1" lang="zh-CN" altLang="en-US" sz="1800" dirty="0"/>
              <a:t>访问某些计算资源（如物理内存）</a:t>
            </a:r>
            <a:endParaRPr kumimoji="1" lang="en-US" altLang="zh-CN" sz="1800" dirty="0"/>
          </a:p>
          <a:p>
            <a:pPr lvl="1"/>
            <a:r>
              <a:rPr kumimoji="1" lang="zh-CN" altLang="en-US" sz="1800" dirty="0"/>
              <a:t>隔离性：防止这些计算资源被其他</a:t>
            </a:r>
            <a:r>
              <a:rPr kumimoji="1" lang="en-US" altLang="zh-CN" sz="1800" dirty="0" err="1"/>
              <a:t>LibOS</a:t>
            </a:r>
            <a:r>
              <a:rPr kumimoji="1" lang="zh-CN" altLang="en-US" sz="1800" dirty="0"/>
              <a:t>访问</a:t>
            </a:r>
            <a:endParaRPr kumimoji="1" lang="en-US" altLang="zh-CN" sz="1800" dirty="0"/>
          </a:p>
          <a:p>
            <a:r>
              <a:rPr kumimoji="1" lang="zh-CN" altLang="en-US" sz="2000" dirty="0"/>
              <a:t>例：利用</a:t>
            </a:r>
            <a:r>
              <a:rPr kumimoji="1" lang="en-US" altLang="zh-CN" sz="2000" dirty="0"/>
              <a:t>software</a:t>
            </a:r>
            <a:r>
              <a:rPr kumimoji="1" lang="zh-CN" altLang="en-US" sz="2000" dirty="0"/>
              <a:t> </a:t>
            </a:r>
            <a:r>
              <a:rPr kumimoji="1" lang="en-US" altLang="zh-CN" sz="2000" dirty="0"/>
              <a:t>TLB</a:t>
            </a:r>
            <a:r>
              <a:rPr kumimoji="1" lang="zh-CN" altLang="en-US" sz="2000" dirty="0"/>
              <a:t>保证</a:t>
            </a:r>
            <a:r>
              <a:rPr kumimoji="1" lang="en-US" altLang="zh-CN" sz="2000" dirty="0" err="1"/>
              <a:t>LibOS</a:t>
            </a:r>
            <a:r>
              <a:rPr kumimoji="1" lang="zh-CN" altLang="en-US" sz="2000" dirty="0"/>
              <a:t>只使用了自己的物理内存</a:t>
            </a:r>
            <a:endParaRPr kumimoji="1" lang="en-US" altLang="zh-CN" sz="2000" dirty="0"/>
          </a:p>
          <a:p>
            <a:pPr lvl="1"/>
            <a:r>
              <a:rPr kumimoji="1" lang="en-US" altLang="zh-CN" sz="1800" dirty="0" err="1"/>
              <a:t>LibOS</a:t>
            </a:r>
            <a:r>
              <a:rPr kumimoji="1" lang="zh-CN" altLang="en-US" sz="1800" dirty="0"/>
              <a:t>可直接修改页表，因此可能会将自己的页表指向其他</a:t>
            </a:r>
            <a:r>
              <a:rPr kumimoji="1" lang="en-US" altLang="zh-CN" sz="1800" dirty="0" err="1"/>
              <a:t>LibOS</a:t>
            </a:r>
            <a:r>
              <a:rPr kumimoji="1" lang="zh-CN" altLang="en-US" sz="1800" dirty="0"/>
              <a:t>物理页</a:t>
            </a:r>
            <a:endParaRPr kumimoji="1" lang="en-US" altLang="zh-CN" sz="1800" dirty="0"/>
          </a:p>
          <a:p>
            <a:pPr lvl="1"/>
            <a:r>
              <a:rPr kumimoji="1" lang="en-US" altLang="zh-CN" sz="1800" dirty="0"/>
              <a:t>Software</a:t>
            </a:r>
            <a:r>
              <a:rPr kumimoji="1" lang="zh-CN" altLang="en-US" sz="1800" dirty="0"/>
              <a:t> </a:t>
            </a:r>
            <a:r>
              <a:rPr kumimoji="1" lang="en-US" altLang="zh-CN" sz="1800" dirty="0"/>
              <a:t>TLB</a:t>
            </a:r>
            <a:r>
              <a:rPr kumimoji="1" lang="zh-CN" altLang="en-US" sz="1800" dirty="0"/>
              <a:t>是软件可控的</a:t>
            </a:r>
            <a:r>
              <a:rPr kumimoji="1" lang="en-US" altLang="zh-CN" sz="1800" dirty="0"/>
              <a:t>TLB</a:t>
            </a:r>
            <a:r>
              <a:rPr kumimoji="1" lang="zh-CN" altLang="en-US" sz="1800" dirty="0"/>
              <a:t>，</a:t>
            </a:r>
            <a:r>
              <a:rPr kumimoji="1" lang="en-US" altLang="zh-CN" sz="1800" dirty="0"/>
              <a:t>MIPS</a:t>
            </a:r>
            <a:r>
              <a:rPr kumimoji="1" lang="zh-CN" altLang="en-US" sz="1800" dirty="0"/>
              <a:t>等处理器支持</a:t>
            </a:r>
            <a:endParaRPr kumimoji="1" lang="en-US" altLang="zh-CN" sz="1800" dirty="0"/>
          </a:p>
          <a:p>
            <a:pPr lvl="1"/>
            <a:r>
              <a:rPr kumimoji="1" lang="zh-CN" altLang="en-US" sz="1800" dirty="0"/>
              <a:t>每次发生</a:t>
            </a:r>
            <a:r>
              <a:rPr kumimoji="1" lang="en-US" altLang="zh-CN" sz="1800" dirty="0"/>
              <a:t>TLB</a:t>
            </a:r>
            <a:r>
              <a:rPr kumimoji="1" lang="zh-CN" altLang="en-US" sz="1800" dirty="0"/>
              <a:t> </a:t>
            </a:r>
            <a:r>
              <a:rPr kumimoji="1" lang="en-US" altLang="zh-CN" sz="1800" dirty="0"/>
              <a:t>miss</a:t>
            </a:r>
            <a:r>
              <a:rPr kumimoji="1" lang="zh-CN" altLang="en-US" sz="1800" dirty="0"/>
              <a:t>时，由</a:t>
            </a:r>
            <a:r>
              <a:rPr kumimoji="1" lang="en-US" altLang="zh-CN" sz="1800" dirty="0"/>
              <a:t>Exokernel</a:t>
            </a:r>
            <a:r>
              <a:rPr kumimoji="1" lang="zh-CN" altLang="en-US" sz="1800" dirty="0"/>
              <a:t>负责遍历页表并填写对应的</a:t>
            </a:r>
            <a:r>
              <a:rPr kumimoji="1" lang="en-US" altLang="zh-CN" sz="1800" dirty="0"/>
              <a:t>TLB</a:t>
            </a:r>
            <a:r>
              <a:rPr kumimoji="1" lang="zh-CN" altLang="en-US" sz="1800" dirty="0"/>
              <a:t>项</a:t>
            </a:r>
            <a:endParaRPr kumimoji="1" lang="en-US" altLang="zh-CN" sz="1800" dirty="0"/>
          </a:p>
          <a:p>
            <a:pPr lvl="1"/>
            <a:r>
              <a:rPr kumimoji="1" lang="en-US" altLang="zh-CN" sz="1800" dirty="0"/>
              <a:t>Exokernel</a:t>
            </a:r>
            <a:r>
              <a:rPr kumimoji="1" lang="zh-CN" altLang="en-US" sz="1800" dirty="0"/>
              <a:t>可在填写</a:t>
            </a:r>
            <a:r>
              <a:rPr kumimoji="1" lang="en-US" altLang="zh-CN" sz="1800" dirty="0"/>
              <a:t>TLB</a:t>
            </a:r>
            <a:r>
              <a:rPr kumimoji="1" lang="zh-CN" altLang="en-US" sz="1800" dirty="0"/>
              <a:t>项时检查</a:t>
            </a:r>
            <a:r>
              <a:rPr kumimoji="1" lang="en-US" altLang="zh-CN" sz="1800" dirty="0" err="1"/>
              <a:t>LibOS</a:t>
            </a:r>
            <a:r>
              <a:rPr kumimoji="1" lang="zh-CN" altLang="en-US" sz="1800" dirty="0"/>
              <a:t>对内存的使用是否合法</a:t>
            </a:r>
          </a:p>
        </p:txBody>
      </p:sp>
      <p:sp>
        <p:nvSpPr>
          <p:cNvPr id="4" name="灯片编号占位符 3">
            <a:extLst>
              <a:ext uri="{FF2B5EF4-FFF2-40B4-BE49-F238E27FC236}">
                <a16:creationId xmlns:a16="http://schemas.microsoft.com/office/drawing/2014/main" id="{BAB0A638-86D7-2E4D-995A-827D49138B83}"/>
              </a:ext>
            </a:extLst>
          </p:cNvPr>
          <p:cNvSpPr>
            <a:spLocks noGrp="1"/>
          </p:cNvSpPr>
          <p:nvPr>
            <p:ph type="sldNum" sz="quarter" idx="12"/>
          </p:nvPr>
        </p:nvSpPr>
        <p:spPr/>
        <p:txBody>
          <a:bodyPr/>
          <a:lstStyle/>
          <a:p>
            <a:fld id="{ADE361C3-C043-4A6E-BDCE-8DA1E7D90A3B}" type="slidenum">
              <a:rPr lang="zh-CN" altLang="en-US" smtClean="0"/>
              <a:t>42</a:t>
            </a:fld>
            <a:endParaRPr lang="zh-CN" altLang="en-US"/>
          </a:p>
        </p:txBody>
      </p:sp>
      <p:sp>
        <p:nvSpPr>
          <p:cNvPr id="6" name="文本框 5">
            <a:extLst>
              <a:ext uri="{FF2B5EF4-FFF2-40B4-BE49-F238E27FC236}">
                <a16:creationId xmlns:a16="http://schemas.microsoft.com/office/drawing/2014/main" id="{18815BA9-0CB2-C244-831E-9FC7273EF773}"/>
              </a:ext>
            </a:extLst>
          </p:cNvPr>
          <p:cNvSpPr txBox="1"/>
          <p:nvPr/>
        </p:nvSpPr>
        <p:spPr>
          <a:xfrm>
            <a:off x="4283968" y="263588"/>
            <a:ext cx="4664278" cy="830997"/>
          </a:xfrm>
          <a:prstGeom prst="rect">
            <a:avLst/>
          </a:prstGeom>
          <a:solidFill>
            <a:schemeClr val="bg1">
              <a:lumMod val="85000"/>
            </a:schemeClr>
          </a:solidFill>
        </p:spPr>
        <p:txBody>
          <a:bodyPr wrap="square">
            <a:spAutoFit/>
          </a:bodyPr>
          <a:lstStyle/>
          <a:p>
            <a:r>
              <a:rPr lang="en" altLang="zh-CN" sz="1600" b="0" i="1" dirty="0">
                <a:solidFill>
                  <a:srgbClr val="000000"/>
                </a:solidFill>
                <a:effectLst/>
                <a:latin typeface="PingFang SC" panose="020B0400000000000000" pitchFamily="34" charset="-122"/>
                <a:ea typeface="PingFang SC" panose="020B0400000000000000" pitchFamily="34" charset="-122"/>
              </a:rPr>
              <a:t>A secure binding is a protection mechanism that decouples authorization from the actual use of a resource</a:t>
            </a:r>
            <a:r>
              <a:rPr lang="en-US" altLang="zh-CN" sz="1600" b="0" i="1" dirty="0">
                <a:solidFill>
                  <a:srgbClr val="000000"/>
                </a:solidFill>
                <a:effectLst/>
                <a:latin typeface="PingFang SC" panose="020B0400000000000000" pitchFamily="34" charset="-122"/>
                <a:ea typeface="PingFang SC" panose="020B0400000000000000" pitchFamily="34" charset="-122"/>
              </a:rPr>
              <a:t>.</a:t>
            </a:r>
            <a:endParaRPr lang="zh-CN" altLang="en-US" sz="1600" i="1" dirty="0"/>
          </a:p>
        </p:txBody>
      </p:sp>
    </p:spTree>
    <p:extLst>
      <p:ext uri="{BB962C8B-B14F-4D97-AF65-F5344CB8AC3E}">
        <p14:creationId xmlns:p14="http://schemas.microsoft.com/office/powerpoint/2010/main" val="31032624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B0C2E3-8173-0D4D-8037-07073598EC31}"/>
              </a:ext>
            </a:extLst>
          </p:cNvPr>
          <p:cNvSpPr>
            <a:spLocks noGrp="1"/>
          </p:cNvSpPr>
          <p:nvPr>
            <p:ph type="title"/>
          </p:nvPr>
        </p:nvSpPr>
        <p:spPr/>
        <p:txBody>
          <a:bodyPr/>
          <a:lstStyle/>
          <a:p>
            <a:r>
              <a:rPr kumimoji="1" lang="zh-CN" altLang="en-US" dirty="0"/>
              <a:t>显式资源回收与中止协议</a:t>
            </a:r>
          </a:p>
        </p:txBody>
      </p:sp>
      <p:sp>
        <p:nvSpPr>
          <p:cNvPr id="3" name="内容占位符 2">
            <a:extLst>
              <a:ext uri="{FF2B5EF4-FFF2-40B4-BE49-F238E27FC236}">
                <a16:creationId xmlns:a16="http://schemas.microsoft.com/office/drawing/2014/main" id="{3383DF92-E9EC-AC4B-8E97-00EE12D84FB6}"/>
              </a:ext>
            </a:extLst>
          </p:cNvPr>
          <p:cNvSpPr>
            <a:spLocks noGrp="1"/>
          </p:cNvSpPr>
          <p:nvPr>
            <p:ph idx="1"/>
          </p:nvPr>
        </p:nvSpPr>
        <p:spPr/>
        <p:txBody>
          <a:bodyPr>
            <a:normAutofit/>
          </a:bodyPr>
          <a:lstStyle/>
          <a:p>
            <a:r>
              <a:rPr kumimoji="1" lang="en-US" altLang="zh-CN" sz="2400" dirty="0"/>
              <a:t>Exokernel</a:t>
            </a:r>
            <a:r>
              <a:rPr kumimoji="1" lang="zh-CN" altLang="en-US" sz="2400" dirty="0"/>
              <a:t>与应用之间的协议</a:t>
            </a:r>
            <a:endParaRPr kumimoji="1" lang="en-US" altLang="zh-CN" sz="2400" dirty="0"/>
          </a:p>
          <a:p>
            <a:pPr lvl="1"/>
            <a:r>
              <a:rPr kumimoji="1" lang="en-US" altLang="zh-CN" sz="2000" dirty="0"/>
              <a:t>Exokernel</a:t>
            </a:r>
            <a:r>
              <a:rPr kumimoji="1" lang="zh-CN" altLang="en-US" sz="2000" dirty="0"/>
              <a:t>显式告知应用资源的分配情况</a:t>
            </a:r>
            <a:endParaRPr kumimoji="1" lang="en-US" altLang="zh-CN" sz="2000" dirty="0"/>
          </a:p>
          <a:p>
            <a:pPr lvl="1"/>
            <a:r>
              <a:rPr kumimoji="1" lang="zh-CN" altLang="en-US" sz="2000" dirty="0"/>
              <a:t>应用在租期结束之前主动归还资源</a:t>
            </a:r>
            <a:endParaRPr kumimoji="1" lang="en-US" altLang="zh-CN" sz="2000" dirty="0"/>
          </a:p>
          <a:p>
            <a:r>
              <a:rPr kumimoji="1" lang="zh-CN" altLang="en-US" sz="2400" dirty="0"/>
              <a:t>若应用不归还资源，则强制中止</a:t>
            </a:r>
            <a:endParaRPr kumimoji="1" lang="en-US" altLang="zh-CN" sz="2400" dirty="0"/>
          </a:p>
          <a:p>
            <a:pPr lvl="1"/>
            <a:r>
              <a:rPr kumimoji="1" lang="en-US" altLang="zh-CN" sz="2000" dirty="0"/>
              <a:t>Exokernel</a:t>
            </a:r>
            <a:r>
              <a:rPr kumimoji="1" lang="zh-CN" altLang="en-US" sz="2000" dirty="0"/>
              <a:t>拥有对资源的控制权</a:t>
            </a:r>
            <a:endParaRPr kumimoji="1" lang="en-US" altLang="zh-CN" sz="2000" dirty="0"/>
          </a:p>
          <a:p>
            <a:pPr lvl="1"/>
            <a:r>
              <a:rPr kumimoji="1" lang="zh-CN" altLang="en-US" sz="2000" dirty="0"/>
              <a:t>主动解除资源与应用间的绑定关系</a:t>
            </a:r>
            <a:endParaRPr kumimoji="1" lang="en-US" altLang="zh-CN" sz="2000" dirty="0"/>
          </a:p>
          <a:p>
            <a:pPr lvl="1"/>
            <a:endParaRPr kumimoji="1" lang="zh-CN" altLang="en-US" sz="2000" dirty="0"/>
          </a:p>
        </p:txBody>
      </p:sp>
      <p:sp>
        <p:nvSpPr>
          <p:cNvPr id="4" name="灯片编号占位符 3">
            <a:extLst>
              <a:ext uri="{FF2B5EF4-FFF2-40B4-BE49-F238E27FC236}">
                <a16:creationId xmlns:a16="http://schemas.microsoft.com/office/drawing/2014/main" id="{38EFF495-A4E1-AC43-A239-4ECE9ED27180}"/>
              </a:ext>
            </a:extLst>
          </p:cNvPr>
          <p:cNvSpPr>
            <a:spLocks noGrp="1"/>
          </p:cNvSpPr>
          <p:nvPr>
            <p:ph type="sldNum" sz="quarter" idx="12"/>
          </p:nvPr>
        </p:nvSpPr>
        <p:spPr/>
        <p:txBody>
          <a:bodyPr/>
          <a:lstStyle/>
          <a:p>
            <a:fld id="{ADE361C3-C043-4A6E-BDCE-8DA1E7D90A3B}" type="slidenum">
              <a:rPr lang="zh-CN" altLang="en-US" smtClean="0"/>
              <a:t>43</a:t>
            </a:fld>
            <a:endParaRPr lang="zh-CN" altLang="en-US"/>
          </a:p>
        </p:txBody>
      </p:sp>
    </p:spTree>
    <p:extLst>
      <p:ext uri="{BB962C8B-B14F-4D97-AF65-F5344CB8AC3E}">
        <p14:creationId xmlns:p14="http://schemas.microsoft.com/office/powerpoint/2010/main" val="19285325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31A187-4035-6C4D-9EE3-8AB2CF5DC2CC}"/>
              </a:ext>
            </a:extLst>
          </p:cNvPr>
          <p:cNvSpPr>
            <a:spLocks noGrp="1"/>
          </p:cNvSpPr>
          <p:nvPr>
            <p:ph type="title"/>
          </p:nvPr>
        </p:nvSpPr>
        <p:spPr/>
        <p:txBody>
          <a:bodyPr/>
          <a:lstStyle/>
          <a:p>
            <a:r>
              <a:rPr kumimoji="1" lang="zh-CN" altLang="en-US" dirty="0"/>
              <a:t>例：</a:t>
            </a:r>
            <a:r>
              <a:rPr kumimoji="1" lang="en-US" altLang="zh-CN" dirty="0"/>
              <a:t>Exokernel</a:t>
            </a:r>
            <a:r>
              <a:rPr kumimoji="1" lang="zh-CN" altLang="en-US" dirty="0"/>
              <a:t>对磁盘的管理</a:t>
            </a:r>
          </a:p>
        </p:txBody>
      </p:sp>
      <p:sp>
        <p:nvSpPr>
          <p:cNvPr id="3" name="内容占位符 2">
            <a:extLst>
              <a:ext uri="{FF2B5EF4-FFF2-40B4-BE49-F238E27FC236}">
                <a16:creationId xmlns:a16="http://schemas.microsoft.com/office/drawing/2014/main" id="{2BF3B857-5402-0447-9638-88237019BA5B}"/>
              </a:ext>
            </a:extLst>
          </p:cNvPr>
          <p:cNvSpPr>
            <a:spLocks noGrp="1"/>
          </p:cNvSpPr>
          <p:nvPr>
            <p:ph idx="1"/>
          </p:nvPr>
        </p:nvSpPr>
        <p:spPr/>
        <p:txBody>
          <a:bodyPr/>
          <a:lstStyle/>
          <a:p>
            <a:r>
              <a:rPr kumimoji="1" lang="zh-CN" altLang="en-US" dirty="0"/>
              <a:t>应用程序（和</a:t>
            </a:r>
            <a:r>
              <a:rPr kumimoji="1" lang="en-US" altLang="zh-CN" dirty="0" err="1"/>
              <a:t>LibOS</a:t>
            </a:r>
            <a:r>
              <a:rPr kumimoji="1" lang="zh-CN" altLang="en-US" dirty="0"/>
              <a:t>）</a:t>
            </a:r>
            <a:endParaRPr kumimoji="1" lang="en-US" altLang="zh-CN" dirty="0"/>
          </a:p>
          <a:p>
            <a:pPr lvl="1"/>
            <a:r>
              <a:rPr kumimoji="1" lang="zh-CN" altLang="en-US" dirty="0"/>
              <a:t>管理磁盘块设备的</a:t>
            </a:r>
            <a:r>
              <a:rPr kumimoji="1" lang="en-US" altLang="zh-CN" dirty="0"/>
              <a:t>page</a:t>
            </a:r>
            <a:r>
              <a:rPr kumimoji="1" lang="zh-CN" altLang="en-US" dirty="0"/>
              <a:t> </a:t>
            </a:r>
            <a:r>
              <a:rPr kumimoji="1" lang="en-US" altLang="zh-CN" dirty="0"/>
              <a:t>cache</a:t>
            </a:r>
          </a:p>
          <a:p>
            <a:r>
              <a:rPr kumimoji="1" lang="en-US" altLang="zh-CN" dirty="0"/>
              <a:t>Exokernel</a:t>
            </a:r>
          </a:p>
          <a:p>
            <a:pPr lvl="1"/>
            <a:r>
              <a:rPr kumimoji="1" lang="zh-CN" altLang="en-US" dirty="0"/>
              <a:t>允许应用之间安全的共享</a:t>
            </a:r>
            <a:r>
              <a:rPr kumimoji="1" lang="en-US" altLang="zh-CN" dirty="0"/>
              <a:t>page</a:t>
            </a:r>
            <a:r>
              <a:rPr kumimoji="1" lang="zh-CN" altLang="en-US" dirty="0"/>
              <a:t> </a:t>
            </a:r>
            <a:r>
              <a:rPr kumimoji="1" lang="en-US" altLang="zh-CN" dirty="0"/>
              <a:t>cache</a:t>
            </a:r>
          </a:p>
        </p:txBody>
      </p:sp>
      <p:sp>
        <p:nvSpPr>
          <p:cNvPr id="4" name="灯片编号占位符 3">
            <a:extLst>
              <a:ext uri="{FF2B5EF4-FFF2-40B4-BE49-F238E27FC236}">
                <a16:creationId xmlns:a16="http://schemas.microsoft.com/office/drawing/2014/main" id="{933AEB47-8B75-1646-8400-2AB400035CB6}"/>
              </a:ext>
            </a:extLst>
          </p:cNvPr>
          <p:cNvSpPr>
            <a:spLocks noGrp="1"/>
          </p:cNvSpPr>
          <p:nvPr>
            <p:ph type="sldNum" sz="quarter" idx="12"/>
          </p:nvPr>
        </p:nvSpPr>
        <p:spPr/>
        <p:txBody>
          <a:bodyPr/>
          <a:lstStyle/>
          <a:p>
            <a:fld id="{ADE361C3-C043-4A6E-BDCE-8DA1E7D90A3B}" type="slidenum">
              <a:rPr lang="zh-CN" altLang="en-US" smtClean="0"/>
              <a:t>44</a:t>
            </a:fld>
            <a:endParaRPr lang="zh-CN" altLang="en-US"/>
          </a:p>
        </p:txBody>
      </p:sp>
    </p:spTree>
    <p:extLst>
      <p:ext uri="{BB962C8B-B14F-4D97-AF65-F5344CB8AC3E}">
        <p14:creationId xmlns:p14="http://schemas.microsoft.com/office/powerpoint/2010/main" val="2090260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3DBC78-D337-7544-AF0F-B5C410D623E3}"/>
              </a:ext>
            </a:extLst>
          </p:cNvPr>
          <p:cNvSpPr>
            <a:spLocks noGrp="1"/>
          </p:cNvSpPr>
          <p:nvPr>
            <p:ph type="title"/>
          </p:nvPr>
        </p:nvSpPr>
        <p:spPr/>
        <p:txBody>
          <a:bodyPr/>
          <a:lstStyle/>
          <a:p>
            <a:r>
              <a:rPr kumimoji="1" lang="en-US" altLang="zh-CN" dirty="0"/>
              <a:t>Exokernel</a:t>
            </a:r>
            <a:r>
              <a:rPr kumimoji="1" lang="zh-CN" altLang="en-US" dirty="0"/>
              <a:t>的性能提升</a:t>
            </a:r>
          </a:p>
        </p:txBody>
      </p:sp>
      <p:sp>
        <p:nvSpPr>
          <p:cNvPr id="4" name="灯片编号占位符 3">
            <a:extLst>
              <a:ext uri="{FF2B5EF4-FFF2-40B4-BE49-F238E27FC236}">
                <a16:creationId xmlns:a16="http://schemas.microsoft.com/office/drawing/2014/main" id="{5954D351-12D2-AE41-949D-F310BC5B8F44}"/>
              </a:ext>
            </a:extLst>
          </p:cNvPr>
          <p:cNvSpPr>
            <a:spLocks noGrp="1"/>
          </p:cNvSpPr>
          <p:nvPr>
            <p:ph type="sldNum" sz="quarter" idx="12"/>
          </p:nvPr>
        </p:nvSpPr>
        <p:spPr/>
        <p:txBody>
          <a:bodyPr/>
          <a:lstStyle/>
          <a:p>
            <a:fld id="{ADE361C3-C043-4A6E-BDCE-8DA1E7D90A3B}" type="slidenum">
              <a:rPr lang="zh-CN" altLang="en-US" smtClean="0"/>
              <a:t>45</a:t>
            </a:fld>
            <a:endParaRPr lang="zh-CN" altLang="en-US"/>
          </a:p>
        </p:txBody>
      </p:sp>
      <p:pic>
        <p:nvPicPr>
          <p:cNvPr id="5" name="Picture 2">
            <a:extLst>
              <a:ext uri="{FF2B5EF4-FFF2-40B4-BE49-F238E27FC236}">
                <a16:creationId xmlns:a16="http://schemas.microsoft.com/office/drawing/2014/main" id="{20AFF22E-738A-CD4E-93F2-70820E4CCB78}"/>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430796" y="2137420"/>
            <a:ext cx="4041649" cy="2737890"/>
          </a:xfrm>
          <a:prstGeom prst="rect">
            <a:avLst/>
          </a:prstGeom>
          <a:noFill/>
          <a:ln w="9525">
            <a:noFill/>
            <a:miter lim="800000"/>
            <a:headEnd/>
            <a:tailEnd/>
          </a:ln>
          <a:effectLst/>
        </p:spPr>
      </p:pic>
      <p:pic>
        <p:nvPicPr>
          <p:cNvPr id="6" name="Picture 2">
            <a:extLst>
              <a:ext uri="{FF2B5EF4-FFF2-40B4-BE49-F238E27FC236}">
                <a16:creationId xmlns:a16="http://schemas.microsoft.com/office/drawing/2014/main" id="{B1C94DB7-4543-A746-9609-1FF4564F122A}"/>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679268" y="2137421"/>
            <a:ext cx="4069196" cy="2737891"/>
          </a:xfrm>
          <a:prstGeom prst="rect">
            <a:avLst/>
          </a:prstGeom>
          <a:noFill/>
          <a:ln w="9525">
            <a:noFill/>
            <a:miter lim="800000"/>
            <a:headEnd/>
            <a:tailEnd/>
          </a:ln>
          <a:effectLst/>
        </p:spPr>
      </p:pic>
      <p:sp>
        <p:nvSpPr>
          <p:cNvPr id="7" name="TextBox 5">
            <a:extLst>
              <a:ext uri="{FF2B5EF4-FFF2-40B4-BE49-F238E27FC236}">
                <a16:creationId xmlns:a16="http://schemas.microsoft.com/office/drawing/2014/main" id="{7DB4AB5A-A5CF-424D-8B58-73BA5A740AB7}"/>
              </a:ext>
            </a:extLst>
          </p:cNvPr>
          <p:cNvSpPr txBox="1"/>
          <p:nvPr/>
        </p:nvSpPr>
        <p:spPr>
          <a:xfrm>
            <a:off x="457200" y="5305772"/>
            <a:ext cx="8229600" cy="307777"/>
          </a:xfrm>
          <a:prstGeom prst="rect">
            <a:avLst/>
          </a:prstGeom>
          <a:solidFill>
            <a:schemeClr val="bg1">
              <a:alpha val="40000"/>
            </a:schemeClr>
          </a:solidFill>
        </p:spPr>
        <p:txBody>
          <a:bodyPr wrap="square" rtlCol="0">
            <a:spAutoFit/>
          </a:bodyPr>
          <a:lstStyle/>
          <a:p>
            <a:pPr algn="ctr"/>
            <a:r>
              <a:rPr lang="zh-CN" altLang="en-US" sz="1400" dirty="0">
                <a:solidFill>
                  <a:schemeClr val="tx1">
                    <a:lumMod val="50000"/>
                    <a:lumOff val="50000"/>
                  </a:schemeClr>
                </a:solidFill>
              </a:rPr>
              <a:t>数据来源：</a:t>
            </a:r>
            <a:r>
              <a:rPr lang="en-US" altLang="ko-KR" sz="1400" dirty="0">
                <a:solidFill>
                  <a:schemeClr val="tx1">
                    <a:lumMod val="50000"/>
                    <a:lumOff val="50000"/>
                  </a:schemeClr>
                </a:solidFill>
              </a:rPr>
              <a:t>Application Performance and Flexibility on Exokernel Systems</a:t>
            </a:r>
            <a:r>
              <a:rPr lang="en-US" altLang="en-US" sz="1400" dirty="0">
                <a:solidFill>
                  <a:schemeClr val="tx1">
                    <a:lumMod val="50000"/>
                    <a:lumOff val="50000"/>
                  </a:schemeClr>
                </a:solidFill>
              </a:rPr>
              <a:t>, SOSP’97</a:t>
            </a:r>
            <a:endParaRPr lang="ko-KR" altLang="en-US" sz="1400" dirty="0">
              <a:solidFill>
                <a:schemeClr val="tx1">
                  <a:lumMod val="50000"/>
                  <a:lumOff val="50000"/>
                </a:schemeClr>
              </a:solidFill>
            </a:endParaRPr>
          </a:p>
        </p:txBody>
      </p:sp>
      <p:sp>
        <p:nvSpPr>
          <p:cNvPr id="9" name="内容占位符 2">
            <a:extLst>
              <a:ext uri="{FF2B5EF4-FFF2-40B4-BE49-F238E27FC236}">
                <a16:creationId xmlns:a16="http://schemas.microsoft.com/office/drawing/2014/main" id="{992E0F05-AD5E-5140-B8F8-8E7A7FCDF495}"/>
              </a:ext>
            </a:extLst>
          </p:cNvPr>
          <p:cNvSpPr>
            <a:spLocks noGrp="1"/>
          </p:cNvSpPr>
          <p:nvPr>
            <p:ph idx="1"/>
          </p:nvPr>
        </p:nvSpPr>
        <p:spPr>
          <a:xfrm>
            <a:off x="457200" y="1331722"/>
            <a:ext cx="8229600" cy="661682"/>
          </a:xfrm>
        </p:spPr>
        <p:txBody>
          <a:bodyPr>
            <a:normAutofit/>
          </a:bodyPr>
          <a:lstStyle/>
          <a:p>
            <a:r>
              <a:rPr kumimoji="1" lang="zh-CN" altLang="en-US" sz="2400" dirty="0"/>
              <a:t>未修改应用性能最多提升</a:t>
            </a:r>
            <a:r>
              <a:rPr kumimoji="1" lang="en-US" altLang="zh-CN" sz="2400" dirty="0">
                <a:solidFill>
                  <a:schemeClr val="accent1"/>
                </a:solidFill>
              </a:rPr>
              <a:t>4x</a:t>
            </a:r>
            <a:r>
              <a:rPr kumimoji="1" lang="zh-CN" altLang="en-US" sz="2400" dirty="0"/>
              <a:t>，定制化应用性能最多提升</a:t>
            </a:r>
            <a:r>
              <a:rPr kumimoji="1" lang="en-US" altLang="zh-CN" sz="2400" dirty="0">
                <a:solidFill>
                  <a:schemeClr val="accent1"/>
                </a:solidFill>
              </a:rPr>
              <a:t>8x</a:t>
            </a:r>
          </a:p>
        </p:txBody>
      </p:sp>
    </p:spTree>
    <p:extLst>
      <p:ext uri="{BB962C8B-B14F-4D97-AF65-F5344CB8AC3E}">
        <p14:creationId xmlns:p14="http://schemas.microsoft.com/office/powerpoint/2010/main" val="129363120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F0A0AB-74F9-AA4D-8A16-2D13FDC7B4B2}"/>
              </a:ext>
            </a:extLst>
          </p:cNvPr>
          <p:cNvSpPr>
            <a:spLocks noGrp="1"/>
          </p:cNvSpPr>
          <p:nvPr>
            <p:ph type="title"/>
          </p:nvPr>
        </p:nvSpPr>
        <p:spPr/>
        <p:txBody>
          <a:bodyPr/>
          <a:lstStyle/>
          <a:p>
            <a:r>
              <a:rPr kumimoji="1" lang="en-US" altLang="zh-CN" dirty="0" err="1"/>
              <a:t>Unikernel</a:t>
            </a:r>
            <a:r>
              <a:rPr kumimoji="1" lang="zh-CN" altLang="en-US" dirty="0"/>
              <a:t>（单内核）</a:t>
            </a:r>
          </a:p>
        </p:txBody>
      </p:sp>
      <p:sp>
        <p:nvSpPr>
          <p:cNvPr id="3" name="内容占位符 2">
            <a:extLst>
              <a:ext uri="{FF2B5EF4-FFF2-40B4-BE49-F238E27FC236}">
                <a16:creationId xmlns:a16="http://schemas.microsoft.com/office/drawing/2014/main" id="{7A50B37E-F5F7-3041-A986-807026155DBE}"/>
              </a:ext>
            </a:extLst>
          </p:cNvPr>
          <p:cNvSpPr>
            <a:spLocks noGrp="1"/>
          </p:cNvSpPr>
          <p:nvPr>
            <p:ph idx="1"/>
          </p:nvPr>
        </p:nvSpPr>
        <p:spPr/>
        <p:txBody>
          <a:bodyPr>
            <a:normAutofit/>
          </a:bodyPr>
          <a:lstStyle/>
          <a:p>
            <a:r>
              <a:rPr kumimoji="1" lang="zh-CN" altLang="en-US" sz="2400" dirty="0"/>
              <a:t>可以看做虚拟化环境下的</a:t>
            </a:r>
            <a:r>
              <a:rPr kumimoji="1" lang="en-US" altLang="zh-CN" sz="2400" dirty="0" err="1"/>
              <a:t>LibOS</a:t>
            </a:r>
            <a:endParaRPr kumimoji="1" lang="en-US" altLang="zh-CN" sz="2400" dirty="0"/>
          </a:p>
          <a:p>
            <a:pPr lvl="1"/>
            <a:r>
              <a:rPr kumimoji="1" lang="zh-CN" altLang="en-US" sz="2000" dirty="0"/>
              <a:t>每个虚拟机只使用内核态</a:t>
            </a:r>
            <a:endParaRPr kumimoji="1" lang="en-US" altLang="zh-CN" sz="2000" dirty="0"/>
          </a:p>
          <a:p>
            <a:pPr lvl="1"/>
            <a:r>
              <a:rPr kumimoji="1" lang="zh-CN" altLang="en-US" sz="2000" dirty="0"/>
              <a:t>内核态中只运行一个应用</a:t>
            </a:r>
            <a:r>
              <a:rPr kumimoji="1" lang="en-US" altLang="zh-CN" sz="2000" dirty="0"/>
              <a:t>+</a:t>
            </a:r>
            <a:r>
              <a:rPr kumimoji="1" lang="en-US" altLang="zh-CN" sz="2000" dirty="0" err="1"/>
              <a:t>LibOS</a:t>
            </a:r>
            <a:endParaRPr kumimoji="1" lang="en-US" altLang="zh-CN" sz="2000" dirty="0"/>
          </a:p>
          <a:p>
            <a:pPr lvl="1"/>
            <a:r>
              <a:rPr kumimoji="1" lang="zh-CN" altLang="en-US" sz="2000" dirty="0"/>
              <a:t>通过虚拟化层实现不同实例间的隔离</a:t>
            </a:r>
            <a:endParaRPr kumimoji="1" lang="en-US" altLang="zh-CN" sz="2000" dirty="0"/>
          </a:p>
          <a:p>
            <a:r>
              <a:rPr kumimoji="1" lang="zh-CN" altLang="en-US" sz="2400" dirty="0"/>
              <a:t>适合容器应用场景</a:t>
            </a:r>
            <a:endParaRPr kumimoji="1" lang="en-US" altLang="zh-CN" sz="2400" dirty="0"/>
          </a:p>
          <a:p>
            <a:pPr lvl="1"/>
            <a:r>
              <a:rPr kumimoji="1" lang="zh-CN" altLang="en-US" sz="2000" dirty="0"/>
              <a:t>每个容器就是一个虚拟机</a:t>
            </a:r>
            <a:endParaRPr kumimoji="1" lang="en-US" altLang="zh-CN" sz="2000" dirty="0"/>
          </a:p>
          <a:p>
            <a:pPr lvl="1"/>
            <a:r>
              <a:rPr kumimoji="1" lang="zh-CN" altLang="en-US" sz="2000" dirty="0"/>
              <a:t>每个容器运行定制的</a:t>
            </a:r>
            <a:r>
              <a:rPr kumimoji="1" lang="en-US" altLang="zh-CN" sz="2000" dirty="0" err="1"/>
              <a:t>LibOS</a:t>
            </a:r>
            <a:r>
              <a:rPr kumimoji="1" lang="zh-CN" altLang="en-US" sz="2000" dirty="0"/>
              <a:t>以提高性能</a:t>
            </a:r>
          </a:p>
        </p:txBody>
      </p:sp>
      <p:sp>
        <p:nvSpPr>
          <p:cNvPr id="4" name="灯片编号占位符 3">
            <a:extLst>
              <a:ext uri="{FF2B5EF4-FFF2-40B4-BE49-F238E27FC236}">
                <a16:creationId xmlns:a16="http://schemas.microsoft.com/office/drawing/2014/main" id="{D6DAEB02-741B-4F4D-8EB9-EABABF3CF989}"/>
              </a:ext>
            </a:extLst>
          </p:cNvPr>
          <p:cNvSpPr>
            <a:spLocks noGrp="1"/>
          </p:cNvSpPr>
          <p:nvPr>
            <p:ph type="sldNum" sz="quarter" idx="12"/>
          </p:nvPr>
        </p:nvSpPr>
        <p:spPr/>
        <p:txBody>
          <a:bodyPr/>
          <a:lstStyle/>
          <a:p>
            <a:fld id="{ADE361C3-C043-4A6E-BDCE-8DA1E7D90A3B}" type="slidenum">
              <a:rPr lang="zh-CN" altLang="en-US" smtClean="0"/>
              <a:t>46</a:t>
            </a:fld>
            <a:endParaRPr lang="zh-CN" altLang="en-US"/>
          </a:p>
        </p:txBody>
      </p:sp>
    </p:spTree>
    <p:extLst>
      <p:ext uri="{BB962C8B-B14F-4D97-AF65-F5344CB8AC3E}">
        <p14:creationId xmlns:p14="http://schemas.microsoft.com/office/powerpoint/2010/main" val="8291905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7035BA-0D74-A343-A491-8CCC4D4B014F}"/>
              </a:ext>
            </a:extLst>
          </p:cNvPr>
          <p:cNvSpPr>
            <a:spLocks noGrp="1"/>
          </p:cNvSpPr>
          <p:nvPr>
            <p:ph type="title"/>
          </p:nvPr>
        </p:nvSpPr>
        <p:spPr/>
        <p:txBody>
          <a:bodyPr/>
          <a:lstStyle/>
          <a:p>
            <a:r>
              <a:rPr kumimoji="1" lang="en-US" altLang="zh-CN" dirty="0" err="1"/>
              <a:t>Unikernel</a:t>
            </a:r>
            <a:r>
              <a:rPr kumimoji="1" lang="zh-CN" altLang="en-US" dirty="0"/>
              <a:t>的部分开源项目</a:t>
            </a:r>
          </a:p>
        </p:txBody>
      </p:sp>
      <p:sp>
        <p:nvSpPr>
          <p:cNvPr id="3" name="内容占位符 2">
            <a:extLst>
              <a:ext uri="{FF2B5EF4-FFF2-40B4-BE49-F238E27FC236}">
                <a16:creationId xmlns:a16="http://schemas.microsoft.com/office/drawing/2014/main" id="{A274FA47-DAAF-E54B-9FAD-2D3075EE399D}"/>
              </a:ext>
            </a:extLst>
          </p:cNvPr>
          <p:cNvSpPr>
            <a:spLocks noGrp="1"/>
          </p:cNvSpPr>
          <p:nvPr>
            <p:ph idx="1"/>
          </p:nvPr>
        </p:nvSpPr>
        <p:spPr/>
        <p:txBody>
          <a:bodyPr>
            <a:normAutofit/>
          </a:bodyPr>
          <a:lstStyle/>
          <a:p>
            <a:r>
              <a:rPr kumimoji="1" lang="en-US" altLang="zh-CN" sz="2400" dirty="0" err="1"/>
              <a:t>Rumprun</a:t>
            </a:r>
            <a:endParaRPr kumimoji="1" lang="en-US" altLang="zh-CN" sz="2400" dirty="0"/>
          </a:p>
          <a:p>
            <a:pPr lvl="1"/>
            <a:r>
              <a:rPr kumimoji="1" lang="en-US" altLang="zh-CN" sz="2000" dirty="0"/>
              <a:t>POSIX</a:t>
            </a:r>
            <a:r>
              <a:rPr kumimoji="1" lang="zh-CN" altLang="en-US" sz="2000" dirty="0"/>
              <a:t>接口，</a:t>
            </a:r>
            <a:r>
              <a:rPr kumimoji="1" lang="en-US" altLang="zh-CN" sz="2000" dirty="0"/>
              <a:t>BSD</a:t>
            </a:r>
            <a:r>
              <a:rPr kumimoji="1" lang="zh-CN" altLang="en-US" sz="2000" dirty="0"/>
              <a:t>兼容的运行时环境</a:t>
            </a:r>
            <a:endParaRPr kumimoji="1" lang="en-US" altLang="zh-CN" sz="2000" dirty="0"/>
          </a:p>
          <a:p>
            <a:pPr lvl="1"/>
            <a:r>
              <a:rPr kumimoji="1" lang="zh-CN" altLang="en-US" sz="2000" dirty="0"/>
              <a:t>运行在</a:t>
            </a:r>
            <a:r>
              <a:rPr kumimoji="1" lang="en-US" altLang="zh-CN" sz="2000" dirty="0"/>
              <a:t>Xen</a:t>
            </a:r>
            <a:r>
              <a:rPr kumimoji="1" lang="zh-CN" altLang="en-US" sz="2000" dirty="0"/>
              <a:t>虚拟化平台之上</a:t>
            </a:r>
            <a:endParaRPr kumimoji="1" lang="en-US" altLang="zh-CN" sz="2000" dirty="0"/>
          </a:p>
          <a:p>
            <a:r>
              <a:rPr kumimoji="1" lang="en-US" altLang="zh-CN" sz="2400" dirty="0"/>
              <a:t>Drawbridge</a:t>
            </a:r>
          </a:p>
          <a:p>
            <a:pPr lvl="1"/>
            <a:r>
              <a:rPr kumimoji="1" lang="zh-CN" altLang="en-US" sz="2000" dirty="0"/>
              <a:t>来自微软，兼容</a:t>
            </a:r>
            <a:r>
              <a:rPr kumimoji="1" lang="en-US" altLang="zh-CN" sz="2000" dirty="0"/>
              <a:t>Win32</a:t>
            </a:r>
            <a:r>
              <a:rPr kumimoji="1" lang="zh-CN" altLang="en-US" sz="2000" dirty="0"/>
              <a:t>接口的运行时环境</a:t>
            </a:r>
            <a:endParaRPr kumimoji="1" lang="en-US" altLang="zh-CN" sz="2000" dirty="0"/>
          </a:p>
          <a:p>
            <a:r>
              <a:rPr kumimoji="1" lang="en-US" altLang="zh-CN" sz="2400" dirty="0" err="1"/>
              <a:t>OSv</a:t>
            </a:r>
            <a:endParaRPr kumimoji="1" lang="en-US" altLang="zh-CN" sz="2400" dirty="0"/>
          </a:p>
          <a:p>
            <a:pPr lvl="1"/>
            <a:r>
              <a:rPr kumimoji="1" lang="zh-CN" altLang="en-US" sz="2000" dirty="0"/>
              <a:t>与</a:t>
            </a:r>
            <a:r>
              <a:rPr kumimoji="1" lang="en-US" altLang="zh-CN" sz="2000" dirty="0"/>
              <a:t>Linux</a:t>
            </a:r>
            <a:r>
              <a:rPr kumimoji="1" lang="zh-CN" altLang="en-US" sz="2000" dirty="0"/>
              <a:t>兼容的应用环境，单地址空间</a:t>
            </a:r>
          </a:p>
        </p:txBody>
      </p:sp>
      <p:sp>
        <p:nvSpPr>
          <p:cNvPr id="4" name="灯片编号占位符 3">
            <a:extLst>
              <a:ext uri="{FF2B5EF4-FFF2-40B4-BE49-F238E27FC236}">
                <a16:creationId xmlns:a16="http://schemas.microsoft.com/office/drawing/2014/main" id="{B905BA8F-7120-0340-BC85-A1EBC43B61C3}"/>
              </a:ext>
            </a:extLst>
          </p:cNvPr>
          <p:cNvSpPr>
            <a:spLocks noGrp="1"/>
          </p:cNvSpPr>
          <p:nvPr>
            <p:ph type="sldNum" sz="quarter" idx="12"/>
          </p:nvPr>
        </p:nvSpPr>
        <p:spPr/>
        <p:txBody>
          <a:bodyPr/>
          <a:lstStyle/>
          <a:p>
            <a:fld id="{ADE361C3-C043-4A6E-BDCE-8DA1E7D90A3B}" type="slidenum">
              <a:rPr lang="zh-CN" altLang="en-US" smtClean="0"/>
              <a:t>47</a:t>
            </a:fld>
            <a:endParaRPr lang="zh-CN" altLang="en-US"/>
          </a:p>
        </p:txBody>
      </p:sp>
    </p:spTree>
    <p:extLst>
      <p:ext uri="{BB962C8B-B14F-4D97-AF65-F5344CB8AC3E}">
        <p14:creationId xmlns:p14="http://schemas.microsoft.com/office/powerpoint/2010/main" val="15956198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76CEDF-3633-3C4D-8A66-87C6E84878E2}"/>
              </a:ext>
            </a:extLst>
          </p:cNvPr>
          <p:cNvSpPr>
            <a:spLocks noGrp="1"/>
          </p:cNvSpPr>
          <p:nvPr>
            <p:ph type="title"/>
          </p:nvPr>
        </p:nvSpPr>
        <p:spPr/>
        <p:txBody>
          <a:bodyPr/>
          <a:lstStyle/>
          <a:p>
            <a:r>
              <a:rPr kumimoji="1" lang="en-US" altLang="zh-CN" dirty="0"/>
              <a:t>Linux</a:t>
            </a:r>
            <a:r>
              <a:rPr kumimoji="1" lang="zh-CN" altLang="en-US" dirty="0"/>
              <a:t> </a:t>
            </a:r>
            <a:r>
              <a:rPr kumimoji="1" lang="en-US" altLang="zh-CN" dirty="0"/>
              <a:t>as</a:t>
            </a:r>
            <a:r>
              <a:rPr kumimoji="1" lang="zh-CN" altLang="en-US" dirty="0"/>
              <a:t> </a:t>
            </a:r>
            <a:r>
              <a:rPr kumimoji="1" lang="en-US" altLang="zh-CN" dirty="0"/>
              <a:t>a</a:t>
            </a:r>
            <a:r>
              <a:rPr kumimoji="1" lang="zh-CN" altLang="en-US" dirty="0"/>
              <a:t> </a:t>
            </a:r>
            <a:r>
              <a:rPr kumimoji="1" lang="en-US" altLang="zh-CN" dirty="0" err="1"/>
              <a:t>LibOS</a:t>
            </a:r>
            <a:r>
              <a:rPr kumimoji="1" lang="en-US" altLang="zh-CN" dirty="0"/>
              <a:t>?</a:t>
            </a:r>
            <a:endParaRPr kumimoji="1" lang="zh-CN" altLang="en-US" dirty="0"/>
          </a:p>
        </p:txBody>
      </p:sp>
      <p:sp>
        <p:nvSpPr>
          <p:cNvPr id="3" name="内容占位符 2">
            <a:extLst>
              <a:ext uri="{FF2B5EF4-FFF2-40B4-BE49-F238E27FC236}">
                <a16:creationId xmlns:a16="http://schemas.microsoft.com/office/drawing/2014/main" id="{B41D54DB-7A74-6A4B-B602-2F3092799EC6}"/>
              </a:ext>
            </a:extLst>
          </p:cNvPr>
          <p:cNvSpPr>
            <a:spLocks noGrp="1"/>
          </p:cNvSpPr>
          <p:nvPr>
            <p:ph idx="1"/>
          </p:nvPr>
        </p:nvSpPr>
        <p:spPr/>
        <p:txBody>
          <a:bodyPr>
            <a:normAutofit/>
          </a:bodyPr>
          <a:lstStyle/>
          <a:p>
            <a:r>
              <a:rPr kumimoji="1" lang="zh-CN" altLang="en-US" sz="2400" dirty="0"/>
              <a:t>将</a:t>
            </a:r>
            <a:r>
              <a:rPr kumimoji="1" lang="en-US" altLang="zh-CN" sz="2400" dirty="0"/>
              <a:t>Linux</a:t>
            </a:r>
            <a:r>
              <a:rPr kumimoji="1" lang="zh-CN" altLang="en-US" sz="2400" dirty="0"/>
              <a:t>作为</a:t>
            </a:r>
            <a:r>
              <a:rPr kumimoji="1" lang="en-US" altLang="zh-CN" sz="2400" dirty="0" err="1"/>
              <a:t>LibOS</a:t>
            </a:r>
            <a:r>
              <a:rPr kumimoji="1" lang="zh-CN" altLang="en-US" sz="2400" dirty="0"/>
              <a:t>或</a:t>
            </a:r>
            <a:r>
              <a:rPr kumimoji="1" lang="en-US" altLang="zh-CN" sz="2400" dirty="0" err="1"/>
              <a:t>Unikernel</a:t>
            </a:r>
            <a:endParaRPr kumimoji="1" lang="en-US" altLang="zh-CN" sz="2400" dirty="0"/>
          </a:p>
          <a:p>
            <a:pPr lvl="1"/>
            <a:r>
              <a:rPr kumimoji="1" lang="zh-CN" altLang="en-US" sz="2000" dirty="0"/>
              <a:t>例：</a:t>
            </a:r>
            <a:r>
              <a:rPr kumimoji="1" lang="en-US" altLang="zh-CN" sz="2000" dirty="0"/>
              <a:t>LKL</a:t>
            </a:r>
            <a:r>
              <a:rPr kumimoji="1" lang="zh-CN" altLang="en-US" sz="2000" dirty="0"/>
              <a:t> </a:t>
            </a:r>
            <a:r>
              <a:rPr kumimoji="1" lang="en-US" altLang="zh-CN" sz="2000" dirty="0"/>
              <a:t>-</a:t>
            </a:r>
            <a:r>
              <a:rPr kumimoji="1" lang="zh-CN" altLang="en-US" sz="2000" dirty="0"/>
              <a:t> </a:t>
            </a:r>
            <a:r>
              <a:rPr kumimoji="1" lang="en-US" altLang="zh-CN" sz="2000" dirty="0"/>
              <a:t>Linux</a:t>
            </a:r>
            <a:r>
              <a:rPr kumimoji="1" lang="zh-CN" altLang="en-US" sz="2000" dirty="0"/>
              <a:t> </a:t>
            </a:r>
            <a:r>
              <a:rPr kumimoji="1" lang="en-US" altLang="zh-CN" sz="2000" dirty="0"/>
              <a:t>kernel</a:t>
            </a:r>
            <a:r>
              <a:rPr kumimoji="1" lang="zh-CN" altLang="en-US" sz="2000" dirty="0"/>
              <a:t> </a:t>
            </a:r>
            <a:r>
              <a:rPr kumimoji="1" lang="en-US" altLang="zh-CN" sz="2000" dirty="0"/>
              <a:t>library</a:t>
            </a:r>
            <a:r>
              <a:rPr kumimoji="1" lang="zh-CN" altLang="en-US" sz="2000" dirty="0"/>
              <a:t> </a:t>
            </a:r>
            <a:r>
              <a:rPr kumimoji="1" lang="en-US" altLang="zh-CN" sz="2000" dirty="0"/>
              <a:t>(</a:t>
            </a:r>
            <a:r>
              <a:rPr lang="en" altLang="zh-CN" sz="1600" dirty="0">
                <a:hlinkClick r:id="rId2"/>
              </a:rPr>
              <a:t>https://github.com/lkl</a:t>
            </a:r>
            <a:r>
              <a:rPr lang="en-US" altLang="zh-CN" sz="2000" dirty="0"/>
              <a:t>)</a:t>
            </a:r>
          </a:p>
          <a:p>
            <a:pPr lvl="1"/>
            <a:r>
              <a:rPr lang="zh-CN" altLang="en-US" sz="2000" dirty="0"/>
              <a:t>将系统调用变为普通函数调用</a:t>
            </a:r>
            <a:endParaRPr lang="en-US" altLang="zh-CN" sz="2000" dirty="0"/>
          </a:p>
          <a:p>
            <a:pPr lvl="1"/>
            <a:r>
              <a:rPr kumimoji="1" lang="zh-CN" altLang="en-US" sz="2000" dirty="0"/>
              <a:t>可提供一定的兼容性，有效避免重复开发</a:t>
            </a:r>
            <a:endParaRPr kumimoji="1" lang="en-US" altLang="zh-CN" sz="2000" dirty="0"/>
          </a:p>
          <a:p>
            <a:r>
              <a:rPr kumimoji="1" lang="zh-CN" altLang="en-US" sz="2400" dirty="0"/>
              <a:t>许多新问题</a:t>
            </a:r>
            <a:endParaRPr kumimoji="1" lang="en-US" altLang="zh-CN" sz="2400" dirty="0"/>
          </a:p>
          <a:p>
            <a:pPr lvl="1"/>
            <a:r>
              <a:rPr kumimoji="1" lang="en-US" altLang="zh-CN" sz="2000" dirty="0"/>
              <a:t>Linux</a:t>
            </a:r>
            <a:r>
              <a:rPr kumimoji="1" lang="zh-CN" altLang="en-US" sz="2000" dirty="0"/>
              <a:t>是否适合作为</a:t>
            </a:r>
            <a:r>
              <a:rPr kumimoji="1" lang="en-US" altLang="zh-CN" sz="2000" dirty="0" err="1"/>
              <a:t>LibOS</a:t>
            </a:r>
            <a:r>
              <a:rPr kumimoji="1" lang="en-US" altLang="zh-CN" sz="2000" dirty="0"/>
              <a:t>/</a:t>
            </a:r>
            <a:r>
              <a:rPr kumimoji="1" lang="en-US" altLang="zh-CN" sz="2000" dirty="0" err="1"/>
              <a:t>unikernel</a:t>
            </a:r>
            <a:r>
              <a:rPr kumimoji="1" lang="zh-CN" altLang="en-US" sz="2000" dirty="0"/>
              <a:t>？</a:t>
            </a:r>
            <a:endParaRPr kumimoji="1" lang="en-US" altLang="zh-CN" sz="2000" dirty="0"/>
          </a:p>
          <a:p>
            <a:pPr lvl="1"/>
            <a:r>
              <a:rPr kumimoji="1" lang="en-US" altLang="zh-CN" sz="2000" dirty="0"/>
              <a:t>fork()</a:t>
            </a:r>
            <a:r>
              <a:rPr kumimoji="1" lang="zh-CN" altLang="en-US" sz="2000" dirty="0"/>
              <a:t>如何处理？</a:t>
            </a:r>
            <a:endParaRPr kumimoji="1" lang="en-US" altLang="zh-CN" sz="2000" dirty="0"/>
          </a:p>
          <a:p>
            <a:pPr lvl="1"/>
            <a:r>
              <a:rPr kumimoji="1" lang="zh-CN" altLang="en-US" sz="2000" dirty="0"/>
              <a:t>尚在探索阶段</a:t>
            </a:r>
            <a:endParaRPr kumimoji="1" lang="en-US" altLang="zh-CN" sz="2000" dirty="0"/>
          </a:p>
          <a:p>
            <a:pPr lvl="1"/>
            <a:endParaRPr kumimoji="1" lang="zh-CN" altLang="en-US" sz="2000" dirty="0"/>
          </a:p>
        </p:txBody>
      </p:sp>
      <p:sp>
        <p:nvSpPr>
          <p:cNvPr id="4" name="灯片编号占位符 3">
            <a:extLst>
              <a:ext uri="{FF2B5EF4-FFF2-40B4-BE49-F238E27FC236}">
                <a16:creationId xmlns:a16="http://schemas.microsoft.com/office/drawing/2014/main" id="{C0AA3F18-A781-3645-A075-E61A90671FDB}"/>
              </a:ext>
            </a:extLst>
          </p:cNvPr>
          <p:cNvSpPr>
            <a:spLocks noGrp="1"/>
          </p:cNvSpPr>
          <p:nvPr>
            <p:ph type="sldNum" sz="quarter" idx="12"/>
          </p:nvPr>
        </p:nvSpPr>
        <p:spPr/>
        <p:txBody>
          <a:bodyPr/>
          <a:lstStyle/>
          <a:p>
            <a:fld id="{ADE361C3-C043-4A6E-BDCE-8DA1E7D90A3B}" type="slidenum">
              <a:rPr lang="zh-CN" altLang="en-US" smtClean="0"/>
              <a:t>48</a:t>
            </a:fld>
            <a:endParaRPr lang="zh-CN" altLang="en-US"/>
          </a:p>
        </p:txBody>
      </p:sp>
    </p:spTree>
    <p:extLst>
      <p:ext uri="{BB962C8B-B14F-4D97-AF65-F5344CB8AC3E}">
        <p14:creationId xmlns:p14="http://schemas.microsoft.com/office/powerpoint/2010/main" val="36943589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A849D1-E5F1-D044-B321-FD66593F3DC5}"/>
              </a:ext>
            </a:extLst>
          </p:cNvPr>
          <p:cNvSpPr>
            <a:spLocks noGrp="1"/>
          </p:cNvSpPr>
          <p:nvPr>
            <p:ph type="title"/>
          </p:nvPr>
        </p:nvSpPr>
        <p:spPr/>
        <p:txBody>
          <a:bodyPr/>
          <a:lstStyle/>
          <a:p>
            <a:r>
              <a:rPr kumimoji="1" lang="en-US" altLang="zh-CN" dirty="0"/>
              <a:t>Exokernel</a:t>
            </a:r>
            <a:r>
              <a:rPr kumimoji="1" lang="zh-CN" altLang="en-US" dirty="0"/>
              <a:t>架构的优缺点分析</a:t>
            </a:r>
          </a:p>
        </p:txBody>
      </p:sp>
      <p:sp>
        <p:nvSpPr>
          <p:cNvPr id="3" name="内容占位符 2">
            <a:extLst>
              <a:ext uri="{FF2B5EF4-FFF2-40B4-BE49-F238E27FC236}">
                <a16:creationId xmlns:a16="http://schemas.microsoft.com/office/drawing/2014/main" id="{3D43E354-1DF6-F647-B399-2FEA6DB922C4}"/>
              </a:ext>
            </a:extLst>
          </p:cNvPr>
          <p:cNvSpPr>
            <a:spLocks noGrp="1"/>
          </p:cNvSpPr>
          <p:nvPr>
            <p:ph idx="1"/>
          </p:nvPr>
        </p:nvSpPr>
        <p:spPr/>
        <p:txBody>
          <a:bodyPr>
            <a:normAutofit/>
          </a:bodyPr>
          <a:lstStyle/>
          <a:p>
            <a:r>
              <a:rPr kumimoji="1" lang="zh-CN" altLang="en-US" sz="2400" dirty="0"/>
              <a:t>优点</a:t>
            </a:r>
            <a:endParaRPr kumimoji="1" lang="en-US" altLang="zh-CN" sz="2400" dirty="0"/>
          </a:p>
          <a:p>
            <a:pPr lvl="1"/>
            <a:r>
              <a:rPr kumimoji="1" lang="en-US" altLang="zh-CN" sz="2000" dirty="0"/>
              <a:t>OS</a:t>
            </a:r>
            <a:r>
              <a:rPr kumimoji="1" lang="zh-CN" altLang="en-US" sz="2000" dirty="0"/>
              <a:t>无抽象，能在理论上提供最优性能</a:t>
            </a:r>
            <a:endParaRPr kumimoji="1" lang="en-US" altLang="zh-CN" sz="2000" dirty="0"/>
          </a:p>
          <a:p>
            <a:pPr lvl="1"/>
            <a:r>
              <a:rPr kumimoji="1" lang="zh-CN" altLang="en-US" sz="2000" dirty="0"/>
              <a:t>应用对计算有更精确的实时等控制</a:t>
            </a:r>
            <a:endParaRPr kumimoji="1" lang="en-US" altLang="zh-CN" sz="2000" dirty="0"/>
          </a:p>
          <a:p>
            <a:pPr lvl="1"/>
            <a:r>
              <a:rPr kumimoji="1" lang="en-US" altLang="zh-CN" sz="2000" dirty="0" err="1"/>
              <a:t>LibOS</a:t>
            </a:r>
            <a:r>
              <a:rPr kumimoji="1" lang="zh-CN" altLang="en-US" sz="2000" dirty="0"/>
              <a:t>在用户态更易调试，调试周期更短</a:t>
            </a:r>
            <a:endParaRPr kumimoji="1" lang="en-US" altLang="zh-CN" sz="2000" dirty="0"/>
          </a:p>
          <a:p>
            <a:r>
              <a:rPr kumimoji="1" lang="zh-CN" altLang="en-US" sz="2400" dirty="0"/>
              <a:t>缺点</a:t>
            </a:r>
            <a:endParaRPr kumimoji="1" lang="en-US" altLang="zh-CN" sz="2400" dirty="0"/>
          </a:p>
          <a:p>
            <a:pPr lvl="1"/>
            <a:r>
              <a:rPr kumimoji="1" lang="zh-CN" altLang="en-US" sz="2000" dirty="0"/>
              <a:t>对计算资源的利用效率主要由应用决定</a:t>
            </a:r>
            <a:endParaRPr kumimoji="1" lang="en-US" altLang="zh-CN" sz="2000" dirty="0"/>
          </a:p>
          <a:p>
            <a:pPr lvl="1"/>
            <a:r>
              <a:rPr kumimoji="1" lang="zh-CN" altLang="en-US" sz="2000" dirty="0"/>
              <a:t>定制化过多，导致维护难度增加</a:t>
            </a:r>
            <a:endParaRPr kumimoji="1" lang="en-US" altLang="zh-CN" sz="2000" dirty="0"/>
          </a:p>
        </p:txBody>
      </p:sp>
      <p:sp>
        <p:nvSpPr>
          <p:cNvPr id="4" name="灯片编号占位符 3">
            <a:extLst>
              <a:ext uri="{FF2B5EF4-FFF2-40B4-BE49-F238E27FC236}">
                <a16:creationId xmlns:a16="http://schemas.microsoft.com/office/drawing/2014/main" id="{60F937DC-AB88-1B48-9919-CCE7578D951A}"/>
              </a:ext>
            </a:extLst>
          </p:cNvPr>
          <p:cNvSpPr>
            <a:spLocks noGrp="1"/>
          </p:cNvSpPr>
          <p:nvPr>
            <p:ph type="sldNum" sz="quarter" idx="12"/>
          </p:nvPr>
        </p:nvSpPr>
        <p:spPr/>
        <p:txBody>
          <a:bodyPr/>
          <a:lstStyle/>
          <a:p>
            <a:fld id="{ADE361C3-C043-4A6E-BDCE-8DA1E7D90A3B}" type="slidenum">
              <a:rPr lang="zh-CN" altLang="en-US" smtClean="0"/>
              <a:t>49</a:t>
            </a:fld>
            <a:endParaRPr lang="zh-CN" altLang="en-US"/>
          </a:p>
        </p:txBody>
      </p:sp>
    </p:spTree>
    <p:extLst>
      <p:ext uri="{BB962C8B-B14F-4D97-AF65-F5344CB8AC3E}">
        <p14:creationId xmlns:p14="http://schemas.microsoft.com/office/powerpoint/2010/main" val="23395687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73F89E-E03A-9547-BA93-CBB08A50684D}"/>
              </a:ext>
            </a:extLst>
          </p:cNvPr>
          <p:cNvSpPr>
            <a:spLocks noGrp="1"/>
          </p:cNvSpPr>
          <p:nvPr>
            <p:ph type="title"/>
          </p:nvPr>
        </p:nvSpPr>
        <p:spPr/>
        <p:txBody>
          <a:bodyPr/>
          <a:lstStyle/>
          <a:p>
            <a:r>
              <a:rPr kumimoji="1" lang="en-US" altLang="zh-CN" dirty="0"/>
              <a:t>Exokernel</a:t>
            </a:r>
            <a:r>
              <a:rPr kumimoji="1" lang="zh-CN" altLang="en-US" dirty="0"/>
              <a:t>架构的优缺点分析</a:t>
            </a:r>
          </a:p>
        </p:txBody>
      </p:sp>
      <p:sp>
        <p:nvSpPr>
          <p:cNvPr id="3" name="内容占位符 2">
            <a:extLst>
              <a:ext uri="{FF2B5EF4-FFF2-40B4-BE49-F238E27FC236}">
                <a16:creationId xmlns:a16="http://schemas.microsoft.com/office/drawing/2014/main" id="{1DBB51DD-480B-884D-B2A1-BAFCCB6F1BD7}"/>
              </a:ext>
            </a:extLst>
          </p:cNvPr>
          <p:cNvSpPr>
            <a:spLocks noGrp="1"/>
          </p:cNvSpPr>
          <p:nvPr>
            <p:ph idx="1"/>
          </p:nvPr>
        </p:nvSpPr>
        <p:spPr/>
        <p:txBody>
          <a:bodyPr/>
          <a:lstStyle/>
          <a:p>
            <a:r>
              <a:rPr kumimoji="1" lang="en-US" altLang="zh-CN" dirty="0"/>
              <a:t>Customer-Support:</a:t>
            </a:r>
          </a:p>
          <a:p>
            <a:pPr lvl="1"/>
            <a:r>
              <a:rPr kumimoji="1" lang="en-US" altLang="zh-CN" dirty="0"/>
              <a:t>“</a:t>
            </a:r>
            <a:r>
              <a:rPr kumimoji="1" lang="en-US" altLang="zh-CN" i="1" dirty="0"/>
              <a:t>Extensibility has its problems. For example, it makes the customer-support issues a lot more complicated, because you no longer know which OS each of your customers is running</a:t>
            </a:r>
            <a:r>
              <a:rPr kumimoji="1" lang="en-US" altLang="zh-CN" dirty="0"/>
              <a:t>” (</a:t>
            </a:r>
            <a:r>
              <a:rPr kumimoji="1" lang="en-US" altLang="zh-CN" dirty="0" err="1"/>
              <a:t>Milojicic</a:t>
            </a:r>
            <a:r>
              <a:rPr kumimoji="1" lang="en-US" altLang="zh-CN" dirty="0"/>
              <a:t>, 1999).</a:t>
            </a:r>
          </a:p>
          <a:p>
            <a:endParaRPr kumimoji="1" lang="zh-CN" altLang="en-US" dirty="0"/>
          </a:p>
        </p:txBody>
      </p:sp>
      <p:sp>
        <p:nvSpPr>
          <p:cNvPr id="4" name="灯片编号占位符 3">
            <a:extLst>
              <a:ext uri="{FF2B5EF4-FFF2-40B4-BE49-F238E27FC236}">
                <a16:creationId xmlns:a16="http://schemas.microsoft.com/office/drawing/2014/main" id="{778A112F-E1EA-7349-8036-E7E9FB679B56}"/>
              </a:ext>
            </a:extLst>
          </p:cNvPr>
          <p:cNvSpPr>
            <a:spLocks noGrp="1"/>
          </p:cNvSpPr>
          <p:nvPr>
            <p:ph type="sldNum" sz="quarter" idx="12"/>
          </p:nvPr>
        </p:nvSpPr>
        <p:spPr/>
        <p:txBody>
          <a:bodyPr/>
          <a:lstStyle/>
          <a:p>
            <a:fld id="{ADE361C3-C043-4A6E-BDCE-8DA1E7D90A3B}" type="slidenum">
              <a:rPr lang="zh-CN" altLang="en-US" smtClean="0"/>
              <a:t>50</a:t>
            </a:fld>
            <a:endParaRPr lang="zh-CN" altLang="en-US"/>
          </a:p>
        </p:txBody>
      </p:sp>
    </p:spTree>
    <p:extLst>
      <p:ext uri="{BB962C8B-B14F-4D97-AF65-F5344CB8AC3E}">
        <p14:creationId xmlns:p14="http://schemas.microsoft.com/office/powerpoint/2010/main" val="274409672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4C0A7DEF-A184-6A4D-9D47-A4F645DC0D25}"/>
              </a:ext>
            </a:extLst>
          </p:cNvPr>
          <p:cNvSpPr>
            <a:spLocks noGrp="1"/>
          </p:cNvSpPr>
          <p:nvPr>
            <p:ph type="title"/>
          </p:nvPr>
        </p:nvSpPr>
        <p:spPr/>
        <p:txBody>
          <a:bodyPr>
            <a:normAutofit/>
          </a:bodyPr>
          <a:lstStyle/>
          <a:p>
            <a:r>
              <a:rPr kumimoji="1" lang="zh-CN" altLang="en-US" dirty="0"/>
              <a:t>多内核</a:t>
            </a:r>
            <a:r>
              <a:rPr kumimoji="1" lang="en-US" altLang="zh-CN" dirty="0"/>
              <a:t>/</a:t>
            </a:r>
            <a:r>
              <a:rPr kumimoji="1" lang="zh-CN" altLang="en-US" dirty="0"/>
              <a:t>复内核（</a:t>
            </a:r>
            <a:r>
              <a:rPr kumimoji="1" lang="en-US" altLang="zh-CN" dirty="0"/>
              <a:t>Multi-Kernel</a:t>
            </a:r>
            <a:r>
              <a:rPr kumimoji="1" lang="zh-CN" altLang="en-US" dirty="0"/>
              <a:t>）</a:t>
            </a:r>
          </a:p>
        </p:txBody>
      </p:sp>
      <p:sp>
        <p:nvSpPr>
          <p:cNvPr id="6" name="文本占位符 5">
            <a:extLst>
              <a:ext uri="{FF2B5EF4-FFF2-40B4-BE49-F238E27FC236}">
                <a16:creationId xmlns:a16="http://schemas.microsoft.com/office/drawing/2014/main" id="{0D84F601-F979-0D46-8748-B59E09268F5F}"/>
              </a:ext>
            </a:extLst>
          </p:cNvPr>
          <p:cNvSpPr>
            <a:spLocks noGrp="1"/>
          </p:cNvSpPr>
          <p:nvPr>
            <p:ph type="body" idx="1"/>
          </p:nvPr>
        </p:nvSpPr>
        <p:spPr/>
        <p:txBody>
          <a:bodyPr/>
          <a:lstStyle/>
          <a:p>
            <a:endParaRPr kumimoji="1" lang="zh-CN" altLang="en-US"/>
          </a:p>
        </p:txBody>
      </p:sp>
      <p:sp>
        <p:nvSpPr>
          <p:cNvPr id="4" name="灯片编号占位符 3">
            <a:extLst>
              <a:ext uri="{FF2B5EF4-FFF2-40B4-BE49-F238E27FC236}">
                <a16:creationId xmlns:a16="http://schemas.microsoft.com/office/drawing/2014/main" id="{4948FC59-BED5-9A4C-A1B5-00F0F03507F1}"/>
              </a:ext>
            </a:extLst>
          </p:cNvPr>
          <p:cNvSpPr>
            <a:spLocks noGrp="1"/>
          </p:cNvSpPr>
          <p:nvPr>
            <p:ph type="sldNum" sz="quarter" idx="12"/>
          </p:nvPr>
        </p:nvSpPr>
        <p:spPr/>
        <p:txBody>
          <a:bodyPr/>
          <a:lstStyle/>
          <a:p>
            <a:fld id="{ADE361C3-C043-4A6E-BDCE-8DA1E7D90A3B}" type="slidenum">
              <a:rPr lang="zh-CN" altLang="en-US" smtClean="0"/>
              <a:t>51</a:t>
            </a:fld>
            <a:endParaRPr lang="zh-CN" altLang="en-US"/>
          </a:p>
        </p:txBody>
      </p:sp>
    </p:spTree>
    <p:extLst>
      <p:ext uri="{BB962C8B-B14F-4D97-AF65-F5344CB8AC3E}">
        <p14:creationId xmlns:p14="http://schemas.microsoft.com/office/powerpoint/2010/main" val="323401783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FDA6C6-4C26-4246-A3AC-18AA02C58CFD}"/>
              </a:ext>
            </a:extLst>
          </p:cNvPr>
          <p:cNvSpPr>
            <a:spLocks noGrp="1"/>
          </p:cNvSpPr>
          <p:nvPr>
            <p:ph type="title"/>
          </p:nvPr>
        </p:nvSpPr>
        <p:spPr/>
        <p:txBody>
          <a:bodyPr>
            <a:normAutofit/>
          </a:bodyPr>
          <a:lstStyle/>
          <a:p>
            <a:r>
              <a:rPr kumimoji="1" lang="zh-CN" altLang="en-US" sz="3200" dirty="0"/>
              <a:t>多内核</a:t>
            </a:r>
            <a:r>
              <a:rPr kumimoji="1" lang="en-US" altLang="zh-CN" sz="3200" dirty="0"/>
              <a:t>/</a:t>
            </a:r>
            <a:r>
              <a:rPr kumimoji="1" lang="zh-CN" altLang="en-US" sz="3200" dirty="0"/>
              <a:t>复内核（</a:t>
            </a:r>
            <a:r>
              <a:rPr kumimoji="1" lang="en-US" altLang="zh-CN" sz="3200" dirty="0" err="1"/>
              <a:t>Multikernel</a:t>
            </a:r>
            <a:r>
              <a:rPr kumimoji="1" lang="zh-CN" altLang="en-US" sz="3200" dirty="0"/>
              <a:t>）</a:t>
            </a:r>
          </a:p>
        </p:txBody>
      </p:sp>
      <p:sp>
        <p:nvSpPr>
          <p:cNvPr id="3" name="内容占位符 2">
            <a:extLst>
              <a:ext uri="{FF2B5EF4-FFF2-40B4-BE49-F238E27FC236}">
                <a16:creationId xmlns:a16="http://schemas.microsoft.com/office/drawing/2014/main" id="{0F84DE7A-7DB4-E24F-B72E-71715225F6A9}"/>
              </a:ext>
            </a:extLst>
          </p:cNvPr>
          <p:cNvSpPr>
            <a:spLocks noGrp="1"/>
          </p:cNvSpPr>
          <p:nvPr>
            <p:ph idx="1"/>
          </p:nvPr>
        </p:nvSpPr>
        <p:spPr/>
        <p:txBody>
          <a:bodyPr>
            <a:normAutofit/>
          </a:bodyPr>
          <a:lstStyle/>
          <a:p>
            <a:r>
              <a:rPr kumimoji="1" lang="zh-CN" altLang="en-US" sz="2400" dirty="0"/>
              <a:t>背景：多核与异构</a:t>
            </a:r>
            <a:endParaRPr kumimoji="1" lang="en-US" altLang="zh-CN" sz="2400" dirty="0"/>
          </a:p>
          <a:p>
            <a:pPr lvl="1"/>
            <a:r>
              <a:rPr kumimoji="1" lang="en-US" altLang="zh-CN" sz="2000" dirty="0"/>
              <a:t>OS</a:t>
            </a:r>
            <a:r>
              <a:rPr kumimoji="1" lang="zh-CN" altLang="en-US" sz="2000" dirty="0"/>
              <a:t>内部维护很多共享状态</a:t>
            </a:r>
            <a:endParaRPr kumimoji="1" lang="en-US" altLang="zh-CN" sz="2000" dirty="0"/>
          </a:p>
          <a:p>
            <a:pPr lvl="2"/>
            <a:r>
              <a:rPr kumimoji="1" lang="en-US" altLang="zh-CN" sz="1800" dirty="0"/>
              <a:t>Cache</a:t>
            </a:r>
            <a:r>
              <a:rPr kumimoji="1" lang="zh-CN" altLang="en-US" sz="1800" dirty="0"/>
              <a:t>一致性的保证越来越难</a:t>
            </a:r>
            <a:endParaRPr kumimoji="1" lang="en-US" altLang="zh-CN" sz="1800" dirty="0"/>
          </a:p>
          <a:p>
            <a:pPr lvl="2"/>
            <a:r>
              <a:rPr kumimoji="1" lang="zh-CN" altLang="en-US" sz="1800" dirty="0"/>
              <a:t>可扩展性非常差，核数增多，性能不升反降</a:t>
            </a:r>
            <a:endParaRPr kumimoji="1" lang="en-US" altLang="zh-CN" sz="1800" dirty="0"/>
          </a:p>
          <a:p>
            <a:pPr lvl="1"/>
            <a:r>
              <a:rPr kumimoji="1" lang="en-US" altLang="zh-CN" sz="2000" dirty="0"/>
              <a:t>GPU</a:t>
            </a:r>
            <a:r>
              <a:rPr kumimoji="1" lang="zh-CN" altLang="en-US" sz="2000" dirty="0"/>
              <a:t>等设备越来越多</a:t>
            </a:r>
            <a:endParaRPr kumimoji="1" lang="en-US" altLang="zh-CN" sz="2000" dirty="0"/>
          </a:p>
          <a:p>
            <a:pPr lvl="2"/>
            <a:r>
              <a:rPr kumimoji="1" lang="zh-CN" altLang="en-US" sz="1800" dirty="0"/>
              <a:t>设备本身越来越智能</a:t>
            </a:r>
            <a:r>
              <a:rPr kumimoji="1" lang="en-US" altLang="zh-CN" sz="1800" dirty="0"/>
              <a:t>——</a:t>
            </a:r>
            <a:r>
              <a:rPr kumimoji="1" lang="zh-CN" altLang="en-US" sz="1800" dirty="0"/>
              <a:t>设备有自己的</a:t>
            </a:r>
            <a:r>
              <a:rPr kumimoji="1" lang="en-US" altLang="zh-CN" sz="1800" dirty="0"/>
              <a:t>CPU</a:t>
            </a:r>
          </a:p>
          <a:p>
            <a:pPr lvl="2"/>
            <a:r>
              <a:rPr kumimoji="1" lang="zh-CN" altLang="en-US" sz="1800" dirty="0"/>
              <a:t>通过</a:t>
            </a:r>
            <a:r>
              <a:rPr kumimoji="1" lang="en-US" altLang="zh-CN" sz="1800" dirty="0"/>
              <a:t>PCIe</a:t>
            </a:r>
            <a:r>
              <a:rPr kumimoji="1" lang="zh-CN" altLang="en-US" sz="1800" dirty="0"/>
              <a:t>连接，主</a:t>
            </a:r>
            <a:r>
              <a:rPr kumimoji="1" lang="en-US" altLang="zh-CN" sz="1800" dirty="0"/>
              <a:t>CPU</a:t>
            </a:r>
            <a:r>
              <a:rPr kumimoji="1" lang="zh-CN" altLang="en-US" sz="1800" dirty="0"/>
              <a:t>与设备</a:t>
            </a:r>
            <a:r>
              <a:rPr kumimoji="1" lang="en-US" altLang="zh-CN" sz="1800" dirty="0"/>
              <a:t>CPU</a:t>
            </a:r>
            <a:r>
              <a:rPr kumimoji="1" lang="zh-CN" altLang="en-US" sz="1800" dirty="0"/>
              <a:t>之间通信非常慢</a:t>
            </a:r>
            <a:endParaRPr kumimoji="1" lang="en-US" altLang="zh-CN" sz="1800" dirty="0"/>
          </a:p>
          <a:p>
            <a:pPr lvl="2"/>
            <a:r>
              <a:rPr kumimoji="1" lang="zh-CN" altLang="en-US" sz="1800" dirty="0"/>
              <a:t>通过系统总线连接，异构</a:t>
            </a:r>
            <a:r>
              <a:rPr kumimoji="1" lang="en-US" altLang="zh-CN" sz="1800" dirty="0"/>
              <a:t>SoC</a:t>
            </a:r>
            <a:r>
              <a:rPr kumimoji="1" lang="zh-CN" altLang="en-US" sz="1800" dirty="0"/>
              <a:t>（</a:t>
            </a:r>
            <a:r>
              <a:rPr kumimoji="1" lang="en-US" altLang="zh-CN" sz="1800" dirty="0"/>
              <a:t>System</a:t>
            </a:r>
            <a:r>
              <a:rPr kumimoji="1" lang="zh-CN" altLang="en-US" sz="1800" dirty="0"/>
              <a:t> </a:t>
            </a:r>
            <a:r>
              <a:rPr kumimoji="1" lang="en-US" altLang="zh-CN" sz="1800" dirty="0"/>
              <a:t>on</a:t>
            </a:r>
            <a:r>
              <a:rPr kumimoji="1" lang="zh-CN" altLang="en-US" sz="1800" dirty="0"/>
              <a:t> </a:t>
            </a:r>
            <a:r>
              <a:rPr kumimoji="1" lang="en-US" altLang="zh-CN" sz="1800" dirty="0"/>
              <a:t>Chip</a:t>
            </a:r>
            <a:r>
              <a:rPr kumimoji="1" lang="zh-CN" altLang="en-US" sz="1800" dirty="0"/>
              <a:t>）</a:t>
            </a:r>
          </a:p>
        </p:txBody>
      </p:sp>
      <p:sp>
        <p:nvSpPr>
          <p:cNvPr id="4" name="灯片编号占位符 3">
            <a:extLst>
              <a:ext uri="{FF2B5EF4-FFF2-40B4-BE49-F238E27FC236}">
                <a16:creationId xmlns:a16="http://schemas.microsoft.com/office/drawing/2014/main" id="{F9FA7DBE-F42D-5149-98E1-F8027591689F}"/>
              </a:ext>
            </a:extLst>
          </p:cNvPr>
          <p:cNvSpPr>
            <a:spLocks noGrp="1"/>
          </p:cNvSpPr>
          <p:nvPr>
            <p:ph type="sldNum" sz="quarter" idx="12"/>
          </p:nvPr>
        </p:nvSpPr>
        <p:spPr/>
        <p:txBody>
          <a:bodyPr/>
          <a:lstStyle/>
          <a:p>
            <a:fld id="{ADE361C3-C043-4A6E-BDCE-8DA1E7D90A3B}" type="slidenum">
              <a:rPr lang="zh-CN" altLang="en-US" smtClean="0"/>
              <a:t>52</a:t>
            </a:fld>
            <a:endParaRPr lang="zh-CN" altLang="en-US"/>
          </a:p>
        </p:txBody>
      </p:sp>
      <p:sp>
        <p:nvSpPr>
          <p:cNvPr id="6" name="矩形 5">
            <a:extLst>
              <a:ext uri="{FF2B5EF4-FFF2-40B4-BE49-F238E27FC236}">
                <a16:creationId xmlns:a16="http://schemas.microsoft.com/office/drawing/2014/main" id="{080CEA1E-E6F1-EB48-93B4-5CD4065F6684}"/>
              </a:ext>
            </a:extLst>
          </p:cNvPr>
          <p:cNvSpPr/>
          <p:nvPr/>
        </p:nvSpPr>
        <p:spPr>
          <a:xfrm>
            <a:off x="6553200" y="841276"/>
            <a:ext cx="1800200" cy="1800200"/>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矩形 6">
            <a:extLst>
              <a:ext uri="{FF2B5EF4-FFF2-40B4-BE49-F238E27FC236}">
                <a16:creationId xmlns:a16="http://schemas.microsoft.com/office/drawing/2014/main" id="{5BD6B82E-38B5-8246-9433-3B17C904766D}"/>
              </a:ext>
            </a:extLst>
          </p:cNvPr>
          <p:cNvSpPr/>
          <p:nvPr/>
        </p:nvSpPr>
        <p:spPr>
          <a:xfrm>
            <a:off x="6803682" y="1076494"/>
            <a:ext cx="584448" cy="584448"/>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t>CPU</a:t>
            </a:r>
            <a:endParaRPr kumimoji="1" lang="zh-CN" altLang="en-US" sz="1400" dirty="0"/>
          </a:p>
        </p:txBody>
      </p:sp>
      <p:sp>
        <p:nvSpPr>
          <p:cNvPr id="8" name="矩形 7">
            <a:extLst>
              <a:ext uri="{FF2B5EF4-FFF2-40B4-BE49-F238E27FC236}">
                <a16:creationId xmlns:a16="http://schemas.microsoft.com/office/drawing/2014/main" id="{2B8FB311-1BD5-3B48-A2E1-34C2BFC1F09C}"/>
              </a:ext>
            </a:extLst>
          </p:cNvPr>
          <p:cNvSpPr/>
          <p:nvPr/>
        </p:nvSpPr>
        <p:spPr>
          <a:xfrm>
            <a:off x="7524045" y="1076494"/>
            <a:ext cx="584448" cy="584448"/>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t>CPU</a:t>
            </a:r>
            <a:endParaRPr kumimoji="1" lang="zh-CN" altLang="en-US" sz="1400" dirty="0"/>
          </a:p>
        </p:txBody>
      </p:sp>
      <p:sp>
        <p:nvSpPr>
          <p:cNvPr id="9" name="矩形 8">
            <a:extLst>
              <a:ext uri="{FF2B5EF4-FFF2-40B4-BE49-F238E27FC236}">
                <a16:creationId xmlns:a16="http://schemas.microsoft.com/office/drawing/2014/main" id="{66EABF3D-506B-E047-A5CC-47866CC6A8DA}"/>
              </a:ext>
            </a:extLst>
          </p:cNvPr>
          <p:cNvSpPr/>
          <p:nvPr/>
        </p:nvSpPr>
        <p:spPr>
          <a:xfrm>
            <a:off x="6803682" y="1852767"/>
            <a:ext cx="584448" cy="584448"/>
          </a:xfrm>
          <a:prstGeom prst="rect">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t>GPU</a:t>
            </a:r>
            <a:endParaRPr kumimoji="1" lang="zh-CN" altLang="en-US" sz="1400" dirty="0"/>
          </a:p>
        </p:txBody>
      </p:sp>
      <p:sp>
        <p:nvSpPr>
          <p:cNvPr id="10" name="矩形 9">
            <a:extLst>
              <a:ext uri="{FF2B5EF4-FFF2-40B4-BE49-F238E27FC236}">
                <a16:creationId xmlns:a16="http://schemas.microsoft.com/office/drawing/2014/main" id="{2CB244A5-7E17-D449-89CE-D0F9E13DD104}"/>
              </a:ext>
            </a:extLst>
          </p:cNvPr>
          <p:cNvSpPr/>
          <p:nvPr/>
        </p:nvSpPr>
        <p:spPr>
          <a:xfrm>
            <a:off x="7524045" y="1860717"/>
            <a:ext cx="584448" cy="584448"/>
          </a:xfrm>
          <a:prstGeom prst="rect">
            <a:avLst/>
          </a:prstGeom>
          <a:solidFill>
            <a:schemeClr val="accent4"/>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t>NPU</a:t>
            </a:r>
            <a:endParaRPr kumimoji="1" lang="zh-CN" altLang="en-US" sz="1400" dirty="0"/>
          </a:p>
        </p:txBody>
      </p:sp>
      <p:sp>
        <p:nvSpPr>
          <p:cNvPr id="11" name="矩形 10">
            <a:extLst>
              <a:ext uri="{FF2B5EF4-FFF2-40B4-BE49-F238E27FC236}">
                <a16:creationId xmlns:a16="http://schemas.microsoft.com/office/drawing/2014/main" id="{3B21DB1F-663C-554C-9A51-B41EE413B3C3}"/>
              </a:ext>
            </a:extLst>
          </p:cNvPr>
          <p:cNvSpPr/>
          <p:nvPr/>
        </p:nvSpPr>
        <p:spPr>
          <a:xfrm>
            <a:off x="6575107" y="452349"/>
            <a:ext cx="1778293" cy="338554"/>
          </a:xfrm>
          <a:prstGeom prst="rect">
            <a:avLst/>
          </a:prstGeom>
        </p:spPr>
        <p:txBody>
          <a:bodyPr wrap="square">
            <a:spAutoFit/>
          </a:bodyPr>
          <a:lstStyle/>
          <a:p>
            <a:r>
              <a:rPr kumimoji="1" lang="en-US" altLang="zh-CN" sz="1600" b="1" dirty="0"/>
              <a:t>System</a:t>
            </a:r>
            <a:r>
              <a:rPr kumimoji="1" lang="zh-CN" altLang="en-US" sz="1600" b="1" dirty="0"/>
              <a:t> </a:t>
            </a:r>
            <a:r>
              <a:rPr kumimoji="1" lang="en-US" altLang="zh-CN" sz="1600" b="1" dirty="0"/>
              <a:t>on</a:t>
            </a:r>
            <a:r>
              <a:rPr kumimoji="1" lang="zh-CN" altLang="en-US" sz="1600" b="1" dirty="0"/>
              <a:t> </a:t>
            </a:r>
            <a:r>
              <a:rPr kumimoji="1" lang="en-US" altLang="zh-CN" sz="1600" b="1" dirty="0"/>
              <a:t>Chip</a:t>
            </a:r>
            <a:endParaRPr lang="zh-CN" altLang="en-US" sz="1600" b="1" dirty="0"/>
          </a:p>
        </p:txBody>
      </p:sp>
      <p:sp>
        <p:nvSpPr>
          <p:cNvPr id="12" name="矩形 11">
            <a:extLst>
              <a:ext uri="{FF2B5EF4-FFF2-40B4-BE49-F238E27FC236}">
                <a16:creationId xmlns:a16="http://schemas.microsoft.com/office/drawing/2014/main" id="{80A6A2D5-7DBA-0B42-8BEC-C24944087ACC}"/>
              </a:ext>
            </a:extLst>
          </p:cNvPr>
          <p:cNvSpPr/>
          <p:nvPr/>
        </p:nvSpPr>
        <p:spPr>
          <a:xfrm>
            <a:off x="7524045" y="3937620"/>
            <a:ext cx="584448" cy="584448"/>
          </a:xfrm>
          <a:prstGeom prst="rect">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t>GPU</a:t>
            </a:r>
            <a:endParaRPr kumimoji="1" lang="zh-CN" altLang="en-US" sz="1400" dirty="0"/>
          </a:p>
        </p:txBody>
      </p:sp>
      <p:cxnSp>
        <p:nvCxnSpPr>
          <p:cNvPr id="14" name="直线连接符 13">
            <a:extLst>
              <a:ext uri="{FF2B5EF4-FFF2-40B4-BE49-F238E27FC236}">
                <a16:creationId xmlns:a16="http://schemas.microsoft.com/office/drawing/2014/main" id="{2867CF6D-4B14-7E44-95C6-4A9D5E1923C8}"/>
              </a:ext>
            </a:extLst>
          </p:cNvPr>
          <p:cNvCxnSpPr>
            <a:endCxn id="12" idx="0"/>
          </p:cNvCxnSpPr>
          <p:nvPr/>
        </p:nvCxnSpPr>
        <p:spPr>
          <a:xfrm>
            <a:off x="7816269" y="2636990"/>
            <a:ext cx="0" cy="130063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5" name="矩形 14">
            <a:extLst>
              <a:ext uri="{FF2B5EF4-FFF2-40B4-BE49-F238E27FC236}">
                <a16:creationId xmlns:a16="http://schemas.microsoft.com/office/drawing/2014/main" id="{95A55A68-2E33-C842-9671-4FEE554CD438}"/>
              </a:ext>
            </a:extLst>
          </p:cNvPr>
          <p:cNvSpPr/>
          <p:nvPr/>
        </p:nvSpPr>
        <p:spPr>
          <a:xfrm>
            <a:off x="7797653" y="3123754"/>
            <a:ext cx="1778293" cy="338554"/>
          </a:xfrm>
          <a:prstGeom prst="rect">
            <a:avLst/>
          </a:prstGeom>
        </p:spPr>
        <p:txBody>
          <a:bodyPr wrap="square">
            <a:spAutoFit/>
          </a:bodyPr>
          <a:lstStyle/>
          <a:p>
            <a:r>
              <a:rPr kumimoji="1" lang="en-US" altLang="zh-CN" sz="1600" b="1" dirty="0"/>
              <a:t>PCIe</a:t>
            </a:r>
            <a:endParaRPr lang="zh-CN" altLang="en-US" sz="1600" b="1" dirty="0"/>
          </a:p>
        </p:txBody>
      </p:sp>
    </p:spTree>
    <p:extLst>
      <p:ext uri="{BB962C8B-B14F-4D97-AF65-F5344CB8AC3E}">
        <p14:creationId xmlns:p14="http://schemas.microsoft.com/office/powerpoint/2010/main" val="73880352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FDA6C6-4C26-4246-A3AC-18AA02C58CFD}"/>
              </a:ext>
            </a:extLst>
          </p:cNvPr>
          <p:cNvSpPr>
            <a:spLocks noGrp="1"/>
          </p:cNvSpPr>
          <p:nvPr>
            <p:ph type="title"/>
          </p:nvPr>
        </p:nvSpPr>
        <p:spPr/>
        <p:txBody>
          <a:bodyPr/>
          <a:lstStyle/>
          <a:p>
            <a:r>
              <a:rPr kumimoji="1" lang="en-US" altLang="zh-CN" dirty="0" err="1"/>
              <a:t>Multikernel</a:t>
            </a:r>
            <a:r>
              <a:rPr kumimoji="1" lang="zh-CN" altLang="en-US" dirty="0"/>
              <a:t>的设计</a:t>
            </a:r>
          </a:p>
        </p:txBody>
      </p:sp>
      <p:sp>
        <p:nvSpPr>
          <p:cNvPr id="3" name="内容占位符 2">
            <a:extLst>
              <a:ext uri="{FF2B5EF4-FFF2-40B4-BE49-F238E27FC236}">
                <a16:creationId xmlns:a16="http://schemas.microsoft.com/office/drawing/2014/main" id="{0F84DE7A-7DB4-E24F-B72E-71715225F6A9}"/>
              </a:ext>
            </a:extLst>
          </p:cNvPr>
          <p:cNvSpPr>
            <a:spLocks noGrp="1"/>
          </p:cNvSpPr>
          <p:nvPr>
            <p:ph idx="1"/>
          </p:nvPr>
        </p:nvSpPr>
        <p:spPr/>
        <p:txBody>
          <a:bodyPr>
            <a:normAutofit/>
          </a:bodyPr>
          <a:lstStyle/>
          <a:p>
            <a:r>
              <a:rPr kumimoji="1" lang="en-US" altLang="zh-CN" sz="2000" dirty="0" err="1"/>
              <a:t>Multikernel</a:t>
            </a:r>
            <a:r>
              <a:rPr kumimoji="1" lang="zh-CN" altLang="en-US" sz="2000" dirty="0"/>
              <a:t>的思路</a:t>
            </a:r>
            <a:endParaRPr kumimoji="1" lang="en-US" altLang="zh-CN" sz="2000" dirty="0"/>
          </a:p>
          <a:p>
            <a:pPr lvl="1"/>
            <a:r>
              <a:rPr kumimoji="1" lang="zh-CN" altLang="en-US" sz="1800" dirty="0"/>
              <a:t>默认的状态是划分而不是共享</a:t>
            </a:r>
            <a:endParaRPr kumimoji="1" lang="en-US" altLang="zh-CN" sz="1800" dirty="0"/>
          </a:p>
          <a:p>
            <a:pPr lvl="1"/>
            <a:r>
              <a:rPr kumimoji="1" lang="zh-CN" altLang="en-US" sz="1800" dirty="0"/>
              <a:t>维持多份状态的</a:t>
            </a:r>
            <a:r>
              <a:rPr kumimoji="1" lang="en-US" altLang="zh-CN" sz="1800" dirty="0"/>
              <a:t>copy</a:t>
            </a:r>
            <a:r>
              <a:rPr kumimoji="1" lang="zh-CN" altLang="en-US" sz="1800" dirty="0"/>
              <a:t>而不是共享一份状态</a:t>
            </a:r>
            <a:endParaRPr kumimoji="1" lang="en-US" altLang="zh-CN" sz="1800" dirty="0"/>
          </a:p>
          <a:p>
            <a:pPr lvl="1"/>
            <a:r>
              <a:rPr kumimoji="1" lang="zh-CN" altLang="en-US" sz="1800" dirty="0"/>
              <a:t>显式的核间通信机制</a:t>
            </a:r>
            <a:endParaRPr kumimoji="1" lang="en-US" altLang="zh-CN" sz="1800" dirty="0"/>
          </a:p>
          <a:p>
            <a:r>
              <a:rPr kumimoji="1" lang="en-US" altLang="zh-CN" sz="2000" dirty="0" err="1"/>
              <a:t>Multikernel</a:t>
            </a:r>
            <a:r>
              <a:rPr kumimoji="1" lang="zh-CN" altLang="en-US" sz="2000" dirty="0"/>
              <a:t>的设计</a:t>
            </a:r>
            <a:endParaRPr kumimoji="1" lang="en-US" altLang="zh-CN" sz="2000" dirty="0"/>
          </a:p>
          <a:p>
            <a:pPr lvl="1"/>
            <a:r>
              <a:rPr kumimoji="1" lang="zh-CN" altLang="en-US" sz="1800" dirty="0"/>
              <a:t>在每个</a:t>
            </a:r>
            <a:r>
              <a:rPr kumimoji="1" lang="en-US" altLang="zh-CN" sz="1800" dirty="0"/>
              <a:t>core</a:t>
            </a:r>
            <a:r>
              <a:rPr kumimoji="1" lang="zh-CN" altLang="en-US" sz="1800" dirty="0"/>
              <a:t>上运行一个小内核</a:t>
            </a:r>
            <a:endParaRPr kumimoji="1" lang="en-US" altLang="zh-CN" sz="1800" dirty="0"/>
          </a:p>
          <a:p>
            <a:pPr lvl="2"/>
            <a:r>
              <a:rPr kumimoji="1" lang="zh-CN" altLang="en-US" sz="1400" dirty="0"/>
              <a:t>包括</a:t>
            </a:r>
            <a:r>
              <a:rPr kumimoji="1" lang="en-US" altLang="zh-CN" sz="1400" dirty="0"/>
              <a:t>CPU</a:t>
            </a:r>
            <a:r>
              <a:rPr kumimoji="1" lang="zh-CN" altLang="en-US" sz="1400" dirty="0"/>
              <a:t>、</a:t>
            </a:r>
            <a:r>
              <a:rPr kumimoji="1" lang="en-US" altLang="zh-CN" sz="1400" dirty="0"/>
              <a:t>GPU</a:t>
            </a:r>
            <a:r>
              <a:rPr kumimoji="1" lang="zh-CN" altLang="en-US" sz="1400" dirty="0"/>
              <a:t>等</a:t>
            </a:r>
            <a:endParaRPr kumimoji="1" lang="en-US" altLang="zh-CN" sz="1400" dirty="0"/>
          </a:p>
          <a:p>
            <a:pPr lvl="1"/>
            <a:r>
              <a:rPr kumimoji="1" lang="en-US" altLang="zh-CN" sz="1800" dirty="0"/>
              <a:t>OS</a:t>
            </a:r>
            <a:r>
              <a:rPr kumimoji="1" lang="zh-CN" altLang="en-US" sz="1800" dirty="0"/>
              <a:t>整体是一个分布式系统</a:t>
            </a:r>
            <a:endParaRPr kumimoji="1" lang="en-US" altLang="zh-CN" sz="1800" dirty="0"/>
          </a:p>
          <a:p>
            <a:pPr lvl="1"/>
            <a:r>
              <a:rPr kumimoji="1" lang="zh-CN" altLang="en-US" sz="1800" dirty="0"/>
              <a:t>应用程序依然运行在</a:t>
            </a:r>
            <a:r>
              <a:rPr kumimoji="1" lang="en-US" altLang="zh-CN" sz="1800" dirty="0"/>
              <a:t>OS</a:t>
            </a:r>
            <a:r>
              <a:rPr kumimoji="1" lang="zh-CN" altLang="en-US" sz="1800" dirty="0"/>
              <a:t>之上</a:t>
            </a:r>
          </a:p>
        </p:txBody>
      </p:sp>
      <p:sp>
        <p:nvSpPr>
          <p:cNvPr id="4" name="灯片编号占位符 3">
            <a:extLst>
              <a:ext uri="{FF2B5EF4-FFF2-40B4-BE49-F238E27FC236}">
                <a16:creationId xmlns:a16="http://schemas.microsoft.com/office/drawing/2014/main" id="{F9FA7DBE-F42D-5149-98E1-F8027591689F}"/>
              </a:ext>
            </a:extLst>
          </p:cNvPr>
          <p:cNvSpPr>
            <a:spLocks noGrp="1"/>
          </p:cNvSpPr>
          <p:nvPr>
            <p:ph type="sldNum" sz="quarter" idx="12"/>
          </p:nvPr>
        </p:nvSpPr>
        <p:spPr/>
        <p:txBody>
          <a:bodyPr/>
          <a:lstStyle/>
          <a:p>
            <a:fld id="{ADE361C3-C043-4A6E-BDCE-8DA1E7D90A3B}" type="slidenum">
              <a:rPr lang="zh-CN" altLang="en-US" smtClean="0"/>
              <a:t>53</a:t>
            </a:fld>
            <a:endParaRPr lang="zh-CN" altLang="en-US"/>
          </a:p>
        </p:txBody>
      </p:sp>
      <p:pic>
        <p:nvPicPr>
          <p:cNvPr id="5" name="图片 4">
            <a:extLst>
              <a:ext uri="{FF2B5EF4-FFF2-40B4-BE49-F238E27FC236}">
                <a16:creationId xmlns:a16="http://schemas.microsoft.com/office/drawing/2014/main" id="{80855E50-8BD5-4D40-BD78-7CC2BF722D9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556890" y="2929508"/>
            <a:ext cx="4510906" cy="2037414"/>
          </a:xfrm>
          <a:prstGeom prst="rect">
            <a:avLst/>
          </a:prstGeom>
        </p:spPr>
      </p:pic>
    </p:spTree>
    <p:extLst>
      <p:ext uri="{BB962C8B-B14F-4D97-AF65-F5344CB8AC3E}">
        <p14:creationId xmlns:p14="http://schemas.microsoft.com/office/powerpoint/2010/main" val="223061949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E472D9-F17B-9A43-8B22-25DF56D58E54}"/>
              </a:ext>
            </a:extLst>
          </p:cNvPr>
          <p:cNvSpPr>
            <a:spLocks noGrp="1"/>
          </p:cNvSpPr>
          <p:nvPr>
            <p:ph type="title"/>
          </p:nvPr>
        </p:nvSpPr>
        <p:spPr/>
        <p:txBody>
          <a:bodyPr/>
          <a:lstStyle/>
          <a:p>
            <a:r>
              <a:rPr kumimoji="1" lang="en-US" altLang="zh-CN" dirty="0" err="1"/>
              <a:t>Barrelfish</a:t>
            </a:r>
            <a:r>
              <a:rPr kumimoji="1" lang="zh-CN" altLang="en-US" dirty="0"/>
              <a:t> </a:t>
            </a:r>
            <a:r>
              <a:rPr kumimoji="1" lang="en-US" altLang="zh-CN" dirty="0" err="1"/>
              <a:t>Multikernel</a:t>
            </a:r>
            <a:endParaRPr kumimoji="1" lang="zh-CN" altLang="en-US" dirty="0"/>
          </a:p>
        </p:txBody>
      </p:sp>
      <p:sp>
        <p:nvSpPr>
          <p:cNvPr id="3" name="内容占位符 2">
            <a:extLst>
              <a:ext uri="{FF2B5EF4-FFF2-40B4-BE49-F238E27FC236}">
                <a16:creationId xmlns:a16="http://schemas.microsoft.com/office/drawing/2014/main" id="{B2BA11C8-4280-C14D-A51F-FCAAB83D8FBD}"/>
              </a:ext>
            </a:extLst>
          </p:cNvPr>
          <p:cNvSpPr>
            <a:spLocks noGrp="1"/>
          </p:cNvSpPr>
          <p:nvPr>
            <p:ph idx="1"/>
          </p:nvPr>
        </p:nvSpPr>
        <p:spPr/>
        <p:txBody>
          <a:bodyPr/>
          <a:lstStyle/>
          <a:p>
            <a:r>
              <a:rPr kumimoji="1" lang="en-US" altLang="zh-CN" dirty="0" err="1"/>
              <a:t>Barrelfish</a:t>
            </a:r>
            <a:r>
              <a:rPr kumimoji="1" lang="zh-CN" altLang="en-US" dirty="0"/>
              <a:t>操作系统</a:t>
            </a:r>
            <a:endParaRPr kumimoji="1" lang="en-US" altLang="zh-CN" dirty="0"/>
          </a:p>
          <a:p>
            <a:pPr lvl="1"/>
            <a:r>
              <a:rPr kumimoji="1" lang="zh-CN" altLang="en-US" dirty="0"/>
              <a:t>来自</a:t>
            </a:r>
            <a:r>
              <a:rPr kumimoji="1" lang="en-US" altLang="zh-CN" dirty="0"/>
              <a:t>ETH</a:t>
            </a:r>
            <a:r>
              <a:rPr kumimoji="1" lang="zh-CN" altLang="en-US" dirty="0"/>
              <a:t> </a:t>
            </a:r>
            <a:r>
              <a:rPr kumimoji="1" lang="en-US" altLang="zh-CN" dirty="0"/>
              <a:t>Zurich</a:t>
            </a:r>
            <a:r>
              <a:rPr kumimoji="1" lang="zh-CN" altLang="en-US" dirty="0"/>
              <a:t>和微软研究院</a:t>
            </a:r>
            <a:endParaRPr kumimoji="1" lang="en-US" altLang="zh-CN" dirty="0"/>
          </a:p>
          <a:p>
            <a:pPr lvl="1"/>
            <a:r>
              <a:rPr kumimoji="1" lang="zh-CN" altLang="en-US" dirty="0"/>
              <a:t>支持异构</a:t>
            </a:r>
            <a:r>
              <a:rPr kumimoji="1" lang="en-US" altLang="zh-CN" dirty="0"/>
              <a:t>CPU</a:t>
            </a:r>
          </a:p>
          <a:p>
            <a:pPr lvl="1"/>
            <a:r>
              <a:rPr kumimoji="1" lang="zh-CN" altLang="en-US" dirty="0"/>
              <a:t>在</a:t>
            </a:r>
            <a:r>
              <a:rPr kumimoji="1" lang="en-US" altLang="zh-CN" dirty="0"/>
              <a:t>CPU</a:t>
            </a:r>
            <a:r>
              <a:rPr kumimoji="1" lang="zh-CN" altLang="en-US" dirty="0"/>
              <a:t>核与节点之间提供通用异构消息抽象</a:t>
            </a:r>
            <a:endParaRPr kumimoji="1" lang="en-US" altLang="zh-CN" dirty="0"/>
          </a:p>
          <a:p>
            <a:pPr lvl="1"/>
            <a:r>
              <a:rPr kumimoji="1" lang="zh-CN" altLang="en-US" dirty="0"/>
              <a:t>大约</a:t>
            </a:r>
            <a:r>
              <a:rPr kumimoji="1" lang="en-US" altLang="zh-CN" dirty="0"/>
              <a:t>10,000</a:t>
            </a:r>
            <a:r>
              <a:rPr kumimoji="1" lang="zh-CN" altLang="en-US" dirty="0"/>
              <a:t>行</a:t>
            </a:r>
            <a:r>
              <a:rPr kumimoji="1" lang="en-US" altLang="zh-CN" dirty="0"/>
              <a:t>C</a:t>
            </a:r>
            <a:r>
              <a:rPr kumimoji="1" lang="zh-CN" altLang="en-US" dirty="0"/>
              <a:t>，</a:t>
            </a:r>
            <a:r>
              <a:rPr kumimoji="1" lang="en-US" altLang="zh-CN" dirty="0"/>
              <a:t>500</a:t>
            </a:r>
            <a:r>
              <a:rPr kumimoji="1" lang="zh-CN" altLang="en-US" dirty="0"/>
              <a:t>行汇编代码</a:t>
            </a:r>
            <a:endParaRPr kumimoji="1" lang="en-US" altLang="zh-CN" dirty="0"/>
          </a:p>
        </p:txBody>
      </p:sp>
      <p:sp>
        <p:nvSpPr>
          <p:cNvPr id="4" name="灯片编号占位符 3">
            <a:extLst>
              <a:ext uri="{FF2B5EF4-FFF2-40B4-BE49-F238E27FC236}">
                <a16:creationId xmlns:a16="http://schemas.microsoft.com/office/drawing/2014/main" id="{64DD3FDF-1758-224D-BFF4-B9C6369463C0}"/>
              </a:ext>
            </a:extLst>
          </p:cNvPr>
          <p:cNvSpPr>
            <a:spLocks noGrp="1"/>
          </p:cNvSpPr>
          <p:nvPr>
            <p:ph type="sldNum" sz="quarter" idx="12"/>
          </p:nvPr>
        </p:nvSpPr>
        <p:spPr/>
        <p:txBody>
          <a:bodyPr/>
          <a:lstStyle/>
          <a:p>
            <a:fld id="{ADE361C3-C043-4A6E-BDCE-8DA1E7D90A3B}" type="slidenum">
              <a:rPr lang="zh-CN" altLang="en-US" smtClean="0"/>
              <a:t>54</a:t>
            </a:fld>
            <a:endParaRPr lang="zh-CN" altLang="en-US"/>
          </a:p>
        </p:txBody>
      </p:sp>
      <p:pic>
        <p:nvPicPr>
          <p:cNvPr id="5" name="图片 4">
            <a:extLst>
              <a:ext uri="{FF2B5EF4-FFF2-40B4-BE49-F238E27FC236}">
                <a16:creationId xmlns:a16="http://schemas.microsoft.com/office/drawing/2014/main" id="{F02F0300-CEAF-6042-A516-DA7C46BA8297}"/>
              </a:ext>
            </a:extLst>
          </p:cNvPr>
          <p:cNvPicPr>
            <a:picLocks noChangeAspect="1"/>
          </p:cNvPicPr>
          <p:nvPr/>
        </p:nvPicPr>
        <p:blipFill rotWithShape="1">
          <a:blip r:embed="rId2" cstate="screen">
            <a:clrChange>
              <a:clrFrom>
                <a:srgbClr val="F4F4F4"/>
              </a:clrFrom>
              <a:clrTo>
                <a:srgbClr val="F4F4F4">
                  <a:alpha val="0"/>
                </a:srgbClr>
              </a:clrTo>
            </a:clrChange>
            <a:extLst>
              <a:ext uri="{28A0092B-C50C-407E-A947-70E740481C1C}">
                <a14:useLocalDpi xmlns:a14="http://schemas.microsoft.com/office/drawing/2010/main"/>
              </a:ext>
            </a:extLst>
          </a:blip>
          <a:srcRect/>
          <a:stretch/>
        </p:blipFill>
        <p:spPr>
          <a:xfrm>
            <a:off x="6575884" y="189176"/>
            <a:ext cx="2088232" cy="1905000"/>
          </a:xfrm>
          <a:prstGeom prst="rect">
            <a:avLst/>
          </a:prstGeom>
        </p:spPr>
      </p:pic>
    </p:spTree>
    <p:extLst>
      <p:ext uri="{BB962C8B-B14F-4D97-AF65-F5344CB8AC3E}">
        <p14:creationId xmlns:p14="http://schemas.microsoft.com/office/powerpoint/2010/main" val="349710633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E091DB48-24C5-0648-B283-E642DC9015E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558911" y="165492"/>
            <a:ext cx="4443831" cy="5486134"/>
          </a:xfrm>
          <a:prstGeom prst="rect">
            <a:avLst/>
          </a:prstGeom>
        </p:spPr>
      </p:pic>
      <p:sp>
        <p:nvSpPr>
          <p:cNvPr id="2" name="标题 1">
            <a:extLst>
              <a:ext uri="{FF2B5EF4-FFF2-40B4-BE49-F238E27FC236}">
                <a16:creationId xmlns:a16="http://schemas.microsoft.com/office/drawing/2014/main" id="{27363722-E605-2141-89E8-04996D7FDFE5}"/>
              </a:ext>
            </a:extLst>
          </p:cNvPr>
          <p:cNvSpPr>
            <a:spLocks noGrp="1"/>
          </p:cNvSpPr>
          <p:nvPr>
            <p:ph type="title"/>
          </p:nvPr>
        </p:nvSpPr>
        <p:spPr/>
        <p:txBody>
          <a:bodyPr>
            <a:normAutofit/>
          </a:bodyPr>
          <a:lstStyle/>
          <a:p>
            <a:r>
              <a:rPr kumimoji="1" lang="en-US" altLang="zh-CN" sz="3200" dirty="0" err="1"/>
              <a:t>Barrelfish</a:t>
            </a:r>
            <a:r>
              <a:rPr kumimoji="1" lang="zh-CN" altLang="en-US" sz="3200" dirty="0"/>
              <a:t> </a:t>
            </a:r>
            <a:r>
              <a:rPr kumimoji="1" lang="en-US" altLang="zh-CN" sz="3200" dirty="0"/>
              <a:t>Structure</a:t>
            </a:r>
            <a:endParaRPr kumimoji="1" lang="zh-CN" altLang="en-US" sz="3200" dirty="0"/>
          </a:p>
        </p:txBody>
      </p:sp>
      <p:sp>
        <p:nvSpPr>
          <p:cNvPr id="3" name="内容占位符 2">
            <a:extLst>
              <a:ext uri="{FF2B5EF4-FFF2-40B4-BE49-F238E27FC236}">
                <a16:creationId xmlns:a16="http://schemas.microsoft.com/office/drawing/2014/main" id="{9E89D7A0-44A7-7040-A032-43405AC2008A}"/>
              </a:ext>
            </a:extLst>
          </p:cNvPr>
          <p:cNvSpPr>
            <a:spLocks noGrp="1"/>
          </p:cNvSpPr>
          <p:nvPr>
            <p:ph idx="1"/>
          </p:nvPr>
        </p:nvSpPr>
        <p:spPr/>
        <p:txBody>
          <a:bodyPr>
            <a:noAutofit/>
          </a:bodyPr>
          <a:lstStyle/>
          <a:p>
            <a:r>
              <a:rPr kumimoji="1" lang="zh-CN" altLang="en-US" sz="1800" dirty="0"/>
              <a:t>内核：每个</a:t>
            </a:r>
            <a:r>
              <a:rPr kumimoji="1" lang="en-US" altLang="zh-CN" sz="1800" dirty="0"/>
              <a:t>core</a:t>
            </a:r>
            <a:r>
              <a:rPr kumimoji="1" lang="zh-CN" altLang="en-US" sz="1800" dirty="0"/>
              <a:t>对应一个</a:t>
            </a:r>
            <a:endParaRPr kumimoji="1" lang="en-US" altLang="zh-CN" sz="1800" dirty="0"/>
          </a:p>
          <a:p>
            <a:pPr lvl="1"/>
            <a:r>
              <a:rPr kumimoji="1" lang="zh-CN" altLang="en-US" sz="1600" dirty="0"/>
              <a:t>类似</a:t>
            </a:r>
            <a:r>
              <a:rPr kumimoji="1" lang="en-US" altLang="zh-CN" sz="1600" dirty="0"/>
              <a:t>"CPU</a:t>
            </a:r>
            <a:r>
              <a:rPr kumimoji="1" lang="zh-CN" altLang="en-US" sz="1600" dirty="0"/>
              <a:t>驱动</a:t>
            </a:r>
            <a:r>
              <a:rPr kumimoji="1" lang="en-US" altLang="zh-CN" sz="1600" dirty="0"/>
              <a:t>"</a:t>
            </a:r>
            <a:r>
              <a:rPr kumimoji="1" lang="zh-CN" altLang="en-US" sz="1600" dirty="0"/>
              <a:t>，适应不同</a:t>
            </a:r>
            <a:r>
              <a:rPr kumimoji="1" lang="en-US" altLang="zh-CN" sz="1600" dirty="0"/>
              <a:t>CPU</a:t>
            </a:r>
          </a:p>
          <a:p>
            <a:pPr lvl="1"/>
            <a:r>
              <a:rPr kumimoji="1" lang="zh-CN" altLang="en-US" sz="1600" dirty="0"/>
              <a:t>负责执行系统调用，处理中断</a:t>
            </a:r>
            <a:r>
              <a:rPr kumimoji="1" lang="en-US" altLang="zh-CN" sz="1600" dirty="0"/>
              <a:t>/</a:t>
            </a:r>
            <a:r>
              <a:rPr kumimoji="1" lang="zh-CN" altLang="en-US" sz="1600" dirty="0"/>
              <a:t>异常</a:t>
            </a:r>
            <a:endParaRPr kumimoji="1" lang="en-US" altLang="zh-CN" sz="1600" dirty="0"/>
          </a:p>
          <a:p>
            <a:pPr lvl="1"/>
            <a:r>
              <a:rPr kumimoji="1" lang="zh-CN" altLang="en-US" sz="1600" dirty="0"/>
              <a:t>事件触发，单线程，不可中断</a:t>
            </a:r>
            <a:endParaRPr kumimoji="1" lang="en-US" altLang="zh-CN" sz="1600" dirty="0"/>
          </a:p>
          <a:p>
            <a:pPr lvl="1"/>
            <a:r>
              <a:rPr kumimoji="1" lang="zh-CN" altLang="en-US" sz="1600" dirty="0"/>
              <a:t>内核调度并运行</a:t>
            </a:r>
            <a:r>
              <a:rPr kumimoji="1" lang="en-US" altLang="zh-CN" sz="1600" dirty="0"/>
              <a:t>"</a:t>
            </a:r>
            <a:r>
              <a:rPr kumimoji="1" lang="en-US" altLang="zh-CN" sz="1600" dirty="0">
                <a:solidFill>
                  <a:schemeClr val="accent1"/>
                </a:solidFill>
              </a:rPr>
              <a:t>Dispatcher</a:t>
            </a:r>
            <a:r>
              <a:rPr kumimoji="1" lang="en-US" altLang="zh-CN" sz="1600" dirty="0"/>
              <a:t>"</a:t>
            </a:r>
          </a:p>
          <a:p>
            <a:r>
              <a:rPr kumimoji="1" lang="en-US" altLang="zh-CN" sz="1800" dirty="0"/>
              <a:t>Dispatcher</a:t>
            </a:r>
          </a:p>
          <a:p>
            <a:pPr lvl="1"/>
            <a:r>
              <a:rPr kumimoji="1" lang="zh-CN" altLang="en-US" sz="1600" dirty="0"/>
              <a:t>类似线程</a:t>
            </a:r>
            <a:endParaRPr kumimoji="1" lang="en-US" altLang="zh-CN" sz="1600" dirty="0"/>
          </a:p>
          <a:p>
            <a:pPr lvl="1"/>
            <a:r>
              <a:rPr kumimoji="1" lang="zh-CN" altLang="en-US" sz="1600" dirty="0"/>
              <a:t>多个</a:t>
            </a:r>
            <a:r>
              <a:rPr kumimoji="1" lang="en-US" altLang="zh-CN" sz="1600" dirty="0">
                <a:solidFill>
                  <a:schemeClr val="accent1"/>
                </a:solidFill>
              </a:rPr>
              <a:t>Dispatcher</a:t>
            </a:r>
            <a:r>
              <a:rPr kumimoji="1" lang="zh-CN" altLang="en-US" sz="1600" dirty="0"/>
              <a:t>组成一个</a:t>
            </a:r>
            <a:r>
              <a:rPr kumimoji="1" lang="en-US" altLang="zh-CN" sz="1600" dirty="0">
                <a:solidFill>
                  <a:schemeClr val="accent1"/>
                </a:solidFill>
              </a:rPr>
              <a:t>Domain</a:t>
            </a:r>
          </a:p>
          <a:p>
            <a:r>
              <a:rPr kumimoji="1" lang="en-US" altLang="zh-CN" sz="1800" dirty="0"/>
              <a:t>Domain</a:t>
            </a:r>
          </a:p>
          <a:p>
            <a:pPr lvl="1"/>
            <a:r>
              <a:rPr kumimoji="1" lang="zh-CN" altLang="en-US" sz="1600" dirty="0"/>
              <a:t>类似进程</a:t>
            </a:r>
          </a:p>
        </p:txBody>
      </p:sp>
      <p:sp>
        <p:nvSpPr>
          <p:cNvPr id="4" name="灯片编号占位符 3">
            <a:extLst>
              <a:ext uri="{FF2B5EF4-FFF2-40B4-BE49-F238E27FC236}">
                <a16:creationId xmlns:a16="http://schemas.microsoft.com/office/drawing/2014/main" id="{CECFEA02-1EE0-8F4C-B3C1-CCB806D2D2CE}"/>
              </a:ext>
            </a:extLst>
          </p:cNvPr>
          <p:cNvSpPr>
            <a:spLocks noGrp="1"/>
          </p:cNvSpPr>
          <p:nvPr>
            <p:ph type="sldNum" sz="quarter" idx="12"/>
          </p:nvPr>
        </p:nvSpPr>
        <p:spPr/>
        <p:txBody>
          <a:bodyPr/>
          <a:lstStyle/>
          <a:p>
            <a:fld id="{ADE361C3-C043-4A6E-BDCE-8DA1E7D90A3B}" type="slidenum">
              <a:rPr lang="zh-CN" altLang="en-US" smtClean="0"/>
              <a:t>55</a:t>
            </a:fld>
            <a:endParaRPr lang="zh-CN" altLang="en-US"/>
          </a:p>
        </p:txBody>
      </p:sp>
      <p:sp>
        <p:nvSpPr>
          <p:cNvPr id="6" name="矩形 5">
            <a:extLst>
              <a:ext uri="{FF2B5EF4-FFF2-40B4-BE49-F238E27FC236}">
                <a16:creationId xmlns:a16="http://schemas.microsoft.com/office/drawing/2014/main" id="{FD49BAFA-6961-0341-BBA2-2DBE8754F6B6}"/>
              </a:ext>
            </a:extLst>
          </p:cNvPr>
          <p:cNvSpPr/>
          <p:nvPr/>
        </p:nvSpPr>
        <p:spPr>
          <a:xfrm>
            <a:off x="457800" y="5308701"/>
            <a:ext cx="4572000" cy="307777"/>
          </a:xfrm>
          <a:prstGeom prst="rect">
            <a:avLst/>
          </a:prstGeom>
        </p:spPr>
        <p:txBody>
          <a:bodyPr>
            <a:spAutoFit/>
          </a:bodyPr>
          <a:lstStyle/>
          <a:p>
            <a:r>
              <a:rPr lang="en-US" altLang="zh-CN" sz="1400" dirty="0">
                <a:solidFill>
                  <a:schemeClr val="tx2"/>
                </a:solidFill>
                <a:hlinkClick r:id="rId3">
                  <a:extLst>
                    <a:ext uri="{A12FA001-AC4F-418D-AE19-62706E023703}">
                      <ahyp:hlinkClr xmlns:ahyp="http://schemas.microsoft.com/office/drawing/2018/hyperlinkcolor" val="tx"/>
                    </a:ext>
                  </a:extLst>
                </a:hlinkClick>
              </a:rPr>
              <a:t>http://www.barrelfish.org/documentation.html</a:t>
            </a:r>
            <a:endParaRPr lang="zh-CN" altLang="en-US" sz="1400" dirty="0">
              <a:solidFill>
                <a:schemeClr val="tx2"/>
              </a:solidFill>
            </a:endParaRPr>
          </a:p>
        </p:txBody>
      </p:sp>
      <p:sp>
        <p:nvSpPr>
          <p:cNvPr id="7" name="文本框 6">
            <a:extLst>
              <a:ext uri="{FF2B5EF4-FFF2-40B4-BE49-F238E27FC236}">
                <a16:creationId xmlns:a16="http://schemas.microsoft.com/office/drawing/2014/main" id="{6548F572-1ABC-B846-B955-64487736FC4F}"/>
              </a:ext>
            </a:extLst>
          </p:cNvPr>
          <p:cNvSpPr txBox="1"/>
          <p:nvPr/>
        </p:nvSpPr>
        <p:spPr>
          <a:xfrm>
            <a:off x="6852222" y="1849388"/>
            <a:ext cx="1803699" cy="246221"/>
          </a:xfrm>
          <a:prstGeom prst="rect">
            <a:avLst/>
          </a:prstGeom>
          <a:noFill/>
        </p:spPr>
        <p:txBody>
          <a:bodyPr wrap="none" rtlCol="0">
            <a:spAutoFit/>
          </a:bodyPr>
          <a:lstStyle/>
          <a:p>
            <a:r>
              <a:rPr kumimoji="1" lang="en-US" altLang="zh-CN" sz="1000" dirty="0"/>
              <a:t>User-level</a:t>
            </a:r>
            <a:r>
              <a:rPr kumimoji="1" lang="zh-CN" altLang="en-US" sz="1000" dirty="0"/>
              <a:t> </a:t>
            </a:r>
            <a:r>
              <a:rPr kumimoji="1" lang="en-US" altLang="zh-CN" sz="1000" dirty="0"/>
              <a:t>Message</a:t>
            </a:r>
            <a:r>
              <a:rPr kumimoji="1" lang="zh-CN" altLang="en-US" sz="1000" dirty="0"/>
              <a:t> </a:t>
            </a:r>
            <a:r>
              <a:rPr kumimoji="1" lang="en-US" altLang="zh-CN" sz="1000" dirty="0"/>
              <a:t>Passing</a:t>
            </a:r>
            <a:endParaRPr kumimoji="1" lang="zh-CN" altLang="en-US" sz="1000" dirty="0"/>
          </a:p>
        </p:txBody>
      </p:sp>
      <p:sp>
        <p:nvSpPr>
          <p:cNvPr id="8" name="文本框 7">
            <a:extLst>
              <a:ext uri="{FF2B5EF4-FFF2-40B4-BE49-F238E27FC236}">
                <a16:creationId xmlns:a16="http://schemas.microsoft.com/office/drawing/2014/main" id="{51ED8C59-4865-7E4E-B03E-A3888E844B63}"/>
              </a:ext>
            </a:extLst>
          </p:cNvPr>
          <p:cNvSpPr txBox="1"/>
          <p:nvPr/>
        </p:nvSpPr>
        <p:spPr>
          <a:xfrm>
            <a:off x="6852222" y="1222113"/>
            <a:ext cx="1824234" cy="246221"/>
          </a:xfrm>
          <a:prstGeom prst="rect">
            <a:avLst/>
          </a:prstGeom>
          <a:noFill/>
        </p:spPr>
        <p:txBody>
          <a:bodyPr wrap="square" rtlCol="0">
            <a:spAutoFit/>
          </a:bodyPr>
          <a:lstStyle/>
          <a:p>
            <a:r>
              <a:rPr kumimoji="1" lang="en-US" altLang="zh-CN" sz="1000" dirty="0"/>
              <a:t>Local</a:t>
            </a:r>
            <a:r>
              <a:rPr kumimoji="1" lang="zh-CN" altLang="en-US" sz="1000" dirty="0"/>
              <a:t> </a:t>
            </a:r>
            <a:r>
              <a:rPr kumimoji="1" lang="en-US" altLang="zh-CN" sz="1000" dirty="0"/>
              <a:t>Message</a:t>
            </a:r>
            <a:r>
              <a:rPr kumimoji="1" lang="zh-CN" altLang="en-US" sz="1000" dirty="0"/>
              <a:t> </a:t>
            </a:r>
            <a:r>
              <a:rPr kumimoji="1" lang="en-US" altLang="zh-CN" sz="1000" dirty="0"/>
              <a:t>Passing</a:t>
            </a:r>
            <a:endParaRPr kumimoji="1" lang="zh-CN" altLang="en-US" sz="1000" dirty="0"/>
          </a:p>
        </p:txBody>
      </p:sp>
      <p:sp>
        <p:nvSpPr>
          <p:cNvPr id="9" name="文本框 8">
            <a:extLst>
              <a:ext uri="{FF2B5EF4-FFF2-40B4-BE49-F238E27FC236}">
                <a16:creationId xmlns:a16="http://schemas.microsoft.com/office/drawing/2014/main" id="{69E3523D-3B1F-A44A-A4EE-2508F843E302}"/>
              </a:ext>
            </a:extLst>
          </p:cNvPr>
          <p:cNvSpPr txBox="1"/>
          <p:nvPr/>
        </p:nvSpPr>
        <p:spPr>
          <a:xfrm>
            <a:off x="5795766" y="337220"/>
            <a:ext cx="1824234" cy="246221"/>
          </a:xfrm>
          <a:prstGeom prst="rect">
            <a:avLst/>
          </a:prstGeom>
          <a:noFill/>
        </p:spPr>
        <p:txBody>
          <a:bodyPr wrap="square" rtlCol="0">
            <a:spAutoFit/>
          </a:bodyPr>
          <a:lstStyle/>
          <a:p>
            <a:r>
              <a:rPr kumimoji="1" lang="en-US" altLang="zh-CN" sz="1000" dirty="0"/>
              <a:t>BOMP:</a:t>
            </a:r>
            <a:r>
              <a:rPr kumimoji="1" lang="zh-CN" altLang="en-US" sz="1000" dirty="0"/>
              <a:t> </a:t>
            </a:r>
            <a:r>
              <a:rPr kumimoji="1" lang="en-US" altLang="zh-CN" sz="1000" dirty="0" err="1"/>
              <a:t>Barrelfish</a:t>
            </a:r>
            <a:r>
              <a:rPr kumimoji="1" lang="zh-CN" altLang="en-US" sz="1000" dirty="0"/>
              <a:t> </a:t>
            </a:r>
            <a:r>
              <a:rPr kumimoji="1" lang="en-US" altLang="zh-CN" sz="1000" dirty="0"/>
              <a:t>OpenMP</a:t>
            </a:r>
            <a:endParaRPr kumimoji="1" lang="zh-CN" altLang="en-US" sz="1000" dirty="0"/>
          </a:p>
        </p:txBody>
      </p:sp>
      <p:sp>
        <p:nvSpPr>
          <p:cNvPr id="10" name="文本框 9">
            <a:extLst>
              <a:ext uri="{FF2B5EF4-FFF2-40B4-BE49-F238E27FC236}">
                <a16:creationId xmlns:a16="http://schemas.microsoft.com/office/drawing/2014/main" id="{543E6580-5136-2D4A-93FC-5C5CF52CF206}"/>
              </a:ext>
            </a:extLst>
          </p:cNvPr>
          <p:cNvSpPr txBox="1"/>
          <p:nvPr/>
        </p:nvSpPr>
        <p:spPr>
          <a:xfrm>
            <a:off x="4572000" y="3103903"/>
            <a:ext cx="1824234" cy="614655"/>
          </a:xfrm>
          <a:prstGeom prst="rect">
            <a:avLst/>
          </a:prstGeom>
          <a:noFill/>
        </p:spPr>
        <p:txBody>
          <a:bodyPr wrap="square" rtlCol="0">
            <a:spAutoFit/>
          </a:bodyPr>
          <a:lstStyle/>
          <a:p>
            <a:pPr>
              <a:lnSpc>
                <a:spcPct val="130000"/>
              </a:lnSpc>
            </a:pPr>
            <a:r>
              <a:rPr kumimoji="1" lang="en-US" altLang="zh-CN" sz="900" dirty="0"/>
              <a:t>SKB:</a:t>
            </a:r>
            <a:r>
              <a:rPr kumimoji="1" lang="zh-CN" altLang="en-US" sz="900" dirty="0"/>
              <a:t> </a:t>
            </a:r>
            <a:r>
              <a:rPr kumimoji="1" lang="en-US" altLang="zh-CN" sz="900" dirty="0"/>
              <a:t>System</a:t>
            </a:r>
            <a:r>
              <a:rPr kumimoji="1" lang="zh-CN" altLang="en-US" sz="900" dirty="0"/>
              <a:t> </a:t>
            </a:r>
            <a:br>
              <a:rPr kumimoji="1" lang="en-US" altLang="zh-CN" sz="900" dirty="0"/>
            </a:br>
            <a:r>
              <a:rPr kumimoji="1" lang="en-US" altLang="zh-CN" sz="900" dirty="0"/>
              <a:t>Knowledge</a:t>
            </a:r>
            <a:r>
              <a:rPr kumimoji="1" lang="zh-CN" altLang="en-US" sz="900" dirty="0"/>
              <a:t> </a:t>
            </a:r>
            <a:r>
              <a:rPr kumimoji="1" lang="en-US" altLang="zh-CN" sz="900" dirty="0"/>
              <a:t>Base</a:t>
            </a:r>
          </a:p>
          <a:p>
            <a:pPr>
              <a:lnSpc>
                <a:spcPct val="130000"/>
              </a:lnSpc>
            </a:pPr>
            <a:r>
              <a:rPr kumimoji="1" lang="zh-CN" altLang="en-US" sz="900" dirty="0"/>
              <a:t>类似 </a:t>
            </a:r>
            <a:r>
              <a:rPr kumimoji="1" lang="en-US" altLang="zh-CN" sz="900" dirty="0"/>
              <a:t>/proc</a:t>
            </a:r>
            <a:endParaRPr kumimoji="1" lang="zh-CN" altLang="en-US" sz="900" dirty="0"/>
          </a:p>
        </p:txBody>
      </p:sp>
    </p:spTree>
    <p:extLst>
      <p:ext uri="{BB962C8B-B14F-4D97-AF65-F5344CB8AC3E}">
        <p14:creationId xmlns:p14="http://schemas.microsoft.com/office/powerpoint/2010/main" val="393594670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D607DA-5B3B-0849-857C-EBFEED265ED3}"/>
              </a:ext>
            </a:extLst>
          </p:cNvPr>
          <p:cNvSpPr>
            <a:spLocks noGrp="1"/>
          </p:cNvSpPr>
          <p:nvPr>
            <p:ph type="title"/>
          </p:nvPr>
        </p:nvSpPr>
        <p:spPr/>
        <p:txBody>
          <a:bodyPr/>
          <a:lstStyle/>
          <a:p>
            <a:r>
              <a:rPr kumimoji="1" lang="en-US" altLang="zh-CN" dirty="0"/>
              <a:t>Popcorn</a:t>
            </a:r>
            <a:r>
              <a:rPr kumimoji="1" lang="zh-CN" altLang="en-US" dirty="0"/>
              <a:t> </a:t>
            </a:r>
            <a:r>
              <a:rPr kumimoji="1" lang="en-US" altLang="zh-CN" dirty="0"/>
              <a:t>Linux</a:t>
            </a:r>
            <a:endParaRPr kumimoji="1" lang="zh-CN" altLang="en-US" dirty="0"/>
          </a:p>
        </p:txBody>
      </p:sp>
      <p:sp>
        <p:nvSpPr>
          <p:cNvPr id="3" name="内容占位符 2">
            <a:extLst>
              <a:ext uri="{FF2B5EF4-FFF2-40B4-BE49-F238E27FC236}">
                <a16:creationId xmlns:a16="http://schemas.microsoft.com/office/drawing/2014/main" id="{5A870972-2669-8F44-8B80-8166FFF03D52}"/>
              </a:ext>
            </a:extLst>
          </p:cNvPr>
          <p:cNvSpPr>
            <a:spLocks noGrp="1"/>
          </p:cNvSpPr>
          <p:nvPr>
            <p:ph idx="1"/>
          </p:nvPr>
        </p:nvSpPr>
        <p:spPr/>
        <p:txBody>
          <a:bodyPr>
            <a:normAutofit/>
          </a:bodyPr>
          <a:lstStyle/>
          <a:p>
            <a:r>
              <a:rPr kumimoji="1" lang="zh-CN" altLang="en-US" sz="2000" dirty="0"/>
              <a:t>支持异构体系结构</a:t>
            </a:r>
            <a:endParaRPr kumimoji="1" lang="en-US" altLang="zh-CN" sz="2000" dirty="0"/>
          </a:p>
          <a:p>
            <a:pPr lvl="1"/>
            <a:r>
              <a:rPr kumimoji="1" lang="en-US" altLang="zh-CN" sz="2000" dirty="0"/>
              <a:t>ARM</a:t>
            </a:r>
            <a:r>
              <a:rPr kumimoji="1" lang="zh-CN" altLang="en-US" sz="2000" dirty="0"/>
              <a:t>、</a:t>
            </a:r>
            <a:r>
              <a:rPr kumimoji="1" lang="en-US" altLang="zh-CN" sz="2000" dirty="0"/>
              <a:t>x86</a:t>
            </a:r>
            <a:r>
              <a:rPr kumimoji="1" lang="zh-CN" altLang="en-US" sz="2000" dirty="0"/>
              <a:t>等</a:t>
            </a:r>
            <a:endParaRPr kumimoji="1" lang="en-US" altLang="zh-CN" sz="2000" dirty="0"/>
          </a:p>
          <a:p>
            <a:r>
              <a:rPr kumimoji="1" lang="zh-CN" altLang="en-US" sz="2000" dirty="0"/>
              <a:t>多个</a:t>
            </a:r>
            <a:r>
              <a:rPr kumimoji="1" lang="en-US" altLang="zh-CN" sz="2000" dirty="0"/>
              <a:t>Linux</a:t>
            </a:r>
            <a:r>
              <a:rPr kumimoji="1" lang="zh-CN" altLang="en-US" sz="2000" dirty="0"/>
              <a:t>内核副本</a:t>
            </a:r>
            <a:endParaRPr kumimoji="1" lang="en-US" altLang="zh-CN" sz="2000" dirty="0"/>
          </a:p>
          <a:p>
            <a:pPr lvl="1"/>
            <a:r>
              <a:rPr kumimoji="1" lang="zh-CN" altLang="en-US" sz="2000" dirty="0"/>
              <a:t>一套代码编译不同副本</a:t>
            </a:r>
            <a:endParaRPr kumimoji="1" lang="en-US" altLang="zh-CN" sz="2000" dirty="0"/>
          </a:p>
          <a:p>
            <a:pPr lvl="1"/>
            <a:r>
              <a:rPr kumimoji="1" lang="zh-CN" altLang="en-US" sz="2000" dirty="0"/>
              <a:t>不同</a:t>
            </a:r>
            <a:r>
              <a:rPr kumimoji="1" lang="en-US" altLang="zh-CN" sz="2000" dirty="0"/>
              <a:t>ISA</a:t>
            </a:r>
            <a:r>
              <a:rPr kumimoji="1" lang="zh-CN" altLang="en-US" sz="2000" dirty="0"/>
              <a:t>不同副本</a:t>
            </a:r>
            <a:endParaRPr kumimoji="1" lang="en-US" altLang="zh-CN" sz="2000" dirty="0"/>
          </a:p>
          <a:p>
            <a:pPr lvl="1"/>
            <a:r>
              <a:rPr kumimoji="1" lang="zh-CN" altLang="en-US" sz="2000" dirty="0"/>
              <a:t>多个副本同时向上提供</a:t>
            </a:r>
            <a:br>
              <a:rPr kumimoji="1" lang="en-US" altLang="zh-CN" sz="2000" dirty="0"/>
            </a:br>
            <a:r>
              <a:rPr kumimoji="1" lang="en-US" altLang="zh-CN" sz="2000" dirty="0"/>
              <a:t>OS</a:t>
            </a:r>
            <a:r>
              <a:rPr kumimoji="1" lang="zh-CN" altLang="en-US" sz="2000" dirty="0"/>
              <a:t>服务</a:t>
            </a:r>
          </a:p>
        </p:txBody>
      </p:sp>
      <p:sp>
        <p:nvSpPr>
          <p:cNvPr id="4" name="灯片编号占位符 3">
            <a:extLst>
              <a:ext uri="{FF2B5EF4-FFF2-40B4-BE49-F238E27FC236}">
                <a16:creationId xmlns:a16="http://schemas.microsoft.com/office/drawing/2014/main" id="{51ACAD68-48DA-8947-AC3B-C6E43674EA54}"/>
              </a:ext>
            </a:extLst>
          </p:cNvPr>
          <p:cNvSpPr>
            <a:spLocks noGrp="1"/>
          </p:cNvSpPr>
          <p:nvPr>
            <p:ph type="sldNum" sz="quarter" idx="12"/>
          </p:nvPr>
        </p:nvSpPr>
        <p:spPr/>
        <p:txBody>
          <a:bodyPr/>
          <a:lstStyle/>
          <a:p>
            <a:fld id="{ADE361C3-C043-4A6E-BDCE-8DA1E7D90A3B}" type="slidenum">
              <a:rPr lang="zh-CN" altLang="en-US" smtClean="0"/>
              <a:t>56</a:t>
            </a:fld>
            <a:endParaRPr lang="zh-CN" altLang="en-US"/>
          </a:p>
        </p:txBody>
      </p:sp>
      <p:pic>
        <p:nvPicPr>
          <p:cNvPr id="5" name="图片 4">
            <a:extLst>
              <a:ext uri="{FF2B5EF4-FFF2-40B4-BE49-F238E27FC236}">
                <a16:creationId xmlns:a16="http://schemas.microsoft.com/office/drawing/2014/main" id="{141A829E-5849-FC44-9099-D49967180827}"/>
              </a:ext>
            </a:extLst>
          </p:cNvPr>
          <p:cNvPicPr>
            <a:picLocks noChangeAspect="1"/>
          </p:cNvPicPr>
          <p:nvPr/>
        </p:nvPicPr>
        <p:blipFill>
          <a:blip r:embed="rId2"/>
          <a:stretch>
            <a:fillRect/>
          </a:stretch>
        </p:blipFill>
        <p:spPr>
          <a:xfrm>
            <a:off x="4253379" y="1196859"/>
            <a:ext cx="4788024" cy="3444017"/>
          </a:xfrm>
          <a:prstGeom prst="rect">
            <a:avLst/>
          </a:prstGeom>
        </p:spPr>
      </p:pic>
      <p:sp>
        <p:nvSpPr>
          <p:cNvPr id="6" name="矩形 5">
            <a:extLst>
              <a:ext uri="{FF2B5EF4-FFF2-40B4-BE49-F238E27FC236}">
                <a16:creationId xmlns:a16="http://schemas.microsoft.com/office/drawing/2014/main" id="{E49FDB54-DC49-3048-A106-85A9A86AF1E4}"/>
              </a:ext>
            </a:extLst>
          </p:cNvPr>
          <p:cNvSpPr/>
          <p:nvPr/>
        </p:nvSpPr>
        <p:spPr>
          <a:xfrm>
            <a:off x="4267200" y="5306484"/>
            <a:ext cx="4572000" cy="307777"/>
          </a:xfrm>
          <a:prstGeom prst="rect">
            <a:avLst/>
          </a:prstGeom>
        </p:spPr>
        <p:txBody>
          <a:bodyPr>
            <a:spAutoFit/>
          </a:bodyPr>
          <a:lstStyle/>
          <a:p>
            <a:pPr algn="ctr"/>
            <a:r>
              <a:rPr lang="en-US" altLang="zh-CN" sz="1400" dirty="0">
                <a:solidFill>
                  <a:schemeClr val="tx2"/>
                </a:solidFill>
              </a:rPr>
              <a:t>http://</a:t>
            </a:r>
            <a:r>
              <a:rPr lang="en-US" altLang="zh-CN" sz="1400" dirty="0" err="1">
                <a:solidFill>
                  <a:schemeClr val="tx2"/>
                </a:solidFill>
              </a:rPr>
              <a:t>www.popcornlinux.org</a:t>
            </a:r>
            <a:r>
              <a:rPr lang="en-US" altLang="zh-CN" sz="1400" dirty="0">
                <a:solidFill>
                  <a:schemeClr val="tx2"/>
                </a:solidFill>
              </a:rPr>
              <a:t>/</a:t>
            </a:r>
            <a:endParaRPr lang="zh-CN" altLang="en-US" sz="1400" dirty="0">
              <a:solidFill>
                <a:schemeClr val="tx2"/>
              </a:solidFill>
            </a:endParaRPr>
          </a:p>
        </p:txBody>
      </p:sp>
    </p:spTree>
    <p:extLst>
      <p:ext uri="{BB962C8B-B14F-4D97-AF65-F5344CB8AC3E}">
        <p14:creationId xmlns:p14="http://schemas.microsoft.com/office/powerpoint/2010/main" val="63009796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4C0A7DEF-A184-6A4D-9D47-A4F645DC0D25}"/>
              </a:ext>
            </a:extLst>
          </p:cNvPr>
          <p:cNvSpPr>
            <a:spLocks noGrp="1"/>
          </p:cNvSpPr>
          <p:nvPr>
            <p:ph type="title"/>
          </p:nvPr>
        </p:nvSpPr>
        <p:spPr/>
        <p:txBody>
          <a:bodyPr/>
          <a:lstStyle/>
          <a:p>
            <a:r>
              <a:rPr kumimoji="1" lang="zh-CN" altLang="en-US" dirty="0"/>
              <a:t>小结</a:t>
            </a:r>
          </a:p>
        </p:txBody>
      </p:sp>
      <p:sp>
        <p:nvSpPr>
          <p:cNvPr id="6" name="文本占位符 5">
            <a:extLst>
              <a:ext uri="{FF2B5EF4-FFF2-40B4-BE49-F238E27FC236}">
                <a16:creationId xmlns:a16="http://schemas.microsoft.com/office/drawing/2014/main" id="{0D84F601-F979-0D46-8748-B59E09268F5F}"/>
              </a:ext>
            </a:extLst>
          </p:cNvPr>
          <p:cNvSpPr>
            <a:spLocks noGrp="1"/>
          </p:cNvSpPr>
          <p:nvPr>
            <p:ph type="body" idx="1"/>
          </p:nvPr>
        </p:nvSpPr>
        <p:spPr/>
        <p:txBody>
          <a:bodyPr/>
          <a:lstStyle/>
          <a:p>
            <a:endParaRPr kumimoji="1" lang="zh-CN" altLang="en-US"/>
          </a:p>
        </p:txBody>
      </p:sp>
      <p:sp>
        <p:nvSpPr>
          <p:cNvPr id="4" name="灯片编号占位符 3">
            <a:extLst>
              <a:ext uri="{FF2B5EF4-FFF2-40B4-BE49-F238E27FC236}">
                <a16:creationId xmlns:a16="http://schemas.microsoft.com/office/drawing/2014/main" id="{4948FC59-BED5-9A4C-A1B5-00F0F03507F1}"/>
              </a:ext>
            </a:extLst>
          </p:cNvPr>
          <p:cNvSpPr>
            <a:spLocks noGrp="1"/>
          </p:cNvSpPr>
          <p:nvPr>
            <p:ph type="sldNum" sz="quarter" idx="12"/>
          </p:nvPr>
        </p:nvSpPr>
        <p:spPr/>
        <p:txBody>
          <a:bodyPr/>
          <a:lstStyle/>
          <a:p>
            <a:fld id="{ADE361C3-C043-4A6E-BDCE-8DA1E7D90A3B}" type="slidenum">
              <a:rPr lang="zh-CN" altLang="en-US" smtClean="0"/>
              <a:t>57</a:t>
            </a:fld>
            <a:endParaRPr lang="zh-CN" altLang="en-US"/>
          </a:p>
        </p:txBody>
      </p:sp>
    </p:spTree>
    <p:extLst>
      <p:ext uri="{BB962C8B-B14F-4D97-AF65-F5344CB8AC3E}">
        <p14:creationId xmlns:p14="http://schemas.microsoft.com/office/powerpoint/2010/main" val="231677251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9F8213-A597-2547-A063-0AF62C403E02}"/>
              </a:ext>
            </a:extLst>
          </p:cNvPr>
          <p:cNvSpPr>
            <a:spLocks noGrp="1"/>
          </p:cNvSpPr>
          <p:nvPr>
            <p:ph type="title"/>
          </p:nvPr>
        </p:nvSpPr>
        <p:spPr/>
        <p:txBody>
          <a:bodyPr/>
          <a:lstStyle/>
          <a:p>
            <a:r>
              <a:rPr kumimoji="1" lang="zh-CN" altLang="en-US" dirty="0"/>
              <a:t>不同操作系统架构的对比</a:t>
            </a:r>
          </a:p>
        </p:txBody>
      </p:sp>
      <p:sp>
        <p:nvSpPr>
          <p:cNvPr id="4" name="灯片编号占位符 3">
            <a:extLst>
              <a:ext uri="{FF2B5EF4-FFF2-40B4-BE49-F238E27FC236}">
                <a16:creationId xmlns:a16="http://schemas.microsoft.com/office/drawing/2014/main" id="{10F9BFF9-2B74-4747-BF41-BBD5B615DC5C}"/>
              </a:ext>
            </a:extLst>
          </p:cNvPr>
          <p:cNvSpPr>
            <a:spLocks noGrp="1"/>
          </p:cNvSpPr>
          <p:nvPr>
            <p:ph type="sldNum" sz="quarter" idx="12"/>
          </p:nvPr>
        </p:nvSpPr>
        <p:spPr/>
        <p:txBody>
          <a:bodyPr/>
          <a:lstStyle/>
          <a:p>
            <a:fld id="{ADE361C3-C043-4A6E-BDCE-8DA1E7D90A3B}" type="slidenum">
              <a:rPr lang="zh-CN" altLang="en-US" smtClean="0"/>
              <a:t>58</a:t>
            </a:fld>
            <a:endParaRPr lang="zh-CN" altLang="en-US"/>
          </a:p>
        </p:txBody>
      </p:sp>
      <p:sp>
        <p:nvSpPr>
          <p:cNvPr id="75" name="矩形 74">
            <a:extLst>
              <a:ext uri="{FF2B5EF4-FFF2-40B4-BE49-F238E27FC236}">
                <a16:creationId xmlns:a16="http://schemas.microsoft.com/office/drawing/2014/main" id="{62B17DDE-012A-FA43-9BC5-FB3ECB6F3B23}"/>
              </a:ext>
            </a:extLst>
          </p:cNvPr>
          <p:cNvSpPr/>
          <p:nvPr/>
        </p:nvSpPr>
        <p:spPr>
          <a:xfrm>
            <a:off x="1157755" y="3617411"/>
            <a:ext cx="926476" cy="638114"/>
          </a:xfrm>
          <a:prstGeom prst="rect">
            <a:avLst/>
          </a:prstGeom>
          <a:noFill/>
          <a:ln w="28575" cap="flat" cmpd="sng" algn="ctr">
            <a:solidFill>
              <a:sysClr val="windowText" lastClr="000000"/>
            </a:solid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76" name="矩形 75">
            <a:extLst>
              <a:ext uri="{FF2B5EF4-FFF2-40B4-BE49-F238E27FC236}">
                <a16:creationId xmlns:a16="http://schemas.microsoft.com/office/drawing/2014/main" id="{62C801E7-3409-F24B-977F-D493CD5760CC}"/>
              </a:ext>
            </a:extLst>
          </p:cNvPr>
          <p:cNvSpPr/>
          <p:nvPr/>
        </p:nvSpPr>
        <p:spPr>
          <a:xfrm>
            <a:off x="1157755" y="4250832"/>
            <a:ext cx="926476" cy="597264"/>
          </a:xfrm>
          <a:prstGeom prst="rect">
            <a:avLst/>
          </a:prstGeom>
          <a:solidFill>
            <a:srgbClr val="F79646">
              <a:lumMod val="60000"/>
              <a:lumOff val="40000"/>
            </a:srgbClr>
          </a:solidFill>
          <a:ln w="28575" cap="flat" cmpd="sng" algn="ctr">
            <a:solidFill>
              <a:sysClr val="windowText" lastClr="000000"/>
            </a:solid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cxnSp>
        <p:nvCxnSpPr>
          <p:cNvPr id="77" name="直接连接符 5">
            <a:extLst>
              <a:ext uri="{FF2B5EF4-FFF2-40B4-BE49-F238E27FC236}">
                <a16:creationId xmlns:a16="http://schemas.microsoft.com/office/drawing/2014/main" id="{3034909B-D972-5841-A943-961E0B018446}"/>
              </a:ext>
            </a:extLst>
          </p:cNvPr>
          <p:cNvCxnSpPr>
            <a:cxnSpLocks/>
          </p:cNvCxnSpPr>
          <p:nvPr/>
        </p:nvCxnSpPr>
        <p:spPr>
          <a:xfrm>
            <a:off x="271158" y="3473996"/>
            <a:ext cx="8261282" cy="0"/>
          </a:xfrm>
          <a:prstGeom prst="line">
            <a:avLst/>
          </a:prstGeom>
          <a:noFill/>
          <a:ln w="28575" cap="flat" cmpd="sng" algn="ctr">
            <a:solidFill>
              <a:srgbClr val="4F81BD">
                <a:shade val="95000"/>
                <a:satMod val="105000"/>
              </a:srgbClr>
            </a:solidFill>
            <a:prstDash val="solid"/>
          </a:ln>
          <a:effectLst/>
        </p:spPr>
      </p:cxnSp>
      <p:sp>
        <p:nvSpPr>
          <p:cNvPr id="78" name="矩形 77">
            <a:extLst>
              <a:ext uri="{FF2B5EF4-FFF2-40B4-BE49-F238E27FC236}">
                <a16:creationId xmlns:a16="http://schemas.microsoft.com/office/drawing/2014/main" id="{BB80C71D-C56B-E044-8B2C-9F43A43E71DF}"/>
              </a:ext>
            </a:extLst>
          </p:cNvPr>
          <p:cNvSpPr/>
          <p:nvPr/>
        </p:nvSpPr>
        <p:spPr>
          <a:xfrm>
            <a:off x="271158" y="3080957"/>
            <a:ext cx="723275" cy="307777"/>
          </a:xfrm>
          <a:prstGeom prst="rect">
            <a:avLst/>
          </a:prstGeom>
        </p:spPr>
        <p:txBody>
          <a:bodyPr wrap="none">
            <a:spAutoFit/>
          </a:bodyPr>
          <a:lstStyle/>
          <a:p>
            <a:pPr defTabSz="380985"/>
            <a:r>
              <a:rPr lang="zh-CN" altLang="en-US" sz="1400" b="1" dirty="0">
                <a:solidFill>
                  <a:srgbClr val="C0504D"/>
                </a:solidFill>
                <a:latin typeface="+mn-ea"/>
              </a:rPr>
              <a:t>用户态</a:t>
            </a:r>
          </a:p>
        </p:txBody>
      </p:sp>
      <p:sp>
        <p:nvSpPr>
          <p:cNvPr id="79" name="矩形 78">
            <a:extLst>
              <a:ext uri="{FF2B5EF4-FFF2-40B4-BE49-F238E27FC236}">
                <a16:creationId xmlns:a16="http://schemas.microsoft.com/office/drawing/2014/main" id="{1DF29DC3-D3AD-1842-A94B-859EDE60D3DF}"/>
              </a:ext>
            </a:extLst>
          </p:cNvPr>
          <p:cNvSpPr/>
          <p:nvPr/>
        </p:nvSpPr>
        <p:spPr>
          <a:xfrm>
            <a:off x="271158" y="3547703"/>
            <a:ext cx="723275" cy="307777"/>
          </a:xfrm>
          <a:prstGeom prst="rect">
            <a:avLst/>
          </a:prstGeom>
        </p:spPr>
        <p:txBody>
          <a:bodyPr wrap="none">
            <a:spAutoFit/>
          </a:bodyPr>
          <a:lstStyle/>
          <a:p>
            <a:pPr defTabSz="380985"/>
            <a:r>
              <a:rPr lang="zh-CN" altLang="en-US" sz="1400" b="1" dirty="0">
                <a:solidFill>
                  <a:srgbClr val="C0504D"/>
                </a:solidFill>
                <a:latin typeface="+mn-ea"/>
              </a:rPr>
              <a:t>内核态</a:t>
            </a:r>
          </a:p>
        </p:txBody>
      </p:sp>
      <p:sp>
        <p:nvSpPr>
          <p:cNvPr id="80" name="矩形 79">
            <a:extLst>
              <a:ext uri="{FF2B5EF4-FFF2-40B4-BE49-F238E27FC236}">
                <a16:creationId xmlns:a16="http://schemas.microsoft.com/office/drawing/2014/main" id="{6D4EE58B-F340-EF4A-8005-EE0D8BDA456B}"/>
              </a:ext>
            </a:extLst>
          </p:cNvPr>
          <p:cNvSpPr/>
          <p:nvPr/>
        </p:nvSpPr>
        <p:spPr>
          <a:xfrm>
            <a:off x="1282672" y="3704013"/>
            <a:ext cx="239427" cy="186379"/>
          </a:xfrm>
          <a:prstGeom prst="rect">
            <a:avLst/>
          </a:prstGeom>
          <a:solidFill>
            <a:srgbClr val="0096FF"/>
          </a:solidFill>
          <a:ln w="28575" cap="flat" cmpd="sng" algn="ctr">
            <a:no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81" name="矩形 80">
            <a:extLst>
              <a:ext uri="{FF2B5EF4-FFF2-40B4-BE49-F238E27FC236}">
                <a16:creationId xmlns:a16="http://schemas.microsoft.com/office/drawing/2014/main" id="{90CC6979-4281-6F4A-AB49-33190239A254}"/>
              </a:ext>
            </a:extLst>
          </p:cNvPr>
          <p:cNvSpPr/>
          <p:nvPr/>
        </p:nvSpPr>
        <p:spPr>
          <a:xfrm>
            <a:off x="1699065" y="3915254"/>
            <a:ext cx="239427" cy="186379"/>
          </a:xfrm>
          <a:prstGeom prst="rect">
            <a:avLst/>
          </a:prstGeom>
          <a:solidFill>
            <a:srgbClr val="0096FF"/>
          </a:solidFill>
          <a:ln w="28575" cap="flat" cmpd="sng" algn="ctr">
            <a:no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82" name="矩形 81">
            <a:extLst>
              <a:ext uri="{FF2B5EF4-FFF2-40B4-BE49-F238E27FC236}">
                <a16:creationId xmlns:a16="http://schemas.microsoft.com/office/drawing/2014/main" id="{2B355341-F758-E64B-B881-05FD099FBFFD}"/>
              </a:ext>
            </a:extLst>
          </p:cNvPr>
          <p:cNvSpPr/>
          <p:nvPr/>
        </p:nvSpPr>
        <p:spPr>
          <a:xfrm>
            <a:off x="2491508" y="3617411"/>
            <a:ext cx="1043588" cy="678964"/>
          </a:xfrm>
          <a:prstGeom prst="rect">
            <a:avLst/>
          </a:prstGeom>
          <a:solidFill>
            <a:srgbClr val="F79646">
              <a:lumMod val="60000"/>
              <a:lumOff val="40000"/>
            </a:srgbClr>
          </a:solidFill>
          <a:ln w="28575" cap="flat" cmpd="sng" algn="ctr">
            <a:solidFill>
              <a:sysClr val="windowText" lastClr="000000"/>
            </a:solid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83" name="矩形 82">
            <a:extLst>
              <a:ext uri="{FF2B5EF4-FFF2-40B4-BE49-F238E27FC236}">
                <a16:creationId xmlns:a16="http://schemas.microsoft.com/office/drawing/2014/main" id="{C191AC43-0054-D54C-8878-F694A2C69840}"/>
              </a:ext>
            </a:extLst>
          </p:cNvPr>
          <p:cNvSpPr/>
          <p:nvPr/>
        </p:nvSpPr>
        <p:spPr>
          <a:xfrm>
            <a:off x="2729638" y="3745651"/>
            <a:ext cx="239427" cy="186379"/>
          </a:xfrm>
          <a:prstGeom prst="rect">
            <a:avLst/>
          </a:prstGeom>
          <a:solidFill>
            <a:srgbClr val="0096FF"/>
          </a:solidFill>
          <a:ln w="28575" cap="flat" cmpd="sng" algn="ctr">
            <a:no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84" name="矩形 83">
            <a:extLst>
              <a:ext uri="{FF2B5EF4-FFF2-40B4-BE49-F238E27FC236}">
                <a16:creationId xmlns:a16="http://schemas.microsoft.com/office/drawing/2014/main" id="{40FC5A7A-82B7-234B-A9A8-E341AC3B01C7}"/>
              </a:ext>
            </a:extLst>
          </p:cNvPr>
          <p:cNvSpPr/>
          <p:nvPr/>
        </p:nvSpPr>
        <p:spPr>
          <a:xfrm>
            <a:off x="3146031" y="3956893"/>
            <a:ext cx="239427" cy="186379"/>
          </a:xfrm>
          <a:prstGeom prst="rect">
            <a:avLst/>
          </a:prstGeom>
          <a:solidFill>
            <a:srgbClr val="0096FF"/>
          </a:solidFill>
          <a:ln w="28575" cap="flat" cmpd="sng" algn="ctr">
            <a:no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85" name="矩形 84">
            <a:extLst>
              <a:ext uri="{FF2B5EF4-FFF2-40B4-BE49-F238E27FC236}">
                <a16:creationId xmlns:a16="http://schemas.microsoft.com/office/drawing/2014/main" id="{4CF50A66-006A-254A-AA44-BDFF8D19327D}"/>
              </a:ext>
            </a:extLst>
          </p:cNvPr>
          <p:cNvSpPr/>
          <p:nvPr/>
        </p:nvSpPr>
        <p:spPr>
          <a:xfrm>
            <a:off x="1563738" y="4319714"/>
            <a:ext cx="239427" cy="186379"/>
          </a:xfrm>
          <a:prstGeom prst="rect">
            <a:avLst/>
          </a:prstGeom>
          <a:solidFill>
            <a:srgbClr val="0096FF"/>
          </a:solidFill>
          <a:ln w="28575" cap="flat" cmpd="sng" algn="ctr">
            <a:no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86" name="矩形 85">
            <a:extLst>
              <a:ext uri="{FF2B5EF4-FFF2-40B4-BE49-F238E27FC236}">
                <a16:creationId xmlns:a16="http://schemas.microsoft.com/office/drawing/2014/main" id="{C8FA45AD-9DDE-5545-B266-EE91075949AD}"/>
              </a:ext>
            </a:extLst>
          </p:cNvPr>
          <p:cNvSpPr/>
          <p:nvPr/>
        </p:nvSpPr>
        <p:spPr>
          <a:xfrm>
            <a:off x="1241033" y="4506093"/>
            <a:ext cx="239427" cy="186379"/>
          </a:xfrm>
          <a:prstGeom prst="rect">
            <a:avLst/>
          </a:prstGeom>
          <a:solidFill>
            <a:srgbClr val="0096FF"/>
          </a:solidFill>
          <a:ln w="28575" cap="flat" cmpd="sng" algn="ctr">
            <a:no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87" name="矩形 86">
            <a:extLst>
              <a:ext uri="{FF2B5EF4-FFF2-40B4-BE49-F238E27FC236}">
                <a16:creationId xmlns:a16="http://schemas.microsoft.com/office/drawing/2014/main" id="{1502159E-556C-0444-8BA0-18263C57914D}"/>
              </a:ext>
            </a:extLst>
          </p:cNvPr>
          <p:cNvSpPr/>
          <p:nvPr/>
        </p:nvSpPr>
        <p:spPr>
          <a:xfrm>
            <a:off x="3937178" y="2214407"/>
            <a:ext cx="294077" cy="1125318"/>
          </a:xfrm>
          <a:prstGeom prst="rect">
            <a:avLst/>
          </a:prstGeom>
          <a:noFill/>
          <a:ln w="28575" cap="flat" cmpd="sng" algn="ctr">
            <a:solidFill>
              <a:sysClr val="windowText" lastClr="000000"/>
            </a:solid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88" name="矩形 87">
            <a:extLst>
              <a:ext uri="{FF2B5EF4-FFF2-40B4-BE49-F238E27FC236}">
                <a16:creationId xmlns:a16="http://schemas.microsoft.com/office/drawing/2014/main" id="{C5BB7750-EA8A-8045-AC7D-746904AE7221}"/>
              </a:ext>
            </a:extLst>
          </p:cNvPr>
          <p:cNvSpPr/>
          <p:nvPr/>
        </p:nvSpPr>
        <p:spPr>
          <a:xfrm>
            <a:off x="3937178" y="3617411"/>
            <a:ext cx="1043588" cy="429128"/>
          </a:xfrm>
          <a:prstGeom prst="rect">
            <a:avLst/>
          </a:prstGeom>
          <a:solidFill>
            <a:srgbClr val="F79646">
              <a:lumMod val="60000"/>
              <a:lumOff val="40000"/>
            </a:srgbClr>
          </a:solidFill>
          <a:ln w="28575" cap="flat" cmpd="sng" algn="ctr">
            <a:solidFill>
              <a:sysClr val="windowText" lastClr="000000"/>
            </a:solid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89" name="矩形 88">
            <a:extLst>
              <a:ext uri="{FF2B5EF4-FFF2-40B4-BE49-F238E27FC236}">
                <a16:creationId xmlns:a16="http://schemas.microsoft.com/office/drawing/2014/main" id="{2C95FDAF-2809-114C-8338-ADF1C0199007}"/>
              </a:ext>
            </a:extLst>
          </p:cNvPr>
          <p:cNvSpPr/>
          <p:nvPr/>
        </p:nvSpPr>
        <p:spPr>
          <a:xfrm>
            <a:off x="4124554" y="3745651"/>
            <a:ext cx="239427" cy="186379"/>
          </a:xfrm>
          <a:prstGeom prst="rect">
            <a:avLst/>
          </a:prstGeom>
          <a:solidFill>
            <a:srgbClr val="0096FF"/>
          </a:solidFill>
          <a:ln w="28575" cap="flat" cmpd="sng" algn="ctr">
            <a:no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90" name="矩形 89">
            <a:extLst>
              <a:ext uri="{FF2B5EF4-FFF2-40B4-BE49-F238E27FC236}">
                <a16:creationId xmlns:a16="http://schemas.microsoft.com/office/drawing/2014/main" id="{74063F83-5622-A742-8DFD-23A2B8D203ED}"/>
              </a:ext>
            </a:extLst>
          </p:cNvPr>
          <p:cNvSpPr/>
          <p:nvPr/>
        </p:nvSpPr>
        <p:spPr>
          <a:xfrm>
            <a:off x="4311934" y="2214407"/>
            <a:ext cx="294077" cy="1125318"/>
          </a:xfrm>
          <a:prstGeom prst="rect">
            <a:avLst/>
          </a:prstGeom>
          <a:solidFill>
            <a:srgbClr val="F79646">
              <a:lumMod val="60000"/>
              <a:lumOff val="40000"/>
            </a:srgbClr>
          </a:solidFill>
          <a:ln w="28575" cap="flat" cmpd="sng" algn="ctr">
            <a:solidFill>
              <a:sysClr val="windowText" lastClr="000000"/>
            </a:solid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91" name="矩形 90">
            <a:extLst>
              <a:ext uri="{FF2B5EF4-FFF2-40B4-BE49-F238E27FC236}">
                <a16:creationId xmlns:a16="http://schemas.microsoft.com/office/drawing/2014/main" id="{8D7E7BC6-E8DD-354B-A0B1-6C5F3201F273}"/>
              </a:ext>
            </a:extLst>
          </p:cNvPr>
          <p:cNvSpPr/>
          <p:nvPr/>
        </p:nvSpPr>
        <p:spPr>
          <a:xfrm>
            <a:off x="4686689" y="2214407"/>
            <a:ext cx="294077" cy="1125318"/>
          </a:xfrm>
          <a:prstGeom prst="rect">
            <a:avLst/>
          </a:prstGeom>
          <a:solidFill>
            <a:srgbClr val="F79646">
              <a:lumMod val="60000"/>
              <a:lumOff val="40000"/>
            </a:srgbClr>
          </a:solidFill>
          <a:ln w="28575" cap="flat" cmpd="sng" algn="ctr">
            <a:solidFill>
              <a:sysClr val="windowText" lastClr="000000"/>
            </a:solid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92" name="矩形 91">
            <a:extLst>
              <a:ext uri="{FF2B5EF4-FFF2-40B4-BE49-F238E27FC236}">
                <a16:creationId xmlns:a16="http://schemas.microsoft.com/office/drawing/2014/main" id="{23EA979E-BBB5-6A40-907E-2660E0C1D6AD}"/>
              </a:ext>
            </a:extLst>
          </p:cNvPr>
          <p:cNvSpPr/>
          <p:nvPr/>
        </p:nvSpPr>
        <p:spPr>
          <a:xfrm>
            <a:off x="3964503" y="2463294"/>
            <a:ext cx="239427" cy="186379"/>
          </a:xfrm>
          <a:prstGeom prst="rect">
            <a:avLst/>
          </a:prstGeom>
          <a:solidFill>
            <a:srgbClr val="0096FF"/>
          </a:solidFill>
          <a:ln w="28575" cap="flat" cmpd="sng" algn="ctr">
            <a:no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93" name="矩形 92">
            <a:extLst>
              <a:ext uri="{FF2B5EF4-FFF2-40B4-BE49-F238E27FC236}">
                <a16:creationId xmlns:a16="http://schemas.microsoft.com/office/drawing/2014/main" id="{134EDABF-9F97-4B4B-98DF-04E86BD744DC}"/>
              </a:ext>
            </a:extLst>
          </p:cNvPr>
          <p:cNvSpPr/>
          <p:nvPr/>
        </p:nvSpPr>
        <p:spPr>
          <a:xfrm>
            <a:off x="4339258" y="2463294"/>
            <a:ext cx="239427" cy="186379"/>
          </a:xfrm>
          <a:prstGeom prst="rect">
            <a:avLst/>
          </a:prstGeom>
          <a:solidFill>
            <a:srgbClr val="0096FF"/>
          </a:solidFill>
          <a:ln w="28575" cap="flat" cmpd="sng" algn="ctr">
            <a:no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94" name="矩形 93">
            <a:extLst>
              <a:ext uri="{FF2B5EF4-FFF2-40B4-BE49-F238E27FC236}">
                <a16:creationId xmlns:a16="http://schemas.microsoft.com/office/drawing/2014/main" id="{43EE4882-E0C2-774B-8EF8-AA9AED300F06}"/>
              </a:ext>
            </a:extLst>
          </p:cNvPr>
          <p:cNvSpPr/>
          <p:nvPr/>
        </p:nvSpPr>
        <p:spPr>
          <a:xfrm>
            <a:off x="4714014" y="2474730"/>
            <a:ext cx="239427" cy="186379"/>
          </a:xfrm>
          <a:prstGeom prst="rect">
            <a:avLst/>
          </a:prstGeom>
          <a:solidFill>
            <a:srgbClr val="0096FF"/>
          </a:solidFill>
          <a:ln w="28575" cap="flat" cmpd="sng" algn="ctr">
            <a:no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95" name="矩形 94">
            <a:extLst>
              <a:ext uri="{FF2B5EF4-FFF2-40B4-BE49-F238E27FC236}">
                <a16:creationId xmlns:a16="http://schemas.microsoft.com/office/drawing/2014/main" id="{FC55C352-EF9D-384B-9069-B64596032B1A}"/>
              </a:ext>
            </a:extLst>
          </p:cNvPr>
          <p:cNvSpPr/>
          <p:nvPr/>
        </p:nvSpPr>
        <p:spPr>
          <a:xfrm>
            <a:off x="5386701" y="2911338"/>
            <a:ext cx="294077" cy="428386"/>
          </a:xfrm>
          <a:prstGeom prst="rect">
            <a:avLst/>
          </a:prstGeom>
          <a:solidFill>
            <a:srgbClr val="F79646">
              <a:lumMod val="60000"/>
              <a:lumOff val="40000"/>
            </a:srgbClr>
          </a:solidFill>
          <a:ln w="28575" cap="flat" cmpd="sng" algn="ctr">
            <a:solidFill>
              <a:sysClr val="windowText" lastClr="000000"/>
            </a:solid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96" name="矩形 95">
            <a:extLst>
              <a:ext uri="{FF2B5EF4-FFF2-40B4-BE49-F238E27FC236}">
                <a16:creationId xmlns:a16="http://schemas.microsoft.com/office/drawing/2014/main" id="{22F1E6DE-60B8-7E44-9818-4EFAB8438A49}"/>
              </a:ext>
            </a:extLst>
          </p:cNvPr>
          <p:cNvSpPr/>
          <p:nvPr/>
        </p:nvSpPr>
        <p:spPr>
          <a:xfrm>
            <a:off x="5386701" y="3617411"/>
            <a:ext cx="1066913" cy="128241"/>
          </a:xfrm>
          <a:prstGeom prst="rect">
            <a:avLst/>
          </a:prstGeom>
          <a:solidFill>
            <a:srgbClr val="F79646">
              <a:lumMod val="60000"/>
              <a:lumOff val="40000"/>
            </a:srgbClr>
          </a:solidFill>
          <a:ln w="28575" cap="flat" cmpd="sng" algn="ctr">
            <a:solidFill>
              <a:sysClr val="windowText" lastClr="000000"/>
            </a:solid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97" name="矩形 96">
            <a:extLst>
              <a:ext uri="{FF2B5EF4-FFF2-40B4-BE49-F238E27FC236}">
                <a16:creationId xmlns:a16="http://schemas.microsoft.com/office/drawing/2014/main" id="{C8968D4F-38D6-7049-BB29-F34D536E3277}"/>
              </a:ext>
            </a:extLst>
          </p:cNvPr>
          <p:cNvSpPr/>
          <p:nvPr/>
        </p:nvSpPr>
        <p:spPr>
          <a:xfrm>
            <a:off x="5414026" y="2619440"/>
            <a:ext cx="239427" cy="186379"/>
          </a:xfrm>
          <a:prstGeom prst="rect">
            <a:avLst/>
          </a:prstGeom>
          <a:solidFill>
            <a:srgbClr val="0096FF"/>
          </a:solidFill>
          <a:ln w="28575" cap="flat" cmpd="sng" algn="ctr">
            <a:no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98" name="矩形 97">
            <a:extLst>
              <a:ext uri="{FF2B5EF4-FFF2-40B4-BE49-F238E27FC236}">
                <a16:creationId xmlns:a16="http://schemas.microsoft.com/office/drawing/2014/main" id="{C68833BC-B6B5-B141-95B7-FF3B4134213A}"/>
              </a:ext>
            </a:extLst>
          </p:cNvPr>
          <p:cNvSpPr/>
          <p:nvPr/>
        </p:nvSpPr>
        <p:spPr>
          <a:xfrm>
            <a:off x="5386701" y="2214407"/>
            <a:ext cx="294077" cy="696931"/>
          </a:xfrm>
          <a:prstGeom prst="rect">
            <a:avLst/>
          </a:prstGeom>
          <a:noFill/>
          <a:ln w="28575" cap="flat" cmpd="sng" algn="ctr">
            <a:solidFill>
              <a:sysClr val="windowText" lastClr="000000"/>
            </a:solid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99" name="矩形 98">
            <a:extLst>
              <a:ext uri="{FF2B5EF4-FFF2-40B4-BE49-F238E27FC236}">
                <a16:creationId xmlns:a16="http://schemas.microsoft.com/office/drawing/2014/main" id="{900F59CE-5CCE-914B-82DD-65406894F62E}"/>
              </a:ext>
            </a:extLst>
          </p:cNvPr>
          <p:cNvSpPr/>
          <p:nvPr/>
        </p:nvSpPr>
        <p:spPr>
          <a:xfrm>
            <a:off x="5414026" y="3033805"/>
            <a:ext cx="239427" cy="186379"/>
          </a:xfrm>
          <a:prstGeom prst="rect">
            <a:avLst/>
          </a:prstGeom>
          <a:solidFill>
            <a:srgbClr val="0096FF"/>
          </a:solidFill>
          <a:ln w="28575" cap="flat" cmpd="sng" algn="ctr">
            <a:no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100" name="矩形 99">
            <a:extLst>
              <a:ext uri="{FF2B5EF4-FFF2-40B4-BE49-F238E27FC236}">
                <a16:creationId xmlns:a16="http://schemas.microsoft.com/office/drawing/2014/main" id="{DDF4910C-6F3D-B343-BAD9-B3ADA5695D15}"/>
              </a:ext>
            </a:extLst>
          </p:cNvPr>
          <p:cNvSpPr/>
          <p:nvPr/>
        </p:nvSpPr>
        <p:spPr>
          <a:xfrm>
            <a:off x="3964503" y="3025954"/>
            <a:ext cx="239427" cy="186379"/>
          </a:xfrm>
          <a:prstGeom prst="rect">
            <a:avLst/>
          </a:prstGeom>
          <a:solidFill>
            <a:srgbClr val="0096FF"/>
          </a:solidFill>
          <a:ln w="28575" cap="flat" cmpd="sng" algn="ctr">
            <a:no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101" name="矩形 100">
            <a:extLst>
              <a:ext uri="{FF2B5EF4-FFF2-40B4-BE49-F238E27FC236}">
                <a16:creationId xmlns:a16="http://schemas.microsoft.com/office/drawing/2014/main" id="{245D40F9-8829-3D43-9DB8-1EE786574380}"/>
              </a:ext>
            </a:extLst>
          </p:cNvPr>
          <p:cNvSpPr/>
          <p:nvPr/>
        </p:nvSpPr>
        <p:spPr>
          <a:xfrm>
            <a:off x="4339258" y="3025954"/>
            <a:ext cx="239427" cy="186379"/>
          </a:xfrm>
          <a:prstGeom prst="rect">
            <a:avLst/>
          </a:prstGeom>
          <a:solidFill>
            <a:srgbClr val="0096FF"/>
          </a:solidFill>
          <a:ln w="28575" cap="flat" cmpd="sng" algn="ctr">
            <a:no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102" name="矩形 101">
            <a:extLst>
              <a:ext uri="{FF2B5EF4-FFF2-40B4-BE49-F238E27FC236}">
                <a16:creationId xmlns:a16="http://schemas.microsoft.com/office/drawing/2014/main" id="{A665B67E-C195-914D-92DF-5005C1FFA078}"/>
              </a:ext>
            </a:extLst>
          </p:cNvPr>
          <p:cNvSpPr/>
          <p:nvPr/>
        </p:nvSpPr>
        <p:spPr>
          <a:xfrm>
            <a:off x="4714014" y="3037390"/>
            <a:ext cx="239427" cy="186379"/>
          </a:xfrm>
          <a:prstGeom prst="rect">
            <a:avLst/>
          </a:prstGeom>
          <a:solidFill>
            <a:srgbClr val="0096FF"/>
          </a:solidFill>
          <a:ln w="28575" cap="flat" cmpd="sng" algn="ctr">
            <a:no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103" name="矩形 102">
            <a:extLst>
              <a:ext uri="{FF2B5EF4-FFF2-40B4-BE49-F238E27FC236}">
                <a16:creationId xmlns:a16="http://schemas.microsoft.com/office/drawing/2014/main" id="{8BD9BB7E-50B4-BC47-8B3B-C142D68A20FF}"/>
              </a:ext>
            </a:extLst>
          </p:cNvPr>
          <p:cNvSpPr/>
          <p:nvPr/>
        </p:nvSpPr>
        <p:spPr>
          <a:xfrm>
            <a:off x="5773119" y="2911338"/>
            <a:ext cx="294077" cy="428386"/>
          </a:xfrm>
          <a:prstGeom prst="rect">
            <a:avLst/>
          </a:prstGeom>
          <a:solidFill>
            <a:srgbClr val="F79646">
              <a:lumMod val="60000"/>
              <a:lumOff val="40000"/>
            </a:srgbClr>
          </a:solidFill>
          <a:ln w="28575" cap="flat" cmpd="sng" algn="ctr">
            <a:solidFill>
              <a:sysClr val="windowText" lastClr="000000"/>
            </a:solid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104" name="矩形 103">
            <a:extLst>
              <a:ext uri="{FF2B5EF4-FFF2-40B4-BE49-F238E27FC236}">
                <a16:creationId xmlns:a16="http://schemas.microsoft.com/office/drawing/2014/main" id="{25DACA89-490D-574F-9BA0-20407416CBA5}"/>
              </a:ext>
            </a:extLst>
          </p:cNvPr>
          <p:cNvSpPr/>
          <p:nvPr/>
        </p:nvSpPr>
        <p:spPr>
          <a:xfrm>
            <a:off x="5800444" y="2619440"/>
            <a:ext cx="239427" cy="186379"/>
          </a:xfrm>
          <a:prstGeom prst="rect">
            <a:avLst/>
          </a:prstGeom>
          <a:solidFill>
            <a:srgbClr val="0096FF"/>
          </a:solidFill>
          <a:ln w="28575" cap="flat" cmpd="sng" algn="ctr">
            <a:no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105" name="矩形 104">
            <a:extLst>
              <a:ext uri="{FF2B5EF4-FFF2-40B4-BE49-F238E27FC236}">
                <a16:creationId xmlns:a16="http://schemas.microsoft.com/office/drawing/2014/main" id="{4412F5F7-D960-5F44-90EC-23C115F6172D}"/>
              </a:ext>
            </a:extLst>
          </p:cNvPr>
          <p:cNvSpPr/>
          <p:nvPr/>
        </p:nvSpPr>
        <p:spPr>
          <a:xfrm>
            <a:off x="5773119" y="2214407"/>
            <a:ext cx="294077" cy="696931"/>
          </a:xfrm>
          <a:prstGeom prst="rect">
            <a:avLst/>
          </a:prstGeom>
          <a:noFill/>
          <a:ln w="28575" cap="flat" cmpd="sng" algn="ctr">
            <a:solidFill>
              <a:sysClr val="windowText" lastClr="000000"/>
            </a:solid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106" name="矩形 105">
            <a:extLst>
              <a:ext uri="{FF2B5EF4-FFF2-40B4-BE49-F238E27FC236}">
                <a16:creationId xmlns:a16="http://schemas.microsoft.com/office/drawing/2014/main" id="{C8807052-D9AF-7A4B-A107-53536B535D1F}"/>
              </a:ext>
            </a:extLst>
          </p:cNvPr>
          <p:cNvSpPr/>
          <p:nvPr/>
        </p:nvSpPr>
        <p:spPr>
          <a:xfrm>
            <a:off x="5800444" y="3033805"/>
            <a:ext cx="239427" cy="186379"/>
          </a:xfrm>
          <a:prstGeom prst="rect">
            <a:avLst/>
          </a:prstGeom>
          <a:solidFill>
            <a:srgbClr val="0096FF"/>
          </a:solidFill>
          <a:ln w="28575" cap="flat" cmpd="sng" algn="ctr">
            <a:no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107" name="矩形 106">
            <a:extLst>
              <a:ext uri="{FF2B5EF4-FFF2-40B4-BE49-F238E27FC236}">
                <a16:creationId xmlns:a16="http://schemas.microsoft.com/office/drawing/2014/main" id="{56E18DEA-EBB7-8548-B522-134309E06968}"/>
              </a:ext>
            </a:extLst>
          </p:cNvPr>
          <p:cNvSpPr/>
          <p:nvPr/>
        </p:nvSpPr>
        <p:spPr>
          <a:xfrm>
            <a:off x="6159537" y="2911338"/>
            <a:ext cx="294077" cy="428386"/>
          </a:xfrm>
          <a:prstGeom prst="rect">
            <a:avLst/>
          </a:prstGeom>
          <a:solidFill>
            <a:srgbClr val="F79646">
              <a:lumMod val="60000"/>
              <a:lumOff val="40000"/>
            </a:srgbClr>
          </a:solidFill>
          <a:ln w="28575" cap="flat" cmpd="sng" algn="ctr">
            <a:solidFill>
              <a:sysClr val="windowText" lastClr="000000"/>
            </a:solid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108" name="矩形 107">
            <a:extLst>
              <a:ext uri="{FF2B5EF4-FFF2-40B4-BE49-F238E27FC236}">
                <a16:creationId xmlns:a16="http://schemas.microsoft.com/office/drawing/2014/main" id="{EC6E4E9D-556C-AA4A-AF8E-28591C727A05}"/>
              </a:ext>
            </a:extLst>
          </p:cNvPr>
          <p:cNvSpPr/>
          <p:nvPr/>
        </p:nvSpPr>
        <p:spPr>
          <a:xfrm>
            <a:off x="6186862" y="2619440"/>
            <a:ext cx="239427" cy="186379"/>
          </a:xfrm>
          <a:prstGeom prst="rect">
            <a:avLst/>
          </a:prstGeom>
          <a:solidFill>
            <a:srgbClr val="0096FF"/>
          </a:solidFill>
          <a:ln w="28575" cap="flat" cmpd="sng" algn="ctr">
            <a:no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109" name="矩形 108">
            <a:extLst>
              <a:ext uri="{FF2B5EF4-FFF2-40B4-BE49-F238E27FC236}">
                <a16:creationId xmlns:a16="http://schemas.microsoft.com/office/drawing/2014/main" id="{7C9BFF19-1E65-2345-8DCE-84061200BEAA}"/>
              </a:ext>
            </a:extLst>
          </p:cNvPr>
          <p:cNvSpPr/>
          <p:nvPr/>
        </p:nvSpPr>
        <p:spPr>
          <a:xfrm>
            <a:off x="6159537" y="2214407"/>
            <a:ext cx="294077" cy="696931"/>
          </a:xfrm>
          <a:prstGeom prst="rect">
            <a:avLst/>
          </a:prstGeom>
          <a:noFill/>
          <a:ln w="28575" cap="flat" cmpd="sng" algn="ctr">
            <a:solidFill>
              <a:sysClr val="windowText" lastClr="000000"/>
            </a:solid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110" name="矩形 109">
            <a:extLst>
              <a:ext uri="{FF2B5EF4-FFF2-40B4-BE49-F238E27FC236}">
                <a16:creationId xmlns:a16="http://schemas.microsoft.com/office/drawing/2014/main" id="{341ADE7E-498D-294C-B7AE-8CE60AE1DCFB}"/>
              </a:ext>
            </a:extLst>
          </p:cNvPr>
          <p:cNvSpPr/>
          <p:nvPr/>
        </p:nvSpPr>
        <p:spPr>
          <a:xfrm>
            <a:off x="6186862" y="3033805"/>
            <a:ext cx="239427" cy="186379"/>
          </a:xfrm>
          <a:prstGeom prst="rect">
            <a:avLst/>
          </a:prstGeom>
          <a:solidFill>
            <a:srgbClr val="0096FF"/>
          </a:solidFill>
          <a:ln w="28575" cap="flat" cmpd="sng" algn="ctr">
            <a:no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111" name="文本框 110">
            <a:extLst>
              <a:ext uri="{FF2B5EF4-FFF2-40B4-BE49-F238E27FC236}">
                <a16:creationId xmlns:a16="http://schemas.microsoft.com/office/drawing/2014/main" id="{2ECFBE60-3392-DD48-8FC1-7E07F9FB3349}"/>
              </a:ext>
            </a:extLst>
          </p:cNvPr>
          <p:cNvSpPr txBox="1"/>
          <p:nvPr/>
        </p:nvSpPr>
        <p:spPr>
          <a:xfrm>
            <a:off x="1077687" y="4956894"/>
            <a:ext cx="1086611" cy="338554"/>
          </a:xfrm>
          <a:prstGeom prst="rect">
            <a:avLst/>
          </a:prstGeom>
          <a:noFill/>
        </p:spPr>
        <p:txBody>
          <a:bodyPr wrap="square" rtlCol="0">
            <a:spAutoFit/>
          </a:bodyPr>
          <a:lstStyle/>
          <a:p>
            <a:pPr algn="ctr" defTabSz="380985"/>
            <a:r>
              <a:rPr lang="zh-CN" altLang="en-US" sz="1600" dirty="0">
                <a:solidFill>
                  <a:prstClr val="black"/>
                </a:solidFill>
                <a:latin typeface="+mn-ea"/>
              </a:rPr>
              <a:t>简单内核</a:t>
            </a:r>
          </a:p>
        </p:txBody>
      </p:sp>
      <p:sp>
        <p:nvSpPr>
          <p:cNvPr id="112" name="文本框 111">
            <a:extLst>
              <a:ext uri="{FF2B5EF4-FFF2-40B4-BE49-F238E27FC236}">
                <a16:creationId xmlns:a16="http://schemas.microsoft.com/office/drawing/2014/main" id="{CCA1D444-E2AA-224E-924B-392EB6FC1AD9}"/>
              </a:ext>
            </a:extLst>
          </p:cNvPr>
          <p:cNvSpPr txBox="1"/>
          <p:nvPr/>
        </p:nvSpPr>
        <p:spPr>
          <a:xfrm>
            <a:off x="2518832" y="4956894"/>
            <a:ext cx="988938" cy="338554"/>
          </a:xfrm>
          <a:prstGeom prst="rect">
            <a:avLst/>
          </a:prstGeom>
          <a:noFill/>
        </p:spPr>
        <p:txBody>
          <a:bodyPr wrap="square" rtlCol="0">
            <a:spAutoFit/>
          </a:bodyPr>
          <a:lstStyle/>
          <a:p>
            <a:pPr algn="ctr" defTabSz="380985"/>
            <a:r>
              <a:rPr lang="zh-CN" altLang="en-US" sz="1600" dirty="0">
                <a:solidFill>
                  <a:prstClr val="black"/>
                </a:solidFill>
                <a:latin typeface="+mn-ea"/>
              </a:rPr>
              <a:t>宏内核</a:t>
            </a:r>
          </a:p>
        </p:txBody>
      </p:sp>
      <p:sp>
        <p:nvSpPr>
          <p:cNvPr id="113" name="文本框 112">
            <a:extLst>
              <a:ext uri="{FF2B5EF4-FFF2-40B4-BE49-F238E27FC236}">
                <a16:creationId xmlns:a16="http://schemas.microsoft.com/office/drawing/2014/main" id="{BD24C625-10D3-864A-B55D-62852E8AC922}"/>
              </a:ext>
            </a:extLst>
          </p:cNvPr>
          <p:cNvSpPr txBox="1"/>
          <p:nvPr/>
        </p:nvSpPr>
        <p:spPr>
          <a:xfrm>
            <a:off x="3823972" y="4956894"/>
            <a:ext cx="1269998" cy="338554"/>
          </a:xfrm>
          <a:prstGeom prst="rect">
            <a:avLst/>
          </a:prstGeom>
          <a:noFill/>
        </p:spPr>
        <p:txBody>
          <a:bodyPr wrap="square" rtlCol="0">
            <a:spAutoFit/>
          </a:bodyPr>
          <a:lstStyle/>
          <a:p>
            <a:pPr algn="ctr" defTabSz="380985"/>
            <a:r>
              <a:rPr lang="zh-CN" altLang="en-US" sz="1600" dirty="0">
                <a:solidFill>
                  <a:prstClr val="black"/>
                </a:solidFill>
                <a:latin typeface="+mn-ea"/>
              </a:rPr>
              <a:t>微内核</a:t>
            </a:r>
          </a:p>
        </p:txBody>
      </p:sp>
      <p:sp>
        <p:nvSpPr>
          <p:cNvPr id="114" name="文本框 113">
            <a:extLst>
              <a:ext uri="{FF2B5EF4-FFF2-40B4-BE49-F238E27FC236}">
                <a16:creationId xmlns:a16="http://schemas.microsoft.com/office/drawing/2014/main" id="{5883FC87-27A8-794F-B869-98B069D71D66}"/>
              </a:ext>
            </a:extLst>
          </p:cNvPr>
          <p:cNvSpPr txBox="1"/>
          <p:nvPr/>
        </p:nvSpPr>
        <p:spPr>
          <a:xfrm>
            <a:off x="5285157" y="4956894"/>
            <a:ext cx="1269998" cy="348878"/>
          </a:xfrm>
          <a:prstGeom prst="rect">
            <a:avLst/>
          </a:prstGeom>
          <a:noFill/>
        </p:spPr>
        <p:txBody>
          <a:bodyPr wrap="square" rtlCol="0">
            <a:spAutoFit/>
          </a:bodyPr>
          <a:lstStyle/>
          <a:p>
            <a:pPr algn="ctr" defTabSz="380985"/>
            <a:r>
              <a:rPr lang="zh-CN" altLang="en-US" sz="1600" dirty="0">
                <a:solidFill>
                  <a:prstClr val="black"/>
                </a:solidFill>
                <a:latin typeface="+mn-ea"/>
              </a:rPr>
              <a:t>外核</a:t>
            </a:r>
          </a:p>
        </p:txBody>
      </p:sp>
      <p:sp>
        <p:nvSpPr>
          <p:cNvPr id="115" name="矩形 114">
            <a:extLst>
              <a:ext uri="{FF2B5EF4-FFF2-40B4-BE49-F238E27FC236}">
                <a16:creationId xmlns:a16="http://schemas.microsoft.com/office/drawing/2014/main" id="{AB6C67E3-3F4E-8446-9301-CCE21A61C26F}"/>
              </a:ext>
            </a:extLst>
          </p:cNvPr>
          <p:cNvSpPr/>
          <p:nvPr/>
        </p:nvSpPr>
        <p:spPr>
          <a:xfrm>
            <a:off x="4545455" y="3745651"/>
            <a:ext cx="239427" cy="186379"/>
          </a:xfrm>
          <a:prstGeom prst="rect">
            <a:avLst/>
          </a:prstGeom>
          <a:solidFill>
            <a:srgbClr val="0096FF"/>
          </a:solidFill>
          <a:ln w="28575" cap="flat" cmpd="sng" algn="ctr">
            <a:no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116" name="矩形 115">
            <a:extLst>
              <a:ext uri="{FF2B5EF4-FFF2-40B4-BE49-F238E27FC236}">
                <a16:creationId xmlns:a16="http://schemas.microsoft.com/office/drawing/2014/main" id="{E4411C89-3226-D14A-B7B3-567D78105AAB}"/>
              </a:ext>
            </a:extLst>
          </p:cNvPr>
          <p:cNvSpPr/>
          <p:nvPr/>
        </p:nvSpPr>
        <p:spPr>
          <a:xfrm>
            <a:off x="2809037" y="4016168"/>
            <a:ext cx="239427" cy="186379"/>
          </a:xfrm>
          <a:prstGeom prst="rect">
            <a:avLst/>
          </a:prstGeom>
          <a:solidFill>
            <a:srgbClr val="0096FF"/>
          </a:solidFill>
          <a:ln w="28575" cap="flat" cmpd="sng" algn="ctr">
            <a:no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117" name="矩形 116">
            <a:extLst>
              <a:ext uri="{FF2B5EF4-FFF2-40B4-BE49-F238E27FC236}">
                <a16:creationId xmlns:a16="http://schemas.microsoft.com/office/drawing/2014/main" id="{856618F9-217E-4646-A3F9-D0162E5528C7}"/>
              </a:ext>
            </a:extLst>
          </p:cNvPr>
          <p:cNvSpPr/>
          <p:nvPr/>
        </p:nvSpPr>
        <p:spPr>
          <a:xfrm>
            <a:off x="1332189" y="3997951"/>
            <a:ext cx="239427" cy="186379"/>
          </a:xfrm>
          <a:prstGeom prst="rect">
            <a:avLst/>
          </a:prstGeom>
          <a:solidFill>
            <a:srgbClr val="0096FF"/>
          </a:solidFill>
          <a:ln w="28575" cap="flat" cmpd="sng" algn="ctr">
            <a:no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118" name="矩形 117">
            <a:extLst>
              <a:ext uri="{FF2B5EF4-FFF2-40B4-BE49-F238E27FC236}">
                <a16:creationId xmlns:a16="http://schemas.microsoft.com/office/drawing/2014/main" id="{34664C74-EF5C-4D4C-BFA8-17DA9C220975}"/>
              </a:ext>
            </a:extLst>
          </p:cNvPr>
          <p:cNvSpPr/>
          <p:nvPr/>
        </p:nvSpPr>
        <p:spPr>
          <a:xfrm>
            <a:off x="1730364" y="4574684"/>
            <a:ext cx="239427" cy="186379"/>
          </a:xfrm>
          <a:prstGeom prst="rect">
            <a:avLst/>
          </a:prstGeom>
          <a:solidFill>
            <a:srgbClr val="0096FF"/>
          </a:solidFill>
          <a:ln w="28575" cap="flat" cmpd="sng" algn="ctr">
            <a:no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cxnSp>
        <p:nvCxnSpPr>
          <p:cNvPr id="119" name="直接箭头连接符 68">
            <a:extLst>
              <a:ext uri="{FF2B5EF4-FFF2-40B4-BE49-F238E27FC236}">
                <a16:creationId xmlns:a16="http://schemas.microsoft.com/office/drawing/2014/main" id="{582233FB-9B45-B547-82BA-53C64A92C5DC}"/>
              </a:ext>
            </a:extLst>
          </p:cNvPr>
          <p:cNvCxnSpPr>
            <a:stCxn id="100" idx="2"/>
            <a:endCxn id="89" idx="0"/>
          </p:cNvCxnSpPr>
          <p:nvPr/>
        </p:nvCxnSpPr>
        <p:spPr>
          <a:xfrm>
            <a:off x="4084217" y="3212332"/>
            <a:ext cx="160051" cy="533318"/>
          </a:xfrm>
          <a:prstGeom prst="straightConnector1">
            <a:avLst/>
          </a:prstGeom>
          <a:noFill/>
          <a:ln w="38100" cap="flat" cmpd="sng" algn="ctr">
            <a:solidFill>
              <a:sysClr val="windowText" lastClr="000000"/>
            </a:solidFill>
            <a:prstDash val="solid"/>
            <a:tailEnd type="triangle"/>
          </a:ln>
          <a:effectLst/>
        </p:spPr>
      </p:cxnSp>
      <p:cxnSp>
        <p:nvCxnSpPr>
          <p:cNvPr id="120" name="直接箭头连接符 71">
            <a:extLst>
              <a:ext uri="{FF2B5EF4-FFF2-40B4-BE49-F238E27FC236}">
                <a16:creationId xmlns:a16="http://schemas.microsoft.com/office/drawing/2014/main" id="{6377BBC9-A85B-2B4E-A347-C71D8BE2FCDE}"/>
              </a:ext>
            </a:extLst>
          </p:cNvPr>
          <p:cNvCxnSpPr>
            <a:stCxn id="89" idx="0"/>
            <a:endCxn id="101" idx="2"/>
          </p:cNvCxnSpPr>
          <p:nvPr/>
        </p:nvCxnSpPr>
        <p:spPr>
          <a:xfrm flipV="1">
            <a:off x="4244268" y="3212332"/>
            <a:ext cx="214704" cy="533318"/>
          </a:xfrm>
          <a:prstGeom prst="straightConnector1">
            <a:avLst/>
          </a:prstGeom>
          <a:noFill/>
          <a:ln w="38100" cap="flat" cmpd="sng" algn="ctr">
            <a:solidFill>
              <a:sysClr val="windowText" lastClr="000000"/>
            </a:solidFill>
            <a:prstDash val="solid"/>
            <a:tailEnd type="triangle"/>
          </a:ln>
          <a:effectLst/>
        </p:spPr>
      </p:cxnSp>
      <p:cxnSp>
        <p:nvCxnSpPr>
          <p:cNvPr id="121" name="直接箭头连接符 75">
            <a:extLst>
              <a:ext uri="{FF2B5EF4-FFF2-40B4-BE49-F238E27FC236}">
                <a16:creationId xmlns:a16="http://schemas.microsoft.com/office/drawing/2014/main" id="{B847357E-0C2A-624E-8B1B-5179A623F37C}"/>
              </a:ext>
            </a:extLst>
          </p:cNvPr>
          <p:cNvCxnSpPr>
            <a:stCxn id="81" idx="2"/>
            <a:endCxn id="85" idx="0"/>
          </p:cNvCxnSpPr>
          <p:nvPr/>
        </p:nvCxnSpPr>
        <p:spPr>
          <a:xfrm flipH="1">
            <a:off x="1683452" y="4101632"/>
            <a:ext cx="135328" cy="218082"/>
          </a:xfrm>
          <a:prstGeom prst="straightConnector1">
            <a:avLst/>
          </a:prstGeom>
          <a:noFill/>
          <a:ln w="38100" cap="flat" cmpd="sng" algn="ctr">
            <a:solidFill>
              <a:sysClr val="windowText" lastClr="000000"/>
            </a:solidFill>
            <a:prstDash val="solid"/>
            <a:tailEnd type="triangle"/>
          </a:ln>
          <a:effectLst/>
        </p:spPr>
      </p:cxnSp>
      <p:cxnSp>
        <p:nvCxnSpPr>
          <p:cNvPr id="122" name="直接箭头连接符 78">
            <a:extLst>
              <a:ext uri="{FF2B5EF4-FFF2-40B4-BE49-F238E27FC236}">
                <a16:creationId xmlns:a16="http://schemas.microsoft.com/office/drawing/2014/main" id="{C1CE340C-0BA8-6A4E-A669-E8E5CE7DA99C}"/>
              </a:ext>
            </a:extLst>
          </p:cNvPr>
          <p:cNvCxnSpPr>
            <a:stCxn id="97" idx="2"/>
            <a:endCxn id="99" idx="0"/>
          </p:cNvCxnSpPr>
          <p:nvPr/>
        </p:nvCxnSpPr>
        <p:spPr>
          <a:xfrm>
            <a:off x="5533740" y="2805819"/>
            <a:ext cx="0" cy="227986"/>
          </a:xfrm>
          <a:prstGeom prst="straightConnector1">
            <a:avLst/>
          </a:prstGeom>
          <a:noFill/>
          <a:ln w="38100" cap="flat" cmpd="sng" algn="ctr">
            <a:solidFill>
              <a:sysClr val="windowText" lastClr="000000"/>
            </a:solidFill>
            <a:prstDash val="solid"/>
            <a:tailEnd type="triangle"/>
          </a:ln>
          <a:effectLst/>
        </p:spPr>
      </p:cxnSp>
      <p:sp>
        <p:nvSpPr>
          <p:cNvPr id="123" name="矩形 122">
            <a:extLst>
              <a:ext uri="{FF2B5EF4-FFF2-40B4-BE49-F238E27FC236}">
                <a16:creationId xmlns:a16="http://schemas.microsoft.com/office/drawing/2014/main" id="{C2F7463F-16E2-784D-97AA-2D8543E19445}"/>
              </a:ext>
            </a:extLst>
          </p:cNvPr>
          <p:cNvSpPr/>
          <p:nvPr/>
        </p:nvSpPr>
        <p:spPr>
          <a:xfrm>
            <a:off x="5414026" y="2316701"/>
            <a:ext cx="239427" cy="186379"/>
          </a:xfrm>
          <a:prstGeom prst="rect">
            <a:avLst/>
          </a:prstGeom>
          <a:solidFill>
            <a:srgbClr val="0096FF"/>
          </a:solidFill>
          <a:ln w="28575" cap="flat" cmpd="sng" algn="ctr">
            <a:no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124" name="矩形 123">
            <a:extLst>
              <a:ext uri="{FF2B5EF4-FFF2-40B4-BE49-F238E27FC236}">
                <a16:creationId xmlns:a16="http://schemas.microsoft.com/office/drawing/2014/main" id="{26A49185-3DF2-234D-8BB2-5CF6CB00D7A1}"/>
              </a:ext>
            </a:extLst>
          </p:cNvPr>
          <p:cNvSpPr/>
          <p:nvPr/>
        </p:nvSpPr>
        <p:spPr>
          <a:xfrm>
            <a:off x="5800444" y="2316701"/>
            <a:ext cx="239427" cy="186379"/>
          </a:xfrm>
          <a:prstGeom prst="rect">
            <a:avLst/>
          </a:prstGeom>
          <a:solidFill>
            <a:srgbClr val="0096FF"/>
          </a:solidFill>
          <a:ln w="28575" cap="flat" cmpd="sng" algn="ctr">
            <a:no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125" name="矩形 124">
            <a:extLst>
              <a:ext uri="{FF2B5EF4-FFF2-40B4-BE49-F238E27FC236}">
                <a16:creationId xmlns:a16="http://schemas.microsoft.com/office/drawing/2014/main" id="{C7314A19-D36E-5C4A-9879-6A29B19022EA}"/>
              </a:ext>
            </a:extLst>
          </p:cNvPr>
          <p:cNvSpPr/>
          <p:nvPr/>
        </p:nvSpPr>
        <p:spPr>
          <a:xfrm>
            <a:off x="6186862" y="2316701"/>
            <a:ext cx="239427" cy="186379"/>
          </a:xfrm>
          <a:prstGeom prst="rect">
            <a:avLst/>
          </a:prstGeom>
          <a:solidFill>
            <a:srgbClr val="0096FF"/>
          </a:solidFill>
          <a:ln w="28575" cap="flat" cmpd="sng" algn="ctr">
            <a:no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126" name="矩形 125">
            <a:extLst>
              <a:ext uri="{FF2B5EF4-FFF2-40B4-BE49-F238E27FC236}">
                <a16:creationId xmlns:a16="http://schemas.microsoft.com/office/drawing/2014/main" id="{6283125C-CF50-A34C-88D6-A2985BBA0870}"/>
              </a:ext>
            </a:extLst>
          </p:cNvPr>
          <p:cNvSpPr/>
          <p:nvPr/>
        </p:nvSpPr>
        <p:spPr>
          <a:xfrm>
            <a:off x="7238077" y="951186"/>
            <a:ext cx="239309" cy="261513"/>
          </a:xfrm>
          <a:prstGeom prst="rect">
            <a:avLst/>
          </a:prstGeom>
          <a:solidFill>
            <a:srgbClr val="F79646">
              <a:lumMod val="60000"/>
              <a:lumOff val="40000"/>
            </a:srgbClr>
          </a:solidFill>
          <a:ln w="28575" cap="flat" cmpd="sng" algn="ctr">
            <a:solidFill>
              <a:sysClr val="windowText" lastClr="000000"/>
            </a:solid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1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127" name="文本框 126">
            <a:extLst>
              <a:ext uri="{FF2B5EF4-FFF2-40B4-BE49-F238E27FC236}">
                <a16:creationId xmlns:a16="http://schemas.microsoft.com/office/drawing/2014/main" id="{7F16883E-8F20-B141-8356-29283CB0E426}"/>
              </a:ext>
            </a:extLst>
          </p:cNvPr>
          <p:cNvSpPr txBox="1"/>
          <p:nvPr/>
        </p:nvSpPr>
        <p:spPr>
          <a:xfrm>
            <a:off x="7541658" y="925932"/>
            <a:ext cx="655820" cy="307777"/>
          </a:xfrm>
          <a:prstGeom prst="rect">
            <a:avLst/>
          </a:prstGeom>
          <a:noFill/>
        </p:spPr>
        <p:txBody>
          <a:bodyPr wrap="square" rtlCol="0">
            <a:spAutoFit/>
          </a:bodyPr>
          <a:lstStyle/>
          <a:p>
            <a:pPr defTabSz="380985"/>
            <a:r>
              <a:rPr lang="en-US" altLang="zh-CN" sz="1400" dirty="0">
                <a:solidFill>
                  <a:prstClr val="black"/>
                </a:solidFill>
                <a:latin typeface="+mn-ea"/>
              </a:rPr>
              <a:t>OS</a:t>
            </a:r>
            <a:endParaRPr lang="zh-CN" altLang="en-US" sz="1400" dirty="0">
              <a:solidFill>
                <a:prstClr val="black"/>
              </a:solidFill>
              <a:latin typeface="+mn-ea"/>
            </a:endParaRPr>
          </a:p>
        </p:txBody>
      </p:sp>
      <p:sp>
        <p:nvSpPr>
          <p:cNvPr id="128" name="矩形 127">
            <a:extLst>
              <a:ext uri="{FF2B5EF4-FFF2-40B4-BE49-F238E27FC236}">
                <a16:creationId xmlns:a16="http://schemas.microsoft.com/office/drawing/2014/main" id="{B2FDFB3A-5788-7440-8900-27568D297B13}"/>
              </a:ext>
            </a:extLst>
          </p:cNvPr>
          <p:cNvSpPr/>
          <p:nvPr/>
        </p:nvSpPr>
        <p:spPr>
          <a:xfrm>
            <a:off x="7238077" y="1284765"/>
            <a:ext cx="239309" cy="261513"/>
          </a:xfrm>
          <a:prstGeom prst="rect">
            <a:avLst/>
          </a:prstGeom>
          <a:noFill/>
          <a:ln w="28575" cap="flat" cmpd="sng" algn="ctr">
            <a:solidFill>
              <a:sysClr val="windowText" lastClr="000000"/>
            </a:solid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1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129" name="文本框 128">
            <a:extLst>
              <a:ext uri="{FF2B5EF4-FFF2-40B4-BE49-F238E27FC236}">
                <a16:creationId xmlns:a16="http://schemas.microsoft.com/office/drawing/2014/main" id="{F9EB3FF2-050F-3F4A-B56C-DEF93163ED25}"/>
              </a:ext>
            </a:extLst>
          </p:cNvPr>
          <p:cNvSpPr txBox="1"/>
          <p:nvPr/>
        </p:nvSpPr>
        <p:spPr>
          <a:xfrm>
            <a:off x="7541658" y="1259511"/>
            <a:ext cx="655820" cy="307777"/>
          </a:xfrm>
          <a:prstGeom prst="rect">
            <a:avLst/>
          </a:prstGeom>
          <a:noFill/>
        </p:spPr>
        <p:txBody>
          <a:bodyPr wrap="square" rtlCol="0">
            <a:spAutoFit/>
          </a:bodyPr>
          <a:lstStyle/>
          <a:p>
            <a:pPr defTabSz="380985"/>
            <a:r>
              <a:rPr lang="en-US" altLang="zh-CN" sz="1400" dirty="0">
                <a:solidFill>
                  <a:prstClr val="black"/>
                </a:solidFill>
                <a:latin typeface="+mn-ea"/>
              </a:rPr>
              <a:t>App</a:t>
            </a:r>
            <a:endParaRPr lang="zh-CN" altLang="en-US" sz="1400" dirty="0">
              <a:solidFill>
                <a:prstClr val="black"/>
              </a:solidFill>
              <a:latin typeface="+mn-ea"/>
            </a:endParaRPr>
          </a:p>
        </p:txBody>
      </p:sp>
      <p:sp>
        <p:nvSpPr>
          <p:cNvPr id="130" name="矩形 129">
            <a:extLst>
              <a:ext uri="{FF2B5EF4-FFF2-40B4-BE49-F238E27FC236}">
                <a16:creationId xmlns:a16="http://schemas.microsoft.com/office/drawing/2014/main" id="{90ED75FF-DA80-AF4A-8AC6-212A3F220C21}"/>
              </a:ext>
            </a:extLst>
          </p:cNvPr>
          <p:cNvSpPr/>
          <p:nvPr/>
        </p:nvSpPr>
        <p:spPr>
          <a:xfrm>
            <a:off x="7238077" y="1617907"/>
            <a:ext cx="239309" cy="261513"/>
          </a:xfrm>
          <a:prstGeom prst="rect">
            <a:avLst/>
          </a:prstGeom>
          <a:solidFill>
            <a:srgbClr val="0096FF"/>
          </a:solidFill>
          <a:ln w="28575" cap="flat" cmpd="sng" algn="ctr">
            <a:no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1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131" name="文本框 130">
            <a:extLst>
              <a:ext uri="{FF2B5EF4-FFF2-40B4-BE49-F238E27FC236}">
                <a16:creationId xmlns:a16="http://schemas.microsoft.com/office/drawing/2014/main" id="{0AA2AEBA-362A-2E40-9E92-D2FE289721DA}"/>
              </a:ext>
            </a:extLst>
          </p:cNvPr>
          <p:cNvSpPr txBox="1"/>
          <p:nvPr/>
        </p:nvSpPr>
        <p:spPr>
          <a:xfrm>
            <a:off x="7541658" y="1592654"/>
            <a:ext cx="655820" cy="307777"/>
          </a:xfrm>
          <a:prstGeom prst="rect">
            <a:avLst/>
          </a:prstGeom>
          <a:noFill/>
        </p:spPr>
        <p:txBody>
          <a:bodyPr wrap="square" rtlCol="0">
            <a:spAutoFit/>
          </a:bodyPr>
          <a:lstStyle/>
          <a:p>
            <a:pPr defTabSz="380985"/>
            <a:r>
              <a:rPr lang="zh-CN" altLang="en-US" sz="1400" dirty="0">
                <a:solidFill>
                  <a:prstClr val="black"/>
                </a:solidFill>
                <a:latin typeface="+mn-ea"/>
              </a:rPr>
              <a:t>逻辑</a:t>
            </a:r>
          </a:p>
        </p:txBody>
      </p:sp>
      <p:sp>
        <p:nvSpPr>
          <p:cNvPr id="132" name="矩形 131">
            <a:extLst>
              <a:ext uri="{FF2B5EF4-FFF2-40B4-BE49-F238E27FC236}">
                <a16:creationId xmlns:a16="http://schemas.microsoft.com/office/drawing/2014/main" id="{F6B7DDA1-9861-CF42-A38B-A68DFA1733EF}"/>
              </a:ext>
            </a:extLst>
          </p:cNvPr>
          <p:cNvSpPr/>
          <p:nvPr/>
        </p:nvSpPr>
        <p:spPr>
          <a:xfrm>
            <a:off x="2491507" y="2214407"/>
            <a:ext cx="294077" cy="1125318"/>
          </a:xfrm>
          <a:prstGeom prst="rect">
            <a:avLst/>
          </a:prstGeom>
          <a:noFill/>
          <a:ln w="28575" cap="flat" cmpd="sng" algn="ctr">
            <a:solidFill>
              <a:sysClr val="windowText" lastClr="000000"/>
            </a:solid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133" name="矩形 132">
            <a:extLst>
              <a:ext uri="{FF2B5EF4-FFF2-40B4-BE49-F238E27FC236}">
                <a16:creationId xmlns:a16="http://schemas.microsoft.com/office/drawing/2014/main" id="{7058E3BD-6E8F-564C-AD02-34F460831972}"/>
              </a:ext>
            </a:extLst>
          </p:cNvPr>
          <p:cNvSpPr/>
          <p:nvPr/>
        </p:nvSpPr>
        <p:spPr>
          <a:xfrm>
            <a:off x="2866263" y="2214407"/>
            <a:ext cx="680642" cy="1125318"/>
          </a:xfrm>
          <a:prstGeom prst="rect">
            <a:avLst/>
          </a:prstGeom>
          <a:noFill/>
          <a:ln w="28575" cap="flat" cmpd="sng" algn="ctr">
            <a:solidFill>
              <a:sysClr val="windowText" lastClr="000000"/>
            </a:solid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135" name="矩形 134">
            <a:extLst>
              <a:ext uri="{FF2B5EF4-FFF2-40B4-BE49-F238E27FC236}">
                <a16:creationId xmlns:a16="http://schemas.microsoft.com/office/drawing/2014/main" id="{D97D2C9A-D02F-B84D-87A9-4645800AAB3D}"/>
              </a:ext>
            </a:extLst>
          </p:cNvPr>
          <p:cNvSpPr/>
          <p:nvPr/>
        </p:nvSpPr>
        <p:spPr>
          <a:xfrm>
            <a:off x="2518832" y="2463294"/>
            <a:ext cx="239427" cy="186379"/>
          </a:xfrm>
          <a:prstGeom prst="rect">
            <a:avLst/>
          </a:prstGeom>
          <a:solidFill>
            <a:srgbClr val="0096FF"/>
          </a:solidFill>
          <a:ln w="28575" cap="flat" cmpd="sng" algn="ctr">
            <a:no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136" name="矩形 135">
            <a:extLst>
              <a:ext uri="{FF2B5EF4-FFF2-40B4-BE49-F238E27FC236}">
                <a16:creationId xmlns:a16="http://schemas.microsoft.com/office/drawing/2014/main" id="{B133D643-668B-CA4F-9179-766C3A57C1AD}"/>
              </a:ext>
            </a:extLst>
          </p:cNvPr>
          <p:cNvSpPr/>
          <p:nvPr/>
        </p:nvSpPr>
        <p:spPr>
          <a:xfrm>
            <a:off x="2893587" y="2463294"/>
            <a:ext cx="239427" cy="186379"/>
          </a:xfrm>
          <a:prstGeom prst="rect">
            <a:avLst/>
          </a:prstGeom>
          <a:solidFill>
            <a:srgbClr val="0096FF"/>
          </a:solidFill>
          <a:ln w="28575" cap="flat" cmpd="sng" algn="ctr">
            <a:no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137" name="矩形 136">
            <a:extLst>
              <a:ext uri="{FF2B5EF4-FFF2-40B4-BE49-F238E27FC236}">
                <a16:creationId xmlns:a16="http://schemas.microsoft.com/office/drawing/2014/main" id="{438E7CB9-34C8-CD42-80BA-83721DC8F4D4}"/>
              </a:ext>
            </a:extLst>
          </p:cNvPr>
          <p:cNvSpPr/>
          <p:nvPr/>
        </p:nvSpPr>
        <p:spPr>
          <a:xfrm>
            <a:off x="3268343" y="2474730"/>
            <a:ext cx="239427" cy="186379"/>
          </a:xfrm>
          <a:prstGeom prst="rect">
            <a:avLst/>
          </a:prstGeom>
          <a:solidFill>
            <a:srgbClr val="0096FF"/>
          </a:solidFill>
          <a:ln w="28575" cap="flat" cmpd="sng" algn="ctr">
            <a:no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138" name="矩形 137">
            <a:extLst>
              <a:ext uri="{FF2B5EF4-FFF2-40B4-BE49-F238E27FC236}">
                <a16:creationId xmlns:a16="http://schemas.microsoft.com/office/drawing/2014/main" id="{EC605443-F6E7-874C-AD9C-EE079F5A7B96}"/>
              </a:ext>
            </a:extLst>
          </p:cNvPr>
          <p:cNvSpPr/>
          <p:nvPr/>
        </p:nvSpPr>
        <p:spPr>
          <a:xfrm>
            <a:off x="2518832" y="3025954"/>
            <a:ext cx="239427" cy="186379"/>
          </a:xfrm>
          <a:prstGeom prst="rect">
            <a:avLst/>
          </a:prstGeom>
          <a:solidFill>
            <a:srgbClr val="0096FF"/>
          </a:solidFill>
          <a:ln w="28575" cap="flat" cmpd="sng" algn="ctr">
            <a:no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139" name="矩形 138">
            <a:extLst>
              <a:ext uri="{FF2B5EF4-FFF2-40B4-BE49-F238E27FC236}">
                <a16:creationId xmlns:a16="http://schemas.microsoft.com/office/drawing/2014/main" id="{A514DBCD-DBE6-E94A-91F1-5111633374C3}"/>
              </a:ext>
            </a:extLst>
          </p:cNvPr>
          <p:cNvSpPr/>
          <p:nvPr/>
        </p:nvSpPr>
        <p:spPr>
          <a:xfrm>
            <a:off x="2893587" y="3025954"/>
            <a:ext cx="239427" cy="186379"/>
          </a:xfrm>
          <a:prstGeom prst="rect">
            <a:avLst/>
          </a:prstGeom>
          <a:solidFill>
            <a:srgbClr val="0096FF"/>
          </a:solidFill>
          <a:ln w="28575" cap="flat" cmpd="sng" algn="ctr">
            <a:no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140" name="矩形 139">
            <a:extLst>
              <a:ext uri="{FF2B5EF4-FFF2-40B4-BE49-F238E27FC236}">
                <a16:creationId xmlns:a16="http://schemas.microsoft.com/office/drawing/2014/main" id="{532F75F6-9C25-CA47-8EFF-296BEE82BC3C}"/>
              </a:ext>
            </a:extLst>
          </p:cNvPr>
          <p:cNvSpPr/>
          <p:nvPr/>
        </p:nvSpPr>
        <p:spPr>
          <a:xfrm>
            <a:off x="3268343" y="3037390"/>
            <a:ext cx="239427" cy="186379"/>
          </a:xfrm>
          <a:prstGeom prst="rect">
            <a:avLst/>
          </a:prstGeom>
          <a:solidFill>
            <a:srgbClr val="0096FF"/>
          </a:solidFill>
          <a:ln w="28575" cap="flat" cmpd="sng" algn="ctr">
            <a:no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cxnSp>
        <p:nvCxnSpPr>
          <p:cNvPr id="141" name="直接箭头连接符 21">
            <a:extLst>
              <a:ext uri="{FF2B5EF4-FFF2-40B4-BE49-F238E27FC236}">
                <a16:creationId xmlns:a16="http://schemas.microsoft.com/office/drawing/2014/main" id="{1DC7A50A-1635-5F40-9AFF-85285298F594}"/>
              </a:ext>
            </a:extLst>
          </p:cNvPr>
          <p:cNvCxnSpPr>
            <a:endCxn id="84" idx="0"/>
          </p:cNvCxnSpPr>
          <p:nvPr/>
        </p:nvCxnSpPr>
        <p:spPr>
          <a:xfrm flipH="1">
            <a:off x="3265746" y="3223768"/>
            <a:ext cx="130123" cy="733123"/>
          </a:xfrm>
          <a:prstGeom prst="straightConnector1">
            <a:avLst/>
          </a:prstGeom>
          <a:noFill/>
          <a:ln w="38100" cap="flat" cmpd="sng" algn="ctr">
            <a:solidFill>
              <a:sysClr val="windowText" lastClr="000000"/>
            </a:solidFill>
            <a:prstDash val="solid"/>
            <a:tailEnd type="triangle"/>
          </a:ln>
          <a:effectLst/>
        </p:spPr>
      </p:cxnSp>
      <p:sp>
        <p:nvSpPr>
          <p:cNvPr id="142" name="椭圆 141">
            <a:extLst>
              <a:ext uri="{FF2B5EF4-FFF2-40B4-BE49-F238E27FC236}">
                <a16:creationId xmlns:a16="http://schemas.microsoft.com/office/drawing/2014/main" id="{CBA7DBF2-9786-3246-8288-F33EC22E4E09}"/>
              </a:ext>
            </a:extLst>
          </p:cNvPr>
          <p:cNvSpPr/>
          <p:nvPr/>
        </p:nvSpPr>
        <p:spPr>
          <a:xfrm>
            <a:off x="3280055" y="3412816"/>
            <a:ext cx="136632" cy="136632"/>
          </a:xfrm>
          <a:prstGeom prst="ellipse">
            <a:avLst/>
          </a:prstGeom>
          <a:solidFill>
            <a:srgbClr val="C0504D"/>
          </a:solidFill>
          <a:ln w="28575" cap="flat" cmpd="sng" algn="ctr">
            <a:no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143" name="椭圆 142">
            <a:extLst>
              <a:ext uri="{FF2B5EF4-FFF2-40B4-BE49-F238E27FC236}">
                <a16:creationId xmlns:a16="http://schemas.microsoft.com/office/drawing/2014/main" id="{75A29A18-7669-4344-A667-6038D87D90DC}"/>
              </a:ext>
            </a:extLst>
          </p:cNvPr>
          <p:cNvSpPr/>
          <p:nvPr/>
        </p:nvSpPr>
        <p:spPr>
          <a:xfrm>
            <a:off x="4101129" y="3412816"/>
            <a:ext cx="136632" cy="136632"/>
          </a:xfrm>
          <a:prstGeom prst="ellipse">
            <a:avLst/>
          </a:prstGeom>
          <a:solidFill>
            <a:srgbClr val="C0504D"/>
          </a:solidFill>
          <a:ln w="28575" cap="flat" cmpd="sng" algn="ctr">
            <a:no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144" name="椭圆 143">
            <a:extLst>
              <a:ext uri="{FF2B5EF4-FFF2-40B4-BE49-F238E27FC236}">
                <a16:creationId xmlns:a16="http://schemas.microsoft.com/office/drawing/2014/main" id="{50D36643-7D71-1A46-84D5-9A82827993A2}"/>
              </a:ext>
            </a:extLst>
          </p:cNvPr>
          <p:cNvSpPr/>
          <p:nvPr/>
        </p:nvSpPr>
        <p:spPr>
          <a:xfrm>
            <a:off x="4278443" y="3412816"/>
            <a:ext cx="136632" cy="136632"/>
          </a:xfrm>
          <a:prstGeom prst="ellipse">
            <a:avLst/>
          </a:prstGeom>
          <a:solidFill>
            <a:srgbClr val="C0504D"/>
          </a:solidFill>
          <a:ln w="28575" cap="flat" cmpd="sng" algn="ctr">
            <a:no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146" name="矩形 145">
            <a:extLst>
              <a:ext uri="{FF2B5EF4-FFF2-40B4-BE49-F238E27FC236}">
                <a16:creationId xmlns:a16="http://schemas.microsoft.com/office/drawing/2014/main" id="{A2467145-B34E-7245-8F87-9B0132DCB8D8}"/>
              </a:ext>
            </a:extLst>
          </p:cNvPr>
          <p:cNvSpPr/>
          <p:nvPr/>
        </p:nvSpPr>
        <p:spPr>
          <a:xfrm>
            <a:off x="6823104" y="2911338"/>
            <a:ext cx="294077" cy="428386"/>
          </a:xfrm>
          <a:prstGeom prst="rect">
            <a:avLst/>
          </a:prstGeom>
          <a:solidFill>
            <a:srgbClr val="F79646">
              <a:lumMod val="60000"/>
              <a:lumOff val="40000"/>
            </a:srgbClr>
          </a:solidFill>
          <a:ln w="28575" cap="flat" cmpd="sng" algn="ctr">
            <a:solidFill>
              <a:sysClr val="windowText" lastClr="000000"/>
            </a:solid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147" name="矩形 146">
            <a:extLst>
              <a:ext uri="{FF2B5EF4-FFF2-40B4-BE49-F238E27FC236}">
                <a16:creationId xmlns:a16="http://schemas.microsoft.com/office/drawing/2014/main" id="{9201BB87-E831-4245-89C3-886393B0E4F1}"/>
              </a:ext>
            </a:extLst>
          </p:cNvPr>
          <p:cNvSpPr/>
          <p:nvPr/>
        </p:nvSpPr>
        <p:spPr>
          <a:xfrm>
            <a:off x="6823104" y="3617411"/>
            <a:ext cx="294077" cy="128239"/>
          </a:xfrm>
          <a:prstGeom prst="rect">
            <a:avLst/>
          </a:prstGeom>
          <a:solidFill>
            <a:srgbClr val="F79646">
              <a:lumMod val="60000"/>
              <a:lumOff val="40000"/>
            </a:srgbClr>
          </a:solidFill>
          <a:ln w="28575" cap="flat" cmpd="sng" algn="ctr">
            <a:solidFill>
              <a:sysClr val="windowText" lastClr="000000"/>
            </a:solid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148" name="矩形 147">
            <a:extLst>
              <a:ext uri="{FF2B5EF4-FFF2-40B4-BE49-F238E27FC236}">
                <a16:creationId xmlns:a16="http://schemas.microsoft.com/office/drawing/2014/main" id="{0999252D-6CA9-C349-8FB6-2AE34A4821BE}"/>
              </a:ext>
            </a:extLst>
          </p:cNvPr>
          <p:cNvSpPr/>
          <p:nvPr/>
        </p:nvSpPr>
        <p:spPr>
          <a:xfrm>
            <a:off x="6850429" y="2619440"/>
            <a:ext cx="239427" cy="186379"/>
          </a:xfrm>
          <a:prstGeom prst="rect">
            <a:avLst/>
          </a:prstGeom>
          <a:solidFill>
            <a:srgbClr val="0096FF"/>
          </a:solidFill>
          <a:ln w="28575" cap="flat" cmpd="sng" algn="ctr">
            <a:no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149" name="矩形 148">
            <a:extLst>
              <a:ext uri="{FF2B5EF4-FFF2-40B4-BE49-F238E27FC236}">
                <a16:creationId xmlns:a16="http://schemas.microsoft.com/office/drawing/2014/main" id="{06703D69-9773-F340-8328-B90C24DC2D0A}"/>
              </a:ext>
            </a:extLst>
          </p:cNvPr>
          <p:cNvSpPr/>
          <p:nvPr/>
        </p:nvSpPr>
        <p:spPr>
          <a:xfrm>
            <a:off x="6823104" y="2214407"/>
            <a:ext cx="294077" cy="696931"/>
          </a:xfrm>
          <a:prstGeom prst="rect">
            <a:avLst/>
          </a:prstGeom>
          <a:noFill/>
          <a:ln w="28575" cap="flat" cmpd="sng" algn="ctr">
            <a:solidFill>
              <a:sysClr val="windowText" lastClr="000000"/>
            </a:solid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150" name="矩形 149">
            <a:extLst>
              <a:ext uri="{FF2B5EF4-FFF2-40B4-BE49-F238E27FC236}">
                <a16:creationId xmlns:a16="http://schemas.microsoft.com/office/drawing/2014/main" id="{F70F6982-FCEA-2C4F-BC46-F17AB29B757E}"/>
              </a:ext>
            </a:extLst>
          </p:cNvPr>
          <p:cNvSpPr/>
          <p:nvPr/>
        </p:nvSpPr>
        <p:spPr>
          <a:xfrm>
            <a:off x="6850429" y="3033805"/>
            <a:ext cx="239427" cy="186379"/>
          </a:xfrm>
          <a:prstGeom prst="rect">
            <a:avLst/>
          </a:prstGeom>
          <a:solidFill>
            <a:srgbClr val="0096FF"/>
          </a:solidFill>
          <a:ln w="28575" cap="flat" cmpd="sng" algn="ctr">
            <a:no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151" name="矩形 150">
            <a:extLst>
              <a:ext uri="{FF2B5EF4-FFF2-40B4-BE49-F238E27FC236}">
                <a16:creationId xmlns:a16="http://schemas.microsoft.com/office/drawing/2014/main" id="{8C44D258-628C-A743-A95C-80FFDB8F7922}"/>
              </a:ext>
            </a:extLst>
          </p:cNvPr>
          <p:cNvSpPr/>
          <p:nvPr/>
        </p:nvSpPr>
        <p:spPr>
          <a:xfrm>
            <a:off x="7209522" y="2911338"/>
            <a:ext cx="294077" cy="428386"/>
          </a:xfrm>
          <a:prstGeom prst="rect">
            <a:avLst/>
          </a:prstGeom>
          <a:solidFill>
            <a:srgbClr val="F79646">
              <a:lumMod val="60000"/>
              <a:lumOff val="40000"/>
            </a:srgbClr>
          </a:solidFill>
          <a:ln w="28575" cap="flat" cmpd="sng" algn="ctr">
            <a:solidFill>
              <a:sysClr val="windowText" lastClr="000000"/>
            </a:solid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152" name="矩形 151">
            <a:extLst>
              <a:ext uri="{FF2B5EF4-FFF2-40B4-BE49-F238E27FC236}">
                <a16:creationId xmlns:a16="http://schemas.microsoft.com/office/drawing/2014/main" id="{CC69A972-B96E-ED47-AAB7-314B7CB26309}"/>
              </a:ext>
            </a:extLst>
          </p:cNvPr>
          <p:cNvSpPr/>
          <p:nvPr/>
        </p:nvSpPr>
        <p:spPr>
          <a:xfrm>
            <a:off x="7236847" y="2619440"/>
            <a:ext cx="239427" cy="186379"/>
          </a:xfrm>
          <a:prstGeom prst="rect">
            <a:avLst/>
          </a:prstGeom>
          <a:solidFill>
            <a:srgbClr val="0096FF"/>
          </a:solidFill>
          <a:ln w="28575" cap="flat" cmpd="sng" algn="ctr">
            <a:no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153" name="矩形 152">
            <a:extLst>
              <a:ext uri="{FF2B5EF4-FFF2-40B4-BE49-F238E27FC236}">
                <a16:creationId xmlns:a16="http://schemas.microsoft.com/office/drawing/2014/main" id="{69EF7E4C-6465-9946-9B4C-2EC73DDA6553}"/>
              </a:ext>
            </a:extLst>
          </p:cNvPr>
          <p:cNvSpPr/>
          <p:nvPr/>
        </p:nvSpPr>
        <p:spPr>
          <a:xfrm>
            <a:off x="7209522" y="2214407"/>
            <a:ext cx="294077" cy="696931"/>
          </a:xfrm>
          <a:prstGeom prst="rect">
            <a:avLst/>
          </a:prstGeom>
          <a:noFill/>
          <a:ln w="28575" cap="flat" cmpd="sng" algn="ctr">
            <a:solidFill>
              <a:sysClr val="windowText" lastClr="000000"/>
            </a:solid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154" name="矩形 153">
            <a:extLst>
              <a:ext uri="{FF2B5EF4-FFF2-40B4-BE49-F238E27FC236}">
                <a16:creationId xmlns:a16="http://schemas.microsoft.com/office/drawing/2014/main" id="{D4D356FB-DE39-7246-BCC0-005195CE89EC}"/>
              </a:ext>
            </a:extLst>
          </p:cNvPr>
          <p:cNvSpPr/>
          <p:nvPr/>
        </p:nvSpPr>
        <p:spPr>
          <a:xfrm>
            <a:off x="7236847" y="3033805"/>
            <a:ext cx="239427" cy="186379"/>
          </a:xfrm>
          <a:prstGeom prst="rect">
            <a:avLst/>
          </a:prstGeom>
          <a:solidFill>
            <a:srgbClr val="0096FF"/>
          </a:solidFill>
          <a:ln w="28575" cap="flat" cmpd="sng" algn="ctr">
            <a:no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155" name="矩形 154">
            <a:extLst>
              <a:ext uri="{FF2B5EF4-FFF2-40B4-BE49-F238E27FC236}">
                <a16:creationId xmlns:a16="http://schemas.microsoft.com/office/drawing/2014/main" id="{08FD3CCA-FA48-1143-B208-E2CAA350B05A}"/>
              </a:ext>
            </a:extLst>
          </p:cNvPr>
          <p:cNvSpPr/>
          <p:nvPr/>
        </p:nvSpPr>
        <p:spPr>
          <a:xfrm>
            <a:off x="7595940" y="2911338"/>
            <a:ext cx="294077" cy="428386"/>
          </a:xfrm>
          <a:prstGeom prst="rect">
            <a:avLst/>
          </a:prstGeom>
          <a:solidFill>
            <a:srgbClr val="F79646">
              <a:lumMod val="60000"/>
              <a:lumOff val="40000"/>
            </a:srgbClr>
          </a:solidFill>
          <a:ln w="28575" cap="flat" cmpd="sng" algn="ctr">
            <a:solidFill>
              <a:sysClr val="windowText" lastClr="000000"/>
            </a:solid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156" name="矩形 155">
            <a:extLst>
              <a:ext uri="{FF2B5EF4-FFF2-40B4-BE49-F238E27FC236}">
                <a16:creationId xmlns:a16="http://schemas.microsoft.com/office/drawing/2014/main" id="{709F8F6E-F1B0-C549-ADCD-2D112AF2851B}"/>
              </a:ext>
            </a:extLst>
          </p:cNvPr>
          <p:cNvSpPr/>
          <p:nvPr/>
        </p:nvSpPr>
        <p:spPr>
          <a:xfrm>
            <a:off x="7623265" y="2619440"/>
            <a:ext cx="239427" cy="186379"/>
          </a:xfrm>
          <a:prstGeom prst="rect">
            <a:avLst/>
          </a:prstGeom>
          <a:solidFill>
            <a:srgbClr val="0096FF"/>
          </a:solidFill>
          <a:ln w="28575" cap="flat" cmpd="sng" algn="ctr">
            <a:no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157" name="矩形 156">
            <a:extLst>
              <a:ext uri="{FF2B5EF4-FFF2-40B4-BE49-F238E27FC236}">
                <a16:creationId xmlns:a16="http://schemas.microsoft.com/office/drawing/2014/main" id="{7E2690E1-D03C-A949-9FFC-D623627DA77E}"/>
              </a:ext>
            </a:extLst>
          </p:cNvPr>
          <p:cNvSpPr/>
          <p:nvPr/>
        </p:nvSpPr>
        <p:spPr>
          <a:xfrm>
            <a:off x="7595940" y="2214407"/>
            <a:ext cx="294077" cy="696931"/>
          </a:xfrm>
          <a:prstGeom prst="rect">
            <a:avLst/>
          </a:prstGeom>
          <a:noFill/>
          <a:ln w="28575" cap="flat" cmpd="sng" algn="ctr">
            <a:solidFill>
              <a:sysClr val="windowText" lastClr="000000"/>
            </a:solid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158" name="矩形 157">
            <a:extLst>
              <a:ext uri="{FF2B5EF4-FFF2-40B4-BE49-F238E27FC236}">
                <a16:creationId xmlns:a16="http://schemas.microsoft.com/office/drawing/2014/main" id="{9C5EA946-62A8-5749-82C0-088215D54A25}"/>
              </a:ext>
            </a:extLst>
          </p:cNvPr>
          <p:cNvSpPr/>
          <p:nvPr/>
        </p:nvSpPr>
        <p:spPr>
          <a:xfrm>
            <a:off x="7623265" y="3033805"/>
            <a:ext cx="239427" cy="186379"/>
          </a:xfrm>
          <a:prstGeom prst="rect">
            <a:avLst/>
          </a:prstGeom>
          <a:solidFill>
            <a:srgbClr val="0096FF"/>
          </a:solidFill>
          <a:ln w="28575" cap="flat" cmpd="sng" algn="ctr">
            <a:no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159" name="文本框 158">
            <a:extLst>
              <a:ext uri="{FF2B5EF4-FFF2-40B4-BE49-F238E27FC236}">
                <a16:creationId xmlns:a16="http://schemas.microsoft.com/office/drawing/2014/main" id="{F847C99F-775C-B443-8794-104AC1CDB646}"/>
              </a:ext>
            </a:extLst>
          </p:cNvPr>
          <p:cNvSpPr txBox="1"/>
          <p:nvPr/>
        </p:nvSpPr>
        <p:spPr>
          <a:xfrm>
            <a:off x="6721560" y="4956894"/>
            <a:ext cx="1269998" cy="348878"/>
          </a:xfrm>
          <a:prstGeom prst="rect">
            <a:avLst/>
          </a:prstGeom>
          <a:noFill/>
        </p:spPr>
        <p:txBody>
          <a:bodyPr wrap="square" rtlCol="0">
            <a:spAutoFit/>
          </a:bodyPr>
          <a:lstStyle/>
          <a:p>
            <a:pPr algn="ctr" defTabSz="380985"/>
            <a:r>
              <a:rPr lang="zh-CN" altLang="en-US" sz="1600" dirty="0">
                <a:solidFill>
                  <a:prstClr val="black"/>
                </a:solidFill>
                <a:latin typeface="+mn-ea"/>
              </a:rPr>
              <a:t>多内核</a:t>
            </a:r>
          </a:p>
        </p:txBody>
      </p:sp>
      <p:cxnSp>
        <p:nvCxnSpPr>
          <p:cNvPr id="160" name="直接箭头连接符 78">
            <a:extLst>
              <a:ext uri="{FF2B5EF4-FFF2-40B4-BE49-F238E27FC236}">
                <a16:creationId xmlns:a16="http://schemas.microsoft.com/office/drawing/2014/main" id="{B0C009C9-35EF-C945-B454-7942CA93AF2B}"/>
              </a:ext>
            </a:extLst>
          </p:cNvPr>
          <p:cNvCxnSpPr>
            <a:stCxn id="148" idx="2"/>
            <a:endCxn id="150" idx="0"/>
          </p:cNvCxnSpPr>
          <p:nvPr/>
        </p:nvCxnSpPr>
        <p:spPr>
          <a:xfrm>
            <a:off x="6970143" y="2805819"/>
            <a:ext cx="0" cy="227986"/>
          </a:xfrm>
          <a:prstGeom prst="straightConnector1">
            <a:avLst/>
          </a:prstGeom>
          <a:noFill/>
          <a:ln w="38100" cap="flat" cmpd="sng" algn="ctr">
            <a:solidFill>
              <a:sysClr val="windowText" lastClr="000000"/>
            </a:solidFill>
            <a:prstDash val="solid"/>
            <a:tailEnd type="triangle"/>
          </a:ln>
          <a:effectLst/>
        </p:spPr>
      </p:cxnSp>
      <p:sp>
        <p:nvSpPr>
          <p:cNvPr id="161" name="矩形 160">
            <a:extLst>
              <a:ext uri="{FF2B5EF4-FFF2-40B4-BE49-F238E27FC236}">
                <a16:creationId xmlns:a16="http://schemas.microsoft.com/office/drawing/2014/main" id="{479F0441-4E1E-6740-BA9B-9A10AC2D0F33}"/>
              </a:ext>
            </a:extLst>
          </p:cNvPr>
          <p:cNvSpPr/>
          <p:nvPr/>
        </p:nvSpPr>
        <p:spPr>
          <a:xfrm>
            <a:off x="6850429" y="2316701"/>
            <a:ext cx="239427" cy="186379"/>
          </a:xfrm>
          <a:prstGeom prst="rect">
            <a:avLst/>
          </a:prstGeom>
          <a:solidFill>
            <a:srgbClr val="0096FF"/>
          </a:solidFill>
          <a:ln w="28575" cap="flat" cmpd="sng" algn="ctr">
            <a:no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162" name="矩形 161">
            <a:extLst>
              <a:ext uri="{FF2B5EF4-FFF2-40B4-BE49-F238E27FC236}">
                <a16:creationId xmlns:a16="http://schemas.microsoft.com/office/drawing/2014/main" id="{0DA60E2A-68C1-2743-8FB5-997CE33A804C}"/>
              </a:ext>
            </a:extLst>
          </p:cNvPr>
          <p:cNvSpPr/>
          <p:nvPr/>
        </p:nvSpPr>
        <p:spPr>
          <a:xfrm>
            <a:off x="7236847" y="2316701"/>
            <a:ext cx="239427" cy="186379"/>
          </a:xfrm>
          <a:prstGeom prst="rect">
            <a:avLst/>
          </a:prstGeom>
          <a:solidFill>
            <a:srgbClr val="0096FF"/>
          </a:solidFill>
          <a:ln w="28575" cap="flat" cmpd="sng" algn="ctr">
            <a:no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163" name="矩形 162">
            <a:extLst>
              <a:ext uri="{FF2B5EF4-FFF2-40B4-BE49-F238E27FC236}">
                <a16:creationId xmlns:a16="http://schemas.microsoft.com/office/drawing/2014/main" id="{512E5F0E-FD83-6B4A-B8C5-A7CB5186AE94}"/>
              </a:ext>
            </a:extLst>
          </p:cNvPr>
          <p:cNvSpPr/>
          <p:nvPr/>
        </p:nvSpPr>
        <p:spPr>
          <a:xfrm>
            <a:off x="7623265" y="2316701"/>
            <a:ext cx="239427" cy="186379"/>
          </a:xfrm>
          <a:prstGeom prst="rect">
            <a:avLst/>
          </a:prstGeom>
          <a:solidFill>
            <a:srgbClr val="0096FF"/>
          </a:solidFill>
          <a:ln w="28575" cap="flat" cmpd="sng" algn="ctr">
            <a:no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164" name="矩形 163">
            <a:extLst>
              <a:ext uri="{FF2B5EF4-FFF2-40B4-BE49-F238E27FC236}">
                <a16:creationId xmlns:a16="http://schemas.microsoft.com/office/drawing/2014/main" id="{F4064531-8AAE-404C-832B-2C8B8EEC597D}"/>
              </a:ext>
            </a:extLst>
          </p:cNvPr>
          <p:cNvSpPr/>
          <p:nvPr/>
        </p:nvSpPr>
        <p:spPr>
          <a:xfrm>
            <a:off x="7209522" y="3613718"/>
            <a:ext cx="294077" cy="128239"/>
          </a:xfrm>
          <a:prstGeom prst="rect">
            <a:avLst/>
          </a:prstGeom>
          <a:solidFill>
            <a:srgbClr val="F79646">
              <a:lumMod val="60000"/>
              <a:lumOff val="40000"/>
            </a:srgbClr>
          </a:solidFill>
          <a:ln w="28575" cap="flat" cmpd="sng" algn="ctr">
            <a:solidFill>
              <a:sysClr val="windowText" lastClr="000000"/>
            </a:solid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
        <p:nvSpPr>
          <p:cNvPr id="165" name="矩形 164">
            <a:extLst>
              <a:ext uri="{FF2B5EF4-FFF2-40B4-BE49-F238E27FC236}">
                <a16:creationId xmlns:a16="http://schemas.microsoft.com/office/drawing/2014/main" id="{9D7F22FB-2854-8C46-9707-B2C7EF6B5DE9}"/>
              </a:ext>
            </a:extLst>
          </p:cNvPr>
          <p:cNvSpPr/>
          <p:nvPr/>
        </p:nvSpPr>
        <p:spPr>
          <a:xfrm>
            <a:off x="7595939" y="3617410"/>
            <a:ext cx="294077" cy="128239"/>
          </a:xfrm>
          <a:prstGeom prst="rect">
            <a:avLst/>
          </a:prstGeom>
          <a:solidFill>
            <a:srgbClr val="F79646">
              <a:lumMod val="60000"/>
              <a:lumOff val="40000"/>
            </a:srgbClr>
          </a:solidFill>
          <a:ln w="28575" cap="flat" cmpd="sng" algn="ctr">
            <a:solidFill>
              <a:sysClr val="windowText" lastClr="000000"/>
            </a:solidFill>
            <a:prstDash val="solid"/>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ea typeface="等线" panose="02010600030101010101" pitchFamily="2" charset="-122"/>
              <a:cs typeface="+mn-cs"/>
            </a:endParaRPr>
          </a:p>
        </p:txBody>
      </p:sp>
    </p:spTree>
    <p:extLst>
      <p:ext uri="{BB962C8B-B14F-4D97-AF65-F5344CB8AC3E}">
        <p14:creationId xmlns:p14="http://schemas.microsoft.com/office/powerpoint/2010/main" val="25589738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09F499-5495-CC4D-92F4-765764973B8D}"/>
              </a:ext>
            </a:extLst>
          </p:cNvPr>
          <p:cNvSpPr>
            <a:spLocks noGrp="1"/>
          </p:cNvSpPr>
          <p:nvPr>
            <p:ph type="title"/>
          </p:nvPr>
        </p:nvSpPr>
        <p:spPr/>
        <p:txBody>
          <a:bodyPr/>
          <a:lstStyle/>
          <a:p>
            <a:r>
              <a:rPr kumimoji="1" lang="zh-CN" altLang="en-US" dirty="0"/>
              <a:t>操作系统的两种演化</a:t>
            </a:r>
          </a:p>
        </p:txBody>
      </p:sp>
      <p:sp>
        <p:nvSpPr>
          <p:cNvPr id="3" name="内容占位符 2">
            <a:extLst>
              <a:ext uri="{FF2B5EF4-FFF2-40B4-BE49-F238E27FC236}">
                <a16:creationId xmlns:a16="http://schemas.microsoft.com/office/drawing/2014/main" id="{4EBA9F7E-BE6B-EA49-A090-CCF95B9C58F6}"/>
              </a:ext>
            </a:extLst>
          </p:cNvPr>
          <p:cNvSpPr>
            <a:spLocks noGrp="1"/>
          </p:cNvSpPr>
          <p:nvPr>
            <p:ph idx="1"/>
          </p:nvPr>
        </p:nvSpPr>
        <p:spPr>
          <a:xfrm>
            <a:off x="457200" y="1333500"/>
            <a:ext cx="8229600" cy="4267733"/>
          </a:xfrm>
        </p:spPr>
        <p:txBody>
          <a:bodyPr>
            <a:normAutofit fontScale="92500" lnSpcReduction="10000"/>
          </a:bodyPr>
          <a:lstStyle/>
          <a:p>
            <a:r>
              <a:rPr kumimoji="1" lang="zh-CN" altLang="en-US" sz="2200" dirty="0"/>
              <a:t>系统软件一直在不断演化</a:t>
            </a:r>
            <a:endParaRPr kumimoji="1" lang="en-US" altLang="zh-CN" sz="2200" dirty="0"/>
          </a:p>
          <a:p>
            <a:pPr lvl="1"/>
            <a:r>
              <a:rPr kumimoji="1" lang="zh-CN" altLang="en-US" sz="1900" dirty="0"/>
              <a:t>例：</a:t>
            </a:r>
            <a:r>
              <a:rPr kumimoji="1" lang="en-US" altLang="zh-CN" sz="1900" dirty="0"/>
              <a:t>Linux</a:t>
            </a:r>
            <a:r>
              <a:rPr kumimoji="1" lang="zh-CN" altLang="en-US" sz="1900" dirty="0"/>
              <a:t> </a:t>
            </a:r>
            <a:r>
              <a:rPr kumimoji="1" lang="en-US" altLang="zh-CN" sz="1900" dirty="0" err="1"/>
              <a:t>Userspace</a:t>
            </a:r>
            <a:r>
              <a:rPr kumimoji="1" lang="zh-CN" altLang="en-US" sz="1900" dirty="0"/>
              <a:t> </a:t>
            </a:r>
            <a:r>
              <a:rPr kumimoji="1" lang="en-US" altLang="zh-CN" sz="1900" dirty="0"/>
              <a:t>I/O</a:t>
            </a:r>
            <a:r>
              <a:rPr kumimoji="1" lang="zh-CN" altLang="en-US" sz="1900" dirty="0"/>
              <a:t> </a:t>
            </a:r>
            <a:r>
              <a:rPr kumimoji="1" lang="en-US" altLang="zh-CN" sz="1900" dirty="0"/>
              <a:t>(UIO)</a:t>
            </a:r>
            <a:r>
              <a:rPr kumimoji="1" lang="zh-CN" altLang="en-US" sz="1900" dirty="0"/>
              <a:t>，向微内核近了一步</a:t>
            </a:r>
            <a:endParaRPr kumimoji="1" lang="en-US" altLang="zh-CN" sz="1900" dirty="0"/>
          </a:p>
          <a:p>
            <a:pPr lvl="1"/>
            <a:r>
              <a:rPr kumimoji="1" lang="zh-CN" altLang="en-US" sz="1900" dirty="0"/>
              <a:t>单节点下也存在更多的分布式、低时延的可编程设备</a:t>
            </a:r>
            <a:endParaRPr kumimoji="1" lang="en-US" altLang="zh-CN" sz="1900" dirty="0"/>
          </a:p>
          <a:p>
            <a:pPr lvl="1"/>
            <a:r>
              <a:rPr kumimoji="1" lang="zh-CN" altLang="en-US" sz="1900" dirty="0"/>
              <a:t>非易失性内存的出现可能推动存储层次在</a:t>
            </a:r>
            <a:r>
              <a:rPr kumimoji="1" lang="en-US" altLang="zh-CN" sz="1900" dirty="0"/>
              <a:t>OS</a:t>
            </a:r>
            <a:r>
              <a:rPr kumimoji="1" lang="zh-CN" altLang="en-US" sz="1900" dirty="0"/>
              <a:t>中的完全改革</a:t>
            </a:r>
          </a:p>
          <a:p>
            <a:r>
              <a:rPr kumimoji="1" lang="zh-CN" altLang="en-US" sz="2200" dirty="0">
                <a:solidFill>
                  <a:schemeClr val="accent1"/>
                </a:solidFill>
              </a:rPr>
              <a:t>外部演化</a:t>
            </a:r>
            <a:r>
              <a:rPr kumimoji="1" lang="zh-CN" altLang="en-US" sz="2200" dirty="0"/>
              <a:t>（接口的演化：更好的应对新场景）</a:t>
            </a:r>
            <a:endParaRPr kumimoji="1" lang="en-US" altLang="zh-CN" sz="2200" dirty="0"/>
          </a:p>
          <a:p>
            <a:pPr lvl="1"/>
            <a:r>
              <a:rPr kumimoji="1" lang="en-US" altLang="zh-CN" sz="1900" dirty="0"/>
              <a:t>POSIX</a:t>
            </a:r>
            <a:r>
              <a:rPr kumimoji="1" lang="zh-CN" altLang="en-US" sz="1900" dirty="0"/>
              <a:t>接口：定义了一组系统调用的接口，以为应用提供兼容性</a:t>
            </a:r>
            <a:endParaRPr kumimoji="1" lang="en-US" altLang="zh-CN" sz="1900" dirty="0"/>
          </a:p>
          <a:p>
            <a:pPr lvl="1"/>
            <a:r>
              <a:rPr kumimoji="1" lang="en-US" altLang="zh-CN" sz="1900" dirty="0"/>
              <a:t>Linux</a:t>
            </a:r>
            <a:r>
              <a:rPr kumimoji="1" lang="zh-CN" altLang="en-US" sz="1900" dirty="0"/>
              <a:t>：系统调用不断有新的加入、旧的退出</a:t>
            </a:r>
            <a:endParaRPr kumimoji="1" lang="en-US" altLang="zh-CN" sz="1900" dirty="0"/>
          </a:p>
          <a:p>
            <a:pPr lvl="1"/>
            <a:r>
              <a:rPr kumimoji="1" lang="zh-CN" altLang="en-US" sz="1900" dirty="0"/>
              <a:t>鸿蒙：分布式软总线等</a:t>
            </a:r>
            <a:endParaRPr kumimoji="1" lang="en-US" altLang="zh-CN" sz="1900" dirty="0"/>
          </a:p>
          <a:p>
            <a:r>
              <a:rPr kumimoji="1" lang="zh-CN" altLang="en-US" sz="2200" dirty="0">
                <a:solidFill>
                  <a:schemeClr val="accent1"/>
                </a:solidFill>
              </a:rPr>
              <a:t>内部演化</a:t>
            </a:r>
            <a:r>
              <a:rPr kumimoji="1" lang="zh-CN" altLang="en-US" sz="2200" dirty="0"/>
              <a:t>（架构的演化：更好地应对复杂性）</a:t>
            </a:r>
            <a:endParaRPr kumimoji="1" lang="en-US" altLang="zh-CN" sz="2200" dirty="0"/>
          </a:p>
          <a:p>
            <a:pPr lvl="1"/>
            <a:r>
              <a:rPr kumimoji="1" lang="zh-CN" altLang="en-US" sz="1900" dirty="0"/>
              <a:t>如：宏内核架构、微内核架构、外核架构、多内核架构等</a:t>
            </a:r>
            <a:endParaRPr kumimoji="1" lang="en-US" altLang="zh-CN" sz="1900" dirty="0"/>
          </a:p>
          <a:p>
            <a:pPr lvl="1"/>
            <a:r>
              <a:rPr kumimoji="1" lang="zh-CN" altLang="en-US" sz="1900" dirty="0"/>
              <a:t>更好的扩展性、容错性、安全性、兼容性、灵活性、性能等</a:t>
            </a:r>
            <a:endParaRPr kumimoji="1" lang="en-US" altLang="zh-CN" sz="1900" dirty="0"/>
          </a:p>
          <a:p>
            <a:pPr lvl="2"/>
            <a:endParaRPr kumimoji="1" lang="en-US" altLang="zh-CN" sz="1800" dirty="0"/>
          </a:p>
        </p:txBody>
      </p:sp>
      <p:sp>
        <p:nvSpPr>
          <p:cNvPr id="4" name="灯片编号占位符 3">
            <a:extLst>
              <a:ext uri="{FF2B5EF4-FFF2-40B4-BE49-F238E27FC236}">
                <a16:creationId xmlns:a16="http://schemas.microsoft.com/office/drawing/2014/main" id="{D2371343-A238-CB4F-B13F-75D9B3CBDD94}"/>
              </a:ext>
            </a:extLst>
          </p:cNvPr>
          <p:cNvSpPr>
            <a:spLocks noGrp="1"/>
          </p:cNvSpPr>
          <p:nvPr>
            <p:ph type="sldNum" sz="quarter" idx="12"/>
          </p:nvPr>
        </p:nvSpPr>
        <p:spPr/>
        <p:txBody>
          <a:bodyPr/>
          <a:lstStyle/>
          <a:p>
            <a:fld id="{ADE361C3-C043-4A6E-BDCE-8DA1E7D90A3B}" type="slidenum">
              <a:rPr lang="zh-CN" altLang="en-US" smtClean="0"/>
              <a:t>59</a:t>
            </a:fld>
            <a:endParaRPr lang="zh-CN" altLang="en-US"/>
          </a:p>
        </p:txBody>
      </p:sp>
    </p:spTree>
    <p:extLst>
      <p:ext uri="{BB962C8B-B14F-4D97-AF65-F5344CB8AC3E}">
        <p14:creationId xmlns:p14="http://schemas.microsoft.com/office/powerpoint/2010/main" val="370562514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89C67F-B41D-6F47-8E73-275475D78EC2}"/>
              </a:ext>
            </a:extLst>
          </p:cNvPr>
          <p:cNvSpPr>
            <a:spLocks noGrp="1"/>
          </p:cNvSpPr>
          <p:nvPr>
            <p:ph type="title"/>
          </p:nvPr>
        </p:nvSpPr>
        <p:spPr/>
        <p:txBody>
          <a:bodyPr>
            <a:normAutofit/>
          </a:bodyPr>
          <a:lstStyle/>
          <a:p>
            <a:r>
              <a:rPr kumimoji="1" lang="zh-CN" altLang="en-US" dirty="0"/>
              <a:t>例：图形界面是在用户态还是内核态？</a:t>
            </a:r>
          </a:p>
        </p:txBody>
      </p:sp>
      <p:sp>
        <p:nvSpPr>
          <p:cNvPr id="3" name="内容占位符 2">
            <a:extLst>
              <a:ext uri="{FF2B5EF4-FFF2-40B4-BE49-F238E27FC236}">
                <a16:creationId xmlns:a16="http://schemas.microsoft.com/office/drawing/2014/main" id="{598E0DF9-FE8C-EC4A-AFCB-35AB26F10ED5}"/>
              </a:ext>
            </a:extLst>
          </p:cNvPr>
          <p:cNvSpPr>
            <a:spLocks noGrp="1"/>
          </p:cNvSpPr>
          <p:nvPr>
            <p:ph idx="1"/>
          </p:nvPr>
        </p:nvSpPr>
        <p:spPr/>
        <p:txBody>
          <a:bodyPr>
            <a:normAutofit/>
          </a:bodyPr>
          <a:lstStyle/>
          <a:p>
            <a:r>
              <a:rPr kumimoji="1" lang="en-US" altLang="zh-CN" sz="2400" dirty="0"/>
              <a:t>Windows</a:t>
            </a:r>
            <a:r>
              <a:rPr kumimoji="1" lang="zh-CN" altLang="en-US" sz="2400" dirty="0"/>
              <a:t>的</a:t>
            </a:r>
            <a:r>
              <a:rPr kumimoji="1" lang="en-US" altLang="zh-CN" sz="2400" dirty="0"/>
              <a:t>GUI</a:t>
            </a:r>
          </a:p>
          <a:p>
            <a:pPr lvl="1"/>
            <a:r>
              <a:rPr kumimoji="1" lang="zh-CN" altLang="en-US" sz="2000" dirty="0"/>
              <a:t>早期放在内核态，但代码量过于庞大导致内核臃肿</a:t>
            </a:r>
            <a:endParaRPr kumimoji="1" lang="en-US" altLang="zh-CN" sz="2000" dirty="0"/>
          </a:p>
          <a:p>
            <a:pPr lvl="1"/>
            <a:r>
              <a:rPr kumimoji="1" lang="zh-CN" altLang="en-US" sz="2000" dirty="0"/>
              <a:t>后来放到用户态（</a:t>
            </a:r>
            <a:r>
              <a:rPr kumimoji="1" lang="en-US" altLang="zh-CN" sz="2000" dirty="0"/>
              <a:t>Windows</a:t>
            </a:r>
            <a:r>
              <a:rPr kumimoji="1" lang="zh-CN" altLang="en-US" sz="2000" dirty="0"/>
              <a:t> </a:t>
            </a:r>
            <a:r>
              <a:rPr kumimoji="1" lang="en-US" altLang="zh-CN" sz="2000" dirty="0"/>
              <a:t>NT</a:t>
            </a:r>
            <a:r>
              <a:rPr kumimoji="1" lang="zh-CN" altLang="en-US" sz="2000" dirty="0"/>
              <a:t>内核初期）</a:t>
            </a:r>
            <a:endParaRPr kumimoji="1" lang="en-US" altLang="zh-CN" sz="2000" dirty="0"/>
          </a:p>
          <a:p>
            <a:pPr lvl="1"/>
            <a:r>
              <a:rPr kumimoji="1" lang="zh-CN" altLang="en-US" sz="2000" dirty="0"/>
              <a:t>再后来又部分回到内核态，从而获得更高的性能（低时延）</a:t>
            </a:r>
            <a:endParaRPr kumimoji="1" lang="en-US" altLang="zh-CN" sz="2000" dirty="0"/>
          </a:p>
          <a:p>
            <a:r>
              <a:rPr kumimoji="1" lang="en-US" altLang="zh-CN" sz="2400" dirty="0"/>
              <a:t>Linux</a:t>
            </a:r>
            <a:r>
              <a:rPr kumimoji="1" lang="zh-CN" altLang="en-US" sz="2400" dirty="0"/>
              <a:t>的</a:t>
            </a:r>
            <a:r>
              <a:rPr kumimoji="1" lang="en-US" altLang="zh-CN" sz="2400" dirty="0"/>
              <a:t>GUI</a:t>
            </a:r>
          </a:p>
          <a:p>
            <a:pPr lvl="1"/>
            <a:r>
              <a:rPr kumimoji="1" lang="zh-CN" altLang="en-US" sz="2000" dirty="0"/>
              <a:t>用户态的</a:t>
            </a:r>
            <a:r>
              <a:rPr kumimoji="1" lang="en-US" altLang="zh-CN" sz="2000" dirty="0"/>
              <a:t>X</a:t>
            </a:r>
            <a:r>
              <a:rPr kumimoji="1" lang="zh-CN" altLang="en-US" sz="2000" dirty="0"/>
              <a:t> </a:t>
            </a:r>
            <a:r>
              <a:rPr kumimoji="1" lang="en-US" altLang="zh-CN" sz="2000" dirty="0"/>
              <a:t>Window</a:t>
            </a:r>
            <a:r>
              <a:rPr kumimoji="1" lang="zh-CN" altLang="en-US" sz="2000" dirty="0"/>
              <a:t>，将图形显示设计成网络协议</a:t>
            </a:r>
            <a:endParaRPr kumimoji="1" lang="en-US" altLang="zh-CN" sz="2000" dirty="0"/>
          </a:p>
          <a:p>
            <a:pPr lvl="1"/>
            <a:r>
              <a:rPr kumimoji="1" lang="zh-CN" altLang="en-US" sz="2000" dirty="0"/>
              <a:t>任意应用的界面均可在任意显示器显示（类比远程桌面）</a:t>
            </a:r>
            <a:endParaRPr kumimoji="1" lang="en-US" altLang="zh-CN" sz="2000" dirty="0"/>
          </a:p>
          <a:p>
            <a:pPr lvl="1"/>
            <a:r>
              <a:rPr kumimoji="1" lang="zh-CN" altLang="en-US" sz="2000" dirty="0"/>
              <a:t>缺点是性能差，尤其是时延过高</a:t>
            </a:r>
            <a:endParaRPr kumimoji="1" lang="en-US" altLang="zh-CN" sz="2000" dirty="0"/>
          </a:p>
          <a:p>
            <a:pPr lvl="1"/>
            <a:endParaRPr kumimoji="1" lang="zh-CN" altLang="en-US" sz="2000" dirty="0"/>
          </a:p>
        </p:txBody>
      </p:sp>
      <p:sp>
        <p:nvSpPr>
          <p:cNvPr id="4" name="灯片编号占位符 3">
            <a:extLst>
              <a:ext uri="{FF2B5EF4-FFF2-40B4-BE49-F238E27FC236}">
                <a16:creationId xmlns:a16="http://schemas.microsoft.com/office/drawing/2014/main" id="{855DAEB7-8C26-274D-ACEC-45FE00B316D2}"/>
              </a:ext>
            </a:extLst>
          </p:cNvPr>
          <p:cNvSpPr>
            <a:spLocks noGrp="1"/>
          </p:cNvSpPr>
          <p:nvPr>
            <p:ph type="sldNum" sz="quarter" idx="12"/>
          </p:nvPr>
        </p:nvSpPr>
        <p:spPr/>
        <p:txBody>
          <a:bodyPr/>
          <a:lstStyle/>
          <a:p>
            <a:fld id="{ADE361C3-C043-4A6E-BDCE-8DA1E7D90A3B}" type="slidenum">
              <a:rPr lang="zh-CN" altLang="en-US" smtClean="0"/>
              <a:t>60</a:t>
            </a:fld>
            <a:endParaRPr lang="zh-CN" altLang="en-US"/>
          </a:p>
        </p:txBody>
      </p:sp>
    </p:spTree>
    <p:extLst>
      <p:ext uri="{BB962C8B-B14F-4D97-AF65-F5344CB8AC3E}">
        <p14:creationId xmlns:p14="http://schemas.microsoft.com/office/powerpoint/2010/main" val="648957472"/>
      </p:ext>
    </p:extLst>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778495"/>
      </a:dk2>
      <a:lt2>
        <a:srgbClr val="F0F0F0"/>
      </a:lt2>
      <a:accent1>
        <a:srgbClr val="BE384B"/>
      </a:accent1>
      <a:accent2>
        <a:srgbClr val="6A868F"/>
      </a:accent2>
      <a:accent3>
        <a:srgbClr val="32788E"/>
      </a:accent3>
      <a:accent4>
        <a:srgbClr val="D6C88B"/>
      </a:accent4>
      <a:accent5>
        <a:srgbClr val="D66E49"/>
      </a:accent5>
      <a:accent6>
        <a:srgbClr val="BFBFBF"/>
      </a:accent6>
      <a:hlink>
        <a:srgbClr val="BE384B"/>
      </a:hlink>
      <a:folHlink>
        <a:srgbClr val="BFBFBF"/>
      </a:folHlink>
    </a:clrScheme>
    <a:fontScheme name="2obzv3wc">
      <a:majorFont>
        <a:latin typeface="Arial" panose="020B0A04020102020204"/>
        <a:ea typeface="微软雅黑"/>
        <a:cs typeface=""/>
      </a:majorFont>
      <a:minorFont>
        <a:latin typeface="Arial" panose="020B0604020202020204"/>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JTU-Red" id="{D8CCD1CF-4E9C-2949-907F-EF4853CAD992}" vid="{47F94616-763E-7D43-9BB0-722503DC19A3}"/>
    </a:ext>
  </a:extLst>
</a:theme>
</file>

<file path=ppt/theme/theme2.xml><?xml version="1.0" encoding="utf-8"?>
<a:theme xmlns:a="http://schemas.openxmlformats.org/drawingml/2006/main" name="1_Office 主题​​">
  <a:themeElements>
    <a:clrScheme name="Office">
      <a:dk1>
        <a:srgbClr val="000000"/>
      </a:dk1>
      <a:lt1>
        <a:srgbClr val="FFFFFF"/>
      </a:lt1>
      <a:dk2>
        <a:srgbClr val="778495"/>
      </a:dk2>
      <a:lt2>
        <a:srgbClr val="F0F0F0"/>
      </a:lt2>
      <a:accent1>
        <a:srgbClr val="BE384B"/>
      </a:accent1>
      <a:accent2>
        <a:srgbClr val="6A868F"/>
      </a:accent2>
      <a:accent3>
        <a:srgbClr val="32788E"/>
      </a:accent3>
      <a:accent4>
        <a:srgbClr val="D6C88B"/>
      </a:accent4>
      <a:accent5>
        <a:srgbClr val="D66E49"/>
      </a:accent5>
      <a:accent6>
        <a:srgbClr val="BFBFBF"/>
      </a:accent6>
      <a:hlink>
        <a:srgbClr val="BE384B"/>
      </a:hlink>
      <a:folHlink>
        <a:srgbClr val="BFBFBF"/>
      </a:folHlink>
    </a:clrScheme>
    <a:fontScheme name="2obzv3wc">
      <a:majorFont>
        <a:latin typeface="Arial" panose="020B0A04020102020204"/>
        <a:ea typeface="微软雅黑"/>
        <a:cs typeface=""/>
      </a:majorFont>
      <a:minorFont>
        <a:latin typeface="Arial" panose="020B0604020202020204"/>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JTU-Red" id="{D8CCD1CF-4E9C-2949-907F-EF4853CAD992}" vid="{47F94616-763E-7D43-9BB0-722503DC19A3}"/>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SJTU-Red</Template>
  <TotalTime>36271</TotalTime>
  <Words>3475</Words>
  <Application>Microsoft Macintosh PowerPoint</Application>
  <PresentationFormat>全屏显示(16:10)</PresentationFormat>
  <Paragraphs>521</Paragraphs>
  <Slides>60</Slides>
  <Notes>7</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60</vt:i4>
      </vt:variant>
    </vt:vector>
  </HeadingPairs>
  <TitlesOfParts>
    <vt:vector size="69" baseType="lpstr">
      <vt:lpstr>等线</vt:lpstr>
      <vt:lpstr>等线</vt:lpstr>
      <vt:lpstr>KaiTi</vt:lpstr>
      <vt:lpstr>微软雅黑</vt:lpstr>
      <vt:lpstr>PingFang SC</vt:lpstr>
      <vt:lpstr>Arial</vt:lpstr>
      <vt:lpstr>Calibri</vt:lpstr>
      <vt:lpstr>Office 主题​​</vt:lpstr>
      <vt:lpstr>1_Office 主题​​</vt:lpstr>
      <vt:lpstr>操作系统架构</vt:lpstr>
      <vt:lpstr>版权声明</vt:lpstr>
      <vt:lpstr>为什么要有操作系统？</vt:lpstr>
      <vt:lpstr>应用与操作系统的解耦</vt:lpstr>
      <vt:lpstr>操作系统的分化</vt:lpstr>
      <vt:lpstr>问题</vt:lpstr>
      <vt:lpstr>问题</vt:lpstr>
      <vt:lpstr>大纲</vt:lpstr>
      <vt:lpstr>结构的重要性</vt:lpstr>
      <vt:lpstr>PowerPoint 演示文稿</vt:lpstr>
      <vt:lpstr>操作系统复杂性与结构</vt:lpstr>
      <vt:lpstr>操作系统的目标并不一致</vt:lpstr>
      <vt:lpstr>降低操作系统复杂性</vt:lpstr>
      <vt:lpstr>操作系统的架构及演进</vt:lpstr>
      <vt:lpstr>宏内核（Monolithic-KerneL）</vt:lpstr>
      <vt:lpstr>宏内核（Monolithic Kernel）</vt:lpstr>
      <vt:lpstr>宏内核的优缺点分析</vt:lpstr>
      <vt:lpstr>宏内核难以满足的场景</vt:lpstr>
      <vt:lpstr>微内核（Micro-Kernel）</vt:lpstr>
      <vt:lpstr>微内核架构</vt:lpstr>
      <vt:lpstr>例：文件的创建</vt:lpstr>
      <vt:lpstr>微内核的历史</vt:lpstr>
      <vt:lpstr>Mach微内核</vt:lpstr>
      <vt:lpstr>Mach实现了哪些功能？</vt:lpstr>
      <vt:lpstr>Mach还实现了哪些功能？</vt:lpstr>
      <vt:lpstr>Mach：用户态与内核态的分工</vt:lpstr>
      <vt:lpstr>L3/L4：极大提升IPC的性能</vt:lpstr>
      <vt:lpstr>seL4：被形式化证明的微内核</vt:lpstr>
      <vt:lpstr>seL4：被形式化证明的微内核</vt:lpstr>
      <vt:lpstr>QNX Neutrino</vt:lpstr>
      <vt:lpstr>Google Fuchsia</vt:lpstr>
      <vt:lpstr>MINIX</vt:lpstr>
      <vt:lpstr>微内核的优缺点分析</vt:lpstr>
      <vt:lpstr>微内核的优缺点分析</vt:lpstr>
      <vt:lpstr>混合内核架构</vt:lpstr>
      <vt:lpstr>Windows NT</vt:lpstr>
      <vt:lpstr>macOS</vt:lpstr>
      <vt:lpstr>外核+库OS（Exokernel + LibOS）</vt:lpstr>
      <vt:lpstr>外核架构（Exokernel）</vt:lpstr>
      <vt:lpstr>Exokernel + LibOS</vt:lpstr>
      <vt:lpstr>Exokernel架构的设计</vt:lpstr>
      <vt:lpstr>安全绑定</vt:lpstr>
      <vt:lpstr>显式资源回收与中止协议</vt:lpstr>
      <vt:lpstr>例：Exokernel对磁盘的管理</vt:lpstr>
      <vt:lpstr>Exokernel的性能提升</vt:lpstr>
      <vt:lpstr>Unikernel（单内核）</vt:lpstr>
      <vt:lpstr>Unikernel的部分开源项目</vt:lpstr>
      <vt:lpstr>Linux as a LibOS?</vt:lpstr>
      <vt:lpstr>Exokernel架构的优缺点分析</vt:lpstr>
      <vt:lpstr>Exokernel架构的优缺点分析</vt:lpstr>
      <vt:lpstr>多内核/复内核（Multi-Kernel）</vt:lpstr>
      <vt:lpstr>多内核/复内核（Multikernel）</vt:lpstr>
      <vt:lpstr>Multikernel的设计</vt:lpstr>
      <vt:lpstr>Barrelfish Multikernel</vt:lpstr>
      <vt:lpstr>Barrelfish Structure</vt:lpstr>
      <vt:lpstr>Popcorn Linux</vt:lpstr>
      <vt:lpstr>小结</vt:lpstr>
      <vt:lpstr>不同操作系统架构的对比</vt:lpstr>
      <vt:lpstr>操作系统的两种演化</vt:lpstr>
      <vt:lpstr>例：图形界面是在用户态还是内核态？</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虚拟机隔离与安全</dc:title>
  <dc:creator>Xia Yubin</dc:creator>
  <cp:lastModifiedBy>Xia Yubin</cp:lastModifiedBy>
  <cp:revision>1142</cp:revision>
  <cp:lastPrinted>2020-03-02T13:38:09Z</cp:lastPrinted>
  <dcterms:created xsi:type="dcterms:W3CDTF">2017-11-24T09:35:45Z</dcterms:created>
  <dcterms:modified xsi:type="dcterms:W3CDTF">2024-06-14T15:18:12Z</dcterms:modified>
</cp:coreProperties>
</file>