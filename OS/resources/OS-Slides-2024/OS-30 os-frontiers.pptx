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3"/>
  </p:notesMasterIdLst>
  <p:handoutMasterIdLst>
    <p:handoutMasterId r:id="rId84"/>
  </p:handoutMasterIdLst>
  <p:sldIdLst>
    <p:sldId id="1306" r:id="rId2"/>
    <p:sldId id="1359" r:id="rId3"/>
    <p:sldId id="2852" r:id="rId4"/>
    <p:sldId id="2854" r:id="rId5"/>
    <p:sldId id="1383" r:id="rId6"/>
    <p:sldId id="2899" r:id="rId7"/>
    <p:sldId id="1381" r:id="rId8"/>
    <p:sldId id="1380" r:id="rId9"/>
    <p:sldId id="1375" r:id="rId10"/>
    <p:sldId id="2859" r:id="rId11"/>
    <p:sldId id="2864" r:id="rId12"/>
    <p:sldId id="2862" r:id="rId13"/>
    <p:sldId id="2863" r:id="rId14"/>
    <p:sldId id="2773" r:id="rId15"/>
    <p:sldId id="2778" r:id="rId16"/>
    <p:sldId id="2783" r:id="rId17"/>
    <p:sldId id="2784" r:id="rId18"/>
    <p:sldId id="2785" r:id="rId19"/>
    <p:sldId id="1384" r:id="rId20"/>
    <p:sldId id="2850" r:id="rId21"/>
    <p:sldId id="1360" r:id="rId22"/>
    <p:sldId id="1361" r:id="rId23"/>
    <p:sldId id="2880" r:id="rId24"/>
    <p:sldId id="1368" r:id="rId25"/>
    <p:sldId id="1369" r:id="rId26"/>
    <p:sldId id="2881" r:id="rId27"/>
    <p:sldId id="1370" r:id="rId28"/>
    <p:sldId id="2882" r:id="rId29"/>
    <p:sldId id="2871" r:id="rId30"/>
    <p:sldId id="2875" r:id="rId31"/>
    <p:sldId id="2851" r:id="rId32"/>
    <p:sldId id="1465" r:id="rId33"/>
    <p:sldId id="1392" r:id="rId34"/>
    <p:sldId id="1393" r:id="rId35"/>
    <p:sldId id="1394" r:id="rId36"/>
    <p:sldId id="1395" r:id="rId37"/>
    <p:sldId id="1396" r:id="rId38"/>
    <p:sldId id="1397" r:id="rId39"/>
    <p:sldId id="1376" r:id="rId40"/>
    <p:sldId id="1399" r:id="rId41"/>
    <p:sldId id="1398" r:id="rId42"/>
    <p:sldId id="1400" r:id="rId43"/>
    <p:sldId id="2867" r:id="rId44"/>
    <p:sldId id="2501" r:id="rId45"/>
    <p:sldId id="2510" r:id="rId46"/>
    <p:sldId id="1509" r:id="rId47"/>
    <p:sldId id="1500" r:id="rId48"/>
    <p:sldId id="1510" r:id="rId49"/>
    <p:sldId id="2528" r:id="rId50"/>
    <p:sldId id="2529" r:id="rId51"/>
    <p:sldId id="2531" r:id="rId52"/>
    <p:sldId id="2532" r:id="rId53"/>
    <p:sldId id="2533" r:id="rId54"/>
    <p:sldId id="2534" r:id="rId55"/>
    <p:sldId id="2535" r:id="rId56"/>
    <p:sldId id="2786" r:id="rId57"/>
    <p:sldId id="1466" r:id="rId58"/>
    <p:sldId id="2898" r:id="rId59"/>
    <p:sldId id="1469" r:id="rId60"/>
    <p:sldId id="2787" r:id="rId61"/>
    <p:sldId id="2838" r:id="rId62"/>
    <p:sldId id="2842" r:id="rId63"/>
    <p:sldId id="2843" r:id="rId64"/>
    <p:sldId id="2876" r:id="rId65"/>
    <p:sldId id="2844" r:id="rId66"/>
    <p:sldId id="2877" r:id="rId67"/>
    <p:sldId id="2879" r:id="rId68"/>
    <p:sldId id="1371" r:id="rId69"/>
    <p:sldId id="260" r:id="rId70"/>
    <p:sldId id="1373" r:id="rId71"/>
    <p:sldId id="1372" r:id="rId72"/>
    <p:sldId id="1379" r:id="rId73"/>
    <p:sldId id="3044" r:id="rId74"/>
    <p:sldId id="2878" r:id="rId75"/>
    <p:sldId id="2902" r:id="rId76"/>
    <p:sldId id="2901" r:id="rId77"/>
    <p:sldId id="2903" r:id="rId78"/>
    <p:sldId id="2904" r:id="rId79"/>
    <p:sldId id="2906" r:id="rId80"/>
    <p:sldId id="2905" r:id="rId81"/>
    <p:sldId id="2853" r:id="rId82"/>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80" userDrawn="1">
          <p15:clr>
            <a:srgbClr val="A4A3A4"/>
          </p15:clr>
        </p15:guide>
        <p15:guide id="2" pos="295" userDrawn="1">
          <p15:clr>
            <a:srgbClr val="A4A3A4"/>
          </p15:clr>
        </p15:guide>
        <p15:guide id="3" pos="179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FB92"/>
    <a:srgbClr val="941100"/>
    <a:srgbClr val="212121"/>
    <a:srgbClr val="005493"/>
    <a:srgbClr val="FF2F92"/>
    <a:srgbClr val="9437FF"/>
    <a:srgbClr val="73FEFF"/>
    <a:srgbClr val="ED3C64"/>
    <a:srgbClr val="FF9300"/>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43" autoAdjust="0"/>
    <p:restoredTop sz="87211" autoAdjust="0"/>
  </p:normalViewPr>
  <p:slideViewPr>
    <p:cSldViewPr>
      <p:cViewPr varScale="1">
        <p:scale>
          <a:sx n="128" d="100"/>
          <a:sy n="128" d="100"/>
        </p:scale>
        <p:origin x="968" y="168"/>
      </p:cViewPr>
      <p:guideLst>
        <p:guide orient="horz" pos="2480"/>
        <p:guide pos="295"/>
        <p:guide pos="1791"/>
      </p:guideLst>
    </p:cSldViewPr>
  </p:slideViewPr>
  <p:outlineViewPr>
    <p:cViewPr>
      <p:scale>
        <a:sx n="33" d="100"/>
        <a:sy n="33" d="100"/>
      </p:scale>
      <p:origin x="0" y="-8608"/>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96" d="100"/>
          <a:sy n="96" d="100"/>
        </p:scale>
        <p:origin x="3048" y="16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solidFill>
                <a:latin typeface="微软雅黑" panose="020B0503020204020204" pitchFamily="34" charset="-122"/>
                <a:ea typeface="微软雅黑" panose="020B0503020204020204" pitchFamily="34" charset="-122"/>
                <a:cs typeface="+mn-cs"/>
              </a:defRPr>
            </a:pPr>
            <a:r>
              <a:rPr lang="zh-CN" altLang="en-US" sz="1800" b="1" dirty="0">
                <a:solidFill>
                  <a:schemeClr val="tx1"/>
                </a:solidFill>
                <a:latin typeface="微软雅黑" panose="020B0503020204020204" pitchFamily="34" charset="-122"/>
                <a:ea typeface="微软雅黑" panose="020B0503020204020204" pitchFamily="34" charset="-122"/>
              </a:rPr>
              <a:t>网络计算应用时延需求</a:t>
            </a:r>
            <a:endParaRPr lang="en-US" altLang="zh-CN" sz="1800" b="1" dirty="0">
              <a:solidFill>
                <a:schemeClr val="tx1"/>
              </a:solidFill>
              <a:latin typeface="微软雅黑" panose="020B0503020204020204" pitchFamily="34" charset="-122"/>
              <a:ea typeface="微软雅黑" panose="020B0503020204020204" pitchFamily="34" charset="-122"/>
            </a:endParaRPr>
          </a:p>
        </c:rich>
      </c:tx>
      <c:layout>
        <c:manualLayout>
          <c:xMode val="edge"/>
          <c:yMode val="edge"/>
          <c:x val="0.419414804362928"/>
          <c:y val="0.56799418498278098"/>
        </c:manualLayout>
      </c:layout>
      <c:overlay val="0"/>
      <c:spPr>
        <a:solidFill>
          <a:schemeClr val="bg1"/>
        </a:solidFill>
        <a:ln>
          <a:noFill/>
        </a:ln>
        <a:effectLst/>
      </c:spPr>
      <c:txPr>
        <a:bodyPr rot="0" spcFirstLastPara="1" vertOverflow="ellipsis" vert="horz" wrap="square" anchor="ctr" anchorCtr="1"/>
        <a:lstStyle/>
        <a:p>
          <a:pPr>
            <a:defRPr sz="1862" b="1" i="0" u="none" strike="noStrike" kern="1200" spc="0" baseline="0">
              <a:solidFill>
                <a:schemeClr val="tx1"/>
              </a:solidFill>
              <a:latin typeface="微软雅黑" panose="020B0503020204020204" pitchFamily="34" charset="-122"/>
              <a:ea typeface="微软雅黑" panose="020B0503020204020204" pitchFamily="34" charset="-122"/>
              <a:cs typeface="+mn-cs"/>
            </a:defRPr>
          </a:pPr>
          <a:endParaRPr lang="zh-CN"/>
        </a:p>
      </c:txPr>
    </c:title>
    <c:autoTitleDeleted val="0"/>
    <c:plotArea>
      <c:layout>
        <c:manualLayout>
          <c:layoutTarget val="inner"/>
          <c:xMode val="edge"/>
          <c:yMode val="edge"/>
          <c:x val="0.31322612455007198"/>
          <c:y val="0.25166726055217697"/>
          <c:w val="0.60940644737967697"/>
          <c:h val="0.58886338101941904"/>
        </c:manualLayout>
      </c:layout>
      <c:barChart>
        <c:barDir val="bar"/>
        <c:grouping val="clustered"/>
        <c:varyColors val="0"/>
        <c:ser>
          <c:idx val="0"/>
          <c:order val="0"/>
          <c:tx>
            <c:strRef>
              <c:f>Sheet1!$B$1</c:f>
              <c:strCache>
                <c:ptCount val="1"/>
                <c:pt idx="0">
                  <c:v>延迟要求(毫秒)_x000d_</c:v>
                </c:pt>
              </c:strCache>
            </c:strRef>
          </c:tx>
          <c:spPr>
            <a:solidFill>
              <a:srgbClr val="FF0066"/>
            </a:solidFill>
            <a:ln w="31750">
              <a:noFill/>
            </a:ln>
            <a:effectLst/>
          </c:spPr>
          <c:invertIfNegative val="0"/>
          <c:cat>
            <c:strRef>
              <c:f>Sheet1!$A$2:$A$7</c:f>
              <c:strCache>
                <c:ptCount val="6"/>
                <c:pt idx="0">
                  <c:v>增强虚拟现实</c:v>
                </c:pt>
                <c:pt idx="1">
                  <c:v>高频交易</c:v>
                </c:pt>
                <c:pt idx="2">
                  <c:v>股票交易</c:v>
                </c:pt>
                <c:pt idx="3">
                  <c:v>在线游戏</c:v>
                </c:pt>
                <c:pt idx="4">
                  <c:v>电子商务</c:v>
                </c:pt>
                <c:pt idx="5">
                  <c:v>实时音/视频</c:v>
                </c:pt>
              </c:strCache>
            </c:strRef>
          </c:cat>
          <c:val>
            <c:numRef>
              <c:f>Sheet1!$B$2:$B$7</c:f>
              <c:numCache>
                <c:formatCode>0.00</c:formatCode>
                <c:ptCount val="6"/>
                <c:pt idx="0" formatCode="General">
                  <c:v>1</c:v>
                </c:pt>
                <c:pt idx="1">
                  <c:v>5</c:v>
                </c:pt>
                <c:pt idx="2">
                  <c:v>10</c:v>
                </c:pt>
                <c:pt idx="3" formatCode="General">
                  <c:v>50</c:v>
                </c:pt>
                <c:pt idx="4" formatCode="General">
                  <c:v>100</c:v>
                </c:pt>
                <c:pt idx="5" formatCode="General">
                  <c:v>170</c:v>
                </c:pt>
              </c:numCache>
            </c:numRef>
          </c:val>
          <c:extLst>
            <c:ext xmlns:c16="http://schemas.microsoft.com/office/drawing/2014/chart" uri="{C3380CC4-5D6E-409C-BE32-E72D297353CC}">
              <c16:uniqueId val="{00000000-831D-CA4C-A996-C53F2C55C7BE}"/>
            </c:ext>
          </c:extLst>
        </c:ser>
        <c:dLbls>
          <c:showLegendKey val="0"/>
          <c:showVal val="0"/>
          <c:showCatName val="0"/>
          <c:showSerName val="0"/>
          <c:showPercent val="0"/>
          <c:showBubbleSize val="0"/>
        </c:dLbls>
        <c:gapWidth val="150"/>
        <c:axId val="621563936"/>
        <c:axId val="621564496"/>
      </c:barChart>
      <c:catAx>
        <c:axId val="621563936"/>
        <c:scaling>
          <c:orientation val="minMax"/>
        </c:scaling>
        <c:delete val="0"/>
        <c:axPos val="l"/>
        <c:numFmt formatCode="General" sourceLinked="1"/>
        <c:majorTickMark val="none"/>
        <c:minorTickMark val="none"/>
        <c:tickLblPos val="nextTo"/>
        <c:spPr>
          <a:noFill/>
          <a:ln w="12700" cap="flat" cmpd="sng" algn="ctr">
            <a:solidFill>
              <a:schemeClr val="tx1"/>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微软雅黑" panose="020B0503020204020204" pitchFamily="34" charset="-122"/>
                <a:ea typeface="微软雅黑" panose="020B0503020204020204" pitchFamily="34" charset="-122"/>
                <a:cs typeface="+mn-cs"/>
              </a:defRPr>
            </a:pPr>
            <a:endParaRPr lang="zh-CN"/>
          </a:p>
        </c:txPr>
        <c:crossAx val="621564496"/>
        <c:crosses val="autoZero"/>
        <c:auto val="1"/>
        <c:lblAlgn val="ctr"/>
        <c:lblOffset val="100"/>
        <c:noMultiLvlLbl val="0"/>
      </c:catAx>
      <c:valAx>
        <c:axId val="621564496"/>
        <c:scaling>
          <c:orientation val="minMax"/>
        </c:scaling>
        <c:delete val="0"/>
        <c:axPos val="b"/>
        <c:majorGridlines>
          <c:spPr>
            <a:ln w="9525" cap="flat" cmpd="sng" algn="ctr">
              <a:solidFill>
                <a:schemeClr val="bg1">
                  <a:lumMod val="50000"/>
                </a:schemeClr>
              </a:solidFill>
              <a:prstDash val="dash"/>
              <a:round/>
            </a:ln>
            <a:effectLst/>
          </c:spPr>
        </c:majorGridlines>
        <c:numFmt formatCode="General" sourceLinked="0"/>
        <c:majorTickMark val="in"/>
        <c:minorTickMark val="none"/>
        <c:tickLblPos val="nextTo"/>
        <c:spPr>
          <a:noFill/>
          <a:ln w="12700"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rgbClr val="FF0066"/>
                </a:solidFill>
                <a:latin typeface="+mn-lt"/>
                <a:ea typeface="+mn-ea"/>
                <a:cs typeface="+mn-cs"/>
              </a:defRPr>
            </a:pPr>
            <a:endParaRPr lang="zh-CN"/>
          </a:p>
        </c:txPr>
        <c:crossAx val="621563936"/>
        <c:crosses val="autoZero"/>
        <c:crossBetween val="between"/>
        <c:majorUnit val="50"/>
      </c:valAx>
      <c:spPr>
        <a:noFill/>
        <a:ln w="12700">
          <a:solidFill>
            <a:schemeClr val="tx1"/>
          </a:solid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2024/6/14</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2024/6/14</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129901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3A84A077-83E9-49A7-9F59-234D78BD6949}" type="slidenum">
              <a:rPr lang="zh-CN" altLang="en-US" smtClean="0"/>
              <a:t>2</a:t>
            </a:fld>
            <a:endParaRPr lang="zh-CN" altLang="en-US"/>
          </a:p>
        </p:txBody>
      </p:sp>
    </p:spTree>
    <p:extLst>
      <p:ext uri="{BB962C8B-B14F-4D97-AF65-F5344CB8AC3E}">
        <p14:creationId xmlns:p14="http://schemas.microsoft.com/office/powerpoint/2010/main" val="2838106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a:t>
            </a:fld>
            <a:endParaRPr lang="zh-CN" altLang="en-US"/>
          </a:p>
        </p:txBody>
      </p:sp>
    </p:spTree>
    <p:extLst>
      <p:ext uri="{BB962C8B-B14F-4D97-AF65-F5344CB8AC3E}">
        <p14:creationId xmlns:p14="http://schemas.microsoft.com/office/powerpoint/2010/main" val="1262126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a:t>
            </a:fld>
            <a:endParaRPr lang="zh-CN" altLang="en-US"/>
          </a:p>
        </p:txBody>
      </p:sp>
    </p:spTree>
    <p:extLst>
      <p:ext uri="{BB962C8B-B14F-4D97-AF65-F5344CB8AC3E}">
        <p14:creationId xmlns:p14="http://schemas.microsoft.com/office/powerpoint/2010/main" val="1826253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3A84A077-83E9-49A7-9F59-234D78BD6949}" type="slidenum">
              <a:rPr lang="zh-CN" altLang="en-US" smtClean="0"/>
              <a:t>5</a:t>
            </a:fld>
            <a:endParaRPr lang="zh-CN" altLang="en-US"/>
          </a:p>
        </p:txBody>
      </p:sp>
    </p:spTree>
    <p:extLst>
      <p:ext uri="{BB962C8B-B14F-4D97-AF65-F5344CB8AC3E}">
        <p14:creationId xmlns:p14="http://schemas.microsoft.com/office/powerpoint/2010/main" val="260465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背景：异构硬件是架构演变的一个趋势</a:t>
            </a:r>
            <a:endParaRPr kumimoji="1" lang="en-US" altLang="zh-CN" dirty="0"/>
          </a:p>
          <a:p>
            <a:r>
              <a:rPr kumimoji="1" lang="zh-CN" altLang="en-US" dirty="0"/>
              <a:t>有哪些异构？</a:t>
            </a:r>
            <a:endParaRPr kumimoji="1" lang="en-US" altLang="zh-CN" dirty="0"/>
          </a:p>
          <a:p>
            <a:endParaRPr kumimoji="1" lang="en-US" altLang="zh-CN" dirty="0"/>
          </a:p>
          <a:p>
            <a:r>
              <a:rPr kumimoji="1" lang="en-US" altLang="zh-CN" dirty="0"/>
              <a:t>PIM</a:t>
            </a:r>
            <a:r>
              <a:rPr kumimoji="1" lang="zh-CN" altLang="en-US" dirty="0"/>
              <a:t>（带有计算能力的</a:t>
            </a:r>
            <a:r>
              <a:rPr kumimoji="1" lang="en-US" altLang="zh-CN" dirty="0"/>
              <a:t>memory</a:t>
            </a:r>
            <a:r>
              <a:rPr kumimoji="1" lang="zh-CN" altLang="en-US" dirty="0"/>
              <a:t>）</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6</a:t>
            </a:fld>
            <a:endParaRPr lang="zh-CN" altLang="en-US"/>
          </a:p>
        </p:txBody>
      </p:sp>
    </p:spTree>
    <p:extLst>
      <p:ext uri="{BB962C8B-B14F-4D97-AF65-F5344CB8AC3E}">
        <p14:creationId xmlns:p14="http://schemas.microsoft.com/office/powerpoint/2010/main" val="1920108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为什么需要异构？</a:t>
            </a:r>
            <a:endParaRPr kumimoji="1"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latin typeface="+mn-lt"/>
              </a:rPr>
              <a:t>摩尔定律不一定再成立 </a:t>
            </a:r>
            <a:r>
              <a:rPr kumimoji="1" lang="en-US" altLang="zh-CN" sz="1200" dirty="0">
                <a:latin typeface="+mn-lt"/>
              </a:rPr>
              <a:t>→</a:t>
            </a:r>
            <a:r>
              <a:rPr kumimoji="1" lang="zh-CN" altLang="en-US" sz="1200" dirty="0">
                <a:latin typeface="+mn-lt"/>
              </a:rPr>
              <a:t> </a:t>
            </a:r>
            <a:r>
              <a:rPr kumimoji="1" lang="en-US" altLang="zh-CN" sz="1200" dirty="0">
                <a:latin typeface="+mn-lt"/>
              </a:rPr>
              <a:t>CPU</a:t>
            </a:r>
            <a:r>
              <a:rPr kumimoji="1" lang="zh-CN" altLang="en-US" sz="1200" dirty="0">
                <a:latin typeface="+mn-lt"/>
              </a:rPr>
              <a:t>核的计算能力受限</a:t>
            </a:r>
            <a:endParaRPr kumimoji="1" lang="en-US" altLang="zh-CN" dirty="0"/>
          </a:p>
          <a:p>
            <a:r>
              <a:rPr kumimoji="1" lang="en-US" altLang="zh-CN" dirty="0"/>
              <a:t>DRAM</a:t>
            </a:r>
            <a:r>
              <a:rPr kumimoji="1" lang="zh-CN" altLang="en-US" dirty="0"/>
              <a:t>和</a:t>
            </a:r>
            <a:r>
              <a:rPr kumimoji="1" lang="en-US" altLang="zh-CN" dirty="0"/>
              <a:t>NVM</a:t>
            </a:r>
            <a:r>
              <a:rPr kumimoji="1" lang="zh-CN" altLang="en-US" dirty="0"/>
              <a:t>存在性能</a:t>
            </a:r>
            <a:r>
              <a:rPr kumimoji="1" lang="en-US" altLang="zh-CN" dirty="0"/>
              <a:t>/</a:t>
            </a:r>
            <a:r>
              <a:rPr kumimoji="1" lang="zh-CN" altLang="en-US" dirty="0"/>
              <a:t>容量的</a:t>
            </a:r>
            <a:r>
              <a:rPr kumimoji="1" lang="en-US" altLang="zh-CN" dirty="0"/>
              <a:t>trade-off</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7</a:t>
            </a:fld>
            <a:endParaRPr lang="zh-CN" altLang="en-US"/>
          </a:p>
        </p:txBody>
      </p:sp>
    </p:spTree>
    <p:extLst>
      <p:ext uri="{BB962C8B-B14F-4D97-AF65-F5344CB8AC3E}">
        <p14:creationId xmlns:p14="http://schemas.microsoft.com/office/powerpoint/2010/main" val="1059712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问题（挑战）</a:t>
            </a:r>
            <a:r>
              <a:rPr kumimoji="1" lang="en-US" altLang="zh-CN" dirty="0"/>
              <a:t>1</a:t>
            </a:r>
            <a:r>
              <a:rPr kumimoji="1" lang="zh-CN" altLang="en-US" dirty="0"/>
              <a:t>：需要支持异构</a:t>
            </a:r>
            <a:r>
              <a:rPr kumimoji="1" lang="en-US" altLang="zh-CN" dirty="0"/>
              <a:t>ISA</a:t>
            </a:r>
            <a:r>
              <a:rPr kumimoji="1" lang="zh-CN" altLang="en-US" dirty="0"/>
              <a:t>。</a:t>
            </a:r>
            <a:endParaRPr kumimoji="1" lang="en-US" altLang="zh-CN" dirty="0"/>
          </a:p>
          <a:p>
            <a:r>
              <a:rPr kumimoji="1" lang="en-US" altLang="zh-CN" dirty="0"/>
              <a:t>OS</a:t>
            </a:r>
            <a:r>
              <a:rPr kumimoji="1" lang="zh-CN" altLang="en-US" dirty="0"/>
              <a:t>的编译中会生成特定的架构的代码（一旦编译完成），怎么支持其他平台呢？</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8</a:t>
            </a:fld>
            <a:endParaRPr lang="zh-CN" altLang="en-US"/>
          </a:p>
        </p:txBody>
      </p:sp>
    </p:spTree>
    <p:extLst>
      <p:ext uri="{BB962C8B-B14F-4D97-AF65-F5344CB8AC3E}">
        <p14:creationId xmlns:p14="http://schemas.microsoft.com/office/powerpoint/2010/main" val="3513569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HeliOS</a:t>
            </a:r>
            <a:r>
              <a:rPr kumimoji="1" lang="zh-CN" altLang="en-US" dirty="0"/>
              <a:t>将分发的代码从</a:t>
            </a:r>
            <a:r>
              <a:rPr kumimoji="1" lang="en-US" altLang="zh-CN" dirty="0"/>
              <a:t>binary</a:t>
            </a:r>
            <a:r>
              <a:rPr kumimoji="1" lang="zh-CN" altLang="en-US" dirty="0"/>
              <a:t>变成一个</a:t>
            </a:r>
            <a:r>
              <a:rPr kumimoji="1" lang="en-US" altLang="zh-CN" dirty="0"/>
              <a:t>IR</a:t>
            </a:r>
            <a:r>
              <a:rPr kumimoji="1" lang="zh-CN" altLang="en-US" dirty="0"/>
              <a:t>表示，在真正部署具体的节点时再完成</a:t>
            </a:r>
            <a:r>
              <a:rPr kumimoji="1" lang="en-US" altLang="zh-CN" dirty="0"/>
              <a:t>IR</a:t>
            </a:r>
            <a:r>
              <a:rPr kumimoji="1" lang="zh-CN" altLang="en-US" dirty="0"/>
              <a:t>到</a:t>
            </a:r>
            <a:r>
              <a:rPr kumimoji="1" lang="en-US" altLang="zh-CN" dirty="0"/>
              <a:t>binary</a:t>
            </a:r>
            <a:r>
              <a:rPr kumimoji="1" lang="zh-CN" altLang="en-US" dirty="0"/>
              <a:t>的生成，从而来解决需要支持多个</a:t>
            </a:r>
            <a:r>
              <a:rPr kumimoji="1" lang="en-US" altLang="zh-CN" dirty="0"/>
              <a:t>ISA</a:t>
            </a:r>
            <a:r>
              <a:rPr kumimoji="1" lang="zh-CN" altLang="en-US" dirty="0"/>
              <a:t>的问题。</a:t>
            </a:r>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9</a:t>
            </a:fld>
            <a:endParaRPr lang="zh-CN" altLang="en-US"/>
          </a:p>
        </p:txBody>
      </p:sp>
    </p:spTree>
    <p:extLst>
      <p:ext uri="{BB962C8B-B14F-4D97-AF65-F5344CB8AC3E}">
        <p14:creationId xmlns:p14="http://schemas.microsoft.com/office/powerpoint/2010/main" val="3467107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问题（挑战）</a:t>
            </a:r>
            <a:r>
              <a:rPr kumimoji="1" lang="en-US" altLang="zh-CN" dirty="0"/>
              <a:t>2</a:t>
            </a:r>
            <a:r>
              <a:rPr kumimoji="1" lang="zh-CN" altLang="en-US" dirty="0"/>
              <a:t>：异构下的通信问题</a:t>
            </a:r>
            <a:endParaRPr kumimoji="1" lang="en-US" altLang="zh-CN" dirty="0"/>
          </a:p>
          <a:p>
            <a:r>
              <a:rPr kumimoji="1" lang="zh-CN" altLang="en-US" dirty="0"/>
              <a:t>没有共享内存和缓存一致性。</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10</a:t>
            </a:fld>
            <a:endParaRPr lang="zh-CN" altLang="en-US"/>
          </a:p>
        </p:txBody>
      </p:sp>
    </p:spTree>
    <p:extLst>
      <p:ext uri="{BB962C8B-B14F-4D97-AF65-F5344CB8AC3E}">
        <p14:creationId xmlns:p14="http://schemas.microsoft.com/office/powerpoint/2010/main" val="3142403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不同的应用需要不同的硬件资源：</a:t>
            </a:r>
            <a:r>
              <a:rPr kumimoji="1" lang="en-US" altLang="zh-CN" dirty="0"/>
              <a:t>CPU</a:t>
            </a:r>
            <a:r>
              <a:rPr kumimoji="1" lang="zh-CN" altLang="en-US" dirty="0"/>
              <a:t>个数、</a:t>
            </a:r>
            <a:r>
              <a:rPr kumimoji="1" lang="en-US" altLang="zh-CN" dirty="0"/>
              <a:t>memory</a:t>
            </a:r>
            <a:r>
              <a:rPr kumimoji="1" lang="zh-CN" altLang="en-US" dirty="0"/>
              <a:t>大小和类型、存储类型、是否要用其他加速器。</a:t>
            </a:r>
            <a:endParaRPr kumimoji="1" lang="en-US" altLang="zh-CN" dirty="0"/>
          </a:p>
          <a:p>
            <a:r>
              <a:rPr kumimoji="1" lang="en-US" altLang="zh-CN" dirty="0" err="1"/>
              <a:t>Splitkernel</a:t>
            </a:r>
            <a:r>
              <a:rPr kumimoji="1" lang="zh-CN" altLang="en-US" dirty="0"/>
              <a:t>通过在每个设备上增加一个</a:t>
            </a:r>
            <a:r>
              <a:rPr kumimoji="1" lang="en-US" altLang="zh-CN" dirty="0"/>
              <a:t>monitor</a:t>
            </a:r>
            <a:r>
              <a:rPr kumimoji="1" lang="zh-CN" altLang="en-US" dirty="0"/>
              <a:t>，支持通过网络动态拼接处一个异构分布式的</a:t>
            </a:r>
            <a:r>
              <a:rPr kumimoji="1" lang="en-US" altLang="zh-CN" dirty="0"/>
              <a:t>OS</a:t>
            </a:r>
            <a:r>
              <a:rPr kumimoji="1" lang="zh-CN" altLang="en-US" dirty="0"/>
              <a:t>。</a:t>
            </a:r>
            <a:endParaRPr kumimoji="1" lang="en-US" altLang="zh-CN" dirty="0"/>
          </a:p>
          <a:p>
            <a:r>
              <a:rPr kumimoji="1" lang="zh-CN" altLang="en-US" dirty="0"/>
              <a:t>不同的</a:t>
            </a:r>
            <a:r>
              <a:rPr kumimoji="1" lang="en-US" altLang="zh-CN" dirty="0"/>
              <a:t>monitor</a:t>
            </a:r>
            <a:r>
              <a:rPr kumimoji="1" lang="zh-CN" altLang="en-US" dirty="0"/>
              <a:t>负责</a:t>
            </a:r>
            <a:r>
              <a:rPr kumimoji="1" lang="en-US" altLang="zh-CN" dirty="0"/>
              <a:t>OS</a:t>
            </a:r>
            <a:r>
              <a:rPr kumimoji="1" lang="zh-CN" altLang="en-US" dirty="0"/>
              <a:t>中的不同功能，</a:t>
            </a:r>
            <a:r>
              <a:rPr kumimoji="1" lang="en-US" altLang="zh-CN" dirty="0"/>
              <a:t>monitor</a:t>
            </a:r>
            <a:r>
              <a:rPr kumimoji="1" lang="zh-CN" altLang="en-US" dirty="0"/>
              <a:t>和</a:t>
            </a:r>
            <a:r>
              <a:rPr kumimoji="1" lang="en-US" altLang="zh-CN" dirty="0"/>
              <a:t>monitor</a:t>
            </a:r>
            <a:r>
              <a:rPr kumimoji="1" lang="zh-CN" altLang="en-US" dirty="0"/>
              <a:t>之间通过快速网络如</a:t>
            </a:r>
            <a:r>
              <a:rPr kumimoji="1" lang="en-US" altLang="zh-CN" dirty="0"/>
              <a:t>RDMA</a:t>
            </a:r>
            <a:r>
              <a:rPr kumimoji="1" lang="zh-CN" altLang="en-US" dirty="0"/>
              <a:t>进行通信。</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11</a:t>
            </a:fld>
            <a:endParaRPr lang="zh-CN" altLang="en-US"/>
          </a:p>
        </p:txBody>
      </p:sp>
    </p:spTree>
    <p:extLst>
      <p:ext uri="{BB962C8B-B14F-4D97-AF65-F5344CB8AC3E}">
        <p14:creationId xmlns:p14="http://schemas.microsoft.com/office/powerpoint/2010/main" val="1166970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问题（挑战）：</a:t>
            </a:r>
            <a:endParaRPr kumimoji="1" lang="en-US" altLang="zh-CN" dirty="0"/>
          </a:p>
          <a:p>
            <a:r>
              <a:rPr kumimoji="1" lang="en-US" altLang="zh-CN" dirty="0"/>
              <a:t>CPU</a:t>
            </a:r>
            <a:r>
              <a:rPr kumimoji="1" lang="zh-CN" altLang="en-US" dirty="0"/>
              <a:t>为中心的设计</a:t>
            </a:r>
            <a:r>
              <a:rPr kumimoji="1" lang="en-US" altLang="zh-CN" dirty="0"/>
              <a:t>:CPU</a:t>
            </a:r>
            <a:r>
              <a:rPr kumimoji="1" lang="zh-CN" altLang="en-US" dirty="0"/>
              <a:t>发起</a:t>
            </a:r>
            <a:r>
              <a:rPr kumimoji="1" lang="en-US" altLang="zh-CN" dirty="0"/>
              <a:t>IO</a:t>
            </a:r>
            <a:r>
              <a:rPr kumimoji="1" lang="zh-CN" altLang="en-US" dirty="0"/>
              <a:t>操作，数据拷贝到</a:t>
            </a:r>
            <a:r>
              <a:rPr kumimoji="1" lang="en-US" altLang="zh-CN" dirty="0"/>
              <a:t>CPU</a:t>
            </a:r>
            <a:r>
              <a:rPr kumimoji="1" lang="zh-CN" altLang="en-US" dirty="0"/>
              <a:t>上，然后</a:t>
            </a:r>
            <a:r>
              <a:rPr kumimoji="1" lang="en-US" altLang="zh-CN" dirty="0"/>
              <a:t>CPU</a:t>
            </a:r>
            <a:r>
              <a:rPr kumimoji="1" lang="zh-CN" altLang="en-US" dirty="0"/>
              <a:t>再</a:t>
            </a:r>
            <a:r>
              <a:rPr kumimoji="1" lang="en-US" altLang="zh-CN" dirty="0"/>
              <a:t>DMA</a:t>
            </a:r>
            <a:r>
              <a:rPr kumimoji="1" lang="zh-CN" altLang="en-US" dirty="0"/>
              <a:t>到加速器 </a:t>
            </a:r>
            <a:r>
              <a:rPr kumimoji="1" lang="en-US" altLang="zh-CN" dirty="0"/>
              <a:t>→</a:t>
            </a:r>
            <a:r>
              <a:rPr kumimoji="1" lang="zh-CN" altLang="en-US" dirty="0"/>
              <a:t> 两次拷贝，慢</a:t>
            </a:r>
            <a:endParaRPr kumimoji="1" lang="en-US" altLang="zh-CN" dirty="0"/>
          </a:p>
          <a:p>
            <a:r>
              <a:rPr kumimoji="1" lang="zh-CN" altLang="en-US" dirty="0"/>
              <a:t>加速器为中心： 只有一次拷贝，但是加速器适合并发代码，而不是线性处理和跳转代码，让加速器执行</a:t>
            </a:r>
            <a:r>
              <a:rPr kumimoji="1" lang="en-US" altLang="zh-CN" dirty="0"/>
              <a:t>OS</a:t>
            </a:r>
            <a:r>
              <a:rPr kumimoji="1" lang="zh-CN" altLang="en-US" dirty="0"/>
              <a:t>的协议栈等性能很慢</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12</a:t>
            </a:fld>
            <a:endParaRPr lang="zh-CN" altLang="en-US"/>
          </a:p>
        </p:txBody>
      </p:sp>
    </p:spTree>
    <p:extLst>
      <p:ext uri="{BB962C8B-B14F-4D97-AF65-F5344CB8AC3E}">
        <p14:creationId xmlns:p14="http://schemas.microsoft.com/office/powerpoint/2010/main" val="2863770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r>
              <a:rPr kumimoji="1" lang="en-US" altLang="zh-CN" dirty="0" err="1"/>
              <a:t>Solros</a:t>
            </a:r>
            <a:r>
              <a:rPr kumimoji="1" lang="zh-CN" altLang="en-US" dirty="0"/>
              <a:t>：结合一下，</a:t>
            </a:r>
            <a:r>
              <a:rPr kumimoji="1" lang="en-US" altLang="zh-CN" dirty="0"/>
              <a:t>CPU</a:t>
            </a:r>
            <a:r>
              <a:rPr kumimoji="1" lang="zh-CN" altLang="en-US" dirty="0"/>
              <a:t>负责控制流，处理</a:t>
            </a:r>
            <a:r>
              <a:rPr kumimoji="1" lang="en-US" altLang="zh-CN" dirty="0"/>
              <a:t>OS</a:t>
            </a:r>
            <a:r>
              <a:rPr kumimoji="1" lang="zh-CN" altLang="en-US" dirty="0"/>
              <a:t> </a:t>
            </a:r>
            <a:r>
              <a:rPr kumimoji="1" lang="en-US" altLang="zh-CN" dirty="0"/>
              <a:t>service</a:t>
            </a:r>
            <a:r>
              <a:rPr kumimoji="1" lang="zh-CN" altLang="en-US" dirty="0"/>
              <a:t>中的真正的代码，数据的接口由协处理器提供，让</a:t>
            </a:r>
            <a:r>
              <a:rPr kumimoji="1" lang="en-US" altLang="zh-CN" dirty="0"/>
              <a:t>I/O</a:t>
            </a:r>
            <a:r>
              <a:rPr kumimoji="1" lang="zh-CN" altLang="en-US" dirty="0"/>
              <a:t>设备直接把数据传递到加速器端。</a:t>
            </a:r>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13</a:t>
            </a:fld>
            <a:endParaRPr lang="zh-CN" altLang="en-US"/>
          </a:p>
        </p:txBody>
      </p:sp>
    </p:spTree>
    <p:extLst>
      <p:ext uri="{BB962C8B-B14F-4D97-AF65-F5344CB8AC3E}">
        <p14:creationId xmlns:p14="http://schemas.microsoft.com/office/powerpoint/2010/main" val="9190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还有很多遗留问题。</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19</a:t>
            </a:fld>
            <a:endParaRPr lang="zh-CN" altLang="en-US"/>
          </a:p>
        </p:txBody>
      </p:sp>
    </p:spTree>
    <p:extLst>
      <p:ext uri="{BB962C8B-B14F-4D97-AF65-F5344CB8AC3E}">
        <p14:creationId xmlns:p14="http://schemas.microsoft.com/office/powerpoint/2010/main" val="19604148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3A84A077-83E9-49A7-9F59-234D78BD6949}" type="slidenum">
              <a:rPr lang="zh-CN" altLang="en-US" smtClean="0"/>
              <a:t>20</a:t>
            </a:fld>
            <a:endParaRPr lang="zh-CN" altLang="en-US"/>
          </a:p>
        </p:txBody>
      </p:sp>
    </p:spTree>
    <p:extLst>
      <p:ext uri="{BB962C8B-B14F-4D97-AF65-F5344CB8AC3E}">
        <p14:creationId xmlns:p14="http://schemas.microsoft.com/office/powerpoint/2010/main" val="4075120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22</a:t>
            </a:fld>
            <a:endParaRPr lang="zh-CN" altLang="en-US"/>
          </a:p>
        </p:txBody>
      </p:sp>
    </p:spTree>
    <p:extLst>
      <p:ext uri="{BB962C8B-B14F-4D97-AF65-F5344CB8AC3E}">
        <p14:creationId xmlns:p14="http://schemas.microsoft.com/office/powerpoint/2010/main" val="3273399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2200" dirty="0"/>
              <a:t>潜在问题</a:t>
            </a:r>
            <a:endParaRPr kumimoji="1" lang="en-US" altLang="zh-CN" sz="2200" dirty="0"/>
          </a:p>
          <a:p>
            <a:pPr lvl="1"/>
            <a:r>
              <a:rPr kumimoji="1" lang="en-US" altLang="zh-CN" sz="1800" dirty="0" err="1"/>
              <a:t>Unikernel</a:t>
            </a:r>
            <a:r>
              <a:rPr kumimoji="1" lang="zh-CN" altLang="en-US" sz="1800" dirty="0"/>
              <a:t>支持功能有限，许多应用不能直接支持</a:t>
            </a:r>
            <a:endParaRPr kumimoji="1" lang="en-US" altLang="zh-CN" sz="1800" dirty="0"/>
          </a:p>
          <a:p>
            <a:pPr lvl="1"/>
            <a:r>
              <a:rPr kumimoji="1" lang="zh-CN" altLang="en-US" sz="1800" dirty="0"/>
              <a:t>工具链不完整（如缺乏调试工具），不易使用</a:t>
            </a:r>
            <a:endParaRPr kumimoji="1" lang="en-US" altLang="zh-CN" sz="1800"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27</a:t>
            </a:fld>
            <a:endParaRPr lang="zh-CN" altLang="en-US"/>
          </a:p>
        </p:txBody>
      </p:sp>
    </p:spTree>
    <p:extLst>
      <p:ext uri="{BB962C8B-B14F-4D97-AF65-F5344CB8AC3E}">
        <p14:creationId xmlns:p14="http://schemas.microsoft.com/office/powerpoint/2010/main" val="4014859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其实是多对多模型的复兴。</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29</a:t>
            </a:fld>
            <a:endParaRPr lang="zh-CN" altLang="en-US"/>
          </a:p>
        </p:txBody>
      </p:sp>
    </p:spTree>
    <p:extLst>
      <p:ext uri="{BB962C8B-B14F-4D97-AF65-F5344CB8AC3E}">
        <p14:creationId xmlns:p14="http://schemas.microsoft.com/office/powerpoint/2010/main" val="13086525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3A84A077-83E9-49A7-9F59-234D78BD6949}" type="slidenum">
              <a:rPr lang="zh-CN" altLang="en-US" smtClean="0"/>
              <a:t>31</a:t>
            </a:fld>
            <a:endParaRPr lang="zh-CN" altLang="en-US"/>
          </a:p>
        </p:txBody>
      </p:sp>
    </p:spTree>
    <p:extLst>
      <p:ext uri="{BB962C8B-B14F-4D97-AF65-F5344CB8AC3E}">
        <p14:creationId xmlns:p14="http://schemas.microsoft.com/office/powerpoint/2010/main" val="14546082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但是我们要注意的是这张图里的延迟数据的单位是微秒，也就是说内存和 </a:t>
            </a:r>
            <a:r>
              <a:rPr kumimoji="1" lang="en-US" altLang="zh-CN" dirty="0"/>
              <a:t>SSD</a:t>
            </a:r>
            <a:r>
              <a:rPr kumimoji="1" lang="zh-CN" altLang="en-US" dirty="0"/>
              <a:t> 之间的延迟差距可以达到</a:t>
            </a:r>
            <a:r>
              <a:rPr kumimoji="1" lang="en-US" altLang="zh-CN" dirty="0"/>
              <a:t>1000</a:t>
            </a:r>
            <a:r>
              <a:rPr kumimoji="1" lang="zh-CN" altLang="en-US" dirty="0"/>
              <a:t>倍</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46</a:t>
            </a:fld>
            <a:endParaRPr lang="zh-CN" altLang="en-US"/>
          </a:p>
        </p:txBody>
      </p:sp>
    </p:spTree>
    <p:extLst>
      <p:ext uri="{BB962C8B-B14F-4D97-AF65-F5344CB8AC3E}">
        <p14:creationId xmlns:p14="http://schemas.microsoft.com/office/powerpoint/2010/main" val="8174211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t>也就是说，实际上现在的内存和存储结构中是存在着这样的一个巨大的断层的</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47</a:t>
            </a:fld>
            <a:endParaRPr lang="zh-CN" altLang="en-US"/>
          </a:p>
        </p:txBody>
      </p:sp>
    </p:spTree>
    <p:extLst>
      <p:ext uri="{BB962C8B-B14F-4D97-AF65-F5344CB8AC3E}">
        <p14:creationId xmlns:p14="http://schemas.microsoft.com/office/powerpoint/2010/main" val="14367350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t>在加入了非易失性内存后，现在的存储金字塔结构就成了这个样子，以前巨大的断层也不复存在。</a:t>
            </a:r>
            <a:endParaRPr kumimoji="1"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t>随着存储技术不停地发展，从机械硬盘，到 </a:t>
            </a:r>
            <a:r>
              <a:rPr kumimoji="1" lang="en-US" altLang="zh-CN" sz="1200" dirty="0"/>
              <a:t>SATA </a:t>
            </a:r>
            <a:r>
              <a:rPr kumimoji="1" lang="zh-CN" altLang="en-US" sz="1200" dirty="0"/>
              <a:t>固态硬盘，到后来的高性能固态硬盘，存储技术的每次迭代都会给对应的软件设计带来许多新的机会和挑战。</a:t>
            </a:r>
            <a:endParaRPr kumimoji="1"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t>现在的非易失性内存当然也不例外，实际上关于非易失性内存的研究一直没有停过，</a:t>
            </a:r>
            <a:r>
              <a:rPr kumimoji="1" lang="zh-CN" altLang="en-US" dirty="0"/>
              <a:t>甚至早在 </a:t>
            </a:r>
            <a:r>
              <a:rPr kumimoji="1" lang="en-US" altLang="zh-CN" dirty="0"/>
              <a:t>Optane PMM </a:t>
            </a:r>
            <a:r>
              <a:rPr kumimoji="1" lang="zh-CN" altLang="en-US" dirty="0"/>
              <a:t>出来之前，就已经有了大量关于非易失性内存的研究。</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t>目前关于非易失性内存的使用方法和在系统中的定位也没有统一的结论，有些工作将</a:t>
            </a:r>
            <a:r>
              <a:rPr kumimoji="1" lang="en-US" altLang="zh-CN" sz="1200" dirty="0"/>
              <a:t> NVM</a:t>
            </a:r>
            <a:r>
              <a:rPr kumimoji="1" lang="zh-CN" altLang="en-US" sz="1200" dirty="0"/>
              <a:t> 当做稍慢的 </a:t>
            </a:r>
            <a:r>
              <a:rPr kumimoji="1" lang="en-US" altLang="zh-CN" sz="1200" dirty="0"/>
              <a:t>DRAM</a:t>
            </a:r>
            <a:r>
              <a:rPr kumimoji="1" lang="zh-CN" altLang="en-US" sz="1200" dirty="0"/>
              <a:t> 来使用，也有一些工作将</a:t>
            </a:r>
            <a:r>
              <a:rPr kumimoji="1" lang="en-US" altLang="zh-CN" sz="1200" dirty="0"/>
              <a:t> NVM </a:t>
            </a:r>
            <a:r>
              <a:rPr kumimoji="1" lang="zh-CN" altLang="en-US" sz="1200" dirty="0"/>
              <a:t>当做比 </a:t>
            </a:r>
            <a:r>
              <a:rPr kumimoji="1" lang="en-US" altLang="zh-CN" sz="1200" dirty="0"/>
              <a:t>SSD</a:t>
            </a:r>
            <a:r>
              <a:rPr kumimoji="1" lang="zh-CN" altLang="en-US" sz="1200" dirty="0"/>
              <a:t> 更快的存储介质，在上面对文件系统和存储系统进行设计和研究，今天我们主要会针对第二种进行介绍。</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48</a:t>
            </a:fld>
            <a:endParaRPr lang="zh-CN" altLang="en-US"/>
          </a:p>
        </p:txBody>
      </p:sp>
    </p:spTree>
    <p:extLst>
      <p:ext uri="{BB962C8B-B14F-4D97-AF65-F5344CB8AC3E}">
        <p14:creationId xmlns:p14="http://schemas.microsoft.com/office/powerpoint/2010/main" val="39797185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PM</a:t>
            </a:r>
            <a:r>
              <a:rPr lang="zh-CN" altLang="en-CN" dirty="0"/>
              <a:t>在</a:t>
            </a:r>
            <a:r>
              <a:rPr lang="zh-CN" altLang="en-US" dirty="0"/>
              <a:t>存储结构中的位置</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49</a:t>
            </a:fld>
            <a:endParaRPr lang="zh-CN" altLang="en-US"/>
          </a:p>
        </p:txBody>
      </p:sp>
    </p:spTree>
    <p:extLst>
      <p:ext uri="{BB962C8B-B14F-4D97-AF65-F5344CB8AC3E}">
        <p14:creationId xmlns:p14="http://schemas.microsoft.com/office/powerpoint/2010/main" val="11235053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52</a:t>
            </a:fld>
            <a:endParaRPr lang="zh-CN" altLang="en-US"/>
          </a:p>
        </p:txBody>
      </p:sp>
    </p:spTree>
    <p:extLst>
      <p:ext uri="{BB962C8B-B14F-4D97-AF65-F5344CB8AC3E}">
        <p14:creationId xmlns:p14="http://schemas.microsoft.com/office/powerpoint/2010/main" val="25829881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3A84A077-83E9-49A7-9F59-234D78BD6949}" type="slidenum">
              <a:rPr lang="zh-CN" altLang="en-US" smtClean="0"/>
              <a:t>56</a:t>
            </a:fld>
            <a:endParaRPr lang="zh-CN" altLang="en-US"/>
          </a:p>
        </p:txBody>
      </p:sp>
    </p:spTree>
    <p:extLst>
      <p:ext uri="{BB962C8B-B14F-4D97-AF65-F5344CB8AC3E}">
        <p14:creationId xmlns:p14="http://schemas.microsoft.com/office/powerpoint/2010/main" val="6076569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57</a:t>
            </a:fld>
            <a:endParaRPr lang="zh-CN" altLang="en-US"/>
          </a:p>
        </p:txBody>
      </p:sp>
    </p:spTree>
    <p:extLst>
      <p:ext uri="{BB962C8B-B14F-4D97-AF65-F5344CB8AC3E}">
        <p14:creationId xmlns:p14="http://schemas.microsoft.com/office/powerpoint/2010/main" val="37040791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58</a:t>
            </a:fld>
            <a:endParaRPr lang="zh-CN" altLang="en-US"/>
          </a:p>
        </p:txBody>
      </p:sp>
    </p:spTree>
    <p:extLst>
      <p:ext uri="{BB962C8B-B14F-4D97-AF65-F5344CB8AC3E}">
        <p14:creationId xmlns:p14="http://schemas.microsoft.com/office/powerpoint/2010/main" val="39257362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61</a:t>
            </a:fld>
            <a:endParaRPr lang="zh-CN" altLang="en-US"/>
          </a:p>
        </p:txBody>
      </p:sp>
    </p:spTree>
    <p:extLst>
      <p:ext uri="{BB962C8B-B14F-4D97-AF65-F5344CB8AC3E}">
        <p14:creationId xmlns:p14="http://schemas.microsoft.com/office/powerpoint/2010/main" val="630234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62</a:t>
            </a:fld>
            <a:endParaRPr lang="zh-CN" altLang="en-US"/>
          </a:p>
        </p:txBody>
      </p:sp>
    </p:spTree>
    <p:extLst>
      <p:ext uri="{BB962C8B-B14F-4D97-AF65-F5344CB8AC3E}">
        <p14:creationId xmlns:p14="http://schemas.microsoft.com/office/powerpoint/2010/main" val="13975840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66</a:t>
            </a:fld>
            <a:endParaRPr lang="zh-CN" altLang="en-US"/>
          </a:p>
        </p:txBody>
      </p:sp>
    </p:spTree>
    <p:extLst>
      <p:ext uri="{BB962C8B-B14F-4D97-AF65-F5344CB8AC3E}">
        <p14:creationId xmlns:p14="http://schemas.microsoft.com/office/powerpoint/2010/main" val="6726659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3A84A077-83E9-49A7-9F59-234D78BD6949}" type="slidenum">
              <a:rPr lang="zh-CN" altLang="en-US" smtClean="0"/>
              <a:t>68</a:t>
            </a:fld>
            <a:endParaRPr lang="zh-CN" altLang="en-US"/>
          </a:p>
        </p:txBody>
      </p:sp>
    </p:spTree>
    <p:extLst>
      <p:ext uri="{BB962C8B-B14F-4D97-AF65-F5344CB8AC3E}">
        <p14:creationId xmlns:p14="http://schemas.microsoft.com/office/powerpoint/2010/main" val="11715809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69</a:t>
            </a:fld>
            <a:endParaRPr lang="zh-CN" altLang="en-US"/>
          </a:p>
        </p:txBody>
      </p:sp>
    </p:spTree>
    <p:extLst>
      <p:ext uri="{BB962C8B-B14F-4D97-AF65-F5344CB8AC3E}">
        <p14:creationId xmlns:p14="http://schemas.microsoft.com/office/powerpoint/2010/main" val="26952390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为什么需要异构？</a:t>
            </a:r>
            <a:endParaRPr kumimoji="1"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latin typeface="+mn-lt"/>
              </a:rPr>
              <a:t>摩尔定律不一定再成立 </a:t>
            </a:r>
            <a:r>
              <a:rPr kumimoji="1" lang="en-US" altLang="zh-CN" sz="1200" dirty="0">
                <a:latin typeface="+mn-lt"/>
              </a:rPr>
              <a:t>→</a:t>
            </a:r>
            <a:r>
              <a:rPr kumimoji="1" lang="zh-CN" altLang="en-US" sz="1200" dirty="0">
                <a:latin typeface="+mn-lt"/>
              </a:rPr>
              <a:t> </a:t>
            </a:r>
            <a:r>
              <a:rPr kumimoji="1" lang="en-US" altLang="zh-CN" sz="1200" dirty="0">
                <a:latin typeface="+mn-lt"/>
              </a:rPr>
              <a:t>CPU</a:t>
            </a:r>
            <a:r>
              <a:rPr kumimoji="1" lang="zh-CN" altLang="en-US" sz="1200" dirty="0">
                <a:latin typeface="+mn-lt"/>
              </a:rPr>
              <a:t>核的计算能力受限</a:t>
            </a:r>
            <a:endParaRPr kumimoji="1" lang="en-US" altLang="zh-CN" dirty="0"/>
          </a:p>
          <a:p>
            <a:r>
              <a:rPr kumimoji="1" lang="en-US" altLang="zh-CN" dirty="0"/>
              <a:t>DRAM</a:t>
            </a:r>
            <a:r>
              <a:rPr kumimoji="1" lang="zh-CN" altLang="en-US" dirty="0"/>
              <a:t>和</a:t>
            </a:r>
            <a:r>
              <a:rPr kumimoji="1" lang="en-US" altLang="zh-CN" dirty="0"/>
              <a:t>NVM</a:t>
            </a:r>
            <a:r>
              <a:rPr kumimoji="1" lang="zh-CN" altLang="en-US" dirty="0"/>
              <a:t>存在性能</a:t>
            </a:r>
            <a:r>
              <a:rPr kumimoji="1" lang="en-US" altLang="zh-CN" dirty="0"/>
              <a:t>/</a:t>
            </a:r>
            <a:r>
              <a:rPr kumimoji="1" lang="zh-CN" altLang="en-US" dirty="0"/>
              <a:t>容量的</a:t>
            </a:r>
            <a:r>
              <a:rPr kumimoji="1" lang="en-US" altLang="zh-CN" dirty="0"/>
              <a:t>trade-off</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70</a:t>
            </a:fld>
            <a:endParaRPr lang="zh-CN" altLang="en-US"/>
          </a:p>
        </p:txBody>
      </p:sp>
    </p:spTree>
    <p:extLst>
      <p:ext uri="{BB962C8B-B14F-4D97-AF65-F5344CB8AC3E}">
        <p14:creationId xmlns:p14="http://schemas.microsoft.com/office/powerpoint/2010/main" val="7247994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问题（挑战）：</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71</a:t>
            </a:fld>
            <a:endParaRPr lang="zh-CN" altLang="en-US"/>
          </a:p>
        </p:txBody>
      </p:sp>
    </p:spTree>
    <p:extLst>
      <p:ext uri="{BB962C8B-B14F-4D97-AF65-F5344CB8AC3E}">
        <p14:creationId xmlns:p14="http://schemas.microsoft.com/office/powerpoint/2010/main" val="13925913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72</a:t>
            </a:fld>
            <a:endParaRPr lang="zh-CN" altLang="en-US"/>
          </a:p>
        </p:txBody>
      </p:sp>
    </p:spTree>
    <p:extLst>
      <p:ext uri="{BB962C8B-B14F-4D97-AF65-F5344CB8AC3E}">
        <p14:creationId xmlns:p14="http://schemas.microsoft.com/office/powerpoint/2010/main" val="39209010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73</a:t>
            </a:fld>
            <a:endParaRPr lang="zh-CN" altLang="en-US"/>
          </a:p>
        </p:txBody>
      </p:sp>
    </p:spTree>
    <p:extLst>
      <p:ext uri="{BB962C8B-B14F-4D97-AF65-F5344CB8AC3E}">
        <p14:creationId xmlns:p14="http://schemas.microsoft.com/office/powerpoint/2010/main" val="41081834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74</a:t>
            </a:fld>
            <a:endParaRPr lang="zh-CN" altLang="en-US"/>
          </a:p>
        </p:txBody>
      </p:sp>
    </p:spTree>
    <p:extLst>
      <p:ext uri="{BB962C8B-B14F-4D97-AF65-F5344CB8AC3E}">
        <p14:creationId xmlns:p14="http://schemas.microsoft.com/office/powerpoint/2010/main" val="25724222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3A84A077-83E9-49A7-9F59-234D78BD6949}" type="slidenum">
              <a:rPr lang="zh-CN" altLang="en-US" smtClean="0"/>
              <a:t>75</a:t>
            </a:fld>
            <a:endParaRPr lang="zh-CN" altLang="en-US"/>
          </a:p>
        </p:txBody>
      </p:sp>
    </p:spTree>
    <p:extLst>
      <p:ext uri="{BB962C8B-B14F-4D97-AF65-F5344CB8AC3E}">
        <p14:creationId xmlns:p14="http://schemas.microsoft.com/office/powerpoint/2010/main" val="2500675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80</a:t>
            </a:fld>
            <a:endParaRPr lang="zh-CN" altLang="en-US"/>
          </a:p>
        </p:txBody>
      </p:sp>
    </p:spTree>
    <p:extLst>
      <p:ext uri="{BB962C8B-B14F-4D97-AF65-F5344CB8AC3E}">
        <p14:creationId xmlns:p14="http://schemas.microsoft.com/office/powerpoint/2010/main" val="17987897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81</a:t>
            </a:fld>
            <a:endParaRPr lang="zh-CN" altLang="en-US"/>
          </a:p>
        </p:txBody>
      </p:sp>
    </p:spTree>
    <p:extLst>
      <p:ext uri="{BB962C8B-B14F-4D97-AF65-F5344CB8AC3E}">
        <p14:creationId xmlns:p14="http://schemas.microsoft.com/office/powerpoint/2010/main" val="1231723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a:extLst>
              <a:ext uri="{FF2B5EF4-FFF2-40B4-BE49-F238E27FC236}">
                <a16:creationId xmlns:a16="http://schemas.microsoft.com/office/drawing/2014/main" id="{9FA25068-95BE-F84A-896E-9E89F943483E}"/>
              </a:ext>
            </a:extLst>
          </p:cNvPr>
          <p:cNvSpPr>
            <a:spLocks noGrp="1"/>
          </p:cNvSpPr>
          <p:nvPr>
            <p:ph type="ftr" sz="quarter" idx="3"/>
          </p:nvPr>
        </p:nvSpPr>
        <p:spPr>
          <a:xfrm>
            <a:off x="2553817" y="5305772"/>
            <a:ext cx="3962399" cy="304271"/>
          </a:xfrm>
          <a:prstGeom prst="rect">
            <a:avLst/>
          </a:prstGeom>
        </p:spPr>
        <p:txBody>
          <a:bodyPr anchor="ct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400" b="1" i="0">
                <a:latin typeface="+mn-lt"/>
                <a:ea typeface="微软雅黑" panose="020B0503020204020204" pitchFamily="34" charset="-122"/>
                <a:cs typeface="微软雅黑" panose="020B0503020204020204" pitchFamily="34" charset="-122"/>
              </a:defRPr>
            </a:lvl1pPr>
            <a:lvl2pPr>
              <a:lnSpc>
                <a:spcPct val="120000"/>
              </a:lnSpc>
              <a:defRPr sz="20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6608DAFC-F7CB-BF45-A12C-3E5B3C748823}"/>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222B87CB-0BF3-3A40-9555-EFDE398401FB}"/>
              </a:ext>
            </a:extLst>
          </p:cNvPr>
          <p:cNvSpPr>
            <a:spLocks noGrp="1"/>
          </p:cNvSpPr>
          <p:nvPr>
            <p:ph type="ftr" sz="quarter" idx="3"/>
          </p:nvPr>
        </p:nvSpPr>
        <p:spPr>
          <a:xfrm>
            <a:off x="2553817" y="5305772"/>
            <a:ext cx="3962399" cy="304271"/>
          </a:xfrm>
          <a:prstGeom prst="rect">
            <a:avLst/>
          </a:prstGeom>
        </p:spPr>
        <p:txBody>
          <a:bodyPr/>
          <a:lstStyle>
            <a:lvl1pPr algn="ctr">
              <a:defRPr sz="1100">
                <a:solidFill>
                  <a:schemeClr val="tx1">
                    <a:lumMod val="50000"/>
                    <a:lumOff val="50000"/>
                  </a:schemeClr>
                </a:solidFill>
              </a:defRPr>
            </a:lvl1pPr>
          </a:lstStyle>
          <a:p>
            <a:endParaRPr lang="zh-CN" altLang="en-US" dirty="0"/>
          </a:p>
        </p:txBody>
      </p:sp>
    </p:spTree>
    <p:extLst>
      <p:ext uri="{BB962C8B-B14F-4D97-AF65-F5344CB8AC3E}">
        <p14:creationId xmlns:p14="http://schemas.microsoft.com/office/powerpoint/2010/main" val="61469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CDC275-985E-45AD-860F-39764B073DE1}"/>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sp>
        <p:nvSpPr>
          <p:cNvPr id="5" name="灯片编号占位符 4">
            <a:extLst>
              <a:ext uri="{FF2B5EF4-FFF2-40B4-BE49-F238E27FC236}">
                <a16:creationId xmlns:a16="http://schemas.microsoft.com/office/drawing/2014/main" id="{B7927F79-CA31-477B-A081-7FA1A46F44A0}"/>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30918307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
        <p:nvSpPr>
          <p:cNvPr id="7" name="页脚占位符 4">
            <a:extLst>
              <a:ext uri="{FF2B5EF4-FFF2-40B4-BE49-F238E27FC236}">
                <a16:creationId xmlns:a16="http://schemas.microsoft.com/office/drawing/2014/main" id="{4DC863AB-1CA3-014A-96B6-C1A16FEA03AC}"/>
              </a:ext>
            </a:extLst>
          </p:cNvPr>
          <p:cNvSpPr>
            <a:spLocks noGrp="1"/>
          </p:cNvSpPr>
          <p:nvPr>
            <p:ph type="ftr" sz="quarter" idx="3"/>
          </p:nvPr>
        </p:nvSpPr>
        <p:spPr>
          <a:xfrm>
            <a:off x="2553817" y="5305772"/>
            <a:ext cx="3962399" cy="304271"/>
          </a:xfrm>
          <a:prstGeom prst="rect">
            <a:avLst/>
          </a:prstGeom>
        </p:spPr>
        <p:txBody>
          <a:bodyPr anchor="ctr"/>
          <a:lstStyle>
            <a:lvl1pPr>
              <a:defRPr sz="1100">
                <a:solidFill>
                  <a:schemeClr val="tx1">
                    <a:lumMod val="50000"/>
                    <a:lumOff val="50000"/>
                  </a:schemeClr>
                </a:solidFill>
                <a:latin typeface="+mn-ea"/>
                <a:ea typeface="+mn-ea"/>
              </a:defRPr>
            </a:lvl1pPr>
          </a:lstStyle>
          <a:p>
            <a:pPr algn="ctr"/>
            <a:endParaRPr lang="zh-CN" altLang="en-US" dirty="0"/>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creativecommons.org/licenses/by/4.0/legalcod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16.pn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2.tif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7.jpeg"/><Relationship Id="rId4" Type="http://schemas.openxmlformats.org/officeDocument/2006/relationships/image" Target="../media/image46.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gn="ctr">
              <a:lnSpc>
                <a:spcPct val="110000"/>
              </a:lnSpc>
            </a:pPr>
            <a:r>
              <a:rPr kumimoji="1" lang="zh-CN" altLang="en-US" sz="4800" dirty="0"/>
              <a:t>操作系统研究前沿</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ipads.se.sjtu.edu.cn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652120" y="252561"/>
            <a:ext cx="1362088" cy="492009"/>
          </a:xfrm>
          <a:prstGeom prst="rect">
            <a:avLst/>
          </a:prstGeom>
        </p:spPr>
      </p:pic>
      <p:sp>
        <p:nvSpPr>
          <p:cNvPr id="7" name="副标题 2">
            <a:extLst>
              <a:ext uri="{FF2B5EF4-FFF2-40B4-BE49-F238E27FC236}">
                <a16:creationId xmlns:a16="http://schemas.microsoft.com/office/drawing/2014/main" id="{E2120B98-7095-B94B-B13B-75606426BFB4}"/>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zh-CN" altLang="en-US" sz="1400" dirty="0">
                <a:solidFill>
                  <a:schemeClr val="tx1">
                    <a:lumMod val="75000"/>
                    <a:lumOff val="25000"/>
                  </a:schemeClr>
                </a:solidFill>
              </a:rPr>
              <a:t>操作系统</a:t>
            </a:r>
          </a:p>
        </p:txBody>
      </p:sp>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164288" y="282539"/>
            <a:ext cx="1642840" cy="43204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808067628"/>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a:latin typeface="+mn-lt"/>
              </a:rPr>
              <a:t>版权声明</a:t>
            </a:r>
            <a:endParaRPr kumimoji="1" lang="zh-CN" altLang="en-US" dirty="0">
              <a:latin typeface="+mn-lt"/>
            </a:endParaRP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a:latin typeface="+mn-lt"/>
              </a:rPr>
              <a:t>本内容版权归</a:t>
            </a:r>
            <a:r>
              <a:rPr lang="zh-CN" altLang="en-US" sz="2000">
                <a:latin typeface="+mn-lt"/>
              </a:rPr>
              <a:t>上海交通大学并行与分布式系统研究所</a:t>
            </a:r>
            <a:r>
              <a:rPr lang="zh-CN" altLang="en-US" sz="2000" b="0">
                <a:latin typeface="+mn-lt"/>
              </a:rPr>
              <a:t>所有</a:t>
            </a:r>
            <a:endParaRPr lang="en-US" altLang="zh-CN" sz="2000" b="0">
              <a:latin typeface="+mn-lt"/>
            </a:endParaRPr>
          </a:p>
          <a:p>
            <a:r>
              <a:rPr lang="zh-CN" altLang="en-US" sz="2000" b="0">
                <a:latin typeface="+mn-lt"/>
              </a:rPr>
              <a:t>使用者可以将全部或部分本内容免费用于非商业用途</a:t>
            </a:r>
            <a:endParaRPr lang="en-US" altLang="zh-CN" sz="2000" b="0">
              <a:latin typeface="+mn-lt"/>
            </a:endParaRPr>
          </a:p>
          <a:p>
            <a:r>
              <a:rPr lang="zh-CN" altLang="en-US" sz="2000" b="0">
                <a:latin typeface="+mn-lt"/>
              </a:rPr>
              <a:t>使用者在使用全部或部分本内容时请注明来源：</a:t>
            </a:r>
            <a:endParaRPr lang="en-US" altLang="zh-CN" sz="2000" b="0">
              <a:latin typeface="+mn-lt"/>
            </a:endParaRPr>
          </a:p>
          <a:p>
            <a:pPr lvl="1"/>
            <a:r>
              <a:rPr lang="zh-CN" altLang="en-US" sz="1600"/>
              <a:t>内容来自：上海交通大学并行与分布式系统研究所</a:t>
            </a:r>
            <a:r>
              <a:rPr lang="en-US" altLang="zh-CN" sz="1600"/>
              <a:t>+</a:t>
            </a:r>
            <a:r>
              <a:rPr lang="zh-CN" altLang="en-US" sz="1600"/>
              <a:t>材料名字</a:t>
            </a:r>
            <a:endParaRPr lang="en-US" altLang="zh-CN" sz="1600"/>
          </a:p>
          <a:p>
            <a:r>
              <a:rPr lang="zh-CN" altLang="en-US" sz="2000" b="0">
                <a:latin typeface="+mn-lt"/>
              </a:rPr>
              <a:t>对于不遵守此声明或者其他违法使用本内容者，将依法保留追究权</a:t>
            </a:r>
            <a:endParaRPr lang="en-US" altLang="zh-CN" sz="2000" b="0">
              <a:latin typeface="+mn-lt"/>
            </a:endParaRPr>
          </a:p>
          <a:p>
            <a:r>
              <a:rPr lang="zh-CN" altLang="en-US" sz="2000" b="0">
                <a:latin typeface="+mn-lt"/>
              </a:rPr>
              <a:t>本内容的发布采用 </a:t>
            </a:r>
            <a:r>
              <a:rPr lang="en-US" altLang="zh-CN" sz="2000" b="0">
                <a:latin typeface="+mn-lt"/>
              </a:rPr>
              <a:t>Creative Commons</a:t>
            </a:r>
            <a:r>
              <a:rPr lang="zh-CN" altLang="en-US" sz="2000" b="0">
                <a:latin typeface="+mn-lt"/>
              </a:rPr>
              <a:t> </a:t>
            </a:r>
            <a:r>
              <a:rPr lang="en-US" altLang="zh-CN" sz="2000" b="0">
                <a:latin typeface="+mn-lt"/>
              </a:rPr>
              <a:t>Attribution</a:t>
            </a:r>
            <a:r>
              <a:rPr lang="zh-CN" altLang="en-US" sz="2000" b="0">
                <a:latin typeface="+mn-lt"/>
              </a:rPr>
              <a:t> </a:t>
            </a:r>
            <a:r>
              <a:rPr lang="en-US" altLang="zh-CN" sz="2000" b="0">
                <a:latin typeface="+mn-lt"/>
              </a:rPr>
              <a:t>4.0</a:t>
            </a:r>
            <a:r>
              <a:rPr lang="zh-CN" altLang="en-US" sz="2000" b="0">
                <a:latin typeface="+mn-lt"/>
              </a:rPr>
              <a:t> </a:t>
            </a:r>
            <a:r>
              <a:rPr lang="en-US" altLang="zh-CN" sz="2000" b="0">
                <a:latin typeface="+mn-lt"/>
              </a:rPr>
              <a:t>License</a:t>
            </a:r>
            <a:endParaRPr lang="en-US" altLang="zh-CN" sz="2400" b="0">
              <a:latin typeface="+mn-lt"/>
            </a:endParaRPr>
          </a:p>
          <a:p>
            <a:pPr lvl="1"/>
            <a:r>
              <a:rPr lang="zh-CN" altLang="en-US" sz="1600">
                <a:latin typeface="+mn-lt"/>
              </a:rPr>
              <a:t>完整文本：</a:t>
            </a:r>
            <a:r>
              <a:rPr lang="en-US" altLang="zh-CN" sz="1600">
                <a:latin typeface="+mn-lt"/>
                <a:hlinkClick r:id="rId3"/>
              </a:rPr>
              <a:t>https://creativecommons.org/licenses/by/4.0/legalcode</a:t>
            </a:r>
            <a:endParaRPr lang="en-US" altLang="zh-CN" sz="1800" b="0">
              <a:latin typeface="+mn-lt"/>
            </a:endParaRPr>
          </a:p>
          <a:p>
            <a:endParaRPr kumimoji="1" lang="zh-CN" altLang="en-US" sz="2000" dirty="0">
              <a:latin typeface="+mn-lt"/>
            </a:endParaRPr>
          </a:p>
        </p:txBody>
      </p:sp>
      <p:sp>
        <p:nvSpPr>
          <p:cNvPr id="4" name="灯片编号占位符 3">
            <a:extLst>
              <a:ext uri="{FF2B5EF4-FFF2-40B4-BE49-F238E27FC236}">
                <a16:creationId xmlns:a16="http://schemas.microsoft.com/office/drawing/2014/main" id="{70D6275D-0E58-1C46-BA79-C46B2D55F355}"/>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
        <p:nvSpPr>
          <p:cNvPr id="5" name="页脚占位符 4">
            <a:extLst>
              <a:ext uri="{FF2B5EF4-FFF2-40B4-BE49-F238E27FC236}">
                <a16:creationId xmlns:a16="http://schemas.microsoft.com/office/drawing/2014/main" id="{03E75993-6B82-2A4E-883D-B9872C50165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latin typeface="+mj-lt"/>
              </a:rPr>
              <a:t>操作系统研究</a:t>
            </a: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291264" cy="3978357"/>
          </a:xfrm>
        </p:spPr>
        <p:txBody>
          <a:bodyPr>
            <a:normAutofit/>
          </a:bodyPr>
          <a:lstStyle/>
          <a:p>
            <a:r>
              <a:rPr kumimoji="1" lang="zh-CN" altLang="en-US" dirty="0"/>
              <a:t>操作系统是一个持续发展的领域</a:t>
            </a:r>
            <a:endParaRPr kumimoji="1" lang="en-US" altLang="zh-CN" dirty="0"/>
          </a:p>
          <a:p>
            <a:pPr lvl="1"/>
            <a:r>
              <a:rPr kumimoji="1" lang="zh-CN" altLang="en-US" sz="1800" dirty="0">
                <a:latin typeface="+mn-lt"/>
              </a:rPr>
              <a:t>操作系统的研究持续火热，如今是系统研究“最好的时代”</a:t>
            </a:r>
            <a:endParaRPr kumimoji="1" lang="en-US" altLang="zh-CN" sz="1800" dirty="0"/>
          </a:p>
          <a:p>
            <a:r>
              <a:rPr kumimoji="1" lang="zh-CN" altLang="en-US" dirty="0"/>
              <a:t>操作系统研究受到上层应用和底层硬件双重驱动</a:t>
            </a:r>
            <a:endParaRPr kumimoji="1" lang="en-US" altLang="zh-CN" dirty="0"/>
          </a:p>
          <a:p>
            <a:pPr lvl="1"/>
            <a:r>
              <a:rPr kumimoji="1" lang="zh-CN" altLang="en-US" sz="1800" dirty="0"/>
              <a:t>互联网、网络搜索、大数据、人工智能、智能驾驶、云计算等</a:t>
            </a:r>
            <a:endParaRPr kumimoji="1" lang="en-US" altLang="zh-CN" sz="1800" dirty="0"/>
          </a:p>
          <a:p>
            <a:pPr lvl="1"/>
            <a:r>
              <a:rPr kumimoji="1" lang="zh-CN" altLang="en-US" sz="1800" dirty="0"/>
              <a:t>持久性内存、</a:t>
            </a:r>
            <a:r>
              <a:rPr kumimoji="1" lang="en-US" altLang="zh-CN" sz="1800" dirty="0"/>
              <a:t>GPU</a:t>
            </a:r>
            <a:r>
              <a:rPr kumimoji="1" lang="zh-CN" altLang="en-US" sz="1800" dirty="0"/>
              <a:t>、智能网卡、</a:t>
            </a:r>
            <a:r>
              <a:rPr kumimoji="1" lang="en-US" altLang="zh-CN" sz="1800" dirty="0"/>
              <a:t>AI</a:t>
            </a:r>
            <a:r>
              <a:rPr kumimoji="1" lang="zh-CN" altLang="en-US" sz="1800" dirty="0"/>
              <a:t>芯片、硬件</a:t>
            </a:r>
            <a:r>
              <a:rPr kumimoji="1" lang="en-US" altLang="zh-CN" sz="1800" dirty="0"/>
              <a:t>Enclave</a:t>
            </a:r>
            <a:r>
              <a:rPr kumimoji="1" lang="zh-CN" altLang="en-US" sz="1800" dirty="0"/>
              <a:t>等</a:t>
            </a:r>
            <a:endParaRPr kumimoji="1" lang="en-US" altLang="zh-CN" sz="1800" dirty="0"/>
          </a:p>
          <a:p>
            <a:r>
              <a:rPr kumimoji="1" lang="zh-CN" altLang="en-US" dirty="0">
                <a:latin typeface="+mn-lt"/>
              </a:rPr>
              <a:t>两个核心问题</a:t>
            </a:r>
            <a:endParaRPr kumimoji="1" lang="en-US" altLang="zh-CN" dirty="0">
              <a:latin typeface="+mn-lt"/>
            </a:endParaRPr>
          </a:p>
          <a:p>
            <a:pPr lvl="1"/>
            <a:r>
              <a:rPr kumimoji="1" lang="zh-CN" altLang="en-US" sz="1800" dirty="0">
                <a:latin typeface="+mn-lt"/>
              </a:rPr>
              <a:t>如何为上层应用提供更快、更安全、更易用的接口？</a:t>
            </a:r>
            <a:endParaRPr kumimoji="1" lang="en-US" altLang="zh-CN" sz="1800" dirty="0">
              <a:latin typeface="+mn-lt"/>
            </a:endParaRPr>
          </a:p>
          <a:p>
            <a:pPr lvl="1"/>
            <a:r>
              <a:rPr kumimoji="1" lang="zh-CN" altLang="en-US" sz="1800" dirty="0"/>
              <a:t>如何为底层硬件建立高效、安全、高利用率的抽象？</a:t>
            </a:r>
            <a:endParaRPr kumimoji="1" lang="en-US" altLang="zh-CN" sz="1800" dirty="0">
              <a:latin typeface="+mn-lt"/>
            </a:endParaRPr>
          </a:p>
        </p:txBody>
      </p:sp>
      <p:sp>
        <p:nvSpPr>
          <p:cNvPr id="4" name="灯片编号占位符 3">
            <a:extLst>
              <a:ext uri="{FF2B5EF4-FFF2-40B4-BE49-F238E27FC236}">
                <a16:creationId xmlns:a16="http://schemas.microsoft.com/office/drawing/2014/main" id="{FBAEBC23-F06B-DF4A-BC73-C49B1D6FAEC3}"/>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3</a:t>
            </a:fld>
            <a:endParaRPr lang="zh-CN" altLang="en-US"/>
          </a:p>
        </p:txBody>
      </p:sp>
      <p:sp>
        <p:nvSpPr>
          <p:cNvPr id="5" name="页脚占位符 4">
            <a:extLst>
              <a:ext uri="{FF2B5EF4-FFF2-40B4-BE49-F238E27FC236}">
                <a16:creationId xmlns:a16="http://schemas.microsoft.com/office/drawing/2014/main" id="{150238B4-70FE-5F49-9140-BAE3EB5E9C7D}"/>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222444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3200" dirty="0"/>
              <a:t>操作系统的八个前沿研究领域</a:t>
            </a:r>
            <a:endParaRPr kumimoji="1" lang="zh-CN" altLang="en-US" sz="3200" dirty="0">
              <a:latin typeface="+mj-lt"/>
            </a:endParaRP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394039"/>
            <a:ext cx="3898776" cy="3911733"/>
          </a:xfrm>
        </p:spPr>
        <p:txBody>
          <a:bodyPr>
            <a:normAutofit/>
          </a:bodyPr>
          <a:lstStyle/>
          <a:p>
            <a:pPr marL="0" indent="0">
              <a:buNone/>
            </a:pPr>
            <a:r>
              <a:rPr kumimoji="1" lang="en-US" altLang="zh-CN" sz="2800" dirty="0">
                <a:latin typeface="+mn-lt"/>
              </a:rPr>
              <a:t>1.</a:t>
            </a:r>
            <a:r>
              <a:rPr kumimoji="1" lang="zh-CN" altLang="en-US" sz="2800" dirty="0">
                <a:latin typeface="+mn-lt"/>
              </a:rPr>
              <a:t> 异构操作系统</a:t>
            </a:r>
            <a:endParaRPr kumimoji="1" lang="en-US" altLang="zh-CN" sz="2800" dirty="0">
              <a:latin typeface="+mn-lt"/>
            </a:endParaRPr>
          </a:p>
          <a:p>
            <a:pPr marL="0" indent="0">
              <a:buNone/>
            </a:pPr>
            <a:r>
              <a:rPr kumimoji="1" lang="en-US" altLang="zh-CN" sz="2800" dirty="0">
                <a:latin typeface="+mn-lt"/>
              </a:rPr>
              <a:t>2.</a:t>
            </a:r>
            <a:r>
              <a:rPr kumimoji="1" lang="zh-CN" altLang="en-US" sz="2800" dirty="0">
                <a:latin typeface="+mn-lt"/>
              </a:rPr>
              <a:t> 新的应用接口</a:t>
            </a:r>
            <a:endParaRPr kumimoji="1" lang="en-US" altLang="zh-CN" sz="2800" dirty="0">
              <a:latin typeface="+mn-lt"/>
            </a:endParaRPr>
          </a:p>
          <a:p>
            <a:pPr marL="0" indent="0">
              <a:buNone/>
            </a:pPr>
            <a:r>
              <a:rPr kumimoji="1" lang="en-US" altLang="zh-CN" sz="2800" dirty="0"/>
              <a:t>3.</a:t>
            </a:r>
            <a:r>
              <a:rPr kumimoji="1" lang="zh-CN" altLang="en-US" sz="2800" dirty="0"/>
              <a:t> 同步原语</a:t>
            </a:r>
          </a:p>
          <a:p>
            <a:pPr marL="0" indent="0">
              <a:buNone/>
            </a:pPr>
            <a:r>
              <a:rPr kumimoji="1" lang="en-US" altLang="zh-CN" sz="2800" dirty="0">
                <a:latin typeface="+mn-lt"/>
              </a:rPr>
              <a:t>4.</a:t>
            </a:r>
            <a:r>
              <a:rPr kumimoji="1" lang="zh-CN" altLang="en-US" sz="2800" dirty="0">
                <a:latin typeface="+mn-lt"/>
              </a:rPr>
              <a:t> 持久性内存</a:t>
            </a:r>
            <a:endParaRPr kumimoji="1" lang="en-US" altLang="zh-CN" sz="2800" dirty="0">
              <a:latin typeface="+mn-lt"/>
            </a:endParaRPr>
          </a:p>
        </p:txBody>
      </p:sp>
      <p:sp>
        <p:nvSpPr>
          <p:cNvPr id="4" name="灯片编号占位符 3">
            <a:extLst>
              <a:ext uri="{FF2B5EF4-FFF2-40B4-BE49-F238E27FC236}">
                <a16:creationId xmlns:a16="http://schemas.microsoft.com/office/drawing/2014/main" id="{CF9BB640-CB11-014E-8ABC-EBE8D3282E00}"/>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4</a:t>
            </a:fld>
            <a:endParaRPr lang="zh-CN" altLang="en-US"/>
          </a:p>
        </p:txBody>
      </p:sp>
      <p:sp>
        <p:nvSpPr>
          <p:cNvPr id="5" name="页脚占位符 4">
            <a:extLst>
              <a:ext uri="{FF2B5EF4-FFF2-40B4-BE49-F238E27FC236}">
                <a16:creationId xmlns:a16="http://schemas.microsoft.com/office/drawing/2014/main" id="{45C60B85-2C77-3947-853E-35E1F5ADBA2C}"/>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内容占位符 2">
            <a:extLst>
              <a:ext uri="{FF2B5EF4-FFF2-40B4-BE49-F238E27FC236}">
                <a16:creationId xmlns:a16="http://schemas.microsoft.com/office/drawing/2014/main" id="{DF0612F8-DA82-BD44-A2E6-09D48655D051}"/>
              </a:ext>
            </a:extLst>
          </p:cNvPr>
          <p:cNvSpPr txBox="1">
            <a:spLocks/>
          </p:cNvSpPr>
          <p:nvPr/>
        </p:nvSpPr>
        <p:spPr>
          <a:xfrm>
            <a:off x="4932040" y="1394039"/>
            <a:ext cx="3898776" cy="386302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en-US" altLang="zh-CN" sz="2800" dirty="0"/>
              <a:t>5.</a:t>
            </a:r>
            <a:r>
              <a:rPr kumimoji="1" lang="zh-CN" altLang="en-US" sz="2800" dirty="0"/>
              <a:t> 系统安全</a:t>
            </a:r>
            <a:endParaRPr kumimoji="1" lang="en-US" altLang="zh-CN" sz="2800" dirty="0"/>
          </a:p>
          <a:p>
            <a:pPr marL="0" indent="0">
              <a:buNone/>
            </a:pPr>
            <a:r>
              <a:rPr kumimoji="1" lang="en-US" altLang="zh-CN" sz="2800" dirty="0"/>
              <a:t>6.</a:t>
            </a:r>
            <a:r>
              <a:rPr kumimoji="1" lang="zh-CN" altLang="en-US" sz="2800" dirty="0"/>
              <a:t> 操作系统测试</a:t>
            </a:r>
            <a:endParaRPr kumimoji="1" lang="en-US" altLang="zh-CN" sz="2800" dirty="0"/>
          </a:p>
          <a:p>
            <a:pPr marL="0" indent="0">
              <a:buNone/>
            </a:pPr>
            <a:r>
              <a:rPr kumimoji="1" lang="en-US" altLang="zh-CN" sz="2800" dirty="0"/>
              <a:t>7.</a:t>
            </a:r>
            <a:r>
              <a:rPr kumimoji="1" lang="zh-CN" altLang="en-US" sz="2800" dirty="0"/>
              <a:t> 形式化证明</a:t>
            </a:r>
            <a:endParaRPr kumimoji="1" lang="en-US" altLang="zh-CN" sz="2800" dirty="0"/>
          </a:p>
          <a:p>
            <a:pPr marL="0" indent="0">
              <a:buNone/>
            </a:pPr>
            <a:r>
              <a:rPr kumimoji="1" lang="en-US" altLang="zh-CN" sz="2800" dirty="0"/>
              <a:t>8.</a:t>
            </a:r>
            <a:r>
              <a:rPr kumimoji="1" lang="zh-CN" altLang="en-US" sz="2800" dirty="0"/>
              <a:t> 大语言模型</a:t>
            </a:r>
            <a:endParaRPr kumimoji="1" lang="en-US" altLang="zh-CN" sz="2800" dirty="0"/>
          </a:p>
          <a:p>
            <a:pPr marL="457200" indent="-457200">
              <a:buFont typeface="+mj-lt"/>
              <a:buAutoNum type="arabicPeriod"/>
            </a:pPr>
            <a:endParaRPr kumimoji="1" lang="en-US" altLang="zh-CN" sz="2800" dirty="0"/>
          </a:p>
        </p:txBody>
      </p:sp>
    </p:spTree>
    <p:extLst>
      <p:ext uri="{BB962C8B-B14F-4D97-AF65-F5344CB8AC3E}">
        <p14:creationId xmlns:p14="http://schemas.microsoft.com/office/powerpoint/2010/main" val="2866027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en-US" altLang="zh-CN" b="1" dirty="0"/>
              <a:t>1</a:t>
            </a:r>
            <a:r>
              <a:rPr kumimoji="1" lang="zh-CN" altLang="en-US" b="1" dirty="0"/>
              <a:t>、异构操作系统</a:t>
            </a:r>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r>
              <a:rPr kumimoji="1" lang="en-US" altLang="zh-CN" dirty="0"/>
              <a:t>Heterogeneous OS</a:t>
            </a:r>
          </a:p>
        </p:txBody>
      </p:sp>
      <p:sp>
        <p:nvSpPr>
          <p:cNvPr id="8" name="灯片编号占位符 3">
            <a:extLst>
              <a:ext uri="{FF2B5EF4-FFF2-40B4-BE49-F238E27FC236}">
                <a16:creationId xmlns:a16="http://schemas.microsoft.com/office/drawing/2014/main" id="{2D0C6537-F9A5-AA44-B8AE-CD01DDBC7C3C}"/>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5</a:t>
            </a:fld>
            <a:endParaRPr lang="zh-CN" altLang="en-US"/>
          </a:p>
        </p:txBody>
      </p:sp>
      <p:sp>
        <p:nvSpPr>
          <p:cNvPr id="9" name="页脚占位符 4">
            <a:extLst>
              <a:ext uri="{FF2B5EF4-FFF2-40B4-BE49-F238E27FC236}">
                <a16:creationId xmlns:a16="http://schemas.microsoft.com/office/drawing/2014/main" id="{EA7D7794-1E10-5E4B-B8BE-6EAE51B089E7}"/>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631496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3200" dirty="0">
                <a:latin typeface="+mj-lt"/>
              </a:rPr>
              <a:t>硬件发展的趋势：多样化与异构化</a:t>
            </a:r>
          </a:p>
        </p:txBody>
      </p:sp>
      <p:sp>
        <p:nvSpPr>
          <p:cNvPr id="56" name="矩形 55"/>
          <p:cNvSpPr/>
          <p:nvPr/>
        </p:nvSpPr>
        <p:spPr>
          <a:xfrm>
            <a:off x="4776136" y="4222952"/>
            <a:ext cx="1515068" cy="407192"/>
          </a:xfrm>
          <a:prstGeom prst="rect">
            <a:avLst/>
          </a:prstGeom>
          <a:solidFill>
            <a:schemeClr val="bg2">
              <a:lumMod val="2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1350" dirty="0"/>
              <a:t>Storage</a:t>
            </a:r>
            <a:endParaRPr kumimoji="1" lang="zh-CN" altLang="en-US" sz="1350" dirty="0"/>
          </a:p>
        </p:txBody>
      </p:sp>
      <p:sp>
        <p:nvSpPr>
          <p:cNvPr id="57" name="矩形 56"/>
          <p:cNvSpPr/>
          <p:nvPr/>
        </p:nvSpPr>
        <p:spPr>
          <a:xfrm>
            <a:off x="4776136" y="3757418"/>
            <a:ext cx="1515068" cy="417911"/>
          </a:xfrm>
          <a:prstGeom prst="rect">
            <a:avLst/>
          </a:prstGeom>
          <a:solidFill>
            <a:schemeClr val="bg2">
              <a:lumMod val="2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1350" dirty="0"/>
              <a:t>Network</a:t>
            </a:r>
            <a:endParaRPr kumimoji="1" lang="zh-CN" altLang="en-US" sz="1350" dirty="0"/>
          </a:p>
        </p:txBody>
      </p:sp>
      <p:sp>
        <p:nvSpPr>
          <p:cNvPr id="58" name="圆角矩形 57"/>
          <p:cNvSpPr/>
          <p:nvPr/>
        </p:nvSpPr>
        <p:spPr>
          <a:xfrm>
            <a:off x="4716016" y="3433564"/>
            <a:ext cx="1651388" cy="135969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zh-CN" sz="1350" dirty="0">
                <a:solidFill>
                  <a:schemeClr val="tx1"/>
                </a:solidFill>
              </a:rPr>
              <a:t>I/O</a:t>
            </a:r>
            <a:endParaRPr kumimoji="1" lang="zh-CN" altLang="en-US" sz="1350" dirty="0">
              <a:solidFill>
                <a:schemeClr val="tx1"/>
              </a:solidFill>
            </a:endParaRPr>
          </a:p>
        </p:txBody>
      </p:sp>
      <p:sp>
        <p:nvSpPr>
          <p:cNvPr id="65" name="矩形 64"/>
          <p:cNvSpPr/>
          <p:nvPr/>
        </p:nvSpPr>
        <p:spPr>
          <a:xfrm>
            <a:off x="5505988" y="3836295"/>
            <a:ext cx="356593" cy="24110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t>PU</a:t>
            </a:r>
            <a:endParaRPr kumimoji="1" lang="zh-CN" altLang="en-US" sz="900" dirty="0"/>
          </a:p>
        </p:txBody>
      </p:sp>
      <p:sp>
        <p:nvSpPr>
          <p:cNvPr id="66" name="矩形 65"/>
          <p:cNvSpPr/>
          <p:nvPr/>
        </p:nvSpPr>
        <p:spPr>
          <a:xfrm>
            <a:off x="5862580" y="3836295"/>
            <a:ext cx="358377" cy="241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600" dirty="0"/>
              <a:t>Mem</a:t>
            </a:r>
            <a:endParaRPr kumimoji="1" lang="zh-CN" altLang="en-US" sz="600" dirty="0"/>
          </a:p>
        </p:txBody>
      </p:sp>
      <p:sp>
        <p:nvSpPr>
          <p:cNvPr id="67" name="矩形 66"/>
          <p:cNvSpPr/>
          <p:nvPr/>
        </p:nvSpPr>
        <p:spPr>
          <a:xfrm>
            <a:off x="5505988" y="4308675"/>
            <a:ext cx="356593" cy="24110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t>PU</a:t>
            </a:r>
            <a:endParaRPr kumimoji="1" lang="zh-CN" altLang="en-US" sz="900" dirty="0"/>
          </a:p>
        </p:txBody>
      </p:sp>
      <p:sp>
        <p:nvSpPr>
          <p:cNvPr id="68" name="矩形 67"/>
          <p:cNvSpPr/>
          <p:nvPr/>
        </p:nvSpPr>
        <p:spPr>
          <a:xfrm>
            <a:off x="5862580" y="4308675"/>
            <a:ext cx="358377" cy="241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600" dirty="0"/>
              <a:t>Mem</a:t>
            </a:r>
            <a:endParaRPr kumimoji="1" lang="zh-CN" altLang="en-US" sz="600" dirty="0"/>
          </a:p>
        </p:txBody>
      </p:sp>
      <p:sp>
        <p:nvSpPr>
          <p:cNvPr id="46" name="矩形 45"/>
          <p:cNvSpPr/>
          <p:nvPr/>
        </p:nvSpPr>
        <p:spPr>
          <a:xfrm>
            <a:off x="1701807" y="3212654"/>
            <a:ext cx="505642" cy="477452"/>
          </a:xfrm>
          <a:prstGeom prst="rect">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CPU</a:t>
            </a:r>
            <a:endParaRPr kumimoji="1" lang="zh-CN" altLang="en-US" sz="1100" dirty="0"/>
          </a:p>
        </p:txBody>
      </p:sp>
      <p:sp>
        <p:nvSpPr>
          <p:cNvPr id="47" name="矩形 46"/>
          <p:cNvSpPr/>
          <p:nvPr/>
        </p:nvSpPr>
        <p:spPr>
          <a:xfrm>
            <a:off x="2276510" y="3212654"/>
            <a:ext cx="494129" cy="477452"/>
          </a:xfrm>
          <a:prstGeom prst="rect">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GPU</a:t>
            </a:r>
            <a:endParaRPr kumimoji="1" lang="zh-CN" altLang="en-US" sz="1100" dirty="0"/>
          </a:p>
        </p:txBody>
      </p:sp>
      <p:sp>
        <p:nvSpPr>
          <p:cNvPr id="48" name="矩形 47"/>
          <p:cNvSpPr/>
          <p:nvPr/>
        </p:nvSpPr>
        <p:spPr>
          <a:xfrm>
            <a:off x="2862305" y="3212654"/>
            <a:ext cx="1048289" cy="477452"/>
          </a:xfrm>
          <a:prstGeom prst="rect">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1200" dirty="0"/>
              <a:t>AI</a:t>
            </a:r>
            <a:r>
              <a:rPr kumimoji="1" lang="zh-CN" altLang="en-US" sz="1200" dirty="0"/>
              <a:t> </a:t>
            </a:r>
          </a:p>
        </p:txBody>
      </p:sp>
      <p:sp>
        <p:nvSpPr>
          <p:cNvPr id="49" name="矩形 48"/>
          <p:cNvSpPr/>
          <p:nvPr/>
        </p:nvSpPr>
        <p:spPr>
          <a:xfrm>
            <a:off x="3964173" y="3234086"/>
            <a:ext cx="600074" cy="477452"/>
          </a:xfrm>
          <a:prstGeom prst="rect">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a:t>FPGA</a:t>
            </a:r>
            <a:endParaRPr kumimoji="1" lang="zh-CN" altLang="en-US" sz="1200" dirty="0"/>
          </a:p>
        </p:txBody>
      </p:sp>
      <p:sp>
        <p:nvSpPr>
          <p:cNvPr id="50" name="矩形 49"/>
          <p:cNvSpPr/>
          <p:nvPr/>
        </p:nvSpPr>
        <p:spPr>
          <a:xfrm>
            <a:off x="3034935" y="3813631"/>
            <a:ext cx="1529312" cy="9796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350" dirty="0"/>
              <a:t>RAM</a:t>
            </a:r>
            <a:endParaRPr kumimoji="1" lang="zh-CN" altLang="en-US" sz="1350" dirty="0"/>
          </a:p>
        </p:txBody>
      </p:sp>
      <p:sp>
        <p:nvSpPr>
          <p:cNvPr id="63" name="矩形 62"/>
          <p:cNvSpPr/>
          <p:nvPr/>
        </p:nvSpPr>
        <p:spPr>
          <a:xfrm>
            <a:off x="1689695" y="3813631"/>
            <a:ext cx="1345241" cy="9796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350" dirty="0"/>
              <a:t>NVM</a:t>
            </a:r>
            <a:endParaRPr kumimoji="1" lang="zh-CN" altLang="en-US" sz="1350" dirty="0"/>
          </a:p>
        </p:txBody>
      </p:sp>
      <p:sp>
        <p:nvSpPr>
          <p:cNvPr id="64" name="矩形 63"/>
          <p:cNvSpPr/>
          <p:nvPr/>
        </p:nvSpPr>
        <p:spPr>
          <a:xfrm>
            <a:off x="3151572" y="3328450"/>
            <a:ext cx="356593" cy="241104"/>
          </a:xfrm>
          <a:prstGeom prst="rect">
            <a:avLst/>
          </a:prstGeom>
          <a:solidFill>
            <a:schemeClr val="accent2"/>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t>PU</a:t>
            </a:r>
            <a:endParaRPr kumimoji="1" lang="zh-CN" altLang="en-US" sz="900" dirty="0"/>
          </a:p>
        </p:txBody>
      </p:sp>
      <p:sp>
        <p:nvSpPr>
          <p:cNvPr id="69" name="矩形 68"/>
          <p:cNvSpPr/>
          <p:nvPr/>
        </p:nvSpPr>
        <p:spPr>
          <a:xfrm>
            <a:off x="3508164" y="3328450"/>
            <a:ext cx="358377" cy="2411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600" dirty="0"/>
              <a:t>Mem</a:t>
            </a:r>
            <a:endParaRPr kumimoji="1" lang="zh-CN" altLang="en-US" sz="600" dirty="0"/>
          </a:p>
        </p:txBody>
      </p:sp>
      <p:sp>
        <p:nvSpPr>
          <p:cNvPr id="4" name="文本框 3"/>
          <p:cNvSpPr txBox="1"/>
          <p:nvPr/>
        </p:nvSpPr>
        <p:spPr>
          <a:xfrm>
            <a:off x="6603826" y="3282663"/>
            <a:ext cx="954107" cy="323165"/>
          </a:xfrm>
          <a:prstGeom prst="rect">
            <a:avLst/>
          </a:prstGeom>
          <a:noFill/>
        </p:spPr>
        <p:txBody>
          <a:bodyPr wrap="none" rtlCol="0">
            <a:spAutoFit/>
          </a:bodyPr>
          <a:lstStyle/>
          <a:p>
            <a:r>
              <a:rPr kumimoji="1" lang="zh-CN" altLang="en-US" sz="1500" dirty="0"/>
              <a:t>数据中心</a:t>
            </a:r>
          </a:p>
        </p:txBody>
      </p:sp>
      <p:sp>
        <p:nvSpPr>
          <p:cNvPr id="70" name="文本框 69"/>
          <p:cNvSpPr txBox="1"/>
          <p:nvPr/>
        </p:nvSpPr>
        <p:spPr>
          <a:xfrm>
            <a:off x="6592010" y="3775233"/>
            <a:ext cx="1345240" cy="323165"/>
          </a:xfrm>
          <a:prstGeom prst="rect">
            <a:avLst/>
          </a:prstGeom>
          <a:noFill/>
        </p:spPr>
        <p:txBody>
          <a:bodyPr wrap="none" rtlCol="0">
            <a:spAutoFit/>
          </a:bodyPr>
          <a:lstStyle/>
          <a:p>
            <a:r>
              <a:rPr kumimoji="1" lang="zh-CN" altLang="en-US" sz="1500" dirty="0"/>
              <a:t>无人驾驶汽车</a:t>
            </a:r>
          </a:p>
        </p:txBody>
      </p:sp>
      <p:sp>
        <p:nvSpPr>
          <p:cNvPr id="77" name="文本框 76"/>
          <p:cNvSpPr txBox="1"/>
          <p:nvPr/>
        </p:nvSpPr>
        <p:spPr>
          <a:xfrm>
            <a:off x="6606319" y="4325545"/>
            <a:ext cx="774571" cy="323165"/>
          </a:xfrm>
          <a:prstGeom prst="rect">
            <a:avLst/>
          </a:prstGeom>
          <a:noFill/>
        </p:spPr>
        <p:txBody>
          <a:bodyPr wrap="none" rtlCol="0">
            <a:spAutoFit/>
          </a:bodyPr>
          <a:lstStyle/>
          <a:p>
            <a:r>
              <a:rPr kumimoji="1" lang="zh-CN" altLang="en-US" sz="1500" dirty="0"/>
              <a:t>机器人</a:t>
            </a:r>
          </a:p>
        </p:txBody>
      </p:sp>
      <p:cxnSp>
        <p:nvCxnSpPr>
          <p:cNvPr id="6" name="直线箭头连接符 5"/>
          <p:cNvCxnSpPr>
            <a:cxnSpLocks/>
            <a:endCxn id="4" idx="1"/>
          </p:cNvCxnSpPr>
          <p:nvPr/>
        </p:nvCxnSpPr>
        <p:spPr>
          <a:xfrm flipV="1">
            <a:off x="6400763" y="3444246"/>
            <a:ext cx="203063" cy="428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线箭头连接符 77"/>
          <p:cNvCxnSpPr>
            <a:cxnSpLocks/>
          </p:cNvCxnSpPr>
          <p:nvPr/>
        </p:nvCxnSpPr>
        <p:spPr>
          <a:xfrm flipV="1">
            <a:off x="6399868" y="3939539"/>
            <a:ext cx="192142" cy="26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线箭头连接符 78"/>
          <p:cNvCxnSpPr>
            <a:cxnSpLocks/>
          </p:cNvCxnSpPr>
          <p:nvPr/>
        </p:nvCxnSpPr>
        <p:spPr>
          <a:xfrm>
            <a:off x="6480324" y="4424703"/>
            <a:ext cx="162518" cy="69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291264" cy="3060851"/>
          </a:xfrm>
        </p:spPr>
        <p:txBody>
          <a:bodyPr>
            <a:normAutofit/>
          </a:bodyPr>
          <a:lstStyle/>
          <a:p>
            <a:r>
              <a:rPr kumimoji="1" lang="zh-CN" altLang="en-US" sz="2000" dirty="0">
                <a:latin typeface="+mn-ea"/>
                <a:ea typeface="+mn-ea"/>
              </a:rPr>
              <a:t>异构计算：</a:t>
            </a:r>
            <a:r>
              <a:rPr kumimoji="1" lang="en-US" altLang="zh-CN" sz="2000" dirty="0">
                <a:latin typeface="+mn-ea"/>
                <a:ea typeface="+mn-ea"/>
              </a:rPr>
              <a:t>CPU</a:t>
            </a:r>
            <a:r>
              <a:rPr kumimoji="1" lang="zh-CN" altLang="en-US" sz="2000" dirty="0">
                <a:latin typeface="+mn-ea"/>
                <a:ea typeface="+mn-ea"/>
              </a:rPr>
              <a:t>、</a:t>
            </a:r>
            <a:r>
              <a:rPr kumimoji="1" lang="en-US" altLang="zh-CN" sz="2000" dirty="0">
                <a:latin typeface="+mn-ea"/>
                <a:ea typeface="+mn-ea"/>
              </a:rPr>
              <a:t>GPU</a:t>
            </a:r>
            <a:r>
              <a:rPr kumimoji="1" lang="zh-CN" altLang="en-US" sz="2000" dirty="0">
                <a:latin typeface="+mn-ea"/>
                <a:ea typeface="+mn-ea"/>
              </a:rPr>
              <a:t>、</a:t>
            </a:r>
            <a:r>
              <a:rPr kumimoji="1" lang="en-US" altLang="zh-CN" sz="2000" dirty="0">
                <a:latin typeface="+mn-ea"/>
                <a:ea typeface="+mn-ea"/>
              </a:rPr>
              <a:t>FPGA</a:t>
            </a:r>
            <a:r>
              <a:rPr kumimoji="1" lang="zh-CN" altLang="en-US" sz="2000" dirty="0">
                <a:latin typeface="+mn-ea"/>
                <a:ea typeface="+mn-ea"/>
              </a:rPr>
              <a:t>、</a:t>
            </a:r>
            <a:r>
              <a:rPr kumimoji="1" lang="en-US" altLang="zh-CN" sz="2000" dirty="0">
                <a:latin typeface="+mn-ea"/>
                <a:ea typeface="+mn-ea"/>
              </a:rPr>
              <a:t>AI</a:t>
            </a:r>
            <a:r>
              <a:rPr kumimoji="1" lang="zh-CN" altLang="en-US" sz="2000" dirty="0">
                <a:latin typeface="+mn-ea"/>
                <a:ea typeface="+mn-ea"/>
              </a:rPr>
              <a:t>加速器等</a:t>
            </a:r>
            <a:endParaRPr kumimoji="1" lang="en-US" altLang="zh-CN" sz="2000" dirty="0">
              <a:latin typeface="+mn-ea"/>
              <a:ea typeface="+mn-ea"/>
            </a:endParaRPr>
          </a:p>
          <a:p>
            <a:r>
              <a:rPr kumimoji="1" lang="zh-CN" altLang="en-US" sz="2000" dirty="0">
                <a:latin typeface="+mn-lt"/>
              </a:rPr>
              <a:t>异构存储：</a:t>
            </a:r>
            <a:r>
              <a:rPr kumimoji="1" lang="en-US" altLang="zh-CN" sz="2000" dirty="0">
                <a:latin typeface="+mn-lt"/>
              </a:rPr>
              <a:t>DRAM</a:t>
            </a:r>
            <a:r>
              <a:rPr kumimoji="1" lang="zh-CN" altLang="en-US" sz="2000" dirty="0">
                <a:latin typeface="+mn-lt"/>
              </a:rPr>
              <a:t>、</a:t>
            </a:r>
            <a:r>
              <a:rPr kumimoji="1" lang="en-US" altLang="zh-CN" sz="2000" dirty="0">
                <a:latin typeface="+mn-lt"/>
              </a:rPr>
              <a:t>NVRAM</a:t>
            </a:r>
            <a:r>
              <a:rPr kumimoji="1" lang="zh-CN" altLang="en-US" sz="2000" dirty="0">
                <a:latin typeface="+mn-lt"/>
              </a:rPr>
              <a:t>、</a:t>
            </a:r>
            <a:r>
              <a:rPr kumimoji="1" lang="en-US" altLang="zh-CN" sz="2000" dirty="0">
                <a:latin typeface="+mn-lt"/>
              </a:rPr>
              <a:t>PIM</a:t>
            </a:r>
            <a:r>
              <a:rPr kumimoji="1" lang="zh-CN" altLang="en-US" sz="2000" dirty="0">
                <a:latin typeface="+mn-lt"/>
              </a:rPr>
              <a:t>等</a:t>
            </a:r>
            <a:endParaRPr kumimoji="1" lang="en-US" altLang="zh-CN" sz="2000" dirty="0">
              <a:latin typeface="+mn-lt"/>
            </a:endParaRPr>
          </a:p>
          <a:p>
            <a:r>
              <a:rPr kumimoji="1" lang="zh-CN" altLang="en-US" sz="2000" dirty="0">
                <a:latin typeface="+mn-lt"/>
              </a:rPr>
              <a:t>异构</a:t>
            </a:r>
            <a:r>
              <a:rPr kumimoji="1" lang="en-US" altLang="zh-CN" sz="2000" dirty="0">
                <a:latin typeface="+mn-lt"/>
              </a:rPr>
              <a:t>I/O</a:t>
            </a:r>
            <a:r>
              <a:rPr kumimoji="1" lang="zh-CN" altLang="en-US" sz="2000" dirty="0">
                <a:latin typeface="+mn-lt"/>
              </a:rPr>
              <a:t>：智能网卡、智能</a:t>
            </a:r>
            <a:r>
              <a:rPr kumimoji="1" lang="en-US" altLang="zh-CN" sz="2000" dirty="0">
                <a:latin typeface="+mn-lt"/>
              </a:rPr>
              <a:t>SSD</a:t>
            </a:r>
            <a:r>
              <a:rPr kumimoji="1" lang="zh-CN" altLang="en-US" sz="2000" dirty="0">
                <a:latin typeface="+mn-lt"/>
              </a:rPr>
              <a:t>等</a:t>
            </a:r>
            <a:endParaRPr kumimoji="1" lang="en-US" altLang="zh-CN" sz="2000" dirty="0">
              <a:latin typeface="+mn-lt"/>
            </a:endParaRPr>
          </a:p>
        </p:txBody>
      </p:sp>
      <p:sp>
        <p:nvSpPr>
          <p:cNvPr id="26" name="灯片编号占位符 3">
            <a:extLst>
              <a:ext uri="{FF2B5EF4-FFF2-40B4-BE49-F238E27FC236}">
                <a16:creationId xmlns:a16="http://schemas.microsoft.com/office/drawing/2014/main" id="{7017B070-5843-C746-B221-D306ED90CFC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6</a:t>
            </a:fld>
            <a:endParaRPr lang="zh-CN" altLang="en-US"/>
          </a:p>
        </p:txBody>
      </p:sp>
      <p:sp>
        <p:nvSpPr>
          <p:cNvPr id="27" name="页脚占位符 4">
            <a:extLst>
              <a:ext uri="{FF2B5EF4-FFF2-40B4-BE49-F238E27FC236}">
                <a16:creationId xmlns:a16="http://schemas.microsoft.com/office/drawing/2014/main" id="{9EBD47E5-1E6B-234E-BCA9-6F906C4406B3}"/>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576724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3200" dirty="0">
                <a:latin typeface="+mj-lt"/>
              </a:rPr>
              <a:t>为什么需要异构硬件？</a:t>
            </a: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291264" cy="4122373"/>
          </a:xfrm>
        </p:spPr>
        <p:txBody>
          <a:bodyPr>
            <a:normAutofit/>
          </a:bodyPr>
          <a:lstStyle/>
          <a:p>
            <a:r>
              <a:rPr kumimoji="1" lang="zh-CN" altLang="en-US" sz="2000" dirty="0"/>
              <a:t>硬件能力很难再提升单个</a:t>
            </a:r>
            <a:r>
              <a:rPr kumimoji="1" lang="en-US" altLang="zh-CN" sz="2000" dirty="0"/>
              <a:t>CPU</a:t>
            </a:r>
            <a:r>
              <a:rPr kumimoji="1" lang="zh-CN" altLang="en-US" sz="2000" dirty="0"/>
              <a:t>核性能（摩尔定律的结束）</a:t>
            </a:r>
            <a:endParaRPr kumimoji="1" lang="en-US" altLang="zh-CN" sz="2000" dirty="0"/>
          </a:p>
          <a:p>
            <a:r>
              <a:rPr kumimoji="1" lang="zh-CN" altLang="en-US" sz="2000" dirty="0"/>
              <a:t>上层应用对架构的性能提出了更高的要求</a:t>
            </a:r>
            <a:endParaRPr kumimoji="1" lang="en-US" altLang="zh-CN" sz="2000" dirty="0"/>
          </a:p>
          <a:p>
            <a:r>
              <a:rPr kumimoji="1" lang="en-US" altLang="zh-CN" sz="2000" dirty="0"/>
              <a:t>CPU</a:t>
            </a:r>
            <a:r>
              <a:rPr kumimoji="1" lang="zh-CN" altLang="en-US" sz="2000" dirty="0"/>
              <a:t>无法满足</a:t>
            </a:r>
            <a:r>
              <a:rPr kumimoji="1" lang="en-US" altLang="zh-CN" sz="2000" dirty="0">
                <a:latin typeface="+mn-lt"/>
              </a:rPr>
              <a:t>AI</a:t>
            </a:r>
            <a:r>
              <a:rPr kumimoji="1" lang="zh-CN" altLang="en-US" sz="2000" dirty="0">
                <a:latin typeface="+mn-lt"/>
              </a:rPr>
              <a:t>计算、图形处理等场景的计算需求</a:t>
            </a:r>
            <a:endParaRPr kumimoji="1" lang="en-US" altLang="zh-CN" sz="2000" dirty="0">
              <a:latin typeface="+mn-lt"/>
            </a:endParaRPr>
          </a:p>
          <a:p>
            <a:pPr lvl="1"/>
            <a:r>
              <a:rPr kumimoji="1" lang="en-US" altLang="zh-CN" sz="1600" dirty="0">
                <a:latin typeface="+mn-lt"/>
              </a:rPr>
              <a:t>AI</a:t>
            </a:r>
            <a:r>
              <a:rPr kumimoji="1" lang="zh-CN" altLang="en-US" sz="1600" dirty="0">
                <a:latin typeface="+mn-lt"/>
              </a:rPr>
              <a:t>加速器、</a:t>
            </a:r>
            <a:r>
              <a:rPr kumimoji="1" lang="en-US" altLang="zh-CN" sz="1600" dirty="0">
                <a:latin typeface="+mn-lt"/>
              </a:rPr>
              <a:t>GPU</a:t>
            </a:r>
            <a:r>
              <a:rPr kumimoji="1" lang="zh-CN" altLang="en-US" sz="1600" dirty="0">
                <a:latin typeface="+mn-lt"/>
              </a:rPr>
              <a:t>等异构计算和</a:t>
            </a:r>
            <a:r>
              <a:rPr kumimoji="1" lang="en-US" altLang="zh-CN" sz="1600" dirty="0">
                <a:latin typeface="+mn-lt"/>
              </a:rPr>
              <a:t>CPU</a:t>
            </a:r>
            <a:r>
              <a:rPr kumimoji="1" lang="zh-CN" altLang="en-US" sz="1600" dirty="0">
                <a:latin typeface="+mn-lt"/>
              </a:rPr>
              <a:t>并存</a:t>
            </a:r>
            <a:endParaRPr kumimoji="1" lang="en-US" altLang="zh-CN" sz="1600" dirty="0">
              <a:latin typeface="+mn-lt"/>
            </a:endParaRPr>
          </a:p>
          <a:p>
            <a:r>
              <a:rPr kumimoji="1" lang="en-US" altLang="zh-CN" sz="2000" dirty="0">
                <a:latin typeface="+mn-lt"/>
              </a:rPr>
              <a:t>DRAM</a:t>
            </a:r>
            <a:r>
              <a:rPr kumimoji="1" lang="zh-CN" altLang="en-US" sz="2000" dirty="0">
                <a:latin typeface="+mn-lt"/>
              </a:rPr>
              <a:t>容量受限 </a:t>
            </a:r>
            <a:r>
              <a:rPr kumimoji="1" lang="en-US" altLang="zh-CN" sz="2000" dirty="0">
                <a:latin typeface="+mn-lt"/>
              </a:rPr>
              <a:t>→</a:t>
            </a:r>
            <a:r>
              <a:rPr kumimoji="1" lang="zh-CN" altLang="en-US" sz="2000" dirty="0">
                <a:latin typeface="+mn-lt"/>
              </a:rPr>
              <a:t> </a:t>
            </a:r>
            <a:r>
              <a:rPr kumimoji="1" lang="en-US" altLang="zh-CN" sz="2000" dirty="0"/>
              <a:t>NVM</a:t>
            </a:r>
            <a:r>
              <a:rPr kumimoji="1" lang="zh-CN" altLang="en-US" sz="2000" dirty="0"/>
              <a:t>可以提供更大的内存容量</a:t>
            </a:r>
            <a:endParaRPr kumimoji="1" lang="en-US" altLang="zh-CN" sz="2000" dirty="0"/>
          </a:p>
          <a:p>
            <a:pPr lvl="1"/>
            <a:r>
              <a:rPr kumimoji="1" lang="en-US" altLang="zh-CN" sz="1600" dirty="0">
                <a:latin typeface="+mn-lt"/>
              </a:rPr>
              <a:t>DRAM</a:t>
            </a:r>
            <a:r>
              <a:rPr kumimoji="1" lang="zh-CN" altLang="en-US" sz="1600" dirty="0">
                <a:latin typeface="+mn-lt"/>
              </a:rPr>
              <a:t>和</a:t>
            </a:r>
            <a:r>
              <a:rPr kumimoji="1" lang="en-US" altLang="zh-CN" sz="1600" dirty="0">
                <a:latin typeface="+mn-lt"/>
              </a:rPr>
              <a:t>NVM</a:t>
            </a:r>
            <a:r>
              <a:rPr kumimoji="1" lang="zh-CN" altLang="en-US" sz="1600" dirty="0">
                <a:latin typeface="+mn-lt"/>
              </a:rPr>
              <a:t>等多种内存并存</a:t>
            </a:r>
            <a:endParaRPr kumimoji="1" lang="en-US" altLang="zh-CN" sz="1600" dirty="0">
              <a:latin typeface="+mn-lt"/>
            </a:endParaRPr>
          </a:p>
          <a:p>
            <a:r>
              <a:rPr kumimoji="1" lang="zh-CN" altLang="en-US" sz="2000" dirty="0"/>
              <a:t>数据中心和云需要更大的</a:t>
            </a:r>
            <a:r>
              <a:rPr kumimoji="1" lang="en-US" altLang="zh-CN" sz="2000" dirty="0"/>
              <a:t>IO</a:t>
            </a:r>
            <a:r>
              <a:rPr kumimoji="1" lang="zh-CN" altLang="en-US" sz="2000" dirty="0"/>
              <a:t>带宽和更低的时延</a:t>
            </a:r>
            <a:endParaRPr kumimoji="1" lang="en-US" altLang="zh-CN" sz="2000" dirty="0"/>
          </a:p>
          <a:p>
            <a:pPr lvl="1"/>
            <a:r>
              <a:rPr kumimoji="1" lang="en-US" altLang="zh-CN" sz="1600" dirty="0"/>
              <a:t>RDMA</a:t>
            </a:r>
            <a:r>
              <a:rPr kumimoji="1" lang="zh-CN" altLang="en-US" sz="1600" dirty="0"/>
              <a:t>、以太网卡、智能</a:t>
            </a:r>
            <a:r>
              <a:rPr kumimoji="1" lang="en-US" altLang="zh-CN" sz="1600" dirty="0"/>
              <a:t>I/O</a:t>
            </a:r>
            <a:r>
              <a:rPr kumimoji="1" lang="zh-CN" altLang="en-US" sz="1600" dirty="0"/>
              <a:t>设备等并存</a:t>
            </a:r>
            <a:endParaRPr kumimoji="1" lang="en-US" altLang="zh-CN" sz="1600" dirty="0"/>
          </a:p>
          <a:p>
            <a:endParaRPr kumimoji="1" lang="en-US" altLang="zh-CN" sz="2000" dirty="0">
              <a:latin typeface="+mn-lt"/>
            </a:endParaRPr>
          </a:p>
        </p:txBody>
      </p:sp>
      <p:sp>
        <p:nvSpPr>
          <p:cNvPr id="4" name="灯片编号占位符 3">
            <a:extLst>
              <a:ext uri="{FF2B5EF4-FFF2-40B4-BE49-F238E27FC236}">
                <a16:creationId xmlns:a16="http://schemas.microsoft.com/office/drawing/2014/main" id="{C29EB401-C1C2-3E43-8127-488162C6149A}"/>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a:t>
            </a:fld>
            <a:endParaRPr lang="zh-CN" altLang="en-US"/>
          </a:p>
        </p:txBody>
      </p:sp>
      <p:sp>
        <p:nvSpPr>
          <p:cNvPr id="5" name="页脚占位符 4">
            <a:extLst>
              <a:ext uri="{FF2B5EF4-FFF2-40B4-BE49-F238E27FC236}">
                <a16:creationId xmlns:a16="http://schemas.microsoft.com/office/drawing/2014/main" id="{0312E1B2-8D95-BA46-AE2B-F3233BCAC554}"/>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3" name="矩形 2">
            <a:extLst>
              <a:ext uri="{FF2B5EF4-FFF2-40B4-BE49-F238E27FC236}">
                <a16:creationId xmlns:a16="http://schemas.microsoft.com/office/drawing/2014/main" id="{F667878C-9BAD-0F46-B3B9-DCF34F46783D}"/>
              </a:ext>
            </a:extLst>
          </p:cNvPr>
          <p:cNvSpPr/>
          <p:nvPr/>
        </p:nvSpPr>
        <p:spPr>
          <a:xfrm>
            <a:off x="1758454" y="4801716"/>
            <a:ext cx="5553123" cy="461665"/>
          </a:xfrm>
          <a:prstGeom prst="rect">
            <a:avLst/>
          </a:prstGeom>
        </p:spPr>
        <p:txBody>
          <a:bodyPr wrap="none">
            <a:spAutoFit/>
          </a:bodyPr>
          <a:lstStyle/>
          <a:p>
            <a:pPr algn="ctr"/>
            <a:r>
              <a:rPr kumimoji="1" lang="zh-CN" altLang="en-US" sz="2400" b="1" dirty="0">
                <a:solidFill>
                  <a:srgbClr val="C00000"/>
                </a:solidFill>
                <a:highlight>
                  <a:srgbClr val="FFFF00"/>
                </a:highlight>
              </a:rPr>
              <a:t>异构硬件的涌现对</a:t>
            </a:r>
            <a:r>
              <a:rPr kumimoji="1" lang="en-US" altLang="zh-CN" sz="2400" b="1" dirty="0">
                <a:solidFill>
                  <a:srgbClr val="C00000"/>
                </a:solidFill>
                <a:highlight>
                  <a:srgbClr val="FFFF00"/>
                </a:highlight>
              </a:rPr>
              <a:t>OS</a:t>
            </a:r>
            <a:r>
              <a:rPr kumimoji="1" lang="zh-CN" altLang="en-US" sz="2400" b="1" dirty="0">
                <a:solidFill>
                  <a:srgbClr val="C00000"/>
                </a:solidFill>
                <a:highlight>
                  <a:srgbClr val="FFFF00"/>
                </a:highlight>
              </a:rPr>
              <a:t>带来了全新的挑战</a:t>
            </a:r>
            <a:endParaRPr lang="zh-CN" altLang="en-US" sz="2400" b="1" dirty="0">
              <a:solidFill>
                <a:srgbClr val="C00000"/>
              </a:solidFill>
              <a:highlight>
                <a:srgbClr val="FFFF00"/>
              </a:highlight>
            </a:endParaRPr>
          </a:p>
        </p:txBody>
      </p:sp>
    </p:spTree>
    <p:extLst>
      <p:ext uri="{BB962C8B-B14F-4D97-AF65-F5344CB8AC3E}">
        <p14:creationId xmlns:p14="http://schemas.microsoft.com/office/powerpoint/2010/main" val="1764098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3200" dirty="0"/>
              <a:t>挑战</a:t>
            </a:r>
            <a:r>
              <a:rPr kumimoji="1" lang="en-US" altLang="zh-CN" sz="3200" dirty="0"/>
              <a:t>-1</a:t>
            </a:r>
            <a:r>
              <a:rPr kumimoji="1" lang="zh-CN" altLang="en-US" sz="3200" dirty="0"/>
              <a:t>：需要同时支持多种指令集 </a:t>
            </a:r>
            <a:r>
              <a:rPr kumimoji="1" lang="en-US" altLang="zh-CN" sz="3200" dirty="0"/>
              <a:t>(</a:t>
            </a:r>
            <a:r>
              <a:rPr kumimoji="1" lang="en" altLang="zh-CN" sz="3200" dirty="0"/>
              <a:t>ISA)</a:t>
            </a: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291264" cy="4194381"/>
          </a:xfrm>
        </p:spPr>
        <p:txBody>
          <a:bodyPr>
            <a:normAutofit/>
          </a:bodyPr>
          <a:lstStyle/>
          <a:p>
            <a:r>
              <a:rPr kumimoji="1" lang="zh-CN" altLang="en-US" dirty="0">
                <a:latin typeface="+mn-lt"/>
              </a:rPr>
              <a:t>不同的计算单元可能使用不同的指令集</a:t>
            </a:r>
            <a:endParaRPr kumimoji="1" lang="en-US" altLang="zh-CN" dirty="0">
              <a:latin typeface="+mn-lt"/>
            </a:endParaRPr>
          </a:p>
          <a:p>
            <a:pPr lvl="1"/>
            <a:endParaRPr kumimoji="1" lang="en-US" altLang="zh-CN" sz="1800" dirty="0">
              <a:latin typeface="+mn-lt"/>
            </a:endParaRPr>
          </a:p>
        </p:txBody>
      </p:sp>
      <p:sp>
        <p:nvSpPr>
          <p:cNvPr id="5" name="矩形 4">
            <a:extLst>
              <a:ext uri="{FF2B5EF4-FFF2-40B4-BE49-F238E27FC236}">
                <a16:creationId xmlns:a16="http://schemas.microsoft.com/office/drawing/2014/main" id="{76139F57-243B-9640-93A8-F5DF583DA727}"/>
              </a:ext>
            </a:extLst>
          </p:cNvPr>
          <p:cNvSpPr/>
          <p:nvPr/>
        </p:nvSpPr>
        <p:spPr>
          <a:xfrm>
            <a:off x="5976156" y="3967793"/>
            <a:ext cx="1059395" cy="313943"/>
          </a:xfrm>
          <a:prstGeom prst="rect">
            <a:avLst/>
          </a:prstGeom>
          <a:solidFill>
            <a:schemeClr val="bg2">
              <a:lumMod val="5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chemeClr val="bg1"/>
                </a:solidFill>
              </a:rPr>
              <a:t>RISC-V</a:t>
            </a:r>
            <a:endParaRPr kumimoji="1" lang="zh-CN" altLang="en-US" sz="1400" dirty="0">
              <a:solidFill>
                <a:schemeClr val="bg1"/>
              </a:solidFill>
            </a:endParaRPr>
          </a:p>
        </p:txBody>
      </p:sp>
      <p:sp>
        <p:nvSpPr>
          <p:cNvPr id="6" name="矩形 5">
            <a:extLst>
              <a:ext uri="{FF2B5EF4-FFF2-40B4-BE49-F238E27FC236}">
                <a16:creationId xmlns:a16="http://schemas.microsoft.com/office/drawing/2014/main" id="{CD678FEE-F886-C546-81F7-963B2BA58985}"/>
              </a:ext>
            </a:extLst>
          </p:cNvPr>
          <p:cNvSpPr/>
          <p:nvPr/>
        </p:nvSpPr>
        <p:spPr>
          <a:xfrm>
            <a:off x="2928858" y="3499141"/>
            <a:ext cx="1081281" cy="448874"/>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600" dirty="0">
                <a:solidFill>
                  <a:srgbClr val="000000">
                    <a:lumMod val="75000"/>
                    <a:lumOff val="25000"/>
                  </a:srgbClr>
                </a:solidFill>
              </a:rPr>
              <a:t>Binary-x86</a:t>
            </a:r>
            <a:endParaRPr kumimoji="1" lang="zh-CN" altLang="en-US" sz="1600" dirty="0">
              <a:solidFill>
                <a:srgbClr val="000000">
                  <a:lumMod val="75000"/>
                  <a:lumOff val="25000"/>
                </a:srgbClr>
              </a:solidFill>
            </a:endParaRPr>
          </a:p>
        </p:txBody>
      </p:sp>
      <p:sp>
        <p:nvSpPr>
          <p:cNvPr id="7" name="矩形 6">
            <a:extLst>
              <a:ext uri="{FF2B5EF4-FFF2-40B4-BE49-F238E27FC236}">
                <a16:creationId xmlns:a16="http://schemas.microsoft.com/office/drawing/2014/main" id="{799DB884-F0A5-A743-B636-C5019D02CC3C}"/>
              </a:ext>
            </a:extLst>
          </p:cNvPr>
          <p:cNvSpPr/>
          <p:nvPr/>
        </p:nvSpPr>
        <p:spPr>
          <a:xfrm>
            <a:off x="2928858" y="3967793"/>
            <a:ext cx="1059395" cy="313943"/>
          </a:xfrm>
          <a:prstGeom prst="rect">
            <a:avLst/>
          </a:prstGeom>
          <a:solidFill>
            <a:schemeClr val="bg2">
              <a:lumMod val="5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chemeClr val="bg1"/>
                </a:solidFill>
              </a:rPr>
              <a:t>X86</a:t>
            </a:r>
            <a:endParaRPr kumimoji="1" lang="zh-CN" altLang="en-US" sz="1400" dirty="0">
              <a:solidFill>
                <a:schemeClr val="bg1"/>
              </a:solidFill>
            </a:endParaRPr>
          </a:p>
        </p:txBody>
      </p:sp>
      <p:sp>
        <p:nvSpPr>
          <p:cNvPr id="9" name="矩形 8">
            <a:extLst>
              <a:ext uri="{FF2B5EF4-FFF2-40B4-BE49-F238E27FC236}">
                <a16:creationId xmlns:a16="http://schemas.microsoft.com/office/drawing/2014/main" id="{B8CD28F0-E552-F94B-8B0D-E90EE716EAA5}"/>
              </a:ext>
            </a:extLst>
          </p:cNvPr>
          <p:cNvSpPr/>
          <p:nvPr/>
        </p:nvSpPr>
        <p:spPr>
          <a:xfrm>
            <a:off x="4557797" y="3967793"/>
            <a:ext cx="1059395" cy="313943"/>
          </a:xfrm>
          <a:prstGeom prst="rect">
            <a:avLst/>
          </a:prstGeom>
          <a:solidFill>
            <a:schemeClr val="bg2">
              <a:lumMod val="5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chemeClr val="bg1"/>
                </a:solidFill>
              </a:rPr>
              <a:t>Arm64</a:t>
            </a:r>
            <a:endParaRPr kumimoji="1" lang="zh-CN" altLang="en-US" sz="1400" dirty="0">
              <a:solidFill>
                <a:schemeClr val="bg1"/>
              </a:solidFill>
            </a:endParaRPr>
          </a:p>
        </p:txBody>
      </p:sp>
      <p:sp>
        <p:nvSpPr>
          <p:cNvPr id="10" name="矩形 9">
            <a:extLst>
              <a:ext uri="{FF2B5EF4-FFF2-40B4-BE49-F238E27FC236}">
                <a16:creationId xmlns:a16="http://schemas.microsoft.com/office/drawing/2014/main" id="{6F9FBE3F-71B1-F242-A7D2-F95675F3337E}"/>
              </a:ext>
            </a:extLst>
          </p:cNvPr>
          <p:cNvSpPr/>
          <p:nvPr/>
        </p:nvSpPr>
        <p:spPr>
          <a:xfrm>
            <a:off x="5580400" y="3645111"/>
            <a:ext cx="389850" cy="338554"/>
          </a:xfrm>
          <a:prstGeom prst="rect">
            <a:avLst/>
          </a:prstGeom>
        </p:spPr>
        <p:txBody>
          <a:bodyPr wrap="none">
            <a:spAutoFit/>
          </a:bodyPr>
          <a:lstStyle/>
          <a:p>
            <a:r>
              <a:rPr lang="mr-IN" altLang="zh-CN" sz="1600" dirty="0">
                <a:solidFill>
                  <a:schemeClr val="tx1">
                    <a:lumMod val="65000"/>
                    <a:lumOff val="35000"/>
                  </a:schemeClr>
                </a:solidFill>
              </a:rPr>
              <a:t>…</a:t>
            </a:r>
            <a:endParaRPr lang="zh-CN" altLang="en-US" sz="1600" dirty="0">
              <a:solidFill>
                <a:schemeClr val="tx1">
                  <a:lumMod val="65000"/>
                  <a:lumOff val="35000"/>
                </a:schemeClr>
              </a:solidFill>
            </a:endParaRPr>
          </a:p>
        </p:txBody>
      </p:sp>
      <p:cxnSp>
        <p:nvCxnSpPr>
          <p:cNvPr id="11" name="直线箭头连接符 10">
            <a:extLst>
              <a:ext uri="{FF2B5EF4-FFF2-40B4-BE49-F238E27FC236}">
                <a16:creationId xmlns:a16="http://schemas.microsoft.com/office/drawing/2014/main" id="{058105D6-064A-A443-A8AB-498ED33B3DD7}"/>
              </a:ext>
            </a:extLst>
          </p:cNvPr>
          <p:cNvCxnSpPr>
            <a:cxnSpLocks/>
            <a:stCxn id="7" idx="3"/>
            <a:endCxn id="9" idx="1"/>
          </p:cNvCxnSpPr>
          <p:nvPr/>
        </p:nvCxnSpPr>
        <p:spPr>
          <a:xfrm>
            <a:off x="3988253" y="4124765"/>
            <a:ext cx="569544" cy="0"/>
          </a:xfrm>
          <a:prstGeom prst="straightConnector1">
            <a:avLst/>
          </a:prstGeom>
          <a:ln w="38100">
            <a:solidFill>
              <a:schemeClr val="bg2">
                <a:lumMod val="2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75254B85-CE4B-7D47-B02C-042E1B19C3EF}"/>
              </a:ext>
            </a:extLst>
          </p:cNvPr>
          <p:cNvSpPr/>
          <p:nvPr/>
        </p:nvSpPr>
        <p:spPr>
          <a:xfrm>
            <a:off x="2323377" y="3551239"/>
            <a:ext cx="481222" cy="338554"/>
          </a:xfrm>
          <a:prstGeom prst="rect">
            <a:avLst/>
          </a:prstGeom>
        </p:spPr>
        <p:txBody>
          <a:bodyPr wrap="none">
            <a:spAutoFit/>
          </a:bodyPr>
          <a:lstStyle/>
          <a:p>
            <a:r>
              <a:rPr lang="en-US" altLang="zh-CN" sz="1600" dirty="0">
                <a:solidFill>
                  <a:schemeClr val="tx1">
                    <a:lumMod val="65000"/>
                    <a:lumOff val="35000"/>
                  </a:schemeClr>
                </a:solidFill>
              </a:rPr>
              <a:t>OS</a:t>
            </a:r>
            <a:endParaRPr lang="zh-CN" altLang="en-US" sz="1600" dirty="0">
              <a:solidFill>
                <a:schemeClr val="tx1">
                  <a:lumMod val="65000"/>
                  <a:lumOff val="35000"/>
                </a:schemeClr>
              </a:solidFill>
            </a:endParaRPr>
          </a:p>
        </p:txBody>
      </p:sp>
      <p:sp>
        <p:nvSpPr>
          <p:cNvPr id="13" name="矩形 12">
            <a:extLst>
              <a:ext uri="{FF2B5EF4-FFF2-40B4-BE49-F238E27FC236}">
                <a16:creationId xmlns:a16="http://schemas.microsoft.com/office/drawing/2014/main" id="{2507FA88-6AF3-0B45-8363-9D5475613C19}"/>
              </a:ext>
            </a:extLst>
          </p:cNvPr>
          <p:cNvSpPr/>
          <p:nvPr/>
        </p:nvSpPr>
        <p:spPr>
          <a:xfrm>
            <a:off x="2338962" y="2497061"/>
            <a:ext cx="1081281" cy="448874"/>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600" dirty="0">
                <a:solidFill>
                  <a:srgbClr val="000000">
                    <a:lumMod val="75000"/>
                    <a:lumOff val="25000"/>
                  </a:srgbClr>
                </a:solidFill>
              </a:rPr>
              <a:t>OS</a:t>
            </a:r>
            <a:r>
              <a:rPr kumimoji="1" lang="zh-CN" altLang="en-US" sz="1600" dirty="0">
                <a:solidFill>
                  <a:srgbClr val="000000">
                    <a:lumMod val="75000"/>
                    <a:lumOff val="25000"/>
                  </a:srgbClr>
                </a:solidFill>
              </a:rPr>
              <a:t>源码</a:t>
            </a:r>
          </a:p>
        </p:txBody>
      </p:sp>
      <p:sp>
        <p:nvSpPr>
          <p:cNvPr id="14" name="矩形 13">
            <a:extLst>
              <a:ext uri="{FF2B5EF4-FFF2-40B4-BE49-F238E27FC236}">
                <a16:creationId xmlns:a16="http://schemas.microsoft.com/office/drawing/2014/main" id="{8FE165E8-8F97-4A45-BD55-F043E1D68662}"/>
              </a:ext>
            </a:extLst>
          </p:cNvPr>
          <p:cNvSpPr/>
          <p:nvPr/>
        </p:nvSpPr>
        <p:spPr>
          <a:xfrm>
            <a:off x="4283968" y="2497061"/>
            <a:ext cx="1081281" cy="448874"/>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600" dirty="0">
                <a:solidFill>
                  <a:srgbClr val="000000">
                    <a:lumMod val="75000"/>
                    <a:lumOff val="25000"/>
                  </a:srgbClr>
                </a:solidFill>
              </a:rPr>
              <a:t>Binary-x86</a:t>
            </a:r>
            <a:endParaRPr kumimoji="1" lang="zh-CN" altLang="en-US" sz="1600" dirty="0">
              <a:solidFill>
                <a:srgbClr val="000000">
                  <a:lumMod val="75000"/>
                  <a:lumOff val="25000"/>
                </a:srgbClr>
              </a:solidFill>
            </a:endParaRPr>
          </a:p>
        </p:txBody>
      </p:sp>
      <p:cxnSp>
        <p:nvCxnSpPr>
          <p:cNvPr id="15" name="直线箭头连接符 14">
            <a:extLst>
              <a:ext uri="{FF2B5EF4-FFF2-40B4-BE49-F238E27FC236}">
                <a16:creationId xmlns:a16="http://schemas.microsoft.com/office/drawing/2014/main" id="{3E83A5B2-8F7D-FD49-A67C-196FDA07CB67}"/>
              </a:ext>
            </a:extLst>
          </p:cNvPr>
          <p:cNvCxnSpPr>
            <a:cxnSpLocks/>
            <a:stCxn id="9" idx="3"/>
            <a:endCxn id="5" idx="1"/>
          </p:cNvCxnSpPr>
          <p:nvPr/>
        </p:nvCxnSpPr>
        <p:spPr>
          <a:xfrm>
            <a:off x="5617192" y="4124765"/>
            <a:ext cx="358964" cy="0"/>
          </a:xfrm>
          <a:prstGeom prst="straightConnector1">
            <a:avLst/>
          </a:prstGeom>
          <a:ln w="38100">
            <a:solidFill>
              <a:schemeClr val="bg2">
                <a:lumMod val="2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0D0C1BCA-52FC-7740-BEFE-426E40FCF8B6}"/>
              </a:ext>
            </a:extLst>
          </p:cNvPr>
          <p:cNvCxnSpPr>
            <a:cxnSpLocks/>
            <a:endCxn id="14" idx="1"/>
          </p:cNvCxnSpPr>
          <p:nvPr/>
        </p:nvCxnSpPr>
        <p:spPr>
          <a:xfrm flipV="1">
            <a:off x="3420243" y="2721498"/>
            <a:ext cx="863725" cy="5288"/>
          </a:xfrm>
          <a:prstGeom prst="straightConnector1">
            <a:avLst/>
          </a:prstGeom>
          <a:ln w="38100">
            <a:solidFill>
              <a:schemeClr val="tx1">
                <a:lumMod val="75000"/>
                <a:lumOff val="2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DA976AC5-32A1-0B4C-A2BD-ECFB2C5BC6BE}"/>
              </a:ext>
            </a:extLst>
          </p:cNvPr>
          <p:cNvCxnSpPr>
            <a:cxnSpLocks/>
            <a:stCxn id="14" idx="2"/>
            <a:endCxn id="6" idx="0"/>
          </p:cNvCxnSpPr>
          <p:nvPr/>
        </p:nvCxnSpPr>
        <p:spPr>
          <a:xfrm flipH="1">
            <a:off x="3469499" y="2945935"/>
            <a:ext cx="1355110" cy="553206"/>
          </a:xfrm>
          <a:prstGeom prst="straightConnector1">
            <a:avLst/>
          </a:prstGeom>
          <a:ln w="38100">
            <a:solidFill>
              <a:schemeClr val="tx1">
                <a:lumMod val="75000"/>
                <a:lumOff val="2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直线箭头连接符 17">
            <a:extLst>
              <a:ext uri="{FF2B5EF4-FFF2-40B4-BE49-F238E27FC236}">
                <a16:creationId xmlns:a16="http://schemas.microsoft.com/office/drawing/2014/main" id="{CB3F3940-8769-644D-8A1B-AA5B67C94693}"/>
              </a:ext>
            </a:extLst>
          </p:cNvPr>
          <p:cNvCxnSpPr>
            <a:cxnSpLocks/>
            <a:stCxn id="14" idx="2"/>
            <a:endCxn id="9" idx="0"/>
          </p:cNvCxnSpPr>
          <p:nvPr/>
        </p:nvCxnSpPr>
        <p:spPr>
          <a:xfrm>
            <a:off x="4824609" y="2945935"/>
            <a:ext cx="262886" cy="1021858"/>
          </a:xfrm>
          <a:prstGeom prst="straightConnector1">
            <a:avLst/>
          </a:prstGeom>
          <a:ln w="38100">
            <a:solidFill>
              <a:schemeClr val="tx1">
                <a:lumMod val="75000"/>
                <a:lumOff val="2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DF6469E6-15A0-B44A-9768-1E6DAB2CE7DD}"/>
              </a:ext>
            </a:extLst>
          </p:cNvPr>
          <p:cNvCxnSpPr>
            <a:cxnSpLocks/>
            <a:stCxn id="14" idx="2"/>
            <a:endCxn id="5" idx="0"/>
          </p:cNvCxnSpPr>
          <p:nvPr/>
        </p:nvCxnSpPr>
        <p:spPr>
          <a:xfrm>
            <a:off x="4824609" y="2945935"/>
            <a:ext cx="1681245" cy="1021858"/>
          </a:xfrm>
          <a:prstGeom prst="straightConnector1">
            <a:avLst/>
          </a:prstGeom>
          <a:ln w="38100">
            <a:solidFill>
              <a:schemeClr val="tx1">
                <a:lumMod val="75000"/>
                <a:lumOff val="2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EB010FEB-7CE3-BF47-8A29-EE4251015944}"/>
              </a:ext>
            </a:extLst>
          </p:cNvPr>
          <p:cNvSpPr txBox="1"/>
          <p:nvPr/>
        </p:nvSpPr>
        <p:spPr>
          <a:xfrm>
            <a:off x="3346197" y="2313000"/>
            <a:ext cx="1011815" cy="307777"/>
          </a:xfrm>
          <a:prstGeom prst="rect">
            <a:avLst/>
          </a:prstGeom>
          <a:noFill/>
        </p:spPr>
        <p:txBody>
          <a:bodyPr wrap="none" rtlCol="0">
            <a:spAutoFit/>
          </a:bodyPr>
          <a:lstStyle/>
          <a:p>
            <a:r>
              <a:rPr kumimoji="1" lang="zh-CN" altLang="en-US" sz="1400" dirty="0">
                <a:solidFill>
                  <a:schemeClr val="tx1">
                    <a:lumMod val="75000"/>
                    <a:lumOff val="25000"/>
                  </a:schemeClr>
                </a:solidFill>
              </a:rPr>
              <a:t>编译到</a:t>
            </a:r>
            <a:r>
              <a:rPr kumimoji="1" lang="en-US" altLang="zh-CN" sz="1400" dirty="0">
                <a:solidFill>
                  <a:schemeClr val="tx1">
                    <a:lumMod val="75000"/>
                    <a:lumOff val="25000"/>
                  </a:schemeClr>
                </a:solidFill>
              </a:rPr>
              <a:t>x86</a:t>
            </a:r>
            <a:endParaRPr kumimoji="1" lang="zh-CN" altLang="en-US" sz="1400" dirty="0">
              <a:solidFill>
                <a:schemeClr val="tx1">
                  <a:lumMod val="75000"/>
                  <a:lumOff val="25000"/>
                </a:schemeClr>
              </a:solidFill>
            </a:endParaRPr>
          </a:p>
        </p:txBody>
      </p:sp>
      <p:pic>
        <p:nvPicPr>
          <p:cNvPr id="31" name="图形 30">
            <a:extLst>
              <a:ext uri="{FF2B5EF4-FFF2-40B4-BE49-F238E27FC236}">
                <a16:creationId xmlns:a16="http://schemas.microsoft.com/office/drawing/2014/main" id="{FBDACCEE-3755-0C47-B6B3-725E551D9295}"/>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17027" y="3108561"/>
            <a:ext cx="885356" cy="885356"/>
          </a:xfrm>
          <a:prstGeom prst="rect">
            <a:avLst/>
          </a:prstGeom>
        </p:spPr>
      </p:pic>
      <p:pic>
        <p:nvPicPr>
          <p:cNvPr id="32" name="图形 31">
            <a:extLst>
              <a:ext uri="{FF2B5EF4-FFF2-40B4-BE49-F238E27FC236}">
                <a16:creationId xmlns:a16="http://schemas.microsoft.com/office/drawing/2014/main" id="{061FAF53-B22C-B842-9C5C-43E447A47F04}"/>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388577" y="3147861"/>
            <a:ext cx="885356" cy="885356"/>
          </a:xfrm>
          <a:prstGeom prst="rect">
            <a:avLst/>
          </a:prstGeom>
        </p:spPr>
      </p:pic>
      <p:sp>
        <p:nvSpPr>
          <p:cNvPr id="21" name="灯片编号占位符 3">
            <a:extLst>
              <a:ext uri="{FF2B5EF4-FFF2-40B4-BE49-F238E27FC236}">
                <a16:creationId xmlns:a16="http://schemas.microsoft.com/office/drawing/2014/main" id="{60FF329A-D81C-4D48-A4D8-8C050F45C788}"/>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a:t>
            </a:fld>
            <a:endParaRPr lang="zh-CN" altLang="en-US"/>
          </a:p>
        </p:txBody>
      </p:sp>
      <p:sp>
        <p:nvSpPr>
          <p:cNvPr id="22" name="页脚占位符 4">
            <a:extLst>
              <a:ext uri="{FF2B5EF4-FFF2-40B4-BE49-F238E27FC236}">
                <a16:creationId xmlns:a16="http://schemas.microsoft.com/office/drawing/2014/main" id="{E2BE6FCB-2EC9-D84B-9E8E-525C30A0B7E6}"/>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487500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2800" dirty="0">
                <a:latin typeface="+mj-lt"/>
              </a:rPr>
              <a:t>思路：两阶段编译解决异构</a:t>
            </a:r>
            <a:r>
              <a:rPr kumimoji="1" lang="en-US" altLang="zh-CN" sz="2800" dirty="0">
                <a:latin typeface="+mj-lt"/>
              </a:rPr>
              <a:t>ISA</a:t>
            </a:r>
            <a:r>
              <a:rPr kumimoji="1" lang="zh-CN" altLang="en-US" sz="2800" dirty="0">
                <a:latin typeface="+mj-lt"/>
              </a:rPr>
              <a:t>问题</a:t>
            </a: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291264" cy="2106149"/>
          </a:xfrm>
        </p:spPr>
        <p:txBody>
          <a:bodyPr>
            <a:normAutofit/>
          </a:bodyPr>
          <a:lstStyle/>
          <a:p>
            <a:r>
              <a:rPr kumimoji="1" lang="zh-CN" altLang="en-US" sz="2000" dirty="0"/>
              <a:t>阶段</a:t>
            </a:r>
            <a:r>
              <a:rPr kumimoji="1" lang="en-US" altLang="zh-CN" sz="2000" dirty="0"/>
              <a:t>1</a:t>
            </a:r>
            <a:r>
              <a:rPr kumimoji="1" lang="zh-CN" altLang="en-US" sz="2000" dirty="0"/>
              <a:t>：从源码编译得到一个中间表示 </a:t>
            </a:r>
            <a:r>
              <a:rPr kumimoji="1" lang="en-US" altLang="zh-CN" sz="2000" dirty="0"/>
              <a:t>(IR)</a:t>
            </a:r>
            <a:r>
              <a:rPr kumimoji="1" lang="zh-CN" altLang="en-US" sz="2000" dirty="0"/>
              <a:t>，分发</a:t>
            </a:r>
            <a:r>
              <a:rPr kumimoji="1" lang="en-US" altLang="zh-CN" sz="2000" dirty="0"/>
              <a:t>IR</a:t>
            </a:r>
            <a:r>
              <a:rPr kumimoji="1" lang="zh-CN" altLang="en-US" sz="2000" dirty="0"/>
              <a:t>给使用者</a:t>
            </a:r>
            <a:endParaRPr kumimoji="1" lang="en-US" altLang="zh-CN" sz="2000" dirty="0"/>
          </a:p>
          <a:p>
            <a:r>
              <a:rPr kumimoji="1" lang="zh-CN" altLang="en-US" sz="2000" dirty="0"/>
              <a:t>阶段</a:t>
            </a:r>
            <a:r>
              <a:rPr kumimoji="1" lang="en-US" altLang="zh-CN" sz="2000" dirty="0"/>
              <a:t>2</a:t>
            </a:r>
            <a:r>
              <a:rPr kumimoji="1" lang="zh-CN" altLang="en-US" sz="2000" dirty="0"/>
              <a:t>：当决定在具体的平台上运行时，将</a:t>
            </a:r>
            <a:r>
              <a:rPr kumimoji="1" lang="en" altLang="zh-CN" sz="2000" dirty="0"/>
              <a:t>IR</a:t>
            </a:r>
            <a:r>
              <a:rPr kumimoji="1" lang="zh-CN" altLang="en-US" sz="2000" dirty="0"/>
              <a:t>生成</a:t>
            </a:r>
            <a:r>
              <a:rPr kumimoji="1" lang="en" altLang="zh-CN" sz="2000" dirty="0"/>
              <a:t>binary</a:t>
            </a:r>
            <a:endParaRPr kumimoji="1" lang="en-US" altLang="zh-CN" sz="2000" dirty="0"/>
          </a:p>
          <a:p>
            <a:pPr lvl="1"/>
            <a:r>
              <a:rPr kumimoji="1" lang="zh-CN" altLang="en-US" sz="1600" dirty="0">
                <a:latin typeface="+mn-lt"/>
              </a:rPr>
              <a:t>根据具体部署的计算节点编译出不同指令集的二进制</a:t>
            </a:r>
            <a:endParaRPr kumimoji="1" lang="en-US" altLang="zh-CN" sz="1600" dirty="0">
              <a:latin typeface="+mn-lt"/>
            </a:endParaRPr>
          </a:p>
        </p:txBody>
      </p:sp>
      <p:sp>
        <p:nvSpPr>
          <p:cNvPr id="3" name="文本框 2">
            <a:extLst>
              <a:ext uri="{FF2B5EF4-FFF2-40B4-BE49-F238E27FC236}">
                <a16:creationId xmlns:a16="http://schemas.microsoft.com/office/drawing/2014/main" id="{38863B85-498F-4A43-8C87-E44BEDC9B17E}"/>
              </a:ext>
            </a:extLst>
          </p:cNvPr>
          <p:cNvSpPr txBox="1"/>
          <p:nvPr/>
        </p:nvSpPr>
        <p:spPr>
          <a:xfrm>
            <a:off x="1151620" y="2785492"/>
            <a:ext cx="6840760" cy="369332"/>
          </a:xfrm>
          <a:prstGeom prst="rect">
            <a:avLst/>
          </a:prstGeom>
          <a:noFill/>
        </p:spPr>
        <p:txBody>
          <a:bodyPr wrap="square" rtlCol="0">
            <a:spAutoFit/>
          </a:bodyPr>
          <a:lstStyle/>
          <a:p>
            <a:r>
              <a:rPr kumimoji="1" lang="zh-CN" altLang="en-US" dirty="0">
                <a:solidFill>
                  <a:schemeClr val="accent1"/>
                </a:solidFill>
              </a:rPr>
              <a:t>不同的计算节点使用不同的</a:t>
            </a:r>
            <a:r>
              <a:rPr kumimoji="1" lang="en-US" altLang="zh-CN" dirty="0">
                <a:solidFill>
                  <a:schemeClr val="accent1"/>
                </a:solidFill>
              </a:rPr>
              <a:t>ISA</a:t>
            </a:r>
            <a:r>
              <a:rPr kumimoji="1" lang="zh-CN" altLang="en-US" dirty="0">
                <a:solidFill>
                  <a:schemeClr val="accent1"/>
                </a:solidFill>
              </a:rPr>
              <a:t>进行阶段</a:t>
            </a:r>
            <a:r>
              <a:rPr kumimoji="1" lang="en-US" altLang="zh-CN" dirty="0">
                <a:solidFill>
                  <a:schemeClr val="accent1"/>
                </a:solidFill>
              </a:rPr>
              <a:t>2</a:t>
            </a:r>
            <a:r>
              <a:rPr kumimoji="1" lang="zh-CN" altLang="en-US" dirty="0">
                <a:solidFill>
                  <a:schemeClr val="accent1"/>
                </a:solidFill>
              </a:rPr>
              <a:t> </a:t>
            </a:r>
            <a:r>
              <a:rPr kumimoji="1" lang="en-US" altLang="zh-CN" dirty="0">
                <a:solidFill>
                  <a:schemeClr val="accent1"/>
                </a:solidFill>
              </a:rPr>
              <a:t>→</a:t>
            </a:r>
            <a:r>
              <a:rPr kumimoji="1" lang="zh-CN" altLang="en-US" dirty="0">
                <a:solidFill>
                  <a:schemeClr val="accent1"/>
                </a:solidFill>
              </a:rPr>
              <a:t> 解决异构</a:t>
            </a:r>
            <a:r>
              <a:rPr kumimoji="1" lang="en-US" altLang="zh-CN" dirty="0">
                <a:solidFill>
                  <a:schemeClr val="accent1"/>
                </a:solidFill>
              </a:rPr>
              <a:t>ISA</a:t>
            </a:r>
            <a:r>
              <a:rPr kumimoji="1" lang="zh-CN" altLang="en-US" dirty="0">
                <a:solidFill>
                  <a:schemeClr val="accent1"/>
                </a:solidFill>
              </a:rPr>
              <a:t>问题</a:t>
            </a:r>
          </a:p>
        </p:txBody>
      </p:sp>
      <p:sp>
        <p:nvSpPr>
          <p:cNvPr id="22" name="矩形 21">
            <a:extLst>
              <a:ext uri="{FF2B5EF4-FFF2-40B4-BE49-F238E27FC236}">
                <a16:creationId xmlns:a16="http://schemas.microsoft.com/office/drawing/2014/main" id="{1A434599-6118-E44B-876D-CB9D322E6CCB}"/>
              </a:ext>
            </a:extLst>
          </p:cNvPr>
          <p:cNvSpPr/>
          <p:nvPr/>
        </p:nvSpPr>
        <p:spPr>
          <a:xfrm>
            <a:off x="5436096" y="4230556"/>
            <a:ext cx="1053489" cy="448874"/>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600" dirty="0">
                <a:solidFill>
                  <a:srgbClr val="000000">
                    <a:lumMod val="75000"/>
                    <a:lumOff val="25000"/>
                  </a:srgbClr>
                </a:solidFill>
              </a:rPr>
              <a:t>Binary-</a:t>
            </a:r>
            <a:r>
              <a:rPr kumimoji="1" lang="en-US" altLang="zh-CN" sz="1600" dirty="0" err="1">
                <a:solidFill>
                  <a:srgbClr val="000000">
                    <a:lumMod val="75000"/>
                    <a:lumOff val="25000"/>
                  </a:srgbClr>
                </a:solidFill>
              </a:rPr>
              <a:t>riscv</a:t>
            </a:r>
            <a:endParaRPr kumimoji="1" lang="zh-CN" altLang="en-US" sz="1600" dirty="0">
              <a:solidFill>
                <a:srgbClr val="000000">
                  <a:lumMod val="75000"/>
                  <a:lumOff val="25000"/>
                </a:srgbClr>
              </a:solidFill>
            </a:endParaRPr>
          </a:p>
        </p:txBody>
      </p:sp>
      <p:sp>
        <p:nvSpPr>
          <p:cNvPr id="23" name="矩形 22">
            <a:extLst>
              <a:ext uri="{FF2B5EF4-FFF2-40B4-BE49-F238E27FC236}">
                <a16:creationId xmlns:a16="http://schemas.microsoft.com/office/drawing/2014/main" id="{9F29A1E9-D592-5948-92D4-7266F5B92D07}"/>
              </a:ext>
            </a:extLst>
          </p:cNvPr>
          <p:cNvSpPr/>
          <p:nvPr/>
        </p:nvSpPr>
        <p:spPr>
          <a:xfrm>
            <a:off x="5436096" y="4699208"/>
            <a:ext cx="1059395" cy="313943"/>
          </a:xfrm>
          <a:prstGeom prst="rect">
            <a:avLst/>
          </a:prstGeom>
          <a:solidFill>
            <a:schemeClr val="bg2">
              <a:lumMod val="5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chemeClr val="bg1"/>
                </a:solidFill>
              </a:rPr>
              <a:t>RISC-V</a:t>
            </a:r>
            <a:endParaRPr kumimoji="1" lang="zh-CN" altLang="en-US" sz="1400" dirty="0">
              <a:solidFill>
                <a:schemeClr val="bg1"/>
              </a:solidFill>
            </a:endParaRPr>
          </a:p>
        </p:txBody>
      </p:sp>
      <p:sp>
        <p:nvSpPr>
          <p:cNvPr id="26" name="矩形 25">
            <a:extLst>
              <a:ext uri="{FF2B5EF4-FFF2-40B4-BE49-F238E27FC236}">
                <a16:creationId xmlns:a16="http://schemas.microsoft.com/office/drawing/2014/main" id="{563265F8-F825-354B-9F1F-3F85F6AF451C}"/>
              </a:ext>
            </a:extLst>
          </p:cNvPr>
          <p:cNvSpPr/>
          <p:nvPr/>
        </p:nvSpPr>
        <p:spPr>
          <a:xfrm>
            <a:off x="2388798" y="4230556"/>
            <a:ext cx="1081281" cy="448874"/>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600" dirty="0">
                <a:solidFill>
                  <a:srgbClr val="000000">
                    <a:lumMod val="75000"/>
                    <a:lumOff val="25000"/>
                  </a:srgbClr>
                </a:solidFill>
              </a:rPr>
              <a:t>Binary-x86</a:t>
            </a:r>
            <a:endParaRPr kumimoji="1" lang="zh-CN" altLang="en-US" sz="1600" dirty="0">
              <a:solidFill>
                <a:srgbClr val="000000">
                  <a:lumMod val="75000"/>
                  <a:lumOff val="25000"/>
                </a:srgbClr>
              </a:solidFill>
            </a:endParaRPr>
          </a:p>
        </p:txBody>
      </p:sp>
      <p:sp>
        <p:nvSpPr>
          <p:cNvPr id="27" name="矩形 26">
            <a:extLst>
              <a:ext uri="{FF2B5EF4-FFF2-40B4-BE49-F238E27FC236}">
                <a16:creationId xmlns:a16="http://schemas.microsoft.com/office/drawing/2014/main" id="{20925FC5-F1F0-C64C-9457-CCAA62E24DF2}"/>
              </a:ext>
            </a:extLst>
          </p:cNvPr>
          <p:cNvSpPr/>
          <p:nvPr/>
        </p:nvSpPr>
        <p:spPr>
          <a:xfrm>
            <a:off x="2388798" y="4699208"/>
            <a:ext cx="1059395" cy="313943"/>
          </a:xfrm>
          <a:prstGeom prst="rect">
            <a:avLst/>
          </a:prstGeom>
          <a:solidFill>
            <a:schemeClr val="bg2">
              <a:lumMod val="5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chemeClr val="bg1"/>
                </a:solidFill>
              </a:rPr>
              <a:t>X86</a:t>
            </a:r>
            <a:endParaRPr kumimoji="1" lang="zh-CN" altLang="en-US" sz="1400" dirty="0">
              <a:solidFill>
                <a:schemeClr val="bg1"/>
              </a:solidFill>
            </a:endParaRPr>
          </a:p>
        </p:txBody>
      </p:sp>
      <p:sp>
        <p:nvSpPr>
          <p:cNvPr id="28" name="矩形 27">
            <a:extLst>
              <a:ext uri="{FF2B5EF4-FFF2-40B4-BE49-F238E27FC236}">
                <a16:creationId xmlns:a16="http://schemas.microsoft.com/office/drawing/2014/main" id="{714C70E4-C411-D54D-8951-43C459BA9694}"/>
              </a:ext>
            </a:extLst>
          </p:cNvPr>
          <p:cNvSpPr/>
          <p:nvPr/>
        </p:nvSpPr>
        <p:spPr>
          <a:xfrm>
            <a:off x="4017737" y="4227494"/>
            <a:ext cx="1053489" cy="448874"/>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600" dirty="0">
                <a:solidFill>
                  <a:srgbClr val="000000">
                    <a:lumMod val="75000"/>
                    <a:lumOff val="25000"/>
                  </a:srgbClr>
                </a:solidFill>
              </a:rPr>
              <a:t>Binary-arm64</a:t>
            </a:r>
            <a:endParaRPr kumimoji="1" lang="zh-CN" altLang="en-US" sz="1600" dirty="0">
              <a:solidFill>
                <a:srgbClr val="000000">
                  <a:lumMod val="75000"/>
                  <a:lumOff val="25000"/>
                </a:srgbClr>
              </a:solidFill>
            </a:endParaRPr>
          </a:p>
        </p:txBody>
      </p:sp>
      <p:sp>
        <p:nvSpPr>
          <p:cNvPr id="29" name="矩形 28">
            <a:extLst>
              <a:ext uri="{FF2B5EF4-FFF2-40B4-BE49-F238E27FC236}">
                <a16:creationId xmlns:a16="http://schemas.microsoft.com/office/drawing/2014/main" id="{EBAC58D9-3B29-1649-8F3F-44C8E36C7811}"/>
              </a:ext>
            </a:extLst>
          </p:cNvPr>
          <p:cNvSpPr/>
          <p:nvPr/>
        </p:nvSpPr>
        <p:spPr>
          <a:xfrm>
            <a:off x="4017737" y="4699208"/>
            <a:ext cx="1059395" cy="313943"/>
          </a:xfrm>
          <a:prstGeom prst="rect">
            <a:avLst/>
          </a:prstGeom>
          <a:solidFill>
            <a:schemeClr val="bg2">
              <a:lumMod val="5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chemeClr val="bg1"/>
                </a:solidFill>
              </a:rPr>
              <a:t>Arm64</a:t>
            </a:r>
            <a:endParaRPr kumimoji="1" lang="zh-CN" altLang="en-US" sz="1400" dirty="0">
              <a:solidFill>
                <a:schemeClr val="bg1"/>
              </a:solidFill>
            </a:endParaRPr>
          </a:p>
        </p:txBody>
      </p:sp>
      <p:sp>
        <p:nvSpPr>
          <p:cNvPr id="30" name="矩形 29">
            <a:extLst>
              <a:ext uri="{FF2B5EF4-FFF2-40B4-BE49-F238E27FC236}">
                <a16:creationId xmlns:a16="http://schemas.microsoft.com/office/drawing/2014/main" id="{9AF046F6-DF54-434E-970E-5CBE6467B25B}"/>
              </a:ext>
            </a:extLst>
          </p:cNvPr>
          <p:cNvSpPr/>
          <p:nvPr/>
        </p:nvSpPr>
        <p:spPr>
          <a:xfrm>
            <a:off x="5040340" y="4376526"/>
            <a:ext cx="389850" cy="338554"/>
          </a:xfrm>
          <a:prstGeom prst="rect">
            <a:avLst/>
          </a:prstGeom>
        </p:spPr>
        <p:txBody>
          <a:bodyPr wrap="none">
            <a:spAutoFit/>
          </a:bodyPr>
          <a:lstStyle/>
          <a:p>
            <a:r>
              <a:rPr lang="mr-IN" altLang="zh-CN" sz="1600" dirty="0">
                <a:solidFill>
                  <a:schemeClr val="tx1">
                    <a:lumMod val="65000"/>
                    <a:lumOff val="35000"/>
                  </a:schemeClr>
                </a:solidFill>
              </a:rPr>
              <a:t>…</a:t>
            </a:r>
            <a:endParaRPr lang="zh-CN" altLang="en-US" sz="1600" dirty="0">
              <a:solidFill>
                <a:schemeClr val="tx1">
                  <a:lumMod val="65000"/>
                  <a:lumOff val="35000"/>
                </a:schemeClr>
              </a:solidFill>
            </a:endParaRPr>
          </a:p>
        </p:txBody>
      </p:sp>
      <p:cxnSp>
        <p:nvCxnSpPr>
          <p:cNvPr id="31" name="直线箭头连接符 30">
            <a:extLst>
              <a:ext uri="{FF2B5EF4-FFF2-40B4-BE49-F238E27FC236}">
                <a16:creationId xmlns:a16="http://schemas.microsoft.com/office/drawing/2014/main" id="{F271EAA5-0974-A64A-8AA2-8ABCC3462C48}"/>
              </a:ext>
            </a:extLst>
          </p:cNvPr>
          <p:cNvCxnSpPr>
            <a:cxnSpLocks/>
            <a:stCxn id="27" idx="3"/>
            <a:endCxn id="29" idx="1"/>
          </p:cNvCxnSpPr>
          <p:nvPr/>
        </p:nvCxnSpPr>
        <p:spPr>
          <a:xfrm>
            <a:off x="3448193" y="4856180"/>
            <a:ext cx="569544" cy="0"/>
          </a:xfrm>
          <a:prstGeom prst="straightConnector1">
            <a:avLst/>
          </a:prstGeom>
          <a:ln w="38100">
            <a:solidFill>
              <a:schemeClr val="bg2">
                <a:lumMod val="2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9D2FE02B-A940-E344-A7ED-27FE4C06A2B5}"/>
              </a:ext>
            </a:extLst>
          </p:cNvPr>
          <p:cNvSpPr/>
          <p:nvPr/>
        </p:nvSpPr>
        <p:spPr>
          <a:xfrm>
            <a:off x="1783317" y="4282654"/>
            <a:ext cx="481222" cy="338554"/>
          </a:xfrm>
          <a:prstGeom prst="rect">
            <a:avLst/>
          </a:prstGeom>
        </p:spPr>
        <p:txBody>
          <a:bodyPr wrap="none">
            <a:spAutoFit/>
          </a:bodyPr>
          <a:lstStyle/>
          <a:p>
            <a:r>
              <a:rPr lang="en-US" altLang="zh-CN" sz="1600" dirty="0">
                <a:solidFill>
                  <a:schemeClr val="tx1">
                    <a:lumMod val="65000"/>
                    <a:lumOff val="35000"/>
                  </a:schemeClr>
                </a:solidFill>
              </a:rPr>
              <a:t>OS</a:t>
            </a:r>
            <a:endParaRPr lang="zh-CN" altLang="en-US" sz="1600" dirty="0">
              <a:solidFill>
                <a:schemeClr val="tx1">
                  <a:lumMod val="65000"/>
                  <a:lumOff val="35000"/>
                </a:schemeClr>
              </a:solidFill>
            </a:endParaRPr>
          </a:p>
        </p:txBody>
      </p:sp>
      <p:sp>
        <p:nvSpPr>
          <p:cNvPr id="40" name="矩形 39">
            <a:extLst>
              <a:ext uri="{FF2B5EF4-FFF2-40B4-BE49-F238E27FC236}">
                <a16:creationId xmlns:a16="http://schemas.microsoft.com/office/drawing/2014/main" id="{036712E8-DD27-CF4D-AEED-6AEA6927A77D}"/>
              </a:ext>
            </a:extLst>
          </p:cNvPr>
          <p:cNvSpPr/>
          <p:nvPr/>
        </p:nvSpPr>
        <p:spPr>
          <a:xfrm>
            <a:off x="1798902" y="3228476"/>
            <a:ext cx="1081281" cy="448874"/>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zh-CN" altLang="en-US" sz="1600" dirty="0">
                <a:solidFill>
                  <a:srgbClr val="000000">
                    <a:lumMod val="75000"/>
                    <a:lumOff val="25000"/>
                  </a:srgbClr>
                </a:solidFill>
              </a:rPr>
              <a:t>源码</a:t>
            </a:r>
          </a:p>
        </p:txBody>
      </p:sp>
      <p:sp>
        <p:nvSpPr>
          <p:cNvPr id="41" name="矩形 40">
            <a:extLst>
              <a:ext uri="{FF2B5EF4-FFF2-40B4-BE49-F238E27FC236}">
                <a16:creationId xmlns:a16="http://schemas.microsoft.com/office/drawing/2014/main" id="{BEB2E60E-C4F8-9745-AD0A-468E5A4EB9DF}"/>
              </a:ext>
            </a:extLst>
          </p:cNvPr>
          <p:cNvSpPr/>
          <p:nvPr/>
        </p:nvSpPr>
        <p:spPr>
          <a:xfrm>
            <a:off x="3743908" y="3228476"/>
            <a:ext cx="1081281" cy="448874"/>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600" dirty="0">
                <a:solidFill>
                  <a:srgbClr val="000000">
                    <a:lumMod val="75000"/>
                    <a:lumOff val="25000"/>
                  </a:srgbClr>
                </a:solidFill>
              </a:rPr>
              <a:t>IR</a:t>
            </a:r>
            <a:endParaRPr kumimoji="1" lang="zh-CN" altLang="en-US" sz="1600" dirty="0">
              <a:solidFill>
                <a:srgbClr val="000000">
                  <a:lumMod val="75000"/>
                  <a:lumOff val="25000"/>
                </a:srgbClr>
              </a:solidFill>
            </a:endParaRPr>
          </a:p>
        </p:txBody>
      </p:sp>
      <p:cxnSp>
        <p:nvCxnSpPr>
          <p:cNvPr id="43" name="直线箭头连接符 42">
            <a:extLst>
              <a:ext uri="{FF2B5EF4-FFF2-40B4-BE49-F238E27FC236}">
                <a16:creationId xmlns:a16="http://schemas.microsoft.com/office/drawing/2014/main" id="{BF95B25B-C299-DB4A-8986-DFDBE6BEEB09}"/>
              </a:ext>
            </a:extLst>
          </p:cNvPr>
          <p:cNvCxnSpPr>
            <a:cxnSpLocks/>
            <a:stCxn id="29" idx="3"/>
            <a:endCxn id="23" idx="1"/>
          </p:cNvCxnSpPr>
          <p:nvPr/>
        </p:nvCxnSpPr>
        <p:spPr>
          <a:xfrm>
            <a:off x="5077132" y="4856180"/>
            <a:ext cx="358964" cy="0"/>
          </a:xfrm>
          <a:prstGeom prst="straightConnector1">
            <a:avLst/>
          </a:prstGeom>
          <a:ln w="38100">
            <a:solidFill>
              <a:schemeClr val="bg2">
                <a:lumMod val="2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直线箭头连接符 47">
            <a:extLst>
              <a:ext uri="{FF2B5EF4-FFF2-40B4-BE49-F238E27FC236}">
                <a16:creationId xmlns:a16="http://schemas.microsoft.com/office/drawing/2014/main" id="{2F0F3D5C-853B-D745-A8DD-A1F2AB045255}"/>
              </a:ext>
            </a:extLst>
          </p:cNvPr>
          <p:cNvCxnSpPr>
            <a:cxnSpLocks/>
            <a:endCxn id="41" idx="1"/>
          </p:cNvCxnSpPr>
          <p:nvPr/>
        </p:nvCxnSpPr>
        <p:spPr>
          <a:xfrm flipV="1">
            <a:off x="2880183" y="3452913"/>
            <a:ext cx="863725" cy="5288"/>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直线箭头连接符 49">
            <a:extLst>
              <a:ext uri="{FF2B5EF4-FFF2-40B4-BE49-F238E27FC236}">
                <a16:creationId xmlns:a16="http://schemas.microsoft.com/office/drawing/2014/main" id="{80DAC917-9418-C949-B6BE-76B4012B8E31}"/>
              </a:ext>
            </a:extLst>
          </p:cNvPr>
          <p:cNvCxnSpPr>
            <a:cxnSpLocks/>
            <a:stCxn id="41" idx="2"/>
            <a:endCxn id="26" idx="0"/>
          </p:cNvCxnSpPr>
          <p:nvPr/>
        </p:nvCxnSpPr>
        <p:spPr>
          <a:xfrm flipH="1">
            <a:off x="2929439" y="3677350"/>
            <a:ext cx="1355110" cy="553206"/>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直线箭头连接符 52">
            <a:extLst>
              <a:ext uri="{FF2B5EF4-FFF2-40B4-BE49-F238E27FC236}">
                <a16:creationId xmlns:a16="http://schemas.microsoft.com/office/drawing/2014/main" id="{3D4F0DEF-8DE3-B543-B276-4A8293E33586}"/>
              </a:ext>
            </a:extLst>
          </p:cNvPr>
          <p:cNvCxnSpPr>
            <a:cxnSpLocks/>
            <a:stCxn id="41" idx="2"/>
            <a:endCxn id="28" idx="0"/>
          </p:cNvCxnSpPr>
          <p:nvPr/>
        </p:nvCxnSpPr>
        <p:spPr>
          <a:xfrm>
            <a:off x="4284549" y="3677350"/>
            <a:ext cx="259933" cy="550144"/>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直线箭头连接符 55">
            <a:extLst>
              <a:ext uri="{FF2B5EF4-FFF2-40B4-BE49-F238E27FC236}">
                <a16:creationId xmlns:a16="http://schemas.microsoft.com/office/drawing/2014/main" id="{48ACC635-A30F-4448-A29F-A62EF351B741}"/>
              </a:ext>
            </a:extLst>
          </p:cNvPr>
          <p:cNvCxnSpPr>
            <a:cxnSpLocks/>
            <a:stCxn id="41" idx="2"/>
            <a:endCxn id="22" idx="0"/>
          </p:cNvCxnSpPr>
          <p:nvPr/>
        </p:nvCxnSpPr>
        <p:spPr>
          <a:xfrm>
            <a:off x="4284549" y="3677350"/>
            <a:ext cx="1678292" cy="553206"/>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EDEAFD78-C2BC-1048-8866-B7093EA09D54}"/>
              </a:ext>
            </a:extLst>
          </p:cNvPr>
          <p:cNvSpPr txBox="1"/>
          <p:nvPr/>
        </p:nvSpPr>
        <p:spPr>
          <a:xfrm>
            <a:off x="2901436" y="3147514"/>
            <a:ext cx="723275" cy="307777"/>
          </a:xfrm>
          <a:prstGeom prst="rect">
            <a:avLst/>
          </a:prstGeom>
          <a:noFill/>
        </p:spPr>
        <p:txBody>
          <a:bodyPr wrap="none" rtlCol="0">
            <a:spAutoFit/>
          </a:bodyPr>
          <a:lstStyle/>
          <a:p>
            <a:r>
              <a:rPr kumimoji="1" lang="zh-CN" altLang="en-US" sz="1400" dirty="0">
                <a:solidFill>
                  <a:schemeClr val="accent1"/>
                </a:solidFill>
              </a:rPr>
              <a:t>阶段一</a:t>
            </a:r>
          </a:p>
        </p:txBody>
      </p:sp>
      <p:sp>
        <p:nvSpPr>
          <p:cNvPr id="60" name="文本框 59">
            <a:extLst>
              <a:ext uri="{FF2B5EF4-FFF2-40B4-BE49-F238E27FC236}">
                <a16:creationId xmlns:a16="http://schemas.microsoft.com/office/drawing/2014/main" id="{9518C7AF-0F4B-BF49-BDE7-4BF32FD1588F}"/>
              </a:ext>
            </a:extLst>
          </p:cNvPr>
          <p:cNvSpPr txBox="1"/>
          <p:nvPr/>
        </p:nvSpPr>
        <p:spPr>
          <a:xfrm>
            <a:off x="3009690" y="3678985"/>
            <a:ext cx="723275" cy="307777"/>
          </a:xfrm>
          <a:prstGeom prst="rect">
            <a:avLst/>
          </a:prstGeom>
          <a:noFill/>
        </p:spPr>
        <p:txBody>
          <a:bodyPr wrap="none" rtlCol="0">
            <a:spAutoFit/>
          </a:bodyPr>
          <a:lstStyle/>
          <a:p>
            <a:r>
              <a:rPr kumimoji="1" lang="zh-CN" altLang="en-US" sz="1400" dirty="0">
                <a:solidFill>
                  <a:schemeClr val="accent1"/>
                </a:solidFill>
              </a:rPr>
              <a:t>阶段二</a:t>
            </a:r>
          </a:p>
        </p:txBody>
      </p:sp>
      <p:sp>
        <p:nvSpPr>
          <p:cNvPr id="61" name="文本框 60">
            <a:extLst>
              <a:ext uri="{FF2B5EF4-FFF2-40B4-BE49-F238E27FC236}">
                <a16:creationId xmlns:a16="http://schemas.microsoft.com/office/drawing/2014/main" id="{6F43D6A6-ACAE-194A-BCD8-40FB9D412818}"/>
              </a:ext>
            </a:extLst>
          </p:cNvPr>
          <p:cNvSpPr txBox="1"/>
          <p:nvPr/>
        </p:nvSpPr>
        <p:spPr>
          <a:xfrm>
            <a:off x="3752036" y="3894121"/>
            <a:ext cx="723275" cy="307777"/>
          </a:xfrm>
          <a:prstGeom prst="rect">
            <a:avLst/>
          </a:prstGeom>
          <a:noFill/>
        </p:spPr>
        <p:txBody>
          <a:bodyPr wrap="none" rtlCol="0">
            <a:spAutoFit/>
          </a:bodyPr>
          <a:lstStyle/>
          <a:p>
            <a:r>
              <a:rPr kumimoji="1" lang="zh-CN" altLang="en-US" sz="1400" dirty="0">
                <a:solidFill>
                  <a:schemeClr val="accent1"/>
                </a:solidFill>
              </a:rPr>
              <a:t>阶段二</a:t>
            </a:r>
          </a:p>
        </p:txBody>
      </p:sp>
      <p:sp>
        <p:nvSpPr>
          <p:cNvPr id="62" name="文本框 61">
            <a:extLst>
              <a:ext uri="{FF2B5EF4-FFF2-40B4-BE49-F238E27FC236}">
                <a16:creationId xmlns:a16="http://schemas.microsoft.com/office/drawing/2014/main" id="{8DC02F94-C648-894E-993C-249824220BD5}"/>
              </a:ext>
            </a:extLst>
          </p:cNvPr>
          <p:cNvSpPr txBox="1"/>
          <p:nvPr/>
        </p:nvSpPr>
        <p:spPr>
          <a:xfrm>
            <a:off x="5068552" y="3701846"/>
            <a:ext cx="723275" cy="307777"/>
          </a:xfrm>
          <a:prstGeom prst="rect">
            <a:avLst/>
          </a:prstGeom>
          <a:noFill/>
        </p:spPr>
        <p:txBody>
          <a:bodyPr wrap="square" rtlCol="0">
            <a:spAutoFit/>
          </a:bodyPr>
          <a:lstStyle/>
          <a:p>
            <a:r>
              <a:rPr kumimoji="1" lang="zh-CN" altLang="en-US" sz="1400" dirty="0">
                <a:solidFill>
                  <a:schemeClr val="accent1"/>
                </a:solidFill>
              </a:rPr>
              <a:t>阶段二</a:t>
            </a:r>
          </a:p>
        </p:txBody>
      </p:sp>
      <p:sp>
        <p:nvSpPr>
          <p:cNvPr id="32" name="灯片编号占位符 3">
            <a:extLst>
              <a:ext uri="{FF2B5EF4-FFF2-40B4-BE49-F238E27FC236}">
                <a16:creationId xmlns:a16="http://schemas.microsoft.com/office/drawing/2014/main" id="{24FEA4F2-4068-1D4F-8295-B524C9B63F1C}"/>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9</a:t>
            </a:fld>
            <a:endParaRPr lang="zh-CN" altLang="en-US"/>
          </a:p>
        </p:txBody>
      </p:sp>
      <p:sp>
        <p:nvSpPr>
          <p:cNvPr id="33" name="页脚占位符 4">
            <a:extLst>
              <a:ext uri="{FF2B5EF4-FFF2-40B4-BE49-F238E27FC236}">
                <a16:creationId xmlns:a16="http://schemas.microsoft.com/office/drawing/2014/main" id="{42D604FF-8D2E-C446-A668-3E8C7F166739}"/>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
        <p:nvSpPr>
          <p:cNvPr id="4" name="矩形 3">
            <a:extLst>
              <a:ext uri="{FF2B5EF4-FFF2-40B4-BE49-F238E27FC236}">
                <a16:creationId xmlns:a16="http://schemas.microsoft.com/office/drawing/2014/main" id="{7A2D2906-5AC1-784F-A672-A003831AD139}"/>
              </a:ext>
            </a:extLst>
          </p:cNvPr>
          <p:cNvSpPr/>
          <p:nvPr/>
        </p:nvSpPr>
        <p:spPr>
          <a:xfrm>
            <a:off x="149091" y="5138165"/>
            <a:ext cx="1649811" cy="369332"/>
          </a:xfrm>
          <a:prstGeom prst="rect">
            <a:avLst/>
          </a:prstGeom>
        </p:spPr>
        <p:txBody>
          <a:bodyPr wrap="none">
            <a:spAutoFit/>
          </a:bodyPr>
          <a:lstStyle/>
          <a:p>
            <a:r>
              <a:rPr kumimoji="1" lang="en" altLang="zh-CN" dirty="0" err="1"/>
              <a:t>HeliOS</a:t>
            </a:r>
            <a:r>
              <a:rPr kumimoji="1" lang="en" altLang="zh-CN" baseline="30000" dirty="0"/>
              <a:t>(SOSP’09)</a:t>
            </a:r>
            <a:endParaRPr lang="zh-CN" altLang="en-US" dirty="0"/>
          </a:p>
        </p:txBody>
      </p:sp>
    </p:spTree>
    <p:extLst>
      <p:ext uri="{BB962C8B-B14F-4D97-AF65-F5344CB8AC3E}">
        <p14:creationId xmlns:p14="http://schemas.microsoft.com/office/powerpoint/2010/main" val="928339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kumimoji="1" lang="zh-CN" altLang="en-US" sz="2800" dirty="0"/>
              <a:t>挑战</a:t>
            </a:r>
            <a:r>
              <a:rPr kumimoji="1" lang="en-US" altLang="zh-CN" sz="2800" dirty="0"/>
              <a:t>-2</a:t>
            </a:r>
            <a:r>
              <a:rPr kumimoji="1" lang="zh-CN" altLang="en-US" sz="2800" dirty="0"/>
              <a:t>：内核</a:t>
            </a:r>
            <a:r>
              <a:rPr kumimoji="1" lang="en-US" altLang="zh-CN" sz="2800" dirty="0"/>
              <a:t>/</a:t>
            </a:r>
            <a:r>
              <a:rPr kumimoji="1" lang="zh-CN" altLang="en-US" sz="2800" dirty="0"/>
              <a:t>应用在跨总线的环境下的同步和通信</a:t>
            </a: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291264" cy="4194381"/>
          </a:xfrm>
        </p:spPr>
        <p:txBody>
          <a:bodyPr>
            <a:normAutofit/>
          </a:bodyPr>
          <a:lstStyle/>
          <a:p>
            <a:r>
              <a:rPr kumimoji="1" lang="zh-CN" altLang="en-US" dirty="0"/>
              <a:t>异构硬件间通过多种总线连接，无</a:t>
            </a:r>
            <a:r>
              <a:rPr kumimoji="1" lang="zh-CN" altLang="en-US" dirty="0">
                <a:latin typeface="+mn-lt"/>
              </a:rPr>
              <a:t>共享内存和缓存</a:t>
            </a:r>
            <a:r>
              <a:rPr kumimoji="1" lang="zh-CN" altLang="en-US" dirty="0"/>
              <a:t>一致性</a:t>
            </a:r>
            <a:endParaRPr kumimoji="1" lang="en-US" altLang="zh-CN" dirty="0"/>
          </a:p>
        </p:txBody>
      </p:sp>
      <p:sp>
        <p:nvSpPr>
          <p:cNvPr id="5" name="矩形 4">
            <a:extLst>
              <a:ext uri="{FF2B5EF4-FFF2-40B4-BE49-F238E27FC236}">
                <a16:creationId xmlns:a16="http://schemas.microsoft.com/office/drawing/2014/main" id="{E8F7A6F3-491F-484E-86BA-8B7E0EC408B9}"/>
              </a:ext>
            </a:extLst>
          </p:cNvPr>
          <p:cNvSpPr/>
          <p:nvPr/>
        </p:nvSpPr>
        <p:spPr>
          <a:xfrm>
            <a:off x="912133" y="3212570"/>
            <a:ext cx="1081281" cy="1074850"/>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b" anchorCtr="0"/>
          <a:lstStyle/>
          <a:p>
            <a:pPr algn="ctr"/>
            <a:r>
              <a:rPr kumimoji="1" lang="en-US" altLang="zh-CN" sz="1600" dirty="0">
                <a:solidFill>
                  <a:srgbClr val="000000">
                    <a:lumMod val="75000"/>
                    <a:lumOff val="25000"/>
                  </a:srgbClr>
                </a:solidFill>
              </a:rPr>
              <a:t>Kernel</a:t>
            </a:r>
            <a:endParaRPr kumimoji="1" lang="zh-CN" altLang="en-US" sz="1600" dirty="0">
              <a:solidFill>
                <a:srgbClr val="000000">
                  <a:lumMod val="75000"/>
                  <a:lumOff val="25000"/>
                </a:srgbClr>
              </a:solidFill>
            </a:endParaRPr>
          </a:p>
        </p:txBody>
      </p:sp>
      <p:sp>
        <p:nvSpPr>
          <p:cNvPr id="6" name="矩形 5">
            <a:extLst>
              <a:ext uri="{FF2B5EF4-FFF2-40B4-BE49-F238E27FC236}">
                <a16:creationId xmlns:a16="http://schemas.microsoft.com/office/drawing/2014/main" id="{332BEDAB-66D4-0D49-94A1-4DC653EA7DDA}"/>
              </a:ext>
            </a:extLst>
          </p:cNvPr>
          <p:cNvSpPr/>
          <p:nvPr/>
        </p:nvSpPr>
        <p:spPr>
          <a:xfrm>
            <a:off x="912133" y="4308729"/>
            <a:ext cx="1059395" cy="313943"/>
          </a:xfrm>
          <a:prstGeom prst="rect">
            <a:avLst/>
          </a:prstGeom>
          <a:solidFill>
            <a:schemeClr val="bg2">
              <a:lumMod val="5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chemeClr val="bg1"/>
                </a:solidFill>
              </a:rPr>
              <a:t>CPU</a:t>
            </a:r>
            <a:endParaRPr kumimoji="1" lang="zh-CN" altLang="en-US" sz="1400" dirty="0">
              <a:solidFill>
                <a:schemeClr val="bg1"/>
              </a:solidFill>
            </a:endParaRPr>
          </a:p>
        </p:txBody>
      </p:sp>
      <p:sp>
        <p:nvSpPr>
          <p:cNvPr id="7" name="矩形 6">
            <a:extLst>
              <a:ext uri="{FF2B5EF4-FFF2-40B4-BE49-F238E27FC236}">
                <a16:creationId xmlns:a16="http://schemas.microsoft.com/office/drawing/2014/main" id="{7C1F3849-7DC9-5C4E-95E5-12532470E31A}"/>
              </a:ext>
            </a:extLst>
          </p:cNvPr>
          <p:cNvSpPr/>
          <p:nvPr/>
        </p:nvSpPr>
        <p:spPr>
          <a:xfrm>
            <a:off x="2541072" y="3187228"/>
            <a:ext cx="1053489" cy="1097130"/>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b" anchorCtr="0"/>
          <a:lstStyle/>
          <a:p>
            <a:pPr algn="ctr"/>
            <a:r>
              <a:rPr kumimoji="1" lang="en-US" altLang="zh-CN" sz="1600" dirty="0">
                <a:solidFill>
                  <a:srgbClr val="000000">
                    <a:lumMod val="75000"/>
                    <a:lumOff val="25000"/>
                  </a:srgbClr>
                </a:solidFill>
              </a:rPr>
              <a:t>Kernel</a:t>
            </a:r>
            <a:endParaRPr kumimoji="1" lang="zh-CN" altLang="en-US" sz="1600" dirty="0">
              <a:solidFill>
                <a:srgbClr val="000000">
                  <a:lumMod val="75000"/>
                  <a:lumOff val="25000"/>
                </a:srgbClr>
              </a:solidFill>
            </a:endParaRPr>
          </a:p>
        </p:txBody>
      </p:sp>
      <p:sp>
        <p:nvSpPr>
          <p:cNvPr id="8" name="矩形 7">
            <a:extLst>
              <a:ext uri="{FF2B5EF4-FFF2-40B4-BE49-F238E27FC236}">
                <a16:creationId xmlns:a16="http://schemas.microsoft.com/office/drawing/2014/main" id="{DEB59928-2B09-4445-806B-9ABF3DAFA332}"/>
              </a:ext>
            </a:extLst>
          </p:cNvPr>
          <p:cNvSpPr/>
          <p:nvPr/>
        </p:nvSpPr>
        <p:spPr>
          <a:xfrm>
            <a:off x="2541072" y="4305667"/>
            <a:ext cx="1059395" cy="313943"/>
          </a:xfrm>
          <a:prstGeom prst="rect">
            <a:avLst/>
          </a:prstGeom>
          <a:solidFill>
            <a:schemeClr val="bg2">
              <a:lumMod val="5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chemeClr val="bg1"/>
                </a:solidFill>
              </a:rPr>
              <a:t>CPU-n</a:t>
            </a:r>
            <a:endParaRPr kumimoji="1" lang="zh-CN" altLang="en-US" sz="1400" dirty="0">
              <a:solidFill>
                <a:schemeClr val="bg1"/>
              </a:solidFill>
            </a:endParaRPr>
          </a:p>
        </p:txBody>
      </p:sp>
      <p:sp>
        <p:nvSpPr>
          <p:cNvPr id="9" name="矩形 8">
            <a:extLst>
              <a:ext uri="{FF2B5EF4-FFF2-40B4-BE49-F238E27FC236}">
                <a16:creationId xmlns:a16="http://schemas.microsoft.com/office/drawing/2014/main" id="{3B07B476-DF53-7F40-B317-5D80A26BD884}"/>
              </a:ext>
            </a:extLst>
          </p:cNvPr>
          <p:cNvSpPr/>
          <p:nvPr/>
        </p:nvSpPr>
        <p:spPr>
          <a:xfrm>
            <a:off x="1993414" y="3983807"/>
            <a:ext cx="389850" cy="338554"/>
          </a:xfrm>
          <a:prstGeom prst="rect">
            <a:avLst/>
          </a:prstGeom>
        </p:spPr>
        <p:txBody>
          <a:bodyPr wrap="none">
            <a:spAutoFit/>
          </a:bodyPr>
          <a:lstStyle/>
          <a:p>
            <a:r>
              <a:rPr lang="mr-IN" altLang="zh-CN" sz="1600" dirty="0">
                <a:solidFill>
                  <a:schemeClr val="tx1">
                    <a:lumMod val="65000"/>
                    <a:lumOff val="35000"/>
                  </a:schemeClr>
                </a:solidFill>
              </a:rPr>
              <a:t>…</a:t>
            </a:r>
            <a:endParaRPr lang="zh-CN" altLang="en-US" sz="1600" dirty="0">
              <a:solidFill>
                <a:schemeClr val="tx1">
                  <a:lumMod val="65000"/>
                  <a:lumOff val="35000"/>
                </a:schemeClr>
              </a:solidFill>
            </a:endParaRPr>
          </a:p>
        </p:txBody>
      </p:sp>
      <p:sp>
        <p:nvSpPr>
          <p:cNvPr id="11" name="矩形 10">
            <a:extLst>
              <a:ext uri="{FF2B5EF4-FFF2-40B4-BE49-F238E27FC236}">
                <a16:creationId xmlns:a16="http://schemas.microsoft.com/office/drawing/2014/main" id="{12C64C57-9DB8-2241-AEC6-C56122FB4D1E}"/>
              </a:ext>
            </a:extLst>
          </p:cNvPr>
          <p:cNvSpPr/>
          <p:nvPr/>
        </p:nvSpPr>
        <p:spPr>
          <a:xfrm>
            <a:off x="785173" y="2209428"/>
            <a:ext cx="3024138" cy="209624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F8C89D13-0A87-0B4F-8B3D-358FC2630848}"/>
              </a:ext>
            </a:extLst>
          </p:cNvPr>
          <p:cNvSpPr txBox="1"/>
          <p:nvPr/>
        </p:nvSpPr>
        <p:spPr>
          <a:xfrm>
            <a:off x="467544" y="4710731"/>
            <a:ext cx="3681684" cy="276999"/>
          </a:xfrm>
          <a:prstGeom prst="rect">
            <a:avLst/>
          </a:prstGeom>
          <a:noFill/>
          <a:effectLst/>
        </p:spPr>
        <p:txBody>
          <a:bodyPr wrap="square" lIns="0" tIns="0" rIns="0" bIns="0" rtlCol="0">
            <a:spAutoFit/>
          </a:bodyPr>
          <a:lstStyle/>
          <a:p>
            <a:pPr algn="ctr"/>
            <a:r>
              <a:rPr kumimoji="1" lang="zh-CN" altLang="en-US" b="1" dirty="0">
                <a:solidFill>
                  <a:srgbClr val="BE384B"/>
                </a:solidFill>
              </a:rPr>
              <a:t>同构环境（共享内存）</a:t>
            </a:r>
            <a:endParaRPr kumimoji="1" lang="en-US" altLang="zh-CN" b="1" dirty="0">
              <a:solidFill>
                <a:srgbClr val="BE384B"/>
              </a:solidFill>
            </a:endParaRPr>
          </a:p>
        </p:txBody>
      </p:sp>
      <p:sp>
        <p:nvSpPr>
          <p:cNvPr id="14" name="矩形 13">
            <a:extLst>
              <a:ext uri="{FF2B5EF4-FFF2-40B4-BE49-F238E27FC236}">
                <a16:creationId xmlns:a16="http://schemas.microsoft.com/office/drawing/2014/main" id="{45468094-0AE3-3845-A45D-BC9AEB9016A2}"/>
              </a:ext>
            </a:extLst>
          </p:cNvPr>
          <p:cNvSpPr/>
          <p:nvPr/>
        </p:nvSpPr>
        <p:spPr>
          <a:xfrm>
            <a:off x="912133" y="2297134"/>
            <a:ext cx="2682428" cy="809142"/>
          </a:xfrm>
          <a:prstGeom prst="rect">
            <a:avLst/>
          </a:prstGeom>
          <a:solidFill>
            <a:schemeClr val="accent2">
              <a:lumMod val="60000"/>
              <a:lumOff val="4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dirty="0"/>
              <a:t>共享内存</a:t>
            </a:r>
          </a:p>
        </p:txBody>
      </p:sp>
      <p:sp>
        <p:nvSpPr>
          <p:cNvPr id="15" name="矩形 14">
            <a:extLst>
              <a:ext uri="{FF2B5EF4-FFF2-40B4-BE49-F238E27FC236}">
                <a16:creationId xmlns:a16="http://schemas.microsoft.com/office/drawing/2014/main" id="{7E012C5D-911D-6A44-BD2A-F348B1D56B12}"/>
              </a:ext>
            </a:extLst>
          </p:cNvPr>
          <p:cNvSpPr/>
          <p:nvPr/>
        </p:nvSpPr>
        <p:spPr>
          <a:xfrm>
            <a:off x="2657126" y="3371984"/>
            <a:ext cx="815198" cy="288032"/>
          </a:xfrm>
          <a:prstGeom prst="rect">
            <a:avLst/>
          </a:prstGeom>
          <a:solidFill>
            <a:schemeClr val="accent2">
              <a:lumMod val="60000"/>
              <a:lumOff val="4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struct</a:t>
            </a:r>
            <a:endParaRPr kumimoji="1" lang="zh-CN" altLang="en-US" dirty="0"/>
          </a:p>
        </p:txBody>
      </p:sp>
      <p:sp>
        <p:nvSpPr>
          <p:cNvPr id="16" name="矩形 15">
            <a:extLst>
              <a:ext uri="{FF2B5EF4-FFF2-40B4-BE49-F238E27FC236}">
                <a16:creationId xmlns:a16="http://schemas.microsoft.com/office/drawing/2014/main" id="{F0AFB52A-4175-AD49-88F8-25614A596C2A}"/>
              </a:ext>
            </a:extLst>
          </p:cNvPr>
          <p:cNvSpPr/>
          <p:nvPr/>
        </p:nvSpPr>
        <p:spPr>
          <a:xfrm>
            <a:off x="1889643" y="2721691"/>
            <a:ext cx="815198" cy="288032"/>
          </a:xfrm>
          <a:prstGeom prst="rect">
            <a:avLst/>
          </a:prstGeom>
          <a:solidFill>
            <a:schemeClr val="accent5">
              <a:lumMod val="60000"/>
              <a:lumOff val="4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struct</a:t>
            </a:r>
            <a:endParaRPr kumimoji="1" lang="zh-CN" altLang="en-US" dirty="0"/>
          </a:p>
        </p:txBody>
      </p:sp>
      <p:sp>
        <p:nvSpPr>
          <p:cNvPr id="17" name="矩形 16">
            <a:extLst>
              <a:ext uri="{FF2B5EF4-FFF2-40B4-BE49-F238E27FC236}">
                <a16:creationId xmlns:a16="http://schemas.microsoft.com/office/drawing/2014/main" id="{F5D42983-8BAD-4040-BB6D-241C1F236ECC}"/>
              </a:ext>
            </a:extLst>
          </p:cNvPr>
          <p:cNvSpPr/>
          <p:nvPr/>
        </p:nvSpPr>
        <p:spPr>
          <a:xfrm>
            <a:off x="2660217" y="3368922"/>
            <a:ext cx="815198" cy="288032"/>
          </a:xfrm>
          <a:prstGeom prst="rect">
            <a:avLst/>
          </a:prstGeom>
          <a:solidFill>
            <a:schemeClr val="accent5">
              <a:lumMod val="60000"/>
              <a:lumOff val="4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struct</a:t>
            </a:r>
            <a:endParaRPr kumimoji="1" lang="zh-CN" altLang="en-US" dirty="0"/>
          </a:p>
        </p:txBody>
      </p:sp>
      <p:sp>
        <p:nvSpPr>
          <p:cNvPr id="18" name="矩形 17">
            <a:extLst>
              <a:ext uri="{FF2B5EF4-FFF2-40B4-BE49-F238E27FC236}">
                <a16:creationId xmlns:a16="http://schemas.microsoft.com/office/drawing/2014/main" id="{DA63959C-2AC9-1B4F-9171-61190D4E755B}"/>
              </a:ext>
            </a:extLst>
          </p:cNvPr>
          <p:cNvSpPr/>
          <p:nvPr/>
        </p:nvSpPr>
        <p:spPr>
          <a:xfrm>
            <a:off x="1044403" y="3376422"/>
            <a:ext cx="823308" cy="288032"/>
          </a:xfrm>
          <a:prstGeom prst="rect">
            <a:avLst/>
          </a:prstGeom>
          <a:solidFill>
            <a:schemeClr val="accent2">
              <a:lumMod val="60000"/>
              <a:lumOff val="4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struct</a:t>
            </a:r>
            <a:endParaRPr kumimoji="1" lang="zh-CN" altLang="en-US" dirty="0"/>
          </a:p>
        </p:txBody>
      </p:sp>
      <p:sp>
        <p:nvSpPr>
          <p:cNvPr id="19" name="矩形 18">
            <a:extLst>
              <a:ext uri="{FF2B5EF4-FFF2-40B4-BE49-F238E27FC236}">
                <a16:creationId xmlns:a16="http://schemas.microsoft.com/office/drawing/2014/main" id="{A4561D02-49DC-4247-9FAA-79748FC062B5}"/>
              </a:ext>
            </a:extLst>
          </p:cNvPr>
          <p:cNvSpPr/>
          <p:nvPr/>
        </p:nvSpPr>
        <p:spPr>
          <a:xfrm>
            <a:off x="1041312" y="3376422"/>
            <a:ext cx="815198" cy="288032"/>
          </a:xfrm>
          <a:prstGeom prst="rect">
            <a:avLst/>
          </a:prstGeom>
          <a:solidFill>
            <a:schemeClr val="accent5">
              <a:lumMod val="60000"/>
              <a:lumOff val="4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struct</a:t>
            </a:r>
            <a:endParaRPr kumimoji="1" lang="zh-CN" altLang="en-US" dirty="0"/>
          </a:p>
        </p:txBody>
      </p:sp>
      <p:cxnSp>
        <p:nvCxnSpPr>
          <p:cNvPr id="20" name="直线箭头连接符 19">
            <a:extLst>
              <a:ext uri="{FF2B5EF4-FFF2-40B4-BE49-F238E27FC236}">
                <a16:creationId xmlns:a16="http://schemas.microsoft.com/office/drawing/2014/main" id="{F0AE7A68-D1A8-0944-B5F1-CA9B2179DDCB}"/>
              </a:ext>
            </a:extLst>
          </p:cNvPr>
          <p:cNvCxnSpPr>
            <a:cxnSpLocks/>
            <a:stCxn id="16" idx="2"/>
            <a:endCxn id="17" idx="0"/>
          </p:cNvCxnSpPr>
          <p:nvPr/>
        </p:nvCxnSpPr>
        <p:spPr>
          <a:xfrm>
            <a:off x="2297242" y="3009723"/>
            <a:ext cx="770574" cy="359199"/>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3DF090B4-BC79-EC46-9153-4C9020301933}"/>
              </a:ext>
            </a:extLst>
          </p:cNvPr>
          <p:cNvSpPr/>
          <p:nvPr/>
        </p:nvSpPr>
        <p:spPr>
          <a:xfrm>
            <a:off x="5329898" y="3212570"/>
            <a:ext cx="1081281" cy="1074850"/>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b" anchorCtr="0"/>
          <a:lstStyle/>
          <a:p>
            <a:pPr algn="ctr"/>
            <a:r>
              <a:rPr kumimoji="1" lang="en-US" altLang="zh-CN" sz="1600" dirty="0">
                <a:solidFill>
                  <a:srgbClr val="000000">
                    <a:lumMod val="75000"/>
                    <a:lumOff val="25000"/>
                  </a:srgbClr>
                </a:solidFill>
              </a:rPr>
              <a:t>Kernel</a:t>
            </a:r>
            <a:endParaRPr kumimoji="1" lang="zh-CN" altLang="en-US" sz="1600" dirty="0">
              <a:solidFill>
                <a:srgbClr val="000000">
                  <a:lumMod val="75000"/>
                  <a:lumOff val="25000"/>
                </a:srgbClr>
              </a:solidFill>
            </a:endParaRPr>
          </a:p>
        </p:txBody>
      </p:sp>
      <p:sp>
        <p:nvSpPr>
          <p:cNvPr id="28" name="矩形 27">
            <a:extLst>
              <a:ext uri="{FF2B5EF4-FFF2-40B4-BE49-F238E27FC236}">
                <a16:creationId xmlns:a16="http://schemas.microsoft.com/office/drawing/2014/main" id="{6528C05F-89BF-474E-B1DA-0D544FFC5F55}"/>
              </a:ext>
            </a:extLst>
          </p:cNvPr>
          <p:cNvSpPr/>
          <p:nvPr/>
        </p:nvSpPr>
        <p:spPr>
          <a:xfrm>
            <a:off x="5329898" y="4308729"/>
            <a:ext cx="1059395" cy="313943"/>
          </a:xfrm>
          <a:prstGeom prst="rect">
            <a:avLst/>
          </a:prstGeom>
          <a:solidFill>
            <a:schemeClr val="bg2">
              <a:lumMod val="5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chemeClr val="bg1"/>
                </a:solidFill>
              </a:rPr>
              <a:t>CPU</a:t>
            </a:r>
            <a:endParaRPr kumimoji="1" lang="zh-CN" altLang="en-US" sz="1400" dirty="0">
              <a:solidFill>
                <a:schemeClr val="bg1"/>
              </a:solidFill>
            </a:endParaRPr>
          </a:p>
        </p:txBody>
      </p:sp>
      <p:sp>
        <p:nvSpPr>
          <p:cNvPr id="29" name="矩形 28">
            <a:extLst>
              <a:ext uri="{FF2B5EF4-FFF2-40B4-BE49-F238E27FC236}">
                <a16:creationId xmlns:a16="http://schemas.microsoft.com/office/drawing/2014/main" id="{02466094-8A9A-584A-9C4D-2CBA506F7324}"/>
              </a:ext>
            </a:extLst>
          </p:cNvPr>
          <p:cNvSpPr/>
          <p:nvPr/>
        </p:nvSpPr>
        <p:spPr>
          <a:xfrm>
            <a:off x="6958837" y="3187228"/>
            <a:ext cx="1053489" cy="1097130"/>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b" anchorCtr="0"/>
          <a:lstStyle/>
          <a:p>
            <a:pPr algn="ctr"/>
            <a:r>
              <a:rPr kumimoji="1" lang="en-US" altLang="zh-CN" sz="1600" dirty="0">
                <a:solidFill>
                  <a:srgbClr val="000000">
                    <a:lumMod val="75000"/>
                    <a:lumOff val="25000"/>
                  </a:srgbClr>
                </a:solidFill>
              </a:rPr>
              <a:t>Kernel</a:t>
            </a:r>
            <a:endParaRPr kumimoji="1" lang="zh-CN" altLang="en-US" sz="1600" dirty="0">
              <a:solidFill>
                <a:srgbClr val="000000">
                  <a:lumMod val="75000"/>
                  <a:lumOff val="25000"/>
                </a:srgbClr>
              </a:solidFill>
            </a:endParaRPr>
          </a:p>
        </p:txBody>
      </p:sp>
      <p:sp>
        <p:nvSpPr>
          <p:cNvPr id="30" name="矩形 29">
            <a:extLst>
              <a:ext uri="{FF2B5EF4-FFF2-40B4-BE49-F238E27FC236}">
                <a16:creationId xmlns:a16="http://schemas.microsoft.com/office/drawing/2014/main" id="{2A3949BE-4801-EB41-8854-2F80710F3481}"/>
              </a:ext>
            </a:extLst>
          </p:cNvPr>
          <p:cNvSpPr/>
          <p:nvPr/>
        </p:nvSpPr>
        <p:spPr>
          <a:xfrm>
            <a:off x="6958837" y="4305667"/>
            <a:ext cx="1059395" cy="313943"/>
          </a:xfrm>
          <a:prstGeom prst="rect">
            <a:avLst/>
          </a:prstGeom>
          <a:solidFill>
            <a:schemeClr val="bg2">
              <a:lumMod val="5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chemeClr val="bg1"/>
                </a:solidFill>
              </a:rPr>
              <a:t>GPU</a:t>
            </a:r>
            <a:endParaRPr kumimoji="1" lang="zh-CN" altLang="en-US" sz="1400" dirty="0">
              <a:solidFill>
                <a:schemeClr val="bg1"/>
              </a:solidFill>
            </a:endParaRPr>
          </a:p>
        </p:txBody>
      </p:sp>
      <p:sp>
        <p:nvSpPr>
          <p:cNvPr id="31" name="矩形 30">
            <a:extLst>
              <a:ext uri="{FF2B5EF4-FFF2-40B4-BE49-F238E27FC236}">
                <a16:creationId xmlns:a16="http://schemas.microsoft.com/office/drawing/2014/main" id="{559D18BF-7B2E-7248-980D-2F04BCAACC69}"/>
              </a:ext>
            </a:extLst>
          </p:cNvPr>
          <p:cNvSpPr/>
          <p:nvPr/>
        </p:nvSpPr>
        <p:spPr>
          <a:xfrm>
            <a:off x="6411179" y="3918191"/>
            <a:ext cx="525772" cy="338554"/>
          </a:xfrm>
          <a:prstGeom prst="rect">
            <a:avLst/>
          </a:prstGeom>
        </p:spPr>
        <p:txBody>
          <a:bodyPr wrap="square">
            <a:spAutoFit/>
          </a:bodyPr>
          <a:lstStyle/>
          <a:p>
            <a:pPr algn="ctr"/>
            <a:r>
              <a:rPr lang="mr-IN" altLang="zh-CN" sz="1600" dirty="0">
                <a:solidFill>
                  <a:schemeClr val="tx1">
                    <a:lumMod val="65000"/>
                    <a:lumOff val="35000"/>
                  </a:schemeClr>
                </a:solidFill>
              </a:rPr>
              <a:t>…</a:t>
            </a:r>
            <a:endParaRPr lang="zh-CN" altLang="en-US" sz="1600" dirty="0">
              <a:solidFill>
                <a:schemeClr val="tx1">
                  <a:lumMod val="65000"/>
                  <a:lumOff val="35000"/>
                </a:schemeClr>
              </a:solidFill>
            </a:endParaRPr>
          </a:p>
        </p:txBody>
      </p:sp>
      <p:sp>
        <p:nvSpPr>
          <p:cNvPr id="33" name="矩形 32">
            <a:extLst>
              <a:ext uri="{FF2B5EF4-FFF2-40B4-BE49-F238E27FC236}">
                <a16:creationId xmlns:a16="http://schemas.microsoft.com/office/drawing/2014/main" id="{7E3EB778-CA08-4745-BFEA-DFA6498CEC42}"/>
              </a:ext>
            </a:extLst>
          </p:cNvPr>
          <p:cNvSpPr/>
          <p:nvPr/>
        </p:nvSpPr>
        <p:spPr>
          <a:xfrm>
            <a:off x="5162131" y="2224262"/>
            <a:ext cx="3024138" cy="2096239"/>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文本框 33">
            <a:extLst>
              <a:ext uri="{FF2B5EF4-FFF2-40B4-BE49-F238E27FC236}">
                <a16:creationId xmlns:a16="http://schemas.microsoft.com/office/drawing/2014/main" id="{1ABD6680-4D5A-024B-B65B-B329F45A7EC9}"/>
              </a:ext>
            </a:extLst>
          </p:cNvPr>
          <p:cNvSpPr txBox="1"/>
          <p:nvPr/>
        </p:nvSpPr>
        <p:spPr>
          <a:xfrm>
            <a:off x="5004048" y="4710731"/>
            <a:ext cx="3681684" cy="276999"/>
          </a:xfrm>
          <a:prstGeom prst="rect">
            <a:avLst/>
          </a:prstGeom>
          <a:noFill/>
          <a:effectLst/>
        </p:spPr>
        <p:txBody>
          <a:bodyPr wrap="square" lIns="0" tIns="0" rIns="0" bIns="0" rtlCol="0">
            <a:spAutoFit/>
          </a:bodyPr>
          <a:lstStyle/>
          <a:p>
            <a:pPr algn="ctr"/>
            <a:r>
              <a:rPr kumimoji="1" lang="zh-CN" altLang="en-US" b="1" dirty="0">
                <a:solidFill>
                  <a:srgbClr val="BE384B"/>
                </a:solidFill>
              </a:rPr>
              <a:t>异构环境（非共享内存）</a:t>
            </a:r>
            <a:endParaRPr kumimoji="1" lang="en-US" altLang="zh-CN" b="1" dirty="0">
              <a:solidFill>
                <a:srgbClr val="BE384B"/>
              </a:solidFill>
            </a:endParaRPr>
          </a:p>
        </p:txBody>
      </p:sp>
      <p:sp>
        <p:nvSpPr>
          <p:cNvPr id="35" name="矩形 34">
            <a:extLst>
              <a:ext uri="{FF2B5EF4-FFF2-40B4-BE49-F238E27FC236}">
                <a16:creationId xmlns:a16="http://schemas.microsoft.com/office/drawing/2014/main" id="{0DD7D967-154F-9544-8EB6-BBF1DDCC8201}"/>
              </a:ext>
            </a:extLst>
          </p:cNvPr>
          <p:cNvSpPr/>
          <p:nvPr/>
        </p:nvSpPr>
        <p:spPr>
          <a:xfrm>
            <a:off x="5329898" y="2297134"/>
            <a:ext cx="1081281" cy="700861"/>
          </a:xfrm>
          <a:prstGeom prst="rect">
            <a:avLst/>
          </a:prstGeom>
          <a:solidFill>
            <a:schemeClr val="accent2">
              <a:lumMod val="75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sz="1600" dirty="0"/>
              <a:t>私有内存</a:t>
            </a:r>
          </a:p>
        </p:txBody>
      </p:sp>
      <p:sp>
        <p:nvSpPr>
          <p:cNvPr id="36" name="矩形 35">
            <a:extLst>
              <a:ext uri="{FF2B5EF4-FFF2-40B4-BE49-F238E27FC236}">
                <a16:creationId xmlns:a16="http://schemas.microsoft.com/office/drawing/2014/main" id="{07D0A487-37E1-3D4E-AAD7-EDDF67D88A49}"/>
              </a:ext>
            </a:extLst>
          </p:cNvPr>
          <p:cNvSpPr/>
          <p:nvPr/>
        </p:nvSpPr>
        <p:spPr>
          <a:xfrm>
            <a:off x="7074891" y="3371984"/>
            <a:ext cx="815198" cy="288032"/>
          </a:xfrm>
          <a:prstGeom prst="rect">
            <a:avLst/>
          </a:prstGeom>
          <a:solidFill>
            <a:schemeClr val="accent2">
              <a:lumMod val="60000"/>
              <a:lumOff val="4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struct</a:t>
            </a:r>
            <a:endParaRPr kumimoji="1" lang="zh-CN" altLang="en-US" dirty="0"/>
          </a:p>
        </p:txBody>
      </p:sp>
      <p:sp>
        <p:nvSpPr>
          <p:cNvPr id="37" name="矩形 36">
            <a:extLst>
              <a:ext uri="{FF2B5EF4-FFF2-40B4-BE49-F238E27FC236}">
                <a16:creationId xmlns:a16="http://schemas.microsoft.com/office/drawing/2014/main" id="{35B1F049-8111-1944-B025-EB3C16282377}"/>
              </a:ext>
            </a:extLst>
          </p:cNvPr>
          <p:cNvSpPr/>
          <p:nvPr/>
        </p:nvSpPr>
        <p:spPr>
          <a:xfrm>
            <a:off x="5459077" y="2614343"/>
            <a:ext cx="815198" cy="288032"/>
          </a:xfrm>
          <a:prstGeom prst="rect">
            <a:avLst/>
          </a:prstGeom>
          <a:solidFill>
            <a:schemeClr val="accent5">
              <a:lumMod val="75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struct</a:t>
            </a:r>
            <a:endParaRPr kumimoji="1" lang="zh-CN" altLang="en-US" dirty="0"/>
          </a:p>
        </p:txBody>
      </p:sp>
      <p:sp>
        <p:nvSpPr>
          <p:cNvPr id="38" name="矩形 37">
            <a:extLst>
              <a:ext uri="{FF2B5EF4-FFF2-40B4-BE49-F238E27FC236}">
                <a16:creationId xmlns:a16="http://schemas.microsoft.com/office/drawing/2014/main" id="{05C7D2B5-B31C-E34A-BB58-26435196318E}"/>
              </a:ext>
            </a:extLst>
          </p:cNvPr>
          <p:cNvSpPr/>
          <p:nvPr/>
        </p:nvSpPr>
        <p:spPr>
          <a:xfrm>
            <a:off x="7077982" y="3368922"/>
            <a:ext cx="815198" cy="288032"/>
          </a:xfrm>
          <a:prstGeom prst="rect">
            <a:avLst/>
          </a:prstGeom>
          <a:solidFill>
            <a:schemeClr val="accent5">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struct</a:t>
            </a:r>
            <a:endParaRPr kumimoji="1" lang="zh-CN" altLang="en-US" dirty="0"/>
          </a:p>
        </p:txBody>
      </p:sp>
      <p:sp>
        <p:nvSpPr>
          <p:cNvPr id="39" name="矩形 38">
            <a:extLst>
              <a:ext uri="{FF2B5EF4-FFF2-40B4-BE49-F238E27FC236}">
                <a16:creationId xmlns:a16="http://schemas.microsoft.com/office/drawing/2014/main" id="{53CF9373-ECDC-3E4C-BBD2-BF6BD9200027}"/>
              </a:ext>
            </a:extLst>
          </p:cNvPr>
          <p:cNvSpPr/>
          <p:nvPr/>
        </p:nvSpPr>
        <p:spPr>
          <a:xfrm>
            <a:off x="5462168" y="3376422"/>
            <a:ext cx="823308" cy="288032"/>
          </a:xfrm>
          <a:prstGeom prst="rect">
            <a:avLst/>
          </a:prstGeom>
          <a:solidFill>
            <a:schemeClr val="accent2">
              <a:lumMod val="60000"/>
              <a:lumOff val="4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struct</a:t>
            </a:r>
            <a:endParaRPr kumimoji="1" lang="zh-CN" altLang="en-US" dirty="0"/>
          </a:p>
        </p:txBody>
      </p:sp>
      <p:sp>
        <p:nvSpPr>
          <p:cNvPr id="40" name="矩形 39">
            <a:extLst>
              <a:ext uri="{FF2B5EF4-FFF2-40B4-BE49-F238E27FC236}">
                <a16:creationId xmlns:a16="http://schemas.microsoft.com/office/drawing/2014/main" id="{82030DE2-597E-344A-951F-4E5492B0B181}"/>
              </a:ext>
            </a:extLst>
          </p:cNvPr>
          <p:cNvSpPr/>
          <p:nvPr/>
        </p:nvSpPr>
        <p:spPr>
          <a:xfrm>
            <a:off x="5459077" y="3376422"/>
            <a:ext cx="815198" cy="288032"/>
          </a:xfrm>
          <a:prstGeom prst="rect">
            <a:avLst/>
          </a:prstGeom>
          <a:solidFill>
            <a:schemeClr val="accent5">
              <a:lumMod val="75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struct</a:t>
            </a:r>
            <a:endParaRPr kumimoji="1" lang="zh-CN" altLang="en-US" dirty="0"/>
          </a:p>
        </p:txBody>
      </p:sp>
      <p:sp>
        <p:nvSpPr>
          <p:cNvPr id="42" name="左右箭头 41">
            <a:extLst>
              <a:ext uri="{FF2B5EF4-FFF2-40B4-BE49-F238E27FC236}">
                <a16:creationId xmlns:a16="http://schemas.microsoft.com/office/drawing/2014/main" id="{CC9BF471-C498-0242-AAB7-C47314E73E80}"/>
              </a:ext>
            </a:extLst>
          </p:cNvPr>
          <p:cNvSpPr/>
          <p:nvPr/>
        </p:nvSpPr>
        <p:spPr>
          <a:xfrm>
            <a:off x="6117417" y="4191545"/>
            <a:ext cx="1105947" cy="566709"/>
          </a:xfrm>
          <a:prstGeom prst="leftRightArrow">
            <a:avLst>
              <a:gd name="adj1" fmla="val 43498"/>
              <a:gd name="adj2" fmla="val 20810"/>
            </a:avLst>
          </a:prstGeom>
          <a:solidFill>
            <a:schemeClr val="bg2">
              <a:lumMod val="25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PCI-E</a:t>
            </a:r>
            <a:endParaRPr kumimoji="1" lang="zh-CN" altLang="en-US" dirty="0"/>
          </a:p>
        </p:txBody>
      </p:sp>
      <p:sp>
        <p:nvSpPr>
          <p:cNvPr id="48" name="矩形 47">
            <a:extLst>
              <a:ext uri="{FF2B5EF4-FFF2-40B4-BE49-F238E27FC236}">
                <a16:creationId xmlns:a16="http://schemas.microsoft.com/office/drawing/2014/main" id="{4434CF30-FD14-9C47-8ED0-8F3C7093C867}"/>
              </a:ext>
            </a:extLst>
          </p:cNvPr>
          <p:cNvSpPr/>
          <p:nvPr/>
        </p:nvSpPr>
        <p:spPr>
          <a:xfrm>
            <a:off x="6958837" y="2337675"/>
            <a:ext cx="1053488" cy="667546"/>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sz="1600" dirty="0"/>
              <a:t>私有内存</a:t>
            </a:r>
          </a:p>
        </p:txBody>
      </p:sp>
      <p:sp>
        <p:nvSpPr>
          <p:cNvPr id="49" name="矩形 48">
            <a:extLst>
              <a:ext uri="{FF2B5EF4-FFF2-40B4-BE49-F238E27FC236}">
                <a16:creationId xmlns:a16="http://schemas.microsoft.com/office/drawing/2014/main" id="{38288BDB-141D-D043-AC20-739DE4652CB2}"/>
              </a:ext>
            </a:extLst>
          </p:cNvPr>
          <p:cNvSpPr/>
          <p:nvPr/>
        </p:nvSpPr>
        <p:spPr>
          <a:xfrm>
            <a:off x="7085383" y="2666112"/>
            <a:ext cx="815198" cy="288032"/>
          </a:xfrm>
          <a:prstGeom prst="rect">
            <a:avLst/>
          </a:prstGeom>
          <a:solidFill>
            <a:schemeClr val="accent5">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struct</a:t>
            </a:r>
            <a:endParaRPr kumimoji="1" lang="zh-CN" altLang="en-US" dirty="0"/>
          </a:p>
        </p:txBody>
      </p:sp>
      <p:cxnSp>
        <p:nvCxnSpPr>
          <p:cNvPr id="41" name="直线箭头连接符 40">
            <a:extLst>
              <a:ext uri="{FF2B5EF4-FFF2-40B4-BE49-F238E27FC236}">
                <a16:creationId xmlns:a16="http://schemas.microsoft.com/office/drawing/2014/main" id="{A6A1E1F9-A325-634F-99D2-217A2A7EC4E9}"/>
              </a:ext>
            </a:extLst>
          </p:cNvPr>
          <p:cNvCxnSpPr>
            <a:cxnSpLocks/>
            <a:stCxn id="49" idx="2"/>
            <a:endCxn id="38" idx="0"/>
          </p:cNvCxnSpPr>
          <p:nvPr/>
        </p:nvCxnSpPr>
        <p:spPr>
          <a:xfrm flipH="1">
            <a:off x="7485581" y="2954144"/>
            <a:ext cx="7401" cy="414778"/>
          </a:xfrm>
          <a:prstGeom prst="straightConnector1">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线箭头连接符 31">
            <a:extLst>
              <a:ext uri="{FF2B5EF4-FFF2-40B4-BE49-F238E27FC236}">
                <a16:creationId xmlns:a16="http://schemas.microsoft.com/office/drawing/2014/main" id="{10E261B4-40BD-5E45-A913-43BFC5389E2B}"/>
              </a:ext>
            </a:extLst>
          </p:cNvPr>
          <p:cNvCxnSpPr>
            <a:cxnSpLocks/>
            <a:stCxn id="40" idx="0"/>
            <a:endCxn id="37" idx="2"/>
          </p:cNvCxnSpPr>
          <p:nvPr/>
        </p:nvCxnSpPr>
        <p:spPr>
          <a:xfrm flipV="1">
            <a:off x="5866676" y="2902375"/>
            <a:ext cx="0" cy="474047"/>
          </a:xfrm>
          <a:prstGeom prst="straightConnector1">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直线箭头连接符 9">
            <a:extLst>
              <a:ext uri="{FF2B5EF4-FFF2-40B4-BE49-F238E27FC236}">
                <a16:creationId xmlns:a16="http://schemas.microsoft.com/office/drawing/2014/main" id="{FB3F45A2-448A-5647-810B-48C9D9DC599D}"/>
              </a:ext>
            </a:extLst>
          </p:cNvPr>
          <p:cNvCxnSpPr>
            <a:cxnSpLocks/>
            <a:stCxn id="19" idx="0"/>
            <a:endCxn id="16" idx="2"/>
          </p:cNvCxnSpPr>
          <p:nvPr/>
        </p:nvCxnSpPr>
        <p:spPr>
          <a:xfrm flipV="1">
            <a:off x="1448911" y="3009723"/>
            <a:ext cx="848331" cy="366699"/>
          </a:xfrm>
          <a:prstGeom prst="straightConnector1">
            <a:avLst/>
          </a:prstGeom>
          <a:ln w="381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3" name="灯片编号占位符 3">
            <a:extLst>
              <a:ext uri="{FF2B5EF4-FFF2-40B4-BE49-F238E27FC236}">
                <a16:creationId xmlns:a16="http://schemas.microsoft.com/office/drawing/2014/main" id="{CB9137F7-3DF4-3244-856D-6D981C99ACC8}"/>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10</a:t>
            </a:fld>
            <a:endParaRPr lang="zh-CN" altLang="en-US"/>
          </a:p>
        </p:txBody>
      </p:sp>
      <p:sp>
        <p:nvSpPr>
          <p:cNvPr id="44" name="页脚占位符 4">
            <a:extLst>
              <a:ext uri="{FF2B5EF4-FFF2-40B4-BE49-F238E27FC236}">
                <a16:creationId xmlns:a16="http://schemas.microsoft.com/office/drawing/2014/main" id="{0F971E63-BA67-DB4A-B17F-ADFCD1DC6BEF}"/>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423069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矩形 63">
            <a:extLst>
              <a:ext uri="{FF2B5EF4-FFF2-40B4-BE49-F238E27FC236}">
                <a16:creationId xmlns:a16="http://schemas.microsoft.com/office/drawing/2014/main" id="{74027916-C976-2546-9741-97C3B2775959}"/>
              </a:ext>
            </a:extLst>
          </p:cNvPr>
          <p:cNvSpPr/>
          <p:nvPr/>
        </p:nvSpPr>
        <p:spPr>
          <a:xfrm>
            <a:off x="3447250" y="3786453"/>
            <a:ext cx="224552" cy="216024"/>
          </a:xfrm>
          <a:prstGeom prst="rect">
            <a:avLst/>
          </a:prstGeom>
          <a:solidFill>
            <a:schemeClr val="tx1">
              <a:lumMod val="85000"/>
              <a:lumOff val="1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65" name="矩形 64">
            <a:extLst>
              <a:ext uri="{FF2B5EF4-FFF2-40B4-BE49-F238E27FC236}">
                <a16:creationId xmlns:a16="http://schemas.microsoft.com/office/drawing/2014/main" id="{1E663FD2-D67B-1E4A-A8B5-2AFEEDB97E38}"/>
              </a:ext>
            </a:extLst>
          </p:cNvPr>
          <p:cNvSpPr/>
          <p:nvPr/>
        </p:nvSpPr>
        <p:spPr>
          <a:xfrm>
            <a:off x="5026964" y="3799082"/>
            <a:ext cx="224552" cy="216024"/>
          </a:xfrm>
          <a:prstGeom prst="rect">
            <a:avLst/>
          </a:prstGeom>
          <a:solidFill>
            <a:schemeClr val="tx1">
              <a:lumMod val="85000"/>
              <a:lumOff val="1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66" name="矩形 65">
            <a:extLst>
              <a:ext uri="{FF2B5EF4-FFF2-40B4-BE49-F238E27FC236}">
                <a16:creationId xmlns:a16="http://schemas.microsoft.com/office/drawing/2014/main" id="{5E5E8AB2-5477-EB4A-B5CC-C516D946CEA9}"/>
              </a:ext>
            </a:extLst>
          </p:cNvPr>
          <p:cNvSpPr/>
          <p:nvPr/>
        </p:nvSpPr>
        <p:spPr>
          <a:xfrm>
            <a:off x="5953062" y="3813048"/>
            <a:ext cx="224552" cy="216024"/>
          </a:xfrm>
          <a:prstGeom prst="rect">
            <a:avLst/>
          </a:prstGeom>
          <a:solidFill>
            <a:schemeClr val="tx1">
              <a:lumMod val="85000"/>
              <a:lumOff val="1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67" name="矩形 66">
            <a:extLst>
              <a:ext uri="{FF2B5EF4-FFF2-40B4-BE49-F238E27FC236}">
                <a16:creationId xmlns:a16="http://schemas.microsoft.com/office/drawing/2014/main" id="{AC9DCE90-B5B6-0D46-9931-0520E7C69FA3}"/>
              </a:ext>
            </a:extLst>
          </p:cNvPr>
          <p:cNvSpPr/>
          <p:nvPr/>
        </p:nvSpPr>
        <p:spPr>
          <a:xfrm>
            <a:off x="3370962" y="4109229"/>
            <a:ext cx="224552" cy="216024"/>
          </a:xfrm>
          <a:prstGeom prst="rect">
            <a:avLst/>
          </a:prstGeom>
          <a:solidFill>
            <a:schemeClr val="tx1">
              <a:lumMod val="85000"/>
              <a:lumOff val="1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68" name="矩形 67">
            <a:extLst>
              <a:ext uri="{FF2B5EF4-FFF2-40B4-BE49-F238E27FC236}">
                <a16:creationId xmlns:a16="http://schemas.microsoft.com/office/drawing/2014/main" id="{2465EA7B-0114-5B4C-AE55-36EBAAAD274B}"/>
              </a:ext>
            </a:extLst>
          </p:cNvPr>
          <p:cNvSpPr/>
          <p:nvPr/>
        </p:nvSpPr>
        <p:spPr>
          <a:xfrm>
            <a:off x="4659310" y="4093456"/>
            <a:ext cx="224552" cy="216024"/>
          </a:xfrm>
          <a:prstGeom prst="rect">
            <a:avLst/>
          </a:prstGeom>
          <a:solidFill>
            <a:schemeClr val="tx1">
              <a:lumMod val="85000"/>
              <a:lumOff val="1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69" name="矩形 68">
            <a:extLst>
              <a:ext uri="{FF2B5EF4-FFF2-40B4-BE49-F238E27FC236}">
                <a16:creationId xmlns:a16="http://schemas.microsoft.com/office/drawing/2014/main" id="{DCF8A44C-1875-3546-9ABA-6D608851B582}"/>
              </a:ext>
            </a:extLst>
          </p:cNvPr>
          <p:cNvSpPr/>
          <p:nvPr/>
        </p:nvSpPr>
        <p:spPr>
          <a:xfrm>
            <a:off x="6089126" y="4129216"/>
            <a:ext cx="224552" cy="216024"/>
          </a:xfrm>
          <a:prstGeom prst="rect">
            <a:avLst/>
          </a:prstGeom>
          <a:solidFill>
            <a:schemeClr val="tx1">
              <a:lumMod val="85000"/>
              <a:lumOff val="1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sp>
        <p:nvSpPr>
          <p:cNvPr id="2" name="标题 1"/>
          <p:cNvSpPr>
            <a:spLocks noGrp="1"/>
          </p:cNvSpPr>
          <p:nvPr>
            <p:ph type="title"/>
          </p:nvPr>
        </p:nvSpPr>
        <p:spPr/>
        <p:txBody>
          <a:bodyPr>
            <a:noAutofit/>
          </a:bodyPr>
          <a:lstStyle/>
          <a:p>
            <a:r>
              <a:rPr kumimoji="1" lang="zh-CN" altLang="en-US" sz="2800" dirty="0"/>
              <a:t>思路：多内核抽象</a:t>
            </a:r>
            <a:r>
              <a:rPr kumimoji="1" lang="en-US" altLang="zh-CN" sz="2800" dirty="0"/>
              <a:t>——</a:t>
            </a:r>
            <a:r>
              <a:rPr kumimoji="1" lang="zh-CN" altLang="en-US" sz="2800" dirty="0"/>
              <a:t>每个设备运行一个</a:t>
            </a:r>
            <a:r>
              <a:rPr kumimoji="1" lang="en-US" altLang="zh-CN" sz="2800" dirty="0"/>
              <a:t>monitor</a:t>
            </a: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291264" cy="3906349"/>
          </a:xfrm>
        </p:spPr>
        <p:txBody>
          <a:bodyPr>
            <a:normAutofit/>
          </a:bodyPr>
          <a:lstStyle/>
          <a:p>
            <a:r>
              <a:rPr kumimoji="1" lang="en-US" altLang="zh-CN" sz="2000" dirty="0"/>
              <a:t>OS</a:t>
            </a:r>
            <a:r>
              <a:rPr kumimoji="1" lang="zh-CN" altLang="en-US" sz="2000" dirty="0"/>
              <a:t>也被拆分到不同设备上的</a:t>
            </a:r>
            <a:r>
              <a:rPr kumimoji="1" lang="en-US" altLang="zh-CN" sz="2000" dirty="0"/>
              <a:t>monitor</a:t>
            </a:r>
            <a:r>
              <a:rPr kumimoji="1" lang="zh-CN" altLang="en-US" sz="2000" dirty="0"/>
              <a:t>中，类似</a:t>
            </a:r>
            <a:r>
              <a:rPr kumimoji="1" lang="en-US" altLang="zh-CN" sz="2000" dirty="0" err="1"/>
              <a:t>Multikernel</a:t>
            </a:r>
            <a:endParaRPr kumimoji="1" lang="en-US" altLang="zh-CN" sz="2000" dirty="0"/>
          </a:p>
          <a:p>
            <a:pPr lvl="1"/>
            <a:r>
              <a:rPr kumimoji="1" lang="en-US" altLang="zh-CN" sz="1600" dirty="0"/>
              <a:t>CPU</a:t>
            </a:r>
            <a:r>
              <a:rPr kumimoji="1" lang="zh-CN" altLang="en-US" sz="1600" dirty="0"/>
              <a:t>上负责</a:t>
            </a:r>
            <a:r>
              <a:rPr kumimoji="1" lang="en-US" altLang="zh-CN" sz="1600" dirty="0"/>
              <a:t>OS</a:t>
            </a:r>
            <a:r>
              <a:rPr kumimoji="1" lang="zh-CN" altLang="en-US" sz="1600" dirty="0"/>
              <a:t>进程管理</a:t>
            </a:r>
            <a:endParaRPr kumimoji="1" lang="en-US" altLang="zh-CN" sz="1600" dirty="0"/>
          </a:p>
          <a:p>
            <a:pPr lvl="1"/>
            <a:r>
              <a:rPr kumimoji="1" lang="en-US" altLang="zh-CN" sz="1600" dirty="0"/>
              <a:t>Memory</a:t>
            </a:r>
            <a:r>
              <a:rPr kumimoji="1" lang="zh-CN" altLang="en-US" sz="1600" dirty="0"/>
              <a:t> </a:t>
            </a:r>
            <a:r>
              <a:rPr kumimoji="1" lang="en-US" altLang="zh-CN" sz="1600" dirty="0"/>
              <a:t>monitor</a:t>
            </a:r>
            <a:r>
              <a:rPr kumimoji="1" lang="zh-CN" altLang="en-US" sz="1600" dirty="0"/>
              <a:t>上负责</a:t>
            </a:r>
            <a:r>
              <a:rPr kumimoji="1" lang="en-US" altLang="zh-CN" sz="1600" dirty="0"/>
              <a:t>OS</a:t>
            </a:r>
            <a:r>
              <a:rPr kumimoji="1" lang="zh-CN" altLang="en-US" sz="1600" dirty="0"/>
              <a:t>内存管理</a:t>
            </a:r>
            <a:endParaRPr kumimoji="1" lang="en-US" altLang="zh-CN" sz="1600" dirty="0"/>
          </a:p>
          <a:p>
            <a:pPr lvl="1"/>
            <a:r>
              <a:rPr kumimoji="1" lang="zh-CN" altLang="en-US" sz="1600" dirty="0"/>
              <a:t>通过</a:t>
            </a:r>
            <a:r>
              <a:rPr kumimoji="1" lang="en-US" altLang="zh-CN" sz="1600" dirty="0"/>
              <a:t>RDMA</a:t>
            </a:r>
            <a:r>
              <a:rPr kumimoji="1" lang="zh-CN" altLang="en-US" sz="1600" dirty="0"/>
              <a:t>等快速网络通信</a:t>
            </a:r>
            <a:endParaRPr kumimoji="1" lang="en-US" altLang="zh-CN" sz="1600" dirty="0"/>
          </a:p>
          <a:p>
            <a:pPr lvl="1"/>
            <a:endParaRPr kumimoji="1" lang="en-US" altLang="zh-CN" sz="2000" dirty="0">
              <a:latin typeface="+mn-lt"/>
            </a:endParaRPr>
          </a:p>
          <a:p>
            <a:endParaRPr kumimoji="1" lang="en-US" altLang="zh-CN" sz="1600" dirty="0"/>
          </a:p>
        </p:txBody>
      </p:sp>
      <p:grpSp>
        <p:nvGrpSpPr>
          <p:cNvPr id="21" name="组合 20">
            <a:extLst>
              <a:ext uri="{FF2B5EF4-FFF2-40B4-BE49-F238E27FC236}">
                <a16:creationId xmlns:a16="http://schemas.microsoft.com/office/drawing/2014/main" id="{F74B7827-4419-7643-B1EB-F4530C7341D2}"/>
              </a:ext>
            </a:extLst>
          </p:cNvPr>
          <p:cNvGrpSpPr/>
          <p:nvPr/>
        </p:nvGrpSpPr>
        <p:grpSpPr>
          <a:xfrm>
            <a:off x="5795193" y="2841414"/>
            <a:ext cx="1180449" cy="974484"/>
            <a:chOff x="7746258" y="3157035"/>
            <a:chExt cx="1180449" cy="974484"/>
          </a:xfrm>
        </p:grpSpPr>
        <p:sp>
          <p:nvSpPr>
            <p:cNvPr id="24" name="矩形 23">
              <a:extLst>
                <a:ext uri="{FF2B5EF4-FFF2-40B4-BE49-F238E27FC236}">
                  <a16:creationId xmlns:a16="http://schemas.microsoft.com/office/drawing/2014/main" id="{C078562C-263D-4448-A3EE-293AC13EED23}"/>
                </a:ext>
              </a:extLst>
            </p:cNvPr>
            <p:cNvSpPr/>
            <p:nvPr/>
          </p:nvSpPr>
          <p:spPr>
            <a:xfrm>
              <a:off x="7746258" y="3157035"/>
              <a:ext cx="1180449" cy="974484"/>
            </a:xfrm>
            <a:prstGeom prst="rect">
              <a:avLst/>
            </a:prstGeom>
            <a:solidFill>
              <a:schemeClr val="accent3"/>
            </a:solidFill>
            <a:effectLst/>
          </p:spPr>
          <p:style>
            <a:lnRef idx="1">
              <a:schemeClr val="accent6"/>
            </a:lnRef>
            <a:fillRef idx="2">
              <a:schemeClr val="accent6"/>
            </a:fillRef>
            <a:effectRef idx="1">
              <a:schemeClr val="accent6"/>
            </a:effectRef>
            <a:fontRef idx="minor">
              <a:schemeClr val="dk1"/>
            </a:fontRef>
          </p:style>
          <p:txBody>
            <a:bodyPr rtlCol="0" anchor="b" anchorCtr="0"/>
            <a:lstStyle/>
            <a:p>
              <a:pPr algn="ctr"/>
              <a:r>
                <a:rPr kumimoji="1" lang="en-US" altLang="zh-CN" sz="1200" dirty="0">
                  <a:solidFill>
                    <a:schemeClr val="bg1"/>
                  </a:solidFill>
                </a:rPr>
                <a:t>AI</a:t>
              </a:r>
              <a:r>
                <a:rPr kumimoji="1" lang="zh-CN" altLang="en-US" sz="1200" dirty="0">
                  <a:solidFill>
                    <a:schemeClr val="bg1"/>
                  </a:solidFill>
                </a:rPr>
                <a:t>加速器</a:t>
              </a:r>
            </a:p>
          </p:txBody>
        </p:sp>
        <p:sp>
          <p:nvSpPr>
            <p:cNvPr id="23" name="矩形 22">
              <a:extLst>
                <a:ext uri="{FF2B5EF4-FFF2-40B4-BE49-F238E27FC236}">
                  <a16:creationId xmlns:a16="http://schemas.microsoft.com/office/drawing/2014/main" id="{69A14F3D-9B8E-5048-88A3-CB9CEBD647DB}"/>
                </a:ext>
              </a:extLst>
            </p:cNvPr>
            <p:cNvSpPr/>
            <p:nvPr/>
          </p:nvSpPr>
          <p:spPr>
            <a:xfrm>
              <a:off x="7881746" y="3347393"/>
              <a:ext cx="909473" cy="448874"/>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rgbClr val="000000">
                      <a:lumMod val="75000"/>
                      <a:lumOff val="25000"/>
                    </a:srgbClr>
                  </a:solidFill>
                </a:rPr>
                <a:t>AI</a:t>
              </a:r>
            </a:p>
            <a:p>
              <a:pPr algn="ctr"/>
              <a:r>
                <a:rPr kumimoji="1" lang="en-US" altLang="zh-CN" sz="1400" dirty="0">
                  <a:solidFill>
                    <a:srgbClr val="000000">
                      <a:lumMod val="75000"/>
                      <a:lumOff val="25000"/>
                    </a:srgbClr>
                  </a:solidFill>
                </a:rPr>
                <a:t>monitor</a:t>
              </a:r>
              <a:endParaRPr kumimoji="1" lang="zh-CN" altLang="en-US" sz="1400" dirty="0">
                <a:solidFill>
                  <a:srgbClr val="000000">
                    <a:lumMod val="75000"/>
                    <a:lumOff val="25000"/>
                  </a:srgbClr>
                </a:solidFill>
              </a:endParaRPr>
            </a:p>
          </p:txBody>
        </p:sp>
      </p:grpSp>
      <p:grpSp>
        <p:nvGrpSpPr>
          <p:cNvPr id="43" name="组合 42">
            <a:extLst>
              <a:ext uri="{FF2B5EF4-FFF2-40B4-BE49-F238E27FC236}">
                <a16:creationId xmlns:a16="http://schemas.microsoft.com/office/drawing/2014/main" id="{C01471FA-8693-9549-9D94-E42A30EE34DE}"/>
              </a:ext>
            </a:extLst>
          </p:cNvPr>
          <p:cNvGrpSpPr/>
          <p:nvPr/>
        </p:nvGrpSpPr>
        <p:grpSpPr>
          <a:xfrm>
            <a:off x="2849614" y="2861852"/>
            <a:ext cx="1186355" cy="974484"/>
            <a:chOff x="4572000" y="3157035"/>
            <a:chExt cx="1186355" cy="974484"/>
          </a:xfrm>
        </p:grpSpPr>
        <p:sp>
          <p:nvSpPr>
            <p:cNvPr id="28" name="矩形 27">
              <a:extLst>
                <a:ext uri="{FF2B5EF4-FFF2-40B4-BE49-F238E27FC236}">
                  <a16:creationId xmlns:a16="http://schemas.microsoft.com/office/drawing/2014/main" id="{688FC997-42B5-F44A-8AB0-36180EF9A7EA}"/>
                </a:ext>
              </a:extLst>
            </p:cNvPr>
            <p:cNvSpPr/>
            <p:nvPr/>
          </p:nvSpPr>
          <p:spPr>
            <a:xfrm>
              <a:off x="4572000" y="3157035"/>
              <a:ext cx="1186355" cy="974484"/>
            </a:xfrm>
            <a:prstGeom prst="rect">
              <a:avLst/>
            </a:prstGeom>
            <a:solidFill>
              <a:schemeClr val="accent3"/>
            </a:solidFill>
            <a:effectLst/>
          </p:spPr>
          <p:style>
            <a:lnRef idx="1">
              <a:schemeClr val="accent6"/>
            </a:lnRef>
            <a:fillRef idx="2">
              <a:schemeClr val="accent6"/>
            </a:fillRef>
            <a:effectRef idx="1">
              <a:schemeClr val="accent6"/>
            </a:effectRef>
            <a:fontRef idx="minor">
              <a:schemeClr val="dk1"/>
            </a:fontRef>
          </p:style>
          <p:txBody>
            <a:bodyPr rtlCol="0" anchor="b" anchorCtr="0"/>
            <a:lstStyle/>
            <a:p>
              <a:pPr algn="ctr"/>
              <a:r>
                <a:rPr kumimoji="1" lang="en-US" altLang="zh-CN" sz="1200" dirty="0">
                  <a:solidFill>
                    <a:schemeClr val="bg1"/>
                  </a:solidFill>
                </a:rPr>
                <a:t>CPU</a:t>
              </a:r>
              <a:endParaRPr kumimoji="1" lang="zh-CN" altLang="en-US" sz="1200" dirty="0">
                <a:solidFill>
                  <a:schemeClr val="bg1"/>
                </a:solidFill>
              </a:endParaRPr>
            </a:p>
          </p:txBody>
        </p:sp>
        <p:sp>
          <p:nvSpPr>
            <p:cNvPr id="27" name="矩形 26">
              <a:extLst>
                <a:ext uri="{FF2B5EF4-FFF2-40B4-BE49-F238E27FC236}">
                  <a16:creationId xmlns:a16="http://schemas.microsoft.com/office/drawing/2014/main" id="{868E0032-9D2A-894C-9705-B304849AF6D8}"/>
                </a:ext>
              </a:extLst>
            </p:cNvPr>
            <p:cNvSpPr/>
            <p:nvPr/>
          </p:nvSpPr>
          <p:spPr>
            <a:xfrm>
              <a:off x="4698960" y="3347393"/>
              <a:ext cx="932435" cy="448874"/>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rgbClr val="000000">
                      <a:lumMod val="75000"/>
                      <a:lumOff val="25000"/>
                    </a:srgbClr>
                  </a:solidFill>
                </a:rPr>
                <a:t>Process</a:t>
              </a:r>
            </a:p>
            <a:p>
              <a:pPr algn="ctr"/>
              <a:r>
                <a:rPr kumimoji="1" lang="en-US" altLang="zh-CN" sz="1400" dirty="0">
                  <a:solidFill>
                    <a:srgbClr val="000000">
                      <a:lumMod val="75000"/>
                      <a:lumOff val="25000"/>
                    </a:srgbClr>
                  </a:solidFill>
                </a:rPr>
                <a:t>monitor</a:t>
              </a:r>
              <a:endParaRPr kumimoji="1" lang="zh-CN" altLang="en-US" sz="1400" dirty="0">
                <a:solidFill>
                  <a:srgbClr val="000000">
                    <a:lumMod val="75000"/>
                    <a:lumOff val="25000"/>
                  </a:srgbClr>
                </a:solidFill>
              </a:endParaRPr>
            </a:p>
          </p:txBody>
        </p:sp>
      </p:grpSp>
      <p:grpSp>
        <p:nvGrpSpPr>
          <p:cNvPr id="42" name="组合 41">
            <a:extLst>
              <a:ext uri="{FF2B5EF4-FFF2-40B4-BE49-F238E27FC236}">
                <a16:creationId xmlns:a16="http://schemas.microsoft.com/office/drawing/2014/main" id="{E5B4A971-8C7E-624E-9F87-64B32F4794F8}"/>
              </a:ext>
            </a:extLst>
          </p:cNvPr>
          <p:cNvGrpSpPr/>
          <p:nvPr/>
        </p:nvGrpSpPr>
        <p:grpSpPr>
          <a:xfrm>
            <a:off x="4173202" y="2874481"/>
            <a:ext cx="1186355" cy="958793"/>
            <a:chOff x="6200939" y="3169664"/>
            <a:chExt cx="1186355" cy="958793"/>
          </a:xfrm>
        </p:grpSpPr>
        <p:sp>
          <p:nvSpPr>
            <p:cNvPr id="30" name="矩形 29">
              <a:extLst>
                <a:ext uri="{FF2B5EF4-FFF2-40B4-BE49-F238E27FC236}">
                  <a16:creationId xmlns:a16="http://schemas.microsoft.com/office/drawing/2014/main" id="{16A2A75D-8161-E840-8ADA-165FA7A4E64B}"/>
                </a:ext>
              </a:extLst>
            </p:cNvPr>
            <p:cNvSpPr/>
            <p:nvPr/>
          </p:nvSpPr>
          <p:spPr>
            <a:xfrm>
              <a:off x="6200939" y="3169664"/>
              <a:ext cx="1186355" cy="958793"/>
            </a:xfrm>
            <a:prstGeom prst="rect">
              <a:avLst/>
            </a:prstGeom>
            <a:solidFill>
              <a:schemeClr val="accent3"/>
            </a:solidFill>
            <a:effectLst/>
          </p:spPr>
          <p:style>
            <a:lnRef idx="1">
              <a:schemeClr val="accent6"/>
            </a:lnRef>
            <a:fillRef idx="2">
              <a:schemeClr val="accent6"/>
            </a:fillRef>
            <a:effectRef idx="1">
              <a:schemeClr val="accent6"/>
            </a:effectRef>
            <a:fontRef idx="minor">
              <a:schemeClr val="dk1"/>
            </a:fontRef>
          </p:style>
          <p:txBody>
            <a:bodyPr rtlCol="0" anchor="b" anchorCtr="0"/>
            <a:lstStyle/>
            <a:p>
              <a:pPr algn="ctr"/>
              <a:r>
                <a:rPr kumimoji="1" lang="en-US" altLang="zh-CN" sz="1200" dirty="0">
                  <a:solidFill>
                    <a:schemeClr val="bg1"/>
                  </a:solidFill>
                </a:rPr>
                <a:t>GPU</a:t>
              </a:r>
              <a:endParaRPr kumimoji="1" lang="zh-CN" altLang="en-US" sz="1200" dirty="0">
                <a:solidFill>
                  <a:schemeClr val="bg1"/>
                </a:solidFill>
              </a:endParaRPr>
            </a:p>
          </p:txBody>
        </p:sp>
        <p:sp>
          <p:nvSpPr>
            <p:cNvPr id="29" name="矩形 28">
              <a:extLst>
                <a:ext uri="{FF2B5EF4-FFF2-40B4-BE49-F238E27FC236}">
                  <a16:creationId xmlns:a16="http://schemas.microsoft.com/office/drawing/2014/main" id="{B79D1481-D912-4743-8628-F9BACB338D66}"/>
                </a:ext>
              </a:extLst>
            </p:cNvPr>
            <p:cNvSpPr/>
            <p:nvPr/>
          </p:nvSpPr>
          <p:spPr>
            <a:xfrm>
              <a:off x="6285768" y="3347393"/>
              <a:ext cx="1016697" cy="448874"/>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rgbClr val="000000">
                      <a:lumMod val="75000"/>
                      <a:lumOff val="25000"/>
                    </a:srgbClr>
                  </a:solidFill>
                </a:rPr>
                <a:t>GPU</a:t>
              </a:r>
            </a:p>
            <a:p>
              <a:pPr algn="ctr"/>
              <a:r>
                <a:rPr kumimoji="1" lang="en-US" altLang="zh-CN" sz="1400" dirty="0">
                  <a:solidFill>
                    <a:srgbClr val="000000">
                      <a:lumMod val="75000"/>
                      <a:lumOff val="25000"/>
                    </a:srgbClr>
                  </a:solidFill>
                </a:rPr>
                <a:t>monitor</a:t>
              </a:r>
              <a:endParaRPr kumimoji="1" lang="zh-CN" altLang="en-US" sz="1400" dirty="0">
                <a:solidFill>
                  <a:srgbClr val="000000">
                    <a:lumMod val="75000"/>
                    <a:lumOff val="25000"/>
                  </a:srgbClr>
                </a:solidFill>
              </a:endParaRPr>
            </a:p>
          </p:txBody>
        </p:sp>
      </p:grpSp>
      <p:sp>
        <p:nvSpPr>
          <p:cNvPr id="31" name="矩形 30">
            <a:extLst>
              <a:ext uri="{FF2B5EF4-FFF2-40B4-BE49-F238E27FC236}">
                <a16:creationId xmlns:a16="http://schemas.microsoft.com/office/drawing/2014/main" id="{C803FF44-7105-EC42-B561-041AF3775979}"/>
              </a:ext>
            </a:extLst>
          </p:cNvPr>
          <p:cNvSpPr/>
          <p:nvPr/>
        </p:nvSpPr>
        <p:spPr>
          <a:xfrm>
            <a:off x="5371819" y="3189222"/>
            <a:ext cx="364202" cy="307777"/>
          </a:xfrm>
          <a:prstGeom prst="rect">
            <a:avLst/>
          </a:prstGeom>
        </p:spPr>
        <p:txBody>
          <a:bodyPr wrap="none">
            <a:spAutoFit/>
          </a:bodyPr>
          <a:lstStyle/>
          <a:p>
            <a:r>
              <a:rPr lang="mr-IN" altLang="zh-CN" sz="1400" dirty="0">
                <a:solidFill>
                  <a:schemeClr val="tx1">
                    <a:lumMod val="65000"/>
                    <a:lumOff val="35000"/>
                  </a:schemeClr>
                </a:solidFill>
              </a:rPr>
              <a:t>…</a:t>
            </a:r>
            <a:endParaRPr lang="zh-CN" altLang="en-US" sz="1400" dirty="0">
              <a:solidFill>
                <a:schemeClr val="tx1">
                  <a:lumMod val="65000"/>
                  <a:lumOff val="35000"/>
                </a:schemeClr>
              </a:solidFill>
            </a:endParaRPr>
          </a:p>
        </p:txBody>
      </p:sp>
      <p:grpSp>
        <p:nvGrpSpPr>
          <p:cNvPr id="54" name="组合 53">
            <a:extLst>
              <a:ext uri="{FF2B5EF4-FFF2-40B4-BE49-F238E27FC236}">
                <a16:creationId xmlns:a16="http://schemas.microsoft.com/office/drawing/2014/main" id="{05B659A9-7C98-A440-A7FD-7338CFA7FDCD}"/>
              </a:ext>
            </a:extLst>
          </p:cNvPr>
          <p:cNvGrpSpPr/>
          <p:nvPr/>
        </p:nvGrpSpPr>
        <p:grpSpPr>
          <a:xfrm>
            <a:off x="5659705" y="4316272"/>
            <a:ext cx="1180449" cy="915709"/>
            <a:chOff x="7746258" y="3215810"/>
            <a:chExt cx="1180449" cy="915709"/>
          </a:xfrm>
        </p:grpSpPr>
        <p:sp>
          <p:nvSpPr>
            <p:cNvPr id="55" name="矩形 54">
              <a:extLst>
                <a:ext uri="{FF2B5EF4-FFF2-40B4-BE49-F238E27FC236}">
                  <a16:creationId xmlns:a16="http://schemas.microsoft.com/office/drawing/2014/main" id="{54C19ACD-813C-204C-BB6B-20CD80E8C36A}"/>
                </a:ext>
              </a:extLst>
            </p:cNvPr>
            <p:cNvSpPr/>
            <p:nvPr/>
          </p:nvSpPr>
          <p:spPr>
            <a:xfrm>
              <a:off x="7746258" y="3215810"/>
              <a:ext cx="1180449" cy="915709"/>
            </a:xfrm>
            <a:prstGeom prst="rect">
              <a:avLst/>
            </a:prstGeom>
            <a:solidFill>
              <a:schemeClr val="accent1">
                <a:lumMod val="60000"/>
                <a:lumOff val="40000"/>
              </a:schemeClr>
            </a:solidFill>
            <a:effectLst/>
          </p:spPr>
          <p:style>
            <a:lnRef idx="1">
              <a:schemeClr val="accent6"/>
            </a:lnRef>
            <a:fillRef idx="2">
              <a:schemeClr val="accent6"/>
            </a:fillRef>
            <a:effectRef idx="1">
              <a:schemeClr val="accent6"/>
            </a:effectRef>
            <a:fontRef idx="minor">
              <a:schemeClr val="dk1"/>
            </a:fontRef>
          </p:style>
          <p:txBody>
            <a:bodyPr rtlCol="0" anchor="b" anchorCtr="0"/>
            <a:lstStyle/>
            <a:p>
              <a:pPr algn="ctr"/>
              <a:r>
                <a:rPr kumimoji="1" lang="en-US" altLang="zh-CN" sz="1200" dirty="0">
                  <a:solidFill>
                    <a:schemeClr val="bg1"/>
                  </a:solidFill>
                </a:rPr>
                <a:t>SSD</a:t>
              </a:r>
              <a:endParaRPr kumimoji="1" lang="zh-CN" altLang="en-US" sz="1200" dirty="0">
                <a:solidFill>
                  <a:schemeClr val="bg1"/>
                </a:solidFill>
              </a:endParaRPr>
            </a:p>
          </p:txBody>
        </p:sp>
        <p:sp>
          <p:nvSpPr>
            <p:cNvPr id="56" name="矩形 55">
              <a:extLst>
                <a:ext uri="{FF2B5EF4-FFF2-40B4-BE49-F238E27FC236}">
                  <a16:creationId xmlns:a16="http://schemas.microsoft.com/office/drawing/2014/main" id="{5F3B561C-B3A3-DF45-B10A-A1E069DD62A1}"/>
                </a:ext>
              </a:extLst>
            </p:cNvPr>
            <p:cNvSpPr/>
            <p:nvPr/>
          </p:nvSpPr>
          <p:spPr>
            <a:xfrm>
              <a:off x="7881746" y="3347393"/>
              <a:ext cx="909473" cy="448874"/>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rgbClr val="000000">
                      <a:lumMod val="75000"/>
                      <a:lumOff val="25000"/>
                    </a:srgbClr>
                  </a:solidFill>
                </a:rPr>
                <a:t>SSD</a:t>
              </a:r>
            </a:p>
            <a:p>
              <a:pPr algn="ctr"/>
              <a:r>
                <a:rPr kumimoji="1" lang="en-US" altLang="zh-CN" sz="1400" dirty="0">
                  <a:solidFill>
                    <a:srgbClr val="000000">
                      <a:lumMod val="75000"/>
                      <a:lumOff val="25000"/>
                    </a:srgbClr>
                  </a:solidFill>
                </a:rPr>
                <a:t>monitor</a:t>
              </a:r>
              <a:endParaRPr kumimoji="1" lang="zh-CN" altLang="en-US" sz="1400" dirty="0">
                <a:solidFill>
                  <a:srgbClr val="000000">
                    <a:lumMod val="75000"/>
                    <a:lumOff val="25000"/>
                  </a:srgbClr>
                </a:solidFill>
              </a:endParaRPr>
            </a:p>
          </p:txBody>
        </p:sp>
      </p:grpSp>
      <p:grpSp>
        <p:nvGrpSpPr>
          <p:cNvPr id="57" name="组合 56">
            <a:extLst>
              <a:ext uri="{FF2B5EF4-FFF2-40B4-BE49-F238E27FC236}">
                <a16:creationId xmlns:a16="http://schemas.microsoft.com/office/drawing/2014/main" id="{9132C464-9072-2E43-B478-83FD147083F7}"/>
              </a:ext>
            </a:extLst>
          </p:cNvPr>
          <p:cNvGrpSpPr/>
          <p:nvPr/>
        </p:nvGrpSpPr>
        <p:grpSpPr>
          <a:xfrm>
            <a:off x="2485447" y="4307380"/>
            <a:ext cx="1186355" cy="924601"/>
            <a:chOff x="4572000" y="3206918"/>
            <a:chExt cx="1186355" cy="924601"/>
          </a:xfrm>
        </p:grpSpPr>
        <p:sp>
          <p:nvSpPr>
            <p:cNvPr id="58" name="矩形 57">
              <a:extLst>
                <a:ext uri="{FF2B5EF4-FFF2-40B4-BE49-F238E27FC236}">
                  <a16:creationId xmlns:a16="http://schemas.microsoft.com/office/drawing/2014/main" id="{E1A38646-3DB1-1D4C-8DFD-6D79C71507C8}"/>
                </a:ext>
              </a:extLst>
            </p:cNvPr>
            <p:cNvSpPr/>
            <p:nvPr/>
          </p:nvSpPr>
          <p:spPr>
            <a:xfrm>
              <a:off x="4572000" y="3206918"/>
              <a:ext cx="1186355" cy="924601"/>
            </a:xfrm>
            <a:prstGeom prst="rect">
              <a:avLst/>
            </a:prstGeom>
            <a:solidFill>
              <a:schemeClr val="accent4"/>
            </a:solidFill>
            <a:effectLst/>
          </p:spPr>
          <p:style>
            <a:lnRef idx="1">
              <a:schemeClr val="accent6"/>
            </a:lnRef>
            <a:fillRef idx="2">
              <a:schemeClr val="accent6"/>
            </a:fillRef>
            <a:effectRef idx="1">
              <a:schemeClr val="accent6"/>
            </a:effectRef>
            <a:fontRef idx="minor">
              <a:schemeClr val="dk1"/>
            </a:fontRef>
          </p:style>
          <p:txBody>
            <a:bodyPr rtlCol="0" anchor="b" anchorCtr="0"/>
            <a:lstStyle/>
            <a:p>
              <a:pPr algn="ctr"/>
              <a:r>
                <a:rPr kumimoji="1" lang="en-US" altLang="zh-CN" sz="1200" dirty="0">
                  <a:solidFill>
                    <a:schemeClr val="bg1"/>
                  </a:solidFill>
                </a:rPr>
                <a:t>Memory</a:t>
              </a:r>
              <a:endParaRPr kumimoji="1" lang="zh-CN" altLang="en-US" sz="1200" dirty="0">
                <a:solidFill>
                  <a:schemeClr val="bg1"/>
                </a:solidFill>
              </a:endParaRPr>
            </a:p>
          </p:txBody>
        </p:sp>
        <p:sp>
          <p:nvSpPr>
            <p:cNvPr id="59" name="矩形 58">
              <a:extLst>
                <a:ext uri="{FF2B5EF4-FFF2-40B4-BE49-F238E27FC236}">
                  <a16:creationId xmlns:a16="http://schemas.microsoft.com/office/drawing/2014/main" id="{5421F56C-89CF-504B-A017-37747D87E1CC}"/>
                </a:ext>
              </a:extLst>
            </p:cNvPr>
            <p:cNvSpPr/>
            <p:nvPr/>
          </p:nvSpPr>
          <p:spPr>
            <a:xfrm>
              <a:off x="4698960" y="3347393"/>
              <a:ext cx="932435" cy="448874"/>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rgbClr val="000000">
                      <a:lumMod val="75000"/>
                      <a:lumOff val="25000"/>
                    </a:srgbClr>
                  </a:solidFill>
                </a:rPr>
                <a:t>Memory</a:t>
              </a:r>
            </a:p>
            <a:p>
              <a:pPr algn="ctr"/>
              <a:r>
                <a:rPr kumimoji="1" lang="en-US" altLang="zh-CN" sz="1400" dirty="0">
                  <a:solidFill>
                    <a:srgbClr val="000000">
                      <a:lumMod val="75000"/>
                      <a:lumOff val="25000"/>
                    </a:srgbClr>
                  </a:solidFill>
                </a:rPr>
                <a:t>monitor</a:t>
              </a:r>
              <a:endParaRPr kumimoji="1" lang="zh-CN" altLang="en-US" sz="1400" dirty="0">
                <a:solidFill>
                  <a:srgbClr val="000000">
                    <a:lumMod val="75000"/>
                    <a:lumOff val="25000"/>
                  </a:srgbClr>
                </a:solidFill>
              </a:endParaRPr>
            </a:p>
          </p:txBody>
        </p:sp>
      </p:grpSp>
      <p:grpSp>
        <p:nvGrpSpPr>
          <p:cNvPr id="60" name="组合 59">
            <a:extLst>
              <a:ext uri="{FF2B5EF4-FFF2-40B4-BE49-F238E27FC236}">
                <a16:creationId xmlns:a16="http://schemas.microsoft.com/office/drawing/2014/main" id="{82506730-C0DD-834D-AE0E-E38970018EC9}"/>
              </a:ext>
            </a:extLst>
          </p:cNvPr>
          <p:cNvGrpSpPr/>
          <p:nvPr/>
        </p:nvGrpSpPr>
        <p:grpSpPr>
          <a:xfrm>
            <a:off x="3809035" y="4320009"/>
            <a:ext cx="1186355" cy="908910"/>
            <a:chOff x="6200939" y="3219547"/>
            <a:chExt cx="1186355" cy="908910"/>
          </a:xfrm>
        </p:grpSpPr>
        <p:sp>
          <p:nvSpPr>
            <p:cNvPr id="61" name="矩形 60">
              <a:extLst>
                <a:ext uri="{FF2B5EF4-FFF2-40B4-BE49-F238E27FC236}">
                  <a16:creationId xmlns:a16="http://schemas.microsoft.com/office/drawing/2014/main" id="{C7119680-E58D-7743-8E7F-441117CDACBC}"/>
                </a:ext>
              </a:extLst>
            </p:cNvPr>
            <p:cNvSpPr/>
            <p:nvPr/>
          </p:nvSpPr>
          <p:spPr>
            <a:xfrm>
              <a:off x="6200939" y="3219547"/>
              <a:ext cx="1186355" cy="908910"/>
            </a:xfrm>
            <a:prstGeom prst="rect">
              <a:avLst/>
            </a:prstGeom>
            <a:solidFill>
              <a:schemeClr val="accent4"/>
            </a:solidFill>
            <a:effectLst/>
          </p:spPr>
          <p:style>
            <a:lnRef idx="1">
              <a:schemeClr val="accent6"/>
            </a:lnRef>
            <a:fillRef idx="2">
              <a:schemeClr val="accent6"/>
            </a:fillRef>
            <a:effectRef idx="1">
              <a:schemeClr val="accent6"/>
            </a:effectRef>
            <a:fontRef idx="minor">
              <a:schemeClr val="dk1"/>
            </a:fontRef>
          </p:style>
          <p:txBody>
            <a:bodyPr rtlCol="0" anchor="b" anchorCtr="0"/>
            <a:lstStyle/>
            <a:p>
              <a:pPr algn="ctr"/>
              <a:r>
                <a:rPr kumimoji="1" lang="en-US" altLang="zh-CN" sz="1200" dirty="0">
                  <a:solidFill>
                    <a:schemeClr val="bg1"/>
                  </a:solidFill>
                </a:rPr>
                <a:t>NVM</a:t>
              </a:r>
              <a:endParaRPr kumimoji="1" lang="zh-CN" altLang="en-US" sz="1200" dirty="0">
                <a:solidFill>
                  <a:schemeClr val="bg1"/>
                </a:solidFill>
              </a:endParaRPr>
            </a:p>
          </p:txBody>
        </p:sp>
        <p:sp>
          <p:nvSpPr>
            <p:cNvPr id="62" name="矩形 61">
              <a:extLst>
                <a:ext uri="{FF2B5EF4-FFF2-40B4-BE49-F238E27FC236}">
                  <a16:creationId xmlns:a16="http://schemas.microsoft.com/office/drawing/2014/main" id="{48C70BB7-8EFE-194D-97F2-101AF6831892}"/>
                </a:ext>
              </a:extLst>
            </p:cNvPr>
            <p:cNvSpPr/>
            <p:nvPr/>
          </p:nvSpPr>
          <p:spPr>
            <a:xfrm>
              <a:off x="6285768" y="3347393"/>
              <a:ext cx="1016697" cy="448874"/>
            </a:xfrm>
            <a:prstGeom prst="rect">
              <a:avLst/>
            </a:prstGeom>
            <a:solidFill>
              <a:schemeClr val="accent6">
                <a:lumMod val="20000"/>
                <a:lumOff val="80000"/>
              </a:schemeClr>
            </a:solidFill>
            <a:effectLst/>
          </p:spPr>
          <p:style>
            <a:lnRef idx="1">
              <a:schemeClr val="accent6"/>
            </a:lnRef>
            <a:fillRef idx="2">
              <a:schemeClr val="accent6"/>
            </a:fillRef>
            <a:effectRef idx="1">
              <a:schemeClr val="accent6"/>
            </a:effectRef>
            <a:fontRef idx="minor">
              <a:schemeClr val="dk1"/>
            </a:fontRef>
          </p:style>
          <p:txBody>
            <a:bodyPr rtlCol="0" anchor="ctr" anchorCtr="0"/>
            <a:lstStyle/>
            <a:p>
              <a:pPr algn="ctr"/>
              <a:r>
                <a:rPr kumimoji="1" lang="en-US" altLang="zh-CN" sz="1400" dirty="0">
                  <a:solidFill>
                    <a:srgbClr val="000000">
                      <a:lumMod val="75000"/>
                      <a:lumOff val="25000"/>
                    </a:srgbClr>
                  </a:solidFill>
                </a:rPr>
                <a:t>NVM</a:t>
              </a:r>
            </a:p>
            <a:p>
              <a:pPr algn="ctr"/>
              <a:r>
                <a:rPr kumimoji="1" lang="en-US" altLang="zh-CN" sz="1400" dirty="0">
                  <a:solidFill>
                    <a:srgbClr val="000000">
                      <a:lumMod val="75000"/>
                      <a:lumOff val="25000"/>
                    </a:srgbClr>
                  </a:solidFill>
                </a:rPr>
                <a:t>monitor</a:t>
              </a:r>
              <a:endParaRPr kumimoji="1" lang="zh-CN" altLang="en-US" sz="1400" dirty="0">
                <a:solidFill>
                  <a:srgbClr val="000000">
                    <a:lumMod val="75000"/>
                    <a:lumOff val="25000"/>
                  </a:srgbClr>
                </a:solidFill>
              </a:endParaRPr>
            </a:p>
          </p:txBody>
        </p:sp>
      </p:grpSp>
      <p:sp>
        <p:nvSpPr>
          <p:cNvPr id="63" name="矩形 62">
            <a:extLst>
              <a:ext uri="{FF2B5EF4-FFF2-40B4-BE49-F238E27FC236}">
                <a16:creationId xmlns:a16="http://schemas.microsoft.com/office/drawing/2014/main" id="{3D4FE50A-FC81-2E45-9470-BB9B6B51A6AF}"/>
              </a:ext>
            </a:extLst>
          </p:cNvPr>
          <p:cNvSpPr/>
          <p:nvPr/>
        </p:nvSpPr>
        <p:spPr>
          <a:xfrm>
            <a:off x="5132623" y="4593825"/>
            <a:ext cx="364202" cy="307777"/>
          </a:xfrm>
          <a:prstGeom prst="rect">
            <a:avLst/>
          </a:prstGeom>
        </p:spPr>
        <p:txBody>
          <a:bodyPr wrap="none">
            <a:spAutoFit/>
          </a:bodyPr>
          <a:lstStyle/>
          <a:p>
            <a:r>
              <a:rPr lang="mr-IN" altLang="zh-CN" sz="1400" dirty="0">
                <a:solidFill>
                  <a:schemeClr val="tx1">
                    <a:lumMod val="65000"/>
                    <a:lumOff val="35000"/>
                  </a:schemeClr>
                </a:solidFill>
              </a:rPr>
              <a:t>…</a:t>
            </a:r>
            <a:endParaRPr lang="zh-CN" altLang="en-US" sz="1400" dirty="0">
              <a:solidFill>
                <a:schemeClr val="tx1">
                  <a:lumMod val="65000"/>
                  <a:lumOff val="35000"/>
                </a:schemeClr>
              </a:solidFill>
            </a:endParaRPr>
          </a:p>
        </p:txBody>
      </p:sp>
      <p:sp>
        <p:nvSpPr>
          <p:cNvPr id="26" name="左右箭头 25">
            <a:extLst>
              <a:ext uri="{FF2B5EF4-FFF2-40B4-BE49-F238E27FC236}">
                <a16:creationId xmlns:a16="http://schemas.microsoft.com/office/drawing/2014/main" id="{EBE80D3A-6F6D-9F49-8C15-585B06BC40C9}"/>
              </a:ext>
            </a:extLst>
          </p:cNvPr>
          <p:cNvSpPr/>
          <p:nvPr/>
        </p:nvSpPr>
        <p:spPr>
          <a:xfrm>
            <a:off x="2044871" y="3766015"/>
            <a:ext cx="5148064" cy="665990"/>
          </a:xfrm>
          <a:prstGeom prst="leftRightArrow">
            <a:avLst>
              <a:gd name="adj1" fmla="val 43498"/>
              <a:gd name="adj2" fmla="val 45123"/>
            </a:avLst>
          </a:prstGeom>
          <a:solidFill>
            <a:schemeClr val="bg2">
              <a:lumMod val="2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网络连接（</a:t>
            </a:r>
            <a:r>
              <a:rPr kumimoji="1" lang="en-US" altLang="zh-CN" sz="1600" dirty="0"/>
              <a:t>RDMA</a:t>
            </a:r>
            <a:r>
              <a:rPr kumimoji="1" lang="zh-CN" altLang="en-US" sz="1600" dirty="0"/>
              <a:t>等），无缓存一致性</a:t>
            </a:r>
          </a:p>
        </p:txBody>
      </p:sp>
      <p:sp>
        <p:nvSpPr>
          <p:cNvPr id="32" name="灯片编号占位符 3">
            <a:extLst>
              <a:ext uri="{FF2B5EF4-FFF2-40B4-BE49-F238E27FC236}">
                <a16:creationId xmlns:a16="http://schemas.microsoft.com/office/drawing/2014/main" id="{3588A6CF-7360-FE49-9AE3-CFCF135A399E}"/>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11</a:t>
            </a:fld>
            <a:endParaRPr lang="zh-CN" altLang="en-US"/>
          </a:p>
        </p:txBody>
      </p:sp>
      <p:sp>
        <p:nvSpPr>
          <p:cNvPr id="33" name="页脚占位符 4">
            <a:extLst>
              <a:ext uri="{FF2B5EF4-FFF2-40B4-BE49-F238E27FC236}">
                <a16:creationId xmlns:a16="http://schemas.microsoft.com/office/drawing/2014/main" id="{31680D1D-E97F-C04A-A357-A5BAE8F5A3F3}"/>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3" name="矩形 2">
            <a:extLst>
              <a:ext uri="{FF2B5EF4-FFF2-40B4-BE49-F238E27FC236}">
                <a16:creationId xmlns:a16="http://schemas.microsoft.com/office/drawing/2014/main" id="{09FB0709-C751-9742-9485-8F7BD46B9E49}"/>
              </a:ext>
            </a:extLst>
          </p:cNvPr>
          <p:cNvSpPr/>
          <p:nvPr/>
        </p:nvSpPr>
        <p:spPr>
          <a:xfrm>
            <a:off x="262037" y="5180345"/>
            <a:ext cx="1869423" cy="338554"/>
          </a:xfrm>
          <a:prstGeom prst="rect">
            <a:avLst/>
          </a:prstGeom>
        </p:spPr>
        <p:txBody>
          <a:bodyPr wrap="none">
            <a:spAutoFit/>
          </a:bodyPr>
          <a:lstStyle/>
          <a:p>
            <a:r>
              <a:rPr kumimoji="1" lang="en-US" altLang="zh-CN" sz="1600" dirty="0" err="1"/>
              <a:t>SplitKernel</a:t>
            </a:r>
            <a:r>
              <a:rPr kumimoji="1" lang="zh-CN" altLang="en-US" sz="1600" dirty="0"/>
              <a:t> </a:t>
            </a:r>
            <a:r>
              <a:rPr kumimoji="1" lang="en-US" altLang="zh-CN" sz="1600" baseline="30000" dirty="0"/>
              <a:t>[OSDI’18]</a:t>
            </a:r>
            <a:endParaRPr lang="zh-CN" altLang="en-US" sz="3200" dirty="0"/>
          </a:p>
        </p:txBody>
      </p:sp>
    </p:spTree>
    <p:extLst>
      <p:ext uri="{BB962C8B-B14F-4D97-AF65-F5344CB8AC3E}">
        <p14:creationId xmlns:p14="http://schemas.microsoft.com/office/powerpoint/2010/main" val="2727963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kumimoji="1" lang="zh-CN" altLang="en-US" sz="2800" dirty="0"/>
              <a:t>挑战</a:t>
            </a:r>
            <a:r>
              <a:rPr kumimoji="1" lang="en-US" altLang="zh-CN" sz="2800" dirty="0"/>
              <a:t>-3</a:t>
            </a:r>
            <a:r>
              <a:rPr kumimoji="1" lang="zh-CN" altLang="en-US" sz="2800" dirty="0"/>
              <a:t>：</a:t>
            </a:r>
            <a:r>
              <a:rPr kumimoji="1" lang="en-US" altLang="zh-CN" sz="2800" dirty="0"/>
              <a:t>CPU</a:t>
            </a:r>
            <a:r>
              <a:rPr kumimoji="1" lang="zh-CN" altLang="en-US" sz="2800" dirty="0"/>
              <a:t>提供</a:t>
            </a:r>
            <a:r>
              <a:rPr kumimoji="1" lang="en-US" altLang="zh-CN" sz="2800" dirty="0"/>
              <a:t>OS</a:t>
            </a:r>
            <a:r>
              <a:rPr kumimoji="1" lang="zh-CN" altLang="en-US" sz="2800" dirty="0"/>
              <a:t>服务容易成为系统性能瓶颈</a:t>
            </a:r>
            <a:endParaRPr kumimoji="1" lang="en-US" altLang="zh-CN" sz="2800" dirty="0"/>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291264" cy="4194381"/>
          </a:xfrm>
        </p:spPr>
        <p:txBody>
          <a:bodyPr>
            <a:normAutofit/>
          </a:bodyPr>
          <a:lstStyle/>
          <a:p>
            <a:r>
              <a:rPr kumimoji="1" lang="zh-CN" altLang="en-US" sz="2000" dirty="0"/>
              <a:t>各种加速器等异构计算单元依赖于</a:t>
            </a:r>
            <a:r>
              <a:rPr kumimoji="1" lang="en-US" altLang="zh-CN" sz="2000" dirty="0"/>
              <a:t>CPU</a:t>
            </a:r>
            <a:r>
              <a:rPr kumimoji="1" lang="zh-CN" altLang="en-US" sz="2000" dirty="0"/>
              <a:t>提供</a:t>
            </a:r>
            <a:r>
              <a:rPr kumimoji="1" lang="en-US" altLang="zh-CN" sz="2000" dirty="0"/>
              <a:t>OS</a:t>
            </a:r>
            <a:r>
              <a:rPr kumimoji="1" lang="zh-CN" altLang="en-US" sz="2000" dirty="0"/>
              <a:t>服务</a:t>
            </a:r>
            <a:endParaRPr kumimoji="1" lang="en-US" altLang="zh-CN" sz="2000" dirty="0"/>
          </a:p>
          <a:p>
            <a:pPr lvl="1"/>
            <a:r>
              <a:rPr kumimoji="1" lang="zh-CN" altLang="en-US" sz="1800" dirty="0"/>
              <a:t>以</a:t>
            </a:r>
            <a:r>
              <a:rPr kumimoji="1" lang="en-US" altLang="zh-CN" sz="1800" dirty="0"/>
              <a:t>CPU</a:t>
            </a:r>
            <a:r>
              <a:rPr kumimoji="1" lang="zh-CN" altLang="en-US" sz="1800" dirty="0"/>
              <a:t>为中心的</a:t>
            </a:r>
            <a:r>
              <a:rPr kumimoji="1" lang="en-US" altLang="zh-CN" sz="1800" dirty="0"/>
              <a:t>OS</a:t>
            </a:r>
            <a:r>
              <a:rPr kumimoji="1" lang="zh-CN" altLang="en-US" sz="1800" dirty="0"/>
              <a:t>服务：需要两次拷贝，性能开销大</a:t>
            </a:r>
            <a:endParaRPr kumimoji="1" lang="en-US" altLang="zh-CN" sz="1800" dirty="0"/>
          </a:p>
          <a:p>
            <a:pPr lvl="1"/>
            <a:r>
              <a:rPr kumimoji="1" lang="zh-CN" altLang="en-US" sz="1800" dirty="0"/>
              <a:t>以加速器为中心的</a:t>
            </a:r>
            <a:r>
              <a:rPr kumimoji="1" lang="en-US" altLang="zh-CN" sz="1800" dirty="0"/>
              <a:t>OS</a:t>
            </a:r>
            <a:r>
              <a:rPr kumimoji="1" lang="zh-CN" altLang="en-US" sz="1800" dirty="0"/>
              <a:t>服务：加速器不适合执行如网络协议栈等</a:t>
            </a:r>
            <a:r>
              <a:rPr kumimoji="1" lang="en-US" altLang="zh-CN" sz="1800" dirty="0"/>
              <a:t>OS</a:t>
            </a:r>
            <a:r>
              <a:rPr kumimoji="1" lang="zh-CN" altLang="en-US" sz="1800" dirty="0"/>
              <a:t>服务</a:t>
            </a:r>
            <a:endParaRPr kumimoji="1" lang="en-US" altLang="zh-CN" sz="1600" dirty="0"/>
          </a:p>
        </p:txBody>
      </p:sp>
      <p:pic>
        <p:nvPicPr>
          <p:cNvPr id="4" name="图片 3">
            <a:extLst>
              <a:ext uri="{FF2B5EF4-FFF2-40B4-BE49-F238E27FC236}">
                <a16:creationId xmlns:a16="http://schemas.microsoft.com/office/drawing/2014/main" id="{3ABABEC5-C1DB-CD41-977C-AF43A0D7B86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16016" y="2857500"/>
            <a:ext cx="2543779" cy="2105196"/>
          </a:xfrm>
          <a:prstGeom prst="rect">
            <a:avLst/>
          </a:prstGeom>
        </p:spPr>
      </p:pic>
      <p:pic>
        <p:nvPicPr>
          <p:cNvPr id="5" name="图片 4">
            <a:extLst>
              <a:ext uri="{FF2B5EF4-FFF2-40B4-BE49-F238E27FC236}">
                <a16:creationId xmlns:a16="http://schemas.microsoft.com/office/drawing/2014/main" id="{5B102F18-212D-AD48-807D-730C98A471C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297797" y="2814651"/>
            <a:ext cx="2543779" cy="2105196"/>
          </a:xfrm>
          <a:prstGeom prst="rect">
            <a:avLst/>
          </a:prstGeom>
        </p:spPr>
      </p:pic>
      <p:sp>
        <p:nvSpPr>
          <p:cNvPr id="6" name="文本框 5">
            <a:extLst>
              <a:ext uri="{FF2B5EF4-FFF2-40B4-BE49-F238E27FC236}">
                <a16:creationId xmlns:a16="http://schemas.microsoft.com/office/drawing/2014/main" id="{6C7AE314-C7C8-0A40-BE97-629EAEA27172}"/>
              </a:ext>
            </a:extLst>
          </p:cNvPr>
          <p:cNvSpPr txBox="1"/>
          <p:nvPr/>
        </p:nvSpPr>
        <p:spPr>
          <a:xfrm>
            <a:off x="2041971" y="4962696"/>
            <a:ext cx="1584176" cy="369332"/>
          </a:xfrm>
          <a:prstGeom prst="rect">
            <a:avLst/>
          </a:prstGeom>
          <a:noFill/>
        </p:spPr>
        <p:txBody>
          <a:bodyPr wrap="square" rtlCol="0">
            <a:spAutoFit/>
          </a:bodyPr>
          <a:lstStyle/>
          <a:p>
            <a:r>
              <a:rPr kumimoji="1" lang="en-US" altLang="zh-CN" dirty="0">
                <a:latin typeface="+mn-ea"/>
              </a:rPr>
              <a:t>CPU</a:t>
            </a:r>
            <a:r>
              <a:rPr kumimoji="1" lang="zh-CN" altLang="en-US" dirty="0">
                <a:latin typeface="+mn-ea"/>
              </a:rPr>
              <a:t>为中心</a:t>
            </a:r>
          </a:p>
        </p:txBody>
      </p:sp>
      <p:sp>
        <p:nvSpPr>
          <p:cNvPr id="7" name="文本框 6">
            <a:extLst>
              <a:ext uri="{FF2B5EF4-FFF2-40B4-BE49-F238E27FC236}">
                <a16:creationId xmlns:a16="http://schemas.microsoft.com/office/drawing/2014/main" id="{54BF02E1-B59C-4D47-9A21-96B7E1A704C0}"/>
              </a:ext>
            </a:extLst>
          </p:cNvPr>
          <p:cNvSpPr txBox="1"/>
          <p:nvPr/>
        </p:nvSpPr>
        <p:spPr>
          <a:xfrm>
            <a:off x="5322387" y="4962696"/>
            <a:ext cx="1584176" cy="369332"/>
          </a:xfrm>
          <a:prstGeom prst="rect">
            <a:avLst/>
          </a:prstGeom>
          <a:noFill/>
        </p:spPr>
        <p:txBody>
          <a:bodyPr wrap="square" rtlCol="0">
            <a:spAutoFit/>
          </a:bodyPr>
          <a:lstStyle/>
          <a:p>
            <a:r>
              <a:rPr kumimoji="1" lang="zh-CN" altLang="en-US" dirty="0">
                <a:latin typeface="+mn-ea"/>
              </a:rPr>
              <a:t>加速器为中心</a:t>
            </a:r>
          </a:p>
        </p:txBody>
      </p:sp>
      <p:sp>
        <p:nvSpPr>
          <p:cNvPr id="8" name="灯片编号占位符 3">
            <a:extLst>
              <a:ext uri="{FF2B5EF4-FFF2-40B4-BE49-F238E27FC236}">
                <a16:creationId xmlns:a16="http://schemas.microsoft.com/office/drawing/2014/main" id="{5C16C4E8-FECB-FD48-A040-9838F6E2F2A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12</a:t>
            </a:fld>
            <a:endParaRPr lang="zh-CN" altLang="en-US"/>
          </a:p>
        </p:txBody>
      </p:sp>
      <p:sp>
        <p:nvSpPr>
          <p:cNvPr id="9" name="页脚占位符 4">
            <a:extLst>
              <a:ext uri="{FF2B5EF4-FFF2-40B4-BE49-F238E27FC236}">
                <a16:creationId xmlns:a16="http://schemas.microsoft.com/office/drawing/2014/main" id="{AA7FD017-5D4D-534F-B68D-8AB29BEA36AE}"/>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999362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2800" dirty="0"/>
              <a:t>思路：</a:t>
            </a:r>
            <a:r>
              <a:rPr kumimoji="1" lang="en-US" altLang="zh-CN" sz="2800" dirty="0"/>
              <a:t>CPU</a:t>
            </a:r>
            <a:r>
              <a:rPr kumimoji="1" lang="zh-CN" altLang="en-US" sz="2800" dirty="0"/>
              <a:t>负责控制流，加速器负责数据流</a:t>
            </a:r>
            <a:endParaRPr kumimoji="1" lang="zh-CN" altLang="en-US" sz="2800" dirty="0">
              <a:latin typeface="+mj-lt"/>
            </a:endParaRP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520705"/>
            <a:ext cx="8291264" cy="1890125"/>
          </a:xfrm>
        </p:spPr>
        <p:txBody>
          <a:bodyPr>
            <a:normAutofit/>
          </a:bodyPr>
          <a:lstStyle/>
          <a:p>
            <a:r>
              <a:rPr kumimoji="1" lang="zh-CN" altLang="en-US" dirty="0"/>
              <a:t>解耦数据流和控制流</a:t>
            </a:r>
            <a:endParaRPr kumimoji="1" lang="en-US" altLang="zh-CN" dirty="0"/>
          </a:p>
          <a:p>
            <a:pPr lvl="1"/>
            <a:r>
              <a:rPr kumimoji="1" lang="zh-CN" altLang="en-US" dirty="0"/>
              <a:t>控制流由</a:t>
            </a:r>
            <a:r>
              <a:rPr kumimoji="1" lang="en-US" altLang="zh-CN" dirty="0"/>
              <a:t>CPU</a:t>
            </a:r>
            <a:r>
              <a:rPr kumimoji="1" lang="zh-CN" altLang="en-US" dirty="0"/>
              <a:t>负责</a:t>
            </a:r>
            <a:endParaRPr kumimoji="1" lang="en-US" altLang="zh-CN" dirty="0"/>
          </a:p>
          <a:p>
            <a:pPr lvl="1"/>
            <a:r>
              <a:rPr kumimoji="1" lang="zh-CN" altLang="en-US" dirty="0"/>
              <a:t>数据流由异构加速器负责</a:t>
            </a:r>
            <a:endParaRPr kumimoji="1" lang="en-US" altLang="zh-CN" dirty="0"/>
          </a:p>
          <a:p>
            <a:pPr lvl="1"/>
            <a:r>
              <a:rPr kumimoji="1" lang="zh-CN" altLang="en-US" dirty="0">
                <a:latin typeface="+mn-lt"/>
              </a:rPr>
              <a:t>避免</a:t>
            </a:r>
            <a:r>
              <a:rPr kumimoji="1" lang="en-US" altLang="zh-CN" dirty="0">
                <a:latin typeface="+mn-lt"/>
              </a:rPr>
              <a:t>OS</a:t>
            </a:r>
            <a:r>
              <a:rPr kumimoji="1" lang="zh-CN" altLang="en-US" dirty="0">
                <a:latin typeface="+mn-lt"/>
              </a:rPr>
              <a:t>成为性能瓶颈</a:t>
            </a:r>
            <a:endParaRPr kumimoji="1" lang="en-US" altLang="zh-CN" dirty="0">
              <a:latin typeface="+mn-lt"/>
            </a:endParaRPr>
          </a:p>
        </p:txBody>
      </p:sp>
      <p:pic>
        <p:nvPicPr>
          <p:cNvPr id="23" name="图片 22">
            <a:extLst>
              <a:ext uri="{FF2B5EF4-FFF2-40B4-BE49-F238E27FC236}">
                <a16:creationId xmlns:a16="http://schemas.microsoft.com/office/drawing/2014/main" id="{DF2A6ED7-C04A-8E4D-AF6B-41925BA99A9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71049" y="1489348"/>
            <a:ext cx="4764301" cy="3425027"/>
          </a:xfrm>
          <a:prstGeom prst="rect">
            <a:avLst/>
          </a:prstGeom>
        </p:spPr>
      </p:pic>
      <p:sp>
        <p:nvSpPr>
          <p:cNvPr id="7" name="灯片编号占位符 3">
            <a:extLst>
              <a:ext uri="{FF2B5EF4-FFF2-40B4-BE49-F238E27FC236}">
                <a16:creationId xmlns:a16="http://schemas.microsoft.com/office/drawing/2014/main" id="{CBFF421B-9ACF-C747-AE75-42C59F3845F5}"/>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13</a:t>
            </a:fld>
            <a:endParaRPr lang="zh-CN" altLang="en-US"/>
          </a:p>
        </p:txBody>
      </p:sp>
      <p:sp>
        <p:nvSpPr>
          <p:cNvPr id="8" name="页脚占位符 4">
            <a:extLst>
              <a:ext uri="{FF2B5EF4-FFF2-40B4-BE49-F238E27FC236}">
                <a16:creationId xmlns:a16="http://schemas.microsoft.com/office/drawing/2014/main" id="{E7D3BB7E-E006-4B48-8A6E-E18A232AE69A}"/>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 name="矩形 3">
            <a:extLst>
              <a:ext uri="{FF2B5EF4-FFF2-40B4-BE49-F238E27FC236}">
                <a16:creationId xmlns:a16="http://schemas.microsoft.com/office/drawing/2014/main" id="{40258500-8D20-154A-B6A6-D377B75D31CB}"/>
              </a:ext>
            </a:extLst>
          </p:cNvPr>
          <p:cNvSpPr/>
          <p:nvPr/>
        </p:nvSpPr>
        <p:spPr>
          <a:xfrm>
            <a:off x="323528" y="5121106"/>
            <a:ext cx="1725152" cy="369332"/>
          </a:xfrm>
          <a:prstGeom prst="rect">
            <a:avLst/>
          </a:prstGeom>
        </p:spPr>
        <p:txBody>
          <a:bodyPr wrap="none">
            <a:spAutoFit/>
          </a:bodyPr>
          <a:lstStyle/>
          <a:p>
            <a:r>
              <a:rPr kumimoji="1" lang="en-US" altLang="zh-CN" dirty="0" err="1"/>
              <a:t>Solros</a:t>
            </a:r>
            <a:r>
              <a:rPr kumimoji="1" lang="en-US" altLang="zh-CN" baseline="30000" dirty="0"/>
              <a:t>(EuroSys’16)</a:t>
            </a:r>
            <a:endParaRPr lang="zh-CN" altLang="en-US" dirty="0"/>
          </a:p>
        </p:txBody>
      </p:sp>
    </p:spTree>
    <p:extLst>
      <p:ext uri="{BB962C8B-B14F-4D97-AF65-F5344CB8AC3E}">
        <p14:creationId xmlns:p14="http://schemas.microsoft.com/office/powerpoint/2010/main" val="2385990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49A20D-6AFB-374D-B02C-6FD4AAB5774B}"/>
              </a:ext>
            </a:extLst>
          </p:cNvPr>
          <p:cNvSpPr>
            <a:spLocks noGrp="1"/>
          </p:cNvSpPr>
          <p:nvPr>
            <p:ph type="title"/>
          </p:nvPr>
        </p:nvSpPr>
        <p:spPr/>
        <p:txBody>
          <a:bodyPr>
            <a:normAutofit/>
          </a:bodyPr>
          <a:lstStyle/>
          <a:p>
            <a:r>
              <a:rPr kumimoji="1" lang="zh-CN" altLang="en-US" sz="3200" dirty="0"/>
              <a:t>挑战：</a:t>
            </a:r>
            <a:r>
              <a:rPr kumimoji="1" lang="en-US" altLang="zh-CN" sz="3200" dirty="0"/>
              <a:t>OS</a:t>
            </a:r>
            <a:r>
              <a:rPr kumimoji="1" lang="zh-CN" altLang="en-US" sz="3200" dirty="0"/>
              <a:t>如何使用智能网卡优化网络应用？</a:t>
            </a:r>
          </a:p>
        </p:txBody>
      </p:sp>
      <p:sp>
        <p:nvSpPr>
          <p:cNvPr id="3" name="内容占位符 2">
            <a:extLst>
              <a:ext uri="{FF2B5EF4-FFF2-40B4-BE49-F238E27FC236}">
                <a16:creationId xmlns:a16="http://schemas.microsoft.com/office/drawing/2014/main" id="{F91D87ED-5525-6549-A999-F69059084CB8}"/>
              </a:ext>
            </a:extLst>
          </p:cNvPr>
          <p:cNvSpPr>
            <a:spLocks noGrp="1"/>
          </p:cNvSpPr>
          <p:nvPr>
            <p:ph idx="1"/>
          </p:nvPr>
        </p:nvSpPr>
        <p:spPr/>
        <p:txBody>
          <a:bodyPr/>
          <a:lstStyle/>
          <a:p>
            <a:r>
              <a:rPr kumimoji="1" lang="zh-CN" altLang="en-US" dirty="0"/>
              <a:t>方向一：卸载部分应用逻辑</a:t>
            </a:r>
            <a:endParaRPr kumimoji="1" lang="en-US" altLang="zh-CN" dirty="0"/>
          </a:p>
          <a:p>
            <a:pPr lvl="1"/>
            <a:r>
              <a:rPr kumimoji="1" lang="en-US" altLang="zh-CN" dirty="0"/>
              <a:t>KV-Direct</a:t>
            </a:r>
            <a:r>
              <a:rPr kumimoji="1" lang="zh-CN" altLang="en-US" dirty="0"/>
              <a:t> </a:t>
            </a:r>
            <a:r>
              <a:rPr kumimoji="1" lang="en-US" altLang="zh-CN" dirty="0"/>
              <a:t>(SOSP’17),</a:t>
            </a:r>
            <a:r>
              <a:rPr kumimoji="1" lang="zh-CN" altLang="en-US" dirty="0"/>
              <a:t> </a:t>
            </a:r>
            <a:r>
              <a:rPr kumimoji="1" lang="en-US" altLang="zh-CN" dirty="0" err="1"/>
              <a:t>NetCache</a:t>
            </a:r>
            <a:r>
              <a:rPr kumimoji="1" lang="zh-CN" altLang="en-US" dirty="0"/>
              <a:t> </a:t>
            </a:r>
            <a:r>
              <a:rPr kumimoji="1" lang="en-US" altLang="zh-CN" dirty="0"/>
              <a:t>(SOSP’17)</a:t>
            </a:r>
          </a:p>
          <a:p>
            <a:pPr lvl="1"/>
            <a:r>
              <a:rPr kumimoji="1" lang="en-US" altLang="zh-CN" dirty="0"/>
              <a:t>NICA</a:t>
            </a:r>
            <a:r>
              <a:rPr kumimoji="1" lang="zh-CN" altLang="en-US" dirty="0"/>
              <a:t> </a:t>
            </a:r>
            <a:r>
              <a:rPr kumimoji="1" lang="en-US" altLang="zh-CN" dirty="0"/>
              <a:t>(ATC'19),</a:t>
            </a:r>
            <a:r>
              <a:rPr kumimoji="1" lang="zh-CN" altLang="en-US" dirty="0"/>
              <a:t> </a:t>
            </a:r>
            <a:r>
              <a:rPr kumimoji="1" lang="en-US" altLang="zh-CN" dirty="0"/>
              <a:t>E3</a:t>
            </a:r>
            <a:r>
              <a:rPr kumimoji="1" lang="zh-CN" altLang="en-US" dirty="0"/>
              <a:t> </a:t>
            </a:r>
            <a:r>
              <a:rPr kumimoji="1" lang="en-US" altLang="zh-CN" dirty="0"/>
              <a:t>(ATC'19),</a:t>
            </a:r>
            <a:r>
              <a:rPr kumimoji="1" lang="zh-CN" altLang="en-US" dirty="0"/>
              <a:t> </a:t>
            </a:r>
            <a:r>
              <a:rPr kumimoji="1" lang="en-US" altLang="zh-CN" dirty="0" err="1"/>
              <a:t>iPipe</a:t>
            </a:r>
            <a:r>
              <a:rPr kumimoji="1" lang="zh-CN" altLang="en-US" dirty="0"/>
              <a:t> </a:t>
            </a:r>
            <a:r>
              <a:rPr kumimoji="1" lang="en-US" altLang="zh-CN" dirty="0"/>
              <a:t>(SIGCOMM’19)</a:t>
            </a:r>
          </a:p>
          <a:p>
            <a:r>
              <a:rPr kumimoji="1" lang="zh-CN" altLang="en-US" dirty="0"/>
              <a:t>方向二：卸载操作系统功能</a:t>
            </a:r>
            <a:endParaRPr kumimoji="1" lang="en-US" altLang="zh-CN" dirty="0"/>
          </a:p>
          <a:p>
            <a:pPr lvl="1"/>
            <a:r>
              <a:rPr kumimoji="1" lang="zh-CN" altLang="en-US" dirty="0"/>
              <a:t>卸载网络虚拟化功能 </a:t>
            </a:r>
            <a:r>
              <a:rPr kumimoji="1" lang="en-US" altLang="zh-CN" dirty="0"/>
              <a:t>(NSDI’18)</a:t>
            </a:r>
          </a:p>
          <a:p>
            <a:pPr lvl="1"/>
            <a:r>
              <a:rPr kumimoji="1" lang="zh-CN" altLang="en-US" dirty="0"/>
              <a:t>卸载部分网络协议栈功能</a:t>
            </a:r>
            <a:r>
              <a:rPr kumimoji="1" lang="en-US" altLang="zh-CN" dirty="0"/>
              <a:t>:</a:t>
            </a:r>
            <a:r>
              <a:rPr kumimoji="1" lang="zh-CN" altLang="en-US" dirty="0"/>
              <a:t> </a:t>
            </a:r>
            <a:r>
              <a:rPr kumimoji="1" lang="en-US" altLang="zh-CN" dirty="0" err="1"/>
              <a:t>AccelTCP</a:t>
            </a:r>
            <a:r>
              <a:rPr kumimoji="1" lang="zh-CN" altLang="en-US" dirty="0"/>
              <a:t> </a:t>
            </a:r>
            <a:r>
              <a:rPr kumimoji="1" lang="en-US" altLang="zh-CN" dirty="0"/>
              <a:t>(NSDI’20)</a:t>
            </a:r>
          </a:p>
        </p:txBody>
      </p:sp>
      <p:sp>
        <p:nvSpPr>
          <p:cNvPr id="4" name="灯片编号占位符 3">
            <a:extLst>
              <a:ext uri="{FF2B5EF4-FFF2-40B4-BE49-F238E27FC236}">
                <a16:creationId xmlns:a16="http://schemas.microsoft.com/office/drawing/2014/main" id="{DB34D8C4-F763-174D-A942-D1F4A305382D}"/>
              </a:ext>
            </a:extLst>
          </p:cNvPr>
          <p:cNvSpPr>
            <a:spLocks noGrp="1"/>
          </p:cNvSpPr>
          <p:nvPr>
            <p:ph type="sldNum" sz="quarter" idx="12"/>
          </p:nvPr>
        </p:nvSpPr>
        <p:spPr/>
        <p:txBody>
          <a:bodyPr/>
          <a:lstStyle/>
          <a:p>
            <a:fld id="{ADE361C3-C043-4A6E-BDCE-8DA1E7D90A3B}" type="slidenum">
              <a:rPr lang="zh-CN" altLang="en-US" smtClean="0"/>
              <a:t>14</a:t>
            </a:fld>
            <a:endParaRPr lang="zh-CN" altLang="en-US"/>
          </a:p>
        </p:txBody>
      </p:sp>
      <p:sp>
        <p:nvSpPr>
          <p:cNvPr id="5" name="页脚占位符 4">
            <a:extLst>
              <a:ext uri="{FF2B5EF4-FFF2-40B4-BE49-F238E27FC236}">
                <a16:creationId xmlns:a16="http://schemas.microsoft.com/office/drawing/2014/main" id="{FBA2C01A-BCDE-B04F-A8D5-B7FD81F8F08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993124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49A20D-6AFB-374D-B02C-6FD4AAB5774B}"/>
              </a:ext>
            </a:extLst>
          </p:cNvPr>
          <p:cNvSpPr>
            <a:spLocks noGrp="1"/>
          </p:cNvSpPr>
          <p:nvPr>
            <p:ph type="title"/>
          </p:nvPr>
        </p:nvSpPr>
        <p:spPr/>
        <p:txBody>
          <a:bodyPr>
            <a:normAutofit/>
          </a:bodyPr>
          <a:lstStyle/>
          <a:p>
            <a:r>
              <a:rPr kumimoji="1" lang="zh-CN" altLang="en-US" sz="3200" dirty="0"/>
              <a:t>思路</a:t>
            </a:r>
            <a:r>
              <a:rPr kumimoji="1" lang="en-US" altLang="zh-CN" sz="3200" dirty="0"/>
              <a:t>-1</a:t>
            </a:r>
            <a:r>
              <a:rPr kumimoji="1" lang="zh-CN" altLang="en-US" sz="3200" dirty="0"/>
              <a:t>：卸载部分应用逻辑至网卡</a:t>
            </a:r>
          </a:p>
        </p:txBody>
      </p:sp>
      <p:sp>
        <p:nvSpPr>
          <p:cNvPr id="3" name="内容占位符 2">
            <a:extLst>
              <a:ext uri="{FF2B5EF4-FFF2-40B4-BE49-F238E27FC236}">
                <a16:creationId xmlns:a16="http://schemas.microsoft.com/office/drawing/2014/main" id="{F91D87ED-5525-6549-A999-F69059084CB8}"/>
              </a:ext>
            </a:extLst>
          </p:cNvPr>
          <p:cNvSpPr>
            <a:spLocks noGrp="1"/>
          </p:cNvSpPr>
          <p:nvPr>
            <p:ph idx="1"/>
          </p:nvPr>
        </p:nvSpPr>
        <p:spPr/>
        <p:txBody>
          <a:bodyPr/>
          <a:lstStyle/>
          <a:p>
            <a:r>
              <a:rPr kumimoji="1" lang="zh-CN" altLang="en-US" dirty="0"/>
              <a:t>目的：使用智能网卡提高应用的吞吐量并降低时延</a:t>
            </a:r>
            <a:endParaRPr kumimoji="1" lang="en-US" altLang="zh-CN" dirty="0"/>
          </a:p>
          <a:p>
            <a:r>
              <a:rPr kumimoji="1" lang="zh-CN" altLang="en-US" dirty="0"/>
              <a:t>核心想法：将部分</a:t>
            </a:r>
            <a:r>
              <a:rPr kumimoji="1" lang="en-US" altLang="zh-CN" dirty="0"/>
              <a:t>Key-Value</a:t>
            </a:r>
            <a:r>
              <a:rPr kumimoji="1" lang="zh-CN" altLang="en-US" dirty="0"/>
              <a:t>操作卸载至网卡内的</a:t>
            </a:r>
            <a:r>
              <a:rPr kumimoji="1" lang="en-US" altLang="zh-CN" dirty="0"/>
              <a:t>FPGA</a:t>
            </a:r>
          </a:p>
          <a:p>
            <a:r>
              <a:rPr kumimoji="1" lang="zh-CN" altLang="en-US" dirty="0"/>
              <a:t>利用</a:t>
            </a:r>
            <a:r>
              <a:rPr kumimoji="1" lang="en-US" altLang="zh-CN" dirty="0"/>
              <a:t>on-path</a:t>
            </a:r>
            <a:r>
              <a:rPr kumimoji="1" lang="zh-CN" altLang="en-US" dirty="0"/>
              <a:t>网卡的能力</a:t>
            </a:r>
            <a:endParaRPr kumimoji="1" lang="en-US" altLang="zh-CN" dirty="0"/>
          </a:p>
          <a:p>
            <a:pPr lvl="1"/>
            <a:r>
              <a:rPr kumimoji="1" lang="en-US" altLang="zh-CN" dirty="0"/>
              <a:t>FPGA</a:t>
            </a:r>
            <a:r>
              <a:rPr kumimoji="1" lang="zh-CN" altLang="en-US" dirty="0"/>
              <a:t>直接读取端口的数据</a:t>
            </a:r>
            <a:endParaRPr kumimoji="1" lang="en-US" altLang="zh-CN" dirty="0"/>
          </a:p>
          <a:p>
            <a:pPr lvl="1"/>
            <a:r>
              <a:rPr kumimoji="1" lang="en-US" altLang="zh-CN" dirty="0"/>
              <a:t>FPGA</a:t>
            </a:r>
            <a:r>
              <a:rPr kumimoji="1" lang="zh-CN" altLang="en-US" dirty="0"/>
              <a:t>处理完数据后直接返回，绕开</a:t>
            </a:r>
            <a:r>
              <a:rPr kumimoji="1" lang="en-US" altLang="zh-CN" dirty="0"/>
              <a:t>Host</a:t>
            </a:r>
            <a:r>
              <a:rPr kumimoji="1" lang="zh-CN" altLang="en-US" dirty="0"/>
              <a:t> </a:t>
            </a:r>
            <a:r>
              <a:rPr kumimoji="1" lang="en-US" altLang="zh-CN" dirty="0"/>
              <a:t>CPU</a:t>
            </a:r>
          </a:p>
          <a:p>
            <a:pPr lvl="1"/>
            <a:r>
              <a:rPr kumimoji="1" lang="zh-CN" altLang="en-US" dirty="0"/>
              <a:t>尽可能地利用网卡中的内存</a:t>
            </a:r>
            <a:endParaRPr kumimoji="1" lang="en-US" altLang="zh-CN" dirty="0"/>
          </a:p>
        </p:txBody>
      </p:sp>
      <p:sp>
        <p:nvSpPr>
          <p:cNvPr id="4" name="灯片编号占位符 3">
            <a:extLst>
              <a:ext uri="{FF2B5EF4-FFF2-40B4-BE49-F238E27FC236}">
                <a16:creationId xmlns:a16="http://schemas.microsoft.com/office/drawing/2014/main" id="{DB34D8C4-F763-174D-A942-D1F4A305382D}"/>
              </a:ext>
            </a:extLst>
          </p:cNvPr>
          <p:cNvSpPr>
            <a:spLocks noGrp="1"/>
          </p:cNvSpPr>
          <p:nvPr>
            <p:ph type="sldNum" sz="quarter" idx="12"/>
          </p:nvPr>
        </p:nvSpPr>
        <p:spPr/>
        <p:txBody>
          <a:bodyPr/>
          <a:lstStyle/>
          <a:p>
            <a:fld id="{ADE361C3-C043-4A6E-BDCE-8DA1E7D90A3B}" type="slidenum">
              <a:rPr lang="zh-CN" altLang="en-US" smtClean="0"/>
              <a:t>15</a:t>
            </a:fld>
            <a:endParaRPr lang="zh-CN" altLang="en-US"/>
          </a:p>
        </p:txBody>
      </p:sp>
      <p:sp>
        <p:nvSpPr>
          <p:cNvPr id="5" name="页脚占位符 4">
            <a:extLst>
              <a:ext uri="{FF2B5EF4-FFF2-40B4-BE49-F238E27FC236}">
                <a16:creationId xmlns:a16="http://schemas.microsoft.com/office/drawing/2014/main" id="{FBA2C01A-BCDE-B04F-A8D5-B7FD81F8F08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33" name="组合 32">
            <a:extLst>
              <a:ext uri="{FF2B5EF4-FFF2-40B4-BE49-F238E27FC236}">
                <a16:creationId xmlns:a16="http://schemas.microsoft.com/office/drawing/2014/main" id="{A1E3FBD7-3261-034F-B6D8-F68DC700AB5B}"/>
              </a:ext>
            </a:extLst>
          </p:cNvPr>
          <p:cNvGrpSpPr/>
          <p:nvPr/>
        </p:nvGrpSpPr>
        <p:grpSpPr>
          <a:xfrm>
            <a:off x="5364088" y="3969505"/>
            <a:ext cx="3528392" cy="1728192"/>
            <a:chOff x="3851920" y="2281436"/>
            <a:chExt cx="4752528" cy="2952847"/>
          </a:xfrm>
        </p:grpSpPr>
        <p:sp>
          <p:nvSpPr>
            <p:cNvPr id="7" name="矩形 6">
              <a:extLst>
                <a:ext uri="{FF2B5EF4-FFF2-40B4-BE49-F238E27FC236}">
                  <a16:creationId xmlns:a16="http://schemas.microsoft.com/office/drawing/2014/main" id="{D7F3868D-822B-F541-A3A8-657C2E27A203}"/>
                </a:ext>
              </a:extLst>
            </p:cNvPr>
            <p:cNvSpPr/>
            <p:nvPr/>
          </p:nvSpPr>
          <p:spPr>
            <a:xfrm>
              <a:off x="5364088" y="2281436"/>
              <a:ext cx="2664296" cy="2952847"/>
            </a:xfrm>
            <a:prstGeom prst="rect">
              <a:avLst/>
            </a:prstGeom>
            <a:ln>
              <a:prstDash val="sysDot"/>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sz="1400" dirty="0">
                <a:solidFill>
                  <a:schemeClr val="tx1"/>
                </a:solidFill>
                <a:latin typeface="DengXian" panose="02010600030101010101" pitchFamily="2" charset="-122"/>
                <a:ea typeface="DengXian" panose="02010600030101010101" pitchFamily="2" charset="-122"/>
              </a:endParaRPr>
            </a:p>
          </p:txBody>
        </p:sp>
        <p:sp>
          <p:nvSpPr>
            <p:cNvPr id="8" name="矩形 7">
              <a:extLst>
                <a:ext uri="{FF2B5EF4-FFF2-40B4-BE49-F238E27FC236}">
                  <a16:creationId xmlns:a16="http://schemas.microsoft.com/office/drawing/2014/main" id="{096D2E77-C003-8C4E-BB53-E17B6BC504E8}"/>
                </a:ext>
              </a:extLst>
            </p:cNvPr>
            <p:cNvSpPr/>
            <p:nvPr/>
          </p:nvSpPr>
          <p:spPr>
            <a:xfrm>
              <a:off x="7308304" y="3433564"/>
              <a:ext cx="576064" cy="1296144"/>
            </a:xfrm>
            <a:prstGeom prst="rect">
              <a:avLst/>
            </a:prstGeom>
            <a:no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sz="1400" dirty="0">
                  <a:solidFill>
                    <a:schemeClr val="tx1"/>
                  </a:solidFill>
                  <a:latin typeface="DengXian" panose="02010600030101010101" pitchFamily="2" charset="-122"/>
                  <a:ea typeface="DengXian" panose="02010600030101010101" pitchFamily="2" charset="-122"/>
                </a:rPr>
                <a:t>端口</a:t>
              </a:r>
            </a:p>
          </p:txBody>
        </p:sp>
        <p:sp>
          <p:nvSpPr>
            <p:cNvPr id="9" name="矩形 8">
              <a:extLst>
                <a:ext uri="{FF2B5EF4-FFF2-40B4-BE49-F238E27FC236}">
                  <a16:creationId xmlns:a16="http://schemas.microsoft.com/office/drawing/2014/main" id="{DC530CF2-68E4-5042-88CC-8E057DB00548}"/>
                </a:ext>
              </a:extLst>
            </p:cNvPr>
            <p:cNvSpPr/>
            <p:nvPr/>
          </p:nvSpPr>
          <p:spPr>
            <a:xfrm>
              <a:off x="5796136" y="3433564"/>
              <a:ext cx="868505" cy="129614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400" dirty="0">
                  <a:solidFill>
                    <a:schemeClr val="tx1"/>
                  </a:solidFill>
                  <a:latin typeface="DengXian" panose="02010600030101010101" pitchFamily="2" charset="-122"/>
                  <a:ea typeface="DengXian" panose="02010600030101010101" pitchFamily="2" charset="-122"/>
                </a:rPr>
                <a:t>FPGA</a:t>
              </a:r>
            </a:p>
          </p:txBody>
        </p:sp>
        <p:sp>
          <p:nvSpPr>
            <p:cNvPr id="10" name="矩形 9">
              <a:extLst>
                <a:ext uri="{FF2B5EF4-FFF2-40B4-BE49-F238E27FC236}">
                  <a16:creationId xmlns:a16="http://schemas.microsoft.com/office/drawing/2014/main" id="{E1470309-FD6A-704E-96BA-E4D4EE611B00}"/>
                </a:ext>
              </a:extLst>
            </p:cNvPr>
            <p:cNvSpPr/>
            <p:nvPr/>
          </p:nvSpPr>
          <p:spPr>
            <a:xfrm>
              <a:off x="3851920" y="3577580"/>
              <a:ext cx="1152128" cy="1008112"/>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400" dirty="0">
                  <a:solidFill>
                    <a:schemeClr val="tx1"/>
                  </a:solidFill>
                  <a:latin typeface="DengXian" panose="02010600030101010101" pitchFamily="2" charset="-122"/>
                  <a:ea typeface="DengXian" panose="02010600030101010101" pitchFamily="2" charset="-122"/>
                </a:rPr>
                <a:t>Host</a:t>
              </a:r>
              <a:r>
                <a:rPr kumimoji="1" lang="zh-CN" altLang="en-US" sz="1400" dirty="0">
                  <a:solidFill>
                    <a:schemeClr val="tx1"/>
                  </a:solidFill>
                  <a:latin typeface="DengXian" panose="02010600030101010101" pitchFamily="2" charset="-122"/>
                  <a:ea typeface="DengXian" panose="02010600030101010101" pitchFamily="2" charset="-122"/>
                </a:rPr>
                <a:t> </a:t>
              </a:r>
              <a:r>
                <a:rPr kumimoji="1" lang="en-US" altLang="zh-CN" sz="1400" dirty="0">
                  <a:solidFill>
                    <a:schemeClr val="tx1"/>
                  </a:solidFill>
                  <a:latin typeface="DengXian" panose="02010600030101010101" pitchFamily="2" charset="-122"/>
                  <a:ea typeface="DengXian" panose="02010600030101010101" pitchFamily="2" charset="-122"/>
                </a:rPr>
                <a:t>Mem</a:t>
              </a:r>
            </a:p>
            <a:p>
              <a:pPr algn="ctr"/>
              <a:r>
                <a:rPr kumimoji="1" lang="en-US" altLang="zh-CN" sz="1400" dirty="0">
                  <a:solidFill>
                    <a:schemeClr val="tx1"/>
                  </a:solidFill>
                  <a:latin typeface="DengXian" panose="02010600030101010101" pitchFamily="2" charset="-122"/>
                  <a:ea typeface="DengXian" panose="02010600030101010101" pitchFamily="2" charset="-122"/>
                </a:rPr>
                <a:t>(256GB)</a:t>
              </a:r>
              <a:endParaRPr kumimoji="1" lang="zh-CN" altLang="en-US" sz="1400" dirty="0">
                <a:solidFill>
                  <a:schemeClr val="tx1"/>
                </a:solidFill>
                <a:latin typeface="DengXian" panose="02010600030101010101" pitchFamily="2" charset="-122"/>
                <a:ea typeface="DengXian" panose="02010600030101010101" pitchFamily="2" charset="-122"/>
              </a:endParaRPr>
            </a:p>
          </p:txBody>
        </p:sp>
        <p:sp>
          <p:nvSpPr>
            <p:cNvPr id="11" name="文本框 10">
              <a:extLst>
                <a:ext uri="{FF2B5EF4-FFF2-40B4-BE49-F238E27FC236}">
                  <a16:creationId xmlns:a16="http://schemas.microsoft.com/office/drawing/2014/main" id="{31A66E1E-455D-604C-A37C-6E067D4EFDFE}"/>
                </a:ext>
              </a:extLst>
            </p:cNvPr>
            <p:cNvSpPr txBox="1"/>
            <p:nvPr/>
          </p:nvSpPr>
          <p:spPr>
            <a:xfrm>
              <a:off x="6588223" y="4657700"/>
              <a:ext cx="732383" cy="414557"/>
            </a:xfrm>
            <a:prstGeom prst="rect">
              <a:avLst/>
            </a:prstGeom>
            <a:noFill/>
          </p:spPr>
          <p:txBody>
            <a:bodyPr wrap="none" rtlCol="0">
              <a:spAutoFit/>
            </a:bodyPr>
            <a:lstStyle/>
            <a:p>
              <a:r>
                <a:rPr kumimoji="1" lang="zh-CN" altLang="en-US" sz="1400" dirty="0"/>
                <a:t>网卡</a:t>
              </a:r>
            </a:p>
          </p:txBody>
        </p:sp>
        <p:cxnSp>
          <p:nvCxnSpPr>
            <p:cNvPr id="14" name="直线箭头连接符 13">
              <a:extLst>
                <a:ext uri="{FF2B5EF4-FFF2-40B4-BE49-F238E27FC236}">
                  <a16:creationId xmlns:a16="http://schemas.microsoft.com/office/drawing/2014/main" id="{A6D725D8-20F9-9041-8670-E39E72C667CE}"/>
                </a:ext>
              </a:extLst>
            </p:cNvPr>
            <p:cNvCxnSpPr>
              <a:cxnSpLocks/>
            </p:cNvCxnSpPr>
            <p:nvPr/>
          </p:nvCxnSpPr>
          <p:spPr>
            <a:xfrm>
              <a:off x="6664641" y="3865613"/>
              <a:ext cx="643663" cy="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4BA7D3EA-EFB9-FA41-A578-D0BFD50C8782}"/>
                </a:ext>
              </a:extLst>
            </p:cNvPr>
            <p:cNvCxnSpPr>
              <a:cxnSpLocks/>
            </p:cNvCxnSpPr>
            <p:nvPr/>
          </p:nvCxnSpPr>
          <p:spPr>
            <a:xfrm>
              <a:off x="6664641" y="4225652"/>
              <a:ext cx="643663" cy="0"/>
            </a:xfrm>
            <a:prstGeom prst="straightConnector1">
              <a:avLst/>
            </a:prstGeom>
            <a:ln>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0109A92A-7D17-7E4F-81AE-C933300B22B8}"/>
                </a:ext>
              </a:extLst>
            </p:cNvPr>
            <p:cNvCxnSpPr/>
            <p:nvPr/>
          </p:nvCxnSpPr>
          <p:spPr>
            <a:xfrm>
              <a:off x="7884368" y="4225652"/>
              <a:ext cx="720080" cy="0"/>
            </a:xfrm>
            <a:prstGeom prst="straightConnector1">
              <a:avLst/>
            </a:prstGeom>
            <a:ln>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4D2141BD-3F46-9E4B-9239-DB6C27D40036}"/>
                </a:ext>
              </a:extLst>
            </p:cNvPr>
            <p:cNvCxnSpPr/>
            <p:nvPr/>
          </p:nvCxnSpPr>
          <p:spPr>
            <a:xfrm>
              <a:off x="7884368" y="3865612"/>
              <a:ext cx="720080" cy="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D845241E-29F9-A74D-A8E9-123F5E68A27D}"/>
                </a:ext>
              </a:extLst>
            </p:cNvPr>
            <p:cNvSpPr/>
            <p:nvPr/>
          </p:nvSpPr>
          <p:spPr>
            <a:xfrm>
              <a:off x="5796136" y="2425452"/>
              <a:ext cx="2016224" cy="648072"/>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400" dirty="0">
                  <a:solidFill>
                    <a:schemeClr val="tx1"/>
                  </a:solidFill>
                  <a:latin typeface="DengXian" panose="02010600030101010101" pitchFamily="2" charset="-122"/>
                  <a:ea typeface="DengXian" panose="02010600030101010101" pitchFamily="2" charset="-122"/>
                </a:rPr>
                <a:t>NIC</a:t>
              </a:r>
              <a:r>
                <a:rPr kumimoji="1" lang="zh-CN" altLang="en-US" sz="1400" dirty="0">
                  <a:solidFill>
                    <a:schemeClr val="tx1"/>
                  </a:solidFill>
                  <a:latin typeface="DengXian" panose="02010600030101010101" pitchFamily="2" charset="-122"/>
                  <a:ea typeface="DengXian" panose="02010600030101010101" pitchFamily="2" charset="-122"/>
                </a:rPr>
                <a:t> </a:t>
              </a:r>
              <a:r>
                <a:rPr kumimoji="1" lang="en-US" altLang="zh-CN" sz="1400" dirty="0">
                  <a:solidFill>
                    <a:schemeClr val="tx1"/>
                  </a:solidFill>
                  <a:latin typeface="DengXian" panose="02010600030101010101" pitchFamily="2" charset="-122"/>
                  <a:ea typeface="DengXian" panose="02010600030101010101" pitchFamily="2" charset="-122"/>
                </a:rPr>
                <a:t>Mem(4GB)</a:t>
              </a:r>
              <a:endParaRPr kumimoji="1" lang="zh-CN" altLang="en-US" sz="1400" dirty="0">
                <a:solidFill>
                  <a:schemeClr val="tx1"/>
                </a:solidFill>
                <a:latin typeface="DengXian" panose="02010600030101010101" pitchFamily="2" charset="-122"/>
                <a:ea typeface="DengXian" panose="02010600030101010101" pitchFamily="2" charset="-122"/>
              </a:endParaRPr>
            </a:p>
          </p:txBody>
        </p:sp>
        <p:sp>
          <p:nvSpPr>
            <p:cNvPr id="19" name="矩形 18">
              <a:extLst>
                <a:ext uri="{FF2B5EF4-FFF2-40B4-BE49-F238E27FC236}">
                  <a16:creationId xmlns:a16="http://schemas.microsoft.com/office/drawing/2014/main" id="{66B9C8B8-5C26-CE4D-A0FA-8CC114C815E3}"/>
                </a:ext>
              </a:extLst>
            </p:cNvPr>
            <p:cNvSpPr/>
            <p:nvPr/>
          </p:nvSpPr>
          <p:spPr>
            <a:xfrm>
              <a:off x="3851920" y="2281436"/>
              <a:ext cx="1152128" cy="1008112"/>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400" dirty="0">
                  <a:solidFill>
                    <a:schemeClr val="tx1"/>
                  </a:solidFill>
                  <a:latin typeface="DengXian" panose="02010600030101010101" pitchFamily="2" charset="-122"/>
                  <a:ea typeface="DengXian" panose="02010600030101010101" pitchFamily="2" charset="-122"/>
                </a:rPr>
                <a:t>Host</a:t>
              </a:r>
              <a:r>
                <a:rPr kumimoji="1" lang="zh-CN" altLang="en-US" sz="1400" dirty="0">
                  <a:solidFill>
                    <a:schemeClr val="tx1"/>
                  </a:solidFill>
                  <a:latin typeface="DengXian" panose="02010600030101010101" pitchFamily="2" charset="-122"/>
                  <a:ea typeface="DengXian" panose="02010600030101010101" pitchFamily="2" charset="-122"/>
                </a:rPr>
                <a:t> </a:t>
              </a:r>
              <a:r>
                <a:rPr kumimoji="1" lang="en-US" altLang="zh-CN" sz="1400" dirty="0">
                  <a:solidFill>
                    <a:schemeClr val="tx1"/>
                  </a:solidFill>
                  <a:latin typeface="DengXian" panose="02010600030101010101" pitchFamily="2" charset="-122"/>
                  <a:ea typeface="DengXian" panose="02010600030101010101" pitchFamily="2" charset="-122"/>
                </a:rPr>
                <a:t>CPU</a:t>
              </a:r>
              <a:endParaRPr kumimoji="1" lang="zh-CN" altLang="en-US" sz="1400" dirty="0">
                <a:solidFill>
                  <a:schemeClr val="tx1"/>
                </a:solidFill>
                <a:latin typeface="DengXian" panose="02010600030101010101" pitchFamily="2" charset="-122"/>
                <a:ea typeface="DengXian" panose="02010600030101010101" pitchFamily="2" charset="-122"/>
              </a:endParaRPr>
            </a:p>
          </p:txBody>
        </p:sp>
        <p:cxnSp>
          <p:nvCxnSpPr>
            <p:cNvPr id="20" name="直线箭头连接符 19">
              <a:extLst>
                <a:ext uri="{FF2B5EF4-FFF2-40B4-BE49-F238E27FC236}">
                  <a16:creationId xmlns:a16="http://schemas.microsoft.com/office/drawing/2014/main" id="{87F2623F-81A0-DB41-A5F7-2A237381A7AC}"/>
                </a:ext>
              </a:extLst>
            </p:cNvPr>
            <p:cNvCxnSpPr>
              <a:cxnSpLocks/>
            </p:cNvCxnSpPr>
            <p:nvPr/>
          </p:nvCxnSpPr>
          <p:spPr>
            <a:xfrm>
              <a:off x="6300192" y="3073524"/>
              <a:ext cx="0" cy="288032"/>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AA2C7BE5-692A-3146-9DC1-A4870C7B495E}"/>
                </a:ext>
              </a:extLst>
            </p:cNvPr>
            <p:cNvCxnSpPr>
              <a:cxnSpLocks/>
            </p:cNvCxnSpPr>
            <p:nvPr/>
          </p:nvCxnSpPr>
          <p:spPr>
            <a:xfrm>
              <a:off x="6012160" y="3073524"/>
              <a:ext cx="0" cy="360040"/>
            </a:xfrm>
            <a:prstGeom prst="straightConnector1">
              <a:avLst/>
            </a:prstGeom>
            <a:ln>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6" name="直线箭头连接符 25">
              <a:extLst>
                <a:ext uri="{FF2B5EF4-FFF2-40B4-BE49-F238E27FC236}">
                  <a16:creationId xmlns:a16="http://schemas.microsoft.com/office/drawing/2014/main" id="{7FF0D4DA-95A4-D240-9802-343B8CDC4985}"/>
                </a:ext>
              </a:extLst>
            </p:cNvPr>
            <p:cNvCxnSpPr>
              <a:cxnSpLocks/>
            </p:cNvCxnSpPr>
            <p:nvPr/>
          </p:nvCxnSpPr>
          <p:spPr>
            <a:xfrm flipH="1">
              <a:off x="5076056" y="4153644"/>
              <a:ext cx="720080" cy="0"/>
            </a:xfrm>
            <a:prstGeom prst="straightConnector1">
              <a:avLst/>
            </a:prstGeom>
            <a:ln w="15875">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7" name="直线箭头连接符 26">
              <a:extLst>
                <a:ext uri="{FF2B5EF4-FFF2-40B4-BE49-F238E27FC236}">
                  <a16:creationId xmlns:a16="http://schemas.microsoft.com/office/drawing/2014/main" id="{D105B883-CD80-9149-B801-AACD80F1D2C9}"/>
                </a:ext>
              </a:extLst>
            </p:cNvPr>
            <p:cNvCxnSpPr>
              <a:cxnSpLocks/>
            </p:cNvCxnSpPr>
            <p:nvPr/>
          </p:nvCxnSpPr>
          <p:spPr>
            <a:xfrm flipH="1">
              <a:off x="5004048" y="3865612"/>
              <a:ext cx="792088" cy="0"/>
            </a:xfrm>
            <a:prstGeom prst="straightConnector1">
              <a:avLst/>
            </a:prstGeom>
            <a:ln w="15875">
              <a:prstDash val="solid"/>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6" name="矩形 5">
            <a:extLst>
              <a:ext uri="{FF2B5EF4-FFF2-40B4-BE49-F238E27FC236}">
                <a16:creationId xmlns:a16="http://schemas.microsoft.com/office/drawing/2014/main" id="{257C6653-6B80-F249-A55E-DCA1DDA1D8D4}"/>
              </a:ext>
            </a:extLst>
          </p:cNvPr>
          <p:cNvSpPr/>
          <p:nvPr/>
        </p:nvSpPr>
        <p:spPr>
          <a:xfrm>
            <a:off x="214628" y="5133435"/>
            <a:ext cx="1980094" cy="369332"/>
          </a:xfrm>
          <a:prstGeom prst="rect">
            <a:avLst/>
          </a:prstGeom>
        </p:spPr>
        <p:txBody>
          <a:bodyPr wrap="none">
            <a:spAutoFit/>
          </a:bodyPr>
          <a:lstStyle/>
          <a:p>
            <a:r>
              <a:rPr kumimoji="1" lang="en-US" altLang="zh-CN" dirty="0"/>
              <a:t>KV-Direct</a:t>
            </a:r>
            <a:r>
              <a:rPr kumimoji="1" lang="en-US" altLang="zh-CN" baseline="30000" dirty="0"/>
              <a:t> (SOSP’17 )</a:t>
            </a:r>
            <a:endParaRPr lang="zh-CN" altLang="en-US" dirty="0"/>
          </a:p>
        </p:txBody>
      </p:sp>
    </p:spTree>
    <p:extLst>
      <p:ext uri="{BB962C8B-B14F-4D97-AF65-F5344CB8AC3E}">
        <p14:creationId xmlns:p14="http://schemas.microsoft.com/office/powerpoint/2010/main" val="1958880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7D6F5C-461E-4D43-86EA-8D281DD5FB8A}"/>
              </a:ext>
            </a:extLst>
          </p:cNvPr>
          <p:cNvSpPr>
            <a:spLocks noGrp="1"/>
          </p:cNvSpPr>
          <p:nvPr>
            <p:ph type="title"/>
          </p:nvPr>
        </p:nvSpPr>
        <p:spPr/>
        <p:txBody>
          <a:bodyPr>
            <a:normAutofit/>
          </a:bodyPr>
          <a:lstStyle/>
          <a:p>
            <a:r>
              <a:rPr kumimoji="1" lang="zh-CN" altLang="en-US" sz="3200" dirty="0"/>
              <a:t>思路</a:t>
            </a:r>
            <a:r>
              <a:rPr kumimoji="1" lang="en-US" altLang="zh-CN" sz="3200" dirty="0"/>
              <a:t>-2</a:t>
            </a:r>
            <a:r>
              <a:rPr kumimoji="1" lang="zh-CN" altLang="en-US" sz="3200" dirty="0"/>
              <a:t>：卸载部分微内核服务至网卡</a:t>
            </a:r>
          </a:p>
        </p:txBody>
      </p:sp>
      <p:sp>
        <p:nvSpPr>
          <p:cNvPr id="3" name="内容占位符 2">
            <a:extLst>
              <a:ext uri="{FF2B5EF4-FFF2-40B4-BE49-F238E27FC236}">
                <a16:creationId xmlns:a16="http://schemas.microsoft.com/office/drawing/2014/main" id="{62D25C3B-CB88-AF41-B339-39D1F342F9E7}"/>
              </a:ext>
            </a:extLst>
          </p:cNvPr>
          <p:cNvSpPr>
            <a:spLocks noGrp="1"/>
          </p:cNvSpPr>
          <p:nvPr>
            <p:ph idx="1"/>
          </p:nvPr>
        </p:nvSpPr>
        <p:spPr/>
        <p:txBody>
          <a:bodyPr/>
          <a:lstStyle/>
          <a:p>
            <a:r>
              <a:rPr kumimoji="1" lang="zh-CN" altLang="en-US" dirty="0"/>
              <a:t>目的：利用智能网卡降低能耗、同时降低时延</a:t>
            </a:r>
            <a:endParaRPr kumimoji="1" lang="en-US" altLang="zh-CN" dirty="0"/>
          </a:p>
          <a:p>
            <a:r>
              <a:rPr kumimoji="1" lang="zh-CN" altLang="en-US" dirty="0"/>
              <a:t>核心想法：将数据中心中的部分微服务直接运行在网卡内</a:t>
            </a:r>
          </a:p>
        </p:txBody>
      </p:sp>
      <p:sp>
        <p:nvSpPr>
          <p:cNvPr id="4" name="灯片编号占位符 3">
            <a:extLst>
              <a:ext uri="{FF2B5EF4-FFF2-40B4-BE49-F238E27FC236}">
                <a16:creationId xmlns:a16="http://schemas.microsoft.com/office/drawing/2014/main" id="{2A41D22A-9ECC-794C-B367-E475BDD6EA38}"/>
              </a:ext>
            </a:extLst>
          </p:cNvPr>
          <p:cNvSpPr>
            <a:spLocks noGrp="1"/>
          </p:cNvSpPr>
          <p:nvPr>
            <p:ph type="sldNum" sz="quarter" idx="12"/>
          </p:nvPr>
        </p:nvSpPr>
        <p:spPr/>
        <p:txBody>
          <a:bodyPr/>
          <a:lstStyle/>
          <a:p>
            <a:fld id="{ADE361C3-C043-4A6E-BDCE-8DA1E7D90A3B}" type="slidenum">
              <a:rPr lang="zh-CN" altLang="en-US" smtClean="0"/>
              <a:t>16</a:t>
            </a:fld>
            <a:endParaRPr lang="zh-CN" altLang="en-US"/>
          </a:p>
        </p:txBody>
      </p:sp>
      <p:sp>
        <p:nvSpPr>
          <p:cNvPr id="5" name="页脚占位符 4">
            <a:extLst>
              <a:ext uri="{FF2B5EF4-FFF2-40B4-BE49-F238E27FC236}">
                <a16:creationId xmlns:a16="http://schemas.microsoft.com/office/drawing/2014/main" id="{7CA8433F-C812-7B44-A2D8-49FF7A14FD9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45" name="组合 44">
            <a:extLst>
              <a:ext uri="{FF2B5EF4-FFF2-40B4-BE49-F238E27FC236}">
                <a16:creationId xmlns:a16="http://schemas.microsoft.com/office/drawing/2014/main" id="{0E880BC4-5FE0-D548-8322-BD6DC54A7AC1}"/>
              </a:ext>
            </a:extLst>
          </p:cNvPr>
          <p:cNvGrpSpPr/>
          <p:nvPr/>
        </p:nvGrpSpPr>
        <p:grpSpPr>
          <a:xfrm>
            <a:off x="4452374" y="3073524"/>
            <a:ext cx="4691626" cy="1896427"/>
            <a:chOff x="3635894" y="3289548"/>
            <a:chExt cx="4691626" cy="1896427"/>
          </a:xfrm>
        </p:grpSpPr>
        <p:pic>
          <p:nvPicPr>
            <p:cNvPr id="27" name="图片 26">
              <a:extLst>
                <a:ext uri="{FF2B5EF4-FFF2-40B4-BE49-F238E27FC236}">
                  <a16:creationId xmlns:a16="http://schemas.microsoft.com/office/drawing/2014/main" id="{BBD8A51B-04CC-BC4D-BAE6-143C9B9BE27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436094" y="4225652"/>
              <a:ext cx="1446269" cy="960323"/>
            </a:xfrm>
            <a:prstGeom prst="rect">
              <a:avLst/>
            </a:prstGeom>
          </p:spPr>
        </p:pic>
        <p:cxnSp>
          <p:nvCxnSpPr>
            <p:cNvPr id="26" name="直线连接符 25">
              <a:extLst>
                <a:ext uri="{FF2B5EF4-FFF2-40B4-BE49-F238E27FC236}">
                  <a16:creationId xmlns:a16="http://schemas.microsoft.com/office/drawing/2014/main" id="{8702FEE2-7D64-B14C-A722-4C204A362064}"/>
                </a:ext>
              </a:extLst>
            </p:cNvPr>
            <p:cNvCxnSpPr>
              <a:cxnSpLocks/>
            </p:cNvCxnSpPr>
            <p:nvPr/>
          </p:nvCxnSpPr>
          <p:spPr>
            <a:xfrm>
              <a:off x="6732238" y="4563482"/>
              <a:ext cx="586750" cy="0"/>
            </a:xfrm>
            <a:prstGeom prst="line">
              <a:avLst/>
            </a:prstGeom>
          </p:spPr>
          <p:style>
            <a:lnRef idx="1">
              <a:schemeClr val="accent1"/>
            </a:lnRef>
            <a:fillRef idx="0">
              <a:schemeClr val="accent1"/>
            </a:fillRef>
            <a:effectRef idx="0">
              <a:schemeClr val="accent1"/>
            </a:effectRef>
            <a:fontRef idx="minor">
              <a:schemeClr val="tx1"/>
            </a:fontRef>
          </p:style>
        </p:cxnSp>
        <p:pic>
          <p:nvPicPr>
            <p:cNvPr id="28" name="Picture 113">
              <a:extLst>
                <a:ext uri="{FF2B5EF4-FFF2-40B4-BE49-F238E27FC236}">
                  <a16:creationId xmlns:a16="http://schemas.microsoft.com/office/drawing/2014/main" id="{6E20E288-3E43-D44B-8FC9-52101356223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18988" y="4085757"/>
              <a:ext cx="1008532" cy="819327"/>
            </a:xfrm>
            <a:prstGeom prst="rect">
              <a:avLst/>
            </a:prstGeom>
          </p:spPr>
        </p:pic>
        <p:sp>
          <p:nvSpPr>
            <p:cNvPr id="30" name="矩形 29">
              <a:extLst>
                <a:ext uri="{FF2B5EF4-FFF2-40B4-BE49-F238E27FC236}">
                  <a16:creationId xmlns:a16="http://schemas.microsoft.com/office/drawing/2014/main" id="{4F41ED15-19BD-B14A-A4C9-AA9EF3C5DE4F}"/>
                </a:ext>
              </a:extLst>
            </p:cNvPr>
            <p:cNvSpPr/>
            <p:nvPr/>
          </p:nvSpPr>
          <p:spPr>
            <a:xfrm>
              <a:off x="5140239" y="3733121"/>
              <a:ext cx="902371" cy="31848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000" dirty="0">
                  <a:solidFill>
                    <a:schemeClr val="tx1"/>
                  </a:solidFill>
                  <a:latin typeface="DengXian" panose="02010600030101010101" pitchFamily="2" charset="-122"/>
                  <a:ea typeface="DengXian" panose="02010600030101010101" pitchFamily="2" charset="-122"/>
                </a:rPr>
                <a:t>Recommend</a:t>
              </a:r>
              <a:endParaRPr kumimoji="1" lang="zh-CN" altLang="en-US" sz="1000" dirty="0">
                <a:solidFill>
                  <a:schemeClr val="tx1"/>
                </a:solidFill>
                <a:latin typeface="DengXian" panose="02010600030101010101" pitchFamily="2" charset="-122"/>
                <a:ea typeface="DengXian" panose="02010600030101010101" pitchFamily="2" charset="-122"/>
              </a:endParaRPr>
            </a:p>
          </p:txBody>
        </p:sp>
        <p:sp>
          <p:nvSpPr>
            <p:cNvPr id="33" name="矩形 32">
              <a:extLst>
                <a:ext uri="{FF2B5EF4-FFF2-40B4-BE49-F238E27FC236}">
                  <a16:creationId xmlns:a16="http://schemas.microsoft.com/office/drawing/2014/main" id="{07FEE293-83FF-CC42-945B-B7D971A2EB59}"/>
                </a:ext>
              </a:extLst>
            </p:cNvPr>
            <p:cNvSpPr/>
            <p:nvPr/>
          </p:nvSpPr>
          <p:spPr>
            <a:xfrm>
              <a:off x="6308013" y="3733120"/>
              <a:ext cx="902371" cy="31848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000" dirty="0">
                  <a:solidFill>
                    <a:schemeClr val="tx1"/>
                  </a:solidFill>
                  <a:latin typeface="DengXian" panose="02010600030101010101" pitchFamily="2" charset="-122"/>
                  <a:ea typeface="DengXian" panose="02010600030101010101" pitchFamily="2" charset="-122"/>
                </a:rPr>
                <a:t>EMA</a:t>
              </a:r>
              <a:endParaRPr kumimoji="1" lang="zh-CN" altLang="en-US" sz="1000" dirty="0">
                <a:solidFill>
                  <a:schemeClr val="tx1"/>
                </a:solidFill>
                <a:latin typeface="DengXian" panose="02010600030101010101" pitchFamily="2" charset="-122"/>
                <a:ea typeface="DengXian" panose="02010600030101010101" pitchFamily="2" charset="-122"/>
              </a:endParaRPr>
            </a:p>
          </p:txBody>
        </p:sp>
        <p:sp>
          <p:nvSpPr>
            <p:cNvPr id="34" name="矩形 33">
              <a:extLst>
                <a:ext uri="{FF2B5EF4-FFF2-40B4-BE49-F238E27FC236}">
                  <a16:creationId xmlns:a16="http://schemas.microsoft.com/office/drawing/2014/main" id="{2F2244F4-7B0D-3A45-A08A-90ED0F4C3694}"/>
                </a:ext>
              </a:extLst>
            </p:cNvPr>
            <p:cNvSpPr/>
            <p:nvPr/>
          </p:nvSpPr>
          <p:spPr>
            <a:xfrm>
              <a:off x="5724126" y="3361556"/>
              <a:ext cx="902371" cy="31848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000" dirty="0">
                  <a:solidFill>
                    <a:schemeClr val="tx1"/>
                  </a:solidFill>
                  <a:latin typeface="DengXian" panose="02010600030101010101" pitchFamily="2" charset="-122"/>
                  <a:ea typeface="DengXian" panose="02010600030101010101" pitchFamily="2" charset="-122"/>
                </a:rPr>
                <a:t>Spike</a:t>
              </a:r>
              <a:endParaRPr kumimoji="1" lang="zh-CN" altLang="en-US" sz="1000" dirty="0">
                <a:solidFill>
                  <a:schemeClr val="tx1"/>
                </a:solidFill>
                <a:latin typeface="DengXian" panose="02010600030101010101" pitchFamily="2" charset="-122"/>
                <a:ea typeface="DengXian" panose="02010600030101010101" pitchFamily="2" charset="-122"/>
              </a:endParaRPr>
            </a:p>
          </p:txBody>
        </p:sp>
        <p:sp>
          <p:nvSpPr>
            <p:cNvPr id="35" name="矩形 34">
              <a:extLst>
                <a:ext uri="{FF2B5EF4-FFF2-40B4-BE49-F238E27FC236}">
                  <a16:creationId xmlns:a16="http://schemas.microsoft.com/office/drawing/2014/main" id="{E2F53D7A-D20B-4A41-9BC6-09F07B3A5DC9}"/>
                </a:ext>
              </a:extLst>
            </p:cNvPr>
            <p:cNvSpPr/>
            <p:nvPr/>
          </p:nvSpPr>
          <p:spPr>
            <a:xfrm>
              <a:off x="7380311" y="3721596"/>
              <a:ext cx="902371" cy="31848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000" dirty="0">
                  <a:solidFill>
                    <a:schemeClr val="tx1"/>
                  </a:solidFill>
                  <a:latin typeface="DengXian" panose="02010600030101010101" pitchFamily="2" charset="-122"/>
                  <a:ea typeface="DengXian" panose="02010600030101010101" pitchFamily="2" charset="-122"/>
                </a:rPr>
                <a:t>API</a:t>
              </a:r>
              <a:r>
                <a:rPr kumimoji="1" lang="zh-CN" altLang="en-US" sz="1000" dirty="0">
                  <a:solidFill>
                    <a:schemeClr val="tx1"/>
                  </a:solidFill>
                  <a:latin typeface="DengXian" panose="02010600030101010101" pitchFamily="2" charset="-122"/>
                  <a:ea typeface="DengXian" panose="02010600030101010101" pitchFamily="2" charset="-122"/>
                </a:rPr>
                <a:t> </a:t>
              </a:r>
              <a:r>
                <a:rPr kumimoji="1" lang="en-US" altLang="zh-CN" sz="1000" dirty="0">
                  <a:solidFill>
                    <a:schemeClr val="tx1"/>
                  </a:solidFill>
                  <a:latin typeface="DengXian" panose="02010600030101010101" pitchFamily="2" charset="-122"/>
                  <a:ea typeface="DengXian" panose="02010600030101010101" pitchFamily="2" charset="-122"/>
                </a:rPr>
                <a:t>Gateway</a:t>
              </a:r>
              <a:endParaRPr kumimoji="1" lang="zh-CN" altLang="en-US" sz="1000" dirty="0">
                <a:solidFill>
                  <a:schemeClr val="tx1"/>
                </a:solidFill>
                <a:latin typeface="DengXian" panose="02010600030101010101" pitchFamily="2" charset="-122"/>
                <a:ea typeface="DengXian" panose="02010600030101010101" pitchFamily="2" charset="-122"/>
              </a:endParaRPr>
            </a:p>
          </p:txBody>
        </p:sp>
        <p:sp>
          <p:nvSpPr>
            <p:cNvPr id="36" name="矩形 35">
              <a:extLst>
                <a:ext uri="{FF2B5EF4-FFF2-40B4-BE49-F238E27FC236}">
                  <a16:creationId xmlns:a16="http://schemas.microsoft.com/office/drawing/2014/main" id="{B65624BD-5386-084E-ABED-273C3CD40A18}"/>
                </a:ext>
              </a:extLst>
            </p:cNvPr>
            <p:cNvSpPr/>
            <p:nvPr/>
          </p:nvSpPr>
          <p:spPr>
            <a:xfrm>
              <a:off x="7380311" y="3289548"/>
              <a:ext cx="902371" cy="31848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000" dirty="0">
                  <a:solidFill>
                    <a:schemeClr val="tx1"/>
                  </a:solidFill>
                  <a:latin typeface="DengXian" panose="02010600030101010101" pitchFamily="2" charset="-122"/>
                  <a:ea typeface="DengXian" panose="02010600030101010101" pitchFamily="2" charset="-122"/>
                </a:rPr>
                <a:t>SQL</a:t>
              </a:r>
              <a:r>
                <a:rPr kumimoji="1" lang="zh-CN" altLang="en-US" sz="1000" dirty="0">
                  <a:solidFill>
                    <a:schemeClr val="tx1"/>
                  </a:solidFill>
                  <a:latin typeface="DengXian" panose="02010600030101010101" pitchFamily="2" charset="-122"/>
                  <a:ea typeface="DengXian" panose="02010600030101010101" pitchFamily="2" charset="-122"/>
                </a:rPr>
                <a:t> </a:t>
              </a:r>
              <a:r>
                <a:rPr kumimoji="1" lang="en-US" altLang="zh-CN" sz="1000" dirty="0">
                  <a:solidFill>
                    <a:schemeClr val="tx1"/>
                  </a:solidFill>
                  <a:latin typeface="DengXian" panose="02010600030101010101" pitchFamily="2" charset="-122"/>
                  <a:ea typeface="DengXian" panose="02010600030101010101" pitchFamily="2" charset="-122"/>
                </a:rPr>
                <a:t>Store</a:t>
              </a:r>
              <a:endParaRPr kumimoji="1" lang="zh-CN" altLang="en-US" sz="1000" dirty="0">
                <a:solidFill>
                  <a:schemeClr val="tx1"/>
                </a:solidFill>
                <a:latin typeface="DengXian" panose="02010600030101010101" pitchFamily="2" charset="-122"/>
                <a:ea typeface="DengXian" panose="02010600030101010101" pitchFamily="2" charset="-122"/>
              </a:endParaRPr>
            </a:p>
          </p:txBody>
        </p:sp>
        <p:cxnSp>
          <p:nvCxnSpPr>
            <p:cNvPr id="37" name="直线连接符 36">
              <a:extLst>
                <a:ext uri="{FF2B5EF4-FFF2-40B4-BE49-F238E27FC236}">
                  <a16:creationId xmlns:a16="http://schemas.microsoft.com/office/drawing/2014/main" id="{C7CD8296-FF6D-9441-9FD1-745CC061D9D3}"/>
                </a:ext>
              </a:extLst>
            </p:cNvPr>
            <p:cNvCxnSpPr>
              <a:cxnSpLocks/>
            </p:cNvCxnSpPr>
            <p:nvPr/>
          </p:nvCxnSpPr>
          <p:spPr>
            <a:xfrm>
              <a:off x="4788022" y="4585691"/>
              <a:ext cx="8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云形 39">
              <a:extLst>
                <a:ext uri="{FF2B5EF4-FFF2-40B4-BE49-F238E27FC236}">
                  <a16:creationId xmlns:a16="http://schemas.microsoft.com/office/drawing/2014/main" id="{0DD118E7-55CC-6E4E-9598-8423BFA0624B}"/>
                </a:ext>
              </a:extLst>
            </p:cNvPr>
            <p:cNvSpPr/>
            <p:nvPr/>
          </p:nvSpPr>
          <p:spPr>
            <a:xfrm>
              <a:off x="3635894" y="4369668"/>
              <a:ext cx="1363270" cy="477726"/>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Ethernet</a:t>
              </a:r>
              <a:endParaRPr kumimoji="1" lang="zh-CN" altLang="en-US" sz="1400" dirty="0"/>
            </a:p>
          </p:txBody>
        </p:sp>
      </p:grpSp>
      <p:grpSp>
        <p:nvGrpSpPr>
          <p:cNvPr id="46" name="组合 45">
            <a:extLst>
              <a:ext uri="{FF2B5EF4-FFF2-40B4-BE49-F238E27FC236}">
                <a16:creationId xmlns:a16="http://schemas.microsoft.com/office/drawing/2014/main" id="{944BE481-D4DF-BA44-AC2F-D19A3C8DF57B}"/>
              </a:ext>
            </a:extLst>
          </p:cNvPr>
          <p:cNvGrpSpPr/>
          <p:nvPr/>
        </p:nvGrpSpPr>
        <p:grpSpPr>
          <a:xfrm>
            <a:off x="0" y="2857500"/>
            <a:ext cx="3494658" cy="2043463"/>
            <a:chOff x="4788024" y="2857500"/>
            <a:chExt cx="3494658" cy="2043463"/>
          </a:xfrm>
        </p:grpSpPr>
        <p:pic>
          <p:nvPicPr>
            <p:cNvPr id="49" name="Picture 113">
              <a:extLst>
                <a:ext uri="{FF2B5EF4-FFF2-40B4-BE49-F238E27FC236}">
                  <a16:creationId xmlns:a16="http://schemas.microsoft.com/office/drawing/2014/main" id="{25D5B58B-8232-B748-91B2-FE08CD12BBF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804248" y="4081636"/>
              <a:ext cx="1008532" cy="819327"/>
            </a:xfrm>
            <a:prstGeom prst="rect">
              <a:avLst/>
            </a:prstGeom>
          </p:spPr>
        </p:pic>
        <p:sp>
          <p:nvSpPr>
            <p:cNvPr id="50" name="矩形 49">
              <a:extLst>
                <a:ext uri="{FF2B5EF4-FFF2-40B4-BE49-F238E27FC236}">
                  <a16:creationId xmlns:a16="http://schemas.microsoft.com/office/drawing/2014/main" id="{2045058D-DC34-3249-9984-394D39909FFE}"/>
                </a:ext>
              </a:extLst>
            </p:cNvPr>
            <p:cNvSpPr/>
            <p:nvPr/>
          </p:nvSpPr>
          <p:spPr>
            <a:xfrm>
              <a:off x="6948264" y="2857500"/>
              <a:ext cx="902371" cy="31848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000" dirty="0">
                  <a:solidFill>
                    <a:schemeClr val="tx1"/>
                  </a:solidFill>
                  <a:latin typeface="DengXian" panose="02010600030101010101" pitchFamily="2" charset="-122"/>
                  <a:ea typeface="DengXian" panose="02010600030101010101" pitchFamily="2" charset="-122"/>
                </a:rPr>
                <a:t>Recommend</a:t>
              </a:r>
              <a:endParaRPr kumimoji="1" lang="zh-CN" altLang="en-US" sz="1000" dirty="0">
                <a:solidFill>
                  <a:schemeClr val="tx1"/>
                </a:solidFill>
                <a:latin typeface="DengXian" panose="02010600030101010101" pitchFamily="2" charset="-122"/>
                <a:ea typeface="DengXian" panose="02010600030101010101" pitchFamily="2" charset="-122"/>
              </a:endParaRPr>
            </a:p>
          </p:txBody>
        </p:sp>
        <p:sp>
          <p:nvSpPr>
            <p:cNvPr id="51" name="矩形 50">
              <a:extLst>
                <a:ext uri="{FF2B5EF4-FFF2-40B4-BE49-F238E27FC236}">
                  <a16:creationId xmlns:a16="http://schemas.microsoft.com/office/drawing/2014/main" id="{A3F9BDE5-413F-3745-AB17-E8233AD20642}"/>
                </a:ext>
              </a:extLst>
            </p:cNvPr>
            <p:cNvSpPr/>
            <p:nvPr/>
          </p:nvSpPr>
          <p:spPr>
            <a:xfrm>
              <a:off x="6372200" y="3721596"/>
              <a:ext cx="902371" cy="31848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000" dirty="0">
                  <a:solidFill>
                    <a:schemeClr val="tx1"/>
                  </a:solidFill>
                  <a:latin typeface="DengXian" panose="02010600030101010101" pitchFamily="2" charset="-122"/>
                  <a:ea typeface="DengXian" panose="02010600030101010101" pitchFamily="2" charset="-122"/>
                </a:rPr>
                <a:t>EMA</a:t>
              </a:r>
              <a:endParaRPr kumimoji="1" lang="zh-CN" altLang="en-US" sz="1000" dirty="0">
                <a:solidFill>
                  <a:schemeClr val="tx1"/>
                </a:solidFill>
                <a:latin typeface="DengXian" panose="02010600030101010101" pitchFamily="2" charset="-122"/>
                <a:ea typeface="DengXian" panose="02010600030101010101" pitchFamily="2" charset="-122"/>
              </a:endParaRPr>
            </a:p>
          </p:txBody>
        </p:sp>
        <p:sp>
          <p:nvSpPr>
            <p:cNvPr id="52" name="矩形 51">
              <a:extLst>
                <a:ext uri="{FF2B5EF4-FFF2-40B4-BE49-F238E27FC236}">
                  <a16:creationId xmlns:a16="http://schemas.microsoft.com/office/drawing/2014/main" id="{09FF4015-8B5B-FA40-A0F5-993960BB0134}"/>
                </a:ext>
              </a:extLst>
            </p:cNvPr>
            <p:cNvSpPr/>
            <p:nvPr/>
          </p:nvSpPr>
          <p:spPr>
            <a:xfrm>
              <a:off x="6372200" y="3289548"/>
              <a:ext cx="902371" cy="31848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000" dirty="0">
                  <a:solidFill>
                    <a:schemeClr val="tx1"/>
                  </a:solidFill>
                  <a:latin typeface="DengXian" panose="02010600030101010101" pitchFamily="2" charset="-122"/>
                  <a:ea typeface="DengXian" panose="02010600030101010101" pitchFamily="2" charset="-122"/>
                </a:rPr>
                <a:t>Spike</a:t>
              </a:r>
              <a:endParaRPr kumimoji="1" lang="zh-CN" altLang="en-US" sz="1000" dirty="0">
                <a:solidFill>
                  <a:schemeClr val="tx1"/>
                </a:solidFill>
                <a:latin typeface="DengXian" panose="02010600030101010101" pitchFamily="2" charset="-122"/>
                <a:ea typeface="DengXian" panose="02010600030101010101" pitchFamily="2" charset="-122"/>
              </a:endParaRPr>
            </a:p>
          </p:txBody>
        </p:sp>
        <p:sp>
          <p:nvSpPr>
            <p:cNvPr id="53" name="矩形 52">
              <a:extLst>
                <a:ext uri="{FF2B5EF4-FFF2-40B4-BE49-F238E27FC236}">
                  <a16:creationId xmlns:a16="http://schemas.microsoft.com/office/drawing/2014/main" id="{EE05A5DA-FE1C-4E42-B6D2-608487C7E0ED}"/>
                </a:ext>
              </a:extLst>
            </p:cNvPr>
            <p:cNvSpPr/>
            <p:nvPr/>
          </p:nvSpPr>
          <p:spPr>
            <a:xfrm>
              <a:off x="7380311" y="3721596"/>
              <a:ext cx="902371" cy="31848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000" dirty="0">
                  <a:solidFill>
                    <a:schemeClr val="tx1"/>
                  </a:solidFill>
                  <a:latin typeface="DengXian" panose="02010600030101010101" pitchFamily="2" charset="-122"/>
                  <a:ea typeface="DengXian" panose="02010600030101010101" pitchFamily="2" charset="-122"/>
                </a:rPr>
                <a:t>API</a:t>
              </a:r>
              <a:r>
                <a:rPr kumimoji="1" lang="zh-CN" altLang="en-US" sz="1000" dirty="0">
                  <a:solidFill>
                    <a:schemeClr val="tx1"/>
                  </a:solidFill>
                  <a:latin typeface="DengXian" panose="02010600030101010101" pitchFamily="2" charset="-122"/>
                  <a:ea typeface="DengXian" panose="02010600030101010101" pitchFamily="2" charset="-122"/>
                </a:rPr>
                <a:t> </a:t>
              </a:r>
              <a:r>
                <a:rPr kumimoji="1" lang="en-US" altLang="zh-CN" sz="1000" dirty="0">
                  <a:solidFill>
                    <a:schemeClr val="tx1"/>
                  </a:solidFill>
                  <a:latin typeface="DengXian" panose="02010600030101010101" pitchFamily="2" charset="-122"/>
                  <a:ea typeface="DengXian" panose="02010600030101010101" pitchFamily="2" charset="-122"/>
                </a:rPr>
                <a:t>Gateway</a:t>
              </a:r>
              <a:endParaRPr kumimoji="1" lang="zh-CN" altLang="en-US" sz="1000" dirty="0">
                <a:solidFill>
                  <a:schemeClr val="tx1"/>
                </a:solidFill>
                <a:latin typeface="DengXian" panose="02010600030101010101" pitchFamily="2" charset="-122"/>
                <a:ea typeface="DengXian" panose="02010600030101010101" pitchFamily="2" charset="-122"/>
              </a:endParaRPr>
            </a:p>
          </p:txBody>
        </p:sp>
        <p:sp>
          <p:nvSpPr>
            <p:cNvPr id="54" name="矩形 53">
              <a:extLst>
                <a:ext uri="{FF2B5EF4-FFF2-40B4-BE49-F238E27FC236}">
                  <a16:creationId xmlns:a16="http://schemas.microsoft.com/office/drawing/2014/main" id="{C0162653-42D6-784E-8625-06589DFF07B3}"/>
                </a:ext>
              </a:extLst>
            </p:cNvPr>
            <p:cNvSpPr/>
            <p:nvPr/>
          </p:nvSpPr>
          <p:spPr>
            <a:xfrm>
              <a:off x="7380311" y="3289548"/>
              <a:ext cx="902371" cy="31848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000" dirty="0">
                  <a:solidFill>
                    <a:schemeClr val="tx1"/>
                  </a:solidFill>
                  <a:latin typeface="DengXian" panose="02010600030101010101" pitchFamily="2" charset="-122"/>
                  <a:ea typeface="DengXian" panose="02010600030101010101" pitchFamily="2" charset="-122"/>
                </a:rPr>
                <a:t>SQL</a:t>
              </a:r>
              <a:r>
                <a:rPr kumimoji="1" lang="zh-CN" altLang="en-US" sz="1000" dirty="0">
                  <a:solidFill>
                    <a:schemeClr val="tx1"/>
                  </a:solidFill>
                  <a:latin typeface="DengXian" panose="02010600030101010101" pitchFamily="2" charset="-122"/>
                  <a:ea typeface="DengXian" panose="02010600030101010101" pitchFamily="2" charset="-122"/>
                </a:rPr>
                <a:t> </a:t>
              </a:r>
              <a:r>
                <a:rPr kumimoji="1" lang="en-US" altLang="zh-CN" sz="1000" dirty="0">
                  <a:solidFill>
                    <a:schemeClr val="tx1"/>
                  </a:solidFill>
                  <a:latin typeface="DengXian" panose="02010600030101010101" pitchFamily="2" charset="-122"/>
                  <a:ea typeface="DengXian" panose="02010600030101010101" pitchFamily="2" charset="-122"/>
                </a:rPr>
                <a:t>Store</a:t>
              </a:r>
              <a:endParaRPr kumimoji="1" lang="zh-CN" altLang="en-US" sz="1000" dirty="0">
                <a:solidFill>
                  <a:schemeClr val="tx1"/>
                </a:solidFill>
                <a:latin typeface="DengXian" panose="02010600030101010101" pitchFamily="2" charset="-122"/>
                <a:ea typeface="DengXian" panose="02010600030101010101" pitchFamily="2" charset="-122"/>
              </a:endParaRPr>
            </a:p>
          </p:txBody>
        </p:sp>
        <p:cxnSp>
          <p:nvCxnSpPr>
            <p:cNvPr id="55" name="直线连接符 54">
              <a:extLst>
                <a:ext uri="{FF2B5EF4-FFF2-40B4-BE49-F238E27FC236}">
                  <a16:creationId xmlns:a16="http://schemas.microsoft.com/office/drawing/2014/main" id="{258D14B2-9361-E043-8557-70B16CC7CD67}"/>
                </a:ext>
              </a:extLst>
            </p:cNvPr>
            <p:cNvCxnSpPr>
              <a:cxnSpLocks/>
            </p:cNvCxnSpPr>
            <p:nvPr/>
          </p:nvCxnSpPr>
          <p:spPr>
            <a:xfrm>
              <a:off x="5940152" y="4513683"/>
              <a:ext cx="8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56" name="云形 55">
              <a:extLst>
                <a:ext uri="{FF2B5EF4-FFF2-40B4-BE49-F238E27FC236}">
                  <a16:creationId xmlns:a16="http://schemas.microsoft.com/office/drawing/2014/main" id="{5B8CBB23-36CA-294A-9A9B-1370DBEA7DAA}"/>
                </a:ext>
              </a:extLst>
            </p:cNvPr>
            <p:cNvSpPr/>
            <p:nvPr/>
          </p:nvSpPr>
          <p:spPr>
            <a:xfrm>
              <a:off x="4788024" y="4297660"/>
              <a:ext cx="1363270" cy="477726"/>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t>Ethernet</a:t>
              </a:r>
              <a:endParaRPr kumimoji="1" lang="zh-CN" altLang="en-US" sz="1400" dirty="0"/>
            </a:p>
          </p:txBody>
        </p:sp>
      </p:grpSp>
      <p:sp>
        <p:nvSpPr>
          <p:cNvPr id="58" name="右箭头 57">
            <a:extLst>
              <a:ext uri="{FF2B5EF4-FFF2-40B4-BE49-F238E27FC236}">
                <a16:creationId xmlns:a16="http://schemas.microsoft.com/office/drawing/2014/main" id="{A9E25B1B-2A70-7E47-885F-889D39CFADC3}"/>
              </a:ext>
            </a:extLst>
          </p:cNvPr>
          <p:cNvSpPr/>
          <p:nvPr/>
        </p:nvSpPr>
        <p:spPr>
          <a:xfrm>
            <a:off x="3851920" y="3433564"/>
            <a:ext cx="720080"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文本框 58">
            <a:extLst>
              <a:ext uri="{FF2B5EF4-FFF2-40B4-BE49-F238E27FC236}">
                <a16:creationId xmlns:a16="http://schemas.microsoft.com/office/drawing/2014/main" id="{DDFFFD9E-C010-9A4C-9A29-0B8F69D6B341}"/>
              </a:ext>
            </a:extLst>
          </p:cNvPr>
          <p:cNvSpPr txBox="1"/>
          <p:nvPr/>
        </p:nvSpPr>
        <p:spPr>
          <a:xfrm>
            <a:off x="1835696" y="4945732"/>
            <a:ext cx="1107996" cy="369332"/>
          </a:xfrm>
          <a:prstGeom prst="rect">
            <a:avLst/>
          </a:prstGeom>
          <a:noFill/>
        </p:spPr>
        <p:txBody>
          <a:bodyPr wrap="none" rtlCol="0">
            <a:spAutoFit/>
          </a:bodyPr>
          <a:lstStyle/>
          <a:p>
            <a:r>
              <a:rPr kumimoji="1" lang="zh-CN" altLang="en-US" dirty="0"/>
              <a:t>传统系统</a:t>
            </a:r>
          </a:p>
        </p:txBody>
      </p:sp>
      <p:sp>
        <p:nvSpPr>
          <p:cNvPr id="60" name="文本框 59">
            <a:extLst>
              <a:ext uri="{FF2B5EF4-FFF2-40B4-BE49-F238E27FC236}">
                <a16:creationId xmlns:a16="http://schemas.microsoft.com/office/drawing/2014/main" id="{B48A2A80-B808-9E4F-A571-3960B823AAF6}"/>
              </a:ext>
            </a:extLst>
          </p:cNvPr>
          <p:cNvSpPr txBox="1"/>
          <p:nvPr/>
        </p:nvSpPr>
        <p:spPr>
          <a:xfrm>
            <a:off x="7020272" y="4945732"/>
            <a:ext cx="466794" cy="369332"/>
          </a:xfrm>
          <a:prstGeom prst="rect">
            <a:avLst/>
          </a:prstGeom>
          <a:noFill/>
        </p:spPr>
        <p:txBody>
          <a:bodyPr wrap="none" rtlCol="0">
            <a:spAutoFit/>
          </a:bodyPr>
          <a:lstStyle/>
          <a:p>
            <a:r>
              <a:rPr kumimoji="1" lang="en-US" altLang="zh-CN" dirty="0"/>
              <a:t>E3</a:t>
            </a:r>
            <a:endParaRPr kumimoji="1" lang="zh-CN" altLang="en-US" dirty="0"/>
          </a:p>
        </p:txBody>
      </p:sp>
      <p:sp>
        <p:nvSpPr>
          <p:cNvPr id="6" name="矩形 5">
            <a:extLst>
              <a:ext uri="{FF2B5EF4-FFF2-40B4-BE49-F238E27FC236}">
                <a16:creationId xmlns:a16="http://schemas.microsoft.com/office/drawing/2014/main" id="{F8E21FCD-C12C-BD4E-A83C-9DB74A3CCDFA}"/>
              </a:ext>
            </a:extLst>
          </p:cNvPr>
          <p:cNvSpPr/>
          <p:nvPr/>
        </p:nvSpPr>
        <p:spPr>
          <a:xfrm>
            <a:off x="179133" y="5140211"/>
            <a:ext cx="1266822" cy="400110"/>
          </a:xfrm>
          <a:prstGeom prst="rect">
            <a:avLst/>
          </a:prstGeom>
        </p:spPr>
        <p:txBody>
          <a:bodyPr wrap="none">
            <a:spAutoFit/>
          </a:bodyPr>
          <a:lstStyle/>
          <a:p>
            <a:r>
              <a:rPr kumimoji="1" lang="en-US" altLang="zh-CN" sz="2000" dirty="0"/>
              <a:t>E3</a:t>
            </a:r>
            <a:r>
              <a:rPr kumimoji="1" lang="en-US" altLang="zh-CN" sz="2000" baseline="30000" dirty="0"/>
              <a:t> (ATC’19) </a:t>
            </a:r>
            <a:endParaRPr lang="zh-CN" altLang="en-US" sz="2000" dirty="0"/>
          </a:p>
        </p:txBody>
      </p:sp>
    </p:spTree>
    <p:extLst>
      <p:ext uri="{BB962C8B-B14F-4D97-AF65-F5344CB8AC3E}">
        <p14:creationId xmlns:p14="http://schemas.microsoft.com/office/powerpoint/2010/main" val="195456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9555AE-0A81-4649-AD57-6334AA6C5348}"/>
              </a:ext>
            </a:extLst>
          </p:cNvPr>
          <p:cNvSpPr>
            <a:spLocks noGrp="1"/>
          </p:cNvSpPr>
          <p:nvPr>
            <p:ph type="title"/>
          </p:nvPr>
        </p:nvSpPr>
        <p:spPr/>
        <p:txBody>
          <a:bodyPr>
            <a:normAutofit/>
          </a:bodyPr>
          <a:lstStyle/>
          <a:p>
            <a:r>
              <a:rPr kumimoji="1" lang="zh-CN" altLang="en-US" sz="3200" dirty="0"/>
              <a:t>思路</a:t>
            </a:r>
            <a:r>
              <a:rPr kumimoji="1" lang="en-US" altLang="zh-CN" sz="3200" dirty="0"/>
              <a:t>-3</a:t>
            </a:r>
            <a:r>
              <a:rPr kumimoji="1" lang="zh-CN" altLang="en-US" sz="3200" dirty="0"/>
              <a:t>：卸载部分网络协议栈至网卡</a:t>
            </a:r>
          </a:p>
        </p:txBody>
      </p:sp>
      <p:sp>
        <p:nvSpPr>
          <p:cNvPr id="3" name="内容占位符 2">
            <a:extLst>
              <a:ext uri="{FF2B5EF4-FFF2-40B4-BE49-F238E27FC236}">
                <a16:creationId xmlns:a16="http://schemas.microsoft.com/office/drawing/2014/main" id="{3FE72927-CF04-4E4D-9677-6F74BE6D5941}"/>
              </a:ext>
            </a:extLst>
          </p:cNvPr>
          <p:cNvSpPr>
            <a:spLocks noGrp="1"/>
          </p:cNvSpPr>
          <p:nvPr>
            <p:ph idx="1"/>
          </p:nvPr>
        </p:nvSpPr>
        <p:spPr/>
        <p:txBody>
          <a:bodyPr>
            <a:normAutofit/>
          </a:bodyPr>
          <a:lstStyle/>
          <a:p>
            <a:r>
              <a:rPr kumimoji="1" lang="zh-CN" altLang="en-US" sz="2000" dirty="0"/>
              <a:t>卸载操作系统功能：对应用提供通用的性能提升</a:t>
            </a:r>
            <a:endParaRPr kumimoji="1" lang="en-US" altLang="zh-CN" sz="2000" dirty="0"/>
          </a:p>
          <a:p>
            <a:r>
              <a:rPr kumimoji="1" lang="zh-CN" altLang="en-US" sz="2000" dirty="0"/>
              <a:t>目的：优化</a:t>
            </a:r>
            <a:r>
              <a:rPr kumimoji="1" lang="en-US" altLang="zh-CN" sz="2000" dirty="0"/>
              <a:t>Short</a:t>
            </a:r>
            <a:r>
              <a:rPr kumimoji="1" lang="zh-CN" altLang="en-US" sz="2000" dirty="0"/>
              <a:t> </a:t>
            </a:r>
            <a:r>
              <a:rPr kumimoji="1" lang="en-US" altLang="zh-CN" sz="2000" dirty="0"/>
              <a:t>TCP</a:t>
            </a:r>
            <a:r>
              <a:rPr kumimoji="1" lang="zh-CN" altLang="en-US" sz="2000" dirty="0"/>
              <a:t> </a:t>
            </a:r>
            <a:r>
              <a:rPr kumimoji="1" lang="en-US" altLang="zh-CN" sz="2000" dirty="0"/>
              <a:t>Flows</a:t>
            </a:r>
            <a:r>
              <a:rPr kumimoji="1" lang="zh-CN" altLang="en-US" sz="2000" dirty="0"/>
              <a:t>和</a:t>
            </a:r>
            <a:r>
              <a:rPr kumimoji="1" lang="en-US" altLang="zh-CN" sz="2000" dirty="0"/>
              <a:t>L7</a:t>
            </a:r>
            <a:r>
              <a:rPr kumimoji="1" lang="zh-CN" altLang="en-US" sz="2000" dirty="0"/>
              <a:t> </a:t>
            </a:r>
            <a:r>
              <a:rPr kumimoji="1" lang="en-US" altLang="zh-CN" sz="2000" dirty="0"/>
              <a:t>Proxy</a:t>
            </a:r>
            <a:r>
              <a:rPr kumimoji="1" lang="zh-CN" altLang="en-US" sz="2000" dirty="0"/>
              <a:t>性能</a:t>
            </a:r>
            <a:endParaRPr kumimoji="1" lang="en-US" altLang="zh-CN" sz="2000" dirty="0"/>
          </a:p>
          <a:p>
            <a:pPr lvl="1"/>
            <a:r>
              <a:rPr kumimoji="1" lang="zh-CN" altLang="en-US" sz="1800" dirty="0"/>
              <a:t>开销主要来自于</a:t>
            </a:r>
            <a:r>
              <a:rPr kumimoji="1" lang="en-US" altLang="zh-CN" sz="1800" dirty="0"/>
              <a:t>Short</a:t>
            </a:r>
            <a:r>
              <a:rPr kumimoji="1" lang="zh-CN" altLang="en-US" sz="1800" dirty="0"/>
              <a:t> </a:t>
            </a:r>
            <a:r>
              <a:rPr kumimoji="1" lang="en-US" altLang="zh-CN" sz="1800" dirty="0"/>
              <a:t>Flow</a:t>
            </a:r>
            <a:r>
              <a:rPr kumimoji="1" lang="zh-CN" altLang="en-US" sz="1800" dirty="0"/>
              <a:t>连接的管理</a:t>
            </a:r>
            <a:endParaRPr kumimoji="1" lang="en-US" altLang="zh-CN" sz="1800" dirty="0"/>
          </a:p>
          <a:p>
            <a:pPr lvl="1"/>
            <a:r>
              <a:rPr kumimoji="1" lang="en-US" altLang="zh-CN" sz="1800" dirty="0"/>
              <a:t>L7</a:t>
            </a:r>
            <a:r>
              <a:rPr kumimoji="1" lang="zh-CN" altLang="en-US" sz="1800" dirty="0"/>
              <a:t> </a:t>
            </a:r>
            <a:r>
              <a:rPr kumimoji="1" lang="en-US" altLang="zh-CN" sz="1800" dirty="0"/>
              <a:t>Proxy</a:t>
            </a:r>
            <a:r>
              <a:rPr kumimoji="1" lang="zh-CN" altLang="en-US" sz="1800" dirty="0"/>
              <a:t>引起大量设备与</a:t>
            </a:r>
            <a:r>
              <a:rPr kumimoji="1" lang="en-US" altLang="zh-CN" sz="1800" dirty="0"/>
              <a:t>Host</a:t>
            </a:r>
            <a:r>
              <a:rPr kumimoji="1" lang="zh-CN" altLang="en-US" sz="1800" dirty="0"/>
              <a:t> </a:t>
            </a:r>
            <a:r>
              <a:rPr kumimoji="1" lang="en-US" altLang="zh-CN" sz="1800" dirty="0"/>
              <a:t>Memory</a:t>
            </a:r>
            <a:r>
              <a:rPr kumimoji="1" lang="zh-CN" altLang="en-US" sz="1800" dirty="0"/>
              <a:t>的</a:t>
            </a:r>
            <a:r>
              <a:rPr kumimoji="1" lang="en-US" altLang="zh-CN" sz="1800" dirty="0"/>
              <a:t>DMA</a:t>
            </a:r>
            <a:r>
              <a:rPr kumimoji="1" lang="zh-CN" altLang="en-US" sz="1800" dirty="0"/>
              <a:t>操作</a:t>
            </a:r>
            <a:endParaRPr kumimoji="1" lang="en-US" altLang="zh-CN" sz="1800" dirty="0"/>
          </a:p>
          <a:p>
            <a:r>
              <a:rPr kumimoji="1" lang="zh-CN" altLang="en-US" sz="2000" dirty="0"/>
              <a:t>核心想法：双网络协议栈的设计</a:t>
            </a:r>
            <a:endParaRPr kumimoji="1" lang="en-US" altLang="zh-CN" sz="2000" dirty="0"/>
          </a:p>
          <a:p>
            <a:pPr lvl="1"/>
            <a:r>
              <a:rPr kumimoji="1" lang="zh-CN" altLang="en-US" sz="1800" dirty="0"/>
              <a:t>将简单的</a:t>
            </a:r>
            <a:r>
              <a:rPr kumimoji="1" lang="en-US" altLang="zh-CN" sz="1800" dirty="0"/>
              <a:t>TCP</a:t>
            </a:r>
            <a:r>
              <a:rPr kumimoji="1" lang="zh-CN" altLang="en-US" sz="1800" dirty="0"/>
              <a:t>网络协议栈操作卸载至网卡</a:t>
            </a:r>
            <a:endParaRPr kumimoji="1" lang="en-US" altLang="zh-CN" sz="1800" dirty="0"/>
          </a:p>
          <a:p>
            <a:pPr lvl="1"/>
            <a:r>
              <a:rPr kumimoji="1" lang="zh-CN" altLang="en-US" sz="1800" dirty="0"/>
              <a:t>优化</a:t>
            </a:r>
            <a:r>
              <a:rPr kumimoji="1" lang="en-US" altLang="zh-CN" sz="1800" dirty="0"/>
              <a:t>Short</a:t>
            </a:r>
            <a:r>
              <a:rPr kumimoji="1" lang="zh-CN" altLang="en-US" sz="1800" dirty="0"/>
              <a:t> </a:t>
            </a:r>
            <a:r>
              <a:rPr kumimoji="1" lang="en-US" altLang="zh-CN" sz="1800" dirty="0"/>
              <a:t>TCP</a:t>
            </a:r>
            <a:r>
              <a:rPr kumimoji="1" lang="zh-CN" altLang="en-US" sz="1800" dirty="0"/>
              <a:t>的管理以及数据拷贝</a:t>
            </a:r>
          </a:p>
        </p:txBody>
      </p:sp>
      <p:sp>
        <p:nvSpPr>
          <p:cNvPr id="4" name="灯片编号占位符 3">
            <a:extLst>
              <a:ext uri="{FF2B5EF4-FFF2-40B4-BE49-F238E27FC236}">
                <a16:creationId xmlns:a16="http://schemas.microsoft.com/office/drawing/2014/main" id="{12A12A34-3318-7344-9EC2-139E6DCFFFC5}"/>
              </a:ext>
            </a:extLst>
          </p:cNvPr>
          <p:cNvSpPr>
            <a:spLocks noGrp="1"/>
          </p:cNvSpPr>
          <p:nvPr>
            <p:ph type="sldNum" sz="quarter" idx="12"/>
          </p:nvPr>
        </p:nvSpPr>
        <p:spPr/>
        <p:txBody>
          <a:bodyPr/>
          <a:lstStyle/>
          <a:p>
            <a:fld id="{ADE361C3-C043-4A6E-BDCE-8DA1E7D90A3B}" type="slidenum">
              <a:rPr lang="zh-CN" altLang="en-US" smtClean="0"/>
              <a:t>17</a:t>
            </a:fld>
            <a:endParaRPr lang="zh-CN" altLang="en-US"/>
          </a:p>
        </p:txBody>
      </p:sp>
      <p:sp>
        <p:nvSpPr>
          <p:cNvPr id="5" name="页脚占位符 4">
            <a:extLst>
              <a:ext uri="{FF2B5EF4-FFF2-40B4-BE49-F238E27FC236}">
                <a16:creationId xmlns:a16="http://schemas.microsoft.com/office/drawing/2014/main" id="{E9E8F99E-4504-7E4A-91F5-D6F6EC5AE28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6E5FABF5-DFE9-A841-8892-1FE50D46D9D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308304" y="985292"/>
            <a:ext cx="1897866" cy="1555628"/>
          </a:xfrm>
          <a:prstGeom prst="rect">
            <a:avLst/>
          </a:prstGeom>
        </p:spPr>
      </p:pic>
      <p:pic>
        <p:nvPicPr>
          <p:cNvPr id="8" name="图片 7">
            <a:extLst>
              <a:ext uri="{FF2B5EF4-FFF2-40B4-BE49-F238E27FC236}">
                <a16:creationId xmlns:a16="http://schemas.microsoft.com/office/drawing/2014/main" id="{8B551BC2-FFEE-3143-9AFD-0251106ED93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96873" y="3206390"/>
            <a:ext cx="3022861" cy="1800200"/>
          </a:xfrm>
          <a:prstGeom prst="rect">
            <a:avLst/>
          </a:prstGeom>
        </p:spPr>
      </p:pic>
      <p:sp>
        <p:nvSpPr>
          <p:cNvPr id="7" name="矩形 6">
            <a:extLst>
              <a:ext uri="{FF2B5EF4-FFF2-40B4-BE49-F238E27FC236}">
                <a16:creationId xmlns:a16="http://schemas.microsoft.com/office/drawing/2014/main" id="{0B2DC100-0D8A-B84F-BA68-AFAF2D224EB7}"/>
              </a:ext>
            </a:extLst>
          </p:cNvPr>
          <p:cNvSpPr/>
          <p:nvPr/>
        </p:nvSpPr>
        <p:spPr>
          <a:xfrm>
            <a:off x="177112" y="5136041"/>
            <a:ext cx="2038379" cy="369332"/>
          </a:xfrm>
          <a:prstGeom prst="rect">
            <a:avLst/>
          </a:prstGeom>
        </p:spPr>
        <p:txBody>
          <a:bodyPr wrap="none">
            <a:spAutoFit/>
          </a:bodyPr>
          <a:lstStyle/>
          <a:p>
            <a:r>
              <a:rPr kumimoji="1" lang="en-US" altLang="zh-CN" dirty="0" err="1"/>
              <a:t>AccelTCP</a:t>
            </a:r>
            <a:r>
              <a:rPr kumimoji="1" lang="zh-CN" altLang="en-US" dirty="0"/>
              <a:t> </a:t>
            </a:r>
            <a:r>
              <a:rPr kumimoji="1" lang="en-US" altLang="zh-CN" baseline="30000" dirty="0"/>
              <a:t>(NSDI’20) </a:t>
            </a:r>
            <a:endParaRPr lang="zh-CN" altLang="en-US" dirty="0"/>
          </a:p>
        </p:txBody>
      </p:sp>
    </p:spTree>
    <p:extLst>
      <p:ext uri="{BB962C8B-B14F-4D97-AF65-F5344CB8AC3E}">
        <p14:creationId xmlns:p14="http://schemas.microsoft.com/office/powerpoint/2010/main" val="958695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B84D5C-0BF0-CB48-894A-F737A965DC33}"/>
              </a:ext>
            </a:extLst>
          </p:cNvPr>
          <p:cNvSpPr>
            <a:spLocks noGrp="1"/>
          </p:cNvSpPr>
          <p:nvPr>
            <p:ph type="title"/>
          </p:nvPr>
        </p:nvSpPr>
        <p:spPr/>
        <p:txBody>
          <a:bodyPr>
            <a:normAutofit/>
          </a:bodyPr>
          <a:lstStyle/>
          <a:p>
            <a:r>
              <a:rPr kumimoji="1" lang="zh-CN" altLang="en-US" sz="3200" dirty="0"/>
              <a:t>更多智能网卡的研究挑战</a:t>
            </a:r>
          </a:p>
        </p:txBody>
      </p:sp>
      <p:sp>
        <p:nvSpPr>
          <p:cNvPr id="3" name="内容占位符 2">
            <a:extLst>
              <a:ext uri="{FF2B5EF4-FFF2-40B4-BE49-F238E27FC236}">
                <a16:creationId xmlns:a16="http://schemas.microsoft.com/office/drawing/2014/main" id="{D4EB44DB-414B-8041-B2E0-4F9E3FCAFF0B}"/>
              </a:ext>
            </a:extLst>
          </p:cNvPr>
          <p:cNvSpPr>
            <a:spLocks noGrp="1"/>
          </p:cNvSpPr>
          <p:nvPr>
            <p:ph idx="1"/>
          </p:nvPr>
        </p:nvSpPr>
        <p:spPr/>
        <p:txBody>
          <a:bodyPr>
            <a:normAutofit/>
          </a:bodyPr>
          <a:lstStyle/>
          <a:p>
            <a:r>
              <a:rPr kumimoji="1" lang="zh-CN" altLang="en-US" dirty="0"/>
              <a:t>设备内难以隔离多个用户卸载的计算任务</a:t>
            </a:r>
            <a:endParaRPr kumimoji="1" lang="en-US" altLang="zh-CN" dirty="0"/>
          </a:p>
          <a:p>
            <a:pPr lvl="1"/>
            <a:r>
              <a:rPr kumimoji="1" lang="zh-CN" altLang="en-US" dirty="0"/>
              <a:t>安全性和可用性之间的权衡</a:t>
            </a:r>
            <a:endParaRPr kumimoji="1" lang="en-US" altLang="zh-CN" dirty="0"/>
          </a:p>
          <a:p>
            <a:r>
              <a:rPr kumimoji="1" lang="zh-CN" altLang="en-US" dirty="0"/>
              <a:t>设备与处理器之间异构性较大</a:t>
            </a:r>
            <a:endParaRPr kumimoji="1" lang="en-US" altLang="zh-CN" dirty="0"/>
          </a:p>
          <a:p>
            <a:pPr lvl="1"/>
            <a:r>
              <a:rPr kumimoji="1" lang="zh-CN" altLang="en-US" dirty="0"/>
              <a:t>需要同时支持不同的指令集</a:t>
            </a:r>
            <a:r>
              <a:rPr kumimoji="1" lang="en-US" altLang="zh-CN" dirty="0"/>
              <a:t>(ISA)</a:t>
            </a:r>
          </a:p>
          <a:p>
            <a:pPr lvl="1"/>
            <a:r>
              <a:rPr kumimoji="1" lang="zh-CN" altLang="en-US" dirty="0"/>
              <a:t>编程模型存在较大差异</a:t>
            </a:r>
            <a:endParaRPr kumimoji="1" lang="en-US" altLang="zh-CN" dirty="0"/>
          </a:p>
          <a:p>
            <a:r>
              <a:rPr kumimoji="1" lang="zh-CN" altLang="en-US" dirty="0"/>
              <a:t>卸载计算任务与网卡本身任务之间的竞争</a:t>
            </a:r>
            <a:endParaRPr kumimoji="1" lang="en-US" altLang="zh-CN" dirty="0"/>
          </a:p>
          <a:p>
            <a:pPr lvl="1"/>
            <a:r>
              <a:rPr kumimoji="1" lang="zh-CN" altLang="en-US" dirty="0"/>
              <a:t>卸载的计算任务可能会对网卡本身性能造成较大影响</a:t>
            </a:r>
            <a:endParaRPr kumimoji="1" lang="en-US" altLang="zh-CN" dirty="0"/>
          </a:p>
          <a:p>
            <a:endParaRPr kumimoji="1" lang="en-US" altLang="zh-CN" dirty="0"/>
          </a:p>
          <a:p>
            <a:endParaRPr kumimoji="1" lang="en-US" altLang="zh-CN" dirty="0"/>
          </a:p>
        </p:txBody>
      </p:sp>
      <p:sp>
        <p:nvSpPr>
          <p:cNvPr id="4" name="灯片编号占位符 3">
            <a:extLst>
              <a:ext uri="{FF2B5EF4-FFF2-40B4-BE49-F238E27FC236}">
                <a16:creationId xmlns:a16="http://schemas.microsoft.com/office/drawing/2014/main" id="{1DFA432D-971B-9E40-8BB3-3B1AC5DD2582}"/>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sp>
        <p:nvSpPr>
          <p:cNvPr id="5" name="页脚占位符 4">
            <a:extLst>
              <a:ext uri="{FF2B5EF4-FFF2-40B4-BE49-F238E27FC236}">
                <a16:creationId xmlns:a16="http://schemas.microsoft.com/office/drawing/2014/main" id="{88AB2221-DAF1-5243-9694-302CDEA36333}"/>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716157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3200" dirty="0"/>
              <a:t>其他挑战与待解决的问题</a:t>
            </a:r>
            <a:endParaRPr kumimoji="1" lang="zh-CN" altLang="en-US" sz="3200" dirty="0">
              <a:latin typeface="+mj-lt"/>
            </a:endParaRP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291264" cy="4194381"/>
          </a:xfrm>
        </p:spPr>
        <p:txBody>
          <a:bodyPr>
            <a:normAutofit/>
          </a:bodyPr>
          <a:lstStyle/>
          <a:p>
            <a:r>
              <a:rPr kumimoji="1" lang="zh-CN" altLang="en-US" sz="2000" b="0" dirty="0"/>
              <a:t>跨计算节点的通信通常使用</a:t>
            </a:r>
            <a:r>
              <a:rPr kumimoji="1" lang="en-US" altLang="zh-CN" sz="2000" b="0" dirty="0"/>
              <a:t>PCI-E</a:t>
            </a:r>
            <a:r>
              <a:rPr kumimoji="1" lang="zh-CN" altLang="en-US" sz="2000" b="0" dirty="0"/>
              <a:t>，性能较差，如何优化？</a:t>
            </a:r>
            <a:endParaRPr kumimoji="1" lang="en-US" altLang="zh-CN" sz="2000" b="0" dirty="0"/>
          </a:p>
          <a:p>
            <a:r>
              <a:rPr kumimoji="1" lang="zh-CN" altLang="en-US" sz="2000" b="0" dirty="0"/>
              <a:t>如何将</a:t>
            </a:r>
            <a:r>
              <a:rPr kumimoji="1" lang="en-US" altLang="zh-CN" sz="2000" b="0" dirty="0"/>
              <a:t>OS</a:t>
            </a:r>
            <a:r>
              <a:rPr kumimoji="1" lang="zh-CN" altLang="en-US" sz="2000" b="0" dirty="0"/>
              <a:t>的服务以及应用程序分布在不同的计算节点？</a:t>
            </a:r>
            <a:endParaRPr kumimoji="1" lang="en-US" altLang="zh-CN" sz="2000" b="0" dirty="0"/>
          </a:p>
          <a:p>
            <a:r>
              <a:rPr kumimoji="1" lang="zh-CN" altLang="en-US" sz="2000" b="0" dirty="0"/>
              <a:t>异构硬件非常多样，</a:t>
            </a:r>
            <a:r>
              <a:rPr kumimoji="1" lang="en-US" altLang="zh-CN" sz="2000" b="0" dirty="0"/>
              <a:t>OS</a:t>
            </a:r>
            <a:r>
              <a:rPr kumimoji="1" lang="zh-CN" altLang="en-US" sz="2000" b="0" dirty="0"/>
              <a:t>需要为应用提供怎样的抽象？</a:t>
            </a:r>
            <a:endParaRPr kumimoji="1" lang="en-US" altLang="zh-CN" sz="2000" b="0" dirty="0"/>
          </a:p>
          <a:p>
            <a:r>
              <a:rPr kumimoji="1" lang="zh-CN" altLang="en-US" sz="2000" b="0" dirty="0"/>
              <a:t>如何支持跨</a:t>
            </a:r>
            <a:r>
              <a:rPr kumimoji="1" lang="en-US" altLang="zh-CN" sz="2000" b="0" dirty="0"/>
              <a:t>ISA</a:t>
            </a:r>
            <a:r>
              <a:rPr kumimoji="1" lang="zh-CN" altLang="en-US" sz="2000" b="0" dirty="0"/>
              <a:t>的应用程序迁移？</a:t>
            </a:r>
            <a:endParaRPr kumimoji="1" lang="en-US" altLang="zh-CN" sz="2000" b="0" dirty="0"/>
          </a:p>
          <a:p>
            <a:r>
              <a:rPr kumimoji="1" lang="zh-CN" altLang="en-US" sz="2000" b="0" dirty="0"/>
              <a:t>智能</a:t>
            </a:r>
            <a:r>
              <a:rPr kumimoji="1" lang="en-US" altLang="zh-CN" sz="2000" b="0" dirty="0"/>
              <a:t>I/O</a:t>
            </a:r>
            <a:r>
              <a:rPr kumimoji="1" lang="zh-CN" altLang="en-US" sz="2000" b="0" dirty="0"/>
              <a:t>设备上的计算单元容易出现</a:t>
            </a:r>
            <a:r>
              <a:rPr kumimoji="1" lang="en-US" altLang="zh-CN" sz="2000" b="0" dirty="0"/>
              <a:t>Failure</a:t>
            </a:r>
            <a:r>
              <a:rPr kumimoji="1" lang="zh-CN" altLang="en-US" sz="2000" b="0" dirty="0"/>
              <a:t>，如何容错？</a:t>
            </a:r>
            <a:endParaRPr kumimoji="1" lang="en-US" altLang="zh-CN" sz="2000" b="0" dirty="0"/>
          </a:p>
          <a:p>
            <a:r>
              <a:rPr kumimoji="1" lang="zh-CN" altLang="en-US" sz="2000" b="0" dirty="0"/>
              <a:t>如何调度和共享各种异构设备给不同用户</a:t>
            </a:r>
            <a:r>
              <a:rPr kumimoji="1" lang="en-US" altLang="zh-CN" sz="2000" b="0" dirty="0"/>
              <a:t>/</a:t>
            </a:r>
            <a:r>
              <a:rPr kumimoji="1" lang="zh-CN" altLang="en-US" sz="2000" b="0" dirty="0"/>
              <a:t>应用使用？</a:t>
            </a:r>
            <a:endParaRPr kumimoji="1" lang="en-US" altLang="zh-CN" sz="2000" b="0" dirty="0"/>
          </a:p>
          <a:p>
            <a:r>
              <a:rPr kumimoji="1" lang="zh-CN" altLang="en-US" sz="2000" b="0" dirty="0"/>
              <a:t>异构系统的安全性如何保证？</a:t>
            </a:r>
            <a:endParaRPr kumimoji="1" lang="en-US" altLang="zh-CN" sz="2000" b="0" dirty="0"/>
          </a:p>
          <a:p>
            <a:endParaRPr kumimoji="1" lang="en-US" altLang="zh-CN" sz="2000" b="0" dirty="0"/>
          </a:p>
          <a:p>
            <a:endParaRPr kumimoji="1" lang="en-US" altLang="zh-CN" sz="2000" b="0" dirty="0"/>
          </a:p>
          <a:p>
            <a:pPr lvl="1"/>
            <a:endParaRPr kumimoji="1" lang="en-US" altLang="zh-CN" sz="1600" dirty="0">
              <a:latin typeface="+mn-lt"/>
            </a:endParaRPr>
          </a:p>
        </p:txBody>
      </p:sp>
      <p:sp>
        <p:nvSpPr>
          <p:cNvPr id="3" name="文本框 2">
            <a:extLst>
              <a:ext uri="{FF2B5EF4-FFF2-40B4-BE49-F238E27FC236}">
                <a16:creationId xmlns:a16="http://schemas.microsoft.com/office/drawing/2014/main" id="{448CEDCA-B6FF-3C42-954A-96D99F3C1D80}"/>
              </a:ext>
            </a:extLst>
          </p:cNvPr>
          <p:cNvSpPr txBox="1"/>
          <p:nvPr/>
        </p:nvSpPr>
        <p:spPr>
          <a:xfrm>
            <a:off x="827584" y="5247205"/>
            <a:ext cx="415498" cy="369332"/>
          </a:xfrm>
          <a:prstGeom prst="rect">
            <a:avLst/>
          </a:prstGeom>
          <a:noFill/>
        </p:spPr>
        <p:txBody>
          <a:bodyPr wrap="none" rtlCol="0">
            <a:spAutoFit/>
          </a:bodyPr>
          <a:lstStyle/>
          <a:p>
            <a:r>
              <a:rPr kumimoji="1" lang="en-US" altLang="zh-CN" dirty="0"/>
              <a:t>…</a:t>
            </a:r>
            <a:endParaRPr kumimoji="1" lang="zh-CN" altLang="en-US" dirty="0"/>
          </a:p>
        </p:txBody>
      </p:sp>
      <p:sp>
        <p:nvSpPr>
          <p:cNvPr id="5" name="灯片编号占位符 3">
            <a:extLst>
              <a:ext uri="{FF2B5EF4-FFF2-40B4-BE49-F238E27FC236}">
                <a16:creationId xmlns:a16="http://schemas.microsoft.com/office/drawing/2014/main" id="{2BB6D921-467D-8447-8FC0-A47E82BF00DC}"/>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19</a:t>
            </a:fld>
            <a:endParaRPr lang="zh-CN" altLang="en-US" dirty="0"/>
          </a:p>
        </p:txBody>
      </p:sp>
      <p:sp>
        <p:nvSpPr>
          <p:cNvPr id="6" name="页脚占位符 4">
            <a:extLst>
              <a:ext uri="{FF2B5EF4-FFF2-40B4-BE49-F238E27FC236}">
                <a16:creationId xmlns:a16="http://schemas.microsoft.com/office/drawing/2014/main" id="{A78CB382-ED27-7042-8B07-F4F2F72C8EC6}"/>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6369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en-US" altLang="zh-CN" b="1" dirty="0"/>
              <a:t>2</a:t>
            </a:r>
            <a:r>
              <a:rPr kumimoji="1" lang="zh-CN" altLang="en-US" b="1" dirty="0"/>
              <a:t>、新的应用接口</a:t>
            </a:r>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r>
              <a:rPr kumimoji="1" lang="en-US" altLang="zh-CN" dirty="0"/>
              <a:t>New</a:t>
            </a:r>
            <a:r>
              <a:rPr kumimoji="1" lang="zh-CN" altLang="en-US" dirty="0"/>
              <a:t> </a:t>
            </a:r>
            <a:r>
              <a:rPr kumimoji="1" lang="en-US" altLang="zh-CN" dirty="0"/>
              <a:t>OS</a:t>
            </a:r>
            <a:r>
              <a:rPr kumimoji="1" lang="zh-CN" altLang="en-US" dirty="0"/>
              <a:t> </a:t>
            </a:r>
            <a:r>
              <a:rPr kumimoji="1" lang="en-US" altLang="zh-CN" dirty="0"/>
              <a:t>Interface</a:t>
            </a:r>
            <a:r>
              <a:rPr kumimoji="1" lang="zh-CN" altLang="en-US" dirty="0"/>
              <a:t> </a:t>
            </a:r>
            <a:r>
              <a:rPr kumimoji="1" lang="en-US" altLang="zh-CN" dirty="0"/>
              <a:t>for</a:t>
            </a:r>
            <a:r>
              <a:rPr kumimoji="1" lang="zh-CN" altLang="en-US" dirty="0"/>
              <a:t> </a:t>
            </a:r>
            <a:r>
              <a:rPr kumimoji="1" lang="en-US" altLang="zh-CN" dirty="0"/>
              <a:t>Applications</a:t>
            </a:r>
          </a:p>
        </p:txBody>
      </p:sp>
      <p:sp>
        <p:nvSpPr>
          <p:cNvPr id="7" name="灯片编号占位符 3">
            <a:extLst>
              <a:ext uri="{FF2B5EF4-FFF2-40B4-BE49-F238E27FC236}">
                <a16:creationId xmlns:a16="http://schemas.microsoft.com/office/drawing/2014/main" id="{BE3D6DD5-08A6-3543-A186-F75190C562F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20</a:t>
            </a:fld>
            <a:endParaRPr lang="zh-CN" altLang="en-US"/>
          </a:p>
        </p:txBody>
      </p:sp>
      <p:sp>
        <p:nvSpPr>
          <p:cNvPr id="8" name="页脚占位符 4">
            <a:extLst>
              <a:ext uri="{FF2B5EF4-FFF2-40B4-BE49-F238E27FC236}">
                <a16:creationId xmlns:a16="http://schemas.microsoft.com/office/drawing/2014/main" id="{EFF54DF8-527A-8F4F-9716-ED3476A0A660}"/>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418005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E4C0C7-D780-6E49-8AAD-A98382154C16}"/>
              </a:ext>
            </a:extLst>
          </p:cNvPr>
          <p:cNvSpPr>
            <a:spLocks noGrp="1"/>
          </p:cNvSpPr>
          <p:nvPr>
            <p:ph type="title"/>
          </p:nvPr>
        </p:nvSpPr>
        <p:spPr/>
        <p:txBody>
          <a:bodyPr>
            <a:normAutofit/>
          </a:bodyPr>
          <a:lstStyle/>
          <a:p>
            <a:r>
              <a:rPr kumimoji="1" lang="zh-CN" altLang="en-US" sz="3200" dirty="0"/>
              <a:t>极低时延应用对操作系统的新要求</a:t>
            </a:r>
          </a:p>
        </p:txBody>
      </p:sp>
      <p:sp>
        <p:nvSpPr>
          <p:cNvPr id="5" name="Rectangle 14">
            <a:extLst>
              <a:ext uri="{FF2B5EF4-FFF2-40B4-BE49-F238E27FC236}">
                <a16:creationId xmlns:a16="http://schemas.microsoft.com/office/drawing/2014/main" id="{69614688-EC9D-5A45-B1C2-7ED264A46A40}"/>
              </a:ext>
            </a:extLst>
          </p:cNvPr>
          <p:cNvSpPr/>
          <p:nvPr/>
        </p:nvSpPr>
        <p:spPr>
          <a:xfrm>
            <a:off x="114645" y="3795791"/>
            <a:ext cx="3511443" cy="1618456"/>
          </a:xfrm>
          <a:prstGeom prst="rect">
            <a:avLst/>
          </a:prstGeom>
        </p:spPr>
        <p:txBody>
          <a:bodyPr wrap="square">
            <a:spAutoFit/>
          </a:bodyPr>
          <a:lstStyle/>
          <a:p>
            <a:pPr>
              <a:lnSpc>
                <a:spcPct val="120000"/>
              </a:lnSpc>
            </a:pPr>
            <a:r>
              <a:rPr lang="zh-CN" altLang="en-US" sz="2000" b="1" dirty="0">
                <a:latin typeface="微软雅黑" panose="020B0503020204020204" pitchFamily="34" charset="-122"/>
                <a:ea typeface="微软雅黑" panose="020B0503020204020204" pitchFamily="34" charset="-122"/>
              </a:rPr>
              <a:t>任天堂</a:t>
            </a:r>
            <a:r>
              <a:rPr lang="zh-CN" altLang="en-US" sz="2000" dirty="0">
                <a:latin typeface="微软雅黑" panose="020B0503020204020204" pitchFamily="34" charset="-122"/>
                <a:ea typeface="微软雅黑" panose="020B0503020204020204" pitchFamily="34" charset="-122"/>
              </a:rPr>
              <a:t>总裁岩田聪</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539750" indent="-357188">
              <a:lnSpc>
                <a:spcPct val="120000"/>
              </a:lnSpc>
              <a:buClr>
                <a:srgbClr val="FF0066"/>
              </a:buClr>
              <a:buSzPct val="80000"/>
              <a:buFont typeface="Century Gothic" panose="020B0502020202020204" pitchFamily="34" charset="0"/>
              <a:buChar char="►"/>
            </a:pPr>
            <a:r>
              <a:rPr lang="zh-CN" altLang="en-US" sz="1600" dirty="0">
                <a:latin typeface="微软雅黑" panose="020B0503020204020204" pitchFamily="34" charset="-122"/>
                <a:ea typeface="微软雅黑" panose="020B0503020204020204" pitchFamily="34" charset="-122"/>
              </a:rPr>
              <a:t>电子娱乐交互体验中最重要的是用户能够得到</a:t>
            </a:r>
            <a:r>
              <a:rPr lang="zh-CN" altLang="en-US" sz="1600" b="1" dirty="0">
                <a:latin typeface="微软雅黑" panose="020B0503020204020204" pitchFamily="34" charset="-122"/>
                <a:ea typeface="微软雅黑" panose="020B0503020204020204" pitchFamily="34" charset="-122"/>
              </a:rPr>
              <a:t>快速响应</a:t>
            </a:r>
            <a:endParaRPr lang="en-US" altLang="zh-CN" sz="1600" b="1" dirty="0">
              <a:latin typeface="微软雅黑" panose="020B0503020204020204" pitchFamily="34" charset="-122"/>
              <a:ea typeface="微软雅黑" panose="020B0503020204020204" pitchFamily="34" charset="-122"/>
            </a:endParaRPr>
          </a:p>
          <a:p>
            <a:pPr marL="539750" indent="-357188">
              <a:lnSpc>
                <a:spcPct val="120000"/>
              </a:lnSpc>
              <a:buClr>
                <a:srgbClr val="FF0066"/>
              </a:buClr>
              <a:buSzPct val="80000"/>
              <a:buFont typeface="Century Gothic" panose="020B0502020202020204" pitchFamily="34" charset="0"/>
              <a:buChar char="►"/>
            </a:pPr>
            <a:r>
              <a:rPr lang="zh-CN" altLang="en-US" sz="1600" dirty="0">
                <a:latin typeface="微软雅黑" panose="020B0503020204020204" pitchFamily="34" charset="-122"/>
                <a:ea typeface="微软雅黑" panose="020B0503020204020204" pitchFamily="34" charset="-122"/>
              </a:rPr>
              <a:t>目前云计算还难以满足游戏平台的</a:t>
            </a:r>
            <a:r>
              <a:rPr lang="zh-Hans" altLang="en-US" sz="1600" b="1" dirty="0">
                <a:latin typeface="微软雅黑" panose="020B0503020204020204" pitchFamily="34" charset="-122"/>
                <a:ea typeface="微软雅黑" panose="020B0503020204020204" pitchFamily="34" charset="-122"/>
              </a:rPr>
              <a:t>低</a:t>
            </a:r>
            <a:r>
              <a:rPr lang="zh-CN" altLang="en-US" sz="1600" b="1" dirty="0">
                <a:latin typeface="微软雅黑" panose="020B0503020204020204" pitchFamily="34" charset="-122"/>
                <a:ea typeface="微软雅黑" panose="020B0503020204020204" pitchFamily="34" charset="-122"/>
              </a:rPr>
              <a:t>时延需求</a:t>
            </a:r>
            <a:endParaRPr lang="en-US" altLang="zh-CN" sz="1600" b="1" dirty="0">
              <a:latin typeface="微软雅黑" panose="020B0503020204020204" pitchFamily="34" charset="-122"/>
              <a:ea typeface="微软雅黑" panose="020B0503020204020204" pitchFamily="34" charset="-122"/>
            </a:endParaRPr>
          </a:p>
        </p:txBody>
      </p:sp>
      <p:pic>
        <p:nvPicPr>
          <p:cNvPr id="6" name="Picture 19">
            <a:extLst>
              <a:ext uri="{FF2B5EF4-FFF2-40B4-BE49-F238E27FC236}">
                <a16:creationId xmlns:a16="http://schemas.microsoft.com/office/drawing/2014/main" id="{AA8A1BD9-CC08-B74D-9D0F-9CD3F25B9E54}"/>
              </a:ext>
            </a:extLst>
          </p:cNvPr>
          <p:cNvPicPr>
            <a:picLocks noChangeAspect="1"/>
          </p:cNvPicPr>
          <p:nvPr/>
        </p:nvPicPr>
        <p:blipFill rotWithShape="1">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3331912" y="3677730"/>
            <a:ext cx="898634" cy="840926"/>
          </a:xfrm>
          <a:prstGeom prst="rect">
            <a:avLst/>
          </a:prstGeom>
        </p:spPr>
      </p:pic>
      <p:grpSp>
        <p:nvGrpSpPr>
          <p:cNvPr id="7" name="Group 1">
            <a:extLst>
              <a:ext uri="{FF2B5EF4-FFF2-40B4-BE49-F238E27FC236}">
                <a16:creationId xmlns:a16="http://schemas.microsoft.com/office/drawing/2014/main" id="{63A7C295-89B2-524F-AA8D-DEF5EE81E18D}"/>
              </a:ext>
            </a:extLst>
          </p:cNvPr>
          <p:cNvGrpSpPr/>
          <p:nvPr/>
        </p:nvGrpSpPr>
        <p:grpSpPr>
          <a:xfrm>
            <a:off x="4499992" y="1140341"/>
            <a:ext cx="4104456" cy="2502486"/>
            <a:chOff x="4126942" y="1527114"/>
            <a:chExt cx="4255124" cy="2594348"/>
          </a:xfrm>
        </p:grpSpPr>
        <p:sp>
          <p:nvSpPr>
            <p:cNvPr id="8" name="TextBox 3">
              <a:extLst>
                <a:ext uri="{FF2B5EF4-FFF2-40B4-BE49-F238E27FC236}">
                  <a16:creationId xmlns:a16="http://schemas.microsoft.com/office/drawing/2014/main" id="{8A026579-5CB4-1D42-9DBB-C1B582591BB4}"/>
                </a:ext>
              </a:extLst>
            </p:cNvPr>
            <p:cNvSpPr txBox="1"/>
            <p:nvPr/>
          </p:nvSpPr>
          <p:spPr>
            <a:xfrm>
              <a:off x="4758107" y="1527114"/>
              <a:ext cx="3305913" cy="797686"/>
            </a:xfrm>
            <a:prstGeom prst="rect">
              <a:avLst/>
            </a:prstGeom>
            <a:solidFill>
              <a:schemeClr val="accent4">
                <a:lumMod val="20000"/>
                <a:lumOff val="80000"/>
              </a:schemeClr>
            </a:solidFill>
            <a:ln w="28575">
              <a:solidFill>
                <a:srgbClr val="0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b="1" dirty="0">
                  <a:latin typeface="微软雅黑" panose="020B0503020204020204" pitchFamily="34" charset="-122"/>
                  <a:ea typeface="微软雅黑" panose="020B0503020204020204" pitchFamily="34" charset="-122"/>
                </a:rPr>
                <a:t>应用时延需求</a:t>
              </a:r>
              <a:endParaRPr lang="en-US" altLang="zh-CN"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          从</a:t>
              </a:r>
              <a:r>
                <a:rPr lang="zh-CN" altLang="en-US" sz="2400" b="1" dirty="0">
                  <a:solidFill>
                    <a:srgbClr val="FF0066"/>
                  </a:solidFill>
                  <a:latin typeface="微软雅黑" panose="020B0503020204020204" pitchFamily="34" charset="-122"/>
                  <a:ea typeface="微软雅黑" panose="020B0503020204020204" pitchFamily="34" charset="-122"/>
                </a:rPr>
                <a:t>秒</a:t>
              </a:r>
              <a:r>
                <a:rPr lang="zh-CN" altLang="en-US" sz="2000" b="1" dirty="0">
                  <a:solidFill>
                    <a:schemeClr val="tx1"/>
                  </a:solidFill>
                  <a:latin typeface="微软雅黑" panose="020B0503020204020204" pitchFamily="34" charset="-122"/>
                  <a:ea typeface="微软雅黑" panose="020B0503020204020204" pitchFamily="34" charset="-122"/>
                </a:rPr>
                <a:t>级</a:t>
              </a:r>
              <a:r>
                <a:rPr lang="zh-CN" altLang="en-US" sz="2000" b="1" dirty="0">
                  <a:latin typeface="微软雅黑" panose="020B0503020204020204" pitchFamily="34" charset="-122"/>
                  <a:ea typeface="微软雅黑" panose="020B0503020204020204" pitchFamily="34" charset="-122"/>
                </a:rPr>
                <a:t>走向</a:t>
              </a:r>
              <a:r>
                <a:rPr lang="zh-Hans" altLang="en-US" sz="2400" b="1" dirty="0">
                  <a:solidFill>
                    <a:srgbClr val="FF0066"/>
                  </a:solidFill>
                  <a:latin typeface="微软雅黑" panose="020B0503020204020204" pitchFamily="34" charset="-122"/>
                  <a:ea typeface="微软雅黑" panose="020B0503020204020204" pitchFamily="34" charset="-122"/>
                </a:rPr>
                <a:t>微</a:t>
              </a:r>
              <a:r>
                <a:rPr lang="zh-CN" altLang="en-US" sz="2400" b="1" dirty="0">
                  <a:solidFill>
                    <a:srgbClr val="FF0066"/>
                  </a:solidFill>
                  <a:latin typeface="微软雅黑" panose="020B0503020204020204" pitchFamily="34" charset="-122"/>
                  <a:ea typeface="微软雅黑" panose="020B0503020204020204" pitchFamily="34" charset="-122"/>
                </a:rPr>
                <a:t>秒</a:t>
              </a:r>
              <a:r>
                <a:rPr lang="zh-CN" altLang="en-US" sz="2000" b="1" dirty="0">
                  <a:solidFill>
                    <a:schemeClr val="tx1"/>
                  </a:solidFill>
                  <a:latin typeface="微软雅黑" panose="020B0503020204020204" pitchFamily="34" charset="-122"/>
                  <a:ea typeface="微软雅黑" panose="020B0503020204020204" pitchFamily="34" charset="-122"/>
                </a:rPr>
                <a:t>级</a:t>
              </a:r>
              <a:endParaRPr lang="en-US" sz="2400" b="1" dirty="0">
                <a:solidFill>
                  <a:schemeClr val="tx1"/>
                </a:solidFill>
                <a:latin typeface="微软雅黑" panose="020B0503020204020204" pitchFamily="34" charset="-122"/>
                <a:ea typeface="微软雅黑" panose="020B0503020204020204" pitchFamily="34" charset="-122"/>
              </a:endParaRPr>
            </a:p>
          </p:txBody>
        </p:sp>
        <p:graphicFrame>
          <p:nvGraphicFramePr>
            <p:cNvPr id="9" name="Chart 6">
              <a:extLst>
                <a:ext uri="{FF2B5EF4-FFF2-40B4-BE49-F238E27FC236}">
                  <a16:creationId xmlns:a16="http://schemas.microsoft.com/office/drawing/2014/main" id="{A69D8CA1-E1B0-E043-AAA2-47FEDFD2649B}"/>
                </a:ext>
              </a:extLst>
            </p:cNvPr>
            <p:cNvGraphicFramePr/>
            <p:nvPr/>
          </p:nvGraphicFramePr>
          <p:xfrm>
            <a:off x="4126942" y="1907883"/>
            <a:ext cx="4255124" cy="2213579"/>
          </p:xfrm>
          <a:graphic>
            <a:graphicData uri="http://schemas.openxmlformats.org/drawingml/2006/chart">
              <c:chart xmlns:c="http://schemas.openxmlformats.org/drawingml/2006/chart" xmlns:r="http://schemas.openxmlformats.org/officeDocument/2006/relationships" r:id="rId3"/>
            </a:graphicData>
          </a:graphic>
        </p:graphicFrame>
      </p:grpSp>
      <p:sp>
        <p:nvSpPr>
          <p:cNvPr id="10" name="TextBox 1">
            <a:extLst>
              <a:ext uri="{FF2B5EF4-FFF2-40B4-BE49-F238E27FC236}">
                <a16:creationId xmlns:a16="http://schemas.microsoft.com/office/drawing/2014/main" id="{92CDF695-237A-9947-AAAA-0992AE1EE986}"/>
              </a:ext>
            </a:extLst>
          </p:cNvPr>
          <p:cNvSpPr txBox="1"/>
          <p:nvPr/>
        </p:nvSpPr>
        <p:spPr>
          <a:xfrm>
            <a:off x="5108808" y="3372589"/>
            <a:ext cx="492443" cy="276999"/>
          </a:xfrm>
          <a:prstGeom prst="rect">
            <a:avLst/>
          </a:prstGeom>
          <a:noFill/>
        </p:spPr>
        <p:txBody>
          <a:bodyPr wrap="none" rtlCol="0">
            <a:spAutoFit/>
          </a:bodyPr>
          <a:lstStyle/>
          <a:p>
            <a:r>
              <a:rPr lang="zh-CN" altLang="en-US" sz="1200" dirty="0">
                <a:solidFill>
                  <a:srgbClr val="FF0066"/>
                </a:solidFill>
                <a:latin typeface="微软雅黑" panose="020B0503020204020204" pitchFamily="34" charset="-122"/>
                <a:ea typeface="微软雅黑" panose="020B0503020204020204" pitchFamily="34" charset="-122"/>
              </a:rPr>
              <a:t>微秒</a:t>
            </a:r>
          </a:p>
        </p:txBody>
      </p:sp>
      <p:pic>
        <p:nvPicPr>
          <p:cNvPr id="11" name="Picture 14" descr="http://blog.hostonnet.com/wp-content/uploads/2014/10/Amazon.png">
            <a:extLst>
              <a:ext uri="{FF2B5EF4-FFF2-40B4-BE49-F238E27FC236}">
                <a16:creationId xmlns:a16="http://schemas.microsoft.com/office/drawing/2014/main" id="{BC049693-2BEA-274C-860D-E5A2BE7CAF65}"/>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811813" y="1233933"/>
            <a:ext cx="1223897" cy="710849"/>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30">
            <a:extLst>
              <a:ext uri="{FF2B5EF4-FFF2-40B4-BE49-F238E27FC236}">
                <a16:creationId xmlns:a16="http://schemas.microsoft.com/office/drawing/2014/main" id="{CF849302-1376-E248-ADA7-D66A01E9CF51}"/>
              </a:ext>
            </a:extLst>
          </p:cNvPr>
          <p:cNvSpPr/>
          <p:nvPr/>
        </p:nvSpPr>
        <p:spPr>
          <a:xfrm>
            <a:off x="299967" y="1747102"/>
            <a:ext cx="3204000" cy="215444"/>
          </a:xfrm>
          <a:prstGeom prst="rect">
            <a:avLst/>
          </a:prstGeom>
        </p:spPr>
        <p:txBody>
          <a:bodyPr wrap="square">
            <a:spAutoFit/>
          </a:bodyPr>
          <a:lstStyle/>
          <a:p>
            <a:pPr lvl="0"/>
            <a:r>
              <a:rPr lang="zh-CN" altLang="en-US" sz="800" kern="0" dirty="0">
                <a:solidFill>
                  <a:srgbClr val="0C63C2"/>
                </a:solidFill>
                <a:uFill>
                  <a:solidFill>
                    <a:srgbClr val="0C63C2"/>
                  </a:solidFill>
                </a:uFill>
                <a:latin typeface="+mj-ea"/>
                <a:ea typeface="+mj-ea"/>
              </a:rPr>
              <a:t>数据来源</a:t>
            </a:r>
            <a:r>
              <a:rPr lang="en-US" sz="800" kern="0" dirty="0">
                <a:solidFill>
                  <a:srgbClr val="0C63C2"/>
                </a:solidFill>
                <a:uFill>
                  <a:solidFill>
                    <a:srgbClr val="0C63C2"/>
                  </a:solidFill>
                </a:uFill>
                <a:latin typeface="+mj-ea"/>
                <a:ea typeface="+mj-ea"/>
              </a:rPr>
              <a:t>: </a:t>
            </a:r>
            <a:r>
              <a:rPr lang="en-US" sz="800" u="sng" kern="0" dirty="0">
                <a:solidFill>
                  <a:srgbClr val="0C63C2"/>
                </a:solidFill>
                <a:uFill>
                  <a:solidFill>
                    <a:srgbClr val="0C63C2"/>
                  </a:solidFill>
                </a:uFill>
                <a:latin typeface="+mj-ea"/>
                <a:ea typeface="+mj-ea"/>
              </a:rPr>
              <a:t>http://</a:t>
            </a:r>
            <a:r>
              <a:rPr lang="en-US" sz="800" u="sng" kern="0" dirty="0" err="1">
                <a:solidFill>
                  <a:srgbClr val="0C63C2"/>
                </a:solidFill>
                <a:uFill>
                  <a:solidFill>
                    <a:srgbClr val="0C63C2"/>
                  </a:solidFill>
                </a:uFill>
                <a:latin typeface="+mj-ea"/>
                <a:ea typeface="+mj-ea"/>
              </a:rPr>
              <a:t>www.telx.com</a:t>
            </a:r>
            <a:r>
              <a:rPr lang="en-US" sz="800" u="sng" kern="0" dirty="0">
                <a:solidFill>
                  <a:srgbClr val="0C63C2"/>
                </a:solidFill>
                <a:uFill>
                  <a:solidFill>
                    <a:srgbClr val="0C63C2"/>
                  </a:solidFill>
                </a:uFill>
                <a:latin typeface="+mj-ea"/>
                <a:ea typeface="+mj-ea"/>
              </a:rPr>
              <a:t>/blog/the-cost-of-latency/</a:t>
            </a:r>
            <a:endParaRPr lang="en-US" sz="800" kern="100" dirty="0">
              <a:effectLst/>
              <a:latin typeface="+mj-ea"/>
              <a:ea typeface="+mj-ea"/>
            </a:endParaRPr>
          </a:p>
        </p:txBody>
      </p:sp>
      <p:pic>
        <p:nvPicPr>
          <p:cNvPr id="13" name="Picture 6" descr="http://insideofknoxville.com/wp-content/uploads/2013/12/make-google-default-search-engine-icon.png">
            <a:extLst>
              <a:ext uri="{FF2B5EF4-FFF2-40B4-BE49-F238E27FC236}">
                <a16:creationId xmlns:a16="http://schemas.microsoft.com/office/drawing/2014/main" id="{518495CE-165C-384A-8B2D-4D98214EABF4}"/>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724294" y="2344296"/>
            <a:ext cx="1100030" cy="862846"/>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34">
            <a:extLst>
              <a:ext uri="{FF2B5EF4-FFF2-40B4-BE49-F238E27FC236}">
                <a16:creationId xmlns:a16="http://schemas.microsoft.com/office/drawing/2014/main" id="{CB6E72DC-8D4B-5C44-A4DF-3D6B42F23E73}"/>
              </a:ext>
            </a:extLst>
          </p:cNvPr>
          <p:cNvSpPr/>
          <p:nvPr/>
        </p:nvSpPr>
        <p:spPr>
          <a:xfrm>
            <a:off x="706043" y="2044473"/>
            <a:ext cx="2685165" cy="1200329"/>
          </a:xfrm>
          <a:prstGeom prst="rect">
            <a:avLst/>
          </a:prstGeom>
        </p:spPr>
        <p:txBody>
          <a:bodyPr wrap="square">
            <a:spAutoFit/>
          </a:bodyPr>
          <a:lstStyle/>
          <a:p>
            <a:pPr>
              <a:lnSpc>
                <a:spcPct val="150000"/>
              </a:lnSpc>
            </a:pPr>
            <a:r>
              <a:rPr lang="zh-CN" altLang="en-US" sz="2400" dirty="0">
                <a:latin typeface="+mn-ea"/>
              </a:rPr>
              <a:t>每</a:t>
            </a:r>
            <a:r>
              <a:rPr lang="en-US" sz="2400" dirty="0">
                <a:solidFill>
                  <a:srgbClr val="0000FF"/>
                </a:solidFill>
                <a:latin typeface="+mn-ea"/>
              </a:rPr>
              <a:t>500ms</a:t>
            </a:r>
            <a:r>
              <a:rPr lang="zh-CN" altLang="en-US" sz="2400" dirty="0">
                <a:latin typeface="+mn-ea"/>
              </a:rPr>
              <a:t>延迟</a:t>
            </a:r>
            <a:r>
              <a:rPr lang="en-US" sz="2400" dirty="0">
                <a:solidFill>
                  <a:srgbClr val="0000FF"/>
                </a:solidFill>
                <a:latin typeface="+mn-ea"/>
              </a:rPr>
              <a:t>    </a:t>
            </a:r>
          </a:p>
          <a:p>
            <a:pPr>
              <a:lnSpc>
                <a:spcPct val="150000"/>
              </a:lnSpc>
            </a:pPr>
            <a:r>
              <a:rPr lang="en-US" sz="2400" dirty="0">
                <a:solidFill>
                  <a:srgbClr val="0000FF"/>
                </a:solidFill>
                <a:latin typeface="+mn-ea"/>
                <a:sym typeface="Wingdings" panose="05000000000000000000" pitchFamily="2" charset="2"/>
              </a:rPr>
              <a:t>         $</a:t>
            </a:r>
            <a:r>
              <a:rPr lang="en-US" altLang="zh-CN" sz="2400" dirty="0">
                <a:solidFill>
                  <a:srgbClr val="0000FF"/>
                </a:solidFill>
                <a:latin typeface="+mn-ea"/>
                <a:sym typeface="Wingdings" panose="05000000000000000000" pitchFamily="2" charset="2"/>
              </a:rPr>
              <a:t>35</a:t>
            </a:r>
            <a:r>
              <a:rPr lang="zh-CN" altLang="en-US" sz="2400" dirty="0">
                <a:solidFill>
                  <a:srgbClr val="0000FF"/>
                </a:solidFill>
                <a:latin typeface="+mn-ea"/>
                <a:sym typeface="Wingdings" panose="05000000000000000000" pitchFamily="2" charset="2"/>
              </a:rPr>
              <a:t>亿</a:t>
            </a:r>
            <a:endParaRPr lang="en-US" sz="2400" dirty="0">
              <a:solidFill>
                <a:srgbClr val="0000FF"/>
              </a:solidFill>
              <a:latin typeface="+mn-ea"/>
            </a:endParaRPr>
          </a:p>
        </p:txBody>
      </p:sp>
      <p:sp>
        <p:nvSpPr>
          <p:cNvPr id="15" name="Rectangle 35">
            <a:extLst>
              <a:ext uri="{FF2B5EF4-FFF2-40B4-BE49-F238E27FC236}">
                <a16:creationId xmlns:a16="http://schemas.microsoft.com/office/drawing/2014/main" id="{C68E2440-261E-6F4F-BECE-748B90D625FF}"/>
              </a:ext>
            </a:extLst>
          </p:cNvPr>
          <p:cNvSpPr/>
          <p:nvPr/>
        </p:nvSpPr>
        <p:spPr>
          <a:xfrm>
            <a:off x="299967" y="3167018"/>
            <a:ext cx="3204000" cy="338554"/>
          </a:xfrm>
          <a:prstGeom prst="rect">
            <a:avLst/>
          </a:prstGeom>
        </p:spPr>
        <p:txBody>
          <a:bodyPr wrap="square">
            <a:spAutoFit/>
          </a:bodyPr>
          <a:lstStyle/>
          <a:p>
            <a:pPr lvl="0"/>
            <a:r>
              <a:rPr lang="zh-CN" altLang="en-US" sz="800" kern="0" dirty="0">
                <a:solidFill>
                  <a:srgbClr val="0C63C2"/>
                </a:solidFill>
                <a:uFill>
                  <a:solidFill>
                    <a:srgbClr val="0C63C2"/>
                  </a:solidFill>
                </a:uFill>
                <a:latin typeface="+mj-ea"/>
                <a:ea typeface="+mj-ea"/>
              </a:rPr>
              <a:t>数据来源</a:t>
            </a:r>
            <a:r>
              <a:rPr lang="en-US" altLang="zh-CN" sz="800" kern="0" dirty="0">
                <a:solidFill>
                  <a:srgbClr val="0C63C2"/>
                </a:solidFill>
                <a:uFill>
                  <a:solidFill>
                    <a:srgbClr val="0C63C2"/>
                  </a:solidFill>
                </a:uFill>
                <a:latin typeface="+mj-ea"/>
                <a:ea typeface="+mj-ea"/>
              </a:rPr>
              <a:t>: </a:t>
            </a:r>
            <a:r>
              <a:rPr lang="en-US" sz="800" u="sng" kern="0" dirty="0">
                <a:solidFill>
                  <a:srgbClr val="0C63C2"/>
                </a:solidFill>
                <a:uFill>
                  <a:solidFill>
                    <a:srgbClr val="0C63C2"/>
                  </a:solidFill>
                </a:uFill>
                <a:latin typeface="+mj-ea"/>
                <a:ea typeface="+mj-ea"/>
              </a:rPr>
              <a:t>http://</a:t>
            </a:r>
            <a:r>
              <a:rPr lang="en-US" sz="800" u="sng" kern="0" dirty="0" err="1">
                <a:solidFill>
                  <a:srgbClr val="0C63C2"/>
                </a:solidFill>
                <a:uFill>
                  <a:solidFill>
                    <a:srgbClr val="0C63C2"/>
                  </a:solidFill>
                </a:uFill>
                <a:latin typeface="+mj-ea"/>
                <a:ea typeface="+mj-ea"/>
              </a:rPr>
              <a:t>glinden.blogspot.jp</a:t>
            </a:r>
            <a:r>
              <a:rPr lang="en-US" sz="800" u="sng" kern="0" dirty="0">
                <a:solidFill>
                  <a:srgbClr val="0C63C2"/>
                </a:solidFill>
                <a:uFill>
                  <a:solidFill>
                    <a:srgbClr val="0C63C2"/>
                  </a:solidFill>
                </a:uFill>
                <a:latin typeface="+mj-ea"/>
                <a:ea typeface="+mj-ea"/>
              </a:rPr>
              <a:t>/2006/11/marissa-mayer-at-web-20.html/</a:t>
            </a:r>
            <a:endParaRPr lang="en-US" sz="800" kern="100" dirty="0">
              <a:effectLst/>
              <a:latin typeface="+mj-ea"/>
              <a:ea typeface="+mj-ea"/>
            </a:endParaRPr>
          </a:p>
        </p:txBody>
      </p:sp>
      <p:pic>
        <p:nvPicPr>
          <p:cNvPr id="16" name="Picture 18" descr="http://www.clker.com/cliparts/C/7/H/c/x/7/plain-red-arrow-up-hi.png">
            <a:extLst>
              <a:ext uri="{FF2B5EF4-FFF2-40B4-BE49-F238E27FC236}">
                <a16:creationId xmlns:a16="http://schemas.microsoft.com/office/drawing/2014/main" id="{0319682F-3486-FA4C-91A3-CCA758FF43BC}"/>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rot="10800000">
            <a:off x="653504" y="1200682"/>
            <a:ext cx="590836" cy="5760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8" descr="http://www.clker.com/cliparts/C/7/H/c/x/7/plain-red-arrow-up-hi.png">
            <a:extLst>
              <a:ext uri="{FF2B5EF4-FFF2-40B4-BE49-F238E27FC236}">
                <a16:creationId xmlns:a16="http://schemas.microsoft.com/office/drawing/2014/main" id="{A2EEC993-0F59-BB47-8BB8-02B02C900F4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rot="10800000">
            <a:off x="653504" y="2644638"/>
            <a:ext cx="590836" cy="576000"/>
          </a:xfrm>
          <a:prstGeom prst="rect">
            <a:avLst/>
          </a:prstGeom>
          <a:noFill/>
          <a:extLst>
            <a:ext uri="{909E8E84-426E-40DD-AFC4-6F175D3DCCD1}">
              <a14:hiddenFill xmlns:a14="http://schemas.microsoft.com/office/drawing/2010/main">
                <a:solidFill>
                  <a:srgbClr val="FFFFFF"/>
                </a:solidFill>
              </a14:hiddenFill>
            </a:ext>
          </a:extLst>
        </p:spPr>
      </p:pic>
      <p:pic>
        <p:nvPicPr>
          <p:cNvPr id="18" name="图片 17">
            <a:extLst>
              <a:ext uri="{FF2B5EF4-FFF2-40B4-BE49-F238E27FC236}">
                <a16:creationId xmlns:a16="http://schemas.microsoft.com/office/drawing/2014/main" id="{EB8A942B-5B5D-684E-A54E-CDD993C9D64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724128" y="3721596"/>
            <a:ext cx="2357511" cy="1412018"/>
          </a:xfrm>
          <a:prstGeom prst="rect">
            <a:avLst/>
          </a:prstGeom>
        </p:spPr>
      </p:pic>
      <p:sp>
        <p:nvSpPr>
          <p:cNvPr id="19" name="文本框 18">
            <a:extLst>
              <a:ext uri="{FF2B5EF4-FFF2-40B4-BE49-F238E27FC236}">
                <a16:creationId xmlns:a16="http://schemas.microsoft.com/office/drawing/2014/main" id="{CA4C1B1C-CCD5-6B4B-8D59-5ADF358706E7}"/>
              </a:ext>
            </a:extLst>
          </p:cNvPr>
          <p:cNvSpPr txBox="1"/>
          <p:nvPr/>
        </p:nvSpPr>
        <p:spPr>
          <a:xfrm>
            <a:off x="35169" y="3892062"/>
            <a:ext cx="184731" cy="369332"/>
          </a:xfrm>
          <a:prstGeom prst="rect">
            <a:avLst/>
          </a:prstGeom>
          <a:noFill/>
        </p:spPr>
        <p:txBody>
          <a:bodyPr wrap="none" rtlCol="0">
            <a:spAutoFit/>
          </a:bodyPr>
          <a:lstStyle/>
          <a:p>
            <a:endParaRPr kumimoji="1" lang="zh-CN" altLang="en-US" dirty="0"/>
          </a:p>
        </p:txBody>
      </p:sp>
      <p:sp>
        <p:nvSpPr>
          <p:cNvPr id="20" name="灯片编号占位符 3">
            <a:extLst>
              <a:ext uri="{FF2B5EF4-FFF2-40B4-BE49-F238E27FC236}">
                <a16:creationId xmlns:a16="http://schemas.microsoft.com/office/drawing/2014/main" id="{9E6C5499-71A1-2845-A308-20AE76EA1411}"/>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21</a:t>
            </a:fld>
            <a:endParaRPr lang="zh-CN" altLang="en-US" dirty="0"/>
          </a:p>
        </p:txBody>
      </p:sp>
      <p:sp>
        <p:nvSpPr>
          <p:cNvPr id="21" name="页脚占位符 4">
            <a:extLst>
              <a:ext uri="{FF2B5EF4-FFF2-40B4-BE49-F238E27FC236}">
                <a16:creationId xmlns:a16="http://schemas.microsoft.com/office/drawing/2014/main" id="{591C3535-B91D-E24F-9C07-BD5373EA07B9}"/>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850550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AE429F-C75F-E84C-B412-3AE862CE226D}"/>
              </a:ext>
            </a:extLst>
          </p:cNvPr>
          <p:cNvSpPr>
            <a:spLocks noGrp="1"/>
          </p:cNvSpPr>
          <p:nvPr>
            <p:ph type="title"/>
          </p:nvPr>
        </p:nvSpPr>
        <p:spPr/>
        <p:txBody>
          <a:bodyPr>
            <a:normAutofit/>
          </a:bodyPr>
          <a:lstStyle/>
          <a:p>
            <a:r>
              <a:rPr kumimoji="1" lang="zh-CN" altLang="en-US" sz="3200" dirty="0"/>
              <a:t>极低时延应用对操作系统的新要求</a:t>
            </a:r>
          </a:p>
        </p:txBody>
      </p:sp>
      <p:sp>
        <p:nvSpPr>
          <p:cNvPr id="4" name="灯片编号占位符 3">
            <a:extLst>
              <a:ext uri="{FF2B5EF4-FFF2-40B4-BE49-F238E27FC236}">
                <a16:creationId xmlns:a16="http://schemas.microsoft.com/office/drawing/2014/main" id="{D25F7E4E-AE1A-CD45-919C-A33ADC671AFA}"/>
              </a:ext>
            </a:extLst>
          </p:cNvPr>
          <p:cNvSpPr>
            <a:spLocks noGrp="1"/>
          </p:cNvSpPr>
          <p:nvPr>
            <p:ph type="sldNum" sz="quarter" idx="12"/>
          </p:nvPr>
        </p:nvSpPr>
        <p:spPr/>
        <p:txBody>
          <a:bodyPr/>
          <a:lstStyle/>
          <a:p>
            <a:fld id="{ADE361C3-C043-4A6E-BDCE-8DA1E7D90A3B}" type="slidenum">
              <a:rPr lang="zh-CN" altLang="en-US" smtClean="0"/>
              <a:t>22</a:t>
            </a:fld>
            <a:endParaRPr lang="zh-CN" altLang="en-US" dirty="0"/>
          </a:p>
        </p:txBody>
      </p:sp>
      <p:sp>
        <p:nvSpPr>
          <p:cNvPr id="5" name="内容占位符 2">
            <a:extLst>
              <a:ext uri="{FF2B5EF4-FFF2-40B4-BE49-F238E27FC236}">
                <a16:creationId xmlns:a16="http://schemas.microsoft.com/office/drawing/2014/main" id="{EA8E66ED-A56F-114B-99C5-9D2B594C1FA0}"/>
              </a:ext>
            </a:extLst>
          </p:cNvPr>
          <p:cNvSpPr>
            <a:spLocks noGrp="1"/>
          </p:cNvSpPr>
          <p:nvPr>
            <p:ph idx="1"/>
          </p:nvPr>
        </p:nvSpPr>
        <p:spPr/>
        <p:txBody>
          <a:bodyPr/>
          <a:lstStyle/>
          <a:p>
            <a:r>
              <a:rPr kumimoji="1" lang="zh-CN" altLang="en-US" sz="2200" dirty="0"/>
              <a:t>随着网络时延的降低，操作系统提供的服务和抽象成为了瓶颈</a:t>
            </a:r>
            <a:endParaRPr kumimoji="1" lang="en-US" altLang="zh-CN" sz="2200" dirty="0"/>
          </a:p>
          <a:p>
            <a:pPr lvl="1"/>
            <a:r>
              <a:rPr kumimoji="1" lang="zh-CN" altLang="en-US" sz="1800" dirty="0"/>
              <a:t>操作系统应当如何重新设计，以解决这些问题？</a:t>
            </a:r>
            <a:endParaRPr kumimoji="1" lang="en-US" altLang="zh-CN" sz="1800" dirty="0"/>
          </a:p>
          <a:p>
            <a:pPr lvl="1"/>
            <a:endParaRPr kumimoji="1" lang="zh-CN" altLang="en-US" dirty="0"/>
          </a:p>
        </p:txBody>
      </p:sp>
      <p:pic>
        <p:nvPicPr>
          <p:cNvPr id="11" name="图片 10">
            <a:extLst>
              <a:ext uri="{FF2B5EF4-FFF2-40B4-BE49-F238E27FC236}">
                <a16:creationId xmlns:a16="http://schemas.microsoft.com/office/drawing/2014/main" id="{3B08398B-0398-1947-8640-A7904D0D572D}"/>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691680" y="2119723"/>
            <a:ext cx="6130339" cy="3186049"/>
          </a:xfrm>
          <a:prstGeom prst="rect">
            <a:avLst/>
          </a:prstGeom>
        </p:spPr>
      </p:pic>
      <p:sp>
        <p:nvSpPr>
          <p:cNvPr id="6" name="页脚占位符 4">
            <a:extLst>
              <a:ext uri="{FF2B5EF4-FFF2-40B4-BE49-F238E27FC236}">
                <a16:creationId xmlns:a16="http://schemas.microsoft.com/office/drawing/2014/main" id="{332DA259-BC4F-3743-8D60-BD3F66CDBA97}"/>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496028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E894C7-4907-AF42-9219-E63E999D1FD8}"/>
              </a:ext>
            </a:extLst>
          </p:cNvPr>
          <p:cNvSpPr>
            <a:spLocks noGrp="1"/>
          </p:cNvSpPr>
          <p:nvPr>
            <p:ph type="title"/>
          </p:nvPr>
        </p:nvSpPr>
        <p:spPr/>
        <p:txBody>
          <a:bodyPr>
            <a:normAutofit/>
          </a:bodyPr>
          <a:lstStyle/>
          <a:p>
            <a:r>
              <a:rPr kumimoji="1" lang="zh-CN" altLang="en-US" sz="3200" dirty="0"/>
              <a:t>挑战</a:t>
            </a:r>
            <a:r>
              <a:rPr kumimoji="1" lang="en-US" altLang="zh-CN" sz="3200" dirty="0"/>
              <a:t>-1</a:t>
            </a:r>
            <a:r>
              <a:rPr kumimoji="1" lang="zh-CN" altLang="en-US" sz="3200" dirty="0"/>
              <a:t>：内核软件栈臃肿</a:t>
            </a:r>
          </a:p>
        </p:txBody>
      </p:sp>
      <p:sp>
        <p:nvSpPr>
          <p:cNvPr id="3" name="内容占位符 2">
            <a:extLst>
              <a:ext uri="{FF2B5EF4-FFF2-40B4-BE49-F238E27FC236}">
                <a16:creationId xmlns:a16="http://schemas.microsoft.com/office/drawing/2014/main" id="{FD7E4BEF-9C74-6F44-A775-A5F7FE6E8831}"/>
              </a:ext>
            </a:extLst>
          </p:cNvPr>
          <p:cNvSpPr>
            <a:spLocks noGrp="1"/>
          </p:cNvSpPr>
          <p:nvPr>
            <p:ph idx="1"/>
          </p:nvPr>
        </p:nvSpPr>
        <p:spPr/>
        <p:txBody>
          <a:bodyPr/>
          <a:lstStyle/>
          <a:p>
            <a:r>
              <a:rPr kumimoji="1" lang="zh-CN" altLang="en-US" dirty="0"/>
              <a:t>内核软件栈涉及系统调用、内存管理、命名管理等开销，成为了性能瓶颈</a:t>
            </a:r>
          </a:p>
        </p:txBody>
      </p:sp>
      <p:sp>
        <p:nvSpPr>
          <p:cNvPr id="4" name="灯片编号占位符 3">
            <a:extLst>
              <a:ext uri="{FF2B5EF4-FFF2-40B4-BE49-F238E27FC236}">
                <a16:creationId xmlns:a16="http://schemas.microsoft.com/office/drawing/2014/main" id="{56D2A7FB-18C7-3144-8245-B9F56C8C2AF7}"/>
              </a:ext>
            </a:extLst>
          </p:cNvPr>
          <p:cNvSpPr>
            <a:spLocks noGrp="1"/>
          </p:cNvSpPr>
          <p:nvPr>
            <p:ph type="sldNum" sz="quarter" idx="12"/>
          </p:nvPr>
        </p:nvSpPr>
        <p:spPr/>
        <p:txBody>
          <a:bodyPr/>
          <a:lstStyle/>
          <a:p>
            <a:fld id="{ADE361C3-C043-4A6E-BDCE-8DA1E7D90A3B}" type="slidenum">
              <a:rPr lang="zh-CN" altLang="en-US" smtClean="0"/>
              <a:t>23</a:t>
            </a:fld>
            <a:endParaRPr lang="zh-CN" altLang="en-US"/>
          </a:p>
        </p:txBody>
      </p:sp>
      <p:sp>
        <p:nvSpPr>
          <p:cNvPr id="5" name="页脚占位符 4">
            <a:extLst>
              <a:ext uri="{FF2B5EF4-FFF2-40B4-BE49-F238E27FC236}">
                <a16:creationId xmlns:a16="http://schemas.microsoft.com/office/drawing/2014/main" id="{3756F070-93BC-C94C-AC6D-BADFE114EFF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C7D340B3-0BAD-434C-AB86-B8B7420A266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3649" y="2904181"/>
            <a:ext cx="4120319" cy="2061937"/>
          </a:xfrm>
          <a:prstGeom prst="rect">
            <a:avLst/>
          </a:prstGeom>
        </p:spPr>
      </p:pic>
      <p:sp>
        <p:nvSpPr>
          <p:cNvPr id="7" name="矩形 6">
            <a:extLst>
              <a:ext uri="{FF2B5EF4-FFF2-40B4-BE49-F238E27FC236}">
                <a16:creationId xmlns:a16="http://schemas.microsoft.com/office/drawing/2014/main" id="{335EC22C-71E8-7948-9232-62A3AFF4E3AF}"/>
              </a:ext>
            </a:extLst>
          </p:cNvPr>
          <p:cNvSpPr/>
          <p:nvPr/>
        </p:nvSpPr>
        <p:spPr>
          <a:xfrm>
            <a:off x="899592" y="4750095"/>
            <a:ext cx="720080"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矩形 7">
            <a:extLst>
              <a:ext uri="{FF2B5EF4-FFF2-40B4-BE49-F238E27FC236}">
                <a16:creationId xmlns:a16="http://schemas.microsoft.com/office/drawing/2014/main" id="{BF6D3BA9-DC84-BB43-BFE7-2CAEA8F8B0D7}"/>
              </a:ext>
            </a:extLst>
          </p:cNvPr>
          <p:cNvSpPr/>
          <p:nvPr/>
        </p:nvSpPr>
        <p:spPr>
          <a:xfrm>
            <a:off x="1763688" y="4755180"/>
            <a:ext cx="720080"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9" name="文本框 8">
            <a:extLst>
              <a:ext uri="{FF2B5EF4-FFF2-40B4-BE49-F238E27FC236}">
                <a16:creationId xmlns:a16="http://schemas.microsoft.com/office/drawing/2014/main" id="{B8F11782-217F-3149-BE21-9D0A8EA624FD}"/>
              </a:ext>
            </a:extLst>
          </p:cNvPr>
          <p:cNvSpPr txBox="1"/>
          <p:nvPr/>
        </p:nvSpPr>
        <p:spPr>
          <a:xfrm>
            <a:off x="1044912" y="2619198"/>
            <a:ext cx="2877711" cy="307777"/>
          </a:xfrm>
          <a:prstGeom prst="rect">
            <a:avLst/>
          </a:prstGeom>
          <a:noFill/>
        </p:spPr>
        <p:txBody>
          <a:bodyPr wrap="none" rtlCol="0">
            <a:spAutoFit/>
          </a:bodyPr>
          <a:lstStyle/>
          <a:p>
            <a:r>
              <a:rPr kumimoji="1" lang="zh-CN" altLang="en-US" sz="1400" dirty="0"/>
              <a:t>内核占了网络包处理近一半的时间</a:t>
            </a:r>
          </a:p>
        </p:txBody>
      </p:sp>
      <p:pic>
        <p:nvPicPr>
          <p:cNvPr id="11" name="图片 10">
            <a:extLst>
              <a:ext uri="{FF2B5EF4-FFF2-40B4-BE49-F238E27FC236}">
                <a16:creationId xmlns:a16="http://schemas.microsoft.com/office/drawing/2014/main" id="{C3F0B667-1C94-EA45-9DD8-F129F4DA322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26360" y="3001516"/>
            <a:ext cx="3335698" cy="1748579"/>
          </a:xfrm>
          <a:prstGeom prst="rect">
            <a:avLst/>
          </a:prstGeom>
        </p:spPr>
      </p:pic>
      <p:sp>
        <p:nvSpPr>
          <p:cNvPr id="12" name="文本框 11">
            <a:extLst>
              <a:ext uri="{FF2B5EF4-FFF2-40B4-BE49-F238E27FC236}">
                <a16:creationId xmlns:a16="http://schemas.microsoft.com/office/drawing/2014/main" id="{94AC6C2B-DD8B-844E-AD40-3B96BC2E5901}"/>
              </a:ext>
            </a:extLst>
          </p:cNvPr>
          <p:cNvSpPr txBox="1"/>
          <p:nvPr/>
        </p:nvSpPr>
        <p:spPr>
          <a:xfrm>
            <a:off x="5134890" y="2591642"/>
            <a:ext cx="2518638" cy="307777"/>
          </a:xfrm>
          <a:prstGeom prst="rect">
            <a:avLst/>
          </a:prstGeom>
          <a:noFill/>
        </p:spPr>
        <p:txBody>
          <a:bodyPr wrap="none" rtlCol="0">
            <a:spAutoFit/>
          </a:bodyPr>
          <a:lstStyle/>
          <a:p>
            <a:r>
              <a:rPr kumimoji="1" lang="zh-CN" altLang="en-US" sz="1400" dirty="0"/>
              <a:t>层层调用带来了微秒级的开销</a:t>
            </a:r>
          </a:p>
        </p:txBody>
      </p:sp>
      <p:sp>
        <p:nvSpPr>
          <p:cNvPr id="13" name="文本框 12">
            <a:extLst>
              <a:ext uri="{FF2B5EF4-FFF2-40B4-BE49-F238E27FC236}">
                <a16:creationId xmlns:a16="http://schemas.microsoft.com/office/drawing/2014/main" id="{25015CB8-23E5-A443-9EDC-84C6258F804A}"/>
              </a:ext>
            </a:extLst>
          </p:cNvPr>
          <p:cNvSpPr txBox="1"/>
          <p:nvPr/>
        </p:nvSpPr>
        <p:spPr>
          <a:xfrm>
            <a:off x="0" y="4967218"/>
            <a:ext cx="4644008" cy="338554"/>
          </a:xfrm>
          <a:prstGeom prst="rect">
            <a:avLst/>
          </a:prstGeom>
          <a:noFill/>
        </p:spPr>
        <p:txBody>
          <a:bodyPr wrap="square" rtlCol="0">
            <a:spAutoFit/>
          </a:bodyPr>
          <a:lstStyle/>
          <a:p>
            <a:r>
              <a:rPr kumimoji="1" lang="en-US" altLang="zh-CN" sz="800" dirty="0" err="1"/>
              <a:t>mTCP</a:t>
            </a:r>
            <a:r>
              <a:rPr kumimoji="1" lang="en-US" altLang="zh-CN" sz="800" dirty="0"/>
              <a:t>: </a:t>
            </a:r>
            <a:r>
              <a:rPr lang="en-US" altLang="zh-CN" sz="800" dirty="0"/>
              <a:t>a Highly Scalable User-level TCP Stack for Multicore Systems</a:t>
            </a:r>
            <a:r>
              <a:rPr lang="zh-CN" altLang="en-US" sz="800" dirty="0"/>
              <a:t> </a:t>
            </a:r>
            <a:r>
              <a:rPr lang="en-US" altLang="zh-CN" sz="800" dirty="0"/>
              <a:t>(NSDI’14)</a:t>
            </a:r>
            <a:endParaRPr kumimoji="1" lang="en-US" altLang="zh-CN" sz="800" dirty="0"/>
          </a:p>
          <a:p>
            <a:r>
              <a:rPr kumimoji="1" lang="en-US" altLang="zh-CN" sz="800" dirty="0"/>
              <a:t>Arrakis:</a:t>
            </a:r>
            <a:r>
              <a:rPr kumimoji="1" lang="zh-CN" altLang="en-US" sz="800" dirty="0"/>
              <a:t> </a:t>
            </a:r>
            <a:r>
              <a:rPr kumimoji="1" lang="en-US" altLang="zh-CN" sz="800" dirty="0"/>
              <a:t>The</a:t>
            </a:r>
            <a:r>
              <a:rPr kumimoji="1" lang="zh-CN" altLang="en-US" sz="800" dirty="0"/>
              <a:t> </a:t>
            </a:r>
            <a:r>
              <a:rPr kumimoji="1" lang="en-US" altLang="zh-CN" sz="800" dirty="0"/>
              <a:t>Operating</a:t>
            </a:r>
            <a:r>
              <a:rPr kumimoji="1" lang="zh-CN" altLang="en-US" sz="800" dirty="0"/>
              <a:t> </a:t>
            </a:r>
            <a:r>
              <a:rPr kumimoji="1" lang="en-US" altLang="zh-CN" sz="800" dirty="0"/>
              <a:t>System</a:t>
            </a:r>
            <a:r>
              <a:rPr kumimoji="1" lang="zh-CN" altLang="en-US" sz="800" dirty="0"/>
              <a:t> </a:t>
            </a:r>
            <a:r>
              <a:rPr kumimoji="1" lang="en-US" altLang="zh-CN" sz="800" dirty="0"/>
              <a:t>is</a:t>
            </a:r>
            <a:r>
              <a:rPr kumimoji="1" lang="zh-CN" altLang="en-US" sz="800" dirty="0"/>
              <a:t> </a:t>
            </a:r>
            <a:r>
              <a:rPr kumimoji="1" lang="en-US" altLang="zh-CN" sz="800" dirty="0"/>
              <a:t>the</a:t>
            </a:r>
            <a:r>
              <a:rPr kumimoji="1" lang="zh-CN" altLang="en-US" sz="800" dirty="0"/>
              <a:t> </a:t>
            </a:r>
            <a:r>
              <a:rPr kumimoji="1" lang="en-US" altLang="zh-CN" sz="800" dirty="0"/>
              <a:t>control</a:t>
            </a:r>
            <a:r>
              <a:rPr kumimoji="1" lang="zh-CN" altLang="en-US" sz="800" dirty="0"/>
              <a:t> </a:t>
            </a:r>
            <a:r>
              <a:rPr kumimoji="1" lang="en-US" altLang="zh-CN" sz="800" dirty="0"/>
              <a:t>plane</a:t>
            </a:r>
            <a:r>
              <a:rPr kumimoji="1" lang="zh-CN" altLang="en-US" sz="800" dirty="0"/>
              <a:t> </a:t>
            </a:r>
            <a:r>
              <a:rPr kumimoji="1" lang="en-US" altLang="zh-CN" sz="800" dirty="0"/>
              <a:t>(OSDI'14)</a:t>
            </a:r>
            <a:endParaRPr kumimoji="1" lang="zh-CN" altLang="en-US" sz="800" dirty="0"/>
          </a:p>
        </p:txBody>
      </p:sp>
    </p:spTree>
    <p:extLst>
      <p:ext uri="{BB962C8B-B14F-4D97-AF65-F5344CB8AC3E}">
        <p14:creationId xmlns:p14="http://schemas.microsoft.com/office/powerpoint/2010/main" val="1295304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EA4500-0FB4-6C42-8865-492DDAA349BB}"/>
              </a:ext>
            </a:extLst>
          </p:cNvPr>
          <p:cNvSpPr>
            <a:spLocks noGrp="1"/>
          </p:cNvSpPr>
          <p:nvPr>
            <p:ph type="title"/>
          </p:nvPr>
        </p:nvSpPr>
        <p:spPr/>
        <p:txBody>
          <a:bodyPr>
            <a:noAutofit/>
          </a:bodyPr>
          <a:lstStyle/>
          <a:p>
            <a:r>
              <a:rPr kumimoji="1" lang="zh-CN" altLang="en-US" sz="3200" dirty="0"/>
              <a:t>思路</a:t>
            </a:r>
            <a:r>
              <a:rPr kumimoji="1" lang="en-US" altLang="zh-CN" sz="3200" dirty="0"/>
              <a:t>-1</a:t>
            </a:r>
            <a:r>
              <a:rPr kumimoji="1" lang="zh-CN" altLang="en-US" sz="3200" dirty="0"/>
              <a:t>：通过内核旁路解决软件栈臃肿问题</a:t>
            </a:r>
          </a:p>
        </p:txBody>
      </p:sp>
      <p:sp>
        <p:nvSpPr>
          <p:cNvPr id="3" name="内容占位符 2">
            <a:extLst>
              <a:ext uri="{FF2B5EF4-FFF2-40B4-BE49-F238E27FC236}">
                <a16:creationId xmlns:a16="http://schemas.microsoft.com/office/drawing/2014/main" id="{0AE7356F-20D2-C24C-9B87-44A278D682F5}"/>
              </a:ext>
            </a:extLst>
          </p:cNvPr>
          <p:cNvSpPr>
            <a:spLocks noGrp="1"/>
          </p:cNvSpPr>
          <p:nvPr>
            <p:ph idx="1"/>
          </p:nvPr>
        </p:nvSpPr>
        <p:spPr>
          <a:xfrm>
            <a:off x="457200" y="1154579"/>
            <a:ext cx="8229600" cy="3771636"/>
          </a:xfrm>
        </p:spPr>
        <p:txBody>
          <a:bodyPr/>
          <a:lstStyle/>
          <a:p>
            <a:r>
              <a:rPr kumimoji="1" lang="zh-CN" altLang="en-US" sz="2200" dirty="0"/>
              <a:t>机遇：新型硬件设备具备虚拟化能力</a:t>
            </a:r>
            <a:endParaRPr kumimoji="1" lang="en-US" altLang="zh-CN" sz="2200" dirty="0"/>
          </a:p>
          <a:p>
            <a:pPr lvl="1"/>
            <a:r>
              <a:rPr kumimoji="1" lang="zh-CN" altLang="en-US" sz="1800" dirty="0"/>
              <a:t>如一张网卡（</a:t>
            </a:r>
            <a:r>
              <a:rPr kumimoji="1" lang="en-US" altLang="zh-CN" sz="1800" dirty="0"/>
              <a:t>NIC</a:t>
            </a:r>
            <a:r>
              <a:rPr kumimoji="1" lang="zh-CN" altLang="en-US" sz="1800" dirty="0"/>
              <a:t>）可以虚拟为多张虚拟网卡（</a:t>
            </a:r>
            <a:r>
              <a:rPr kumimoji="1" lang="en-US" altLang="zh-CN" sz="1800" dirty="0" err="1"/>
              <a:t>vNIC</a:t>
            </a:r>
            <a:r>
              <a:rPr kumimoji="1" lang="zh-CN" altLang="en-US" sz="1800" dirty="0"/>
              <a:t>）</a:t>
            </a:r>
            <a:endParaRPr kumimoji="1" lang="en-US" altLang="zh-CN" sz="1800" dirty="0"/>
          </a:p>
          <a:p>
            <a:r>
              <a:rPr kumimoji="1" lang="zh-CN" altLang="en-US" sz="2200" dirty="0"/>
              <a:t>核心思想：操作系统将虚拟设备直接交给应用使用</a:t>
            </a:r>
            <a:endParaRPr kumimoji="1" lang="en-US" altLang="zh-CN" sz="2200" dirty="0"/>
          </a:p>
          <a:p>
            <a:pPr lvl="1"/>
            <a:r>
              <a:rPr kumimoji="1" lang="zh-CN" altLang="en-US" sz="1800" dirty="0"/>
              <a:t>应用可以直接访问设备，无需经过内核软件栈，大幅降低时延</a:t>
            </a:r>
          </a:p>
          <a:p>
            <a:endParaRPr kumimoji="1" lang="zh-CN" altLang="en-US" dirty="0"/>
          </a:p>
        </p:txBody>
      </p:sp>
      <p:sp>
        <p:nvSpPr>
          <p:cNvPr id="4" name="灯片编号占位符 3">
            <a:extLst>
              <a:ext uri="{FF2B5EF4-FFF2-40B4-BE49-F238E27FC236}">
                <a16:creationId xmlns:a16="http://schemas.microsoft.com/office/drawing/2014/main" id="{BF82131B-3284-354D-8C55-E9E378DD8BF3}"/>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pic>
        <p:nvPicPr>
          <p:cNvPr id="5" name="图片 4">
            <a:extLst>
              <a:ext uri="{FF2B5EF4-FFF2-40B4-BE49-F238E27FC236}">
                <a16:creationId xmlns:a16="http://schemas.microsoft.com/office/drawing/2014/main" id="{D7047B14-B258-0544-BB79-8B949EFB22D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86499" y="3040397"/>
            <a:ext cx="3571002" cy="2199578"/>
          </a:xfrm>
          <a:prstGeom prst="rect">
            <a:avLst/>
          </a:prstGeom>
        </p:spPr>
      </p:pic>
      <p:sp>
        <p:nvSpPr>
          <p:cNvPr id="7" name="文本框 6">
            <a:extLst>
              <a:ext uri="{FF2B5EF4-FFF2-40B4-BE49-F238E27FC236}">
                <a16:creationId xmlns:a16="http://schemas.microsoft.com/office/drawing/2014/main" id="{4A0C61F0-ADBC-E24A-A904-5065CF59E741}"/>
              </a:ext>
            </a:extLst>
          </p:cNvPr>
          <p:cNvSpPr txBox="1"/>
          <p:nvPr/>
        </p:nvSpPr>
        <p:spPr>
          <a:xfrm>
            <a:off x="5444" y="5314890"/>
            <a:ext cx="2723823" cy="400110"/>
          </a:xfrm>
          <a:prstGeom prst="rect">
            <a:avLst/>
          </a:prstGeom>
          <a:noFill/>
        </p:spPr>
        <p:txBody>
          <a:bodyPr wrap="none" rtlCol="0">
            <a:spAutoFit/>
          </a:bodyPr>
          <a:lstStyle/>
          <a:p>
            <a:r>
              <a:rPr kumimoji="1" lang="en-US" altLang="zh-CN" sz="1000" dirty="0"/>
              <a:t>Arrakis:</a:t>
            </a:r>
            <a:r>
              <a:rPr kumimoji="1" lang="zh-CN" altLang="en-US" sz="1000" dirty="0"/>
              <a:t> </a:t>
            </a:r>
            <a:r>
              <a:rPr kumimoji="1" lang="en-US" altLang="zh-CN" sz="1000" dirty="0"/>
              <a:t>The</a:t>
            </a:r>
            <a:r>
              <a:rPr kumimoji="1" lang="zh-CN" altLang="en-US" sz="1000" dirty="0"/>
              <a:t> </a:t>
            </a:r>
            <a:r>
              <a:rPr kumimoji="1" lang="en-US" altLang="zh-CN" sz="1000" dirty="0"/>
              <a:t>Operating</a:t>
            </a:r>
            <a:r>
              <a:rPr kumimoji="1" lang="zh-CN" altLang="en-US" sz="1000" dirty="0"/>
              <a:t> </a:t>
            </a:r>
            <a:r>
              <a:rPr kumimoji="1" lang="en-US" altLang="zh-CN" sz="1000" dirty="0"/>
              <a:t>System</a:t>
            </a:r>
            <a:r>
              <a:rPr kumimoji="1" lang="zh-CN" altLang="en-US" sz="1000" dirty="0"/>
              <a:t> </a:t>
            </a:r>
            <a:r>
              <a:rPr kumimoji="1" lang="en-US" altLang="zh-CN" sz="1000" dirty="0"/>
              <a:t>is</a:t>
            </a:r>
            <a:r>
              <a:rPr kumimoji="1" lang="zh-CN" altLang="en-US" sz="1000" dirty="0"/>
              <a:t> </a:t>
            </a:r>
            <a:r>
              <a:rPr kumimoji="1" lang="en-US" altLang="zh-CN" sz="1000" dirty="0"/>
              <a:t>the</a:t>
            </a:r>
            <a:r>
              <a:rPr kumimoji="1" lang="zh-CN" altLang="en-US" sz="1000" dirty="0"/>
              <a:t> </a:t>
            </a:r>
            <a:r>
              <a:rPr kumimoji="1" lang="en-US" altLang="zh-CN" sz="1000" dirty="0"/>
              <a:t>control</a:t>
            </a:r>
            <a:r>
              <a:rPr kumimoji="1" lang="zh-CN" altLang="en-US" sz="1000" dirty="0"/>
              <a:t> </a:t>
            </a:r>
            <a:endParaRPr kumimoji="1" lang="en-US" altLang="zh-CN" sz="1000" dirty="0"/>
          </a:p>
          <a:p>
            <a:r>
              <a:rPr kumimoji="1" lang="en-US" altLang="zh-CN" sz="1000" dirty="0"/>
              <a:t>plane</a:t>
            </a:r>
            <a:r>
              <a:rPr kumimoji="1" lang="zh-CN" altLang="en-US" sz="1000" dirty="0"/>
              <a:t> </a:t>
            </a:r>
            <a:r>
              <a:rPr kumimoji="1" lang="en-US" altLang="zh-CN" sz="1000" dirty="0"/>
              <a:t>(OSDI'14)</a:t>
            </a:r>
            <a:endParaRPr kumimoji="1" lang="zh-CN" altLang="en-US" sz="1000" dirty="0"/>
          </a:p>
        </p:txBody>
      </p:sp>
      <p:sp>
        <p:nvSpPr>
          <p:cNvPr id="8" name="页脚占位符 4">
            <a:extLst>
              <a:ext uri="{FF2B5EF4-FFF2-40B4-BE49-F238E27FC236}">
                <a16:creationId xmlns:a16="http://schemas.microsoft.com/office/drawing/2014/main" id="{3B700FBF-9535-5343-804A-853D20762853}"/>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06022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EA4500-0FB4-6C42-8865-492DDAA349BB}"/>
              </a:ext>
            </a:extLst>
          </p:cNvPr>
          <p:cNvSpPr>
            <a:spLocks noGrp="1"/>
          </p:cNvSpPr>
          <p:nvPr>
            <p:ph type="title"/>
          </p:nvPr>
        </p:nvSpPr>
        <p:spPr/>
        <p:txBody>
          <a:bodyPr>
            <a:noAutofit/>
          </a:bodyPr>
          <a:lstStyle/>
          <a:p>
            <a:r>
              <a:rPr kumimoji="1" lang="zh-CN" altLang="en-US" sz="3200" dirty="0"/>
              <a:t>思路</a:t>
            </a:r>
            <a:r>
              <a:rPr kumimoji="1" lang="en-US" altLang="zh-CN" sz="3200" dirty="0"/>
              <a:t>-1</a:t>
            </a:r>
            <a:r>
              <a:rPr kumimoji="1" lang="zh-CN" altLang="en-US" sz="3200" dirty="0"/>
              <a:t>：通过内核旁路解决软件栈臃肿问题</a:t>
            </a:r>
          </a:p>
        </p:txBody>
      </p:sp>
      <p:sp>
        <p:nvSpPr>
          <p:cNvPr id="3" name="内容占位符 2">
            <a:extLst>
              <a:ext uri="{FF2B5EF4-FFF2-40B4-BE49-F238E27FC236}">
                <a16:creationId xmlns:a16="http://schemas.microsoft.com/office/drawing/2014/main" id="{0AE7356F-20D2-C24C-9B87-44A278D682F5}"/>
              </a:ext>
            </a:extLst>
          </p:cNvPr>
          <p:cNvSpPr>
            <a:spLocks noGrp="1"/>
          </p:cNvSpPr>
          <p:nvPr>
            <p:ph idx="1"/>
          </p:nvPr>
        </p:nvSpPr>
        <p:spPr/>
        <p:txBody>
          <a:bodyPr/>
          <a:lstStyle/>
          <a:p>
            <a:r>
              <a:rPr kumimoji="1" lang="zh-CN" altLang="en-US" sz="2200" dirty="0"/>
              <a:t>潜在问题</a:t>
            </a:r>
            <a:endParaRPr kumimoji="1" lang="en-US" altLang="zh-CN" sz="2200" dirty="0"/>
          </a:p>
          <a:p>
            <a:pPr lvl="1"/>
            <a:r>
              <a:rPr kumimoji="1" lang="zh-CN" altLang="en-US" sz="1800" dirty="0"/>
              <a:t>设备映射过于死板，可能出现负载不均衡／资源浪费</a:t>
            </a:r>
            <a:endParaRPr kumimoji="1" lang="en-US" altLang="zh-CN" sz="1800" dirty="0"/>
          </a:p>
          <a:p>
            <a:pPr lvl="1"/>
            <a:r>
              <a:rPr kumimoji="1" lang="zh-CN" altLang="en-US" sz="1800" dirty="0"/>
              <a:t>应用直接访问设备，可能存在安全问题</a:t>
            </a:r>
            <a:endParaRPr kumimoji="1" lang="en-US" altLang="zh-CN" sz="1800" dirty="0"/>
          </a:p>
          <a:p>
            <a:pPr lvl="1"/>
            <a:r>
              <a:rPr kumimoji="1" lang="zh-CN" altLang="en-US" sz="1800" dirty="0"/>
              <a:t>生态碎片化</a:t>
            </a:r>
            <a:endParaRPr kumimoji="1" lang="en-US" altLang="zh-CN" sz="1800" dirty="0"/>
          </a:p>
          <a:p>
            <a:r>
              <a:rPr kumimoji="1" lang="zh-CN" altLang="en-US" sz="2200" dirty="0"/>
              <a:t>可能的解决思路</a:t>
            </a:r>
            <a:endParaRPr kumimoji="1" lang="en-US" altLang="zh-CN" sz="2200" dirty="0"/>
          </a:p>
          <a:p>
            <a:pPr lvl="1"/>
            <a:r>
              <a:rPr kumimoji="1" lang="zh-CN" altLang="en-US" sz="1800" dirty="0"/>
              <a:t>支持任务偷窃机制，均衡负载</a:t>
            </a:r>
            <a:endParaRPr kumimoji="1" lang="en-US" altLang="zh-CN" sz="1800" dirty="0"/>
          </a:p>
          <a:p>
            <a:pPr lvl="1"/>
            <a:r>
              <a:rPr kumimoji="1" lang="zh-CN" altLang="en-US" sz="1800" dirty="0"/>
              <a:t>引入硬件保护机制</a:t>
            </a:r>
            <a:endParaRPr kumimoji="1" lang="en-US" altLang="zh-CN" sz="1800" dirty="0"/>
          </a:p>
          <a:p>
            <a:pPr lvl="1"/>
            <a:endParaRPr kumimoji="1" lang="zh-CN" altLang="en-US" sz="1800" dirty="0"/>
          </a:p>
          <a:p>
            <a:endParaRPr kumimoji="1" lang="zh-CN" altLang="en-US" dirty="0"/>
          </a:p>
        </p:txBody>
      </p:sp>
      <p:sp>
        <p:nvSpPr>
          <p:cNvPr id="4" name="灯片编号占位符 3">
            <a:extLst>
              <a:ext uri="{FF2B5EF4-FFF2-40B4-BE49-F238E27FC236}">
                <a16:creationId xmlns:a16="http://schemas.microsoft.com/office/drawing/2014/main" id="{BF82131B-3284-354D-8C55-E9E378DD8BF3}"/>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sp>
        <p:nvSpPr>
          <p:cNvPr id="5" name="页脚占位符 4">
            <a:extLst>
              <a:ext uri="{FF2B5EF4-FFF2-40B4-BE49-F238E27FC236}">
                <a16:creationId xmlns:a16="http://schemas.microsoft.com/office/drawing/2014/main" id="{37D8AA21-16D8-8142-ADA7-7539572BDA5D}"/>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3133166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8BEB81-D09A-D348-AAD9-A4EA37CD5A30}"/>
              </a:ext>
            </a:extLst>
          </p:cNvPr>
          <p:cNvSpPr>
            <a:spLocks noGrp="1"/>
          </p:cNvSpPr>
          <p:nvPr>
            <p:ph type="title"/>
          </p:nvPr>
        </p:nvSpPr>
        <p:spPr/>
        <p:txBody>
          <a:bodyPr>
            <a:normAutofit/>
          </a:bodyPr>
          <a:lstStyle/>
          <a:p>
            <a:r>
              <a:rPr kumimoji="1" lang="zh-CN" altLang="en-US" sz="3200" dirty="0"/>
              <a:t>挑战</a:t>
            </a:r>
            <a:r>
              <a:rPr kumimoji="1" lang="en-US" altLang="zh-CN" sz="3200" dirty="0"/>
              <a:t>-2</a:t>
            </a:r>
            <a:r>
              <a:rPr kumimoji="1" lang="zh-CN" altLang="en-US" sz="3200" dirty="0"/>
              <a:t>：内核抽象过于笨重</a:t>
            </a:r>
          </a:p>
        </p:txBody>
      </p:sp>
      <p:sp>
        <p:nvSpPr>
          <p:cNvPr id="3" name="内容占位符 2">
            <a:extLst>
              <a:ext uri="{FF2B5EF4-FFF2-40B4-BE49-F238E27FC236}">
                <a16:creationId xmlns:a16="http://schemas.microsoft.com/office/drawing/2014/main" id="{A0534277-6EE1-4242-AC3F-27456FD197BF}"/>
              </a:ext>
            </a:extLst>
          </p:cNvPr>
          <p:cNvSpPr>
            <a:spLocks noGrp="1"/>
          </p:cNvSpPr>
          <p:nvPr>
            <p:ph idx="1"/>
          </p:nvPr>
        </p:nvSpPr>
        <p:spPr/>
        <p:txBody>
          <a:bodyPr>
            <a:normAutofit/>
          </a:bodyPr>
          <a:lstStyle/>
          <a:p>
            <a:r>
              <a:rPr kumimoji="1" lang="en-US" altLang="zh-CN" sz="2200" dirty="0"/>
              <a:t>Linux</a:t>
            </a:r>
            <a:r>
              <a:rPr kumimoji="1" lang="zh-CN" altLang="en-US" sz="2200" dirty="0"/>
              <a:t>内核代码逐年递增，极大影响了虚拟机的启动效率</a:t>
            </a:r>
            <a:endParaRPr kumimoji="1" lang="en-US" altLang="zh-CN" sz="2200" dirty="0"/>
          </a:p>
          <a:p>
            <a:r>
              <a:rPr kumimoji="1" lang="zh-CN" altLang="en-US" sz="2200" dirty="0"/>
              <a:t>虚拟机监控器（如</a:t>
            </a:r>
            <a:r>
              <a:rPr kumimoji="1" lang="en-US" altLang="zh-CN" sz="2200" dirty="0"/>
              <a:t>Xen</a:t>
            </a:r>
            <a:r>
              <a:rPr kumimoji="1" lang="zh-CN" altLang="en-US" sz="2200" dirty="0"/>
              <a:t>）在启动过程中引入了过大的软件开销</a:t>
            </a:r>
          </a:p>
        </p:txBody>
      </p:sp>
      <p:sp>
        <p:nvSpPr>
          <p:cNvPr id="4" name="灯片编号占位符 3">
            <a:extLst>
              <a:ext uri="{FF2B5EF4-FFF2-40B4-BE49-F238E27FC236}">
                <a16:creationId xmlns:a16="http://schemas.microsoft.com/office/drawing/2014/main" id="{5CF2893B-4C72-354A-8D61-FE1EDB104AA9}"/>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sp>
        <p:nvSpPr>
          <p:cNvPr id="5" name="页脚占位符 4">
            <a:extLst>
              <a:ext uri="{FF2B5EF4-FFF2-40B4-BE49-F238E27FC236}">
                <a16:creationId xmlns:a16="http://schemas.microsoft.com/office/drawing/2014/main" id="{9011DED7-7B6F-664E-84A4-62D809E71D8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063DEB44-81CC-B741-8A4B-A7DA3F896DC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55241" y="3258031"/>
            <a:ext cx="4244751" cy="1713292"/>
          </a:xfrm>
          <a:prstGeom prst="rect">
            <a:avLst/>
          </a:prstGeom>
        </p:spPr>
      </p:pic>
      <p:sp>
        <p:nvSpPr>
          <p:cNvPr id="7" name="文本框 6">
            <a:extLst>
              <a:ext uri="{FF2B5EF4-FFF2-40B4-BE49-F238E27FC236}">
                <a16:creationId xmlns:a16="http://schemas.microsoft.com/office/drawing/2014/main" id="{18E8F8AD-5277-6C47-900E-E44E2EA7B347}"/>
              </a:ext>
            </a:extLst>
          </p:cNvPr>
          <p:cNvSpPr txBox="1"/>
          <p:nvPr/>
        </p:nvSpPr>
        <p:spPr>
          <a:xfrm>
            <a:off x="1204729" y="2912317"/>
            <a:ext cx="2698175" cy="307777"/>
          </a:xfrm>
          <a:prstGeom prst="rect">
            <a:avLst/>
          </a:prstGeom>
          <a:noFill/>
        </p:spPr>
        <p:txBody>
          <a:bodyPr wrap="none" rtlCol="0">
            <a:spAutoFit/>
          </a:bodyPr>
          <a:lstStyle/>
          <a:p>
            <a:r>
              <a:rPr kumimoji="1" lang="zh-CN" altLang="en-US" sz="1400" dirty="0"/>
              <a:t>虚拟机启动时间随镜像大小增长</a:t>
            </a:r>
          </a:p>
        </p:txBody>
      </p:sp>
      <p:pic>
        <p:nvPicPr>
          <p:cNvPr id="8" name="图片 7">
            <a:extLst>
              <a:ext uri="{FF2B5EF4-FFF2-40B4-BE49-F238E27FC236}">
                <a16:creationId xmlns:a16="http://schemas.microsoft.com/office/drawing/2014/main" id="{9D4F9580-AC1C-8240-B603-C16C2C157A7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63114" y="3159845"/>
            <a:ext cx="3040192" cy="1857895"/>
          </a:xfrm>
          <a:prstGeom prst="rect">
            <a:avLst/>
          </a:prstGeom>
        </p:spPr>
      </p:pic>
      <p:sp>
        <p:nvSpPr>
          <p:cNvPr id="9" name="文本框 8">
            <a:extLst>
              <a:ext uri="{FF2B5EF4-FFF2-40B4-BE49-F238E27FC236}">
                <a16:creationId xmlns:a16="http://schemas.microsoft.com/office/drawing/2014/main" id="{F7B88A22-EA69-B843-BD64-803F47E2220B}"/>
              </a:ext>
            </a:extLst>
          </p:cNvPr>
          <p:cNvSpPr txBox="1"/>
          <p:nvPr/>
        </p:nvSpPr>
        <p:spPr>
          <a:xfrm>
            <a:off x="4650433" y="2912317"/>
            <a:ext cx="4451860" cy="307777"/>
          </a:xfrm>
          <a:prstGeom prst="rect">
            <a:avLst/>
          </a:prstGeom>
          <a:noFill/>
        </p:spPr>
        <p:txBody>
          <a:bodyPr wrap="none" rtlCol="0">
            <a:spAutoFit/>
          </a:bodyPr>
          <a:lstStyle/>
          <a:p>
            <a:r>
              <a:rPr kumimoji="1" lang="en-US" altLang="zh-CN" sz="1400" dirty="0"/>
              <a:t>Xen</a:t>
            </a:r>
            <a:r>
              <a:rPr kumimoji="1" lang="zh-CN" altLang="en-US" sz="1400" dirty="0"/>
              <a:t>中的软件模块（</a:t>
            </a:r>
            <a:r>
              <a:rPr kumimoji="1" lang="en-US" altLang="zh-CN" sz="1400" dirty="0" err="1"/>
              <a:t>Xenstore</a:t>
            </a:r>
            <a:r>
              <a:rPr kumimoji="1" lang="zh-CN" altLang="en-US" sz="1400" dirty="0"/>
              <a:t>）造成了昂贵的启动开销</a:t>
            </a:r>
          </a:p>
        </p:txBody>
      </p:sp>
      <p:sp>
        <p:nvSpPr>
          <p:cNvPr id="10" name="文本框 9">
            <a:extLst>
              <a:ext uri="{FF2B5EF4-FFF2-40B4-BE49-F238E27FC236}">
                <a16:creationId xmlns:a16="http://schemas.microsoft.com/office/drawing/2014/main" id="{59F2B7D3-EDB1-0242-9117-0D5DBDC1CB18}"/>
              </a:ext>
            </a:extLst>
          </p:cNvPr>
          <p:cNvSpPr txBox="1"/>
          <p:nvPr/>
        </p:nvSpPr>
        <p:spPr>
          <a:xfrm>
            <a:off x="395536" y="5161756"/>
            <a:ext cx="3605474" cy="246221"/>
          </a:xfrm>
          <a:prstGeom prst="rect">
            <a:avLst/>
          </a:prstGeom>
          <a:noFill/>
        </p:spPr>
        <p:txBody>
          <a:bodyPr wrap="none" rtlCol="0">
            <a:spAutoFit/>
          </a:bodyPr>
          <a:lstStyle/>
          <a:p>
            <a:r>
              <a:rPr kumimoji="1" lang="en-US" altLang="zh-CN" sz="1000" dirty="0"/>
              <a:t>My VM is Lighter (and Safer) than your Container (SOSP'17)</a:t>
            </a:r>
            <a:endParaRPr kumimoji="1" lang="zh-CN" altLang="en-US" sz="1000" dirty="0"/>
          </a:p>
        </p:txBody>
      </p:sp>
    </p:spTree>
    <p:extLst>
      <p:ext uri="{BB962C8B-B14F-4D97-AF65-F5344CB8AC3E}">
        <p14:creationId xmlns:p14="http://schemas.microsoft.com/office/powerpoint/2010/main" val="24908046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0505F2-872E-0B49-B49D-EFEA53A7B7E8}"/>
              </a:ext>
            </a:extLst>
          </p:cNvPr>
          <p:cNvSpPr>
            <a:spLocks noGrp="1"/>
          </p:cNvSpPr>
          <p:nvPr>
            <p:ph type="title"/>
          </p:nvPr>
        </p:nvSpPr>
        <p:spPr/>
        <p:txBody>
          <a:bodyPr>
            <a:normAutofit/>
          </a:bodyPr>
          <a:lstStyle/>
          <a:p>
            <a:r>
              <a:rPr kumimoji="1" lang="zh-CN" altLang="en-US" sz="3200" dirty="0"/>
              <a:t>思路</a:t>
            </a:r>
            <a:r>
              <a:rPr kumimoji="1" lang="en-US" altLang="zh-CN" sz="3200" dirty="0"/>
              <a:t>-2</a:t>
            </a:r>
            <a:r>
              <a:rPr kumimoji="1" lang="zh-CN" altLang="en-US" sz="3200" dirty="0"/>
              <a:t>：通过轻量级与定制化内核提高性能</a:t>
            </a:r>
          </a:p>
        </p:txBody>
      </p:sp>
      <p:sp>
        <p:nvSpPr>
          <p:cNvPr id="3" name="内容占位符 2">
            <a:extLst>
              <a:ext uri="{FF2B5EF4-FFF2-40B4-BE49-F238E27FC236}">
                <a16:creationId xmlns:a16="http://schemas.microsoft.com/office/drawing/2014/main" id="{DB3738DC-C3A3-3646-8503-1DC4CCCE93BC}"/>
              </a:ext>
            </a:extLst>
          </p:cNvPr>
          <p:cNvSpPr>
            <a:spLocks noGrp="1"/>
          </p:cNvSpPr>
          <p:nvPr>
            <p:ph idx="1"/>
          </p:nvPr>
        </p:nvSpPr>
        <p:spPr/>
        <p:txBody>
          <a:bodyPr/>
          <a:lstStyle/>
          <a:p>
            <a:r>
              <a:rPr kumimoji="1" lang="zh-CN" altLang="en-US" sz="2200" dirty="0"/>
              <a:t>核心思想：只保留与应用相关的功能</a:t>
            </a:r>
            <a:endParaRPr kumimoji="1" lang="en-US" altLang="zh-CN" sz="2200" dirty="0"/>
          </a:p>
          <a:p>
            <a:pPr lvl="1"/>
            <a:r>
              <a:rPr kumimoji="1" lang="en-US" altLang="zh-CN" sz="1800" dirty="0" err="1"/>
              <a:t>Unikernel</a:t>
            </a:r>
            <a:r>
              <a:rPr kumimoji="1" lang="en-US" altLang="zh-CN" sz="1800" dirty="0"/>
              <a:t>:</a:t>
            </a:r>
            <a:r>
              <a:rPr kumimoji="1" lang="zh-CN" altLang="en-US" sz="1800" dirty="0"/>
              <a:t> 专为应用定制的特化内核</a:t>
            </a:r>
            <a:endParaRPr kumimoji="1" lang="en-US" altLang="zh-CN" sz="1800" dirty="0"/>
          </a:p>
          <a:p>
            <a:pPr lvl="1"/>
            <a:r>
              <a:rPr kumimoji="1" lang="en-US" altLang="zh-CN" sz="1800" dirty="0" err="1"/>
              <a:t>LightVM</a:t>
            </a:r>
            <a:r>
              <a:rPr kumimoji="1" lang="zh-CN" altLang="en-US" sz="1800" dirty="0"/>
              <a:t>：移除</a:t>
            </a:r>
            <a:r>
              <a:rPr kumimoji="1" lang="en-US" altLang="zh-CN" sz="1800" dirty="0"/>
              <a:t>VM</a:t>
            </a:r>
            <a:r>
              <a:rPr kumimoji="1" lang="zh-CN" altLang="en-US" sz="1800" dirty="0"/>
              <a:t>启动过程中不需要的部分，实现微秒级启动</a:t>
            </a:r>
          </a:p>
        </p:txBody>
      </p:sp>
      <p:sp>
        <p:nvSpPr>
          <p:cNvPr id="4" name="灯片编号占位符 3">
            <a:extLst>
              <a:ext uri="{FF2B5EF4-FFF2-40B4-BE49-F238E27FC236}">
                <a16:creationId xmlns:a16="http://schemas.microsoft.com/office/drawing/2014/main" id="{6D117244-D143-5F4E-8320-902321F71E5B}"/>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sp>
        <p:nvSpPr>
          <p:cNvPr id="5" name="文本框 4">
            <a:extLst>
              <a:ext uri="{FF2B5EF4-FFF2-40B4-BE49-F238E27FC236}">
                <a16:creationId xmlns:a16="http://schemas.microsoft.com/office/drawing/2014/main" id="{ECB06DB6-B287-464E-9D00-C14979D43C96}"/>
              </a:ext>
            </a:extLst>
          </p:cNvPr>
          <p:cNvSpPr txBox="1"/>
          <p:nvPr/>
        </p:nvSpPr>
        <p:spPr>
          <a:xfrm>
            <a:off x="370463" y="2853144"/>
            <a:ext cx="4057521" cy="292388"/>
          </a:xfrm>
          <a:prstGeom prst="rect">
            <a:avLst/>
          </a:prstGeom>
          <a:noFill/>
        </p:spPr>
        <p:txBody>
          <a:bodyPr wrap="none" rtlCol="0">
            <a:spAutoFit/>
          </a:bodyPr>
          <a:lstStyle/>
          <a:p>
            <a:r>
              <a:rPr kumimoji="1" lang="en-US" altLang="zh-CN" sz="1300" dirty="0" err="1"/>
              <a:t>Unikernel</a:t>
            </a:r>
            <a:r>
              <a:rPr kumimoji="1" lang="zh-CN" altLang="en-US" sz="1300" dirty="0"/>
              <a:t>只包括应用和必需的运行时代码，规模较小</a:t>
            </a:r>
          </a:p>
        </p:txBody>
      </p:sp>
      <p:pic>
        <p:nvPicPr>
          <p:cNvPr id="6" name="图片 5">
            <a:extLst>
              <a:ext uri="{FF2B5EF4-FFF2-40B4-BE49-F238E27FC236}">
                <a16:creationId xmlns:a16="http://schemas.microsoft.com/office/drawing/2014/main" id="{C25E17A1-CAD7-3349-8F21-4B5028A0CA1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04048" y="3073524"/>
            <a:ext cx="3600400" cy="2160240"/>
          </a:xfrm>
          <a:prstGeom prst="rect">
            <a:avLst/>
          </a:prstGeom>
        </p:spPr>
      </p:pic>
      <p:sp>
        <p:nvSpPr>
          <p:cNvPr id="7" name="文本框 6">
            <a:extLst>
              <a:ext uri="{FF2B5EF4-FFF2-40B4-BE49-F238E27FC236}">
                <a16:creationId xmlns:a16="http://schemas.microsoft.com/office/drawing/2014/main" id="{AA96EBCE-0901-9840-92D2-141ED4B34EF1}"/>
              </a:ext>
            </a:extLst>
          </p:cNvPr>
          <p:cNvSpPr txBox="1"/>
          <p:nvPr/>
        </p:nvSpPr>
        <p:spPr>
          <a:xfrm>
            <a:off x="4760900" y="2853143"/>
            <a:ext cx="4012637" cy="292388"/>
          </a:xfrm>
          <a:prstGeom prst="rect">
            <a:avLst/>
          </a:prstGeom>
          <a:noFill/>
        </p:spPr>
        <p:txBody>
          <a:bodyPr wrap="none" rtlCol="0">
            <a:spAutoFit/>
          </a:bodyPr>
          <a:lstStyle/>
          <a:p>
            <a:r>
              <a:rPr kumimoji="1" lang="en-US" altLang="zh-CN" sz="1300" dirty="0" err="1"/>
              <a:t>LightVM</a:t>
            </a:r>
            <a:r>
              <a:rPr kumimoji="1" lang="zh-CN" altLang="en-US" sz="1300" dirty="0"/>
              <a:t>启动时间远优于</a:t>
            </a:r>
            <a:r>
              <a:rPr kumimoji="1" lang="en-US" altLang="zh-CN" sz="1300" dirty="0"/>
              <a:t>docker</a:t>
            </a:r>
            <a:r>
              <a:rPr kumimoji="1" lang="zh-CN" altLang="en-US" sz="1300" dirty="0"/>
              <a:t>，接近进程创建时间</a:t>
            </a:r>
          </a:p>
        </p:txBody>
      </p:sp>
      <p:pic>
        <p:nvPicPr>
          <p:cNvPr id="8" name="图片 7">
            <a:extLst>
              <a:ext uri="{FF2B5EF4-FFF2-40B4-BE49-F238E27FC236}">
                <a16:creationId xmlns:a16="http://schemas.microsoft.com/office/drawing/2014/main" id="{86778DDA-1793-6F42-8E90-2D11BCEE00B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95254" y="3164708"/>
            <a:ext cx="3428674" cy="1913134"/>
          </a:xfrm>
          <a:prstGeom prst="rect">
            <a:avLst/>
          </a:prstGeom>
        </p:spPr>
      </p:pic>
      <p:sp>
        <p:nvSpPr>
          <p:cNvPr id="9" name="文本框 8">
            <a:extLst>
              <a:ext uri="{FF2B5EF4-FFF2-40B4-BE49-F238E27FC236}">
                <a16:creationId xmlns:a16="http://schemas.microsoft.com/office/drawing/2014/main" id="{1BBFE8D4-6B31-6A46-82DF-754DA7ADFFDC}"/>
              </a:ext>
            </a:extLst>
          </p:cNvPr>
          <p:cNvSpPr txBox="1"/>
          <p:nvPr/>
        </p:nvSpPr>
        <p:spPr>
          <a:xfrm>
            <a:off x="395536" y="5017740"/>
            <a:ext cx="3932487" cy="400110"/>
          </a:xfrm>
          <a:prstGeom prst="rect">
            <a:avLst/>
          </a:prstGeom>
          <a:noFill/>
        </p:spPr>
        <p:txBody>
          <a:bodyPr wrap="none" rtlCol="0">
            <a:spAutoFit/>
          </a:bodyPr>
          <a:lstStyle/>
          <a:p>
            <a:r>
              <a:rPr kumimoji="1" lang="en-US" altLang="zh-CN" sz="1000" dirty="0" err="1"/>
              <a:t>Unikernels</a:t>
            </a:r>
            <a:r>
              <a:rPr kumimoji="1" lang="en-US" altLang="zh-CN" sz="1000" dirty="0"/>
              <a:t>: Library Operating Systems for the Cloud (ASPLOS'13)</a:t>
            </a:r>
          </a:p>
          <a:p>
            <a:r>
              <a:rPr kumimoji="1" lang="en-US" altLang="zh-CN" sz="1000" dirty="0"/>
              <a:t>My VM is Lighter (and Safer) than your Container (SOSP'17)</a:t>
            </a:r>
            <a:endParaRPr kumimoji="1" lang="zh-CN" altLang="en-US" sz="1000" dirty="0"/>
          </a:p>
        </p:txBody>
      </p:sp>
      <p:sp>
        <p:nvSpPr>
          <p:cNvPr id="10" name="页脚占位符 4">
            <a:extLst>
              <a:ext uri="{FF2B5EF4-FFF2-40B4-BE49-F238E27FC236}">
                <a16:creationId xmlns:a16="http://schemas.microsoft.com/office/drawing/2014/main" id="{CE21FDBF-4421-4348-90FB-E6B76AFEBAB4}"/>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6066631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5B7D9A-58B2-2F45-8657-06E6B72D03AE}"/>
              </a:ext>
            </a:extLst>
          </p:cNvPr>
          <p:cNvSpPr>
            <a:spLocks noGrp="1"/>
          </p:cNvSpPr>
          <p:nvPr>
            <p:ph type="title"/>
          </p:nvPr>
        </p:nvSpPr>
        <p:spPr/>
        <p:txBody>
          <a:bodyPr>
            <a:normAutofit/>
          </a:bodyPr>
          <a:lstStyle/>
          <a:p>
            <a:r>
              <a:rPr kumimoji="1" lang="zh-CN" altLang="en-US" sz="3200" dirty="0"/>
              <a:t>挑战</a:t>
            </a:r>
            <a:r>
              <a:rPr kumimoji="1" lang="en-US" altLang="zh-CN" sz="3200" dirty="0"/>
              <a:t>-3</a:t>
            </a:r>
            <a:r>
              <a:rPr kumimoji="1" lang="zh-CN" altLang="en-US" sz="3200" dirty="0"/>
              <a:t>：应用缺乏对于调度的控制</a:t>
            </a:r>
          </a:p>
        </p:txBody>
      </p:sp>
      <p:sp>
        <p:nvSpPr>
          <p:cNvPr id="3" name="内容占位符 2">
            <a:extLst>
              <a:ext uri="{FF2B5EF4-FFF2-40B4-BE49-F238E27FC236}">
                <a16:creationId xmlns:a16="http://schemas.microsoft.com/office/drawing/2014/main" id="{783D992D-1C3F-4646-BBC5-45F60F2BBCC8}"/>
              </a:ext>
            </a:extLst>
          </p:cNvPr>
          <p:cNvSpPr>
            <a:spLocks noGrp="1"/>
          </p:cNvSpPr>
          <p:nvPr>
            <p:ph idx="1"/>
          </p:nvPr>
        </p:nvSpPr>
        <p:spPr/>
        <p:txBody>
          <a:bodyPr>
            <a:normAutofit/>
          </a:bodyPr>
          <a:lstStyle/>
          <a:p>
            <a:r>
              <a:rPr kumimoji="1" lang="zh-CN" altLang="en-US" sz="2200" dirty="0"/>
              <a:t>调度一定会进入内核，造成微秒级开销</a:t>
            </a:r>
            <a:endParaRPr kumimoji="1" lang="en-US" altLang="zh-CN" sz="2200" dirty="0"/>
          </a:p>
          <a:p>
            <a:pPr lvl="1"/>
            <a:r>
              <a:rPr kumimoji="1" lang="zh-CN" altLang="en-US" sz="1800" dirty="0"/>
              <a:t>进程调度的开销是用户态线程调度开销的</a:t>
            </a:r>
            <a:r>
              <a:rPr kumimoji="1" lang="en-US" altLang="zh-CN" sz="1800" dirty="0"/>
              <a:t>2</a:t>
            </a:r>
            <a:r>
              <a:rPr kumimoji="1" lang="zh-CN" altLang="en-US" sz="1800" dirty="0"/>
              <a:t>倍</a:t>
            </a:r>
            <a:endParaRPr kumimoji="1" lang="en-US" altLang="zh-CN" sz="1800" dirty="0"/>
          </a:p>
          <a:p>
            <a:r>
              <a:rPr kumimoji="1" lang="zh-CN" altLang="en-US" sz="2200" dirty="0"/>
              <a:t>内核缺乏应用语义，可能无法做出最好的调度决策</a:t>
            </a:r>
          </a:p>
        </p:txBody>
      </p:sp>
      <p:sp>
        <p:nvSpPr>
          <p:cNvPr id="4" name="灯片编号占位符 3">
            <a:extLst>
              <a:ext uri="{FF2B5EF4-FFF2-40B4-BE49-F238E27FC236}">
                <a16:creationId xmlns:a16="http://schemas.microsoft.com/office/drawing/2014/main" id="{57066E9A-EA26-9349-B3E1-9754B3A87227}"/>
              </a:ext>
            </a:extLst>
          </p:cNvPr>
          <p:cNvSpPr>
            <a:spLocks noGrp="1"/>
          </p:cNvSpPr>
          <p:nvPr>
            <p:ph type="sldNum" sz="quarter" idx="12"/>
          </p:nvPr>
        </p:nvSpPr>
        <p:spPr/>
        <p:txBody>
          <a:bodyPr/>
          <a:lstStyle/>
          <a:p>
            <a:fld id="{ADE361C3-C043-4A6E-BDCE-8DA1E7D90A3B}" type="slidenum">
              <a:rPr lang="zh-CN" altLang="en-US" smtClean="0"/>
              <a:t>28</a:t>
            </a:fld>
            <a:endParaRPr lang="zh-CN" altLang="en-US"/>
          </a:p>
        </p:txBody>
      </p:sp>
      <p:sp>
        <p:nvSpPr>
          <p:cNvPr id="5" name="页脚占位符 4">
            <a:extLst>
              <a:ext uri="{FF2B5EF4-FFF2-40B4-BE49-F238E27FC236}">
                <a16:creationId xmlns:a16="http://schemas.microsoft.com/office/drawing/2014/main" id="{3E6234BE-FCEE-284F-9C7C-1D882D45B86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7" name="图片 6">
            <a:extLst>
              <a:ext uri="{FF2B5EF4-FFF2-40B4-BE49-F238E27FC236}">
                <a16:creationId xmlns:a16="http://schemas.microsoft.com/office/drawing/2014/main" id="{2E6AEEED-009C-7A44-A197-3D9646AE903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8413" y="3865612"/>
            <a:ext cx="4283587" cy="780586"/>
          </a:xfrm>
          <a:prstGeom prst="rect">
            <a:avLst/>
          </a:prstGeom>
        </p:spPr>
      </p:pic>
      <p:sp>
        <p:nvSpPr>
          <p:cNvPr id="8" name="文本框 7">
            <a:extLst>
              <a:ext uri="{FF2B5EF4-FFF2-40B4-BE49-F238E27FC236}">
                <a16:creationId xmlns:a16="http://schemas.microsoft.com/office/drawing/2014/main" id="{45FE1D61-BFB2-D146-8D43-F2BAD51A89BD}"/>
              </a:ext>
            </a:extLst>
          </p:cNvPr>
          <p:cNvSpPr txBox="1"/>
          <p:nvPr/>
        </p:nvSpPr>
        <p:spPr>
          <a:xfrm>
            <a:off x="991350" y="3361556"/>
            <a:ext cx="2877711" cy="307777"/>
          </a:xfrm>
          <a:prstGeom prst="rect">
            <a:avLst/>
          </a:prstGeom>
          <a:noFill/>
        </p:spPr>
        <p:txBody>
          <a:bodyPr wrap="none" rtlCol="0">
            <a:spAutoFit/>
          </a:bodyPr>
          <a:lstStyle/>
          <a:p>
            <a:r>
              <a:rPr kumimoji="1" lang="zh-CN" altLang="en-US" sz="1400" dirty="0"/>
              <a:t>进程切换开销明显高于用户态线程</a:t>
            </a:r>
          </a:p>
        </p:txBody>
      </p:sp>
      <p:pic>
        <p:nvPicPr>
          <p:cNvPr id="9" name="图片 8">
            <a:extLst>
              <a:ext uri="{FF2B5EF4-FFF2-40B4-BE49-F238E27FC236}">
                <a16:creationId xmlns:a16="http://schemas.microsoft.com/office/drawing/2014/main" id="{E2BBF297-C7F0-6B42-88C0-8957272B7900}"/>
              </a:ext>
            </a:extLst>
          </p:cNvPr>
          <p:cNvPicPr>
            <a:picLocks noChangeAspect="1"/>
          </p:cNvPicPr>
          <p:nvPr/>
        </p:nvPicPr>
        <p:blipFill>
          <a:blip r:embed="rId3"/>
          <a:stretch>
            <a:fillRect/>
          </a:stretch>
        </p:blipFill>
        <p:spPr>
          <a:xfrm>
            <a:off x="4860032" y="3865612"/>
            <a:ext cx="3647637" cy="1187603"/>
          </a:xfrm>
          <a:prstGeom prst="rect">
            <a:avLst/>
          </a:prstGeom>
        </p:spPr>
      </p:pic>
      <p:sp>
        <p:nvSpPr>
          <p:cNvPr id="10" name="文本框 9">
            <a:extLst>
              <a:ext uri="{FF2B5EF4-FFF2-40B4-BE49-F238E27FC236}">
                <a16:creationId xmlns:a16="http://schemas.microsoft.com/office/drawing/2014/main" id="{DCA56F4F-1E93-BD4C-AA9F-CCA2CA43746C}"/>
              </a:ext>
            </a:extLst>
          </p:cNvPr>
          <p:cNvSpPr txBox="1"/>
          <p:nvPr/>
        </p:nvSpPr>
        <p:spPr>
          <a:xfrm>
            <a:off x="5091349" y="3361556"/>
            <a:ext cx="3416320" cy="307777"/>
          </a:xfrm>
          <a:prstGeom prst="rect">
            <a:avLst/>
          </a:prstGeom>
          <a:noFill/>
        </p:spPr>
        <p:txBody>
          <a:bodyPr wrap="none" rtlCol="0">
            <a:spAutoFit/>
          </a:bodyPr>
          <a:lstStyle/>
          <a:p>
            <a:r>
              <a:rPr kumimoji="1" lang="zh-CN" altLang="en-US" sz="1400" dirty="0"/>
              <a:t>内核线程数量多，做出最优决策极其困难</a:t>
            </a:r>
          </a:p>
        </p:txBody>
      </p:sp>
      <p:sp>
        <p:nvSpPr>
          <p:cNvPr id="11" name="文本框 10">
            <a:extLst>
              <a:ext uri="{FF2B5EF4-FFF2-40B4-BE49-F238E27FC236}">
                <a16:creationId xmlns:a16="http://schemas.microsoft.com/office/drawing/2014/main" id="{8F598B5D-BD58-624E-94F0-E706BC9C8634}"/>
              </a:ext>
            </a:extLst>
          </p:cNvPr>
          <p:cNvSpPr txBox="1"/>
          <p:nvPr/>
        </p:nvSpPr>
        <p:spPr>
          <a:xfrm>
            <a:off x="288413" y="5173851"/>
            <a:ext cx="3265638" cy="246221"/>
          </a:xfrm>
          <a:prstGeom prst="rect">
            <a:avLst/>
          </a:prstGeom>
          <a:noFill/>
        </p:spPr>
        <p:txBody>
          <a:bodyPr wrap="none" rtlCol="0">
            <a:spAutoFit/>
          </a:bodyPr>
          <a:lstStyle/>
          <a:p>
            <a:r>
              <a:rPr lang="en-US" altLang="zh-CN" sz="1000" dirty="0"/>
              <a:t>Arachne: Core-Aware Thread Management</a:t>
            </a:r>
            <a:r>
              <a:rPr lang="zh-CN" altLang="en-US" sz="1000" dirty="0"/>
              <a:t> </a:t>
            </a:r>
            <a:r>
              <a:rPr lang="en-US" altLang="zh-CN" sz="1000" dirty="0"/>
              <a:t>(OSDI'18) </a:t>
            </a:r>
          </a:p>
        </p:txBody>
      </p:sp>
    </p:spTree>
    <p:extLst>
      <p:ext uri="{BB962C8B-B14F-4D97-AF65-F5344CB8AC3E}">
        <p14:creationId xmlns:p14="http://schemas.microsoft.com/office/powerpoint/2010/main" val="36510060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9955B8-7E68-0C42-9E76-8A9638B33040}"/>
              </a:ext>
            </a:extLst>
          </p:cNvPr>
          <p:cNvSpPr>
            <a:spLocks noGrp="1"/>
          </p:cNvSpPr>
          <p:nvPr>
            <p:ph type="title"/>
          </p:nvPr>
        </p:nvSpPr>
        <p:spPr/>
        <p:txBody>
          <a:bodyPr>
            <a:normAutofit fontScale="90000"/>
          </a:bodyPr>
          <a:lstStyle/>
          <a:p>
            <a:r>
              <a:rPr kumimoji="1" lang="zh-CN" altLang="en-US" dirty="0"/>
              <a:t>思路</a:t>
            </a:r>
            <a:r>
              <a:rPr kumimoji="1" lang="en-US" altLang="zh-CN" dirty="0"/>
              <a:t>-3</a:t>
            </a:r>
            <a:r>
              <a:rPr kumimoji="1" lang="zh-CN" altLang="en-US" dirty="0"/>
              <a:t>：让应用做更多决策，如自主调度</a:t>
            </a:r>
          </a:p>
        </p:txBody>
      </p:sp>
      <p:sp>
        <p:nvSpPr>
          <p:cNvPr id="3" name="内容占位符 2">
            <a:extLst>
              <a:ext uri="{FF2B5EF4-FFF2-40B4-BE49-F238E27FC236}">
                <a16:creationId xmlns:a16="http://schemas.microsoft.com/office/drawing/2014/main" id="{C8FA76EA-0622-C54A-AF94-16742C9A822D}"/>
              </a:ext>
            </a:extLst>
          </p:cNvPr>
          <p:cNvSpPr>
            <a:spLocks noGrp="1"/>
          </p:cNvSpPr>
          <p:nvPr>
            <p:ph idx="1"/>
          </p:nvPr>
        </p:nvSpPr>
        <p:spPr/>
        <p:txBody>
          <a:bodyPr/>
          <a:lstStyle/>
          <a:p>
            <a:r>
              <a:rPr kumimoji="1" lang="zh-CN" altLang="en-US" sz="2200" dirty="0"/>
              <a:t>例如：将物理</a:t>
            </a:r>
            <a:r>
              <a:rPr kumimoji="1" lang="en-US" altLang="zh-CN" sz="2200" dirty="0"/>
              <a:t>CPU</a:t>
            </a:r>
            <a:r>
              <a:rPr kumimoji="1" lang="zh-CN" altLang="en-US" sz="2200" dirty="0"/>
              <a:t>核直接交给应用</a:t>
            </a:r>
            <a:endParaRPr kumimoji="1" lang="en-US" altLang="zh-CN" sz="2200" dirty="0"/>
          </a:p>
          <a:p>
            <a:pPr lvl="1"/>
            <a:r>
              <a:rPr kumimoji="1" lang="zh-CN" altLang="en-US" sz="1800" dirty="0"/>
              <a:t>应用使用</a:t>
            </a:r>
            <a:r>
              <a:rPr kumimoji="1" lang="zh-CN" altLang="en-US" sz="1800" b="1" dirty="0"/>
              <a:t>核</a:t>
            </a:r>
            <a:r>
              <a:rPr kumimoji="1" lang="zh-CN" altLang="en-US" sz="1800" dirty="0"/>
              <a:t>与内核交互，而不是</a:t>
            </a:r>
            <a:r>
              <a:rPr kumimoji="1" lang="zh-CN" altLang="en-US" sz="1800" b="1" dirty="0"/>
              <a:t>线程</a:t>
            </a:r>
            <a:endParaRPr kumimoji="1" lang="en-US" altLang="zh-CN" sz="1800" b="1" dirty="0"/>
          </a:p>
          <a:p>
            <a:pPr lvl="1"/>
            <a:r>
              <a:rPr kumimoji="1" lang="zh-CN" altLang="en-US" sz="1800" dirty="0"/>
              <a:t>避免内核调度器与应用调度策略冲突造成的“双调度问题”</a:t>
            </a:r>
            <a:endParaRPr kumimoji="1" lang="en-US" altLang="zh-CN" sz="1800" dirty="0"/>
          </a:p>
        </p:txBody>
      </p:sp>
      <p:sp>
        <p:nvSpPr>
          <p:cNvPr id="4" name="灯片编号占位符 3">
            <a:extLst>
              <a:ext uri="{FF2B5EF4-FFF2-40B4-BE49-F238E27FC236}">
                <a16:creationId xmlns:a16="http://schemas.microsoft.com/office/drawing/2014/main" id="{6EE8C437-E8E4-9D4F-9908-7874F7A19D24}"/>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
        <p:nvSpPr>
          <p:cNvPr id="7" name="文本框 6">
            <a:extLst>
              <a:ext uri="{FF2B5EF4-FFF2-40B4-BE49-F238E27FC236}">
                <a16:creationId xmlns:a16="http://schemas.microsoft.com/office/drawing/2014/main" id="{0C0C7A68-D874-534F-A1B6-0D5BA06DF5DE}"/>
              </a:ext>
            </a:extLst>
          </p:cNvPr>
          <p:cNvSpPr txBox="1"/>
          <p:nvPr/>
        </p:nvSpPr>
        <p:spPr>
          <a:xfrm>
            <a:off x="299908" y="2662438"/>
            <a:ext cx="5210081" cy="307777"/>
          </a:xfrm>
          <a:prstGeom prst="rect">
            <a:avLst/>
          </a:prstGeom>
          <a:noFill/>
        </p:spPr>
        <p:txBody>
          <a:bodyPr wrap="none" rtlCol="0">
            <a:spAutoFit/>
          </a:bodyPr>
          <a:lstStyle/>
          <a:p>
            <a:r>
              <a:rPr kumimoji="1" lang="zh-CN" altLang="en-US" sz="1400" dirty="0"/>
              <a:t>以内核线程的形式将物理核交给应用，用户态线程可自主调度</a:t>
            </a:r>
          </a:p>
        </p:txBody>
      </p:sp>
      <p:pic>
        <p:nvPicPr>
          <p:cNvPr id="8" name="图片 7">
            <a:extLst>
              <a:ext uri="{FF2B5EF4-FFF2-40B4-BE49-F238E27FC236}">
                <a16:creationId xmlns:a16="http://schemas.microsoft.com/office/drawing/2014/main" id="{BCE91DEE-D385-2445-A38D-0493E83C436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89676" y="2995642"/>
            <a:ext cx="2998748" cy="2238122"/>
          </a:xfrm>
          <a:prstGeom prst="rect">
            <a:avLst/>
          </a:prstGeom>
        </p:spPr>
      </p:pic>
      <p:sp>
        <p:nvSpPr>
          <p:cNvPr id="9" name="文本框 8">
            <a:extLst>
              <a:ext uri="{FF2B5EF4-FFF2-40B4-BE49-F238E27FC236}">
                <a16:creationId xmlns:a16="http://schemas.microsoft.com/office/drawing/2014/main" id="{954CFA7B-8076-6E4C-B282-1354D1CDECB9}"/>
              </a:ext>
            </a:extLst>
          </p:cNvPr>
          <p:cNvSpPr txBox="1"/>
          <p:nvPr/>
        </p:nvSpPr>
        <p:spPr>
          <a:xfrm>
            <a:off x="5403348" y="2660310"/>
            <a:ext cx="3595856" cy="307777"/>
          </a:xfrm>
          <a:prstGeom prst="rect">
            <a:avLst/>
          </a:prstGeom>
          <a:noFill/>
        </p:spPr>
        <p:txBody>
          <a:bodyPr wrap="none" rtlCol="0">
            <a:spAutoFit/>
          </a:bodyPr>
          <a:lstStyle/>
          <a:p>
            <a:r>
              <a:rPr kumimoji="1" lang="zh-CN" altLang="en-US" sz="1400" dirty="0"/>
              <a:t>免除调度开销使应用具有了更好的可扩展性</a:t>
            </a:r>
          </a:p>
        </p:txBody>
      </p:sp>
      <p:sp>
        <p:nvSpPr>
          <p:cNvPr id="10" name="文本框 9">
            <a:extLst>
              <a:ext uri="{FF2B5EF4-FFF2-40B4-BE49-F238E27FC236}">
                <a16:creationId xmlns:a16="http://schemas.microsoft.com/office/drawing/2014/main" id="{6A74DDD0-5D5F-2448-893E-1A7ABC620CCC}"/>
              </a:ext>
            </a:extLst>
          </p:cNvPr>
          <p:cNvSpPr txBox="1"/>
          <p:nvPr/>
        </p:nvSpPr>
        <p:spPr>
          <a:xfrm>
            <a:off x="299908" y="5164508"/>
            <a:ext cx="3265638" cy="246221"/>
          </a:xfrm>
          <a:prstGeom prst="rect">
            <a:avLst/>
          </a:prstGeom>
          <a:noFill/>
        </p:spPr>
        <p:txBody>
          <a:bodyPr wrap="none" rtlCol="0">
            <a:spAutoFit/>
          </a:bodyPr>
          <a:lstStyle/>
          <a:p>
            <a:r>
              <a:rPr lang="en-US" altLang="zh-CN" sz="1000" dirty="0"/>
              <a:t>Arachne: Core-Aware Thread Management</a:t>
            </a:r>
            <a:r>
              <a:rPr lang="zh-CN" altLang="en-US" sz="1000" dirty="0"/>
              <a:t> </a:t>
            </a:r>
            <a:r>
              <a:rPr lang="en-US" altLang="zh-CN" sz="1000" dirty="0"/>
              <a:t>(OSDI'18) </a:t>
            </a:r>
          </a:p>
        </p:txBody>
      </p:sp>
      <p:pic>
        <p:nvPicPr>
          <p:cNvPr id="12" name="图片 11">
            <a:extLst>
              <a:ext uri="{FF2B5EF4-FFF2-40B4-BE49-F238E27FC236}">
                <a16:creationId xmlns:a16="http://schemas.microsoft.com/office/drawing/2014/main" id="{818DFA9B-EFBA-2D4C-B4C3-002A69BFB0F4}"/>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187623" y="2982486"/>
            <a:ext cx="3368633" cy="2096491"/>
          </a:xfrm>
          <a:prstGeom prst="rect">
            <a:avLst/>
          </a:prstGeom>
        </p:spPr>
      </p:pic>
      <p:sp>
        <p:nvSpPr>
          <p:cNvPr id="11" name="页脚占位符 4">
            <a:extLst>
              <a:ext uri="{FF2B5EF4-FFF2-40B4-BE49-F238E27FC236}">
                <a16:creationId xmlns:a16="http://schemas.microsoft.com/office/drawing/2014/main" id="{E71E58C2-82EB-324C-AD80-808320E16A9C}"/>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086978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1E8F3F-0CF9-9A42-A8A5-40612EF2014A}"/>
              </a:ext>
            </a:extLst>
          </p:cNvPr>
          <p:cNvSpPr>
            <a:spLocks noGrp="1"/>
          </p:cNvSpPr>
          <p:nvPr>
            <p:ph type="title"/>
          </p:nvPr>
        </p:nvSpPr>
        <p:spPr/>
        <p:txBody>
          <a:bodyPr/>
          <a:lstStyle/>
          <a:p>
            <a:r>
              <a:rPr kumimoji="1" lang="zh-CN" altLang="en-US" dirty="0"/>
              <a:t>小结：设计新型操作系统的关键词</a:t>
            </a:r>
          </a:p>
        </p:txBody>
      </p:sp>
      <p:sp>
        <p:nvSpPr>
          <p:cNvPr id="3" name="内容占位符 2">
            <a:extLst>
              <a:ext uri="{FF2B5EF4-FFF2-40B4-BE49-F238E27FC236}">
                <a16:creationId xmlns:a16="http://schemas.microsoft.com/office/drawing/2014/main" id="{D45D5BC6-2C28-EE4A-877B-A72FBC6C0597}"/>
              </a:ext>
            </a:extLst>
          </p:cNvPr>
          <p:cNvSpPr>
            <a:spLocks noGrp="1"/>
          </p:cNvSpPr>
          <p:nvPr>
            <p:ph idx="1"/>
          </p:nvPr>
        </p:nvSpPr>
        <p:spPr/>
        <p:txBody>
          <a:bodyPr>
            <a:normAutofit/>
          </a:bodyPr>
          <a:lstStyle/>
          <a:p>
            <a:r>
              <a:rPr kumimoji="1" lang="zh-CN" altLang="en-US" sz="2200" dirty="0"/>
              <a:t>放权</a:t>
            </a:r>
            <a:endParaRPr kumimoji="1" lang="en-US" altLang="zh-CN" sz="2200" dirty="0"/>
          </a:p>
          <a:p>
            <a:pPr lvl="1"/>
            <a:r>
              <a:rPr kumimoji="1" lang="zh-CN" altLang="en-US" sz="1800" dirty="0"/>
              <a:t>将内核从应用的关键路径上移除，绕开臃肿的软件栈</a:t>
            </a:r>
            <a:endParaRPr kumimoji="1" lang="en-US" altLang="zh-CN" sz="1800" dirty="0"/>
          </a:p>
          <a:p>
            <a:pPr lvl="1"/>
            <a:r>
              <a:rPr kumimoji="1" lang="zh-CN" altLang="en-US" sz="1800" dirty="0"/>
              <a:t>将更多功能（如调度）交由应用完成，减少进入内核的次数</a:t>
            </a:r>
            <a:endParaRPr kumimoji="1" lang="en-US" altLang="zh-CN" sz="1800" dirty="0"/>
          </a:p>
          <a:p>
            <a:r>
              <a:rPr kumimoji="1" lang="zh-CN" altLang="en-US" sz="2200" dirty="0"/>
              <a:t>裁剪</a:t>
            </a:r>
            <a:endParaRPr kumimoji="1" lang="en-US" altLang="zh-CN" sz="2200" dirty="0"/>
          </a:p>
          <a:p>
            <a:pPr lvl="1"/>
            <a:r>
              <a:rPr kumimoji="1" lang="zh-CN" altLang="en-US" sz="1800" dirty="0"/>
              <a:t>只保留内核抽象的必需功能，最小化抽象带来的开销</a:t>
            </a:r>
            <a:endParaRPr kumimoji="1" lang="en-US" altLang="zh-CN" sz="1800" dirty="0"/>
          </a:p>
          <a:p>
            <a:endParaRPr kumimoji="1" lang="en-US" altLang="zh-CN" sz="1800" dirty="0"/>
          </a:p>
          <a:p>
            <a:endParaRPr kumimoji="1" lang="en-US" altLang="zh-CN" dirty="0"/>
          </a:p>
          <a:p>
            <a:endParaRPr kumimoji="1" lang="en-US" altLang="zh-CN" dirty="0"/>
          </a:p>
          <a:p>
            <a:pPr lvl="1"/>
            <a:endParaRPr kumimoji="1" lang="zh-CN" altLang="en-US" dirty="0"/>
          </a:p>
        </p:txBody>
      </p:sp>
      <p:sp>
        <p:nvSpPr>
          <p:cNvPr id="4" name="灯片编号占位符 3">
            <a:extLst>
              <a:ext uri="{FF2B5EF4-FFF2-40B4-BE49-F238E27FC236}">
                <a16:creationId xmlns:a16="http://schemas.microsoft.com/office/drawing/2014/main" id="{02A82FC4-0716-F245-9D1D-8240E7BE8BB6}"/>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sp>
        <p:nvSpPr>
          <p:cNvPr id="5" name="页脚占位符 4">
            <a:extLst>
              <a:ext uri="{FF2B5EF4-FFF2-40B4-BE49-F238E27FC236}">
                <a16:creationId xmlns:a16="http://schemas.microsoft.com/office/drawing/2014/main" id="{27CB36C2-970A-3547-A786-0453D3611ED1}"/>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995695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en-US" altLang="zh-CN" dirty="0"/>
              <a:t>3</a:t>
            </a:r>
            <a:r>
              <a:rPr kumimoji="1" lang="zh-CN" altLang="en-US" dirty="0"/>
              <a:t>、多核同步原语</a:t>
            </a:r>
            <a:endParaRPr kumimoji="1" lang="zh-CN" altLang="en-US" b="1" dirty="0"/>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r>
              <a:rPr kumimoji="1" lang="en-US" altLang="zh-CN" dirty="0"/>
              <a:t>Synchronization</a:t>
            </a:r>
          </a:p>
        </p:txBody>
      </p:sp>
      <p:sp>
        <p:nvSpPr>
          <p:cNvPr id="7" name="灯片编号占位符 3">
            <a:extLst>
              <a:ext uri="{FF2B5EF4-FFF2-40B4-BE49-F238E27FC236}">
                <a16:creationId xmlns:a16="http://schemas.microsoft.com/office/drawing/2014/main" id="{416C07BF-7EE8-D34F-950A-3902E83603CB}"/>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31</a:t>
            </a:fld>
            <a:endParaRPr lang="zh-CN" altLang="en-US"/>
          </a:p>
        </p:txBody>
      </p:sp>
      <p:sp>
        <p:nvSpPr>
          <p:cNvPr id="8" name="页脚占位符 4">
            <a:extLst>
              <a:ext uri="{FF2B5EF4-FFF2-40B4-BE49-F238E27FC236}">
                <a16:creationId xmlns:a16="http://schemas.microsoft.com/office/drawing/2014/main" id="{0E8CFBFB-BDD2-7149-9D0A-7202C445CDCA}"/>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6353421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7E87667F-B497-AD45-BCFD-540CAA3BE2D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313013" y="955803"/>
            <a:ext cx="6157216" cy="4104811"/>
          </a:xfrm>
          <a:prstGeom prst="rect">
            <a:avLst/>
          </a:prstGeom>
        </p:spPr>
      </p:pic>
      <p:sp>
        <p:nvSpPr>
          <p:cNvPr id="2" name="Title 1">
            <a:extLst>
              <a:ext uri="{FF2B5EF4-FFF2-40B4-BE49-F238E27FC236}">
                <a16:creationId xmlns:a16="http://schemas.microsoft.com/office/drawing/2014/main" id="{2D9BAD0C-9E7F-8841-94EB-B6310BF46A64}"/>
              </a:ext>
            </a:extLst>
          </p:cNvPr>
          <p:cNvSpPr>
            <a:spLocks noGrp="1"/>
          </p:cNvSpPr>
          <p:nvPr>
            <p:ph type="title"/>
          </p:nvPr>
        </p:nvSpPr>
        <p:spPr/>
        <p:txBody>
          <a:bodyPr>
            <a:normAutofit/>
          </a:bodyPr>
          <a:lstStyle/>
          <a:p>
            <a:r>
              <a:rPr lang="zh-CN" altLang="en-US" sz="2800" dirty="0">
                <a:solidFill>
                  <a:srgbClr val="BE384B"/>
                </a:solidFill>
              </a:rPr>
              <a:t>挑战</a:t>
            </a:r>
            <a:r>
              <a:rPr lang="en-US" altLang="zh-CN" sz="2800" dirty="0">
                <a:solidFill>
                  <a:srgbClr val="BE384B"/>
                </a:solidFill>
              </a:rPr>
              <a:t>-1</a:t>
            </a:r>
            <a:r>
              <a:rPr lang="zh-CN" altLang="en-US" sz="2800" dirty="0">
                <a:solidFill>
                  <a:srgbClr val="BE384B"/>
                </a:solidFill>
              </a:rPr>
              <a:t>：</a:t>
            </a:r>
            <a:r>
              <a:rPr lang="en-US" altLang="zh-CN" sz="2800" dirty="0">
                <a:solidFill>
                  <a:srgbClr val="BE384B"/>
                </a:solidFill>
              </a:rPr>
              <a:t>CPU</a:t>
            </a:r>
            <a:r>
              <a:rPr lang="zh-CN" altLang="en-US" sz="2800" dirty="0">
                <a:solidFill>
                  <a:srgbClr val="BE384B"/>
                </a:solidFill>
              </a:rPr>
              <a:t>核越来越多，锁的可扩展性遇到瓶颈</a:t>
            </a:r>
            <a:endParaRPr lang="en-CN"/>
          </a:p>
        </p:txBody>
      </p:sp>
      <p:cxnSp>
        <p:nvCxnSpPr>
          <p:cNvPr id="5" name="Straight Arrow Connector 4">
            <a:extLst>
              <a:ext uri="{FF2B5EF4-FFF2-40B4-BE49-F238E27FC236}">
                <a16:creationId xmlns:a16="http://schemas.microsoft.com/office/drawing/2014/main" id="{411ECD42-20E1-1F46-ABFC-8C1E20FA283E}"/>
              </a:ext>
            </a:extLst>
          </p:cNvPr>
          <p:cNvCxnSpPr>
            <a:cxnSpLocks/>
          </p:cNvCxnSpPr>
          <p:nvPr/>
        </p:nvCxnSpPr>
        <p:spPr>
          <a:xfrm flipV="1">
            <a:off x="2463018" y="5111649"/>
            <a:ext cx="3501332"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67EC332-1789-CE40-B55D-9F53E8410349}"/>
              </a:ext>
            </a:extLst>
          </p:cNvPr>
          <p:cNvSpPr/>
          <p:nvPr/>
        </p:nvSpPr>
        <p:spPr>
          <a:xfrm>
            <a:off x="6222775" y="4892027"/>
            <a:ext cx="1107996" cy="369332"/>
          </a:xfrm>
          <a:prstGeom prst="rect">
            <a:avLst/>
          </a:prstGeom>
        </p:spPr>
        <p:txBody>
          <a:bodyPr wrap="none">
            <a:spAutoFit/>
          </a:bodyPr>
          <a:lstStyle/>
          <a:p>
            <a:r>
              <a:rPr lang="zh-CN" altLang="en-US"/>
              <a:t>增加核数</a:t>
            </a:r>
            <a:endParaRPr lang="en-CN"/>
          </a:p>
        </p:txBody>
      </p:sp>
      <p:cxnSp>
        <p:nvCxnSpPr>
          <p:cNvPr id="8" name="Straight Arrow Connector 7">
            <a:extLst>
              <a:ext uri="{FF2B5EF4-FFF2-40B4-BE49-F238E27FC236}">
                <a16:creationId xmlns:a16="http://schemas.microsoft.com/office/drawing/2014/main" id="{3344D48E-2CF1-9044-9FBC-C351028FA87D}"/>
              </a:ext>
            </a:extLst>
          </p:cNvPr>
          <p:cNvCxnSpPr>
            <a:cxnSpLocks/>
          </p:cNvCxnSpPr>
          <p:nvPr/>
        </p:nvCxnSpPr>
        <p:spPr>
          <a:xfrm flipV="1">
            <a:off x="1043608" y="1348759"/>
            <a:ext cx="0" cy="30174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8A8482C-CD07-CC42-922C-236CD2153373}"/>
              </a:ext>
            </a:extLst>
          </p:cNvPr>
          <p:cNvSpPr/>
          <p:nvPr/>
        </p:nvSpPr>
        <p:spPr>
          <a:xfrm rot="16200000">
            <a:off x="355757" y="2672833"/>
            <a:ext cx="646331" cy="369332"/>
          </a:xfrm>
          <a:prstGeom prst="rect">
            <a:avLst/>
          </a:prstGeom>
        </p:spPr>
        <p:txBody>
          <a:bodyPr wrap="none">
            <a:spAutoFit/>
          </a:bodyPr>
          <a:lstStyle/>
          <a:p>
            <a:r>
              <a:rPr lang="zh-CN" altLang="en-US"/>
              <a:t>性能</a:t>
            </a:r>
            <a:endParaRPr lang="en-CN"/>
          </a:p>
        </p:txBody>
      </p:sp>
      <p:sp>
        <p:nvSpPr>
          <p:cNvPr id="16" name="Rectangle 15">
            <a:extLst>
              <a:ext uri="{FF2B5EF4-FFF2-40B4-BE49-F238E27FC236}">
                <a16:creationId xmlns:a16="http://schemas.microsoft.com/office/drawing/2014/main" id="{CEB3D141-29A6-4E43-8F6E-2F828C30C693}"/>
              </a:ext>
            </a:extLst>
          </p:cNvPr>
          <p:cNvSpPr/>
          <p:nvPr/>
        </p:nvSpPr>
        <p:spPr>
          <a:xfrm>
            <a:off x="7304342" y="1579717"/>
            <a:ext cx="1548346" cy="646331"/>
          </a:xfrm>
          <a:prstGeom prst="rect">
            <a:avLst/>
          </a:prstGeom>
        </p:spPr>
        <p:txBody>
          <a:bodyPr wrap="square">
            <a:spAutoFit/>
          </a:bodyPr>
          <a:lstStyle/>
          <a:p>
            <a:r>
              <a:rPr lang="zh-CN" altLang="en-US" b="1"/>
              <a:t>合理的理想性能曲线</a:t>
            </a:r>
            <a:endParaRPr lang="en-CN" b="1"/>
          </a:p>
        </p:txBody>
      </p:sp>
      <p:cxnSp>
        <p:nvCxnSpPr>
          <p:cNvPr id="14" name="Straight Arrow Connector 13">
            <a:extLst>
              <a:ext uri="{FF2B5EF4-FFF2-40B4-BE49-F238E27FC236}">
                <a16:creationId xmlns:a16="http://schemas.microsoft.com/office/drawing/2014/main" id="{3FD00304-0528-8D4D-8250-2401C48EEB37}"/>
              </a:ext>
            </a:extLst>
          </p:cNvPr>
          <p:cNvCxnSpPr>
            <a:cxnSpLocks/>
          </p:cNvCxnSpPr>
          <p:nvPr/>
        </p:nvCxnSpPr>
        <p:spPr>
          <a:xfrm flipV="1">
            <a:off x="2404227" y="2149419"/>
            <a:ext cx="2497011" cy="2118605"/>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9400E45-69FA-3E42-B9F0-DF15654F2DC4}"/>
              </a:ext>
            </a:extLst>
          </p:cNvPr>
          <p:cNvCxnSpPr>
            <a:cxnSpLocks/>
          </p:cNvCxnSpPr>
          <p:nvPr/>
        </p:nvCxnSpPr>
        <p:spPr>
          <a:xfrm flipV="1">
            <a:off x="5412312" y="1864916"/>
            <a:ext cx="1643790" cy="24681"/>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F6CABD7-1EB7-7747-A672-5B4A3D4C919B}"/>
              </a:ext>
            </a:extLst>
          </p:cNvPr>
          <p:cNvCxnSpPr>
            <a:cxnSpLocks/>
          </p:cNvCxnSpPr>
          <p:nvPr/>
        </p:nvCxnSpPr>
        <p:spPr>
          <a:xfrm flipV="1">
            <a:off x="4901238" y="1890434"/>
            <a:ext cx="511074" cy="258147"/>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C632F7E8-6EC1-0844-BC50-26537260C6D2}"/>
              </a:ext>
            </a:extLst>
          </p:cNvPr>
          <p:cNvSpPr/>
          <p:nvPr/>
        </p:nvSpPr>
        <p:spPr>
          <a:xfrm>
            <a:off x="4414599" y="2771744"/>
            <a:ext cx="2078494" cy="873957"/>
          </a:xfrm>
          <a:prstGeom prst="rect">
            <a:avLst/>
          </a:prstGeom>
        </p:spPr>
        <p:txBody>
          <a:bodyPr wrap="square">
            <a:spAutoFit/>
          </a:bodyPr>
          <a:lstStyle/>
          <a:p>
            <a:pPr algn="ctr">
              <a:lnSpc>
                <a:spcPct val="150000"/>
              </a:lnSpc>
            </a:pPr>
            <a:r>
              <a:rPr lang="zh-CN" altLang="en-US"/>
              <a:t>实际情况：使用自旋锁出现</a:t>
            </a:r>
            <a:r>
              <a:rPr lang="zh-CN" altLang="en-US" b="1"/>
              <a:t>性能断崖</a:t>
            </a:r>
            <a:endParaRPr lang="en-CN" b="1"/>
          </a:p>
        </p:txBody>
      </p:sp>
      <p:sp>
        <p:nvSpPr>
          <p:cNvPr id="3" name="Footer Placeholder 2">
            <a:extLst>
              <a:ext uri="{FF2B5EF4-FFF2-40B4-BE49-F238E27FC236}">
                <a16:creationId xmlns:a16="http://schemas.microsoft.com/office/drawing/2014/main" id="{BEE2CE36-1AC9-764E-8C54-E7428FA1903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10" name="Slide Number Placeholder 9">
            <a:extLst>
              <a:ext uri="{FF2B5EF4-FFF2-40B4-BE49-F238E27FC236}">
                <a16:creationId xmlns:a16="http://schemas.microsoft.com/office/drawing/2014/main" id="{768610E1-F8FE-E74C-9555-86FA12ECE2E6}"/>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spTree>
    <p:extLst>
      <p:ext uri="{BB962C8B-B14F-4D97-AF65-F5344CB8AC3E}">
        <p14:creationId xmlns:p14="http://schemas.microsoft.com/office/powerpoint/2010/main" val="22730913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noAutofit/>
          </a:bodyPr>
          <a:lstStyle/>
          <a:p>
            <a:r>
              <a:rPr lang="zh-CN" altLang="en-US" sz="2800" dirty="0"/>
              <a:t>挑战</a:t>
            </a:r>
            <a:r>
              <a:rPr lang="en-US" altLang="zh-CN" sz="2800" dirty="0"/>
              <a:t>-1</a:t>
            </a:r>
            <a:r>
              <a:rPr lang="zh-CN" altLang="en-US" sz="2800" dirty="0"/>
              <a:t>：</a:t>
            </a:r>
            <a:r>
              <a:rPr lang="en-US" altLang="zh-CN" sz="2800" dirty="0"/>
              <a:t>CPU</a:t>
            </a:r>
            <a:r>
              <a:rPr lang="zh-CN" altLang="en-US" sz="2800" dirty="0"/>
              <a:t>核越来越多，锁的可扩展性遇到瓶颈</a:t>
            </a:r>
            <a:endParaRPr lang="en-CN" altLang="zh-CN" sz="2800"/>
          </a:p>
        </p:txBody>
      </p:sp>
      <p:sp>
        <p:nvSpPr>
          <p:cNvPr id="3" name="Footer Placeholder 2">
            <a:extLst>
              <a:ext uri="{FF2B5EF4-FFF2-40B4-BE49-F238E27FC236}">
                <a16:creationId xmlns:a16="http://schemas.microsoft.com/office/drawing/2014/main" id="{519E4DBC-867C-7E4D-AC33-B15A86280E1F}"/>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7" name="Picture 6">
            <a:extLst>
              <a:ext uri="{FF2B5EF4-FFF2-40B4-BE49-F238E27FC236}">
                <a16:creationId xmlns:a16="http://schemas.microsoft.com/office/drawing/2014/main" id="{098D6FE6-0743-964D-A242-20EA39066818}"/>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7504" y="1345332"/>
            <a:ext cx="5184576" cy="3456383"/>
          </a:xfrm>
          <a:prstGeom prst="rect">
            <a:avLst/>
          </a:prstGeom>
        </p:spPr>
      </p:pic>
      <p:sp>
        <p:nvSpPr>
          <p:cNvPr id="6" name="TextBox 5">
            <a:extLst>
              <a:ext uri="{FF2B5EF4-FFF2-40B4-BE49-F238E27FC236}">
                <a16:creationId xmlns:a16="http://schemas.microsoft.com/office/drawing/2014/main" id="{AED5B9FA-6BAA-4346-B04B-01F148E8BAAA}"/>
              </a:ext>
            </a:extLst>
          </p:cNvPr>
          <p:cNvSpPr txBox="1"/>
          <p:nvPr/>
        </p:nvSpPr>
        <p:spPr>
          <a:xfrm>
            <a:off x="5074424" y="2244183"/>
            <a:ext cx="3888432" cy="170495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CN"/>
              <a:t>Cohort Lock</a:t>
            </a:r>
            <a:r>
              <a:rPr lang="zh-CN" altLang="en-US"/>
              <a:t>：将竞争限制在本地</a:t>
            </a:r>
            <a:r>
              <a:rPr lang="zh-CN" altLang="en-CN"/>
              <a:t>依旧</a:t>
            </a:r>
            <a:r>
              <a:rPr lang="zh-CN" altLang="en-US" b="1"/>
              <a:t>无法避免</a:t>
            </a:r>
            <a:r>
              <a:rPr lang="zh-CN" altLang="en-US"/>
              <a:t>跨节点的开销</a:t>
            </a:r>
            <a:endParaRPr lang="en-US" altLang="zh-CN"/>
          </a:p>
          <a:p>
            <a:pPr marL="285750" indent="-285750">
              <a:lnSpc>
                <a:spcPct val="150000"/>
              </a:lnSpc>
              <a:buFont typeface="Arial" panose="020B0604020202020204" pitchFamily="34" charset="0"/>
              <a:buChar char="•"/>
            </a:pPr>
            <a:r>
              <a:rPr lang="zh-CN" altLang="en-US" b="1"/>
              <a:t>能否进一步提升</a:t>
            </a:r>
            <a:r>
              <a:rPr lang="en-US" altLang="zh-CN"/>
              <a:t>NUMA</a:t>
            </a:r>
            <a:r>
              <a:rPr lang="zh-CN" altLang="en-US"/>
              <a:t>环境下同步原语的可扩展性？</a:t>
            </a:r>
            <a:endParaRPr lang="en-US" altLang="zh-CN"/>
          </a:p>
        </p:txBody>
      </p:sp>
      <p:cxnSp>
        <p:nvCxnSpPr>
          <p:cNvPr id="8" name="Straight Arrow Connector 7">
            <a:extLst>
              <a:ext uri="{FF2B5EF4-FFF2-40B4-BE49-F238E27FC236}">
                <a16:creationId xmlns:a16="http://schemas.microsoft.com/office/drawing/2014/main" id="{79CAD91C-E147-5944-961B-95588D332FAF}"/>
              </a:ext>
            </a:extLst>
          </p:cNvPr>
          <p:cNvCxnSpPr>
            <a:cxnSpLocks/>
          </p:cNvCxnSpPr>
          <p:nvPr/>
        </p:nvCxnSpPr>
        <p:spPr>
          <a:xfrm flipH="1">
            <a:off x="3059832" y="2022899"/>
            <a:ext cx="1475184" cy="55004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D897B9B-443F-2E40-9B9F-5271F7FC5B63}"/>
              </a:ext>
            </a:extLst>
          </p:cNvPr>
          <p:cNvSpPr/>
          <p:nvPr/>
        </p:nvSpPr>
        <p:spPr>
          <a:xfrm>
            <a:off x="5148064" y="1774751"/>
            <a:ext cx="3741152" cy="369332"/>
          </a:xfrm>
          <a:prstGeom prst="rect">
            <a:avLst/>
          </a:prstGeom>
        </p:spPr>
        <p:txBody>
          <a:bodyPr wrap="none">
            <a:spAutoFit/>
          </a:bodyPr>
          <a:lstStyle/>
          <a:p>
            <a:r>
              <a:rPr lang="zh-CN" altLang="en-US"/>
              <a:t>回顾：之前课程介绍的</a:t>
            </a:r>
            <a:r>
              <a:rPr lang="en-US" altLang="zh-CN"/>
              <a:t>Cohort</a:t>
            </a:r>
            <a:r>
              <a:rPr lang="zh-CN" altLang="en-US"/>
              <a:t> </a:t>
            </a:r>
            <a:r>
              <a:rPr lang="en-US" altLang="zh-CN"/>
              <a:t>Lock</a:t>
            </a:r>
            <a:endParaRPr lang="en-CN"/>
          </a:p>
        </p:txBody>
      </p:sp>
      <p:sp>
        <p:nvSpPr>
          <p:cNvPr id="12" name="Rectangle 11">
            <a:extLst>
              <a:ext uri="{FF2B5EF4-FFF2-40B4-BE49-F238E27FC236}">
                <a16:creationId xmlns:a16="http://schemas.microsoft.com/office/drawing/2014/main" id="{4E737638-12F2-7144-8ABC-908C15522136}"/>
              </a:ext>
            </a:extLst>
          </p:cNvPr>
          <p:cNvSpPr/>
          <p:nvPr/>
        </p:nvSpPr>
        <p:spPr>
          <a:xfrm>
            <a:off x="1955202" y="4801715"/>
            <a:ext cx="2209259" cy="307777"/>
          </a:xfrm>
          <a:prstGeom prst="rect">
            <a:avLst/>
          </a:prstGeom>
        </p:spPr>
        <p:txBody>
          <a:bodyPr wrap="none">
            <a:spAutoFit/>
          </a:bodyPr>
          <a:lstStyle/>
          <a:p>
            <a:r>
              <a:rPr lang="zh-CN" altLang="en-US" sz="1400" dirty="0"/>
              <a:t>鲲鹏服务器 锁微基准测试</a:t>
            </a:r>
            <a:endParaRPr lang="en-CN" sz="1400"/>
          </a:p>
        </p:txBody>
      </p:sp>
      <p:sp>
        <p:nvSpPr>
          <p:cNvPr id="13" name="灯片编号占位符 3">
            <a:extLst>
              <a:ext uri="{FF2B5EF4-FFF2-40B4-BE49-F238E27FC236}">
                <a16:creationId xmlns:a16="http://schemas.microsoft.com/office/drawing/2014/main" id="{8610F6CB-E106-604E-B740-CACAF07C0BE7}"/>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33</a:t>
            </a:fld>
            <a:endParaRPr lang="zh-CN" altLang="en-US"/>
          </a:p>
        </p:txBody>
      </p:sp>
    </p:spTree>
    <p:extLst>
      <p:ext uri="{BB962C8B-B14F-4D97-AF65-F5344CB8AC3E}">
        <p14:creationId xmlns:p14="http://schemas.microsoft.com/office/powerpoint/2010/main" val="36649553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19E4DBC-867C-7E4D-AC33-B15A86280E1F}"/>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8" name="Rectangle 7">
            <a:extLst>
              <a:ext uri="{FF2B5EF4-FFF2-40B4-BE49-F238E27FC236}">
                <a16:creationId xmlns:a16="http://schemas.microsoft.com/office/drawing/2014/main" id="{AF585287-EF87-FE4A-8AD6-977391CAD3F4}"/>
              </a:ext>
            </a:extLst>
          </p:cNvPr>
          <p:cNvSpPr/>
          <p:nvPr/>
        </p:nvSpPr>
        <p:spPr>
          <a:xfrm>
            <a:off x="3419871" y="1416425"/>
            <a:ext cx="4724370" cy="458459"/>
          </a:xfrm>
          <a:prstGeom prst="rect">
            <a:avLst/>
          </a:prstGeom>
        </p:spPr>
        <p:txBody>
          <a:bodyPr wrap="none">
            <a:spAutoFit/>
          </a:bodyPr>
          <a:lstStyle/>
          <a:p>
            <a:pPr>
              <a:lnSpc>
                <a:spcPct val="150000"/>
              </a:lnSpc>
            </a:pPr>
            <a:r>
              <a:rPr lang="zh-CN" altLang="en-US" b="1" dirty="0"/>
              <a:t>思考：</a:t>
            </a:r>
            <a:r>
              <a:rPr lang="zh-CN" altLang="en-US" dirty="0"/>
              <a:t>多核环境下锁的</a:t>
            </a:r>
            <a:r>
              <a:rPr lang="zh-CN" altLang="en-US" b="1" dirty="0"/>
              <a:t>理想性能上限</a:t>
            </a:r>
            <a:r>
              <a:rPr lang="zh-CN" altLang="en-US" dirty="0"/>
              <a:t>在哪？</a:t>
            </a:r>
            <a:endParaRPr lang="en-US" altLang="zh-CN" dirty="0"/>
          </a:p>
        </p:txBody>
      </p:sp>
      <p:sp>
        <p:nvSpPr>
          <p:cNvPr id="9" name="Rounded Rectangle 8">
            <a:extLst>
              <a:ext uri="{FF2B5EF4-FFF2-40B4-BE49-F238E27FC236}">
                <a16:creationId xmlns:a16="http://schemas.microsoft.com/office/drawing/2014/main" id="{A3D06BF4-1C5E-5540-97BD-D6B5479859A9}"/>
              </a:ext>
            </a:extLst>
          </p:cNvPr>
          <p:cNvSpPr/>
          <p:nvPr/>
        </p:nvSpPr>
        <p:spPr>
          <a:xfrm>
            <a:off x="1299915" y="1983088"/>
            <a:ext cx="864097" cy="7920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0" name="Rectangle 9">
            <a:extLst>
              <a:ext uri="{FF2B5EF4-FFF2-40B4-BE49-F238E27FC236}">
                <a16:creationId xmlns:a16="http://schemas.microsoft.com/office/drawing/2014/main" id="{9C36A381-6F7F-F64C-9B21-E4AFBB1CBB3A}"/>
              </a:ext>
            </a:extLst>
          </p:cNvPr>
          <p:cNvSpPr/>
          <p:nvPr/>
        </p:nvSpPr>
        <p:spPr>
          <a:xfrm>
            <a:off x="3201863" y="2412627"/>
            <a:ext cx="5160387" cy="458459"/>
          </a:xfrm>
          <a:prstGeom prst="rect">
            <a:avLst/>
          </a:prstGeom>
        </p:spPr>
        <p:txBody>
          <a:bodyPr wrap="none">
            <a:spAutoFit/>
          </a:bodyPr>
          <a:lstStyle/>
          <a:p>
            <a:pPr>
              <a:lnSpc>
                <a:spcPct val="150000"/>
              </a:lnSpc>
            </a:pPr>
            <a:r>
              <a:rPr lang="zh-CN" altLang="en-US"/>
              <a:t>在</a:t>
            </a:r>
            <a:r>
              <a:rPr lang="zh-CN" altLang="en-US" b="1">
                <a:solidFill>
                  <a:srgbClr val="FF0000"/>
                </a:solidFill>
              </a:rPr>
              <a:t>一个</a:t>
            </a:r>
            <a:r>
              <a:rPr lang="zh-CN" altLang="en-US"/>
              <a:t>核心上，</a:t>
            </a:r>
            <a:r>
              <a:rPr lang="zh-CN" altLang="en-US" b="1"/>
              <a:t>连续执行临界区</a:t>
            </a:r>
            <a:r>
              <a:rPr lang="zh-CN" altLang="en-US"/>
              <a:t>能达到的吞吐率</a:t>
            </a:r>
            <a:endParaRPr lang="en-US" altLang="zh-CN"/>
          </a:p>
        </p:txBody>
      </p:sp>
      <p:sp>
        <p:nvSpPr>
          <p:cNvPr id="11" name="Rounded Rectangle 10">
            <a:extLst>
              <a:ext uri="{FF2B5EF4-FFF2-40B4-BE49-F238E27FC236}">
                <a16:creationId xmlns:a16="http://schemas.microsoft.com/office/drawing/2014/main" id="{4AE8EA2F-4534-CA46-99A7-722D187C5F72}"/>
              </a:ext>
            </a:extLst>
          </p:cNvPr>
          <p:cNvSpPr/>
          <p:nvPr/>
        </p:nvSpPr>
        <p:spPr>
          <a:xfrm>
            <a:off x="669421" y="399733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2" name="Rounded Rectangle 11">
            <a:extLst>
              <a:ext uri="{FF2B5EF4-FFF2-40B4-BE49-F238E27FC236}">
                <a16:creationId xmlns:a16="http://schemas.microsoft.com/office/drawing/2014/main" id="{4B71EE77-77A8-484E-968B-CE852D13BC2C}"/>
              </a:ext>
            </a:extLst>
          </p:cNvPr>
          <p:cNvSpPr/>
          <p:nvPr/>
        </p:nvSpPr>
        <p:spPr>
          <a:xfrm>
            <a:off x="1859609" y="399733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3" name="Rounded Rectangle 12">
            <a:extLst>
              <a:ext uri="{FF2B5EF4-FFF2-40B4-BE49-F238E27FC236}">
                <a16:creationId xmlns:a16="http://schemas.microsoft.com/office/drawing/2014/main" id="{6A9E87F7-DE97-8746-AE0D-F23B0F74CA88}"/>
              </a:ext>
            </a:extLst>
          </p:cNvPr>
          <p:cNvSpPr/>
          <p:nvPr/>
        </p:nvSpPr>
        <p:spPr>
          <a:xfrm>
            <a:off x="3049797" y="399733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4" name="Rounded Rectangle 13">
            <a:extLst>
              <a:ext uri="{FF2B5EF4-FFF2-40B4-BE49-F238E27FC236}">
                <a16:creationId xmlns:a16="http://schemas.microsoft.com/office/drawing/2014/main" id="{3645622B-D607-B74F-8E52-5C8DE7011F9F}"/>
              </a:ext>
            </a:extLst>
          </p:cNvPr>
          <p:cNvSpPr/>
          <p:nvPr/>
        </p:nvSpPr>
        <p:spPr>
          <a:xfrm>
            <a:off x="4239985" y="399733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5" name="Rectangle 14">
            <a:extLst>
              <a:ext uri="{FF2B5EF4-FFF2-40B4-BE49-F238E27FC236}">
                <a16:creationId xmlns:a16="http://schemas.microsoft.com/office/drawing/2014/main" id="{06FF2CB7-DE78-014C-A9E4-80CC09E7670A}"/>
              </a:ext>
            </a:extLst>
          </p:cNvPr>
          <p:cNvSpPr/>
          <p:nvPr/>
        </p:nvSpPr>
        <p:spPr>
          <a:xfrm>
            <a:off x="3150569" y="2917971"/>
            <a:ext cx="5262979" cy="458459"/>
          </a:xfrm>
          <a:prstGeom prst="rect">
            <a:avLst/>
          </a:prstGeom>
        </p:spPr>
        <p:txBody>
          <a:bodyPr wrap="none">
            <a:spAutoFit/>
          </a:bodyPr>
          <a:lstStyle/>
          <a:p>
            <a:pPr>
              <a:lnSpc>
                <a:spcPct val="150000"/>
              </a:lnSpc>
            </a:pPr>
            <a:r>
              <a:rPr lang="zh-CN" altLang="en-US"/>
              <a:t>没有由于</a:t>
            </a:r>
            <a:r>
              <a:rPr lang="zh-CN" altLang="en-US" b="1"/>
              <a:t>其他核心竞争、数据迁移</a:t>
            </a:r>
            <a:r>
              <a:rPr lang="zh-CN" altLang="en-US"/>
              <a:t>导致的性能开销</a:t>
            </a:r>
            <a:endParaRPr lang="en-US" altLang="zh-CN"/>
          </a:p>
        </p:txBody>
      </p:sp>
      <p:sp>
        <p:nvSpPr>
          <p:cNvPr id="17" name="Rectangle 16">
            <a:extLst>
              <a:ext uri="{FF2B5EF4-FFF2-40B4-BE49-F238E27FC236}">
                <a16:creationId xmlns:a16="http://schemas.microsoft.com/office/drawing/2014/main" id="{CE762B5C-7B73-0849-A5AE-C277A91B5C7B}"/>
              </a:ext>
            </a:extLst>
          </p:cNvPr>
          <p:cNvSpPr/>
          <p:nvPr/>
        </p:nvSpPr>
        <p:spPr>
          <a:xfrm>
            <a:off x="1499569" y="2559152"/>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t>临界区</a:t>
            </a:r>
            <a:endParaRPr lang="en-CN" sz="1200"/>
          </a:p>
        </p:txBody>
      </p:sp>
      <p:sp>
        <p:nvSpPr>
          <p:cNvPr id="18" name="Rectangle 17">
            <a:extLst>
              <a:ext uri="{FF2B5EF4-FFF2-40B4-BE49-F238E27FC236}">
                <a16:creationId xmlns:a16="http://schemas.microsoft.com/office/drawing/2014/main" id="{5D9A8C96-7048-C948-BEE7-BDA057D1DE8D}"/>
              </a:ext>
            </a:extLst>
          </p:cNvPr>
          <p:cNvSpPr/>
          <p:nvPr/>
        </p:nvSpPr>
        <p:spPr>
          <a:xfrm>
            <a:off x="1571578" y="2629423"/>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t>临界区</a:t>
            </a:r>
            <a:endParaRPr lang="en-CN" sz="1200"/>
          </a:p>
        </p:txBody>
      </p:sp>
      <p:sp>
        <p:nvSpPr>
          <p:cNvPr id="19" name="Rectangle 18">
            <a:extLst>
              <a:ext uri="{FF2B5EF4-FFF2-40B4-BE49-F238E27FC236}">
                <a16:creationId xmlns:a16="http://schemas.microsoft.com/office/drawing/2014/main" id="{0690CE14-838E-AD4B-83B6-87B53547FA3A}"/>
              </a:ext>
            </a:extLst>
          </p:cNvPr>
          <p:cNvSpPr/>
          <p:nvPr/>
        </p:nvSpPr>
        <p:spPr>
          <a:xfrm>
            <a:off x="1654065" y="2693524"/>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solidFill>
                  <a:schemeClr val="bg1"/>
                </a:solidFill>
              </a:rPr>
              <a:t>临界区</a:t>
            </a:r>
            <a:endParaRPr lang="en-CN" sz="1200">
              <a:solidFill>
                <a:schemeClr val="bg1"/>
              </a:solidFill>
            </a:endParaRPr>
          </a:p>
        </p:txBody>
      </p:sp>
      <p:sp>
        <p:nvSpPr>
          <p:cNvPr id="21" name="标题 1">
            <a:extLst>
              <a:ext uri="{FF2B5EF4-FFF2-40B4-BE49-F238E27FC236}">
                <a16:creationId xmlns:a16="http://schemas.microsoft.com/office/drawing/2014/main" id="{FEB504DC-F1B6-2F40-815E-D37379F4715A}"/>
              </a:ext>
            </a:extLst>
          </p:cNvPr>
          <p:cNvSpPr>
            <a:spLocks noGrp="1"/>
          </p:cNvSpPr>
          <p:nvPr>
            <p:ph type="title"/>
          </p:nvPr>
        </p:nvSpPr>
        <p:spPr>
          <a:xfrm>
            <a:off x="457200" y="228866"/>
            <a:ext cx="8229600" cy="900442"/>
          </a:xfrm>
        </p:spPr>
        <p:txBody>
          <a:bodyPr>
            <a:normAutofit/>
          </a:bodyPr>
          <a:lstStyle/>
          <a:p>
            <a:r>
              <a:rPr lang="zh-CN" altLang="en-US" sz="2800" dirty="0">
                <a:solidFill>
                  <a:srgbClr val="BE384B"/>
                </a:solidFill>
              </a:rPr>
              <a:t>挑战</a:t>
            </a:r>
            <a:r>
              <a:rPr lang="en-US" altLang="zh-CN" sz="2800" dirty="0">
                <a:solidFill>
                  <a:srgbClr val="BE384B"/>
                </a:solidFill>
              </a:rPr>
              <a:t>-1</a:t>
            </a:r>
            <a:r>
              <a:rPr lang="zh-CN" altLang="en-US" sz="2800" dirty="0">
                <a:solidFill>
                  <a:srgbClr val="BE384B"/>
                </a:solidFill>
              </a:rPr>
              <a:t>：</a:t>
            </a:r>
            <a:r>
              <a:rPr lang="en-US" altLang="zh-CN" sz="2800" dirty="0">
                <a:solidFill>
                  <a:srgbClr val="BE384B"/>
                </a:solidFill>
              </a:rPr>
              <a:t>CPU</a:t>
            </a:r>
            <a:r>
              <a:rPr lang="zh-CN" altLang="en-US" sz="2800" dirty="0">
                <a:solidFill>
                  <a:srgbClr val="BE384B"/>
                </a:solidFill>
              </a:rPr>
              <a:t>核越来越多，锁的可扩展性遇到瓶颈</a:t>
            </a:r>
            <a:endParaRPr kumimoji="1" lang="zh-CN" altLang="en-US" dirty="0">
              <a:latin typeface="+mn-lt"/>
            </a:endParaRPr>
          </a:p>
        </p:txBody>
      </p:sp>
      <p:sp>
        <p:nvSpPr>
          <p:cNvPr id="20" name="灯片编号占位符 3">
            <a:extLst>
              <a:ext uri="{FF2B5EF4-FFF2-40B4-BE49-F238E27FC236}">
                <a16:creationId xmlns:a16="http://schemas.microsoft.com/office/drawing/2014/main" id="{5E028675-53D2-354D-A4EA-F92DB89C5B55}"/>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34</a:t>
            </a:fld>
            <a:endParaRPr lang="zh-CN" altLang="en-US"/>
          </a:p>
        </p:txBody>
      </p:sp>
    </p:spTree>
    <p:extLst>
      <p:ext uri="{BB962C8B-B14F-4D97-AF65-F5344CB8AC3E}">
        <p14:creationId xmlns:p14="http://schemas.microsoft.com/office/powerpoint/2010/main" val="1519940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19E4DBC-867C-7E4D-AC33-B15A86280E1F}"/>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5" name="Rectangle 4">
            <a:extLst>
              <a:ext uri="{FF2B5EF4-FFF2-40B4-BE49-F238E27FC236}">
                <a16:creationId xmlns:a16="http://schemas.microsoft.com/office/drawing/2014/main" id="{53D2DB05-C996-AA45-94FD-2023E8B20E65}"/>
              </a:ext>
            </a:extLst>
          </p:cNvPr>
          <p:cNvSpPr/>
          <p:nvPr/>
        </p:nvSpPr>
        <p:spPr>
          <a:xfrm>
            <a:off x="822412" y="4739046"/>
            <a:ext cx="7499176" cy="584775"/>
          </a:xfrm>
          <a:prstGeom prst="rect">
            <a:avLst/>
          </a:prstGeom>
        </p:spPr>
        <p:txBody>
          <a:bodyPr wrap="square">
            <a:spAutoFit/>
          </a:bodyPr>
          <a:lstStyle/>
          <a:p>
            <a:r>
              <a:rPr lang="en-CN" sz="1600" i="1"/>
              <a:t>*</a:t>
            </a:r>
            <a:r>
              <a:rPr lang="en-US" sz="1600" i="1"/>
              <a:t>Remote Core Locking: Migrating Critical-Section Execution to Improve the Performance of Multithreaded Applications</a:t>
            </a:r>
            <a:r>
              <a:rPr lang="zh-CN" altLang="en-US" sz="1600" i="1"/>
              <a:t> </a:t>
            </a:r>
            <a:r>
              <a:rPr lang="en-CN" sz="1600" i="1"/>
              <a:t>(ATC’ 1</a:t>
            </a:r>
            <a:r>
              <a:rPr lang="en-US" altLang="zh-CN" sz="1600" i="1"/>
              <a:t>2</a:t>
            </a:r>
            <a:r>
              <a:rPr lang="en-CN" sz="1600" i="1"/>
              <a:t>)</a:t>
            </a:r>
          </a:p>
        </p:txBody>
      </p:sp>
      <p:sp>
        <p:nvSpPr>
          <p:cNvPr id="9" name="Rounded Rectangle 8">
            <a:extLst>
              <a:ext uri="{FF2B5EF4-FFF2-40B4-BE49-F238E27FC236}">
                <a16:creationId xmlns:a16="http://schemas.microsoft.com/office/drawing/2014/main" id="{A3D06BF4-1C5E-5540-97BD-D6B5479859A9}"/>
              </a:ext>
            </a:extLst>
          </p:cNvPr>
          <p:cNvSpPr/>
          <p:nvPr/>
        </p:nvSpPr>
        <p:spPr>
          <a:xfrm>
            <a:off x="1299915" y="1983088"/>
            <a:ext cx="864097" cy="7920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1" name="Rounded Rectangle 10">
            <a:extLst>
              <a:ext uri="{FF2B5EF4-FFF2-40B4-BE49-F238E27FC236}">
                <a16:creationId xmlns:a16="http://schemas.microsoft.com/office/drawing/2014/main" id="{4AE8EA2F-4534-CA46-99A7-722D187C5F72}"/>
              </a:ext>
            </a:extLst>
          </p:cNvPr>
          <p:cNvSpPr/>
          <p:nvPr/>
        </p:nvSpPr>
        <p:spPr>
          <a:xfrm>
            <a:off x="611560"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2" name="Rounded Rectangle 11">
            <a:extLst>
              <a:ext uri="{FF2B5EF4-FFF2-40B4-BE49-F238E27FC236}">
                <a16:creationId xmlns:a16="http://schemas.microsoft.com/office/drawing/2014/main" id="{4B71EE77-77A8-484E-968B-CE852D13BC2C}"/>
              </a:ext>
            </a:extLst>
          </p:cNvPr>
          <p:cNvSpPr/>
          <p:nvPr/>
        </p:nvSpPr>
        <p:spPr>
          <a:xfrm>
            <a:off x="1801748"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3" name="Rounded Rectangle 12">
            <a:extLst>
              <a:ext uri="{FF2B5EF4-FFF2-40B4-BE49-F238E27FC236}">
                <a16:creationId xmlns:a16="http://schemas.microsoft.com/office/drawing/2014/main" id="{6A9E87F7-DE97-8746-AE0D-F23B0F74CA88}"/>
              </a:ext>
            </a:extLst>
          </p:cNvPr>
          <p:cNvSpPr/>
          <p:nvPr/>
        </p:nvSpPr>
        <p:spPr>
          <a:xfrm>
            <a:off x="2991936"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4" name="Rounded Rectangle 13">
            <a:extLst>
              <a:ext uri="{FF2B5EF4-FFF2-40B4-BE49-F238E27FC236}">
                <a16:creationId xmlns:a16="http://schemas.microsoft.com/office/drawing/2014/main" id="{3645622B-D607-B74F-8E52-5C8DE7011F9F}"/>
              </a:ext>
            </a:extLst>
          </p:cNvPr>
          <p:cNvSpPr/>
          <p:nvPr/>
        </p:nvSpPr>
        <p:spPr>
          <a:xfrm>
            <a:off x="4182124"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4" name="Rectangle 3">
            <a:extLst>
              <a:ext uri="{FF2B5EF4-FFF2-40B4-BE49-F238E27FC236}">
                <a16:creationId xmlns:a16="http://schemas.microsoft.com/office/drawing/2014/main" id="{4F561AA8-55F8-3A49-A13A-DDEB9BB63A75}"/>
              </a:ext>
            </a:extLst>
          </p:cNvPr>
          <p:cNvSpPr/>
          <p:nvPr/>
        </p:nvSpPr>
        <p:spPr>
          <a:xfrm>
            <a:off x="822412" y="3179096"/>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solidFill>
                  <a:schemeClr val="bg1"/>
                </a:solidFill>
              </a:rPr>
              <a:t>临界区</a:t>
            </a:r>
            <a:endParaRPr lang="en-CN" sz="1200">
              <a:solidFill>
                <a:schemeClr val="bg1"/>
              </a:solidFill>
            </a:endParaRPr>
          </a:p>
        </p:txBody>
      </p:sp>
      <p:sp>
        <p:nvSpPr>
          <p:cNvPr id="16" name="Rectangle 15">
            <a:extLst>
              <a:ext uri="{FF2B5EF4-FFF2-40B4-BE49-F238E27FC236}">
                <a16:creationId xmlns:a16="http://schemas.microsoft.com/office/drawing/2014/main" id="{467ACACB-B76F-F344-AD5C-55EC32E39F23}"/>
              </a:ext>
            </a:extLst>
          </p:cNvPr>
          <p:cNvSpPr/>
          <p:nvPr/>
        </p:nvSpPr>
        <p:spPr>
          <a:xfrm>
            <a:off x="2027727" y="3161956"/>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solidFill>
                  <a:schemeClr val="bg1"/>
                </a:solidFill>
              </a:rPr>
              <a:t>临界区</a:t>
            </a:r>
            <a:endParaRPr lang="en-CN" sz="1200">
              <a:solidFill>
                <a:schemeClr val="bg1"/>
              </a:solidFill>
            </a:endParaRPr>
          </a:p>
        </p:txBody>
      </p:sp>
      <p:sp>
        <p:nvSpPr>
          <p:cNvPr id="17" name="Rectangle 16">
            <a:extLst>
              <a:ext uri="{FF2B5EF4-FFF2-40B4-BE49-F238E27FC236}">
                <a16:creationId xmlns:a16="http://schemas.microsoft.com/office/drawing/2014/main" id="{254B7C1B-708D-2A45-BCF0-EB284B908A40}"/>
              </a:ext>
            </a:extLst>
          </p:cNvPr>
          <p:cNvSpPr/>
          <p:nvPr/>
        </p:nvSpPr>
        <p:spPr>
          <a:xfrm>
            <a:off x="3221331" y="3161955"/>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solidFill>
                  <a:schemeClr val="bg1"/>
                </a:solidFill>
              </a:rPr>
              <a:t>临界区</a:t>
            </a:r>
            <a:endParaRPr lang="en-CN" sz="1200">
              <a:solidFill>
                <a:schemeClr val="bg1"/>
              </a:solidFill>
            </a:endParaRPr>
          </a:p>
        </p:txBody>
      </p:sp>
      <p:sp>
        <p:nvSpPr>
          <p:cNvPr id="18" name="Rectangle 17">
            <a:extLst>
              <a:ext uri="{FF2B5EF4-FFF2-40B4-BE49-F238E27FC236}">
                <a16:creationId xmlns:a16="http://schemas.microsoft.com/office/drawing/2014/main" id="{D4005980-584F-E947-8940-0FDB76F8905E}"/>
              </a:ext>
            </a:extLst>
          </p:cNvPr>
          <p:cNvSpPr/>
          <p:nvPr/>
        </p:nvSpPr>
        <p:spPr>
          <a:xfrm>
            <a:off x="4363703" y="3179096"/>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solidFill>
                  <a:schemeClr val="bg1"/>
                </a:solidFill>
              </a:rPr>
              <a:t>临界区</a:t>
            </a:r>
            <a:endParaRPr lang="en-CN" sz="1200">
              <a:solidFill>
                <a:schemeClr val="bg1"/>
              </a:solidFill>
            </a:endParaRPr>
          </a:p>
        </p:txBody>
      </p:sp>
      <p:sp>
        <p:nvSpPr>
          <p:cNvPr id="6" name="TextBox 5">
            <a:extLst>
              <a:ext uri="{FF2B5EF4-FFF2-40B4-BE49-F238E27FC236}">
                <a16:creationId xmlns:a16="http://schemas.microsoft.com/office/drawing/2014/main" id="{D21EDE28-7C66-3D4E-9685-B7E9A7F60463}"/>
              </a:ext>
            </a:extLst>
          </p:cNvPr>
          <p:cNvSpPr txBox="1"/>
          <p:nvPr/>
        </p:nvSpPr>
        <p:spPr>
          <a:xfrm>
            <a:off x="4182124" y="1838632"/>
            <a:ext cx="3867885" cy="1077218"/>
          </a:xfrm>
          <a:prstGeom prst="rect">
            <a:avLst/>
          </a:prstGeom>
          <a:noFill/>
        </p:spPr>
        <p:txBody>
          <a:bodyPr wrap="square" rtlCol="0">
            <a:spAutoFit/>
          </a:bodyPr>
          <a:lstStyle/>
          <a:p>
            <a:r>
              <a:rPr lang="en-US" sz="1600">
                <a:latin typeface="Courier" pitchFamily="2" charset="0"/>
              </a:rPr>
              <a:t>struct request {</a:t>
            </a:r>
          </a:p>
          <a:p>
            <a:r>
              <a:rPr lang="en-US" sz="1600">
                <a:latin typeface="Courier" pitchFamily="2" charset="0"/>
              </a:rPr>
              <a:t>	v</a:t>
            </a:r>
            <a:r>
              <a:rPr lang="en-CN" sz="1600">
                <a:latin typeface="Courier" pitchFamily="2" charset="0"/>
              </a:rPr>
              <a:t>oid (*cs)(void *arg);</a:t>
            </a:r>
          </a:p>
          <a:p>
            <a:r>
              <a:rPr lang="en-US" sz="1600">
                <a:latin typeface="Courier" pitchFamily="2" charset="0"/>
              </a:rPr>
              <a:t>	v</a:t>
            </a:r>
            <a:r>
              <a:rPr lang="en-CN" sz="1600">
                <a:latin typeface="Courier" pitchFamily="2" charset="0"/>
              </a:rPr>
              <a:t>oid *arg</a:t>
            </a:r>
          </a:p>
          <a:p>
            <a:r>
              <a:rPr lang="en-CN" sz="1600">
                <a:latin typeface="Courier" pitchFamily="2" charset="0"/>
              </a:rPr>
              <a:t>}</a:t>
            </a:r>
          </a:p>
        </p:txBody>
      </p:sp>
      <p:sp>
        <p:nvSpPr>
          <p:cNvPr id="20" name="TextBox 19">
            <a:extLst>
              <a:ext uri="{FF2B5EF4-FFF2-40B4-BE49-F238E27FC236}">
                <a16:creationId xmlns:a16="http://schemas.microsoft.com/office/drawing/2014/main" id="{2B65349E-6638-2C4E-9D0E-B8BED999CE77}"/>
              </a:ext>
            </a:extLst>
          </p:cNvPr>
          <p:cNvSpPr txBox="1"/>
          <p:nvPr/>
        </p:nvSpPr>
        <p:spPr>
          <a:xfrm>
            <a:off x="5145584" y="3161955"/>
            <a:ext cx="4026131" cy="1077218"/>
          </a:xfrm>
          <a:prstGeom prst="rect">
            <a:avLst/>
          </a:prstGeom>
          <a:noFill/>
        </p:spPr>
        <p:txBody>
          <a:bodyPr wrap="square" rtlCol="0">
            <a:spAutoFit/>
          </a:bodyPr>
          <a:lstStyle/>
          <a:p>
            <a:r>
              <a:rPr lang="en-US" sz="1600">
                <a:latin typeface="Courier" pitchFamily="2" charset="0"/>
              </a:rPr>
              <a:t>/* Execute Critical Section */</a:t>
            </a:r>
          </a:p>
          <a:p>
            <a:r>
              <a:rPr lang="en-US" sz="1600">
                <a:solidFill>
                  <a:schemeClr val="accent1"/>
                </a:solidFill>
                <a:latin typeface="Courier" pitchFamily="2" charset="0"/>
              </a:rPr>
              <a:t>fill_request</a:t>
            </a:r>
            <a:r>
              <a:rPr lang="en-US" sz="1600">
                <a:latin typeface="Courier" pitchFamily="2" charset="0"/>
              </a:rPr>
              <a:t>(&amp;req);</a:t>
            </a:r>
          </a:p>
          <a:p>
            <a:r>
              <a:rPr lang="en-US" sz="1600">
                <a:solidFill>
                  <a:schemeClr val="bg2">
                    <a:lumMod val="75000"/>
                  </a:schemeClr>
                </a:solidFill>
                <a:latin typeface="Courier" pitchFamily="2" charset="0"/>
              </a:rPr>
              <a:t>ret = call_rcl(&amp;req);</a:t>
            </a:r>
          </a:p>
          <a:p>
            <a:r>
              <a:rPr lang="en-US" sz="1600">
                <a:solidFill>
                  <a:schemeClr val="bg2">
                    <a:lumMod val="75000"/>
                  </a:schemeClr>
                </a:solidFill>
                <a:latin typeface="Courier" pitchFamily="2" charset="0"/>
              </a:rPr>
              <a:t>/* Critical Section Finished */</a:t>
            </a:r>
            <a:endParaRPr lang="en-CN" sz="1600">
              <a:solidFill>
                <a:schemeClr val="bg2">
                  <a:lumMod val="75000"/>
                </a:schemeClr>
              </a:solidFill>
              <a:latin typeface="Courier" pitchFamily="2" charset="0"/>
            </a:endParaRPr>
          </a:p>
        </p:txBody>
      </p:sp>
      <p:sp>
        <p:nvSpPr>
          <p:cNvPr id="21" name="标题 1">
            <a:extLst>
              <a:ext uri="{FF2B5EF4-FFF2-40B4-BE49-F238E27FC236}">
                <a16:creationId xmlns:a16="http://schemas.microsoft.com/office/drawing/2014/main" id="{249D8387-54BB-EF4D-987F-5E40BF1EF123}"/>
              </a:ext>
            </a:extLst>
          </p:cNvPr>
          <p:cNvSpPr>
            <a:spLocks noGrp="1"/>
          </p:cNvSpPr>
          <p:nvPr>
            <p:ph type="title"/>
          </p:nvPr>
        </p:nvSpPr>
        <p:spPr>
          <a:xfrm>
            <a:off x="457200" y="228866"/>
            <a:ext cx="8229600" cy="900442"/>
          </a:xfrm>
        </p:spPr>
        <p:txBody>
          <a:bodyPr>
            <a:noAutofit/>
          </a:bodyPr>
          <a:lstStyle/>
          <a:p>
            <a:r>
              <a:rPr kumimoji="1" lang="zh-CN" altLang="en-US" sz="2800" dirty="0">
                <a:latin typeface="+mn-lt"/>
              </a:rPr>
              <a:t>思路：</a:t>
            </a:r>
            <a:r>
              <a:rPr lang="zh-CN" altLang="en-US" sz="2800" dirty="0"/>
              <a:t>将所有竞争者的临界区集中到一个核上处理</a:t>
            </a:r>
            <a:endParaRPr kumimoji="1" lang="zh-CN" altLang="en-US" sz="2800" dirty="0">
              <a:latin typeface="+mn-lt"/>
            </a:endParaRPr>
          </a:p>
        </p:txBody>
      </p:sp>
      <p:sp>
        <p:nvSpPr>
          <p:cNvPr id="19" name="灯片编号占位符 3">
            <a:extLst>
              <a:ext uri="{FF2B5EF4-FFF2-40B4-BE49-F238E27FC236}">
                <a16:creationId xmlns:a16="http://schemas.microsoft.com/office/drawing/2014/main" id="{D3D06832-8E27-6043-BCFB-1BD7C946DCDE}"/>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35</a:t>
            </a:fld>
            <a:endParaRPr lang="zh-CN" altLang="en-US"/>
          </a:p>
        </p:txBody>
      </p:sp>
    </p:spTree>
    <p:extLst>
      <p:ext uri="{BB962C8B-B14F-4D97-AF65-F5344CB8AC3E}">
        <p14:creationId xmlns:p14="http://schemas.microsoft.com/office/powerpoint/2010/main" val="40335073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19E4DBC-867C-7E4D-AC33-B15A86280E1F}"/>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5" name="Rectangle 4">
            <a:extLst>
              <a:ext uri="{FF2B5EF4-FFF2-40B4-BE49-F238E27FC236}">
                <a16:creationId xmlns:a16="http://schemas.microsoft.com/office/drawing/2014/main" id="{53D2DB05-C996-AA45-94FD-2023E8B20E65}"/>
              </a:ext>
            </a:extLst>
          </p:cNvPr>
          <p:cNvSpPr/>
          <p:nvPr/>
        </p:nvSpPr>
        <p:spPr>
          <a:xfrm>
            <a:off x="822412" y="4739046"/>
            <a:ext cx="7499176" cy="584775"/>
          </a:xfrm>
          <a:prstGeom prst="rect">
            <a:avLst/>
          </a:prstGeom>
        </p:spPr>
        <p:txBody>
          <a:bodyPr wrap="square">
            <a:spAutoFit/>
          </a:bodyPr>
          <a:lstStyle/>
          <a:p>
            <a:r>
              <a:rPr lang="en-CN" sz="1600" i="1"/>
              <a:t>*</a:t>
            </a:r>
            <a:r>
              <a:rPr lang="en-US" sz="1600" i="1"/>
              <a:t>Remote Core Locking: Migrating Critical-Section Execution to Improve the Performance of Multithreaded Applications</a:t>
            </a:r>
            <a:r>
              <a:rPr lang="zh-CN" altLang="en-US" sz="1600" i="1"/>
              <a:t> </a:t>
            </a:r>
            <a:r>
              <a:rPr lang="en-CN" sz="1600" i="1"/>
              <a:t>(ATC’ 1</a:t>
            </a:r>
            <a:r>
              <a:rPr lang="en-US" altLang="zh-CN" sz="1600" i="1"/>
              <a:t>2</a:t>
            </a:r>
            <a:r>
              <a:rPr lang="en-CN" sz="1600" i="1"/>
              <a:t>)</a:t>
            </a:r>
          </a:p>
        </p:txBody>
      </p:sp>
      <p:sp>
        <p:nvSpPr>
          <p:cNvPr id="9" name="Rounded Rectangle 8">
            <a:extLst>
              <a:ext uri="{FF2B5EF4-FFF2-40B4-BE49-F238E27FC236}">
                <a16:creationId xmlns:a16="http://schemas.microsoft.com/office/drawing/2014/main" id="{A3D06BF4-1C5E-5540-97BD-D6B5479859A9}"/>
              </a:ext>
            </a:extLst>
          </p:cNvPr>
          <p:cNvSpPr/>
          <p:nvPr/>
        </p:nvSpPr>
        <p:spPr>
          <a:xfrm>
            <a:off x="1299915" y="1983088"/>
            <a:ext cx="864097" cy="7920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1" name="Rounded Rectangle 10">
            <a:extLst>
              <a:ext uri="{FF2B5EF4-FFF2-40B4-BE49-F238E27FC236}">
                <a16:creationId xmlns:a16="http://schemas.microsoft.com/office/drawing/2014/main" id="{4AE8EA2F-4534-CA46-99A7-722D187C5F72}"/>
              </a:ext>
            </a:extLst>
          </p:cNvPr>
          <p:cNvSpPr/>
          <p:nvPr/>
        </p:nvSpPr>
        <p:spPr>
          <a:xfrm>
            <a:off x="611560"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2" name="Rounded Rectangle 11">
            <a:extLst>
              <a:ext uri="{FF2B5EF4-FFF2-40B4-BE49-F238E27FC236}">
                <a16:creationId xmlns:a16="http://schemas.microsoft.com/office/drawing/2014/main" id="{4B71EE77-77A8-484E-968B-CE852D13BC2C}"/>
              </a:ext>
            </a:extLst>
          </p:cNvPr>
          <p:cNvSpPr/>
          <p:nvPr/>
        </p:nvSpPr>
        <p:spPr>
          <a:xfrm>
            <a:off x="1801748"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3" name="Rounded Rectangle 12">
            <a:extLst>
              <a:ext uri="{FF2B5EF4-FFF2-40B4-BE49-F238E27FC236}">
                <a16:creationId xmlns:a16="http://schemas.microsoft.com/office/drawing/2014/main" id="{6A9E87F7-DE97-8746-AE0D-F23B0F74CA88}"/>
              </a:ext>
            </a:extLst>
          </p:cNvPr>
          <p:cNvSpPr/>
          <p:nvPr/>
        </p:nvSpPr>
        <p:spPr>
          <a:xfrm>
            <a:off x="2991936"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4" name="Rounded Rectangle 13">
            <a:extLst>
              <a:ext uri="{FF2B5EF4-FFF2-40B4-BE49-F238E27FC236}">
                <a16:creationId xmlns:a16="http://schemas.microsoft.com/office/drawing/2014/main" id="{3645622B-D607-B74F-8E52-5C8DE7011F9F}"/>
              </a:ext>
            </a:extLst>
          </p:cNvPr>
          <p:cNvSpPr/>
          <p:nvPr/>
        </p:nvSpPr>
        <p:spPr>
          <a:xfrm>
            <a:off x="4182124"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4" name="Rectangle 3">
            <a:extLst>
              <a:ext uri="{FF2B5EF4-FFF2-40B4-BE49-F238E27FC236}">
                <a16:creationId xmlns:a16="http://schemas.microsoft.com/office/drawing/2014/main" id="{4F561AA8-55F8-3A49-A13A-DDEB9BB63A75}"/>
              </a:ext>
            </a:extLst>
          </p:cNvPr>
          <p:cNvSpPr/>
          <p:nvPr/>
        </p:nvSpPr>
        <p:spPr>
          <a:xfrm>
            <a:off x="1475657" y="2120971"/>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t>临界区</a:t>
            </a:r>
            <a:endParaRPr lang="en-CN" sz="1200"/>
          </a:p>
        </p:txBody>
      </p:sp>
      <p:sp>
        <p:nvSpPr>
          <p:cNvPr id="16" name="Rectangle 15">
            <a:extLst>
              <a:ext uri="{FF2B5EF4-FFF2-40B4-BE49-F238E27FC236}">
                <a16:creationId xmlns:a16="http://schemas.microsoft.com/office/drawing/2014/main" id="{467ACACB-B76F-F344-AD5C-55EC32E39F23}"/>
              </a:ext>
            </a:extLst>
          </p:cNvPr>
          <p:cNvSpPr/>
          <p:nvPr/>
        </p:nvSpPr>
        <p:spPr>
          <a:xfrm>
            <a:off x="1547666" y="2191242"/>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t>临界区</a:t>
            </a:r>
            <a:endParaRPr lang="en-CN" sz="1200"/>
          </a:p>
        </p:txBody>
      </p:sp>
      <p:sp>
        <p:nvSpPr>
          <p:cNvPr id="17" name="Rectangle 16">
            <a:extLst>
              <a:ext uri="{FF2B5EF4-FFF2-40B4-BE49-F238E27FC236}">
                <a16:creationId xmlns:a16="http://schemas.microsoft.com/office/drawing/2014/main" id="{254B7C1B-708D-2A45-BCF0-EB284B908A40}"/>
              </a:ext>
            </a:extLst>
          </p:cNvPr>
          <p:cNvSpPr/>
          <p:nvPr/>
        </p:nvSpPr>
        <p:spPr>
          <a:xfrm>
            <a:off x="1630153" y="2255343"/>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t>临界区</a:t>
            </a:r>
            <a:endParaRPr lang="en-CN" sz="1200"/>
          </a:p>
        </p:txBody>
      </p:sp>
      <p:sp>
        <p:nvSpPr>
          <p:cNvPr id="18" name="Rectangle 17">
            <a:extLst>
              <a:ext uri="{FF2B5EF4-FFF2-40B4-BE49-F238E27FC236}">
                <a16:creationId xmlns:a16="http://schemas.microsoft.com/office/drawing/2014/main" id="{D4005980-584F-E947-8940-0FDB76F8905E}"/>
              </a:ext>
            </a:extLst>
          </p:cNvPr>
          <p:cNvSpPr/>
          <p:nvPr/>
        </p:nvSpPr>
        <p:spPr>
          <a:xfrm>
            <a:off x="1705113" y="2329192"/>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solidFill>
                  <a:schemeClr val="bg1"/>
                </a:solidFill>
              </a:rPr>
              <a:t>临界区</a:t>
            </a:r>
            <a:endParaRPr lang="en-CN" sz="1200">
              <a:solidFill>
                <a:schemeClr val="bg1"/>
              </a:solidFill>
            </a:endParaRPr>
          </a:p>
        </p:txBody>
      </p:sp>
      <p:sp>
        <p:nvSpPr>
          <p:cNvPr id="15" name="TextBox 14">
            <a:extLst>
              <a:ext uri="{FF2B5EF4-FFF2-40B4-BE49-F238E27FC236}">
                <a16:creationId xmlns:a16="http://schemas.microsoft.com/office/drawing/2014/main" id="{21DFDAD3-A111-414F-AD60-91BA25013FBF}"/>
              </a:ext>
            </a:extLst>
          </p:cNvPr>
          <p:cNvSpPr txBox="1"/>
          <p:nvPr/>
        </p:nvSpPr>
        <p:spPr>
          <a:xfrm>
            <a:off x="4182124" y="1838632"/>
            <a:ext cx="3867885" cy="830997"/>
          </a:xfrm>
          <a:prstGeom prst="rect">
            <a:avLst/>
          </a:prstGeom>
          <a:noFill/>
        </p:spPr>
        <p:txBody>
          <a:bodyPr wrap="square" rtlCol="0">
            <a:spAutoFit/>
          </a:bodyPr>
          <a:lstStyle/>
          <a:p>
            <a:r>
              <a:rPr lang="en-US" sz="1600">
                <a:latin typeface="Courier" pitchFamily="2" charset="0"/>
              </a:rPr>
              <a:t>for req in req_list:</a:t>
            </a:r>
          </a:p>
          <a:p>
            <a:r>
              <a:rPr lang="en-US" sz="1600">
                <a:latin typeface="Courier" pitchFamily="2" charset="0"/>
              </a:rPr>
              <a:t>	ret = req-&gt;cs(arg);</a:t>
            </a:r>
          </a:p>
          <a:p>
            <a:r>
              <a:rPr lang="en-US" sz="1600">
                <a:solidFill>
                  <a:schemeClr val="bg2">
                    <a:lumMod val="75000"/>
                  </a:schemeClr>
                </a:solidFill>
                <a:latin typeface="Courier" pitchFamily="2" charset="0"/>
              </a:rPr>
              <a:t>	send_resp(ret);</a:t>
            </a:r>
            <a:endParaRPr lang="en-CN" sz="1600">
              <a:solidFill>
                <a:schemeClr val="bg2">
                  <a:lumMod val="75000"/>
                </a:schemeClr>
              </a:solidFill>
              <a:latin typeface="Courier" pitchFamily="2" charset="0"/>
            </a:endParaRPr>
          </a:p>
        </p:txBody>
      </p:sp>
      <p:sp>
        <p:nvSpPr>
          <p:cNvPr id="19" name="TextBox 18">
            <a:extLst>
              <a:ext uri="{FF2B5EF4-FFF2-40B4-BE49-F238E27FC236}">
                <a16:creationId xmlns:a16="http://schemas.microsoft.com/office/drawing/2014/main" id="{6372F1B4-D5EC-7F40-84C5-FD3874D4F18E}"/>
              </a:ext>
            </a:extLst>
          </p:cNvPr>
          <p:cNvSpPr txBox="1"/>
          <p:nvPr/>
        </p:nvSpPr>
        <p:spPr>
          <a:xfrm>
            <a:off x="5145584" y="3161955"/>
            <a:ext cx="4026131" cy="1077218"/>
          </a:xfrm>
          <a:prstGeom prst="rect">
            <a:avLst/>
          </a:prstGeom>
          <a:noFill/>
        </p:spPr>
        <p:txBody>
          <a:bodyPr wrap="square" rtlCol="0">
            <a:spAutoFit/>
          </a:bodyPr>
          <a:lstStyle/>
          <a:p>
            <a:r>
              <a:rPr lang="en-US" sz="1600">
                <a:latin typeface="Courier" pitchFamily="2" charset="0"/>
              </a:rPr>
              <a:t>/* Execute Critical Section */</a:t>
            </a:r>
          </a:p>
          <a:p>
            <a:r>
              <a:rPr lang="en-US" sz="1600">
                <a:solidFill>
                  <a:schemeClr val="accent1"/>
                </a:solidFill>
                <a:latin typeface="Courier" pitchFamily="2" charset="0"/>
              </a:rPr>
              <a:t>fill_request</a:t>
            </a:r>
            <a:r>
              <a:rPr lang="en-US" sz="1600">
                <a:latin typeface="Courier" pitchFamily="2" charset="0"/>
              </a:rPr>
              <a:t>(&amp;req);</a:t>
            </a:r>
          </a:p>
          <a:p>
            <a:r>
              <a:rPr lang="en-US" sz="1600">
                <a:solidFill>
                  <a:schemeClr val="bg2">
                    <a:lumMod val="75000"/>
                  </a:schemeClr>
                </a:solidFill>
                <a:latin typeface="Courier" pitchFamily="2" charset="0"/>
              </a:rPr>
              <a:t>ret = </a:t>
            </a:r>
            <a:r>
              <a:rPr lang="en-US" sz="1600">
                <a:solidFill>
                  <a:schemeClr val="accent1"/>
                </a:solidFill>
                <a:latin typeface="Courier" pitchFamily="2" charset="0"/>
              </a:rPr>
              <a:t>call_rcl</a:t>
            </a:r>
            <a:r>
              <a:rPr lang="en-US" sz="1600">
                <a:latin typeface="Courier" pitchFamily="2" charset="0"/>
              </a:rPr>
              <a:t>(&amp;req);</a:t>
            </a:r>
          </a:p>
          <a:p>
            <a:r>
              <a:rPr lang="en-US" sz="1600">
                <a:solidFill>
                  <a:schemeClr val="bg2">
                    <a:lumMod val="75000"/>
                  </a:schemeClr>
                </a:solidFill>
                <a:latin typeface="Courier" pitchFamily="2" charset="0"/>
              </a:rPr>
              <a:t>/* Critical Section Finished */</a:t>
            </a:r>
            <a:endParaRPr lang="en-CN" sz="1600">
              <a:solidFill>
                <a:schemeClr val="bg2">
                  <a:lumMod val="75000"/>
                </a:schemeClr>
              </a:solidFill>
              <a:latin typeface="Courier" pitchFamily="2" charset="0"/>
            </a:endParaRPr>
          </a:p>
        </p:txBody>
      </p:sp>
      <p:sp>
        <p:nvSpPr>
          <p:cNvPr id="20" name="标题 1">
            <a:extLst>
              <a:ext uri="{FF2B5EF4-FFF2-40B4-BE49-F238E27FC236}">
                <a16:creationId xmlns:a16="http://schemas.microsoft.com/office/drawing/2014/main" id="{6AC95099-CE05-1240-A6DA-A7D53992DFE5}"/>
              </a:ext>
            </a:extLst>
          </p:cNvPr>
          <p:cNvSpPr>
            <a:spLocks noGrp="1"/>
          </p:cNvSpPr>
          <p:nvPr>
            <p:ph type="title"/>
          </p:nvPr>
        </p:nvSpPr>
        <p:spPr>
          <a:xfrm>
            <a:off x="457200" y="228866"/>
            <a:ext cx="8229600" cy="900442"/>
          </a:xfrm>
        </p:spPr>
        <p:txBody>
          <a:bodyPr>
            <a:normAutofit/>
          </a:bodyPr>
          <a:lstStyle/>
          <a:p>
            <a:r>
              <a:rPr kumimoji="1" lang="zh-CN" altLang="en-US" sz="2800" dirty="0">
                <a:solidFill>
                  <a:srgbClr val="BE384B"/>
                </a:solidFill>
                <a:latin typeface="Arial" panose="020B0604020202020204"/>
              </a:rPr>
              <a:t>思路：</a:t>
            </a:r>
            <a:r>
              <a:rPr lang="zh-CN" altLang="en-US" sz="2800" dirty="0">
                <a:solidFill>
                  <a:srgbClr val="BE384B"/>
                </a:solidFill>
              </a:rPr>
              <a:t>将所有竞争者的临界区集中到一个核上处理</a:t>
            </a:r>
            <a:endParaRPr kumimoji="1" lang="zh-CN" altLang="en-US" dirty="0">
              <a:latin typeface="+mn-lt"/>
            </a:endParaRPr>
          </a:p>
        </p:txBody>
      </p:sp>
      <p:sp>
        <p:nvSpPr>
          <p:cNvPr id="22" name="灯片编号占位符 3">
            <a:extLst>
              <a:ext uri="{FF2B5EF4-FFF2-40B4-BE49-F238E27FC236}">
                <a16:creationId xmlns:a16="http://schemas.microsoft.com/office/drawing/2014/main" id="{B21A2A14-04C8-6642-8D36-ED04D6D0F456}"/>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36</a:t>
            </a:fld>
            <a:endParaRPr lang="zh-CN" altLang="en-US"/>
          </a:p>
        </p:txBody>
      </p:sp>
    </p:spTree>
    <p:extLst>
      <p:ext uri="{BB962C8B-B14F-4D97-AF65-F5344CB8AC3E}">
        <p14:creationId xmlns:p14="http://schemas.microsoft.com/office/powerpoint/2010/main" val="34162899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19E4DBC-867C-7E4D-AC33-B15A86280E1F}"/>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5" name="Rectangle 4">
            <a:extLst>
              <a:ext uri="{FF2B5EF4-FFF2-40B4-BE49-F238E27FC236}">
                <a16:creationId xmlns:a16="http://schemas.microsoft.com/office/drawing/2014/main" id="{53D2DB05-C996-AA45-94FD-2023E8B20E65}"/>
              </a:ext>
            </a:extLst>
          </p:cNvPr>
          <p:cNvSpPr/>
          <p:nvPr/>
        </p:nvSpPr>
        <p:spPr>
          <a:xfrm>
            <a:off x="822412" y="4739046"/>
            <a:ext cx="7499176" cy="584775"/>
          </a:xfrm>
          <a:prstGeom prst="rect">
            <a:avLst/>
          </a:prstGeom>
        </p:spPr>
        <p:txBody>
          <a:bodyPr wrap="square">
            <a:spAutoFit/>
          </a:bodyPr>
          <a:lstStyle/>
          <a:p>
            <a:r>
              <a:rPr lang="en-CN" sz="1600" i="1"/>
              <a:t>*</a:t>
            </a:r>
            <a:r>
              <a:rPr lang="en-US" sz="1600" i="1"/>
              <a:t>Remote Core Locking: Migrating Critical-Section Execution to Improve the Performance of Multithreaded Applications</a:t>
            </a:r>
            <a:r>
              <a:rPr lang="zh-CN" altLang="en-US" sz="1600" i="1"/>
              <a:t> </a:t>
            </a:r>
            <a:r>
              <a:rPr lang="en-CN" sz="1600" i="1"/>
              <a:t>(ATC’ 1</a:t>
            </a:r>
            <a:r>
              <a:rPr lang="en-US" altLang="zh-CN" sz="1600" i="1"/>
              <a:t>2</a:t>
            </a:r>
            <a:r>
              <a:rPr lang="en-CN" sz="1600" i="1"/>
              <a:t>)</a:t>
            </a:r>
          </a:p>
        </p:txBody>
      </p:sp>
      <p:sp>
        <p:nvSpPr>
          <p:cNvPr id="9" name="Rounded Rectangle 8">
            <a:extLst>
              <a:ext uri="{FF2B5EF4-FFF2-40B4-BE49-F238E27FC236}">
                <a16:creationId xmlns:a16="http://schemas.microsoft.com/office/drawing/2014/main" id="{A3D06BF4-1C5E-5540-97BD-D6B5479859A9}"/>
              </a:ext>
            </a:extLst>
          </p:cNvPr>
          <p:cNvSpPr/>
          <p:nvPr/>
        </p:nvSpPr>
        <p:spPr>
          <a:xfrm>
            <a:off x="1299915" y="1983088"/>
            <a:ext cx="864097" cy="7920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1" name="Rounded Rectangle 10">
            <a:extLst>
              <a:ext uri="{FF2B5EF4-FFF2-40B4-BE49-F238E27FC236}">
                <a16:creationId xmlns:a16="http://schemas.microsoft.com/office/drawing/2014/main" id="{4AE8EA2F-4534-CA46-99A7-722D187C5F72}"/>
              </a:ext>
            </a:extLst>
          </p:cNvPr>
          <p:cNvSpPr/>
          <p:nvPr/>
        </p:nvSpPr>
        <p:spPr>
          <a:xfrm>
            <a:off x="611560"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2" name="Rounded Rectangle 11">
            <a:extLst>
              <a:ext uri="{FF2B5EF4-FFF2-40B4-BE49-F238E27FC236}">
                <a16:creationId xmlns:a16="http://schemas.microsoft.com/office/drawing/2014/main" id="{4B71EE77-77A8-484E-968B-CE852D13BC2C}"/>
              </a:ext>
            </a:extLst>
          </p:cNvPr>
          <p:cNvSpPr/>
          <p:nvPr/>
        </p:nvSpPr>
        <p:spPr>
          <a:xfrm>
            <a:off x="1801748"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3" name="Rounded Rectangle 12">
            <a:extLst>
              <a:ext uri="{FF2B5EF4-FFF2-40B4-BE49-F238E27FC236}">
                <a16:creationId xmlns:a16="http://schemas.microsoft.com/office/drawing/2014/main" id="{6A9E87F7-DE97-8746-AE0D-F23B0F74CA88}"/>
              </a:ext>
            </a:extLst>
          </p:cNvPr>
          <p:cNvSpPr/>
          <p:nvPr/>
        </p:nvSpPr>
        <p:spPr>
          <a:xfrm>
            <a:off x="2991936"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4" name="Rounded Rectangle 13">
            <a:extLst>
              <a:ext uri="{FF2B5EF4-FFF2-40B4-BE49-F238E27FC236}">
                <a16:creationId xmlns:a16="http://schemas.microsoft.com/office/drawing/2014/main" id="{3645622B-D607-B74F-8E52-5C8DE7011F9F}"/>
              </a:ext>
            </a:extLst>
          </p:cNvPr>
          <p:cNvSpPr/>
          <p:nvPr/>
        </p:nvSpPr>
        <p:spPr>
          <a:xfrm>
            <a:off x="4182124"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4" name="Rectangle 3">
            <a:extLst>
              <a:ext uri="{FF2B5EF4-FFF2-40B4-BE49-F238E27FC236}">
                <a16:creationId xmlns:a16="http://schemas.microsoft.com/office/drawing/2014/main" id="{4F561AA8-55F8-3A49-A13A-DDEB9BB63A75}"/>
              </a:ext>
            </a:extLst>
          </p:cNvPr>
          <p:cNvSpPr/>
          <p:nvPr/>
        </p:nvSpPr>
        <p:spPr>
          <a:xfrm>
            <a:off x="1475657" y="2120971"/>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t>临界区</a:t>
            </a:r>
            <a:endParaRPr lang="en-CN" sz="1200"/>
          </a:p>
        </p:txBody>
      </p:sp>
      <p:sp>
        <p:nvSpPr>
          <p:cNvPr id="16" name="Rectangle 15">
            <a:extLst>
              <a:ext uri="{FF2B5EF4-FFF2-40B4-BE49-F238E27FC236}">
                <a16:creationId xmlns:a16="http://schemas.microsoft.com/office/drawing/2014/main" id="{467ACACB-B76F-F344-AD5C-55EC32E39F23}"/>
              </a:ext>
            </a:extLst>
          </p:cNvPr>
          <p:cNvSpPr/>
          <p:nvPr/>
        </p:nvSpPr>
        <p:spPr>
          <a:xfrm>
            <a:off x="1547666" y="2191242"/>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t>临界区</a:t>
            </a:r>
            <a:endParaRPr lang="en-CN" sz="1200"/>
          </a:p>
        </p:txBody>
      </p:sp>
      <p:sp>
        <p:nvSpPr>
          <p:cNvPr id="17" name="Rectangle 16">
            <a:extLst>
              <a:ext uri="{FF2B5EF4-FFF2-40B4-BE49-F238E27FC236}">
                <a16:creationId xmlns:a16="http://schemas.microsoft.com/office/drawing/2014/main" id="{254B7C1B-708D-2A45-BCF0-EB284B908A40}"/>
              </a:ext>
            </a:extLst>
          </p:cNvPr>
          <p:cNvSpPr/>
          <p:nvPr/>
        </p:nvSpPr>
        <p:spPr>
          <a:xfrm>
            <a:off x="1630153" y="2255343"/>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solidFill>
                  <a:schemeClr val="bg1"/>
                </a:solidFill>
              </a:rPr>
              <a:t>临界区</a:t>
            </a:r>
            <a:endParaRPr lang="en-CN" sz="1200">
              <a:solidFill>
                <a:schemeClr val="bg1"/>
              </a:solidFill>
            </a:endParaRPr>
          </a:p>
        </p:txBody>
      </p:sp>
      <p:sp>
        <p:nvSpPr>
          <p:cNvPr id="18" name="Rectangle 17">
            <a:extLst>
              <a:ext uri="{FF2B5EF4-FFF2-40B4-BE49-F238E27FC236}">
                <a16:creationId xmlns:a16="http://schemas.microsoft.com/office/drawing/2014/main" id="{D4005980-584F-E947-8940-0FDB76F8905E}"/>
              </a:ext>
            </a:extLst>
          </p:cNvPr>
          <p:cNvSpPr/>
          <p:nvPr/>
        </p:nvSpPr>
        <p:spPr>
          <a:xfrm>
            <a:off x="683568" y="3074845"/>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200">
                <a:solidFill>
                  <a:schemeClr val="bg1"/>
                </a:solidFill>
              </a:rPr>
              <a:t>返回值</a:t>
            </a:r>
            <a:endParaRPr lang="en-CN" sz="1200">
              <a:solidFill>
                <a:schemeClr val="bg1"/>
              </a:solidFill>
            </a:endParaRPr>
          </a:p>
        </p:txBody>
      </p:sp>
      <p:sp>
        <p:nvSpPr>
          <p:cNvPr id="15" name="TextBox 14">
            <a:extLst>
              <a:ext uri="{FF2B5EF4-FFF2-40B4-BE49-F238E27FC236}">
                <a16:creationId xmlns:a16="http://schemas.microsoft.com/office/drawing/2014/main" id="{21DFDAD3-A111-414F-AD60-91BA25013FBF}"/>
              </a:ext>
            </a:extLst>
          </p:cNvPr>
          <p:cNvSpPr txBox="1"/>
          <p:nvPr/>
        </p:nvSpPr>
        <p:spPr>
          <a:xfrm>
            <a:off x="4182124" y="1838632"/>
            <a:ext cx="3867885" cy="830997"/>
          </a:xfrm>
          <a:prstGeom prst="rect">
            <a:avLst/>
          </a:prstGeom>
          <a:noFill/>
        </p:spPr>
        <p:txBody>
          <a:bodyPr wrap="square" rtlCol="0">
            <a:spAutoFit/>
          </a:bodyPr>
          <a:lstStyle/>
          <a:p>
            <a:r>
              <a:rPr lang="en-US" sz="1600">
                <a:latin typeface="Courier" pitchFamily="2" charset="0"/>
              </a:rPr>
              <a:t>for req in req_list:</a:t>
            </a:r>
          </a:p>
          <a:p>
            <a:r>
              <a:rPr lang="en-US" sz="1600">
                <a:latin typeface="Courier" pitchFamily="2" charset="0"/>
              </a:rPr>
              <a:t>	ret = req-&gt;cs(arg);</a:t>
            </a:r>
          </a:p>
          <a:p>
            <a:r>
              <a:rPr lang="en-US" sz="1600">
                <a:latin typeface="Courier" pitchFamily="2" charset="0"/>
              </a:rPr>
              <a:t>	</a:t>
            </a:r>
            <a:r>
              <a:rPr lang="en-US" sz="1600">
                <a:solidFill>
                  <a:srgbClr val="C00000"/>
                </a:solidFill>
                <a:latin typeface="Courier" pitchFamily="2" charset="0"/>
              </a:rPr>
              <a:t>send_resp</a:t>
            </a:r>
            <a:r>
              <a:rPr lang="en-US" sz="1600">
                <a:latin typeface="Courier" pitchFamily="2" charset="0"/>
              </a:rPr>
              <a:t>(ret);</a:t>
            </a:r>
            <a:endParaRPr lang="en-CN" sz="1600">
              <a:latin typeface="Courier" pitchFamily="2" charset="0"/>
            </a:endParaRPr>
          </a:p>
        </p:txBody>
      </p:sp>
      <p:sp>
        <p:nvSpPr>
          <p:cNvPr id="19" name="TextBox 18">
            <a:extLst>
              <a:ext uri="{FF2B5EF4-FFF2-40B4-BE49-F238E27FC236}">
                <a16:creationId xmlns:a16="http://schemas.microsoft.com/office/drawing/2014/main" id="{6372F1B4-D5EC-7F40-84C5-FD3874D4F18E}"/>
              </a:ext>
            </a:extLst>
          </p:cNvPr>
          <p:cNvSpPr txBox="1"/>
          <p:nvPr/>
        </p:nvSpPr>
        <p:spPr>
          <a:xfrm>
            <a:off x="5145584" y="3161955"/>
            <a:ext cx="4026131" cy="1077218"/>
          </a:xfrm>
          <a:prstGeom prst="rect">
            <a:avLst/>
          </a:prstGeom>
          <a:noFill/>
        </p:spPr>
        <p:txBody>
          <a:bodyPr wrap="square" rtlCol="0">
            <a:spAutoFit/>
          </a:bodyPr>
          <a:lstStyle/>
          <a:p>
            <a:r>
              <a:rPr lang="en-US" sz="1600">
                <a:latin typeface="Courier" pitchFamily="2" charset="0"/>
              </a:rPr>
              <a:t>/* Execute Critical Section */</a:t>
            </a:r>
          </a:p>
          <a:p>
            <a:r>
              <a:rPr lang="en-US" sz="1600">
                <a:solidFill>
                  <a:schemeClr val="accent1"/>
                </a:solidFill>
                <a:latin typeface="Courier" pitchFamily="2" charset="0"/>
              </a:rPr>
              <a:t>fill_request</a:t>
            </a:r>
            <a:r>
              <a:rPr lang="en-US" sz="1600">
                <a:latin typeface="Courier" pitchFamily="2" charset="0"/>
              </a:rPr>
              <a:t>(&amp;req);</a:t>
            </a:r>
          </a:p>
          <a:p>
            <a:r>
              <a:rPr lang="en-US" sz="1600">
                <a:latin typeface="Courier" pitchFamily="2" charset="0"/>
              </a:rPr>
              <a:t>ret = </a:t>
            </a:r>
            <a:r>
              <a:rPr lang="en-US" sz="1600">
                <a:solidFill>
                  <a:schemeClr val="accent1"/>
                </a:solidFill>
                <a:latin typeface="Courier" pitchFamily="2" charset="0"/>
              </a:rPr>
              <a:t>call_rcl</a:t>
            </a:r>
            <a:r>
              <a:rPr lang="en-US" sz="1600">
                <a:latin typeface="Courier" pitchFamily="2" charset="0"/>
              </a:rPr>
              <a:t>(&amp;req);</a:t>
            </a:r>
          </a:p>
          <a:p>
            <a:r>
              <a:rPr lang="en-US" sz="1600">
                <a:latin typeface="Courier" pitchFamily="2" charset="0"/>
              </a:rPr>
              <a:t>/* Critical Section Finished */</a:t>
            </a:r>
            <a:endParaRPr lang="en-CN" sz="1600">
              <a:latin typeface="Courier" pitchFamily="2" charset="0"/>
            </a:endParaRPr>
          </a:p>
        </p:txBody>
      </p:sp>
      <p:sp>
        <p:nvSpPr>
          <p:cNvPr id="20" name="标题 1">
            <a:extLst>
              <a:ext uri="{FF2B5EF4-FFF2-40B4-BE49-F238E27FC236}">
                <a16:creationId xmlns:a16="http://schemas.microsoft.com/office/drawing/2014/main" id="{9A354D79-3246-024A-AA33-CEFCA7769EAD}"/>
              </a:ext>
            </a:extLst>
          </p:cNvPr>
          <p:cNvSpPr>
            <a:spLocks noGrp="1"/>
          </p:cNvSpPr>
          <p:nvPr>
            <p:ph type="title"/>
          </p:nvPr>
        </p:nvSpPr>
        <p:spPr>
          <a:xfrm>
            <a:off x="457200" y="228866"/>
            <a:ext cx="8229600" cy="900442"/>
          </a:xfrm>
        </p:spPr>
        <p:txBody>
          <a:bodyPr>
            <a:normAutofit/>
          </a:bodyPr>
          <a:lstStyle/>
          <a:p>
            <a:r>
              <a:rPr kumimoji="1" lang="zh-CN" altLang="en-US" sz="2800" dirty="0">
                <a:solidFill>
                  <a:srgbClr val="BE384B"/>
                </a:solidFill>
                <a:latin typeface="Arial" panose="020B0604020202020204"/>
              </a:rPr>
              <a:t>思路：</a:t>
            </a:r>
            <a:r>
              <a:rPr lang="zh-CN" altLang="en-US" sz="2800" dirty="0">
                <a:solidFill>
                  <a:srgbClr val="BE384B"/>
                </a:solidFill>
              </a:rPr>
              <a:t>将所有竞争者的临界区集中到一个核上处理</a:t>
            </a:r>
            <a:endParaRPr kumimoji="1" lang="zh-CN" altLang="en-US" dirty="0">
              <a:latin typeface="+mn-lt"/>
            </a:endParaRPr>
          </a:p>
        </p:txBody>
      </p:sp>
      <p:sp>
        <p:nvSpPr>
          <p:cNvPr id="21" name="灯片编号占位符 3">
            <a:extLst>
              <a:ext uri="{FF2B5EF4-FFF2-40B4-BE49-F238E27FC236}">
                <a16:creationId xmlns:a16="http://schemas.microsoft.com/office/drawing/2014/main" id="{B3EB8030-0E12-BB4C-9D2F-5AA843E0D677}"/>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37</a:t>
            </a:fld>
            <a:endParaRPr lang="zh-CN" altLang="en-US"/>
          </a:p>
        </p:txBody>
      </p:sp>
    </p:spTree>
    <p:extLst>
      <p:ext uri="{BB962C8B-B14F-4D97-AF65-F5344CB8AC3E}">
        <p14:creationId xmlns:p14="http://schemas.microsoft.com/office/powerpoint/2010/main" val="237236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19E4DBC-867C-7E4D-AC33-B15A86280E1F}"/>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5" name="Rectangle 4">
            <a:extLst>
              <a:ext uri="{FF2B5EF4-FFF2-40B4-BE49-F238E27FC236}">
                <a16:creationId xmlns:a16="http://schemas.microsoft.com/office/drawing/2014/main" id="{53D2DB05-C996-AA45-94FD-2023E8B20E65}"/>
              </a:ext>
            </a:extLst>
          </p:cNvPr>
          <p:cNvSpPr/>
          <p:nvPr/>
        </p:nvSpPr>
        <p:spPr>
          <a:xfrm>
            <a:off x="822412" y="4739046"/>
            <a:ext cx="7499176" cy="584775"/>
          </a:xfrm>
          <a:prstGeom prst="rect">
            <a:avLst/>
          </a:prstGeom>
        </p:spPr>
        <p:txBody>
          <a:bodyPr wrap="square">
            <a:spAutoFit/>
          </a:bodyPr>
          <a:lstStyle/>
          <a:p>
            <a:r>
              <a:rPr lang="en-CN" sz="1600" i="1"/>
              <a:t>*</a:t>
            </a:r>
            <a:r>
              <a:rPr lang="en-US" sz="1600" i="1"/>
              <a:t>Remote Core Locking: Migrating Critical-Section Execution to Improve the Performance of Multithreaded Applications</a:t>
            </a:r>
            <a:r>
              <a:rPr lang="zh-CN" altLang="en-US" sz="1600" i="1"/>
              <a:t> </a:t>
            </a:r>
            <a:r>
              <a:rPr lang="en-CN" sz="1600" i="1"/>
              <a:t>(ATC’ 1</a:t>
            </a:r>
            <a:r>
              <a:rPr lang="en-US" altLang="zh-CN" sz="1600" i="1"/>
              <a:t>2</a:t>
            </a:r>
            <a:r>
              <a:rPr lang="en-CN" sz="1600" i="1"/>
              <a:t>)</a:t>
            </a:r>
          </a:p>
        </p:txBody>
      </p:sp>
      <p:sp>
        <p:nvSpPr>
          <p:cNvPr id="9" name="Rounded Rectangle 8">
            <a:extLst>
              <a:ext uri="{FF2B5EF4-FFF2-40B4-BE49-F238E27FC236}">
                <a16:creationId xmlns:a16="http://schemas.microsoft.com/office/drawing/2014/main" id="{A3D06BF4-1C5E-5540-97BD-D6B5479859A9}"/>
              </a:ext>
            </a:extLst>
          </p:cNvPr>
          <p:cNvSpPr/>
          <p:nvPr/>
        </p:nvSpPr>
        <p:spPr>
          <a:xfrm>
            <a:off x="1299915" y="1983088"/>
            <a:ext cx="864097" cy="7920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1" name="Rounded Rectangle 10">
            <a:extLst>
              <a:ext uri="{FF2B5EF4-FFF2-40B4-BE49-F238E27FC236}">
                <a16:creationId xmlns:a16="http://schemas.microsoft.com/office/drawing/2014/main" id="{4AE8EA2F-4534-CA46-99A7-722D187C5F72}"/>
              </a:ext>
            </a:extLst>
          </p:cNvPr>
          <p:cNvSpPr/>
          <p:nvPr/>
        </p:nvSpPr>
        <p:spPr>
          <a:xfrm>
            <a:off x="611560"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2" name="Rounded Rectangle 11">
            <a:extLst>
              <a:ext uri="{FF2B5EF4-FFF2-40B4-BE49-F238E27FC236}">
                <a16:creationId xmlns:a16="http://schemas.microsoft.com/office/drawing/2014/main" id="{4B71EE77-77A8-484E-968B-CE852D13BC2C}"/>
              </a:ext>
            </a:extLst>
          </p:cNvPr>
          <p:cNvSpPr/>
          <p:nvPr/>
        </p:nvSpPr>
        <p:spPr>
          <a:xfrm>
            <a:off x="1801748"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3" name="Rounded Rectangle 12">
            <a:extLst>
              <a:ext uri="{FF2B5EF4-FFF2-40B4-BE49-F238E27FC236}">
                <a16:creationId xmlns:a16="http://schemas.microsoft.com/office/drawing/2014/main" id="{6A9E87F7-DE97-8746-AE0D-F23B0F74CA88}"/>
              </a:ext>
            </a:extLst>
          </p:cNvPr>
          <p:cNvSpPr/>
          <p:nvPr/>
        </p:nvSpPr>
        <p:spPr>
          <a:xfrm>
            <a:off x="2991936"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14" name="Rounded Rectangle 13">
            <a:extLst>
              <a:ext uri="{FF2B5EF4-FFF2-40B4-BE49-F238E27FC236}">
                <a16:creationId xmlns:a16="http://schemas.microsoft.com/office/drawing/2014/main" id="{3645622B-D607-B74F-8E52-5C8DE7011F9F}"/>
              </a:ext>
            </a:extLst>
          </p:cNvPr>
          <p:cNvSpPr/>
          <p:nvPr/>
        </p:nvSpPr>
        <p:spPr>
          <a:xfrm>
            <a:off x="4182124" y="3361067"/>
            <a:ext cx="864097" cy="792088"/>
          </a:xfrm>
          <a:prstGeom prst="round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a:t>Core</a:t>
            </a:r>
          </a:p>
        </p:txBody>
      </p:sp>
      <p:sp>
        <p:nvSpPr>
          <p:cNvPr id="4" name="Rectangle 3">
            <a:extLst>
              <a:ext uri="{FF2B5EF4-FFF2-40B4-BE49-F238E27FC236}">
                <a16:creationId xmlns:a16="http://schemas.microsoft.com/office/drawing/2014/main" id="{4F561AA8-55F8-3A49-A13A-DDEB9BB63A75}"/>
              </a:ext>
            </a:extLst>
          </p:cNvPr>
          <p:cNvSpPr/>
          <p:nvPr/>
        </p:nvSpPr>
        <p:spPr>
          <a:xfrm>
            <a:off x="1475657" y="2120971"/>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t>临界区</a:t>
            </a:r>
            <a:endParaRPr lang="en-CN" sz="1200"/>
          </a:p>
        </p:txBody>
      </p:sp>
      <p:sp>
        <p:nvSpPr>
          <p:cNvPr id="16" name="Rectangle 15">
            <a:extLst>
              <a:ext uri="{FF2B5EF4-FFF2-40B4-BE49-F238E27FC236}">
                <a16:creationId xmlns:a16="http://schemas.microsoft.com/office/drawing/2014/main" id="{467ACACB-B76F-F344-AD5C-55EC32E39F23}"/>
              </a:ext>
            </a:extLst>
          </p:cNvPr>
          <p:cNvSpPr/>
          <p:nvPr/>
        </p:nvSpPr>
        <p:spPr>
          <a:xfrm>
            <a:off x="1547666" y="2191242"/>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CN" sz="1200">
                <a:solidFill>
                  <a:schemeClr val="bg1"/>
                </a:solidFill>
              </a:rPr>
              <a:t>临界区</a:t>
            </a:r>
            <a:endParaRPr lang="en-CN" sz="1200">
              <a:solidFill>
                <a:schemeClr val="bg1"/>
              </a:solidFill>
            </a:endParaRPr>
          </a:p>
        </p:txBody>
      </p:sp>
      <p:sp>
        <p:nvSpPr>
          <p:cNvPr id="18" name="Rectangle 17">
            <a:extLst>
              <a:ext uri="{FF2B5EF4-FFF2-40B4-BE49-F238E27FC236}">
                <a16:creationId xmlns:a16="http://schemas.microsoft.com/office/drawing/2014/main" id="{D4005980-584F-E947-8940-0FDB76F8905E}"/>
              </a:ext>
            </a:extLst>
          </p:cNvPr>
          <p:cNvSpPr/>
          <p:nvPr/>
        </p:nvSpPr>
        <p:spPr>
          <a:xfrm>
            <a:off x="683568" y="3074845"/>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200">
                <a:solidFill>
                  <a:schemeClr val="bg1"/>
                </a:solidFill>
              </a:rPr>
              <a:t>返回值</a:t>
            </a:r>
            <a:endParaRPr lang="en-CN" sz="1200">
              <a:solidFill>
                <a:schemeClr val="bg1"/>
              </a:solidFill>
            </a:endParaRPr>
          </a:p>
        </p:txBody>
      </p:sp>
      <p:sp>
        <p:nvSpPr>
          <p:cNvPr id="15" name="TextBox 14">
            <a:extLst>
              <a:ext uri="{FF2B5EF4-FFF2-40B4-BE49-F238E27FC236}">
                <a16:creationId xmlns:a16="http://schemas.microsoft.com/office/drawing/2014/main" id="{21DFDAD3-A111-414F-AD60-91BA25013FBF}"/>
              </a:ext>
            </a:extLst>
          </p:cNvPr>
          <p:cNvSpPr txBox="1"/>
          <p:nvPr/>
        </p:nvSpPr>
        <p:spPr>
          <a:xfrm>
            <a:off x="4182124" y="1838632"/>
            <a:ext cx="3867885" cy="830997"/>
          </a:xfrm>
          <a:prstGeom prst="rect">
            <a:avLst/>
          </a:prstGeom>
          <a:noFill/>
        </p:spPr>
        <p:txBody>
          <a:bodyPr wrap="square" rtlCol="0">
            <a:spAutoFit/>
          </a:bodyPr>
          <a:lstStyle/>
          <a:p>
            <a:r>
              <a:rPr lang="en-US" sz="1600">
                <a:latin typeface="Courier" pitchFamily="2" charset="0"/>
              </a:rPr>
              <a:t>for req in req_list:</a:t>
            </a:r>
          </a:p>
          <a:p>
            <a:r>
              <a:rPr lang="en-US" sz="1600">
                <a:latin typeface="Courier" pitchFamily="2" charset="0"/>
              </a:rPr>
              <a:t>	ret = req-&gt;cs(arg);</a:t>
            </a:r>
          </a:p>
          <a:p>
            <a:r>
              <a:rPr lang="en-US" sz="1600">
                <a:latin typeface="Courier" pitchFamily="2" charset="0"/>
              </a:rPr>
              <a:t>	</a:t>
            </a:r>
            <a:r>
              <a:rPr lang="en-US" sz="1600">
                <a:solidFill>
                  <a:schemeClr val="accent1"/>
                </a:solidFill>
                <a:latin typeface="Courier" pitchFamily="2" charset="0"/>
              </a:rPr>
              <a:t>send_resp</a:t>
            </a:r>
            <a:r>
              <a:rPr lang="en-US" sz="1600">
                <a:latin typeface="Courier" pitchFamily="2" charset="0"/>
              </a:rPr>
              <a:t>(ret);</a:t>
            </a:r>
            <a:endParaRPr lang="en-CN" sz="1600">
              <a:latin typeface="Courier" pitchFamily="2" charset="0"/>
            </a:endParaRPr>
          </a:p>
        </p:txBody>
      </p:sp>
      <p:sp>
        <p:nvSpPr>
          <p:cNvPr id="19" name="TextBox 18">
            <a:extLst>
              <a:ext uri="{FF2B5EF4-FFF2-40B4-BE49-F238E27FC236}">
                <a16:creationId xmlns:a16="http://schemas.microsoft.com/office/drawing/2014/main" id="{6372F1B4-D5EC-7F40-84C5-FD3874D4F18E}"/>
              </a:ext>
            </a:extLst>
          </p:cNvPr>
          <p:cNvSpPr txBox="1"/>
          <p:nvPr/>
        </p:nvSpPr>
        <p:spPr>
          <a:xfrm>
            <a:off x="5145584" y="3161955"/>
            <a:ext cx="4026131" cy="1077218"/>
          </a:xfrm>
          <a:prstGeom prst="rect">
            <a:avLst/>
          </a:prstGeom>
          <a:noFill/>
        </p:spPr>
        <p:txBody>
          <a:bodyPr wrap="square" rtlCol="0">
            <a:spAutoFit/>
          </a:bodyPr>
          <a:lstStyle/>
          <a:p>
            <a:r>
              <a:rPr lang="en-US" sz="1600">
                <a:latin typeface="Courier" pitchFamily="2" charset="0"/>
              </a:rPr>
              <a:t>/* Execute Critical Section */</a:t>
            </a:r>
          </a:p>
          <a:p>
            <a:r>
              <a:rPr lang="en-US" sz="1600">
                <a:solidFill>
                  <a:srgbClr val="C00000"/>
                </a:solidFill>
                <a:latin typeface="Courier" pitchFamily="2" charset="0"/>
              </a:rPr>
              <a:t>fill_request</a:t>
            </a:r>
            <a:r>
              <a:rPr lang="en-US" sz="1600">
                <a:latin typeface="Courier" pitchFamily="2" charset="0"/>
              </a:rPr>
              <a:t>(&amp;req);</a:t>
            </a:r>
          </a:p>
          <a:p>
            <a:r>
              <a:rPr lang="en-US" sz="1600">
                <a:latin typeface="Courier" pitchFamily="2" charset="0"/>
              </a:rPr>
              <a:t>ret = </a:t>
            </a:r>
            <a:r>
              <a:rPr lang="en-US" sz="1600">
                <a:solidFill>
                  <a:srgbClr val="C00000"/>
                </a:solidFill>
                <a:latin typeface="Courier" pitchFamily="2" charset="0"/>
              </a:rPr>
              <a:t>call_rcl</a:t>
            </a:r>
            <a:r>
              <a:rPr lang="en-US" sz="1600">
                <a:latin typeface="Courier" pitchFamily="2" charset="0"/>
              </a:rPr>
              <a:t>(&amp;req);</a:t>
            </a:r>
          </a:p>
          <a:p>
            <a:r>
              <a:rPr lang="en-US" sz="1600">
                <a:latin typeface="Courier" pitchFamily="2" charset="0"/>
              </a:rPr>
              <a:t>/* Critical Section Finished */</a:t>
            </a:r>
            <a:endParaRPr lang="en-CN" sz="1600">
              <a:latin typeface="Courier" pitchFamily="2" charset="0"/>
            </a:endParaRPr>
          </a:p>
        </p:txBody>
      </p:sp>
      <p:sp>
        <p:nvSpPr>
          <p:cNvPr id="20" name="Rectangle 19">
            <a:extLst>
              <a:ext uri="{FF2B5EF4-FFF2-40B4-BE49-F238E27FC236}">
                <a16:creationId xmlns:a16="http://schemas.microsoft.com/office/drawing/2014/main" id="{E5345364-C5FD-F542-8CA1-218A51F5A0A2}"/>
              </a:ext>
            </a:extLst>
          </p:cNvPr>
          <p:cNvSpPr/>
          <p:nvPr/>
        </p:nvSpPr>
        <p:spPr>
          <a:xfrm>
            <a:off x="1907706" y="3074845"/>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200">
                <a:solidFill>
                  <a:schemeClr val="bg1"/>
                </a:solidFill>
              </a:rPr>
              <a:t>返回值</a:t>
            </a:r>
            <a:endParaRPr lang="en-CN" sz="1200">
              <a:solidFill>
                <a:schemeClr val="bg1"/>
              </a:solidFill>
            </a:endParaRPr>
          </a:p>
        </p:txBody>
      </p:sp>
      <p:sp>
        <p:nvSpPr>
          <p:cNvPr id="21" name="标题 1">
            <a:extLst>
              <a:ext uri="{FF2B5EF4-FFF2-40B4-BE49-F238E27FC236}">
                <a16:creationId xmlns:a16="http://schemas.microsoft.com/office/drawing/2014/main" id="{D3397347-E860-8E40-8B1E-8AA0F0E53C52}"/>
              </a:ext>
            </a:extLst>
          </p:cNvPr>
          <p:cNvSpPr>
            <a:spLocks noGrp="1"/>
          </p:cNvSpPr>
          <p:nvPr>
            <p:ph type="title"/>
          </p:nvPr>
        </p:nvSpPr>
        <p:spPr>
          <a:xfrm>
            <a:off x="457200" y="228866"/>
            <a:ext cx="8229600" cy="900442"/>
          </a:xfrm>
        </p:spPr>
        <p:txBody>
          <a:bodyPr>
            <a:normAutofit/>
          </a:bodyPr>
          <a:lstStyle/>
          <a:p>
            <a:r>
              <a:rPr kumimoji="1" lang="zh-CN" altLang="en-US" sz="2800" dirty="0">
                <a:solidFill>
                  <a:srgbClr val="BE384B"/>
                </a:solidFill>
                <a:latin typeface="Arial" panose="020B0604020202020204"/>
              </a:rPr>
              <a:t>思路：</a:t>
            </a:r>
            <a:r>
              <a:rPr lang="zh-CN" altLang="en-US" sz="2800" dirty="0">
                <a:solidFill>
                  <a:srgbClr val="BE384B"/>
                </a:solidFill>
              </a:rPr>
              <a:t>将所有竞争者的临界区集中到一个核上处理</a:t>
            </a:r>
            <a:endParaRPr kumimoji="1" lang="zh-CN" altLang="en-US" dirty="0">
              <a:latin typeface="+mn-lt"/>
            </a:endParaRPr>
          </a:p>
        </p:txBody>
      </p:sp>
      <p:sp>
        <p:nvSpPr>
          <p:cNvPr id="17" name="灯片编号占位符 3">
            <a:extLst>
              <a:ext uri="{FF2B5EF4-FFF2-40B4-BE49-F238E27FC236}">
                <a16:creationId xmlns:a16="http://schemas.microsoft.com/office/drawing/2014/main" id="{A1F9D509-D968-4C4A-9471-3C8629CEA8AA}"/>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38</a:t>
            </a:fld>
            <a:endParaRPr lang="zh-CN" altLang="en-US"/>
          </a:p>
        </p:txBody>
      </p:sp>
    </p:spTree>
    <p:extLst>
      <p:ext uri="{BB962C8B-B14F-4D97-AF65-F5344CB8AC3E}">
        <p14:creationId xmlns:p14="http://schemas.microsoft.com/office/powerpoint/2010/main" val="7846066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normAutofit/>
          </a:bodyPr>
          <a:lstStyle/>
          <a:p>
            <a:r>
              <a:rPr kumimoji="1" lang="zh-CN" altLang="en-US" sz="2800" dirty="0">
                <a:solidFill>
                  <a:srgbClr val="BE384B"/>
                </a:solidFill>
                <a:latin typeface="Arial" panose="020B0604020202020204"/>
              </a:rPr>
              <a:t>思路：</a:t>
            </a:r>
            <a:r>
              <a:rPr lang="zh-CN" altLang="en-US" sz="2800" dirty="0">
                <a:solidFill>
                  <a:srgbClr val="BE384B"/>
                </a:solidFill>
              </a:rPr>
              <a:t>将所有竞争者的临界区集中到一个核上处理</a:t>
            </a:r>
            <a:endParaRPr kumimoji="1" lang="zh-CN" altLang="en-US" dirty="0">
              <a:latin typeface="+mn-lt"/>
            </a:endParaRPr>
          </a:p>
        </p:txBody>
      </p:sp>
      <p:sp>
        <p:nvSpPr>
          <p:cNvPr id="3" name="Footer Placeholder 2">
            <a:extLst>
              <a:ext uri="{FF2B5EF4-FFF2-40B4-BE49-F238E27FC236}">
                <a16:creationId xmlns:a16="http://schemas.microsoft.com/office/drawing/2014/main" id="{519E4DBC-867C-7E4D-AC33-B15A86280E1F}"/>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5" name="Rectangle 4">
            <a:extLst>
              <a:ext uri="{FF2B5EF4-FFF2-40B4-BE49-F238E27FC236}">
                <a16:creationId xmlns:a16="http://schemas.microsoft.com/office/drawing/2014/main" id="{53D2DB05-C996-AA45-94FD-2023E8B20E65}"/>
              </a:ext>
            </a:extLst>
          </p:cNvPr>
          <p:cNvSpPr/>
          <p:nvPr/>
        </p:nvSpPr>
        <p:spPr>
          <a:xfrm>
            <a:off x="822412" y="4801716"/>
            <a:ext cx="7499176" cy="338554"/>
          </a:xfrm>
          <a:prstGeom prst="rect">
            <a:avLst/>
          </a:prstGeom>
        </p:spPr>
        <p:txBody>
          <a:bodyPr wrap="square">
            <a:spAutoFit/>
          </a:bodyPr>
          <a:lstStyle/>
          <a:p>
            <a:r>
              <a:rPr lang="en-CN" sz="1600" i="1"/>
              <a:t>*ffwd: delegation is (much) faster than you think (SOSP’ 17)</a:t>
            </a:r>
          </a:p>
        </p:txBody>
      </p:sp>
      <p:sp>
        <p:nvSpPr>
          <p:cNvPr id="6" name="Rectangle 5">
            <a:extLst>
              <a:ext uri="{FF2B5EF4-FFF2-40B4-BE49-F238E27FC236}">
                <a16:creationId xmlns:a16="http://schemas.microsoft.com/office/drawing/2014/main" id="{EFEB8CF9-28C8-624E-ADC1-9E15340C87AC}"/>
              </a:ext>
            </a:extLst>
          </p:cNvPr>
          <p:cNvSpPr/>
          <p:nvPr/>
        </p:nvSpPr>
        <p:spPr>
          <a:xfrm>
            <a:off x="1941998" y="1087851"/>
            <a:ext cx="5186035" cy="458459"/>
          </a:xfrm>
          <a:prstGeom prst="rect">
            <a:avLst/>
          </a:prstGeom>
        </p:spPr>
        <p:txBody>
          <a:bodyPr wrap="none">
            <a:spAutoFit/>
          </a:bodyPr>
          <a:lstStyle/>
          <a:p>
            <a:pPr>
              <a:lnSpc>
                <a:spcPct val="150000"/>
              </a:lnSpc>
            </a:pPr>
            <a:r>
              <a:rPr lang="zh-CN" altLang="en-US" dirty="0">
                <a:highlight>
                  <a:srgbClr val="FFFF00"/>
                </a:highlight>
              </a:rPr>
              <a:t>利用</a:t>
            </a:r>
            <a:r>
              <a:rPr lang="en-US" altLang="zh-CN" b="1" dirty="0">
                <a:solidFill>
                  <a:srgbClr val="C00000"/>
                </a:solidFill>
                <a:highlight>
                  <a:srgbClr val="FFFF00"/>
                </a:highlight>
              </a:rPr>
              <a:t>batch</a:t>
            </a:r>
            <a:r>
              <a:rPr lang="zh-CN" altLang="en-US" dirty="0">
                <a:highlight>
                  <a:srgbClr val="FFFF00"/>
                </a:highlight>
              </a:rPr>
              <a:t>思想对迁移锁进一步优化</a:t>
            </a:r>
            <a:r>
              <a:rPr lang="zh-CN" altLang="en-US" b="1" dirty="0">
                <a:highlight>
                  <a:srgbClr val="FFFF00"/>
                </a:highlight>
              </a:rPr>
              <a:t>返回值的写回</a:t>
            </a:r>
            <a:endParaRPr lang="en-US" altLang="zh-CN" b="1" dirty="0">
              <a:highlight>
                <a:srgbClr val="FFFF00"/>
              </a:highlight>
            </a:endParaRPr>
          </a:p>
        </p:txBody>
      </p:sp>
      <p:sp>
        <p:nvSpPr>
          <p:cNvPr id="7" name="Rounded Rectangle 6">
            <a:extLst>
              <a:ext uri="{FF2B5EF4-FFF2-40B4-BE49-F238E27FC236}">
                <a16:creationId xmlns:a16="http://schemas.microsoft.com/office/drawing/2014/main" id="{C4C5E12A-AA0A-0F49-BBDD-971506867C99}"/>
              </a:ext>
            </a:extLst>
          </p:cNvPr>
          <p:cNvSpPr/>
          <p:nvPr/>
        </p:nvSpPr>
        <p:spPr>
          <a:xfrm>
            <a:off x="683568" y="1978910"/>
            <a:ext cx="2672266" cy="224790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5" name="Rectangle 14">
            <a:extLst>
              <a:ext uri="{FF2B5EF4-FFF2-40B4-BE49-F238E27FC236}">
                <a16:creationId xmlns:a16="http://schemas.microsoft.com/office/drawing/2014/main" id="{94333BB0-B20B-C74D-9E1D-892F1A15A74F}"/>
              </a:ext>
            </a:extLst>
          </p:cNvPr>
          <p:cNvSpPr/>
          <p:nvPr/>
        </p:nvSpPr>
        <p:spPr>
          <a:xfrm>
            <a:off x="3840786" y="1879922"/>
            <a:ext cx="4756513" cy="873957"/>
          </a:xfrm>
          <a:prstGeom prst="rect">
            <a:avLst/>
          </a:prstGeom>
        </p:spPr>
        <p:txBody>
          <a:bodyPr wrap="square">
            <a:spAutoFit/>
          </a:bodyPr>
          <a:lstStyle/>
          <a:p>
            <a:pPr>
              <a:lnSpc>
                <a:spcPct val="150000"/>
              </a:lnSpc>
            </a:pPr>
            <a:r>
              <a:rPr lang="en-CN" altLang="zh-CN"/>
              <a:t>RCL</a:t>
            </a:r>
            <a:r>
              <a:rPr lang="zh-CN" altLang="en-US" dirty="0"/>
              <a:t>每次处理一个请求结束后写返回值</a:t>
            </a:r>
            <a:endParaRPr lang="en-US" altLang="zh-CN" dirty="0"/>
          </a:p>
          <a:p>
            <a:pPr>
              <a:lnSpc>
                <a:spcPct val="150000"/>
              </a:lnSpc>
            </a:pPr>
            <a:r>
              <a:rPr lang="zh-CN" altLang="en-US" dirty="0"/>
              <a:t>会由于处理器</a:t>
            </a:r>
            <a:r>
              <a:rPr lang="zh-CN" altLang="en-US" b="1" dirty="0"/>
              <a:t>写缓存</a:t>
            </a:r>
            <a:r>
              <a:rPr lang="zh-CN" altLang="en-US" dirty="0"/>
              <a:t>导致性能瓶颈</a:t>
            </a:r>
            <a:endParaRPr lang="en-US" altLang="zh-CN" dirty="0"/>
          </a:p>
        </p:txBody>
      </p:sp>
      <p:sp>
        <p:nvSpPr>
          <p:cNvPr id="4" name="Rectangle 3">
            <a:extLst>
              <a:ext uri="{FF2B5EF4-FFF2-40B4-BE49-F238E27FC236}">
                <a16:creationId xmlns:a16="http://schemas.microsoft.com/office/drawing/2014/main" id="{CF1CC1C1-CE2B-6441-8F92-7AFB035C70A0}"/>
              </a:ext>
            </a:extLst>
          </p:cNvPr>
          <p:cNvSpPr/>
          <p:nvPr/>
        </p:nvSpPr>
        <p:spPr>
          <a:xfrm>
            <a:off x="806106" y="3232646"/>
            <a:ext cx="2427190" cy="720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6" name="Rectangle 15">
            <a:extLst>
              <a:ext uri="{FF2B5EF4-FFF2-40B4-BE49-F238E27FC236}">
                <a16:creationId xmlns:a16="http://schemas.microsoft.com/office/drawing/2014/main" id="{12D787D3-3FA7-A144-AFA8-A39E7C09F147}"/>
              </a:ext>
            </a:extLst>
          </p:cNvPr>
          <p:cNvSpPr/>
          <p:nvPr/>
        </p:nvSpPr>
        <p:spPr>
          <a:xfrm>
            <a:off x="2452377" y="3387405"/>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200">
                <a:solidFill>
                  <a:schemeClr val="bg1"/>
                </a:solidFill>
              </a:rPr>
              <a:t>返回值</a:t>
            </a:r>
            <a:endParaRPr lang="en-CN" sz="1200">
              <a:solidFill>
                <a:schemeClr val="bg1"/>
              </a:solidFill>
            </a:endParaRPr>
          </a:p>
        </p:txBody>
      </p:sp>
      <p:sp>
        <p:nvSpPr>
          <p:cNvPr id="17" name="Rectangle 16">
            <a:extLst>
              <a:ext uri="{FF2B5EF4-FFF2-40B4-BE49-F238E27FC236}">
                <a16:creationId xmlns:a16="http://schemas.microsoft.com/office/drawing/2014/main" id="{1816137F-1F65-7940-AA26-A41B75965348}"/>
              </a:ext>
            </a:extLst>
          </p:cNvPr>
          <p:cNvSpPr/>
          <p:nvPr/>
        </p:nvSpPr>
        <p:spPr>
          <a:xfrm>
            <a:off x="1677781" y="3387405"/>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200">
                <a:solidFill>
                  <a:schemeClr val="bg1"/>
                </a:solidFill>
              </a:rPr>
              <a:t>返回值</a:t>
            </a:r>
            <a:endParaRPr lang="en-CN" sz="1200">
              <a:solidFill>
                <a:schemeClr val="bg1"/>
              </a:solidFill>
            </a:endParaRPr>
          </a:p>
        </p:txBody>
      </p:sp>
      <p:sp>
        <p:nvSpPr>
          <p:cNvPr id="18" name="Rectangle 17">
            <a:extLst>
              <a:ext uri="{FF2B5EF4-FFF2-40B4-BE49-F238E27FC236}">
                <a16:creationId xmlns:a16="http://schemas.microsoft.com/office/drawing/2014/main" id="{86D35EA6-6A6C-4C4A-9A8C-7CC7EE7CB1D3}"/>
              </a:ext>
            </a:extLst>
          </p:cNvPr>
          <p:cNvSpPr/>
          <p:nvPr/>
        </p:nvSpPr>
        <p:spPr>
          <a:xfrm>
            <a:off x="896862" y="3387405"/>
            <a:ext cx="720080" cy="432048"/>
          </a:xfrm>
          <a:prstGeom prst="rect">
            <a:avLst/>
          </a:prstGeom>
          <a:solidFill>
            <a:schemeClr val="bg1">
              <a:lumMod val="5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200">
                <a:solidFill>
                  <a:schemeClr val="bg1"/>
                </a:solidFill>
              </a:rPr>
              <a:t>返回值</a:t>
            </a:r>
            <a:endParaRPr lang="en-CN" sz="1200">
              <a:solidFill>
                <a:schemeClr val="bg1"/>
              </a:solidFill>
            </a:endParaRPr>
          </a:p>
        </p:txBody>
      </p:sp>
      <p:sp>
        <p:nvSpPr>
          <p:cNvPr id="19" name="Rectangle 18">
            <a:extLst>
              <a:ext uri="{FF2B5EF4-FFF2-40B4-BE49-F238E27FC236}">
                <a16:creationId xmlns:a16="http://schemas.microsoft.com/office/drawing/2014/main" id="{AE0AF39E-6C13-1549-88A3-801A429C9D0A}"/>
              </a:ext>
            </a:extLst>
          </p:cNvPr>
          <p:cNvSpPr/>
          <p:nvPr/>
        </p:nvSpPr>
        <p:spPr>
          <a:xfrm>
            <a:off x="834375" y="2813411"/>
            <a:ext cx="2274982" cy="369332"/>
          </a:xfrm>
          <a:prstGeom prst="rect">
            <a:avLst/>
          </a:prstGeom>
        </p:spPr>
        <p:txBody>
          <a:bodyPr wrap="none">
            <a:spAutoFit/>
          </a:bodyPr>
          <a:lstStyle/>
          <a:p>
            <a:r>
              <a:rPr lang="zh-CN" altLang="en-US" b="1"/>
              <a:t>写缓存 </a:t>
            </a:r>
            <a:r>
              <a:rPr lang="en-US" altLang="zh-CN" b="1"/>
              <a:t>Store</a:t>
            </a:r>
            <a:r>
              <a:rPr lang="zh-CN" altLang="en-US" b="1"/>
              <a:t> </a:t>
            </a:r>
            <a:r>
              <a:rPr lang="en-US" altLang="zh-CN" b="1"/>
              <a:t>Buffer</a:t>
            </a:r>
            <a:endParaRPr lang="en-CN"/>
          </a:p>
        </p:txBody>
      </p:sp>
      <p:sp>
        <p:nvSpPr>
          <p:cNvPr id="20" name="Rectangle 19">
            <a:extLst>
              <a:ext uri="{FF2B5EF4-FFF2-40B4-BE49-F238E27FC236}">
                <a16:creationId xmlns:a16="http://schemas.microsoft.com/office/drawing/2014/main" id="{2943A913-A896-134A-A92F-F7FD41773C11}"/>
              </a:ext>
            </a:extLst>
          </p:cNvPr>
          <p:cNvSpPr/>
          <p:nvPr/>
        </p:nvSpPr>
        <p:spPr>
          <a:xfrm>
            <a:off x="1599239" y="2156626"/>
            <a:ext cx="877163" cy="369332"/>
          </a:xfrm>
          <a:prstGeom prst="rect">
            <a:avLst/>
          </a:prstGeom>
        </p:spPr>
        <p:txBody>
          <a:bodyPr wrap="none">
            <a:spAutoFit/>
          </a:bodyPr>
          <a:lstStyle/>
          <a:p>
            <a:r>
              <a:rPr lang="zh-CN" altLang="en-US"/>
              <a:t>处理器</a:t>
            </a:r>
            <a:endParaRPr lang="en-CN"/>
          </a:p>
        </p:txBody>
      </p:sp>
      <p:sp>
        <p:nvSpPr>
          <p:cNvPr id="21" name="Rectangle 20">
            <a:extLst>
              <a:ext uri="{FF2B5EF4-FFF2-40B4-BE49-F238E27FC236}">
                <a16:creationId xmlns:a16="http://schemas.microsoft.com/office/drawing/2014/main" id="{589DADF8-A219-5D48-9B99-CDEDB903CE68}"/>
              </a:ext>
            </a:extLst>
          </p:cNvPr>
          <p:cNvSpPr/>
          <p:nvPr/>
        </p:nvSpPr>
        <p:spPr>
          <a:xfrm>
            <a:off x="3840786" y="3212622"/>
            <a:ext cx="4572000" cy="1289456"/>
          </a:xfrm>
          <a:prstGeom prst="rect">
            <a:avLst/>
          </a:prstGeom>
        </p:spPr>
        <p:txBody>
          <a:bodyPr>
            <a:spAutoFit/>
          </a:bodyPr>
          <a:lstStyle/>
          <a:p>
            <a:pPr>
              <a:lnSpc>
                <a:spcPct val="150000"/>
              </a:lnSpc>
            </a:pPr>
            <a:r>
              <a:rPr lang="en-CN"/>
              <a:t>FFWD</a:t>
            </a:r>
            <a:r>
              <a:rPr lang="zh-CN" altLang="en-US" dirty="0"/>
              <a:t>：等待处理结束一个节点所有请求后，</a:t>
            </a:r>
            <a:r>
              <a:rPr lang="zh-CN" altLang="en-US" b="1" dirty="0"/>
              <a:t>一次性</a:t>
            </a:r>
            <a:r>
              <a:rPr lang="zh-CN" altLang="en-US" dirty="0"/>
              <a:t>将同一个节点的</a:t>
            </a:r>
            <a:r>
              <a:rPr lang="zh-CN" altLang="en-US" b="1" dirty="0"/>
              <a:t>所有请求</a:t>
            </a:r>
            <a:r>
              <a:rPr lang="zh-CN" altLang="en-US" dirty="0"/>
              <a:t>返回值放入一个缓存行</a:t>
            </a:r>
            <a:endParaRPr lang="en-CN"/>
          </a:p>
        </p:txBody>
      </p:sp>
      <p:sp>
        <p:nvSpPr>
          <p:cNvPr id="22" name="灯片编号占位符 3">
            <a:extLst>
              <a:ext uri="{FF2B5EF4-FFF2-40B4-BE49-F238E27FC236}">
                <a16:creationId xmlns:a16="http://schemas.microsoft.com/office/drawing/2014/main" id="{6B5C9D83-BFBC-804F-9F11-244B2B1351C8}"/>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39</a:t>
            </a:fld>
            <a:endParaRPr lang="zh-CN" altLang="en-US"/>
          </a:p>
        </p:txBody>
      </p:sp>
    </p:spTree>
    <p:extLst>
      <p:ext uri="{BB962C8B-B14F-4D97-AF65-F5344CB8AC3E}">
        <p14:creationId xmlns:p14="http://schemas.microsoft.com/office/powerpoint/2010/main" val="12096212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normAutofit/>
          </a:bodyPr>
          <a:lstStyle/>
          <a:p>
            <a:r>
              <a:rPr kumimoji="1" lang="zh-CN" altLang="en-US" sz="2800" dirty="0">
                <a:solidFill>
                  <a:srgbClr val="BE384B"/>
                </a:solidFill>
                <a:latin typeface="Arial" panose="020B0604020202020204"/>
              </a:rPr>
              <a:t>迁移锁的效果：在跨</a:t>
            </a:r>
            <a:r>
              <a:rPr kumimoji="1" lang="en-US" altLang="zh-CN" sz="2800" dirty="0">
                <a:solidFill>
                  <a:srgbClr val="BE384B"/>
                </a:solidFill>
                <a:latin typeface="Arial" panose="020B0604020202020204"/>
              </a:rPr>
              <a:t>NUMA</a:t>
            </a:r>
            <a:r>
              <a:rPr kumimoji="1" lang="zh-CN" altLang="en-US" sz="2800" dirty="0">
                <a:solidFill>
                  <a:srgbClr val="BE384B"/>
                </a:solidFill>
                <a:latin typeface="Arial" panose="020B0604020202020204"/>
              </a:rPr>
              <a:t>节点时依然保持可扩展</a:t>
            </a:r>
            <a:endParaRPr kumimoji="1" lang="zh-CN" altLang="en-US" dirty="0">
              <a:latin typeface="+mn-lt"/>
            </a:endParaRPr>
          </a:p>
        </p:txBody>
      </p:sp>
      <p:sp>
        <p:nvSpPr>
          <p:cNvPr id="3" name="Footer Placeholder 2">
            <a:extLst>
              <a:ext uri="{FF2B5EF4-FFF2-40B4-BE49-F238E27FC236}">
                <a16:creationId xmlns:a16="http://schemas.microsoft.com/office/drawing/2014/main" id="{519E4DBC-867C-7E4D-AC33-B15A86280E1F}"/>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Picture 5">
            <a:extLst>
              <a:ext uri="{FF2B5EF4-FFF2-40B4-BE49-F238E27FC236}">
                <a16:creationId xmlns:a16="http://schemas.microsoft.com/office/drawing/2014/main" id="{97937C36-7EAE-424B-9077-AF60F26F8E65}"/>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626181" y="1257085"/>
            <a:ext cx="5508611" cy="3672408"/>
          </a:xfrm>
          <a:prstGeom prst="rect">
            <a:avLst/>
          </a:prstGeom>
        </p:spPr>
      </p:pic>
      <p:cxnSp>
        <p:nvCxnSpPr>
          <p:cNvPr id="9" name="Straight Arrow Connector 8">
            <a:extLst>
              <a:ext uri="{FF2B5EF4-FFF2-40B4-BE49-F238E27FC236}">
                <a16:creationId xmlns:a16="http://schemas.microsoft.com/office/drawing/2014/main" id="{45128A91-DA9F-AE4F-B503-AB5DDA4E5C18}"/>
              </a:ext>
            </a:extLst>
          </p:cNvPr>
          <p:cNvCxnSpPr>
            <a:cxnSpLocks/>
          </p:cNvCxnSpPr>
          <p:nvPr/>
        </p:nvCxnSpPr>
        <p:spPr>
          <a:xfrm flipH="1" flipV="1">
            <a:off x="3390542" y="2826679"/>
            <a:ext cx="317362" cy="246845"/>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F750A74-61DC-B145-8E33-48FD88B273C0}"/>
              </a:ext>
            </a:extLst>
          </p:cNvPr>
          <p:cNvCxnSpPr>
            <a:cxnSpLocks/>
          </p:cNvCxnSpPr>
          <p:nvPr/>
        </p:nvCxnSpPr>
        <p:spPr>
          <a:xfrm flipH="1">
            <a:off x="3410206" y="3505572"/>
            <a:ext cx="297698" cy="371413"/>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EFC6BF8-96A0-B345-8CDC-ED2811F46C7B}"/>
              </a:ext>
            </a:extLst>
          </p:cNvPr>
          <p:cNvSpPr/>
          <p:nvPr/>
        </p:nvSpPr>
        <p:spPr>
          <a:xfrm>
            <a:off x="3275856" y="4963917"/>
            <a:ext cx="2209259" cy="307777"/>
          </a:xfrm>
          <a:prstGeom prst="rect">
            <a:avLst/>
          </a:prstGeom>
        </p:spPr>
        <p:txBody>
          <a:bodyPr wrap="none">
            <a:spAutoFit/>
          </a:bodyPr>
          <a:lstStyle/>
          <a:p>
            <a:r>
              <a:rPr lang="zh-CN" altLang="en-US" sz="1400"/>
              <a:t>鲲鹏服务器 锁微基准测试</a:t>
            </a:r>
            <a:endParaRPr lang="en-CN" sz="1400"/>
          </a:p>
        </p:txBody>
      </p:sp>
      <p:sp>
        <p:nvSpPr>
          <p:cNvPr id="11" name="灯片编号占位符 3">
            <a:extLst>
              <a:ext uri="{FF2B5EF4-FFF2-40B4-BE49-F238E27FC236}">
                <a16:creationId xmlns:a16="http://schemas.microsoft.com/office/drawing/2014/main" id="{C007B197-88DE-B94B-AD2D-6934C23DF62D}"/>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40</a:t>
            </a:fld>
            <a:endParaRPr lang="zh-CN" altLang="en-US"/>
          </a:p>
        </p:txBody>
      </p:sp>
    </p:spTree>
    <p:extLst>
      <p:ext uri="{BB962C8B-B14F-4D97-AF65-F5344CB8AC3E}">
        <p14:creationId xmlns:p14="http://schemas.microsoft.com/office/powerpoint/2010/main" val="1510938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19E4DBC-867C-7E4D-AC33-B15A86280E1F}"/>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8" name="Rectangle 7">
            <a:extLst>
              <a:ext uri="{FF2B5EF4-FFF2-40B4-BE49-F238E27FC236}">
                <a16:creationId xmlns:a16="http://schemas.microsoft.com/office/drawing/2014/main" id="{AF585287-EF87-FE4A-8AD6-977391CAD3F4}"/>
              </a:ext>
            </a:extLst>
          </p:cNvPr>
          <p:cNvSpPr/>
          <p:nvPr/>
        </p:nvSpPr>
        <p:spPr>
          <a:xfrm>
            <a:off x="457200" y="1199549"/>
            <a:ext cx="8443337" cy="458459"/>
          </a:xfrm>
          <a:prstGeom prst="rect">
            <a:avLst/>
          </a:prstGeom>
        </p:spPr>
        <p:txBody>
          <a:bodyPr wrap="none">
            <a:spAutoFit/>
          </a:bodyPr>
          <a:lstStyle/>
          <a:p>
            <a:pPr>
              <a:lnSpc>
                <a:spcPct val="150000"/>
              </a:lnSpc>
            </a:pPr>
            <a:r>
              <a:rPr lang="zh-CN" altLang="en-US" b="1" dirty="0"/>
              <a:t>问题</a:t>
            </a:r>
            <a:r>
              <a:rPr lang="en-US" altLang="zh-CN" b="1" dirty="0"/>
              <a:t>-1</a:t>
            </a:r>
            <a:r>
              <a:rPr lang="zh-CN" altLang="en-US" dirty="0"/>
              <a:t>：</a:t>
            </a:r>
            <a:r>
              <a:rPr lang="zh-CN" altLang="en-US" b="1" dirty="0"/>
              <a:t>适应性</a:t>
            </a:r>
            <a:r>
              <a:rPr lang="zh-CN" altLang="en-US" dirty="0"/>
              <a:t> </a:t>
            </a:r>
            <a:r>
              <a:rPr lang="en-US" altLang="zh-CN" dirty="0"/>
              <a:t>-- </a:t>
            </a:r>
            <a:r>
              <a:rPr lang="zh-CN" altLang="en-US" dirty="0"/>
              <a:t>逻辑复杂、单独的锁服务器使得迁移锁在</a:t>
            </a:r>
            <a:r>
              <a:rPr lang="zh-CN" altLang="en-US" b="1" dirty="0"/>
              <a:t>低竞争程度</a:t>
            </a:r>
            <a:r>
              <a:rPr lang="zh-CN" altLang="en-US" dirty="0"/>
              <a:t>时开销巨大</a:t>
            </a:r>
            <a:endParaRPr lang="en-US" altLang="zh-CN" dirty="0"/>
          </a:p>
        </p:txBody>
      </p:sp>
      <p:sp>
        <p:nvSpPr>
          <p:cNvPr id="19" name="TextBox 18">
            <a:extLst>
              <a:ext uri="{FF2B5EF4-FFF2-40B4-BE49-F238E27FC236}">
                <a16:creationId xmlns:a16="http://schemas.microsoft.com/office/drawing/2014/main" id="{6372F1B4-D5EC-7F40-84C5-FD3874D4F18E}"/>
              </a:ext>
            </a:extLst>
          </p:cNvPr>
          <p:cNvSpPr txBox="1"/>
          <p:nvPr/>
        </p:nvSpPr>
        <p:spPr>
          <a:xfrm>
            <a:off x="4932040" y="3680759"/>
            <a:ext cx="4026131" cy="1077218"/>
          </a:xfrm>
          <a:prstGeom prst="rect">
            <a:avLst/>
          </a:prstGeom>
          <a:noFill/>
        </p:spPr>
        <p:txBody>
          <a:bodyPr wrap="square" rtlCol="0">
            <a:spAutoFit/>
          </a:bodyPr>
          <a:lstStyle/>
          <a:p>
            <a:r>
              <a:rPr lang="en-US" sz="1600">
                <a:latin typeface="Courier" pitchFamily="2" charset="0"/>
              </a:rPr>
              <a:t>/* Execute Critical Section */</a:t>
            </a:r>
          </a:p>
          <a:p>
            <a:r>
              <a:rPr lang="en-US" sz="1600">
                <a:solidFill>
                  <a:schemeClr val="accent1"/>
                </a:solidFill>
                <a:latin typeface="Courier" pitchFamily="2" charset="0"/>
              </a:rPr>
              <a:t>fill_request</a:t>
            </a:r>
            <a:r>
              <a:rPr lang="en-US" sz="1600">
                <a:latin typeface="Courier" pitchFamily="2" charset="0"/>
              </a:rPr>
              <a:t>(&amp;req);</a:t>
            </a:r>
          </a:p>
          <a:p>
            <a:r>
              <a:rPr lang="en-US" sz="1600">
                <a:latin typeface="Courier" pitchFamily="2" charset="0"/>
              </a:rPr>
              <a:t>ret = </a:t>
            </a:r>
            <a:r>
              <a:rPr lang="en-US" sz="1600">
                <a:solidFill>
                  <a:schemeClr val="accent1"/>
                </a:solidFill>
                <a:latin typeface="Courier" pitchFamily="2" charset="0"/>
              </a:rPr>
              <a:t>call_rcl</a:t>
            </a:r>
            <a:r>
              <a:rPr lang="en-US" sz="1600">
                <a:latin typeface="Courier" pitchFamily="2" charset="0"/>
              </a:rPr>
              <a:t>(&amp;req);</a:t>
            </a:r>
          </a:p>
          <a:p>
            <a:r>
              <a:rPr lang="en-US" sz="1600">
                <a:latin typeface="Courier" pitchFamily="2" charset="0"/>
              </a:rPr>
              <a:t>/* Critical Section Finished */</a:t>
            </a:r>
            <a:endParaRPr lang="en-CN" sz="1600">
              <a:latin typeface="Courier" pitchFamily="2" charset="0"/>
            </a:endParaRPr>
          </a:p>
        </p:txBody>
      </p:sp>
      <p:sp>
        <p:nvSpPr>
          <p:cNvPr id="20" name="TextBox 19">
            <a:extLst>
              <a:ext uri="{FF2B5EF4-FFF2-40B4-BE49-F238E27FC236}">
                <a16:creationId xmlns:a16="http://schemas.microsoft.com/office/drawing/2014/main" id="{F8EDEA6D-0B59-0041-94C3-8356A3BBAADF}"/>
              </a:ext>
            </a:extLst>
          </p:cNvPr>
          <p:cNvSpPr txBox="1"/>
          <p:nvPr/>
        </p:nvSpPr>
        <p:spPr>
          <a:xfrm>
            <a:off x="4933693" y="2569468"/>
            <a:ext cx="3867885" cy="1077218"/>
          </a:xfrm>
          <a:prstGeom prst="rect">
            <a:avLst/>
          </a:prstGeom>
          <a:noFill/>
        </p:spPr>
        <p:txBody>
          <a:bodyPr wrap="square" rtlCol="0">
            <a:spAutoFit/>
          </a:bodyPr>
          <a:lstStyle/>
          <a:p>
            <a:r>
              <a:rPr lang="en-US" sz="1600">
                <a:latin typeface="Courier" pitchFamily="2" charset="0"/>
              </a:rPr>
              <a:t>struct request {</a:t>
            </a:r>
          </a:p>
          <a:p>
            <a:r>
              <a:rPr lang="en-US" sz="1600">
                <a:latin typeface="Courier" pitchFamily="2" charset="0"/>
              </a:rPr>
              <a:t>	v</a:t>
            </a:r>
            <a:r>
              <a:rPr lang="en-CN" sz="1600">
                <a:latin typeface="Courier" pitchFamily="2" charset="0"/>
              </a:rPr>
              <a:t>oid (*cs)(void *arg);</a:t>
            </a:r>
          </a:p>
          <a:p>
            <a:r>
              <a:rPr lang="en-US" sz="1600">
                <a:latin typeface="Courier" pitchFamily="2" charset="0"/>
              </a:rPr>
              <a:t>	v</a:t>
            </a:r>
            <a:r>
              <a:rPr lang="en-CN" sz="1600">
                <a:latin typeface="Courier" pitchFamily="2" charset="0"/>
              </a:rPr>
              <a:t>oid *arg</a:t>
            </a:r>
          </a:p>
          <a:p>
            <a:r>
              <a:rPr lang="en-CN" sz="1600">
                <a:latin typeface="Courier" pitchFamily="2" charset="0"/>
              </a:rPr>
              <a:t>}</a:t>
            </a:r>
          </a:p>
        </p:txBody>
      </p:sp>
      <p:sp>
        <p:nvSpPr>
          <p:cNvPr id="21" name="TextBox 20">
            <a:extLst>
              <a:ext uri="{FF2B5EF4-FFF2-40B4-BE49-F238E27FC236}">
                <a16:creationId xmlns:a16="http://schemas.microsoft.com/office/drawing/2014/main" id="{05726FFF-2F19-8D49-902D-A2DD56F3E45D}"/>
              </a:ext>
            </a:extLst>
          </p:cNvPr>
          <p:cNvSpPr txBox="1"/>
          <p:nvPr/>
        </p:nvSpPr>
        <p:spPr>
          <a:xfrm>
            <a:off x="357868" y="2966971"/>
            <a:ext cx="4026131" cy="1323439"/>
          </a:xfrm>
          <a:prstGeom prst="rect">
            <a:avLst/>
          </a:prstGeom>
          <a:noFill/>
        </p:spPr>
        <p:txBody>
          <a:bodyPr wrap="square" rtlCol="0">
            <a:spAutoFit/>
          </a:bodyPr>
          <a:lstStyle/>
          <a:p>
            <a:r>
              <a:rPr lang="en-US" sz="1600">
                <a:latin typeface="Courier" pitchFamily="2" charset="0"/>
              </a:rPr>
              <a:t>/* Execute Critical Section */</a:t>
            </a:r>
          </a:p>
          <a:p>
            <a:r>
              <a:rPr lang="en-US" sz="1600">
                <a:solidFill>
                  <a:schemeClr val="accent1"/>
                </a:solidFill>
                <a:latin typeface="Courier" pitchFamily="2" charset="0"/>
              </a:rPr>
              <a:t>lock</a:t>
            </a:r>
            <a:r>
              <a:rPr lang="en-US" sz="1600">
                <a:latin typeface="Courier" pitchFamily="2" charset="0"/>
              </a:rPr>
              <a:t>(&amp;glock);</a:t>
            </a:r>
          </a:p>
          <a:p>
            <a:r>
              <a:rPr lang="en-US" sz="1600">
                <a:latin typeface="Courier" pitchFamily="2" charset="0"/>
              </a:rPr>
              <a:t>cs(arg);</a:t>
            </a:r>
          </a:p>
          <a:p>
            <a:r>
              <a:rPr lang="en-US" sz="1600">
                <a:solidFill>
                  <a:schemeClr val="accent1"/>
                </a:solidFill>
                <a:latin typeface="Courier" pitchFamily="2" charset="0"/>
              </a:rPr>
              <a:t>unlock</a:t>
            </a:r>
            <a:r>
              <a:rPr lang="en-US" sz="1600">
                <a:latin typeface="Courier" pitchFamily="2" charset="0"/>
              </a:rPr>
              <a:t>(&amp;glock);</a:t>
            </a:r>
          </a:p>
          <a:p>
            <a:r>
              <a:rPr lang="en-US" sz="1600">
                <a:latin typeface="Courier" pitchFamily="2" charset="0"/>
              </a:rPr>
              <a:t>/* Critical Section Finished */</a:t>
            </a:r>
            <a:endParaRPr lang="en-CN" sz="1600">
              <a:latin typeface="Courier" pitchFamily="2" charset="0"/>
            </a:endParaRPr>
          </a:p>
        </p:txBody>
      </p:sp>
      <p:cxnSp>
        <p:nvCxnSpPr>
          <p:cNvPr id="7" name="Straight Arrow Connector 6">
            <a:extLst>
              <a:ext uri="{FF2B5EF4-FFF2-40B4-BE49-F238E27FC236}">
                <a16:creationId xmlns:a16="http://schemas.microsoft.com/office/drawing/2014/main" id="{94573B25-8EAF-924D-9D8B-429465D4C974}"/>
              </a:ext>
            </a:extLst>
          </p:cNvPr>
          <p:cNvCxnSpPr>
            <a:cxnSpLocks/>
          </p:cNvCxnSpPr>
          <p:nvPr/>
        </p:nvCxnSpPr>
        <p:spPr>
          <a:xfrm>
            <a:off x="4227678" y="3640148"/>
            <a:ext cx="48439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4" name="标题 1">
            <a:extLst>
              <a:ext uri="{FF2B5EF4-FFF2-40B4-BE49-F238E27FC236}">
                <a16:creationId xmlns:a16="http://schemas.microsoft.com/office/drawing/2014/main" id="{DE66024E-EA62-BB46-9EAF-5B93172B2558}"/>
              </a:ext>
            </a:extLst>
          </p:cNvPr>
          <p:cNvSpPr>
            <a:spLocks noGrp="1"/>
          </p:cNvSpPr>
          <p:nvPr>
            <p:ph type="title"/>
          </p:nvPr>
        </p:nvSpPr>
        <p:spPr>
          <a:xfrm>
            <a:off x="457200" y="228866"/>
            <a:ext cx="8229600" cy="900442"/>
          </a:xfrm>
        </p:spPr>
        <p:txBody>
          <a:bodyPr>
            <a:normAutofit/>
          </a:bodyPr>
          <a:lstStyle/>
          <a:p>
            <a:r>
              <a:rPr kumimoji="1" lang="zh-CN" altLang="en-CN" sz="2800" dirty="0">
                <a:latin typeface="+mn-lt"/>
              </a:rPr>
              <a:t>迁移</a:t>
            </a:r>
            <a:r>
              <a:rPr kumimoji="1" lang="zh-CN" altLang="en-US" sz="2800" dirty="0">
                <a:latin typeface="+mn-lt"/>
              </a:rPr>
              <a:t>锁是多核锁的终极方案么？</a:t>
            </a:r>
            <a:r>
              <a:rPr kumimoji="1" lang="en-US" altLang="zh-CN" sz="2800" dirty="0">
                <a:latin typeface="+mn-lt"/>
              </a:rPr>
              <a:t>No</a:t>
            </a:r>
            <a:endParaRPr kumimoji="1" lang="zh-CN" altLang="en-US" sz="2800" dirty="0">
              <a:latin typeface="+mn-lt"/>
            </a:endParaRPr>
          </a:p>
        </p:txBody>
      </p:sp>
      <p:sp>
        <p:nvSpPr>
          <p:cNvPr id="13" name="Rectangle 12">
            <a:extLst>
              <a:ext uri="{FF2B5EF4-FFF2-40B4-BE49-F238E27FC236}">
                <a16:creationId xmlns:a16="http://schemas.microsoft.com/office/drawing/2014/main" id="{6AE1F768-23C6-D940-A882-CEBC344CE2EC}"/>
              </a:ext>
            </a:extLst>
          </p:cNvPr>
          <p:cNvSpPr/>
          <p:nvPr/>
        </p:nvSpPr>
        <p:spPr>
          <a:xfrm>
            <a:off x="457200" y="1687436"/>
            <a:ext cx="7366119" cy="458459"/>
          </a:xfrm>
          <a:prstGeom prst="rect">
            <a:avLst/>
          </a:prstGeom>
        </p:spPr>
        <p:txBody>
          <a:bodyPr wrap="none">
            <a:spAutoFit/>
          </a:bodyPr>
          <a:lstStyle/>
          <a:p>
            <a:pPr>
              <a:lnSpc>
                <a:spcPct val="150000"/>
              </a:lnSpc>
            </a:pPr>
            <a:r>
              <a:rPr lang="zh-CN" altLang="en-US" b="1" dirty="0"/>
              <a:t>问题</a:t>
            </a:r>
            <a:r>
              <a:rPr lang="en-US" altLang="zh-CN" b="1" dirty="0"/>
              <a:t>-2</a:t>
            </a:r>
            <a:r>
              <a:rPr lang="zh-CN" altLang="en-US" dirty="0"/>
              <a:t>：</a:t>
            </a:r>
            <a:r>
              <a:rPr lang="zh-CN" altLang="en-US" b="1" dirty="0"/>
              <a:t>易用性</a:t>
            </a:r>
            <a:r>
              <a:rPr lang="zh-CN" altLang="en-US" dirty="0"/>
              <a:t> </a:t>
            </a:r>
            <a:r>
              <a:rPr lang="en-US" altLang="zh-CN" dirty="0"/>
              <a:t>-- </a:t>
            </a:r>
            <a:r>
              <a:rPr lang="zh-CN" altLang="en-US" dirty="0"/>
              <a:t>锁暴露的接口发生改变，无法直接使用在现有系统中</a:t>
            </a:r>
            <a:endParaRPr lang="en-US" altLang="zh-CN" dirty="0"/>
          </a:p>
        </p:txBody>
      </p:sp>
      <p:sp>
        <p:nvSpPr>
          <p:cNvPr id="16" name="Rectangle 15">
            <a:extLst>
              <a:ext uri="{FF2B5EF4-FFF2-40B4-BE49-F238E27FC236}">
                <a16:creationId xmlns:a16="http://schemas.microsoft.com/office/drawing/2014/main" id="{AE2DF498-6D46-264E-871B-5EAC1116BE36}"/>
              </a:ext>
            </a:extLst>
          </p:cNvPr>
          <p:cNvSpPr/>
          <p:nvPr/>
        </p:nvSpPr>
        <p:spPr>
          <a:xfrm>
            <a:off x="2379030" y="4697201"/>
            <a:ext cx="4330032" cy="458459"/>
          </a:xfrm>
          <a:prstGeom prst="rect">
            <a:avLst/>
          </a:prstGeom>
        </p:spPr>
        <p:txBody>
          <a:bodyPr wrap="none">
            <a:spAutoFit/>
          </a:bodyPr>
          <a:lstStyle/>
          <a:p>
            <a:pPr>
              <a:lnSpc>
                <a:spcPct val="150000"/>
              </a:lnSpc>
            </a:pPr>
            <a:r>
              <a:rPr lang="zh-CN" altLang="en-US" b="1" dirty="0"/>
              <a:t>一种解决思路：</a:t>
            </a:r>
            <a:r>
              <a:rPr lang="zh-CN" altLang="en-US" dirty="0"/>
              <a:t>通过自动化转换工具进行</a:t>
            </a:r>
            <a:endParaRPr lang="en-US" altLang="zh-CN" dirty="0"/>
          </a:p>
        </p:txBody>
      </p:sp>
      <p:sp>
        <p:nvSpPr>
          <p:cNvPr id="12" name="灯片编号占位符 3">
            <a:extLst>
              <a:ext uri="{FF2B5EF4-FFF2-40B4-BE49-F238E27FC236}">
                <a16:creationId xmlns:a16="http://schemas.microsoft.com/office/drawing/2014/main" id="{276378C4-15DC-BC40-A4CB-497D4C26A087}"/>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41</a:t>
            </a:fld>
            <a:endParaRPr lang="zh-CN" altLang="en-US"/>
          </a:p>
        </p:txBody>
      </p:sp>
    </p:spTree>
    <p:extLst>
      <p:ext uri="{BB962C8B-B14F-4D97-AF65-F5344CB8AC3E}">
        <p14:creationId xmlns:p14="http://schemas.microsoft.com/office/powerpoint/2010/main" val="26878901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19E4DBC-867C-7E4D-AC33-B15A86280E1F}"/>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11" name="TextBox 10">
            <a:extLst>
              <a:ext uri="{FF2B5EF4-FFF2-40B4-BE49-F238E27FC236}">
                <a16:creationId xmlns:a16="http://schemas.microsoft.com/office/drawing/2014/main" id="{75EC22AD-A94B-7D4A-9BC5-9A1777ED1E5E}"/>
              </a:ext>
            </a:extLst>
          </p:cNvPr>
          <p:cNvSpPr txBox="1"/>
          <p:nvPr/>
        </p:nvSpPr>
        <p:spPr>
          <a:xfrm>
            <a:off x="2123727" y="2015324"/>
            <a:ext cx="4896544" cy="369332"/>
          </a:xfrm>
          <a:prstGeom prst="rect">
            <a:avLst/>
          </a:prstGeom>
          <a:noFill/>
        </p:spPr>
        <p:txBody>
          <a:bodyPr wrap="square" rtlCol="0">
            <a:spAutoFit/>
          </a:bodyPr>
          <a:lstStyle/>
          <a:p>
            <a:pPr algn="ctr"/>
            <a:r>
              <a:rPr lang="en-US" altLang="zh-CN"/>
              <a:t>Cohort</a:t>
            </a:r>
            <a:r>
              <a:rPr lang="zh-CN" altLang="en-US"/>
              <a:t>锁 与 </a:t>
            </a:r>
            <a:r>
              <a:rPr lang="en-US" altLang="zh-CN"/>
              <a:t>MCS</a:t>
            </a:r>
            <a:r>
              <a:rPr lang="zh-CN" altLang="en-US"/>
              <a:t>锁 锁的</a:t>
            </a:r>
            <a:r>
              <a:rPr lang="zh-CN" altLang="en-US" b="1"/>
              <a:t>存储空间 </a:t>
            </a:r>
            <a:r>
              <a:rPr lang="zh-CN" altLang="en-US"/>
              <a:t>对比</a:t>
            </a:r>
            <a:endParaRPr lang="en-CN"/>
          </a:p>
        </p:txBody>
      </p:sp>
      <p:sp>
        <p:nvSpPr>
          <p:cNvPr id="14" name="TextBox 13">
            <a:extLst>
              <a:ext uri="{FF2B5EF4-FFF2-40B4-BE49-F238E27FC236}">
                <a16:creationId xmlns:a16="http://schemas.microsoft.com/office/drawing/2014/main" id="{FFB4F34A-6CAD-1149-90FA-F5D657ACE60E}"/>
              </a:ext>
            </a:extLst>
          </p:cNvPr>
          <p:cNvSpPr txBox="1"/>
          <p:nvPr/>
        </p:nvSpPr>
        <p:spPr>
          <a:xfrm>
            <a:off x="6590589" y="2877677"/>
            <a:ext cx="1080120" cy="369332"/>
          </a:xfrm>
          <a:prstGeom prst="rect">
            <a:avLst/>
          </a:prstGeom>
          <a:noFill/>
        </p:spPr>
        <p:txBody>
          <a:bodyPr wrap="square" rtlCol="0">
            <a:spAutoFit/>
          </a:bodyPr>
          <a:lstStyle/>
          <a:p>
            <a:pPr algn="ctr"/>
            <a:r>
              <a:rPr lang="en-CN" altLang="zh-CN"/>
              <a:t>MCS</a:t>
            </a:r>
            <a:r>
              <a:rPr lang="zh-CN" altLang="en-CN"/>
              <a:t>锁</a:t>
            </a:r>
            <a:endParaRPr lang="en-CN"/>
          </a:p>
        </p:txBody>
      </p:sp>
      <p:sp>
        <p:nvSpPr>
          <p:cNvPr id="15" name="Rectangle 14">
            <a:extLst>
              <a:ext uri="{FF2B5EF4-FFF2-40B4-BE49-F238E27FC236}">
                <a16:creationId xmlns:a16="http://schemas.microsoft.com/office/drawing/2014/main" id="{FFB0DB3C-B44F-D743-951A-9451C37F4B24}"/>
              </a:ext>
            </a:extLst>
          </p:cNvPr>
          <p:cNvSpPr/>
          <p:nvPr/>
        </p:nvSpPr>
        <p:spPr>
          <a:xfrm>
            <a:off x="5149449" y="3467568"/>
            <a:ext cx="3962399" cy="458459"/>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a:t>每个锁只需要一个指针指向队列尾</a:t>
            </a:r>
            <a:endParaRPr lang="en-US" altLang="zh-CN"/>
          </a:p>
        </p:txBody>
      </p:sp>
      <p:sp>
        <p:nvSpPr>
          <p:cNvPr id="16" name="TextBox 15">
            <a:extLst>
              <a:ext uri="{FF2B5EF4-FFF2-40B4-BE49-F238E27FC236}">
                <a16:creationId xmlns:a16="http://schemas.microsoft.com/office/drawing/2014/main" id="{132D3015-F1D1-D544-BB2A-3C9EDB2F4FFC}"/>
              </a:ext>
            </a:extLst>
          </p:cNvPr>
          <p:cNvSpPr txBox="1"/>
          <p:nvPr/>
        </p:nvSpPr>
        <p:spPr>
          <a:xfrm>
            <a:off x="1440631" y="2877677"/>
            <a:ext cx="1366192" cy="369332"/>
          </a:xfrm>
          <a:prstGeom prst="rect">
            <a:avLst/>
          </a:prstGeom>
          <a:noFill/>
        </p:spPr>
        <p:txBody>
          <a:bodyPr wrap="square" rtlCol="0">
            <a:spAutoFit/>
          </a:bodyPr>
          <a:lstStyle/>
          <a:p>
            <a:r>
              <a:rPr lang="en-CN" altLang="zh-CN"/>
              <a:t>Cohort</a:t>
            </a:r>
            <a:r>
              <a:rPr lang="zh-CN" altLang="en-CN"/>
              <a:t>锁</a:t>
            </a:r>
            <a:endParaRPr lang="en-CN"/>
          </a:p>
        </p:txBody>
      </p:sp>
      <p:sp>
        <p:nvSpPr>
          <p:cNvPr id="18" name="Rectangle 17">
            <a:extLst>
              <a:ext uri="{FF2B5EF4-FFF2-40B4-BE49-F238E27FC236}">
                <a16:creationId xmlns:a16="http://schemas.microsoft.com/office/drawing/2014/main" id="{49083160-4567-0440-916F-A53DD0CCC8AD}"/>
              </a:ext>
            </a:extLst>
          </p:cNvPr>
          <p:cNvSpPr/>
          <p:nvPr/>
        </p:nvSpPr>
        <p:spPr>
          <a:xfrm>
            <a:off x="231069" y="3393901"/>
            <a:ext cx="4645496" cy="128945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a:t>每个锁需要一个指针指向全局锁</a:t>
            </a:r>
            <a:endParaRPr lang="en-US" altLang="zh-CN"/>
          </a:p>
          <a:p>
            <a:pPr marL="285750" indent="-285750">
              <a:lnSpc>
                <a:spcPct val="150000"/>
              </a:lnSpc>
              <a:buFont typeface="Arial" panose="020B0604020202020204" pitchFamily="34" charset="0"/>
              <a:buChar char="•"/>
            </a:pPr>
            <a:r>
              <a:rPr lang="zh-CN" altLang="en-CN"/>
              <a:t>每个</a:t>
            </a:r>
            <a:r>
              <a:rPr lang="en-US" altLang="zh-CN"/>
              <a:t>NUMA</a:t>
            </a:r>
            <a:r>
              <a:rPr lang="zh-CN" altLang="en-US"/>
              <a:t>节点都需要一个指针指向本地锁，且必须</a:t>
            </a:r>
            <a:r>
              <a:rPr lang="zh-CN" altLang="en-US" b="1"/>
              <a:t>在不同的缓存行</a:t>
            </a:r>
            <a:r>
              <a:rPr lang="zh-CN" altLang="en-US"/>
              <a:t>避免竞争</a:t>
            </a:r>
            <a:endParaRPr lang="en-US" altLang="zh-CN"/>
          </a:p>
        </p:txBody>
      </p:sp>
      <p:sp>
        <p:nvSpPr>
          <p:cNvPr id="19" name="Rectangle 18">
            <a:extLst>
              <a:ext uri="{FF2B5EF4-FFF2-40B4-BE49-F238E27FC236}">
                <a16:creationId xmlns:a16="http://schemas.microsoft.com/office/drawing/2014/main" id="{AF1706EB-9186-9543-B959-780AFA2BED8F}"/>
              </a:ext>
            </a:extLst>
          </p:cNvPr>
          <p:cNvSpPr/>
          <p:nvPr/>
        </p:nvSpPr>
        <p:spPr>
          <a:xfrm>
            <a:off x="3418478" y="2728248"/>
            <a:ext cx="2307042" cy="458459"/>
          </a:xfrm>
          <a:prstGeom prst="rect">
            <a:avLst/>
          </a:prstGeom>
        </p:spPr>
        <p:txBody>
          <a:bodyPr wrap="none">
            <a:spAutoFit/>
          </a:bodyPr>
          <a:lstStyle/>
          <a:p>
            <a:pPr>
              <a:lnSpc>
                <a:spcPct val="150000"/>
              </a:lnSpc>
            </a:pPr>
            <a:r>
              <a:rPr lang="zh-CN" altLang="en-US" b="1"/>
              <a:t>（</a:t>
            </a:r>
            <a:r>
              <a:rPr lang="en-US" altLang="zh-CN" b="1"/>
              <a:t>N * 8 + 1</a:t>
            </a:r>
            <a:r>
              <a:rPr lang="zh-CN" altLang="en-US" b="1"/>
              <a:t>）</a:t>
            </a:r>
            <a:r>
              <a:rPr lang="en-US" altLang="zh-CN" b="1"/>
              <a:t> </a:t>
            </a:r>
            <a:r>
              <a:rPr lang="zh-CN" altLang="en-US"/>
              <a:t>倍开销</a:t>
            </a:r>
            <a:endParaRPr lang="en-US" altLang="zh-CN"/>
          </a:p>
        </p:txBody>
      </p:sp>
      <p:cxnSp>
        <p:nvCxnSpPr>
          <p:cNvPr id="21" name="Straight Arrow Connector 20">
            <a:extLst>
              <a:ext uri="{FF2B5EF4-FFF2-40B4-BE49-F238E27FC236}">
                <a16:creationId xmlns:a16="http://schemas.microsoft.com/office/drawing/2014/main" id="{0B5077F2-8DC8-5548-9240-B5D31FF94C47}"/>
              </a:ext>
            </a:extLst>
          </p:cNvPr>
          <p:cNvCxnSpPr/>
          <p:nvPr/>
        </p:nvCxnSpPr>
        <p:spPr>
          <a:xfrm>
            <a:off x="3102057" y="3247009"/>
            <a:ext cx="3168352"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D3BCB7A9-EDC7-8E4C-9550-22E24493433D}"/>
              </a:ext>
            </a:extLst>
          </p:cNvPr>
          <p:cNvSpPr/>
          <p:nvPr/>
        </p:nvSpPr>
        <p:spPr>
          <a:xfrm>
            <a:off x="2400191" y="2384656"/>
            <a:ext cx="4572085" cy="417743"/>
          </a:xfrm>
          <a:prstGeom prst="rect">
            <a:avLst/>
          </a:prstGeom>
        </p:spPr>
        <p:txBody>
          <a:bodyPr wrap="none">
            <a:spAutoFit/>
          </a:bodyPr>
          <a:lstStyle/>
          <a:p>
            <a:pPr>
              <a:lnSpc>
                <a:spcPct val="150000"/>
              </a:lnSpc>
            </a:pPr>
            <a:r>
              <a:rPr lang="en-CN" altLang="zh-CN" sz="1600" b="1"/>
              <a:t>N</a:t>
            </a:r>
            <a:r>
              <a:rPr lang="zh-CN" altLang="en-CN" sz="1600"/>
              <a:t>个</a:t>
            </a:r>
            <a:r>
              <a:rPr lang="en-US" altLang="zh-CN" sz="1600"/>
              <a:t>NUMA</a:t>
            </a:r>
            <a:r>
              <a:rPr lang="zh-CN" altLang="en-US" sz="1600"/>
              <a:t>节点，指针</a:t>
            </a:r>
            <a:r>
              <a:rPr lang="en-US" altLang="zh-CN" sz="1600" b="1"/>
              <a:t>8</a:t>
            </a:r>
            <a:r>
              <a:rPr lang="zh-CN" altLang="en-US" sz="1600" b="1"/>
              <a:t> </a:t>
            </a:r>
            <a:r>
              <a:rPr lang="en-US" altLang="zh-CN" sz="1600" b="1"/>
              <a:t>bytes</a:t>
            </a:r>
            <a:r>
              <a:rPr lang="zh-CN" altLang="en-US" sz="1600"/>
              <a:t>，缓存行 </a:t>
            </a:r>
            <a:r>
              <a:rPr lang="en-US" altLang="zh-CN" sz="1600" b="1"/>
              <a:t>64 bytes</a:t>
            </a:r>
          </a:p>
        </p:txBody>
      </p:sp>
      <p:sp>
        <p:nvSpPr>
          <p:cNvPr id="20" name="标题 1">
            <a:extLst>
              <a:ext uri="{FF2B5EF4-FFF2-40B4-BE49-F238E27FC236}">
                <a16:creationId xmlns:a16="http://schemas.microsoft.com/office/drawing/2014/main" id="{B3132844-C9A5-1B4B-8EC1-58BAF847D6E7}"/>
              </a:ext>
            </a:extLst>
          </p:cNvPr>
          <p:cNvSpPr>
            <a:spLocks noGrp="1"/>
          </p:cNvSpPr>
          <p:nvPr>
            <p:ph type="title"/>
          </p:nvPr>
        </p:nvSpPr>
        <p:spPr>
          <a:xfrm>
            <a:off x="457200" y="228866"/>
            <a:ext cx="8229600" cy="900442"/>
          </a:xfrm>
        </p:spPr>
        <p:txBody>
          <a:bodyPr>
            <a:noAutofit/>
          </a:bodyPr>
          <a:lstStyle/>
          <a:p>
            <a:r>
              <a:rPr kumimoji="1" lang="zh-CN" altLang="en-US" sz="2800" dirty="0">
                <a:latin typeface="+mn-lt"/>
              </a:rPr>
              <a:t>挑战</a:t>
            </a:r>
            <a:r>
              <a:rPr kumimoji="1" lang="en-US" altLang="zh-CN" sz="2800" dirty="0">
                <a:latin typeface="+mn-lt"/>
              </a:rPr>
              <a:t>-2</a:t>
            </a:r>
            <a:r>
              <a:rPr kumimoji="1" lang="zh-CN" altLang="en-US" sz="2800" dirty="0">
                <a:latin typeface="+mn-lt"/>
              </a:rPr>
              <a:t>：如何在提升性能的同时，维持锁的易用性？</a:t>
            </a:r>
          </a:p>
        </p:txBody>
      </p:sp>
      <p:sp>
        <p:nvSpPr>
          <p:cNvPr id="5" name="Rectangle 4">
            <a:extLst>
              <a:ext uri="{FF2B5EF4-FFF2-40B4-BE49-F238E27FC236}">
                <a16:creationId xmlns:a16="http://schemas.microsoft.com/office/drawing/2014/main" id="{B5C49F97-63A4-D749-AC28-3C76D6148F16}"/>
              </a:ext>
            </a:extLst>
          </p:cNvPr>
          <p:cNvSpPr/>
          <p:nvPr/>
        </p:nvSpPr>
        <p:spPr>
          <a:xfrm>
            <a:off x="549650" y="1213428"/>
            <a:ext cx="8273166" cy="416909"/>
          </a:xfrm>
          <a:prstGeom prst="rect">
            <a:avLst/>
          </a:prstGeom>
        </p:spPr>
        <p:txBody>
          <a:bodyPr wrap="square">
            <a:spAutoFit/>
          </a:bodyPr>
          <a:lstStyle/>
          <a:p>
            <a:pPr algn="ctr">
              <a:lnSpc>
                <a:spcPct val="130000"/>
              </a:lnSpc>
            </a:pPr>
            <a:r>
              <a:rPr lang="zh-CN" altLang="en-US" dirty="0"/>
              <a:t>如何使用尽可能少的额外存储空间、适应遗留应用（如</a:t>
            </a:r>
            <a:r>
              <a:rPr lang="en-US" altLang="zh-CN" dirty="0"/>
              <a:t>Linux</a:t>
            </a:r>
            <a:r>
              <a:rPr lang="zh-CN" altLang="en-US" dirty="0"/>
              <a:t>内核）的编程接口？</a:t>
            </a:r>
            <a:endParaRPr lang="en-CN"/>
          </a:p>
        </p:txBody>
      </p:sp>
      <p:sp>
        <p:nvSpPr>
          <p:cNvPr id="6" name="Rectangle 5">
            <a:extLst>
              <a:ext uri="{FF2B5EF4-FFF2-40B4-BE49-F238E27FC236}">
                <a16:creationId xmlns:a16="http://schemas.microsoft.com/office/drawing/2014/main" id="{3AA776DD-705B-0D4E-B79D-9D745797E8A2}"/>
              </a:ext>
            </a:extLst>
          </p:cNvPr>
          <p:cNvSpPr/>
          <p:nvPr/>
        </p:nvSpPr>
        <p:spPr>
          <a:xfrm>
            <a:off x="601515" y="4776170"/>
            <a:ext cx="3044423" cy="369332"/>
          </a:xfrm>
          <a:prstGeom prst="rect">
            <a:avLst/>
          </a:prstGeom>
        </p:spPr>
        <p:txBody>
          <a:bodyPr wrap="none">
            <a:spAutoFit/>
          </a:bodyPr>
          <a:lstStyle/>
          <a:p>
            <a:pPr algn="ctr"/>
            <a:r>
              <a:rPr lang="zh-CN" altLang="en-US">
                <a:solidFill>
                  <a:schemeClr val="accent1"/>
                </a:solidFill>
              </a:rPr>
              <a:t>无法直接放入</a:t>
            </a:r>
            <a:r>
              <a:rPr lang="en-US" altLang="zh-CN">
                <a:solidFill>
                  <a:schemeClr val="accent1"/>
                </a:solidFill>
              </a:rPr>
              <a:t>Linux</a:t>
            </a:r>
            <a:r>
              <a:rPr lang="zh-CN" altLang="en-US">
                <a:solidFill>
                  <a:schemeClr val="accent1"/>
                </a:solidFill>
              </a:rPr>
              <a:t>内核使用</a:t>
            </a:r>
            <a:endParaRPr lang="en-CN">
              <a:solidFill>
                <a:schemeClr val="accent1"/>
              </a:solidFill>
            </a:endParaRPr>
          </a:p>
        </p:txBody>
      </p:sp>
      <p:sp>
        <p:nvSpPr>
          <p:cNvPr id="25" name="Rectangle 24">
            <a:extLst>
              <a:ext uri="{FF2B5EF4-FFF2-40B4-BE49-F238E27FC236}">
                <a16:creationId xmlns:a16="http://schemas.microsoft.com/office/drawing/2014/main" id="{6F94071C-4C8D-BF43-8CD1-E2EC77B14F20}"/>
              </a:ext>
            </a:extLst>
          </p:cNvPr>
          <p:cNvSpPr/>
          <p:nvPr/>
        </p:nvSpPr>
        <p:spPr>
          <a:xfrm>
            <a:off x="5281424" y="4246567"/>
            <a:ext cx="3698448" cy="369332"/>
          </a:xfrm>
          <a:prstGeom prst="rect">
            <a:avLst/>
          </a:prstGeom>
        </p:spPr>
        <p:txBody>
          <a:bodyPr wrap="none">
            <a:spAutoFit/>
          </a:bodyPr>
          <a:lstStyle/>
          <a:p>
            <a:pPr algn="ctr"/>
            <a:r>
              <a:rPr lang="en-CN" altLang="zh-CN">
                <a:solidFill>
                  <a:schemeClr val="accent1"/>
                </a:solidFill>
              </a:rPr>
              <a:t>Linux</a:t>
            </a:r>
            <a:r>
              <a:rPr lang="zh-CN" altLang="en-CN">
                <a:solidFill>
                  <a:schemeClr val="accent1"/>
                </a:solidFill>
              </a:rPr>
              <a:t>内核</a:t>
            </a:r>
            <a:r>
              <a:rPr lang="zh-CN" altLang="en-US">
                <a:solidFill>
                  <a:schemeClr val="accent1"/>
                </a:solidFill>
              </a:rPr>
              <a:t>使用类似</a:t>
            </a:r>
            <a:r>
              <a:rPr lang="en-US" altLang="zh-CN">
                <a:solidFill>
                  <a:schemeClr val="accent1"/>
                </a:solidFill>
              </a:rPr>
              <a:t>MCS</a:t>
            </a:r>
            <a:r>
              <a:rPr lang="zh-CN" altLang="en-US">
                <a:solidFill>
                  <a:schemeClr val="accent1"/>
                </a:solidFill>
              </a:rPr>
              <a:t>的队列锁</a:t>
            </a:r>
            <a:endParaRPr lang="en-CN">
              <a:solidFill>
                <a:schemeClr val="accent1"/>
              </a:solidFill>
            </a:endParaRPr>
          </a:p>
        </p:txBody>
      </p:sp>
      <p:sp>
        <p:nvSpPr>
          <p:cNvPr id="17" name="灯片编号占位符 3">
            <a:extLst>
              <a:ext uri="{FF2B5EF4-FFF2-40B4-BE49-F238E27FC236}">
                <a16:creationId xmlns:a16="http://schemas.microsoft.com/office/drawing/2014/main" id="{3A3F1866-F88D-9D44-9254-E209A37ACA4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42</a:t>
            </a:fld>
            <a:endParaRPr lang="zh-CN" altLang="en-US"/>
          </a:p>
        </p:txBody>
      </p:sp>
    </p:spTree>
    <p:extLst>
      <p:ext uri="{BB962C8B-B14F-4D97-AF65-F5344CB8AC3E}">
        <p14:creationId xmlns:p14="http://schemas.microsoft.com/office/powerpoint/2010/main" val="20362200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F9EAC5-0001-BF49-A898-0199B0EBE24C}"/>
              </a:ext>
            </a:extLst>
          </p:cNvPr>
          <p:cNvSpPr>
            <a:spLocks noGrp="1"/>
          </p:cNvSpPr>
          <p:nvPr>
            <p:ph type="sldNum" sz="quarter" idx="12"/>
          </p:nvPr>
        </p:nvSpPr>
        <p:spPr/>
        <p:txBody>
          <a:bodyPr/>
          <a:lstStyle/>
          <a:p>
            <a:fld id="{ADE361C3-C043-4A6E-BDCE-8DA1E7D90A3B}" type="slidenum">
              <a:rPr lang="zh-CN" altLang="en-US" smtClean="0"/>
              <a:t>43</a:t>
            </a:fld>
            <a:endParaRPr lang="zh-CN" altLang="en-US"/>
          </a:p>
        </p:txBody>
      </p:sp>
      <p:sp>
        <p:nvSpPr>
          <p:cNvPr id="5" name="Footer Placeholder 4">
            <a:extLst>
              <a:ext uri="{FF2B5EF4-FFF2-40B4-BE49-F238E27FC236}">
                <a16:creationId xmlns:a16="http://schemas.microsoft.com/office/drawing/2014/main" id="{D6741B52-B52D-0E41-90DF-78293973679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6" name="标题 1">
            <a:extLst>
              <a:ext uri="{FF2B5EF4-FFF2-40B4-BE49-F238E27FC236}">
                <a16:creationId xmlns:a16="http://schemas.microsoft.com/office/drawing/2014/main" id="{D6F5C1E5-F891-4D4E-A8B4-74B4512A2619}"/>
              </a:ext>
            </a:extLst>
          </p:cNvPr>
          <p:cNvSpPr>
            <a:spLocks noGrp="1"/>
          </p:cNvSpPr>
          <p:nvPr>
            <p:ph type="title"/>
          </p:nvPr>
        </p:nvSpPr>
        <p:spPr/>
        <p:txBody>
          <a:bodyPr>
            <a:normAutofit/>
          </a:bodyPr>
          <a:lstStyle/>
          <a:p>
            <a:r>
              <a:rPr kumimoji="1" lang="zh-CN" altLang="en-US" sz="2800" dirty="0">
                <a:latin typeface="+mn-lt"/>
              </a:rPr>
              <a:t>除了性能可扩展性与易用性之外的挑战</a:t>
            </a:r>
            <a:endParaRPr kumimoji="1" lang="en-US" altLang="zh-CN" sz="2800" dirty="0">
              <a:latin typeface="+mn-lt"/>
            </a:endParaRPr>
          </a:p>
        </p:txBody>
      </p:sp>
      <p:sp>
        <p:nvSpPr>
          <p:cNvPr id="8" name="TextBox 7">
            <a:extLst>
              <a:ext uri="{FF2B5EF4-FFF2-40B4-BE49-F238E27FC236}">
                <a16:creationId xmlns:a16="http://schemas.microsoft.com/office/drawing/2014/main" id="{BEEF86D6-BE8D-D34A-96E3-66DE6EA34E62}"/>
              </a:ext>
            </a:extLst>
          </p:cNvPr>
          <p:cNvSpPr txBox="1"/>
          <p:nvPr/>
        </p:nvSpPr>
        <p:spPr>
          <a:xfrm>
            <a:off x="602780" y="1773863"/>
            <a:ext cx="7864471" cy="416909"/>
          </a:xfrm>
          <a:prstGeom prst="rect">
            <a:avLst/>
          </a:prstGeom>
          <a:noFill/>
        </p:spPr>
        <p:txBody>
          <a:bodyPr wrap="square" rtlCol="0">
            <a:spAutoFit/>
          </a:bodyPr>
          <a:lstStyle/>
          <a:p>
            <a:pPr>
              <a:lnSpc>
                <a:spcPct val="130000"/>
              </a:lnSpc>
            </a:pPr>
            <a:r>
              <a:rPr lang="zh-CN" altLang="en-US" b="1" dirty="0">
                <a:highlight>
                  <a:srgbClr val="FFFF00"/>
                </a:highlight>
              </a:rPr>
              <a:t>挑战</a:t>
            </a:r>
            <a:r>
              <a:rPr lang="en-US" altLang="zh-CN" b="1" dirty="0">
                <a:highlight>
                  <a:srgbClr val="FFFF00"/>
                </a:highlight>
              </a:rPr>
              <a:t>#3</a:t>
            </a:r>
            <a:r>
              <a:rPr lang="zh-CN" altLang="en-US" b="1" dirty="0">
                <a:highlight>
                  <a:srgbClr val="FFFF00"/>
                </a:highlight>
              </a:rPr>
              <a:t>：</a:t>
            </a:r>
            <a:r>
              <a:rPr lang="zh-CN" altLang="en-US" dirty="0">
                <a:highlight>
                  <a:srgbClr val="FFFF00"/>
                </a:highlight>
              </a:rPr>
              <a:t>新的硬件会给同步带来什么样的影响？</a:t>
            </a:r>
            <a:endParaRPr lang="en-US" altLang="zh-CN" dirty="0">
              <a:highlight>
                <a:srgbClr val="FFFF00"/>
              </a:highlight>
            </a:endParaRPr>
          </a:p>
        </p:txBody>
      </p:sp>
      <p:sp>
        <p:nvSpPr>
          <p:cNvPr id="9" name="Rectangle 8">
            <a:extLst>
              <a:ext uri="{FF2B5EF4-FFF2-40B4-BE49-F238E27FC236}">
                <a16:creationId xmlns:a16="http://schemas.microsoft.com/office/drawing/2014/main" id="{996306A9-C8CE-AE42-B01B-E9E3F901C791}"/>
              </a:ext>
            </a:extLst>
          </p:cNvPr>
          <p:cNvSpPr/>
          <p:nvPr/>
        </p:nvSpPr>
        <p:spPr>
          <a:xfrm>
            <a:off x="1557277" y="2260197"/>
            <a:ext cx="5955476" cy="873957"/>
          </a:xfrm>
          <a:prstGeom prst="rect">
            <a:avLst/>
          </a:prstGeom>
        </p:spPr>
        <p:txBody>
          <a:bodyPr wrap="none">
            <a:spAutoFit/>
          </a:bodyPr>
          <a:lstStyle/>
          <a:p>
            <a:pPr>
              <a:lnSpc>
                <a:spcPct val="150000"/>
              </a:lnSpc>
            </a:pPr>
            <a:r>
              <a:rPr lang="zh-CN" altLang="en-US"/>
              <a:t>异构系统不同设备之间如何同步</a:t>
            </a:r>
            <a:r>
              <a:rPr lang="en-US" altLang="zh-CN"/>
              <a:t>/</a:t>
            </a:r>
            <a:r>
              <a:rPr lang="zh-CN" altLang="en-US"/>
              <a:t>通讯？</a:t>
            </a:r>
            <a:endParaRPr lang="en-US" altLang="zh-CN"/>
          </a:p>
          <a:p>
            <a:pPr>
              <a:lnSpc>
                <a:spcPct val="150000"/>
              </a:lnSpc>
            </a:pPr>
            <a:r>
              <a:rPr lang="zh-CN" altLang="en-US"/>
              <a:t>采用弱内存模型的处理器如何耗费最小开销保证正确性？</a:t>
            </a:r>
            <a:endParaRPr lang="en-CN"/>
          </a:p>
        </p:txBody>
      </p:sp>
      <p:sp>
        <p:nvSpPr>
          <p:cNvPr id="10" name="TextBox 9">
            <a:extLst>
              <a:ext uri="{FF2B5EF4-FFF2-40B4-BE49-F238E27FC236}">
                <a16:creationId xmlns:a16="http://schemas.microsoft.com/office/drawing/2014/main" id="{4024508C-899A-F24C-889B-2C05C35B6FC2}"/>
              </a:ext>
            </a:extLst>
          </p:cNvPr>
          <p:cNvSpPr txBox="1"/>
          <p:nvPr/>
        </p:nvSpPr>
        <p:spPr>
          <a:xfrm>
            <a:off x="602781" y="3411163"/>
            <a:ext cx="7864471" cy="416909"/>
          </a:xfrm>
          <a:prstGeom prst="rect">
            <a:avLst/>
          </a:prstGeom>
          <a:noFill/>
        </p:spPr>
        <p:txBody>
          <a:bodyPr wrap="square" rtlCol="0">
            <a:spAutoFit/>
          </a:bodyPr>
          <a:lstStyle/>
          <a:p>
            <a:pPr>
              <a:lnSpc>
                <a:spcPct val="130000"/>
              </a:lnSpc>
            </a:pPr>
            <a:r>
              <a:rPr lang="zh-CN" altLang="en-US" b="1" dirty="0">
                <a:highlight>
                  <a:srgbClr val="FFFF00"/>
                </a:highlight>
              </a:rPr>
              <a:t>挑战</a:t>
            </a:r>
            <a:r>
              <a:rPr lang="en-US" altLang="zh-CN" b="1" dirty="0">
                <a:highlight>
                  <a:srgbClr val="FFFF00"/>
                </a:highlight>
              </a:rPr>
              <a:t>#4</a:t>
            </a:r>
            <a:r>
              <a:rPr lang="zh-CN" altLang="en-US" b="1" dirty="0">
                <a:highlight>
                  <a:srgbClr val="FFFF00"/>
                </a:highlight>
              </a:rPr>
              <a:t>：</a:t>
            </a:r>
            <a:r>
              <a:rPr lang="zh-CN" altLang="en-US" dirty="0">
                <a:highlight>
                  <a:srgbClr val="FFFF00"/>
                </a:highlight>
              </a:rPr>
              <a:t>同步原语能否和操作系统其他模块更好的协作？</a:t>
            </a:r>
            <a:endParaRPr lang="en-US" altLang="zh-CN" dirty="0">
              <a:highlight>
                <a:srgbClr val="FFFF00"/>
              </a:highlight>
            </a:endParaRPr>
          </a:p>
        </p:txBody>
      </p:sp>
      <p:sp>
        <p:nvSpPr>
          <p:cNvPr id="11" name="TextBox 10">
            <a:extLst>
              <a:ext uri="{FF2B5EF4-FFF2-40B4-BE49-F238E27FC236}">
                <a16:creationId xmlns:a16="http://schemas.microsoft.com/office/drawing/2014/main" id="{F00FD10A-44E7-6F4E-BA71-1E4236ABE5DA}"/>
              </a:ext>
            </a:extLst>
          </p:cNvPr>
          <p:cNvSpPr txBox="1"/>
          <p:nvPr/>
        </p:nvSpPr>
        <p:spPr>
          <a:xfrm>
            <a:off x="1043609" y="3896626"/>
            <a:ext cx="7864471" cy="416909"/>
          </a:xfrm>
          <a:prstGeom prst="rect">
            <a:avLst/>
          </a:prstGeom>
          <a:noFill/>
        </p:spPr>
        <p:txBody>
          <a:bodyPr wrap="square" rtlCol="0">
            <a:spAutoFit/>
          </a:bodyPr>
          <a:lstStyle/>
          <a:p>
            <a:pPr algn="ctr">
              <a:lnSpc>
                <a:spcPct val="130000"/>
              </a:lnSpc>
            </a:pPr>
            <a:r>
              <a:rPr lang="zh-CN" altLang="en-US"/>
              <a:t>如调度器，以维持调度公平；或避免调度在忙等的线程提升性能。</a:t>
            </a:r>
            <a:endParaRPr lang="en-US" altLang="zh-CN"/>
          </a:p>
        </p:txBody>
      </p:sp>
    </p:spTree>
    <p:extLst>
      <p:ext uri="{BB962C8B-B14F-4D97-AF65-F5344CB8AC3E}">
        <p14:creationId xmlns:p14="http://schemas.microsoft.com/office/powerpoint/2010/main" val="14888373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183AAA8-BC46-CF45-BB52-4DA5EC64E041}"/>
              </a:ext>
            </a:extLst>
          </p:cNvPr>
          <p:cNvSpPr>
            <a:spLocks noGrp="1"/>
          </p:cNvSpPr>
          <p:nvPr>
            <p:ph type="title"/>
          </p:nvPr>
        </p:nvSpPr>
        <p:spPr/>
        <p:txBody>
          <a:bodyPr>
            <a:normAutofit/>
          </a:bodyPr>
          <a:lstStyle/>
          <a:p>
            <a:r>
              <a:rPr lang="en-US" altLang="zh-CN" dirty="0"/>
              <a:t>4</a:t>
            </a:r>
            <a:r>
              <a:rPr lang="zh-CN" altLang="en-US" dirty="0"/>
              <a:t>、持久性内存</a:t>
            </a:r>
            <a:endParaRPr lang="en-CN" dirty="0"/>
          </a:p>
        </p:txBody>
      </p:sp>
      <p:sp>
        <p:nvSpPr>
          <p:cNvPr id="7" name="Text Placeholder 6">
            <a:extLst>
              <a:ext uri="{FF2B5EF4-FFF2-40B4-BE49-F238E27FC236}">
                <a16:creationId xmlns:a16="http://schemas.microsoft.com/office/drawing/2014/main" id="{CD056C4F-69D3-B04C-B095-B32EFB7107A5}"/>
              </a:ext>
            </a:extLst>
          </p:cNvPr>
          <p:cNvSpPr>
            <a:spLocks noGrp="1"/>
          </p:cNvSpPr>
          <p:nvPr>
            <p:ph type="body" idx="1"/>
          </p:nvPr>
        </p:nvSpPr>
        <p:spPr/>
        <p:txBody>
          <a:bodyPr/>
          <a:lstStyle/>
          <a:p>
            <a:r>
              <a:rPr lang="en-US" altLang="zh-CN" dirty="0"/>
              <a:t>Persistent</a:t>
            </a:r>
            <a:r>
              <a:rPr lang="zh-CN" altLang="en-US" dirty="0"/>
              <a:t> </a:t>
            </a:r>
            <a:r>
              <a:rPr lang="en-US" altLang="zh-CN" dirty="0"/>
              <a:t>Memory</a:t>
            </a:r>
            <a:endParaRPr lang="en-CN" dirty="0"/>
          </a:p>
        </p:txBody>
      </p:sp>
      <p:sp>
        <p:nvSpPr>
          <p:cNvPr id="4" name="Slide Number Placeholder 3">
            <a:extLst>
              <a:ext uri="{FF2B5EF4-FFF2-40B4-BE49-F238E27FC236}">
                <a16:creationId xmlns:a16="http://schemas.microsoft.com/office/drawing/2014/main" id="{F797A9C5-A587-684A-9FA4-746A7B00BA1D}"/>
              </a:ext>
            </a:extLst>
          </p:cNvPr>
          <p:cNvSpPr>
            <a:spLocks noGrp="1"/>
          </p:cNvSpPr>
          <p:nvPr>
            <p:ph type="sldNum" sz="quarter" idx="12"/>
          </p:nvPr>
        </p:nvSpPr>
        <p:spPr/>
        <p:txBody>
          <a:bodyPr/>
          <a:lstStyle/>
          <a:p>
            <a:fld id="{ADE361C3-C043-4A6E-BDCE-8DA1E7D90A3B}" type="slidenum">
              <a:rPr lang="zh-CN" altLang="en-US" smtClean="0"/>
              <a:t>44</a:t>
            </a:fld>
            <a:endParaRPr lang="zh-CN" altLang="en-US"/>
          </a:p>
        </p:txBody>
      </p:sp>
      <p:sp>
        <p:nvSpPr>
          <p:cNvPr id="5" name="Footer Placeholder 4">
            <a:extLst>
              <a:ext uri="{FF2B5EF4-FFF2-40B4-BE49-F238E27FC236}">
                <a16:creationId xmlns:a16="http://schemas.microsoft.com/office/drawing/2014/main" id="{5C718E5A-1046-4A46-A983-4CBF79BA7F9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9027475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1D918-0AD8-0A4B-BA21-117ACD949564}"/>
              </a:ext>
            </a:extLst>
          </p:cNvPr>
          <p:cNvSpPr>
            <a:spLocks noGrp="1"/>
          </p:cNvSpPr>
          <p:nvPr>
            <p:ph type="title"/>
          </p:nvPr>
        </p:nvSpPr>
        <p:spPr/>
        <p:txBody>
          <a:bodyPr>
            <a:normAutofit/>
          </a:bodyPr>
          <a:lstStyle/>
          <a:p>
            <a:r>
              <a:rPr lang="zh-CN" altLang="en-CN" sz="3200" dirty="0"/>
              <a:t>持久性</a:t>
            </a:r>
            <a:r>
              <a:rPr lang="zh-CN" altLang="en-US" sz="3200" dirty="0"/>
              <a:t>内存（</a:t>
            </a:r>
            <a:r>
              <a:rPr lang="en-US" altLang="zh-CN" sz="3200" dirty="0"/>
              <a:t>PM</a:t>
            </a:r>
            <a:r>
              <a:rPr lang="zh-CN" altLang="en-US" sz="3200" dirty="0"/>
              <a:t>）正在变得越来越流行</a:t>
            </a:r>
            <a:endParaRPr lang="en-CN" sz="3200" dirty="0"/>
          </a:p>
        </p:txBody>
      </p:sp>
      <p:sp>
        <p:nvSpPr>
          <p:cNvPr id="3" name="Content Placeholder 2">
            <a:extLst>
              <a:ext uri="{FF2B5EF4-FFF2-40B4-BE49-F238E27FC236}">
                <a16:creationId xmlns:a16="http://schemas.microsoft.com/office/drawing/2014/main" id="{3159A1F2-6DA0-5D4C-A5EC-76A6E35E384A}"/>
              </a:ext>
            </a:extLst>
          </p:cNvPr>
          <p:cNvSpPr>
            <a:spLocks noGrp="1"/>
          </p:cNvSpPr>
          <p:nvPr>
            <p:ph idx="1"/>
          </p:nvPr>
        </p:nvSpPr>
        <p:spPr/>
        <p:txBody>
          <a:bodyPr/>
          <a:lstStyle/>
          <a:p>
            <a:r>
              <a:rPr lang="zh-CN" altLang="en-US" dirty="0"/>
              <a:t>新型的内存</a:t>
            </a:r>
            <a:r>
              <a:rPr lang="en-US" altLang="zh-CN" dirty="0"/>
              <a:t>/</a:t>
            </a:r>
            <a:r>
              <a:rPr lang="zh-CN" altLang="en-US" dirty="0"/>
              <a:t>存储设备</a:t>
            </a:r>
            <a:endParaRPr lang="en-US" altLang="zh-CN" dirty="0"/>
          </a:p>
          <a:p>
            <a:pPr lvl="1"/>
            <a:r>
              <a:rPr lang="zh-CN" altLang="en-US" dirty="0"/>
              <a:t>又称非易失性内存（</a:t>
            </a:r>
            <a:r>
              <a:rPr lang="en-US" altLang="zh-CN" dirty="0"/>
              <a:t>NVM</a:t>
            </a:r>
            <a:r>
              <a:rPr lang="zh-CN" altLang="en-US" dirty="0"/>
              <a:t>）</a:t>
            </a:r>
            <a:endParaRPr lang="en-US" altLang="zh-CN" dirty="0"/>
          </a:p>
          <a:p>
            <a:pPr marL="457200" lvl="1" indent="0">
              <a:buNone/>
            </a:pPr>
            <a:endParaRPr lang="en-US" altLang="zh-CN" sz="100" dirty="0"/>
          </a:p>
          <a:p>
            <a:r>
              <a:rPr lang="zh-CN" altLang="en-US" dirty="0"/>
              <a:t>结合内存与存储各自的特点</a:t>
            </a:r>
            <a:endParaRPr lang="en-US" altLang="zh-CN" dirty="0"/>
          </a:p>
        </p:txBody>
      </p:sp>
      <p:sp>
        <p:nvSpPr>
          <p:cNvPr id="4" name="Slide Number Placeholder 3">
            <a:extLst>
              <a:ext uri="{FF2B5EF4-FFF2-40B4-BE49-F238E27FC236}">
                <a16:creationId xmlns:a16="http://schemas.microsoft.com/office/drawing/2014/main" id="{5F910596-164E-0348-8C24-522540747B54}"/>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sp>
        <p:nvSpPr>
          <p:cNvPr id="5" name="Footer Placeholder 4">
            <a:extLst>
              <a:ext uri="{FF2B5EF4-FFF2-40B4-BE49-F238E27FC236}">
                <a16:creationId xmlns:a16="http://schemas.microsoft.com/office/drawing/2014/main" id="{6363920E-F559-2346-B88C-71E9240AD30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7" name="Picture 6">
            <a:extLst>
              <a:ext uri="{FF2B5EF4-FFF2-40B4-BE49-F238E27FC236}">
                <a16:creationId xmlns:a16="http://schemas.microsoft.com/office/drawing/2014/main" id="{F721E90F-3C8B-A94E-9710-26A2A6BF410F}"/>
              </a:ext>
            </a:extLst>
          </p:cNvPr>
          <p:cNvPicPr>
            <a:picLocks noChangeAspect="1"/>
          </p:cNvPicPr>
          <p:nvPr/>
        </p:nvPicPr>
        <p:blipFill>
          <a:blip r:embed="rId2"/>
          <a:stretch>
            <a:fillRect/>
          </a:stretch>
        </p:blipFill>
        <p:spPr>
          <a:xfrm>
            <a:off x="4801616" y="1114160"/>
            <a:ext cx="3657600" cy="2057400"/>
          </a:xfrm>
          <a:prstGeom prst="rect">
            <a:avLst/>
          </a:prstGeom>
        </p:spPr>
      </p:pic>
      <p:sp>
        <p:nvSpPr>
          <p:cNvPr id="8" name="TextBox 7">
            <a:extLst>
              <a:ext uri="{FF2B5EF4-FFF2-40B4-BE49-F238E27FC236}">
                <a16:creationId xmlns:a16="http://schemas.microsoft.com/office/drawing/2014/main" id="{547434DB-4030-DA41-A62B-3ED896A3903D}"/>
              </a:ext>
            </a:extLst>
          </p:cNvPr>
          <p:cNvSpPr txBox="1"/>
          <p:nvPr/>
        </p:nvSpPr>
        <p:spPr>
          <a:xfrm>
            <a:off x="0" y="5017740"/>
            <a:ext cx="7287572" cy="261610"/>
          </a:xfrm>
          <a:prstGeom prst="rect">
            <a:avLst/>
          </a:prstGeom>
          <a:noFill/>
        </p:spPr>
        <p:txBody>
          <a:bodyPr wrap="none" rtlCol="0">
            <a:spAutoFit/>
          </a:bodyPr>
          <a:lstStyle/>
          <a:p>
            <a:r>
              <a:rPr lang="en-US" altLang="zh-CN" sz="1100" dirty="0"/>
              <a:t>Figure</a:t>
            </a:r>
            <a:r>
              <a:rPr lang="zh-CN" altLang="en-US" sz="1100" dirty="0"/>
              <a:t> </a:t>
            </a:r>
            <a:r>
              <a:rPr lang="en-US" altLang="zh-CN" sz="1100" dirty="0"/>
              <a:t>from</a:t>
            </a:r>
            <a:r>
              <a:rPr lang="zh-CN" altLang="en-US" sz="1100" dirty="0"/>
              <a:t> </a:t>
            </a:r>
            <a:r>
              <a:rPr lang="en-US" sz="1100" dirty="0"/>
              <a:t>https://</a:t>
            </a:r>
            <a:r>
              <a:rPr lang="en-US" sz="1100" dirty="0" err="1"/>
              <a:t>www.intel.com</a:t>
            </a:r>
            <a:r>
              <a:rPr lang="en-US" sz="1100" dirty="0"/>
              <a:t>/content/www/us/</a:t>
            </a:r>
            <a:r>
              <a:rPr lang="en-US" sz="1100" dirty="0" err="1"/>
              <a:t>en</a:t>
            </a:r>
            <a:r>
              <a:rPr lang="en-US" sz="1100" dirty="0"/>
              <a:t>/products/memory-storage/</a:t>
            </a:r>
            <a:r>
              <a:rPr lang="en-US" sz="1100" dirty="0" err="1"/>
              <a:t>optane</a:t>
            </a:r>
            <a:r>
              <a:rPr lang="en-US" sz="1100" dirty="0"/>
              <a:t>-dc-persistent-</a:t>
            </a:r>
            <a:r>
              <a:rPr lang="en-US" sz="1100" dirty="0" err="1"/>
              <a:t>memory.html</a:t>
            </a:r>
            <a:endParaRPr lang="en-CN" sz="1100" dirty="0"/>
          </a:p>
        </p:txBody>
      </p:sp>
      <p:graphicFrame>
        <p:nvGraphicFramePr>
          <p:cNvPr id="9" name="Table 8">
            <a:extLst>
              <a:ext uri="{FF2B5EF4-FFF2-40B4-BE49-F238E27FC236}">
                <a16:creationId xmlns:a16="http://schemas.microsoft.com/office/drawing/2014/main" id="{CCE74459-E40C-DD4A-8069-919C29F0C329}"/>
              </a:ext>
            </a:extLst>
          </p:cNvPr>
          <p:cNvGraphicFramePr>
            <a:graphicFrameLocks noGrp="1"/>
          </p:cNvGraphicFramePr>
          <p:nvPr/>
        </p:nvGraphicFramePr>
        <p:xfrm>
          <a:off x="575556" y="3318828"/>
          <a:ext cx="3878088" cy="1483360"/>
        </p:xfrm>
        <a:graphic>
          <a:graphicData uri="http://schemas.openxmlformats.org/drawingml/2006/table">
            <a:tbl>
              <a:tblPr>
                <a:tableStyleId>{B301B821-A1FF-4177-AEE7-76D212191A09}</a:tableStyleId>
              </a:tblPr>
              <a:tblGrid>
                <a:gridCol w="880597">
                  <a:extLst>
                    <a:ext uri="{9D8B030D-6E8A-4147-A177-3AD203B41FA5}">
                      <a16:colId xmlns:a16="http://schemas.microsoft.com/office/drawing/2014/main" val="3541110010"/>
                    </a:ext>
                  </a:extLst>
                </a:gridCol>
                <a:gridCol w="2997491">
                  <a:extLst>
                    <a:ext uri="{9D8B030D-6E8A-4147-A177-3AD203B41FA5}">
                      <a16:colId xmlns:a16="http://schemas.microsoft.com/office/drawing/2014/main" val="364244510"/>
                    </a:ext>
                  </a:extLst>
                </a:gridCol>
              </a:tblGrid>
              <a:tr h="370840">
                <a:tc>
                  <a:txBody>
                    <a:bodyPr/>
                    <a:lstStyle/>
                    <a:p>
                      <a:r>
                        <a:rPr lang="zh-CN" altLang="en-US" b="0" dirty="0">
                          <a:solidFill>
                            <a:srgbClr val="C00000"/>
                          </a:solidFill>
                        </a:rPr>
                        <a:t>性能</a:t>
                      </a:r>
                      <a:endParaRPr lang="en-CN" b="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E9E7"/>
                    </a:solidFill>
                  </a:tcPr>
                </a:tc>
                <a:tc>
                  <a:txBody>
                    <a:bodyPr/>
                    <a:lstStyle/>
                    <a:p>
                      <a:r>
                        <a:rPr lang="zh-CN" altLang="en-US" dirty="0"/>
                        <a:t>与 </a:t>
                      </a:r>
                      <a:r>
                        <a:rPr lang="en-US" altLang="zh-CN" dirty="0"/>
                        <a:t>DRAM</a:t>
                      </a:r>
                      <a:r>
                        <a:rPr lang="zh-CN" altLang="en-US" dirty="0"/>
                        <a:t> 接近，高于 </a:t>
                      </a:r>
                      <a:r>
                        <a:rPr lang="en-US" altLang="zh-CN" dirty="0"/>
                        <a:t>SSD</a:t>
                      </a:r>
                      <a:endParaRPr lang="en-C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E9E7"/>
                    </a:solidFill>
                  </a:tcPr>
                </a:tc>
                <a:extLst>
                  <a:ext uri="{0D108BD9-81ED-4DB2-BD59-A6C34878D82A}">
                    <a16:rowId xmlns:a16="http://schemas.microsoft.com/office/drawing/2014/main" val="1234745151"/>
                  </a:ext>
                </a:extLst>
              </a:tr>
              <a:tr h="370840">
                <a:tc>
                  <a:txBody>
                    <a:bodyPr/>
                    <a:lstStyle/>
                    <a:p>
                      <a:r>
                        <a:rPr lang="zh-CN" altLang="en-CN" b="0" dirty="0">
                          <a:solidFill>
                            <a:srgbClr val="C00000"/>
                          </a:solidFill>
                        </a:rPr>
                        <a:t>访问</a:t>
                      </a:r>
                      <a:endParaRPr lang="en-CN" b="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E9E7"/>
                    </a:solidFill>
                  </a:tcPr>
                </a:tc>
                <a:tc>
                  <a:txBody>
                    <a:bodyPr/>
                    <a:lstStyle/>
                    <a:p>
                      <a:r>
                        <a:rPr lang="en-US" altLang="zh-CN" dirty="0"/>
                        <a:t>load/store</a:t>
                      </a:r>
                      <a:r>
                        <a:rPr lang="zh-CN" altLang="en-US" dirty="0"/>
                        <a:t> 指令，</a:t>
                      </a:r>
                      <a:r>
                        <a:rPr lang="zh-CN" altLang="en-CN" dirty="0"/>
                        <a:t>字节</a:t>
                      </a:r>
                      <a:r>
                        <a:rPr lang="zh-CN" altLang="en-US" dirty="0"/>
                        <a:t>粒度</a:t>
                      </a:r>
                      <a:endParaRPr lang="en-C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E9E7"/>
                    </a:solidFill>
                  </a:tcPr>
                </a:tc>
                <a:extLst>
                  <a:ext uri="{0D108BD9-81ED-4DB2-BD59-A6C34878D82A}">
                    <a16:rowId xmlns:a16="http://schemas.microsoft.com/office/drawing/2014/main" val="712107813"/>
                  </a:ext>
                </a:extLst>
              </a:tr>
              <a:tr h="370840">
                <a:tc>
                  <a:txBody>
                    <a:bodyPr/>
                    <a:lstStyle/>
                    <a:p>
                      <a:r>
                        <a:rPr lang="zh-CN" altLang="en-US" b="0" dirty="0">
                          <a:solidFill>
                            <a:srgbClr val="C00000"/>
                          </a:solidFill>
                        </a:rPr>
                        <a:t>位置</a:t>
                      </a:r>
                      <a:endParaRPr lang="en-CN" b="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E9E7"/>
                    </a:solidFill>
                  </a:tcPr>
                </a:tc>
                <a:tc>
                  <a:txBody>
                    <a:bodyPr/>
                    <a:lstStyle/>
                    <a:p>
                      <a:r>
                        <a:rPr lang="zh-CN" altLang="en-CN" dirty="0"/>
                        <a:t>内存</a:t>
                      </a:r>
                      <a:r>
                        <a:rPr lang="zh-CN" altLang="en-US" dirty="0"/>
                        <a:t>插槽，使用内存总线</a:t>
                      </a:r>
                      <a:endParaRPr lang="en-C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E9E7"/>
                    </a:solidFill>
                  </a:tcPr>
                </a:tc>
                <a:extLst>
                  <a:ext uri="{0D108BD9-81ED-4DB2-BD59-A6C34878D82A}">
                    <a16:rowId xmlns:a16="http://schemas.microsoft.com/office/drawing/2014/main" val="4200546113"/>
                  </a:ext>
                </a:extLst>
              </a:tr>
              <a:tr h="370840">
                <a:tc>
                  <a:txBody>
                    <a:bodyPr/>
                    <a:lstStyle/>
                    <a:p>
                      <a:r>
                        <a:rPr lang="zh-CN" altLang="en-US" b="0" dirty="0">
                          <a:solidFill>
                            <a:srgbClr val="C00000"/>
                          </a:solidFill>
                        </a:rPr>
                        <a:t>密度</a:t>
                      </a:r>
                      <a:endParaRPr lang="en-CN" b="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E9E7"/>
                    </a:solidFill>
                  </a:tcPr>
                </a:tc>
                <a:tc>
                  <a:txBody>
                    <a:bodyPr/>
                    <a:lstStyle/>
                    <a:p>
                      <a:r>
                        <a:rPr lang="zh-CN" altLang="en-US" dirty="0"/>
                        <a:t>目前最高 </a:t>
                      </a:r>
                      <a:r>
                        <a:rPr lang="en-US" altLang="zh-CN" dirty="0"/>
                        <a:t>512GB</a:t>
                      </a:r>
                      <a:r>
                        <a:rPr lang="zh-CN" altLang="en-US" dirty="0"/>
                        <a:t> </a:t>
                      </a:r>
                      <a:r>
                        <a:rPr lang="en-US" altLang="zh-CN" dirty="0"/>
                        <a:t>/</a:t>
                      </a:r>
                      <a:r>
                        <a:rPr lang="zh-CN" altLang="en-US" dirty="0"/>
                        <a:t> 条</a:t>
                      </a:r>
                      <a:endParaRPr lang="en-C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E9E7"/>
                    </a:solidFill>
                  </a:tcPr>
                </a:tc>
                <a:extLst>
                  <a:ext uri="{0D108BD9-81ED-4DB2-BD59-A6C34878D82A}">
                    <a16:rowId xmlns:a16="http://schemas.microsoft.com/office/drawing/2014/main" val="650046909"/>
                  </a:ext>
                </a:extLst>
              </a:tr>
            </a:tbl>
          </a:graphicData>
        </a:graphic>
      </p:graphicFrame>
      <p:graphicFrame>
        <p:nvGraphicFramePr>
          <p:cNvPr id="6" name="Table 5">
            <a:extLst>
              <a:ext uri="{FF2B5EF4-FFF2-40B4-BE49-F238E27FC236}">
                <a16:creationId xmlns:a16="http://schemas.microsoft.com/office/drawing/2014/main" id="{42C0B11C-22E6-D642-B394-0BE62E04B94C}"/>
              </a:ext>
            </a:extLst>
          </p:cNvPr>
          <p:cNvGraphicFramePr>
            <a:graphicFrameLocks noGrp="1"/>
          </p:cNvGraphicFramePr>
          <p:nvPr/>
        </p:nvGraphicFramePr>
        <p:xfrm>
          <a:off x="4581128" y="3318828"/>
          <a:ext cx="3878088" cy="1483360"/>
        </p:xfrm>
        <a:graphic>
          <a:graphicData uri="http://schemas.openxmlformats.org/drawingml/2006/table">
            <a:tbl>
              <a:tblPr>
                <a:tableStyleId>{B301B821-A1FF-4177-AEE7-76D212191A09}</a:tableStyleId>
              </a:tblPr>
              <a:tblGrid>
                <a:gridCol w="1250996">
                  <a:extLst>
                    <a:ext uri="{9D8B030D-6E8A-4147-A177-3AD203B41FA5}">
                      <a16:colId xmlns:a16="http://schemas.microsoft.com/office/drawing/2014/main" val="3541110010"/>
                    </a:ext>
                  </a:extLst>
                </a:gridCol>
                <a:gridCol w="2627092">
                  <a:extLst>
                    <a:ext uri="{9D8B030D-6E8A-4147-A177-3AD203B41FA5}">
                      <a16:colId xmlns:a16="http://schemas.microsoft.com/office/drawing/2014/main" val="364244510"/>
                    </a:ext>
                  </a:extLst>
                </a:gridCol>
              </a:tblGrid>
              <a:tr h="370840">
                <a:tc>
                  <a:txBody>
                    <a:bodyPr/>
                    <a:lstStyle/>
                    <a:p>
                      <a:r>
                        <a:rPr lang="zh-CN" altLang="en-CN" b="0" dirty="0">
                          <a:solidFill>
                            <a:srgbClr val="C00000"/>
                          </a:solidFill>
                        </a:rPr>
                        <a:t>功耗</a:t>
                      </a:r>
                      <a:endParaRPr lang="en-CN" b="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E9E7"/>
                    </a:solidFill>
                  </a:tcPr>
                </a:tc>
                <a:tc>
                  <a:txBody>
                    <a:bodyPr/>
                    <a:lstStyle/>
                    <a:p>
                      <a:r>
                        <a:rPr lang="zh-CN" altLang="en-CN" dirty="0"/>
                        <a:t>无需</a:t>
                      </a:r>
                      <a:r>
                        <a:rPr lang="zh-CN" altLang="en-US" dirty="0"/>
                        <a:t>刷新，低于 </a:t>
                      </a:r>
                      <a:r>
                        <a:rPr lang="en-US" altLang="zh-CN" dirty="0"/>
                        <a:t>DRAM</a:t>
                      </a:r>
                      <a:endParaRPr lang="en-C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E9E7"/>
                    </a:solidFill>
                  </a:tcPr>
                </a:tc>
                <a:extLst>
                  <a:ext uri="{0D108BD9-81ED-4DB2-BD59-A6C34878D82A}">
                    <a16:rowId xmlns:a16="http://schemas.microsoft.com/office/drawing/2014/main" val="625479919"/>
                  </a:ext>
                </a:extLst>
              </a:tr>
              <a:tr h="370840">
                <a:tc>
                  <a:txBody>
                    <a:bodyPr/>
                    <a:lstStyle/>
                    <a:p>
                      <a:r>
                        <a:rPr lang="zh-CN" altLang="en-US" b="0" dirty="0">
                          <a:solidFill>
                            <a:srgbClr val="C00000"/>
                          </a:solidFill>
                        </a:rPr>
                        <a:t>价格</a:t>
                      </a:r>
                      <a:endParaRPr lang="en-CN" b="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E9E7"/>
                    </a:solidFill>
                  </a:tcPr>
                </a:tc>
                <a:tc>
                  <a:txBody>
                    <a:bodyPr/>
                    <a:lstStyle/>
                    <a:p>
                      <a:r>
                        <a:rPr lang="en-US" altLang="zh-CN" dirty="0"/>
                        <a:t>$/GB</a:t>
                      </a:r>
                      <a:r>
                        <a:rPr lang="zh-CN" altLang="en-US" dirty="0"/>
                        <a:t> 低于 </a:t>
                      </a:r>
                      <a:r>
                        <a:rPr lang="en-US" altLang="zh-CN" dirty="0"/>
                        <a:t>DRAM</a:t>
                      </a:r>
                      <a:endParaRPr lang="en-C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E9E7"/>
                    </a:solidFill>
                  </a:tcPr>
                </a:tc>
                <a:extLst>
                  <a:ext uri="{0D108BD9-81ED-4DB2-BD59-A6C34878D82A}">
                    <a16:rowId xmlns:a16="http://schemas.microsoft.com/office/drawing/2014/main" val="1360229322"/>
                  </a:ext>
                </a:extLst>
              </a:tr>
              <a:tr h="370840">
                <a:tc>
                  <a:txBody>
                    <a:bodyPr/>
                    <a:lstStyle/>
                    <a:p>
                      <a:r>
                        <a:rPr lang="zh-CN" altLang="en-CN" b="0" dirty="0">
                          <a:solidFill>
                            <a:srgbClr val="C00000"/>
                          </a:solidFill>
                        </a:rPr>
                        <a:t>持久性</a:t>
                      </a:r>
                      <a:endParaRPr lang="en-CN" b="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E9E7"/>
                    </a:solidFill>
                  </a:tcPr>
                </a:tc>
                <a:tc>
                  <a:txBody>
                    <a:bodyPr/>
                    <a:lstStyle/>
                    <a:p>
                      <a:r>
                        <a:rPr lang="zh-CN" altLang="en-CN" dirty="0"/>
                        <a:t>持久</a:t>
                      </a:r>
                      <a:r>
                        <a:rPr lang="zh-CN" altLang="en-US" dirty="0"/>
                        <a:t>保存数据</a:t>
                      </a:r>
                      <a:endParaRPr lang="en-C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8E9E7"/>
                    </a:solidFill>
                  </a:tcPr>
                </a:tc>
                <a:extLst>
                  <a:ext uri="{0D108BD9-81ED-4DB2-BD59-A6C34878D82A}">
                    <a16:rowId xmlns:a16="http://schemas.microsoft.com/office/drawing/2014/main" val="3072371097"/>
                  </a:ext>
                </a:extLst>
              </a:tr>
              <a:tr h="370840">
                <a:tc>
                  <a:txBody>
                    <a:bodyPr/>
                    <a:lstStyle/>
                    <a:p>
                      <a:r>
                        <a:rPr lang="zh-CN" altLang="en-US" b="0" dirty="0">
                          <a:solidFill>
                            <a:srgbClr val="C00000"/>
                          </a:solidFill>
                        </a:rPr>
                        <a:t>耐磨度</a:t>
                      </a:r>
                      <a:endParaRPr lang="en-CN" b="0" dirty="0">
                        <a:solidFill>
                          <a:srgbClr val="C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E9E7"/>
                    </a:solidFill>
                  </a:tcPr>
                </a:tc>
                <a:tc>
                  <a:txBody>
                    <a:bodyPr/>
                    <a:lstStyle/>
                    <a:p>
                      <a:r>
                        <a:rPr lang="zh-CN" altLang="en-CN" dirty="0"/>
                        <a:t>高于</a:t>
                      </a:r>
                      <a:r>
                        <a:rPr lang="en-US" altLang="zh-CN" dirty="0"/>
                        <a:t>Flash</a:t>
                      </a:r>
                      <a:endParaRPr lang="en-C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E9E7"/>
                    </a:solidFill>
                  </a:tcPr>
                </a:tc>
                <a:extLst>
                  <a:ext uri="{0D108BD9-81ED-4DB2-BD59-A6C34878D82A}">
                    <a16:rowId xmlns:a16="http://schemas.microsoft.com/office/drawing/2014/main" val="1568588117"/>
                  </a:ext>
                </a:extLst>
              </a:tr>
            </a:tbl>
          </a:graphicData>
        </a:graphic>
      </p:graphicFrame>
    </p:spTree>
    <p:extLst>
      <p:ext uri="{BB962C8B-B14F-4D97-AF65-F5344CB8AC3E}">
        <p14:creationId xmlns:p14="http://schemas.microsoft.com/office/powerpoint/2010/main" val="13645553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76DA72-E25C-EF40-B976-831853294CB3}"/>
              </a:ext>
            </a:extLst>
          </p:cNvPr>
          <p:cNvSpPr>
            <a:spLocks noGrp="1"/>
          </p:cNvSpPr>
          <p:nvPr>
            <p:ph type="title"/>
          </p:nvPr>
        </p:nvSpPr>
        <p:spPr/>
        <p:txBody>
          <a:bodyPr>
            <a:normAutofit/>
          </a:bodyPr>
          <a:lstStyle/>
          <a:p>
            <a:r>
              <a:rPr kumimoji="1" lang="zh-CN" altLang="en-US" sz="3200" dirty="0"/>
              <a:t>内存层级的断层</a:t>
            </a:r>
          </a:p>
        </p:txBody>
      </p:sp>
      <p:sp>
        <p:nvSpPr>
          <p:cNvPr id="4" name="灯片编号占位符 3">
            <a:extLst>
              <a:ext uri="{FF2B5EF4-FFF2-40B4-BE49-F238E27FC236}">
                <a16:creationId xmlns:a16="http://schemas.microsoft.com/office/drawing/2014/main" id="{83ECC874-9FB6-934C-9A20-683ED4B6E1A8}"/>
              </a:ext>
            </a:extLst>
          </p:cNvPr>
          <p:cNvSpPr>
            <a:spLocks noGrp="1"/>
          </p:cNvSpPr>
          <p:nvPr>
            <p:ph type="sldNum" sz="quarter" idx="12"/>
          </p:nvPr>
        </p:nvSpPr>
        <p:spPr/>
        <p:txBody>
          <a:bodyPr/>
          <a:lstStyle/>
          <a:p>
            <a:fld id="{ADE361C3-C043-4A6E-BDCE-8DA1E7D90A3B}" type="slidenum">
              <a:rPr lang="zh-CN" altLang="en-US" smtClean="0"/>
              <a:t>46</a:t>
            </a:fld>
            <a:endParaRPr lang="zh-CN" altLang="en-US"/>
          </a:p>
        </p:txBody>
      </p:sp>
      <p:pic>
        <p:nvPicPr>
          <p:cNvPr id="8" name="Picture 6" descr="The storage pyramid. | Download Scientific Diagram">
            <a:extLst>
              <a:ext uri="{FF2B5EF4-FFF2-40B4-BE49-F238E27FC236}">
                <a16:creationId xmlns:a16="http://schemas.microsoft.com/office/drawing/2014/main" id="{79C74FE5-297A-A5C8-0E8C-3EC76FE9DBA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51520" y="2036937"/>
            <a:ext cx="3905413" cy="202593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01BD0643-5DFC-C270-96EE-1E3AE77E1469}"/>
              </a:ext>
            </a:extLst>
          </p:cNvPr>
          <p:cNvCxnSpPr>
            <a:cxnSpLocks/>
          </p:cNvCxnSpPr>
          <p:nvPr/>
        </p:nvCxnSpPr>
        <p:spPr>
          <a:xfrm flipV="1">
            <a:off x="3148854" y="1487466"/>
            <a:ext cx="1495154" cy="119190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A24C72-8FA6-3904-7B12-C5B3F5028E03}"/>
              </a:ext>
            </a:extLst>
          </p:cNvPr>
          <p:cNvCxnSpPr>
            <a:cxnSpLocks/>
          </p:cNvCxnSpPr>
          <p:nvPr/>
        </p:nvCxnSpPr>
        <p:spPr>
          <a:xfrm>
            <a:off x="3148854" y="3126230"/>
            <a:ext cx="1423146" cy="111626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AFA6F36-8E77-67FE-72CC-432498F90946}"/>
              </a:ext>
            </a:extLst>
          </p:cNvPr>
          <p:cNvSpPr/>
          <p:nvPr/>
        </p:nvSpPr>
        <p:spPr>
          <a:xfrm>
            <a:off x="1204638" y="2679374"/>
            <a:ext cx="1944216" cy="4468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14" name="Picture 2" descr="ATSB The Destroyer">
            <a:extLst>
              <a:ext uri="{FF2B5EF4-FFF2-40B4-BE49-F238E27FC236}">
                <a16:creationId xmlns:a16="http://schemas.microsoft.com/office/drawing/2014/main" id="{25D4D359-3040-3EA8-F0D6-F28652D4CA6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45617" y="2060710"/>
            <a:ext cx="4185075" cy="225350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a:extLst>
              <a:ext uri="{FF2B5EF4-FFF2-40B4-BE49-F238E27FC236}">
                <a16:creationId xmlns:a16="http://schemas.microsoft.com/office/drawing/2014/main" id="{8D7B7D6D-4860-982E-52B6-67D2C8455548}"/>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4644008" y="1489348"/>
            <a:ext cx="3567072" cy="3600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00EFD70E-B78D-74F6-DC23-AC24A5FD1ED3}"/>
              </a:ext>
            </a:extLst>
          </p:cNvPr>
          <p:cNvSpPr txBox="1"/>
          <p:nvPr/>
        </p:nvSpPr>
        <p:spPr>
          <a:xfrm>
            <a:off x="-36512" y="5476587"/>
            <a:ext cx="7560840" cy="230832"/>
          </a:xfrm>
          <a:prstGeom prst="rect">
            <a:avLst/>
          </a:prstGeom>
          <a:noFill/>
        </p:spPr>
        <p:txBody>
          <a:bodyPr wrap="square" rtlCol="0">
            <a:spAutoFit/>
          </a:bodyPr>
          <a:lstStyle/>
          <a:p>
            <a:r>
              <a:rPr lang="en-US" sz="900" dirty="0">
                <a:solidFill>
                  <a:schemeClr val="bg1">
                    <a:lumMod val="75000"/>
                  </a:schemeClr>
                </a:solidFill>
              </a:rPr>
              <a:t>Ref: </a:t>
            </a:r>
            <a:r>
              <a:rPr lang="en-US" sz="900" dirty="0" err="1">
                <a:solidFill>
                  <a:schemeClr val="bg1">
                    <a:lumMod val="75000"/>
                  </a:schemeClr>
                </a:solidFill>
              </a:rPr>
              <a:t>Anandtech</a:t>
            </a:r>
            <a:endParaRPr lang="en-CN" sz="900" dirty="0">
              <a:solidFill>
                <a:schemeClr val="bg1">
                  <a:lumMod val="75000"/>
                </a:schemeClr>
              </a:solidFill>
            </a:endParaRPr>
          </a:p>
        </p:txBody>
      </p:sp>
      <p:pic>
        <p:nvPicPr>
          <p:cNvPr id="23" name="Picture 2" descr="ATSB The Destroyer">
            <a:extLst>
              <a:ext uri="{FF2B5EF4-FFF2-40B4-BE49-F238E27FC236}">
                <a16:creationId xmlns:a16="http://schemas.microsoft.com/office/drawing/2014/main" id="{DBDCBF3D-90A0-F000-1225-FC044D498983}"/>
              </a:ext>
            </a:extLst>
          </p:cNvPr>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5710264" y="2225435"/>
            <a:ext cx="864096" cy="225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81421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76DA72-E25C-EF40-B976-831853294CB3}"/>
              </a:ext>
            </a:extLst>
          </p:cNvPr>
          <p:cNvSpPr>
            <a:spLocks noGrp="1"/>
          </p:cNvSpPr>
          <p:nvPr>
            <p:ph type="title"/>
          </p:nvPr>
        </p:nvSpPr>
        <p:spPr/>
        <p:txBody>
          <a:bodyPr>
            <a:normAutofit/>
          </a:bodyPr>
          <a:lstStyle/>
          <a:p>
            <a:r>
              <a:rPr kumimoji="1" lang="zh-CN" altLang="en-US" sz="3200" dirty="0"/>
              <a:t>内存层级的断层</a:t>
            </a:r>
            <a:endParaRPr kumimoji="1" lang="zh-CN" altLang="en-US" sz="2800" dirty="0"/>
          </a:p>
        </p:txBody>
      </p:sp>
      <p:sp>
        <p:nvSpPr>
          <p:cNvPr id="4" name="灯片编号占位符 3">
            <a:extLst>
              <a:ext uri="{FF2B5EF4-FFF2-40B4-BE49-F238E27FC236}">
                <a16:creationId xmlns:a16="http://schemas.microsoft.com/office/drawing/2014/main" id="{83ECC874-9FB6-934C-9A20-683ED4B6E1A8}"/>
              </a:ext>
            </a:extLst>
          </p:cNvPr>
          <p:cNvSpPr>
            <a:spLocks noGrp="1"/>
          </p:cNvSpPr>
          <p:nvPr>
            <p:ph type="sldNum" sz="quarter" idx="12"/>
          </p:nvPr>
        </p:nvSpPr>
        <p:spPr/>
        <p:txBody>
          <a:bodyPr/>
          <a:lstStyle/>
          <a:p>
            <a:fld id="{ADE361C3-C043-4A6E-BDCE-8DA1E7D90A3B}" type="slidenum">
              <a:rPr lang="zh-CN" altLang="en-US" smtClean="0"/>
              <a:t>47</a:t>
            </a:fld>
            <a:endParaRPr lang="zh-CN" altLang="en-US"/>
          </a:p>
        </p:txBody>
      </p:sp>
      <p:sp>
        <p:nvSpPr>
          <p:cNvPr id="7" name="TextBox 6">
            <a:extLst>
              <a:ext uri="{FF2B5EF4-FFF2-40B4-BE49-F238E27FC236}">
                <a16:creationId xmlns:a16="http://schemas.microsoft.com/office/drawing/2014/main" id="{B54298E4-619B-573C-6D15-DA57592A1B7D}"/>
              </a:ext>
            </a:extLst>
          </p:cNvPr>
          <p:cNvSpPr txBox="1"/>
          <p:nvPr/>
        </p:nvSpPr>
        <p:spPr>
          <a:xfrm>
            <a:off x="-36512" y="5476587"/>
            <a:ext cx="7560840" cy="230832"/>
          </a:xfrm>
          <a:prstGeom prst="rect">
            <a:avLst/>
          </a:prstGeom>
          <a:noFill/>
        </p:spPr>
        <p:txBody>
          <a:bodyPr wrap="square" rtlCol="0">
            <a:spAutoFit/>
          </a:bodyPr>
          <a:lstStyle/>
          <a:p>
            <a:r>
              <a:rPr lang="en-US" sz="900" dirty="0">
                <a:solidFill>
                  <a:schemeClr val="bg1">
                    <a:lumMod val="75000"/>
                  </a:schemeClr>
                </a:solidFill>
              </a:rPr>
              <a:t>Ref: Intel Optane Technology: Memory or Storage? Both.</a:t>
            </a:r>
            <a:endParaRPr lang="en-CN" sz="900" dirty="0">
              <a:solidFill>
                <a:schemeClr val="bg1">
                  <a:lumMod val="75000"/>
                </a:schemeClr>
              </a:solidFill>
            </a:endParaRPr>
          </a:p>
        </p:txBody>
      </p:sp>
      <p:grpSp>
        <p:nvGrpSpPr>
          <p:cNvPr id="8" name="Group 7">
            <a:extLst>
              <a:ext uri="{FF2B5EF4-FFF2-40B4-BE49-F238E27FC236}">
                <a16:creationId xmlns:a16="http://schemas.microsoft.com/office/drawing/2014/main" id="{F6112E81-4E7E-87E4-E8E4-8BEBE7EC6355}"/>
              </a:ext>
            </a:extLst>
          </p:cNvPr>
          <p:cNvGrpSpPr/>
          <p:nvPr/>
        </p:nvGrpSpPr>
        <p:grpSpPr>
          <a:xfrm>
            <a:off x="899592" y="1367844"/>
            <a:ext cx="7120880" cy="3710632"/>
            <a:chOff x="1043608" y="2500254"/>
            <a:chExt cx="6012160" cy="2784510"/>
          </a:xfrm>
        </p:grpSpPr>
        <p:pic>
          <p:nvPicPr>
            <p:cNvPr id="3" name="Picture 2">
              <a:extLst>
                <a:ext uri="{FF2B5EF4-FFF2-40B4-BE49-F238E27FC236}">
                  <a16:creationId xmlns:a16="http://schemas.microsoft.com/office/drawing/2014/main" id="{C2964FCC-42BE-55DF-F626-1202697980B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43608" y="2500254"/>
              <a:ext cx="6012160" cy="2784510"/>
            </a:xfrm>
            <a:prstGeom prst="rect">
              <a:avLst/>
            </a:prstGeom>
          </p:spPr>
        </p:pic>
        <p:grpSp>
          <p:nvGrpSpPr>
            <p:cNvPr id="6" name="Group 5">
              <a:extLst>
                <a:ext uri="{FF2B5EF4-FFF2-40B4-BE49-F238E27FC236}">
                  <a16:creationId xmlns:a16="http://schemas.microsoft.com/office/drawing/2014/main" id="{43B9627B-93B7-1291-F609-6C6FC177D87F}"/>
                </a:ext>
              </a:extLst>
            </p:cNvPr>
            <p:cNvGrpSpPr/>
            <p:nvPr/>
          </p:nvGrpSpPr>
          <p:grpSpPr>
            <a:xfrm>
              <a:off x="1112400" y="3001516"/>
              <a:ext cx="4899760" cy="936104"/>
              <a:chOff x="1112400" y="3001516"/>
              <a:chExt cx="4899760" cy="936104"/>
            </a:xfrm>
          </p:grpSpPr>
          <p:sp>
            <p:nvSpPr>
              <p:cNvPr id="5" name="Rectangle 4">
                <a:extLst>
                  <a:ext uri="{FF2B5EF4-FFF2-40B4-BE49-F238E27FC236}">
                    <a16:creationId xmlns:a16="http://schemas.microsoft.com/office/drawing/2014/main" id="{99DB8008-CDD4-FD85-DE09-8BE515978E77}"/>
                  </a:ext>
                </a:extLst>
              </p:cNvPr>
              <p:cNvSpPr/>
              <p:nvPr/>
            </p:nvSpPr>
            <p:spPr>
              <a:xfrm>
                <a:off x="2843808" y="3109621"/>
                <a:ext cx="3168352" cy="82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9" name="Rectangle 8">
                <a:extLst>
                  <a:ext uri="{FF2B5EF4-FFF2-40B4-BE49-F238E27FC236}">
                    <a16:creationId xmlns:a16="http://schemas.microsoft.com/office/drawing/2014/main" id="{3D5BF1AB-C6FE-0677-E2DF-4C813E326CAB}"/>
                  </a:ext>
                </a:extLst>
              </p:cNvPr>
              <p:cNvSpPr/>
              <p:nvPr/>
            </p:nvSpPr>
            <p:spPr>
              <a:xfrm>
                <a:off x="1112400" y="3001516"/>
                <a:ext cx="1872208" cy="648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pSp>
      </p:grpSp>
    </p:spTree>
    <p:extLst>
      <p:ext uri="{BB962C8B-B14F-4D97-AF65-F5344CB8AC3E}">
        <p14:creationId xmlns:p14="http://schemas.microsoft.com/office/powerpoint/2010/main" val="7169216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76DA72-E25C-EF40-B976-831853294CB3}"/>
              </a:ext>
            </a:extLst>
          </p:cNvPr>
          <p:cNvSpPr>
            <a:spLocks noGrp="1"/>
          </p:cNvSpPr>
          <p:nvPr>
            <p:ph type="title"/>
          </p:nvPr>
        </p:nvSpPr>
        <p:spPr/>
        <p:txBody>
          <a:bodyPr>
            <a:normAutofit/>
          </a:bodyPr>
          <a:lstStyle/>
          <a:p>
            <a:r>
              <a:rPr kumimoji="1" lang="zh-CN" altLang="en-US" sz="3200" dirty="0"/>
              <a:t>非易失性内存：填补了断层</a:t>
            </a:r>
          </a:p>
        </p:txBody>
      </p:sp>
      <p:sp>
        <p:nvSpPr>
          <p:cNvPr id="4" name="灯片编号占位符 3">
            <a:extLst>
              <a:ext uri="{FF2B5EF4-FFF2-40B4-BE49-F238E27FC236}">
                <a16:creationId xmlns:a16="http://schemas.microsoft.com/office/drawing/2014/main" id="{83ECC874-9FB6-934C-9A20-683ED4B6E1A8}"/>
              </a:ext>
            </a:extLst>
          </p:cNvPr>
          <p:cNvSpPr>
            <a:spLocks noGrp="1"/>
          </p:cNvSpPr>
          <p:nvPr>
            <p:ph type="sldNum" sz="quarter" idx="12"/>
          </p:nvPr>
        </p:nvSpPr>
        <p:spPr/>
        <p:txBody>
          <a:bodyPr/>
          <a:lstStyle/>
          <a:p>
            <a:fld id="{ADE361C3-C043-4A6E-BDCE-8DA1E7D90A3B}" type="slidenum">
              <a:rPr lang="zh-CN" altLang="en-US" smtClean="0"/>
              <a:t>48</a:t>
            </a:fld>
            <a:endParaRPr lang="zh-CN" altLang="en-US"/>
          </a:p>
        </p:txBody>
      </p:sp>
      <p:sp>
        <p:nvSpPr>
          <p:cNvPr id="7" name="TextBox 6">
            <a:extLst>
              <a:ext uri="{FF2B5EF4-FFF2-40B4-BE49-F238E27FC236}">
                <a16:creationId xmlns:a16="http://schemas.microsoft.com/office/drawing/2014/main" id="{B54298E4-619B-573C-6D15-DA57592A1B7D}"/>
              </a:ext>
            </a:extLst>
          </p:cNvPr>
          <p:cNvSpPr txBox="1"/>
          <p:nvPr/>
        </p:nvSpPr>
        <p:spPr>
          <a:xfrm>
            <a:off x="-36512" y="5476587"/>
            <a:ext cx="7560840" cy="230832"/>
          </a:xfrm>
          <a:prstGeom prst="rect">
            <a:avLst/>
          </a:prstGeom>
          <a:noFill/>
        </p:spPr>
        <p:txBody>
          <a:bodyPr wrap="square" rtlCol="0">
            <a:spAutoFit/>
          </a:bodyPr>
          <a:lstStyle/>
          <a:p>
            <a:r>
              <a:rPr lang="en-US" sz="900" dirty="0">
                <a:solidFill>
                  <a:schemeClr val="bg1">
                    <a:lumMod val="75000"/>
                  </a:schemeClr>
                </a:solidFill>
              </a:rPr>
              <a:t>Ref: Intel Optane Technology: Memory or Storage? Both.</a:t>
            </a:r>
            <a:endParaRPr lang="en-CN" sz="900" dirty="0">
              <a:solidFill>
                <a:schemeClr val="bg1">
                  <a:lumMod val="75000"/>
                </a:schemeClr>
              </a:solidFill>
            </a:endParaRPr>
          </a:p>
        </p:txBody>
      </p:sp>
      <p:pic>
        <p:nvPicPr>
          <p:cNvPr id="3" name="Picture 2">
            <a:extLst>
              <a:ext uri="{FF2B5EF4-FFF2-40B4-BE49-F238E27FC236}">
                <a16:creationId xmlns:a16="http://schemas.microsoft.com/office/drawing/2014/main" id="{C2964FCC-42BE-55DF-F626-1202697980B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9592" y="1367844"/>
            <a:ext cx="7120880" cy="3710632"/>
          </a:xfrm>
          <a:prstGeom prst="rect">
            <a:avLst/>
          </a:prstGeom>
        </p:spPr>
      </p:pic>
    </p:spTree>
    <p:extLst>
      <p:ext uri="{BB962C8B-B14F-4D97-AF65-F5344CB8AC3E}">
        <p14:creationId xmlns:p14="http://schemas.microsoft.com/office/powerpoint/2010/main" val="29742890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8F526-6C33-D74E-BAE6-7A6EE00F4CE0}"/>
              </a:ext>
            </a:extLst>
          </p:cNvPr>
          <p:cNvSpPr>
            <a:spLocks noGrp="1"/>
          </p:cNvSpPr>
          <p:nvPr>
            <p:ph type="title"/>
          </p:nvPr>
        </p:nvSpPr>
        <p:spPr/>
        <p:txBody>
          <a:bodyPr>
            <a:normAutofit/>
          </a:bodyPr>
          <a:lstStyle/>
          <a:p>
            <a:r>
              <a:rPr lang="zh-CN" altLang="en-US" sz="2800" dirty="0"/>
              <a:t>挑战</a:t>
            </a:r>
            <a:r>
              <a:rPr lang="en-US" altLang="zh-CN" sz="2800" dirty="0"/>
              <a:t>-1</a:t>
            </a:r>
            <a:r>
              <a:rPr lang="zh-CN" altLang="en-US" sz="2800" dirty="0"/>
              <a:t>：操作系统该如何为持久内存提供抽象？</a:t>
            </a:r>
            <a:endParaRPr lang="en-CN" sz="2800" dirty="0"/>
          </a:p>
        </p:txBody>
      </p:sp>
      <p:sp>
        <p:nvSpPr>
          <p:cNvPr id="4" name="Slide Number Placeholder 3">
            <a:extLst>
              <a:ext uri="{FF2B5EF4-FFF2-40B4-BE49-F238E27FC236}">
                <a16:creationId xmlns:a16="http://schemas.microsoft.com/office/drawing/2014/main" id="{A74262B6-5BB2-284A-B57E-24E9B4660709}"/>
              </a:ext>
            </a:extLst>
          </p:cNvPr>
          <p:cNvSpPr>
            <a:spLocks noGrp="1"/>
          </p:cNvSpPr>
          <p:nvPr>
            <p:ph type="sldNum" sz="quarter" idx="12"/>
          </p:nvPr>
        </p:nvSpPr>
        <p:spPr/>
        <p:txBody>
          <a:bodyPr/>
          <a:lstStyle/>
          <a:p>
            <a:fld id="{ADE361C3-C043-4A6E-BDCE-8DA1E7D90A3B}" type="slidenum">
              <a:rPr lang="zh-CN" altLang="en-US" smtClean="0"/>
              <a:t>49</a:t>
            </a:fld>
            <a:endParaRPr lang="zh-CN" altLang="en-US"/>
          </a:p>
        </p:txBody>
      </p:sp>
      <p:sp>
        <p:nvSpPr>
          <p:cNvPr id="5" name="Footer Placeholder 4">
            <a:extLst>
              <a:ext uri="{FF2B5EF4-FFF2-40B4-BE49-F238E27FC236}">
                <a16:creationId xmlns:a16="http://schemas.microsoft.com/office/drawing/2014/main" id="{130D1D1F-E7AC-FD42-9521-AEB397AE1B4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7" name="Group 6">
            <a:extLst>
              <a:ext uri="{FF2B5EF4-FFF2-40B4-BE49-F238E27FC236}">
                <a16:creationId xmlns:a16="http://schemas.microsoft.com/office/drawing/2014/main" id="{7A4CD7E8-2A6E-2B47-B6A0-CE087A5EA471}"/>
              </a:ext>
            </a:extLst>
          </p:cNvPr>
          <p:cNvGrpSpPr/>
          <p:nvPr/>
        </p:nvGrpSpPr>
        <p:grpSpPr>
          <a:xfrm>
            <a:off x="3640361" y="1187744"/>
            <a:ext cx="1872208" cy="1588886"/>
            <a:chOff x="4644008" y="1412630"/>
            <a:chExt cx="1872208" cy="1588886"/>
          </a:xfrm>
        </p:grpSpPr>
        <p:grpSp>
          <p:nvGrpSpPr>
            <p:cNvPr id="19" name="Group 18">
              <a:extLst>
                <a:ext uri="{FF2B5EF4-FFF2-40B4-BE49-F238E27FC236}">
                  <a16:creationId xmlns:a16="http://schemas.microsoft.com/office/drawing/2014/main" id="{68AB0493-58CF-1840-AFD0-E481E32E5943}"/>
                </a:ext>
              </a:extLst>
            </p:cNvPr>
            <p:cNvGrpSpPr/>
            <p:nvPr/>
          </p:nvGrpSpPr>
          <p:grpSpPr>
            <a:xfrm>
              <a:off x="4853620" y="1418244"/>
              <a:ext cx="438460" cy="888894"/>
              <a:chOff x="4729126" y="1418244"/>
              <a:chExt cx="438460" cy="888894"/>
            </a:xfrm>
          </p:grpSpPr>
          <p:sp>
            <p:nvSpPr>
              <p:cNvPr id="24" name="Oval 23">
                <a:extLst>
                  <a:ext uri="{FF2B5EF4-FFF2-40B4-BE49-F238E27FC236}">
                    <a16:creationId xmlns:a16="http://schemas.microsoft.com/office/drawing/2014/main" id="{3ECB130E-4E3A-6948-8693-09907440460B}"/>
                  </a:ext>
                </a:extLst>
              </p:cNvPr>
              <p:cNvSpPr/>
              <p:nvPr/>
            </p:nvSpPr>
            <p:spPr>
              <a:xfrm>
                <a:off x="4729126" y="1418244"/>
                <a:ext cx="432048" cy="432048"/>
              </a:xfrm>
              <a:prstGeom prst="ellipse">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CN" dirty="0"/>
                  <a:t>C</a:t>
                </a:r>
                <a:r>
                  <a:rPr lang="en-US" altLang="zh-CN" dirty="0"/>
                  <a:t>0</a:t>
                </a:r>
                <a:endParaRPr lang="en-CN" dirty="0"/>
              </a:p>
            </p:txBody>
          </p:sp>
          <p:sp>
            <p:nvSpPr>
              <p:cNvPr id="25" name="Rounded Rectangle 24">
                <a:extLst>
                  <a:ext uri="{FF2B5EF4-FFF2-40B4-BE49-F238E27FC236}">
                    <a16:creationId xmlns:a16="http://schemas.microsoft.com/office/drawing/2014/main" id="{77F9701F-B5B9-A346-9828-37CD37D78EAA}"/>
                  </a:ext>
                </a:extLst>
              </p:cNvPr>
              <p:cNvSpPr/>
              <p:nvPr/>
            </p:nvSpPr>
            <p:spPr>
              <a:xfrm>
                <a:off x="4729126" y="2062339"/>
                <a:ext cx="438460" cy="244799"/>
              </a:xfrm>
              <a:prstGeom prst="roundRect">
                <a:avLst>
                  <a:gd name="adj" fmla="val 9452"/>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sz="1000" dirty="0"/>
                  <a:t>L1/L2</a:t>
                </a:r>
                <a:endParaRPr lang="en-CN" sz="1000" dirty="0"/>
              </a:p>
            </p:txBody>
          </p:sp>
        </p:grpSp>
        <p:sp>
          <p:nvSpPr>
            <p:cNvPr id="20" name="Rounded Rectangle 19">
              <a:extLst>
                <a:ext uri="{FF2B5EF4-FFF2-40B4-BE49-F238E27FC236}">
                  <a16:creationId xmlns:a16="http://schemas.microsoft.com/office/drawing/2014/main" id="{9E2FE468-FB15-3245-87BB-B4DD4D04E136}"/>
                </a:ext>
              </a:extLst>
            </p:cNvPr>
            <p:cNvSpPr/>
            <p:nvPr/>
          </p:nvSpPr>
          <p:spPr>
            <a:xfrm>
              <a:off x="4644008" y="2569468"/>
              <a:ext cx="1872208" cy="432048"/>
            </a:xfrm>
            <a:prstGeom prst="roundRect">
              <a:avLst>
                <a:gd name="adj" fmla="val 9452"/>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Shared</a:t>
              </a:r>
              <a:r>
                <a:rPr lang="zh-CN" altLang="en-US" dirty="0"/>
                <a:t> </a:t>
              </a:r>
              <a:r>
                <a:rPr lang="en-US" altLang="zh-CN" dirty="0"/>
                <a:t>LLC</a:t>
              </a:r>
              <a:endParaRPr lang="en-CN" dirty="0"/>
            </a:p>
          </p:txBody>
        </p:sp>
        <p:grpSp>
          <p:nvGrpSpPr>
            <p:cNvPr id="21" name="Group 20">
              <a:extLst>
                <a:ext uri="{FF2B5EF4-FFF2-40B4-BE49-F238E27FC236}">
                  <a16:creationId xmlns:a16="http://schemas.microsoft.com/office/drawing/2014/main" id="{AAA269C3-BB01-B94F-979B-782673A246AE}"/>
                </a:ext>
              </a:extLst>
            </p:cNvPr>
            <p:cNvGrpSpPr/>
            <p:nvPr/>
          </p:nvGrpSpPr>
          <p:grpSpPr>
            <a:xfrm>
              <a:off x="5796136" y="1412630"/>
              <a:ext cx="438460" cy="894508"/>
              <a:chOff x="5940152" y="1412630"/>
              <a:chExt cx="438460" cy="894508"/>
            </a:xfrm>
          </p:grpSpPr>
          <p:sp>
            <p:nvSpPr>
              <p:cNvPr id="22" name="Oval 21">
                <a:extLst>
                  <a:ext uri="{FF2B5EF4-FFF2-40B4-BE49-F238E27FC236}">
                    <a16:creationId xmlns:a16="http://schemas.microsoft.com/office/drawing/2014/main" id="{8F03F0EE-DB29-4E48-B6D3-A24A3482D058}"/>
                  </a:ext>
                </a:extLst>
              </p:cNvPr>
              <p:cNvSpPr/>
              <p:nvPr/>
            </p:nvSpPr>
            <p:spPr>
              <a:xfrm>
                <a:off x="5940152" y="1412630"/>
                <a:ext cx="432048" cy="432048"/>
              </a:xfrm>
              <a:prstGeom prst="ellipse">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altLang="zh-CN" dirty="0"/>
                  <a:t>C1</a:t>
                </a:r>
                <a:endParaRPr lang="en-CN" dirty="0"/>
              </a:p>
            </p:txBody>
          </p:sp>
          <p:sp>
            <p:nvSpPr>
              <p:cNvPr id="23" name="Rounded Rectangle 22">
                <a:extLst>
                  <a:ext uri="{FF2B5EF4-FFF2-40B4-BE49-F238E27FC236}">
                    <a16:creationId xmlns:a16="http://schemas.microsoft.com/office/drawing/2014/main" id="{872EEA84-0666-5948-8A03-617FCE2A4E71}"/>
                  </a:ext>
                </a:extLst>
              </p:cNvPr>
              <p:cNvSpPr/>
              <p:nvPr/>
            </p:nvSpPr>
            <p:spPr>
              <a:xfrm>
                <a:off x="5940152" y="2062339"/>
                <a:ext cx="438460" cy="244799"/>
              </a:xfrm>
              <a:prstGeom prst="roundRect">
                <a:avLst>
                  <a:gd name="adj" fmla="val 9452"/>
                </a:avLst>
              </a:prstGeom>
            </p:spPr>
            <p:style>
              <a:lnRef idx="2">
                <a:schemeClr val="accent1"/>
              </a:lnRef>
              <a:fillRef idx="1">
                <a:schemeClr val="lt1"/>
              </a:fillRef>
              <a:effectRef idx="0">
                <a:schemeClr val="accent1"/>
              </a:effectRef>
              <a:fontRef idx="minor">
                <a:schemeClr val="dk1"/>
              </a:fontRef>
            </p:style>
            <p:txBody>
              <a:bodyPr wrap="none" rtlCol="0" anchor="ctr"/>
              <a:lstStyle/>
              <a:p>
                <a:pPr lvl="0" algn="ctr"/>
                <a:r>
                  <a:rPr lang="en-US" altLang="zh-CN" sz="1000" dirty="0">
                    <a:solidFill>
                      <a:srgbClr val="000000"/>
                    </a:solidFill>
                  </a:rPr>
                  <a:t>L1/L2</a:t>
                </a:r>
                <a:endParaRPr lang="en-CN" sz="1000" dirty="0">
                  <a:solidFill>
                    <a:srgbClr val="000000"/>
                  </a:solidFill>
                </a:endParaRPr>
              </a:p>
            </p:txBody>
          </p:sp>
        </p:grpSp>
      </p:grpSp>
      <p:sp>
        <p:nvSpPr>
          <p:cNvPr id="8" name="Rounded Rectangle 7">
            <a:extLst>
              <a:ext uri="{FF2B5EF4-FFF2-40B4-BE49-F238E27FC236}">
                <a16:creationId xmlns:a16="http://schemas.microsoft.com/office/drawing/2014/main" id="{F135143F-7D36-0E4C-A87B-996C50FFF535}"/>
              </a:ext>
            </a:extLst>
          </p:cNvPr>
          <p:cNvSpPr/>
          <p:nvPr/>
        </p:nvSpPr>
        <p:spPr>
          <a:xfrm>
            <a:off x="2704257" y="3419992"/>
            <a:ext cx="1756791" cy="504056"/>
          </a:xfrm>
          <a:prstGeom prst="roundRect">
            <a:avLst>
              <a:gd name="adj" fmla="val 9452"/>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DRAM</a:t>
            </a:r>
            <a:endParaRPr lang="en-CN" dirty="0"/>
          </a:p>
        </p:txBody>
      </p:sp>
      <p:sp>
        <p:nvSpPr>
          <p:cNvPr id="9" name="Rounded Rectangle 8">
            <a:extLst>
              <a:ext uri="{FF2B5EF4-FFF2-40B4-BE49-F238E27FC236}">
                <a16:creationId xmlns:a16="http://schemas.microsoft.com/office/drawing/2014/main" id="{C9BDCD6A-0A66-B44A-8474-8E85A9564255}"/>
              </a:ext>
            </a:extLst>
          </p:cNvPr>
          <p:cNvSpPr/>
          <p:nvPr/>
        </p:nvSpPr>
        <p:spPr>
          <a:xfrm>
            <a:off x="4759425" y="3419992"/>
            <a:ext cx="2337319" cy="504056"/>
          </a:xfrm>
          <a:prstGeom prst="roundRect">
            <a:avLst>
              <a:gd name="adj" fmla="val 9452"/>
            </a:avLst>
          </a:prstGeom>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solidFill>
                  <a:srgbClr val="0070C0"/>
                </a:solidFill>
              </a:rPr>
              <a:t>Persistent</a:t>
            </a:r>
            <a:r>
              <a:rPr lang="zh-CN" altLang="en-US" dirty="0">
                <a:solidFill>
                  <a:srgbClr val="0070C0"/>
                </a:solidFill>
              </a:rPr>
              <a:t> </a:t>
            </a:r>
            <a:r>
              <a:rPr lang="en-US" altLang="zh-CN" dirty="0">
                <a:solidFill>
                  <a:srgbClr val="0070C0"/>
                </a:solidFill>
              </a:rPr>
              <a:t>Memory</a:t>
            </a:r>
            <a:endParaRPr lang="en-CN" dirty="0">
              <a:solidFill>
                <a:srgbClr val="0070C0"/>
              </a:solidFill>
            </a:endParaRPr>
          </a:p>
        </p:txBody>
      </p:sp>
      <p:cxnSp>
        <p:nvCxnSpPr>
          <p:cNvPr id="10" name="Elbow Connector 9">
            <a:extLst>
              <a:ext uri="{FF2B5EF4-FFF2-40B4-BE49-F238E27FC236}">
                <a16:creationId xmlns:a16="http://schemas.microsoft.com/office/drawing/2014/main" id="{DAC0A1FE-3220-904D-9AE6-D96F127FD9F5}"/>
              </a:ext>
            </a:extLst>
          </p:cNvPr>
          <p:cNvCxnSpPr>
            <a:cxnSpLocks/>
            <a:stCxn id="20" idx="2"/>
            <a:endCxn id="8" idx="0"/>
          </p:cNvCxnSpPr>
          <p:nvPr/>
        </p:nvCxnSpPr>
        <p:spPr>
          <a:xfrm rot="5400000">
            <a:off x="3757878" y="2601405"/>
            <a:ext cx="643362" cy="993812"/>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0A8E9B02-797A-6340-8F60-C10C0E3D160D}"/>
              </a:ext>
            </a:extLst>
          </p:cNvPr>
          <p:cNvCxnSpPr>
            <a:cxnSpLocks/>
            <a:stCxn id="20" idx="2"/>
            <a:endCxn id="9" idx="0"/>
          </p:cNvCxnSpPr>
          <p:nvPr/>
        </p:nvCxnSpPr>
        <p:spPr>
          <a:xfrm rot="16200000" flipH="1">
            <a:off x="4930594" y="2422501"/>
            <a:ext cx="643362" cy="1351620"/>
          </a:xfrm>
          <a:prstGeom prst="bentConnector3">
            <a:avLst>
              <a:gd name="adj1" fmla="val 50000"/>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6A06360-C8E4-A542-A381-2A20CF3DEFEF}"/>
              </a:ext>
            </a:extLst>
          </p:cNvPr>
          <p:cNvCxnSpPr>
            <a:cxnSpLocks/>
            <a:stCxn id="24" idx="4"/>
            <a:endCxn id="25" idx="0"/>
          </p:cNvCxnSpPr>
          <p:nvPr/>
        </p:nvCxnSpPr>
        <p:spPr>
          <a:xfrm>
            <a:off x="4065997" y="1625406"/>
            <a:ext cx="3206" cy="21204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8A46214-22E7-C54B-8FA4-BAFD5C2CF157}"/>
              </a:ext>
            </a:extLst>
          </p:cNvPr>
          <p:cNvCxnSpPr>
            <a:cxnSpLocks/>
            <a:stCxn id="22" idx="4"/>
            <a:endCxn id="23" idx="0"/>
          </p:cNvCxnSpPr>
          <p:nvPr/>
        </p:nvCxnSpPr>
        <p:spPr>
          <a:xfrm>
            <a:off x="5008513" y="1619792"/>
            <a:ext cx="3206" cy="21766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6EBE3A3-7008-2644-88B2-907F043850B7}"/>
              </a:ext>
            </a:extLst>
          </p:cNvPr>
          <p:cNvCxnSpPr>
            <a:cxnSpLocks/>
            <a:stCxn id="25" idx="2"/>
          </p:cNvCxnSpPr>
          <p:nvPr/>
        </p:nvCxnSpPr>
        <p:spPr>
          <a:xfrm>
            <a:off x="4069203" y="2082252"/>
            <a:ext cx="0" cy="2623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DF78607-CBD7-2B41-B17A-9A088699BC8D}"/>
              </a:ext>
            </a:extLst>
          </p:cNvPr>
          <p:cNvCxnSpPr>
            <a:cxnSpLocks/>
            <a:stCxn id="23" idx="2"/>
          </p:cNvCxnSpPr>
          <p:nvPr/>
        </p:nvCxnSpPr>
        <p:spPr>
          <a:xfrm>
            <a:off x="5011719" y="2082252"/>
            <a:ext cx="0" cy="2813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3567CE52-1F46-FE45-AEC4-E89F5DCB9834}"/>
              </a:ext>
            </a:extLst>
          </p:cNvPr>
          <p:cNvSpPr/>
          <p:nvPr/>
        </p:nvSpPr>
        <p:spPr>
          <a:xfrm>
            <a:off x="3376973" y="1109464"/>
            <a:ext cx="2551111" cy="1780299"/>
          </a:xfrm>
          <a:prstGeom prst="roundRect">
            <a:avLst>
              <a:gd name="adj" fmla="val 2354"/>
            </a:avLst>
          </a:prstGeom>
          <a:noFill/>
          <a:ln>
            <a:solidFill>
              <a:schemeClr val="tx1"/>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CN"/>
          </a:p>
        </p:txBody>
      </p:sp>
      <p:sp>
        <p:nvSpPr>
          <p:cNvPr id="17" name="TextBox 16">
            <a:extLst>
              <a:ext uri="{FF2B5EF4-FFF2-40B4-BE49-F238E27FC236}">
                <a16:creationId xmlns:a16="http://schemas.microsoft.com/office/drawing/2014/main" id="{7B0D95DD-0F0E-0D4C-89BB-E7A61014F13E}"/>
              </a:ext>
            </a:extLst>
          </p:cNvPr>
          <p:cNvSpPr txBox="1"/>
          <p:nvPr/>
        </p:nvSpPr>
        <p:spPr>
          <a:xfrm>
            <a:off x="5294916" y="1121902"/>
            <a:ext cx="671979" cy="369332"/>
          </a:xfrm>
          <a:prstGeom prst="rect">
            <a:avLst/>
          </a:prstGeom>
          <a:noFill/>
        </p:spPr>
        <p:txBody>
          <a:bodyPr wrap="none" rtlCol="0">
            <a:spAutoFit/>
          </a:bodyPr>
          <a:lstStyle/>
          <a:p>
            <a:r>
              <a:rPr lang="en-US" altLang="zh-CN" dirty="0"/>
              <a:t>CPU</a:t>
            </a:r>
            <a:endParaRPr lang="en-CN" dirty="0"/>
          </a:p>
        </p:txBody>
      </p:sp>
      <p:sp>
        <p:nvSpPr>
          <p:cNvPr id="31" name="Rounded Rectangle 30">
            <a:extLst>
              <a:ext uri="{FF2B5EF4-FFF2-40B4-BE49-F238E27FC236}">
                <a16:creationId xmlns:a16="http://schemas.microsoft.com/office/drawing/2014/main" id="{97E8E9CD-E860-D449-A9F3-64BA7802D375}"/>
              </a:ext>
            </a:extLst>
          </p:cNvPr>
          <p:cNvSpPr/>
          <p:nvPr/>
        </p:nvSpPr>
        <p:spPr>
          <a:xfrm>
            <a:off x="2614064" y="4743316"/>
            <a:ext cx="1756791" cy="504056"/>
          </a:xfrm>
          <a:prstGeom prst="roundRect">
            <a:avLst>
              <a:gd name="adj" fmla="val 9452"/>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DISK</a:t>
            </a:r>
            <a:endParaRPr lang="en-CN" dirty="0"/>
          </a:p>
        </p:txBody>
      </p:sp>
      <p:sp>
        <p:nvSpPr>
          <p:cNvPr id="32" name="Rounded Rectangle 31">
            <a:extLst>
              <a:ext uri="{FF2B5EF4-FFF2-40B4-BE49-F238E27FC236}">
                <a16:creationId xmlns:a16="http://schemas.microsoft.com/office/drawing/2014/main" id="{BB8FB522-8CC0-5E48-9BFA-75A74E3E21A3}"/>
              </a:ext>
            </a:extLst>
          </p:cNvPr>
          <p:cNvSpPr/>
          <p:nvPr/>
        </p:nvSpPr>
        <p:spPr>
          <a:xfrm>
            <a:off x="4759425" y="4743316"/>
            <a:ext cx="1756791" cy="504056"/>
          </a:xfrm>
          <a:prstGeom prst="roundRect">
            <a:avLst>
              <a:gd name="adj" fmla="val 9452"/>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SSD</a:t>
            </a:r>
            <a:endParaRPr lang="en-CN" dirty="0"/>
          </a:p>
        </p:txBody>
      </p:sp>
      <p:cxnSp>
        <p:nvCxnSpPr>
          <p:cNvPr id="33" name="Elbow Connector 32">
            <a:extLst>
              <a:ext uri="{FF2B5EF4-FFF2-40B4-BE49-F238E27FC236}">
                <a16:creationId xmlns:a16="http://schemas.microsoft.com/office/drawing/2014/main" id="{18021917-2B4B-C749-B96E-2AB6CEB570EE}"/>
              </a:ext>
            </a:extLst>
          </p:cNvPr>
          <p:cNvCxnSpPr>
            <a:cxnSpLocks/>
            <a:stCxn id="16" idx="1"/>
            <a:endCxn id="31" idx="0"/>
          </p:cNvCxnSpPr>
          <p:nvPr/>
        </p:nvCxnSpPr>
        <p:spPr>
          <a:xfrm rot="10800000" flipH="1" flipV="1">
            <a:off x="3376972" y="1999614"/>
            <a:ext cx="115487" cy="2743702"/>
          </a:xfrm>
          <a:prstGeom prst="bentConnector4">
            <a:avLst>
              <a:gd name="adj1" fmla="val -979947"/>
              <a:gd name="adj2" fmla="val 84326"/>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a:extLst>
              <a:ext uri="{FF2B5EF4-FFF2-40B4-BE49-F238E27FC236}">
                <a16:creationId xmlns:a16="http://schemas.microsoft.com/office/drawing/2014/main" id="{F8710DE5-215C-BB47-AC51-9A27B91645A9}"/>
              </a:ext>
            </a:extLst>
          </p:cNvPr>
          <p:cNvCxnSpPr>
            <a:cxnSpLocks/>
            <a:endCxn id="31" idx="0"/>
          </p:cNvCxnSpPr>
          <p:nvPr/>
        </p:nvCxnSpPr>
        <p:spPr>
          <a:xfrm>
            <a:off x="2405879" y="4310261"/>
            <a:ext cx="1086581" cy="433055"/>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a:extLst>
              <a:ext uri="{FF2B5EF4-FFF2-40B4-BE49-F238E27FC236}">
                <a16:creationId xmlns:a16="http://schemas.microsoft.com/office/drawing/2014/main" id="{67064FDE-4F0D-0D42-9A06-E2F0BD97C993}"/>
              </a:ext>
            </a:extLst>
          </p:cNvPr>
          <p:cNvCxnSpPr>
            <a:cxnSpLocks/>
            <a:endCxn id="32" idx="0"/>
          </p:cNvCxnSpPr>
          <p:nvPr/>
        </p:nvCxnSpPr>
        <p:spPr>
          <a:xfrm>
            <a:off x="2405878" y="4310261"/>
            <a:ext cx="3231943" cy="433055"/>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3BE2CB9A-5DDC-E145-87B8-9641C592AA01}"/>
              </a:ext>
            </a:extLst>
          </p:cNvPr>
          <p:cNvSpPr txBox="1"/>
          <p:nvPr/>
        </p:nvSpPr>
        <p:spPr>
          <a:xfrm>
            <a:off x="2204023" y="3981714"/>
            <a:ext cx="1159292" cy="369332"/>
          </a:xfrm>
          <a:prstGeom prst="rect">
            <a:avLst/>
          </a:prstGeom>
          <a:noFill/>
        </p:spPr>
        <p:txBody>
          <a:bodyPr wrap="none" rtlCol="0">
            <a:spAutoFit/>
          </a:bodyPr>
          <a:lstStyle/>
          <a:p>
            <a:r>
              <a:rPr lang="en-US" altLang="zh-CN" dirty="0"/>
              <a:t>PCIe</a:t>
            </a:r>
            <a:r>
              <a:rPr lang="zh-CN" altLang="en-US" dirty="0"/>
              <a:t> </a:t>
            </a:r>
            <a:r>
              <a:rPr lang="en-US" altLang="zh-CN" dirty="0"/>
              <a:t>Bus</a:t>
            </a:r>
            <a:endParaRPr lang="en-CN" dirty="0"/>
          </a:p>
        </p:txBody>
      </p:sp>
      <p:sp>
        <p:nvSpPr>
          <p:cNvPr id="46" name="TextBox 45">
            <a:extLst>
              <a:ext uri="{FF2B5EF4-FFF2-40B4-BE49-F238E27FC236}">
                <a16:creationId xmlns:a16="http://schemas.microsoft.com/office/drawing/2014/main" id="{D8276A7F-C301-C646-8348-3047C103D33E}"/>
              </a:ext>
            </a:extLst>
          </p:cNvPr>
          <p:cNvSpPr txBox="1"/>
          <p:nvPr/>
        </p:nvSpPr>
        <p:spPr>
          <a:xfrm>
            <a:off x="3912582" y="3040170"/>
            <a:ext cx="1479892" cy="369332"/>
          </a:xfrm>
          <a:prstGeom prst="rect">
            <a:avLst/>
          </a:prstGeom>
          <a:noFill/>
        </p:spPr>
        <p:txBody>
          <a:bodyPr wrap="none" rtlCol="0">
            <a:spAutoFit/>
          </a:bodyPr>
          <a:lstStyle/>
          <a:p>
            <a:r>
              <a:rPr lang="en-US" altLang="zh-CN" dirty="0"/>
              <a:t>Memory</a:t>
            </a:r>
            <a:r>
              <a:rPr lang="zh-CN" altLang="en-US" dirty="0"/>
              <a:t> </a:t>
            </a:r>
            <a:r>
              <a:rPr lang="en-US" altLang="zh-CN" dirty="0"/>
              <a:t>Bus</a:t>
            </a:r>
            <a:endParaRPr lang="en-CN" dirty="0"/>
          </a:p>
        </p:txBody>
      </p:sp>
    </p:spTree>
    <p:extLst>
      <p:ext uri="{BB962C8B-B14F-4D97-AF65-F5344CB8AC3E}">
        <p14:creationId xmlns:p14="http://schemas.microsoft.com/office/powerpoint/2010/main" val="33135644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B3048-DABF-4946-8116-A125B7C79CDB}"/>
              </a:ext>
            </a:extLst>
          </p:cNvPr>
          <p:cNvSpPr>
            <a:spLocks noGrp="1"/>
          </p:cNvSpPr>
          <p:nvPr>
            <p:ph type="title"/>
          </p:nvPr>
        </p:nvSpPr>
        <p:spPr/>
        <p:txBody>
          <a:bodyPr>
            <a:normAutofit/>
          </a:bodyPr>
          <a:lstStyle/>
          <a:p>
            <a:r>
              <a:rPr lang="zh-CN" altLang="en-US" sz="2800" dirty="0"/>
              <a:t>思路：直接将持久性内存当做存储设备管理</a:t>
            </a:r>
            <a:endParaRPr lang="en-CN" sz="2800" dirty="0"/>
          </a:p>
        </p:txBody>
      </p:sp>
      <p:sp>
        <p:nvSpPr>
          <p:cNvPr id="3" name="Content Placeholder 2">
            <a:extLst>
              <a:ext uri="{FF2B5EF4-FFF2-40B4-BE49-F238E27FC236}">
                <a16:creationId xmlns:a16="http://schemas.microsoft.com/office/drawing/2014/main" id="{E168ADF0-4A5E-424D-980D-0B3B34FDA729}"/>
              </a:ext>
            </a:extLst>
          </p:cNvPr>
          <p:cNvSpPr>
            <a:spLocks noGrp="1"/>
          </p:cNvSpPr>
          <p:nvPr>
            <p:ph idx="1"/>
          </p:nvPr>
        </p:nvSpPr>
        <p:spPr/>
        <p:txBody>
          <a:bodyPr>
            <a:normAutofit/>
          </a:bodyPr>
          <a:lstStyle/>
          <a:p>
            <a:r>
              <a:rPr lang="zh-CN" altLang="en-US" dirty="0"/>
              <a:t>使用内核文件系统管理持久内存</a:t>
            </a:r>
            <a:endParaRPr lang="en-US" altLang="zh-CN" dirty="0"/>
          </a:p>
          <a:p>
            <a:pPr lvl="1"/>
            <a:r>
              <a:rPr lang="zh-CN" altLang="en-US" dirty="0"/>
              <a:t>优势：对应用透明（复用 </a:t>
            </a:r>
            <a:r>
              <a:rPr lang="en-US" altLang="zh-CN" dirty="0"/>
              <a:t>FS</a:t>
            </a:r>
            <a:r>
              <a:rPr lang="zh-CN" altLang="en-US" dirty="0"/>
              <a:t> 的接口）</a:t>
            </a:r>
            <a:endParaRPr lang="en-US" altLang="zh-CN" dirty="0"/>
          </a:p>
          <a:p>
            <a:pPr lvl="1"/>
            <a:r>
              <a:rPr lang="zh-CN" altLang="en-US" dirty="0"/>
              <a:t>问题：持久内存持久化粒度为</a:t>
            </a:r>
            <a:r>
              <a:rPr lang="zh-CN" altLang="en-US" dirty="0">
                <a:solidFill>
                  <a:srgbClr val="C00000"/>
                </a:solidFill>
              </a:rPr>
              <a:t>字节（缓存行）</a:t>
            </a:r>
            <a:endParaRPr lang="en-US" altLang="zh-CN" dirty="0">
              <a:solidFill>
                <a:srgbClr val="C00000"/>
              </a:solidFill>
            </a:endParaRPr>
          </a:p>
          <a:p>
            <a:pPr lvl="1"/>
            <a:r>
              <a:rPr lang="zh-CN" altLang="en-US" dirty="0"/>
              <a:t>如何保证崩溃一致性？</a:t>
            </a:r>
            <a:endParaRPr lang="en-US" altLang="zh-CN" dirty="0"/>
          </a:p>
          <a:p>
            <a:pPr lvl="2"/>
            <a:r>
              <a:rPr lang="en-US" altLang="zh-CN" dirty="0"/>
              <a:t>🤔</a:t>
            </a:r>
            <a:r>
              <a:rPr lang="zh-CN" altLang="en-US" dirty="0"/>
              <a:t>回想讲过的崩溃一致性方法</a:t>
            </a:r>
            <a:endParaRPr lang="en-US" altLang="zh-CN" dirty="0">
              <a:solidFill>
                <a:srgbClr val="000000">
                  <a:lumMod val="75000"/>
                  <a:lumOff val="25000"/>
                </a:srgbClr>
              </a:solidFill>
            </a:endParaRPr>
          </a:p>
          <a:p>
            <a:r>
              <a:rPr lang="zh-CN" altLang="en-US" dirty="0">
                <a:solidFill>
                  <a:srgbClr val="000000">
                    <a:lumMod val="75000"/>
                    <a:lumOff val="25000"/>
                  </a:srgbClr>
                </a:solidFill>
              </a:rPr>
              <a:t>新的挑战：持久性内存远快于硬盘，内核成为新的瓶颈</a:t>
            </a:r>
            <a:endParaRPr lang="en-US" altLang="zh-CN" dirty="0">
              <a:solidFill>
                <a:srgbClr val="000000">
                  <a:lumMod val="75000"/>
                  <a:lumOff val="25000"/>
                </a:srgbClr>
              </a:solidFill>
            </a:endParaRPr>
          </a:p>
          <a:p>
            <a:pPr lvl="1"/>
            <a:r>
              <a:rPr lang="zh-CN" altLang="en-US" dirty="0">
                <a:solidFill>
                  <a:srgbClr val="000000">
                    <a:lumMod val="75000"/>
                    <a:lumOff val="25000"/>
                  </a:srgbClr>
                </a:solidFill>
              </a:rPr>
              <a:t>之前文件系统瓶颈在于硬盘访问速度</a:t>
            </a:r>
            <a:endParaRPr lang="en-US" altLang="zh-CN" dirty="0">
              <a:solidFill>
                <a:srgbClr val="C00000"/>
              </a:solidFill>
            </a:endParaRPr>
          </a:p>
          <a:p>
            <a:endParaRPr lang="en-US" altLang="zh-CN" dirty="0"/>
          </a:p>
          <a:p>
            <a:endParaRPr lang="en-US" altLang="zh-CN" dirty="0"/>
          </a:p>
          <a:p>
            <a:endParaRPr lang="en-CN" dirty="0"/>
          </a:p>
        </p:txBody>
      </p:sp>
      <p:sp>
        <p:nvSpPr>
          <p:cNvPr id="4" name="Slide Number Placeholder 3">
            <a:extLst>
              <a:ext uri="{FF2B5EF4-FFF2-40B4-BE49-F238E27FC236}">
                <a16:creationId xmlns:a16="http://schemas.microsoft.com/office/drawing/2014/main" id="{7DFDBE9E-D42C-234A-94D9-5A4FA85E81BC}"/>
              </a:ext>
            </a:extLst>
          </p:cNvPr>
          <p:cNvSpPr>
            <a:spLocks noGrp="1"/>
          </p:cNvSpPr>
          <p:nvPr>
            <p:ph type="sldNum" sz="quarter" idx="12"/>
          </p:nvPr>
        </p:nvSpPr>
        <p:spPr/>
        <p:txBody>
          <a:bodyPr/>
          <a:lstStyle/>
          <a:p>
            <a:fld id="{ADE361C3-C043-4A6E-BDCE-8DA1E7D90A3B}" type="slidenum">
              <a:rPr lang="zh-CN" altLang="en-US" smtClean="0"/>
              <a:t>50</a:t>
            </a:fld>
            <a:endParaRPr lang="zh-CN" altLang="en-US"/>
          </a:p>
        </p:txBody>
      </p:sp>
      <p:sp>
        <p:nvSpPr>
          <p:cNvPr id="5" name="Footer Placeholder 4">
            <a:extLst>
              <a:ext uri="{FF2B5EF4-FFF2-40B4-BE49-F238E27FC236}">
                <a16:creationId xmlns:a16="http://schemas.microsoft.com/office/drawing/2014/main" id="{8F3E79C2-8E0D-B44F-AA2E-8ACB2F72E6C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401433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91AB7-C8D6-5D44-ABD2-81CFEE69DB06}"/>
              </a:ext>
            </a:extLst>
          </p:cNvPr>
          <p:cNvSpPr>
            <a:spLocks noGrp="1"/>
          </p:cNvSpPr>
          <p:nvPr>
            <p:ph type="title"/>
          </p:nvPr>
        </p:nvSpPr>
        <p:spPr/>
        <p:txBody>
          <a:bodyPr>
            <a:normAutofit/>
          </a:bodyPr>
          <a:lstStyle/>
          <a:p>
            <a:r>
              <a:rPr lang="zh-CN" altLang="en-US" sz="3200" dirty="0"/>
              <a:t>挑战</a:t>
            </a:r>
            <a:r>
              <a:rPr lang="en-US" altLang="zh-CN" sz="3200" dirty="0"/>
              <a:t>-2</a:t>
            </a:r>
            <a:r>
              <a:rPr lang="zh-CN" altLang="en-US" sz="3200" dirty="0"/>
              <a:t>：如何避免内核带来的开销？</a:t>
            </a:r>
            <a:endParaRPr lang="en-CN" sz="3200" dirty="0"/>
          </a:p>
        </p:txBody>
      </p:sp>
      <p:sp>
        <p:nvSpPr>
          <p:cNvPr id="3" name="Content Placeholder 2">
            <a:extLst>
              <a:ext uri="{FF2B5EF4-FFF2-40B4-BE49-F238E27FC236}">
                <a16:creationId xmlns:a16="http://schemas.microsoft.com/office/drawing/2014/main" id="{DB141F43-68CB-9D44-9045-590EEEDAA84A}"/>
              </a:ext>
            </a:extLst>
          </p:cNvPr>
          <p:cNvSpPr>
            <a:spLocks noGrp="1"/>
          </p:cNvSpPr>
          <p:nvPr>
            <p:ph idx="1"/>
          </p:nvPr>
        </p:nvSpPr>
        <p:spPr>
          <a:xfrm>
            <a:off x="457200" y="1333500"/>
            <a:ext cx="8229600" cy="3900263"/>
          </a:xfrm>
        </p:spPr>
        <p:txBody>
          <a:bodyPr>
            <a:normAutofit/>
          </a:bodyPr>
          <a:lstStyle/>
          <a:p>
            <a:r>
              <a:rPr lang="zh-CN" altLang="en-US" dirty="0"/>
              <a:t>发现：</a:t>
            </a:r>
            <a:r>
              <a:rPr lang="zh-CN" altLang="en-CN" dirty="0"/>
              <a:t>持久性内存</a:t>
            </a:r>
            <a:r>
              <a:rPr lang="zh-CN" altLang="en-US" dirty="0"/>
              <a:t>可以在用户态访问</a:t>
            </a:r>
            <a:endParaRPr lang="en-US" altLang="zh-CN" dirty="0"/>
          </a:p>
          <a:p>
            <a:pPr lvl="1"/>
            <a:r>
              <a:rPr lang="zh-CN" altLang="en-US" dirty="0"/>
              <a:t>硬盘是</a:t>
            </a:r>
            <a:r>
              <a:rPr lang="en-US" altLang="zh-CN" dirty="0"/>
              <a:t>I/O</a:t>
            </a:r>
            <a:r>
              <a:rPr lang="zh-CN" altLang="en-US" dirty="0"/>
              <a:t>设备，必须由内核统一管理</a:t>
            </a:r>
            <a:endParaRPr lang="en-US" altLang="zh-CN" dirty="0"/>
          </a:p>
          <a:p>
            <a:pPr lvl="1"/>
            <a:r>
              <a:rPr lang="zh-CN" altLang="en-US" dirty="0"/>
              <a:t>内存则本来就是用户态可以访问的</a:t>
            </a:r>
            <a:endParaRPr lang="en-US" altLang="zh-CN" dirty="0"/>
          </a:p>
          <a:p>
            <a:r>
              <a:rPr lang="zh-CN" altLang="en-US" dirty="0"/>
              <a:t>思路：将 </a:t>
            </a:r>
            <a:r>
              <a:rPr lang="en-US" altLang="zh-CN" dirty="0"/>
              <a:t>FS</a:t>
            </a:r>
            <a:r>
              <a:rPr lang="zh-CN" altLang="en-US" dirty="0"/>
              <a:t> 功能移到用户态，从而避免进入内核</a:t>
            </a:r>
            <a:endParaRPr lang="en-US" altLang="zh-CN" dirty="0"/>
          </a:p>
          <a:p>
            <a:pPr lvl="1"/>
            <a:r>
              <a:rPr lang="zh-CN" altLang="en-US" dirty="0"/>
              <a:t>即 </a:t>
            </a:r>
            <a:r>
              <a:rPr lang="en-US" altLang="zh-CN" dirty="0"/>
              <a:t>kernel</a:t>
            </a:r>
            <a:r>
              <a:rPr lang="zh-CN" altLang="en-US" dirty="0"/>
              <a:t> </a:t>
            </a:r>
            <a:r>
              <a:rPr lang="en-US" altLang="zh-CN" dirty="0"/>
              <a:t>bypassing</a:t>
            </a:r>
          </a:p>
          <a:p>
            <a:r>
              <a:rPr lang="zh-CN" altLang="en-US" dirty="0"/>
              <a:t>新挑战：如何保障数据安全性和隔离性？</a:t>
            </a:r>
            <a:endParaRPr lang="en-US" altLang="zh-CN" dirty="0"/>
          </a:p>
          <a:p>
            <a:pPr lvl="1"/>
            <a:r>
              <a:rPr lang="zh-CN" altLang="en-US" dirty="0"/>
              <a:t>例如：若</a:t>
            </a:r>
            <a:r>
              <a:rPr lang="en-US" altLang="zh-CN" dirty="0" err="1"/>
              <a:t>inode</a:t>
            </a:r>
            <a:r>
              <a:rPr lang="zh-CN" altLang="en-US" dirty="0"/>
              <a:t>可以由用户直接访问，会发生什么？</a:t>
            </a:r>
            <a:endParaRPr lang="en-US" altLang="zh-CN" dirty="0"/>
          </a:p>
          <a:p>
            <a:pPr lvl="1"/>
            <a:r>
              <a:rPr lang="zh-CN" altLang="en-US" dirty="0"/>
              <a:t>想法：需要用户态和内核态进行分工</a:t>
            </a:r>
            <a:endParaRPr lang="en-CN" dirty="0"/>
          </a:p>
        </p:txBody>
      </p:sp>
      <p:sp>
        <p:nvSpPr>
          <p:cNvPr id="4" name="Slide Number Placeholder 3">
            <a:extLst>
              <a:ext uri="{FF2B5EF4-FFF2-40B4-BE49-F238E27FC236}">
                <a16:creationId xmlns:a16="http://schemas.microsoft.com/office/drawing/2014/main" id="{094D9C33-95CF-C941-84F8-A1E461C832BA}"/>
              </a:ext>
            </a:extLst>
          </p:cNvPr>
          <p:cNvSpPr>
            <a:spLocks noGrp="1"/>
          </p:cNvSpPr>
          <p:nvPr>
            <p:ph type="sldNum" sz="quarter" idx="12"/>
          </p:nvPr>
        </p:nvSpPr>
        <p:spPr/>
        <p:txBody>
          <a:bodyPr/>
          <a:lstStyle/>
          <a:p>
            <a:fld id="{ADE361C3-C043-4A6E-BDCE-8DA1E7D90A3B}" type="slidenum">
              <a:rPr lang="zh-CN" altLang="en-US" smtClean="0"/>
              <a:t>51</a:t>
            </a:fld>
            <a:endParaRPr lang="zh-CN" altLang="en-US"/>
          </a:p>
        </p:txBody>
      </p:sp>
      <p:sp>
        <p:nvSpPr>
          <p:cNvPr id="5" name="Footer Placeholder 4">
            <a:extLst>
              <a:ext uri="{FF2B5EF4-FFF2-40B4-BE49-F238E27FC236}">
                <a16:creationId xmlns:a16="http://schemas.microsoft.com/office/drawing/2014/main" id="{FC17B80C-1BC0-904F-B1FE-319348CBBF4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4523580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E94EE-9E08-7B47-827D-F50333194F6B}"/>
              </a:ext>
            </a:extLst>
          </p:cNvPr>
          <p:cNvSpPr>
            <a:spLocks noGrp="1"/>
          </p:cNvSpPr>
          <p:nvPr>
            <p:ph type="title"/>
          </p:nvPr>
        </p:nvSpPr>
        <p:spPr/>
        <p:txBody>
          <a:bodyPr>
            <a:normAutofit/>
          </a:bodyPr>
          <a:lstStyle/>
          <a:p>
            <a:r>
              <a:rPr lang="zh-CN" altLang="en-US" sz="2800" dirty="0"/>
              <a:t>思路</a:t>
            </a:r>
            <a:r>
              <a:rPr lang="en-US" altLang="zh-CN" sz="2800" dirty="0"/>
              <a:t>-1</a:t>
            </a:r>
            <a:r>
              <a:rPr lang="zh-CN" altLang="en-US" sz="2800" dirty="0"/>
              <a:t>：用户</a:t>
            </a:r>
            <a:r>
              <a:rPr lang="en-US" altLang="zh-CN" sz="2800" dirty="0"/>
              <a:t>FS</a:t>
            </a:r>
            <a:r>
              <a:rPr lang="zh-CN" altLang="en-US" sz="2800" dirty="0"/>
              <a:t>记录日志，内核</a:t>
            </a:r>
            <a:r>
              <a:rPr lang="en-US" altLang="zh-CN" sz="2800" dirty="0"/>
              <a:t>FS</a:t>
            </a:r>
            <a:r>
              <a:rPr lang="zh-CN" altLang="en-US" sz="2800" dirty="0"/>
              <a:t>整理日志</a:t>
            </a:r>
            <a:endParaRPr lang="en-CN" sz="2800" dirty="0"/>
          </a:p>
        </p:txBody>
      </p:sp>
      <p:sp>
        <p:nvSpPr>
          <p:cNvPr id="3" name="Content Placeholder 2">
            <a:extLst>
              <a:ext uri="{FF2B5EF4-FFF2-40B4-BE49-F238E27FC236}">
                <a16:creationId xmlns:a16="http://schemas.microsoft.com/office/drawing/2014/main" id="{580DCF4B-D508-0943-BCB4-1810FAE145CA}"/>
              </a:ext>
            </a:extLst>
          </p:cNvPr>
          <p:cNvSpPr>
            <a:spLocks noGrp="1"/>
          </p:cNvSpPr>
          <p:nvPr>
            <p:ph idx="1"/>
          </p:nvPr>
        </p:nvSpPr>
        <p:spPr/>
        <p:txBody>
          <a:bodyPr>
            <a:normAutofit lnSpcReduction="10000"/>
          </a:bodyPr>
          <a:lstStyle/>
          <a:p>
            <a:r>
              <a:rPr lang="zh-CN" altLang="en-US" sz="2000" dirty="0"/>
              <a:t>写操作</a:t>
            </a:r>
            <a:endParaRPr lang="en-US" altLang="zh-CN" sz="2000" dirty="0"/>
          </a:p>
          <a:p>
            <a:pPr lvl="1"/>
            <a:r>
              <a:rPr lang="zh-CN" altLang="en-CN" sz="1800" dirty="0"/>
              <a:t>用户态</a:t>
            </a:r>
            <a:r>
              <a:rPr lang="zh-CN" altLang="en-US" sz="1800" dirty="0"/>
              <a:t> </a:t>
            </a:r>
            <a:r>
              <a:rPr lang="en-US" altLang="zh-CN" sz="1800" dirty="0"/>
              <a:t>FS</a:t>
            </a:r>
            <a:r>
              <a:rPr lang="zh-CN" altLang="en-US" sz="1800" dirty="0"/>
              <a:t> 只能（只需）在 </a:t>
            </a:r>
            <a:r>
              <a:rPr lang="en-US" altLang="zh-CN" sz="1800" dirty="0"/>
              <a:t>Per-process</a:t>
            </a:r>
            <a:r>
              <a:rPr lang="zh-CN" altLang="en-US" sz="1800" dirty="0"/>
              <a:t> 的 </a:t>
            </a:r>
            <a:r>
              <a:rPr lang="en-US" altLang="zh-CN" sz="1800" dirty="0"/>
              <a:t>NVM</a:t>
            </a:r>
            <a:r>
              <a:rPr lang="zh-CN" altLang="en-US" sz="1800" dirty="0"/>
              <a:t> 空间中记录日志</a:t>
            </a:r>
            <a:endParaRPr lang="en-US" altLang="zh-CN" sz="1800" dirty="0"/>
          </a:p>
          <a:p>
            <a:pPr lvl="1"/>
            <a:r>
              <a:rPr lang="zh-CN" altLang="en-US" sz="1800" dirty="0"/>
              <a:t>内核 </a:t>
            </a:r>
            <a:r>
              <a:rPr lang="en-US" altLang="zh-CN" sz="1800" dirty="0"/>
              <a:t>FS</a:t>
            </a:r>
            <a:r>
              <a:rPr lang="zh-CN" altLang="en-US" sz="1800" dirty="0"/>
              <a:t> 定期查看日志，并将数据更新到全局位置</a:t>
            </a:r>
            <a:endParaRPr lang="en-US" altLang="zh-CN" sz="1800" dirty="0"/>
          </a:p>
          <a:p>
            <a:pPr lvl="1"/>
            <a:r>
              <a:rPr lang="zh-CN" altLang="en-US" sz="1800" dirty="0"/>
              <a:t>在应用写完后，内核整理前，新的内容全局不可见</a:t>
            </a:r>
            <a:endParaRPr lang="en-US" altLang="zh-CN" sz="1800" dirty="0"/>
          </a:p>
          <a:p>
            <a:r>
              <a:rPr lang="zh-CN" altLang="en-US" sz="2000" dirty="0"/>
              <a:t>读操作</a:t>
            </a:r>
            <a:endParaRPr lang="en-US" altLang="zh-CN" sz="2000" dirty="0"/>
          </a:p>
          <a:p>
            <a:pPr lvl="1"/>
            <a:r>
              <a:rPr lang="zh-CN" altLang="en-US" sz="1800" dirty="0"/>
              <a:t>经过内核 </a:t>
            </a:r>
            <a:r>
              <a:rPr lang="en-US" altLang="zh-CN" sz="1800" dirty="0"/>
              <a:t>FS</a:t>
            </a:r>
            <a:r>
              <a:rPr lang="zh-CN" altLang="en-US" sz="1800" dirty="0"/>
              <a:t> 检查后，用户态 </a:t>
            </a:r>
            <a:r>
              <a:rPr lang="en-US" altLang="zh-CN" sz="1800" dirty="0"/>
              <a:t>FS</a:t>
            </a:r>
            <a:r>
              <a:rPr lang="zh-CN" altLang="en-US" sz="1800" dirty="0"/>
              <a:t> 可以直接读取 </a:t>
            </a:r>
            <a:r>
              <a:rPr lang="en-US" altLang="zh-CN" sz="1800" dirty="0"/>
              <a:t>NVM</a:t>
            </a:r>
            <a:r>
              <a:rPr lang="zh-CN" altLang="en-US" sz="1800" dirty="0"/>
              <a:t> 部分区域</a:t>
            </a:r>
            <a:endParaRPr lang="en-US" altLang="zh-CN" sz="1800" dirty="0"/>
          </a:p>
          <a:p>
            <a:r>
              <a:rPr lang="zh-CN" altLang="en-US" sz="2000" dirty="0"/>
              <a:t>优势</a:t>
            </a:r>
            <a:endParaRPr lang="en-US" altLang="zh-CN" sz="2000" dirty="0"/>
          </a:p>
          <a:p>
            <a:pPr lvl="1"/>
            <a:r>
              <a:rPr lang="zh-CN" altLang="en-US" sz="1800" dirty="0"/>
              <a:t>用户 </a:t>
            </a:r>
            <a:r>
              <a:rPr lang="en-US" altLang="zh-CN" sz="1800" dirty="0"/>
              <a:t>FS</a:t>
            </a:r>
            <a:r>
              <a:rPr lang="zh-CN" altLang="en-US" sz="1800" dirty="0"/>
              <a:t> 只需记录 </a:t>
            </a:r>
            <a:r>
              <a:rPr lang="en-US" altLang="zh-CN" sz="1800" dirty="0"/>
              <a:t>NVM</a:t>
            </a:r>
            <a:r>
              <a:rPr lang="zh-CN" altLang="en-US" sz="1800" dirty="0"/>
              <a:t> 日志即可保证操作完成</a:t>
            </a:r>
            <a:endParaRPr lang="en-US" altLang="zh-CN" sz="1800" dirty="0"/>
          </a:p>
          <a:p>
            <a:r>
              <a:rPr lang="zh-CN" altLang="en-US" sz="2000" dirty="0"/>
              <a:t>问题：需要定期去进行整理，多进程同步、写放大问题</a:t>
            </a:r>
            <a:endParaRPr lang="en-US" sz="2000" dirty="0"/>
          </a:p>
        </p:txBody>
      </p:sp>
      <p:sp>
        <p:nvSpPr>
          <p:cNvPr id="4" name="Slide Number Placeholder 3">
            <a:extLst>
              <a:ext uri="{FF2B5EF4-FFF2-40B4-BE49-F238E27FC236}">
                <a16:creationId xmlns:a16="http://schemas.microsoft.com/office/drawing/2014/main" id="{07A85703-4746-A44B-8854-8192F5BFB646}"/>
              </a:ext>
            </a:extLst>
          </p:cNvPr>
          <p:cNvSpPr>
            <a:spLocks noGrp="1"/>
          </p:cNvSpPr>
          <p:nvPr>
            <p:ph type="sldNum" sz="quarter" idx="12"/>
          </p:nvPr>
        </p:nvSpPr>
        <p:spPr/>
        <p:txBody>
          <a:bodyPr/>
          <a:lstStyle/>
          <a:p>
            <a:fld id="{ADE361C3-C043-4A6E-BDCE-8DA1E7D90A3B}" type="slidenum">
              <a:rPr lang="zh-CN" altLang="en-US" smtClean="0"/>
              <a:t>52</a:t>
            </a:fld>
            <a:endParaRPr lang="zh-CN" altLang="en-US"/>
          </a:p>
        </p:txBody>
      </p:sp>
      <p:sp>
        <p:nvSpPr>
          <p:cNvPr id="5" name="Footer Placeholder 4">
            <a:extLst>
              <a:ext uri="{FF2B5EF4-FFF2-40B4-BE49-F238E27FC236}">
                <a16:creationId xmlns:a16="http://schemas.microsoft.com/office/drawing/2014/main" id="{8E12B42F-00AA-744F-B6C8-AEB3F54F7E6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2572FB71-5187-484B-99ED-92553732EBDA}"/>
              </a:ext>
            </a:extLst>
          </p:cNvPr>
          <p:cNvSpPr txBox="1"/>
          <p:nvPr/>
        </p:nvSpPr>
        <p:spPr>
          <a:xfrm>
            <a:off x="181193" y="5220955"/>
            <a:ext cx="1574918" cy="369332"/>
          </a:xfrm>
          <a:prstGeom prst="rect">
            <a:avLst/>
          </a:prstGeom>
          <a:noFill/>
        </p:spPr>
        <p:txBody>
          <a:bodyPr wrap="none" rtlCol="0">
            <a:spAutoFit/>
          </a:bodyPr>
          <a:lstStyle/>
          <a:p>
            <a:r>
              <a:rPr lang="en-CN" dirty="0"/>
              <a:t>Strata</a:t>
            </a:r>
            <a:r>
              <a:rPr lang="en-US" altLang="zh-CN" baseline="30000" dirty="0"/>
              <a:t>(SOSP</a:t>
            </a:r>
            <a:r>
              <a:rPr lang="zh-CN" altLang="en-US" baseline="30000" dirty="0"/>
              <a:t> </a:t>
            </a:r>
            <a:r>
              <a:rPr lang="en-US" altLang="zh-CN" baseline="30000" dirty="0"/>
              <a:t>’17)</a:t>
            </a:r>
            <a:endParaRPr lang="en-CN" dirty="0"/>
          </a:p>
        </p:txBody>
      </p:sp>
    </p:spTree>
    <p:extLst>
      <p:ext uri="{BB962C8B-B14F-4D97-AF65-F5344CB8AC3E}">
        <p14:creationId xmlns:p14="http://schemas.microsoft.com/office/powerpoint/2010/main" val="37922747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E94EE-9E08-7B47-827D-F50333194F6B}"/>
              </a:ext>
            </a:extLst>
          </p:cNvPr>
          <p:cNvSpPr>
            <a:spLocks noGrp="1"/>
          </p:cNvSpPr>
          <p:nvPr>
            <p:ph type="title"/>
          </p:nvPr>
        </p:nvSpPr>
        <p:spPr/>
        <p:txBody>
          <a:bodyPr>
            <a:noAutofit/>
          </a:bodyPr>
          <a:lstStyle/>
          <a:p>
            <a:r>
              <a:rPr lang="zh-CN" altLang="en-US" sz="2800" dirty="0"/>
              <a:t>思路</a:t>
            </a:r>
            <a:r>
              <a:rPr lang="en-US" altLang="zh-CN" sz="2800" dirty="0"/>
              <a:t>-2</a:t>
            </a:r>
            <a:r>
              <a:rPr lang="zh-CN" altLang="en-US" sz="2800" dirty="0"/>
              <a:t>：用户</a:t>
            </a:r>
            <a:r>
              <a:rPr lang="en-US" altLang="zh-CN" sz="2800" dirty="0"/>
              <a:t>FS</a:t>
            </a:r>
            <a:r>
              <a:rPr lang="zh-CN" altLang="en-US" sz="2800" dirty="0"/>
              <a:t>处理数据，内核</a:t>
            </a:r>
            <a:r>
              <a:rPr lang="en-US" altLang="zh-CN" sz="2800" dirty="0"/>
              <a:t>FS</a:t>
            </a:r>
            <a:r>
              <a:rPr lang="zh-CN" altLang="en-US" sz="2800" dirty="0"/>
              <a:t>管理元数据</a:t>
            </a:r>
            <a:endParaRPr lang="en-CN" sz="2800" dirty="0"/>
          </a:p>
        </p:txBody>
      </p:sp>
      <p:sp>
        <p:nvSpPr>
          <p:cNvPr id="3" name="Content Placeholder 2">
            <a:extLst>
              <a:ext uri="{FF2B5EF4-FFF2-40B4-BE49-F238E27FC236}">
                <a16:creationId xmlns:a16="http://schemas.microsoft.com/office/drawing/2014/main" id="{580DCF4B-D508-0943-BCB4-1810FAE145CA}"/>
              </a:ext>
            </a:extLst>
          </p:cNvPr>
          <p:cNvSpPr>
            <a:spLocks noGrp="1"/>
          </p:cNvSpPr>
          <p:nvPr>
            <p:ph idx="1"/>
          </p:nvPr>
        </p:nvSpPr>
        <p:spPr/>
        <p:txBody>
          <a:bodyPr>
            <a:normAutofit/>
          </a:bodyPr>
          <a:lstStyle/>
          <a:p>
            <a:r>
              <a:rPr lang="zh-CN" altLang="en-CN" sz="2000" dirty="0"/>
              <a:t>元数据</a:t>
            </a:r>
            <a:r>
              <a:rPr lang="zh-CN" altLang="en-US" sz="2000" dirty="0"/>
              <a:t>安全是安全与隔离的关键问题</a:t>
            </a:r>
            <a:endParaRPr lang="en-US" altLang="zh-CN" sz="2000" dirty="0"/>
          </a:p>
          <a:p>
            <a:pPr lvl="1"/>
            <a:r>
              <a:rPr lang="zh-CN" altLang="en-US" sz="1800" dirty="0"/>
              <a:t>用户 </a:t>
            </a:r>
            <a:r>
              <a:rPr lang="en-US" altLang="zh-CN" sz="1800" dirty="0"/>
              <a:t>FS</a:t>
            </a:r>
            <a:r>
              <a:rPr lang="zh-CN" altLang="en-US" sz="1800" dirty="0"/>
              <a:t> 将文件 </a:t>
            </a:r>
            <a:r>
              <a:rPr lang="en-US" altLang="zh-CN" sz="1800" dirty="0" err="1"/>
              <a:t>mmap</a:t>
            </a:r>
            <a:r>
              <a:rPr lang="zh-CN" altLang="en-US" sz="1800" dirty="0"/>
              <a:t> 到用户态后，直接在用户态处理数据请求</a:t>
            </a:r>
            <a:endParaRPr lang="en-US" altLang="zh-CN" sz="1800" dirty="0"/>
          </a:p>
          <a:p>
            <a:pPr lvl="1"/>
            <a:r>
              <a:rPr lang="zh-CN" altLang="en-US" sz="1800" dirty="0"/>
              <a:t>内核 </a:t>
            </a:r>
            <a:r>
              <a:rPr lang="en-US" altLang="zh-CN" sz="1800" dirty="0"/>
              <a:t>FS</a:t>
            </a:r>
            <a:r>
              <a:rPr lang="zh-CN" altLang="en-US" sz="1800" dirty="0"/>
              <a:t> 只负责处理文件的元数据操作</a:t>
            </a:r>
            <a:endParaRPr lang="en-CN" sz="1800" dirty="0"/>
          </a:p>
          <a:p>
            <a:r>
              <a:rPr lang="zh-CN" altLang="en-US" sz="2000" dirty="0"/>
              <a:t>优势</a:t>
            </a:r>
            <a:endParaRPr lang="en-US" altLang="zh-CN" sz="2000" dirty="0"/>
          </a:p>
          <a:p>
            <a:pPr lvl="1"/>
            <a:r>
              <a:rPr lang="zh-CN" altLang="en-US" sz="1800" dirty="0"/>
              <a:t>数据修改只需写入一次，且无需内核参与</a:t>
            </a:r>
            <a:endParaRPr lang="en-US" altLang="zh-CN" sz="1800" dirty="0"/>
          </a:p>
          <a:p>
            <a:pPr lvl="1"/>
            <a:r>
              <a:rPr lang="zh-CN" altLang="en-US" sz="1800" dirty="0"/>
              <a:t>元数据的安全和一致由内核保证</a:t>
            </a:r>
            <a:endParaRPr lang="en-US" altLang="zh-CN" sz="1800" dirty="0"/>
          </a:p>
          <a:p>
            <a:r>
              <a:rPr lang="zh-CN" altLang="en-US" sz="2000" dirty="0"/>
              <a:t>问题：文件元数据依然需要内核的参与</a:t>
            </a:r>
            <a:endParaRPr lang="en-US" altLang="zh-CN" sz="2000" dirty="0"/>
          </a:p>
          <a:p>
            <a:pPr lvl="1"/>
            <a:r>
              <a:rPr lang="zh-CN" altLang="en-US" sz="1800" dirty="0"/>
              <a:t>元数据操作本身较快，因此进出内核时间占比更大</a:t>
            </a:r>
            <a:endParaRPr lang="en-US" sz="1800" dirty="0"/>
          </a:p>
        </p:txBody>
      </p:sp>
      <p:sp>
        <p:nvSpPr>
          <p:cNvPr id="4" name="Slide Number Placeholder 3">
            <a:extLst>
              <a:ext uri="{FF2B5EF4-FFF2-40B4-BE49-F238E27FC236}">
                <a16:creationId xmlns:a16="http://schemas.microsoft.com/office/drawing/2014/main" id="{07A85703-4746-A44B-8854-8192F5BFB646}"/>
              </a:ext>
            </a:extLst>
          </p:cNvPr>
          <p:cNvSpPr>
            <a:spLocks noGrp="1"/>
          </p:cNvSpPr>
          <p:nvPr>
            <p:ph type="sldNum" sz="quarter" idx="12"/>
          </p:nvPr>
        </p:nvSpPr>
        <p:spPr/>
        <p:txBody>
          <a:bodyPr/>
          <a:lstStyle/>
          <a:p>
            <a:fld id="{ADE361C3-C043-4A6E-BDCE-8DA1E7D90A3B}" type="slidenum">
              <a:rPr lang="zh-CN" altLang="en-US" smtClean="0"/>
              <a:t>53</a:t>
            </a:fld>
            <a:endParaRPr lang="zh-CN" altLang="en-US"/>
          </a:p>
        </p:txBody>
      </p:sp>
      <p:sp>
        <p:nvSpPr>
          <p:cNvPr id="5" name="Footer Placeholder 4">
            <a:extLst>
              <a:ext uri="{FF2B5EF4-FFF2-40B4-BE49-F238E27FC236}">
                <a16:creationId xmlns:a16="http://schemas.microsoft.com/office/drawing/2014/main" id="{8E12B42F-00AA-744F-B6C8-AEB3F54F7E6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Rectangle 6">
            <a:extLst>
              <a:ext uri="{FF2B5EF4-FFF2-40B4-BE49-F238E27FC236}">
                <a16:creationId xmlns:a16="http://schemas.microsoft.com/office/drawing/2014/main" id="{DFFCAF5A-3C4F-834F-8816-B101C4B14D3F}"/>
              </a:ext>
            </a:extLst>
          </p:cNvPr>
          <p:cNvSpPr/>
          <p:nvPr/>
        </p:nvSpPr>
        <p:spPr>
          <a:xfrm>
            <a:off x="0" y="5301468"/>
            <a:ext cx="1695144" cy="369332"/>
          </a:xfrm>
          <a:prstGeom prst="rect">
            <a:avLst/>
          </a:prstGeom>
        </p:spPr>
        <p:txBody>
          <a:bodyPr wrap="none">
            <a:spAutoFit/>
          </a:bodyPr>
          <a:lstStyle/>
          <a:p>
            <a:r>
              <a:rPr lang="en-CN" dirty="0"/>
              <a:t>SplitFS</a:t>
            </a:r>
            <a:r>
              <a:rPr lang="en-US" altLang="zh-CN" baseline="30000" dirty="0"/>
              <a:t>(SOSP</a:t>
            </a:r>
            <a:r>
              <a:rPr lang="zh-CN" altLang="en-US" baseline="30000" dirty="0"/>
              <a:t> </a:t>
            </a:r>
            <a:r>
              <a:rPr lang="en-US" altLang="zh-CN" baseline="30000" dirty="0"/>
              <a:t>’19)</a:t>
            </a:r>
            <a:endParaRPr lang="en-CN" dirty="0"/>
          </a:p>
        </p:txBody>
      </p:sp>
    </p:spTree>
    <p:extLst>
      <p:ext uri="{BB962C8B-B14F-4D97-AF65-F5344CB8AC3E}">
        <p14:creationId xmlns:p14="http://schemas.microsoft.com/office/powerpoint/2010/main" val="36220040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E94EE-9E08-7B47-827D-F50333194F6B}"/>
              </a:ext>
            </a:extLst>
          </p:cNvPr>
          <p:cNvSpPr>
            <a:spLocks noGrp="1"/>
          </p:cNvSpPr>
          <p:nvPr>
            <p:ph type="title"/>
          </p:nvPr>
        </p:nvSpPr>
        <p:spPr/>
        <p:txBody>
          <a:bodyPr>
            <a:normAutofit/>
          </a:bodyPr>
          <a:lstStyle/>
          <a:p>
            <a:r>
              <a:rPr lang="zh-CN" altLang="en-US" sz="2800" dirty="0"/>
              <a:t>思路</a:t>
            </a:r>
            <a:r>
              <a:rPr lang="en-US" altLang="zh-CN" sz="2800" dirty="0"/>
              <a:t>-3</a:t>
            </a:r>
            <a:r>
              <a:rPr lang="zh-CN" altLang="en-US" sz="2800" dirty="0"/>
              <a:t>：用户</a:t>
            </a:r>
            <a:r>
              <a:rPr lang="en-US" altLang="zh-CN" sz="2800" dirty="0"/>
              <a:t>FS</a:t>
            </a:r>
            <a:r>
              <a:rPr lang="zh-CN" altLang="en-US" sz="2800" dirty="0"/>
              <a:t>处理请求，内核</a:t>
            </a:r>
            <a:r>
              <a:rPr lang="en-US" altLang="zh-CN" sz="2800" dirty="0"/>
              <a:t>FS</a:t>
            </a:r>
            <a:r>
              <a:rPr lang="zh-CN" altLang="en-US" sz="2800" dirty="0"/>
              <a:t>提供隔离</a:t>
            </a:r>
            <a:endParaRPr lang="en-CN" sz="2800" dirty="0"/>
          </a:p>
        </p:txBody>
      </p:sp>
      <p:sp>
        <p:nvSpPr>
          <p:cNvPr id="3" name="Content Placeholder 2">
            <a:extLst>
              <a:ext uri="{FF2B5EF4-FFF2-40B4-BE49-F238E27FC236}">
                <a16:creationId xmlns:a16="http://schemas.microsoft.com/office/drawing/2014/main" id="{580DCF4B-D508-0943-BCB4-1810FAE145CA}"/>
              </a:ext>
            </a:extLst>
          </p:cNvPr>
          <p:cNvSpPr>
            <a:spLocks noGrp="1"/>
          </p:cNvSpPr>
          <p:nvPr>
            <p:ph idx="1"/>
          </p:nvPr>
        </p:nvSpPr>
        <p:spPr/>
        <p:txBody>
          <a:bodyPr>
            <a:normAutofit/>
          </a:bodyPr>
          <a:lstStyle/>
          <a:p>
            <a:r>
              <a:rPr lang="zh-CN" altLang="en-US" sz="2000" dirty="0"/>
              <a:t>发现：相同权限的文件具有聚集性</a:t>
            </a:r>
            <a:endParaRPr lang="en-US" altLang="zh-CN" sz="2000" dirty="0"/>
          </a:p>
          <a:p>
            <a:pPr lvl="1"/>
            <a:r>
              <a:rPr lang="zh-CN" altLang="en-US" sz="1800" dirty="0"/>
              <a:t>在验证权限后，用户 </a:t>
            </a:r>
            <a:r>
              <a:rPr lang="en-US" altLang="zh-CN" sz="1800" dirty="0"/>
              <a:t>FS</a:t>
            </a:r>
            <a:r>
              <a:rPr lang="zh-CN" altLang="en-US" sz="1800" dirty="0"/>
              <a:t> 能够处理相同权限文件上的所有请求</a:t>
            </a:r>
            <a:endParaRPr lang="en-US" altLang="zh-CN" sz="1800" dirty="0"/>
          </a:p>
          <a:p>
            <a:pPr lvl="1"/>
            <a:r>
              <a:rPr lang="zh-CN" altLang="en-US" sz="1800" dirty="0"/>
              <a:t>内核 </a:t>
            </a:r>
            <a:r>
              <a:rPr lang="en-US" altLang="zh-CN" sz="1800" dirty="0"/>
              <a:t>FS</a:t>
            </a:r>
            <a:r>
              <a:rPr lang="zh-CN" altLang="en-US" sz="1800" dirty="0"/>
              <a:t> 只提供权限验证、粗粒度空间管理和</a:t>
            </a:r>
            <a:r>
              <a:rPr lang="zh-CN" altLang="en-CN" sz="1800" dirty="0"/>
              <a:t>强</a:t>
            </a:r>
            <a:r>
              <a:rPr lang="zh-CN" altLang="en-US" sz="1800" dirty="0"/>
              <a:t>隔离保障</a:t>
            </a:r>
            <a:endParaRPr lang="en-US" altLang="zh-CN" sz="1800" dirty="0"/>
          </a:p>
          <a:p>
            <a:pPr lvl="1"/>
            <a:r>
              <a:rPr lang="zh-CN" altLang="en-US" sz="1800" dirty="0"/>
              <a:t>读写权限控制由页表实现（别忘了</a:t>
            </a:r>
            <a:r>
              <a:rPr lang="en-US" altLang="zh-CN" sz="1800" dirty="0"/>
              <a:t>PM</a:t>
            </a:r>
            <a:r>
              <a:rPr lang="zh-CN" altLang="en-US" sz="1800" dirty="0"/>
              <a:t>是内存！）</a:t>
            </a:r>
            <a:endParaRPr lang="en-CN" sz="1800" dirty="0"/>
          </a:p>
          <a:p>
            <a:r>
              <a:rPr lang="zh-CN" altLang="en-US" sz="2000" dirty="0"/>
              <a:t>优势</a:t>
            </a:r>
            <a:endParaRPr lang="en-US" altLang="zh-CN" sz="2000" dirty="0"/>
          </a:p>
          <a:p>
            <a:pPr lvl="1"/>
            <a:r>
              <a:rPr lang="zh-CN" altLang="en-US" sz="1800" dirty="0"/>
              <a:t>文件操作基本不需要内核参与，包括数据和元数据</a:t>
            </a:r>
            <a:endParaRPr lang="en-US" altLang="zh-CN" sz="1800" dirty="0"/>
          </a:p>
          <a:p>
            <a:pPr lvl="1"/>
            <a:r>
              <a:rPr lang="zh-CN" altLang="en-US" sz="1800" dirty="0"/>
              <a:t>文件权限和隔离性被内核进行保障</a:t>
            </a:r>
            <a:endParaRPr lang="en-US" altLang="zh-CN" sz="1800" dirty="0"/>
          </a:p>
          <a:p>
            <a:r>
              <a:rPr lang="zh-CN" altLang="en-CN" sz="2000" dirty="0"/>
              <a:t>问题</a:t>
            </a:r>
            <a:r>
              <a:rPr lang="zh-CN" altLang="en-US" sz="2000" dirty="0"/>
              <a:t>：权限相关的操作需要内核处理</a:t>
            </a:r>
            <a:endParaRPr lang="en-US" altLang="zh-CN" sz="2000" dirty="0"/>
          </a:p>
        </p:txBody>
      </p:sp>
      <p:sp>
        <p:nvSpPr>
          <p:cNvPr id="4" name="Slide Number Placeholder 3">
            <a:extLst>
              <a:ext uri="{FF2B5EF4-FFF2-40B4-BE49-F238E27FC236}">
                <a16:creationId xmlns:a16="http://schemas.microsoft.com/office/drawing/2014/main" id="{07A85703-4746-A44B-8854-8192F5BFB646}"/>
              </a:ext>
            </a:extLst>
          </p:cNvPr>
          <p:cNvSpPr>
            <a:spLocks noGrp="1"/>
          </p:cNvSpPr>
          <p:nvPr>
            <p:ph type="sldNum" sz="quarter" idx="12"/>
          </p:nvPr>
        </p:nvSpPr>
        <p:spPr/>
        <p:txBody>
          <a:bodyPr/>
          <a:lstStyle/>
          <a:p>
            <a:fld id="{ADE361C3-C043-4A6E-BDCE-8DA1E7D90A3B}" type="slidenum">
              <a:rPr lang="zh-CN" altLang="en-US" smtClean="0"/>
              <a:t>54</a:t>
            </a:fld>
            <a:endParaRPr lang="zh-CN" altLang="en-US"/>
          </a:p>
        </p:txBody>
      </p:sp>
      <p:sp>
        <p:nvSpPr>
          <p:cNvPr id="5" name="Footer Placeholder 4">
            <a:extLst>
              <a:ext uri="{FF2B5EF4-FFF2-40B4-BE49-F238E27FC236}">
                <a16:creationId xmlns:a16="http://schemas.microsoft.com/office/drawing/2014/main" id="{8E12B42F-00AA-744F-B6C8-AEB3F54F7E6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5">
            <a:extLst>
              <a:ext uri="{FF2B5EF4-FFF2-40B4-BE49-F238E27FC236}">
                <a16:creationId xmlns:a16="http://schemas.microsoft.com/office/drawing/2014/main" id="{8DBC8377-B10B-914F-A913-599F86685A32}"/>
              </a:ext>
            </a:extLst>
          </p:cNvPr>
          <p:cNvSpPr/>
          <p:nvPr/>
        </p:nvSpPr>
        <p:spPr>
          <a:xfrm>
            <a:off x="0" y="5305772"/>
            <a:ext cx="1523622" cy="369332"/>
          </a:xfrm>
          <a:prstGeom prst="rect">
            <a:avLst/>
          </a:prstGeom>
        </p:spPr>
        <p:txBody>
          <a:bodyPr wrap="none">
            <a:spAutoFit/>
          </a:bodyPr>
          <a:lstStyle/>
          <a:p>
            <a:r>
              <a:rPr lang="en-CN" dirty="0"/>
              <a:t>ZoFS</a:t>
            </a:r>
            <a:r>
              <a:rPr lang="en-US" altLang="zh-CN" baseline="30000" dirty="0"/>
              <a:t>(SOSP</a:t>
            </a:r>
            <a:r>
              <a:rPr lang="zh-CN" altLang="en-US" baseline="30000" dirty="0"/>
              <a:t> </a:t>
            </a:r>
            <a:r>
              <a:rPr lang="en-US" altLang="zh-CN" baseline="30000" dirty="0"/>
              <a:t>’19)</a:t>
            </a:r>
            <a:endParaRPr lang="en-CN" dirty="0"/>
          </a:p>
        </p:txBody>
      </p:sp>
    </p:spTree>
    <p:extLst>
      <p:ext uri="{BB962C8B-B14F-4D97-AF65-F5344CB8AC3E}">
        <p14:creationId xmlns:p14="http://schemas.microsoft.com/office/powerpoint/2010/main" val="28563606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AC782-CB73-BF41-A3E2-09BA12C5F4DD}"/>
              </a:ext>
            </a:extLst>
          </p:cNvPr>
          <p:cNvSpPr>
            <a:spLocks noGrp="1"/>
          </p:cNvSpPr>
          <p:nvPr>
            <p:ph type="title"/>
          </p:nvPr>
        </p:nvSpPr>
        <p:spPr/>
        <p:txBody>
          <a:bodyPr>
            <a:normAutofit/>
          </a:bodyPr>
          <a:lstStyle/>
          <a:p>
            <a:r>
              <a:rPr lang="zh-CN" altLang="en-CN" sz="3200" dirty="0"/>
              <a:t>未来</a:t>
            </a:r>
            <a:r>
              <a:rPr lang="zh-CN" altLang="en-US" sz="3200" dirty="0"/>
              <a:t>：</a:t>
            </a:r>
            <a:r>
              <a:rPr lang="en-US" altLang="zh-CN" sz="3200" dirty="0"/>
              <a:t>PM</a:t>
            </a:r>
            <a:r>
              <a:rPr lang="zh-CN" altLang="en-US" sz="3200" dirty="0"/>
              <a:t>上是否还需要文件系统？</a:t>
            </a:r>
            <a:endParaRPr lang="en-CN" sz="3200" dirty="0"/>
          </a:p>
        </p:txBody>
      </p:sp>
      <p:sp>
        <p:nvSpPr>
          <p:cNvPr id="3" name="Content Placeholder 2">
            <a:extLst>
              <a:ext uri="{FF2B5EF4-FFF2-40B4-BE49-F238E27FC236}">
                <a16:creationId xmlns:a16="http://schemas.microsoft.com/office/drawing/2014/main" id="{EE6A7667-C2DB-C24C-9201-918CADD946A9}"/>
              </a:ext>
            </a:extLst>
          </p:cNvPr>
          <p:cNvSpPr>
            <a:spLocks noGrp="1"/>
          </p:cNvSpPr>
          <p:nvPr>
            <p:ph idx="1"/>
          </p:nvPr>
        </p:nvSpPr>
        <p:spPr/>
        <p:txBody>
          <a:bodyPr/>
          <a:lstStyle/>
          <a:p>
            <a:r>
              <a:rPr lang="zh-CN" altLang="en-CN" dirty="0"/>
              <a:t>在</a:t>
            </a:r>
            <a:r>
              <a:rPr lang="zh-CN" altLang="en-US" dirty="0"/>
              <a:t>持久性内存的场景下，是否还需要 </a:t>
            </a:r>
            <a:r>
              <a:rPr lang="en-US" altLang="zh-CN" dirty="0"/>
              <a:t>FS</a:t>
            </a:r>
            <a:r>
              <a:rPr lang="zh-CN" altLang="en-US" dirty="0"/>
              <a:t> 进行管理？</a:t>
            </a:r>
            <a:endParaRPr lang="en-US" altLang="zh-CN" dirty="0"/>
          </a:p>
          <a:p>
            <a:pPr lvl="1"/>
            <a:r>
              <a:rPr lang="zh-CN" altLang="en-CN" dirty="0"/>
              <a:t>命名</a:t>
            </a:r>
            <a:r>
              <a:rPr lang="zh-CN" altLang="en-US" dirty="0"/>
              <a:t>（</a:t>
            </a:r>
            <a:r>
              <a:rPr lang="en-US" altLang="zh-CN" dirty="0"/>
              <a:t>naming</a:t>
            </a:r>
            <a:r>
              <a:rPr lang="zh-CN" altLang="en-US" dirty="0"/>
              <a:t>）问题谁来处理？</a:t>
            </a:r>
            <a:endParaRPr lang="en-US" altLang="zh-CN" dirty="0"/>
          </a:p>
          <a:p>
            <a:pPr lvl="1"/>
            <a:r>
              <a:rPr lang="zh-CN" altLang="en-US" dirty="0"/>
              <a:t>管理员如何对存储进行维护？</a:t>
            </a:r>
            <a:endParaRPr lang="en-US" altLang="zh-CN" dirty="0"/>
          </a:p>
          <a:p>
            <a:r>
              <a:rPr lang="zh-CN" altLang="en-US" dirty="0"/>
              <a:t>除了 </a:t>
            </a:r>
            <a:r>
              <a:rPr lang="en-US" altLang="zh-CN" dirty="0"/>
              <a:t>FS</a:t>
            </a:r>
            <a:r>
              <a:rPr lang="zh-CN" altLang="en-US" dirty="0"/>
              <a:t> 接口之外，是否有更好的（存储）编程抽象？</a:t>
            </a:r>
            <a:endParaRPr lang="en-US" altLang="zh-CN" dirty="0"/>
          </a:p>
          <a:p>
            <a:pPr lvl="1"/>
            <a:r>
              <a:rPr lang="zh-CN" altLang="en-US" dirty="0"/>
              <a:t>持久性内存大量使用 </a:t>
            </a:r>
            <a:r>
              <a:rPr lang="en-US" altLang="zh-CN" dirty="0" err="1"/>
              <a:t>mmap</a:t>
            </a:r>
            <a:r>
              <a:rPr lang="en-US" altLang="zh-CN" dirty="0"/>
              <a:t>()</a:t>
            </a:r>
            <a:r>
              <a:rPr lang="zh-CN" altLang="en-US" dirty="0"/>
              <a:t> 接口</a:t>
            </a:r>
            <a:endParaRPr lang="en-US" altLang="zh-CN" dirty="0"/>
          </a:p>
          <a:p>
            <a:pPr lvl="1"/>
            <a:r>
              <a:rPr lang="en-US" altLang="zh-CN" dirty="0" err="1"/>
              <a:t>i</a:t>
            </a:r>
            <a:r>
              <a:rPr lang="en-CN" dirty="0"/>
              <a:t>octl</a:t>
            </a:r>
            <a:r>
              <a:rPr lang="zh-CN" altLang="en-US" dirty="0"/>
              <a:t> 被使用的越来越频繁</a:t>
            </a:r>
            <a:endParaRPr lang="en-US" altLang="zh-CN" dirty="0"/>
          </a:p>
          <a:p>
            <a:pPr lvl="1"/>
            <a:r>
              <a:rPr lang="zh-CN" altLang="en-US" dirty="0"/>
              <a:t>标准文件接口以及 </a:t>
            </a:r>
            <a:r>
              <a:rPr lang="en-US" altLang="zh-CN" dirty="0"/>
              <a:t>POSIX</a:t>
            </a:r>
            <a:r>
              <a:rPr lang="zh-CN" altLang="en-US" dirty="0"/>
              <a:t> 标准是否已经过时？</a:t>
            </a:r>
            <a:endParaRPr lang="en-US" altLang="zh-CN" dirty="0"/>
          </a:p>
        </p:txBody>
      </p:sp>
      <p:sp>
        <p:nvSpPr>
          <p:cNvPr id="4" name="Slide Number Placeholder 3">
            <a:extLst>
              <a:ext uri="{FF2B5EF4-FFF2-40B4-BE49-F238E27FC236}">
                <a16:creationId xmlns:a16="http://schemas.microsoft.com/office/drawing/2014/main" id="{87F69488-9073-4B4C-B6F4-24A9B4ABE45B}"/>
              </a:ext>
            </a:extLst>
          </p:cNvPr>
          <p:cNvSpPr>
            <a:spLocks noGrp="1"/>
          </p:cNvSpPr>
          <p:nvPr>
            <p:ph type="sldNum" sz="quarter" idx="12"/>
          </p:nvPr>
        </p:nvSpPr>
        <p:spPr/>
        <p:txBody>
          <a:bodyPr/>
          <a:lstStyle/>
          <a:p>
            <a:fld id="{ADE361C3-C043-4A6E-BDCE-8DA1E7D90A3B}" type="slidenum">
              <a:rPr lang="zh-CN" altLang="en-US" smtClean="0"/>
              <a:t>55</a:t>
            </a:fld>
            <a:endParaRPr lang="zh-CN" altLang="en-US"/>
          </a:p>
        </p:txBody>
      </p:sp>
      <p:sp>
        <p:nvSpPr>
          <p:cNvPr id="5" name="Footer Placeholder 4">
            <a:extLst>
              <a:ext uri="{FF2B5EF4-FFF2-40B4-BE49-F238E27FC236}">
                <a16:creationId xmlns:a16="http://schemas.microsoft.com/office/drawing/2014/main" id="{279F7B49-EE26-1548-93DA-C95DD2C7D21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5262094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en-US" altLang="zh-CN" dirty="0"/>
              <a:t>5</a:t>
            </a:r>
            <a:r>
              <a:rPr kumimoji="1" lang="zh-CN" altLang="en-US" b="1" dirty="0"/>
              <a:t>、系统安全隔离</a:t>
            </a:r>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r>
              <a:rPr kumimoji="1" lang="en-US" altLang="zh-CN" dirty="0"/>
              <a:t>System</a:t>
            </a:r>
            <a:r>
              <a:rPr kumimoji="1" lang="zh-CN" altLang="en-US" dirty="0"/>
              <a:t> </a:t>
            </a:r>
            <a:r>
              <a:rPr kumimoji="1" lang="en-US" altLang="zh-CN" dirty="0"/>
              <a:t>Security</a:t>
            </a:r>
          </a:p>
        </p:txBody>
      </p:sp>
      <p:sp>
        <p:nvSpPr>
          <p:cNvPr id="7" name="灯片编号占位符 3">
            <a:extLst>
              <a:ext uri="{FF2B5EF4-FFF2-40B4-BE49-F238E27FC236}">
                <a16:creationId xmlns:a16="http://schemas.microsoft.com/office/drawing/2014/main" id="{A3D5EFFC-E1CD-2D44-850E-2247FFA45323}"/>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56</a:t>
            </a:fld>
            <a:endParaRPr lang="zh-CN" altLang="en-US"/>
          </a:p>
        </p:txBody>
      </p:sp>
      <p:sp>
        <p:nvSpPr>
          <p:cNvPr id="8" name="页脚占位符 4">
            <a:extLst>
              <a:ext uri="{FF2B5EF4-FFF2-40B4-BE49-F238E27FC236}">
                <a16:creationId xmlns:a16="http://schemas.microsoft.com/office/drawing/2014/main" id="{0E983CA9-7959-114B-B2B7-BAA471A43DB8}"/>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0120707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97DB37-CCE4-604C-AE0F-785CD79BFEC0}"/>
              </a:ext>
            </a:extLst>
          </p:cNvPr>
          <p:cNvSpPr>
            <a:spLocks noGrp="1"/>
          </p:cNvSpPr>
          <p:nvPr>
            <p:ph type="title"/>
          </p:nvPr>
        </p:nvSpPr>
        <p:spPr/>
        <p:txBody>
          <a:bodyPr>
            <a:normAutofit/>
          </a:bodyPr>
          <a:lstStyle/>
          <a:p>
            <a:r>
              <a:rPr kumimoji="1" lang="zh-CN" altLang="en-US" sz="3200" dirty="0"/>
              <a:t>挑战：如何保证越来越复杂系统的安全</a:t>
            </a:r>
          </a:p>
        </p:txBody>
      </p:sp>
      <p:sp>
        <p:nvSpPr>
          <p:cNvPr id="4" name="灯片编号占位符 3">
            <a:extLst>
              <a:ext uri="{FF2B5EF4-FFF2-40B4-BE49-F238E27FC236}">
                <a16:creationId xmlns:a16="http://schemas.microsoft.com/office/drawing/2014/main" id="{EC788EE9-F0B8-8544-9F84-523721757547}"/>
              </a:ext>
            </a:extLst>
          </p:cNvPr>
          <p:cNvSpPr>
            <a:spLocks noGrp="1"/>
          </p:cNvSpPr>
          <p:nvPr>
            <p:ph type="sldNum" sz="quarter" idx="12"/>
          </p:nvPr>
        </p:nvSpPr>
        <p:spPr/>
        <p:txBody>
          <a:bodyPr/>
          <a:lstStyle/>
          <a:p>
            <a:fld id="{ADE361C3-C043-4A6E-BDCE-8DA1E7D90A3B}" type="slidenum">
              <a:rPr lang="zh-CN" altLang="en-US" smtClean="0"/>
              <a:t>57</a:t>
            </a:fld>
            <a:endParaRPr lang="zh-CN" altLang="en-US"/>
          </a:p>
        </p:txBody>
      </p:sp>
      <p:grpSp>
        <p:nvGrpSpPr>
          <p:cNvPr id="3" name="组合 2">
            <a:extLst>
              <a:ext uri="{FF2B5EF4-FFF2-40B4-BE49-F238E27FC236}">
                <a16:creationId xmlns:a16="http://schemas.microsoft.com/office/drawing/2014/main" id="{1B826011-2AAB-F04A-A258-AECE585B5E94}"/>
              </a:ext>
            </a:extLst>
          </p:cNvPr>
          <p:cNvGrpSpPr/>
          <p:nvPr/>
        </p:nvGrpSpPr>
        <p:grpSpPr>
          <a:xfrm>
            <a:off x="1691680" y="2281436"/>
            <a:ext cx="6853827" cy="2922840"/>
            <a:chOff x="971600" y="1360588"/>
            <a:chExt cx="8077963" cy="4131720"/>
          </a:xfrm>
        </p:grpSpPr>
        <p:sp>
          <p:nvSpPr>
            <p:cNvPr id="5" name="矩形 4">
              <a:extLst>
                <a:ext uri="{FF2B5EF4-FFF2-40B4-BE49-F238E27FC236}">
                  <a16:creationId xmlns:a16="http://schemas.microsoft.com/office/drawing/2014/main" id="{3BE5796E-370E-6343-B1F4-F8A82F707842}"/>
                </a:ext>
              </a:extLst>
            </p:cNvPr>
            <p:cNvSpPr/>
            <p:nvPr/>
          </p:nvSpPr>
          <p:spPr>
            <a:xfrm>
              <a:off x="971600" y="4873033"/>
              <a:ext cx="6912768" cy="5760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zh-CN" altLang="en-US" dirty="0"/>
                <a:t>硬件</a:t>
              </a:r>
            </a:p>
          </p:txBody>
        </p:sp>
        <p:sp>
          <p:nvSpPr>
            <p:cNvPr id="6" name="矩形 5">
              <a:extLst>
                <a:ext uri="{FF2B5EF4-FFF2-40B4-BE49-F238E27FC236}">
                  <a16:creationId xmlns:a16="http://schemas.microsoft.com/office/drawing/2014/main" id="{81AB199B-FAAB-4341-9F9F-BA951776AFC6}"/>
                </a:ext>
              </a:extLst>
            </p:cNvPr>
            <p:cNvSpPr/>
            <p:nvPr/>
          </p:nvSpPr>
          <p:spPr>
            <a:xfrm>
              <a:off x="971600" y="3830661"/>
              <a:ext cx="6912768" cy="90044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dirty="0"/>
                <a:t>虚拟机监控器</a:t>
              </a:r>
            </a:p>
          </p:txBody>
        </p:sp>
        <p:sp>
          <p:nvSpPr>
            <p:cNvPr id="7" name="矩形 6">
              <a:extLst>
                <a:ext uri="{FF2B5EF4-FFF2-40B4-BE49-F238E27FC236}">
                  <a16:creationId xmlns:a16="http://schemas.microsoft.com/office/drawing/2014/main" id="{A4227CFE-F208-D84E-963B-94FB8D2DC020}"/>
                </a:ext>
              </a:extLst>
            </p:cNvPr>
            <p:cNvSpPr/>
            <p:nvPr/>
          </p:nvSpPr>
          <p:spPr>
            <a:xfrm>
              <a:off x="1187624" y="1360588"/>
              <a:ext cx="2880320" cy="233319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41283154-3DA1-1146-8592-B1316CD6F0D5}"/>
                </a:ext>
              </a:extLst>
            </p:cNvPr>
            <p:cNvSpPr/>
            <p:nvPr/>
          </p:nvSpPr>
          <p:spPr>
            <a:xfrm>
              <a:off x="4739680" y="1360588"/>
              <a:ext cx="2880320" cy="233319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9" name="矩形 8">
              <a:extLst>
                <a:ext uri="{FF2B5EF4-FFF2-40B4-BE49-F238E27FC236}">
                  <a16:creationId xmlns:a16="http://schemas.microsoft.com/office/drawing/2014/main" id="{AFC8BCF1-DC58-6043-B1FB-2698B65FB7A9}"/>
                </a:ext>
              </a:extLst>
            </p:cNvPr>
            <p:cNvSpPr/>
            <p:nvPr/>
          </p:nvSpPr>
          <p:spPr>
            <a:xfrm>
              <a:off x="1331640" y="2641476"/>
              <a:ext cx="2592288"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dirty="0"/>
                <a:t>操作系统</a:t>
              </a:r>
            </a:p>
          </p:txBody>
        </p:sp>
        <p:sp>
          <p:nvSpPr>
            <p:cNvPr id="10" name="矩形 9">
              <a:extLst>
                <a:ext uri="{FF2B5EF4-FFF2-40B4-BE49-F238E27FC236}">
                  <a16:creationId xmlns:a16="http://schemas.microsoft.com/office/drawing/2014/main" id="{C171351A-4904-2649-A04E-817D5A5E7800}"/>
                </a:ext>
              </a:extLst>
            </p:cNvPr>
            <p:cNvSpPr/>
            <p:nvPr/>
          </p:nvSpPr>
          <p:spPr>
            <a:xfrm>
              <a:off x="1403648" y="1552428"/>
              <a:ext cx="1080120" cy="9658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dirty="0"/>
                <a:t>应用</a:t>
              </a:r>
            </a:p>
          </p:txBody>
        </p:sp>
        <p:sp>
          <p:nvSpPr>
            <p:cNvPr id="11" name="矩形 10">
              <a:extLst>
                <a:ext uri="{FF2B5EF4-FFF2-40B4-BE49-F238E27FC236}">
                  <a16:creationId xmlns:a16="http://schemas.microsoft.com/office/drawing/2014/main" id="{85176983-AFE7-1346-BAC5-03BC3BCD9B33}"/>
                </a:ext>
              </a:extLst>
            </p:cNvPr>
            <p:cNvSpPr/>
            <p:nvPr/>
          </p:nvSpPr>
          <p:spPr>
            <a:xfrm>
              <a:off x="2735796" y="1552428"/>
              <a:ext cx="1080120" cy="9658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dirty="0"/>
                <a:t>应用</a:t>
              </a:r>
            </a:p>
          </p:txBody>
        </p:sp>
        <p:sp>
          <p:nvSpPr>
            <p:cNvPr id="12" name="矩形 11">
              <a:extLst>
                <a:ext uri="{FF2B5EF4-FFF2-40B4-BE49-F238E27FC236}">
                  <a16:creationId xmlns:a16="http://schemas.microsoft.com/office/drawing/2014/main" id="{BCD8CA0B-A8C6-2340-8724-BCB64C3D8C2C}"/>
                </a:ext>
              </a:extLst>
            </p:cNvPr>
            <p:cNvSpPr/>
            <p:nvPr/>
          </p:nvSpPr>
          <p:spPr>
            <a:xfrm>
              <a:off x="4896036" y="2641476"/>
              <a:ext cx="2592288" cy="93610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dirty="0"/>
                <a:t>操作系统</a:t>
              </a:r>
            </a:p>
          </p:txBody>
        </p:sp>
        <p:sp>
          <p:nvSpPr>
            <p:cNvPr id="13" name="矩形 12">
              <a:extLst>
                <a:ext uri="{FF2B5EF4-FFF2-40B4-BE49-F238E27FC236}">
                  <a16:creationId xmlns:a16="http://schemas.microsoft.com/office/drawing/2014/main" id="{E588C536-CEDA-D04E-BC94-DE35CAE39FB2}"/>
                </a:ext>
              </a:extLst>
            </p:cNvPr>
            <p:cNvSpPr/>
            <p:nvPr/>
          </p:nvSpPr>
          <p:spPr>
            <a:xfrm>
              <a:off x="4968044" y="1552428"/>
              <a:ext cx="1080120" cy="9658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dirty="0"/>
                <a:t>应用</a:t>
              </a:r>
            </a:p>
          </p:txBody>
        </p:sp>
        <p:sp>
          <p:nvSpPr>
            <p:cNvPr id="14" name="矩形 13">
              <a:extLst>
                <a:ext uri="{FF2B5EF4-FFF2-40B4-BE49-F238E27FC236}">
                  <a16:creationId xmlns:a16="http://schemas.microsoft.com/office/drawing/2014/main" id="{D1734F41-458B-DC4E-AD2A-00089703ACC3}"/>
                </a:ext>
              </a:extLst>
            </p:cNvPr>
            <p:cNvSpPr/>
            <p:nvPr/>
          </p:nvSpPr>
          <p:spPr>
            <a:xfrm>
              <a:off x="6300192" y="1552428"/>
              <a:ext cx="1080120" cy="9658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dirty="0"/>
                <a:t>应用</a:t>
              </a:r>
            </a:p>
          </p:txBody>
        </p:sp>
        <p:pic>
          <p:nvPicPr>
            <p:cNvPr id="18" name="图片 17">
              <a:extLst>
                <a:ext uri="{FF2B5EF4-FFF2-40B4-BE49-F238E27FC236}">
                  <a16:creationId xmlns:a16="http://schemas.microsoft.com/office/drawing/2014/main" id="{88D1E1CE-ABED-944E-8862-6F107F785EE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443620" y="1793430"/>
              <a:ext cx="624324" cy="624324"/>
            </a:xfrm>
            <a:prstGeom prst="rect">
              <a:avLst/>
            </a:prstGeom>
          </p:spPr>
        </p:pic>
        <p:pic>
          <p:nvPicPr>
            <p:cNvPr id="19" name="图片 18">
              <a:extLst>
                <a:ext uri="{FF2B5EF4-FFF2-40B4-BE49-F238E27FC236}">
                  <a16:creationId xmlns:a16="http://schemas.microsoft.com/office/drawing/2014/main" id="{0ADF9D5F-AB65-0643-928B-694DEE61040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131458" y="2807546"/>
              <a:ext cx="624324" cy="624324"/>
            </a:xfrm>
            <a:prstGeom prst="rect">
              <a:avLst/>
            </a:prstGeom>
          </p:spPr>
        </p:pic>
        <p:pic>
          <p:nvPicPr>
            <p:cNvPr id="20" name="图片 19">
              <a:extLst>
                <a:ext uri="{FF2B5EF4-FFF2-40B4-BE49-F238E27FC236}">
                  <a16:creationId xmlns:a16="http://schemas.microsoft.com/office/drawing/2014/main" id="{9B5AD47C-9CD3-0749-AE9E-F9C869F4AD8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48064" y="3968720"/>
              <a:ext cx="624324" cy="624324"/>
            </a:xfrm>
            <a:prstGeom prst="rect">
              <a:avLst/>
            </a:prstGeom>
          </p:spPr>
        </p:pic>
        <p:pic>
          <p:nvPicPr>
            <p:cNvPr id="21" name="图片 20">
              <a:extLst>
                <a:ext uri="{FF2B5EF4-FFF2-40B4-BE49-F238E27FC236}">
                  <a16:creationId xmlns:a16="http://schemas.microsoft.com/office/drawing/2014/main" id="{7031CD67-40AF-544B-8B64-6744463250D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41343" y="4867984"/>
              <a:ext cx="624324" cy="624324"/>
            </a:xfrm>
            <a:prstGeom prst="rect">
              <a:avLst/>
            </a:prstGeom>
          </p:spPr>
        </p:pic>
        <p:pic>
          <p:nvPicPr>
            <p:cNvPr id="23" name="图片 22">
              <a:extLst>
                <a:ext uri="{FF2B5EF4-FFF2-40B4-BE49-F238E27FC236}">
                  <a16:creationId xmlns:a16="http://schemas.microsoft.com/office/drawing/2014/main" id="{8ECCBFAB-FEBC-BE40-AA45-5D96DCD147F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202209" y="3127057"/>
              <a:ext cx="812800" cy="812800"/>
            </a:xfrm>
            <a:prstGeom prst="rect">
              <a:avLst/>
            </a:prstGeom>
          </p:spPr>
        </p:pic>
        <p:sp>
          <p:nvSpPr>
            <p:cNvPr id="24" name="文本框 23">
              <a:extLst>
                <a:ext uri="{FF2B5EF4-FFF2-40B4-BE49-F238E27FC236}">
                  <a16:creationId xmlns:a16="http://schemas.microsoft.com/office/drawing/2014/main" id="{2841F945-9C36-3248-BD61-94AF06392EB0}"/>
                </a:ext>
              </a:extLst>
            </p:cNvPr>
            <p:cNvSpPr txBox="1"/>
            <p:nvPr/>
          </p:nvSpPr>
          <p:spPr>
            <a:xfrm>
              <a:off x="8172400" y="3907742"/>
              <a:ext cx="877163" cy="369332"/>
            </a:xfrm>
            <a:prstGeom prst="rect">
              <a:avLst/>
            </a:prstGeom>
            <a:noFill/>
          </p:spPr>
          <p:txBody>
            <a:bodyPr wrap="none" rtlCol="0">
              <a:spAutoFit/>
            </a:bodyPr>
            <a:lstStyle/>
            <a:p>
              <a:r>
                <a:rPr kumimoji="1" lang="zh-CN" altLang="en-US" dirty="0"/>
                <a:t>管理员</a:t>
              </a:r>
            </a:p>
          </p:txBody>
        </p:sp>
        <p:pic>
          <p:nvPicPr>
            <p:cNvPr id="25" name="图片 24">
              <a:extLst>
                <a:ext uri="{FF2B5EF4-FFF2-40B4-BE49-F238E27FC236}">
                  <a16:creationId xmlns:a16="http://schemas.microsoft.com/office/drawing/2014/main" id="{A18B90A3-6FF6-C84B-B34B-E84366395A0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156" y="3051062"/>
              <a:ext cx="624324" cy="624324"/>
            </a:xfrm>
            <a:prstGeom prst="rect">
              <a:avLst/>
            </a:prstGeom>
          </p:spPr>
        </p:pic>
      </p:grpSp>
      <p:sp>
        <p:nvSpPr>
          <p:cNvPr id="15" name="文本框 14">
            <a:extLst>
              <a:ext uri="{FF2B5EF4-FFF2-40B4-BE49-F238E27FC236}">
                <a16:creationId xmlns:a16="http://schemas.microsoft.com/office/drawing/2014/main" id="{CE7EDA45-C45B-8644-8969-43D9AEE3B3CB}"/>
              </a:ext>
            </a:extLst>
          </p:cNvPr>
          <p:cNvSpPr txBox="1"/>
          <p:nvPr/>
        </p:nvSpPr>
        <p:spPr>
          <a:xfrm>
            <a:off x="463016" y="1318547"/>
            <a:ext cx="8082491" cy="400110"/>
          </a:xfrm>
          <a:prstGeom prst="rect">
            <a:avLst/>
          </a:prstGeom>
          <a:noFill/>
        </p:spPr>
        <p:txBody>
          <a:bodyPr wrap="square" rtlCol="0">
            <a:spAutoFit/>
          </a:bodyPr>
          <a:lstStyle/>
          <a:p>
            <a:r>
              <a:rPr kumimoji="1" lang="zh-CN" altLang="en-US" sz="2000" b="1" dirty="0"/>
              <a:t>在互不信任的多用户云计算环境中，系统软件的安全性显得尤为重要</a:t>
            </a:r>
            <a:endParaRPr kumimoji="1" lang="zh-CN" altLang="en-US" sz="1600" b="1" dirty="0"/>
          </a:p>
        </p:txBody>
      </p:sp>
      <p:sp>
        <p:nvSpPr>
          <p:cNvPr id="26" name="页脚占位符 4">
            <a:extLst>
              <a:ext uri="{FF2B5EF4-FFF2-40B4-BE49-F238E27FC236}">
                <a16:creationId xmlns:a16="http://schemas.microsoft.com/office/drawing/2014/main" id="{DEDD4A1A-EE09-4C45-AEF6-A8F1DE59B914}"/>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568683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F36836-583C-EB4B-ADC7-DB8212CAA1EE}"/>
              </a:ext>
            </a:extLst>
          </p:cNvPr>
          <p:cNvSpPr>
            <a:spLocks noGrp="1"/>
          </p:cNvSpPr>
          <p:nvPr>
            <p:ph type="title"/>
          </p:nvPr>
        </p:nvSpPr>
        <p:spPr/>
        <p:txBody>
          <a:bodyPr/>
          <a:lstStyle/>
          <a:p>
            <a:r>
              <a:rPr kumimoji="1" lang="zh-CN" altLang="en-US" dirty="0">
                <a:ea typeface="微软雅黑" panose="020B0503020204020204" pitchFamily="34" charset="-122"/>
                <a:cs typeface="+mn-ea"/>
                <a:sym typeface="+mn-lt"/>
              </a:rPr>
              <a:t>系统隔离的演变：层次化到</a:t>
            </a:r>
            <a:r>
              <a:rPr kumimoji="1" lang="en-US" altLang="zh-CN" dirty="0">
                <a:ea typeface="微软雅黑" panose="020B0503020204020204" pitchFamily="34" charset="-122"/>
                <a:cs typeface="+mn-ea"/>
                <a:sym typeface="+mn-lt"/>
              </a:rPr>
              <a:t>“</a:t>
            </a:r>
            <a:r>
              <a:rPr kumimoji="1" lang="zh-CN" altLang="en-US" dirty="0">
                <a:ea typeface="微软雅黑" panose="020B0503020204020204" pitchFamily="34" charset="-122"/>
                <a:cs typeface="+mn-ea"/>
                <a:sym typeface="+mn-lt"/>
              </a:rPr>
              <a:t>九宫格</a:t>
            </a:r>
            <a:r>
              <a:rPr kumimoji="1" lang="en-US" altLang="zh-CN" dirty="0">
                <a:ea typeface="微软雅黑" panose="020B0503020204020204" pitchFamily="34" charset="-122"/>
                <a:cs typeface="+mn-ea"/>
                <a:sym typeface="+mn-lt"/>
              </a:rPr>
              <a:t>”</a:t>
            </a:r>
            <a:endParaRPr kumimoji="1" lang="zh-CN" altLang="en-US" dirty="0"/>
          </a:p>
        </p:txBody>
      </p:sp>
      <p:sp>
        <p:nvSpPr>
          <p:cNvPr id="4" name="灯片编号占位符 3">
            <a:extLst>
              <a:ext uri="{FF2B5EF4-FFF2-40B4-BE49-F238E27FC236}">
                <a16:creationId xmlns:a16="http://schemas.microsoft.com/office/drawing/2014/main" id="{C73E5BA3-C6DD-9B44-98E0-D5C638EB5EF2}"/>
              </a:ext>
            </a:extLst>
          </p:cNvPr>
          <p:cNvSpPr>
            <a:spLocks noGrp="1"/>
          </p:cNvSpPr>
          <p:nvPr>
            <p:ph type="sldNum" sz="quarter" idx="12"/>
          </p:nvPr>
        </p:nvSpPr>
        <p:spPr/>
        <p:txBody>
          <a:bodyPr/>
          <a:lstStyle/>
          <a:p>
            <a:fld id="{ADE361C3-C043-4A6E-BDCE-8DA1E7D90A3B}" type="slidenum">
              <a:rPr lang="zh-CN" altLang="en-US" smtClean="0"/>
              <a:t>58</a:t>
            </a:fld>
            <a:endParaRPr lang="zh-CN" altLang="en-US"/>
          </a:p>
        </p:txBody>
      </p:sp>
      <p:pic>
        <p:nvPicPr>
          <p:cNvPr id="7" name="图片 6">
            <a:extLst>
              <a:ext uri="{FF2B5EF4-FFF2-40B4-BE49-F238E27FC236}">
                <a16:creationId xmlns:a16="http://schemas.microsoft.com/office/drawing/2014/main" id="{6E5E5AAB-8BE2-BF4D-A98F-B79AF311D0E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12160" y="1466007"/>
            <a:ext cx="2905198" cy="2026315"/>
          </a:xfrm>
          <a:prstGeom prst="rect">
            <a:avLst/>
          </a:prstGeom>
        </p:spPr>
      </p:pic>
      <p:pic>
        <p:nvPicPr>
          <p:cNvPr id="8" name="图片 7">
            <a:extLst>
              <a:ext uri="{FF2B5EF4-FFF2-40B4-BE49-F238E27FC236}">
                <a16:creationId xmlns:a16="http://schemas.microsoft.com/office/drawing/2014/main" id="{E59E191F-ADA7-DA45-BB74-739588FCAEE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23928" y="1543388"/>
            <a:ext cx="1640572" cy="2026316"/>
          </a:xfrm>
          <a:prstGeom prst="rect">
            <a:avLst/>
          </a:prstGeom>
        </p:spPr>
      </p:pic>
      <p:sp>
        <p:nvSpPr>
          <p:cNvPr id="9" name="文本框 8">
            <a:extLst>
              <a:ext uri="{FF2B5EF4-FFF2-40B4-BE49-F238E27FC236}">
                <a16:creationId xmlns:a16="http://schemas.microsoft.com/office/drawing/2014/main" id="{4F3283E6-7973-364C-B152-2F4CED0C0C93}"/>
              </a:ext>
            </a:extLst>
          </p:cNvPr>
          <p:cNvSpPr txBox="1"/>
          <p:nvPr/>
        </p:nvSpPr>
        <p:spPr>
          <a:xfrm>
            <a:off x="438748" y="3827011"/>
            <a:ext cx="2807053" cy="1046312"/>
          </a:xfrm>
          <a:prstGeom prst="rect">
            <a:avLst/>
          </a:prstGeom>
          <a:noFill/>
        </p:spPr>
        <p:txBody>
          <a:bodyPr wrap="square" rtlCol="0">
            <a:spAutoFit/>
          </a:bodyPr>
          <a:lstStyle/>
          <a:p>
            <a:pPr marL="257175" indent="-257175" algn="just">
              <a:lnSpc>
                <a:spcPct val="130000"/>
              </a:lnSpc>
              <a:spcBef>
                <a:spcPts val="1080"/>
              </a:spcBef>
              <a:buFont typeface="Arial" panose="020B0604020202020204" pitchFamily="34" charset="0"/>
              <a:buChar char="•"/>
            </a:pPr>
            <a:r>
              <a:rPr lang="zh-CN" altLang="en-US" sz="1400" dirty="0">
                <a:solidFill>
                  <a:schemeClr val="tx1">
                    <a:lumMod val="75000"/>
                    <a:lumOff val="25000"/>
                  </a:schemeClr>
                </a:solidFill>
                <a:latin typeface="+mn-ea"/>
              </a:rPr>
              <a:t>自底向上权限由高到低，信任同样由高到低，隔离面为</a:t>
            </a:r>
            <a:r>
              <a:rPr lang="zh-CN" altLang="en-US" sz="1400" b="1" dirty="0">
                <a:solidFill>
                  <a:schemeClr val="accent1"/>
                </a:solidFill>
                <a:latin typeface="+mn-ea"/>
              </a:rPr>
              <a:t>单向</a:t>
            </a:r>
            <a:endParaRPr lang="en-US" altLang="zh-CN" sz="1400" dirty="0">
              <a:solidFill>
                <a:schemeClr val="accent1"/>
              </a:solidFill>
              <a:latin typeface="+mn-ea"/>
            </a:endParaRPr>
          </a:p>
          <a:p>
            <a:pPr marL="257175" indent="-257175" algn="just">
              <a:lnSpc>
                <a:spcPct val="130000"/>
              </a:lnSpc>
              <a:spcBef>
                <a:spcPts val="1080"/>
              </a:spcBef>
              <a:buFont typeface="Arial" panose="020B0604020202020204" pitchFamily="34" charset="0"/>
              <a:buChar char="•"/>
            </a:pPr>
            <a:r>
              <a:rPr lang="zh-CN" altLang="en-US" sz="1400" dirty="0">
                <a:solidFill>
                  <a:schemeClr val="tx1">
                    <a:lumMod val="75000"/>
                    <a:lumOff val="25000"/>
                  </a:schemeClr>
                </a:solidFill>
                <a:latin typeface="+mn-ea"/>
              </a:rPr>
              <a:t>越底层，漏洞危害越大</a:t>
            </a:r>
            <a:endParaRPr lang="en-US" altLang="zh-CN" sz="1400" dirty="0">
              <a:solidFill>
                <a:schemeClr val="tx1">
                  <a:lumMod val="75000"/>
                  <a:lumOff val="25000"/>
                </a:schemeClr>
              </a:solidFill>
              <a:latin typeface="+mn-ea"/>
            </a:endParaRPr>
          </a:p>
        </p:txBody>
      </p:sp>
      <p:pic>
        <p:nvPicPr>
          <p:cNvPr id="10" name="图片 9">
            <a:extLst>
              <a:ext uri="{FF2B5EF4-FFF2-40B4-BE49-F238E27FC236}">
                <a16:creationId xmlns:a16="http://schemas.microsoft.com/office/drawing/2014/main" id="{D0D68E41-B4A1-374E-8C33-5F0020C38F6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31272" y="1543388"/>
            <a:ext cx="2557474" cy="2051814"/>
          </a:xfrm>
          <a:prstGeom prst="rect">
            <a:avLst/>
          </a:prstGeom>
        </p:spPr>
      </p:pic>
      <p:sp>
        <p:nvSpPr>
          <p:cNvPr id="11" name="文本框 10">
            <a:extLst>
              <a:ext uri="{FF2B5EF4-FFF2-40B4-BE49-F238E27FC236}">
                <a16:creationId xmlns:a16="http://schemas.microsoft.com/office/drawing/2014/main" id="{86848554-634C-5746-A0E0-9D6611757367}"/>
              </a:ext>
            </a:extLst>
          </p:cNvPr>
          <p:cNvSpPr txBox="1"/>
          <p:nvPr/>
        </p:nvSpPr>
        <p:spPr>
          <a:xfrm>
            <a:off x="3635896" y="3827011"/>
            <a:ext cx="2448272" cy="1046312"/>
          </a:xfrm>
          <a:prstGeom prst="rect">
            <a:avLst/>
          </a:prstGeom>
          <a:noFill/>
        </p:spPr>
        <p:txBody>
          <a:bodyPr wrap="square" rtlCol="0">
            <a:spAutoFit/>
          </a:bodyPr>
          <a:lstStyle/>
          <a:p>
            <a:pPr marL="257175" indent="-257175" algn="just">
              <a:lnSpc>
                <a:spcPct val="130000"/>
              </a:lnSpc>
              <a:spcBef>
                <a:spcPts val="1080"/>
              </a:spcBef>
              <a:buFont typeface="Arial" panose="020B0604020202020204" pitchFamily="34" charset="0"/>
              <a:buChar char="•"/>
            </a:pPr>
            <a:r>
              <a:rPr lang="zh-CN" altLang="en-US" sz="1400" dirty="0">
                <a:solidFill>
                  <a:schemeClr val="tx1">
                    <a:lumMod val="75000"/>
                    <a:lumOff val="25000"/>
                  </a:schemeClr>
                </a:solidFill>
                <a:latin typeface="+mn-ea"/>
              </a:rPr>
              <a:t>隔离面由</a:t>
            </a:r>
            <a:r>
              <a:rPr lang="zh-CN" altLang="en-US" sz="1400" b="1" dirty="0">
                <a:solidFill>
                  <a:schemeClr val="accent1"/>
                </a:solidFill>
                <a:latin typeface="+mn-ea"/>
              </a:rPr>
              <a:t>单向变为双向</a:t>
            </a:r>
            <a:r>
              <a:rPr lang="zh-CN" altLang="en-US" sz="1400" dirty="0">
                <a:solidFill>
                  <a:schemeClr val="tx1">
                    <a:lumMod val="75000"/>
                    <a:lumOff val="25000"/>
                  </a:schemeClr>
                </a:solidFill>
                <a:latin typeface="+mn-ea"/>
              </a:rPr>
              <a:t>，信任与权限解耦</a:t>
            </a:r>
            <a:endParaRPr lang="en-US" altLang="zh-CN" sz="1400" dirty="0">
              <a:solidFill>
                <a:schemeClr val="tx1">
                  <a:lumMod val="75000"/>
                  <a:lumOff val="25000"/>
                </a:schemeClr>
              </a:solidFill>
              <a:latin typeface="+mn-ea"/>
            </a:endParaRPr>
          </a:p>
          <a:p>
            <a:pPr marL="257175" indent="-257175" algn="just">
              <a:lnSpc>
                <a:spcPct val="130000"/>
              </a:lnSpc>
              <a:spcBef>
                <a:spcPts val="1080"/>
              </a:spcBef>
              <a:buFont typeface="Arial" panose="020B0604020202020204" pitchFamily="34" charset="0"/>
              <a:buChar char="•"/>
            </a:pPr>
            <a:r>
              <a:rPr lang="zh-CN" altLang="en-US" sz="1400" dirty="0">
                <a:solidFill>
                  <a:schemeClr val="tx1">
                    <a:lumMod val="75000"/>
                    <a:lumOff val="25000"/>
                  </a:schemeClr>
                </a:solidFill>
                <a:latin typeface="+mn-ea"/>
              </a:rPr>
              <a:t>每层内部</a:t>
            </a:r>
            <a:r>
              <a:rPr lang="zh-CN" altLang="en-US" sz="1400" b="1" dirty="0">
                <a:solidFill>
                  <a:schemeClr val="accent1"/>
                </a:solidFill>
                <a:latin typeface="+mn-ea"/>
              </a:rPr>
              <a:t>细粒度隔离</a:t>
            </a:r>
            <a:endParaRPr lang="en-US" altLang="zh-CN" sz="1400" b="1" dirty="0">
              <a:solidFill>
                <a:schemeClr val="accent1"/>
              </a:solidFill>
              <a:latin typeface="+mn-ea"/>
            </a:endParaRPr>
          </a:p>
        </p:txBody>
      </p:sp>
      <p:sp>
        <p:nvSpPr>
          <p:cNvPr id="12" name="文本框 11">
            <a:extLst>
              <a:ext uri="{FF2B5EF4-FFF2-40B4-BE49-F238E27FC236}">
                <a16:creationId xmlns:a16="http://schemas.microsoft.com/office/drawing/2014/main" id="{FFB2B2EA-5279-AF45-91DE-950A16CB1EA8}"/>
              </a:ext>
            </a:extLst>
          </p:cNvPr>
          <p:cNvSpPr txBox="1"/>
          <p:nvPr/>
        </p:nvSpPr>
        <p:spPr>
          <a:xfrm>
            <a:off x="6228185" y="3827011"/>
            <a:ext cx="2592288" cy="1046312"/>
          </a:xfrm>
          <a:prstGeom prst="rect">
            <a:avLst/>
          </a:prstGeom>
          <a:noFill/>
        </p:spPr>
        <p:txBody>
          <a:bodyPr wrap="square" rtlCol="0">
            <a:spAutoFit/>
          </a:bodyPr>
          <a:lstStyle/>
          <a:p>
            <a:pPr marL="257175" indent="-257175">
              <a:lnSpc>
                <a:spcPct val="130000"/>
              </a:lnSpc>
              <a:spcBef>
                <a:spcPts val="1080"/>
              </a:spcBef>
              <a:buFont typeface="Arial" panose="020B0604020202020204" pitchFamily="34" charset="0"/>
              <a:buChar char="•"/>
            </a:pPr>
            <a:r>
              <a:rPr lang="zh-CN" altLang="en-US" sz="1400" b="1" dirty="0">
                <a:solidFill>
                  <a:schemeClr val="accent1"/>
                </a:solidFill>
                <a:latin typeface="+mn-ea"/>
              </a:rPr>
              <a:t>隔离支撑模块</a:t>
            </a:r>
            <a:r>
              <a:rPr lang="zh-CN" altLang="en-US" sz="1400" dirty="0">
                <a:solidFill>
                  <a:schemeClr val="tx1">
                    <a:lumMod val="75000"/>
                    <a:lumOff val="25000"/>
                  </a:schemeClr>
                </a:solidFill>
                <a:latin typeface="+mn-ea"/>
              </a:rPr>
              <a:t>：硬件原语支持更高层次语义</a:t>
            </a:r>
            <a:endParaRPr lang="en-US" altLang="zh-CN" sz="1400" dirty="0">
              <a:solidFill>
                <a:schemeClr val="tx1">
                  <a:lumMod val="75000"/>
                  <a:lumOff val="25000"/>
                </a:schemeClr>
              </a:solidFill>
              <a:latin typeface="+mn-ea"/>
            </a:endParaRPr>
          </a:p>
          <a:p>
            <a:pPr marL="257175" indent="-257175">
              <a:lnSpc>
                <a:spcPct val="130000"/>
              </a:lnSpc>
              <a:spcBef>
                <a:spcPts val="1080"/>
              </a:spcBef>
              <a:buFont typeface="Arial" panose="020B0604020202020204" pitchFamily="34" charset="0"/>
              <a:buChar char="•"/>
            </a:pPr>
            <a:r>
              <a:rPr lang="zh-CN" altLang="en-US" sz="1400" b="1" dirty="0">
                <a:solidFill>
                  <a:schemeClr val="accent1"/>
                </a:solidFill>
                <a:highlight>
                  <a:srgbClr val="FFFF00"/>
                </a:highlight>
                <a:latin typeface="+mn-ea"/>
              </a:rPr>
              <a:t>软硬结合成为趋势</a:t>
            </a:r>
            <a:endParaRPr lang="en-US" altLang="zh-CN" sz="1400" dirty="0">
              <a:solidFill>
                <a:schemeClr val="tx1">
                  <a:lumMod val="75000"/>
                  <a:lumOff val="25000"/>
                </a:schemeClr>
              </a:solidFill>
              <a:highlight>
                <a:srgbClr val="FFFF00"/>
              </a:highlight>
              <a:latin typeface="+mn-ea"/>
            </a:endParaRPr>
          </a:p>
        </p:txBody>
      </p:sp>
      <p:grpSp>
        <p:nvGrpSpPr>
          <p:cNvPr id="17" name="组合 16">
            <a:extLst>
              <a:ext uri="{FF2B5EF4-FFF2-40B4-BE49-F238E27FC236}">
                <a16:creationId xmlns:a16="http://schemas.microsoft.com/office/drawing/2014/main" id="{63F9A5FF-4493-A74F-BDC3-5E6342595F3F}"/>
              </a:ext>
            </a:extLst>
          </p:cNvPr>
          <p:cNvGrpSpPr/>
          <p:nvPr/>
        </p:nvGrpSpPr>
        <p:grpSpPr>
          <a:xfrm>
            <a:off x="8100394" y="4222762"/>
            <a:ext cx="864097" cy="864096"/>
            <a:chOff x="4143243" y="4177013"/>
            <a:chExt cx="864097" cy="864096"/>
          </a:xfrm>
        </p:grpSpPr>
        <p:sp>
          <p:nvSpPr>
            <p:cNvPr id="18" name="环形箭头 17">
              <a:extLst>
                <a:ext uri="{FF2B5EF4-FFF2-40B4-BE49-F238E27FC236}">
                  <a16:creationId xmlns:a16="http://schemas.microsoft.com/office/drawing/2014/main" id="{D11B7F5F-C76A-704B-9D61-9AD6A5E12038}"/>
                </a:ext>
              </a:extLst>
            </p:cNvPr>
            <p:cNvSpPr/>
            <p:nvPr/>
          </p:nvSpPr>
          <p:spPr>
            <a:xfrm>
              <a:off x="4143244" y="4177013"/>
              <a:ext cx="864096" cy="864096"/>
            </a:xfrm>
            <a:prstGeom prst="circularArrow">
              <a:avLst>
                <a:gd name="adj1" fmla="val 6808"/>
                <a:gd name="adj2" fmla="val 1142319"/>
                <a:gd name="adj3" fmla="val 20427483"/>
                <a:gd name="adj4" fmla="val 10800000"/>
                <a:gd name="adj5" fmla="val 125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
          <p:nvSpPr>
            <p:cNvPr id="19" name="环形箭头 18">
              <a:extLst>
                <a:ext uri="{FF2B5EF4-FFF2-40B4-BE49-F238E27FC236}">
                  <a16:creationId xmlns:a16="http://schemas.microsoft.com/office/drawing/2014/main" id="{CCAC8CB6-CF23-1942-B67B-AC1E2320C127}"/>
                </a:ext>
              </a:extLst>
            </p:cNvPr>
            <p:cNvSpPr/>
            <p:nvPr/>
          </p:nvSpPr>
          <p:spPr>
            <a:xfrm rot="10800000">
              <a:off x="4143243" y="4183595"/>
              <a:ext cx="857513" cy="857513"/>
            </a:xfrm>
            <a:prstGeom prst="circularArrow">
              <a:avLst>
                <a:gd name="adj1" fmla="val 6979"/>
                <a:gd name="adj2" fmla="val 1142319"/>
                <a:gd name="adj3" fmla="val 20396852"/>
                <a:gd name="adj4" fmla="val 10800000"/>
                <a:gd name="adj5" fmla="val 125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
          <p:nvSpPr>
            <p:cNvPr id="20" name="矩形 19">
              <a:extLst>
                <a:ext uri="{FF2B5EF4-FFF2-40B4-BE49-F238E27FC236}">
                  <a16:creationId xmlns:a16="http://schemas.microsoft.com/office/drawing/2014/main" id="{751ED6DA-D073-C046-BD0E-D97C5BDCE02E}"/>
                </a:ext>
              </a:extLst>
            </p:cNvPr>
            <p:cNvSpPr/>
            <p:nvPr/>
          </p:nvSpPr>
          <p:spPr>
            <a:xfrm>
              <a:off x="4325778" y="4370372"/>
              <a:ext cx="492443" cy="461665"/>
            </a:xfrm>
            <a:prstGeom prst="rect">
              <a:avLst/>
            </a:prstGeom>
          </p:spPr>
          <p:txBody>
            <a:bodyPr wrap="none">
              <a:spAutoFit/>
            </a:bodyPr>
            <a:lstStyle/>
            <a:p>
              <a:r>
                <a:rPr kumimoji="1" lang="zh-CN" altLang="en-US" sz="1200" b="1" dirty="0">
                  <a:solidFill>
                    <a:schemeClr val="accent1"/>
                  </a:solidFill>
                  <a:latin typeface="微软雅黑" panose="020B0503020204020204" pitchFamily="34" charset="-122"/>
                  <a:ea typeface="微软雅黑" panose="020B0503020204020204" pitchFamily="34" charset="-122"/>
                </a:rPr>
                <a:t>软硬</a:t>
              </a:r>
              <a:endParaRPr kumimoji="1" lang="en-US" altLang="zh-CN" sz="1200" b="1" dirty="0">
                <a:solidFill>
                  <a:schemeClr val="accent1"/>
                </a:solidFill>
                <a:latin typeface="微软雅黑" panose="020B0503020204020204" pitchFamily="34" charset="-122"/>
                <a:ea typeface="微软雅黑" panose="020B0503020204020204" pitchFamily="34" charset="-122"/>
              </a:endParaRPr>
            </a:p>
            <a:p>
              <a:r>
                <a:rPr kumimoji="1" lang="zh-CN" altLang="en-US" sz="1200" b="1" dirty="0">
                  <a:solidFill>
                    <a:schemeClr val="accent1"/>
                  </a:solidFill>
                  <a:latin typeface="微软雅黑" panose="020B0503020204020204" pitchFamily="34" charset="-122"/>
                  <a:ea typeface="微软雅黑" panose="020B0503020204020204" pitchFamily="34" charset="-122"/>
                </a:rPr>
                <a:t>协同</a:t>
              </a:r>
              <a:endParaRPr lang="zh-CN" altLang="en-US" sz="1200" b="1" dirty="0"/>
            </a:p>
          </p:txBody>
        </p:sp>
      </p:grpSp>
      <p:sp>
        <p:nvSpPr>
          <p:cNvPr id="3" name="右箭头 2">
            <a:extLst>
              <a:ext uri="{FF2B5EF4-FFF2-40B4-BE49-F238E27FC236}">
                <a16:creationId xmlns:a16="http://schemas.microsoft.com/office/drawing/2014/main" id="{4390C335-F03B-F943-9FD4-C5BC2F3EA6BF}"/>
              </a:ext>
            </a:extLst>
          </p:cNvPr>
          <p:cNvSpPr/>
          <p:nvPr/>
        </p:nvSpPr>
        <p:spPr>
          <a:xfrm>
            <a:off x="3419872" y="2569468"/>
            <a:ext cx="288032" cy="36004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9548847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FC5669-865A-5249-8877-7F0AF1793B6E}"/>
              </a:ext>
            </a:extLst>
          </p:cNvPr>
          <p:cNvSpPr>
            <a:spLocks noGrp="1"/>
          </p:cNvSpPr>
          <p:nvPr>
            <p:ph type="title"/>
          </p:nvPr>
        </p:nvSpPr>
        <p:spPr/>
        <p:txBody>
          <a:bodyPr>
            <a:normAutofit/>
          </a:bodyPr>
          <a:lstStyle/>
          <a:p>
            <a:r>
              <a:rPr kumimoji="1" lang="zh-CN" altLang="en-US" dirty="0"/>
              <a:t>操作系统安全隔离的其他挑战</a:t>
            </a:r>
          </a:p>
        </p:txBody>
      </p:sp>
      <p:sp>
        <p:nvSpPr>
          <p:cNvPr id="3" name="内容占位符 2">
            <a:extLst>
              <a:ext uri="{FF2B5EF4-FFF2-40B4-BE49-F238E27FC236}">
                <a16:creationId xmlns:a16="http://schemas.microsoft.com/office/drawing/2014/main" id="{0A076B1B-853F-7748-8EF4-88E5EE05E7E1}"/>
              </a:ext>
            </a:extLst>
          </p:cNvPr>
          <p:cNvSpPr>
            <a:spLocks noGrp="1"/>
          </p:cNvSpPr>
          <p:nvPr>
            <p:ph idx="1"/>
          </p:nvPr>
        </p:nvSpPr>
        <p:spPr/>
        <p:txBody>
          <a:bodyPr/>
          <a:lstStyle/>
          <a:p>
            <a:r>
              <a:rPr kumimoji="1" lang="zh-CN" altLang="en-US" dirty="0"/>
              <a:t>性能问题</a:t>
            </a:r>
            <a:endParaRPr kumimoji="1" lang="en-US" altLang="zh-CN" dirty="0"/>
          </a:p>
          <a:p>
            <a:pPr lvl="1"/>
            <a:r>
              <a:rPr kumimoji="1" lang="en-US" altLang="zh-CN" dirty="0"/>
              <a:t>SGX</a:t>
            </a:r>
            <a:r>
              <a:rPr kumimoji="1" lang="zh-CN" altLang="en-US" dirty="0"/>
              <a:t>安全内存大小受限，大内存访问性能差</a:t>
            </a:r>
            <a:endParaRPr kumimoji="1" lang="en-US" altLang="zh-CN" dirty="0"/>
          </a:p>
          <a:p>
            <a:pPr lvl="1"/>
            <a:r>
              <a:rPr kumimoji="1" lang="zh-CN" altLang="en-US" dirty="0"/>
              <a:t>启动性能、系统调用性能</a:t>
            </a:r>
            <a:r>
              <a:rPr kumimoji="1" lang="en-US" altLang="zh-CN" dirty="0"/>
              <a:t> …</a:t>
            </a:r>
          </a:p>
          <a:p>
            <a:pPr lvl="1"/>
            <a:r>
              <a:rPr kumimoji="1" lang="zh-CN" altLang="en-US" dirty="0"/>
              <a:t>研究思路：避免触发硬件安全内存换页，</a:t>
            </a:r>
            <a:r>
              <a:rPr kumimoji="1" lang="en-US" altLang="zh-CN" dirty="0" err="1"/>
              <a:t>flexSC</a:t>
            </a:r>
            <a:r>
              <a:rPr kumimoji="1" lang="en-US" altLang="zh-CN" dirty="0"/>
              <a:t> …</a:t>
            </a:r>
          </a:p>
          <a:p>
            <a:r>
              <a:rPr kumimoji="1" lang="zh-CN" altLang="en-US" dirty="0"/>
              <a:t>安全问题</a:t>
            </a:r>
            <a:endParaRPr kumimoji="1" lang="en-US" altLang="zh-CN" dirty="0"/>
          </a:p>
          <a:p>
            <a:pPr lvl="1"/>
            <a:r>
              <a:rPr kumimoji="1" lang="zh-CN" altLang="en-US" dirty="0"/>
              <a:t>攻击者使用硬件可执行环境保护恶意软件</a:t>
            </a:r>
            <a:endParaRPr kumimoji="1" lang="en-US" altLang="zh-CN" dirty="0"/>
          </a:p>
          <a:p>
            <a:pPr lvl="1"/>
            <a:r>
              <a:rPr kumimoji="1" lang="zh-CN" altLang="en-US" dirty="0"/>
              <a:t>恶意硬件与硬件漏洞</a:t>
            </a:r>
            <a:endParaRPr kumimoji="1" lang="en-US" altLang="zh-CN" dirty="0"/>
          </a:p>
          <a:p>
            <a:pPr lvl="1"/>
            <a:r>
              <a:rPr kumimoji="1" lang="zh-CN" altLang="en-US" dirty="0"/>
              <a:t>层出不穷的侧信道攻击</a:t>
            </a:r>
            <a:endParaRPr kumimoji="1" lang="en-US" altLang="zh-CN" dirty="0"/>
          </a:p>
        </p:txBody>
      </p:sp>
      <p:sp>
        <p:nvSpPr>
          <p:cNvPr id="4" name="灯片编号占位符 3">
            <a:extLst>
              <a:ext uri="{FF2B5EF4-FFF2-40B4-BE49-F238E27FC236}">
                <a16:creationId xmlns:a16="http://schemas.microsoft.com/office/drawing/2014/main" id="{97AABA81-64A4-B744-9C11-C0BDE1DEB6D9}"/>
              </a:ext>
            </a:extLst>
          </p:cNvPr>
          <p:cNvSpPr>
            <a:spLocks noGrp="1"/>
          </p:cNvSpPr>
          <p:nvPr>
            <p:ph type="sldNum" sz="quarter" idx="12"/>
          </p:nvPr>
        </p:nvSpPr>
        <p:spPr/>
        <p:txBody>
          <a:bodyPr/>
          <a:lstStyle/>
          <a:p>
            <a:fld id="{ADE361C3-C043-4A6E-BDCE-8DA1E7D90A3B}" type="slidenum">
              <a:rPr lang="zh-CN" altLang="en-US" smtClean="0"/>
              <a:t>59</a:t>
            </a:fld>
            <a:endParaRPr lang="zh-CN" altLang="en-US"/>
          </a:p>
        </p:txBody>
      </p:sp>
      <p:sp>
        <p:nvSpPr>
          <p:cNvPr id="5" name="页脚占位符 4">
            <a:extLst>
              <a:ext uri="{FF2B5EF4-FFF2-40B4-BE49-F238E27FC236}">
                <a16:creationId xmlns:a16="http://schemas.microsoft.com/office/drawing/2014/main" id="{494AA8DA-F4C7-344D-9A08-D6E461E9625A}"/>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2389387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en-US" altLang="zh-CN" dirty="0"/>
              <a:t>6</a:t>
            </a:r>
            <a:r>
              <a:rPr kumimoji="1" lang="zh-CN" altLang="en-US" b="1" dirty="0"/>
              <a:t>、操作系统新型测试方法</a:t>
            </a:r>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r>
              <a:rPr kumimoji="1" lang="en-US" altLang="zh-CN" dirty="0"/>
              <a:t>Bug</a:t>
            </a:r>
            <a:r>
              <a:rPr kumimoji="1" lang="zh-CN" altLang="en-US" dirty="0"/>
              <a:t> </a:t>
            </a:r>
            <a:r>
              <a:rPr kumimoji="1" lang="en-US" altLang="zh-CN" dirty="0"/>
              <a:t>Finding</a:t>
            </a:r>
            <a:r>
              <a:rPr kumimoji="1" lang="zh-CN" altLang="en-US" dirty="0"/>
              <a:t> </a:t>
            </a:r>
            <a:r>
              <a:rPr kumimoji="1" lang="en-US" altLang="zh-CN" dirty="0"/>
              <a:t>in</a:t>
            </a:r>
            <a:r>
              <a:rPr kumimoji="1" lang="zh-CN" altLang="en-US" dirty="0"/>
              <a:t> </a:t>
            </a:r>
            <a:r>
              <a:rPr kumimoji="1" lang="en-US" altLang="zh-CN" dirty="0"/>
              <a:t>OS</a:t>
            </a:r>
            <a:endParaRPr kumimoji="1" lang="zh-CN" altLang="en-US" dirty="0"/>
          </a:p>
        </p:txBody>
      </p:sp>
      <p:sp>
        <p:nvSpPr>
          <p:cNvPr id="4" name="灯片编号占位符 3">
            <a:extLst>
              <a:ext uri="{FF2B5EF4-FFF2-40B4-BE49-F238E27FC236}">
                <a16:creationId xmlns:a16="http://schemas.microsoft.com/office/drawing/2014/main" id="{45F61D95-77C6-4F44-A6A2-DDF144D592FE}"/>
              </a:ext>
            </a:extLst>
          </p:cNvPr>
          <p:cNvSpPr>
            <a:spLocks noGrp="1"/>
          </p:cNvSpPr>
          <p:nvPr>
            <p:ph type="sldNum" sz="quarter" idx="12"/>
          </p:nvPr>
        </p:nvSpPr>
        <p:spPr/>
        <p:txBody>
          <a:bodyPr/>
          <a:lstStyle/>
          <a:p>
            <a:fld id="{ADE361C3-C043-4A6E-BDCE-8DA1E7D90A3B}" type="slidenum">
              <a:rPr lang="zh-CN" altLang="en-US" smtClean="0"/>
              <a:t>60</a:t>
            </a:fld>
            <a:endParaRPr lang="zh-CN" altLang="en-US"/>
          </a:p>
        </p:txBody>
      </p:sp>
      <p:sp>
        <p:nvSpPr>
          <p:cNvPr id="7" name="页脚占位符 4">
            <a:extLst>
              <a:ext uri="{FF2B5EF4-FFF2-40B4-BE49-F238E27FC236}">
                <a16:creationId xmlns:a16="http://schemas.microsoft.com/office/drawing/2014/main" id="{68F72CF8-9211-EE45-9468-F698C90541EC}"/>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8768633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B30FF-B9D7-994F-910D-577DE7801F22}"/>
              </a:ext>
            </a:extLst>
          </p:cNvPr>
          <p:cNvSpPr>
            <a:spLocks noGrp="1"/>
          </p:cNvSpPr>
          <p:nvPr>
            <p:ph type="title"/>
          </p:nvPr>
        </p:nvSpPr>
        <p:spPr/>
        <p:txBody>
          <a:bodyPr/>
          <a:lstStyle/>
          <a:p>
            <a:r>
              <a:rPr lang="zh-CN" altLang="en-US" dirty="0"/>
              <a:t>操作系统测试的重要性</a:t>
            </a:r>
            <a:endParaRPr lang="en-CN" dirty="0"/>
          </a:p>
        </p:txBody>
      </p:sp>
      <p:sp>
        <p:nvSpPr>
          <p:cNvPr id="3" name="Content Placeholder 2">
            <a:extLst>
              <a:ext uri="{FF2B5EF4-FFF2-40B4-BE49-F238E27FC236}">
                <a16:creationId xmlns:a16="http://schemas.microsoft.com/office/drawing/2014/main" id="{6FDF084F-0067-0647-B5A3-B1E6C753A8BB}"/>
              </a:ext>
            </a:extLst>
          </p:cNvPr>
          <p:cNvSpPr>
            <a:spLocks noGrp="1"/>
          </p:cNvSpPr>
          <p:nvPr>
            <p:ph idx="1"/>
          </p:nvPr>
        </p:nvSpPr>
        <p:spPr/>
        <p:txBody>
          <a:bodyPr/>
          <a:lstStyle/>
          <a:p>
            <a:r>
              <a:rPr kumimoji="1" lang="zh-CN" altLang="en-US" dirty="0"/>
              <a:t>操作系统代码规模庞大，难以避免</a:t>
            </a:r>
            <a:r>
              <a:rPr kumimoji="1" lang="en-US" altLang="zh-CN" dirty="0"/>
              <a:t>BUG</a:t>
            </a:r>
            <a:r>
              <a:rPr kumimoji="1" lang="zh-CN" altLang="en-US" dirty="0"/>
              <a:t>和漏洞</a:t>
            </a:r>
            <a:endParaRPr kumimoji="1" lang="en-US" altLang="zh-CN" dirty="0"/>
          </a:p>
          <a:p>
            <a:pPr lvl="1"/>
            <a:r>
              <a:rPr kumimoji="1" lang="en-US" altLang="zh-CN" dirty="0"/>
              <a:t>Linux</a:t>
            </a:r>
            <a:r>
              <a:rPr kumimoji="1" lang="zh-CN" altLang="en-US" dirty="0"/>
              <a:t> </a:t>
            </a:r>
            <a:r>
              <a:rPr kumimoji="1" lang="en-US" altLang="zh-CN" dirty="0"/>
              <a:t>5.8</a:t>
            </a:r>
            <a:r>
              <a:rPr kumimoji="1" lang="zh-CN" altLang="en-US" dirty="0"/>
              <a:t> 内核约包含</a:t>
            </a:r>
            <a:r>
              <a:rPr kumimoji="1" lang="en-US" altLang="zh-CN" dirty="0"/>
              <a:t>2870</a:t>
            </a:r>
            <a:r>
              <a:rPr kumimoji="1" lang="zh-CN" altLang="en-US" dirty="0"/>
              <a:t>万行代码</a:t>
            </a:r>
            <a:endParaRPr kumimoji="1" lang="en-US" altLang="zh-CN" dirty="0"/>
          </a:p>
          <a:p>
            <a:pPr lvl="1"/>
            <a:r>
              <a:rPr kumimoji="1" lang="en-US" altLang="zh-CN" dirty="0"/>
              <a:t>CVE</a:t>
            </a:r>
            <a:r>
              <a:rPr kumimoji="1" lang="zh-CN" altLang="en-US" dirty="0"/>
              <a:t>：</a:t>
            </a:r>
            <a:r>
              <a:rPr kumimoji="1" lang="en-US" altLang="zh-CN" dirty="0"/>
              <a:t>2019</a:t>
            </a:r>
            <a:r>
              <a:rPr kumimoji="1" lang="zh-CN" altLang="en-US" dirty="0"/>
              <a:t>年</a:t>
            </a:r>
            <a:r>
              <a:rPr kumimoji="1" lang="en-US" altLang="zh-CN" dirty="0"/>
              <a:t>Linux</a:t>
            </a:r>
            <a:r>
              <a:rPr kumimoji="1" lang="zh-CN" altLang="en-US" dirty="0"/>
              <a:t>内核超过</a:t>
            </a:r>
            <a:r>
              <a:rPr kumimoji="1" lang="en-US" altLang="zh-CN" dirty="0"/>
              <a:t>170</a:t>
            </a:r>
            <a:r>
              <a:rPr kumimoji="1" lang="zh-CN" altLang="en-US" dirty="0"/>
              <a:t>个</a:t>
            </a:r>
            <a:r>
              <a:rPr kumimoji="1" lang="en-US" altLang="zh-CN" dirty="0"/>
              <a:t>CVE</a:t>
            </a:r>
          </a:p>
          <a:p>
            <a:pPr lvl="2"/>
            <a:r>
              <a:rPr kumimoji="1" lang="zh-CN" altLang="en-US" dirty="0"/>
              <a:t>实际数量更多，并非所有漏洞都被公开</a:t>
            </a:r>
            <a:endParaRPr kumimoji="1" lang="en-US" altLang="zh-CN" dirty="0"/>
          </a:p>
          <a:p>
            <a:pPr lvl="1"/>
            <a:r>
              <a:rPr kumimoji="1" lang="en-US" altLang="zh-CN" dirty="0"/>
              <a:t>Bug</a:t>
            </a:r>
            <a:r>
              <a:rPr kumimoji="1" lang="zh-CN" altLang="en-US" dirty="0"/>
              <a:t>数量更多</a:t>
            </a:r>
            <a:endParaRPr kumimoji="1" lang="en-US" altLang="zh-CN" dirty="0"/>
          </a:p>
          <a:p>
            <a:r>
              <a:rPr kumimoji="1" lang="zh-CN" altLang="en-US" dirty="0"/>
              <a:t>操作系统正确性直接影响上层应用</a:t>
            </a:r>
            <a:endParaRPr kumimoji="1" lang="en-US" altLang="zh-CN" dirty="0"/>
          </a:p>
          <a:p>
            <a:pPr lvl="1"/>
            <a:endParaRPr kumimoji="1" lang="en-US" altLang="zh-CN" dirty="0"/>
          </a:p>
          <a:p>
            <a:endParaRPr lang="en-US" altLang="ja-JP" dirty="0"/>
          </a:p>
          <a:p>
            <a:pPr marL="0" indent="0">
              <a:buNone/>
            </a:pPr>
            <a:endParaRPr lang="en-CN" dirty="0"/>
          </a:p>
        </p:txBody>
      </p:sp>
      <p:sp>
        <p:nvSpPr>
          <p:cNvPr id="4" name="Slide Number Placeholder 3">
            <a:extLst>
              <a:ext uri="{FF2B5EF4-FFF2-40B4-BE49-F238E27FC236}">
                <a16:creationId xmlns:a16="http://schemas.microsoft.com/office/drawing/2014/main" id="{649E3725-2E2C-FF43-92AB-B140506444DD}"/>
              </a:ext>
            </a:extLst>
          </p:cNvPr>
          <p:cNvSpPr>
            <a:spLocks noGrp="1"/>
          </p:cNvSpPr>
          <p:nvPr>
            <p:ph type="sldNum" sz="quarter" idx="12"/>
          </p:nvPr>
        </p:nvSpPr>
        <p:spPr/>
        <p:txBody>
          <a:bodyPr/>
          <a:lstStyle/>
          <a:p>
            <a:fld id="{ADE361C3-C043-4A6E-BDCE-8DA1E7D90A3B}" type="slidenum">
              <a:rPr lang="zh-CN" altLang="en-US" smtClean="0"/>
              <a:t>61</a:t>
            </a:fld>
            <a:endParaRPr lang="zh-CN" altLang="en-US"/>
          </a:p>
        </p:txBody>
      </p:sp>
      <p:sp>
        <p:nvSpPr>
          <p:cNvPr id="5" name="Footer Placeholder 4">
            <a:extLst>
              <a:ext uri="{FF2B5EF4-FFF2-40B4-BE49-F238E27FC236}">
                <a16:creationId xmlns:a16="http://schemas.microsoft.com/office/drawing/2014/main" id="{13831DCC-7EC1-824F-A7E2-C5E553F759A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8" name="图片 7">
            <a:extLst>
              <a:ext uri="{FF2B5EF4-FFF2-40B4-BE49-F238E27FC236}">
                <a16:creationId xmlns:a16="http://schemas.microsoft.com/office/drawing/2014/main" id="{3961EDE4-93AE-274E-A265-D49C6B10F3C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08874" y="4349940"/>
            <a:ext cx="3262828" cy="388212"/>
          </a:xfrm>
          <a:prstGeom prst="rect">
            <a:avLst/>
          </a:prstGeom>
        </p:spPr>
      </p:pic>
      <p:pic>
        <p:nvPicPr>
          <p:cNvPr id="10" name="图片 9">
            <a:extLst>
              <a:ext uri="{FF2B5EF4-FFF2-40B4-BE49-F238E27FC236}">
                <a16:creationId xmlns:a16="http://schemas.microsoft.com/office/drawing/2014/main" id="{57873C47-9396-524A-98EF-B97FE0DF3AC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5986" y="4735871"/>
            <a:ext cx="8918014" cy="569901"/>
          </a:xfrm>
          <a:prstGeom prst="rect">
            <a:avLst/>
          </a:prstGeom>
        </p:spPr>
      </p:pic>
    </p:spTree>
    <p:extLst>
      <p:ext uri="{BB962C8B-B14F-4D97-AF65-F5344CB8AC3E}">
        <p14:creationId xmlns:p14="http://schemas.microsoft.com/office/powerpoint/2010/main" val="26075578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B30FF-B9D7-994F-910D-577DE7801F22}"/>
              </a:ext>
            </a:extLst>
          </p:cNvPr>
          <p:cNvSpPr>
            <a:spLocks noGrp="1"/>
          </p:cNvSpPr>
          <p:nvPr>
            <p:ph type="title"/>
          </p:nvPr>
        </p:nvSpPr>
        <p:spPr/>
        <p:txBody>
          <a:bodyPr/>
          <a:lstStyle/>
          <a:p>
            <a:r>
              <a:rPr lang="zh-CN" altLang="en-US" dirty="0"/>
              <a:t>操作系统测试面临的挑战</a:t>
            </a:r>
            <a:endParaRPr lang="en-CN" dirty="0"/>
          </a:p>
        </p:txBody>
      </p:sp>
      <p:sp>
        <p:nvSpPr>
          <p:cNvPr id="3" name="Content Placeholder 2">
            <a:extLst>
              <a:ext uri="{FF2B5EF4-FFF2-40B4-BE49-F238E27FC236}">
                <a16:creationId xmlns:a16="http://schemas.microsoft.com/office/drawing/2014/main" id="{6FDF084F-0067-0647-B5A3-B1E6C753A8BB}"/>
              </a:ext>
            </a:extLst>
          </p:cNvPr>
          <p:cNvSpPr>
            <a:spLocks noGrp="1"/>
          </p:cNvSpPr>
          <p:nvPr>
            <p:ph idx="1"/>
          </p:nvPr>
        </p:nvSpPr>
        <p:spPr/>
        <p:txBody>
          <a:bodyPr>
            <a:normAutofit fontScale="92500" lnSpcReduction="20000"/>
          </a:bodyPr>
          <a:lstStyle/>
          <a:p>
            <a:r>
              <a:rPr kumimoji="1" lang="zh-CN" altLang="en-US" dirty="0">
                <a:latin typeface="+mn-ea"/>
                <a:ea typeface="+mn-ea"/>
              </a:rPr>
              <a:t>测试的方法</a:t>
            </a:r>
            <a:endParaRPr kumimoji="1" lang="en-US" altLang="zh-CN" dirty="0">
              <a:latin typeface="+mn-ea"/>
              <a:ea typeface="+mn-ea"/>
            </a:endParaRPr>
          </a:p>
          <a:p>
            <a:pPr lvl="1"/>
            <a:r>
              <a:rPr kumimoji="1" lang="zh-CN" altLang="en-US" dirty="0">
                <a:latin typeface="+mn-ea"/>
                <a:ea typeface="+mn-ea"/>
              </a:rPr>
              <a:t>静态：在不运行代码前提下，通过语法、控制流等分析代码异常</a:t>
            </a:r>
            <a:endParaRPr kumimoji="1" lang="en-US" altLang="zh-CN" dirty="0">
              <a:latin typeface="+mn-ea"/>
              <a:ea typeface="+mn-ea"/>
            </a:endParaRPr>
          </a:p>
          <a:p>
            <a:pPr lvl="1"/>
            <a:r>
              <a:rPr kumimoji="1" lang="zh-CN" altLang="en-US" dirty="0">
                <a:latin typeface="+mn-ea"/>
                <a:ea typeface="+mn-ea"/>
              </a:rPr>
              <a:t>动态：运行测试程序，判断执行是否符合预期</a:t>
            </a:r>
            <a:endParaRPr kumimoji="1" lang="en-US" altLang="zh-CN" dirty="0">
              <a:latin typeface="+mn-ea"/>
              <a:ea typeface="+mn-ea"/>
            </a:endParaRPr>
          </a:p>
          <a:p>
            <a:pPr lvl="1"/>
            <a:r>
              <a:rPr kumimoji="1" lang="zh-CN" altLang="en-US" dirty="0">
                <a:latin typeface="+mn-ea"/>
                <a:ea typeface="+mn-ea"/>
              </a:rPr>
              <a:t>近年来动态测试工作较多</a:t>
            </a:r>
            <a:endParaRPr kumimoji="1" lang="en-US" altLang="zh-CN" dirty="0">
              <a:latin typeface="+mn-ea"/>
              <a:ea typeface="+mn-ea"/>
            </a:endParaRPr>
          </a:p>
          <a:p>
            <a:pPr lvl="1"/>
            <a:endParaRPr kumimoji="1" lang="en-US" altLang="zh-CN" dirty="0">
              <a:latin typeface="+mn-ea"/>
              <a:ea typeface="+mn-ea"/>
            </a:endParaRPr>
          </a:p>
          <a:p>
            <a:r>
              <a:rPr kumimoji="1" lang="zh-CN" altLang="en-US" dirty="0">
                <a:latin typeface="+mn-ea"/>
                <a:ea typeface="+mn-ea"/>
              </a:rPr>
              <a:t>动态测试的挑战</a:t>
            </a:r>
            <a:endParaRPr kumimoji="1" lang="en-US" altLang="zh-CN" dirty="0">
              <a:latin typeface="+mn-ea"/>
              <a:ea typeface="+mn-ea"/>
            </a:endParaRPr>
          </a:p>
          <a:p>
            <a:pPr lvl="1"/>
            <a:r>
              <a:rPr kumimoji="1" lang="zh-CN" altLang="en-US" dirty="0">
                <a:solidFill>
                  <a:srgbClr val="C00000"/>
                </a:solidFill>
                <a:latin typeface="+mn-ea"/>
                <a:ea typeface="+mn-ea"/>
              </a:rPr>
              <a:t>如何构造有效的测试样例</a:t>
            </a:r>
            <a:endParaRPr kumimoji="1" lang="en-US" altLang="zh-CN" dirty="0">
              <a:solidFill>
                <a:srgbClr val="C00000"/>
              </a:solidFill>
              <a:latin typeface="+mn-ea"/>
              <a:ea typeface="+mn-ea"/>
            </a:endParaRPr>
          </a:p>
          <a:p>
            <a:pPr lvl="1"/>
            <a:r>
              <a:rPr kumimoji="1" lang="zh-CN" altLang="en-US" dirty="0">
                <a:solidFill>
                  <a:schemeClr val="tx1"/>
                </a:solidFill>
                <a:latin typeface="+mn-ea"/>
                <a:ea typeface="+mn-ea"/>
              </a:rPr>
              <a:t>测试中如何判定出现异常</a:t>
            </a:r>
            <a:endParaRPr kumimoji="1" lang="en-US" altLang="zh-CN" dirty="0">
              <a:solidFill>
                <a:schemeClr val="tx1"/>
              </a:solidFill>
              <a:latin typeface="+mn-ea"/>
              <a:ea typeface="+mn-ea"/>
            </a:endParaRPr>
          </a:p>
          <a:p>
            <a:pPr lvl="1"/>
            <a:r>
              <a:rPr kumimoji="1" lang="zh-CN" altLang="en-US" dirty="0">
                <a:solidFill>
                  <a:schemeClr val="tx1"/>
                </a:solidFill>
                <a:latin typeface="+mn-ea"/>
                <a:ea typeface="+mn-ea"/>
              </a:rPr>
              <a:t>如何有效地复现</a:t>
            </a:r>
            <a:r>
              <a:rPr kumimoji="1" lang="en-US" altLang="zh-CN" dirty="0">
                <a:solidFill>
                  <a:schemeClr val="tx1"/>
                </a:solidFill>
                <a:latin typeface="+mn-ea"/>
                <a:ea typeface="+mn-ea"/>
              </a:rPr>
              <a:t>BUG</a:t>
            </a:r>
          </a:p>
          <a:p>
            <a:pPr lvl="1"/>
            <a:r>
              <a:rPr kumimoji="1" lang="en-US" altLang="zh-CN" dirty="0">
                <a:solidFill>
                  <a:schemeClr val="tx1"/>
                </a:solidFill>
                <a:latin typeface="+mn-ea"/>
                <a:ea typeface="+mn-ea"/>
              </a:rPr>
              <a:t>……</a:t>
            </a:r>
          </a:p>
          <a:p>
            <a:pPr lvl="2"/>
            <a:endParaRPr kumimoji="1" lang="en-US" altLang="zh-CN" b="1" dirty="0">
              <a:latin typeface="+mn-ea"/>
              <a:ea typeface="+mn-ea"/>
            </a:endParaRPr>
          </a:p>
          <a:p>
            <a:pPr lvl="1"/>
            <a:endParaRPr kumimoji="1" lang="en-US" altLang="zh-CN" dirty="0">
              <a:latin typeface="+mn-ea"/>
              <a:ea typeface="+mn-ea"/>
            </a:endParaRPr>
          </a:p>
          <a:p>
            <a:endParaRPr lang="en-US" altLang="ja-JP" dirty="0">
              <a:latin typeface="+mn-ea"/>
              <a:ea typeface="+mn-ea"/>
            </a:endParaRPr>
          </a:p>
          <a:p>
            <a:pPr marL="0" indent="0">
              <a:buNone/>
            </a:pPr>
            <a:endParaRPr lang="en-CN" dirty="0">
              <a:latin typeface="+mn-ea"/>
              <a:ea typeface="+mn-ea"/>
            </a:endParaRPr>
          </a:p>
        </p:txBody>
      </p:sp>
      <p:sp>
        <p:nvSpPr>
          <p:cNvPr id="4" name="Slide Number Placeholder 3">
            <a:extLst>
              <a:ext uri="{FF2B5EF4-FFF2-40B4-BE49-F238E27FC236}">
                <a16:creationId xmlns:a16="http://schemas.microsoft.com/office/drawing/2014/main" id="{649E3725-2E2C-FF43-92AB-B140506444DD}"/>
              </a:ext>
            </a:extLst>
          </p:cNvPr>
          <p:cNvSpPr>
            <a:spLocks noGrp="1"/>
          </p:cNvSpPr>
          <p:nvPr>
            <p:ph type="sldNum" sz="quarter" idx="12"/>
          </p:nvPr>
        </p:nvSpPr>
        <p:spPr/>
        <p:txBody>
          <a:bodyPr/>
          <a:lstStyle/>
          <a:p>
            <a:fld id="{ADE361C3-C043-4A6E-BDCE-8DA1E7D90A3B}" type="slidenum">
              <a:rPr lang="zh-CN" altLang="en-US" smtClean="0"/>
              <a:t>62</a:t>
            </a:fld>
            <a:endParaRPr lang="zh-CN" altLang="en-US"/>
          </a:p>
        </p:txBody>
      </p:sp>
      <p:sp>
        <p:nvSpPr>
          <p:cNvPr id="5" name="Footer Placeholder 4">
            <a:extLst>
              <a:ext uri="{FF2B5EF4-FFF2-40B4-BE49-F238E27FC236}">
                <a16:creationId xmlns:a16="http://schemas.microsoft.com/office/drawing/2014/main" id="{13831DCC-7EC1-824F-A7E2-C5E553F759A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4701571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994392-112C-4C44-A3C0-2665800451C3}"/>
              </a:ext>
            </a:extLst>
          </p:cNvPr>
          <p:cNvSpPr>
            <a:spLocks noGrp="1"/>
          </p:cNvSpPr>
          <p:nvPr>
            <p:ph type="title"/>
          </p:nvPr>
        </p:nvSpPr>
        <p:spPr/>
        <p:txBody>
          <a:bodyPr>
            <a:normAutofit/>
          </a:bodyPr>
          <a:lstStyle/>
          <a:p>
            <a:r>
              <a:rPr kumimoji="1" lang="zh-CN" altLang="en-US" dirty="0"/>
              <a:t>挑战</a:t>
            </a:r>
            <a:r>
              <a:rPr kumimoji="1" lang="en-US" altLang="zh-CN" dirty="0"/>
              <a:t>-1</a:t>
            </a:r>
            <a:r>
              <a:rPr kumimoji="1" lang="zh-CN" altLang="en-US" dirty="0"/>
              <a:t>：如何构造测试样例</a:t>
            </a:r>
          </a:p>
        </p:txBody>
      </p:sp>
      <p:sp>
        <p:nvSpPr>
          <p:cNvPr id="3" name="内容占位符 2">
            <a:extLst>
              <a:ext uri="{FF2B5EF4-FFF2-40B4-BE49-F238E27FC236}">
                <a16:creationId xmlns:a16="http://schemas.microsoft.com/office/drawing/2014/main" id="{34FA7843-1873-7345-B8CC-3A1ABF2BA572}"/>
              </a:ext>
            </a:extLst>
          </p:cNvPr>
          <p:cNvSpPr>
            <a:spLocks noGrp="1"/>
          </p:cNvSpPr>
          <p:nvPr>
            <p:ph idx="1"/>
          </p:nvPr>
        </p:nvSpPr>
        <p:spPr>
          <a:xfrm>
            <a:off x="450043" y="1273324"/>
            <a:ext cx="8229600" cy="3672408"/>
          </a:xfrm>
        </p:spPr>
        <p:txBody>
          <a:bodyPr>
            <a:normAutofit/>
          </a:bodyPr>
          <a:lstStyle/>
          <a:p>
            <a:r>
              <a:rPr kumimoji="1" lang="zh-CN" altLang="en-US" dirty="0"/>
              <a:t>测试样例构造发展</a:t>
            </a:r>
            <a:endParaRPr kumimoji="1" lang="en-US" altLang="zh-CN" dirty="0"/>
          </a:p>
          <a:p>
            <a:pPr marL="0" indent="0">
              <a:buNone/>
            </a:pPr>
            <a:endParaRPr kumimoji="1" lang="en-US" altLang="zh-CN" dirty="0"/>
          </a:p>
          <a:p>
            <a:r>
              <a:rPr kumimoji="1" lang="zh-CN" altLang="en-US" dirty="0"/>
              <a:t>手动编写</a:t>
            </a:r>
            <a:endParaRPr kumimoji="1" lang="en-US" altLang="zh-CN" dirty="0"/>
          </a:p>
          <a:p>
            <a:pPr lvl="1"/>
            <a:r>
              <a:rPr kumimoji="1" lang="zh-CN" altLang="en-US" dirty="0"/>
              <a:t>较传统的测试方法，例如</a:t>
            </a:r>
            <a:r>
              <a:rPr kumimoji="1" lang="en-US" altLang="zh-CN" dirty="0"/>
              <a:t>Linux</a:t>
            </a:r>
            <a:r>
              <a:rPr kumimoji="1" lang="zh-CN" altLang="en-US" dirty="0"/>
              <a:t> </a:t>
            </a:r>
            <a:r>
              <a:rPr kumimoji="1" lang="en-US" altLang="zh-CN" dirty="0"/>
              <a:t>Test</a:t>
            </a:r>
            <a:r>
              <a:rPr kumimoji="1" lang="zh-CN" altLang="en-US" dirty="0"/>
              <a:t> </a:t>
            </a:r>
            <a:r>
              <a:rPr kumimoji="1" lang="en-US" altLang="zh-CN" dirty="0"/>
              <a:t>Project</a:t>
            </a:r>
          </a:p>
          <a:p>
            <a:pPr lvl="1"/>
            <a:r>
              <a:rPr kumimoji="1" lang="zh-CN" altLang="en-US" dirty="0"/>
              <a:t>优点：可实现针对性较强的测试</a:t>
            </a:r>
            <a:endParaRPr kumimoji="1" lang="en-US" altLang="zh-CN" dirty="0"/>
          </a:p>
          <a:p>
            <a:pPr lvl="1"/>
            <a:r>
              <a:rPr kumimoji="1" lang="zh-CN" altLang="en-US" dirty="0"/>
              <a:t>缺点：测试样例数量有限导致测试不完全</a:t>
            </a:r>
            <a:endParaRPr kumimoji="1" lang="en-US" altLang="zh-CN" dirty="0"/>
          </a:p>
          <a:p>
            <a:pPr marL="457200" lvl="1" indent="0">
              <a:buNone/>
            </a:pPr>
            <a:r>
              <a:rPr kumimoji="1" lang="zh-CN" altLang="en-US" dirty="0"/>
              <a:t>               编写针对性的测试人力成本较高</a:t>
            </a:r>
            <a:endParaRPr kumimoji="1" lang="en-US" altLang="zh-CN" dirty="0"/>
          </a:p>
          <a:p>
            <a:pPr lvl="1"/>
            <a:endParaRPr kumimoji="1" lang="en-US" altLang="zh-CN" dirty="0"/>
          </a:p>
        </p:txBody>
      </p:sp>
      <p:sp>
        <p:nvSpPr>
          <p:cNvPr id="4" name="灯片编号占位符 3">
            <a:extLst>
              <a:ext uri="{FF2B5EF4-FFF2-40B4-BE49-F238E27FC236}">
                <a16:creationId xmlns:a16="http://schemas.microsoft.com/office/drawing/2014/main" id="{B26A72CD-B8A4-EA47-93A2-F3895699943D}"/>
              </a:ext>
            </a:extLst>
          </p:cNvPr>
          <p:cNvSpPr>
            <a:spLocks noGrp="1"/>
          </p:cNvSpPr>
          <p:nvPr>
            <p:ph type="sldNum" sz="quarter" idx="12"/>
          </p:nvPr>
        </p:nvSpPr>
        <p:spPr/>
        <p:txBody>
          <a:bodyPr/>
          <a:lstStyle/>
          <a:p>
            <a:fld id="{ADE361C3-C043-4A6E-BDCE-8DA1E7D90A3B}" type="slidenum">
              <a:rPr lang="zh-CN" altLang="en-US" smtClean="0"/>
              <a:t>63</a:t>
            </a:fld>
            <a:endParaRPr lang="zh-CN" altLang="en-US" dirty="0"/>
          </a:p>
        </p:txBody>
      </p:sp>
      <p:sp>
        <p:nvSpPr>
          <p:cNvPr id="5" name="页脚占位符 4">
            <a:extLst>
              <a:ext uri="{FF2B5EF4-FFF2-40B4-BE49-F238E27FC236}">
                <a16:creationId xmlns:a16="http://schemas.microsoft.com/office/drawing/2014/main" id="{9C51D420-B9DC-1A42-A241-714BB22EDB1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矩形 5">
            <a:extLst>
              <a:ext uri="{FF2B5EF4-FFF2-40B4-BE49-F238E27FC236}">
                <a16:creationId xmlns:a16="http://schemas.microsoft.com/office/drawing/2014/main" id="{D5A204D0-482B-814B-BE22-21E58426ED3D}"/>
              </a:ext>
            </a:extLst>
          </p:cNvPr>
          <p:cNvSpPr/>
          <p:nvPr/>
        </p:nvSpPr>
        <p:spPr>
          <a:xfrm>
            <a:off x="2627784" y="1849388"/>
            <a:ext cx="1399964"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纯随机生成</a:t>
            </a:r>
          </a:p>
        </p:txBody>
      </p:sp>
      <p:sp>
        <p:nvSpPr>
          <p:cNvPr id="7" name="矩形 6">
            <a:extLst>
              <a:ext uri="{FF2B5EF4-FFF2-40B4-BE49-F238E27FC236}">
                <a16:creationId xmlns:a16="http://schemas.microsoft.com/office/drawing/2014/main" id="{157130C7-B35D-144E-AF30-F463FE14D810}"/>
              </a:ext>
            </a:extLst>
          </p:cNvPr>
          <p:cNvSpPr/>
          <p:nvPr/>
        </p:nvSpPr>
        <p:spPr>
          <a:xfrm>
            <a:off x="571364" y="1849388"/>
            <a:ext cx="1296144"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C00000"/>
                </a:solidFill>
              </a:rPr>
              <a:t>手动编写</a:t>
            </a:r>
          </a:p>
        </p:txBody>
      </p:sp>
      <p:sp>
        <p:nvSpPr>
          <p:cNvPr id="8" name="矩形 7">
            <a:extLst>
              <a:ext uri="{FF2B5EF4-FFF2-40B4-BE49-F238E27FC236}">
                <a16:creationId xmlns:a16="http://schemas.microsoft.com/office/drawing/2014/main" id="{1A485E81-AEB0-9149-A708-9626DDF178A6}"/>
              </a:ext>
            </a:extLst>
          </p:cNvPr>
          <p:cNvSpPr/>
          <p:nvPr/>
        </p:nvSpPr>
        <p:spPr>
          <a:xfrm>
            <a:off x="4891844" y="1772439"/>
            <a:ext cx="1399964" cy="6743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代码覆盖率反馈</a:t>
            </a:r>
            <a:endParaRPr kumimoji="1" lang="en-US" altLang="zh-CN" dirty="0">
              <a:solidFill>
                <a:schemeClr val="tx1"/>
              </a:solidFill>
            </a:endParaRPr>
          </a:p>
        </p:txBody>
      </p:sp>
      <p:sp>
        <p:nvSpPr>
          <p:cNvPr id="9" name="矩形 8">
            <a:extLst>
              <a:ext uri="{FF2B5EF4-FFF2-40B4-BE49-F238E27FC236}">
                <a16:creationId xmlns:a16="http://schemas.microsoft.com/office/drawing/2014/main" id="{D2B964F3-4721-9946-BE23-E436A9363406}"/>
              </a:ext>
            </a:extLst>
          </p:cNvPr>
          <p:cNvSpPr/>
          <p:nvPr/>
        </p:nvSpPr>
        <p:spPr>
          <a:xfrm>
            <a:off x="7155904" y="1781391"/>
            <a:ext cx="1399964" cy="6743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程序语义</a:t>
            </a:r>
            <a:endParaRPr kumimoji="1" lang="en-US" altLang="zh-CN" dirty="0">
              <a:solidFill>
                <a:schemeClr val="tx1"/>
              </a:solidFill>
            </a:endParaRPr>
          </a:p>
          <a:p>
            <a:pPr algn="ctr"/>
            <a:r>
              <a:rPr kumimoji="1" lang="zh-CN" altLang="en-US" dirty="0">
                <a:solidFill>
                  <a:schemeClr val="tx1"/>
                </a:solidFill>
              </a:rPr>
              <a:t>反馈</a:t>
            </a:r>
            <a:endParaRPr kumimoji="1" lang="en-US" altLang="zh-CN" dirty="0">
              <a:solidFill>
                <a:schemeClr val="tx1"/>
              </a:solidFill>
            </a:endParaRPr>
          </a:p>
        </p:txBody>
      </p:sp>
      <p:cxnSp>
        <p:nvCxnSpPr>
          <p:cNvPr id="11" name="直线箭头连接符 10">
            <a:extLst>
              <a:ext uri="{FF2B5EF4-FFF2-40B4-BE49-F238E27FC236}">
                <a16:creationId xmlns:a16="http://schemas.microsoft.com/office/drawing/2014/main" id="{02D3A901-0AA0-FC42-9265-F921326481A3}"/>
              </a:ext>
            </a:extLst>
          </p:cNvPr>
          <p:cNvCxnSpPr>
            <a:cxnSpLocks/>
            <a:stCxn id="7" idx="3"/>
            <a:endCxn id="6" idx="1"/>
          </p:cNvCxnSpPr>
          <p:nvPr/>
        </p:nvCxnSpPr>
        <p:spPr>
          <a:xfrm>
            <a:off x="1867508" y="2101416"/>
            <a:ext cx="76027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线箭头连接符 11">
            <a:extLst>
              <a:ext uri="{FF2B5EF4-FFF2-40B4-BE49-F238E27FC236}">
                <a16:creationId xmlns:a16="http://schemas.microsoft.com/office/drawing/2014/main" id="{3E9BEB13-14C8-8043-B6E8-E03370A919C4}"/>
              </a:ext>
            </a:extLst>
          </p:cNvPr>
          <p:cNvCxnSpPr>
            <a:cxnSpLocks/>
            <a:stCxn id="6" idx="3"/>
            <a:endCxn id="8" idx="1"/>
          </p:cNvCxnSpPr>
          <p:nvPr/>
        </p:nvCxnSpPr>
        <p:spPr>
          <a:xfrm>
            <a:off x="4027748" y="2101416"/>
            <a:ext cx="864096" cy="818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线箭头连接符 13">
            <a:extLst>
              <a:ext uri="{FF2B5EF4-FFF2-40B4-BE49-F238E27FC236}">
                <a16:creationId xmlns:a16="http://schemas.microsoft.com/office/drawing/2014/main" id="{3CD7F34E-26EE-6A45-9D03-CA844627AF0E}"/>
              </a:ext>
            </a:extLst>
          </p:cNvPr>
          <p:cNvCxnSpPr/>
          <p:nvPr/>
        </p:nvCxnSpPr>
        <p:spPr>
          <a:xfrm>
            <a:off x="6291808" y="2101416"/>
            <a:ext cx="86409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03422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994392-112C-4C44-A3C0-2665800451C3}"/>
              </a:ext>
            </a:extLst>
          </p:cNvPr>
          <p:cNvSpPr>
            <a:spLocks noGrp="1"/>
          </p:cNvSpPr>
          <p:nvPr>
            <p:ph type="title"/>
          </p:nvPr>
        </p:nvSpPr>
        <p:spPr/>
        <p:txBody>
          <a:bodyPr>
            <a:normAutofit/>
          </a:bodyPr>
          <a:lstStyle/>
          <a:p>
            <a:r>
              <a:rPr kumimoji="1" lang="zh-CN" altLang="en-US" dirty="0"/>
              <a:t>挑战</a:t>
            </a:r>
            <a:r>
              <a:rPr kumimoji="1" lang="en-US" altLang="zh-CN" dirty="0"/>
              <a:t>-1</a:t>
            </a:r>
            <a:r>
              <a:rPr kumimoji="1" lang="zh-CN" altLang="en-US" dirty="0"/>
              <a:t>：如何构造测试样例</a:t>
            </a:r>
          </a:p>
        </p:txBody>
      </p:sp>
      <p:sp>
        <p:nvSpPr>
          <p:cNvPr id="3" name="内容占位符 2">
            <a:extLst>
              <a:ext uri="{FF2B5EF4-FFF2-40B4-BE49-F238E27FC236}">
                <a16:creationId xmlns:a16="http://schemas.microsoft.com/office/drawing/2014/main" id="{34FA7843-1873-7345-B8CC-3A1ABF2BA572}"/>
              </a:ext>
            </a:extLst>
          </p:cNvPr>
          <p:cNvSpPr>
            <a:spLocks noGrp="1"/>
          </p:cNvSpPr>
          <p:nvPr>
            <p:ph idx="1"/>
          </p:nvPr>
        </p:nvSpPr>
        <p:spPr>
          <a:xfrm>
            <a:off x="467544" y="1705372"/>
            <a:ext cx="8229600" cy="3456384"/>
          </a:xfrm>
        </p:spPr>
        <p:txBody>
          <a:bodyPr>
            <a:normAutofit fontScale="85000" lnSpcReduction="10000"/>
          </a:bodyPr>
          <a:lstStyle/>
          <a:p>
            <a:r>
              <a:rPr kumimoji="1" lang="zh-CN" altLang="en-US" dirty="0"/>
              <a:t>以</a:t>
            </a:r>
            <a:r>
              <a:rPr kumimoji="1" lang="en-US" altLang="zh-CN" dirty="0"/>
              <a:t>B3</a:t>
            </a:r>
            <a:r>
              <a:rPr kumimoji="1" lang="zh-CN" altLang="en-US" dirty="0"/>
              <a:t> </a:t>
            </a:r>
            <a:r>
              <a:rPr kumimoji="1" lang="en-US" altLang="zh-CN" dirty="0"/>
              <a:t>(OSDI</a:t>
            </a:r>
            <a:r>
              <a:rPr kumimoji="1" lang="zh-CN" altLang="en-US" dirty="0"/>
              <a:t> </a:t>
            </a:r>
            <a:r>
              <a:rPr kumimoji="1" lang="en-US" altLang="zh-CN" dirty="0"/>
              <a:t>18)</a:t>
            </a:r>
            <a:r>
              <a:rPr kumimoji="1" lang="zh-CN" altLang="en-US" dirty="0"/>
              <a:t>为例</a:t>
            </a:r>
            <a:endParaRPr kumimoji="1" lang="en-US" altLang="zh-CN" dirty="0"/>
          </a:p>
          <a:p>
            <a:pPr lvl="1"/>
            <a:r>
              <a:rPr kumimoji="1" lang="zh-CN" altLang="en-US" dirty="0"/>
              <a:t>针对</a:t>
            </a:r>
            <a:r>
              <a:rPr kumimoji="1" lang="en-US" altLang="zh-CN" dirty="0"/>
              <a:t>Linux</a:t>
            </a:r>
            <a:r>
              <a:rPr kumimoji="1" lang="zh-CN" altLang="en-US" dirty="0"/>
              <a:t>文件系统崩溃一致性的黑盒测试</a:t>
            </a:r>
            <a:endParaRPr kumimoji="1" lang="en-US" altLang="zh-CN" dirty="0"/>
          </a:p>
          <a:p>
            <a:r>
              <a:rPr kumimoji="1" lang="zh-CN" altLang="en-US" dirty="0"/>
              <a:t>构造测试样例</a:t>
            </a:r>
            <a:endParaRPr kumimoji="1" lang="en-US" altLang="zh-CN" dirty="0"/>
          </a:p>
          <a:p>
            <a:pPr lvl="1"/>
            <a:r>
              <a:rPr kumimoji="1" lang="zh-CN" altLang="en-US" dirty="0"/>
              <a:t>构造</a:t>
            </a:r>
            <a:r>
              <a:rPr kumimoji="1" lang="zh-CN" altLang="en-US" dirty="0">
                <a:solidFill>
                  <a:srgbClr val="C00000"/>
                </a:solidFill>
              </a:rPr>
              <a:t>顺序调用</a:t>
            </a:r>
            <a:r>
              <a:rPr kumimoji="1" lang="zh-CN" altLang="en-US" dirty="0"/>
              <a:t>的</a:t>
            </a:r>
            <a:r>
              <a:rPr kumimoji="1" lang="en-US" altLang="zh-CN" dirty="0"/>
              <a:t>POSIX</a:t>
            </a:r>
            <a:r>
              <a:rPr kumimoji="1" lang="zh-CN" altLang="en-US" dirty="0"/>
              <a:t>文件系统接口</a:t>
            </a:r>
            <a:endParaRPr kumimoji="1" lang="en-US" altLang="zh-CN" dirty="0"/>
          </a:p>
          <a:p>
            <a:pPr lvl="1"/>
            <a:r>
              <a:rPr kumimoji="1" lang="zh-CN" altLang="en-US" dirty="0"/>
              <a:t>问题：无穷的可能的接口调用顺序</a:t>
            </a:r>
            <a:endParaRPr kumimoji="1" lang="en-US" altLang="zh-CN" dirty="0"/>
          </a:p>
          <a:p>
            <a:pPr lvl="1"/>
            <a:r>
              <a:rPr kumimoji="1" lang="zh-CN" altLang="en-US" dirty="0"/>
              <a:t>解决：在</a:t>
            </a:r>
            <a:r>
              <a:rPr kumimoji="1" lang="zh-CN" altLang="en-US" dirty="0">
                <a:solidFill>
                  <a:srgbClr val="C00000"/>
                </a:solidFill>
              </a:rPr>
              <a:t>限制</a:t>
            </a:r>
            <a:r>
              <a:rPr kumimoji="1" lang="zh-CN" altLang="en-US" dirty="0"/>
              <a:t>接口调用情况下，</a:t>
            </a:r>
            <a:r>
              <a:rPr kumimoji="1" lang="zh-CN" altLang="en-US" dirty="0">
                <a:solidFill>
                  <a:srgbClr val="C00000"/>
                </a:solidFill>
              </a:rPr>
              <a:t>穷举</a:t>
            </a:r>
            <a:r>
              <a:rPr kumimoji="1" lang="zh-CN" altLang="en-US" dirty="0"/>
              <a:t>可能出现的调用</a:t>
            </a:r>
            <a:endParaRPr kumimoji="1" lang="en-US" altLang="zh-CN" dirty="0"/>
          </a:p>
          <a:p>
            <a:pPr lvl="2"/>
            <a:r>
              <a:rPr kumimoji="1" lang="zh-CN" altLang="en-US" dirty="0"/>
              <a:t>限制接口调用数量，文件数量，目录深度等</a:t>
            </a:r>
            <a:endParaRPr kumimoji="1" lang="en-US" altLang="zh-CN" dirty="0"/>
          </a:p>
          <a:p>
            <a:r>
              <a:rPr kumimoji="1" lang="zh-CN" altLang="en-US" dirty="0"/>
              <a:t>随机生成的缺点</a:t>
            </a:r>
            <a:endParaRPr kumimoji="1" lang="en-US" altLang="zh-CN" dirty="0"/>
          </a:p>
          <a:p>
            <a:pPr lvl="1"/>
            <a:r>
              <a:rPr kumimoji="1" lang="zh-CN" altLang="en-US" dirty="0"/>
              <a:t>生成产生大量测试输入，很可能包含大量重复测试</a:t>
            </a:r>
            <a:endParaRPr kumimoji="1" lang="en-US" altLang="zh-CN" dirty="0"/>
          </a:p>
          <a:p>
            <a:pPr lvl="1"/>
            <a:endParaRPr kumimoji="1" lang="en-US" altLang="zh-CN" dirty="0"/>
          </a:p>
          <a:p>
            <a:pPr lvl="2"/>
            <a:endParaRPr kumimoji="1" lang="en-US" altLang="zh-CN" dirty="0"/>
          </a:p>
        </p:txBody>
      </p:sp>
      <p:sp>
        <p:nvSpPr>
          <p:cNvPr id="4" name="灯片编号占位符 3">
            <a:extLst>
              <a:ext uri="{FF2B5EF4-FFF2-40B4-BE49-F238E27FC236}">
                <a16:creationId xmlns:a16="http://schemas.microsoft.com/office/drawing/2014/main" id="{B26A72CD-B8A4-EA47-93A2-F3895699943D}"/>
              </a:ext>
            </a:extLst>
          </p:cNvPr>
          <p:cNvSpPr>
            <a:spLocks noGrp="1"/>
          </p:cNvSpPr>
          <p:nvPr>
            <p:ph type="sldNum" sz="quarter" idx="12"/>
          </p:nvPr>
        </p:nvSpPr>
        <p:spPr/>
        <p:txBody>
          <a:bodyPr/>
          <a:lstStyle/>
          <a:p>
            <a:fld id="{ADE361C3-C043-4A6E-BDCE-8DA1E7D90A3B}" type="slidenum">
              <a:rPr lang="zh-CN" altLang="en-US" smtClean="0"/>
              <a:t>64</a:t>
            </a:fld>
            <a:endParaRPr lang="zh-CN" altLang="en-US" dirty="0"/>
          </a:p>
        </p:txBody>
      </p:sp>
      <p:sp>
        <p:nvSpPr>
          <p:cNvPr id="6" name="矩形 5">
            <a:extLst>
              <a:ext uri="{FF2B5EF4-FFF2-40B4-BE49-F238E27FC236}">
                <a16:creationId xmlns:a16="http://schemas.microsoft.com/office/drawing/2014/main" id="{84CF5172-9B2B-3C43-BED0-A7625BBDF49B}"/>
              </a:ext>
            </a:extLst>
          </p:cNvPr>
          <p:cNvSpPr/>
          <p:nvPr/>
        </p:nvSpPr>
        <p:spPr>
          <a:xfrm>
            <a:off x="2760444" y="1202963"/>
            <a:ext cx="1399964"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C00000"/>
                </a:solidFill>
              </a:rPr>
              <a:t>纯随机生成</a:t>
            </a:r>
          </a:p>
        </p:txBody>
      </p:sp>
      <p:sp>
        <p:nvSpPr>
          <p:cNvPr id="7" name="矩形 6">
            <a:extLst>
              <a:ext uri="{FF2B5EF4-FFF2-40B4-BE49-F238E27FC236}">
                <a16:creationId xmlns:a16="http://schemas.microsoft.com/office/drawing/2014/main" id="{8EEACF07-31A0-EA46-94CD-B39CFB8828F5}"/>
              </a:ext>
            </a:extLst>
          </p:cNvPr>
          <p:cNvSpPr/>
          <p:nvPr/>
        </p:nvSpPr>
        <p:spPr>
          <a:xfrm>
            <a:off x="704024" y="1202963"/>
            <a:ext cx="1296144"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手动编写</a:t>
            </a:r>
          </a:p>
        </p:txBody>
      </p:sp>
      <p:sp>
        <p:nvSpPr>
          <p:cNvPr id="8" name="矩形 7">
            <a:extLst>
              <a:ext uri="{FF2B5EF4-FFF2-40B4-BE49-F238E27FC236}">
                <a16:creationId xmlns:a16="http://schemas.microsoft.com/office/drawing/2014/main" id="{E1C31DA6-F5B7-FD40-AD1A-495A755001E5}"/>
              </a:ext>
            </a:extLst>
          </p:cNvPr>
          <p:cNvSpPr/>
          <p:nvPr/>
        </p:nvSpPr>
        <p:spPr>
          <a:xfrm>
            <a:off x="5024504" y="1126014"/>
            <a:ext cx="1399964" cy="6743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代码覆盖率反馈</a:t>
            </a:r>
            <a:endParaRPr kumimoji="1" lang="en-US" altLang="zh-CN" dirty="0">
              <a:solidFill>
                <a:schemeClr val="tx1"/>
              </a:solidFill>
            </a:endParaRPr>
          </a:p>
        </p:txBody>
      </p:sp>
      <p:sp>
        <p:nvSpPr>
          <p:cNvPr id="9" name="矩形 8">
            <a:extLst>
              <a:ext uri="{FF2B5EF4-FFF2-40B4-BE49-F238E27FC236}">
                <a16:creationId xmlns:a16="http://schemas.microsoft.com/office/drawing/2014/main" id="{6C3DDE18-3926-EB47-A007-DDE595835A1D}"/>
              </a:ext>
            </a:extLst>
          </p:cNvPr>
          <p:cNvSpPr/>
          <p:nvPr/>
        </p:nvSpPr>
        <p:spPr>
          <a:xfrm>
            <a:off x="7288564" y="1134966"/>
            <a:ext cx="1399964" cy="6743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程序语义</a:t>
            </a:r>
            <a:endParaRPr kumimoji="1" lang="en-US" altLang="zh-CN" dirty="0">
              <a:solidFill>
                <a:schemeClr val="tx1"/>
              </a:solidFill>
            </a:endParaRPr>
          </a:p>
          <a:p>
            <a:pPr algn="ctr"/>
            <a:r>
              <a:rPr kumimoji="1" lang="zh-CN" altLang="en-US" dirty="0">
                <a:solidFill>
                  <a:schemeClr val="tx1"/>
                </a:solidFill>
              </a:rPr>
              <a:t>反馈</a:t>
            </a:r>
            <a:endParaRPr kumimoji="1" lang="en-US" altLang="zh-CN" dirty="0">
              <a:solidFill>
                <a:schemeClr val="tx1"/>
              </a:solidFill>
            </a:endParaRPr>
          </a:p>
        </p:txBody>
      </p:sp>
      <p:cxnSp>
        <p:nvCxnSpPr>
          <p:cNvPr id="10" name="直线箭头连接符 9">
            <a:extLst>
              <a:ext uri="{FF2B5EF4-FFF2-40B4-BE49-F238E27FC236}">
                <a16:creationId xmlns:a16="http://schemas.microsoft.com/office/drawing/2014/main" id="{8C38475A-8D52-FB45-90DC-9A7CAB73F630}"/>
              </a:ext>
            </a:extLst>
          </p:cNvPr>
          <p:cNvCxnSpPr>
            <a:cxnSpLocks/>
            <a:stCxn id="7" idx="3"/>
            <a:endCxn id="6" idx="1"/>
          </p:cNvCxnSpPr>
          <p:nvPr/>
        </p:nvCxnSpPr>
        <p:spPr>
          <a:xfrm>
            <a:off x="2000168" y="1454991"/>
            <a:ext cx="76027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线箭头连接符 10">
            <a:extLst>
              <a:ext uri="{FF2B5EF4-FFF2-40B4-BE49-F238E27FC236}">
                <a16:creationId xmlns:a16="http://schemas.microsoft.com/office/drawing/2014/main" id="{84EA9721-0A12-EC47-82C5-28B7799EF1BD}"/>
              </a:ext>
            </a:extLst>
          </p:cNvPr>
          <p:cNvCxnSpPr>
            <a:cxnSpLocks/>
            <a:stCxn id="6" idx="3"/>
            <a:endCxn id="8" idx="1"/>
          </p:cNvCxnSpPr>
          <p:nvPr/>
        </p:nvCxnSpPr>
        <p:spPr>
          <a:xfrm>
            <a:off x="4160408" y="1454991"/>
            <a:ext cx="864096" cy="818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线箭头连接符 11">
            <a:extLst>
              <a:ext uri="{FF2B5EF4-FFF2-40B4-BE49-F238E27FC236}">
                <a16:creationId xmlns:a16="http://schemas.microsoft.com/office/drawing/2014/main" id="{604C4AA1-D26D-BB49-8B6D-A6D30B98558D}"/>
              </a:ext>
            </a:extLst>
          </p:cNvPr>
          <p:cNvCxnSpPr/>
          <p:nvPr/>
        </p:nvCxnSpPr>
        <p:spPr>
          <a:xfrm>
            <a:off x="6424468" y="1454991"/>
            <a:ext cx="86409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页脚占位符 4">
            <a:extLst>
              <a:ext uri="{FF2B5EF4-FFF2-40B4-BE49-F238E27FC236}">
                <a16:creationId xmlns:a16="http://schemas.microsoft.com/office/drawing/2014/main" id="{97160555-F059-504E-8518-0E563ED4B695}"/>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4410588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4FA7843-1873-7345-B8CC-3A1ABF2BA572}"/>
              </a:ext>
            </a:extLst>
          </p:cNvPr>
          <p:cNvSpPr>
            <a:spLocks noGrp="1"/>
          </p:cNvSpPr>
          <p:nvPr>
            <p:ph idx="1"/>
          </p:nvPr>
        </p:nvSpPr>
        <p:spPr>
          <a:xfrm>
            <a:off x="267104" y="1358898"/>
            <a:ext cx="8075240" cy="3963461"/>
          </a:xfrm>
        </p:spPr>
        <p:txBody>
          <a:bodyPr>
            <a:normAutofit/>
          </a:bodyPr>
          <a:lstStyle/>
          <a:p>
            <a:r>
              <a:rPr kumimoji="1" lang="zh-CN" altLang="en-US" sz="2000" dirty="0"/>
              <a:t>以</a:t>
            </a:r>
            <a:r>
              <a:rPr kumimoji="1" lang="en-US" altLang="zh-CN" sz="2000" dirty="0"/>
              <a:t>HYDRA</a:t>
            </a:r>
            <a:r>
              <a:rPr kumimoji="1" lang="zh-CN" altLang="en-US" sz="2000" dirty="0"/>
              <a:t> </a:t>
            </a:r>
            <a:r>
              <a:rPr kumimoji="1" lang="en-US" altLang="zh-CN" sz="2000" dirty="0"/>
              <a:t>(SOSP</a:t>
            </a:r>
            <a:r>
              <a:rPr kumimoji="1" lang="zh-CN" altLang="en-US" sz="2000" dirty="0"/>
              <a:t> </a:t>
            </a:r>
            <a:r>
              <a:rPr kumimoji="1" lang="en-US" altLang="zh-CN" sz="2000" dirty="0"/>
              <a:t>19)</a:t>
            </a:r>
            <a:r>
              <a:rPr kumimoji="1" lang="zh-CN" altLang="en-US" sz="2000" dirty="0"/>
              <a:t>为例</a:t>
            </a:r>
            <a:endParaRPr kumimoji="1" lang="en-US" altLang="zh-CN" sz="2000" dirty="0"/>
          </a:p>
          <a:p>
            <a:pPr lvl="1"/>
            <a:r>
              <a:rPr kumimoji="1" lang="en-US" altLang="zh-CN" sz="1800" dirty="0"/>
              <a:t>Linux </a:t>
            </a:r>
            <a:r>
              <a:rPr kumimoji="1" lang="zh-CN" altLang="en-US" sz="1800" dirty="0"/>
              <a:t>文件系统 </a:t>
            </a:r>
            <a:r>
              <a:rPr kumimoji="1" lang="en-US" altLang="zh-CN" sz="1800" dirty="0"/>
              <a:t>Fuzzing </a:t>
            </a:r>
            <a:r>
              <a:rPr kumimoji="1" lang="zh-CN" altLang="en-US" sz="1800" dirty="0"/>
              <a:t>测试</a:t>
            </a:r>
            <a:endParaRPr kumimoji="1" lang="en-US" altLang="zh-CN" sz="1800" dirty="0"/>
          </a:p>
          <a:p>
            <a:r>
              <a:rPr kumimoji="1" lang="en-US" altLang="zh-CN" sz="2000" dirty="0"/>
              <a:t>Fuzzing</a:t>
            </a:r>
            <a:r>
              <a:rPr kumimoji="1" lang="zh-CN" altLang="en-US" sz="2000" dirty="0"/>
              <a:t>测试</a:t>
            </a:r>
            <a:endParaRPr kumimoji="1" lang="en-US" altLang="zh-CN" sz="2000" dirty="0"/>
          </a:p>
          <a:p>
            <a:pPr lvl="1"/>
            <a:r>
              <a:rPr kumimoji="1" lang="zh-CN" altLang="en-US" sz="1800" dirty="0">
                <a:solidFill>
                  <a:srgbClr val="C00000"/>
                </a:solidFill>
              </a:rPr>
              <a:t>变异和反馈</a:t>
            </a:r>
            <a:r>
              <a:rPr kumimoji="1" lang="zh-CN" altLang="en-US" sz="1800" dirty="0">
                <a:solidFill>
                  <a:srgbClr val="404040"/>
                </a:solidFill>
              </a:rPr>
              <a:t>指导</a:t>
            </a:r>
            <a:r>
              <a:rPr kumimoji="1" lang="zh-CN" altLang="en-US" sz="1800" dirty="0"/>
              <a:t>测试样例生成</a:t>
            </a:r>
            <a:endParaRPr kumimoji="1" lang="en-US" altLang="zh-CN" sz="1800" dirty="0"/>
          </a:p>
          <a:p>
            <a:pPr lvl="2"/>
            <a:r>
              <a:rPr kumimoji="1" lang="zh-CN" altLang="en-US" sz="1800" dirty="0"/>
              <a:t>参数变异后进行系统调用</a:t>
            </a:r>
            <a:endParaRPr kumimoji="1" lang="en-US" altLang="zh-CN" sz="1800" dirty="0"/>
          </a:p>
          <a:p>
            <a:pPr lvl="2"/>
            <a:r>
              <a:rPr kumimoji="1" lang="zh-CN" altLang="en-US" sz="1800" dirty="0"/>
              <a:t>产生新的代码覆盖则继续变异</a:t>
            </a:r>
            <a:endParaRPr kumimoji="1" lang="en-US" altLang="zh-CN" sz="1800" dirty="0"/>
          </a:p>
          <a:p>
            <a:pPr lvl="1"/>
            <a:r>
              <a:rPr kumimoji="1" lang="zh-CN" altLang="en-US" sz="1800" dirty="0"/>
              <a:t>有效生成高代码覆盖率的测试</a:t>
            </a:r>
            <a:endParaRPr kumimoji="1" lang="en-US" altLang="zh-CN" sz="1800" dirty="0"/>
          </a:p>
          <a:p>
            <a:r>
              <a:rPr kumimoji="1" lang="zh-CN" altLang="en-US" sz="2000" dirty="0"/>
              <a:t>基于代码覆盖生成测试缺点</a:t>
            </a:r>
            <a:endParaRPr kumimoji="1" lang="en-US" altLang="zh-CN" sz="2000" dirty="0"/>
          </a:p>
          <a:p>
            <a:pPr lvl="1"/>
            <a:r>
              <a:rPr kumimoji="1" lang="zh-CN" altLang="en-US" sz="1800" dirty="0"/>
              <a:t>较难触发边界条件，例如错误处理函数</a:t>
            </a:r>
            <a:endParaRPr kumimoji="1" lang="en-US" altLang="zh-CN" sz="1800" dirty="0"/>
          </a:p>
          <a:p>
            <a:pPr lvl="1"/>
            <a:endParaRPr kumimoji="1" lang="en-US" altLang="zh-CN" sz="1800" dirty="0"/>
          </a:p>
          <a:p>
            <a:pPr lvl="1"/>
            <a:endParaRPr kumimoji="1" lang="zh-CN" altLang="en-US" sz="1800" dirty="0"/>
          </a:p>
        </p:txBody>
      </p:sp>
      <p:sp>
        <p:nvSpPr>
          <p:cNvPr id="4" name="灯片编号占位符 3">
            <a:extLst>
              <a:ext uri="{FF2B5EF4-FFF2-40B4-BE49-F238E27FC236}">
                <a16:creationId xmlns:a16="http://schemas.microsoft.com/office/drawing/2014/main" id="{B26A72CD-B8A4-EA47-93A2-F3895699943D}"/>
              </a:ext>
            </a:extLst>
          </p:cNvPr>
          <p:cNvSpPr>
            <a:spLocks noGrp="1"/>
          </p:cNvSpPr>
          <p:nvPr>
            <p:ph type="sldNum" sz="quarter" idx="12"/>
          </p:nvPr>
        </p:nvSpPr>
        <p:spPr/>
        <p:txBody>
          <a:bodyPr/>
          <a:lstStyle/>
          <a:p>
            <a:fld id="{ADE361C3-C043-4A6E-BDCE-8DA1E7D90A3B}" type="slidenum">
              <a:rPr lang="zh-CN" altLang="en-US" smtClean="0"/>
              <a:t>65</a:t>
            </a:fld>
            <a:endParaRPr lang="zh-CN" altLang="en-US"/>
          </a:p>
        </p:txBody>
      </p:sp>
      <p:sp>
        <p:nvSpPr>
          <p:cNvPr id="5" name="页脚占位符 4">
            <a:extLst>
              <a:ext uri="{FF2B5EF4-FFF2-40B4-BE49-F238E27FC236}">
                <a16:creationId xmlns:a16="http://schemas.microsoft.com/office/drawing/2014/main" id="{9C51D420-B9DC-1A42-A241-714BB22EDB1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33" name="圆角矩形 32">
            <a:extLst>
              <a:ext uri="{FF2B5EF4-FFF2-40B4-BE49-F238E27FC236}">
                <a16:creationId xmlns:a16="http://schemas.microsoft.com/office/drawing/2014/main" id="{B6947789-CE3F-EA48-937F-66312A980F47}"/>
              </a:ext>
            </a:extLst>
          </p:cNvPr>
          <p:cNvSpPr/>
          <p:nvPr/>
        </p:nvSpPr>
        <p:spPr>
          <a:xfrm>
            <a:off x="4572000" y="1438522"/>
            <a:ext cx="4367992" cy="2123151"/>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kumimoji="1" lang="zh-CN" altLang="en-US" dirty="0">
                <a:solidFill>
                  <a:srgbClr val="404040"/>
                </a:solidFill>
              </a:rPr>
              <a:t>测试生成</a:t>
            </a:r>
          </a:p>
        </p:txBody>
      </p:sp>
      <p:sp>
        <p:nvSpPr>
          <p:cNvPr id="34" name="圆角矩形 33">
            <a:extLst>
              <a:ext uri="{FF2B5EF4-FFF2-40B4-BE49-F238E27FC236}">
                <a16:creationId xmlns:a16="http://schemas.microsoft.com/office/drawing/2014/main" id="{DFF16FDA-CF6C-5D4B-AFEB-C88F8CDAB80E}"/>
              </a:ext>
            </a:extLst>
          </p:cNvPr>
          <p:cNvSpPr/>
          <p:nvPr/>
        </p:nvSpPr>
        <p:spPr>
          <a:xfrm>
            <a:off x="6071920" y="4352413"/>
            <a:ext cx="1368152" cy="655751"/>
          </a:xfrm>
          <a:prstGeom prst="roundRect">
            <a:avLst/>
          </a:prstGeom>
          <a:noFill/>
          <a:ln>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404040"/>
                </a:solidFill>
              </a:rPr>
              <a:t>执行</a:t>
            </a:r>
          </a:p>
        </p:txBody>
      </p:sp>
      <p:cxnSp>
        <p:nvCxnSpPr>
          <p:cNvPr id="35" name="直线箭头连接符 34">
            <a:extLst>
              <a:ext uri="{FF2B5EF4-FFF2-40B4-BE49-F238E27FC236}">
                <a16:creationId xmlns:a16="http://schemas.microsoft.com/office/drawing/2014/main" id="{3DAF0BC7-D8DF-5F41-98EB-71DC5EEA9720}"/>
              </a:ext>
            </a:extLst>
          </p:cNvPr>
          <p:cNvCxnSpPr>
            <a:cxnSpLocks/>
            <a:stCxn id="33" idx="2"/>
            <a:endCxn id="34" idx="0"/>
          </p:cNvCxnSpPr>
          <p:nvPr/>
        </p:nvCxnSpPr>
        <p:spPr>
          <a:xfrm>
            <a:off x="6755996" y="3561673"/>
            <a:ext cx="0" cy="790740"/>
          </a:xfrm>
          <a:prstGeom prst="straightConnector1">
            <a:avLst/>
          </a:prstGeom>
          <a:ln w="25400">
            <a:solidFill>
              <a:srgbClr val="404040"/>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8A6B84F5-1A32-994F-8680-5649B7E0064A}"/>
              </a:ext>
            </a:extLst>
          </p:cNvPr>
          <p:cNvSpPr txBox="1"/>
          <p:nvPr/>
        </p:nvSpPr>
        <p:spPr>
          <a:xfrm>
            <a:off x="7768900" y="4264474"/>
            <a:ext cx="1107996" cy="646331"/>
          </a:xfrm>
          <a:prstGeom prst="rect">
            <a:avLst/>
          </a:prstGeom>
          <a:noFill/>
        </p:spPr>
        <p:txBody>
          <a:bodyPr wrap="none" rtlCol="0">
            <a:spAutoFit/>
          </a:bodyPr>
          <a:lstStyle/>
          <a:p>
            <a:pPr algn="ctr"/>
            <a:r>
              <a:rPr kumimoji="1" lang="zh-CN" altLang="en-US" dirty="0"/>
              <a:t>反馈</a:t>
            </a:r>
            <a:endParaRPr kumimoji="1" lang="en-US" altLang="zh-CN" dirty="0"/>
          </a:p>
          <a:p>
            <a:pPr algn="ctr"/>
            <a:r>
              <a:rPr kumimoji="1" lang="zh-CN" altLang="en-US" dirty="0"/>
              <a:t>代码覆盖</a:t>
            </a:r>
          </a:p>
        </p:txBody>
      </p:sp>
      <p:sp>
        <p:nvSpPr>
          <p:cNvPr id="39" name="矩形 38">
            <a:extLst>
              <a:ext uri="{FF2B5EF4-FFF2-40B4-BE49-F238E27FC236}">
                <a16:creationId xmlns:a16="http://schemas.microsoft.com/office/drawing/2014/main" id="{FACE8D24-36A7-3A49-AB7C-BB838FAF62AB}"/>
              </a:ext>
            </a:extLst>
          </p:cNvPr>
          <p:cNvSpPr/>
          <p:nvPr/>
        </p:nvSpPr>
        <p:spPr>
          <a:xfrm>
            <a:off x="4596597" y="2329340"/>
            <a:ext cx="2108269" cy="369332"/>
          </a:xfrm>
          <a:prstGeom prst="rect">
            <a:avLst/>
          </a:prstGeom>
        </p:spPr>
        <p:txBody>
          <a:bodyPr wrap="none">
            <a:spAutoFit/>
          </a:bodyPr>
          <a:lstStyle/>
          <a:p>
            <a:r>
              <a:rPr lang="en-US" altLang="zh-CN" dirty="0"/>
              <a:t>write (</a:t>
            </a:r>
            <a:r>
              <a:rPr lang="en-US" altLang="zh-CN" dirty="0" err="1"/>
              <a:t>fd</a:t>
            </a:r>
            <a:r>
              <a:rPr lang="en-US" altLang="zh-CN" dirty="0"/>
              <a:t>, </a:t>
            </a:r>
            <a:r>
              <a:rPr lang="en-US" altLang="zh-CN" dirty="0" err="1"/>
              <a:t>buf</a:t>
            </a:r>
            <a:r>
              <a:rPr lang="en-US" altLang="zh-CN" dirty="0"/>
              <a:t>, </a:t>
            </a:r>
            <a:r>
              <a:rPr lang="en-US" altLang="zh-CN" dirty="0">
                <a:solidFill>
                  <a:srgbClr val="C00000"/>
                </a:solidFill>
              </a:rPr>
              <a:t>101</a:t>
            </a:r>
            <a:r>
              <a:rPr lang="en-US" altLang="zh-CN" dirty="0"/>
              <a:t>) </a:t>
            </a:r>
            <a:endParaRPr lang="zh-CN" altLang="en-US" dirty="0"/>
          </a:p>
        </p:txBody>
      </p:sp>
      <p:sp>
        <p:nvSpPr>
          <p:cNvPr id="40" name="矩形 39">
            <a:extLst>
              <a:ext uri="{FF2B5EF4-FFF2-40B4-BE49-F238E27FC236}">
                <a16:creationId xmlns:a16="http://schemas.microsoft.com/office/drawing/2014/main" id="{311B2F7D-9BF2-0146-BD71-CAA1F6DF2DD5}"/>
              </a:ext>
            </a:extLst>
          </p:cNvPr>
          <p:cNvSpPr/>
          <p:nvPr/>
        </p:nvSpPr>
        <p:spPr>
          <a:xfrm>
            <a:off x="6729463" y="2332099"/>
            <a:ext cx="2371162" cy="369332"/>
          </a:xfrm>
          <a:prstGeom prst="rect">
            <a:avLst/>
          </a:prstGeom>
        </p:spPr>
        <p:txBody>
          <a:bodyPr wrap="none">
            <a:spAutoFit/>
          </a:bodyPr>
          <a:lstStyle/>
          <a:p>
            <a:r>
              <a:rPr lang="en-US" altLang="zh-CN" dirty="0"/>
              <a:t>write (</a:t>
            </a:r>
            <a:r>
              <a:rPr lang="en-US" altLang="zh-CN" dirty="0" err="1"/>
              <a:t>fd</a:t>
            </a:r>
            <a:r>
              <a:rPr lang="en-US" altLang="zh-CN" dirty="0"/>
              <a:t>, </a:t>
            </a:r>
            <a:r>
              <a:rPr lang="en-US" altLang="zh-CN" dirty="0">
                <a:solidFill>
                  <a:srgbClr val="C00000"/>
                </a:solidFill>
              </a:rPr>
              <a:t>buf+1</a:t>
            </a:r>
            <a:r>
              <a:rPr lang="en-US" altLang="zh-CN" dirty="0"/>
              <a:t>, 100) </a:t>
            </a:r>
            <a:endParaRPr lang="zh-CN" altLang="en-US" dirty="0"/>
          </a:p>
        </p:txBody>
      </p:sp>
      <p:cxnSp>
        <p:nvCxnSpPr>
          <p:cNvPr id="41" name="直线箭头连接符 40">
            <a:extLst>
              <a:ext uri="{FF2B5EF4-FFF2-40B4-BE49-F238E27FC236}">
                <a16:creationId xmlns:a16="http://schemas.microsoft.com/office/drawing/2014/main" id="{E528DAF0-F5FF-9F4C-8092-D20E94E1257E}"/>
              </a:ext>
            </a:extLst>
          </p:cNvPr>
          <p:cNvCxnSpPr>
            <a:cxnSpLocks/>
          </p:cNvCxnSpPr>
          <p:nvPr/>
        </p:nvCxnSpPr>
        <p:spPr>
          <a:xfrm flipH="1">
            <a:off x="5952168" y="1928860"/>
            <a:ext cx="634708" cy="4131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2" name="直线箭头连接符 41">
            <a:extLst>
              <a:ext uri="{FF2B5EF4-FFF2-40B4-BE49-F238E27FC236}">
                <a16:creationId xmlns:a16="http://schemas.microsoft.com/office/drawing/2014/main" id="{0759ABC5-4C8F-B645-9913-0491981837B0}"/>
              </a:ext>
            </a:extLst>
          </p:cNvPr>
          <p:cNvCxnSpPr>
            <a:cxnSpLocks/>
          </p:cNvCxnSpPr>
          <p:nvPr/>
        </p:nvCxnSpPr>
        <p:spPr>
          <a:xfrm>
            <a:off x="6960280" y="1928860"/>
            <a:ext cx="600428" cy="3893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DA463E6B-1569-9F4A-8DE0-98866FE7B384}"/>
              </a:ext>
            </a:extLst>
          </p:cNvPr>
          <p:cNvSpPr/>
          <p:nvPr/>
        </p:nvSpPr>
        <p:spPr>
          <a:xfrm>
            <a:off x="4371111" y="1558031"/>
            <a:ext cx="3557384" cy="369332"/>
          </a:xfrm>
          <a:prstGeom prst="rect">
            <a:avLst/>
          </a:prstGeom>
        </p:spPr>
        <p:txBody>
          <a:bodyPr wrap="none">
            <a:spAutoFit/>
          </a:bodyPr>
          <a:lstStyle/>
          <a:p>
            <a:pPr lvl="3"/>
            <a:r>
              <a:rPr lang="en-US" altLang="zh-CN" dirty="0"/>
              <a:t>write (</a:t>
            </a:r>
            <a:r>
              <a:rPr lang="en-US" altLang="zh-CN" dirty="0" err="1"/>
              <a:t>fd</a:t>
            </a:r>
            <a:r>
              <a:rPr lang="en-US" altLang="zh-CN" dirty="0"/>
              <a:t>, </a:t>
            </a:r>
            <a:r>
              <a:rPr lang="en-US" altLang="zh-CN" dirty="0" err="1"/>
              <a:t>buf</a:t>
            </a:r>
            <a:r>
              <a:rPr lang="en-US" altLang="zh-CN" dirty="0"/>
              <a:t>, 100)</a:t>
            </a:r>
          </a:p>
        </p:txBody>
      </p:sp>
      <p:cxnSp>
        <p:nvCxnSpPr>
          <p:cNvPr id="54" name="曲线连接符 53">
            <a:extLst>
              <a:ext uri="{FF2B5EF4-FFF2-40B4-BE49-F238E27FC236}">
                <a16:creationId xmlns:a16="http://schemas.microsoft.com/office/drawing/2014/main" id="{8AE0FC43-602F-E845-94FD-D7C9B9D4B96B}"/>
              </a:ext>
            </a:extLst>
          </p:cNvPr>
          <p:cNvCxnSpPr>
            <a:cxnSpLocks/>
            <a:stCxn id="34" idx="3"/>
            <a:endCxn id="69" idx="2"/>
          </p:cNvCxnSpPr>
          <p:nvPr/>
        </p:nvCxnSpPr>
        <p:spPr>
          <a:xfrm flipV="1">
            <a:off x="7440072" y="3368141"/>
            <a:ext cx="830276" cy="1312148"/>
          </a:xfrm>
          <a:prstGeom prst="curvedConnector2">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矩形 56">
            <a:extLst>
              <a:ext uri="{FF2B5EF4-FFF2-40B4-BE49-F238E27FC236}">
                <a16:creationId xmlns:a16="http://schemas.microsoft.com/office/drawing/2014/main" id="{67F84AB8-6E73-B842-B789-6EE0CC86BA11}"/>
              </a:ext>
            </a:extLst>
          </p:cNvPr>
          <p:cNvSpPr/>
          <p:nvPr/>
        </p:nvSpPr>
        <p:spPr>
          <a:xfrm>
            <a:off x="7721340" y="1948879"/>
            <a:ext cx="646331" cy="369332"/>
          </a:xfrm>
          <a:prstGeom prst="rect">
            <a:avLst/>
          </a:prstGeom>
        </p:spPr>
        <p:txBody>
          <a:bodyPr wrap="none">
            <a:spAutoFit/>
          </a:bodyPr>
          <a:lstStyle/>
          <a:p>
            <a:pPr algn="ctr"/>
            <a:r>
              <a:rPr kumimoji="1" lang="zh-CN" altLang="en-US" dirty="0"/>
              <a:t>变异</a:t>
            </a:r>
            <a:endParaRPr kumimoji="1" lang="en-US" altLang="zh-CN" dirty="0"/>
          </a:p>
        </p:txBody>
      </p:sp>
      <p:cxnSp>
        <p:nvCxnSpPr>
          <p:cNvPr id="67" name="直线箭头连接符 66">
            <a:extLst>
              <a:ext uri="{FF2B5EF4-FFF2-40B4-BE49-F238E27FC236}">
                <a16:creationId xmlns:a16="http://schemas.microsoft.com/office/drawing/2014/main" id="{01FC2B7F-BAFA-4040-BA60-6396F78676C9}"/>
              </a:ext>
            </a:extLst>
          </p:cNvPr>
          <p:cNvCxnSpPr>
            <a:cxnSpLocks/>
          </p:cNvCxnSpPr>
          <p:nvPr/>
        </p:nvCxnSpPr>
        <p:spPr>
          <a:xfrm>
            <a:off x="7575641" y="2697797"/>
            <a:ext cx="101" cy="710069"/>
          </a:xfrm>
          <a:prstGeom prst="straightConnector1">
            <a:avLst/>
          </a:prstGeom>
          <a:ln w="38100">
            <a:prstDash val="sysDash"/>
            <a:tailEnd type="triangle"/>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6E1424DF-85D6-C14D-9376-3DC7FF46A408}"/>
              </a:ext>
            </a:extLst>
          </p:cNvPr>
          <p:cNvSpPr/>
          <p:nvPr/>
        </p:nvSpPr>
        <p:spPr>
          <a:xfrm>
            <a:off x="7709937" y="2721810"/>
            <a:ext cx="1120821" cy="646331"/>
          </a:xfrm>
          <a:prstGeom prst="rect">
            <a:avLst/>
          </a:prstGeom>
        </p:spPr>
        <p:txBody>
          <a:bodyPr wrap="none">
            <a:spAutoFit/>
          </a:bodyPr>
          <a:lstStyle/>
          <a:p>
            <a:pPr algn="ctr"/>
            <a:r>
              <a:rPr kumimoji="1" lang="zh-CN" altLang="en-US" dirty="0"/>
              <a:t>新覆盖则</a:t>
            </a:r>
            <a:endParaRPr kumimoji="1" lang="en-US" altLang="zh-CN" dirty="0"/>
          </a:p>
          <a:p>
            <a:pPr algn="ctr"/>
            <a:r>
              <a:rPr kumimoji="1" lang="zh-CN" altLang="en-US" dirty="0"/>
              <a:t>继续变异</a:t>
            </a:r>
            <a:endParaRPr kumimoji="1" lang="en-US" altLang="zh-CN" dirty="0"/>
          </a:p>
        </p:txBody>
      </p:sp>
      <p:sp>
        <p:nvSpPr>
          <p:cNvPr id="19" name="矩形 18">
            <a:extLst>
              <a:ext uri="{FF2B5EF4-FFF2-40B4-BE49-F238E27FC236}">
                <a16:creationId xmlns:a16="http://schemas.microsoft.com/office/drawing/2014/main" id="{896893BB-6682-3E42-96D1-83CF7214E661}"/>
              </a:ext>
            </a:extLst>
          </p:cNvPr>
          <p:cNvSpPr/>
          <p:nvPr/>
        </p:nvSpPr>
        <p:spPr>
          <a:xfrm>
            <a:off x="2738014" y="261399"/>
            <a:ext cx="1399964"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纯随机生成</a:t>
            </a:r>
          </a:p>
        </p:txBody>
      </p:sp>
      <p:sp>
        <p:nvSpPr>
          <p:cNvPr id="20" name="矩形 19">
            <a:extLst>
              <a:ext uri="{FF2B5EF4-FFF2-40B4-BE49-F238E27FC236}">
                <a16:creationId xmlns:a16="http://schemas.microsoft.com/office/drawing/2014/main" id="{509C4FC8-F02E-D144-AAB4-40BDCC0AA4CB}"/>
              </a:ext>
            </a:extLst>
          </p:cNvPr>
          <p:cNvSpPr/>
          <p:nvPr/>
        </p:nvSpPr>
        <p:spPr>
          <a:xfrm>
            <a:off x="681594" y="261399"/>
            <a:ext cx="1296144"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手动编写</a:t>
            </a:r>
          </a:p>
        </p:txBody>
      </p:sp>
      <p:sp>
        <p:nvSpPr>
          <p:cNvPr id="21" name="矩形 20">
            <a:extLst>
              <a:ext uri="{FF2B5EF4-FFF2-40B4-BE49-F238E27FC236}">
                <a16:creationId xmlns:a16="http://schemas.microsoft.com/office/drawing/2014/main" id="{B9BA2D4A-1F5C-7B46-9B64-61553A6FBC1B}"/>
              </a:ext>
            </a:extLst>
          </p:cNvPr>
          <p:cNvSpPr/>
          <p:nvPr/>
        </p:nvSpPr>
        <p:spPr>
          <a:xfrm>
            <a:off x="5002074" y="184450"/>
            <a:ext cx="1399964" cy="6743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C00000"/>
                </a:solidFill>
              </a:rPr>
              <a:t>代码覆盖率反馈</a:t>
            </a:r>
            <a:endParaRPr kumimoji="1" lang="en-US" altLang="zh-CN" dirty="0">
              <a:solidFill>
                <a:srgbClr val="C00000"/>
              </a:solidFill>
            </a:endParaRPr>
          </a:p>
        </p:txBody>
      </p:sp>
      <p:sp>
        <p:nvSpPr>
          <p:cNvPr id="22" name="矩形 21">
            <a:extLst>
              <a:ext uri="{FF2B5EF4-FFF2-40B4-BE49-F238E27FC236}">
                <a16:creationId xmlns:a16="http://schemas.microsoft.com/office/drawing/2014/main" id="{12789106-4D61-5E43-B02A-69433A4C3954}"/>
              </a:ext>
            </a:extLst>
          </p:cNvPr>
          <p:cNvSpPr/>
          <p:nvPr/>
        </p:nvSpPr>
        <p:spPr>
          <a:xfrm>
            <a:off x="7266134" y="193402"/>
            <a:ext cx="1399964" cy="6743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程序语义</a:t>
            </a:r>
            <a:endParaRPr kumimoji="1" lang="en-US" altLang="zh-CN" dirty="0">
              <a:solidFill>
                <a:schemeClr val="tx1"/>
              </a:solidFill>
            </a:endParaRPr>
          </a:p>
          <a:p>
            <a:pPr algn="ctr"/>
            <a:r>
              <a:rPr kumimoji="1" lang="zh-CN" altLang="en-US" dirty="0">
                <a:solidFill>
                  <a:schemeClr val="tx1"/>
                </a:solidFill>
              </a:rPr>
              <a:t>反馈</a:t>
            </a:r>
            <a:endParaRPr kumimoji="1" lang="en-US" altLang="zh-CN" dirty="0">
              <a:solidFill>
                <a:schemeClr val="tx1"/>
              </a:solidFill>
            </a:endParaRPr>
          </a:p>
        </p:txBody>
      </p:sp>
      <p:cxnSp>
        <p:nvCxnSpPr>
          <p:cNvPr id="23" name="直线箭头连接符 22">
            <a:extLst>
              <a:ext uri="{FF2B5EF4-FFF2-40B4-BE49-F238E27FC236}">
                <a16:creationId xmlns:a16="http://schemas.microsoft.com/office/drawing/2014/main" id="{0924009A-63FA-DB40-8FAB-8BC996A9A60D}"/>
              </a:ext>
            </a:extLst>
          </p:cNvPr>
          <p:cNvCxnSpPr>
            <a:cxnSpLocks/>
            <a:stCxn id="20" idx="3"/>
            <a:endCxn id="19" idx="1"/>
          </p:cNvCxnSpPr>
          <p:nvPr/>
        </p:nvCxnSpPr>
        <p:spPr>
          <a:xfrm>
            <a:off x="1977738" y="513427"/>
            <a:ext cx="76027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线箭头连接符 23">
            <a:extLst>
              <a:ext uri="{FF2B5EF4-FFF2-40B4-BE49-F238E27FC236}">
                <a16:creationId xmlns:a16="http://schemas.microsoft.com/office/drawing/2014/main" id="{A5CB3F86-D775-3B42-B6D3-21E8F9CE0D36}"/>
              </a:ext>
            </a:extLst>
          </p:cNvPr>
          <p:cNvCxnSpPr>
            <a:cxnSpLocks/>
            <a:stCxn id="19" idx="3"/>
            <a:endCxn id="21" idx="1"/>
          </p:cNvCxnSpPr>
          <p:nvPr/>
        </p:nvCxnSpPr>
        <p:spPr>
          <a:xfrm>
            <a:off x="4137978" y="513427"/>
            <a:ext cx="864096" cy="818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D801EC25-B05F-574B-AD9F-9992948B0757}"/>
              </a:ext>
            </a:extLst>
          </p:cNvPr>
          <p:cNvCxnSpPr/>
          <p:nvPr/>
        </p:nvCxnSpPr>
        <p:spPr>
          <a:xfrm>
            <a:off x="6402038" y="513427"/>
            <a:ext cx="86409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D2FFAC95-7099-9947-97E9-0B82C757D959}"/>
              </a:ext>
            </a:extLst>
          </p:cNvPr>
          <p:cNvSpPr/>
          <p:nvPr/>
        </p:nvSpPr>
        <p:spPr>
          <a:xfrm>
            <a:off x="-252536" y="226530"/>
            <a:ext cx="792088" cy="8307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9868510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4FA7843-1873-7345-B8CC-3A1ABF2BA572}"/>
              </a:ext>
            </a:extLst>
          </p:cNvPr>
          <p:cNvSpPr>
            <a:spLocks noGrp="1"/>
          </p:cNvSpPr>
          <p:nvPr>
            <p:ph idx="1"/>
          </p:nvPr>
        </p:nvSpPr>
        <p:spPr>
          <a:xfrm>
            <a:off x="154585" y="1324549"/>
            <a:ext cx="8075240" cy="3963461"/>
          </a:xfrm>
        </p:spPr>
        <p:txBody>
          <a:bodyPr>
            <a:normAutofit/>
          </a:bodyPr>
          <a:lstStyle/>
          <a:p>
            <a:r>
              <a:rPr kumimoji="1" lang="zh-CN" altLang="en-US" sz="2000" dirty="0"/>
              <a:t>以</a:t>
            </a:r>
            <a:r>
              <a:rPr kumimoji="1" lang="en-US" altLang="zh-CN" sz="2000" dirty="0"/>
              <a:t>FIFUZZ</a:t>
            </a:r>
            <a:r>
              <a:rPr kumimoji="1" lang="zh-CN" altLang="en-US" sz="2000" dirty="0"/>
              <a:t> </a:t>
            </a:r>
            <a:r>
              <a:rPr kumimoji="1" lang="en-US" altLang="zh-CN" sz="2000" dirty="0"/>
              <a:t>(Security</a:t>
            </a:r>
            <a:r>
              <a:rPr kumimoji="1" lang="zh-CN" altLang="en-US" sz="2000" dirty="0"/>
              <a:t> </a:t>
            </a:r>
            <a:r>
              <a:rPr kumimoji="1" lang="en-US" altLang="zh-CN" sz="2000" dirty="0"/>
              <a:t>20)</a:t>
            </a:r>
            <a:r>
              <a:rPr kumimoji="1" lang="zh-CN" altLang="en-US" sz="2000" dirty="0"/>
              <a:t>为例</a:t>
            </a:r>
            <a:endParaRPr kumimoji="1" lang="en-US" altLang="zh-CN" sz="2000" dirty="0"/>
          </a:p>
          <a:p>
            <a:pPr lvl="1"/>
            <a:r>
              <a:rPr kumimoji="1" lang="zh-CN" altLang="en-US" sz="1800" dirty="0"/>
              <a:t>针对错误处理进行测试</a:t>
            </a:r>
            <a:endParaRPr kumimoji="1" lang="en-US" altLang="zh-CN" sz="1800" dirty="0"/>
          </a:p>
          <a:p>
            <a:r>
              <a:rPr kumimoji="1" lang="zh-CN" altLang="en-US" sz="2000" dirty="0"/>
              <a:t>针对错误处理</a:t>
            </a:r>
            <a:endParaRPr kumimoji="1" lang="en-US" altLang="zh-CN" sz="2000" dirty="0"/>
          </a:p>
          <a:p>
            <a:pPr lvl="1"/>
            <a:r>
              <a:rPr kumimoji="1" lang="zh-CN" altLang="en-US" sz="1800" dirty="0"/>
              <a:t>使用</a:t>
            </a:r>
            <a:r>
              <a:rPr kumimoji="1" lang="zh-CN" altLang="en-US" sz="1800" dirty="0">
                <a:solidFill>
                  <a:srgbClr val="C00000"/>
                </a:solidFill>
              </a:rPr>
              <a:t>错误注入</a:t>
            </a:r>
            <a:r>
              <a:rPr kumimoji="1" lang="zh-CN" altLang="en-US" sz="1800" dirty="0"/>
              <a:t>（</a:t>
            </a:r>
            <a:r>
              <a:rPr kumimoji="1" lang="en-US" altLang="zh-CN" sz="1800" dirty="0"/>
              <a:t>fault</a:t>
            </a:r>
            <a:r>
              <a:rPr kumimoji="1" lang="zh-CN" altLang="en-US" sz="1800" dirty="0"/>
              <a:t> </a:t>
            </a:r>
            <a:r>
              <a:rPr kumimoji="1" lang="en-US" altLang="zh-CN" sz="1800" dirty="0"/>
              <a:t>injection</a:t>
            </a:r>
            <a:r>
              <a:rPr kumimoji="1" lang="zh-CN" altLang="en-US" sz="1800" dirty="0"/>
              <a:t>）作为输入</a:t>
            </a:r>
            <a:endParaRPr kumimoji="1" lang="en-US" altLang="zh-CN" sz="1800" dirty="0"/>
          </a:p>
          <a:p>
            <a:pPr lvl="2"/>
            <a:r>
              <a:rPr kumimoji="1" lang="zh-CN" altLang="en-US" sz="1800" dirty="0"/>
              <a:t>例如故意将</a:t>
            </a:r>
            <a:r>
              <a:rPr kumimoji="1" lang="en-US" altLang="zh-CN" sz="1800" dirty="0" err="1"/>
              <a:t>kmalloc</a:t>
            </a:r>
            <a:r>
              <a:rPr kumimoji="1" lang="zh-CN" altLang="en-US" sz="1800" dirty="0"/>
              <a:t>返回的</a:t>
            </a:r>
            <a:r>
              <a:rPr kumimoji="1" lang="en-US" altLang="zh-CN" sz="1800" dirty="0" err="1">
                <a:solidFill>
                  <a:srgbClr val="C00000"/>
                </a:solidFill>
              </a:rPr>
              <a:t>ptr</a:t>
            </a:r>
            <a:r>
              <a:rPr kumimoji="1" lang="zh-CN" altLang="en-US" sz="1800" dirty="0"/>
              <a:t>设为</a:t>
            </a:r>
            <a:r>
              <a:rPr kumimoji="1" lang="en-US" altLang="zh-CN" sz="1800" dirty="0"/>
              <a:t>NULL</a:t>
            </a:r>
          </a:p>
          <a:p>
            <a:pPr lvl="1"/>
            <a:r>
              <a:rPr kumimoji="1" lang="zh-CN" altLang="en-US" sz="1800" dirty="0"/>
              <a:t>变异过程：配置各个错误注入打开或关闭</a:t>
            </a:r>
            <a:endParaRPr kumimoji="1" lang="en-US" altLang="zh-CN" sz="1800" dirty="0"/>
          </a:p>
          <a:p>
            <a:pPr lvl="2"/>
            <a:r>
              <a:rPr kumimoji="1" lang="zh-CN" altLang="en-US" sz="1800" dirty="0"/>
              <a:t>如果能够触发新的</a:t>
            </a:r>
            <a:r>
              <a:rPr kumimoji="1" lang="zh-CN" altLang="en-US" sz="1800" dirty="0">
                <a:solidFill>
                  <a:srgbClr val="C00000"/>
                </a:solidFill>
              </a:rPr>
              <a:t>错误处理序列</a:t>
            </a:r>
            <a:r>
              <a:rPr kumimoji="1" lang="zh-CN" altLang="en-US" sz="1800" dirty="0">
                <a:solidFill>
                  <a:srgbClr val="404040"/>
                </a:solidFill>
              </a:rPr>
              <a:t>则继续变异</a:t>
            </a:r>
            <a:endParaRPr kumimoji="1" lang="en-US" altLang="zh-CN" sz="1800" dirty="0">
              <a:solidFill>
                <a:srgbClr val="404040"/>
              </a:solidFill>
            </a:endParaRPr>
          </a:p>
          <a:p>
            <a:pPr lvl="1"/>
            <a:r>
              <a:rPr kumimoji="1" lang="zh-CN" altLang="en-US" sz="1800" dirty="0"/>
              <a:t>有效覆盖错误处理相关代码</a:t>
            </a:r>
            <a:endParaRPr kumimoji="1" lang="en-US" altLang="zh-CN" sz="1800" dirty="0"/>
          </a:p>
          <a:p>
            <a:pPr lvl="1"/>
            <a:endParaRPr kumimoji="1" lang="zh-CN" altLang="en-US" sz="1800" dirty="0"/>
          </a:p>
        </p:txBody>
      </p:sp>
      <p:sp>
        <p:nvSpPr>
          <p:cNvPr id="4" name="灯片编号占位符 3">
            <a:extLst>
              <a:ext uri="{FF2B5EF4-FFF2-40B4-BE49-F238E27FC236}">
                <a16:creationId xmlns:a16="http://schemas.microsoft.com/office/drawing/2014/main" id="{B26A72CD-B8A4-EA47-93A2-F3895699943D}"/>
              </a:ext>
            </a:extLst>
          </p:cNvPr>
          <p:cNvSpPr>
            <a:spLocks noGrp="1"/>
          </p:cNvSpPr>
          <p:nvPr>
            <p:ph type="sldNum" sz="quarter" idx="12"/>
          </p:nvPr>
        </p:nvSpPr>
        <p:spPr/>
        <p:txBody>
          <a:bodyPr/>
          <a:lstStyle/>
          <a:p>
            <a:fld id="{ADE361C3-C043-4A6E-BDCE-8DA1E7D90A3B}" type="slidenum">
              <a:rPr lang="zh-CN" altLang="en-US" smtClean="0"/>
              <a:t>66</a:t>
            </a:fld>
            <a:endParaRPr lang="zh-CN" altLang="en-US"/>
          </a:p>
        </p:txBody>
      </p:sp>
      <p:sp>
        <p:nvSpPr>
          <p:cNvPr id="5" name="页脚占位符 4">
            <a:extLst>
              <a:ext uri="{FF2B5EF4-FFF2-40B4-BE49-F238E27FC236}">
                <a16:creationId xmlns:a16="http://schemas.microsoft.com/office/drawing/2014/main" id="{9C51D420-B9DC-1A42-A241-714BB22EDB1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19" name="矩形 18">
            <a:extLst>
              <a:ext uri="{FF2B5EF4-FFF2-40B4-BE49-F238E27FC236}">
                <a16:creationId xmlns:a16="http://schemas.microsoft.com/office/drawing/2014/main" id="{896893BB-6682-3E42-96D1-83CF7214E661}"/>
              </a:ext>
            </a:extLst>
          </p:cNvPr>
          <p:cNvSpPr/>
          <p:nvPr/>
        </p:nvSpPr>
        <p:spPr>
          <a:xfrm>
            <a:off x="2738014" y="261399"/>
            <a:ext cx="1399964"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纯随机生成</a:t>
            </a:r>
          </a:p>
        </p:txBody>
      </p:sp>
      <p:sp>
        <p:nvSpPr>
          <p:cNvPr id="20" name="矩形 19">
            <a:extLst>
              <a:ext uri="{FF2B5EF4-FFF2-40B4-BE49-F238E27FC236}">
                <a16:creationId xmlns:a16="http://schemas.microsoft.com/office/drawing/2014/main" id="{509C4FC8-F02E-D144-AAB4-40BDCC0AA4CB}"/>
              </a:ext>
            </a:extLst>
          </p:cNvPr>
          <p:cNvSpPr/>
          <p:nvPr/>
        </p:nvSpPr>
        <p:spPr>
          <a:xfrm>
            <a:off x="681594" y="261399"/>
            <a:ext cx="1296144"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手动编写</a:t>
            </a:r>
          </a:p>
        </p:txBody>
      </p:sp>
      <p:sp>
        <p:nvSpPr>
          <p:cNvPr id="21" name="矩形 20">
            <a:extLst>
              <a:ext uri="{FF2B5EF4-FFF2-40B4-BE49-F238E27FC236}">
                <a16:creationId xmlns:a16="http://schemas.microsoft.com/office/drawing/2014/main" id="{B9BA2D4A-1F5C-7B46-9B64-61553A6FBC1B}"/>
              </a:ext>
            </a:extLst>
          </p:cNvPr>
          <p:cNvSpPr/>
          <p:nvPr/>
        </p:nvSpPr>
        <p:spPr>
          <a:xfrm>
            <a:off x="5002074" y="184450"/>
            <a:ext cx="1399964" cy="6743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代码覆盖率反馈</a:t>
            </a:r>
            <a:endParaRPr kumimoji="1" lang="en-US" altLang="zh-CN" dirty="0">
              <a:solidFill>
                <a:schemeClr val="tx1"/>
              </a:solidFill>
            </a:endParaRPr>
          </a:p>
        </p:txBody>
      </p:sp>
      <p:sp>
        <p:nvSpPr>
          <p:cNvPr id="22" name="矩形 21">
            <a:extLst>
              <a:ext uri="{FF2B5EF4-FFF2-40B4-BE49-F238E27FC236}">
                <a16:creationId xmlns:a16="http://schemas.microsoft.com/office/drawing/2014/main" id="{12789106-4D61-5E43-B02A-69433A4C3954}"/>
              </a:ext>
            </a:extLst>
          </p:cNvPr>
          <p:cNvSpPr/>
          <p:nvPr/>
        </p:nvSpPr>
        <p:spPr>
          <a:xfrm>
            <a:off x="7266134" y="193402"/>
            <a:ext cx="1399964" cy="6743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C00000"/>
                </a:solidFill>
              </a:rPr>
              <a:t>程序语义</a:t>
            </a:r>
            <a:endParaRPr kumimoji="1" lang="en-US" altLang="zh-CN" dirty="0">
              <a:solidFill>
                <a:srgbClr val="C00000"/>
              </a:solidFill>
            </a:endParaRPr>
          </a:p>
          <a:p>
            <a:pPr algn="ctr"/>
            <a:r>
              <a:rPr kumimoji="1" lang="zh-CN" altLang="en-US" dirty="0">
                <a:solidFill>
                  <a:srgbClr val="C00000"/>
                </a:solidFill>
              </a:rPr>
              <a:t>反馈</a:t>
            </a:r>
            <a:endParaRPr kumimoji="1" lang="en-US" altLang="zh-CN" dirty="0">
              <a:solidFill>
                <a:srgbClr val="C00000"/>
              </a:solidFill>
            </a:endParaRPr>
          </a:p>
        </p:txBody>
      </p:sp>
      <p:cxnSp>
        <p:nvCxnSpPr>
          <p:cNvPr id="23" name="直线箭头连接符 22">
            <a:extLst>
              <a:ext uri="{FF2B5EF4-FFF2-40B4-BE49-F238E27FC236}">
                <a16:creationId xmlns:a16="http://schemas.microsoft.com/office/drawing/2014/main" id="{0924009A-63FA-DB40-8FAB-8BC996A9A60D}"/>
              </a:ext>
            </a:extLst>
          </p:cNvPr>
          <p:cNvCxnSpPr>
            <a:cxnSpLocks/>
            <a:stCxn id="20" idx="3"/>
            <a:endCxn id="19" idx="1"/>
          </p:cNvCxnSpPr>
          <p:nvPr/>
        </p:nvCxnSpPr>
        <p:spPr>
          <a:xfrm>
            <a:off x="1977738" y="513427"/>
            <a:ext cx="76027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线箭头连接符 23">
            <a:extLst>
              <a:ext uri="{FF2B5EF4-FFF2-40B4-BE49-F238E27FC236}">
                <a16:creationId xmlns:a16="http://schemas.microsoft.com/office/drawing/2014/main" id="{A5CB3F86-D775-3B42-B6D3-21E8F9CE0D36}"/>
              </a:ext>
            </a:extLst>
          </p:cNvPr>
          <p:cNvCxnSpPr>
            <a:cxnSpLocks/>
            <a:stCxn id="19" idx="3"/>
            <a:endCxn id="21" idx="1"/>
          </p:cNvCxnSpPr>
          <p:nvPr/>
        </p:nvCxnSpPr>
        <p:spPr>
          <a:xfrm>
            <a:off x="4137978" y="513427"/>
            <a:ext cx="864096" cy="818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D801EC25-B05F-574B-AD9F-9992948B0757}"/>
              </a:ext>
            </a:extLst>
          </p:cNvPr>
          <p:cNvCxnSpPr/>
          <p:nvPr/>
        </p:nvCxnSpPr>
        <p:spPr>
          <a:xfrm>
            <a:off x="6402038" y="513427"/>
            <a:ext cx="86409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D2FFAC95-7099-9947-97E9-0B82C757D959}"/>
              </a:ext>
            </a:extLst>
          </p:cNvPr>
          <p:cNvSpPr/>
          <p:nvPr/>
        </p:nvSpPr>
        <p:spPr>
          <a:xfrm>
            <a:off x="-252536" y="226530"/>
            <a:ext cx="792088" cy="8307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C1C76AB1-5ED6-CD4F-8979-40F13B7A9569}"/>
              </a:ext>
            </a:extLst>
          </p:cNvPr>
          <p:cNvSpPr txBox="1"/>
          <p:nvPr/>
        </p:nvSpPr>
        <p:spPr>
          <a:xfrm>
            <a:off x="5436096" y="1417862"/>
            <a:ext cx="2398665" cy="1200329"/>
          </a:xfrm>
          <a:prstGeom prst="rect">
            <a:avLst/>
          </a:prstGeom>
          <a:noFill/>
          <a:ln w="12700">
            <a:solidFill>
              <a:schemeClr val="tx1"/>
            </a:solidFill>
          </a:ln>
        </p:spPr>
        <p:txBody>
          <a:bodyPr wrap="square" rtlCol="0">
            <a:spAutoFit/>
          </a:bodyPr>
          <a:lstStyle/>
          <a:p>
            <a:r>
              <a:rPr lang="en-US" altLang="zh-CN" dirty="0" err="1">
                <a:solidFill>
                  <a:srgbClr val="C00000"/>
                </a:solidFill>
              </a:rPr>
              <a:t>ptr</a:t>
            </a:r>
            <a:r>
              <a:rPr lang="en-US" altLang="zh-CN" dirty="0"/>
              <a:t> = </a:t>
            </a:r>
            <a:r>
              <a:rPr lang="en-US" altLang="zh-CN" dirty="0" err="1"/>
              <a:t>kmalloc</a:t>
            </a:r>
            <a:r>
              <a:rPr lang="en-US" altLang="zh-CN" dirty="0"/>
              <a:t>(...);</a:t>
            </a:r>
          </a:p>
          <a:p>
            <a:r>
              <a:rPr lang="en-US" altLang="zh-CN" dirty="0">
                <a:solidFill>
                  <a:srgbClr val="0070C0"/>
                </a:solidFill>
              </a:rPr>
              <a:t>/* </a:t>
            </a:r>
            <a:r>
              <a:rPr lang="zh-CN" altLang="en-US" dirty="0">
                <a:solidFill>
                  <a:srgbClr val="0070C0"/>
                </a:solidFill>
              </a:rPr>
              <a:t>错误处理</a:t>
            </a:r>
            <a:r>
              <a:rPr lang="en-US" altLang="zh-CN" dirty="0">
                <a:solidFill>
                  <a:srgbClr val="0070C0"/>
                </a:solidFill>
              </a:rPr>
              <a:t> */</a:t>
            </a:r>
            <a:endParaRPr lang="en-US" altLang="zh-CN" dirty="0"/>
          </a:p>
          <a:p>
            <a:r>
              <a:rPr lang="en-US" altLang="zh-CN" dirty="0"/>
              <a:t>if (</a:t>
            </a:r>
            <a:r>
              <a:rPr lang="en-US" altLang="zh-CN" dirty="0" err="1">
                <a:solidFill>
                  <a:srgbClr val="C00000"/>
                </a:solidFill>
              </a:rPr>
              <a:t>ptr</a:t>
            </a:r>
            <a:r>
              <a:rPr lang="en-US" altLang="zh-CN" dirty="0"/>
              <a:t> == NULL)</a:t>
            </a:r>
          </a:p>
          <a:p>
            <a:r>
              <a:rPr lang="en-US" altLang="zh-CN" dirty="0"/>
              <a:t>      return -ENOMEM;</a:t>
            </a:r>
            <a:endParaRPr kumimoji="1" lang="zh-CN" altLang="en-US" dirty="0"/>
          </a:p>
        </p:txBody>
      </p:sp>
    </p:spTree>
    <p:extLst>
      <p:ext uri="{BB962C8B-B14F-4D97-AF65-F5344CB8AC3E}">
        <p14:creationId xmlns:p14="http://schemas.microsoft.com/office/powerpoint/2010/main" val="6586387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27F6CD-8575-7045-951A-C1295BE38040}"/>
              </a:ext>
            </a:extLst>
          </p:cNvPr>
          <p:cNvSpPr>
            <a:spLocks noGrp="1"/>
          </p:cNvSpPr>
          <p:nvPr>
            <p:ph type="title"/>
          </p:nvPr>
        </p:nvSpPr>
        <p:spPr/>
        <p:txBody>
          <a:bodyPr/>
          <a:lstStyle/>
          <a:p>
            <a:r>
              <a:rPr kumimoji="1" lang="zh-CN" altLang="en-US" dirty="0"/>
              <a:t>操作系统测试的其他挑战</a:t>
            </a:r>
          </a:p>
        </p:txBody>
      </p:sp>
      <p:sp>
        <p:nvSpPr>
          <p:cNvPr id="3" name="内容占位符 2">
            <a:extLst>
              <a:ext uri="{FF2B5EF4-FFF2-40B4-BE49-F238E27FC236}">
                <a16:creationId xmlns:a16="http://schemas.microsoft.com/office/drawing/2014/main" id="{F436B681-1D67-8F4F-805D-128ED3B74B8F}"/>
              </a:ext>
            </a:extLst>
          </p:cNvPr>
          <p:cNvSpPr>
            <a:spLocks noGrp="1"/>
          </p:cNvSpPr>
          <p:nvPr>
            <p:ph idx="1"/>
          </p:nvPr>
        </p:nvSpPr>
        <p:spPr/>
        <p:txBody>
          <a:bodyPr>
            <a:normAutofit/>
          </a:bodyPr>
          <a:lstStyle/>
          <a:p>
            <a:r>
              <a:rPr kumimoji="1" lang="en-US" altLang="zh-CN" sz="2000" dirty="0"/>
              <a:t>Fuzzing</a:t>
            </a:r>
            <a:r>
              <a:rPr kumimoji="1" lang="zh-CN" altLang="en-US" sz="2000" dirty="0"/>
              <a:t>测试输入生成</a:t>
            </a:r>
            <a:endParaRPr kumimoji="1" lang="en-US" altLang="zh-CN" sz="2000" dirty="0"/>
          </a:p>
          <a:p>
            <a:pPr lvl="1"/>
            <a:r>
              <a:rPr kumimoji="1" lang="zh-CN" altLang="en-US" sz="1800" dirty="0"/>
              <a:t>如何针对各类场景提升生成测试的有效性</a:t>
            </a:r>
            <a:endParaRPr kumimoji="1" lang="en-US" altLang="zh-CN" sz="1800" dirty="0"/>
          </a:p>
          <a:p>
            <a:r>
              <a:rPr kumimoji="1" lang="zh-CN" altLang="en-US" sz="2000" dirty="0"/>
              <a:t>测试中如何判定出现异常</a:t>
            </a:r>
            <a:endParaRPr kumimoji="1" lang="en-US" altLang="zh-CN" sz="2000" dirty="0"/>
          </a:p>
          <a:p>
            <a:pPr lvl="1"/>
            <a:r>
              <a:rPr kumimoji="1" lang="zh-CN" altLang="en-US" sz="1800" dirty="0">
                <a:solidFill>
                  <a:srgbClr val="404040"/>
                </a:solidFill>
              </a:rPr>
              <a:t>部分错误不会引起可观测的异常（</a:t>
            </a:r>
            <a:r>
              <a:rPr kumimoji="1" lang="en-US" altLang="zh-CN" sz="1800" dirty="0">
                <a:solidFill>
                  <a:srgbClr val="404040"/>
                </a:solidFill>
              </a:rPr>
              <a:t>silent error</a:t>
            </a:r>
            <a:r>
              <a:rPr kumimoji="1" lang="zh-CN" altLang="en-US" sz="1800" dirty="0">
                <a:solidFill>
                  <a:srgbClr val="404040"/>
                </a:solidFill>
              </a:rPr>
              <a:t>）</a:t>
            </a:r>
            <a:endParaRPr kumimoji="1" lang="en-US" altLang="zh-CN" sz="1800" dirty="0">
              <a:solidFill>
                <a:srgbClr val="404040"/>
              </a:solidFill>
            </a:endParaRPr>
          </a:p>
          <a:p>
            <a:r>
              <a:rPr kumimoji="1" lang="zh-CN" altLang="en-US" sz="2000" dirty="0"/>
              <a:t>如何有效地复现</a:t>
            </a:r>
            <a:r>
              <a:rPr kumimoji="1" lang="en-US" altLang="zh-CN" sz="2000" dirty="0"/>
              <a:t>BUG</a:t>
            </a:r>
          </a:p>
          <a:p>
            <a:pPr lvl="1"/>
            <a:r>
              <a:rPr kumimoji="1" lang="zh-CN" altLang="en-US" sz="1800" dirty="0">
                <a:solidFill>
                  <a:srgbClr val="404040"/>
                </a:solidFill>
              </a:rPr>
              <a:t>在非确定性和并发环境下，触发的</a:t>
            </a:r>
            <a:r>
              <a:rPr kumimoji="1" lang="en-US" altLang="zh-CN" sz="1800" dirty="0">
                <a:solidFill>
                  <a:srgbClr val="404040"/>
                </a:solidFill>
              </a:rPr>
              <a:t>BUG</a:t>
            </a:r>
            <a:r>
              <a:rPr kumimoji="1" lang="zh-CN" altLang="en-US" sz="1800" dirty="0">
                <a:solidFill>
                  <a:srgbClr val="404040"/>
                </a:solidFill>
              </a:rPr>
              <a:t>不便于复现</a:t>
            </a:r>
            <a:endParaRPr kumimoji="1" lang="en-US" altLang="zh-CN" sz="1800" dirty="0">
              <a:solidFill>
                <a:srgbClr val="404040"/>
              </a:solidFill>
            </a:endParaRPr>
          </a:p>
          <a:p>
            <a:pPr marL="0" indent="0">
              <a:buNone/>
            </a:pPr>
            <a:r>
              <a:rPr kumimoji="1" lang="en-US" altLang="zh-CN" sz="2000" dirty="0">
                <a:solidFill>
                  <a:schemeClr val="tx1"/>
                </a:solidFill>
              </a:rPr>
              <a:t>    ……</a:t>
            </a:r>
          </a:p>
        </p:txBody>
      </p:sp>
      <p:sp>
        <p:nvSpPr>
          <p:cNvPr id="4" name="灯片编号占位符 3">
            <a:extLst>
              <a:ext uri="{FF2B5EF4-FFF2-40B4-BE49-F238E27FC236}">
                <a16:creationId xmlns:a16="http://schemas.microsoft.com/office/drawing/2014/main" id="{68E9D19D-7813-DE4F-94D9-8ADA824C2AF7}"/>
              </a:ext>
            </a:extLst>
          </p:cNvPr>
          <p:cNvSpPr>
            <a:spLocks noGrp="1"/>
          </p:cNvSpPr>
          <p:nvPr>
            <p:ph type="sldNum" sz="quarter" idx="12"/>
          </p:nvPr>
        </p:nvSpPr>
        <p:spPr/>
        <p:txBody>
          <a:bodyPr/>
          <a:lstStyle/>
          <a:p>
            <a:fld id="{ADE361C3-C043-4A6E-BDCE-8DA1E7D90A3B}" type="slidenum">
              <a:rPr lang="zh-CN" altLang="en-US" smtClean="0"/>
              <a:t>67</a:t>
            </a:fld>
            <a:endParaRPr lang="zh-CN" altLang="en-US"/>
          </a:p>
        </p:txBody>
      </p:sp>
      <p:sp>
        <p:nvSpPr>
          <p:cNvPr id="5" name="页脚占位符 4">
            <a:extLst>
              <a:ext uri="{FF2B5EF4-FFF2-40B4-BE49-F238E27FC236}">
                <a16:creationId xmlns:a16="http://schemas.microsoft.com/office/drawing/2014/main" id="{D4448F87-3886-A745-A69A-CC7A6CE17F4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8551069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en-US" altLang="zh-CN" dirty="0"/>
              <a:t>7</a:t>
            </a:r>
            <a:r>
              <a:rPr kumimoji="1" lang="zh-CN" altLang="en-US" dirty="0"/>
              <a:t>、形式化证明</a:t>
            </a:r>
            <a:endParaRPr kumimoji="1" lang="zh-CN" altLang="en-US" b="1" dirty="0"/>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r>
              <a:rPr kumimoji="1" lang="en-US" altLang="zh-CN" dirty="0"/>
              <a:t>Formal</a:t>
            </a:r>
            <a:r>
              <a:rPr kumimoji="1" lang="zh-CN" altLang="en-US" dirty="0"/>
              <a:t> </a:t>
            </a:r>
            <a:r>
              <a:rPr kumimoji="1" lang="en-US" altLang="zh-CN" dirty="0"/>
              <a:t>Verification</a:t>
            </a:r>
          </a:p>
        </p:txBody>
      </p:sp>
      <p:sp>
        <p:nvSpPr>
          <p:cNvPr id="4" name="灯片编号占位符 3">
            <a:extLst>
              <a:ext uri="{FF2B5EF4-FFF2-40B4-BE49-F238E27FC236}">
                <a16:creationId xmlns:a16="http://schemas.microsoft.com/office/drawing/2014/main" id="{45F61D95-77C6-4F44-A6A2-DDF144D592FE}"/>
              </a:ext>
            </a:extLst>
          </p:cNvPr>
          <p:cNvSpPr>
            <a:spLocks noGrp="1"/>
          </p:cNvSpPr>
          <p:nvPr>
            <p:ph type="sldNum" sz="quarter" idx="12"/>
          </p:nvPr>
        </p:nvSpPr>
        <p:spPr/>
        <p:txBody>
          <a:bodyPr/>
          <a:lstStyle/>
          <a:p>
            <a:fld id="{ADE361C3-C043-4A6E-BDCE-8DA1E7D90A3B}" type="slidenum">
              <a:rPr lang="zh-CN" altLang="en-US" smtClean="0"/>
              <a:t>68</a:t>
            </a:fld>
            <a:endParaRPr lang="zh-CN" altLang="en-US"/>
          </a:p>
        </p:txBody>
      </p:sp>
      <p:sp>
        <p:nvSpPr>
          <p:cNvPr id="7" name="页脚占位符 4">
            <a:extLst>
              <a:ext uri="{FF2B5EF4-FFF2-40B4-BE49-F238E27FC236}">
                <a16:creationId xmlns:a16="http://schemas.microsoft.com/office/drawing/2014/main" id="{63E67BD0-DB52-164B-B08C-A61194216E8F}"/>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8652635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3200" dirty="0"/>
              <a:t>系统软件的保障性前所未有的重要</a:t>
            </a:r>
            <a:endParaRPr kumimoji="1" lang="zh-CN" altLang="en-US" sz="3200" dirty="0">
              <a:latin typeface="+mj-lt"/>
            </a:endParaRP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291264" cy="3060851"/>
          </a:xfrm>
        </p:spPr>
        <p:txBody>
          <a:bodyPr>
            <a:normAutofit/>
          </a:bodyPr>
          <a:lstStyle/>
          <a:p>
            <a:r>
              <a:rPr kumimoji="1" lang="en-US" altLang="zh-CN" sz="1800" dirty="0">
                <a:latin typeface="+mn-ea"/>
                <a:ea typeface="+mn-ea"/>
              </a:rPr>
              <a:t>1994</a:t>
            </a:r>
            <a:r>
              <a:rPr kumimoji="1" lang="zh-CN" altLang="en-US" sz="1800" dirty="0">
                <a:latin typeface="+mn-ea"/>
                <a:ea typeface="+mn-ea"/>
              </a:rPr>
              <a:t>年，在英特尔故障中，召回错误芯片导致</a:t>
            </a:r>
            <a:r>
              <a:rPr kumimoji="1" lang="en-US" altLang="zh-CN" sz="1800" dirty="0">
                <a:latin typeface="+mn-ea"/>
                <a:ea typeface="+mn-ea"/>
              </a:rPr>
              <a:t>4.75</a:t>
            </a:r>
            <a:r>
              <a:rPr kumimoji="1" lang="zh-CN" altLang="en-US" sz="1800" dirty="0">
                <a:latin typeface="+mn-ea"/>
                <a:ea typeface="+mn-ea"/>
              </a:rPr>
              <a:t>亿美元损失</a:t>
            </a:r>
            <a:endParaRPr kumimoji="1" lang="en-US" altLang="zh-CN" sz="1800" dirty="0">
              <a:latin typeface="+mn-ea"/>
              <a:ea typeface="+mn-ea"/>
            </a:endParaRPr>
          </a:p>
          <a:p>
            <a:r>
              <a:rPr kumimoji="1" lang="en-US" altLang="zh-CN" sz="1800" dirty="0">
                <a:latin typeface="+mn-ea"/>
                <a:ea typeface="+mn-ea"/>
              </a:rPr>
              <a:t>1996</a:t>
            </a:r>
            <a:r>
              <a:rPr kumimoji="1" lang="zh-CN" altLang="en-US" sz="1800" dirty="0">
                <a:latin typeface="+mn-ea"/>
                <a:ea typeface="+mn-ea"/>
              </a:rPr>
              <a:t>年，阿丽亚娜</a:t>
            </a:r>
            <a:r>
              <a:rPr kumimoji="1" lang="en-US" altLang="zh-CN" sz="1800" dirty="0">
                <a:latin typeface="+mn-ea"/>
                <a:ea typeface="+mn-ea"/>
              </a:rPr>
              <a:t>5</a:t>
            </a:r>
            <a:r>
              <a:rPr kumimoji="1" lang="zh-CN" altLang="en-US" sz="1800" dirty="0">
                <a:latin typeface="+mn-ea"/>
                <a:ea typeface="+mn-ea"/>
              </a:rPr>
              <a:t>型火箭由于整数溢出漏洞导致升空爆炸</a:t>
            </a:r>
            <a:endParaRPr kumimoji="1" lang="en-US" altLang="zh-CN" sz="1800" dirty="0">
              <a:latin typeface="+mn-lt"/>
            </a:endParaRPr>
          </a:p>
          <a:p>
            <a:r>
              <a:rPr kumimoji="1" lang="en-US" altLang="zh-CN" sz="1800" dirty="0">
                <a:latin typeface="+mn-lt"/>
              </a:rPr>
              <a:t>2014</a:t>
            </a:r>
            <a:r>
              <a:rPr kumimoji="1" lang="zh-CN" altLang="en-US" sz="1800" dirty="0">
                <a:latin typeface="+mn-lt"/>
              </a:rPr>
              <a:t>年，</a:t>
            </a:r>
            <a:r>
              <a:rPr kumimoji="1" lang="en-US" altLang="zh-CN" sz="1800" dirty="0" err="1">
                <a:latin typeface="+mn-lt"/>
              </a:rPr>
              <a:t>Mt.Gox</a:t>
            </a:r>
            <a:r>
              <a:rPr kumimoji="1" lang="zh-CN" altLang="en-US" sz="1800" dirty="0">
                <a:latin typeface="+mn-lt"/>
              </a:rPr>
              <a:t>比特币交易所遭遇黑客攻击，申请破产保护</a:t>
            </a:r>
            <a:endParaRPr kumimoji="1" lang="en-US" altLang="zh-CN" sz="1800" dirty="0">
              <a:latin typeface="+mn-lt"/>
            </a:endParaRPr>
          </a:p>
          <a:p>
            <a:r>
              <a:rPr kumimoji="1" lang="en-US" altLang="zh-CN" sz="1800" dirty="0">
                <a:latin typeface="+mn-lt"/>
              </a:rPr>
              <a:t>…</a:t>
            </a:r>
          </a:p>
        </p:txBody>
      </p:sp>
      <p:sp>
        <p:nvSpPr>
          <p:cNvPr id="3" name="文本框 2">
            <a:extLst>
              <a:ext uri="{FF2B5EF4-FFF2-40B4-BE49-F238E27FC236}">
                <a16:creationId xmlns:a16="http://schemas.microsoft.com/office/drawing/2014/main" id="{21129B54-5B08-CD42-9863-B3E0F553E925}"/>
              </a:ext>
            </a:extLst>
          </p:cNvPr>
          <p:cNvSpPr txBox="1"/>
          <p:nvPr/>
        </p:nvSpPr>
        <p:spPr>
          <a:xfrm>
            <a:off x="1706873" y="4763440"/>
            <a:ext cx="1681336" cy="369332"/>
          </a:xfrm>
          <a:prstGeom prst="rect">
            <a:avLst/>
          </a:prstGeom>
          <a:noFill/>
        </p:spPr>
        <p:txBody>
          <a:bodyPr wrap="square" rtlCol="0">
            <a:spAutoFit/>
          </a:bodyPr>
          <a:lstStyle/>
          <a:p>
            <a:r>
              <a:rPr kumimoji="1" lang="zh-CN" altLang="en-US" b="1" dirty="0">
                <a:solidFill>
                  <a:schemeClr val="tx1">
                    <a:lumMod val="75000"/>
                    <a:lumOff val="25000"/>
                  </a:schemeClr>
                </a:solidFill>
              </a:rPr>
              <a:t>无人驾驶</a:t>
            </a:r>
          </a:p>
        </p:txBody>
      </p:sp>
      <p:pic>
        <p:nvPicPr>
          <p:cNvPr id="27" name="图片 26">
            <a:extLst>
              <a:ext uri="{FF2B5EF4-FFF2-40B4-BE49-F238E27FC236}">
                <a16:creationId xmlns:a16="http://schemas.microsoft.com/office/drawing/2014/main" id="{F0A9FB5B-98F8-814F-B291-0002FF13497C}"/>
              </a:ext>
            </a:extLst>
          </p:cNvPr>
          <p:cNvPicPr>
            <a:picLocks noChangeAspect="1"/>
          </p:cNvPicPr>
          <p:nvPr/>
        </p:nvPicPr>
        <p:blipFill>
          <a:blip r:embed="rId3"/>
          <a:stretch>
            <a:fillRect/>
          </a:stretch>
        </p:blipFill>
        <p:spPr>
          <a:xfrm>
            <a:off x="1130809" y="3387637"/>
            <a:ext cx="2336310" cy="1385044"/>
          </a:xfrm>
          <a:prstGeom prst="rect">
            <a:avLst/>
          </a:prstGeom>
        </p:spPr>
      </p:pic>
      <p:pic>
        <p:nvPicPr>
          <p:cNvPr id="28" name="图片 27">
            <a:extLst>
              <a:ext uri="{FF2B5EF4-FFF2-40B4-BE49-F238E27FC236}">
                <a16:creationId xmlns:a16="http://schemas.microsoft.com/office/drawing/2014/main" id="{A2FE5827-AD00-E345-809E-40F1C70BAF07}"/>
              </a:ext>
            </a:extLst>
          </p:cNvPr>
          <p:cNvPicPr>
            <a:picLocks noChangeAspect="1"/>
          </p:cNvPicPr>
          <p:nvPr/>
        </p:nvPicPr>
        <p:blipFill>
          <a:blip r:embed="rId4"/>
          <a:stretch>
            <a:fillRect/>
          </a:stretch>
        </p:blipFill>
        <p:spPr>
          <a:xfrm>
            <a:off x="4211960" y="3678107"/>
            <a:ext cx="1409700" cy="1066800"/>
          </a:xfrm>
          <a:prstGeom prst="rect">
            <a:avLst/>
          </a:prstGeom>
        </p:spPr>
      </p:pic>
      <p:sp>
        <p:nvSpPr>
          <p:cNvPr id="29" name="文本框 28">
            <a:extLst>
              <a:ext uri="{FF2B5EF4-FFF2-40B4-BE49-F238E27FC236}">
                <a16:creationId xmlns:a16="http://schemas.microsoft.com/office/drawing/2014/main" id="{596778C5-7124-F342-B7BE-60109D586438}"/>
              </a:ext>
            </a:extLst>
          </p:cNvPr>
          <p:cNvSpPr txBox="1"/>
          <p:nvPr/>
        </p:nvSpPr>
        <p:spPr>
          <a:xfrm>
            <a:off x="4405722" y="4744907"/>
            <a:ext cx="1681336" cy="369332"/>
          </a:xfrm>
          <a:prstGeom prst="rect">
            <a:avLst/>
          </a:prstGeom>
          <a:noFill/>
        </p:spPr>
        <p:txBody>
          <a:bodyPr wrap="square" rtlCol="0">
            <a:spAutoFit/>
          </a:bodyPr>
          <a:lstStyle/>
          <a:p>
            <a:r>
              <a:rPr kumimoji="1" lang="zh-CN" altLang="en-US" b="1" dirty="0">
                <a:solidFill>
                  <a:schemeClr val="tx1">
                    <a:lumMod val="75000"/>
                    <a:lumOff val="25000"/>
                  </a:schemeClr>
                </a:solidFill>
              </a:rPr>
              <a:t>电脑系统</a:t>
            </a:r>
          </a:p>
        </p:txBody>
      </p:sp>
      <p:sp>
        <p:nvSpPr>
          <p:cNvPr id="11" name="灯片编号占位符 3">
            <a:extLst>
              <a:ext uri="{FF2B5EF4-FFF2-40B4-BE49-F238E27FC236}">
                <a16:creationId xmlns:a16="http://schemas.microsoft.com/office/drawing/2014/main" id="{56694703-88CE-DD47-A2F2-C5745BADF4B9}"/>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69</a:t>
            </a:fld>
            <a:endParaRPr lang="zh-CN" altLang="en-US"/>
          </a:p>
        </p:txBody>
      </p:sp>
      <p:sp>
        <p:nvSpPr>
          <p:cNvPr id="12" name="页脚占位符 4">
            <a:extLst>
              <a:ext uri="{FF2B5EF4-FFF2-40B4-BE49-F238E27FC236}">
                <a16:creationId xmlns:a16="http://schemas.microsoft.com/office/drawing/2014/main" id="{A8EED552-D248-1240-88D1-1F46B84A8808}"/>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pic>
        <p:nvPicPr>
          <p:cNvPr id="1026" name="Picture 2" descr="Phone Crash&quot; Images – Browse 3 Stock Photos, Vectors, and Video | Adobe  Stock">
            <a:extLst>
              <a:ext uri="{FF2B5EF4-FFF2-40B4-BE49-F238E27FC236}">
                <a16:creationId xmlns:a16="http://schemas.microsoft.com/office/drawing/2014/main" id="{863FB6F9-B91E-4447-8DAA-30A962D239AC}"/>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734569" y="3433564"/>
            <a:ext cx="861767" cy="1405266"/>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9D0CDB10-004D-BE4F-AF16-6655B8D261A3}"/>
              </a:ext>
            </a:extLst>
          </p:cNvPr>
          <p:cNvSpPr txBox="1"/>
          <p:nvPr/>
        </p:nvSpPr>
        <p:spPr>
          <a:xfrm>
            <a:off x="6588224" y="4744907"/>
            <a:ext cx="1681336" cy="369332"/>
          </a:xfrm>
          <a:prstGeom prst="rect">
            <a:avLst/>
          </a:prstGeom>
          <a:noFill/>
        </p:spPr>
        <p:txBody>
          <a:bodyPr wrap="square" rtlCol="0">
            <a:spAutoFit/>
          </a:bodyPr>
          <a:lstStyle/>
          <a:p>
            <a:r>
              <a:rPr kumimoji="1" lang="zh-CN" altLang="en-US" b="1" dirty="0">
                <a:solidFill>
                  <a:schemeClr val="tx1">
                    <a:lumMod val="75000"/>
                    <a:lumOff val="25000"/>
                  </a:schemeClr>
                </a:solidFill>
              </a:rPr>
              <a:t>手机系统</a:t>
            </a:r>
          </a:p>
        </p:txBody>
      </p:sp>
    </p:spTree>
    <p:extLst>
      <p:ext uri="{BB962C8B-B14F-4D97-AF65-F5344CB8AC3E}">
        <p14:creationId xmlns:p14="http://schemas.microsoft.com/office/powerpoint/2010/main" val="5066191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背景：</a:t>
            </a:r>
            <a:r>
              <a:rPr kumimoji="1" lang="zh-CN" altLang="en-US" dirty="0">
                <a:latin typeface="+mj-lt"/>
              </a:rPr>
              <a:t>形式化证明</a:t>
            </a:r>
          </a:p>
        </p:txBody>
      </p:sp>
      <p:sp>
        <p:nvSpPr>
          <p:cNvPr id="4" name="内容占位符 2">
            <a:extLst>
              <a:ext uri="{FF2B5EF4-FFF2-40B4-BE49-F238E27FC236}">
                <a16:creationId xmlns:a16="http://schemas.microsoft.com/office/drawing/2014/main" id="{99198858-278F-1B46-98EF-0FA0B217B97D}"/>
              </a:ext>
            </a:extLst>
          </p:cNvPr>
          <p:cNvSpPr txBox="1">
            <a:spLocks/>
          </p:cNvSpPr>
          <p:nvPr/>
        </p:nvSpPr>
        <p:spPr>
          <a:xfrm>
            <a:off x="457200" y="1183399"/>
            <a:ext cx="8291264" cy="3060851"/>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zh-CN" altLang="en-US" sz="2000" dirty="0"/>
              <a:t>“</a:t>
            </a:r>
            <a:r>
              <a:rPr kumimoji="1" lang="zh-CN" altLang="en-US" sz="2000" b="0" i="1" dirty="0"/>
              <a:t>形式化证明是已知唯一一个保证软件没有编程错误的手段”</a:t>
            </a:r>
            <a:endParaRPr kumimoji="1" lang="en-US" altLang="zh-CN" sz="2000" dirty="0"/>
          </a:p>
          <a:p>
            <a:pPr lvl="1" algn="r"/>
            <a:r>
              <a:rPr kumimoji="1" lang="en-US" altLang="zh-CN" sz="1600" dirty="0"/>
              <a:t>seL4,SOSP’09</a:t>
            </a:r>
          </a:p>
          <a:p>
            <a:r>
              <a:rPr kumimoji="1" lang="zh-CN" altLang="en-US" sz="2000" dirty="0"/>
              <a:t>基于数学证明，完全覆盖软件所有可能执行情况</a:t>
            </a:r>
            <a:endParaRPr kumimoji="1" lang="en-US" altLang="zh-CN" sz="2000" dirty="0"/>
          </a:p>
        </p:txBody>
      </p:sp>
      <p:sp>
        <p:nvSpPr>
          <p:cNvPr id="7" name="椭圆 6">
            <a:extLst>
              <a:ext uri="{FF2B5EF4-FFF2-40B4-BE49-F238E27FC236}">
                <a16:creationId xmlns:a16="http://schemas.microsoft.com/office/drawing/2014/main" id="{0422AAA4-2F67-9F4D-A49E-5725DC0C0DD9}"/>
              </a:ext>
            </a:extLst>
          </p:cNvPr>
          <p:cNvSpPr/>
          <p:nvPr/>
        </p:nvSpPr>
        <p:spPr>
          <a:xfrm>
            <a:off x="1870720" y="3034117"/>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8" name="椭圆 7">
            <a:extLst>
              <a:ext uri="{FF2B5EF4-FFF2-40B4-BE49-F238E27FC236}">
                <a16:creationId xmlns:a16="http://schemas.microsoft.com/office/drawing/2014/main" id="{36FCC8BB-8A3E-0F42-B498-C7FC7D64D0E7}"/>
              </a:ext>
            </a:extLst>
          </p:cNvPr>
          <p:cNvSpPr/>
          <p:nvPr/>
        </p:nvSpPr>
        <p:spPr>
          <a:xfrm>
            <a:off x="2734816" y="274608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9" name="椭圆 8">
            <a:extLst>
              <a:ext uri="{FF2B5EF4-FFF2-40B4-BE49-F238E27FC236}">
                <a16:creationId xmlns:a16="http://schemas.microsoft.com/office/drawing/2014/main" id="{8D55A9D8-323A-594D-9357-30A1921F664C}"/>
              </a:ext>
            </a:extLst>
          </p:cNvPr>
          <p:cNvSpPr/>
          <p:nvPr/>
        </p:nvSpPr>
        <p:spPr>
          <a:xfrm>
            <a:off x="2446784" y="3106125"/>
            <a:ext cx="144016" cy="144016"/>
          </a:xfrm>
          <a:prstGeom prst="ellipse">
            <a:avLst/>
          </a:prstGeom>
          <a:solidFill>
            <a:srgbClr val="FF0000"/>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10" name="椭圆 9">
            <a:extLst>
              <a:ext uri="{FF2B5EF4-FFF2-40B4-BE49-F238E27FC236}">
                <a16:creationId xmlns:a16="http://schemas.microsoft.com/office/drawing/2014/main" id="{85AADC8D-98CB-A04A-83BF-9ED372EBA177}"/>
              </a:ext>
            </a:extLst>
          </p:cNvPr>
          <p:cNvSpPr/>
          <p:nvPr/>
        </p:nvSpPr>
        <p:spPr>
          <a:xfrm>
            <a:off x="2086744" y="3394157"/>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11" name="椭圆 10">
            <a:extLst>
              <a:ext uri="{FF2B5EF4-FFF2-40B4-BE49-F238E27FC236}">
                <a16:creationId xmlns:a16="http://schemas.microsoft.com/office/drawing/2014/main" id="{6876AF25-5703-0543-A4B3-A9704BA7664B}"/>
              </a:ext>
            </a:extLst>
          </p:cNvPr>
          <p:cNvSpPr/>
          <p:nvPr/>
        </p:nvSpPr>
        <p:spPr>
          <a:xfrm>
            <a:off x="1798712" y="3754197"/>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12" name="椭圆 11">
            <a:extLst>
              <a:ext uri="{FF2B5EF4-FFF2-40B4-BE49-F238E27FC236}">
                <a16:creationId xmlns:a16="http://schemas.microsoft.com/office/drawing/2014/main" id="{1BA9E705-32BA-2440-9AE5-3EE27DB33AC9}"/>
              </a:ext>
            </a:extLst>
          </p:cNvPr>
          <p:cNvSpPr/>
          <p:nvPr/>
        </p:nvSpPr>
        <p:spPr>
          <a:xfrm>
            <a:off x="2662808" y="346616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13" name="椭圆 12">
            <a:extLst>
              <a:ext uri="{FF2B5EF4-FFF2-40B4-BE49-F238E27FC236}">
                <a16:creationId xmlns:a16="http://schemas.microsoft.com/office/drawing/2014/main" id="{6487462B-BBB2-6E46-84B0-84BAE056A557}"/>
              </a:ext>
            </a:extLst>
          </p:cNvPr>
          <p:cNvSpPr/>
          <p:nvPr/>
        </p:nvSpPr>
        <p:spPr>
          <a:xfrm>
            <a:off x="2374776" y="382620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14" name="椭圆 13">
            <a:extLst>
              <a:ext uri="{FF2B5EF4-FFF2-40B4-BE49-F238E27FC236}">
                <a16:creationId xmlns:a16="http://schemas.microsoft.com/office/drawing/2014/main" id="{73245BB3-BD51-5B44-9D15-498F86F3D807}"/>
              </a:ext>
            </a:extLst>
          </p:cNvPr>
          <p:cNvSpPr/>
          <p:nvPr/>
        </p:nvSpPr>
        <p:spPr>
          <a:xfrm>
            <a:off x="3310880" y="274608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15" name="椭圆 14">
            <a:extLst>
              <a:ext uri="{FF2B5EF4-FFF2-40B4-BE49-F238E27FC236}">
                <a16:creationId xmlns:a16="http://schemas.microsoft.com/office/drawing/2014/main" id="{EB240182-4FF0-AB49-8858-2C65A2AB48DB}"/>
              </a:ext>
            </a:extLst>
          </p:cNvPr>
          <p:cNvSpPr/>
          <p:nvPr/>
        </p:nvSpPr>
        <p:spPr>
          <a:xfrm>
            <a:off x="3022848" y="310612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16" name="椭圆 15">
            <a:extLst>
              <a:ext uri="{FF2B5EF4-FFF2-40B4-BE49-F238E27FC236}">
                <a16:creationId xmlns:a16="http://schemas.microsoft.com/office/drawing/2014/main" id="{09987C35-4867-B847-B750-2B3ADEB0BC79}"/>
              </a:ext>
            </a:extLst>
          </p:cNvPr>
          <p:cNvSpPr/>
          <p:nvPr/>
        </p:nvSpPr>
        <p:spPr>
          <a:xfrm>
            <a:off x="3238872" y="346616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17" name="椭圆 16">
            <a:extLst>
              <a:ext uri="{FF2B5EF4-FFF2-40B4-BE49-F238E27FC236}">
                <a16:creationId xmlns:a16="http://schemas.microsoft.com/office/drawing/2014/main" id="{2DCC5375-3B02-9E47-B0C3-993B959E453D}"/>
              </a:ext>
            </a:extLst>
          </p:cNvPr>
          <p:cNvSpPr/>
          <p:nvPr/>
        </p:nvSpPr>
        <p:spPr>
          <a:xfrm>
            <a:off x="3022848" y="382620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18" name="椭圆 17">
            <a:extLst>
              <a:ext uri="{FF2B5EF4-FFF2-40B4-BE49-F238E27FC236}">
                <a16:creationId xmlns:a16="http://schemas.microsoft.com/office/drawing/2014/main" id="{178093CE-29B1-4841-AA68-C820ED0559F8}"/>
              </a:ext>
            </a:extLst>
          </p:cNvPr>
          <p:cNvSpPr/>
          <p:nvPr/>
        </p:nvSpPr>
        <p:spPr>
          <a:xfrm>
            <a:off x="3238872" y="4186245"/>
            <a:ext cx="144016" cy="144016"/>
          </a:xfrm>
          <a:prstGeom prst="ellipse">
            <a:avLst/>
          </a:prstGeom>
          <a:solidFill>
            <a:srgbClr val="FF0000"/>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19" name="椭圆 18">
            <a:extLst>
              <a:ext uri="{FF2B5EF4-FFF2-40B4-BE49-F238E27FC236}">
                <a16:creationId xmlns:a16="http://schemas.microsoft.com/office/drawing/2014/main" id="{C23D54AB-77A5-F04A-A9A8-71504D5E875B}"/>
              </a:ext>
            </a:extLst>
          </p:cNvPr>
          <p:cNvSpPr/>
          <p:nvPr/>
        </p:nvSpPr>
        <p:spPr>
          <a:xfrm>
            <a:off x="2950840" y="454628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20" name="椭圆 19">
            <a:extLst>
              <a:ext uri="{FF2B5EF4-FFF2-40B4-BE49-F238E27FC236}">
                <a16:creationId xmlns:a16="http://schemas.microsoft.com/office/drawing/2014/main" id="{B2286B0D-2DDC-3246-99E5-1BD74FFF365C}"/>
              </a:ext>
            </a:extLst>
          </p:cNvPr>
          <p:cNvSpPr/>
          <p:nvPr/>
        </p:nvSpPr>
        <p:spPr>
          <a:xfrm>
            <a:off x="3598912" y="382620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21" name="椭圆 20">
            <a:extLst>
              <a:ext uri="{FF2B5EF4-FFF2-40B4-BE49-F238E27FC236}">
                <a16:creationId xmlns:a16="http://schemas.microsoft.com/office/drawing/2014/main" id="{11245535-168F-A543-B279-6EB2CD60B0B4}"/>
              </a:ext>
            </a:extLst>
          </p:cNvPr>
          <p:cNvSpPr/>
          <p:nvPr/>
        </p:nvSpPr>
        <p:spPr>
          <a:xfrm>
            <a:off x="3814936" y="418624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22" name="椭圆 21">
            <a:extLst>
              <a:ext uri="{FF2B5EF4-FFF2-40B4-BE49-F238E27FC236}">
                <a16:creationId xmlns:a16="http://schemas.microsoft.com/office/drawing/2014/main" id="{1B407BE9-DF85-0043-A42C-C1343CED4928}"/>
              </a:ext>
            </a:extLst>
          </p:cNvPr>
          <p:cNvSpPr/>
          <p:nvPr/>
        </p:nvSpPr>
        <p:spPr>
          <a:xfrm>
            <a:off x="2014736" y="418624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23" name="椭圆 22">
            <a:extLst>
              <a:ext uri="{FF2B5EF4-FFF2-40B4-BE49-F238E27FC236}">
                <a16:creationId xmlns:a16="http://schemas.microsoft.com/office/drawing/2014/main" id="{E2AA4A11-6B1F-C24A-88EF-1E4AD0591045}"/>
              </a:ext>
            </a:extLst>
          </p:cNvPr>
          <p:cNvSpPr/>
          <p:nvPr/>
        </p:nvSpPr>
        <p:spPr>
          <a:xfrm>
            <a:off x="2302768" y="454628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24" name="椭圆 23">
            <a:extLst>
              <a:ext uri="{FF2B5EF4-FFF2-40B4-BE49-F238E27FC236}">
                <a16:creationId xmlns:a16="http://schemas.microsoft.com/office/drawing/2014/main" id="{0A79B46B-08A4-0F40-9299-5D3F320FDA05}"/>
              </a:ext>
            </a:extLst>
          </p:cNvPr>
          <p:cNvSpPr/>
          <p:nvPr/>
        </p:nvSpPr>
        <p:spPr>
          <a:xfrm>
            <a:off x="3886944" y="346616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26" name="椭圆 25">
            <a:extLst>
              <a:ext uri="{FF2B5EF4-FFF2-40B4-BE49-F238E27FC236}">
                <a16:creationId xmlns:a16="http://schemas.microsoft.com/office/drawing/2014/main" id="{8FC3FC1C-EF6A-8641-B005-FDB32F6405B4}"/>
              </a:ext>
            </a:extLst>
          </p:cNvPr>
          <p:cNvSpPr/>
          <p:nvPr/>
        </p:nvSpPr>
        <p:spPr>
          <a:xfrm>
            <a:off x="3598912" y="310612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27" name="椭圆 26">
            <a:extLst>
              <a:ext uri="{FF2B5EF4-FFF2-40B4-BE49-F238E27FC236}">
                <a16:creationId xmlns:a16="http://schemas.microsoft.com/office/drawing/2014/main" id="{DF7967E8-A6CB-9C4A-A692-DA9937FD2584}"/>
              </a:ext>
            </a:extLst>
          </p:cNvPr>
          <p:cNvSpPr/>
          <p:nvPr/>
        </p:nvSpPr>
        <p:spPr>
          <a:xfrm>
            <a:off x="2734816" y="418624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cxnSp>
        <p:nvCxnSpPr>
          <p:cNvPr id="28" name="直线箭头连接符 27">
            <a:extLst>
              <a:ext uri="{FF2B5EF4-FFF2-40B4-BE49-F238E27FC236}">
                <a16:creationId xmlns:a16="http://schemas.microsoft.com/office/drawing/2014/main" id="{CEF73CCA-B00D-B24A-8E5B-DC5682E91D0C}"/>
              </a:ext>
            </a:extLst>
          </p:cNvPr>
          <p:cNvCxnSpPr>
            <a:stCxn id="22" idx="7"/>
            <a:endCxn id="13" idx="3"/>
          </p:cNvCxnSpPr>
          <p:nvPr/>
        </p:nvCxnSpPr>
        <p:spPr>
          <a:xfrm flipV="1">
            <a:off x="2137661" y="3949130"/>
            <a:ext cx="258206"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29" name="直线箭头连接符 28">
            <a:extLst>
              <a:ext uri="{FF2B5EF4-FFF2-40B4-BE49-F238E27FC236}">
                <a16:creationId xmlns:a16="http://schemas.microsoft.com/office/drawing/2014/main" id="{B5750216-857C-FC4B-9B04-7E7FD041DA57}"/>
              </a:ext>
            </a:extLst>
          </p:cNvPr>
          <p:cNvCxnSpPr>
            <a:stCxn id="13" idx="7"/>
            <a:endCxn id="12" idx="3"/>
          </p:cNvCxnSpPr>
          <p:nvPr/>
        </p:nvCxnSpPr>
        <p:spPr>
          <a:xfrm flipV="1">
            <a:off x="2497701" y="3589090"/>
            <a:ext cx="186198"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30" name="直线箭头连接符 29">
            <a:extLst>
              <a:ext uri="{FF2B5EF4-FFF2-40B4-BE49-F238E27FC236}">
                <a16:creationId xmlns:a16="http://schemas.microsoft.com/office/drawing/2014/main" id="{D1E9B29E-47AA-F04F-A4CD-B0105B4DFE22}"/>
              </a:ext>
            </a:extLst>
          </p:cNvPr>
          <p:cNvCxnSpPr>
            <a:stCxn id="12" idx="7"/>
            <a:endCxn id="15" idx="2"/>
          </p:cNvCxnSpPr>
          <p:nvPr/>
        </p:nvCxnSpPr>
        <p:spPr>
          <a:xfrm flipV="1">
            <a:off x="2785733" y="3178133"/>
            <a:ext cx="237115" cy="309123"/>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31" name="直线箭头连接符 30">
            <a:extLst>
              <a:ext uri="{FF2B5EF4-FFF2-40B4-BE49-F238E27FC236}">
                <a16:creationId xmlns:a16="http://schemas.microsoft.com/office/drawing/2014/main" id="{55BF6A4D-F959-6C4D-8118-2AFA875090C9}"/>
              </a:ext>
            </a:extLst>
          </p:cNvPr>
          <p:cNvCxnSpPr>
            <a:stCxn id="15" idx="7"/>
            <a:endCxn id="14" idx="3"/>
          </p:cNvCxnSpPr>
          <p:nvPr/>
        </p:nvCxnSpPr>
        <p:spPr>
          <a:xfrm flipV="1">
            <a:off x="3145773" y="2869010"/>
            <a:ext cx="186198"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32" name="直线箭头连接符 31">
            <a:extLst>
              <a:ext uri="{FF2B5EF4-FFF2-40B4-BE49-F238E27FC236}">
                <a16:creationId xmlns:a16="http://schemas.microsoft.com/office/drawing/2014/main" id="{1B90D857-F41A-5F4B-AA56-A833FA43D38B}"/>
              </a:ext>
            </a:extLst>
          </p:cNvPr>
          <p:cNvCxnSpPr>
            <a:stCxn id="27" idx="7"/>
            <a:endCxn id="17" idx="3"/>
          </p:cNvCxnSpPr>
          <p:nvPr/>
        </p:nvCxnSpPr>
        <p:spPr>
          <a:xfrm flipV="1">
            <a:off x="2857741" y="3949130"/>
            <a:ext cx="186198"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33" name="直线箭头连接符 32">
            <a:extLst>
              <a:ext uri="{FF2B5EF4-FFF2-40B4-BE49-F238E27FC236}">
                <a16:creationId xmlns:a16="http://schemas.microsoft.com/office/drawing/2014/main" id="{C6C6A114-04AA-F148-BDA1-1079FC002220}"/>
              </a:ext>
            </a:extLst>
          </p:cNvPr>
          <p:cNvCxnSpPr>
            <a:stCxn id="13" idx="6"/>
            <a:endCxn id="17" idx="2"/>
          </p:cNvCxnSpPr>
          <p:nvPr/>
        </p:nvCxnSpPr>
        <p:spPr>
          <a:xfrm>
            <a:off x="2518792" y="3898213"/>
            <a:ext cx="504056" cy="0"/>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34" name="直线箭头连接符 33">
            <a:extLst>
              <a:ext uri="{FF2B5EF4-FFF2-40B4-BE49-F238E27FC236}">
                <a16:creationId xmlns:a16="http://schemas.microsoft.com/office/drawing/2014/main" id="{89603051-C523-8947-93F5-145C03C13FC2}"/>
              </a:ext>
            </a:extLst>
          </p:cNvPr>
          <p:cNvCxnSpPr>
            <a:stCxn id="17" idx="7"/>
            <a:endCxn id="16" idx="3"/>
          </p:cNvCxnSpPr>
          <p:nvPr/>
        </p:nvCxnSpPr>
        <p:spPr>
          <a:xfrm flipV="1">
            <a:off x="3145773" y="3589090"/>
            <a:ext cx="114190"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35" name="直线箭头连接符 34">
            <a:extLst>
              <a:ext uri="{FF2B5EF4-FFF2-40B4-BE49-F238E27FC236}">
                <a16:creationId xmlns:a16="http://schemas.microsoft.com/office/drawing/2014/main" id="{5534CF3A-6C31-304C-B0DA-32C8ACFDF06C}"/>
              </a:ext>
            </a:extLst>
          </p:cNvPr>
          <p:cNvCxnSpPr>
            <a:stCxn id="16" idx="7"/>
            <a:endCxn id="26" idx="3"/>
          </p:cNvCxnSpPr>
          <p:nvPr/>
        </p:nvCxnSpPr>
        <p:spPr>
          <a:xfrm flipV="1">
            <a:off x="3361797" y="3229050"/>
            <a:ext cx="258206"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36" name="直线箭头连接符 35">
            <a:extLst>
              <a:ext uri="{FF2B5EF4-FFF2-40B4-BE49-F238E27FC236}">
                <a16:creationId xmlns:a16="http://schemas.microsoft.com/office/drawing/2014/main" id="{7D806950-BDED-674F-B964-E4BBFF08DBE4}"/>
              </a:ext>
            </a:extLst>
          </p:cNvPr>
          <p:cNvCxnSpPr>
            <a:stCxn id="14" idx="5"/>
            <a:endCxn id="26" idx="0"/>
          </p:cNvCxnSpPr>
          <p:nvPr/>
        </p:nvCxnSpPr>
        <p:spPr>
          <a:xfrm>
            <a:off x="3433805" y="2869010"/>
            <a:ext cx="237115" cy="237115"/>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37" name="直线箭头连接符 36">
            <a:extLst>
              <a:ext uri="{FF2B5EF4-FFF2-40B4-BE49-F238E27FC236}">
                <a16:creationId xmlns:a16="http://schemas.microsoft.com/office/drawing/2014/main" id="{D00832BB-A228-AE4F-A4BB-60D47BB06CEB}"/>
              </a:ext>
            </a:extLst>
          </p:cNvPr>
          <p:cNvCxnSpPr>
            <a:stCxn id="26" idx="5"/>
            <a:endCxn id="24" idx="1"/>
          </p:cNvCxnSpPr>
          <p:nvPr/>
        </p:nvCxnSpPr>
        <p:spPr>
          <a:xfrm>
            <a:off x="3721837" y="3229050"/>
            <a:ext cx="186198"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38" name="直线箭头连接符 37">
            <a:extLst>
              <a:ext uri="{FF2B5EF4-FFF2-40B4-BE49-F238E27FC236}">
                <a16:creationId xmlns:a16="http://schemas.microsoft.com/office/drawing/2014/main" id="{5A79E8CC-7432-DA41-A8A7-911F42C12365}"/>
              </a:ext>
            </a:extLst>
          </p:cNvPr>
          <p:cNvCxnSpPr>
            <a:stCxn id="16" idx="6"/>
            <a:endCxn id="24" idx="2"/>
          </p:cNvCxnSpPr>
          <p:nvPr/>
        </p:nvCxnSpPr>
        <p:spPr>
          <a:xfrm>
            <a:off x="3382888" y="3538173"/>
            <a:ext cx="504056" cy="0"/>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sp>
        <p:nvSpPr>
          <p:cNvPr id="39" name="文本框 38">
            <a:extLst>
              <a:ext uri="{FF2B5EF4-FFF2-40B4-BE49-F238E27FC236}">
                <a16:creationId xmlns:a16="http://schemas.microsoft.com/office/drawing/2014/main" id="{7A1833E5-F349-A148-8081-B7D7BEA959CE}"/>
              </a:ext>
            </a:extLst>
          </p:cNvPr>
          <p:cNvSpPr txBox="1"/>
          <p:nvPr/>
        </p:nvSpPr>
        <p:spPr>
          <a:xfrm>
            <a:off x="2489366" y="4934509"/>
            <a:ext cx="2197224" cy="369332"/>
          </a:xfrm>
          <a:prstGeom prst="rect">
            <a:avLst/>
          </a:prstGeom>
          <a:noFill/>
        </p:spPr>
        <p:txBody>
          <a:bodyPr wrap="square" rtlCol="0">
            <a:spAutoFit/>
          </a:bodyPr>
          <a:lstStyle/>
          <a:p>
            <a:r>
              <a:rPr kumimoji="1" lang="zh-CN" altLang="en-US" b="1" dirty="0">
                <a:solidFill>
                  <a:schemeClr val="tx1">
                    <a:lumMod val="75000"/>
                    <a:lumOff val="25000"/>
                  </a:schemeClr>
                </a:solidFill>
                <a:latin typeface="+mn-ea"/>
                <a:cs typeface="Candara" charset="0"/>
              </a:rPr>
              <a:t>软件测试</a:t>
            </a:r>
          </a:p>
        </p:txBody>
      </p:sp>
      <p:cxnSp>
        <p:nvCxnSpPr>
          <p:cNvPr id="40" name="直线箭头连接符 39">
            <a:extLst>
              <a:ext uri="{FF2B5EF4-FFF2-40B4-BE49-F238E27FC236}">
                <a16:creationId xmlns:a16="http://schemas.microsoft.com/office/drawing/2014/main" id="{572FB0D2-596A-C843-B7EE-C03C43892DD5}"/>
              </a:ext>
            </a:extLst>
          </p:cNvPr>
          <p:cNvCxnSpPr>
            <a:stCxn id="23" idx="1"/>
            <a:endCxn id="22" idx="5"/>
          </p:cNvCxnSpPr>
          <p:nvPr/>
        </p:nvCxnSpPr>
        <p:spPr>
          <a:xfrm flipH="1" flipV="1">
            <a:off x="2137661" y="4309170"/>
            <a:ext cx="186198"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41" name="直线箭头连接符 40">
            <a:extLst>
              <a:ext uri="{FF2B5EF4-FFF2-40B4-BE49-F238E27FC236}">
                <a16:creationId xmlns:a16="http://schemas.microsoft.com/office/drawing/2014/main" id="{00331B58-FE61-0843-81F4-6C7427712BC7}"/>
              </a:ext>
            </a:extLst>
          </p:cNvPr>
          <p:cNvCxnSpPr>
            <a:stCxn id="23" idx="7"/>
            <a:endCxn id="27" idx="3"/>
          </p:cNvCxnSpPr>
          <p:nvPr/>
        </p:nvCxnSpPr>
        <p:spPr>
          <a:xfrm flipV="1">
            <a:off x="2425693" y="4309170"/>
            <a:ext cx="330214"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sp>
        <p:nvSpPr>
          <p:cNvPr id="42" name="椭圆 41">
            <a:extLst>
              <a:ext uri="{FF2B5EF4-FFF2-40B4-BE49-F238E27FC236}">
                <a16:creationId xmlns:a16="http://schemas.microsoft.com/office/drawing/2014/main" id="{FF75C561-38AF-1149-ADAB-8F8AEB7FC679}"/>
              </a:ext>
            </a:extLst>
          </p:cNvPr>
          <p:cNvSpPr/>
          <p:nvPr/>
        </p:nvSpPr>
        <p:spPr>
          <a:xfrm>
            <a:off x="4860032" y="3034117"/>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43" name="椭圆 42">
            <a:extLst>
              <a:ext uri="{FF2B5EF4-FFF2-40B4-BE49-F238E27FC236}">
                <a16:creationId xmlns:a16="http://schemas.microsoft.com/office/drawing/2014/main" id="{19300279-DB38-3B42-BA76-BCCF3FD48DB7}"/>
              </a:ext>
            </a:extLst>
          </p:cNvPr>
          <p:cNvSpPr/>
          <p:nvPr/>
        </p:nvSpPr>
        <p:spPr>
          <a:xfrm>
            <a:off x="5724128" y="274608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44" name="椭圆 43">
            <a:extLst>
              <a:ext uri="{FF2B5EF4-FFF2-40B4-BE49-F238E27FC236}">
                <a16:creationId xmlns:a16="http://schemas.microsoft.com/office/drawing/2014/main" id="{690FA2F8-075C-5C4C-9786-9D92804186AB}"/>
              </a:ext>
            </a:extLst>
          </p:cNvPr>
          <p:cNvSpPr/>
          <p:nvPr/>
        </p:nvSpPr>
        <p:spPr>
          <a:xfrm>
            <a:off x="5436096" y="310612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45" name="椭圆 44">
            <a:extLst>
              <a:ext uri="{FF2B5EF4-FFF2-40B4-BE49-F238E27FC236}">
                <a16:creationId xmlns:a16="http://schemas.microsoft.com/office/drawing/2014/main" id="{91624B62-DA7D-9947-9928-47972FB993E0}"/>
              </a:ext>
            </a:extLst>
          </p:cNvPr>
          <p:cNvSpPr/>
          <p:nvPr/>
        </p:nvSpPr>
        <p:spPr>
          <a:xfrm>
            <a:off x="5076056" y="3394157"/>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46" name="椭圆 45">
            <a:extLst>
              <a:ext uri="{FF2B5EF4-FFF2-40B4-BE49-F238E27FC236}">
                <a16:creationId xmlns:a16="http://schemas.microsoft.com/office/drawing/2014/main" id="{F2B19E41-072B-8A4C-B10E-BE47761EF7F9}"/>
              </a:ext>
            </a:extLst>
          </p:cNvPr>
          <p:cNvSpPr/>
          <p:nvPr/>
        </p:nvSpPr>
        <p:spPr>
          <a:xfrm>
            <a:off x="4788024" y="3754197"/>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47" name="椭圆 46">
            <a:extLst>
              <a:ext uri="{FF2B5EF4-FFF2-40B4-BE49-F238E27FC236}">
                <a16:creationId xmlns:a16="http://schemas.microsoft.com/office/drawing/2014/main" id="{D0C11EFD-6094-CF46-8180-9D10D40120E8}"/>
              </a:ext>
            </a:extLst>
          </p:cNvPr>
          <p:cNvSpPr/>
          <p:nvPr/>
        </p:nvSpPr>
        <p:spPr>
          <a:xfrm>
            <a:off x="5652120" y="346616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48" name="椭圆 47">
            <a:extLst>
              <a:ext uri="{FF2B5EF4-FFF2-40B4-BE49-F238E27FC236}">
                <a16:creationId xmlns:a16="http://schemas.microsoft.com/office/drawing/2014/main" id="{5B4F44FE-4D95-C141-A504-F5817462D08D}"/>
              </a:ext>
            </a:extLst>
          </p:cNvPr>
          <p:cNvSpPr/>
          <p:nvPr/>
        </p:nvSpPr>
        <p:spPr>
          <a:xfrm>
            <a:off x="5364088" y="382620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49" name="椭圆 48">
            <a:extLst>
              <a:ext uri="{FF2B5EF4-FFF2-40B4-BE49-F238E27FC236}">
                <a16:creationId xmlns:a16="http://schemas.microsoft.com/office/drawing/2014/main" id="{17758B2F-32A6-CF4F-B016-9D39394281EB}"/>
              </a:ext>
            </a:extLst>
          </p:cNvPr>
          <p:cNvSpPr/>
          <p:nvPr/>
        </p:nvSpPr>
        <p:spPr>
          <a:xfrm>
            <a:off x="6300192" y="274608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50" name="椭圆 49">
            <a:extLst>
              <a:ext uri="{FF2B5EF4-FFF2-40B4-BE49-F238E27FC236}">
                <a16:creationId xmlns:a16="http://schemas.microsoft.com/office/drawing/2014/main" id="{EDD7034D-314A-474C-9AB5-388C94BB4197}"/>
              </a:ext>
            </a:extLst>
          </p:cNvPr>
          <p:cNvSpPr/>
          <p:nvPr/>
        </p:nvSpPr>
        <p:spPr>
          <a:xfrm>
            <a:off x="6012160" y="310612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51" name="椭圆 50">
            <a:extLst>
              <a:ext uri="{FF2B5EF4-FFF2-40B4-BE49-F238E27FC236}">
                <a16:creationId xmlns:a16="http://schemas.microsoft.com/office/drawing/2014/main" id="{08A98671-A7E7-9548-B574-A22B730E6296}"/>
              </a:ext>
            </a:extLst>
          </p:cNvPr>
          <p:cNvSpPr/>
          <p:nvPr/>
        </p:nvSpPr>
        <p:spPr>
          <a:xfrm>
            <a:off x="6228184" y="346616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52" name="椭圆 51">
            <a:extLst>
              <a:ext uri="{FF2B5EF4-FFF2-40B4-BE49-F238E27FC236}">
                <a16:creationId xmlns:a16="http://schemas.microsoft.com/office/drawing/2014/main" id="{C92BF5FA-0AA3-C24F-8DE0-26E90980B094}"/>
              </a:ext>
            </a:extLst>
          </p:cNvPr>
          <p:cNvSpPr/>
          <p:nvPr/>
        </p:nvSpPr>
        <p:spPr>
          <a:xfrm>
            <a:off x="6012160" y="382620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53" name="椭圆 52">
            <a:extLst>
              <a:ext uri="{FF2B5EF4-FFF2-40B4-BE49-F238E27FC236}">
                <a16:creationId xmlns:a16="http://schemas.microsoft.com/office/drawing/2014/main" id="{6DE37818-8A62-AC4F-8FCA-CC7989278FCB}"/>
              </a:ext>
            </a:extLst>
          </p:cNvPr>
          <p:cNvSpPr/>
          <p:nvPr/>
        </p:nvSpPr>
        <p:spPr>
          <a:xfrm>
            <a:off x="6228184" y="418624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54" name="椭圆 53">
            <a:extLst>
              <a:ext uri="{FF2B5EF4-FFF2-40B4-BE49-F238E27FC236}">
                <a16:creationId xmlns:a16="http://schemas.microsoft.com/office/drawing/2014/main" id="{A0E3936D-5696-FD4E-919A-572C1BA598CD}"/>
              </a:ext>
            </a:extLst>
          </p:cNvPr>
          <p:cNvSpPr/>
          <p:nvPr/>
        </p:nvSpPr>
        <p:spPr>
          <a:xfrm>
            <a:off x="5940152" y="454628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55" name="椭圆 54">
            <a:extLst>
              <a:ext uri="{FF2B5EF4-FFF2-40B4-BE49-F238E27FC236}">
                <a16:creationId xmlns:a16="http://schemas.microsoft.com/office/drawing/2014/main" id="{009E4384-DA96-224B-977F-B6E909955DDD}"/>
              </a:ext>
            </a:extLst>
          </p:cNvPr>
          <p:cNvSpPr/>
          <p:nvPr/>
        </p:nvSpPr>
        <p:spPr>
          <a:xfrm>
            <a:off x="6588224" y="382620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56" name="椭圆 55">
            <a:extLst>
              <a:ext uri="{FF2B5EF4-FFF2-40B4-BE49-F238E27FC236}">
                <a16:creationId xmlns:a16="http://schemas.microsoft.com/office/drawing/2014/main" id="{B064AC0B-112F-5745-99B9-C56FF8B62492}"/>
              </a:ext>
            </a:extLst>
          </p:cNvPr>
          <p:cNvSpPr/>
          <p:nvPr/>
        </p:nvSpPr>
        <p:spPr>
          <a:xfrm>
            <a:off x="6804248" y="418624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57" name="椭圆 56">
            <a:extLst>
              <a:ext uri="{FF2B5EF4-FFF2-40B4-BE49-F238E27FC236}">
                <a16:creationId xmlns:a16="http://schemas.microsoft.com/office/drawing/2014/main" id="{E197C1BA-ABDE-F842-8382-FB3D569140E0}"/>
              </a:ext>
            </a:extLst>
          </p:cNvPr>
          <p:cNvSpPr/>
          <p:nvPr/>
        </p:nvSpPr>
        <p:spPr>
          <a:xfrm>
            <a:off x="5004048" y="418624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58" name="椭圆 57">
            <a:extLst>
              <a:ext uri="{FF2B5EF4-FFF2-40B4-BE49-F238E27FC236}">
                <a16:creationId xmlns:a16="http://schemas.microsoft.com/office/drawing/2014/main" id="{BBB51A48-1C6F-284C-9835-2466ED5254B5}"/>
              </a:ext>
            </a:extLst>
          </p:cNvPr>
          <p:cNvSpPr/>
          <p:nvPr/>
        </p:nvSpPr>
        <p:spPr>
          <a:xfrm>
            <a:off x="5292080" y="454628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59" name="椭圆 58">
            <a:extLst>
              <a:ext uri="{FF2B5EF4-FFF2-40B4-BE49-F238E27FC236}">
                <a16:creationId xmlns:a16="http://schemas.microsoft.com/office/drawing/2014/main" id="{7F47E0D3-A570-3941-A6B3-A6EBC1455CAE}"/>
              </a:ext>
            </a:extLst>
          </p:cNvPr>
          <p:cNvSpPr/>
          <p:nvPr/>
        </p:nvSpPr>
        <p:spPr>
          <a:xfrm>
            <a:off x="6876256" y="346616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60" name="椭圆 59">
            <a:extLst>
              <a:ext uri="{FF2B5EF4-FFF2-40B4-BE49-F238E27FC236}">
                <a16:creationId xmlns:a16="http://schemas.microsoft.com/office/drawing/2014/main" id="{0280BA90-B544-1F4D-9F63-5D42BC7EB15F}"/>
              </a:ext>
            </a:extLst>
          </p:cNvPr>
          <p:cNvSpPr/>
          <p:nvPr/>
        </p:nvSpPr>
        <p:spPr>
          <a:xfrm>
            <a:off x="6588224" y="310612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sp>
        <p:nvSpPr>
          <p:cNvPr id="61" name="椭圆 60">
            <a:extLst>
              <a:ext uri="{FF2B5EF4-FFF2-40B4-BE49-F238E27FC236}">
                <a16:creationId xmlns:a16="http://schemas.microsoft.com/office/drawing/2014/main" id="{97A9CBD5-D9A3-C146-BBE0-880FA5EAA592}"/>
              </a:ext>
            </a:extLst>
          </p:cNvPr>
          <p:cNvSpPr/>
          <p:nvPr/>
        </p:nvSpPr>
        <p:spPr>
          <a:xfrm>
            <a:off x="5724128" y="4186245"/>
            <a:ext cx="144016" cy="144016"/>
          </a:xfrm>
          <a:prstGeom prst="ellipse">
            <a:avLst/>
          </a:prstGeom>
          <a:solidFill>
            <a:schemeClr val="bg1">
              <a:lumMod val="6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latin typeface="Candara" panose="020E0502030303020204" pitchFamily="34" charset="0"/>
            </a:endParaRPr>
          </a:p>
        </p:txBody>
      </p:sp>
      <p:cxnSp>
        <p:nvCxnSpPr>
          <p:cNvPr id="62" name="直线箭头连接符 61">
            <a:extLst>
              <a:ext uri="{FF2B5EF4-FFF2-40B4-BE49-F238E27FC236}">
                <a16:creationId xmlns:a16="http://schemas.microsoft.com/office/drawing/2014/main" id="{C9260609-3DC5-514A-98EA-AC9503B0AA1D}"/>
              </a:ext>
            </a:extLst>
          </p:cNvPr>
          <p:cNvCxnSpPr>
            <a:stCxn id="63" idx="7"/>
            <a:endCxn id="54" idx="3"/>
          </p:cNvCxnSpPr>
          <p:nvPr/>
        </p:nvCxnSpPr>
        <p:spPr>
          <a:xfrm flipV="1">
            <a:off x="5126973" y="3949130"/>
            <a:ext cx="258206"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63" name="直线箭头连接符 62">
            <a:extLst>
              <a:ext uri="{FF2B5EF4-FFF2-40B4-BE49-F238E27FC236}">
                <a16:creationId xmlns:a16="http://schemas.microsoft.com/office/drawing/2014/main" id="{4D345A17-1ED3-7A4A-845F-3E7025A471AD}"/>
              </a:ext>
            </a:extLst>
          </p:cNvPr>
          <p:cNvCxnSpPr>
            <a:stCxn id="54" idx="7"/>
            <a:endCxn id="53" idx="3"/>
          </p:cNvCxnSpPr>
          <p:nvPr/>
        </p:nvCxnSpPr>
        <p:spPr>
          <a:xfrm flipV="1">
            <a:off x="5487013" y="3589090"/>
            <a:ext cx="186198"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64" name="直线箭头连接符 63">
            <a:extLst>
              <a:ext uri="{FF2B5EF4-FFF2-40B4-BE49-F238E27FC236}">
                <a16:creationId xmlns:a16="http://schemas.microsoft.com/office/drawing/2014/main" id="{3D724F2B-0B99-334C-8347-1F33B7969CD1}"/>
              </a:ext>
            </a:extLst>
          </p:cNvPr>
          <p:cNvCxnSpPr>
            <a:stCxn id="53" idx="7"/>
            <a:endCxn id="56" idx="2"/>
          </p:cNvCxnSpPr>
          <p:nvPr/>
        </p:nvCxnSpPr>
        <p:spPr>
          <a:xfrm flipV="1">
            <a:off x="5775045" y="3178133"/>
            <a:ext cx="237115" cy="309123"/>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65" name="直线箭头连接符 64">
            <a:extLst>
              <a:ext uri="{FF2B5EF4-FFF2-40B4-BE49-F238E27FC236}">
                <a16:creationId xmlns:a16="http://schemas.microsoft.com/office/drawing/2014/main" id="{736A294A-E79E-7247-8D89-4E7822EAA985}"/>
              </a:ext>
            </a:extLst>
          </p:cNvPr>
          <p:cNvCxnSpPr>
            <a:stCxn id="56" idx="7"/>
            <a:endCxn id="55" idx="3"/>
          </p:cNvCxnSpPr>
          <p:nvPr/>
        </p:nvCxnSpPr>
        <p:spPr>
          <a:xfrm flipV="1">
            <a:off x="6135085" y="2869010"/>
            <a:ext cx="186198"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66" name="直线箭头连接符 65">
            <a:extLst>
              <a:ext uri="{FF2B5EF4-FFF2-40B4-BE49-F238E27FC236}">
                <a16:creationId xmlns:a16="http://schemas.microsoft.com/office/drawing/2014/main" id="{18E57C19-9957-E647-AB68-313B07F0D0F7}"/>
              </a:ext>
            </a:extLst>
          </p:cNvPr>
          <p:cNvCxnSpPr>
            <a:stCxn id="67" idx="7"/>
            <a:endCxn id="58" idx="3"/>
          </p:cNvCxnSpPr>
          <p:nvPr/>
        </p:nvCxnSpPr>
        <p:spPr>
          <a:xfrm flipV="1">
            <a:off x="5847053" y="3949130"/>
            <a:ext cx="186198"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67" name="直线箭头连接符 66">
            <a:extLst>
              <a:ext uri="{FF2B5EF4-FFF2-40B4-BE49-F238E27FC236}">
                <a16:creationId xmlns:a16="http://schemas.microsoft.com/office/drawing/2014/main" id="{CC577B69-CF6B-7E45-A0C9-9F71BDAD6642}"/>
              </a:ext>
            </a:extLst>
          </p:cNvPr>
          <p:cNvCxnSpPr>
            <a:stCxn id="54" idx="6"/>
            <a:endCxn id="58" idx="2"/>
          </p:cNvCxnSpPr>
          <p:nvPr/>
        </p:nvCxnSpPr>
        <p:spPr>
          <a:xfrm>
            <a:off x="5508104" y="3898213"/>
            <a:ext cx="504056" cy="0"/>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68" name="直线箭头连接符 67">
            <a:extLst>
              <a:ext uri="{FF2B5EF4-FFF2-40B4-BE49-F238E27FC236}">
                <a16:creationId xmlns:a16="http://schemas.microsoft.com/office/drawing/2014/main" id="{2C3F673B-1935-1845-A863-D41CDCA0ACAB}"/>
              </a:ext>
            </a:extLst>
          </p:cNvPr>
          <p:cNvCxnSpPr>
            <a:stCxn id="58" idx="7"/>
            <a:endCxn id="57" idx="3"/>
          </p:cNvCxnSpPr>
          <p:nvPr/>
        </p:nvCxnSpPr>
        <p:spPr>
          <a:xfrm flipV="1">
            <a:off x="6135085" y="3589090"/>
            <a:ext cx="114190"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69" name="直线箭头连接符 68">
            <a:extLst>
              <a:ext uri="{FF2B5EF4-FFF2-40B4-BE49-F238E27FC236}">
                <a16:creationId xmlns:a16="http://schemas.microsoft.com/office/drawing/2014/main" id="{2FDEC267-7CCF-AA42-AE03-705CFF1D431F}"/>
              </a:ext>
            </a:extLst>
          </p:cNvPr>
          <p:cNvCxnSpPr>
            <a:stCxn id="57" idx="7"/>
            <a:endCxn id="66" idx="3"/>
          </p:cNvCxnSpPr>
          <p:nvPr/>
        </p:nvCxnSpPr>
        <p:spPr>
          <a:xfrm flipV="1">
            <a:off x="6351109" y="3229050"/>
            <a:ext cx="258206"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70" name="直线箭头连接符 69">
            <a:extLst>
              <a:ext uri="{FF2B5EF4-FFF2-40B4-BE49-F238E27FC236}">
                <a16:creationId xmlns:a16="http://schemas.microsoft.com/office/drawing/2014/main" id="{1C471432-3A71-AB4C-AC09-F3E80BAF655B}"/>
              </a:ext>
            </a:extLst>
          </p:cNvPr>
          <p:cNvCxnSpPr>
            <a:stCxn id="55" idx="5"/>
            <a:endCxn id="66" idx="0"/>
          </p:cNvCxnSpPr>
          <p:nvPr/>
        </p:nvCxnSpPr>
        <p:spPr>
          <a:xfrm>
            <a:off x="6423117" y="2869010"/>
            <a:ext cx="237115" cy="237115"/>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71" name="直线箭头连接符 70">
            <a:extLst>
              <a:ext uri="{FF2B5EF4-FFF2-40B4-BE49-F238E27FC236}">
                <a16:creationId xmlns:a16="http://schemas.microsoft.com/office/drawing/2014/main" id="{9401FACC-1F62-E14F-89D9-3024AD8025D9}"/>
              </a:ext>
            </a:extLst>
          </p:cNvPr>
          <p:cNvCxnSpPr>
            <a:stCxn id="66" idx="5"/>
            <a:endCxn id="65" idx="1"/>
          </p:cNvCxnSpPr>
          <p:nvPr/>
        </p:nvCxnSpPr>
        <p:spPr>
          <a:xfrm>
            <a:off x="6711149" y="3229050"/>
            <a:ext cx="186198"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72" name="直线箭头连接符 71">
            <a:extLst>
              <a:ext uri="{FF2B5EF4-FFF2-40B4-BE49-F238E27FC236}">
                <a16:creationId xmlns:a16="http://schemas.microsoft.com/office/drawing/2014/main" id="{BC5265D4-7A29-4F41-869C-16871CE345BE}"/>
              </a:ext>
            </a:extLst>
          </p:cNvPr>
          <p:cNvCxnSpPr>
            <a:stCxn id="57" idx="6"/>
            <a:endCxn id="65" idx="2"/>
          </p:cNvCxnSpPr>
          <p:nvPr/>
        </p:nvCxnSpPr>
        <p:spPr>
          <a:xfrm>
            <a:off x="6372200" y="3538173"/>
            <a:ext cx="504056" cy="0"/>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sp>
        <p:nvSpPr>
          <p:cNvPr id="73" name="文本框 72">
            <a:extLst>
              <a:ext uri="{FF2B5EF4-FFF2-40B4-BE49-F238E27FC236}">
                <a16:creationId xmlns:a16="http://schemas.microsoft.com/office/drawing/2014/main" id="{3D655D22-C89A-3C44-9EB1-C50DC2640F3C}"/>
              </a:ext>
            </a:extLst>
          </p:cNvPr>
          <p:cNvSpPr txBox="1"/>
          <p:nvPr/>
        </p:nvSpPr>
        <p:spPr>
          <a:xfrm>
            <a:off x="5364088" y="4903151"/>
            <a:ext cx="2016224" cy="369332"/>
          </a:xfrm>
          <a:prstGeom prst="rect">
            <a:avLst/>
          </a:prstGeom>
          <a:noFill/>
        </p:spPr>
        <p:txBody>
          <a:bodyPr wrap="square" rtlCol="0">
            <a:spAutoFit/>
          </a:bodyPr>
          <a:lstStyle/>
          <a:p>
            <a:r>
              <a:rPr kumimoji="1" lang="zh-CN" altLang="en-US" b="1" dirty="0">
                <a:solidFill>
                  <a:schemeClr val="tx1">
                    <a:lumMod val="75000"/>
                    <a:lumOff val="25000"/>
                  </a:schemeClr>
                </a:solidFill>
                <a:latin typeface="+mn-ea"/>
                <a:cs typeface="Candara" charset="0"/>
              </a:rPr>
              <a:t>形式化证明</a:t>
            </a:r>
          </a:p>
        </p:txBody>
      </p:sp>
      <p:cxnSp>
        <p:nvCxnSpPr>
          <p:cNvPr id="74" name="直线箭头连接符 73">
            <a:extLst>
              <a:ext uri="{FF2B5EF4-FFF2-40B4-BE49-F238E27FC236}">
                <a16:creationId xmlns:a16="http://schemas.microsoft.com/office/drawing/2014/main" id="{A8421C1A-2A6D-1148-A145-904A547C12B4}"/>
              </a:ext>
            </a:extLst>
          </p:cNvPr>
          <p:cNvCxnSpPr>
            <a:stCxn id="64" idx="1"/>
            <a:endCxn id="63" idx="5"/>
          </p:cNvCxnSpPr>
          <p:nvPr/>
        </p:nvCxnSpPr>
        <p:spPr>
          <a:xfrm flipH="1" flipV="1">
            <a:off x="5126973" y="4309170"/>
            <a:ext cx="186198"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75" name="直线箭头连接符 74">
            <a:extLst>
              <a:ext uri="{FF2B5EF4-FFF2-40B4-BE49-F238E27FC236}">
                <a16:creationId xmlns:a16="http://schemas.microsoft.com/office/drawing/2014/main" id="{D7EF28A8-3FC5-3F49-8435-1B0E02DB672E}"/>
              </a:ext>
            </a:extLst>
          </p:cNvPr>
          <p:cNvCxnSpPr>
            <a:stCxn id="64" idx="7"/>
            <a:endCxn id="67" idx="3"/>
          </p:cNvCxnSpPr>
          <p:nvPr/>
        </p:nvCxnSpPr>
        <p:spPr>
          <a:xfrm flipV="1">
            <a:off x="5415005" y="4309170"/>
            <a:ext cx="330214"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76" name="直线箭头连接符 75">
            <a:extLst>
              <a:ext uri="{FF2B5EF4-FFF2-40B4-BE49-F238E27FC236}">
                <a16:creationId xmlns:a16="http://schemas.microsoft.com/office/drawing/2014/main" id="{096F0A61-42BF-BE4E-B8B0-EC3A43FAC5AE}"/>
              </a:ext>
            </a:extLst>
          </p:cNvPr>
          <p:cNvCxnSpPr>
            <a:stCxn id="57" idx="1"/>
            <a:endCxn id="46" idx="4"/>
          </p:cNvCxnSpPr>
          <p:nvPr/>
        </p:nvCxnSpPr>
        <p:spPr>
          <a:xfrm flipH="1" flipV="1">
            <a:off x="4860032" y="3898213"/>
            <a:ext cx="165107" cy="309123"/>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77" name="直线箭头连接符 76">
            <a:extLst>
              <a:ext uri="{FF2B5EF4-FFF2-40B4-BE49-F238E27FC236}">
                <a16:creationId xmlns:a16="http://schemas.microsoft.com/office/drawing/2014/main" id="{1B1E8ABA-7CF2-4344-9912-2C7C0A3BD4C2}"/>
              </a:ext>
            </a:extLst>
          </p:cNvPr>
          <p:cNvCxnSpPr>
            <a:stCxn id="46" idx="0"/>
            <a:endCxn id="42" idx="3"/>
          </p:cNvCxnSpPr>
          <p:nvPr/>
        </p:nvCxnSpPr>
        <p:spPr>
          <a:xfrm flipV="1">
            <a:off x="4860032" y="3157042"/>
            <a:ext cx="21091" cy="597155"/>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78" name="直线箭头连接符 77">
            <a:extLst>
              <a:ext uri="{FF2B5EF4-FFF2-40B4-BE49-F238E27FC236}">
                <a16:creationId xmlns:a16="http://schemas.microsoft.com/office/drawing/2014/main" id="{014600E3-D504-3245-9028-8930E6653148}"/>
              </a:ext>
            </a:extLst>
          </p:cNvPr>
          <p:cNvCxnSpPr>
            <a:stCxn id="42" idx="7"/>
            <a:endCxn id="43" idx="2"/>
          </p:cNvCxnSpPr>
          <p:nvPr/>
        </p:nvCxnSpPr>
        <p:spPr>
          <a:xfrm flipV="1">
            <a:off x="4982957" y="2818093"/>
            <a:ext cx="741171" cy="237115"/>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79" name="直线箭头连接符 78">
            <a:extLst>
              <a:ext uri="{FF2B5EF4-FFF2-40B4-BE49-F238E27FC236}">
                <a16:creationId xmlns:a16="http://schemas.microsoft.com/office/drawing/2014/main" id="{D1417FE2-2EB6-A14E-ACF1-D426D85C2482}"/>
              </a:ext>
            </a:extLst>
          </p:cNvPr>
          <p:cNvCxnSpPr>
            <a:stCxn id="43" idx="6"/>
            <a:endCxn id="49" idx="2"/>
          </p:cNvCxnSpPr>
          <p:nvPr/>
        </p:nvCxnSpPr>
        <p:spPr>
          <a:xfrm>
            <a:off x="5868144" y="2818093"/>
            <a:ext cx="432048" cy="0"/>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80" name="直线箭头连接符 79">
            <a:extLst>
              <a:ext uri="{FF2B5EF4-FFF2-40B4-BE49-F238E27FC236}">
                <a16:creationId xmlns:a16="http://schemas.microsoft.com/office/drawing/2014/main" id="{3D0BF55E-69A9-5C42-B99A-4BEA3897549A}"/>
              </a:ext>
            </a:extLst>
          </p:cNvPr>
          <p:cNvCxnSpPr>
            <a:stCxn id="46" idx="7"/>
            <a:endCxn id="45" idx="3"/>
          </p:cNvCxnSpPr>
          <p:nvPr/>
        </p:nvCxnSpPr>
        <p:spPr>
          <a:xfrm flipV="1">
            <a:off x="4910949" y="3517082"/>
            <a:ext cx="186198"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81" name="直线箭头连接符 80">
            <a:extLst>
              <a:ext uri="{FF2B5EF4-FFF2-40B4-BE49-F238E27FC236}">
                <a16:creationId xmlns:a16="http://schemas.microsoft.com/office/drawing/2014/main" id="{6A45A74E-47B8-884E-83CD-95159599E258}"/>
              </a:ext>
            </a:extLst>
          </p:cNvPr>
          <p:cNvCxnSpPr>
            <a:stCxn id="45" idx="7"/>
            <a:endCxn id="44" idx="3"/>
          </p:cNvCxnSpPr>
          <p:nvPr/>
        </p:nvCxnSpPr>
        <p:spPr>
          <a:xfrm flipV="1">
            <a:off x="5198981" y="3229050"/>
            <a:ext cx="258206" cy="186198"/>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82" name="直线箭头连接符 81">
            <a:extLst>
              <a:ext uri="{FF2B5EF4-FFF2-40B4-BE49-F238E27FC236}">
                <a16:creationId xmlns:a16="http://schemas.microsoft.com/office/drawing/2014/main" id="{8AD861FD-919F-0E4A-B87C-5E11D45CCE32}"/>
              </a:ext>
            </a:extLst>
          </p:cNvPr>
          <p:cNvCxnSpPr>
            <a:stCxn id="44" idx="6"/>
            <a:endCxn id="50" idx="2"/>
          </p:cNvCxnSpPr>
          <p:nvPr/>
        </p:nvCxnSpPr>
        <p:spPr>
          <a:xfrm>
            <a:off x="5580112" y="3178133"/>
            <a:ext cx="432048" cy="0"/>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83" name="直线箭头连接符 82">
            <a:extLst>
              <a:ext uri="{FF2B5EF4-FFF2-40B4-BE49-F238E27FC236}">
                <a16:creationId xmlns:a16="http://schemas.microsoft.com/office/drawing/2014/main" id="{40299BA0-B00C-1842-AAA2-9DDE6F4E65E9}"/>
              </a:ext>
            </a:extLst>
          </p:cNvPr>
          <p:cNvCxnSpPr>
            <a:stCxn id="58" idx="6"/>
            <a:endCxn id="54" idx="2"/>
          </p:cNvCxnSpPr>
          <p:nvPr/>
        </p:nvCxnSpPr>
        <p:spPr>
          <a:xfrm>
            <a:off x="5436096" y="4618293"/>
            <a:ext cx="504056" cy="0"/>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84" name="直线箭头连接符 83">
            <a:extLst>
              <a:ext uri="{FF2B5EF4-FFF2-40B4-BE49-F238E27FC236}">
                <a16:creationId xmlns:a16="http://schemas.microsoft.com/office/drawing/2014/main" id="{C120478F-1ED4-FC40-AD9C-7B18A22CC461}"/>
              </a:ext>
            </a:extLst>
          </p:cNvPr>
          <p:cNvCxnSpPr>
            <a:stCxn id="54" idx="7"/>
            <a:endCxn id="53" idx="3"/>
          </p:cNvCxnSpPr>
          <p:nvPr/>
        </p:nvCxnSpPr>
        <p:spPr>
          <a:xfrm flipV="1">
            <a:off x="6063077" y="4309170"/>
            <a:ext cx="186198"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85" name="直线箭头连接符 84">
            <a:extLst>
              <a:ext uri="{FF2B5EF4-FFF2-40B4-BE49-F238E27FC236}">
                <a16:creationId xmlns:a16="http://schemas.microsoft.com/office/drawing/2014/main" id="{B6AB8B59-C018-2E4B-8F9A-6B51E927DC50}"/>
              </a:ext>
            </a:extLst>
          </p:cNvPr>
          <p:cNvCxnSpPr>
            <a:stCxn id="53" idx="6"/>
            <a:endCxn id="56" idx="2"/>
          </p:cNvCxnSpPr>
          <p:nvPr/>
        </p:nvCxnSpPr>
        <p:spPr>
          <a:xfrm>
            <a:off x="6372200" y="4258253"/>
            <a:ext cx="432048" cy="0"/>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86" name="直线箭头连接符 85">
            <a:extLst>
              <a:ext uri="{FF2B5EF4-FFF2-40B4-BE49-F238E27FC236}">
                <a16:creationId xmlns:a16="http://schemas.microsoft.com/office/drawing/2014/main" id="{3EBBB293-E06F-B44E-A941-22159119A5F4}"/>
              </a:ext>
            </a:extLst>
          </p:cNvPr>
          <p:cNvCxnSpPr>
            <a:stCxn id="56" idx="1"/>
            <a:endCxn id="55" idx="5"/>
          </p:cNvCxnSpPr>
          <p:nvPr/>
        </p:nvCxnSpPr>
        <p:spPr>
          <a:xfrm flipH="1" flipV="1">
            <a:off x="6711149" y="3949130"/>
            <a:ext cx="114190" cy="258206"/>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cxnSp>
        <p:nvCxnSpPr>
          <p:cNvPr id="87" name="直线箭头连接符 86">
            <a:extLst>
              <a:ext uri="{FF2B5EF4-FFF2-40B4-BE49-F238E27FC236}">
                <a16:creationId xmlns:a16="http://schemas.microsoft.com/office/drawing/2014/main" id="{FFA1D1DB-8A9A-2446-BEC1-3C0E056ED805}"/>
              </a:ext>
            </a:extLst>
          </p:cNvPr>
          <p:cNvCxnSpPr>
            <a:stCxn id="55" idx="6"/>
            <a:endCxn id="59" idx="3"/>
          </p:cNvCxnSpPr>
          <p:nvPr/>
        </p:nvCxnSpPr>
        <p:spPr>
          <a:xfrm flipV="1">
            <a:off x="6732240" y="3589090"/>
            <a:ext cx="165107" cy="309123"/>
          </a:xfrm>
          <a:prstGeom prst="straightConnector1">
            <a:avLst/>
          </a:prstGeom>
          <a:ln w="19050">
            <a:headEnd w="sm" len="sm"/>
            <a:tailEnd type="triangle" w="sm" len="med"/>
          </a:ln>
        </p:spPr>
        <p:style>
          <a:lnRef idx="1">
            <a:schemeClr val="dk1"/>
          </a:lnRef>
          <a:fillRef idx="0">
            <a:schemeClr val="dk1"/>
          </a:fillRef>
          <a:effectRef idx="0">
            <a:schemeClr val="dk1"/>
          </a:effectRef>
          <a:fontRef idx="minor">
            <a:schemeClr val="tx1"/>
          </a:fontRef>
        </p:style>
      </p:cxnSp>
      <p:sp>
        <p:nvSpPr>
          <p:cNvPr id="89" name="灯片编号占位符 3">
            <a:extLst>
              <a:ext uri="{FF2B5EF4-FFF2-40B4-BE49-F238E27FC236}">
                <a16:creationId xmlns:a16="http://schemas.microsoft.com/office/drawing/2014/main" id="{97C7D1C1-CDAB-8947-9331-88E948CE9176}"/>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70</a:t>
            </a:fld>
            <a:endParaRPr lang="zh-CN" altLang="en-US"/>
          </a:p>
        </p:txBody>
      </p:sp>
      <p:sp>
        <p:nvSpPr>
          <p:cNvPr id="90" name="页脚占位符 4">
            <a:extLst>
              <a:ext uri="{FF2B5EF4-FFF2-40B4-BE49-F238E27FC236}">
                <a16:creationId xmlns:a16="http://schemas.microsoft.com/office/drawing/2014/main" id="{F0640227-CBEF-F947-AAD7-7F87A5704661}"/>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1716209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latin typeface="+mj-lt"/>
              </a:rPr>
              <a:t>形式化证明的组成</a:t>
            </a: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291264" cy="2178157"/>
          </a:xfrm>
        </p:spPr>
        <p:txBody>
          <a:bodyPr>
            <a:normAutofit/>
          </a:bodyPr>
          <a:lstStyle/>
          <a:p>
            <a:r>
              <a:rPr kumimoji="1" lang="zh-CN" altLang="en-US" sz="1800" dirty="0">
                <a:latin typeface="+mn-lt"/>
              </a:rPr>
              <a:t>形式化规约：精确描述期待的软件行为</a:t>
            </a:r>
            <a:r>
              <a:rPr kumimoji="1" lang="en-US" altLang="zh-CN" sz="1800" dirty="0">
                <a:latin typeface="+mn-lt"/>
              </a:rPr>
              <a:t>——</a:t>
            </a:r>
            <a:r>
              <a:rPr kumimoji="1" lang="zh-CN" altLang="en-US" sz="1800" dirty="0">
                <a:latin typeface="+mn-lt"/>
              </a:rPr>
              <a:t>用户视角的软件</a:t>
            </a:r>
            <a:endParaRPr kumimoji="1" lang="en-US" altLang="zh-CN" sz="1800" dirty="0">
              <a:latin typeface="+mn-lt"/>
            </a:endParaRPr>
          </a:p>
          <a:p>
            <a:r>
              <a:rPr kumimoji="1" lang="zh-CN" altLang="en-US" sz="1800" dirty="0"/>
              <a:t>实现：软件系统的一个实现</a:t>
            </a:r>
            <a:r>
              <a:rPr kumimoji="1" lang="en-US" altLang="zh-CN" sz="1800" dirty="0"/>
              <a:t>——</a:t>
            </a:r>
            <a:r>
              <a:rPr kumimoji="1" lang="zh-CN" altLang="en-US" sz="1800" dirty="0"/>
              <a:t>实现视角的软件</a:t>
            </a:r>
            <a:endParaRPr kumimoji="1" lang="en-US" altLang="zh-CN" sz="1800" dirty="0"/>
          </a:p>
          <a:p>
            <a:r>
              <a:rPr kumimoji="1" lang="zh-CN" altLang="en-US" sz="1800" dirty="0">
                <a:latin typeface="+mn-lt"/>
              </a:rPr>
              <a:t>正确性条件：定义实现与规约相一致的含义</a:t>
            </a:r>
            <a:endParaRPr kumimoji="1" lang="en-US" altLang="zh-CN" sz="1800" dirty="0">
              <a:latin typeface="+mn-lt"/>
            </a:endParaRPr>
          </a:p>
          <a:p>
            <a:r>
              <a:rPr kumimoji="1" lang="zh-CN" altLang="en-US" sz="1800" dirty="0"/>
              <a:t>一致性证明：表明实现与规约相一致的数学证明</a:t>
            </a:r>
            <a:endParaRPr kumimoji="1" lang="en-US" altLang="zh-CN" sz="1800" dirty="0">
              <a:latin typeface="+mn-lt"/>
            </a:endParaRPr>
          </a:p>
        </p:txBody>
      </p:sp>
      <p:sp>
        <p:nvSpPr>
          <p:cNvPr id="3" name="矩形 2">
            <a:extLst>
              <a:ext uri="{FF2B5EF4-FFF2-40B4-BE49-F238E27FC236}">
                <a16:creationId xmlns:a16="http://schemas.microsoft.com/office/drawing/2014/main" id="{6E153FA8-2608-6D47-BA37-81F363829E6A}"/>
              </a:ext>
            </a:extLst>
          </p:cNvPr>
          <p:cNvSpPr/>
          <p:nvPr/>
        </p:nvSpPr>
        <p:spPr>
          <a:xfrm>
            <a:off x="1654695" y="3153647"/>
            <a:ext cx="1656184" cy="72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形式化规约</a:t>
            </a:r>
            <a:br>
              <a:rPr kumimoji="1" lang="en-US" altLang="zh-CN" sz="1600" dirty="0"/>
            </a:br>
            <a:r>
              <a:rPr kumimoji="1" lang="zh-CN" altLang="en-US" sz="1600" dirty="0"/>
              <a:t>（数学模型）</a:t>
            </a:r>
          </a:p>
        </p:txBody>
      </p:sp>
      <p:sp>
        <p:nvSpPr>
          <p:cNvPr id="5" name="矩形 4">
            <a:extLst>
              <a:ext uri="{FF2B5EF4-FFF2-40B4-BE49-F238E27FC236}">
                <a16:creationId xmlns:a16="http://schemas.microsoft.com/office/drawing/2014/main" id="{5EB777A3-BC9D-314B-AA64-9C007DD6C57F}"/>
              </a:ext>
            </a:extLst>
          </p:cNvPr>
          <p:cNvSpPr/>
          <p:nvPr/>
        </p:nvSpPr>
        <p:spPr>
          <a:xfrm>
            <a:off x="5111079" y="3145532"/>
            <a:ext cx="1872206" cy="72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程序设计或实现（数学模型）</a:t>
            </a:r>
          </a:p>
        </p:txBody>
      </p:sp>
      <p:sp>
        <p:nvSpPr>
          <p:cNvPr id="6" name="矩形 5">
            <a:extLst>
              <a:ext uri="{FF2B5EF4-FFF2-40B4-BE49-F238E27FC236}">
                <a16:creationId xmlns:a16="http://schemas.microsoft.com/office/drawing/2014/main" id="{F407DE09-2692-C048-AD73-AF8B687EC37E}"/>
              </a:ext>
            </a:extLst>
          </p:cNvPr>
          <p:cNvSpPr/>
          <p:nvPr/>
        </p:nvSpPr>
        <p:spPr>
          <a:xfrm>
            <a:off x="3454895" y="4850400"/>
            <a:ext cx="1656184" cy="4873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一致性证明</a:t>
            </a:r>
          </a:p>
        </p:txBody>
      </p:sp>
      <p:cxnSp>
        <p:nvCxnSpPr>
          <p:cNvPr id="7" name="直线连接符 6">
            <a:extLst>
              <a:ext uri="{FF2B5EF4-FFF2-40B4-BE49-F238E27FC236}">
                <a16:creationId xmlns:a16="http://schemas.microsoft.com/office/drawing/2014/main" id="{A97DFDF5-74BB-C748-AD51-1AB4B8F27789}"/>
              </a:ext>
            </a:extLst>
          </p:cNvPr>
          <p:cNvCxnSpPr>
            <a:stCxn id="3" idx="3"/>
            <a:endCxn id="5" idx="1"/>
          </p:cNvCxnSpPr>
          <p:nvPr/>
        </p:nvCxnSpPr>
        <p:spPr>
          <a:xfrm flipV="1">
            <a:off x="3310879" y="3505572"/>
            <a:ext cx="1800200" cy="8115"/>
          </a:xfrm>
          <a:prstGeom prst="line">
            <a:avLst/>
          </a:prstGeom>
        </p:spPr>
        <p:style>
          <a:lnRef idx="2">
            <a:schemeClr val="dk1"/>
          </a:lnRef>
          <a:fillRef idx="0">
            <a:schemeClr val="dk1"/>
          </a:fillRef>
          <a:effectRef idx="1">
            <a:schemeClr val="dk1"/>
          </a:effectRef>
          <a:fontRef idx="minor">
            <a:schemeClr val="tx1"/>
          </a:fontRef>
        </p:style>
      </p:cxnSp>
      <p:sp>
        <p:nvSpPr>
          <p:cNvPr id="9" name="矩形 8">
            <a:extLst>
              <a:ext uri="{FF2B5EF4-FFF2-40B4-BE49-F238E27FC236}">
                <a16:creationId xmlns:a16="http://schemas.microsoft.com/office/drawing/2014/main" id="{36D999F0-2C4C-7A43-A12B-1A287D5EBB16}"/>
              </a:ext>
            </a:extLst>
          </p:cNvPr>
          <p:cNvSpPr/>
          <p:nvPr/>
        </p:nvSpPr>
        <p:spPr>
          <a:xfrm>
            <a:off x="2446783" y="4139617"/>
            <a:ext cx="1656184" cy="4873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正确性条件</a:t>
            </a:r>
          </a:p>
        </p:txBody>
      </p:sp>
      <p:cxnSp>
        <p:nvCxnSpPr>
          <p:cNvPr id="10" name="直线箭头连接符 9">
            <a:extLst>
              <a:ext uri="{FF2B5EF4-FFF2-40B4-BE49-F238E27FC236}">
                <a16:creationId xmlns:a16="http://schemas.microsoft.com/office/drawing/2014/main" id="{F06FB585-BF42-0642-B920-8AEF804197E7}"/>
              </a:ext>
            </a:extLst>
          </p:cNvPr>
          <p:cNvCxnSpPr>
            <a:endCxn id="6" idx="0"/>
          </p:cNvCxnSpPr>
          <p:nvPr/>
        </p:nvCxnSpPr>
        <p:spPr>
          <a:xfrm>
            <a:off x="4246984" y="3505572"/>
            <a:ext cx="36003" cy="134482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线箭头连接符 11">
            <a:extLst>
              <a:ext uri="{FF2B5EF4-FFF2-40B4-BE49-F238E27FC236}">
                <a16:creationId xmlns:a16="http://schemas.microsoft.com/office/drawing/2014/main" id="{8EBC9D6C-A091-1A46-B741-A912CC7A0F63}"/>
              </a:ext>
            </a:extLst>
          </p:cNvPr>
          <p:cNvCxnSpPr>
            <a:cxnSpLocks/>
            <a:stCxn id="5" idx="2"/>
          </p:cNvCxnSpPr>
          <p:nvPr/>
        </p:nvCxnSpPr>
        <p:spPr>
          <a:xfrm>
            <a:off x="6047182" y="3865612"/>
            <a:ext cx="0" cy="9847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文本框 14">
            <a:extLst>
              <a:ext uri="{FF2B5EF4-FFF2-40B4-BE49-F238E27FC236}">
                <a16:creationId xmlns:a16="http://schemas.microsoft.com/office/drawing/2014/main" id="{E34CD2EB-E8A9-3C40-AA7E-04506D4EE323}"/>
              </a:ext>
            </a:extLst>
          </p:cNvPr>
          <p:cNvSpPr txBox="1"/>
          <p:nvPr/>
        </p:nvSpPr>
        <p:spPr>
          <a:xfrm>
            <a:off x="5543128" y="4873724"/>
            <a:ext cx="2197224" cy="338554"/>
          </a:xfrm>
          <a:prstGeom prst="rect">
            <a:avLst/>
          </a:prstGeom>
          <a:noFill/>
        </p:spPr>
        <p:txBody>
          <a:bodyPr wrap="square" rtlCol="0">
            <a:spAutoFit/>
          </a:bodyPr>
          <a:lstStyle/>
          <a:p>
            <a:r>
              <a:rPr kumimoji="1" lang="zh-CN" altLang="en-US" sz="1600" b="1" dirty="0">
                <a:solidFill>
                  <a:schemeClr val="tx1">
                    <a:lumMod val="75000"/>
                    <a:lumOff val="25000"/>
                  </a:schemeClr>
                </a:solidFill>
                <a:latin typeface="+mn-ea"/>
                <a:cs typeface="Candara" charset="0"/>
              </a:rPr>
              <a:t>编译执行</a:t>
            </a:r>
          </a:p>
        </p:txBody>
      </p:sp>
      <p:sp>
        <p:nvSpPr>
          <p:cNvPr id="14" name="灯片编号占位符 3">
            <a:extLst>
              <a:ext uri="{FF2B5EF4-FFF2-40B4-BE49-F238E27FC236}">
                <a16:creationId xmlns:a16="http://schemas.microsoft.com/office/drawing/2014/main" id="{D4AE4BC6-667E-4D40-9CB6-B3D2FB22D146}"/>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71</a:t>
            </a:fld>
            <a:endParaRPr lang="zh-CN" altLang="en-US"/>
          </a:p>
        </p:txBody>
      </p:sp>
      <p:sp>
        <p:nvSpPr>
          <p:cNvPr id="16" name="页脚占位符 4">
            <a:extLst>
              <a:ext uri="{FF2B5EF4-FFF2-40B4-BE49-F238E27FC236}">
                <a16:creationId xmlns:a16="http://schemas.microsoft.com/office/drawing/2014/main" id="{5AFBD62F-6D8D-5F40-B564-5C606CDA7561}"/>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3462818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latin typeface="+mj-lt"/>
              </a:rPr>
              <a:t>形式化证明成功案例</a:t>
            </a: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291264" cy="3618317"/>
          </a:xfrm>
        </p:spPr>
        <p:txBody>
          <a:bodyPr>
            <a:normAutofit/>
          </a:bodyPr>
          <a:lstStyle/>
          <a:p>
            <a:r>
              <a:rPr kumimoji="1" lang="zh-CN" altLang="en-US" sz="2000" dirty="0"/>
              <a:t>操作系统</a:t>
            </a:r>
            <a:endParaRPr kumimoji="1" lang="en-US" altLang="zh-CN" sz="2000" dirty="0"/>
          </a:p>
          <a:p>
            <a:pPr lvl="1"/>
            <a:r>
              <a:rPr kumimoji="1" lang="en-US" altLang="zh-CN" sz="1600" dirty="0"/>
              <a:t>seL4</a:t>
            </a:r>
            <a:r>
              <a:rPr kumimoji="1" lang="zh-CN" altLang="en-US" sz="1600" dirty="0"/>
              <a:t>，首个形式化验证的微内核，</a:t>
            </a:r>
            <a:r>
              <a:rPr kumimoji="1" lang="en-US" altLang="zh-CN" sz="1600" dirty="0"/>
              <a:t>SOSP’09</a:t>
            </a:r>
            <a:r>
              <a:rPr kumimoji="1" lang="zh-CN" altLang="en-US" sz="1600" dirty="0"/>
              <a:t>最佳论文</a:t>
            </a:r>
            <a:endParaRPr kumimoji="1" lang="en-US" altLang="zh-CN" sz="1600" dirty="0"/>
          </a:p>
          <a:p>
            <a:pPr lvl="1"/>
            <a:r>
              <a:rPr kumimoji="1" lang="en-US" altLang="zh-CN" sz="1600" dirty="0" err="1"/>
              <a:t>CertiKOS</a:t>
            </a:r>
            <a:r>
              <a:rPr kumimoji="1" lang="zh-CN" altLang="en-US" sz="1600" dirty="0"/>
              <a:t>，耶鲁大学开发的支持并发的内核</a:t>
            </a:r>
            <a:r>
              <a:rPr kumimoji="1" lang="en-US" altLang="zh-CN" sz="1600" dirty="0"/>
              <a:t>[OSDI’16]</a:t>
            </a:r>
          </a:p>
          <a:p>
            <a:r>
              <a:rPr kumimoji="1" lang="zh-CN" altLang="en-US" sz="2000" dirty="0"/>
              <a:t>文件系统</a:t>
            </a:r>
            <a:endParaRPr kumimoji="1" lang="en-US" altLang="zh-CN" sz="2000" dirty="0"/>
          </a:p>
          <a:p>
            <a:pPr lvl="1"/>
            <a:r>
              <a:rPr kumimoji="1" lang="en-US" altLang="zh-CN" sz="1600" dirty="0"/>
              <a:t>FSCQ</a:t>
            </a:r>
            <a:r>
              <a:rPr kumimoji="1" lang="zh-CN" altLang="en-US" sz="1600" dirty="0"/>
              <a:t>，具有崩溃安全性的串行文件系统</a:t>
            </a:r>
            <a:r>
              <a:rPr kumimoji="1" lang="en-US" altLang="zh-CN" sz="1600" dirty="0"/>
              <a:t>[SOSP’15]</a:t>
            </a:r>
          </a:p>
          <a:p>
            <a:pPr lvl="1"/>
            <a:r>
              <a:rPr kumimoji="1" lang="en-US" altLang="zh-CN" sz="1600" dirty="0" err="1"/>
              <a:t>AtomFS</a:t>
            </a:r>
            <a:r>
              <a:rPr kumimoji="1" lang="zh-CN" altLang="en-US" sz="1600" dirty="0"/>
              <a:t>，接口具有原子性的并发文件系统</a:t>
            </a:r>
            <a:r>
              <a:rPr kumimoji="1" lang="en-US" altLang="zh-CN" sz="1600" dirty="0"/>
              <a:t>[SOSP’19]</a:t>
            </a:r>
          </a:p>
          <a:p>
            <a:r>
              <a:rPr kumimoji="1" lang="zh-CN" altLang="en-US" sz="2000" dirty="0"/>
              <a:t>分布式协议</a:t>
            </a:r>
            <a:endParaRPr kumimoji="1" lang="en-US" altLang="zh-CN" sz="2000" dirty="0"/>
          </a:p>
          <a:p>
            <a:pPr lvl="1"/>
            <a:r>
              <a:rPr kumimoji="1" lang="en-US" altLang="zh-CN" sz="1600" dirty="0"/>
              <a:t>Amazon</a:t>
            </a:r>
            <a:r>
              <a:rPr kumimoji="1" lang="zh-CN" altLang="en-US" sz="1600" dirty="0"/>
              <a:t>，广泛应用</a:t>
            </a:r>
            <a:r>
              <a:rPr kumimoji="1" lang="en-US" altLang="zh-CN" sz="1600" dirty="0"/>
              <a:t>TLA+</a:t>
            </a:r>
            <a:r>
              <a:rPr kumimoji="1" lang="zh-CN" altLang="en-US" sz="1600" dirty="0"/>
              <a:t>用于保障软件协议设计的正确性</a:t>
            </a:r>
            <a:endParaRPr kumimoji="1" lang="en-US" altLang="zh-CN" sz="1600" dirty="0"/>
          </a:p>
          <a:p>
            <a:pPr lvl="1"/>
            <a:r>
              <a:rPr kumimoji="1" lang="zh-CN" altLang="en-US" sz="1600" dirty="0"/>
              <a:t>证明分布式共识协议</a:t>
            </a:r>
            <a:r>
              <a:rPr kumimoji="1" lang="en-US" altLang="zh-CN" sz="1600" dirty="0" err="1"/>
              <a:t>Paxos</a:t>
            </a:r>
            <a:r>
              <a:rPr kumimoji="1" lang="zh-CN" altLang="en-US" sz="1600" dirty="0"/>
              <a:t>与</a:t>
            </a:r>
            <a:r>
              <a:rPr kumimoji="1" lang="en-US" altLang="zh-CN" sz="1600" dirty="0"/>
              <a:t>Raft</a:t>
            </a:r>
            <a:r>
              <a:rPr kumimoji="1" lang="zh-CN" altLang="en-US" sz="1600" dirty="0"/>
              <a:t>联系与优化迁移</a:t>
            </a:r>
            <a:r>
              <a:rPr kumimoji="1" lang="en-US" altLang="zh-CN" sz="1600" dirty="0"/>
              <a:t>[PODC’19]</a:t>
            </a:r>
          </a:p>
        </p:txBody>
      </p:sp>
      <p:sp>
        <p:nvSpPr>
          <p:cNvPr id="4" name="灯片编号占位符 3">
            <a:extLst>
              <a:ext uri="{FF2B5EF4-FFF2-40B4-BE49-F238E27FC236}">
                <a16:creationId xmlns:a16="http://schemas.microsoft.com/office/drawing/2014/main" id="{33C61A6A-A144-3242-A444-BDC45F9367F3}"/>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72</a:t>
            </a:fld>
            <a:endParaRPr lang="zh-CN" altLang="en-US"/>
          </a:p>
        </p:txBody>
      </p:sp>
      <p:sp>
        <p:nvSpPr>
          <p:cNvPr id="5" name="页脚占位符 4">
            <a:extLst>
              <a:ext uri="{FF2B5EF4-FFF2-40B4-BE49-F238E27FC236}">
                <a16:creationId xmlns:a16="http://schemas.microsoft.com/office/drawing/2014/main" id="{AEC5F9FF-E857-FD42-A279-164FEFABD9B8}"/>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5200024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76802-3DFA-49D8-B262-A6F12AC9AE9A}"/>
              </a:ext>
            </a:extLst>
          </p:cNvPr>
          <p:cNvSpPr>
            <a:spLocks noGrp="1"/>
          </p:cNvSpPr>
          <p:nvPr>
            <p:ph type="title"/>
          </p:nvPr>
        </p:nvSpPr>
        <p:spPr>
          <a:xfrm>
            <a:off x="502443" y="342231"/>
            <a:ext cx="8641557" cy="771524"/>
          </a:xfrm>
        </p:spPr>
        <p:txBody>
          <a:bodyPr>
            <a:normAutofit/>
          </a:bodyPr>
          <a:lstStyle/>
          <a:p>
            <a:r>
              <a:rPr lang="en-US" altLang="zh-CN" sz="3225" b="0" dirty="0">
                <a:latin typeface="Gill Sans MT" panose="020B0502020104020203" pitchFamily="34" charset="77"/>
              </a:rPr>
              <a:t>VSync</a:t>
            </a:r>
            <a:r>
              <a:rPr lang="zh-CN" altLang="en-US" sz="3225" b="0" baseline="30000" dirty="0">
                <a:latin typeface="Gill Sans MT" panose="020B0502020104020203" pitchFamily="34" charset="77"/>
              </a:rPr>
              <a:t>*</a:t>
            </a:r>
            <a:r>
              <a:rPr lang="en-US" altLang="zh-CN" sz="3225" b="0" dirty="0">
                <a:latin typeface="Gill Sans MT" panose="020B0502020104020203" pitchFamily="34" charset="77"/>
              </a:rPr>
              <a:t>:  Verification-guided Optimization</a:t>
            </a:r>
            <a:endParaRPr lang="zh-CN" altLang="en-US" sz="3225" b="0" dirty="0">
              <a:solidFill>
                <a:srgbClr val="C00000"/>
              </a:solidFill>
              <a:latin typeface="Gill Sans MT" panose="020B0502020104020203" pitchFamily="34" charset="77"/>
            </a:endParaRPr>
          </a:p>
        </p:txBody>
      </p:sp>
      <p:sp>
        <p:nvSpPr>
          <p:cNvPr id="4" name="灯片编号占位符 3">
            <a:extLst>
              <a:ext uri="{FF2B5EF4-FFF2-40B4-BE49-F238E27FC236}">
                <a16:creationId xmlns:a16="http://schemas.microsoft.com/office/drawing/2014/main" id="{E0DD7035-1C0C-4FB3-A8A4-26C311F3D428}"/>
              </a:ext>
            </a:extLst>
          </p:cNvPr>
          <p:cNvSpPr>
            <a:spLocks noGrp="1"/>
          </p:cNvSpPr>
          <p:nvPr>
            <p:ph type="sldNum" sz="quarter" idx="12"/>
          </p:nvPr>
        </p:nvSpPr>
        <p:spPr/>
        <p:txBody>
          <a:bodyPr/>
          <a:lstStyle/>
          <a:p>
            <a:fld id="{5DD3DB80-B894-403A-B48E-6FDC1A72010E}" type="slidenum">
              <a:rPr lang="zh-CN" altLang="en-US" smtClean="0">
                <a:latin typeface="Microsoft YaHei" panose="020B0503020204020204" pitchFamily="34" charset="-122"/>
                <a:ea typeface="Microsoft YaHei" panose="020B0503020204020204" pitchFamily="34" charset="-122"/>
              </a:rPr>
              <a:pPr/>
              <a:t>73</a:t>
            </a:fld>
            <a:endParaRPr lang="zh-CN" altLang="en-US" dirty="0">
              <a:latin typeface="Microsoft YaHei" panose="020B0503020204020204" pitchFamily="34" charset="-122"/>
              <a:ea typeface="Microsoft YaHei" panose="020B0503020204020204" pitchFamily="34" charset="-122"/>
            </a:endParaRPr>
          </a:p>
        </p:txBody>
      </p:sp>
      <p:pic>
        <p:nvPicPr>
          <p:cNvPr id="7" name="图片 6">
            <a:extLst>
              <a:ext uri="{FF2B5EF4-FFF2-40B4-BE49-F238E27FC236}">
                <a16:creationId xmlns:a16="http://schemas.microsoft.com/office/drawing/2014/main" id="{40FD23D2-D56A-4CA5-960D-C5661ECB754E}"/>
              </a:ext>
            </a:extLst>
          </p:cNvPr>
          <p:cNvPicPr>
            <a:picLocks noChangeAspect="1"/>
          </p:cNvPicPr>
          <p:nvPr/>
        </p:nvPicPr>
        <p:blipFill>
          <a:blip r:embed="rId3"/>
          <a:stretch>
            <a:fillRect/>
          </a:stretch>
        </p:blipFill>
        <p:spPr>
          <a:xfrm>
            <a:off x="1184935" y="2953996"/>
            <a:ext cx="5469759" cy="1840665"/>
          </a:xfrm>
          <a:prstGeom prst="rect">
            <a:avLst/>
          </a:prstGeom>
        </p:spPr>
      </p:pic>
      <p:pic>
        <p:nvPicPr>
          <p:cNvPr id="10" name="图片 9">
            <a:extLst>
              <a:ext uri="{FF2B5EF4-FFF2-40B4-BE49-F238E27FC236}">
                <a16:creationId xmlns:a16="http://schemas.microsoft.com/office/drawing/2014/main" id="{53EE7B53-C516-4A85-846E-6E5725750496}"/>
              </a:ext>
            </a:extLst>
          </p:cNvPr>
          <p:cNvPicPr>
            <a:picLocks noChangeAspect="1"/>
          </p:cNvPicPr>
          <p:nvPr/>
        </p:nvPicPr>
        <p:blipFill>
          <a:blip r:embed="rId4"/>
          <a:stretch>
            <a:fillRect/>
          </a:stretch>
        </p:blipFill>
        <p:spPr>
          <a:xfrm>
            <a:off x="1349114" y="1392195"/>
            <a:ext cx="2549894" cy="1418819"/>
          </a:xfrm>
          <a:prstGeom prst="rect">
            <a:avLst/>
          </a:prstGeom>
          <a:ln>
            <a:solidFill>
              <a:schemeClr val="accent1"/>
            </a:solidFill>
          </a:ln>
        </p:spPr>
      </p:pic>
      <p:pic>
        <p:nvPicPr>
          <p:cNvPr id="13" name="图片 12">
            <a:extLst>
              <a:ext uri="{FF2B5EF4-FFF2-40B4-BE49-F238E27FC236}">
                <a16:creationId xmlns:a16="http://schemas.microsoft.com/office/drawing/2014/main" id="{75C2D044-CC64-4572-9C65-851E61752453}"/>
              </a:ext>
            </a:extLst>
          </p:cNvPr>
          <p:cNvPicPr>
            <a:picLocks noChangeAspect="1"/>
          </p:cNvPicPr>
          <p:nvPr/>
        </p:nvPicPr>
        <p:blipFill>
          <a:blip r:embed="rId5"/>
          <a:stretch>
            <a:fillRect/>
          </a:stretch>
        </p:blipFill>
        <p:spPr>
          <a:xfrm>
            <a:off x="6852636" y="3158162"/>
            <a:ext cx="1393042" cy="1432332"/>
          </a:xfrm>
          <a:prstGeom prst="rect">
            <a:avLst/>
          </a:prstGeom>
        </p:spPr>
      </p:pic>
      <p:sp>
        <p:nvSpPr>
          <p:cNvPr id="15" name="文本框 14">
            <a:extLst>
              <a:ext uri="{FF2B5EF4-FFF2-40B4-BE49-F238E27FC236}">
                <a16:creationId xmlns:a16="http://schemas.microsoft.com/office/drawing/2014/main" id="{E0541FFB-E131-4774-80D9-E67A44619353}"/>
              </a:ext>
            </a:extLst>
          </p:cNvPr>
          <p:cNvSpPr txBox="1"/>
          <p:nvPr/>
        </p:nvSpPr>
        <p:spPr>
          <a:xfrm>
            <a:off x="1184935" y="1138280"/>
            <a:ext cx="2846485" cy="276999"/>
          </a:xfrm>
          <a:prstGeom prst="rect">
            <a:avLst/>
          </a:prstGeom>
          <a:noFill/>
        </p:spPr>
        <p:txBody>
          <a:bodyPr wrap="none" rtlCol="0">
            <a:spAutoFit/>
          </a:bodyPr>
          <a:lstStyle/>
          <a:p>
            <a:r>
              <a:rPr lang="en-US" altLang="zh-CN" sz="1200" dirty="0">
                <a:latin typeface="Verdana" panose="020B0604030504040204" pitchFamily="34" charset="0"/>
                <a:ea typeface="Verdana" panose="020B0604030504040204" pitchFamily="34" charset="0"/>
              </a:rPr>
              <a:t>An over-protected implementation</a:t>
            </a:r>
            <a:endParaRPr lang="zh-CN" altLang="en-US" sz="1200" dirty="0">
              <a:latin typeface="Verdana" panose="020B0604030504040204" pitchFamily="34" charset="0"/>
            </a:endParaRPr>
          </a:p>
        </p:txBody>
      </p:sp>
      <p:cxnSp>
        <p:nvCxnSpPr>
          <p:cNvPr id="20" name="连接符: 肘形 19">
            <a:extLst>
              <a:ext uri="{FF2B5EF4-FFF2-40B4-BE49-F238E27FC236}">
                <a16:creationId xmlns:a16="http://schemas.microsoft.com/office/drawing/2014/main" id="{670BD789-3A96-4DE8-8C31-9C7165C278E1}"/>
              </a:ext>
            </a:extLst>
          </p:cNvPr>
          <p:cNvCxnSpPr>
            <a:cxnSpLocks/>
            <a:stCxn id="10" idx="1"/>
            <a:endCxn id="22" idx="1"/>
          </p:cNvCxnSpPr>
          <p:nvPr/>
        </p:nvCxnSpPr>
        <p:spPr>
          <a:xfrm rot="10800000" flipV="1">
            <a:off x="1349114" y="2101604"/>
            <a:ext cx="9525" cy="1469213"/>
          </a:xfrm>
          <a:prstGeom prst="bentConnector3">
            <a:avLst>
              <a:gd name="adj1" fmla="val 3259457"/>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ABC60F01-5779-4ED3-B3A0-EB6D7C22DA8A}"/>
              </a:ext>
            </a:extLst>
          </p:cNvPr>
          <p:cNvSpPr/>
          <p:nvPr/>
        </p:nvSpPr>
        <p:spPr>
          <a:xfrm>
            <a:off x="1349115" y="3443860"/>
            <a:ext cx="828764" cy="2539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文本框 25">
            <a:extLst>
              <a:ext uri="{FF2B5EF4-FFF2-40B4-BE49-F238E27FC236}">
                <a16:creationId xmlns:a16="http://schemas.microsoft.com/office/drawing/2014/main" id="{CF25CC7C-A694-48E7-866D-4B1C8EE1DAFE}"/>
              </a:ext>
            </a:extLst>
          </p:cNvPr>
          <p:cNvSpPr txBox="1"/>
          <p:nvPr/>
        </p:nvSpPr>
        <p:spPr>
          <a:xfrm>
            <a:off x="1349114" y="2857501"/>
            <a:ext cx="5469759" cy="276999"/>
          </a:xfrm>
          <a:prstGeom prst="rect">
            <a:avLst/>
          </a:prstGeom>
          <a:noFill/>
        </p:spPr>
        <p:txBody>
          <a:bodyPr wrap="square" rtlCol="0">
            <a:spAutoFit/>
          </a:bodyPr>
          <a:lstStyle/>
          <a:p>
            <a:r>
              <a:rPr lang="en-US" altLang="zh-CN" sz="1200" dirty="0">
                <a:latin typeface="Verdana" panose="020B0604030504040204" pitchFamily="34" charset="0"/>
                <a:ea typeface="Verdana" panose="020B0604030504040204" pitchFamily="34" charset="0"/>
              </a:rPr>
              <a:t>Verification, and tells us which barriers can be </a:t>
            </a:r>
            <a:r>
              <a:rPr lang="en-US" altLang="zh-CN" sz="1200" dirty="0">
                <a:solidFill>
                  <a:srgbClr val="C00000"/>
                </a:solidFill>
                <a:latin typeface="Verdana" panose="020B0604030504040204" pitchFamily="34" charset="0"/>
                <a:ea typeface="Verdana" panose="020B0604030504040204" pitchFamily="34" charset="0"/>
              </a:rPr>
              <a:t>correctly weakened</a:t>
            </a:r>
            <a:endParaRPr lang="zh-CN" altLang="en-US" sz="1200" dirty="0">
              <a:solidFill>
                <a:srgbClr val="C00000"/>
              </a:solidFill>
              <a:latin typeface="Verdana" panose="020B0604030504040204" pitchFamily="34" charset="0"/>
            </a:endParaRPr>
          </a:p>
        </p:txBody>
      </p:sp>
      <p:pic>
        <p:nvPicPr>
          <p:cNvPr id="3" name="图片 2">
            <a:extLst>
              <a:ext uri="{FF2B5EF4-FFF2-40B4-BE49-F238E27FC236}">
                <a16:creationId xmlns:a16="http://schemas.microsoft.com/office/drawing/2014/main" id="{8FBDAD3C-9B1F-F275-1FA3-3618822B65DE}"/>
              </a:ext>
            </a:extLst>
          </p:cNvPr>
          <p:cNvPicPr>
            <a:picLocks noChangeAspect="1"/>
          </p:cNvPicPr>
          <p:nvPr/>
        </p:nvPicPr>
        <p:blipFill>
          <a:blip r:embed="rId6"/>
          <a:stretch>
            <a:fillRect/>
          </a:stretch>
        </p:blipFill>
        <p:spPr>
          <a:xfrm>
            <a:off x="4853886" y="1475868"/>
            <a:ext cx="1367587" cy="1251471"/>
          </a:xfrm>
          <a:prstGeom prst="rect">
            <a:avLst/>
          </a:prstGeom>
        </p:spPr>
      </p:pic>
      <p:sp>
        <p:nvSpPr>
          <p:cNvPr id="14" name="文本框 13">
            <a:extLst>
              <a:ext uri="{FF2B5EF4-FFF2-40B4-BE49-F238E27FC236}">
                <a16:creationId xmlns:a16="http://schemas.microsoft.com/office/drawing/2014/main" id="{956DBE90-2D2A-A104-34EF-10FD5D5D5540}"/>
              </a:ext>
            </a:extLst>
          </p:cNvPr>
          <p:cNvSpPr txBox="1"/>
          <p:nvPr/>
        </p:nvSpPr>
        <p:spPr>
          <a:xfrm>
            <a:off x="502443" y="4878509"/>
            <a:ext cx="7766798" cy="507831"/>
          </a:xfrm>
          <a:prstGeom prst="rect">
            <a:avLst/>
          </a:prstGeom>
          <a:noFill/>
        </p:spPr>
        <p:txBody>
          <a:bodyPr wrap="square" rtlCol="0">
            <a:spAutoFit/>
          </a:bodyPr>
          <a:lstStyle/>
          <a:p>
            <a:r>
              <a:rPr lang="en-US" altLang="zh-CN" sz="1350" i="1" dirty="0">
                <a:latin typeface="Verdana" panose="020B0604030504040204" pitchFamily="34" charset="0"/>
                <a:ea typeface="Verdana" panose="020B0604030504040204" pitchFamily="34" charset="0"/>
              </a:rPr>
              <a:t>*</a:t>
            </a:r>
            <a:r>
              <a:rPr lang="en-US" altLang="zh-CN" sz="1350" i="1" dirty="0" err="1">
                <a:latin typeface="Verdana" panose="020B0604030504040204" pitchFamily="34" charset="0"/>
                <a:ea typeface="Verdana" panose="020B0604030504040204" pitchFamily="34" charset="0"/>
              </a:rPr>
              <a:t>VSync</a:t>
            </a:r>
            <a:r>
              <a:rPr lang="en-US" altLang="zh-CN" sz="1350" i="1" dirty="0">
                <a:latin typeface="Verdana" panose="020B0604030504040204" pitchFamily="34" charset="0"/>
                <a:ea typeface="Verdana" panose="020B0604030504040204" pitchFamily="34" charset="0"/>
              </a:rPr>
              <a:t>: Push-Button Verification and Optimization for Synchronization Primitives on Weak Memory Models. In ASPLOS ’21 </a:t>
            </a:r>
            <a:r>
              <a:rPr lang="en-US" altLang="zh-CN" sz="1350" i="1" dirty="0">
                <a:solidFill>
                  <a:srgbClr val="FF0000"/>
                </a:solidFill>
                <a:latin typeface="Verdana" panose="020B0604030504040204" pitchFamily="34" charset="0"/>
                <a:ea typeface="Verdana" panose="020B0604030504040204" pitchFamily="34" charset="0"/>
              </a:rPr>
              <a:t>(Distinguished Paper Award)</a:t>
            </a:r>
            <a:endParaRPr lang="zh-CN" altLang="en-US" sz="1350" i="1" dirty="0">
              <a:solidFill>
                <a:srgbClr val="FF0000"/>
              </a:solidFill>
              <a:latin typeface="Verdana" panose="020B0604030504040204" pitchFamily="34" charset="0"/>
            </a:endParaRPr>
          </a:p>
        </p:txBody>
      </p:sp>
    </p:spTree>
    <p:extLst>
      <p:ext uri="{BB962C8B-B14F-4D97-AF65-F5344CB8AC3E}">
        <p14:creationId xmlns:p14="http://schemas.microsoft.com/office/powerpoint/2010/main" val="21935622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latin typeface="+mj-lt"/>
              </a:rPr>
              <a:t>形式化证明的挑战与现状</a:t>
            </a: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291264" cy="4050365"/>
          </a:xfrm>
        </p:spPr>
        <p:txBody>
          <a:bodyPr>
            <a:normAutofit fontScale="92500" lnSpcReduction="10000"/>
          </a:bodyPr>
          <a:lstStyle/>
          <a:p>
            <a:r>
              <a:rPr kumimoji="1" lang="zh-CN" altLang="en-US" sz="2000" dirty="0"/>
              <a:t>技术性挑战</a:t>
            </a:r>
            <a:endParaRPr kumimoji="1" lang="en-US" altLang="zh-CN" sz="2000" dirty="0"/>
          </a:p>
          <a:p>
            <a:pPr lvl="1"/>
            <a:r>
              <a:rPr kumimoji="1" lang="zh-CN" altLang="en-US" sz="1600" dirty="0"/>
              <a:t>如何描述系统（及系统级性质）的正确性定义</a:t>
            </a:r>
            <a:endParaRPr kumimoji="1" lang="en-US" altLang="zh-CN" sz="1600" dirty="0"/>
          </a:p>
          <a:p>
            <a:pPr lvl="2"/>
            <a:r>
              <a:rPr kumimoji="1" lang="zh-CN" altLang="en-US" sz="1600" dirty="0"/>
              <a:t>如崩溃一致性，安全性（</a:t>
            </a:r>
            <a:r>
              <a:rPr kumimoji="1" lang="en-US" altLang="zh-CN" sz="1600" dirty="0"/>
              <a:t>noninterference</a:t>
            </a:r>
            <a:r>
              <a:rPr kumimoji="1" lang="zh-CN" altLang="en-US" sz="1600" dirty="0"/>
              <a:t>），进展性（</a:t>
            </a:r>
            <a:r>
              <a:rPr kumimoji="1" lang="en-US" altLang="zh-CN" sz="1600" dirty="0"/>
              <a:t>liveness</a:t>
            </a:r>
            <a:r>
              <a:rPr kumimoji="1" lang="zh-CN" altLang="en-US" sz="1600" dirty="0"/>
              <a:t>）等</a:t>
            </a:r>
            <a:endParaRPr kumimoji="1" lang="en-US" altLang="zh-CN" sz="1600" dirty="0"/>
          </a:p>
          <a:p>
            <a:pPr lvl="1"/>
            <a:r>
              <a:rPr kumimoji="1" lang="zh-CN" altLang="en-US" sz="1600" dirty="0"/>
              <a:t>证明理论：如何有效证明正确性定义？</a:t>
            </a:r>
            <a:endParaRPr kumimoji="1" lang="en-US" altLang="zh-CN" sz="1600" dirty="0"/>
          </a:p>
          <a:p>
            <a:pPr lvl="2"/>
            <a:r>
              <a:rPr lang="zh-CN" altLang="en-US" sz="1600" dirty="0"/>
              <a:t>并发系统的证明依然非常困难</a:t>
            </a:r>
          </a:p>
          <a:p>
            <a:r>
              <a:rPr kumimoji="1" lang="zh-CN" altLang="en-US" sz="2000" dirty="0"/>
              <a:t>工程性挑战</a:t>
            </a:r>
            <a:endParaRPr kumimoji="1" lang="en-US" altLang="zh-CN" sz="2000" dirty="0"/>
          </a:p>
          <a:p>
            <a:pPr lvl="1"/>
            <a:r>
              <a:rPr kumimoji="1" lang="zh-CN" altLang="en-US" sz="1600" dirty="0"/>
              <a:t>可扩展性：随着系统规模变大，如何控制证明成本？</a:t>
            </a:r>
            <a:endParaRPr kumimoji="1" lang="en-US" altLang="zh-CN" sz="1600" dirty="0"/>
          </a:p>
          <a:p>
            <a:pPr lvl="1"/>
            <a:r>
              <a:rPr kumimoji="1" lang="zh-CN" altLang="en-US" sz="1600" dirty="0"/>
              <a:t>可维护性：随着系统持续开发，如何维护证明？</a:t>
            </a:r>
            <a:endParaRPr kumimoji="1" lang="en-US" altLang="zh-CN" sz="1600" dirty="0"/>
          </a:p>
          <a:p>
            <a:r>
              <a:rPr kumimoji="1" lang="zh-CN" altLang="en-US" sz="2000" dirty="0"/>
              <a:t>形式化证明现状</a:t>
            </a:r>
            <a:endParaRPr kumimoji="1" lang="en-US" altLang="zh-CN" sz="2000" dirty="0"/>
          </a:p>
          <a:p>
            <a:pPr lvl="1"/>
            <a:r>
              <a:rPr kumimoji="1" lang="zh-CN" altLang="en-US" sz="1600" dirty="0"/>
              <a:t>仅自动化验证技术在工业界推广</a:t>
            </a:r>
            <a:endParaRPr kumimoji="1" lang="en-US" altLang="zh-CN" sz="1600" dirty="0"/>
          </a:p>
          <a:p>
            <a:pPr lvl="1"/>
            <a:r>
              <a:rPr kumimoji="1" lang="zh-CN" altLang="en-US" sz="1600" dirty="0"/>
              <a:t>交互式证明的开销仍然较高，仅有部分应用</a:t>
            </a:r>
            <a:endParaRPr kumimoji="1" lang="en-US" altLang="zh-CN" sz="1600" dirty="0"/>
          </a:p>
          <a:p>
            <a:pPr lvl="1"/>
            <a:r>
              <a:rPr kumimoji="1" lang="zh-CN" altLang="en-US" sz="1600" dirty="0"/>
              <a:t>依然存在许多开放性问题</a:t>
            </a:r>
            <a:r>
              <a:rPr kumimoji="1" lang="en-US" altLang="zh-CN" sz="1600" dirty="0"/>
              <a:t>——</a:t>
            </a:r>
            <a:r>
              <a:rPr kumimoji="1" lang="zh-CN" altLang="en-US" sz="1600" dirty="0"/>
              <a:t>很多机遇与挑战！</a:t>
            </a:r>
            <a:endParaRPr kumimoji="1" lang="en-US" altLang="zh-CN" sz="1600" dirty="0"/>
          </a:p>
        </p:txBody>
      </p:sp>
      <p:sp>
        <p:nvSpPr>
          <p:cNvPr id="4" name="灯片编号占位符 3">
            <a:extLst>
              <a:ext uri="{FF2B5EF4-FFF2-40B4-BE49-F238E27FC236}">
                <a16:creationId xmlns:a16="http://schemas.microsoft.com/office/drawing/2014/main" id="{4269BC3A-7585-1B4B-BA48-A41E8AD37763}"/>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74</a:t>
            </a:fld>
            <a:endParaRPr lang="zh-CN" altLang="en-US"/>
          </a:p>
        </p:txBody>
      </p:sp>
      <p:sp>
        <p:nvSpPr>
          <p:cNvPr id="5" name="页脚占位符 4">
            <a:extLst>
              <a:ext uri="{FF2B5EF4-FFF2-40B4-BE49-F238E27FC236}">
                <a16:creationId xmlns:a16="http://schemas.microsoft.com/office/drawing/2014/main" id="{1E28F357-68B0-CE46-BA12-D9EFD2FDD7D8}"/>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9126732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en-US" altLang="zh-CN" dirty="0"/>
              <a:t>8</a:t>
            </a:r>
            <a:r>
              <a:rPr kumimoji="1" lang="zh-CN" altLang="en-US" dirty="0"/>
              <a:t>、大语言模型</a:t>
            </a:r>
            <a:endParaRPr kumimoji="1" lang="zh-CN" altLang="en-US" b="1" dirty="0"/>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r>
              <a:rPr kumimoji="1" lang="en-US" altLang="zh-CN" dirty="0"/>
              <a:t>Formal</a:t>
            </a:r>
            <a:r>
              <a:rPr kumimoji="1" lang="zh-CN" altLang="en-US" dirty="0"/>
              <a:t> </a:t>
            </a:r>
            <a:r>
              <a:rPr kumimoji="1" lang="en-US" altLang="zh-CN" dirty="0"/>
              <a:t>Verification</a:t>
            </a:r>
          </a:p>
        </p:txBody>
      </p:sp>
      <p:sp>
        <p:nvSpPr>
          <p:cNvPr id="4" name="灯片编号占位符 3">
            <a:extLst>
              <a:ext uri="{FF2B5EF4-FFF2-40B4-BE49-F238E27FC236}">
                <a16:creationId xmlns:a16="http://schemas.microsoft.com/office/drawing/2014/main" id="{45F61D95-77C6-4F44-A6A2-DDF144D592FE}"/>
              </a:ext>
            </a:extLst>
          </p:cNvPr>
          <p:cNvSpPr>
            <a:spLocks noGrp="1"/>
          </p:cNvSpPr>
          <p:nvPr>
            <p:ph type="sldNum" sz="quarter" idx="12"/>
          </p:nvPr>
        </p:nvSpPr>
        <p:spPr/>
        <p:txBody>
          <a:bodyPr/>
          <a:lstStyle/>
          <a:p>
            <a:fld id="{ADE361C3-C043-4A6E-BDCE-8DA1E7D90A3B}" type="slidenum">
              <a:rPr lang="zh-CN" altLang="en-US" smtClean="0"/>
              <a:t>75</a:t>
            </a:fld>
            <a:endParaRPr lang="zh-CN" altLang="en-US"/>
          </a:p>
        </p:txBody>
      </p:sp>
      <p:sp>
        <p:nvSpPr>
          <p:cNvPr id="7" name="页脚占位符 4">
            <a:extLst>
              <a:ext uri="{FF2B5EF4-FFF2-40B4-BE49-F238E27FC236}">
                <a16:creationId xmlns:a16="http://schemas.microsoft.com/office/drawing/2014/main" id="{63E67BD0-DB52-164B-B08C-A61194216E8F}"/>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5079672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F57F3E-B5F1-294F-96A4-F4F023BD8886}"/>
              </a:ext>
            </a:extLst>
          </p:cNvPr>
          <p:cNvSpPr>
            <a:spLocks noGrp="1"/>
          </p:cNvSpPr>
          <p:nvPr>
            <p:ph type="title"/>
          </p:nvPr>
        </p:nvSpPr>
        <p:spPr/>
        <p:txBody>
          <a:bodyPr/>
          <a:lstStyle/>
          <a:p>
            <a:r>
              <a:rPr kumimoji="1" lang="en-US" altLang="zh-CN" dirty="0"/>
              <a:t>Microsoft</a:t>
            </a:r>
            <a:r>
              <a:rPr kumimoji="1" lang="zh-CN" altLang="en-US" dirty="0"/>
              <a:t> </a:t>
            </a:r>
            <a:r>
              <a:rPr kumimoji="1" lang="en-US" altLang="zh-CN" dirty="0"/>
              <a:t>365</a:t>
            </a:r>
            <a:r>
              <a:rPr kumimoji="1" lang="zh-CN" altLang="en-US" dirty="0"/>
              <a:t> </a:t>
            </a:r>
            <a:r>
              <a:rPr kumimoji="1" lang="en-US" altLang="zh-CN" dirty="0"/>
              <a:t>Copilot</a:t>
            </a:r>
            <a:endParaRPr kumimoji="1" lang="zh-CN" altLang="en-US" dirty="0"/>
          </a:p>
        </p:txBody>
      </p:sp>
      <p:sp>
        <p:nvSpPr>
          <p:cNvPr id="4" name="灯片编号占位符 3">
            <a:extLst>
              <a:ext uri="{FF2B5EF4-FFF2-40B4-BE49-F238E27FC236}">
                <a16:creationId xmlns:a16="http://schemas.microsoft.com/office/drawing/2014/main" id="{49674A73-C49F-7842-9B6D-51F7CD702359}"/>
              </a:ext>
            </a:extLst>
          </p:cNvPr>
          <p:cNvSpPr>
            <a:spLocks noGrp="1"/>
          </p:cNvSpPr>
          <p:nvPr>
            <p:ph type="sldNum" sz="quarter" idx="12"/>
          </p:nvPr>
        </p:nvSpPr>
        <p:spPr/>
        <p:txBody>
          <a:bodyPr/>
          <a:lstStyle/>
          <a:p>
            <a:fld id="{ADE361C3-C043-4A6E-BDCE-8DA1E7D90A3B}" type="slidenum">
              <a:rPr lang="zh-CN" altLang="en-US" smtClean="0"/>
              <a:t>76</a:t>
            </a:fld>
            <a:endParaRPr lang="zh-CN" altLang="en-US"/>
          </a:p>
        </p:txBody>
      </p:sp>
      <p:sp>
        <p:nvSpPr>
          <p:cNvPr id="5" name="页脚占位符 4">
            <a:extLst>
              <a:ext uri="{FF2B5EF4-FFF2-40B4-BE49-F238E27FC236}">
                <a16:creationId xmlns:a16="http://schemas.microsoft.com/office/drawing/2014/main" id="{01DADA4F-4C16-984D-9A24-4738AD28746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1026" name="Picture 2" descr="How Does Microsoft Copilot Work? - FourWeekMBA">
            <a:extLst>
              <a:ext uri="{FF2B5EF4-FFF2-40B4-BE49-F238E27FC236}">
                <a16:creationId xmlns:a16="http://schemas.microsoft.com/office/drawing/2014/main" id="{45ABDDD8-BF47-0949-809A-92D63EC9BCED}"/>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449263" y="1420086"/>
            <a:ext cx="6245475" cy="3597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95587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D29AF7-CCD1-FE47-B9D8-8FDA1265D553}"/>
              </a:ext>
            </a:extLst>
          </p:cNvPr>
          <p:cNvSpPr>
            <a:spLocks noGrp="1"/>
          </p:cNvSpPr>
          <p:nvPr>
            <p:ph type="title"/>
          </p:nvPr>
        </p:nvSpPr>
        <p:spPr/>
        <p:txBody>
          <a:bodyPr/>
          <a:lstStyle/>
          <a:p>
            <a:r>
              <a:rPr kumimoji="1" lang="en-US" altLang="zh-CN" dirty="0"/>
              <a:t>Windows</a:t>
            </a:r>
            <a:r>
              <a:rPr kumimoji="1" lang="zh-CN" altLang="en-US" dirty="0"/>
              <a:t> </a:t>
            </a:r>
            <a:r>
              <a:rPr kumimoji="1" lang="en-US" altLang="zh-CN" dirty="0"/>
              <a:t>Copilot</a:t>
            </a:r>
            <a:endParaRPr kumimoji="1" lang="zh-CN" altLang="en-US" dirty="0"/>
          </a:p>
        </p:txBody>
      </p:sp>
      <p:sp>
        <p:nvSpPr>
          <p:cNvPr id="4" name="灯片编号占位符 3">
            <a:extLst>
              <a:ext uri="{FF2B5EF4-FFF2-40B4-BE49-F238E27FC236}">
                <a16:creationId xmlns:a16="http://schemas.microsoft.com/office/drawing/2014/main" id="{D7CA0BD7-7B77-D94B-B0CC-5891B18BCD73}"/>
              </a:ext>
            </a:extLst>
          </p:cNvPr>
          <p:cNvSpPr>
            <a:spLocks noGrp="1"/>
          </p:cNvSpPr>
          <p:nvPr>
            <p:ph type="sldNum" sz="quarter" idx="12"/>
          </p:nvPr>
        </p:nvSpPr>
        <p:spPr/>
        <p:txBody>
          <a:bodyPr/>
          <a:lstStyle/>
          <a:p>
            <a:fld id="{ADE361C3-C043-4A6E-BDCE-8DA1E7D90A3B}" type="slidenum">
              <a:rPr lang="zh-CN" altLang="en-US" smtClean="0"/>
              <a:t>77</a:t>
            </a:fld>
            <a:endParaRPr lang="zh-CN" altLang="en-US"/>
          </a:p>
        </p:txBody>
      </p:sp>
      <p:sp>
        <p:nvSpPr>
          <p:cNvPr id="5" name="页脚占位符 4">
            <a:extLst>
              <a:ext uri="{FF2B5EF4-FFF2-40B4-BE49-F238E27FC236}">
                <a16:creationId xmlns:a16="http://schemas.microsoft.com/office/drawing/2014/main" id="{1BB71DDC-B5AC-6742-AF1D-6F9EA10A0C7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2050" name="Picture 2" descr="Copilot all over Windows soon | Spiria">
            <a:extLst>
              <a:ext uri="{FF2B5EF4-FFF2-40B4-BE49-F238E27FC236}">
                <a16:creationId xmlns:a16="http://schemas.microsoft.com/office/drawing/2014/main" id="{771994C1-A308-0D4D-9C6A-AABAEEF86E41}"/>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136989" y="1292899"/>
            <a:ext cx="6870023" cy="3724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25377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9A792F-D515-4E43-A549-DF601926FB21}"/>
              </a:ext>
            </a:extLst>
          </p:cNvPr>
          <p:cNvSpPr>
            <a:spLocks noGrp="1"/>
          </p:cNvSpPr>
          <p:nvPr>
            <p:ph type="title"/>
          </p:nvPr>
        </p:nvSpPr>
        <p:spPr/>
        <p:txBody>
          <a:bodyPr/>
          <a:lstStyle/>
          <a:p>
            <a:r>
              <a:rPr kumimoji="1" lang="en-US" altLang="zh-CN" dirty="0"/>
              <a:t>LLM</a:t>
            </a:r>
            <a:r>
              <a:rPr kumimoji="1" lang="zh-CN" altLang="en-US" dirty="0"/>
              <a:t> </a:t>
            </a:r>
            <a:r>
              <a:rPr kumimoji="1" lang="en-US" altLang="zh-CN" dirty="0"/>
              <a:t>&amp;</a:t>
            </a:r>
            <a:r>
              <a:rPr kumimoji="1" lang="zh-CN" altLang="en-US" dirty="0"/>
              <a:t> </a:t>
            </a:r>
            <a:r>
              <a:rPr kumimoji="1" lang="en-US" altLang="zh-CN" dirty="0"/>
              <a:t>OS</a:t>
            </a:r>
            <a:endParaRPr kumimoji="1" lang="zh-CN" altLang="en-US" dirty="0"/>
          </a:p>
        </p:txBody>
      </p:sp>
      <p:sp>
        <p:nvSpPr>
          <p:cNvPr id="3" name="内容占位符 2">
            <a:extLst>
              <a:ext uri="{FF2B5EF4-FFF2-40B4-BE49-F238E27FC236}">
                <a16:creationId xmlns:a16="http://schemas.microsoft.com/office/drawing/2014/main" id="{3FCB3FB9-C5EE-204E-AA2A-E8453B887E49}"/>
              </a:ext>
            </a:extLst>
          </p:cNvPr>
          <p:cNvSpPr>
            <a:spLocks noGrp="1"/>
          </p:cNvSpPr>
          <p:nvPr>
            <p:ph idx="1"/>
          </p:nvPr>
        </p:nvSpPr>
        <p:spPr>
          <a:xfrm>
            <a:off x="457200" y="1333501"/>
            <a:ext cx="3682752" cy="3771636"/>
          </a:xfrm>
        </p:spPr>
        <p:txBody>
          <a:bodyPr>
            <a:normAutofit/>
          </a:bodyPr>
          <a:lstStyle/>
          <a:p>
            <a:r>
              <a:rPr kumimoji="1" lang="zh-CN" altLang="en-US" dirty="0"/>
              <a:t>更友好的交互能力</a:t>
            </a:r>
            <a:endParaRPr kumimoji="1" lang="en-US" altLang="zh-CN" dirty="0"/>
          </a:p>
          <a:p>
            <a:r>
              <a:rPr kumimoji="1" lang="zh-CN" altLang="en-US" dirty="0"/>
              <a:t>更强的生产力</a:t>
            </a:r>
            <a:endParaRPr kumimoji="1" lang="en-US" altLang="zh-CN" dirty="0"/>
          </a:p>
          <a:p>
            <a:r>
              <a:rPr kumimoji="1" lang="zh-CN" altLang="en-US" dirty="0"/>
              <a:t>更强的学习能力</a:t>
            </a:r>
            <a:endParaRPr kumimoji="1" lang="en-US" altLang="zh-CN" dirty="0"/>
          </a:p>
          <a:p>
            <a:r>
              <a:rPr kumimoji="1" lang="zh-CN" altLang="en-US" dirty="0"/>
              <a:t>更强的适应能力</a:t>
            </a:r>
            <a:endParaRPr kumimoji="1" lang="en-US" altLang="zh-CN" dirty="0"/>
          </a:p>
          <a:p>
            <a:r>
              <a:rPr kumimoji="1" lang="en-US" altLang="zh-CN" dirty="0"/>
              <a:t>……</a:t>
            </a:r>
            <a:endParaRPr kumimoji="1" lang="zh-CN" altLang="en-US" dirty="0"/>
          </a:p>
        </p:txBody>
      </p:sp>
      <p:sp>
        <p:nvSpPr>
          <p:cNvPr id="4" name="灯片编号占位符 3">
            <a:extLst>
              <a:ext uri="{FF2B5EF4-FFF2-40B4-BE49-F238E27FC236}">
                <a16:creationId xmlns:a16="http://schemas.microsoft.com/office/drawing/2014/main" id="{1FEAC8F4-C4F0-3A42-ACE5-12BEBD16A177}"/>
              </a:ext>
            </a:extLst>
          </p:cNvPr>
          <p:cNvSpPr>
            <a:spLocks noGrp="1"/>
          </p:cNvSpPr>
          <p:nvPr>
            <p:ph type="sldNum" sz="quarter" idx="12"/>
          </p:nvPr>
        </p:nvSpPr>
        <p:spPr/>
        <p:txBody>
          <a:bodyPr/>
          <a:lstStyle/>
          <a:p>
            <a:fld id="{ADE361C3-C043-4A6E-BDCE-8DA1E7D90A3B}" type="slidenum">
              <a:rPr lang="zh-CN" altLang="en-US" smtClean="0"/>
              <a:t>78</a:t>
            </a:fld>
            <a:endParaRPr lang="zh-CN" altLang="en-US"/>
          </a:p>
        </p:txBody>
      </p:sp>
      <p:sp>
        <p:nvSpPr>
          <p:cNvPr id="5" name="页脚占位符 4">
            <a:extLst>
              <a:ext uri="{FF2B5EF4-FFF2-40B4-BE49-F238E27FC236}">
                <a16:creationId xmlns:a16="http://schemas.microsoft.com/office/drawing/2014/main" id="{38686174-C40B-6246-9FB2-EB9649EBC43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内容占位符 2">
            <a:extLst>
              <a:ext uri="{FF2B5EF4-FFF2-40B4-BE49-F238E27FC236}">
                <a16:creationId xmlns:a16="http://schemas.microsoft.com/office/drawing/2014/main" id="{3F49A860-BDA8-EF4D-8DAA-CE6133FF6A2D}"/>
              </a:ext>
            </a:extLst>
          </p:cNvPr>
          <p:cNvSpPr txBox="1">
            <a:spLocks/>
          </p:cNvSpPr>
          <p:nvPr/>
        </p:nvSpPr>
        <p:spPr>
          <a:xfrm>
            <a:off x="5004050" y="1333501"/>
            <a:ext cx="3682752"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zh-CN" altLang="en-US" dirty="0"/>
              <a:t>更多的不确定性</a:t>
            </a:r>
            <a:endParaRPr kumimoji="1" lang="en-US" altLang="zh-CN" dirty="0"/>
          </a:p>
          <a:p>
            <a:r>
              <a:rPr kumimoji="1" lang="zh-CN" altLang="en-US" dirty="0"/>
              <a:t>更大的隐私泄露风险</a:t>
            </a:r>
            <a:endParaRPr kumimoji="1" lang="en-US" altLang="zh-CN" dirty="0"/>
          </a:p>
          <a:p>
            <a:r>
              <a:rPr kumimoji="1" lang="zh-CN" altLang="en-US" dirty="0"/>
              <a:t>更大的算力需求</a:t>
            </a:r>
            <a:endParaRPr kumimoji="1" lang="en-US" altLang="zh-CN" dirty="0"/>
          </a:p>
          <a:p>
            <a:r>
              <a:rPr kumimoji="1" lang="zh-CN" altLang="en-US" dirty="0"/>
              <a:t>更有挑战的错误处理</a:t>
            </a:r>
            <a:endParaRPr kumimoji="1" lang="en-US" altLang="zh-CN" dirty="0"/>
          </a:p>
          <a:p>
            <a:r>
              <a:rPr kumimoji="1" lang="en-US" altLang="zh-CN" dirty="0"/>
              <a:t>……</a:t>
            </a:r>
          </a:p>
        </p:txBody>
      </p:sp>
    </p:spTree>
    <p:extLst>
      <p:ext uri="{BB962C8B-B14F-4D97-AF65-F5344CB8AC3E}">
        <p14:creationId xmlns:p14="http://schemas.microsoft.com/office/powerpoint/2010/main" val="16022638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097BB2-C790-8548-8D13-846A78294A1E}"/>
              </a:ext>
            </a:extLst>
          </p:cNvPr>
          <p:cNvSpPr>
            <a:spLocks noGrp="1"/>
          </p:cNvSpPr>
          <p:nvPr>
            <p:ph type="title"/>
          </p:nvPr>
        </p:nvSpPr>
        <p:spPr/>
        <p:txBody>
          <a:bodyPr/>
          <a:lstStyle/>
          <a:p>
            <a:r>
              <a:rPr kumimoji="1" lang="zh-CN" altLang="en-US" dirty="0"/>
              <a:t>更多需要探索的领域</a:t>
            </a:r>
          </a:p>
        </p:txBody>
      </p:sp>
      <p:sp>
        <p:nvSpPr>
          <p:cNvPr id="3" name="内容占位符 2">
            <a:extLst>
              <a:ext uri="{FF2B5EF4-FFF2-40B4-BE49-F238E27FC236}">
                <a16:creationId xmlns:a16="http://schemas.microsoft.com/office/drawing/2014/main" id="{5BE5AAA5-226C-1844-882D-EC75BDE271F7}"/>
              </a:ext>
            </a:extLst>
          </p:cNvPr>
          <p:cNvSpPr>
            <a:spLocks noGrp="1"/>
          </p:cNvSpPr>
          <p:nvPr>
            <p:ph idx="1"/>
          </p:nvPr>
        </p:nvSpPr>
        <p:spPr/>
        <p:txBody>
          <a:bodyPr>
            <a:normAutofit fontScale="92500" lnSpcReduction="10000"/>
          </a:bodyPr>
          <a:lstStyle/>
          <a:p>
            <a:r>
              <a:rPr kumimoji="1" lang="zh-CN" altLang="en-US" dirty="0"/>
              <a:t>操作系统如何更有效地组织来自不同应用的数据？</a:t>
            </a:r>
            <a:endParaRPr kumimoji="1" lang="en-US" altLang="zh-CN" dirty="0"/>
          </a:p>
          <a:p>
            <a:r>
              <a:rPr kumimoji="1" lang="zh-CN" altLang="en-US" dirty="0"/>
              <a:t>哪些操作系统的组件会出现改变（例如</a:t>
            </a:r>
            <a:r>
              <a:rPr kumimoji="1" lang="en-US" altLang="zh-CN" dirty="0"/>
              <a:t>UI</a:t>
            </a:r>
            <a:r>
              <a:rPr kumimoji="1" lang="zh-CN" altLang="en-US" dirty="0"/>
              <a:t>）？</a:t>
            </a:r>
            <a:endParaRPr kumimoji="1" lang="en-US" altLang="zh-CN" dirty="0"/>
          </a:p>
          <a:p>
            <a:r>
              <a:rPr kumimoji="1" lang="zh-CN" altLang="en-US" dirty="0"/>
              <a:t>哪些操作系统的策略会出现改变（例如调度）？</a:t>
            </a:r>
            <a:endParaRPr kumimoji="1" lang="en-US" altLang="zh-CN" dirty="0"/>
          </a:p>
          <a:p>
            <a:r>
              <a:rPr kumimoji="1" lang="zh-CN" altLang="en-US" dirty="0"/>
              <a:t>操作系统如何保证用户数据的隐私性？</a:t>
            </a:r>
            <a:endParaRPr kumimoji="1" lang="en-US" altLang="zh-CN" dirty="0"/>
          </a:p>
          <a:p>
            <a:r>
              <a:rPr kumimoji="1" lang="zh-CN" altLang="en-US" dirty="0"/>
              <a:t>操作系统如何应对</a:t>
            </a:r>
            <a:r>
              <a:rPr kumimoji="1" lang="en-US" altLang="zh-CN" dirty="0"/>
              <a:t>LLM</a:t>
            </a:r>
            <a:r>
              <a:rPr kumimoji="1" lang="zh-CN" altLang="en-US" dirty="0"/>
              <a:t>本身带来的不确定性？</a:t>
            </a:r>
            <a:endParaRPr kumimoji="1" lang="en-US" altLang="zh-CN" dirty="0"/>
          </a:p>
          <a:p>
            <a:r>
              <a:rPr kumimoji="1" lang="zh-CN" altLang="en-US" dirty="0"/>
              <a:t>操作系统如何从</a:t>
            </a:r>
            <a:r>
              <a:rPr kumimoji="1" lang="en-US" altLang="zh-CN" dirty="0"/>
              <a:t>LLM</a:t>
            </a:r>
            <a:r>
              <a:rPr kumimoji="1" lang="zh-CN" altLang="en-US" dirty="0"/>
              <a:t>导致的问题中恢复？</a:t>
            </a:r>
            <a:endParaRPr kumimoji="1" lang="en-US" altLang="zh-CN" dirty="0"/>
          </a:p>
          <a:p>
            <a:r>
              <a:rPr kumimoji="1" lang="en-US" altLang="zh-CN" dirty="0"/>
              <a:t>……</a:t>
            </a:r>
          </a:p>
        </p:txBody>
      </p:sp>
      <p:sp>
        <p:nvSpPr>
          <p:cNvPr id="4" name="灯片编号占位符 3">
            <a:extLst>
              <a:ext uri="{FF2B5EF4-FFF2-40B4-BE49-F238E27FC236}">
                <a16:creationId xmlns:a16="http://schemas.microsoft.com/office/drawing/2014/main" id="{8B967C19-B0E3-0143-B61D-0DDAACC96B8F}"/>
              </a:ext>
            </a:extLst>
          </p:cNvPr>
          <p:cNvSpPr>
            <a:spLocks noGrp="1"/>
          </p:cNvSpPr>
          <p:nvPr>
            <p:ph type="sldNum" sz="quarter" idx="12"/>
          </p:nvPr>
        </p:nvSpPr>
        <p:spPr/>
        <p:txBody>
          <a:bodyPr/>
          <a:lstStyle/>
          <a:p>
            <a:fld id="{ADE361C3-C043-4A6E-BDCE-8DA1E7D90A3B}" type="slidenum">
              <a:rPr lang="zh-CN" altLang="en-US" smtClean="0"/>
              <a:t>79</a:t>
            </a:fld>
            <a:endParaRPr lang="zh-CN" altLang="en-US"/>
          </a:p>
        </p:txBody>
      </p:sp>
      <p:sp>
        <p:nvSpPr>
          <p:cNvPr id="5" name="页脚占位符 4">
            <a:extLst>
              <a:ext uri="{FF2B5EF4-FFF2-40B4-BE49-F238E27FC236}">
                <a16:creationId xmlns:a16="http://schemas.microsoft.com/office/drawing/2014/main" id="{8A5C8422-D8DD-ED44-8113-587D102F8B9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6170292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sz="3200" dirty="0"/>
              <a:t>总结：操作系统的八个前沿研究领域</a:t>
            </a:r>
            <a:endParaRPr kumimoji="1" lang="zh-CN" altLang="en-US" sz="3200" dirty="0">
              <a:latin typeface="+mj-lt"/>
            </a:endParaRP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394039"/>
            <a:ext cx="3898776" cy="3911733"/>
          </a:xfrm>
        </p:spPr>
        <p:txBody>
          <a:bodyPr>
            <a:normAutofit/>
          </a:bodyPr>
          <a:lstStyle/>
          <a:p>
            <a:pPr marL="0" indent="0">
              <a:buNone/>
            </a:pPr>
            <a:r>
              <a:rPr kumimoji="1" lang="en-US" altLang="zh-CN" sz="2800" dirty="0">
                <a:latin typeface="+mn-lt"/>
              </a:rPr>
              <a:t>1.</a:t>
            </a:r>
            <a:r>
              <a:rPr kumimoji="1" lang="zh-CN" altLang="en-US" sz="2800" dirty="0">
                <a:latin typeface="+mn-lt"/>
              </a:rPr>
              <a:t> 异构操作系统</a:t>
            </a:r>
            <a:endParaRPr kumimoji="1" lang="en-US" altLang="zh-CN" sz="2800" dirty="0">
              <a:latin typeface="+mn-lt"/>
            </a:endParaRPr>
          </a:p>
          <a:p>
            <a:pPr marL="0" indent="0">
              <a:buNone/>
            </a:pPr>
            <a:r>
              <a:rPr kumimoji="1" lang="en-US" altLang="zh-CN" sz="2800" dirty="0">
                <a:latin typeface="+mn-lt"/>
              </a:rPr>
              <a:t>2.</a:t>
            </a:r>
            <a:r>
              <a:rPr kumimoji="1" lang="zh-CN" altLang="en-US" sz="2800" dirty="0">
                <a:latin typeface="+mn-lt"/>
              </a:rPr>
              <a:t> 新的应用接口</a:t>
            </a:r>
            <a:endParaRPr kumimoji="1" lang="en-US" altLang="zh-CN" sz="2800" dirty="0">
              <a:latin typeface="+mn-lt"/>
            </a:endParaRPr>
          </a:p>
          <a:p>
            <a:pPr marL="0" indent="0">
              <a:buNone/>
            </a:pPr>
            <a:r>
              <a:rPr kumimoji="1" lang="en-US" altLang="zh-CN" sz="2800" dirty="0"/>
              <a:t>3.</a:t>
            </a:r>
            <a:r>
              <a:rPr kumimoji="1" lang="zh-CN" altLang="en-US" sz="2800" dirty="0"/>
              <a:t> 同步原语</a:t>
            </a:r>
          </a:p>
          <a:p>
            <a:pPr marL="0" indent="0">
              <a:buNone/>
            </a:pPr>
            <a:r>
              <a:rPr kumimoji="1" lang="en-US" altLang="zh-CN" sz="2800" dirty="0">
                <a:latin typeface="+mn-lt"/>
              </a:rPr>
              <a:t>4.</a:t>
            </a:r>
            <a:r>
              <a:rPr kumimoji="1" lang="zh-CN" altLang="en-US" sz="2800" dirty="0">
                <a:latin typeface="+mn-lt"/>
              </a:rPr>
              <a:t> 持久性内存</a:t>
            </a:r>
            <a:endParaRPr kumimoji="1" lang="en-US" altLang="zh-CN" sz="2800" dirty="0">
              <a:latin typeface="+mn-lt"/>
            </a:endParaRPr>
          </a:p>
        </p:txBody>
      </p:sp>
      <p:sp>
        <p:nvSpPr>
          <p:cNvPr id="4" name="灯片编号占位符 3">
            <a:extLst>
              <a:ext uri="{FF2B5EF4-FFF2-40B4-BE49-F238E27FC236}">
                <a16:creationId xmlns:a16="http://schemas.microsoft.com/office/drawing/2014/main" id="{CF9BB640-CB11-014E-8ABC-EBE8D3282E00}"/>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80</a:t>
            </a:fld>
            <a:endParaRPr lang="zh-CN" altLang="en-US"/>
          </a:p>
        </p:txBody>
      </p:sp>
      <p:sp>
        <p:nvSpPr>
          <p:cNvPr id="5" name="页脚占位符 4">
            <a:extLst>
              <a:ext uri="{FF2B5EF4-FFF2-40B4-BE49-F238E27FC236}">
                <a16:creationId xmlns:a16="http://schemas.microsoft.com/office/drawing/2014/main" id="{45C60B85-2C77-3947-853E-35E1F5ADBA2C}"/>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内容占位符 2">
            <a:extLst>
              <a:ext uri="{FF2B5EF4-FFF2-40B4-BE49-F238E27FC236}">
                <a16:creationId xmlns:a16="http://schemas.microsoft.com/office/drawing/2014/main" id="{DF0612F8-DA82-BD44-A2E6-09D48655D051}"/>
              </a:ext>
            </a:extLst>
          </p:cNvPr>
          <p:cNvSpPr txBox="1">
            <a:spLocks/>
          </p:cNvSpPr>
          <p:nvPr/>
        </p:nvSpPr>
        <p:spPr>
          <a:xfrm>
            <a:off x="4932040" y="1394039"/>
            <a:ext cx="3898776" cy="386302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en-US" altLang="zh-CN" sz="2800" dirty="0"/>
              <a:t>5.</a:t>
            </a:r>
            <a:r>
              <a:rPr kumimoji="1" lang="zh-CN" altLang="en-US" sz="2800" dirty="0"/>
              <a:t> 系统安全</a:t>
            </a:r>
            <a:endParaRPr kumimoji="1" lang="en-US" altLang="zh-CN" sz="2800" dirty="0"/>
          </a:p>
          <a:p>
            <a:pPr marL="0" indent="0">
              <a:buNone/>
            </a:pPr>
            <a:r>
              <a:rPr kumimoji="1" lang="en-US" altLang="zh-CN" sz="2800" dirty="0"/>
              <a:t>6.</a:t>
            </a:r>
            <a:r>
              <a:rPr kumimoji="1" lang="zh-CN" altLang="en-US" sz="2800" dirty="0"/>
              <a:t> 操作系统测试</a:t>
            </a:r>
            <a:endParaRPr kumimoji="1" lang="en-US" altLang="zh-CN" sz="2800" dirty="0"/>
          </a:p>
          <a:p>
            <a:pPr marL="0" indent="0">
              <a:buNone/>
            </a:pPr>
            <a:r>
              <a:rPr kumimoji="1" lang="en-US" altLang="zh-CN" sz="2800" dirty="0"/>
              <a:t>7.</a:t>
            </a:r>
            <a:r>
              <a:rPr kumimoji="1" lang="zh-CN" altLang="en-US" sz="2800" dirty="0"/>
              <a:t> 形式化证明</a:t>
            </a:r>
            <a:endParaRPr kumimoji="1" lang="en-US" altLang="zh-CN" sz="2800" dirty="0"/>
          </a:p>
          <a:p>
            <a:pPr marL="0" indent="0">
              <a:buNone/>
            </a:pPr>
            <a:r>
              <a:rPr kumimoji="1" lang="en-US" altLang="zh-CN" sz="2800" dirty="0"/>
              <a:t>8.</a:t>
            </a:r>
            <a:r>
              <a:rPr kumimoji="1" lang="zh-CN" altLang="en-US" sz="2800" dirty="0"/>
              <a:t> 大语言模型</a:t>
            </a:r>
            <a:endParaRPr kumimoji="1" lang="en-US" altLang="zh-CN" sz="2800" dirty="0"/>
          </a:p>
          <a:p>
            <a:pPr marL="457200" indent="-457200">
              <a:buFont typeface="+mj-lt"/>
              <a:buAutoNum type="arabicPeriod"/>
            </a:pPr>
            <a:endParaRPr kumimoji="1" lang="en-US" altLang="zh-CN" sz="2800" dirty="0"/>
          </a:p>
        </p:txBody>
      </p:sp>
      <p:sp>
        <p:nvSpPr>
          <p:cNvPr id="7" name="文本框 6">
            <a:extLst>
              <a:ext uri="{FF2B5EF4-FFF2-40B4-BE49-F238E27FC236}">
                <a16:creationId xmlns:a16="http://schemas.microsoft.com/office/drawing/2014/main" id="{E4B8A833-D91C-8E47-AA6E-CA8FF9FE8BDF}"/>
              </a:ext>
            </a:extLst>
          </p:cNvPr>
          <p:cNvSpPr txBox="1"/>
          <p:nvPr/>
        </p:nvSpPr>
        <p:spPr>
          <a:xfrm>
            <a:off x="599935" y="4513684"/>
            <a:ext cx="7512082" cy="830997"/>
          </a:xfrm>
          <a:prstGeom prst="rect">
            <a:avLst/>
          </a:prstGeom>
          <a:noFill/>
        </p:spPr>
        <p:txBody>
          <a:bodyPr wrap="square">
            <a:spAutoFit/>
          </a:bodyPr>
          <a:lstStyle/>
          <a:p>
            <a:pPr algn="ctr"/>
            <a:r>
              <a:rPr kumimoji="1" lang="zh-CN" altLang="en-US" sz="2400" b="1" dirty="0">
                <a:solidFill>
                  <a:schemeClr val="accent1"/>
                </a:solidFill>
              </a:rPr>
              <a:t>随着新的应用需求和硬件发展而不断在变化</a:t>
            </a:r>
            <a:endParaRPr lang="zh-CN" altLang="en-US" sz="2400" b="1" dirty="0">
              <a:solidFill>
                <a:schemeClr val="accent1"/>
              </a:solidFill>
            </a:endParaRPr>
          </a:p>
        </p:txBody>
      </p:sp>
    </p:spTree>
    <p:extLst>
      <p:ext uri="{BB962C8B-B14F-4D97-AF65-F5344CB8AC3E}">
        <p14:creationId xmlns:p14="http://schemas.microsoft.com/office/powerpoint/2010/main" val="5176221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latin typeface="+mj-lt"/>
              </a:rPr>
              <a:t>操作系统方向的重要学术会议</a:t>
            </a: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291264" cy="4122373"/>
          </a:xfrm>
        </p:spPr>
        <p:txBody>
          <a:bodyPr>
            <a:normAutofit fontScale="92500" lnSpcReduction="20000"/>
          </a:bodyPr>
          <a:lstStyle/>
          <a:p>
            <a:r>
              <a:rPr kumimoji="1" lang="zh-CN" altLang="en-US" sz="2000" dirty="0">
                <a:latin typeface="+mn-lt"/>
              </a:rPr>
              <a:t>顶级学术会议</a:t>
            </a:r>
            <a:endParaRPr kumimoji="1" lang="en-US" altLang="zh-CN" sz="2000" dirty="0">
              <a:latin typeface="+mn-lt"/>
            </a:endParaRPr>
          </a:p>
          <a:p>
            <a:pPr lvl="1"/>
            <a:r>
              <a:rPr kumimoji="1" lang="en-US" altLang="zh-CN" sz="1600" dirty="0"/>
              <a:t>SOSP</a:t>
            </a:r>
            <a:r>
              <a:rPr kumimoji="1" lang="zh-CN" altLang="en-US" sz="1600" dirty="0"/>
              <a:t> </a:t>
            </a:r>
            <a:r>
              <a:rPr kumimoji="1" lang="en-US" altLang="zh-CN" sz="1600" dirty="0"/>
              <a:t>&amp;</a:t>
            </a:r>
            <a:r>
              <a:rPr kumimoji="1" lang="zh-CN" altLang="en-US" sz="1600" dirty="0"/>
              <a:t> </a:t>
            </a:r>
            <a:r>
              <a:rPr kumimoji="1" lang="en-US" altLang="zh-CN" sz="1600" dirty="0"/>
              <a:t>OSDI</a:t>
            </a:r>
            <a:r>
              <a:rPr kumimoji="1" lang="zh-CN" altLang="en-US" sz="1600" dirty="0"/>
              <a:t>：操作系统影响力最大的会议，许多内容进入</a:t>
            </a:r>
            <a:r>
              <a:rPr kumimoji="1" lang="en-US" altLang="zh-CN" sz="1600" dirty="0"/>
              <a:t>OS</a:t>
            </a:r>
            <a:r>
              <a:rPr kumimoji="1" lang="zh-CN" altLang="en-US" sz="1600" dirty="0"/>
              <a:t>教科书</a:t>
            </a:r>
            <a:endParaRPr kumimoji="1" lang="en-US" altLang="zh-CN" sz="1600" dirty="0"/>
          </a:p>
          <a:p>
            <a:r>
              <a:rPr kumimoji="1" lang="zh-CN" altLang="en-US" sz="2000" dirty="0">
                <a:latin typeface="+mn-lt"/>
              </a:rPr>
              <a:t>重要学术会议</a:t>
            </a:r>
            <a:endParaRPr kumimoji="1" lang="en-US" altLang="zh-CN" sz="2000" dirty="0">
              <a:latin typeface="+mn-lt"/>
            </a:endParaRPr>
          </a:p>
          <a:p>
            <a:pPr lvl="1"/>
            <a:r>
              <a:rPr kumimoji="1" lang="en-US" altLang="zh-CN" sz="1600" dirty="0" err="1"/>
              <a:t>EuroSys</a:t>
            </a:r>
            <a:r>
              <a:rPr kumimoji="1" lang="zh-CN" altLang="en-US" sz="1600" dirty="0"/>
              <a:t>：基本在欧洲召开</a:t>
            </a:r>
            <a:endParaRPr kumimoji="1" lang="en-US" altLang="zh-CN" sz="1600" dirty="0"/>
          </a:p>
          <a:p>
            <a:pPr lvl="1"/>
            <a:r>
              <a:rPr kumimoji="1" lang="en-US" altLang="zh-CN" sz="1600" dirty="0" err="1"/>
              <a:t>APSys</a:t>
            </a:r>
            <a:r>
              <a:rPr kumimoji="1" lang="zh-CN" altLang="en-US" sz="1600" dirty="0"/>
              <a:t>：在亚太地区召开的系统会议</a:t>
            </a:r>
            <a:endParaRPr kumimoji="1" lang="en-US" altLang="zh-CN" sz="1600" dirty="0"/>
          </a:p>
          <a:p>
            <a:pPr lvl="1"/>
            <a:r>
              <a:rPr kumimoji="1" lang="en-US" altLang="zh-CN" sz="1600" dirty="0" err="1"/>
              <a:t>ChinaSys</a:t>
            </a:r>
            <a:r>
              <a:rPr kumimoji="1" lang="zh-CN" altLang="en-US" sz="1600" dirty="0"/>
              <a:t>：在中国召开的系统会议</a:t>
            </a:r>
            <a:endParaRPr kumimoji="1" lang="en-US" altLang="zh-CN" sz="1600" dirty="0"/>
          </a:p>
          <a:p>
            <a:pPr lvl="1"/>
            <a:r>
              <a:rPr kumimoji="1" lang="en-US" altLang="zh-CN" sz="1600" dirty="0"/>
              <a:t>USENIX</a:t>
            </a:r>
            <a:r>
              <a:rPr kumimoji="1" lang="zh-CN" altLang="en-US" sz="1600" dirty="0"/>
              <a:t> </a:t>
            </a:r>
            <a:r>
              <a:rPr kumimoji="1" lang="en-US" altLang="zh-CN" sz="1600" dirty="0"/>
              <a:t>ATC</a:t>
            </a:r>
            <a:r>
              <a:rPr kumimoji="1" lang="zh-CN" altLang="en-US" sz="1600" dirty="0"/>
              <a:t>：</a:t>
            </a:r>
            <a:r>
              <a:rPr kumimoji="1" lang="en-US" altLang="zh-CN" sz="1600" dirty="0"/>
              <a:t>USENIX</a:t>
            </a:r>
            <a:r>
              <a:rPr kumimoji="1" lang="zh-CN" altLang="en-US" sz="1600" dirty="0"/>
              <a:t>的技术年会，议题较多，偏工业界</a:t>
            </a:r>
            <a:endParaRPr kumimoji="1" lang="en-US" altLang="zh-CN" sz="1600" dirty="0"/>
          </a:p>
          <a:p>
            <a:pPr lvl="1"/>
            <a:r>
              <a:rPr kumimoji="1" lang="en-US" altLang="zh-CN" sz="1600" dirty="0" err="1"/>
              <a:t>HotOS</a:t>
            </a:r>
            <a:r>
              <a:rPr kumimoji="1" lang="zh-CN" altLang="en-US" sz="1600" dirty="0"/>
              <a:t>：专门讨论</a:t>
            </a:r>
            <a:r>
              <a:rPr kumimoji="1" lang="en-US" altLang="zh-CN" sz="1600" dirty="0"/>
              <a:t>OS</a:t>
            </a:r>
            <a:r>
              <a:rPr kumimoji="1" lang="zh-CN" altLang="en-US" sz="1600" dirty="0"/>
              <a:t>前沿的</a:t>
            </a:r>
            <a:r>
              <a:rPr kumimoji="1" lang="en-US" altLang="zh-CN" sz="1600" dirty="0"/>
              <a:t>workshop</a:t>
            </a:r>
            <a:r>
              <a:rPr kumimoji="1" lang="zh-CN" altLang="en-US" sz="1600" dirty="0"/>
              <a:t>，奇数年召开</a:t>
            </a:r>
            <a:endParaRPr kumimoji="1" lang="en-US" altLang="zh-CN" sz="1600" dirty="0">
              <a:latin typeface="+mn-lt"/>
            </a:endParaRPr>
          </a:p>
          <a:p>
            <a:r>
              <a:rPr kumimoji="1" lang="zh-CN" altLang="en-US" sz="2000" dirty="0"/>
              <a:t>特定方向的</a:t>
            </a:r>
            <a:r>
              <a:rPr kumimoji="1" lang="zh-CN" altLang="en-US" sz="2000" dirty="0">
                <a:latin typeface="+mn-lt"/>
              </a:rPr>
              <a:t>学术会议</a:t>
            </a:r>
            <a:endParaRPr kumimoji="1" lang="en-US" altLang="zh-CN" sz="2000" dirty="0">
              <a:latin typeface="+mn-lt"/>
            </a:endParaRPr>
          </a:p>
          <a:p>
            <a:pPr lvl="1"/>
            <a:r>
              <a:rPr kumimoji="1" lang="en-US" altLang="zh-CN" sz="1600" dirty="0"/>
              <a:t>ASPLOS</a:t>
            </a:r>
            <a:r>
              <a:rPr kumimoji="1" lang="zh-CN" altLang="en-US" sz="1600" dirty="0"/>
              <a:t>：偏重体系结构、编译与</a:t>
            </a:r>
            <a:r>
              <a:rPr kumimoji="1" lang="en-US" altLang="zh-CN" sz="1600" dirty="0"/>
              <a:t>OS</a:t>
            </a:r>
            <a:r>
              <a:rPr kumimoji="1" lang="zh-CN" altLang="en-US" sz="1600" dirty="0"/>
              <a:t>的结合</a:t>
            </a:r>
            <a:endParaRPr kumimoji="1" lang="en-US" altLang="zh-CN" sz="1600" dirty="0"/>
          </a:p>
          <a:p>
            <a:pPr lvl="1"/>
            <a:r>
              <a:rPr kumimoji="1" lang="en-US" altLang="zh-CN" sz="1600" dirty="0"/>
              <a:t>USENIX</a:t>
            </a:r>
            <a:r>
              <a:rPr kumimoji="1" lang="zh-CN" altLang="en-US" sz="1600" dirty="0"/>
              <a:t> </a:t>
            </a:r>
            <a:r>
              <a:rPr kumimoji="1" lang="en-US" altLang="zh-CN" sz="1600" dirty="0"/>
              <a:t>NSDI</a:t>
            </a:r>
            <a:r>
              <a:rPr kumimoji="1" lang="zh-CN" altLang="en-US" sz="1600" dirty="0"/>
              <a:t>：网络系统方向</a:t>
            </a:r>
            <a:endParaRPr kumimoji="1" lang="en-US" altLang="zh-CN" sz="1600" dirty="0"/>
          </a:p>
          <a:p>
            <a:pPr lvl="1"/>
            <a:r>
              <a:rPr kumimoji="1" lang="en-US" altLang="zh-CN" sz="1600" dirty="0">
                <a:latin typeface="+mn-lt"/>
              </a:rPr>
              <a:t>USENIX</a:t>
            </a:r>
            <a:r>
              <a:rPr kumimoji="1" lang="zh-CN" altLang="en-US" sz="1600" dirty="0">
                <a:latin typeface="+mn-lt"/>
              </a:rPr>
              <a:t> </a:t>
            </a:r>
            <a:r>
              <a:rPr kumimoji="1" lang="en-US" altLang="zh-CN" sz="1600" dirty="0">
                <a:latin typeface="+mn-lt"/>
              </a:rPr>
              <a:t>FAST</a:t>
            </a:r>
            <a:r>
              <a:rPr kumimoji="1" lang="zh-CN" altLang="en-US" sz="1600" dirty="0">
                <a:latin typeface="+mn-lt"/>
              </a:rPr>
              <a:t>：文件系统与存储方向</a:t>
            </a:r>
            <a:endParaRPr kumimoji="1" lang="en-US" altLang="zh-CN" sz="1600" dirty="0">
              <a:latin typeface="+mn-lt"/>
            </a:endParaRPr>
          </a:p>
          <a:p>
            <a:pPr lvl="1"/>
            <a:r>
              <a:rPr kumimoji="1" lang="en-US" altLang="zh-CN" sz="1600" dirty="0"/>
              <a:t>…</a:t>
            </a:r>
            <a:endParaRPr kumimoji="1" lang="en-US" altLang="zh-CN" sz="1600" dirty="0">
              <a:latin typeface="+mn-lt"/>
            </a:endParaRPr>
          </a:p>
        </p:txBody>
      </p:sp>
      <p:sp>
        <p:nvSpPr>
          <p:cNvPr id="4" name="灯片编号占位符 3">
            <a:extLst>
              <a:ext uri="{FF2B5EF4-FFF2-40B4-BE49-F238E27FC236}">
                <a16:creationId xmlns:a16="http://schemas.microsoft.com/office/drawing/2014/main" id="{02899331-4F98-1C45-8CA4-AA1309317D91}"/>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81</a:t>
            </a:fld>
            <a:endParaRPr lang="zh-CN" altLang="en-US"/>
          </a:p>
        </p:txBody>
      </p:sp>
      <p:sp>
        <p:nvSpPr>
          <p:cNvPr id="5" name="页脚占位符 4">
            <a:extLst>
              <a:ext uri="{FF2B5EF4-FFF2-40B4-BE49-F238E27FC236}">
                <a16:creationId xmlns:a16="http://schemas.microsoft.com/office/drawing/2014/main" id="{E5C7E25B-C352-ED47-AAA6-6C95BA6A1477}"/>
              </a:ext>
            </a:extLst>
          </p:cNvPr>
          <p:cNvSpPr>
            <a:spLocks noGrp="1"/>
          </p:cNvSpPr>
          <p:nvPr>
            <p:ph type="ftr" sz="quarter" idx="3"/>
          </p:nvPr>
        </p:nvSpPr>
        <p:spPr>
          <a:xfrm>
            <a:off x="2553817" y="5305772"/>
            <a:ext cx="3962399" cy="304271"/>
          </a:xfrm>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327874876"/>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kumimoji="1"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50846</TotalTime>
  <Words>7030</Words>
  <Application>Microsoft Macintosh PowerPoint</Application>
  <PresentationFormat>全屏显示(16:10)</PresentationFormat>
  <Paragraphs>1012</Paragraphs>
  <Slides>81</Slides>
  <Notes>40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81</vt:i4>
      </vt:variant>
    </vt:vector>
  </HeadingPairs>
  <TitlesOfParts>
    <vt:vector size="92" baseType="lpstr">
      <vt:lpstr>DengXian</vt:lpstr>
      <vt:lpstr>Microsoft YaHei</vt:lpstr>
      <vt:lpstr>Microsoft YaHei</vt:lpstr>
      <vt:lpstr>Arial</vt:lpstr>
      <vt:lpstr>Calibri</vt:lpstr>
      <vt:lpstr>Candara</vt:lpstr>
      <vt:lpstr>Century Gothic</vt:lpstr>
      <vt:lpstr>Courier</vt:lpstr>
      <vt:lpstr>Gill Sans MT</vt:lpstr>
      <vt:lpstr>Verdana</vt:lpstr>
      <vt:lpstr>Office 主题​​</vt:lpstr>
      <vt:lpstr>操作系统研究前沿</vt:lpstr>
      <vt:lpstr>版权声明</vt:lpstr>
      <vt:lpstr>操作系统研究</vt:lpstr>
      <vt:lpstr>操作系统的八个前沿研究领域</vt:lpstr>
      <vt:lpstr>1、异构操作系统</vt:lpstr>
      <vt:lpstr>硬件发展的趋势：多样化与异构化</vt:lpstr>
      <vt:lpstr>为什么需要异构硬件？</vt:lpstr>
      <vt:lpstr>挑战-1：需要同时支持多种指令集 (ISA)</vt:lpstr>
      <vt:lpstr>思路：两阶段编译解决异构ISA问题</vt:lpstr>
      <vt:lpstr>挑战-2：内核/应用在跨总线的环境下的同步和通信</vt:lpstr>
      <vt:lpstr>思路：多内核抽象——每个设备运行一个monitor</vt:lpstr>
      <vt:lpstr>挑战-3：CPU提供OS服务容易成为系统性能瓶颈</vt:lpstr>
      <vt:lpstr>思路：CPU负责控制流，加速器负责数据流</vt:lpstr>
      <vt:lpstr>挑战：OS如何使用智能网卡优化网络应用？</vt:lpstr>
      <vt:lpstr>思路-1：卸载部分应用逻辑至网卡</vt:lpstr>
      <vt:lpstr>思路-2：卸载部分微内核服务至网卡</vt:lpstr>
      <vt:lpstr>思路-3：卸载部分网络协议栈至网卡</vt:lpstr>
      <vt:lpstr>更多智能网卡的研究挑战</vt:lpstr>
      <vt:lpstr>其他挑战与待解决的问题</vt:lpstr>
      <vt:lpstr>2、新的应用接口</vt:lpstr>
      <vt:lpstr>极低时延应用对操作系统的新要求</vt:lpstr>
      <vt:lpstr>极低时延应用对操作系统的新要求</vt:lpstr>
      <vt:lpstr>挑战-1：内核软件栈臃肿</vt:lpstr>
      <vt:lpstr>思路-1：通过内核旁路解决软件栈臃肿问题</vt:lpstr>
      <vt:lpstr>思路-1：通过内核旁路解决软件栈臃肿问题</vt:lpstr>
      <vt:lpstr>挑战-2：内核抽象过于笨重</vt:lpstr>
      <vt:lpstr>思路-2：通过轻量级与定制化内核提高性能</vt:lpstr>
      <vt:lpstr>挑战-3：应用缺乏对于调度的控制</vt:lpstr>
      <vt:lpstr>思路-3：让应用做更多决策，如自主调度</vt:lpstr>
      <vt:lpstr>小结：设计新型操作系统的关键词</vt:lpstr>
      <vt:lpstr>3、多核同步原语</vt:lpstr>
      <vt:lpstr>挑战-1：CPU核越来越多，锁的可扩展性遇到瓶颈</vt:lpstr>
      <vt:lpstr>挑战-1：CPU核越来越多，锁的可扩展性遇到瓶颈</vt:lpstr>
      <vt:lpstr>挑战-1：CPU核越来越多，锁的可扩展性遇到瓶颈</vt:lpstr>
      <vt:lpstr>思路：将所有竞争者的临界区集中到一个核上处理</vt:lpstr>
      <vt:lpstr>思路：将所有竞争者的临界区集中到一个核上处理</vt:lpstr>
      <vt:lpstr>思路：将所有竞争者的临界区集中到一个核上处理</vt:lpstr>
      <vt:lpstr>思路：将所有竞争者的临界区集中到一个核上处理</vt:lpstr>
      <vt:lpstr>思路：将所有竞争者的临界区集中到一个核上处理</vt:lpstr>
      <vt:lpstr>迁移锁的效果：在跨NUMA节点时依然保持可扩展</vt:lpstr>
      <vt:lpstr>迁移锁是多核锁的终极方案么？No</vt:lpstr>
      <vt:lpstr>挑战-2：如何在提升性能的同时，维持锁的易用性？</vt:lpstr>
      <vt:lpstr>除了性能可扩展性与易用性之外的挑战</vt:lpstr>
      <vt:lpstr>4、持久性内存</vt:lpstr>
      <vt:lpstr>持久性内存（PM）正在变得越来越流行</vt:lpstr>
      <vt:lpstr>内存层级的断层</vt:lpstr>
      <vt:lpstr>内存层级的断层</vt:lpstr>
      <vt:lpstr>非易失性内存：填补了断层</vt:lpstr>
      <vt:lpstr>挑战-1：操作系统该如何为持久内存提供抽象？</vt:lpstr>
      <vt:lpstr>思路：直接将持久性内存当做存储设备管理</vt:lpstr>
      <vt:lpstr>挑战-2：如何避免内核带来的开销？</vt:lpstr>
      <vt:lpstr>思路-1：用户FS记录日志，内核FS整理日志</vt:lpstr>
      <vt:lpstr>思路-2：用户FS处理数据，内核FS管理元数据</vt:lpstr>
      <vt:lpstr>思路-3：用户FS处理请求，内核FS提供隔离</vt:lpstr>
      <vt:lpstr>未来：PM上是否还需要文件系统？</vt:lpstr>
      <vt:lpstr>5、系统安全隔离</vt:lpstr>
      <vt:lpstr>挑战：如何保证越来越复杂系统的安全</vt:lpstr>
      <vt:lpstr>系统隔离的演变：层次化到“九宫格”</vt:lpstr>
      <vt:lpstr>操作系统安全隔离的其他挑战</vt:lpstr>
      <vt:lpstr>6、操作系统新型测试方法</vt:lpstr>
      <vt:lpstr>操作系统测试的重要性</vt:lpstr>
      <vt:lpstr>操作系统测试面临的挑战</vt:lpstr>
      <vt:lpstr>挑战-1：如何构造测试样例</vt:lpstr>
      <vt:lpstr>挑战-1：如何构造测试样例</vt:lpstr>
      <vt:lpstr>PowerPoint 演示文稿</vt:lpstr>
      <vt:lpstr>PowerPoint 演示文稿</vt:lpstr>
      <vt:lpstr>操作系统测试的其他挑战</vt:lpstr>
      <vt:lpstr>7、形式化证明</vt:lpstr>
      <vt:lpstr>系统软件的保障性前所未有的重要</vt:lpstr>
      <vt:lpstr>背景：形式化证明</vt:lpstr>
      <vt:lpstr>形式化证明的组成</vt:lpstr>
      <vt:lpstr>形式化证明成功案例</vt:lpstr>
      <vt:lpstr>VSync*:  Verification-guided Optimization</vt:lpstr>
      <vt:lpstr>形式化证明的挑战与现状</vt:lpstr>
      <vt:lpstr>8、大语言模型</vt:lpstr>
      <vt:lpstr>Microsoft 365 Copilot</vt:lpstr>
      <vt:lpstr>Windows Copilot</vt:lpstr>
      <vt:lpstr>LLM &amp; OS</vt:lpstr>
      <vt:lpstr>更多需要探索的领域</vt:lpstr>
      <vt:lpstr>总结：操作系统的八个前沿研究领域</vt:lpstr>
      <vt:lpstr>操作系统方向的重要学术会议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Xia Yubin</cp:lastModifiedBy>
  <cp:revision>2968</cp:revision>
  <cp:lastPrinted>2020-04-06T15:15:51Z</cp:lastPrinted>
  <dcterms:created xsi:type="dcterms:W3CDTF">2017-11-24T09:35:45Z</dcterms:created>
  <dcterms:modified xsi:type="dcterms:W3CDTF">2024-06-14T15:24:18Z</dcterms:modified>
</cp:coreProperties>
</file>