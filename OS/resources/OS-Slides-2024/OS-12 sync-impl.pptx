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96"/>
  </p:notesMasterIdLst>
  <p:handoutMasterIdLst>
    <p:handoutMasterId r:id="rId97"/>
  </p:handoutMasterIdLst>
  <p:sldIdLst>
    <p:sldId id="2241" r:id="rId3"/>
    <p:sldId id="1359" r:id="rId4"/>
    <p:sldId id="2451" r:id="rId5"/>
    <p:sldId id="2453" r:id="rId6"/>
    <p:sldId id="2454" r:id="rId7"/>
    <p:sldId id="2396" r:id="rId8"/>
    <p:sldId id="303" r:id="rId9"/>
    <p:sldId id="304" r:id="rId10"/>
    <p:sldId id="2398" r:id="rId11"/>
    <p:sldId id="2452" r:id="rId12"/>
    <p:sldId id="2343" r:id="rId13"/>
    <p:sldId id="2355" r:id="rId14"/>
    <p:sldId id="2356" r:id="rId15"/>
    <p:sldId id="2374" r:id="rId16"/>
    <p:sldId id="1369" r:id="rId17"/>
    <p:sldId id="1405" r:id="rId18"/>
    <p:sldId id="1407" r:id="rId19"/>
    <p:sldId id="1411" r:id="rId20"/>
    <p:sldId id="1408" r:id="rId21"/>
    <p:sldId id="1409" r:id="rId22"/>
    <p:sldId id="2243" r:id="rId23"/>
    <p:sldId id="1372" r:id="rId24"/>
    <p:sldId id="1419" r:id="rId25"/>
    <p:sldId id="2379" r:id="rId26"/>
    <p:sldId id="2380" r:id="rId27"/>
    <p:sldId id="1421" r:id="rId28"/>
    <p:sldId id="1422" r:id="rId29"/>
    <p:sldId id="1423" r:id="rId30"/>
    <p:sldId id="1453" r:id="rId31"/>
    <p:sldId id="1424" r:id="rId32"/>
    <p:sldId id="1425" r:id="rId33"/>
    <p:sldId id="1426" r:id="rId34"/>
    <p:sldId id="1427" r:id="rId35"/>
    <p:sldId id="2242" r:id="rId36"/>
    <p:sldId id="1370" r:id="rId37"/>
    <p:sldId id="1412" r:id="rId38"/>
    <p:sldId id="1415" r:id="rId39"/>
    <p:sldId id="2393" r:id="rId40"/>
    <p:sldId id="417" r:id="rId41"/>
    <p:sldId id="396" r:id="rId42"/>
    <p:sldId id="351" r:id="rId43"/>
    <p:sldId id="352" r:id="rId44"/>
    <p:sldId id="353" r:id="rId45"/>
    <p:sldId id="354" r:id="rId46"/>
    <p:sldId id="355" r:id="rId47"/>
    <p:sldId id="2394" r:id="rId48"/>
    <p:sldId id="402" r:id="rId49"/>
    <p:sldId id="405" r:id="rId50"/>
    <p:sldId id="407" r:id="rId51"/>
    <p:sldId id="408" r:id="rId52"/>
    <p:sldId id="409" r:id="rId53"/>
    <p:sldId id="410" r:id="rId54"/>
    <p:sldId id="411" r:id="rId55"/>
    <p:sldId id="412" r:id="rId56"/>
    <p:sldId id="413" r:id="rId57"/>
    <p:sldId id="414" r:id="rId58"/>
    <p:sldId id="363" r:id="rId59"/>
    <p:sldId id="364" r:id="rId60"/>
    <p:sldId id="365" r:id="rId61"/>
    <p:sldId id="366" r:id="rId62"/>
    <p:sldId id="2402" r:id="rId63"/>
    <p:sldId id="2386" r:id="rId64"/>
    <p:sldId id="2404" r:id="rId65"/>
    <p:sldId id="1417" r:id="rId66"/>
    <p:sldId id="2403" r:id="rId67"/>
    <p:sldId id="2387" r:id="rId68"/>
    <p:sldId id="2388" r:id="rId69"/>
    <p:sldId id="2392" r:id="rId70"/>
    <p:sldId id="2405" r:id="rId71"/>
    <p:sldId id="2406" r:id="rId72"/>
    <p:sldId id="2397" r:id="rId73"/>
    <p:sldId id="2411" r:id="rId74"/>
    <p:sldId id="2410" r:id="rId75"/>
    <p:sldId id="2414" r:id="rId76"/>
    <p:sldId id="2412" r:id="rId77"/>
    <p:sldId id="2378" r:id="rId78"/>
    <p:sldId id="1375" r:id="rId79"/>
    <p:sldId id="1428" r:id="rId80"/>
    <p:sldId id="1429" r:id="rId81"/>
    <p:sldId id="1373" r:id="rId82"/>
    <p:sldId id="2349" r:id="rId83"/>
    <p:sldId id="2350" r:id="rId84"/>
    <p:sldId id="2358" r:id="rId85"/>
    <p:sldId id="2351" r:id="rId86"/>
    <p:sldId id="1374" r:id="rId87"/>
    <p:sldId id="2444" r:id="rId88"/>
    <p:sldId id="1430" r:id="rId89"/>
    <p:sldId id="2359" r:id="rId90"/>
    <p:sldId id="2360" r:id="rId91"/>
    <p:sldId id="2362" r:id="rId92"/>
    <p:sldId id="2363" r:id="rId93"/>
    <p:sldId id="2364" r:id="rId94"/>
    <p:sldId id="1431" r:id="rId9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73FEFF"/>
    <a:srgbClr val="941100"/>
    <a:srgbClr val="212121"/>
    <a:srgbClr val="005493"/>
    <a:srgbClr val="FF2F92"/>
    <a:srgbClr val="9437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36" autoAdjust="0"/>
    <p:restoredTop sz="87415" autoAdjust="0"/>
  </p:normalViewPr>
  <p:slideViewPr>
    <p:cSldViewPr>
      <p:cViewPr varScale="1">
        <p:scale>
          <a:sx n="128" d="100"/>
          <a:sy n="128" d="100"/>
        </p:scale>
        <p:origin x="2000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65" d="100"/>
        <a:sy n="6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handle this in Lab-1?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B8B3F-0F45-4AAD-B4A8-B1F7D58CB4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61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handle this in Lab-1?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B8B3F-0F45-4AAD-B4A8-B1F7D58CB49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55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>
                    <a:lumMod val="75000"/>
                    <a:lumOff val="25000"/>
                  </a:prstClr>
                </a:solidFill>
              </a:rPr>
              <a:t>Load-linked and Store-conditional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30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Consolas" panose="020B0609020204030204" pitchFamily="49" charset="0"/>
              </a:rPr>
              <a:t>if no one has updated *</a:t>
            </a:r>
            <a:r>
              <a:rPr lang="en-US" altLang="zh-CN" sz="1200" dirty="0" err="1">
                <a:latin typeface="Consolas" panose="020B0609020204030204" pitchFamily="49" charset="0"/>
              </a:rPr>
              <a:t>ptr</a:t>
            </a:r>
            <a:r>
              <a:rPr lang="en-US" altLang="zh-CN" sz="1200" dirty="0">
                <a:latin typeface="Consolas" panose="020B0609020204030204" pitchFamily="49" charset="0"/>
              </a:rPr>
              <a:t> since the </a:t>
            </a:r>
            <a:r>
              <a:rPr lang="en-US" altLang="zh-CN" sz="1200" dirty="0" err="1">
                <a:latin typeface="Consolas" panose="020B0609020204030204" pitchFamily="49" charset="0"/>
              </a:rPr>
              <a:t>LoadLinked</a:t>
            </a:r>
            <a:r>
              <a:rPr lang="en-US" altLang="zh-CN" sz="1200" dirty="0">
                <a:latin typeface="Consolas" panose="020B0609020204030204" pitchFamily="49" charset="0"/>
              </a:rPr>
              <a:t> to this address,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then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change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the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value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of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the</a:t>
            </a:r>
            <a:r>
              <a:rPr lang="zh-CN" altLang="en-US" sz="1200" dirty="0">
                <a:latin typeface="Consolas" panose="020B0609020204030204" pitchFamily="49" charset="0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</a:rPr>
              <a:t>pointer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994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30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571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因为每个</a:t>
            </a:r>
            <a:r>
              <a:rPr kumimoji="1" lang="en-US" altLang="zh-CN" dirty="0" err="1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只会被当前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访问，所以不会出现并发访问的情况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026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711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t_lock</a:t>
            </a:r>
            <a:r>
              <a:rPr kumimoji="1" lang="zh-CN" altLang="en-US" dirty="0"/>
              <a:t>是用来保证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yield</a:t>
            </a:r>
            <a:r>
              <a:rPr kumimoji="1" lang="zh-CN" altLang="en-US" dirty="0"/>
              <a:t>是原子的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679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 currently points to the original thread's stack -- call it thread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A. 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 release and acquire, another CPU could run thread A.  This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that two CPUs will have their stack pointer pointing to thread</a:t>
            </a:r>
          </a:p>
          <a:p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A's stack.  This is a very easy way for A's stack to get corrupted.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847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remember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yield(),</a:t>
            </a:r>
            <a:r>
              <a:rPr kumimoji="1" lang="zh-CN" altLang="en-US" dirty="0"/>
              <a:t> </a:t>
            </a:r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threads[id]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RUNNABLE.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conflict!</a:t>
            </a:r>
          </a:p>
          <a:p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also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change</a:t>
            </a:r>
            <a:r>
              <a:rPr kumimoji="1" lang="zh-CN" altLang="en-US" dirty="0"/>
              <a:t> </a:t>
            </a:r>
            <a:r>
              <a:rPr kumimoji="1" lang="en-US" altLang="zh-CN"/>
              <a:t>yield().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804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得加一个</a:t>
            </a:r>
            <a:r>
              <a:rPr kumimoji="1" lang="en-US" altLang="zh-CN" dirty="0"/>
              <a:t>unlock(</a:t>
            </a:r>
            <a:r>
              <a:rPr kumimoji="1" lang="en-US" altLang="zh-CN" dirty="0" err="1"/>
              <a:t>t_lock</a:t>
            </a:r>
            <a:r>
              <a:rPr kumimoji="1" lang="en-US" altLang="zh-CN"/>
              <a:t>)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825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None/>
            </a:pPr>
            <a:r>
              <a:rPr kumimoji="1" lang="zh-CN" altLang="en-US" dirty="0">
                <a:latin typeface="Courier" pitchFamily="2" charset="0"/>
              </a:rPr>
              <a:t>为了介绍信号量，先介绍生产者消费者问题的另一种实现</a:t>
            </a:r>
            <a:endParaRPr kumimoji="1" lang="en-US" altLang="zh-CN" dirty="0">
              <a:latin typeface="Courier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8808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2886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本章开头的两个例子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21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040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952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720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32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2119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951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8283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读者</a:t>
            </a:r>
            <a:r>
              <a:rPr lang="en-US" altLang="zh-CN"/>
              <a:t>3</a:t>
            </a:r>
            <a:r>
              <a:rPr lang="zh-CN" altLang="en-US"/>
              <a:t>还在</a:t>
            </a:r>
            <a:r>
              <a:rPr lang="en-US" altLang="zh-CN"/>
              <a:t>A</a:t>
            </a:r>
            <a:r>
              <a:rPr lang="zh-CN" altLang="en-US"/>
              <a:t>的时候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174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无法</a:t>
            </a:r>
            <a:r>
              <a:rPr lang="zh-CN" altLang="en-US"/>
              <a:t>使用在复杂场景下如双向链表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018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无法</a:t>
            </a:r>
            <a:r>
              <a:rPr lang="zh-CN" altLang="en-US"/>
              <a:t>使用在复杂场景下如双向链表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276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4280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350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fld id="{54F3100C-EB21-4948-BC96-CAC85E4C60B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604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同步原语的应用与实现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CD71A29A-6911-044F-56DE-7498730856BD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回顾：四个</a:t>
            </a:r>
            <a:r>
              <a:rPr lang="en-CN"/>
              <a:t>场景与同步原语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F51252-50C5-1E49-BDC2-E54FAA0FF686}"/>
              </a:ext>
            </a:extLst>
          </p:cNvPr>
          <p:cNvGraphicFramePr>
            <a:graphicFrameLocks noGrp="1"/>
          </p:cNvGraphicFramePr>
          <p:nvPr/>
        </p:nvGraphicFramePr>
        <p:xfrm>
          <a:off x="534379" y="1129308"/>
          <a:ext cx="8075241" cy="3737121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2691747">
                  <a:extLst>
                    <a:ext uri="{9D8B030D-6E8A-4147-A177-3AD203B41FA5}">
                      <a16:colId xmlns:a16="http://schemas.microsoft.com/office/drawing/2014/main" val="3432491353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2333092894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629810277"/>
                    </a:ext>
                  </a:extLst>
                </a:gridCol>
              </a:tblGrid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同步原语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020337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互斥锁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保证对共享资源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互斥访问</a:t>
                      </a:r>
                      <a:endParaRPr lang="zh-CN" altLang="en-US" sz="16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场景一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共享资源互斥访问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38639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读写锁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允许读者线程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并发读取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衍生场景一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读写场景并发读取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11154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条件变量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提供线程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睡眠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唤醒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机制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场景二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条件等待与唤醒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173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信号量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协调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有限数量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的消耗与释放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场景三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多资源协调管理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02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059832" y="1061594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dirty="0"/>
              <a:t>出问题再处理：死锁的检测与恢复</a:t>
            </a:r>
            <a:endParaRPr lang="en-US" altLang="zh-CN" sz="23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059832" y="1754412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dirty="0"/>
              <a:t>设计时避免：死锁预防</a:t>
            </a:r>
            <a:endParaRPr lang="en-US" altLang="zh-CN" sz="23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059832" y="454094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dirty="0"/>
              <a:t>运行时避免死锁：死锁避免</a:t>
            </a:r>
            <a:endParaRPr lang="en-US" altLang="zh-CN" sz="23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D596-978F-404E-9168-0A6D6981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2" name="Left Brace 4">
            <a:extLst>
              <a:ext uri="{FF2B5EF4-FFF2-40B4-BE49-F238E27FC236}">
                <a16:creationId xmlns:a16="http://schemas.microsoft.com/office/drawing/2014/main" id="{F001FC39-C170-A945-96C6-E2801CFE4B6E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FF9CAB-2A2D-46CB-AB31-359A189A1C58}"/>
              </a:ext>
            </a:extLst>
          </p:cNvPr>
          <p:cNvSpPr/>
          <p:nvPr/>
        </p:nvSpPr>
        <p:spPr>
          <a:xfrm>
            <a:off x="3419873" y="2363352"/>
            <a:ext cx="5472608" cy="222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、避免互斥访问：通过其他手段（如代理执行）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、不允许持有并等待：一次性申请所有资源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、资源允许抢占：需要考虑如何恢复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4</a:t>
            </a:r>
            <a:r>
              <a:rPr lang="zh-CN" altLang="en-US" dirty="0"/>
              <a:t>、打破循环等待：按照特定顺序获取资源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3164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死锁预防：四个方向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A6D0-501A-6B4E-88ED-90AF20FA9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04BE-00F4-7645-8AD6-57953C14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4A666F-9C3D-DA40-B683-36F6345F341E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057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b="1" dirty="0"/>
              <a:t>硬件原子指令</a:t>
            </a:r>
          </a:p>
        </p:txBody>
      </p:sp>
    </p:spTree>
    <p:extLst>
      <p:ext uri="{BB962C8B-B14F-4D97-AF65-F5344CB8AC3E}">
        <p14:creationId xmlns:p14="http://schemas.microsoft.com/office/powerpoint/2010/main" val="68672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Lock</a:t>
            </a:r>
            <a:r>
              <a:rPr lang="zh-CN" altLang="en-US" dirty="0"/>
              <a:t>：一种直观但错误的实现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8829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 err="1">
                <a:latin typeface="Consolas" panose="020B0609020204030204" pitchFamily="49" charset="0"/>
              </a:rPr>
              <a:t>struct</a:t>
            </a:r>
            <a:r>
              <a:rPr lang="en-US" altLang="zh-CN" sz="1600" dirty="0">
                <a:latin typeface="Consolas" panose="020B0609020204030204" pitchFamily="49" charset="0"/>
              </a:rPr>
              <a:t> lock { integer state; };</a:t>
            </a:r>
          </a:p>
          <a:p>
            <a:pPr marL="0" indent="0">
              <a:spcBef>
                <a:spcPts val="600"/>
              </a:spcBef>
              <a:buNone/>
            </a:pPr>
            <a:endParaRPr lang="en-US" altLang="zh-CN" sz="16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void </a:t>
            </a:r>
            <a:r>
              <a:rPr lang="en-US" altLang="zh-CN" sz="1600" b="1" dirty="0">
                <a:solidFill>
                  <a:srgbClr val="0096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lock</a:t>
            </a:r>
            <a:r>
              <a:rPr lang="en-US" altLang="zh-CN" sz="1600" dirty="0">
                <a:latin typeface="Consolas" panose="020B0609020204030204" pitchFamily="49" charset="0"/>
              </a:rPr>
              <a:t> (lock reference L)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    while </a:t>
            </a:r>
            <a:r>
              <a:rPr lang="en-US" altLang="zh-CN" sz="1600" dirty="0" err="1">
                <a:latin typeface="Consolas" panose="020B0609020204030204" pitchFamily="49" charset="0"/>
              </a:rPr>
              <a:t>L.state</a:t>
            </a:r>
            <a:r>
              <a:rPr lang="en-US" altLang="zh-CN" sz="1600" dirty="0">
                <a:latin typeface="Consolas" panose="020B0609020204030204" pitchFamily="49" charset="0"/>
              </a:rPr>
              <a:t> == LOCKED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       ;               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// spin until L is UNLOCKED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L.state</a:t>
            </a:r>
            <a:r>
              <a:rPr lang="en-US" altLang="zh-CN" sz="1600" dirty="0">
                <a:latin typeface="Consolas" panose="020B0609020204030204" pitchFamily="49" charset="0"/>
              </a:rPr>
              <a:t> = LOCKED;  </a:t>
            </a:r>
            <a:r>
              <a:rPr lang="en-US" altLang="zh-CN" sz="1600" dirty="0">
                <a:solidFill>
                  <a:srgbClr val="00B050"/>
                </a:solidFill>
                <a:latin typeface="Consolas" panose="020B0609020204030204" pitchFamily="49" charset="0"/>
              </a:rPr>
              <a:t>// the while test failed, got the lock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void </a:t>
            </a:r>
            <a:r>
              <a:rPr lang="en-US" altLang="zh-CN" sz="1600" b="1" dirty="0">
                <a:solidFill>
                  <a:srgbClr val="0096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unlock</a:t>
            </a:r>
            <a:r>
              <a:rPr lang="en-US" altLang="zh-CN" sz="1600" dirty="0">
                <a:latin typeface="Consolas" panose="020B0609020204030204" pitchFamily="49" charset="0"/>
              </a:rPr>
              <a:t> (lock reference L) 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</a:rPr>
              <a:t>L.state</a:t>
            </a:r>
            <a:r>
              <a:rPr lang="en-US" altLang="zh-CN" sz="1600" dirty="0">
                <a:latin typeface="Consolas" panose="020B0609020204030204" pitchFamily="49" charset="0"/>
              </a:rPr>
              <a:t> = UNLOCKED;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6577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zh-CN" altLang="en-US" dirty="0">
                <a:latin typeface="+mn-lt"/>
                <a:ea typeface="+mn-ea"/>
              </a:rPr>
              <a:t>竞争条件依然存在！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0F82739A-D1EA-8446-BBCB-7D794A709DDA}" type="slidenum">
              <a:rPr lang="zh-CN" altLang="en-US" sz="1400" b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/>
              <a:t>8</a:t>
            </a:fld>
            <a:endParaRPr lang="en-US" altLang="zh-CN" sz="1400" b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5" y="1524000"/>
            <a:ext cx="8448675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11561" y="4009629"/>
            <a:ext cx="4403065" cy="961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cs typeface="Arial" panose="020B0604020202020204" pitchFamily="34" charset="0"/>
              </a:rPr>
              <a:t>操作</a:t>
            </a:r>
            <a:r>
              <a:rPr lang="en-US" altLang="zh-CN" sz="2000" dirty="0">
                <a:cs typeface="Arial" panose="020B0604020202020204" pitchFamily="34" charset="0"/>
              </a:rPr>
              <a:t>-1: </a:t>
            </a:r>
            <a:r>
              <a:rPr lang="zh-CN" altLang="en-US" sz="2000" dirty="0">
                <a:cs typeface="Arial" panose="020B0604020202020204" pitchFamily="34" charset="0"/>
              </a:rPr>
              <a:t>读</a:t>
            </a:r>
            <a:r>
              <a:rPr lang="en-US" altLang="zh-CN" sz="2000" dirty="0">
                <a:cs typeface="Arial" panose="020B0604020202020204" pitchFamily="34" charset="0"/>
              </a:rPr>
              <a:t>L</a:t>
            </a:r>
            <a:r>
              <a:rPr lang="zh-CN" altLang="en-US" sz="2000" dirty="0">
                <a:cs typeface="Arial" panose="020B0604020202020204" pitchFamily="34" charset="0"/>
              </a:rPr>
              <a:t>，检查状态是否为</a:t>
            </a:r>
            <a:r>
              <a:rPr lang="en-US" altLang="zh-CN" sz="2000" dirty="0">
                <a:cs typeface="Arial" panose="020B0604020202020204" pitchFamily="34" charset="0"/>
              </a:rPr>
              <a:t>Locked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Arial" panose="020B0604020202020204" pitchFamily="34" charset="0"/>
              </a:rPr>
              <a:t>操作</a:t>
            </a:r>
            <a:r>
              <a:rPr lang="en-US" altLang="zh-CN" sz="2000" dirty="0">
                <a:cs typeface="Arial" panose="020B0604020202020204" pitchFamily="34" charset="0"/>
              </a:rPr>
              <a:t>-2: </a:t>
            </a:r>
            <a:r>
              <a:rPr lang="zh-CN" altLang="en-US" sz="2000" dirty="0">
                <a:cs typeface="Arial" panose="020B0604020202020204" pitchFamily="34" charset="0"/>
              </a:rPr>
              <a:t>写</a:t>
            </a:r>
            <a:r>
              <a:rPr lang="en-US" altLang="zh-CN" sz="2000" dirty="0">
                <a:cs typeface="Arial" panose="020B0604020202020204" pitchFamily="34" charset="0"/>
              </a:rPr>
              <a:t>L</a:t>
            </a:r>
            <a:r>
              <a:rPr lang="zh-CN" altLang="en-US" sz="2000" dirty="0">
                <a:cs typeface="Arial" panose="020B0604020202020204" pitchFamily="34" charset="0"/>
              </a:rPr>
              <a:t>，将其状态设置为</a:t>
            </a:r>
            <a:r>
              <a:rPr lang="en-US" altLang="zh-CN" sz="2000" dirty="0">
                <a:cs typeface="Arial" panose="020B0604020202020204" pitchFamily="34" charset="0"/>
              </a:rPr>
              <a:t>Locked</a:t>
            </a:r>
            <a:endParaRPr lang="zh-CN" altLang="en-US" sz="2000" dirty="0">
              <a:cs typeface="Arial" panose="020B0604020202020204" pitchFamily="34" charset="0"/>
            </a:endParaRPr>
          </a:p>
        </p:txBody>
      </p:sp>
      <p:sp>
        <p:nvSpPr>
          <p:cNvPr id="3" name="右大括号 2"/>
          <p:cNvSpPr/>
          <p:nvPr/>
        </p:nvSpPr>
        <p:spPr>
          <a:xfrm>
            <a:off x="5066189" y="4279635"/>
            <a:ext cx="144016" cy="594090"/>
          </a:xfrm>
          <a:prstGeom prst="rightBrace">
            <a:avLst>
              <a:gd name="adj1" fmla="val 4720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33471" y="433279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这两步并非原子完成！</a:t>
            </a:r>
          </a:p>
        </p:txBody>
      </p:sp>
      <p:cxnSp>
        <p:nvCxnSpPr>
          <p:cNvPr id="6" name="直线箭头连接符 5"/>
          <p:cNvCxnSpPr/>
          <p:nvPr/>
        </p:nvCxnSpPr>
        <p:spPr>
          <a:xfrm>
            <a:off x="6876256" y="1273326"/>
            <a:ext cx="0" cy="16561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508108" y="863230"/>
            <a:ext cx="26198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cs typeface="Arial" panose="020B0604020202020204" pitchFamily="34" charset="0"/>
              </a:rPr>
              <a:t>A </a:t>
            </a:r>
            <a:r>
              <a:rPr lang="zh-CN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cs typeface="Arial" panose="020B0604020202020204" pitchFamily="34" charset="0"/>
              </a:rPr>
              <a:t> B </a:t>
            </a:r>
            <a:r>
              <a:rPr lang="zh-CN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同时拿到了锁</a:t>
            </a:r>
            <a:r>
              <a:rPr lang="en-US" altLang="zh-CN" sz="2000" dirty="0">
                <a:solidFill>
                  <a:srgbClr val="C00000"/>
                </a:solidFill>
                <a:cs typeface="Arial" panose="020B0604020202020204" pitchFamily="34" charset="0"/>
              </a:rPr>
              <a:t>!</a:t>
            </a:r>
            <a:endParaRPr lang="zh-CN" altLang="en-US" sz="20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cxnSp>
        <p:nvCxnSpPr>
          <p:cNvPr id="9" name="肘形连接符 8"/>
          <p:cNvCxnSpPr>
            <a:cxnSpLocks/>
            <a:endCxn id="14" idx="0"/>
          </p:cNvCxnSpPr>
          <p:nvPr/>
        </p:nvCxnSpPr>
        <p:spPr>
          <a:xfrm rot="5400000">
            <a:off x="6411764" y="4984877"/>
            <a:ext cx="366322" cy="1"/>
          </a:xfrm>
          <a:prstGeom prst="bentConnector3">
            <a:avLst>
              <a:gd name="adj1" fmla="val 50000"/>
            </a:avLst>
          </a:prstGeom>
          <a:ln>
            <a:solidFill>
              <a:srgbClr val="009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585399" y="5168038"/>
            <a:ext cx="40190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96FF"/>
                </a:solidFill>
                <a:cs typeface="Arial" panose="020B0604020202020204" pitchFamily="34" charset="0"/>
              </a:rPr>
              <a:t>需要用另一个</a:t>
            </a:r>
            <a:r>
              <a:rPr lang="en-US" altLang="zh-CN" sz="2000" dirty="0">
                <a:solidFill>
                  <a:srgbClr val="0096FF"/>
                </a:solidFill>
                <a:cs typeface="Arial" panose="020B0604020202020204" pitchFamily="34" charset="0"/>
              </a:rPr>
              <a:t>lock</a:t>
            </a:r>
            <a:r>
              <a:rPr lang="zh-CN" altLang="en-US" sz="2000" dirty="0">
                <a:solidFill>
                  <a:srgbClr val="0096FF"/>
                </a:solidFill>
                <a:cs typeface="Arial" panose="020B0604020202020204" pitchFamily="34" charset="0"/>
              </a:rPr>
              <a:t>来保证原子性？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F04E5A-34D7-6A4F-B4B0-057178FC9C75}"/>
              </a:ext>
            </a:extLst>
          </p:cNvPr>
          <p:cNvSpPr/>
          <p:nvPr/>
        </p:nvSpPr>
        <p:spPr>
          <a:xfrm>
            <a:off x="906977" y="1705372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读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E12FA04-3657-B049-934F-D0BA3BED5CC2}"/>
              </a:ext>
            </a:extLst>
          </p:cNvPr>
          <p:cNvSpPr/>
          <p:nvPr/>
        </p:nvSpPr>
        <p:spPr>
          <a:xfrm>
            <a:off x="2298015" y="2442468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读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1D8A4C-8106-0448-90B9-899B88D42FD9}"/>
              </a:ext>
            </a:extLst>
          </p:cNvPr>
          <p:cNvSpPr/>
          <p:nvPr/>
        </p:nvSpPr>
        <p:spPr>
          <a:xfrm>
            <a:off x="3891616" y="1705372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写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340D8FC-502B-1C40-ADF4-25F63ECE302C}"/>
              </a:ext>
            </a:extLst>
          </p:cNvPr>
          <p:cNvSpPr/>
          <p:nvPr/>
        </p:nvSpPr>
        <p:spPr>
          <a:xfrm>
            <a:off x="5383936" y="2443987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写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07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10000"/>
              </a:spcBef>
            </a:pPr>
            <a:r>
              <a:rPr kumimoji="1" lang="zh-CN" altLang="en-US" dirty="0"/>
              <a:t>回到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的</a:t>
            </a:r>
            <a:r>
              <a:rPr kumimoji="1" lang="en-US" altLang="zh-CN" dirty="0"/>
              <a:t>naive</a:t>
            </a:r>
            <a:r>
              <a:rPr kumimoji="1" lang="zh-CN" altLang="en-US" dirty="0"/>
              <a:t>实现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0"/>
                <a:cs typeface="宋体" charset="0"/>
              </a:defRPr>
            </a:lvl9pPr>
          </a:lstStyle>
          <a:p>
            <a:fld id="{0F82739A-D1EA-8446-BBCB-7D794A709DDA}" type="slidenum">
              <a:rPr lang="zh-CN" altLang="en-US" sz="1400" b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pPr/>
              <a:t>9</a:t>
            </a:fld>
            <a:endParaRPr lang="en-US" altLang="zh-CN" sz="1400" b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471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5" y="1524000"/>
            <a:ext cx="8448675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11561" y="4009629"/>
            <a:ext cx="4403065" cy="961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cs typeface="Arial" panose="020B0604020202020204" pitchFamily="34" charset="0"/>
              </a:rPr>
              <a:t>操作</a:t>
            </a:r>
            <a:r>
              <a:rPr lang="en-US" altLang="zh-CN" sz="2000" dirty="0">
                <a:cs typeface="Arial" panose="020B0604020202020204" pitchFamily="34" charset="0"/>
              </a:rPr>
              <a:t>-1: </a:t>
            </a:r>
            <a:r>
              <a:rPr lang="zh-CN" altLang="en-US" sz="2000" dirty="0">
                <a:cs typeface="Arial" panose="020B0604020202020204" pitchFamily="34" charset="0"/>
              </a:rPr>
              <a:t>读</a:t>
            </a:r>
            <a:r>
              <a:rPr lang="en-US" altLang="zh-CN" sz="2000" dirty="0">
                <a:cs typeface="Arial" panose="020B0604020202020204" pitchFamily="34" charset="0"/>
              </a:rPr>
              <a:t>L</a:t>
            </a:r>
            <a:r>
              <a:rPr lang="zh-CN" altLang="en-US" sz="2000" dirty="0">
                <a:cs typeface="Arial" panose="020B0604020202020204" pitchFamily="34" charset="0"/>
              </a:rPr>
              <a:t>，检查状态是否为</a:t>
            </a:r>
            <a:r>
              <a:rPr lang="en-US" altLang="zh-CN" sz="2000" dirty="0">
                <a:cs typeface="Arial" panose="020B0604020202020204" pitchFamily="34" charset="0"/>
              </a:rPr>
              <a:t>Locked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cs typeface="Arial" panose="020B0604020202020204" pitchFamily="34" charset="0"/>
              </a:rPr>
              <a:t>操作</a:t>
            </a:r>
            <a:r>
              <a:rPr lang="en-US" altLang="zh-CN" sz="2000" dirty="0">
                <a:cs typeface="Arial" panose="020B0604020202020204" pitchFamily="34" charset="0"/>
              </a:rPr>
              <a:t>-2: </a:t>
            </a:r>
            <a:r>
              <a:rPr lang="zh-CN" altLang="en-US" sz="2000" dirty="0">
                <a:cs typeface="Arial" panose="020B0604020202020204" pitchFamily="34" charset="0"/>
              </a:rPr>
              <a:t>写</a:t>
            </a:r>
            <a:r>
              <a:rPr lang="en-US" altLang="zh-CN" sz="2000" dirty="0">
                <a:cs typeface="Arial" panose="020B0604020202020204" pitchFamily="34" charset="0"/>
              </a:rPr>
              <a:t>L</a:t>
            </a:r>
            <a:r>
              <a:rPr lang="zh-CN" altLang="en-US" sz="2000" dirty="0">
                <a:cs typeface="Arial" panose="020B0604020202020204" pitchFamily="34" charset="0"/>
              </a:rPr>
              <a:t>，将其状态设置为</a:t>
            </a:r>
            <a:r>
              <a:rPr lang="en-US" altLang="zh-CN" sz="2000" dirty="0">
                <a:cs typeface="Arial" panose="020B0604020202020204" pitchFamily="34" charset="0"/>
              </a:rPr>
              <a:t>Locked</a:t>
            </a:r>
            <a:endParaRPr lang="zh-CN" altLang="en-US" sz="2000" dirty="0">
              <a:cs typeface="Arial" panose="020B0604020202020204" pitchFamily="34" charset="0"/>
            </a:endParaRPr>
          </a:p>
        </p:txBody>
      </p:sp>
      <p:sp>
        <p:nvSpPr>
          <p:cNvPr id="3" name="右大括号 2"/>
          <p:cNvSpPr/>
          <p:nvPr/>
        </p:nvSpPr>
        <p:spPr>
          <a:xfrm>
            <a:off x="5066189" y="4279635"/>
            <a:ext cx="144016" cy="594090"/>
          </a:xfrm>
          <a:prstGeom prst="rightBrace">
            <a:avLst>
              <a:gd name="adj1" fmla="val 4720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33471" y="4332794"/>
            <a:ext cx="40318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根本原因：这两步并非原子完成！</a:t>
            </a:r>
          </a:p>
        </p:txBody>
      </p:sp>
      <p:cxnSp>
        <p:nvCxnSpPr>
          <p:cNvPr id="6" name="直线箭头连接符 5"/>
          <p:cNvCxnSpPr/>
          <p:nvPr/>
        </p:nvCxnSpPr>
        <p:spPr>
          <a:xfrm>
            <a:off x="6876256" y="1273326"/>
            <a:ext cx="0" cy="16561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508108" y="863230"/>
            <a:ext cx="26198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cs typeface="Arial" panose="020B0604020202020204" pitchFamily="34" charset="0"/>
              </a:rPr>
              <a:t>A </a:t>
            </a:r>
            <a:r>
              <a:rPr lang="zh-CN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和</a:t>
            </a:r>
            <a:r>
              <a:rPr lang="en-US" altLang="zh-CN" sz="2000" dirty="0">
                <a:solidFill>
                  <a:srgbClr val="C00000"/>
                </a:solidFill>
                <a:cs typeface="Arial" panose="020B0604020202020204" pitchFamily="34" charset="0"/>
              </a:rPr>
              <a:t> B </a:t>
            </a:r>
            <a:r>
              <a:rPr lang="zh-CN" altLang="en-US" sz="2000" dirty="0">
                <a:solidFill>
                  <a:srgbClr val="C00000"/>
                </a:solidFill>
                <a:cs typeface="Arial" panose="020B0604020202020204" pitchFamily="34" charset="0"/>
              </a:rPr>
              <a:t>同时拿到了锁</a:t>
            </a:r>
            <a:r>
              <a:rPr lang="en-US" altLang="zh-CN" sz="2000" dirty="0">
                <a:solidFill>
                  <a:srgbClr val="C00000"/>
                </a:solidFill>
                <a:cs typeface="Arial" panose="020B0604020202020204" pitchFamily="34" charset="0"/>
              </a:rPr>
              <a:t>!</a:t>
            </a:r>
            <a:endParaRPr lang="zh-CN" altLang="en-US" sz="20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891617" y="5011665"/>
            <a:ext cx="56302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96FF"/>
                </a:solidFill>
                <a:cs typeface="Arial" panose="020B0604020202020204" pitchFamily="34" charset="0"/>
              </a:rPr>
              <a:t>硬件方法：用</a:t>
            </a:r>
            <a:r>
              <a:rPr lang="zh-CN" altLang="en-US" sz="2000" dirty="0">
                <a:solidFill>
                  <a:srgbClr val="0096FF"/>
                </a:solidFill>
                <a:highlight>
                  <a:srgbClr val="FFFF00"/>
                </a:highlight>
                <a:cs typeface="Arial" panose="020B0604020202020204" pitchFamily="34" charset="0"/>
              </a:rPr>
              <a:t>原子指令</a:t>
            </a:r>
            <a:r>
              <a:rPr lang="zh-CN" altLang="en-US" sz="2000" dirty="0">
                <a:solidFill>
                  <a:srgbClr val="0096FF"/>
                </a:solidFill>
                <a:cs typeface="Arial" panose="020B0604020202020204" pitchFamily="34" charset="0"/>
              </a:rPr>
              <a:t>来保证两步是原子的！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AC1A638-DEBA-FC42-BB3A-B1D5AF538901}"/>
              </a:ext>
            </a:extLst>
          </p:cNvPr>
          <p:cNvSpPr/>
          <p:nvPr/>
        </p:nvSpPr>
        <p:spPr>
          <a:xfrm>
            <a:off x="906977" y="1705372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读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838B91-18C4-F245-85A0-7000FD0347D6}"/>
              </a:ext>
            </a:extLst>
          </p:cNvPr>
          <p:cNvSpPr/>
          <p:nvPr/>
        </p:nvSpPr>
        <p:spPr>
          <a:xfrm>
            <a:off x="2298015" y="2442468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读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E93D9C7-327B-0A4B-95FE-453B1C054C40}"/>
              </a:ext>
            </a:extLst>
          </p:cNvPr>
          <p:cNvSpPr/>
          <p:nvPr/>
        </p:nvSpPr>
        <p:spPr>
          <a:xfrm>
            <a:off x="3891616" y="1705372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写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8138F6-33DF-FE4E-AF5E-F40AFF71BE4D}"/>
              </a:ext>
            </a:extLst>
          </p:cNvPr>
          <p:cNvSpPr/>
          <p:nvPr/>
        </p:nvSpPr>
        <p:spPr>
          <a:xfrm>
            <a:off x="5383936" y="2443987"/>
            <a:ext cx="56129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solidFill>
                  <a:schemeClr val="accent1"/>
                </a:solidFill>
              </a:rPr>
              <a:t>写</a:t>
            </a:r>
            <a:r>
              <a:rPr kumimoji="1" lang="en-US" altLang="zh-CN" sz="1600" dirty="0">
                <a:solidFill>
                  <a:schemeClr val="accent1"/>
                </a:solidFill>
              </a:rPr>
              <a:t>L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41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011B8-DC28-9340-B254-DBDE8CDC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基于原子指令的锁实现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1CC87-4FB1-824B-AB29-447CF77B1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常见的原子指令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Test-and-set</a:t>
            </a:r>
          </a:p>
          <a:p>
            <a:pPr lvl="1"/>
            <a:r>
              <a:rPr kumimoji="1" lang="en-US" altLang="zh-CN" dirty="0"/>
              <a:t>Compare-and-swap</a:t>
            </a:r>
          </a:p>
          <a:p>
            <a:pPr lvl="1"/>
            <a:r>
              <a:rPr kumimoji="1" lang="en-US" altLang="zh-CN" dirty="0"/>
              <a:t>Load-linked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Store-conditional</a:t>
            </a:r>
          </a:p>
          <a:p>
            <a:pPr lvl="1"/>
            <a:r>
              <a:rPr kumimoji="1" lang="en-US" altLang="zh-CN" dirty="0"/>
              <a:t>Fetch-and-add</a:t>
            </a:r>
          </a:p>
          <a:p>
            <a:r>
              <a:rPr kumimoji="1" lang="zh-CN" altLang="en-US" dirty="0"/>
              <a:t>共性：硬件保证</a:t>
            </a:r>
            <a:r>
              <a:rPr kumimoji="1" lang="zh-CN" altLang="en-US" dirty="0">
                <a:solidFill>
                  <a:schemeClr val="accent1"/>
                </a:solidFill>
              </a:rPr>
              <a:t>一次读</a:t>
            </a:r>
            <a:r>
              <a:rPr kumimoji="1" lang="zh-CN" altLang="en-US" dirty="0"/>
              <a:t>与</a:t>
            </a:r>
            <a:r>
              <a:rPr kumimoji="1" lang="zh-CN" altLang="en-US" dirty="0">
                <a:solidFill>
                  <a:schemeClr val="accent1"/>
                </a:solidFill>
              </a:rPr>
              <a:t>一次写</a:t>
            </a:r>
            <a:r>
              <a:rPr kumimoji="1" lang="zh-CN" altLang="en-US" dirty="0"/>
              <a:t>的原子性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E5BD9-0D42-F142-8643-873BDDCD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815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52292C-30C6-C246-B071-762F3F781B24}"/>
              </a:ext>
            </a:extLst>
          </p:cNvPr>
          <p:cNvSpPr/>
          <p:nvPr/>
        </p:nvSpPr>
        <p:spPr>
          <a:xfrm>
            <a:off x="4005322" y="1529761"/>
            <a:ext cx="46602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retry:	ldxr	x0, addr</a:t>
            </a:r>
          </a:p>
          <a:p>
            <a:r>
              <a:rPr lang="en-CN">
                <a:latin typeface="Courier" pitchFamily="2" charset="0"/>
              </a:rPr>
              <a:t>	cmp	x0, expected</a:t>
            </a:r>
          </a:p>
          <a:p>
            <a:r>
              <a:rPr lang="en-CN">
                <a:latin typeface="Courier" pitchFamily="2" charset="0"/>
              </a:rPr>
              <a:t>	bne	out</a:t>
            </a:r>
          </a:p>
          <a:p>
            <a:r>
              <a:rPr lang="en-CN">
                <a:latin typeface="Courier" pitchFamily="2" charset="0"/>
              </a:rPr>
              <a:t>	stxr	x1, new_value, addr</a:t>
            </a:r>
          </a:p>
          <a:p>
            <a:r>
              <a:rPr lang="en-CN">
                <a:latin typeface="Courier" pitchFamily="2" charset="0"/>
              </a:rPr>
              <a:t>	cbnz	x1, retry</a:t>
            </a:r>
          </a:p>
          <a:p>
            <a:r>
              <a:rPr lang="en-CN">
                <a:latin typeface="Courier" pitchFamily="2" charset="0"/>
              </a:rPr>
              <a:t>out: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CEAEF-FD04-FE44-ADDF-8970C526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硬件原子操作：</a:t>
            </a:r>
            <a:r>
              <a:rPr lang="en-US" altLang="zh-CN"/>
              <a:t>ARM</a:t>
            </a:r>
            <a:r>
              <a:rPr lang="zh-CN" altLang="en-US"/>
              <a:t>使用</a:t>
            </a:r>
            <a:r>
              <a:rPr lang="en-CN"/>
              <a:t>LL/SC</a:t>
            </a:r>
            <a:r>
              <a:rPr lang="zh-CN" altLang="en-CN"/>
              <a:t>实现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FEC5C-5EC3-9544-BB17-4FA51564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B53A5-6437-BE48-B347-054A0EB97F4D}"/>
              </a:ext>
            </a:extLst>
          </p:cNvPr>
          <p:cNvSpPr/>
          <p:nvPr/>
        </p:nvSpPr>
        <p:spPr>
          <a:xfrm>
            <a:off x="5224013" y="3380535"/>
            <a:ext cx="3390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Load-linked &amp; Store-conditional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F89FF-4FDD-DA49-80A7-22159B4F2B49}"/>
              </a:ext>
            </a:extLst>
          </p:cNvPr>
          <p:cNvSpPr/>
          <p:nvPr/>
        </p:nvSpPr>
        <p:spPr>
          <a:xfrm>
            <a:off x="5313501" y="3810735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第二行</a:t>
            </a:r>
            <a:r>
              <a:rPr lang="zh-CN" altLang="en-US"/>
              <a:t>读的时候</a:t>
            </a:r>
            <a:r>
              <a:rPr lang="zh-CN" altLang="en-US" b="1"/>
              <a:t>监视</a:t>
            </a:r>
            <a:r>
              <a:rPr lang="en-US" altLang="zh-CN">
                <a:latin typeface="Courier" pitchFamily="2" charset="0"/>
              </a:rPr>
              <a:t>addr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1B444-6A76-C94C-BADB-6ABBA2318373}"/>
              </a:ext>
            </a:extLst>
          </p:cNvPr>
          <p:cNvSpPr/>
          <p:nvPr/>
        </p:nvSpPr>
        <p:spPr>
          <a:xfrm>
            <a:off x="4427983" y="4209311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第四行修改的时候看</a:t>
            </a:r>
            <a:r>
              <a:rPr lang="en-US" altLang="zh-CN">
                <a:latin typeface="Courier" pitchFamily="2" charset="0"/>
              </a:rPr>
              <a:t>addr</a:t>
            </a:r>
            <a:r>
              <a:rPr lang="zh-CN" altLang="en-US" b="1">
                <a:latin typeface="Courier" pitchFamily="2" charset="0"/>
              </a:rPr>
              <a:t>是否被其他人修改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206E6-2BF5-A547-862A-DFC8F1487C11}"/>
              </a:ext>
            </a:extLst>
          </p:cNvPr>
          <p:cNvSpPr/>
          <p:nvPr/>
        </p:nvSpPr>
        <p:spPr>
          <a:xfrm>
            <a:off x="4736700" y="4658490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没人</a:t>
            </a:r>
            <a:r>
              <a:rPr lang="zh-CN" altLang="en-US">
                <a:latin typeface="Courier" pitchFamily="2" charset="0"/>
              </a:rPr>
              <a:t>修改就写成功，否则回到第二行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7BC5A-1D43-E147-B923-CBF2BF833EE6}"/>
              </a:ext>
            </a:extLst>
          </p:cNvPr>
          <p:cNvSpPr/>
          <p:nvPr/>
        </p:nvSpPr>
        <p:spPr>
          <a:xfrm>
            <a:off x="457200" y="2065412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DB5E5-ED05-494A-95CB-1781496A4BD0}"/>
              </a:ext>
            </a:extLst>
          </p:cNvPr>
          <p:cNvSpPr/>
          <p:nvPr/>
        </p:nvSpPr>
        <p:spPr>
          <a:xfrm>
            <a:off x="611560" y="362606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5CBD2-F034-EE4A-BFB3-23515EAC92B6}"/>
              </a:ext>
            </a:extLst>
          </p:cNvPr>
          <p:cNvSpPr/>
          <p:nvPr/>
        </p:nvSpPr>
        <p:spPr>
          <a:xfrm>
            <a:off x="710570" y="3182504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9AA1C-AC92-2A48-BAC4-240CC3388492}"/>
              </a:ext>
            </a:extLst>
          </p:cNvPr>
          <p:cNvSpPr/>
          <p:nvPr/>
        </p:nvSpPr>
        <p:spPr>
          <a:xfrm>
            <a:off x="611559" y="3995401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9A5B0-29B1-AE4E-853E-02B73C52A911}"/>
              </a:ext>
            </a:extLst>
          </p:cNvPr>
          <p:cNvSpPr/>
          <p:nvPr/>
        </p:nvSpPr>
        <p:spPr>
          <a:xfrm>
            <a:off x="2261629" y="361084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68557-BC22-A34E-BD12-1D3A96EA29B9}"/>
              </a:ext>
            </a:extLst>
          </p:cNvPr>
          <p:cNvSpPr/>
          <p:nvPr/>
        </p:nvSpPr>
        <p:spPr>
          <a:xfrm>
            <a:off x="2360639" y="3167283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CD7D1-38B5-1541-9C4C-C13B1524F392}"/>
              </a:ext>
            </a:extLst>
          </p:cNvPr>
          <p:cNvSpPr/>
          <p:nvPr/>
        </p:nvSpPr>
        <p:spPr>
          <a:xfrm>
            <a:off x="2261628" y="3980180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B13F3-A062-0048-A7AE-19CDDC548884}"/>
              </a:ext>
            </a:extLst>
          </p:cNvPr>
          <p:cNvSpPr/>
          <p:nvPr/>
        </p:nvSpPr>
        <p:spPr>
          <a:xfrm>
            <a:off x="846462" y="2246400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F54B89-007B-9846-88AE-816F341AFF17}"/>
              </a:ext>
            </a:extLst>
          </p:cNvPr>
          <p:cNvSpPr/>
          <p:nvPr/>
        </p:nvSpPr>
        <p:spPr>
          <a:xfrm>
            <a:off x="2082701" y="2065017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AEDD7-5C3C-A645-ACA6-D7015FE1AB64}"/>
              </a:ext>
            </a:extLst>
          </p:cNvPr>
          <p:cNvSpPr/>
          <p:nvPr/>
        </p:nvSpPr>
        <p:spPr>
          <a:xfrm>
            <a:off x="2471963" y="2246005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D1B8A9-F8C9-8646-B2BE-896FA749E56B}"/>
              </a:ext>
            </a:extLst>
          </p:cNvPr>
          <p:cNvSpPr/>
          <p:nvPr/>
        </p:nvSpPr>
        <p:spPr>
          <a:xfrm>
            <a:off x="814401" y="3647853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00B050"/>
              </a:solidFill>
            </a:endParaRPr>
          </a:p>
        </p:txBody>
      </p:sp>
      <p:sp>
        <p:nvSpPr>
          <p:cNvPr id="28" name="Cloud 27">
            <a:extLst>
              <a:ext uri="{FF2B5EF4-FFF2-40B4-BE49-F238E27FC236}">
                <a16:creationId xmlns:a16="http://schemas.microsoft.com/office/drawing/2014/main" id="{9C258F96-A071-714A-8A18-814F18DA9224}"/>
              </a:ext>
            </a:extLst>
          </p:cNvPr>
          <p:cNvSpPr/>
          <p:nvPr/>
        </p:nvSpPr>
        <p:spPr>
          <a:xfrm>
            <a:off x="194016" y="1050137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我要看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0FF56F1-6D66-594A-A648-EC5153C0B182}"/>
              </a:ext>
            </a:extLst>
          </p:cNvPr>
          <p:cNvSpPr/>
          <p:nvPr/>
        </p:nvSpPr>
        <p:spPr>
          <a:xfrm>
            <a:off x="1980233" y="1056905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我也要看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EB8F3-1230-194D-B8B6-23522B8CE7D8}"/>
              </a:ext>
            </a:extLst>
          </p:cNvPr>
          <p:cNvSpPr/>
          <p:nvPr/>
        </p:nvSpPr>
        <p:spPr>
          <a:xfrm>
            <a:off x="2439902" y="363985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00B050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C55FC0-48E2-ED40-8802-B1E0CE38AB20}"/>
              </a:ext>
            </a:extLst>
          </p:cNvPr>
          <p:cNvCxnSpPr>
            <a:cxnSpLocks/>
          </p:cNvCxnSpPr>
          <p:nvPr/>
        </p:nvCxnSpPr>
        <p:spPr>
          <a:xfrm>
            <a:off x="1170143" y="4678147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D81D22-17C8-9346-A1FA-5C913D7AE1CA}"/>
              </a:ext>
            </a:extLst>
          </p:cNvPr>
          <p:cNvCxnSpPr>
            <a:cxnSpLocks/>
          </p:cNvCxnSpPr>
          <p:nvPr/>
        </p:nvCxnSpPr>
        <p:spPr>
          <a:xfrm>
            <a:off x="2790323" y="4678147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DC4155-0ED0-664A-A35E-4B60D8573573}"/>
              </a:ext>
            </a:extLst>
          </p:cNvPr>
          <p:cNvCxnSpPr>
            <a:cxnSpLocks/>
          </p:cNvCxnSpPr>
          <p:nvPr/>
        </p:nvCxnSpPr>
        <p:spPr>
          <a:xfrm flipH="1">
            <a:off x="1134139" y="5015924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EE369095-2AE2-E045-8442-E450C6C2E391}"/>
              </a:ext>
            </a:extLst>
          </p:cNvPr>
          <p:cNvSpPr/>
          <p:nvPr/>
        </p:nvSpPr>
        <p:spPr>
          <a:xfrm>
            <a:off x="3624392" y="3426389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Courier" pitchFamily="2" charset="0"/>
              </a:rPr>
              <a:t>绿色没人修改</a:t>
            </a:r>
            <a:endParaRPr lang="en-US" altLang="zh-CN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zh-CN" altLang="en-CN">
                <a:solidFill>
                  <a:srgbClr val="C00000"/>
                </a:solidFill>
              </a:rPr>
              <a:t>红色</a:t>
            </a:r>
            <a:r>
              <a:rPr lang="zh-CN" altLang="en-US">
                <a:solidFill>
                  <a:srgbClr val="C00000"/>
                </a:solidFill>
              </a:rPr>
              <a:t>被修改</a:t>
            </a:r>
            <a:endParaRPr lang="en-CN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D9E66F-E58C-AB4C-94CA-27E321F3A7A5}"/>
              </a:ext>
            </a:extLst>
          </p:cNvPr>
          <p:cNvCxnSpPr>
            <a:cxnSpLocks/>
          </p:cNvCxnSpPr>
          <p:nvPr/>
        </p:nvCxnSpPr>
        <p:spPr>
          <a:xfrm>
            <a:off x="4305704" y="1849388"/>
            <a:ext cx="3575253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C5FF953-A9A6-F849-B6B5-0136AE8FAB9A}"/>
              </a:ext>
            </a:extLst>
          </p:cNvPr>
          <p:cNvSpPr/>
          <p:nvPr/>
        </p:nvSpPr>
        <p:spPr>
          <a:xfrm>
            <a:off x="4077851" y="1244703"/>
            <a:ext cx="1056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0/1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F0E43FE9-4D84-EE4C-831B-099B8FCB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0D542F-3815-334D-A61B-646A71060F86}"/>
              </a:ext>
            </a:extLst>
          </p:cNvPr>
          <p:cNvSpPr/>
          <p:nvPr/>
        </p:nvSpPr>
        <p:spPr>
          <a:xfrm>
            <a:off x="7709847" y="15005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LL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CBB1B0-2F5A-C341-AA43-D6BC7EC3E577}"/>
              </a:ext>
            </a:extLst>
          </p:cNvPr>
          <p:cNvSpPr/>
          <p:nvPr/>
        </p:nvSpPr>
        <p:spPr>
          <a:xfrm>
            <a:off x="8603968" y="237392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SC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39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EAEF-FD04-FE44-ADDF-8970C526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硬件原子操作：</a:t>
            </a:r>
            <a:r>
              <a:rPr lang="en-US" altLang="zh-CN"/>
              <a:t>ARM</a:t>
            </a:r>
            <a:r>
              <a:rPr lang="zh-CN" altLang="en-US"/>
              <a:t>使用</a:t>
            </a:r>
            <a:r>
              <a:rPr lang="en-CN"/>
              <a:t>LL/SC</a:t>
            </a:r>
            <a:r>
              <a:rPr lang="zh-CN" altLang="en-CN"/>
              <a:t>实现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FEC5C-5EC3-9544-BB17-4FA51564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F89FF-4FDD-DA49-80A7-22159B4F2B49}"/>
              </a:ext>
            </a:extLst>
          </p:cNvPr>
          <p:cNvSpPr/>
          <p:nvPr/>
        </p:nvSpPr>
        <p:spPr>
          <a:xfrm>
            <a:off x="5313501" y="3810735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第二行</a:t>
            </a:r>
            <a:r>
              <a:rPr lang="zh-CN" altLang="en-US"/>
              <a:t>读的时候</a:t>
            </a:r>
            <a:r>
              <a:rPr lang="zh-CN" altLang="en-US" b="1"/>
              <a:t>监视</a:t>
            </a:r>
            <a:r>
              <a:rPr lang="en-US" altLang="zh-CN">
                <a:latin typeface="Courier" pitchFamily="2" charset="0"/>
              </a:rPr>
              <a:t>addr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1B444-6A76-C94C-BADB-6ABBA2318373}"/>
              </a:ext>
            </a:extLst>
          </p:cNvPr>
          <p:cNvSpPr/>
          <p:nvPr/>
        </p:nvSpPr>
        <p:spPr>
          <a:xfrm>
            <a:off x="4427983" y="4209311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第四行修改的时候看</a:t>
            </a:r>
            <a:r>
              <a:rPr lang="en-US" altLang="zh-CN">
                <a:latin typeface="Courier" pitchFamily="2" charset="0"/>
              </a:rPr>
              <a:t>addr</a:t>
            </a:r>
            <a:r>
              <a:rPr lang="zh-CN" altLang="en-US" b="1">
                <a:latin typeface="Courier" pitchFamily="2" charset="0"/>
              </a:rPr>
              <a:t>是否被其他人修改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206E6-2BF5-A547-862A-DFC8F1487C11}"/>
              </a:ext>
            </a:extLst>
          </p:cNvPr>
          <p:cNvSpPr/>
          <p:nvPr/>
        </p:nvSpPr>
        <p:spPr>
          <a:xfrm>
            <a:off x="4736700" y="4658490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没人</a:t>
            </a:r>
            <a:r>
              <a:rPr lang="zh-CN" altLang="en-US">
                <a:latin typeface="Courier" pitchFamily="2" charset="0"/>
              </a:rPr>
              <a:t>修改就写成功，否则回到第二行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7BC5A-1D43-E147-B923-CBF2BF833EE6}"/>
              </a:ext>
            </a:extLst>
          </p:cNvPr>
          <p:cNvSpPr/>
          <p:nvPr/>
        </p:nvSpPr>
        <p:spPr>
          <a:xfrm>
            <a:off x="457200" y="2065412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DB5E5-ED05-494A-95CB-1781496A4BD0}"/>
              </a:ext>
            </a:extLst>
          </p:cNvPr>
          <p:cNvSpPr/>
          <p:nvPr/>
        </p:nvSpPr>
        <p:spPr>
          <a:xfrm>
            <a:off x="611560" y="362606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5CBD2-F034-EE4A-BFB3-23515EAC92B6}"/>
              </a:ext>
            </a:extLst>
          </p:cNvPr>
          <p:cNvSpPr/>
          <p:nvPr/>
        </p:nvSpPr>
        <p:spPr>
          <a:xfrm>
            <a:off x="710570" y="3182504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9AA1C-AC92-2A48-BAC4-240CC3388492}"/>
              </a:ext>
            </a:extLst>
          </p:cNvPr>
          <p:cNvSpPr/>
          <p:nvPr/>
        </p:nvSpPr>
        <p:spPr>
          <a:xfrm>
            <a:off x="611559" y="3995401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9A5B0-29B1-AE4E-853E-02B73C52A911}"/>
              </a:ext>
            </a:extLst>
          </p:cNvPr>
          <p:cNvSpPr/>
          <p:nvPr/>
        </p:nvSpPr>
        <p:spPr>
          <a:xfrm>
            <a:off x="2261629" y="361084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68557-BC22-A34E-BD12-1D3A96EA29B9}"/>
              </a:ext>
            </a:extLst>
          </p:cNvPr>
          <p:cNvSpPr/>
          <p:nvPr/>
        </p:nvSpPr>
        <p:spPr>
          <a:xfrm>
            <a:off x="2360639" y="3167283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CD7D1-38B5-1541-9C4C-C13B1524F392}"/>
              </a:ext>
            </a:extLst>
          </p:cNvPr>
          <p:cNvSpPr/>
          <p:nvPr/>
        </p:nvSpPr>
        <p:spPr>
          <a:xfrm>
            <a:off x="2261628" y="3980180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B13F3-A062-0048-A7AE-19CDDC548884}"/>
              </a:ext>
            </a:extLst>
          </p:cNvPr>
          <p:cNvSpPr/>
          <p:nvPr/>
        </p:nvSpPr>
        <p:spPr>
          <a:xfrm>
            <a:off x="846462" y="2246400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F54B89-007B-9846-88AE-816F341AFF17}"/>
              </a:ext>
            </a:extLst>
          </p:cNvPr>
          <p:cNvSpPr/>
          <p:nvPr/>
        </p:nvSpPr>
        <p:spPr>
          <a:xfrm>
            <a:off x="2082701" y="2065017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AEDD7-5C3C-A645-ACA6-D7015FE1AB64}"/>
              </a:ext>
            </a:extLst>
          </p:cNvPr>
          <p:cNvSpPr/>
          <p:nvPr/>
        </p:nvSpPr>
        <p:spPr>
          <a:xfrm>
            <a:off x="2471963" y="2246005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8" name="Cloud 27">
            <a:extLst>
              <a:ext uri="{FF2B5EF4-FFF2-40B4-BE49-F238E27FC236}">
                <a16:creationId xmlns:a16="http://schemas.microsoft.com/office/drawing/2014/main" id="{9C258F96-A071-714A-8A18-814F18DA9224}"/>
              </a:ext>
            </a:extLst>
          </p:cNvPr>
          <p:cNvSpPr/>
          <p:nvPr/>
        </p:nvSpPr>
        <p:spPr>
          <a:xfrm>
            <a:off x="105033" y="1070920"/>
            <a:ext cx="2088753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对比</a:t>
            </a:r>
            <a:r>
              <a:rPr lang="zh-CN" altLang="en-US">
                <a:solidFill>
                  <a:schemeClr val="tx1"/>
                </a:solidFill>
              </a:rPr>
              <a:t>成功了，我要改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50FF56F1-6D66-594A-A648-EC5153C0B182}"/>
              </a:ext>
            </a:extLst>
          </p:cNvPr>
          <p:cNvSpPr/>
          <p:nvPr/>
        </p:nvSpPr>
        <p:spPr>
          <a:xfrm>
            <a:off x="1980233" y="1056905"/>
            <a:ext cx="1786217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我也要看</a:t>
            </a:r>
            <a:r>
              <a:rPr lang="en-US" altLang="zh-CN">
                <a:solidFill>
                  <a:schemeClr val="tx1"/>
                </a:solidFill>
              </a:rPr>
              <a:t>addr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EB8F3-1230-194D-B8B6-23522B8CE7D8}"/>
              </a:ext>
            </a:extLst>
          </p:cNvPr>
          <p:cNvSpPr/>
          <p:nvPr/>
        </p:nvSpPr>
        <p:spPr>
          <a:xfrm>
            <a:off x="2439902" y="363985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C0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A8C6EF-C5C0-CB48-BE7C-9B7C3AD1570B}"/>
              </a:ext>
            </a:extLst>
          </p:cNvPr>
          <p:cNvCxnSpPr>
            <a:cxnSpLocks/>
          </p:cNvCxnSpPr>
          <p:nvPr/>
        </p:nvCxnSpPr>
        <p:spPr>
          <a:xfrm>
            <a:off x="117014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7E3BEA-52B4-8745-963A-F6AEAD20C6F5}"/>
              </a:ext>
            </a:extLst>
          </p:cNvPr>
          <p:cNvCxnSpPr>
            <a:cxnSpLocks/>
          </p:cNvCxnSpPr>
          <p:nvPr/>
        </p:nvCxnSpPr>
        <p:spPr>
          <a:xfrm>
            <a:off x="279032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BD4704-9D0B-0140-B8BD-279BDD5B12B8}"/>
              </a:ext>
            </a:extLst>
          </p:cNvPr>
          <p:cNvCxnSpPr>
            <a:cxnSpLocks/>
          </p:cNvCxnSpPr>
          <p:nvPr/>
        </p:nvCxnSpPr>
        <p:spPr>
          <a:xfrm flipH="1">
            <a:off x="1134139" y="5027822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A69BD2-D71A-2147-B0B9-5AFD12192882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1664678" y="3824518"/>
            <a:ext cx="775224" cy="4109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6EDAC9D-1DB0-6147-9B1A-1895AB7365D6}"/>
              </a:ext>
            </a:extLst>
          </p:cNvPr>
          <p:cNvSpPr/>
          <p:nvPr/>
        </p:nvSpPr>
        <p:spPr>
          <a:xfrm>
            <a:off x="814401" y="3647853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3F1F32-E827-B344-9AD6-A7369E49C1F7}"/>
              </a:ext>
            </a:extLst>
          </p:cNvPr>
          <p:cNvSpPr txBox="1"/>
          <p:nvPr/>
        </p:nvSpPr>
        <p:spPr>
          <a:xfrm>
            <a:off x="531791" y="2689965"/>
            <a:ext cx="1301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200">
                <a:solidFill>
                  <a:srgbClr val="C00000"/>
                </a:solidFill>
              </a:rPr>
              <a:t>没有人</a:t>
            </a:r>
            <a:r>
              <a:rPr lang="zh-CN" altLang="en-US" sz="1200">
                <a:solidFill>
                  <a:srgbClr val="C00000"/>
                </a:solidFill>
              </a:rPr>
              <a:t>改这个地址，我改成功了</a:t>
            </a:r>
            <a:endParaRPr lang="en-CN" sz="120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93FE63-3743-6747-8A7E-E350213E10E7}"/>
              </a:ext>
            </a:extLst>
          </p:cNvPr>
          <p:cNvSpPr/>
          <p:nvPr/>
        </p:nvSpPr>
        <p:spPr>
          <a:xfrm>
            <a:off x="3624392" y="3426389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Courier" pitchFamily="2" charset="0"/>
              </a:rPr>
              <a:t>绿色没人修改</a:t>
            </a:r>
            <a:endParaRPr lang="en-US" altLang="zh-CN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zh-CN" altLang="en-CN">
                <a:solidFill>
                  <a:srgbClr val="C00000"/>
                </a:solidFill>
              </a:rPr>
              <a:t>红色</a:t>
            </a:r>
            <a:r>
              <a:rPr lang="zh-CN" altLang="en-US">
                <a:solidFill>
                  <a:srgbClr val="C00000"/>
                </a:solidFill>
              </a:rPr>
              <a:t>被修改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E56CC09-AB21-B544-AFBC-00564A00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82F3DDFB-7C4D-FE45-964A-F2C72A29C99B}"/>
              </a:ext>
            </a:extLst>
          </p:cNvPr>
          <p:cNvSpPr/>
          <p:nvPr/>
        </p:nvSpPr>
        <p:spPr>
          <a:xfrm>
            <a:off x="5224013" y="3380535"/>
            <a:ext cx="3390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Load-linked &amp; Store-conditional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78808E-71A3-EC40-855C-0096DAAD3CB3}"/>
              </a:ext>
            </a:extLst>
          </p:cNvPr>
          <p:cNvSpPr/>
          <p:nvPr/>
        </p:nvSpPr>
        <p:spPr>
          <a:xfrm>
            <a:off x="4005322" y="1529761"/>
            <a:ext cx="46602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retry:	ldxr	x0, addr</a:t>
            </a:r>
          </a:p>
          <a:p>
            <a:r>
              <a:rPr lang="en-CN">
                <a:latin typeface="Courier" pitchFamily="2" charset="0"/>
              </a:rPr>
              <a:t>	cmp	x0, expected</a:t>
            </a:r>
          </a:p>
          <a:p>
            <a:r>
              <a:rPr lang="en-CN">
                <a:latin typeface="Courier" pitchFamily="2" charset="0"/>
              </a:rPr>
              <a:t>	bne	out</a:t>
            </a:r>
          </a:p>
          <a:p>
            <a:r>
              <a:rPr lang="en-CN">
                <a:latin typeface="Courier" pitchFamily="2" charset="0"/>
              </a:rPr>
              <a:t>	stxr	x1, new_value, addr</a:t>
            </a:r>
          </a:p>
          <a:p>
            <a:r>
              <a:rPr lang="en-CN">
                <a:latin typeface="Courier" pitchFamily="2" charset="0"/>
              </a:rPr>
              <a:t>	cbnz	x1, retry</a:t>
            </a:r>
          </a:p>
          <a:p>
            <a:r>
              <a:rPr lang="en-CN">
                <a:latin typeface="Courier" pitchFamily="2" charset="0"/>
              </a:rPr>
              <a:t>out:	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317AA2-ADD2-F244-83C5-CA52352C9EAE}"/>
              </a:ext>
            </a:extLst>
          </p:cNvPr>
          <p:cNvSpPr/>
          <p:nvPr/>
        </p:nvSpPr>
        <p:spPr>
          <a:xfrm>
            <a:off x="4139830" y="2175281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0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719C4CA-1443-BB4B-964A-F668DE665AA3}"/>
              </a:ext>
            </a:extLst>
          </p:cNvPr>
          <p:cNvSpPr/>
          <p:nvPr/>
        </p:nvSpPr>
        <p:spPr>
          <a:xfrm>
            <a:off x="7709847" y="1500517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LL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C77A5C-FD7E-8D49-8C23-C084F2F7B685}"/>
              </a:ext>
            </a:extLst>
          </p:cNvPr>
          <p:cNvSpPr/>
          <p:nvPr/>
        </p:nvSpPr>
        <p:spPr>
          <a:xfrm>
            <a:off x="8603968" y="2373922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SC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B84A40B-8843-1749-A8FB-929901F8ECAF}"/>
              </a:ext>
            </a:extLst>
          </p:cNvPr>
          <p:cNvCxnSpPr>
            <a:cxnSpLocks/>
          </p:cNvCxnSpPr>
          <p:nvPr/>
        </p:nvCxnSpPr>
        <p:spPr>
          <a:xfrm>
            <a:off x="4211960" y="2696184"/>
            <a:ext cx="3575253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4E7DAE4-C389-B041-80F0-D700000EDDEC}"/>
              </a:ext>
            </a:extLst>
          </p:cNvPr>
          <p:cNvSpPr/>
          <p:nvPr/>
        </p:nvSpPr>
        <p:spPr>
          <a:xfrm>
            <a:off x="5820924" y="2418234"/>
            <a:ext cx="440179" cy="269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FFE40D-CAED-D744-A05E-745121BA0B8D}"/>
              </a:ext>
            </a:extLst>
          </p:cNvPr>
          <p:cNvSpPr/>
          <p:nvPr/>
        </p:nvSpPr>
        <p:spPr>
          <a:xfrm>
            <a:off x="7101787" y="206675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是否成功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66117B-9552-0A42-B34A-BB4A688C2076}"/>
              </a:ext>
            </a:extLst>
          </p:cNvPr>
          <p:cNvSpPr/>
          <p:nvPr/>
        </p:nvSpPr>
        <p:spPr>
          <a:xfrm>
            <a:off x="4138844" y="2758713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C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510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061C4BC-04D7-1C48-9D67-2A0CF99075BE}"/>
              </a:ext>
            </a:extLst>
          </p:cNvPr>
          <p:cNvSpPr/>
          <p:nvPr/>
        </p:nvSpPr>
        <p:spPr>
          <a:xfrm>
            <a:off x="4005322" y="1529761"/>
            <a:ext cx="466025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retry:	ldxr	x0, addr</a:t>
            </a:r>
          </a:p>
          <a:p>
            <a:r>
              <a:rPr lang="en-CN">
                <a:latin typeface="Courier" pitchFamily="2" charset="0"/>
              </a:rPr>
              <a:t>	cmp	x0, expected</a:t>
            </a:r>
          </a:p>
          <a:p>
            <a:r>
              <a:rPr lang="en-CN">
                <a:latin typeface="Courier" pitchFamily="2" charset="0"/>
              </a:rPr>
              <a:t>	bne	out</a:t>
            </a:r>
          </a:p>
          <a:p>
            <a:r>
              <a:rPr lang="en-CN">
                <a:latin typeface="Courier" pitchFamily="2" charset="0"/>
              </a:rPr>
              <a:t>	stxr	x1, new_value, addr</a:t>
            </a:r>
          </a:p>
          <a:p>
            <a:r>
              <a:rPr lang="en-CN">
                <a:latin typeface="Courier" pitchFamily="2" charset="0"/>
              </a:rPr>
              <a:t>	cbnz	x1, retry</a:t>
            </a:r>
          </a:p>
          <a:p>
            <a:r>
              <a:rPr lang="en-CN">
                <a:latin typeface="Courier" pitchFamily="2" charset="0"/>
              </a:rPr>
              <a:t>out:	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2CEAEF-FD04-FE44-ADDF-8970C526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硬件原子操作：</a:t>
            </a:r>
            <a:r>
              <a:rPr lang="en-US" altLang="zh-CN"/>
              <a:t>ARM</a:t>
            </a:r>
            <a:r>
              <a:rPr lang="zh-CN" altLang="en-US"/>
              <a:t>使用</a:t>
            </a:r>
            <a:r>
              <a:rPr lang="en-CN"/>
              <a:t>LL/SC</a:t>
            </a:r>
            <a:r>
              <a:rPr lang="zh-CN" altLang="en-CN"/>
              <a:t>实现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AFEC5C-5EC3-9544-BB17-4FA515648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F89FF-4FDD-DA49-80A7-22159B4F2B49}"/>
              </a:ext>
            </a:extLst>
          </p:cNvPr>
          <p:cNvSpPr/>
          <p:nvPr/>
        </p:nvSpPr>
        <p:spPr>
          <a:xfrm>
            <a:off x="5313501" y="3810735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第二行</a:t>
            </a:r>
            <a:r>
              <a:rPr lang="zh-CN" altLang="en-US"/>
              <a:t>读的时候</a:t>
            </a:r>
            <a:r>
              <a:rPr lang="zh-CN" altLang="en-US" b="1"/>
              <a:t>监视</a:t>
            </a:r>
            <a:r>
              <a:rPr lang="en-US" altLang="zh-CN">
                <a:latin typeface="Courier" pitchFamily="2" charset="0"/>
              </a:rPr>
              <a:t>addr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1B444-6A76-C94C-BADB-6ABBA2318373}"/>
              </a:ext>
            </a:extLst>
          </p:cNvPr>
          <p:cNvSpPr/>
          <p:nvPr/>
        </p:nvSpPr>
        <p:spPr>
          <a:xfrm>
            <a:off x="4427983" y="4209311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第四行修改的时候看</a:t>
            </a:r>
            <a:r>
              <a:rPr lang="en-US" altLang="zh-CN">
                <a:latin typeface="Courier" pitchFamily="2" charset="0"/>
              </a:rPr>
              <a:t>addr</a:t>
            </a:r>
            <a:r>
              <a:rPr lang="zh-CN" altLang="en-US" b="1">
                <a:latin typeface="Courier" pitchFamily="2" charset="0"/>
              </a:rPr>
              <a:t>是否被其他人修改</a:t>
            </a:r>
            <a:endParaRPr lang="en-US" altLang="zh-CN" b="1"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206E6-2BF5-A547-862A-DFC8F1487C11}"/>
              </a:ext>
            </a:extLst>
          </p:cNvPr>
          <p:cNvSpPr/>
          <p:nvPr/>
        </p:nvSpPr>
        <p:spPr>
          <a:xfrm>
            <a:off x="4736700" y="4658490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没人</a:t>
            </a:r>
            <a:r>
              <a:rPr lang="zh-CN" altLang="en-US">
                <a:latin typeface="Courier" pitchFamily="2" charset="0"/>
              </a:rPr>
              <a:t>修改就写成功，否则回到第二行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27BC5A-1D43-E147-B923-CBF2BF833EE6}"/>
              </a:ext>
            </a:extLst>
          </p:cNvPr>
          <p:cNvSpPr/>
          <p:nvPr/>
        </p:nvSpPr>
        <p:spPr>
          <a:xfrm>
            <a:off x="457200" y="2065412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DB5E5-ED05-494A-95CB-1781496A4BD0}"/>
              </a:ext>
            </a:extLst>
          </p:cNvPr>
          <p:cNvSpPr/>
          <p:nvPr/>
        </p:nvSpPr>
        <p:spPr>
          <a:xfrm>
            <a:off x="611560" y="3626069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A5CBD2-F034-EE4A-BFB3-23515EAC92B6}"/>
              </a:ext>
            </a:extLst>
          </p:cNvPr>
          <p:cNvSpPr/>
          <p:nvPr/>
        </p:nvSpPr>
        <p:spPr>
          <a:xfrm>
            <a:off x="710570" y="3182504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19AA1C-AC92-2A48-BAC4-240CC3388492}"/>
              </a:ext>
            </a:extLst>
          </p:cNvPr>
          <p:cNvSpPr/>
          <p:nvPr/>
        </p:nvSpPr>
        <p:spPr>
          <a:xfrm>
            <a:off x="611559" y="3995401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89A5B0-29B1-AE4E-853E-02B73C52A911}"/>
              </a:ext>
            </a:extLst>
          </p:cNvPr>
          <p:cNvSpPr/>
          <p:nvPr/>
        </p:nvSpPr>
        <p:spPr>
          <a:xfrm>
            <a:off x="2261629" y="3610848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68557-BC22-A34E-BD12-1D3A96EA29B9}"/>
              </a:ext>
            </a:extLst>
          </p:cNvPr>
          <p:cNvSpPr/>
          <p:nvPr/>
        </p:nvSpPr>
        <p:spPr>
          <a:xfrm>
            <a:off x="2360639" y="3167283"/>
            <a:ext cx="9541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Monitor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CD7D1-38B5-1541-9C4C-C13B1524F392}"/>
              </a:ext>
            </a:extLst>
          </p:cNvPr>
          <p:cNvSpPr/>
          <p:nvPr/>
        </p:nvSpPr>
        <p:spPr>
          <a:xfrm>
            <a:off x="2261628" y="3980180"/>
            <a:ext cx="115212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B13F3-A062-0048-A7AE-19CDDC548884}"/>
              </a:ext>
            </a:extLst>
          </p:cNvPr>
          <p:cNvSpPr/>
          <p:nvPr/>
        </p:nvSpPr>
        <p:spPr>
          <a:xfrm>
            <a:off x="846462" y="2246400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F54B89-007B-9846-88AE-816F341AFF17}"/>
              </a:ext>
            </a:extLst>
          </p:cNvPr>
          <p:cNvSpPr/>
          <p:nvPr/>
        </p:nvSpPr>
        <p:spPr>
          <a:xfrm>
            <a:off x="2082701" y="2065017"/>
            <a:ext cx="1450504" cy="2593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EAEDD7-5C3C-A645-ACA6-D7015FE1AB64}"/>
              </a:ext>
            </a:extLst>
          </p:cNvPr>
          <p:cNvSpPr/>
          <p:nvPr/>
        </p:nvSpPr>
        <p:spPr>
          <a:xfrm>
            <a:off x="2471963" y="2246005"/>
            <a:ext cx="6719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/>
              <a:t>CPU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EB8F3-1230-194D-B8B6-23522B8CE7D8}"/>
              </a:ext>
            </a:extLst>
          </p:cNvPr>
          <p:cNvSpPr/>
          <p:nvPr/>
        </p:nvSpPr>
        <p:spPr>
          <a:xfrm>
            <a:off x="2439902" y="3639852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addr</a:t>
            </a:r>
            <a:endParaRPr lang="en-CN">
              <a:solidFill>
                <a:srgbClr val="C00000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A8C6EF-C5C0-CB48-BE7C-9B7C3AD1570B}"/>
              </a:ext>
            </a:extLst>
          </p:cNvPr>
          <p:cNvCxnSpPr>
            <a:cxnSpLocks/>
          </p:cNvCxnSpPr>
          <p:nvPr/>
        </p:nvCxnSpPr>
        <p:spPr>
          <a:xfrm>
            <a:off x="117014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7E3BEA-52B4-8745-963A-F6AEAD20C6F5}"/>
              </a:ext>
            </a:extLst>
          </p:cNvPr>
          <p:cNvCxnSpPr>
            <a:cxnSpLocks/>
          </p:cNvCxnSpPr>
          <p:nvPr/>
        </p:nvCxnSpPr>
        <p:spPr>
          <a:xfrm>
            <a:off x="2790323" y="4690045"/>
            <a:ext cx="0" cy="33777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5BD4704-9D0B-0140-B8BD-279BDD5B12B8}"/>
              </a:ext>
            </a:extLst>
          </p:cNvPr>
          <p:cNvCxnSpPr>
            <a:cxnSpLocks/>
          </p:cNvCxnSpPr>
          <p:nvPr/>
        </p:nvCxnSpPr>
        <p:spPr>
          <a:xfrm flipH="1">
            <a:off x="1134139" y="5027822"/>
            <a:ext cx="169218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7E93FE63-3743-6747-8A7E-E350213E10E7}"/>
              </a:ext>
            </a:extLst>
          </p:cNvPr>
          <p:cNvSpPr/>
          <p:nvPr/>
        </p:nvSpPr>
        <p:spPr>
          <a:xfrm>
            <a:off x="3624392" y="3426389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00B050"/>
                </a:solidFill>
                <a:latin typeface="Courier" pitchFamily="2" charset="0"/>
              </a:rPr>
              <a:t>绿色没人修改</a:t>
            </a:r>
            <a:endParaRPr lang="en-US" altLang="zh-CN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zh-CN" altLang="en-CN">
                <a:solidFill>
                  <a:srgbClr val="C00000"/>
                </a:solidFill>
              </a:rPr>
              <a:t>红色</a:t>
            </a:r>
            <a:r>
              <a:rPr lang="zh-CN" altLang="en-US">
                <a:solidFill>
                  <a:srgbClr val="C00000"/>
                </a:solidFill>
              </a:rPr>
              <a:t>被修改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33" name="Cloud 32">
            <a:extLst>
              <a:ext uri="{FF2B5EF4-FFF2-40B4-BE49-F238E27FC236}">
                <a16:creationId xmlns:a16="http://schemas.microsoft.com/office/drawing/2014/main" id="{971CF8C1-240B-1140-9018-9914C2A9D337}"/>
              </a:ext>
            </a:extLst>
          </p:cNvPr>
          <p:cNvSpPr/>
          <p:nvPr/>
        </p:nvSpPr>
        <p:spPr>
          <a:xfrm>
            <a:off x="1745946" y="1038696"/>
            <a:ext cx="2088753" cy="993491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对比</a:t>
            </a:r>
            <a:r>
              <a:rPr lang="zh-CN" altLang="en-US">
                <a:solidFill>
                  <a:schemeClr val="tx1"/>
                </a:solidFill>
              </a:rPr>
              <a:t>成功了，我要改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0A7B7C-2E3F-7348-87F4-137C812668C6}"/>
              </a:ext>
            </a:extLst>
          </p:cNvPr>
          <p:cNvSpPr/>
          <p:nvPr/>
        </p:nvSpPr>
        <p:spPr>
          <a:xfrm>
            <a:off x="2194573" y="2568145"/>
            <a:ext cx="12949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有人要改我这个地址，我不能存了，回去重新看</a:t>
            </a:r>
            <a:endParaRPr lang="en-CN" sz="1200">
              <a:solidFill>
                <a:srgbClr val="C0000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588D0D1-E1B9-7448-9B13-68AC3FF3707F}"/>
              </a:ext>
            </a:extLst>
          </p:cNvPr>
          <p:cNvCxnSpPr>
            <a:cxnSpLocks/>
          </p:cNvCxnSpPr>
          <p:nvPr/>
        </p:nvCxnSpPr>
        <p:spPr>
          <a:xfrm>
            <a:off x="4348294" y="1864186"/>
            <a:ext cx="3575253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02AC78C-F863-9B4F-ADDC-9C5F9D02D16E}"/>
              </a:ext>
            </a:extLst>
          </p:cNvPr>
          <p:cNvCxnSpPr>
            <a:cxnSpLocks/>
          </p:cNvCxnSpPr>
          <p:nvPr/>
        </p:nvCxnSpPr>
        <p:spPr>
          <a:xfrm>
            <a:off x="4334452" y="3001516"/>
            <a:ext cx="3938704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504BCA3-70E2-E148-8E64-A4D590D9EF75}"/>
              </a:ext>
            </a:extLst>
          </p:cNvPr>
          <p:cNvSpPr/>
          <p:nvPr/>
        </p:nvSpPr>
        <p:spPr>
          <a:xfrm>
            <a:off x="4441845" y="2272287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N">
                <a:solidFill>
                  <a:schemeClr val="accent1"/>
                </a:solidFill>
              </a:rPr>
              <a:t>CPU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4859107A-30A4-0246-B684-61FA812D82AE}"/>
              </a:ext>
            </a:extLst>
          </p:cNvPr>
          <p:cNvSpPr/>
          <p:nvPr/>
        </p:nvSpPr>
        <p:spPr>
          <a:xfrm>
            <a:off x="3767539" y="1727123"/>
            <a:ext cx="1320887" cy="805724"/>
          </a:xfrm>
          <a:prstGeom prst="arc">
            <a:avLst>
              <a:gd name="adj1" fmla="val 8477354"/>
              <a:gd name="adj2" fmla="val 12781161"/>
            </a:avLst>
          </a:prstGeom>
          <a:ln w="50800">
            <a:solidFill>
              <a:srgbClr val="00B050"/>
            </a:solidFill>
            <a:headEnd type="none"/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00B05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A3E8C3-4181-1C4D-B62D-37371D1DC85D}"/>
              </a:ext>
            </a:extLst>
          </p:cNvPr>
          <p:cNvSpPr/>
          <p:nvPr/>
        </p:nvSpPr>
        <p:spPr>
          <a:xfrm>
            <a:off x="4466026" y="110005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失败重试</a:t>
            </a:r>
            <a:endParaRPr lang="en-CN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BC4E29F2-89B1-4A44-8C83-F5AC8491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4EB2D6C4-E0CE-7F47-BF9B-B4ADC7DCD64B}"/>
              </a:ext>
            </a:extLst>
          </p:cNvPr>
          <p:cNvSpPr/>
          <p:nvPr/>
        </p:nvSpPr>
        <p:spPr>
          <a:xfrm>
            <a:off x="5224013" y="3380535"/>
            <a:ext cx="33906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Load-linked &amp; Store-conditional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069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F90B9AC-EED3-7241-B5B9-D2AE3FB6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锁的实现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04F656-28A6-E94B-97AC-8DDAE530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F04DD-4D06-BC49-847F-9FBBA35AA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391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340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自旋锁（</a:t>
            </a:r>
            <a:r>
              <a:rPr lang="en-US" altLang="zh-CN" dirty="0"/>
              <a:t>Spinlock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52DA13-32FA-054E-8E09-8D359905A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45885"/>
            <a:ext cx="2908300" cy="3886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575B907-A403-7142-92E7-D43A64A6D928}"/>
              </a:ext>
            </a:extLst>
          </p:cNvPr>
          <p:cNvSpPr/>
          <p:nvPr/>
        </p:nvSpPr>
        <p:spPr>
          <a:xfrm>
            <a:off x="4141963" y="1345402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全局</a:t>
            </a:r>
            <a:r>
              <a:rPr lang="zh-CN" altLang="en-US">
                <a:latin typeface="Courier" pitchFamily="2" charset="0"/>
              </a:rPr>
              <a:t>标记 *</a:t>
            </a:r>
            <a:r>
              <a:rPr lang="en-US" altLang="zh-CN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：</a:t>
            </a:r>
            <a:r>
              <a:rPr lang="en-US" altLang="zh-CN">
                <a:latin typeface="Courier" pitchFamily="2" charset="0"/>
              </a:rPr>
              <a:t>0</a:t>
            </a:r>
            <a:r>
              <a:rPr lang="zh-CN" altLang="en-US">
                <a:latin typeface="Courier" pitchFamily="2" charset="0"/>
              </a:rPr>
              <a:t>表示空闲，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表示锁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C7434-F75F-A047-B28D-9EA06F39A774}"/>
              </a:ext>
            </a:extLst>
          </p:cNvPr>
          <p:cNvSpPr/>
          <p:nvPr/>
        </p:nvSpPr>
        <p:spPr>
          <a:xfrm>
            <a:off x="3806236" y="1831309"/>
            <a:ext cx="510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ourier" pitchFamily="2" charset="0"/>
              </a:rPr>
              <a:t>while(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atomic_CAS</a:t>
            </a:r>
            <a:r>
              <a:rPr lang="en-US" altLang="zh-CN">
                <a:latin typeface="Courier" pitchFamily="2" charset="0"/>
              </a:rPr>
              <a:t>(lock, 0, 1) != 0)</a:t>
            </a:r>
          </a:p>
          <a:p>
            <a:r>
              <a:rPr lang="en-US" altLang="zh-CN">
                <a:latin typeface="Courier" pitchFamily="2" charset="0"/>
              </a:rPr>
              <a:t>	/* Busy-looping */;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D2128E-49DA-4D4F-A963-5D6E489B2903}"/>
              </a:ext>
            </a:extLst>
          </p:cNvPr>
          <p:cNvSpPr/>
          <p:nvPr/>
        </p:nvSpPr>
        <p:spPr>
          <a:xfrm>
            <a:off x="3806236" y="3505572"/>
            <a:ext cx="5106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*</a:t>
            </a:r>
            <a:r>
              <a:rPr lang="en-US" altLang="zh-CN">
                <a:latin typeface="Courier" pitchFamily="2" charset="0"/>
              </a:rPr>
              <a:t>lock = 0;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4B83F9-35B9-FF4F-B37E-AF7FB13BF2B6}"/>
              </a:ext>
            </a:extLst>
          </p:cNvPr>
          <p:cNvSpPr/>
          <p:nvPr/>
        </p:nvSpPr>
        <p:spPr>
          <a:xfrm>
            <a:off x="3806236" y="2594215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F1863F-897C-4845-8011-79AFE9BC0DB1}"/>
              </a:ext>
            </a:extLst>
          </p:cNvPr>
          <p:cNvSpPr/>
          <p:nvPr/>
        </p:nvSpPr>
        <p:spPr>
          <a:xfrm>
            <a:off x="3713871" y="1831309"/>
            <a:ext cx="510660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AAB643-FA5B-2749-9668-059ECA62A46A}"/>
              </a:ext>
            </a:extLst>
          </p:cNvPr>
          <p:cNvSpPr/>
          <p:nvPr/>
        </p:nvSpPr>
        <p:spPr>
          <a:xfrm>
            <a:off x="3713870" y="3367072"/>
            <a:ext cx="510660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10423-3312-1A4B-8787-D624D3079693}"/>
              </a:ext>
            </a:extLst>
          </p:cNvPr>
          <p:cNvSpPr/>
          <p:nvPr/>
        </p:nvSpPr>
        <p:spPr>
          <a:xfrm>
            <a:off x="3927915" y="4098802"/>
            <a:ext cx="4678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unlock</a:t>
            </a:r>
            <a:r>
              <a:rPr lang="zh-CN" altLang="en-US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9184AA-BE21-C542-9A2A-168CDEF4E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A3772-896A-584B-A552-664C30F1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500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767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自旋锁（</a:t>
            </a:r>
            <a:r>
              <a:rPr lang="en-US" altLang="zh-CN" dirty="0"/>
              <a:t>Spinlock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C7434-F75F-A047-B28D-9EA06F39A774}"/>
              </a:ext>
            </a:extLst>
          </p:cNvPr>
          <p:cNvSpPr/>
          <p:nvPr/>
        </p:nvSpPr>
        <p:spPr>
          <a:xfrm>
            <a:off x="5364088" y="2123437"/>
            <a:ext cx="3528392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</a:t>
            </a:r>
          </a:p>
          <a:p>
            <a:r>
              <a:rPr lang="en-US" altLang="zh-CN" sz="1400">
                <a:latin typeface="Courier" pitchFamily="2" charset="0"/>
              </a:rPr>
              <a:t>	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</a:t>
            </a:r>
            <a:r>
              <a:rPr lang="en-US" altLang="zh-CN" sz="1400">
                <a:solidFill>
                  <a:srgbClr val="00B0F0"/>
                </a:solidFill>
                <a:latin typeface="Courier" pitchFamily="2" charset="0"/>
              </a:rPr>
              <a:t>/* Busy-looping */ </a:t>
            </a:r>
            <a:r>
              <a:rPr lang="en-US" altLang="zh-CN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sz="1400">
                <a:latin typeface="Courier" pitchFamily="2" charset="0"/>
              </a:rPr>
              <a:t>*lock = </a:t>
            </a:r>
            <a:r>
              <a:rPr lang="en-US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620516-0572-F342-8159-56F16FB89E97}"/>
              </a:ext>
            </a:extLst>
          </p:cNvPr>
          <p:cNvSpPr/>
          <p:nvPr/>
        </p:nvSpPr>
        <p:spPr>
          <a:xfrm>
            <a:off x="325646" y="1992648"/>
            <a:ext cx="4534386" cy="3493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 </a:t>
            </a:r>
            <a:r>
              <a:rPr lang="en-CN"/>
              <a:t>✓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有的“运气差”的进程可能永远也不能成功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CAS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=&gt;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出现饥饿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latin typeface="Courier" pitchFamily="2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zh-CN" altLang="en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依赖于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硬件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=&gt;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当多个核同时对一个地址执行原子操作时，能否保证至少有一个能够成功*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：是否满足解决临界区问题的三个</a:t>
            </a: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必要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条件？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C3A4C-9A55-DB47-94E1-258086054618}"/>
              </a:ext>
            </a:extLst>
          </p:cNvPr>
          <p:cNvSpPr/>
          <p:nvPr/>
        </p:nvSpPr>
        <p:spPr>
          <a:xfrm>
            <a:off x="4725701" y="5069579"/>
            <a:ext cx="43107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*</a:t>
            </a:r>
            <a:r>
              <a:rPr lang="zh-CN" altLang="en-CN" sz="1400" dirty="0"/>
              <a:t>这里</a:t>
            </a:r>
            <a:r>
              <a:rPr lang="zh-CN" altLang="en-US" sz="1400" dirty="0"/>
              <a:t>我们认为硬件能够确保原子操作</a:t>
            </a:r>
            <a:r>
              <a:rPr lang="en-US" altLang="zh-CN" sz="1400" dirty="0"/>
              <a:t>make</a:t>
            </a:r>
            <a:r>
              <a:rPr lang="zh-CN" altLang="en-US" sz="1400" dirty="0"/>
              <a:t> </a:t>
            </a:r>
            <a:r>
              <a:rPr lang="en-US" altLang="zh-CN" sz="1400" dirty="0"/>
              <a:t>progress</a:t>
            </a:r>
            <a:endParaRPr lang="en-CN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09AAC-09A5-6346-8727-CAAD0859DADB}"/>
              </a:ext>
            </a:extLst>
          </p:cNvPr>
          <p:cNvSpPr/>
          <p:nvPr/>
        </p:nvSpPr>
        <p:spPr>
          <a:xfrm>
            <a:off x="5364088" y="4244982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自旋锁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CD71F9-29EA-F844-8BD7-E124CAE28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81628-6E29-974A-98B4-5049B523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118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549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：我们如何保证竞争者的公平性？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BC64B-6A61-2F4E-B3CC-4928D0385440}"/>
              </a:ext>
            </a:extLst>
          </p:cNvPr>
          <p:cNvSpPr/>
          <p:nvPr/>
        </p:nvSpPr>
        <p:spPr>
          <a:xfrm>
            <a:off x="1877947" y="1663885"/>
            <a:ext cx="4748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通过遵循竞争者到达的顺序来传递锁。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CDA76-202C-B548-8AA8-C57EC7D29BCD}"/>
              </a:ext>
            </a:extLst>
          </p:cNvPr>
          <p:cNvSpPr/>
          <p:nvPr/>
        </p:nvSpPr>
        <p:spPr>
          <a:xfrm>
            <a:off x="935811" y="2226193"/>
            <a:ext cx="72723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</a:t>
            </a:r>
            <a:r>
              <a:rPr lang="en-CN" altLang="zh-CN">
                <a:latin typeface="Courier" pitchFamily="2" charset="0"/>
              </a:rPr>
              <a:t>wner</a:t>
            </a:r>
            <a:r>
              <a:rPr lang="zh-CN" altLang="en-US">
                <a:latin typeface="Courier" pitchFamily="2" charset="0"/>
              </a:rPr>
              <a:t>：表示当前在吃的食客</a:t>
            </a:r>
            <a:r>
              <a:rPr lang="en-US" altLang="zh-CN">
                <a:latin typeface="Courier" pitchFamily="2" charset="0"/>
              </a:rPr>
              <a:t>	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next</a:t>
            </a:r>
            <a:r>
              <a:rPr lang="zh-CN" altLang="en-US">
                <a:latin typeface="Courier" pitchFamily="2" charset="0"/>
              </a:rPr>
              <a:t>：表示目前放号的最新值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BF78BE-AE31-A443-AFF1-64DA6E688A27}"/>
              </a:ext>
            </a:extLst>
          </p:cNvPr>
          <p:cNvSpPr/>
          <p:nvPr/>
        </p:nvSpPr>
        <p:spPr>
          <a:xfrm>
            <a:off x="2149577" y="3231440"/>
            <a:ext cx="504056" cy="5040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B0D2D4-981D-624C-B226-4C2A2B7AA597}"/>
              </a:ext>
            </a:extLst>
          </p:cNvPr>
          <p:cNvSpPr/>
          <p:nvPr/>
        </p:nvSpPr>
        <p:spPr>
          <a:xfrm>
            <a:off x="3058329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87DED-2B2D-E545-91FE-3614FCF52DED}"/>
              </a:ext>
            </a:extLst>
          </p:cNvPr>
          <p:cNvSpPr/>
          <p:nvPr/>
        </p:nvSpPr>
        <p:spPr>
          <a:xfrm>
            <a:off x="3967081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D2718C-AC3E-5F4D-B8F7-9FEA23AD40A1}"/>
              </a:ext>
            </a:extLst>
          </p:cNvPr>
          <p:cNvSpPr/>
          <p:nvPr/>
        </p:nvSpPr>
        <p:spPr>
          <a:xfrm>
            <a:off x="4907202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CF6008D-8825-0146-B584-D6473D56B686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4914788" y="3735496"/>
            <a:ext cx="244442" cy="7779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231F25-ABB6-704F-BF09-B6D99C9DBF90}"/>
              </a:ext>
            </a:extLst>
          </p:cNvPr>
          <p:cNvSpPr/>
          <p:nvPr/>
        </p:nvSpPr>
        <p:spPr>
          <a:xfrm>
            <a:off x="5166817" y="4469575"/>
            <a:ext cx="30055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zh-CN" altLang="en-US">
                <a:latin typeface="Courier" pitchFamily="2" charset="0"/>
              </a:rPr>
              <a:t>拿号 </a:t>
            </a:r>
            <a:r>
              <a:rPr lang="en-US" altLang="zh-CN">
                <a:latin typeface="Courier" pitchFamily="2" charset="0"/>
              </a:rPr>
              <a:t>=&gt; 6</a:t>
            </a:r>
            <a:r>
              <a:rPr lang="zh-CN" altLang="en-US">
                <a:latin typeface="Courier" pitchFamily="2" charset="0"/>
              </a:rPr>
              <a:t>号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en-US" altLang="zh-CN">
                <a:latin typeface="Courier" pitchFamily="2" charset="0"/>
              </a:rPr>
              <a:t>my_ticket =  a</a:t>
            </a:r>
            <a:r>
              <a:rPr lang="en-CN" altLang="zh-CN">
                <a:latin typeface="Courier" pitchFamily="2" charset="0"/>
              </a:rPr>
              <a:t>tmoic_FAA(&amp;next, 1)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C3C6F6-667A-D442-84FE-218ADF16CCBB}"/>
              </a:ext>
            </a:extLst>
          </p:cNvPr>
          <p:cNvSpPr/>
          <p:nvPr/>
        </p:nvSpPr>
        <p:spPr>
          <a:xfrm>
            <a:off x="5580378" y="3164615"/>
            <a:ext cx="30055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2.</a:t>
            </a:r>
            <a:r>
              <a:rPr lang="zh-CN" altLang="en-US">
                <a:latin typeface="Courier" pitchFamily="2" charset="0"/>
              </a:rPr>
              <a:t>等待叫号</a:t>
            </a:r>
            <a:endParaRPr lang="en-US" altLang="zh-CN">
              <a:latin typeface="Courier" pitchFamily="2" charset="0"/>
            </a:endParaRPr>
          </a:p>
          <a:p>
            <a:pPr algn="ctr"/>
            <a:r>
              <a:rPr lang="en-US">
                <a:latin typeface="Courier" pitchFamily="2" charset="0"/>
              </a:rPr>
              <a:t>while(owner != my_ticket); 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2C33D2-3D90-6940-816B-9DC4BA7D319B}"/>
              </a:ext>
            </a:extLst>
          </p:cNvPr>
          <p:cNvSpPr/>
          <p:nvPr/>
        </p:nvSpPr>
        <p:spPr>
          <a:xfrm>
            <a:off x="1436882" y="4510612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owner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3</a:t>
            </a:r>
          </a:p>
          <a:p>
            <a:pPr algn="ctr"/>
            <a:r>
              <a:rPr lang="en-US">
                <a:latin typeface="Courier" pitchFamily="2" charset="0"/>
              </a:rPr>
              <a:t>next = 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6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9BBE63-FBF4-A045-827C-9193860FC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AD48F3FF-09FC-AD49-95B1-89416444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4873" y="4310745"/>
            <a:ext cx="808679" cy="995027"/>
          </a:xfrm>
          <a:prstGeom prst="rect">
            <a:avLst/>
          </a:prstGeom>
        </p:spPr>
      </p:pic>
      <p:pic>
        <p:nvPicPr>
          <p:cNvPr id="14" name="Picture 13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D8233D-019A-6E49-B7FE-68A2983D8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7" y="2963016"/>
            <a:ext cx="1073696" cy="536848"/>
          </a:xfrm>
          <a:prstGeom prst="rect">
            <a:avLst/>
          </a:prstGeom>
        </p:spPr>
      </p:pic>
      <p:pic>
        <p:nvPicPr>
          <p:cNvPr id="23" name="Picture 22" descr="A picture containing window, food&#10;&#10;Description automatically generated">
            <a:extLst>
              <a:ext uri="{FF2B5EF4-FFF2-40B4-BE49-F238E27FC236}">
                <a16:creationId xmlns:a16="http://schemas.microsoft.com/office/drawing/2014/main" id="{01B560AB-BC5E-6E42-AE14-A86BBD89C5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671" y="2637983"/>
            <a:ext cx="762601" cy="48149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2B3E04E-80CF-F342-BD91-625A813006E8}"/>
              </a:ext>
            </a:extLst>
          </p:cNvPr>
          <p:cNvSpPr/>
          <p:nvPr/>
        </p:nvSpPr>
        <p:spPr>
          <a:xfrm>
            <a:off x="-11997" y="3460614"/>
            <a:ext cx="1983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假设只有一桌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...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3FAC6D-961D-0740-B372-64CF9C9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979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5506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：我们如何保证竞争者的公平性？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BC64B-6A61-2F4E-B3CC-4928D0385440}"/>
              </a:ext>
            </a:extLst>
          </p:cNvPr>
          <p:cNvSpPr/>
          <p:nvPr/>
        </p:nvSpPr>
        <p:spPr>
          <a:xfrm>
            <a:off x="1877947" y="1663885"/>
            <a:ext cx="4748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通过遵循竞争者到达的</a:t>
            </a:r>
            <a:r>
              <a:rPr lang="zh-CN" altLang="en-US" b="1" dirty="0">
                <a:latin typeface="Courier" pitchFamily="2" charset="0"/>
              </a:rPr>
              <a:t>顺序</a:t>
            </a:r>
            <a:r>
              <a:rPr lang="zh-CN" altLang="en-US" dirty="0">
                <a:latin typeface="Courier" pitchFamily="2" charset="0"/>
              </a:rPr>
              <a:t>来传递锁。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BF78BE-AE31-A443-AFF1-64DA6E688A27}"/>
              </a:ext>
            </a:extLst>
          </p:cNvPr>
          <p:cNvSpPr/>
          <p:nvPr/>
        </p:nvSpPr>
        <p:spPr>
          <a:xfrm>
            <a:off x="2149577" y="3231440"/>
            <a:ext cx="504056" cy="5040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B0D2D4-981D-624C-B226-4C2A2B7AA597}"/>
              </a:ext>
            </a:extLst>
          </p:cNvPr>
          <p:cNvSpPr/>
          <p:nvPr/>
        </p:nvSpPr>
        <p:spPr>
          <a:xfrm>
            <a:off x="3058329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87DED-2B2D-E545-91FE-3614FCF52DED}"/>
              </a:ext>
            </a:extLst>
          </p:cNvPr>
          <p:cNvSpPr/>
          <p:nvPr/>
        </p:nvSpPr>
        <p:spPr>
          <a:xfrm>
            <a:off x="3967081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D2718C-AC3E-5F4D-B8F7-9FEA23AD40A1}"/>
              </a:ext>
            </a:extLst>
          </p:cNvPr>
          <p:cNvSpPr/>
          <p:nvPr/>
        </p:nvSpPr>
        <p:spPr>
          <a:xfrm>
            <a:off x="4907202" y="3231440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6</a:t>
            </a:r>
            <a:endParaRPr lang="en-C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19BD4B-EF9A-874B-B5F3-76037D673670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401605" y="3735496"/>
            <a:ext cx="1827607" cy="77790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1DBA792-1B6A-224B-85D0-A0FB881FF4A7}"/>
              </a:ext>
            </a:extLst>
          </p:cNvPr>
          <p:cNvSpPr/>
          <p:nvPr/>
        </p:nvSpPr>
        <p:spPr>
          <a:xfrm>
            <a:off x="1198081" y="4203872"/>
            <a:ext cx="2407048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Courier" pitchFamily="2" charset="0"/>
              </a:rPr>
              <a:t>吃完了，买单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52E1AB-075B-074A-B213-5015F1DDBD5F}"/>
              </a:ext>
            </a:extLst>
          </p:cNvPr>
          <p:cNvSpPr/>
          <p:nvPr/>
        </p:nvSpPr>
        <p:spPr>
          <a:xfrm>
            <a:off x="6194610" y="4511483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owner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3</a:t>
            </a:r>
          </a:p>
          <a:p>
            <a:pPr algn="ctr"/>
            <a:r>
              <a:rPr lang="en-US">
                <a:latin typeface="Courier" pitchFamily="2" charset="0"/>
              </a:rPr>
              <a:t>next = 7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DA9F58-99D8-DF46-B3CB-44F0982F4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9" name="Picture 18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026E42FD-9BA0-F54A-85A7-C09C64F1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727" y="4299202"/>
            <a:ext cx="808679" cy="995027"/>
          </a:xfrm>
          <a:prstGeom prst="rect">
            <a:avLst/>
          </a:prstGeom>
        </p:spPr>
      </p:pic>
      <p:pic>
        <p:nvPicPr>
          <p:cNvPr id="20" name="Picture 19" descr="A picture containing window, food&#10;&#10;Description automatically generated">
            <a:extLst>
              <a:ext uri="{FF2B5EF4-FFF2-40B4-BE49-F238E27FC236}">
                <a16:creationId xmlns:a16="http://schemas.microsoft.com/office/drawing/2014/main" id="{BBC6EB5B-B158-A046-8656-79C1D482C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820" y="2629929"/>
            <a:ext cx="762601" cy="481493"/>
          </a:xfrm>
          <a:prstGeom prst="rect">
            <a:avLst/>
          </a:prstGeom>
        </p:spPr>
      </p:pic>
      <p:pic>
        <p:nvPicPr>
          <p:cNvPr id="21" name="Picture 20" descr="A picture containing drawing&#10;&#10;Description automatically generated">
            <a:extLst>
              <a:ext uri="{FF2B5EF4-FFF2-40B4-BE49-F238E27FC236}">
                <a16:creationId xmlns:a16="http://schemas.microsoft.com/office/drawing/2014/main" id="{3610D93E-B031-C94F-A667-E0F53C247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57" y="2963016"/>
            <a:ext cx="1073696" cy="53684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8E2F0EC6-9C66-3E46-9D77-7F8E7C9DF845}"/>
              </a:ext>
            </a:extLst>
          </p:cNvPr>
          <p:cNvSpPr/>
          <p:nvPr/>
        </p:nvSpPr>
        <p:spPr>
          <a:xfrm>
            <a:off x="-11997" y="3460614"/>
            <a:ext cx="1983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假设只有一桌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...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DBF2E8-ED0B-5344-9A4C-FAD37CB52481}"/>
              </a:ext>
            </a:extLst>
          </p:cNvPr>
          <p:cNvSpPr/>
          <p:nvPr/>
        </p:nvSpPr>
        <p:spPr>
          <a:xfrm>
            <a:off x="5441660" y="3881097"/>
            <a:ext cx="1701107" cy="468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>
                <a:latin typeface="Courier" pitchFamily="2" charset="0"/>
              </a:rPr>
              <a:t>owner += 1 </a:t>
            </a:r>
            <a:endParaRPr lang="en-C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17E03D6-AF84-5F45-B1BA-EBC4F236337A}"/>
              </a:ext>
            </a:extLst>
          </p:cNvPr>
          <p:cNvCxnSpPr>
            <a:cxnSpLocks/>
          </p:cNvCxnSpPr>
          <p:nvPr/>
        </p:nvCxnSpPr>
        <p:spPr>
          <a:xfrm flipH="1" flipV="1">
            <a:off x="3369666" y="3809150"/>
            <a:ext cx="1154800" cy="4900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1E2B8B6-A8B0-C14A-B9DA-825F74795353}"/>
              </a:ext>
            </a:extLst>
          </p:cNvPr>
          <p:cNvSpPr/>
          <p:nvPr/>
        </p:nvSpPr>
        <p:spPr>
          <a:xfrm>
            <a:off x="4914790" y="3602095"/>
            <a:ext cx="2407048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>
                <a:latin typeface="Courier" pitchFamily="2" charset="0"/>
              </a:rPr>
              <a:t>2.</a:t>
            </a:r>
            <a:r>
              <a:rPr lang="zh-CN" altLang="en-US">
                <a:latin typeface="Courier" pitchFamily="2" charset="0"/>
              </a:rPr>
              <a:t> 叫下个人进来</a:t>
            </a:r>
            <a:endParaRPr lang="en-US" altLang="zh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D21871-8632-244A-B1F3-8C068EE66A35}"/>
              </a:ext>
            </a:extLst>
          </p:cNvPr>
          <p:cNvSpPr/>
          <p:nvPr/>
        </p:nvSpPr>
        <p:spPr>
          <a:xfrm>
            <a:off x="3682154" y="2722607"/>
            <a:ext cx="3906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>
                <a:latin typeface="Courier" pitchFamily="2" charset="0"/>
              </a:rPr>
              <a:t>while(owner != my_ticket); 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2ED80CD-0BA7-834E-A35D-4EBD0830D51C}"/>
              </a:ext>
            </a:extLst>
          </p:cNvPr>
          <p:cNvSpPr/>
          <p:nvPr/>
        </p:nvSpPr>
        <p:spPr>
          <a:xfrm>
            <a:off x="935811" y="2226193"/>
            <a:ext cx="72723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</a:t>
            </a:r>
            <a:r>
              <a:rPr lang="en-CN" altLang="zh-CN">
                <a:latin typeface="Courier" pitchFamily="2" charset="0"/>
              </a:rPr>
              <a:t>wner</a:t>
            </a:r>
            <a:r>
              <a:rPr lang="zh-CN" altLang="en-US">
                <a:latin typeface="Courier" pitchFamily="2" charset="0"/>
              </a:rPr>
              <a:t>：表示当前在吃的食客</a:t>
            </a:r>
            <a:r>
              <a:rPr lang="en-US" altLang="zh-CN">
                <a:latin typeface="Courier" pitchFamily="2" charset="0"/>
              </a:rPr>
              <a:t>	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next</a:t>
            </a:r>
            <a:r>
              <a:rPr lang="zh-CN" altLang="en-US">
                <a:latin typeface="Courier" pitchFamily="2" charset="0"/>
              </a:rPr>
              <a:t>：表示目前放号的最新值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BD630A-44AB-6D45-9CFE-4866164E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07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1196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：我们如何保证竞争者的公平性？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BC64B-6A61-2F4E-B3CC-4928D0385440}"/>
              </a:ext>
            </a:extLst>
          </p:cNvPr>
          <p:cNvSpPr/>
          <p:nvPr/>
        </p:nvSpPr>
        <p:spPr>
          <a:xfrm>
            <a:off x="1877947" y="1663885"/>
            <a:ext cx="4748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通过遵循竞争者到达的顺序来传递锁。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BCDA76-202C-B548-8AA8-C57EC7D29BCD}"/>
              </a:ext>
            </a:extLst>
          </p:cNvPr>
          <p:cNvSpPr/>
          <p:nvPr/>
        </p:nvSpPr>
        <p:spPr>
          <a:xfrm>
            <a:off x="935811" y="2226193"/>
            <a:ext cx="72723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o</a:t>
            </a:r>
            <a:r>
              <a:rPr lang="en-CN" altLang="zh-CN">
                <a:latin typeface="Courier" pitchFamily="2" charset="0"/>
              </a:rPr>
              <a:t>wner</a:t>
            </a:r>
            <a:r>
              <a:rPr lang="zh-CN" altLang="en-US">
                <a:latin typeface="Courier" pitchFamily="2" charset="0"/>
              </a:rPr>
              <a:t>：表示当前的持有者</a:t>
            </a:r>
            <a:r>
              <a:rPr lang="en-US" altLang="zh-CN">
                <a:latin typeface="Courier" pitchFamily="2" charset="0"/>
              </a:rPr>
              <a:t>	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next</a:t>
            </a:r>
            <a:r>
              <a:rPr lang="zh-CN" altLang="en-US">
                <a:latin typeface="Courier" pitchFamily="2" charset="0"/>
              </a:rPr>
              <a:t>：表示目前放号的最新值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7BA594-C889-5645-8F62-634599991A01}"/>
              </a:ext>
            </a:extLst>
          </p:cNvPr>
          <p:cNvSpPr/>
          <p:nvPr/>
        </p:nvSpPr>
        <p:spPr>
          <a:xfrm>
            <a:off x="683568" y="2857500"/>
            <a:ext cx="2123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>
                <a:latin typeface="Courier" pitchFamily="2" charset="0"/>
              </a:rPr>
              <a:t>lock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7F362A-8CD3-5846-8EB3-9BC332ABD149}"/>
              </a:ext>
            </a:extLst>
          </p:cNvPr>
          <p:cNvSpPr/>
          <p:nvPr/>
        </p:nvSpPr>
        <p:spPr>
          <a:xfrm>
            <a:off x="5652120" y="2857500"/>
            <a:ext cx="2123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Courier" pitchFamily="2" charset="0"/>
              </a:rPr>
              <a:t>unl</a:t>
            </a:r>
            <a:r>
              <a:rPr lang="en-CN" altLang="zh-CN">
                <a:latin typeface="Courier" pitchFamily="2" charset="0"/>
              </a:rPr>
              <a:t>ock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3174E3-01AC-C14D-9368-48BBEBE4D8C5}"/>
              </a:ext>
            </a:extLst>
          </p:cNvPr>
          <p:cNvSpPr/>
          <p:nvPr/>
        </p:nvSpPr>
        <p:spPr>
          <a:xfrm>
            <a:off x="467342" y="3384667"/>
            <a:ext cx="4115957" cy="1907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>
                <a:latin typeface="Courier" pitchFamily="2" charset="0"/>
              </a:rPr>
              <a:t>my_ticket = atomic_FAA(</a:t>
            </a: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Courier" pitchFamily="2" charset="0"/>
              </a:rPr>
              <a:t>	&amp;lock-&gt;next, 1);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r>
              <a:rPr lang="en-US" sz="1600">
                <a:latin typeface="Courier" pitchFamily="2" charset="0"/>
              </a:rPr>
              <a:t>while(lock-&gt;owner !=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my_ticket)	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	/* waiting */;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8B3B4E-258E-2B46-BBAA-A5866741BC87}"/>
              </a:ext>
            </a:extLst>
          </p:cNvPr>
          <p:cNvSpPr/>
          <p:nvPr/>
        </p:nvSpPr>
        <p:spPr>
          <a:xfrm>
            <a:off x="5142314" y="3615708"/>
            <a:ext cx="29679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>
                <a:latin typeface="Courier" pitchFamily="2" charset="0"/>
              </a:rPr>
              <a:t>lock-&gt;owner ++;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EBF34E-5774-CC44-BFCF-7EBE9D8B3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7C28B-D338-3146-B9A5-77B1072F4BCD}"/>
              </a:ext>
            </a:extLst>
          </p:cNvPr>
          <p:cNvSpPr/>
          <p:nvPr/>
        </p:nvSpPr>
        <p:spPr>
          <a:xfrm>
            <a:off x="3936968" y="368744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拿号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1C2A4-7621-FB42-B56E-204A9A72FABB}"/>
              </a:ext>
            </a:extLst>
          </p:cNvPr>
          <p:cNvSpPr/>
          <p:nvPr/>
        </p:nvSpPr>
        <p:spPr>
          <a:xfrm>
            <a:off x="3936968" y="452009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等号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D6A5EE-84AE-5148-B1FE-305300DAE087}"/>
              </a:ext>
            </a:extLst>
          </p:cNvPr>
          <p:cNvSpPr/>
          <p:nvPr/>
        </p:nvSpPr>
        <p:spPr>
          <a:xfrm>
            <a:off x="8022991" y="361570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叫号</a:t>
            </a:r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FB1D3-E713-E14B-B6CD-0F5E1EA4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047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0903"/>
            <a:ext cx="8579296" cy="1132238"/>
          </a:xfrm>
        </p:spPr>
        <p:txBody>
          <a:bodyPr>
            <a:normAutofit/>
          </a:bodyPr>
          <a:lstStyle/>
          <a:p>
            <a:r>
              <a:rPr lang="zh-CN" altLang="en-US" dirty="0"/>
              <a:t>排号锁（</a:t>
            </a:r>
            <a:r>
              <a:rPr lang="en-US" altLang="zh-CN" dirty="0"/>
              <a:t>Ticket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C7434-F75F-A047-B28D-9EA06F39A774}"/>
              </a:ext>
            </a:extLst>
          </p:cNvPr>
          <p:cNvSpPr/>
          <p:nvPr/>
        </p:nvSpPr>
        <p:spPr>
          <a:xfrm>
            <a:off x="5004049" y="1992648"/>
            <a:ext cx="3888432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volatile unsigned my_ticket =</a:t>
            </a:r>
          </a:p>
          <a:p>
            <a:r>
              <a:rPr lang="en-US" altLang="zh-CN" sz="1400">
                <a:latin typeface="Courier" pitchFamily="2" charset="0"/>
              </a:rPr>
              <a:t>        atomic_FAA(&amp;lock-&gt;next, 1);</a:t>
            </a:r>
          </a:p>
          <a:p>
            <a:r>
              <a:rPr lang="en-US" altLang="zh-CN" sz="1400">
                <a:latin typeface="Courier" pitchFamily="2" charset="0"/>
              </a:rPr>
              <a:t>    while(lock-&gt;owner != my_ticket)</a:t>
            </a:r>
          </a:p>
          <a:p>
            <a:r>
              <a:rPr lang="en-US" altLang="zh-CN" sz="1400">
                <a:latin typeface="Courier" pitchFamily="2" charset="0"/>
              </a:rPr>
              <a:t>	/* busy waiting */;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lock-&gt;owner ++;</a:t>
            </a:r>
            <a:endParaRPr lang="en-US" sz="1400">
              <a:latin typeface="Courier" pitchFamily="2" charset="0"/>
            </a:endParaRP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620516-0572-F342-8159-56F16FB89E97}"/>
              </a:ext>
            </a:extLst>
          </p:cNvPr>
          <p:cNvSpPr/>
          <p:nvPr/>
        </p:nvSpPr>
        <p:spPr>
          <a:xfrm>
            <a:off x="325646" y="1992648"/>
            <a:ext cx="4534386" cy="2377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互斥访问 </a:t>
            </a:r>
            <a:r>
              <a:rPr lang="en-CN"/>
              <a:t>✓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有限等待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 pitchFamily="2" charset="0"/>
              </a:rPr>
              <a:t>按照顺序，在前序竞争者保证有限时间释放时，可以达到有限等待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latin typeface="Courier" pitchFamily="2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空闲让进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*</a:t>
            </a:r>
            <a:r>
              <a:rPr lang="en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 </a:t>
            </a:r>
            <a:r>
              <a:rPr lang="en-CN"/>
              <a:t>✓</a:t>
            </a:r>
            <a:endParaRPr lang="en-CN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1576B0-EDEA-AA45-98AE-B8D486D03DC1}"/>
              </a:ext>
            </a:extLst>
          </p:cNvPr>
          <p:cNvSpPr/>
          <p:nvPr/>
        </p:nvSpPr>
        <p:spPr>
          <a:xfrm>
            <a:off x="884259" y="1194910"/>
            <a:ext cx="6735741" cy="468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思考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：是否满足解决临界区问题的三个</a:t>
            </a:r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必要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条件？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C3A4C-9A55-DB47-94E1-258086054618}"/>
              </a:ext>
            </a:extLst>
          </p:cNvPr>
          <p:cNvSpPr/>
          <p:nvPr/>
        </p:nvSpPr>
        <p:spPr>
          <a:xfrm>
            <a:off x="3995936" y="5002707"/>
            <a:ext cx="43107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</a:t>
            </a:r>
            <a:r>
              <a:rPr lang="zh-CN" altLang="en-CN" sz="1400"/>
              <a:t>这里</a:t>
            </a:r>
            <a:r>
              <a:rPr lang="zh-CN" altLang="en-US" sz="1400"/>
              <a:t>我们认为硬件能够确保原子操作</a:t>
            </a:r>
            <a:r>
              <a:rPr lang="en-US" altLang="zh-CN" sz="1400"/>
              <a:t>make</a:t>
            </a:r>
            <a:r>
              <a:rPr lang="zh-CN" altLang="en-US" sz="1400"/>
              <a:t> </a:t>
            </a:r>
            <a:r>
              <a:rPr lang="en-US" altLang="zh-CN" sz="1400"/>
              <a:t>progress</a:t>
            </a:r>
            <a:endParaRPr lang="en-CN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09AAC-09A5-6346-8727-CAAD0859DADB}"/>
              </a:ext>
            </a:extLst>
          </p:cNvPr>
          <p:cNvSpPr/>
          <p:nvPr/>
        </p:nvSpPr>
        <p:spPr>
          <a:xfrm>
            <a:off x="5184068" y="4335424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排号</a:t>
            </a:r>
            <a:r>
              <a:rPr lang="zh-CN" altLang="en-CN">
                <a:latin typeface="Courier" pitchFamily="2" charset="0"/>
              </a:rPr>
              <a:t>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2DB5F1-81A9-4741-8A60-5A802DBDD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4EDA1-27F0-1D4D-8655-37788E1E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612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读写锁的实现</a:t>
            </a:r>
          </a:p>
        </p:txBody>
      </p:sp>
    </p:spTree>
    <p:extLst>
      <p:ext uri="{BB962C8B-B14F-4D97-AF65-F5344CB8AC3E}">
        <p14:creationId xmlns:p14="http://schemas.microsoft.com/office/powerpoint/2010/main" val="88023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回顾：读写锁的基础语义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互斥锁：所有的线程均互斥，同一时刻</a:t>
            </a:r>
            <a:r>
              <a:rPr lang="zh-CN" altLang="en-US" b="1" dirty="0">
                <a:latin typeface="Courier" pitchFamily="2" charset="0"/>
              </a:rPr>
              <a:t>只能有一个线程</a:t>
            </a:r>
            <a:r>
              <a:rPr lang="zh-CN" altLang="en-US" dirty="0"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对于部分只读取共享数据的线程过于严厉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BE4E4F-F115-B748-822A-2D141E7FAD66}"/>
              </a:ext>
            </a:extLst>
          </p:cNvPr>
          <p:cNvSpPr/>
          <p:nvPr/>
        </p:nvSpPr>
        <p:spPr>
          <a:xfrm>
            <a:off x="3995936" y="3965016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读者</a:t>
            </a:r>
            <a:r>
              <a:rPr lang="zh-CN" altLang="en-US" b="1">
                <a:latin typeface="Courier" pitchFamily="2" charset="0"/>
              </a:rPr>
              <a:t>可以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34ABB7B-BDF7-EF4D-B9DC-95A858932D93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F60BA2-E937-074E-BF47-013BEC1FCBD1}"/>
              </a:ext>
            </a:extLst>
          </p:cNvPr>
          <p:cNvSpPr/>
          <p:nvPr/>
        </p:nvSpPr>
        <p:spPr>
          <a:xfrm>
            <a:off x="5709359" y="498711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C7D4F6-BF2E-6844-BA77-7F3CA193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48187-2CE8-0F4E-9C0A-43005474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49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回顾：读写锁的基础语义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B9BF94-9EF9-7E4A-A247-A12D7E7B4B14}"/>
              </a:ext>
            </a:extLst>
          </p:cNvPr>
          <p:cNvSpPr/>
          <p:nvPr/>
        </p:nvSpPr>
        <p:spPr>
          <a:xfrm>
            <a:off x="1187624" y="117643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互斥锁：所有的线程均互斥，同一时刻</a:t>
            </a:r>
            <a:r>
              <a:rPr lang="zh-CN" altLang="en-US" b="1" dirty="0">
                <a:latin typeface="Courier" pitchFamily="2" charset="0"/>
              </a:rPr>
              <a:t>只能有一个线程</a:t>
            </a:r>
            <a:r>
              <a:rPr lang="zh-CN" altLang="en-US" dirty="0">
                <a:latin typeface="Courier" pitchFamily="2" charset="0"/>
              </a:rPr>
              <a:t>进入临界区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1094A-696F-1B4D-ADC2-2F56364F8AC2}"/>
              </a:ext>
            </a:extLst>
          </p:cNvPr>
          <p:cNvSpPr/>
          <p:nvPr/>
        </p:nvSpPr>
        <p:spPr>
          <a:xfrm>
            <a:off x="1187624" y="175467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对于部分只读取共享数据的线程过于严厉</a:t>
            </a:r>
            <a:endParaRPr lang="en-C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269C7-752C-6045-8591-71A71E7F5FDA}"/>
              </a:ext>
            </a:extLst>
          </p:cNvPr>
          <p:cNvSpPr/>
          <p:nvPr/>
        </p:nvSpPr>
        <p:spPr>
          <a:xfrm>
            <a:off x="1023020" y="2362496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读写锁：</a:t>
            </a:r>
            <a:r>
              <a:rPr lang="zh-CN" altLang="en-CN"/>
              <a:t>区分</a:t>
            </a:r>
            <a:r>
              <a:rPr lang="zh-CN" altLang="en-US"/>
              <a:t>读者与写者，允许读者之间并行，读者与写者之间互斥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36BF1-6EC4-2F48-8DC3-C2280CA72D9A}"/>
              </a:ext>
            </a:extLst>
          </p:cNvPr>
          <p:cNvSpPr/>
          <p:nvPr/>
        </p:nvSpPr>
        <p:spPr>
          <a:xfrm>
            <a:off x="3563888" y="3361556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58776-73ED-AD40-8296-351A8D798487}"/>
              </a:ext>
            </a:extLst>
          </p:cNvPr>
          <p:cNvSpPr txBox="1"/>
          <p:nvPr/>
        </p:nvSpPr>
        <p:spPr>
          <a:xfrm>
            <a:off x="3898602" y="3433564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5F1A88-3784-FE45-8BB1-CAA096752AC0}"/>
              </a:ext>
            </a:extLst>
          </p:cNvPr>
          <p:cNvSpPr/>
          <p:nvPr/>
        </p:nvSpPr>
        <p:spPr>
          <a:xfrm>
            <a:off x="1043608" y="355086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55A3-A653-1F4D-846C-357178666394}"/>
              </a:ext>
            </a:extLst>
          </p:cNvPr>
          <p:cNvSpPr/>
          <p:nvPr/>
        </p:nvSpPr>
        <p:spPr>
          <a:xfrm>
            <a:off x="6948264" y="340874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9D1436-EDA4-6541-B305-B5E14374A925}"/>
              </a:ext>
            </a:extLst>
          </p:cNvPr>
          <p:cNvCxnSpPr>
            <a:stCxn id="16" idx="3"/>
            <a:endCxn id="13" idx="1"/>
          </p:cNvCxnSpPr>
          <p:nvPr/>
        </p:nvCxnSpPr>
        <p:spPr>
          <a:xfrm>
            <a:off x="1979712" y="3802896"/>
            <a:ext cx="1584176" cy="5263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D116E5B-1588-144B-A11D-D7C5511B6AC4}"/>
              </a:ext>
            </a:extLst>
          </p:cNvPr>
          <p:cNvSpPr/>
          <p:nvPr/>
        </p:nvSpPr>
        <p:spPr>
          <a:xfrm>
            <a:off x="1763688" y="4340783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读者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9B0DD1-989B-D448-A58B-1B79AA89AB07}"/>
              </a:ext>
            </a:extLst>
          </p:cNvPr>
          <p:cNvSpPr/>
          <p:nvPr/>
        </p:nvSpPr>
        <p:spPr>
          <a:xfrm>
            <a:off x="5580112" y="430226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写者</a:t>
            </a:r>
            <a:r>
              <a:rPr lang="zh-CN" altLang="en-US" b="1">
                <a:latin typeface="Courier" pitchFamily="2" charset="0"/>
              </a:rPr>
              <a:t>不能</a:t>
            </a:r>
            <a:r>
              <a:rPr lang="zh-CN" altLang="en-US">
                <a:latin typeface="Courier" pitchFamily="2" charset="0"/>
              </a:rPr>
              <a:t>进入临界区</a:t>
            </a:r>
            <a:endParaRPr lang="en-CN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674BD82-E7FC-1F49-A61E-F41A9B0981D7}"/>
              </a:ext>
            </a:extLst>
          </p:cNvPr>
          <p:cNvCxnSpPr>
            <a:cxnSpLocks/>
            <a:stCxn id="18" idx="2"/>
            <a:endCxn id="13" idx="3"/>
          </p:cNvCxnSpPr>
          <p:nvPr/>
        </p:nvCxnSpPr>
        <p:spPr>
          <a:xfrm flipH="1">
            <a:off x="5364088" y="3869000"/>
            <a:ext cx="1584176" cy="4602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4D8896B1-F498-9945-9181-B2D20F7F3F03}"/>
              </a:ext>
            </a:extLst>
          </p:cNvPr>
          <p:cNvSpPr/>
          <p:nvPr/>
        </p:nvSpPr>
        <p:spPr>
          <a:xfrm>
            <a:off x="3983311" y="3934540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EEA0D4-B300-E549-87F6-D2A99F10B676}"/>
              </a:ext>
            </a:extLst>
          </p:cNvPr>
          <p:cNvSpPr/>
          <p:nvPr/>
        </p:nvSpPr>
        <p:spPr>
          <a:xfrm>
            <a:off x="5508104" y="3773689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B29205-ACB4-2549-9390-7BDA79E70AE4}"/>
              </a:ext>
            </a:extLst>
          </p:cNvPr>
          <p:cNvSpPr/>
          <p:nvPr/>
        </p:nvSpPr>
        <p:spPr>
          <a:xfrm>
            <a:off x="1791216" y="3714467"/>
            <a:ext cx="15841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3200">
                <a:solidFill>
                  <a:schemeClr val="accent1"/>
                </a:solidFill>
                <a:latin typeface="+mn-ea"/>
              </a:rPr>
              <a:t>X</a:t>
            </a:r>
            <a:endParaRPr lang="en-CN" sz="320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6AAE7C-2FB2-D34B-BC97-312B21BC390A}"/>
              </a:ext>
            </a:extLst>
          </p:cNvPr>
          <p:cNvSpPr/>
          <p:nvPr/>
        </p:nvSpPr>
        <p:spPr>
          <a:xfrm>
            <a:off x="5705172" y="4969424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89980-0F90-D842-8835-F71E058F0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6DAD5-11DC-1C44-8538-40583B8C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474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8D7B6-0B22-C34C-BD3F-53E15F61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读写锁的偏向性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BBD7B-9815-5745-B6D9-30FEFDDC0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urier" pitchFamily="2" charset="0"/>
              </a:rPr>
              <a:t>考虑这种情况：</a:t>
            </a:r>
            <a:endParaRPr lang="en-US" altLang="zh-CN" dirty="0">
              <a:latin typeface="Courier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urier" pitchFamily="2" charset="0"/>
              </a:rPr>
              <a:t>t0</a:t>
            </a:r>
            <a:r>
              <a:rPr lang="zh-CN" altLang="en-US" dirty="0">
                <a:latin typeface="Courier" pitchFamily="2" charset="0"/>
              </a:rPr>
              <a:t>：有读者在临界区</a:t>
            </a:r>
            <a:endParaRPr lang="en-US" altLang="zh-CN" dirty="0">
              <a:latin typeface="Courier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urier" pitchFamily="2" charset="0"/>
              </a:rPr>
              <a:t>t1</a:t>
            </a:r>
            <a:r>
              <a:rPr lang="zh-CN" altLang="en-US" dirty="0">
                <a:latin typeface="Courier" pitchFamily="2" charset="0"/>
              </a:rPr>
              <a:t>：有新的写者在等待</a:t>
            </a:r>
            <a:endParaRPr lang="en-US" altLang="zh-CN" dirty="0">
              <a:latin typeface="Courier" pitchFamily="2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Courier" pitchFamily="2" charset="0"/>
              </a:rPr>
              <a:t>t2</a:t>
            </a:r>
            <a:r>
              <a:rPr lang="zh-CN" altLang="en-US" dirty="0">
                <a:latin typeface="Courier" pitchFamily="2" charset="0"/>
              </a:rPr>
              <a:t>：另一个读者能否进入临界区？</a:t>
            </a:r>
            <a:endParaRPr lang="en-US" altLang="zh-CN" dirty="0">
              <a:latin typeface="Courier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不能：</a:t>
            </a:r>
            <a:r>
              <a:rPr lang="zh-CN" altLang="en-CN" dirty="0"/>
              <a:t>偏向</a:t>
            </a:r>
            <a:r>
              <a:rPr lang="zh-CN" altLang="en-US" dirty="0"/>
              <a:t>写者的读写锁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后序读者必须等待写者进入后才进入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能：偏向读者的读写锁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后序读者可以直接进入临界区</a:t>
            </a:r>
            <a:endParaRPr lang="en-C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F939A-9DD3-444B-B33A-1BE742CA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9F2FC3-9D7B-7440-94C5-D83007B7E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49F533-3044-E545-8AE3-C7C12898A9CE}"/>
              </a:ext>
            </a:extLst>
          </p:cNvPr>
          <p:cNvSpPr/>
          <p:nvPr/>
        </p:nvSpPr>
        <p:spPr>
          <a:xfrm>
            <a:off x="5580112" y="372159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更加公平</a:t>
            </a:r>
            <a:endParaRPr lang="en-CN" altLang="zh-CN" b="1" dirty="0">
              <a:solidFill>
                <a:schemeClr val="accent1"/>
              </a:solidFill>
            </a:endParaRPr>
          </a:p>
        </p:txBody>
      </p:sp>
      <p:sp>
        <p:nvSpPr>
          <p:cNvPr id="7" name="Rectangle 55">
            <a:extLst>
              <a:ext uri="{FF2B5EF4-FFF2-40B4-BE49-F238E27FC236}">
                <a16:creationId xmlns:a16="http://schemas.microsoft.com/office/drawing/2014/main" id="{445E4FBF-E351-9644-8BA8-29FC6437E41E}"/>
              </a:ext>
            </a:extLst>
          </p:cNvPr>
          <p:cNvSpPr/>
          <p:nvPr/>
        </p:nvSpPr>
        <p:spPr>
          <a:xfrm>
            <a:off x="5580112" y="466153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更好的并行性</a:t>
            </a:r>
            <a:endParaRPr lang="en-CN" b="1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989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4D1909-FBA9-1E4E-A133-3AEDCF0C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198056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偏向读者</a:t>
            </a:r>
            <a:br>
              <a:rPr kumimoji="1" lang="en-US" altLang="zh-CN" dirty="0"/>
            </a:br>
            <a:r>
              <a:rPr kumimoji="1" lang="zh-CN" altLang="en-US" dirty="0"/>
              <a:t>的读写锁</a:t>
            </a:r>
            <a:br>
              <a:rPr kumimoji="1" lang="en-US" altLang="zh-CN" dirty="0"/>
            </a:br>
            <a:r>
              <a:rPr kumimoji="1" lang="zh-CN" altLang="en-US" dirty="0"/>
              <a:t>实现示例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D908A4-7B82-DF49-895D-319B5652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D04D1-BF96-CC4D-89BC-1498737D3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120DC-D9F3-7E44-8CCD-24F1CA30F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01664"/>
            <a:ext cx="5985541" cy="50255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EED302-D910-C847-BC7A-26AE6879C464}"/>
              </a:ext>
            </a:extLst>
          </p:cNvPr>
          <p:cNvSpPr/>
          <p:nvPr/>
        </p:nvSpPr>
        <p:spPr>
          <a:xfrm>
            <a:off x="323528" y="2353444"/>
            <a:ext cx="21602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Reader</a:t>
            </a:r>
            <a:r>
              <a:rPr lang="zh-CN" altLang="en-US" dirty="0"/>
              <a:t>计数器：</a:t>
            </a:r>
            <a:endParaRPr lang="en-US" altLang="zh-CN" dirty="0"/>
          </a:p>
          <a:p>
            <a:r>
              <a:rPr lang="zh-CN" altLang="en-US" dirty="0"/>
              <a:t>表示有多少读者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AF5930-435B-D440-BB6D-C4D588EBE3D2}"/>
              </a:ext>
            </a:extLst>
          </p:cNvPr>
          <p:cNvSpPr/>
          <p:nvPr/>
        </p:nvSpPr>
        <p:spPr>
          <a:xfrm>
            <a:off x="3441048" y="2349061"/>
            <a:ext cx="5483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第一个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最后一个</a:t>
            </a:r>
            <a:r>
              <a:rPr lang="en-US" altLang="zh-CN" dirty="0">
                <a:solidFill>
                  <a:srgbClr val="FF0000"/>
                </a:solidFill>
              </a:rPr>
              <a:t>reader</a:t>
            </a:r>
            <a:r>
              <a:rPr lang="zh-CN" altLang="en-US" dirty="0">
                <a:solidFill>
                  <a:srgbClr val="FF0000"/>
                </a:solidFill>
              </a:rPr>
              <a:t>负责获取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释放写锁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A82E49-BD4B-BC48-8633-36181E1E1FB5}"/>
              </a:ext>
            </a:extLst>
          </p:cNvPr>
          <p:cNvSpPr/>
          <p:nvPr/>
        </p:nvSpPr>
        <p:spPr>
          <a:xfrm>
            <a:off x="6732240" y="3933659"/>
            <a:ext cx="26346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只有当完全没有读者时</a:t>
            </a:r>
            <a:r>
              <a:rPr lang="zh-CN" altLang="en-US" dirty="0">
                <a:solidFill>
                  <a:srgbClr val="FF0000"/>
                </a:solidFill>
              </a:rPr>
              <a:t>，写者才能进入临界区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944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963424-15F3-984A-9BEA-79EE1B55B795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3670951" y="1494182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0BD254-79C1-8446-974C-5B1AC99AEA76}"/>
              </a:ext>
            </a:extLst>
          </p:cNvPr>
          <p:cNvSpPr txBox="1"/>
          <p:nvPr/>
        </p:nvSpPr>
        <p:spPr>
          <a:xfrm>
            <a:off x="2768004" y="2103983"/>
            <a:ext cx="2951714" cy="2118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获取读者锁，更新读计数器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CN"/>
              <a:t>如果</a:t>
            </a:r>
            <a:r>
              <a:rPr lang="zh-CN" altLang="en-US"/>
              <a:t>没有读者在，拿写锁避免写者进入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释放读者锁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35A76-21D4-0840-81EB-AA21F0A42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6E9BA-987E-414A-9B67-4F961434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B3A95213-AA08-564A-9831-844283246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26" y="2624330"/>
            <a:ext cx="262300" cy="306757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B7F2D777-6B95-B841-94E7-44E6E4517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866" y="3837065"/>
            <a:ext cx="262300" cy="306757"/>
          </a:xfrm>
          <a:prstGeom prst="rect">
            <a:avLst/>
          </a:prstGeom>
        </p:spPr>
      </p:pic>
      <p:pic>
        <p:nvPicPr>
          <p:cNvPr id="22" name="Picture 5">
            <a:extLst>
              <a:ext uri="{FF2B5EF4-FFF2-40B4-BE49-F238E27FC236}">
                <a16:creationId xmlns:a16="http://schemas.microsoft.com/office/drawing/2014/main" id="{F6F236BE-49E4-A941-B104-70EAA000C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50" y="3455299"/>
            <a:ext cx="262300" cy="31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981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6323533" y="204567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12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158CD-4856-E542-87BB-DDB1DB4FC158}"/>
              </a:ext>
            </a:extLst>
          </p:cNvPr>
          <p:cNvSpPr/>
          <p:nvPr/>
        </p:nvSpPr>
        <p:spPr>
          <a:xfrm>
            <a:off x="3238808" y="2617829"/>
            <a:ext cx="2403222" cy="458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尝试拿写锁，等待</a:t>
            </a:r>
            <a:endParaRPr lang="en-US" altLang="zh-C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7D034-4919-924E-A073-4727FEE77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FFFC85-01C5-D042-A957-BD4D27AF4985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777B8-A926-6B4B-BA5C-6C596FAF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011FA924-9DF7-8845-9BC7-9223E093C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2699100"/>
            <a:ext cx="262300" cy="31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31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6323533" y="204567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12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79C08-90FF-8F4D-9B84-B739BA624BF4}"/>
              </a:ext>
            </a:extLst>
          </p:cNvPr>
          <p:cNvSpPr/>
          <p:nvPr/>
        </p:nvSpPr>
        <p:spPr>
          <a:xfrm>
            <a:off x="3844127" y="270907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F4304E-7EEB-F24D-A735-FE33B1B3C6C5}"/>
              </a:ext>
            </a:extLst>
          </p:cNvPr>
          <p:cNvSpPr txBox="1"/>
          <p:nvPr/>
        </p:nvSpPr>
        <p:spPr>
          <a:xfrm>
            <a:off x="3279350" y="3546502"/>
            <a:ext cx="3884938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获取读者锁，更新读计数器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有读者在，无需再次获取写锁</a:t>
            </a:r>
            <a:endParaRPr lang="en-US" altLang="zh-CN"/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zh-CN" altLang="en-US"/>
              <a:t>释放读者锁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6ADA0-DCA1-254F-A2B1-6AE887C83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B4D442-84F4-9F46-B414-E560D55EAF76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929F5-FEF1-684C-969E-AE1208B8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D79DB51A-2D7F-C642-99E0-FDB803B95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12" y="3613584"/>
            <a:ext cx="262300" cy="306757"/>
          </a:xfrm>
          <a:prstGeom prst="rect">
            <a:avLst/>
          </a:prstGeom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C3156794-1A36-CC49-8301-551ED9132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441676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91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6323533" y="204567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12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79C08-90FF-8F4D-9B84-B739BA624BF4}"/>
              </a:ext>
            </a:extLst>
          </p:cNvPr>
          <p:cNvSpPr/>
          <p:nvPr/>
        </p:nvSpPr>
        <p:spPr>
          <a:xfrm>
            <a:off x="6340466" y="280249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6ADA0-DCA1-254F-A2B1-6AE887C83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B26E6F-F004-BE4B-A071-02399890FD1A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*读</a:t>
            </a:r>
            <a:r>
              <a:rPr lang="en-US" altLang="zh-CN" sz="1400" dirty="0"/>
              <a:t>/</a:t>
            </a:r>
            <a:r>
              <a:rPr lang="zh-CN" altLang="en-US" sz="1400" dirty="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A0140-E426-6A49-8B7C-F49F8D9B2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13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5203869" y="2457051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905" y="2726132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579C08-90FF-8F4D-9B84-B739BA624BF4}"/>
              </a:ext>
            </a:extLst>
          </p:cNvPr>
          <p:cNvSpPr/>
          <p:nvPr/>
        </p:nvSpPr>
        <p:spPr>
          <a:xfrm>
            <a:off x="6335803" y="280249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90964-41FB-D748-B5C9-2FDFE8C99EAD}"/>
              </a:ext>
            </a:extLst>
          </p:cNvPr>
          <p:cNvSpPr txBox="1"/>
          <p:nvPr/>
        </p:nvSpPr>
        <p:spPr>
          <a:xfrm>
            <a:off x="3279350" y="3546502"/>
            <a:ext cx="3812930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获取读者锁，减少计数器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还有其他读者在，无需释放写锁</a:t>
            </a:r>
            <a:endParaRPr lang="en-US" altLang="zh-CN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/>
              <a:t>释放读者锁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35E12-D055-C946-8A15-316B66B98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596754-31D7-5741-9A2D-55C8A70DB7F8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BF02-7E52-3945-B9DD-AC31C09D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7A68EFDA-4AE4-EB45-A7A9-E0EAC6171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151" y="3632778"/>
            <a:ext cx="262300" cy="306757"/>
          </a:xfrm>
          <a:prstGeom prst="rect">
            <a:avLst/>
          </a:prstGeom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id="{B6DCBAC5-94C0-5E40-89AA-B0E97D09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441676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21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C08396-3332-204B-A886-60107ECD4ACD}"/>
              </a:ext>
            </a:extLst>
          </p:cNvPr>
          <p:cNvSpPr/>
          <p:nvPr/>
        </p:nvSpPr>
        <p:spPr>
          <a:xfrm>
            <a:off x="5203869" y="2457051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063" y="265822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3851920" y="1585416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490964-41FB-D748-B5C9-2FDFE8C99EAD}"/>
              </a:ext>
            </a:extLst>
          </p:cNvPr>
          <p:cNvSpPr txBox="1"/>
          <p:nvPr/>
        </p:nvSpPr>
        <p:spPr>
          <a:xfrm>
            <a:off x="3279350" y="3546502"/>
            <a:ext cx="5541122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获取读者锁，减少计数器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无其他读者在，释放写锁      ，写者进入临界区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释放读者锁</a:t>
            </a:r>
            <a:endParaRPr lang="en-US" altLang="zh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BF747F-929F-084A-BAFD-5E58852E2718}"/>
              </a:ext>
            </a:extLst>
          </p:cNvPr>
          <p:cNvSpPr txBox="1"/>
          <p:nvPr/>
        </p:nvSpPr>
        <p:spPr>
          <a:xfrm>
            <a:off x="2866502" y="1078790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此时写者可以进入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C82F7-F3C6-D340-9F62-8253DAAF5B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852DC5-2C6B-384F-8AB0-1117B35FB66D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60BB-76FD-C84B-AC35-AE21F55D2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07A4E845-009B-A540-BDFA-5CEA8263A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947" y="3652399"/>
            <a:ext cx="262300" cy="306757"/>
          </a:xfrm>
          <a:prstGeom prst="rect">
            <a:avLst/>
          </a:prstGeom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A4068C51-E8B4-2D46-8F51-C935F09A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441676"/>
            <a:ext cx="262300" cy="306757"/>
          </a:xfrm>
          <a:prstGeom prst="rect">
            <a:avLst/>
          </a:prstGeom>
        </p:spPr>
      </p:pic>
      <p:pic>
        <p:nvPicPr>
          <p:cNvPr id="27" name="Picture 5">
            <a:extLst>
              <a:ext uri="{FF2B5EF4-FFF2-40B4-BE49-F238E27FC236}">
                <a16:creationId xmlns:a16="http://schemas.microsoft.com/office/drawing/2014/main" id="{8D491EDF-530E-734A-95F6-BFB35BEB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00" y="4058756"/>
            <a:ext cx="262300" cy="31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466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0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79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6291700" y="208293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B686EB-CCC0-044E-8775-C39C93F3464B}"/>
              </a:ext>
            </a:extLst>
          </p:cNvPr>
          <p:cNvSpPr/>
          <p:nvPr/>
        </p:nvSpPr>
        <p:spPr>
          <a:xfrm>
            <a:off x="3779912" y="172163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C6F8A5-4120-E445-975B-F340D0C2D16B}"/>
              </a:ext>
            </a:extLst>
          </p:cNvPr>
          <p:cNvSpPr txBox="1"/>
          <p:nvPr/>
        </p:nvSpPr>
        <p:spPr>
          <a:xfrm>
            <a:off x="2924917" y="2392111"/>
            <a:ext cx="2951714" cy="2120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获取读者锁，更新读计数器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CN" dirty="0"/>
              <a:t>如果</a:t>
            </a:r>
            <a:r>
              <a:rPr lang="zh-CN" altLang="en-US" dirty="0"/>
              <a:t>没有读者在，尝试拿写锁避免写者进入，等待。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53B687-06CF-AF4A-9A18-71BFC68A1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B293C5-418A-404C-8223-42EB1D2DE131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B04EB-041E-634C-AC13-4B9836E1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765435BE-6EF7-0849-B295-BCB9D4CE6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179" y="4124954"/>
            <a:ext cx="262300" cy="316569"/>
          </a:xfrm>
          <a:prstGeom prst="rect">
            <a:avLst/>
          </a:prstGeom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A5A67862-4408-134B-8BA0-8E9C141A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017" y="2879786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61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读写锁的实现：偏向读者为例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5D443-90A1-874C-8124-A70F7CAC9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45332"/>
            <a:ext cx="504056" cy="58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64B28E-AE32-9C4C-AA4D-2D45A75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26" y="2289439"/>
            <a:ext cx="544190" cy="65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C136-DD44-E447-9BBB-602E4E8D52F7}"/>
              </a:ext>
            </a:extLst>
          </p:cNvPr>
          <p:cNvSpPr txBox="1"/>
          <p:nvPr/>
        </p:nvSpPr>
        <p:spPr>
          <a:xfrm>
            <a:off x="1475656" y="1532327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读者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447E0-7747-B64A-9EDB-FCF385D57407}"/>
              </a:ext>
            </a:extLst>
          </p:cNvPr>
          <p:cNvSpPr txBox="1"/>
          <p:nvPr/>
        </p:nvSpPr>
        <p:spPr>
          <a:xfrm>
            <a:off x="1473758" y="2433163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写</a:t>
            </a:r>
            <a:r>
              <a:rPr lang="zh-CN" altLang="en-CN"/>
              <a:t>者</a:t>
            </a:r>
            <a:r>
              <a:rPr lang="zh-CN" altLang="en-US"/>
              <a:t>锁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FB9982-54E2-C14B-B7F1-9F4C223E59BF}"/>
              </a:ext>
            </a:extLst>
          </p:cNvPr>
          <p:cNvSpPr/>
          <p:nvPr/>
        </p:nvSpPr>
        <p:spPr>
          <a:xfrm>
            <a:off x="5868144" y="1532327"/>
            <a:ext cx="180020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5DF7E-EAD5-D443-A730-011B7A4AD436}"/>
              </a:ext>
            </a:extLst>
          </p:cNvPr>
          <p:cNvSpPr txBox="1"/>
          <p:nvPr/>
        </p:nvSpPr>
        <p:spPr>
          <a:xfrm>
            <a:off x="6202858" y="1604335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临界区</a:t>
            </a:r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886CE-DC92-6B45-913B-1C47CA58355C}"/>
              </a:ext>
            </a:extLst>
          </p:cNvPr>
          <p:cNvSpPr txBox="1"/>
          <p:nvPr/>
        </p:nvSpPr>
        <p:spPr>
          <a:xfrm>
            <a:off x="1476454" y="3467733"/>
            <a:ext cx="144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读者计数器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54DF46-B335-F640-9224-D04A3223FA46}"/>
              </a:ext>
            </a:extLst>
          </p:cNvPr>
          <p:cNvSpPr/>
          <p:nvPr/>
        </p:nvSpPr>
        <p:spPr>
          <a:xfrm>
            <a:off x="611560" y="3361556"/>
            <a:ext cx="50405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DCB35-3E6A-F747-AFE7-8D4FEC5AE675}"/>
              </a:ext>
            </a:extLst>
          </p:cNvPr>
          <p:cNvSpPr txBox="1"/>
          <p:nvPr/>
        </p:nvSpPr>
        <p:spPr>
          <a:xfrm>
            <a:off x="323528" y="4256857"/>
            <a:ext cx="28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在读临界区中的读者数量</a:t>
            </a:r>
            <a:endParaRPr lang="en-C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46BF37-4813-BB48-8DBF-90FC8159B379}"/>
              </a:ext>
            </a:extLst>
          </p:cNvPr>
          <p:cNvCxnSpPr>
            <a:stCxn id="16" idx="0"/>
            <a:endCxn id="14" idx="2"/>
          </p:cNvCxnSpPr>
          <p:nvPr/>
        </p:nvCxnSpPr>
        <p:spPr>
          <a:xfrm flipV="1">
            <a:off x="1766001" y="3837065"/>
            <a:ext cx="431482" cy="419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4D7C31E-075E-4049-9141-2F9030D4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079" y="2704775"/>
            <a:ext cx="544190" cy="65678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FEF6874F-36EE-F64B-B644-79FC084E4698}"/>
              </a:ext>
            </a:extLst>
          </p:cNvPr>
          <p:cNvSpPr/>
          <p:nvPr/>
        </p:nvSpPr>
        <p:spPr>
          <a:xfrm>
            <a:off x="6291700" y="208293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B686EB-CCC0-044E-8775-C39C93F3464B}"/>
              </a:ext>
            </a:extLst>
          </p:cNvPr>
          <p:cNvSpPr/>
          <p:nvPr/>
        </p:nvSpPr>
        <p:spPr>
          <a:xfrm>
            <a:off x="3779912" y="172163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C6F8A5-4120-E445-975B-F340D0C2D16B}"/>
              </a:ext>
            </a:extLst>
          </p:cNvPr>
          <p:cNvSpPr txBox="1"/>
          <p:nvPr/>
        </p:nvSpPr>
        <p:spPr>
          <a:xfrm>
            <a:off x="2916430" y="3055011"/>
            <a:ext cx="2951714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/>
              <a:t>尝试拿读者锁，上面的读者还没释放，等待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2DA32-F555-CC4A-90F6-24992839836F}"/>
              </a:ext>
            </a:extLst>
          </p:cNvPr>
          <p:cNvSpPr/>
          <p:nvPr/>
        </p:nvSpPr>
        <p:spPr>
          <a:xfrm>
            <a:off x="3779912" y="2461207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8721DB-088D-514E-B64D-A430D3A20C5A}"/>
              </a:ext>
            </a:extLst>
          </p:cNvPr>
          <p:cNvSpPr txBox="1"/>
          <p:nvPr/>
        </p:nvSpPr>
        <p:spPr>
          <a:xfrm>
            <a:off x="5151146" y="3983400"/>
            <a:ext cx="3807932" cy="787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/>
              <a:t>注意：</a:t>
            </a:r>
            <a:r>
              <a:rPr lang="zh-CN" altLang="en-CN" sz="1600" dirty="0"/>
              <a:t>读者</a:t>
            </a:r>
            <a:r>
              <a:rPr lang="zh-CN" altLang="en-US" sz="1600" dirty="0"/>
              <a:t>锁还有阻塞其他读者的语义，</a:t>
            </a:r>
            <a:br>
              <a:rPr lang="en-US" altLang="zh-CN" sz="1600" dirty="0"/>
            </a:br>
            <a:r>
              <a:rPr lang="zh-CN" altLang="en-US" sz="1600" dirty="0"/>
              <a:t>因此不能用原子操作来替代</a:t>
            </a:r>
            <a:endParaRPr lang="en-CN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C6CB0-A0C3-5E4B-ACAB-2AE676548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473644-7C93-E34E-BCA9-3F3A36D9437B}"/>
              </a:ext>
            </a:extLst>
          </p:cNvPr>
          <p:cNvSpPr/>
          <p:nvPr/>
        </p:nvSpPr>
        <p:spPr>
          <a:xfrm>
            <a:off x="5307399" y="4902031"/>
            <a:ext cx="34067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/>
              <a:t>*读</a:t>
            </a:r>
            <a:r>
              <a:rPr lang="en-US" altLang="zh-CN" sz="1400"/>
              <a:t>/</a:t>
            </a:r>
            <a:r>
              <a:rPr lang="zh-CN" altLang="en-US" sz="1400"/>
              <a:t>写临界区不同，这里指向一个为示意</a:t>
            </a:r>
            <a:endParaRPr lang="en-C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9DF8B-C452-A840-A881-71A2D0B6C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2B3237E5-84B0-2A4F-872F-C65B34221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534985"/>
            <a:ext cx="262300" cy="30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195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条件变量的实现</a:t>
            </a:r>
          </a:p>
        </p:txBody>
      </p:sp>
    </p:spTree>
    <p:extLst>
      <p:ext uri="{BB962C8B-B14F-4D97-AF65-F5344CB8AC3E}">
        <p14:creationId xmlns:p14="http://schemas.microsoft.com/office/powerpoint/2010/main" val="3058311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回顾：条件变量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1B6393-54AD-D04F-9860-5BB6FC578869}"/>
              </a:ext>
            </a:extLst>
          </p:cNvPr>
          <p:cNvSpPr/>
          <p:nvPr/>
        </p:nvSpPr>
        <p:spPr>
          <a:xfrm>
            <a:off x="2514021" y="1561356"/>
            <a:ext cx="4115957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while(</a:t>
            </a:r>
            <a:r>
              <a:rPr lang="en-US" altLang="zh-CN" sz="1600" dirty="0">
                <a:latin typeface="Courier" pitchFamily="2" charset="0"/>
              </a:rPr>
              <a:t>something</a:t>
            </a:r>
            <a:r>
              <a:rPr lang="en-US" sz="1600" dirty="0">
                <a:latin typeface="Courier" pitchFamily="2" charset="0"/>
              </a:rPr>
              <a:t>)	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	/* busy waiting */;</a:t>
            </a:r>
            <a:endParaRPr lang="en-CN" sz="1600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FC1C56-0FB7-7D47-8B13-CFA52B07FC25}"/>
              </a:ext>
            </a:extLst>
          </p:cNvPr>
          <p:cNvSpPr/>
          <p:nvPr/>
        </p:nvSpPr>
        <p:spPr>
          <a:xfrm>
            <a:off x="457200" y="1158690"/>
            <a:ext cx="35283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之前互斥锁的实现中：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F9E56-9CEF-F64A-A6A3-44ABBB07E253}"/>
              </a:ext>
            </a:extLst>
          </p:cNvPr>
          <p:cNvSpPr/>
          <p:nvPr/>
        </p:nvSpPr>
        <p:spPr>
          <a:xfrm>
            <a:off x="1671090" y="2612072"/>
            <a:ext cx="58018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Courier" pitchFamily="2" charset="0"/>
              </a:rPr>
              <a:t>条件变量</a:t>
            </a:r>
            <a:r>
              <a:rPr lang="zh-CN" altLang="en-US" dirty="0">
                <a:latin typeface="Courier" pitchFamily="2" charset="0"/>
              </a:rPr>
              <a:t>：提供睡眠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唤醒机制，避免无意义的等待。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4ADA1-3BC6-E341-B5B8-CB7193482BC5}"/>
              </a:ext>
            </a:extLst>
          </p:cNvPr>
          <p:cNvSpPr/>
          <p:nvPr/>
        </p:nvSpPr>
        <p:spPr>
          <a:xfrm>
            <a:off x="251532" y="3266196"/>
            <a:ext cx="3804948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if(!</a:t>
            </a:r>
            <a:r>
              <a:rPr lang="en-US" sz="1600" dirty="0" err="1">
                <a:latin typeface="Courier" pitchFamily="2" charset="0"/>
              </a:rPr>
              <a:t>some_condition</a:t>
            </a:r>
            <a:r>
              <a:rPr lang="en-US" sz="1600" dirty="0">
                <a:latin typeface="Courier" pitchFamily="2" charset="0"/>
              </a:rPr>
              <a:t>)	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	wait(condition</a:t>
            </a:r>
            <a:r>
              <a:rPr lang="en-US" altLang="zh-CN" sz="1600" dirty="0">
                <a:latin typeface="Courier" pitchFamily="2" charset="0"/>
              </a:rPr>
              <a:t>,</a:t>
            </a:r>
            <a:r>
              <a:rPr lang="zh-CN" altLang="en-US" sz="1600" dirty="0">
                <a:latin typeface="Courier" pitchFamily="2" charset="0"/>
              </a:rPr>
              <a:t> </a:t>
            </a:r>
            <a:r>
              <a:rPr lang="en-US" altLang="zh-CN" sz="1600" dirty="0">
                <a:latin typeface="Courier" pitchFamily="2" charset="0"/>
              </a:rPr>
              <a:t>lock</a:t>
            </a:r>
            <a:r>
              <a:rPr lang="en-US" sz="1600" dirty="0">
                <a:latin typeface="Courier" pitchFamily="2" charset="0"/>
              </a:rPr>
              <a:t>);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BFFCC-B428-B447-B2AE-B60FD81EE19A}"/>
              </a:ext>
            </a:extLst>
          </p:cNvPr>
          <p:cNvSpPr/>
          <p:nvPr/>
        </p:nvSpPr>
        <p:spPr>
          <a:xfrm>
            <a:off x="4972117" y="3937620"/>
            <a:ext cx="3315721" cy="799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u</a:t>
            </a:r>
            <a:r>
              <a:rPr lang="en-CN" sz="1600">
                <a:latin typeface="Courier" pitchFamily="2" charset="0"/>
              </a:rPr>
              <a:t>pdate(some_condition);</a:t>
            </a:r>
          </a:p>
          <a:p>
            <a:pPr>
              <a:lnSpc>
                <a:spcPct val="150000"/>
              </a:lnSpc>
            </a:pPr>
            <a:r>
              <a:rPr lang="en-US" sz="1600">
                <a:latin typeface="Courier" pitchFamily="2" charset="0"/>
              </a:rPr>
              <a:t>s</a:t>
            </a:r>
            <a:r>
              <a:rPr lang="en-CN" sz="1600">
                <a:latin typeface="Courier" pitchFamily="2" charset="0"/>
              </a:rPr>
              <a:t>ignal(condition);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B1FD2D-A576-4742-95F9-7AABC34B7B25}"/>
              </a:ext>
            </a:extLst>
          </p:cNvPr>
          <p:cNvCxnSpPr>
            <a:cxnSpLocks/>
          </p:cNvCxnSpPr>
          <p:nvPr/>
        </p:nvCxnSpPr>
        <p:spPr>
          <a:xfrm>
            <a:off x="4499992" y="3266196"/>
            <a:ext cx="0" cy="21829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AD25CF8-8A23-3A47-85E8-9989487DA3B1}"/>
              </a:ext>
            </a:extLst>
          </p:cNvPr>
          <p:cNvSpPr/>
          <p:nvPr/>
        </p:nvSpPr>
        <p:spPr>
          <a:xfrm>
            <a:off x="1373145" y="3048196"/>
            <a:ext cx="1696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-0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3C098B-068C-5241-8488-770C0C4992C1}"/>
              </a:ext>
            </a:extLst>
          </p:cNvPr>
          <p:cNvSpPr/>
          <p:nvPr/>
        </p:nvSpPr>
        <p:spPr>
          <a:xfrm>
            <a:off x="5365068" y="3037073"/>
            <a:ext cx="23762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-1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308B54-3D14-8C42-9214-2258911A51A5}"/>
              </a:ext>
            </a:extLst>
          </p:cNvPr>
          <p:cNvSpPr/>
          <p:nvPr/>
        </p:nvSpPr>
        <p:spPr>
          <a:xfrm>
            <a:off x="249558" y="4662092"/>
            <a:ext cx="4322441" cy="429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" pitchFamily="2" charset="0"/>
              </a:rPr>
              <a:t>Wake up and check condition again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FC2E53A-53B1-284E-9035-AACCFF812345}"/>
              </a:ext>
            </a:extLst>
          </p:cNvPr>
          <p:cNvCxnSpPr/>
          <p:nvPr/>
        </p:nvCxnSpPr>
        <p:spPr>
          <a:xfrm>
            <a:off x="4056479" y="3937620"/>
            <a:ext cx="1308589" cy="127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641499-2852-A241-BC50-11D30E8F2E22}"/>
              </a:ext>
            </a:extLst>
          </p:cNvPr>
          <p:cNvCxnSpPr>
            <a:cxnSpLocks/>
          </p:cNvCxnSpPr>
          <p:nvPr/>
        </p:nvCxnSpPr>
        <p:spPr>
          <a:xfrm flipH="1">
            <a:off x="3189437" y="4662092"/>
            <a:ext cx="2030636" cy="139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75651-3515-7C41-80F4-6E3FB632C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862589-F7D1-F740-A45B-128EA05A0574}"/>
              </a:ext>
            </a:extLst>
          </p:cNvPr>
          <p:cNvSpPr/>
          <p:nvPr/>
        </p:nvSpPr>
        <p:spPr>
          <a:xfrm>
            <a:off x="1187624" y="3742316"/>
            <a:ext cx="574105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D20E8-EC1A-6741-903D-5E62AB084EDA}"/>
              </a:ext>
            </a:extLst>
          </p:cNvPr>
          <p:cNvSpPr/>
          <p:nvPr/>
        </p:nvSpPr>
        <p:spPr>
          <a:xfrm>
            <a:off x="4934004" y="4433585"/>
            <a:ext cx="2503941" cy="2718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D4BAA0-3F33-034E-909B-09655632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280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回顾：条件变量的两个接口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1331640" y="1761085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void wait(struct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*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, struct lock *mutex);</a:t>
            </a:r>
            <a:endParaRPr lang="en-CN"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E21AF-EEE3-754B-8670-69CAFB6B21EF}"/>
              </a:ext>
            </a:extLst>
          </p:cNvPr>
          <p:cNvSpPr/>
          <p:nvPr/>
        </p:nvSpPr>
        <p:spPr>
          <a:xfrm>
            <a:off x="1331640" y="4081636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void signal(struct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*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);</a:t>
            </a:r>
            <a:endParaRPr lang="en-CN">
              <a:highlight>
                <a:srgbClr val="FFFF00"/>
              </a:highligh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BFF8A-6918-3041-AD0F-712BAA9A9C68}"/>
              </a:ext>
            </a:extLst>
          </p:cNvPr>
          <p:cNvSpPr/>
          <p:nvPr/>
        </p:nvSpPr>
        <p:spPr>
          <a:xfrm>
            <a:off x="457200" y="1292855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等待的接口：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5B21D-8B0C-354E-B172-218885FCF9F5}"/>
              </a:ext>
            </a:extLst>
          </p:cNvPr>
          <p:cNvSpPr/>
          <p:nvPr/>
        </p:nvSpPr>
        <p:spPr>
          <a:xfrm>
            <a:off x="441225" y="3721596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唤醒的接口：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08F57B-92BF-BD48-8282-B9D5D1B181BD}"/>
              </a:ext>
            </a:extLst>
          </p:cNvPr>
          <p:cNvSpPr/>
          <p:nvPr/>
        </p:nvSpPr>
        <p:spPr>
          <a:xfrm>
            <a:off x="5292080" y="1601962"/>
            <a:ext cx="2915344" cy="6308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EBF084-D71F-4944-8CEB-10CC05B5F360}"/>
              </a:ext>
            </a:extLst>
          </p:cNvPr>
          <p:cNvSpPr/>
          <p:nvPr/>
        </p:nvSpPr>
        <p:spPr>
          <a:xfrm>
            <a:off x="625730" y="2144108"/>
            <a:ext cx="4594342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放入条件变量的</a:t>
            </a:r>
            <a:r>
              <a:rPr lang="zh-CN" altLang="en-US" b="1" dirty="0"/>
              <a:t>等待队列</a:t>
            </a:r>
            <a:endParaRPr lang="en-CN" altLang="zh-CN" b="1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阻塞自己同时</a:t>
            </a:r>
            <a:r>
              <a:rPr lang="zh-CN" altLang="en-CN" b="1" dirty="0"/>
              <a:t>释放</a:t>
            </a:r>
            <a:r>
              <a:rPr lang="zh-CN" altLang="en-US" b="1" dirty="0"/>
              <a:t>锁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被唤醒后重新</a:t>
            </a:r>
            <a:r>
              <a:rPr lang="zh-CN" altLang="en-US" b="1" dirty="0"/>
              <a:t>获取锁</a:t>
            </a:r>
            <a:endParaRPr lang="en-US" altLang="zh-CN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0ACE75-1660-914F-8813-B18679568832}"/>
              </a:ext>
            </a:extLst>
          </p:cNvPr>
          <p:cNvSpPr/>
          <p:nvPr/>
        </p:nvSpPr>
        <p:spPr>
          <a:xfrm>
            <a:off x="647564" y="4431815"/>
            <a:ext cx="6265596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CN" dirty="0"/>
              <a:t>检查</a:t>
            </a:r>
            <a:r>
              <a:rPr lang="zh-CN" altLang="en-US" b="1" dirty="0"/>
              <a:t>等待队列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如果有等待者则</a:t>
            </a:r>
            <a:r>
              <a:rPr lang="zh-CN" altLang="en-US" b="1" dirty="0"/>
              <a:t>移出等待队列并唤醒</a:t>
            </a:r>
            <a:endParaRPr lang="en-US" altLang="zh-CN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9FEAD-1B37-3341-9851-1B195541DBCA}"/>
              </a:ext>
            </a:extLst>
          </p:cNvPr>
          <p:cNvSpPr/>
          <p:nvPr/>
        </p:nvSpPr>
        <p:spPr>
          <a:xfrm>
            <a:off x="1628080" y="1299701"/>
            <a:ext cx="5122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等待需要在临界区中</a:t>
            </a:r>
            <a:endParaRPr lang="en-C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9F8155-E438-1E43-9F28-C95FD7320CCF}"/>
              </a:ext>
            </a:extLst>
          </p:cNvPr>
          <p:cNvCxnSpPr>
            <a:stCxn id="10" idx="2"/>
          </p:cNvCxnSpPr>
          <p:nvPr/>
        </p:nvCxnSpPr>
        <p:spPr>
          <a:xfrm flipH="1">
            <a:off x="3203848" y="2232816"/>
            <a:ext cx="3545904" cy="60705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ABACFA-84CB-CC44-A646-7F0DF6F2A8E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3203848" y="2232816"/>
            <a:ext cx="3545904" cy="100182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55444-9415-8B44-BDED-298CF4DF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FADF7A-C642-A64D-84B2-C39A20399E39}"/>
              </a:ext>
            </a:extLst>
          </p:cNvPr>
          <p:cNvSpPr txBox="1"/>
          <p:nvPr/>
        </p:nvSpPr>
        <p:spPr>
          <a:xfrm>
            <a:off x="6214014" y="2600257"/>
            <a:ext cx="2304256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chemeClr val="accent1"/>
                </a:solidFill>
              </a:rPr>
              <a:t>如何阻塞自己的线程？通过</a:t>
            </a:r>
            <a:r>
              <a:rPr kumimoji="1" lang="en-US" altLang="zh-CN" dirty="0">
                <a:solidFill>
                  <a:schemeClr val="accent1"/>
                </a:solidFill>
              </a:rPr>
              <a:t>yield()</a:t>
            </a:r>
            <a:r>
              <a:rPr kumimoji="1" lang="zh-CN" altLang="en-US" dirty="0">
                <a:solidFill>
                  <a:schemeClr val="accent1"/>
                </a:solidFill>
              </a:rPr>
              <a:t>系统调用</a:t>
            </a:r>
          </a:p>
        </p:txBody>
      </p:sp>
    </p:spTree>
    <p:extLst>
      <p:ext uri="{BB962C8B-B14F-4D97-AF65-F5344CB8AC3E}">
        <p14:creationId xmlns:p14="http://schemas.microsoft.com/office/powerpoint/2010/main" val="32881463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条件变量的实现（语义级）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AD74E-ABE5-E343-BFBB-8E0D314614A7}"/>
              </a:ext>
            </a:extLst>
          </p:cNvPr>
          <p:cNvSpPr/>
          <p:nvPr/>
        </p:nvSpPr>
        <p:spPr>
          <a:xfrm>
            <a:off x="647564" y="1626439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void wait(struct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*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, struct lock *mutex);</a:t>
            </a:r>
            <a:endParaRPr lang="en-CN">
              <a:highlight>
                <a:srgbClr val="FFFF00"/>
              </a:highligh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3E21AF-EEE3-754B-8670-69CAFB6B21EF}"/>
              </a:ext>
            </a:extLst>
          </p:cNvPr>
          <p:cNvSpPr/>
          <p:nvPr/>
        </p:nvSpPr>
        <p:spPr>
          <a:xfrm>
            <a:off x="647564" y="3711940"/>
            <a:ext cx="7848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void signal(struct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*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cond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);</a:t>
            </a:r>
            <a:endParaRPr lang="en-CN">
              <a:highlight>
                <a:srgbClr val="FFFF00"/>
              </a:highligh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7BFF8A-6918-3041-AD0F-712BAA9A9C68}"/>
              </a:ext>
            </a:extLst>
          </p:cNvPr>
          <p:cNvSpPr/>
          <p:nvPr/>
        </p:nvSpPr>
        <p:spPr>
          <a:xfrm>
            <a:off x="457200" y="1183548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等待的接口：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5B21D-8B0C-354E-B172-218885FCF9F5}"/>
              </a:ext>
            </a:extLst>
          </p:cNvPr>
          <p:cNvSpPr/>
          <p:nvPr/>
        </p:nvSpPr>
        <p:spPr>
          <a:xfrm>
            <a:off x="467957" y="3308653"/>
            <a:ext cx="15987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唤醒的接口：</a:t>
            </a:r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A6FBA0-9500-DE4D-A4C3-F419F8C9DF38}"/>
              </a:ext>
            </a:extLst>
          </p:cNvPr>
          <p:cNvSpPr/>
          <p:nvPr/>
        </p:nvSpPr>
        <p:spPr>
          <a:xfrm>
            <a:off x="605802" y="4113621"/>
            <a:ext cx="6265596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CN"/>
              <a:t>检查</a:t>
            </a:r>
            <a:r>
              <a:rPr lang="zh-CN" altLang="en-US"/>
              <a:t>等待队列</a:t>
            </a:r>
            <a:endParaRPr lang="en-US" altLang="zh-CN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如果有等待者则移出等待队列并唤醒</a:t>
            </a:r>
            <a:endParaRPr lang="en-US" altLang="zh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E8F99B-A258-F945-A469-B89F37E4C5FD}"/>
              </a:ext>
            </a:extLst>
          </p:cNvPr>
          <p:cNvSpPr/>
          <p:nvPr/>
        </p:nvSpPr>
        <p:spPr>
          <a:xfrm>
            <a:off x="251520" y="2007484"/>
            <a:ext cx="4594342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放入条件变量的等待队列</a:t>
            </a:r>
            <a:endParaRPr lang="en-CN" altLang="zh-CN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阻塞自己同时</a:t>
            </a:r>
            <a:r>
              <a:rPr lang="zh-CN" altLang="en-CN"/>
              <a:t>释放</a:t>
            </a:r>
            <a:r>
              <a:rPr lang="zh-CN" altLang="en-US"/>
              <a:t>锁</a:t>
            </a:r>
            <a:endParaRPr lang="en-US" altLang="zh-CN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被唤醒后重新获取锁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16043E-19A0-0E4C-BCB4-CA8313AC3935}"/>
              </a:ext>
            </a:extLst>
          </p:cNvPr>
          <p:cNvSpPr/>
          <p:nvPr/>
        </p:nvSpPr>
        <p:spPr>
          <a:xfrm>
            <a:off x="3635896" y="2091028"/>
            <a:ext cx="55964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latin typeface="Courier" pitchFamily="2" charset="0"/>
              </a:rPr>
              <a:t>list_append(cond-&gt;wait_list,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sz="1600">
                <a:latin typeface="Courier" pitchFamily="2" charset="0"/>
              </a:rPr>
              <a:t>proc_self()); </a:t>
            </a:r>
            <a:endParaRPr lang="en-CN" sz="1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6702A-F242-404A-99F6-14FC342E0E1C}"/>
              </a:ext>
            </a:extLst>
          </p:cNvPr>
          <p:cNvSpPr/>
          <p:nvPr/>
        </p:nvSpPr>
        <p:spPr>
          <a:xfrm>
            <a:off x="3635896" y="2491220"/>
            <a:ext cx="49119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Courier" pitchFamily="2" charset="0"/>
              </a:rPr>
              <a:t>unlock</a:t>
            </a:r>
            <a:r>
              <a:rPr lang="en-US" altLang="zh-CN" sz="1600" dirty="0">
                <a:solidFill>
                  <a:schemeClr val="accent1"/>
                </a:solidFill>
                <a:latin typeface="Courier" pitchFamily="2" charset="0"/>
              </a:rPr>
              <a:t>(mutex),</a:t>
            </a:r>
            <a:r>
              <a:rPr lang="zh-CN" altLang="en-US" sz="1600" dirty="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 dirty="0">
                <a:solidFill>
                  <a:schemeClr val="accent1"/>
                </a:solidFill>
                <a:latin typeface="Courier" pitchFamily="2" charset="0"/>
              </a:rPr>
              <a:t>yield()</a:t>
            </a:r>
            <a:r>
              <a:rPr lang="zh-CN" altLang="en-US" sz="1600" dirty="0">
                <a:solidFill>
                  <a:schemeClr val="accent1"/>
                </a:solidFill>
                <a:latin typeface="Courier" pitchFamily="2" charset="0"/>
              </a:rPr>
              <a:t> 注意这两步是原子的</a:t>
            </a:r>
            <a:endParaRPr lang="en-US" sz="1600" dirty="0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3C60-27F7-0D41-8889-EAE1C36318E9}"/>
              </a:ext>
            </a:extLst>
          </p:cNvPr>
          <p:cNvSpPr/>
          <p:nvPr/>
        </p:nvSpPr>
        <p:spPr>
          <a:xfrm>
            <a:off x="3709149" y="2921630"/>
            <a:ext cx="16658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latin typeface="Courier" pitchFamily="2" charset="0"/>
              </a:rPr>
              <a:t>lock(mutex);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93B5A4-B6DB-7049-9B46-68F335BFCA68}"/>
              </a:ext>
            </a:extLst>
          </p:cNvPr>
          <p:cNvSpPr/>
          <p:nvPr/>
        </p:nvSpPr>
        <p:spPr>
          <a:xfrm>
            <a:off x="3077440" y="4190819"/>
            <a:ext cx="47339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if (!list_empty(cond-&gt;wait_list))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0FBC59-1289-A340-999E-67C983B6D749}"/>
              </a:ext>
            </a:extLst>
          </p:cNvPr>
          <p:cNvSpPr/>
          <p:nvPr/>
        </p:nvSpPr>
        <p:spPr>
          <a:xfrm>
            <a:off x="3077440" y="5016625"/>
            <a:ext cx="5285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wakeup(list_remove(cond-&gt;wait_list));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05C35-4765-F84F-87F3-2CB7BD422C83}"/>
              </a:ext>
            </a:extLst>
          </p:cNvPr>
          <p:cNvSpPr/>
          <p:nvPr/>
        </p:nvSpPr>
        <p:spPr>
          <a:xfrm>
            <a:off x="4758162" y="1123579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需要操作系统辅助实现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DBF3E-B33A-EE40-939A-CD1DCF52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946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600" b="1" dirty="0"/>
              <a:t>条件变量的基础</a:t>
            </a:r>
            <a:r>
              <a:rPr kumimoji="1" lang="zh-CN" altLang="en-US" sz="3600" dirty="0"/>
              <a:t>：</a:t>
            </a:r>
            <a:r>
              <a:rPr kumimoji="1" lang="en-US" altLang="zh-CN" sz="3600" dirty="0"/>
              <a:t>YIELD()</a:t>
            </a:r>
            <a:endParaRPr kumimoji="1"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0108375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系统调用：</a:t>
            </a:r>
            <a:r>
              <a:rPr lang="en-US" altLang="zh-CN" dirty="0"/>
              <a:t>yield()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进程调用</a:t>
            </a:r>
            <a:r>
              <a:rPr lang="en-US" altLang="zh-CN" sz="2000" dirty="0"/>
              <a:t>yield()</a:t>
            </a:r>
            <a:r>
              <a:rPr lang="zh-CN" altLang="en-US" sz="2000" dirty="0"/>
              <a:t>，主动放弃</a:t>
            </a:r>
            <a:r>
              <a:rPr lang="en-US" altLang="zh-CN" sz="2000" dirty="0"/>
              <a:t>CPU</a:t>
            </a:r>
            <a:r>
              <a:rPr lang="zh-CN" altLang="en-US" sz="2000" dirty="0"/>
              <a:t>，进入可运行队列等待，类似</a:t>
            </a:r>
            <a:r>
              <a:rPr lang="en-US" altLang="zh-CN" sz="2000" dirty="0"/>
              <a:t>sleep</a:t>
            </a:r>
          </a:p>
          <a:p>
            <a:r>
              <a:rPr lang="en-US" altLang="zh-CN" sz="2000" dirty="0"/>
              <a:t>yield()</a:t>
            </a:r>
            <a:r>
              <a:rPr lang="zh-CN" altLang="en-US" sz="2000" dirty="0"/>
              <a:t>的具体步骤</a:t>
            </a:r>
            <a:r>
              <a:rPr lang="en-US" altLang="zh-CN" sz="20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>
                <a:solidFill>
                  <a:srgbClr val="0096FF"/>
                </a:solidFill>
              </a:rPr>
              <a:t>暂停当前运行的线程</a:t>
            </a:r>
            <a:r>
              <a:rPr lang="en-US" altLang="zh-CN" sz="1800" dirty="0"/>
              <a:t>: </a:t>
            </a:r>
            <a:r>
              <a:rPr lang="zh-CN" altLang="en-US" sz="1800" dirty="0"/>
              <a:t>保存上下文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>
                <a:solidFill>
                  <a:srgbClr val="0096FF"/>
                </a:solidFill>
              </a:rPr>
              <a:t>选择新的可运行线程</a:t>
            </a:r>
            <a:r>
              <a:rPr lang="en-US" altLang="zh-CN" sz="1800" dirty="0"/>
              <a:t>: </a:t>
            </a:r>
            <a:r>
              <a:rPr lang="zh-CN" altLang="en-US" sz="1800" dirty="0"/>
              <a:t>例如通过</a:t>
            </a:r>
            <a:r>
              <a:rPr lang="en-US" altLang="zh-CN" sz="1800" dirty="0"/>
              <a:t>round-robin</a:t>
            </a:r>
            <a:r>
              <a:rPr lang="zh-CN" altLang="en-US" sz="1800" dirty="0"/>
              <a:t>找到下一个</a:t>
            </a:r>
            <a:r>
              <a:rPr lang="en-US" altLang="zh-CN" sz="1800" dirty="0"/>
              <a:t>RUNNABLE</a:t>
            </a:r>
            <a:r>
              <a:rPr lang="zh-CN" altLang="en-US" sz="1800" dirty="0"/>
              <a:t>线程</a:t>
            </a:r>
            <a:endParaRPr lang="en-US" altLang="zh-CN" sz="1800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sz="1800" dirty="0">
                <a:solidFill>
                  <a:srgbClr val="0096FF"/>
                </a:solidFill>
              </a:rPr>
              <a:t>恢复上一步所选线程</a:t>
            </a:r>
            <a:r>
              <a:rPr lang="en-US" altLang="zh-CN" sz="1800" dirty="0"/>
              <a:t>: </a:t>
            </a:r>
            <a:r>
              <a:rPr lang="zh-CN" altLang="en-US" sz="1800" dirty="0"/>
              <a:t>重新加载该线程的状态</a:t>
            </a:r>
            <a:endParaRPr lang="en-US" altLang="zh-CN" sz="1800" dirty="0"/>
          </a:p>
          <a:p>
            <a:r>
              <a:rPr lang="zh-CN" altLang="en-US" sz="2000" dirty="0"/>
              <a:t>三个数据结构</a:t>
            </a:r>
            <a:endParaRPr lang="en-US" altLang="zh-CN" sz="2000" dirty="0"/>
          </a:p>
          <a:p>
            <a:pPr lvl="1"/>
            <a:r>
              <a:rPr lang="en-US" altLang="zh-CN" sz="1800" dirty="0">
                <a:highlight>
                  <a:srgbClr val="FFFF00"/>
                </a:highlight>
              </a:rPr>
              <a:t>threads table</a:t>
            </a:r>
            <a:r>
              <a:rPr lang="zh-CN" altLang="en-US" sz="1800" dirty="0"/>
              <a:t>：记录所有线程的表</a:t>
            </a:r>
            <a:endParaRPr lang="en-US" altLang="zh-CN" sz="1800" dirty="0"/>
          </a:p>
          <a:p>
            <a:pPr lvl="1"/>
            <a:r>
              <a:rPr lang="en-US" altLang="zh-CN" sz="1800" dirty="0" err="1">
                <a:highlight>
                  <a:srgbClr val="FFFF00"/>
                </a:highlight>
              </a:rPr>
              <a:t>t_lock</a:t>
            </a:r>
            <a:r>
              <a:rPr lang="zh-CN" altLang="en-US" sz="1800" dirty="0"/>
              <a:t>：即 </a:t>
            </a:r>
            <a:r>
              <a:rPr lang="en-US" altLang="zh-CN" sz="1800" dirty="0"/>
              <a:t>threads</a:t>
            </a:r>
            <a:r>
              <a:rPr lang="zh-CN" altLang="en-US" sz="1800" dirty="0"/>
              <a:t> </a:t>
            </a:r>
            <a:r>
              <a:rPr lang="en-US" altLang="zh-CN" sz="1800" dirty="0"/>
              <a:t>table</a:t>
            </a:r>
            <a:r>
              <a:rPr lang="zh-CN" altLang="en-US" sz="1800" dirty="0"/>
              <a:t> </a:t>
            </a:r>
            <a:r>
              <a:rPr lang="en-US" altLang="zh-CN" sz="1800" dirty="0"/>
              <a:t>lock</a:t>
            </a:r>
            <a:r>
              <a:rPr lang="zh-CN" altLang="en-US" sz="1800" dirty="0"/>
              <a:t>，用于保护 </a:t>
            </a:r>
            <a:r>
              <a:rPr lang="en-US" altLang="zh-CN" sz="1800" dirty="0"/>
              <a:t>threads</a:t>
            </a:r>
            <a:r>
              <a:rPr lang="zh-CN" altLang="en-US" sz="1800" dirty="0"/>
              <a:t> </a:t>
            </a:r>
            <a:r>
              <a:rPr lang="en-US" altLang="zh-CN" sz="1800" dirty="0"/>
              <a:t>table</a:t>
            </a:r>
          </a:p>
          <a:p>
            <a:pPr lvl="1"/>
            <a:r>
              <a:rPr lang="en-US" altLang="zh-CN" sz="1800" dirty="0">
                <a:highlight>
                  <a:srgbClr val="FFFF00"/>
                </a:highlight>
              </a:rPr>
              <a:t>CPUs table</a:t>
            </a:r>
            <a:r>
              <a:rPr lang="zh-CN" altLang="en-US" sz="1800" dirty="0"/>
              <a:t>：记录每个</a:t>
            </a:r>
            <a:r>
              <a:rPr lang="en-US" altLang="zh-CN" sz="1800" dirty="0"/>
              <a:t>CPU</a:t>
            </a:r>
            <a:r>
              <a:rPr lang="zh-CN" altLang="en-US" sz="1800" dirty="0"/>
              <a:t>当前运行线程（注意这个表没有用</a:t>
            </a:r>
            <a:r>
              <a:rPr lang="en-US" altLang="zh-CN" sz="1800" dirty="0"/>
              <a:t>lock</a:t>
            </a:r>
            <a:r>
              <a:rPr lang="zh-CN" altLang="en-US" sz="1800" dirty="0"/>
              <a:t>保护）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653612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yield</a:t>
            </a:r>
            <a:r>
              <a:rPr lang="zh-CN" altLang="en-US" dirty="0"/>
              <a:t>实现</a:t>
            </a:r>
            <a:r>
              <a:rPr lang="en-US" altLang="zh-CN" dirty="0"/>
              <a:t>send</a:t>
            </a:r>
            <a:r>
              <a:rPr lang="zh-CN" altLang="en-US" dirty="0"/>
              <a:t>？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1201316"/>
            <a:ext cx="4258816" cy="2320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send(bb, </a:t>
            </a: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True:</a:t>
            </a: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if bb.in –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N:</a:t>
            </a: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bb.buf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[bb.in mod N] &lt;-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bb.in &lt;- bb.in + 1</a:t>
            </a: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40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return</a:t>
            </a:r>
          </a:p>
        </p:txBody>
      </p:sp>
      <p:sp>
        <p:nvSpPr>
          <p:cNvPr id="5" name="矩形 4"/>
          <p:cNvSpPr/>
          <p:nvPr/>
        </p:nvSpPr>
        <p:spPr>
          <a:xfrm>
            <a:off x="4572000" y="1201316"/>
            <a:ext cx="4176464" cy="3195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send(bb, </a:t>
            </a: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 True: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if bb.in 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bb.buf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[bb.in mod N] &lt;-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bb.in &lt;- bb.in + 1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yield()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en-US" sz="1600" dirty="0">
              <a:solidFill>
                <a:srgbClr val="0096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60032" y="3560802"/>
            <a:ext cx="45719" cy="703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364088" y="352700"/>
            <a:ext cx="371127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cs typeface="Arial" panose="020B0604020202020204" pitchFamily="34" charset="0"/>
              </a:rPr>
              <a:t>注意：这里的</a:t>
            </a:r>
            <a:r>
              <a:rPr lang="en-US" altLang="zh-CN" dirty="0">
                <a:cs typeface="Arial" panose="020B0604020202020204" pitchFamily="34" charset="0"/>
              </a:rPr>
              <a:t>send()</a:t>
            </a:r>
            <a:r>
              <a:rPr lang="zh-CN" altLang="en-US" dirty="0">
                <a:cs typeface="Arial" panose="020B0604020202020204" pitchFamily="34" charset="0"/>
              </a:rPr>
              <a:t>是正确的，但</a:t>
            </a:r>
            <a:br>
              <a:rPr lang="en-US" altLang="zh-CN" dirty="0">
                <a:cs typeface="Arial" panose="020B0604020202020204" pitchFamily="34" charset="0"/>
              </a:rPr>
            </a:br>
            <a:r>
              <a:rPr lang="zh-CN" altLang="en-US" dirty="0">
                <a:cs typeface="Arial" panose="020B0604020202020204" pitchFamily="34" charset="0"/>
              </a:rPr>
              <a:t>并非最终版本，仅用于展示</a:t>
            </a:r>
            <a:r>
              <a:rPr lang="en-US" altLang="zh-CN" dirty="0">
                <a:cs typeface="Arial" panose="020B0604020202020204" pitchFamily="34" charset="0"/>
              </a:rPr>
              <a:t>yield()</a:t>
            </a:r>
            <a:endParaRPr lang="zh-CN" altLang="en-US" dirty="0"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85765F-14F4-F247-A0E8-343F188E8AE7}"/>
              </a:ext>
            </a:extLst>
          </p:cNvPr>
          <p:cNvSpPr txBox="1"/>
          <p:nvPr/>
        </p:nvSpPr>
        <p:spPr>
          <a:xfrm>
            <a:off x="498508" y="4441676"/>
            <a:ext cx="3281404" cy="787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之前：使用</a:t>
            </a:r>
            <a:r>
              <a:rPr lang="en-US" altLang="zh-CN" sz="1600" b="1" dirty="0"/>
              <a:t>lock</a:t>
            </a:r>
            <a:r>
              <a:rPr lang="zh-CN" altLang="en-US" sz="1600" b="1" dirty="0"/>
              <a:t>来保护临界区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缺点：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busy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loop</a:t>
            </a:r>
            <a:r>
              <a:rPr lang="zh-CN" altLang="en-US" sz="1600" b="1" dirty="0"/>
              <a:t>，浪费资源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91158FF5-ED0F-234F-94CB-1E3F5FA7D832}"/>
              </a:ext>
            </a:extLst>
          </p:cNvPr>
          <p:cNvSpPr/>
          <p:nvPr/>
        </p:nvSpPr>
        <p:spPr>
          <a:xfrm>
            <a:off x="4427984" y="2353444"/>
            <a:ext cx="288032" cy="288032"/>
          </a:xfrm>
          <a:prstGeom prst="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8D0CB05-6CE8-7447-99C5-16912A439071}"/>
              </a:ext>
            </a:extLst>
          </p:cNvPr>
          <p:cNvSpPr txBox="1"/>
          <p:nvPr/>
        </p:nvSpPr>
        <p:spPr>
          <a:xfrm>
            <a:off x="3779912" y="3712304"/>
            <a:ext cx="4661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1"/>
                </a:solidFill>
              </a:rPr>
              <a:t>新加三行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3BA2D1-9050-6747-BDAE-349CFA7789ED}"/>
              </a:ext>
            </a:extLst>
          </p:cNvPr>
          <p:cNvSpPr txBox="1"/>
          <p:nvPr/>
        </p:nvSpPr>
        <p:spPr>
          <a:xfrm>
            <a:off x="4362602" y="4454726"/>
            <a:ext cx="4337264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之后：若不满足条件则主动调</a:t>
            </a:r>
            <a:r>
              <a:rPr lang="en-US" altLang="zh-CN" sz="1600" b="1" dirty="0"/>
              <a:t>yield</a:t>
            </a:r>
            <a:r>
              <a:rPr lang="zh-CN" altLang="en-US" sz="1600" b="1" dirty="0"/>
              <a:t>放弃</a:t>
            </a:r>
            <a:r>
              <a:rPr lang="en-US" altLang="zh-CN" sz="1600" b="1" dirty="0"/>
              <a:t>CPU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缺点：线程下次运行时，可能还是不满足条件，依然浪费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资源</a:t>
            </a:r>
          </a:p>
        </p:txBody>
      </p:sp>
    </p:spTree>
    <p:extLst>
      <p:ext uri="{BB962C8B-B14F-4D97-AF65-F5344CB8AC3E}">
        <p14:creationId xmlns:p14="http://schemas.microsoft.com/office/powerpoint/2010/main" val="76039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15029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yield():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Suspend the running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Choose a new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Resume the new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27576" y="228866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YIELD() </a:t>
            </a:r>
            <a:r>
              <a:rPr lang="zh-CN" altLang="en-US" sz="3200" dirty="0"/>
              <a:t>实现</a:t>
            </a:r>
          </a:p>
        </p:txBody>
      </p:sp>
    </p:spTree>
    <p:extLst>
      <p:ext uri="{BB962C8B-B14F-4D97-AF65-F5344CB8AC3E}">
        <p14:creationId xmlns:p14="http://schemas.microsoft.com/office/powerpoint/2010/main" val="6531159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31957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yield():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i="1" dirty="0">
                <a:latin typeface="Consolas" panose="020B0609020204030204" pitchFamily="49" charset="0"/>
                <a:cs typeface="Consolas" panose="020B0609020204030204" pitchFamily="49" charset="0"/>
              </a:rPr>
              <a:t>id of current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Choose a new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Resume the new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5494733" y="1345332"/>
            <a:ext cx="144016" cy="864096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854773" y="149108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暂停运行的线程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27576" y="228866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YIELD() </a:t>
            </a:r>
            <a:r>
              <a:rPr lang="zh-CN" altLang="en-US" sz="3200" dirty="0"/>
              <a:t>实现</a:t>
            </a:r>
          </a:p>
        </p:txBody>
      </p:sp>
      <p:sp>
        <p:nvSpPr>
          <p:cNvPr id="2" name="矩形 1"/>
          <p:cNvSpPr/>
          <p:nvPr/>
        </p:nvSpPr>
        <p:spPr>
          <a:xfrm>
            <a:off x="4293315" y="4422500"/>
            <a:ext cx="439248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/>
              <a:t>记录所有线程的表（整个系统只用这一张表）</a:t>
            </a:r>
            <a:endParaRPr lang="en-US" altLang="zh-CN" sz="1600" dirty="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24175" y="4463162"/>
            <a:ext cx="9701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35388" y="4993026"/>
            <a:ext cx="8579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endParaRPr lang="zh-CN" altLang="en-US" sz="1600" b="1" dirty="0">
              <a:solidFill>
                <a:srgbClr val="7030A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294312" y="5002556"/>
            <a:ext cx="439248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Arial" panose="020B0604020202020204" pitchFamily="34" charset="0"/>
              </a:rPr>
              <a:t>用于保护 </a:t>
            </a:r>
            <a:r>
              <a:rPr lang="en-US" altLang="zh-CN" sz="1600" dirty="0">
                <a:cs typeface="Arial" panose="020B0604020202020204" pitchFamily="34" charset="0"/>
              </a:rPr>
              <a:t>thread table</a:t>
            </a:r>
            <a:r>
              <a:rPr lang="zh-CN" altLang="en-US" sz="1600" dirty="0">
                <a:cs typeface="Arial" panose="020B0604020202020204" pitchFamily="34" charset="0"/>
              </a:rPr>
              <a:t> 的锁</a:t>
            </a:r>
            <a:endParaRPr lang="en-US" altLang="zh-CN" sz="16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563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31957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yield():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Choose a new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Resume the new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5494733" y="1345332"/>
            <a:ext cx="144016" cy="864096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854773" y="149108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暂停运行的线程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27576" y="228866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YIELD() </a:t>
            </a:r>
            <a:r>
              <a:rPr lang="zh-CN" altLang="en-US" sz="3200" dirty="0"/>
              <a:t>实现</a:t>
            </a:r>
          </a:p>
        </p:txBody>
      </p:sp>
      <p:sp>
        <p:nvSpPr>
          <p:cNvPr id="7" name="矩形 6"/>
          <p:cNvSpPr/>
          <p:nvPr/>
        </p:nvSpPr>
        <p:spPr>
          <a:xfrm>
            <a:off x="4294312" y="4441676"/>
            <a:ext cx="4742184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Arial" panose="020B0604020202020204" pitchFamily="34" charset="0"/>
              </a:rPr>
              <a:t>表：包含所有</a:t>
            </a:r>
            <a:r>
              <a:rPr lang="en-US" altLang="zh-CN" sz="1600" dirty="0">
                <a:cs typeface="Arial" panose="020B0604020202020204" pitchFamily="34" charset="0"/>
              </a:rPr>
              <a:t>CPU</a:t>
            </a:r>
            <a:r>
              <a:rPr lang="zh-CN" altLang="en-US" sz="1600" dirty="0">
                <a:cs typeface="Arial" panose="020B0604020202020204" pitchFamily="34" charset="0"/>
              </a:rPr>
              <a:t>当前运行的</a:t>
            </a:r>
            <a:r>
              <a:rPr lang="en-US" altLang="zh-CN" sz="1600" dirty="0">
                <a:cs typeface="Arial" panose="020B0604020202020204" pitchFamily="34" charset="0"/>
              </a:rPr>
              <a:t>thread</a:t>
            </a:r>
            <a:r>
              <a:rPr lang="zh-CN" altLang="en-US" sz="1600" dirty="0">
                <a:cs typeface="Arial" panose="020B0604020202020204" pitchFamily="34" charset="0"/>
              </a:rPr>
              <a:t> </a:t>
            </a:r>
            <a:r>
              <a:rPr lang="en-US" altLang="zh-CN" sz="1600" dirty="0">
                <a:cs typeface="Arial" panose="020B0604020202020204" pitchFamily="34" charset="0"/>
              </a:rPr>
              <a:t>ID</a:t>
            </a:r>
          </a:p>
        </p:txBody>
      </p:sp>
      <p:sp>
        <p:nvSpPr>
          <p:cNvPr id="8" name="矩形 7"/>
          <p:cNvSpPr/>
          <p:nvPr/>
        </p:nvSpPr>
        <p:spPr>
          <a:xfrm>
            <a:off x="3635896" y="4441676"/>
            <a:ext cx="6335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endParaRPr lang="zh-CN" altLang="en-US" sz="16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94312" y="4951454"/>
            <a:ext cx="35830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+mn-ea"/>
                <a:cs typeface="Arial" panose="020B0604020202020204" pitchFamily="34" charset="0"/>
              </a:rPr>
              <a:t>问题</a:t>
            </a:r>
            <a:r>
              <a:rPr lang="en-US" altLang="zh-CN" sz="1600" dirty="0">
                <a:latin typeface="+mn-ea"/>
                <a:cs typeface="Arial" panose="020B0604020202020204" pitchFamily="34" charset="0"/>
              </a:rPr>
              <a:t>: </a:t>
            </a:r>
            <a:r>
              <a:rPr lang="zh-CN" altLang="en-US" sz="1600" dirty="0">
                <a:latin typeface="+mn-ea"/>
                <a:cs typeface="Arial" panose="020B0604020202020204" pitchFamily="34" charset="0"/>
              </a:rPr>
              <a:t>为什么不需要用一个锁来保护？</a:t>
            </a:r>
          </a:p>
        </p:txBody>
      </p:sp>
    </p:spTree>
    <p:extLst>
      <p:ext uri="{BB962C8B-B14F-4D97-AF65-F5344CB8AC3E}">
        <p14:creationId xmlns:p14="http://schemas.microsoft.com/office/powerpoint/2010/main" val="8964337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0421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yield():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Resume new 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5494733" y="1345332"/>
            <a:ext cx="144016" cy="864096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854773" y="149108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暂停运行的线程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494733" y="2569468"/>
            <a:ext cx="144016" cy="676911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54773" y="259830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选择新线程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27576" y="228866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YIELD() </a:t>
            </a:r>
            <a:r>
              <a:rPr lang="zh-CN" altLang="en-US" sz="3200" dirty="0"/>
              <a:t>实现</a:t>
            </a:r>
          </a:p>
        </p:txBody>
      </p:sp>
      <p:sp>
        <p:nvSpPr>
          <p:cNvPr id="9" name="矩形 8"/>
          <p:cNvSpPr/>
          <p:nvPr/>
        </p:nvSpPr>
        <p:spPr>
          <a:xfrm>
            <a:off x="3995936" y="4912247"/>
            <a:ext cx="4968552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Arial" panose="020B0604020202020204" pitchFamily="34" charset="0"/>
              </a:rPr>
              <a:t>目前，线程可能的状态：</a:t>
            </a:r>
            <a:r>
              <a:rPr lang="en-US" altLang="zh-CN" sz="1600" b="1" dirty="0">
                <a:cs typeface="Arial" panose="020B0604020202020204" pitchFamily="34" charset="0"/>
              </a:rPr>
              <a:t>RUNNING</a:t>
            </a:r>
            <a:r>
              <a:rPr lang="en-US" altLang="zh-CN" sz="1600" dirty="0">
                <a:cs typeface="Arial" panose="020B0604020202020204" pitchFamily="34" charset="0"/>
              </a:rPr>
              <a:t>, </a:t>
            </a:r>
            <a:r>
              <a:rPr lang="en-US" altLang="zh-CN" sz="1600" b="1" dirty="0">
                <a:cs typeface="Arial" panose="020B0604020202020204" pitchFamily="34" charset="0"/>
              </a:rPr>
              <a:t>RUNNABLE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br>
              <a:rPr lang="en-US" altLang="zh-CN" sz="1600" dirty="0">
                <a:cs typeface="Arial" panose="020B0604020202020204" pitchFamily="34" charset="0"/>
              </a:rPr>
            </a:br>
            <a:r>
              <a:rPr lang="en-US" altLang="zh-CN" sz="1600" dirty="0">
                <a:cs typeface="Arial" panose="020B0604020202020204" pitchFamily="34" charset="0"/>
              </a:rPr>
              <a:t>(</a:t>
            </a:r>
            <a:r>
              <a:rPr lang="zh-CN" altLang="en-US" sz="1600" dirty="0">
                <a:cs typeface="Arial" panose="020B0604020202020204" pitchFamily="34" charset="0"/>
              </a:rPr>
              <a:t>后面还会有</a:t>
            </a:r>
            <a:r>
              <a:rPr lang="en-US" altLang="zh-CN" sz="1600" b="1" dirty="0">
                <a:cs typeface="Arial" panose="020B0604020202020204" pitchFamily="34" charset="0"/>
              </a:rPr>
              <a:t>WAITING</a:t>
            </a:r>
            <a:r>
              <a:rPr lang="en-US" altLang="zh-CN" sz="1600" dirty="0"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15382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6063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yield():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5494733" y="1345332"/>
            <a:ext cx="144016" cy="864096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854773" y="149108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暂停运行的线程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494733" y="2569468"/>
            <a:ext cx="144016" cy="676911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54773" y="2598307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选择新线程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5494733" y="3649588"/>
            <a:ext cx="144016" cy="862355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854773" y="372159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恢复新线程运行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27576" y="228866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YIELD() </a:t>
            </a:r>
            <a:r>
              <a:rPr lang="zh-CN" altLang="en-US" sz="3200" dirty="0"/>
              <a:t>实现</a:t>
            </a:r>
          </a:p>
        </p:txBody>
      </p:sp>
      <p:sp>
        <p:nvSpPr>
          <p:cNvPr id="12" name="矩形 11"/>
          <p:cNvSpPr/>
          <p:nvPr/>
        </p:nvSpPr>
        <p:spPr>
          <a:xfrm>
            <a:off x="3041576" y="4694873"/>
            <a:ext cx="5922912" cy="8002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 err="1">
                <a:cs typeface="Arial" panose="020B0604020202020204" pitchFamily="34" charset="0"/>
              </a:rPr>
              <a:t>t_lock</a:t>
            </a:r>
            <a:endParaRPr lang="en-US" altLang="zh-CN" sz="1600" b="1" dirty="0"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cs typeface="Arial" panose="020B0604020202020204" pitchFamily="34" charset="0"/>
              </a:rPr>
              <a:t>原子性地设置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cs typeface="Arial" panose="020B0604020202020204" pitchFamily="34" charset="0"/>
              </a:rPr>
              <a:t>threads[</a:t>
            </a:r>
            <a:r>
              <a:rPr lang="zh-CN" altLang="en-US" sz="1600" b="1" dirty="0"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cs typeface="Arial" panose="020B0604020202020204" pitchFamily="34" charset="0"/>
              </a:rPr>
              <a:t>].state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zh-CN" altLang="en-US" sz="1600" dirty="0">
                <a:cs typeface="Arial" panose="020B0604020202020204" pitchFamily="34" charset="0"/>
              </a:rPr>
              <a:t>和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cs typeface="Arial" panose="020B0604020202020204" pitchFamily="34" charset="0"/>
              </a:rPr>
              <a:t>.</a:t>
            </a:r>
            <a:r>
              <a:rPr lang="en-US" altLang="zh-CN" sz="1600" b="1" dirty="0" err="1">
                <a:cs typeface="Arial" panose="020B0604020202020204" pitchFamily="34" charset="0"/>
              </a:rPr>
              <a:t>sp</a:t>
            </a:r>
            <a:endParaRPr lang="en-US" altLang="zh-CN" sz="1600" b="1" dirty="0"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zh-CN" altLang="en-US" sz="1600" dirty="0">
                <a:cs typeface="Arial" panose="020B0604020202020204" pitchFamily="34" charset="0"/>
              </a:rPr>
              <a:t>原子性地找到一个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cs typeface="Arial" panose="020B0604020202020204" pitchFamily="34" charset="0"/>
              </a:rPr>
              <a:t>RUNNABLE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zh-CN" altLang="en-US" sz="1600" dirty="0">
                <a:cs typeface="Arial" panose="020B0604020202020204" pitchFamily="34" charset="0"/>
              </a:rPr>
              <a:t>的线程，并改为</a:t>
            </a:r>
            <a:r>
              <a:rPr lang="en-US" altLang="zh-CN" sz="1600" b="1" dirty="0">
                <a:cs typeface="Arial" panose="020B0604020202020204" pitchFamily="34" charset="0"/>
              </a:rPr>
              <a:t>RUNNING</a:t>
            </a:r>
          </a:p>
        </p:txBody>
      </p:sp>
    </p:spTree>
    <p:extLst>
      <p:ext uri="{BB962C8B-B14F-4D97-AF65-F5344CB8AC3E}">
        <p14:creationId xmlns:p14="http://schemas.microsoft.com/office/powerpoint/2010/main" val="5206680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b="1" dirty="0"/>
              <a:t>条件变量的实现</a:t>
            </a:r>
            <a:r>
              <a:rPr kumimoji="1" lang="zh-CN" altLang="en-US" dirty="0"/>
              <a:t>：</a:t>
            </a:r>
            <a:r>
              <a:rPr kumimoji="1" lang="en-US" altLang="zh-CN" dirty="0"/>
              <a:t>wait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Signal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8919108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使用 </a:t>
            </a:r>
            <a:r>
              <a:rPr lang="en-US" altLang="zh-CN" dirty="0"/>
              <a:t>WAIT/SIGNAL</a:t>
            </a:r>
            <a:r>
              <a:rPr lang="zh-CN" altLang="en-US" dirty="0"/>
              <a:t> 实现</a:t>
            </a:r>
            <a:r>
              <a:rPr lang="en-US" altLang="zh-CN" dirty="0"/>
              <a:t>send</a:t>
            </a:r>
            <a:r>
              <a:rPr lang="zh-CN" altLang="en-US" dirty="0"/>
              <a:t>：直观但错误</a:t>
            </a:r>
          </a:p>
        </p:txBody>
      </p:sp>
      <p:sp>
        <p:nvSpPr>
          <p:cNvPr id="4" name="矩形 3"/>
          <p:cNvSpPr/>
          <p:nvPr/>
        </p:nvSpPr>
        <p:spPr>
          <a:xfrm>
            <a:off x="323528" y="1417340"/>
            <a:ext cx="4572000" cy="31957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send(bb, </a:t>
            </a: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 True: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if bb.in 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bb.buf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[bb.in mod N] &lt;-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bb.in &lt;- bb.in + 1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2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yield()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en-US" sz="1600" dirty="0">
              <a:solidFill>
                <a:srgbClr val="0096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27538" y="1417340"/>
            <a:ext cx="4572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send(bb, </a:t>
            </a: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 True: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if bb.in 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bb.buf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[bb.in mod N] &lt;-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bb.in &lt;- bb.in + 1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signal(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bb.not_empty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wait(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bb.not_full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en-US" sz="1600" dirty="0">
              <a:solidFill>
                <a:srgbClr val="0096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64288" y="4215142"/>
            <a:ext cx="2016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dirty="0">
                <a:solidFill>
                  <a:schemeClr val="accent3"/>
                </a:solidFill>
              </a:rPr>
              <a:t>wait()</a:t>
            </a:r>
            <a:r>
              <a:rPr kumimoji="1" lang="zh-CN" altLang="en-US" sz="1600" dirty="0">
                <a:solidFill>
                  <a:schemeClr val="accent3"/>
                </a:solidFill>
              </a:rPr>
              <a:t> 会调用 </a:t>
            </a:r>
            <a:r>
              <a:rPr kumimoji="1" lang="en-US" altLang="zh-CN" sz="1600" dirty="0">
                <a:solidFill>
                  <a:schemeClr val="accent3"/>
                </a:solidFill>
              </a:rPr>
              <a:t>yield()</a:t>
            </a:r>
            <a:endParaRPr kumimoji="1" lang="zh-CN" altLang="en-US" sz="1600" dirty="0">
              <a:solidFill>
                <a:schemeClr val="accent3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00274" y="3433564"/>
            <a:ext cx="45719" cy="2328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900274" y="4284796"/>
            <a:ext cx="45719" cy="2328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F11A10-1B62-864D-AAC9-F8386B029B97}"/>
              </a:ext>
            </a:extLst>
          </p:cNvPr>
          <p:cNvSpPr txBox="1"/>
          <p:nvPr/>
        </p:nvSpPr>
        <p:spPr>
          <a:xfrm>
            <a:off x="1187624" y="5144313"/>
            <a:ext cx="8280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再次注意：这里的</a:t>
            </a:r>
            <a:r>
              <a:rPr lang="en-US" altLang="zh-CN" dirty="0"/>
              <a:t>wait</a:t>
            </a:r>
            <a:r>
              <a:rPr lang="zh-CN" altLang="en-US" dirty="0"/>
              <a:t>接口是错的，没有把</a:t>
            </a:r>
            <a:r>
              <a:rPr lang="en-US" altLang="zh-CN" dirty="0" err="1"/>
              <a:t>bb.lock</a:t>
            </a:r>
            <a:r>
              <a:rPr lang="zh-CN" altLang="en-US" dirty="0"/>
              <a:t>放进去，先看看会怎么错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6DA152-4237-9E48-A269-69CF6EF46FF0}"/>
              </a:ext>
            </a:extLst>
          </p:cNvPr>
          <p:cNvSpPr txBox="1"/>
          <p:nvPr/>
        </p:nvSpPr>
        <p:spPr>
          <a:xfrm>
            <a:off x="380508" y="4537466"/>
            <a:ext cx="4823010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使用</a:t>
            </a:r>
            <a:r>
              <a:rPr lang="en-US" altLang="zh-CN" b="1" dirty="0"/>
              <a:t>yield</a:t>
            </a:r>
            <a:r>
              <a:rPr lang="zh-CN" altLang="en-US" b="1" dirty="0"/>
              <a:t>的</a:t>
            </a:r>
            <a:r>
              <a:rPr lang="en-US" altLang="zh-CN" b="1" dirty="0"/>
              <a:t>send</a:t>
            </a:r>
            <a:r>
              <a:rPr lang="zh-CN" altLang="en-US" b="1" dirty="0"/>
              <a:t>版本（依然浪费</a:t>
            </a:r>
            <a:r>
              <a:rPr lang="en-US" altLang="zh-CN" b="1" dirty="0"/>
              <a:t>CPU</a:t>
            </a:r>
            <a:r>
              <a:rPr lang="zh-CN" altLang="en-US" b="1" dirty="0"/>
              <a:t>）</a:t>
            </a:r>
            <a:endParaRPr lang="en-US" altLang="zh-CN" sz="1800" b="1" dirty="0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9F0CC0D4-BC1F-8F48-B55D-115F0E745D13}"/>
              </a:ext>
            </a:extLst>
          </p:cNvPr>
          <p:cNvSpPr/>
          <p:nvPr/>
        </p:nvSpPr>
        <p:spPr>
          <a:xfrm>
            <a:off x="4427984" y="2353444"/>
            <a:ext cx="288032" cy="288032"/>
          </a:xfrm>
          <a:prstGeom prst="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2355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Lost Notification</a:t>
            </a:r>
            <a:r>
              <a:rPr lang="zh-CN" altLang="en-US" dirty="0"/>
              <a:t> 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7FB38-4DA8-4D40-A1B7-468F17DAFC82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1397000"/>
            <a:ext cx="73025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5B8D949-1F86-6A4A-BAAF-F2D9D0324E77}"/>
              </a:ext>
            </a:extLst>
          </p:cNvPr>
          <p:cNvSpPr/>
          <p:nvPr/>
        </p:nvSpPr>
        <p:spPr>
          <a:xfrm>
            <a:off x="5729744" y="2592710"/>
            <a:ext cx="1146512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即</a:t>
            </a:r>
            <a:r>
              <a:rPr kumimoji="1" lang="en-US" altLang="zh-CN" dirty="0">
                <a:solidFill>
                  <a:schemeClr val="tx1"/>
                </a:solidFill>
              </a:rPr>
              <a:t>signal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035EB5-D2E2-1E45-9CC6-51372A7586E9}"/>
              </a:ext>
            </a:extLst>
          </p:cNvPr>
          <p:cNvSpPr/>
          <p:nvPr/>
        </p:nvSpPr>
        <p:spPr>
          <a:xfrm>
            <a:off x="4433148" y="2448694"/>
            <a:ext cx="498892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61A19B-A2C2-7048-B738-77DE2B5ADC5E}"/>
              </a:ext>
            </a:extLst>
          </p:cNvPr>
          <p:cNvSpPr/>
          <p:nvPr/>
        </p:nvSpPr>
        <p:spPr>
          <a:xfrm>
            <a:off x="1475656" y="1602264"/>
            <a:ext cx="273630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C3A39A-419A-5B44-A881-5E4CF8E3D8A7}"/>
              </a:ext>
            </a:extLst>
          </p:cNvPr>
          <p:cNvSpPr/>
          <p:nvPr/>
        </p:nvSpPr>
        <p:spPr>
          <a:xfrm>
            <a:off x="6246068" y="1673312"/>
            <a:ext cx="498892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4643FB-CAC6-B847-9340-9B9C16863D23}"/>
              </a:ext>
            </a:extLst>
          </p:cNvPr>
          <p:cNvSpPr/>
          <p:nvPr/>
        </p:nvSpPr>
        <p:spPr>
          <a:xfrm>
            <a:off x="6553200" y="1849388"/>
            <a:ext cx="1331168" cy="360040"/>
          </a:xfrm>
          <a:prstGeom prst="rect">
            <a:avLst/>
          </a:prstGeom>
          <a:noFill/>
          <a:ln>
            <a:solidFill>
              <a:srgbClr val="FF2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084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带锁参数的</a:t>
            </a:r>
            <a:r>
              <a:rPr lang="en-US" altLang="zh-CN" dirty="0"/>
              <a:t>API: WAIT(</a:t>
            </a:r>
            <a:r>
              <a:rPr lang="en-US" altLang="zh-CN" dirty="0" err="1"/>
              <a:t>bb.full</a:t>
            </a:r>
            <a:r>
              <a:rPr lang="en-US" altLang="zh-CN" dirty="0"/>
              <a:t>, </a:t>
            </a:r>
            <a:r>
              <a:rPr lang="en-US" altLang="zh-CN" dirty="0" err="1"/>
              <a:t>bb.lock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1520" y="1417340"/>
            <a:ext cx="4572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send(bb, </a:t>
            </a: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 True: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if bb.in 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bb.buf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[bb.in mod N] &lt;-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bb.in &lt;- bb.in + 1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signal(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bb.not_empty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wait(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bb.not_full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en-US" sz="1600" dirty="0">
              <a:solidFill>
                <a:srgbClr val="0096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27538" y="1417340"/>
            <a:ext cx="4572000" cy="37600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send(bb, </a:t>
            </a: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 True: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if bb.in 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bb.buf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[bb.in mod N] &lt;-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bb.in &lt;- bb.in + 1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signal(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bb.not_empty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wait(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bb.not_full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wait(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bb.not_full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170644" y="4106350"/>
            <a:ext cx="19442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170644" y="4416962"/>
            <a:ext cx="19442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170644" y="4692637"/>
            <a:ext cx="19442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右箭头 9">
            <a:extLst>
              <a:ext uri="{FF2B5EF4-FFF2-40B4-BE49-F238E27FC236}">
                <a16:creationId xmlns:a16="http://schemas.microsoft.com/office/drawing/2014/main" id="{918E73AD-CDFC-B046-972F-16C71A32339D}"/>
              </a:ext>
            </a:extLst>
          </p:cNvPr>
          <p:cNvSpPr/>
          <p:nvPr/>
        </p:nvSpPr>
        <p:spPr>
          <a:xfrm>
            <a:off x="4427984" y="2353444"/>
            <a:ext cx="288032" cy="288032"/>
          </a:xfrm>
          <a:prstGeom prst="right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04ADF45-D9B1-4545-B4FA-5CA13B948012}"/>
              </a:ext>
            </a:extLst>
          </p:cNvPr>
          <p:cNvSpPr/>
          <p:nvPr/>
        </p:nvSpPr>
        <p:spPr>
          <a:xfrm>
            <a:off x="4823520" y="4692637"/>
            <a:ext cx="3564904" cy="54112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2273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WAIT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90421" y="1129308"/>
            <a:ext cx="388798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2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2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8" name="矩形 7"/>
          <p:cNvSpPr/>
          <p:nvPr/>
        </p:nvSpPr>
        <p:spPr>
          <a:xfrm>
            <a:off x="7566146" y="2570980"/>
            <a:ext cx="1350882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  <a:ea typeface="等线" panose="02010600030101010101" pitchFamily="2" charset="-122"/>
                <a:cs typeface="Consolas" panose="020B0609020204030204" pitchFamily="49" charset="0"/>
              </a:rPr>
              <a:t>Not yield()</a:t>
            </a:r>
            <a:endParaRPr lang="en-US" altLang="zh-CN" dirty="0">
              <a:latin typeface="Consolas" panose="020B0609020204030204" pitchFamily="49" charset="0"/>
              <a:ea typeface="等线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37638" y="4217993"/>
            <a:ext cx="4849084" cy="12874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使用</a:t>
            </a:r>
            <a:r>
              <a:rPr lang="en-US" altLang="zh-CN" dirty="0">
                <a:cs typeface="Arial" panose="020B0604020202020204" pitchFamily="34" charset="0"/>
              </a:rPr>
              <a:t> </a:t>
            </a:r>
            <a:r>
              <a:rPr lang="en-US" altLang="zh-CN" b="1" dirty="0" err="1">
                <a:cs typeface="Arial" panose="020B0604020202020204" pitchFamily="34" charset="0"/>
              </a:rPr>
              <a:t>t_lock</a:t>
            </a:r>
            <a:r>
              <a:rPr lang="en-US" altLang="zh-CN" dirty="0">
                <a:cs typeface="Arial" panose="020B0604020202020204" pitchFamily="34" charset="0"/>
              </a:rPr>
              <a:t> </a:t>
            </a:r>
            <a:r>
              <a:rPr lang="zh-CN" altLang="en-US" dirty="0">
                <a:cs typeface="Arial" panose="020B0604020202020204" pitchFamily="34" charset="0"/>
              </a:rPr>
              <a:t>来保证放</a:t>
            </a:r>
            <a:r>
              <a:rPr lang="en-US" altLang="zh-CN" dirty="0">
                <a:cs typeface="Arial" panose="020B0604020202020204" pitchFamily="34" charset="0"/>
              </a:rPr>
              <a:t>lock</a:t>
            </a:r>
            <a:r>
              <a:rPr lang="zh-CN" altLang="en-US" dirty="0">
                <a:cs typeface="Arial" panose="020B0604020202020204" pitchFamily="34" charset="0"/>
              </a:rPr>
              <a:t>和</a:t>
            </a:r>
            <a:r>
              <a:rPr lang="en-US" altLang="zh-CN" dirty="0">
                <a:cs typeface="Arial" panose="020B0604020202020204" pitchFamily="34" charset="0"/>
              </a:rPr>
              <a:t>yield</a:t>
            </a:r>
            <a:r>
              <a:rPr lang="zh-CN" altLang="en-US" dirty="0">
                <a:cs typeface="Arial" panose="020B0604020202020204" pitchFamily="34" charset="0"/>
              </a:rPr>
              <a:t>的原子性</a:t>
            </a:r>
            <a:endParaRPr lang="en-US" altLang="zh-CN" dirty="0"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cs typeface="Arial" panose="020B0604020202020204" pitchFamily="34" charset="0"/>
              </a:rPr>
              <a:t>注意：</a:t>
            </a:r>
            <a:r>
              <a:rPr lang="en-US" altLang="zh-CN" b="1" dirty="0" err="1">
                <a:cs typeface="Arial" panose="020B0604020202020204" pitchFamily="34" charset="0"/>
              </a:rPr>
              <a:t>t_lock</a:t>
            </a:r>
            <a:r>
              <a:rPr lang="en-US" altLang="zh-CN" dirty="0">
                <a:cs typeface="Arial" panose="020B0604020202020204" pitchFamily="34" charset="0"/>
              </a:rPr>
              <a:t> </a:t>
            </a:r>
            <a:r>
              <a:rPr lang="zh-CN" altLang="en-US" dirty="0">
                <a:cs typeface="Arial" panose="020B0604020202020204" pitchFamily="34" charset="0"/>
              </a:rPr>
              <a:t>和</a:t>
            </a:r>
            <a:r>
              <a:rPr lang="en-US" altLang="zh-CN" dirty="0">
                <a:cs typeface="Arial" panose="020B0604020202020204" pitchFamily="34" charset="0"/>
              </a:rPr>
              <a:t> </a:t>
            </a:r>
            <a:r>
              <a:rPr lang="en-US" altLang="zh-CN" b="1" dirty="0">
                <a:cs typeface="Arial" panose="020B0604020202020204" pitchFamily="34" charset="0"/>
              </a:rPr>
              <a:t>lock</a:t>
            </a:r>
            <a:r>
              <a:rPr lang="zh-CN" altLang="en-US" b="1" dirty="0">
                <a:cs typeface="Arial" panose="020B0604020202020204" pitchFamily="34" charset="0"/>
              </a:rPr>
              <a:t> </a:t>
            </a:r>
            <a:r>
              <a:rPr lang="zh-CN" altLang="en-US" dirty="0">
                <a:cs typeface="Arial" panose="020B0604020202020204" pitchFamily="34" charset="0"/>
              </a:rPr>
              <a:t>的顺序很重要</a:t>
            </a:r>
            <a:endParaRPr lang="en-US" altLang="zh-CN" dirty="0">
              <a:cs typeface="Arial" panose="020B060402020202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Arial" panose="020B0604020202020204" pitchFamily="34" charset="0"/>
              </a:rPr>
              <a:t>如果先放 </a:t>
            </a:r>
            <a:r>
              <a:rPr lang="en-US" altLang="zh-CN" sz="1600" dirty="0">
                <a:cs typeface="Arial" panose="020B0604020202020204" pitchFamily="34" charset="0"/>
              </a:rPr>
              <a:t>unlock(lock)</a:t>
            </a:r>
            <a:r>
              <a:rPr lang="zh-CN" altLang="en-US" sz="1600" dirty="0">
                <a:cs typeface="Arial" panose="020B0604020202020204" pitchFamily="34" charset="0"/>
              </a:rPr>
              <a:t>，会怎么样？</a:t>
            </a:r>
            <a:endParaRPr lang="en-US" altLang="zh-CN" sz="1600" dirty="0"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4184" y="1063088"/>
            <a:ext cx="4572000" cy="29136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send(bb, </a:t>
            </a: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 True: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if bb.in 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bb.out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&lt; N: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bb.buf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[bb.in mod N] &lt;-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bb.in &lt;- bb.in + 1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unlock(</a:t>
            </a:r>
            <a:r>
              <a:rPr lang="en-US" altLang="zh-CN" sz="1600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signal(</a:t>
            </a:r>
            <a:r>
              <a:rPr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bb.not_empty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return</a:t>
            </a:r>
          </a:p>
          <a:p>
            <a:pPr>
              <a:lnSpc>
                <a:spcPts val="2200"/>
              </a:lnSpc>
            </a:pPr>
            <a:r>
              <a:rPr lang="zh-CN" altLang="en-US" sz="1600" b="1" dirty="0">
                <a:solidFill>
                  <a:schemeClr val="accent6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600" b="1" dirty="0">
                <a:solidFill>
                  <a:schemeClr val="accent3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wait(</a:t>
            </a:r>
            <a:r>
              <a:rPr lang="en-US" altLang="zh-CN" sz="1600" b="1" dirty="0" err="1">
                <a:solidFill>
                  <a:schemeClr val="accent3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bb.not_full</a:t>
            </a:r>
            <a:r>
              <a:rPr lang="en-US" altLang="zh-CN" sz="1600" b="1" dirty="0">
                <a:solidFill>
                  <a:schemeClr val="accent3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600" b="1" dirty="0" err="1">
                <a:solidFill>
                  <a:schemeClr val="accent3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bb.lock</a:t>
            </a:r>
            <a:r>
              <a:rPr lang="en-US" altLang="zh-CN" sz="1600" b="1" dirty="0">
                <a:solidFill>
                  <a:schemeClr val="accent3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CN" altLang="en-US" sz="1600" b="1" dirty="0">
              <a:solidFill>
                <a:schemeClr val="accent3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H="1">
            <a:off x="6941843" y="2742589"/>
            <a:ext cx="5598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5E5A61D3-7DD0-9B45-A766-64B94E817579}"/>
              </a:ext>
            </a:extLst>
          </p:cNvPr>
          <p:cNvCxnSpPr>
            <a:cxnSpLocks/>
          </p:cNvCxnSpPr>
          <p:nvPr/>
        </p:nvCxnSpPr>
        <p:spPr>
          <a:xfrm>
            <a:off x="4139952" y="3813067"/>
            <a:ext cx="576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32D1065A-9797-9A44-B91F-2A24A0E96EBE}"/>
              </a:ext>
            </a:extLst>
          </p:cNvPr>
          <p:cNvCxnSpPr>
            <a:cxnSpLocks/>
          </p:cNvCxnSpPr>
          <p:nvPr/>
        </p:nvCxnSpPr>
        <p:spPr>
          <a:xfrm flipV="1">
            <a:off x="4716016" y="1364796"/>
            <a:ext cx="0" cy="2448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4FBACA9-984D-6141-A6BD-1FAB72BB4D22}"/>
              </a:ext>
            </a:extLst>
          </p:cNvPr>
          <p:cNvCxnSpPr/>
          <p:nvPr/>
        </p:nvCxnSpPr>
        <p:spPr>
          <a:xfrm>
            <a:off x="4716016" y="1364796"/>
            <a:ext cx="1744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下箭头 23">
            <a:extLst>
              <a:ext uri="{FF2B5EF4-FFF2-40B4-BE49-F238E27FC236}">
                <a16:creationId xmlns:a16="http://schemas.microsoft.com/office/drawing/2014/main" id="{F3CCFD4B-F05B-3C4C-B67F-72B5CB5CE540}"/>
              </a:ext>
            </a:extLst>
          </p:cNvPr>
          <p:cNvSpPr/>
          <p:nvPr/>
        </p:nvSpPr>
        <p:spPr>
          <a:xfrm>
            <a:off x="6228184" y="3649588"/>
            <a:ext cx="504056" cy="32711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97828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WAIT &amp; SIGNAL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39552" y="1181366"/>
            <a:ext cx="388798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2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26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3721596"/>
            <a:ext cx="7344816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signal(cv):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for I = 0 to N-1: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if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].cv == cv &amp;&amp;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].state == WAITING: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29184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6063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yield():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5494733" y="1345332"/>
            <a:ext cx="144016" cy="864096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854773" y="15613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暂停运行线程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5494733" y="2569468"/>
            <a:ext cx="144016" cy="676911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54773" y="270419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找到新线程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右大括号 8"/>
          <p:cNvSpPr/>
          <p:nvPr/>
        </p:nvSpPr>
        <p:spPr>
          <a:xfrm>
            <a:off x="5494733" y="3649588"/>
            <a:ext cx="144016" cy="862355"/>
          </a:xfrm>
          <a:prstGeom prst="rightBrace">
            <a:avLst>
              <a:gd name="adj1" fmla="val 59393"/>
              <a:gd name="adj2" fmla="val 50000"/>
            </a:avLst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854773" y="385632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恢复新线程运行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4788024" y="228866"/>
            <a:ext cx="3898776" cy="952500"/>
          </a:xfrm>
        </p:spPr>
        <p:txBody>
          <a:bodyPr>
            <a:noAutofit/>
          </a:bodyPr>
          <a:lstStyle/>
          <a:p>
            <a:r>
              <a:rPr lang="zh-CN" altLang="en-US" sz="3200" dirty="0"/>
              <a:t>回顾下</a:t>
            </a:r>
            <a:r>
              <a:rPr lang="en-US" altLang="zh-CN" sz="3200" dirty="0"/>
              <a:t>YIELD</a:t>
            </a:r>
            <a:r>
              <a:rPr lang="zh-CN" altLang="en-US" sz="3200" dirty="0"/>
              <a:t>的实现</a:t>
            </a:r>
          </a:p>
        </p:txBody>
      </p:sp>
    </p:spTree>
    <p:extLst>
      <p:ext uri="{BB962C8B-B14F-4D97-AF65-F5344CB8AC3E}">
        <p14:creationId xmlns:p14="http://schemas.microsoft.com/office/powerpoint/2010/main" val="24172273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6063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 // called by wait()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09639" y="170332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YIELD_WAIT()</a:t>
            </a:r>
            <a:endParaRPr lang="zh-CN" altLang="en-US" sz="3200" dirty="0"/>
          </a:p>
        </p:txBody>
      </p:sp>
      <p:cxnSp>
        <p:nvCxnSpPr>
          <p:cNvPr id="12" name="直接连接符 11"/>
          <p:cNvCxnSpPr/>
          <p:nvPr/>
        </p:nvCxnSpPr>
        <p:spPr>
          <a:xfrm>
            <a:off x="899592" y="913284"/>
            <a:ext cx="19442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899592" y="4801716"/>
            <a:ext cx="19442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644008" y="4405411"/>
            <a:ext cx="4176464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cs typeface="Arial" panose="020B0604020202020204" pitchFamily="34" charset="0"/>
              </a:rPr>
              <a:t>t_lock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zh-CN" altLang="en-US" sz="1600" dirty="0">
                <a:cs typeface="Arial" panose="020B0604020202020204" pitchFamily="34" charset="0"/>
              </a:rPr>
              <a:t>已经被</a:t>
            </a:r>
            <a:r>
              <a:rPr lang="en-US" altLang="zh-CN" sz="1600" dirty="0">
                <a:cs typeface="Arial" panose="020B0604020202020204" pitchFamily="34" charset="0"/>
              </a:rPr>
              <a:t> wait()</a:t>
            </a:r>
            <a:r>
              <a:rPr lang="zh-CN" altLang="en-US" sz="1600" dirty="0">
                <a:cs typeface="Arial" panose="020B0604020202020204" pitchFamily="34" charset="0"/>
              </a:rPr>
              <a:t> 拿到，不需要再拿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09639" y="1537741"/>
            <a:ext cx="388798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16" name="矩形 15"/>
          <p:cNvSpPr/>
          <p:nvPr/>
        </p:nvSpPr>
        <p:spPr>
          <a:xfrm>
            <a:off x="4636235" y="4905662"/>
            <a:ext cx="4176464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cs typeface="Arial" panose="020B0604020202020204" pitchFamily="34" charset="0"/>
              </a:rPr>
              <a:t>当前线程已被设为</a:t>
            </a:r>
            <a:r>
              <a:rPr lang="en-US" altLang="zh-CN" sz="1600" b="1" dirty="0">
                <a:cs typeface="Arial" panose="020B0604020202020204" pitchFamily="34" charset="0"/>
              </a:rPr>
              <a:t>WAITING</a:t>
            </a:r>
            <a:r>
              <a:rPr lang="zh-CN" altLang="en-US" sz="1600" dirty="0">
                <a:cs typeface="Arial" panose="020B0604020202020204" pitchFamily="34" charset="0"/>
              </a:rPr>
              <a:t>，不再设为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b="1" dirty="0">
                <a:cs typeface="Arial" panose="020B0604020202020204" pitchFamily="34" charset="0"/>
              </a:rPr>
              <a:t>RUNNABLE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899592" y="1705372"/>
            <a:ext cx="33123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796136" y="2425452"/>
            <a:ext cx="230425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5796136" y="2713484"/>
            <a:ext cx="309634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右大括号 18"/>
          <p:cNvSpPr/>
          <p:nvPr/>
        </p:nvSpPr>
        <p:spPr>
          <a:xfrm>
            <a:off x="5004048" y="481236"/>
            <a:ext cx="216024" cy="3816423"/>
          </a:xfrm>
          <a:prstGeom prst="rightBrace">
            <a:avLst>
              <a:gd name="adj1" fmla="val 75584"/>
              <a:gd name="adj2" fmla="val 69413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5329904" y="3132713"/>
            <a:ext cx="28803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0631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31957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 // called by wait()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09639" y="170332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YIELD_WAIT()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5309639" y="1537741"/>
            <a:ext cx="388798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9" name="矩形 8"/>
          <p:cNvSpPr/>
          <p:nvPr/>
        </p:nvSpPr>
        <p:spPr>
          <a:xfrm>
            <a:off x="323528" y="3883576"/>
            <a:ext cx="8640960" cy="17049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cs typeface="Arial" panose="020B0604020202020204" pitchFamily="34" charset="0"/>
              </a:rPr>
              <a:t>问题</a:t>
            </a:r>
            <a:r>
              <a:rPr lang="en-US" altLang="zh-CN" b="1" dirty="0">
                <a:cs typeface="Arial" panose="020B0604020202020204" pitchFamily="34" charset="0"/>
              </a:rPr>
              <a:t>: </a:t>
            </a:r>
            <a:r>
              <a:rPr lang="zh-CN" altLang="en-US" b="1" dirty="0">
                <a:cs typeface="Arial" panose="020B0604020202020204" pitchFamily="34" charset="0"/>
              </a:rPr>
              <a:t>如果当前</a:t>
            </a:r>
            <a:r>
              <a:rPr lang="en-US" altLang="zh-CN" b="1" dirty="0">
                <a:cs typeface="Arial" panose="020B0604020202020204" pitchFamily="34" charset="0"/>
              </a:rPr>
              <a:t>threads[]</a:t>
            </a:r>
            <a:r>
              <a:rPr lang="zh-CN" altLang="en-US" b="1" dirty="0">
                <a:cs typeface="Arial" panose="020B0604020202020204" pitchFamily="34" charset="0"/>
              </a:rPr>
              <a:t>中没有一个</a:t>
            </a:r>
            <a:r>
              <a:rPr lang="en-US" altLang="zh-CN" b="1" dirty="0">
                <a:cs typeface="Arial" panose="020B0604020202020204" pitchFamily="34" charset="0"/>
              </a:rPr>
              <a:t> RUNNABLE</a:t>
            </a:r>
            <a:r>
              <a:rPr lang="zh-CN" altLang="en-US" b="1" dirty="0">
                <a:cs typeface="Arial" panose="020B0604020202020204" pitchFamily="34" charset="0"/>
              </a:rPr>
              <a:t> 的线程，会怎么样？</a:t>
            </a:r>
            <a:endParaRPr lang="en-US" altLang="zh-CN" b="1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cs typeface="Arial" panose="020B0604020202020204" pitchFamily="34" charset="0"/>
              </a:rPr>
              <a:t>yield_wait</a:t>
            </a:r>
            <a:r>
              <a:rPr lang="en-US" altLang="zh-CN" dirty="0">
                <a:cs typeface="Arial" panose="020B0604020202020204" pitchFamily="34" charset="0"/>
              </a:rPr>
              <a:t>()</a:t>
            </a:r>
            <a:r>
              <a:rPr lang="zh-CN" altLang="en-US" dirty="0">
                <a:cs typeface="Arial" panose="020B0604020202020204" pitchFamily="34" charset="0"/>
              </a:rPr>
              <a:t>将一直在循环中，而且拿着</a:t>
            </a:r>
            <a:r>
              <a:rPr lang="en-US" altLang="zh-CN" dirty="0">
                <a:cs typeface="Arial" panose="020B0604020202020204" pitchFamily="34" charset="0"/>
              </a:rPr>
              <a:t> </a:t>
            </a:r>
            <a:r>
              <a:rPr lang="en-US" altLang="zh-CN" dirty="0" err="1">
                <a:cs typeface="Arial" panose="020B0604020202020204" pitchFamily="34" charset="0"/>
              </a:rPr>
              <a:t>t_lock</a:t>
            </a:r>
            <a:r>
              <a:rPr lang="zh-CN" altLang="en-US" dirty="0">
                <a:cs typeface="Arial" panose="020B0604020202020204" pitchFamily="34" charset="0"/>
              </a:rPr>
              <a:t>！</a:t>
            </a:r>
            <a:endParaRPr lang="en-US" altLang="zh-CN" dirty="0"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Arial" panose="020B0604020202020204" pitchFamily="34" charset="0"/>
              </a:rPr>
              <a:t>    除非其他</a:t>
            </a:r>
            <a:r>
              <a:rPr lang="en-US" altLang="zh-CN" dirty="0">
                <a:cs typeface="Arial" panose="020B0604020202020204" pitchFamily="34" charset="0"/>
              </a:rPr>
              <a:t>CPU</a:t>
            </a:r>
            <a:r>
              <a:rPr lang="zh-CN" altLang="en-US" dirty="0">
                <a:cs typeface="Arial" panose="020B0604020202020204" pitchFamily="34" charset="0"/>
              </a:rPr>
              <a:t>运行</a:t>
            </a:r>
            <a:r>
              <a:rPr lang="en-US" altLang="zh-CN" dirty="0">
                <a:cs typeface="Arial" panose="020B0604020202020204" pitchFamily="34" charset="0"/>
              </a:rPr>
              <a:t>signal</a:t>
            </a:r>
            <a:r>
              <a:rPr lang="zh-CN" altLang="en-US" dirty="0">
                <a:cs typeface="Arial" panose="020B0604020202020204" pitchFamily="34" charset="0"/>
              </a:rPr>
              <a:t>，将某些线程唤醒，状态设置为</a:t>
            </a:r>
            <a:r>
              <a:rPr lang="en-US" altLang="zh-CN" dirty="0">
                <a:cs typeface="Arial" panose="020B0604020202020204" pitchFamily="34" charset="0"/>
              </a:rPr>
              <a:t>RUNNABLE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Arial" panose="020B0604020202020204" pitchFamily="34" charset="0"/>
              </a:rPr>
              <a:t>    </a:t>
            </a:r>
            <a:r>
              <a:rPr lang="zh-CN" altLang="en-US" dirty="0">
                <a:cs typeface="Arial" panose="020B0604020202020204" pitchFamily="34" charset="0"/>
              </a:rPr>
              <a:t>但运行</a:t>
            </a:r>
            <a:r>
              <a:rPr lang="en-US" altLang="zh-CN" dirty="0">
                <a:cs typeface="Arial" panose="020B0604020202020204" pitchFamily="34" charset="0"/>
              </a:rPr>
              <a:t> signal</a:t>
            </a:r>
            <a:r>
              <a:rPr lang="zh-CN" altLang="en-US" dirty="0">
                <a:cs typeface="Arial" panose="020B0604020202020204" pitchFamily="34" charset="0"/>
              </a:rPr>
              <a:t> 需要拿到 </a:t>
            </a:r>
            <a:r>
              <a:rPr lang="en-US" altLang="zh-CN" dirty="0" err="1">
                <a:cs typeface="Arial" panose="020B0604020202020204" pitchFamily="34" charset="0"/>
              </a:rPr>
              <a:t>t_lock</a:t>
            </a:r>
            <a:r>
              <a:rPr lang="zh-CN" altLang="en-US" dirty="0">
                <a:cs typeface="Arial" panose="020B0604020202020204" pitchFamily="34" charset="0"/>
              </a:rPr>
              <a:t>，而拿着 </a:t>
            </a:r>
            <a:r>
              <a:rPr lang="en-US" altLang="zh-CN" dirty="0" err="1">
                <a:cs typeface="Arial" panose="020B0604020202020204" pitchFamily="34" charset="0"/>
              </a:rPr>
              <a:t>t_lock</a:t>
            </a:r>
            <a:r>
              <a:rPr lang="zh-CN" altLang="en-US" dirty="0">
                <a:cs typeface="Arial" panose="020B0604020202020204" pitchFamily="34" charset="0"/>
              </a:rPr>
              <a:t>的</a:t>
            </a:r>
            <a:r>
              <a:rPr lang="en-US" altLang="zh-CN" dirty="0">
                <a:cs typeface="Arial" panose="020B0604020202020204" pitchFamily="34" charset="0"/>
              </a:rPr>
              <a:t>CPU</a:t>
            </a:r>
            <a:r>
              <a:rPr lang="zh-CN" altLang="en-US" dirty="0">
                <a:cs typeface="Arial" panose="020B0604020202020204" pitchFamily="34" charset="0"/>
              </a:rPr>
              <a:t>正在循环中</a:t>
            </a:r>
            <a:r>
              <a:rPr lang="en-US" altLang="zh-CN" dirty="0">
                <a:cs typeface="Arial" panose="020B0604020202020204" pitchFamily="34" charset="0"/>
              </a:rPr>
              <a:t>! =&gt; </a:t>
            </a:r>
            <a:r>
              <a:rPr lang="en-US" altLang="zh-CN" b="1" dirty="0">
                <a:solidFill>
                  <a:schemeClr val="accent1"/>
                </a:solidFill>
                <a:cs typeface="Arial" panose="020B0604020202020204" pitchFamily="34" charset="0"/>
              </a:rPr>
              <a:t>deadlock</a:t>
            </a:r>
            <a:r>
              <a:rPr lang="en-US" altLang="zh-CN" dirty="0">
                <a:cs typeface="Arial" panose="020B0604020202020204" pitchFamily="34" charset="0"/>
              </a:rPr>
              <a:t>!</a:t>
            </a:r>
          </a:p>
        </p:txBody>
      </p:sp>
      <p:sp>
        <p:nvSpPr>
          <p:cNvPr id="2" name="右大括号 1"/>
          <p:cNvSpPr/>
          <p:nvPr/>
        </p:nvSpPr>
        <p:spPr>
          <a:xfrm>
            <a:off x="5004048" y="481237"/>
            <a:ext cx="216024" cy="3123738"/>
          </a:xfrm>
          <a:prstGeom prst="rightBrace">
            <a:avLst>
              <a:gd name="adj1" fmla="val 75584"/>
              <a:gd name="adj2" fmla="val 84864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5329904" y="3132713"/>
            <a:ext cx="28803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D880034-EB2F-A348-ACEA-440E904C678E}"/>
              </a:ext>
            </a:extLst>
          </p:cNvPr>
          <p:cNvSpPr txBox="1"/>
          <p:nvPr/>
        </p:nvSpPr>
        <p:spPr>
          <a:xfrm>
            <a:off x="2987824" y="1537741"/>
            <a:ext cx="212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可能永远在循环！</a:t>
            </a:r>
          </a:p>
        </p:txBody>
      </p:sp>
    </p:spTree>
    <p:extLst>
      <p:ext uri="{BB962C8B-B14F-4D97-AF65-F5344CB8AC3E}">
        <p14:creationId xmlns:p14="http://schemas.microsoft.com/office/powerpoint/2010/main" val="2868679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376000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 // called by wait()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09639" y="170332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YIELD_WAIT()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5309639" y="1537741"/>
            <a:ext cx="388798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2" name="矩形 1"/>
          <p:cNvSpPr/>
          <p:nvPr/>
        </p:nvSpPr>
        <p:spPr>
          <a:xfrm>
            <a:off x="1115616" y="2137420"/>
            <a:ext cx="2448272" cy="576064"/>
          </a:xfrm>
          <a:prstGeom prst="rect">
            <a:avLst/>
          </a:prstGeom>
          <a:solidFill>
            <a:srgbClr val="FF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31540" y="4200095"/>
            <a:ext cx="8280920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>
                <a:cs typeface="Arial" panose="020B0604020202020204" pitchFamily="34" charset="0"/>
              </a:rPr>
              <a:t>问题</a:t>
            </a:r>
            <a:r>
              <a:rPr lang="en-US" altLang="zh-CN" sz="1600" b="1" dirty="0">
                <a:cs typeface="Arial" panose="020B0604020202020204" pitchFamily="34" charset="0"/>
              </a:rPr>
              <a:t>: </a:t>
            </a:r>
            <a:r>
              <a:rPr lang="zh-CN" altLang="en-US" sz="1600" b="1" dirty="0">
                <a:cs typeface="Arial" panose="020B0604020202020204" pitchFamily="34" charset="0"/>
              </a:rPr>
              <a:t>一旦</a:t>
            </a:r>
            <a:r>
              <a:rPr lang="en-US" altLang="zh-CN" sz="1600" b="1" dirty="0">
                <a:cs typeface="Arial" panose="020B0604020202020204" pitchFamily="34" charset="0"/>
              </a:rPr>
              <a:t> </a:t>
            </a:r>
            <a:r>
              <a:rPr lang="en-US" altLang="zh-CN" sz="1600" b="1" dirty="0" err="1">
                <a:cs typeface="Arial" panose="020B0604020202020204" pitchFamily="34" charset="0"/>
              </a:rPr>
              <a:t>yield_wait</a:t>
            </a:r>
            <a:r>
              <a:rPr lang="en-US" altLang="zh-CN" sz="1600" b="1" dirty="0">
                <a:cs typeface="Arial" panose="020B0604020202020204" pitchFamily="34" charset="0"/>
              </a:rPr>
              <a:t>() </a:t>
            </a:r>
            <a:r>
              <a:rPr lang="zh-CN" altLang="en-US" sz="1600" b="1" dirty="0">
                <a:cs typeface="Arial" panose="020B0604020202020204" pitchFamily="34" charset="0"/>
              </a:rPr>
              <a:t>释放</a:t>
            </a:r>
            <a:r>
              <a:rPr lang="en-US" altLang="zh-CN" sz="1600" b="1" dirty="0">
                <a:cs typeface="Arial" panose="020B0604020202020204" pitchFamily="34" charset="0"/>
              </a:rPr>
              <a:t> </a:t>
            </a:r>
            <a:r>
              <a:rPr lang="en-US" altLang="zh-CN" sz="1600" b="1" dirty="0" err="1">
                <a:cs typeface="Arial" panose="020B0604020202020204" pitchFamily="34" charset="0"/>
              </a:rPr>
              <a:t>t_lock</a:t>
            </a:r>
            <a:r>
              <a:rPr lang="en-US" altLang="zh-CN" sz="1600" b="1" dirty="0">
                <a:cs typeface="Arial" panose="020B0604020202020204" pitchFamily="34" charset="0"/>
              </a:rPr>
              <a:t>, </a:t>
            </a:r>
            <a:r>
              <a:rPr lang="zh-CN" altLang="en-US" sz="1600" b="1" dirty="0">
                <a:cs typeface="Arial" panose="020B0604020202020204" pitchFamily="34" charset="0"/>
              </a:rPr>
              <a:t>另一个</a:t>
            </a:r>
            <a:r>
              <a:rPr lang="en-US" altLang="zh-CN" sz="1600" b="1" dirty="0">
                <a:cs typeface="Arial" panose="020B0604020202020204" pitchFamily="34" charset="0"/>
              </a:rPr>
              <a:t> CPU </a:t>
            </a:r>
            <a:r>
              <a:rPr lang="zh-CN" altLang="en-US" sz="1600" b="1" dirty="0">
                <a:cs typeface="Arial" panose="020B0604020202020204" pitchFamily="34" charset="0"/>
              </a:rPr>
              <a:t>可能立刻运行当前线程，</a:t>
            </a:r>
            <a:r>
              <a:rPr lang="zh-CN" altLang="en-US" sz="1600" b="1" dirty="0">
                <a:solidFill>
                  <a:schemeClr val="accent1"/>
                </a:solidFill>
                <a:cs typeface="Arial" panose="020B0604020202020204" pitchFamily="34" charset="0"/>
              </a:rPr>
              <a:t>导致</a:t>
            </a:r>
            <a:r>
              <a:rPr lang="en-US" altLang="zh-CN" sz="1600" b="1" dirty="0">
                <a:solidFill>
                  <a:schemeClr val="accent1"/>
                </a:solidFill>
                <a:cs typeface="Arial" panose="020B0604020202020204" pitchFamily="34" charset="0"/>
              </a:rPr>
              <a:t>2</a:t>
            </a:r>
            <a:r>
              <a:rPr lang="zh-CN" altLang="en-US" sz="1600" b="1" dirty="0">
                <a:solidFill>
                  <a:schemeClr val="accent1"/>
                </a:solidFill>
                <a:cs typeface="Arial" panose="020B0604020202020204" pitchFamily="34" charset="0"/>
              </a:rPr>
              <a:t>个</a:t>
            </a:r>
            <a:r>
              <a:rPr lang="en-US" altLang="zh-CN" sz="1600" b="1" dirty="0">
                <a:solidFill>
                  <a:schemeClr val="accent1"/>
                </a:solidFill>
                <a:cs typeface="Arial" panose="020B0604020202020204" pitchFamily="34" charset="0"/>
              </a:rPr>
              <a:t>CPU</a:t>
            </a:r>
            <a:r>
              <a:rPr lang="zh-CN" altLang="en-US" sz="1600" b="1" dirty="0">
                <a:solidFill>
                  <a:schemeClr val="accent1"/>
                </a:solidFill>
                <a:cs typeface="Arial" panose="020B0604020202020204" pitchFamily="34" charset="0"/>
              </a:rPr>
              <a:t>的</a:t>
            </a:r>
            <a:r>
              <a:rPr lang="en-US" altLang="zh-CN" sz="1600" b="1" dirty="0">
                <a:solidFill>
                  <a:schemeClr val="accent1"/>
                </a:solidFill>
                <a:cs typeface="Arial" panose="020B0604020202020204" pitchFamily="34" charset="0"/>
              </a:rPr>
              <a:t>SP</a:t>
            </a:r>
            <a:r>
              <a:rPr lang="zh-CN" altLang="en-US" sz="1600" b="1" dirty="0">
                <a:solidFill>
                  <a:schemeClr val="accent1"/>
                </a:solidFill>
                <a:cs typeface="Arial" panose="020B0604020202020204" pitchFamily="34" charset="0"/>
              </a:rPr>
              <a:t>会同时指向当前线程</a:t>
            </a:r>
            <a:r>
              <a:rPr lang="zh-CN" altLang="en-US" sz="1600" dirty="0">
                <a:cs typeface="Arial" panose="020B0604020202020204" pitchFamily="34" charset="0"/>
              </a:rPr>
              <a:t>，于是栈被破坏！</a:t>
            </a:r>
            <a:endParaRPr lang="en-US" altLang="zh-CN" sz="1600" dirty="0">
              <a:cs typeface="Arial" panose="020B0604020202020204" pitchFamily="34" charset="0"/>
            </a:endParaRPr>
          </a:p>
          <a:p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zh-CN" altLang="en-US" sz="1400" dirty="0">
                <a:cs typeface="Arial" panose="020B0604020202020204" pitchFamily="34" charset="0"/>
              </a:rPr>
              <a:t>一种可能的时间线：线程</a:t>
            </a:r>
            <a:r>
              <a:rPr lang="en-US" altLang="zh-CN" sz="1400" dirty="0">
                <a:cs typeface="Arial" panose="020B0604020202020204" pitchFamily="34" charset="0"/>
              </a:rPr>
              <a:t>-0</a:t>
            </a:r>
            <a:r>
              <a:rPr lang="zh-CN" altLang="en-US" sz="1400" dirty="0">
                <a:cs typeface="Arial" panose="020B0604020202020204" pitchFamily="34" charset="0"/>
              </a:rPr>
              <a:t>在</a:t>
            </a:r>
            <a:r>
              <a:rPr lang="en-US" altLang="zh-CN" sz="1400" dirty="0">
                <a:cs typeface="Arial" panose="020B0604020202020204" pitchFamily="34" charset="0"/>
              </a:rPr>
              <a:t>CPU-0</a:t>
            </a:r>
            <a:r>
              <a:rPr lang="zh-CN" altLang="en-US" sz="1400" dirty="0">
                <a:cs typeface="Arial" panose="020B0604020202020204" pitchFamily="34" charset="0"/>
              </a:rPr>
              <a:t>上运行</a:t>
            </a:r>
            <a:r>
              <a:rPr lang="en-US" altLang="zh-CN" sz="1400" dirty="0">
                <a:cs typeface="Arial" panose="020B0604020202020204" pitchFamily="34" charset="0"/>
              </a:rPr>
              <a:t>wait</a:t>
            </a:r>
            <a:r>
              <a:rPr lang="zh-CN" altLang="en-US" sz="1400" dirty="0">
                <a:cs typeface="Arial" panose="020B0604020202020204" pitchFamily="34" charset="0"/>
              </a:rPr>
              <a:t>，正在箭头处 </a:t>
            </a:r>
            <a:r>
              <a:rPr lang="en-US" altLang="zh-CN" sz="1400" dirty="0">
                <a:cs typeface="Arial" panose="020B0604020202020204" pitchFamily="34" charset="0"/>
              </a:rPr>
              <a:t>→</a:t>
            </a:r>
            <a:r>
              <a:rPr lang="zh-CN" altLang="en-US" sz="1400" dirty="0">
                <a:cs typeface="Arial" panose="020B0604020202020204" pitchFamily="34" charset="0"/>
              </a:rPr>
              <a:t> </a:t>
            </a:r>
            <a:r>
              <a:rPr lang="en-US" altLang="zh-CN" sz="1400" dirty="0">
                <a:cs typeface="Arial" panose="020B0604020202020204" pitchFamily="34" charset="0"/>
              </a:rPr>
              <a:t>CPU-1</a:t>
            </a:r>
            <a:r>
              <a:rPr lang="zh-CN" altLang="en-US" sz="1400" dirty="0">
                <a:cs typeface="Arial" panose="020B0604020202020204" pitchFamily="34" charset="0"/>
              </a:rPr>
              <a:t>上的线程</a:t>
            </a:r>
            <a:r>
              <a:rPr lang="en-US" altLang="zh-CN" sz="1400" dirty="0">
                <a:cs typeface="Arial" panose="020B0604020202020204" pitchFamily="34" charset="0"/>
              </a:rPr>
              <a:t>-1</a:t>
            </a:r>
            <a:r>
              <a:rPr lang="zh-CN" altLang="en-US" sz="1400" dirty="0">
                <a:cs typeface="Arial" panose="020B0604020202020204" pitchFamily="34" charset="0"/>
              </a:rPr>
              <a:t>运行</a:t>
            </a:r>
            <a:r>
              <a:rPr lang="en-US" altLang="zh-CN" sz="1400" dirty="0">
                <a:cs typeface="Arial" panose="020B0604020202020204" pitchFamily="34" charset="0"/>
              </a:rPr>
              <a:t>signal</a:t>
            </a:r>
            <a:r>
              <a:rPr lang="zh-CN" altLang="en-US" sz="1400" dirty="0">
                <a:cs typeface="Arial" panose="020B0604020202020204" pitchFamily="34" charset="0"/>
              </a:rPr>
              <a:t>，将线程</a:t>
            </a:r>
            <a:r>
              <a:rPr lang="en-US" altLang="zh-CN" sz="1400" dirty="0">
                <a:cs typeface="Arial" panose="020B0604020202020204" pitchFamily="34" charset="0"/>
              </a:rPr>
              <a:t>-0</a:t>
            </a:r>
            <a:r>
              <a:rPr lang="zh-CN" altLang="en-US" sz="1400" dirty="0">
                <a:cs typeface="Arial" panose="020B0604020202020204" pitchFamily="34" charset="0"/>
              </a:rPr>
              <a:t>的状态恢复成</a:t>
            </a:r>
            <a:r>
              <a:rPr lang="en-US" altLang="zh-CN" sz="1400" dirty="0">
                <a:cs typeface="Arial" panose="020B0604020202020204" pitchFamily="34" charset="0"/>
              </a:rPr>
              <a:t>RUNNABLE</a:t>
            </a:r>
            <a:r>
              <a:rPr lang="zh-CN" altLang="en-US" sz="1400" dirty="0">
                <a:cs typeface="Arial" panose="020B0604020202020204" pitchFamily="34" charset="0"/>
              </a:rPr>
              <a:t> </a:t>
            </a:r>
            <a:r>
              <a:rPr lang="en-US" altLang="zh-CN" sz="1400" dirty="0">
                <a:cs typeface="Arial" panose="020B0604020202020204" pitchFamily="34" charset="0"/>
              </a:rPr>
              <a:t>→</a:t>
            </a:r>
            <a:r>
              <a:rPr lang="zh-CN" altLang="en-US" sz="1400" dirty="0">
                <a:cs typeface="Arial" panose="020B0604020202020204" pitchFamily="34" charset="0"/>
              </a:rPr>
              <a:t> </a:t>
            </a:r>
            <a:r>
              <a:rPr lang="en-US" altLang="zh-CN" sz="1400" dirty="0">
                <a:cs typeface="Arial" panose="020B0604020202020204" pitchFamily="34" charset="0"/>
              </a:rPr>
              <a:t>CPU-2</a:t>
            </a:r>
            <a:r>
              <a:rPr lang="zh-CN" altLang="en-US" sz="1400" dirty="0">
                <a:cs typeface="Arial" panose="020B0604020202020204" pitchFamily="34" charset="0"/>
              </a:rPr>
              <a:t>上的</a:t>
            </a:r>
            <a:r>
              <a:rPr lang="en-US" altLang="zh-CN" sz="1400" dirty="0">
                <a:cs typeface="Arial" panose="020B0604020202020204" pitchFamily="34" charset="0"/>
              </a:rPr>
              <a:t>thread-2</a:t>
            </a:r>
            <a:r>
              <a:rPr lang="zh-CN" altLang="en-US" sz="1400" dirty="0">
                <a:cs typeface="Arial" panose="020B0604020202020204" pitchFamily="34" charset="0"/>
              </a:rPr>
              <a:t>调用了</a:t>
            </a:r>
            <a:r>
              <a:rPr lang="en-US" altLang="zh-CN" sz="1400" dirty="0">
                <a:cs typeface="Arial" panose="020B0604020202020204" pitchFamily="34" charset="0"/>
              </a:rPr>
              <a:t>wait</a:t>
            </a:r>
            <a:r>
              <a:rPr lang="zh-CN" altLang="en-US" sz="1400" dirty="0">
                <a:cs typeface="Arial" panose="020B0604020202020204" pitchFamily="34" charset="0"/>
              </a:rPr>
              <a:t>，找到了</a:t>
            </a:r>
            <a:r>
              <a:rPr lang="en-US" altLang="zh-CN" sz="1400" dirty="0">
                <a:cs typeface="Arial" panose="020B0604020202020204" pitchFamily="34" charset="0"/>
              </a:rPr>
              <a:t>RUNNABLE</a:t>
            </a:r>
            <a:r>
              <a:rPr lang="zh-CN" altLang="en-US" sz="1400" dirty="0">
                <a:cs typeface="Arial" panose="020B0604020202020204" pitchFamily="34" charset="0"/>
              </a:rPr>
              <a:t>的线程</a:t>
            </a:r>
            <a:r>
              <a:rPr lang="en-US" altLang="zh-CN" sz="1400" dirty="0">
                <a:cs typeface="Arial" panose="020B0604020202020204" pitchFamily="34" charset="0"/>
              </a:rPr>
              <a:t>-0</a:t>
            </a:r>
            <a:r>
              <a:rPr lang="zh-CN" altLang="en-US" sz="1400" dirty="0">
                <a:cs typeface="Arial" panose="020B0604020202020204" pitchFamily="34" charset="0"/>
              </a:rPr>
              <a:t>，并开始运行 </a:t>
            </a:r>
            <a:r>
              <a:rPr lang="en-US" altLang="zh-CN" sz="1400" dirty="0">
                <a:cs typeface="Arial" panose="020B0604020202020204" pitchFamily="34" charset="0"/>
              </a:rPr>
              <a:t>→</a:t>
            </a:r>
            <a:r>
              <a:rPr lang="zh-CN" altLang="en-US" sz="1400" dirty="0">
                <a:cs typeface="Arial" panose="020B0604020202020204" pitchFamily="34" charset="0"/>
              </a:rPr>
              <a:t> 此时</a:t>
            </a:r>
            <a:r>
              <a:rPr lang="en-US" altLang="zh-CN" sz="1400" dirty="0">
                <a:cs typeface="Arial" panose="020B0604020202020204" pitchFamily="34" charset="0"/>
              </a:rPr>
              <a:t>CPU-0</a:t>
            </a:r>
            <a:r>
              <a:rPr lang="zh-CN" altLang="en-US" sz="1400" dirty="0">
                <a:cs typeface="Arial" panose="020B0604020202020204" pitchFamily="34" charset="0"/>
              </a:rPr>
              <a:t>和</a:t>
            </a:r>
            <a:r>
              <a:rPr lang="en-US" altLang="zh-CN" sz="1400" dirty="0">
                <a:cs typeface="Arial" panose="020B0604020202020204" pitchFamily="34" charset="0"/>
              </a:rPr>
              <a:t>CPU-2</a:t>
            </a:r>
            <a:r>
              <a:rPr lang="zh-CN" altLang="en-US" sz="1400" dirty="0">
                <a:cs typeface="Arial" panose="020B0604020202020204" pitchFamily="34" charset="0"/>
              </a:rPr>
              <a:t>的</a:t>
            </a:r>
            <a:r>
              <a:rPr lang="en-US" altLang="zh-CN" sz="1400" dirty="0">
                <a:cs typeface="Arial" panose="020B0604020202020204" pitchFamily="34" charset="0"/>
              </a:rPr>
              <a:t>SP</a:t>
            </a:r>
            <a:r>
              <a:rPr lang="zh-CN" altLang="en-US" sz="1400" dirty="0">
                <a:cs typeface="Arial" panose="020B0604020202020204" pitchFamily="34" charset="0"/>
              </a:rPr>
              <a:t>都指向了线程</a:t>
            </a:r>
            <a:r>
              <a:rPr lang="en-US" altLang="zh-CN" sz="1400" dirty="0">
                <a:cs typeface="Arial" panose="020B0604020202020204" pitchFamily="34" charset="0"/>
              </a:rPr>
              <a:t>-0</a:t>
            </a:r>
            <a:r>
              <a:rPr lang="zh-CN" altLang="en-US" sz="1400" dirty="0">
                <a:cs typeface="Arial" panose="020B0604020202020204" pitchFamily="34" charset="0"/>
              </a:rPr>
              <a:t>的栈！</a:t>
            </a:r>
            <a:endParaRPr lang="en-US" altLang="zh-CN" sz="1400" dirty="0">
              <a:cs typeface="Arial" panose="020B0604020202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539552" y="2425452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右大括号 9"/>
          <p:cNvSpPr/>
          <p:nvPr/>
        </p:nvSpPr>
        <p:spPr>
          <a:xfrm>
            <a:off x="5004048" y="481237"/>
            <a:ext cx="216024" cy="3528392"/>
          </a:xfrm>
          <a:prstGeom prst="rightBrace">
            <a:avLst>
              <a:gd name="adj1" fmla="val 75584"/>
              <a:gd name="adj2" fmla="val 75226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5329904" y="3132713"/>
            <a:ext cx="28803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7924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0421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 // called by wait()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[CPU].stack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09639" y="170332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YIELD_WAIT()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5309639" y="1537741"/>
            <a:ext cx="388798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2" name="矩形 1"/>
          <p:cNvSpPr/>
          <p:nvPr/>
        </p:nvSpPr>
        <p:spPr>
          <a:xfrm>
            <a:off x="971600" y="1263640"/>
            <a:ext cx="2448272" cy="327309"/>
          </a:xfrm>
          <a:prstGeom prst="rect">
            <a:avLst/>
          </a:prstGeom>
          <a:solidFill>
            <a:srgbClr val="FF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右大括号 5"/>
          <p:cNvSpPr/>
          <p:nvPr/>
        </p:nvSpPr>
        <p:spPr>
          <a:xfrm>
            <a:off x="5004048" y="481236"/>
            <a:ext cx="216024" cy="3816423"/>
          </a:xfrm>
          <a:prstGeom prst="rightBrace">
            <a:avLst>
              <a:gd name="adj1" fmla="val 75584"/>
              <a:gd name="adj2" fmla="val 69413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329904" y="3132713"/>
            <a:ext cx="28803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8"/>
          <p:cNvCxnSpPr/>
          <p:nvPr/>
        </p:nvCxnSpPr>
        <p:spPr>
          <a:xfrm>
            <a:off x="539552" y="2713484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A96673F-206E-4F4A-9AF0-44550661AEDD}"/>
              </a:ext>
            </a:extLst>
          </p:cNvPr>
          <p:cNvSpPr/>
          <p:nvPr/>
        </p:nvSpPr>
        <p:spPr>
          <a:xfrm>
            <a:off x="431540" y="4504796"/>
            <a:ext cx="8280920" cy="9448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dirty="0">
                <a:cs typeface="Arial" panose="020B0604020202020204" pitchFamily="34" charset="0"/>
              </a:rPr>
              <a:t>改进：为每个</a:t>
            </a:r>
            <a:r>
              <a:rPr lang="en-US" altLang="zh-CN" sz="1600" b="1" dirty="0">
                <a:cs typeface="Arial" panose="020B0604020202020204" pitchFamily="34" charset="0"/>
              </a:rPr>
              <a:t>CPU</a:t>
            </a:r>
            <a:r>
              <a:rPr lang="zh-CN" altLang="en-US" sz="1600" b="1" dirty="0">
                <a:cs typeface="Arial" panose="020B0604020202020204" pitchFamily="34" charset="0"/>
              </a:rPr>
              <a:t>专门设一个栈，记录在</a:t>
            </a:r>
            <a:r>
              <a:rPr lang="en-US" altLang="zh-CN" sz="1600" b="1" dirty="0" err="1">
                <a:cs typeface="Arial" panose="020B0604020202020204" pitchFamily="34" charset="0"/>
              </a:rPr>
              <a:t>cpus</a:t>
            </a:r>
            <a:r>
              <a:rPr lang="zh-CN" altLang="en-US" sz="1600" b="1" dirty="0">
                <a:cs typeface="Arial" panose="020B0604020202020204" pitchFamily="34" charset="0"/>
              </a:rPr>
              <a:t>表中</a:t>
            </a:r>
            <a:endParaRPr lang="en-US" altLang="zh-CN" sz="1600" b="1" dirty="0"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Arial" panose="020B0604020202020204" pitchFamily="34" charset="0"/>
              </a:rPr>
              <a:t>这个栈不会共享（每个</a:t>
            </a:r>
            <a:r>
              <a:rPr lang="en-US" altLang="zh-CN" sz="1400" dirty="0">
                <a:cs typeface="Arial" panose="020B0604020202020204" pitchFamily="34" charset="0"/>
              </a:rPr>
              <a:t>CPU</a:t>
            </a:r>
            <a:r>
              <a:rPr lang="zh-CN" altLang="en-US" sz="1400" dirty="0">
                <a:cs typeface="Arial" panose="020B0604020202020204" pitchFamily="34" charset="0"/>
              </a:rPr>
              <a:t>独占），不用担心多个</a:t>
            </a:r>
            <a:r>
              <a:rPr lang="en-US" altLang="zh-CN" sz="1400" dirty="0">
                <a:cs typeface="Arial" panose="020B0604020202020204" pitchFamily="34" charset="0"/>
              </a:rPr>
              <a:t>CPU</a:t>
            </a:r>
            <a:r>
              <a:rPr lang="zh-CN" altLang="en-US" sz="1400" dirty="0">
                <a:cs typeface="Arial" panose="020B0604020202020204" pitchFamily="34" charset="0"/>
              </a:rPr>
              <a:t>的</a:t>
            </a:r>
            <a:r>
              <a:rPr lang="en-US" altLang="zh-CN" sz="1400" dirty="0">
                <a:cs typeface="Arial" panose="020B0604020202020204" pitchFamily="34" charset="0"/>
              </a:rPr>
              <a:t>SP</a:t>
            </a:r>
            <a:r>
              <a:rPr lang="zh-CN" altLang="en-US" sz="1400" dirty="0">
                <a:cs typeface="Arial" panose="020B0604020202020204" pitchFamily="34" charset="0"/>
              </a:rPr>
              <a:t>同时指向这个栈</a:t>
            </a:r>
            <a:endParaRPr lang="en-US" altLang="zh-CN" sz="1400" dirty="0">
              <a:cs typeface="Arial" panose="020B0604020202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cs typeface="Arial" panose="020B0604020202020204" pitchFamily="34" charset="0"/>
              </a:rPr>
              <a:t>这只是一个临时的栈，马上</a:t>
            </a:r>
            <a:r>
              <a:rPr lang="en-US" altLang="zh-CN" sz="1400" dirty="0">
                <a:cs typeface="Arial" panose="020B0604020202020204" pitchFamily="34" charset="0"/>
              </a:rPr>
              <a:t>SP</a:t>
            </a:r>
            <a:r>
              <a:rPr lang="zh-CN" altLang="en-US" sz="1400" dirty="0">
                <a:cs typeface="Arial" panose="020B0604020202020204" pitchFamily="34" charset="0"/>
              </a:rPr>
              <a:t>就会指向新线程的栈</a:t>
            </a:r>
            <a:endParaRPr lang="en-US" altLang="zh-CN" sz="1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326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时钟中断处理函数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479402" y="1489348"/>
            <a:ext cx="8341070" cy="2613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timer_interrupt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push PC</a:t>
            </a:r>
            <a:endParaRPr lang="en-US" altLang="zh-CN" sz="1600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push registers</a:t>
            </a:r>
            <a:endParaRPr lang="en-US" altLang="zh-CN" sz="1600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endParaRPr lang="en-US" altLang="zh-CN" sz="1600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yield()</a:t>
            </a:r>
            <a:endParaRPr lang="zh-CN" altLang="en-US" sz="1600" dirty="0"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pop registers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pop PC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9D8F03-F8BF-4D43-A207-D85BDCDFB170}"/>
              </a:ext>
            </a:extLst>
          </p:cNvPr>
          <p:cNvSpPr/>
          <p:nvPr/>
        </p:nvSpPr>
        <p:spPr>
          <a:xfrm>
            <a:off x="4566265" y="913284"/>
            <a:ext cx="4572000" cy="46063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yield()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AF10E61-3CB7-E245-97EA-0CBC0D00C45F}"/>
              </a:ext>
            </a:extLst>
          </p:cNvPr>
          <p:cNvCxnSpPr/>
          <p:nvPr/>
        </p:nvCxnSpPr>
        <p:spPr>
          <a:xfrm>
            <a:off x="1619672" y="3073524"/>
            <a:ext cx="27363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589FFA5B-8491-8843-8E34-2DBA7CC6359F}"/>
              </a:ext>
            </a:extLst>
          </p:cNvPr>
          <p:cNvCxnSpPr>
            <a:cxnSpLocks/>
          </p:cNvCxnSpPr>
          <p:nvPr/>
        </p:nvCxnSpPr>
        <p:spPr>
          <a:xfrm flipV="1">
            <a:off x="4355976" y="1129308"/>
            <a:ext cx="0" cy="19442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3CD1A79-29F2-AC47-A74A-53C330D401F2}"/>
              </a:ext>
            </a:extLst>
          </p:cNvPr>
          <p:cNvCxnSpPr/>
          <p:nvPr/>
        </p:nvCxnSpPr>
        <p:spPr>
          <a:xfrm>
            <a:off x="4355976" y="1129308"/>
            <a:ext cx="210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3040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0421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 // called by wait()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[CPU].stack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09639" y="170332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YIELD_WAIT()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5309639" y="1537741"/>
            <a:ext cx="3887986" cy="2349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8" name="矩形 7"/>
          <p:cNvSpPr/>
          <p:nvPr/>
        </p:nvSpPr>
        <p:spPr>
          <a:xfrm>
            <a:off x="251520" y="4565381"/>
            <a:ext cx="8640960" cy="9848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1600" b="1" dirty="0">
                <a:cs typeface="Arial" panose="020B0604020202020204" pitchFamily="34" charset="0"/>
              </a:rPr>
              <a:t>问题</a:t>
            </a:r>
            <a:r>
              <a:rPr lang="en-US" altLang="zh-CN" sz="1600" dirty="0">
                <a:cs typeface="Arial" panose="020B0604020202020204" pitchFamily="34" charset="0"/>
              </a:rPr>
              <a:t>: </a:t>
            </a:r>
            <a:r>
              <a:rPr lang="zh-CN" altLang="en-US" sz="1600" dirty="0">
                <a:cs typeface="Arial" panose="020B0604020202020204" pitchFamily="34" charset="0"/>
              </a:rPr>
              <a:t>如果</a:t>
            </a:r>
            <a:r>
              <a:rPr lang="en-US" altLang="zh-CN" sz="1600" dirty="0">
                <a:cs typeface="Arial" panose="020B0604020202020204" pitchFamily="34" charset="0"/>
              </a:rPr>
              <a:t>CPU</a:t>
            </a:r>
            <a:r>
              <a:rPr lang="zh-CN" altLang="en-US" sz="1600" dirty="0">
                <a:cs typeface="Arial" panose="020B0604020202020204" pitchFamily="34" charset="0"/>
              </a:rPr>
              <a:t>正在运行</a:t>
            </a:r>
            <a:r>
              <a:rPr lang="en-US" altLang="zh-CN" sz="1600" dirty="0">
                <a:cs typeface="Arial" panose="020B0604020202020204" pitchFamily="34" charset="0"/>
              </a:rPr>
              <a:t>yield / </a:t>
            </a:r>
            <a:r>
              <a:rPr lang="en-US" altLang="zh-CN" sz="1600" dirty="0" err="1">
                <a:cs typeface="Arial" panose="020B0604020202020204" pitchFamily="34" charset="0"/>
              </a:rPr>
              <a:t>yield_wait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zh-CN" altLang="en-US" sz="1600" dirty="0">
                <a:cs typeface="Arial" panose="020B0604020202020204" pitchFamily="34" charset="0"/>
              </a:rPr>
              <a:t>的时候，发生了时钟中断，怎么办？</a:t>
            </a:r>
            <a:endParaRPr lang="en-US" altLang="zh-CN" sz="1600" dirty="0">
              <a:cs typeface="Arial" panose="020B0604020202020204" pitchFamily="34" charset="0"/>
            </a:endParaRPr>
          </a:p>
          <a:p>
            <a:r>
              <a:rPr lang="zh-CN" altLang="en-US" sz="1600" dirty="0">
                <a:cs typeface="Arial" panose="020B0604020202020204" pitchFamily="34" charset="0"/>
              </a:rPr>
              <a:t>因为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cs typeface="Arial" panose="020B0604020202020204" pitchFamily="34" charset="0"/>
              </a:rPr>
              <a:t>t_lock</a:t>
            </a:r>
            <a:r>
              <a:rPr lang="en-US" altLang="zh-CN" sz="1600" dirty="0">
                <a:cs typeface="Arial" panose="020B0604020202020204" pitchFamily="34" charset="0"/>
              </a:rPr>
              <a:t> </a:t>
            </a:r>
            <a:r>
              <a:rPr lang="zh-CN" altLang="en-US" sz="1600" dirty="0">
                <a:cs typeface="Arial" panose="020B0604020202020204" pitchFamily="34" charset="0"/>
              </a:rPr>
              <a:t>已经被当前</a:t>
            </a:r>
            <a:r>
              <a:rPr lang="en-US" altLang="zh-CN" sz="1600" dirty="0">
                <a:cs typeface="Arial" panose="020B0604020202020204" pitchFamily="34" charset="0"/>
              </a:rPr>
              <a:t>CPU</a:t>
            </a:r>
            <a:r>
              <a:rPr lang="zh-CN" altLang="en-US" sz="1600" dirty="0">
                <a:cs typeface="Arial" panose="020B0604020202020204" pitchFamily="34" charset="0"/>
              </a:rPr>
              <a:t>拿到了，当发生时钟中断后，其</a:t>
            </a:r>
            <a:r>
              <a:rPr lang="en-US" altLang="zh-CN" sz="1600" dirty="0">
                <a:cs typeface="Arial" panose="020B0604020202020204" pitchFamily="34" charset="0"/>
              </a:rPr>
              <a:t>handler</a:t>
            </a:r>
            <a:r>
              <a:rPr lang="zh-CN" altLang="en-US" sz="1600" dirty="0">
                <a:cs typeface="Arial" panose="020B0604020202020204" pitchFamily="34" charset="0"/>
              </a:rPr>
              <a:t>调用 </a:t>
            </a:r>
            <a:r>
              <a:rPr lang="en-US" altLang="zh-CN" sz="1600" dirty="0">
                <a:cs typeface="Arial" panose="020B0604020202020204" pitchFamily="34" charset="0"/>
              </a:rPr>
              <a:t>yield()</a:t>
            </a:r>
            <a:r>
              <a:rPr lang="zh-CN" altLang="en-US" sz="1600" dirty="0">
                <a:cs typeface="Arial" panose="020B0604020202020204" pitchFamily="34" charset="0"/>
              </a:rPr>
              <a:t>时会再次尝试拿 </a:t>
            </a:r>
            <a:r>
              <a:rPr lang="en-US" altLang="zh-CN" sz="1600" dirty="0" err="1">
                <a:cs typeface="Arial" panose="020B0604020202020204" pitchFamily="34" charset="0"/>
              </a:rPr>
              <a:t>t_lock</a:t>
            </a:r>
            <a:r>
              <a:rPr lang="zh-CN" altLang="en-US" sz="1600" dirty="0">
                <a:cs typeface="Arial" panose="020B0604020202020204" pitchFamily="34" charset="0"/>
              </a:rPr>
              <a:t>，从而自己等自己！</a:t>
            </a:r>
            <a:endParaRPr lang="en-US" altLang="zh-CN" sz="1600" dirty="0">
              <a:cs typeface="Arial" panose="020B0604020202020204" pitchFamily="34" charset="0"/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5004048" y="481236"/>
            <a:ext cx="216024" cy="3816423"/>
          </a:xfrm>
          <a:prstGeom prst="rightBrace">
            <a:avLst>
              <a:gd name="adj1" fmla="val 75584"/>
              <a:gd name="adj2" fmla="val 69413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329904" y="3132713"/>
            <a:ext cx="28803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22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6063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 // called by wait()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[CPU].stack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enable_interrupt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disable_interrupt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09639" y="170332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YIELD_WAIT()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5309639" y="1537741"/>
            <a:ext cx="3887986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disable_interrupt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enable_interrupt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2" name="矩形 1"/>
          <p:cNvSpPr/>
          <p:nvPr/>
        </p:nvSpPr>
        <p:spPr>
          <a:xfrm>
            <a:off x="1043608" y="2712421"/>
            <a:ext cx="2592288" cy="577127"/>
          </a:xfrm>
          <a:prstGeom prst="rect">
            <a:avLst/>
          </a:prstGeom>
          <a:solidFill>
            <a:srgbClr val="FF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52058" y="5140643"/>
            <a:ext cx="778038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cs typeface="Arial" panose="020B0604020202020204" pitchFamily="34" charset="0"/>
              </a:rPr>
              <a:t>问题</a:t>
            </a:r>
            <a:r>
              <a:rPr lang="en-US" altLang="zh-CN" dirty="0">
                <a:cs typeface="Arial" panose="020B0604020202020204" pitchFamily="34" charset="0"/>
              </a:rPr>
              <a:t>: </a:t>
            </a:r>
            <a:r>
              <a:rPr lang="zh-CN" altLang="en-US" dirty="0">
                <a:cs typeface="Arial" panose="020B0604020202020204" pitchFamily="34" charset="0"/>
              </a:rPr>
              <a:t>如果时钟中断来了，会导致错误的</a:t>
            </a:r>
            <a:r>
              <a:rPr lang="en-US" altLang="zh-CN" dirty="0">
                <a:cs typeface="Arial" panose="020B0604020202020204" pitchFamily="34" charset="0"/>
              </a:rPr>
              <a:t>thread</a:t>
            </a:r>
            <a:r>
              <a:rPr lang="zh-CN" altLang="en-US" dirty="0">
                <a:cs typeface="Arial" panose="020B0604020202020204" pitchFamily="34" charset="0"/>
              </a:rPr>
              <a:t>去</a:t>
            </a:r>
            <a:r>
              <a:rPr lang="en-US" altLang="zh-CN" dirty="0">
                <a:cs typeface="Arial" panose="020B0604020202020204" pitchFamily="34" charset="0"/>
              </a:rPr>
              <a:t>sleep</a:t>
            </a:r>
            <a:r>
              <a:rPr lang="zh-CN" altLang="en-US" dirty="0">
                <a:cs typeface="Arial" panose="020B0604020202020204" pitchFamily="34" charset="0"/>
              </a:rPr>
              <a:t>！</a:t>
            </a:r>
            <a:endParaRPr lang="en-US" altLang="zh-CN" dirty="0"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05175" y="1896682"/>
            <a:ext cx="2395217" cy="269780"/>
          </a:xfrm>
          <a:prstGeom prst="rect">
            <a:avLst/>
          </a:prstGeom>
          <a:solidFill>
            <a:srgbClr val="FF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705175" y="3827409"/>
            <a:ext cx="2395217" cy="296758"/>
          </a:xfrm>
          <a:prstGeom prst="rect">
            <a:avLst/>
          </a:prstGeom>
          <a:solidFill>
            <a:srgbClr val="FF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cxnSpLocks/>
            <a:stCxn id="5" idx="3"/>
          </p:cNvCxnSpPr>
          <p:nvPr/>
        </p:nvCxnSpPr>
        <p:spPr>
          <a:xfrm>
            <a:off x="971600" y="2994550"/>
            <a:ext cx="195725" cy="69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右大括号 11"/>
          <p:cNvSpPr/>
          <p:nvPr/>
        </p:nvSpPr>
        <p:spPr>
          <a:xfrm>
            <a:off x="5004048" y="481236"/>
            <a:ext cx="216024" cy="4392488"/>
          </a:xfrm>
          <a:prstGeom prst="rightBrace">
            <a:avLst>
              <a:gd name="adj1" fmla="val 75584"/>
              <a:gd name="adj2" fmla="val 66786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5329904" y="3420745"/>
            <a:ext cx="28803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CB04FE42-27CE-4F4C-9D20-C9E47A815920}"/>
              </a:ext>
            </a:extLst>
          </p:cNvPr>
          <p:cNvSpPr/>
          <p:nvPr/>
        </p:nvSpPr>
        <p:spPr>
          <a:xfrm>
            <a:off x="91231" y="2840661"/>
            <a:ext cx="8803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yield()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694527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409228"/>
            <a:ext cx="4572000" cy="48885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 // called by wait()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null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[CPU].stack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enable_interrupt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disable_interrupt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</p:txBody>
      </p:sp>
      <p:sp>
        <p:nvSpPr>
          <p:cNvPr id="11" name="标题 1"/>
          <p:cNvSpPr>
            <a:spLocks noGrp="1"/>
          </p:cNvSpPr>
          <p:nvPr>
            <p:ph type="title"/>
          </p:nvPr>
        </p:nvSpPr>
        <p:spPr>
          <a:xfrm>
            <a:off x="5309639" y="170332"/>
            <a:ext cx="3359224" cy="952500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YIELD_WAIT()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5309639" y="1537741"/>
            <a:ext cx="3887986" cy="2913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wait(cv, lock):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disable_interrupt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unlock(lock)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[id].cv = cv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WAITING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yield_wait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enable_interrupt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lock(lock)</a:t>
            </a:r>
          </a:p>
        </p:txBody>
      </p:sp>
      <p:sp>
        <p:nvSpPr>
          <p:cNvPr id="2" name="矩形 1"/>
          <p:cNvSpPr/>
          <p:nvPr/>
        </p:nvSpPr>
        <p:spPr>
          <a:xfrm>
            <a:off x="913994" y="985292"/>
            <a:ext cx="2851517" cy="297264"/>
          </a:xfrm>
          <a:prstGeom prst="rect">
            <a:avLst/>
          </a:prstGeom>
          <a:solidFill>
            <a:srgbClr val="FF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FF5AEE30-E285-A049-BD63-A250B5913232}"/>
              </a:ext>
            </a:extLst>
          </p:cNvPr>
          <p:cNvCxnSpPr>
            <a:cxnSpLocks/>
          </p:cNvCxnSpPr>
          <p:nvPr/>
        </p:nvCxnSpPr>
        <p:spPr>
          <a:xfrm>
            <a:off x="4932040" y="3433564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4994FC7-F0C3-1548-B36A-4314BE66B9CC}"/>
              </a:ext>
            </a:extLst>
          </p:cNvPr>
          <p:cNvCxnSpPr>
            <a:cxnSpLocks/>
          </p:cNvCxnSpPr>
          <p:nvPr/>
        </p:nvCxnSpPr>
        <p:spPr>
          <a:xfrm flipV="1">
            <a:off x="4932040" y="636960"/>
            <a:ext cx="0" cy="2808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C57406F-DCA1-974E-8D25-4B4E67208C5D}"/>
              </a:ext>
            </a:extLst>
          </p:cNvPr>
          <p:cNvCxnSpPr>
            <a:cxnSpLocks/>
          </p:cNvCxnSpPr>
          <p:nvPr/>
        </p:nvCxnSpPr>
        <p:spPr>
          <a:xfrm flipH="1">
            <a:off x="4572000" y="63696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0206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中断处理函数</a:t>
            </a:r>
          </a:p>
        </p:txBody>
      </p:sp>
      <p:sp>
        <p:nvSpPr>
          <p:cNvPr id="4" name="矩形 3"/>
          <p:cNvSpPr/>
          <p:nvPr/>
        </p:nvSpPr>
        <p:spPr>
          <a:xfrm>
            <a:off x="479402" y="1489348"/>
            <a:ext cx="8341070" cy="2613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timer_interrupt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push PC</a:t>
            </a:r>
            <a:endParaRPr lang="en-US" altLang="zh-CN" sz="1600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push registers</a:t>
            </a:r>
            <a:endParaRPr lang="en-US" altLang="zh-CN" sz="1600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</a:t>
            </a:r>
            <a:endParaRPr lang="en-US" altLang="zh-CN" sz="1600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yield()</a:t>
            </a:r>
            <a:endParaRPr lang="zh-CN" altLang="en-US" sz="1600" dirty="0"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pop registers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pop PC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9D8F03-F8BF-4D43-A207-D85BDCDFB170}"/>
              </a:ext>
            </a:extLst>
          </p:cNvPr>
          <p:cNvSpPr/>
          <p:nvPr/>
        </p:nvSpPr>
        <p:spPr>
          <a:xfrm>
            <a:off x="4062208" y="625252"/>
            <a:ext cx="5118299" cy="4870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zh-CN" sz="1600" b="1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yield()</a:t>
            </a:r>
            <a:r>
              <a:rPr lang="en-US" altLang="zh-CN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id =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</a:t>
            </a:r>
          </a:p>
          <a:p>
            <a:pPr>
              <a:lnSpc>
                <a:spcPts val="2200"/>
              </a:lnSpc>
            </a:pP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(thread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null)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unlock(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RUNNABLE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SP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do: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id = (id + 1) mod N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while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!= RUNNABLE</a:t>
            </a:r>
          </a:p>
          <a:p>
            <a:pPr>
              <a:lnSpc>
                <a:spcPts val="2200"/>
              </a:lnSpc>
            </a:pP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SP =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</a:t>
            </a:r>
            <a:r>
              <a:rPr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2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threads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[id].state = RUNNING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6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cpus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[CPU].thread = id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unlock(</a:t>
            </a:r>
            <a:r>
              <a:rPr lang="en-US" altLang="zh-CN" sz="1600" b="1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t_lock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1AF10E61-3CB7-E245-97EA-0CBC0D00C45F}"/>
              </a:ext>
            </a:extLst>
          </p:cNvPr>
          <p:cNvCxnSpPr>
            <a:cxnSpLocks/>
          </p:cNvCxnSpPr>
          <p:nvPr/>
        </p:nvCxnSpPr>
        <p:spPr>
          <a:xfrm>
            <a:off x="1619672" y="3073524"/>
            <a:ext cx="22322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589FFA5B-8491-8843-8E34-2DBA7CC6359F}"/>
              </a:ext>
            </a:extLst>
          </p:cNvPr>
          <p:cNvCxnSpPr>
            <a:cxnSpLocks/>
          </p:cNvCxnSpPr>
          <p:nvPr/>
        </p:nvCxnSpPr>
        <p:spPr>
          <a:xfrm flipV="1">
            <a:off x="3851920" y="841276"/>
            <a:ext cx="0" cy="2232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3CD1A79-29F2-AC47-A74A-53C330D401F2}"/>
              </a:ext>
            </a:extLst>
          </p:cNvPr>
          <p:cNvCxnSpPr/>
          <p:nvPr/>
        </p:nvCxnSpPr>
        <p:spPr>
          <a:xfrm>
            <a:off x="3851920" y="841276"/>
            <a:ext cx="210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E1B83663-601C-C84D-B71D-D3AA87ADDA9E}"/>
              </a:ext>
            </a:extLst>
          </p:cNvPr>
          <p:cNvSpPr/>
          <p:nvPr/>
        </p:nvSpPr>
        <p:spPr>
          <a:xfrm>
            <a:off x="4150424" y="1808768"/>
            <a:ext cx="4958079" cy="297264"/>
          </a:xfrm>
          <a:prstGeom prst="rect">
            <a:avLst/>
          </a:prstGeom>
          <a:solidFill>
            <a:srgbClr val="FF0000">
              <a:alpha val="1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9116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信号量的实现</a:t>
            </a:r>
          </a:p>
        </p:txBody>
      </p:sp>
    </p:spTree>
    <p:extLst>
      <p:ext uri="{BB962C8B-B14F-4D97-AF65-F5344CB8AC3E}">
        <p14:creationId xmlns:p14="http://schemas.microsoft.com/office/powerpoint/2010/main" val="20113458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08268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回顾：生产者消费者问题的另一种实现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983AD-0F3D-C449-A2A8-28435278C93C}"/>
              </a:ext>
            </a:extLst>
          </p:cNvPr>
          <p:cNvSpPr/>
          <p:nvPr/>
        </p:nvSpPr>
        <p:spPr>
          <a:xfrm>
            <a:off x="516927" y="1561356"/>
            <a:ext cx="7491194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 dirty="0">
                <a:latin typeface="Courier" pitchFamily="2" charset="0"/>
              </a:rPr>
              <a:t>while(true) {</a:t>
            </a:r>
          </a:p>
          <a:p>
            <a:r>
              <a:rPr lang="en-CN" sz="1600" dirty="0">
                <a:latin typeface="Courier" pitchFamily="2" charset="0"/>
              </a:rPr>
              <a:t>	new_msg = produce_new();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lock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600" dirty="0">
                <a:latin typeface="Courier" pitchFamily="2" charset="0"/>
              </a:rPr>
              <a:t>	while (</a:t>
            </a:r>
            <a:r>
              <a:rPr lang="en-CN" sz="1600" dirty="0">
                <a:solidFill>
                  <a:schemeClr val="accent5"/>
                </a:solidFill>
                <a:latin typeface="Courier" pitchFamily="2" charset="0"/>
              </a:rPr>
              <a:t>empty_slot </a:t>
            </a:r>
            <a:r>
              <a:rPr lang="en-CN" sz="1600" dirty="0">
                <a:latin typeface="Courier" pitchFamily="2" charset="0"/>
              </a:rPr>
              <a:t>== 0) </a:t>
            </a:r>
          </a:p>
          <a:p>
            <a:r>
              <a:rPr lang="en-CN" sz="1600" dirty="0">
                <a:latin typeface="Courier" pitchFamily="2" charset="0"/>
              </a:rPr>
              <a:t>	</a:t>
            </a:r>
            <a:r>
              <a:rPr lang="en-CN" sz="1600">
                <a:latin typeface="Courier" pitchFamily="2" charset="0"/>
              </a:rPr>
              <a:t>	</a:t>
            </a:r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cond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_wait(&amp;empty_cond, &amp;empty_slot_lock);</a:t>
            </a:r>
          </a:p>
          <a:p>
            <a:r>
              <a:rPr lang="en-CN" sz="1600" dirty="0">
                <a:latin typeface="Courier" pitchFamily="2" charset="0"/>
              </a:rPr>
              <a:t>	</a:t>
            </a:r>
            <a:r>
              <a:rPr lang="en-CN" sz="1600" dirty="0">
                <a:solidFill>
                  <a:schemeClr val="accent5"/>
                </a:solidFill>
                <a:latin typeface="Courier" pitchFamily="2" charset="0"/>
              </a:rPr>
              <a:t>empty</a:t>
            </a:r>
            <a:r>
              <a:rPr lang="en-CN" sz="1600">
                <a:solidFill>
                  <a:schemeClr val="accent5"/>
                </a:solidFill>
                <a:latin typeface="Courier" pitchFamily="2" charset="0"/>
              </a:rPr>
              <a:t>_slot</a:t>
            </a:r>
            <a:r>
              <a:rPr lang="en-CN" sz="1600">
                <a:latin typeface="Courier" pitchFamily="2" charset="0"/>
              </a:rPr>
              <a:t>-</a:t>
            </a:r>
            <a:r>
              <a:rPr lang="en-CN" sz="1600" dirty="0">
                <a:latin typeface="Courier" pitchFamily="2" charset="0"/>
              </a:rPr>
              <a:t>-;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unlock</a:t>
            </a:r>
            <a:r>
              <a:rPr lang="en-CN" sz="1600" dirty="0">
                <a:solidFill>
                  <a:schemeClr val="accent1"/>
                </a:solidFill>
                <a:latin typeface="Courier" pitchFamily="2" charset="0"/>
              </a:rPr>
              <a:t>(&amp;empty_slot_lock);</a:t>
            </a:r>
          </a:p>
          <a:p>
            <a:endParaRPr lang="en-CN" sz="1600" dirty="0">
              <a:latin typeface="Courier" pitchFamily="2" charset="0"/>
            </a:endParaRPr>
          </a:p>
          <a:p>
            <a:r>
              <a:rPr lang="en-CN" sz="1600" dirty="0">
                <a:latin typeface="Courier" pitchFamily="2" charset="0"/>
              </a:rPr>
              <a:t>	buffer_add(new_msg);</a:t>
            </a:r>
          </a:p>
          <a:p>
            <a:r>
              <a:rPr lang="en-CN" sz="1600" dirty="0">
                <a:latin typeface="Courier" pitchFamily="2" charset="0"/>
              </a:rPr>
              <a:t>	// ...</a:t>
            </a:r>
          </a:p>
          <a:p>
            <a:r>
              <a:rPr lang="en-CN" sz="1600" dirty="0">
                <a:latin typeface="Courier" pitchFamily="2" charset="0"/>
              </a:rPr>
              <a:t>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CF80A-8C1D-204A-9EE1-30DC5AD6636C}"/>
              </a:ext>
            </a:extLst>
          </p:cNvPr>
          <p:cNvSpPr txBox="1"/>
          <p:nvPr/>
        </p:nvSpPr>
        <p:spPr>
          <a:xfrm>
            <a:off x="513750" y="1021872"/>
            <a:ext cx="1340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生产者：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EFF294-4086-F449-828E-7D8D6E2DEEBD}"/>
              </a:ext>
            </a:extLst>
          </p:cNvPr>
          <p:cNvSpPr/>
          <p:nvPr/>
        </p:nvSpPr>
        <p:spPr>
          <a:xfrm>
            <a:off x="2171343" y="1021872"/>
            <a:ext cx="54681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使用</a:t>
            </a:r>
            <a:r>
              <a:rPr lang="zh-CN" altLang="en-US" dirty="0"/>
              <a:t> </a:t>
            </a:r>
            <a:r>
              <a:rPr lang="en-US" b="1" dirty="0" err="1"/>
              <a:t>互斥锁</a:t>
            </a:r>
            <a:r>
              <a:rPr lang="zh-CN" altLang="en-US" dirty="0"/>
              <a:t> 搭配 </a:t>
            </a:r>
            <a:r>
              <a:rPr lang="en-US" b="1" dirty="0"/>
              <a:t>条件变量</a:t>
            </a:r>
            <a:r>
              <a:rPr lang="zh-CN" altLang="en-US" dirty="0"/>
              <a:t> </a:t>
            </a:r>
            <a:r>
              <a:rPr lang="en-US" dirty="0"/>
              <a:t>完成</a:t>
            </a:r>
            <a:r>
              <a:rPr lang="en-US" b="1" dirty="0"/>
              <a:t>资源的等待与消耗</a:t>
            </a:r>
            <a:endParaRPr lang="en-CN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A65265-C0B8-964F-95A0-90C5352B487D}"/>
              </a:ext>
            </a:extLst>
          </p:cNvPr>
          <p:cNvSpPr/>
          <p:nvPr/>
        </p:nvSpPr>
        <p:spPr>
          <a:xfrm>
            <a:off x="513750" y="4460210"/>
            <a:ext cx="82638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当前实现</a:t>
            </a:r>
            <a:r>
              <a:rPr lang="zh-CN" altLang="en-US" dirty="0">
                <a:solidFill>
                  <a:schemeClr val="accent1"/>
                </a:solidFill>
              </a:rPr>
              <a:t>：</a:t>
            </a:r>
            <a:r>
              <a:rPr lang="en-US" dirty="0" err="1">
                <a:solidFill>
                  <a:schemeClr val="accent1"/>
                </a:solidFill>
              </a:rPr>
              <a:t>需要单独创建互斥锁</a:t>
            </a:r>
            <a:r>
              <a:rPr lang="zh-CN" altLang="en-US" dirty="0">
                <a:solidFill>
                  <a:schemeClr val="accent1"/>
                </a:solidFill>
              </a:rPr>
              <a:t>与条件变量，并手动通过计数器来管理资源数量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3C70E6-8A3E-9C45-8B9D-E25EF5840994}"/>
              </a:ext>
            </a:extLst>
          </p:cNvPr>
          <p:cNvSpPr/>
          <p:nvPr/>
        </p:nvSpPr>
        <p:spPr>
          <a:xfrm>
            <a:off x="1284786" y="4874181"/>
            <a:ext cx="5955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/>
              <a:t>为何不提出新的同步原语</a:t>
            </a:r>
            <a:r>
              <a:rPr lang="zh-CN" altLang="en-US" dirty="0"/>
              <a:t>，便于在多个线程之间</a:t>
            </a:r>
            <a:r>
              <a:rPr lang="zh-CN" altLang="en-US" b="1" dirty="0"/>
              <a:t>管理资源</a:t>
            </a:r>
            <a:endParaRPr lang="en-CN" b="1" dirty="0"/>
          </a:p>
        </p:txBody>
      </p:sp>
      <p:sp>
        <p:nvSpPr>
          <p:cNvPr id="6" name="右箭头 5">
            <a:extLst>
              <a:ext uri="{FF2B5EF4-FFF2-40B4-BE49-F238E27FC236}">
                <a16:creationId xmlns:a16="http://schemas.microsoft.com/office/drawing/2014/main" id="{67ECC5EE-96EF-614C-9B50-9611373AF466}"/>
              </a:ext>
            </a:extLst>
          </p:cNvPr>
          <p:cNvSpPr/>
          <p:nvPr/>
        </p:nvSpPr>
        <p:spPr>
          <a:xfrm>
            <a:off x="1308783" y="2129502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9A5B3F9D-19D3-7A4B-8AD0-FBE06E63083B}"/>
              </a:ext>
            </a:extLst>
          </p:cNvPr>
          <p:cNvSpPr/>
          <p:nvPr/>
        </p:nvSpPr>
        <p:spPr>
          <a:xfrm>
            <a:off x="1311154" y="2616258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DAA0800F-926B-4040-8143-32F4E132773F}"/>
              </a:ext>
            </a:extLst>
          </p:cNvPr>
          <p:cNvSpPr/>
          <p:nvPr/>
        </p:nvSpPr>
        <p:spPr>
          <a:xfrm>
            <a:off x="1308783" y="3103014"/>
            <a:ext cx="144016" cy="17015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45202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415712" y="3361556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producer(void) {</a:t>
            </a:r>
          </a:p>
          <a:p>
            <a:r>
              <a:rPr lang="en-US">
                <a:latin typeface="Courier" pitchFamily="2" charset="0"/>
              </a:rPr>
              <a:t>	new_msg = produce_new(); 	</a:t>
            </a:r>
            <a:r>
              <a:rPr lang="en-US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>
                <a:latin typeface="Courier" pitchFamily="2" charset="0"/>
              </a:rPr>
              <a:t>(&amp;empty_slot_sem);</a:t>
            </a:r>
          </a:p>
          <a:p>
            <a:r>
              <a:rPr lang="en-US">
                <a:latin typeface="Courier" pitchFamily="2" charset="0"/>
              </a:rPr>
              <a:t>	buffer_add(new_msg); 	</a:t>
            </a:r>
          </a:p>
          <a:p>
            <a:r>
              <a:rPr lang="en-US">
                <a:latin typeface="Courier" pitchFamily="2" charset="0"/>
              </a:rPr>
              <a:t>       </a:t>
            </a:r>
            <a:r>
              <a:rPr lang="en-CN" dirty="0">
                <a:latin typeface="Courier" pitchFamily="2" charset="0"/>
              </a:rPr>
              <a:t>// ...</a:t>
            </a:r>
          </a:p>
          <a:p>
            <a:r>
              <a:rPr lang="en-US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5540743" y="3920185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1C30F9-B691-AB4C-9137-172F45B35DA9}"/>
              </a:ext>
            </a:extLst>
          </p:cNvPr>
          <p:cNvSpPr/>
          <p:nvPr/>
        </p:nvSpPr>
        <p:spPr>
          <a:xfrm>
            <a:off x="3635896" y="123376"/>
            <a:ext cx="749119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600" dirty="0">
                <a:latin typeface="Courier" pitchFamily="2" charset="0"/>
              </a:rPr>
              <a:t>while(true) {</a:t>
            </a:r>
          </a:p>
          <a:p>
            <a:r>
              <a:rPr lang="en-CN" sz="1600" dirty="0">
                <a:latin typeface="Courier" pitchFamily="2" charset="0"/>
              </a:rPr>
              <a:t>	new_msg = produce_new();</a:t>
            </a:r>
            <a:endParaRPr lang="en-CN" sz="1600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 sz="1600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lock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while (empty_slot == 0) 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</a:t>
            </a:r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	cond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_wait(&amp;empty_cond,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                     &amp;empty_slot_lock);</a:t>
            </a:r>
          </a:p>
          <a:p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	empty_slot --;</a:t>
            </a:r>
          </a:p>
          <a:p>
            <a:r>
              <a:rPr lang="en-CN" sz="1600">
                <a:solidFill>
                  <a:srgbClr val="00B050"/>
                </a:solidFill>
                <a:latin typeface="Courier" pitchFamily="2" charset="0"/>
              </a:rPr>
              <a:t>	unlock</a:t>
            </a:r>
            <a:r>
              <a:rPr lang="en-CN" sz="1600" dirty="0">
                <a:solidFill>
                  <a:srgbClr val="00B050"/>
                </a:solidFill>
                <a:latin typeface="Courier" pitchFamily="2" charset="0"/>
              </a:rPr>
              <a:t>(&amp;empty_slot_lock);</a:t>
            </a:r>
          </a:p>
          <a:p>
            <a:endParaRPr lang="en-CN" sz="1600" dirty="0">
              <a:latin typeface="Courier" pitchFamily="2" charset="0"/>
            </a:endParaRPr>
          </a:p>
          <a:p>
            <a:r>
              <a:rPr lang="en-CN" sz="1600" dirty="0">
                <a:latin typeface="Courier" pitchFamily="2" charset="0"/>
              </a:rPr>
              <a:t>	buffer_add(new_msg);</a:t>
            </a:r>
          </a:p>
          <a:p>
            <a:r>
              <a:rPr lang="en-CN" sz="1600" dirty="0">
                <a:latin typeface="Courier" pitchFamily="2" charset="0"/>
              </a:rPr>
              <a:t>	// ...</a:t>
            </a:r>
          </a:p>
          <a:p>
            <a:r>
              <a:rPr lang="en-CN" sz="1600" dirty="0">
                <a:latin typeface="Courier" pitchFamily="2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E88CAC-D282-5A4B-B0F0-C4F86E159DAF}"/>
              </a:ext>
            </a:extLst>
          </p:cNvPr>
          <p:cNvCxnSpPr/>
          <p:nvPr/>
        </p:nvCxnSpPr>
        <p:spPr>
          <a:xfrm flipH="1">
            <a:off x="2051720" y="1361104"/>
            <a:ext cx="2483296" cy="264852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5CB8E0D-007E-CB46-A283-1F536405BE6D}"/>
              </a:ext>
            </a:extLst>
          </p:cNvPr>
          <p:cNvSpPr/>
          <p:nvPr/>
        </p:nvSpPr>
        <p:spPr>
          <a:xfrm>
            <a:off x="1400502" y="1891944"/>
            <a:ext cx="21329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使用</a:t>
            </a:r>
            <a:r>
              <a:rPr lang="zh-CN" altLang="en-US">
                <a:latin typeface="Courier" pitchFamily="2" charset="0"/>
              </a:rPr>
              <a:t>信号量可以将其压缩到</a:t>
            </a:r>
            <a:r>
              <a:rPr lang="zh-CN" altLang="en-US" b="1">
                <a:latin typeface="Courier" pitchFamily="2" charset="0"/>
              </a:rPr>
              <a:t>一行代码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38147611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信号量的使用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4237997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847654" y="1361104"/>
            <a:ext cx="5288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void producer(void) {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new_msg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produce_new</a:t>
            </a:r>
            <a:r>
              <a:rPr lang="en-US" dirty="0">
                <a:latin typeface="Courier" pitchFamily="2" charset="0"/>
              </a:rPr>
              <a:t>();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empty_slot_sem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buffer_add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new_msg</a:t>
            </a:r>
            <a:r>
              <a:rPr lang="en-US" dirty="0">
                <a:latin typeface="Courier" pitchFamily="2" charset="0"/>
              </a:rPr>
              <a:t>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sem_signal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filled_slot_sem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1CB56D-2A50-EC49-BB9D-46342C582C8D}"/>
              </a:ext>
            </a:extLst>
          </p:cNvPr>
          <p:cNvSpPr/>
          <p:nvPr/>
        </p:nvSpPr>
        <p:spPr>
          <a:xfrm>
            <a:off x="908614" y="3347226"/>
            <a:ext cx="52272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void consumer(void) {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sem_wait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filled_slot_sem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US" dirty="0" err="1">
                <a:latin typeface="Courier" pitchFamily="2" charset="0"/>
              </a:rPr>
              <a:t>cur_msg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buffer_remove</a:t>
            </a:r>
            <a:r>
              <a:rPr lang="en-US" dirty="0">
                <a:latin typeface="Courier" pitchFamily="2" charset="0"/>
              </a:rPr>
              <a:t>(); 	</a:t>
            </a:r>
            <a:r>
              <a:rPr lang="en-US" dirty="0" err="1">
                <a:solidFill>
                  <a:schemeClr val="accent1"/>
                </a:solidFill>
                <a:latin typeface="Courier" pitchFamily="2" charset="0"/>
              </a:rPr>
              <a:t>sem_signal</a:t>
            </a:r>
            <a:r>
              <a:rPr lang="en-US" dirty="0">
                <a:latin typeface="Courier" pitchFamily="2" charset="0"/>
              </a:rPr>
              <a:t>(&amp;</a:t>
            </a:r>
            <a:r>
              <a:rPr lang="en-US" dirty="0" err="1">
                <a:latin typeface="Courier" pitchFamily="2" charset="0"/>
              </a:rPr>
              <a:t>empty_slot_sem</a:t>
            </a:r>
            <a:r>
              <a:rPr lang="en-US" dirty="0">
                <a:latin typeface="Courier" pitchFamily="2" charset="0"/>
              </a:rPr>
              <a:t>); 	</a:t>
            </a:r>
            <a:r>
              <a:rPr lang="en-US" dirty="0" err="1">
                <a:latin typeface="Courier" pitchFamily="2" charset="0"/>
              </a:rPr>
              <a:t>handle_msg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cur_msg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}</a:t>
            </a:r>
            <a:endParaRPr lang="en-CN">
              <a:latin typeface="Courier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F4477A-A1CF-3344-84EB-70166AC121D2}"/>
              </a:ext>
            </a:extLst>
          </p:cNvPr>
          <p:cNvSpPr/>
          <p:nvPr/>
        </p:nvSpPr>
        <p:spPr>
          <a:xfrm>
            <a:off x="6271433" y="1889761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 dirty="0" err="1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950C3-1122-E94D-8703-4343893FEDB4}"/>
              </a:ext>
            </a:extLst>
          </p:cNvPr>
          <p:cNvSpPr/>
          <p:nvPr/>
        </p:nvSpPr>
        <p:spPr>
          <a:xfrm>
            <a:off x="6273809" y="2482860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7D6F5A-9460-1445-BBDD-48CE7C945E4D}"/>
              </a:ext>
            </a:extLst>
          </p:cNvPr>
          <p:cNvSpPr/>
          <p:nvPr/>
        </p:nvSpPr>
        <p:spPr>
          <a:xfrm>
            <a:off x="6287415" y="3535628"/>
            <a:ext cx="2162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消耗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filled_slot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CA4F1A-B21D-3D41-B357-1D55D057E5CE}"/>
              </a:ext>
            </a:extLst>
          </p:cNvPr>
          <p:cNvSpPr/>
          <p:nvPr/>
        </p:nvSpPr>
        <p:spPr>
          <a:xfrm>
            <a:off x="6271433" y="4235384"/>
            <a:ext cx="20249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增加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empty_slot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19E82-4823-2D4D-B976-E634A3E19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5468-10D2-9544-B3DC-89EEB6EF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4319F6-DC92-F047-A2F4-7C9D7BE314A1}"/>
              </a:ext>
            </a:extLst>
          </p:cNvPr>
          <p:cNvSpPr txBox="1"/>
          <p:nvPr/>
        </p:nvSpPr>
        <p:spPr>
          <a:xfrm>
            <a:off x="4237997" y="308336"/>
            <a:ext cx="48526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为什么信号量没有</a:t>
            </a:r>
            <a:r>
              <a:rPr lang="en-US" altLang="zh-CN" dirty="0">
                <a:latin typeface="Courier" pitchFamily="2" charset="0"/>
              </a:rPr>
              <a:t>lost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notification</a:t>
            </a:r>
            <a:r>
              <a:rPr lang="zh-CN" altLang="en-US" dirty="0">
                <a:latin typeface="Courier" pitchFamily="2" charset="0"/>
              </a:rPr>
              <a:t>的问题呢？因为</a:t>
            </a:r>
            <a:r>
              <a:rPr lang="en-US" altLang="zh-CN" dirty="0">
                <a:latin typeface="Courier" pitchFamily="2" charset="0"/>
              </a:rPr>
              <a:t>counter</a:t>
            </a:r>
            <a:r>
              <a:rPr lang="zh-CN" altLang="en-US" dirty="0">
                <a:latin typeface="Courier" pitchFamily="2" charset="0"/>
              </a:rPr>
              <a:t>会记录下</a:t>
            </a:r>
            <a:r>
              <a:rPr lang="en-US" altLang="zh-CN" dirty="0">
                <a:latin typeface="Courier" pitchFamily="2" charset="0"/>
              </a:rPr>
              <a:t>notification</a:t>
            </a:r>
            <a:endParaRPr lang="en-CN" altLang="zh-CN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0505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回顾：信号量的基本语义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2411760" y="1938337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>
                <a:latin typeface="Courier" pitchFamily="2" charset="0"/>
              </a:rPr>
              <a:t>void wait(int S) {</a:t>
            </a:r>
          </a:p>
          <a:p>
            <a:r>
              <a:rPr lang="en-CN">
                <a:latin typeface="Courier" pitchFamily="2" charset="0"/>
              </a:rPr>
              <a:t>	while(S &lt;= 0)</a:t>
            </a:r>
          </a:p>
          <a:p>
            <a:r>
              <a:rPr lang="en-CN">
                <a:latin typeface="Courier" pitchFamily="2" charset="0"/>
              </a:rPr>
              <a:t>		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* </a:t>
            </a:r>
            <a:r>
              <a:rPr lang="en-US" altLang="zh-CN" dirty="0">
                <a:latin typeface="Courier" pitchFamily="2" charset="0"/>
              </a:rPr>
              <a:t>Waiting */</a:t>
            </a:r>
            <a:r>
              <a:rPr lang="en-CN">
                <a:latin typeface="Courier" pitchFamily="2" charset="0"/>
              </a:rPr>
              <a:t>;</a:t>
            </a:r>
          </a:p>
          <a:p>
            <a:r>
              <a:rPr lang="en-CN">
                <a:latin typeface="Courier" pitchFamily="2" charset="0"/>
              </a:rPr>
              <a:t>	S--; 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signal(int S) {</a:t>
            </a:r>
          </a:p>
          <a:p>
            <a:r>
              <a:rPr lang="en-CN">
                <a:latin typeface="Courier" pitchFamily="2" charset="0"/>
              </a:rPr>
              <a:t>	S++;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755576" y="156900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语义上：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1871581" y="1046509"/>
            <a:ext cx="5400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通过计数器来协调（阻塞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放行）多个线程的执行。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7C0EB-7998-8B44-B7BC-64EA55318C85}"/>
              </a:ext>
            </a:extLst>
          </p:cNvPr>
          <p:cNvSpPr/>
          <p:nvPr/>
        </p:nvSpPr>
        <p:spPr>
          <a:xfrm>
            <a:off x="5722938" y="1874908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P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39909-240A-BA44-AAA2-4026B00ED8B2}"/>
              </a:ext>
            </a:extLst>
          </p:cNvPr>
          <p:cNvSpPr/>
          <p:nvPr/>
        </p:nvSpPr>
        <p:spPr>
          <a:xfrm>
            <a:off x="5711271" y="3503512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V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A0444-125C-5348-99DA-FBD7D8984D2A}"/>
              </a:ext>
            </a:extLst>
          </p:cNvPr>
          <p:cNvSpPr/>
          <p:nvPr/>
        </p:nvSpPr>
        <p:spPr>
          <a:xfrm>
            <a:off x="2748423" y="4762784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>
                <a:solidFill>
                  <a:srgbClr val="FF0000"/>
                </a:solidFill>
                <a:latin typeface="Courier" pitchFamily="2" charset="0"/>
              </a:rPr>
              <a:t>这样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实现是否会有问题？为什么？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4909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回顾：信号量的基本语义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2411760" y="1938337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 dirty="0">
                <a:latin typeface="Courier" pitchFamily="2" charset="0"/>
              </a:rPr>
              <a:t>void wait(int S) {</a:t>
            </a:r>
          </a:p>
          <a:p>
            <a:r>
              <a:rPr lang="en-CN" dirty="0">
                <a:latin typeface="Courier" pitchFamily="2" charset="0"/>
              </a:rPr>
              <a:t>	while(S &lt;= 0)</a:t>
            </a:r>
          </a:p>
          <a:p>
            <a:r>
              <a:rPr lang="en-CN" dirty="0">
                <a:latin typeface="Courier" pitchFamily="2" charset="0"/>
              </a:rPr>
              <a:t>		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* </a:t>
            </a:r>
            <a:r>
              <a:rPr lang="en-US" altLang="zh-CN" dirty="0">
                <a:latin typeface="Courier" pitchFamily="2" charset="0"/>
              </a:rPr>
              <a:t>Waiting */</a:t>
            </a:r>
            <a:r>
              <a:rPr lang="en-CN" dirty="0">
                <a:latin typeface="Courier" pitchFamily="2" charset="0"/>
              </a:rPr>
              <a:t>;</a:t>
            </a:r>
          </a:p>
          <a:p>
            <a:r>
              <a:rPr lang="en-CN" dirty="0">
                <a:latin typeface="Courier" pitchFamily="2" charset="0"/>
              </a:rPr>
              <a:t>	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atomic_add(&amp;S, -1); </a:t>
            </a:r>
          </a:p>
          <a:p>
            <a:r>
              <a:rPr lang="en-CN" dirty="0">
                <a:latin typeface="Courier" pitchFamily="2" charset="0"/>
              </a:rPr>
              <a:t>} </a:t>
            </a:r>
          </a:p>
          <a:p>
            <a:endParaRPr lang="en-CN" dirty="0">
              <a:latin typeface="Courier" pitchFamily="2" charset="0"/>
            </a:endParaRPr>
          </a:p>
          <a:p>
            <a:r>
              <a:rPr lang="en-CN" dirty="0">
                <a:latin typeface="Courier" pitchFamily="2" charset="0"/>
              </a:rPr>
              <a:t>void signal(int S) {</a:t>
            </a:r>
          </a:p>
          <a:p>
            <a:r>
              <a:rPr lang="en-CN" dirty="0">
                <a:latin typeface="Courier" pitchFamily="2" charset="0"/>
              </a:rPr>
              <a:t>	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atomic_add(&amp;S, 1); </a:t>
            </a:r>
          </a:p>
          <a:p>
            <a:r>
              <a:rPr lang="en-CN" dirty="0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71BC3-CAFF-7044-A7D2-6C4C686203FF}"/>
              </a:ext>
            </a:extLst>
          </p:cNvPr>
          <p:cNvSpPr/>
          <p:nvPr/>
        </p:nvSpPr>
        <p:spPr>
          <a:xfrm>
            <a:off x="755576" y="156900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语义上：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0C3ED-9EDD-444F-8BED-ECA269DAAB71}"/>
              </a:ext>
            </a:extLst>
          </p:cNvPr>
          <p:cNvSpPr/>
          <p:nvPr/>
        </p:nvSpPr>
        <p:spPr>
          <a:xfrm>
            <a:off x="1871581" y="1046509"/>
            <a:ext cx="5400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通过计数器来协调（阻塞</a:t>
            </a:r>
            <a:r>
              <a:rPr lang="en-US" altLang="zh-CN" dirty="0">
                <a:latin typeface="Courier" pitchFamily="2" charset="0"/>
              </a:rPr>
              <a:t>/</a:t>
            </a:r>
            <a:r>
              <a:rPr lang="zh-CN" altLang="en-US" dirty="0">
                <a:latin typeface="Courier" pitchFamily="2" charset="0"/>
              </a:rPr>
              <a:t>放行）多个线程的执行。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77C0EB-7998-8B44-B7BC-64EA55318C85}"/>
              </a:ext>
            </a:extLst>
          </p:cNvPr>
          <p:cNvSpPr/>
          <p:nvPr/>
        </p:nvSpPr>
        <p:spPr>
          <a:xfrm>
            <a:off x="5722938" y="1874908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P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D39909-240A-BA44-AAA2-4026B00ED8B2}"/>
              </a:ext>
            </a:extLst>
          </p:cNvPr>
          <p:cNvSpPr/>
          <p:nvPr/>
        </p:nvSpPr>
        <p:spPr>
          <a:xfrm>
            <a:off x="5711271" y="3503512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latin typeface="Courier" pitchFamily="2" charset="0"/>
              </a:rPr>
              <a:t>V</a:t>
            </a:r>
            <a:r>
              <a:rPr lang="zh-CN" altLang="en-CN">
                <a:latin typeface="Courier" pitchFamily="2" charset="0"/>
              </a:rPr>
              <a:t>操作</a:t>
            </a:r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1A0444-125C-5348-99DA-FBD7D8984D2A}"/>
              </a:ext>
            </a:extLst>
          </p:cNvPr>
          <p:cNvSpPr/>
          <p:nvPr/>
        </p:nvSpPr>
        <p:spPr>
          <a:xfrm>
            <a:off x="2748423" y="4762784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使用原子操作后呢</a:t>
            </a:r>
            <a:r>
              <a:rPr lang="zh-CN" altLang="en-US" dirty="0">
                <a:solidFill>
                  <a:srgbClr val="FF0000"/>
                </a:solidFill>
              </a:rPr>
              <a:t>？是否还有问题？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9727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信号量的错误实现</a:t>
            </a:r>
            <a:endParaRPr lang="en-CN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610300" y="20713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93C58-8B04-134A-BC0C-09FE30F1344C}"/>
              </a:ext>
            </a:extLst>
          </p:cNvPr>
          <p:cNvSpPr/>
          <p:nvPr/>
        </p:nvSpPr>
        <p:spPr>
          <a:xfrm>
            <a:off x="5652120" y="193204"/>
            <a:ext cx="35283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200" dirty="0">
                <a:latin typeface="Courier" pitchFamily="2" charset="0"/>
              </a:rPr>
              <a:t>void wait(int S) 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CN" sz="1200">
                <a:latin typeface="Courier" pitchFamily="2" charset="0"/>
              </a:rPr>
              <a:t>while</a:t>
            </a:r>
            <a:r>
              <a:rPr lang="en-CN" sz="1200" dirty="0">
                <a:latin typeface="Courier" pitchFamily="2" charset="0"/>
              </a:rPr>
              <a:t>(S &lt;= 0)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* </a:t>
            </a:r>
            <a:r>
              <a:rPr lang="en-US" altLang="zh-CN" sz="1200" dirty="0">
                <a:latin typeface="Courier" pitchFamily="2" charset="0"/>
              </a:rPr>
              <a:t>Waiting */</a:t>
            </a:r>
            <a:r>
              <a:rPr lang="en-CN" sz="1200" dirty="0">
                <a:latin typeface="Courier" pitchFamily="2" charset="0"/>
              </a:rPr>
              <a:t>;</a:t>
            </a:r>
          </a:p>
          <a:p>
            <a:r>
              <a:rPr lang="zh-CN" altLang="en-US" sz="1200" dirty="0">
                <a:solidFill>
                  <a:srgbClr val="FF0000"/>
                </a:solidFill>
                <a:latin typeface="Courier" pitchFamily="2" charset="0"/>
              </a:rPr>
              <a:t>    </a:t>
            </a:r>
            <a:r>
              <a:rPr lang="en-CN" sz="1200">
                <a:solidFill>
                  <a:srgbClr val="FF0000"/>
                </a:solidFill>
                <a:latin typeface="Courier" pitchFamily="2" charset="0"/>
              </a:rPr>
              <a:t>atomic</a:t>
            </a:r>
            <a:r>
              <a:rPr lang="en-CN" sz="1200" dirty="0">
                <a:solidFill>
                  <a:srgbClr val="FF0000"/>
                </a:solidFill>
                <a:latin typeface="Courier" pitchFamily="2" charset="0"/>
              </a:rPr>
              <a:t>_add(&amp;S, -1); </a:t>
            </a:r>
          </a:p>
          <a:p>
            <a:r>
              <a:rPr lang="en-CN" sz="1200" dirty="0">
                <a:latin typeface="Courier" pitchFamily="2" charset="0"/>
              </a:rPr>
              <a:t>}</a:t>
            </a:r>
          </a:p>
          <a:p>
            <a:r>
              <a:rPr lang="en-CN" sz="1200" dirty="0">
                <a:latin typeface="Courier" pitchFamily="2" charset="0"/>
              </a:rPr>
              <a:t>void signal(int S) {</a:t>
            </a:r>
          </a:p>
          <a:p>
            <a:r>
              <a:rPr lang="zh-CN" altLang="en-US" sz="1200" dirty="0">
                <a:solidFill>
                  <a:srgbClr val="FF0000"/>
                </a:solidFill>
                <a:latin typeface="Courier" pitchFamily="2" charset="0"/>
              </a:rPr>
              <a:t>    </a:t>
            </a:r>
            <a:r>
              <a:rPr lang="en-CN" sz="1200">
                <a:solidFill>
                  <a:srgbClr val="FF0000"/>
                </a:solidFill>
                <a:latin typeface="Courier" pitchFamily="2" charset="0"/>
              </a:rPr>
              <a:t>atomic</a:t>
            </a:r>
            <a:r>
              <a:rPr lang="en-CN" sz="1200" dirty="0">
                <a:solidFill>
                  <a:srgbClr val="FF0000"/>
                </a:solidFill>
                <a:latin typeface="Courier" pitchFamily="2" charset="0"/>
              </a:rPr>
              <a:t>_add(&amp;S, 1); </a:t>
            </a:r>
          </a:p>
          <a:p>
            <a:r>
              <a:rPr lang="en-CN" sz="1200" dirty="0">
                <a:latin typeface="Courier" pitchFamily="2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24402B-4E76-A243-B94D-545145196BB2}"/>
              </a:ext>
            </a:extLst>
          </p:cNvPr>
          <p:cNvSpPr/>
          <p:nvPr/>
        </p:nvSpPr>
        <p:spPr>
          <a:xfrm>
            <a:off x="1084053" y="2220371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0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8FC2E3-056D-204E-89D2-5788C5121489}"/>
              </a:ext>
            </a:extLst>
          </p:cNvPr>
          <p:cNvSpPr/>
          <p:nvPr/>
        </p:nvSpPr>
        <p:spPr>
          <a:xfrm>
            <a:off x="3795031" y="2208880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1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1F32B6-A901-0B43-A0FD-0EBC18368607}"/>
              </a:ext>
            </a:extLst>
          </p:cNvPr>
          <p:cNvSpPr/>
          <p:nvPr/>
        </p:nvSpPr>
        <p:spPr>
          <a:xfrm>
            <a:off x="6732240" y="2220371"/>
            <a:ext cx="7841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线程</a:t>
            </a:r>
            <a:r>
              <a:rPr lang="en-US" altLang="zh-CN" dirty="0">
                <a:latin typeface="Courier" pitchFamily="2" charset="0"/>
              </a:rPr>
              <a:t>2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D1B24-8EF8-AE48-A71B-BD831EA29609}"/>
              </a:ext>
            </a:extLst>
          </p:cNvPr>
          <p:cNvSpPr/>
          <p:nvPr/>
        </p:nvSpPr>
        <p:spPr>
          <a:xfrm>
            <a:off x="3336570" y="299222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Courier" pitchFamily="2" charset="0"/>
              </a:rPr>
              <a:t>wait(</a:t>
            </a:r>
            <a:r>
              <a:rPr lang="en-US" dirty="0" err="1">
                <a:latin typeface="Courier" pitchFamily="2" charset="0"/>
              </a:rPr>
              <a:t>sem</a:t>
            </a:r>
            <a:r>
              <a:rPr lang="en-CN" dirty="0">
                <a:latin typeface="Courier" pitchFamily="2" charset="0"/>
              </a:rPr>
              <a:t>); 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110E7-01E7-664C-B9ED-42934A5A7D32}"/>
              </a:ext>
            </a:extLst>
          </p:cNvPr>
          <p:cNvSpPr/>
          <p:nvPr/>
        </p:nvSpPr>
        <p:spPr>
          <a:xfrm>
            <a:off x="6273780" y="299222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Courier" pitchFamily="2" charset="0"/>
              </a:rPr>
              <a:t>wait(</a:t>
            </a:r>
            <a:r>
              <a:rPr lang="en-US" dirty="0" err="1">
                <a:latin typeface="Courier" pitchFamily="2" charset="0"/>
              </a:rPr>
              <a:t>sem</a:t>
            </a:r>
            <a:r>
              <a:rPr lang="en-CN" dirty="0">
                <a:latin typeface="Courier" pitchFamily="2" charset="0"/>
              </a:rPr>
              <a:t>); 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DD165C-8603-2940-BE70-00217182E155}"/>
              </a:ext>
            </a:extLst>
          </p:cNvPr>
          <p:cNvSpPr/>
          <p:nvPr/>
        </p:nvSpPr>
        <p:spPr>
          <a:xfrm>
            <a:off x="3219552" y="1514295"/>
            <a:ext cx="1935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 </a:t>
            </a:r>
            <a:r>
              <a:rPr lang="zh-CN" altLang="en-US" dirty="0">
                <a:latin typeface="Courier" pitchFamily="2" charset="0"/>
              </a:rPr>
              <a:t>初始值为 </a:t>
            </a:r>
            <a:r>
              <a:rPr lang="en-US" altLang="zh-CN" dirty="0">
                <a:latin typeface="Courier" pitchFamily="2" charset="0"/>
              </a:rPr>
              <a:t>1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9D28DF-D2E4-0B48-86FE-D3C24EF7014E}"/>
              </a:ext>
            </a:extLst>
          </p:cNvPr>
          <p:cNvSpPr/>
          <p:nvPr/>
        </p:nvSpPr>
        <p:spPr>
          <a:xfrm>
            <a:off x="625593" y="3208248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urier" pitchFamily="2" charset="0"/>
              </a:rPr>
              <a:t>signal(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)</a:t>
            </a:r>
            <a:endParaRPr lang="en-C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B5C2FC-F603-504D-9E0A-DD1E549638A8}"/>
              </a:ext>
            </a:extLst>
          </p:cNvPr>
          <p:cNvSpPr/>
          <p:nvPr/>
        </p:nvSpPr>
        <p:spPr>
          <a:xfrm>
            <a:off x="3288479" y="3505572"/>
            <a:ext cx="179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离开</a:t>
            </a:r>
            <a:r>
              <a:rPr lang="en-US" altLang="zh-CN" dirty="0">
                <a:latin typeface="Courier" pitchFamily="2" charset="0"/>
              </a:rPr>
              <a:t>while</a:t>
            </a:r>
            <a:r>
              <a:rPr lang="zh-CN" altLang="en-US" dirty="0">
                <a:latin typeface="Courier" pitchFamily="2" charset="0"/>
              </a:rPr>
              <a:t>循环</a:t>
            </a:r>
            <a:endParaRPr lang="en-C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D21E83-9723-F644-9405-FC7E01B7A883}"/>
              </a:ext>
            </a:extLst>
          </p:cNvPr>
          <p:cNvSpPr/>
          <p:nvPr/>
        </p:nvSpPr>
        <p:spPr>
          <a:xfrm>
            <a:off x="6225689" y="3529577"/>
            <a:ext cx="1797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离开</a:t>
            </a:r>
            <a:r>
              <a:rPr lang="en-US" altLang="zh-CN" dirty="0">
                <a:latin typeface="Courier" pitchFamily="2" charset="0"/>
              </a:rPr>
              <a:t>while</a:t>
            </a:r>
            <a:r>
              <a:rPr lang="zh-CN" altLang="en-US" dirty="0">
                <a:latin typeface="Courier" pitchFamily="2" charset="0"/>
              </a:rPr>
              <a:t>循环</a:t>
            </a:r>
            <a:endParaRPr lang="en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218DF1-3B20-BD42-B71F-312D2E1A4963}"/>
              </a:ext>
            </a:extLst>
          </p:cNvPr>
          <p:cNvSpPr/>
          <p:nvPr/>
        </p:nvSpPr>
        <p:spPr>
          <a:xfrm>
            <a:off x="2578348" y="4043762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atomic_add(&amp;sem, -1); </a:t>
            </a:r>
            <a:endParaRPr lang="en-C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B4D8B9-75D2-D940-86B9-4AC50702C88A}"/>
              </a:ext>
            </a:extLst>
          </p:cNvPr>
          <p:cNvSpPr/>
          <p:nvPr/>
        </p:nvSpPr>
        <p:spPr>
          <a:xfrm>
            <a:off x="5515558" y="4043762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atomic_add(&amp;sem, -1); </a:t>
            </a:r>
            <a:endParaRPr lang="en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FB7E3-86B8-E447-AA3E-86678DEDA6CE}"/>
              </a:ext>
            </a:extLst>
          </p:cNvPr>
          <p:cNvSpPr/>
          <p:nvPr/>
        </p:nvSpPr>
        <p:spPr>
          <a:xfrm>
            <a:off x="1374144" y="4837720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结果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：</a:t>
            </a: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s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em = -1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E3BFF8-5C35-7F4F-97BC-84E4E00645CC}"/>
              </a:ext>
            </a:extLst>
          </p:cNvPr>
          <p:cNvSpPr/>
          <p:nvPr/>
        </p:nvSpPr>
        <p:spPr>
          <a:xfrm>
            <a:off x="3310570" y="4864432"/>
            <a:ext cx="40607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线程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1,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线程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同时以为自己拿到了资源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463FF511-A0FB-D744-9279-899428E6018F}"/>
              </a:ext>
            </a:extLst>
          </p:cNvPr>
          <p:cNvSpPr/>
          <p:nvPr/>
        </p:nvSpPr>
        <p:spPr>
          <a:xfrm>
            <a:off x="724419" y="271348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Courier" pitchFamily="2" charset="0"/>
              </a:rPr>
              <a:t>wait(</a:t>
            </a:r>
            <a:r>
              <a:rPr lang="en-US" dirty="0" err="1">
                <a:latin typeface="Courier" pitchFamily="2" charset="0"/>
              </a:rPr>
              <a:t>sem</a:t>
            </a:r>
            <a:r>
              <a:rPr lang="en-CN" dirty="0">
                <a:latin typeface="Courier" pitchFamily="2" charset="0"/>
              </a:rPr>
              <a:t>);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82983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-1</a:t>
            </a:r>
            <a:r>
              <a:rPr lang="zh-CN" altLang="en-US" dirty="0"/>
              <a:t>：忙等</a:t>
            </a:r>
            <a:endParaRPr lang="en-CN" b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B2BFD4-7544-3143-AE3A-1D70924D878C}"/>
              </a:ext>
            </a:extLst>
          </p:cNvPr>
          <p:cNvSpPr/>
          <p:nvPr/>
        </p:nvSpPr>
        <p:spPr>
          <a:xfrm>
            <a:off x="267816" y="1058455"/>
            <a:ext cx="660844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	lock(S-&gt;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lock);</a:t>
            </a:r>
          </a:p>
          <a:p>
            <a:r>
              <a:rPr lang="en-CN">
                <a:latin typeface="Courier" pitchFamily="2" charset="0"/>
              </a:rPr>
              <a:t>	while(S-&gt;value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en-CN">
                <a:latin typeface="Courier" pitchFamily="2" charset="0"/>
              </a:rPr>
              <a:t>= 0) {</a:t>
            </a:r>
          </a:p>
          <a:p>
            <a:r>
              <a:rPr lang="en-CN">
                <a:latin typeface="Courier" pitchFamily="2" charset="0"/>
              </a:rPr>
              <a:t>		unlock(S-&gt;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lock);</a:t>
            </a:r>
          </a:p>
          <a:p>
            <a:r>
              <a:rPr lang="en-CN">
                <a:latin typeface="Courier" pitchFamily="2" charset="0"/>
              </a:rPr>
              <a:t>		lock(S-&gt;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lock); 	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	</a:t>
            </a:r>
            <a:r>
              <a:rPr lang="en-CN">
                <a:latin typeface="Courier" pitchFamily="2" charset="0"/>
              </a:rPr>
              <a:t>}</a:t>
            </a:r>
          </a:p>
          <a:p>
            <a:r>
              <a:rPr lang="en-CN">
                <a:latin typeface="Courier" pitchFamily="2" charset="0"/>
              </a:rPr>
              <a:t> 	S-&gt;value --; </a:t>
            </a:r>
          </a:p>
          <a:p>
            <a:r>
              <a:rPr lang="en-CN">
                <a:latin typeface="Courier" pitchFamily="2" charset="0"/>
              </a:rPr>
              <a:t>	unlock(S-&gt;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lock);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signal(sem_t *S) {</a:t>
            </a:r>
          </a:p>
          <a:p>
            <a:r>
              <a:rPr lang="en-CN">
                <a:latin typeface="Courier" pitchFamily="2" charset="0"/>
              </a:rPr>
              <a:t>	lock(S-&gt;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lock);</a:t>
            </a:r>
          </a:p>
          <a:p>
            <a:r>
              <a:rPr lang="en-CN">
                <a:latin typeface="Courier" pitchFamily="2" charset="0"/>
              </a:rPr>
              <a:t>	S-&gt;value ++;</a:t>
            </a:r>
          </a:p>
          <a:p>
            <a:r>
              <a:rPr lang="en-CN">
                <a:latin typeface="Courier" pitchFamily="2" charset="0"/>
              </a:rPr>
              <a:t>	unlock(S-&gt;</a:t>
            </a:r>
            <a:r>
              <a:rPr lang="en-US" altLang="zh-CN" dirty="0" err="1">
                <a:latin typeface="Courier" pitchFamily="2" charset="0"/>
              </a:rPr>
              <a:t>sem</a:t>
            </a:r>
            <a:r>
              <a:rPr lang="en-US" altLang="zh-CN" dirty="0">
                <a:latin typeface="Courier" pitchFamily="2" charset="0"/>
              </a:rPr>
              <a:t>_</a:t>
            </a:r>
            <a:r>
              <a:rPr lang="en-CN">
                <a:latin typeface="Courier" pitchFamily="2" charset="0"/>
              </a:rPr>
              <a:t>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416A24-A9F1-6244-AE93-FEAC410C2CBA}"/>
              </a:ext>
            </a:extLst>
          </p:cNvPr>
          <p:cNvSpPr/>
          <p:nvPr/>
        </p:nvSpPr>
        <p:spPr>
          <a:xfrm>
            <a:off x="5264276" y="2053513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Busy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looping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，无意义等待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7B1883BB-51BD-894E-BD73-541F2E4C6196}"/>
              </a:ext>
            </a:extLst>
          </p:cNvPr>
          <p:cNvSpPr/>
          <p:nvPr/>
        </p:nvSpPr>
        <p:spPr>
          <a:xfrm>
            <a:off x="4139952" y="2672834"/>
            <a:ext cx="41024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此时已经取得</a:t>
            </a:r>
            <a:r>
              <a:rPr lang="en-US" altLang="zh-CN" dirty="0" err="1">
                <a:solidFill>
                  <a:srgbClr val="FF0000"/>
                </a:solidFill>
                <a:latin typeface="Courier" pitchFamily="2" charset="0"/>
              </a:rPr>
              <a:t>sem_lock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，防止同时</a:t>
            </a:r>
            <a:r>
              <a:rPr lang="en-US" altLang="zh-CN" dirty="0">
                <a:solidFill>
                  <a:srgbClr val="FF0000"/>
                </a:solidFill>
                <a:latin typeface="Courier" pitchFamily="2" charset="0"/>
              </a:rPr>
              <a:t>-1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2157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-2</a:t>
            </a:r>
            <a:r>
              <a:rPr lang="zh-CN" altLang="en-US" dirty="0"/>
              <a:t>：条件变量</a:t>
            </a:r>
            <a:endParaRPr lang="en-CN" b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B2BFD4-7544-3143-AE3A-1D70924D878C}"/>
              </a:ext>
            </a:extLst>
          </p:cNvPr>
          <p:cNvSpPr/>
          <p:nvPr/>
        </p:nvSpPr>
        <p:spPr>
          <a:xfrm>
            <a:off x="267816" y="1058455"/>
            <a:ext cx="761655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	lock(S-&gt;sem_lock );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while(S-&gt;value == 0) </a:t>
            </a:r>
            <a:r>
              <a:rPr lang="en-CN">
                <a:latin typeface="Courier" pitchFamily="2" charset="0"/>
              </a:rPr>
              <a:t>{</a:t>
            </a:r>
          </a:p>
          <a:p>
            <a:r>
              <a:rPr lang="en-CN">
                <a:latin typeface="Courier" pitchFamily="2" charset="0"/>
              </a:rPr>
              <a:t>		cond_wait(S-&gt;sem_cond,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S-&gt;sem_lock);</a:t>
            </a:r>
          </a:p>
          <a:p>
            <a:r>
              <a:rPr lang="en-CN">
                <a:latin typeface="Courier" pitchFamily="2" charset="0"/>
              </a:rPr>
              <a:t>	}</a:t>
            </a:r>
          </a:p>
          <a:p>
            <a:r>
              <a:rPr lang="en-CN">
                <a:latin typeface="Courier" pitchFamily="2" charset="0"/>
              </a:rPr>
              <a:t> 	S-&gt;value --; </a:t>
            </a:r>
          </a:p>
          <a:p>
            <a:r>
              <a:rPr lang="en-CN">
                <a:latin typeface="Courier" pitchFamily="2" charset="0"/>
              </a:rPr>
              <a:t>	unlock(S-&gt;sem_lock);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signal(sem_t *S) {</a:t>
            </a:r>
          </a:p>
          <a:p>
            <a:r>
              <a:rPr lang="en-CN">
                <a:latin typeface="Courier" pitchFamily="2" charset="0"/>
              </a:rPr>
              <a:t>	lock(S-&gt;sem_lock);</a:t>
            </a:r>
          </a:p>
          <a:p>
            <a:r>
              <a:rPr lang="en-CN">
                <a:latin typeface="Courier" pitchFamily="2" charset="0"/>
              </a:rPr>
              <a:t>	S-&gt;value ++;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cond_signal(s-&gt;sem_cond);</a:t>
            </a:r>
          </a:p>
          <a:p>
            <a:r>
              <a:rPr lang="en-CN">
                <a:latin typeface="Courier" pitchFamily="2" charset="0"/>
              </a:rPr>
              <a:t>	unlock(S-&gt;sem_lock);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3E8785-A90D-4741-A742-F62816956728}"/>
              </a:ext>
            </a:extLst>
          </p:cNvPr>
          <p:cNvSpPr/>
          <p:nvPr/>
        </p:nvSpPr>
        <p:spPr>
          <a:xfrm>
            <a:off x="5354725" y="1571217"/>
            <a:ext cx="31854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>
                <a:solidFill>
                  <a:srgbClr val="FF0000"/>
                </a:solidFill>
                <a:latin typeface="Courier" pitchFamily="2" charset="0"/>
              </a:rPr>
              <a:t>使用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条件变量避免无意义等待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3CA5B1-82A7-EC4F-92C3-1C6F4EE0A0E6}"/>
              </a:ext>
            </a:extLst>
          </p:cNvPr>
          <p:cNvSpPr/>
          <p:nvPr/>
        </p:nvSpPr>
        <p:spPr>
          <a:xfrm>
            <a:off x="5220072" y="4281027"/>
            <a:ext cx="3781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每次都要signal</a:t>
            </a:r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，很可能无人等待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2389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-3</a:t>
            </a:r>
            <a:r>
              <a:rPr lang="zh-CN" altLang="en-US" dirty="0"/>
              <a:t>：减少</a:t>
            </a:r>
            <a:r>
              <a:rPr lang="en-US" altLang="zh-CN" dirty="0"/>
              <a:t>signal</a:t>
            </a:r>
            <a:r>
              <a:rPr lang="zh-CN" altLang="en-US" dirty="0"/>
              <a:t>次数</a:t>
            </a:r>
            <a:endParaRPr lang="en-CN" b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F0B72-07EC-B449-AEBD-18A16E90E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D55C2-2C06-3F46-97EA-AC95EA411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B2BFD4-7544-3143-AE3A-1D70924D878C}"/>
              </a:ext>
            </a:extLst>
          </p:cNvPr>
          <p:cNvSpPr/>
          <p:nvPr/>
        </p:nvSpPr>
        <p:spPr>
          <a:xfrm>
            <a:off x="251520" y="913686"/>
            <a:ext cx="768855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	lock(S-&gt;sem_lock );</a:t>
            </a:r>
          </a:p>
          <a:p>
            <a:r>
              <a:rPr lang="en-CN">
                <a:latin typeface="Courier" pitchFamily="2" charset="0"/>
              </a:rPr>
              <a:t> 	S-&gt;value --; 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while(S-&gt;value &lt; 0) </a:t>
            </a:r>
            <a:r>
              <a:rPr lang="en-CN">
                <a:latin typeface="Courier" pitchFamily="2" charset="0"/>
              </a:rPr>
              <a:t>{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zh-CN" altLang="en-US" dirty="0">
                <a:latin typeface="Courier" pitchFamily="2" charset="0"/>
              </a:rPr>
              <a:t>  </a:t>
            </a:r>
            <a:r>
              <a:rPr lang="en-CN">
                <a:latin typeface="Courier" pitchFamily="2" charset="0"/>
              </a:rPr>
              <a:t>cond_wait(S-&gt;sem_cond,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S-&gt;sem_lock);</a:t>
            </a:r>
          </a:p>
          <a:p>
            <a:r>
              <a:rPr lang="en-CN">
                <a:latin typeface="Courier" pitchFamily="2" charset="0"/>
              </a:rPr>
              <a:t>	}</a:t>
            </a:r>
          </a:p>
          <a:p>
            <a:r>
              <a:rPr lang="en-CN">
                <a:latin typeface="Courier" pitchFamily="2" charset="0"/>
              </a:rPr>
              <a:t> 	unlock(S-&gt;sem_lock);</a:t>
            </a:r>
          </a:p>
          <a:p>
            <a:r>
              <a:rPr lang="en-CN">
                <a:latin typeface="Courier" pitchFamily="2" charset="0"/>
              </a:rPr>
              <a:t>} 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signal(sem_t *S) {</a:t>
            </a:r>
          </a:p>
          <a:p>
            <a:r>
              <a:rPr lang="en-CN">
                <a:latin typeface="Courier" pitchFamily="2" charset="0"/>
              </a:rPr>
              <a:t>	lock(S-&gt;sem_lock);</a:t>
            </a:r>
          </a:p>
          <a:p>
            <a:r>
              <a:rPr lang="en-CN">
                <a:latin typeface="Courier" pitchFamily="2" charset="0"/>
              </a:rPr>
              <a:t>	S-&gt;value ++;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if (S-&gt;value &lt; 0)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zh-CN" altLang="en-US" dirty="0">
                <a:latin typeface="Courier" pitchFamily="2" charset="0"/>
              </a:rPr>
              <a:t>  </a:t>
            </a:r>
            <a:r>
              <a:rPr lang="en-CN">
                <a:latin typeface="Courier" pitchFamily="2" charset="0"/>
              </a:rPr>
              <a:t>cond_signal(s-&gt;sem_cond);</a:t>
            </a:r>
          </a:p>
          <a:p>
            <a:r>
              <a:rPr lang="en-CN">
                <a:latin typeface="Courier" pitchFamily="2" charset="0"/>
              </a:rPr>
              <a:t>	unlock(S-&gt;sem_lock);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2972F-69F0-B747-97A0-4D388B6FBFAA}"/>
              </a:ext>
            </a:extLst>
          </p:cNvPr>
          <p:cNvSpPr/>
          <p:nvPr/>
        </p:nvSpPr>
        <p:spPr>
          <a:xfrm>
            <a:off x="6128162" y="1665176"/>
            <a:ext cx="18901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会有什么问题</a:t>
            </a:r>
            <a:r>
              <a:rPr lang="zh-CN" altLang="en-US" dirty="0">
                <a:latin typeface="Courier" pitchFamily="2" charset="0"/>
              </a:rPr>
              <a:t>？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CBCBB1-0EA5-504C-B974-3889AB74066A}"/>
              </a:ext>
            </a:extLst>
          </p:cNvPr>
          <p:cNvSpPr/>
          <p:nvPr/>
        </p:nvSpPr>
        <p:spPr>
          <a:xfrm>
            <a:off x="5755580" y="2373928"/>
            <a:ext cx="23762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比如S-&gt;value = -3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440EF3-C01C-F94A-B656-13345FF09238}"/>
              </a:ext>
            </a:extLst>
          </p:cNvPr>
          <p:cNvSpPr/>
          <p:nvPr/>
        </p:nvSpPr>
        <p:spPr>
          <a:xfrm>
            <a:off x="5755580" y="2721896"/>
            <a:ext cx="2691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signal 后S-&gt;value = -2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D79F5-661E-5441-869E-EC748E175E8C}"/>
              </a:ext>
            </a:extLst>
          </p:cNvPr>
          <p:cNvSpPr/>
          <p:nvPr/>
        </p:nvSpPr>
        <p:spPr>
          <a:xfrm>
            <a:off x="5725708" y="3080003"/>
            <a:ext cx="34182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还是不满足上面while的条件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FAC16F-852C-2546-8ADE-2E090DF758AA}"/>
              </a:ext>
            </a:extLst>
          </p:cNvPr>
          <p:cNvSpPr/>
          <p:nvPr/>
        </p:nvSpPr>
        <p:spPr>
          <a:xfrm>
            <a:off x="5364088" y="3926292"/>
            <a:ext cx="34182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思考：</a:t>
            </a:r>
            <a:r>
              <a:rPr lang="en-CN"/>
              <a:t>需要</a:t>
            </a:r>
            <a:r>
              <a:rPr lang="en-CN">
                <a:highlight>
                  <a:srgbClr val="FFFF00"/>
                </a:highlight>
              </a:rPr>
              <a:t>额外的计数器</a:t>
            </a:r>
            <a:r>
              <a:rPr lang="en-CN"/>
              <a:t>用于单独记录有多少可以唤醒的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ED1481-08BF-1041-A0CF-FC579197F7C5}"/>
              </a:ext>
            </a:extLst>
          </p:cNvPr>
          <p:cNvSpPr/>
          <p:nvPr/>
        </p:nvSpPr>
        <p:spPr>
          <a:xfrm>
            <a:off x="5364088" y="4646826"/>
            <a:ext cx="41107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Courier" pitchFamily="2" charset="0"/>
              </a:rPr>
              <a:t>改进：</a:t>
            </a:r>
            <a:r>
              <a:rPr lang="en-CN">
                <a:solidFill>
                  <a:srgbClr val="FF0000"/>
                </a:solidFill>
                <a:latin typeface="Courier" pitchFamily="2" charset="0"/>
              </a:rPr>
              <a:t>加入条件判断是否需要</a:t>
            </a:r>
            <a:r>
              <a:rPr lang="en-CN" dirty="0">
                <a:solidFill>
                  <a:srgbClr val="FF0000"/>
                </a:solidFill>
                <a:latin typeface="Courier" pitchFamily="2" charset="0"/>
              </a:rPr>
              <a:t>wake</a:t>
            </a:r>
            <a:endParaRPr lang="en-CN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33DEA4-1880-1C45-A338-EC532C820957}"/>
              </a:ext>
            </a:extLst>
          </p:cNvPr>
          <p:cNvSpPr/>
          <p:nvPr/>
        </p:nvSpPr>
        <p:spPr>
          <a:xfrm>
            <a:off x="5455442" y="1221368"/>
            <a:ext cx="304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value减到负数代表有人等待</a:t>
            </a:r>
          </a:p>
        </p:txBody>
      </p:sp>
    </p:spTree>
    <p:extLst>
      <p:ext uri="{BB962C8B-B14F-4D97-AF65-F5344CB8AC3E}">
        <p14:creationId xmlns:p14="http://schemas.microsoft.com/office/powerpoint/2010/main" val="15835376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-4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653B2-51DE-4342-9B4C-4D542858C80C}"/>
              </a:ext>
            </a:extLst>
          </p:cNvPr>
          <p:cNvSpPr/>
          <p:nvPr/>
        </p:nvSpPr>
        <p:spPr>
          <a:xfrm>
            <a:off x="341784" y="2485549"/>
            <a:ext cx="846043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wait(sem_t *S) {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S-&gt;value --;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if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CN">
                <a:latin typeface="Courier" pitchFamily="2" charset="0"/>
              </a:rPr>
              <a:t>(S-&gt;value &lt; 0) {</a:t>
            </a:r>
          </a:p>
          <a:p>
            <a:r>
              <a:rPr lang="en-CN">
                <a:latin typeface="Courier" pitchFamily="2" charset="0"/>
              </a:rPr>
              <a:t>                do {</a:t>
            </a:r>
          </a:p>
          <a:p>
            <a:r>
              <a:rPr lang="en-CN">
                <a:latin typeface="Courier" pitchFamily="2" charset="0"/>
              </a:rPr>
              <a:t>                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cond_wait</a:t>
            </a:r>
            <a:r>
              <a:rPr lang="en-CN">
                <a:latin typeface="Courier" pitchFamily="2" charset="0"/>
              </a:rPr>
              <a:t>(S-&gt;sem_cond, S-&gt;sem_lock);</a:t>
            </a:r>
          </a:p>
          <a:p>
            <a:r>
              <a:rPr lang="en-CN">
                <a:latin typeface="Courier" pitchFamily="2" charset="0"/>
              </a:rPr>
              <a:t>                } while (S-&gt;wakeup == 0);</a:t>
            </a:r>
          </a:p>
          <a:p>
            <a:r>
              <a:rPr lang="en-CN">
                <a:latin typeface="Courier" pitchFamily="2" charset="0"/>
              </a:rPr>
              <a:t>             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 S-&gt;wakeup --;</a:t>
            </a:r>
          </a:p>
          <a:p>
            <a:r>
              <a:rPr lang="en-CN">
                <a:latin typeface="Courier" pitchFamily="2" charset="0"/>
              </a:rPr>
              <a:t>        }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A10C11-ED43-724E-AEAB-70D37A4F37B8}"/>
              </a:ext>
            </a:extLst>
          </p:cNvPr>
          <p:cNvSpPr/>
          <p:nvPr/>
        </p:nvSpPr>
        <p:spPr>
          <a:xfrm>
            <a:off x="766580" y="1478237"/>
            <a:ext cx="7548861" cy="8845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Courier" pitchFamily="2" charset="0"/>
              </a:rPr>
              <a:t>新增一个变量 </a:t>
            </a:r>
            <a:r>
              <a:rPr lang="en-US" altLang="zh-CN" dirty="0">
                <a:highlight>
                  <a:srgbClr val="FFFF00"/>
                </a:highlight>
                <a:latin typeface="Courier" pitchFamily="2" charset="0"/>
              </a:rPr>
              <a:t>wakeup</a:t>
            </a:r>
            <a:r>
              <a:rPr lang="zh-CN" altLang="en-US" dirty="0">
                <a:latin typeface="Courier" pitchFamily="2" charset="0"/>
              </a:rPr>
              <a:t>：等待时可以唤醒的数量</a:t>
            </a:r>
            <a:endParaRPr lang="en-US" altLang="zh-CN" dirty="0">
              <a:latin typeface="Courier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Courier" pitchFamily="2" charset="0"/>
              </a:rPr>
              <a:t>某一时刻真实的资源数：</a:t>
            </a:r>
            <a:r>
              <a:rPr lang="en-US" altLang="zh-CN" dirty="0">
                <a:latin typeface="Courier" pitchFamily="2" charset="0"/>
              </a:rPr>
              <a:t>value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&lt;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0 ? wakeup : value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wakeup</a:t>
            </a:r>
            <a:endParaRPr lang="en-CN" altLang="zh-CN"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1BD09-9785-6840-B87D-18A24B22677F}"/>
              </a:ext>
            </a:extLst>
          </p:cNvPr>
          <p:cNvSpPr/>
          <p:nvPr/>
        </p:nvSpPr>
        <p:spPr>
          <a:xfrm>
            <a:off x="2411760" y="3649588"/>
            <a:ext cx="6390456" cy="7920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4D351-70F5-1546-B80F-37362E9BA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F97FD-DDCC-7F43-8A23-CCA26400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356999-2D3A-A04F-B658-2EBCE07CC4EB}"/>
              </a:ext>
            </a:extLst>
          </p:cNvPr>
          <p:cNvSpPr/>
          <p:nvPr/>
        </p:nvSpPr>
        <p:spPr>
          <a:xfrm>
            <a:off x="770992" y="1108905"/>
            <a:ext cx="7602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介绍一种使用条件变量的实现：</a:t>
            </a:r>
            <a:r>
              <a:rPr lang="zh-CN" altLang="en-US" b="1" dirty="0">
                <a:latin typeface="Courier" pitchFamily="2" charset="0"/>
              </a:rPr>
              <a:t>条件变量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互斥锁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计数器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zh-CN" altLang="en-US" dirty="0">
                <a:latin typeface="Courier" pitchFamily="2" charset="0"/>
              </a:rPr>
              <a:t> 信号量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105631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-4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F32BB-D34D-3D46-99A0-6EA0A0669F3F}"/>
              </a:ext>
            </a:extLst>
          </p:cNvPr>
          <p:cNvSpPr/>
          <p:nvPr/>
        </p:nvSpPr>
        <p:spPr>
          <a:xfrm>
            <a:off x="770992" y="1108905"/>
            <a:ext cx="7602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介绍一种使用条件变量的实现：</a:t>
            </a:r>
            <a:r>
              <a:rPr lang="zh-CN" altLang="en-US" b="1" dirty="0">
                <a:latin typeface="Courier" pitchFamily="2" charset="0"/>
              </a:rPr>
              <a:t>条件变量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互斥锁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计数器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zh-CN" altLang="en-US" dirty="0">
                <a:latin typeface="Courier" pitchFamily="2" charset="0"/>
              </a:rPr>
              <a:t> 信号量</a:t>
            </a:r>
            <a:endParaRPr lang="en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AE30F7-20C8-4843-86A9-790264BE84A0}"/>
              </a:ext>
            </a:extLst>
          </p:cNvPr>
          <p:cNvSpPr/>
          <p:nvPr/>
        </p:nvSpPr>
        <p:spPr>
          <a:xfrm>
            <a:off x="689635" y="1478237"/>
            <a:ext cx="7702751" cy="8845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新增一个变量 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Courier" pitchFamily="2" charset="0"/>
              </a:rPr>
              <a:t>wakeup</a:t>
            </a:r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：等待时可以唤醒的数量</a:t>
            </a:r>
            <a:endParaRPr lang="en-US" altLang="zh-CN" dirty="0">
              <a:solidFill>
                <a:srgbClr val="000000"/>
              </a:solidFill>
              <a:latin typeface="Courier" pitchFamily="2" charset="0"/>
            </a:endParaRPr>
          </a:p>
          <a:p>
            <a:pPr lvl="0" algn="ctr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某一时刻真实的资源数：</a:t>
            </a:r>
            <a:r>
              <a:rPr lang="en-US" altLang="zh-CN" dirty="0">
                <a:solidFill>
                  <a:srgbClr val="000000"/>
                </a:solidFill>
                <a:latin typeface="Courier" pitchFamily="2" charset="0"/>
              </a:rPr>
              <a:t>value</a:t>
            </a:r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" pitchFamily="2" charset="0"/>
              </a:rPr>
              <a:t>&lt;</a:t>
            </a:r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" pitchFamily="2" charset="0"/>
              </a:rPr>
              <a:t>0 ? wakeup : value</a:t>
            </a:r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" pitchFamily="2" charset="0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Courier" pitchFamily="2" charset="0"/>
              </a:rPr>
              <a:t>wakeup</a:t>
            </a:r>
            <a:endParaRPr lang="en-CN" altLang="zh-CN">
              <a:solidFill>
                <a:srgbClr val="000000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5A78B5-3988-3B44-B666-2F272BC71941}"/>
              </a:ext>
            </a:extLst>
          </p:cNvPr>
          <p:cNvSpPr/>
          <p:nvPr/>
        </p:nvSpPr>
        <p:spPr>
          <a:xfrm>
            <a:off x="1085528" y="2711639"/>
            <a:ext cx="653447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signal(</a:t>
            </a:r>
            <a:r>
              <a:rPr lang="en-CN" altLang="zh-CN">
                <a:latin typeface="Courier" pitchFamily="2" charset="0"/>
              </a:rPr>
              <a:t>sem_t *S</a:t>
            </a:r>
            <a:r>
              <a:rPr lang="en-CN">
                <a:latin typeface="Courier" pitchFamily="2" charset="0"/>
              </a:rPr>
              <a:t>) {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S-&gt;value ++;</a:t>
            </a:r>
          </a:p>
          <a:p>
            <a:r>
              <a:rPr lang="en-CN">
                <a:latin typeface="Courier" pitchFamily="2" charset="0"/>
              </a:rPr>
              <a:t>        if (S-&gt;value &lt;= 0) {</a:t>
            </a:r>
          </a:p>
          <a:p>
            <a:r>
              <a:rPr lang="en-CN">
                <a:latin typeface="Courier" pitchFamily="2" charset="0"/>
              </a:rPr>
              <a:t>                </a:t>
            </a:r>
            <a:r>
              <a:rPr lang="en-CN">
                <a:solidFill>
                  <a:schemeClr val="accent3"/>
                </a:solidFill>
                <a:latin typeface="Courier" pitchFamily="2" charset="0"/>
              </a:rPr>
              <a:t>S-&gt;wakeup ++;</a:t>
            </a:r>
          </a:p>
          <a:p>
            <a:r>
              <a:rPr lang="en-CN">
                <a:latin typeface="Courier" pitchFamily="2" charset="0"/>
              </a:rPr>
              <a:t>        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cond_signal</a:t>
            </a:r>
            <a:r>
              <a:rPr lang="en-CN">
                <a:latin typeface="Courier" pitchFamily="2" charset="0"/>
              </a:rPr>
              <a:t>(S-&gt;sem_cond);                </a:t>
            </a:r>
          </a:p>
          <a:p>
            <a:r>
              <a:rPr lang="en-CN">
                <a:latin typeface="Courier" pitchFamily="2" charset="0"/>
              </a:rPr>
              <a:t>        }</a:t>
            </a:r>
          </a:p>
          <a:p>
            <a:r>
              <a:rPr lang="en-CN">
                <a:latin typeface="Courier" pitchFamily="2" charset="0"/>
              </a:rPr>
              <a:t>        </a:t>
            </a:r>
            <a:r>
              <a:rPr lang="en-CN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>
                <a:latin typeface="Courier" pitchFamily="2" charset="0"/>
              </a:rPr>
              <a:t>(S-&gt;sem_lock);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AF180-E36C-6B4F-806F-CDE689BD9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38C323-0682-5E49-BBD5-C164BCAC5B82}"/>
              </a:ext>
            </a:extLst>
          </p:cNvPr>
          <p:cNvSpPr/>
          <p:nvPr/>
        </p:nvSpPr>
        <p:spPr>
          <a:xfrm>
            <a:off x="1979712" y="3577580"/>
            <a:ext cx="4968552" cy="11456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2C606-6730-5443-8517-E1867A764024}"/>
              </a:ext>
            </a:extLst>
          </p:cNvPr>
          <p:cNvSpPr/>
          <p:nvPr/>
        </p:nvSpPr>
        <p:spPr>
          <a:xfrm>
            <a:off x="7406188" y="38196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有人等待</a:t>
            </a:r>
            <a:endParaRPr lang="en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D149B9-FF0E-6544-BB43-6E3671EC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3886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6B2FE-0F6D-AE45-84A2-1AE8FFA30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093786-97DE-3A42-9239-76525887E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D722A-1CA4-064C-98AE-6E8C2A6E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9AD734-2DA2-5545-8A6B-BD8725366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27" y="0"/>
            <a:ext cx="592994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226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信号量的实现</a:t>
            </a:r>
            <a:r>
              <a:rPr lang="en-US" altLang="zh-CN" dirty="0"/>
              <a:t>-4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2653B2-51DE-4342-9B4C-4D542858C80C}"/>
              </a:ext>
            </a:extLst>
          </p:cNvPr>
          <p:cNvSpPr/>
          <p:nvPr/>
        </p:nvSpPr>
        <p:spPr>
          <a:xfrm>
            <a:off x="341784" y="2485549"/>
            <a:ext cx="5166320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050">
                <a:latin typeface="Courier" pitchFamily="2" charset="0"/>
              </a:rPr>
              <a:t>void wait(sem_t *S) {</a:t>
            </a:r>
          </a:p>
          <a:p>
            <a:r>
              <a:rPr lang="en-CN" sz="1050">
                <a:latin typeface="Courier" pitchFamily="2" charset="0"/>
              </a:rPr>
              <a:t>        </a:t>
            </a:r>
            <a:r>
              <a:rPr lang="en-CN" sz="105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050">
                <a:latin typeface="Courier" pitchFamily="2" charset="0"/>
              </a:rPr>
              <a:t>(S-&gt;sem_lock);</a:t>
            </a:r>
          </a:p>
          <a:p>
            <a:r>
              <a:rPr lang="en-CN" sz="1050">
                <a:latin typeface="Courier" pitchFamily="2" charset="0"/>
              </a:rPr>
              <a:t>        </a:t>
            </a:r>
            <a:r>
              <a:rPr lang="en-CN" sz="1050">
                <a:solidFill>
                  <a:schemeClr val="accent1"/>
                </a:solidFill>
                <a:latin typeface="Courier" pitchFamily="2" charset="0"/>
              </a:rPr>
              <a:t>S-&gt;value --;</a:t>
            </a:r>
          </a:p>
          <a:p>
            <a:r>
              <a:rPr lang="en-CN" sz="1050">
                <a:solidFill>
                  <a:schemeClr val="accent1"/>
                </a:solidFill>
                <a:latin typeface="Courier" pitchFamily="2" charset="0"/>
              </a:rPr>
              <a:t>	</a:t>
            </a:r>
            <a:r>
              <a:rPr lang="zh-CN" altLang="en-US" sz="105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CN" sz="1050">
                <a:latin typeface="Courier" pitchFamily="2" charset="0"/>
              </a:rPr>
              <a:t>if</a:t>
            </a:r>
            <a:r>
              <a:rPr lang="zh-CN" altLang="en-US" sz="1050">
                <a:latin typeface="Courier" pitchFamily="2" charset="0"/>
              </a:rPr>
              <a:t> </a:t>
            </a:r>
            <a:r>
              <a:rPr lang="en-CN" sz="1050">
                <a:latin typeface="Courier" pitchFamily="2" charset="0"/>
              </a:rPr>
              <a:t>(S-&gt;value &lt; 0) {</a:t>
            </a:r>
          </a:p>
          <a:p>
            <a:r>
              <a:rPr lang="en-CN" sz="1050">
                <a:latin typeface="Courier" pitchFamily="2" charset="0"/>
              </a:rPr>
              <a:t>                while (S-&gt;wakeup == 0){</a:t>
            </a:r>
          </a:p>
          <a:p>
            <a:r>
              <a:rPr lang="en-CN" sz="1050">
                <a:latin typeface="Courier" pitchFamily="2" charset="0"/>
              </a:rPr>
              <a:t>                        </a:t>
            </a:r>
            <a:r>
              <a:rPr lang="en-CN" sz="1050">
                <a:solidFill>
                  <a:srgbClr val="FF9300"/>
                </a:solidFill>
                <a:latin typeface="Courier" pitchFamily="2" charset="0"/>
              </a:rPr>
              <a:t>cond_wait</a:t>
            </a:r>
            <a:r>
              <a:rPr lang="en-CN" sz="1050">
                <a:latin typeface="Courier" pitchFamily="2" charset="0"/>
              </a:rPr>
              <a:t>(S-&gt;sem_cond, S-&gt;sem_lock);</a:t>
            </a:r>
          </a:p>
          <a:p>
            <a:r>
              <a:rPr lang="en-CN" sz="1050">
                <a:latin typeface="Courier" pitchFamily="2" charset="0"/>
              </a:rPr>
              <a:t>                }</a:t>
            </a:r>
          </a:p>
          <a:p>
            <a:r>
              <a:rPr lang="en-CN" sz="1050">
                <a:solidFill>
                  <a:schemeClr val="accent1"/>
                </a:solidFill>
                <a:latin typeface="Courier" pitchFamily="2" charset="0"/>
              </a:rPr>
              <a:t>		   S-&gt;wakeup --;</a:t>
            </a:r>
          </a:p>
          <a:p>
            <a:r>
              <a:rPr lang="en-CN" sz="1050">
                <a:latin typeface="Courier" pitchFamily="2" charset="0"/>
              </a:rPr>
              <a:t>        }</a:t>
            </a:r>
          </a:p>
          <a:p>
            <a:r>
              <a:rPr lang="en-CN" sz="1050">
                <a:latin typeface="Courier" pitchFamily="2" charset="0"/>
              </a:rPr>
              <a:t>        </a:t>
            </a:r>
            <a:r>
              <a:rPr lang="en-CN" sz="105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050">
                <a:latin typeface="Courier" pitchFamily="2" charset="0"/>
              </a:rPr>
              <a:t>(S-&gt;sem_lock);</a:t>
            </a:r>
          </a:p>
          <a:p>
            <a:r>
              <a:rPr lang="en-CN" sz="1050">
                <a:latin typeface="Courier" pitchFamily="2" charset="0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A10C11-ED43-724E-AEAB-70D37A4F37B8}"/>
              </a:ext>
            </a:extLst>
          </p:cNvPr>
          <p:cNvSpPr/>
          <p:nvPr/>
        </p:nvSpPr>
        <p:spPr>
          <a:xfrm>
            <a:off x="457200" y="1478237"/>
            <a:ext cx="8167621" cy="8844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latin typeface="Courier" pitchFamily="2" charset="0"/>
              </a:rPr>
              <a:t>v</a:t>
            </a:r>
            <a:r>
              <a:rPr lang="en-CN">
                <a:latin typeface="Courier" pitchFamily="2" charset="0"/>
              </a:rPr>
              <a:t>alue</a:t>
            </a:r>
            <a:r>
              <a:rPr lang="zh-CN" altLang="en-US" dirty="0">
                <a:latin typeface="Courier" pitchFamily="2" charset="0"/>
              </a:rPr>
              <a:t>：</a:t>
            </a:r>
            <a:r>
              <a:rPr lang="zh-CN" altLang="en-CN" dirty="0">
                <a:latin typeface="Courier" pitchFamily="2" charset="0"/>
              </a:rPr>
              <a:t>正数</a:t>
            </a:r>
            <a:r>
              <a:rPr lang="zh-CN" altLang="en-US" dirty="0">
                <a:latin typeface="Courier" pitchFamily="2" charset="0"/>
              </a:rPr>
              <a:t>为信号量，负数为有人等待</a:t>
            </a:r>
            <a:r>
              <a:rPr lang="en-US" altLang="zh-CN" dirty="0">
                <a:latin typeface="Courier" pitchFamily="2" charset="0"/>
              </a:rPr>
              <a:t>	wakeup</a:t>
            </a:r>
            <a:r>
              <a:rPr lang="zh-CN" altLang="en-US" dirty="0">
                <a:latin typeface="Courier" pitchFamily="2" charset="0"/>
              </a:rPr>
              <a:t>：等待时可以唤醒的数量</a:t>
            </a:r>
            <a:endParaRPr lang="en-US" altLang="zh-CN" dirty="0">
              <a:latin typeface="Courier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latin typeface="Courier" pitchFamily="2" charset="0"/>
              </a:rPr>
              <a:t>某一时刻真实的信号量：</a:t>
            </a:r>
            <a:r>
              <a:rPr lang="en-US" altLang="zh-CN" dirty="0">
                <a:latin typeface="Courier" pitchFamily="2" charset="0"/>
              </a:rPr>
              <a:t>value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&gt;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0 ? value : wakeup</a:t>
            </a:r>
            <a:endParaRPr lang="en-CN">
              <a:latin typeface="Courier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ED014-964F-1C44-82FE-94D4B385EC77}"/>
              </a:ext>
            </a:extLst>
          </p:cNvPr>
          <p:cNvSpPr/>
          <p:nvPr/>
        </p:nvSpPr>
        <p:spPr>
          <a:xfrm>
            <a:off x="4535016" y="2513571"/>
            <a:ext cx="4151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dirty="0">
                <a:solidFill>
                  <a:schemeClr val="accent1"/>
                </a:solidFill>
                <a:latin typeface="Courier" pitchFamily="2" charset="0"/>
              </a:rPr>
              <a:t>思考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：为何要 </a:t>
            </a:r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do while?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 有限等待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4D351-70F5-1546-B80F-37362E9BA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F97FD-DDCC-7F43-8A23-CCA26400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356999-2D3A-A04F-B658-2EBCE07CC4EB}"/>
              </a:ext>
            </a:extLst>
          </p:cNvPr>
          <p:cNvSpPr/>
          <p:nvPr/>
        </p:nvSpPr>
        <p:spPr>
          <a:xfrm>
            <a:off x="770992" y="1108905"/>
            <a:ext cx="7602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Courier" pitchFamily="2" charset="0"/>
              </a:rPr>
              <a:t>介绍一种使用条件变量的实现：</a:t>
            </a:r>
            <a:r>
              <a:rPr lang="zh-CN" altLang="en-US" b="1" dirty="0">
                <a:latin typeface="Courier" pitchFamily="2" charset="0"/>
              </a:rPr>
              <a:t>条件变量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互斥锁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+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zh-CN" altLang="en-US" b="1" dirty="0">
                <a:latin typeface="Courier" pitchFamily="2" charset="0"/>
              </a:rPr>
              <a:t>计数器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zh-CN" altLang="en-US" dirty="0">
                <a:latin typeface="Courier" pitchFamily="2" charset="0"/>
              </a:rPr>
              <a:t> 信号量</a:t>
            </a:r>
            <a:endParaRPr lang="en-CN" dirty="0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17D480F0-57FA-E14B-8915-9F84505ED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390" y="3651768"/>
            <a:ext cx="4556720" cy="17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434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1BF5F5D-32A9-194A-BA8F-030721269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RCU</a:t>
            </a:r>
            <a:r>
              <a:rPr kumimoji="1" lang="zh-CN" altLang="en-US" dirty="0"/>
              <a:t>：更高效的读写互斥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660EFAC-D487-8E4F-BA7D-898344C6A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4F7296-E298-BA4F-A7CD-1CE9FB54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516D5D-6410-1E48-9A55-9C43ABC6B7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55497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0F43E-F171-4343-9431-88B2A9E84ACB}"/>
              </a:ext>
            </a:extLst>
          </p:cNvPr>
          <p:cNvSpPr txBox="1"/>
          <p:nvPr/>
        </p:nvSpPr>
        <p:spPr>
          <a:xfrm>
            <a:off x="1673678" y="1684094"/>
            <a:ext cx="5796644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思考：如果我们想去除这些操作，让读者即使在有写者写的时候随意读，我们需要做什么？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CD281-794D-294B-BCC7-564A81CF1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5BBE8-F16A-034F-BF60-760141A5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0849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0F43E-F171-4343-9431-88B2A9E84ACB}"/>
              </a:ext>
            </a:extLst>
          </p:cNvPr>
          <p:cNvSpPr txBox="1"/>
          <p:nvPr/>
        </p:nvSpPr>
        <p:spPr>
          <a:xfrm>
            <a:off x="539552" y="1684094"/>
            <a:ext cx="7920880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思考：如何让读者即使在有写者写的时候也能随意读？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DC77E9-BC42-3643-91E5-C9ED65693026}"/>
              </a:ext>
            </a:extLst>
          </p:cNvPr>
          <p:cNvSpPr/>
          <p:nvPr/>
        </p:nvSpPr>
        <p:spPr>
          <a:xfrm>
            <a:off x="1035930" y="4229518"/>
            <a:ext cx="7097960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硬件原子操作有大小限制（最大</a:t>
            </a:r>
            <a:r>
              <a:rPr lang="en-US" altLang="zh-CN"/>
              <a:t>128</a:t>
            </a:r>
            <a:r>
              <a:rPr lang="zh-CN" altLang="en-US"/>
              <a:t> </a:t>
            </a:r>
            <a:r>
              <a:rPr lang="en-US" altLang="zh-CN"/>
              <a:t>bit</a:t>
            </a:r>
            <a:r>
              <a:rPr lang="zh-CN" altLang="en-US"/>
              <a:t>）</a:t>
            </a:r>
            <a:endParaRPr lang="en-CN" altLang="zh-CN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/>
              <a:t>性能瓶颈</a:t>
            </a:r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7C7E1-8B24-A040-999D-4263EED8B349}"/>
              </a:ext>
            </a:extLst>
          </p:cNvPr>
          <p:cNvSpPr/>
          <p:nvPr/>
        </p:nvSpPr>
        <p:spPr>
          <a:xfrm>
            <a:off x="421632" y="378343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硬件原子操作：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0E7C8-8CDD-AB4A-9DFE-6E7628223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003FA4-F17A-A945-A5F4-FF93C11FBD38}"/>
              </a:ext>
            </a:extLst>
          </p:cNvPr>
          <p:cNvSpPr/>
          <p:nvPr/>
        </p:nvSpPr>
        <p:spPr>
          <a:xfrm>
            <a:off x="539552" y="2733766"/>
            <a:ext cx="7581428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：需要一种能够</a:t>
            </a:r>
            <a:r>
              <a:rPr lang="zh-CN" altLang="en-US" b="1"/>
              <a:t>类似之前硬件原子操作</a:t>
            </a:r>
            <a:r>
              <a:rPr lang="zh-CN" altLang="en-US"/>
              <a:t>的方式，让读者要么看到旧的值，要么看到新的值，不会读到任何中间结果。</a:t>
            </a:r>
            <a:endParaRPr lang="en-CN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9153F-0CD6-1D49-B330-8CE3D4C9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0462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80F43E-F171-4343-9431-88B2A9E84ACB}"/>
              </a:ext>
            </a:extLst>
          </p:cNvPr>
          <p:cNvSpPr txBox="1"/>
          <p:nvPr/>
        </p:nvSpPr>
        <p:spPr>
          <a:xfrm>
            <a:off x="1673678" y="1684094"/>
            <a:ext cx="5796644" cy="87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思考：如果我们想去除这些操作，让读者即使在有写者写的时候随意读，我们需要做什么？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EC143-2DD1-654C-92F0-5F3FAE2D445E}"/>
              </a:ext>
            </a:extLst>
          </p:cNvPr>
          <p:cNvSpPr/>
          <p:nvPr/>
        </p:nvSpPr>
        <p:spPr>
          <a:xfrm>
            <a:off x="539552" y="2733766"/>
            <a:ext cx="7581428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需求</a:t>
            </a:r>
            <a:r>
              <a:rPr lang="en-US" altLang="zh-CN"/>
              <a:t>1</a:t>
            </a:r>
            <a:r>
              <a:rPr lang="zh-CN" altLang="en-US"/>
              <a:t>：需要一种能够</a:t>
            </a:r>
            <a:r>
              <a:rPr lang="zh-CN" altLang="en-US" b="1"/>
              <a:t>类似之前硬件原子操作</a:t>
            </a:r>
            <a:r>
              <a:rPr lang="zh-CN" altLang="en-US"/>
              <a:t>的方式，让读者要么看到旧的值，要么看到新的值，不会读到任何中间结果。</a:t>
            </a:r>
            <a:endParaRPr lang="en-CN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7C7E1-8B24-A040-999D-4263EED8B349}"/>
              </a:ext>
            </a:extLst>
          </p:cNvPr>
          <p:cNvSpPr/>
          <p:nvPr/>
        </p:nvSpPr>
        <p:spPr>
          <a:xfrm>
            <a:off x="421632" y="3783438"/>
            <a:ext cx="4288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单拷贝原子性（</a:t>
            </a:r>
            <a:r>
              <a:rPr lang="en-US" altLang="zh-CN"/>
              <a:t>Single-copy atomicity)</a:t>
            </a:r>
            <a:r>
              <a:rPr lang="zh-CN" altLang="en-US"/>
              <a:t>：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FE7966-E094-DF41-8E70-E0314B641DDE}"/>
              </a:ext>
            </a:extLst>
          </p:cNvPr>
          <p:cNvSpPr/>
          <p:nvPr/>
        </p:nvSpPr>
        <p:spPr>
          <a:xfrm>
            <a:off x="1248013" y="4214878"/>
            <a:ext cx="66479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处理器任意一个操作的是否能够原子的可见，如更新一个指针</a:t>
            </a:r>
            <a:endParaRPr lang="en-C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160493-774E-694E-A1B7-1A8B04094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8DD01-1A7B-0D49-A3BD-11B75AB6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85880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36" y="1849388"/>
            <a:ext cx="7524328" cy="33924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99ACF5-5123-CE47-8995-4BA1E1D65F21}"/>
              </a:ext>
            </a:extLst>
          </p:cNvPr>
          <p:cNvSpPr/>
          <p:nvPr/>
        </p:nvSpPr>
        <p:spPr>
          <a:xfrm>
            <a:off x="1023020" y="1032812"/>
            <a:ext cx="7097960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以链表为例：插入结点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DDD07-0438-2A43-BA54-D0B0C8AF6F5C}"/>
              </a:ext>
            </a:extLst>
          </p:cNvPr>
          <p:cNvSpPr/>
          <p:nvPr/>
        </p:nvSpPr>
        <p:spPr>
          <a:xfrm>
            <a:off x="251520" y="5103948"/>
            <a:ext cx="263897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/>
              <a:t>读者</a:t>
            </a:r>
            <a:r>
              <a:rPr lang="zh-CN" altLang="en-US"/>
              <a:t>看不到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CF69FB-1B53-4946-902B-A9C77AF2B0B5}"/>
              </a:ext>
            </a:extLst>
          </p:cNvPr>
          <p:cNvSpPr/>
          <p:nvPr/>
        </p:nvSpPr>
        <p:spPr>
          <a:xfrm>
            <a:off x="6202322" y="5161756"/>
            <a:ext cx="263897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/>
              <a:t>读者</a:t>
            </a:r>
            <a:r>
              <a:rPr lang="zh-CN" altLang="en-US"/>
              <a:t>看到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F10E6-FFCF-3C43-873E-37FAE9F7F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623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A136F-E35E-7E4F-A738-6A23EFE665F6}"/>
              </a:ext>
            </a:extLst>
          </p:cNvPr>
          <p:cNvSpPr/>
          <p:nvPr/>
        </p:nvSpPr>
        <p:spPr>
          <a:xfrm>
            <a:off x="457200" y="232590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755576" y="2702226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CD206D-1136-CF4D-83D7-12F44504E390}"/>
              </a:ext>
            </a:extLst>
          </p:cNvPr>
          <p:cNvSpPr/>
          <p:nvPr/>
        </p:nvSpPr>
        <p:spPr>
          <a:xfrm>
            <a:off x="1465312" y="3937092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solidFill>
                  <a:srgbClr val="C00000"/>
                </a:solidFill>
                <a:latin typeface="Courier" pitchFamily="2" charset="0"/>
              </a:rPr>
              <a:t>Writing</a:t>
            </a:r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Node</a:t>
            </a:r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C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2A017-800C-3146-B887-B94AAFE8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9485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EA136F-E35E-7E4F-A738-6A23EFE665F6}"/>
              </a:ext>
            </a:extLst>
          </p:cNvPr>
          <p:cNvSpPr/>
          <p:nvPr/>
        </p:nvSpPr>
        <p:spPr>
          <a:xfrm>
            <a:off x="3302180" y="174004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3713871" y="2124010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62D486-FA2A-3646-8BCE-03325C9D027F}"/>
              </a:ext>
            </a:extLst>
          </p:cNvPr>
          <p:cNvSpPr/>
          <p:nvPr/>
        </p:nvSpPr>
        <p:spPr>
          <a:xfrm>
            <a:off x="1724102" y="4677536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看不到</a:t>
            </a:r>
            <a:r>
              <a:rPr lang="en-US" altLang="zh-CN">
                <a:solidFill>
                  <a:srgbClr val="C00000"/>
                </a:solidFill>
              </a:rPr>
              <a:t>Node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C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937F14-B5DC-324E-B0CA-EDB63F9874F1}"/>
              </a:ext>
            </a:extLst>
          </p:cNvPr>
          <p:cNvSpPr/>
          <p:nvPr/>
        </p:nvSpPr>
        <p:spPr>
          <a:xfrm>
            <a:off x="1403648" y="4020375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>
                <a:solidFill>
                  <a:srgbClr val="C00000"/>
                </a:solidFill>
                <a:latin typeface="Courier" pitchFamily="2" charset="0"/>
              </a:rPr>
              <a:t>Writing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Node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C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92AD03-8073-9445-BA3B-02EE3AD3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4406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4660199" y="2011454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13CCBD-70D9-9F42-8185-C9EB571E56F6}"/>
              </a:ext>
            </a:extLst>
          </p:cNvPr>
          <p:cNvSpPr/>
          <p:nvPr/>
        </p:nvSpPr>
        <p:spPr>
          <a:xfrm>
            <a:off x="5580112" y="3954935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&amp;C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E2D35-6A16-7D47-83AA-7CCB9C70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5482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4AF0-7B05-D646-BF00-3FEAD95A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发布机制：此时的读者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EDDB-077B-3745-862E-5A912CFD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57" y="1393177"/>
            <a:ext cx="6924886" cy="31221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58F0EE-33D3-7941-9B5C-E0A983373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531E6F-B448-4D47-8D96-689776E894A6}"/>
              </a:ext>
            </a:extLst>
          </p:cNvPr>
          <p:cNvSpPr/>
          <p:nvPr/>
        </p:nvSpPr>
        <p:spPr>
          <a:xfrm>
            <a:off x="5868144" y="328954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B9612-C518-A34D-8FA6-77B834261CE1}"/>
              </a:ext>
            </a:extLst>
          </p:cNvPr>
          <p:cNvSpPr/>
          <p:nvPr/>
        </p:nvSpPr>
        <p:spPr>
          <a:xfrm>
            <a:off x="5686501" y="4725885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可以看到</a:t>
            </a:r>
            <a:r>
              <a:rPr lang="en-US" altLang="zh-CN">
                <a:solidFill>
                  <a:srgbClr val="C00000"/>
                </a:solidFill>
              </a:rPr>
              <a:t>Node</a:t>
            </a:r>
            <a:r>
              <a:rPr lang="zh-CN" altLang="en-US">
                <a:solidFill>
                  <a:srgbClr val="C00000"/>
                </a:solidFill>
              </a:rPr>
              <a:t> </a:t>
            </a:r>
            <a:r>
              <a:rPr lang="en-US" altLang="zh-CN">
                <a:solidFill>
                  <a:srgbClr val="C00000"/>
                </a:solidFill>
              </a:rPr>
              <a:t>C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50D4B-F6F0-AA43-9318-DEBFBEE49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5985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891533-36DC-8247-B42C-B639BEF1F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62"/>
          <a:stretch/>
        </p:blipFill>
        <p:spPr>
          <a:xfrm>
            <a:off x="3998931" y="1820914"/>
            <a:ext cx="3467074" cy="29808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82DD5-BC9B-314D-8AB4-73EC471C25F3}"/>
              </a:ext>
            </a:extLst>
          </p:cNvPr>
          <p:cNvSpPr/>
          <p:nvPr/>
        </p:nvSpPr>
        <p:spPr>
          <a:xfrm>
            <a:off x="2010544" y="1192786"/>
            <a:ext cx="7097960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删除</a:t>
            </a:r>
            <a:r>
              <a:rPr lang="zh-CN" altLang="en-US" dirty="0"/>
              <a:t>结点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AED493-7216-0647-AFE2-FA736FAD365D}"/>
              </a:ext>
            </a:extLst>
          </p:cNvPr>
          <p:cNvSpPr txBox="1"/>
          <p:nvPr/>
        </p:nvSpPr>
        <p:spPr>
          <a:xfrm>
            <a:off x="-136653" y="3237579"/>
            <a:ext cx="3467074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思考：局限性在哪？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784B20-A32F-444C-B398-FD165ECCA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924C78-7CFF-CB45-B35A-4DCBA99554C7}"/>
              </a:ext>
            </a:extLst>
          </p:cNvPr>
          <p:cNvSpPr/>
          <p:nvPr/>
        </p:nvSpPr>
        <p:spPr>
          <a:xfrm>
            <a:off x="491683" y="2309921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  <a:latin typeface="Courier" pitchFamily="2" charset="0"/>
              </a:rPr>
              <a:t>A.Next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87F5D-5E67-B542-B513-D4D84FFC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3690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891533-36DC-8247-B42C-B639BEF1F0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10"/>
          <a:stretch/>
        </p:blipFill>
        <p:spPr>
          <a:xfrm>
            <a:off x="3491880" y="1821261"/>
            <a:ext cx="4887300" cy="298080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订阅</a:t>
            </a:r>
            <a:r>
              <a:rPr lang="en-US" altLang="zh-CN"/>
              <a:t>/</a:t>
            </a:r>
            <a:r>
              <a:rPr lang="zh-CN" altLang="en-US"/>
              <a:t>发布机制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82DD5-BC9B-314D-8AB4-73EC471C25F3}"/>
              </a:ext>
            </a:extLst>
          </p:cNvPr>
          <p:cNvSpPr/>
          <p:nvPr/>
        </p:nvSpPr>
        <p:spPr>
          <a:xfrm>
            <a:off x="2228098" y="1131370"/>
            <a:ext cx="7097960" cy="456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accent1"/>
                </a:solidFill>
              </a:rPr>
              <a:t>更新</a:t>
            </a:r>
            <a:r>
              <a:rPr lang="zh-CN" altLang="en-US" dirty="0"/>
              <a:t>结点</a:t>
            </a:r>
            <a:r>
              <a:rPr lang="en-US" altLang="zh-CN" dirty="0"/>
              <a:t>Node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B4045D-BB81-3E4D-8D94-326B107577F8}"/>
              </a:ext>
            </a:extLst>
          </p:cNvPr>
          <p:cNvSpPr/>
          <p:nvPr/>
        </p:nvSpPr>
        <p:spPr>
          <a:xfrm>
            <a:off x="196266" y="2875677"/>
            <a:ext cx="2638970" cy="87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复制</a:t>
            </a:r>
            <a:r>
              <a:rPr lang="zh-CN" altLang="en-US" dirty="0"/>
              <a:t>一个新的</a:t>
            </a:r>
            <a:r>
              <a:rPr lang="en-US" altLang="zh-CN" dirty="0"/>
              <a:t>Node C’</a:t>
            </a:r>
          </a:p>
          <a:p>
            <a:pPr algn="ctr">
              <a:lnSpc>
                <a:spcPct val="150000"/>
              </a:lnSpc>
            </a:pPr>
            <a:r>
              <a:rPr lang="zh-CN" altLang="en-US" dirty="0"/>
              <a:t>更新</a:t>
            </a:r>
            <a:r>
              <a:rPr lang="en-US" altLang="zh-CN" dirty="0"/>
              <a:t>Next</a:t>
            </a:r>
            <a:r>
              <a:rPr lang="zh-CN" altLang="en-US" dirty="0"/>
              <a:t>指针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784B20-A32F-444C-B398-FD165ECCA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A9A967-9C36-7E46-B0E1-684045FA49C1}"/>
              </a:ext>
            </a:extLst>
          </p:cNvPr>
          <p:cNvSpPr/>
          <p:nvPr/>
        </p:nvSpPr>
        <p:spPr>
          <a:xfrm>
            <a:off x="339627" y="2404253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  <a:latin typeface="Courier" pitchFamily="2" charset="0"/>
              </a:rPr>
              <a:t>A.Next</a:t>
            </a:r>
            <a:r>
              <a:rPr lang="en-US" altLang="zh-CN" dirty="0">
                <a:solidFill>
                  <a:srgbClr val="C00000"/>
                </a:solidFill>
                <a:latin typeface="Courier" pitchFamily="2" charset="0"/>
              </a:rPr>
              <a:t> = &amp;C’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187F5D-5E67-B542-B513-D4D84FFC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8612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Read Copy Update, RCU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A2E48-778A-D443-8447-F47FC1B7F435}"/>
              </a:ext>
            </a:extLst>
          </p:cNvPr>
          <p:cNvSpPr/>
          <p:nvPr/>
        </p:nvSpPr>
        <p:spPr>
          <a:xfrm>
            <a:off x="1023020" y="1129308"/>
            <a:ext cx="7097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读写锁读者进入读临界区之前，还是需要</a:t>
            </a:r>
            <a:r>
              <a:rPr lang="zh-CN" altLang="en-US" b="1"/>
              <a:t>繁杂的操作</a:t>
            </a:r>
            <a:endParaRPr lang="en-CN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EC143-2DD1-654C-92F0-5F3FAE2D445E}"/>
              </a:ext>
            </a:extLst>
          </p:cNvPr>
          <p:cNvSpPr/>
          <p:nvPr/>
        </p:nvSpPr>
        <p:spPr>
          <a:xfrm>
            <a:off x="539552" y="2501618"/>
            <a:ext cx="758142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需求</a:t>
            </a:r>
            <a:r>
              <a:rPr lang="en-US" altLang="zh-CN"/>
              <a:t>2</a:t>
            </a:r>
            <a:r>
              <a:rPr lang="zh-CN" altLang="en-US"/>
              <a:t>：在</a:t>
            </a:r>
            <a:r>
              <a:rPr lang="zh-CN" altLang="en-US" b="1"/>
              <a:t>合适</a:t>
            </a:r>
            <a:r>
              <a:rPr lang="zh-CN" altLang="en-US"/>
              <a:t>的时间，</a:t>
            </a:r>
            <a:r>
              <a:rPr lang="zh-CN" altLang="en-US" b="1"/>
              <a:t>回收</a:t>
            </a:r>
            <a:r>
              <a:rPr lang="zh-CN" altLang="en-US"/>
              <a:t>无用的旧拷贝</a:t>
            </a:r>
            <a:endParaRPr lang="en-CN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39F310-9E77-2E44-98E2-8693804BF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073524"/>
            <a:ext cx="6041196" cy="21366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B5A6B0-1FBC-3343-8BAA-37B19761FBE1}"/>
              </a:ext>
            </a:extLst>
          </p:cNvPr>
          <p:cNvSpPr/>
          <p:nvPr/>
        </p:nvSpPr>
        <p:spPr>
          <a:xfrm>
            <a:off x="6078394" y="4662788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还有读者在</a:t>
            </a:r>
            <a:r>
              <a:rPr lang="en-US" altLang="zh-CN"/>
              <a:t>Node</a:t>
            </a:r>
            <a:r>
              <a:rPr lang="zh-CN" altLang="en-US"/>
              <a:t> </a:t>
            </a:r>
            <a:r>
              <a:rPr lang="en-US" altLang="zh-CN"/>
              <a:t>C</a:t>
            </a:r>
            <a:r>
              <a:rPr lang="zh-CN" altLang="en-US"/>
              <a:t>上读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366F5-EF7E-9846-9FD3-E86E64303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66C5D2-103B-754B-A116-92A0A3F268C2}"/>
              </a:ext>
            </a:extLst>
          </p:cNvPr>
          <p:cNvSpPr txBox="1"/>
          <p:nvPr/>
        </p:nvSpPr>
        <p:spPr>
          <a:xfrm>
            <a:off x="1610589" y="1861208"/>
            <a:ext cx="3467074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思考：局限性在哪？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98F0C3-49BC-3246-97CB-5E1224E24FA6}"/>
              </a:ext>
            </a:extLst>
          </p:cNvPr>
          <p:cNvSpPr/>
          <p:nvPr/>
        </p:nvSpPr>
        <p:spPr>
          <a:xfrm>
            <a:off x="4603604" y="1995460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我们需要回收无用的旧拷贝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965707-D857-F541-8FE9-F44A0B45CC9D}"/>
              </a:ext>
            </a:extLst>
          </p:cNvPr>
          <p:cNvSpPr/>
          <p:nvPr/>
        </p:nvSpPr>
        <p:spPr>
          <a:xfrm>
            <a:off x="6685781" y="429345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b="1" dirty="0"/>
              <a:t>更新</a:t>
            </a:r>
            <a:r>
              <a:rPr lang="zh-CN" altLang="en-US" dirty="0"/>
              <a:t>完指针时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41D8E8-C665-AB4E-AB9D-4B41410C4D4D}"/>
              </a:ext>
            </a:extLst>
          </p:cNvPr>
          <p:cNvSpPr/>
          <p:nvPr/>
        </p:nvSpPr>
        <p:spPr>
          <a:xfrm>
            <a:off x="6597767" y="504128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此时</a:t>
            </a:r>
            <a:r>
              <a:rPr lang="zh-CN" altLang="en-US"/>
              <a:t>不能回收</a:t>
            </a:r>
            <a:endParaRPr lang="en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F6FEC-3060-4940-B10A-A965DBF6D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60990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FCD8A0-AF10-6442-9887-31D2E8B89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51" y="1619908"/>
            <a:ext cx="3095484" cy="28884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8CCB0C-6D12-5249-981C-BF0F869C6220}"/>
              </a:ext>
            </a:extLst>
          </p:cNvPr>
          <p:cNvSpPr/>
          <p:nvPr/>
        </p:nvSpPr>
        <p:spPr>
          <a:xfrm>
            <a:off x="354295" y="203576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6F83A-D4A3-4846-A66A-D1F0E0BAC6A5}"/>
              </a:ext>
            </a:extLst>
          </p:cNvPr>
          <p:cNvSpPr/>
          <p:nvPr/>
        </p:nvSpPr>
        <p:spPr>
          <a:xfrm>
            <a:off x="1902037" y="3895261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1366373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7" y="2035763"/>
            <a:ext cx="821993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5D7DB3-2FE1-2E4F-99F3-343AF5447126}"/>
              </a:ext>
            </a:extLst>
          </p:cNvPr>
          <p:cNvCxnSpPr>
            <a:cxnSpLocks/>
          </p:cNvCxnSpPr>
          <p:nvPr/>
        </p:nvCxnSpPr>
        <p:spPr>
          <a:xfrm flipV="1">
            <a:off x="6021186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1060A51-720B-BF4F-B454-DA6317B37F0C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C4F364B-BBB3-1B45-AF3E-8570A1CD7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2955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D9BD83C-9290-404E-ABCC-8AB2963CE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05" y="1531707"/>
            <a:ext cx="3016129" cy="28144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8CCB0C-6D12-5249-981C-BF0F869C6220}"/>
              </a:ext>
            </a:extLst>
          </p:cNvPr>
          <p:cNvSpPr/>
          <p:nvPr/>
        </p:nvSpPr>
        <p:spPr>
          <a:xfrm>
            <a:off x="354295" y="203576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C6F83A-D4A3-4846-A66A-D1F0E0BAC6A5}"/>
              </a:ext>
            </a:extLst>
          </p:cNvPr>
          <p:cNvSpPr/>
          <p:nvPr/>
        </p:nvSpPr>
        <p:spPr>
          <a:xfrm>
            <a:off x="1902037" y="367076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0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1798418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7" y="2035763"/>
            <a:ext cx="1254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FE859-4400-8C42-B432-A490F52B4E77}"/>
              </a:ext>
            </a:extLst>
          </p:cNvPr>
          <p:cNvCxnSpPr>
            <a:cxnSpLocks/>
          </p:cNvCxnSpPr>
          <p:nvPr/>
        </p:nvCxnSpPr>
        <p:spPr>
          <a:xfrm flipV="1">
            <a:off x="6444205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0BD51-5200-A648-B322-677F88089EE7}"/>
              </a:ext>
            </a:extLst>
          </p:cNvPr>
          <p:cNvSpPr/>
          <p:nvPr/>
        </p:nvSpPr>
        <p:spPr>
          <a:xfrm>
            <a:off x="6230589" y="61766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1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BED15-839A-B049-B814-04A2ECC0B5C6}"/>
              </a:ext>
            </a:extLst>
          </p:cNvPr>
          <p:cNvSpPr/>
          <p:nvPr/>
        </p:nvSpPr>
        <p:spPr>
          <a:xfrm>
            <a:off x="1374531" y="4563883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0B2AC-AC96-F743-89C3-8331EECBE5AC}"/>
              </a:ext>
            </a:extLst>
          </p:cNvPr>
          <p:cNvSpPr/>
          <p:nvPr/>
        </p:nvSpPr>
        <p:spPr>
          <a:xfrm>
            <a:off x="5665662" y="4727999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3FBD87-D794-7543-ABC1-E4D40BB1C24F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EFB86-A2C0-C24B-A9B0-E1ADF8B9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5552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D5DEE-431C-9A49-A60E-8CD34A18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84" y="1389799"/>
            <a:ext cx="3152215" cy="2941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8CCB0C-6D12-5249-981C-BF0F869C6220}"/>
              </a:ext>
            </a:extLst>
          </p:cNvPr>
          <p:cNvSpPr/>
          <p:nvPr/>
        </p:nvSpPr>
        <p:spPr>
          <a:xfrm>
            <a:off x="3147222" y="1963148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1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259051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7" y="2035763"/>
            <a:ext cx="204613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FE859-4400-8C42-B432-A490F52B4E77}"/>
              </a:ext>
            </a:extLst>
          </p:cNvPr>
          <p:cNvCxnSpPr>
            <a:cxnSpLocks/>
          </p:cNvCxnSpPr>
          <p:nvPr/>
        </p:nvCxnSpPr>
        <p:spPr>
          <a:xfrm flipV="1">
            <a:off x="6444205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0BD51-5200-A648-B322-677F88089EE7}"/>
              </a:ext>
            </a:extLst>
          </p:cNvPr>
          <p:cNvSpPr/>
          <p:nvPr/>
        </p:nvSpPr>
        <p:spPr>
          <a:xfrm>
            <a:off x="6230589" y="61766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1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BED15-839A-B049-B814-04A2ECC0B5C6}"/>
              </a:ext>
            </a:extLst>
          </p:cNvPr>
          <p:cNvSpPr/>
          <p:nvPr/>
        </p:nvSpPr>
        <p:spPr>
          <a:xfrm>
            <a:off x="1374531" y="4563883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0B2AC-AC96-F743-89C3-8331EECBE5AC}"/>
              </a:ext>
            </a:extLst>
          </p:cNvPr>
          <p:cNvSpPr/>
          <p:nvPr/>
        </p:nvSpPr>
        <p:spPr>
          <a:xfrm>
            <a:off x="5665662" y="4727999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2216C4-9183-704D-9264-0DAFD55D7FF5}"/>
              </a:ext>
            </a:extLst>
          </p:cNvPr>
          <p:cNvCxnSpPr>
            <a:cxnSpLocks/>
          </p:cNvCxnSpPr>
          <p:nvPr/>
        </p:nvCxnSpPr>
        <p:spPr>
          <a:xfrm flipV="1">
            <a:off x="7236296" y="1129308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65858C-446A-7D4A-B2A1-3D06A9DB89C1}"/>
              </a:ext>
            </a:extLst>
          </p:cNvPr>
          <p:cNvSpPr/>
          <p:nvPr/>
        </p:nvSpPr>
        <p:spPr>
          <a:xfrm>
            <a:off x="6948772" y="63272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2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A6E516-8E4A-884D-9716-A953E3916805}"/>
              </a:ext>
            </a:extLst>
          </p:cNvPr>
          <p:cNvSpPr/>
          <p:nvPr/>
        </p:nvSpPr>
        <p:spPr>
          <a:xfrm>
            <a:off x="525247" y="209584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02E653-56C5-F14A-AE87-6A9C0B294F53}"/>
              </a:ext>
            </a:extLst>
          </p:cNvPr>
          <p:cNvSpPr/>
          <p:nvPr/>
        </p:nvSpPr>
        <p:spPr>
          <a:xfrm>
            <a:off x="6516216" y="2539819"/>
            <a:ext cx="720075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E82BB1-68AE-4947-9EE7-F86E47803215}"/>
              </a:ext>
            </a:extLst>
          </p:cNvPr>
          <p:cNvSpPr/>
          <p:nvPr/>
        </p:nvSpPr>
        <p:spPr>
          <a:xfrm>
            <a:off x="7428029" y="1531707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读者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0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E09B62-315C-AE47-A078-22174E8EF1A3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FCBBCB-F154-4845-BB42-E1361C609F07}"/>
              </a:ext>
            </a:extLst>
          </p:cNvPr>
          <p:cNvSpPr/>
          <p:nvPr/>
        </p:nvSpPr>
        <p:spPr>
          <a:xfrm>
            <a:off x="7370883" y="2230567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rgbClr val="C00000"/>
                </a:solidFill>
                <a:latin typeface="Courier" pitchFamily="2" charset="0"/>
              </a:rPr>
              <a:t>此时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能回收吗？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74B824-AF29-E444-B907-E8F16B1ACA60}"/>
              </a:ext>
            </a:extLst>
          </p:cNvPr>
          <p:cNvSpPr/>
          <p:nvPr/>
        </p:nvSpPr>
        <p:spPr>
          <a:xfrm>
            <a:off x="3313286" y="3248930"/>
            <a:ext cx="299633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有可能看到了</a:t>
            </a:r>
            <a:r>
              <a:rPr lang="en-US" altLang="zh-CN">
                <a:latin typeface="Courier" pitchFamily="2" charset="0"/>
              </a:rPr>
              <a:t>Node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C</a:t>
            </a:r>
          </a:p>
          <a:p>
            <a:r>
              <a:rPr lang="zh-CN" altLang="en-US">
                <a:latin typeface="Courier" pitchFamily="2" charset="0"/>
              </a:rPr>
              <a:t>有可能没看到，无法确定</a:t>
            </a:r>
            <a:endParaRPr lang="en-US" altLang="zh-CN">
              <a:latin typeface="Courier" pitchFamily="2" charset="0"/>
            </a:endParaRPr>
          </a:p>
          <a:p>
            <a:r>
              <a:rPr lang="zh-CN" altLang="en-US" b="1">
                <a:latin typeface="Courier" pitchFamily="2" charset="0"/>
              </a:rPr>
              <a:t>不能回收！</a:t>
            </a:r>
            <a:endParaRPr lang="en-CN" b="1"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EB3A1-1AC2-7141-A5E9-363E0242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57654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D5DEE-431C-9A49-A60E-8CD34A18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84" y="1389799"/>
            <a:ext cx="3152215" cy="2941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4DB0E-7C39-A545-9F9D-ACF92D6248D7}"/>
              </a:ext>
            </a:extLst>
          </p:cNvPr>
          <p:cNvSpPr/>
          <p:nvPr/>
        </p:nvSpPr>
        <p:spPr>
          <a:xfrm>
            <a:off x="4645787" y="1531707"/>
            <a:ext cx="2756956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8EA1EB-7B39-A042-B893-D8A3F38D283E}"/>
              </a:ext>
            </a:extLst>
          </p:cNvPr>
          <p:cNvSpPr/>
          <p:nvPr/>
        </p:nvSpPr>
        <p:spPr>
          <a:xfrm>
            <a:off x="5190166" y="2035763"/>
            <a:ext cx="2982217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4618C9-EF97-B541-BF8C-E3561CEF9E3B}"/>
              </a:ext>
            </a:extLst>
          </p:cNvPr>
          <p:cNvSpPr/>
          <p:nvPr/>
        </p:nvSpPr>
        <p:spPr>
          <a:xfrm>
            <a:off x="5776619" y="61078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T0</a:t>
            </a:r>
            <a:endParaRPr lang="en-C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FE859-4400-8C42-B432-A490F52B4E77}"/>
              </a:ext>
            </a:extLst>
          </p:cNvPr>
          <p:cNvCxnSpPr>
            <a:cxnSpLocks/>
          </p:cNvCxnSpPr>
          <p:nvPr/>
        </p:nvCxnSpPr>
        <p:spPr>
          <a:xfrm flipV="1">
            <a:off x="6444205" y="1129309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310BD51-5200-A648-B322-677F88089EE7}"/>
              </a:ext>
            </a:extLst>
          </p:cNvPr>
          <p:cNvSpPr/>
          <p:nvPr/>
        </p:nvSpPr>
        <p:spPr>
          <a:xfrm>
            <a:off x="6230589" y="61766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1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8BED15-839A-B049-B814-04A2ECC0B5C6}"/>
              </a:ext>
            </a:extLst>
          </p:cNvPr>
          <p:cNvSpPr/>
          <p:nvPr/>
        </p:nvSpPr>
        <p:spPr>
          <a:xfrm>
            <a:off x="1374531" y="4563883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90B2AC-AC96-F743-89C3-8331EECBE5AC}"/>
              </a:ext>
            </a:extLst>
          </p:cNvPr>
          <p:cNvSpPr/>
          <p:nvPr/>
        </p:nvSpPr>
        <p:spPr>
          <a:xfrm>
            <a:off x="5665662" y="4727999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A.Next = &amp;B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2216C4-9183-704D-9264-0DAFD55D7FF5}"/>
              </a:ext>
            </a:extLst>
          </p:cNvPr>
          <p:cNvCxnSpPr>
            <a:cxnSpLocks/>
          </p:cNvCxnSpPr>
          <p:nvPr/>
        </p:nvCxnSpPr>
        <p:spPr>
          <a:xfrm flipV="1">
            <a:off x="8172400" y="1176438"/>
            <a:ext cx="0" cy="345638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FB65858C-446A-7D4A-B2A1-3D06A9DB89C1}"/>
              </a:ext>
            </a:extLst>
          </p:cNvPr>
          <p:cNvSpPr/>
          <p:nvPr/>
        </p:nvSpPr>
        <p:spPr>
          <a:xfrm>
            <a:off x="6948772" y="63272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2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A6E516-8E4A-884D-9716-A953E3916805}"/>
              </a:ext>
            </a:extLst>
          </p:cNvPr>
          <p:cNvSpPr/>
          <p:nvPr/>
        </p:nvSpPr>
        <p:spPr>
          <a:xfrm>
            <a:off x="3302180" y="2130053"/>
            <a:ext cx="1008112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r>
              <a:rPr lang="en-US" altLang="zh-CN"/>
              <a:t>3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02E653-56C5-F14A-AE87-6A9C0B294F53}"/>
              </a:ext>
            </a:extLst>
          </p:cNvPr>
          <p:cNvSpPr/>
          <p:nvPr/>
        </p:nvSpPr>
        <p:spPr>
          <a:xfrm>
            <a:off x="6684559" y="2539819"/>
            <a:ext cx="148782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>
                <a:solidFill>
                  <a:schemeClr val="tx1"/>
                </a:solidFill>
              </a:rPr>
              <a:t>读者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99BE2E-422A-A04E-B46B-1B3EAD3C3838}"/>
              </a:ext>
            </a:extLst>
          </p:cNvPr>
          <p:cNvSpPr/>
          <p:nvPr/>
        </p:nvSpPr>
        <p:spPr>
          <a:xfrm>
            <a:off x="7945398" y="632724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b="1"/>
              <a:t>T</a:t>
            </a:r>
            <a:r>
              <a:rPr lang="en-US" altLang="zh-CN" b="1"/>
              <a:t>3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26D997-8825-3C44-BAE5-4715ACD7D78C}"/>
              </a:ext>
            </a:extLst>
          </p:cNvPr>
          <p:cNvSpPr/>
          <p:nvPr/>
        </p:nvSpPr>
        <p:spPr>
          <a:xfrm>
            <a:off x="457200" y="98700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知道读临界区什么时候开始，什么时候结束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08ABD5-4E3D-9443-935D-8BA092A14554}"/>
              </a:ext>
            </a:extLst>
          </p:cNvPr>
          <p:cNvSpPr/>
          <p:nvPr/>
        </p:nvSpPr>
        <p:spPr>
          <a:xfrm>
            <a:off x="7366769" y="4700183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</a:rPr>
              <a:t>可以</a:t>
            </a:r>
            <a:r>
              <a:rPr lang="zh-CN" altLang="en-US">
                <a:solidFill>
                  <a:schemeClr val="accent1"/>
                </a:solidFill>
              </a:rPr>
              <a:t>回收</a:t>
            </a:r>
            <a:r>
              <a:rPr lang="en-US" altLang="zh-CN">
                <a:solidFill>
                  <a:schemeClr val="accent1"/>
                </a:solidFill>
              </a:rPr>
              <a:t>Node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C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E2C139-2D98-234E-A57A-FA1183D23844}"/>
              </a:ext>
            </a:extLst>
          </p:cNvPr>
          <p:cNvSpPr/>
          <p:nvPr/>
        </p:nvSpPr>
        <p:spPr>
          <a:xfrm>
            <a:off x="3942799" y="3054699"/>
            <a:ext cx="21339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/>
              <a:t>最后</a:t>
            </a:r>
            <a:r>
              <a:rPr lang="zh-CN" altLang="en-US"/>
              <a:t>一个可能看到</a:t>
            </a:r>
            <a:r>
              <a:rPr lang="en-US" altLang="zh-CN"/>
              <a:t>Node C</a:t>
            </a:r>
            <a:r>
              <a:rPr lang="zh-CN" altLang="en-US"/>
              <a:t>的读者离开了临界区</a:t>
            </a:r>
            <a:endParaRPr lang="en-US" altLang="zh-CN"/>
          </a:p>
          <a:p>
            <a:r>
              <a:rPr lang="zh-CN" altLang="en-US" b="1"/>
              <a:t>写者才能</a:t>
            </a:r>
            <a:r>
              <a:rPr lang="zh-CN" altLang="en-US"/>
              <a:t>回收</a:t>
            </a:r>
            <a:r>
              <a:rPr lang="en-US" altLang="zh-CN"/>
              <a:t>NodeC</a:t>
            </a:r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1CBE23-CFB2-0241-B7E7-C51C1D83AC8F}"/>
              </a:ext>
            </a:extLst>
          </p:cNvPr>
          <p:cNvSpPr/>
          <p:nvPr/>
        </p:nvSpPr>
        <p:spPr>
          <a:xfrm>
            <a:off x="8219329" y="2035763"/>
            <a:ext cx="916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读者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结束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A9544-0983-0844-9B0F-7AFE2EC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A5638-7448-FC48-B254-BF9DFFA73A69}"/>
              </a:ext>
            </a:extLst>
          </p:cNvPr>
          <p:cNvSpPr/>
          <p:nvPr/>
        </p:nvSpPr>
        <p:spPr>
          <a:xfrm>
            <a:off x="4242852" y="463282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写者开销较大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94403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2E7298-0860-C04F-9E15-2A17F9EAF929}"/>
              </a:ext>
            </a:extLst>
          </p:cNvPr>
          <p:cNvSpPr txBox="1"/>
          <p:nvPr/>
        </p:nvSpPr>
        <p:spPr>
          <a:xfrm>
            <a:off x="3713871" y="9917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CC5635-9BCE-A143-8A63-B30A9B5D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RCU</a:t>
            </a:r>
            <a:r>
              <a:rPr lang="zh-CN" altLang="en-US"/>
              <a:t> 宽限期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39AD99-1AFA-2843-9102-FBC2D70EA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4BABB7-A1AC-B94B-AAC9-242FB3C10D94}"/>
              </a:ext>
            </a:extLst>
          </p:cNvPr>
          <p:cNvSpPr/>
          <p:nvPr/>
        </p:nvSpPr>
        <p:spPr>
          <a:xfrm>
            <a:off x="1986997" y="1176438"/>
            <a:ext cx="5170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如何知道读临界区什么时候开始，什么时候结束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?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0DDA0-F9B3-C446-A129-94A26FCC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92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A7AFA8-5E39-5D48-9C4E-A6D5E9895BD1}"/>
              </a:ext>
            </a:extLst>
          </p:cNvPr>
          <p:cNvSpPr/>
          <p:nvPr/>
        </p:nvSpPr>
        <p:spPr>
          <a:xfrm>
            <a:off x="780108" y="2137905"/>
            <a:ext cx="68407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void rcu_reader() {</a:t>
            </a:r>
          </a:p>
          <a:p>
            <a:r>
              <a:rPr lang="en-US">
                <a:latin typeface="Courier" pitchFamily="2" charset="0"/>
              </a:rPr>
              <a:t>	RCU_READ_START();</a:t>
            </a:r>
          </a:p>
          <a:p>
            <a:endParaRPr lang="en-US">
              <a:latin typeface="Courier" pitchFamily="2" charset="0"/>
            </a:endParaRPr>
          </a:p>
          <a:p>
            <a:r>
              <a:rPr lang="en-US">
                <a:latin typeface="Courier" pitchFamily="2" charset="0"/>
              </a:rPr>
              <a:t>	/* Reader Critical Section */</a:t>
            </a:r>
          </a:p>
          <a:p>
            <a:endParaRPr lang="en-US">
              <a:latin typeface="Courier" pitchFamily="2" charset="0"/>
            </a:endParaRPr>
          </a:p>
          <a:p>
            <a:r>
              <a:rPr lang="en-US" altLang="zh-CN">
                <a:latin typeface="Courier" pitchFamily="2" charset="0"/>
              </a:rPr>
              <a:t>	</a:t>
            </a:r>
            <a:r>
              <a:rPr lang="en-US">
                <a:latin typeface="Courier" pitchFamily="2" charset="0"/>
              </a:rPr>
              <a:t>RCU_READ_STOP(); </a:t>
            </a:r>
          </a:p>
          <a:p>
            <a:r>
              <a:rPr lang="en-US">
                <a:latin typeface="Courier" pitchFamily="2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F61B73-C57A-5A49-8A69-5353252B3AC1}"/>
              </a:ext>
            </a:extLst>
          </p:cNvPr>
          <p:cNvSpPr/>
          <p:nvPr/>
        </p:nvSpPr>
        <p:spPr>
          <a:xfrm>
            <a:off x="4653637" y="2081184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通知</a:t>
            </a:r>
            <a:r>
              <a:rPr lang="en-US" altLang="zh-CN"/>
              <a:t>RCU</a:t>
            </a:r>
            <a:r>
              <a:rPr lang="zh-CN" altLang="en-US"/>
              <a:t>，读者进临界区了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93EAA8-ABCF-3D4D-B3A6-FEEA71C1E6E1}"/>
              </a:ext>
            </a:extLst>
          </p:cNvPr>
          <p:cNvSpPr/>
          <p:nvPr/>
        </p:nvSpPr>
        <p:spPr>
          <a:xfrm>
            <a:off x="4671893" y="3685921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通知</a:t>
            </a:r>
            <a:r>
              <a:rPr lang="en-US" altLang="zh-CN"/>
              <a:t>RCU</a:t>
            </a:r>
            <a:r>
              <a:rPr lang="zh-CN" altLang="en-US"/>
              <a:t>，读者出临界区了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9DDF1D-094B-7B42-AC42-2E6ACED3D1A2}"/>
              </a:ext>
            </a:extLst>
          </p:cNvPr>
          <p:cNvSpPr/>
          <p:nvPr/>
        </p:nvSpPr>
        <p:spPr>
          <a:xfrm>
            <a:off x="2588122" y="4911978"/>
            <a:ext cx="396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/>
              <a:t>可以</a:t>
            </a:r>
            <a:r>
              <a:rPr lang="zh-CN" altLang="en-US"/>
              <a:t>使用不同的方式实现：如计数器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05688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同步原语对比：读写锁 </a:t>
            </a:r>
            <a:r>
              <a:rPr lang="en-US" altLang="zh-CN"/>
              <a:t>vs RCU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9C6020-7245-114E-BF37-C4227FC438DF}"/>
              </a:ext>
            </a:extLst>
          </p:cNvPr>
          <p:cNvSpPr/>
          <p:nvPr/>
        </p:nvSpPr>
        <p:spPr>
          <a:xfrm>
            <a:off x="1403648" y="3104963"/>
            <a:ext cx="3960440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读者也需要上读者锁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关键路径上有额外开销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方便使用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可以选择对写者开销不大的读写锁</a:t>
            </a:r>
            <a:endParaRPr lang="en-US" altLang="zh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B6628F-293E-FD4A-B024-92DDE4937B6F}"/>
              </a:ext>
            </a:extLst>
          </p:cNvPr>
          <p:cNvSpPr/>
          <p:nvPr/>
        </p:nvSpPr>
        <p:spPr>
          <a:xfrm>
            <a:off x="1547664" y="1106882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读写锁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48B2DA-8285-614D-ADD6-69AD3182D9DD}"/>
              </a:ext>
            </a:extLst>
          </p:cNvPr>
          <p:cNvSpPr/>
          <p:nvPr/>
        </p:nvSpPr>
        <p:spPr>
          <a:xfrm>
            <a:off x="107504" y="1533013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相同点：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D6D562-EFD4-A244-A7A7-AA50018D2FAD}"/>
              </a:ext>
            </a:extLst>
          </p:cNvPr>
          <p:cNvSpPr/>
          <p:nvPr/>
        </p:nvSpPr>
        <p:spPr>
          <a:xfrm>
            <a:off x="107504" y="3217540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不同点：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FEA355-93E8-0E42-B619-1362A0288AB2}"/>
              </a:ext>
            </a:extLst>
          </p:cNvPr>
          <p:cNvSpPr/>
          <p:nvPr/>
        </p:nvSpPr>
        <p:spPr>
          <a:xfrm>
            <a:off x="5802555" y="1074554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/>
              <a:t>RCU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6CBC67-2FE9-E442-B4CD-B1884FA04529}"/>
              </a:ext>
            </a:extLst>
          </p:cNvPr>
          <p:cNvSpPr/>
          <p:nvPr/>
        </p:nvSpPr>
        <p:spPr>
          <a:xfrm>
            <a:off x="3642315" y="1836962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CN"/>
              <a:t>允许</a:t>
            </a:r>
            <a:r>
              <a:rPr lang="zh-CN" altLang="en-US"/>
              <a:t>读者并行</a:t>
            </a:r>
            <a:endParaRPr lang="en-US" altLang="zh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C5F32C-AA8D-6E4A-B4EC-5B0FBF568C20}"/>
              </a:ext>
            </a:extLst>
          </p:cNvPr>
          <p:cNvSpPr/>
          <p:nvPr/>
        </p:nvSpPr>
        <p:spPr>
          <a:xfrm>
            <a:off x="5364088" y="3069824"/>
            <a:ext cx="3168352" cy="1668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读者无需上锁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使用较繁琐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写者开销大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D84C9-9BF2-E046-85F2-2E814CCA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082C3-68A2-6142-BE47-D277ADC0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7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34991</TotalTime>
  <Words>9117</Words>
  <Application>Microsoft Macintosh PowerPoint</Application>
  <PresentationFormat>全屏显示(16:10)</PresentationFormat>
  <Paragraphs>1410</Paragraphs>
  <Slides>93</Slides>
  <Notes>28</Notes>
  <HiddenSlides>18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93</vt:i4>
      </vt:variant>
    </vt:vector>
  </HeadingPairs>
  <TitlesOfParts>
    <vt:vector size="102" baseType="lpstr">
      <vt:lpstr>DengXian</vt:lpstr>
      <vt:lpstr>微软雅黑</vt:lpstr>
      <vt:lpstr>Arial</vt:lpstr>
      <vt:lpstr>Calibri</vt:lpstr>
      <vt:lpstr>Consolas</vt:lpstr>
      <vt:lpstr>Courier</vt:lpstr>
      <vt:lpstr>Wingdings</vt:lpstr>
      <vt:lpstr>Office 主题​​</vt:lpstr>
      <vt:lpstr>1_Office 主题​​</vt:lpstr>
      <vt:lpstr>同步原语的应用与实现</vt:lpstr>
      <vt:lpstr>版权声明</vt:lpstr>
      <vt:lpstr>回顾：四个场景与同步原语</vt:lpstr>
      <vt:lpstr>回顾：如何解决死锁？</vt:lpstr>
      <vt:lpstr>死锁预防：四个方向</vt:lpstr>
      <vt:lpstr>硬件原子指令</vt:lpstr>
      <vt:lpstr>Lock：一种直观但错误的实现</vt:lpstr>
      <vt:lpstr>竞争条件依然存在！</vt:lpstr>
      <vt:lpstr>回到Lock的naive实现</vt:lpstr>
      <vt:lpstr>基于原子指令的锁实现</vt:lpstr>
      <vt:lpstr>硬件原子操作：ARM使用LL/SC实现</vt:lpstr>
      <vt:lpstr>硬件原子操作：ARM使用LL/SC实现</vt:lpstr>
      <vt:lpstr>硬件原子操作：ARM使用LL/SC实现</vt:lpstr>
      <vt:lpstr>锁的实现</vt:lpstr>
      <vt:lpstr>自旋锁（Spinlock）</vt:lpstr>
      <vt:lpstr>自旋锁（Spinlock）</vt:lpstr>
      <vt:lpstr>排号锁（Ticket Lock）</vt:lpstr>
      <vt:lpstr>排号锁（Ticket Lock）</vt:lpstr>
      <vt:lpstr>排号锁（Ticket Lock）</vt:lpstr>
      <vt:lpstr>排号锁（Ticket Lock）</vt:lpstr>
      <vt:lpstr>读写锁的实现</vt:lpstr>
      <vt:lpstr>回顾：读写锁的基础语义</vt:lpstr>
      <vt:lpstr>回顾：读写锁的基础语义</vt:lpstr>
      <vt:lpstr>读写锁的偏向性</vt:lpstr>
      <vt:lpstr>偏向读者 的读写锁 实现示例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读写锁的实现：偏向读者为例</vt:lpstr>
      <vt:lpstr>条件变量的实现</vt:lpstr>
      <vt:lpstr>回顾：条件变量</vt:lpstr>
      <vt:lpstr>回顾：条件变量的两个接口</vt:lpstr>
      <vt:lpstr>条件变量的实现（语义级）</vt:lpstr>
      <vt:lpstr>条件变量的基础：YIELD()</vt:lpstr>
      <vt:lpstr>系统调用：yield()</vt:lpstr>
      <vt:lpstr>使用yield实现send？</vt:lpstr>
      <vt:lpstr>YIELD() 实现</vt:lpstr>
      <vt:lpstr>YIELD() 实现</vt:lpstr>
      <vt:lpstr>YIELD() 实现</vt:lpstr>
      <vt:lpstr>YIELD() 实现</vt:lpstr>
      <vt:lpstr>YIELD() 实现</vt:lpstr>
      <vt:lpstr>条件变量的实现：wait &amp; Signal</vt:lpstr>
      <vt:lpstr>使用 WAIT/SIGNAL 实现send：直观但错误</vt:lpstr>
      <vt:lpstr>Lost Notification 问题</vt:lpstr>
      <vt:lpstr>带锁参数的API: WAIT(bb.full, bb.lock)</vt:lpstr>
      <vt:lpstr>WAIT</vt:lpstr>
      <vt:lpstr>WAIT &amp; SIGNAL</vt:lpstr>
      <vt:lpstr>回顾下YIELD的实现</vt:lpstr>
      <vt:lpstr>YIELD_WAIT()</vt:lpstr>
      <vt:lpstr>YIELD_WAIT()</vt:lpstr>
      <vt:lpstr>YIELD_WAIT()</vt:lpstr>
      <vt:lpstr>YIELD_WAIT()</vt:lpstr>
      <vt:lpstr>时钟中断处理函数</vt:lpstr>
      <vt:lpstr>YIELD_WAIT()</vt:lpstr>
      <vt:lpstr>YIELD_WAIT()</vt:lpstr>
      <vt:lpstr>YIELD_WAIT()</vt:lpstr>
      <vt:lpstr>中断处理函数</vt:lpstr>
      <vt:lpstr>信号量的实现</vt:lpstr>
      <vt:lpstr>回顾：生产者消费者问题的另一种实现</vt:lpstr>
      <vt:lpstr>信号量的使用</vt:lpstr>
      <vt:lpstr>信号量的使用</vt:lpstr>
      <vt:lpstr>回顾：信号量的基本语义</vt:lpstr>
      <vt:lpstr>回顾：信号量的基本语义</vt:lpstr>
      <vt:lpstr>信号量的错误实现</vt:lpstr>
      <vt:lpstr>信号量的实现-1：忙等</vt:lpstr>
      <vt:lpstr>信号量的实现-2：条件变量</vt:lpstr>
      <vt:lpstr>信号量的实现-3：减少signal次数</vt:lpstr>
      <vt:lpstr>信号量的实现-4</vt:lpstr>
      <vt:lpstr>信号量的实现-4</vt:lpstr>
      <vt:lpstr>PowerPoint 演示文稿</vt:lpstr>
      <vt:lpstr>信号量的实现-4</vt:lpstr>
      <vt:lpstr>RCU：更高效的读写互斥</vt:lpstr>
      <vt:lpstr>Read Copy Update, RCU</vt:lpstr>
      <vt:lpstr>Read Copy Update, RCU</vt:lpstr>
      <vt:lpstr>Read Copy Update, RCU</vt:lpstr>
      <vt:lpstr>RCU 订阅/发布机制</vt:lpstr>
      <vt:lpstr>RCU 订阅/发布机制：此时的读者</vt:lpstr>
      <vt:lpstr>RCU 订阅/发布机制：此时的读者</vt:lpstr>
      <vt:lpstr>RCU 订阅/发布机制：此时的读者</vt:lpstr>
      <vt:lpstr>RCU 订阅/发布机制：此时的读者</vt:lpstr>
      <vt:lpstr>RCU 订阅/发布机制</vt:lpstr>
      <vt:lpstr>RCU 订阅/发布机制</vt:lpstr>
      <vt:lpstr>Read Copy Update, RCU</vt:lpstr>
      <vt:lpstr>RCU 宽限期</vt:lpstr>
      <vt:lpstr>RCU 宽限期</vt:lpstr>
      <vt:lpstr>RCU 宽限期</vt:lpstr>
      <vt:lpstr>RCU 宽限期</vt:lpstr>
      <vt:lpstr>RCU 宽限期</vt:lpstr>
      <vt:lpstr>同步原语对比：读写锁 vs RCU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1316</cp:revision>
  <cp:lastPrinted>2020-03-02T13:38:09Z</cp:lastPrinted>
  <dcterms:created xsi:type="dcterms:W3CDTF">2017-11-24T09:35:45Z</dcterms:created>
  <dcterms:modified xsi:type="dcterms:W3CDTF">2024-06-14T15:21:10Z</dcterms:modified>
</cp:coreProperties>
</file>